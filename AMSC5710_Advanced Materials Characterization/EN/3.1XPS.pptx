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5" r:id="rId1"/>
  </p:sldMasterIdLst>
  <p:notesMasterIdLst>
    <p:notesMasterId r:id="rId95"/>
  </p:notesMasterIdLst>
  <p:sldIdLst>
    <p:sldId id="256" r:id="rId2"/>
    <p:sldId id="386" r:id="rId3"/>
    <p:sldId id="324" r:id="rId4"/>
    <p:sldId id="401" r:id="rId5"/>
    <p:sldId id="257" r:id="rId6"/>
    <p:sldId id="258" r:id="rId7"/>
    <p:sldId id="259" r:id="rId8"/>
    <p:sldId id="267" r:id="rId9"/>
    <p:sldId id="367" r:id="rId10"/>
    <p:sldId id="261" r:id="rId11"/>
    <p:sldId id="369" r:id="rId12"/>
    <p:sldId id="262" r:id="rId13"/>
    <p:sldId id="263" r:id="rId14"/>
    <p:sldId id="264" r:id="rId15"/>
    <p:sldId id="265" r:id="rId16"/>
    <p:sldId id="387" r:id="rId17"/>
    <p:sldId id="375" r:id="rId18"/>
    <p:sldId id="372" r:id="rId19"/>
    <p:sldId id="269" r:id="rId20"/>
    <p:sldId id="377" r:id="rId21"/>
    <p:sldId id="376" r:id="rId22"/>
    <p:sldId id="378" r:id="rId23"/>
    <p:sldId id="380" r:id="rId24"/>
    <p:sldId id="379" r:id="rId25"/>
    <p:sldId id="272" r:id="rId26"/>
    <p:sldId id="273" r:id="rId27"/>
    <p:sldId id="274" r:id="rId28"/>
    <p:sldId id="275" r:id="rId29"/>
    <p:sldId id="276" r:id="rId30"/>
    <p:sldId id="278" r:id="rId31"/>
    <p:sldId id="279" r:id="rId32"/>
    <p:sldId id="384" r:id="rId33"/>
    <p:sldId id="402" r:id="rId34"/>
    <p:sldId id="280" r:id="rId35"/>
    <p:sldId id="281" r:id="rId36"/>
    <p:sldId id="282" r:id="rId37"/>
    <p:sldId id="383" r:id="rId38"/>
    <p:sldId id="283" r:id="rId39"/>
    <p:sldId id="374" r:id="rId40"/>
    <p:sldId id="381" r:id="rId41"/>
    <p:sldId id="412" r:id="rId42"/>
    <p:sldId id="406" r:id="rId43"/>
    <p:sldId id="285" r:id="rId44"/>
    <p:sldId id="286" r:id="rId45"/>
    <p:sldId id="391" r:id="rId46"/>
    <p:sldId id="408" r:id="rId47"/>
    <p:sldId id="393" r:id="rId48"/>
    <p:sldId id="288" r:id="rId49"/>
    <p:sldId id="394" r:id="rId50"/>
    <p:sldId id="407" r:id="rId51"/>
    <p:sldId id="287" r:id="rId52"/>
    <p:sldId id="411" r:id="rId53"/>
    <p:sldId id="290" r:id="rId54"/>
    <p:sldId id="291" r:id="rId55"/>
    <p:sldId id="292" r:id="rId56"/>
    <p:sldId id="295" r:id="rId57"/>
    <p:sldId id="294" r:id="rId58"/>
    <p:sldId id="293" r:id="rId59"/>
    <p:sldId id="296" r:id="rId60"/>
    <p:sldId id="405" r:id="rId61"/>
    <p:sldId id="297" r:id="rId62"/>
    <p:sldId id="403" r:id="rId63"/>
    <p:sldId id="298" r:id="rId64"/>
    <p:sldId id="299" r:id="rId65"/>
    <p:sldId id="300" r:id="rId66"/>
    <p:sldId id="409" r:id="rId67"/>
    <p:sldId id="303" r:id="rId68"/>
    <p:sldId id="302" r:id="rId69"/>
    <p:sldId id="304" r:id="rId70"/>
    <p:sldId id="397" r:id="rId71"/>
    <p:sldId id="305" r:id="rId72"/>
    <p:sldId id="306" r:id="rId73"/>
    <p:sldId id="410" r:id="rId74"/>
    <p:sldId id="307" r:id="rId75"/>
    <p:sldId id="308" r:id="rId76"/>
    <p:sldId id="309" r:id="rId77"/>
    <p:sldId id="310" r:id="rId78"/>
    <p:sldId id="311" r:id="rId79"/>
    <p:sldId id="312" r:id="rId80"/>
    <p:sldId id="313" r:id="rId81"/>
    <p:sldId id="314" r:id="rId82"/>
    <p:sldId id="315" r:id="rId83"/>
    <p:sldId id="316" r:id="rId84"/>
    <p:sldId id="317" r:id="rId85"/>
    <p:sldId id="318" r:id="rId86"/>
    <p:sldId id="319" r:id="rId87"/>
    <p:sldId id="320" r:id="rId88"/>
    <p:sldId id="322" r:id="rId89"/>
    <p:sldId id="321" r:id="rId90"/>
    <p:sldId id="323" r:id="rId91"/>
    <p:sldId id="326" r:id="rId92"/>
    <p:sldId id="327" r:id="rId93"/>
    <p:sldId id="404" r:id="rId94"/>
  </p:sldIdLst>
  <p:sldSz cx="9144000" cy="6858000" type="screen4x3"/>
  <p:notesSz cx="7010400" cy="9296400"/>
  <p:defaultTextStyle>
    <a:defPPr>
      <a:defRPr lang="en-US"/>
    </a:defPPr>
    <a:lvl1pPr algn="l" rtl="0" eaLnBrk="0" fontAlgn="base" hangingPunct="0">
      <a:spcBef>
        <a:spcPct val="0"/>
      </a:spcBef>
      <a:spcAft>
        <a:spcPct val="0"/>
      </a:spcAft>
      <a:defRPr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Arial" charset="0"/>
        <a:ea typeface="+mn-ea"/>
        <a:cs typeface="+mn-cs"/>
      </a:defRPr>
    </a:lvl2pPr>
    <a:lvl3pPr marL="914400" algn="l" rtl="0" eaLnBrk="0" fontAlgn="base" hangingPunct="0">
      <a:spcBef>
        <a:spcPct val="0"/>
      </a:spcBef>
      <a:spcAft>
        <a:spcPct val="0"/>
      </a:spcAft>
      <a:defRPr kern="1200">
        <a:solidFill>
          <a:schemeClr val="tx1"/>
        </a:solidFill>
        <a:latin typeface="Arial" charset="0"/>
        <a:ea typeface="+mn-ea"/>
        <a:cs typeface="+mn-cs"/>
      </a:defRPr>
    </a:lvl3pPr>
    <a:lvl4pPr marL="1371600" algn="l" rtl="0" eaLnBrk="0" fontAlgn="base" hangingPunct="0">
      <a:spcBef>
        <a:spcPct val="0"/>
      </a:spcBef>
      <a:spcAft>
        <a:spcPct val="0"/>
      </a:spcAft>
      <a:defRPr kern="1200">
        <a:solidFill>
          <a:schemeClr val="tx1"/>
        </a:solidFill>
        <a:latin typeface="Arial" charset="0"/>
        <a:ea typeface="+mn-ea"/>
        <a:cs typeface="+mn-cs"/>
      </a:defRPr>
    </a:lvl4pPr>
    <a:lvl5pPr marL="1828800" algn="l"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0066"/>
    <a:srgbClr val="006600"/>
    <a:srgbClr val="FF6600"/>
    <a:srgbClr val="FF3300"/>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D151AC-528F-4E21-AE36-FB092D08E169}" v="1" dt="2025-04-29T08:18:08.25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756" autoAdjust="0"/>
  </p:normalViewPr>
  <p:slideViewPr>
    <p:cSldViewPr>
      <p:cViewPr varScale="1">
        <p:scale>
          <a:sx n="111" d="100"/>
          <a:sy n="111" d="100"/>
        </p:scale>
        <p:origin x="2239" y="72"/>
      </p:cViewPr>
      <p:guideLst>
        <p:guide orient="horz" pos="2160"/>
        <p:guide pos="2880"/>
      </p:guideLst>
    </p:cSldViewPr>
  </p:slideViewPr>
  <p:notesTextViewPr>
    <p:cViewPr>
      <p:scale>
        <a:sx n="100" d="100"/>
        <a:sy n="100" d="100"/>
      </p:scale>
      <p:origin x="0" y="0"/>
    </p:cViewPr>
  </p:notesTextViewPr>
  <p:sorterViewPr>
    <p:cViewPr>
      <p:scale>
        <a:sx n="60" d="100"/>
        <a:sy n="60" d="100"/>
      </p:scale>
      <p:origin x="0" y="8342"/>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notesMaster" Target="notesMasters/notes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38049" cy="464315"/>
          </a:xfrm>
          <a:prstGeom prst="rect">
            <a:avLst/>
          </a:prstGeom>
        </p:spPr>
        <p:txBody>
          <a:bodyPr vert="horz" lIns="88230" tIns="44115" rIns="88230" bIns="44115" rtlCol="0"/>
          <a:lstStyle>
            <a:lvl1pPr algn="l">
              <a:defRPr sz="1200"/>
            </a:lvl1pPr>
          </a:lstStyle>
          <a:p>
            <a:endParaRPr lang="en-US"/>
          </a:p>
        </p:txBody>
      </p:sp>
      <p:sp>
        <p:nvSpPr>
          <p:cNvPr id="3" name="Date Placeholder 2"/>
          <p:cNvSpPr>
            <a:spLocks noGrp="1"/>
          </p:cNvSpPr>
          <p:nvPr>
            <p:ph type="dt" idx="1"/>
          </p:nvPr>
        </p:nvSpPr>
        <p:spPr>
          <a:xfrm>
            <a:off x="3970784" y="1"/>
            <a:ext cx="3038049" cy="464315"/>
          </a:xfrm>
          <a:prstGeom prst="rect">
            <a:avLst/>
          </a:prstGeom>
        </p:spPr>
        <p:txBody>
          <a:bodyPr vert="horz" lIns="88230" tIns="44115" rIns="88230" bIns="44115" rtlCol="0"/>
          <a:lstStyle>
            <a:lvl1pPr algn="r">
              <a:defRPr sz="1200"/>
            </a:lvl1pPr>
          </a:lstStyle>
          <a:p>
            <a:fld id="{12F84E29-78BD-4B2F-97FA-4E74F8856D3B}" type="datetimeFigureOut">
              <a:rPr lang="en-US" smtClean="0"/>
              <a:t>9/2/2026</a:t>
            </a:fld>
            <a:endParaRPr lang="en-US"/>
          </a:p>
        </p:txBody>
      </p:sp>
      <p:sp>
        <p:nvSpPr>
          <p:cNvPr id="4" name="Slide Image Placeholder 3"/>
          <p:cNvSpPr>
            <a:spLocks noGrp="1" noRot="1" noChangeAspect="1"/>
          </p:cNvSpPr>
          <p:nvPr>
            <p:ph type="sldImg" idx="2"/>
          </p:nvPr>
        </p:nvSpPr>
        <p:spPr>
          <a:xfrm>
            <a:off x="1182688" y="698500"/>
            <a:ext cx="4645025" cy="3484563"/>
          </a:xfrm>
          <a:prstGeom prst="rect">
            <a:avLst/>
          </a:prstGeom>
          <a:noFill/>
          <a:ln w="12700">
            <a:solidFill>
              <a:prstClr val="black"/>
            </a:solidFill>
          </a:ln>
        </p:spPr>
        <p:txBody>
          <a:bodyPr vert="horz" lIns="88230" tIns="44115" rIns="88230" bIns="44115" rtlCol="0" anchor="ctr"/>
          <a:lstStyle/>
          <a:p>
            <a:endParaRPr lang="en-US"/>
          </a:p>
        </p:txBody>
      </p:sp>
      <p:sp>
        <p:nvSpPr>
          <p:cNvPr id="5" name="Notes Placeholder 4"/>
          <p:cNvSpPr>
            <a:spLocks noGrp="1"/>
          </p:cNvSpPr>
          <p:nvPr>
            <p:ph type="body" sz="quarter" idx="3"/>
          </p:nvPr>
        </p:nvSpPr>
        <p:spPr>
          <a:xfrm>
            <a:off x="700727" y="4415322"/>
            <a:ext cx="5608947" cy="4183164"/>
          </a:xfrm>
          <a:prstGeom prst="rect">
            <a:avLst/>
          </a:prstGeom>
        </p:spPr>
        <p:txBody>
          <a:bodyPr vert="horz" lIns="88230" tIns="44115" rIns="88230" bIns="441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30643"/>
            <a:ext cx="3038049" cy="464315"/>
          </a:xfrm>
          <a:prstGeom prst="rect">
            <a:avLst/>
          </a:prstGeom>
        </p:spPr>
        <p:txBody>
          <a:bodyPr vert="horz" lIns="88230" tIns="44115" rIns="88230" bIns="44115" rtlCol="0" anchor="b"/>
          <a:lstStyle>
            <a:lvl1pPr algn="l">
              <a:defRPr sz="1200"/>
            </a:lvl1pPr>
          </a:lstStyle>
          <a:p>
            <a:endParaRPr lang="en-US"/>
          </a:p>
        </p:txBody>
      </p:sp>
      <p:sp>
        <p:nvSpPr>
          <p:cNvPr id="7" name="Slide Number Placeholder 6"/>
          <p:cNvSpPr>
            <a:spLocks noGrp="1"/>
          </p:cNvSpPr>
          <p:nvPr>
            <p:ph type="sldNum" sz="quarter" idx="5"/>
          </p:nvPr>
        </p:nvSpPr>
        <p:spPr>
          <a:xfrm>
            <a:off x="3970784" y="8830643"/>
            <a:ext cx="3038049" cy="464315"/>
          </a:xfrm>
          <a:prstGeom prst="rect">
            <a:avLst/>
          </a:prstGeom>
        </p:spPr>
        <p:txBody>
          <a:bodyPr vert="horz" lIns="88230" tIns="44115" rIns="88230" bIns="44115" rtlCol="0" anchor="b"/>
          <a:lstStyle>
            <a:lvl1pPr algn="r">
              <a:defRPr sz="1200"/>
            </a:lvl1pPr>
          </a:lstStyle>
          <a:p>
            <a:fld id="{F0354186-1FAD-48C0-909C-F0B8DE29C440}" type="slidenum">
              <a:rPr lang="en-US" smtClean="0"/>
              <a:t>‹#›</a:t>
            </a:fld>
            <a:endParaRPr lang="en-US"/>
          </a:p>
        </p:txBody>
      </p:sp>
    </p:spTree>
    <p:extLst>
      <p:ext uri="{BB962C8B-B14F-4D97-AF65-F5344CB8AC3E}">
        <p14:creationId xmlns:p14="http://schemas.microsoft.com/office/powerpoint/2010/main" val="40080232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1</a:t>
            </a:fld>
            <a:endParaRPr lang="en-US"/>
          </a:p>
        </p:txBody>
      </p:sp>
    </p:spTree>
    <p:extLst>
      <p:ext uri="{BB962C8B-B14F-4D97-AF65-F5344CB8AC3E}">
        <p14:creationId xmlns:p14="http://schemas.microsoft.com/office/powerpoint/2010/main" val="42023298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The intention of the first block is to use photons as the probing source and collecting electrons as the signal.  However, only XPS and UPS strictly belongs to this category.</a:t>
            </a:r>
          </a:p>
        </p:txBody>
      </p:sp>
      <p:sp>
        <p:nvSpPr>
          <p:cNvPr id="4" name="Slide Number Placeholder 3"/>
          <p:cNvSpPr>
            <a:spLocks noGrp="1"/>
          </p:cNvSpPr>
          <p:nvPr>
            <p:ph type="sldNum" sz="quarter" idx="5"/>
          </p:nvPr>
        </p:nvSpPr>
        <p:spPr/>
        <p:txBody>
          <a:bodyPr/>
          <a:lstStyle/>
          <a:p>
            <a:fld id="{F0354186-1FAD-48C0-909C-F0B8DE29C440}" type="slidenum">
              <a:rPr lang="en-US" smtClean="0"/>
              <a:t>2</a:t>
            </a:fld>
            <a:endParaRPr lang="en-US"/>
          </a:p>
        </p:txBody>
      </p:sp>
    </p:spTree>
    <p:extLst>
      <p:ext uri="{BB962C8B-B14F-4D97-AF65-F5344CB8AC3E}">
        <p14:creationId xmlns:p14="http://schemas.microsoft.com/office/powerpoint/2010/main" val="4722880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A majority of the techniques included in this course detect electrons for signals.  Nonetheless, one major make use of different properties of the electrons and therein interpret material structural/chemical characteristics.</a:t>
            </a:r>
          </a:p>
          <a:p>
            <a:endParaRPr lang="en-HK" dirty="0"/>
          </a:p>
          <a:p>
            <a:r>
              <a:rPr lang="en-HK" dirty="0"/>
              <a:t>In this regard, AES is strongly related to that used for XPS or UPS, that is, detection of the kinetic energy of material electrons that exit the surface of the material, being characteristic of the elemental atomic structure, and therein interpretation of the chemical nature of the material analyte.</a:t>
            </a:r>
          </a:p>
        </p:txBody>
      </p:sp>
      <p:sp>
        <p:nvSpPr>
          <p:cNvPr id="4" name="Slide Number Placeholder 3"/>
          <p:cNvSpPr>
            <a:spLocks noGrp="1"/>
          </p:cNvSpPr>
          <p:nvPr>
            <p:ph type="sldNum" sz="quarter" idx="5"/>
          </p:nvPr>
        </p:nvSpPr>
        <p:spPr/>
        <p:txBody>
          <a:bodyPr/>
          <a:lstStyle/>
          <a:p>
            <a:fld id="{F0354186-1FAD-48C0-909C-F0B8DE29C440}" type="slidenum">
              <a:rPr lang="en-US" smtClean="0"/>
              <a:t>3</a:t>
            </a:fld>
            <a:endParaRPr lang="en-US"/>
          </a:p>
        </p:txBody>
      </p:sp>
    </p:spTree>
    <p:extLst>
      <p:ext uri="{BB962C8B-B14F-4D97-AF65-F5344CB8AC3E}">
        <p14:creationId xmlns:p14="http://schemas.microsoft.com/office/powerpoint/2010/main" val="32540488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HK" dirty="0"/>
              <a:t>What is photoelectric effect</a:t>
            </a:r>
          </a:p>
          <a:p>
            <a:pPr marL="228600" indent="-228600">
              <a:buAutoNum type="arabicPeriod"/>
            </a:pPr>
            <a:r>
              <a:rPr lang="en-HK" dirty="0"/>
              <a:t>Two important people for the realization of XPS</a:t>
            </a:r>
          </a:p>
          <a:p>
            <a:pPr marL="0" indent="0">
              <a:buNone/>
            </a:pPr>
            <a:r>
              <a:rPr lang="en-HK" dirty="0"/>
              <a:t>Einstein: theoretical foundation for the photoelectric effect—disclose the quantum mechanical nature of light</a:t>
            </a:r>
          </a:p>
          <a:p>
            <a:pPr marL="0" indent="0">
              <a:buNone/>
            </a:pPr>
            <a:r>
              <a:rPr lang="en-HK" dirty="0"/>
              <a:t>Siegbahn: Finding the application for photoelectric effect—for material chemical analysis</a:t>
            </a:r>
          </a:p>
        </p:txBody>
      </p:sp>
      <p:sp>
        <p:nvSpPr>
          <p:cNvPr id="4" name="Slide Number Placeholder 3"/>
          <p:cNvSpPr>
            <a:spLocks noGrp="1"/>
          </p:cNvSpPr>
          <p:nvPr>
            <p:ph type="sldNum" sz="quarter" idx="5"/>
          </p:nvPr>
        </p:nvSpPr>
        <p:spPr/>
        <p:txBody>
          <a:bodyPr/>
          <a:lstStyle/>
          <a:p>
            <a:fld id="{F0354186-1FAD-48C0-909C-F0B8DE29C440}" type="slidenum">
              <a:rPr lang="en-US" smtClean="0"/>
              <a:t>6</a:t>
            </a:fld>
            <a:endParaRPr lang="en-US"/>
          </a:p>
        </p:txBody>
      </p:sp>
    </p:spTree>
    <p:extLst>
      <p:ext uri="{BB962C8B-B14F-4D97-AF65-F5344CB8AC3E}">
        <p14:creationId xmlns:p14="http://schemas.microsoft.com/office/powerpoint/2010/main" val="8412680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First experiment by Hertz</a:t>
            </a:r>
          </a:p>
          <a:p>
            <a:r>
              <a:rPr lang="en-HK" dirty="0"/>
              <a:t>Refined experiment by Einstein</a:t>
            </a:r>
          </a:p>
          <a:p>
            <a:r>
              <a:rPr lang="en-HK" dirty="0"/>
              <a:t>Application and instrumentation development</a:t>
            </a:r>
          </a:p>
        </p:txBody>
      </p:sp>
      <p:sp>
        <p:nvSpPr>
          <p:cNvPr id="4" name="Slide Number Placeholder 3"/>
          <p:cNvSpPr>
            <a:spLocks noGrp="1"/>
          </p:cNvSpPr>
          <p:nvPr>
            <p:ph type="sldNum" sz="quarter" idx="5"/>
          </p:nvPr>
        </p:nvSpPr>
        <p:spPr/>
        <p:txBody>
          <a:bodyPr/>
          <a:lstStyle/>
          <a:p>
            <a:fld id="{F0354186-1FAD-48C0-909C-F0B8DE29C440}" type="slidenum">
              <a:rPr lang="en-US" smtClean="0"/>
              <a:t>7</a:t>
            </a:fld>
            <a:endParaRPr lang="en-US"/>
          </a:p>
        </p:txBody>
      </p:sp>
    </p:spTree>
    <p:extLst>
      <p:ext uri="{BB962C8B-B14F-4D97-AF65-F5344CB8AC3E}">
        <p14:creationId xmlns:p14="http://schemas.microsoft.com/office/powerpoint/2010/main" val="14680100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First experiment using UV</a:t>
            </a:r>
          </a:p>
          <a:p>
            <a:r>
              <a:rPr lang="en-HK" dirty="0"/>
              <a:t>Simple configuration that allows electron emission (exited by light photons) and electron collection</a:t>
            </a:r>
          </a:p>
          <a:p>
            <a:r>
              <a:rPr lang="en-HK" dirty="0"/>
              <a:t>Note vacuum is used to enable efficient electron collection</a:t>
            </a:r>
          </a:p>
        </p:txBody>
      </p:sp>
      <p:sp>
        <p:nvSpPr>
          <p:cNvPr id="4" name="Slide Number Placeholder 3"/>
          <p:cNvSpPr>
            <a:spLocks noGrp="1"/>
          </p:cNvSpPr>
          <p:nvPr>
            <p:ph type="sldNum" sz="quarter" idx="5"/>
          </p:nvPr>
        </p:nvSpPr>
        <p:spPr/>
        <p:txBody>
          <a:bodyPr/>
          <a:lstStyle/>
          <a:p>
            <a:fld id="{F0354186-1FAD-48C0-909C-F0B8DE29C440}" type="slidenum">
              <a:rPr lang="en-US" smtClean="0"/>
              <a:t>8</a:t>
            </a:fld>
            <a:endParaRPr lang="en-US"/>
          </a:p>
        </p:txBody>
      </p:sp>
    </p:spTree>
    <p:extLst>
      <p:ext uri="{BB962C8B-B14F-4D97-AF65-F5344CB8AC3E}">
        <p14:creationId xmlns:p14="http://schemas.microsoft.com/office/powerpoint/2010/main" val="32487647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HK" dirty="0"/>
                  <a:t>A cleverly refined experiment—closer look at the experimental details</a:t>
                </a:r>
              </a:p>
              <a:p>
                <a:pPr marL="228600" indent="-228600">
                  <a:buAutoNum type="arabicParenBoth"/>
                </a:pPr>
                <a:r>
                  <a:rPr lang="en-HK" dirty="0"/>
                  <a:t>Given sample, given light wavelength (energy of photon), to measure the current as a function of voltage applied between the Cathode and the anode </a:t>
                </a:r>
              </a:p>
              <a:p>
                <a:pPr marL="0" indent="0">
                  <a:buNone/>
                </a:pPr>
                <a:r>
                  <a:rPr lang="en-HK" dirty="0"/>
                  <a:t>*Non-zero current when V=0, </a:t>
                </a:r>
              </a:p>
              <a:p>
                <a:pPr marL="0" indent="0">
                  <a:buNone/>
                </a:pPr>
                <a:r>
                  <a:rPr lang="en-HK" dirty="0"/>
                  <a:t>*A negative potential V0 has to be applied to stop the electrons from reaching the anode</a:t>
                </a:r>
              </a:p>
              <a:p>
                <a:pPr marL="0" marR="0" lvl="0" indent="0" algn="l" defTabSz="914400" rtl="0" eaLnBrk="1" fontAlgn="auto" latinLnBrk="0" hangingPunct="1">
                  <a:lnSpc>
                    <a:spcPct val="100000"/>
                  </a:lnSpc>
                  <a:spcBef>
                    <a:spcPts val="0"/>
                  </a:spcBef>
                  <a:spcAft>
                    <a:spcPts val="0"/>
                  </a:spcAft>
                  <a:buClrTx/>
                  <a:buSzTx/>
                  <a:buFontTx/>
                  <a:buNone/>
                  <a:tabLst/>
                  <a:defRPr/>
                </a:pPr>
                <a:r>
                  <a:rPr lang="en-HK" dirty="0"/>
                  <a:t>suggesting the existence of a maximum kinetic energy of outcoming electrons, and it depends on the incident photon energy</a:t>
                </a:r>
              </a:p>
              <a:p>
                <a:pPr marL="0" indent="0">
                  <a:buNone/>
                </a:pPr>
                <a:endParaRPr lang="en-HK" dirty="0"/>
              </a:p>
              <a:p>
                <a:pPr marL="0" indent="0">
                  <a:buNone/>
                </a:pPr>
                <a:r>
                  <a:rPr lang="en-HK" dirty="0"/>
                  <a:t>(2) Different light intensity (not photon energy)</a:t>
                </a:r>
              </a:p>
              <a:p>
                <a:pPr marL="0" indent="0">
                  <a:buFont typeface="Arial" panose="020B0604020202020204" pitchFamily="34" charset="0"/>
                  <a:buNone/>
                </a:pPr>
                <a:r>
                  <a:rPr lang="en-HK" dirty="0"/>
                  <a:t>*Increased the current</a:t>
                </a:r>
              </a:p>
              <a:p>
                <a:pPr marL="0" indent="0">
                  <a:buFont typeface="Arial" panose="020B0604020202020204" pitchFamily="34" charset="0"/>
                  <a:buNone/>
                </a:pPr>
                <a:r>
                  <a:rPr lang="en-HK" dirty="0"/>
                  <a:t>Suggesting the amount of outgoing electrons depends on the amount of incident photons (foundation for quantification)</a:t>
                </a:r>
              </a:p>
              <a:p>
                <a:endParaRPr lang="en-HK" dirty="0"/>
              </a:p>
              <a:p>
                <a:endParaRPr lang="en-HK" dirty="0"/>
              </a:p>
              <a:p>
                <a:endParaRPr lang="en-HK" dirty="0"/>
              </a:p>
            </p:txBody>
          </p:sp>
        </mc:Choice>
        <mc:Fallback xmlns="">
          <p:sp>
            <p:nvSpPr>
              <p:cNvPr id="3" name="Notes Placeholder 2"/>
              <p:cNvSpPr>
                <a:spLocks noGrp="1"/>
              </p:cNvSpPr>
              <p:nvPr>
                <p:ph type="body" idx="1"/>
              </p:nvPr>
            </p:nvSpPr>
            <p:spPr/>
            <p:txBody>
              <a:bodyPr/>
              <a:lstStyle/>
              <a:p>
                <a:r>
                  <a:rPr lang="en-HK" dirty="0"/>
                  <a:t>The "turn-on voltage" in photoemission refers to the stopping potential </a:t>
                </a:r>
                <a:r>
                  <a:rPr lang="ar-AE" sz="1200" i="0" kern="1200">
                    <a:solidFill>
                      <a:schemeClr val="tx1"/>
                    </a:solidFill>
                    <a:latin typeface="+mn-lt"/>
                    <a:ea typeface="+mn-ea"/>
                    <a:cs typeface="+mn-cs"/>
                  </a:rPr>
                  <a:t>𝑉_0</a:t>
                </a:r>
                <a:r>
                  <a:rPr lang="en-HK" b="1" dirty="0">
                    <a:effectLst/>
                  </a:rPr>
                  <a:t> , that is </a:t>
                </a:r>
                <a:r>
                  <a:rPr lang="en-HK" b="1" baseline="0" dirty="0">
                    <a:effectLst/>
                  </a:rPr>
                  <a:t>, </a:t>
                </a:r>
                <a:r>
                  <a:rPr lang="ar-AE" dirty="0"/>
                  <a:t> </a:t>
                </a:r>
                <a:r>
                  <a:rPr lang="en-HK" dirty="0"/>
                  <a:t>the negative voltage needed to </a:t>
                </a:r>
                <a:r>
                  <a:rPr lang="en-HK" i="1" dirty="0"/>
                  <a:t>stop</a:t>
                </a:r>
                <a:r>
                  <a:rPr lang="en-HK" dirty="0"/>
                  <a:t> the most energetic photoelectrons from reaching a collector, revealing their maximum kinetic energy</a:t>
                </a:r>
              </a:p>
            </p:txBody>
          </p:sp>
        </mc:Fallback>
      </mc:AlternateContent>
      <p:sp>
        <p:nvSpPr>
          <p:cNvPr id="4" name="Slide Number Placeholder 3"/>
          <p:cNvSpPr>
            <a:spLocks noGrp="1"/>
          </p:cNvSpPr>
          <p:nvPr>
            <p:ph type="sldNum" sz="quarter" idx="5"/>
          </p:nvPr>
        </p:nvSpPr>
        <p:spPr/>
        <p:txBody>
          <a:bodyPr/>
          <a:lstStyle/>
          <a:p>
            <a:fld id="{F0354186-1FAD-48C0-909C-F0B8DE29C440}" type="slidenum">
              <a:rPr lang="en-US" smtClean="0"/>
              <a:t>9</a:t>
            </a:fld>
            <a:endParaRPr lang="en-US"/>
          </a:p>
        </p:txBody>
      </p:sp>
    </p:spTree>
    <p:extLst>
      <p:ext uri="{BB962C8B-B14F-4D97-AF65-F5344CB8AC3E}">
        <p14:creationId xmlns:p14="http://schemas.microsoft.com/office/powerpoint/2010/main" val="789776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Which one is the limiting factor for surface process?</a:t>
            </a:r>
          </a:p>
          <a:p>
            <a:r>
              <a:rPr lang="en-US" sz="1200" b="0" i="0" kern="1200" dirty="0">
                <a:solidFill>
                  <a:schemeClr val="tx1"/>
                </a:solidFill>
                <a:effectLst/>
                <a:latin typeface="+mn-lt"/>
                <a:ea typeface="+mn-ea"/>
                <a:cs typeface="+mn-cs"/>
              </a:rPr>
              <a:t>(1) X-ray? No</a:t>
            </a:r>
          </a:p>
          <a:p>
            <a:r>
              <a:rPr lang="en-US" sz="1200" b="0" i="0" kern="1200" dirty="0">
                <a:solidFill>
                  <a:schemeClr val="tx1"/>
                </a:solidFill>
                <a:effectLst/>
                <a:latin typeface="+mn-lt"/>
                <a:ea typeface="+mn-ea"/>
                <a:cs typeface="+mn-cs"/>
              </a:rPr>
              <a:t>X‑rays have relatively deep penetration in many materials because they are high‑energy, electrically neutral photons whose main interaction probabilities with matter are relatively low compared with charged particles such as electrons.</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(2) Outgoing electrons?</a:t>
            </a:r>
          </a:p>
          <a:p>
            <a:r>
              <a:rPr lang="en-US" sz="1200" b="0" i="0" kern="1200" dirty="0">
                <a:solidFill>
                  <a:schemeClr val="tx1"/>
                </a:solidFill>
                <a:effectLst/>
                <a:latin typeface="+mn-lt"/>
                <a:ea typeface="+mn-ea"/>
                <a:cs typeface="+mn-cs"/>
              </a:rPr>
              <a:t>Collision of electrons with the material atoms lead to its energy (kinetic) loss, so that electrons from deeper location underneath cannot reach the surface</a:t>
            </a:r>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10</a:t>
            </a:fld>
            <a:endParaRPr lang="en-US"/>
          </a:p>
        </p:txBody>
      </p:sp>
    </p:spTree>
    <p:extLst>
      <p:ext uri="{BB962C8B-B14F-4D97-AF65-F5344CB8AC3E}">
        <p14:creationId xmlns:p14="http://schemas.microsoft.com/office/powerpoint/2010/main" val="33144201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One use mean free path to describe the collision of electrons when they travel</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At very low kinetic energies (a few eV above the Fermi level),  many states are not available in solid for inelastic excitations , so the inelastic scattering probability is relatively low and the mean free path is comparatively large.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Between roughly 10–100 eV, the electron energy matches well the typical excitation energies of valence electrons and plasmons in solids, so there are many available final states and allowed transitions.</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As kinetic energy rises further (hundreds of eV to keV and beyond), the electron moves faster and spends less time interacting with the same region of the medium, which effectively reduces the probability of inelastic collision per unit distance.</a:t>
            </a:r>
            <a:br>
              <a:rPr lang="en-US" sz="1200" b="0" i="0" kern="1200" dirty="0">
                <a:solidFill>
                  <a:schemeClr val="tx1"/>
                </a:solidFill>
                <a:effectLst/>
                <a:latin typeface="+mn-lt"/>
                <a:ea typeface="+mn-ea"/>
                <a:cs typeface="+mn-cs"/>
              </a:rPr>
            </a:br>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11</a:t>
            </a:fld>
            <a:endParaRPr lang="en-US"/>
          </a:p>
        </p:txBody>
      </p:sp>
    </p:spTree>
    <p:extLst>
      <p:ext uri="{BB962C8B-B14F-4D97-AF65-F5344CB8AC3E}">
        <p14:creationId xmlns:p14="http://schemas.microsoft.com/office/powerpoint/2010/main" val="2625177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If we consider the total intensity of photoelectrons exist the material surface, they follow an exponential decay</a:t>
            </a:r>
          </a:p>
        </p:txBody>
      </p:sp>
      <p:sp>
        <p:nvSpPr>
          <p:cNvPr id="4" name="Slide Number Placeholder 3"/>
          <p:cNvSpPr>
            <a:spLocks noGrp="1"/>
          </p:cNvSpPr>
          <p:nvPr>
            <p:ph type="sldNum" sz="quarter" idx="5"/>
          </p:nvPr>
        </p:nvSpPr>
        <p:spPr/>
        <p:txBody>
          <a:bodyPr/>
          <a:lstStyle/>
          <a:p>
            <a:fld id="{F0354186-1FAD-48C0-909C-F0B8DE29C440}" type="slidenum">
              <a:rPr lang="en-US" smtClean="0"/>
              <a:t>12</a:t>
            </a:fld>
            <a:endParaRPr lang="en-US"/>
          </a:p>
        </p:txBody>
      </p:sp>
    </p:spTree>
    <p:extLst>
      <p:ext uri="{BB962C8B-B14F-4D97-AF65-F5344CB8AC3E}">
        <p14:creationId xmlns:p14="http://schemas.microsoft.com/office/powerpoint/2010/main" val="35984549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To look at the intensity by considering electrons from different depth beneath the surface</a:t>
            </a:r>
          </a:p>
        </p:txBody>
      </p:sp>
      <p:sp>
        <p:nvSpPr>
          <p:cNvPr id="4" name="Slide Number Placeholder 3"/>
          <p:cNvSpPr>
            <a:spLocks noGrp="1"/>
          </p:cNvSpPr>
          <p:nvPr>
            <p:ph type="sldNum" sz="quarter" idx="5"/>
          </p:nvPr>
        </p:nvSpPr>
        <p:spPr/>
        <p:txBody>
          <a:bodyPr/>
          <a:lstStyle/>
          <a:p>
            <a:fld id="{F0354186-1FAD-48C0-909C-F0B8DE29C440}" type="slidenum">
              <a:rPr lang="en-US" smtClean="0"/>
              <a:t>13</a:t>
            </a:fld>
            <a:endParaRPr lang="en-US"/>
          </a:p>
        </p:txBody>
      </p:sp>
    </p:spTree>
    <p:extLst>
      <p:ext uri="{BB962C8B-B14F-4D97-AF65-F5344CB8AC3E}">
        <p14:creationId xmlns:p14="http://schemas.microsoft.com/office/powerpoint/2010/main" val="20675711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CMA Analyzer is a </a:t>
            </a:r>
            <a:r>
              <a:rPr lang="en-US" b="1" dirty="0">
                <a:effectLst/>
              </a:rPr>
              <a:t>Cylindrical Mirror Analyzer</a:t>
            </a:r>
            <a:r>
              <a:rPr lang="en-US" dirty="0"/>
              <a:t>, a key scientific instrument using concentric cylinders to filter and measure electron energies in surface analysis (like Auger/XPS) for materials science</a:t>
            </a:r>
          </a:p>
          <a:p>
            <a:endParaRPr lang="en-US" dirty="0"/>
          </a:p>
          <a:p>
            <a:r>
              <a:rPr lang="en-US" dirty="0"/>
              <a:t>X-ray monochromator acts as a sophisticated filter, using a bent crystal (like quartz) to select only X-rays of a specific, narrow energy (e.g., Al Kα), focusing them onto the sample, which drastically improves spectral resolution, reduces background noise, and eliminates unwanted satellite peaks, leading to clearer, more accurate identification of elements and their chemical states on a surface</a:t>
            </a:r>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15</a:t>
            </a:fld>
            <a:endParaRPr lang="en-US"/>
          </a:p>
        </p:txBody>
      </p:sp>
    </p:spTree>
    <p:extLst>
      <p:ext uri="{BB962C8B-B14F-4D97-AF65-F5344CB8AC3E}">
        <p14:creationId xmlns:p14="http://schemas.microsoft.com/office/powerpoint/2010/main" val="7925161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For UPS, </a:t>
            </a:r>
            <a:r>
              <a:rPr lang="en-HK"/>
              <a:t>Neon line can be used.</a:t>
            </a:r>
          </a:p>
        </p:txBody>
      </p:sp>
      <p:sp>
        <p:nvSpPr>
          <p:cNvPr id="4" name="Slide Number Placeholder 3"/>
          <p:cNvSpPr>
            <a:spLocks noGrp="1"/>
          </p:cNvSpPr>
          <p:nvPr>
            <p:ph type="sldNum" sz="quarter" idx="5"/>
          </p:nvPr>
        </p:nvSpPr>
        <p:spPr/>
        <p:txBody>
          <a:bodyPr/>
          <a:lstStyle/>
          <a:p>
            <a:fld id="{F0354186-1FAD-48C0-909C-F0B8DE29C440}" type="slidenum">
              <a:rPr lang="en-US" smtClean="0"/>
              <a:t>19</a:t>
            </a:fld>
            <a:endParaRPr lang="en-US"/>
          </a:p>
        </p:txBody>
      </p:sp>
    </p:spTree>
    <p:extLst>
      <p:ext uri="{BB962C8B-B14F-4D97-AF65-F5344CB8AC3E}">
        <p14:creationId xmlns:p14="http://schemas.microsoft.com/office/powerpoint/2010/main" val="15845825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Both Bremsstrahlung x-ray and synchrotron radiation are forms of radiation from accelerated charged particles, differing mainly in the </a:t>
            </a:r>
            <a:r>
              <a:rPr lang="en-US" sz="1200" b="0" i="1" kern="1200" dirty="0">
                <a:solidFill>
                  <a:schemeClr val="tx1"/>
                </a:solidFill>
                <a:effectLst/>
                <a:latin typeface="+mn-lt"/>
                <a:ea typeface="+mn-ea"/>
                <a:cs typeface="+mn-cs"/>
              </a:rPr>
              <a:t>direction</a:t>
            </a:r>
            <a:r>
              <a:rPr lang="en-US" sz="1200" b="0" i="0" kern="1200" dirty="0">
                <a:solidFill>
                  <a:schemeClr val="tx1"/>
                </a:solidFill>
                <a:effectLst/>
                <a:latin typeface="+mn-lt"/>
                <a:ea typeface="+mn-ea"/>
                <a:cs typeface="+mn-cs"/>
              </a:rPr>
              <a:t> of acceleration and the </a:t>
            </a:r>
            <a:r>
              <a:rPr lang="en-US" sz="1200" b="0" i="1" kern="1200" dirty="0">
                <a:solidFill>
                  <a:schemeClr val="tx1"/>
                </a:solidFill>
                <a:effectLst/>
                <a:latin typeface="+mn-lt"/>
                <a:ea typeface="+mn-ea"/>
                <a:cs typeface="+mn-cs"/>
              </a:rPr>
              <a:t>source</a:t>
            </a:r>
            <a:r>
              <a:rPr lang="en-US" sz="1200" b="0" i="0" kern="1200" dirty="0">
                <a:solidFill>
                  <a:schemeClr val="tx1"/>
                </a:solidFill>
                <a:effectLst/>
                <a:latin typeface="+mn-lt"/>
                <a:ea typeface="+mn-ea"/>
                <a:cs typeface="+mn-cs"/>
              </a:rPr>
              <a:t> of the force. Bremsstrahlung (braking radiation) occurs when particles decelerate (acceleration opposite velocity, often from electric fields), while synchrotron radiation is caused by charged particles bending in strong magnetic fields (acceleration perpendicular to velocity). </a:t>
            </a:r>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20</a:t>
            </a:fld>
            <a:endParaRPr lang="en-US"/>
          </a:p>
        </p:txBody>
      </p:sp>
    </p:spTree>
    <p:extLst>
      <p:ext uri="{BB962C8B-B14F-4D97-AF65-F5344CB8AC3E}">
        <p14:creationId xmlns:p14="http://schemas.microsoft.com/office/powerpoint/2010/main" val="20594460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working principle of an </a:t>
            </a:r>
            <a:r>
              <a:rPr lang="en-US" sz="1200" b="1" i="0" kern="1200" dirty="0">
                <a:solidFill>
                  <a:schemeClr val="tx1"/>
                </a:solidFill>
                <a:effectLst/>
                <a:latin typeface="+mn-lt"/>
                <a:ea typeface="+mn-ea"/>
                <a:cs typeface="+mn-cs"/>
              </a:rPr>
              <a:t>X-ray monochromator</a:t>
            </a:r>
            <a:r>
              <a:rPr lang="en-US" sz="1200" b="0" i="0" kern="1200" dirty="0">
                <a:solidFill>
                  <a:schemeClr val="tx1"/>
                </a:solidFill>
                <a:effectLst/>
                <a:latin typeface="+mn-lt"/>
                <a:ea typeface="+mn-ea"/>
                <a:cs typeface="+mn-cs"/>
              </a:rPr>
              <a:t> is to filter a broadband X-ray beam (containing multiple wavelengths) and output a beam with a single, narrow wavelength range (monochromatic X-rays), which is essential for high-precision X-ray applications such as X-ray diffraction (XRD), X-ray fluorescence (XRF), and X-ray photoelectron spectroscopy (XPS)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When an X-ray beam irradiates a crystalline material, the lattice planes of the crystal act as diffraction gratings. For X-rays to produce constructive interference (and thus a detectable diffracted beam), they must satisfy </a:t>
            </a:r>
            <a:r>
              <a:rPr lang="en-US" sz="1200" b="1" i="0" kern="1200" dirty="0">
                <a:solidFill>
                  <a:schemeClr val="tx1"/>
                </a:solidFill>
                <a:effectLst/>
                <a:latin typeface="+mn-lt"/>
                <a:ea typeface="+mn-ea"/>
                <a:cs typeface="+mn-cs"/>
              </a:rPr>
              <a:t>Bragg's equation</a:t>
            </a:r>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22</a:t>
            </a:fld>
            <a:endParaRPr lang="en-US"/>
          </a:p>
        </p:txBody>
      </p:sp>
    </p:spTree>
    <p:extLst>
      <p:ext uri="{BB962C8B-B14F-4D97-AF65-F5344CB8AC3E}">
        <p14:creationId xmlns:p14="http://schemas.microsoft.com/office/powerpoint/2010/main" val="3864466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How to realize </a:t>
            </a:r>
            <a:r>
              <a:rPr lang="en-US" sz="1200" b="0" i="0" kern="1200" dirty="0" err="1">
                <a:solidFill>
                  <a:schemeClr val="tx1"/>
                </a:solidFill>
                <a:effectLst/>
                <a:latin typeface="+mn-lt"/>
                <a:ea typeface="+mn-ea"/>
                <a:cs typeface="+mn-cs"/>
              </a:rPr>
              <a:t>monchromatization</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Imaging incident x-ray hitting the diffraction grating (crystal): (1) only a small region of flat crystal can be used; (2) </a:t>
            </a:r>
            <a:r>
              <a:rPr lang="en-US" sz="1200" b="0" i="0" kern="1200" dirty="0" err="1">
                <a:solidFill>
                  <a:schemeClr val="tx1"/>
                </a:solidFill>
                <a:effectLst/>
                <a:latin typeface="+mn-lt"/>
                <a:ea typeface="+mn-ea"/>
                <a:cs typeface="+mn-cs"/>
              </a:rPr>
              <a:t>monchromated</a:t>
            </a:r>
            <a:r>
              <a:rPr lang="en-US" sz="1200" b="0" i="0" kern="1200" dirty="0">
                <a:solidFill>
                  <a:schemeClr val="tx1"/>
                </a:solidFill>
                <a:effectLst/>
                <a:latin typeface="+mn-lt"/>
                <a:ea typeface="+mn-ea"/>
                <a:cs typeface="+mn-cs"/>
              </a:rPr>
              <a:t> x-ray are not spatially focused—they need to be collected over large range.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idea of Rowland circle design:</a:t>
            </a:r>
          </a:p>
          <a:p>
            <a:r>
              <a:rPr lang="en-US" sz="1200" b="0" i="0" kern="1200" dirty="0">
                <a:solidFill>
                  <a:schemeClr val="tx1"/>
                </a:solidFill>
                <a:effectLst/>
                <a:latin typeface="+mn-lt"/>
                <a:ea typeface="+mn-ea"/>
                <a:cs typeface="+mn-cs"/>
              </a:rPr>
              <a:t>The Rowland circle is a geometric concept crucial for the design of X-ray spectrometers (especially crystal spectrometers) and monochromators, which ensures that diffracted X-rays of a specific wavelength are focused to a single point, thereby improving the spectral resolution and signal intensity.</a:t>
            </a:r>
          </a:p>
          <a:p>
            <a:r>
              <a:rPr lang="en-US" sz="1200" b="0" i="0" kern="1200" dirty="0">
                <a:solidFill>
                  <a:schemeClr val="tx1"/>
                </a:solidFill>
                <a:effectLst/>
                <a:latin typeface="+mn-lt"/>
                <a:ea typeface="+mn-ea"/>
                <a:cs typeface="+mn-cs"/>
              </a:rPr>
              <a:t>For a spherical crystal (curved crystal) with radius of curvature 2</a:t>
            </a:r>
            <a:r>
              <a:rPr lang="en-US" sz="1200" b="0" i="1" kern="1200" dirty="0">
                <a:solidFill>
                  <a:schemeClr val="tx1"/>
                </a:solidFill>
                <a:effectLst/>
                <a:latin typeface="+mn-lt"/>
                <a:ea typeface="+mn-ea"/>
                <a:cs typeface="+mn-cs"/>
              </a:rPr>
              <a:t>R</a:t>
            </a:r>
            <a:r>
              <a:rPr lang="en-US" sz="1200" b="0" i="0" kern="1200" dirty="0">
                <a:solidFill>
                  <a:schemeClr val="tx1"/>
                </a:solidFill>
                <a:effectLst/>
                <a:latin typeface="+mn-lt"/>
                <a:ea typeface="+mn-ea"/>
                <a:cs typeface="+mn-cs"/>
              </a:rPr>
              <a:t>, if we draw a circle with radius equal to </a:t>
            </a:r>
            <a:r>
              <a:rPr lang="en-US" sz="1200" b="0" i="1" kern="1200" dirty="0">
                <a:solidFill>
                  <a:schemeClr val="tx1"/>
                </a:solidFill>
                <a:effectLst/>
                <a:latin typeface="+mn-lt"/>
                <a:ea typeface="+mn-ea"/>
                <a:cs typeface="+mn-cs"/>
              </a:rPr>
              <a:t>R</a:t>
            </a:r>
            <a:r>
              <a:rPr lang="en-US" sz="1200" b="0" i="0" kern="1200" dirty="0">
                <a:solidFill>
                  <a:schemeClr val="tx1"/>
                </a:solidFill>
                <a:effectLst/>
                <a:latin typeface="+mn-lt"/>
                <a:ea typeface="+mn-ea"/>
                <a:cs typeface="+mn-cs"/>
              </a:rPr>
              <a:t> that is tangent to the crystal surface at its midpoint, this circle is called the Rowland circle.</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 Curved Crystal Diffraction</a:t>
            </a:r>
          </a:p>
          <a:p>
            <a:r>
              <a:rPr lang="en-US" sz="1200" b="0" i="0" kern="1200" dirty="0">
                <a:solidFill>
                  <a:schemeClr val="tx1"/>
                </a:solidFill>
                <a:effectLst/>
                <a:latin typeface="+mn-lt"/>
                <a:ea typeface="+mn-ea"/>
                <a:cs typeface="+mn-cs"/>
              </a:rPr>
              <a:t>Unlike a flat crystal, a spherical crystal has its lattice planes bent to a radius of curvature </a:t>
            </a:r>
            <a:r>
              <a:rPr lang="en-US" sz="1200" b="0" i="1" kern="1200" dirty="0">
                <a:solidFill>
                  <a:schemeClr val="tx1"/>
                </a:solidFill>
                <a:effectLst/>
                <a:latin typeface="+mn-lt"/>
                <a:ea typeface="+mn-ea"/>
                <a:cs typeface="+mn-cs"/>
              </a:rPr>
              <a:t>R</a:t>
            </a:r>
            <a:r>
              <a:rPr lang="en-US" sz="1200" b="0" i="0" kern="1200" dirty="0">
                <a:solidFill>
                  <a:schemeClr val="tx1"/>
                </a:solidFill>
                <a:effectLst/>
                <a:latin typeface="+mn-lt"/>
                <a:ea typeface="+mn-ea"/>
                <a:cs typeface="+mn-cs"/>
              </a:rPr>
              <a:t>. This ensures that all lattice planes on the crystal surface satisfy the </a:t>
            </a:r>
            <a:r>
              <a:rPr lang="en-US" sz="1200" b="1" i="0" kern="1200" dirty="0">
                <a:solidFill>
                  <a:schemeClr val="tx1"/>
                </a:solidFill>
                <a:effectLst/>
                <a:latin typeface="+mn-lt"/>
                <a:ea typeface="+mn-ea"/>
                <a:cs typeface="+mn-cs"/>
              </a:rPr>
              <a:t>Bragg condition</a:t>
            </a:r>
            <a:r>
              <a:rPr lang="en-US" sz="1200" b="0" i="0" kern="1200" dirty="0">
                <a:solidFill>
                  <a:schemeClr val="tx1"/>
                </a:solidFill>
                <a:effectLst/>
                <a:latin typeface="+mn-lt"/>
                <a:ea typeface="+mn-ea"/>
                <a:cs typeface="+mn-cs"/>
              </a:rPr>
              <a:t> simultaneously for a specific wavelength </a:t>
            </a:r>
            <a:r>
              <a:rPr lang="en-US" sz="1200" b="0" i="1" kern="1200" dirty="0">
                <a:solidFill>
                  <a:schemeClr val="tx1"/>
                </a:solidFill>
                <a:effectLst/>
                <a:latin typeface="+mn-lt"/>
                <a:ea typeface="+mn-ea"/>
                <a:cs typeface="+mn-cs"/>
              </a:rPr>
              <a:t>λ</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For a flat crystal, only a small area can satisfy the Bragg angle </a:t>
            </a:r>
            <a:r>
              <a:rPr lang="en-US" sz="1200" b="0" i="1" kern="1200" dirty="0">
                <a:solidFill>
                  <a:schemeClr val="tx1"/>
                </a:solidFill>
                <a:effectLst/>
                <a:latin typeface="+mn-lt"/>
                <a:ea typeface="+mn-ea"/>
                <a:cs typeface="+mn-cs"/>
              </a:rPr>
              <a:t>θ</a:t>
            </a:r>
            <a:r>
              <a:rPr lang="en-US" sz="1200" b="0" i="0" kern="1200" dirty="0">
                <a:solidFill>
                  <a:schemeClr val="tx1"/>
                </a:solidFill>
                <a:effectLst/>
                <a:latin typeface="+mn-lt"/>
                <a:ea typeface="+mn-ea"/>
                <a:cs typeface="+mn-cs"/>
              </a:rPr>
              <a:t> for a given </a:t>
            </a:r>
            <a:r>
              <a:rPr lang="en-US" sz="1200" b="0" i="1" kern="1200" dirty="0">
                <a:solidFill>
                  <a:schemeClr val="tx1"/>
                </a:solidFill>
                <a:effectLst/>
                <a:latin typeface="+mn-lt"/>
                <a:ea typeface="+mn-ea"/>
                <a:cs typeface="+mn-cs"/>
              </a:rPr>
              <a:t>λ</a:t>
            </a:r>
            <a:r>
              <a:rPr lang="en-US" sz="1200" b="0" i="0" kern="1200" dirty="0">
                <a:solidFill>
                  <a:schemeClr val="tx1"/>
                </a:solidFill>
                <a:effectLst/>
                <a:latin typeface="+mn-lt"/>
                <a:ea typeface="+mn-ea"/>
                <a:cs typeface="+mn-cs"/>
              </a:rPr>
              <a:t>, leading to weak diffracted signals. The spherical crystal expands the effective diffraction area.</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(2) Geometric Focusing</a:t>
            </a:r>
          </a:p>
          <a:p>
            <a:r>
              <a:rPr lang="en-US" sz="1200" b="0" i="0" kern="1200" dirty="0">
                <a:solidFill>
                  <a:schemeClr val="tx1"/>
                </a:solidFill>
                <a:effectLst/>
                <a:latin typeface="+mn-lt"/>
                <a:ea typeface="+mn-ea"/>
                <a:cs typeface="+mn-cs"/>
              </a:rPr>
              <a:t>According to the law of reflection and Bragg diffraction, X-rays emitted from the source point on the Rowland circle are incident on the spherical crystal, diffracted at an angle 2</a:t>
            </a:r>
            <a:r>
              <a:rPr lang="en-US" sz="1200" b="0" i="1" kern="1200" dirty="0">
                <a:solidFill>
                  <a:schemeClr val="tx1"/>
                </a:solidFill>
                <a:effectLst/>
                <a:latin typeface="+mn-lt"/>
                <a:ea typeface="+mn-ea"/>
                <a:cs typeface="+mn-cs"/>
              </a:rPr>
              <a:t>θ</a:t>
            </a:r>
            <a:r>
              <a:rPr lang="en-US" sz="1200" b="0" i="0" kern="1200" dirty="0">
                <a:solidFill>
                  <a:schemeClr val="tx1"/>
                </a:solidFill>
                <a:effectLst/>
                <a:latin typeface="+mn-lt"/>
                <a:ea typeface="+mn-ea"/>
                <a:cs typeface="+mn-cs"/>
              </a:rPr>
              <a:t> (consistent with Bragg’s law 2</a:t>
            </a:r>
            <a:r>
              <a:rPr lang="en-US" sz="1200" b="0" i="1" kern="1200" dirty="0">
                <a:solidFill>
                  <a:schemeClr val="tx1"/>
                </a:solidFill>
                <a:effectLst/>
                <a:latin typeface="+mn-lt"/>
                <a:ea typeface="+mn-ea"/>
                <a:cs typeface="+mn-cs"/>
              </a:rPr>
              <a:t>d</a:t>
            </a:r>
            <a:r>
              <a:rPr lang="en-US" sz="1200" b="0" i="0" kern="1200" dirty="0">
                <a:solidFill>
                  <a:schemeClr val="tx1"/>
                </a:solidFill>
                <a:effectLst/>
                <a:latin typeface="+mn-lt"/>
                <a:ea typeface="+mn-ea"/>
                <a:cs typeface="+mn-cs"/>
              </a:rPr>
              <a:t>sin</a:t>
            </a:r>
            <a:r>
              <a:rPr lang="en-US" sz="1200" b="0" i="1" kern="1200" dirty="0">
                <a:solidFill>
                  <a:schemeClr val="tx1"/>
                </a:solidFill>
                <a:effectLst/>
                <a:latin typeface="+mn-lt"/>
                <a:ea typeface="+mn-ea"/>
                <a:cs typeface="+mn-cs"/>
              </a:rPr>
              <a:t>θ</a:t>
            </a:r>
            <a:r>
              <a:rPr lang="en-US" sz="1200" b="0" i="0" kern="1200" dirty="0">
                <a:solidFill>
                  <a:schemeClr val="tx1"/>
                </a:solidFill>
                <a:effectLst/>
                <a:latin typeface="+mn-lt"/>
                <a:ea typeface="+mn-ea"/>
                <a:cs typeface="+mn-cs"/>
              </a:rPr>
              <a:t>=</a:t>
            </a:r>
            <a:r>
              <a:rPr lang="en-US" sz="1200" b="0" i="1" kern="1200" dirty="0" err="1">
                <a:solidFill>
                  <a:schemeClr val="tx1"/>
                </a:solidFill>
                <a:effectLst/>
                <a:latin typeface="+mn-lt"/>
                <a:ea typeface="+mn-ea"/>
                <a:cs typeface="+mn-cs"/>
              </a:rPr>
              <a:t>nλ</a:t>
            </a:r>
            <a:r>
              <a:rPr lang="en-US" sz="1200" b="0" i="0" kern="1200" dirty="0">
                <a:solidFill>
                  <a:schemeClr val="tx1"/>
                </a:solidFill>
                <a:effectLst/>
                <a:latin typeface="+mn-lt"/>
                <a:ea typeface="+mn-ea"/>
                <a:cs typeface="+mn-cs"/>
              </a:rPr>
              <a:t>), and then converge exactly at another point on the Rowland circle (the detector position).</a:t>
            </a:r>
          </a:p>
          <a:p>
            <a:r>
              <a:rPr lang="en-US" sz="1200" b="0" i="0" kern="1200" dirty="0">
                <a:solidFill>
                  <a:schemeClr val="tx1"/>
                </a:solidFill>
                <a:effectLst/>
                <a:latin typeface="+mn-lt"/>
                <a:ea typeface="+mn-ea"/>
                <a:cs typeface="+mn-cs"/>
              </a:rPr>
              <a:t>.</a:t>
            </a:r>
          </a:p>
          <a:p>
            <a:endParaRPr lang="en-HK" b="0" dirty="0"/>
          </a:p>
        </p:txBody>
      </p:sp>
      <p:sp>
        <p:nvSpPr>
          <p:cNvPr id="4" name="Slide Number Placeholder 3"/>
          <p:cNvSpPr>
            <a:spLocks noGrp="1"/>
          </p:cNvSpPr>
          <p:nvPr>
            <p:ph type="sldNum" sz="quarter" idx="5"/>
          </p:nvPr>
        </p:nvSpPr>
        <p:spPr/>
        <p:txBody>
          <a:bodyPr/>
          <a:lstStyle/>
          <a:p>
            <a:fld id="{F0354186-1FAD-48C0-909C-F0B8DE29C440}" type="slidenum">
              <a:rPr lang="en-US" smtClean="0"/>
              <a:t>23</a:t>
            </a:fld>
            <a:endParaRPr lang="en-US"/>
          </a:p>
        </p:txBody>
      </p:sp>
    </p:spTree>
    <p:extLst>
      <p:ext uri="{BB962C8B-B14F-4D97-AF65-F5344CB8AC3E}">
        <p14:creationId xmlns:p14="http://schemas.microsoft.com/office/powerpoint/2010/main" val="7017180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sz="1200" b="0" i="0" kern="1200" dirty="0">
                <a:solidFill>
                  <a:schemeClr val="tx1"/>
                </a:solidFill>
                <a:effectLst/>
                <a:latin typeface="+mn-lt"/>
                <a:ea typeface="+mn-ea"/>
                <a:cs typeface="+mn-cs"/>
              </a:rPr>
              <a:t>The original X-ray source (e.g., X-ray tube) emits a polychromatic beam with a continuous spectrum (bremsstrahlung) and characteristic spectral lines (e.g., Cu </a:t>
            </a:r>
            <a:r>
              <a:rPr lang="en-HK" sz="1200" b="0" i="1" kern="1200" dirty="0">
                <a:solidFill>
                  <a:schemeClr val="tx1"/>
                </a:solidFill>
                <a:effectLst/>
                <a:latin typeface="+mn-lt"/>
                <a:ea typeface="+mn-ea"/>
                <a:cs typeface="+mn-cs"/>
              </a:rPr>
              <a:t>K</a:t>
            </a:r>
            <a:r>
              <a:rPr lang="el-GR" sz="1200" b="0" i="1" kern="1200" dirty="0">
                <a:solidFill>
                  <a:schemeClr val="tx1"/>
                </a:solidFill>
                <a:effectLst/>
                <a:latin typeface="+mn-lt"/>
                <a:ea typeface="+mn-ea"/>
                <a:cs typeface="+mn-cs"/>
              </a:rPr>
              <a:t>α</a:t>
            </a:r>
            <a:r>
              <a:rPr lang="el-GR" sz="1200" b="0" i="0" kern="1200" dirty="0">
                <a:solidFill>
                  <a:schemeClr val="tx1"/>
                </a:solidFill>
                <a:effectLst/>
                <a:latin typeface="+mn-lt"/>
                <a:ea typeface="+mn-ea"/>
                <a:cs typeface="+mn-cs"/>
              </a:rPr>
              <a:t>​, </a:t>
            </a:r>
            <a:r>
              <a:rPr lang="en-HK" sz="1200" b="0" i="0" kern="1200" dirty="0">
                <a:solidFill>
                  <a:schemeClr val="tx1"/>
                </a:solidFill>
                <a:effectLst/>
                <a:latin typeface="+mn-lt"/>
                <a:ea typeface="+mn-ea"/>
                <a:cs typeface="+mn-cs"/>
              </a:rPr>
              <a:t>Mo </a:t>
            </a:r>
            <a:r>
              <a:rPr lang="en-HK" sz="1200" b="0" i="1" kern="1200" dirty="0">
                <a:solidFill>
                  <a:schemeClr val="tx1"/>
                </a:solidFill>
                <a:effectLst/>
                <a:latin typeface="+mn-lt"/>
                <a:ea typeface="+mn-ea"/>
                <a:cs typeface="+mn-cs"/>
              </a:rPr>
              <a:t>K</a:t>
            </a:r>
            <a:r>
              <a:rPr lang="el-GR" sz="1200" b="0" i="1" kern="1200" dirty="0">
                <a:solidFill>
                  <a:schemeClr val="tx1"/>
                </a:solidFill>
                <a:effectLst/>
                <a:latin typeface="+mn-lt"/>
                <a:ea typeface="+mn-ea"/>
                <a:cs typeface="+mn-cs"/>
              </a:rPr>
              <a:t>α</a:t>
            </a:r>
            <a:r>
              <a:rPr lang="el-GR" sz="1200" b="0" i="0" kern="1200" dirty="0">
                <a:solidFill>
                  <a:schemeClr val="tx1"/>
                </a:solidFill>
                <a:effectLst/>
                <a:latin typeface="+mn-lt"/>
                <a:ea typeface="+mn-ea"/>
                <a:cs typeface="+mn-cs"/>
              </a:rPr>
              <a:t>​)</a:t>
            </a:r>
            <a:r>
              <a:rPr lang="en-HK" sz="1200" b="0" i="0" kern="120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The monochromator crystal is adjusted to a specific Bragg angle </a:t>
            </a:r>
            <a:r>
              <a:rPr lang="en-US" sz="1200" b="0" i="1" kern="1200" dirty="0">
                <a:solidFill>
                  <a:schemeClr val="tx1"/>
                </a:solidFill>
                <a:effectLst/>
                <a:latin typeface="+mn-lt"/>
                <a:ea typeface="+mn-ea"/>
                <a:cs typeface="+mn-cs"/>
              </a:rPr>
              <a:t>θ</a:t>
            </a:r>
            <a:r>
              <a:rPr lang="en-US" sz="1200" b="0" i="0" kern="1200" dirty="0">
                <a:solidFill>
                  <a:schemeClr val="tx1"/>
                </a:solidFill>
                <a:effectLst/>
                <a:latin typeface="+mn-lt"/>
                <a:ea typeface="+mn-ea"/>
                <a:cs typeface="+mn-cs"/>
              </a:rPr>
              <a:t>. According to Bragg's law, only X-rays with a wavelength </a:t>
            </a:r>
            <a:r>
              <a:rPr lang="en-US" sz="1200" b="0" i="1" kern="1200" dirty="0">
                <a:solidFill>
                  <a:schemeClr val="tx1"/>
                </a:solidFill>
                <a:effectLst/>
                <a:latin typeface="+mn-lt"/>
                <a:ea typeface="+mn-ea"/>
                <a:cs typeface="+mn-cs"/>
              </a:rPr>
              <a:t>λ</a:t>
            </a:r>
            <a:r>
              <a:rPr lang="en-US" sz="1200" b="0" i="0" kern="1200" dirty="0">
                <a:solidFill>
                  <a:schemeClr val="tx1"/>
                </a:solidFill>
                <a:effectLst/>
                <a:latin typeface="+mn-lt"/>
                <a:ea typeface="+mn-ea"/>
                <a:cs typeface="+mn-cs"/>
              </a:rPr>
              <a:t> that matches </a:t>
            </a:r>
            <a:r>
              <a:rPr lang="en-US" sz="1200" b="0" i="1" kern="1200" dirty="0">
                <a:solidFill>
                  <a:schemeClr val="tx1"/>
                </a:solidFill>
                <a:effectLst/>
                <a:latin typeface="+mn-lt"/>
                <a:ea typeface="+mn-ea"/>
                <a:cs typeface="+mn-cs"/>
              </a:rPr>
              <a:t>d</a:t>
            </a:r>
            <a:r>
              <a:rPr lang="en-US" sz="1200" b="0" i="0" kern="1200" dirty="0">
                <a:solidFill>
                  <a:schemeClr val="tx1"/>
                </a:solidFill>
                <a:effectLst/>
                <a:latin typeface="+mn-lt"/>
                <a:ea typeface="+mn-ea"/>
                <a:cs typeface="+mn-cs"/>
              </a:rPr>
              <a:t>, </a:t>
            </a:r>
            <a:r>
              <a:rPr lang="en-US" sz="1200" b="0" i="1" kern="1200" dirty="0">
                <a:solidFill>
                  <a:schemeClr val="tx1"/>
                </a:solidFill>
                <a:effectLst/>
                <a:latin typeface="+mn-lt"/>
                <a:ea typeface="+mn-ea"/>
                <a:cs typeface="+mn-cs"/>
              </a:rPr>
              <a:t>θ</a:t>
            </a:r>
            <a:r>
              <a:rPr lang="en-US" sz="1200" b="0" i="0" kern="1200" dirty="0">
                <a:solidFill>
                  <a:schemeClr val="tx1"/>
                </a:solidFill>
                <a:effectLst/>
                <a:latin typeface="+mn-lt"/>
                <a:ea typeface="+mn-ea"/>
                <a:cs typeface="+mn-cs"/>
              </a:rPr>
              <a:t>, and </a:t>
            </a:r>
            <a:r>
              <a:rPr lang="en-US" sz="1200" b="0" i="1" kern="1200" dirty="0">
                <a:solidFill>
                  <a:schemeClr val="tx1"/>
                </a:solidFill>
                <a:effectLst/>
                <a:latin typeface="+mn-lt"/>
                <a:ea typeface="+mn-ea"/>
                <a:cs typeface="+mn-cs"/>
              </a:rPr>
              <a:t>n</a:t>
            </a:r>
            <a:r>
              <a:rPr lang="en-US" sz="1200" b="0" i="0" kern="1200" dirty="0">
                <a:solidFill>
                  <a:schemeClr val="tx1"/>
                </a:solidFill>
                <a:effectLst/>
                <a:latin typeface="+mn-lt"/>
                <a:ea typeface="+mn-ea"/>
                <a:cs typeface="+mn-cs"/>
              </a:rPr>
              <a:t> will be diffracted at an angle of 2</a:t>
            </a:r>
            <a:r>
              <a:rPr lang="en-US" sz="1200" b="0" i="1" kern="1200" dirty="0">
                <a:solidFill>
                  <a:schemeClr val="tx1"/>
                </a:solidFill>
                <a:effectLst/>
                <a:latin typeface="+mn-lt"/>
                <a:ea typeface="+mn-ea"/>
                <a:cs typeface="+mn-cs"/>
              </a:rPr>
              <a:t>θ</a:t>
            </a:r>
            <a:r>
              <a:rPr lang="en-US" sz="1200" b="0" i="0" kern="1200" dirty="0">
                <a:solidFill>
                  <a:schemeClr val="tx1"/>
                </a:solidFill>
                <a:effectLst/>
                <a:latin typeface="+mn-lt"/>
                <a:ea typeface="+mn-ea"/>
                <a:cs typeface="+mn-cs"/>
              </a:rPr>
              <a:t> relative to the incident direction. X-rays with other wavelengths do not satisfy the Bragg condition and either pass through the crystal or are scattered in non-target directions, so they are excluded from the output beam. The diffracted beam contains only the specific wavelength that meets the Bragg condition, achieving </a:t>
            </a:r>
            <a:r>
              <a:rPr lang="en-US" sz="1200" b="0" i="0" kern="1200" dirty="0" err="1">
                <a:solidFill>
                  <a:schemeClr val="tx1"/>
                </a:solidFill>
                <a:effectLst/>
                <a:latin typeface="+mn-lt"/>
                <a:ea typeface="+mn-ea"/>
                <a:cs typeface="+mn-cs"/>
              </a:rPr>
              <a:t>monochromatization</a:t>
            </a:r>
            <a:r>
              <a:rPr lang="en-US" sz="1200" b="0" i="0" kern="1200" dirty="0">
                <a:solidFill>
                  <a:schemeClr val="tx1"/>
                </a:solidFill>
                <a:effectLst/>
                <a:latin typeface="+mn-lt"/>
                <a:ea typeface="+mn-ea"/>
                <a:cs typeface="+mn-cs"/>
              </a:rPr>
              <a:t>.</a:t>
            </a:r>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24</a:t>
            </a:fld>
            <a:endParaRPr lang="en-US"/>
          </a:p>
        </p:txBody>
      </p:sp>
    </p:spTree>
    <p:extLst>
      <p:ext uri="{BB962C8B-B14F-4D97-AF65-F5344CB8AC3E}">
        <p14:creationId xmlns:p14="http://schemas.microsoft.com/office/powerpoint/2010/main" val="22883343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Satellite peaks: In non-monochromatic XPS, these are extra peaks near the main photoelectron peak, caused by the characteristic satellite lines of the X-ray source (e.g., Al Kα₃, Al Kα₄ lines accompanying the main Al Kα₁,₂ line, or Mg Kα satellites). These satellite X-rays excite photoelectrons with slightly different kinetic energies, leading to overlapping satellite peaks.</a:t>
            </a:r>
          </a:p>
          <a:p>
            <a:r>
              <a:rPr lang="en-US" sz="1200" b="0" i="0" kern="1200" dirty="0">
                <a:solidFill>
                  <a:schemeClr val="tx1"/>
                </a:solidFill>
                <a:effectLst/>
                <a:latin typeface="+mn-lt"/>
                <a:ea typeface="+mn-ea"/>
                <a:cs typeface="+mn-cs"/>
              </a:rPr>
              <a:t>Ghost peaks: These are artifact peaks unrelated to the sample’s chemical composition, caused by parasitic diffraction or scattering of polychromatic X-rays in the spectrometer. </a:t>
            </a:r>
            <a:r>
              <a:rPr lang="en-HK" sz="1200" b="0" i="0" kern="1200" dirty="0">
                <a:solidFill>
                  <a:schemeClr val="tx1"/>
                </a:solidFill>
                <a:effectLst/>
                <a:latin typeface="+mn-lt"/>
                <a:ea typeface="+mn-ea"/>
                <a:cs typeface="+mn-cs"/>
              </a:rPr>
              <a:t>Polychromatic X-rays include a continuous bremsstrahlung background and higher-order diffraction lines of the characteristic X-rays (e.g., </a:t>
            </a:r>
            <a:r>
              <a:rPr lang="en-HK" sz="1200" b="0" i="1" kern="1200" dirty="0">
                <a:solidFill>
                  <a:schemeClr val="tx1"/>
                </a:solidFill>
                <a:effectLst/>
                <a:latin typeface="+mn-lt"/>
                <a:ea typeface="+mn-ea"/>
                <a:cs typeface="+mn-cs"/>
              </a:rPr>
              <a:t>n</a:t>
            </a:r>
            <a:r>
              <a:rPr lang="en-HK" sz="1200" b="0" i="0" kern="1200" dirty="0">
                <a:solidFill>
                  <a:schemeClr val="tx1"/>
                </a:solidFill>
                <a:effectLst/>
                <a:latin typeface="+mn-lt"/>
                <a:ea typeface="+mn-ea"/>
                <a:cs typeface="+mn-cs"/>
              </a:rPr>
              <a:t>=2 order of Al K</a:t>
            </a:r>
            <a:r>
              <a:rPr lang="el-GR" sz="1200" b="0" i="0" kern="1200" dirty="0">
                <a:solidFill>
                  <a:schemeClr val="tx1"/>
                </a:solidFill>
                <a:effectLst/>
                <a:latin typeface="+mn-lt"/>
                <a:ea typeface="+mn-ea"/>
                <a:cs typeface="+mn-cs"/>
              </a:rPr>
              <a:t>α, </a:t>
            </a:r>
            <a:r>
              <a:rPr lang="en-HK" sz="1200" b="0" i="0" kern="1200" dirty="0">
                <a:solidFill>
                  <a:schemeClr val="tx1"/>
                </a:solidFill>
                <a:effectLst/>
                <a:latin typeface="+mn-lt"/>
                <a:ea typeface="+mn-ea"/>
                <a:cs typeface="+mn-cs"/>
              </a:rPr>
              <a:t>which has energy 2×1486.6 eV). These components can Diffract off the spectrometer’s internal components (e.g., </a:t>
            </a:r>
            <a:r>
              <a:rPr lang="en-HK" sz="1200" b="0" i="0" kern="1200" dirty="0" err="1">
                <a:solidFill>
                  <a:schemeClr val="tx1"/>
                </a:solidFill>
                <a:effectLst/>
                <a:latin typeface="+mn-lt"/>
                <a:ea typeface="+mn-ea"/>
                <a:cs typeface="+mn-cs"/>
              </a:rPr>
              <a:t>analyzer</a:t>
            </a:r>
            <a:r>
              <a:rPr lang="en-HK" sz="1200" b="0" i="0" kern="1200" dirty="0">
                <a:solidFill>
                  <a:schemeClr val="tx1"/>
                </a:solidFill>
                <a:effectLst/>
                <a:latin typeface="+mn-lt"/>
                <a:ea typeface="+mn-ea"/>
                <a:cs typeface="+mn-cs"/>
              </a:rPr>
              <a:t> grids, sample holder) to excite photoelectrons, which are then misinterpreted by the detector as valid photoelectron signals.</a:t>
            </a:r>
          </a:p>
          <a:p>
            <a:endParaRPr lang="en-US" sz="1200" b="0" i="0" kern="1200" dirty="0">
              <a:solidFill>
                <a:schemeClr val="tx1"/>
              </a:solidFill>
              <a:effectLst/>
              <a:latin typeface="+mn-lt"/>
              <a:ea typeface="+mn-ea"/>
              <a:cs typeface="+mn-cs"/>
            </a:endParaRPr>
          </a:p>
          <a:p>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25</a:t>
            </a:fld>
            <a:endParaRPr lang="en-US"/>
          </a:p>
        </p:txBody>
      </p:sp>
    </p:spTree>
    <p:extLst>
      <p:ext uri="{BB962C8B-B14F-4D97-AF65-F5344CB8AC3E}">
        <p14:creationId xmlns:p14="http://schemas.microsoft.com/office/powerpoint/2010/main" val="2604104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sz="1200" b="0" i="0" kern="1200" dirty="0">
                <a:solidFill>
                  <a:schemeClr val="tx1"/>
                </a:solidFill>
                <a:effectLst/>
                <a:latin typeface="+mn-lt"/>
                <a:ea typeface="+mn-ea"/>
                <a:cs typeface="+mn-cs"/>
              </a:rPr>
              <a:t>Conventional XPS uses non-monochromatic X-ray sources (e.g., Al/Mg anode X-ray tubes), which emit a main characteristic line (e.g., Al K</a:t>
            </a:r>
            <a:r>
              <a:rPr lang="el-GR" sz="1200" b="0" i="0" kern="1200" dirty="0">
                <a:solidFill>
                  <a:schemeClr val="tx1"/>
                </a:solidFill>
                <a:effectLst/>
                <a:latin typeface="+mn-lt"/>
                <a:ea typeface="+mn-ea"/>
                <a:cs typeface="+mn-cs"/>
              </a:rPr>
              <a:t>α₁,₂, ~1486.6 </a:t>
            </a:r>
            <a:r>
              <a:rPr lang="en-HK" sz="1200" b="0" i="0" kern="1200" dirty="0">
                <a:solidFill>
                  <a:schemeClr val="tx1"/>
                </a:solidFill>
                <a:effectLst/>
                <a:latin typeface="+mn-lt"/>
                <a:ea typeface="+mn-ea"/>
                <a:cs typeface="+mn-cs"/>
              </a:rPr>
              <a:t>eV) </a:t>
            </a:r>
            <a:r>
              <a:rPr lang="en-HK" sz="1200" b="0" i="1" kern="1200" dirty="0">
                <a:solidFill>
                  <a:schemeClr val="tx1"/>
                </a:solidFill>
                <a:effectLst/>
                <a:latin typeface="+mn-lt"/>
                <a:ea typeface="+mn-ea"/>
                <a:cs typeface="+mn-cs"/>
              </a:rPr>
              <a:t>plus a series of satellite lines</a:t>
            </a:r>
            <a:r>
              <a:rPr lang="en-HK" sz="1200" b="0" i="0" kern="1200" dirty="0">
                <a:solidFill>
                  <a:schemeClr val="tx1"/>
                </a:solidFill>
                <a:effectLst/>
                <a:latin typeface="+mn-lt"/>
                <a:ea typeface="+mn-ea"/>
                <a:cs typeface="+mn-cs"/>
              </a:rPr>
              <a:t> (e.g., Al K</a:t>
            </a:r>
            <a:r>
              <a:rPr lang="el-GR" sz="1200" b="0" i="0" kern="1200" dirty="0">
                <a:solidFill>
                  <a:schemeClr val="tx1"/>
                </a:solidFill>
                <a:effectLst/>
                <a:latin typeface="+mn-lt"/>
                <a:ea typeface="+mn-ea"/>
                <a:cs typeface="+mn-cs"/>
              </a:rPr>
              <a:t>α₃, </a:t>
            </a:r>
            <a:r>
              <a:rPr lang="en-HK" sz="1200" b="0" i="0" kern="1200" dirty="0">
                <a:solidFill>
                  <a:schemeClr val="tx1"/>
                </a:solidFill>
                <a:effectLst/>
                <a:latin typeface="+mn-lt"/>
                <a:ea typeface="+mn-ea"/>
                <a:cs typeface="+mn-cs"/>
              </a:rPr>
              <a:t>Al K</a:t>
            </a:r>
            <a:r>
              <a:rPr lang="el-GR" sz="1200" b="0" i="0" kern="1200" dirty="0">
                <a:solidFill>
                  <a:schemeClr val="tx1"/>
                </a:solidFill>
                <a:effectLst/>
                <a:latin typeface="+mn-lt"/>
                <a:ea typeface="+mn-ea"/>
                <a:cs typeface="+mn-cs"/>
              </a:rPr>
              <a:t>α₄, </a:t>
            </a:r>
            <a:r>
              <a:rPr lang="en-HK" sz="1200" b="0" i="0" kern="1200" dirty="0">
                <a:solidFill>
                  <a:schemeClr val="tx1"/>
                </a:solidFill>
                <a:effectLst/>
                <a:latin typeface="+mn-lt"/>
                <a:ea typeface="+mn-ea"/>
                <a:cs typeface="+mn-cs"/>
              </a:rPr>
              <a:t>Al K</a:t>
            </a:r>
            <a:r>
              <a:rPr lang="el-GR" sz="1200" b="0" i="0" kern="1200" dirty="0">
                <a:solidFill>
                  <a:schemeClr val="tx1"/>
                </a:solidFill>
                <a:effectLst/>
                <a:latin typeface="+mn-lt"/>
                <a:ea typeface="+mn-ea"/>
                <a:cs typeface="+mn-cs"/>
              </a:rPr>
              <a:t>β). </a:t>
            </a:r>
            <a:r>
              <a:rPr lang="en-HK" sz="1200" b="0" i="0" kern="1200" dirty="0">
                <a:solidFill>
                  <a:schemeClr val="tx1"/>
                </a:solidFill>
                <a:effectLst/>
                <a:latin typeface="+mn-lt"/>
                <a:ea typeface="+mn-ea"/>
                <a:cs typeface="+mn-cs"/>
              </a:rPr>
              <a:t>These satellite lines have slightly different photon energies.</a:t>
            </a:r>
            <a:endParaRPr lang="en-HK" b="0" dirty="0"/>
          </a:p>
        </p:txBody>
      </p:sp>
      <p:sp>
        <p:nvSpPr>
          <p:cNvPr id="4" name="Slide Number Placeholder 3"/>
          <p:cNvSpPr>
            <a:spLocks noGrp="1"/>
          </p:cNvSpPr>
          <p:nvPr>
            <p:ph type="sldNum" sz="quarter" idx="5"/>
          </p:nvPr>
        </p:nvSpPr>
        <p:spPr/>
        <p:txBody>
          <a:bodyPr/>
          <a:lstStyle/>
          <a:p>
            <a:fld id="{F0354186-1FAD-48C0-909C-F0B8DE29C440}" type="slidenum">
              <a:rPr lang="en-US" smtClean="0"/>
              <a:t>26</a:t>
            </a:fld>
            <a:endParaRPr lang="en-US"/>
          </a:p>
        </p:txBody>
      </p:sp>
    </p:spTree>
    <p:extLst>
      <p:ext uri="{BB962C8B-B14F-4D97-AF65-F5344CB8AC3E}">
        <p14:creationId xmlns:p14="http://schemas.microsoft.com/office/powerpoint/2010/main" val="42944575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absolute width of photoelectron peaks (Δ</a:t>
            </a:r>
            <a:r>
              <a:rPr lang="en-US" sz="1200" b="0" i="1" kern="1200" dirty="0">
                <a:solidFill>
                  <a:schemeClr val="tx1"/>
                </a:solidFill>
                <a:effectLst/>
                <a:latin typeface="+mn-lt"/>
                <a:ea typeface="+mn-ea"/>
                <a:cs typeface="+mn-cs"/>
              </a:rPr>
              <a:t>E</a:t>
            </a:r>
            <a:r>
              <a:rPr lang="en-US" sz="1200" b="0" i="0" kern="1200" dirty="0">
                <a:solidFill>
                  <a:schemeClr val="tx1"/>
                </a:solidFill>
                <a:effectLst/>
                <a:latin typeface="+mn-lt"/>
                <a:ea typeface="+mn-ea"/>
                <a:cs typeface="+mn-cs"/>
              </a:rPr>
              <a:t>) naturally increases with the photoelectron kinetic energy (</a:t>
            </a:r>
            <a:r>
              <a:rPr lang="en-US" sz="1200" b="0" i="1" kern="1200" dirty="0">
                <a:solidFill>
                  <a:schemeClr val="tx1"/>
                </a:solidFill>
                <a:effectLst/>
                <a:latin typeface="+mn-lt"/>
                <a:ea typeface="+mn-ea"/>
                <a:cs typeface="+mn-cs"/>
              </a:rPr>
              <a:t>Ek</a:t>
            </a:r>
            <a:r>
              <a:rPr lang="en-US" sz="1200" b="0" i="0" kern="1200" dirty="0">
                <a:solidFill>
                  <a:schemeClr val="tx1"/>
                </a:solidFill>
                <a:effectLst/>
                <a:latin typeface="+mn-lt"/>
                <a:ea typeface="+mn-ea"/>
                <a:cs typeface="+mn-cs"/>
              </a:rPr>
              <a:t>​). This is caused by two main factors:</a:t>
            </a:r>
          </a:p>
          <a:p>
            <a:r>
              <a:rPr lang="en-US" sz="1200" b="0" i="0" kern="1200" dirty="0">
                <a:solidFill>
                  <a:schemeClr val="tx1"/>
                </a:solidFill>
                <a:effectLst/>
                <a:latin typeface="+mn-lt"/>
                <a:ea typeface="+mn-ea"/>
                <a:cs typeface="+mn-cs"/>
              </a:rPr>
              <a:t>Instrumental broadening: Components like the electron energy analyzer have a fixed relative energy dispersion—their ability to distinguish energy differences scales proportionally to the kinetic energy of the detected electrons. For example, a analyzer might have a constant relative resolution of 0.1%, so a peak at </a:t>
            </a:r>
            <a:r>
              <a:rPr lang="en-US" sz="1200" b="0" i="1" kern="1200" dirty="0">
                <a:solidFill>
                  <a:schemeClr val="tx1"/>
                </a:solidFill>
                <a:effectLst/>
                <a:latin typeface="+mn-lt"/>
                <a:ea typeface="+mn-ea"/>
                <a:cs typeface="+mn-cs"/>
              </a:rPr>
              <a:t>Ek</a:t>
            </a:r>
            <a:r>
              <a:rPr lang="en-US" sz="1200" b="0" i="0" kern="1200" dirty="0">
                <a:solidFill>
                  <a:schemeClr val="tx1"/>
                </a:solidFill>
                <a:effectLst/>
                <a:latin typeface="+mn-lt"/>
                <a:ea typeface="+mn-ea"/>
                <a:cs typeface="+mn-cs"/>
              </a:rPr>
              <a:t>​=100 eV has an absolute width of 0.1 eV, while a peak at </a:t>
            </a:r>
            <a:r>
              <a:rPr lang="en-US" sz="1200" b="0" i="1" kern="1200" dirty="0">
                <a:solidFill>
                  <a:schemeClr val="tx1"/>
                </a:solidFill>
                <a:effectLst/>
                <a:latin typeface="+mn-lt"/>
                <a:ea typeface="+mn-ea"/>
                <a:cs typeface="+mn-cs"/>
              </a:rPr>
              <a:t>Ek</a:t>
            </a:r>
            <a:r>
              <a:rPr lang="en-US" sz="1200" b="0" i="0" kern="1200" dirty="0">
                <a:solidFill>
                  <a:schemeClr val="tx1"/>
                </a:solidFill>
                <a:effectLst/>
                <a:latin typeface="+mn-lt"/>
                <a:ea typeface="+mn-ea"/>
                <a:cs typeface="+mn-cs"/>
              </a:rPr>
              <a:t>​=1000 eV has an absolute width of 1.0 eV.</a:t>
            </a:r>
          </a:p>
          <a:p>
            <a:r>
              <a:rPr lang="en-US" sz="1200" b="0" i="0" kern="1200" dirty="0">
                <a:solidFill>
                  <a:schemeClr val="tx1"/>
                </a:solidFill>
                <a:effectLst/>
                <a:latin typeface="+mn-lt"/>
                <a:ea typeface="+mn-ea"/>
                <a:cs typeface="+mn-cs"/>
              </a:rPr>
              <a:t>Physical broadening effects: Phenomena like inelastic scattering of photoelectrons in the sample also lead to peak broadening that correlates with </a:t>
            </a:r>
            <a:r>
              <a:rPr lang="en-US" sz="1200" b="0" i="1" kern="1200" dirty="0">
                <a:solidFill>
                  <a:schemeClr val="tx1"/>
                </a:solidFill>
                <a:effectLst/>
                <a:latin typeface="+mn-lt"/>
                <a:ea typeface="+mn-ea"/>
                <a:cs typeface="+mn-cs"/>
              </a:rPr>
              <a:t>Ek</a:t>
            </a:r>
            <a:r>
              <a:rPr lang="en-US" sz="1200" b="0" i="0" kern="1200" dirty="0">
                <a:solidFill>
                  <a:schemeClr val="tx1"/>
                </a:solidFill>
                <a:effectLst/>
                <a:latin typeface="+mn-lt"/>
                <a:ea typeface="+mn-ea"/>
                <a:cs typeface="+mn-cs"/>
              </a:rPr>
              <a:t>​.</a:t>
            </a:r>
          </a:p>
          <a:p>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29</a:t>
            </a:fld>
            <a:endParaRPr lang="en-US"/>
          </a:p>
        </p:txBody>
      </p:sp>
    </p:spTree>
    <p:extLst>
      <p:ext uri="{BB962C8B-B14F-4D97-AF65-F5344CB8AC3E}">
        <p14:creationId xmlns:p14="http://schemas.microsoft.com/office/powerpoint/2010/main" val="22070885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So here we have two parameters (1) the kinetic energy of the electrons (can be retarded by the retarding the voltage), the </a:t>
            </a:r>
            <a:r>
              <a:rPr lang="en-HK" dirty="0" err="1"/>
              <a:t>analyzer</a:t>
            </a:r>
            <a:r>
              <a:rPr lang="en-HK" dirty="0"/>
              <a:t> voltage (can be adjusted/scanned).  With the </a:t>
            </a:r>
            <a:r>
              <a:rPr lang="en-HK" dirty="0" err="1"/>
              <a:t>chanaltron</a:t>
            </a:r>
            <a:r>
              <a:rPr lang="en-HK" dirty="0"/>
              <a:t> position fixed, one can adjust either the </a:t>
            </a:r>
            <a:r>
              <a:rPr lang="en-HK" dirty="0" err="1"/>
              <a:t>analyzer</a:t>
            </a:r>
            <a:r>
              <a:rPr lang="en-HK" dirty="0"/>
              <a:t> voltage or retards the kinetic energy of the electrons</a:t>
            </a:r>
          </a:p>
        </p:txBody>
      </p:sp>
      <p:sp>
        <p:nvSpPr>
          <p:cNvPr id="4" name="Slide Number Placeholder 3"/>
          <p:cNvSpPr>
            <a:spLocks noGrp="1"/>
          </p:cNvSpPr>
          <p:nvPr>
            <p:ph type="sldNum" sz="quarter" idx="5"/>
          </p:nvPr>
        </p:nvSpPr>
        <p:spPr/>
        <p:txBody>
          <a:bodyPr/>
          <a:lstStyle/>
          <a:p>
            <a:fld id="{F0354186-1FAD-48C0-909C-F0B8DE29C440}" type="slidenum">
              <a:rPr lang="en-US" smtClean="0"/>
              <a:t>33</a:t>
            </a:fld>
            <a:endParaRPr lang="en-US"/>
          </a:p>
        </p:txBody>
      </p:sp>
    </p:spTree>
    <p:extLst>
      <p:ext uri="{BB962C8B-B14F-4D97-AF65-F5344CB8AC3E}">
        <p14:creationId xmlns:p14="http://schemas.microsoft.com/office/powerpoint/2010/main" val="32035803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800" b="0" i="0" kern="1200" dirty="0">
                <a:solidFill>
                  <a:schemeClr val="tx1"/>
                </a:solidFill>
                <a:effectLst/>
                <a:latin typeface="+mn-lt"/>
                <a:ea typeface="+mn-ea"/>
                <a:cs typeface="+mn-cs"/>
              </a:rPr>
              <a:t>The CHA operates based on the centripetal force provided by the radial electric field between the two hemispheres, which bends electrons into a circular trajectory. Only electrons with a specific kinetic energy can follow the trajectory that passes through both the entrance and exit slits—this is the core of its energy-filtering function.</a:t>
            </a:r>
          </a:p>
          <a:p>
            <a:endParaRPr lang="en-US" sz="28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 stable radial electric field is established between the inner and outer hemispheres by applying a voltage difference (Δ</a:t>
            </a:r>
            <a:r>
              <a:rPr lang="en-US" sz="1200" b="0" i="1" kern="1200" dirty="0">
                <a:solidFill>
                  <a:schemeClr val="tx1"/>
                </a:solidFill>
                <a:effectLst/>
                <a:latin typeface="+mn-lt"/>
                <a:ea typeface="+mn-ea"/>
                <a:cs typeface="+mn-cs"/>
              </a:rPr>
              <a:t>V</a:t>
            </a:r>
            <a:r>
              <a:rPr lang="en-US" sz="1200" b="0" i="0" kern="1200" dirty="0">
                <a:solidFill>
                  <a:schemeClr val="tx1"/>
                </a:solidFill>
                <a:effectLst/>
                <a:latin typeface="+mn-lt"/>
                <a:ea typeface="+mn-ea"/>
                <a:cs typeface="+mn-cs"/>
              </a:rPr>
              <a:t>). For an electron with charge </a:t>
            </a:r>
            <a:r>
              <a:rPr lang="en-US" sz="1200" b="0" i="1" kern="1200" dirty="0">
                <a:solidFill>
                  <a:schemeClr val="tx1"/>
                </a:solidFill>
                <a:effectLst/>
                <a:latin typeface="+mn-lt"/>
                <a:ea typeface="+mn-ea"/>
                <a:cs typeface="+mn-cs"/>
              </a:rPr>
              <a:t>e</a:t>
            </a:r>
            <a:r>
              <a:rPr lang="en-US" sz="1200" b="0" i="0" kern="1200" dirty="0">
                <a:solidFill>
                  <a:schemeClr val="tx1"/>
                </a:solidFill>
                <a:effectLst/>
                <a:latin typeface="+mn-lt"/>
                <a:ea typeface="+mn-ea"/>
                <a:cs typeface="+mn-cs"/>
              </a:rPr>
              <a:t> and kinetic energy </a:t>
            </a:r>
            <a:r>
              <a:rPr lang="en-US" sz="1200" b="0" i="1" kern="1200" dirty="0">
                <a:solidFill>
                  <a:schemeClr val="tx1"/>
                </a:solidFill>
                <a:effectLst/>
                <a:latin typeface="+mn-lt"/>
                <a:ea typeface="+mn-ea"/>
                <a:cs typeface="+mn-cs"/>
              </a:rPr>
              <a:t>Ek</a:t>
            </a:r>
            <a:r>
              <a:rPr lang="en-US" sz="1200" b="0" i="0" kern="1200" dirty="0">
                <a:solidFill>
                  <a:schemeClr val="tx1"/>
                </a:solidFill>
                <a:effectLst/>
                <a:latin typeface="+mn-lt"/>
                <a:ea typeface="+mn-ea"/>
                <a:cs typeface="+mn-cs"/>
              </a:rPr>
              <a:t>​, the centripetal force required for circular motion is provided by the electric force:</a:t>
            </a:r>
            <a:r>
              <a:rPr lang="en-US" sz="1200" b="0" i="1" kern="1200" dirty="0">
                <a:solidFill>
                  <a:schemeClr val="tx1"/>
                </a:solidFill>
                <a:effectLst/>
                <a:latin typeface="+mn-lt"/>
                <a:ea typeface="+mn-ea"/>
                <a:cs typeface="+mn-cs"/>
              </a:rPr>
              <a:t> mv</a:t>
            </a:r>
            <a:r>
              <a:rPr lang="en-US" sz="1200" b="0" i="0" kern="1200" dirty="0">
                <a:solidFill>
                  <a:schemeClr val="tx1"/>
                </a:solidFill>
                <a:effectLst/>
                <a:latin typeface="+mn-lt"/>
                <a:ea typeface="+mn-ea"/>
                <a:cs typeface="+mn-cs"/>
              </a:rPr>
              <a:t>2/r​=</a:t>
            </a:r>
            <a:r>
              <a:rPr lang="en-US" sz="1200" b="0" i="1" kern="1200" dirty="0" err="1">
                <a:solidFill>
                  <a:schemeClr val="tx1"/>
                </a:solidFill>
                <a:effectLst/>
                <a:latin typeface="+mn-lt"/>
                <a:ea typeface="+mn-ea"/>
                <a:cs typeface="+mn-cs"/>
              </a:rPr>
              <a:t>eE</a:t>
            </a:r>
            <a:endParaRPr lang="en-US" sz="1200" b="0" i="1"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where </a:t>
            </a:r>
            <a:r>
              <a:rPr lang="en-US" sz="1200" b="0" i="1" kern="1200" dirty="0">
                <a:solidFill>
                  <a:schemeClr val="tx1"/>
                </a:solidFill>
                <a:effectLst/>
                <a:latin typeface="+mn-lt"/>
                <a:ea typeface="+mn-ea"/>
                <a:cs typeface="+mn-cs"/>
              </a:rPr>
              <a:t>m</a:t>
            </a:r>
            <a:r>
              <a:rPr lang="en-US" sz="1200" b="0" i="0" kern="1200" dirty="0">
                <a:solidFill>
                  <a:schemeClr val="tx1"/>
                </a:solidFill>
                <a:effectLst/>
                <a:latin typeface="+mn-lt"/>
                <a:ea typeface="+mn-ea"/>
                <a:cs typeface="+mn-cs"/>
              </a:rPr>
              <a:t> is the electron mass, </a:t>
            </a:r>
            <a:r>
              <a:rPr lang="en-US" sz="1200" b="0" i="1" kern="1200" dirty="0">
                <a:solidFill>
                  <a:schemeClr val="tx1"/>
                </a:solidFill>
                <a:effectLst/>
                <a:latin typeface="+mn-lt"/>
                <a:ea typeface="+mn-ea"/>
                <a:cs typeface="+mn-cs"/>
              </a:rPr>
              <a:t>v</a:t>
            </a:r>
            <a:r>
              <a:rPr lang="en-US" sz="1200" b="0" i="0" kern="1200" dirty="0">
                <a:solidFill>
                  <a:schemeClr val="tx1"/>
                </a:solidFill>
                <a:effectLst/>
                <a:latin typeface="+mn-lt"/>
                <a:ea typeface="+mn-ea"/>
                <a:cs typeface="+mn-cs"/>
              </a:rPr>
              <a:t> is the electron velocity, </a:t>
            </a:r>
            <a:r>
              <a:rPr lang="en-US" sz="1200" b="0" i="1" kern="1200" dirty="0">
                <a:solidFill>
                  <a:schemeClr val="tx1"/>
                </a:solidFill>
                <a:effectLst/>
                <a:latin typeface="+mn-lt"/>
                <a:ea typeface="+mn-ea"/>
                <a:cs typeface="+mn-cs"/>
              </a:rPr>
              <a:t>r</a:t>
            </a:r>
            <a:r>
              <a:rPr lang="en-US" sz="1200" b="0" i="0" kern="1200" dirty="0">
                <a:solidFill>
                  <a:schemeClr val="tx1"/>
                </a:solidFill>
                <a:effectLst/>
                <a:latin typeface="+mn-lt"/>
                <a:ea typeface="+mn-ea"/>
                <a:cs typeface="+mn-cs"/>
              </a:rPr>
              <a:t> is the radius of the electron's trajectory, and </a:t>
            </a:r>
            <a:r>
              <a:rPr lang="en-US" sz="1200" b="0" i="1" kern="1200" dirty="0">
                <a:solidFill>
                  <a:schemeClr val="tx1"/>
                </a:solidFill>
                <a:effectLst/>
                <a:latin typeface="+mn-lt"/>
                <a:ea typeface="+mn-ea"/>
                <a:cs typeface="+mn-cs"/>
              </a:rPr>
              <a:t>E</a:t>
            </a:r>
            <a:r>
              <a:rPr lang="en-US" sz="1200" b="0" i="0" kern="1200" dirty="0">
                <a:solidFill>
                  <a:schemeClr val="tx1"/>
                </a:solidFill>
                <a:effectLst/>
                <a:latin typeface="+mn-lt"/>
                <a:ea typeface="+mn-ea"/>
                <a:cs typeface="+mn-cs"/>
              </a:rPr>
              <a:t> is the radial electric field strength.</a:t>
            </a:r>
          </a:p>
          <a:p>
            <a:r>
              <a:rPr lang="en-US" sz="1200" b="0" i="0" kern="1200" dirty="0">
                <a:solidFill>
                  <a:schemeClr val="tx1"/>
                </a:solidFill>
                <a:effectLst/>
                <a:latin typeface="+mn-lt"/>
                <a:ea typeface="+mn-ea"/>
                <a:cs typeface="+mn-cs"/>
              </a:rPr>
              <a:t>Since </a:t>
            </a:r>
            <a:r>
              <a:rPr lang="en-US" sz="1200" b="0" i="1" kern="1200" dirty="0">
                <a:solidFill>
                  <a:schemeClr val="tx1"/>
                </a:solidFill>
                <a:effectLst/>
                <a:latin typeface="+mn-lt"/>
                <a:ea typeface="+mn-ea"/>
                <a:cs typeface="+mn-cs"/>
              </a:rPr>
              <a:t>Ek</a:t>
            </a:r>
            <a:r>
              <a:rPr lang="en-US" sz="1200" b="0" i="0" kern="1200" dirty="0">
                <a:solidFill>
                  <a:schemeClr val="tx1"/>
                </a:solidFill>
                <a:effectLst/>
                <a:latin typeface="+mn-lt"/>
                <a:ea typeface="+mn-ea"/>
                <a:cs typeface="+mn-cs"/>
              </a:rPr>
              <a:t>​=1/2</a:t>
            </a:r>
            <a:r>
              <a:rPr lang="en-US" sz="1200" b="0" i="1" kern="1200" dirty="0">
                <a:solidFill>
                  <a:schemeClr val="tx1"/>
                </a:solidFill>
                <a:effectLst/>
                <a:latin typeface="+mn-lt"/>
                <a:ea typeface="+mn-ea"/>
                <a:cs typeface="+mn-cs"/>
              </a:rPr>
              <a:t>mv</a:t>
            </a:r>
            <a:r>
              <a:rPr lang="en-US" sz="1200" b="0" i="0" kern="1200" dirty="0">
                <a:solidFill>
                  <a:schemeClr val="tx1"/>
                </a:solidFill>
                <a:effectLst/>
                <a:latin typeface="+mn-lt"/>
                <a:ea typeface="+mn-ea"/>
                <a:cs typeface="+mn-cs"/>
              </a:rPr>
              <a:t>2, only electrons with a specific </a:t>
            </a:r>
            <a:r>
              <a:rPr lang="en-US" sz="1200" b="0" i="1" kern="1200" dirty="0">
                <a:solidFill>
                  <a:schemeClr val="tx1"/>
                </a:solidFill>
                <a:effectLst/>
                <a:latin typeface="+mn-lt"/>
                <a:ea typeface="+mn-ea"/>
                <a:cs typeface="+mn-cs"/>
              </a:rPr>
              <a:t>Ek</a:t>
            </a:r>
            <a:r>
              <a:rPr lang="en-US" sz="1200" b="0" i="0" kern="1200" dirty="0">
                <a:solidFill>
                  <a:schemeClr val="tx1"/>
                </a:solidFill>
                <a:effectLst/>
                <a:latin typeface="+mn-lt"/>
                <a:ea typeface="+mn-ea"/>
                <a:cs typeface="+mn-cs"/>
              </a:rPr>
              <a:t>​ will have a trajectory radius matching the "focal radius" of the CHA</a:t>
            </a:r>
          </a:p>
          <a:p>
            <a:br>
              <a:rPr lang="en-US" sz="2800" dirty="0"/>
            </a:br>
            <a:endParaRPr lang="en-HK" sz="2800" b="0" dirty="0"/>
          </a:p>
        </p:txBody>
      </p:sp>
      <p:sp>
        <p:nvSpPr>
          <p:cNvPr id="4" name="Slide Number Placeholder 3"/>
          <p:cNvSpPr>
            <a:spLocks noGrp="1"/>
          </p:cNvSpPr>
          <p:nvPr>
            <p:ph type="sldNum" sz="quarter" idx="5"/>
          </p:nvPr>
        </p:nvSpPr>
        <p:spPr/>
        <p:txBody>
          <a:bodyPr/>
          <a:lstStyle/>
          <a:p>
            <a:fld id="{F0354186-1FAD-48C0-909C-F0B8DE29C440}" type="slidenum">
              <a:rPr lang="en-US" smtClean="0"/>
              <a:t>36</a:t>
            </a:fld>
            <a:endParaRPr lang="en-US"/>
          </a:p>
        </p:txBody>
      </p:sp>
    </p:spTree>
    <p:extLst>
      <p:ext uri="{BB962C8B-B14F-4D97-AF65-F5344CB8AC3E}">
        <p14:creationId xmlns:p14="http://schemas.microsoft.com/office/powerpoint/2010/main" val="36955028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XPS </a:t>
            </a:r>
            <a:r>
              <a:rPr lang="en-HK" dirty="0" err="1"/>
              <a:t>analyze</a:t>
            </a:r>
            <a:r>
              <a:rPr lang="en-HK" dirty="0"/>
              <a:t> electrons with KE a few tens to hundreds of eV, when the mean free path increase with energy increase.</a:t>
            </a:r>
          </a:p>
        </p:txBody>
      </p:sp>
      <p:sp>
        <p:nvSpPr>
          <p:cNvPr id="4" name="Slide Number Placeholder 3"/>
          <p:cNvSpPr>
            <a:spLocks noGrp="1"/>
          </p:cNvSpPr>
          <p:nvPr>
            <p:ph type="sldNum" sz="quarter" idx="5"/>
          </p:nvPr>
        </p:nvSpPr>
        <p:spPr/>
        <p:txBody>
          <a:bodyPr/>
          <a:lstStyle/>
          <a:p>
            <a:fld id="{F0354186-1FAD-48C0-909C-F0B8DE29C440}" type="slidenum">
              <a:rPr lang="en-US" smtClean="0"/>
              <a:t>45</a:t>
            </a:fld>
            <a:endParaRPr lang="en-US"/>
          </a:p>
        </p:txBody>
      </p:sp>
    </p:spTree>
    <p:extLst>
      <p:ext uri="{BB962C8B-B14F-4D97-AF65-F5344CB8AC3E}">
        <p14:creationId xmlns:p14="http://schemas.microsoft.com/office/powerpoint/2010/main" val="28473686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N Determines the </a:t>
            </a:r>
            <a:r>
              <a:rPr lang="en-US" sz="1200" b="1" i="0" kern="1200" dirty="0">
                <a:solidFill>
                  <a:schemeClr val="tx1"/>
                </a:solidFill>
                <a:effectLst/>
                <a:latin typeface="+mn-lt"/>
                <a:ea typeface="+mn-ea"/>
                <a:cs typeface="+mn-cs"/>
              </a:rPr>
              <a:t>energy level</a:t>
            </a:r>
            <a:r>
              <a:rPr lang="en-US" sz="1200" b="0" i="0" kern="1200" dirty="0">
                <a:solidFill>
                  <a:schemeClr val="tx1"/>
                </a:solidFill>
                <a:effectLst/>
                <a:latin typeface="+mn-lt"/>
                <a:ea typeface="+mn-ea"/>
                <a:cs typeface="+mn-cs"/>
              </a:rPr>
              <a:t> (shell) of the electron; larger </a:t>
            </a:r>
            <a:r>
              <a:rPr lang="en-US" sz="1200" b="0" i="1" kern="1200" dirty="0">
                <a:solidFill>
                  <a:schemeClr val="tx1"/>
                </a:solidFill>
                <a:effectLst/>
                <a:latin typeface="+mn-lt"/>
                <a:ea typeface="+mn-ea"/>
                <a:cs typeface="+mn-cs"/>
              </a:rPr>
              <a:t>n</a:t>
            </a:r>
            <a:r>
              <a:rPr lang="en-US" sz="1200" b="0" i="0" kern="1200" dirty="0">
                <a:solidFill>
                  <a:schemeClr val="tx1"/>
                </a:solidFill>
                <a:effectLst/>
                <a:latin typeface="+mn-lt"/>
                <a:ea typeface="+mn-ea"/>
                <a:cs typeface="+mn-cs"/>
              </a:rPr>
              <a:t> means higher energy and larger atomic orbital radius.</a:t>
            </a:r>
          </a:p>
          <a:p>
            <a:r>
              <a:rPr lang="en-US" sz="1200" b="0" i="0" kern="1200" dirty="0">
                <a:solidFill>
                  <a:schemeClr val="tx1"/>
                </a:solidFill>
                <a:effectLst/>
                <a:latin typeface="+mn-lt"/>
                <a:ea typeface="+mn-ea"/>
                <a:cs typeface="+mn-cs"/>
              </a:rPr>
              <a:t> l Defines the </a:t>
            </a:r>
            <a:r>
              <a:rPr lang="en-US" sz="1200" b="1" i="0" kern="1200" dirty="0">
                <a:solidFill>
                  <a:schemeClr val="tx1"/>
                </a:solidFill>
                <a:effectLst/>
                <a:latin typeface="+mn-lt"/>
                <a:ea typeface="+mn-ea"/>
                <a:cs typeface="+mn-cs"/>
              </a:rPr>
              <a:t>shape of the atomic orbital</a:t>
            </a:r>
            <a:r>
              <a:rPr lang="en-US" sz="1200" b="0" i="0" kern="1200" dirty="0">
                <a:solidFill>
                  <a:schemeClr val="tx1"/>
                </a:solidFill>
                <a:effectLst/>
                <a:latin typeface="+mn-lt"/>
                <a:ea typeface="+mn-ea"/>
                <a:cs typeface="+mn-cs"/>
              </a:rPr>
              <a:t> (subshell) and the magnitude of the electron's orbital angular momentum.</a:t>
            </a:r>
          </a:p>
          <a:p>
            <a:r>
              <a:rPr lang="en-US" sz="1200" b="0" i="0" kern="1200" dirty="0" err="1">
                <a:solidFill>
                  <a:schemeClr val="tx1"/>
                </a:solidFill>
                <a:effectLst/>
                <a:latin typeface="+mn-lt"/>
                <a:ea typeface="+mn-ea"/>
                <a:cs typeface="+mn-cs"/>
              </a:rPr>
              <a:t>Ml</a:t>
            </a:r>
            <a:r>
              <a:rPr lang="en-US" sz="1200" b="0" i="0" kern="1200" dirty="0">
                <a:solidFill>
                  <a:schemeClr val="tx1"/>
                </a:solidFill>
                <a:effectLst/>
                <a:latin typeface="+mn-lt"/>
                <a:ea typeface="+mn-ea"/>
                <a:cs typeface="+mn-cs"/>
              </a:rPr>
              <a:t> Describes the </a:t>
            </a:r>
            <a:r>
              <a:rPr lang="en-US" sz="1200" b="1" i="0" kern="1200" dirty="0">
                <a:solidFill>
                  <a:schemeClr val="tx1"/>
                </a:solidFill>
                <a:effectLst/>
                <a:latin typeface="+mn-lt"/>
                <a:ea typeface="+mn-ea"/>
                <a:cs typeface="+mn-cs"/>
              </a:rPr>
              <a:t>spatial orientation</a:t>
            </a:r>
            <a:r>
              <a:rPr lang="en-US" sz="1200" b="0" i="0" kern="1200" dirty="0">
                <a:solidFill>
                  <a:schemeClr val="tx1"/>
                </a:solidFill>
                <a:effectLst/>
                <a:latin typeface="+mn-lt"/>
                <a:ea typeface="+mn-ea"/>
                <a:cs typeface="+mn-cs"/>
              </a:rPr>
              <a:t> of the atomic orbital relative to an external magnetic field; determines the z-component of orbital angular momentum.</a:t>
            </a:r>
          </a:p>
          <a:p>
            <a:r>
              <a:rPr lang="en-US" sz="1200" b="0" i="0" kern="1200" dirty="0">
                <a:solidFill>
                  <a:schemeClr val="tx1"/>
                </a:solidFill>
                <a:effectLst/>
                <a:latin typeface="+mn-lt"/>
                <a:ea typeface="+mn-ea"/>
                <a:cs typeface="+mn-cs"/>
              </a:rPr>
              <a:t>Ms Represents the </a:t>
            </a:r>
            <a:r>
              <a:rPr lang="en-US" sz="1200" b="1" i="0" kern="1200" dirty="0">
                <a:solidFill>
                  <a:schemeClr val="tx1"/>
                </a:solidFill>
                <a:effectLst/>
                <a:latin typeface="+mn-lt"/>
                <a:ea typeface="+mn-ea"/>
                <a:cs typeface="+mn-cs"/>
              </a:rPr>
              <a:t>intrinsic spin angular momentum</a:t>
            </a:r>
            <a:r>
              <a:rPr lang="en-US" sz="1200" b="0" i="0" kern="1200" dirty="0">
                <a:solidFill>
                  <a:schemeClr val="tx1"/>
                </a:solidFill>
                <a:effectLst/>
                <a:latin typeface="+mn-lt"/>
                <a:ea typeface="+mn-ea"/>
                <a:cs typeface="+mn-cs"/>
              </a:rPr>
              <a:t> of the electron </a:t>
            </a:r>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47</a:t>
            </a:fld>
            <a:endParaRPr lang="en-US"/>
          </a:p>
        </p:txBody>
      </p:sp>
    </p:spTree>
    <p:extLst>
      <p:ext uri="{BB962C8B-B14F-4D97-AF65-F5344CB8AC3E}">
        <p14:creationId xmlns:p14="http://schemas.microsoft.com/office/powerpoint/2010/main" val="28161158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In X-ray Photoelectron Spectroscopy (XPS), chemical shifts in core-level binding energies arise from changes in the local chemical environment of atoms. These shifts include initial-state effects (like charge redistribution and orbital energies) and final-state effects, where the latter encompass relaxation and screening processes after photoionization.</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relaxation effect, a key final-state contribution, occurs when valence electrons and surrounding atoms rapidly reorganize to screen the sudden core-hole created by photoelectron ejection, stabilizing the ion and reducing the measured binding energy.</a:t>
            </a:r>
            <a:br>
              <a:rPr lang="en-US" dirty="0"/>
            </a:br>
            <a:endParaRPr lang="en-US" dirty="0"/>
          </a:p>
          <a:p>
            <a:r>
              <a:rPr lang="en-US" sz="1200" b="0" i="0" kern="1200" dirty="0">
                <a:solidFill>
                  <a:schemeClr val="tx1"/>
                </a:solidFill>
                <a:effectLst/>
                <a:latin typeface="+mn-lt"/>
                <a:ea typeface="+mn-ea"/>
                <a:cs typeface="+mn-cs"/>
              </a:rPr>
              <a:t>relaxation and final-state effects are particularly crucial for transition metals due to their partially filled d-orbitals, which enable exceptional electron screening of the core-hole. This d-electron participation provides substantial extra-atomic relaxation energy, significantly reducing observed binding energy shifts and masking pure initial-state chemical trends.</a:t>
            </a:r>
            <a:br>
              <a:rPr lang="en-US" dirty="0"/>
            </a:br>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57</a:t>
            </a:fld>
            <a:endParaRPr lang="en-US"/>
          </a:p>
        </p:txBody>
      </p:sp>
    </p:spTree>
    <p:extLst>
      <p:ext uri="{BB962C8B-B14F-4D97-AF65-F5344CB8AC3E}">
        <p14:creationId xmlns:p14="http://schemas.microsoft.com/office/powerpoint/2010/main" val="407605094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74</a:t>
            </a:fld>
            <a:endParaRPr lang="en-US"/>
          </a:p>
        </p:txBody>
      </p:sp>
    </p:spTree>
    <p:extLst>
      <p:ext uri="{BB962C8B-B14F-4D97-AF65-F5344CB8AC3E}">
        <p14:creationId xmlns:p14="http://schemas.microsoft.com/office/powerpoint/2010/main" val="18201193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HK" dirty="0"/>
              <a:t>Ion mixing results from the displacement damage to the samples when subjected to ion bombardment.  The knock-on process drive the element to be displaced from their equilibrium position, break chemical bonds, and create atom defects such as vacancies.  All these promotes diffusion of the affected elements in both lateral and vertical directions.  </a:t>
            </a:r>
          </a:p>
          <a:p>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80</a:t>
            </a:fld>
            <a:endParaRPr lang="en-US"/>
          </a:p>
        </p:txBody>
      </p:sp>
    </p:spTree>
    <p:extLst>
      <p:ext uri="{BB962C8B-B14F-4D97-AF65-F5344CB8AC3E}">
        <p14:creationId xmlns:p14="http://schemas.microsoft.com/office/powerpoint/2010/main" val="32964489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81</a:t>
            </a:fld>
            <a:endParaRPr lang="en-US"/>
          </a:p>
        </p:txBody>
      </p:sp>
    </p:spTree>
    <p:extLst>
      <p:ext uri="{BB962C8B-B14F-4D97-AF65-F5344CB8AC3E}">
        <p14:creationId xmlns:p14="http://schemas.microsoft.com/office/powerpoint/2010/main" val="11518190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Zalar rotation is a specialized sample rotation technique widely utilized in surface analysis technologies like XPS and Auger Electron Spectroscopy (AES) during ion beam sputtering depth profiling. It is designed to address artifacts arising from stationary ion bombardment and enhance the accuracy of depth profile analysis.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 the common ion bombardment process, surface artifacts are generated due to crystal orientation dependence and ion shadowing effects. Zalar rotation makes the sample surface receive ion bombardment from all azimuth angles. This balances the sputtering effect across the surface, inhibits the formation of local uneven structures, and keeps the sputtered surface flat. </a:t>
            </a:r>
            <a:endParaRPr lang="en-HK" dirty="0"/>
          </a:p>
        </p:txBody>
      </p:sp>
      <p:sp>
        <p:nvSpPr>
          <p:cNvPr id="4" name="Slide Number Placeholder 3"/>
          <p:cNvSpPr>
            <a:spLocks noGrp="1"/>
          </p:cNvSpPr>
          <p:nvPr>
            <p:ph type="sldNum" sz="quarter" idx="5"/>
          </p:nvPr>
        </p:nvSpPr>
        <p:spPr/>
        <p:txBody>
          <a:bodyPr/>
          <a:lstStyle/>
          <a:p>
            <a:fld id="{F0354186-1FAD-48C0-909C-F0B8DE29C440}" type="slidenum">
              <a:rPr lang="en-US" smtClean="0"/>
              <a:t>82</a:t>
            </a:fld>
            <a:endParaRPr lang="en-US"/>
          </a:p>
        </p:txBody>
      </p:sp>
    </p:spTree>
    <p:extLst>
      <p:ext uri="{BB962C8B-B14F-4D97-AF65-F5344CB8AC3E}">
        <p14:creationId xmlns:p14="http://schemas.microsoft.com/office/powerpoint/2010/main" val="18609821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To focus the x-ray beam to 1-10 um, synchrotron source may reach 100 nm. Scanning the X-ray through the sample surface pixel by pixel and detect the photon electron accordingly. </a:t>
            </a:r>
          </a:p>
        </p:txBody>
      </p:sp>
      <p:sp>
        <p:nvSpPr>
          <p:cNvPr id="4" name="Slide Number Placeholder 3"/>
          <p:cNvSpPr>
            <a:spLocks noGrp="1"/>
          </p:cNvSpPr>
          <p:nvPr>
            <p:ph type="sldNum" sz="quarter" idx="5"/>
          </p:nvPr>
        </p:nvSpPr>
        <p:spPr/>
        <p:txBody>
          <a:bodyPr/>
          <a:lstStyle/>
          <a:p>
            <a:fld id="{F0354186-1FAD-48C0-909C-F0B8DE29C440}" type="slidenum">
              <a:rPr lang="en-US" smtClean="0"/>
              <a:t>89</a:t>
            </a:fld>
            <a:endParaRPr lang="en-US"/>
          </a:p>
        </p:txBody>
      </p:sp>
    </p:spTree>
    <p:extLst>
      <p:ext uri="{BB962C8B-B14F-4D97-AF65-F5344CB8AC3E}">
        <p14:creationId xmlns:p14="http://schemas.microsoft.com/office/powerpoint/2010/main" val="30494471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
          <p:cNvGrpSpPr>
            <a:grpSpLocks/>
          </p:cNvGrpSpPr>
          <p:nvPr/>
        </p:nvGrpSpPr>
        <p:grpSpPr bwMode="auto">
          <a:xfrm>
            <a:off x="0" y="0"/>
            <a:ext cx="9144000" cy="6858000"/>
            <a:chOff x="0" y="0"/>
            <a:chExt cx="5760" cy="4320"/>
          </a:xfrm>
        </p:grpSpPr>
        <p:sp>
          <p:nvSpPr>
            <p:cNvPr id="5" name="Rectangle 3"/>
            <p:cNvSpPr>
              <a:spLocks noChangeArrowheads="1"/>
            </p:cNvSpPr>
            <p:nvPr/>
          </p:nvSpPr>
          <p:spPr bwMode="hidden">
            <a:xfrm>
              <a:off x="0" y="0"/>
              <a:ext cx="2208" cy="4320"/>
            </a:xfrm>
            <a:prstGeom prst="rect">
              <a:avLst/>
            </a:prstGeom>
            <a:gradFill rotWithShape="0">
              <a:gsLst>
                <a:gs pos="0">
                  <a:schemeClr val="folHlink"/>
                </a:gs>
                <a:gs pos="100000">
                  <a:schemeClr val="bg1"/>
                </a:gs>
              </a:gsLst>
              <a:lin ang="0" scaled="1"/>
            </a:gradFill>
            <a:ln w="9525">
              <a:noFill/>
              <a:miter lim="800000"/>
              <a:headEnd/>
              <a:tailEnd/>
            </a:ln>
            <a:effectLst/>
          </p:spPr>
          <p:txBody>
            <a:bodyPr wrap="none" anchor="ctr"/>
            <a:lstStyle/>
            <a:p>
              <a:pPr algn="ctr" eaLnBrk="1" hangingPunct="1">
                <a:defRPr/>
              </a:pPr>
              <a:endParaRPr lang="zh-TW" altLang="en-US" sz="2400">
                <a:latin typeface="Times New Roman" pitchFamily="18" charset="0"/>
                <a:ea typeface="新細明體" pitchFamily="18" charset="-120"/>
              </a:endParaRPr>
            </a:p>
          </p:txBody>
        </p:sp>
        <p:sp>
          <p:nvSpPr>
            <p:cNvPr id="6" name="Rectangle 4"/>
            <p:cNvSpPr>
              <a:spLocks noChangeArrowheads="1"/>
            </p:cNvSpPr>
            <p:nvPr/>
          </p:nvSpPr>
          <p:spPr bwMode="hidden">
            <a:xfrm>
              <a:off x="1081" y="1065"/>
              <a:ext cx="4679" cy="1596"/>
            </a:xfrm>
            <a:prstGeom prst="rect">
              <a:avLst/>
            </a:prstGeom>
            <a:solidFill>
              <a:schemeClr val="bg2"/>
            </a:solidFill>
            <a:ln w="9525">
              <a:noFill/>
              <a:miter lim="800000"/>
              <a:headEnd/>
              <a:tailEnd/>
            </a:ln>
          </p:spPr>
          <p:txBody>
            <a:bodyPr/>
            <a:lstStyle/>
            <a:p>
              <a:pPr eaLnBrk="1" hangingPunct="1">
                <a:defRPr/>
              </a:pPr>
              <a:endParaRPr lang="zh-TW" altLang="en-US" sz="2400">
                <a:latin typeface="Times New Roman" pitchFamily="18" charset="0"/>
                <a:ea typeface="新細明體" pitchFamily="18" charset="-120"/>
              </a:endParaRPr>
            </a:p>
          </p:txBody>
        </p:sp>
        <p:grpSp>
          <p:nvGrpSpPr>
            <p:cNvPr id="7" name="Group 5"/>
            <p:cNvGrpSpPr>
              <a:grpSpLocks/>
            </p:cNvGrpSpPr>
            <p:nvPr/>
          </p:nvGrpSpPr>
          <p:grpSpPr bwMode="auto">
            <a:xfrm>
              <a:off x="0" y="672"/>
              <a:ext cx="1806" cy="1989"/>
              <a:chOff x="0" y="672"/>
              <a:chExt cx="1806" cy="1989"/>
            </a:xfrm>
          </p:grpSpPr>
          <p:sp>
            <p:nvSpPr>
              <p:cNvPr id="8" name="Rectangle 6"/>
              <p:cNvSpPr>
                <a:spLocks noChangeArrowheads="1"/>
              </p:cNvSpPr>
              <p:nvPr userDrawn="1"/>
            </p:nvSpPr>
            <p:spPr bwMode="auto">
              <a:xfrm>
                <a:off x="361" y="2257"/>
                <a:ext cx="363" cy="404"/>
              </a:xfrm>
              <a:prstGeom prst="rect">
                <a:avLst/>
              </a:prstGeom>
              <a:solidFill>
                <a:schemeClr val="accent2"/>
              </a:solidFill>
              <a:ln w="9525">
                <a:noFill/>
                <a:miter lim="800000"/>
                <a:headEnd/>
                <a:tailEnd/>
              </a:ln>
            </p:spPr>
            <p:txBody>
              <a:bodyPr/>
              <a:lstStyle/>
              <a:p>
                <a:pPr eaLnBrk="1" hangingPunct="1">
                  <a:defRPr/>
                </a:pPr>
                <a:endParaRPr lang="zh-TW" altLang="en-US" sz="2400">
                  <a:latin typeface="Times New Roman" pitchFamily="18" charset="0"/>
                  <a:ea typeface="新細明體" pitchFamily="18" charset="-120"/>
                </a:endParaRPr>
              </a:p>
            </p:txBody>
          </p:sp>
          <p:sp>
            <p:nvSpPr>
              <p:cNvPr id="9" name="Rectangle 7"/>
              <p:cNvSpPr>
                <a:spLocks noChangeArrowheads="1"/>
              </p:cNvSpPr>
              <p:nvPr userDrawn="1"/>
            </p:nvSpPr>
            <p:spPr bwMode="auto">
              <a:xfrm>
                <a:off x="1081" y="1065"/>
                <a:ext cx="362" cy="405"/>
              </a:xfrm>
              <a:prstGeom prst="rect">
                <a:avLst/>
              </a:prstGeom>
              <a:solidFill>
                <a:schemeClr val="folHlink"/>
              </a:solidFill>
              <a:ln w="9525">
                <a:noFill/>
                <a:miter lim="800000"/>
                <a:headEnd/>
                <a:tailEnd/>
              </a:ln>
            </p:spPr>
            <p:txBody>
              <a:bodyPr/>
              <a:lstStyle/>
              <a:p>
                <a:pPr eaLnBrk="1" hangingPunct="1">
                  <a:defRPr/>
                </a:pPr>
                <a:endParaRPr lang="zh-TW" altLang="en-US" sz="2400">
                  <a:latin typeface="Times New Roman" pitchFamily="18" charset="0"/>
                  <a:ea typeface="新細明體" pitchFamily="18" charset="-120"/>
                </a:endParaRPr>
              </a:p>
            </p:txBody>
          </p:sp>
          <p:sp>
            <p:nvSpPr>
              <p:cNvPr id="10" name="Rectangle 8"/>
              <p:cNvSpPr>
                <a:spLocks noChangeArrowheads="1"/>
              </p:cNvSpPr>
              <p:nvPr userDrawn="1"/>
            </p:nvSpPr>
            <p:spPr bwMode="auto">
              <a:xfrm>
                <a:off x="1437" y="672"/>
                <a:ext cx="369" cy="400"/>
              </a:xfrm>
              <a:prstGeom prst="rect">
                <a:avLst/>
              </a:prstGeom>
              <a:solidFill>
                <a:schemeClr val="folHlink"/>
              </a:solidFill>
              <a:ln w="9525">
                <a:noFill/>
                <a:miter lim="800000"/>
                <a:headEnd/>
                <a:tailEnd/>
              </a:ln>
            </p:spPr>
            <p:txBody>
              <a:bodyPr/>
              <a:lstStyle/>
              <a:p>
                <a:pPr eaLnBrk="1" hangingPunct="1">
                  <a:defRPr/>
                </a:pPr>
                <a:endParaRPr lang="zh-TW" altLang="en-US" sz="2400">
                  <a:latin typeface="Times New Roman" pitchFamily="18" charset="0"/>
                  <a:ea typeface="新細明體" pitchFamily="18" charset="-120"/>
                </a:endParaRPr>
              </a:p>
            </p:txBody>
          </p:sp>
          <p:sp>
            <p:nvSpPr>
              <p:cNvPr id="11" name="Rectangle 9"/>
              <p:cNvSpPr>
                <a:spLocks noChangeArrowheads="1"/>
              </p:cNvSpPr>
              <p:nvPr userDrawn="1"/>
            </p:nvSpPr>
            <p:spPr bwMode="auto">
              <a:xfrm>
                <a:off x="719" y="2257"/>
                <a:ext cx="368" cy="404"/>
              </a:xfrm>
              <a:prstGeom prst="rect">
                <a:avLst/>
              </a:prstGeom>
              <a:solidFill>
                <a:schemeClr val="bg2"/>
              </a:solidFill>
              <a:ln w="9525">
                <a:noFill/>
                <a:miter lim="800000"/>
                <a:headEnd/>
                <a:tailEnd/>
              </a:ln>
            </p:spPr>
            <p:txBody>
              <a:bodyPr/>
              <a:lstStyle/>
              <a:p>
                <a:pPr eaLnBrk="1" hangingPunct="1">
                  <a:defRPr/>
                </a:pPr>
                <a:endParaRPr lang="zh-TW" altLang="en-US" sz="2400">
                  <a:latin typeface="Times New Roman" pitchFamily="18" charset="0"/>
                  <a:ea typeface="新細明體" pitchFamily="18" charset="-120"/>
                </a:endParaRPr>
              </a:p>
            </p:txBody>
          </p:sp>
          <p:sp>
            <p:nvSpPr>
              <p:cNvPr id="12" name="Rectangle 10"/>
              <p:cNvSpPr>
                <a:spLocks noChangeArrowheads="1"/>
              </p:cNvSpPr>
              <p:nvPr userDrawn="1"/>
            </p:nvSpPr>
            <p:spPr bwMode="auto">
              <a:xfrm>
                <a:off x="1437" y="1065"/>
                <a:ext cx="369" cy="405"/>
              </a:xfrm>
              <a:prstGeom prst="rect">
                <a:avLst/>
              </a:prstGeom>
              <a:solidFill>
                <a:schemeClr val="accent2"/>
              </a:solidFill>
              <a:ln w="9525">
                <a:noFill/>
                <a:miter lim="800000"/>
                <a:headEnd/>
                <a:tailEnd/>
              </a:ln>
            </p:spPr>
            <p:txBody>
              <a:bodyPr/>
              <a:lstStyle/>
              <a:p>
                <a:pPr eaLnBrk="1" hangingPunct="1">
                  <a:defRPr/>
                </a:pPr>
                <a:endParaRPr lang="zh-TW" altLang="en-US" sz="2400">
                  <a:latin typeface="Times New Roman" pitchFamily="18" charset="0"/>
                  <a:ea typeface="新細明體" pitchFamily="18" charset="-120"/>
                </a:endParaRPr>
              </a:p>
            </p:txBody>
          </p:sp>
          <p:sp>
            <p:nvSpPr>
              <p:cNvPr id="13" name="Rectangle 11"/>
              <p:cNvSpPr>
                <a:spLocks noChangeArrowheads="1"/>
              </p:cNvSpPr>
              <p:nvPr userDrawn="1"/>
            </p:nvSpPr>
            <p:spPr bwMode="auto">
              <a:xfrm>
                <a:off x="719" y="1464"/>
                <a:ext cx="368" cy="399"/>
              </a:xfrm>
              <a:prstGeom prst="rect">
                <a:avLst/>
              </a:prstGeom>
              <a:solidFill>
                <a:schemeClr val="folHlink"/>
              </a:solidFill>
              <a:ln w="9525">
                <a:noFill/>
                <a:miter lim="800000"/>
                <a:headEnd/>
                <a:tailEnd/>
              </a:ln>
            </p:spPr>
            <p:txBody>
              <a:bodyPr/>
              <a:lstStyle/>
              <a:p>
                <a:pPr eaLnBrk="1" hangingPunct="1">
                  <a:defRPr/>
                </a:pPr>
                <a:endParaRPr lang="zh-TW" altLang="en-US" sz="2400">
                  <a:latin typeface="Times New Roman" pitchFamily="18" charset="0"/>
                  <a:ea typeface="新細明體" pitchFamily="18" charset="-120"/>
                </a:endParaRPr>
              </a:p>
            </p:txBody>
          </p:sp>
          <p:sp>
            <p:nvSpPr>
              <p:cNvPr id="14" name="Rectangle 12"/>
              <p:cNvSpPr>
                <a:spLocks noChangeArrowheads="1"/>
              </p:cNvSpPr>
              <p:nvPr userDrawn="1"/>
            </p:nvSpPr>
            <p:spPr bwMode="auto">
              <a:xfrm>
                <a:off x="0" y="1464"/>
                <a:ext cx="367" cy="399"/>
              </a:xfrm>
              <a:prstGeom prst="rect">
                <a:avLst/>
              </a:prstGeom>
              <a:solidFill>
                <a:schemeClr val="bg2"/>
              </a:solidFill>
              <a:ln w="9525">
                <a:noFill/>
                <a:miter lim="800000"/>
                <a:headEnd/>
                <a:tailEnd/>
              </a:ln>
            </p:spPr>
            <p:txBody>
              <a:bodyPr/>
              <a:lstStyle/>
              <a:p>
                <a:pPr eaLnBrk="1" hangingPunct="1">
                  <a:defRPr/>
                </a:pPr>
                <a:endParaRPr lang="zh-TW" altLang="en-US" sz="2400">
                  <a:latin typeface="Times New Roman" pitchFamily="18" charset="0"/>
                  <a:ea typeface="新細明體" pitchFamily="18" charset="-120"/>
                </a:endParaRPr>
              </a:p>
            </p:txBody>
          </p:sp>
          <p:sp>
            <p:nvSpPr>
              <p:cNvPr id="15" name="Rectangle 13"/>
              <p:cNvSpPr>
                <a:spLocks noChangeArrowheads="1"/>
              </p:cNvSpPr>
              <p:nvPr userDrawn="1"/>
            </p:nvSpPr>
            <p:spPr bwMode="auto">
              <a:xfrm>
                <a:off x="1081" y="1464"/>
                <a:ext cx="362" cy="399"/>
              </a:xfrm>
              <a:prstGeom prst="rect">
                <a:avLst/>
              </a:prstGeom>
              <a:solidFill>
                <a:schemeClr val="accent2"/>
              </a:solidFill>
              <a:ln w="9525">
                <a:noFill/>
                <a:miter lim="800000"/>
                <a:headEnd/>
                <a:tailEnd/>
              </a:ln>
            </p:spPr>
            <p:txBody>
              <a:bodyPr/>
              <a:lstStyle/>
              <a:p>
                <a:pPr eaLnBrk="1" hangingPunct="1">
                  <a:defRPr/>
                </a:pPr>
                <a:endParaRPr lang="zh-TW" altLang="en-US" sz="2400">
                  <a:latin typeface="Times New Roman" pitchFamily="18" charset="0"/>
                  <a:ea typeface="新細明體" pitchFamily="18" charset="-120"/>
                </a:endParaRPr>
              </a:p>
            </p:txBody>
          </p:sp>
          <p:sp>
            <p:nvSpPr>
              <p:cNvPr id="16" name="Rectangle 14"/>
              <p:cNvSpPr>
                <a:spLocks noChangeArrowheads="1"/>
              </p:cNvSpPr>
              <p:nvPr userDrawn="1"/>
            </p:nvSpPr>
            <p:spPr bwMode="auto">
              <a:xfrm>
                <a:off x="361" y="1857"/>
                <a:ext cx="363" cy="406"/>
              </a:xfrm>
              <a:prstGeom prst="rect">
                <a:avLst/>
              </a:prstGeom>
              <a:solidFill>
                <a:schemeClr val="folHlink"/>
              </a:solidFill>
              <a:ln w="9525">
                <a:noFill/>
                <a:miter lim="800000"/>
                <a:headEnd/>
                <a:tailEnd/>
              </a:ln>
            </p:spPr>
            <p:txBody>
              <a:bodyPr/>
              <a:lstStyle/>
              <a:p>
                <a:pPr eaLnBrk="1" hangingPunct="1">
                  <a:defRPr/>
                </a:pPr>
                <a:endParaRPr lang="zh-TW" altLang="en-US" sz="2400">
                  <a:latin typeface="Times New Roman" pitchFamily="18" charset="0"/>
                  <a:ea typeface="新細明體" pitchFamily="18" charset="-120"/>
                </a:endParaRPr>
              </a:p>
            </p:txBody>
          </p:sp>
          <p:sp>
            <p:nvSpPr>
              <p:cNvPr id="17" name="Rectangle 15"/>
              <p:cNvSpPr>
                <a:spLocks noChangeArrowheads="1"/>
              </p:cNvSpPr>
              <p:nvPr userDrawn="1"/>
            </p:nvSpPr>
            <p:spPr bwMode="auto">
              <a:xfrm>
                <a:off x="719" y="1857"/>
                <a:ext cx="368" cy="406"/>
              </a:xfrm>
              <a:prstGeom prst="rect">
                <a:avLst/>
              </a:prstGeom>
              <a:solidFill>
                <a:schemeClr val="accent2"/>
              </a:solidFill>
              <a:ln w="9525">
                <a:noFill/>
                <a:miter lim="800000"/>
                <a:headEnd/>
                <a:tailEnd/>
              </a:ln>
            </p:spPr>
            <p:txBody>
              <a:bodyPr/>
              <a:lstStyle/>
              <a:p>
                <a:pPr eaLnBrk="1" hangingPunct="1">
                  <a:defRPr/>
                </a:pPr>
                <a:endParaRPr lang="zh-TW" altLang="en-US" sz="2400">
                  <a:latin typeface="Times New Roman" pitchFamily="18" charset="0"/>
                  <a:ea typeface="新細明體" pitchFamily="18" charset="-120"/>
                </a:endParaRPr>
              </a:p>
            </p:txBody>
          </p:sp>
        </p:grpSp>
      </p:grpSp>
      <p:sp>
        <p:nvSpPr>
          <p:cNvPr id="22547" name="Rectangle 19"/>
          <p:cNvSpPr>
            <a:spLocks noGrp="1" noChangeArrowheads="1"/>
          </p:cNvSpPr>
          <p:nvPr>
            <p:ph type="ctrTitle"/>
          </p:nvPr>
        </p:nvSpPr>
        <p:spPr>
          <a:xfrm>
            <a:off x="2971800" y="1828800"/>
            <a:ext cx="6019800" cy="2209800"/>
          </a:xfrm>
        </p:spPr>
        <p:txBody>
          <a:bodyPr/>
          <a:lstStyle>
            <a:lvl1pPr>
              <a:defRPr sz="5000">
                <a:solidFill>
                  <a:srgbClr val="FFFFFF"/>
                </a:solidFill>
              </a:defRPr>
            </a:lvl1pPr>
          </a:lstStyle>
          <a:p>
            <a:r>
              <a:rPr lang="en-US" altLang="zh-TW"/>
              <a:t>Click to edit Master title style</a:t>
            </a:r>
          </a:p>
        </p:txBody>
      </p:sp>
      <p:sp>
        <p:nvSpPr>
          <p:cNvPr id="22548" name="Rectangle 20"/>
          <p:cNvSpPr>
            <a:spLocks noGrp="1" noChangeArrowheads="1"/>
          </p:cNvSpPr>
          <p:nvPr>
            <p:ph type="subTitle" idx="1"/>
          </p:nvPr>
        </p:nvSpPr>
        <p:spPr>
          <a:xfrm>
            <a:off x="2971800" y="4267200"/>
            <a:ext cx="6019800" cy="1752600"/>
          </a:xfrm>
        </p:spPr>
        <p:txBody>
          <a:bodyPr/>
          <a:lstStyle>
            <a:lvl1pPr marL="0" indent="0">
              <a:buFont typeface="Wingdings" pitchFamily="2" charset="2"/>
              <a:buNone/>
              <a:defRPr sz="3400"/>
            </a:lvl1pPr>
          </a:lstStyle>
          <a:p>
            <a:r>
              <a:rPr lang="en-US" altLang="zh-TW"/>
              <a:t>Click to edit Master subtitle style</a:t>
            </a:r>
          </a:p>
        </p:txBody>
      </p:sp>
      <p:sp>
        <p:nvSpPr>
          <p:cNvPr id="18" name="Rectangle 16"/>
          <p:cNvSpPr>
            <a:spLocks noGrp="1" noChangeArrowheads="1"/>
          </p:cNvSpPr>
          <p:nvPr>
            <p:ph type="dt" sz="half" idx="10"/>
          </p:nvPr>
        </p:nvSpPr>
        <p:spPr>
          <a:xfrm>
            <a:off x="457200" y="6248400"/>
            <a:ext cx="2133600" cy="457200"/>
          </a:xfrm>
        </p:spPr>
        <p:txBody>
          <a:bodyPr/>
          <a:lstStyle>
            <a:lvl1pPr>
              <a:defRPr/>
            </a:lvl1pPr>
          </a:lstStyle>
          <a:p>
            <a:pPr>
              <a:defRPr/>
            </a:pPr>
            <a:endParaRPr lang="en-US" altLang="zh-TW"/>
          </a:p>
        </p:txBody>
      </p:sp>
      <p:sp>
        <p:nvSpPr>
          <p:cNvPr id="19" name="Rectangle 17"/>
          <p:cNvSpPr>
            <a:spLocks noGrp="1" noChangeArrowheads="1"/>
          </p:cNvSpPr>
          <p:nvPr>
            <p:ph type="ftr" sz="quarter" idx="11"/>
          </p:nvPr>
        </p:nvSpPr>
        <p:spPr/>
        <p:txBody>
          <a:bodyPr/>
          <a:lstStyle>
            <a:lvl1pPr>
              <a:defRPr/>
            </a:lvl1pPr>
          </a:lstStyle>
          <a:p>
            <a:pPr>
              <a:defRPr/>
            </a:pPr>
            <a:endParaRPr lang="en-US" altLang="zh-TW"/>
          </a:p>
        </p:txBody>
      </p:sp>
      <p:sp>
        <p:nvSpPr>
          <p:cNvPr id="20" name="Rectangle 18"/>
          <p:cNvSpPr>
            <a:spLocks noGrp="1" noChangeArrowheads="1"/>
          </p:cNvSpPr>
          <p:nvPr>
            <p:ph type="sldNum" sz="quarter" idx="12"/>
          </p:nvPr>
        </p:nvSpPr>
        <p:spPr/>
        <p:txBody>
          <a:bodyPr/>
          <a:lstStyle>
            <a:lvl1pPr>
              <a:defRPr/>
            </a:lvl1pPr>
          </a:lstStyle>
          <a:p>
            <a:pPr>
              <a:defRPr/>
            </a:pPr>
            <a:fld id="{C7A8DD63-BF83-4D76-85BB-7E365B802781}" type="slidenum">
              <a:rPr lang="zh-TW" altLang="en-US"/>
              <a:pPr>
                <a:defRPr/>
              </a:pPr>
              <a:t>‹#›</a:t>
            </a:fld>
            <a:endParaRPr lang="en-US" altLang="zh-TW"/>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ftr" sz="quarter" idx="10"/>
          </p:nvPr>
        </p:nvSpPr>
        <p:spPr>
          <a:ln/>
        </p:spPr>
        <p:txBody>
          <a:bodyPr/>
          <a:lstStyle>
            <a:lvl1pPr>
              <a:defRPr/>
            </a:lvl1pPr>
          </a:lstStyle>
          <a:p>
            <a:pPr>
              <a:defRPr/>
            </a:pPr>
            <a:endParaRPr lang="en-US" altLang="zh-TW"/>
          </a:p>
        </p:txBody>
      </p:sp>
      <p:sp>
        <p:nvSpPr>
          <p:cNvPr id="5" name="Rectangle 3"/>
          <p:cNvSpPr>
            <a:spLocks noGrp="1" noChangeArrowheads="1"/>
          </p:cNvSpPr>
          <p:nvPr>
            <p:ph type="sldNum" sz="quarter" idx="11"/>
          </p:nvPr>
        </p:nvSpPr>
        <p:spPr>
          <a:ln/>
        </p:spPr>
        <p:txBody>
          <a:bodyPr/>
          <a:lstStyle>
            <a:lvl1pPr>
              <a:defRPr/>
            </a:lvl1pPr>
          </a:lstStyle>
          <a:p>
            <a:pPr>
              <a:defRPr/>
            </a:pPr>
            <a:fld id="{BBF4B91B-A32B-4CC2-AE1B-7BE8B11CB5A2}" type="slidenum">
              <a:rPr lang="zh-TW" altLang="en-US"/>
              <a:pPr>
                <a:defRPr/>
              </a:pPr>
              <a:t>‹#›</a:t>
            </a:fld>
            <a:endParaRPr lang="en-US" altLang="zh-TW"/>
          </a:p>
        </p:txBody>
      </p:sp>
      <p:sp>
        <p:nvSpPr>
          <p:cNvPr id="6" name="Rectangle 16"/>
          <p:cNvSpPr>
            <a:spLocks noGrp="1" noChangeArrowheads="1"/>
          </p:cNvSpPr>
          <p:nvPr>
            <p:ph type="dt" sz="half" idx="12"/>
          </p:nvPr>
        </p:nvSpPr>
        <p:spPr>
          <a:ln/>
        </p:spPr>
        <p:txBody>
          <a:bodyPr/>
          <a:lstStyle>
            <a:lvl1pPr>
              <a:defRPr/>
            </a:lvl1pPr>
          </a:lstStyle>
          <a:p>
            <a:pPr>
              <a:defRPr/>
            </a:pPr>
            <a:endParaRPr lang="en-US" altLang="zh-TW"/>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2"/>
          <p:cNvSpPr>
            <a:spLocks noGrp="1" noChangeArrowheads="1"/>
          </p:cNvSpPr>
          <p:nvPr>
            <p:ph type="ftr" sz="quarter" idx="10"/>
          </p:nvPr>
        </p:nvSpPr>
        <p:spPr>
          <a:ln/>
        </p:spPr>
        <p:txBody>
          <a:bodyPr/>
          <a:lstStyle>
            <a:lvl1pPr>
              <a:defRPr/>
            </a:lvl1pPr>
          </a:lstStyle>
          <a:p>
            <a:pPr>
              <a:defRPr/>
            </a:pPr>
            <a:endParaRPr lang="en-US" altLang="zh-TW"/>
          </a:p>
        </p:txBody>
      </p:sp>
      <p:sp>
        <p:nvSpPr>
          <p:cNvPr id="5" name="Rectangle 3"/>
          <p:cNvSpPr>
            <a:spLocks noGrp="1" noChangeArrowheads="1"/>
          </p:cNvSpPr>
          <p:nvPr>
            <p:ph type="sldNum" sz="quarter" idx="11"/>
          </p:nvPr>
        </p:nvSpPr>
        <p:spPr>
          <a:ln/>
        </p:spPr>
        <p:txBody>
          <a:bodyPr/>
          <a:lstStyle>
            <a:lvl1pPr>
              <a:defRPr/>
            </a:lvl1pPr>
          </a:lstStyle>
          <a:p>
            <a:pPr>
              <a:defRPr/>
            </a:pPr>
            <a:fld id="{A0ABC53F-2CE0-4743-A0B6-5352FAC22551}" type="slidenum">
              <a:rPr lang="zh-TW" altLang="en-US"/>
              <a:pPr>
                <a:defRPr/>
              </a:pPr>
              <a:t>‹#›</a:t>
            </a:fld>
            <a:endParaRPr lang="en-US" altLang="zh-TW"/>
          </a:p>
        </p:txBody>
      </p:sp>
      <p:sp>
        <p:nvSpPr>
          <p:cNvPr id="6" name="Rectangle 16"/>
          <p:cNvSpPr>
            <a:spLocks noGrp="1" noChangeArrowheads="1"/>
          </p:cNvSpPr>
          <p:nvPr>
            <p:ph type="dt" sz="half" idx="12"/>
          </p:nvPr>
        </p:nvSpPr>
        <p:spPr>
          <a:ln/>
        </p:spPr>
        <p:txBody>
          <a:bodyPr/>
          <a:lstStyle>
            <a:lvl1pPr>
              <a:defRPr/>
            </a:lvl1pPr>
          </a:lstStyle>
          <a:p>
            <a:pPr>
              <a:defRPr/>
            </a:pPr>
            <a:endParaRPr lang="en-US" altLang="zh-TW"/>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981200"/>
            <a:ext cx="4038600" cy="3886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4038600" cy="3886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2"/>
          <p:cNvSpPr>
            <a:spLocks noGrp="1" noChangeArrowheads="1"/>
          </p:cNvSpPr>
          <p:nvPr>
            <p:ph type="ftr" sz="quarter" idx="10"/>
          </p:nvPr>
        </p:nvSpPr>
        <p:spPr>
          <a:ln/>
        </p:spPr>
        <p:txBody>
          <a:bodyPr/>
          <a:lstStyle>
            <a:lvl1pPr>
              <a:defRPr/>
            </a:lvl1pPr>
          </a:lstStyle>
          <a:p>
            <a:pPr>
              <a:defRPr/>
            </a:pPr>
            <a:endParaRPr lang="en-US" altLang="zh-TW"/>
          </a:p>
        </p:txBody>
      </p:sp>
      <p:sp>
        <p:nvSpPr>
          <p:cNvPr id="6" name="Rectangle 3"/>
          <p:cNvSpPr>
            <a:spLocks noGrp="1" noChangeArrowheads="1"/>
          </p:cNvSpPr>
          <p:nvPr>
            <p:ph type="sldNum" sz="quarter" idx="11"/>
          </p:nvPr>
        </p:nvSpPr>
        <p:spPr>
          <a:ln/>
        </p:spPr>
        <p:txBody>
          <a:bodyPr/>
          <a:lstStyle>
            <a:lvl1pPr>
              <a:defRPr/>
            </a:lvl1pPr>
          </a:lstStyle>
          <a:p>
            <a:pPr>
              <a:defRPr/>
            </a:pPr>
            <a:fld id="{73E60085-B3F6-4F7C-B0E1-5330EC76E258}" type="slidenum">
              <a:rPr lang="zh-TW" altLang="en-US"/>
              <a:pPr>
                <a:defRPr/>
              </a:pPr>
              <a:t>‹#›</a:t>
            </a:fld>
            <a:endParaRPr lang="en-US" altLang="zh-TW"/>
          </a:p>
        </p:txBody>
      </p:sp>
      <p:sp>
        <p:nvSpPr>
          <p:cNvPr id="7" name="Rectangle 16"/>
          <p:cNvSpPr>
            <a:spLocks noGrp="1" noChangeArrowheads="1"/>
          </p:cNvSpPr>
          <p:nvPr>
            <p:ph type="dt" sz="half" idx="12"/>
          </p:nvPr>
        </p:nvSpPr>
        <p:spPr>
          <a:ln/>
        </p:spPr>
        <p:txBody>
          <a:bodyPr/>
          <a:lstStyle>
            <a:lvl1pPr>
              <a:defRPr/>
            </a:lvl1pPr>
          </a:lstStyle>
          <a:p>
            <a:pPr>
              <a:defRPr/>
            </a:pPr>
            <a:endParaRPr lang="en-US" altLang="zh-TW"/>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2"/>
          <p:cNvSpPr>
            <a:spLocks noGrp="1" noChangeArrowheads="1"/>
          </p:cNvSpPr>
          <p:nvPr>
            <p:ph type="ftr" sz="quarter" idx="10"/>
          </p:nvPr>
        </p:nvSpPr>
        <p:spPr>
          <a:ln/>
        </p:spPr>
        <p:txBody>
          <a:bodyPr/>
          <a:lstStyle>
            <a:lvl1pPr>
              <a:defRPr/>
            </a:lvl1pPr>
          </a:lstStyle>
          <a:p>
            <a:pPr>
              <a:defRPr/>
            </a:pPr>
            <a:endParaRPr lang="en-US" altLang="zh-TW"/>
          </a:p>
        </p:txBody>
      </p:sp>
      <p:sp>
        <p:nvSpPr>
          <p:cNvPr id="8" name="Rectangle 3"/>
          <p:cNvSpPr>
            <a:spLocks noGrp="1" noChangeArrowheads="1"/>
          </p:cNvSpPr>
          <p:nvPr>
            <p:ph type="sldNum" sz="quarter" idx="11"/>
          </p:nvPr>
        </p:nvSpPr>
        <p:spPr>
          <a:ln/>
        </p:spPr>
        <p:txBody>
          <a:bodyPr/>
          <a:lstStyle>
            <a:lvl1pPr>
              <a:defRPr/>
            </a:lvl1pPr>
          </a:lstStyle>
          <a:p>
            <a:pPr>
              <a:defRPr/>
            </a:pPr>
            <a:fld id="{5EA460AF-1059-4FA6-B315-D5AC87344581}" type="slidenum">
              <a:rPr lang="zh-TW" altLang="en-US"/>
              <a:pPr>
                <a:defRPr/>
              </a:pPr>
              <a:t>‹#›</a:t>
            </a:fld>
            <a:endParaRPr lang="en-US" altLang="zh-TW"/>
          </a:p>
        </p:txBody>
      </p:sp>
      <p:sp>
        <p:nvSpPr>
          <p:cNvPr id="9" name="Rectangle 16"/>
          <p:cNvSpPr>
            <a:spLocks noGrp="1" noChangeArrowheads="1"/>
          </p:cNvSpPr>
          <p:nvPr>
            <p:ph type="dt" sz="half" idx="12"/>
          </p:nvPr>
        </p:nvSpPr>
        <p:spPr>
          <a:ln/>
        </p:spPr>
        <p:txBody>
          <a:bodyPr/>
          <a:lstStyle>
            <a:lvl1pPr>
              <a:defRPr/>
            </a:lvl1pPr>
          </a:lstStyle>
          <a:p>
            <a:pPr>
              <a:defRPr/>
            </a:pPr>
            <a:endParaRPr lang="en-US" altLang="zh-TW"/>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2"/>
          <p:cNvSpPr>
            <a:spLocks noGrp="1" noChangeArrowheads="1"/>
          </p:cNvSpPr>
          <p:nvPr>
            <p:ph type="ftr" sz="quarter" idx="10"/>
          </p:nvPr>
        </p:nvSpPr>
        <p:spPr>
          <a:ln/>
        </p:spPr>
        <p:txBody>
          <a:bodyPr/>
          <a:lstStyle>
            <a:lvl1pPr>
              <a:defRPr/>
            </a:lvl1pPr>
          </a:lstStyle>
          <a:p>
            <a:pPr>
              <a:defRPr/>
            </a:pPr>
            <a:endParaRPr lang="en-US" altLang="zh-TW"/>
          </a:p>
        </p:txBody>
      </p:sp>
      <p:sp>
        <p:nvSpPr>
          <p:cNvPr id="4" name="Rectangle 3"/>
          <p:cNvSpPr>
            <a:spLocks noGrp="1" noChangeArrowheads="1"/>
          </p:cNvSpPr>
          <p:nvPr>
            <p:ph type="sldNum" sz="quarter" idx="11"/>
          </p:nvPr>
        </p:nvSpPr>
        <p:spPr>
          <a:ln/>
        </p:spPr>
        <p:txBody>
          <a:bodyPr/>
          <a:lstStyle>
            <a:lvl1pPr>
              <a:defRPr/>
            </a:lvl1pPr>
          </a:lstStyle>
          <a:p>
            <a:pPr>
              <a:defRPr/>
            </a:pPr>
            <a:fld id="{BBD0CAC2-662A-4955-8BDD-F4EFE3ACD03C}" type="slidenum">
              <a:rPr lang="zh-TW" altLang="en-US"/>
              <a:pPr>
                <a:defRPr/>
              </a:pPr>
              <a:t>‹#›</a:t>
            </a:fld>
            <a:endParaRPr lang="en-US" altLang="zh-TW"/>
          </a:p>
        </p:txBody>
      </p:sp>
      <p:sp>
        <p:nvSpPr>
          <p:cNvPr id="5" name="Rectangle 16"/>
          <p:cNvSpPr>
            <a:spLocks noGrp="1" noChangeArrowheads="1"/>
          </p:cNvSpPr>
          <p:nvPr>
            <p:ph type="dt" sz="half" idx="12"/>
          </p:nvPr>
        </p:nvSpPr>
        <p:spPr>
          <a:ln/>
        </p:spPr>
        <p:txBody>
          <a:bodyPr/>
          <a:lstStyle>
            <a:lvl1pPr>
              <a:defRPr/>
            </a:lvl1pPr>
          </a:lstStyle>
          <a:p>
            <a:pPr>
              <a:defRPr/>
            </a:pPr>
            <a:endParaRPr lang="en-US" altLang="zh-TW"/>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2"/>
          <p:cNvSpPr>
            <a:spLocks noGrp="1" noChangeArrowheads="1"/>
          </p:cNvSpPr>
          <p:nvPr>
            <p:ph type="ftr" sz="quarter" idx="10"/>
          </p:nvPr>
        </p:nvSpPr>
        <p:spPr>
          <a:ln/>
        </p:spPr>
        <p:txBody>
          <a:bodyPr/>
          <a:lstStyle>
            <a:lvl1pPr>
              <a:defRPr/>
            </a:lvl1pPr>
          </a:lstStyle>
          <a:p>
            <a:pPr>
              <a:defRPr/>
            </a:pPr>
            <a:endParaRPr lang="en-US" altLang="zh-TW"/>
          </a:p>
        </p:txBody>
      </p:sp>
      <p:sp>
        <p:nvSpPr>
          <p:cNvPr id="3" name="Rectangle 3"/>
          <p:cNvSpPr>
            <a:spLocks noGrp="1" noChangeArrowheads="1"/>
          </p:cNvSpPr>
          <p:nvPr>
            <p:ph type="sldNum" sz="quarter" idx="11"/>
          </p:nvPr>
        </p:nvSpPr>
        <p:spPr>
          <a:ln/>
        </p:spPr>
        <p:txBody>
          <a:bodyPr/>
          <a:lstStyle>
            <a:lvl1pPr>
              <a:defRPr/>
            </a:lvl1pPr>
          </a:lstStyle>
          <a:p>
            <a:pPr>
              <a:defRPr/>
            </a:pPr>
            <a:fld id="{EBF73BDF-690D-4725-BA10-A7934ED52EAB}" type="slidenum">
              <a:rPr lang="zh-TW" altLang="en-US"/>
              <a:pPr>
                <a:defRPr/>
              </a:pPr>
              <a:t>‹#›</a:t>
            </a:fld>
            <a:endParaRPr lang="en-US" altLang="zh-TW"/>
          </a:p>
        </p:txBody>
      </p:sp>
      <p:sp>
        <p:nvSpPr>
          <p:cNvPr id="4" name="Rectangle 16"/>
          <p:cNvSpPr>
            <a:spLocks noGrp="1" noChangeArrowheads="1"/>
          </p:cNvSpPr>
          <p:nvPr>
            <p:ph type="dt" sz="half" idx="12"/>
          </p:nvPr>
        </p:nvSpPr>
        <p:spPr>
          <a:ln/>
        </p:spPr>
        <p:txBody>
          <a:bodyPr/>
          <a:lstStyle>
            <a:lvl1pPr>
              <a:defRPr/>
            </a:lvl1pPr>
          </a:lstStyle>
          <a:p>
            <a:pPr>
              <a:defRPr/>
            </a:pPr>
            <a:endParaRPr lang="en-US" altLang="zh-TW"/>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2"/>
          <p:cNvSpPr>
            <a:spLocks noGrp="1" noChangeArrowheads="1"/>
          </p:cNvSpPr>
          <p:nvPr>
            <p:ph type="ftr" sz="quarter" idx="10"/>
          </p:nvPr>
        </p:nvSpPr>
        <p:spPr>
          <a:ln/>
        </p:spPr>
        <p:txBody>
          <a:bodyPr/>
          <a:lstStyle>
            <a:lvl1pPr>
              <a:defRPr/>
            </a:lvl1pPr>
          </a:lstStyle>
          <a:p>
            <a:pPr>
              <a:defRPr/>
            </a:pPr>
            <a:endParaRPr lang="en-US" altLang="zh-TW"/>
          </a:p>
        </p:txBody>
      </p:sp>
      <p:sp>
        <p:nvSpPr>
          <p:cNvPr id="6" name="Rectangle 3"/>
          <p:cNvSpPr>
            <a:spLocks noGrp="1" noChangeArrowheads="1"/>
          </p:cNvSpPr>
          <p:nvPr>
            <p:ph type="sldNum" sz="quarter" idx="11"/>
          </p:nvPr>
        </p:nvSpPr>
        <p:spPr>
          <a:ln/>
        </p:spPr>
        <p:txBody>
          <a:bodyPr/>
          <a:lstStyle>
            <a:lvl1pPr>
              <a:defRPr/>
            </a:lvl1pPr>
          </a:lstStyle>
          <a:p>
            <a:pPr>
              <a:defRPr/>
            </a:pPr>
            <a:fld id="{14924C38-3708-4EA3-BD94-C7821A7F1F59}" type="slidenum">
              <a:rPr lang="zh-TW" altLang="en-US"/>
              <a:pPr>
                <a:defRPr/>
              </a:pPr>
              <a:t>‹#›</a:t>
            </a:fld>
            <a:endParaRPr lang="en-US" altLang="zh-TW"/>
          </a:p>
        </p:txBody>
      </p:sp>
      <p:sp>
        <p:nvSpPr>
          <p:cNvPr id="7" name="Rectangle 16"/>
          <p:cNvSpPr>
            <a:spLocks noGrp="1" noChangeArrowheads="1"/>
          </p:cNvSpPr>
          <p:nvPr>
            <p:ph type="dt" sz="half" idx="12"/>
          </p:nvPr>
        </p:nvSpPr>
        <p:spPr>
          <a:ln/>
        </p:spPr>
        <p:txBody>
          <a:bodyPr/>
          <a:lstStyle>
            <a:lvl1pPr>
              <a:defRPr/>
            </a:lvl1pPr>
          </a:lstStyle>
          <a:p>
            <a:pPr>
              <a:defRPr/>
            </a:pPr>
            <a:endParaRPr lang="en-US" altLang="zh-TW"/>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2"/>
          <p:cNvSpPr>
            <a:spLocks noGrp="1" noChangeArrowheads="1"/>
          </p:cNvSpPr>
          <p:nvPr>
            <p:ph type="ftr" sz="quarter" idx="10"/>
          </p:nvPr>
        </p:nvSpPr>
        <p:spPr>
          <a:ln/>
        </p:spPr>
        <p:txBody>
          <a:bodyPr/>
          <a:lstStyle>
            <a:lvl1pPr>
              <a:defRPr/>
            </a:lvl1pPr>
          </a:lstStyle>
          <a:p>
            <a:pPr>
              <a:defRPr/>
            </a:pPr>
            <a:endParaRPr lang="en-US" altLang="zh-TW"/>
          </a:p>
        </p:txBody>
      </p:sp>
      <p:sp>
        <p:nvSpPr>
          <p:cNvPr id="6" name="Rectangle 3"/>
          <p:cNvSpPr>
            <a:spLocks noGrp="1" noChangeArrowheads="1"/>
          </p:cNvSpPr>
          <p:nvPr>
            <p:ph type="sldNum" sz="quarter" idx="11"/>
          </p:nvPr>
        </p:nvSpPr>
        <p:spPr>
          <a:ln/>
        </p:spPr>
        <p:txBody>
          <a:bodyPr/>
          <a:lstStyle>
            <a:lvl1pPr>
              <a:defRPr/>
            </a:lvl1pPr>
          </a:lstStyle>
          <a:p>
            <a:pPr>
              <a:defRPr/>
            </a:pPr>
            <a:fld id="{8D2F31E6-A83F-43FC-A793-12492FD5DFD4}" type="slidenum">
              <a:rPr lang="zh-TW" altLang="en-US"/>
              <a:pPr>
                <a:defRPr/>
              </a:pPr>
              <a:t>‹#›</a:t>
            </a:fld>
            <a:endParaRPr lang="en-US" altLang="zh-TW"/>
          </a:p>
        </p:txBody>
      </p:sp>
      <p:sp>
        <p:nvSpPr>
          <p:cNvPr id="7" name="Rectangle 16"/>
          <p:cNvSpPr>
            <a:spLocks noGrp="1" noChangeArrowheads="1"/>
          </p:cNvSpPr>
          <p:nvPr>
            <p:ph type="dt" sz="half" idx="12"/>
          </p:nvPr>
        </p:nvSpPr>
        <p:spPr>
          <a:ln/>
        </p:spPr>
        <p:txBody>
          <a:bodyPr/>
          <a:lstStyle>
            <a:lvl1pPr>
              <a:defRPr/>
            </a:lvl1pPr>
          </a:lstStyle>
          <a:p>
            <a:pPr>
              <a:defRPr/>
            </a:pPr>
            <a:endParaRPr lang="en-US" altLang="zh-TW"/>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ftr" sz="quarter" idx="10"/>
          </p:nvPr>
        </p:nvSpPr>
        <p:spPr>
          <a:ln/>
        </p:spPr>
        <p:txBody>
          <a:bodyPr/>
          <a:lstStyle>
            <a:lvl1pPr>
              <a:defRPr/>
            </a:lvl1pPr>
          </a:lstStyle>
          <a:p>
            <a:pPr>
              <a:defRPr/>
            </a:pPr>
            <a:endParaRPr lang="en-US" altLang="zh-TW"/>
          </a:p>
        </p:txBody>
      </p:sp>
      <p:sp>
        <p:nvSpPr>
          <p:cNvPr id="5" name="Rectangle 3"/>
          <p:cNvSpPr>
            <a:spLocks noGrp="1" noChangeArrowheads="1"/>
          </p:cNvSpPr>
          <p:nvPr>
            <p:ph type="sldNum" sz="quarter" idx="11"/>
          </p:nvPr>
        </p:nvSpPr>
        <p:spPr>
          <a:ln/>
        </p:spPr>
        <p:txBody>
          <a:bodyPr/>
          <a:lstStyle>
            <a:lvl1pPr>
              <a:defRPr/>
            </a:lvl1pPr>
          </a:lstStyle>
          <a:p>
            <a:pPr>
              <a:defRPr/>
            </a:pPr>
            <a:fld id="{202E5731-3CAC-47F4-B7B7-FDEDBD653483}" type="slidenum">
              <a:rPr lang="zh-TW" altLang="en-US"/>
              <a:pPr>
                <a:defRPr/>
              </a:pPr>
              <a:t>‹#›</a:t>
            </a:fld>
            <a:endParaRPr lang="en-US" altLang="zh-TW"/>
          </a:p>
        </p:txBody>
      </p:sp>
      <p:sp>
        <p:nvSpPr>
          <p:cNvPr id="6" name="Rectangle 16"/>
          <p:cNvSpPr>
            <a:spLocks noGrp="1" noChangeArrowheads="1"/>
          </p:cNvSpPr>
          <p:nvPr>
            <p:ph type="dt" sz="half" idx="12"/>
          </p:nvPr>
        </p:nvSpPr>
        <p:spPr>
          <a:ln/>
        </p:spPr>
        <p:txBody>
          <a:bodyPr/>
          <a:lstStyle>
            <a:lvl1pPr>
              <a:defRPr/>
            </a:lvl1pPr>
          </a:lstStyle>
          <a:p>
            <a:pPr>
              <a:defRPr/>
            </a:pPr>
            <a:endParaRPr lang="en-US" altLang="zh-TW"/>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457200"/>
            <a:ext cx="2057400" cy="54102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457200"/>
            <a:ext cx="60198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ftr" sz="quarter" idx="10"/>
          </p:nvPr>
        </p:nvSpPr>
        <p:spPr>
          <a:ln/>
        </p:spPr>
        <p:txBody>
          <a:bodyPr/>
          <a:lstStyle>
            <a:lvl1pPr>
              <a:defRPr/>
            </a:lvl1pPr>
          </a:lstStyle>
          <a:p>
            <a:pPr>
              <a:defRPr/>
            </a:pPr>
            <a:endParaRPr lang="en-US" altLang="zh-TW"/>
          </a:p>
        </p:txBody>
      </p:sp>
      <p:sp>
        <p:nvSpPr>
          <p:cNvPr id="5" name="Rectangle 3"/>
          <p:cNvSpPr>
            <a:spLocks noGrp="1" noChangeArrowheads="1"/>
          </p:cNvSpPr>
          <p:nvPr>
            <p:ph type="sldNum" sz="quarter" idx="11"/>
          </p:nvPr>
        </p:nvSpPr>
        <p:spPr>
          <a:ln/>
        </p:spPr>
        <p:txBody>
          <a:bodyPr/>
          <a:lstStyle>
            <a:lvl1pPr>
              <a:defRPr/>
            </a:lvl1pPr>
          </a:lstStyle>
          <a:p>
            <a:pPr>
              <a:defRPr/>
            </a:pPr>
            <a:fld id="{033FA4A9-0C10-4F11-A8E0-73AB7B6D4F2D}" type="slidenum">
              <a:rPr lang="zh-TW" altLang="en-US"/>
              <a:pPr>
                <a:defRPr/>
              </a:pPr>
              <a:t>‹#›</a:t>
            </a:fld>
            <a:endParaRPr lang="en-US" altLang="zh-TW"/>
          </a:p>
        </p:txBody>
      </p:sp>
      <p:sp>
        <p:nvSpPr>
          <p:cNvPr id="6" name="Rectangle 16"/>
          <p:cNvSpPr>
            <a:spLocks noGrp="1" noChangeArrowheads="1"/>
          </p:cNvSpPr>
          <p:nvPr>
            <p:ph type="dt" sz="half" idx="12"/>
          </p:nvPr>
        </p:nvSpPr>
        <p:spPr>
          <a:ln/>
        </p:spPr>
        <p:txBody>
          <a:bodyPr/>
          <a:lstStyle>
            <a:lvl1pPr>
              <a:defRPr/>
            </a:lvl1pPr>
          </a:lstStyle>
          <a:p>
            <a:pPr>
              <a:defRPr/>
            </a:pPr>
            <a:endParaRPr lang="en-US" altLang="zh-TW"/>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cSld name="Content">
    <p:spTree>
      <p:nvGrpSpPr>
        <p:cNvPr id="1" name=""/>
        <p:cNvGrpSpPr/>
        <p:nvPr/>
      </p:nvGrpSpPr>
      <p:grpSpPr>
        <a:xfrm>
          <a:off x="0" y="0"/>
          <a:ext cx="0" cy="0"/>
          <a:chOff x="0" y="0"/>
          <a:chExt cx="0" cy="0"/>
        </a:xfrm>
      </p:grpSpPr>
      <p:sp>
        <p:nvSpPr>
          <p:cNvPr id="2" name="Content Placeholder 1"/>
          <p:cNvSpPr>
            <a:spLocks noGrp="1"/>
          </p:cNvSpPr>
          <p:nvPr>
            <p:ph/>
          </p:nvPr>
        </p:nvSpPr>
        <p:spPr>
          <a:xfrm>
            <a:off x="457200" y="457200"/>
            <a:ext cx="82296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p:cNvSpPr>
            <a:spLocks noGrp="1"/>
          </p:cNvSpPr>
          <p:nvPr>
            <p:ph type="ftr" sz="quarter" idx="10"/>
          </p:nvPr>
        </p:nvSpPr>
        <p:spPr>
          <a:xfrm>
            <a:off x="3124200" y="6248400"/>
            <a:ext cx="2895600" cy="457200"/>
          </a:xfrm>
        </p:spPr>
        <p:txBody>
          <a:bodyPr/>
          <a:lstStyle>
            <a:lvl1pPr>
              <a:defRPr/>
            </a:lvl1pPr>
          </a:lstStyle>
          <a:p>
            <a:endParaRPr lang="en-US" altLang="zh-TW"/>
          </a:p>
        </p:txBody>
      </p:sp>
      <p:sp>
        <p:nvSpPr>
          <p:cNvPr id="4" name="Slide Number Placeholder 3"/>
          <p:cNvSpPr>
            <a:spLocks noGrp="1"/>
          </p:cNvSpPr>
          <p:nvPr>
            <p:ph type="sldNum" sz="quarter" idx="11"/>
          </p:nvPr>
        </p:nvSpPr>
        <p:spPr>
          <a:xfrm>
            <a:off x="6553200" y="6248400"/>
            <a:ext cx="2133600" cy="457200"/>
          </a:xfrm>
        </p:spPr>
        <p:txBody>
          <a:bodyPr/>
          <a:lstStyle>
            <a:lvl1pPr>
              <a:defRPr/>
            </a:lvl1pPr>
          </a:lstStyle>
          <a:p>
            <a:fld id="{84FAA681-1D71-4E21-AED9-CA9D79B6B7FF}" type="slidenum">
              <a:rPr lang="zh-TW" altLang="en-US"/>
              <a:pPr/>
              <a:t>‹#›</a:t>
            </a:fld>
            <a:endParaRPr lang="en-US" altLang="zh-TW"/>
          </a:p>
        </p:txBody>
      </p:sp>
      <p:sp>
        <p:nvSpPr>
          <p:cNvPr id="5" name="Date Placeholder 4"/>
          <p:cNvSpPr>
            <a:spLocks noGrp="1"/>
          </p:cNvSpPr>
          <p:nvPr>
            <p:ph type="dt" sz="half" idx="12"/>
          </p:nvPr>
        </p:nvSpPr>
        <p:spPr>
          <a:xfrm>
            <a:off x="457200" y="6245225"/>
            <a:ext cx="2133600" cy="476250"/>
          </a:xfrm>
        </p:spPr>
        <p:txBody>
          <a:bodyPr/>
          <a:lstStyle>
            <a:lvl1pPr>
              <a:defRPr/>
            </a:lvl1pPr>
          </a:lstStyle>
          <a:p>
            <a:endParaRPr lang="en-US" altLang="zh-TW"/>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506" name="Rectangle 2"/>
          <p:cNvSpPr>
            <a:spLocks noGrp="1" noChangeArrowheads="1"/>
          </p:cNvSpPr>
          <p:nvPr>
            <p:ph type="ftr" sz="quarter" idx="3"/>
          </p:nvPr>
        </p:nvSpPr>
        <p:spPr bwMode="auto">
          <a:xfrm>
            <a:off x="3124200" y="6248400"/>
            <a:ext cx="2895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ctr" eaLnBrk="1" hangingPunct="1">
              <a:defRPr sz="1200">
                <a:ea typeface="新細明體" pitchFamily="18" charset="-120"/>
              </a:defRPr>
            </a:lvl1pPr>
          </a:lstStyle>
          <a:p>
            <a:pPr>
              <a:defRPr/>
            </a:pPr>
            <a:endParaRPr lang="en-US" altLang="zh-TW"/>
          </a:p>
        </p:txBody>
      </p:sp>
      <p:sp>
        <p:nvSpPr>
          <p:cNvPr id="21507" name="Rectangle 3"/>
          <p:cNvSpPr>
            <a:spLocks noGrp="1" noChangeArrowheads="1"/>
          </p:cNvSpPr>
          <p:nvPr>
            <p:ph type="sldNum" sz="quarter" idx="4"/>
          </p:nvPr>
        </p:nvSpPr>
        <p:spPr bwMode="auto">
          <a:xfrm>
            <a:off x="6553200" y="6248400"/>
            <a:ext cx="2133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a:latin typeface="Arial Black" pitchFamily="34" charset="0"/>
                <a:ea typeface="新細明體" pitchFamily="18" charset="-120"/>
              </a:defRPr>
            </a:lvl1pPr>
          </a:lstStyle>
          <a:p>
            <a:pPr>
              <a:defRPr/>
            </a:pPr>
            <a:fld id="{80ABA754-F222-41D0-8C8F-08C69945C1F6}" type="slidenum">
              <a:rPr lang="zh-TW" altLang="en-US"/>
              <a:pPr>
                <a:defRPr/>
              </a:pPr>
              <a:t>‹#›</a:t>
            </a:fld>
            <a:endParaRPr lang="en-US" altLang="zh-TW"/>
          </a:p>
        </p:txBody>
      </p:sp>
      <p:grpSp>
        <p:nvGrpSpPr>
          <p:cNvPr id="18436" name="Group 4"/>
          <p:cNvGrpSpPr>
            <a:grpSpLocks/>
          </p:cNvGrpSpPr>
          <p:nvPr/>
        </p:nvGrpSpPr>
        <p:grpSpPr bwMode="auto">
          <a:xfrm>
            <a:off x="0" y="0"/>
            <a:ext cx="9144000" cy="838200"/>
            <a:chOff x="0" y="0"/>
            <a:chExt cx="5760" cy="344"/>
          </a:xfrm>
        </p:grpSpPr>
        <p:sp>
          <p:nvSpPr>
            <p:cNvPr id="21509" name="Rectangle 5"/>
            <p:cNvSpPr>
              <a:spLocks noChangeArrowheads="1"/>
            </p:cNvSpPr>
            <p:nvPr/>
          </p:nvSpPr>
          <p:spPr bwMode="auto">
            <a:xfrm>
              <a:off x="0" y="0"/>
              <a:ext cx="180" cy="336"/>
            </a:xfrm>
            <a:prstGeom prst="rect">
              <a:avLst/>
            </a:prstGeom>
            <a:gradFill rotWithShape="0">
              <a:gsLst>
                <a:gs pos="0">
                  <a:schemeClr val="folHlink"/>
                </a:gs>
                <a:gs pos="100000">
                  <a:schemeClr val="bg1"/>
                </a:gs>
              </a:gsLst>
              <a:lin ang="0" scaled="1"/>
            </a:gradFill>
            <a:ln w="9525">
              <a:noFill/>
              <a:miter lim="800000"/>
              <a:headEnd/>
              <a:tailEnd/>
            </a:ln>
            <a:effectLst/>
          </p:spPr>
          <p:txBody>
            <a:bodyPr wrap="none" anchor="ctr"/>
            <a:lstStyle/>
            <a:p>
              <a:pPr algn="ctr" eaLnBrk="1" hangingPunct="1">
                <a:defRPr/>
              </a:pPr>
              <a:endParaRPr lang="zh-TW" altLang="en-US" sz="2400">
                <a:latin typeface="Times New Roman" pitchFamily="18" charset="0"/>
                <a:ea typeface="新細明體" pitchFamily="18" charset="-120"/>
              </a:endParaRPr>
            </a:p>
          </p:txBody>
        </p:sp>
        <p:sp>
          <p:nvSpPr>
            <p:cNvPr id="21510" name="Rectangle 6"/>
            <p:cNvSpPr>
              <a:spLocks noChangeArrowheads="1"/>
            </p:cNvSpPr>
            <p:nvPr/>
          </p:nvSpPr>
          <p:spPr bwMode="auto">
            <a:xfrm>
              <a:off x="260" y="85"/>
              <a:ext cx="5500" cy="173"/>
            </a:xfrm>
            <a:prstGeom prst="rect">
              <a:avLst/>
            </a:prstGeom>
            <a:gradFill rotWithShape="0">
              <a:gsLst>
                <a:gs pos="0">
                  <a:schemeClr val="bg2"/>
                </a:gs>
                <a:gs pos="100000">
                  <a:schemeClr val="bg1"/>
                </a:gs>
              </a:gsLst>
              <a:lin ang="0" scaled="1"/>
            </a:gradFill>
            <a:ln w="9525">
              <a:noFill/>
              <a:miter lim="800000"/>
              <a:headEnd/>
              <a:tailEnd/>
            </a:ln>
          </p:spPr>
          <p:txBody>
            <a:bodyPr/>
            <a:lstStyle/>
            <a:p>
              <a:pPr eaLnBrk="1" hangingPunct="1">
                <a:defRPr/>
              </a:pPr>
              <a:endParaRPr lang="zh-TW" altLang="en-US" sz="2400">
                <a:latin typeface="Times New Roman" pitchFamily="18" charset="0"/>
                <a:ea typeface="新細明體" pitchFamily="18" charset="-120"/>
              </a:endParaRPr>
            </a:p>
          </p:txBody>
        </p:sp>
        <p:sp>
          <p:nvSpPr>
            <p:cNvPr id="21511" name="Rectangle 7"/>
            <p:cNvSpPr>
              <a:spLocks noChangeArrowheads="1"/>
            </p:cNvSpPr>
            <p:nvPr/>
          </p:nvSpPr>
          <p:spPr bwMode="auto">
            <a:xfrm>
              <a:off x="258" y="85"/>
              <a:ext cx="87" cy="89"/>
            </a:xfrm>
            <a:prstGeom prst="rect">
              <a:avLst/>
            </a:prstGeom>
            <a:solidFill>
              <a:schemeClr val="folHlink"/>
            </a:solidFill>
            <a:ln w="9525">
              <a:noFill/>
              <a:miter lim="800000"/>
              <a:headEnd/>
              <a:tailEnd/>
            </a:ln>
          </p:spPr>
          <p:txBody>
            <a:bodyPr/>
            <a:lstStyle/>
            <a:p>
              <a:pPr eaLnBrk="1" hangingPunct="1">
                <a:defRPr/>
              </a:pPr>
              <a:endParaRPr lang="zh-TW" altLang="en-US">
                <a:solidFill>
                  <a:schemeClr val="hlink"/>
                </a:solidFill>
                <a:ea typeface="新細明體" pitchFamily="18" charset="-120"/>
              </a:endParaRPr>
            </a:p>
          </p:txBody>
        </p:sp>
        <p:sp>
          <p:nvSpPr>
            <p:cNvPr id="21512" name="Rectangle 8"/>
            <p:cNvSpPr>
              <a:spLocks noChangeArrowheads="1"/>
            </p:cNvSpPr>
            <p:nvPr/>
          </p:nvSpPr>
          <p:spPr bwMode="auto">
            <a:xfrm>
              <a:off x="345" y="0"/>
              <a:ext cx="88" cy="87"/>
            </a:xfrm>
            <a:prstGeom prst="rect">
              <a:avLst/>
            </a:prstGeom>
            <a:solidFill>
              <a:schemeClr val="folHlink"/>
            </a:solidFill>
            <a:ln w="9525">
              <a:noFill/>
              <a:miter lim="800000"/>
              <a:headEnd/>
              <a:tailEnd/>
            </a:ln>
          </p:spPr>
          <p:txBody>
            <a:bodyPr/>
            <a:lstStyle/>
            <a:p>
              <a:pPr eaLnBrk="1" hangingPunct="1">
                <a:defRPr/>
              </a:pPr>
              <a:endParaRPr lang="zh-TW" altLang="en-US">
                <a:solidFill>
                  <a:schemeClr val="hlink"/>
                </a:solidFill>
                <a:ea typeface="新細明體" pitchFamily="18" charset="-120"/>
              </a:endParaRPr>
            </a:p>
          </p:txBody>
        </p:sp>
        <p:sp>
          <p:nvSpPr>
            <p:cNvPr id="21513" name="Rectangle 9"/>
            <p:cNvSpPr>
              <a:spLocks noChangeArrowheads="1"/>
            </p:cNvSpPr>
            <p:nvPr/>
          </p:nvSpPr>
          <p:spPr bwMode="auto">
            <a:xfrm>
              <a:off x="345" y="85"/>
              <a:ext cx="88" cy="89"/>
            </a:xfrm>
            <a:prstGeom prst="rect">
              <a:avLst/>
            </a:prstGeom>
            <a:solidFill>
              <a:schemeClr val="accent2"/>
            </a:solidFill>
            <a:ln w="9525">
              <a:noFill/>
              <a:miter lim="800000"/>
              <a:headEnd/>
              <a:tailEnd/>
            </a:ln>
          </p:spPr>
          <p:txBody>
            <a:bodyPr/>
            <a:lstStyle/>
            <a:p>
              <a:pPr eaLnBrk="1" hangingPunct="1">
                <a:defRPr/>
              </a:pPr>
              <a:endParaRPr lang="zh-TW" altLang="en-US">
                <a:solidFill>
                  <a:schemeClr val="accent2"/>
                </a:solidFill>
                <a:ea typeface="新細明體" pitchFamily="18" charset="-120"/>
              </a:endParaRPr>
            </a:p>
          </p:txBody>
        </p:sp>
        <p:sp>
          <p:nvSpPr>
            <p:cNvPr id="21514" name="Rectangle 10"/>
            <p:cNvSpPr>
              <a:spLocks noChangeArrowheads="1"/>
            </p:cNvSpPr>
            <p:nvPr/>
          </p:nvSpPr>
          <p:spPr bwMode="auto">
            <a:xfrm>
              <a:off x="173" y="173"/>
              <a:ext cx="86" cy="87"/>
            </a:xfrm>
            <a:prstGeom prst="rect">
              <a:avLst/>
            </a:prstGeom>
            <a:solidFill>
              <a:schemeClr val="folHlink"/>
            </a:solidFill>
            <a:ln w="9525">
              <a:noFill/>
              <a:miter lim="800000"/>
              <a:headEnd/>
              <a:tailEnd/>
            </a:ln>
          </p:spPr>
          <p:txBody>
            <a:bodyPr/>
            <a:lstStyle/>
            <a:p>
              <a:pPr eaLnBrk="1" hangingPunct="1">
                <a:defRPr/>
              </a:pPr>
              <a:endParaRPr lang="zh-TW" altLang="en-US">
                <a:solidFill>
                  <a:schemeClr val="hlink"/>
                </a:solidFill>
                <a:ea typeface="新細明體" pitchFamily="18" charset="-120"/>
              </a:endParaRPr>
            </a:p>
          </p:txBody>
        </p:sp>
        <p:sp>
          <p:nvSpPr>
            <p:cNvPr id="21515" name="Rectangle 11"/>
            <p:cNvSpPr>
              <a:spLocks noChangeArrowheads="1"/>
            </p:cNvSpPr>
            <p:nvPr/>
          </p:nvSpPr>
          <p:spPr bwMode="auto">
            <a:xfrm>
              <a:off x="83" y="86"/>
              <a:ext cx="89" cy="87"/>
            </a:xfrm>
            <a:prstGeom prst="rect">
              <a:avLst/>
            </a:prstGeom>
            <a:solidFill>
              <a:schemeClr val="bg2"/>
            </a:solidFill>
            <a:ln w="9525">
              <a:noFill/>
              <a:miter lim="800000"/>
              <a:headEnd/>
              <a:tailEnd/>
            </a:ln>
          </p:spPr>
          <p:txBody>
            <a:bodyPr/>
            <a:lstStyle/>
            <a:p>
              <a:pPr eaLnBrk="1" hangingPunct="1">
                <a:defRPr/>
              </a:pPr>
              <a:endParaRPr lang="zh-TW" altLang="en-US" sz="2400">
                <a:latin typeface="Times New Roman" pitchFamily="18" charset="0"/>
                <a:ea typeface="新細明體" pitchFamily="18" charset="-120"/>
              </a:endParaRPr>
            </a:p>
          </p:txBody>
        </p:sp>
        <p:sp>
          <p:nvSpPr>
            <p:cNvPr id="21516" name="Rectangle 12"/>
            <p:cNvSpPr>
              <a:spLocks noChangeArrowheads="1"/>
            </p:cNvSpPr>
            <p:nvPr/>
          </p:nvSpPr>
          <p:spPr bwMode="auto">
            <a:xfrm>
              <a:off x="258" y="171"/>
              <a:ext cx="87" cy="87"/>
            </a:xfrm>
            <a:prstGeom prst="rect">
              <a:avLst/>
            </a:prstGeom>
            <a:solidFill>
              <a:schemeClr val="accent2"/>
            </a:solidFill>
            <a:ln w="9525">
              <a:noFill/>
              <a:miter lim="800000"/>
              <a:headEnd/>
              <a:tailEnd/>
            </a:ln>
          </p:spPr>
          <p:txBody>
            <a:bodyPr/>
            <a:lstStyle/>
            <a:p>
              <a:pPr eaLnBrk="1" hangingPunct="1">
                <a:defRPr/>
              </a:pPr>
              <a:endParaRPr lang="zh-TW" altLang="en-US">
                <a:solidFill>
                  <a:schemeClr val="accent2"/>
                </a:solidFill>
                <a:ea typeface="新細明體" pitchFamily="18" charset="-120"/>
              </a:endParaRPr>
            </a:p>
          </p:txBody>
        </p:sp>
        <p:sp>
          <p:nvSpPr>
            <p:cNvPr id="21517" name="Rectangle 13"/>
            <p:cNvSpPr>
              <a:spLocks noChangeArrowheads="1"/>
            </p:cNvSpPr>
            <p:nvPr/>
          </p:nvSpPr>
          <p:spPr bwMode="auto">
            <a:xfrm>
              <a:off x="173" y="258"/>
              <a:ext cx="86" cy="86"/>
            </a:xfrm>
            <a:prstGeom prst="rect">
              <a:avLst/>
            </a:prstGeom>
            <a:solidFill>
              <a:schemeClr val="accent2"/>
            </a:solidFill>
            <a:ln w="9525">
              <a:noFill/>
              <a:miter lim="800000"/>
              <a:headEnd/>
              <a:tailEnd/>
            </a:ln>
          </p:spPr>
          <p:txBody>
            <a:bodyPr/>
            <a:lstStyle/>
            <a:p>
              <a:pPr eaLnBrk="1" hangingPunct="1">
                <a:defRPr/>
              </a:pPr>
              <a:endParaRPr lang="zh-TW" altLang="en-US">
                <a:solidFill>
                  <a:schemeClr val="accent2"/>
                </a:solidFill>
                <a:ea typeface="新細明體" pitchFamily="18" charset="-120"/>
              </a:endParaRPr>
            </a:p>
          </p:txBody>
        </p:sp>
      </p:grpSp>
      <p:sp>
        <p:nvSpPr>
          <p:cNvPr id="18437" name="Rectangle 14"/>
          <p:cNvSpPr>
            <a:spLocks noGrp="1" noChangeArrowheads="1"/>
          </p:cNvSpPr>
          <p:nvPr>
            <p:ph type="title"/>
          </p:nvPr>
        </p:nvSpPr>
        <p:spPr bwMode="auto">
          <a:xfrm>
            <a:off x="457200" y="457200"/>
            <a:ext cx="8229600" cy="13716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ltLang="zh-TW"/>
              <a:t>Click to edit Master title style</a:t>
            </a:r>
          </a:p>
        </p:txBody>
      </p:sp>
      <p:sp>
        <p:nvSpPr>
          <p:cNvPr id="18438" name="Rectangle 15"/>
          <p:cNvSpPr>
            <a:spLocks noGrp="1" noChangeArrowheads="1"/>
          </p:cNvSpPr>
          <p:nvPr>
            <p:ph type="body" idx="1"/>
          </p:nvPr>
        </p:nvSpPr>
        <p:spPr bwMode="auto">
          <a:xfrm>
            <a:off x="457200" y="1981200"/>
            <a:ext cx="8229600" cy="3886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p>
        </p:txBody>
      </p:sp>
      <p:sp>
        <p:nvSpPr>
          <p:cNvPr id="21520" name="Rectangle 16"/>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ea typeface="新細明體" pitchFamily="18" charset="-120"/>
              </a:defRPr>
            </a:lvl1pPr>
          </a:lstStyle>
          <a:p>
            <a:pPr>
              <a:defRPr/>
            </a:pPr>
            <a:endParaRPr lang="en-US" altLang="zh-TW"/>
          </a:p>
        </p:txBody>
      </p:sp>
    </p:spTree>
  </p:cSld>
  <p:clrMap bg1="lt1" tx1="dk1" bg2="lt2" tx2="dk2" accent1="accent1" accent2="accent2" accent3="accent3" accent4="accent4" accent5="accent5" accent6="accent6" hlink="hlink" folHlink="folHlink"/>
  <p:sldLayoutIdLst>
    <p:sldLayoutId id="2147483808" r:id="rId1"/>
    <p:sldLayoutId id="2147483798" r:id="rId2"/>
    <p:sldLayoutId id="2147483799" r:id="rId3"/>
    <p:sldLayoutId id="2147483800" r:id="rId4"/>
    <p:sldLayoutId id="2147483801" r:id="rId5"/>
    <p:sldLayoutId id="2147483802" r:id="rId6"/>
    <p:sldLayoutId id="2147483803" r:id="rId7"/>
    <p:sldLayoutId id="2147483804" r:id="rId8"/>
    <p:sldLayoutId id="2147483805" r:id="rId9"/>
    <p:sldLayoutId id="2147483806" r:id="rId10"/>
    <p:sldLayoutId id="2147483807" r:id="rId11"/>
    <p:sldLayoutId id="2147483809" r:id="rId12"/>
  </p:sldLayoutIdLst>
  <p:hf hdr="0" ftr="0" dt="0"/>
  <p:txStyles>
    <p:titleStyle>
      <a:lvl1pPr algn="l" rtl="0" eaLnBrk="0" fontAlgn="base" hangingPunct="0">
        <a:spcBef>
          <a:spcPct val="0"/>
        </a:spcBef>
        <a:spcAft>
          <a:spcPct val="0"/>
        </a:spcAft>
        <a:defRPr sz="4400">
          <a:solidFill>
            <a:schemeClr val="tx1"/>
          </a:solidFill>
          <a:latin typeface="+mj-lt"/>
          <a:ea typeface="+mj-ea"/>
          <a:cs typeface="+mj-cs"/>
        </a:defRPr>
      </a:lvl1pPr>
      <a:lvl2pPr algn="l" rtl="0" eaLnBrk="0" fontAlgn="base" hangingPunct="0">
        <a:spcBef>
          <a:spcPct val="0"/>
        </a:spcBef>
        <a:spcAft>
          <a:spcPct val="0"/>
        </a:spcAft>
        <a:defRPr sz="4400">
          <a:solidFill>
            <a:schemeClr val="tx1"/>
          </a:solidFill>
          <a:latin typeface="Arial" charset="0"/>
        </a:defRPr>
      </a:lvl2pPr>
      <a:lvl3pPr algn="l" rtl="0" eaLnBrk="0" fontAlgn="base" hangingPunct="0">
        <a:spcBef>
          <a:spcPct val="0"/>
        </a:spcBef>
        <a:spcAft>
          <a:spcPct val="0"/>
        </a:spcAft>
        <a:defRPr sz="4400">
          <a:solidFill>
            <a:schemeClr val="tx1"/>
          </a:solidFill>
          <a:latin typeface="Arial" charset="0"/>
        </a:defRPr>
      </a:lvl3pPr>
      <a:lvl4pPr algn="l" rtl="0" eaLnBrk="0" fontAlgn="base" hangingPunct="0">
        <a:spcBef>
          <a:spcPct val="0"/>
        </a:spcBef>
        <a:spcAft>
          <a:spcPct val="0"/>
        </a:spcAft>
        <a:defRPr sz="4400">
          <a:solidFill>
            <a:schemeClr val="tx1"/>
          </a:solidFill>
          <a:latin typeface="Arial" charset="0"/>
        </a:defRPr>
      </a:lvl4pPr>
      <a:lvl5pPr algn="l" rtl="0" eaLnBrk="0" fontAlgn="base" hangingPunct="0">
        <a:spcBef>
          <a:spcPct val="0"/>
        </a:spcBef>
        <a:spcAft>
          <a:spcPct val="0"/>
        </a:spcAft>
        <a:defRPr sz="4400">
          <a:solidFill>
            <a:schemeClr val="tx1"/>
          </a:solidFill>
          <a:latin typeface="Arial" charset="0"/>
        </a:defRPr>
      </a:lvl5pPr>
      <a:lvl6pPr marL="457200" algn="l" rtl="0" fontAlgn="base">
        <a:spcBef>
          <a:spcPct val="0"/>
        </a:spcBef>
        <a:spcAft>
          <a:spcPct val="0"/>
        </a:spcAft>
        <a:defRPr sz="4400">
          <a:solidFill>
            <a:schemeClr val="tx1"/>
          </a:solidFill>
          <a:latin typeface="Arial" charset="0"/>
        </a:defRPr>
      </a:lvl6pPr>
      <a:lvl7pPr marL="914400" algn="l" rtl="0" fontAlgn="base">
        <a:spcBef>
          <a:spcPct val="0"/>
        </a:spcBef>
        <a:spcAft>
          <a:spcPct val="0"/>
        </a:spcAft>
        <a:defRPr sz="4400">
          <a:solidFill>
            <a:schemeClr val="tx1"/>
          </a:solidFill>
          <a:latin typeface="Arial" charset="0"/>
        </a:defRPr>
      </a:lvl7pPr>
      <a:lvl8pPr marL="1371600" algn="l" rtl="0" fontAlgn="base">
        <a:spcBef>
          <a:spcPct val="0"/>
        </a:spcBef>
        <a:spcAft>
          <a:spcPct val="0"/>
        </a:spcAft>
        <a:defRPr sz="4400">
          <a:solidFill>
            <a:schemeClr val="tx1"/>
          </a:solidFill>
          <a:latin typeface="Arial" charset="0"/>
        </a:defRPr>
      </a:lvl8pPr>
      <a:lvl9pPr marL="1828800" algn="l" rtl="0" fontAlgn="base">
        <a:spcBef>
          <a:spcPct val="0"/>
        </a:spcBef>
        <a:spcAft>
          <a:spcPct val="0"/>
        </a:spcAft>
        <a:defRPr sz="4400">
          <a:solidFill>
            <a:schemeClr val="tx1"/>
          </a:solidFill>
          <a:latin typeface="Arial" charset="0"/>
        </a:defRPr>
      </a:lvl9pPr>
    </p:titleStyle>
    <p:bodyStyle>
      <a:lvl1pPr marL="342900" indent="-342900" algn="l" rtl="0" eaLnBrk="0" fontAlgn="base" hangingPunct="0">
        <a:spcBef>
          <a:spcPct val="20000"/>
        </a:spcBef>
        <a:spcAft>
          <a:spcPct val="0"/>
        </a:spcAft>
        <a:buClr>
          <a:schemeClr val="bg2"/>
        </a:buClr>
        <a:buSzPct val="75000"/>
        <a:buFont typeface="Wingdings" pitchFamily="2" charset="2"/>
        <a:buChar char="n"/>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2"/>
        </a:buClr>
        <a:buSzPct val="80000"/>
        <a:buFont typeface="Wingdings" pitchFamily="2" charset="2"/>
        <a:buChar char="¨"/>
        <a:defRPr sz="2800">
          <a:solidFill>
            <a:schemeClr val="tx1"/>
          </a:solidFill>
          <a:latin typeface="+mn-lt"/>
        </a:defRPr>
      </a:lvl2pPr>
      <a:lvl3pPr marL="1143000" indent="-228600" algn="l" rtl="0" eaLnBrk="0" fontAlgn="base" hangingPunct="0">
        <a:spcBef>
          <a:spcPct val="20000"/>
        </a:spcBef>
        <a:spcAft>
          <a:spcPct val="0"/>
        </a:spcAft>
        <a:buClr>
          <a:schemeClr val="bg2"/>
        </a:buClr>
        <a:buSzPct val="65000"/>
        <a:buFont typeface="Wingdings" pitchFamily="2" charset="2"/>
        <a:buChar char="n"/>
        <a:defRPr sz="2400">
          <a:solidFill>
            <a:schemeClr val="tx1"/>
          </a:solidFill>
          <a:latin typeface="+mn-lt"/>
        </a:defRPr>
      </a:lvl3pPr>
      <a:lvl4pPr marL="1600200" indent="-228600" algn="l" rtl="0" eaLnBrk="0" fontAlgn="base" hangingPunct="0">
        <a:spcBef>
          <a:spcPct val="20000"/>
        </a:spcBef>
        <a:spcAft>
          <a:spcPct val="0"/>
        </a:spcAft>
        <a:buClr>
          <a:schemeClr val="accent2"/>
        </a:buClr>
        <a:buSzPct val="70000"/>
        <a:buFont typeface="Wingdings" pitchFamily="2" charset="2"/>
        <a:buChar char="¨"/>
        <a:defRPr sz="2000">
          <a:solidFill>
            <a:schemeClr val="tx1"/>
          </a:solidFill>
          <a:latin typeface="+mn-lt"/>
        </a:defRPr>
      </a:lvl4pPr>
      <a:lvl5pPr marL="2057400" indent="-228600" algn="l" rtl="0" eaLnBrk="0" fontAlgn="base" hangingPunct="0">
        <a:spcBef>
          <a:spcPct val="20000"/>
        </a:spcBef>
        <a:spcAft>
          <a:spcPct val="0"/>
        </a:spcAft>
        <a:buClr>
          <a:schemeClr val="bg2"/>
        </a:buClr>
        <a:buFont typeface="Wingdings" pitchFamily="2" charset="2"/>
        <a:buChar char="§"/>
        <a:defRPr sz="2000">
          <a:solidFill>
            <a:schemeClr val="tx1"/>
          </a:solidFill>
          <a:latin typeface="+mn-lt"/>
        </a:defRPr>
      </a:lvl5pPr>
      <a:lvl6pPr marL="2514600" indent="-228600" algn="l" rtl="0" fontAlgn="base">
        <a:spcBef>
          <a:spcPct val="20000"/>
        </a:spcBef>
        <a:spcAft>
          <a:spcPct val="0"/>
        </a:spcAft>
        <a:buClr>
          <a:schemeClr val="bg2"/>
        </a:buClr>
        <a:buFont typeface="Wingdings" pitchFamily="2" charset="2"/>
        <a:buChar char="§"/>
        <a:defRPr sz="2000">
          <a:solidFill>
            <a:schemeClr val="tx1"/>
          </a:solidFill>
          <a:latin typeface="+mn-lt"/>
        </a:defRPr>
      </a:lvl6pPr>
      <a:lvl7pPr marL="2971800" indent="-228600" algn="l" rtl="0" fontAlgn="base">
        <a:spcBef>
          <a:spcPct val="20000"/>
        </a:spcBef>
        <a:spcAft>
          <a:spcPct val="0"/>
        </a:spcAft>
        <a:buClr>
          <a:schemeClr val="bg2"/>
        </a:buClr>
        <a:buFont typeface="Wingdings" pitchFamily="2" charset="2"/>
        <a:buChar char="§"/>
        <a:defRPr sz="2000">
          <a:solidFill>
            <a:schemeClr val="tx1"/>
          </a:solidFill>
          <a:latin typeface="+mn-lt"/>
        </a:defRPr>
      </a:lvl7pPr>
      <a:lvl8pPr marL="3429000" indent="-228600" algn="l" rtl="0" fontAlgn="base">
        <a:spcBef>
          <a:spcPct val="20000"/>
        </a:spcBef>
        <a:spcAft>
          <a:spcPct val="0"/>
        </a:spcAft>
        <a:buClr>
          <a:schemeClr val="bg2"/>
        </a:buClr>
        <a:buFont typeface="Wingdings" pitchFamily="2" charset="2"/>
        <a:buChar char="§"/>
        <a:defRPr sz="2000">
          <a:solidFill>
            <a:schemeClr val="tx1"/>
          </a:solidFill>
          <a:latin typeface="+mn-lt"/>
        </a:defRPr>
      </a:lvl8pPr>
      <a:lvl9pPr marL="3886200" indent="-228600" algn="l" rtl="0" fontAlgn="base">
        <a:spcBef>
          <a:spcPct val="20000"/>
        </a:spcBef>
        <a:spcAft>
          <a:spcPct val="0"/>
        </a:spcAft>
        <a:buClr>
          <a:schemeClr val="bg2"/>
        </a:buClr>
        <a:buFont typeface="Wingdings" pitchFamily="2" charset="2"/>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4.jpe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8.wmf"/></Relationships>
</file>

<file path=ppt/slides/_rels/slide11.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1.png"/><Relationship Id="rId4" Type="http://schemas.openxmlformats.org/officeDocument/2006/relationships/image" Target="../media/image10.gif"/></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7.wmf"/></Relationships>
</file>

<file path=ppt/slides/_rels/slide16.xml.rels><?xml version="1.0" encoding="UTF-8" standalone="yes"?>
<Relationships xmlns="http://schemas.openxmlformats.org/package/2006/relationships"><Relationship Id="rId2" Type="http://schemas.openxmlformats.org/officeDocument/2006/relationships/image" Target="../media/image18.gif"/><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oleObject" Target="../embeddings/oleObject3.bin"/><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oleObject" Target="../embeddings/oleObject6.bin"/><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26.wmf"/><Relationship Id="rId4" Type="http://schemas.openxmlformats.org/officeDocument/2006/relationships/oleObject" Target="../embeddings/oleObject7.bin"/></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26.wmf"/><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oleObject" Target="../embeddings/oleObject9.bin"/><Relationship Id="rId5" Type="http://schemas.openxmlformats.org/officeDocument/2006/relationships/image" Target="../media/image28.wmf"/><Relationship Id="rId4" Type="http://schemas.openxmlformats.org/officeDocument/2006/relationships/oleObject" Target="../embeddings/oleObject8.bin"/></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32.wmf"/><Relationship Id="rId5" Type="http://schemas.openxmlformats.org/officeDocument/2006/relationships/oleObject" Target="../embeddings/oleObject11.bin"/><Relationship Id="rId4" Type="http://schemas.openxmlformats.org/officeDocument/2006/relationships/image" Target="../media/image31.png"/></Relationships>
</file>

<file path=ppt/slides/_rels/slide27.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4.wm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35.wmf"/><Relationship Id="rId4" Type="http://schemas.openxmlformats.org/officeDocument/2006/relationships/oleObject" Target="../embeddings/oleObject13.bin"/></Relationships>
</file>

<file path=ppt/slides/_rels/slide30.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9.wmf"/><Relationship Id="rId2" Type="http://schemas.openxmlformats.org/officeDocument/2006/relationships/oleObject" Target="../embeddings/oleObject14.bin"/><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8" Type="http://schemas.openxmlformats.org/officeDocument/2006/relationships/image" Target="../media/image46.wmf"/><Relationship Id="rId3" Type="http://schemas.openxmlformats.org/officeDocument/2006/relationships/oleObject" Target="../embeddings/oleObject15.bin"/><Relationship Id="rId7" Type="http://schemas.openxmlformats.org/officeDocument/2006/relationships/oleObject" Target="../embeddings/oleObject17.bin"/><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45.wmf"/><Relationship Id="rId5" Type="http://schemas.openxmlformats.org/officeDocument/2006/relationships/oleObject" Target="../embeddings/oleObject16.bin"/><Relationship Id="rId4" Type="http://schemas.openxmlformats.org/officeDocument/2006/relationships/image" Target="../media/image44.wm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34.wmf"/><Relationship Id="rId2" Type="http://schemas.openxmlformats.org/officeDocument/2006/relationships/oleObject" Target="../embeddings/oleObject18.bin"/><Relationship Id="rId1" Type="http://schemas.openxmlformats.org/officeDocument/2006/relationships/slideLayout" Target="../slideLayouts/slideLayout7.xml"/><Relationship Id="rId4" Type="http://schemas.openxmlformats.org/officeDocument/2006/relationships/image" Target="../media/image51.png"/></Relationships>
</file>

<file path=ppt/slides/_rels/slide44.xml.rels><?xml version="1.0" encoding="UTF-8" standalone="yes"?>
<Relationships xmlns="http://schemas.openxmlformats.org/package/2006/relationships"><Relationship Id="rId2" Type="http://schemas.openxmlformats.org/officeDocument/2006/relationships/image" Target="../media/image52.wmf"/><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52.wmf"/><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56.jpeg"/><Relationship Id="rId5" Type="http://schemas.openxmlformats.org/officeDocument/2006/relationships/image" Target="../media/image54.png"/><Relationship Id="rId4" Type="http://schemas.openxmlformats.org/officeDocument/2006/relationships/image" Target="../media/image55.png"/></Relationships>
</file>

<file path=ppt/slides/_rels/slide48.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58.jpeg"/><Relationship Id="rId2" Type="http://schemas.openxmlformats.org/officeDocument/2006/relationships/image" Target="../media/image56.jpe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1.png"/><Relationship Id="rId1" Type="http://schemas.openxmlformats.org/officeDocument/2006/relationships/slideLayout" Target="../slideLayouts/slideLayout7.xml"/><Relationship Id="rId5" Type="http://schemas.openxmlformats.org/officeDocument/2006/relationships/image" Target="../media/image61.png"/><Relationship Id="rId4" Type="http://schemas.openxmlformats.org/officeDocument/2006/relationships/image" Target="../media/image6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image" Target="../media/image63.png"/><Relationship Id="rId1" Type="http://schemas.openxmlformats.org/officeDocument/2006/relationships/slideLayout" Target="../slideLayouts/slideLayout7.xml"/><Relationship Id="rId5" Type="http://schemas.openxmlformats.org/officeDocument/2006/relationships/image" Target="../media/image65.png"/><Relationship Id="rId4" Type="http://schemas.openxmlformats.org/officeDocument/2006/relationships/image" Target="../media/image64.wmf"/></Relationships>
</file>

<file path=ppt/slides/_rels/slide54.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notesSlide" Target="../notesSlides/notesSlide25.xml"/><Relationship Id="rId1" Type="http://schemas.openxmlformats.org/officeDocument/2006/relationships/slideLayout" Target="../slideLayouts/slideLayout7.xml"/><Relationship Id="rId4" Type="http://schemas.openxmlformats.org/officeDocument/2006/relationships/image" Target="../media/image68.wmf"/></Relationships>
</file>

<file path=ppt/slides/_rels/slide58.xml.rels><?xml version="1.0" encoding="UTF-8" standalone="yes"?>
<Relationships xmlns="http://schemas.openxmlformats.org/package/2006/relationships"><Relationship Id="rId3" Type="http://schemas.openxmlformats.org/officeDocument/2006/relationships/image" Target="../media/image70.jpeg"/><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72.wmf"/><Relationship Id="rId2" Type="http://schemas.openxmlformats.org/officeDocument/2006/relationships/image" Target="../media/image71.wmf"/><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52.wmf"/><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wmf"/><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81.wmf"/><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82.wmf"/><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83.wmf"/><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84.wmf"/></Relationships>
</file>

<file path=ppt/slides/_rels/slide75.xml.rels><?xml version="1.0" encoding="UTF-8" standalone="yes"?>
<Relationships xmlns="http://schemas.openxmlformats.org/package/2006/relationships"><Relationship Id="rId2" Type="http://schemas.openxmlformats.org/officeDocument/2006/relationships/image" Target="../media/image85.wm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86.wm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87.wmf"/><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89.emf"/><Relationship Id="rId2" Type="http://schemas.openxmlformats.org/officeDocument/2006/relationships/image" Target="../media/image88.wmf"/><Relationship Id="rId1" Type="http://schemas.openxmlformats.org/officeDocument/2006/relationships/slideLayout" Target="../slideLayouts/slideLayout7.xml"/><Relationship Id="rId4" Type="http://schemas.openxmlformats.org/officeDocument/2006/relationships/image" Target="../media/image90.wmf"/></Relationships>
</file>

<file path=ppt/slides/_rels/slide79.xml.rels><?xml version="1.0" encoding="UTF-8" standalone="yes"?>
<Relationships xmlns="http://schemas.openxmlformats.org/package/2006/relationships"><Relationship Id="rId2" Type="http://schemas.openxmlformats.org/officeDocument/2006/relationships/image" Target="../media/image91.wmf"/><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92.wmf"/><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93.wmf"/><Relationship Id="rId2" Type="http://schemas.openxmlformats.org/officeDocument/2006/relationships/notesSlide" Target="../notesSlides/notesSlide28.xml"/><Relationship Id="rId1" Type="http://schemas.openxmlformats.org/officeDocument/2006/relationships/slideLayout" Target="../slideLayouts/slideLayout7.xml"/><Relationship Id="rId5" Type="http://schemas.openxmlformats.org/officeDocument/2006/relationships/image" Target="../media/image95.png"/><Relationship Id="rId4" Type="http://schemas.openxmlformats.org/officeDocument/2006/relationships/image" Target="../media/image94.jpeg"/></Relationships>
</file>

<file path=ppt/slides/_rels/slide82.xml.rels><?xml version="1.0" encoding="UTF-8" standalone="yes"?>
<Relationships xmlns="http://schemas.openxmlformats.org/package/2006/relationships"><Relationship Id="rId3" Type="http://schemas.openxmlformats.org/officeDocument/2006/relationships/image" Target="../media/image96.wmf"/><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97.wmf"/><Relationship Id="rId2" Type="http://schemas.openxmlformats.org/officeDocument/2006/relationships/oleObject" Target="../embeddings/oleObject21.bin"/><Relationship Id="rId1" Type="http://schemas.openxmlformats.org/officeDocument/2006/relationships/slideLayout" Target="../slideLayouts/slideLayout7.xml"/><Relationship Id="rId4" Type="http://schemas.openxmlformats.org/officeDocument/2006/relationships/image" Target="../media/image98.png"/></Relationships>
</file>

<file path=ppt/slides/_rels/slide85.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wmf"/><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01.wmf"/><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image" Target="../media/image102.wmf"/><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104.wmf"/><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3" Type="http://schemas.openxmlformats.org/officeDocument/2006/relationships/image" Target="../media/image105.jpeg"/><Relationship Id="rId2" Type="http://schemas.openxmlformats.org/officeDocument/2006/relationships/hyperlink" Target="http://www.youtube.com/watch?v=kK5OBNJwnws"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ctrTitle"/>
          </p:nvPr>
        </p:nvSpPr>
        <p:spPr/>
        <p:txBody>
          <a:bodyPr/>
          <a:lstStyle/>
          <a:p>
            <a:pPr eaLnBrk="1" hangingPunct="1"/>
            <a:r>
              <a:rPr lang="en-US" altLang="zh-TW" sz="4800" dirty="0">
                <a:solidFill>
                  <a:schemeClr val="bg1"/>
                </a:solidFill>
                <a:latin typeface="Georgia" panose="02040502050405020303" pitchFamily="18" charset="0"/>
              </a:rPr>
              <a:t>AMSC 5710</a:t>
            </a:r>
            <a:br>
              <a:rPr lang="en-US" altLang="zh-TW" sz="4800" dirty="0">
                <a:solidFill>
                  <a:schemeClr val="tx1"/>
                </a:solidFill>
                <a:latin typeface="Georgia" panose="02040502050405020303" pitchFamily="18" charset="0"/>
              </a:rPr>
            </a:br>
            <a:r>
              <a:rPr lang="en-US" altLang="zh-TW" sz="4800" dirty="0">
                <a:latin typeface="Georgia" panose="02040502050405020303" pitchFamily="18" charset="0"/>
              </a:rPr>
              <a:t>Advanced Materials Characterization</a:t>
            </a:r>
            <a:endParaRPr lang="en-US" altLang="zh-TW" sz="4000" dirty="0">
              <a:ea typeface="新細明體" pitchFamily="18" charset="-120"/>
            </a:endParaRPr>
          </a:p>
        </p:txBody>
      </p:sp>
      <p:sp>
        <p:nvSpPr>
          <p:cNvPr id="4" name="Subtitle 2">
            <a:extLst>
              <a:ext uri="{FF2B5EF4-FFF2-40B4-BE49-F238E27FC236}">
                <a16:creationId xmlns:a16="http://schemas.microsoft.com/office/drawing/2014/main" id="{2EB95696-29F5-AD58-FF82-A026A7957313}"/>
              </a:ext>
            </a:extLst>
          </p:cNvPr>
          <p:cNvSpPr>
            <a:spLocks noGrp="1"/>
          </p:cNvSpPr>
          <p:nvPr>
            <p:ph type="subTitle" idx="1"/>
          </p:nvPr>
        </p:nvSpPr>
        <p:spPr>
          <a:xfrm>
            <a:off x="533400" y="4267200"/>
            <a:ext cx="8382000" cy="2362200"/>
          </a:xfrm>
        </p:spPr>
        <p:txBody>
          <a:bodyPr/>
          <a:lstStyle/>
          <a:p>
            <a:r>
              <a:rPr lang="en-HK" sz="2800" b="1" dirty="0">
                <a:latin typeface="Times New Roman" panose="02020603050405020304" pitchFamily="18" charset="0"/>
                <a:cs typeface="Times New Roman" panose="02020603050405020304" pitchFamily="18" charset="0"/>
              </a:rPr>
              <a:t>XPS, AES, and UPS</a:t>
            </a:r>
          </a:p>
          <a:p>
            <a:endParaRPr lang="en-HK" sz="2800" dirty="0">
              <a:latin typeface="Times New Roman" panose="02020603050405020304" pitchFamily="18" charset="0"/>
              <a:cs typeface="Times New Roman" panose="02020603050405020304" pitchFamily="18" charset="0"/>
            </a:endParaRPr>
          </a:p>
          <a:p>
            <a:r>
              <a:rPr lang="en-HK" sz="2800" dirty="0">
                <a:latin typeface="Times New Roman" panose="02020603050405020304" pitchFamily="18" charset="0"/>
                <a:cs typeface="Times New Roman" panose="02020603050405020304" pitchFamily="18" charset="0"/>
              </a:rPr>
              <a:t>Analysis of characteristic electrons for chemical and electronic information</a:t>
            </a: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924845" y="1676400"/>
            <a:ext cx="2116285" cy="830997"/>
          </a:xfrm>
          <a:prstGeom prst="rect">
            <a:avLst/>
          </a:prstGeom>
          <a:noFill/>
        </p:spPr>
        <p:txBody>
          <a:bodyPr wrap="none" rtlCol="0">
            <a:spAutoFit/>
          </a:bodyPr>
          <a:lstStyle/>
          <a:p>
            <a:pPr algn="ctr"/>
            <a:r>
              <a:rPr lang="en-US" sz="2400" dirty="0">
                <a:latin typeface="Georgia" panose="02040502050405020303" pitchFamily="18" charset="0"/>
              </a:rPr>
              <a:t>Primary beam</a:t>
            </a:r>
          </a:p>
          <a:p>
            <a:pPr algn="ctr"/>
            <a:r>
              <a:rPr lang="en-US" sz="2400" dirty="0">
                <a:latin typeface="Georgia" panose="02040502050405020303" pitchFamily="18" charset="0"/>
              </a:rPr>
              <a:t>(source)</a:t>
            </a:r>
          </a:p>
        </p:txBody>
      </p:sp>
      <p:sp>
        <p:nvSpPr>
          <p:cNvPr id="6" name="TextBox 5"/>
          <p:cNvSpPr txBox="1"/>
          <p:nvPr/>
        </p:nvSpPr>
        <p:spPr>
          <a:xfrm>
            <a:off x="5633450" y="1676400"/>
            <a:ext cx="2427268" cy="830997"/>
          </a:xfrm>
          <a:prstGeom prst="rect">
            <a:avLst/>
          </a:prstGeom>
          <a:noFill/>
        </p:spPr>
        <p:txBody>
          <a:bodyPr wrap="none" rtlCol="0">
            <a:spAutoFit/>
          </a:bodyPr>
          <a:lstStyle/>
          <a:p>
            <a:pPr algn="ctr"/>
            <a:r>
              <a:rPr lang="en-US" sz="2400" dirty="0">
                <a:latin typeface="Georgia" panose="02040502050405020303" pitchFamily="18" charset="0"/>
              </a:rPr>
              <a:t>Secondary beam</a:t>
            </a:r>
          </a:p>
          <a:p>
            <a:pPr algn="ctr"/>
            <a:r>
              <a:rPr lang="en-US" sz="2400" dirty="0">
                <a:latin typeface="Georgia" panose="02040502050405020303" pitchFamily="18" charset="0"/>
              </a:rPr>
              <a:t>(result)</a:t>
            </a:r>
          </a:p>
        </p:txBody>
      </p:sp>
      <p:sp>
        <p:nvSpPr>
          <p:cNvPr id="7" name="TextBox 6"/>
          <p:cNvSpPr txBox="1"/>
          <p:nvPr/>
        </p:nvSpPr>
        <p:spPr>
          <a:xfrm>
            <a:off x="1409754" y="3606485"/>
            <a:ext cx="1492716" cy="1200329"/>
          </a:xfrm>
          <a:prstGeom prst="rect">
            <a:avLst/>
          </a:prstGeom>
          <a:noFill/>
        </p:spPr>
        <p:txBody>
          <a:bodyPr wrap="none" rtlCol="0">
            <a:spAutoFit/>
          </a:bodyPr>
          <a:lstStyle/>
          <a:p>
            <a:r>
              <a:rPr lang="en-US" sz="2400" b="1" dirty="0">
                <a:solidFill>
                  <a:srgbClr val="FF0000"/>
                </a:solidFill>
                <a:latin typeface="Georgia" panose="02040502050405020303" pitchFamily="18" charset="0"/>
              </a:rPr>
              <a:t>Photons</a:t>
            </a:r>
          </a:p>
          <a:p>
            <a:r>
              <a:rPr lang="en-US" sz="2400" dirty="0">
                <a:solidFill>
                  <a:schemeClr val="tx2"/>
                </a:solidFill>
                <a:latin typeface="Georgia" panose="02040502050405020303" pitchFamily="18" charset="0"/>
              </a:rPr>
              <a:t>Electrons</a:t>
            </a:r>
          </a:p>
          <a:p>
            <a:r>
              <a:rPr lang="en-US" sz="2400" dirty="0">
                <a:latin typeface="Georgia" panose="02040502050405020303" pitchFamily="18" charset="0"/>
              </a:rPr>
              <a:t>…</a:t>
            </a:r>
          </a:p>
        </p:txBody>
      </p:sp>
      <p:sp>
        <p:nvSpPr>
          <p:cNvPr id="8" name="TextBox 7"/>
          <p:cNvSpPr txBox="1"/>
          <p:nvPr/>
        </p:nvSpPr>
        <p:spPr>
          <a:xfrm>
            <a:off x="6019800" y="3329486"/>
            <a:ext cx="1697901" cy="1569660"/>
          </a:xfrm>
          <a:prstGeom prst="rect">
            <a:avLst/>
          </a:prstGeom>
          <a:noFill/>
        </p:spPr>
        <p:txBody>
          <a:bodyPr wrap="none" rtlCol="0">
            <a:spAutoFit/>
          </a:bodyPr>
          <a:lstStyle/>
          <a:p>
            <a:r>
              <a:rPr lang="en-US" sz="2400" dirty="0">
                <a:latin typeface="Georgia" panose="02040502050405020303" pitchFamily="18" charset="0"/>
              </a:rPr>
              <a:t>Photons</a:t>
            </a:r>
          </a:p>
          <a:p>
            <a:r>
              <a:rPr lang="en-US" sz="2400" b="1" dirty="0">
                <a:solidFill>
                  <a:srgbClr val="FF0000"/>
                </a:solidFill>
                <a:latin typeface="Georgia" panose="02040502050405020303" pitchFamily="18" charset="0"/>
              </a:rPr>
              <a:t>Electrons</a:t>
            </a:r>
          </a:p>
          <a:p>
            <a:r>
              <a:rPr lang="en-US" sz="2400" dirty="0">
                <a:latin typeface="Georgia" panose="02040502050405020303" pitchFamily="18" charset="0"/>
              </a:rPr>
              <a:t>Phonons</a:t>
            </a:r>
          </a:p>
          <a:p>
            <a:r>
              <a:rPr lang="en-US" sz="2400" dirty="0">
                <a:latin typeface="Georgia" panose="02040502050405020303" pitchFamily="18" charset="0"/>
              </a:rPr>
              <a:t>…</a:t>
            </a:r>
          </a:p>
        </p:txBody>
      </p:sp>
      <p:sp>
        <p:nvSpPr>
          <p:cNvPr id="9" name="Right Arrow 8"/>
          <p:cNvSpPr/>
          <p:nvPr/>
        </p:nvSpPr>
        <p:spPr bwMode="auto">
          <a:xfrm>
            <a:off x="3049870" y="3805257"/>
            <a:ext cx="381000" cy="152572"/>
          </a:xfrm>
          <a:prstGeom prst="rightArrow">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Georgia" panose="02040502050405020303" pitchFamily="18" charset="0"/>
            </a:endParaRPr>
          </a:p>
        </p:txBody>
      </p:sp>
      <p:sp>
        <p:nvSpPr>
          <p:cNvPr id="10" name="Right Arrow 9"/>
          <p:cNvSpPr/>
          <p:nvPr/>
        </p:nvSpPr>
        <p:spPr bwMode="auto">
          <a:xfrm>
            <a:off x="5112009" y="3911113"/>
            <a:ext cx="381000" cy="152572"/>
          </a:xfrm>
          <a:prstGeom prst="rightArrow">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Georgia" panose="02040502050405020303" pitchFamily="18" charset="0"/>
            </a:endParaRPr>
          </a:p>
        </p:txBody>
      </p:sp>
      <p:sp>
        <p:nvSpPr>
          <p:cNvPr id="2" name="Slide Number Placeholder 1">
            <a:extLst>
              <a:ext uri="{FF2B5EF4-FFF2-40B4-BE49-F238E27FC236}">
                <a16:creationId xmlns:a16="http://schemas.microsoft.com/office/drawing/2014/main" id="{5F6985E1-D748-4F9C-89C2-B00098D4DCB4}"/>
              </a:ext>
            </a:extLst>
          </p:cNvPr>
          <p:cNvSpPr>
            <a:spLocks noGrp="1"/>
          </p:cNvSpPr>
          <p:nvPr>
            <p:ph type="sldNum" sz="quarter" idx="11"/>
          </p:nvPr>
        </p:nvSpPr>
        <p:spPr/>
        <p:txBody>
          <a:bodyPr/>
          <a:lstStyle/>
          <a:p>
            <a:pPr>
              <a:defRPr/>
            </a:pPr>
            <a:fld id="{EBF73BDF-690D-4725-BA10-A7934ED52EAB}" type="slidenum">
              <a:rPr lang="zh-TW" altLang="en-US" smtClean="0"/>
              <a:pPr>
                <a:defRPr/>
              </a:pPr>
              <a:t>2</a:t>
            </a:fld>
            <a:endParaRPr lang="en-US" altLang="zh-TW"/>
          </a:p>
        </p:txBody>
      </p:sp>
      <p:pic>
        <p:nvPicPr>
          <p:cNvPr id="3" name="Picture 2" descr="A white rabbit with a black background&#10;&#10;Description automatically generated with low confidence">
            <a:extLst>
              <a:ext uri="{FF2B5EF4-FFF2-40B4-BE49-F238E27FC236}">
                <a16:creationId xmlns:a16="http://schemas.microsoft.com/office/drawing/2014/main" id="{DF76245A-BF0F-FC2C-E490-9040117F377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032912" y="2345245"/>
            <a:ext cx="2311088" cy="2311088"/>
          </a:xfrm>
          <a:prstGeom prst="rect">
            <a:avLst/>
          </a:prstGeom>
        </p:spPr>
      </p:pic>
      <p:sp>
        <p:nvSpPr>
          <p:cNvPr id="11" name="TextBox 10">
            <a:extLst>
              <a:ext uri="{FF2B5EF4-FFF2-40B4-BE49-F238E27FC236}">
                <a16:creationId xmlns:a16="http://schemas.microsoft.com/office/drawing/2014/main" id="{3E694B14-7E95-761A-02FA-B33578CEA0F2}"/>
              </a:ext>
            </a:extLst>
          </p:cNvPr>
          <p:cNvSpPr txBox="1"/>
          <p:nvPr/>
        </p:nvSpPr>
        <p:spPr>
          <a:xfrm>
            <a:off x="2138937" y="5121070"/>
            <a:ext cx="6014463" cy="954107"/>
          </a:xfrm>
          <a:prstGeom prst="rect">
            <a:avLst/>
          </a:prstGeom>
          <a:noFill/>
        </p:spPr>
        <p:txBody>
          <a:bodyPr wrap="square">
            <a:spAutoFit/>
          </a:bodyPr>
          <a:lstStyle/>
          <a:p>
            <a:pPr algn="just"/>
            <a:r>
              <a:rPr lang="en-US" altLang="zh-TW" sz="2400" b="1" dirty="0">
                <a:solidFill>
                  <a:srgbClr val="FF0000"/>
                </a:solidFill>
                <a:latin typeface="Georgia" panose="02040502050405020303" pitchFamily="18" charset="0"/>
                <a:ea typeface="新細明體" pitchFamily="18" charset="-120"/>
              </a:rPr>
              <a:t>X-ray                               Photo </a:t>
            </a:r>
            <a:r>
              <a:rPr lang="en-US" sz="2400" b="1" dirty="0">
                <a:solidFill>
                  <a:srgbClr val="FF0000"/>
                </a:solidFill>
                <a:latin typeface="Georgia" panose="02040502050405020303" pitchFamily="18" charset="0"/>
              </a:rPr>
              <a:t>Electrons </a:t>
            </a:r>
          </a:p>
          <a:p>
            <a:pPr algn="just"/>
            <a:r>
              <a:rPr lang="en-US" sz="800" b="1" dirty="0">
                <a:solidFill>
                  <a:srgbClr val="FF0000"/>
                </a:solidFill>
                <a:latin typeface="Georgia" panose="02040502050405020303" pitchFamily="18" charset="0"/>
              </a:rPr>
              <a:t>                </a:t>
            </a:r>
          </a:p>
          <a:p>
            <a:pPr algn="just"/>
            <a:r>
              <a:rPr lang="en-US" sz="2400" b="1" dirty="0">
                <a:solidFill>
                  <a:srgbClr val="FF0000"/>
                </a:solidFill>
                <a:latin typeface="Georgia" panose="02040502050405020303" pitchFamily="18" charset="0"/>
              </a:rPr>
              <a:t>                  </a:t>
            </a:r>
            <a:r>
              <a:rPr lang="en-US" sz="2400" b="1" dirty="0">
                <a:latin typeface="Georgia" panose="02040502050405020303" pitchFamily="18" charset="0"/>
              </a:rPr>
              <a:t>Spectroscopy </a:t>
            </a:r>
            <a:endParaRPr lang="en-US" altLang="zh-TW" sz="2400" b="1" dirty="0">
              <a:solidFill>
                <a:srgbClr val="FF0000"/>
              </a:solidFill>
              <a:latin typeface="Georgia" panose="02040502050405020303" pitchFamily="18" charset="0"/>
              <a:ea typeface="新細明體" pitchFamily="18" charset="-120"/>
            </a:endParaRPr>
          </a:p>
        </p:txBody>
      </p:sp>
    </p:spTree>
    <p:extLst>
      <p:ext uri="{BB962C8B-B14F-4D97-AF65-F5344CB8AC3E}">
        <p14:creationId xmlns:p14="http://schemas.microsoft.com/office/powerpoint/2010/main" val="35473091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ext Box 4"/>
          <p:cNvSpPr txBox="1">
            <a:spLocks noChangeArrowheads="1"/>
          </p:cNvSpPr>
          <p:nvPr/>
        </p:nvSpPr>
        <p:spPr bwMode="auto">
          <a:xfrm>
            <a:off x="457200" y="848652"/>
            <a:ext cx="8229600" cy="5647700"/>
          </a:xfrm>
          <a:prstGeom prst="rect">
            <a:avLst/>
          </a:prstGeom>
          <a:noFill/>
          <a:ln w="9525">
            <a:noFill/>
            <a:miter lim="800000"/>
            <a:headEnd/>
            <a:tailEnd/>
          </a:ln>
        </p:spPr>
        <p:txBody>
          <a:bodyPr wrap="square">
            <a:spAutoFit/>
          </a:bodyPr>
          <a:lstStyle/>
          <a:p>
            <a:pPr marL="176213" indent="-176213" algn="just">
              <a:buFontTx/>
              <a:buChar char="•"/>
            </a:pPr>
            <a:r>
              <a:rPr lang="en-US" altLang="zh-TW" sz="2400" dirty="0">
                <a:solidFill>
                  <a:srgbClr val="7030A0"/>
                </a:solidFill>
                <a:latin typeface="Georgia" panose="02040502050405020303" pitchFamily="18" charset="0"/>
                <a:ea typeface="新細明體" pitchFamily="18" charset="-120"/>
              </a:rPr>
              <a:t>X-ray photoelectron spectroscopy, XPS </a:t>
            </a:r>
            <a:r>
              <a:rPr lang="en-US" altLang="zh-TW" sz="2400" dirty="0">
                <a:latin typeface="Georgia" panose="02040502050405020303" pitchFamily="18" charset="0"/>
                <a:ea typeface="新細明體" pitchFamily="18" charset="-120"/>
              </a:rPr>
              <a:t>is also known as “Electron Spectroscopy for Chemical Analysis (ESCA).</a:t>
            </a:r>
          </a:p>
          <a:p>
            <a:pPr marL="176213" indent="-176213" algn="just">
              <a:buFontTx/>
              <a:buChar char="•"/>
            </a:pPr>
            <a:endParaRPr lang="en-US" altLang="zh-TW" sz="800" dirty="0">
              <a:latin typeface="Georgia" panose="02040502050405020303" pitchFamily="18" charset="0"/>
              <a:ea typeface="新細明體" pitchFamily="18" charset="-120"/>
            </a:endParaRPr>
          </a:p>
          <a:p>
            <a:pPr marL="176213" indent="-176213" algn="just">
              <a:buFontTx/>
              <a:buChar char="•"/>
            </a:pPr>
            <a:r>
              <a:rPr lang="en-US" altLang="zh-TW" sz="2400" dirty="0">
                <a:latin typeface="Georgia" panose="02040502050405020303" pitchFamily="18" charset="0"/>
                <a:ea typeface="新細明體" pitchFamily="18" charset="-120"/>
              </a:rPr>
              <a:t>It belongs to a family of </a:t>
            </a:r>
            <a:r>
              <a:rPr lang="en-US" altLang="zh-TW" sz="2400" dirty="0">
                <a:solidFill>
                  <a:srgbClr val="7030A0"/>
                </a:solidFill>
                <a:latin typeface="Georgia" panose="02040502050405020303" pitchFamily="18" charset="0"/>
                <a:ea typeface="新細明體" pitchFamily="18" charset="-120"/>
              </a:rPr>
              <a:t>Photoemission Spectroscopy (PES)</a:t>
            </a:r>
            <a:r>
              <a:rPr lang="en-US" altLang="zh-TW" sz="2400" dirty="0">
                <a:latin typeface="Georgia" panose="02040502050405020303" pitchFamily="18" charset="0"/>
                <a:ea typeface="新細明體" pitchFamily="18" charset="-120"/>
              </a:rPr>
              <a:t>, in which a photon source is used to excite a sample surface, the energy of those electrons ejected after the photoemission process (photoelectrons) are detected and analyzed.  </a:t>
            </a:r>
            <a:r>
              <a:rPr lang="en-US" altLang="zh-TW" sz="2400" dirty="0">
                <a:solidFill>
                  <a:srgbClr val="7030A0"/>
                </a:solidFill>
                <a:latin typeface="Georgia" panose="02040502050405020303" pitchFamily="18" charset="0"/>
                <a:ea typeface="新細明體" pitchFamily="18" charset="-120"/>
              </a:rPr>
              <a:t>(Principle)</a:t>
            </a:r>
          </a:p>
          <a:p>
            <a:pPr marL="176213" indent="-176213" algn="just">
              <a:buFontTx/>
              <a:buChar char="•"/>
            </a:pPr>
            <a:endParaRPr lang="en-US" altLang="zh-TW" sz="800" dirty="0">
              <a:latin typeface="Georgia" panose="02040502050405020303" pitchFamily="18" charset="0"/>
              <a:ea typeface="新細明體" pitchFamily="18" charset="-120"/>
            </a:endParaRPr>
          </a:p>
          <a:p>
            <a:pPr marL="176213" indent="-176213" algn="just">
              <a:buFontTx/>
              <a:buChar char="•"/>
            </a:pPr>
            <a:r>
              <a:rPr lang="en-US" altLang="zh-TW" sz="2400" dirty="0">
                <a:solidFill>
                  <a:srgbClr val="7030A0"/>
                </a:solidFill>
                <a:latin typeface="Georgia" panose="02040502050405020303" pitchFamily="18" charset="0"/>
                <a:ea typeface="新細明體" pitchFamily="18" charset="-120"/>
              </a:rPr>
              <a:t>XPS, UPS, and AES</a:t>
            </a:r>
          </a:p>
          <a:p>
            <a:pPr marL="633413" lvl="1" indent="-176213" algn="just">
              <a:buFontTx/>
              <a:buChar char="•"/>
            </a:pPr>
            <a:r>
              <a:rPr lang="en-US" altLang="zh-TW" sz="2000" dirty="0">
                <a:latin typeface="Georgia" panose="02040502050405020303" pitchFamily="18" charset="0"/>
                <a:ea typeface="新細明體" pitchFamily="18" charset="-120"/>
              </a:rPr>
              <a:t>If x-ray is used as the photon source, the technique is named as “</a:t>
            </a:r>
            <a:r>
              <a:rPr lang="en-US" altLang="zh-TW" sz="2000" dirty="0">
                <a:solidFill>
                  <a:srgbClr val="7030A0"/>
                </a:solidFill>
                <a:latin typeface="Georgia" panose="02040502050405020303" pitchFamily="18" charset="0"/>
                <a:ea typeface="新細明體" pitchFamily="18" charset="-120"/>
              </a:rPr>
              <a:t>X-ray Photoelectron Spectroscopy (XPS)</a:t>
            </a:r>
            <a:r>
              <a:rPr lang="en-US" altLang="zh-TW" sz="2000" dirty="0">
                <a:latin typeface="Georgia" panose="02040502050405020303" pitchFamily="18" charset="0"/>
                <a:ea typeface="新細明體" pitchFamily="18" charset="-120"/>
              </a:rPr>
              <a:t>”.</a:t>
            </a:r>
          </a:p>
          <a:p>
            <a:pPr marL="633413" lvl="1" indent="-176213" algn="just">
              <a:buFontTx/>
              <a:buChar char="•"/>
            </a:pPr>
            <a:endParaRPr lang="en-US" altLang="zh-TW" sz="800" dirty="0">
              <a:latin typeface="Georgia" panose="02040502050405020303" pitchFamily="18" charset="0"/>
              <a:ea typeface="新細明體" pitchFamily="18" charset="-120"/>
            </a:endParaRPr>
          </a:p>
          <a:p>
            <a:pPr marL="633413" lvl="1" indent="-176213" algn="just">
              <a:spcAft>
                <a:spcPts val="600"/>
              </a:spcAft>
              <a:buFontTx/>
              <a:buChar char="•"/>
            </a:pPr>
            <a:r>
              <a:rPr lang="en-US" altLang="zh-TW" sz="2000" dirty="0">
                <a:latin typeface="Georgia" panose="02040502050405020303" pitchFamily="18" charset="0"/>
                <a:ea typeface="新細明體" pitchFamily="18" charset="-120"/>
              </a:rPr>
              <a:t>If UV source is used instead, the technique is called the “</a:t>
            </a:r>
            <a:r>
              <a:rPr lang="en-US" altLang="zh-TW" sz="2000" dirty="0">
                <a:solidFill>
                  <a:srgbClr val="7030A0"/>
                </a:solidFill>
                <a:latin typeface="Georgia" panose="02040502050405020303" pitchFamily="18" charset="0"/>
                <a:ea typeface="新細明體" pitchFamily="18" charset="-120"/>
              </a:rPr>
              <a:t>Ultraviolet Photoemission Spectroscopy (UPS)</a:t>
            </a:r>
            <a:r>
              <a:rPr lang="en-US" altLang="zh-TW" sz="2000" dirty="0">
                <a:latin typeface="Georgia" panose="02040502050405020303" pitchFamily="18" charset="0"/>
                <a:ea typeface="新細明體" pitchFamily="18" charset="-120"/>
              </a:rPr>
              <a:t>”</a:t>
            </a:r>
          </a:p>
          <a:p>
            <a:pPr marL="633413" lvl="1" indent="-176213" algn="just">
              <a:spcAft>
                <a:spcPts val="600"/>
              </a:spcAft>
              <a:buFontTx/>
              <a:buChar char="•"/>
            </a:pPr>
            <a:r>
              <a:rPr lang="en-US" altLang="zh-TW" sz="2000" dirty="0">
                <a:latin typeface="Georgia" panose="02040502050405020303" pitchFamily="18" charset="0"/>
                <a:ea typeface="新細明體" pitchFamily="18" charset="-120"/>
              </a:rPr>
              <a:t>A relevant technique come together with XPS is </a:t>
            </a:r>
            <a:r>
              <a:rPr lang="en-US" altLang="zh-TW" sz="2000" dirty="0">
                <a:solidFill>
                  <a:srgbClr val="7030A0"/>
                </a:solidFill>
                <a:latin typeface="Georgia" panose="02040502050405020303" pitchFamily="18" charset="0"/>
                <a:ea typeface="新細明體" pitchFamily="18" charset="-120"/>
              </a:rPr>
              <a:t>Auger Electron spectroscopy (AES)</a:t>
            </a:r>
            <a:r>
              <a:rPr lang="en-US" altLang="zh-TW" sz="2000" dirty="0">
                <a:latin typeface="Georgia" panose="02040502050405020303" pitchFamily="18" charset="0"/>
                <a:ea typeface="新細明體" pitchFamily="18" charset="-120"/>
              </a:rPr>
              <a:t>, which is dedicated to Auger electron analysis by changing the X-ray source to electron source.</a:t>
            </a:r>
            <a:endParaRPr lang="en-US" altLang="zh-TW" sz="800" dirty="0">
              <a:latin typeface="Georgia" panose="02040502050405020303" pitchFamily="18" charset="0"/>
              <a:ea typeface="新細明體" pitchFamily="18" charset="-120"/>
            </a:endParaRPr>
          </a:p>
        </p:txBody>
      </p:sp>
      <p:sp>
        <p:nvSpPr>
          <p:cNvPr id="22531" name="Rectangle 5"/>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endParaRPr lang="en-US" altLang="zh-TW">
              <a:solidFill>
                <a:schemeClr val="bg1"/>
              </a:solidFill>
              <a:ea typeface="新細明體" pitchFamily="18" charset="-120"/>
            </a:endParaRPr>
          </a:p>
        </p:txBody>
      </p:sp>
      <p:sp>
        <p:nvSpPr>
          <p:cNvPr id="22533" name="Rectangle 7"/>
          <p:cNvSpPr>
            <a:spLocks noChangeArrowheads="1"/>
          </p:cNvSpPr>
          <p:nvPr/>
        </p:nvSpPr>
        <p:spPr bwMode="auto">
          <a:xfrm>
            <a:off x="704850" y="228600"/>
            <a:ext cx="8229600" cy="457200"/>
          </a:xfrm>
          <a:prstGeom prst="rect">
            <a:avLst/>
          </a:prstGeom>
          <a:noFill/>
          <a:ln w="9525">
            <a:noFill/>
            <a:miter lim="800000"/>
            <a:headEnd/>
            <a:tailEnd/>
          </a:ln>
        </p:spPr>
        <p:txBody>
          <a:bodyPr anchor="ctr"/>
          <a:lstStyle/>
          <a:p>
            <a:pPr eaLnBrk="1" hangingPunct="1"/>
            <a:r>
              <a:rPr lang="en-US" altLang="zh-TW" dirty="0">
                <a:solidFill>
                  <a:schemeClr val="bg1"/>
                </a:solidFill>
                <a:latin typeface="Georgia" panose="02040502050405020303" pitchFamily="18" charset="0"/>
                <a:ea typeface="新細明體" pitchFamily="18" charset="-120"/>
              </a:rPr>
              <a:t>Nomenclature</a:t>
            </a:r>
          </a:p>
        </p:txBody>
      </p:sp>
      <p:sp>
        <p:nvSpPr>
          <p:cNvPr id="2" name="Slide Number Placeholder 1">
            <a:extLst>
              <a:ext uri="{FF2B5EF4-FFF2-40B4-BE49-F238E27FC236}">
                <a16:creationId xmlns:a16="http://schemas.microsoft.com/office/drawing/2014/main" id="{960E4B36-8A7E-4EBB-A430-9C7AE2BF8B15}"/>
              </a:ext>
            </a:extLst>
          </p:cNvPr>
          <p:cNvSpPr>
            <a:spLocks noGrp="1"/>
          </p:cNvSpPr>
          <p:nvPr>
            <p:ph type="sldNum" sz="quarter" idx="11"/>
          </p:nvPr>
        </p:nvSpPr>
        <p:spPr/>
        <p:txBody>
          <a:bodyPr/>
          <a:lstStyle/>
          <a:p>
            <a:pPr>
              <a:defRPr/>
            </a:pPr>
            <a:fld id="{EBF73BDF-690D-4725-BA10-A7934ED52EAB}" type="slidenum">
              <a:rPr lang="zh-TW" altLang="en-US" smtClean="0"/>
              <a:pPr>
                <a:defRPr/>
              </a:pPr>
              <a:t>3</a:t>
            </a:fld>
            <a:endParaRPr lang="en-US" altLang="zh-TW"/>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3828F-681D-F10A-C2E5-F974256AD8B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30EB458-94B2-EC70-EE00-D5AAA48CD284}"/>
              </a:ext>
            </a:extLst>
          </p:cNvPr>
          <p:cNvSpPr>
            <a:spLocks noGrp="1"/>
          </p:cNvSpPr>
          <p:nvPr>
            <p:ph type="sldNum" sz="quarter" idx="11"/>
          </p:nvPr>
        </p:nvSpPr>
        <p:spPr/>
        <p:txBody>
          <a:bodyPr/>
          <a:lstStyle/>
          <a:p>
            <a:pPr>
              <a:defRPr/>
            </a:pPr>
            <a:fld id="{EBF73BDF-690D-4725-BA10-A7934ED52EAB}" type="slidenum">
              <a:rPr lang="zh-TW" altLang="en-US" smtClean="0"/>
              <a:pPr>
                <a:defRPr/>
              </a:pPr>
              <a:t>4</a:t>
            </a:fld>
            <a:endParaRPr lang="en-US" altLang="zh-TW"/>
          </a:p>
        </p:txBody>
      </p:sp>
      <p:sp>
        <p:nvSpPr>
          <p:cNvPr id="4" name="Rectangle 3">
            <a:extLst>
              <a:ext uri="{FF2B5EF4-FFF2-40B4-BE49-F238E27FC236}">
                <a16:creationId xmlns:a16="http://schemas.microsoft.com/office/drawing/2014/main" id="{E08B6451-74C6-17E3-CDE7-0CBAA7E0CD05}"/>
              </a:ext>
            </a:extLst>
          </p:cNvPr>
          <p:cNvSpPr txBox="1">
            <a:spLocks noChangeArrowheads="1"/>
          </p:cNvSpPr>
          <p:nvPr/>
        </p:nvSpPr>
        <p:spPr>
          <a:xfrm>
            <a:off x="762000" y="2819400"/>
            <a:ext cx="8839200" cy="1752600"/>
          </a:xfrm>
          <a:prstGeom prst="rect">
            <a:avLst/>
          </a:prstGeom>
        </p:spPr>
        <p:txBody>
          <a:bodyPr/>
          <a:lstStyle>
            <a:lvl1pPr marL="342900" indent="-342900" algn="l" rtl="0" eaLnBrk="0" fontAlgn="base" hangingPunct="0">
              <a:spcBef>
                <a:spcPct val="20000"/>
              </a:spcBef>
              <a:spcAft>
                <a:spcPct val="0"/>
              </a:spcAft>
              <a:buClr>
                <a:schemeClr val="bg2"/>
              </a:buClr>
              <a:buSzPct val="75000"/>
              <a:buFont typeface="Wingdings" pitchFamily="2" charset="2"/>
              <a:buChar char="n"/>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2"/>
              </a:buClr>
              <a:buSzPct val="80000"/>
              <a:buFont typeface="Wingdings" pitchFamily="2" charset="2"/>
              <a:buChar char="¨"/>
              <a:defRPr sz="2800">
                <a:solidFill>
                  <a:schemeClr val="tx1"/>
                </a:solidFill>
                <a:latin typeface="+mn-lt"/>
              </a:defRPr>
            </a:lvl2pPr>
            <a:lvl3pPr marL="1143000" indent="-228600" algn="l" rtl="0" eaLnBrk="0" fontAlgn="base" hangingPunct="0">
              <a:spcBef>
                <a:spcPct val="20000"/>
              </a:spcBef>
              <a:spcAft>
                <a:spcPct val="0"/>
              </a:spcAft>
              <a:buClr>
                <a:schemeClr val="bg2"/>
              </a:buClr>
              <a:buSzPct val="65000"/>
              <a:buFont typeface="Wingdings" pitchFamily="2" charset="2"/>
              <a:buChar char="n"/>
              <a:defRPr sz="2400">
                <a:solidFill>
                  <a:schemeClr val="tx1"/>
                </a:solidFill>
                <a:latin typeface="+mn-lt"/>
              </a:defRPr>
            </a:lvl3pPr>
            <a:lvl4pPr marL="1600200" indent="-228600" algn="l" rtl="0" eaLnBrk="0" fontAlgn="base" hangingPunct="0">
              <a:spcBef>
                <a:spcPct val="20000"/>
              </a:spcBef>
              <a:spcAft>
                <a:spcPct val="0"/>
              </a:spcAft>
              <a:buClr>
                <a:schemeClr val="accent2"/>
              </a:buClr>
              <a:buSzPct val="70000"/>
              <a:buFont typeface="Wingdings" pitchFamily="2" charset="2"/>
              <a:buChar char="¨"/>
              <a:defRPr sz="2000">
                <a:solidFill>
                  <a:schemeClr val="tx1"/>
                </a:solidFill>
                <a:latin typeface="+mn-lt"/>
              </a:defRPr>
            </a:lvl4pPr>
            <a:lvl5pPr marL="2057400" indent="-228600" algn="l" rtl="0" eaLnBrk="0" fontAlgn="base" hangingPunct="0">
              <a:spcBef>
                <a:spcPct val="20000"/>
              </a:spcBef>
              <a:spcAft>
                <a:spcPct val="0"/>
              </a:spcAft>
              <a:buClr>
                <a:schemeClr val="bg2"/>
              </a:buClr>
              <a:buFont typeface="Wingdings" pitchFamily="2" charset="2"/>
              <a:buChar char="§"/>
              <a:defRPr sz="2000">
                <a:solidFill>
                  <a:schemeClr val="tx1"/>
                </a:solidFill>
                <a:latin typeface="+mn-lt"/>
              </a:defRPr>
            </a:lvl5pPr>
            <a:lvl6pPr marL="2514600" indent="-228600" algn="l" rtl="0" fontAlgn="base">
              <a:spcBef>
                <a:spcPct val="20000"/>
              </a:spcBef>
              <a:spcAft>
                <a:spcPct val="0"/>
              </a:spcAft>
              <a:buClr>
                <a:schemeClr val="bg2"/>
              </a:buClr>
              <a:buFont typeface="Wingdings" pitchFamily="2" charset="2"/>
              <a:buChar char="§"/>
              <a:defRPr sz="2000">
                <a:solidFill>
                  <a:schemeClr val="tx1"/>
                </a:solidFill>
                <a:latin typeface="+mn-lt"/>
              </a:defRPr>
            </a:lvl6pPr>
            <a:lvl7pPr marL="2971800" indent="-228600" algn="l" rtl="0" fontAlgn="base">
              <a:spcBef>
                <a:spcPct val="20000"/>
              </a:spcBef>
              <a:spcAft>
                <a:spcPct val="0"/>
              </a:spcAft>
              <a:buClr>
                <a:schemeClr val="bg2"/>
              </a:buClr>
              <a:buFont typeface="Wingdings" pitchFamily="2" charset="2"/>
              <a:buChar char="§"/>
              <a:defRPr sz="2000">
                <a:solidFill>
                  <a:schemeClr val="tx1"/>
                </a:solidFill>
                <a:latin typeface="+mn-lt"/>
              </a:defRPr>
            </a:lvl7pPr>
            <a:lvl8pPr marL="3429000" indent="-228600" algn="l" rtl="0" fontAlgn="base">
              <a:spcBef>
                <a:spcPct val="20000"/>
              </a:spcBef>
              <a:spcAft>
                <a:spcPct val="0"/>
              </a:spcAft>
              <a:buClr>
                <a:schemeClr val="bg2"/>
              </a:buClr>
              <a:buFont typeface="Wingdings" pitchFamily="2" charset="2"/>
              <a:buChar char="§"/>
              <a:defRPr sz="2000">
                <a:solidFill>
                  <a:schemeClr val="tx1"/>
                </a:solidFill>
                <a:latin typeface="+mn-lt"/>
              </a:defRPr>
            </a:lvl8pPr>
            <a:lvl9pPr marL="3886200" indent="-228600" algn="l" rtl="0" fontAlgn="base">
              <a:spcBef>
                <a:spcPct val="20000"/>
              </a:spcBef>
              <a:spcAft>
                <a:spcPct val="0"/>
              </a:spcAft>
              <a:buClr>
                <a:schemeClr val="bg2"/>
              </a:buClr>
              <a:buFont typeface="Wingdings" pitchFamily="2" charset="2"/>
              <a:buChar char="§"/>
              <a:defRPr sz="2000">
                <a:solidFill>
                  <a:schemeClr val="tx1"/>
                </a:solidFill>
                <a:latin typeface="+mn-lt"/>
              </a:defRPr>
            </a:lvl9pPr>
          </a:lstStyle>
          <a:p>
            <a:pPr eaLnBrk="1" hangingPunct="1"/>
            <a:r>
              <a:rPr lang="en-US" altLang="zh-TW" kern="0" dirty="0">
                <a:latin typeface="Georgia" panose="02040502050405020303" pitchFamily="18" charset="0"/>
                <a:ea typeface="新細明體" pitchFamily="18" charset="-120"/>
              </a:rPr>
              <a:t>X-ray photoelectron spectroscopy (XPS)</a:t>
            </a:r>
          </a:p>
        </p:txBody>
      </p:sp>
    </p:spTree>
    <p:extLst>
      <p:ext uri="{BB962C8B-B14F-4D97-AF65-F5344CB8AC3E}">
        <p14:creationId xmlns:p14="http://schemas.microsoft.com/office/powerpoint/2010/main" val="36822079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5"/>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Content</a:t>
            </a:r>
          </a:p>
        </p:txBody>
      </p:sp>
      <p:sp>
        <p:nvSpPr>
          <p:cNvPr id="23555" name="Rectangle 8"/>
          <p:cNvSpPr>
            <a:spLocks noChangeArrowheads="1"/>
          </p:cNvSpPr>
          <p:nvPr/>
        </p:nvSpPr>
        <p:spPr bwMode="auto">
          <a:xfrm>
            <a:off x="685800" y="886202"/>
            <a:ext cx="7772400" cy="5601533"/>
          </a:xfrm>
          <a:prstGeom prst="rect">
            <a:avLst/>
          </a:prstGeom>
          <a:noFill/>
          <a:ln w="9525">
            <a:noFill/>
            <a:miter lim="800000"/>
            <a:headEnd/>
            <a:tailEnd/>
          </a:ln>
        </p:spPr>
        <p:txBody>
          <a:bodyPr anchor="ctr">
            <a:spAutoFit/>
          </a:bodyPr>
          <a:lstStyle/>
          <a:p>
            <a:pPr marL="360363" algn="just"/>
            <a:r>
              <a:rPr lang="en-US" altLang="zh-TW" sz="1600" dirty="0">
                <a:latin typeface="Georgia" panose="02040502050405020303" pitchFamily="18" charset="0"/>
                <a:ea typeface="新細明體" pitchFamily="18" charset="-120"/>
              </a:rPr>
              <a:t>1.	Background</a:t>
            </a:r>
          </a:p>
          <a:p>
            <a:pPr marL="360363" algn="just"/>
            <a:endParaRPr lang="en-US" altLang="zh-TW" sz="800" dirty="0">
              <a:latin typeface="Georgia" panose="02040502050405020303" pitchFamily="18" charset="0"/>
              <a:ea typeface="新細明體" pitchFamily="18" charset="-120"/>
            </a:endParaRPr>
          </a:p>
          <a:p>
            <a:pPr marL="360363" algn="just"/>
            <a:r>
              <a:rPr lang="en-US" altLang="zh-TW" sz="1400" dirty="0">
                <a:latin typeface="Georgia" panose="02040502050405020303" pitchFamily="18" charset="0"/>
                <a:ea typeface="新細明體" pitchFamily="18" charset="-120"/>
              </a:rPr>
              <a:t>	1.1	X-ray photoemission process</a:t>
            </a:r>
          </a:p>
          <a:p>
            <a:pPr marL="360363" algn="just"/>
            <a:r>
              <a:rPr lang="en-US" altLang="zh-TW" sz="1400" dirty="0">
                <a:latin typeface="Georgia" panose="02040502050405020303" pitchFamily="18" charset="0"/>
                <a:ea typeface="新細明體" pitchFamily="18" charset="-120"/>
              </a:rPr>
              <a:t>	1.2	History of development</a:t>
            </a:r>
          </a:p>
          <a:p>
            <a:pPr marL="360363" algn="just"/>
            <a:r>
              <a:rPr lang="en-US" altLang="zh-TW" sz="1400" dirty="0">
                <a:latin typeface="Georgia" panose="02040502050405020303" pitchFamily="18" charset="0"/>
                <a:ea typeface="新細明體" pitchFamily="18" charset="-120"/>
              </a:rPr>
              <a:t>	1.3	Surface sensitivity of XPS</a:t>
            </a:r>
          </a:p>
          <a:p>
            <a:pPr marL="360363" algn="just"/>
            <a:endParaRPr lang="en-US" altLang="zh-TW" sz="800" dirty="0">
              <a:latin typeface="Georgia" panose="02040502050405020303" pitchFamily="18" charset="0"/>
              <a:ea typeface="新細明體" pitchFamily="18" charset="-120"/>
            </a:endParaRPr>
          </a:p>
          <a:p>
            <a:pPr marL="360363" algn="just"/>
            <a:r>
              <a:rPr lang="en-US" altLang="zh-TW" sz="1600" dirty="0">
                <a:latin typeface="Georgia" panose="02040502050405020303" pitchFamily="18" charset="0"/>
                <a:ea typeface="新細明體" pitchFamily="18" charset="-120"/>
              </a:rPr>
              <a:t>2.	Instrumentation</a:t>
            </a:r>
            <a:endParaRPr lang="en-US" altLang="zh-TW" sz="1400" dirty="0">
              <a:latin typeface="Georgia" panose="02040502050405020303" pitchFamily="18" charset="0"/>
              <a:ea typeface="新細明體" pitchFamily="18" charset="-120"/>
            </a:endParaRPr>
          </a:p>
          <a:p>
            <a:pPr marL="360363" algn="just"/>
            <a:r>
              <a:rPr lang="en-US" altLang="zh-TW" sz="1400" dirty="0">
                <a:latin typeface="Georgia" panose="02040502050405020303" pitchFamily="18" charset="0"/>
                <a:ea typeface="新細明體" pitchFamily="18" charset="-120"/>
              </a:rPr>
              <a:t>	2.2	X-ray sources</a:t>
            </a:r>
          </a:p>
          <a:p>
            <a:pPr marL="360363" algn="just"/>
            <a:r>
              <a:rPr lang="en-US" altLang="zh-TW" sz="1400" dirty="0">
                <a:latin typeface="Georgia" panose="02040502050405020303" pitchFamily="18" charset="0"/>
                <a:ea typeface="新細明體" pitchFamily="18" charset="-120"/>
              </a:rPr>
              <a:t>	2.3	Electron energy analyzers</a:t>
            </a:r>
          </a:p>
          <a:p>
            <a:pPr marL="360363" algn="just"/>
            <a:endParaRPr lang="en-US" altLang="zh-TW" sz="800" dirty="0">
              <a:latin typeface="Georgia" panose="02040502050405020303" pitchFamily="18" charset="0"/>
              <a:ea typeface="新細明體" pitchFamily="18" charset="-120"/>
            </a:endParaRPr>
          </a:p>
          <a:p>
            <a:pPr marL="360363" algn="just"/>
            <a:r>
              <a:rPr lang="en-US" altLang="zh-TW" sz="1600" dirty="0">
                <a:latin typeface="Georgia" panose="02040502050405020303" pitchFamily="18" charset="0"/>
                <a:ea typeface="新細明體" pitchFamily="18" charset="-120"/>
              </a:rPr>
              <a:t>3.	Spectral Interpretations</a:t>
            </a:r>
          </a:p>
          <a:p>
            <a:pPr marL="360363" algn="just"/>
            <a:r>
              <a:rPr lang="en-US" altLang="zh-TW" sz="1600" dirty="0">
                <a:latin typeface="Georgia" panose="02040502050405020303" pitchFamily="18" charset="0"/>
                <a:ea typeface="新細明體" pitchFamily="18" charset="-120"/>
              </a:rPr>
              <a:t>	</a:t>
            </a:r>
            <a:r>
              <a:rPr lang="en-US" altLang="zh-TW" sz="1400" dirty="0">
                <a:latin typeface="Georgia" panose="02040502050405020303" pitchFamily="18" charset="0"/>
                <a:ea typeface="新細明體" pitchFamily="18" charset="-120"/>
              </a:rPr>
              <a:t>3.1	Primary structures</a:t>
            </a:r>
          </a:p>
          <a:p>
            <a:pPr marL="360363" algn="just"/>
            <a:r>
              <a:rPr lang="en-US" altLang="zh-TW" sz="1400" dirty="0">
                <a:latin typeface="Georgia" panose="02040502050405020303" pitchFamily="18" charset="0"/>
                <a:ea typeface="新細明體" pitchFamily="18" charset="-120"/>
              </a:rPr>
              <a:t>	</a:t>
            </a:r>
            <a:r>
              <a:rPr lang="en-US" altLang="zh-TW" sz="1200" i="1" dirty="0">
                <a:latin typeface="Georgia" panose="02040502050405020303" pitchFamily="18" charset="0"/>
                <a:ea typeface="新細明體" pitchFamily="18" charset="-120"/>
              </a:rPr>
              <a:t>	3.1.1	Core level emission </a:t>
            </a:r>
          </a:p>
          <a:p>
            <a:pPr marL="360363" algn="just"/>
            <a:r>
              <a:rPr lang="en-US" altLang="zh-TW" sz="1200" i="1" dirty="0">
                <a:latin typeface="Georgia" panose="02040502050405020303" pitchFamily="18" charset="0"/>
                <a:ea typeface="新細明體" pitchFamily="18" charset="-120"/>
              </a:rPr>
              <a:t>		3.1.2	j - j coupling</a:t>
            </a:r>
          </a:p>
          <a:p>
            <a:pPr marL="360363" algn="just"/>
            <a:r>
              <a:rPr lang="en-US" altLang="zh-TW" sz="1200" i="1" dirty="0">
                <a:latin typeface="Georgia" panose="02040502050405020303" pitchFamily="18" charset="0"/>
                <a:ea typeface="新細明體" pitchFamily="18" charset="-120"/>
              </a:rPr>
              <a:t>		3.1.3	Chemical shift</a:t>
            </a:r>
          </a:p>
          <a:p>
            <a:pPr marL="360363" algn="just"/>
            <a:r>
              <a:rPr lang="en-US" altLang="zh-TW" sz="1200" i="1" dirty="0">
                <a:latin typeface="Georgia" panose="02040502050405020303" pitchFamily="18" charset="0"/>
                <a:ea typeface="新細明體" pitchFamily="18" charset="-120"/>
              </a:rPr>
              <a:t>		3.1.4	Valence band emission</a:t>
            </a:r>
          </a:p>
          <a:p>
            <a:pPr marL="360363" algn="just"/>
            <a:r>
              <a:rPr lang="en-US" altLang="zh-TW" sz="1200" i="1" dirty="0">
                <a:latin typeface="Georgia" panose="02040502050405020303" pitchFamily="18" charset="0"/>
                <a:ea typeface="新細明體" pitchFamily="18" charset="-120"/>
              </a:rPr>
              <a:t>		3.1.5	X-ray induces Auger emission</a:t>
            </a:r>
          </a:p>
          <a:p>
            <a:pPr marL="360363" algn="just"/>
            <a:r>
              <a:rPr lang="en-US" altLang="zh-TW" sz="1400" dirty="0">
                <a:latin typeface="Georgia" panose="02040502050405020303" pitchFamily="18" charset="0"/>
                <a:ea typeface="新細明體" pitchFamily="18" charset="-120"/>
              </a:rPr>
              <a:t>	3.2	Secondary structures</a:t>
            </a:r>
          </a:p>
          <a:p>
            <a:pPr marL="360363" algn="just"/>
            <a:r>
              <a:rPr lang="en-US" altLang="zh-TW" sz="1200" i="1" dirty="0">
                <a:latin typeface="Georgia" panose="02040502050405020303" pitchFamily="18" charset="0"/>
                <a:ea typeface="新細明體" pitchFamily="18" charset="-120"/>
              </a:rPr>
              <a:t>		3.2.1	Plasmon loss features</a:t>
            </a:r>
          </a:p>
          <a:p>
            <a:pPr marL="360363" algn="just"/>
            <a:r>
              <a:rPr lang="en-US" altLang="zh-TW" sz="1200" i="1" dirty="0">
                <a:latin typeface="Georgia" panose="02040502050405020303" pitchFamily="18" charset="0"/>
                <a:ea typeface="新細明體" pitchFamily="18" charset="-120"/>
              </a:rPr>
              <a:t>		3.2.2	</a:t>
            </a:r>
            <a:r>
              <a:rPr lang="en-US" altLang="zh-TW" sz="1200" i="1" dirty="0" err="1">
                <a:latin typeface="Georgia" panose="02040502050405020303" pitchFamily="18" charset="0"/>
                <a:ea typeface="新細明體" pitchFamily="18" charset="-120"/>
              </a:rPr>
              <a:t>Multiplet</a:t>
            </a:r>
            <a:r>
              <a:rPr lang="en-US" altLang="zh-TW" sz="1200" i="1" dirty="0">
                <a:latin typeface="Georgia" panose="02040502050405020303" pitchFamily="18" charset="0"/>
                <a:ea typeface="新細明體" pitchFamily="18" charset="-120"/>
              </a:rPr>
              <a:t> splitting</a:t>
            </a:r>
          </a:p>
          <a:p>
            <a:pPr marL="360363" algn="just"/>
            <a:r>
              <a:rPr lang="en-US" altLang="zh-TW" sz="1200" i="1" dirty="0">
                <a:latin typeface="Georgia" panose="02040502050405020303" pitchFamily="18" charset="0"/>
                <a:ea typeface="新細明體" pitchFamily="18" charset="-120"/>
              </a:rPr>
              <a:t>		3.2.3	Shake-up satellites</a:t>
            </a:r>
          </a:p>
          <a:p>
            <a:pPr marL="360363" algn="just"/>
            <a:r>
              <a:rPr lang="en-US" altLang="zh-TW" sz="1200" i="1" dirty="0">
                <a:latin typeface="Georgia" panose="02040502050405020303" pitchFamily="18" charset="0"/>
                <a:ea typeface="新細明體" pitchFamily="18" charset="-120"/>
              </a:rPr>
              <a:t>		3.2.4	Shake-off satellites</a:t>
            </a:r>
          </a:p>
          <a:p>
            <a:pPr marL="360363" algn="just"/>
            <a:endParaRPr lang="en-US" altLang="zh-TW" sz="800" i="1" dirty="0">
              <a:latin typeface="Georgia" panose="02040502050405020303" pitchFamily="18" charset="0"/>
              <a:ea typeface="新細明體" pitchFamily="18" charset="-120"/>
            </a:endParaRPr>
          </a:p>
          <a:p>
            <a:pPr marL="360363" algn="just"/>
            <a:r>
              <a:rPr lang="en-US" altLang="zh-TW" sz="1600" dirty="0">
                <a:latin typeface="Georgia" panose="02040502050405020303" pitchFamily="18" charset="0"/>
                <a:ea typeface="新細明體" pitchFamily="18" charset="-120"/>
              </a:rPr>
              <a:t>4.	Quantification</a:t>
            </a:r>
          </a:p>
          <a:p>
            <a:pPr marL="360363" algn="just"/>
            <a:r>
              <a:rPr lang="en-US" altLang="zh-TW" sz="1400" dirty="0">
                <a:latin typeface="Georgia" panose="02040502050405020303" pitchFamily="18" charset="0"/>
                <a:ea typeface="新細明體" pitchFamily="18" charset="-120"/>
              </a:rPr>
              <a:t>	4.1	Chemical composition</a:t>
            </a:r>
          </a:p>
          <a:p>
            <a:pPr marL="360363" algn="just"/>
            <a:r>
              <a:rPr lang="en-US" altLang="zh-TW" sz="1400" dirty="0">
                <a:latin typeface="Georgia" panose="02040502050405020303" pitchFamily="18" charset="0"/>
                <a:ea typeface="新細明體" pitchFamily="18" charset="-120"/>
              </a:rPr>
              <a:t>	4.2	Depth profile</a:t>
            </a:r>
          </a:p>
          <a:p>
            <a:pPr marL="360363" algn="just"/>
            <a:endParaRPr lang="en-US" altLang="zh-TW" sz="800" dirty="0">
              <a:latin typeface="Georgia" panose="02040502050405020303" pitchFamily="18" charset="0"/>
              <a:ea typeface="新細明體" pitchFamily="18" charset="-120"/>
            </a:endParaRPr>
          </a:p>
          <a:p>
            <a:pPr marL="360363" algn="just"/>
            <a:r>
              <a:rPr lang="en-US" altLang="zh-TW" sz="1600" dirty="0">
                <a:latin typeface="Georgia" panose="02040502050405020303" pitchFamily="18" charset="0"/>
                <a:ea typeface="新細明體" pitchFamily="18" charset="-120"/>
              </a:rPr>
              <a:t>5.	Chemical mapping</a:t>
            </a:r>
          </a:p>
        </p:txBody>
      </p:sp>
      <p:sp>
        <p:nvSpPr>
          <p:cNvPr id="2" name="Slide Number Placeholder 1">
            <a:extLst>
              <a:ext uri="{FF2B5EF4-FFF2-40B4-BE49-F238E27FC236}">
                <a16:creationId xmlns:a16="http://schemas.microsoft.com/office/drawing/2014/main" id="{E075CF4C-D4CE-4B33-A132-9E3F2CE9269D}"/>
              </a:ext>
            </a:extLst>
          </p:cNvPr>
          <p:cNvSpPr>
            <a:spLocks noGrp="1"/>
          </p:cNvSpPr>
          <p:nvPr>
            <p:ph type="sldNum" sz="quarter" idx="11"/>
          </p:nvPr>
        </p:nvSpPr>
        <p:spPr/>
        <p:txBody>
          <a:bodyPr/>
          <a:lstStyle/>
          <a:p>
            <a:pPr>
              <a:defRPr/>
            </a:pPr>
            <a:fld id="{BBF4B91B-A32B-4CC2-AE1B-7BE8B11CB5A2}" type="slidenum">
              <a:rPr lang="zh-TW" altLang="en-US" smtClean="0"/>
              <a:pPr>
                <a:defRPr/>
              </a:pPr>
              <a:t>5</a:t>
            </a:fld>
            <a:endParaRPr lang="en-US" altLang="zh-TW"/>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578" name="Picture 5"/>
          <p:cNvPicPr>
            <a:picLocks noChangeAspect="1" noChangeArrowheads="1"/>
          </p:cNvPicPr>
          <p:nvPr/>
        </p:nvPicPr>
        <p:blipFill>
          <a:blip r:embed="rId3" cstate="print"/>
          <a:srcRect/>
          <a:stretch>
            <a:fillRect/>
          </a:stretch>
        </p:blipFill>
        <p:spPr bwMode="auto">
          <a:xfrm>
            <a:off x="2321984" y="941884"/>
            <a:ext cx="2971800" cy="2054225"/>
          </a:xfrm>
          <a:prstGeom prst="rect">
            <a:avLst/>
          </a:prstGeom>
          <a:noFill/>
          <a:ln w="9525">
            <a:noFill/>
            <a:miter lim="800000"/>
            <a:headEnd/>
            <a:tailEnd/>
          </a:ln>
        </p:spPr>
      </p:pic>
      <p:pic>
        <p:nvPicPr>
          <p:cNvPr id="24579" name="Picture 4"/>
          <p:cNvPicPr>
            <a:picLocks noChangeAspect="1" noChangeArrowheads="1"/>
          </p:cNvPicPr>
          <p:nvPr/>
        </p:nvPicPr>
        <p:blipFill>
          <a:blip r:embed="rId4" cstate="print"/>
          <a:srcRect/>
          <a:stretch>
            <a:fillRect/>
          </a:stretch>
        </p:blipFill>
        <p:spPr bwMode="auto">
          <a:xfrm>
            <a:off x="203489" y="816223"/>
            <a:ext cx="2998788" cy="2030413"/>
          </a:xfrm>
          <a:prstGeom prst="rect">
            <a:avLst/>
          </a:prstGeom>
          <a:noFill/>
          <a:ln w="9525">
            <a:noFill/>
            <a:miter lim="800000"/>
            <a:headEnd/>
            <a:tailEnd/>
          </a:ln>
        </p:spPr>
      </p:pic>
      <p:sp>
        <p:nvSpPr>
          <p:cNvPr id="24580" name="Rectangle 6"/>
          <p:cNvSpPr>
            <a:spLocks noChangeArrowheads="1"/>
          </p:cNvSpPr>
          <p:nvPr/>
        </p:nvSpPr>
        <p:spPr bwMode="auto">
          <a:xfrm>
            <a:off x="-4291013" y="2027238"/>
            <a:ext cx="9144001" cy="0"/>
          </a:xfrm>
          <a:prstGeom prst="rect">
            <a:avLst/>
          </a:prstGeom>
          <a:noFill/>
          <a:ln w="9525">
            <a:noFill/>
            <a:miter lim="800000"/>
            <a:headEnd/>
            <a:tailEnd/>
          </a:ln>
        </p:spPr>
        <p:txBody>
          <a:bodyPr wrap="none" anchor="ctr">
            <a:spAutoFit/>
          </a:bodyPr>
          <a:lstStyle/>
          <a:p>
            <a:endParaRPr lang="zh-CN" altLang="zh-CN">
              <a:ea typeface="SimSun" pitchFamily="2" charset="-122"/>
            </a:endParaRPr>
          </a:p>
        </p:txBody>
      </p:sp>
      <mc:AlternateContent xmlns:mc="http://schemas.openxmlformats.org/markup-compatibility/2006" xmlns:a14="http://schemas.microsoft.com/office/drawing/2010/main">
        <mc:Choice Requires="a14">
          <p:sp>
            <p:nvSpPr>
              <p:cNvPr id="24581" name="Rectangle 7"/>
              <p:cNvSpPr>
                <a:spLocks noChangeArrowheads="1"/>
              </p:cNvSpPr>
              <p:nvPr/>
            </p:nvSpPr>
            <p:spPr bwMode="auto">
              <a:xfrm>
                <a:off x="457200" y="3168941"/>
                <a:ext cx="8382000" cy="3416320"/>
              </a:xfrm>
              <a:prstGeom prst="rect">
                <a:avLst/>
              </a:prstGeom>
              <a:noFill/>
              <a:ln w="9525">
                <a:noFill/>
                <a:miter lim="800000"/>
                <a:headEnd/>
                <a:tailEnd/>
              </a:ln>
            </p:spPr>
            <p:txBody>
              <a:bodyPr wrap="square" anchor="ctr">
                <a:spAutoFit/>
              </a:bodyPr>
              <a:lstStyle/>
              <a:p>
                <a:pPr marL="263525" indent="-263525" algn="just" eaLnBrk="1" hangingPunct="1">
                  <a:buFontTx/>
                  <a:buChar char="•"/>
                  <a:tabLst>
                    <a:tab pos="263525" algn="l"/>
                  </a:tabLst>
                </a:pPr>
                <a:r>
                  <a:rPr lang="en-US" altLang="zh-TW" dirty="0">
                    <a:solidFill>
                      <a:srgbClr val="000000"/>
                    </a:solidFill>
                    <a:latin typeface="Georgia" panose="02040502050405020303" pitchFamily="18" charset="0"/>
                    <a:ea typeface="新細明體" pitchFamily="18" charset="-120"/>
                    <a:cs typeface="Times New Roman" pitchFamily="18" charset="0"/>
                  </a:rPr>
                  <a:t>When a sample surface is irradiated with photons of energy </a:t>
                </a:r>
                <a:r>
                  <a:rPr lang="en-US" altLang="zh-TW" i="1" dirty="0" err="1">
                    <a:solidFill>
                      <a:srgbClr val="000000"/>
                    </a:solidFill>
                    <a:latin typeface="Georgia" panose="02040502050405020303" pitchFamily="18" charset="0"/>
                    <a:ea typeface="新細明體" pitchFamily="18" charset="-120"/>
                    <a:cs typeface="Times New Roman" pitchFamily="18" charset="0"/>
                  </a:rPr>
                  <a:t>h</a:t>
                </a:r>
                <a:r>
                  <a:rPr lang="en-US" altLang="zh-TW" dirty="0" err="1">
                    <a:solidFill>
                      <a:srgbClr val="000000"/>
                    </a:solidFill>
                    <a:latin typeface="Symbol" panose="05050102010706020507" pitchFamily="18" charset="2"/>
                    <a:ea typeface="新細明體" pitchFamily="18" charset="-120"/>
                    <a:cs typeface="Arial" charset="0"/>
                  </a:rPr>
                  <a:t>n</a:t>
                </a:r>
                <a:r>
                  <a:rPr lang="en-US" altLang="zh-TW" dirty="0">
                    <a:solidFill>
                      <a:srgbClr val="000000"/>
                    </a:solidFill>
                    <a:latin typeface="Georgia" panose="02040502050405020303" pitchFamily="18" charset="0"/>
                    <a:ea typeface="新細明體" pitchFamily="18" charset="-120"/>
                    <a:cs typeface="Times New Roman" pitchFamily="18" charset="0"/>
                  </a:rPr>
                  <a:t>, electrons were found emitted from the sample – </a:t>
                </a:r>
                <a:r>
                  <a:rPr lang="en-US" altLang="zh-TW" dirty="0">
                    <a:solidFill>
                      <a:srgbClr val="FF0000"/>
                    </a:solidFill>
                    <a:latin typeface="Georgia" panose="02040502050405020303" pitchFamily="18" charset="0"/>
                    <a:ea typeface="新細明體" pitchFamily="18" charset="-120"/>
                    <a:cs typeface="Times New Roman" pitchFamily="18" charset="0"/>
                  </a:rPr>
                  <a:t>photoemission</a:t>
                </a:r>
                <a:r>
                  <a:rPr lang="en-US" altLang="zh-TW" dirty="0">
                    <a:solidFill>
                      <a:srgbClr val="000000"/>
                    </a:solidFill>
                    <a:latin typeface="Georgia" panose="02040502050405020303" pitchFamily="18" charset="0"/>
                    <a:ea typeface="新細明體" pitchFamily="18" charset="-120"/>
                    <a:cs typeface="Times New Roman" pitchFamily="18" charset="0"/>
                  </a:rPr>
                  <a:t>.</a:t>
                </a:r>
              </a:p>
              <a:p>
                <a:pPr marL="263525" indent="-263525" algn="just" eaLnBrk="1" hangingPunct="1">
                  <a:buFontTx/>
                  <a:buChar char="•"/>
                  <a:tabLst>
                    <a:tab pos="263525" algn="l"/>
                  </a:tabLst>
                </a:pPr>
                <a:endParaRPr lang="en-US" altLang="zh-TW" dirty="0">
                  <a:solidFill>
                    <a:srgbClr val="000000"/>
                  </a:solidFill>
                  <a:latin typeface="Georgia" panose="02040502050405020303" pitchFamily="18" charset="0"/>
                  <a:ea typeface="新細明體" pitchFamily="18" charset="-120"/>
                  <a:cs typeface="Times New Roman" pitchFamily="18" charset="0"/>
                </a:endParaRPr>
              </a:p>
              <a:p>
                <a:pPr marL="263525" indent="-263525" algn="just" eaLnBrk="1" hangingPunct="1">
                  <a:buFontTx/>
                  <a:buChar char="•"/>
                  <a:tabLst>
                    <a:tab pos="263525" algn="l"/>
                  </a:tabLst>
                </a:pPr>
                <a:r>
                  <a:rPr lang="en-US" altLang="zh-TW" dirty="0">
                    <a:solidFill>
                      <a:srgbClr val="000000"/>
                    </a:solidFill>
                    <a:latin typeface="Georgia" panose="02040502050405020303" pitchFamily="18" charset="0"/>
                    <a:ea typeface="新細明體" pitchFamily="18" charset="-120"/>
                    <a:cs typeface="Times New Roman" pitchFamily="18" charset="0"/>
                  </a:rPr>
                  <a:t>Albert Einstein’s contribution (Nobel Prize in 1921, Photoelectric effect):</a:t>
                </a:r>
              </a:p>
              <a:p>
                <a:pPr marL="742950" lvl="1" indent="-285750" algn="just" eaLnBrk="1" hangingPunct="1">
                  <a:buFont typeface="Arial" panose="020B0604020202020204" pitchFamily="34" charset="0"/>
                  <a:buChar char="•"/>
                  <a:tabLst>
                    <a:tab pos="263525" algn="l"/>
                  </a:tabLst>
                </a:pPr>
                <a:r>
                  <a:rPr lang="en-US" altLang="zh-TW" dirty="0">
                    <a:solidFill>
                      <a:srgbClr val="000000"/>
                    </a:solidFill>
                    <a:latin typeface="Georgia" panose="02040502050405020303" pitchFamily="18" charset="0"/>
                    <a:ea typeface="新細明體" pitchFamily="18" charset="-120"/>
                    <a:cs typeface="Times New Roman" pitchFamily="18" charset="0"/>
                  </a:rPr>
                  <a:t>Refined the photoemission experiment and found that the energy of ejecting electrons is directly proportional to the wavelength, </a:t>
                </a:r>
                <a14:m>
                  <m:oMath xmlns:m="http://schemas.openxmlformats.org/officeDocument/2006/math">
                    <m:r>
                      <a:rPr lang="en-US" altLang="zh-TW" b="0" i="1" smtClean="0">
                        <a:solidFill>
                          <a:srgbClr val="000000"/>
                        </a:solidFill>
                        <a:latin typeface="Cambria Math" panose="02040503050406030204" pitchFamily="18" charset="0"/>
                        <a:ea typeface="新細明體" pitchFamily="18" charset="-120"/>
                        <a:cs typeface="Times New Roman" pitchFamily="18" charset="0"/>
                      </a:rPr>
                      <m:t>𝜆</m:t>
                    </m:r>
                  </m:oMath>
                </a14:m>
                <a:r>
                  <a:rPr lang="en-US" altLang="zh-TW" dirty="0">
                    <a:solidFill>
                      <a:srgbClr val="000000"/>
                    </a:solidFill>
                    <a:latin typeface="Georgia" panose="02040502050405020303" pitchFamily="18" charset="0"/>
                    <a:ea typeface="新細明體" pitchFamily="18" charset="-120"/>
                    <a:cs typeface="Times New Roman" pitchFamily="18" charset="0"/>
                  </a:rPr>
                  <a:t>, of the photon source, instead of the intensity of photons.</a:t>
                </a:r>
              </a:p>
              <a:p>
                <a:pPr marL="742950" lvl="1" indent="-285750" algn="just" eaLnBrk="1" hangingPunct="1">
                  <a:buFont typeface="Arial" panose="020B0604020202020204" pitchFamily="34" charset="0"/>
                  <a:buChar char="•"/>
                  <a:tabLst>
                    <a:tab pos="263525" algn="l"/>
                  </a:tabLst>
                </a:pPr>
                <a:r>
                  <a:rPr lang="en-US" altLang="zh-TW" dirty="0">
                    <a:solidFill>
                      <a:srgbClr val="000000"/>
                    </a:solidFill>
                    <a:latin typeface="Georgia" panose="02040502050405020303" pitchFamily="18" charset="0"/>
                    <a:ea typeface="新細明體" pitchFamily="18" charset="-120"/>
                    <a:cs typeface="Times New Roman" pitchFamily="18" charset="0"/>
                  </a:rPr>
                  <a:t>Explained this </a:t>
                </a:r>
                <a:r>
                  <a:rPr lang="en-US" altLang="zh-TW" dirty="0">
                    <a:solidFill>
                      <a:srgbClr val="FF0000"/>
                    </a:solidFill>
                    <a:latin typeface="Georgia" panose="02040502050405020303" pitchFamily="18" charset="0"/>
                    <a:ea typeface="新細明體" pitchFamily="18" charset="-120"/>
                    <a:cs typeface="Times New Roman" pitchFamily="18" charset="0"/>
                  </a:rPr>
                  <a:t>photoelectric effect</a:t>
                </a:r>
                <a:r>
                  <a:rPr lang="en-US" altLang="zh-TW" dirty="0">
                    <a:solidFill>
                      <a:srgbClr val="000000"/>
                    </a:solidFill>
                    <a:latin typeface="Georgia" panose="02040502050405020303" pitchFamily="18" charset="0"/>
                    <a:ea typeface="新細明體" pitchFamily="18" charset="-120"/>
                    <a:cs typeface="Times New Roman" pitchFamily="18" charset="0"/>
                  </a:rPr>
                  <a:t> in term of emission of electrons from quantized energy levels – orbitals of electrons.</a:t>
                </a:r>
              </a:p>
              <a:p>
                <a:pPr marL="263525" indent="-263525" algn="just" eaLnBrk="1" hangingPunct="1">
                  <a:buFontTx/>
                  <a:buChar char="•"/>
                  <a:tabLst>
                    <a:tab pos="263525" algn="l"/>
                  </a:tabLst>
                </a:pPr>
                <a:endParaRPr lang="en-US" altLang="zh-TW" dirty="0">
                  <a:solidFill>
                    <a:srgbClr val="000000"/>
                  </a:solidFill>
                  <a:latin typeface="Georgia" panose="02040502050405020303" pitchFamily="18" charset="0"/>
                  <a:ea typeface="新細明體" pitchFamily="18" charset="-120"/>
                  <a:cs typeface="Times New Roman" pitchFamily="18" charset="0"/>
                </a:endParaRPr>
              </a:p>
              <a:p>
                <a:pPr marL="263525" indent="-263525" algn="just" eaLnBrk="1" hangingPunct="1">
                  <a:buFontTx/>
                  <a:buChar char="•"/>
                  <a:tabLst>
                    <a:tab pos="263525" algn="l"/>
                  </a:tabLst>
                </a:pPr>
                <a:r>
                  <a:rPr lang="en-US" altLang="zh-TW" dirty="0">
                    <a:solidFill>
                      <a:srgbClr val="000000"/>
                    </a:solidFill>
                    <a:latin typeface="Georgia" panose="02040502050405020303" pitchFamily="18" charset="0"/>
                    <a:ea typeface="新細明體" pitchFamily="18" charset="-120"/>
                    <a:cs typeface="Times New Roman" pitchFamily="18" charset="0"/>
                  </a:rPr>
                  <a:t>Kai Siegbahn’s contribution (</a:t>
                </a:r>
                <a:r>
                  <a:rPr lang="en-US" altLang="zh-TW" dirty="0">
                    <a:solidFill>
                      <a:srgbClr val="000000"/>
                    </a:solidFill>
                    <a:latin typeface="Georgia" panose="02040502050405020303" pitchFamily="18" charset="0"/>
                    <a:ea typeface="新細明體" pitchFamily="18" charset="-120"/>
                  </a:rPr>
                  <a:t>Nobel Prize in 1981)</a:t>
                </a:r>
                <a:endParaRPr lang="en-US" altLang="zh-TW" dirty="0">
                  <a:solidFill>
                    <a:srgbClr val="000000"/>
                  </a:solidFill>
                  <a:latin typeface="Georgia" panose="02040502050405020303" pitchFamily="18" charset="0"/>
                  <a:ea typeface="新細明體" pitchFamily="18" charset="-120"/>
                  <a:cs typeface="Times New Roman" pitchFamily="18" charset="0"/>
                </a:endParaRPr>
              </a:p>
              <a:p>
                <a:pPr marL="742950" lvl="1" indent="-285750" algn="just" eaLnBrk="1" hangingPunct="1">
                  <a:buFont typeface="Arial" panose="020B0604020202020204" pitchFamily="34" charset="0"/>
                  <a:buChar char="•"/>
                  <a:tabLst>
                    <a:tab pos="263525" algn="l"/>
                  </a:tabLst>
                </a:pPr>
                <a:r>
                  <a:rPr lang="en-US" altLang="zh-TW" dirty="0">
                    <a:solidFill>
                      <a:srgbClr val="000000"/>
                    </a:solidFill>
                    <a:latin typeface="Georgia" panose="02040502050405020303" pitchFamily="18" charset="0"/>
                    <a:ea typeface="新細明體" pitchFamily="18" charset="-120"/>
                    <a:cs typeface="Times New Roman" pitchFamily="18" charset="0"/>
                  </a:rPr>
                  <a:t>Use photoemission as an analytical technique for chemical analysis.</a:t>
                </a:r>
                <a:endParaRPr lang="en-US" altLang="zh-TW" dirty="0">
                  <a:latin typeface="Georgia" panose="02040502050405020303" pitchFamily="18" charset="0"/>
                  <a:ea typeface="新細明體" pitchFamily="18" charset="-120"/>
                </a:endParaRPr>
              </a:p>
            </p:txBody>
          </p:sp>
        </mc:Choice>
        <mc:Fallback xmlns="">
          <p:sp>
            <p:nvSpPr>
              <p:cNvPr id="24581" name="Rectangle 7"/>
              <p:cNvSpPr>
                <a:spLocks noRot="1" noChangeAspect="1" noMove="1" noResize="1" noEditPoints="1" noAdjustHandles="1" noChangeArrowheads="1" noChangeShapeType="1" noTextEdit="1"/>
              </p:cNvSpPr>
              <p:nvPr/>
            </p:nvSpPr>
            <p:spPr bwMode="auto">
              <a:xfrm>
                <a:off x="457200" y="3168941"/>
                <a:ext cx="8382000" cy="3416320"/>
              </a:xfrm>
              <a:prstGeom prst="rect">
                <a:avLst/>
              </a:prstGeom>
              <a:blipFill>
                <a:blip r:embed="rId5"/>
                <a:stretch>
                  <a:fillRect l="-509" t="-714" r="-582" b="-2500"/>
                </a:stretch>
              </a:blipFill>
              <a:ln w="9525">
                <a:noFill/>
                <a:miter lim="800000"/>
                <a:headEnd/>
                <a:tailEnd/>
              </a:ln>
            </p:spPr>
            <p:txBody>
              <a:bodyPr/>
              <a:lstStyle/>
              <a:p>
                <a:r>
                  <a:rPr lang="en-HK">
                    <a:noFill/>
                  </a:rPr>
                  <a:t> </a:t>
                </a:r>
              </a:p>
            </p:txBody>
          </p:sp>
        </mc:Fallback>
      </mc:AlternateContent>
      <p:sp>
        <p:nvSpPr>
          <p:cNvPr id="24582" name="Rectangle 8"/>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X-ray photoemission process</a:t>
            </a:r>
          </a:p>
        </p:txBody>
      </p:sp>
      <p:pic>
        <p:nvPicPr>
          <p:cNvPr id="114690" name="Picture 2">
            <a:extLst>
              <a:ext uri="{FF2B5EF4-FFF2-40B4-BE49-F238E27FC236}">
                <a16:creationId xmlns:a16="http://schemas.microsoft.com/office/drawing/2014/main" id="{B1D3C6B5-A4CA-483F-8DCC-04F66110B3A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465769" y="838199"/>
            <a:ext cx="1158691" cy="1568095"/>
          </a:xfrm>
          <a:prstGeom prst="rect">
            <a:avLst/>
          </a:prstGeom>
          <a:noFill/>
          <a:extLst>
            <a:ext uri="{909E8E84-426E-40DD-AFC4-6F175D3DCCD1}">
              <a14:hiddenFill xmlns:a14="http://schemas.microsoft.com/office/drawing/2010/main">
                <a:solidFill>
                  <a:srgbClr val="FFFFFF"/>
                </a:solidFill>
              </a14:hiddenFill>
            </a:ext>
          </a:extLst>
        </p:spPr>
      </p:pic>
      <p:pic>
        <p:nvPicPr>
          <p:cNvPr id="114692" name="Picture 4" descr="Image result for einstein">
            <a:extLst>
              <a:ext uri="{FF2B5EF4-FFF2-40B4-BE49-F238E27FC236}">
                <a16:creationId xmlns:a16="http://schemas.microsoft.com/office/drawing/2014/main" id="{B93D879A-FABC-46BD-96E4-E2D745A7A960}"/>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734579" y="838200"/>
            <a:ext cx="1176434" cy="156809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820609D-F4C8-4B8D-BBE6-9488ED22165E}"/>
              </a:ext>
            </a:extLst>
          </p:cNvPr>
          <p:cNvSpPr txBox="1"/>
          <p:nvPr/>
        </p:nvSpPr>
        <p:spPr>
          <a:xfrm>
            <a:off x="5373061" y="2418690"/>
            <a:ext cx="1829347" cy="738664"/>
          </a:xfrm>
          <a:prstGeom prst="rect">
            <a:avLst/>
          </a:prstGeom>
          <a:noFill/>
        </p:spPr>
        <p:txBody>
          <a:bodyPr wrap="none" rtlCol="0">
            <a:spAutoFit/>
          </a:bodyPr>
          <a:lstStyle/>
          <a:p>
            <a:pPr algn="ctr"/>
            <a:r>
              <a:rPr lang="en-US" sz="1050" dirty="0"/>
              <a:t>Albert Einstein</a:t>
            </a:r>
          </a:p>
          <a:p>
            <a:pPr algn="ctr"/>
            <a:r>
              <a:rPr lang="en-US" sz="1050" dirty="0"/>
              <a:t>(1879-1955)</a:t>
            </a:r>
          </a:p>
          <a:p>
            <a:pPr algn="ctr"/>
            <a:r>
              <a:rPr lang="en-US" sz="1050" dirty="0"/>
              <a:t>Germany</a:t>
            </a:r>
          </a:p>
          <a:p>
            <a:pPr algn="ctr"/>
            <a:r>
              <a:rPr lang="en-US" sz="1050" dirty="0"/>
              <a:t>Nobel Prize in Physics1921</a:t>
            </a:r>
          </a:p>
        </p:txBody>
      </p:sp>
      <p:sp>
        <p:nvSpPr>
          <p:cNvPr id="10" name="TextBox 9">
            <a:extLst>
              <a:ext uri="{FF2B5EF4-FFF2-40B4-BE49-F238E27FC236}">
                <a16:creationId xmlns:a16="http://schemas.microsoft.com/office/drawing/2014/main" id="{3AB32B9B-AA8C-492A-9817-E8B34FB590DB}"/>
              </a:ext>
            </a:extLst>
          </p:cNvPr>
          <p:cNvSpPr txBox="1"/>
          <p:nvPr/>
        </p:nvSpPr>
        <p:spPr>
          <a:xfrm>
            <a:off x="7162800" y="2430277"/>
            <a:ext cx="1829347" cy="738664"/>
          </a:xfrm>
          <a:prstGeom prst="rect">
            <a:avLst/>
          </a:prstGeom>
          <a:noFill/>
        </p:spPr>
        <p:txBody>
          <a:bodyPr wrap="none" rtlCol="0">
            <a:spAutoFit/>
          </a:bodyPr>
          <a:lstStyle/>
          <a:p>
            <a:pPr algn="ctr"/>
            <a:r>
              <a:rPr lang="en-US" sz="1050" dirty="0"/>
              <a:t>Kai Siegbahn</a:t>
            </a:r>
          </a:p>
          <a:p>
            <a:pPr algn="ctr"/>
            <a:r>
              <a:rPr lang="en-US" sz="1050" dirty="0"/>
              <a:t>(1918-2007)</a:t>
            </a:r>
          </a:p>
          <a:p>
            <a:pPr algn="ctr"/>
            <a:r>
              <a:rPr lang="en-US" sz="1050" dirty="0"/>
              <a:t>Sweden</a:t>
            </a:r>
          </a:p>
          <a:p>
            <a:pPr algn="ctr"/>
            <a:r>
              <a:rPr lang="en-US" sz="1050" dirty="0"/>
              <a:t>Nobel Prize in Physics1981</a:t>
            </a:r>
          </a:p>
        </p:txBody>
      </p:sp>
      <p:sp>
        <p:nvSpPr>
          <p:cNvPr id="3" name="Slide Number Placeholder 2">
            <a:extLst>
              <a:ext uri="{FF2B5EF4-FFF2-40B4-BE49-F238E27FC236}">
                <a16:creationId xmlns:a16="http://schemas.microsoft.com/office/drawing/2014/main" id="{ED14848F-BD0D-49D6-8A7B-9915BD9EFA5B}"/>
              </a:ext>
            </a:extLst>
          </p:cNvPr>
          <p:cNvSpPr>
            <a:spLocks noGrp="1"/>
          </p:cNvSpPr>
          <p:nvPr>
            <p:ph type="sldNum" sz="quarter" idx="11"/>
          </p:nvPr>
        </p:nvSpPr>
        <p:spPr/>
        <p:txBody>
          <a:bodyPr/>
          <a:lstStyle/>
          <a:p>
            <a:pPr>
              <a:defRPr/>
            </a:pPr>
            <a:fld id="{EBF73BDF-690D-4725-BA10-A7934ED52EAB}" type="slidenum">
              <a:rPr lang="zh-TW" altLang="en-US" smtClean="0"/>
              <a:pPr>
                <a:defRPr/>
              </a:pPr>
              <a:t>6</a:t>
            </a:fld>
            <a:endParaRPr lang="en-US" altLang="zh-TW"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ext Box 13"/>
          <p:cNvSpPr txBox="1">
            <a:spLocks noChangeArrowheads="1"/>
          </p:cNvSpPr>
          <p:nvPr/>
        </p:nvSpPr>
        <p:spPr bwMode="auto">
          <a:xfrm>
            <a:off x="381000" y="838200"/>
            <a:ext cx="8670924" cy="5524589"/>
          </a:xfrm>
          <a:prstGeom prst="rect">
            <a:avLst/>
          </a:prstGeom>
          <a:noFill/>
          <a:ln w="9525">
            <a:noFill/>
            <a:miter lim="800000"/>
            <a:headEnd/>
            <a:tailEnd/>
          </a:ln>
        </p:spPr>
        <p:txBody>
          <a:bodyPr wrap="square">
            <a:spAutoFit/>
          </a:bodyPr>
          <a:lstStyle/>
          <a:p>
            <a:pPr marL="534988" indent="-534988">
              <a:spcBef>
                <a:spcPts val="600"/>
              </a:spcBef>
              <a:tabLst>
                <a:tab pos="534988" algn="l"/>
              </a:tabLst>
            </a:pPr>
            <a:r>
              <a:rPr lang="en-US" altLang="zh-TW" sz="1600" i="1" dirty="0">
                <a:latin typeface="Georgia" panose="02040502050405020303" pitchFamily="18" charset="0"/>
                <a:ea typeface="新細明體" pitchFamily="18" charset="-120"/>
              </a:rPr>
              <a:t>1887	Hertz first detected the phenomenon of photoemission.</a:t>
            </a:r>
          </a:p>
          <a:p>
            <a:pPr marL="534988" indent="-534988">
              <a:spcBef>
                <a:spcPts val="600"/>
              </a:spcBef>
              <a:tabLst>
                <a:tab pos="534988" algn="l"/>
              </a:tabLst>
            </a:pPr>
            <a:r>
              <a:rPr lang="en-US" altLang="zh-TW" sz="1600" i="1" dirty="0">
                <a:latin typeface="Georgia" panose="02040502050405020303" pitchFamily="18" charset="0"/>
                <a:ea typeface="新細明體" pitchFamily="18" charset="-120"/>
              </a:rPr>
              <a:t>1905	A. Einstein refined the photoemission experiments and explained the mechanism by invoking the quantum nature of light.	</a:t>
            </a:r>
          </a:p>
          <a:p>
            <a:pPr marL="534988" indent="-534988">
              <a:spcBef>
                <a:spcPts val="600"/>
              </a:spcBef>
              <a:tabLst>
                <a:tab pos="534988" algn="l"/>
              </a:tabLst>
            </a:pPr>
            <a:r>
              <a:rPr lang="en-US" altLang="zh-TW" sz="1600" i="1" dirty="0">
                <a:latin typeface="Georgia" panose="02040502050405020303" pitchFamily="18" charset="0"/>
                <a:ea typeface="新細明體" pitchFamily="18" charset="-120"/>
              </a:rPr>
              <a:t>1907 - Innes, Moseley, Rawlinson, Robinson, and etc. continued to study the x-ray photoemission.</a:t>
            </a:r>
          </a:p>
          <a:p>
            <a:pPr marL="534988" indent="-534988">
              <a:spcBef>
                <a:spcPts val="600"/>
              </a:spcBef>
              <a:buAutoNum type="arabicPlain" startAt="1914"/>
              <a:tabLst>
                <a:tab pos="534988" algn="l"/>
              </a:tabLst>
            </a:pPr>
            <a:r>
              <a:rPr lang="en-US" altLang="zh-TW" sz="1600" i="1" dirty="0">
                <a:latin typeface="Georgia" panose="02040502050405020303" pitchFamily="18" charset="0"/>
                <a:ea typeface="新細明體" pitchFamily="18" charset="-120"/>
              </a:rPr>
              <a:t>Rutherford stated the basic equation of XPS.</a:t>
            </a:r>
          </a:p>
          <a:p>
            <a:pPr>
              <a:spcBef>
                <a:spcPts val="600"/>
              </a:spcBef>
              <a:tabLst>
                <a:tab pos="534988" algn="l"/>
              </a:tabLst>
            </a:pPr>
            <a:r>
              <a:rPr lang="en-US" altLang="zh-TW" sz="1600" dirty="0">
                <a:latin typeface="Georgia" panose="02040502050405020303" pitchFamily="18" charset="0"/>
                <a:ea typeface="新細明體" pitchFamily="18" charset="-120"/>
              </a:rPr>
              <a:t>--------------------------------------------------------------------------------------------------------------</a:t>
            </a:r>
            <a:endParaRPr lang="en-US" altLang="zh-TW" sz="1600" i="1" dirty="0">
              <a:latin typeface="Georgia" panose="02040502050405020303" pitchFamily="18" charset="0"/>
              <a:ea typeface="新細明體" pitchFamily="18" charset="-120"/>
            </a:endParaRPr>
          </a:p>
          <a:p>
            <a:pPr marL="534988" indent="-534988">
              <a:spcBef>
                <a:spcPts val="600"/>
              </a:spcBef>
              <a:tabLst>
                <a:tab pos="534988" algn="l"/>
              </a:tabLst>
            </a:pPr>
            <a:r>
              <a:rPr lang="en-US" altLang="zh-TW" sz="1600" i="1" dirty="0">
                <a:latin typeface="Georgia" panose="02040502050405020303" pitchFamily="18" charset="0"/>
                <a:ea typeface="新細明體" pitchFamily="18" charset="-120"/>
              </a:rPr>
              <a:t>1914- 18</a:t>
            </a:r>
            <a:r>
              <a:rPr lang="en-US" altLang="zh-TW" sz="1600" dirty="0">
                <a:latin typeface="Georgia" panose="02040502050405020303" pitchFamily="18" charset="0"/>
                <a:ea typeface="新細明體" pitchFamily="18" charset="-120"/>
              </a:rPr>
              <a:t>                                                           </a:t>
            </a:r>
            <a:r>
              <a:rPr lang="en-US" altLang="zh-TW" sz="1600" dirty="0">
                <a:solidFill>
                  <a:srgbClr val="FF3300"/>
                </a:solidFill>
                <a:latin typeface="Georgia" panose="02040502050405020303" pitchFamily="18" charset="0"/>
                <a:ea typeface="新細明體" pitchFamily="18" charset="-120"/>
              </a:rPr>
              <a:t>WORLD WAR I</a:t>
            </a:r>
            <a:endParaRPr lang="en-US" altLang="zh-TW" sz="1600" i="1" dirty="0">
              <a:solidFill>
                <a:srgbClr val="FF3300"/>
              </a:solidFill>
              <a:latin typeface="Georgia" panose="02040502050405020303" pitchFamily="18" charset="0"/>
              <a:ea typeface="新細明體" pitchFamily="18" charset="-120"/>
            </a:endParaRPr>
          </a:p>
          <a:p>
            <a:pPr marL="534988" indent="-534988">
              <a:spcBef>
                <a:spcPts val="600"/>
              </a:spcBef>
              <a:tabLst>
                <a:tab pos="534988" algn="l"/>
              </a:tabLst>
            </a:pPr>
            <a:r>
              <a:rPr lang="en-US" altLang="zh-TW" sz="1600" i="1" dirty="0">
                <a:latin typeface="Georgia" panose="02040502050405020303" pitchFamily="18" charset="0"/>
                <a:ea typeface="新細明體" pitchFamily="18" charset="-120"/>
              </a:rPr>
              <a:t>		Robinson, Maurice de Broglie continued the research work in x - ray photoemission. (Not much progress; regarded as extension to atomic physics.)</a:t>
            </a:r>
            <a:endParaRPr lang="en-US" altLang="zh-TW" sz="1600" dirty="0">
              <a:latin typeface="Georgia" panose="02040502050405020303" pitchFamily="18" charset="0"/>
              <a:ea typeface="新細明體" pitchFamily="18" charset="-120"/>
            </a:endParaRPr>
          </a:p>
          <a:p>
            <a:pPr marL="534988" indent="-534988">
              <a:spcBef>
                <a:spcPts val="600"/>
              </a:spcBef>
              <a:tabLst>
                <a:tab pos="534988" algn="l"/>
              </a:tabLst>
            </a:pPr>
            <a:r>
              <a:rPr lang="en-US" altLang="zh-TW" sz="1600" dirty="0">
                <a:latin typeface="Georgia" panose="02040502050405020303" pitchFamily="18" charset="0"/>
                <a:ea typeface="新細明體" pitchFamily="18" charset="-120"/>
              </a:rPr>
              <a:t>---------------------------------------------------------------------------------------------------------------</a:t>
            </a:r>
          </a:p>
          <a:p>
            <a:pPr marL="534988" indent="-534988">
              <a:spcBef>
                <a:spcPts val="600"/>
              </a:spcBef>
              <a:tabLst>
                <a:tab pos="534988" algn="l"/>
              </a:tabLst>
            </a:pPr>
            <a:r>
              <a:rPr lang="en-US" altLang="zh-TW" sz="1600" i="1" dirty="0">
                <a:latin typeface="Georgia" panose="02040502050405020303" pitchFamily="18" charset="0"/>
                <a:ea typeface="新細明體" pitchFamily="18" charset="-120"/>
              </a:rPr>
              <a:t>1937- 45			        	 </a:t>
            </a:r>
            <a:r>
              <a:rPr lang="en-US" altLang="zh-TW" sz="1600" dirty="0">
                <a:solidFill>
                  <a:srgbClr val="FF3300"/>
                </a:solidFill>
                <a:latin typeface="Georgia" panose="02040502050405020303" pitchFamily="18" charset="0"/>
                <a:ea typeface="新細明體" pitchFamily="18" charset="-120"/>
              </a:rPr>
              <a:t>WORLD WAR II</a:t>
            </a:r>
            <a:r>
              <a:rPr lang="en-US" altLang="zh-TW" sz="1600" i="1" dirty="0">
                <a:latin typeface="Georgia" panose="02040502050405020303" pitchFamily="18" charset="0"/>
                <a:ea typeface="新細明體" pitchFamily="18" charset="-120"/>
              </a:rPr>
              <a:t> 	</a:t>
            </a:r>
            <a:endParaRPr lang="en-US" altLang="zh-TW" sz="1600" dirty="0">
              <a:latin typeface="Georgia" panose="02040502050405020303" pitchFamily="18" charset="0"/>
              <a:ea typeface="新細明體" pitchFamily="18" charset="-120"/>
            </a:endParaRPr>
          </a:p>
          <a:p>
            <a:pPr marL="534988" indent="-534988">
              <a:spcBef>
                <a:spcPts val="600"/>
              </a:spcBef>
              <a:tabLst>
                <a:tab pos="534988" algn="l"/>
              </a:tabLst>
            </a:pPr>
            <a:r>
              <a:rPr lang="en-US" altLang="zh-TW" sz="1600" dirty="0">
                <a:latin typeface="Georgia" panose="02040502050405020303" pitchFamily="18" charset="0"/>
                <a:ea typeface="新細明體" pitchFamily="18" charset="-120"/>
              </a:rPr>
              <a:t>-------------------------------------------------------------------------------------------------------------</a:t>
            </a:r>
          </a:p>
          <a:p>
            <a:pPr marL="534988" indent="-534988">
              <a:spcBef>
                <a:spcPts val="600"/>
              </a:spcBef>
              <a:tabLst>
                <a:tab pos="534988" algn="l"/>
              </a:tabLst>
            </a:pPr>
            <a:r>
              <a:rPr lang="en-US" altLang="zh-TW" sz="1600" i="1" dirty="0">
                <a:latin typeface="Georgia" panose="02040502050405020303" pitchFamily="18" charset="0"/>
                <a:ea typeface="新細明體" pitchFamily="18" charset="-120"/>
              </a:rPr>
              <a:t>1940s	 Kai Siegbahn started substantial works on x-ray photoemission.</a:t>
            </a:r>
          </a:p>
          <a:p>
            <a:pPr marL="534988" indent="-534988">
              <a:spcBef>
                <a:spcPts val="600"/>
              </a:spcBef>
              <a:tabLst>
                <a:tab pos="534988" algn="l"/>
              </a:tabLst>
            </a:pPr>
            <a:r>
              <a:rPr lang="en-US" altLang="zh-TW" sz="1600" i="1" dirty="0">
                <a:latin typeface="Georgia" panose="02040502050405020303" pitchFamily="18" charset="0"/>
                <a:ea typeface="新細明體" pitchFamily="18" charset="-120"/>
              </a:rPr>
              <a:t>	(Explored the use of x-ray photoemission for chemical analysis.)</a:t>
            </a:r>
          </a:p>
          <a:p>
            <a:pPr marL="534988" indent="-534988">
              <a:spcBef>
                <a:spcPts val="600"/>
              </a:spcBef>
              <a:tabLst>
                <a:tab pos="534988" algn="l"/>
              </a:tabLst>
            </a:pPr>
            <a:r>
              <a:rPr lang="en-US" altLang="zh-TW" sz="1600" i="1" dirty="0">
                <a:latin typeface="Georgia" panose="02040502050405020303" pitchFamily="18" charset="0"/>
                <a:ea typeface="新細明體" pitchFamily="18" charset="-120"/>
              </a:rPr>
              <a:t>1969	First commercial XPS instruments appeared.</a:t>
            </a:r>
          </a:p>
          <a:p>
            <a:pPr marL="534988" indent="-534988">
              <a:spcBef>
                <a:spcPts val="600"/>
              </a:spcBef>
              <a:tabLst>
                <a:tab pos="534988" algn="l"/>
              </a:tabLst>
            </a:pPr>
            <a:r>
              <a:rPr lang="en-US" altLang="zh-TW" sz="1600" i="1" dirty="0">
                <a:latin typeface="Georgia" panose="02040502050405020303" pitchFamily="18" charset="0"/>
                <a:ea typeface="新細明體" pitchFamily="18" charset="-120"/>
              </a:rPr>
              <a:t>1969	</a:t>
            </a:r>
            <a:r>
              <a:rPr lang="en-US" altLang="zh-TW" sz="1600" i="1" dirty="0" err="1">
                <a:latin typeface="Georgia" panose="02040502050405020303" pitchFamily="18" charset="0"/>
                <a:ea typeface="新細明體" pitchFamily="18" charset="-120"/>
              </a:rPr>
              <a:t>Palmberg</a:t>
            </a:r>
            <a:r>
              <a:rPr lang="en-US" altLang="zh-TW" sz="1600" i="1" dirty="0">
                <a:latin typeface="Georgia" panose="02040502050405020303" pitchFamily="18" charset="0"/>
                <a:ea typeface="新細明體" pitchFamily="18" charset="-120"/>
              </a:rPr>
              <a:t>, Bohm and Tracy developed the “cylindrical mirror analyzer” to analyze the energy of the photoelectrons/Auger electrons.</a:t>
            </a:r>
            <a:endParaRPr lang="zh-TW" altLang="en-US" sz="1600" i="1" dirty="0">
              <a:latin typeface="Georgia" panose="02040502050405020303" pitchFamily="18" charset="0"/>
              <a:ea typeface="新細明體" pitchFamily="18" charset="-120"/>
            </a:endParaRPr>
          </a:p>
        </p:txBody>
      </p:sp>
      <p:sp>
        <p:nvSpPr>
          <p:cNvPr id="25603" name="Rectangle 14"/>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dirty="0">
                <a:solidFill>
                  <a:schemeClr val="bg1"/>
                </a:solidFill>
                <a:latin typeface="Georgia" panose="02040502050405020303" pitchFamily="18" charset="0"/>
                <a:ea typeface="新細明體" pitchFamily="18" charset="-120"/>
              </a:rPr>
              <a:t>History of Development</a:t>
            </a:r>
          </a:p>
        </p:txBody>
      </p:sp>
      <p:sp>
        <p:nvSpPr>
          <p:cNvPr id="2" name="Slide Number Placeholder 1">
            <a:extLst>
              <a:ext uri="{FF2B5EF4-FFF2-40B4-BE49-F238E27FC236}">
                <a16:creationId xmlns:a16="http://schemas.microsoft.com/office/drawing/2014/main" id="{95C5D3B1-441B-40E4-8516-AF75688C5968}"/>
              </a:ext>
            </a:extLst>
          </p:cNvPr>
          <p:cNvSpPr>
            <a:spLocks noGrp="1"/>
          </p:cNvSpPr>
          <p:nvPr>
            <p:ph type="sldNum" sz="quarter" idx="11"/>
          </p:nvPr>
        </p:nvSpPr>
        <p:spPr/>
        <p:txBody>
          <a:bodyPr/>
          <a:lstStyle/>
          <a:p>
            <a:pPr>
              <a:defRPr/>
            </a:pPr>
            <a:fld id="{EBF73BDF-690D-4725-BA10-A7934ED52EAB}" type="slidenum">
              <a:rPr lang="zh-TW" altLang="en-US" smtClean="0"/>
              <a:pPr>
                <a:defRPr/>
              </a:pPr>
              <a:t>7</a:t>
            </a:fld>
            <a:endParaRPr lang="en-US" altLang="zh-TW"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ext Box 5"/>
          <p:cNvSpPr txBox="1">
            <a:spLocks noChangeArrowheads="1"/>
          </p:cNvSpPr>
          <p:nvPr/>
        </p:nvSpPr>
        <p:spPr bwMode="auto">
          <a:xfrm>
            <a:off x="792162" y="990600"/>
            <a:ext cx="7407275" cy="992188"/>
          </a:xfrm>
          <a:prstGeom prst="rect">
            <a:avLst/>
          </a:prstGeom>
          <a:noFill/>
          <a:ln w="9525">
            <a:noFill/>
            <a:miter lim="800000"/>
            <a:headEnd/>
            <a:tailEnd/>
          </a:ln>
        </p:spPr>
        <p:txBody>
          <a:bodyPr>
            <a:spAutoFit/>
          </a:bodyPr>
          <a:lstStyle/>
          <a:p>
            <a:pPr marL="858838" indent="-858838" eaLnBrk="1" hangingPunct="1"/>
            <a:r>
              <a:rPr lang="en-US" altLang="zh-TW" dirty="0">
                <a:latin typeface="Georgia" panose="02040502050405020303" pitchFamily="18" charset="0"/>
                <a:ea typeface="新細明體" pitchFamily="18" charset="-120"/>
              </a:rPr>
              <a:t>1887	Hertz first detected the phenomenon of photoemission, and he published, "On an effect of UV light upon the electric discharge" (</a:t>
            </a:r>
            <a:r>
              <a:rPr lang="en-US" altLang="zh-TW" dirty="0" err="1">
                <a:latin typeface="Georgia" panose="02040502050405020303" pitchFamily="18" charset="0"/>
                <a:ea typeface="新細明體" pitchFamily="18" charset="-120"/>
              </a:rPr>
              <a:t>Sitzungsber</a:t>
            </a:r>
            <a:r>
              <a:rPr lang="en-US" altLang="zh-TW" dirty="0">
                <a:latin typeface="Georgia" panose="02040502050405020303" pitchFamily="18" charset="0"/>
                <a:ea typeface="新細明體" pitchFamily="18" charset="-120"/>
              </a:rPr>
              <a:t> d. </a:t>
            </a:r>
            <a:r>
              <a:rPr lang="en-US" altLang="zh-TW" dirty="0" err="1">
                <a:latin typeface="Georgia" panose="02040502050405020303" pitchFamily="18" charset="0"/>
                <a:ea typeface="新細明體" pitchFamily="18" charset="-120"/>
              </a:rPr>
              <a:t>Berl</a:t>
            </a:r>
            <a:r>
              <a:rPr lang="en-US" altLang="zh-TW" dirty="0">
                <a:latin typeface="Georgia" panose="02040502050405020303" pitchFamily="18" charset="0"/>
                <a:ea typeface="新細明體" pitchFamily="18" charset="-120"/>
              </a:rPr>
              <a:t>. </a:t>
            </a:r>
            <a:r>
              <a:rPr lang="en-US" altLang="zh-TW" dirty="0" err="1">
                <a:latin typeface="Georgia" panose="02040502050405020303" pitchFamily="18" charset="0"/>
                <a:ea typeface="新細明體" pitchFamily="18" charset="-120"/>
              </a:rPr>
              <a:t>Akad</a:t>
            </a:r>
            <a:r>
              <a:rPr lang="en-US" altLang="zh-TW" dirty="0">
                <a:latin typeface="Georgia" panose="02040502050405020303" pitchFamily="18" charset="0"/>
                <a:ea typeface="新細明體" pitchFamily="18" charset="-120"/>
              </a:rPr>
              <a:t>. d. </a:t>
            </a:r>
            <a:r>
              <a:rPr lang="en-US" altLang="zh-TW" dirty="0" err="1">
                <a:latin typeface="Georgia" panose="02040502050405020303" pitchFamily="18" charset="0"/>
                <a:ea typeface="新細明體" pitchFamily="18" charset="-120"/>
              </a:rPr>
              <a:t>Wiss</a:t>
            </a:r>
            <a:r>
              <a:rPr lang="en-US" altLang="zh-TW" dirty="0">
                <a:latin typeface="Georgia" panose="02040502050405020303" pitchFamily="18" charset="0"/>
                <a:ea typeface="新細明體" pitchFamily="18" charset="-120"/>
              </a:rPr>
              <a:t>., June 9, 1887). </a:t>
            </a:r>
          </a:p>
          <a:p>
            <a:pPr marL="858838" indent="-858838" eaLnBrk="1" hangingPunct="1"/>
            <a:endParaRPr lang="zh-TW" altLang="en-US" sz="500" dirty="0">
              <a:latin typeface="Georgia" panose="02040502050405020303" pitchFamily="18" charset="0"/>
              <a:ea typeface="新細明體" pitchFamily="18" charset="-120"/>
            </a:endParaRPr>
          </a:p>
        </p:txBody>
      </p:sp>
      <p:pic>
        <p:nvPicPr>
          <p:cNvPr id="26627" name="Picture 6" descr="019"/>
          <p:cNvPicPr>
            <a:picLocks noChangeAspect="1" noChangeArrowheads="1"/>
          </p:cNvPicPr>
          <p:nvPr/>
        </p:nvPicPr>
        <p:blipFill>
          <a:blip r:embed="rId3" cstate="print"/>
          <a:srcRect/>
          <a:stretch>
            <a:fillRect/>
          </a:stretch>
        </p:blipFill>
        <p:spPr bwMode="auto">
          <a:xfrm>
            <a:off x="1541318" y="2093624"/>
            <a:ext cx="6096000" cy="3548062"/>
          </a:xfrm>
          <a:prstGeom prst="rect">
            <a:avLst/>
          </a:prstGeom>
          <a:noFill/>
          <a:ln w="9525">
            <a:noFill/>
            <a:miter lim="800000"/>
            <a:headEnd/>
            <a:tailEnd/>
          </a:ln>
        </p:spPr>
      </p:pic>
      <p:sp>
        <p:nvSpPr>
          <p:cNvPr id="26628" name="Text Box 7"/>
          <p:cNvSpPr txBox="1">
            <a:spLocks noChangeArrowheads="1"/>
          </p:cNvSpPr>
          <p:nvPr/>
        </p:nvSpPr>
        <p:spPr bwMode="auto">
          <a:xfrm>
            <a:off x="1066800" y="6090516"/>
            <a:ext cx="7315200" cy="396875"/>
          </a:xfrm>
          <a:prstGeom prst="rect">
            <a:avLst/>
          </a:prstGeom>
          <a:noFill/>
          <a:ln w="9525">
            <a:noFill/>
            <a:miter lim="800000"/>
            <a:headEnd/>
            <a:tailEnd/>
          </a:ln>
        </p:spPr>
        <p:txBody>
          <a:bodyPr>
            <a:spAutoFit/>
          </a:bodyPr>
          <a:lstStyle/>
          <a:p>
            <a:pPr eaLnBrk="1" hangingPunct="1"/>
            <a:r>
              <a:rPr lang="en-US" altLang="zh-TW" sz="2000" dirty="0">
                <a:latin typeface="Georgia" panose="02040502050405020303" pitchFamily="18" charset="0"/>
                <a:ea typeface="新細明體" pitchFamily="18" charset="-120"/>
              </a:rPr>
              <a:t>Lenard’s apparatus for investigating the photoelectric effect. </a:t>
            </a:r>
          </a:p>
        </p:txBody>
      </p:sp>
      <p:sp>
        <p:nvSpPr>
          <p:cNvPr id="26629" name="Rectangle 8"/>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dirty="0">
                <a:solidFill>
                  <a:schemeClr val="bg1"/>
                </a:solidFill>
                <a:latin typeface="Georgia" panose="02040502050405020303" pitchFamily="18" charset="0"/>
                <a:ea typeface="新細明體" pitchFamily="18" charset="-120"/>
              </a:rPr>
              <a:t>History of Development</a:t>
            </a:r>
          </a:p>
        </p:txBody>
      </p:sp>
      <p:sp>
        <p:nvSpPr>
          <p:cNvPr id="2" name="Slide Number Placeholder 1">
            <a:extLst>
              <a:ext uri="{FF2B5EF4-FFF2-40B4-BE49-F238E27FC236}">
                <a16:creationId xmlns:a16="http://schemas.microsoft.com/office/drawing/2014/main" id="{674C4431-8392-4012-81DB-C830CFB28444}"/>
              </a:ext>
            </a:extLst>
          </p:cNvPr>
          <p:cNvSpPr>
            <a:spLocks noGrp="1"/>
          </p:cNvSpPr>
          <p:nvPr>
            <p:ph type="sldNum" sz="quarter" idx="11"/>
          </p:nvPr>
        </p:nvSpPr>
        <p:spPr/>
        <p:txBody>
          <a:bodyPr/>
          <a:lstStyle/>
          <a:p>
            <a:pPr>
              <a:defRPr/>
            </a:pPr>
            <a:fld id="{EBF73BDF-690D-4725-BA10-A7934ED52EAB}" type="slidenum">
              <a:rPr lang="zh-TW" altLang="en-US" smtClean="0"/>
              <a:pPr>
                <a:defRPr/>
              </a:pPr>
              <a:t>8</a:t>
            </a:fld>
            <a:endParaRPr lang="en-US" altLang="zh-TW"/>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60" name="Rectangle 4"/>
          <p:cNvSpPr>
            <a:spLocks noChangeArrowheads="1"/>
          </p:cNvSpPr>
          <p:nvPr/>
        </p:nvSpPr>
        <p:spPr bwMode="auto">
          <a:xfrm>
            <a:off x="676275" y="209550"/>
            <a:ext cx="8229600" cy="457200"/>
          </a:xfrm>
          <a:prstGeom prst="rect">
            <a:avLst/>
          </a:prstGeom>
          <a:noFill/>
          <a:ln w="9525">
            <a:noFill/>
            <a:miter lim="800000"/>
            <a:headEnd/>
            <a:tailEnd/>
          </a:ln>
          <a:effectLst/>
        </p:spPr>
        <p:txBody>
          <a:bodyPr anchor="ctr"/>
          <a:lstStyle/>
          <a:p>
            <a:pPr eaLnBrk="1" hangingPunct="1"/>
            <a:r>
              <a:rPr lang="en-US" altLang="zh-TW" dirty="0">
                <a:solidFill>
                  <a:schemeClr val="bg1"/>
                </a:solidFill>
                <a:latin typeface="Georgia" panose="02040502050405020303" pitchFamily="18" charset="0"/>
                <a:ea typeface="新細明體" pitchFamily="18" charset="-120"/>
              </a:rPr>
              <a:t>History of Development</a:t>
            </a:r>
          </a:p>
        </p:txBody>
      </p:sp>
      <p:sp>
        <p:nvSpPr>
          <p:cNvPr id="45061" name="Rectangle 5"/>
          <p:cNvSpPr>
            <a:spLocks noChangeArrowheads="1"/>
          </p:cNvSpPr>
          <p:nvPr/>
        </p:nvSpPr>
        <p:spPr bwMode="auto">
          <a:xfrm>
            <a:off x="762000" y="772725"/>
            <a:ext cx="7239000" cy="1015663"/>
          </a:xfrm>
          <a:prstGeom prst="rect">
            <a:avLst/>
          </a:prstGeom>
          <a:noFill/>
          <a:ln w="9525">
            <a:noFill/>
            <a:miter lim="800000"/>
            <a:headEnd/>
            <a:tailEnd/>
          </a:ln>
          <a:effectLst/>
        </p:spPr>
        <p:txBody>
          <a:bodyPr>
            <a:spAutoFit/>
          </a:bodyPr>
          <a:lstStyle/>
          <a:p>
            <a:pPr marL="895350" indent="-895350" algn="just" eaLnBrk="1" hangingPunct="1">
              <a:spcBef>
                <a:spcPct val="50000"/>
              </a:spcBef>
            </a:pPr>
            <a:r>
              <a:rPr lang="en-US" altLang="zh-TW" sz="2000" dirty="0">
                <a:solidFill>
                  <a:srgbClr val="0000FF"/>
                </a:solidFill>
                <a:latin typeface="Georgia" panose="02040502050405020303" pitchFamily="18" charset="0"/>
                <a:ea typeface="新細明體" pitchFamily="18" charset="-120"/>
              </a:rPr>
              <a:t>1905</a:t>
            </a:r>
            <a:r>
              <a:rPr lang="en-US" altLang="zh-TW" sz="2000" dirty="0">
                <a:latin typeface="Georgia" panose="02040502050405020303" pitchFamily="18" charset="0"/>
                <a:ea typeface="新細明體" pitchFamily="18" charset="-120"/>
              </a:rPr>
              <a:t>	A. Einstein refined the photoemission experiments and explained their systematics by invoking the </a:t>
            </a:r>
            <a:r>
              <a:rPr lang="en-US" altLang="zh-TW" sz="2000" dirty="0">
                <a:solidFill>
                  <a:srgbClr val="006600"/>
                </a:solidFill>
                <a:latin typeface="Georgia" panose="02040502050405020303" pitchFamily="18" charset="0"/>
                <a:ea typeface="新細明體" pitchFamily="18" charset="-120"/>
              </a:rPr>
              <a:t>quantum nature of light</a:t>
            </a:r>
            <a:r>
              <a:rPr lang="en-US" altLang="zh-TW" sz="2000" dirty="0">
                <a:latin typeface="Georgia" panose="02040502050405020303" pitchFamily="18" charset="0"/>
                <a:ea typeface="新細明體" pitchFamily="18" charset="-120"/>
              </a:rPr>
              <a:t>. </a:t>
            </a:r>
          </a:p>
        </p:txBody>
      </p:sp>
      <p:grpSp>
        <p:nvGrpSpPr>
          <p:cNvPr id="2" name="Group 13"/>
          <p:cNvGrpSpPr>
            <a:grpSpLocks/>
          </p:cNvGrpSpPr>
          <p:nvPr/>
        </p:nvGrpSpPr>
        <p:grpSpPr bwMode="auto">
          <a:xfrm>
            <a:off x="3489614" y="1828800"/>
            <a:ext cx="4419599" cy="2819400"/>
            <a:chOff x="1296" y="1344"/>
            <a:chExt cx="3024" cy="2068"/>
          </a:xfrm>
        </p:grpSpPr>
        <p:pic>
          <p:nvPicPr>
            <p:cNvPr id="45063" name="Picture 7" descr="020"/>
            <p:cNvPicPr>
              <a:picLocks noChangeAspect="1" noChangeArrowheads="1"/>
            </p:cNvPicPr>
            <p:nvPr/>
          </p:nvPicPr>
          <p:blipFill>
            <a:blip r:embed="rId3" cstate="print"/>
            <a:srcRect/>
            <a:stretch>
              <a:fillRect/>
            </a:stretch>
          </p:blipFill>
          <p:spPr bwMode="auto">
            <a:xfrm>
              <a:off x="1296" y="1344"/>
              <a:ext cx="3024" cy="2068"/>
            </a:xfrm>
            <a:prstGeom prst="rect">
              <a:avLst/>
            </a:prstGeom>
            <a:noFill/>
          </p:spPr>
        </p:pic>
        <p:sp>
          <p:nvSpPr>
            <p:cNvPr id="45064" name="Rectangle 8"/>
            <p:cNvSpPr>
              <a:spLocks noChangeArrowheads="1"/>
            </p:cNvSpPr>
            <p:nvPr/>
          </p:nvSpPr>
          <p:spPr bwMode="auto">
            <a:xfrm>
              <a:off x="1384" y="1430"/>
              <a:ext cx="1972" cy="257"/>
            </a:xfrm>
            <a:prstGeom prst="rect">
              <a:avLst/>
            </a:prstGeom>
            <a:solidFill>
              <a:schemeClr val="bg1"/>
            </a:solidFill>
            <a:ln w="9525">
              <a:solidFill>
                <a:schemeClr val="bg1"/>
              </a:solidFill>
              <a:miter lim="800000"/>
              <a:headEnd/>
              <a:tailEnd/>
            </a:ln>
            <a:effectLst/>
          </p:spPr>
          <p:txBody>
            <a:bodyPr wrap="none" anchor="ctr"/>
            <a:lstStyle/>
            <a:p>
              <a:endParaRPr lang="en-US"/>
            </a:p>
          </p:txBody>
        </p:sp>
      </p:grpSp>
      <p:sp>
        <p:nvSpPr>
          <p:cNvPr id="45065" name="Text Box 9"/>
          <p:cNvSpPr txBox="1">
            <a:spLocks noChangeArrowheads="1"/>
          </p:cNvSpPr>
          <p:nvPr/>
        </p:nvSpPr>
        <p:spPr bwMode="auto">
          <a:xfrm>
            <a:off x="446809" y="4963024"/>
            <a:ext cx="8229600" cy="1631216"/>
          </a:xfrm>
          <a:prstGeom prst="rect">
            <a:avLst/>
          </a:prstGeom>
          <a:noFill/>
          <a:ln w="9525">
            <a:noFill/>
            <a:miter lim="800000"/>
            <a:headEnd/>
            <a:tailEnd/>
          </a:ln>
          <a:effectLst/>
        </p:spPr>
        <p:txBody>
          <a:bodyPr wrap="square">
            <a:spAutoFit/>
          </a:bodyPr>
          <a:lstStyle/>
          <a:p>
            <a:pPr eaLnBrk="1" hangingPunct="1"/>
            <a:r>
              <a:rPr lang="en-US" altLang="zh-TW" sz="2000" dirty="0">
                <a:latin typeface="Georgia" panose="02040502050405020303" pitchFamily="18" charset="0"/>
                <a:ea typeface="新細明體" pitchFamily="18" charset="-120"/>
              </a:rPr>
              <a:t>Observation:</a:t>
            </a:r>
          </a:p>
          <a:p>
            <a:pPr marL="342900" indent="-342900" eaLnBrk="1" hangingPunct="1">
              <a:buFont typeface="Arial" panose="020B0604020202020204" pitchFamily="34" charset="0"/>
              <a:buChar char="•"/>
            </a:pPr>
            <a:r>
              <a:rPr lang="en-US" altLang="zh-TW" sz="2000" dirty="0">
                <a:latin typeface="Georgia" panose="02040502050405020303" pitchFamily="18" charset="0"/>
                <a:ea typeface="新細明體" pitchFamily="18" charset="-120"/>
              </a:rPr>
              <a:t>An identical  stopping potential V</a:t>
            </a:r>
            <a:r>
              <a:rPr lang="en-US" altLang="zh-TW" sz="2000" baseline="-25000" dirty="0">
                <a:latin typeface="Georgia" panose="02040502050405020303" pitchFamily="18" charset="0"/>
                <a:ea typeface="新細明體" pitchFamily="18" charset="-120"/>
              </a:rPr>
              <a:t>0</a:t>
            </a:r>
            <a:r>
              <a:rPr lang="en-US" altLang="zh-TW" sz="2000" dirty="0">
                <a:latin typeface="Georgia" panose="02040502050405020303" pitchFamily="18" charset="0"/>
                <a:ea typeface="新細明體" pitchFamily="18" charset="-120"/>
              </a:rPr>
              <a:t> (E</a:t>
            </a:r>
            <a:r>
              <a:rPr lang="en-US" altLang="zh-TW" sz="2000" baseline="-25000" dirty="0">
                <a:latin typeface="Georgia" panose="02040502050405020303" pitchFamily="18" charset="0"/>
                <a:ea typeface="新細明體" pitchFamily="18" charset="-120"/>
              </a:rPr>
              <a:t>K</a:t>
            </a:r>
            <a:r>
              <a:rPr lang="en-US" altLang="zh-TW" sz="2000" dirty="0">
                <a:latin typeface="Georgia" panose="02040502050405020303" pitchFamily="18" charset="0"/>
                <a:ea typeface="新細明體" pitchFamily="18" charset="-120"/>
              </a:rPr>
              <a:t>)with different light intensity. E</a:t>
            </a:r>
            <a:r>
              <a:rPr lang="en-US" altLang="zh-TW" sz="2000" baseline="-25000" dirty="0">
                <a:latin typeface="Georgia" panose="02040502050405020303" pitchFamily="18" charset="0"/>
                <a:ea typeface="新細明體" pitchFamily="18" charset="-120"/>
              </a:rPr>
              <a:t>K </a:t>
            </a:r>
            <a:r>
              <a:rPr lang="en-US" altLang="zh-TW" sz="2000" dirty="0">
                <a:latin typeface="Georgia" panose="02040502050405020303" pitchFamily="18" charset="0"/>
                <a:ea typeface="新細明體" pitchFamily="18" charset="-120"/>
              </a:rPr>
              <a:t>is the kinetic energy of electrons.</a:t>
            </a:r>
          </a:p>
          <a:p>
            <a:pPr marL="342900" indent="-342900" eaLnBrk="1" hangingPunct="1">
              <a:buFont typeface="Arial" panose="020B0604020202020204" pitchFamily="34" charset="0"/>
              <a:buChar char="•"/>
            </a:pPr>
            <a:r>
              <a:rPr lang="en-US" altLang="zh-TW" sz="2000" dirty="0">
                <a:latin typeface="Georgia" panose="02040502050405020303" pitchFamily="18" charset="0"/>
                <a:ea typeface="新細明體" pitchFamily="18" charset="-120"/>
              </a:rPr>
              <a:t>The variation of the photoelectric current (no. of electrons) with voltage, for different intensities of light, A&lt;B&lt;C. </a:t>
            </a:r>
          </a:p>
        </p:txBody>
      </p:sp>
      <p:grpSp>
        <p:nvGrpSpPr>
          <p:cNvPr id="4" name="Group 3">
            <a:extLst>
              <a:ext uri="{FF2B5EF4-FFF2-40B4-BE49-F238E27FC236}">
                <a16:creationId xmlns:a16="http://schemas.microsoft.com/office/drawing/2014/main" id="{10CD40F6-A9D3-B2ED-2ED7-1E893FDD0826}"/>
              </a:ext>
            </a:extLst>
          </p:cNvPr>
          <p:cNvGrpSpPr/>
          <p:nvPr/>
        </p:nvGrpSpPr>
        <p:grpSpPr>
          <a:xfrm>
            <a:off x="914400" y="1828800"/>
            <a:ext cx="2650258" cy="3178175"/>
            <a:chOff x="762000" y="1927225"/>
            <a:chExt cx="2739531" cy="3254375"/>
          </a:xfrm>
        </p:grpSpPr>
        <p:sp>
          <p:nvSpPr>
            <p:cNvPr id="45070" name="Rectangle 14"/>
            <p:cNvSpPr>
              <a:spLocks noChangeArrowheads="1"/>
            </p:cNvSpPr>
            <p:nvPr/>
          </p:nvSpPr>
          <p:spPr bwMode="auto">
            <a:xfrm>
              <a:off x="1143000" y="2743200"/>
              <a:ext cx="1219200" cy="381000"/>
            </a:xfrm>
            <a:prstGeom prst="rect">
              <a:avLst/>
            </a:prstGeom>
            <a:solidFill>
              <a:schemeClr val="accent1"/>
            </a:solidFill>
            <a:ln w="9525">
              <a:solidFill>
                <a:schemeClr val="tx1"/>
              </a:solidFill>
              <a:miter lim="800000"/>
              <a:headEnd/>
              <a:tailEnd/>
            </a:ln>
            <a:effectLst/>
          </p:spPr>
          <p:txBody>
            <a:bodyPr wrap="none" anchor="ctr"/>
            <a:lstStyle/>
            <a:p>
              <a:endParaRPr lang="en-US"/>
            </a:p>
          </p:txBody>
        </p:sp>
        <p:sp>
          <p:nvSpPr>
            <p:cNvPr id="45071" name="Rectangle 15"/>
            <p:cNvSpPr>
              <a:spLocks noChangeArrowheads="1"/>
            </p:cNvSpPr>
            <p:nvPr/>
          </p:nvSpPr>
          <p:spPr bwMode="auto">
            <a:xfrm>
              <a:off x="1143000" y="4038600"/>
              <a:ext cx="1219200" cy="228600"/>
            </a:xfrm>
            <a:prstGeom prst="rect">
              <a:avLst/>
            </a:prstGeom>
            <a:solidFill>
              <a:srgbClr val="FF0000"/>
            </a:solidFill>
            <a:ln w="9525">
              <a:solidFill>
                <a:schemeClr val="tx1"/>
              </a:solidFill>
              <a:miter lim="800000"/>
              <a:headEnd/>
              <a:tailEnd/>
            </a:ln>
            <a:effectLst/>
          </p:spPr>
          <p:txBody>
            <a:bodyPr wrap="none" anchor="ctr"/>
            <a:lstStyle/>
            <a:p>
              <a:endParaRPr lang="en-US"/>
            </a:p>
          </p:txBody>
        </p:sp>
        <p:sp>
          <p:nvSpPr>
            <p:cNvPr id="45072" name="Text Box 16"/>
            <p:cNvSpPr txBox="1">
              <a:spLocks noChangeArrowheads="1"/>
            </p:cNvSpPr>
            <p:nvPr/>
          </p:nvSpPr>
          <p:spPr bwMode="auto">
            <a:xfrm>
              <a:off x="1375270" y="3962400"/>
              <a:ext cx="2126261" cy="378187"/>
            </a:xfrm>
            <a:prstGeom prst="rect">
              <a:avLst/>
            </a:prstGeom>
            <a:noFill/>
            <a:ln w="9525">
              <a:noFill/>
              <a:miter lim="800000"/>
              <a:headEnd/>
              <a:tailEnd/>
            </a:ln>
            <a:effectLst/>
          </p:spPr>
          <p:txBody>
            <a:bodyPr wrap="none">
              <a:spAutoFit/>
            </a:bodyPr>
            <a:lstStyle/>
            <a:p>
              <a:r>
                <a:rPr lang="en-US" altLang="zh-CN" dirty="0">
                  <a:ea typeface="宋体" pitchFamily="2" charset="-122"/>
                </a:rPr>
                <a:t>Sample (Cathode)</a:t>
              </a:r>
            </a:p>
          </p:txBody>
        </p:sp>
        <p:sp>
          <p:nvSpPr>
            <p:cNvPr id="45073" name="Line 17"/>
            <p:cNvSpPr>
              <a:spLocks noChangeShapeType="1"/>
            </p:cNvSpPr>
            <p:nvPr/>
          </p:nvSpPr>
          <p:spPr bwMode="auto">
            <a:xfrm>
              <a:off x="762000" y="3352800"/>
              <a:ext cx="533400" cy="533400"/>
            </a:xfrm>
            <a:prstGeom prst="line">
              <a:avLst/>
            </a:prstGeom>
            <a:noFill/>
            <a:ln w="9525">
              <a:solidFill>
                <a:schemeClr val="tx1"/>
              </a:solidFill>
              <a:round/>
              <a:headEnd/>
              <a:tailEnd type="triangle" w="med" len="med"/>
            </a:ln>
            <a:effectLst/>
          </p:spPr>
          <p:txBody>
            <a:bodyPr/>
            <a:lstStyle/>
            <a:p>
              <a:endParaRPr lang="en-US"/>
            </a:p>
          </p:txBody>
        </p:sp>
        <p:sp>
          <p:nvSpPr>
            <p:cNvPr id="45074" name="Line 18"/>
            <p:cNvSpPr>
              <a:spLocks noChangeShapeType="1"/>
            </p:cNvSpPr>
            <p:nvPr/>
          </p:nvSpPr>
          <p:spPr bwMode="auto">
            <a:xfrm>
              <a:off x="914400" y="3352800"/>
              <a:ext cx="533400" cy="533400"/>
            </a:xfrm>
            <a:prstGeom prst="line">
              <a:avLst/>
            </a:prstGeom>
            <a:noFill/>
            <a:ln w="9525">
              <a:solidFill>
                <a:schemeClr val="tx1"/>
              </a:solidFill>
              <a:round/>
              <a:headEnd/>
              <a:tailEnd type="triangle" w="med" len="med"/>
            </a:ln>
            <a:effectLst/>
          </p:spPr>
          <p:txBody>
            <a:bodyPr/>
            <a:lstStyle/>
            <a:p>
              <a:endParaRPr lang="en-US"/>
            </a:p>
          </p:txBody>
        </p:sp>
        <p:sp>
          <p:nvSpPr>
            <p:cNvPr id="45075" name="Line 19"/>
            <p:cNvSpPr>
              <a:spLocks noChangeShapeType="1"/>
            </p:cNvSpPr>
            <p:nvPr/>
          </p:nvSpPr>
          <p:spPr bwMode="auto">
            <a:xfrm>
              <a:off x="1066800" y="3352800"/>
              <a:ext cx="533400" cy="533400"/>
            </a:xfrm>
            <a:prstGeom prst="line">
              <a:avLst/>
            </a:prstGeom>
            <a:noFill/>
            <a:ln w="9525">
              <a:solidFill>
                <a:schemeClr val="tx1"/>
              </a:solidFill>
              <a:round/>
              <a:headEnd/>
              <a:tailEnd type="triangle" w="med" len="med"/>
            </a:ln>
            <a:effectLst/>
          </p:spPr>
          <p:txBody>
            <a:bodyPr/>
            <a:lstStyle/>
            <a:p>
              <a:endParaRPr lang="en-US"/>
            </a:p>
          </p:txBody>
        </p:sp>
        <p:sp>
          <p:nvSpPr>
            <p:cNvPr id="45076" name="Line 20"/>
            <p:cNvSpPr>
              <a:spLocks noChangeShapeType="1"/>
            </p:cNvSpPr>
            <p:nvPr/>
          </p:nvSpPr>
          <p:spPr bwMode="auto">
            <a:xfrm>
              <a:off x="2286000" y="4191000"/>
              <a:ext cx="0" cy="838200"/>
            </a:xfrm>
            <a:prstGeom prst="line">
              <a:avLst/>
            </a:prstGeom>
            <a:noFill/>
            <a:ln w="9525">
              <a:solidFill>
                <a:schemeClr val="tx1"/>
              </a:solidFill>
              <a:round/>
              <a:headEnd/>
              <a:tailEnd/>
            </a:ln>
            <a:effectLst/>
          </p:spPr>
          <p:txBody>
            <a:bodyPr/>
            <a:lstStyle/>
            <a:p>
              <a:endParaRPr lang="en-US"/>
            </a:p>
          </p:txBody>
        </p:sp>
        <p:sp>
          <p:nvSpPr>
            <p:cNvPr id="45077" name="Line 21"/>
            <p:cNvSpPr>
              <a:spLocks noChangeShapeType="1"/>
            </p:cNvSpPr>
            <p:nvPr/>
          </p:nvSpPr>
          <p:spPr bwMode="auto">
            <a:xfrm>
              <a:off x="2133600" y="5029200"/>
              <a:ext cx="304800" cy="0"/>
            </a:xfrm>
            <a:prstGeom prst="line">
              <a:avLst/>
            </a:prstGeom>
            <a:noFill/>
            <a:ln w="9525">
              <a:solidFill>
                <a:schemeClr val="tx1"/>
              </a:solidFill>
              <a:round/>
              <a:headEnd/>
              <a:tailEnd/>
            </a:ln>
            <a:effectLst/>
          </p:spPr>
          <p:txBody>
            <a:bodyPr/>
            <a:lstStyle/>
            <a:p>
              <a:endParaRPr lang="en-US"/>
            </a:p>
          </p:txBody>
        </p:sp>
        <p:sp>
          <p:nvSpPr>
            <p:cNvPr id="45078" name="Line 22"/>
            <p:cNvSpPr>
              <a:spLocks noChangeShapeType="1"/>
            </p:cNvSpPr>
            <p:nvPr/>
          </p:nvSpPr>
          <p:spPr bwMode="auto">
            <a:xfrm>
              <a:off x="2209800" y="5105400"/>
              <a:ext cx="152400" cy="0"/>
            </a:xfrm>
            <a:prstGeom prst="line">
              <a:avLst/>
            </a:prstGeom>
            <a:noFill/>
            <a:ln w="9525">
              <a:solidFill>
                <a:schemeClr val="tx1"/>
              </a:solidFill>
              <a:round/>
              <a:headEnd/>
              <a:tailEnd/>
            </a:ln>
            <a:effectLst/>
          </p:spPr>
          <p:txBody>
            <a:bodyPr/>
            <a:lstStyle/>
            <a:p>
              <a:endParaRPr lang="en-US"/>
            </a:p>
          </p:txBody>
        </p:sp>
        <p:sp>
          <p:nvSpPr>
            <p:cNvPr id="45079" name="Line 23"/>
            <p:cNvSpPr>
              <a:spLocks noChangeShapeType="1"/>
            </p:cNvSpPr>
            <p:nvPr/>
          </p:nvSpPr>
          <p:spPr bwMode="auto">
            <a:xfrm>
              <a:off x="2254250" y="5181600"/>
              <a:ext cx="76200" cy="0"/>
            </a:xfrm>
            <a:prstGeom prst="line">
              <a:avLst/>
            </a:prstGeom>
            <a:noFill/>
            <a:ln w="9525">
              <a:solidFill>
                <a:schemeClr val="tx1"/>
              </a:solidFill>
              <a:round/>
              <a:headEnd/>
              <a:tailEnd/>
            </a:ln>
            <a:effectLst/>
          </p:spPr>
          <p:txBody>
            <a:bodyPr/>
            <a:lstStyle/>
            <a:p>
              <a:endParaRPr lang="en-US"/>
            </a:p>
          </p:txBody>
        </p:sp>
        <p:sp>
          <p:nvSpPr>
            <p:cNvPr id="45080" name="Line 24"/>
            <p:cNvSpPr>
              <a:spLocks noChangeShapeType="1"/>
            </p:cNvSpPr>
            <p:nvPr/>
          </p:nvSpPr>
          <p:spPr bwMode="auto">
            <a:xfrm flipV="1">
              <a:off x="2286000" y="2133600"/>
              <a:ext cx="0" cy="685800"/>
            </a:xfrm>
            <a:prstGeom prst="line">
              <a:avLst/>
            </a:prstGeom>
            <a:noFill/>
            <a:ln w="9525">
              <a:solidFill>
                <a:schemeClr val="tx1"/>
              </a:solidFill>
              <a:round/>
              <a:headEnd/>
              <a:tailEnd/>
            </a:ln>
            <a:effectLst/>
          </p:spPr>
          <p:txBody>
            <a:bodyPr/>
            <a:lstStyle/>
            <a:p>
              <a:endParaRPr lang="en-US"/>
            </a:p>
          </p:txBody>
        </p:sp>
        <p:sp>
          <p:nvSpPr>
            <p:cNvPr id="45081" name="Line 25"/>
            <p:cNvSpPr>
              <a:spLocks noChangeShapeType="1"/>
            </p:cNvSpPr>
            <p:nvPr/>
          </p:nvSpPr>
          <p:spPr bwMode="auto">
            <a:xfrm>
              <a:off x="2286000" y="2133600"/>
              <a:ext cx="762000" cy="0"/>
            </a:xfrm>
            <a:prstGeom prst="line">
              <a:avLst/>
            </a:prstGeom>
            <a:noFill/>
            <a:ln w="9525">
              <a:solidFill>
                <a:schemeClr val="tx1"/>
              </a:solidFill>
              <a:round/>
              <a:headEnd/>
              <a:tailEnd/>
            </a:ln>
            <a:effectLst/>
          </p:spPr>
          <p:txBody>
            <a:bodyPr/>
            <a:lstStyle/>
            <a:p>
              <a:endParaRPr lang="en-US"/>
            </a:p>
          </p:txBody>
        </p:sp>
        <p:sp>
          <p:nvSpPr>
            <p:cNvPr id="45086" name="Oval 30"/>
            <p:cNvSpPr>
              <a:spLocks noChangeArrowheads="1"/>
            </p:cNvSpPr>
            <p:nvPr/>
          </p:nvSpPr>
          <p:spPr bwMode="auto">
            <a:xfrm>
              <a:off x="2786063" y="1970088"/>
              <a:ext cx="304800" cy="304800"/>
            </a:xfrm>
            <a:prstGeom prst="ellipse">
              <a:avLst/>
            </a:prstGeom>
            <a:solidFill>
              <a:schemeClr val="bg1"/>
            </a:solidFill>
            <a:ln w="9525">
              <a:solidFill>
                <a:schemeClr val="tx1"/>
              </a:solidFill>
              <a:round/>
              <a:headEnd/>
              <a:tailEnd/>
            </a:ln>
            <a:effectLst/>
          </p:spPr>
          <p:txBody>
            <a:bodyPr wrap="none" anchor="ctr"/>
            <a:lstStyle/>
            <a:p>
              <a:endParaRPr lang="en-US"/>
            </a:p>
          </p:txBody>
        </p:sp>
        <p:sp>
          <p:nvSpPr>
            <p:cNvPr id="45087" name="Text Box 31"/>
            <p:cNvSpPr txBox="1">
              <a:spLocks noChangeArrowheads="1"/>
            </p:cNvSpPr>
            <p:nvPr/>
          </p:nvSpPr>
          <p:spPr bwMode="auto">
            <a:xfrm>
              <a:off x="2763838" y="1927225"/>
              <a:ext cx="336550" cy="366713"/>
            </a:xfrm>
            <a:prstGeom prst="rect">
              <a:avLst/>
            </a:prstGeom>
            <a:noFill/>
            <a:ln w="9525">
              <a:noFill/>
              <a:miter lim="800000"/>
              <a:headEnd/>
              <a:tailEnd/>
            </a:ln>
            <a:effectLst/>
          </p:spPr>
          <p:txBody>
            <a:bodyPr wrap="none">
              <a:spAutoFit/>
            </a:bodyPr>
            <a:lstStyle/>
            <a:p>
              <a:r>
                <a:rPr lang="en-US" altLang="zh-CN">
                  <a:ea typeface="宋体" pitchFamily="2" charset="-122"/>
                </a:rPr>
                <a:t>V</a:t>
              </a:r>
            </a:p>
          </p:txBody>
        </p:sp>
        <p:sp>
          <p:nvSpPr>
            <p:cNvPr id="45089" name="Text Box 33"/>
            <p:cNvSpPr txBox="1">
              <a:spLocks noChangeArrowheads="1"/>
            </p:cNvSpPr>
            <p:nvPr/>
          </p:nvSpPr>
          <p:spPr bwMode="auto">
            <a:xfrm>
              <a:off x="1981200" y="1981200"/>
              <a:ext cx="260350" cy="366713"/>
            </a:xfrm>
            <a:prstGeom prst="rect">
              <a:avLst/>
            </a:prstGeom>
            <a:noFill/>
            <a:ln w="9525">
              <a:noFill/>
              <a:miter lim="800000"/>
              <a:headEnd/>
              <a:tailEnd/>
            </a:ln>
            <a:effectLst/>
          </p:spPr>
          <p:txBody>
            <a:bodyPr wrap="none">
              <a:spAutoFit/>
            </a:bodyPr>
            <a:lstStyle/>
            <a:p>
              <a:r>
                <a:rPr lang="en-US" altLang="zh-CN" i="1">
                  <a:latin typeface="Times New Roman" pitchFamily="18" charset="0"/>
                  <a:ea typeface="宋体" pitchFamily="2" charset="-122"/>
                  <a:cs typeface="Times New Roman" pitchFamily="18" charset="0"/>
                </a:rPr>
                <a:t>I</a:t>
              </a:r>
            </a:p>
          </p:txBody>
        </p:sp>
        <p:sp>
          <p:nvSpPr>
            <p:cNvPr id="45090" name="Text Box 34"/>
            <p:cNvSpPr txBox="1">
              <a:spLocks noChangeArrowheads="1"/>
            </p:cNvSpPr>
            <p:nvPr/>
          </p:nvSpPr>
          <p:spPr bwMode="auto">
            <a:xfrm>
              <a:off x="1320344" y="2763018"/>
              <a:ext cx="2020213" cy="378187"/>
            </a:xfrm>
            <a:prstGeom prst="rect">
              <a:avLst/>
            </a:prstGeom>
            <a:noFill/>
            <a:ln w="9525">
              <a:noFill/>
              <a:miter lim="800000"/>
              <a:headEnd/>
              <a:tailEnd/>
            </a:ln>
            <a:effectLst/>
          </p:spPr>
          <p:txBody>
            <a:bodyPr wrap="none">
              <a:spAutoFit/>
            </a:bodyPr>
            <a:lstStyle/>
            <a:p>
              <a:r>
                <a:rPr lang="en-US" altLang="zh-CN" dirty="0">
                  <a:ea typeface="宋体" pitchFamily="2" charset="-122"/>
                </a:rPr>
                <a:t>Collector (anode)</a:t>
              </a:r>
            </a:p>
          </p:txBody>
        </p:sp>
        <p:sp>
          <p:nvSpPr>
            <p:cNvPr id="45091" name="Line 35"/>
            <p:cNvSpPr>
              <a:spLocks noChangeShapeType="1"/>
            </p:cNvSpPr>
            <p:nvPr/>
          </p:nvSpPr>
          <p:spPr bwMode="auto">
            <a:xfrm flipV="1">
              <a:off x="1828800" y="3352800"/>
              <a:ext cx="0" cy="304800"/>
            </a:xfrm>
            <a:prstGeom prst="line">
              <a:avLst/>
            </a:prstGeom>
            <a:noFill/>
            <a:ln w="9525">
              <a:solidFill>
                <a:srgbClr val="0000FF"/>
              </a:solidFill>
              <a:round/>
              <a:headEnd/>
              <a:tailEnd type="triangle" w="med" len="med"/>
            </a:ln>
            <a:effectLst/>
          </p:spPr>
          <p:txBody>
            <a:bodyPr/>
            <a:lstStyle/>
            <a:p>
              <a:endParaRPr lang="en-US"/>
            </a:p>
          </p:txBody>
        </p:sp>
        <p:sp>
          <p:nvSpPr>
            <p:cNvPr id="45092" name="Oval 36"/>
            <p:cNvSpPr>
              <a:spLocks noChangeArrowheads="1"/>
            </p:cNvSpPr>
            <p:nvPr/>
          </p:nvSpPr>
          <p:spPr bwMode="auto">
            <a:xfrm>
              <a:off x="1752600" y="3657600"/>
              <a:ext cx="152400" cy="152400"/>
            </a:xfrm>
            <a:prstGeom prst="ellipse">
              <a:avLst/>
            </a:prstGeom>
            <a:solidFill>
              <a:schemeClr val="accent1"/>
            </a:solidFill>
            <a:ln w="9525">
              <a:solidFill>
                <a:schemeClr val="tx1"/>
              </a:solidFill>
              <a:round/>
              <a:headEnd/>
              <a:tailEnd/>
            </a:ln>
            <a:effectLst/>
          </p:spPr>
          <p:txBody>
            <a:bodyPr wrap="none" anchor="ctr"/>
            <a:lstStyle/>
            <a:p>
              <a:endParaRPr lang="en-US"/>
            </a:p>
          </p:txBody>
        </p:sp>
        <p:sp>
          <p:nvSpPr>
            <p:cNvPr id="45093" name="Text Box 37"/>
            <p:cNvSpPr txBox="1">
              <a:spLocks noChangeArrowheads="1"/>
            </p:cNvSpPr>
            <p:nvPr/>
          </p:nvSpPr>
          <p:spPr bwMode="auto">
            <a:xfrm>
              <a:off x="1676400" y="3525838"/>
              <a:ext cx="311150" cy="366712"/>
            </a:xfrm>
            <a:prstGeom prst="rect">
              <a:avLst/>
            </a:prstGeom>
            <a:noFill/>
            <a:ln w="9525">
              <a:noFill/>
              <a:miter lim="800000"/>
              <a:headEnd/>
              <a:tailEnd/>
            </a:ln>
            <a:effectLst/>
          </p:spPr>
          <p:txBody>
            <a:bodyPr wrap="none">
              <a:spAutoFit/>
            </a:bodyPr>
            <a:lstStyle/>
            <a:p>
              <a:r>
                <a:rPr lang="en-US" altLang="zh-CN">
                  <a:ea typeface="宋体" pitchFamily="2" charset="-122"/>
                </a:rPr>
                <a:t>e</a:t>
              </a:r>
            </a:p>
          </p:txBody>
        </p:sp>
        <p:sp>
          <p:nvSpPr>
            <p:cNvPr id="45094" name="Line 38"/>
            <p:cNvSpPr>
              <a:spLocks noChangeShapeType="1"/>
            </p:cNvSpPr>
            <p:nvPr/>
          </p:nvSpPr>
          <p:spPr bwMode="auto">
            <a:xfrm flipV="1">
              <a:off x="2057400" y="3408363"/>
              <a:ext cx="0" cy="304800"/>
            </a:xfrm>
            <a:prstGeom prst="line">
              <a:avLst/>
            </a:prstGeom>
            <a:noFill/>
            <a:ln w="9525">
              <a:solidFill>
                <a:srgbClr val="0000FF"/>
              </a:solidFill>
              <a:round/>
              <a:headEnd/>
              <a:tailEnd type="triangle" w="med" len="med"/>
            </a:ln>
            <a:effectLst/>
          </p:spPr>
          <p:txBody>
            <a:bodyPr/>
            <a:lstStyle/>
            <a:p>
              <a:endParaRPr lang="en-US"/>
            </a:p>
          </p:txBody>
        </p:sp>
        <p:sp>
          <p:nvSpPr>
            <p:cNvPr id="45095" name="Oval 39"/>
            <p:cNvSpPr>
              <a:spLocks noChangeArrowheads="1"/>
            </p:cNvSpPr>
            <p:nvPr/>
          </p:nvSpPr>
          <p:spPr bwMode="auto">
            <a:xfrm>
              <a:off x="1981200" y="3713163"/>
              <a:ext cx="152400" cy="152400"/>
            </a:xfrm>
            <a:prstGeom prst="ellipse">
              <a:avLst/>
            </a:prstGeom>
            <a:solidFill>
              <a:schemeClr val="accent1"/>
            </a:solidFill>
            <a:ln w="9525">
              <a:solidFill>
                <a:schemeClr val="tx1"/>
              </a:solidFill>
              <a:round/>
              <a:headEnd/>
              <a:tailEnd/>
            </a:ln>
            <a:effectLst/>
          </p:spPr>
          <p:txBody>
            <a:bodyPr wrap="none" anchor="ctr"/>
            <a:lstStyle/>
            <a:p>
              <a:endParaRPr lang="en-US"/>
            </a:p>
          </p:txBody>
        </p:sp>
        <p:sp>
          <p:nvSpPr>
            <p:cNvPr id="45096" name="Text Box 40"/>
            <p:cNvSpPr txBox="1">
              <a:spLocks noChangeArrowheads="1"/>
            </p:cNvSpPr>
            <p:nvPr/>
          </p:nvSpPr>
          <p:spPr bwMode="auto">
            <a:xfrm>
              <a:off x="1905000" y="3581400"/>
              <a:ext cx="311150" cy="366713"/>
            </a:xfrm>
            <a:prstGeom prst="rect">
              <a:avLst/>
            </a:prstGeom>
            <a:noFill/>
            <a:ln w="9525">
              <a:noFill/>
              <a:miter lim="800000"/>
              <a:headEnd/>
              <a:tailEnd/>
            </a:ln>
            <a:effectLst/>
          </p:spPr>
          <p:txBody>
            <a:bodyPr wrap="none">
              <a:spAutoFit/>
            </a:bodyPr>
            <a:lstStyle/>
            <a:p>
              <a:r>
                <a:rPr lang="en-US" altLang="zh-CN">
                  <a:ea typeface="宋体" pitchFamily="2" charset="-122"/>
                </a:rPr>
                <a:t>e</a:t>
              </a:r>
            </a:p>
          </p:txBody>
        </p:sp>
      </p:grpSp>
      <p:sp>
        <p:nvSpPr>
          <p:cNvPr id="3" name="Slide Number Placeholder 2">
            <a:extLst>
              <a:ext uri="{FF2B5EF4-FFF2-40B4-BE49-F238E27FC236}">
                <a16:creationId xmlns:a16="http://schemas.microsoft.com/office/drawing/2014/main" id="{0D02A224-1B08-4E5E-9940-E51631B96BB0}"/>
              </a:ext>
            </a:extLst>
          </p:cNvPr>
          <p:cNvSpPr>
            <a:spLocks noGrp="1"/>
          </p:cNvSpPr>
          <p:nvPr>
            <p:ph type="sldNum" sz="quarter" idx="11"/>
          </p:nvPr>
        </p:nvSpPr>
        <p:spPr/>
        <p:txBody>
          <a:bodyPr/>
          <a:lstStyle/>
          <a:p>
            <a:pPr>
              <a:defRPr/>
            </a:pPr>
            <a:fld id="{EBF73BDF-690D-4725-BA10-A7934ED52EAB}" type="slidenum">
              <a:rPr lang="zh-TW" altLang="en-US" smtClean="0"/>
              <a:pPr>
                <a:defRPr/>
              </a:pPr>
              <a:t>9</a:t>
            </a:fld>
            <a:endParaRPr lang="en-US" altLang="zh-TW"/>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5"/>
          <p:cNvSpPr>
            <a:spLocks noChangeArrowheads="1"/>
          </p:cNvSpPr>
          <p:nvPr/>
        </p:nvSpPr>
        <p:spPr bwMode="auto">
          <a:xfrm>
            <a:off x="0" y="1538288"/>
            <a:ext cx="9144000" cy="0"/>
          </a:xfrm>
          <a:prstGeom prst="rect">
            <a:avLst/>
          </a:prstGeom>
          <a:noFill/>
          <a:ln w="9525">
            <a:noFill/>
            <a:miter lim="800000"/>
            <a:headEnd/>
            <a:tailEnd/>
          </a:ln>
        </p:spPr>
        <p:txBody>
          <a:bodyPr wrap="none" anchor="ctr">
            <a:spAutoFit/>
          </a:bodyPr>
          <a:lstStyle/>
          <a:p>
            <a:endParaRPr lang="zh-CN" altLang="zh-CN">
              <a:ea typeface="SimSun" pitchFamily="2" charset="-122"/>
            </a:endParaRPr>
          </a:p>
        </p:txBody>
      </p:sp>
      <p:graphicFrame>
        <p:nvGraphicFramePr>
          <p:cNvPr id="1026" name="Object 4"/>
          <p:cNvGraphicFramePr>
            <a:graphicFrameLocks noChangeAspect="1"/>
          </p:cNvGraphicFramePr>
          <p:nvPr>
            <p:extLst>
              <p:ext uri="{D42A27DB-BD31-4B8C-83A1-F6EECF244321}">
                <p14:modId xmlns:p14="http://schemas.microsoft.com/office/powerpoint/2010/main" val="1843515702"/>
              </p:ext>
            </p:extLst>
          </p:nvPr>
        </p:nvGraphicFramePr>
        <p:xfrm>
          <a:off x="614362" y="666750"/>
          <a:ext cx="7915275" cy="3781425"/>
        </p:xfrm>
        <a:graphic>
          <a:graphicData uri="http://schemas.openxmlformats.org/presentationml/2006/ole">
            <mc:AlternateContent xmlns:mc="http://schemas.openxmlformats.org/markup-compatibility/2006">
              <mc:Choice xmlns:v="urn:schemas-microsoft-com:vml" Requires="v">
                <p:oleObj r:id="rId3" imgW="7915275" imgH="3781425" progId="">
                  <p:embed/>
                </p:oleObj>
              </mc:Choice>
              <mc:Fallback>
                <p:oleObj r:id="rId3" imgW="7915275" imgH="3781425" progId="">
                  <p:embed/>
                  <p:pic>
                    <p:nvPicPr>
                      <p:cNvPr id="1026"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4362" y="666750"/>
                        <a:ext cx="7915275" cy="37814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8" name="Rectangle 6"/>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Why XPS is a surface process?</a:t>
            </a:r>
          </a:p>
        </p:txBody>
      </p:sp>
      <p:sp>
        <p:nvSpPr>
          <p:cNvPr id="5" name="Text Box 6">
            <a:extLst>
              <a:ext uri="{FF2B5EF4-FFF2-40B4-BE49-F238E27FC236}">
                <a16:creationId xmlns:a16="http://schemas.microsoft.com/office/drawing/2014/main" id="{E467FE6A-71E7-45D3-A255-84AF0BCCC9BF}"/>
              </a:ext>
            </a:extLst>
          </p:cNvPr>
          <p:cNvSpPr txBox="1">
            <a:spLocks noChangeArrowheads="1"/>
          </p:cNvSpPr>
          <p:nvPr/>
        </p:nvSpPr>
        <p:spPr bwMode="auto">
          <a:xfrm>
            <a:off x="681037" y="4800600"/>
            <a:ext cx="7848600" cy="1692771"/>
          </a:xfrm>
          <a:prstGeom prst="rect">
            <a:avLst/>
          </a:prstGeom>
          <a:noFill/>
          <a:ln w="9525">
            <a:noFill/>
            <a:miter lim="800000"/>
            <a:headEnd/>
            <a:tailEnd/>
          </a:ln>
          <a:effectLst/>
        </p:spPr>
        <p:txBody>
          <a:bodyPr wrap="square">
            <a:spAutoFit/>
          </a:bodyPr>
          <a:lstStyle/>
          <a:p>
            <a:pPr marL="92075" indent="-92075" algn="just">
              <a:spcBef>
                <a:spcPct val="50000"/>
              </a:spcBef>
              <a:buFontTx/>
              <a:buChar char="•"/>
            </a:pPr>
            <a:r>
              <a:rPr lang="en-US" altLang="zh-TW" sz="1600" b="1" dirty="0">
                <a:solidFill>
                  <a:srgbClr val="0000FF"/>
                </a:solidFill>
                <a:latin typeface="Georgia" panose="02040502050405020303" pitchFamily="18" charset="0"/>
                <a:ea typeface="新細明體" pitchFamily="18" charset="-120"/>
              </a:rPr>
              <a:t>In XPS, x-ray irradiates upon the surface of a sample</a:t>
            </a:r>
          </a:p>
          <a:p>
            <a:pPr marL="92075" indent="-92075" algn="just">
              <a:spcBef>
                <a:spcPct val="50000"/>
              </a:spcBef>
              <a:buFontTx/>
              <a:buChar char="•"/>
            </a:pPr>
            <a:r>
              <a:rPr lang="en-US" altLang="zh-TW" sz="1600" b="1" dirty="0">
                <a:solidFill>
                  <a:srgbClr val="0000FF"/>
                </a:solidFill>
                <a:latin typeface="Georgia" panose="02040502050405020303" pitchFamily="18" charset="0"/>
                <a:ea typeface="新細明體" pitchFamily="18" charset="-120"/>
              </a:rPr>
              <a:t>Photoelectrons (</a:t>
            </a:r>
            <a:r>
              <a:rPr lang="en-US" altLang="zh-TW" sz="1600" b="1" dirty="0" err="1">
                <a:solidFill>
                  <a:srgbClr val="0000FF"/>
                </a:solidFill>
                <a:latin typeface="Georgia" panose="02040502050405020303" pitchFamily="18" charset="0"/>
                <a:ea typeface="新細明體" pitchFamily="18" charset="-120"/>
              </a:rPr>
              <a:t>photoinduced</a:t>
            </a:r>
            <a:r>
              <a:rPr lang="en-US" altLang="zh-TW" sz="1600" b="1" dirty="0">
                <a:solidFill>
                  <a:srgbClr val="0000FF"/>
                </a:solidFill>
                <a:latin typeface="Georgia" panose="02040502050405020303" pitchFamily="18" charset="0"/>
                <a:ea typeface="新細明體" pitchFamily="18" charset="-120"/>
              </a:rPr>
              <a:t> electrons) are collected by a detector.</a:t>
            </a:r>
          </a:p>
          <a:p>
            <a:pPr marL="92075" indent="-92075" algn="just">
              <a:spcBef>
                <a:spcPct val="50000"/>
              </a:spcBef>
              <a:buFontTx/>
              <a:buChar char="•"/>
            </a:pPr>
            <a:r>
              <a:rPr lang="en-US" altLang="zh-TW" sz="1600" dirty="0">
                <a:latin typeface="Georgia" panose="02040502050405020303" pitchFamily="18" charset="0"/>
                <a:ea typeface="新細明體" pitchFamily="18" charset="-120"/>
              </a:rPr>
              <a:t>The sampling depth of x-ray is in the </a:t>
            </a:r>
            <a:r>
              <a:rPr lang="el-GR" altLang="zh-TW" sz="1600" b="1" dirty="0">
                <a:solidFill>
                  <a:srgbClr val="0000FF"/>
                </a:solidFill>
                <a:latin typeface="Georgia" panose="02040502050405020303" pitchFamily="18" charset="0"/>
                <a:ea typeface="新細明體" pitchFamily="18" charset="-120"/>
                <a:cs typeface="Arial" charset="0"/>
              </a:rPr>
              <a:t>μ</a:t>
            </a:r>
            <a:r>
              <a:rPr lang="en-US" altLang="zh-TW" sz="1600" b="1" dirty="0">
                <a:solidFill>
                  <a:srgbClr val="0000FF"/>
                </a:solidFill>
                <a:latin typeface="Georgia" panose="02040502050405020303" pitchFamily="18" charset="0"/>
                <a:ea typeface="新細明體" pitchFamily="18" charset="-120"/>
                <a:cs typeface="Arial" charset="0"/>
              </a:rPr>
              <a:t>m</a:t>
            </a:r>
            <a:r>
              <a:rPr lang="en-US" altLang="zh-TW" sz="1600" dirty="0">
                <a:latin typeface="Georgia" panose="02040502050405020303" pitchFamily="18" charset="0"/>
                <a:ea typeface="新細明體" pitchFamily="18" charset="-120"/>
                <a:cs typeface="Arial" charset="0"/>
              </a:rPr>
              <a:t> </a:t>
            </a:r>
            <a:r>
              <a:rPr lang="en-US" altLang="zh-TW" sz="1600" dirty="0">
                <a:latin typeface="Georgia" panose="02040502050405020303" pitchFamily="18" charset="0"/>
                <a:ea typeface="新細明體" pitchFamily="18" charset="-120"/>
              </a:rPr>
              <a:t>level, while only those photoelectrons from the outmost </a:t>
            </a:r>
            <a:r>
              <a:rPr lang="en-US" altLang="zh-TW" sz="1600" b="1" dirty="0">
                <a:solidFill>
                  <a:schemeClr val="bg2">
                    <a:lumMod val="60000"/>
                    <a:lumOff val="40000"/>
                  </a:schemeClr>
                </a:solidFill>
                <a:latin typeface="Georgia" panose="02040502050405020303" pitchFamily="18" charset="0"/>
                <a:ea typeface="新細明體" pitchFamily="18" charset="-120"/>
              </a:rPr>
              <a:t>~100 Å </a:t>
            </a:r>
            <a:r>
              <a:rPr lang="en-US" altLang="zh-TW" sz="1600" dirty="0">
                <a:latin typeface="Georgia" panose="02040502050405020303" pitchFamily="18" charset="0"/>
                <a:ea typeface="新細明體" pitchFamily="18" charset="-120"/>
              </a:rPr>
              <a:t>are able to escape</a:t>
            </a:r>
          </a:p>
          <a:p>
            <a:pPr marL="92075" indent="-92075" algn="just">
              <a:spcBef>
                <a:spcPct val="50000"/>
              </a:spcBef>
              <a:buFontTx/>
              <a:buChar char="•"/>
            </a:pPr>
            <a:r>
              <a:rPr lang="en-US" altLang="zh-TW" sz="1600" dirty="0">
                <a:latin typeface="Georgia" panose="02040502050405020303" pitchFamily="18" charset="0"/>
                <a:ea typeface="新細明體" pitchFamily="18" charset="-120"/>
              </a:rPr>
              <a:t>This can be explained in term of the </a:t>
            </a:r>
            <a:r>
              <a:rPr lang="en-US" altLang="zh-TW" sz="1600" dirty="0">
                <a:solidFill>
                  <a:srgbClr val="FF3300"/>
                </a:solidFill>
                <a:latin typeface="Georgia" panose="02040502050405020303" pitchFamily="18" charset="0"/>
                <a:ea typeface="新細明體" pitchFamily="18" charset="-120"/>
              </a:rPr>
              <a:t>mean free path</a:t>
            </a:r>
            <a:r>
              <a:rPr lang="en-US" altLang="zh-TW" sz="1600" dirty="0">
                <a:latin typeface="Georgia" panose="02040502050405020303" pitchFamily="18" charset="0"/>
                <a:ea typeface="新細明體" pitchFamily="18" charset="-120"/>
              </a:rPr>
              <a:t>, </a:t>
            </a:r>
            <a:r>
              <a:rPr lang="el-GR" altLang="zh-TW" sz="1600" dirty="0">
                <a:latin typeface="Georgia" panose="02040502050405020303" pitchFamily="18" charset="0"/>
                <a:ea typeface="新細明體" pitchFamily="18" charset="-120"/>
              </a:rPr>
              <a:t>λ</a:t>
            </a:r>
            <a:r>
              <a:rPr lang="en-US" altLang="zh-TW" sz="1600" dirty="0">
                <a:latin typeface="Georgia" panose="02040502050405020303" pitchFamily="18" charset="0"/>
                <a:ea typeface="新細明體" pitchFamily="18" charset="-120"/>
              </a:rPr>
              <a:t>, of electrons.</a:t>
            </a:r>
            <a:endParaRPr lang="zh-TW" altLang="en-US" sz="1600" dirty="0">
              <a:latin typeface="Georgia" panose="02040502050405020303" pitchFamily="18" charset="0"/>
              <a:ea typeface="新細明體" pitchFamily="18" charset="-120"/>
            </a:endParaRPr>
          </a:p>
        </p:txBody>
      </p:sp>
      <p:sp>
        <p:nvSpPr>
          <p:cNvPr id="2" name="Slide Number Placeholder 1">
            <a:extLst>
              <a:ext uri="{FF2B5EF4-FFF2-40B4-BE49-F238E27FC236}">
                <a16:creationId xmlns:a16="http://schemas.microsoft.com/office/drawing/2014/main" id="{9DD52A16-FBA0-45DE-A07E-F2749DED612A}"/>
              </a:ext>
            </a:extLst>
          </p:cNvPr>
          <p:cNvSpPr>
            <a:spLocks noGrp="1"/>
          </p:cNvSpPr>
          <p:nvPr>
            <p:ph type="sldNum" sz="quarter" idx="11"/>
          </p:nvPr>
        </p:nvSpPr>
        <p:spPr/>
        <p:txBody>
          <a:bodyPr/>
          <a:lstStyle/>
          <a:p>
            <a:pPr>
              <a:defRPr/>
            </a:pPr>
            <a:fld id="{EBF73BDF-690D-4725-BA10-A7934ED52EAB}" type="slidenum">
              <a:rPr lang="zh-TW" altLang="en-US" smtClean="0"/>
              <a:pPr>
                <a:defRPr/>
              </a:pPr>
              <a:t>10</a:t>
            </a:fld>
            <a:endParaRPr lang="en-US" altLang="zh-TW"/>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ChangeArrowheads="1"/>
          </p:cNvSpPr>
          <p:nvPr/>
        </p:nvSpPr>
        <p:spPr bwMode="auto">
          <a:xfrm>
            <a:off x="676275" y="209550"/>
            <a:ext cx="8229600" cy="457200"/>
          </a:xfrm>
          <a:prstGeom prst="rect">
            <a:avLst/>
          </a:prstGeom>
          <a:noFill/>
          <a:ln w="9525">
            <a:noFill/>
            <a:miter lim="800000"/>
            <a:headEnd/>
            <a:tailEnd/>
          </a:ln>
          <a:effectLst/>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Surface process</a:t>
            </a:r>
          </a:p>
        </p:txBody>
      </p:sp>
      <p:pic>
        <p:nvPicPr>
          <p:cNvPr id="119813" name="Picture 5"/>
          <p:cNvPicPr>
            <a:picLocks noChangeAspect="1" noChangeArrowheads="1"/>
          </p:cNvPicPr>
          <p:nvPr/>
        </p:nvPicPr>
        <p:blipFill>
          <a:blip r:embed="rId3" cstate="print"/>
          <a:srcRect/>
          <a:stretch>
            <a:fillRect/>
          </a:stretch>
        </p:blipFill>
        <p:spPr bwMode="auto">
          <a:xfrm>
            <a:off x="533400" y="1403551"/>
            <a:ext cx="2868538" cy="1130969"/>
          </a:xfrm>
          <a:prstGeom prst="rect">
            <a:avLst/>
          </a:prstGeom>
          <a:noFill/>
          <a:ln w="9525">
            <a:noFill/>
            <a:miter lim="800000"/>
            <a:headEnd/>
            <a:tailEnd/>
          </a:ln>
        </p:spPr>
      </p:pic>
      <p:sp>
        <p:nvSpPr>
          <p:cNvPr id="119817" name="Text Box 9"/>
          <p:cNvSpPr txBox="1">
            <a:spLocks noChangeArrowheads="1"/>
          </p:cNvSpPr>
          <p:nvPr/>
        </p:nvSpPr>
        <p:spPr bwMode="auto">
          <a:xfrm>
            <a:off x="346610" y="962818"/>
            <a:ext cx="3298310" cy="369332"/>
          </a:xfrm>
          <a:prstGeom prst="rect">
            <a:avLst/>
          </a:prstGeom>
          <a:noFill/>
          <a:ln w="9525">
            <a:noFill/>
            <a:miter lim="800000"/>
            <a:headEnd/>
            <a:tailEnd/>
          </a:ln>
          <a:effectLst/>
        </p:spPr>
        <p:txBody>
          <a:bodyPr wrap="square">
            <a:spAutoFit/>
          </a:bodyPr>
          <a:lstStyle/>
          <a:p>
            <a:r>
              <a:rPr lang="en-US" altLang="zh-CN" dirty="0">
                <a:latin typeface="Georgia" panose="02040502050405020303" pitchFamily="18" charset="0"/>
                <a:ea typeface="宋体" pitchFamily="2" charset="-122"/>
              </a:rPr>
              <a:t>Mean free path for electrons</a:t>
            </a:r>
          </a:p>
        </p:txBody>
      </p:sp>
      <p:sp>
        <p:nvSpPr>
          <p:cNvPr id="3" name="TextBox 2"/>
          <p:cNvSpPr txBox="1"/>
          <p:nvPr/>
        </p:nvSpPr>
        <p:spPr>
          <a:xfrm>
            <a:off x="393289" y="2605922"/>
            <a:ext cx="3416320" cy="369332"/>
          </a:xfrm>
          <a:prstGeom prst="rect">
            <a:avLst/>
          </a:prstGeom>
          <a:noFill/>
        </p:spPr>
        <p:txBody>
          <a:bodyPr wrap="none" rtlCol="0">
            <a:spAutoFit/>
          </a:bodyPr>
          <a:lstStyle/>
          <a:p>
            <a:r>
              <a:rPr lang="en-US" dirty="0">
                <a:solidFill>
                  <a:srgbClr val="FF0000"/>
                </a:solidFill>
                <a:latin typeface="Georgia" panose="02040502050405020303" pitchFamily="18" charset="0"/>
              </a:rPr>
              <a:t>Note here, </a:t>
            </a:r>
            <a:r>
              <a:rPr lang="el-GR" altLang="zh-TW" dirty="0">
                <a:solidFill>
                  <a:srgbClr val="FF0000"/>
                </a:solidFill>
                <a:latin typeface="Georgia" panose="02040502050405020303" pitchFamily="18" charset="0"/>
                <a:ea typeface="新細明體" pitchFamily="18" charset="-120"/>
              </a:rPr>
              <a:t>λ</a:t>
            </a:r>
            <a:r>
              <a:rPr lang="en-US" altLang="zh-TW" dirty="0">
                <a:solidFill>
                  <a:srgbClr val="FF0000"/>
                </a:solidFill>
                <a:latin typeface="Georgia" panose="02040502050405020303" pitchFamily="18" charset="0"/>
                <a:ea typeface="新細明體" pitchFamily="18" charset="-120"/>
              </a:rPr>
              <a:t> is not wavelength!</a:t>
            </a:r>
            <a:r>
              <a:rPr lang="en-US" dirty="0">
                <a:latin typeface="Georgia" panose="02040502050405020303" pitchFamily="18" charset="0"/>
              </a:rPr>
              <a:t> </a:t>
            </a:r>
          </a:p>
        </p:txBody>
      </p:sp>
      <p:pic>
        <p:nvPicPr>
          <p:cNvPr id="114690" name="Picture 2" descr="Electron mean free path of some elements at different kinetic energies">
            <a:extLst>
              <a:ext uri="{FF2B5EF4-FFF2-40B4-BE49-F238E27FC236}">
                <a16:creationId xmlns:a16="http://schemas.microsoft.com/office/drawing/2014/main" id="{79321053-815C-4F98-BBE9-5EDF02923F2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54208" y="653719"/>
            <a:ext cx="3962400" cy="295812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AE19E99-F22E-47E5-818F-72E6CA157943}"/>
              </a:ext>
            </a:extLst>
          </p:cNvPr>
          <p:cNvSpPr txBox="1"/>
          <p:nvPr/>
        </p:nvSpPr>
        <p:spPr>
          <a:xfrm>
            <a:off x="346610" y="3271322"/>
            <a:ext cx="3581358" cy="2800767"/>
          </a:xfrm>
          <a:prstGeom prst="rect">
            <a:avLst/>
          </a:prstGeom>
          <a:noFill/>
        </p:spPr>
        <p:txBody>
          <a:bodyPr wrap="square" rtlCol="0">
            <a:spAutoFit/>
          </a:bodyPr>
          <a:lstStyle/>
          <a:p>
            <a:pPr marL="285750" indent="-285750">
              <a:buFont typeface="Arial" panose="020B0604020202020204" pitchFamily="34" charset="0"/>
              <a:buChar char="•"/>
            </a:pPr>
            <a:r>
              <a:rPr lang="en-US" sz="1600" dirty="0">
                <a:latin typeface="Georgia" panose="02040502050405020303" pitchFamily="18" charset="0"/>
              </a:rPr>
              <a:t>The mean free path </a:t>
            </a:r>
            <a:r>
              <a:rPr lang="el-GR" sz="1600" dirty="0">
                <a:latin typeface="Georgia" panose="02040502050405020303" pitchFamily="18" charset="0"/>
              </a:rPr>
              <a:t>λ</a:t>
            </a:r>
            <a:r>
              <a:rPr lang="en-US" sz="1600" dirty="0">
                <a:latin typeface="Georgia" panose="02040502050405020303" pitchFamily="18" charset="0"/>
              </a:rPr>
              <a:t> versus electron kinetic energy of various metals shows a “universal” curve.</a:t>
            </a:r>
          </a:p>
          <a:p>
            <a:endParaRPr lang="en-US" sz="1600" dirty="0">
              <a:latin typeface="Georgia" panose="02040502050405020303" pitchFamily="18" charset="0"/>
            </a:endParaRPr>
          </a:p>
          <a:p>
            <a:pPr marL="285750" indent="-285750">
              <a:buFont typeface="Arial" panose="020B0604020202020204" pitchFamily="34" charset="0"/>
              <a:buChar char="•"/>
            </a:pPr>
            <a:r>
              <a:rPr lang="en-US" sz="1600" dirty="0">
                <a:latin typeface="Georgia" panose="02040502050405020303" pitchFamily="18" charset="0"/>
              </a:rPr>
              <a:t>There is a transition region  between 10 eV – 100 eV.</a:t>
            </a:r>
          </a:p>
          <a:p>
            <a:pPr marL="285750" indent="-285750">
              <a:buFont typeface="Arial" panose="020B0604020202020204" pitchFamily="34" charset="0"/>
              <a:buChar char="•"/>
            </a:pPr>
            <a:endParaRPr lang="en-US" sz="1600" dirty="0">
              <a:latin typeface="Georgia" panose="02040502050405020303" pitchFamily="18" charset="0"/>
            </a:endParaRPr>
          </a:p>
          <a:p>
            <a:pPr marL="285750" indent="-285750">
              <a:buFont typeface="Arial" panose="020B0604020202020204" pitchFamily="34" charset="0"/>
              <a:buChar char="•"/>
            </a:pPr>
            <a:r>
              <a:rPr lang="en-US" sz="1600" dirty="0">
                <a:latin typeface="Georgia" panose="02040502050405020303" pitchFamily="18" charset="0"/>
              </a:rPr>
              <a:t>For XPS, it is best restricted to the data above 150 eV to analysis of the important inter-element differences [1].</a:t>
            </a:r>
          </a:p>
        </p:txBody>
      </p:sp>
      <p:pic>
        <p:nvPicPr>
          <p:cNvPr id="14" name="Picture 4">
            <a:extLst>
              <a:ext uri="{FF2B5EF4-FFF2-40B4-BE49-F238E27FC236}">
                <a16:creationId xmlns:a16="http://schemas.microsoft.com/office/drawing/2014/main" id="{8824A484-A8D2-4ECB-91EB-AC623F53DE58}"/>
              </a:ext>
            </a:extLst>
          </p:cNvPr>
          <p:cNvPicPr>
            <a:picLocks noChangeAspect="1" noChangeArrowheads="1"/>
          </p:cNvPicPr>
          <p:nvPr/>
        </p:nvPicPr>
        <p:blipFill>
          <a:blip r:embed="rId5" cstate="print"/>
          <a:srcRect/>
          <a:stretch>
            <a:fillRect/>
          </a:stretch>
        </p:blipFill>
        <p:spPr bwMode="auto">
          <a:xfrm>
            <a:off x="4304144" y="3611840"/>
            <a:ext cx="4062529" cy="3246160"/>
          </a:xfrm>
          <a:prstGeom prst="rect">
            <a:avLst/>
          </a:prstGeom>
          <a:noFill/>
          <a:ln w="9525">
            <a:noFill/>
            <a:miter lim="800000"/>
            <a:headEnd/>
            <a:tailEnd/>
          </a:ln>
        </p:spPr>
      </p:pic>
      <p:sp>
        <p:nvSpPr>
          <p:cNvPr id="6" name="Rectangle 5">
            <a:extLst>
              <a:ext uri="{FF2B5EF4-FFF2-40B4-BE49-F238E27FC236}">
                <a16:creationId xmlns:a16="http://schemas.microsoft.com/office/drawing/2014/main" id="{28DA7827-D133-44E9-93CA-B05A19499C57}"/>
              </a:ext>
            </a:extLst>
          </p:cNvPr>
          <p:cNvSpPr/>
          <p:nvPr/>
        </p:nvSpPr>
        <p:spPr>
          <a:xfrm>
            <a:off x="6705600" y="3836298"/>
            <a:ext cx="1524000" cy="507831"/>
          </a:xfrm>
          <a:prstGeom prst="rect">
            <a:avLst/>
          </a:prstGeom>
        </p:spPr>
        <p:txBody>
          <a:bodyPr wrap="square">
            <a:spAutoFit/>
          </a:bodyPr>
          <a:lstStyle/>
          <a:p>
            <a:r>
              <a:rPr lang="en-US" altLang="zh-CN" sz="900" dirty="0"/>
              <a:t>[1] S</a:t>
            </a:r>
            <a:r>
              <a:rPr lang="en-US" sz="900" dirty="0"/>
              <a:t>URFACE AND INTERFACE ANALYSIS, VOL. 1, NO. 1, 1979</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5C0A12D-1412-41B2-97E7-291D37AA1113}"/>
                  </a:ext>
                </a:extLst>
              </p:cNvPr>
              <p:cNvSpPr txBox="1"/>
              <p:nvPr/>
            </p:nvSpPr>
            <p:spPr>
              <a:xfrm>
                <a:off x="6348528" y="4436204"/>
                <a:ext cx="1623457" cy="553357"/>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𝜆</m:t>
                      </m:r>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𝐴</m:t>
                          </m:r>
                        </m:num>
                        <m:den>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𝐸</m:t>
                              </m:r>
                            </m:e>
                            <m:sup>
                              <m:r>
                                <a:rPr lang="en-US" sz="1600" b="0" i="1" smtClean="0">
                                  <a:latin typeface="Cambria Math" panose="02040503050406030204" pitchFamily="18" charset="0"/>
                                </a:rPr>
                                <m:t>2</m:t>
                              </m:r>
                            </m:sup>
                          </m:sSup>
                        </m:den>
                      </m:f>
                      <m:r>
                        <a:rPr lang="en-US" sz="1600" b="0" i="1" smtClean="0">
                          <a:latin typeface="Cambria Math" panose="02040503050406030204" pitchFamily="18" charset="0"/>
                        </a:rPr>
                        <m:t>+</m:t>
                      </m:r>
                      <m:r>
                        <a:rPr lang="en-US" sz="1600" b="0" i="1" smtClean="0">
                          <a:latin typeface="Cambria Math" panose="02040503050406030204" pitchFamily="18" charset="0"/>
                        </a:rPr>
                        <m:t>𝐵</m:t>
                      </m:r>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𝐸</m:t>
                          </m:r>
                        </m:e>
                        <m:sup>
                          <m:r>
                            <a:rPr lang="en-US" sz="1600" b="0" i="1" smtClean="0">
                              <a:latin typeface="Cambria Math" panose="02040503050406030204" pitchFamily="18" charset="0"/>
                            </a:rPr>
                            <m:t>1/2</m:t>
                          </m:r>
                        </m:sup>
                      </m:sSup>
                    </m:oMath>
                  </m:oMathPara>
                </a14:m>
                <a:endParaRPr lang="en-US" sz="1600" dirty="0"/>
              </a:p>
            </p:txBody>
          </p:sp>
        </mc:Choice>
        <mc:Fallback xmlns="">
          <p:sp>
            <p:nvSpPr>
              <p:cNvPr id="7" name="TextBox 6">
                <a:extLst>
                  <a:ext uri="{FF2B5EF4-FFF2-40B4-BE49-F238E27FC236}">
                    <a16:creationId xmlns:a16="http://schemas.microsoft.com/office/drawing/2014/main" id="{A5C0A12D-1412-41B2-97E7-291D37AA1113}"/>
                  </a:ext>
                </a:extLst>
              </p:cNvPr>
              <p:cNvSpPr txBox="1">
                <a:spLocks noRot="1" noChangeAspect="1" noMove="1" noResize="1" noEditPoints="1" noAdjustHandles="1" noChangeArrowheads="1" noChangeShapeType="1" noTextEdit="1"/>
              </p:cNvSpPr>
              <p:nvPr/>
            </p:nvSpPr>
            <p:spPr>
              <a:xfrm>
                <a:off x="6348528" y="4436204"/>
                <a:ext cx="1623457" cy="553357"/>
              </a:xfrm>
              <a:prstGeom prst="rect">
                <a:avLst/>
              </a:prstGeom>
              <a:blipFill>
                <a:blip r:embed="rId6"/>
                <a:stretch>
                  <a:fillRect/>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CDB8C0E4-8677-4894-BFA6-115A2B39E82D}"/>
              </a:ext>
            </a:extLst>
          </p:cNvPr>
          <p:cNvSpPr>
            <a:spLocks noGrp="1"/>
          </p:cNvSpPr>
          <p:nvPr>
            <p:ph type="sldNum" sz="quarter" idx="11"/>
          </p:nvPr>
        </p:nvSpPr>
        <p:spPr/>
        <p:txBody>
          <a:bodyPr/>
          <a:lstStyle/>
          <a:p>
            <a:pPr>
              <a:defRPr/>
            </a:pPr>
            <a:fld id="{EBF73BDF-690D-4725-BA10-A7934ED52EAB}" type="slidenum">
              <a:rPr lang="zh-TW" altLang="en-US" smtClean="0"/>
              <a:pPr>
                <a:defRPr/>
              </a:pPr>
              <a:t>11</a:t>
            </a:fld>
            <a:endParaRPr lang="en-US" altLang="zh-TW"/>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51" name="Group 4"/>
          <p:cNvGrpSpPr>
            <a:grpSpLocks/>
          </p:cNvGrpSpPr>
          <p:nvPr/>
        </p:nvGrpSpPr>
        <p:grpSpPr bwMode="auto">
          <a:xfrm>
            <a:off x="304800" y="1524000"/>
            <a:ext cx="4343400" cy="3200400"/>
            <a:chOff x="2461" y="1800"/>
            <a:chExt cx="6840" cy="5040"/>
          </a:xfrm>
        </p:grpSpPr>
        <p:sp>
          <p:nvSpPr>
            <p:cNvPr id="2056" name="Rectangle 5"/>
            <p:cNvSpPr>
              <a:spLocks noChangeArrowheads="1"/>
            </p:cNvSpPr>
            <p:nvPr/>
          </p:nvSpPr>
          <p:spPr bwMode="auto">
            <a:xfrm>
              <a:off x="3361" y="4122"/>
              <a:ext cx="5220" cy="2718"/>
            </a:xfrm>
            <a:prstGeom prst="rect">
              <a:avLst/>
            </a:prstGeom>
            <a:noFill/>
            <a:ln w="9525">
              <a:solidFill>
                <a:srgbClr val="000000"/>
              </a:solidFill>
              <a:miter lim="800000"/>
              <a:headEnd/>
              <a:tailEnd/>
            </a:ln>
          </p:spPr>
          <p:txBody>
            <a:bodyPr/>
            <a:lstStyle/>
            <a:p>
              <a:endParaRPr lang="zh-CN" altLang="zh-CN">
                <a:ea typeface="SimSun" pitchFamily="2" charset="-122"/>
              </a:endParaRPr>
            </a:p>
          </p:txBody>
        </p:sp>
        <p:sp>
          <p:nvSpPr>
            <p:cNvPr id="2057" name="Line 6"/>
            <p:cNvSpPr>
              <a:spLocks noChangeShapeType="1"/>
            </p:cNvSpPr>
            <p:nvPr/>
          </p:nvSpPr>
          <p:spPr bwMode="auto">
            <a:xfrm>
              <a:off x="3001" y="4140"/>
              <a:ext cx="0" cy="1980"/>
            </a:xfrm>
            <a:prstGeom prst="line">
              <a:avLst/>
            </a:prstGeom>
            <a:noFill/>
            <a:ln w="9525">
              <a:solidFill>
                <a:srgbClr val="000000"/>
              </a:solidFill>
              <a:round/>
              <a:headEnd/>
              <a:tailEnd type="triangle" w="med" len="med"/>
            </a:ln>
          </p:spPr>
          <p:txBody>
            <a:bodyPr/>
            <a:lstStyle/>
            <a:p>
              <a:endParaRPr lang="en-US"/>
            </a:p>
          </p:txBody>
        </p:sp>
        <p:sp>
          <p:nvSpPr>
            <p:cNvPr id="2058" name="Line 7"/>
            <p:cNvSpPr>
              <a:spLocks noChangeShapeType="1"/>
            </p:cNvSpPr>
            <p:nvPr/>
          </p:nvSpPr>
          <p:spPr bwMode="auto">
            <a:xfrm>
              <a:off x="8761" y="4140"/>
              <a:ext cx="0" cy="1080"/>
            </a:xfrm>
            <a:prstGeom prst="line">
              <a:avLst/>
            </a:prstGeom>
            <a:noFill/>
            <a:ln w="9525">
              <a:solidFill>
                <a:srgbClr val="000000"/>
              </a:solidFill>
              <a:round/>
              <a:headEnd/>
              <a:tailEnd type="triangle" w="med" len="med"/>
            </a:ln>
          </p:spPr>
          <p:txBody>
            <a:bodyPr/>
            <a:lstStyle/>
            <a:p>
              <a:endParaRPr lang="en-US"/>
            </a:p>
          </p:txBody>
        </p:sp>
        <p:sp>
          <p:nvSpPr>
            <p:cNvPr id="2059" name="Text Box 8"/>
            <p:cNvSpPr txBox="1">
              <a:spLocks noChangeArrowheads="1"/>
            </p:cNvSpPr>
            <p:nvPr/>
          </p:nvSpPr>
          <p:spPr bwMode="auto">
            <a:xfrm>
              <a:off x="2461" y="5040"/>
              <a:ext cx="720" cy="540"/>
            </a:xfrm>
            <a:prstGeom prst="rect">
              <a:avLst/>
            </a:prstGeom>
            <a:noFill/>
            <a:ln w="9525">
              <a:noFill/>
              <a:miter lim="800000"/>
              <a:headEnd/>
              <a:tailEnd/>
            </a:ln>
          </p:spPr>
          <p:txBody>
            <a:bodyPr/>
            <a:lstStyle/>
            <a:p>
              <a:r>
                <a:rPr lang="en-US" altLang="zh-TW" b="1">
                  <a:latin typeface="Times New Roman" pitchFamily="18" charset="0"/>
                  <a:ea typeface="新細明體" pitchFamily="18" charset="-120"/>
                </a:rPr>
                <a:t>d</a:t>
              </a:r>
              <a:endParaRPr lang="en-US" altLang="zh-TW">
                <a:ea typeface="新細明體" pitchFamily="18" charset="-120"/>
              </a:endParaRPr>
            </a:p>
          </p:txBody>
        </p:sp>
        <p:sp>
          <p:nvSpPr>
            <p:cNvPr id="2060" name="Text Box 9"/>
            <p:cNvSpPr txBox="1">
              <a:spLocks noChangeArrowheads="1"/>
            </p:cNvSpPr>
            <p:nvPr/>
          </p:nvSpPr>
          <p:spPr bwMode="auto">
            <a:xfrm>
              <a:off x="8761" y="4320"/>
              <a:ext cx="540" cy="540"/>
            </a:xfrm>
            <a:prstGeom prst="rect">
              <a:avLst/>
            </a:prstGeom>
            <a:noFill/>
            <a:ln w="9525">
              <a:noFill/>
              <a:miter lim="800000"/>
              <a:headEnd/>
              <a:tailEnd/>
            </a:ln>
          </p:spPr>
          <p:txBody>
            <a:bodyPr/>
            <a:lstStyle/>
            <a:p>
              <a:r>
                <a:rPr lang="en-US" altLang="zh-TW" b="1">
                  <a:latin typeface="Times New Roman" pitchFamily="18" charset="0"/>
                  <a:ea typeface="新細明體" pitchFamily="18" charset="-120"/>
                </a:rPr>
                <a:t>x</a:t>
              </a:r>
              <a:endParaRPr lang="en-US" altLang="zh-TW">
                <a:ea typeface="新細明體" pitchFamily="18" charset="-120"/>
              </a:endParaRPr>
            </a:p>
          </p:txBody>
        </p:sp>
        <p:sp>
          <p:nvSpPr>
            <p:cNvPr id="2061" name="Rectangle 10"/>
            <p:cNvSpPr>
              <a:spLocks noChangeArrowheads="1"/>
            </p:cNvSpPr>
            <p:nvPr/>
          </p:nvSpPr>
          <p:spPr bwMode="auto">
            <a:xfrm>
              <a:off x="3361" y="4122"/>
              <a:ext cx="5220" cy="1998"/>
            </a:xfrm>
            <a:prstGeom prst="rect">
              <a:avLst/>
            </a:prstGeom>
            <a:solidFill>
              <a:srgbClr val="ECECEC"/>
            </a:solidFill>
            <a:ln w="9525">
              <a:solidFill>
                <a:srgbClr val="000000"/>
              </a:solidFill>
              <a:miter lim="800000"/>
              <a:headEnd/>
              <a:tailEnd/>
            </a:ln>
          </p:spPr>
          <p:txBody>
            <a:bodyPr/>
            <a:lstStyle/>
            <a:p>
              <a:endParaRPr lang="zh-TW" altLang="en-US">
                <a:ea typeface="新細明體" pitchFamily="18" charset="-120"/>
              </a:endParaRPr>
            </a:p>
          </p:txBody>
        </p:sp>
        <p:sp>
          <p:nvSpPr>
            <p:cNvPr id="2062" name="Line 11"/>
            <p:cNvSpPr>
              <a:spLocks noChangeShapeType="1"/>
            </p:cNvSpPr>
            <p:nvPr/>
          </p:nvSpPr>
          <p:spPr bwMode="auto">
            <a:xfrm flipV="1">
              <a:off x="6961" y="3060"/>
              <a:ext cx="0" cy="3060"/>
            </a:xfrm>
            <a:prstGeom prst="line">
              <a:avLst/>
            </a:prstGeom>
            <a:noFill/>
            <a:ln w="9525">
              <a:solidFill>
                <a:srgbClr val="000000"/>
              </a:solidFill>
              <a:round/>
              <a:headEnd/>
              <a:tailEnd/>
            </a:ln>
          </p:spPr>
          <p:txBody>
            <a:bodyPr/>
            <a:lstStyle/>
            <a:p>
              <a:endParaRPr lang="en-US"/>
            </a:p>
          </p:txBody>
        </p:sp>
        <p:sp>
          <p:nvSpPr>
            <p:cNvPr id="2063" name="Line 12"/>
            <p:cNvSpPr>
              <a:spLocks noChangeShapeType="1"/>
            </p:cNvSpPr>
            <p:nvPr/>
          </p:nvSpPr>
          <p:spPr bwMode="auto">
            <a:xfrm flipH="1" flipV="1">
              <a:off x="4441" y="3420"/>
              <a:ext cx="2520" cy="2700"/>
            </a:xfrm>
            <a:prstGeom prst="line">
              <a:avLst/>
            </a:prstGeom>
            <a:noFill/>
            <a:ln w="9525">
              <a:solidFill>
                <a:srgbClr val="000000"/>
              </a:solidFill>
              <a:round/>
              <a:headEnd/>
              <a:tailEnd type="triangle" w="med" len="med"/>
            </a:ln>
          </p:spPr>
          <p:txBody>
            <a:bodyPr/>
            <a:lstStyle/>
            <a:p>
              <a:endParaRPr lang="en-US"/>
            </a:p>
          </p:txBody>
        </p:sp>
        <p:sp>
          <p:nvSpPr>
            <p:cNvPr id="2064" name="Text Box 13"/>
            <p:cNvSpPr txBox="1">
              <a:spLocks noChangeArrowheads="1"/>
            </p:cNvSpPr>
            <p:nvPr/>
          </p:nvSpPr>
          <p:spPr bwMode="auto">
            <a:xfrm>
              <a:off x="6421" y="5040"/>
              <a:ext cx="900" cy="720"/>
            </a:xfrm>
            <a:prstGeom prst="rect">
              <a:avLst/>
            </a:prstGeom>
            <a:noFill/>
            <a:ln w="9525">
              <a:noFill/>
              <a:miter lim="800000"/>
              <a:headEnd/>
              <a:tailEnd/>
            </a:ln>
          </p:spPr>
          <p:txBody>
            <a:bodyPr/>
            <a:lstStyle/>
            <a:p>
              <a:r>
                <a:rPr lang="en-US" altLang="zh-TW" b="1">
                  <a:latin typeface="Symbol" pitchFamily="18" charset="2"/>
                  <a:ea typeface="新細明體" pitchFamily="18" charset="-120"/>
                </a:rPr>
                <a:t>q</a:t>
              </a:r>
              <a:endParaRPr lang="en-US" altLang="zh-TW">
                <a:ea typeface="新細明體" pitchFamily="18" charset="-120"/>
              </a:endParaRPr>
            </a:p>
          </p:txBody>
        </p:sp>
        <p:sp>
          <p:nvSpPr>
            <p:cNvPr id="2065" name="Text Box 14"/>
            <p:cNvSpPr txBox="1">
              <a:spLocks noChangeArrowheads="1"/>
            </p:cNvSpPr>
            <p:nvPr/>
          </p:nvSpPr>
          <p:spPr bwMode="auto">
            <a:xfrm>
              <a:off x="6241" y="1800"/>
              <a:ext cx="1620" cy="1080"/>
            </a:xfrm>
            <a:prstGeom prst="rect">
              <a:avLst/>
            </a:prstGeom>
            <a:noFill/>
            <a:ln w="9525">
              <a:noFill/>
              <a:miter lim="800000"/>
              <a:headEnd/>
              <a:tailEnd/>
            </a:ln>
          </p:spPr>
          <p:txBody>
            <a:bodyPr/>
            <a:lstStyle/>
            <a:p>
              <a:pPr algn="ctr"/>
              <a:r>
                <a:rPr lang="en-US" altLang="zh-TW" b="1">
                  <a:latin typeface="Times New Roman" pitchFamily="18" charset="0"/>
                  <a:ea typeface="新細明體" pitchFamily="18" charset="-120"/>
                </a:rPr>
                <a:t>Surface</a:t>
              </a:r>
            </a:p>
            <a:p>
              <a:pPr algn="ctr"/>
              <a:r>
                <a:rPr lang="en-US" altLang="zh-TW" b="1">
                  <a:latin typeface="Times New Roman" pitchFamily="18" charset="0"/>
                  <a:ea typeface="新細明體" pitchFamily="18" charset="-120"/>
                </a:rPr>
                <a:t>normal</a:t>
              </a:r>
              <a:endParaRPr lang="en-US" altLang="zh-TW">
                <a:ea typeface="新細明體" pitchFamily="18" charset="-120"/>
              </a:endParaRPr>
            </a:p>
          </p:txBody>
        </p:sp>
        <p:sp>
          <p:nvSpPr>
            <p:cNvPr id="2066" name="Text Box 15"/>
            <p:cNvSpPr txBox="1">
              <a:spLocks noChangeArrowheads="1"/>
            </p:cNvSpPr>
            <p:nvPr/>
          </p:nvSpPr>
          <p:spPr bwMode="auto">
            <a:xfrm>
              <a:off x="3721" y="2340"/>
              <a:ext cx="1800" cy="1260"/>
            </a:xfrm>
            <a:prstGeom prst="rect">
              <a:avLst/>
            </a:prstGeom>
            <a:noFill/>
            <a:ln w="9525">
              <a:noFill/>
              <a:miter lim="800000"/>
              <a:headEnd/>
              <a:tailEnd/>
            </a:ln>
          </p:spPr>
          <p:txBody>
            <a:bodyPr/>
            <a:lstStyle/>
            <a:p>
              <a:r>
                <a:rPr lang="en-US" altLang="zh-TW" b="1">
                  <a:latin typeface="Times New Roman" pitchFamily="18" charset="0"/>
                  <a:ea typeface="新細明體" pitchFamily="18" charset="-120"/>
                </a:rPr>
                <a:t>Ejecting</a:t>
              </a:r>
            </a:p>
            <a:p>
              <a:r>
                <a:rPr lang="en-US" altLang="zh-TW" b="1">
                  <a:latin typeface="Times New Roman" pitchFamily="18" charset="0"/>
                  <a:ea typeface="新細明體" pitchFamily="18" charset="-120"/>
                </a:rPr>
                <a:t>electrons</a:t>
              </a:r>
              <a:endParaRPr lang="en-US" altLang="zh-TW">
                <a:ea typeface="新細明體" pitchFamily="18" charset="-120"/>
              </a:endParaRPr>
            </a:p>
          </p:txBody>
        </p:sp>
      </p:grpSp>
      <p:sp>
        <p:nvSpPr>
          <p:cNvPr id="2052" name="Text Box 16"/>
          <p:cNvSpPr txBox="1">
            <a:spLocks noChangeArrowheads="1"/>
          </p:cNvSpPr>
          <p:nvPr/>
        </p:nvSpPr>
        <p:spPr bwMode="auto">
          <a:xfrm>
            <a:off x="4858905" y="1642408"/>
            <a:ext cx="4000499" cy="1938992"/>
          </a:xfrm>
          <a:prstGeom prst="rect">
            <a:avLst/>
          </a:prstGeom>
          <a:noFill/>
          <a:ln w="9525">
            <a:noFill/>
            <a:miter lim="800000"/>
            <a:headEnd/>
            <a:tailEnd/>
          </a:ln>
        </p:spPr>
        <p:txBody>
          <a:bodyPr wrap="square">
            <a:spAutoFit/>
          </a:bodyPr>
          <a:lstStyle/>
          <a:p>
            <a:pPr>
              <a:spcBef>
                <a:spcPct val="50000"/>
              </a:spcBef>
            </a:pPr>
            <a:r>
              <a:rPr lang="en-US" altLang="zh-TW" sz="2000" dirty="0">
                <a:latin typeface="Georgia" panose="02040502050405020303" pitchFamily="18" charset="0"/>
                <a:ea typeface="新細明體" pitchFamily="18" charset="-120"/>
              </a:rPr>
              <a:t>It has been shown theoretically by a Monte Carlo simulation</a:t>
            </a:r>
            <a:r>
              <a:rPr lang="en-US" altLang="zh-TW" sz="2000" baseline="30000" dirty="0">
                <a:latin typeface="Georgia" panose="02040502050405020303" pitchFamily="18" charset="0"/>
                <a:ea typeface="新細明體" pitchFamily="18" charset="-120"/>
              </a:rPr>
              <a:t>1</a:t>
            </a:r>
            <a:r>
              <a:rPr lang="en-US" altLang="zh-TW" sz="2000" dirty="0">
                <a:latin typeface="Georgia" panose="02040502050405020303" pitchFamily="18" charset="0"/>
                <a:ea typeface="新細明體" pitchFamily="18" charset="-120"/>
              </a:rPr>
              <a:t> and proved experimentally</a:t>
            </a:r>
            <a:r>
              <a:rPr lang="en-US" altLang="zh-TW" sz="2000" baseline="30000" dirty="0">
                <a:latin typeface="Georgia" panose="02040502050405020303" pitchFamily="18" charset="0"/>
                <a:ea typeface="新細明體" pitchFamily="18" charset="-120"/>
              </a:rPr>
              <a:t>2</a:t>
            </a:r>
            <a:r>
              <a:rPr lang="en-US" altLang="zh-TW" sz="2000" dirty="0">
                <a:latin typeface="Georgia" panose="02040502050405020303" pitchFamily="18" charset="0"/>
                <a:ea typeface="新細明體" pitchFamily="18" charset="-120"/>
              </a:rPr>
              <a:t> that the </a:t>
            </a:r>
            <a:r>
              <a:rPr lang="en-US" altLang="zh-TW" sz="2000" dirty="0">
                <a:solidFill>
                  <a:srgbClr val="7030A0"/>
                </a:solidFill>
                <a:latin typeface="Georgia" panose="02040502050405020303" pitchFamily="18" charset="0"/>
                <a:ea typeface="新細明體" pitchFamily="18" charset="-120"/>
              </a:rPr>
              <a:t>intensity of ejecting electrons through a medium follows an exponential decay function</a:t>
            </a:r>
            <a:r>
              <a:rPr lang="en-US" altLang="zh-TW" sz="2000" dirty="0">
                <a:latin typeface="Georgia" panose="02040502050405020303" pitchFamily="18" charset="0"/>
                <a:ea typeface="新細明體" pitchFamily="18" charset="-120"/>
              </a:rPr>
              <a:t>, </a:t>
            </a:r>
            <a:r>
              <a:rPr lang="en-US" altLang="zh-TW" sz="2000" i="1" dirty="0">
                <a:latin typeface="Georgia" panose="02040502050405020303" pitchFamily="18" charset="0"/>
                <a:ea typeface="新細明體" pitchFamily="18" charset="-120"/>
              </a:rPr>
              <a:t>i.e.</a:t>
            </a:r>
            <a:endParaRPr lang="zh-TW" altLang="en-US" sz="2000" i="1" dirty="0">
              <a:latin typeface="Georgia" panose="02040502050405020303" pitchFamily="18" charset="0"/>
              <a:ea typeface="新細明體" pitchFamily="18" charset="-120"/>
            </a:endParaRPr>
          </a:p>
        </p:txBody>
      </p:sp>
      <p:sp>
        <p:nvSpPr>
          <p:cNvPr id="2053" name="Rectangle 18"/>
          <p:cNvSpPr>
            <a:spLocks noChangeArrowheads="1"/>
          </p:cNvSpPr>
          <p:nvPr/>
        </p:nvSpPr>
        <p:spPr bwMode="auto">
          <a:xfrm>
            <a:off x="0" y="3148013"/>
            <a:ext cx="9144000" cy="0"/>
          </a:xfrm>
          <a:prstGeom prst="rect">
            <a:avLst/>
          </a:prstGeom>
          <a:noFill/>
          <a:ln w="9525">
            <a:noFill/>
            <a:miter lim="800000"/>
            <a:headEnd/>
            <a:tailEnd/>
          </a:ln>
        </p:spPr>
        <p:txBody>
          <a:bodyPr wrap="none" anchor="ctr">
            <a:spAutoFit/>
          </a:bodyPr>
          <a:lstStyle/>
          <a:p>
            <a:endParaRPr lang="zh-CN" altLang="zh-CN">
              <a:ea typeface="SimSun" pitchFamily="2" charset="-122"/>
            </a:endParaRPr>
          </a:p>
        </p:txBody>
      </p:sp>
      <mc:AlternateContent xmlns:mc="http://schemas.openxmlformats.org/markup-compatibility/2006" xmlns:a14="http://schemas.microsoft.com/office/drawing/2010/main">
        <mc:Choice Requires="a14">
          <p:sp>
            <p:nvSpPr>
              <p:cNvPr id="2050" name="Object 17"/>
              <p:cNvSpPr txBox="1"/>
              <p:nvPr/>
            </p:nvSpPr>
            <p:spPr bwMode="auto">
              <a:xfrm>
                <a:off x="4826000" y="3940781"/>
                <a:ext cx="3952875" cy="1124605"/>
              </a:xfrm>
              <a:prstGeom prst="rect">
                <a:avLst/>
              </a:prstGeom>
              <a:noFill/>
            </p:spPr>
            <p:txBody>
              <a:bodyPr>
                <a:normAutofit/>
              </a:bodyPr>
              <a:lstStyle/>
              <a:p>
                <a:pPr/>
                <a14:m>
                  <m:oMathPara xmlns:m="http://schemas.openxmlformats.org/officeDocument/2006/math">
                    <m:oMathParaPr>
                      <m:jc m:val="left"/>
                    </m:oMathParaPr>
                    <m:oMath>
                      <m:r>
                        <a:rPr lang="en-HK" sz="2400" i="1">
                          <a:solidFill>
                            <a:srgbClr val="000000"/>
                          </a:solidFill>
                          <a:latin typeface="Cambria Math" panose="02040503050406030204" pitchFamily="18" charset="0"/>
                        </a:rPr>
                        <m:t>𝐼</m:t>
                      </m:r>
                      <m:r>
                        <a:rPr lang="en-HK" sz="2400" i="1">
                          <a:solidFill>
                            <a:srgbClr val="000000"/>
                          </a:solidFill>
                          <a:latin typeface="Cambria Math" panose="02040503050406030204" pitchFamily="18" charset="0"/>
                        </a:rPr>
                        <m:t>=</m:t>
                      </m:r>
                      <m:r>
                        <a:rPr lang="en-HK" sz="2400" i="1">
                          <a:solidFill>
                            <a:srgbClr val="000000"/>
                          </a:solidFill>
                          <a:latin typeface="Cambria Math" panose="02040503050406030204" pitchFamily="18" charset="0"/>
                        </a:rPr>
                        <m:t>𝐾</m:t>
                      </m:r>
                      <m:nary>
                        <m:naryPr>
                          <m:ctrlPr>
                            <a:rPr lang="en-HK" sz="2400" i="1">
                              <a:solidFill>
                                <a:srgbClr val="000000"/>
                              </a:solidFill>
                              <a:latin typeface="Cambria Math" panose="02040503050406030204" pitchFamily="18" charset="0"/>
                            </a:rPr>
                          </m:ctrlPr>
                        </m:naryPr>
                        <m:sub>
                          <m:r>
                            <a:rPr lang="en-HK" sz="2400" i="1">
                              <a:solidFill>
                                <a:srgbClr val="000000"/>
                              </a:solidFill>
                              <a:latin typeface="Cambria Math" panose="02040503050406030204" pitchFamily="18" charset="0"/>
                            </a:rPr>
                            <m:t>0</m:t>
                          </m:r>
                        </m:sub>
                        <m:sup>
                          <m:r>
                            <a:rPr lang="en-HK" sz="2400" i="1">
                              <a:solidFill>
                                <a:srgbClr val="000000"/>
                              </a:solidFill>
                              <a:latin typeface="Cambria Math" panose="02040503050406030204" pitchFamily="18" charset="0"/>
                            </a:rPr>
                            <m:t>𝑑</m:t>
                          </m:r>
                        </m:sup>
                        <m:e>
                          <m:func>
                            <m:funcPr>
                              <m:ctrlPr>
                                <a:rPr lang="en-HK" sz="2400" i="0">
                                  <a:solidFill>
                                    <a:srgbClr val="000000"/>
                                  </a:solidFill>
                                  <a:latin typeface="Cambria Math" panose="02040503050406030204" pitchFamily="18" charset="0"/>
                                </a:rPr>
                              </m:ctrlPr>
                            </m:funcPr>
                            <m:fName>
                              <m:r>
                                <m:rPr>
                                  <m:sty m:val="p"/>
                                </m:rPr>
                                <a:rPr lang="en-HK" sz="2400" i="0">
                                  <a:solidFill>
                                    <a:srgbClr val="000000"/>
                                  </a:solidFill>
                                  <a:latin typeface="Cambria Math" panose="02040503050406030204" pitchFamily="18" charset="0"/>
                                </a:rPr>
                                <m:t>exp</m:t>
                              </m:r>
                            </m:fName>
                            <m:e>
                              <m:d>
                                <m:dPr>
                                  <m:ctrlPr>
                                    <a:rPr lang="en-HK" sz="2400" i="1">
                                      <a:solidFill>
                                        <a:srgbClr val="000000"/>
                                      </a:solidFill>
                                      <a:latin typeface="Cambria Math" panose="02040503050406030204" pitchFamily="18" charset="0"/>
                                    </a:rPr>
                                  </m:ctrlPr>
                                </m:dPr>
                                <m:e>
                                  <m:f>
                                    <m:fPr>
                                      <m:ctrlPr>
                                        <a:rPr lang="en-HK" sz="2400" i="1">
                                          <a:solidFill>
                                            <a:srgbClr val="000000"/>
                                          </a:solidFill>
                                          <a:latin typeface="Cambria Math" panose="02040503050406030204" pitchFamily="18" charset="0"/>
                                        </a:rPr>
                                      </m:ctrlPr>
                                    </m:fPr>
                                    <m:num>
                                      <m:r>
                                        <a:rPr lang="en-HK" sz="2400" i="1">
                                          <a:solidFill>
                                            <a:srgbClr val="000000"/>
                                          </a:solidFill>
                                          <a:latin typeface="Cambria Math" panose="02040503050406030204" pitchFamily="18" charset="0"/>
                                        </a:rPr>
                                        <m:t>−</m:t>
                                      </m:r>
                                      <m:r>
                                        <a:rPr lang="en-HK" sz="2400" i="1">
                                          <a:solidFill>
                                            <a:srgbClr val="000000"/>
                                          </a:solidFill>
                                          <a:latin typeface="Cambria Math" panose="02040503050406030204" pitchFamily="18" charset="0"/>
                                        </a:rPr>
                                        <m:t>𝑥</m:t>
                                      </m:r>
                                    </m:num>
                                    <m:den>
                                      <m:r>
                                        <a:rPr lang="en-HK" sz="2400" i="1">
                                          <a:solidFill>
                                            <a:srgbClr val="000000"/>
                                          </a:solidFill>
                                          <a:latin typeface="Cambria Math" panose="02040503050406030204" pitchFamily="18" charset="0"/>
                                        </a:rPr>
                                        <m:t>𝜆</m:t>
                                      </m:r>
                                      <m:func>
                                        <m:funcPr>
                                          <m:ctrlPr>
                                            <a:rPr lang="en-HK" sz="2400" i="0">
                                              <a:solidFill>
                                                <a:srgbClr val="000000"/>
                                              </a:solidFill>
                                              <a:latin typeface="Cambria Math" panose="02040503050406030204" pitchFamily="18" charset="0"/>
                                            </a:rPr>
                                          </m:ctrlPr>
                                        </m:funcPr>
                                        <m:fName>
                                          <m:r>
                                            <m:rPr>
                                              <m:sty m:val="p"/>
                                            </m:rPr>
                                            <a:rPr lang="en-HK" sz="2400" i="0">
                                              <a:solidFill>
                                                <a:srgbClr val="000000"/>
                                              </a:solidFill>
                                              <a:latin typeface="Cambria Math" panose="02040503050406030204" pitchFamily="18" charset="0"/>
                                            </a:rPr>
                                            <m:t>cos</m:t>
                                          </m:r>
                                        </m:fName>
                                        <m:e>
                                          <m:r>
                                            <a:rPr lang="en-HK" sz="2400" i="1">
                                              <a:solidFill>
                                                <a:srgbClr val="000000"/>
                                              </a:solidFill>
                                              <a:latin typeface="Cambria Math" panose="02040503050406030204" pitchFamily="18" charset="0"/>
                                            </a:rPr>
                                            <m:t>𝜃</m:t>
                                          </m:r>
                                        </m:e>
                                      </m:func>
                                    </m:den>
                                  </m:f>
                                </m:e>
                              </m:d>
                            </m:e>
                          </m:func>
                          <m:r>
                            <a:rPr lang="en-HK" sz="2400" i="1">
                              <a:solidFill>
                                <a:srgbClr val="000000"/>
                              </a:solidFill>
                              <a:latin typeface="Cambria Math" panose="02040503050406030204" pitchFamily="18" charset="0"/>
                            </a:rPr>
                            <m:t>𝑑𝑥</m:t>
                          </m:r>
                        </m:e>
                      </m:nary>
                    </m:oMath>
                  </m:oMathPara>
                </a14:m>
                <a:endParaRPr lang="en-HK" sz="2400" dirty="0"/>
              </a:p>
            </p:txBody>
          </p:sp>
        </mc:Choice>
        <mc:Fallback xmlns="">
          <p:sp>
            <p:nvSpPr>
              <p:cNvPr id="2050" name="Object 17"/>
              <p:cNvSpPr txBox="1">
                <a:spLocks noRot="1" noChangeAspect="1" noMove="1" noResize="1" noEditPoints="1" noAdjustHandles="1" noChangeArrowheads="1" noChangeShapeType="1" noTextEdit="1"/>
              </p:cNvSpPr>
              <p:nvPr/>
            </p:nvSpPr>
            <p:spPr bwMode="auto">
              <a:xfrm>
                <a:off x="4826000" y="3940781"/>
                <a:ext cx="3952875" cy="1124605"/>
              </a:xfrm>
              <a:prstGeom prst="rect">
                <a:avLst/>
              </a:prstGeom>
              <a:blipFill>
                <a:blip r:embed="rId3"/>
                <a:stretch>
                  <a:fillRect/>
                </a:stretch>
              </a:blipFill>
            </p:spPr>
            <p:txBody>
              <a:bodyPr/>
              <a:lstStyle/>
              <a:p>
                <a:r>
                  <a:rPr lang="en-HK">
                    <a:noFill/>
                  </a:rPr>
                  <a:t> </a:t>
                </a:r>
              </a:p>
            </p:txBody>
          </p:sp>
        </mc:Fallback>
      </mc:AlternateContent>
      <p:sp>
        <p:nvSpPr>
          <p:cNvPr id="2054" name="Rectangle 19"/>
          <p:cNvSpPr>
            <a:spLocks noChangeArrowheads="1"/>
          </p:cNvSpPr>
          <p:nvPr/>
        </p:nvSpPr>
        <p:spPr bwMode="auto">
          <a:xfrm>
            <a:off x="304800" y="5638800"/>
            <a:ext cx="8474075" cy="639763"/>
          </a:xfrm>
          <a:prstGeom prst="rect">
            <a:avLst/>
          </a:prstGeom>
          <a:noFill/>
          <a:ln w="9525">
            <a:noFill/>
            <a:miter lim="800000"/>
            <a:headEnd/>
            <a:tailEnd/>
          </a:ln>
        </p:spPr>
        <p:txBody>
          <a:bodyPr anchor="ctr">
            <a:spAutoFit/>
          </a:bodyPr>
          <a:lstStyle/>
          <a:p>
            <a:pPr marL="268288" indent="-268288" algn="just">
              <a:tabLst>
                <a:tab pos="268288" algn="l"/>
              </a:tabLst>
            </a:pPr>
            <a:r>
              <a:rPr lang="en-US" altLang="zh-TW" sz="1200" b="1" i="1">
                <a:ea typeface="新細明體" pitchFamily="18" charset="-120"/>
              </a:rPr>
              <a:t>1    C. J. Powell, A. Jablonski, S. Tanuma and D. R. Penn, J. Electron Spectrosc. Relat.Phenom, 68, P.605 (1994).</a:t>
            </a:r>
            <a:endParaRPr lang="en-US" altLang="zh-TW" sz="1200">
              <a:ea typeface="新細明體" pitchFamily="18" charset="-120"/>
            </a:endParaRPr>
          </a:p>
          <a:p>
            <a:pPr marL="268288" indent="-268288" algn="just">
              <a:tabLst>
                <a:tab pos="268288" algn="l"/>
              </a:tabLst>
            </a:pPr>
            <a:r>
              <a:rPr lang="en-US" altLang="zh-TW" sz="1200" b="1" i="1">
                <a:ea typeface="新細明體" pitchFamily="18" charset="-120"/>
              </a:rPr>
              <a:t>2   	D. F. Mitchell, K. B. Clark, J. A. Bardwell, W. N. Lennard, G. R. Massoumi and I. V. Mitchell, Surf. Interface Anal., 21, P.44 (1994).</a:t>
            </a:r>
          </a:p>
        </p:txBody>
      </p:sp>
      <p:sp>
        <p:nvSpPr>
          <p:cNvPr id="2055" name="Rectangle 20"/>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dirty="0">
                <a:solidFill>
                  <a:schemeClr val="bg1"/>
                </a:solidFill>
                <a:latin typeface="Georgia" panose="02040502050405020303" pitchFamily="18" charset="0"/>
                <a:ea typeface="新細明體" pitchFamily="18" charset="-120"/>
              </a:rPr>
              <a:t>Surface process</a:t>
            </a:r>
          </a:p>
        </p:txBody>
      </p:sp>
      <p:sp>
        <p:nvSpPr>
          <p:cNvPr id="2" name="Slide Number Placeholder 1">
            <a:extLst>
              <a:ext uri="{FF2B5EF4-FFF2-40B4-BE49-F238E27FC236}">
                <a16:creationId xmlns:a16="http://schemas.microsoft.com/office/drawing/2014/main" id="{8F70D5BF-C3AB-41A2-9B81-356252ECFA12}"/>
              </a:ext>
            </a:extLst>
          </p:cNvPr>
          <p:cNvSpPr>
            <a:spLocks noGrp="1"/>
          </p:cNvSpPr>
          <p:nvPr>
            <p:ph type="sldNum" sz="quarter" idx="11"/>
          </p:nvPr>
        </p:nvSpPr>
        <p:spPr/>
        <p:txBody>
          <a:bodyPr/>
          <a:lstStyle/>
          <a:p>
            <a:pPr>
              <a:defRPr/>
            </a:pPr>
            <a:fld id="{EBF73BDF-690D-4725-BA10-A7934ED52EAB}" type="slidenum">
              <a:rPr lang="zh-TW" altLang="en-US" smtClean="0"/>
              <a:pPr>
                <a:defRPr/>
              </a:pPr>
              <a:t>12</a:t>
            </a:fld>
            <a:endParaRPr lang="en-US" altLang="zh-TW"/>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4"/>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dirty="0">
                <a:solidFill>
                  <a:schemeClr val="bg1"/>
                </a:solidFill>
                <a:latin typeface="Georgia" panose="02040502050405020303" pitchFamily="18" charset="0"/>
                <a:ea typeface="新細明體" pitchFamily="18" charset="-120"/>
              </a:rPr>
              <a:t>Surface process</a:t>
            </a:r>
          </a:p>
        </p:txBody>
      </p:sp>
      <p:pic>
        <p:nvPicPr>
          <p:cNvPr id="29699" name="Picture 5"/>
          <p:cNvPicPr>
            <a:picLocks noChangeAspect="1" noChangeArrowheads="1"/>
          </p:cNvPicPr>
          <p:nvPr/>
        </p:nvPicPr>
        <p:blipFill>
          <a:blip r:embed="rId3" cstate="print"/>
          <a:srcRect/>
          <a:stretch>
            <a:fillRect/>
          </a:stretch>
        </p:blipFill>
        <p:spPr bwMode="auto">
          <a:xfrm>
            <a:off x="609600" y="1066800"/>
            <a:ext cx="8077200" cy="4029075"/>
          </a:xfrm>
          <a:prstGeom prst="rect">
            <a:avLst/>
          </a:prstGeom>
          <a:noFill/>
          <a:ln w="9525">
            <a:noFill/>
            <a:miter lim="800000"/>
            <a:headEnd/>
            <a:tailEnd/>
          </a:ln>
        </p:spPr>
      </p:pic>
      <p:sp>
        <p:nvSpPr>
          <p:cNvPr id="29700" name="Rectangle 6"/>
          <p:cNvSpPr>
            <a:spLocks noChangeArrowheads="1"/>
          </p:cNvSpPr>
          <p:nvPr/>
        </p:nvSpPr>
        <p:spPr bwMode="auto">
          <a:xfrm>
            <a:off x="304800" y="5486400"/>
            <a:ext cx="8550275" cy="641350"/>
          </a:xfrm>
          <a:prstGeom prst="rect">
            <a:avLst/>
          </a:prstGeom>
          <a:noFill/>
          <a:ln w="9525">
            <a:noFill/>
            <a:miter lim="800000"/>
            <a:headEnd/>
            <a:tailEnd/>
          </a:ln>
        </p:spPr>
        <p:txBody>
          <a:bodyPr anchor="ctr">
            <a:spAutoFit/>
          </a:bodyPr>
          <a:lstStyle/>
          <a:p>
            <a:pPr algn="just" eaLnBrk="1" hangingPunct="1"/>
            <a:r>
              <a:rPr lang="en-US" altLang="zh-TW" b="1" dirty="0">
                <a:ea typeface="新細明體" pitchFamily="18" charset="-120"/>
              </a:rPr>
              <a:t>95% of signal comes from the outmost region of 3 </a:t>
            </a:r>
            <a:r>
              <a:rPr lang="en-US" altLang="zh-TW" b="1" dirty="0">
                <a:latin typeface="Symbol" pitchFamily="18" charset="2"/>
                <a:ea typeface="新細明體" pitchFamily="18" charset="-120"/>
              </a:rPr>
              <a:t>l</a:t>
            </a:r>
            <a:r>
              <a:rPr lang="en-US" altLang="zh-TW" b="1" dirty="0">
                <a:ea typeface="新細明體" pitchFamily="18" charset="-120"/>
              </a:rPr>
              <a:t> thick. </a:t>
            </a:r>
            <a:r>
              <a:rPr lang="en-US" altLang="zh-TW" b="1" i="1" dirty="0">
                <a:ea typeface="新細明體" pitchFamily="18" charset="-120"/>
              </a:rPr>
              <a:t>(3 </a:t>
            </a:r>
            <a:r>
              <a:rPr lang="en-US" altLang="zh-TW" b="1" i="1" dirty="0">
                <a:latin typeface="Symbol" pitchFamily="18" charset="2"/>
                <a:ea typeface="新細明體" pitchFamily="18" charset="-120"/>
              </a:rPr>
              <a:t>l</a:t>
            </a:r>
            <a:r>
              <a:rPr lang="en-US" altLang="zh-TW" b="1" i="1" dirty="0">
                <a:ea typeface="新細明體" pitchFamily="18" charset="-120"/>
              </a:rPr>
              <a:t> is about several tens of Å)</a:t>
            </a:r>
            <a:r>
              <a:rPr lang="en-US" altLang="zh-TW" b="1" dirty="0">
                <a:ea typeface="新細明體" pitchFamily="18" charset="-120"/>
              </a:rPr>
              <a:t>.  This explains the surface sensitivity of XPS.</a:t>
            </a:r>
          </a:p>
        </p:txBody>
      </p:sp>
      <p:sp>
        <p:nvSpPr>
          <p:cNvPr id="2" name="Slide Number Placeholder 1">
            <a:extLst>
              <a:ext uri="{FF2B5EF4-FFF2-40B4-BE49-F238E27FC236}">
                <a16:creationId xmlns:a16="http://schemas.microsoft.com/office/drawing/2014/main" id="{E7A21E9B-EC29-4CDE-BA53-735669CCB05E}"/>
              </a:ext>
            </a:extLst>
          </p:cNvPr>
          <p:cNvSpPr>
            <a:spLocks noGrp="1"/>
          </p:cNvSpPr>
          <p:nvPr>
            <p:ph type="sldNum" sz="quarter" idx="11"/>
          </p:nvPr>
        </p:nvSpPr>
        <p:spPr/>
        <p:txBody>
          <a:bodyPr/>
          <a:lstStyle/>
          <a:p>
            <a:pPr>
              <a:defRPr/>
            </a:pPr>
            <a:fld id="{EBF73BDF-690D-4725-BA10-A7934ED52EAB}" type="slidenum">
              <a:rPr lang="zh-TW" altLang="en-US" smtClean="0"/>
              <a:pPr>
                <a:defRPr/>
              </a:pPr>
              <a:t>13</a:t>
            </a:fld>
            <a:endParaRPr lang="en-US" altLang="zh-TW"/>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4"/>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Typical XPS system</a:t>
            </a:r>
          </a:p>
        </p:txBody>
      </p:sp>
      <p:pic>
        <p:nvPicPr>
          <p:cNvPr id="30723" name="Picture 5"/>
          <p:cNvPicPr>
            <a:picLocks noChangeAspect="1" noChangeArrowheads="1"/>
          </p:cNvPicPr>
          <p:nvPr/>
        </p:nvPicPr>
        <p:blipFill>
          <a:blip r:embed="rId2" cstate="print"/>
          <a:srcRect/>
          <a:stretch>
            <a:fillRect/>
          </a:stretch>
        </p:blipFill>
        <p:spPr bwMode="auto">
          <a:xfrm>
            <a:off x="457200" y="990600"/>
            <a:ext cx="3771900" cy="2749550"/>
          </a:xfrm>
          <a:prstGeom prst="rect">
            <a:avLst/>
          </a:prstGeom>
          <a:noFill/>
          <a:ln w="9525">
            <a:noFill/>
            <a:miter lim="800000"/>
            <a:headEnd/>
            <a:tailEnd/>
          </a:ln>
        </p:spPr>
      </p:pic>
      <p:pic>
        <p:nvPicPr>
          <p:cNvPr id="30724" name="Picture 6" descr="skinless quantum photo"/>
          <p:cNvPicPr>
            <a:picLocks noChangeAspect="1" noChangeArrowheads="1"/>
          </p:cNvPicPr>
          <p:nvPr/>
        </p:nvPicPr>
        <p:blipFill>
          <a:blip r:embed="rId3" cstate="print"/>
          <a:srcRect/>
          <a:stretch>
            <a:fillRect/>
          </a:stretch>
        </p:blipFill>
        <p:spPr bwMode="auto">
          <a:xfrm>
            <a:off x="4800600" y="3886200"/>
            <a:ext cx="3886200" cy="2105025"/>
          </a:xfrm>
          <a:prstGeom prst="rect">
            <a:avLst/>
          </a:prstGeom>
          <a:noFill/>
          <a:ln w="9525">
            <a:noFill/>
            <a:miter lim="800000"/>
            <a:headEnd/>
            <a:tailEnd/>
          </a:ln>
        </p:spPr>
      </p:pic>
      <p:sp>
        <p:nvSpPr>
          <p:cNvPr id="30725" name="Rectangle 7"/>
          <p:cNvSpPr>
            <a:spLocks noChangeArrowheads="1"/>
          </p:cNvSpPr>
          <p:nvPr/>
        </p:nvSpPr>
        <p:spPr bwMode="auto">
          <a:xfrm>
            <a:off x="4419600" y="1302832"/>
            <a:ext cx="4191000" cy="1877437"/>
          </a:xfrm>
          <a:prstGeom prst="rect">
            <a:avLst/>
          </a:prstGeom>
          <a:noFill/>
          <a:ln w="9525">
            <a:noFill/>
            <a:miter lim="800000"/>
            <a:headEnd/>
            <a:tailEnd/>
          </a:ln>
        </p:spPr>
        <p:txBody>
          <a:bodyPr anchor="ctr">
            <a:spAutoFit/>
          </a:bodyPr>
          <a:lstStyle/>
          <a:p>
            <a:pPr marL="176213" indent="-176213" algn="just">
              <a:tabLst>
                <a:tab pos="1323975" algn="l"/>
              </a:tabLst>
            </a:pPr>
            <a:r>
              <a:rPr lang="en-US" altLang="zh-TW" b="1" dirty="0">
                <a:latin typeface="Georgia" panose="02040502050405020303" pitchFamily="18" charset="0"/>
                <a:ea typeface="新細明體" pitchFamily="18" charset="-120"/>
              </a:rPr>
              <a:t>Typical research grade XPS system:</a:t>
            </a:r>
          </a:p>
          <a:p>
            <a:pPr marL="176213" indent="-176213" algn="just">
              <a:tabLst>
                <a:tab pos="1323975" algn="l"/>
              </a:tabLst>
            </a:pPr>
            <a:endParaRPr lang="en-US" altLang="zh-TW" sz="800" b="1" dirty="0">
              <a:latin typeface="Georgia" panose="02040502050405020303" pitchFamily="18" charset="0"/>
              <a:ea typeface="新細明體" pitchFamily="18" charset="-120"/>
            </a:endParaRPr>
          </a:p>
          <a:p>
            <a:pPr marL="176213" indent="-176213" algn="just">
              <a:buFontTx/>
              <a:buChar char="•"/>
              <a:tabLst>
                <a:tab pos="1323975" algn="l"/>
              </a:tabLst>
            </a:pPr>
            <a:r>
              <a:rPr lang="en-US" altLang="zh-TW" i="1" dirty="0">
                <a:latin typeface="Georgia" panose="02040502050405020303" pitchFamily="18" charset="0"/>
                <a:ea typeface="新細明體" pitchFamily="18" charset="-120"/>
              </a:rPr>
              <a:t>lots of additional components, </a:t>
            </a:r>
            <a:r>
              <a:rPr lang="en-US" altLang="zh-TW" i="1" dirty="0" err="1">
                <a:latin typeface="Georgia" panose="02040502050405020303" pitchFamily="18" charset="0"/>
                <a:ea typeface="新細明體" pitchFamily="18" charset="-120"/>
              </a:rPr>
              <a:t>e.g</a:t>
            </a:r>
            <a:r>
              <a:rPr lang="en-US" altLang="zh-TW" i="1" dirty="0">
                <a:latin typeface="Georgia" panose="02040502050405020303" pitchFamily="18" charset="0"/>
                <a:ea typeface="新細明體" pitchFamily="18" charset="-120"/>
              </a:rPr>
              <a:t> sample heating, cooling</a:t>
            </a:r>
            <a:endParaRPr lang="en-US" altLang="zh-TW" dirty="0">
              <a:latin typeface="Georgia" panose="02040502050405020303" pitchFamily="18" charset="0"/>
              <a:ea typeface="新細明體" pitchFamily="18" charset="-120"/>
            </a:endParaRPr>
          </a:p>
          <a:p>
            <a:pPr marL="176213" indent="-176213" algn="just">
              <a:buFontTx/>
              <a:buChar char="•"/>
              <a:tabLst>
                <a:tab pos="1323975" algn="l"/>
              </a:tabLst>
            </a:pPr>
            <a:r>
              <a:rPr lang="en-US" altLang="zh-TW" i="1" dirty="0">
                <a:latin typeface="Georgia" panose="02040502050405020303" pitchFamily="18" charset="0"/>
                <a:ea typeface="新細明體" pitchFamily="18" charset="-120"/>
              </a:rPr>
              <a:t>allow much more modifications for specific research</a:t>
            </a:r>
          </a:p>
        </p:txBody>
      </p:sp>
      <p:sp>
        <p:nvSpPr>
          <p:cNvPr id="30726" name="Rectangle 10"/>
          <p:cNvSpPr>
            <a:spLocks noChangeArrowheads="1"/>
          </p:cNvSpPr>
          <p:nvPr/>
        </p:nvSpPr>
        <p:spPr bwMode="auto">
          <a:xfrm>
            <a:off x="685800" y="4906963"/>
            <a:ext cx="265113" cy="1341437"/>
          </a:xfrm>
          <a:prstGeom prst="rect">
            <a:avLst/>
          </a:prstGeom>
          <a:noFill/>
          <a:ln w="9525">
            <a:noFill/>
            <a:miter lim="800000"/>
            <a:headEnd/>
            <a:tailEnd/>
          </a:ln>
        </p:spPr>
        <p:txBody>
          <a:bodyPr wrap="none" anchor="ctr">
            <a:spAutoFit/>
          </a:bodyPr>
          <a:lstStyle/>
          <a:p>
            <a:pPr eaLnBrk="1" hangingPunct="1">
              <a:tabLst>
                <a:tab pos="1323975" algn="l"/>
              </a:tabLst>
            </a:pPr>
            <a:br>
              <a:rPr lang="zh-TW" altLang="en-US">
                <a:ea typeface="新細明體" pitchFamily="18" charset="-120"/>
              </a:rPr>
            </a:br>
            <a:endParaRPr lang="zh-TW" altLang="en-US">
              <a:ea typeface="新細明體" pitchFamily="18" charset="-120"/>
            </a:endParaRPr>
          </a:p>
          <a:p>
            <a:pPr>
              <a:buFont typeface="Wingdings" pitchFamily="2" charset="2"/>
              <a:buChar char=""/>
              <a:tabLst>
                <a:tab pos="1323975" algn="l"/>
              </a:tabLst>
            </a:pPr>
            <a:endParaRPr lang="en-US" altLang="zh-TW" sz="1400" i="1">
              <a:latin typeface="Times New Roman" pitchFamily="18" charset="0"/>
              <a:ea typeface="新細明體" pitchFamily="18" charset="-120"/>
            </a:endParaRPr>
          </a:p>
          <a:p>
            <a:pPr>
              <a:tabLst>
                <a:tab pos="1323975" algn="l"/>
              </a:tabLst>
            </a:pPr>
            <a:br>
              <a:rPr lang="en-US" altLang="zh-TW" sz="1400" i="1">
                <a:latin typeface="Times New Roman" pitchFamily="18" charset="0"/>
                <a:ea typeface="新細明體" pitchFamily="18" charset="-120"/>
              </a:rPr>
            </a:br>
            <a:endParaRPr lang="en-US" altLang="zh-TW">
              <a:ea typeface="新細明體" pitchFamily="18" charset="-120"/>
            </a:endParaRPr>
          </a:p>
        </p:txBody>
      </p:sp>
      <p:sp>
        <p:nvSpPr>
          <p:cNvPr id="30727" name="Rectangle 11"/>
          <p:cNvSpPr>
            <a:spLocks noChangeArrowheads="1"/>
          </p:cNvSpPr>
          <p:nvPr/>
        </p:nvSpPr>
        <p:spPr bwMode="auto">
          <a:xfrm>
            <a:off x="609600" y="4343400"/>
            <a:ext cx="3962400" cy="1312863"/>
          </a:xfrm>
          <a:prstGeom prst="rect">
            <a:avLst/>
          </a:prstGeom>
          <a:noFill/>
          <a:ln w="9525">
            <a:noFill/>
            <a:miter lim="800000"/>
            <a:headEnd/>
            <a:tailEnd/>
          </a:ln>
        </p:spPr>
        <p:txBody>
          <a:bodyPr>
            <a:spAutoFit/>
          </a:bodyPr>
          <a:lstStyle/>
          <a:p>
            <a:r>
              <a:rPr lang="en-US" altLang="zh-TW" b="1" dirty="0">
                <a:latin typeface="Georgia" panose="02040502050405020303" pitchFamily="18" charset="0"/>
                <a:ea typeface="新細明體" pitchFamily="18" charset="-120"/>
              </a:rPr>
              <a:t>Typical XPS system for industrial purposes: </a:t>
            </a:r>
          </a:p>
          <a:p>
            <a:endParaRPr lang="en-US" altLang="zh-TW" sz="800" b="1" dirty="0">
              <a:latin typeface="Georgia" panose="02040502050405020303" pitchFamily="18" charset="0"/>
              <a:ea typeface="新細明體" pitchFamily="18" charset="-120"/>
            </a:endParaRPr>
          </a:p>
          <a:p>
            <a:pPr>
              <a:buFontTx/>
              <a:buChar char="•"/>
            </a:pPr>
            <a:r>
              <a:rPr lang="en-US" altLang="zh-TW" i="1" dirty="0">
                <a:latin typeface="Georgia" panose="02040502050405020303" pitchFamily="18" charset="0"/>
                <a:ea typeface="新細明體" pitchFamily="18" charset="-120"/>
              </a:rPr>
              <a:t> high throughput</a:t>
            </a:r>
            <a:endParaRPr lang="en-US" altLang="zh-TW" dirty="0">
              <a:latin typeface="Georgia" panose="02040502050405020303" pitchFamily="18" charset="0"/>
              <a:ea typeface="新細明體" pitchFamily="18" charset="-120"/>
            </a:endParaRPr>
          </a:p>
          <a:p>
            <a:pPr>
              <a:buFontTx/>
              <a:buChar char="•"/>
            </a:pPr>
            <a:r>
              <a:rPr lang="en-US" altLang="zh-TW" dirty="0">
                <a:latin typeface="Georgia" panose="02040502050405020303" pitchFamily="18" charset="0"/>
                <a:ea typeface="新細明體" pitchFamily="18" charset="-120"/>
              </a:rPr>
              <a:t> </a:t>
            </a:r>
            <a:r>
              <a:rPr lang="en-US" altLang="zh-TW" i="1" dirty="0">
                <a:latin typeface="Georgia" panose="02040502050405020303" pitchFamily="18" charset="0"/>
                <a:ea typeface="新細明體" pitchFamily="18" charset="-120"/>
              </a:rPr>
              <a:t>highly automatic</a:t>
            </a:r>
            <a:endParaRPr lang="en-US" altLang="zh-TW" dirty="0">
              <a:latin typeface="Georgia" panose="02040502050405020303" pitchFamily="18" charset="0"/>
              <a:ea typeface="新細明體" pitchFamily="18" charset="-120"/>
            </a:endParaRPr>
          </a:p>
        </p:txBody>
      </p:sp>
      <p:sp>
        <p:nvSpPr>
          <p:cNvPr id="2" name="Slide Number Placeholder 1">
            <a:extLst>
              <a:ext uri="{FF2B5EF4-FFF2-40B4-BE49-F238E27FC236}">
                <a16:creationId xmlns:a16="http://schemas.microsoft.com/office/drawing/2014/main" id="{32963BB4-417F-4A2D-803D-38FCA0509BFB}"/>
              </a:ext>
            </a:extLst>
          </p:cNvPr>
          <p:cNvSpPr>
            <a:spLocks noGrp="1"/>
          </p:cNvSpPr>
          <p:nvPr>
            <p:ph type="sldNum" sz="quarter" idx="11"/>
          </p:nvPr>
        </p:nvSpPr>
        <p:spPr/>
        <p:txBody>
          <a:bodyPr/>
          <a:lstStyle/>
          <a:p>
            <a:pPr>
              <a:defRPr/>
            </a:pPr>
            <a:fld id="{EBF73BDF-690D-4725-BA10-A7934ED52EAB}" type="slidenum">
              <a:rPr lang="zh-TW" altLang="en-US" smtClean="0"/>
              <a:pPr>
                <a:defRPr/>
              </a:pPr>
              <a:t>14</a:t>
            </a:fld>
            <a:endParaRPr lang="en-US" altLang="zh-TW"/>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5"/>
          <p:cNvSpPr>
            <a:spLocks noChangeArrowheads="1"/>
          </p:cNvSpPr>
          <p:nvPr/>
        </p:nvSpPr>
        <p:spPr bwMode="auto">
          <a:xfrm>
            <a:off x="0" y="985838"/>
            <a:ext cx="9144000" cy="0"/>
          </a:xfrm>
          <a:prstGeom prst="rect">
            <a:avLst/>
          </a:prstGeom>
          <a:noFill/>
          <a:ln w="9525">
            <a:noFill/>
            <a:miter lim="800000"/>
            <a:headEnd/>
            <a:tailEnd/>
          </a:ln>
        </p:spPr>
        <p:txBody>
          <a:bodyPr wrap="none" anchor="ctr">
            <a:spAutoFit/>
          </a:bodyPr>
          <a:lstStyle/>
          <a:p>
            <a:endParaRPr lang="zh-CN" altLang="zh-CN">
              <a:ea typeface="SimSun" pitchFamily="2" charset="-122"/>
            </a:endParaRPr>
          </a:p>
        </p:txBody>
      </p:sp>
      <p:graphicFrame>
        <p:nvGraphicFramePr>
          <p:cNvPr id="3074" name="Object 4"/>
          <p:cNvGraphicFramePr>
            <a:graphicFrameLocks noChangeAspect="1"/>
          </p:cNvGraphicFramePr>
          <p:nvPr>
            <p:extLst>
              <p:ext uri="{D42A27DB-BD31-4B8C-83A1-F6EECF244321}">
                <p14:modId xmlns:p14="http://schemas.microsoft.com/office/powerpoint/2010/main" val="365368009"/>
              </p:ext>
            </p:extLst>
          </p:nvPr>
        </p:nvGraphicFramePr>
        <p:xfrm>
          <a:off x="533400" y="762000"/>
          <a:ext cx="7543800" cy="5657850"/>
        </p:xfrm>
        <a:graphic>
          <a:graphicData uri="http://schemas.openxmlformats.org/presentationml/2006/ole">
            <mc:AlternateContent xmlns:mc="http://schemas.openxmlformats.org/markup-compatibility/2006">
              <mc:Choice xmlns:v="urn:schemas-microsoft-com:vml" Requires="v">
                <p:oleObj name="投影片" r:id="rId3" imgW="4572000" imgH="3429000" progId="PowerPoint.Slide.8">
                  <p:embed/>
                </p:oleObj>
              </mc:Choice>
              <mc:Fallback>
                <p:oleObj name="投影片" r:id="rId3" imgW="4572000" imgH="3429000" progId="PowerPoint.Slide.8">
                  <p:embed/>
                  <p:pic>
                    <p:nvPicPr>
                      <p:cNvPr id="3074"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3400" y="762000"/>
                        <a:ext cx="7543800" cy="5657850"/>
                      </a:xfrm>
                      <a:prstGeom prst="rect">
                        <a:avLst/>
                      </a:prstGeom>
                      <a:noFill/>
                    </p:spPr>
                  </p:pic>
                </p:oleObj>
              </mc:Fallback>
            </mc:AlternateContent>
          </a:graphicData>
        </a:graphic>
      </p:graphicFrame>
      <p:sp>
        <p:nvSpPr>
          <p:cNvPr id="3076" name="Rectangle 6"/>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Typical XPS system</a:t>
            </a:r>
          </a:p>
        </p:txBody>
      </p:sp>
      <p:sp>
        <p:nvSpPr>
          <p:cNvPr id="3" name="TextBox 2">
            <a:extLst>
              <a:ext uri="{FF2B5EF4-FFF2-40B4-BE49-F238E27FC236}">
                <a16:creationId xmlns:a16="http://schemas.microsoft.com/office/drawing/2014/main" id="{72F44AA1-2905-40D4-8CB6-E1B6F4C2C437}"/>
              </a:ext>
            </a:extLst>
          </p:cNvPr>
          <p:cNvSpPr txBox="1"/>
          <p:nvPr/>
        </p:nvSpPr>
        <p:spPr>
          <a:xfrm>
            <a:off x="1524000" y="2667000"/>
            <a:ext cx="1872558" cy="276999"/>
          </a:xfrm>
          <a:prstGeom prst="rect">
            <a:avLst/>
          </a:prstGeom>
          <a:solidFill>
            <a:schemeClr val="bg1"/>
          </a:solidFill>
        </p:spPr>
        <p:txBody>
          <a:bodyPr wrap="square" rtlCol="0">
            <a:spAutoFit/>
          </a:bodyPr>
          <a:lstStyle/>
          <a:p>
            <a:r>
              <a:rPr lang="en-US" sz="1200" dirty="0"/>
              <a:t>Electron energy analyzer</a:t>
            </a:r>
          </a:p>
        </p:txBody>
      </p:sp>
      <p:sp>
        <p:nvSpPr>
          <p:cNvPr id="2" name="Slide Number Placeholder 1">
            <a:extLst>
              <a:ext uri="{FF2B5EF4-FFF2-40B4-BE49-F238E27FC236}">
                <a16:creationId xmlns:a16="http://schemas.microsoft.com/office/drawing/2014/main" id="{5FFCCAF0-B400-4A50-9BC9-58168829CA40}"/>
              </a:ext>
            </a:extLst>
          </p:cNvPr>
          <p:cNvSpPr>
            <a:spLocks noGrp="1"/>
          </p:cNvSpPr>
          <p:nvPr>
            <p:ph type="sldNum" sz="quarter" idx="11"/>
          </p:nvPr>
        </p:nvSpPr>
        <p:spPr/>
        <p:txBody>
          <a:bodyPr/>
          <a:lstStyle/>
          <a:p>
            <a:pPr>
              <a:defRPr/>
            </a:pPr>
            <a:fld id="{EBF73BDF-690D-4725-BA10-A7934ED52EAB}" type="slidenum">
              <a:rPr lang="zh-TW" altLang="en-US" smtClean="0"/>
              <a:pPr>
                <a:defRPr/>
              </a:pPr>
              <a:t>15</a:t>
            </a:fld>
            <a:endParaRPr lang="en-US" altLang="zh-TW"/>
          </a:p>
        </p:txBody>
      </p:sp>
      <p:sp>
        <p:nvSpPr>
          <p:cNvPr id="4" name="Oval 3">
            <a:extLst>
              <a:ext uri="{FF2B5EF4-FFF2-40B4-BE49-F238E27FC236}">
                <a16:creationId xmlns:a16="http://schemas.microsoft.com/office/drawing/2014/main" id="{0099366D-229D-074C-AA1F-60100C275302}"/>
              </a:ext>
            </a:extLst>
          </p:cNvPr>
          <p:cNvSpPr/>
          <p:nvPr/>
        </p:nvSpPr>
        <p:spPr bwMode="auto">
          <a:xfrm>
            <a:off x="4333119" y="677938"/>
            <a:ext cx="4038600" cy="4133850"/>
          </a:xfrm>
          <a:prstGeom prst="ellipse">
            <a:avLst/>
          </a:prstGeom>
          <a:noFill/>
          <a:ln w="19050" cap="flat" cmpd="sng" algn="ctr">
            <a:solidFill>
              <a:schemeClr val="bg2">
                <a:lumMod val="40000"/>
                <a:lumOff val="60000"/>
              </a:schemeClr>
            </a:solidFill>
            <a:prstDash val="sysDot"/>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1800" b="0" i="0" u="none" strike="noStrike" cap="none" normalizeH="0" baseline="0">
              <a:ln>
                <a:noFill/>
              </a:ln>
              <a:solidFill>
                <a:schemeClr val="tx1"/>
              </a:solidFill>
              <a:effectLst/>
              <a:latin typeface="Arial" charset="0"/>
            </a:endParaRPr>
          </a:p>
        </p:txBody>
      </p:sp>
      <p:sp>
        <p:nvSpPr>
          <p:cNvPr id="6" name="Oval 5">
            <a:extLst>
              <a:ext uri="{FF2B5EF4-FFF2-40B4-BE49-F238E27FC236}">
                <a16:creationId xmlns:a16="http://schemas.microsoft.com/office/drawing/2014/main" id="{99FC1797-51D4-B32A-55D9-392E75925B8D}"/>
              </a:ext>
            </a:extLst>
          </p:cNvPr>
          <p:cNvSpPr/>
          <p:nvPr/>
        </p:nvSpPr>
        <p:spPr bwMode="auto">
          <a:xfrm>
            <a:off x="457200" y="2556480"/>
            <a:ext cx="3352800" cy="3200389"/>
          </a:xfrm>
          <a:prstGeom prst="ellipse">
            <a:avLst/>
          </a:prstGeom>
          <a:noFill/>
          <a:ln w="19050" cap="flat" cmpd="sng" algn="ctr">
            <a:solidFill>
              <a:schemeClr val="bg2">
                <a:lumMod val="40000"/>
                <a:lumOff val="60000"/>
              </a:schemeClr>
            </a:solidFill>
            <a:prstDash val="sysDot"/>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1800" b="0" i="0" u="none" strike="noStrike" cap="none" normalizeH="0" baseline="0">
              <a:ln>
                <a:noFill/>
              </a:ln>
              <a:solidFill>
                <a:schemeClr val="tx1"/>
              </a:solidFill>
              <a:effectLst/>
              <a:latin typeface="Arial" charset="0"/>
            </a:endParaRPr>
          </a:p>
        </p:txBody>
      </p:sp>
      <p:sp>
        <p:nvSpPr>
          <p:cNvPr id="8" name="Oval 7">
            <a:extLst>
              <a:ext uri="{FF2B5EF4-FFF2-40B4-BE49-F238E27FC236}">
                <a16:creationId xmlns:a16="http://schemas.microsoft.com/office/drawing/2014/main" id="{F47F5D61-3246-213B-FD64-D3E719BE6B6D}"/>
              </a:ext>
            </a:extLst>
          </p:cNvPr>
          <p:cNvSpPr/>
          <p:nvPr/>
        </p:nvSpPr>
        <p:spPr bwMode="auto">
          <a:xfrm>
            <a:off x="2155479" y="1304927"/>
            <a:ext cx="2895600" cy="2838449"/>
          </a:xfrm>
          <a:prstGeom prst="ellipse">
            <a:avLst/>
          </a:prstGeom>
          <a:noFill/>
          <a:ln w="19050" cap="flat" cmpd="sng" algn="ctr">
            <a:solidFill>
              <a:schemeClr val="bg2">
                <a:lumMod val="40000"/>
                <a:lumOff val="60000"/>
              </a:schemeClr>
            </a:solidFill>
            <a:prstDash val="sysDot"/>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1800" b="0" i="0" u="none" strike="noStrike" cap="none" normalizeH="0" baseline="0">
              <a:ln>
                <a:noFill/>
              </a:ln>
              <a:solidFill>
                <a:schemeClr val="tx1"/>
              </a:solidFill>
              <a:effectLst/>
              <a:latin typeface="Arial"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3400" y="1798746"/>
            <a:ext cx="8072438" cy="3983343"/>
          </a:xfrm>
          <a:prstGeom prst="rect">
            <a:avLst/>
          </a:prstGeom>
        </p:spPr>
      </p:pic>
      <p:sp>
        <p:nvSpPr>
          <p:cNvPr id="4" name="Oval 3"/>
          <p:cNvSpPr/>
          <p:nvPr/>
        </p:nvSpPr>
        <p:spPr bwMode="auto">
          <a:xfrm>
            <a:off x="6400800" y="2362200"/>
            <a:ext cx="1752600" cy="762000"/>
          </a:xfrm>
          <a:prstGeom prst="ellipse">
            <a:avLst/>
          </a:prstGeom>
          <a:noFill/>
          <a:ln w="38100" cap="flat" cmpd="sng" algn="ctr">
            <a:solidFill>
              <a:srgbClr val="FF33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sp>
        <p:nvSpPr>
          <p:cNvPr id="5" name="TextBox 4"/>
          <p:cNvSpPr txBox="1"/>
          <p:nvPr/>
        </p:nvSpPr>
        <p:spPr>
          <a:xfrm>
            <a:off x="2074576" y="1070825"/>
            <a:ext cx="5561010" cy="523220"/>
          </a:xfrm>
          <a:prstGeom prst="rect">
            <a:avLst/>
          </a:prstGeom>
          <a:noFill/>
        </p:spPr>
        <p:txBody>
          <a:bodyPr wrap="none" rtlCol="0">
            <a:spAutoFit/>
          </a:bodyPr>
          <a:lstStyle/>
          <a:p>
            <a:r>
              <a:rPr lang="en-US" sz="2800" dirty="0">
                <a:latin typeface="Georgia" panose="02040502050405020303" pitchFamily="18" charset="0"/>
              </a:rPr>
              <a:t>X-ray photons~ 10</a:t>
            </a:r>
            <a:r>
              <a:rPr lang="en-US" sz="2800" baseline="30000" dirty="0">
                <a:latin typeface="Georgia" panose="02040502050405020303" pitchFamily="18" charset="0"/>
              </a:rPr>
              <a:t>-8 </a:t>
            </a:r>
            <a:r>
              <a:rPr lang="en-US" sz="2800" dirty="0">
                <a:latin typeface="Georgia" panose="02040502050405020303" pitchFamily="18" charset="0"/>
              </a:rPr>
              <a:t>to 10</a:t>
            </a:r>
            <a:r>
              <a:rPr lang="en-US" sz="2800" baseline="30000" dirty="0">
                <a:latin typeface="Georgia" panose="02040502050405020303" pitchFamily="18" charset="0"/>
              </a:rPr>
              <a:t>-11</a:t>
            </a:r>
            <a:r>
              <a:rPr lang="en-US" sz="2800" dirty="0">
                <a:latin typeface="Georgia" panose="02040502050405020303" pitchFamily="18" charset="0"/>
              </a:rPr>
              <a:t> meter</a:t>
            </a:r>
          </a:p>
        </p:txBody>
      </p:sp>
      <p:sp>
        <p:nvSpPr>
          <p:cNvPr id="2" name="Slide Number Placeholder 1">
            <a:extLst>
              <a:ext uri="{FF2B5EF4-FFF2-40B4-BE49-F238E27FC236}">
                <a16:creationId xmlns:a16="http://schemas.microsoft.com/office/drawing/2014/main" id="{A521DF20-7274-43B3-9639-18E507A4F216}"/>
              </a:ext>
            </a:extLst>
          </p:cNvPr>
          <p:cNvSpPr>
            <a:spLocks noGrp="1"/>
          </p:cNvSpPr>
          <p:nvPr>
            <p:ph type="sldNum" sz="quarter" idx="11"/>
          </p:nvPr>
        </p:nvSpPr>
        <p:spPr/>
        <p:txBody>
          <a:bodyPr/>
          <a:lstStyle/>
          <a:p>
            <a:pPr>
              <a:defRPr/>
            </a:pPr>
            <a:fld id="{EBF73BDF-690D-4725-BA10-A7934ED52EAB}" type="slidenum">
              <a:rPr lang="zh-TW" altLang="en-US" smtClean="0"/>
              <a:pPr>
                <a:defRPr/>
              </a:pPr>
              <a:t>16</a:t>
            </a:fld>
            <a:endParaRPr lang="en-US" altLang="zh-TW"/>
          </a:p>
        </p:txBody>
      </p:sp>
      <p:sp>
        <p:nvSpPr>
          <p:cNvPr id="6" name="Rectangle 5">
            <a:extLst>
              <a:ext uri="{FF2B5EF4-FFF2-40B4-BE49-F238E27FC236}">
                <a16:creationId xmlns:a16="http://schemas.microsoft.com/office/drawing/2014/main" id="{4BBD17AF-5484-229D-B22B-CAD9E164664A}"/>
              </a:ext>
            </a:extLst>
          </p:cNvPr>
          <p:cNvSpPr>
            <a:spLocks noChangeArrowheads="1"/>
          </p:cNvSpPr>
          <p:nvPr/>
        </p:nvSpPr>
        <p:spPr bwMode="auto">
          <a:xfrm>
            <a:off x="676275" y="209550"/>
            <a:ext cx="8229600" cy="457200"/>
          </a:xfrm>
          <a:prstGeom prst="rect">
            <a:avLst/>
          </a:prstGeom>
          <a:noFill/>
          <a:ln w="9525">
            <a:noFill/>
            <a:miter lim="800000"/>
            <a:headEnd/>
            <a:tailEnd/>
          </a:ln>
          <a:effectLst/>
        </p:spPr>
        <p:txBody>
          <a:bodyPr anchor="ctr"/>
          <a:lstStyle/>
          <a:p>
            <a:pPr eaLnBrk="1" hangingPunct="1"/>
            <a:r>
              <a:rPr lang="en-US" altLang="zh-TW" dirty="0">
                <a:solidFill>
                  <a:schemeClr val="bg1"/>
                </a:solidFill>
                <a:latin typeface="Georgia" panose="02040502050405020303" pitchFamily="18" charset="0"/>
                <a:ea typeface="新細明體" pitchFamily="18" charset="-120"/>
              </a:rPr>
              <a:t>XPS system: X-ray range </a:t>
            </a:r>
          </a:p>
        </p:txBody>
      </p:sp>
    </p:spTree>
    <p:extLst>
      <p:ext uri="{BB962C8B-B14F-4D97-AF65-F5344CB8AC3E}">
        <p14:creationId xmlns:p14="http://schemas.microsoft.com/office/powerpoint/2010/main" val="445190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9609" name="Picture 41"/>
          <p:cNvPicPr>
            <a:picLocks noChangeAspect="1" noChangeArrowheads="1"/>
          </p:cNvPicPr>
          <p:nvPr/>
        </p:nvPicPr>
        <p:blipFill rotWithShape="1">
          <a:blip r:embed="rId2" cstate="print"/>
          <a:srcRect l="-1" r="2565"/>
          <a:stretch/>
        </p:blipFill>
        <p:spPr bwMode="auto">
          <a:xfrm>
            <a:off x="457200" y="1295400"/>
            <a:ext cx="2895600" cy="2655888"/>
          </a:xfrm>
          <a:prstGeom prst="rect">
            <a:avLst/>
          </a:prstGeom>
          <a:noFill/>
          <a:ln w="9525">
            <a:noFill/>
            <a:miter lim="800000"/>
            <a:headEnd/>
            <a:tailEnd/>
          </a:ln>
          <a:effectLst/>
        </p:spPr>
      </p:pic>
      <p:sp>
        <p:nvSpPr>
          <p:cNvPr id="109597" name="Text Box 29"/>
          <p:cNvSpPr txBox="1">
            <a:spLocks noChangeArrowheads="1"/>
          </p:cNvSpPr>
          <p:nvPr/>
        </p:nvSpPr>
        <p:spPr bwMode="auto">
          <a:xfrm>
            <a:off x="457200" y="762000"/>
            <a:ext cx="3581400" cy="369332"/>
          </a:xfrm>
          <a:prstGeom prst="rect">
            <a:avLst/>
          </a:prstGeom>
          <a:solidFill>
            <a:schemeClr val="bg1"/>
          </a:solidFill>
          <a:ln w="9525">
            <a:noFill/>
            <a:miter lim="800000"/>
            <a:headEnd/>
            <a:tailEnd/>
          </a:ln>
          <a:effectLst/>
        </p:spPr>
        <p:txBody>
          <a:bodyPr wrap="square">
            <a:spAutoFit/>
          </a:bodyPr>
          <a:lstStyle/>
          <a:p>
            <a:pPr eaLnBrk="1" hangingPunct="1"/>
            <a:r>
              <a:rPr lang="en-US" altLang="zh-TW" b="1" dirty="0">
                <a:latin typeface="Georgia" panose="02040502050405020303" pitchFamily="18" charset="0"/>
                <a:ea typeface="新細明體" pitchFamily="18" charset="-120"/>
              </a:rPr>
              <a:t>Atomic energy levels</a:t>
            </a:r>
          </a:p>
        </p:txBody>
      </p:sp>
      <p:sp>
        <p:nvSpPr>
          <p:cNvPr id="40" name="Rectangle 7"/>
          <p:cNvSpPr>
            <a:spLocks noChangeArrowheads="1"/>
          </p:cNvSpPr>
          <p:nvPr/>
        </p:nvSpPr>
        <p:spPr bwMode="auto">
          <a:xfrm>
            <a:off x="676275" y="209550"/>
            <a:ext cx="8229600" cy="457200"/>
          </a:xfrm>
          <a:prstGeom prst="rect">
            <a:avLst/>
          </a:prstGeom>
          <a:noFill/>
          <a:ln w="9525">
            <a:noFill/>
            <a:miter lim="800000"/>
            <a:headEnd/>
            <a:tailEnd/>
          </a:ln>
          <a:effectLst/>
        </p:spPr>
        <p:txBody>
          <a:bodyPr anchor="ctr"/>
          <a:lstStyle/>
          <a:p>
            <a:pPr eaLnBrk="1" hangingPunct="1"/>
            <a:r>
              <a:rPr lang="en-US" altLang="zh-TW" dirty="0">
                <a:solidFill>
                  <a:schemeClr val="bg1"/>
                </a:solidFill>
                <a:latin typeface="Georgia" panose="02040502050405020303" pitchFamily="18" charset="0"/>
                <a:ea typeface="新細明體" pitchFamily="18" charset="-120"/>
              </a:rPr>
              <a:t>XPS system: X-ray generation principle</a:t>
            </a:r>
          </a:p>
        </p:txBody>
      </p:sp>
      <p:cxnSp>
        <p:nvCxnSpPr>
          <p:cNvPr id="3" name="Straight Arrow Connector 2">
            <a:extLst>
              <a:ext uri="{FF2B5EF4-FFF2-40B4-BE49-F238E27FC236}">
                <a16:creationId xmlns:a16="http://schemas.microsoft.com/office/drawing/2014/main" id="{7E9542BF-51BF-4882-920B-8CA992CEC6B6}"/>
              </a:ext>
            </a:extLst>
          </p:cNvPr>
          <p:cNvCxnSpPr>
            <a:cxnSpLocks/>
          </p:cNvCxnSpPr>
          <p:nvPr/>
        </p:nvCxnSpPr>
        <p:spPr bwMode="auto">
          <a:xfrm flipH="1">
            <a:off x="1447800" y="3048000"/>
            <a:ext cx="585355" cy="106680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sp>
        <p:nvSpPr>
          <p:cNvPr id="5" name="Oval 4">
            <a:extLst>
              <a:ext uri="{FF2B5EF4-FFF2-40B4-BE49-F238E27FC236}">
                <a16:creationId xmlns:a16="http://schemas.microsoft.com/office/drawing/2014/main" id="{3A85D0EC-CD25-485D-A6B6-310C90E88385}"/>
              </a:ext>
            </a:extLst>
          </p:cNvPr>
          <p:cNvSpPr/>
          <p:nvPr/>
        </p:nvSpPr>
        <p:spPr bwMode="auto">
          <a:xfrm>
            <a:off x="1786948" y="3398261"/>
            <a:ext cx="76200" cy="76200"/>
          </a:xfrm>
          <a:prstGeom prst="ellipse">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Georgia" panose="02040502050405020303" pitchFamily="18" charset="0"/>
            </a:endParaRPr>
          </a:p>
        </p:txBody>
      </p:sp>
      <p:sp>
        <p:nvSpPr>
          <p:cNvPr id="44" name="Oval 43">
            <a:extLst>
              <a:ext uri="{FF2B5EF4-FFF2-40B4-BE49-F238E27FC236}">
                <a16:creationId xmlns:a16="http://schemas.microsoft.com/office/drawing/2014/main" id="{E46FDF8E-B040-4AE9-BCA3-EBF67B17144E}"/>
              </a:ext>
            </a:extLst>
          </p:cNvPr>
          <p:cNvSpPr/>
          <p:nvPr/>
        </p:nvSpPr>
        <p:spPr bwMode="auto">
          <a:xfrm>
            <a:off x="1371600" y="4114800"/>
            <a:ext cx="76200" cy="76200"/>
          </a:xfrm>
          <a:prstGeom prst="ellipse">
            <a:avLst/>
          </a:prstGeom>
          <a:solidFill>
            <a:srgbClr val="FF0000"/>
          </a:solidFill>
          <a:ln>
            <a:noFill/>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Georgia" panose="02040502050405020303" pitchFamily="18" charset="0"/>
            </a:endParaRPr>
          </a:p>
        </p:txBody>
      </p:sp>
      <p:sp>
        <p:nvSpPr>
          <p:cNvPr id="6" name="TextBox 5">
            <a:extLst>
              <a:ext uri="{FF2B5EF4-FFF2-40B4-BE49-F238E27FC236}">
                <a16:creationId xmlns:a16="http://schemas.microsoft.com/office/drawing/2014/main" id="{582DB0FE-30CF-4EE7-9927-C41AF4F6DE44}"/>
              </a:ext>
            </a:extLst>
          </p:cNvPr>
          <p:cNvSpPr txBox="1"/>
          <p:nvPr/>
        </p:nvSpPr>
        <p:spPr>
          <a:xfrm>
            <a:off x="304800" y="4191000"/>
            <a:ext cx="3657600" cy="2308324"/>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Georgia" panose="02040502050405020303" pitchFamily="18" charset="0"/>
              </a:rPr>
              <a:t>Incident electron knocks out an inner shell electron.</a:t>
            </a:r>
          </a:p>
          <a:p>
            <a:pPr marL="285750" indent="-285750">
              <a:buFont typeface="Arial" panose="020B0604020202020204" pitchFamily="34" charset="0"/>
              <a:buChar char="•"/>
            </a:pPr>
            <a:endParaRPr lang="en-US" dirty="0">
              <a:latin typeface="Georgia" panose="02040502050405020303" pitchFamily="18" charset="0"/>
            </a:endParaRPr>
          </a:p>
          <a:p>
            <a:pPr marL="285750" indent="-285750">
              <a:buFont typeface="Arial" panose="020B0604020202020204" pitchFamily="34" charset="0"/>
              <a:buChar char="•"/>
            </a:pPr>
            <a:r>
              <a:rPr lang="en-US" dirty="0">
                <a:latin typeface="Georgia" panose="02040502050405020303" pitchFamily="18" charset="0"/>
              </a:rPr>
              <a:t>An outer shell electron jumps down to fill this vacancy and emits the excessive energy through the emission of characteristic X-rays.  </a:t>
            </a:r>
          </a:p>
        </p:txBody>
      </p:sp>
      <p:sp>
        <p:nvSpPr>
          <p:cNvPr id="7" name="Rectangle 6">
            <a:extLst>
              <a:ext uri="{FF2B5EF4-FFF2-40B4-BE49-F238E27FC236}">
                <a16:creationId xmlns:a16="http://schemas.microsoft.com/office/drawing/2014/main" id="{AE2B7B06-5978-4F89-965E-1B30793B3101}"/>
              </a:ext>
            </a:extLst>
          </p:cNvPr>
          <p:cNvSpPr/>
          <p:nvPr/>
        </p:nvSpPr>
        <p:spPr>
          <a:xfrm>
            <a:off x="4267200" y="919202"/>
            <a:ext cx="4095993" cy="369332"/>
          </a:xfrm>
          <a:prstGeom prst="rect">
            <a:avLst/>
          </a:prstGeom>
        </p:spPr>
        <p:txBody>
          <a:bodyPr wrap="none">
            <a:spAutoFit/>
          </a:bodyPr>
          <a:lstStyle/>
          <a:p>
            <a:r>
              <a:rPr lang="en-US" dirty="0">
                <a:solidFill>
                  <a:srgbClr val="222222"/>
                </a:solidFill>
                <a:latin typeface="Georgia" panose="02040502050405020303" pitchFamily="18" charset="0"/>
              </a:rPr>
              <a:t>X-ray spectral line - Siegbahn notation</a:t>
            </a:r>
            <a:endParaRPr lang="en-US" dirty="0">
              <a:latin typeface="Georgia" panose="02040502050405020303" pitchFamily="18" charset="0"/>
            </a:endParaRPr>
          </a:p>
        </p:txBody>
      </p:sp>
      <p:pic>
        <p:nvPicPr>
          <p:cNvPr id="8" name="Picture 7">
            <a:extLst>
              <a:ext uri="{FF2B5EF4-FFF2-40B4-BE49-F238E27FC236}">
                <a16:creationId xmlns:a16="http://schemas.microsoft.com/office/drawing/2014/main" id="{3428A5E4-76BC-489F-9F1F-1CABFD605F8E}"/>
              </a:ext>
            </a:extLst>
          </p:cNvPr>
          <p:cNvPicPr>
            <a:picLocks noChangeAspect="1"/>
          </p:cNvPicPr>
          <p:nvPr/>
        </p:nvPicPr>
        <p:blipFill>
          <a:blip r:embed="rId3"/>
          <a:stretch>
            <a:fillRect/>
          </a:stretch>
        </p:blipFill>
        <p:spPr>
          <a:xfrm>
            <a:off x="4334164" y="1320752"/>
            <a:ext cx="3471702" cy="4273645"/>
          </a:xfrm>
          <a:prstGeom prst="rect">
            <a:avLst/>
          </a:prstGeom>
        </p:spPr>
      </p:pic>
      <p:sp>
        <p:nvSpPr>
          <p:cNvPr id="2" name="Slide Number Placeholder 1">
            <a:extLst>
              <a:ext uri="{FF2B5EF4-FFF2-40B4-BE49-F238E27FC236}">
                <a16:creationId xmlns:a16="http://schemas.microsoft.com/office/drawing/2014/main" id="{A64322DE-F53C-42F4-8B85-D62CB39ECFF4}"/>
              </a:ext>
            </a:extLst>
          </p:cNvPr>
          <p:cNvSpPr>
            <a:spLocks noGrp="1"/>
          </p:cNvSpPr>
          <p:nvPr>
            <p:ph type="sldNum" sz="quarter" idx="11"/>
          </p:nvPr>
        </p:nvSpPr>
        <p:spPr/>
        <p:txBody>
          <a:bodyPr/>
          <a:lstStyle/>
          <a:p>
            <a:pPr>
              <a:defRPr/>
            </a:pPr>
            <a:fld id="{EBF73BDF-690D-4725-BA10-A7934ED52EAB}" type="slidenum">
              <a:rPr lang="zh-TW" altLang="en-US" smtClean="0"/>
              <a:pPr>
                <a:defRPr/>
              </a:pPr>
              <a:t>17</a:t>
            </a:fld>
            <a:endParaRPr lang="en-US" altLang="zh-TW"/>
          </a:p>
        </p:txBody>
      </p:sp>
      <p:sp>
        <p:nvSpPr>
          <p:cNvPr id="4" name="TextBox 3">
            <a:extLst>
              <a:ext uri="{FF2B5EF4-FFF2-40B4-BE49-F238E27FC236}">
                <a16:creationId xmlns:a16="http://schemas.microsoft.com/office/drawing/2014/main" id="{F903B335-4426-B2DF-4509-66EB8A5078D2}"/>
              </a:ext>
            </a:extLst>
          </p:cNvPr>
          <p:cNvSpPr txBox="1"/>
          <p:nvPr/>
        </p:nvSpPr>
        <p:spPr>
          <a:xfrm>
            <a:off x="7825159" y="1540986"/>
            <a:ext cx="479618" cy="369332"/>
          </a:xfrm>
          <a:prstGeom prst="rect">
            <a:avLst/>
          </a:prstGeom>
          <a:noFill/>
        </p:spPr>
        <p:txBody>
          <a:bodyPr wrap="none" rtlCol="0">
            <a:spAutoFit/>
          </a:bodyPr>
          <a:lstStyle/>
          <a:p>
            <a:r>
              <a:rPr lang="en-US" altLang="zh-CN" dirty="0">
                <a:latin typeface="Georgia" panose="02040502050405020303" pitchFamily="18" charset="0"/>
              </a:rPr>
              <a:t>Cu</a:t>
            </a:r>
            <a:endParaRPr lang="en-US" dirty="0">
              <a:latin typeface="Georgia" panose="02040502050405020303" pitchFamily="18"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3" name="Rectangle 5"/>
          <p:cNvSpPr>
            <a:spLocks noChangeArrowheads="1"/>
          </p:cNvSpPr>
          <p:nvPr/>
        </p:nvSpPr>
        <p:spPr bwMode="auto">
          <a:xfrm>
            <a:off x="676275" y="209550"/>
            <a:ext cx="8229600" cy="457200"/>
          </a:xfrm>
          <a:prstGeom prst="rect">
            <a:avLst/>
          </a:prstGeom>
          <a:noFill/>
          <a:ln w="9525">
            <a:noFill/>
            <a:miter lim="800000"/>
            <a:headEnd/>
            <a:tailEnd/>
          </a:ln>
          <a:effectLst/>
        </p:spPr>
        <p:txBody>
          <a:bodyPr anchor="ctr"/>
          <a:lstStyle/>
          <a:p>
            <a:pPr eaLnBrk="1" hangingPunct="1"/>
            <a:r>
              <a:rPr lang="en-US" altLang="zh-TW" dirty="0">
                <a:solidFill>
                  <a:schemeClr val="bg1"/>
                </a:solidFill>
                <a:ea typeface="新細明體" pitchFamily="18" charset="-120"/>
              </a:rPr>
              <a:t>XPS system: X-ray source-set up</a:t>
            </a:r>
          </a:p>
        </p:txBody>
      </p:sp>
      <p:graphicFrame>
        <p:nvGraphicFramePr>
          <p:cNvPr id="43014" name="Object 6"/>
          <p:cNvGraphicFramePr>
            <a:graphicFrameLocks noChangeAspect="1"/>
          </p:cNvGraphicFramePr>
          <p:nvPr>
            <p:extLst>
              <p:ext uri="{D42A27DB-BD31-4B8C-83A1-F6EECF244321}">
                <p14:modId xmlns:p14="http://schemas.microsoft.com/office/powerpoint/2010/main" val="2336610060"/>
              </p:ext>
            </p:extLst>
          </p:nvPr>
        </p:nvGraphicFramePr>
        <p:xfrm>
          <a:off x="676275" y="1150402"/>
          <a:ext cx="7010400" cy="3643355"/>
        </p:xfrm>
        <a:graphic>
          <a:graphicData uri="http://schemas.openxmlformats.org/presentationml/2006/ole">
            <mc:AlternateContent xmlns:mc="http://schemas.openxmlformats.org/markup-compatibility/2006">
              <mc:Choice xmlns:v="urn:schemas-microsoft-com:vml" Requires="v">
                <p:oleObj name="Photo Editor Photo" r:id="rId2" imgW="5334745" imgH="2771429" progId="">
                  <p:embed/>
                </p:oleObj>
              </mc:Choice>
              <mc:Fallback>
                <p:oleObj name="Photo Editor Photo" r:id="rId2" imgW="5334745" imgH="2771429" progId="">
                  <p:embed/>
                  <p:pic>
                    <p:nvPicPr>
                      <p:cNvPr id="43014"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6275" y="1150402"/>
                        <a:ext cx="7010400" cy="3643355"/>
                      </a:xfrm>
                      <a:prstGeom prst="rect">
                        <a:avLst/>
                      </a:prstGeom>
                      <a:noFill/>
                    </p:spPr>
                  </p:pic>
                </p:oleObj>
              </mc:Fallback>
            </mc:AlternateContent>
          </a:graphicData>
        </a:graphic>
      </p:graphicFrame>
      <p:sp>
        <p:nvSpPr>
          <p:cNvPr id="43015" name="Rectangle 7"/>
          <p:cNvSpPr>
            <a:spLocks noChangeArrowheads="1"/>
          </p:cNvSpPr>
          <p:nvPr/>
        </p:nvSpPr>
        <p:spPr bwMode="auto">
          <a:xfrm>
            <a:off x="1409700" y="696191"/>
            <a:ext cx="6324600" cy="457200"/>
          </a:xfrm>
          <a:prstGeom prst="rect">
            <a:avLst/>
          </a:prstGeom>
          <a:noFill/>
          <a:ln w="9525">
            <a:noFill/>
            <a:miter lim="800000"/>
            <a:headEnd/>
            <a:tailEnd/>
          </a:ln>
          <a:effectLst/>
        </p:spPr>
        <p:txBody>
          <a:bodyPr>
            <a:spAutoFit/>
          </a:bodyPr>
          <a:lstStyle/>
          <a:p>
            <a:pPr algn="ctr" eaLnBrk="1" hangingPunct="1"/>
            <a:r>
              <a:rPr lang="en-US" altLang="zh-TW" sz="2400" dirty="0">
                <a:solidFill>
                  <a:schemeClr val="bg2"/>
                </a:solidFill>
                <a:effectLst>
                  <a:outerShdw blurRad="38100" dist="38100" dir="2700000" algn="tl">
                    <a:srgbClr val="C0C0C0"/>
                  </a:outerShdw>
                </a:effectLst>
                <a:latin typeface="Georgia" panose="02040502050405020303" pitchFamily="18" charset="0"/>
                <a:ea typeface="新細明體" pitchFamily="18" charset="-120"/>
              </a:rPr>
              <a:t>Typical structure of a dual x-ray source </a:t>
            </a:r>
          </a:p>
        </p:txBody>
      </p:sp>
      <p:sp>
        <p:nvSpPr>
          <p:cNvPr id="43017" name="Text Box 9"/>
          <p:cNvSpPr txBox="1">
            <a:spLocks noChangeArrowheads="1"/>
          </p:cNvSpPr>
          <p:nvPr/>
        </p:nvSpPr>
        <p:spPr bwMode="auto">
          <a:xfrm>
            <a:off x="266699" y="6005056"/>
            <a:ext cx="8336973" cy="605294"/>
          </a:xfrm>
          <a:prstGeom prst="rect">
            <a:avLst/>
          </a:prstGeom>
          <a:noFill/>
          <a:ln w="9525">
            <a:noFill/>
            <a:miter lim="800000"/>
            <a:headEnd/>
            <a:tailEnd/>
          </a:ln>
          <a:effectLst/>
        </p:spPr>
        <p:txBody>
          <a:bodyPr wrap="square">
            <a:spAutoFit/>
          </a:bodyPr>
          <a:lstStyle/>
          <a:p>
            <a:pPr marL="285750" indent="-285750" algn="just" eaLnBrk="1" hangingPunct="1">
              <a:lnSpc>
                <a:spcPts val="2000"/>
              </a:lnSpc>
              <a:buFont typeface="Arial" panose="020B0604020202020204" pitchFamily="34" charset="0"/>
              <a:buChar char="•"/>
            </a:pPr>
            <a:r>
              <a:rPr lang="en-US" altLang="zh-TW" dirty="0">
                <a:latin typeface="Georgia" panose="02040502050405020303" pitchFamily="18" charset="0"/>
                <a:ea typeface="新細明體" pitchFamily="18" charset="-120"/>
              </a:rPr>
              <a:t>Soft x-rays are then generated, and it pass out through an aperture in the surrounding cylindrical shield, covered with a thin (~2 mm) sheet of Al foil.</a:t>
            </a:r>
          </a:p>
        </p:txBody>
      </p:sp>
      <p:sp>
        <p:nvSpPr>
          <p:cNvPr id="2" name="Slide Number Placeholder 1">
            <a:extLst>
              <a:ext uri="{FF2B5EF4-FFF2-40B4-BE49-F238E27FC236}">
                <a16:creationId xmlns:a16="http://schemas.microsoft.com/office/drawing/2014/main" id="{C1511E52-7509-4B7B-AA6A-64F3C711814D}"/>
              </a:ext>
            </a:extLst>
          </p:cNvPr>
          <p:cNvSpPr>
            <a:spLocks noGrp="1"/>
          </p:cNvSpPr>
          <p:nvPr>
            <p:ph type="sldNum" sz="quarter" idx="11"/>
          </p:nvPr>
        </p:nvSpPr>
        <p:spPr>
          <a:xfrm>
            <a:off x="6858000" y="6307703"/>
            <a:ext cx="2133600" cy="457200"/>
          </a:xfrm>
        </p:spPr>
        <p:txBody>
          <a:bodyPr/>
          <a:lstStyle/>
          <a:p>
            <a:pPr>
              <a:defRPr/>
            </a:pPr>
            <a:fld id="{EBF73BDF-690D-4725-BA10-A7934ED52EAB}" type="slidenum">
              <a:rPr lang="zh-TW" altLang="en-US" smtClean="0"/>
              <a:pPr>
                <a:defRPr/>
              </a:pPr>
              <a:t>18</a:t>
            </a:fld>
            <a:endParaRPr lang="en-US" altLang="zh-TW" dirty="0"/>
          </a:p>
        </p:txBody>
      </p:sp>
      <p:sp>
        <p:nvSpPr>
          <p:cNvPr id="4" name="TextBox 3">
            <a:extLst>
              <a:ext uri="{FF2B5EF4-FFF2-40B4-BE49-F238E27FC236}">
                <a16:creationId xmlns:a16="http://schemas.microsoft.com/office/drawing/2014/main" id="{A4E96831-0A4A-9987-FAE3-69D04ABCD0ED}"/>
              </a:ext>
            </a:extLst>
          </p:cNvPr>
          <p:cNvSpPr txBox="1"/>
          <p:nvPr/>
        </p:nvSpPr>
        <p:spPr>
          <a:xfrm>
            <a:off x="3352800" y="3464472"/>
            <a:ext cx="914400" cy="400110"/>
          </a:xfrm>
          <a:prstGeom prst="rect">
            <a:avLst/>
          </a:prstGeom>
          <a:noFill/>
        </p:spPr>
        <p:txBody>
          <a:bodyPr wrap="square">
            <a:spAutoFit/>
          </a:bodyPr>
          <a:lstStyle/>
          <a:p>
            <a:r>
              <a:rPr lang="en-US" altLang="zh-TW" sz="2000" b="1" dirty="0">
                <a:solidFill>
                  <a:srgbClr val="006600"/>
                </a:solidFill>
                <a:latin typeface="Georgia" panose="02040502050405020303" pitchFamily="18" charset="0"/>
                <a:ea typeface="新細明體" pitchFamily="18" charset="-120"/>
              </a:rPr>
              <a:t>Al</a:t>
            </a:r>
            <a:endParaRPr lang="en-HK" sz="2000" b="1" dirty="0"/>
          </a:p>
        </p:txBody>
      </p:sp>
      <p:sp>
        <p:nvSpPr>
          <p:cNvPr id="5" name="TextBox 4">
            <a:extLst>
              <a:ext uri="{FF2B5EF4-FFF2-40B4-BE49-F238E27FC236}">
                <a16:creationId xmlns:a16="http://schemas.microsoft.com/office/drawing/2014/main" id="{B4FD7EE5-ADDE-215F-CF85-D596AE1DBEEA}"/>
              </a:ext>
            </a:extLst>
          </p:cNvPr>
          <p:cNvSpPr txBox="1"/>
          <p:nvPr/>
        </p:nvSpPr>
        <p:spPr>
          <a:xfrm>
            <a:off x="4724400" y="3481790"/>
            <a:ext cx="914400" cy="400110"/>
          </a:xfrm>
          <a:prstGeom prst="rect">
            <a:avLst/>
          </a:prstGeom>
          <a:noFill/>
        </p:spPr>
        <p:txBody>
          <a:bodyPr wrap="square">
            <a:spAutoFit/>
          </a:bodyPr>
          <a:lstStyle/>
          <a:p>
            <a:r>
              <a:rPr lang="en-US" altLang="zh-TW" sz="2000" b="1" dirty="0">
                <a:solidFill>
                  <a:srgbClr val="006600"/>
                </a:solidFill>
                <a:latin typeface="Georgia" panose="02040502050405020303" pitchFamily="18" charset="0"/>
                <a:ea typeface="新細明體" pitchFamily="18" charset="-120"/>
              </a:rPr>
              <a:t>Mg</a:t>
            </a:r>
            <a:endParaRPr lang="en-HK" sz="2000" b="1" dirty="0"/>
          </a:p>
        </p:txBody>
      </p:sp>
      <p:sp>
        <p:nvSpPr>
          <p:cNvPr id="7" name="TextBox 6">
            <a:extLst>
              <a:ext uri="{FF2B5EF4-FFF2-40B4-BE49-F238E27FC236}">
                <a16:creationId xmlns:a16="http://schemas.microsoft.com/office/drawing/2014/main" id="{E0C3CE5B-6AB3-93E9-7867-49935B4A5230}"/>
              </a:ext>
            </a:extLst>
          </p:cNvPr>
          <p:cNvSpPr txBox="1"/>
          <p:nvPr/>
        </p:nvSpPr>
        <p:spPr>
          <a:xfrm>
            <a:off x="266700" y="4928596"/>
            <a:ext cx="8915400" cy="348813"/>
          </a:xfrm>
          <a:prstGeom prst="rect">
            <a:avLst/>
          </a:prstGeom>
          <a:noFill/>
        </p:spPr>
        <p:txBody>
          <a:bodyPr wrap="square">
            <a:spAutoFit/>
          </a:bodyPr>
          <a:lstStyle/>
          <a:p>
            <a:pPr marL="285750" indent="-285750" algn="just" eaLnBrk="1" hangingPunct="1">
              <a:lnSpc>
                <a:spcPts val="2000"/>
              </a:lnSpc>
              <a:buFont typeface="Arial" panose="020B0604020202020204" pitchFamily="34" charset="0"/>
              <a:buChar char="•"/>
            </a:pPr>
            <a:r>
              <a:rPr lang="en-US" altLang="zh-TW" dirty="0">
                <a:latin typeface="Georgia" panose="02040502050405020303" pitchFamily="18" charset="0"/>
                <a:ea typeface="新細明體" pitchFamily="18" charset="-120"/>
              </a:rPr>
              <a:t>On the angled anodes, a film of Al and Mg was coated with ~10 mm in thickness).</a:t>
            </a:r>
            <a:endParaRPr lang="en-US" altLang="zh-TW" b="1" dirty="0">
              <a:latin typeface="Georgia" panose="02040502050405020303" pitchFamily="18" charset="0"/>
              <a:ea typeface="新細明體" pitchFamily="18" charset="-120"/>
            </a:endParaRPr>
          </a:p>
        </p:txBody>
      </p:sp>
      <p:sp>
        <p:nvSpPr>
          <p:cNvPr id="9" name="TextBox 8">
            <a:extLst>
              <a:ext uri="{FF2B5EF4-FFF2-40B4-BE49-F238E27FC236}">
                <a16:creationId xmlns:a16="http://schemas.microsoft.com/office/drawing/2014/main" id="{0B93D625-BECD-AD5B-7685-1F7A057E3872}"/>
              </a:ext>
            </a:extLst>
          </p:cNvPr>
          <p:cNvSpPr txBox="1"/>
          <p:nvPr/>
        </p:nvSpPr>
        <p:spPr>
          <a:xfrm>
            <a:off x="266700" y="5302921"/>
            <a:ext cx="8801100" cy="646331"/>
          </a:xfrm>
          <a:prstGeom prst="rect">
            <a:avLst/>
          </a:prstGeom>
          <a:noFill/>
        </p:spPr>
        <p:txBody>
          <a:bodyPr wrap="square">
            <a:spAutoFit/>
          </a:bodyPr>
          <a:lstStyle/>
          <a:p>
            <a:pPr marL="285750" indent="-285750">
              <a:buFont typeface="Arial" panose="020B0604020202020204" pitchFamily="34" charset="0"/>
              <a:buChar char="•"/>
            </a:pPr>
            <a:r>
              <a:rPr lang="en-US" altLang="zh-TW" dirty="0">
                <a:latin typeface="Georgia" panose="02040502050405020303" pitchFamily="18" charset="0"/>
                <a:ea typeface="新細明體" pitchFamily="18" charset="-120"/>
              </a:rPr>
              <a:t>These filaments and the surrounding shields are at earth potential, and the high accelerating potential of up to +15 kV is applied to the anode during operation. </a:t>
            </a:r>
            <a:endParaRPr lang="en-HK"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123" name="Group 4"/>
          <p:cNvGrpSpPr>
            <a:grpSpLocks/>
          </p:cNvGrpSpPr>
          <p:nvPr/>
        </p:nvGrpSpPr>
        <p:grpSpPr bwMode="auto">
          <a:xfrm>
            <a:off x="138113" y="1828800"/>
            <a:ext cx="4038600" cy="3622675"/>
            <a:chOff x="903" y="571"/>
            <a:chExt cx="2544" cy="2282"/>
          </a:xfrm>
        </p:grpSpPr>
        <p:graphicFrame>
          <p:nvGraphicFramePr>
            <p:cNvPr id="5122" name="Object 5"/>
            <p:cNvGraphicFramePr>
              <a:graphicFrameLocks noChangeAspect="1"/>
            </p:cNvGraphicFramePr>
            <p:nvPr>
              <p:extLst>
                <p:ext uri="{D42A27DB-BD31-4B8C-83A1-F6EECF244321}">
                  <p14:modId xmlns:p14="http://schemas.microsoft.com/office/powerpoint/2010/main" val="3906786867"/>
                </p:ext>
              </p:extLst>
            </p:nvPr>
          </p:nvGraphicFramePr>
          <p:xfrm>
            <a:off x="903" y="571"/>
            <a:ext cx="2544" cy="2282"/>
          </p:xfrm>
          <a:graphic>
            <a:graphicData uri="http://schemas.openxmlformats.org/presentationml/2006/ole">
              <mc:AlternateContent xmlns:mc="http://schemas.openxmlformats.org/markup-compatibility/2006">
                <mc:Choice xmlns:v="urn:schemas-microsoft-com:vml" Requires="v">
                  <p:oleObj name="Photo Editor Photo" r:id="rId3" imgW="5172797" imgH="4638095" progId="">
                    <p:embed/>
                  </p:oleObj>
                </mc:Choice>
                <mc:Fallback>
                  <p:oleObj name="Photo Editor Photo" r:id="rId3" imgW="5172797" imgH="4638095" progId="">
                    <p:embed/>
                    <p:pic>
                      <p:nvPicPr>
                        <p:cNvPr id="5122"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3" y="571"/>
                          <a:ext cx="2544" cy="2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27" name="Rectangle 6"/>
            <p:cNvSpPr>
              <a:spLocks noChangeArrowheads="1"/>
            </p:cNvSpPr>
            <p:nvPr/>
          </p:nvSpPr>
          <p:spPr bwMode="auto">
            <a:xfrm>
              <a:off x="996" y="1867"/>
              <a:ext cx="2448" cy="240"/>
            </a:xfrm>
            <a:prstGeom prst="rect">
              <a:avLst/>
            </a:prstGeom>
            <a:noFill/>
            <a:ln w="28575">
              <a:solidFill>
                <a:srgbClr val="FF0066"/>
              </a:solidFill>
              <a:miter lim="800000"/>
              <a:headEnd/>
              <a:tailEnd/>
            </a:ln>
          </p:spPr>
          <p:txBody>
            <a:bodyPr wrap="none" anchor="ctr"/>
            <a:lstStyle/>
            <a:p>
              <a:endParaRPr lang="zh-CN" altLang="zh-CN">
                <a:latin typeface="Georgia" panose="02040502050405020303" pitchFamily="18" charset="0"/>
                <a:ea typeface="SimSun" pitchFamily="2" charset="-122"/>
              </a:endParaRPr>
            </a:p>
          </p:txBody>
        </p:sp>
      </p:grpSp>
      <p:sp>
        <p:nvSpPr>
          <p:cNvPr id="5124" name="Rectangle 7"/>
          <p:cNvSpPr>
            <a:spLocks noChangeArrowheads="1"/>
          </p:cNvSpPr>
          <p:nvPr/>
        </p:nvSpPr>
        <p:spPr bwMode="auto">
          <a:xfrm>
            <a:off x="457200" y="846137"/>
            <a:ext cx="7696200" cy="461665"/>
          </a:xfrm>
          <a:prstGeom prst="rect">
            <a:avLst/>
          </a:prstGeom>
          <a:noFill/>
          <a:ln w="9525">
            <a:noFill/>
            <a:miter lim="800000"/>
            <a:headEnd/>
            <a:tailEnd/>
          </a:ln>
        </p:spPr>
        <p:txBody>
          <a:bodyPr>
            <a:spAutoFit/>
          </a:bodyPr>
          <a:lstStyle/>
          <a:p>
            <a:pPr algn="just" eaLnBrk="1" hangingPunct="1"/>
            <a:r>
              <a:rPr lang="en-US" altLang="zh-TW" sz="2400" dirty="0">
                <a:solidFill>
                  <a:schemeClr val="bg2"/>
                </a:solidFill>
                <a:latin typeface="Georgia" panose="02040502050405020303" pitchFamily="18" charset="0"/>
                <a:ea typeface="新細明體" pitchFamily="18" charset="-120"/>
              </a:rPr>
              <a:t>Choice of anodic materials </a:t>
            </a:r>
          </a:p>
        </p:txBody>
      </p:sp>
      <p:sp>
        <p:nvSpPr>
          <p:cNvPr id="5125" name="Text Box 8"/>
          <p:cNvSpPr txBox="1">
            <a:spLocks noChangeArrowheads="1"/>
          </p:cNvSpPr>
          <p:nvPr/>
        </p:nvSpPr>
        <p:spPr bwMode="auto">
          <a:xfrm>
            <a:off x="4505325" y="1362590"/>
            <a:ext cx="4095750" cy="4555093"/>
          </a:xfrm>
          <a:prstGeom prst="rect">
            <a:avLst/>
          </a:prstGeom>
          <a:noFill/>
          <a:ln w="9525">
            <a:noFill/>
            <a:miter lim="800000"/>
            <a:headEnd/>
            <a:tailEnd/>
          </a:ln>
        </p:spPr>
        <p:txBody>
          <a:bodyPr wrap="square">
            <a:spAutoFit/>
          </a:bodyPr>
          <a:lstStyle/>
          <a:p>
            <a:pPr marL="400050" indent="-400050" algn="just" eaLnBrk="1" hangingPunct="1">
              <a:spcAft>
                <a:spcPts val="1200"/>
              </a:spcAft>
              <a:buAutoNum type="romanLcParenBoth"/>
            </a:pPr>
            <a:r>
              <a:rPr lang="en-US" altLang="zh-TW" dirty="0">
                <a:latin typeface="Georgia" panose="02040502050405020303" pitchFamily="18" charset="0"/>
                <a:ea typeface="新細明體" pitchFamily="18" charset="-120"/>
              </a:rPr>
              <a:t>the </a:t>
            </a:r>
            <a:r>
              <a:rPr lang="en-US" altLang="zh-TW" dirty="0">
                <a:solidFill>
                  <a:srgbClr val="FF0000"/>
                </a:solidFill>
                <a:latin typeface="Georgia" panose="02040502050405020303" pitchFamily="18" charset="0"/>
                <a:ea typeface="新細明體" pitchFamily="18" charset="-120"/>
              </a:rPr>
              <a:t>line width </a:t>
            </a:r>
            <a:r>
              <a:rPr lang="en-US" altLang="zh-TW" dirty="0">
                <a:latin typeface="Georgia" panose="02040502050405020303" pitchFamily="18" charset="0"/>
                <a:ea typeface="新細明體" pitchFamily="18" charset="-120"/>
              </a:rPr>
              <a:t>must not limit the energy resolution required in the technique; </a:t>
            </a:r>
          </a:p>
          <a:p>
            <a:pPr marL="400050" indent="-400050" algn="just" eaLnBrk="1" hangingPunct="1">
              <a:spcAft>
                <a:spcPts val="1200"/>
              </a:spcAft>
              <a:buAutoNum type="romanLcParenBoth"/>
            </a:pPr>
            <a:r>
              <a:rPr lang="en-US" altLang="zh-TW" dirty="0">
                <a:latin typeface="Georgia" panose="02040502050405020303" pitchFamily="18" charset="0"/>
                <a:ea typeface="新細明體" pitchFamily="18" charset="-120"/>
              </a:rPr>
              <a:t>the characteristic </a:t>
            </a:r>
            <a:r>
              <a:rPr lang="en-US" altLang="zh-TW" dirty="0">
                <a:solidFill>
                  <a:srgbClr val="FF0000"/>
                </a:solidFill>
                <a:latin typeface="Georgia" panose="02040502050405020303" pitchFamily="18" charset="0"/>
                <a:ea typeface="新細明體" pitchFamily="18" charset="-120"/>
              </a:rPr>
              <a:t>x-ray energy </a:t>
            </a:r>
            <a:r>
              <a:rPr lang="en-US" altLang="zh-TW" dirty="0">
                <a:latin typeface="Georgia" panose="02040502050405020303" pitchFamily="18" charset="0"/>
                <a:ea typeface="新細明體" pitchFamily="18" charset="-120"/>
              </a:rPr>
              <a:t>must be high enough that a sufficient range of core electrons can be </a:t>
            </a:r>
            <a:r>
              <a:rPr lang="en-US" altLang="zh-TW" dirty="0" err="1">
                <a:latin typeface="Georgia" panose="02040502050405020303" pitchFamily="18" charset="0"/>
                <a:ea typeface="新細明體" pitchFamily="18" charset="-120"/>
              </a:rPr>
              <a:t>photoejected</a:t>
            </a:r>
            <a:r>
              <a:rPr lang="en-US" altLang="zh-TW" dirty="0">
                <a:latin typeface="Georgia" panose="02040502050405020303" pitchFamily="18" charset="0"/>
                <a:ea typeface="新細明體" pitchFamily="18" charset="-120"/>
              </a:rPr>
              <a:t> for an unambiguous analysis; </a:t>
            </a:r>
          </a:p>
          <a:p>
            <a:pPr marL="400050" indent="-400050" algn="just" eaLnBrk="1" hangingPunct="1">
              <a:spcAft>
                <a:spcPts val="1200"/>
              </a:spcAft>
              <a:buAutoNum type="romanLcParenBoth"/>
            </a:pPr>
            <a:r>
              <a:rPr lang="en-US" altLang="zh-TW" dirty="0">
                <a:latin typeface="Georgia" panose="02040502050405020303" pitchFamily="18" charset="0"/>
                <a:ea typeface="新細明體" pitchFamily="18" charset="-120"/>
              </a:rPr>
              <a:t>since the photoionization cross section of electron in different core levels varies with the wavelength of the x-ray, a suitable characteristic x-ray wavelength is crucial in getting strong enough photoelectron signal for analysis.</a:t>
            </a:r>
          </a:p>
        </p:txBody>
      </p:sp>
      <p:sp>
        <p:nvSpPr>
          <p:cNvPr id="5126" name="Rectangle 9"/>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dirty="0">
                <a:solidFill>
                  <a:schemeClr val="bg1"/>
                </a:solidFill>
                <a:ea typeface="新細明體" pitchFamily="18" charset="-120"/>
              </a:rPr>
              <a:t>XPS system: X-ray source-target material</a:t>
            </a:r>
          </a:p>
        </p:txBody>
      </p:sp>
      <p:sp>
        <p:nvSpPr>
          <p:cNvPr id="2" name="Slide Number Placeholder 1">
            <a:extLst>
              <a:ext uri="{FF2B5EF4-FFF2-40B4-BE49-F238E27FC236}">
                <a16:creationId xmlns:a16="http://schemas.microsoft.com/office/drawing/2014/main" id="{B8641C38-304B-4620-9212-CD7A956A01ED}"/>
              </a:ext>
            </a:extLst>
          </p:cNvPr>
          <p:cNvSpPr>
            <a:spLocks noGrp="1"/>
          </p:cNvSpPr>
          <p:nvPr>
            <p:ph type="sldNum" sz="quarter" idx="11"/>
          </p:nvPr>
        </p:nvSpPr>
        <p:spPr/>
        <p:txBody>
          <a:bodyPr/>
          <a:lstStyle/>
          <a:p>
            <a:pPr>
              <a:defRPr/>
            </a:pPr>
            <a:fld id="{EBF73BDF-690D-4725-BA10-A7934ED52EAB}" type="slidenum">
              <a:rPr lang="zh-TW" altLang="en-US" smtClean="0"/>
              <a:pPr>
                <a:defRPr/>
              </a:pPr>
              <a:t>19</a:t>
            </a:fld>
            <a:endParaRPr lang="en-US" altLang="zh-TW"/>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3910" name="Object 6"/>
          <p:cNvGraphicFramePr>
            <a:graphicFrameLocks noGrp="1" noChangeAspect="1"/>
          </p:cNvGraphicFramePr>
          <p:nvPr>
            <p:ph/>
            <p:extLst>
              <p:ext uri="{D42A27DB-BD31-4B8C-83A1-F6EECF244321}">
                <p14:modId xmlns:p14="http://schemas.microsoft.com/office/powerpoint/2010/main" val="435770027"/>
              </p:ext>
            </p:extLst>
          </p:nvPr>
        </p:nvGraphicFramePr>
        <p:xfrm>
          <a:off x="609600" y="228600"/>
          <a:ext cx="5029200" cy="4108450"/>
        </p:xfrm>
        <a:graphic>
          <a:graphicData uri="http://schemas.openxmlformats.org/presentationml/2006/ole">
            <mc:AlternateContent xmlns:mc="http://schemas.openxmlformats.org/markup-compatibility/2006">
              <mc:Choice xmlns:v="urn:schemas-microsoft-com:vml" Requires="v">
                <p:oleObj name="Image" r:id="rId3" imgW="5688889" imgH="4647619" progId="">
                  <p:embed/>
                </p:oleObj>
              </mc:Choice>
              <mc:Fallback>
                <p:oleObj name="Image" r:id="rId3" imgW="5688889" imgH="4647619" progId="">
                  <p:embed/>
                  <p:pic>
                    <p:nvPicPr>
                      <p:cNvPr id="123910" name="Object 6"/>
                      <p:cNvPicPr>
                        <a:picLocks noChangeAspect="1" noChangeArrowheads="1"/>
                      </p:cNvPicPr>
                      <p:nvPr/>
                    </p:nvPicPr>
                    <p:blipFill>
                      <a:blip r:embed="rId4">
                        <a:clrChange>
                          <a:clrFrom>
                            <a:srgbClr val="FFE4C8"/>
                          </a:clrFrom>
                          <a:clrTo>
                            <a:srgbClr val="FFE4C8">
                              <a:alpha val="0"/>
                            </a:srgbClr>
                          </a:clrTo>
                        </a:clrChange>
                        <a:extLst>
                          <a:ext uri="{28A0092B-C50C-407E-A947-70E740481C1C}">
                            <a14:useLocalDpi xmlns:a14="http://schemas.microsoft.com/office/drawing/2010/main" val="0"/>
                          </a:ext>
                        </a:extLst>
                      </a:blip>
                      <a:srcRect/>
                      <a:stretch>
                        <a:fillRect/>
                      </a:stretch>
                    </p:blipFill>
                    <p:spPr bwMode="auto">
                      <a:xfrm>
                        <a:off x="609600" y="228600"/>
                        <a:ext cx="5029200" cy="41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23912" name="Rectangle 8"/>
          <p:cNvSpPr>
            <a:spLocks noChangeArrowheads="1"/>
          </p:cNvSpPr>
          <p:nvPr/>
        </p:nvSpPr>
        <p:spPr bwMode="auto">
          <a:xfrm>
            <a:off x="381000" y="4411207"/>
            <a:ext cx="8458200" cy="2031325"/>
          </a:xfrm>
          <a:prstGeom prst="rect">
            <a:avLst/>
          </a:prstGeom>
          <a:noFill/>
          <a:ln w="9525">
            <a:noFill/>
            <a:miter lim="800000"/>
            <a:headEnd/>
            <a:tailEnd/>
          </a:ln>
          <a:effectLst/>
        </p:spPr>
        <p:txBody>
          <a:bodyPr anchor="ctr">
            <a:spAutoFit/>
          </a:bodyPr>
          <a:lstStyle/>
          <a:p>
            <a:pPr eaLnBrk="1" hangingPunct="1"/>
            <a:r>
              <a:rPr lang="en-US" altLang="zh-CN" dirty="0">
                <a:latin typeface="Georgia" panose="02040502050405020303" pitchFamily="18" charset="0"/>
                <a:ea typeface="宋体" pitchFamily="2" charset="-122"/>
              </a:rPr>
              <a:t>"Bremsstrahlung" describes the radiation which is emitted when electrons are decelerated when they are fired at a metal target. During the deceleration, the charged particles give off electromagnetic radiation. When the energy of the bombarding electrons is high enough, that radiation is in the x-ray region. It is characterized by a continuous distribution of radiation which becomes more intense and shifts toward higher frequencies when the energy of the bombarding electrons is increased. </a:t>
            </a:r>
          </a:p>
        </p:txBody>
      </p:sp>
      <p:sp>
        <p:nvSpPr>
          <p:cNvPr id="2" name="Slide Number Placeholder 1">
            <a:extLst>
              <a:ext uri="{FF2B5EF4-FFF2-40B4-BE49-F238E27FC236}">
                <a16:creationId xmlns:a16="http://schemas.microsoft.com/office/drawing/2014/main" id="{26CAB4AD-1805-4A39-B3A8-2D14BEEB8371}"/>
              </a:ext>
            </a:extLst>
          </p:cNvPr>
          <p:cNvSpPr>
            <a:spLocks noGrp="1"/>
          </p:cNvSpPr>
          <p:nvPr>
            <p:ph type="sldNum" sz="quarter" idx="11"/>
          </p:nvPr>
        </p:nvSpPr>
        <p:spPr/>
        <p:txBody>
          <a:bodyPr/>
          <a:lstStyle/>
          <a:p>
            <a:fld id="{84FAA681-1D71-4E21-AED9-CA9D79B6B7FF}" type="slidenum">
              <a:rPr lang="zh-TW" altLang="en-US" smtClean="0"/>
              <a:pPr/>
              <a:t>20</a:t>
            </a:fld>
            <a:endParaRPr lang="en-US" altLang="zh-TW"/>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7108" name="Object 4"/>
          <p:cNvGraphicFramePr>
            <a:graphicFrameLocks noChangeAspect="1"/>
          </p:cNvGraphicFramePr>
          <p:nvPr>
            <p:extLst>
              <p:ext uri="{D42A27DB-BD31-4B8C-83A1-F6EECF244321}">
                <p14:modId xmlns:p14="http://schemas.microsoft.com/office/powerpoint/2010/main" val="2227425889"/>
              </p:ext>
            </p:extLst>
          </p:nvPr>
        </p:nvGraphicFramePr>
        <p:xfrm>
          <a:off x="440140" y="838200"/>
          <a:ext cx="8229600" cy="5975337"/>
        </p:xfrm>
        <a:graphic>
          <a:graphicData uri="http://schemas.openxmlformats.org/presentationml/2006/ole">
            <mc:AlternateContent xmlns:mc="http://schemas.openxmlformats.org/markup-compatibility/2006">
              <mc:Choice xmlns:v="urn:schemas-microsoft-com:vml" Requires="v">
                <p:oleObj name="Slide" r:id="rId2" imgW="4401267" imgH="3300820" progId="PowerPoint.Slide.8">
                  <p:embed/>
                </p:oleObj>
              </mc:Choice>
              <mc:Fallback>
                <p:oleObj name="Slide" r:id="rId2" imgW="4401267" imgH="3300820" progId="PowerPoint.Slide.8">
                  <p:embed/>
                  <p:pic>
                    <p:nvPicPr>
                      <p:cNvPr id="47108" name="Object 4"/>
                      <p:cNvPicPr>
                        <a:picLocks noChangeAspect="1" noChangeArrowheads="1"/>
                      </p:cNvPicPr>
                      <p:nvPr/>
                    </p:nvPicPr>
                    <p:blipFill>
                      <a:blip r:embed="rId3"/>
                      <a:srcRect/>
                      <a:stretch>
                        <a:fillRect/>
                      </a:stretch>
                    </p:blipFill>
                    <p:spPr bwMode="auto">
                      <a:xfrm>
                        <a:off x="440140" y="838200"/>
                        <a:ext cx="8229600" cy="5975337"/>
                      </a:xfrm>
                      <a:prstGeom prst="rect">
                        <a:avLst/>
                      </a:prstGeom>
                      <a:noFill/>
                    </p:spPr>
                  </p:pic>
                </p:oleObj>
              </mc:Fallback>
            </mc:AlternateContent>
          </a:graphicData>
        </a:graphic>
      </p:graphicFrame>
      <p:sp>
        <p:nvSpPr>
          <p:cNvPr id="47109" name="Rectangle 5"/>
          <p:cNvSpPr>
            <a:spLocks noChangeArrowheads="1"/>
          </p:cNvSpPr>
          <p:nvPr/>
        </p:nvSpPr>
        <p:spPr bwMode="auto">
          <a:xfrm>
            <a:off x="1295400" y="730263"/>
            <a:ext cx="6324600" cy="457200"/>
          </a:xfrm>
          <a:prstGeom prst="rect">
            <a:avLst/>
          </a:prstGeom>
          <a:noFill/>
          <a:ln w="9525">
            <a:noFill/>
            <a:miter lim="800000"/>
            <a:headEnd/>
            <a:tailEnd/>
          </a:ln>
          <a:effectLst/>
        </p:spPr>
        <p:txBody>
          <a:bodyPr>
            <a:spAutoFit/>
          </a:bodyPr>
          <a:lstStyle/>
          <a:p>
            <a:pPr algn="ctr" eaLnBrk="1" hangingPunct="1"/>
            <a:r>
              <a:rPr lang="en-US" altLang="zh-TW" sz="2400" dirty="0">
                <a:latin typeface="Georgia" panose="02040502050405020303" pitchFamily="18" charset="0"/>
                <a:ea typeface="新細明體" pitchFamily="18" charset="-120"/>
              </a:rPr>
              <a:t>Un-monochromatized x-ray source</a:t>
            </a:r>
          </a:p>
        </p:txBody>
      </p:sp>
      <p:sp>
        <p:nvSpPr>
          <p:cNvPr id="47111" name="Rectangle 7"/>
          <p:cNvSpPr>
            <a:spLocks noChangeArrowheads="1"/>
          </p:cNvSpPr>
          <p:nvPr/>
        </p:nvSpPr>
        <p:spPr bwMode="auto">
          <a:xfrm>
            <a:off x="676275" y="209550"/>
            <a:ext cx="8229600" cy="457200"/>
          </a:xfrm>
          <a:prstGeom prst="rect">
            <a:avLst/>
          </a:prstGeom>
          <a:noFill/>
          <a:ln w="9525">
            <a:noFill/>
            <a:miter lim="800000"/>
            <a:headEnd/>
            <a:tailEnd/>
          </a:ln>
          <a:effectLst/>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system: X-ray source—limitation of energy resolution</a:t>
            </a:r>
          </a:p>
        </p:txBody>
      </p:sp>
      <p:sp>
        <p:nvSpPr>
          <p:cNvPr id="4" name="Slide Number Placeholder 3">
            <a:extLst>
              <a:ext uri="{FF2B5EF4-FFF2-40B4-BE49-F238E27FC236}">
                <a16:creationId xmlns:a16="http://schemas.microsoft.com/office/drawing/2014/main" id="{ECA76103-98EA-407E-A168-1586F60C9030}"/>
              </a:ext>
            </a:extLst>
          </p:cNvPr>
          <p:cNvSpPr>
            <a:spLocks noGrp="1"/>
          </p:cNvSpPr>
          <p:nvPr>
            <p:ph type="sldNum" sz="quarter" idx="11"/>
          </p:nvPr>
        </p:nvSpPr>
        <p:spPr/>
        <p:txBody>
          <a:bodyPr/>
          <a:lstStyle/>
          <a:p>
            <a:pPr>
              <a:defRPr/>
            </a:pPr>
            <a:fld id="{EBF73BDF-690D-4725-BA10-A7934ED52EAB}" type="slidenum">
              <a:rPr lang="zh-TW" altLang="en-US" smtClean="0">
                <a:latin typeface="Georgia" panose="02040502050405020303" pitchFamily="18" charset="0"/>
              </a:rPr>
              <a:pPr>
                <a:defRPr/>
              </a:pPr>
              <a:t>21</a:t>
            </a:fld>
            <a:endParaRPr lang="en-US" altLang="zh-TW">
              <a:latin typeface="Georgia" panose="02040502050405020303" pitchFamily="18"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1630" name="Picture 14" descr="Bragg"/>
          <p:cNvPicPr>
            <a:picLocks noChangeAspect="1" noChangeArrowheads="1"/>
          </p:cNvPicPr>
          <p:nvPr/>
        </p:nvPicPr>
        <p:blipFill>
          <a:blip r:embed="rId3" cstate="print"/>
          <a:srcRect/>
          <a:stretch>
            <a:fillRect/>
          </a:stretch>
        </p:blipFill>
        <p:spPr bwMode="auto">
          <a:xfrm>
            <a:off x="685800" y="4038600"/>
            <a:ext cx="4267200" cy="1971675"/>
          </a:xfrm>
          <a:prstGeom prst="rect">
            <a:avLst/>
          </a:prstGeom>
          <a:noFill/>
        </p:spPr>
      </p:pic>
      <p:graphicFrame>
        <p:nvGraphicFramePr>
          <p:cNvPr id="111631" name="Object 15"/>
          <p:cNvGraphicFramePr>
            <a:graphicFrameLocks noChangeAspect="1"/>
          </p:cNvGraphicFramePr>
          <p:nvPr/>
        </p:nvGraphicFramePr>
        <p:xfrm>
          <a:off x="5105400" y="2895600"/>
          <a:ext cx="2286000" cy="477838"/>
        </p:xfrm>
        <a:graphic>
          <a:graphicData uri="http://schemas.openxmlformats.org/presentationml/2006/ole">
            <mc:AlternateContent xmlns:mc="http://schemas.openxmlformats.org/markup-compatibility/2006">
              <mc:Choice xmlns:v="urn:schemas-microsoft-com:vml" Requires="v">
                <p:oleObj name="Equation" r:id="rId4" imgW="850680" imgH="177480" progId="Equation.3">
                  <p:embed/>
                </p:oleObj>
              </mc:Choice>
              <mc:Fallback>
                <p:oleObj name="Equation" r:id="rId4" imgW="850680" imgH="177480" progId="Equation.3">
                  <p:embed/>
                  <p:pic>
                    <p:nvPicPr>
                      <p:cNvPr id="111631" name="Object 1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05400" y="2895600"/>
                        <a:ext cx="2286000" cy="4778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1632" name="Text Box 16"/>
          <p:cNvSpPr txBox="1">
            <a:spLocks noChangeArrowheads="1"/>
          </p:cNvSpPr>
          <p:nvPr/>
        </p:nvSpPr>
        <p:spPr bwMode="auto">
          <a:xfrm>
            <a:off x="685800" y="1463675"/>
            <a:ext cx="7559675" cy="2682875"/>
          </a:xfrm>
          <a:prstGeom prst="rect">
            <a:avLst/>
          </a:prstGeom>
          <a:noFill/>
          <a:ln w="9525">
            <a:noFill/>
            <a:miter lim="800000"/>
            <a:headEnd/>
            <a:tailEnd/>
          </a:ln>
          <a:effectLst/>
        </p:spPr>
        <p:txBody>
          <a:bodyPr>
            <a:spAutoFit/>
          </a:bodyPr>
          <a:lstStyle/>
          <a:p>
            <a:pPr algn="just" eaLnBrk="1" hangingPunct="1"/>
            <a:r>
              <a:rPr lang="en-US" altLang="zh-TW" sz="2000" dirty="0">
                <a:latin typeface="Georgia" panose="02040502050405020303" pitchFamily="18" charset="0"/>
                <a:ea typeface="新細明體" pitchFamily="18" charset="-120"/>
              </a:rPr>
              <a:t>Therefore, </a:t>
            </a:r>
            <a:r>
              <a:rPr lang="en-US" altLang="zh-TW" sz="2000" dirty="0" err="1">
                <a:solidFill>
                  <a:srgbClr val="006600"/>
                </a:solidFill>
                <a:latin typeface="Georgia" panose="02040502050405020303" pitchFamily="18" charset="0"/>
                <a:ea typeface="新細明體" pitchFamily="18" charset="-120"/>
              </a:rPr>
              <a:t>monochromatization</a:t>
            </a:r>
            <a:r>
              <a:rPr lang="en-US" altLang="zh-TW" sz="2000" dirty="0">
                <a:solidFill>
                  <a:srgbClr val="006600"/>
                </a:solidFill>
                <a:latin typeface="Georgia" panose="02040502050405020303" pitchFamily="18" charset="0"/>
                <a:ea typeface="新細明體" pitchFamily="18" charset="-120"/>
              </a:rPr>
              <a:t> is usually required</a:t>
            </a:r>
            <a:r>
              <a:rPr lang="en-US" altLang="zh-TW" sz="2000" dirty="0">
                <a:latin typeface="Georgia" panose="02040502050405020303" pitchFamily="18" charset="0"/>
                <a:ea typeface="新細明體" pitchFamily="18" charset="-120"/>
              </a:rPr>
              <a:t>.  This technique depends on dispersion of x-ray energies by diffraction in a crystal, according to the well-known Bragg relation:</a:t>
            </a:r>
          </a:p>
          <a:p>
            <a:pPr algn="just" eaLnBrk="1" hangingPunct="1"/>
            <a:endParaRPr lang="en-US" altLang="zh-TW" sz="1000" dirty="0">
              <a:latin typeface="Georgia" panose="02040502050405020303" pitchFamily="18" charset="0"/>
              <a:ea typeface="新細明體" pitchFamily="18" charset="-120"/>
            </a:endParaRPr>
          </a:p>
          <a:p>
            <a:pPr algn="just"/>
            <a:r>
              <a:rPr lang="en-US" altLang="zh-TW" sz="2000" dirty="0">
                <a:latin typeface="Georgia" panose="02040502050405020303" pitchFamily="18" charset="0"/>
                <a:ea typeface="新細明體" pitchFamily="18" charset="-120"/>
              </a:rPr>
              <a:t>where 	n = diffraction order</a:t>
            </a:r>
          </a:p>
          <a:p>
            <a:pPr algn="just"/>
            <a:r>
              <a:rPr lang="en-US" altLang="zh-TW" sz="2000" dirty="0">
                <a:latin typeface="Georgia" panose="02040502050405020303" pitchFamily="18" charset="0"/>
                <a:ea typeface="新細明體" pitchFamily="18" charset="-120"/>
              </a:rPr>
              <a:t>	</a:t>
            </a:r>
            <a:r>
              <a:rPr lang="en-US" altLang="zh-TW" sz="2000" dirty="0">
                <a:latin typeface="Georgia" panose="02040502050405020303" pitchFamily="18" charset="0"/>
                <a:ea typeface="新細明體" pitchFamily="18" charset="-120"/>
                <a:sym typeface="Symbol" pitchFamily="18" charset="2"/>
              </a:rPr>
              <a:t></a:t>
            </a:r>
            <a:r>
              <a:rPr lang="en-US" altLang="zh-TW" sz="2000" dirty="0">
                <a:latin typeface="Georgia" panose="02040502050405020303" pitchFamily="18" charset="0"/>
                <a:ea typeface="新細明體" pitchFamily="18" charset="-120"/>
              </a:rPr>
              <a:t> = x-ray wavelength</a:t>
            </a:r>
            <a:endParaRPr lang="en-US" altLang="zh-TW" sz="2000" dirty="0">
              <a:latin typeface="Georgia" panose="02040502050405020303" pitchFamily="18" charset="0"/>
              <a:ea typeface="新細明體" pitchFamily="18" charset="-120"/>
              <a:sym typeface="Symbol" pitchFamily="18" charset="2"/>
            </a:endParaRPr>
          </a:p>
          <a:p>
            <a:pPr algn="just"/>
            <a:r>
              <a:rPr lang="en-US" altLang="zh-TW" sz="2000" dirty="0">
                <a:latin typeface="Georgia" panose="02040502050405020303" pitchFamily="18" charset="0"/>
                <a:ea typeface="新細明體" pitchFamily="18" charset="-120"/>
                <a:sym typeface="Symbol" pitchFamily="18" charset="2"/>
              </a:rPr>
              <a:t>	d = crystal plane spacing</a:t>
            </a:r>
          </a:p>
          <a:p>
            <a:pPr algn="just"/>
            <a:r>
              <a:rPr lang="en-US" altLang="zh-TW" sz="2000" dirty="0">
                <a:latin typeface="Georgia" panose="02040502050405020303" pitchFamily="18" charset="0"/>
                <a:ea typeface="新細明體" pitchFamily="18" charset="-120"/>
                <a:sym typeface="Symbol" pitchFamily="18" charset="2"/>
              </a:rPr>
              <a:t>	</a:t>
            </a:r>
            <a:r>
              <a:rPr lang="en-US" altLang="zh-TW" sz="2000" dirty="0">
                <a:latin typeface="Georgia" panose="02040502050405020303" pitchFamily="18" charset="0"/>
                <a:ea typeface="新細明體" pitchFamily="18" charset="-120"/>
              </a:rPr>
              <a:t> = Bragg angle</a:t>
            </a:r>
            <a:endParaRPr lang="en-US" altLang="zh-TW" sz="2000" dirty="0">
              <a:latin typeface="Georgia" panose="02040502050405020303" pitchFamily="18" charset="0"/>
              <a:ea typeface="新細明體" pitchFamily="18" charset="-120"/>
              <a:sym typeface="Symbol" pitchFamily="18" charset="2"/>
            </a:endParaRPr>
          </a:p>
          <a:p>
            <a:pPr algn="just" eaLnBrk="1" hangingPunct="1"/>
            <a:endParaRPr lang="en-US" altLang="zh-TW" sz="2000" dirty="0">
              <a:latin typeface="Georgia" panose="02040502050405020303" pitchFamily="18" charset="0"/>
              <a:ea typeface="新細明體" pitchFamily="18" charset="-120"/>
            </a:endParaRPr>
          </a:p>
        </p:txBody>
      </p:sp>
      <p:sp>
        <p:nvSpPr>
          <p:cNvPr id="111633" name="Rectangle 17"/>
          <p:cNvSpPr>
            <a:spLocks noChangeArrowheads="1"/>
          </p:cNvSpPr>
          <p:nvPr/>
        </p:nvSpPr>
        <p:spPr bwMode="auto">
          <a:xfrm>
            <a:off x="2514600" y="893415"/>
            <a:ext cx="3881191" cy="461665"/>
          </a:xfrm>
          <a:prstGeom prst="rect">
            <a:avLst/>
          </a:prstGeom>
          <a:noFill/>
          <a:ln w="9525">
            <a:noFill/>
            <a:miter lim="800000"/>
            <a:headEnd/>
            <a:tailEnd/>
          </a:ln>
          <a:effectLst/>
        </p:spPr>
        <p:txBody>
          <a:bodyPr wrap="none">
            <a:spAutoFit/>
          </a:bodyPr>
          <a:lstStyle/>
          <a:p>
            <a:pPr eaLnBrk="1" hangingPunct="1"/>
            <a:r>
              <a:rPr lang="en-US" altLang="zh-TW" sz="2400" dirty="0">
                <a:latin typeface="Georgia" panose="02040502050405020303" pitchFamily="18" charset="0"/>
                <a:ea typeface="新細明體" pitchFamily="18" charset="-120"/>
              </a:rPr>
              <a:t>X-ray </a:t>
            </a:r>
            <a:r>
              <a:rPr lang="en-US" altLang="zh-TW" sz="2400" dirty="0" err="1">
                <a:latin typeface="Georgia" panose="02040502050405020303" pitchFamily="18" charset="0"/>
                <a:ea typeface="新細明體" pitchFamily="18" charset="-120"/>
              </a:rPr>
              <a:t>monochromatization</a:t>
            </a:r>
            <a:endParaRPr lang="en-US" altLang="zh-CN" sz="2400" dirty="0">
              <a:latin typeface="Georgia" panose="02040502050405020303" pitchFamily="18" charset="0"/>
              <a:ea typeface="新細明體" pitchFamily="18" charset="-120"/>
            </a:endParaRPr>
          </a:p>
        </p:txBody>
      </p:sp>
      <p:sp>
        <p:nvSpPr>
          <p:cNvPr id="111636" name="Rectangle 20"/>
          <p:cNvSpPr>
            <a:spLocks noChangeArrowheads="1"/>
          </p:cNvSpPr>
          <p:nvPr/>
        </p:nvSpPr>
        <p:spPr bwMode="auto">
          <a:xfrm>
            <a:off x="676275" y="209550"/>
            <a:ext cx="8229600" cy="457200"/>
          </a:xfrm>
          <a:prstGeom prst="rect">
            <a:avLst/>
          </a:prstGeom>
          <a:noFill/>
          <a:ln w="9525">
            <a:noFill/>
            <a:miter lim="800000"/>
            <a:headEnd/>
            <a:tailEnd/>
          </a:ln>
          <a:effectLst/>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system: X-ray source-</a:t>
            </a:r>
            <a:r>
              <a:rPr lang="en-US" altLang="zh-TW" sz="2000" dirty="0" err="1">
                <a:solidFill>
                  <a:schemeClr val="bg1"/>
                </a:solidFill>
                <a:latin typeface="Georgia" panose="02040502050405020303" pitchFamily="18" charset="0"/>
                <a:ea typeface="新細明體" pitchFamily="18" charset="-120"/>
              </a:rPr>
              <a:t>Monochromatization</a:t>
            </a:r>
            <a:r>
              <a:rPr lang="en-US" altLang="zh-TW" sz="2000" dirty="0">
                <a:solidFill>
                  <a:schemeClr val="bg1"/>
                </a:solidFill>
                <a:latin typeface="Georgia" panose="02040502050405020303" pitchFamily="18" charset="0"/>
                <a:ea typeface="新細明體" pitchFamily="18" charset="-120"/>
              </a:rPr>
              <a:t> principle</a:t>
            </a:r>
          </a:p>
        </p:txBody>
      </p:sp>
      <p:sp>
        <p:nvSpPr>
          <p:cNvPr id="111638" name="Text Box 22"/>
          <p:cNvSpPr txBox="1">
            <a:spLocks noChangeArrowheads="1"/>
          </p:cNvSpPr>
          <p:nvPr/>
        </p:nvSpPr>
        <p:spPr bwMode="auto">
          <a:xfrm>
            <a:off x="5334000" y="4267200"/>
            <a:ext cx="3505200" cy="1739900"/>
          </a:xfrm>
          <a:prstGeom prst="rect">
            <a:avLst/>
          </a:prstGeom>
          <a:solidFill>
            <a:srgbClr val="CCFFFF"/>
          </a:solidFill>
          <a:ln w="9525">
            <a:noFill/>
            <a:miter lim="800000"/>
            <a:headEnd/>
            <a:tailEnd/>
          </a:ln>
          <a:effectLst/>
        </p:spPr>
        <p:txBody>
          <a:bodyPr>
            <a:spAutoFit/>
          </a:bodyPr>
          <a:lstStyle/>
          <a:p>
            <a:r>
              <a:rPr lang="en-US" altLang="zh-CN">
                <a:latin typeface="Georgia" panose="02040502050405020303" pitchFamily="18" charset="0"/>
                <a:ea typeface="宋体" pitchFamily="2" charset="-122"/>
              </a:rPr>
              <a:t>The X-ray monochromator improves line widths to between 0.5 and 0.25 eV, leading to higher resolution spectra and removing unwanted X-ray background.</a:t>
            </a:r>
          </a:p>
        </p:txBody>
      </p:sp>
      <p:sp>
        <p:nvSpPr>
          <p:cNvPr id="2" name="Slide Number Placeholder 1">
            <a:extLst>
              <a:ext uri="{FF2B5EF4-FFF2-40B4-BE49-F238E27FC236}">
                <a16:creationId xmlns:a16="http://schemas.microsoft.com/office/drawing/2014/main" id="{DE03F2AB-9BC3-44CA-BE6D-336376B373DA}"/>
              </a:ext>
            </a:extLst>
          </p:cNvPr>
          <p:cNvSpPr>
            <a:spLocks noGrp="1"/>
          </p:cNvSpPr>
          <p:nvPr>
            <p:ph type="sldNum" sz="quarter" idx="11"/>
          </p:nvPr>
        </p:nvSpPr>
        <p:spPr/>
        <p:txBody>
          <a:bodyPr/>
          <a:lstStyle/>
          <a:p>
            <a:pPr>
              <a:defRPr/>
            </a:pPr>
            <a:fld id="{EBF73BDF-690D-4725-BA10-A7934ED52EAB}" type="slidenum">
              <a:rPr lang="zh-TW" altLang="en-US" smtClean="0"/>
              <a:pPr>
                <a:defRPr/>
              </a:pPr>
              <a:t>22</a:t>
            </a:fld>
            <a:endParaRPr lang="en-US" altLang="zh-TW"/>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44" name="Picture 4"/>
          <p:cNvPicPr>
            <a:picLocks noChangeAspect="1" noChangeArrowheads="1"/>
          </p:cNvPicPr>
          <p:nvPr/>
        </p:nvPicPr>
        <p:blipFill>
          <a:blip r:embed="rId3" cstate="print"/>
          <a:srcRect/>
          <a:stretch>
            <a:fillRect/>
          </a:stretch>
        </p:blipFill>
        <p:spPr bwMode="auto">
          <a:xfrm>
            <a:off x="685800" y="2266950"/>
            <a:ext cx="7620000" cy="4591050"/>
          </a:xfrm>
          <a:prstGeom prst="rect">
            <a:avLst/>
          </a:prstGeom>
          <a:noFill/>
          <a:ln w="9525">
            <a:noFill/>
            <a:miter lim="800000"/>
            <a:headEnd/>
            <a:tailEnd/>
          </a:ln>
          <a:effectLst/>
        </p:spPr>
      </p:pic>
      <p:sp>
        <p:nvSpPr>
          <p:cNvPr id="112645" name="Text Box 5"/>
          <p:cNvSpPr txBox="1">
            <a:spLocks noChangeArrowheads="1"/>
          </p:cNvSpPr>
          <p:nvPr/>
        </p:nvSpPr>
        <p:spPr bwMode="auto">
          <a:xfrm>
            <a:off x="6781800" y="4222605"/>
            <a:ext cx="2114550" cy="366713"/>
          </a:xfrm>
          <a:prstGeom prst="rect">
            <a:avLst/>
          </a:prstGeom>
          <a:solidFill>
            <a:schemeClr val="bg1"/>
          </a:solidFill>
          <a:ln w="9525">
            <a:noFill/>
            <a:miter lim="800000"/>
            <a:headEnd/>
            <a:tailEnd/>
          </a:ln>
          <a:effectLst/>
        </p:spPr>
        <p:txBody>
          <a:bodyPr wrap="none">
            <a:spAutoFit/>
          </a:bodyPr>
          <a:lstStyle/>
          <a:p>
            <a:r>
              <a:rPr lang="en-US" altLang="zh-CN" dirty="0">
                <a:latin typeface="Georgia" panose="02040502050405020303" pitchFamily="18" charset="0"/>
                <a:ea typeface="宋体" pitchFamily="2" charset="-122"/>
              </a:rPr>
              <a:t>Detector or sample</a:t>
            </a:r>
          </a:p>
        </p:txBody>
      </p:sp>
      <p:sp>
        <p:nvSpPr>
          <p:cNvPr id="112646" name="Text Box 6"/>
          <p:cNvSpPr txBox="1">
            <a:spLocks noChangeArrowheads="1"/>
          </p:cNvSpPr>
          <p:nvPr/>
        </p:nvSpPr>
        <p:spPr bwMode="auto">
          <a:xfrm>
            <a:off x="727364" y="768877"/>
            <a:ext cx="2157963" cy="400110"/>
          </a:xfrm>
          <a:prstGeom prst="rect">
            <a:avLst/>
          </a:prstGeom>
          <a:noFill/>
          <a:ln w="9525">
            <a:noFill/>
            <a:miter lim="800000"/>
            <a:headEnd/>
            <a:tailEnd/>
          </a:ln>
          <a:effectLst/>
        </p:spPr>
        <p:txBody>
          <a:bodyPr wrap="none">
            <a:spAutoFit/>
          </a:bodyPr>
          <a:lstStyle/>
          <a:p>
            <a:r>
              <a:rPr lang="en-US" altLang="zh-CN" sz="2000" b="1" dirty="0">
                <a:latin typeface="Georgia" panose="02040502050405020303" pitchFamily="18" charset="0"/>
                <a:ea typeface="宋体" pitchFamily="2" charset="-122"/>
              </a:rPr>
              <a:t>Rowland circle</a:t>
            </a:r>
          </a:p>
        </p:txBody>
      </p:sp>
      <p:sp>
        <p:nvSpPr>
          <p:cNvPr id="112647" name="Rectangle 7"/>
          <p:cNvSpPr>
            <a:spLocks noChangeArrowheads="1"/>
          </p:cNvSpPr>
          <p:nvPr/>
        </p:nvSpPr>
        <p:spPr bwMode="auto">
          <a:xfrm>
            <a:off x="685800" y="1127125"/>
            <a:ext cx="7543800" cy="1190625"/>
          </a:xfrm>
          <a:prstGeom prst="rect">
            <a:avLst/>
          </a:prstGeom>
          <a:noFill/>
          <a:ln w="9525">
            <a:noFill/>
            <a:miter lim="800000"/>
            <a:headEnd/>
            <a:tailEnd/>
          </a:ln>
          <a:effectLst/>
        </p:spPr>
        <p:txBody>
          <a:bodyPr wrap="square" anchor="ctr">
            <a:spAutoFit/>
          </a:bodyPr>
          <a:lstStyle/>
          <a:p>
            <a:pPr eaLnBrk="1" hangingPunct="1"/>
            <a:r>
              <a:rPr lang="en-US" altLang="zh-CN" dirty="0">
                <a:latin typeface="Georgia" panose="02040502050405020303" pitchFamily="18" charset="0"/>
                <a:ea typeface="宋体" pitchFamily="2" charset="-122"/>
              </a:rPr>
              <a:t>For the Bragg condition to be met at all points, the </a:t>
            </a:r>
            <a:r>
              <a:rPr lang="en-US" altLang="zh-CN" dirty="0">
                <a:solidFill>
                  <a:srgbClr val="0000FF"/>
                </a:solidFill>
                <a:latin typeface="Georgia" panose="02040502050405020303" pitchFamily="18" charset="0"/>
                <a:ea typeface="宋体" pitchFamily="2" charset="-122"/>
              </a:rPr>
              <a:t>crystal must </a:t>
            </a:r>
            <a:r>
              <a:rPr lang="en-US" altLang="zh-CN" dirty="0">
                <a:latin typeface="Georgia" panose="02040502050405020303" pitchFamily="18" charset="0"/>
                <a:ea typeface="宋体" pitchFamily="2" charset="-122"/>
              </a:rPr>
              <a:t>first </a:t>
            </a:r>
            <a:r>
              <a:rPr lang="en-US" altLang="zh-CN" dirty="0">
                <a:solidFill>
                  <a:srgbClr val="0000FF"/>
                </a:solidFill>
                <a:latin typeface="Georgia" panose="02040502050405020303" pitchFamily="18" charset="0"/>
                <a:ea typeface="宋体" pitchFamily="2" charset="-122"/>
              </a:rPr>
              <a:t>be bent to a radius of 2R</a:t>
            </a:r>
            <a:r>
              <a:rPr lang="en-US" altLang="zh-CN" dirty="0">
                <a:latin typeface="Georgia" panose="02040502050405020303" pitchFamily="18" charset="0"/>
                <a:ea typeface="宋体" pitchFamily="2" charset="-122"/>
              </a:rPr>
              <a:t> (where R is the radius of the Rowland circle), then ground to a radius of R. This arrangement allows higher intensities with higher resolution and lower background. </a:t>
            </a:r>
          </a:p>
        </p:txBody>
      </p:sp>
      <p:sp>
        <p:nvSpPr>
          <p:cNvPr id="112648" name="Rectangle 8"/>
          <p:cNvSpPr>
            <a:spLocks noChangeArrowheads="1"/>
          </p:cNvSpPr>
          <p:nvPr/>
        </p:nvSpPr>
        <p:spPr bwMode="auto">
          <a:xfrm>
            <a:off x="762000" y="3733800"/>
            <a:ext cx="2362200" cy="914400"/>
          </a:xfrm>
          <a:prstGeom prst="rect">
            <a:avLst/>
          </a:prstGeom>
          <a:solidFill>
            <a:schemeClr val="bg1"/>
          </a:solidFill>
          <a:ln w="9525">
            <a:noFill/>
            <a:miter lim="800000"/>
            <a:headEnd/>
            <a:tailEnd/>
          </a:ln>
          <a:effectLst/>
        </p:spPr>
        <p:txBody>
          <a:bodyPr wrap="none" anchor="ctr"/>
          <a:lstStyle/>
          <a:p>
            <a:endParaRPr lang="en-US">
              <a:latin typeface="Georgia" panose="02040502050405020303" pitchFamily="18" charset="0"/>
            </a:endParaRPr>
          </a:p>
        </p:txBody>
      </p:sp>
      <p:sp>
        <p:nvSpPr>
          <p:cNvPr id="112649" name="Rectangle 9"/>
          <p:cNvSpPr>
            <a:spLocks noChangeArrowheads="1"/>
          </p:cNvSpPr>
          <p:nvPr/>
        </p:nvSpPr>
        <p:spPr bwMode="auto">
          <a:xfrm>
            <a:off x="609600" y="4343400"/>
            <a:ext cx="2286000" cy="1905000"/>
          </a:xfrm>
          <a:prstGeom prst="rect">
            <a:avLst/>
          </a:prstGeom>
          <a:solidFill>
            <a:schemeClr val="bg1"/>
          </a:solidFill>
          <a:ln w="9525">
            <a:noFill/>
            <a:miter lim="800000"/>
            <a:headEnd/>
            <a:tailEnd/>
          </a:ln>
          <a:effectLst/>
        </p:spPr>
        <p:txBody>
          <a:bodyPr wrap="none" anchor="ctr"/>
          <a:lstStyle/>
          <a:p>
            <a:pPr algn="ctr"/>
            <a:endParaRPr lang="zh-CN" altLang="en-US" dirty="0">
              <a:latin typeface="Georgia" panose="02040502050405020303" pitchFamily="18" charset="0"/>
              <a:ea typeface="宋体" pitchFamily="2" charset="-122"/>
            </a:endParaRPr>
          </a:p>
        </p:txBody>
      </p:sp>
      <p:sp>
        <p:nvSpPr>
          <p:cNvPr id="10" name="Rectangle 20"/>
          <p:cNvSpPr>
            <a:spLocks noChangeArrowheads="1"/>
          </p:cNvSpPr>
          <p:nvPr/>
        </p:nvSpPr>
        <p:spPr bwMode="auto">
          <a:xfrm>
            <a:off x="676275" y="209550"/>
            <a:ext cx="8229600" cy="457200"/>
          </a:xfrm>
          <a:prstGeom prst="rect">
            <a:avLst/>
          </a:prstGeom>
          <a:noFill/>
          <a:ln w="9525">
            <a:noFill/>
            <a:miter lim="800000"/>
            <a:headEnd/>
            <a:tailEnd/>
          </a:ln>
          <a:effectLst/>
        </p:spPr>
        <p:txBody>
          <a:bodyPr anchor="ctr"/>
          <a:lstStyle/>
          <a:p>
            <a:pPr eaLnBrk="1" hangingPunct="1"/>
            <a:r>
              <a:rPr lang="en-US" altLang="zh-TW" sz="2000" dirty="0">
                <a:solidFill>
                  <a:schemeClr val="bg1"/>
                </a:solidFill>
                <a:ea typeface="新細明體" pitchFamily="18" charset="-120"/>
              </a:rPr>
              <a:t>XPS system: X-ray source-Monochromator set up</a:t>
            </a:r>
          </a:p>
        </p:txBody>
      </p:sp>
      <p:cxnSp>
        <p:nvCxnSpPr>
          <p:cNvPr id="3" name="Straight Connector 2">
            <a:extLst>
              <a:ext uri="{FF2B5EF4-FFF2-40B4-BE49-F238E27FC236}">
                <a16:creationId xmlns:a16="http://schemas.microsoft.com/office/drawing/2014/main" id="{E9B9D6CF-4B1F-4DA0-B86F-C568F7D6E6F9}"/>
              </a:ext>
            </a:extLst>
          </p:cNvPr>
          <p:cNvCxnSpPr>
            <a:cxnSpLocks/>
          </p:cNvCxnSpPr>
          <p:nvPr/>
        </p:nvCxnSpPr>
        <p:spPr bwMode="auto">
          <a:xfrm flipV="1">
            <a:off x="5029200" y="2432050"/>
            <a:ext cx="152400" cy="3892550"/>
          </a:xfrm>
          <a:prstGeom prst="line">
            <a:avLst/>
          </a:prstGeom>
          <a:solidFill>
            <a:schemeClr val="accent1"/>
          </a:solidFill>
          <a:ln w="9525" cap="flat" cmpd="sng" algn="ctr">
            <a:solidFill>
              <a:schemeClr val="tx1"/>
            </a:solidFill>
            <a:prstDash val="solid"/>
            <a:round/>
            <a:headEnd type="none" w="med" len="med"/>
            <a:tailEnd type="none" w="med" len="med"/>
          </a:ln>
          <a:effectLst/>
        </p:spPr>
      </p:cxnSp>
      <p:sp>
        <p:nvSpPr>
          <p:cNvPr id="4" name="Oval 3">
            <a:extLst>
              <a:ext uri="{FF2B5EF4-FFF2-40B4-BE49-F238E27FC236}">
                <a16:creationId xmlns:a16="http://schemas.microsoft.com/office/drawing/2014/main" id="{40FAE315-75DC-4BB5-B200-0DC4B9D0F9BC}"/>
              </a:ext>
            </a:extLst>
          </p:cNvPr>
          <p:cNvSpPr/>
          <p:nvPr/>
        </p:nvSpPr>
        <p:spPr bwMode="auto">
          <a:xfrm>
            <a:off x="5075845" y="4440845"/>
            <a:ext cx="45719" cy="45719"/>
          </a:xfrm>
          <a:prstGeom prst="ellipse">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Georgia" panose="02040502050405020303" pitchFamily="18" charset="0"/>
            </a:endParaRPr>
          </a:p>
        </p:txBody>
      </p:sp>
      <p:cxnSp>
        <p:nvCxnSpPr>
          <p:cNvPr id="6" name="Straight Connector 5">
            <a:extLst>
              <a:ext uri="{FF2B5EF4-FFF2-40B4-BE49-F238E27FC236}">
                <a16:creationId xmlns:a16="http://schemas.microsoft.com/office/drawing/2014/main" id="{B3537209-9F09-4106-A0F9-699CA31D9C95}"/>
              </a:ext>
            </a:extLst>
          </p:cNvPr>
          <p:cNvCxnSpPr>
            <a:cxnSpLocks/>
          </p:cNvCxnSpPr>
          <p:nvPr/>
        </p:nvCxnSpPr>
        <p:spPr bwMode="auto">
          <a:xfrm flipV="1">
            <a:off x="4419600" y="2432050"/>
            <a:ext cx="762000" cy="3816350"/>
          </a:xfrm>
          <a:prstGeom prst="line">
            <a:avLst/>
          </a:prstGeom>
          <a:solidFill>
            <a:schemeClr val="accent1"/>
          </a:solidFill>
          <a:ln w="9525" cap="flat" cmpd="sng" algn="ctr">
            <a:solidFill>
              <a:schemeClr val="tx1"/>
            </a:solidFill>
            <a:prstDash val="solid"/>
            <a:round/>
            <a:headEnd type="none" w="med" len="med"/>
            <a:tailEnd type="none" w="med" len="med"/>
          </a:ln>
          <a:effectLst/>
        </p:spPr>
      </p:cxnSp>
      <p:cxnSp>
        <p:nvCxnSpPr>
          <p:cNvPr id="15" name="Straight Connector 14">
            <a:extLst>
              <a:ext uri="{FF2B5EF4-FFF2-40B4-BE49-F238E27FC236}">
                <a16:creationId xmlns:a16="http://schemas.microsoft.com/office/drawing/2014/main" id="{CA597BB1-EDDC-4A85-86F1-E762D07A7197}"/>
              </a:ext>
            </a:extLst>
          </p:cNvPr>
          <p:cNvCxnSpPr>
            <a:cxnSpLocks/>
          </p:cNvCxnSpPr>
          <p:nvPr/>
        </p:nvCxnSpPr>
        <p:spPr bwMode="auto">
          <a:xfrm flipH="1" flipV="1">
            <a:off x="5197764" y="2432050"/>
            <a:ext cx="288636" cy="3816350"/>
          </a:xfrm>
          <a:prstGeom prst="line">
            <a:avLst/>
          </a:prstGeom>
          <a:solidFill>
            <a:schemeClr val="accent1"/>
          </a:solidFill>
          <a:ln w="9525" cap="flat" cmpd="sng" algn="ctr">
            <a:solidFill>
              <a:schemeClr val="tx1"/>
            </a:solidFill>
            <a:prstDash val="solid"/>
            <a:round/>
            <a:headEnd type="none" w="med" len="med"/>
            <a:tailEnd type="none" w="med" len="med"/>
          </a:ln>
          <a:effectLst/>
        </p:spPr>
      </p:cxnSp>
      <p:sp>
        <p:nvSpPr>
          <p:cNvPr id="13" name="TextBox 12">
            <a:extLst>
              <a:ext uri="{FF2B5EF4-FFF2-40B4-BE49-F238E27FC236}">
                <a16:creationId xmlns:a16="http://schemas.microsoft.com/office/drawing/2014/main" id="{C125F8F4-7B93-4DD2-B764-58083ADD2B79}"/>
              </a:ext>
            </a:extLst>
          </p:cNvPr>
          <p:cNvSpPr txBox="1"/>
          <p:nvPr/>
        </p:nvSpPr>
        <p:spPr>
          <a:xfrm>
            <a:off x="5342082" y="4278868"/>
            <a:ext cx="479618" cy="369332"/>
          </a:xfrm>
          <a:prstGeom prst="rect">
            <a:avLst/>
          </a:prstGeom>
          <a:noFill/>
        </p:spPr>
        <p:txBody>
          <a:bodyPr wrap="none" rtlCol="0">
            <a:spAutoFit/>
          </a:bodyPr>
          <a:lstStyle/>
          <a:p>
            <a:r>
              <a:rPr lang="en-US" dirty="0">
                <a:latin typeface="Georgia" panose="02040502050405020303" pitchFamily="18" charset="0"/>
              </a:rPr>
              <a:t>2</a:t>
            </a:r>
            <a:r>
              <a:rPr lang="en-US" altLang="zh-CN" dirty="0">
                <a:latin typeface="Georgia" panose="02040502050405020303" pitchFamily="18" charset="0"/>
              </a:rPr>
              <a:t>R</a:t>
            </a:r>
            <a:endParaRPr lang="en-US" dirty="0">
              <a:latin typeface="Georgia" panose="02040502050405020303" pitchFamily="18" charset="0"/>
            </a:endParaRPr>
          </a:p>
        </p:txBody>
      </p:sp>
      <p:sp>
        <p:nvSpPr>
          <p:cNvPr id="21" name="TextBox 20">
            <a:extLst>
              <a:ext uri="{FF2B5EF4-FFF2-40B4-BE49-F238E27FC236}">
                <a16:creationId xmlns:a16="http://schemas.microsoft.com/office/drawing/2014/main" id="{14F9FD72-C4CD-4674-A784-B2C7FBBFCEBD}"/>
              </a:ext>
            </a:extLst>
          </p:cNvPr>
          <p:cNvSpPr txBox="1"/>
          <p:nvPr/>
        </p:nvSpPr>
        <p:spPr>
          <a:xfrm>
            <a:off x="5029431" y="5111234"/>
            <a:ext cx="351378" cy="369332"/>
          </a:xfrm>
          <a:prstGeom prst="rect">
            <a:avLst/>
          </a:prstGeom>
          <a:noFill/>
        </p:spPr>
        <p:txBody>
          <a:bodyPr wrap="none" rtlCol="0">
            <a:spAutoFit/>
          </a:bodyPr>
          <a:lstStyle/>
          <a:p>
            <a:r>
              <a:rPr lang="en-US" altLang="zh-CN" dirty="0">
                <a:latin typeface="Georgia" panose="02040502050405020303" pitchFamily="18" charset="0"/>
              </a:rPr>
              <a:t>R</a:t>
            </a:r>
            <a:endParaRPr lang="en-US" dirty="0">
              <a:latin typeface="Georgia" panose="02040502050405020303" pitchFamily="18" charset="0"/>
            </a:endParaRPr>
          </a:p>
        </p:txBody>
      </p:sp>
      <p:sp>
        <p:nvSpPr>
          <p:cNvPr id="14" name="TextBox 13">
            <a:extLst>
              <a:ext uri="{FF2B5EF4-FFF2-40B4-BE49-F238E27FC236}">
                <a16:creationId xmlns:a16="http://schemas.microsoft.com/office/drawing/2014/main" id="{C73CCA44-D37C-430B-80AC-7A3081D6E23F}"/>
              </a:ext>
            </a:extLst>
          </p:cNvPr>
          <p:cNvSpPr txBox="1"/>
          <p:nvPr/>
        </p:nvSpPr>
        <p:spPr>
          <a:xfrm>
            <a:off x="221000" y="5725120"/>
            <a:ext cx="3398500" cy="923330"/>
          </a:xfrm>
          <a:prstGeom prst="rect">
            <a:avLst/>
          </a:prstGeom>
          <a:noFill/>
        </p:spPr>
        <p:txBody>
          <a:bodyPr wrap="square" rtlCol="0">
            <a:spAutoFit/>
          </a:bodyPr>
          <a:lstStyle/>
          <a:p>
            <a:r>
              <a:rPr lang="en-US" dirty="0">
                <a:latin typeface="Georgia" panose="02040502050405020303" pitchFamily="18" charset="0"/>
              </a:rPr>
              <a:t>HW problem : How to place the source and the detector on the Rowland circle?</a:t>
            </a:r>
          </a:p>
        </p:txBody>
      </p:sp>
      <p:sp>
        <p:nvSpPr>
          <p:cNvPr id="2" name="Slide Number Placeholder 1">
            <a:extLst>
              <a:ext uri="{FF2B5EF4-FFF2-40B4-BE49-F238E27FC236}">
                <a16:creationId xmlns:a16="http://schemas.microsoft.com/office/drawing/2014/main" id="{8A4A3027-4C82-41C6-B5A8-3412FD72C733}"/>
              </a:ext>
            </a:extLst>
          </p:cNvPr>
          <p:cNvSpPr>
            <a:spLocks noGrp="1"/>
          </p:cNvSpPr>
          <p:nvPr>
            <p:ph type="sldNum" sz="quarter" idx="11"/>
          </p:nvPr>
        </p:nvSpPr>
        <p:spPr/>
        <p:txBody>
          <a:bodyPr/>
          <a:lstStyle/>
          <a:p>
            <a:pPr>
              <a:defRPr/>
            </a:pPr>
            <a:fld id="{EBF73BDF-690D-4725-BA10-A7934ED52EAB}" type="slidenum">
              <a:rPr lang="zh-TW" altLang="en-US" smtClean="0">
                <a:latin typeface="Georgia" panose="02040502050405020303" pitchFamily="18" charset="0"/>
              </a:rPr>
              <a:pPr>
                <a:defRPr/>
              </a:pPr>
              <a:t>23</a:t>
            </a:fld>
            <a:endParaRPr lang="en-US" altLang="zh-TW">
              <a:latin typeface="Georgia" panose="02040502050405020303" pitchFamily="18"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8132" name="Text Box 4"/>
              <p:cNvSpPr txBox="1">
                <a:spLocks noChangeArrowheads="1"/>
              </p:cNvSpPr>
              <p:nvPr/>
            </p:nvSpPr>
            <p:spPr bwMode="auto">
              <a:xfrm>
                <a:off x="762000" y="1371600"/>
                <a:ext cx="7559675" cy="1976567"/>
              </a:xfrm>
              <a:prstGeom prst="rect">
                <a:avLst/>
              </a:prstGeom>
              <a:noFill/>
              <a:ln w="9525">
                <a:noFill/>
                <a:miter lim="800000"/>
                <a:headEnd/>
                <a:tailEnd/>
              </a:ln>
              <a:effectLst/>
            </p:spPr>
            <p:txBody>
              <a:bodyPr>
                <a:spAutoFit/>
              </a:bodyPr>
              <a:lstStyle/>
              <a:p>
                <a:pPr algn="just"/>
                <a:r>
                  <a:rPr lang="en-US" altLang="zh-TW" sz="2000" dirty="0">
                    <a:latin typeface="Georgia" panose="02040502050405020303" pitchFamily="18" charset="0"/>
                    <a:ea typeface="新細明體" pitchFamily="18" charset="-120"/>
                    <a:sym typeface="Symbol" pitchFamily="18" charset="2"/>
                  </a:rPr>
                  <a:t>It so happens that for first order diffraction of Al Ka X-rays, for which </a:t>
                </a:r>
                <a:r>
                  <a:rPr lang="en-US" altLang="zh-TW" sz="2000" dirty="0">
                    <a:latin typeface="Georgia" panose="02040502050405020303" pitchFamily="18" charset="0"/>
                    <a:ea typeface="新細明體" pitchFamily="18" charset="-120"/>
                  </a:rPr>
                  <a:t> = 0.83 nm, </a:t>
                </a:r>
                <a:r>
                  <a:rPr lang="en-US" altLang="zh-TW" sz="2000" dirty="0">
                    <a:solidFill>
                      <a:srgbClr val="0000FF"/>
                    </a:solidFill>
                    <a:latin typeface="Georgia" panose="02040502050405020303" pitchFamily="18" charset="0"/>
                    <a:ea typeface="新細明體" pitchFamily="18" charset="-120"/>
                  </a:rPr>
                  <a:t>quartz</a:t>
                </a:r>
                <a:r>
                  <a:rPr lang="en-US" altLang="zh-TW" sz="2000" dirty="0">
                    <a:latin typeface="Georgia" panose="02040502050405020303" pitchFamily="18" charset="0"/>
                    <a:ea typeface="新細明體" pitchFamily="18" charset="-120"/>
                  </a:rPr>
                  <a:t> crystals are very suitable, since the spacing of its </a:t>
                </a:r>
                <a:r>
                  <a:rPr lang="en-US" altLang="zh-CN" sz="2000" dirty="0">
                    <a:latin typeface="Georgia" panose="02040502050405020303" pitchFamily="18" charset="0"/>
                    <a:ea typeface="宋体" pitchFamily="2" charset="-122"/>
                  </a:rPr>
                  <a:t>(10</a:t>
                </a:r>
                <a14:m>
                  <m:oMath xmlns:m="http://schemas.openxmlformats.org/officeDocument/2006/math">
                    <m:acc>
                      <m:accPr>
                        <m:chr m:val="̅"/>
                        <m:ctrlPr>
                          <a:rPr lang="en-US" altLang="zh-CN" sz="2000" b="0" i="1" smtClean="0">
                            <a:latin typeface="Cambria Math" panose="02040503050406030204" pitchFamily="18" charset="0"/>
                            <a:ea typeface="宋体" pitchFamily="2" charset="-122"/>
                            <a:sym typeface="Symbol" pitchFamily="18" charset="2"/>
                          </a:rPr>
                        </m:ctrlPr>
                      </m:accPr>
                      <m:e>
                        <m:r>
                          <a:rPr lang="en-US" altLang="zh-CN" sz="2000" b="0" i="1" smtClean="0">
                            <a:latin typeface="Cambria Math" panose="02040503050406030204" pitchFamily="18" charset="0"/>
                            <a:ea typeface="宋体" pitchFamily="2" charset="-122"/>
                            <a:sym typeface="Symbol" pitchFamily="18" charset="2"/>
                          </a:rPr>
                          <m:t>1</m:t>
                        </m:r>
                      </m:e>
                    </m:acc>
                  </m:oMath>
                </a14:m>
                <a:r>
                  <a:rPr lang="en-US" altLang="zh-CN" sz="2000" dirty="0">
                    <a:latin typeface="Georgia" panose="02040502050405020303" pitchFamily="18" charset="0"/>
                    <a:ea typeface="宋体" pitchFamily="2" charset="-122"/>
                  </a:rPr>
                  <a:t>0)</a:t>
                </a:r>
                <a:r>
                  <a:rPr lang="en-US" altLang="zh-TW" sz="2000" dirty="0">
                    <a:latin typeface="Georgia" panose="02040502050405020303" pitchFamily="18" charset="0"/>
                    <a:ea typeface="新細明體" pitchFamily="18" charset="-120"/>
                    <a:sym typeface="Symbol" pitchFamily="18" charset="2"/>
                  </a:rPr>
                  <a:t> planes is 0.425 nm and the Bragg angle is therefore 78.5º.  Quartz is an ideal material since it can be ground or </a:t>
                </a:r>
                <a:r>
                  <a:rPr lang="en-US" altLang="zh-TW" sz="2000" dirty="0">
                    <a:solidFill>
                      <a:srgbClr val="0000FF"/>
                    </a:solidFill>
                    <a:latin typeface="Georgia" panose="02040502050405020303" pitchFamily="18" charset="0"/>
                    <a:ea typeface="新細明體" pitchFamily="18" charset="-120"/>
                    <a:sym typeface="Symbol" pitchFamily="18" charset="2"/>
                  </a:rPr>
                  <a:t>bent</a:t>
                </a:r>
                <a:r>
                  <a:rPr lang="en-US" altLang="zh-TW" sz="2000" dirty="0">
                    <a:latin typeface="Georgia" panose="02040502050405020303" pitchFamily="18" charset="0"/>
                    <a:ea typeface="新細明體" pitchFamily="18" charset="-120"/>
                    <a:sym typeface="Symbol" pitchFamily="18" charset="2"/>
                  </a:rPr>
                  <a:t> elastically if sufficient thin and quartz itself can also withstand bake-out without distortion. </a:t>
                </a:r>
                <a:endParaRPr lang="en-US" altLang="zh-CN" sz="2000" dirty="0">
                  <a:latin typeface="Georgia" panose="02040502050405020303" pitchFamily="18" charset="0"/>
                  <a:ea typeface="宋体" pitchFamily="2" charset="-122"/>
                </a:endParaRPr>
              </a:p>
            </p:txBody>
          </p:sp>
        </mc:Choice>
        <mc:Fallback xmlns="">
          <p:sp>
            <p:nvSpPr>
              <p:cNvPr id="48132" name="Text Box 4"/>
              <p:cNvSpPr txBox="1">
                <a:spLocks noRot="1" noChangeAspect="1" noMove="1" noResize="1" noEditPoints="1" noAdjustHandles="1" noChangeArrowheads="1" noChangeShapeType="1" noTextEdit="1"/>
              </p:cNvSpPr>
              <p:nvPr/>
            </p:nvSpPr>
            <p:spPr bwMode="auto">
              <a:xfrm>
                <a:off x="762000" y="1371600"/>
                <a:ext cx="7559675" cy="1976567"/>
              </a:xfrm>
              <a:prstGeom prst="rect">
                <a:avLst/>
              </a:prstGeom>
              <a:blipFill>
                <a:blip r:embed="rId3"/>
                <a:stretch>
                  <a:fillRect l="-806" t="-1852" r="-806" b="-2469"/>
                </a:stretch>
              </a:blipFill>
              <a:ln w="9525">
                <a:noFill/>
                <a:miter lim="800000"/>
                <a:headEnd/>
                <a:tailEnd/>
              </a:ln>
              <a:effectLst/>
            </p:spPr>
            <p:txBody>
              <a:bodyPr/>
              <a:lstStyle/>
              <a:p>
                <a:r>
                  <a:rPr lang="en-HK">
                    <a:noFill/>
                  </a:rPr>
                  <a:t> </a:t>
                </a:r>
              </a:p>
            </p:txBody>
          </p:sp>
        </mc:Fallback>
      </mc:AlternateContent>
      <p:sp>
        <p:nvSpPr>
          <p:cNvPr id="48133" name="Rectangle 5"/>
          <p:cNvSpPr>
            <a:spLocks noChangeArrowheads="1"/>
          </p:cNvSpPr>
          <p:nvPr/>
        </p:nvSpPr>
        <p:spPr bwMode="auto">
          <a:xfrm>
            <a:off x="2601241" y="795635"/>
            <a:ext cx="3881191" cy="461665"/>
          </a:xfrm>
          <a:prstGeom prst="rect">
            <a:avLst/>
          </a:prstGeom>
          <a:noFill/>
          <a:ln w="9525">
            <a:noFill/>
            <a:miter lim="800000"/>
            <a:headEnd/>
            <a:tailEnd/>
          </a:ln>
          <a:effectLst/>
        </p:spPr>
        <p:txBody>
          <a:bodyPr wrap="none">
            <a:spAutoFit/>
          </a:bodyPr>
          <a:lstStyle/>
          <a:p>
            <a:pPr eaLnBrk="1" hangingPunct="1"/>
            <a:r>
              <a:rPr lang="en-US" altLang="zh-TW" sz="2400" dirty="0">
                <a:latin typeface="Georgia" panose="02040502050405020303" pitchFamily="18" charset="0"/>
                <a:ea typeface="新細明體" pitchFamily="18" charset="-120"/>
              </a:rPr>
              <a:t>X-ray </a:t>
            </a:r>
            <a:r>
              <a:rPr lang="en-US" altLang="zh-TW" sz="2400" dirty="0" err="1">
                <a:latin typeface="Georgia" panose="02040502050405020303" pitchFamily="18" charset="0"/>
                <a:ea typeface="新細明體" pitchFamily="18" charset="-120"/>
              </a:rPr>
              <a:t>monochromatization</a:t>
            </a:r>
            <a:endParaRPr lang="en-US" altLang="zh-CN" sz="2400" dirty="0">
              <a:latin typeface="Georgia" panose="02040502050405020303" pitchFamily="18" charset="0"/>
              <a:ea typeface="新細明體" pitchFamily="18" charset="-120"/>
            </a:endParaRPr>
          </a:p>
        </p:txBody>
      </p:sp>
      <p:sp>
        <p:nvSpPr>
          <p:cNvPr id="48136" name="Rectangle 8"/>
          <p:cNvSpPr>
            <a:spLocks noChangeArrowheads="1"/>
          </p:cNvSpPr>
          <p:nvPr/>
        </p:nvSpPr>
        <p:spPr bwMode="auto">
          <a:xfrm>
            <a:off x="676275" y="209550"/>
            <a:ext cx="8229600" cy="457200"/>
          </a:xfrm>
          <a:prstGeom prst="rect">
            <a:avLst/>
          </a:prstGeom>
          <a:noFill/>
          <a:ln w="9525">
            <a:noFill/>
            <a:miter lim="800000"/>
            <a:headEnd/>
            <a:tailEnd/>
          </a:ln>
          <a:effectLst/>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system: X-ray source-choice of diffraction grating</a:t>
            </a:r>
          </a:p>
        </p:txBody>
      </p:sp>
      <p:sp>
        <p:nvSpPr>
          <p:cNvPr id="48137" name="Line 9"/>
          <p:cNvSpPr>
            <a:spLocks noChangeShapeType="1"/>
          </p:cNvSpPr>
          <p:nvPr/>
        </p:nvSpPr>
        <p:spPr bwMode="auto">
          <a:xfrm>
            <a:off x="1295400" y="4724400"/>
            <a:ext cx="3810000" cy="0"/>
          </a:xfrm>
          <a:prstGeom prst="line">
            <a:avLst/>
          </a:prstGeom>
          <a:noFill/>
          <a:ln w="9525">
            <a:solidFill>
              <a:schemeClr val="tx1"/>
            </a:solidFill>
            <a:round/>
            <a:headEnd/>
            <a:tailEnd/>
          </a:ln>
          <a:effectLst/>
        </p:spPr>
        <p:txBody>
          <a:bodyPr/>
          <a:lstStyle/>
          <a:p>
            <a:endParaRPr lang="en-US">
              <a:latin typeface="Georgia" panose="02040502050405020303" pitchFamily="18" charset="0"/>
            </a:endParaRPr>
          </a:p>
        </p:txBody>
      </p:sp>
      <p:sp>
        <p:nvSpPr>
          <p:cNvPr id="48138" name="Line 10"/>
          <p:cNvSpPr>
            <a:spLocks noChangeShapeType="1"/>
          </p:cNvSpPr>
          <p:nvPr/>
        </p:nvSpPr>
        <p:spPr bwMode="auto">
          <a:xfrm>
            <a:off x="1295400" y="4953000"/>
            <a:ext cx="3810000" cy="0"/>
          </a:xfrm>
          <a:prstGeom prst="line">
            <a:avLst/>
          </a:prstGeom>
          <a:noFill/>
          <a:ln w="9525">
            <a:solidFill>
              <a:schemeClr val="tx1"/>
            </a:solidFill>
            <a:round/>
            <a:headEnd/>
            <a:tailEnd/>
          </a:ln>
          <a:effectLst/>
        </p:spPr>
        <p:txBody>
          <a:bodyPr/>
          <a:lstStyle/>
          <a:p>
            <a:endParaRPr lang="en-US">
              <a:latin typeface="Georgia" panose="02040502050405020303" pitchFamily="18" charset="0"/>
            </a:endParaRPr>
          </a:p>
        </p:txBody>
      </p:sp>
      <p:sp>
        <p:nvSpPr>
          <p:cNvPr id="48139" name="Line 11"/>
          <p:cNvSpPr>
            <a:spLocks noChangeShapeType="1"/>
          </p:cNvSpPr>
          <p:nvPr/>
        </p:nvSpPr>
        <p:spPr bwMode="auto">
          <a:xfrm>
            <a:off x="1295400" y="5181600"/>
            <a:ext cx="3810000" cy="0"/>
          </a:xfrm>
          <a:prstGeom prst="line">
            <a:avLst/>
          </a:prstGeom>
          <a:noFill/>
          <a:ln w="9525">
            <a:solidFill>
              <a:schemeClr val="tx1"/>
            </a:solidFill>
            <a:round/>
            <a:headEnd/>
            <a:tailEnd/>
          </a:ln>
          <a:effectLst/>
        </p:spPr>
        <p:txBody>
          <a:bodyPr/>
          <a:lstStyle/>
          <a:p>
            <a:endParaRPr lang="en-US">
              <a:latin typeface="Georgia" panose="02040502050405020303" pitchFamily="18" charset="0"/>
            </a:endParaRPr>
          </a:p>
        </p:txBody>
      </p:sp>
      <p:sp>
        <p:nvSpPr>
          <p:cNvPr id="48140" name="Line 12"/>
          <p:cNvSpPr>
            <a:spLocks noChangeShapeType="1"/>
          </p:cNvSpPr>
          <p:nvPr/>
        </p:nvSpPr>
        <p:spPr bwMode="auto">
          <a:xfrm>
            <a:off x="1295400" y="5410200"/>
            <a:ext cx="3810000" cy="0"/>
          </a:xfrm>
          <a:prstGeom prst="line">
            <a:avLst/>
          </a:prstGeom>
          <a:noFill/>
          <a:ln w="9525">
            <a:solidFill>
              <a:schemeClr val="tx1"/>
            </a:solidFill>
            <a:round/>
            <a:headEnd/>
            <a:tailEnd/>
          </a:ln>
          <a:effectLst/>
        </p:spPr>
        <p:txBody>
          <a:bodyPr/>
          <a:lstStyle/>
          <a:p>
            <a:endParaRPr lang="en-US">
              <a:latin typeface="Georgia" panose="02040502050405020303" pitchFamily="18" charset="0"/>
            </a:endParaRPr>
          </a:p>
        </p:txBody>
      </p:sp>
      <p:sp>
        <p:nvSpPr>
          <p:cNvPr id="48141" name="Line 13"/>
          <p:cNvSpPr>
            <a:spLocks noChangeShapeType="1"/>
          </p:cNvSpPr>
          <p:nvPr/>
        </p:nvSpPr>
        <p:spPr bwMode="auto">
          <a:xfrm>
            <a:off x="1295400" y="5638800"/>
            <a:ext cx="3810000" cy="0"/>
          </a:xfrm>
          <a:prstGeom prst="line">
            <a:avLst/>
          </a:prstGeom>
          <a:noFill/>
          <a:ln w="9525">
            <a:solidFill>
              <a:schemeClr val="tx1"/>
            </a:solidFill>
            <a:round/>
            <a:headEnd/>
            <a:tailEnd/>
          </a:ln>
          <a:effectLst/>
        </p:spPr>
        <p:txBody>
          <a:bodyPr/>
          <a:lstStyle/>
          <a:p>
            <a:endParaRPr lang="en-US">
              <a:latin typeface="Georgia" panose="02040502050405020303" pitchFamily="18" charset="0"/>
            </a:endParaRPr>
          </a:p>
        </p:txBody>
      </p:sp>
      <p:sp>
        <p:nvSpPr>
          <p:cNvPr id="48142" name="Line 14"/>
          <p:cNvSpPr>
            <a:spLocks noChangeShapeType="1"/>
          </p:cNvSpPr>
          <p:nvPr/>
        </p:nvSpPr>
        <p:spPr bwMode="auto">
          <a:xfrm>
            <a:off x="1295400" y="5867400"/>
            <a:ext cx="3810000" cy="0"/>
          </a:xfrm>
          <a:prstGeom prst="line">
            <a:avLst/>
          </a:prstGeom>
          <a:noFill/>
          <a:ln w="9525">
            <a:solidFill>
              <a:schemeClr val="tx1"/>
            </a:solidFill>
            <a:round/>
            <a:headEnd/>
            <a:tailEnd/>
          </a:ln>
          <a:effectLst/>
        </p:spPr>
        <p:txBody>
          <a:bodyPr/>
          <a:lstStyle/>
          <a:p>
            <a:endParaRPr lang="en-US">
              <a:latin typeface="Georgia" panose="02040502050405020303" pitchFamily="18" charset="0"/>
            </a:endParaRPr>
          </a:p>
        </p:txBody>
      </p:sp>
      <p:sp>
        <p:nvSpPr>
          <p:cNvPr id="48143" name="Line 15"/>
          <p:cNvSpPr>
            <a:spLocks noChangeShapeType="1"/>
          </p:cNvSpPr>
          <p:nvPr/>
        </p:nvSpPr>
        <p:spPr bwMode="auto">
          <a:xfrm>
            <a:off x="2362200" y="3733800"/>
            <a:ext cx="685800" cy="1905000"/>
          </a:xfrm>
          <a:prstGeom prst="line">
            <a:avLst/>
          </a:prstGeom>
          <a:noFill/>
          <a:ln w="9525">
            <a:solidFill>
              <a:schemeClr val="tx1"/>
            </a:solidFill>
            <a:round/>
            <a:headEnd/>
            <a:tailEnd type="triangle"/>
          </a:ln>
          <a:effectLst/>
        </p:spPr>
        <p:txBody>
          <a:bodyPr/>
          <a:lstStyle/>
          <a:p>
            <a:endParaRPr lang="en-US">
              <a:latin typeface="Georgia" panose="02040502050405020303" pitchFamily="18" charset="0"/>
            </a:endParaRPr>
          </a:p>
        </p:txBody>
      </p:sp>
      <p:sp>
        <p:nvSpPr>
          <p:cNvPr id="48144" name="Line 16"/>
          <p:cNvSpPr>
            <a:spLocks noChangeShapeType="1"/>
          </p:cNvSpPr>
          <p:nvPr/>
        </p:nvSpPr>
        <p:spPr bwMode="auto">
          <a:xfrm flipV="1">
            <a:off x="3048000" y="3733800"/>
            <a:ext cx="609600" cy="1905000"/>
          </a:xfrm>
          <a:prstGeom prst="line">
            <a:avLst/>
          </a:prstGeom>
          <a:noFill/>
          <a:ln w="9525">
            <a:solidFill>
              <a:schemeClr val="tx1"/>
            </a:solidFill>
            <a:round/>
            <a:headEnd/>
            <a:tailEnd type="arrow"/>
          </a:ln>
          <a:effectLst/>
        </p:spPr>
        <p:txBody>
          <a:bodyPr/>
          <a:lstStyle/>
          <a:p>
            <a:endParaRPr lang="en-US">
              <a:latin typeface="Georgia" panose="02040502050405020303" pitchFamily="18" charset="0"/>
            </a:endParaRPr>
          </a:p>
        </p:txBody>
      </p:sp>
      <p:sp>
        <p:nvSpPr>
          <p:cNvPr id="48145" name="Text Box 17"/>
          <p:cNvSpPr txBox="1">
            <a:spLocks noChangeArrowheads="1"/>
          </p:cNvSpPr>
          <p:nvPr/>
        </p:nvSpPr>
        <p:spPr bwMode="auto">
          <a:xfrm>
            <a:off x="2498725" y="5980113"/>
            <a:ext cx="1593850" cy="366712"/>
          </a:xfrm>
          <a:prstGeom prst="rect">
            <a:avLst/>
          </a:prstGeom>
          <a:noFill/>
          <a:ln w="9525">
            <a:noFill/>
            <a:miter lim="800000"/>
            <a:headEnd/>
            <a:tailEnd/>
          </a:ln>
          <a:effectLst/>
        </p:spPr>
        <p:txBody>
          <a:bodyPr wrap="none">
            <a:spAutoFit/>
          </a:bodyPr>
          <a:lstStyle/>
          <a:p>
            <a:r>
              <a:rPr lang="en-US" altLang="zh-CN" dirty="0">
                <a:latin typeface="Georgia" panose="02040502050405020303" pitchFamily="18" charset="0"/>
                <a:ea typeface="宋体" pitchFamily="2" charset="-122"/>
              </a:rPr>
              <a:t>Quartz (1010)</a:t>
            </a:r>
          </a:p>
        </p:txBody>
      </p:sp>
      <p:sp>
        <p:nvSpPr>
          <p:cNvPr id="48146" name="Text Box 18"/>
          <p:cNvSpPr txBox="1">
            <a:spLocks noChangeArrowheads="1"/>
          </p:cNvSpPr>
          <p:nvPr/>
        </p:nvSpPr>
        <p:spPr bwMode="auto">
          <a:xfrm>
            <a:off x="3581400" y="5715000"/>
            <a:ext cx="333746" cy="369332"/>
          </a:xfrm>
          <a:prstGeom prst="rect">
            <a:avLst/>
          </a:prstGeom>
          <a:noFill/>
          <a:ln w="9525">
            <a:noFill/>
            <a:miter lim="800000"/>
            <a:headEnd/>
            <a:tailEnd/>
          </a:ln>
          <a:effectLst/>
        </p:spPr>
        <p:txBody>
          <a:bodyPr wrap="none">
            <a:spAutoFit/>
          </a:bodyPr>
          <a:lstStyle/>
          <a:p>
            <a:r>
              <a:rPr lang="en-US" altLang="zh-CN" dirty="0">
                <a:latin typeface="Georgia" panose="02040502050405020303" pitchFamily="18" charset="0"/>
                <a:ea typeface="宋体" pitchFamily="2" charset="-122"/>
              </a:rPr>
              <a:t>_</a:t>
            </a:r>
          </a:p>
        </p:txBody>
      </p:sp>
      <p:sp>
        <p:nvSpPr>
          <p:cNvPr id="48147" name="Text Box 19"/>
          <p:cNvSpPr txBox="1">
            <a:spLocks noChangeArrowheads="1"/>
          </p:cNvSpPr>
          <p:nvPr/>
        </p:nvSpPr>
        <p:spPr bwMode="auto">
          <a:xfrm>
            <a:off x="3276600" y="5105400"/>
            <a:ext cx="1390124" cy="369332"/>
          </a:xfrm>
          <a:prstGeom prst="rect">
            <a:avLst/>
          </a:prstGeom>
          <a:noFill/>
          <a:ln w="9525">
            <a:noFill/>
            <a:miter lim="800000"/>
            <a:headEnd/>
            <a:tailEnd/>
          </a:ln>
          <a:effectLst/>
        </p:spPr>
        <p:txBody>
          <a:bodyPr wrap="none">
            <a:spAutoFit/>
          </a:bodyPr>
          <a:lstStyle/>
          <a:p>
            <a:r>
              <a:rPr lang="en-US" altLang="zh-CN">
                <a:latin typeface="Georgia" panose="02040502050405020303" pitchFamily="18" charset="0"/>
                <a:ea typeface="宋体" pitchFamily="2" charset="-122"/>
              </a:rPr>
              <a:t>d=0.425nm</a:t>
            </a:r>
          </a:p>
        </p:txBody>
      </p:sp>
      <p:sp>
        <p:nvSpPr>
          <p:cNvPr id="48149" name="Text Box 21"/>
          <p:cNvSpPr txBox="1">
            <a:spLocks noChangeArrowheads="1"/>
          </p:cNvSpPr>
          <p:nvPr/>
        </p:nvSpPr>
        <p:spPr bwMode="auto">
          <a:xfrm>
            <a:off x="1905000" y="5105400"/>
            <a:ext cx="974947" cy="369332"/>
          </a:xfrm>
          <a:prstGeom prst="rect">
            <a:avLst/>
          </a:prstGeom>
          <a:noFill/>
          <a:ln w="9525">
            <a:noFill/>
            <a:miter lim="800000"/>
            <a:headEnd/>
            <a:tailEnd/>
          </a:ln>
          <a:effectLst/>
        </p:spPr>
        <p:txBody>
          <a:bodyPr wrap="none">
            <a:spAutoFit/>
          </a:bodyPr>
          <a:lstStyle/>
          <a:p>
            <a:r>
              <a:rPr lang="zh-CN" altLang="en-US">
                <a:latin typeface="Georgia" panose="02040502050405020303" pitchFamily="18" charset="0"/>
                <a:ea typeface="宋体" pitchFamily="2" charset="-122"/>
                <a:sym typeface="Symbol" pitchFamily="18" charset="2"/>
              </a:rPr>
              <a:t></a:t>
            </a:r>
            <a:r>
              <a:rPr lang="en-US" altLang="zh-CN">
                <a:latin typeface="Georgia" panose="02040502050405020303" pitchFamily="18" charset="0"/>
                <a:ea typeface="宋体" pitchFamily="2" charset="-122"/>
                <a:sym typeface="Symbol" pitchFamily="18" charset="2"/>
              </a:rPr>
              <a:t>=78.5</a:t>
            </a:r>
            <a:r>
              <a:rPr lang="en-US" altLang="zh-CN" baseline="30000">
                <a:latin typeface="Georgia" panose="02040502050405020303" pitchFamily="18" charset="0"/>
                <a:ea typeface="宋体" pitchFamily="2" charset="-122"/>
                <a:sym typeface="Symbol" pitchFamily="18" charset="2"/>
              </a:rPr>
              <a:t>o</a:t>
            </a:r>
          </a:p>
        </p:txBody>
      </p:sp>
      <p:sp>
        <p:nvSpPr>
          <p:cNvPr id="48151" name="Text Box 23"/>
          <p:cNvSpPr txBox="1">
            <a:spLocks noChangeArrowheads="1"/>
          </p:cNvSpPr>
          <p:nvPr/>
        </p:nvSpPr>
        <p:spPr bwMode="auto">
          <a:xfrm>
            <a:off x="3794125" y="3770313"/>
            <a:ext cx="1835759" cy="369332"/>
          </a:xfrm>
          <a:prstGeom prst="rect">
            <a:avLst/>
          </a:prstGeom>
          <a:noFill/>
          <a:ln w="9525">
            <a:noFill/>
            <a:miter lim="800000"/>
            <a:headEnd/>
            <a:tailEnd/>
          </a:ln>
          <a:effectLst/>
        </p:spPr>
        <p:txBody>
          <a:bodyPr wrap="none">
            <a:spAutoFit/>
          </a:bodyPr>
          <a:lstStyle/>
          <a:p>
            <a:r>
              <a:rPr lang="en-US" altLang="zh-CN">
                <a:latin typeface="Georgia" panose="02040502050405020303" pitchFamily="18" charset="0"/>
                <a:ea typeface="宋体" pitchFamily="2" charset="-122"/>
              </a:rPr>
              <a:t>Diffracted beam</a:t>
            </a:r>
          </a:p>
        </p:txBody>
      </p:sp>
      <p:sp>
        <p:nvSpPr>
          <p:cNvPr id="48152" name="Text Box 24"/>
          <p:cNvSpPr txBox="1">
            <a:spLocks noChangeArrowheads="1"/>
          </p:cNvSpPr>
          <p:nvPr/>
        </p:nvSpPr>
        <p:spPr bwMode="auto">
          <a:xfrm>
            <a:off x="533400" y="3733800"/>
            <a:ext cx="1662635" cy="369332"/>
          </a:xfrm>
          <a:prstGeom prst="rect">
            <a:avLst/>
          </a:prstGeom>
          <a:noFill/>
          <a:ln w="9525">
            <a:noFill/>
            <a:miter lim="800000"/>
            <a:headEnd/>
            <a:tailEnd/>
          </a:ln>
          <a:effectLst/>
        </p:spPr>
        <p:txBody>
          <a:bodyPr wrap="none">
            <a:spAutoFit/>
          </a:bodyPr>
          <a:lstStyle/>
          <a:p>
            <a:r>
              <a:rPr lang="en-US" altLang="zh-CN">
                <a:latin typeface="Georgia" panose="02040502050405020303" pitchFamily="18" charset="0"/>
                <a:ea typeface="宋体" pitchFamily="2" charset="-122"/>
              </a:rPr>
              <a:t>Incident beam</a:t>
            </a:r>
          </a:p>
        </p:txBody>
      </p:sp>
      <p:graphicFrame>
        <p:nvGraphicFramePr>
          <p:cNvPr id="48153" name="Object 25"/>
          <p:cNvGraphicFramePr>
            <a:graphicFrameLocks noChangeAspect="1"/>
          </p:cNvGraphicFramePr>
          <p:nvPr/>
        </p:nvGraphicFramePr>
        <p:xfrm>
          <a:off x="5562600" y="5181600"/>
          <a:ext cx="2944813" cy="395288"/>
        </p:xfrm>
        <a:graphic>
          <a:graphicData uri="http://schemas.openxmlformats.org/presentationml/2006/ole">
            <mc:AlternateContent xmlns:mc="http://schemas.openxmlformats.org/markup-compatibility/2006">
              <mc:Choice xmlns:v="urn:schemas-microsoft-com:vml" Requires="v">
                <p:oleObj name="Equation" r:id="rId4" imgW="1511280" imgH="203040" progId="Equation.3">
                  <p:embed/>
                </p:oleObj>
              </mc:Choice>
              <mc:Fallback>
                <p:oleObj name="Equation" r:id="rId4" imgW="1511280" imgH="203040" progId="Equation.3">
                  <p:embed/>
                  <p:pic>
                    <p:nvPicPr>
                      <p:cNvPr id="48153" name="Object 2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562600" y="5181600"/>
                        <a:ext cx="2944813" cy="3952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8154" name="Object 26"/>
          <p:cNvGraphicFramePr>
            <a:graphicFrameLocks noChangeAspect="1"/>
          </p:cNvGraphicFramePr>
          <p:nvPr/>
        </p:nvGraphicFramePr>
        <p:xfrm>
          <a:off x="5486400" y="4572000"/>
          <a:ext cx="2286000" cy="477838"/>
        </p:xfrm>
        <a:graphic>
          <a:graphicData uri="http://schemas.openxmlformats.org/presentationml/2006/ole">
            <mc:AlternateContent xmlns:mc="http://schemas.openxmlformats.org/markup-compatibility/2006">
              <mc:Choice xmlns:v="urn:schemas-microsoft-com:vml" Requires="v">
                <p:oleObj name="Equation" r:id="rId6" imgW="850680" imgH="177480" progId="Equation.3">
                  <p:embed/>
                </p:oleObj>
              </mc:Choice>
              <mc:Fallback>
                <p:oleObj name="Equation" r:id="rId6" imgW="850680" imgH="177480" progId="Equation.3">
                  <p:embed/>
                  <p:pic>
                    <p:nvPicPr>
                      <p:cNvPr id="48154" name="Object 2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486400" y="4572000"/>
                        <a:ext cx="2286000" cy="4778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Slide Number Placeholder 1">
            <a:extLst>
              <a:ext uri="{FF2B5EF4-FFF2-40B4-BE49-F238E27FC236}">
                <a16:creationId xmlns:a16="http://schemas.microsoft.com/office/drawing/2014/main" id="{DE8C1557-D932-46CA-AD63-D21394CB0D8E}"/>
              </a:ext>
            </a:extLst>
          </p:cNvPr>
          <p:cNvSpPr>
            <a:spLocks noGrp="1"/>
          </p:cNvSpPr>
          <p:nvPr>
            <p:ph type="sldNum" sz="quarter" idx="11"/>
          </p:nvPr>
        </p:nvSpPr>
        <p:spPr/>
        <p:txBody>
          <a:bodyPr/>
          <a:lstStyle/>
          <a:p>
            <a:pPr>
              <a:defRPr/>
            </a:pPr>
            <a:fld id="{EBF73BDF-690D-4725-BA10-A7934ED52EAB}" type="slidenum">
              <a:rPr lang="zh-TW" altLang="en-US" smtClean="0"/>
              <a:pPr>
                <a:defRPr/>
              </a:pPr>
              <a:t>24</a:t>
            </a:fld>
            <a:endParaRPr lang="en-US" altLang="zh-TW"/>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4"/>
          <p:cNvSpPr>
            <a:spLocks noChangeArrowheads="1"/>
          </p:cNvSpPr>
          <p:nvPr/>
        </p:nvSpPr>
        <p:spPr bwMode="auto">
          <a:xfrm>
            <a:off x="914400" y="1676400"/>
            <a:ext cx="7620000" cy="4800600"/>
          </a:xfrm>
          <a:prstGeom prst="rect">
            <a:avLst/>
          </a:prstGeom>
          <a:noFill/>
          <a:ln w="9525">
            <a:solidFill>
              <a:schemeClr val="tx1"/>
            </a:solidFill>
            <a:miter lim="800000"/>
            <a:headEnd/>
            <a:tailEnd/>
          </a:ln>
        </p:spPr>
        <p:txBody>
          <a:bodyPr wrap="none" anchor="ctr"/>
          <a:lstStyle/>
          <a:p>
            <a:pPr algn="ctr" eaLnBrk="1" hangingPunct="1"/>
            <a:endParaRPr lang="zh-CN" altLang="zh-CN" b="1">
              <a:ea typeface="SimSun" pitchFamily="2" charset="-122"/>
            </a:endParaRPr>
          </a:p>
        </p:txBody>
      </p:sp>
      <p:pic>
        <p:nvPicPr>
          <p:cNvPr id="31747" name="Picture 5"/>
          <p:cNvPicPr>
            <a:picLocks noChangeAspect="1" noChangeArrowheads="1"/>
          </p:cNvPicPr>
          <p:nvPr/>
        </p:nvPicPr>
        <p:blipFill>
          <a:blip r:embed="rId3" cstate="print"/>
          <a:srcRect/>
          <a:stretch>
            <a:fillRect/>
          </a:stretch>
        </p:blipFill>
        <p:spPr bwMode="auto">
          <a:xfrm>
            <a:off x="990600" y="1828800"/>
            <a:ext cx="3352800" cy="2921000"/>
          </a:xfrm>
          <a:prstGeom prst="rect">
            <a:avLst/>
          </a:prstGeom>
          <a:noFill/>
          <a:ln w="9525">
            <a:noFill/>
            <a:miter lim="800000"/>
            <a:headEnd/>
            <a:tailEnd/>
          </a:ln>
        </p:spPr>
      </p:pic>
      <p:pic>
        <p:nvPicPr>
          <p:cNvPr id="31748" name="Picture 6"/>
          <p:cNvPicPr>
            <a:picLocks noChangeAspect="1" noChangeArrowheads="1"/>
          </p:cNvPicPr>
          <p:nvPr/>
        </p:nvPicPr>
        <p:blipFill>
          <a:blip r:embed="rId4" cstate="print"/>
          <a:srcRect/>
          <a:stretch>
            <a:fillRect/>
          </a:stretch>
        </p:blipFill>
        <p:spPr bwMode="auto">
          <a:xfrm>
            <a:off x="3962400" y="3570288"/>
            <a:ext cx="3978275" cy="2833687"/>
          </a:xfrm>
          <a:prstGeom prst="rect">
            <a:avLst/>
          </a:prstGeom>
          <a:noFill/>
          <a:ln w="9525">
            <a:noFill/>
            <a:miter lim="800000"/>
            <a:headEnd/>
            <a:tailEnd/>
          </a:ln>
        </p:spPr>
      </p:pic>
      <p:sp>
        <p:nvSpPr>
          <p:cNvPr id="31749" name="Text Box 7"/>
          <p:cNvSpPr txBox="1">
            <a:spLocks noChangeArrowheads="1"/>
          </p:cNvSpPr>
          <p:nvPr/>
        </p:nvSpPr>
        <p:spPr bwMode="auto">
          <a:xfrm>
            <a:off x="4343400" y="2037825"/>
            <a:ext cx="4176143" cy="1323439"/>
          </a:xfrm>
          <a:prstGeom prst="rect">
            <a:avLst/>
          </a:prstGeom>
          <a:noFill/>
          <a:ln w="9525">
            <a:noFill/>
            <a:miter lim="800000"/>
            <a:headEnd/>
            <a:tailEnd/>
          </a:ln>
        </p:spPr>
        <p:txBody>
          <a:bodyPr wrap="none">
            <a:spAutoFit/>
          </a:bodyPr>
          <a:lstStyle/>
          <a:p>
            <a:pPr eaLnBrk="1" hangingPunct="1"/>
            <a:r>
              <a:rPr lang="en-US" altLang="zh-TW" sz="2000" dirty="0">
                <a:solidFill>
                  <a:srgbClr val="0033CC"/>
                </a:solidFill>
                <a:latin typeface="Georgia" panose="02040502050405020303" pitchFamily="18" charset="0"/>
                <a:ea typeface="新細明體" pitchFamily="18" charset="-120"/>
              </a:rPr>
              <a:t>Advantages:</a:t>
            </a:r>
          </a:p>
          <a:p>
            <a:pPr eaLnBrk="1" hangingPunct="1"/>
            <a:r>
              <a:rPr lang="en-US" altLang="zh-TW" sz="2000" dirty="0">
                <a:solidFill>
                  <a:srgbClr val="0033CC"/>
                </a:solidFill>
                <a:latin typeface="Georgia" panose="02040502050405020303" pitchFamily="18" charset="0"/>
                <a:ea typeface="新細明體" pitchFamily="18" charset="-120"/>
              </a:rPr>
              <a:t>1. Narrower peak width</a:t>
            </a:r>
          </a:p>
          <a:p>
            <a:pPr eaLnBrk="1" hangingPunct="1"/>
            <a:r>
              <a:rPr lang="en-US" altLang="zh-TW" sz="2000" dirty="0">
                <a:solidFill>
                  <a:srgbClr val="0033CC"/>
                </a:solidFill>
                <a:latin typeface="Georgia" panose="02040502050405020303" pitchFamily="18" charset="0"/>
                <a:ea typeface="新細明體" pitchFamily="18" charset="-120"/>
              </a:rPr>
              <a:t>2. Reduced background</a:t>
            </a:r>
          </a:p>
          <a:p>
            <a:pPr eaLnBrk="1" hangingPunct="1"/>
            <a:r>
              <a:rPr lang="en-US" altLang="zh-TW" sz="2000" dirty="0">
                <a:solidFill>
                  <a:srgbClr val="0033CC"/>
                </a:solidFill>
                <a:latin typeface="Georgia" panose="02040502050405020303" pitchFamily="18" charset="0"/>
                <a:ea typeface="新細明體" pitchFamily="18" charset="-120"/>
              </a:rPr>
              <a:t>3. No satellite peak and ghost peak</a:t>
            </a:r>
            <a:r>
              <a:rPr lang="en-US" altLang="zh-TW" sz="2000" b="1" dirty="0">
                <a:solidFill>
                  <a:srgbClr val="0033CC"/>
                </a:solidFill>
                <a:latin typeface="Georgia" panose="02040502050405020303" pitchFamily="18" charset="0"/>
                <a:ea typeface="新細明體" pitchFamily="18" charset="-120"/>
              </a:rPr>
              <a:t> </a:t>
            </a:r>
            <a:endParaRPr lang="en-US" altLang="zh-CN" sz="2000" b="1" dirty="0">
              <a:solidFill>
                <a:srgbClr val="0033CC"/>
              </a:solidFill>
              <a:latin typeface="Georgia" panose="02040502050405020303" pitchFamily="18" charset="0"/>
              <a:ea typeface="SimSun" pitchFamily="2" charset="-122"/>
            </a:endParaRPr>
          </a:p>
        </p:txBody>
      </p:sp>
      <p:sp>
        <p:nvSpPr>
          <p:cNvPr id="31750" name="Text Box 8"/>
          <p:cNvSpPr txBox="1">
            <a:spLocks noChangeArrowheads="1"/>
          </p:cNvSpPr>
          <p:nvPr/>
        </p:nvSpPr>
        <p:spPr bwMode="auto">
          <a:xfrm>
            <a:off x="1143000" y="5127625"/>
            <a:ext cx="2961067" cy="923330"/>
          </a:xfrm>
          <a:prstGeom prst="rect">
            <a:avLst/>
          </a:prstGeom>
          <a:noFill/>
          <a:ln w="9525">
            <a:noFill/>
            <a:miter lim="800000"/>
            <a:headEnd/>
            <a:tailEnd/>
          </a:ln>
        </p:spPr>
        <p:txBody>
          <a:bodyPr wrap="none">
            <a:spAutoFit/>
          </a:bodyPr>
          <a:lstStyle/>
          <a:p>
            <a:pPr eaLnBrk="1" hangingPunct="1"/>
            <a:r>
              <a:rPr lang="en-US" altLang="zh-TW" dirty="0">
                <a:solidFill>
                  <a:schemeClr val="bg2"/>
                </a:solidFill>
                <a:latin typeface="Georgia" panose="02040502050405020303" pitchFamily="18" charset="0"/>
                <a:ea typeface="新細明體" pitchFamily="18" charset="-120"/>
              </a:rPr>
              <a:t>X-ray </a:t>
            </a:r>
            <a:r>
              <a:rPr lang="en-US" altLang="zh-TW" dirty="0" err="1">
                <a:solidFill>
                  <a:schemeClr val="bg2"/>
                </a:solidFill>
                <a:latin typeface="Georgia" panose="02040502050405020303" pitchFamily="18" charset="0"/>
                <a:ea typeface="新細明體" pitchFamily="18" charset="-120"/>
              </a:rPr>
              <a:t>monochromatization</a:t>
            </a:r>
            <a:endParaRPr lang="en-US" altLang="zh-TW" dirty="0">
              <a:solidFill>
                <a:schemeClr val="bg2"/>
              </a:solidFill>
              <a:latin typeface="Georgia" panose="02040502050405020303" pitchFamily="18" charset="0"/>
              <a:ea typeface="新細明體" pitchFamily="18" charset="-120"/>
            </a:endParaRPr>
          </a:p>
          <a:p>
            <a:pPr eaLnBrk="1" hangingPunct="1"/>
            <a:r>
              <a:rPr lang="en-US" altLang="zh-TW" dirty="0">
                <a:solidFill>
                  <a:schemeClr val="bg2"/>
                </a:solidFill>
                <a:latin typeface="Georgia" panose="02040502050405020303" pitchFamily="18" charset="0"/>
                <a:ea typeface="新細明體" pitchFamily="18" charset="-120"/>
              </a:rPr>
              <a:t>With crystal dispenser and</a:t>
            </a:r>
          </a:p>
          <a:p>
            <a:pPr eaLnBrk="1" hangingPunct="1"/>
            <a:r>
              <a:rPr lang="en-US" altLang="zh-TW" dirty="0">
                <a:solidFill>
                  <a:schemeClr val="bg2"/>
                </a:solidFill>
                <a:latin typeface="Georgia" panose="02040502050405020303" pitchFamily="18" charset="0"/>
                <a:ea typeface="新細明體" pitchFamily="18" charset="-120"/>
              </a:rPr>
              <a:t>Rowland circle.</a:t>
            </a:r>
            <a:r>
              <a:rPr lang="en-US" altLang="zh-TW" b="1" dirty="0">
                <a:solidFill>
                  <a:schemeClr val="bg2"/>
                </a:solidFill>
                <a:latin typeface="Georgia" panose="02040502050405020303" pitchFamily="18" charset="0"/>
                <a:ea typeface="新細明體" pitchFamily="18" charset="-120"/>
              </a:rPr>
              <a:t> </a:t>
            </a:r>
            <a:endParaRPr lang="en-US" altLang="zh-CN" b="1" dirty="0">
              <a:solidFill>
                <a:schemeClr val="bg2"/>
              </a:solidFill>
              <a:latin typeface="Georgia" panose="02040502050405020303" pitchFamily="18" charset="0"/>
              <a:ea typeface="SimSun" pitchFamily="2" charset="-122"/>
            </a:endParaRPr>
          </a:p>
        </p:txBody>
      </p:sp>
      <p:sp>
        <p:nvSpPr>
          <p:cNvPr id="31751" name="Rectangle 9"/>
          <p:cNvSpPr>
            <a:spLocks noChangeArrowheads="1"/>
          </p:cNvSpPr>
          <p:nvPr/>
        </p:nvSpPr>
        <p:spPr bwMode="auto">
          <a:xfrm>
            <a:off x="2743200" y="914400"/>
            <a:ext cx="3744913" cy="457200"/>
          </a:xfrm>
          <a:prstGeom prst="rect">
            <a:avLst/>
          </a:prstGeom>
          <a:noFill/>
          <a:ln w="9525">
            <a:noFill/>
            <a:miter lim="800000"/>
            <a:headEnd/>
            <a:tailEnd/>
          </a:ln>
        </p:spPr>
        <p:txBody>
          <a:bodyPr wrap="none">
            <a:spAutoFit/>
          </a:bodyPr>
          <a:lstStyle/>
          <a:p>
            <a:pPr eaLnBrk="1" hangingPunct="1"/>
            <a:r>
              <a:rPr lang="en-US" altLang="zh-TW" sz="2400">
                <a:ea typeface="新細明體" pitchFamily="18" charset="-120"/>
              </a:rPr>
              <a:t>X-ray monochromatization</a:t>
            </a:r>
            <a:endParaRPr lang="en-US" altLang="zh-CN" sz="2400">
              <a:ea typeface="新細明體" pitchFamily="18" charset="-120"/>
            </a:endParaRPr>
          </a:p>
        </p:txBody>
      </p:sp>
      <p:sp>
        <p:nvSpPr>
          <p:cNvPr id="31752" name="Rectangle 10"/>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X-ray source—</a:t>
            </a:r>
            <a:r>
              <a:rPr lang="en-US" altLang="zh-TW" sz="2400" dirty="0" err="1">
                <a:solidFill>
                  <a:schemeClr val="bg2">
                    <a:lumMod val="40000"/>
                    <a:lumOff val="60000"/>
                  </a:schemeClr>
                </a:solidFill>
                <a:latin typeface="Georgia" panose="02040502050405020303" pitchFamily="18" charset="0"/>
                <a:ea typeface="新細明體" pitchFamily="18" charset="-120"/>
              </a:rPr>
              <a:t>Monochramatization</a:t>
            </a:r>
            <a:r>
              <a:rPr lang="en-US" altLang="zh-TW" sz="2400" dirty="0">
                <a:solidFill>
                  <a:schemeClr val="bg2">
                    <a:lumMod val="40000"/>
                    <a:lumOff val="60000"/>
                  </a:schemeClr>
                </a:solidFill>
                <a:latin typeface="Georgia" panose="02040502050405020303" pitchFamily="18" charset="0"/>
                <a:ea typeface="新細明體" pitchFamily="18" charset="-120"/>
              </a:rPr>
              <a:t> advantage</a:t>
            </a:r>
          </a:p>
        </p:txBody>
      </p:sp>
      <p:sp>
        <p:nvSpPr>
          <p:cNvPr id="2" name="Slide Number Placeholder 1">
            <a:extLst>
              <a:ext uri="{FF2B5EF4-FFF2-40B4-BE49-F238E27FC236}">
                <a16:creationId xmlns:a16="http://schemas.microsoft.com/office/drawing/2014/main" id="{807CB320-35CE-4428-851D-4F98F3533954}"/>
              </a:ext>
            </a:extLst>
          </p:cNvPr>
          <p:cNvSpPr>
            <a:spLocks noGrp="1"/>
          </p:cNvSpPr>
          <p:nvPr>
            <p:ph type="sldNum" sz="quarter" idx="11"/>
          </p:nvPr>
        </p:nvSpPr>
        <p:spPr/>
        <p:txBody>
          <a:bodyPr/>
          <a:lstStyle/>
          <a:p>
            <a:pPr>
              <a:defRPr/>
            </a:pPr>
            <a:fld id="{EBF73BDF-690D-4725-BA10-A7934ED52EAB}" type="slidenum">
              <a:rPr lang="zh-TW" altLang="en-US" smtClean="0"/>
              <a:pPr>
                <a:defRPr/>
              </a:pPr>
              <a:t>25</a:t>
            </a:fld>
            <a:endParaRPr lang="en-US" altLang="zh-TW"/>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94" name="Object 4"/>
          <p:cNvGraphicFramePr>
            <a:graphicFrameLocks noChangeAspect="1"/>
          </p:cNvGraphicFramePr>
          <p:nvPr/>
        </p:nvGraphicFramePr>
        <p:xfrm>
          <a:off x="1066800" y="2179638"/>
          <a:ext cx="3522663" cy="4359275"/>
        </p:xfrm>
        <a:graphic>
          <a:graphicData uri="http://schemas.openxmlformats.org/presentationml/2006/ole">
            <mc:AlternateContent xmlns:mc="http://schemas.openxmlformats.org/markup-compatibility/2006">
              <mc:Choice xmlns:v="urn:schemas-microsoft-com:vml" Requires="v">
                <p:oleObj name="CorelPhotoPaint.Image.8" r:id="rId3" imgW="13209524" imgH="16352381" progId="">
                  <p:embed/>
                </p:oleObj>
              </mc:Choice>
              <mc:Fallback>
                <p:oleObj name="CorelPhotoPaint.Image.8" r:id="rId3" imgW="13209524" imgH="16352381" progId="">
                  <p:embed/>
                  <p:pic>
                    <p:nvPicPr>
                      <p:cNvPr id="8194"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66800" y="2179638"/>
                        <a:ext cx="3522663" cy="4359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196" name="Text Box 5"/>
          <p:cNvSpPr txBox="1">
            <a:spLocks noChangeArrowheads="1"/>
          </p:cNvSpPr>
          <p:nvPr/>
        </p:nvSpPr>
        <p:spPr bwMode="auto">
          <a:xfrm>
            <a:off x="958850" y="1493838"/>
            <a:ext cx="3540125" cy="707886"/>
          </a:xfrm>
          <a:prstGeom prst="rect">
            <a:avLst/>
          </a:prstGeom>
          <a:noFill/>
          <a:ln w="9525">
            <a:noFill/>
            <a:miter lim="800000"/>
            <a:headEnd/>
            <a:tailEnd/>
          </a:ln>
        </p:spPr>
        <p:txBody>
          <a:bodyPr>
            <a:spAutoFit/>
          </a:bodyPr>
          <a:lstStyle/>
          <a:p>
            <a:pPr algn="ctr"/>
            <a:r>
              <a:rPr lang="en-US" altLang="zh-CN" sz="2000" dirty="0">
                <a:latin typeface="Georgia" panose="02040502050405020303" pitchFamily="18" charset="0"/>
                <a:ea typeface="SimSun" pitchFamily="2" charset="-122"/>
              </a:rPr>
              <a:t>Photoelectron spectra of SiO</a:t>
            </a:r>
            <a:r>
              <a:rPr lang="en-US" altLang="zh-CN" sz="2000" baseline="-12000" dirty="0">
                <a:latin typeface="Georgia" panose="02040502050405020303" pitchFamily="18" charset="0"/>
                <a:ea typeface="SimSun" pitchFamily="2" charset="-122"/>
              </a:rPr>
              <a:t>2</a:t>
            </a:r>
            <a:r>
              <a:rPr lang="en-US" altLang="zh-CN" sz="2000" dirty="0">
                <a:latin typeface="Georgia" panose="02040502050405020303" pitchFamily="18" charset="0"/>
                <a:ea typeface="SimSun" pitchFamily="2" charset="-122"/>
              </a:rPr>
              <a:t> excited with Al K</a:t>
            </a:r>
            <a:r>
              <a:rPr lang="el-GR" altLang="zh-CN" sz="2000" baseline="-12000" dirty="0">
                <a:latin typeface="Georgia" panose="02040502050405020303" pitchFamily="18" charset="0"/>
                <a:cs typeface="Arial" charset="0"/>
              </a:rPr>
              <a:t>α</a:t>
            </a:r>
            <a:r>
              <a:rPr lang="en-US" altLang="zh-CN" sz="2000" dirty="0">
                <a:latin typeface="Georgia" panose="02040502050405020303" pitchFamily="18" charset="0"/>
                <a:ea typeface="SimSun" pitchFamily="2" charset="-122"/>
              </a:rPr>
              <a:t> radiation</a:t>
            </a:r>
          </a:p>
        </p:txBody>
      </p:sp>
      <p:graphicFrame>
        <p:nvGraphicFramePr>
          <p:cNvPr id="8195" name="Object 6"/>
          <p:cNvGraphicFramePr>
            <a:graphicFrameLocks noChangeAspect="1"/>
          </p:cNvGraphicFramePr>
          <p:nvPr/>
        </p:nvGraphicFramePr>
        <p:xfrm>
          <a:off x="4800600" y="4313238"/>
          <a:ext cx="3797300" cy="2397125"/>
        </p:xfrm>
        <a:graphic>
          <a:graphicData uri="http://schemas.openxmlformats.org/presentationml/2006/ole">
            <mc:AlternateContent xmlns:mc="http://schemas.openxmlformats.org/markup-compatibility/2006">
              <mc:Choice xmlns:v="urn:schemas-microsoft-com:vml" Requires="v">
                <p:oleObj name="CorelDRAW" r:id="rId5" imgW="5321520" imgH="3361680" progId="">
                  <p:embed/>
                </p:oleObj>
              </mc:Choice>
              <mc:Fallback>
                <p:oleObj name="CorelDRAW" r:id="rId5" imgW="5321520" imgH="3361680" progId="">
                  <p:embed/>
                  <p:pic>
                    <p:nvPicPr>
                      <p:cNvPr id="8195" name="Object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800600" y="4313238"/>
                        <a:ext cx="3797300" cy="2397125"/>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197" name="Line 7"/>
          <p:cNvSpPr>
            <a:spLocks noChangeShapeType="1"/>
          </p:cNvSpPr>
          <p:nvPr/>
        </p:nvSpPr>
        <p:spPr bwMode="auto">
          <a:xfrm flipH="1">
            <a:off x="4387850" y="2408238"/>
            <a:ext cx="1066800" cy="609600"/>
          </a:xfrm>
          <a:prstGeom prst="line">
            <a:avLst/>
          </a:prstGeom>
          <a:noFill/>
          <a:ln w="9525">
            <a:solidFill>
              <a:schemeClr val="tx1"/>
            </a:solidFill>
            <a:miter lim="800000"/>
            <a:headEnd/>
            <a:tailEnd type="triangle" w="med" len="med"/>
          </a:ln>
        </p:spPr>
        <p:txBody>
          <a:bodyPr wrap="none"/>
          <a:lstStyle/>
          <a:p>
            <a:endParaRPr lang="en-US" sz="2000">
              <a:latin typeface="Georgia" panose="02040502050405020303" pitchFamily="18" charset="0"/>
            </a:endParaRPr>
          </a:p>
        </p:txBody>
      </p:sp>
      <p:sp>
        <p:nvSpPr>
          <p:cNvPr id="8198" name="Line 8"/>
          <p:cNvSpPr>
            <a:spLocks noChangeShapeType="1"/>
          </p:cNvSpPr>
          <p:nvPr/>
        </p:nvSpPr>
        <p:spPr bwMode="auto">
          <a:xfrm flipH="1">
            <a:off x="4311650" y="3627438"/>
            <a:ext cx="1143000" cy="1143000"/>
          </a:xfrm>
          <a:prstGeom prst="line">
            <a:avLst/>
          </a:prstGeom>
          <a:noFill/>
          <a:ln w="9525">
            <a:solidFill>
              <a:schemeClr val="tx1"/>
            </a:solidFill>
            <a:miter lim="800000"/>
            <a:headEnd/>
            <a:tailEnd type="triangle" w="med" len="med"/>
          </a:ln>
        </p:spPr>
        <p:txBody>
          <a:bodyPr wrap="none"/>
          <a:lstStyle/>
          <a:p>
            <a:endParaRPr lang="en-US" sz="2000">
              <a:latin typeface="Georgia" panose="02040502050405020303" pitchFamily="18" charset="0"/>
            </a:endParaRPr>
          </a:p>
        </p:txBody>
      </p:sp>
      <p:sp>
        <p:nvSpPr>
          <p:cNvPr id="8199" name="Rectangle 9"/>
          <p:cNvSpPr>
            <a:spLocks noChangeArrowheads="1"/>
          </p:cNvSpPr>
          <p:nvPr/>
        </p:nvSpPr>
        <p:spPr bwMode="auto">
          <a:xfrm>
            <a:off x="5530850" y="2108200"/>
            <a:ext cx="2156360" cy="400110"/>
          </a:xfrm>
          <a:prstGeom prst="rect">
            <a:avLst/>
          </a:prstGeom>
          <a:noFill/>
          <a:ln w="9525">
            <a:noFill/>
            <a:miter lim="800000"/>
            <a:headEnd/>
            <a:tailEnd/>
          </a:ln>
        </p:spPr>
        <p:txBody>
          <a:bodyPr wrap="none">
            <a:spAutoFit/>
          </a:bodyPr>
          <a:lstStyle/>
          <a:p>
            <a:pPr eaLnBrk="1" hangingPunct="1"/>
            <a:r>
              <a:rPr lang="en-US" altLang="zh-CN" sz="2000" dirty="0">
                <a:latin typeface="Georgia" panose="02040502050405020303" pitchFamily="18" charset="0"/>
                <a:ea typeface="SimSun" pitchFamily="2" charset="-122"/>
              </a:rPr>
              <a:t>Unfiltered source</a:t>
            </a:r>
          </a:p>
        </p:txBody>
      </p:sp>
      <p:sp>
        <p:nvSpPr>
          <p:cNvPr id="8200" name="Rectangle 10"/>
          <p:cNvSpPr>
            <a:spLocks noChangeArrowheads="1"/>
          </p:cNvSpPr>
          <p:nvPr/>
        </p:nvSpPr>
        <p:spPr bwMode="auto">
          <a:xfrm>
            <a:off x="5530850" y="3098800"/>
            <a:ext cx="3057247" cy="707886"/>
          </a:xfrm>
          <a:prstGeom prst="rect">
            <a:avLst/>
          </a:prstGeom>
          <a:noFill/>
          <a:ln w="9525">
            <a:noFill/>
            <a:miter lim="800000"/>
            <a:headEnd/>
            <a:tailEnd/>
          </a:ln>
        </p:spPr>
        <p:txBody>
          <a:bodyPr wrap="none">
            <a:spAutoFit/>
          </a:bodyPr>
          <a:lstStyle/>
          <a:p>
            <a:pPr eaLnBrk="1" hangingPunct="1"/>
            <a:r>
              <a:rPr lang="en-US" altLang="zh-CN" sz="2000">
                <a:latin typeface="Georgia" panose="02040502050405020303" pitchFamily="18" charset="0"/>
                <a:ea typeface="SimSun" pitchFamily="2" charset="-122"/>
              </a:rPr>
              <a:t>Filtered source or </a:t>
            </a:r>
            <a:endParaRPr lang="en-US" altLang="zh-CN" sz="2000">
              <a:solidFill>
                <a:schemeClr val="hlink"/>
              </a:solidFill>
              <a:latin typeface="Georgia" panose="02040502050405020303" pitchFamily="18" charset="0"/>
              <a:ea typeface="SimSun" pitchFamily="2" charset="-122"/>
            </a:endParaRPr>
          </a:p>
          <a:p>
            <a:pPr eaLnBrk="1" hangingPunct="1"/>
            <a:r>
              <a:rPr lang="en-US" altLang="zh-CN" sz="2000">
                <a:solidFill>
                  <a:schemeClr val="hlink"/>
                </a:solidFill>
                <a:latin typeface="Georgia" panose="02040502050405020303" pitchFamily="18" charset="0"/>
                <a:ea typeface="SimSun" pitchFamily="2" charset="-122"/>
              </a:rPr>
              <a:t>monochromatized source</a:t>
            </a:r>
            <a:endParaRPr lang="en-US" altLang="zh-CN" sz="2000">
              <a:latin typeface="Georgia" panose="02040502050405020303" pitchFamily="18" charset="0"/>
              <a:ea typeface="SimSun" pitchFamily="2" charset="-122"/>
            </a:endParaRPr>
          </a:p>
        </p:txBody>
      </p:sp>
      <p:sp>
        <p:nvSpPr>
          <p:cNvPr id="8201" name="Rectangle 11"/>
          <p:cNvSpPr>
            <a:spLocks noChangeArrowheads="1"/>
          </p:cNvSpPr>
          <p:nvPr/>
        </p:nvSpPr>
        <p:spPr bwMode="auto">
          <a:xfrm>
            <a:off x="2743200" y="914400"/>
            <a:ext cx="3268844" cy="400110"/>
          </a:xfrm>
          <a:prstGeom prst="rect">
            <a:avLst/>
          </a:prstGeom>
          <a:noFill/>
          <a:ln w="9525">
            <a:noFill/>
            <a:miter lim="800000"/>
            <a:headEnd/>
            <a:tailEnd/>
          </a:ln>
        </p:spPr>
        <p:txBody>
          <a:bodyPr wrap="none">
            <a:spAutoFit/>
          </a:bodyPr>
          <a:lstStyle/>
          <a:p>
            <a:pPr eaLnBrk="1" hangingPunct="1"/>
            <a:r>
              <a:rPr lang="en-US" altLang="zh-TW" sz="2000" dirty="0">
                <a:latin typeface="Georgia" panose="02040502050405020303" pitchFamily="18" charset="0"/>
                <a:ea typeface="新細明體" pitchFamily="18" charset="-120"/>
              </a:rPr>
              <a:t>X-ray </a:t>
            </a:r>
            <a:r>
              <a:rPr lang="en-US" altLang="zh-TW" sz="2000" dirty="0" err="1">
                <a:latin typeface="Georgia" panose="02040502050405020303" pitchFamily="18" charset="0"/>
                <a:ea typeface="新細明體" pitchFamily="18" charset="-120"/>
              </a:rPr>
              <a:t>monochromatization</a:t>
            </a:r>
            <a:endParaRPr lang="en-US" altLang="zh-CN" sz="2000" dirty="0">
              <a:latin typeface="Georgia" panose="02040502050405020303" pitchFamily="18" charset="0"/>
              <a:ea typeface="新細明體" pitchFamily="18" charset="-120"/>
            </a:endParaRPr>
          </a:p>
        </p:txBody>
      </p:sp>
      <p:sp>
        <p:nvSpPr>
          <p:cNvPr id="8202" name="Rectangle 12"/>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X-ray source-</a:t>
            </a:r>
            <a:r>
              <a:rPr lang="en-US" altLang="zh-TW" sz="2400" dirty="0" err="1">
                <a:solidFill>
                  <a:schemeClr val="bg1"/>
                </a:solidFill>
                <a:latin typeface="Georgia" panose="02040502050405020303" pitchFamily="18" charset="0"/>
                <a:ea typeface="新細明體" pitchFamily="18" charset="-120"/>
              </a:rPr>
              <a:t>Mo</a:t>
            </a:r>
            <a:r>
              <a:rPr lang="en-US" altLang="zh-TW" sz="2400" dirty="0" err="1">
                <a:solidFill>
                  <a:schemeClr val="bg2">
                    <a:lumMod val="40000"/>
                    <a:lumOff val="60000"/>
                  </a:schemeClr>
                </a:solidFill>
                <a:latin typeface="Georgia" panose="02040502050405020303" pitchFamily="18" charset="0"/>
                <a:ea typeface="新細明體" pitchFamily="18" charset="-120"/>
              </a:rPr>
              <a:t>nchromatization</a:t>
            </a:r>
            <a:r>
              <a:rPr lang="en-US" altLang="zh-TW" sz="2400" dirty="0">
                <a:solidFill>
                  <a:schemeClr val="bg2">
                    <a:lumMod val="40000"/>
                    <a:lumOff val="60000"/>
                  </a:schemeClr>
                </a:solidFill>
                <a:latin typeface="Georgia" panose="02040502050405020303" pitchFamily="18" charset="0"/>
                <a:ea typeface="新細明體" pitchFamily="18" charset="-120"/>
              </a:rPr>
              <a:t> example</a:t>
            </a:r>
          </a:p>
        </p:txBody>
      </p:sp>
      <p:sp>
        <p:nvSpPr>
          <p:cNvPr id="2" name="Slide Number Placeholder 1">
            <a:extLst>
              <a:ext uri="{FF2B5EF4-FFF2-40B4-BE49-F238E27FC236}">
                <a16:creationId xmlns:a16="http://schemas.microsoft.com/office/drawing/2014/main" id="{35744040-2F81-4F6E-A413-1E9C2894749F}"/>
              </a:ext>
            </a:extLst>
          </p:cNvPr>
          <p:cNvSpPr>
            <a:spLocks noGrp="1"/>
          </p:cNvSpPr>
          <p:nvPr>
            <p:ph type="sldNum" sz="quarter" idx="11"/>
          </p:nvPr>
        </p:nvSpPr>
        <p:spPr/>
        <p:txBody>
          <a:bodyPr/>
          <a:lstStyle/>
          <a:p>
            <a:pPr>
              <a:defRPr/>
            </a:pPr>
            <a:fld id="{EBF73BDF-690D-4725-BA10-A7934ED52EAB}" type="slidenum">
              <a:rPr lang="zh-TW" altLang="en-US" smtClean="0"/>
              <a:pPr>
                <a:defRPr/>
              </a:pPr>
              <a:t>26</a:t>
            </a:fld>
            <a:endParaRPr lang="en-US" altLang="zh-TW"/>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Text Box 4"/>
          <p:cNvSpPr txBox="1">
            <a:spLocks noChangeArrowheads="1"/>
          </p:cNvSpPr>
          <p:nvPr/>
        </p:nvSpPr>
        <p:spPr bwMode="auto">
          <a:xfrm>
            <a:off x="381000" y="809212"/>
            <a:ext cx="8382000" cy="1323439"/>
          </a:xfrm>
          <a:prstGeom prst="rect">
            <a:avLst/>
          </a:prstGeom>
          <a:noFill/>
          <a:ln w="9525">
            <a:noFill/>
            <a:miter lim="800000"/>
            <a:headEnd/>
            <a:tailEnd/>
          </a:ln>
        </p:spPr>
        <p:txBody>
          <a:bodyPr wrap="square">
            <a:spAutoFit/>
          </a:bodyPr>
          <a:lstStyle/>
          <a:p>
            <a:pPr algn="just" eaLnBrk="1" hangingPunct="1"/>
            <a:r>
              <a:rPr lang="en-US" altLang="zh-TW" sz="2000" dirty="0">
                <a:latin typeface="Georgia" panose="02040502050405020303" pitchFamily="18" charset="0"/>
                <a:ea typeface="新細明體" pitchFamily="18" charset="-120"/>
              </a:rPr>
              <a:t>The heart of photoelectron spectroscopy is the measurement of an electron energy spectrum.  Such an analysis is performed by an </a:t>
            </a:r>
            <a:r>
              <a:rPr lang="en-US" altLang="zh-TW" sz="2000" dirty="0">
                <a:solidFill>
                  <a:srgbClr val="006600"/>
                </a:solidFill>
                <a:latin typeface="Georgia" panose="02040502050405020303" pitchFamily="18" charset="0"/>
                <a:ea typeface="新細明體" pitchFamily="18" charset="-120"/>
              </a:rPr>
              <a:t>electron energy analyzer</a:t>
            </a:r>
            <a:r>
              <a:rPr lang="en-US" altLang="zh-TW" sz="2000" dirty="0">
                <a:latin typeface="Georgia" panose="02040502050405020303" pitchFamily="18" charset="0"/>
                <a:ea typeface="新細明體" pitchFamily="18" charset="-120"/>
              </a:rPr>
              <a:t> (strictly speaking, an electron velocity analyzer), often also called a </a:t>
            </a:r>
            <a:r>
              <a:rPr lang="en-US" altLang="zh-TW" sz="2000" dirty="0">
                <a:solidFill>
                  <a:srgbClr val="006600"/>
                </a:solidFill>
                <a:latin typeface="Georgia" panose="02040502050405020303" pitchFamily="18" charset="0"/>
                <a:ea typeface="新細明體" pitchFamily="18" charset="-120"/>
              </a:rPr>
              <a:t>spectrometer</a:t>
            </a:r>
            <a:r>
              <a:rPr lang="en-US" altLang="zh-TW" sz="2000" dirty="0">
                <a:latin typeface="Georgia" panose="02040502050405020303" pitchFamily="18" charset="0"/>
                <a:ea typeface="新細明體" pitchFamily="18" charset="-120"/>
              </a:rPr>
              <a:t>.</a:t>
            </a:r>
          </a:p>
        </p:txBody>
      </p:sp>
      <p:grpSp>
        <p:nvGrpSpPr>
          <p:cNvPr id="9220" name="Group 5"/>
          <p:cNvGrpSpPr>
            <a:grpSpLocks/>
          </p:cNvGrpSpPr>
          <p:nvPr/>
        </p:nvGrpSpPr>
        <p:grpSpPr bwMode="auto">
          <a:xfrm>
            <a:off x="1371600" y="2286000"/>
            <a:ext cx="6019800" cy="4191000"/>
            <a:chOff x="1440" y="2064"/>
            <a:chExt cx="2676" cy="2124"/>
          </a:xfrm>
        </p:grpSpPr>
        <p:pic>
          <p:nvPicPr>
            <p:cNvPr id="9222" name="Picture 6"/>
            <p:cNvPicPr>
              <a:picLocks noChangeAspect="1" noChangeArrowheads="1"/>
            </p:cNvPicPr>
            <p:nvPr/>
          </p:nvPicPr>
          <p:blipFill>
            <a:blip r:embed="rId2" cstate="print"/>
            <a:srcRect/>
            <a:stretch>
              <a:fillRect/>
            </a:stretch>
          </p:blipFill>
          <p:spPr bwMode="auto">
            <a:xfrm>
              <a:off x="1440" y="2064"/>
              <a:ext cx="2676" cy="2124"/>
            </a:xfrm>
            <a:prstGeom prst="rect">
              <a:avLst/>
            </a:prstGeom>
            <a:noFill/>
            <a:ln w="9525">
              <a:noFill/>
              <a:miter lim="800000"/>
              <a:headEnd/>
              <a:tailEnd/>
            </a:ln>
          </p:spPr>
        </p:pic>
        <p:graphicFrame>
          <p:nvGraphicFramePr>
            <p:cNvPr id="9218" name="Object 7"/>
            <p:cNvGraphicFramePr>
              <a:graphicFrameLocks noChangeAspect="1"/>
            </p:cNvGraphicFramePr>
            <p:nvPr/>
          </p:nvGraphicFramePr>
          <p:xfrm>
            <a:off x="1776" y="2352"/>
            <a:ext cx="978" cy="168"/>
          </p:xfrm>
          <a:graphic>
            <a:graphicData uri="http://schemas.openxmlformats.org/presentationml/2006/ole">
              <mc:AlternateContent xmlns:mc="http://schemas.openxmlformats.org/markup-compatibility/2006">
                <mc:Choice xmlns:v="urn:schemas-microsoft-com:vml" Requires="v">
                  <p:oleObj r:id="rId3" imgW="1548728" imgH="266584" progId="Equation.3">
                    <p:embed/>
                  </p:oleObj>
                </mc:Choice>
                <mc:Fallback>
                  <p:oleObj r:id="rId3" imgW="1548728" imgH="266584" progId="Equation.3">
                    <p:embed/>
                    <p:pic>
                      <p:nvPicPr>
                        <p:cNvPr id="9218" name="Object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6" y="2352"/>
                          <a:ext cx="978" cy="16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9221" name="Rectangle 8"/>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Electron energy </a:t>
            </a:r>
            <a:r>
              <a:rPr lang="en-US" altLang="zh-TW" sz="2400" dirty="0">
                <a:solidFill>
                  <a:schemeClr val="bg2">
                    <a:lumMod val="40000"/>
                    <a:lumOff val="60000"/>
                  </a:schemeClr>
                </a:solidFill>
                <a:latin typeface="Georgia" panose="02040502050405020303" pitchFamily="18" charset="0"/>
                <a:ea typeface="新細明體" pitchFamily="18" charset="-120"/>
              </a:rPr>
              <a:t>analyzer-what to measure</a:t>
            </a:r>
          </a:p>
        </p:txBody>
      </p:sp>
      <p:sp>
        <p:nvSpPr>
          <p:cNvPr id="2" name="Slide Number Placeholder 1">
            <a:extLst>
              <a:ext uri="{FF2B5EF4-FFF2-40B4-BE49-F238E27FC236}">
                <a16:creationId xmlns:a16="http://schemas.microsoft.com/office/drawing/2014/main" id="{EAF35C48-C897-403E-AE4D-5D06974A7998}"/>
              </a:ext>
            </a:extLst>
          </p:cNvPr>
          <p:cNvSpPr>
            <a:spLocks noGrp="1"/>
          </p:cNvSpPr>
          <p:nvPr>
            <p:ph type="sldNum" sz="quarter" idx="11"/>
          </p:nvPr>
        </p:nvSpPr>
        <p:spPr/>
        <p:txBody>
          <a:bodyPr/>
          <a:lstStyle/>
          <a:p>
            <a:pPr>
              <a:defRPr/>
            </a:pPr>
            <a:fld id="{EBF73BDF-690D-4725-BA10-A7934ED52EAB}" type="slidenum">
              <a:rPr lang="zh-TW" altLang="en-US" smtClean="0"/>
              <a:pPr>
                <a:defRPr/>
              </a:pPr>
              <a:t>27</a:t>
            </a:fld>
            <a:endParaRPr lang="en-US" altLang="zh-TW"/>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4"/>
          <p:cNvSpPr>
            <a:spLocks noChangeArrowheads="1"/>
          </p:cNvSpPr>
          <p:nvPr/>
        </p:nvSpPr>
        <p:spPr bwMode="auto">
          <a:xfrm>
            <a:off x="673796" y="1055587"/>
            <a:ext cx="7543800" cy="1015663"/>
          </a:xfrm>
          <a:prstGeom prst="rect">
            <a:avLst/>
          </a:prstGeom>
          <a:noFill/>
          <a:ln w="9525">
            <a:noFill/>
            <a:miter lim="800000"/>
            <a:headEnd/>
            <a:tailEnd/>
          </a:ln>
        </p:spPr>
        <p:txBody>
          <a:bodyPr>
            <a:spAutoFit/>
          </a:bodyPr>
          <a:lstStyle/>
          <a:p>
            <a:pPr algn="just" eaLnBrk="1" hangingPunct="1"/>
            <a:r>
              <a:rPr lang="en-US" altLang="zh-TW" sz="2000" dirty="0">
                <a:latin typeface="Georgia" panose="02040502050405020303" pitchFamily="18" charset="0"/>
                <a:ea typeface="新細明體" pitchFamily="18" charset="-120"/>
              </a:rPr>
              <a:t>The basic of an electron spectrometer is to </a:t>
            </a:r>
            <a:r>
              <a:rPr lang="en-US" altLang="zh-TW" sz="2000" dirty="0">
                <a:solidFill>
                  <a:srgbClr val="006600"/>
                </a:solidFill>
                <a:latin typeface="Georgia" panose="02040502050405020303" pitchFamily="18" charset="0"/>
                <a:ea typeface="新細明體" pitchFamily="18" charset="-120"/>
              </a:rPr>
              <a:t>separate out only those electrons in a desired narrow band of energies </a:t>
            </a:r>
            <a:r>
              <a:rPr lang="en-US" altLang="zh-TW" sz="2000" dirty="0">
                <a:latin typeface="Georgia" panose="02040502050405020303" pitchFamily="18" charset="0"/>
                <a:ea typeface="新細明體" pitchFamily="18" charset="-120"/>
              </a:rPr>
              <a:t>from all other electrons  entering the spectrometer.</a:t>
            </a:r>
          </a:p>
        </p:txBody>
      </p:sp>
      <p:sp>
        <p:nvSpPr>
          <p:cNvPr id="32771" name="Text Box 7"/>
          <p:cNvSpPr txBox="1">
            <a:spLocks noChangeArrowheads="1"/>
          </p:cNvSpPr>
          <p:nvPr/>
        </p:nvSpPr>
        <p:spPr bwMode="auto">
          <a:xfrm>
            <a:off x="5241725" y="2408580"/>
            <a:ext cx="3331584" cy="3477875"/>
          </a:xfrm>
          <a:prstGeom prst="rect">
            <a:avLst/>
          </a:prstGeom>
          <a:noFill/>
          <a:ln w="9525">
            <a:noFill/>
            <a:miter lim="800000"/>
            <a:headEnd/>
            <a:tailEnd/>
          </a:ln>
        </p:spPr>
        <p:txBody>
          <a:bodyPr wrap="square">
            <a:spAutoFit/>
          </a:bodyPr>
          <a:lstStyle/>
          <a:p>
            <a:pPr marL="342900" indent="-342900" algn="just" eaLnBrk="1" hangingPunct="1">
              <a:buFont typeface="Arial" panose="020B0604020202020204" pitchFamily="34" charset="0"/>
              <a:buChar char="•"/>
            </a:pPr>
            <a:r>
              <a:rPr lang="en-US" altLang="zh-CN" sz="2000" dirty="0">
                <a:solidFill>
                  <a:schemeClr val="tx2"/>
                </a:solidFill>
                <a:latin typeface="Georgia" panose="02040502050405020303" pitchFamily="18" charset="0"/>
                <a:ea typeface="SimSun" pitchFamily="2" charset="-122"/>
              </a:rPr>
              <a:t>Photoelectrons comes out at </a:t>
            </a:r>
            <a:r>
              <a:rPr lang="en-US" altLang="zh-CN" sz="2000" dirty="0">
                <a:solidFill>
                  <a:srgbClr val="FF0000"/>
                </a:solidFill>
                <a:latin typeface="Georgia" panose="02040502050405020303" pitchFamily="18" charset="0"/>
                <a:ea typeface="SimSun" pitchFamily="2" charset="-122"/>
              </a:rPr>
              <a:t>different angles</a:t>
            </a:r>
            <a:r>
              <a:rPr lang="en-US" altLang="zh-CN" sz="2000" dirty="0">
                <a:solidFill>
                  <a:schemeClr val="tx2"/>
                </a:solidFill>
                <a:latin typeface="Georgia" panose="02040502050405020303" pitchFamily="18" charset="0"/>
                <a:ea typeface="SimSun" pitchFamily="2" charset="-122"/>
              </a:rPr>
              <a:t>, </a:t>
            </a:r>
            <a:r>
              <a:rPr lang="en-US" altLang="zh-CN" sz="2000" dirty="0">
                <a:solidFill>
                  <a:srgbClr val="7030A0"/>
                </a:solidFill>
                <a:latin typeface="Georgia" panose="02040502050405020303" pitchFamily="18" charset="0"/>
                <a:ea typeface="SimSun" pitchFamily="2" charset="-122"/>
              </a:rPr>
              <a:t>energies</a:t>
            </a:r>
            <a:r>
              <a:rPr lang="en-US" altLang="zh-CN" sz="2000" dirty="0">
                <a:solidFill>
                  <a:schemeClr val="tx2"/>
                </a:solidFill>
                <a:latin typeface="Georgia" panose="02040502050405020303" pitchFamily="18" charset="0"/>
                <a:ea typeface="SimSun" pitchFamily="2" charset="-122"/>
              </a:rPr>
              <a:t>; </a:t>
            </a:r>
            <a:r>
              <a:rPr lang="en-US" altLang="zh-TW" sz="2000" dirty="0">
                <a:solidFill>
                  <a:schemeClr val="tx2"/>
                </a:solidFill>
                <a:latin typeface="Georgia" panose="02040502050405020303" pitchFamily="18" charset="0"/>
                <a:ea typeface="新細明體" pitchFamily="18" charset="-120"/>
              </a:rPr>
              <a:t>an electron spectrometer is capable of directing, </a:t>
            </a:r>
            <a:r>
              <a:rPr lang="en-US" altLang="zh-TW" sz="2000" dirty="0">
                <a:solidFill>
                  <a:srgbClr val="FF0000"/>
                </a:solidFill>
                <a:latin typeface="Georgia" panose="02040502050405020303" pitchFamily="18" charset="0"/>
                <a:ea typeface="新細明體" pitchFamily="18" charset="-120"/>
              </a:rPr>
              <a:t>focusing</a:t>
            </a:r>
            <a:r>
              <a:rPr lang="en-US" altLang="zh-TW" sz="2000" dirty="0">
                <a:solidFill>
                  <a:schemeClr val="tx2"/>
                </a:solidFill>
                <a:latin typeface="Georgia" panose="02040502050405020303" pitchFamily="18" charset="0"/>
                <a:ea typeface="新細明體" pitchFamily="18" charset="-120"/>
              </a:rPr>
              <a:t> the photoelectrons.  </a:t>
            </a:r>
          </a:p>
          <a:p>
            <a:pPr marL="342900" indent="-342900" algn="just" eaLnBrk="1" hangingPunct="1">
              <a:buFont typeface="Arial" panose="020B0604020202020204" pitchFamily="34" charset="0"/>
              <a:buChar char="•"/>
            </a:pPr>
            <a:endParaRPr lang="en-US" altLang="zh-TW" sz="2000" dirty="0">
              <a:solidFill>
                <a:schemeClr val="tx2"/>
              </a:solidFill>
              <a:latin typeface="Georgia" panose="02040502050405020303" pitchFamily="18" charset="0"/>
              <a:ea typeface="新細明體" pitchFamily="18" charset="-120"/>
            </a:endParaRPr>
          </a:p>
          <a:p>
            <a:pPr marL="342900" indent="-342900" algn="just" eaLnBrk="1" hangingPunct="1">
              <a:buFont typeface="Arial" panose="020B0604020202020204" pitchFamily="34" charset="0"/>
              <a:buChar char="•"/>
            </a:pPr>
            <a:r>
              <a:rPr lang="en-US" altLang="zh-TW" sz="2000" dirty="0">
                <a:solidFill>
                  <a:schemeClr val="tx2"/>
                </a:solidFill>
                <a:latin typeface="Georgia" panose="02040502050405020303" pitchFamily="18" charset="0"/>
                <a:ea typeface="新細明體" pitchFamily="18" charset="-120"/>
              </a:rPr>
              <a:t>The electrons will be filtered, </a:t>
            </a:r>
            <a:r>
              <a:rPr lang="en-US" altLang="zh-TW" sz="2000" dirty="0">
                <a:solidFill>
                  <a:srgbClr val="7030A0"/>
                </a:solidFill>
                <a:latin typeface="Georgia" panose="02040502050405020303" pitchFamily="18" charset="0"/>
                <a:ea typeface="新細明體" pitchFamily="18" charset="-120"/>
              </a:rPr>
              <a:t>energy-selected</a:t>
            </a:r>
            <a:r>
              <a:rPr lang="en-US" altLang="zh-TW" sz="2000" dirty="0">
                <a:solidFill>
                  <a:schemeClr val="tx2"/>
                </a:solidFill>
                <a:latin typeface="Georgia" panose="02040502050405020303" pitchFamily="18" charset="0"/>
                <a:ea typeface="新細明體" pitchFamily="18" charset="-120"/>
              </a:rPr>
              <a:t> (or velocity-selected) by the spectrometer.</a:t>
            </a:r>
            <a:endParaRPr lang="en-US" altLang="zh-CN" sz="2000" dirty="0">
              <a:solidFill>
                <a:schemeClr val="tx2"/>
              </a:solidFill>
              <a:latin typeface="Georgia" panose="02040502050405020303" pitchFamily="18" charset="0"/>
              <a:ea typeface="SimSun" pitchFamily="2" charset="-122"/>
            </a:endParaRPr>
          </a:p>
        </p:txBody>
      </p:sp>
      <p:grpSp>
        <p:nvGrpSpPr>
          <p:cNvPr id="32772" name="Group 48"/>
          <p:cNvGrpSpPr>
            <a:grpSpLocks/>
          </p:cNvGrpSpPr>
          <p:nvPr/>
        </p:nvGrpSpPr>
        <p:grpSpPr bwMode="auto">
          <a:xfrm>
            <a:off x="381000" y="2514600"/>
            <a:ext cx="4800600" cy="3216275"/>
            <a:chOff x="528" y="1824"/>
            <a:chExt cx="2555" cy="1787"/>
          </a:xfrm>
        </p:grpSpPr>
        <p:grpSp>
          <p:nvGrpSpPr>
            <p:cNvPr id="32774" name="Group 9"/>
            <p:cNvGrpSpPr>
              <a:grpSpLocks noChangeAspect="1"/>
            </p:cNvGrpSpPr>
            <p:nvPr/>
          </p:nvGrpSpPr>
          <p:grpSpPr bwMode="auto">
            <a:xfrm>
              <a:off x="528" y="1824"/>
              <a:ext cx="2555" cy="1787"/>
              <a:chOff x="528" y="1824"/>
              <a:chExt cx="2555" cy="1787"/>
            </a:xfrm>
          </p:grpSpPr>
          <p:sp>
            <p:nvSpPr>
              <p:cNvPr id="32782" name="AutoShape 8"/>
              <p:cNvSpPr>
                <a:spLocks noChangeAspect="1" noChangeArrowheads="1" noTextEdit="1"/>
              </p:cNvSpPr>
              <p:nvPr/>
            </p:nvSpPr>
            <p:spPr bwMode="auto">
              <a:xfrm>
                <a:off x="528" y="1824"/>
                <a:ext cx="2555" cy="1787"/>
              </a:xfrm>
              <a:prstGeom prst="rect">
                <a:avLst/>
              </a:prstGeom>
              <a:noFill/>
              <a:ln w="9525">
                <a:noFill/>
                <a:miter lim="800000"/>
                <a:headEnd/>
                <a:tailEnd/>
              </a:ln>
            </p:spPr>
            <p:txBody>
              <a:bodyPr/>
              <a:lstStyle/>
              <a:p>
                <a:endParaRPr lang="en-US"/>
              </a:p>
            </p:txBody>
          </p:sp>
          <p:sp>
            <p:nvSpPr>
              <p:cNvPr id="32783" name="Freeform 10"/>
              <p:cNvSpPr>
                <a:spLocks/>
              </p:cNvSpPr>
              <p:nvPr/>
            </p:nvSpPr>
            <p:spPr bwMode="auto">
              <a:xfrm>
                <a:off x="538" y="1991"/>
                <a:ext cx="1055" cy="1013"/>
              </a:xfrm>
              <a:custGeom>
                <a:avLst/>
                <a:gdLst>
                  <a:gd name="T0" fmla="*/ 973 w 1055"/>
                  <a:gd name="T1" fmla="*/ 512 h 1013"/>
                  <a:gd name="T2" fmla="*/ 1055 w 1055"/>
                  <a:gd name="T3" fmla="*/ 754 h 1013"/>
                  <a:gd name="T4" fmla="*/ 840 w 1055"/>
                  <a:gd name="T5" fmla="*/ 1013 h 1013"/>
                  <a:gd name="T6" fmla="*/ 604 w 1055"/>
                  <a:gd name="T7" fmla="*/ 960 h 1013"/>
                  <a:gd name="T8" fmla="*/ 0 w 1055"/>
                  <a:gd name="T9" fmla="*/ 440 h 1013"/>
                  <a:gd name="T10" fmla="*/ 376 w 1055"/>
                  <a:gd name="T11" fmla="*/ 0 h 1013"/>
                  <a:gd name="T12" fmla="*/ 973 w 1055"/>
                  <a:gd name="T13" fmla="*/ 512 h 1013"/>
                  <a:gd name="T14" fmla="*/ 0 60000 65536"/>
                  <a:gd name="T15" fmla="*/ 0 60000 65536"/>
                  <a:gd name="T16" fmla="*/ 0 60000 65536"/>
                  <a:gd name="T17" fmla="*/ 0 60000 65536"/>
                  <a:gd name="T18" fmla="*/ 0 60000 65536"/>
                  <a:gd name="T19" fmla="*/ 0 60000 65536"/>
                  <a:gd name="T20" fmla="*/ 0 60000 65536"/>
                  <a:gd name="T21" fmla="*/ 0 w 1055"/>
                  <a:gd name="T22" fmla="*/ 0 h 1013"/>
                  <a:gd name="T23" fmla="*/ 1055 w 1055"/>
                  <a:gd name="T24" fmla="*/ 1013 h 1013"/>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55" h="1013">
                    <a:moveTo>
                      <a:pt x="973" y="512"/>
                    </a:moveTo>
                    <a:lnTo>
                      <a:pt x="1055" y="754"/>
                    </a:lnTo>
                    <a:lnTo>
                      <a:pt x="840" y="1013"/>
                    </a:lnTo>
                    <a:lnTo>
                      <a:pt x="604" y="960"/>
                    </a:lnTo>
                    <a:lnTo>
                      <a:pt x="0" y="440"/>
                    </a:lnTo>
                    <a:lnTo>
                      <a:pt x="376" y="0"/>
                    </a:lnTo>
                    <a:lnTo>
                      <a:pt x="973" y="512"/>
                    </a:lnTo>
                    <a:close/>
                  </a:path>
                </a:pathLst>
              </a:custGeom>
              <a:solidFill>
                <a:schemeClr val="bg2"/>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784" name="Rectangle 11"/>
              <p:cNvSpPr>
                <a:spLocks noChangeArrowheads="1"/>
              </p:cNvSpPr>
              <p:nvPr/>
            </p:nvSpPr>
            <p:spPr bwMode="auto">
              <a:xfrm rot="2520000">
                <a:off x="756" y="2358"/>
                <a:ext cx="642" cy="171"/>
              </a:xfrm>
              <a:prstGeom prst="rect">
                <a:avLst/>
              </a:prstGeom>
              <a:noFill/>
              <a:ln w="9525">
                <a:noFill/>
                <a:miter lim="800000"/>
                <a:headEnd/>
                <a:tailEnd/>
              </a:ln>
            </p:spPr>
            <p:txBody>
              <a:bodyPr wrap="none" lIns="0" tIns="0" rIns="0" bIns="0">
                <a:spAutoFit/>
              </a:bodyPr>
              <a:lstStyle/>
              <a:p>
                <a:r>
                  <a:rPr lang="en-US" altLang="zh-CN" sz="2000">
                    <a:solidFill>
                      <a:srgbClr val="FFFFFF"/>
                    </a:solidFill>
                    <a:latin typeface="Georgia" panose="02040502050405020303" pitchFamily="18" charset="0"/>
                    <a:ea typeface="SimSun" pitchFamily="2" charset="-122"/>
                  </a:rPr>
                  <a:t>X-ray tube</a:t>
                </a:r>
                <a:endParaRPr lang="en-US" altLang="zh-CN" sz="2000">
                  <a:latin typeface="Georgia" panose="02040502050405020303" pitchFamily="18" charset="0"/>
                  <a:ea typeface="SimSun" pitchFamily="2" charset="-122"/>
                </a:endParaRPr>
              </a:p>
            </p:txBody>
          </p:sp>
          <p:sp>
            <p:nvSpPr>
              <p:cNvPr id="32785" name="Rectangle 12"/>
              <p:cNvSpPr>
                <a:spLocks noChangeArrowheads="1"/>
              </p:cNvSpPr>
              <p:nvPr/>
            </p:nvSpPr>
            <p:spPr bwMode="auto">
              <a:xfrm>
                <a:off x="1334" y="3266"/>
                <a:ext cx="1605" cy="99"/>
              </a:xfrm>
              <a:prstGeom prst="rect">
                <a:avLst/>
              </a:prstGeom>
              <a:solidFill>
                <a:srgbClr val="FF3300"/>
              </a:solidFill>
              <a:ln w="9525">
                <a:noFill/>
                <a:miter lim="800000"/>
                <a:headEnd/>
                <a:tailEnd/>
              </a:ln>
            </p:spPr>
            <p:txBody>
              <a:bodyPr/>
              <a:lstStyle/>
              <a:p>
                <a:endParaRPr lang="zh-CN" altLang="zh-CN" sz="2000">
                  <a:latin typeface="Georgia" panose="02040502050405020303" pitchFamily="18" charset="0"/>
                  <a:ea typeface="SimSun" pitchFamily="2" charset="-122"/>
                </a:endParaRPr>
              </a:p>
            </p:txBody>
          </p:sp>
          <p:sp>
            <p:nvSpPr>
              <p:cNvPr id="32786" name="Freeform 13"/>
              <p:cNvSpPr>
                <a:spLocks/>
              </p:cNvSpPr>
              <p:nvPr/>
            </p:nvSpPr>
            <p:spPr bwMode="auto">
              <a:xfrm>
                <a:off x="1175" y="1834"/>
                <a:ext cx="1898" cy="787"/>
              </a:xfrm>
              <a:custGeom>
                <a:avLst/>
                <a:gdLst>
                  <a:gd name="T0" fmla="*/ 0 w 1898"/>
                  <a:gd name="T1" fmla="*/ 3 h 787"/>
                  <a:gd name="T2" fmla="*/ 656 w 1898"/>
                  <a:gd name="T3" fmla="*/ 787 h 787"/>
                  <a:gd name="T4" fmla="*/ 1273 w 1898"/>
                  <a:gd name="T5" fmla="*/ 787 h 787"/>
                  <a:gd name="T6" fmla="*/ 1898 w 1898"/>
                  <a:gd name="T7" fmla="*/ 0 h 787"/>
                  <a:gd name="T8" fmla="*/ 0 w 1898"/>
                  <a:gd name="T9" fmla="*/ 3 h 787"/>
                  <a:gd name="T10" fmla="*/ 0 60000 65536"/>
                  <a:gd name="T11" fmla="*/ 0 60000 65536"/>
                  <a:gd name="T12" fmla="*/ 0 60000 65536"/>
                  <a:gd name="T13" fmla="*/ 0 60000 65536"/>
                  <a:gd name="T14" fmla="*/ 0 60000 65536"/>
                  <a:gd name="T15" fmla="*/ 0 w 1898"/>
                  <a:gd name="T16" fmla="*/ 0 h 787"/>
                  <a:gd name="T17" fmla="*/ 1898 w 1898"/>
                  <a:gd name="T18" fmla="*/ 787 h 787"/>
                </a:gdLst>
                <a:ahLst/>
                <a:cxnLst>
                  <a:cxn ang="T10">
                    <a:pos x="T0" y="T1"/>
                  </a:cxn>
                  <a:cxn ang="T11">
                    <a:pos x="T2" y="T3"/>
                  </a:cxn>
                  <a:cxn ang="T12">
                    <a:pos x="T4" y="T5"/>
                  </a:cxn>
                  <a:cxn ang="T13">
                    <a:pos x="T6" y="T7"/>
                  </a:cxn>
                  <a:cxn ang="T14">
                    <a:pos x="T8" y="T9"/>
                  </a:cxn>
                </a:cxnLst>
                <a:rect l="T15" t="T16" r="T17" b="T18"/>
                <a:pathLst>
                  <a:path w="1898" h="787">
                    <a:moveTo>
                      <a:pt x="0" y="3"/>
                    </a:moveTo>
                    <a:lnTo>
                      <a:pt x="656" y="787"/>
                    </a:lnTo>
                    <a:lnTo>
                      <a:pt x="1273" y="787"/>
                    </a:lnTo>
                    <a:lnTo>
                      <a:pt x="1898" y="0"/>
                    </a:lnTo>
                    <a:lnTo>
                      <a:pt x="0" y="3"/>
                    </a:lnTo>
                    <a:close/>
                  </a:path>
                </a:pathLst>
              </a:custGeom>
              <a:solidFill>
                <a:srgbClr val="00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787" name="Rectangle 14"/>
              <p:cNvSpPr>
                <a:spLocks noChangeArrowheads="1"/>
              </p:cNvSpPr>
              <p:nvPr/>
            </p:nvSpPr>
            <p:spPr bwMode="auto">
              <a:xfrm>
                <a:off x="1613" y="2008"/>
                <a:ext cx="814" cy="171"/>
              </a:xfrm>
              <a:prstGeom prst="rect">
                <a:avLst/>
              </a:prstGeom>
              <a:noFill/>
              <a:ln w="9525">
                <a:noFill/>
                <a:miter lim="800000"/>
                <a:headEnd/>
                <a:tailEnd/>
              </a:ln>
            </p:spPr>
            <p:txBody>
              <a:bodyPr wrap="none" lIns="0" tIns="0" rIns="0" bIns="0">
                <a:spAutoFit/>
              </a:bodyPr>
              <a:lstStyle/>
              <a:p>
                <a:r>
                  <a:rPr lang="en-US" altLang="zh-CN" sz="2000">
                    <a:solidFill>
                      <a:srgbClr val="000000"/>
                    </a:solidFill>
                    <a:latin typeface="Georgia" panose="02040502050405020303" pitchFamily="18" charset="0"/>
                    <a:ea typeface="SimSun" pitchFamily="2" charset="-122"/>
                  </a:rPr>
                  <a:t>Spectrometer</a:t>
                </a:r>
                <a:endParaRPr lang="en-US" altLang="zh-CN" sz="2000">
                  <a:latin typeface="Georgia" panose="02040502050405020303" pitchFamily="18" charset="0"/>
                  <a:ea typeface="SimSun" pitchFamily="2" charset="-122"/>
                </a:endParaRPr>
              </a:p>
            </p:txBody>
          </p:sp>
          <p:sp>
            <p:nvSpPr>
              <p:cNvPr id="32788" name="Rectangle 15"/>
              <p:cNvSpPr>
                <a:spLocks noChangeArrowheads="1"/>
              </p:cNvSpPr>
              <p:nvPr/>
            </p:nvSpPr>
            <p:spPr bwMode="auto">
              <a:xfrm>
                <a:off x="1837" y="3388"/>
                <a:ext cx="449" cy="171"/>
              </a:xfrm>
              <a:prstGeom prst="rect">
                <a:avLst/>
              </a:prstGeom>
              <a:noFill/>
              <a:ln w="9525">
                <a:noFill/>
                <a:miter lim="800000"/>
                <a:headEnd/>
                <a:tailEnd/>
              </a:ln>
            </p:spPr>
            <p:txBody>
              <a:bodyPr wrap="none" lIns="0" tIns="0" rIns="0" bIns="0">
                <a:spAutoFit/>
              </a:bodyPr>
              <a:lstStyle/>
              <a:p>
                <a:r>
                  <a:rPr lang="en-US" altLang="zh-CN" sz="2000">
                    <a:solidFill>
                      <a:srgbClr val="FF3300"/>
                    </a:solidFill>
                    <a:latin typeface="Georgia" panose="02040502050405020303" pitchFamily="18" charset="0"/>
                    <a:ea typeface="SimSun" pitchFamily="2" charset="-122"/>
                  </a:rPr>
                  <a:t>Sample</a:t>
                </a:r>
              </a:p>
            </p:txBody>
          </p:sp>
          <p:sp>
            <p:nvSpPr>
              <p:cNvPr id="32789" name="Freeform 16"/>
              <p:cNvSpPr>
                <a:spLocks/>
              </p:cNvSpPr>
              <p:nvPr/>
            </p:nvSpPr>
            <p:spPr bwMode="auto">
              <a:xfrm>
                <a:off x="1639" y="2897"/>
                <a:ext cx="196" cy="303"/>
              </a:xfrm>
              <a:custGeom>
                <a:avLst/>
                <a:gdLst>
                  <a:gd name="T0" fmla="*/ 6 w 196"/>
                  <a:gd name="T1" fmla="*/ 4 h 303"/>
                  <a:gd name="T2" fmla="*/ 0 w 196"/>
                  <a:gd name="T3" fmla="*/ 8 h 303"/>
                  <a:gd name="T4" fmla="*/ 183 w 196"/>
                  <a:gd name="T5" fmla="*/ 303 h 303"/>
                  <a:gd name="T6" fmla="*/ 196 w 196"/>
                  <a:gd name="T7" fmla="*/ 294 h 303"/>
                  <a:gd name="T8" fmla="*/ 14 w 196"/>
                  <a:gd name="T9" fmla="*/ 0 h 303"/>
                  <a:gd name="T10" fmla="*/ 6 w 196"/>
                  <a:gd name="T11" fmla="*/ 4 h 303"/>
                  <a:gd name="T12" fmla="*/ 0 60000 65536"/>
                  <a:gd name="T13" fmla="*/ 0 60000 65536"/>
                  <a:gd name="T14" fmla="*/ 0 60000 65536"/>
                  <a:gd name="T15" fmla="*/ 0 60000 65536"/>
                  <a:gd name="T16" fmla="*/ 0 60000 65536"/>
                  <a:gd name="T17" fmla="*/ 0 60000 65536"/>
                  <a:gd name="T18" fmla="*/ 0 w 196"/>
                  <a:gd name="T19" fmla="*/ 0 h 303"/>
                  <a:gd name="T20" fmla="*/ 196 w 196"/>
                  <a:gd name="T21" fmla="*/ 303 h 303"/>
                </a:gdLst>
                <a:ahLst/>
                <a:cxnLst>
                  <a:cxn ang="T12">
                    <a:pos x="T0" y="T1"/>
                  </a:cxn>
                  <a:cxn ang="T13">
                    <a:pos x="T2" y="T3"/>
                  </a:cxn>
                  <a:cxn ang="T14">
                    <a:pos x="T4" y="T5"/>
                  </a:cxn>
                  <a:cxn ang="T15">
                    <a:pos x="T6" y="T7"/>
                  </a:cxn>
                  <a:cxn ang="T16">
                    <a:pos x="T8" y="T9"/>
                  </a:cxn>
                  <a:cxn ang="T17">
                    <a:pos x="T10" y="T11"/>
                  </a:cxn>
                </a:cxnLst>
                <a:rect l="T18" t="T19" r="T20" b="T21"/>
                <a:pathLst>
                  <a:path w="196" h="303">
                    <a:moveTo>
                      <a:pt x="6" y="4"/>
                    </a:moveTo>
                    <a:lnTo>
                      <a:pt x="0" y="8"/>
                    </a:lnTo>
                    <a:lnTo>
                      <a:pt x="183" y="303"/>
                    </a:lnTo>
                    <a:lnTo>
                      <a:pt x="196" y="294"/>
                    </a:lnTo>
                    <a:lnTo>
                      <a:pt x="14" y="0"/>
                    </a:lnTo>
                    <a:lnTo>
                      <a:pt x="6" y="4"/>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790" name="Freeform 17"/>
              <p:cNvSpPr>
                <a:spLocks/>
              </p:cNvSpPr>
              <p:nvPr/>
            </p:nvSpPr>
            <p:spPr bwMode="auto">
              <a:xfrm>
                <a:off x="1630" y="2884"/>
                <a:ext cx="17" cy="82"/>
              </a:xfrm>
              <a:custGeom>
                <a:avLst/>
                <a:gdLst>
                  <a:gd name="T0" fmla="*/ 13 w 17"/>
                  <a:gd name="T1" fmla="*/ 0 h 82"/>
                  <a:gd name="T2" fmla="*/ 2 w 17"/>
                  <a:gd name="T3" fmla="*/ 5 h 82"/>
                  <a:gd name="T4" fmla="*/ 0 w 17"/>
                  <a:gd name="T5" fmla="*/ 80 h 82"/>
                  <a:gd name="T6" fmla="*/ 15 w 17"/>
                  <a:gd name="T7" fmla="*/ 82 h 82"/>
                  <a:gd name="T8" fmla="*/ 17 w 17"/>
                  <a:gd name="T9" fmla="*/ 7 h 82"/>
                  <a:gd name="T10" fmla="*/ 6 w 17"/>
                  <a:gd name="T11" fmla="*/ 13 h 82"/>
                  <a:gd name="T12" fmla="*/ 13 w 17"/>
                  <a:gd name="T13" fmla="*/ 0 h 82"/>
                  <a:gd name="T14" fmla="*/ 0 60000 65536"/>
                  <a:gd name="T15" fmla="*/ 0 60000 65536"/>
                  <a:gd name="T16" fmla="*/ 0 60000 65536"/>
                  <a:gd name="T17" fmla="*/ 0 60000 65536"/>
                  <a:gd name="T18" fmla="*/ 0 60000 65536"/>
                  <a:gd name="T19" fmla="*/ 0 60000 65536"/>
                  <a:gd name="T20" fmla="*/ 0 60000 65536"/>
                  <a:gd name="T21" fmla="*/ 0 w 17"/>
                  <a:gd name="T22" fmla="*/ 0 h 82"/>
                  <a:gd name="T23" fmla="*/ 17 w 17"/>
                  <a:gd name="T24" fmla="*/ 82 h 82"/>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 h="82">
                    <a:moveTo>
                      <a:pt x="13" y="0"/>
                    </a:moveTo>
                    <a:lnTo>
                      <a:pt x="2" y="5"/>
                    </a:lnTo>
                    <a:lnTo>
                      <a:pt x="0" y="80"/>
                    </a:lnTo>
                    <a:lnTo>
                      <a:pt x="15" y="82"/>
                    </a:lnTo>
                    <a:lnTo>
                      <a:pt x="17" y="7"/>
                    </a:lnTo>
                    <a:lnTo>
                      <a:pt x="6" y="13"/>
                    </a:lnTo>
                    <a:lnTo>
                      <a:pt x="13" y="0"/>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791" name="Freeform 18"/>
              <p:cNvSpPr>
                <a:spLocks/>
              </p:cNvSpPr>
              <p:nvPr/>
            </p:nvSpPr>
            <p:spPr bwMode="auto">
              <a:xfrm>
                <a:off x="1632" y="2884"/>
                <a:ext cx="11" cy="7"/>
              </a:xfrm>
              <a:custGeom>
                <a:avLst/>
                <a:gdLst>
                  <a:gd name="T0" fmla="*/ 11 w 11"/>
                  <a:gd name="T1" fmla="*/ 0 h 7"/>
                  <a:gd name="T2" fmla="*/ 7 w 11"/>
                  <a:gd name="T3" fmla="*/ 7 h 7"/>
                  <a:gd name="T4" fmla="*/ 0 w 11"/>
                  <a:gd name="T5" fmla="*/ 5 h 7"/>
                  <a:gd name="T6" fmla="*/ 11 w 11"/>
                  <a:gd name="T7" fmla="*/ 0 h 7"/>
                  <a:gd name="T8" fmla="*/ 0 60000 65536"/>
                  <a:gd name="T9" fmla="*/ 0 60000 65536"/>
                  <a:gd name="T10" fmla="*/ 0 60000 65536"/>
                  <a:gd name="T11" fmla="*/ 0 60000 65536"/>
                  <a:gd name="T12" fmla="*/ 0 w 11"/>
                  <a:gd name="T13" fmla="*/ 0 h 7"/>
                  <a:gd name="T14" fmla="*/ 11 w 11"/>
                  <a:gd name="T15" fmla="*/ 7 h 7"/>
                </a:gdLst>
                <a:ahLst/>
                <a:cxnLst>
                  <a:cxn ang="T8">
                    <a:pos x="T0" y="T1"/>
                  </a:cxn>
                  <a:cxn ang="T9">
                    <a:pos x="T2" y="T3"/>
                  </a:cxn>
                  <a:cxn ang="T10">
                    <a:pos x="T4" y="T5"/>
                  </a:cxn>
                  <a:cxn ang="T11">
                    <a:pos x="T6" y="T7"/>
                  </a:cxn>
                </a:cxnLst>
                <a:rect l="T12" t="T13" r="T14" b="T15"/>
                <a:pathLst>
                  <a:path w="11" h="7">
                    <a:moveTo>
                      <a:pt x="11" y="0"/>
                    </a:moveTo>
                    <a:lnTo>
                      <a:pt x="7" y="7"/>
                    </a:lnTo>
                    <a:lnTo>
                      <a:pt x="0" y="5"/>
                    </a:lnTo>
                    <a:lnTo>
                      <a:pt x="11" y="0"/>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792" name="Freeform 19"/>
              <p:cNvSpPr>
                <a:spLocks/>
              </p:cNvSpPr>
              <p:nvPr/>
            </p:nvSpPr>
            <p:spPr bwMode="auto">
              <a:xfrm>
                <a:off x="1636" y="2884"/>
                <a:ext cx="74" cy="46"/>
              </a:xfrm>
              <a:custGeom>
                <a:avLst/>
                <a:gdLst>
                  <a:gd name="T0" fmla="*/ 71 w 74"/>
                  <a:gd name="T1" fmla="*/ 38 h 46"/>
                  <a:gd name="T2" fmla="*/ 74 w 74"/>
                  <a:gd name="T3" fmla="*/ 30 h 46"/>
                  <a:gd name="T4" fmla="*/ 7 w 74"/>
                  <a:gd name="T5" fmla="*/ 0 h 46"/>
                  <a:gd name="T6" fmla="*/ 0 w 74"/>
                  <a:gd name="T7" fmla="*/ 13 h 46"/>
                  <a:gd name="T8" fmla="*/ 67 w 74"/>
                  <a:gd name="T9" fmla="*/ 46 h 46"/>
                  <a:gd name="T10" fmla="*/ 71 w 74"/>
                  <a:gd name="T11" fmla="*/ 38 h 46"/>
                  <a:gd name="T12" fmla="*/ 0 60000 65536"/>
                  <a:gd name="T13" fmla="*/ 0 60000 65536"/>
                  <a:gd name="T14" fmla="*/ 0 60000 65536"/>
                  <a:gd name="T15" fmla="*/ 0 60000 65536"/>
                  <a:gd name="T16" fmla="*/ 0 60000 65536"/>
                  <a:gd name="T17" fmla="*/ 0 60000 65536"/>
                  <a:gd name="T18" fmla="*/ 0 w 74"/>
                  <a:gd name="T19" fmla="*/ 0 h 46"/>
                  <a:gd name="T20" fmla="*/ 74 w 74"/>
                  <a:gd name="T21" fmla="*/ 46 h 46"/>
                </a:gdLst>
                <a:ahLst/>
                <a:cxnLst>
                  <a:cxn ang="T12">
                    <a:pos x="T0" y="T1"/>
                  </a:cxn>
                  <a:cxn ang="T13">
                    <a:pos x="T2" y="T3"/>
                  </a:cxn>
                  <a:cxn ang="T14">
                    <a:pos x="T4" y="T5"/>
                  </a:cxn>
                  <a:cxn ang="T15">
                    <a:pos x="T6" y="T7"/>
                  </a:cxn>
                  <a:cxn ang="T16">
                    <a:pos x="T8" y="T9"/>
                  </a:cxn>
                  <a:cxn ang="T17">
                    <a:pos x="T10" y="T11"/>
                  </a:cxn>
                </a:cxnLst>
                <a:rect l="T18" t="T19" r="T20" b="T21"/>
                <a:pathLst>
                  <a:path w="74" h="46">
                    <a:moveTo>
                      <a:pt x="71" y="38"/>
                    </a:moveTo>
                    <a:lnTo>
                      <a:pt x="74" y="30"/>
                    </a:lnTo>
                    <a:lnTo>
                      <a:pt x="7" y="0"/>
                    </a:lnTo>
                    <a:lnTo>
                      <a:pt x="0" y="13"/>
                    </a:lnTo>
                    <a:lnTo>
                      <a:pt x="67" y="46"/>
                    </a:lnTo>
                    <a:lnTo>
                      <a:pt x="71" y="38"/>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793" name="Freeform 20"/>
              <p:cNvSpPr>
                <a:spLocks/>
              </p:cNvSpPr>
              <p:nvPr/>
            </p:nvSpPr>
            <p:spPr bwMode="auto">
              <a:xfrm>
                <a:off x="2338" y="2897"/>
                <a:ext cx="196" cy="303"/>
              </a:xfrm>
              <a:custGeom>
                <a:avLst/>
                <a:gdLst>
                  <a:gd name="T0" fmla="*/ 190 w 196"/>
                  <a:gd name="T1" fmla="*/ 4 h 303"/>
                  <a:gd name="T2" fmla="*/ 183 w 196"/>
                  <a:gd name="T3" fmla="*/ 0 h 303"/>
                  <a:gd name="T4" fmla="*/ 0 w 196"/>
                  <a:gd name="T5" fmla="*/ 294 h 303"/>
                  <a:gd name="T6" fmla="*/ 14 w 196"/>
                  <a:gd name="T7" fmla="*/ 303 h 303"/>
                  <a:gd name="T8" fmla="*/ 196 w 196"/>
                  <a:gd name="T9" fmla="*/ 8 h 303"/>
                  <a:gd name="T10" fmla="*/ 190 w 196"/>
                  <a:gd name="T11" fmla="*/ 4 h 303"/>
                  <a:gd name="T12" fmla="*/ 0 60000 65536"/>
                  <a:gd name="T13" fmla="*/ 0 60000 65536"/>
                  <a:gd name="T14" fmla="*/ 0 60000 65536"/>
                  <a:gd name="T15" fmla="*/ 0 60000 65536"/>
                  <a:gd name="T16" fmla="*/ 0 60000 65536"/>
                  <a:gd name="T17" fmla="*/ 0 60000 65536"/>
                  <a:gd name="T18" fmla="*/ 0 w 196"/>
                  <a:gd name="T19" fmla="*/ 0 h 303"/>
                  <a:gd name="T20" fmla="*/ 196 w 196"/>
                  <a:gd name="T21" fmla="*/ 303 h 303"/>
                </a:gdLst>
                <a:ahLst/>
                <a:cxnLst>
                  <a:cxn ang="T12">
                    <a:pos x="T0" y="T1"/>
                  </a:cxn>
                  <a:cxn ang="T13">
                    <a:pos x="T2" y="T3"/>
                  </a:cxn>
                  <a:cxn ang="T14">
                    <a:pos x="T4" y="T5"/>
                  </a:cxn>
                  <a:cxn ang="T15">
                    <a:pos x="T6" y="T7"/>
                  </a:cxn>
                  <a:cxn ang="T16">
                    <a:pos x="T8" y="T9"/>
                  </a:cxn>
                  <a:cxn ang="T17">
                    <a:pos x="T10" y="T11"/>
                  </a:cxn>
                </a:cxnLst>
                <a:rect l="T18" t="T19" r="T20" b="T21"/>
                <a:pathLst>
                  <a:path w="196" h="303">
                    <a:moveTo>
                      <a:pt x="190" y="4"/>
                    </a:moveTo>
                    <a:lnTo>
                      <a:pt x="183" y="0"/>
                    </a:lnTo>
                    <a:lnTo>
                      <a:pt x="0" y="294"/>
                    </a:lnTo>
                    <a:lnTo>
                      <a:pt x="14" y="303"/>
                    </a:lnTo>
                    <a:lnTo>
                      <a:pt x="196" y="8"/>
                    </a:lnTo>
                    <a:lnTo>
                      <a:pt x="190" y="4"/>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794" name="Freeform 21"/>
              <p:cNvSpPr>
                <a:spLocks/>
              </p:cNvSpPr>
              <p:nvPr/>
            </p:nvSpPr>
            <p:spPr bwMode="auto">
              <a:xfrm>
                <a:off x="2463" y="2884"/>
                <a:ext cx="79" cy="46"/>
              </a:xfrm>
              <a:custGeom>
                <a:avLst/>
                <a:gdLst>
                  <a:gd name="T0" fmla="*/ 79 w 79"/>
                  <a:gd name="T1" fmla="*/ 5 h 46"/>
                  <a:gd name="T2" fmla="*/ 67 w 79"/>
                  <a:gd name="T3" fmla="*/ 0 h 46"/>
                  <a:gd name="T4" fmla="*/ 0 w 79"/>
                  <a:gd name="T5" fmla="*/ 30 h 46"/>
                  <a:gd name="T6" fmla="*/ 8 w 79"/>
                  <a:gd name="T7" fmla="*/ 46 h 46"/>
                  <a:gd name="T8" fmla="*/ 75 w 79"/>
                  <a:gd name="T9" fmla="*/ 13 h 46"/>
                  <a:gd name="T10" fmla="*/ 63 w 79"/>
                  <a:gd name="T11" fmla="*/ 7 h 46"/>
                  <a:gd name="T12" fmla="*/ 79 w 79"/>
                  <a:gd name="T13" fmla="*/ 5 h 46"/>
                  <a:gd name="T14" fmla="*/ 0 60000 65536"/>
                  <a:gd name="T15" fmla="*/ 0 60000 65536"/>
                  <a:gd name="T16" fmla="*/ 0 60000 65536"/>
                  <a:gd name="T17" fmla="*/ 0 60000 65536"/>
                  <a:gd name="T18" fmla="*/ 0 60000 65536"/>
                  <a:gd name="T19" fmla="*/ 0 60000 65536"/>
                  <a:gd name="T20" fmla="*/ 0 60000 65536"/>
                  <a:gd name="T21" fmla="*/ 0 w 79"/>
                  <a:gd name="T22" fmla="*/ 0 h 46"/>
                  <a:gd name="T23" fmla="*/ 79 w 79"/>
                  <a:gd name="T24" fmla="*/ 46 h 4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79" h="46">
                    <a:moveTo>
                      <a:pt x="79" y="5"/>
                    </a:moveTo>
                    <a:lnTo>
                      <a:pt x="67" y="0"/>
                    </a:lnTo>
                    <a:lnTo>
                      <a:pt x="0" y="30"/>
                    </a:lnTo>
                    <a:lnTo>
                      <a:pt x="8" y="46"/>
                    </a:lnTo>
                    <a:lnTo>
                      <a:pt x="75" y="13"/>
                    </a:lnTo>
                    <a:lnTo>
                      <a:pt x="63" y="7"/>
                    </a:lnTo>
                    <a:lnTo>
                      <a:pt x="79" y="5"/>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795" name="Freeform 22"/>
              <p:cNvSpPr>
                <a:spLocks/>
              </p:cNvSpPr>
              <p:nvPr/>
            </p:nvSpPr>
            <p:spPr bwMode="auto">
              <a:xfrm>
                <a:off x="2530" y="2884"/>
                <a:ext cx="12" cy="7"/>
              </a:xfrm>
              <a:custGeom>
                <a:avLst/>
                <a:gdLst>
                  <a:gd name="T0" fmla="*/ 12 w 12"/>
                  <a:gd name="T1" fmla="*/ 5 h 7"/>
                  <a:gd name="T2" fmla="*/ 4 w 12"/>
                  <a:gd name="T3" fmla="*/ 7 h 7"/>
                  <a:gd name="T4" fmla="*/ 0 w 12"/>
                  <a:gd name="T5" fmla="*/ 0 h 7"/>
                  <a:gd name="T6" fmla="*/ 12 w 12"/>
                  <a:gd name="T7" fmla="*/ 5 h 7"/>
                  <a:gd name="T8" fmla="*/ 0 60000 65536"/>
                  <a:gd name="T9" fmla="*/ 0 60000 65536"/>
                  <a:gd name="T10" fmla="*/ 0 60000 65536"/>
                  <a:gd name="T11" fmla="*/ 0 60000 65536"/>
                  <a:gd name="T12" fmla="*/ 0 w 12"/>
                  <a:gd name="T13" fmla="*/ 0 h 7"/>
                  <a:gd name="T14" fmla="*/ 12 w 12"/>
                  <a:gd name="T15" fmla="*/ 7 h 7"/>
                </a:gdLst>
                <a:ahLst/>
                <a:cxnLst>
                  <a:cxn ang="T8">
                    <a:pos x="T0" y="T1"/>
                  </a:cxn>
                  <a:cxn ang="T9">
                    <a:pos x="T2" y="T3"/>
                  </a:cxn>
                  <a:cxn ang="T10">
                    <a:pos x="T4" y="T5"/>
                  </a:cxn>
                  <a:cxn ang="T11">
                    <a:pos x="T6" y="T7"/>
                  </a:cxn>
                </a:cxnLst>
                <a:rect l="T12" t="T13" r="T14" b="T15"/>
                <a:pathLst>
                  <a:path w="12" h="7">
                    <a:moveTo>
                      <a:pt x="12" y="5"/>
                    </a:moveTo>
                    <a:lnTo>
                      <a:pt x="4" y="7"/>
                    </a:lnTo>
                    <a:lnTo>
                      <a:pt x="0" y="0"/>
                    </a:lnTo>
                    <a:lnTo>
                      <a:pt x="12" y="5"/>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796" name="Freeform 23"/>
              <p:cNvSpPr>
                <a:spLocks/>
              </p:cNvSpPr>
              <p:nvPr/>
            </p:nvSpPr>
            <p:spPr bwMode="auto">
              <a:xfrm>
                <a:off x="2526" y="2889"/>
                <a:ext cx="18" cy="77"/>
              </a:xfrm>
              <a:custGeom>
                <a:avLst/>
                <a:gdLst>
                  <a:gd name="T0" fmla="*/ 10 w 18"/>
                  <a:gd name="T1" fmla="*/ 77 h 77"/>
                  <a:gd name="T2" fmla="*/ 18 w 18"/>
                  <a:gd name="T3" fmla="*/ 75 h 77"/>
                  <a:gd name="T4" fmla="*/ 16 w 18"/>
                  <a:gd name="T5" fmla="*/ 0 h 77"/>
                  <a:gd name="T6" fmla="*/ 0 w 18"/>
                  <a:gd name="T7" fmla="*/ 2 h 77"/>
                  <a:gd name="T8" fmla="*/ 2 w 18"/>
                  <a:gd name="T9" fmla="*/ 77 h 77"/>
                  <a:gd name="T10" fmla="*/ 10 w 18"/>
                  <a:gd name="T11" fmla="*/ 77 h 77"/>
                  <a:gd name="T12" fmla="*/ 0 60000 65536"/>
                  <a:gd name="T13" fmla="*/ 0 60000 65536"/>
                  <a:gd name="T14" fmla="*/ 0 60000 65536"/>
                  <a:gd name="T15" fmla="*/ 0 60000 65536"/>
                  <a:gd name="T16" fmla="*/ 0 60000 65536"/>
                  <a:gd name="T17" fmla="*/ 0 60000 65536"/>
                  <a:gd name="T18" fmla="*/ 0 w 18"/>
                  <a:gd name="T19" fmla="*/ 0 h 77"/>
                  <a:gd name="T20" fmla="*/ 18 w 18"/>
                  <a:gd name="T21" fmla="*/ 77 h 77"/>
                </a:gdLst>
                <a:ahLst/>
                <a:cxnLst>
                  <a:cxn ang="T12">
                    <a:pos x="T0" y="T1"/>
                  </a:cxn>
                  <a:cxn ang="T13">
                    <a:pos x="T2" y="T3"/>
                  </a:cxn>
                  <a:cxn ang="T14">
                    <a:pos x="T4" y="T5"/>
                  </a:cxn>
                  <a:cxn ang="T15">
                    <a:pos x="T6" y="T7"/>
                  </a:cxn>
                  <a:cxn ang="T16">
                    <a:pos x="T8" y="T9"/>
                  </a:cxn>
                  <a:cxn ang="T17">
                    <a:pos x="T10" y="T11"/>
                  </a:cxn>
                </a:cxnLst>
                <a:rect l="T18" t="T19" r="T20" b="T21"/>
                <a:pathLst>
                  <a:path w="18" h="77">
                    <a:moveTo>
                      <a:pt x="10" y="77"/>
                    </a:moveTo>
                    <a:lnTo>
                      <a:pt x="18" y="75"/>
                    </a:lnTo>
                    <a:lnTo>
                      <a:pt x="16" y="0"/>
                    </a:lnTo>
                    <a:lnTo>
                      <a:pt x="0" y="2"/>
                    </a:lnTo>
                    <a:lnTo>
                      <a:pt x="2" y="77"/>
                    </a:lnTo>
                    <a:lnTo>
                      <a:pt x="10" y="77"/>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797" name="Freeform 24"/>
              <p:cNvSpPr>
                <a:spLocks/>
              </p:cNvSpPr>
              <p:nvPr/>
            </p:nvSpPr>
            <p:spPr bwMode="auto">
              <a:xfrm>
                <a:off x="1845" y="2784"/>
                <a:ext cx="65" cy="412"/>
              </a:xfrm>
              <a:custGeom>
                <a:avLst/>
                <a:gdLst>
                  <a:gd name="T0" fmla="*/ 8 w 65"/>
                  <a:gd name="T1" fmla="*/ 0 h 412"/>
                  <a:gd name="T2" fmla="*/ 0 w 65"/>
                  <a:gd name="T3" fmla="*/ 2 h 412"/>
                  <a:gd name="T4" fmla="*/ 50 w 65"/>
                  <a:gd name="T5" fmla="*/ 412 h 412"/>
                  <a:gd name="T6" fmla="*/ 65 w 65"/>
                  <a:gd name="T7" fmla="*/ 410 h 412"/>
                  <a:gd name="T8" fmla="*/ 15 w 65"/>
                  <a:gd name="T9" fmla="*/ 0 h 412"/>
                  <a:gd name="T10" fmla="*/ 8 w 65"/>
                  <a:gd name="T11" fmla="*/ 0 h 412"/>
                  <a:gd name="T12" fmla="*/ 0 60000 65536"/>
                  <a:gd name="T13" fmla="*/ 0 60000 65536"/>
                  <a:gd name="T14" fmla="*/ 0 60000 65536"/>
                  <a:gd name="T15" fmla="*/ 0 60000 65536"/>
                  <a:gd name="T16" fmla="*/ 0 60000 65536"/>
                  <a:gd name="T17" fmla="*/ 0 60000 65536"/>
                  <a:gd name="T18" fmla="*/ 0 w 65"/>
                  <a:gd name="T19" fmla="*/ 0 h 412"/>
                  <a:gd name="T20" fmla="*/ 65 w 65"/>
                  <a:gd name="T21" fmla="*/ 412 h 412"/>
                </a:gdLst>
                <a:ahLst/>
                <a:cxnLst>
                  <a:cxn ang="T12">
                    <a:pos x="T0" y="T1"/>
                  </a:cxn>
                  <a:cxn ang="T13">
                    <a:pos x="T2" y="T3"/>
                  </a:cxn>
                  <a:cxn ang="T14">
                    <a:pos x="T4" y="T5"/>
                  </a:cxn>
                  <a:cxn ang="T15">
                    <a:pos x="T6" y="T7"/>
                  </a:cxn>
                  <a:cxn ang="T16">
                    <a:pos x="T8" y="T9"/>
                  </a:cxn>
                  <a:cxn ang="T17">
                    <a:pos x="T10" y="T11"/>
                  </a:cxn>
                </a:cxnLst>
                <a:rect l="T18" t="T19" r="T20" b="T21"/>
                <a:pathLst>
                  <a:path w="65" h="412">
                    <a:moveTo>
                      <a:pt x="8" y="0"/>
                    </a:moveTo>
                    <a:lnTo>
                      <a:pt x="0" y="2"/>
                    </a:lnTo>
                    <a:lnTo>
                      <a:pt x="50" y="412"/>
                    </a:lnTo>
                    <a:lnTo>
                      <a:pt x="65" y="410"/>
                    </a:lnTo>
                    <a:lnTo>
                      <a:pt x="15" y="0"/>
                    </a:lnTo>
                    <a:lnTo>
                      <a:pt x="8" y="0"/>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798" name="Freeform 25"/>
              <p:cNvSpPr>
                <a:spLocks/>
              </p:cNvSpPr>
              <p:nvPr/>
            </p:nvSpPr>
            <p:spPr bwMode="auto">
              <a:xfrm>
                <a:off x="1812" y="2766"/>
                <a:ext cx="46" cy="77"/>
              </a:xfrm>
              <a:custGeom>
                <a:avLst/>
                <a:gdLst>
                  <a:gd name="T0" fmla="*/ 46 w 46"/>
                  <a:gd name="T1" fmla="*/ 0 h 77"/>
                  <a:gd name="T2" fmla="*/ 33 w 46"/>
                  <a:gd name="T3" fmla="*/ 2 h 77"/>
                  <a:gd name="T4" fmla="*/ 0 w 46"/>
                  <a:gd name="T5" fmla="*/ 70 h 77"/>
                  <a:gd name="T6" fmla="*/ 14 w 46"/>
                  <a:gd name="T7" fmla="*/ 77 h 77"/>
                  <a:gd name="T8" fmla="*/ 46 w 46"/>
                  <a:gd name="T9" fmla="*/ 10 h 77"/>
                  <a:gd name="T10" fmla="*/ 33 w 46"/>
                  <a:gd name="T11" fmla="*/ 12 h 77"/>
                  <a:gd name="T12" fmla="*/ 46 w 46"/>
                  <a:gd name="T13" fmla="*/ 0 h 77"/>
                  <a:gd name="T14" fmla="*/ 0 60000 65536"/>
                  <a:gd name="T15" fmla="*/ 0 60000 65536"/>
                  <a:gd name="T16" fmla="*/ 0 60000 65536"/>
                  <a:gd name="T17" fmla="*/ 0 60000 65536"/>
                  <a:gd name="T18" fmla="*/ 0 60000 65536"/>
                  <a:gd name="T19" fmla="*/ 0 60000 65536"/>
                  <a:gd name="T20" fmla="*/ 0 60000 65536"/>
                  <a:gd name="T21" fmla="*/ 0 w 46"/>
                  <a:gd name="T22" fmla="*/ 0 h 77"/>
                  <a:gd name="T23" fmla="*/ 46 w 46"/>
                  <a:gd name="T24" fmla="*/ 77 h 7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46" h="77">
                    <a:moveTo>
                      <a:pt x="46" y="0"/>
                    </a:moveTo>
                    <a:lnTo>
                      <a:pt x="33" y="2"/>
                    </a:lnTo>
                    <a:lnTo>
                      <a:pt x="0" y="70"/>
                    </a:lnTo>
                    <a:lnTo>
                      <a:pt x="14" y="77"/>
                    </a:lnTo>
                    <a:lnTo>
                      <a:pt x="46" y="10"/>
                    </a:lnTo>
                    <a:lnTo>
                      <a:pt x="33" y="12"/>
                    </a:lnTo>
                    <a:lnTo>
                      <a:pt x="46" y="0"/>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799" name="Freeform 26"/>
              <p:cNvSpPr>
                <a:spLocks/>
              </p:cNvSpPr>
              <p:nvPr/>
            </p:nvSpPr>
            <p:spPr bwMode="auto">
              <a:xfrm>
                <a:off x="1845" y="2766"/>
                <a:ext cx="13" cy="6"/>
              </a:xfrm>
              <a:custGeom>
                <a:avLst/>
                <a:gdLst>
                  <a:gd name="T0" fmla="*/ 13 w 13"/>
                  <a:gd name="T1" fmla="*/ 0 h 6"/>
                  <a:gd name="T2" fmla="*/ 8 w 13"/>
                  <a:gd name="T3" fmla="*/ 6 h 6"/>
                  <a:gd name="T4" fmla="*/ 0 w 13"/>
                  <a:gd name="T5" fmla="*/ 2 h 6"/>
                  <a:gd name="T6" fmla="*/ 13 w 13"/>
                  <a:gd name="T7" fmla="*/ 0 h 6"/>
                  <a:gd name="T8" fmla="*/ 0 60000 65536"/>
                  <a:gd name="T9" fmla="*/ 0 60000 65536"/>
                  <a:gd name="T10" fmla="*/ 0 60000 65536"/>
                  <a:gd name="T11" fmla="*/ 0 60000 65536"/>
                  <a:gd name="T12" fmla="*/ 0 w 13"/>
                  <a:gd name="T13" fmla="*/ 0 h 6"/>
                  <a:gd name="T14" fmla="*/ 13 w 13"/>
                  <a:gd name="T15" fmla="*/ 6 h 6"/>
                </a:gdLst>
                <a:ahLst/>
                <a:cxnLst>
                  <a:cxn ang="T8">
                    <a:pos x="T0" y="T1"/>
                  </a:cxn>
                  <a:cxn ang="T9">
                    <a:pos x="T2" y="T3"/>
                  </a:cxn>
                  <a:cxn ang="T10">
                    <a:pos x="T4" y="T5"/>
                  </a:cxn>
                  <a:cxn ang="T11">
                    <a:pos x="T6" y="T7"/>
                  </a:cxn>
                </a:cxnLst>
                <a:rect l="T12" t="T13" r="T14" b="T15"/>
                <a:pathLst>
                  <a:path w="13" h="6">
                    <a:moveTo>
                      <a:pt x="13" y="0"/>
                    </a:moveTo>
                    <a:lnTo>
                      <a:pt x="8" y="6"/>
                    </a:lnTo>
                    <a:lnTo>
                      <a:pt x="0" y="2"/>
                    </a:lnTo>
                    <a:lnTo>
                      <a:pt x="13" y="0"/>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800" name="Freeform 27"/>
              <p:cNvSpPr>
                <a:spLocks/>
              </p:cNvSpPr>
              <p:nvPr/>
            </p:nvSpPr>
            <p:spPr bwMode="auto">
              <a:xfrm>
                <a:off x="1845" y="2766"/>
                <a:ext cx="61" cy="70"/>
              </a:xfrm>
              <a:custGeom>
                <a:avLst/>
                <a:gdLst>
                  <a:gd name="T0" fmla="*/ 56 w 61"/>
                  <a:gd name="T1" fmla="*/ 64 h 70"/>
                  <a:gd name="T2" fmla="*/ 61 w 61"/>
                  <a:gd name="T3" fmla="*/ 58 h 70"/>
                  <a:gd name="T4" fmla="*/ 13 w 61"/>
                  <a:gd name="T5" fmla="*/ 0 h 70"/>
                  <a:gd name="T6" fmla="*/ 0 w 61"/>
                  <a:gd name="T7" fmla="*/ 12 h 70"/>
                  <a:gd name="T8" fmla="*/ 48 w 61"/>
                  <a:gd name="T9" fmla="*/ 70 h 70"/>
                  <a:gd name="T10" fmla="*/ 56 w 61"/>
                  <a:gd name="T11" fmla="*/ 64 h 70"/>
                  <a:gd name="T12" fmla="*/ 0 60000 65536"/>
                  <a:gd name="T13" fmla="*/ 0 60000 65536"/>
                  <a:gd name="T14" fmla="*/ 0 60000 65536"/>
                  <a:gd name="T15" fmla="*/ 0 60000 65536"/>
                  <a:gd name="T16" fmla="*/ 0 60000 65536"/>
                  <a:gd name="T17" fmla="*/ 0 60000 65536"/>
                  <a:gd name="T18" fmla="*/ 0 w 61"/>
                  <a:gd name="T19" fmla="*/ 0 h 70"/>
                  <a:gd name="T20" fmla="*/ 61 w 61"/>
                  <a:gd name="T21" fmla="*/ 70 h 70"/>
                </a:gdLst>
                <a:ahLst/>
                <a:cxnLst>
                  <a:cxn ang="T12">
                    <a:pos x="T0" y="T1"/>
                  </a:cxn>
                  <a:cxn ang="T13">
                    <a:pos x="T2" y="T3"/>
                  </a:cxn>
                  <a:cxn ang="T14">
                    <a:pos x="T4" y="T5"/>
                  </a:cxn>
                  <a:cxn ang="T15">
                    <a:pos x="T6" y="T7"/>
                  </a:cxn>
                  <a:cxn ang="T16">
                    <a:pos x="T8" y="T9"/>
                  </a:cxn>
                  <a:cxn ang="T17">
                    <a:pos x="T10" y="T11"/>
                  </a:cxn>
                </a:cxnLst>
                <a:rect l="T18" t="T19" r="T20" b="T21"/>
                <a:pathLst>
                  <a:path w="61" h="70">
                    <a:moveTo>
                      <a:pt x="56" y="64"/>
                    </a:moveTo>
                    <a:lnTo>
                      <a:pt x="61" y="58"/>
                    </a:lnTo>
                    <a:lnTo>
                      <a:pt x="13" y="0"/>
                    </a:lnTo>
                    <a:lnTo>
                      <a:pt x="0" y="12"/>
                    </a:lnTo>
                    <a:lnTo>
                      <a:pt x="48" y="70"/>
                    </a:lnTo>
                    <a:lnTo>
                      <a:pt x="56" y="64"/>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801" name="Freeform 28"/>
              <p:cNvSpPr>
                <a:spLocks/>
              </p:cNvSpPr>
              <p:nvPr/>
            </p:nvSpPr>
            <p:spPr bwMode="auto">
              <a:xfrm>
                <a:off x="2263" y="2784"/>
                <a:ext cx="66" cy="412"/>
              </a:xfrm>
              <a:custGeom>
                <a:avLst/>
                <a:gdLst>
                  <a:gd name="T0" fmla="*/ 58 w 66"/>
                  <a:gd name="T1" fmla="*/ 0 h 412"/>
                  <a:gd name="T2" fmla="*/ 48 w 66"/>
                  <a:gd name="T3" fmla="*/ 0 h 412"/>
                  <a:gd name="T4" fmla="*/ 0 w 66"/>
                  <a:gd name="T5" fmla="*/ 410 h 412"/>
                  <a:gd name="T6" fmla="*/ 16 w 66"/>
                  <a:gd name="T7" fmla="*/ 412 h 412"/>
                  <a:gd name="T8" fmla="*/ 66 w 66"/>
                  <a:gd name="T9" fmla="*/ 2 h 412"/>
                  <a:gd name="T10" fmla="*/ 58 w 66"/>
                  <a:gd name="T11" fmla="*/ 0 h 412"/>
                  <a:gd name="T12" fmla="*/ 0 60000 65536"/>
                  <a:gd name="T13" fmla="*/ 0 60000 65536"/>
                  <a:gd name="T14" fmla="*/ 0 60000 65536"/>
                  <a:gd name="T15" fmla="*/ 0 60000 65536"/>
                  <a:gd name="T16" fmla="*/ 0 60000 65536"/>
                  <a:gd name="T17" fmla="*/ 0 60000 65536"/>
                  <a:gd name="T18" fmla="*/ 0 w 66"/>
                  <a:gd name="T19" fmla="*/ 0 h 412"/>
                  <a:gd name="T20" fmla="*/ 66 w 66"/>
                  <a:gd name="T21" fmla="*/ 412 h 412"/>
                </a:gdLst>
                <a:ahLst/>
                <a:cxnLst>
                  <a:cxn ang="T12">
                    <a:pos x="T0" y="T1"/>
                  </a:cxn>
                  <a:cxn ang="T13">
                    <a:pos x="T2" y="T3"/>
                  </a:cxn>
                  <a:cxn ang="T14">
                    <a:pos x="T4" y="T5"/>
                  </a:cxn>
                  <a:cxn ang="T15">
                    <a:pos x="T6" y="T7"/>
                  </a:cxn>
                  <a:cxn ang="T16">
                    <a:pos x="T8" y="T9"/>
                  </a:cxn>
                  <a:cxn ang="T17">
                    <a:pos x="T10" y="T11"/>
                  </a:cxn>
                </a:cxnLst>
                <a:rect l="T18" t="T19" r="T20" b="T21"/>
                <a:pathLst>
                  <a:path w="66" h="412">
                    <a:moveTo>
                      <a:pt x="58" y="0"/>
                    </a:moveTo>
                    <a:lnTo>
                      <a:pt x="48" y="0"/>
                    </a:lnTo>
                    <a:lnTo>
                      <a:pt x="0" y="410"/>
                    </a:lnTo>
                    <a:lnTo>
                      <a:pt x="16" y="412"/>
                    </a:lnTo>
                    <a:lnTo>
                      <a:pt x="66" y="2"/>
                    </a:lnTo>
                    <a:lnTo>
                      <a:pt x="58" y="0"/>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802" name="Freeform 29"/>
              <p:cNvSpPr>
                <a:spLocks/>
              </p:cNvSpPr>
              <p:nvPr/>
            </p:nvSpPr>
            <p:spPr bwMode="auto">
              <a:xfrm>
                <a:off x="2267" y="2766"/>
                <a:ext cx="62" cy="70"/>
              </a:xfrm>
              <a:custGeom>
                <a:avLst/>
                <a:gdLst>
                  <a:gd name="T0" fmla="*/ 62 w 62"/>
                  <a:gd name="T1" fmla="*/ 2 h 70"/>
                  <a:gd name="T2" fmla="*/ 48 w 62"/>
                  <a:gd name="T3" fmla="*/ 0 h 70"/>
                  <a:gd name="T4" fmla="*/ 0 w 62"/>
                  <a:gd name="T5" fmla="*/ 58 h 70"/>
                  <a:gd name="T6" fmla="*/ 12 w 62"/>
                  <a:gd name="T7" fmla="*/ 70 h 70"/>
                  <a:gd name="T8" fmla="*/ 62 w 62"/>
                  <a:gd name="T9" fmla="*/ 12 h 70"/>
                  <a:gd name="T10" fmla="*/ 48 w 62"/>
                  <a:gd name="T11" fmla="*/ 10 h 70"/>
                  <a:gd name="T12" fmla="*/ 62 w 62"/>
                  <a:gd name="T13" fmla="*/ 2 h 70"/>
                  <a:gd name="T14" fmla="*/ 0 60000 65536"/>
                  <a:gd name="T15" fmla="*/ 0 60000 65536"/>
                  <a:gd name="T16" fmla="*/ 0 60000 65536"/>
                  <a:gd name="T17" fmla="*/ 0 60000 65536"/>
                  <a:gd name="T18" fmla="*/ 0 60000 65536"/>
                  <a:gd name="T19" fmla="*/ 0 60000 65536"/>
                  <a:gd name="T20" fmla="*/ 0 60000 65536"/>
                  <a:gd name="T21" fmla="*/ 0 w 62"/>
                  <a:gd name="T22" fmla="*/ 0 h 70"/>
                  <a:gd name="T23" fmla="*/ 62 w 62"/>
                  <a:gd name="T24" fmla="*/ 70 h 70"/>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62" h="70">
                    <a:moveTo>
                      <a:pt x="62" y="2"/>
                    </a:moveTo>
                    <a:lnTo>
                      <a:pt x="48" y="0"/>
                    </a:lnTo>
                    <a:lnTo>
                      <a:pt x="0" y="58"/>
                    </a:lnTo>
                    <a:lnTo>
                      <a:pt x="12" y="70"/>
                    </a:lnTo>
                    <a:lnTo>
                      <a:pt x="62" y="12"/>
                    </a:lnTo>
                    <a:lnTo>
                      <a:pt x="48" y="10"/>
                    </a:lnTo>
                    <a:lnTo>
                      <a:pt x="62" y="2"/>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803" name="Freeform 30"/>
              <p:cNvSpPr>
                <a:spLocks/>
              </p:cNvSpPr>
              <p:nvPr/>
            </p:nvSpPr>
            <p:spPr bwMode="auto">
              <a:xfrm>
                <a:off x="2315" y="2766"/>
                <a:ext cx="14" cy="6"/>
              </a:xfrm>
              <a:custGeom>
                <a:avLst/>
                <a:gdLst>
                  <a:gd name="T0" fmla="*/ 14 w 14"/>
                  <a:gd name="T1" fmla="*/ 2 h 6"/>
                  <a:gd name="T2" fmla="*/ 6 w 14"/>
                  <a:gd name="T3" fmla="*/ 6 h 6"/>
                  <a:gd name="T4" fmla="*/ 0 w 14"/>
                  <a:gd name="T5" fmla="*/ 0 h 6"/>
                  <a:gd name="T6" fmla="*/ 14 w 14"/>
                  <a:gd name="T7" fmla="*/ 2 h 6"/>
                  <a:gd name="T8" fmla="*/ 0 60000 65536"/>
                  <a:gd name="T9" fmla="*/ 0 60000 65536"/>
                  <a:gd name="T10" fmla="*/ 0 60000 65536"/>
                  <a:gd name="T11" fmla="*/ 0 60000 65536"/>
                  <a:gd name="T12" fmla="*/ 0 w 14"/>
                  <a:gd name="T13" fmla="*/ 0 h 6"/>
                  <a:gd name="T14" fmla="*/ 14 w 14"/>
                  <a:gd name="T15" fmla="*/ 6 h 6"/>
                </a:gdLst>
                <a:ahLst/>
                <a:cxnLst>
                  <a:cxn ang="T8">
                    <a:pos x="T0" y="T1"/>
                  </a:cxn>
                  <a:cxn ang="T9">
                    <a:pos x="T2" y="T3"/>
                  </a:cxn>
                  <a:cxn ang="T10">
                    <a:pos x="T4" y="T5"/>
                  </a:cxn>
                  <a:cxn ang="T11">
                    <a:pos x="T6" y="T7"/>
                  </a:cxn>
                </a:cxnLst>
                <a:rect l="T12" t="T13" r="T14" b="T15"/>
                <a:pathLst>
                  <a:path w="14" h="6">
                    <a:moveTo>
                      <a:pt x="14" y="2"/>
                    </a:moveTo>
                    <a:lnTo>
                      <a:pt x="6" y="6"/>
                    </a:lnTo>
                    <a:lnTo>
                      <a:pt x="0" y="0"/>
                    </a:lnTo>
                    <a:lnTo>
                      <a:pt x="14" y="2"/>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804" name="Freeform 31"/>
              <p:cNvSpPr>
                <a:spLocks/>
              </p:cNvSpPr>
              <p:nvPr/>
            </p:nvSpPr>
            <p:spPr bwMode="auto">
              <a:xfrm>
                <a:off x="2315" y="2768"/>
                <a:ext cx="46" cy="75"/>
              </a:xfrm>
              <a:custGeom>
                <a:avLst/>
                <a:gdLst>
                  <a:gd name="T0" fmla="*/ 40 w 46"/>
                  <a:gd name="T1" fmla="*/ 71 h 75"/>
                  <a:gd name="T2" fmla="*/ 46 w 46"/>
                  <a:gd name="T3" fmla="*/ 68 h 75"/>
                  <a:gd name="T4" fmla="*/ 14 w 46"/>
                  <a:gd name="T5" fmla="*/ 0 h 75"/>
                  <a:gd name="T6" fmla="*/ 0 w 46"/>
                  <a:gd name="T7" fmla="*/ 8 h 75"/>
                  <a:gd name="T8" fmla="*/ 33 w 46"/>
                  <a:gd name="T9" fmla="*/ 75 h 75"/>
                  <a:gd name="T10" fmla="*/ 40 w 46"/>
                  <a:gd name="T11" fmla="*/ 71 h 75"/>
                  <a:gd name="T12" fmla="*/ 0 60000 65536"/>
                  <a:gd name="T13" fmla="*/ 0 60000 65536"/>
                  <a:gd name="T14" fmla="*/ 0 60000 65536"/>
                  <a:gd name="T15" fmla="*/ 0 60000 65536"/>
                  <a:gd name="T16" fmla="*/ 0 60000 65536"/>
                  <a:gd name="T17" fmla="*/ 0 60000 65536"/>
                  <a:gd name="T18" fmla="*/ 0 w 46"/>
                  <a:gd name="T19" fmla="*/ 0 h 75"/>
                  <a:gd name="T20" fmla="*/ 46 w 46"/>
                  <a:gd name="T21" fmla="*/ 75 h 75"/>
                </a:gdLst>
                <a:ahLst/>
                <a:cxnLst>
                  <a:cxn ang="T12">
                    <a:pos x="T0" y="T1"/>
                  </a:cxn>
                  <a:cxn ang="T13">
                    <a:pos x="T2" y="T3"/>
                  </a:cxn>
                  <a:cxn ang="T14">
                    <a:pos x="T4" y="T5"/>
                  </a:cxn>
                  <a:cxn ang="T15">
                    <a:pos x="T6" y="T7"/>
                  </a:cxn>
                  <a:cxn ang="T16">
                    <a:pos x="T8" y="T9"/>
                  </a:cxn>
                  <a:cxn ang="T17">
                    <a:pos x="T10" y="T11"/>
                  </a:cxn>
                </a:cxnLst>
                <a:rect l="T18" t="T19" r="T20" b="T21"/>
                <a:pathLst>
                  <a:path w="46" h="75">
                    <a:moveTo>
                      <a:pt x="40" y="71"/>
                    </a:moveTo>
                    <a:lnTo>
                      <a:pt x="46" y="68"/>
                    </a:lnTo>
                    <a:lnTo>
                      <a:pt x="14" y="0"/>
                    </a:lnTo>
                    <a:lnTo>
                      <a:pt x="0" y="8"/>
                    </a:lnTo>
                    <a:lnTo>
                      <a:pt x="33" y="75"/>
                    </a:lnTo>
                    <a:lnTo>
                      <a:pt x="40" y="71"/>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805" name="Freeform 32"/>
              <p:cNvSpPr>
                <a:spLocks/>
              </p:cNvSpPr>
              <p:nvPr/>
            </p:nvSpPr>
            <p:spPr bwMode="auto">
              <a:xfrm>
                <a:off x="2006" y="2724"/>
                <a:ext cx="17" cy="472"/>
              </a:xfrm>
              <a:custGeom>
                <a:avLst/>
                <a:gdLst>
                  <a:gd name="T0" fmla="*/ 8 w 17"/>
                  <a:gd name="T1" fmla="*/ 0 h 472"/>
                  <a:gd name="T2" fmla="*/ 0 w 17"/>
                  <a:gd name="T3" fmla="*/ 0 h 472"/>
                  <a:gd name="T4" fmla="*/ 0 w 17"/>
                  <a:gd name="T5" fmla="*/ 472 h 472"/>
                  <a:gd name="T6" fmla="*/ 17 w 17"/>
                  <a:gd name="T7" fmla="*/ 472 h 472"/>
                  <a:gd name="T8" fmla="*/ 17 w 17"/>
                  <a:gd name="T9" fmla="*/ 0 h 472"/>
                  <a:gd name="T10" fmla="*/ 8 w 17"/>
                  <a:gd name="T11" fmla="*/ 0 h 472"/>
                  <a:gd name="T12" fmla="*/ 0 60000 65536"/>
                  <a:gd name="T13" fmla="*/ 0 60000 65536"/>
                  <a:gd name="T14" fmla="*/ 0 60000 65536"/>
                  <a:gd name="T15" fmla="*/ 0 60000 65536"/>
                  <a:gd name="T16" fmla="*/ 0 60000 65536"/>
                  <a:gd name="T17" fmla="*/ 0 60000 65536"/>
                  <a:gd name="T18" fmla="*/ 0 w 17"/>
                  <a:gd name="T19" fmla="*/ 0 h 472"/>
                  <a:gd name="T20" fmla="*/ 17 w 17"/>
                  <a:gd name="T21" fmla="*/ 472 h 472"/>
                </a:gdLst>
                <a:ahLst/>
                <a:cxnLst>
                  <a:cxn ang="T12">
                    <a:pos x="T0" y="T1"/>
                  </a:cxn>
                  <a:cxn ang="T13">
                    <a:pos x="T2" y="T3"/>
                  </a:cxn>
                  <a:cxn ang="T14">
                    <a:pos x="T4" y="T5"/>
                  </a:cxn>
                  <a:cxn ang="T15">
                    <a:pos x="T6" y="T7"/>
                  </a:cxn>
                  <a:cxn ang="T16">
                    <a:pos x="T8" y="T9"/>
                  </a:cxn>
                  <a:cxn ang="T17">
                    <a:pos x="T10" y="T11"/>
                  </a:cxn>
                </a:cxnLst>
                <a:rect l="T18" t="T19" r="T20" b="T21"/>
                <a:pathLst>
                  <a:path w="17" h="472">
                    <a:moveTo>
                      <a:pt x="8" y="0"/>
                    </a:moveTo>
                    <a:lnTo>
                      <a:pt x="0" y="0"/>
                    </a:lnTo>
                    <a:lnTo>
                      <a:pt x="0" y="472"/>
                    </a:lnTo>
                    <a:lnTo>
                      <a:pt x="17" y="472"/>
                    </a:lnTo>
                    <a:lnTo>
                      <a:pt x="17" y="0"/>
                    </a:lnTo>
                    <a:lnTo>
                      <a:pt x="8" y="0"/>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806" name="Freeform 33"/>
              <p:cNvSpPr>
                <a:spLocks/>
              </p:cNvSpPr>
              <p:nvPr/>
            </p:nvSpPr>
            <p:spPr bwMode="auto">
              <a:xfrm>
                <a:off x="1968" y="2709"/>
                <a:ext cx="53" cy="71"/>
              </a:xfrm>
              <a:custGeom>
                <a:avLst/>
                <a:gdLst>
                  <a:gd name="T0" fmla="*/ 53 w 53"/>
                  <a:gd name="T1" fmla="*/ 0 h 71"/>
                  <a:gd name="T2" fmla="*/ 40 w 53"/>
                  <a:gd name="T3" fmla="*/ 0 h 71"/>
                  <a:gd name="T4" fmla="*/ 0 w 53"/>
                  <a:gd name="T5" fmla="*/ 63 h 71"/>
                  <a:gd name="T6" fmla="*/ 13 w 53"/>
                  <a:gd name="T7" fmla="*/ 71 h 71"/>
                  <a:gd name="T8" fmla="*/ 53 w 53"/>
                  <a:gd name="T9" fmla="*/ 8 h 71"/>
                  <a:gd name="T10" fmla="*/ 40 w 53"/>
                  <a:gd name="T11" fmla="*/ 8 h 71"/>
                  <a:gd name="T12" fmla="*/ 53 w 53"/>
                  <a:gd name="T13" fmla="*/ 0 h 71"/>
                  <a:gd name="T14" fmla="*/ 0 60000 65536"/>
                  <a:gd name="T15" fmla="*/ 0 60000 65536"/>
                  <a:gd name="T16" fmla="*/ 0 60000 65536"/>
                  <a:gd name="T17" fmla="*/ 0 60000 65536"/>
                  <a:gd name="T18" fmla="*/ 0 60000 65536"/>
                  <a:gd name="T19" fmla="*/ 0 60000 65536"/>
                  <a:gd name="T20" fmla="*/ 0 60000 65536"/>
                  <a:gd name="T21" fmla="*/ 0 w 53"/>
                  <a:gd name="T22" fmla="*/ 0 h 71"/>
                  <a:gd name="T23" fmla="*/ 53 w 53"/>
                  <a:gd name="T24" fmla="*/ 71 h 7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3" h="71">
                    <a:moveTo>
                      <a:pt x="53" y="0"/>
                    </a:moveTo>
                    <a:lnTo>
                      <a:pt x="40" y="0"/>
                    </a:lnTo>
                    <a:lnTo>
                      <a:pt x="0" y="63"/>
                    </a:lnTo>
                    <a:lnTo>
                      <a:pt x="13" y="71"/>
                    </a:lnTo>
                    <a:lnTo>
                      <a:pt x="53" y="8"/>
                    </a:lnTo>
                    <a:lnTo>
                      <a:pt x="40" y="8"/>
                    </a:lnTo>
                    <a:lnTo>
                      <a:pt x="53" y="0"/>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807" name="Freeform 34"/>
              <p:cNvSpPr>
                <a:spLocks/>
              </p:cNvSpPr>
              <p:nvPr/>
            </p:nvSpPr>
            <p:spPr bwMode="auto">
              <a:xfrm>
                <a:off x="2008" y="2709"/>
                <a:ext cx="13" cy="4"/>
              </a:xfrm>
              <a:custGeom>
                <a:avLst/>
                <a:gdLst>
                  <a:gd name="T0" fmla="*/ 13 w 13"/>
                  <a:gd name="T1" fmla="*/ 0 h 4"/>
                  <a:gd name="T2" fmla="*/ 6 w 13"/>
                  <a:gd name="T3" fmla="*/ 4 h 4"/>
                  <a:gd name="T4" fmla="*/ 0 w 13"/>
                  <a:gd name="T5" fmla="*/ 0 h 4"/>
                  <a:gd name="T6" fmla="*/ 13 w 13"/>
                  <a:gd name="T7" fmla="*/ 0 h 4"/>
                  <a:gd name="T8" fmla="*/ 0 60000 65536"/>
                  <a:gd name="T9" fmla="*/ 0 60000 65536"/>
                  <a:gd name="T10" fmla="*/ 0 60000 65536"/>
                  <a:gd name="T11" fmla="*/ 0 60000 65536"/>
                  <a:gd name="T12" fmla="*/ 0 w 13"/>
                  <a:gd name="T13" fmla="*/ 0 h 4"/>
                  <a:gd name="T14" fmla="*/ 13 w 13"/>
                  <a:gd name="T15" fmla="*/ 4 h 4"/>
                </a:gdLst>
                <a:ahLst/>
                <a:cxnLst>
                  <a:cxn ang="T8">
                    <a:pos x="T0" y="T1"/>
                  </a:cxn>
                  <a:cxn ang="T9">
                    <a:pos x="T2" y="T3"/>
                  </a:cxn>
                  <a:cxn ang="T10">
                    <a:pos x="T4" y="T5"/>
                  </a:cxn>
                  <a:cxn ang="T11">
                    <a:pos x="T6" y="T7"/>
                  </a:cxn>
                </a:cxnLst>
                <a:rect l="T12" t="T13" r="T14" b="T15"/>
                <a:pathLst>
                  <a:path w="13" h="4">
                    <a:moveTo>
                      <a:pt x="13" y="0"/>
                    </a:moveTo>
                    <a:lnTo>
                      <a:pt x="6" y="4"/>
                    </a:lnTo>
                    <a:lnTo>
                      <a:pt x="0" y="0"/>
                    </a:lnTo>
                    <a:lnTo>
                      <a:pt x="13" y="0"/>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808" name="Freeform 35"/>
              <p:cNvSpPr>
                <a:spLocks/>
              </p:cNvSpPr>
              <p:nvPr/>
            </p:nvSpPr>
            <p:spPr bwMode="auto">
              <a:xfrm>
                <a:off x="2008" y="2709"/>
                <a:ext cx="54" cy="71"/>
              </a:xfrm>
              <a:custGeom>
                <a:avLst/>
                <a:gdLst>
                  <a:gd name="T0" fmla="*/ 48 w 54"/>
                  <a:gd name="T1" fmla="*/ 67 h 71"/>
                  <a:gd name="T2" fmla="*/ 54 w 54"/>
                  <a:gd name="T3" fmla="*/ 63 h 71"/>
                  <a:gd name="T4" fmla="*/ 13 w 54"/>
                  <a:gd name="T5" fmla="*/ 0 h 71"/>
                  <a:gd name="T6" fmla="*/ 0 w 54"/>
                  <a:gd name="T7" fmla="*/ 8 h 71"/>
                  <a:gd name="T8" fmla="*/ 40 w 54"/>
                  <a:gd name="T9" fmla="*/ 71 h 71"/>
                  <a:gd name="T10" fmla="*/ 48 w 54"/>
                  <a:gd name="T11" fmla="*/ 67 h 71"/>
                  <a:gd name="T12" fmla="*/ 0 60000 65536"/>
                  <a:gd name="T13" fmla="*/ 0 60000 65536"/>
                  <a:gd name="T14" fmla="*/ 0 60000 65536"/>
                  <a:gd name="T15" fmla="*/ 0 60000 65536"/>
                  <a:gd name="T16" fmla="*/ 0 60000 65536"/>
                  <a:gd name="T17" fmla="*/ 0 60000 65536"/>
                  <a:gd name="T18" fmla="*/ 0 w 54"/>
                  <a:gd name="T19" fmla="*/ 0 h 71"/>
                  <a:gd name="T20" fmla="*/ 54 w 54"/>
                  <a:gd name="T21" fmla="*/ 71 h 71"/>
                </a:gdLst>
                <a:ahLst/>
                <a:cxnLst>
                  <a:cxn ang="T12">
                    <a:pos x="T0" y="T1"/>
                  </a:cxn>
                  <a:cxn ang="T13">
                    <a:pos x="T2" y="T3"/>
                  </a:cxn>
                  <a:cxn ang="T14">
                    <a:pos x="T4" y="T5"/>
                  </a:cxn>
                  <a:cxn ang="T15">
                    <a:pos x="T6" y="T7"/>
                  </a:cxn>
                  <a:cxn ang="T16">
                    <a:pos x="T8" y="T9"/>
                  </a:cxn>
                  <a:cxn ang="T17">
                    <a:pos x="T10" y="T11"/>
                  </a:cxn>
                </a:cxnLst>
                <a:rect l="T18" t="T19" r="T20" b="T21"/>
                <a:pathLst>
                  <a:path w="54" h="71">
                    <a:moveTo>
                      <a:pt x="48" y="67"/>
                    </a:moveTo>
                    <a:lnTo>
                      <a:pt x="54" y="63"/>
                    </a:lnTo>
                    <a:lnTo>
                      <a:pt x="13" y="0"/>
                    </a:lnTo>
                    <a:lnTo>
                      <a:pt x="0" y="8"/>
                    </a:lnTo>
                    <a:lnTo>
                      <a:pt x="40" y="71"/>
                    </a:lnTo>
                    <a:lnTo>
                      <a:pt x="48" y="67"/>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809" name="Freeform 36"/>
              <p:cNvSpPr>
                <a:spLocks/>
              </p:cNvSpPr>
              <p:nvPr/>
            </p:nvSpPr>
            <p:spPr bwMode="auto">
              <a:xfrm>
                <a:off x="2142" y="2724"/>
                <a:ext cx="18" cy="472"/>
              </a:xfrm>
              <a:custGeom>
                <a:avLst/>
                <a:gdLst>
                  <a:gd name="T0" fmla="*/ 10 w 18"/>
                  <a:gd name="T1" fmla="*/ 0 h 472"/>
                  <a:gd name="T2" fmla="*/ 0 w 18"/>
                  <a:gd name="T3" fmla="*/ 0 h 472"/>
                  <a:gd name="T4" fmla="*/ 0 w 18"/>
                  <a:gd name="T5" fmla="*/ 472 h 472"/>
                  <a:gd name="T6" fmla="*/ 18 w 18"/>
                  <a:gd name="T7" fmla="*/ 472 h 472"/>
                  <a:gd name="T8" fmla="*/ 18 w 18"/>
                  <a:gd name="T9" fmla="*/ 0 h 472"/>
                  <a:gd name="T10" fmla="*/ 10 w 18"/>
                  <a:gd name="T11" fmla="*/ 0 h 472"/>
                  <a:gd name="T12" fmla="*/ 0 60000 65536"/>
                  <a:gd name="T13" fmla="*/ 0 60000 65536"/>
                  <a:gd name="T14" fmla="*/ 0 60000 65536"/>
                  <a:gd name="T15" fmla="*/ 0 60000 65536"/>
                  <a:gd name="T16" fmla="*/ 0 60000 65536"/>
                  <a:gd name="T17" fmla="*/ 0 60000 65536"/>
                  <a:gd name="T18" fmla="*/ 0 w 18"/>
                  <a:gd name="T19" fmla="*/ 0 h 472"/>
                  <a:gd name="T20" fmla="*/ 18 w 18"/>
                  <a:gd name="T21" fmla="*/ 472 h 472"/>
                </a:gdLst>
                <a:ahLst/>
                <a:cxnLst>
                  <a:cxn ang="T12">
                    <a:pos x="T0" y="T1"/>
                  </a:cxn>
                  <a:cxn ang="T13">
                    <a:pos x="T2" y="T3"/>
                  </a:cxn>
                  <a:cxn ang="T14">
                    <a:pos x="T4" y="T5"/>
                  </a:cxn>
                  <a:cxn ang="T15">
                    <a:pos x="T6" y="T7"/>
                  </a:cxn>
                  <a:cxn ang="T16">
                    <a:pos x="T8" y="T9"/>
                  </a:cxn>
                  <a:cxn ang="T17">
                    <a:pos x="T10" y="T11"/>
                  </a:cxn>
                </a:cxnLst>
                <a:rect l="T18" t="T19" r="T20" b="T21"/>
                <a:pathLst>
                  <a:path w="18" h="472">
                    <a:moveTo>
                      <a:pt x="10" y="0"/>
                    </a:moveTo>
                    <a:lnTo>
                      <a:pt x="0" y="0"/>
                    </a:lnTo>
                    <a:lnTo>
                      <a:pt x="0" y="472"/>
                    </a:lnTo>
                    <a:lnTo>
                      <a:pt x="18" y="472"/>
                    </a:lnTo>
                    <a:lnTo>
                      <a:pt x="18" y="0"/>
                    </a:lnTo>
                    <a:lnTo>
                      <a:pt x="10" y="0"/>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810" name="Freeform 37"/>
              <p:cNvSpPr>
                <a:spLocks/>
              </p:cNvSpPr>
              <p:nvPr/>
            </p:nvSpPr>
            <p:spPr bwMode="auto">
              <a:xfrm>
                <a:off x="2104" y="2709"/>
                <a:ext cx="54" cy="71"/>
              </a:xfrm>
              <a:custGeom>
                <a:avLst/>
                <a:gdLst>
                  <a:gd name="T0" fmla="*/ 54 w 54"/>
                  <a:gd name="T1" fmla="*/ 0 h 71"/>
                  <a:gd name="T2" fmla="*/ 40 w 54"/>
                  <a:gd name="T3" fmla="*/ 0 h 71"/>
                  <a:gd name="T4" fmla="*/ 0 w 54"/>
                  <a:gd name="T5" fmla="*/ 63 h 71"/>
                  <a:gd name="T6" fmla="*/ 13 w 54"/>
                  <a:gd name="T7" fmla="*/ 71 h 71"/>
                  <a:gd name="T8" fmla="*/ 54 w 54"/>
                  <a:gd name="T9" fmla="*/ 8 h 71"/>
                  <a:gd name="T10" fmla="*/ 40 w 54"/>
                  <a:gd name="T11" fmla="*/ 8 h 71"/>
                  <a:gd name="T12" fmla="*/ 54 w 54"/>
                  <a:gd name="T13" fmla="*/ 0 h 71"/>
                  <a:gd name="T14" fmla="*/ 0 60000 65536"/>
                  <a:gd name="T15" fmla="*/ 0 60000 65536"/>
                  <a:gd name="T16" fmla="*/ 0 60000 65536"/>
                  <a:gd name="T17" fmla="*/ 0 60000 65536"/>
                  <a:gd name="T18" fmla="*/ 0 60000 65536"/>
                  <a:gd name="T19" fmla="*/ 0 60000 65536"/>
                  <a:gd name="T20" fmla="*/ 0 60000 65536"/>
                  <a:gd name="T21" fmla="*/ 0 w 54"/>
                  <a:gd name="T22" fmla="*/ 0 h 71"/>
                  <a:gd name="T23" fmla="*/ 54 w 54"/>
                  <a:gd name="T24" fmla="*/ 71 h 7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4" h="71">
                    <a:moveTo>
                      <a:pt x="54" y="0"/>
                    </a:moveTo>
                    <a:lnTo>
                      <a:pt x="40" y="0"/>
                    </a:lnTo>
                    <a:lnTo>
                      <a:pt x="0" y="63"/>
                    </a:lnTo>
                    <a:lnTo>
                      <a:pt x="13" y="71"/>
                    </a:lnTo>
                    <a:lnTo>
                      <a:pt x="54" y="8"/>
                    </a:lnTo>
                    <a:lnTo>
                      <a:pt x="40" y="8"/>
                    </a:lnTo>
                    <a:lnTo>
                      <a:pt x="54" y="0"/>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811" name="Freeform 38"/>
              <p:cNvSpPr>
                <a:spLocks/>
              </p:cNvSpPr>
              <p:nvPr/>
            </p:nvSpPr>
            <p:spPr bwMode="auto">
              <a:xfrm>
                <a:off x="2144" y="2709"/>
                <a:ext cx="14" cy="4"/>
              </a:xfrm>
              <a:custGeom>
                <a:avLst/>
                <a:gdLst>
                  <a:gd name="T0" fmla="*/ 14 w 14"/>
                  <a:gd name="T1" fmla="*/ 0 h 4"/>
                  <a:gd name="T2" fmla="*/ 8 w 14"/>
                  <a:gd name="T3" fmla="*/ 4 h 4"/>
                  <a:gd name="T4" fmla="*/ 0 w 14"/>
                  <a:gd name="T5" fmla="*/ 0 h 4"/>
                  <a:gd name="T6" fmla="*/ 14 w 14"/>
                  <a:gd name="T7" fmla="*/ 0 h 4"/>
                  <a:gd name="T8" fmla="*/ 0 60000 65536"/>
                  <a:gd name="T9" fmla="*/ 0 60000 65536"/>
                  <a:gd name="T10" fmla="*/ 0 60000 65536"/>
                  <a:gd name="T11" fmla="*/ 0 60000 65536"/>
                  <a:gd name="T12" fmla="*/ 0 w 14"/>
                  <a:gd name="T13" fmla="*/ 0 h 4"/>
                  <a:gd name="T14" fmla="*/ 14 w 14"/>
                  <a:gd name="T15" fmla="*/ 4 h 4"/>
                </a:gdLst>
                <a:ahLst/>
                <a:cxnLst>
                  <a:cxn ang="T8">
                    <a:pos x="T0" y="T1"/>
                  </a:cxn>
                  <a:cxn ang="T9">
                    <a:pos x="T2" y="T3"/>
                  </a:cxn>
                  <a:cxn ang="T10">
                    <a:pos x="T4" y="T5"/>
                  </a:cxn>
                  <a:cxn ang="T11">
                    <a:pos x="T6" y="T7"/>
                  </a:cxn>
                </a:cxnLst>
                <a:rect l="T12" t="T13" r="T14" b="T15"/>
                <a:pathLst>
                  <a:path w="14" h="4">
                    <a:moveTo>
                      <a:pt x="14" y="0"/>
                    </a:moveTo>
                    <a:lnTo>
                      <a:pt x="8" y="4"/>
                    </a:lnTo>
                    <a:lnTo>
                      <a:pt x="0" y="0"/>
                    </a:lnTo>
                    <a:lnTo>
                      <a:pt x="14" y="0"/>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sp>
            <p:nvSpPr>
              <p:cNvPr id="32812" name="Freeform 39"/>
              <p:cNvSpPr>
                <a:spLocks/>
              </p:cNvSpPr>
              <p:nvPr/>
            </p:nvSpPr>
            <p:spPr bwMode="auto">
              <a:xfrm>
                <a:off x="2144" y="2709"/>
                <a:ext cx="54" cy="71"/>
              </a:xfrm>
              <a:custGeom>
                <a:avLst/>
                <a:gdLst>
                  <a:gd name="T0" fmla="*/ 48 w 54"/>
                  <a:gd name="T1" fmla="*/ 67 h 71"/>
                  <a:gd name="T2" fmla="*/ 54 w 54"/>
                  <a:gd name="T3" fmla="*/ 63 h 71"/>
                  <a:gd name="T4" fmla="*/ 14 w 54"/>
                  <a:gd name="T5" fmla="*/ 0 h 71"/>
                  <a:gd name="T6" fmla="*/ 0 w 54"/>
                  <a:gd name="T7" fmla="*/ 8 h 71"/>
                  <a:gd name="T8" fmla="*/ 41 w 54"/>
                  <a:gd name="T9" fmla="*/ 71 h 71"/>
                  <a:gd name="T10" fmla="*/ 48 w 54"/>
                  <a:gd name="T11" fmla="*/ 67 h 71"/>
                  <a:gd name="T12" fmla="*/ 0 60000 65536"/>
                  <a:gd name="T13" fmla="*/ 0 60000 65536"/>
                  <a:gd name="T14" fmla="*/ 0 60000 65536"/>
                  <a:gd name="T15" fmla="*/ 0 60000 65536"/>
                  <a:gd name="T16" fmla="*/ 0 60000 65536"/>
                  <a:gd name="T17" fmla="*/ 0 60000 65536"/>
                  <a:gd name="T18" fmla="*/ 0 w 54"/>
                  <a:gd name="T19" fmla="*/ 0 h 71"/>
                  <a:gd name="T20" fmla="*/ 54 w 54"/>
                  <a:gd name="T21" fmla="*/ 71 h 71"/>
                </a:gdLst>
                <a:ahLst/>
                <a:cxnLst>
                  <a:cxn ang="T12">
                    <a:pos x="T0" y="T1"/>
                  </a:cxn>
                  <a:cxn ang="T13">
                    <a:pos x="T2" y="T3"/>
                  </a:cxn>
                  <a:cxn ang="T14">
                    <a:pos x="T4" y="T5"/>
                  </a:cxn>
                  <a:cxn ang="T15">
                    <a:pos x="T6" y="T7"/>
                  </a:cxn>
                  <a:cxn ang="T16">
                    <a:pos x="T8" y="T9"/>
                  </a:cxn>
                  <a:cxn ang="T17">
                    <a:pos x="T10" y="T11"/>
                  </a:cxn>
                </a:cxnLst>
                <a:rect l="T18" t="T19" r="T20" b="T21"/>
                <a:pathLst>
                  <a:path w="54" h="71">
                    <a:moveTo>
                      <a:pt x="48" y="67"/>
                    </a:moveTo>
                    <a:lnTo>
                      <a:pt x="54" y="63"/>
                    </a:lnTo>
                    <a:lnTo>
                      <a:pt x="14" y="0"/>
                    </a:lnTo>
                    <a:lnTo>
                      <a:pt x="0" y="8"/>
                    </a:lnTo>
                    <a:lnTo>
                      <a:pt x="41" y="71"/>
                    </a:lnTo>
                    <a:lnTo>
                      <a:pt x="48" y="67"/>
                    </a:lnTo>
                    <a:close/>
                  </a:path>
                </a:pathLst>
              </a:custGeom>
              <a:solidFill>
                <a:srgbClr val="FFFFFF"/>
              </a:solidFill>
              <a:ln w="9525">
                <a:noFill/>
                <a:round/>
                <a:headEnd/>
                <a:tailEnd/>
              </a:ln>
            </p:spPr>
            <p:txBody>
              <a:bodyPr/>
              <a:lstStyle/>
              <a:p>
                <a:endParaRPr lang="zh-CN" altLang="en-US" sz="2000">
                  <a:latin typeface="Georgia" panose="02040502050405020303" pitchFamily="18" charset="0"/>
                  <a:ea typeface="SimSun" pitchFamily="2" charset="-122"/>
                </a:endParaRPr>
              </a:p>
            </p:txBody>
          </p:sp>
        </p:grpSp>
        <p:sp>
          <p:nvSpPr>
            <p:cNvPr id="32775" name="Line 40"/>
            <p:cNvSpPr>
              <a:spLocks noChangeShapeType="1"/>
            </p:cNvSpPr>
            <p:nvPr/>
          </p:nvSpPr>
          <p:spPr bwMode="auto">
            <a:xfrm flipH="1" flipV="1">
              <a:off x="1680" y="2832"/>
              <a:ext cx="96" cy="384"/>
            </a:xfrm>
            <a:prstGeom prst="line">
              <a:avLst/>
            </a:prstGeom>
            <a:noFill/>
            <a:ln w="9525">
              <a:solidFill>
                <a:schemeClr val="tx1"/>
              </a:solidFill>
              <a:round/>
              <a:headEnd/>
              <a:tailEnd type="triangle" w="med" len="med"/>
            </a:ln>
          </p:spPr>
          <p:txBody>
            <a:bodyPr/>
            <a:lstStyle/>
            <a:p>
              <a:endParaRPr lang="en-US" sz="2000">
                <a:latin typeface="Georgia" panose="02040502050405020303" pitchFamily="18" charset="0"/>
              </a:endParaRPr>
            </a:p>
          </p:txBody>
        </p:sp>
        <p:sp>
          <p:nvSpPr>
            <p:cNvPr id="32776" name="Line 42"/>
            <p:cNvSpPr>
              <a:spLocks noChangeShapeType="1"/>
            </p:cNvSpPr>
            <p:nvPr/>
          </p:nvSpPr>
          <p:spPr bwMode="auto">
            <a:xfrm flipV="1">
              <a:off x="1872" y="2736"/>
              <a:ext cx="0" cy="432"/>
            </a:xfrm>
            <a:prstGeom prst="line">
              <a:avLst/>
            </a:prstGeom>
            <a:noFill/>
            <a:ln w="9525">
              <a:solidFill>
                <a:schemeClr val="tx1"/>
              </a:solidFill>
              <a:round/>
              <a:headEnd/>
              <a:tailEnd type="triangle" w="med" len="med"/>
            </a:ln>
          </p:spPr>
          <p:txBody>
            <a:bodyPr/>
            <a:lstStyle/>
            <a:p>
              <a:endParaRPr lang="en-US" sz="2000">
                <a:latin typeface="Georgia" panose="02040502050405020303" pitchFamily="18" charset="0"/>
              </a:endParaRPr>
            </a:p>
          </p:txBody>
        </p:sp>
        <p:sp>
          <p:nvSpPr>
            <p:cNvPr id="32777" name="Line 43"/>
            <p:cNvSpPr>
              <a:spLocks noChangeShapeType="1"/>
            </p:cNvSpPr>
            <p:nvPr/>
          </p:nvSpPr>
          <p:spPr bwMode="auto">
            <a:xfrm flipV="1">
              <a:off x="2016" y="2736"/>
              <a:ext cx="0" cy="432"/>
            </a:xfrm>
            <a:prstGeom prst="line">
              <a:avLst/>
            </a:prstGeom>
            <a:noFill/>
            <a:ln w="9525">
              <a:solidFill>
                <a:schemeClr val="tx1"/>
              </a:solidFill>
              <a:round/>
              <a:headEnd/>
              <a:tailEnd type="triangle" w="med" len="med"/>
            </a:ln>
          </p:spPr>
          <p:txBody>
            <a:bodyPr/>
            <a:lstStyle/>
            <a:p>
              <a:endParaRPr lang="en-US" sz="2000">
                <a:latin typeface="Georgia" panose="02040502050405020303" pitchFamily="18" charset="0"/>
              </a:endParaRPr>
            </a:p>
          </p:txBody>
        </p:sp>
        <p:grpSp>
          <p:nvGrpSpPr>
            <p:cNvPr id="32778" name="Group 47"/>
            <p:cNvGrpSpPr>
              <a:grpSpLocks/>
            </p:cNvGrpSpPr>
            <p:nvPr/>
          </p:nvGrpSpPr>
          <p:grpSpPr bwMode="auto">
            <a:xfrm flipH="1">
              <a:off x="2160" y="2736"/>
              <a:ext cx="336" cy="480"/>
              <a:chOff x="1776" y="2832"/>
              <a:chExt cx="336" cy="480"/>
            </a:xfrm>
          </p:grpSpPr>
          <p:sp>
            <p:nvSpPr>
              <p:cNvPr id="32779" name="Line 44"/>
              <p:cNvSpPr>
                <a:spLocks noChangeShapeType="1"/>
              </p:cNvSpPr>
              <p:nvPr/>
            </p:nvSpPr>
            <p:spPr bwMode="auto">
              <a:xfrm flipH="1" flipV="1">
                <a:off x="1776" y="2928"/>
                <a:ext cx="96" cy="384"/>
              </a:xfrm>
              <a:prstGeom prst="line">
                <a:avLst/>
              </a:prstGeom>
              <a:noFill/>
              <a:ln w="9525">
                <a:solidFill>
                  <a:schemeClr val="tx1"/>
                </a:solidFill>
                <a:round/>
                <a:headEnd/>
                <a:tailEnd type="triangle" w="med" len="med"/>
              </a:ln>
            </p:spPr>
            <p:txBody>
              <a:bodyPr/>
              <a:lstStyle/>
              <a:p>
                <a:endParaRPr lang="en-US" sz="2000">
                  <a:latin typeface="Georgia" panose="02040502050405020303" pitchFamily="18" charset="0"/>
                </a:endParaRPr>
              </a:p>
            </p:txBody>
          </p:sp>
          <p:sp>
            <p:nvSpPr>
              <p:cNvPr id="32780" name="Line 45"/>
              <p:cNvSpPr>
                <a:spLocks noChangeShapeType="1"/>
              </p:cNvSpPr>
              <p:nvPr/>
            </p:nvSpPr>
            <p:spPr bwMode="auto">
              <a:xfrm flipV="1">
                <a:off x="1968" y="2832"/>
                <a:ext cx="0" cy="432"/>
              </a:xfrm>
              <a:prstGeom prst="line">
                <a:avLst/>
              </a:prstGeom>
              <a:noFill/>
              <a:ln w="9525">
                <a:solidFill>
                  <a:schemeClr val="tx1"/>
                </a:solidFill>
                <a:round/>
                <a:headEnd/>
                <a:tailEnd type="triangle" w="med" len="med"/>
              </a:ln>
            </p:spPr>
            <p:txBody>
              <a:bodyPr/>
              <a:lstStyle/>
              <a:p>
                <a:endParaRPr lang="en-US" sz="2000">
                  <a:latin typeface="Georgia" panose="02040502050405020303" pitchFamily="18" charset="0"/>
                </a:endParaRPr>
              </a:p>
            </p:txBody>
          </p:sp>
          <p:sp>
            <p:nvSpPr>
              <p:cNvPr id="32781" name="Line 46"/>
              <p:cNvSpPr>
                <a:spLocks noChangeShapeType="1"/>
              </p:cNvSpPr>
              <p:nvPr/>
            </p:nvSpPr>
            <p:spPr bwMode="auto">
              <a:xfrm flipV="1">
                <a:off x="2112" y="2832"/>
                <a:ext cx="0" cy="432"/>
              </a:xfrm>
              <a:prstGeom prst="line">
                <a:avLst/>
              </a:prstGeom>
              <a:noFill/>
              <a:ln w="9525">
                <a:solidFill>
                  <a:schemeClr val="tx1"/>
                </a:solidFill>
                <a:round/>
                <a:headEnd/>
                <a:tailEnd type="triangle" w="med" len="med"/>
              </a:ln>
            </p:spPr>
            <p:txBody>
              <a:bodyPr/>
              <a:lstStyle/>
              <a:p>
                <a:endParaRPr lang="en-US" sz="2000">
                  <a:latin typeface="Georgia" panose="02040502050405020303" pitchFamily="18" charset="0"/>
                </a:endParaRPr>
              </a:p>
            </p:txBody>
          </p:sp>
        </p:grpSp>
      </p:grpSp>
      <p:sp>
        <p:nvSpPr>
          <p:cNvPr id="32773" name="Rectangle 49"/>
          <p:cNvSpPr>
            <a:spLocks noChangeArrowheads="1"/>
          </p:cNvSpPr>
          <p:nvPr/>
        </p:nvSpPr>
        <p:spPr bwMode="auto">
          <a:xfrm>
            <a:off x="609600" y="205972"/>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Electron energy analyzer-function</a:t>
            </a:r>
          </a:p>
        </p:txBody>
      </p:sp>
      <p:sp>
        <p:nvSpPr>
          <p:cNvPr id="2" name="Slide Number Placeholder 1">
            <a:extLst>
              <a:ext uri="{FF2B5EF4-FFF2-40B4-BE49-F238E27FC236}">
                <a16:creationId xmlns:a16="http://schemas.microsoft.com/office/drawing/2014/main" id="{28D14F5A-0FA4-43E6-81E5-3CE2A582DB9C}"/>
              </a:ext>
            </a:extLst>
          </p:cNvPr>
          <p:cNvSpPr>
            <a:spLocks noGrp="1"/>
          </p:cNvSpPr>
          <p:nvPr>
            <p:ph type="sldNum" sz="quarter" idx="11"/>
          </p:nvPr>
        </p:nvSpPr>
        <p:spPr/>
        <p:txBody>
          <a:bodyPr/>
          <a:lstStyle/>
          <a:p>
            <a:pPr>
              <a:defRPr/>
            </a:pPr>
            <a:fld id="{EBF73BDF-690D-4725-BA10-A7934ED52EAB}" type="slidenum">
              <a:rPr lang="zh-TW" altLang="en-US" smtClean="0"/>
              <a:pPr>
                <a:defRPr/>
              </a:pPr>
              <a:t>28</a:t>
            </a:fld>
            <a:endParaRPr lang="en-US" altLang="zh-TW"/>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Rectangle 4"/>
          <p:cNvSpPr>
            <a:spLocks noChangeArrowheads="1"/>
          </p:cNvSpPr>
          <p:nvPr/>
        </p:nvSpPr>
        <p:spPr bwMode="auto">
          <a:xfrm>
            <a:off x="990600" y="878334"/>
            <a:ext cx="6934200" cy="461665"/>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Energy resolution</a:t>
            </a:r>
          </a:p>
        </p:txBody>
      </p:sp>
      <p:sp>
        <p:nvSpPr>
          <p:cNvPr id="10245" name="Text Box 5"/>
          <p:cNvSpPr txBox="1">
            <a:spLocks noChangeArrowheads="1"/>
          </p:cNvSpPr>
          <p:nvPr/>
        </p:nvSpPr>
        <p:spPr bwMode="auto">
          <a:xfrm>
            <a:off x="4661888" y="1424266"/>
            <a:ext cx="4184710" cy="4708981"/>
          </a:xfrm>
          <a:prstGeom prst="rect">
            <a:avLst/>
          </a:prstGeom>
          <a:noFill/>
          <a:ln w="9525">
            <a:noFill/>
            <a:miter lim="800000"/>
            <a:headEnd/>
            <a:tailEnd/>
          </a:ln>
        </p:spPr>
        <p:txBody>
          <a:bodyPr wrap="square">
            <a:spAutoFit/>
          </a:bodyPr>
          <a:lstStyle/>
          <a:p>
            <a:pPr marL="168275" indent="-168275" eaLnBrk="1" hangingPunct="1"/>
            <a:r>
              <a:rPr lang="en-US" altLang="zh-TW" sz="2000" b="1" i="1" dirty="0">
                <a:solidFill>
                  <a:srgbClr val="006600"/>
                </a:solidFill>
                <a:latin typeface="Georgia" panose="02040502050405020303" pitchFamily="18" charset="0"/>
                <a:ea typeface="新細明體" pitchFamily="18" charset="-120"/>
              </a:rPr>
              <a:t>Absolute</a:t>
            </a:r>
            <a:r>
              <a:rPr lang="en-US" altLang="zh-TW" sz="2000" dirty="0">
                <a:latin typeface="Georgia" panose="02040502050405020303" pitchFamily="18" charset="0"/>
                <a:ea typeface="新細明體" pitchFamily="18" charset="-120"/>
              </a:rPr>
              <a:t> resolution is defined either as the full width at half-maximum (FWHM) height of a chosen measured peak or as the base width of such a peak.</a:t>
            </a:r>
          </a:p>
          <a:p>
            <a:pPr marL="168275" indent="-168275" eaLnBrk="1" hangingPunct="1"/>
            <a:endParaRPr lang="en-US" altLang="zh-TW" sz="2000" dirty="0">
              <a:latin typeface="Georgia" panose="02040502050405020303" pitchFamily="18" charset="0"/>
              <a:ea typeface="新細明體" pitchFamily="18" charset="-120"/>
            </a:endParaRPr>
          </a:p>
          <a:p>
            <a:pPr marL="168275" indent="-168275" eaLnBrk="1" hangingPunct="1"/>
            <a:r>
              <a:rPr lang="en-US" altLang="zh-TW" sz="2000" dirty="0">
                <a:latin typeface="Georgia" panose="02040502050405020303" pitchFamily="18" charset="0"/>
                <a:ea typeface="新細明體" pitchFamily="18" charset="-120"/>
              </a:rPr>
              <a:t>It changes with the kinetic energy of electrons</a:t>
            </a:r>
          </a:p>
          <a:p>
            <a:pPr marL="800100" lvl="1" indent="-342900" eaLnBrk="1" hangingPunct="1">
              <a:buFont typeface="Arial" panose="020B0604020202020204" pitchFamily="34" charset="0"/>
              <a:buChar char="•"/>
            </a:pPr>
            <a:r>
              <a:rPr lang="en-US" altLang="zh-TW" sz="2000" dirty="0">
                <a:latin typeface="Georgia" panose="02040502050405020303" pitchFamily="18" charset="0"/>
                <a:ea typeface="新細明體" pitchFamily="18" charset="-120"/>
              </a:rPr>
              <a:t>Instrumental broadening</a:t>
            </a:r>
          </a:p>
          <a:p>
            <a:pPr marL="800100" lvl="1" indent="-342900" eaLnBrk="1" hangingPunct="1">
              <a:buFont typeface="Arial" panose="020B0604020202020204" pitchFamily="34" charset="0"/>
              <a:buChar char="•"/>
            </a:pPr>
            <a:r>
              <a:rPr lang="en-US" altLang="zh-TW" sz="2000" dirty="0">
                <a:latin typeface="Georgia" panose="02040502050405020303" pitchFamily="18" charset="0"/>
                <a:ea typeface="新細明體" pitchFamily="18" charset="-120"/>
              </a:rPr>
              <a:t>Physical broadening</a:t>
            </a:r>
          </a:p>
          <a:p>
            <a:pPr marL="168275" indent="-168275" eaLnBrk="1" hangingPunct="1"/>
            <a:endParaRPr lang="en-US" altLang="zh-TW" sz="2000" dirty="0">
              <a:latin typeface="Georgia" panose="02040502050405020303" pitchFamily="18" charset="0"/>
              <a:ea typeface="新細明體" pitchFamily="18" charset="-120"/>
            </a:endParaRPr>
          </a:p>
          <a:p>
            <a:pPr marL="168275" indent="-168275" eaLnBrk="1" hangingPunct="1"/>
            <a:r>
              <a:rPr lang="en-US" altLang="zh-TW" sz="2000" dirty="0">
                <a:latin typeface="Georgia" panose="02040502050405020303" pitchFamily="18" charset="0"/>
                <a:ea typeface="新細明體" pitchFamily="18" charset="-120"/>
              </a:rPr>
              <a:t> </a:t>
            </a:r>
            <a:r>
              <a:rPr lang="en-US" altLang="zh-TW" sz="2000" b="1" i="1" dirty="0">
                <a:solidFill>
                  <a:srgbClr val="006600"/>
                </a:solidFill>
                <a:latin typeface="Georgia" panose="02040502050405020303" pitchFamily="18" charset="0"/>
                <a:ea typeface="新細明體" pitchFamily="18" charset="-120"/>
              </a:rPr>
              <a:t>Relative</a:t>
            </a:r>
            <a:r>
              <a:rPr lang="en-US" altLang="zh-TW" sz="2000" dirty="0">
                <a:latin typeface="Georgia" panose="02040502050405020303" pitchFamily="18" charset="0"/>
                <a:ea typeface="新細明體" pitchFamily="18" charset="-120"/>
              </a:rPr>
              <a:t> resolution is defined as </a:t>
            </a:r>
            <a:r>
              <a:rPr lang="en-US" altLang="zh-TW" sz="2000" i="1" dirty="0">
                <a:latin typeface="Georgia" panose="02040502050405020303" pitchFamily="18" charset="0"/>
                <a:ea typeface="新細明體" pitchFamily="18" charset="-120"/>
              </a:rPr>
              <a:t>R</a:t>
            </a:r>
            <a:r>
              <a:rPr lang="en-US" altLang="zh-TW" sz="2000" dirty="0">
                <a:latin typeface="Georgia" panose="02040502050405020303" pitchFamily="18" charset="0"/>
                <a:ea typeface="新細明體" pitchFamily="18" charset="-120"/>
              </a:rPr>
              <a:t>, the ratio of  width to the kinetic energy of the peak position.</a:t>
            </a:r>
            <a:endParaRPr lang="en-US" altLang="zh-TW" sz="2000" i="1" dirty="0">
              <a:latin typeface="Georgia" panose="02040502050405020303" pitchFamily="18" charset="0"/>
              <a:ea typeface="新細明體" pitchFamily="18" charset="-120"/>
            </a:endParaRPr>
          </a:p>
        </p:txBody>
      </p:sp>
      <mc:AlternateContent xmlns:mc="http://schemas.openxmlformats.org/markup-compatibility/2006" xmlns:a14="http://schemas.microsoft.com/office/drawing/2010/main">
        <mc:Choice Requires="a14">
          <p:sp>
            <p:nvSpPr>
              <p:cNvPr id="10242" name="Object 6"/>
              <p:cNvSpPr txBox="1"/>
              <p:nvPr/>
            </p:nvSpPr>
            <p:spPr bwMode="auto">
              <a:xfrm>
                <a:off x="5562600" y="5861595"/>
                <a:ext cx="2514600" cy="794603"/>
              </a:xfrm>
              <a:prstGeom prst="rect">
                <a:avLst/>
              </a:prstGeom>
              <a:noFill/>
            </p:spPr>
            <p:txBody>
              <a:bodyPr>
                <a:normAutofit/>
              </a:bodyPr>
              <a:lstStyle/>
              <a:p>
                <a:pPr/>
                <a14:m>
                  <m:oMathPara xmlns:m="http://schemas.openxmlformats.org/officeDocument/2006/math">
                    <m:oMathParaPr>
                      <m:jc m:val="left"/>
                    </m:oMathParaPr>
                    <m:oMath>
                      <m:r>
                        <a:rPr lang="en-HK" i="1">
                          <a:solidFill>
                            <a:srgbClr val="000000"/>
                          </a:solidFill>
                          <a:latin typeface="Cambria Math" panose="02040503050406030204" pitchFamily="18" charset="0"/>
                        </a:rPr>
                        <m:t>𝑅</m:t>
                      </m:r>
                      <m:r>
                        <a:rPr lang="en-HK" i="1">
                          <a:solidFill>
                            <a:srgbClr val="000000"/>
                          </a:solidFill>
                          <a:latin typeface="Cambria Math" panose="02040503050406030204" pitchFamily="18" charset="0"/>
                        </a:rPr>
                        <m:t>=</m:t>
                      </m:r>
                      <m:f>
                        <m:fPr>
                          <m:ctrlPr>
                            <a:rPr lang="en-HK" i="1">
                              <a:solidFill>
                                <a:srgbClr val="000000"/>
                              </a:solidFill>
                              <a:latin typeface="Cambria Math" panose="02040503050406030204" pitchFamily="18" charset="0"/>
                            </a:rPr>
                          </m:ctrlPr>
                        </m:fPr>
                        <m:num>
                          <m:r>
                            <m:rPr>
                              <m:sty m:val="p"/>
                            </m:rPr>
                            <a:rPr lang="en-HK" i="1">
                              <a:solidFill>
                                <a:srgbClr val="000000"/>
                              </a:solidFill>
                              <a:latin typeface="Cambria Math" panose="02040503050406030204" pitchFamily="18" charset="0"/>
                            </a:rPr>
                            <m:t>Δ</m:t>
                          </m:r>
                          <m:r>
                            <a:rPr lang="en-HK" i="1">
                              <a:solidFill>
                                <a:srgbClr val="000000"/>
                              </a:solidFill>
                              <a:latin typeface="Cambria Math" panose="02040503050406030204" pitchFamily="18" charset="0"/>
                            </a:rPr>
                            <m:t>𝐸</m:t>
                          </m:r>
                        </m:num>
                        <m:den>
                          <m:sSub>
                            <m:sSubPr>
                              <m:ctrlPr>
                                <a:rPr lang="en-HK" i="1">
                                  <a:solidFill>
                                    <a:srgbClr val="000000"/>
                                  </a:solidFill>
                                  <a:latin typeface="Cambria Math" panose="02040503050406030204" pitchFamily="18" charset="0"/>
                                </a:rPr>
                              </m:ctrlPr>
                            </m:sSubPr>
                            <m:e>
                              <m:r>
                                <a:rPr lang="en-HK" i="1">
                                  <a:solidFill>
                                    <a:srgbClr val="000000"/>
                                  </a:solidFill>
                                  <a:latin typeface="Cambria Math" panose="02040503050406030204" pitchFamily="18" charset="0"/>
                                </a:rPr>
                                <m:t>𝐸</m:t>
                              </m:r>
                            </m:e>
                            <m:sub>
                              <m:r>
                                <a:rPr lang="en-HK" i="1">
                                  <a:solidFill>
                                    <a:srgbClr val="000000"/>
                                  </a:solidFill>
                                  <a:latin typeface="Cambria Math" panose="02040503050406030204" pitchFamily="18" charset="0"/>
                                </a:rPr>
                                <m:t>𝑏</m:t>
                              </m:r>
                            </m:sub>
                          </m:sSub>
                        </m:den>
                      </m:f>
                      <m:r>
                        <a:rPr lang="en-HK" i="1">
                          <a:solidFill>
                            <a:srgbClr val="000000"/>
                          </a:solidFill>
                          <a:latin typeface="Cambria Math" panose="02040503050406030204" pitchFamily="18" charset="0"/>
                        </a:rPr>
                        <m:t>×100%</m:t>
                      </m:r>
                    </m:oMath>
                  </m:oMathPara>
                </a14:m>
                <a:endParaRPr lang="en-HK" dirty="0"/>
              </a:p>
            </p:txBody>
          </p:sp>
        </mc:Choice>
        <mc:Fallback xmlns="">
          <p:sp>
            <p:nvSpPr>
              <p:cNvPr id="10242" name="Object 6"/>
              <p:cNvSpPr txBox="1">
                <a:spLocks noRot="1" noChangeAspect="1" noMove="1" noResize="1" noEditPoints="1" noAdjustHandles="1" noChangeArrowheads="1" noChangeShapeType="1" noTextEdit="1"/>
              </p:cNvSpPr>
              <p:nvPr/>
            </p:nvSpPr>
            <p:spPr bwMode="auto">
              <a:xfrm>
                <a:off x="5562600" y="5861595"/>
                <a:ext cx="2514600" cy="794603"/>
              </a:xfrm>
              <a:prstGeom prst="rect">
                <a:avLst/>
              </a:prstGeom>
              <a:blipFill>
                <a:blip r:embed="rId3"/>
                <a:stretch>
                  <a:fillRect/>
                </a:stretch>
              </a:blipFill>
            </p:spPr>
            <p:txBody>
              <a:bodyPr/>
              <a:lstStyle/>
              <a:p>
                <a:r>
                  <a:rPr lang="en-HK">
                    <a:noFill/>
                  </a:rPr>
                  <a:t> </a:t>
                </a:r>
              </a:p>
            </p:txBody>
          </p:sp>
        </mc:Fallback>
      </mc:AlternateContent>
      <p:graphicFrame>
        <p:nvGraphicFramePr>
          <p:cNvPr id="10243" name="Object 7"/>
          <p:cNvGraphicFramePr>
            <a:graphicFrameLocks noChangeAspect="1"/>
          </p:cNvGraphicFramePr>
          <p:nvPr>
            <p:extLst>
              <p:ext uri="{D42A27DB-BD31-4B8C-83A1-F6EECF244321}">
                <p14:modId xmlns:p14="http://schemas.microsoft.com/office/powerpoint/2010/main" val="1920793077"/>
              </p:ext>
            </p:extLst>
          </p:nvPr>
        </p:nvGraphicFramePr>
        <p:xfrm>
          <a:off x="444562" y="1647953"/>
          <a:ext cx="4044950" cy="4208463"/>
        </p:xfrm>
        <a:graphic>
          <a:graphicData uri="http://schemas.openxmlformats.org/presentationml/2006/ole">
            <mc:AlternateContent xmlns:mc="http://schemas.openxmlformats.org/markup-compatibility/2006">
              <mc:Choice xmlns:v="urn:schemas-microsoft-com:vml" Requires="v">
                <p:oleObj name="CorelDRAW" r:id="rId4" imgW="3750480" imgH="3903120" progId="">
                  <p:embed/>
                </p:oleObj>
              </mc:Choice>
              <mc:Fallback>
                <p:oleObj name="CorelDRAW" r:id="rId4" imgW="3750480" imgH="3903120" progId="">
                  <p:embed/>
                  <p:pic>
                    <p:nvPicPr>
                      <p:cNvPr id="10243"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4562" y="1647953"/>
                        <a:ext cx="4044950" cy="4208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0246" name="Rectangle 8"/>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Electron energy </a:t>
            </a:r>
            <a:r>
              <a:rPr lang="en-US" altLang="zh-TW" sz="2400" dirty="0">
                <a:solidFill>
                  <a:schemeClr val="bg2">
                    <a:lumMod val="40000"/>
                    <a:lumOff val="60000"/>
                  </a:schemeClr>
                </a:solidFill>
                <a:latin typeface="Georgia" panose="02040502050405020303" pitchFamily="18" charset="0"/>
                <a:ea typeface="新細明體" pitchFamily="18" charset="-120"/>
              </a:rPr>
              <a:t>analyzer-energy resolution</a:t>
            </a:r>
          </a:p>
        </p:txBody>
      </p:sp>
      <p:sp>
        <p:nvSpPr>
          <p:cNvPr id="2" name="Slide Number Placeholder 1">
            <a:extLst>
              <a:ext uri="{FF2B5EF4-FFF2-40B4-BE49-F238E27FC236}">
                <a16:creationId xmlns:a16="http://schemas.microsoft.com/office/drawing/2014/main" id="{49D0013B-71B4-4E68-87C7-80E5E7409BC4}"/>
              </a:ext>
            </a:extLst>
          </p:cNvPr>
          <p:cNvSpPr>
            <a:spLocks noGrp="1"/>
          </p:cNvSpPr>
          <p:nvPr>
            <p:ph type="sldNum" sz="quarter" idx="11"/>
          </p:nvPr>
        </p:nvSpPr>
        <p:spPr/>
        <p:txBody>
          <a:bodyPr/>
          <a:lstStyle/>
          <a:p>
            <a:pPr>
              <a:defRPr/>
            </a:pPr>
            <a:fld id="{EBF73BDF-690D-4725-BA10-A7934ED52EAB}" type="slidenum">
              <a:rPr lang="zh-TW" altLang="en-US" smtClean="0"/>
              <a:pPr>
                <a:defRPr/>
              </a:pPr>
              <a:t>29</a:t>
            </a:fld>
            <a:endParaRPr lang="en-US" altLang="zh-TW"/>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4"/>
          <p:cNvSpPr>
            <a:spLocks noChangeArrowheads="1"/>
          </p:cNvSpPr>
          <p:nvPr/>
        </p:nvSpPr>
        <p:spPr bwMode="auto">
          <a:xfrm>
            <a:off x="1066800" y="1295400"/>
            <a:ext cx="6629400" cy="3276600"/>
          </a:xfrm>
          <a:prstGeom prst="rect">
            <a:avLst/>
          </a:prstGeom>
          <a:noFill/>
          <a:ln w="9525">
            <a:solidFill>
              <a:schemeClr val="tx1"/>
            </a:solidFill>
            <a:miter lim="800000"/>
            <a:headEnd/>
            <a:tailEnd/>
          </a:ln>
        </p:spPr>
        <p:txBody>
          <a:bodyPr wrap="none" anchor="ctr"/>
          <a:lstStyle/>
          <a:p>
            <a:endParaRPr lang="zh-CN" altLang="zh-CN">
              <a:latin typeface="Georgia" panose="02040502050405020303" pitchFamily="18" charset="0"/>
              <a:ea typeface="SimSun" pitchFamily="2" charset="-122"/>
            </a:endParaRPr>
          </a:p>
        </p:txBody>
      </p:sp>
      <p:sp>
        <p:nvSpPr>
          <p:cNvPr id="34819" name="Rectangle 5"/>
          <p:cNvSpPr>
            <a:spLocks noChangeArrowheads="1"/>
          </p:cNvSpPr>
          <p:nvPr/>
        </p:nvSpPr>
        <p:spPr bwMode="auto">
          <a:xfrm>
            <a:off x="838200" y="8001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Cylindrical Mirror Analyzer (CMA)</a:t>
            </a:r>
          </a:p>
        </p:txBody>
      </p:sp>
      <p:pic>
        <p:nvPicPr>
          <p:cNvPr id="34820" name="Picture 6"/>
          <p:cNvPicPr>
            <a:picLocks noChangeAspect="1" noChangeArrowheads="1"/>
          </p:cNvPicPr>
          <p:nvPr/>
        </p:nvPicPr>
        <p:blipFill>
          <a:blip r:embed="rId2" cstate="print"/>
          <a:srcRect/>
          <a:stretch>
            <a:fillRect/>
          </a:stretch>
        </p:blipFill>
        <p:spPr bwMode="auto">
          <a:xfrm>
            <a:off x="1760538" y="1371600"/>
            <a:ext cx="2089150" cy="3054350"/>
          </a:xfrm>
          <a:prstGeom prst="rect">
            <a:avLst/>
          </a:prstGeom>
          <a:solidFill>
            <a:schemeClr val="tx1"/>
          </a:solidFill>
          <a:ln w="9525">
            <a:noFill/>
            <a:miter lim="800000"/>
            <a:headEnd/>
            <a:tailEnd/>
          </a:ln>
        </p:spPr>
      </p:pic>
      <p:pic>
        <p:nvPicPr>
          <p:cNvPr id="34821" name="Picture 7"/>
          <p:cNvPicPr>
            <a:picLocks noChangeAspect="1" noChangeArrowheads="1"/>
          </p:cNvPicPr>
          <p:nvPr/>
        </p:nvPicPr>
        <p:blipFill>
          <a:blip r:embed="rId3" cstate="print"/>
          <a:srcRect/>
          <a:stretch>
            <a:fillRect/>
          </a:stretch>
        </p:blipFill>
        <p:spPr bwMode="auto">
          <a:xfrm>
            <a:off x="4808538" y="1371600"/>
            <a:ext cx="2659062" cy="3152775"/>
          </a:xfrm>
          <a:prstGeom prst="rect">
            <a:avLst/>
          </a:prstGeom>
          <a:noFill/>
          <a:ln w="9525">
            <a:noFill/>
            <a:miter lim="800000"/>
            <a:headEnd/>
            <a:tailEnd/>
          </a:ln>
        </p:spPr>
      </p:pic>
      <p:sp>
        <p:nvSpPr>
          <p:cNvPr id="34822" name="Rectangle 8"/>
          <p:cNvSpPr>
            <a:spLocks noChangeArrowheads="1"/>
          </p:cNvSpPr>
          <p:nvPr/>
        </p:nvSpPr>
        <p:spPr bwMode="auto">
          <a:xfrm>
            <a:off x="571500" y="4741022"/>
            <a:ext cx="8001000" cy="1785104"/>
          </a:xfrm>
          <a:prstGeom prst="rect">
            <a:avLst/>
          </a:prstGeom>
          <a:noFill/>
          <a:ln w="9525">
            <a:noFill/>
            <a:miter lim="800000"/>
            <a:headEnd/>
            <a:tailEnd/>
          </a:ln>
        </p:spPr>
        <p:txBody>
          <a:bodyPr>
            <a:spAutoFit/>
          </a:bodyPr>
          <a:lstStyle/>
          <a:p>
            <a:pPr eaLnBrk="1" hangingPunct="1">
              <a:spcBef>
                <a:spcPct val="50000"/>
              </a:spcBef>
            </a:pPr>
            <a:r>
              <a:rPr lang="en-US" altLang="zh-TW" sz="2000" dirty="0">
                <a:latin typeface="Georgia" panose="02040502050405020303" pitchFamily="18" charset="0"/>
                <a:ea typeface="新細明體" pitchFamily="18" charset="-120"/>
              </a:rPr>
              <a:t>CMA consists of </a:t>
            </a:r>
            <a:r>
              <a:rPr lang="en-US" altLang="zh-TW" sz="2000" b="1" dirty="0">
                <a:solidFill>
                  <a:srgbClr val="006600"/>
                </a:solidFill>
                <a:latin typeface="Georgia" panose="02040502050405020303" pitchFamily="18" charset="0"/>
                <a:ea typeface="新細明體" pitchFamily="18" charset="-120"/>
              </a:rPr>
              <a:t>two coaxial cylinders</a:t>
            </a:r>
            <a:r>
              <a:rPr lang="en-US" altLang="zh-TW" sz="2000" b="1" dirty="0">
                <a:latin typeface="Georgia" panose="02040502050405020303" pitchFamily="18" charset="0"/>
                <a:ea typeface="新細明體" pitchFamily="18" charset="-120"/>
              </a:rPr>
              <a:t> </a:t>
            </a:r>
            <a:r>
              <a:rPr lang="en-US" altLang="zh-TW" sz="2000" dirty="0">
                <a:latin typeface="Georgia" panose="02040502050405020303" pitchFamily="18" charset="0"/>
                <a:ea typeface="新細明體" pitchFamily="18" charset="-120"/>
              </a:rPr>
              <a:t>of radii </a:t>
            </a:r>
            <a:r>
              <a:rPr lang="en-US" altLang="zh-TW" sz="2000" i="1" dirty="0">
                <a:latin typeface="Georgia" panose="02040502050405020303" pitchFamily="18" charset="0"/>
                <a:ea typeface="新細明體" pitchFamily="18" charset="-120"/>
              </a:rPr>
              <a:t>r</a:t>
            </a:r>
            <a:r>
              <a:rPr lang="en-US" altLang="zh-TW" sz="2000" i="1" baseline="-30000" dirty="0">
                <a:latin typeface="Georgia" panose="02040502050405020303" pitchFamily="18" charset="0"/>
                <a:ea typeface="新細明體" pitchFamily="18" charset="-120"/>
              </a:rPr>
              <a:t>1</a:t>
            </a:r>
            <a:r>
              <a:rPr lang="en-US" altLang="zh-TW" sz="2000" dirty="0">
                <a:latin typeface="Georgia" panose="02040502050405020303" pitchFamily="18" charset="0"/>
                <a:ea typeface="新細明體" pitchFamily="18" charset="-120"/>
              </a:rPr>
              <a:t> (inner) and </a:t>
            </a:r>
            <a:r>
              <a:rPr lang="en-US" altLang="zh-TW" sz="2000" i="1" dirty="0">
                <a:latin typeface="Georgia" panose="02040502050405020303" pitchFamily="18" charset="0"/>
                <a:ea typeface="新細明體" pitchFamily="18" charset="-120"/>
              </a:rPr>
              <a:t>r</a:t>
            </a:r>
            <a:r>
              <a:rPr lang="en-US" altLang="zh-TW" sz="2000" i="1" baseline="-30000" dirty="0">
                <a:latin typeface="Georgia" panose="02040502050405020303" pitchFamily="18" charset="0"/>
                <a:ea typeface="新細明體" pitchFamily="18" charset="-120"/>
              </a:rPr>
              <a:t>2</a:t>
            </a:r>
            <a:r>
              <a:rPr lang="en-US" altLang="zh-TW" sz="2000" dirty="0">
                <a:latin typeface="Georgia" panose="02040502050405020303" pitchFamily="18" charset="0"/>
                <a:ea typeface="新細明體" pitchFamily="18" charset="-120"/>
              </a:rPr>
              <a:t> (outer), with the inner cylinder at ground potential and a potential of </a:t>
            </a:r>
            <a:r>
              <a:rPr lang="en-US" altLang="zh-TW" sz="2000" i="1" dirty="0">
                <a:latin typeface="Georgia" panose="02040502050405020303" pitchFamily="18" charset="0"/>
                <a:ea typeface="新細明體" pitchFamily="18" charset="-120"/>
              </a:rPr>
              <a:t>-V</a:t>
            </a:r>
            <a:r>
              <a:rPr lang="en-US" altLang="zh-TW" sz="2000" dirty="0">
                <a:latin typeface="Georgia" panose="02040502050405020303" pitchFamily="18" charset="0"/>
                <a:ea typeface="新細明體" pitchFamily="18" charset="-120"/>
              </a:rPr>
              <a:t> on the outer.</a:t>
            </a:r>
          </a:p>
          <a:p>
            <a:pPr eaLnBrk="1" hangingPunct="1">
              <a:spcBef>
                <a:spcPct val="50000"/>
              </a:spcBef>
            </a:pPr>
            <a:r>
              <a:rPr lang="en-US" altLang="zh-TW" sz="2000" dirty="0">
                <a:latin typeface="Georgia" panose="02040502050405020303" pitchFamily="18" charset="0"/>
                <a:ea typeface="新細明體" pitchFamily="18" charset="-120"/>
              </a:rPr>
              <a:t>Electrons emitted from a source on the axis move in field-free space towards a mesh-covered annular aperture between the cylinders.</a:t>
            </a:r>
            <a:endParaRPr lang="en-US" altLang="zh-CN" sz="2000" dirty="0">
              <a:latin typeface="Georgia" panose="02040502050405020303" pitchFamily="18" charset="0"/>
              <a:ea typeface="新細明體" pitchFamily="18" charset="-120"/>
            </a:endParaRPr>
          </a:p>
        </p:txBody>
      </p:sp>
      <p:sp>
        <p:nvSpPr>
          <p:cNvPr id="34823" name="Rectangle 9"/>
          <p:cNvSpPr>
            <a:spLocks noChangeArrowheads="1"/>
          </p:cNvSpPr>
          <p:nvPr/>
        </p:nvSpPr>
        <p:spPr bwMode="auto">
          <a:xfrm>
            <a:off x="495300" y="209084"/>
            <a:ext cx="88773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Electron energy analyzer: </a:t>
            </a:r>
            <a:r>
              <a:rPr lang="en-US" altLang="zh-TW" sz="2400" dirty="0">
                <a:solidFill>
                  <a:schemeClr val="bg2">
                    <a:lumMod val="40000"/>
                    <a:lumOff val="60000"/>
                  </a:schemeClr>
                </a:solidFill>
                <a:latin typeface="Georgia" panose="02040502050405020303" pitchFamily="18" charset="0"/>
                <a:ea typeface="新細明體" pitchFamily="18" charset="-120"/>
              </a:rPr>
              <a:t>CMA instrumentation</a:t>
            </a:r>
          </a:p>
        </p:txBody>
      </p:sp>
      <p:sp>
        <p:nvSpPr>
          <p:cNvPr id="34824" name="TextBox 7"/>
          <p:cNvSpPr txBox="1">
            <a:spLocks noChangeArrowheads="1"/>
          </p:cNvSpPr>
          <p:nvPr/>
        </p:nvSpPr>
        <p:spPr bwMode="auto">
          <a:xfrm>
            <a:off x="6248400" y="1600200"/>
            <a:ext cx="800100" cy="369888"/>
          </a:xfrm>
          <a:prstGeom prst="rect">
            <a:avLst/>
          </a:prstGeom>
          <a:noFill/>
          <a:ln w="9525">
            <a:noFill/>
            <a:miter lim="800000"/>
            <a:headEnd/>
            <a:tailEnd/>
          </a:ln>
        </p:spPr>
        <p:txBody>
          <a:bodyPr wrap="none">
            <a:spAutoFit/>
          </a:bodyPr>
          <a:lstStyle/>
          <a:p>
            <a:r>
              <a:rPr lang="en-US" altLang="zh-CN">
                <a:latin typeface="Georgia" panose="02040502050405020303" pitchFamily="18" charset="0"/>
                <a:ea typeface="SimSun" pitchFamily="2" charset="-122"/>
              </a:rPr>
              <a:t>Auger</a:t>
            </a:r>
          </a:p>
        </p:txBody>
      </p:sp>
      <p:sp>
        <p:nvSpPr>
          <p:cNvPr id="2" name="Slide Number Placeholder 1">
            <a:extLst>
              <a:ext uri="{FF2B5EF4-FFF2-40B4-BE49-F238E27FC236}">
                <a16:creationId xmlns:a16="http://schemas.microsoft.com/office/drawing/2014/main" id="{4E72F779-53ED-434E-9360-ACD09934C2CC}"/>
              </a:ext>
            </a:extLst>
          </p:cNvPr>
          <p:cNvSpPr>
            <a:spLocks noGrp="1"/>
          </p:cNvSpPr>
          <p:nvPr>
            <p:ph type="sldNum" sz="quarter" idx="11"/>
          </p:nvPr>
        </p:nvSpPr>
        <p:spPr/>
        <p:txBody>
          <a:bodyPr/>
          <a:lstStyle/>
          <a:p>
            <a:pPr>
              <a:defRPr/>
            </a:pPr>
            <a:fld id="{EBF73BDF-690D-4725-BA10-A7934ED52EAB}" type="slidenum">
              <a:rPr lang="zh-TW" altLang="en-US" smtClean="0">
                <a:latin typeface="Georgia" panose="02040502050405020303" pitchFamily="18" charset="0"/>
              </a:rPr>
              <a:pPr>
                <a:defRPr/>
              </a:pPr>
              <a:t>30</a:t>
            </a:fld>
            <a:endParaRPr lang="en-US" altLang="zh-TW">
              <a:latin typeface="Georgia" panose="02040502050405020303" pitchFamily="18" charset="0"/>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Text Box 5"/>
          <p:cNvSpPr txBox="1">
            <a:spLocks noChangeArrowheads="1"/>
          </p:cNvSpPr>
          <p:nvPr/>
        </p:nvSpPr>
        <p:spPr bwMode="auto">
          <a:xfrm>
            <a:off x="457200" y="3922455"/>
            <a:ext cx="8458199" cy="2554545"/>
          </a:xfrm>
          <a:prstGeom prst="rect">
            <a:avLst/>
          </a:prstGeom>
          <a:noFill/>
          <a:ln w="9525">
            <a:noFill/>
            <a:miter lim="800000"/>
            <a:headEnd/>
            <a:tailEnd/>
          </a:ln>
        </p:spPr>
        <p:txBody>
          <a:bodyPr wrap="square">
            <a:spAutoFit/>
          </a:bodyPr>
          <a:lstStyle/>
          <a:p>
            <a:pPr algn="just" eaLnBrk="1" hangingPunct="1"/>
            <a:r>
              <a:rPr lang="en-US" altLang="zh-TW" sz="2000" dirty="0">
                <a:latin typeface="Georgia" panose="02040502050405020303" pitchFamily="18" charset="0"/>
                <a:ea typeface="新細明體" pitchFamily="18" charset="-120"/>
              </a:rPr>
              <a:t>Those electrons of a particularly selected kinetic energy </a:t>
            </a:r>
            <a:r>
              <a:rPr lang="en-US" altLang="zh-TW" sz="2000" i="1" dirty="0" err="1">
                <a:latin typeface="Georgia" panose="02040502050405020303" pitchFamily="18" charset="0"/>
                <a:ea typeface="新細明體" pitchFamily="18" charset="-120"/>
              </a:rPr>
              <a:t>E</a:t>
            </a:r>
            <a:r>
              <a:rPr lang="en-US" altLang="zh-TW" sz="2000" i="1" baseline="-30000" dirty="0" err="1">
                <a:latin typeface="Georgia" panose="02040502050405020303" pitchFamily="18" charset="0"/>
                <a:ea typeface="新細明體" pitchFamily="18" charset="-120"/>
              </a:rPr>
              <a:t>o</a:t>
            </a:r>
            <a:r>
              <a:rPr lang="en-US" altLang="zh-TW" sz="2000" dirty="0">
                <a:latin typeface="Georgia" panose="02040502050405020303" pitchFamily="18" charset="0"/>
                <a:ea typeface="新細明體" pitchFamily="18" charset="-120"/>
              </a:rPr>
              <a:t> are deflected by the potential on the outer cylinder through a second mesh-covered aperture and are focused at the </a:t>
            </a:r>
            <a:r>
              <a:rPr lang="en-US" altLang="zh-TW" sz="2000" dirty="0" err="1">
                <a:latin typeface="Georgia" panose="02040502050405020303" pitchFamily="18" charset="0"/>
                <a:ea typeface="新細明體" pitchFamily="18" charset="-120"/>
              </a:rPr>
              <a:t>channeltron</a:t>
            </a:r>
            <a:r>
              <a:rPr lang="en-US" altLang="zh-TW" sz="2000" dirty="0">
                <a:latin typeface="Georgia" panose="02040502050405020303" pitchFamily="18" charset="0"/>
                <a:ea typeface="新細明體" pitchFamily="18" charset="-120"/>
              </a:rPr>
              <a:t>, also on axis.  The focal relationship is given by</a:t>
            </a:r>
          </a:p>
          <a:p>
            <a:pPr algn="just" eaLnBrk="1" hangingPunct="1"/>
            <a:r>
              <a:rPr lang="en-US" altLang="zh-TW" sz="2000" dirty="0">
                <a:latin typeface="Georgia" panose="02040502050405020303" pitchFamily="18" charset="0"/>
                <a:ea typeface="新細明體" pitchFamily="18" charset="-120"/>
              </a:rPr>
              <a:t> </a:t>
            </a:r>
          </a:p>
          <a:p>
            <a:pPr algn="just" eaLnBrk="1" hangingPunct="1"/>
            <a:r>
              <a:rPr lang="en-US" altLang="zh-TW" sz="2000" dirty="0">
                <a:latin typeface="Georgia" panose="02040502050405020303" pitchFamily="18" charset="0"/>
                <a:ea typeface="新細明體" pitchFamily="18" charset="-120"/>
              </a:rPr>
              <a:t> </a:t>
            </a:r>
          </a:p>
          <a:p>
            <a:pPr algn="just" eaLnBrk="1" hangingPunct="1"/>
            <a:r>
              <a:rPr lang="en-US" altLang="zh-TW" sz="2000" dirty="0">
                <a:latin typeface="Georgia" panose="02040502050405020303" pitchFamily="18" charset="0"/>
                <a:ea typeface="新細明體" pitchFamily="18" charset="-120"/>
              </a:rPr>
              <a:t>where </a:t>
            </a:r>
            <a:r>
              <a:rPr lang="en-US" altLang="zh-TW" sz="2000" i="1" dirty="0">
                <a:latin typeface="Georgia" panose="02040502050405020303" pitchFamily="18" charset="0"/>
                <a:ea typeface="新細明體" pitchFamily="18" charset="-120"/>
              </a:rPr>
              <a:t>K</a:t>
            </a:r>
            <a:r>
              <a:rPr lang="en-US" altLang="zh-TW" sz="2000" dirty="0">
                <a:latin typeface="Georgia" panose="02040502050405020303" pitchFamily="18" charset="0"/>
                <a:ea typeface="新細明體" pitchFamily="18" charset="-120"/>
              </a:rPr>
              <a:t> is a characteristic constant depending on the construction of the analyzer, r</a:t>
            </a:r>
            <a:r>
              <a:rPr lang="en-US" altLang="zh-TW" sz="2000" baseline="-25000" dirty="0">
                <a:latin typeface="Georgia" panose="02040502050405020303" pitchFamily="18" charset="0"/>
                <a:ea typeface="新細明體" pitchFamily="18" charset="-120"/>
              </a:rPr>
              <a:t>1</a:t>
            </a:r>
            <a:r>
              <a:rPr lang="en-US" altLang="zh-TW" sz="2000" dirty="0">
                <a:latin typeface="Georgia" panose="02040502050405020303" pitchFamily="18" charset="0"/>
                <a:ea typeface="新細明體" pitchFamily="18" charset="-120"/>
              </a:rPr>
              <a:t> and r</a:t>
            </a:r>
            <a:r>
              <a:rPr lang="en-US" altLang="zh-TW" sz="2000" baseline="-25000" dirty="0">
                <a:latin typeface="Georgia" panose="02040502050405020303" pitchFamily="18" charset="0"/>
                <a:ea typeface="新細明體" pitchFamily="18" charset="-120"/>
              </a:rPr>
              <a:t>2</a:t>
            </a:r>
            <a:r>
              <a:rPr lang="en-US" altLang="zh-TW" sz="2000" dirty="0">
                <a:latin typeface="Georgia" panose="02040502050405020303" pitchFamily="18" charset="0"/>
                <a:ea typeface="新細明體" pitchFamily="18" charset="-120"/>
              </a:rPr>
              <a:t> are the inner and outer radii. [HW]</a:t>
            </a:r>
            <a:endParaRPr lang="en-US" altLang="zh-CN" sz="2000" dirty="0">
              <a:latin typeface="Georgia" panose="02040502050405020303" pitchFamily="18" charset="0"/>
              <a:ea typeface="SimSun" pitchFamily="2" charset="-122"/>
            </a:endParaRPr>
          </a:p>
        </p:txBody>
      </p:sp>
      <p:graphicFrame>
        <p:nvGraphicFramePr>
          <p:cNvPr id="11266" name="Object 6"/>
          <p:cNvGraphicFramePr>
            <a:graphicFrameLocks noChangeAspect="1"/>
          </p:cNvGraphicFramePr>
          <p:nvPr>
            <p:extLst>
              <p:ext uri="{D42A27DB-BD31-4B8C-83A1-F6EECF244321}">
                <p14:modId xmlns:p14="http://schemas.microsoft.com/office/powerpoint/2010/main" val="4040153577"/>
              </p:ext>
            </p:extLst>
          </p:nvPr>
        </p:nvGraphicFramePr>
        <p:xfrm>
          <a:off x="3505200" y="4876800"/>
          <a:ext cx="1905000" cy="739441"/>
        </p:xfrm>
        <a:graphic>
          <a:graphicData uri="http://schemas.openxmlformats.org/presentationml/2006/ole">
            <mc:AlternateContent xmlns:mc="http://schemas.openxmlformats.org/markup-compatibility/2006">
              <mc:Choice xmlns:v="urn:schemas-microsoft-com:vml" Requires="v">
                <p:oleObj r:id="rId2" imgW="1447800" imgH="558800" progId="Equation.3">
                  <p:embed/>
                </p:oleObj>
              </mc:Choice>
              <mc:Fallback>
                <p:oleObj r:id="rId2" imgW="1447800" imgH="558800" progId="Equation.3">
                  <p:embed/>
                  <p:pic>
                    <p:nvPicPr>
                      <p:cNvPr id="11266"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05200" y="4876800"/>
                        <a:ext cx="1905000" cy="739441"/>
                      </a:xfrm>
                      <a:prstGeom prst="rect">
                        <a:avLst/>
                      </a:prstGeom>
                      <a:noFill/>
                    </p:spPr>
                  </p:pic>
                </p:oleObj>
              </mc:Fallback>
            </mc:AlternateContent>
          </a:graphicData>
        </a:graphic>
      </p:graphicFrame>
      <p:sp>
        <p:nvSpPr>
          <p:cNvPr id="11269" name="Rectangle 7"/>
          <p:cNvSpPr>
            <a:spLocks noChangeArrowheads="1"/>
          </p:cNvSpPr>
          <p:nvPr/>
        </p:nvSpPr>
        <p:spPr bwMode="auto">
          <a:xfrm>
            <a:off x="463176" y="177800"/>
            <a:ext cx="8680824"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Electron energy </a:t>
            </a:r>
            <a:r>
              <a:rPr lang="en-US" altLang="zh-TW" sz="2400" dirty="0">
                <a:solidFill>
                  <a:schemeClr val="bg2">
                    <a:lumMod val="40000"/>
                    <a:lumOff val="60000"/>
                  </a:schemeClr>
                </a:solidFill>
                <a:latin typeface="Georgia" panose="02040502050405020303" pitchFamily="18" charset="0"/>
                <a:ea typeface="新細明體" pitchFamily="18" charset="-120"/>
              </a:rPr>
              <a:t>analyzer-CMA instrumentation</a:t>
            </a:r>
          </a:p>
        </p:txBody>
      </p:sp>
      <p:sp>
        <p:nvSpPr>
          <p:cNvPr id="11270" name="Rectangle 8"/>
          <p:cNvSpPr>
            <a:spLocks noChangeArrowheads="1"/>
          </p:cNvSpPr>
          <p:nvPr/>
        </p:nvSpPr>
        <p:spPr bwMode="auto">
          <a:xfrm>
            <a:off x="990600" y="735012"/>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Cylindrical Mirror Analyzer (CMA)</a:t>
            </a:r>
          </a:p>
        </p:txBody>
      </p:sp>
      <p:sp>
        <p:nvSpPr>
          <p:cNvPr id="2" name="Slide Number Placeholder 1">
            <a:extLst>
              <a:ext uri="{FF2B5EF4-FFF2-40B4-BE49-F238E27FC236}">
                <a16:creationId xmlns:a16="http://schemas.microsoft.com/office/drawing/2014/main" id="{96ED0D10-8E4F-4D48-9DEF-712956B89AF5}"/>
              </a:ext>
            </a:extLst>
          </p:cNvPr>
          <p:cNvSpPr>
            <a:spLocks noGrp="1"/>
          </p:cNvSpPr>
          <p:nvPr>
            <p:ph type="sldNum" sz="quarter" idx="11"/>
          </p:nvPr>
        </p:nvSpPr>
        <p:spPr/>
        <p:txBody>
          <a:bodyPr/>
          <a:lstStyle/>
          <a:p>
            <a:pPr>
              <a:defRPr/>
            </a:pPr>
            <a:fld id="{EBF73BDF-690D-4725-BA10-A7934ED52EAB}" type="slidenum">
              <a:rPr lang="zh-TW" altLang="en-US" smtClean="0">
                <a:latin typeface="Georgia" panose="02040502050405020303" pitchFamily="18" charset="0"/>
              </a:rPr>
              <a:pPr>
                <a:defRPr/>
              </a:pPr>
              <a:t>31</a:t>
            </a:fld>
            <a:endParaRPr lang="en-US" altLang="zh-TW">
              <a:latin typeface="Georgia" panose="02040502050405020303" pitchFamily="18" charset="0"/>
            </a:endParaRPr>
          </a:p>
        </p:txBody>
      </p:sp>
      <p:grpSp>
        <p:nvGrpSpPr>
          <p:cNvPr id="4" name="Group 3">
            <a:extLst>
              <a:ext uri="{FF2B5EF4-FFF2-40B4-BE49-F238E27FC236}">
                <a16:creationId xmlns:a16="http://schemas.microsoft.com/office/drawing/2014/main" id="{FD6BAF24-DB3B-FD33-D810-9F7F081EA37E}"/>
              </a:ext>
            </a:extLst>
          </p:cNvPr>
          <p:cNvGrpSpPr/>
          <p:nvPr/>
        </p:nvGrpSpPr>
        <p:grpSpPr>
          <a:xfrm>
            <a:off x="1371600" y="1273046"/>
            <a:ext cx="6172200" cy="2617788"/>
            <a:chOff x="1371600" y="1447800"/>
            <a:chExt cx="6172200" cy="2617788"/>
          </a:xfrm>
        </p:grpSpPr>
        <p:pic>
          <p:nvPicPr>
            <p:cNvPr id="11267" name="Picture 4"/>
            <p:cNvPicPr>
              <a:picLocks noChangeAspect="1" noChangeArrowheads="1"/>
            </p:cNvPicPr>
            <p:nvPr/>
          </p:nvPicPr>
          <p:blipFill>
            <a:blip r:embed="rId4" cstate="print"/>
            <a:srcRect/>
            <a:stretch>
              <a:fillRect/>
            </a:stretch>
          </p:blipFill>
          <p:spPr bwMode="auto">
            <a:xfrm>
              <a:off x="1371600" y="1447800"/>
              <a:ext cx="6172200" cy="2617788"/>
            </a:xfrm>
            <a:prstGeom prst="rect">
              <a:avLst/>
            </a:prstGeom>
            <a:noFill/>
            <a:ln w="9525">
              <a:noFill/>
              <a:miter lim="800000"/>
              <a:headEnd/>
              <a:tailEnd/>
            </a:ln>
          </p:spPr>
        </p:pic>
        <p:sp>
          <p:nvSpPr>
            <p:cNvPr id="3" name="Rectangle 2">
              <a:extLst>
                <a:ext uri="{FF2B5EF4-FFF2-40B4-BE49-F238E27FC236}">
                  <a16:creationId xmlns:a16="http://schemas.microsoft.com/office/drawing/2014/main" id="{DC9E8769-A1ED-6AB7-802A-3AE296C82232}"/>
                </a:ext>
              </a:extLst>
            </p:cNvPr>
            <p:cNvSpPr/>
            <p:nvPr/>
          </p:nvSpPr>
          <p:spPr bwMode="auto">
            <a:xfrm>
              <a:off x="2438400" y="3077882"/>
              <a:ext cx="1371600" cy="198718"/>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1800" b="0" i="0" u="none" strike="noStrike" cap="none" normalizeH="0" baseline="0">
                <a:ln>
                  <a:noFill/>
                </a:ln>
                <a:solidFill>
                  <a:schemeClr val="tx1"/>
                </a:solidFill>
                <a:effectLst/>
                <a:latin typeface="Arial" charset="0"/>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4" name="Rectangle 4"/>
          <p:cNvSpPr>
            <a:spLocks noChangeArrowheads="1"/>
          </p:cNvSpPr>
          <p:nvPr/>
        </p:nvSpPr>
        <p:spPr bwMode="auto">
          <a:xfrm>
            <a:off x="228600" y="1536174"/>
            <a:ext cx="8458200" cy="3785652"/>
          </a:xfrm>
          <a:prstGeom prst="rect">
            <a:avLst/>
          </a:prstGeom>
          <a:noFill/>
          <a:ln w="9525">
            <a:noFill/>
            <a:miter lim="800000"/>
            <a:headEnd/>
            <a:tailEnd/>
          </a:ln>
          <a:effectLst/>
        </p:spPr>
        <p:txBody>
          <a:bodyPr wrap="square" anchor="ctr">
            <a:spAutoFit/>
          </a:bodyPr>
          <a:lstStyle/>
          <a:p>
            <a:pPr marL="800100" lvl="1" indent="-342900">
              <a:buFont typeface="Arial" panose="020B0604020202020204" pitchFamily="34" charset="0"/>
              <a:buChar char="•"/>
            </a:pPr>
            <a:r>
              <a:rPr lang="en-US" altLang="zh-CN" sz="2400" dirty="0">
                <a:latin typeface="Georgia" panose="02040502050405020303" pitchFamily="18" charset="0"/>
                <a:ea typeface="宋体" pitchFamily="2" charset="-122"/>
              </a:rPr>
              <a:t>If the electrons are travelling very fast, they will impinge on the outer cylinder. If they are travelling very slowly, they will be attracted to the inner cylinder. Hence only electrons in a narrow energy region (called the</a:t>
            </a:r>
            <a:r>
              <a:rPr lang="en-US" altLang="zh-CN" sz="2400" dirty="0">
                <a:solidFill>
                  <a:srgbClr val="0000FF"/>
                </a:solidFill>
                <a:latin typeface="Georgia" panose="02040502050405020303" pitchFamily="18" charset="0"/>
                <a:ea typeface="宋体" pitchFamily="2" charset="-122"/>
              </a:rPr>
              <a:t> pass energy</a:t>
            </a:r>
            <a:r>
              <a:rPr lang="en-US" altLang="zh-CN" sz="2400" dirty="0">
                <a:latin typeface="Georgia" panose="02040502050405020303" pitchFamily="18" charset="0"/>
                <a:ea typeface="宋体" pitchFamily="2" charset="-122"/>
              </a:rPr>
              <a:t>) succeed in getting all the way along the cylinders to the detector.</a:t>
            </a:r>
          </a:p>
          <a:p>
            <a:pPr marL="800100" lvl="1" indent="-342900">
              <a:buFont typeface="Arial" panose="020B0604020202020204" pitchFamily="34" charset="0"/>
              <a:buChar char="•"/>
            </a:pPr>
            <a:endParaRPr lang="en-US" altLang="zh-CN" sz="2400" dirty="0">
              <a:latin typeface="Georgia" panose="02040502050405020303" pitchFamily="18" charset="0"/>
              <a:ea typeface="宋体" pitchFamily="2" charset="-122"/>
            </a:endParaRPr>
          </a:p>
          <a:p>
            <a:pPr marL="800100" lvl="1" indent="-342900">
              <a:buFont typeface="Arial" panose="020B0604020202020204" pitchFamily="34" charset="0"/>
              <a:buChar char="•"/>
            </a:pPr>
            <a:r>
              <a:rPr lang="en-US" altLang="zh-CN" sz="2400" dirty="0">
                <a:latin typeface="Georgia" panose="02040502050405020303" pitchFamily="18" charset="0"/>
                <a:ea typeface="宋体" pitchFamily="2" charset="-122"/>
              </a:rPr>
              <a:t>The resolution is improved by apertures within the </a:t>
            </a:r>
            <a:r>
              <a:rPr lang="en-US" altLang="zh-CN" sz="2400" dirty="0" err="1">
                <a:latin typeface="Georgia" panose="02040502050405020303" pitchFamily="18" charset="0"/>
                <a:ea typeface="宋体" pitchFamily="2" charset="-122"/>
              </a:rPr>
              <a:t>analyser</a:t>
            </a:r>
            <a:r>
              <a:rPr lang="en-US" altLang="zh-CN" sz="2400" dirty="0">
                <a:latin typeface="Georgia" panose="02040502050405020303" pitchFamily="18" charset="0"/>
                <a:ea typeface="宋体" pitchFamily="2" charset="-122"/>
              </a:rPr>
              <a:t>. </a:t>
            </a:r>
          </a:p>
          <a:p>
            <a:endParaRPr lang="en-US" altLang="zh-CN" sz="2400" dirty="0">
              <a:latin typeface="Georgia" panose="02040502050405020303" pitchFamily="18" charset="0"/>
              <a:ea typeface="宋体" pitchFamily="2" charset="-122"/>
            </a:endParaRPr>
          </a:p>
        </p:txBody>
      </p:sp>
      <p:sp>
        <p:nvSpPr>
          <p:cNvPr id="2" name="Slide Number Placeholder 1">
            <a:extLst>
              <a:ext uri="{FF2B5EF4-FFF2-40B4-BE49-F238E27FC236}">
                <a16:creationId xmlns:a16="http://schemas.microsoft.com/office/drawing/2014/main" id="{3BF8B9B1-FB93-4617-AC6E-0F510196AB81}"/>
              </a:ext>
            </a:extLst>
          </p:cNvPr>
          <p:cNvSpPr>
            <a:spLocks noGrp="1"/>
          </p:cNvSpPr>
          <p:nvPr>
            <p:ph type="sldNum" sz="quarter" idx="11"/>
          </p:nvPr>
        </p:nvSpPr>
        <p:spPr/>
        <p:txBody>
          <a:bodyPr/>
          <a:lstStyle/>
          <a:p>
            <a:pPr>
              <a:defRPr/>
            </a:pPr>
            <a:fld id="{EBF73BDF-690D-4725-BA10-A7934ED52EAB}" type="slidenum">
              <a:rPr lang="zh-TW" altLang="en-US" smtClean="0"/>
              <a:pPr>
                <a:defRPr/>
              </a:pPr>
              <a:t>32</a:t>
            </a:fld>
            <a:endParaRPr lang="en-US" altLang="zh-TW" dirty="0"/>
          </a:p>
        </p:txBody>
      </p:sp>
      <p:sp>
        <p:nvSpPr>
          <p:cNvPr id="3" name="Rectangle 7">
            <a:extLst>
              <a:ext uri="{FF2B5EF4-FFF2-40B4-BE49-F238E27FC236}">
                <a16:creationId xmlns:a16="http://schemas.microsoft.com/office/drawing/2014/main" id="{46B7DDC7-3443-4FD2-AF1B-08DFFD94DDE3}"/>
              </a:ext>
            </a:extLst>
          </p:cNvPr>
          <p:cNvSpPr>
            <a:spLocks noChangeArrowheads="1"/>
          </p:cNvSpPr>
          <p:nvPr/>
        </p:nvSpPr>
        <p:spPr bwMode="auto">
          <a:xfrm>
            <a:off x="463176" y="17780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Electron energy </a:t>
            </a:r>
            <a:r>
              <a:rPr lang="en-US" altLang="zh-TW" sz="2400" dirty="0">
                <a:solidFill>
                  <a:schemeClr val="bg2">
                    <a:lumMod val="40000"/>
                    <a:lumOff val="60000"/>
                  </a:schemeClr>
                </a:solidFill>
                <a:latin typeface="Georgia" panose="02040502050405020303" pitchFamily="18" charset="0"/>
                <a:ea typeface="新細明體" pitchFamily="18" charset="-120"/>
              </a:rPr>
              <a:t>analyzer-CMA selection of E</a:t>
            </a:r>
            <a:r>
              <a:rPr lang="en-US" altLang="zh-TW" sz="2400" baseline="-25000" dirty="0">
                <a:solidFill>
                  <a:schemeClr val="bg2">
                    <a:lumMod val="40000"/>
                    <a:lumOff val="60000"/>
                  </a:schemeClr>
                </a:solidFill>
                <a:latin typeface="Georgia" panose="02040502050405020303" pitchFamily="18" charset="0"/>
                <a:ea typeface="新細明體" pitchFamily="18" charset="-120"/>
              </a:rPr>
              <a:t>0</a:t>
            </a:r>
          </a:p>
        </p:txBody>
      </p:sp>
    </p:spTree>
    <p:extLst>
      <p:ext uri="{BB962C8B-B14F-4D97-AF65-F5344CB8AC3E}">
        <p14:creationId xmlns:p14="http://schemas.microsoft.com/office/powerpoint/2010/main" val="30279354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8142A-02E9-1635-FF13-6131C3DFD7BA}"/>
            </a:ext>
          </a:extLst>
        </p:cNvPr>
        <p:cNvGrpSpPr/>
        <p:nvPr/>
      </p:nvGrpSpPr>
      <p:grpSpPr>
        <a:xfrm>
          <a:off x="0" y="0"/>
          <a:ext cx="0" cy="0"/>
          <a:chOff x="0" y="0"/>
          <a:chExt cx="0" cy="0"/>
        </a:xfrm>
      </p:grpSpPr>
      <p:sp>
        <p:nvSpPr>
          <p:cNvPr id="128004" name="Rectangle 4">
            <a:extLst>
              <a:ext uri="{FF2B5EF4-FFF2-40B4-BE49-F238E27FC236}">
                <a16:creationId xmlns:a16="http://schemas.microsoft.com/office/drawing/2014/main" id="{C49BBDFD-9E1C-1EED-B372-06EBE3113458}"/>
              </a:ext>
            </a:extLst>
          </p:cNvPr>
          <p:cNvSpPr>
            <a:spLocks noChangeArrowheads="1"/>
          </p:cNvSpPr>
          <p:nvPr/>
        </p:nvSpPr>
        <p:spPr bwMode="auto">
          <a:xfrm>
            <a:off x="114300" y="443753"/>
            <a:ext cx="8915400" cy="6140142"/>
          </a:xfrm>
          <a:prstGeom prst="rect">
            <a:avLst/>
          </a:prstGeom>
          <a:noFill/>
          <a:ln w="9525">
            <a:noFill/>
            <a:miter lim="800000"/>
            <a:headEnd/>
            <a:tailEnd/>
          </a:ln>
          <a:effectLst/>
        </p:spPr>
        <p:txBody>
          <a:bodyPr wrap="square" anchor="ctr">
            <a:spAutoFit/>
          </a:bodyPr>
          <a:lstStyle/>
          <a:p>
            <a:endParaRPr lang="en-US" altLang="zh-CN" sz="2000" dirty="0">
              <a:latin typeface="Georgia" panose="02040502050405020303" pitchFamily="18" charset="0"/>
              <a:ea typeface="宋体" pitchFamily="2" charset="-122"/>
            </a:endParaRPr>
          </a:p>
          <a:p>
            <a:r>
              <a:rPr lang="en-US" altLang="zh-CN" sz="2400" dirty="0">
                <a:solidFill>
                  <a:srgbClr val="0000FF"/>
                </a:solidFill>
                <a:latin typeface="Georgia" panose="02040502050405020303" pitchFamily="18" charset="0"/>
                <a:ea typeface="宋体" pitchFamily="2" charset="-122"/>
              </a:rPr>
              <a:t>Retarding mode</a:t>
            </a:r>
          </a:p>
          <a:p>
            <a:pPr marL="800100" lvl="1" indent="-342900">
              <a:spcAft>
                <a:spcPts val="600"/>
              </a:spcAft>
              <a:buFont typeface="Arial" panose="020B0604020202020204" pitchFamily="34" charset="0"/>
              <a:buChar char="•"/>
            </a:pPr>
            <a:r>
              <a:rPr lang="en-US" sz="2000" dirty="0">
                <a:latin typeface="Georgia" panose="02040502050405020303" pitchFamily="18" charset="0"/>
              </a:rPr>
              <a:t>The CMA is operated by </a:t>
            </a:r>
            <a:r>
              <a:rPr lang="en-US" sz="2000" dirty="0">
                <a:solidFill>
                  <a:schemeClr val="bg2">
                    <a:lumMod val="60000"/>
                    <a:lumOff val="40000"/>
                  </a:schemeClr>
                </a:solidFill>
                <a:latin typeface="Georgia" panose="02040502050405020303" pitchFamily="18" charset="0"/>
              </a:rPr>
              <a:t>varying the analyzer voltage </a:t>
            </a:r>
            <a:r>
              <a:rPr lang="en-US" sz="2000" dirty="0">
                <a:latin typeface="Georgia" panose="02040502050405020303" pitchFamily="18" charset="0"/>
              </a:rPr>
              <a:t>to scan different   kinetic energies, while the </a:t>
            </a:r>
            <a:r>
              <a:rPr lang="en-US" sz="2000" dirty="0">
                <a:solidFill>
                  <a:schemeClr val="bg2">
                    <a:lumMod val="60000"/>
                    <a:lumOff val="40000"/>
                  </a:schemeClr>
                </a:solidFill>
                <a:latin typeface="Georgia" panose="02040502050405020303" pitchFamily="18" charset="0"/>
              </a:rPr>
              <a:t>retarding voltage is set to a fixed value</a:t>
            </a:r>
          </a:p>
          <a:p>
            <a:pPr marL="800100" lvl="1" indent="-342900">
              <a:spcAft>
                <a:spcPts val="600"/>
              </a:spcAft>
              <a:buFont typeface="Arial" panose="020B0604020202020204" pitchFamily="34" charset="0"/>
              <a:buChar char="•"/>
            </a:pPr>
            <a:r>
              <a:rPr lang="en-US" sz="2000" dirty="0">
                <a:latin typeface="Georgia" panose="02040502050405020303" pitchFamily="18" charset="0"/>
              </a:rPr>
              <a:t>The retarding lens system first slows down (retards) incoming photoelectrons to a fraction of their original kinetic energy before they enter the CMA. The analyzer then scans by changing its voltage to accept electrons of different energies.</a:t>
            </a:r>
          </a:p>
          <a:p>
            <a:pPr marL="800100" lvl="1" indent="-342900">
              <a:spcAft>
                <a:spcPts val="600"/>
              </a:spcAft>
              <a:buFont typeface="Arial" panose="020B0604020202020204" pitchFamily="34" charset="0"/>
              <a:buChar char="•"/>
            </a:pPr>
            <a:r>
              <a:rPr lang="en-US" altLang="zh-CN" sz="2000" dirty="0">
                <a:latin typeface="Georgia" panose="02040502050405020303" pitchFamily="18" charset="0"/>
              </a:rPr>
              <a:t>Variable resolution (but retarded to improve the energy resolution)</a:t>
            </a:r>
          </a:p>
          <a:p>
            <a:r>
              <a:rPr lang="en-US" altLang="zh-CN" sz="2400" dirty="0">
                <a:solidFill>
                  <a:srgbClr val="0000FF"/>
                </a:solidFill>
                <a:latin typeface="Georgia" panose="02040502050405020303" pitchFamily="18" charset="0"/>
                <a:ea typeface="宋体" pitchFamily="2" charset="-122"/>
              </a:rPr>
              <a:t>Non-retarding mode</a:t>
            </a:r>
            <a:r>
              <a:rPr lang="en-US" altLang="zh-CN" sz="2400" dirty="0">
                <a:latin typeface="Georgia" panose="02040502050405020303" pitchFamily="18" charset="0"/>
                <a:ea typeface="宋体" pitchFamily="2" charset="-122"/>
              </a:rPr>
              <a:t> </a:t>
            </a:r>
          </a:p>
          <a:p>
            <a:pPr marL="742950" lvl="1" indent="-285750">
              <a:spcAft>
                <a:spcPts val="600"/>
              </a:spcAft>
              <a:buFont typeface="Arial" panose="020B0604020202020204" pitchFamily="34" charset="0"/>
              <a:buChar char="•"/>
            </a:pPr>
            <a:r>
              <a:rPr lang="en-US" sz="2000" dirty="0">
                <a:latin typeface="Georgia" panose="02040502050405020303" pitchFamily="18" charset="0"/>
              </a:rPr>
              <a:t>In this mode, the CMA is operated at </a:t>
            </a:r>
            <a:r>
              <a:rPr lang="en-US" sz="2000" dirty="0">
                <a:solidFill>
                  <a:schemeClr val="bg2">
                    <a:lumMod val="60000"/>
                    <a:lumOff val="40000"/>
                  </a:schemeClr>
                </a:solidFill>
                <a:latin typeface="Georgia" panose="02040502050405020303" pitchFamily="18" charset="0"/>
              </a:rPr>
              <a:t>a fixed pass energy</a:t>
            </a:r>
            <a:r>
              <a:rPr lang="en-US" sz="2000" dirty="0">
                <a:latin typeface="Georgia" panose="02040502050405020303" pitchFamily="18" charset="0"/>
              </a:rPr>
              <a:t>, which is the kinetic energy of electrons that can pass through the analyzer and reach the detector. </a:t>
            </a:r>
            <a:endParaRPr lang="en-US" altLang="zh-CN" sz="2000" dirty="0">
              <a:latin typeface="Georgia" panose="02040502050405020303" pitchFamily="18" charset="0"/>
              <a:ea typeface="宋体" pitchFamily="2" charset="-122"/>
            </a:endParaRPr>
          </a:p>
          <a:p>
            <a:pPr marL="742950" lvl="1" indent="-285750">
              <a:spcAft>
                <a:spcPts val="600"/>
              </a:spcAft>
              <a:buFont typeface="Arial" panose="020B0604020202020204" pitchFamily="34" charset="0"/>
              <a:buChar char="•"/>
            </a:pPr>
            <a:r>
              <a:rPr lang="en-US" sz="2000" dirty="0">
                <a:latin typeface="Georgia" panose="02040502050405020303" pitchFamily="18" charset="0"/>
              </a:rPr>
              <a:t>To scan a range of binding energies, the </a:t>
            </a:r>
            <a:r>
              <a:rPr lang="en-US" sz="2000" i="1" dirty="0">
                <a:latin typeface="Georgia" panose="02040502050405020303" pitchFamily="18" charset="0"/>
              </a:rPr>
              <a:t>analyzer voltage</a:t>
            </a:r>
            <a:r>
              <a:rPr lang="en-US" sz="2000" dirty="0">
                <a:latin typeface="Georgia" panose="02040502050405020303" pitchFamily="18" charset="0"/>
              </a:rPr>
              <a:t> is kept constant, while the </a:t>
            </a:r>
            <a:r>
              <a:rPr lang="en-US" sz="2000" i="1" dirty="0">
                <a:solidFill>
                  <a:schemeClr val="bg2">
                    <a:lumMod val="60000"/>
                    <a:lumOff val="40000"/>
                  </a:schemeClr>
                </a:solidFill>
                <a:latin typeface="Georgia" panose="02040502050405020303" pitchFamily="18" charset="0"/>
              </a:rPr>
              <a:t>retarding voltage</a:t>
            </a:r>
            <a:r>
              <a:rPr lang="en-US" sz="2000" dirty="0">
                <a:solidFill>
                  <a:schemeClr val="bg2">
                    <a:lumMod val="60000"/>
                    <a:lumOff val="40000"/>
                  </a:schemeClr>
                </a:solidFill>
                <a:latin typeface="Georgia" panose="02040502050405020303" pitchFamily="18" charset="0"/>
              </a:rPr>
              <a:t> is varied </a:t>
            </a:r>
            <a:r>
              <a:rPr lang="en-US" sz="2000" dirty="0">
                <a:latin typeface="Georgia" panose="02040502050405020303" pitchFamily="18" charset="0"/>
              </a:rPr>
              <a:t>to "tune" the kinetic energy of incoming electrons to match the fixed pass energy.</a:t>
            </a:r>
            <a:endParaRPr lang="en-US" altLang="zh-CN" sz="2000" dirty="0">
              <a:latin typeface="Georgia" panose="02040502050405020303" pitchFamily="18" charset="0"/>
              <a:ea typeface="宋体" pitchFamily="2" charset="-122"/>
            </a:endParaRPr>
          </a:p>
          <a:p>
            <a:pPr marL="742950" lvl="1" indent="-285750">
              <a:spcAft>
                <a:spcPts val="600"/>
              </a:spcAft>
              <a:buFont typeface="Arial" panose="020B0604020202020204" pitchFamily="34" charset="0"/>
              <a:buChar char="•"/>
            </a:pPr>
            <a:r>
              <a:rPr lang="en-US" sz="2000" dirty="0">
                <a:latin typeface="Georgia" panose="02040502050405020303" pitchFamily="18" charset="0"/>
              </a:rPr>
              <a:t>Since pass energy determines energy resolution, this mode delivers consistent resolution across the entire spectral range</a:t>
            </a:r>
            <a:r>
              <a:rPr lang="en-US" altLang="zh-CN" sz="2000" dirty="0">
                <a:latin typeface="Georgia" panose="02040502050405020303" pitchFamily="18" charset="0"/>
                <a:ea typeface="宋体" pitchFamily="2" charset="-122"/>
              </a:rPr>
              <a:t>.</a:t>
            </a:r>
          </a:p>
        </p:txBody>
      </p:sp>
      <p:sp>
        <p:nvSpPr>
          <p:cNvPr id="2" name="Slide Number Placeholder 1">
            <a:extLst>
              <a:ext uri="{FF2B5EF4-FFF2-40B4-BE49-F238E27FC236}">
                <a16:creationId xmlns:a16="http://schemas.microsoft.com/office/drawing/2014/main" id="{48293376-6464-1449-A424-5014B4B556B8}"/>
              </a:ext>
            </a:extLst>
          </p:cNvPr>
          <p:cNvSpPr>
            <a:spLocks noGrp="1"/>
          </p:cNvSpPr>
          <p:nvPr>
            <p:ph type="sldNum" sz="quarter" idx="11"/>
          </p:nvPr>
        </p:nvSpPr>
        <p:spPr/>
        <p:txBody>
          <a:bodyPr/>
          <a:lstStyle/>
          <a:p>
            <a:pPr>
              <a:defRPr/>
            </a:pPr>
            <a:fld id="{EBF73BDF-690D-4725-BA10-A7934ED52EAB}" type="slidenum">
              <a:rPr lang="zh-TW" altLang="en-US" smtClean="0"/>
              <a:pPr>
                <a:defRPr/>
              </a:pPr>
              <a:t>33</a:t>
            </a:fld>
            <a:endParaRPr lang="en-US" altLang="zh-TW" dirty="0"/>
          </a:p>
        </p:txBody>
      </p:sp>
      <p:sp>
        <p:nvSpPr>
          <p:cNvPr id="3" name="Rectangle 7">
            <a:extLst>
              <a:ext uri="{FF2B5EF4-FFF2-40B4-BE49-F238E27FC236}">
                <a16:creationId xmlns:a16="http://schemas.microsoft.com/office/drawing/2014/main" id="{CF1A97FE-66C5-AE79-662F-30D214D1327A}"/>
              </a:ext>
            </a:extLst>
          </p:cNvPr>
          <p:cNvSpPr>
            <a:spLocks noChangeArrowheads="1"/>
          </p:cNvSpPr>
          <p:nvPr/>
        </p:nvSpPr>
        <p:spPr bwMode="auto">
          <a:xfrm>
            <a:off x="348876" y="166315"/>
            <a:ext cx="8680824"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Electron energy </a:t>
            </a:r>
            <a:r>
              <a:rPr lang="en-US" altLang="zh-TW" sz="2400" dirty="0">
                <a:solidFill>
                  <a:schemeClr val="bg2">
                    <a:lumMod val="40000"/>
                    <a:lumOff val="60000"/>
                  </a:schemeClr>
                </a:solidFill>
                <a:latin typeface="Georgia" panose="02040502050405020303" pitchFamily="18" charset="0"/>
                <a:ea typeface="新細明體" pitchFamily="18" charset="-120"/>
              </a:rPr>
              <a:t>analyzer-CMA: energy filter</a:t>
            </a:r>
          </a:p>
        </p:txBody>
      </p:sp>
    </p:spTree>
    <p:extLst>
      <p:ext uri="{BB962C8B-B14F-4D97-AF65-F5344CB8AC3E}">
        <p14:creationId xmlns:p14="http://schemas.microsoft.com/office/powerpoint/2010/main" val="5764773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4"/>
          <p:cNvSpPr>
            <a:spLocks noChangeArrowheads="1"/>
          </p:cNvSpPr>
          <p:nvPr/>
        </p:nvSpPr>
        <p:spPr bwMode="auto">
          <a:xfrm>
            <a:off x="1206500" y="804795"/>
            <a:ext cx="6934200" cy="461665"/>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Concentric Hemispherical Analyzer (CHA)</a:t>
            </a:r>
          </a:p>
        </p:txBody>
      </p:sp>
      <p:pic>
        <p:nvPicPr>
          <p:cNvPr id="35843" name="Picture 5"/>
          <p:cNvPicPr>
            <a:picLocks noChangeAspect="1" noChangeArrowheads="1"/>
          </p:cNvPicPr>
          <p:nvPr/>
        </p:nvPicPr>
        <p:blipFill>
          <a:blip r:embed="rId2" cstate="print"/>
          <a:srcRect/>
          <a:stretch>
            <a:fillRect/>
          </a:stretch>
        </p:blipFill>
        <p:spPr bwMode="auto">
          <a:xfrm>
            <a:off x="1524000" y="1600200"/>
            <a:ext cx="4343400" cy="4110038"/>
          </a:xfrm>
          <a:prstGeom prst="rect">
            <a:avLst/>
          </a:prstGeom>
          <a:noFill/>
          <a:ln w="9525">
            <a:noFill/>
            <a:miter lim="800000"/>
            <a:headEnd/>
            <a:tailEnd/>
          </a:ln>
        </p:spPr>
      </p:pic>
      <p:pic>
        <p:nvPicPr>
          <p:cNvPr id="35844" name="Picture 6"/>
          <p:cNvPicPr>
            <a:picLocks noChangeAspect="1" noChangeArrowheads="1"/>
          </p:cNvPicPr>
          <p:nvPr/>
        </p:nvPicPr>
        <p:blipFill>
          <a:blip r:embed="rId3" cstate="print"/>
          <a:srcRect/>
          <a:stretch>
            <a:fillRect/>
          </a:stretch>
        </p:blipFill>
        <p:spPr bwMode="auto">
          <a:xfrm>
            <a:off x="304800" y="1404505"/>
            <a:ext cx="1498600" cy="2057400"/>
          </a:xfrm>
          <a:prstGeom prst="rect">
            <a:avLst/>
          </a:prstGeom>
          <a:noFill/>
          <a:ln w="9525">
            <a:noFill/>
            <a:miter lim="800000"/>
            <a:headEnd/>
            <a:tailEnd/>
          </a:ln>
        </p:spPr>
      </p:pic>
      <p:sp>
        <p:nvSpPr>
          <p:cNvPr id="35845" name="Text Box 7"/>
          <p:cNvSpPr txBox="1">
            <a:spLocks noChangeArrowheads="1"/>
          </p:cNvSpPr>
          <p:nvPr/>
        </p:nvSpPr>
        <p:spPr bwMode="auto">
          <a:xfrm>
            <a:off x="5791200" y="1676400"/>
            <a:ext cx="2755900" cy="3785652"/>
          </a:xfrm>
          <a:prstGeom prst="rect">
            <a:avLst/>
          </a:prstGeom>
          <a:noFill/>
          <a:ln w="9525">
            <a:noFill/>
            <a:miter lim="800000"/>
            <a:headEnd/>
            <a:tailEnd/>
          </a:ln>
        </p:spPr>
        <p:txBody>
          <a:bodyPr wrap="square">
            <a:spAutoFit/>
          </a:bodyPr>
          <a:lstStyle/>
          <a:p>
            <a:pPr marL="93663" indent="-93663" algn="just" eaLnBrk="1" hangingPunct="1"/>
            <a:r>
              <a:rPr lang="en-US" altLang="zh-TW" sz="2000" dirty="0">
                <a:latin typeface="Georgia" panose="02040502050405020303" pitchFamily="18" charset="0"/>
                <a:ea typeface="新細明體" pitchFamily="18" charset="-120"/>
              </a:rPr>
              <a:t>CHA is also called the </a:t>
            </a:r>
            <a:r>
              <a:rPr lang="en-US" altLang="zh-TW" sz="2000" dirty="0">
                <a:solidFill>
                  <a:srgbClr val="006600"/>
                </a:solidFill>
                <a:latin typeface="Georgia" panose="02040502050405020303" pitchFamily="18" charset="0"/>
                <a:ea typeface="新細明體" pitchFamily="18" charset="-120"/>
              </a:rPr>
              <a:t>spherical sector analyzer</a:t>
            </a:r>
            <a:r>
              <a:rPr lang="en-US" altLang="zh-TW" sz="2000" dirty="0">
                <a:latin typeface="Georgia" panose="02040502050405020303" pitchFamily="18" charset="0"/>
                <a:ea typeface="新細明體" pitchFamily="18" charset="-120"/>
              </a:rPr>
              <a:t> and the </a:t>
            </a:r>
            <a:r>
              <a:rPr lang="en-US" altLang="zh-TW" sz="2000" dirty="0">
                <a:solidFill>
                  <a:srgbClr val="006600"/>
                </a:solidFill>
                <a:latin typeface="Georgia" panose="02040502050405020303" pitchFamily="18" charset="0"/>
                <a:ea typeface="新細明體" pitchFamily="18" charset="-120"/>
              </a:rPr>
              <a:t>spherical deflection analyzer</a:t>
            </a:r>
            <a:r>
              <a:rPr lang="en-US" altLang="zh-TW" sz="2000" dirty="0">
                <a:latin typeface="Georgia" panose="02040502050405020303" pitchFamily="18" charset="0"/>
                <a:ea typeface="新細明體" pitchFamily="18" charset="-120"/>
              </a:rPr>
              <a:t>.  It was the type of analyzer chosen in the earliest days of XPS as most suitable for that technique, and it has remained so ever since. </a:t>
            </a:r>
            <a:endParaRPr lang="en-US" altLang="zh-CN" sz="2000" dirty="0">
              <a:latin typeface="Georgia" panose="02040502050405020303" pitchFamily="18" charset="0"/>
              <a:ea typeface="SimSun" pitchFamily="2" charset="-122"/>
            </a:endParaRPr>
          </a:p>
        </p:txBody>
      </p:sp>
      <p:sp>
        <p:nvSpPr>
          <p:cNvPr id="35846" name="Rectangle 8"/>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Electron energy analyzer-CHA</a:t>
            </a:r>
          </a:p>
        </p:txBody>
      </p:sp>
      <p:sp>
        <p:nvSpPr>
          <p:cNvPr id="2" name="Slide Number Placeholder 1">
            <a:extLst>
              <a:ext uri="{FF2B5EF4-FFF2-40B4-BE49-F238E27FC236}">
                <a16:creationId xmlns:a16="http://schemas.microsoft.com/office/drawing/2014/main" id="{79FC36DB-021C-45FE-971C-986AC68DE79E}"/>
              </a:ext>
            </a:extLst>
          </p:cNvPr>
          <p:cNvSpPr>
            <a:spLocks noGrp="1"/>
          </p:cNvSpPr>
          <p:nvPr>
            <p:ph type="sldNum" sz="quarter" idx="11"/>
          </p:nvPr>
        </p:nvSpPr>
        <p:spPr/>
        <p:txBody>
          <a:bodyPr/>
          <a:lstStyle/>
          <a:p>
            <a:pPr>
              <a:defRPr/>
            </a:pPr>
            <a:fld id="{EBF73BDF-690D-4725-BA10-A7934ED52EAB}" type="slidenum">
              <a:rPr lang="zh-TW" altLang="en-US" smtClean="0">
                <a:latin typeface="Georgia" panose="02040502050405020303" pitchFamily="18" charset="0"/>
              </a:rPr>
              <a:pPr>
                <a:defRPr/>
              </a:pPr>
              <a:t>34</a:t>
            </a:fld>
            <a:endParaRPr lang="en-US" altLang="zh-TW" dirty="0">
              <a:latin typeface="Georgia" panose="02040502050405020303" pitchFamily="18" charset="0"/>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866" name="Picture 4"/>
          <p:cNvPicPr>
            <a:picLocks noChangeAspect="1" noChangeArrowheads="1"/>
          </p:cNvPicPr>
          <p:nvPr/>
        </p:nvPicPr>
        <p:blipFill>
          <a:blip r:embed="rId2" cstate="print"/>
          <a:srcRect/>
          <a:stretch>
            <a:fillRect/>
          </a:stretch>
        </p:blipFill>
        <p:spPr bwMode="auto">
          <a:xfrm>
            <a:off x="1371600" y="1644650"/>
            <a:ext cx="6705600" cy="3543300"/>
          </a:xfrm>
          <a:prstGeom prst="rect">
            <a:avLst/>
          </a:prstGeom>
          <a:noFill/>
          <a:ln w="9525">
            <a:noFill/>
            <a:miter lim="800000"/>
            <a:headEnd/>
            <a:tailEnd/>
          </a:ln>
        </p:spPr>
      </p:pic>
      <p:sp>
        <p:nvSpPr>
          <p:cNvPr id="36867" name="Text Box 5"/>
          <p:cNvSpPr txBox="1">
            <a:spLocks noChangeArrowheads="1"/>
          </p:cNvSpPr>
          <p:nvPr/>
        </p:nvSpPr>
        <p:spPr bwMode="auto">
          <a:xfrm>
            <a:off x="914400" y="5378450"/>
            <a:ext cx="7483475" cy="707886"/>
          </a:xfrm>
          <a:prstGeom prst="rect">
            <a:avLst/>
          </a:prstGeom>
          <a:noFill/>
          <a:ln w="9525">
            <a:noFill/>
            <a:miter lim="800000"/>
            <a:headEnd/>
            <a:tailEnd/>
          </a:ln>
        </p:spPr>
        <p:txBody>
          <a:bodyPr>
            <a:spAutoFit/>
          </a:bodyPr>
          <a:lstStyle/>
          <a:p>
            <a:pPr marL="109538" indent="-109538" eaLnBrk="1" hangingPunct="1"/>
            <a:r>
              <a:rPr lang="en-US" altLang="zh-TW" sz="2000" dirty="0">
                <a:latin typeface="Georgia" panose="02040502050405020303" pitchFamily="18" charset="0"/>
                <a:ea typeface="新細明體" pitchFamily="18" charset="-120"/>
              </a:rPr>
              <a:t>The basic form of a CHA consists of two hemispheres of radii </a:t>
            </a:r>
            <a:r>
              <a:rPr lang="en-US" altLang="zh-TW" sz="2000" i="1" dirty="0">
                <a:solidFill>
                  <a:srgbClr val="006600"/>
                </a:solidFill>
                <a:latin typeface="Georgia" panose="02040502050405020303" pitchFamily="18" charset="0"/>
                <a:ea typeface="新細明體" pitchFamily="18" charset="-120"/>
              </a:rPr>
              <a:t>R</a:t>
            </a:r>
            <a:r>
              <a:rPr lang="en-US" altLang="zh-TW" sz="2000" i="1" baseline="-30000" dirty="0">
                <a:solidFill>
                  <a:srgbClr val="006600"/>
                </a:solidFill>
                <a:latin typeface="Georgia" panose="02040502050405020303" pitchFamily="18" charset="0"/>
                <a:ea typeface="新細明體" pitchFamily="18" charset="-120"/>
              </a:rPr>
              <a:t>1</a:t>
            </a:r>
            <a:r>
              <a:rPr lang="en-US" altLang="zh-TW" sz="2000" dirty="0">
                <a:latin typeface="Georgia" panose="02040502050405020303" pitchFamily="18" charset="0"/>
                <a:ea typeface="新細明體" pitchFamily="18" charset="-120"/>
              </a:rPr>
              <a:t> (inner) and </a:t>
            </a:r>
            <a:r>
              <a:rPr lang="en-US" altLang="zh-TW" sz="2000" i="1" dirty="0">
                <a:solidFill>
                  <a:srgbClr val="006600"/>
                </a:solidFill>
                <a:latin typeface="Georgia" panose="02040502050405020303" pitchFamily="18" charset="0"/>
                <a:ea typeface="新細明體" pitchFamily="18" charset="-120"/>
              </a:rPr>
              <a:t>R</a:t>
            </a:r>
            <a:r>
              <a:rPr lang="en-US" altLang="zh-TW" sz="2000" i="1" baseline="-30000" dirty="0">
                <a:solidFill>
                  <a:srgbClr val="006600"/>
                </a:solidFill>
                <a:latin typeface="Georgia" panose="02040502050405020303" pitchFamily="18" charset="0"/>
                <a:ea typeface="新細明體" pitchFamily="18" charset="-120"/>
              </a:rPr>
              <a:t>2</a:t>
            </a:r>
            <a:r>
              <a:rPr lang="en-US" altLang="zh-TW" sz="2000" dirty="0">
                <a:latin typeface="Georgia" panose="02040502050405020303" pitchFamily="18" charset="0"/>
                <a:ea typeface="新細明體" pitchFamily="18" charset="-120"/>
              </a:rPr>
              <a:t> (outer) positioned concentrically.</a:t>
            </a:r>
            <a:endParaRPr lang="en-US" altLang="zh-CN" sz="2000" dirty="0">
              <a:latin typeface="Georgia" panose="02040502050405020303" pitchFamily="18" charset="0"/>
              <a:ea typeface="SimSun" pitchFamily="2" charset="-122"/>
            </a:endParaRPr>
          </a:p>
        </p:txBody>
      </p:sp>
      <p:sp>
        <p:nvSpPr>
          <p:cNvPr id="36868" name="Rectangle 6"/>
          <p:cNvSpPr>
            <a:spLocks noChangeArrowheads="1"/>
          </p:cNvSpPr>
          <p:nvPr/>
        </p:nvSpPr>
        <p:spPr bwMode="auto">
          <a:xfrm>
            <a:off x="381000" y="152400"/>
            <a:ext cx="9229725"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Electron energy </a:t>
            </a:r>
            <a:r>
              <a:rPr lang="en-US" altLang="zh-TW" sz="2400" dirty="0">
                <a:solidFill>
                  <a:schemeClr val="bg2">
                    <a:lumMod val="40000"/>
                    <a:lumOff val="60000"/>
                  </a:schemeClr>
                </a:solidFill>
                <a:latin typeface="Georgia" panose="02040502050405020303" pitchFamily="18" charset="0"/>
                <a:ea typeface="新細明體" pitchFamily="18" charset="-120"/>
              </a:rPr>
              <a:t>analyzer-CHA instrumentation</a:t>
            </a:r>
          </a:p>
        </p:txBody>
      </p:sp>
      <p:sp>
        <p:nvSpPr>
          <p:cNvPr id="36869" name="Rectangle 7"/>
          <p:cNvSpPr>
            <a:spLocks noChangeArrowheads="1"/>
          </p:cNvSpPr>
          <p:nvPr/>
        </p:nvSpPr>
        <p:spPr bwMode="auto">
          <a:xfrm>
            <a:off x="1219200" y="1066800"/>
            <a:ext cx="6934200" cy="457200"/>
          </a:xfrm>
          <a:prstGeom prst="rect">
            <a:avLst/>
          </a:prstGeom>
          <a:noFill/>
          <a:ln w="9525">
            <a:noFill/>
            <a:miter lim="800000"/>
            <a:headEnd/>
            <a:tailEnd/>
          </a:ln>
        </p:spPr>
        <p:txBody>
          <a:bodyPr>
            <a:spAutoFit/>
          </a:bodyPr>
          <a:lstStyle/>
          <a:p>
            <a:pPr algn="ctr" eaLnBrk="1" hangingPunct="1"/>
            <a:r>
              <a:rPr lang="en-US" altLang="zh-TW" sz="2400">
                <a:ea typeface="新細明體" pitchFamily="18" charset="-120"/>
              </a:rPr>
              <a:t>Concentric Hemispherical Analyzer (CHA)</a:t>
            </a:r>
          </a:p>
        </p:txBody>
      </p:sp>
      <p:sp>
        <p:nvSpPr>
          <p:cNvPr id="2" name="Slide Number Placeholder 1">
            <a:extLst>
              <a:ext uri="{FF2B5EF4-FFF2-40B4-BE49-F238E27FC236}">
                <a16:creationId xmlns:a16="http://schemas.microsoft.com/office/drawing/2014/main" id="{2C8E8196-049C-4099-AFE9-FCC4BBE6BEE1}"/>
              </a:ext>
            </a:extLst>
          </p:cNvPr>
          <p:cNvSpPr>
            <a:spLocks noGrp="1"/>
          </p:cNvSpPr>
          <p:nvPr>
            <p:ph type="sldNum" sz="quarter" idx="11"/>
          </p:nvPr>
        </p:nvSpPr>
        <p:spPr/>
        <p:txBody>
          <a:bodyPr/>
          <a:lstStyle/>
          <a:p>
            <a:pPr>
              <a:defRPr/>
            </a:pPr>
            <a:fld id="{EBF73BDF-690D-4725-BA10-A7934ED52EAB}" type="slidenum">
              <a:rPr lang="zh-TW" altLang="en-US" smtClean="0"/>
              <a:pPr>
                <a:defRPr/>
              </a:pPr>
              <a:t>35</a:t>
            </a:fld>
            <a:endParaRPr lang="en-US" altLang="zh-TW"/>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293" name="Group 9"/>
          <p:cNvGrpSpPr>
            <a:grpSpLocks/>
          </p:cNvGrpSpPr>
          <p:nvPr/>
        </p:nvGrpSpPr>
        <p:grpSpPr bwMode="auto">
          <a:xfrm>
            <a:off x="838200" y="1828800"/>
            <a:ext cx="7331075" cy="4486275"/>
            <a:chOff x="806" y="1082"/>
            <a:chExt cx="4618" cy="2826"/>
          </a:xfrm>
        </p:grpSpPr>
        <p:sp>
          <p:nvSpPr>
            <p:cNvPr id="12296" name="Text Box 4"/>
            <p:cNvSpPr txBox="1">
              <a:spLocks noChangeArrowheads="1"/>
            </p:cNvSpPr>
            <p:nvPr/>
          </p:nvSpPr>
          <p:spPr bwMode="auto">
            <a:xfrm>
              <a:off x="806" y="1082"/>
              <a:ext cx="4618" cy="2826"/>
            </a:xfrm>
            <a:prstGeom prst="rect">
              <a:avLst/>
            </a:prstGeom>
            <a:noFill/>
            <a:ln w="9525">
              <a:noFill/>
              <a:miter lim="800000"/>
              <a:headEnd/>
              <a:tailEnd/>
            </a:ln>
          </p:spPr>
          <p:txBody>
            <a:bodyPr>
              <a:spAutoFit/>
            </a:bodyPr>
            <a:lstStyle/>
            <a:p>
              <a:pPr marL="109538" indent="-109538" algn="just" eaLnBrk="1" hangingPunct="1"/>
              <a:r>
                <a:rPr lang="en-US" altLang="zh-TW" dirty="0">
                  <a:latin typeface="Georgia" panose="02040502050405020303" pitchFamily="18" charset="0"/>
                  <a:ea typeface="新細明體" pitchFamily="18" charset="-120"/>
                </a:rPr>
                <a:t>Potential </a:t>
              </a:r>
              <a:r>
                <a:rPr lang="en-US" altLang="zh-TW" i="1" dirty="0">
                  <a:latin typeface="Georgia" panose="02040502050405020303" pitchFamily="18" charset="0"/>
                  <a:ea typeface="新細明體" pitchFamily="18" charset="-120"/>
                </a:rPr>
                <a:t>-V</a:t>
              </a:r>
              <a:r>
                <a:rPr lang="en-US" altLang="zh-TW" i="1" baseline="-30000" dirty="0">
                  <a:latin typeface="Georgia" panose="02040502050405020303" pitchFamily="18" charset="0"/>
                  <a:ea typeface="新細明體" pitchFamily="18" charset="-120"/>
                </a:rPr>
                <a:t>1</a:t>
              </a:r>
              <a:r>
                <a:rPr lang="en-US" altLang="zh-TW" dirty="0">
                  <a:latin typeface="Georgia" panose="02040502050405020303" pitchFamily="18" charset="0"/>
                  <a:ea typeface="新細明體" pitchFamily="18" charset="-120"/>
                </a:rPr>
                <a:t> and </a:t>
              </a:r>
              <a:r>
                <a:rPr lang="en-US" altLang="zh-TW" i="1" dirty="0">
                  <a:latin typeface="Georgia" panose="02040502050405020303" pitchFamily="18" charset="0"/>
                  <a:ea typeface="新細明體" pitchFamily="18" charset="-120"/>
                </a:rPr>
                <a:t>-V</a:t>
              </a:r>
              <a:r>
                <a:rPr lang="en-US" altLang="zh-TW" i="1" baseline="-30000" dirty="0">
                  <a:latin typeface="Georgia" panose="02040502050405020303" pitchFamily="18" charset="0"/>
                  <a:ea typeface="新細明體" pitchFamily="18" charset="-120"/>
                </a:rPr>
                <a:t>2</a:t>
              </a:r>
              <a:r>
                <a:rPr lang="en-US" altLang="zh-TW" dirty="0">
                  <a:latin typeface="Georgia" panose="02040502050405020303" pitchFamily="18" charset="0"/>
                  <a:ea typeface="新細明體" pitchFamily="18" charset="-120"/>
                </a:rPr>
                <a:t> are applied to the inner and outer hemispheres respectively, with </a:t>
              </a:r>
              <a:r>
                <a:rPr lang="en-US" altLang="zh-TW" i="1" dirty="0">
                  <a:latin typeface="Georgia" panose="02040502050405020303" pitchFamily="18" charset="0"/>
                  <a:ea typeface="新細明體" pitchFamily="18" charset="-120"/>
                </a:rPr>
                <a:t>V</a:t>
              </a:r>
              <a:r>
                <a:rPr lang="en-US" altLang="zh-TW" i="1" baseline="-30000" dirty="0">
                  <a:latin typeface="Georgia" panose="02040502050405020303" pitchFamily="18" charset="0"/>
                  <a:ea typeface="新細明體" pitchFamily="18" charset="-120"/>
                </a:rPr>
                <a:t>2</a:t>
              </a:r>
              <a:r>
                <a:rPr lang="en-US" altLang="zh-TW" dirty="0">
                  <a:latin typeface="Georgia" panose="02040502050405020303" pitchFamily="18" charset="0"/>
                  <a:ea typeface="新細明體" pitchFamily="18" charset="-120"/>
                </a:rPr>
                <a:t> greater than </a:t>
              </a:r>
              <a:r>
                <a:rPr lang="en-US" altLang="zh-TW" i="1" dirty="0">
                  <a:latin typeface="Georgia" panose="02040502050405020303" pitchFamily="18" charset="0"/>
                  <a:ea typeface="新細明體" pitchFamily="18" charset="-120"/>
                </a:rPr>
                <a:t>V</a:t>
              </a:r>
              <a:r>
                <a:rPr lang="en-US" altLang="zh-TW" i="1" baseline="-30000" dirty="0">
                  <a:latin typeface="Georgia" panose="02040502050405020303" pitchFamily="18" charset="0"/>
                  <a:ea typeface="新細明體" pitchFamily="18" charset="-120"/>
                </a:rPr>
                <a:t>1</a:t>
              </a:r>
              <a:r>
                <a:rPr lang="en-US" altLang="zh-TW" baseline="-30000" dirty="0">
                  <a:latin typeface="Georgia" panose="02040502050405020303" pitchFamily="18" charset="0"/>
                  <a:ea typeface="新細明體" pitchFamily="18" charset="-120"/>
                </a:rPr>
                <a:t> </a:t>
              </a:r>
              <a:r>
                <a:rPr lang="en-US" altLang="zh-TW" dirty="0">
                  <a:latin typeface="Georgia" panose="02040502050405020303" pitchFamily="18" charset="0"/>
                  <a:ea typeface="新細明體" pitchFamily="18" charset="-120"/>
                </a:rPr>
                <a:t>.  The medium </a:t>
              </a:r>
              <a:r>
                <a:rPr lang="en-US" altLang="zh-TW" dirty="0">
                  <a:solidFill>
                    <a:srgbClr val="006600"/>
                  </a:solidFill>
                  <a:latin typeface="Georgia" panose="02040502050405020303" pitchFamily="18" charset="0"/>
                  <a:ea typeface="新細明體" pitchFamily="18" charset="-120"/>
                </a:rPr>
                <a:t>equipotential surface</a:t>
              </a:r>
              <a:r>
                <a:rPr lang="en-US" altLang="zh-TW" dirty="0">
                  <a:latin typeface="Georgia" panose="02040502050405020303" pitchFamily="18" charset="0"/>
                  <a:ea typeface="新細明體" pitchFamily="18" charset="-120"/>
                </a:rPr>
                <a:t> between the hemispheres has radius </a:t>
              </a:r>
              <a:r>
                <a:rPr lang="en-US" altLang="zh-TW" i="1" dirty="0">
                  <a:latin typeface="Georgia" panose="02040502050405020303" pitchFamily="18" charset="0"/>
                  <a:ea typeface="新細明體" pitchFamily="18" charset="-120"/>
                </a:rPr>
                <a:t>R</a:t>
              </a:r>
              <a:r>
                <a:rPr lang="en-US" altLang="zh-TW" i="1" baseline="-30000" dirty="0">
                  <a:latin typeface="Georgia" panose="02040502050405020303" pitchFamily="18" charset="0"/>
                  <a:ea typeface="新細明體" pitchFamily="18" charset="-120"/>
                </a:rPr>
                <a:t>o</a:t>
              </a:r>
              <a:r>
                <a:rPr lang="en-US" altLang="zh-TW" dirty="0">
                  <a:latin typeface="Georgia" panose="02040502050405020303" pitchFamily="18" charset="0"/>
                  <a:ea typeface="新細明體" pitchFamily="18" charset="-120"/>
                </a:rPr>
                <a:t> and the source </a:t>
              </a:r>
              <a:r>
                <a:rPr lang="en-US" altLang="zh-TW" i="1" dirty="0">
                  <a:latin typeface="Georgia" panose="02040502050405020303" pitchFamily="18" charset="0"/>
                  <a:ea typeface="新細明體" pitchFamily="18" charset="-120"/>
                </a:rPr>
                <a:t>S</a:t>
              </a:r>
              <a:r>
                <a:rPr lang="en-US" altLang="zh-TW" dirty="0">
                  <a:latin typeface="Georgia" panose="02040502050405020303" pitchFamily="18" charset="0"/>
                  <a:ea typeface="新細明體" pitchFamily="18" charset="-120"/>
                </a:rPr>
                <a:t> and focus </a:t>
              </a:r>
              <a:r>
                <a:rPr lang="en-US" altLang="zh-TW" i="1" dirty="0">
                  <a:latin typeface="Georgia" panose="02040502050405020303" pitchFamily="18" charset="0"/>
                  <a:ea typeface="新細明體" pitchFamily="18" charset="-120"/>
                </a:rPr>
                <a:t>F</a:t>
              </a:r>
              <a:r>
                <a:rPr lang="en-US" altLang="zh-TW" dirty="0">
                  <a:latin typeface="Georgia" panose="02040502050405020303" pitchFamily="18" charset="0"/>
                  <a:ea typeface="新細明體" pitchFamily="18" charset="-120"/>
                </a:rPr>
                <a:t> are collinear with the </a:t>
              </a:r>
              <a:r>
                <a:rPr lang="en-US" altLang="zh-TW" dirty="0" err="1">
                  <a:latin typeface="Georgia" panose="02040502050405020303" pitchFamily="18" charset="0"/>
                  <a:ea typeface="新細明體" pitchFamily="18" charset="-120"/>
                </a:rPr>
                <a:t>centre</a:t>
              </a:r>
              <a:r>
                <a:rPr lang="en-US" altLang="zh-TW" dirty="0">
                  <a:latin typeface="Georgia" panose="02040502050405020303" pitchFamily="18" charset="0"/>
                  <a:ea typeface="新細明體" pitchFamily="18" charset="-120"/>
                </a:rPr>
                <a:t> of curvature.  The potential </a:t>
              </a:r>
              <a:r>
                <a:rPr lang="en-US" altLang="zh-TW" i="1" dirty="0">
                  <a:latin typeface="Georgia" panose="02040502050405020303" pitchFamily="18" charset="0"/>
                  <a:ea typeface="新細明體" pitchFamily="18" charset="-120"/>
                </a:rPr>
                <a:t>-V</a:t>
              </a:r>
              <a:r>
                <a:rPr lang="en-US" altLang="zh-TW" i="1" baseline="-30000" dirty="0">
                  <a:latin typeface="Georgia" panose="02040502050405020303" pitchFamily="18" charset="0"/>
                  <a:ea typeface="新細明體" pitchFamily="18" charset="-120"/>
                </a:rPr>
                <a:t>o</a:t>
              </a:r>
              <a:r>
                <a:rPr lang="en-US" altLang="zh-TW" dirty="0">
                  <a:latin typeface="Georgia" panose="02040502050405020303" pitchFamily="18" charset="0"/>
                  <a:ea typeface="新細明體" pitchFamily="18" charset="-120"/>
                </a:rPr>
                <a:t> along the median surface is</a:t>
              </a:r>
            </a:p>
            <a:p>
              <a:pPr marL="109538" indent="-109538" algn="just" eaLnBrk="1" hangingPunct="1"/>
              <a:endParaRPr lang="en-US" altLang="zh-TW" dirty="0">
                <a:latin typeface="Georgia" panose="02040502050405020303" pitchFamily="18" charset="0"/>
                <a:ea typeface="新細明體" pitchFamily="18" charset="-120"/>
              </a:endParaRPr>
            </a:p>
            <a:p>
              <a:pPr marL="109538" indent="-109538" algn="just" eaLnBrk="1" hangingPunct="1"/>
              <a:endParaRPr lang="en-US" altLang="zh-TW" dirty="0">
                <a:latin typeface="Georgia" panose="02040502050405020303" pitchFamily="18" charset="0"/>
                <a:ea typeface="新細明體" pitchFamily="18" charset="-120"/>
              </a:endParaRPr>
            </a:p>
            <a:p>
              <a:pPr marL="109538" indent="-109538" algn="just" eaLnBrk="1" hangingPunct="1"/>
              <a:endParaRPr lang="en-US" altLang="zh-TW" dirty="0">
                <a:latin typeface="Georgia" panose="02040502050405020303" pitchFamily="18" charset="0"/>
                <a:ea typeface="新細明體" pitchFamily="18" charset="-120"/>
              </a:endParaRPr>
            </a:p>
            <a:p>
              <a:pPr marL="109538" indent="-109538" algn="just" eaLnBrk="1" hangingPunct="1"/>
              <a:endParaRPr lang="en-US" altLang="zh-TW" dirty="0">
                <a:latin typeface="Georgia" panose="02040502050405020303" pitchFamily="18" charset="0"/>
                <a:ea typeface="新細明體" pitchFamily="18" charset="-120"/>
              </a:endParaRPr>
            </a:p>
            <a:p>
              <a:pPr marL="109538" indent="-109538" algn="just" eaLnBrk="1" hangingPunct="1"/>
              <a:r>
                <a:rPr lang="en-US" altLang="zh-TW" dirty="0">
                  <a:latin typeface="Georgia" panose="02040502050405020303" pitchFamily="18" charset="0"/>
                  <a:ea typeface="新細明體" pitchFamily="18" charset="-120"/>
                </a:rPr>
                <a:t>If electrons of energy </a:t>
              </a:r>
              <a:r>
                <a:rPr lang="en-US" altLang="zh-TW" i="1" dirty="0">
                  <a:latin typeface="Georgia" panose="02040502050405020303" pitchFamily="18" charset="0"/>
                  <a:ea typeface="新細明體" pitchFamily="18" charset="-120"/>
                </a:rPr>
                <a:t>E</a:t>
              </a:r>
              <a:r>
                <a:rPr lang="en-US" altLang="zh-TW" dirty="0">
                  <a:latin typeface="Georgia" panose="02040502050405020303" pitchFamily="18" charset="0"/>
                  <a:ea typeface="新細明體" pitchFamily="18" charset="-120"/>
                </a:rPr>
                <a:t> are injected </a:t>
              </a:r>
              <a:r>
                <a:rPr lang="en-US" altLang="zh-TW" dirty="0">
                  <a:solidFill>
                    <a:srgbClr val="006600"/>
                  </a:solidFill>
                  <a:latin typeface="Georgia" panose="02040502050405020303" pitchFamily="18" charset="0"/>
                  <a:ea typeface="新細明體" pitchFamily="18" charset="-120"/>
                </a:rPr>
                <a:t>tangentially</a:t>
              </a:r>
              <a:r>
                <a:rPr lang="en-US" altLang="zh-TW" dirty="0">
                  <a:latin typeface="Georgia" panose="02040502050405020303" pitchFamily="18" charset="0"/>
                  <a:ea typeface="新細明體" pitchFamily="18" charset="-120"/>
                </a:rPr>
                <a:t> to the median surface at radius </a:t>
              </a:r>
              <a:r>
                <a:rPr lang="en-US" altLang="zh-TW" i="1" dirty="0">
                  <a:latin typeface="Georgia" panose="02040502050405020303" pitchFamily="18" charset="0"/>
                  <a:ea typeface="新細明體" pitchFamily="18" charset="-120"/>
                </a:rPr>
                <a:t>R</a:t>
              </a:r>
              <a:r>
                <a:rPr lang="en-US" altLang="zh-TW" i="1" baseline="-30000" dirty="0">
                  <a:latin typeface="Georgia" panose="02040502050405020303" pitchFamily="18" charset="0"/>
                  <a:ea typeface="新細明體" pitchFamily="18" charset="-120"/>
                </a:rPr>
                <a:t>o</a:t>
              </a:r>
              <a:r>
                <a:rPr lang="en-US" altLang="zh-TW" dirty="0">
                  <a:latin typeface="Georgia" panose="02040502050405020303" pitchFamily="18" charset="0"/>
                  <a:ea typeface="新細明體" pitchFamily="18" charset="-120"/>
                </a:rPr>
                <a:t> they will describe circular orbits of radius </a:t>
              </a:r>
              <a:r>
                <a:rPr lang="en-US" altLang="zh-TW" i="1" dirty="0">
                  <a:latin typeface="Georgia" panose="02040502050405020303" pitchFamily="18" charset="0"/>
                  <a:ea typeface="新細明體" pitchFamily="18" charset="-120"/>
                </a:rPr>
                <a:t>R</a:t>
              </a:r>
              <a:r>
                <a:rPr lang="en-US" altLang="zh-TW" i="1" baseline="-30000" dirty="0">
                  <a:latin typeface="Georgia" panose="02040502050405020303" pitchFamily="18" charset="0"/>
                  <a:ea typeface="新細明體" pitchFamily="18" charset="-120"/>
                </a:rPr>
                <a:t>o</a:t>
              </a:r>
              <a:r>
                <a:rPr lang="en-US" altLang="zh-TW" dirty="0">
                  <a:latin typeface="Georgia" panose="02040502050405020303" pitchFamily="18" charset="0"/>
                  <a:ea typeface="新細明體" pitchFamily="18" charset="-120"/>
                </a:rPr>
                <a:t> and will follow the equation</a:t>
              </a:r>
            </a:p>
            <a:p>
              <a:pPr marL="109538" indent="-109538" algn="just" eaLnBrk="1" hangingPunct="1"/>
              <a:endParaRPr lang="en-US" altLang="zh-TW" dirty="0">
                <a:latin typeface="Georgia" panose="02040502050405020303" pitchFamily="18" charset="0"/>
                <a:ea typeface="新細明體" pitchFamily="18" charset="-120"/>
              </a:endParaRPr>
            </a:p>
            <a:p>
              <a:pPr marL="109538" indent="-109538" algn="just" eaLnBrk="1" hangingPunct="1"/>
              <a:endParaRPr lang="en-US" altLang="zh-TW" dirty="0">
                <a:latin typeface="Georgia" panose="02040502050405020303" pitchFamily="18" charset="0"/>
                <a:ea typeface="新細明體" pitchFamily="18" charset="-120"/>
              </a:endParaRPr>
            </a:p>
            <a:p>
              <a:pPr marL="109538" indent="-109538" algn="just" eaLnBrk="1" hangingPunct="1"/>
              <a:endParaRPr lang="en-US" altLang="zh-TW" dirty="0">
                <a:latin typeface="Georgia" panose="02040502050405020303" pitchFamily="18" charset="0"/>
                <a:ea typeface="新細明體" pitchFamily="18" charset="-120"/>
              </a:endParaRPr>
            </a:p>
            <a:p>
              <a:pPr marL="109538" indent="-109538" algn="just" eaLnBrk="1" hangingPunct="1"/>
              <a:r>
                <a:rPr lang="en-US" altLang="zh-TW" dirty="0">
                  <a:latin typeface="Georgia" panose="02040502050405020303" pitchFamily="18" charset="0"/>
                  <a:ea typeface="新細明體" pitchFamily="18" charset="-120"/>
                </a:rPr>
                <a:t>where  </a:t>
              </a:r>
              <a:endParaRPr lang="en-US" altLang="zh-CN" dirty="0">
                <a:latin typeface="Georgia" panose="02040502050405020303" pitchFamily="18" charset="0"/>
                <a:ea typeface="SimSun" pitchFamily="2" charset="-122"/>
              </a:endParaRPr>
            </a:p>
          </p:txBody>
        </p:sp>
        <p:graphicFrame>
          <p:nvGraphicFramePr>
            <p:cNvPr id="12290" name="Object 5"/>
            <p:cNvGraphicFramePr>
              <a:graphicFrameLocks noChangeAspect="1"/>
            </p:cNvGraphicFramePr>
            <p:nvPr/>
          </p:nvGraphicFramePr>
          <p:xfrm>
            <a:off x="2544" y="2064"/>
            <a:ext cx="1200" cy="451"/>
          </p:xfrm>
          <a:graphic>
            <a:graphicData uri="http://schemas.openxmlformats.org/presentationml/2006/ole">
              <mc:AlternateContent xmlns:mc="http://schemas.openxmlformats.org/markup-compatibility/2006">
                <mc:Choice xmlns:v="urn:schemas-microsoft-com:vml" Requires="v">
                  <p:oleObj r:id="rId3" imgW="1498600" imgH="558800" progId="Equation.3">
                    <p:embed/>
                  </p:oleObj>
                </mc:Choice>
                <mc:Fallback>
                  <p:oleObj r:id="rId3" imgW="1498600" imgH="558800" progId="Equation.3">
                    <p:embed/>
                    <p:pic>
                      <p:nvPicPr>
                        <p:cNvPr id="12290"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44" y="2064"/>
                          <a:ext cx="1200" cy="451"/>
                        </a:xfrm>
                        <a:prstGeom prst="rect">
                          <a:avLst/>
                        </a:prstGeom>
                        <a:noFill/>
                        <a:extLst>
                          <a:ext uri="{909E8E84-426E-40DD-AFC4-6F175D3DCCD1}">
                            <a14:hiddenFill xmlns:a14="http://schemas.microsoft.com/office/drawing/2010/main">
                              <a:solidFill>
                                <a:schemeClr val="tx1"/>
                              </a:solidFill>
                            </a14:hiddenFill>
                          </a:ext>
                        </a:extLst>
                      </p:spPr>
                    </p:pic>
                  </p:oleObj>
                </mc:Fallback>
              </mc:AlternateContent>
            </a:graphicData>
          </a:graphic>
        </p:graphicFrame>
        <p:graphicFrame>
          <p:nvGraphicFramePr>
            <p:cNvPr id="12291" name="Object 6"/>
            <p:cNvGraphicFramePr>
              <a:graphicFrameLocks noChangeAspect="1"/>
            </p:cNvGraphicFramePr>
            <p:nvPr/>
          </p:nvGraphicFramePr>
          <p:xfrm>
            <a:off x="2448" y="3168"/>
            <a:ext cx="1440" cy="515"/>
          </p:xfrm>
          <a:graphic>
            <a:graphicData uri="http://schemas.openxmlformats.org/presentationml/2006/ole">
              <mc:AlternateContent xmlns:mc="http://schemas.openxmlformats.org/markup-compatibility/2006">
                <mc:Choice xmlns:v="urn:schemas-microsoft-com:vml" Requires="v">
                  <p:oleObj r:id="rId5" imgW="1701800" imgH="609600" progId="Equation.3">
                    <p:embed/>
                  </p:oleObj>
                </mc:Choice>
                <mc:Fallback>
                  <p:oleObj r:id="rId5" imgW="1701800" imgH="609600" progId="Equation.3">
                    <p:embed/>
                    <p:pic>
                      <p:nvPicPr>
                        <p:cNvPr id="12291" name="Object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448" y="3168"/>
                          <a:ext cx="1440" cy="515"/>
                        </a:xfrm>
                        <a:prstGeom prst="rect">
                          <a:avLst/>
                        </a:prstGeom>
                        <a:noFill/>
                        <a:extLst>
                          <a:ext uri="{909E8E84-426E-40DD-AFC4-6F175D3DCCD1}">
                            <a14:hiddenFill xmlns:a14="http://schemas.microsoft.com/office/drawing/2010/main">
                              <a:solidFill>
                                <a:schemeClr val="tx1"/>
                              </a:solidFill>
                            </a14:hiddenFill>
                          </a:ext>
                        </a:extLst>
                      </p:spPr>
                    </p:pic>
                  </p:oleObj>
                </mc:Fallback>
              </mc:AlternateContent>
            </a:graphicData>
          </a:graphic>
        </p:graphicFrame>
        <p:graphicFrame>
          <p:nvGraphicFramePr>
            <p:cNvPr id="12292" name="Object 7"/>
            <p:cNvGraphicFramePr>
              <a:graphicFrameLocks noChangeAspect="1"/>
            </p:cNvGraphicFramePr>
            <p:nvPr/>
          </p:nvGraphicFramePr>
          <p:xfrm>
            <a:off x="1286" y="3722"/>
            <a:ext cx="702" cy="168"/>
          </p:xfrm>
          <a:graphic>
            <a:graphicData uri="http://schemas.openxmlformats.org/presentationml/2006/ole">
              <mc:AlternateContent xmlns:mc="http://schemas.openxmlformats.org/markup-compatibility/2006">
                <mc:Choice xmlns:v="urn:schemas-microsoft-com:vml" Requires="v">
                  <p:oleObj r:id="rId7" imgW="1117115" imgH="266584" progId="Equation.3">
                    <p:embed/>
                  </p:oleObj>
                </mc:Choice>
                <mc:Fallback>
                  <p:oleObj r:id="rId7" imgW="1117115" imgH="266584" progId="Equation.3">
                    <p:embed/>
                    <p:pic>
                      <p:nvPicPr>
                        <p:cNvPr id="12292" name="Object 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286" y="3722"/>
                          <a:ext cx="702" cy="168"/>
                        </a:xfrm>
                        <a:prstGeom prst="rect">
                          <a:avLst/>
                        </a:prstGeom>
                        <a:noFill/>
                        <a:extLst>
                          <a:ext uri="{909E8E84-426E-40DD-AFC4-6F175D3DCCD1}">
                            <a14:hiddenFill xmlns:a14="http://schemas.microsoft.com/office/drawing/2010/main">
                              <a:solidFill>
                                <a:schemeClr val="tx1"/>
                              </a:solidFill>
                            </a14:hiddenFill>
                          </a:ext>
                        </a:extLst>
                      </p:spPr>
                    </p:pic>
                  </p:oleObj>
                </mc:Fallback>
              </mc:AlternateContent>
            </a:graphicData>
          </a:graphic>
        </p:graphicFrame>
      </p:grpSp>
      <p:sp>
        <p:nvSpPr>
          <p:cNvPr id="12294" name="Rectangle 8"/>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Electron energy analyzer*</a:t>
            </a:r>
          </a:p>
        </p:txBody>
      </p:sp>
      <p:sp>
        <p:nvSpPr>
          <p:cNvPr id="12295" name="Rectangle 10"/>
          <p:cNvSpPr>
            <a:spLocks noChangeArrowheads="1"/>
          </p:cNvSpPr>
          <p:nvPr/>
        </p:nvSpPr>
        <p:spPr bwMode="auto">
          <a:xfrm>
            <a:off x="1120775" y="9144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Concentric Hemispherical Analyzer (CHA)</a:t>
            </a:r>
          </a:p>
        </p:txBody>
      </p:sp>
      <p:sp>
        <p:nvSpPr>
          <p:cNvPr id="2" name="Slide Number Placeholder 1">
            <a:extLst>
              <a:ext uri="{FF2B5EF4-FFF2-40B4-BE49-F238E27FC236}">
                <a16:creationId xmlns:a16="http://schemas.microsoft.com/office/drawing/2014/main" id="{65759D63-A5EB-43F0-B7E8-EC11411EC40D}"/>
              </a:ext>
            </a:extLst>
          </p:cNvPr>
          <p:cNvSpPr>
            <a:spLocks noGrp="1"/>
          </p:cNvSpPr>
          <p:nvPr>
            <p:ph type="sldNum" sz="quarter" idx="11"/>
          </p:nvPr>
        </p:nvSpPr>
        <p:spPr/>
        <p:txBody>
          <a:bodyPr/>
          <a:lstStyle/>
          <a:p>
            <a:pPr>
              <a:defRPr/>
            </a:pPr>
            <a:fld id="{EBF73BDF-690D-4725-BA10-A7934ED52EAB}" type="slidenum">
              <a:rPr lang="zh-TW" altLang="en-US" smtClean="0"/>
              <a:pPr>
                <a:defRPr/>
              </a:pPr>
              <a:t>36</a:t>
            </a:fld>
            <a:endParaRPr lang="en-US" altLang="zh-TW"/>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6" name="Rectangle 4"/>
          <p:cNvSpPr>
            <a:spLocks noChangeArrowheads="1"/>
          </p:cNvSpPr>
          <p:nvPr/>
        </p:nvSpPr>
        <p:spPr bwMode="auto">
          <a:xfrm>
            <a:off x="342900" y="629245"/>
            <a:ext cx="8458200" cy="5847755"/>
          </a:xfrm>
          <a:prstGeom prst="rect">
            <a:avLst/>
          </a:prstGeom>
          <a:noFill/>
          <a:ln w="9525">
            <a:noFill/>
            <a:miter lim="800000"/>
            <a:headEnd/>
            <a:tailEnd/>
          </a:ln>
          <a:effectLst/>
        </p:spPr>
        <p:txBody>
          <a:bodyPr anchor="ctr">
            <a:spAutoFit/>
          </a:bodyPr>
          <a:lstStyle/>
          <a:p>
            <a:pPr eaLnBrk="1" hangingPunct="1">
              <a:buFontTx/>
              <a:buChar char="•"/>
            </a:pPr>
            <a:endParaRPr lang="en-US" altLang="zh-CN" sz="2000" dirty="0">
              <a:latin typeface="Georgia" panose="02040502050405020303" pitchFamily="18" charset="0"/>
              <a:ea typeface="宋体" pitchFamily="2" charset="-122"/>
            </a:endParaRPr>
          </a:p>
          <a:p>
            <a:pPr marL="342900" indent="-342900" eaLnBrk="1" hangingPunct="1">
              <a:buFont typeface="Arial" panose="020B0604020202020204" pitchFamily="34" charset="0"/>
              <a:buChar char="•"/>
            </a:pPr>
            <a:r>
              <a:rPr lang="en-US" altLang="zh-CN" sz="2000" dirty="0">
                <a:solidFill>
                  <a:srgbClr val="0000FF"/>
                </a:solidFill>
                <a:latin typeface="Georgia" panose="02040502050405020303" pitchFamily="18" charset="0"/>
                <a:ea typeface="宋体" pitchFamily="2" charset="-122"/>
              </a:rPr>
              <a:t>If the electrons are travelling very fast, they will impinge on the outer hemisphere. If they are travelling very slow, they will be attracted to the inner hemisphere. </a:t>
            </a:r>
          </a:p>
          <a:p>
            <a:pPr marL="342900" indent="-342900" eaLnBrk="1" hangingPunct="1">
              <a:buFont typeface="Arial" panose="020B0604020202020204" pitchFamily="34" charset="0"/>
              <a:buChar char="•"/>
            </a:pPr>
            <a:endParaRPr lang="en-US" altLang="zh-CN" sz="2000" dirty="0">
              <a:solidFill>
                <a:srgbClr val="0000FF"/>
              </a:solidFill>
              <a:latin typeface="Georgia" panose="02040502050405020303" pitchFamily="18" charset="0"/>
              <a:ea typeface="宋体" pitchFamily="2" charset="-122"/>
            </a:endParaRPr>
          </a:p>
          <a:p>
            <a:pPr marL="342900" indent="-342900" eaLnBrk="1" hangingPunct="1">
              <a:buFont typeface="Arial" panose="020B0604020202020204" pitchFamily="34" charset="0"/>
              <a:buChar char="•"/>
            </a:pPr>
            <a:r>
              <a:rPr lang="en-US" altLang="zh-CN" sz="2000" dirty="0">
                <a:latin typeface="Georgia" panose="02040502050405020303" pitchFamily="18" charset="0"/>
                <a:ea typeface="宋体" pitchFamily="2" charset="-122"/>
              </a:rPr>
              <a:t>Only electrons in a narrow energy region (called the </a:t>
            </a:r>
            <a:r>
              <a:rPr lang="en-US" altLang="zh-CN" sz="2000" dirty="0">
                <a:solidFill>
                  <a:srgbClr val="0000FF"/>
                </a:solidFill>
                <a:latin typeface="Georgia" panose="02040502050405020303" pitchFamily="18" charset="0"/>
                <a:ea typeface="宋体" pitchFamily="2" charset="-122"/>
              </a:rPr>
              <a:t>pass energy</a:t>
            </a:r>
            <a:r>
              <a:rPr lang="en-US" altLang="zh-CN" sz="2000" dirty="0">
                <a:latin typeface="Georgia" panose="02040502050405020303" pitchFamily="18" charset="0"/>
                <a:ea typeface="宋体" pitchFamily="2" charset="-122"/>
              </a:rPr>
              <a:t>) succeed in getting all the way round the hemispheres to the detector. </a:t>
            </a:r>
          </a:p>
          <a:p>
            <a:pPr marL="342900" indent="-342900" eaLnBrk="1" hangingPunct="1">
              <a:buFont typeface="Arial" panose="020B0604020202020204" pitchFamily="34" charset="0"/>
              <a:buChar char="•"/>
            </a:pPr>
            <a:endParaRPr lang="en-US" altLang="zh-CN" sz="2000" dirty="0">
              <a:latin typeface="Georgia" panose="02040502050405020303" pitchFamily="18" charset="0"/>
              <a:ea typeface="宋体" pitchFamily="2" charset="-122"/>
            </a:endParaRPr>
          </a:p>
          <a:p>
            <a:pPr marL="342900" indent="-342900" eaLnBrk="1" hangingPunct="1">
              <a:spcAft>
                <a:spcPts val="600"/>
              </a:spcAft>
              <a:buFont typeface="Arial" panose="020B0604020202020204" pitchFamily="34" charset="0"/>
              <a:buChar char="•"/>
            </a:pPr>
            <a:r>
              <a:rPr lang="en-US" altLang="zh-CN" sz="2000" dirty="0">
                <a:latin typeface="Georgia" panose="02040502050405020303" pitchFamily="18" charset="0"/>
                <a:ea typeface="宋体" pitchFamily="2" charset="-122"/>
              </a:rPr>
              <a:t>A series of lenses are placed before the CHA. The lenses enable two operating modes - </a:t>
            </a:r>
            <a:r>
              <a:rPr lang="en-US" altLang="zh-CN" sz="2000" dirty="0">
                <a:solidFill>
                  <a:srgbClr val="0000FF"/>
                </a:solidFill>
                <a:latin typeface="Georgia" panose="02040502050405020303" pitchFamily="18" charset="0"/>
                <a:ea typeface="宋体" pitchFamily="2" charset="-122"/>
              </a:rPr>
              <a:t>Constant Retard Ration (CRR)</a:t>
            </a:r>
            <a:r>
              <a:rPr lang="en-US" altLang="zh-CN" sz="2000" dirty="0">
                <a:latin typeface="Georgia" panose="02040502050405020303" pitchFamily="18" charset="0"/>
                <a:ea typeface="宋体" pitchFamily="2" charset="-122"/>
              </a:rPr>
              <a:t>, or </a:t>
            </a:r>
            <a:r>
              <a:rPr lang="en-US" altLang="zh-CN" sz="2000" dirty="0">
                <a:solidFill>
                  <a:srgbClr val="0000FF"/>
                </a:solidFill>
                <a:latin typeface="Georgia" panose="02040502050405020303" pitchFamily="18" charset="0"/>
                <a:ea typeface="宋体" pitchFamily="2" charset="-122"/>
              </a:rPr>
              <a:t>Constant Analysis Energy (CAE)</a:t>
            </a:r>
            <a:r>
              <a:rPr lang="en-US" altLang="zh-CN" sz="2000" dirty="0">
                <a:latin typeface="Georgia" panose="02040502050405020303" pitchFamily="18" charset="0"/>
                <a:ea typeface="宋体" pitchFamily="2" charset="-122"/>
              </a:rPr>
              <a:t>. </a:t>
            </a:r>
          </a:p>
          <a:p>
            <a:pPr marL="800100" lvl="1" indent="-342900" eaLnBrk="1" hangingPunct="1">
              <a:spcBef>
                <a:spcPts val="0"/>
              </a:spcBef>
              <a:spcAft>
                <a:spcPts val="600"/>
              </a:spcAft>
              <a:buFont typeface="Arial" panose="020B0604020202020204" pitchFamily="34" charset="0"/>
              <a:buChar char="•"/>
            </a:pPr>
            <a:r>
              <a:rPr lang="en-US" altLang="zh-CN" dirty="0">
                <a:latin typeface="Georgia" panose="02040502050405020303" pitchFamily="18" charset="0"/>
                <a:ea typeface="宋体" pitchFamily="2" charset="-122"/>
              </a:rPr>
              <a:t>With CRR mode, the electrons are slowed down by an amount which a </a:t>
            </a:r>
            <a:r>
              <a:rPr lang="en-US" altLang="zh-CN" dirty="0">
                <a:solidFill>
                  <a:srgbClr val="0000FF"/>
                </a:solidFill>
                <a:latin typeface="Georgia" panose="02040502050405020303" pitchFamily="18" charset="0"/>
                <a:ea typeface="宋体" pitchFamily="2" charset="-122"/>
              </a:rPr>
              <a:t>constant ratio</a:t>
            </a:r>
            <a:r>
              <a:rPr lang="en-US" altLang="zh-CN" dirty="0">
                <a:latin typeface="Georgia" panose="02040502050405020303" pitchFamily="18" charset="0"/>
                <a:ea typeface="宋体" pitchFamily="2" charset="-122"/>
              </a:rPr>
              <a:t> of the electron energy to be </a:t>
            </a:r>
            <a:r>
              <a:rPr lang="en-US" altLang="zh-CN" dirty="0" err="1">
                <a:latin typeface="Georgia" panose="02040502050405020303" pitchFamily="18" charset="0"/>
                <a:ea typeface="宋体" pitchFamily="2" charset="-122"/>
              </a:rPr>
              <a:t>analysed</a:t>
            </a:r>
            <a:r>
              <a:rPr lang="en-US" altLang="zh-CN" dirty="0">
                <a:latin typeface="Georgia" panose="02040502050405020303" pitchFamily="18" charset="0"/>
                <a:ea typeface="宋体" pitchFamily="2" charset="-122"/>
              </a:rPr>
              <a:t>. That is if the retard ratio is 10, and 1000eV electrons are to be detected, then the electrons will be slowed down to 100eV, and the pass energy will be set to 100 eV. </a:t>
            </a:r>
          </a:p>
          <a:p>
            <a:pPr marL="800100" lvl="1" indent="-342900" eaLnBrk="1" hangingPunct="1">
              <a:spcBef>
                <a:spcPts val="0"/>
              </a:spcBef>
              <a:spcAft>
                <a:spcPts val="600"/>
              </a:spcAft>
              <a:buFont typeface="Arial" panose="020B0604020202020204" pitchFamily="34" charset="0"/>
              <a:buChar char="•"/>
            </a:pPr>
            <a:r>
              <a:rPr lang="en-US" altLang="zh-CN" dirty="0">
                <a:latin typeface="Georgia" panose="02040502050405020303" pitchFamily="18" charset="0"/>
                <a:ea typeface="宋体" pitchFamily="2" charset="-122"/>
              </a:rPr>
              <a:t>In the CAE mode, the </a:t>
            </a:r>
            <a:r>
              <a:rPr lang="en-US" altLang="zh-CN" dirty="0">
                <a:solidFill>
                  <a:srgbClr val="0000FF"/>
                </a:solidFill>
                <a:latin typeface="Georgia" panose="02040502050405020303" pitchFamily="18" charset="0"/>
                <a:ea typeface="宋体" pitchFamily="2" charset="-122"/>
              </a:rPr>
              <a:t>pass energy</a:t>
            </a:r>
            <a:r>
              <a:rPr lang="en-US" altLang="zh-CN" dirty="0">
                <a:latin typeface="Georgia" panose="02040502050405020303" pitchFamily="18" charset="0"/>
                <a:ea typeface="宋体" pitchFamily="2" charset="-122"/>
              </a:rPr>
              <a:t> is fixed. Hence if the pass energy is 50 eV, then electrons of 1000eV will have to be slowed down by 950 eV in order to be detected. The CRR mode gives constant resolving power and the CAE mode gives constant energy resolution. </a:t>
            </a:r>
          </a:p>
        </p:txBody>
      </p:sp>
      <p:sp>
        <p:nvSpPr>
          <p:cNvPr id="2" name="Slide Number Placeholder 1">
            <a:extLst>
              <a:ext uri="{FF2B5EF4-FFF2-40B4-BE49-F238E27FC236}">
                <a16:creationId xmlns:a16="http://schemas.microsoft.com/office/drawing/2014/main" id="{265C9AA9-7A7B-4783-A43C-10F490FF70FD}"/>
              </a:ext>
            </a:extLst>
          </p:cNvPr>
          <p:cNvSpPr>
            <a:spLocks noGrp="1"/>
          </p:cNvSpPr>
          <p:nvPr>
            <p:ph type="sldNum" sz="quarter" idx="11"/>
          </p:nvPr>
        </p:nvSpPr>
        <p:spPr/>
        <p:txBody>
          <a:bodyPr/>
          <a:lstStyle/>
          <a:p>
            <a:pPr>
              <a:defRPr/>
            </a:pPr>
            <a:fld id="{EBF73BDF-690D-4725-BA10-A7934ED52EAB}" type="slidenum">
              <a:rPr lang="zh-TW" altLang="en-US" smtClean="0"/>
              <a:pPr>
                <a:defRPr/>
              </a:pPr>
              <a:t>37</a:t>
            </a:fld>
            <a:endParaRPr lang="en-US" altLang="zh-TW"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4"/>
          <p:cNvSpPr>
            <a:spLocks noChangeArrowheads="1"/>
          </p:cNvSpPr>
          <p:nvPr/>
        </p:nvSpPr>
        <p:spPr bwMode="auto">
          <a:xfrm>
            <a:off x="1104900" y="678339"/>
            <a:ext cx="6934200" cy="461665"/>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Electron multiplier</a:t>
            </a:r>
          </a:p>
        </p:txBody>
      </p:sp>
      <p:pic>
        <p:nvPicPr>
          <p:cNvPr id="37891" name="Picture 5"/>
          <p:cNvPicPr>
            <a:picLocks noChangeAspect="1" noChangeArrowheads="1"/>
          </p:cNvPicPr>
          <p:nvPr/>
        </p:nvPicPr>
        <p:blipFill>
          <a:blip r:embed="rId2" cstate="print"/>
          <a:srcRect/>
          <a:stretch>
            <a:fillRect/>
          </a:stretch>
        </p:blipFill>
        <p:spPr bwMode="auto">
          <a:xfrm>
            <a:off x="1362075" y="1134028"/>
            <a:ext cx="6858000" cy="1409700"/>
          </a:xfrm>
          <a:prstGeom prst="rect">
            <a:avLst/>
          </a:prstGeom>
          <a:noFill/>
          <a:ln w="9525">
            <a:noFill/>
            <a:miter lim="800000"/>
            <a:headEnd/>
            <a:tailEnd/>
          </a:ln>
        </p:spPr>
      </p:pic>
      <p:sp>
        <p:nvSpPr>
          <p:cNvPr id="37892" name="Text Box 6"/>
          <p:cNvSpPr txBox="1">
            <a:spLocks noChangeArrowheads="1"/>
          </p:cNvSpPr>
          <p:nvPr/>
        </p:nvSpPr>
        <p:spPr bwMode="auto">
          <a:xfrm>
            <a:off x="239059" y="2799668"/>
            <a:ext cx="8677275" cy="3708708"/>
          </a:xfrm>
          <a:prstGeom prst="rect">
            <a:avLst/>
          </a:prstGeom>
          <a:noFill/>
          <a:ln w="9525">
            <a:noFill/>
            <a:miter lim="800000"/>
            <a:headEnd/>
            <a:tailEnd/>
          </a:ln>
        </p:spPr>
        <p:txBody>
          <a:bodyPr wrap="square">
            <a:spAutoFit/>
          </a:bodyPr>
          <a:lstStyle/>
          <a:p>
            <a:pPr marL="231775" indent="-231775" algn="just" eaLnBrk="1" hangingPunct="1">
              <a:spcAft>
                <a:spcPts val="600"/>
              </a:spcAft>
              <a:buFontTx/>
              <a:buChar char="•"/>
              <a:tabLst>
                <a:tab pos="517525" algn="l"/>
              </a:tabLst>
            </a:pPr>
            <a:r>
              <a:rPr lang="en-US" altLang="zh-TW" sz="2000" dirty="0">
                <a:latin typeface="Georgia" panose="02040502050405020303" pitchFamily="18" charset="0"/>
                <a:ea typeface="新細明體" pitchFamily="18" charset="-120"/>
              </a:rPr>
              <a:t>An electron multiplier consists of a series of electrodes called </a:t>
            </a:r>
            <a:r>
              <a:rPr lang="en-US" altLang="zh-TW" sz="2000" dirty="0">
                <a:solidFill>
                  <a:schemeClr val="bg2">
                    <a:lumMod val="60000"/>
                    <a:lumOff val="40000"/>
                  </a:schemeClr>
                </a:solidFill>
                <a:latin typeface="Georgia" panose="02040502050405020303" pitchFamily="18" charset="0"/>
                <a:ea typeface="新細明體" pitchFamily="18" charset="-120"/>
              </a:rPr>
              <a:t>dynodes</a:t>
            </a:r>
            <a:r>
              <a:rPr lang="en-US" altLang="zh-TW" sz="2000" dirty="0">
                <a:solidFill>
                  <a:srgbClr val="006600"/>
                </a:solidFill>
                <a:latin typeface="Georgia" panose="02040502050405020303" pitchFamily="18" charset="0"/>
                <a:ea typeface="新細明體" pitchFamily="18" charset="-120"/>
              </a:rPr>
              <a:t>.</a:t>
            </a:r>
            <a:endParaRPr lang="en-US" altLang="zh-TW" sz="2000" dirty="0">
              <a:latin typeface="Georgia" panose="02040502050405020303" pitchFamily="18" charset="0"/>
              <a:ea typeface="新細明體" pitchFamily="18" charset="-120"/>
            </a:endParaRPr>
          </a:p>
          <a:p>
            <a:pPr marL="231775" indent="-231775" algn="just" eaLnBrk="1" hangingPunct="1">
              <a:spcAft>
                <a:spcPts val="600"/>
              </a:spcAft>
              <a:buFontTx/>
              <a:buChar char="•"/>
              <a:tabLst>
                <a:tab pos="517525" algn="l"/>
              </a:tabLst>
            </a:pPr>
            <a:r>
              <a:rPr lang="en-US" altLang="zh-TW" sz="2000" dirty="0">
                <a:latin typeface="Georgia" panose="02040502050405020303" pitchFamily="18" charset="0"/>
                <a:ea typeface="新細明體" pitchFamily="18" charset="-120"/>
              </a:rPr>
              <a:t>The dynode potentials differ in equal steps along the chain. </a:t>
            </a:r>
            <a:r>
              <a:rPr lang="en-US" sz="2000" dirty="0">
                <a:latin typeface="Georgia" panose="02040502050405020303" pitchFamily="18" charset="0"/>
              </a:rPr>
              <a:t> A high-voltage gradient (typically hundreds to thousands of volts) is applied across the dynodes, </a:t>
            </a:r>
            <a:r>
              <a:rPr lang="en-US" sz="2000" dirty="0">
                <a:solidFill>
                  <a:schemeClr val="bg2">
                    <a:lumMod val="60000"/>
                    <a:lumOff val="40000"/>
                  </a:schemeClr>
                </a:solidFill>
                <a:latin typeface="Georgia" panose="02040502050405020303" pitchFamily="18" charset="0"/>
              </a:rPr>
              <a:t>so each subsequent dynode has a more positive potential than the previous one</a:t>
            </a:r>
            <a:r>
              <a:rPr lang="en-US" sz="2000" dirty="0">
                <a:latin typeface="Georgia" panose="02040502050405020303" pitchFamily="18" charset="0"/>
              </a:rPr>
              <a:t>.</a:t>
            </a:r>
            <a:endParaRPr lang="en-US" altLang="zh-TW" sz="2000" dirty="0">
              <a:latin typeface="Georgia" panose="02040502050405020303" pitchFamily="18" charset="0"/>
              <a:ea typeface="新細明體" pitchFamily="18" charset="-120"/>
            </a:endParaRPr>
          </a:p>
          <a:p>
            <a:pPr marL="231775" indent="-231775" algn="just" eaLnBrk="1" hangingPunct="1">
              <a:spcAft>
                <a:spcPts val="600"/>
              </a:spcAft>
              <a:buFontTx/>
              <a:buChar char="•"/>
              <a:tabLst>
                <a:tab pos="517525" algn="l"/>
              </a:tabLst>
            </a:pPr>
            <a:r>
              <a:rPr lang="en-US" altLang="zh-TW" sz="2000" dirty="0">
                <a:latin typeface="Georgia" panose="02040502050405020303" pitchFamily="18" charset="0"/>
                <a:ea typeface="新細明體" pitchFamily="18" charset="-120"/>
              </a:rPr>
              <a:t>When a particle (electron, ion, high energy neutral, or high energy photon) strikes the first dynode it produces secondary electrons. The secondary electrons are accelerated into the next dynode where each electron produces more secondary electrons.</a:t>
            </a:r>
          </a:p>
          <a:p>
            <a:pPr marL="231775" indent="-231775" algn="just" eaLnBrk="1" hangingPunct="1">
              <a:spcAft>
                <a:spcPts val="600"/>
              </a:spcAft>
              <a:buFontTx/>
              <a:buChar char="•"/>
              <a:tabLst>
                <a:tab pos="517525" algn="l"/>
              </a:tabLst>
            </a:pPr>
            <a:r>
              <a:rPr lang="en-US" altLang="zh-TW" sz="2000" dirty="0">
                <a:latin typeface="Georgia" panose="02040502050405020303" pitchFamily="18" charset="0"/>
                <a:ea typeface="新細明體" pitchFamily="18" charset="-120"/>
              </a:rPr>
              <a:t>A </a:t>
            </a:r>
            <a:r>
              <a:rPr lang="en-US" altLang="zh-TW" sz="2000" dirty="0">
                <a:solidFill>
                  <a:schemeClr val="bg2">
                    <a:lumMod val="60000"/>
                    <a:lumOff val="40000"/>
                  </a:schemeClr>
                </a:solidFill>
                <a:latin typeface="Georgia" panose="02040502050405020303" pitchFamily="18" charset="0"/>
                <a:ea typeface="新細明體" pitchFamily="18" charset="-120"/>
              </a:rPr>
              <a:t>cascade of secondary electrons </a:t>
            </a:r>
            <a:r>
              <a:rPr lang="en-US" altLang="zh-TW" sz="2000" dirty="0">
                <a:latin typeface="Georgia" panose="02040502050405020303" pitchFamily="18" charset="0"/>
                <a:ea typeface="新細明體" pitchFamily="18" charset="-120"/>
              </a:rPr>
              <a:t>is generated. The dynode acceleration potential controls the electron gain. </a:t>
            </a:r>
            <a:endParaRPr lang="en-US" altLang="zh-CN" sz="2000" dirty="0">
              <a:latin typeface="Georgia" panose="02040502050405020303" pitchFamily="18" charset="0"/>
              <a:ea typeface="SimSun" pitchFamily="2" charset="-122"/>
            </a:endParaRPr>
          </a:p>
        </p:txBody>
      </p:sp>
      <p:sp>
        <p:nvSpPr>
          <p:cNvPr id="37893" name="Rectangle 7"/>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Electron Detector-dynodes</a:t>
            </a:r>
          </a:p>
        </p:txBody>
      </p:sp>
      <p:sp>
        <p:nvSpPr>
          <p:cNvPr id="2" name="Slide Number Placeholder 1">
            <a:extLst>
              <a:ext uri="{FF2B5EF4-FFF2-40B4-BE49-F238E27FC236}">
                <a16:creationId xmlns:a16="http://schemas.microsoft.com/office/drawing/2014/main" id="{9966618D-38C3-434D-AF12-5BB51E97761A}"/>
              </a:ext>
            </a:extLst>
          </p:cNvPr>
          <p:cNvSpPr>
            <a:spLocks noGrp="1"/>
          </p:cNvSpPr>
          <p:nvPr>
            <p:ph type="sldNum" sz="quarter" idx="11"/>
          </p:nvPr>
        </p:nvSpPr>
        <p:spPr/>
        <p:txBody>
          <a:bodyPr/>
          <a:lstStyle/>
          <a:p>
            <a:pPr>
              <a:defRPr/>
            </a:pPr>
            <a:fld id="{EBF73BDF-690D-4725-BA10-A7934ED52EAB}" type="slidenum">
              <a:rPr lang="zh-TW" altLang="en-US" smtClean="0">
                <a:latin typeface="Georgia" panose="02040502050405020303" pitchFamily="18" charset="0"/>
              </a:rPr>
              <a:pPr>
                <a:defRPr/>
              </a:pPr>
              <a:t>38</a:t>
            </a:fld>
            <a:endParaRPr lang="en-US" altLang="zh-TW" dirty="0">
              <a:latin typeface="Georgia" panose="02040502050405020303" pitchFamily="18"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5" name="Rectangle 5"/>
          <p:cNvSpPr>
            <a:spLocks noChangeArrowheads="1"/>
          </p:cNvSpPr>
          <p:nvPr/>
        </p:nvSpPr>
        <p:spPr bwMode="auto">
          <a:xfrm>
            <a:off x="1676400" y="1173816"/>
            <a:ext cx="5334000" cy="2255184"/>
          </a:xfrm>
          <a:prstGeom prst="rect">
            <a:avLst/>
          </a:prstGeom>
          <a:solidFill>
            <a:srgbClr val="FFFFCC"/>
          </a:solidFill>
          <a:ln w="9525">
            <a:solidFill>
              <a:schemeClr val="tx1"/>
            </a:solidFill>
            <a:miter lim="800000"/>
            <a:headEnd/>
            <a:tailEnd/>
          </a:ln>
          <a:effectLst/>
        </p:spPr>
        <p:txBody>
          <a:bodyPr wrap="none" anchor="ctr"/>
          <a:lstStyle/>
          <a:p>
            <a:endParaRPr lang="en-US" sz="2000">
              <a:latin typeface="Georgia" panose="02040502050405020303" pitchFamily="18" charset="0"/>
            </a:endParaRPr>
          </a:p>
        </p:txBody>
      </p:sp>
      <p:pic>
        <p:nvPicPr>
          <p:cNvPr id="61446" name="Picture 6"/>
          <p:cNvPicPr>
            <a:picLocks noChangeAspect="1" noChangeArrowheads="1"/>
          </p:cNvPicPr>
          <p:nvPr/>
        </p:nvPicPr>
        <p:blipFill>
          <a:blip r:embed="rId2" cstate="print"/>
          <a:srcRect/>
          <a:stretch>
            <a:fillRect/>
          </a:stretch>
        </p:blipFill>
        <p:spPr bwMode="auto">
          <a:xfrm>
            <a:off x="2209800" y="1351616"/>
            <a:ext cx="2184400" cy="1968500"/>
          </a:xfrm>
          <a:prstGeom prst="rect">
            <a:avLst/>
          </a:prstGeom>
          <a:noFill/>
          <a:ln w="9525">
            <a:noFill/>
            <a:miter lim="800000"/>
            <a:headEnd/>
            <a:tailEnd/>
          </a:ln>
        </p:spPr>
      </p:pic>
      <p:pic>
        <p:nvPicPr>
          <p:cNvPr id="61447" name="Picture 7"/>
          <p:cNvPicPr>
            <a:picLocks noChangeAspect="1" noChangeArrowheads="1"/>
          </p:cNvPicPr>
          <p:nvPr/>
        </p:nvPicPr>
        <p:blipFill>
          <a:blip r:embed="rId3" cstate="print"/>
          <a:srcRect/>
          <a:stretch>
            <a:fillRect/>
          </a:stretch>
        </p:blipFill>
        <p:spPr bwMode="auto">
          <a:xfrm>
            <a:off x="5410200" y="1508481"/>
            <a:ext cx="762000" cy="1691919"/>
          </a:xfrm>
          <a:prstGeom prst="rect">
            <a:avLst/>
          </a:prstGeom>
          <a:noFill/>
          <a:ln w="9525">
            <a:noFill/>
            <a:miter lim="800000"/>
            <a:headEnd/>
            <a:tailEnd/>
          </a:ln>
        </p:spPr>
      </p:pic>
      <p:sp>
        <p:nvSpPr>
          <p:cNvPr id="61450" name="Rectangle 10"/>
          <p:cNvSpPr>
            <a:spLocks noChangeArrowheads="1"/>
          </p:cNvSpPr>
          <p:nvPr/>
        </p:nvSpPr>
        <p:spPr bwMode="auto">
          <a:xfrm>
            <a:off x="685800" y="685800"/>
            <a:ext cx="6934200" cy="461665"/>
          </a:xfrm>
          <a:prstGeom prst="rect">
            <a:avLst/>
          </a:prstGeom>
          <a:noFill/>
          <a:ln w="9525">
            <a:noFill/>
            <a:miter lim="800000"/>
            <a:headEnd/>
            <a:tailEnd/>
          </a:ln>
          <a:effectLst/>
        </p:spPr>
        <p:txBody>
          <a:bodyPr>
            <a:spAutoFit/>
          </a:bodyPr>
          <a:lstStyle/>
          <a:p>
            <a:pPr algn="ctr" eaLnBrk="1" hangingPunct="1"/>
            <a:r>
              <a:rPr lang="en-US" altLang="zh-TW" sz="2400" dirty="0">
                <a:latin typeface="Georgia" panose="02040502050405020303" pitchFamily="18" charset="0"/>
                <a:ea typeface="新細明體" pitchFamily="18" charset="-120"/>
              </a:rPr>
              <a:t>Microchannel plate (MCP)</a:t>
            </a:r>
          </a:p>
        </p:txBody>
      </p:sp>
      <p:sp>
        <p:nvSpPr>
          <p:cNvPr id="61451" name="Rectangle 11"/>
          <p:cNvSpPr>
            <a:spLocks noChangeArrowheads="1"/>
          </p:cNvSpPr>
          <p:nvPr/>
        </p:nvSpPr>
        <p:spPr bwMode="auto">
          <a:xfrm>
            <a:off x="676275" y="209550"/>
            <a:ext cx="8229600" cy="457200"/>
          </a:xfrm>
          <a:prstGeom prst="rect">
            <a:avLst/>
          </a:prstGeom>
          <a:noFill/>
          <a:ln w="9525">
            <a:noFill/>
            <a:miter lim="800000"/>
            <a:headEnd/>
            <a:tailEnd/>
          </a:ln>
          <a:effectLst/>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Electron Detector-MCP</a:t>
            </a:r>
          </a:p>
        </p:txBody>
      </p:sp>
      <p:sp>
        <p:nvSpPr>
          <p:cNvPr id="61452" name="Rectangle 12"/>
          <p:cNvSpPr>
            <a:spLocks noChangeArrowheads="1"/>
          </p:cNvSpPr>
          <p:nvPr/>
        </p:nvSpPr>
        <p:spPr bwMode="auto">
          <a:xfrm>
            <a:off x="114300" y="3486150"/>
            <a:ext cx="8915400" cy="3016210"/>
          </a:xfrm>
          <a:prstGeom prst="rect">
            <a:avLst/>
          </a:prstGeom>
          <a:noFill/>
          <a:ln w="9525">
            <a:noFill/>
            <a:miter lim="800000"/>
            <a:headEnd/>
            <a:tailEnd/>
          </a:ln>
          <a:effectLst/>
        </p:spPr>
        <p:txBody>
          <a:bodyPr wrap="square">
            <a:spAutoFit/>
          </a:bodyPr>
          <a:lstStyle/>
          <a:p>
            <a:pPr marL="342900" indent="-342900">
              <a:spcAft>
                <a:spcPts val="600"/>
              </a:spcAft>
              <a:buFont typeface="Arial" panose="020B0604020202020204" pitchFamily="34" charset="0"/>
              <a:buChar char="•"/>
            </a:pPr>
            <a:r>
              <a:rPr lang="en-US" altLang="zh-CN" sz="2000" dirty="0">
                <a:latin typeface="Georgia" panose="02040502050405020303" pitchFamily="18" charset="0"/>
                <a:ea typeface="宋体" pitchFamily="2" charset="-122"/>
              </a:rPr>
              <a:t>A micro-channel plate is a slab made from highly resistive material of typically 2 mm thickness with a regular array of tiny tubes leading from one face to the opposite, densely distributed over the whole surface.</a:t>
            </a:r>
          </a:p>
          <a:p>
            <a:pPr marL="342900" indent="-342900">
              <a:spcAft>
                <a:spcPts val="600"/>
              </a:spcAft>
              <a:buFont typeface="Arial" panose="020B0604020202020204" pitchFamily="34" charset="0"/>
              <a:buChar char="•"/>
            </a:pPr>
            <a:r>
              <a:rPr lang="en-US" altLang="zh-CN" sz="2000" dirty="0">
                <a:latin typeface="Georgia" panose="02040502050405020303" pitchFamily="18" charset="0"/>
                <a:ea typeface="宋体" pitchFamily="2" charset="-122"/>
              </a:rPr>
              <a:t>The microchannels are typically approximately 10 um in diameter (6 um in high resolution MCPs) and spaced apart by approximately 15 um; they are parallel to each other and often enter the plate at a small angle to the surface (~8° from normal). </a:t>
            </a:r>
          </a:p>
          <a:p>
            <a:pPr marL="342900" indent="-342900">
              <a:spcAft>
                <a:spcPts val="600"/>
              </a:spcAft>
              <a:buFont typeface="Arial" panose="020B0604020202020204" pitchFamily="34" charset="0"/>
              <a:buChar char="•"/>
            </a:pPr>
            <a:r>
              <a:rPr lang="en-US" altLang="zh-CN" sz="2000" dirty="0">
                <a:latin typeface="Georgia" panose="02040502050405020303" pitchFamily="18" charset="0"/>
                <a:ea typeface="宋体" pitchFamily="2" charset="-122"/>
              </a:rPr>
              <a:t>Each microchannel is a continuous-</a:t>
            </a:r>
            <a:r>
              <a:rPr lang="en-US" altLang="zh-CN" sz="2000" dirty="0">
                <a:solidFill>
                  <a:srgbClr val="0000FF"/>
                </a:solidFill>
                <a:latin typeface="Georgia" panose="02040502050405020303" pitchFamily="18" charset="0"/>
                <a:ea typeface="宋体" pitchFamily="2" charset="-122"/>
              </a:rPr>
              <a:t>dynode electron multiplier</a:t>
            </a:r>
            <a:r>
              <a:rPr lang="en-US" altLang="zh-CN" sz="2000" dirty="0">
                <a:latin typeface="Georgia" panose="02040502050405020303" pitchFamily="18" charset="0"/>
                <a:ea typeface="宋体" pitchFamily="2" charset="-122"/>
              </a:rPr>
              <a:t>, </a:t>
            </a:r>
            <a:r>
              <a:rPr lang="en-US" altLang="zh-CN" sz="2000" dirty="0">
                <a:solidFill>
                  <a:srgbClr val="0000FF"/>
                </a:solidFill>
                <a:latin typeface="Georgia" panose="02040502050405020303" pitchFamily="18" charset="0"/>
                <a:ea typeface="宋体" pitchFamily="2" charset="-122"/>
              </a:rPr>
              <a:t>in which the multiplication takes place under the presence of a strong electric field</a:t>
            </a:r>
            <a:r>
              <a:rPr lang="en-US" altLang="zh-CN" sz="2000" dirty="0">
                <a:latin typeface="Georgia" panose="02040502050405020303" pitchFamily="18" charset="0"/>
                <a:ea typeface="宋体" pitchFamily="2" charset="-122"/>
              </a:rPr>
              <a:t>.</a:t>
            </a:r>
            <a:endParaRPr lang="zh-CN" altLang="en-US" sz="2000" dirty="0">
              <a:latin typeface="Georgia" panose="02040502050405020303" pitchFamily="18" charset="0"/>
              <a:ea typeface="宋体" pitchFamily="2" charset="-122"/>
            </a:endParaRPr>
          </a:p>
        </p:txBody>
      </p:sp>
      <p:sp>
        <p:nvSpPr>
          <p:cNvPr id="61453" name="Line 13"/>
          <p:cNvSpPr>
            <a:spLocks noChangeShapeType="1"/>
          </p:cNvSpPr>
          <p:nvPr/>
        </p:nvSpPr>
        <p:spPr bwMode="auto">
          <a:xfrm>
            <a:off x="3581400" y="1427816"/>
            <a:ext cx="2209800" cy="914400"/>
          </a:xfrm>
          <a:prstGeom prst="line">
            <a:avLst/>
          </a:prstGeom>
          <a:noFill/>
          <a:ln w="28575">
            <a:solidFill>
              <a:srgbClr val="0000FF"/>
            </a:solidFill>
            <a:round/>
            <a:headEnd/>
            <a:tailEnd type="stealth" w="lg" len="lg"/>
          </a:ln>
          <a:effectLst/>
        </p:spPr>
        <p:txBody>
          <a:bodyPr/>
          <a:lstStyle/>
          <a:p>
            <a:endParaRPr lang="en-US" sz="2000">
              <a:latin typeface="Georgia" panose="02040502050405020303" pitchFamily="18" charset="0"/>
            </a:endParaRPr>
          </a:p>
        </p:txBody>
      </p:sp>
      <p:sp>
        <p:nvSpPr>
          <p:cNvPr id="2" name="Slide Number Placeholder 1">
            <a:extLst>
              <a:ext uri="{FF2B5EF4-FFF2-40B4-BE49-F238E27FC236}">
                <a16:creationId xmlns:a16="http://schemas.microsoft.com/office/drawing/2014/main" id="{B37A6CF7-148B-44E9-87A1-6D0D39189424}"/>
              </a:ext>
            </a:extLst>
          </p:cNvPr>
          <p:cNvSpPr>
            <a:spLocks noGrp="1"/>
          </p:cNvSpPr>
          <p:nvPr>
            <p:ph type="sldNum" sz="quarter" idx="11"/>
          </p:nvPr>
        </p:nvSpPr>
        <p:spPr/>
        <p:txBody>
          <a:bodyPr/>
          <a:lstStyle/>
          <a:p>
            <a:pPr>
              <a:defRPr/>
            </a:pPr>
            <a:fld id="{EBF73BDF-690D-4725-BA10-A7934ED52EAB}" type="slidenum">
              <a:rPr lang="zh-TW" altLang="en-US" smtClean="0">
                <a:latin typeface="Georgia" panose="02040502050405020303" pitchFamily="18" charset="0"/>
              </a:rPr>
              <a:pPr>
                <a:defRPr/>
              </a:pPr>
              <a:t>39</a:t>
            </a:fld>
            <a:endParaRPr lang="en-US" altLang="zh-TW" dirty="0">
              <a:latin typeface="Georgia" panose="02040502050405020303" pitchFamily="18"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80" name="Rectangle 4"/>
          <p:cNvSpPr>
            <a:spLocks noChangeArrowheads="1"/>
          </p:cNvSpPr>
          <p:nvPr/>
        </p:nvSpPr>
        <p:spPr bwMode="auto">
          <a:xfrm>
            <a:off x="609600" y="1449288"/>
            <a:ext cx="8305800" cy="4708981"/>
          </a:xfrm>
          <a:prstGeom prst="rect">
            <a:avLst/>
          </a:prstGeom>
          <a:noFill/>
          <a:ln w="9525">
            <a:noFill/>
            <a:miter lim="800000"/>
            <a:headEnd/>
            <a:tailEnd/>
          </a:ln>
          <a:effectLst/>
        </p:spPr>
        <p:txBody>
          <a:bodyPr wrap="square" anchor="ctr">
            <a:spAutoFit/>
          </a:bodyPr>
          <a:lstStyle/>
          <a:p>
            <a:pPr eaLnBrk="1" hangingPunct="1">
              <a:buFontTx/>
              <a:buChar char="•"/>
            </a:pPr>
            <a:r>
              <a:rPr lang="en-US" altLang="zh-CN" sz="2000" dirty="0">
                <a:latin typeface="Georgia" panose="02040502050405020303" pitchFamily="18" charset="0"/>
                <a:ea typeface="宋体" pitchFamily="2" charset="-122"/>
              </a:rPr>
              <a:t> A particle or photon that enters one of the channels through a small orifice is guaranteed to hit the wall of the channel due to the channel being at an angle to the plate and thus the angle of impact.</a:t>
            </a:r>
          </a:p>
          <a:p>
            <a:pPr eaLnBrk="1" hangingPunct="1">
              <a:buFontTx/>
              <a:buChar char="•"/>
            </a:pPr>
            <a:endParaRPr lang="en-US" altLang="zh-CN" sz="2000" dirty="0">
              <a:latin typeface="Georgia" panose="02040502050405020303" pitchFamily="18" charset="0"/>
              <a:ea typeface="宋体" pitchFamily="2" charset="-122"/>
            </a:endParaRPr>
          </a:p>
          <a:p>
            <a:pPr eaLnBrk="1" hangingPunct="1">
              <a:buFontTx/>
              <a:buChar char="•"/>
            </a:pPr>
            <a:r>
              <a:rPr lang="en-US" altLang="zh-CN" sz="2000" dirty="0">
                <a:latin typeface="Georgia" panose="02040502050405020303" pitchFamily="18" charset="0"/>
                <a:ea typeface="宋体" pitchFamily="2" charset="-122"/>
              </a:rPr>
              <a:t> The impact starts a </a:t>
            </a:r>
            <a:r>
              <a:rPr lang="en-US" altLang="zh-CN" sz="2000" dirty="0">
                <a:solidFill>
                  <a:srgbClr val="0000FF"/>
                </a:solidFill>
                <a:latin typeface="Georgia" panose="02040502050405020303" pitchFamily="18" charset="0"/>
                <a:ea typeface="宋体" pitchFamily="2" charset="-122"/>
              </a:rPr>
              <a:t>cascade of electrons</a:t>
            </a:r>
            <a:r>
              <a:rPr lang="en-US" altLang="zh-CN" sz="2000" dirty="0">
                <a:latin typeface="Georgia" panose="02040502050405020303" pitchFamily="18" charset="0"/>
                <a:ea typeface="宋体" pitchFamily="2" charset="-122"/>
              </a:rPr>
              <a:t> that propagates through the channel, which amplifies the original signal by several orders of magnitude depending on the electric field strength and the geometry of the micro-channel plate. </a:t>
            </a:r>
          </a:p>
          <a:p>
            <a:pPr eaLnBrk="1" hangingPunct="1">
              <a:buFontTx/>
              <a:buChar char="•"/>
            </a:pPr>
            <a:endParaRPr lang="en-US" altLang="zh-CN" sz="2000" dirty="0">
              <a:latin typeface="Georgia" panose="02040502050405020303" pitchFamily="18" charset="0"/>
              <a:ea typeface="宋体" pitchFamily="2" charset="-122"/>
            </a:endParaRPr>
          </a:p>
          <a:p>
            <a:pPr eaLnBrk="1" hangingPunct="1">
              <a:buFontTx/>
              <a:buChar char="•"/>
            </a:pPr>
            <a:r>
              <a:rPr lang="en-US" altLang="zh-CN" sz="2000" dirty="0">
                <a:latin typeface="Georgia" panose="02040502050405020303" pitchFamily="18" charset="0"/>
                <a:ea typeface="宋体" pitchFamily="2" charset="-122"/>
              </a:rPr>
              <a:t> After the cascade, the microchannel takes time to recover (or recharge) before it can detect another signal.</a:t>
            </a:r>
          </a:p>
          <a:p>
            <a:pPr eaLnBrk="1" hangingPunct="1">
              <a:buFontTx/>
              <a:buChar char="•"/>
            </a:pPr>
            <a:endParaRPr lang="en-US" altLang="zh-CN" sz="2000" dirty="0">
              <a:latin typeface="Georgia" panose="02040502050405020303" pitchFamily="18" charset="0"/>
              <a:ea typeface="宋体" pitchFamily="2" charset="-122"/>
            </a:endParaRPr>
          </a:p>
          <a:p>
            <a:pPr eaLnBrk="1" hangingPunct="1">
              <a:buFontTx/>
              <a:buChar char="•"/>
            </a:pPr>
            <a:r>
              <a:rPr lang="en-US" altLang="zh-CN" sz="2000" dirty="0">
                <a:latin typeface="Georgia" panose="02040502050405020303" pitchFamily="18" charset="0"/>
                <a:ea typeface="宋体" pitchFamily="2" charset="-122"/>
              </a:rPr>
              <a:t> The electrons exit the channels on the opposite side where they are detected by an anode measuring total current. In some applications each channel is monitored independently to produce an image.</a:t>
            </a:r>
          </a:p>
        </p:txBody>
      </p:sp>
      <p:sp>
        <p:nvSpPr>
          <p:cNvPr id="126982" name="Rectangle 6"/>
          <p:cNvSpPr>
            <a:spLocks noChangeArrowheads="1"/>
          </p:cNvSpPr>
          <p:nvPr/>
        </p:nvSpPr>
        <p:spPr bwMode="auto">
          <a:xfrm>
            <a:off x="762000" y="804058"/>
            <a:ext cx="6934200" cy="461665"/>
          </a:xfrm>
          <a:prstGeom prst="rect">
            <a:avLst/>
          </a:prstGeom>
          <a:noFill/>
          <a:ln w="9525">
            <a:noFill/>
            <a:miter lim="800000"/>
            <a:headEnd/>
            <a:tailEnd/>
          </a:ln>
          <a:effectLst/>
        </p:spPr>
        <p:txBody>
          <a:bodyPr>
            <a:spAutoFit/>
          </a:bodyPr>
          <a:lstStyle/>
          <a:p>
            <a:pPr algn="ctr" eaLnBrk="1" hangingPunct="1"/>
            <a:r>
              <a:rPr lang="en-US" altLang="zh-TW" sz="2400" dirty="0">
                <a:latin typeface="Georgia" panose="02040502050405020303" pitchFamily="18" charset="0"/>
                <a:ea typeface="新細明體" pitchFamily="18" charset="-120"/>
              </a:rPr>
              <a:t>Microchannel plate (MCP)</a:t>
            </a:r>
          </a:p>
        </p:txBody>
      </p:sp>
      <p:sp>
        <p:nvSpPr>
          <p:cNvPr id="2" name="Slide Number Placeholder 1">
            <a:extLst>
              <a:ext uri="{FF2B5EF4-FFF2-40B4-BE49-F238E27FC236}">
                <a16:creationId xmlns:a16="http://schemas.microsoft.com/office/drawing/2014/main" id="{C9F1ACC3-7CF0-4CAB-8A92-0D95A37F950B}"/>
              </a:ext>
            </a:extLst>
          </p:cNvPr>
          <p:cNvSpPr>
            <a:spLocks noGrp="1"/>
          </p:cNvSpPr>
          <p:nvPr>
            <p:ph type="sldNum" sz="quarter" idx="11"/>
          </p:nvPr>
        </p:nvSpPr>
        <p:spPr/>
        <p:txBody>
          <a:bodyPr/>
          <a:lstStyle/>
          <a:p>
            <a:pPr>
              <a:defRPr/>
            </a:pPr>
            <a:fld id="{EBF73BDF-690D-4725-BA10-A7934ED52EAB}" type="slidenum">
              <a:rPr lang="zh-TW" altLang="en-US" smtClean="0"/>
              <a:pPr>
                <a:defRPr/>
              </a:pPr>
              <a:t>40</a:t>
            </a:fld>
            <a:endParaRPr lang="en-US" altLang="zh-TW"/>
          </a:p>
        </p:txBody>
      </p:sp>
      <p:sp>
        <p:nvSpPr>
          <p:cNvPr id="3" name="Rectangle 11">
            <a:extLst>
              <a:ext uri="{FF2B5EF4-FFF2-40B4-BE49-F238E27FC236}">
                <a16:creationId xmlns:a16="http://schemas.microsoft.com/office/drawing/2014/main" id="{BCB0414F-252A-63E2-4D72-86CBBCD8E3D7}"/>
              </a:ext>
            </a:extLst>
          </p:cNvPr>
          <p:cNvSpPr>
            <a:spLocks noChangeArrowheads="1"/>
          </p:cNvSpPr>
          <p:nvPr/>
        </p:nvSpPr>
        <p:spPr bwMode="auto">
          <a:xfrm>
            <a:off x="676275" y="209550"/>
            <a:ext cx="8229600" cy="457200"/>
          </a:xfrm>
          <a:prstGeom prst="rect">
            <a:avLst/>
          </a:prstGeom>
          <a:noFill/>
          <a:ln w="9525">
            <a:noFill/>
            <a:miter lim="800000"/>
            <a:headEnd/>
            <a:tailEnd/>
          </a:ln>
          <a:effectLst/>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system: Electron Detector-MCP</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F3954-BB8D-A8B6-9B2B-31F182CD87F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E2D0B87-D909-586D-0DE4-35547BCE8908}"/>
              </a:ext>
            </a:extLst>
          </p:cNvPr>
          <p:cNvSpPr>
            <a:spLocks noGrp="1"/>
          </p:cNvSpPr>
          <p:nvPr>
            <p:ph type="sldNum" sz="quarter" idx="11"/>
          </p:nvPr>
        </p:nvSpPr>
        <p:spPr/>
        <p:txBody>
          <a:bodyPr/>
          <a:lstStyle/>
          <a:p>
            <a:pPr>
              <a:defRPr/>
            </a:pPr>
            <a:fld id="{D6CF7381-FAB2-40CD-BDC2-DC004732E8ED}" type="slidenum">
              <a:rPr lang="zh-TW" altLang="en-US" smtClean="0"/>
              <a:pPr>
                <a:defRPr/>
              </a:pPr>
              <a:t>41</a:t>
            </a:fld>
            <a:endParaRPr lang="en-US" altLang="zh-TW"/>
          </a:p>
        </p:txBody>
      </p:sp>
      <p:sp>
        <p:nvSpPr>
          <p:cNvPr id="8" name="文本框 1">
            <a:extLst>
              <a:ext uri="{FF2B5EF4-FFF2-40B4-BE49-F238E27FC236}">
                <a16:creationId xmlns:a16="http://schemas.microsoft.com/office/drawing/2014/main" id="{80B794ED-CC1F-B0A9-B143-E16875B2DEDB}"/>
              </a:ext>
            </a:extLst>
          </p:cNvPr>
          <p:cNvSpPr txBox="1"/>
          <p:nvPr/>
        </p:nvSpPr>
        <p:spPr>
          <a:xfrm>
            <a:off x="2971800" y="1219200"/>
            <a:ext cx="3048000" cy="584775"/>
          </a:xfrm>
          <a:prstGeom prst="rect">
            <a:avLst/>
          </a:prstGeom>
          <a:noFill/>
        </p:spPr>
        <p:txBody>
          <a:bodyPr wrap="square" rtlCol="0">
            <a:spAutoFit/>
          </a:bodyPr>
          <a:lstStyle/>
          <a:p>
            <a:r>
              <a:rPr lang="en-HK" altLang="zh-CN" sz="3200" dirty="0">
                <a:latin typeface="Georgia" panose="02040502050405020303" pitchFamily="18" charset="0"/>
                <a:ea typeface="宋体" panose="02010600030101010101" pitchFamily="2" charset="-122"/>
                <a:cs typeface="Times New Roman" panose="02020603050405020304" pitchFamily="18" charset="0"/>
              </a:rPr>
              <a:t>Homework 1</a:t>
            </a:r>
            <a:endParaRPr lang="en-US" altLang="zh-CN" sz="3200" dirty="0">
              <a:latin typeface="Georgia" panose="02040502050405020303"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5968856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4D4DCE0-B13F-0286-690D-51F112FB4DA4}"/>
              </a:ext>
            </a:extLst>
          </p:cNvPr>
          <p:cNvPicPr>
            <a:picLocks noChangeAspect="1"/>
          </p:cNvPicPr>
          <p:nvPr/>
        </p:nvPicPr>
        <p:blipFill>
          <a:blip r:embed="rId2"/>
          <a:srcRect l="5647"/>
          <a:stretch>
            <a:fillRect/>
          </a:stretch>
        </p:blipFill>
        <p:spPr>
          <a:xfrm>
            <a:off x="76200" y="899555"/>
            <a:ext cx="5092994" cy="5823935"/>
          </a:xfrm>
          <a:prstGeom prst="rect">
            <a:avLst/>
          </a:prstGeom>
        </p:spPr>
      </p:pic>
      <p:sp>
        <p:nvSpPr>
          <p:cNvPr id="2" name="Slide Number Placeholder 1">
            <a:extLst>
              <a:ext uri="{FF2B5EF4-FFF2-40B4-BE49-F238E27FC236}">
                <a16:creationId xmlns:a16="http://schemas.microsoft.com/office/drawing/2014/main" id="{40C38D7C-5D8D-6052-72B4-B435CEF11293}"/>
              </a:ext>
            </a:extLst>
          </p:cNvPr>
          <p:cNvSpPr>
            <a:spLocks noGrp="1"/>
          </p:cNvSpPr>
          <p:nvPr>
            <p:ph type="sldNum" sz="quarter" idx="11"/>
          </p:nvPr>
        </p:nvSpPr>
        <p:spPr/>
        <p:txBody>
          <a:bodyPr/>
          <a:lstStyle/>
          <a:p>
            <a:pPr>
              <a:defRPr/>
            </a:pPr>
            <a:fld id="{EBF73BDF-690D-4725-BA10-A7934ED52EAB}" type="slidenum">
              <a:rPr lang="zh-TW" altLang="en-US" smtClean="0"/>
              <a:pPr>
                <a:defRPr/>
              </a:pPr>
              <a:t>42</a:t>
            </a:fld>
            <a:endParaRPr lang="en-US" altLang="zh-TW"/>
          </a:p>
        </p:txBody>
      </p:sp>
      <p:sp>
        <p:nvSpPr>
          <p:cNvPr id="3" name="Rectangle 11">
            <a:extLst>
              <a:ext uri="{FF2B5EF4-FFF2-40B4-BE49-F238E27FC236}">
                <a16:creationId xmlns:a16="http://schemas.microsoft.com/office/drawing/2014/main" id="{D6B27339-C54F-6CD6-D692-1AA8F4CB3A0A}"/>
              </a:ext>
            </a:extLst>
          </p:cNvPr>
          <p:cNvSpPr>
            <a:spLocks noChangeArrowheads="1"/>
          </p:cNvSpPr>
          <p:nvPr/>
        </p:nvSpPr>
        <p:spPr bwMode="auto">
          <a:xfrm>
            <a:off x="676275" y="209550"/>
            <a:ext cx="8229600" cy="457200"/>
          </a:xfrm>
          <a:prstGeom prst="rect">
            <a:avLst/>
          </a:prstGeom>
          <a:noFill/>
          <a:ln w="9525">
            <a:noFill/>
            <a:miter lim="800000"/>
            <a:headEnd/>
            <a:tailEnd/>
          </a:ln>
          <a:effectLst/>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Review on XPS instrumentation</a:t>
            </a:r>
          </a:p>
        </p:txBody>
      </p:sp>
      <p:sp>
        <p:nvSpPr>
          <p:cNvPr id="4" name="Rectangle 4">
            <a:extLst>
              <a:ext uri="{FF2B5EF4-FFF2-40B4-BE49-F238E27FC236}">
                <a16:creationId xmlns:a16="http://schemas.microsoft.com/office/drawing/2014/main" id="{6BC6C77F-4E36-3033-355C-6264B2E83479}"/>
              </a:ext>
            </a:extLst>
          </p:cNvPr>
          <p:cNvSpPr>
            <a:spLocks noChangeArrowheads="1"/>
          </p:cNvSpPr>
          <p:nvPr/>
        </p:nvSpPr>
        <p:spPr bwMode="auto">
          <a:xfrm>
            <a:off x="5136791" y="992128"/>
            <a:ext cx="3931009" cy="5139869"/>
          </a:xfrm>
          <a:prstGeom prst="rect">
            <a:avLst/>
          </a:prstGeom>
          <a:noFill/>
          <a:ln w="9525">
            <a:noFill/>
            <a:miter lim="800000"/>
            <a:headEnd/>
            <a:tailEnd/>
          </a:ln>
          <a:effectLst/>
        </p:spPr>
        <p:txBody>
          <a:bodyPr wrap="square" anchor="ctr">
            <a:spAutoFit/>
          </a:bodyPr>
          <a:lstStyle/>
          <a:p>
            <a:pPr marL="342900" indent="-342900" eaLnBrk="1" hangingPunct="1">
              <a:buFont typeface="Arial" panose="020B0604020202020204" pitchFamily="34" charset="0"/>
              <a:buChar char="•"/>
            </a:pPr>
            <a:r>
              <a:rPr lang="en-US" altLang="zh-CN" sz="2400" dirty="0">
                <a:latin typeface="Georgia" panose="02040502050405020303" pitchFamily="18" charset="0"/>
                <a:ea typeface="宋体" pitchFamily="2" charset="-122"/>
              </a:rPr>
              <a:t>Key components</a:t>
            </a:r>
          </a:p>
          <a:p>
            <a:pPr marL="800100" lvl="1" indent="-342900" eaLnBrk="1" hangingPunct="1">
              <a:buFont typeface="Arial" panose="020B0604020202020204" pitchFamily="34" charset="0"/>
              <a:buChar char="•"/>
            </a:pPr>
            <a:r>
              <a:rPr lang="en-US" altLang="zh-CN" sz="2000" dirty="0">
                <a:latin typeface="Georgia" panose="02040502050405020303" pitchFamily="18" charset="0"/>
                <a:ea typeface="宋体" pitchFamily="2" charset="-122"/>
              </a:rPr>
              <a:t>X-ray generator (electron gun)</a:t>
            </a:r>
          </a:p>
          <a:p>
            <a:pPr marL="800100" lvl="1" indent="-342900" eaLnBrk="1" hangingPunct="1">
              <a:buFont typeface="Arial" panose="020B0604020202020204" pitchFamily="34" charset="0"/>
              <a:buChar char="•"/>
            </a:pPr>
            <a:r>
              <a:rPr lang="en-US" altLang="zh-CN" sz="2000" dirty="0">
                <a:latin typeface="Georgia" panose="02040502050405020303" pitchFamily="18" charset="0"/>
                <a:ea typeface="宋体" pitchFamily="2" charset="-122"/>
              </a:rPr>
              <a:t>Monochromator (crystal grating)</a:t>
            </a:r>
          </a:p>
          <a:p>
            <a:pPr marL="800100" lvl="1" indent="-342900" eaLnBrk="1" hangingPunct="1">
              <a:buFont typeface="Arial" panose="020B0604020202020204" pitchFamily="34" charset="0"/>
              <a:buChar char="•"/>
            </a:pPr>
            <a:r>
              <a:rPr lang="en-US" altLang="zh-CN" sz="2000" dirty="0">
                <a:latin typeface="Georgia" panose="02040502050405020303" pitchFamily="18" charset="0"/>
                <a:ea typeface="宋体" pitchFamily="2" charset="-122"/>
              </a:rPr>
              <a:t>Electron energy analyzer (electrical field)</a:t>
            </a:r>
          </a:p>
          <a:p>
            <a:pPr marL="800100" lvl="1" indent="-342900" eaLnBrk="1" hangingPunct="1">
              <a:buFont typeface="Arial" panose="020B0604020202020204" pitchFamily="34" charset="0"/>
              <a:buChar char="•"/>
            </a:pPr>
            <a:r>
              <a:rPr lang="en-US" altLang="zh-CN" sz="2000" dirty="0">
                <a:latin typeface="Georgia" panose="02040502050405020303" pitchFamily="18" charset="0"/>
                <a:ea typeface="宋体" pitchFamily="2" charset="-122"/>
              </a:rPr>
              <a:t>Electron multiplier (dynode)</a:t>
            </a:r>
          </a:p>
          <a:p>
            <a:pPr marL="800100" lvl="1" indent="-342900" eaLnBrk="1" hangingPunct="1">
              <a:buFont typeface="Arial" panose="020B0604020202020204" pitchFamily="34" charset="0"/>
              <a:buChar char="•"/>
            </a:pPr>
            <a:endParaRPr lang="en-US" altLang="zh-CN" sz="2000" dirty="0">
              <a:latin typeface="Georgia" panose="02040502050405020303" pitchFamily="18" charset="0"/>
              <a:ea typeface="宋体" pitchFamily="2" charset="-122"/>
            </a:endParaRPr>
          </a:p>
          <a:p>
            <a:pPr marL="342900" indent="-342900" eaLnBrk="1" hangingPunct="1">
              <a:buFont typeface="Arial" panose="020B0604020202020204" pitchFamily="34" charset="0"/>
              <a:buChar char="•"/>
            </a:pPr>
            <a:r>
              <a:rPr lang="en-US" altLang="zh-CN" sz="2400" dirty="0">
                <a:latin typeface="Georgia" panose="02040502050405020303" pitchFamily="18" charset="0"/>
                <a:ea typeface="宋体" pitchFamily="2" charset="-122"/>
              </a:rPr>
              <a:t>Key parameters</a:t>
            </a:r>
          </a:p>
          <a:p>
            <a:pPr marL="800100" lvl="1" indent="-342900" eaLnBrk="1" hangingPunct="1">
              <a:buFont typeface="Arial" panose="020B0604020202020204" pitchFamily="34" charset="0"/>
              <a:buChar char="•"/>
            </a:pPr>
            <a:r>
              <a:rPr lang="en-US" altLang="zh-CN" sz="2000" dirty="0">
                <a:latin typeface="Georgia" panose="02040502050405020303" pitchFamily="18" charset="0"/>
                <a:ea typeface="宋体" pitchFamily="2" charset="-122"/>
              </a:rPr>
              <a:t>Vacuum level</a:t>
            </a:r>
          </a:p>
          <a:p>
            <a:pPr marL="800100" lvl="1" indent="-342900" eaLnBrk="1" hangingPunct="1">
              <a:buFont typeface="Arial" panose="020B0604020202020204" pitchFamily="34" charset="0"/>
              <a:buChar char="•"/>
            </a:pPr>
            <a:r>
              <a:rPr lang="en-US" altLang="zh-CN" sz="2000" dirty="0">
                <a:latin typeface="Georgia" panose="02040502050405020303" pitchFamily="18" charset="0"/>
                <a:ea typeface="宋体" pitchFamily="2" charset="-122"/>
              </a:rPr>
              <a:t>Energy resolution (KE dependent)</a:t>
            </a:r>
          </a:p>
          <a:p>
            <a:pPr marL="1257300" lvl="2" indent="-342900" eaLnBrk="1" hangingPunct="1">
              <a:buFont typeface="Arial" panose="020B0604020202020204" pitchFamily="34" charset="0"/>
              <a:buChar char="•"/>
            </a:pPr>
            <a:r>
              <a:rPr lang="en-US" altLang="zh-CN" sz="2000" dirty="0">
                <a:latin typeface="Georgia" panose="02040502050405020303" pitchFamily="18" charset="0"/>
                <a:ea typeface="宋体" pitchFamily="2" charset="-122"/>
              </a:rPr>
              <a:t>Source</a:t>
            </a:r>
          </a:p>
          <a:p>
            <a:pPr marL="1257300" lvl="2" indent="-342900" eaLnBrk="1" hangingPunct="1">
              <a:buFont typeface="Arial" panose="020B0604020202020204" pitchFamily="34" charset="0"/>
              <a:buChar char="•"/>
            </a:pPr>
            <a:r>
              <a:rPr lang="en-US" altLang="zh-CN" sz="2000" dirty="0">
                <a:latin typeface="Georgia" panose="02040502050405020303" pitchFamily="18" charset="0"/>
                <a:ea typeface="宋体" pitchFamily="2" charset="-122"/>
              </a:rPr>
              <a:t>spectrometer</a:t>
            </a:r>
          </a:p>
        </p:txBody>
      </p:sp>
    </p:spTree>
    <p:extLst>
      <p:ext uri="{BB962C8B-B14F-4D97-AF65-F5344CB8AC3E}">
        <p14:creationId xmlns:p14="http://schemas.microsoft.com/office/powerpoint/2010/main" val="26036461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6" name="Rectangle 5"/>
          <p:cNvSpPr>
            <a:spLocks noChangeArrowheads="1"/>
          </p:cNvSpPr>
          <p:nvPr/>
        </p:nvSpPr>
        <p:spPr bwMode="auto">
          <a:xfrm>
            <a:off x="914400" y="8763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Electron excitation and emission</a:t>
            </a:r>
          </a:p>
        </p:txBody>
      </p:sp>
      <p:sp>
        <p:nvSpPr>
          <p:cNvPr id="13317" name="Text Box 6"/>
          <p:cNvSpPr txBox="1">
            <a:spLocks noChangeArrowheads="1"/>
          </p:cNvSpPr>
          <p:nvPr/>
        </p:nvSpPr>
        <p:spPr bwMode="auto">
          <a:xfrm>
            <a:off x="275509" y="1466221"/>
            <a:ext cx="8407842" cy="3785652"/>
          </a:xfrm>
          <a:prstGeom prst="rect">
            <a:avLst/>
          </a:prstGeom>
          <a:noFill/>
          <a:ln w="9525">
            <a:noFill/>
            <a:miter lim="800000"/>
            <a:headEnd/>
            <a:tailEnd/>
          </a:ln>
        </p:spPr>
        <p:txBody>
          <a:bodyPr wrap="square">
            <a:spAutoFit/>
          </a:bodyPr>
          <a:lstStyle/>
          <a:p>
            <a:pPr algn="just" eaLnBrk="1" hangingPunct="1"/>
            <a:r>
              <a:rPr lang="en-US" altLang="zh-TW" sz="2000" dirty="0">
                <a:latin typeface="Georgia" panose="02040502050405020303" pitchFamily="18" charset="0"/>
                <a:ea typeface="新細明體" pitchFamily="18" charset="-120"/>
              </a:rPr>
              <a:t>In x-ray photoemission process, core level electrons are "kicked“ out from their original energy level after absorption of x-ray photons.  The kinetic energy of the </a:t>
            </a:r>
            <a:r>
              <a:rPr lang="en-US" altLang="zh-TW" sz="2000" dirty="0" err="1">
                <a:latin typeface="Georgia" panose="02040502050405020303" pitchFamily="18" charset="0"/>
                <a:ea typeface="新細明體" pitchFamily="18" charset="-120"/>
              </a:rPr>
              <a:t>photoejected</a:t>
            </a:r>
            <a:r>
              <a:rPr lang="en-US" altLang="zh-TW" sz="2000" dirty="0">
                <a:latin typeface="Georgia" panose="02040502050405020303" pitchFamily="18" charset="0"/>
                <a:ea typeface="新細明體" pitchFamily="18" charset="-120"/>
              </a:rPr>
              <a:t> electrons (photoelectrons) is given by</a:t>
            </a:r>
          </a:p>
          <a:p>
            <a:pPr marL="109538" indent="-109538" algn="just" eaLnBrk="1" hangingPunct="1"/>
            <a:r>
              <a:rPr lang="en-US" altLang="zh-TW" sz="2000" dirty="0">
                <a:latin typeface="Georgia" panose="02040502050405020303" pitchFamily="18" charset="0"/>
                <a:ea typeface="新細明體" pitchFamily="18" charset="-120"/>
              </a:rPr>
              <a:t> </a:t>
            </a:r>
          </a:p>
          <a:p>
            <a:pPr marL="109538" indent="-109538" algn="just" eaLnBrk="1" hangingPunct="1"/>
            <a:endParaRPr lang="en-US" altLang="zh-TW" sz="2000" dirty="0">
              <a:latin typeface="Georgia" panose="02040502050405020303" pitchFamily="18" charset="0"/>
              <a:ea typeface="新細明體" pitchFamily="18" charset="-120"/>
            </a:endParaRPr>
          </a:p>
          <a:p>
            <a:pPr marL="109538" indent="-109538" algn="just" eaLnBrk="1" hangingPunct="1"/>
            <a:endParaRPr lang="en-US" altLang="zh-TW" sz="2000" dirty="0">
              <a:latin typeface="Georgia" panose="02040502050405020303" pitchFamily="18" charset="0"/>
              <a:ea typeface="新細明體" pitchFamily="18" charset="-120"/>
            </a:endParaRPr>
          </a:p>
          <a:p>
            <a:pPr marL="109538" indent="-109538" algn="just" eaLnBrk="1" hangingPunct="1"/>
            <a:endParaRPr lang="en-US" altLang="zh-TW" sz="2000" dirty="0">
              <a:latin typeface="Georgia" panose="02040502050405020303" pitchFamily="18" charset="0"/>
              <a:ea typeface="新細明體" pitchFamily="18" charset="-120"/>
            </a:endParaRPr>
          </a:p>
          <a:p>
            <a:pPr marL="109538" indent="-109538" algn="just" eaLnBrk="1" hangingPunct="1"/>
            <a:r>
              <a:rPr lang="en-US" altLang="zh-TW" sz="2000" dirty="0">
                <a:latin typeface="Georgia" panose="02040502050405020303" pitchFamily="18" charset="0"/>
                <a:ea typeface="新細明體" pitchFamily="18" charset="-120"/>
              </a:rPr>
              <a:t>	</a:t>
            </a:r>
          </a:p>
          <a:p>
            <a:pPr marL="109538" indent="-109538" algn="just" eaLnBrk="1" hangingPunct="1"/>
            <a:r>
              <a:rPr lang="en-US" altLang="zh-TW" sz="2000" dirty="0">
                <a:latin typeface="Georgia" panose="02040502050405020303" pitchFamily="18" charset="0"/>
                <a:ea typeface="新細明體" pitchFamily="18" charset="-120"/>
              </a:rPr>
              <a:t>where	</a:t>
            </a:r>
            <a:r>
              <a:rPr lang="en-US" altLang="zh-TW" sz="2000" i="1" dirty="0">
                <a:latin typeface="Georgia" panose="02040502050405020303" pitchFamily="18" charset="0"/>
                <a:ea typeface="新細明體" pitchFamily="18" charset="-120"/>
              </a:rPr>
              <a:t>E</a:t>
            </a:r>
            <a:r>
              <a:rPr lang="en-US" altLang="zh-TW" sz="2000" i="1" baseline="-30000" dirty="0">
                <a:latin typeface="Georgia" panose="02040502050405020303" pitchFamily="18" charset="0"/>
                <a:ea typeface="新細明體" pitchFamily="18" charset="-120"/>
              </a:rPr>
              <a:t>K   </a:t>
            </a:r>
            <a:r>
              <a:rPr lang="en-US" altLang="zh-TW" sz="2000" dirty="0">
                <a:latin typeface="Georgia" panose="02040502050405020303" pitchFamily="18" charset="0"/>
                <a:ea typeface="新細明體" pitchFamily="18" charset="-120"/>
              </a:rPr>
              <a:t>= kinetic energy of photoelectron</a:t>
            </a:r>
          </a:p>
          <a:p>
            <a:pPr marL="109538" indent="-109538" algn="just" eaLnBrk="1" hangingPunct="1"/>
            <a:r>
              <a:rPr lang="en-US" altLang="zh-TW" sz="2000" dirty="0">
                <a:latin typeface="Georgia" panose="02040502050405020303" pitchFamily="18" charset="0"/>
                <a:ea typeface="新細明體" pitchFamily="18" charset="-120"/>
              </a:rPr>
              <a:t>		</a:t>
            </a:r>
            <a:r>
              <a:rPr lang="en-US" altLang="zh-TW" sz="2000" i="1" dirty="0">
                <a:latin typeface="Georgia" panose="02040502050405020303" pitchFamily="18" charset="0"/>
                <a:ea typeface="新細明體" pitchFamily="18" charset="-120"/>
              </a:rPr>
              <a:t>h</a:t>
            </a:r>
            <a:r>
              <a:rPr lang="en-US" altLang="zh-TW" sz="2000" i="1" dirty="0">
                <a:latin typeface="Georgia" panose="02040502050405020303" pitchFamily="18" charset="0"/>
                <a:ea typeface="新細明體" pitchFamily="18" charset="-120"/>
                <a:sym typeface="Symbol" pitchFamily="18" charset="2"/>
              </a:rPr>
              <a:t></a:t>
            </a:r>
            <a:r>
              <a:rPr lang="en-US" altLang="zh-TW" sz="2000" dirty="0">
                <a:latin typeface="Georgia" panose="02040502050405020303" pitchFamily="18" charset="0"/>
                <a:ea typeface="新細明體" pitchFamily="18" charset="-120"/>
              </a:rPr>
              <a:t>  = characteristic energy of x-ray</a:t>
            </a:r>
          </a:p>
          <a:p>
            <a:pPr marL="109538" indent="-109538" algn="just" eaLnBrk="1" hangingPunct="1"/>
            <a:r>
              <a:rPr lang="en-US" altLang="zh-TW" sz="2000" dirty="0">
                <a:latin typeface="Georgia" panose="02040502050405020303" pitchFamily="18" charset="0"/>
                <a:ea typeface="新細明體" pitchFamily="18" charset="-120"/>
              </a:rPr>
              <a:t>		</a:t>
            </a:r>
            <a:r>
              <a:rPr lang="en-US" altLang="zh-TW" sz="2000" i="1" dirty="0">
                <a:latin typeface="Georgia" panose="02040502050405020303" pitchFamily="18" charset="0"/>
                <a:ea typeface="新細明體" pitchFamily="18" charset="-120"/>
              </a:rPr>
              <a:t>E</a:t>
            </a:r>
            <a:r>
              <a:rPr lang="en-US" altLang="zh-TW" sz="2000" i="1" baseline="-30000" dirty="0">
                <a:latin typeface="Georgia" panose="02040502050405020303" pitchFamily="18" charset="0"/>
                <a:ea typeface="新細明體" pitchFamily="18" charset="-120"/>
              </a:rPr>
              <a:t>B</a:t>
            </a:r>
            <a:r>
              <a:rPr lang="en-US" altLang="zh-TW" sz="2000" dirty="0">
                <a:latin typeface="Georgia" panose="02040502050405020303" pitchFamily="18" charset="0"/>
                <a:ea typeface="新細明體" pitchFamily="18" charset="-120"/>
              </a:rPr>
              <a:t>  = binding energy of core level</a:t>
            </a:r>
          </a:p>
          <a:p>
            <a:pPr marL="109538" indent="-109538" algn="just" eaLnBrk="1" hangingPunct="1"/>
            <a:r>
              <a:rPr lang="en-US" altLang="zh-TW" sz="2000" dirty="0">
                <a:latin typeface="Georgia" panose="02040502050405020303" pitchFamily="18" charset="0"/>
                <a:ea typeface="新細明體" pitchFamily="18" charset="-120"/>
              </a:rPr>
              <a:t>		</a:t>
            </a:r>
            <a:r>
              <a:rPr lang="en-US" altLang="zh-TW" sz="2000" i="1" dirty="0">
                <a:latin typeface="Georgia" panose="02040502050405020303" pitchFamily="18" charset="0"/>
                <a:ea typeface="新細明體" pitchFamily="18" charset="-120"/>
                <a:sym typeface="Symbol" pitchFamily="18" charset="2"/>
              </a:rPr>
              <a:t></a:t>
            </a:r>
            <a:r>
              <a:rPr lang="en-US" altLang="zh-TW" sz="2000" dirty="0">
                <a:latin typeface="Georgia" panose="02040502050405020303" pitchFamily="18" charset="0"/>
                <a:ea typeface="新細明體" pitchFamily="18" charset="-120"/>
              </a:rPr>
              <a:t>  = work function term </a:t>
            </a:r>
            <a:endParaRPr lang="en-US" altLang="zh-CN" sz="2000" dirty="0">
              <a:latin typeface="Georgia" panose="02040502050405020303" pitchFamily="18" charset="0"/>
              <a:ea typeface="SimSun" pitchFamily="2" charset="-122"/>
            </a:endParaRPr>
          </a:p>
        </p:txBody>
      </p:sp>
      <p:graphicFrame>
        <p:nvGraphicFramePr>
          <p:cNvPr id="13314" name="Object 7"/>
          <p:cNvGraphicFramePr>
            <a:graphicFrameLocks noChangeAspect="1"/>
          </p:cNvGraphicFramePr>
          <p:nvPr>
            <p:extLst>
              <p:ext uri="{D42A27DB-BD31-4B8C-83A1-F6EECF244321}">
                <p14:modId xmlns:p14="http://schemas.microsoft.com/office/powerpoint/2010/main" val="2719812314"/>
              </p:ext>
            </p:extLst>
          </p:nvPr>
        </p:nvGraphicFramePr>
        <p:xfrm>
          <a:off x="745630" y="2668988"/>
          <a:ext cx="3733800" cy="641350"/>
        </p:xfrm>
        <a:graphic>
          <a:graphicData uri="http://schemas.openxmlformats.org/presentationml/2006/ole">
            <mc:AlternateContent xmlns:mc="http://schemas.openxmlformats.org/markup-compatibility/2006">
              <mc:Choice xmlns:v="urn:schemas-microsoft-com:vml" Requires="v">
                <p:oleObj r:id="rId2" imgW="1548728" imgH="266584" progId="Equation.3">
                  <p:embed/>
                </p:oleObj>
              </mc:Choice>
              <mc:Fallback>
                <p:oleObj r:id="rId2" imgW="1548728" imgH="266584" progId="Equation.3">
                  <p:embed/>
                  <p:pic>
                    <p:nvPicPr>
                      <p:cNvPr id="13314" name="Object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5630" y="2668988"/>
                        <a:ext cx="3733800" cy="641350"/>
                      </a:xfrm>
                      <a:prstGeom prst="rect">
                        <a:avLst/>
                      </a:prstGeom>
                      <a:noFill/>
                      <a:extLst>
                        <a:ext uri="{909E8E84-426E-40DD-AFC4-6F175D3DCCD1}">
                          <a14:hiddenFill xmlns:a14="http://schemas.microsoft.com/office/drawing/2010/main">
                            <a:solidFill>
                              <a:schemeClr val="tx1"/>
                            </a:solidFill>
                          </a14:hiddenFill>
                        </a:ext>
                      </a:extLst>
                    </p:spPr>
                  </p:pic>
                </p:oleObj>
              </mc:Fallback>
            </mc:AlternateContent>
          </a:graphicData>
        </a:graphic>
      </p:graphicFrame>
      <p:sp>
        <p:nvSpPr>
          <p:cNvPr id="13319" name="Text Box 9"/>
          <p:cNvSpPr txBox="1">
            <a:spLocks noChangeArrowheads="1"/>
          </p:cNvSpPr>
          <p:nvPr/>
        </p:nvSpPr>
        <p:spPr bwMode="auto">
          <a:xfrm>
            <a:off x="479524" y="3369825"/>
            <a:ext cx="4463081" cy="369332"/>
          </a:xfrm>
          <a:prstGeom prst="rect">
            <a:avLst/>
          </a:prstGeom>
          <a:noFill/>
          <a:ln w="9525">
            <a:noFill/>
            <a:miter lim="800000"/>
            <a:headEnd/>
            <a:tailEnd/>
          </a:ln>
        </p:spPr>
        <p:txBody>
          <a:bodyPr wrap="none">
            <a:spAutoFit/>
          </a:bodyPr>
          <a:lstStyle/>
          <a:p>
            <a:pPr eaLnBrk="1" hangingPunct="1"/>
            <a:r>
              <a:rPr lang="en-US" altLang="zh-CN" b="1" i="1" dirty="0">
                <a:solidFill>
                  <a:srgbClr val="006600"/>
                </a:solidFill>
                <a:latin typeface="Georgia" panose="02040502050405020303" pitchFamily="18" charset="0"/>
                <a:ea typeface="SimSun" pitchFamily="2" charset="-122"/>
              </a:rPr>
              <a:t>* E</a:t>
            </a:r>
            <a:r>
              <a:rPr lang="en-US" altLang="zh-CN" b="1" i="1" baseline="-15000" dirty="0">
                <a:solidFill>
                  <a:srgbClr val="006600"/>
                </a:solidFill>
                <a:latin typeface="Georgia" panose="02040502050405020303" pitchFamily="18" charset="0"/>
                <a:ea typeface="SimSun" pitchFamily="2" charset="-122"/>
              </a:rPr>
              <a:t>B</a:t>
            </a:r>
            <a:r>
              <a:rPr lang="en-US" altLang="zh-CN" b="1" i="1" dirty="0">
                <a:solidFill>
                  <a:srgbClr val="006600"/>
                </a:solidFill>
                <a:latin typeface="Georgia" panose="02040502050405020303" pitchFamily="18" charset="0"/>
                <a:ea typeface="SimSun" pitchFamily="2" charset="-122"/>
              </a:rPr>
              <a:t> is referenced to the Fermi level.</a:t>
            </a:r>
          </a:p>
        </p:txBody>
      </p:sp>
      <p:sp>
        <p:nvSpPr>
          <p:cNvPr id="2" name="Slide Number Placeholder 1">
            <a:extLst>
              <a:ext uri="{FF2B5EF4-FFF2-40B4-BE49-F238E27FC236}">
                <a16:creationId xmlns:a16="http://schemas.microsoft.com/office/drawing/2014/main" id="{B7D8E1F9-8C5A-4E3D-BEBF-2052AE243B91}"/>
              </a:ext>
            </a:extLst>
          </p:cNvPr>
          <p:cNvSpPr>
            <a:spLocks noGrp="1"/>
          </p:cNvSpPr>
          <p:nvPr>
            <p:ph type="sldNum" sz="quarter" idx="11"/>
          </p:nvPr>
        </p:nvSpPr>
        <p:spPr>
          <a:xfrm>
            <a:off x="6781800" y="6324600"/>
            <a:ext cx="2133600" cy="457200"/>
          </a:xfrm>
        </p:spPr>
        <p:txBody>
          <a:bodyPr/>
          <a:lstStyle/>
          <a:p>
            <a:pPr>
              <a:defRPr/>
            </a:pPr>
            <a:fld id="{EBF73BDF-690D-4725-BA10-A7934ED52EAB}" type="slidenum">
              <a:rPr lang="zh-TW" altLang="en-US" smtClean="0"/>
              <a:pPr>
                <a:defRPr/>
              </a:pPr>
              <a:t>43</a:t>
            </a:fld>
            <a:endParaRPr lang="en-US" altLang="zh-TW" dirty="0"/>
          </a:p>
        </p:txBody>
      </p:sp>
      <p:sp>
        <p:nvSpPr>
          <p:cNvPr id="3" name="Rectangle 7">
            <a:extLst>
              <a:ext uri="{FF2B5EF4-FFF2-40B4-BE49-F238E27FC236}">
                <a16:creationId xmlns:a16="http://schemas.microsoft.com/office/drawing/2014/main" id="{A8A46E59-6257-52BB-EBFC-3E9FC078B6E6}"/>
              </a:ext>
            </a:extLst>
          </p:cNvPr>
          <p:cNvSpPr>
            <a:spLocks noChangeArrowheads="1"/>
          </p:cNvSpPr>
          <p:nvPr/>
        </p:nvSpPr>
        <p:spPr bwMode="auto">
          <a:xfrm>
            <a:off x="533400" y="187325"/>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Spectral interpretation: </a:t>
            </a:r>
            <a:r>
              <a:rPr lang="en-US" altLang="zh-TW" sz="2400" dirty="0">
                <a:solidFill>
                  <a:schemeClr val="bg2">
                    <a:lumMod val="40000"/>
                    <a:lumOff val="60000"/>
                  </a:schemeClr>
                </a:solidFill>
                <a:latin typeface="Georgia" panose="02040502050405020303" pitchFamily="18" charset="0"/>
                <a:ea typeface="新細明體" pitchFamily="18" charset="-120"/>
              </a:rPr>
              <a:t>Material excitation by X-ray</a:t>
            </a:r>
          </a:p>
        </p:txBody>
      </p:sp>
      <p:pic>
        <p:nvPicPr>
          <p:cNvPr id="5" name="Picture 4">
            <a:extLst>
              <a:ext uri="{FF2B5EF4-FFF2-40B4-BE49-F238E27FC236}">
                <a16:creationId xmlns:a16="http://schemas.microsoft.com/office/drawing/2014/main" id="{96EFB841-C8DF-6B17-DCC3-54C19D942334}"/>
              </a:ext>
            </a:extLst>
          </p:cNvPr>
          <p:cNvPicPr>
            <a:picLocks noChangeAspect="1"/>
          </p:cNvPicPr>
          <p:nvPr/>
        </p:nvPicPr>
        <p:blipFill>
          <a:blip r:embed="rId4"/>
          <a:stretch>
            <a:fillRect/>
          </a:stretch>
        </p:blipFill>
        <p:spPr>
          <a:xfrm>
            <a:off x="5389209" y="2528111"/>
            <a:ext cx="3533775" cy="3581400"/>
          </a:xfrm>
          <a:prstGeom prst="rect">
            <a:avLst/>
          </a:prstGeom>
        </p:spPr>
      </p:pic>
      <p:sp>
        <p:nvSpPr>
          <p:cNvPr id="4" name="Oval 3">
            <a:extLst>
              <a:ext uri="{FF2B5EF4-FFF2-40B4-BE49-F238E27FC236}">
                <a16:creationId xmlns:a16="http://schemas.microsoft.com/office/drawing/2014/main" id="{05F2DE2D-2493-6991-A029-EFEE896EFC13}"/>
              </a:ext>
            </a:extLst>
          </p:cNvPr>
          <p:cNvSpPr/>
          <p:nvPr/>
        </p:nvSpPr>
        <p:spPr bwMode="auto">
          <a:xfrm>
            <a:off x="2895600" y="2438400"/>
            <a:ext cx="914400" cy="114300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1800" b="0" i="0" u="none" strike="noStrike" cap="none" normalizeH="0" baseline="0">
              <a:ln>
                <a:noFill/>
              </a:ln>
              <a:solidFill>
                <a:schemeClr val="tx1"/>
              </a:solidFill>
              <a:effectLst/>
              <a:latin typeface="Arial" charset="0"/>
            </a:endParaRPr>
          </a:p>
        </p:txBody>
      </p:sp>
      <p:sp>
        <p:nvSpPr>
          <p:cNvPr id="6" name="Rectangle 5">
            <a:extLst>
              <a:ext uri="{FF2B5EF4-FFF2-40B4-BE49-F238E27FC236}">
                <a16:creationId xmlns:a16="http://schemas.microsoft.com/office/drawing/2014/main" id="{4F5FBE77-0D91-A3AE-128B-E2211D4B3D48}"/>
              </a:ext>
            </a:extLst>
          </p:cNvPr>
          <p:cNvSpPr>
            <a:spLocks noChangeArrowheads="1"/>
          </p:cNvSpPr>
          <p:nvPr/>
        </p:nvSpPr>
        <p:spPr bwMode="auto">
          <a:xfrm>
            <a:off x="479525" y="5500399"/>
            <a:ext cx="5235476" cy="1015663"/>
          </a:xfrm>
          <a:prstGeom prst="rect">
            <a:avLst/>
          </a:prstGeom>
          <a:noFill/>
          <a:ln w="28575">
            <a:solidFill>
              <a:schemeClr val="bg2">
                <a:lumMod val="60000"/>
                <a:lumOff val="40000"/>
              </a:schemeClr>
            </a:solidFill>
            <a:miter lim="800000"/>
            <a:headEnd/>
            <a:tailEnd/>
          </a:ln>
        </p:spPr>
        <p:txBody>
          <a:bodyPr wrap="square">
            <a:spAutoFit/>
          </a:bodyPr>
          <a:lstStyle/>
          <a:p>
            <a:pPr eaLnBrk="1" hangingPunct="1"/>
            <a:r>
              <a:rPr lang="en-US" altLang="zh-TW" sz="2000" dirty="0">
                <a:latin typeface="Georgia" panose="02040502050405020303" pitchFamily="18" charset="0"/>
                <a:ea typeface="新細明體" pitchFamily="18" charset="-120"/>
              </a:rPr>
              <a:t>So we will plot the </a:t>
            </a:r>
            <a:r>
              <a:rPr lang="en-US" altLang="zh-TW" sz="2000" dirty="0">
                <a:solidFill>
                  <a:schemeClr val="bg2">
                    <a:lumMod val="60000"/>
                    <a:lumOff val="40000"/>
                  </a:schemeClr>
                </a:solidFill>
                <a:latin typeface="Georgia" panose="02040502050405020303" pitchFamily="18" charset="0"/>
                <a:ea typeface="新細明體" pitchFamily="18" charset="-120"/>
              </a:rPr>
              <a:t>number of photoelectrons (I) </a:t>
            </a:r>
            <a:r>
              <a:rPr lang="en-US" altLang="zh-TW" sz="2000" dirty="0">
                <a:latin typeface="Georgia" panose="02040502050405020303" pitchFamily="18" charset="0"/>
                <a:ea typeface="新細明體" pitchFamily="18" charset="-120"/>
              </a:rPr>
              <a:t>coming from specific energy levels </a:t>
            </a:r>
            <a:r>
              <a:rPr lang="en-US" altLang="zh-TW" sz="2000" dirty="0">
                <a:solidFill>
                  <a:schemeClr val="bg2">
                    <a:lumMod val="60000"/>
                    <a:lumOff val="40000"/>
                  </a:schemeClr>
                </a:solidFill>
                <a:latin typeface="Georgia" panose="02040502050405020303" pitchFamily="18" charset="0"/>
                <a:ea typeface="新細明體" pitchFamily="18" charset="-120"/>
              </a:rPr>
              <a:t>(E</a:t>
            </a:r>
            <a:r>
              <a:rPr lang="en-US" altLang="zh-TW" sz="2000" baseline="-25000" dirty="0">
                <a:solidFill>
                  <a:schemeClr val="bg2">
                    <a:lumMod val="60000"/>
                    <a:lumOff val="40000"/>
                  </a:schemeClr>
                </a:solidFill>
                <a:latin typeface="Georgia" panose="02040502050405020303" pitchFamily="18" charset="0"/>
                <a:ea typeface="新細明體" pitchFamily="18" charset="-120"/>
              </a:rPr>
              <a:t>B</a:t>
            </a:r>
            <a:r>
              <a:rPr lang="en-US" altLang="zh-TW" sz="2000" dirty="0">
                <a:solidFill>
                  <a:schemeClr val="bg2">
                    <a:lumMod val="60000"/>
                    <a:lumOff val="40000"/>
                  </a:schemeClr>
                </a:solidFill>
                <a:latin typeface="Georgia" panose="02040502050405020303" pitchFamily="18" charset="0"/>
                <a:ea typeface="新細明體" pitchFamily="18" charset="-120"/>
              </a:rPr>
              <a:t>),</a:t>
            </a:r>
            <a:r>
              <a:rPr lang="en-US" altLang="zh-TW" sz="2000" dirty="0">
                <a:latin typeface="Georgia" panose="02040502050405020303" pitchFamily="18" charset="0"/>
                <a:ea typeface="新細明體" pitchFamily="18" charset="-120"/>
              </a:rPr>
              <a:t> which is </a:t>
            </a:r>
            <a:r>
              <a:rPr lang="en-US" altLang="zh-TW" sz="2000" dirty="0">
                <a:solidFill>
                  <a:srgbClr val="006600"/>
                </a:solidFill>
                <a:latin typeface="Georgia" panose="02040502050405020303" pitchFamily="18" charset="0"/>
                <a:ea typeface="新細明體" pitchFamily="18" charset="-120"/>
              </a:rPr>
              <a:t>characteristic of the element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938" name="Picture 4"/>
          <p:cNvPicPr>
            <a:picLocks noChangeAspect="1" noChangeArrowheads="1"/>
          </p:cNvPicPr>
          <p:nvPr/>
        </p:nvPicPr>
        <p:blipFill>
          <a:blip r:embed="rId2" cstate="print"/>
          <a:srcRect/>
          <a:stretch>
            <a:fillRect/>
          </a:stretch>
        </p:blipFill>
        <p:spPr bwMode="auto">
          <a:xfrm>
            <a:off x="990600" y="761214"/>
            <a:ext cx="6781800" cy="4937125"/>
          </a:xfrm>
          <a:prstGeom prst="rect">
            <a:avLst/>
          </a:prstGeom>
          <a:noFill/>
          <a:ln w="9525">
            <a:noFill/>
            <a:miter lim="800000"/>
            <a:headEnd/>
            <a:tailEnd/>
          </a:ln>
        </p:spPr>
      </p:pic>
      <p:sp>
        <p:nvSpPr>
          <p:cNvPr id="39940" name="Rectangle 7"/>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Spectral interpretation</a:t>
            </a:r>
          </a:p>
        </p:txBody>
      </p:sp>
      <p:sp>
        <p:nvSpPr>
          <p:cNvPr id="2" name="Slide Number Placeholder 1">
            <a:extLst>
              <a:ext uri="{FF2B5EF4-FFF2-40B4-BE49-F238E27FC236}">
                <a16:creationId xmlns:a16="http://schemas.microsoft.com/office/drawing/2014/main" id="{811867ED-8378-474F-BC26-7743A9DA0DD6}"/>
              </a:ext>
            </a:extLst>
          </p:cNvPr>
          <p:cNvSpPr>
            <a:spLocks noGrp="1"/>
          </p:cNvSpPr>
          <p:nvPr>
            <p:ph type="sldNum" sz="quarter" idx="11"/>
          </p:nvPr>
        </p:nvSpPr>
        <p:spPr/>
        <p:txBody>
          <a:bodyPr/>
          <a:lstStyle/>
          <a:p>
            <a:pPr>
              <a:defRPr/>
            </a:pPr>
            <a:fld id="{EBF73BDF-690D-4725-BA10-A7934ED52EAB}" type="slidenum">
              <a:rPr lang="zh-TW" altLang="en-US" smtClean="0"/>
              <a:pPr>
                <a:defRPr/>
              </a:pPr>
              <a:t>44</a:t>
            </a:fld>
            <a:endParaRPr lang="en-US" altLang="zh-TW"/>
          </a:p>
        </p:txBody>
      </p:sp>
      <p:sp>
        <p:nvSpPr>
          <p:cNvPr id="3" name="TextBox 2">
            <a:extLst>
              <a:ext uri="{FF2B5EF4-FFF2-40B4-BE49-F238E27FC236}">
                <a16:creationId xmlns:a16="http://schemas.microsoft.com/office/drawing/2014/main" id="{6DE81135-42A0-5250-7103-083CF0B3FE39}"/>
              </a:ext>
            </a:extLst>
          </p:cNvPr>
          <p:cNvSpPr txBox="1"/>
          <p:nvPr/>
        </p:nvSpPr>
        <p:spPr>
          <a:xfrm>
            <a:off x="647700" y="5770432"/>
            <a:ext cx="7467600" cy="723275"/>
          </a:xfrm>
          <a:prstGeom prst="rect">
            <a:avLst/>
          </a:prstGeom>
          <a:noFill/>
        </p:spPr>
        <p:txBody>
          <a:bodyPr wrap="square">
            <a:spAutoFit/>
          </a:bodyPr>
          <a:lstStyle/>
          <a:p>
            <a:pPr marL="285750" indent="-285750" algn="l">
              <a:spcAft>
                <a:spcPts val="600"/>
              </a:spcAft>
              <a:buFont typeface="Arial" panose="020B0604020202020204" pitchFamily="34" charset="0"/>
              <a:buChar char="•"/>
            </a:pPr>
            <a:r>
              <a:rPr lang="en-US" b="1" i="0" dirty="0">
                <a:effectLst/>
                <a:latin typeface="Georgia" panose="02040502050405020303" pitchFamily="18" charset="0"/>
              </a:rPr>
              <a:t>Some background (why?)</a:t>
            </a:r>
          </a:p>
          <a:p>
            <a:pPr marL="285750" indent="-285750" algn="l">
              <a:spcAft>
                <a:spcPts val="600"/>
              </a:spcAft>
              <a:buFont typeface="Arial" panose="020B0604020202020204" pitchFamily="34" charset="0"/>
              <a:buChar char="•"/>
            </a:pPr>
            <a:r>
              <a:rPr lang="en-US" b="0" i="0" dirty="0">
                <a:solidFill>
                  <a:schemeClr val="tx1">
                    <a:lumMod val="50000"/>
                    <a:lumOff val="50000"/>
                  </a:schemeClr>
                </a:solidFill>
                <a:effectLst/>
                <a:latin typeface="Georgia" panose="02040502050405020303" pitchFamily="18" charset="0"/>
              </a:rPr>
              <a:t>Some peaks (who?) with different intensity/peak area (How much?)</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05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7002"/>
          <a:stretch>
            <a:fillRect/>
          </a:stretch>
        </p:blipFill>
        <p:spPr bwMode="auto">
          <a:xfrm>
            <a:off x="1143000" y="903466"/>
            <a:ext cx="6248400" cy="350801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Slide Number Placeholder 3">
            <a:extLst>
              <a:ext uri="{FF2B5EF4-FFF2-40B4-BE49-F238E27FC236}">
                <a16:creationId xmlns:a16="http://schemas.microsoft.com/office/drawing/2014/main" id="{0216177A-E6F3-4023-A046-3DFBB73C9C7A}"/>
              </a:ext>
            </a:extLst>
          </p:cNvPr>
          <p:cNvSpPr>
            <a:spLocks noGrp="1"/>
          </p:cNvSpPr>
          <p:nvPr>
            <p:ph type="sldNum" sz="quarter" idx="11"/>
          </p:nvPr>
        </p:nvSpPr>
        <p:spPr>
          <a:xfrm>
            <a:off x="6934200" y="6324600"/>
            <a:ext cx="2133600" cy="457200"/>
          </a:xfrm>
        </p:spPr>
        <p:txBody>
          <a:bodyPr/>
          <a:lstStyle/>
          <a:p>
            <a:pPr>
              <a:defRPr/>
            </a:pPr>
            <a:fld id="{EBF73BDF-690D-4725-BA10-A7934ED52EAB}" type="slidenum">
              <a:rPr lang="zh-TW" altLang="en-US" smtClean="0"/>
              <a:pPr>
                <a:defRPr/>
              </a:pPr>
              <a:t>45</a:t>
            </a:fld>
            <a:endParaRPr lang="en-US" altLang="zh-TW"/>
          </a:p>
        </p:txBody>
      </p:sp>
      <p:sp>
        <p:nvSpPr>
          <p:cNvPr id="8" name="TextBox 7">
            <a:extLst>
              <a:ext uri="{FF2B5EF4-FFF2-40B4-BE49-F238E27FC236}">
                <a16:creationId xmlns:a16="http://schemas.microsoft.com/office/drawing/2014/main" id="{2F0FAE16-79E7-39AB-85A2-73439ECDE3C5}"/>
              </a:ext>
            </a:extLst>
          </p:cNvPr>
          <p:cNvSpPr txBox="1"/>
          <p:nvPr/>
        </p:nvSpPr>
        <p:spPr>
          <a:xfrm>
            <a:off x="723900" y="4339441"/>
            <a:ext cx="7696200" cy="1985159"/>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US" dirty="0">
                <a:latin typeface="Georgia" panose="02040502050405020303" pitchFamily="18" charset="0"/>
              </a:rPr>
              <a:t>General contribution: Secondary processes like X-ray-induced Auger electrons, plasmon excitations, and satellite lines from non-monochromatic X-ray sources add to the background intensity.​</a:t>
            </a:r>
          </a:p>
          <a:p>
            <a:pPr marL="285750" indent="-285750" algn="l">
              <a:spcAft>
                <a:spcPts val="600"/>
              </a:spcAft>
              <a:buFont typeface="Arial" panose="020B0604020202020204" pitchFamily="34" charset="0"/>
              <a:buChar char="•"/>
            </a:pPr>
            <a:r>
              <a:rPr lang="en-US" b="0" i="0" dirty="0">
                <a:effectLst/>
                <a:latin typeface="Georgia" panose="02040502050405020303" pitchFamily="18" charset="0"/>
              </a:rPr>
              <a:t>Contribution from inelastic scattering of photoelectrons </a:t>
            </a:r>
          </a:p>
          <a:p>
            <a:pPr marL="742950" lvl="1" indent="-285750">
              <a:spcAft>
                <a:spcPts val="600"/>
              </a:spcAft>
              <a:buFont typeface="Arial" panose="020B0604020202020204" pitchFamily="34" charset="0"/>
              <a:buChar char="•"/>
            </a:pPr>
            <a:r>
              <a:rPr lang="en-US" dirty="0">
                <a:latin typeface="Georgia" panose="02040502050405020303" pitchFamily="18" charset="0"/>
              </a:rPr>
              <a:t>Inelastic collision</a:t>
            </a:r>
            <a:r>
              <a:rPr lang="en-US" b="0" i="0" dirty="0">
                <a:effectLst/>
                <a:latin typeface="Georgia" panose="02040502050405020303" pitchFamily="18" charset="0"/>
              </a:rPr>
              <a:t> within the solid sample </a:t>
            </a:r>
          </a:p>
          <a:p>
            <a:pPr marL="742950" lvl="1" indent="-285750">
              <a:spcAft>
                <a:spcPts val="600"/>
              </a:spcAft>
              <a:buFont typeface="Arial" panose="020B0604020202020204" pitchFamily="34" charset="0"/>
              <a:buChar char="•"/>
            </a:pPr>
            <a:r>
              <a:rPr lang="en-US" dirty="0">
                <a:solidFill>
                  <a:schemeClr val="bg2">
                    <a:lumMod val="60000"/>
                    <a:lumOff val="40000"/>
                  </a:schemeClr>
                </a:solidFill>
                <a:latin typeface="Georgia" panose="02040502050405020303" pitchFamily="18" charset="0"/>
              </a:rPr>
              <a:t>A E</a:t>
            </a:r>
            <a:r>
              <a:rPr lang="en-US" baseline="-25000" dirty="0">
                <a:solidFill>
                  <a:schemeClr val="bg2">
                    <a:lumMod val="60000"/>
                    <a:lumOff val="40000"/>
                  </a:schemeClr>
                </a:solidFill>
                <a:latin typeface="Georgia" panose="02040502050405020303" pitchFamily="18" charset="0"/>
              </a:rPr>
              <a:t>B </a:t>
            </a:r>
            <a:r>
              <a:rPr lang="en-US" b="0" i="0" dirty="0">
                <a:solidFill>
                  <a:schemeClr val="bg2">
                    <a:lumMod val="60000"/>
                    <a:lumOff val="40000"/>
                  </a:schemeClr>
                </a:solidFill>
                <a:effectLst/>
                <a:latin typeface="Georgia" panose="02040502050405020303" pitchFamily="18" charset="0"/>
              </a:rPr>
              <a:t>dependence</a:t>
            </a:r>
            <a:r>
              <a:rPr lang="en-US" dirty="0">
                <a:solidFill>
                  <a:schemeClr val="bg2">
                    <a:lumMod val="60000"/>
                    <a:lumOff val="40000"/>
                  </a:schemeClr>
                </a:solidFill>
                <a:latin typeface="Georgia" panose="02040502050405020303" pitchFamily="18" charset="0"/>
              </a:rPr>
              <a:t>--H</a:t>
            </a:r>
            <a:r>
              <a:rPr lang="en-US" b="0" i="0" dirty="0">
                <a:solidFill>
                  <a:schemeClr val="bg2">
                    <a:lumMod val="60000"/>
                    <a:lumOff val="40000"/>
                  </a:schemeClr>
                </a:solidFill>
                <a:effectLst/>
                <a:latin typeface="Georgia" panose="02040502050405020303" pitchFamily="18" charset="0"/>
              </a:rPr>
              <a:t>igh binding energy side of peaks (Why?)</a:t>
            </a:r>
            <a:r>
              <a:rPr lang="en-US" b="0" i="0" dirty="0">
                <a:effectLst/>
                <a:latin typeface="Georgia" panose="02040502050405020303" pitchFamily="18" charset="0"/>
              </a:rPr>
              <a:t>​</a:t>
            </a:r>
          </a:p>
        </p:txBody>
      </p:sp>
      <p:sp>
        <p:nvSpPr>
          <p:cNvPr id="9" name="Rectangle 8">
            <a:extLst>
              <a:ext uri="{FF2B5EF4-FFF2-40B4-BE49-F238E27FC236}">
                <a16:creationId xmlns:a16="http://schemas.microsoft.com/office/drawing/2014/main" id="{DAAEA220-BCF4-6513-31FB-B39A8CB4002D}"/>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interpretation-Background: inelastic loss</a:t>
            </a:r>
          </a:p>
        </p:txBody>
      </p:sp>
    </p:spTree>
    <p:extLst>
      <p:ext uri="{BB962C8B-B14F-4D97-AF65-F5344CB8AC3E}">
        <p14:creationId xmlns:p14="http://schemas.microsoft.com/office/powerpoint/2010/main" val="4006586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F2CB1-F47C-7243-2E1B-11D5B21C1422}"/>
            </a:ext>
          </a:extLst>
        </p:cNvPr>
        <p:cNvGrpSpPr/>
        <p:nvPr/>
      </p:nvGrpSpPr>
      <p:grpSpPr>
        <a:xfrm>
          <a:off x="0" y="0"/>
          <a:ext cx="0" cy="0"/>
          <a:chOff x="0" y="0"/>
          <a:chExt cx="0" cy="0"/>
        </a:xfrm>
      </p:grpSpPr>
      <p:pic>
        <p:nvPicPr>
          <p:cNvPr id="39938" name="Picture 4">
            <a:extLst>
              <a:ext uri="{FF2B5EF4-FFF2-40B4-BE49-F238E27FC236}">
                <a16:creationId xmlns:a16="http://schemas.microsoft.com/office/drawing/2014/main" id="{5999B0A2-FD2C-8212-7079-26908B43E292}"/>
              </a:ext>
            </a:extLst>
          </p:cNvPr>
          <p:cNvPicPr>
            <a:picLocks noChangeAspect="1" noChangeArrowheads="1"/>
          </p:cNvPicPr>
          <p:nvPr/>
        </p:nvPicPr>
        <p:blipFill>
          <a:blip r:embed="rId2" cstate="print"/>
          <a:srcRect/>
          <a:stretch>
            <a:fillRect/>
          </a:stretch>
        </p:blipFill>
        <p:spPr bwMode="auto">
          <a:xfrm>
            <a:off x="990600" y="761214"/>
            <a:ext cx="6781800" cy="4937125"/>
          </a:xfrm>
          <a:prstGeom prst="rect">
            <a:avLst/>
          </a:prstGeom>
          <a:noFill/>
          <a:ln w="9525">
            <a:noFill/>
            <a:miter lim="800000"/>
            <a:headEnd/>
            <a:tailEnd/>
          </a:ln>
        </p:spPr>
      </p:pic>
      <p:sp>
        <p:nvSpPr>
          <p:cNvPr id="39940" name="Rectangle 7">
            <a:extLst>
              <a:ext uri="{FF2B5EF4-FFF2-40B4-BE49-F238E27FC236}">
                <a16:creationId xmlns:a16="http://schemas.microsoft.com/office/drawing/2014/main" id="{52138BE1-9916-4C45-C2AE-8C62CAF0C38D}"/>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XPS Spectral interpretation</a:t>
            </a:r>
          </a:p>
        </p:txBody>
      </p:sp>
      <p:sp>
        <p:nvSpPr>
          <p:cNvPr id="2" name="Slide Number Placeholder 1">
            <a:extLst>
              <a:ext uri="{FF2B5EF4-FFF2-40B4-BE49-F238E27FC236}">
                <a16:creationId xmlns:a16="http://schemas.microsoft.com/office/drawing/2014/main" id="{635B7DC7-9EA1-937C-9862-8EC6DB18A6EF}"/>
              </a:ext>
            </a:extLst>
          </p:cNvPr>
          <p:cNvSpPr>
            <a:spLocks noGrp="1"/>
          </p:cNvSpPr>
          <p:nvPr>
            <p:ph type="sldNum" sz="quarter" idx="11"/>
          </p:nvPr>
        </p:nvSpPr>
        <p:spPr/>
        <p:txBody>
          <a:bodyPr/>
          <a:lstStyle/>
          <a:p>
            <a:pPr>
              <a:defRPr/>
            </a:pPr>
            <a:fld id="{EBF73BDF-690D-4725-BA10-A7934ED52EAB}" type="slidenum">
              <a:rPr lang="zh-TW" altLang="en-US" smtClean="0"/>
              <a:pPr>
                <a:defRPr/>
              </a:pPr>
              <a:t>46</a:t>
            </a:fld>
            <a:endParaRPr lang="en-US" altLang="zh-TW"/>
          </a:p>
        </p:txBody>
      </p:sp>
      <p:sp>
        <p:nvSpPr>
          <p:cNvPr id="3" name="TextBox 2">
            <a:extLst>
              <a:ext uri="{FF2B5EF4-FFF2-40B4-BE49-F238E27FC236}">
                <a16:creationId xmlns:a16="http://schemas.microsoft.com/office/drawing/2014/main" id="{5C2AB6B0-747D-A247-DFDF-89783162FB6A}"/>
              </a:ext>
            </a:extLst>
          </p:cNvPr>
          <p:cNvSpPr txBox="1"/>
          <p:nvPr/>
        </p:nvSpPr>
        <p:spPr>
          <a:xfrm>
            <a:off x="647700" y="5770432"/>
            <a:ext cx="7886700" cy="723275"/>
          </a:xfrm>
          <a:prstGeom prst="rect">
            <a:avLst/>
          </a:prstGeom>
          <a:noFill/>
        </p:spPr>
        <p:txBody>
          <a:bodyPr wrap="square">
            <a:spAutoFit/>
          </a:bodyPr>
          <a:lstStyle/>
          <a:p>
            <a:pPr marL="285750" indent="-285750" algn="l">
              <a:spcAft>
                <a:spcPts val="600"/>
              </a:spcAft>
              <a:buFont typeface="Arial" panose="020B0604020202020204" pitchFamily="34" charset="0"/>
              <a:buChar char="•"/>
            </a:pPr>
            <a:r>
              <a:rPr lang="en-US" b="0" i="0" dirty="0">
                <a:solidFill>
                  <a:schemeClr val="tx1">
                    <a:lumMod val="50000"/>
                    <a:lumOff val="50000"/>
                  </a:schemeClr>
                </a:solidFill>
                <a:effectLst/>
                <a:latin typeface="Georgia" panose="02040502050405020303" pitchFamily="18" charset="0"/>
              </a:rPr>
              <a:t>Some background (why?)</a:t>
            </a:r>
          </a:p>
          <a:p>
            <a:pPr marL="285750" indent="-285750" algn="l">
              <a:spcAft>
                <a:spcPts val="600"/>
              </a:spcAft>
              <a:buFont typeface="Arial" panose="020B0604020202020204" pitchFamily="34" charset="0"/>
              <a:buChar char="•"/>
            </a:pPr>
            <a:r>
              <a:rPr lang="en-US" b="1" i="0" dirty="0">
                <a:effectLst/>
                <a:latin typeface="Georgia" panose="02040502050405020303" pitchFamily="18" charset="0"/>
              </a:rPr>
              <a:t>Some peaks (who?) </a:t>
            </a:r>
            <a:r>
              <a:rPr lang="en-US" b="0" i="0" dirty="0">
                <a:effectLst/>
                <a:latin typeface="Georgia" panose="02040502050405020303" pitchFamily="18" charset="0"/>
              </a:rPr>
              <a:t>with different intensity/peak area (How much)</a:t>
            </a:r>
          </a:p>
        </p:txBody>
      </p:sp>
    </p:spTree>
    <p:extLst>
      <p:ext uri="{BB962C8B-B14F-4D97-AF65-F5344CB8AC3E}">
        <p14:creationId xmlns:p14="http://schemas.microsoft.com/office/powerpoint/2010/main" val="22471983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8613" y="186390"/>
            <a:ext cx="7475123" cy="461665"/>
          </a:xfrm>
          <a:prstGeom prst="rect">
            <a:avLst/>
          </a:prstGeom>
          <a:noFill/>
        </p:spPr>
        <p:txBody>
          <a:bodyPr wrap="none" rtlCol="0">
            <a:spAutoFit/>
          </a:bodyPr>
          <a:lstStyle/>
          <a:p>
            <a:r>
              <a:rPr lang="en-US" sz="2400" dirty="0">
                <a:solidFill>
                  <a:schemeClr val="bg1"/>
                </a:solidFill>
                <a:latin typeface="Georgia" panose="02040502050405020303" pitchFamily="18" charset="0"/>
              </a:rPr>
              <a:t>Background requirement for spectrum </a:t>
            </a:r>
            <a:r>
              <a:rPr lang="en-US" sz="2400" dirty="0">
                <a:solidFill>
                  <a:schemeClr val="bg2">
                    <a:lumMod val="40000"/>
                    <a:lumOff val="60000"/>
                  </a:schemeClr>
                </a:solidFill>
                <a:latin typeface="Georgia" panose="02040502050405020303" pitchFamily="18" charset="0"/>
              </a:rPr>
              <a:t>interpretation </a:t>
            </a:r>
          </a:p>
        </p:txBody>
      </p:sp>
      <p:pic>
        <p:nvPicPr>
          <p:cNvPr id="11" name="Picture 10"/>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1022" y="3251563"/>
            <a:ext cx="4006878" cy="3436896"/>
          </a:xfrm>
          <a:prstGeom prst="rect">
            <a:avLst/>
          </a:prstGeom>
          <a:noFill/>
          <a:extLst>
            <a:ext uri="{909E8E84-426E-40DD-AFC4-6F175D3DCCD1}">
              <a14:hiddenFill xmlns:a14="http://schemas.microsoft.com/office/drawing/2010/main">
                <a:solidFill>
                  <a:srgbClr val="FFFFFF"/>
                </a:solidFill>
              </a14:hiddenFill>
            </a:ext>
          </a:extLst>
        </p:spPr>
      </p:pic>
      <p:pic>
        <p:nvPicPr>
          <p:cNvPr id="106501"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43584" y="1329515"/>
            <a:ext cx="3333750" cy="1371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9" name="TextBox 18"/>
          <p:cNvSpPr txBox="1"/>
          <p:nvPr/>
        </p:nvSpPr>
        <p:spPr>
          <a:xfrm>
            <a:off x="5420117" y="853938"/>
            <a:ext cx="3204723" cy="369332"/>
          </a:xfrm>
          <a:prstGeom prst="rect">
            <a:avLst/>
          </a:prstGeom>
          <a:noFill/>
        </p:spPr>
        <p:txBody>
          <a:bodyPr wrap="none" rtlCol="0">
            <a:spAutoFit/>
          </a:bodyPr>
          <a:lstStyle/>
          <a:p>
            <a:r>
              <a:rPr lang="en-US" dirty="0">
                <a:latin typeface="Georgia" panose="02040502050405020303" pitchFamily="18" charset="0"/>
              </a:rPr>
              <a:t>Electron filling order : E (</a:t>
            </a:r>
            <a:r>
              <a:rPr lang="en-US" i="1" dirty="0" err="1">
                <a:latin typeface="Georgia" panose="02040502050405020303" pitchFamily="18" charset="0"/>
              </a:rPr>
              <a:t>n,l</a:t>
            </a:r>
            <a:r>
              <a:rPr lang="en-US" dirty="0">
                <a:latin typeface="Georgia" panose="02040502050405020303" pitchFamily="18" charset="0"/>
              </a:rPr>
              <a:t>) </a:t>
            </a:r>
          </a:p>
        </p:txBody>
      </p:sp>
      <p:sp>
        <p:nvSpPr>
          <p:cNvPr id="53" name="Up Arrow 52"/>
          <p:cNvSpPr/>
          <p:nvPr/>
        </p:nvSpPr>
        <p:spPr bwMode="auto">
          <a:xfrm>
            <a:off x="8506073" y="899541"/>
            <a:ext cx="123919" cy="248603"/>
          </a:xfrm>
          <a:prstGeom prst="up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sp>
        <p:nvSpPr>
          <p:cNvPr id="56" name="TextBox 55"/>
          <p:cNvSpPr txBox="1"/>
          <p:nvPr/>
        </p:nvSpPr>
        <p:spPr>
          <a:xfrm>
            <a:off x="6939374" y="2881699"/>
            <a:ext cx="2204626" cy="646331"/>
          </a:xfrm>
          <a:prstGeom prst="rect">
            <a:avLst/>
          </a:prstGeom>
          <a:noFill/>
        </p:spPr>
        <p:txBody>
          <a:bodyPr wrap="square" rtlCol="0">
            <a:spAutoFit/>
          </a:bodyPr>
          <a:lstStyle/>
          <a:p>
            <a:r>
              <a:rPr lang="en-US" dirty="0">
                <a:solidFill>
                  <a:srgbClr val="FF0000"/>
                </a:solidFill>
                <a:latin typeface="Times New Roman" panose="02020603050405020304" pitchFamily="18" charset="0"/>
                <a:cs typeface="Times New Roman" panose="02020603050405020304" pitchFamily="18" charset="0"/>
              </a:rPr>
              <a:t>Not considering </a:t>
            </a:r>
          </a:p>
          <a:p>
            <a:r>
              <a:rPr lang="en-US" dirty="0">
                <a:solidFill>
                  <a:srgbClr val="FF0000"/>
                </a:solidFill>
                <a:latin typeface="Times New Roman" panose="02020603050405020304" pitchFamily="18" charset="0"/>
                <a:cs typeface="Times New Roman" panose="02020603050405020304" pitchFamily="18" charset="0"/>
              </a:rPr>
              <a:t>spin-orbital coupling! </a:t>
            </a:r>
          </a:p>
        </p:txBody>
      </p:sp>
      <mc:AlternateContent xmlns:mc="http://schemas.openxmlformats.org/markup-compatibility/2006" xmlns:a14="http://schemas.microsoft.com/office/drawing/2010/main">
        <mc:Choice Requires="a14">
          <p:sp>
            <p:nvSpPr>
              <p:cNvPr id="3" name="TextBox 2"/>
              <p:cNvSpPr txBox="1"/>
              <p:nvPr/>
            </p:nvSpPr>
            <p:spPr>
              <a:xfrm>
                <a:off x="152400" y="1261198"/>
                <a:ext cx="5777593" cy="1671098"/>
              </a:xfrm>
              <a:prstGeom prst="rect">
                <a:avLst/>
              </a:prstGeom>
              <a:noFill/>
            </p:spPr>
            <p:txBody>
              <a:bodyPr wrap="square" rtlCol="0">
                <a:spAutoFit/>
              </a:bodyPr>
              <a:lstStyle/>
              <a:p>
                <a:r>
                  <a:rPr lang="en-US" sz="1600" dirty="0">
                    <a:latin typeface="Georgia" panose="02040502050405020303" pitchFamily="18" charset="0"/>
                    <a:cs typeface="Times New Roman" panose="02020603050405020304" pitchFamily="18" charset="0"/>
                  </a:rPr>
                  <a:t>Quantum Numbers	Indicates	   Values</a:t>
                </a:r>
              </a:p>
              <a:p>
                <a:endParaRPr lang="en-US" sz="1600" dirty="0">
                  <a:latin typeface="Georgia" panose="02040502050405020303" pitchFamily="18" charset="0"/>
                  <a:cs typeface="Times New Roman" panose="02020603050405020304" pitchFamily="18" charset="0"/>
                </a:endParaRPr>
              </a:p>
              <a:p>
                <a:r>
                  <a:rPr lang="en-US" sz="1600" i="1" dirty="0">
                    <a:latin typeface="Georgia" panose="02040502050405020303" pitchFamily="18" charset="0"/>
                    <a:cs typeface="Times New Roman" panose="02020603050405020304" pitchFamily="18" charset="0"/>
                  </a:rPr>
                  <a:t>n</a:t>
                </a:r>
                <a:r>
                  <a:rPr lang="en-US" sz="1600" dirty="0">
                    <a:latin typeface="Georgia" panose="02040502050405020303" pitchFamily="18" charset="0"/>
                    <a:cs typeface="Times New Roman" panose="02020603050405020304" pitchFamily="18" charset="0"/>
                  </a:rPr>
                  <a:t> – principal	distance	   1, 2, 3,…  or K, L, M, N	</a:t>
                </a:r>
              </a:p>
              <a:p>
                <a:r>
                  <a:rPr lang="en-US" sz="1600" i="1" dirty="0">
                    <a:latin typeface="Georgia" panose="02040502050405020303" pitchFamily="18" charset="0"/>
                    <a:cs typeface="Times New Roman" panose="02020603050405020304" pitchFamily="18" charset="0"/>
                  </a:rPr>
                  <a:t>l</a:t>
                </a:r>
                <a:r>
                  <a:rPr lang="en-US" sz="1600" dirty="0">
                    <a:latin typeface="Georgia" panose="02040502050405020303" pitchFamily="18" charset="0"/>
                    <a:cs typeface="Times New Roman" panose="02020603050405020304" pitchFamily="18" charset="0"/>
                  </a:rPr>
                  <a:t> – orbital/angular	shape	   0,1,…,</a:t>
                </a:r>
                <a:r>
                  <a:rPr lang="en-US" sz="1600" i="1" dirty="0">
                    <a:latin typeface="Georgia" panose="02040502050405020303" pitchFamily="18" charset="0"/>
                    <a:cs typeface="Times New Roman" panose="02020603050405020304" pitchFamily="18" charset="0"/>
                  </a:rPr>
                  <a:t>n</a:t>
                </a:r>
                <a:r>
                  <a:rPr lang="en-US" sz="1600" dirty="0">
                    <a:latin typeface="Georgia" panose="02040502050405020303" pitchFamily="18" charset="0"/>
                    <a:cs typeface="Times New Roman" panose="02020603050405020304" pitchFamily="18" charset="0"/>
                  </a:rPr>
                  <a:t>-1 or </a:t>
                </a:r>
                <a:r>
                  <a:rPr lang="en-US" sz="1600" i="1" dirty="0">
                    <a:latin typeface="Georgia" panose="02040502050405020303" pitchFamily="18" charset="0"/>
                    <a:cs typeface="Times New Roman" panose="02020603050405020304" pitchFamily="18" charset="0"/>
                  </a:rPr>
                  <a:t>s, p, d, f</a:t>
                </a:r>
              </a:p>
              <a:p>
                <a:r>
                  <a:rPr lang="en-US" sz="1600" i="1" dirty="0">
                    <a:latin typeface="Georgia" panose="02040502050405020303" pitchFamily="18" charset="0"/>
                    <a:cs typeface="Times New Roman" panose="02020603050405020304" pitchFamily="18" charset="0"/>
                  </a:rPr>
                  <a:t>m</a:t>
                </a:r>
                <a:r>
                  <a:rPr lang="en-US" sz="1600" i="1" baseline="-25000" dirty="0">
                    <a:latin typeface="Georgia" panose="02040502050405020303" pitchFamily="18" charset="0"/>
                    <a:cs typeface="Times New Roman" panose="02020603050405020304" pitchFamily="18" charset="0"/>
                  </a:rPr>
                  <a:t>l</a:t>
                </a:r>
                <a:r>
                  <a:rPr lang="en-US" sz="1600" dirty="0">
                    <a:latin typeface="Georgia" panose="02040502050405020303" pitchFamily="18" charset="0"/>
                    <a:cs typeface="Times New Roman" panose="02020603050405020304" pitchFamily="18" charset="0"/>
                  </a:rPr>
                  <a:t> – magnetic	orientation  </a:t>
                </a:r>
                <a:r>
                  <a:rPr lang="en-US" sz="1600" i="1" dirty="0">
                    <a:latin typeface="Georgia" panose="02040502050405020303" pitchFamily="18" charset="0"/>
                    <a:cs typeface="Times New Roman" panose="02020603050405020304" pitchFamily="18" charset="0"/>
                  </a:rPr>
                  <a:t>l,l-1,…,-l  </a:t>
                </a:r>
              </a:p>
              <a:p>
                <a:r>
                  <a:rPr lang="en-US" sz="1600" i="1" dirty="0" err="1">
                    <a:latin typeface="Georgia" panose="02040502050405020303" pitchFamily="18" charset="0"/>
                    <a:cs typeface="Times New Roman" panose="02020603050405020304" pitchFamily="18" charset="0"/>
                  </a:rPr>
                  <a:t>m</a:t>
                </a:r>
                <a:r>
                  <a:rPr lang="en-US" sz="1600" i="1" baseline="-25000" dirty="0" err="1">
                    <a:latin typeface="Georgia" panose="02040502050405020303" pitchFamily="18" charset="0"/>
                    <a:cs typeface="Times New Roman" panose="02020603050405020304" pitchFamily="18" charset="0"/>
                  </a:rPr>
                  <a:t>s</a:t>
                </a:r>
                <a:r>
                  <a:rPr lang="en-US" sz="1600" dirty="0">
                    <a:latin typeface="Georgia" panose="02040502050405020303" pitchFamily="18" charset="0"/>
                    <a:cs typeface="Times New Roman" panose="02020603050405020304" pitchFamily="18" charset="0"/>
                  </a:rPr>
                  <a:t> – spin		spin 	   </a:t>
                </a:r>
                <a14:m>
                  <m:oMath xmlns:m="http://schemas.openxmlformats.org/officeDocument/2006/math">
                    <m:r>
                      <a:rPr lang="en-US" sz="1600" b="0" i="0" smtClean="0">
                        <a:latin typeface="Cambria Math"/>
                        <a:cs typeface="Times New Roman" panose="02020603050405020304" pitchFamily="18" charset="0"/>
                      </a:rPr>
                      <m:t>+</m:t>
                    </m:r>
                    <m:f>
                      <m:fPr>
                        <m:ctrlPr>
                          <a:rPr lang="en-US" sz="1600" b="0" i="1" smtClean="0">
                            <a:latin typeface="Cambria Math"/>
                            <a:cs typeface="Times New Roman" panose="02020603050405020304" pitchFamily="18" charset="0"/>
                          </a:rPr>
                        </m:ctrlPr>
                      </m:fPr>
                      <m:num>
                        <m:r>
                          <a:rPr lang="en-US" sz="1600" b="0" i="1" smtClean="0">
                            <a:latin typeface="Cambria Math"/>
                            <a:cs typeface="Times New Roman" panose="02020603050405020304" pitchFamily="18" charset="0"/>
                          </a:rPr>
                          <m:t>1</m:t>
                        </m:r>
                      </m:num>
                      <m:den>
                        <m:r>
                          <a:rPr lang="en-US" sz="1600" b="0" i="1" smtClean="0">
                            <a:latin typeface="Cambria Math"/>
                            <a:cs typeface="Times New Roman" panose="02020603050405020304" pitchFamily="18" charset="0"/>
                          </a:rPr>
                          <m:t>2</m:t>
                        </m:r>
                      </m:den>
                    </m:f>
                  </m:oMath>
                </a14:m>
                <a:r>
                  <a:rPr lang="en-US" sz="1600" dirty="0">
                    <a:solidFill>
                      <a:srgbClr val="FF0000"/>
                    </a:solidFill>
                    <a:latin typeface="Georgia" panose="02040502050405020303" pitchFamily="18" charset="0"/>
                    <a:cs typeface="Times New Roman" panose="02020603050405020304" pitchFamily="18" charset="0"/>
                  </a:rPr>
                  <a:t> </a:t>
                </a:r>
                <a:r>
                  <a:rPr lang="en-US" sz="1600" dirty="0">
                    <a:latin typeface="Georgia" panose="02040502050405020303" pitchFamily="18" charset="0"/>
                    <a:cs typeface="Times New Roman" panose="02020603050405020304" pitchFamily="18" charset="0"/>
                  </a:rPr>
                  <a:t>,</a:t>
                </a:r>
                <a:r>
                  <a:rPr lang="en-US" sz="1600" dirty="0">
                    <a:solidFill>
                      <a:srgbClr val="FF0000"/>
                    </a:solidFill>
                    <a:latin typeface="Georgia" panose="02040502050405020303" pitchFamily="18" charset="0"/>
                    <a:cs typeface="Times New Roman" panose="02020603050405020304" pitchFamily="18" charset="0"/>
                  </a:rPr>
                  <a:t> </a:t>
                </a:r>
                <a14:m>
                  <m:oMath xmlns:m="http://schemas.openxmlformats.org/officeDocument/2006/math">
                    <m:r>
                      <a:rPr lang="en-US" sz="1600" dirty="0" smtClean="0">
                        <a:latin typeface="Cambria Math"/>
                        <a:cs typeface="Times New Roman" panose="02020603050405020304" pitchFamily="18" charset="0"/>
                      </a:rPr>
                      <m:t>−</m:t>
                    </m:r>
                    <m:f>
                      <m:fPr>
                        <m:ctrlPr>
                          <a:rPr lang="en-US" sz="1600" i="1">
                            <a:latin typeface="Cambria Math"/>
                            <a:cs typeface="Times New Roman" panose="02020603050405020304" pitchFamily="18" charset="0"/>
                          </a:rPr>
                        </m:ctrlPr>
                      </m:fPr>
                      <m:num>
                        <m:r>
                          <a:rPr lang="en-US" sz="1600" i="1">
                            <a:latin typeface="Cambria Math"/>
                            <a:cs typeface="Times New Roman" panose="02020603050405020304" pitchFamily="18" charset="0"/>
                          </a:rPr>
                          <m:t>1</m:t>
                        </m:r>
                      </m:num>
                      <m:den>
                        <m:r>
                          <a:rPr lang="en-US" sz="1600" i="1">
                            <a:latin typeface="Cambria Math"/>
                            <a:cs typeface="Times New Roman" panose="02020603050405020304" pitchFamily="18" charset="0"/>
                          </a:rPr>
                          <m:t>2</m:t>
                        </m:r>
                      </m:den>
                    </m:f>
                  </m:oMath>
                </a14:m>
                <a:endParaRPr lang="en-US" sz="1600" dirty="0">
                  <a:solidFill>
                    <a:srgbClr val="FF0000"/>
                  </a:solidFill>
                  <a:latin typeface="Georgia" panose="02040502050405020303" pitchFamily="18" charset="0"/>
                  <a:cs typeface="Times New Roman" panose="02020603050405020304" pitchFamily="18" charset="0"/>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152400" y="1261198"/>
                <a:ext cx="5777593" cy="1671098"/>
              </a:xfrm>
              <a:prstGeom prst="rect">
                <a:avLst/>
              </a:prstGeom>
              <a:blipFill>
                <a:blip r:embed="rId5"/>
                <a:stretch>
                  <a:fillRect l="-527" t="-1095" b="-730"/>
                </a:stretch>
              </a:blipFill>
            </p:spPr>
            <p:txBody>
              <a:bodyPr/>
              <a:lstStyle/>
              <a:p>
                <a:r>
                  <a:rPr lang="en-HK">
                    <a:noFill/>
                  </a:rPr>
                  <a:t> </a:t>
                </a:r>
              </a:p>
            </p:txBody>
          </p:sp>
        </mc:Fallback>
      </mc:AlternateContent>
      <p:sp>
        <p:nvSpPr>
          <p:cNvPr id="89" name="Rectangle 88"/>
          <p:cNvSpPr/>
          <p:nvPr/>
        </p:nvSpPr>
        <p:spPr>
          <a:xfrm>
            <a:off x="7162800" y="3644799"/>
            <a:ext cx="2039341" cy="369332"/>
          </a:xfrm>
          <a:prstGeom prst="rect">
            <a:avLst/>
          </a:prstGeom>
        </p:spPr>
        <p:txBody>
          <a:bodyPr wrap="none">
            <a:spAutoFit/>
          </a:bodyPr>
          <a:lstStyle/>
          <a:p>
            <a:r>
              <a:rPr lang="en-US" dirty="0">
                <a:solidFill>
                  <a:srgbClr val="FF0000"/>
                </a:solidFill>
                <a:latin typeface="Times New Roman" panose="02020603050405020304" pitchFamily="18" charset="0"/>
                <a:cs typeface="Times New Roman" panose="02020603050405020304" pitchFamily="18" charset="0"/>
              </a:rPr>
              <a:t>Degeneracy 2(2</a:t>
            </a:r>
            <a:r>
              <a:rPr lang="en-US" i="1" dirty="0">
                <a:solidFill>
                  <a:srgbClr val="FF0000"/>
                </a:solidFill>
                <a:latin typeface="Times New Roman" panose="02020603050405020304" pitchFamily="18" charset="0"/>
                <a:cs typeface="Times New Roman" panose="02020603050405020304" pitchFamily="18" charset="0"/>
              </a:rPr>
              <a:t>l</a:t>
            </a:r>
            <a:r>
              <a:rPr lang="en-US" dirty="0">
                <a:solidFill>
                  <a:srgbClr val="FF0000"/>
                </a:solidFill>
                <a:latin typeface="Times New Roman" panose="02020603050405020304" pitchFamily="18" charset="0"/>
                <a:cs typeface="Times New Roman" panose="02020603050405020304" pitchFamily="18" charset="0"/>
              </a:rPr>
              <a:t>+1)</a:t>
            </a:r>
            <a:endParaRPr lang="en-US" dirty="0"/>
          </a:p>
        </p:txBody>
      </p:sp>
      <p:grpSp>
        <p:nvGrpSpPr>
          <p:cNvPr id="133" name="Group 132"/>
          <p:cNvGrpSpPr/>
          <p:nvPr/>
        </p:nvGrpSpPr>
        <p:grpSpPr>
          <a:xfrm>
            <a:off x="4464078" y="2743200"/>
            <a:ext cx="2772716" cy="4114800"/>
            <a:chOff x="4464078" y="2743200"/>
            <a:chExt cx="2772716" cy="4114800"/>
          </a:xfrm>
        </p:grpSpPr>
        <p:pic>
          <p:nvPicPr>
            <p:cNvPr id="106503" name="Picture 7" descr="https://encrypted-tbn0.gstatic.com/images?q=tbn:ANd9GcSXZ2frii1nhUzBLTpxlKd0jEku1Pp_GheSdDFCWVIUIKO2uISi"/>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64078" y="4085284"/>
              <a:ext cx="2772716" cy="2772716"/>
            </a:xfrm>
            <a:prstGeom prst="rect">
              <a:avLst/>
            </a:prstGeom>
            <a:noFill/>
            <a:extLst>
              <a:ext uri="{909E8E84-426E-40DD-AFC4-6F175D3DCCD1}">
                <a14:hiddenFill xmlns:a14="http://schemas.microsoft.com/office/drawing/2010/main">
                  <a:solidFill>
                    <a:srgbClr val="FFFFFF"/>
                  </a:solidFill>
                </a14:hiddenFill>
              </a:ext>
            </a:extLst>
          </p:spPr>
        </p:pic>
        <p:sp>
          <p:nvSpPr>
            <p:cNvPr id="71" name="Oval 20"/>
            <p:cNvSpPr>
              <a:spLocks noChangeAspect="1" noChangeArrowheads="1"/>
            </p:cNvSpPr>
            <p:nvPr/>
          </p:nvSpPr>
          <p:spPr bwMode="auto">
            <a:xfrm>
              <a:off x="6324600" y="638556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73" name="Oval 23"/>
            <p:cNvSpPr>
              <a:spLocks noChangeAspect="1" noChangeArrowheads="1"/>
            </p:cNvSpPr>
            <p:nvPr/>
          </p:nvSpPr>
          <p:spPr bwMode="auto">
            <a:xfrm>
              <a:off x="6461760" y="638556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grpSp>
          <p:nvGrpSpPr>
            <p:cNvPr id="54" name="Group 53"/>
            <p:cNvGrpSpPr/>
            <p:nvPr/>
          </p:nvGrpSpPr>
          <p:grpSpPr>
            <a:xfrm>
              <a:off x="4953000" y="2743200"/>
              <a:ext cx="1882027" cy="1312970"/>
              <a:chOff x="5410200" y="2287588"/>
              <a:chExt cx="3370309" cy="1761480"/>
            </a:xfrm>
          </p:grpSpPr>
          <p:sp>
            <p:nvSpPr>
              <p:cNvPr id="57" name="Line 5"/>
              <p:cNvSpPr>
                <a:spLocks noChangeShapeType="1"/>
              </p:cNvSpPr>
              <p:nvPr/>
            </p:nvSpPr>
            <p:spPr bwMode="auto">
              <a:xfrm>
                <a:off x="5428501" y="2514600"/>
                <a:ext cx="3340100" cy="1588"/>
              </a:xfrm>
              <a:prstGeom prst="line">
                <a:avLst/>
              </a:prstGeom>
              <a:noFill/>
              <a:ln w="38100">
                <a:solidFill>
                  <a:srgbClr val="00CC00"/>
                </a:solidFill>
                <a:prstDash val="dash"/>
                <a:round/>
                <a:headEnd/>
                <a:tailEnd/>
              </a:ln>
              <a:effectLst/>
            </p:spPr>
            <p:txBody>
              <a:bodyPr/>
              <a:lstStyle/>
              <a:p>
                <a:endParaRPr lang="en-US"/>
              </a:p>
            </p:txBody>
          </p:sp>
          <p:sp>
            <p:nvSpPr>
              <p:cNvPr id="58" name="Rectangle 6"/>
              <p:cNvSpPr>
                <a:spLocks noChangeArrowheads="1"/>
              </p:cNvSpPr>
              <p:nvPr/>
            </p:nvSpPr>
            <p:spPr bwMode="auto">
              <a:xfrm>
                <a:off x="5440409" y="2785418"/>
                <a:ext cx="3340100" cy="501650"/>
              </a:xfrm>
              <a:prstGeom prst="rect">
                <a:avLst/>
              </a:prstGeom>
              <a:solidFill>
                <a:srgbClr val="99CCFF"/>
              </a:solidFill>
              <a:ln w="9525">
                <a:noFill/>
                <a:miter lim="800000"/>
                <a:headEnd/>
                <a:tailEnd/>
              </a:ln>
              <a:effectLst/>
            </p:spPr>
            <p:txBody>
              <a:bodyPr wrap="none" anchor="ctr"/>
              <a:lstStyle/>
              <a:p>
                <a:endParaRPr lang="en-US"/>
              </a:p>
            </p:txBody>
          </p:sp>
          <p:sp>
            <p:nvSpPr>
              <p:cNvPr id="59" name="Rectangle 7"/>
              <p:cNvSpPr>
                <a:spLocks noChangeArrowheads="1"/>
              </p:cNvSpPr>
              <p:nvPr/>
            </p:nvSpPr>
            <p:spPr bwMode="auto">
              <a:xfrm>
                <a:off x="5440409" y="3660131"/>
                <a:ext cx="3340100" cy="388937"/>
              </a:xfrm>
              <a:prstGeom prst="rect">
                <a:avLst/>
              </a:prstGeom>
              <a:solidFill>
                <a:srgbClr val="0000FF"/>
              </a:solidFill>
              <a:ln w="9525">
                <a:noFill/>
                <a:miter lim="800000"/>
                <a:headEnd/>
                <a:tailEnd/>
              </a:ln>
              <a:effectLst/>
            </p:spPr>
            <p:txBody>
              <a:bodyPr wrap="none" anchor="ctr"/>
              <a:lstStyle/>
              <a:p>
                <a:endParaRPr lang="en-US"/>
              </a:p>
            </p:txBody>
          </p:sp>
          <p:sp>
            <p:nvSpPr>
              <p:cNvPr id="74" name="Text Box 30"/>
              <p:cNvSpPr txBox="1">
                <a:spLocks noChangeArrowheads="1"/>
              </p:cNvSpPr>
              <p:nvPr/>
            </p:nvSpPr>
            <p:spPr bwMode="auto">
              <a:xfrm>
                <a:off x="6551659" y="2287588"/>
                <a:ext cx="952128" cy="371622"/>
              </a:xfrm>
              <a:prstGeom prst="rect">
                <a:avLst/>
              </a:prstGeom>
              <a:noFill/>
              <a:ln w="9525">
                <a:noFill/>
                <a:miter lim="800000"/>
                <a:headEnd/>
                <a:tailEnd/>
              </a:ln>
              <a:effectLst/>
            </p:spPr>
            <p:txBody>
              <a:bodyPr wrap="none">
                <a:spAutoFit/>
              </a:bodyPr>
              <a:lstStyle/>
              <a:p>
                <a:pPr eaLnBrk="1" hangingPunct="1"/>
                <a:r>
                  <a:rPr lang="en-US" altLang="zh-TW" sz="1200" b="1" dirty="0">
                    <a:latin typeface="Times New Roman" pitchFamily="18" charset="0"/>
                    <a:ea typeface="新細明體" pitchFamily="18" charset="-120"/>
                  </a:rPr>
                  <a:t>Vacuum</a:t>
                </a:r>
              </a:p>
            </p:txBody>
          </p:sp>
          <p:sp>
            <p:nvSpPr>
              <p:cNvPr id="75" name="Text Box 31"/>
              <p:cNvSpPr txBox="1">
                <a:spLocks noChangeArrowheads="1"/>
              </p:cNvSpPr>
              <p:nvPr/>
            </p:nvSpPr>
            <p:spPr bwMode="auto">
              <a:xfrm>
                <a:off x="5874589" y="2798117"/>
                <a:ext cx="1736727" cy="371622"/>
              </a:xfrm>
              <a:prstGeom prst="rect">
                <a:avLst/>
              </a:prstGeom>
              <a:noFill/>
              <a:ln w="9525">
                <a:noFill/>
                <a:miter lim="800000"/>
                <a:headEnd/>
                <a:tailEnd/>
              </a:ln>
              <a:effectLst/>
            </p:spPr>
            <p:txBody>
              <a:bodyPr wrap="none">
                <a:spAutoFit/>
              </a:bodyPr>
              <a:lstStyle/>
              <a:p>
                <a:pPr eaLnBrk="1" hangingPunct="1"/>
                <a:r>
                  <a:rPr lang="en-US" altLang="zh-TW" sz="1200" b="1" dirty="0">
                    <a:latin typeface="Times New Roman" pitchFamily="18" charset="0"/>
                    <a:ea typeface="新細明體" pitchFamily="18" charset="-120"/>
                  </a:rPr>
                  <a:t>Conduction band</a:t>
                </a:r>
              </a:p>
            </p:txBody>
          </p:sp>
          <p:sp>
            <p:nvSpPr>
              <p:cNvPr id="76" name="Text Box 32"/>
              <p:cNvSpPr txBox="1">
                <a:spLocks noChangeArrowheads="1"/>
              </p:cNvSpPr>
              <p:nvPr/>
            </p:nvSpPr>
            <p:spPr bwMode="auto">
              <a:xfrm>
                <a:off x="6121447" y="3625999"/>
                <a:ext cx="1396202" cy="371622"/>
              </a:xfrm>
              <a:prstGeom prst="rect">
                <a:avLst/>
              </a:prstGeom>
              <a:noFill/>
              <a:ln w="9525">
                <a:noFill/>
                <a:miter lim="800000"/>
                <a:headEnd/>
                <a:tailEnd/>
              </a:ln>
              <a:effectLst/>
            </p:spPr>
            <p:txBody>
              <a:bodyPr wrap="none">
                <a:spAutoFit/>
              </a:bodyPr>
              <a:lstStyle/>
              <a:p>
                <a:pPr eaLnBrk="1" hangingPunct="1"/>
                <a:r>
                  <a:rPr lang="en-US" altLang="zh-TW" sz="1200" b="1" dirty="0">
                    <a:solidFill>
                      <a:schemeClr val="bg1"/>
                    </a:solidFill>
                    <a:latin typeface="Times New Roman" pitchFamily="18" charset="0"/>
                    <a:ea typeface="新細明體" pitchFamily="18" charset="-120"/>
                  </a:rPr>
                  <a:t>Valence band</a:t>
                </a:r>
              </a:p>
            </p:txBody>
          </p:sp>
          <p:sp>
            <p:nvSpPr>
              <p:cNvPr id="85" name="Line 5"/>
              <p:cNvSpPr>
                <a:spLocks noChangeShapeType="1"/>
              </p:cNvSpPr>
              <p:nvPr/>
            </p:nvSpPr>
            <p:spPr bwMode="auto">
              <a:xfrm>
                <a:off x="5410200" y="3456137"/>
                <a:ext cx="3340100" cy="1588"/>
              </a:xfrm>
              <a:prstGeom prst="line">
                <a:avLst/>
              </a:prstGeom>
              <a:noFill/>
              <a:ln w="38100">
                <a:solidFill>
                  <a:srgbClr val="00CC00"/>
                </a:solidFill>
                <a:prstDash val="dash"/>
                <a:round/>
                <a:headEnd/>
                <a:tailEnd/>
              </a:ln>
              <a:effectLst/>
            </p:spPr>
            <p:txBody>
              <a:bodyPr/>
              <a:lstStyle/>
              <a:p>
                <a:endParaRPr lang="en-US"/>
              </a:p>
            </p:txBody>
          </p:sp>
          <p:sp>
            <p:nvSpPr>
              <p:cNvPr id="86" name="Text Box 30"/>
              <p:cNvSpPr txBox="1">
                <a:spLocks noChangeArrowheads="1"/>
              </p:cNvSpPr>
              <p:nvPr/>
            </p:nvSpPr>
            <p:spPr bwMode="auto">
              <a:xfrm>
                <a:off x="6605470" y="3242313"/>
                <a:ext cx="772816" cy="371622"/>
              </a:xfrm>
              <a:prstGeom prst="rect">
                <a:avLst/>
              </a:prstGeom>
              <a:noFill/>
              <a:ln w="9525">
                <a:noFill/>
                <a:miter lim="800000"/>
                <a:headEnd/>
                <a:tailEnd/>
              </a:ln>
              <a:effectLst/>
            </p:spPr>
            <p:txBody>
              <a:bodyPr wrap="none">
                <a:spAutoFit/>
              </a:bodyPr>
              <a:lstStyle/>
              <a:p>
                <a:pPr eaLnBrk="1" hangingPunct="1"/>
                <a:r>
                  <a:rPr lang="en-US" altLang="zh-TW" sz="1200" b="1" dirty="0">
                    <a:latin typeface="Times New Roman" pitchFamily="18" charset="0"/>
                    <a:ea typeface="新細明體" pitchFamily="18" charset="-120"/>
                  </a:rPr>
                  <a:t>Fermi</a:t>
                </a:r>
              </a:p>
            </p:txBody>
          </p:sp>
        </p:grpSp>
        <p:sp>
          <p:nvSpPr>
            <p:cNvPr id="117" name="Oval 20"/>
            <p:cNvSpPr>
              <a:spLocks noChangeAspect="1" noChangeArrowheads="1"/>
            </p:cNvSpPr>
            <p:nvPr/>
          </p:nvSpPr>
          <p:spPr bwMode="auto">
            <a:xfrm>
              <a:off x="6324600" y="600456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18" name="Oval 23"/>
            <p:cNvSpPr>
              <a:spLocks noChangeAspect="1" noChangeArrowheads="1"/>
            </p:cNvSpPr>
            <p:nvPr/>
          </p:nvSpPr>
          <p:spPr bwMode="auto">
            <a:xfrm>
              <a:off x="6461760" y="600456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19" name="Oval 20"/>
            <p:cNvSpPr>
              <a:spLocks noChangeAspect="1" noChangeArrowheads="1"/>
            </p:cNvSpPr>
            <p:nvPr/>
          </p:nvSpPr>
          <p:spPr bwMode="auto">
            <a:xfrm>
              <a:off x="6324600" y="538543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20" name="Oval 23"/>
            <p:cNvSpPr>
              <a:spLocks noChangeAspect="1" noChangeArrowheads="1"/>
            </p:cNvSpPr>
            <p:nvPr/>
          </p:nvSpPr>
          <p:spPr bwMode="auto">
            <a:xfrm>
              <a:off x="6461760" y="538543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21" name="Oval 20"/>
            <p:cNvSpPr>
              <a:spLocks noChangeAspect="1" noChangeArrowheads="1"/>
            </p:cNvSpPr>
            <p:nvPr/>
          </p:nvSpPr>
          <p:spPr bwMode="auto">
            <a:xfrm>
              <a:off x="6200775" y="55911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22" name="Oval 23"/>
            <p:cNvSpPr>
              <a:spLocks noChangeAspect="1" noChangeArrowheads="1"/>
            </p:cNvSpPr>
            <p:nvPr/>
          </p:nvSpPr>
          <p:spPr bwMode="auto">
            <a:xfrm>
              <a:off x="6319647" y="55911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23" name="Oval 20"/>
            <p:cNvSpPr>
              <a:spLocks noChangeAspect="1" noChangeArrowheads="1"/>
            </p:cNvSpPr>
            <p:nvPr/>
          </p:nvSpPr>
          <p:spPr bwMode="auto">
            <a:xfrm>
              <a:off x="6438519" y="55911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24" name="Oval 23"/>
            <p:cNvSpPr>
              <a:spLocks noChangeAspect="1" noChangeArrowheads="1"/>
            </p:cNvSpPr>
            <p:nvPr/>
          </p:nvSpPr>
          <p:spPr bwMode="auto">
            <a:xfrm>
              <a:off x="6557391" y="55911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25" name="Oval 20"/>
            <p:cNvSpPr>
              <a:spLocks noChangeAspect="1" noChangeArrowheads="1"/>
            </p:cNvSpPr>
            <p:nvPr/>
          </p:nvSpPr>
          <p:spPr bwMode="auto">
            <a:xfrm>
              <a:off x="6676263" y="55911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26" name="Oval 23"/>
            <p:cNvSpPr>
              <a:spLocks noChangeAspect="1" noChangeArrowheads="1"/>
            </p:cNvSpPr>
            <p:nvPr/>
          </p:nvSpPr>
          <p:spPr bwMode="auto">
            <a:xfrm>
              <a:off x="6795135" y="55911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27" name="Oval 20"/>
            <p:cNvSpPr>
              <a:spLocks noChangeAspect="1" noChangeArrowheads="1"/>
            </p:cNvSpPr>
            <p:nvPr/>
          </p:nvSpPr>
          <p:spPr bwMode="auto">
            <a:xfrm>
              <a:off x="6172200" y="51054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28" name="Oval 23"/>
            <p:cNvSpPr>
              <a:spLocks noChangeAspect="1" noChangeArrowheads="1"/>
            </p:cNvSpPr>
            <p:nvPr/>
          </p:nvSpPr>
          <p:spPr bwMode="auto">
            <a:xfrm>
              <a:off x="6291072" y="51054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29" name="Oval 20"/>
            <p:cNvSpPr>
              <a:spLocks noChangeAspect="1" noChangeArrowheads="1"/>
            </p:cNvSpPr>
            <p:nvPr/>
          </p:nvSpPr>
          <p:spPr bwMode="auto">
            <a:xfrm>
              <a:off x="6409944" y="51054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30" name="Oval 23"/>
            <p:cNvSpPr>
              <a:spLocks noChangeAspect="1" noChangeArrowheads="1"/>
            </p:cNvSpPr>
            <p:nvPr/>
          </p:nvSpPr>
          <p:spPr bwMode="auto">
            <a:xfrm>
              <a:off x="6528816" y="51054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31" name="Oval 20"/>
            <p:cNvSpPr>
              <a:spLocks noChangeAspect="1" noChangeArrowheads="1"/>
            </p:cNvSpPr>
            <p:nvPr/>
          </p:nvSpPr>
          <p:spPr bwMode="auto">
            <a:xfrm>
              <a:off x="6647688" y="51054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sp>
          <p:nvSpPr>
            <p:cNvPr id="132" name="Oval 23"/>
            <p:cNvSpPr>
              <a:spLocks noChangeAspect="1" noChangeArrowheads="1"/>
            </p:cNvSpPr>
            <p:nvPr/>
          </p:nvSpPr>
          <p:spPr bwMode="auto">
            <a:xfrm>
              <a:off x="6766560" y="51054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p>
          </p:txBody>
        </p:sp>
      </p:grpSp>
      <p:sp>
        <p:nvSpPr>
          <p:cNvPr id="137" name="TextBox 136"/>
          <p:cNvSpPr txBox="1"/>
          <p:nvPr/>
        </p:nvSpPr>
        <p:spPr>
          <a:xfrm>
            <a:off x="7822093" y="4475978"/>
            <a:ext cx="284052" cy="307777"/>
          </a:xfrm>
          <a:prstGeom prst="rect">
            <a:avLst/>
          </a:prstGeom>
          <a:noFill/>
        </p:spPr>
        <p:txBody>
          <a:bodyPr wrap="none" rtlCol="0">
            <a:spAutoFit/>
          </a:bodyPr>
          <a:lstStyle/>
          <a:p>
            <a:r>
              <a:rPr lang="en-US" sz="1400" dirty="0"/>
              <a:t>6</a:t>
            </a:r>
          </a:p>
        </p:txBody>
      </p:sp>
      <p:sp>
        <p:nvSpPr>
          <p:cNvPr id="138" name="TextBox 137"/>
          <p:cNvSpPr txBox="1"/>
          <p:nvPr/>
        </p:nvSpPr>
        <p:spPr>
          <a:xfrm>
            <a:off x="7772400" y="4696130"/>
            <a:ext cx="383438" cy="307777"/>
          </a:xfrm>
          <a:prstGeom prst="rect">
            <a:avLst/>
          </a:prstGeom>
          <a:noFill/>
        </p:spPr>
        <p:txBody>
          <a:bodyPr wrap="none" rtlCol="0">
            <a:spAutoFit/>
          </a:bodyPr>
          <a:lstStyle/>
          <a:p>
            <a:r>
              <a:rPr lang="en-US" sz="1400" dirty="0"/>
              <a:t>10</a:t>
            </a:r>
          </a:p>
        </p:txBody>
      </p:sp>
      <p:sp>
        <p:nvSpPr>
          <p:cNvPr id="139" name="TextBox 138"/>
          <p:cNvSpPr txBox="1"/>
          <p:nvPr/>
        </p:nvSpPr>
        <p:spPr>
          <a:xfrm>
            <a:off x="7822093" y="4864360"/>
            <a:ext cx="284052" cy="307777"/>
          </a:xfrm>
          <a:prstGeom prst="rect">
            <a:avLst/>
          </a:prstGeom>
          <a:noFill/>
        </p:spPr>
        <p:txBody>
          <a:bodyPr wrap="none" rtlCol="0">
            <a:spAutoFit/>
          </a:bodyPr>
          <a:lstStyle/>
          <a:p>
            <a:r>
              <a:rPr lang="en-US" sz="1400" dirty="0"/>
              <a:t>2</a:t>
            </a:r>
          </a:p>
        </p:txBody>
      </p:sp>
      <p:sp>
        <p:nvSpPr>
          <p:cNvPr id="140" name="TextBox 139"/>
          <p:cNvSpPr txBox="1"/>
          <p:nvPr/>
        </p:nvSpPr>
        <p:spPr>
          <a:xfrm>
            <a:off x="7822093" y="5067192"/>
            <a:ext cx="284052" cy="307777"/>
          </a:xfrm>
          <a:prstGeom prst="rect">
            <a:avLst/>
          </a:prstGeom>
          <a:noFill/>
        </p:spPr>
        <p:txBody>
          <a:bodyPr wrap="none" rtlCol="0">
            <a:spAutoFit/>
          </a:bodyPr>
          <a:lstStyle/>
          <a:p>
            <a:r>
              <a:rPr lang="en-US" sz="1400" dirty="0"/>
              <a:t>6</a:t>
            </a:r>
          </a:p>
        </p:txBody>
      </p:sp>
      <p:sp>
        <p:nvSpPr>
          <p:cNvPr id="141" name="TextBox 140"/>
          <p:cNvSpPr txBox="1"/>
          <p:nvPr/>
        </p:nvSpPr>
        <p:spPr>
          <a:xfrm>
            <a:off x="7822093" y="5277266"/>
            <a:ext cx="284052" cy="307777"/>
          </a:xfrm>
          <a:prstGeom prst="rect">
            <a:avLst/>
          </a:prstGeom>
          <a:noFill/>
        </p:spPr>
        <p:txBody>
          <a:bodyPr wrap="none" rtlCol="0">
            <a:spAutoFit/>
          </a:bodyPr>
          <a:lstStyle/>
          <a:p>
            <a:r>
              <a:rPr lang="en-US" sz="1400" dirty="0"/>
              <a:t>2</a:t>
            </a:r>
          </a:p>
        </p:txBody>
      </p:sp>
      <p:sp>
        <p:nvSpPr>
          <p:cNvPr id="142" name="TextBox 141"/>
          <p:cNvSpPr txBox="1"/>
          <p:nvPr/>
        </p:nvSpPr>
        <p:spPr>
          <a:xfrm>
            <a:off x="7822093" y="5483006"/>
            <a:ext cx="284052" cy="307777"/>
          </a:xfrm>
          <a:prstGeom prst="rect">
            <a:avLst/>
          </a:prstGeom>
          <a:noFill/>
        </p:spPr>
        <p:txBody>
          <a:bodyPr wrap="none" rtlCol="0">
            <a:spAutoFit/>
          </a:bodyPr>
          <a:lstStyle/>
          <a:p>
            <a:r>
              <a:rPr lang="en-US" sz="1400" dirty="0"/>
              <a:t>6</a:t>
            </a:r>
          </a:p>
        </p:txBody>
      </p:sp>
      <p:sp>
        <p:nvSpPr>
          <p:cNvPr id="143" name="TextBox 142"/>
          <p:cNvSpPr txBox="1"/>
          <p:nvPr/>
        </p:nvSpPr>
        <p:spPr>
          <a:xfrm>
            <a:off x="7822093" y="5896391"/>
            <a:ext cx="284052" cy="307777"/>
          </a:xfrm>
          <a:prstGeom prst="rect">
            <a:avLst/>
          </a:prstGeom>
          <a:noFill/>
        </p:spPr>
        <p:txBody>
          <a:bodyPr wrap="none" rtlCol="0">
            <a:spAutoFit/>
          </a:bodyPr>
          <a:lstStyle/>
          <a:p>
            <a:r>
              <a:rPr lang="en-US" sz="1400" dirty="0"/>
              <a:t>2</a:t>
            </a:r>
          </a:p>
        </p:txBody>
      </p:sp>
      <p:sp>
        <p:nvSpPr>
          <p:cNvPr id="144" name="TextBox 143"/>
          <p:cNvSpPr txBox="1"/>
          <p:nvPr/>
        </p:nvSpPr>
        <p:spPr>
          <a:xfrm>
            <a:off x="7822093" y="6258617"/>
            <a:ext cx="284052" cy="307777"/>
          </a:xfrm>
          <a:prstGeom prst="rect">
            <a:avLst/>
          </a:prstGeom>
          <a:noFill/>
        </p:spPr>
        <p:txBody>
          <a:bodyPr wrap="none" rtlCol="0">
            <a:spAutoFit/>
          </a:bodyPr>
          <a:lstStyle/>
          <a:p>
            <a:r>
              <a:rPr lang="en-US" sz="1400" dirty="0"/>
              <a:t>2</a:t>
            </a:r>
          </a:p>
        </p:txBody>
      </p:sp>
      <p:sp>
        <p:nvSpPr>
          <p:cNvPr id="4" name="Slide Number Placeholder 3">
            <a:extLst>
              <a:ext uri="{FF2B5EF4-FFF2-40B4-BE49-F238E27FC236}">
                <a16:creationId xmlns:a16="http://schemas.microsoft.com/office/drawing/2014/main" id="{B119343D-BBA8-43B0-B50F-393654A06CA9}"/>
              </a:ext>
            </a:extLst>
          </p:cNvPr>
          <p:cNvSpPr>
            <a:spLocks noGrp="1"/>
          </p:cNvSpPr>
          <p:nvPr>
            <p:ph type="sldNum" sz="quarter" idx="11"/>
          </p:nvPr>
        </p:nvSpPr>
        <p:spPr/>
        <p:txBody>
          <a:bodyPr/>
          <a:lstStyle/>
          <a:p>
            <a:pPr>
              <a:defRPr/>
            </a:pPr>
            <a:fld id="{EBF73BDF-690D-4725-BA10-A7934ED52EAB}" type="slidenum">
              <a:rPr lang="zh-TW" altLang="en-US" smtClean="0"/>
              <a:pPr>
                <a:defRPr/>
              </a:pPr>
              <a:t>47</a:t>
            </a:fld>
            <a:endParaRPr lang="en-US" altLang="zh-TW"/>
          </a:p>
        </p:txBody>
      </p:sp>
      <p:sp>
        <p:nvSpPr>
          <p:cNvPr id="5" name="Rectangle 6">
            <a:extLst>
              <a:ext uri="{FF2B5EF4-FFF2-40B4-BE49-F238E27FC236}">
                <a16:creationId xmlns:a16="http://schemas.microsoft.com/office/drawing/2014/main" id="{2930C7CE-1F44-2291-BBC6-269AF880323C}"/>
              </a:ext>
            </a:extLst>
          </p:cNvPr>
          <p:cNvSpPr>
            <a:spLocks noChangeArrowheads="1"/>
          </p:cNvSpPr>
          <p:nvPr/>
        </p:nvSpPr>
        <p:spPr bwMode="auto">
          <a:xfrm>
            <a:off x="-621320" y="701116"/>
            <a:ext cx="6934200" cy="461665"/>
          </a:xfrm>
          <a:prstGeom prst="rect">
            <a:avLst/>
          </a:prstGeom>
          <a:noFill/>
          <a:ln w="9525">
            <a:noFill/>
            <a:miter lim="800000"/>
            <a:headEnd/>
            <a:tailEnd/>
          </a:ln>
          <a:effectLst/>
        </p:spPr>
        <p:txBody>
          <a:bodyPr>
            <a:spAutoFit/>
          </a:bodyPr>
          <a:lstStyle/>
          <a:p>
            <a:pPr algn="ctr" eaLnBrk="1" hangingPunct="1"/>
            <a:r>
              <a:rPr lang="en-US" altLang="zh-TW" sz="2400" dirty="0">
                <a:latin typeface="Georgia" panose="02040502050405020303" pitchFamily="18" charset="0"/>
                <a:ea typeface="新細明體" pitchFamily="18" charset="-120"/>
              </a:rPr>
              <a:t>Electronic structure</a:t>
            </a:r>
          </a:p>
        </p:txBody>
      </p:sp>
    </p:spTree>
    <p:extLst>
      <p:ext uri="{BB962C8B-B14F-4D97-AF65-F5344CB8AC3E}">
        <p14:creationId xmlns:p14="http://schemas.microsoft.com/office/powerpoint/2010/main" val="7591815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4"/>
          <p:cNvSpPr>
            <a:spLocks noChangeArrowheads="1"/>
          </p:cNvSpPr>
          <p:nvPr/>
        </p:nvSpPr>
        <p:spPr bwMode="auto">
          <a:xfrm>
            <a:off x="914400" y="727286"/>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Spin-orbital coupling</a:t>
            </a:r>
          </a:p>
        </p:txBody>
      </p:sp>
      <p:sp>
        <p:nvSpPr>
          <p:cNvPr id="41987" name="Text Box 5"/>
          <p:cNvSpPr txBox="1">
            <a:spLocks noChangeArrowheads="1"/>
          </p:cNvSpPr>
          <p:nvPr/>
        </p:nvSpPr>
        <p:spPr bwMode="auto">
          <a:xfrm>
            <a:off x="457200" y="3460790"/>
            <a:ext cx="8334375" cy="3016210"/>
          </a:xfrm>
          <a:prstGeom prst="rect">
            <a:avLst/>
          </a:prstGeom>
          <a:noFill/>
          <a:ln w="9525">
            <a:noFill/>
            <a:miter lim="800000"/>
            <a:headEnd/>
            <a:tailEnd/>
          </a:ln>
        </p:spPr>
        <p:txBody>
          <a:bodyPr wrap="square">
            <a:spAutoFit/>
          </a:bodyPr>
          <a:lstStyle/>
          <a:p>
            <a:pPr marL="285750" indent="-285750" algn="just" eaLnBrk="1" hangingPunct="1">
              <a:spcAft>
                <a:spcPts val="600"/>
              </a:spcAft>
              <a:buFont typeface="Arial" panose="020B0604020202020204" pitchFamily="34" charset="0"/>
              <a:buChar char="•"/>
            </a:pPr>
            <a:r>
              <a:rPr lang="en-US" altLang="zh-TW" dirty="0">
                <a:latin typeface="Georgia" panose="02040502050405020303" pitchFamily="18" charset="0"/>
                <a:ea typeface="新細明體" pitchFamily="18" charset="-120"/>
              </a:rPr>
              <a:t>Since electron is a charged particle, its orbit around a nucleus induces a </a:t>
            </a:r>
            <a:r>
              <a:rPr lang="en-US" altLang="zh-TW" dirty="0">
                <a:solidFill>
                  <a:srgbClr val="006600"/>
                </a:solidFill>
                <a:latin typeface="Georgia" panose="02040502050405020303" pitchFamily="18" charset="0"/>
                <a:ea typeface="新細明體" pitchFamily="18" charset="-120"/>
              </a:rPr>
              <a:t>magnetic field</a:t>
            </a:r>
            <a:r>
              <a:rPr lang="en-US" altLang="zh-TW" dirty="0">
                <a:latin typeface="Georgia" panose="02040502050405020303" pitchFamily="18" charset="0"/>
                <a:ea typeface="新細明體" pitchFamily="18" charset="-120"/>
              </a:rPr>
              <a:t> whose intensity and direction depend on the electron velocity and on the radius of the orbit which are characterized by the </a:t>
            </a:r>
            <a:r>
              <a:rPr lang="en-US" altLang="zh-TW" dirty="0">
                <a:solidFill>
                  <a:srgbClr val="006600"/>
                </a:solidFill>
                <a:latin typeface="Georgia" panose="02040502050405020303" pitchFamily="18" charset="0"/>
                <a:ea typeface="新細明體" pitchFamily="18" charset="-120"/>
              </a:rPr>
              <a:t>orbital angular momentum L</a:t>
            </a:r>
            <a:endParaRPr lang="en-US" altLang="zh-TW" dirty="0">
              <a:latin typeface="Georgia" panose="02040502050405020303" pitchFamily="18" charset="0"/>
              <a:ea typeface="新細明體" pitchFamily="18" charset="-120"/>
            </a:endParaRPr>
          </a:p>
          <a:p>
            <a:pPr marL="285750" indent="-285750" algn="just" eaLnBrk="1" hangingPunct="1">
              <a:spcAft>
                <a:spcPts val="600"/>
              </a:spcAft>
              <a:buFont typeface="Arial" panose="020B0604020202020204" pitchFamily="34" charset="0"/>
              <a:buChar char="•"/>
            </a:pPr>
            <a:r>
              <a:rPr lang="en-US" altLang="zh-TW" dirty="0">
                <a:latin typeface="Georgia" panose="02040502050405020303" pitchFamily="18" charset="0"/>
                <a:ea typeface="新細明體" pitchFamily="18" charset="-120"/>
              </a:rPr>
              <a:t>On the other hand, the orbiting electron itself has an </a:t>
            </a:r>
            <a:r>
              <a:rPr lang="en-US" altLang="zh-TW" dirty="0">
                <a:solidFill>
                  <a:srgbClr val="006600"/>
                </a:solidFill>
                <a:latin typeface="Georgia" panose="02040502050405020303" pitchFamily="18" charset="0"/>
                <a:ea typeface="新細明體" pitchFamily="18" charset="-120"/>
              </a:rPr>
              <a:t>electronic spin (+/-)</a:t>
            </a:r>
            <a:r>
              <a:rPr lang="en-US" altLang="zh-TW" dirty="0">
                <a:latin typeface="Georgia" panose="02040502050405020303" pitchFamily="18" charset="0"/>
                <a:ea typeface="新細明體" pitchFamily="18" charset="-120"/>
              </a:rPr>
              <a:t>, which also induces an inherent magnetic field, which has an associated spin momentum, characterized by a </a:t>
            </a:r>
            <a:r>
              <a:rPr lang="en-US" altLang="zh-TW" dirty="0">
                <a:solidFill>
                  <a:srgbClr val="006600"/>
                </a:solidFill>
                <a:latin typeface="Georgia" panose="02040502050405020303" pitchFamily="18" charset="0"/>
                <a:ea typeface="新細明體" pitchFamily="18" charset="-120"/>
              </a:rPr>
              <a:t>spin quantum number </a:t>
            </a:r>
            <a:r>
              <a:rPr lang="en-US" altLang="zh-TW" i="1" dirty="0">
                <a:solidFill>
                  <a:srgbClr val="006600"/>
                </a:solidFill>
                <a:latin typeface="Georgia" panose="02040502050405020303" pitchFamily="18" charset="0"/>
                <a:ea typeface="新細明體" pitchFamily="18" charset="-120"/>
              </a:rPr>
              <a:t>S</a:t>
            </a:r>
            <a:r>
              <a:rPr lang="en-US" altLang="zh-TW" dirty="0">
                <a:latin typeface="Georgia" panose="02040502050405020303" pitchFamily="18" charset="0"/>
                <a:ea typeface="新細明體" pitchFamily="18" charset="-120"/>
              </a:rPr>
              <a:t>. </a:t>
            </a:r>
          </a:p>
          <a:p>
            <a:pPr marL="285750" indent="-285750" algn="just" eaLnBrk="1" hangingPunct="1">
              <a:spcAft>
                <a:spcPts val="600"/>
              </a:spcAft>
              <a:buFont typeface="Arial" panose="020B0604020202020204" pitchFamily="34" charset="0"/>
              <a:buChar char="•"/>
            </a:pPr>
            <a:r>
              <a:rPr lang="en-US" altLang="zh-TW" dirty="0">
                <a:latin typeface="Georgia" panose="02040502050405020303" pitchFamily="18" charset="0"/>
                <a:ea typeface="新細明體" pitchFamily="18" charset="-120"/>
              </a:rPr>
              <a:t> Thus, the </a:t>
            </a:r>
            <a:r>
              <a:rPr lang="en-US" altLang="zh-TW" dirty="0">
                <a:solidFill>
                  <a:srgbClr val="006600"/>
                </a:solidFill>
                <a:latin typeface="Georgia" panose="02040502050405020303" pitchFamily="18" charset="0"/>
                <a:ea typeface="新細明體" pitchFamily="18" charset="-120"/>
              </a:rPr>
              <a:t>total electron angular momentum</a:t>
            </a:r>
            <a:r>
              <a:rPr lang="en-US" altLang="zh-TW" dirty="0">
                <a:latin typeface="Georgia" panose="02040502050405020303" pitchFamily="18" charset="0"/>
                <a:ea typeface="新細明體" pitchFamily="18" charset="-120"/>
              </a:rPr>
              <a:t>,</a:t>
            </a:r>
            <a:r>
              <a:rPr lang="en-US" altLang="zh-TW" dirty="0">
                <a:solidFill>
                  <a:srgbClr val="00FF00"/>
                </a:solidFill>
                <a:latin typeface="Georgia" panose="02040502050405020303" pitchFamily="18" charset="0"/>
                <a:ea typeface="新細明體" pitchFamily="18" charset="-120"/>
              </a:rPr>
              <a:t> </a:t>
            </a:r>
            <a:r>
              <a:rPr lang="en-US" altLang="zh-TW" i="1" dirty="0">
                <a:solidFill>
                  <a:srgbClr val="006600"/>
                </a:solidFill>
                <a:latin typeface="Georgia" panose="02040502050405020303" pitchFamily="18" charset="0"/>
                <a:ea typeface="新細明體" pitchFamily="18" charset="-120"/>
              </a:rPr>
              <a:t>J</a:t>
            </a:r>
            <a:r>
              <a:rPr lang="en-US" altLang="zh-TW" dirty="0">
                <a:latin typeface="Georgia" panose="02040502050405020303" pitchFamily="18" charset="0"/>
                <a:ea typeface="新細明體" pitchFamily="18" charset="-120"/>
              </a:rPr>
              <a:t>, is a combination of the orbital angular and spin momenta, leading to splitting of the original energy level into 2. </a:t>
            </a:r>
          </a:p>
        </p:txBody>
      </p:sp>
      <p:sp>
        <p:nvSpPr>
          <p:cNvPr id="41988" name="Rectangle 6"/>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Atomic electronic structure</a:t>
            </a:r>
            <a:endParaRPr lang="en-US" altLang="zh-TW" sz="2000" dirty="0">
              <a:latin typeface="Georgia" panose="02040502050405020303" pitchFamily="18" charset="0"/>
              <a:ea typeface="新細明體" pitchFamily="18" charset="-120"/>
            </a:endParaRPr>
          </a:p>
        </p:txBody>
      </p:sp>
      <p:sp>
        <p:nvSpPr>
          <p:cNvPr id="2" name="Slide Number Placeholder 1">
            <a:extLst>
              <a:ext uri="{FF2B5EF4-FFF2-40B4-BE49-F238E27FC236}">
                <a16:creationId xmlns:a16="http://schemas.microsoft.com/office/drawing/2014/main" id="{D34F77B9-20C1-4E96-AC2F-350A8721B562}"/>
              </a:ext>
            </a:extLst>
          </p:cNvPr>
          <p:cNvSpPr>
            <a:spLocks noGrp="1"/>
          </p:cNvSpPr>
          <p:nvPr>
            <p:ph type="sldNum" sz="quarter" idx="11"/>
          </p:nvPr>
        </p:nvSpPr>
        <p:spPr/>
        <p:txBody>
          <a:bodyPr/>
          <a:lstStyle/>
          <a:p>
            <a:pPr>
              <a:defRPr/>
            </a:pPr>
            <a:fld id="{EBF73BDF-690D-4725-BA10-A7934ED52EAB}" type="slidenum">
              <a:rPr lang="zh-TW" altLang="en-US" smtClean="0"/>
              <a:pPr>
                <a:defRPr/>
              </a:pPr>
              <a:t>48</a:t>
            </a:fld>
            <a:endParaRPr lang="en-US" altLang="zh-TW"/>
          </a:p>
        </p:txBody>
      </p:sp>
      <p:pic>
        <p:nvPicPr>
          <p:cNvPr id="3" name="Picture 2">
            <a:extLst>
              <a:ext uri="{FF2B5EF4-FFF2-40B4-BE49-F238E27FC236}">
                <a16:creationId xmlns:a16="http://schemas.microsoft.com/office/drawing/2014/main" id="{E0BE8B43-0CA7-2F83-FA5C-00C6E391F148}"/>
              </a:ext>
            </a:extLst>
          </p:cNvPr>
          <p:cNvPicPr>
            <a:picLocks noChangeAspect="1"/>
          </p:cNvPicPr>
          <p:nvPr/>
        </p:nvPicPr>
        <p:blipFill>
          <a:blip r:embed="rId2"/>
          <a:stretch>
            <a:fillRect/>
          </a:stretch>
        </p:blipFill>
        <p:spPr>
          <a:xfrm>
            <a:off x="1371600" y="1426995"/>
            <a:ext cx="5904606" cy="1791285"/>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38200" y="240268"/>
            <a:ext cx="4204997" cy="369332"/>
          </a:xfrm>
          <a:prstGeom prst="rect">
            <a:avLst/>
          </a:prstGeom>
          <a:noFill/>
        </p:spPr>
        <p:txBody>
          <a:bodyPr wrap="none" rtlCol="0">
            <a:spAutoFit/>
          </a:bodyPr>
          <a:lstStyle/>
          <a:p>
            <a:r>
              <a:rPr lang="en-US" dirty="0">
                <a:solidFill>
                  <a:schemeClr val="bg1"/>
                </a:solidFill>
                <a:latin typeface="Georgia" panose="02040502050405020303" pitchFamily="18" charset="0"/>
              </a:rPr>
              <a:t>Atomic structure and quantum number</a:t>
            </a:r>
          </a:p>
        </p:txBody>
      </p:sp>
      <p:sp>
        <p:nvSpPr>
          <p:cNvPr id="32" name="Rectangle 4"/>
          <p:cNvSpPr>
            <a:spLocks noChangeArrowheads="1"/>
          </p:cNvSpPr>
          <p:nvPr/>
        </p:nvSpPr>
        <p:spPr bwMode="auto">
          <a:xfrm>
            <a:off x="970916" y="782832"/>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Consequence of spin-orbital coupling</a:t>
            </a:r>
          </a:p>
        </p:txBody>
      </p:sp>
      <p:sp>
        <p:nvSpPr>
          <p:cNvPr id="4" name="Rectangle 3"/>
          <p:cNvSpPr/>
          <p:nvPr/>
        </p:nvSpPr>
        <p:spPr>
          <a:xfrm>
            <a:off x="454446" y="1435050"/>
            <a:ext cx="2898354" cy="1754326"/>
          </a:xfrm>
          <a:prstGeom prst="rect">
            <a:avLst/>
          </a:prstGeom>
        </p:spPr>
        <p:txBody>
          <a:bodyPr wrap="square">
            <a:spAutoFit/>
          </a:bodyPr>
          <a:lstStyle/>
          <a:p>
            <a:r>
              <a:rPr lang="en-US" dirty="0">
                <a:latin typeface="Georgia" panose="02040502050405020303" pitchFamily="18" charset="0"/>
                <a:cs typeface="Times New Roman" panose="02020603050405020304" pitchFamily="18" charset="0"/>
              </a:rPr>
              <a:t>Total angular momentum</a:t>
            </a:r>
          </a:p>
          <a:p>
            <a:r>
              <a:rPr lang="en-US" b="1" i="1" dirty="0">
                <a:latin typeface="Georgia" panose="02040502050405020303" pitchFamily="18" charset="0"/>
                <a:cs typeface="Times New Roman" panose="02020603050405020304" pitchFamily="18" charset="0"/>
              </a:rPr>
              <a:t>J</a:t>
            </a:r>
            <a:r>
              <a:rPr lang="en-US" dirty="0">
                <a:latin typeface="Georgia" panose="02040502050405020303" pitchFamily="18" charset="0"/>
                <a:cs typeface="Times New Roman" panose="02020603050405020304" pitchFamily="18" charset="0"/>
              </a:rPr>
              <a:t> = </a:t>
            </a:r>
            <a:r>
              <a:rPr lang="en-US" b="1" i="1" dirty="0">
                <a:latin typeface="Georgia" panose="02040502050405020303" pitchFamily="18" charset="0"/>
                <a:cs typeface="Times New Roman" panose="02020603050405020304" pitchFamily="18" charset="0"/>
              </a:rPr>
              <a:t>L</a:t>
            </a:r>
            <a:r>
              <a:rPr lang="en-US" i="1" dirty="0">
                <a:latin typeface="Georgia" panose="02040502050405020303" pitchFamily="18" charset="0"/>
                <a:cs typeface="Times New Roman" panose="02020603050405020304" pitchFamily="18" charset="0"/>
              </a:rPr>
              <a:t>+</a:t>
            </a:r>
            <a:r>
              <a:rPr lang="en-US" b="1" i="1" dirty="0">
                <a:latin typeface="Georgia" panose="02040502050405020303" pitchFamily="18" charset="0"/>
                <a:cs typeface="Times New Roman" panose="02020603050405020304" pitchFamily="18" charset="0"/>
              </a:rPr>
              <a:t>S</a:t>
            </a:r>
          </a:p>
          <a:p>
            <a:endParaRPr lang="en-US" dirty="0">
              <a:latin typeface="Georgia" panose="02040502050405020303" pitchFamily="18" charset="0"/>
              <a:cs typeface="Times New Roman" panose="02020603050405020304" pitchFamily="18" charset="0"/>
            </a:endParaRPr>
          </a:p>
          <a:p>
            <a:r>
              <a:rPr lang="en-US" dirty="0">
                <a:latin typeface="Georgia" panose="02040502050405020303" pitchFamily="18" charset="0"/>
                <a:cs typeface="Times New Roman" panose="02020603050405020304" pitchFamily="18" charset="0"/>
              </a:rPr>
              <a:t>Total number of electrons allowed</a:t>
            </a:r>
          </a:p>
          <a:p>
            <a:r>
              <a:rPr lang="en-US" dirty="0">
                <a:latin typeface="Georgia" panose="02040502050405020303" pitchFamily="18" charset="0"/>
                <a:cs typeface="Times New Roman" panose="02020603050405020304" pitchFamily="18" charset="0"/>
              </a:rPr>
              <a:t>2J + 1</a:t>
            </a:r>
            <a:endParaRPr lang="en-US" dirty="0">
              <a:latin typeface="Georgia" panose="02040502050405020303" pitchFamily="18" charset="0"/>
            </a:endParaRPr>
          </a:p>
        </p:txBody>
      </p:sp>
      <p:grpSp>
        <p:nvGrpSpPr>
          <p:cNvPr id="18" name="Group 17">
            <a:extLst>
              <a:ext uri="{FF2B5EF4-FFF2-40B4-BE49-F238E27FC236}">
                <a16:creationId xmlns:a16="http://schemas.microsoft.com/office/drawing/2014/main" id="{947BC187-FBB0-9797-CE19-C6926DCF8AA2}"/>
              </a:ext>
            </a:extLst>
          </p:cNvPr>
          <p:cNvGrpSpPr/>
          <p:nvPr/>
        </p:nvGrpSpPr>
        <p:grpSpPr>
          <a:xfrm>
            <a:off x="6691122" y="1455573"/>
            <a:ext cx="1079142" cy="1010453"/>
            <a:chOff x="-845190" y="796294"/>
            <a:chExt cx="1079142" cy="1010453"/>
          </a:xfrm>
        </p:grpSpPr>
        <p:sp>
          <p:nvSpPr>
            <p:cNvPr id="72" name="TextBox 71"/>
            <p:cNvSpPr txBox="1"/>
            <p:nvPr/>
          </p:nvSpPr>
          <p:spPr>
            <a:xfrm>
              <a:off x="-845190" y="1221972"/>
              <a:ext cx="1079142" cy="584775"/>
            </a:xfrm>
            <a:prstGeom prst="rect">
              <a:avLst/>
            </a:prstGeom>
            <a:noFill/>
          </p:spPr>
          <p:txBody>
            <a:bodyPr wrap="none" rtlCol="0">
              <a:spAutoFit/>
            </a:bodyPr>
            <a:lstStyle/>
            <a:p>
              <a:r>
                <a:rPr lang="en-US" sz="3200" dirty="0">
                  <a:latin typeface="Georgia" panose="02040502050405020303" pitchFamily="18" charset="0"/>
                  <a:cs typeface="Times New Roman" panose="02020603050405020304" pitchFamily="18" charset="0"/>
                </a:rPr>
                <a:t>2p</a:t>
              </a:r>
              <a:r>
                <a:rPr lang="en-US" sz="3200" baseline="-25000" dirty="0">
                  <a:latin typeface="Georgia" panose="02040502050405020303" pitchFamily="18" charset="0"/>
                  <a:cs typeface="Times New Roman" panose="02020603050405020304" pitchFamily="18" charset="0"/>
                </a:rPr>
                <a:t>3/2</a:t>
              </a:r>
            </a:p>
          </p:txBody>
        </p:sp>
        <p:cxnSp>
          <p:nvCxnSpPr>
            <p:cNvPr id="16" name="Straight Arrow Connector 15"/>
            <p:cNvCxnSpPr/>
            <p:nvPr/>
          </p:nvCxnSpPr>
          <p:spPr bwMode="auto">
            <a:xfrm>
              <a:off x="-754746" y="1057160"/>
              <a:ext cx="76200" cy="228600"/>
            </a:xfrm>
            <a:prstGeom prst="straightConnector1">
              <a:avLst/>
            </a:prstGeom>
            <a:solidFill>
              <a:schemeClr val="accent1"/>
            </a:solidFill>
            <a:ln w="9525" cap="flat" cmpd="sng" algn="ctr">
              <a:solidFill>
                <a:schemeClr val="tx1"/>
              </a:solidFill>
              <a:prstDash val="solid"/>
              <a:round/>
              <a:headEnd type="none" w="med" len="med"/>
              <a:tailEnd type="arrow"/>
            </a:ln>
            <a:effectLst/>
          </p:spPr>
        </p:cxnSp>
        <p:sp>
          <p:nvSpPr>
            <p:cNvPr id="17" name="TextBox 16"/>
            <p:cNvSpPr txBox="1"/>
            <p:nvPr/>
          </p:nvSpPr>
          <p:spPr>
            <a:xfrm>
              <a:off x="-845190" y="796294"/>
              <a:ext cx="320922" cy="369332"/>
            </a:xfrm>
            <a:prstGeom prst="rect">
              <a:avLst/>
            </a:prstGeom>
            <a:noFill/>
          </p:spPr>
          <p:txBody>
            <a:bodyPr wrap="none" rtlCol="0">
              <a:spAutoFit/>
            </a:bodyPr>
            <a:lstStyle/>
            <a:p>
              <a:r>
                <a:rPr lang="en-US" i="1" dirty="0">
                  <a:latin typeface="Georgia" panose="02040502050405020303" pitchFamily="18" charset="0"/>
                  <a:cs typeface="Times New Roman" panose="02020603050405020304" pitchFamily="18" charset="0"/>
                </a:rPr>
                <a:t>n</a:t>
              </a:r>
            </a:p>
          </p:txBody>
        </p:sp>
        <p:cxnSp>
          <p:nvCxnSpPr>
            <p:cNvPr id="73" name="Straight Arrow Connector 72"/>
            <p:cNvCxnSpPr/>
            <p:nvPr/>
          </p:nvCxnSpPr>
          <p:spPr bwMode="auto">
            <a:xfrm>
              <a:off x="-454664" y="1177294"/>
              <a:ext cx="0" cy="228600"/>
            </a:xfrm>
            <a:prstGeom prst="straightConnector1">
              <a:avLst/>
            </a:prstGeom>
            <a:solidFill>
              <a:schemeClr val="accent1"/>
            </a:solidFill>
            <a:ln w="9525" cap="flat" cmpd="sng" algn="ctr">
              <a:solidFill>
                <a:schemeClr val="tx1"/>
              </a:solidFill>
              <a:prstDash val="solid"/>
              <a:round/>
              <a:headEnd type="none" w="med" len="med"/>
              <a:tailEnd type="arrow"/>
            </a:ln>
            <a:effectLst/>
          </p:spPr>
        </p:cxnSp>
        <p:sp>
          <p:nvSpPr>
            <p:cNvPr id="74" name="TextBox 73"/>
            <p:cNvSpPr txBox="1"/>
            <p:nvPr/>
          </p:nvSpPr>
          <p:spPr>
            <a:xfrm>
              <a:off x="-545108" y="852640"/>
              <a:ext cx="248786" cy="369332"/>
            </a:xfrm>
            <a:prstGeom prst="rect">
              <a:avLst/>
            </a:prstGeom>
            <a:noFill/>
          </p:spPr>
          <p:txBody>
            <a:bodyPr wrap="none" rtlCol="0">
              <a:spAutoFit/>
            </a:bodyPr>
            <a:lstStyle/>
            <a:p>
              <a:r>
                <a:rPr lang="en-US" i="1" dirty="0">
                  <a:latin typeface="Georgia" panose="02040502050405020303" pitchFamily="18" charset="0"/>
                  <a:cs typeface="Times New Roman" panose="02020603050405020304" pitchFamily="18" charset="0"/>
                </a:rPr>
                <a:t>l</a:t>
              </a:r>
            </a:p>
          </p:txBody>
        </p:sp>
        <p:cxnSp>
          <p:nvCxnSpPr>
            <p:cNvPr id="75" name="Straight Arrow Connector 74"/>
            <p:cNvCxnSpPr/>
            <p:nvPr/>
          </p:nvCxnSpPr>
          <p:spPr bwMode="auto">
            <a:xfrm>
              <a:off x="-111941" y="1241826"/>
              <a:ext cx="0" cy="228600"/>
            </a:xfrm>
            <a:prstGeom prst="straightConnector1">
              <a:avLst/>
            </a:prstGeom>
            <a:solidFill>
              <a:schemeClr val="accent1"/>
            </a:solidFill>
            <a:ln w="9525" cap="flat" cmpd="sng" algn="ctr">
              <a:solidFill>
                <a:schemeClr val="tx1"/>
              </a:solidFill>
              <a:prstDash val="solid"/>
              <a:round/>
              <a:headEnd type="none" w="med" len="med"/>
              <a:tailEnd type="arrow"/>
            </a:ln>
            <a:effectLst/>
          </p:spPr>
        </p:cxnSp>
        <p:sp>
          <p:nvSpPr>
            <p:cNvPr id="76" name="TextBox 75"/>
            <p:cNvSpPr txBox="1"/>
            <p:nvPr/>
          </p:nvSpPr>
          <p:spPr>
            <a:xfrm>
              <a:off x="-206014" y="844601"/>
              <a:ext cx="251992" cy="369332"/>
            </a:xfrm>
            <a:prstGeom prst="rect">
              <a:avLst/>
            </a:prstGeom>
            <a:noFill/>
          </p:spPr>
          <p:txBody>
            <a:bodyPr wrap="none" rtlCol="0">
              <a:spAutoFit/>
            </a:bodyPr>
            <a:lstStyle/>
            <a:p>
              <a:r>
                <a:rPr lang="en-US" i="1" dirty="0">
                  <a:latin typeface="Georgia" panose="02040502050405020303" pitchFamily="18" charset="0"/>
                  <a:cs typeface="Times New Roman" panose="02020603050405020304" pitchFamily="18" charset="0"/>
                </a:rPr>
                <a:t>j</a:t>
              </a:r>
            </a:p>
          </p:txBody>
        </p:sp>
      </p:grpSp>
      <p:grpSp>
        <p:nvGrpSpPr>
          <p:cNvPr id="15" name="Group 14">
            <a:extLst>
              <a:ext uri="{FF2B5EF4-FFF2-40B4-BE49-F238E27FC236}">
                <a16:creationId xmlns:a16="http://schemas.microsoft.com/office/drawing/2014/main" id="{3B6D90E4-C5B2-4571-FAF4-399EC60BB3E0}"/>
              </a:ext>
            </a:extLst>
          </p:cNvPr>
          <p:cNvGrpSpPr/>
          <p:nvPr/>
        </p:nvGrpSpPr>
        <p:grpSpPr>
          <a:xfrm>
            <a:off x="3124200" y="1447800"/>
            <a:ext cx="5737445" cy="4916002"/>
            <a:chOff x="448299" y="1712747"/>
            <a:chExt cx="5737445" cy="4916002"/>
          </a:xfrm>
        </p:grpSpPr>
        <p:grpSp>
          <p:nvGrpSpPr>
            <p:cNvPr id="7" name="Group 6">
              <a:extLst>
                <a:ext uri="{FF2B5EF4-FFF2-40B4-BE49-F238E27FC236}">
                  <a16:creationId xmlns:a16="http://schemas.microsoft.com/office/drawing/2014/main" id="{CFE20BD4-06BC-92D4-46A7-1E529B1ED6B5}"/>
                </a:ext>
              </a:extLst>
            </p:cNvPr>
            <p:cNvGrpSpPr/>
            <p:nvPr/>
          </p:nvGrpSpPr>
          <p:grpSpPr>
            <a:xfrm>
              <a:off x="448299" y="1712747"/>
              <a:ext cx="4010044" cy="4916002"/>
              <a:chOff x="846963" y="2133600"/>
              <a:chExt cx="4010044" cy="4114800"/>
            </a:xfrm>
          </p:grpSpPr>
          <p:grpSp>
            <p:nvGrpSpPr>
              <p:cNvPr id="42" name="Group 41"/>
              <p:cNvGrpSpPr/>
              <p:nvPr/>
            </p:nvGrpSpPr>
            <p:grpSpPr>
              <a:xfrm>
                <a:off x="846963" y="2133600"/>
                <a:ext cx="2772716" cy="4114800"/>
                <a:chOff x="4464078" y="2743200"/>
                <a:chExt cx="2772716" cy="4114800"/>
              </a:xfrm>
            </p:grpSpPr>
            <p:pic>
              <p:nvPicPr>
                <p:cNvPr id="43" name="Picture 7" descr="https://encrypted-tbn0.gstatic.com/images?q=tbn:ANd9GcSXZ2frii1nhUzBLTpxlKd0jEku1Pp_GheSdDFCWVIUIKO2uIS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64078" y="4085284"/>
                  <a:ext cx="2772716" cy="2772716"/>
                </a:xfrm>
                <a:prstGeom prst="rect">
                  <a:avLst/>
                </a:prstGeom>
                <a:noFill/>
                <a:extLst>
                  <a:ext uri="{909E8E84-426E-40DD-AFC4-6F175D3DCCD1}">
                    <a14:hiddenFill xmlns:a14="http://schemas.microsoft.com/office/drawing/2010/main">
                      <a:solidFill>
                        <a:srgbClr val="FFFFFF"/>
                      </a:solidFill>
                    </a14:hiddenFill>
                  </a:ext>
                </a:extLst>
              </p:spPr>
            </p:pic>
            <p:sp>
              <p:nvSpPr>
                <p:cNvPr id="44" name="Oval 20"/>
                <p:cNvSpPr>
                  <a:spLocks noChangeAspect="1" noChangeArrowheads="1"/>
                </p:cNvSpPr>
                <p:nvPr/>
              </p:nvSpPr>
              <p:spPr bwMode="auto">
                <a:xfrm>
                  <a:off x="6324600" y="638556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45" name="Oval 23"/>
                <p:cNvSpPr>
                  <a:spLocks noChangeAspect="1" noChangeArrowheads="1"/>
                </p:cNvSpPr>
                <p:nvPr/>
              </p:nvSpPr>
              <p:spPr bwMode="auto">
                <a:xfrm>
                  <a:off x="6461760" y="638556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grpSp>
              <p:nvGrpSpPr>
                <p:cNvPr id="46" name="Group 45"/>
                <p:cNvGrpSpPr/>
                <p:nvPr/>
              </p:nvGrpSpPr>
              <p:grpSpPr>
                <a:xfrm>
                  <a:off x="4953000" y="2743200"/>
                  <a:ext cx="1882027" cy="1312970"/>
                  <a:chOff x="5410200" y="2287588"/>
                  <a:chExt cx="3370309" cy="1761480"/>
                </a:xfrm>
              </p:grpSpPr>
              <p:sp>
                <p:nvSpPr>
                  <p:cNvPr id="63" name="Line 5"/>
                  <p:cNvSpPr>
                    <a:spLocks noChangeShapeType="1"/>
                  </p:cNvSpPr>
                  <p:nvPr/>
                </p:nvSpPr>
                <p:spPr bwMode="auto">
                  <a:xfrm>
                    <a:off x="5428501" y="2514600"/>
                    <a:ext cx="3340100" cy="1588"/>
                  </a:xfrm>
                  <a:prstGeom prst="line">
                    <a:avLst/>
                  </a:prstGeom>
                  <a:noFill/>
                  <a:ln w="38100">
                    <a:solidFill>
                      <a:srgbClr val="00CC00"/>
                    </a:solidFill>
                    <a:prstDash val="dash"/>
                    <a:round/>
                    <a:headEnd/>
                    <a:tailEnd/>
                  </a:ln>
                  <a:effectLst/>
                </p:spPr>
                <p:txBody>
                  <a:bodyPr/>
                  <a:lstStyle/>
                  <a:p>
                    <a:endParaRPr lang="en-US">
                      <a:latin typeface="Georgia" panose="02040502050405020303" pitchFamily="18" charset="0"/>
                    </a:endParaRPr>
                  </a:p>
                </p:txBody>
              </p:sp>
              <p:sp>
                <p:nvSpPr>
                  <p:cNvPr id="64" name="Rectangle 6"/>
                  <p:cNvSpPr>
                    <a:spLocks noChangeArrowheads="1"/>
                  </p:cNvSpPr>
                  <p:nvPr/>
                </p:nvSpPr>
                <p:spPr bwMode="auto">
                  <a:xfrm>
                    <a:off x="5440409" y="2785418"/>
                    <a:ext cx="3340100" cy="501650"/>
                  </a:xfrm>
                  <a:prstGeom prst="rect">
                    <a:avLst/>
                  </a:prstGeom>
                  <a:solidFill>
                    <a:srgbClr val="99CCFF"/>
                  </a:solidFill>
                  <a:ln w="9525">
                    <a:noFill/>
                    <a:miter lim="800000"/>
                    <a:headEnd/>
                    <a:tailEnd/>
                  </a:ln>
                  <a:effectLst/>
                </p:spPr>
                <p:txBody>
                  <a:bodyPr wrap="none" anchor="ctr"/>
                  <a:lstStyle/>
                  <a:p>
                    <a:endParaRPr lang="en-US">
                      <a:latin typeface="Georgia" panose="02040502050405020303" pitchFamily="18" charset="0"/>
                    </a:endParaRPr>
                  </a:p>
                </p:txBody>
              </p:sp>
              <p:sp>
                <p:nvSpPr>
                  <p:cNvPr id="65" name="Rectangle 7"/>
                  <p:cNvSpPr>
                    <a:spLocks noChangeArrowheads="1"/>
                  </p:cNvSpPr>
                  <p:nvPr/>
                </p:nvSpPr>
                <p:spPr bwMode="auto">
                  <a:xfrm>
                    <a:off x="5440409" y="3660131"/>
                    <a:ext cx="3340100" cy="388937"/>
                  </a:xfrm>
                  <a:prstGeom prst="rect">
                    <a:avLst/>
                  </a:prstGeom>
                  <a:solidFill>
                    <a:srgbClr val="0000FF"/>
                  </a:solidFill>
                  <a:ln w="9525">
                    <a:noFill/>
                    <a:miter lim="800000"/>
                    <a:headEnd/>
                    <a:tailEnd/>
                  </a:ln>
                  <a:effectLst/>
                </p:spPr>
                <p:txBody>
                  <a:bodyPr wrap="none" anchor="ctr"/>
                  <a:lstStyle/>
                  <a:p>
                    <a:endParaRPr lang="en-US">
                      <a:latin typeface="Georgia" panose="02040502050405020303" pitchFamily="18" charset="0"/>
                    </a:endParaRPr>
                  </a:p>
                </p:txBody>
              </p:sp>
              <p:sp>
                <p:nvSpPr>
                  <p:cNvPr id="66" name="Text Box 30"/>
                  <p:cNvSpPr txBox="1">
                    <a:spLocks noChangeArrowheads="1"/>
                  </p:cNvSpPr>
                  <p:nvPr/>
                </p:nvSpPr>
                <p:spPr bwMode="auto">
                  <a:xfrm>
                    <a:off x="6551658" y="2287588"/>
                    <a:ext cx="1504789" cy="371622"/>
                  </a:xfrm>
                  <a:prstGeom prst="rect">
                    <a:avLst/>
                  </a:prstGeom>
                  <a:noFill/>
                  <a:ln w="9525">
                    <a:noFill/>
                    <a:miter lim="800000"/>
                    <a:headEnd/>
                    <a:tailEnd/>
                  </a:ln>
                  <a:effectLst/>
                </p:spPr>
                <p:txBody>
                  <a:bodyPr wrap="none">
                    <a:spAutoFit/>
                  </a:bodyPr>
                  <a:lstStyle/>
                  <a:p>
                    <a:pPr eaLnBrk="1" hangingPunct="1"/>
                    <a:r>
                      <a:rPr lang="en-US" altLang="zh-TW" sz="1200" b="1" dirty="0">
                        <a:latin typeface="Georgia" panose="02040502050405020303" pitchFamily="18" charset="0"/>
                        <a:ea typeface="新細明體" pitchFamily="18" charset="-120"/>
                      </a:rPr>
                      <a:t>Vacuum</a:t>
                    </a:r>
                  </a:p>
                </p:txBody>
              </p:sp>
              <p:sp>
                <p:nvSpPr>
                  <p:cNvPr id="67" name="Text Box 31"/>
                  <p:cNvSpPr txBox="1">
                    <a:spLocks noChangeArrowheads="1"/>
                  </p:cNvSpPr>
                  <p:nvPr/>
                </p:nvSpPr>
                <p:spPr bwMode="auto">
                  <a:xfrm>
                    <a:off x="5874589" y="2798118"/>
                    <a:ext cx="2764996" cy="371622"/>
                  </a:xfrm>
                  <a:prstGeom prst="rect">
                    <a:avLst/>
                  </a:prstGeom>
                  <a:noFill/>
                  <a:ln w="9525">
                    <a:noFill/>
                    <a:miter lim="800000"/>
                    <a:headEnd/>
                    <a:tailEnd/>
                  </a:ln>
                  <a:effectLst/>
                </p:spPr>
                <p:txBody>
                  <a:bodyPr wrap="none">
                    <a:spAutoFit/>
                  </a:bodyPr>
                  <a:lstStyle/>
                  <a:p>
                    <a:pPr eaLnBrk="1" hangingPunct="1"/>
                    <a:r>
                      <a:rPr lang="en-US" altLang="zh-TW" sz="1200" b="1" dirty="0">
                        <a:latin typeface="Georgia" panose="02040502050405020303" pitchFamily="18" charset="0"/>
                        <a:ea typeface="新細明體" pitchFamily="18" charset="-120"/>
                      </a:rPr>
                      <a:t>Conduction band</a:t>
                    </a:r>
                  </a:p>
                </p:txBody>
              </p:sp>
              <p:sp>
                <p:nvSpPr>
                  <p:cNvPr id="68" name="Text Box 32"/>
                  <p:cNvSpPr txBox="1">
                    <a:spLocks noChangeArrowheads="1"/>
                  </p:cNvSpPr>
                  <p:nvPr/>
                </p:nvSpPr>
                <p:spPr bwMode="auto">
                  <a:xfrm>
                    <a:off x="6121447" y="3625999"/>
                    <a:ext cx="2233929" cy="371622"/>
                  </a:xfrm>
                  <a:prstGeom prst="rect">
                    <a:avLst/>
                  </a:prstGeom>
                  <a:noFill/>
                  <a:ln w="9525">
                    <a:noFill/>
                    <a:miter lim="800000"/>
                    <a:headEnd/>
                    <a:tailEnd/>
                  </a:ln>
                  <a:effectLst/>
                </p:spPr>
                <p:txBody>
                  <a:bodyPr wrap="none">
                    <a:spAutoFit/>
                  </a:bodyPr>
                  <a:lstStyle/>
                  <a:p>
                    <a:pPr eaLnBrk="1" hangingPunct="1"/>
                    <a:r>
                      <a:rPr lang="en-US" altLang="zh-TW" sz="1200" b="1" dirty="0">
                        <a:solidFill>
                          <a:schemeClr val="bg1"/>
                        </a:solidFill>
                        <a:latin typeface="Georgia" panose="02040502050405020303" pitchFamily="18" charset="0"/>
                        <a:ea typeface="新細明體" pitchFamily="18" charset="-120"/>
                      </a:rPr>
                      <a:t>Valence band</a:t>
                    </a:r>
                  </a:p>
                </p:txBody>
              </p:sp>
              <p:sp>
                <p:nvSpPr>
                  <p:cNvPr id="69" name="Line 5"/>
                  <p:cNvSpPr>
                    <a:spLocks noChangeShapeType="1"/>
                  </p:cNvSpPr>
                  <p:nvPr/>
                </p:nvSpPr>
                <p:spPr bwMode="auto">
                  <a:xfrm>
                    <a:off x="5410200" y="3456137"/>
                    <a:ext cx="3340100" cy="1588"/>
                  </a:xfrm>
                  <a:prstGeom prst="line">
                    <a:avLst/>
                  </a:prstGeom>
                  <a:noFill/>
                  <a:ln w="38100">
                    <a:solidFill>
                      <a:srgbClr val="00CC00"/>
                    </a:solidFill>
                    <a:prstDash val="dash"/>
                    <a:round/>
                    <a:headEnd/>
                    <a:tailEnd/>
                  </a:ln>
                  <a:effectLst/>
                </p:spPr>
                <p:txBody>
                  <a:bodyPr/>
                  <a:lstStyle/>
                  <a:p>
                    <a:endParaRPr lang="en-US">
                      <a:latin typeface="Georgia" panose="02040502050405020303" pitchFamily="18" charset="0"/>
                    </a:endParaRPr>
                  </a:p>
                </p:txBody>
              </p:sp>
              <p:sp>
                <p:nvSpPr>
                  <p:cNvPr id="70" name="Text Box 30"/>
                  <p:cNvSpPr txBox="1">
                    <a:spLocks noChangeArrowheads="1"/>
                  </p:cNvSpPr>
                  <p:nvPr/>
                </p:nvSpPr>
                <p:spPr bwMode="auto">
                  <a:xfrm>
                    <a:off x="6605470" y="3242313"/>
                    <a:ext cx="1194759" cy="371622"/>
                  </a:xfrm>
                  <a:prstGeom prst="rect">
                    <a:avLst/>
                  </a:prstGeom>
                  <a:noFill/>
                  <a:ln w="9525">
                    <a:noFill/>
                    <a:miter lim="800000"/>
                    <a:headEnd/>
                    <a:tailEnd/>
                  </a:ln>
                  <a:effectLst/>
                </p:spPr>
                <p:txBody>
                  <a:bodyPr wrap="none">
                    <a:spAutoFit/>
                  </a:bodyPr>
                  <a:lstStyle/>
                  <a:p>
                    <a:pPr eaLnBrk="1" hangingPunct="1"/>
                    <a:r>
                      <a:rPr lang="en-US" altLang="zh-TW" sz="1200" b="1" dirty="0">
                        <a:latin typeface="Georgia" panose="02040502050405020303" pitchFamily="18" charset="0"/>
                        <a:ea typeface="新細明體" pitchFamily="18" charset="-120"/>
                      </a:rPr>
                      <a:t>Fermi</a:t>
                    </a:r>
                  </a:p>
                </p:txBody>
              </p:sp>
            </p:grpSp>
            <p:sp>
              <p:nvSpPr>
                <p:cNvPr id="47" name="Oval 20"/>
                <p:cNvSpPr>
                  <a:spLocks noChangeAspect="1" noChangeArrowheads="1"/>
                </p:cNvSpPr>
                <p:nvPr/>
              </p:nvSpPr>
              <p:spPr bwMode="auto">
                <a:xfrm>
                  <a:off x="6324600" y="600456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48" name="Oval 23"/>
                <p:cNvSpPr>
                  <a:spLocks noChangeAspect="1" noChangeArrowheads="1"/>
                </p:cNvSpPr>
                <p:nvPr/>
              </p:nvSpPr>
              <p:spPr bwMode="auto">
                <a:xfrm>
                  <a:off x="6461760" y="600456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49" name="Oval 20"/>
                <p:cNvSpPr>
                  <a:spLocks noChangeAspect="1" noChangeArrowheads="1"/>
                </p:cNvSpPr>
                <p:nvPr/>
              </p:nvSpPr>
              <p:spPr bwMode="auto">
                <a:xfrm>
                  <a:off x="6324600" y="538543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50" name="Oval 23"/>
                <p:cNvSpPr>
                  <a:spLocks noChangeAspect="1" noChangeArrowheads="1"/>
                </p:cNvSpPr>
                <p:nvPr/>
              </p:nvSpPr>
              <p:spPr bwMode="auto">
                <a:xfrm>
                  <a:off x="6461760" y="538543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51" name="Oval 20"/>
                <p:cNvSpPr>
                  <a:spLocks noChangeAspect="1" noChangeArrowheads="1"/>
                </p:cNvSpPr>
                <p:nvPr/>
              </p:nvSpPr>
              <p:spPr bwMode="auto">
                <a:xfrm>
                  <a:off x="6200775" y="55911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52" name="Oval 23"/>
                <p:cNvSpPr>
                  <a:spLocks noChangeAspect="1" noChangeArrowheads="1"/>
                </p:cNvSpPr>
                <p:nvPr/>
              </p:nvSpPr>
              <p:spPr bwMode="auto">
                <a:xfrm>
                  <a:off x="6319647" y="55911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53" name="Oval 20"/>
                <p:cNvSpPr>
                  <a:spLocks noChangeAspect="1" noChangeArrowheads="1"/>
                </p:cNvSpPr>
                <p:nvPr/>
              </p:nvSpPr>
              <p:spPr bwMode="auto">
                <a:xfrm>
                  <a:off x="6438519" y="55911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54" name="Oval 23"/>
                <p:cNvSpPr>
                  <a:spLocks noChangeAspect="1" noChangeArrowheads="1"/>
                </p:cNvSpPr>
                <p:nvPr/>
              </p:nvSpPr>
              <p:spPr bwMode="auto">
                <a:xfrm>
                  <a:off x="6557391" y="55911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55" name="Oval 20"/>
                <p:cNvSpPr>
                  <a:spLocks noChangeAspect="1" noChangeArrowheads="1"/>
                </p:cNvSpPr>
                <p:nvPr/>
              </p:nvSpPr>
              <p:spPr bwMode="auto">
                <a:xfrm>
                  <a:off x="6676263" y="55911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56" name="Oval 23"/>
                <p:cNvSpPr>
                  <a:spLocks noChangeAspect="1" noChangeArrowheads="1"/>
                </p:cNvSpPr>
                <p:nvPr/>
              </p:nvSpPr>
              <p:spPr bwMode="auto">
                <a:xfrm>
                  <a:off x="6795135" y="55911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57" name="Oval 20"/>
                <p:cNvSpPr>
                  <a:spLocks noChangeAspect="1" noChangeArrowheads="1"/>
                </p:cNvSpPr>
                <p:nvPr/>
              </p:nvSpPr>
              <p:spPr bwMode="auto">
                <a:xfrm>
                  <a:off x="6172200" y="51054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58" name="Oval 23"/>
                <p:cNvSpPr>
                  <a:spLocks noChangeAspect="1" noChangeArrowheads="1"/>
                </p:cNvSpPr>
                <p:nvPr/>
              </p:nvSpPr>
              <p:spPr bwMode="auto">
                <a:xfrm>
                  <a:off x="6291072" y="51054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59" name="Oval 20"/>
                <p:cNvSpPr>
                  <a:spLocks noChangeAspect="1" noChangeArrowheads="1"/>
                </p:cNvSpPr>
                <p:nvPr/>
              </p:nvSpPr>
              <p:spPr bwMode="auto">
                <a:xfrm>
                  <a:off x="6409944" y="51054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60" name="Oval 23"/>
                <p:cNvSpPr>
                  <a:spLocks noChangeAspect="1" noChangeArrowheads="1"/>
                </p:cNvSpPr>
                <p:nvPr/>
              </p:nvSpPr>
              <p:spPr bwMode="auto">
                <a:xfrm>
                  <a:off x="6528816" y="51054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61" name="Oval 20"/>
                <p:cNvSpPr>
                  <a:spLocks noChangeAspect="1" noChangeArrowheads="1"/>
                </p:cNvSpPr>
                <p:nvPr/>
              </p:nvSpPr>
              <p:spPr bwMode="auto">
                <a:xfrm>
                  <a:off x="6647688" y="51054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62" name="Oval 23"/>
                <p:cNvSpPr>
                  <a:spLocks noChangeAspect="1" noChangeArrowheads="1"/>
                </p:cNvSpPr>
                <p:nvPr/>
              </p:nvSpPr>
              <p:spPr bwMode="auto">
                <a:xfrm>
                  <a:off x="6766560" y="51054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grpSp>
          <p:grpSp>
            <p:nvGrpSpPr>
              <p:cNvPr id="5" name="Group 4">
                <a:extLst>
                  <a:ext uri="{FF2B5EF4-FFF2-40B4-BE49-F238E27FC236}">
                    <a16:creationId xmlns:a16="http://schemas.microsoft.com/office/drawing/2014/main" id="{B685B44F-4696-FE5D-AD92-9D636EFA2F02}"/>
                  </a:ext>
                </a:extLst>
              </p:cNvPr>
              <p:cNvGrpSpPr/>
              <p:nvPr/>
            </p:nvGrpSpPr>
            <p:grpSpPr>
              <a:xfrm>
                <a:off x="3581400" y="3446570"/>
                <a:ext cx="1275607" cy="1674070"/>
                <a:chOff x="3581400" y="3446570"/>
                <a:chExt cx="1275607" cy="1674070"/>
              </a:xfrm>
            </p:grpSpPr>
            <p:grpSp>
              <p:nvGrpSpPr>
                <p:cNvPr id="13" name="Group 12"/>
                <p:cNvGrpSpPr/>
                <p:nvPr/>
              </p:nvGrpSpPr>
              <p:grpSpPr>
                <a:xfrm>
                  <a:off x="3581400" y="4994910"/>
                  <a:ext cx="1219225" cy="91440"/>
                  <a:chOff x="3581400" y="4994910"/>
                  <a:chExt cx="1219225" cy="91440"/>
                </a:xfrm>
              </p:grpSpPr>
              <p:cxnSp>
                <p:nvCxnSpPr>
                  <p:cNvPr id="6" name="Straight Connector 5"/>
                  <p:cNvCxnSpPr/>
                  <p:nvPr/>
                </p:nvCxnSpPr>
                <p:spPr bwMode="auto">
                  <a:xfrm flipV="1">
                    <a:off x="3581400" y="4994910"/>
                    <a:ext cx="190321" cy="45720"/>
                  </a:xfrm>
                  <a:prstGeom prst="line">
                    <a:avLst/>
                  </a:prstGeom>
                  <a:solidFill>
                    <a:schemeClr val="accent1"/>
                  </a:solidFill>
                  <a:ln w="19050" cap="flat" cmpd="sng" algn="ctr">
                    <a:solidFill>
                      <a:srgbClr val="FF6600"/>
                    </a:solidFill>
                    <a:prstDash val="solid"/>
                    <a:round/>
                    <a:headEnd type="none" w="med" len="med"/>
                    <a:tailEnd type="none" w="med" len="med"/>
                  </a:ln>
                  <a:effectLst/>
                </p:spPr>
              </p:cxnSp>
              <p:cxnSp>
                <p:nvCxnSpPr>
                  <p:cNvPr id="8" name="Straight Connector 7"/>
                  <p:cNvCxnSpPr/>
                  <p:nvPr/>
                </p:nvCxnSpPr>
                <p:spPr bwMode="auto">
                  <a:xfrm>
                    <a:off x="3581400" y="5040630"/>
                    <a:ext cx="190321" cy="45720"/>
                  </a:xfrm>
                  <a:prstGeom prst="line">
                    <a:avLst/>
                  </a:prstGeom>
                  <a:solidFill>
                    <a:schemeClr val="accent1"/>
                  </a:solidFill>
                  <a:ln w="19050" cap="flat" cmpd="sng" algn="ctr">
                    <a:solidFill>
                      <a:srgbClr val="FF6600"/>
                    </a:solidFill>
                    <a:prstDash val="solid"/>
                    <a:round/>
                    <a:headEnd type="none" w="med" len="med"/>
                    <a:tailEnd type="none" w="med" len="med"/>
                  </a:ln>
                  <a:effectLst/>
                </p:spPr>
              </p:cxnSp>
              <p:cxnSp>
                <p:nvCxnSpPr>
                  <p:cNvPr id="10" name="Straight Connector 9"/>
                  <p:cNvCxnSpPr/>
                  <p:nvPr/>
                </p:nvCxnSpPr>
                <p:spPr bwMode="auto">
                  <a:xfrm>
                    <a:off x="3771721" y="5086350"/>
                    <a:ext cx="1028904" cy="0"/>
                  </a:xfrm>
                  <a:prstGeom prst="line">
                    <a:avLst/>
                  </a:prstGeom>
                  <a:solidFill>
                    <a:schemeClr val="accent1"/>
                  </a:solidFill>
                  <a:ln w="19050" cap="flat" cmpd="sng" algn="ctr">
                    <a:solidFill>
                      <a:srgbClr val="FF6600"/>
                    </a:solidFill>
                    <a:prstDash val="solid"/>
                    <a:round/>
                    <a:headEnd type="none" w="med" len="med"/>
                    <a:tailEnd type="none" w="med" len="med"/>
                  </a:ln>
                  <a:effectLst/>
                </p:spPr>
              </p:cxnSp>
              <p:cxnSp>
                <p:nvCxnSpPr>
                  <p:cNvPr id="12" name="Straight Connector 11"/>
                  <p:cNvCxnSpPr/>
                  <p:nvPr/>
                </p:nvCxnSpPr>
                <p:spPr bwMode="auto">
                  <a:xfrm>
                    <a:off x="3771721" y="4994910"/>
                    <a:ext cx="1028904" cy="0"/>
                  </a:xfrm>
                  <a:prstGeom prst="line">
                    <a:avLst/>
                  </a:prstGeom>
                  <a:solidFill>
                    <a:schemeClr val="accent1"/>
                  </a:solidFill>
                  <a:ln w="19050" cap="flat" cmpd="sng" algn="ctr">
                    <a:solidFill>
                      <a:srgbClr val="FF6600"/>
                    </a:solidFill>
                    <a:prstDash val="solid"/>
                    <a:round/>
                    <a:headEnd type="none" w="med" len="med"/>
                    <a:tailEnd type="none" w="med" len="med"/>
                  </a:ln>
                  <a:effectLst/>
                </p:spPr>
              </p:cxnSp>
            </p:grpSp>
            <p:grpSp>
              <p:nvGrpSpPr>
                <p:cNvPr id="77" name="Group 76"/>
                <p:cNvGrpSpPr/>
                <p:nvPr/>
              </p:nvGrpSpPr>
              <p:grpSpPr>
                <a:xfrm>
                  <a:off x="3581400" y="4562475"/>
                  <a:ext cx="1219225" cy="91440"/>
                  <a:chOff x="3581400" y="4994910"/>
                  <a:chExt cx="1219225" cy="91440"/>
                </a:xfrm>
              </p:grpSpPr>
              <p:cxnSp>
                <p:nvCxnSpPr>
                  <p:cNvPr id="78" name="Straight Connector 77"/>
                  <p:cNvCxnSpPr/>
                  <p:nvPr/>
                </p:nvCxnSpPr>
                <p:spPr bwMode="auto">
                  <a:xfrm flipV="1">
                    <a:off x="3581400" y="4994910"/>
                    <a:ext cx="190321" cy="45720"/>
                  </a:xfrm>
                  <a:prstGeom prst="line">
                    <a:avLst/>
                  </a:prstGeom>
                  <a:solidFill>
                    <a:schemeClr val="accent1"/>
                  </a:solidFill>
                  <a:ln w="19050" cap="flat" cmpd="sng" algn="ctr">
                    <a:solidFill>
                      <a:srgbClr val="00B050"/>
                    </a:solidFill>
                    <a:prstDash val="solid"/>
                    <a:round/>
                    <a:headEnd type="none" w="med" len="med"/>
                    <a:tailEnd type="none" w="med" len="med"/>
                  </a:ln>
                  <a:effectLst/>
                </p:spPr>
              </p:cxnSp>
              <p:cxnSp>
                <p:nvCxnSpPr>
                  <p:cNvPr id="79" name="Straight Connector 78"/>
                  <p:cNvCxnSpPr/>
                  <p:nvPr/>
                </p:nvCxnSpPr>
                <p:spPr bwMode="auto">
                  <a:xfrm>
                    <a:off x="3581400" y="5040630"/>
                    <a:ext cx="190321" cy="45720"/>
                  </a:xfrm>
                  <a:prstGeom prst="line">
                    <a:avLst/>
                  </a:prstGeom>
                  <a:solidFill>
                    <a:schemeClr val="accent1"/>
                  </a:solidFill>
                  <a:ln w="19050" cap="flat" cmpd="sng" algn="ctr">
                    <a:solidFill>
                      <a:srgbClr val="00B050"/>
                    </a:solidFill>
                    <a:prstDash val="solid"/>
                    <a:round/>
                    <a:headEnd type="none" w="med" len="med"/>
                    <a:tailEnd type="none" w="med" len="med"/>
                  </a:ln>
                  <a:effectLst/>
                </p:spPr>
              </p:cxnSp>
              <p:cxnSp>
                <p:nvCxnSpPr>
                  <p:cNvPr id="80" name="Straight Connector 79"/>
                  <p:cNvCxnSpPr/>
                  <p:nvPr/>
                </p:nvCxnSpPr>
                <p:spPr bwMode="auto">
                  <a:xfrm>
                    <a:off x="3771721" y="5086350"/>
                    <a:ext cx="1028904" cy="0"/>
                  </a:xfrm>
                  <a:prstGeom prst="line">
                    <a:avLst/>
                  </a:prstGeom>
                  <a:solidFill>
                    <a:schemeClr val="accent1"/>
                  </a:solidFill>
                  <a:ln w="19050" cap="flat" cmpd="sng" algn="ctr">
                    <a:solidFill>
                      <a:srgbClr val="00B050"/>
                    </a:solidFill>
                    <a:prstDash val="solid"/>
                    <a:round/>
                    <a:headEnd type="none" w="med" len="med"/>
                    <a:tailEnd type="none" w="med" len="med"/>
                  </a:ln>
                  <a:effectLst/>
                </p:spPr>
              </p:cxnSp>
              <p:cxnSp>
                <p:nvCxnSpPr>
                  <p:cNvPr id="81" name="Straight Connector 80"/>
                  <p:cNvCxnSpPr/>
                  <p:nvPr/>
                </p:nvCxnSpPr>
                <p:spPr bwMode="auto">
                  <a:xfrm>
                    <a:off x="3771721" y="4994910"/>
                    <a:ext cx="1028904" cy="0"/>
                  </a:xfrm>
                  <a:prstGeom prst="line">
                    <a:avLst/>
                  </a:prstGeom>
                  <a:solidFill>
                    <a:schemeClr val="accent1"/>
                  </a:solidFill>
                  <a:ln w="19050" cap="flat" cmpd="sng" algn="ctr">
                    <a:solidFill>
                      <a:srgbClr val="00B050"/>
                    </a:solidFill>
                    <a:prstDash val="solid"/>
                    <a:round/>
                    <a:headEnd type="none" w="med" len="med"/>
                    <a:tailEnd type="none" w="med" len="med"/>
                  </a:ln>
                  <a:effectLst/>
                </p:spPr>
              </p:cxnSp>
            </p:grpSp>
            <p:grpSp>
              <p:nvGrpSpPr>
                <p:cNvPr id="84" name="Group 83"/>
                <p:cNvGrpSpPr/>
                <p:nvPr/>
              </p:nvGrpSpPr>
              <p:grpSpPr>
                <a:xfrm>
                  <a:off x="3581400" y="4201358"/>
                  <a:ext cx="1219225" cy="91440"/>
                  <a:chOff x="3581400" y="4994910"/>
                  <a:chExt cx="1219225" cy="91440"/>
                </a:xfrm>
              </p:grpSpPr>
              <p:cxnSp>
                <p:nvCxnSpPr>
                  <p:cNvPr id="85" name="Straight Connector 84"/>
                  <p:cNvCxnSpPr/>
                  <p:nvPr/>
                </p:nvCxnSpPr>
                <p:spPr bwMode="auto">
                  <a:xfrm flipV="1">
                    <a:off x="3581400" y="4994910"/>
                    <a:ext cx="190321" cy="45720"/>
                  </a:xfrm>
                  <a:prstGeom prst="line">
                    <a:avLst/>
                  </a:prstGeom>
                  <a:solidFill>
                    <a:schemeClr val="accent1"/>
                  </a:solidFill>
                  <a:ln w="19050" cap="flat" cmpd="sng" algn="ctr">
                    <a:solidFill>
                      <a:srgbClr val="FF6600"/>
                    </a:solidFill>
                    <a:prstDash val="solid"/>
                    <a:round/>
                    <a:headEnd type="none" w="med" len="med"/>
                    <a:tailEnd type="none" w="med" len="med"/>
                  </a:ln>
                  <a:effectLst/>
                </p:spPr>
              </p:cxnSp>
              <p:cxnSp>
                <p:nvCxnSpPr>
                  <p:cNvPr id="86" name="Straight Connector 85"/>
                  <p:cNvCxnSpPr/>
                  <p:nvPr/>
                </p:nvCxnSpPr>
                <p:spPr bwMode="auto">
                  <a:xfrm>
                    <a:off x="3581400" y="5040630"/>
                    <a:ext cx="190321" cy="45720"/>
                  </a:xfrm>
                  <a:prstGeom prst="line">
                    <a:avLst/>
                  </a:prstGeom>
                  <a:solidFill>
                    <a:schemeClr val="accent1"/>
                  </a:solidFill>
                  <a:ln w="19050" cap="flat" cmpd="sng" algn="ctr">
                    <a:solidFill>
                      <a:srgbClr val="FF6600"/>
                    </a:solidFill>
                    <a:prstDash val="solid"/>
                    <a:round/>
                    <a:headEnd type="none" w="med" len="med"/>
                    <a:tailEnd type="none" w="med" len="med"/>
                  </a:ln>
                  <a:effectLst/>
                </p:spPr>
              </p:cxnSp>
              <p:cxnSp>
                <p:nvCxnSpPr>
                  <p:cNvPr id="87" name="Straight Connector 86"/>
                  <p:cNvCxnSpPr/>
                  <p:nvPr/>
                </p:nvCxnSpPr>
                <p:spPr bwMode="auto">
                  <a:xfrm>
                    <a:off x="3771721" y="5086350"/>
                    <a:ext cx="1028904" cy="0"/>
                  </a:xfrm>
                  <a:prstGeom prst="line">
                    <a:avLst/>
                  </a:prstGeom>
                  <a:solidFill>
                    <a:schemeClr val="accent1"/>
                  </a:solidFill>
                  <a:ln w="19050" cap="flat" cmpd="sng" algn="ctr">
                    <a:solidFill>
                      <a:srgbClr val="FF6600"/>
                    </a:solidFill>
                    <a:prstDash val="solid"/>
                    <a:round/>
                    <a:headEnd type="none" w="med" len="med"/>
                    <a:tailEnd type="none" w="med" len="med"/>
                  </a:ln>
                  <a:effectLst/>
                </p:spPr>
              </p:cxnSp>
              <p:cxnSp>
                <p:nvCxnSpPr>
                  <p:cNvPr id="88" name="Straight Connector 87"/>
                  <p:cNvCxnSpPr/>
                  <p:nvPr/>
                </p:nvCxnSpPr>
                <p:spPr bwMode="auto">
                  <a:xfrm>
                    <a:off x="3771721" y="4994910"/>
                    <a:ext cx="1028904" cy="0"/>
                  </a:xfrm>
                  <a:prstGeom prst="line">
                    <a:avLst/>
                  </a:prstGeom>
                  <a:solidFill>
                    <a:schemeClr val="accent1"/>
                  </a:solidFill>
                  <a:ln w="19050" cap="flat" cmpd="sng" algn="ctr">
                    <a:solidFill>
                      <a:srgbClr val="FF6600"/>
                    </a:solidFill>
                    <a:prstDash val="solid"/>
                    <a:round/>
                    <a:headEnd type="none" w="med" len="med"/>
                    <a:tailEnd type="none" w="med" len="med"/>
                  </a:ln>
                  <a:effectLst/>
                </p:spPr>
              </p:cxnSp>
            </p:grpSp>
            <p:sp>
              <p:nvSpPr>
                <p:cNvPr id="91" name="Rectangle 90"/>
                <p:cNvSpPr/>
                <p:nvPr/>
              </p:nvSpPr>
              <p:spPr>
                <a:xfrm>
                  <a:off x="3704127" y="3446570"/>
                  <a:ext cx="1152880" cy="523220"/>
                </a:xfrm>
                <a:prstGeom prst="rect">
                  <a:avLst/>
                </a:prstGeom>
              </p:spPr>
              <p:txBody>
                <a:bodyPr wrap="none">
                  <a:spAutoFit/>
                </a:bodyPr>
                <a:lstStyle/>
                <a:p>
                  <a:r>
                    <a:rPr lang="en-US" sz="1400" dirty="0">
                      <a:solidFill>
                        <a:srgbClr val="FF0000"/>
                      </a:solidFill>
                      <a:latin typeface="Georgia" panose="02040502050405020303" pitchFamily="18" charset="0"/>
                      <a:cs typeface="Times New Roman" panose="02020603050405020304" pitchFamily="18" charset="0"/>
                    </a:rPr>
                    <a:t>Degeneracy </a:t>
                  </a:r>
                </a:p>
                <a:p>
                  <a:r>
                    <a:rPr lang="en-US" sz="1400" dirty="0">
                      <a:solidFill>
                        <a:srgbClr val="FF0000"/>
                      </a:solidFill>
                      <a:latin typeface="Georgia" panose="02040502050405020303" pitchFamily="18" charset="0"/>
                      <a:cs typeface="Times New Roman" panose="02020603050405020304" pitchFamily="18" charset="0"/>
                    </a:rPr>
                    <a:t>     =2</a:t>
                  </a:r>
                  <a:r>
                    <a:rPr lang="en-US" sz="1400" i="1" dirty="0">
                      <a:solidFill>
                        <a:srgbClr val="FF0000"/>
                      </a:solidFill>
                      <a:latin typeface="Georgia" panose="02040502050405020303" pitchFamily="18" charset="0"/>
                      <a:cs typeface="Times New Roman" panose="02020603050405020304" pitchFamily="18" charset="0"/>
                    </a:rPr>
                    <a:t>j</a:t>
                  </a:r>
                  <a:r>
                    <a:rPr lang="en-US" sz="1400" dirty="0">
                      <a:solidFill>
                        <a:srgbClr val="FF0000"/>
                      </a:solidFill>
                      <a:latin typeface="Georgia" panose="02040502050405020303" pitchFamily="18" charset="0"/>
                      <a:cs typeface="Times New Roman" panose="02020603050405020304" pitchFamily="18" charset="0"/>
                    </a:rPr>
                    <a:t>+1</a:t>
                  </a:r>
                  <a:endParaRPr lang="en-US" sz="1400" dirty="0">
                    <a:latin typeface="Georgia" panose="02040502050405020303" pitchFamily="18" charset="0"/>
                  </a:endParaRPr>
                </a:p>
              </p:txBody>
            </p:sp>
            <p:sp>
              <p:nvSpPr>
                <p:cNvPr id="92" name="Oval 20"/>
                <p:cNvSpPr>
                  <a:spLocks noChangeAspect="1" noChangeArrowheads="1"/>
                </p:cNvSpPr>
                <p:nvPr/>
              </p:nvSpPr>
              <p:spPr bwMode="auto">
                <a:xfrm>
                  <a:off x="4114800" y="50292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93" name="Oval 23"/>
                <p:cNvSpPr>
                  <a:spLocks noChangeAspect="1" noChangeArrowheads="1"/>
                </p:cNvSpPr>
                <p:nvPr/>
              </p:nvSpPr>
              <p:spPr bwMode="auto">
                <a:xfrm>
                  <a:off x="4251960" y="50292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94" name="Oval 20"/>
                <p:cNvSpPr>
                  <a:spLocks noChangeAspect="1" noChangeArrowheads="1"/>
                </p:cNvSpPr>
                <p:nvPr/>
              </p:nvSpPr>
              <p:spPr bwMode="auto">
                <a:xfrm>
                  <a:off x="3981450" y="493395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95" name="Oval 23"/>
                <p:cNvSpPr>
                  <a:spLocks noChangeAspect="1" noChangeArrowheads="1"/>
                </p:cNvSpPr>
                <p:nvPr/>
              </p:nvSpPr>
              <p:spPr bwMode="auto">
                <a:xfrm>
                  <a:off x="4118610" y="493395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96" name="Oval 20"/>
                <p:cNvSpPr>
                  <a:spLocks noChangeAspect="1" noChangeArrowheads="1"/>
                </p:cNvSpPr>
                <p:nvPr/>
              </p:nvSpPr>
              <p:spPr bwMode="auto">
                <a:xfrm>
                  <a:off x="4248150" y="493395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97" name="Oval 23"/>
                <p:cNvSpPr>
                  <a:spLocks noChangeAspect="1" noChangeArrowheads="1"/>
                </p:cNvSpPr>
                <p:nvPr/>
              </p:nvSpPr>
              <p:spPr bwMode="auto">
                <a:xfrm>
                  <a:off x="4385310" y="493395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05" name="Oval 20"/>
                <p:cNvSpPr>
                  <a:spLocks noChangeAspect="1" noChangeArrowheads="1"/>
                </p:cNvSpPr>
                <p:nvPr/>
              </p:nvSpPr>
              <p:spPr bwMode="auto">
                <a:xfrm>
                  <a:off x="4143375" y="46101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06" name="Oval 23"/>
                <p:cNvSpPr>
                  <a:spLocks noChangeAspect="1" noChangeArrowheads="1"/>
                </p:cNvSpPr>
                <p:nvPr/>
              </p:nvSpPr>
              <p:spPr bwMode="auto">
                <a:xfrm>
                  <a:off x="4280535" y="461010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07" name="Oval 20"/>
                <p:cNvSpPr>
                  <a:spLocks noChangeAspect="1" noChangeArrowheads="1"/>
                </p:cNvSpPr>
                <p:nvPr/>
              </p:nvSpPr>
              <p:spPr bwMode="auto">
                <a:xfrm>
                  <a:off x="4010025" y="451485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08" name="Oval 23"/>
                <p:cNvSpPr>
                  <a:spLocks noChangeAspect="1" noChangeArrowheads="1"/>
                </p:cNvSpPr>
                <p:nvPr/>
              </p:nvSpPr>
              <p:spPr bwMode="auto">
                <a:xfrm>
                  <a:off x="4147185" y="451485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09" name="Oval 20"/>
                <p:cNvSpPr>
                  <a:spLocks noChangeAspect="1" noChangeArrowheads="1"/>
                </p:cNvSpPr>
                <p:nvPr/>
              </p:nvSpPr>
              <p:spPr bwMode="auto">
                <a:xfrm>
                  <a:off x="4276725" y="451485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10" name="Oval 23"/>
                <p:cNvSpPr>
                  <a:spLocks noChangeAspect="1" noChangeArrowheads="1"/>
                </p:cNvSpPr>
                <p:nvPr/>
              </p:nvSpPr>
              <p:spPr bwMode="auto">
                <a:xfrm>
                  <a:off x="4413885" y="4514850"/>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11" name="Oval 20"/>
                <p:cNvSpPr>
                  <a:spLocks noChangeAspect="1" noChangeArrowheads="1"/>
                </p:cNvSpPr>
                <p:nvPr/>
              </p:nvSpPr>
              <p:spPr bwMode="auto">
                <a:xfrm>
                  <a:off x="4010025" y="423862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12" name="Oval 23"/>
                <p:cNvSpPr>
                  <a:spLocks noChangeAspect="1" noChangeArrowheads="1"/>
                </p:cNvSpPr>
                <p:nvPr/>
              </p:nvSpPr>
              <p:spPr bwMode="auto">
                <a:xfrm>
                  <a:off x="4147185" y="423862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13" name="Oval 20"/>
                <p:cNvSpPr>
                  <a:spLocks noChangeAspect="1" noChangeArrowheads="1"/>
                </p:cNvSpPr>
                <p:nvPr/>
              </p:nvSpPr>
              <p:spPr bwMode="auto">
                <a:xfrm>
                  <a:off x="4276725" y="423862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14" name="Oval 23"/>
                <p:cNvSpPr>
                  <a:spLocks noChangeAspect="1" noChangeArrowheads="1"/>
                </p:cNvSpPr>
                <p:nvPr/>
              </p:nvSpPr>
              <p:spPr bwMode="auto">
                <a:xfrm>
                  <a:off x="4413885" y="423862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15" name="Oval 20"/>
                <p:cNvSpPr>
                  <a:spLocks noChangeAspect="1" noChangeArrowheads="1"/>
                </p:cNvSpPr>
                <p:nvPr/>
              </p:nvSpPr>
              <p:spPr bwMode="auto">
                <a:xfrm>
                  <a:off x="4010025" y="41433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16" name="Oval 23"/>
                <p:cNvSpPr>
                  <a:spLocks noChangeAspect="1" noChangeArrowheads="1"/>
                </p:cNvSpPr>
                <p:nvPr/>
              </p:nvSpPr>
              <p:spPr bwMode="auto">
                <a:xfrm>
                  <a:off x="4147185" y="41433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17" name="Oval 20"/>
                <p:cNvSpPr>
                  <a:spLocks noChangeAspect="1" noChangeArrowheads="1"/>
                </p:cNvSpPr>
                <p:nvPr/>
              </p:nvSpPr>
              <p:spPr bwMode="auto">
                <a:xfrm>
                  <a:off x="4276725" y="41433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18" name="Oval 23"/>
                <p:cNvSpPr>
                  <a:spLocks noChangeAspect="1" noChangeArrowheads="1"/>
                </p:cNvSpPr>
                <p:nvPr/>
              </p:nvSpPr>
              <p:spPr bwMode="auto">
                <a:xfrm>
                  <a:off x="4413885" y="414337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19" name="Oval 20"/>
                <p:cNvSpPr>
                  <a:spLocks noChangeAspect="1" noChangeArrowheads="1"/>
                </p:cNvSpPr>
                <p:nvPr/>
              </p:nvSpPr>
              <p:spPr bwMode="auto">
                <a:xfrm>
                  <a:off x="4543425" y="414718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sp>
              <p:nvSpPr>
                <p:cNvPr id="120" name="Oval 23"/>
                <p:cNvSpPr>
                  <a:spLocks noChangeAspect="1" noChangeArrowheads="1"/>
                </p:cNvSpPr>
                <p:nvPr/>
              </p:nvSpPr>
              <p:spPr bwMode="auto">
                <a:xfrm>
                  <a:off x="4680585" y="4147185"/>
                  <a:ext cx="91440" cy="91440"/>
                </a:xfrm>
                <a:prstGeom prst="ellipse">
                  <a:avLst/>
                </a:prstGeom>
                <a:gradFill rotWithShape="0">
                  <a:gsLst>
                    <a:gs pos="0">
                      <a:schemeClr val="bg1"/>
                    </a:gs>
                    <a:gs pos="100000">
                      <a:srgbClr val="0000FF"/>
                    </a:gs>
                  </a:gsLst>
                  <a:path path="shape">
                    <a:fillToRect l="50000" t="50000" r="50000" b="50000"/>
                  </a:path>
                </a:gradFill>
                <a:ln w="9525">
                  <a:noFill/>
                  <a:round/>
                  <a:headEnd/>
                  <a:tailEnd/>
                </a:ln>
                <a:effectLst/>
              </p:spPr>
              <p:txBody>
                <a:bodyPr wrap="none" anchor="ctr"/>
                <a:lstStyle/>
                <a:p>
                  <a:endParaRPr lang="en-US">
                    <a:latin typeface="Georgia" panose="02040502050405020303" pitchFamily="18" charset="0"/>
                  </a:endParaRPr>
                </a:p>
              </p:txBody>
            </p:sp>
          </p:grpSp>
        </p:grpSp>
        <p:grpSp>
          <p:nvGrpSpPr>
            <p:cNvPr id="11" name="Group 10">
              <a:extLst>
                <a:ext uri="{FF2B5EF4-FFF2-40B4-BE49-F238E27FC236}">
                  <a16:creationId xmlns:a16="http://schemas.microsoft.com/office/drawing/2014/main" id="{95C5539F-A20C-1A0C-2C6E-50E75CF121D2}"/>
                </a:ext>
              </a:extLst>
            </p:cNvPr>
            <p:cNvGrpSpPr/>
            <p:nvPr/>
          </p:nvGrpSpPr>
          <p:grpSpPr>
            <a:xfrm>
              <a:off x="4532625" y="3375019"/>
              <a:ext cx="1653119" cy="2882421"/>
              <a:chOff x="4532625" y="3375019"/>
              <a:chExt cx="1653119" cy="2882421"/>
            </a:xfrm>
          </p:grpSpPr>
          <p:sp>
            <p:nvSpPr>
              <p:cNvPr id="14" name="TextBox 13"/>
              <p:cNvSpPr txBox="1"/>
              <p:nvPr/>
            </p:nvSpPr>
            <p:spPr>
              <a:xfrm>
                <a:off x="4720292" y="4964594"/>
                <a:ext cx="577402" cy="307777"/>
              </a:xfrm>
              <a:prstGeom prst="rect">
                <a:avLst/>
              </a:prstGeom>
              <a:noFill/>
            </p:spPr>
            <p:txBody>
              <a:bodyPr wrap="none" rtlCol="0">
                <a:spAutoFit/>
              </a:bodyPr>
              <a:lstStyle/>
              <a:p>
                <a:r>
                  <a:rPr lang="en-US" sz="1400" dirty="0">
                    <a:latin typeface="Georgia" panose="02040502050405020303" pitchFamily="18" charset="0"/>
                    <a:cs typeface="Times New Roman" panose="02020603050405020304" pitchFamily="18" charset="0"/>
                  </a:rPr>
                  <a:t>2p</a:t>
                </a:r>
                <a:r>
                  <a:rPr lang="en-US" sz="1400" baseline="-25000" dirty="0">
                    <a:latin typeface="Georgia" panose="02040502050405020303" pitchFamily="18" charset="0"/>
                    <a:cs typeface="Times New Roman" panose="02020603050405020304" pitchFamily="18" charset="0"/>
                  </a:rPr>
                  <a:t>3/2</a:t>
                </a:r>
              </a:p>
            </p:txBody>
          </p:sp>
          <p:sp>
            <p:nvSpPr>
              <p:cNvPr id="71" name="TextBox 70"/>
              <p:cNvSpPr txBox="1"/>
              <p:nvPr/>
            </p:nvSpPr>
            <p:spPr>
              <a:xfrm>
                <a:off x="4736256" y="5152310"/>
                <a:ext cx="562975" cy="307777"/>
              </a:xfrm>
              <a:prstGeom prst="rect">
                <a:avLst/>
              </a:prstGeom>
              <a:noFill/>
            </p:spPr>
            <p:txBody>
              <a:bodyPr wrap="none" rtlCol="0">
                <a:spAutoFit/>
              </a:bodyPr>
              <a:lstStyle/>
              <a:p>
                <a:r>
                  <a:rPr lang="en-US" sz="1400" dirty="0">
                    <a:latin typeface="Georgia" panose="02040502050405020303" pitchFamily="18" charset="0"/>
                    <a:cs typeface="Times New Roman" panose="02020603050405020304" pitchFamily="18" charset="0"/>
                  </a:rPr>
                  <a:t>2p</a:t>
                </a:r>
                <a:r>
                  <a:rPr lang="en-US" sz="1400" baseline="-25000" dirty="0">
                    <a:latin typeface="Georgia" panose="02040502050405020303" pitchFamily="18" charset="0"/>
                    <a:cs typeface="Times New Roman" panose="02020603050405020304" pitchFamily="18" charset="0"/>
                  </a:rPr>
                  <a:t>1/2</a:t>
                </a:r>
              </a:p>
            </p:txBody>
          </p:sp>
          <p:sp>
            <p:nvSpPr>
              <p:cNvPr id="82" name="TextBox 81"/>
              <p:cNvSpPr txBox="1"/>
              <p:nvPr/>
            </p:nvSpPr>
            <p:spPr>
              <a:xfrm>
                <a:off x="4711959" y="4449427"/>
                <a:ext cx="575799" cy="307777"/>
              </a:xfrm>
              <a:prstGeom prst="rect">
                <a:avLst/>
              </a:prstGeom>
              <a:noFill/>
            </p:spPr>
            <p:txBody>
              <a:bodyPr wrap="none" rtlCol="0">
                <a:spAutoFit/>
              </a:bodyPr>
              <a:lstStyle/>
              <a:p>
                <a:r>
                  <a:rPr lang="en-US" sz="1400" dirty="0">
                    <a:latin typeface="Georgia" panose="02040502050405020303" pitchFamily="18" charset="0"/>
                    <a:cs typeface="Times New Roman" panose="02020603050405020304" pitchFamily="18" charset="0"/>
                  </a:rPr>
                  <a:t>3p</a:t>
                </a:r>
                <a:r>
                  <a:rPr lang="en-US" sz="1400" baseline="-25000" dirty="0">
                    <a:latin typeface="Georgia" panose="02040502050405020303" pitchFamily="18" charset="0"/>
                    <a:cs typeface="Times New Roman" panose="02020603050405020304" pitchFamily="18" charset="0"/>
                  </a:rPr>
                  <a:t>3/2</a:t>
                </a:r>
              </a:p>
            </p:txBody>
          </p:sp>
          <p:sp>
            <p:nvSpPr>
              <p:cNvPr id="83" name="TextBox 82"/>
              <p:cNvSpPr txBox="1"/>
              <p:nvPr/>
            </p:nvSpPr>
            <p:spPr>
              <a:xfrm>
                <a:off x="4722609" y="4606840"/>
                <a:ext cx="561372" cy="307777"/>
              </a:xfrm>
              <a:prstGeom prst="rect">
                <a:avLst/>
              </a:prstGeom>
              <a:noFill/>
            </p:spPr>
            <p:txBody>
              <a:bodyPr wrap="none" rtlCol="0">
                <a:spAutoFit/>
              </a:bodyPr>
              <a:lstStyle/>
              <a:p>
                <a:r>
                  <a:rPr lang="en-US" sz="1400" dirty="0">
                    <a:latin typeface="Georgia" panose="02040502050405020303" pitchFamily="18" charset="0"/>
                    <a:cs typeface="Times New Roman" panose="02020603050405020304" pitchFamily="18" charset="0"/>
                  </a:rPr>
                  <a:t>3p</a:t>
                </a:r>
                <a:r>
                  <a:rPr lang="en-US" sz="1400" baseline="-25000" dirty="0">
                    <a:latin typeface="Georgia" panose="02040502050405020303" pitchFamily="18" charset="0"/>
                    <a:cs typeface="Times New Roman" panose="02020603050405020304" pitchFamily="18" charset="0"/>
                  </a:rPr>
                  <a:t>1/2</a:t>
                </a:r>
              </a:p>
            </p:txBody>
          </p:sp>
          <p:sp>
            <p:nvSpPr>
              <p:cNvPr id="89" name="TextBox 88"/>
              <p:cNvSpPr txBox="1"/>
              <p:nvPr/>
            </p:nvSpPr>
            <p:spPr>
              <a:xfrm>
                <a:off x="4724400" y="3920952"/>
                <a:ext cx="572593" cy="307777"/>
              </a:xfrm>
              <a:prstGeom prst="rect">
                <a:avLst/>
              </a:prstGeom>
              <a:noFill/>
            </p:spPr>
            <p:txBody>
              <a:bodyPr wrap="none" rtlCol="0">
                <a:spAutoFit/>
              </a:bodyPr>
              <a:lstStyle/>
              <a:p>
                <a:r>
                  <a:rPr lang="en-US" sz="1400" dirty="0">
                    <a:latin typeface="Georgia" panose="02040502050405020303" pitchFamily="18" charset="0"/>
                    <a:cs typeface="Times New Roman" panose="02020603050405020304" pitchFamily="18" charset="0"/>
                  </a:rPr>
                  <a:t>3d</a:t>
                </a:r>
                <a:r>
                  <a:rPr lang="en-US" sz="1400" baseline="-25000" dirty="0">
                    <a:latin typeface="Georgia" panose="02040502050405020303" pitchFamily="18" charset="0"/>
                    <a:cs typeface="Times New Roman" panose="02020603050405020304" pitchFamily="18" charset="0"/>
                  </a:rPr>
                  <a:t>5/2</a:t>
                </a:r>
              </a:p>
            </p:txBody>
          </p:sp>
          <p:sp>
            <p:nvSpPr>
              <p:cNvPr id="90" name="TextBox 89"/>
              <p:cNvSpPr txBox="1"/>
              <p:nvPr/>
            </p:nvSpPr>
            <p:spPr>
              <a:xfrm>
                <a:off x="4710791" y="4107864"/>
                <a:ext cx="575799" cy="307777"/>
              </a:xfrm>
              <a:prstGeom prst="rect">
                <a:avLst/>
              </a:prstGeom>
              <a:noFill/>
            </p:spPr>
            <p:txBody>
              <a:bodyPr wrap="none" rtlCol="0">
                <a:spAutoFit/>
              </a:bodyPr>
              <a:lstStyle/>
              <a:p>
                <a:r>
                  <a:rPr lang="en-US" sz="1400" dirty="0">
                    <a:latin typeface="Georgia" panose="02040502050405020303" pitchFamily="18" charset="0"/>
                    <a:cs typeface="Times New Roman" panose="02020603050405020304" pitchFamily="18" charset="0"/>
                  </a:rPr>
                  <a:t>3d</a:t>
                </a:r>
                <a:r>
                  <a:rPr lang="en-US" sz="1400" baseline="-25000" dirty="0">
                    <a:latin typeface="Georgia" panose="02040502050405020303" pitchFamily="18" charset="0"/>
                    <a:cs typeface="Times New Roman" panose="02020603050405020304" pitchFamily="18" charset="0"/>
                  </a:rPr>
                  <a:t>3/2</a:t>
                </a:r>
              </a:p>
            </p:txBody>
          </p:sp>
          <p:sp>
            <p:nvSpPr>
              <p:cNvPr id="23" name="TextBox 22"/>
              <p:cNvSpPr txBox="1"/>
              <p:nvPr/>
            </p:nvSpPr>
            <p:spPr>
              <a:xfrm>
                <a:off x="4532625" y="3392629"/>
                <a:ext cx="856325" cy="523220"/>
              </a:xfrm>
              <a:prstGeom prst="rect">
                <a:avLst/>
              </a:prstGeom>
              <a:noFill/>
            </p:spPr>
            <p:txBody>
              <a:bodyPr wrap="none" rtlCol="0">
                <a:spAutoFit/>
              </a:bodyPr>
              <a:lstStyle/>
              <a:p>
                <a:pPr algn="ctr"/>
                <a:r>
                  <a:rPr lang="en-US" sz="1400" dirty="0">
                    <a:latin typeface="Georgia" panose="02040502050405020303" pitchFamily="18" charset="0"/>
                    <a:cs typeface="Times New Roman" panose="02020603050405020304" pitchFamily="18" charset="0"/>
                  </a:rPr>
                  <a:t>XPS</a:t>
                </a:r>
              </a:p>
              <a:p>
                <a:pPr algn="ctr"/>
                <a:r>
                  <a:rPr lang="en-US" sz="1400" dirty="0">
                    <a:latin typeface="Georgia" panose="02040502050405020303" pitchFamily="18" charset="0"/>
                    <a:cs typeface="Times New Roman" panose="02020603050405020304" pitchFamily="18" charset="0"/>
                  </a:rPr>
                  <a:t>notation</a:t>
                </a:r>
              </a:p>
            </p:txBody>
          </p:sp>
          <p:sp>
            <p:nvSpPr>
              <p:cNvPr id="125" name="TextBox 124"/>
              <p:cNvSpPr txBox="1"/>
              <p:nvPr/>
            </p:nvSpPr>
            <p:spPr>
              <a:xfrm>
                <a:off x="4715065" y="4273715"/>
                <a:ext cx="537327" cy="307777"/>
              </a:xfrm>
              <a:prstGeom prst="rect">
                <a:avLst/>
              </a:prstGeom>
              <a:noFill/>
            </p:spPr>
            <p:txBody>
              <a:bodyPr wrap="none" rtlCol="0">
                <a:spAutoFit/>
              </a:bodyPr>
              <a:lstStyle/>
              <a:p>
                <a:r>
                  <a:rPr lang="en-US" sz="1400" dirty="0">
                    <a:latin typeface="Georgia" panose="02040502050405020303" pitchFamily="18" charset="0"/>
                    <a:cs typeface="Times New Roman" panose="02020603050405020304" pitchFamily="18" charset="0"/>
                  </a:rPr>
                  <a:t>4s</a:t>
                </a:r>
                <a:r>
                  <a:rPr lang="en-US" sz="1400" baseline="-25000" dirty="0">
                    <a:latin typeface="Georgia" panose="02040502050405020303" pitchFamily="18" charset="0"/>
                    <a:cs typeface="Times New Roman" panose="02020603050405020304" pitchFamily="18" charset="0"/>
                  </a:rPr>
                  <a:t>1/2</a:t>
                </a:r>
              </a:p>
            </p:txBody>
          </p:sp>
          <p:sp>
            <p:nvSpPr>
              <p:cNvPr id="126" name="TextBox 125"/>
              <p:cNvSpPr txBox="1"/>
              <p:nvPr/>
            </p:nvSpPr>
            <p:spPr>
              <a:xfrm>
                <a:off x="4749263" y="5527743"/>
                <a:ext cx="537327" cy="307777"/>
              </a:xfrm>
              <a:prstGeom prst="rect">
                <a:avLst/>
              </a:prstGeom>
              <a:noFill/>
            </p:spPr>
            <p:txBody>
              <a:bodyPr wrap="none" rtlCol="0">
                <a:spAutoFit/>
              </a:bodyPr>
              <a:lstStyle/>
              <a:p>
                <a:r>
                  <a:rPr lang="en-US" sz="1400" dirty="0">
                    <a:latin typeface="Georgia" panose="02040502050405020303" pitchFamily="18" charset="0"/>
                    <a:cs typeface="Times New Roman" panose="02020603050405020304" pitchFamily="18" charset="0"/>
                  </a:rPr>
                  <a:t>2s</a:t>
                </a:r>
                <a:r>
                  <a:rPr lang="en-US" sz="1400" baseline="-25000" dirty="0">
                    <a:latin typeface="Georgia" panose="02040502050405020303" pitchFamily="18" charset="0"/>
                    <a:cs typeface="Times New Roman" panose="02020603050405020304" pitchFamily="18" charset="0"/>
                  </a:rPr>
                  <a:t>1/2</a:t>
                </a:r>
              </a:p>
            </p:txBody>
          </p:sp>
          <p:sp>
            <p:nvSpPr>
              <p:cNvPr id="127" name="TextBox 126"/>
              <p:cNvSpPr txBox="1"/>
              <p:nvPr/>
            </p:nvSpPr>
            <p:spPr>
              <a:xfrm>
                <a:off x="4730828" y="4769878"/>
                <a:ext cx="535724" cy="307777"/>
              </a:xfrm>
              <a:prstGeom prst="rect">
                <a:avLst/>
              </a:prstGeom>
              <a:noFill/>
            </p:spPr>
            <p:txBody>
              <a:bodyPr wrap="none" rtlCol="0">
                <a:spAutoFit/>
              </a:bodyPr>
              <a:lstStyle/>
              <a:p>
                <a:r>
                  <a:rPr lang="en-US" sz="1400" dirty="0">
                    <a:latin typeface="Georgia" panose="02040502050405020303" pitchFamily="18" charset="0"/>
                    <a:cs typeface="Times New Roman" panose="02020603050405020304" pitchFamily="18" charset="0"/>
                  </a:rPr>
                  <a:t>3s</a:t>
                </a:r>
                <a:r>
                  <a:rPr lang="en-US" sz="1400" baseline="-25000" dirty="0">
                    <a:latin typeface="Georgia" panose="02040502050405020303" pitchFamily="18" charset="0"/>
                    <a:cs typeface="Times New Roman" panose="02020603050405020304" pitchFamily="18" charset="0"/>
                  </a:rPr>
                  <a:t>1/2</a:t>
                </a:r>
              </a:p>
            </p:txBody>
          </p:sp>
          <p:sp>
            <p:nvSpPr>
              <p:cNvPr id="128" name="TextBox 127"/>
              <p:cNvSpPr txBox="1"/>
              <p:nvPr/>
            </p:nvSpPr>
            <p:spPr>
              <a:xfrm>
                <a:off x="4724400" y="5920740"/>
                <a:ext cx="513282" cy="307777"/>
              </a:xfrm>
              <a:prstGeom prst="rect">
                <a:avLst/>
              </a:prstGeom>
              <a:noFill/>
            </p:spPr>
            <p:txBody>
              <a:bodyPr wrap="none" rtlCol="0">
                <a:spAutoFit/>
              </a:bodyPr>
              <a:lstStyle/>
              <a:p>
                <a:r>
                  <a:rPr lang="en-US" sz="1400" dirty="0">
                    <a:latin typeface="Georgia" panose="02040502050405020303" pitchFamily="18" charset="0"/>
                    <a:cs typeface="Times New Roman" panose="02020603050405020304" pitchFamily="18" charset="0"/>
                  </a:rPr>
                  <a:t>1s</a:t>
                </a:r>
                <a:r>
                  <a:rPr lang="en-US" sz="1400" baseline="-25000" dirty="0">
                    <a:latin typeface="Georgia" panose="02040502050405020303" pitchFamily="18" charset="0"/>
                    <a:cs typeface="Times New Roman" panose="02020603050405020304" pitchFamily="18" charset="0"/>
                  </a:rPr>
                  <a:t>1/2</a:t>
                </a:r>
              </a:p>
            </p:txBody>
          </p:sp>
          <p:sp>
            <p:nvSpPr>
              <p:cNvPr id="129" name="TextBox 128"/>
              <p:cNvSpPr txBox="1"/>
              <p:nvPr/>
            </p:nvSpPr>
            <p:spPr>
              <a:xfrm>
                <a:off x="5329419" y="3375019"/>
                <a:ext cx="856325" cy="523220"/>
              </a:xfrm>
              <a:prstGeom prst="rect">
                <a:avLst/>
              </a:prstGeom>
              <a:noFill/>
            </p:spPr>
            <p:txBody>
              <a:bodyPr wrap="none" rtlCol="0">
                <a:spAutoFit/>
              </a:bodyPr>
              <a:lstStyle/>
              <a:p>
                <a:pPr algn="ctr"/>
                <a:r>
                  <a:rPr lang="en-US" sz="1400" dirty="0">
                    <a:latin typeface="Georgia" panose="02040502050405020303" pitchFamily="18" charset="0"/>
                    <a:cs typeface="Times New Roman" panose="02020603050405020304" pitchFamily="18" charset="0"/>
                  </a:rPr>
                  <a:t>AES</a:t>
                </a:r>
              </a:p>
              <a:p>
                <a:pPr algn="ctr"/>
                <a:r>
                  <a:rPr lang="en-US" sz="1400" dirty="0">
                    <a:latin typeface="Georgia" panose="02040502050405020303" pitchFamily="18" charset="0"/>
                    <a:cs typeface="Times New Roman" panose="02020603050405020304" pitchFamily="18" charset="0"/>
                  </a:rPr>
                  <a:t>notation</a:t>
                </a:r>
              </a:p>
            </p:txBody>
          </p:sp>
          <p:sp>
            <p:nvSpPr>
              <p:cNvPr id="130" name="TextBox 129"/>
              <p:cNvSpPr txBox="1"/>
              <p:nvPr/>
            </p:nvSpPr>
            <p:spPr>
              <a:xfrm>
                <a:off x="5670883" y="4979839"/>
                <a:ext cx="330540" cy="276999"/>
              </a:xfrm>
              <a:prstGeom prst="rect">
                <a:avLst/>
              </a:prstGeom>
              <a:noFill/>
            </p:spPr>
            <p:txBody>
              <a:bodyPr wrap="none" rtlCol="0">
                <a:spAutoFit/>
              </a:bodyPr>
              <a:lstStyle/>
              <a:p>
                <a:r>
                  <a:rPr lang="en-US" sz="1200" dirty="0">
                    <a:latin typeface="Georgia" panose="02040502050405020303" pitchFamily="18" charset="0"/>
                    <a:cs typeface="Times New Roman" panose="02020603050405020304" pitchFamily="18" charset="0"/>
                  </a:rPr>
                  <a:t>L</a:t>
                </a:r>
                <a:r>
                  <a:rPr lang="en-US" sz="1200" baseline="-25000" dirty="0">
                    <a:latin typeface="Georgia" panose="02040502050405020303" pitchFamily="18" charset="0"/>
                    <a:cs typeface="Times New Roman" panose="02020603050405020304" pitchFamily="18" charset="0"/>
                  </a:rPr>
                  <a:t>3</a:t>
                </a:r>
              </a:p>
            </p:txBody>
          </p:sp>
          <p:sp>
            <p:nvSpPr>
              <p:cNvPr id="131" name="TextBox 130"/>
              <p:cNvSpPr txBox="1"/>
              <p:nvPr/>
            </p:nvSpPr>
            <p:spPr>
              <a:xfrm>
                <a:off x="5682601" y="5167603"/>
                <a:ext cx="335348" cy="276999"/>
              </a:xfrm>
              <a:prstGeom prst="rect">
                <a:avLst/>
              </a:prstGeom>
              <a:noFill/>
            </p:spPr>
            <p:txBody>
              <a:bodyPr wrap="none" rtlCol="0">
                <a:spAutoFit/>
              </a:bodyPr>
              <a:lstStyle/>
              <a:p>
                <a:r>
                  <a:rPr lang="en-US" sz="1200" dirty="0">
                    <a:latin typeface="Georgia" panose="02040502050405020303" pitchFamily="18" charset="0"/>
                    <a:cs typeface="Times New Roman" panose="02020603050405020304" pitchFamily="18" charset="0"/>
                  </a:rPr>
                  <a:t>L</a:t>
                </a:r>
                <a:r>
                  <a:rPr lang="en-US" sz="1200" baseline="-25000" dirty="0">
                    <a:latin typeface="Georgia" panose="02040502050405020303" pitchFamily="18" charset="0"/>
                    <a:cs typeface="Times New Roman" panose="02020603050405020304" pitchFamily="18" charset="0"/>
                  </a:rPr>
                  <a:t>2</a:t>
                </a:r>
              </a:p>
            </p:txBody>
          </p:sp>
          <p:sp>
            <p:nvSpPr>
              <p:cNvPr id="132" name="TextBox 131"/>
              <p:cNvSpPr txBox="1"/>
              <p:nvPr/>
            </p:nvSpPr>
            <p:spPr>
              <a:xfrm>
                <a:off x="5638800" y="4495800"/>
                <a:ext cx="383438" cy="276999"/>
              </a:xfrm>
              <a:prstGeom prst="rect">
                <a:avLst/>
              </a:prstGeom>
              <a:noFill/>
            </p:spPr>
            <p:txBody>
              <a:bodyPr wrap="none" rtlCol="0">
                <a:spAutoFit/>
              </a:bodyPr>
              <a:lstStyle/>
              <a:p>
                <a:r>
                  <a:rPr lang="en-US" sz="1200" dirty="0">
                    <a:latin typeface="Georgia" panose="02040502050405020303" pitchFamily="18" charset="0"/>
                    <a:cs typeface="Times New Roman" panose="02020603050405020304" pitchFamily="18" charset="0"/>
                  </a:rPr>
                  <a:t>M</a:t>
                </a:r>
                <a:r>
                  <a:rPr lang="en-US" sz="1200" baseline="-25000" dirty="0">
                    <a:latin typeface="Georgia" panose="02040502050405020303" pitchFamily="18" charset="0"/>
                    <a:cs typeface="Times New Roman" panose="02020603050405020304" pitchFamily="18" charset="0"/>
                  </a:rPr>
                  <a:t>3</a:t>
                </a:r>
              </a:p>
            </p:txBody>
          </p:sp>
          <p:sp>
            <p:nvSpPr>
              <p:cNvPr id="133" name="TextBox 132"/>
              <p:cNvSpPr txBox="1"/>
              <p:nvPr/>
            </p:nvSpPr>
            <p:spPr>
              <a:xfrm>
                <a:off x="5643632" y="4642196"/>
                <a:ext cx="385042" cy="276999"/>
              </a:xfrm>
              <a:prstGeom prst="rect">
                <a:avLst/>
              </a:prstGeom>
              <a:noFill/>
            </p:spPr>
            <p:txBody>
              <a:bodyPr wrap="none" rtlCol="0">
                <a:spAutoFit/>
              </a:bodyPr>
              <a:lstStyle/>
              <a:p>
                <a:r>
                  <a:rPr lang="en-US" sz="1200" dirty="0">
                    <a:latin typeface="Georgia" panose="02040502050405020303" pitchFamily="18" charset="0"/>
                    <a:cs typeface="Times New Roman" panose="02020603050405020304" pitchFamily="18" charset="0"/>
                  </a:rPr>
                  <a:t>M</a:t>
                </a:r>
                <a:r>
                  <a:rPr lang="en-US" sz="1200" baseline="-25000" dirty="0">
                    <a:latin typeface="Georgia" panose="02040502050405020303" pitchFamily="18" charset="0"/>
                    <a:cs typeface="Times New Roman" panose="02020603050405020304" pitchFamily="18" charset="0"/>
                  </a:rPr>
                  <a:t>2</a:t>
                </a:r>
              </a:p>
            </p:txBody>
          </p:sp>
          <p:sp>
            <p:nvSpPr>
              <p:cNvPr id="134" name="TextBox 133"/>
              <p:cNvSpPr txBox="1"/>
              <p:nvPr/>
            </p:nvSpPr>
            <p:spPr>
              <a:xfrm>
                <a:off x="5610046" y="3965434"/>
                <a:ext cx="381836" cy="276999"/>
              </a:xfrm>
              <a:prstGeom prst="rect">
                <a:avLst/>
              </a:prstGeom>
              <a:noFill/>
            </p:spPr>
            <p:txBody>
              <a:bodyPr wrap="none" rtlCol="0">
                <a:spAutoFit/>
              </a:bodyPr>
              <a:lstStyle/>
              <a:p>
                <a:r>
                  <a:rPr lang="en-US" sz="1200" dirty="0">
                    <a:latin typeface="Georgia" panose="02040502050405020303" pitchFamily="18" charset="0"/>
                    <a:cs typeface="Times New Roman" panose="02020603050405020304" pitchFamily="18" charset="0"/>
                  </a:rPr>
                  <a:t>M</a:t>
                </a:r>
                <a:r>
                  <a:rPr lang="en-US" sz="1200" baseline="-25000" dirty="0">
                    <a:latin typeface="Georgia" panose="02040502050405020303" pitchFamily="18" charset="0"/>
                    <a:cs typeface="Times New Roman" panose="02020603050405020304" pitchFamily="18" charset="0"/>
                  </a:rPr>
                  <a:t>5</a:t>
                </a:r>
              </a:p>
            </p:txBody>
          </p:sp>
          <p:sp>
            <p:nvSpPr>
              <p:cNvPr id="135" name="TextBox 134"/>
              <p:cNvSpPr txBox="1"/>
              <p:nvPr/>
            </p:nvSpPr>
            <p:spPr>
              <a:xfrm>
                <a:off x="5632907" y="4181789"/>
                <a:ext cx="385042" cy="276999"/>
              </a:xfrm>
              <a:prstGeom prst="rect">
                <a:avLst/>
              </a:prstGeom>
              <a:noFill/>
            </p:spPr>
            <p:txBody>
              <a:bodyPr wrap="none" rtlCol="0">
                <a:spAutoFit/>
              </a:bodyPr>
              <a:lstStyle/>
              <a:p>
                <a:r>
                  <a:rPr lang="en-US" sz="1200" dirty="0">
                    <a:latin typeface="Georgia" panose="02040502050405020303" pitchFamily="18" charset="0"/>
                    <a:cs typeface="Times New Roman" panose="02020603050405020304" pitchFamily="18" charset="0"/>
                  </a:rPr>
                  <a:t>M</a:t>
                </a:r>
                <a:r>
                  <a:rPr lang="en-US" sz="1200" baseline="-25000" dirty="0">
                    <a:latin typeface="Georgia" panose="02040502050405020303" pitchFamily="18" charset="0"/>
                    <a:cs typeface="Times New Roman" panose="02020603050405020304" pitchFamily="18" charset="0"/>
                  </a:rPr>
                  <a:t>4</a:t>
                </a:r>
              </a:p>
            </p:txBody>
          </p:sp>
          <p:sp>
            <p:nvSpPr>
              <p:cNvPr id="136" name="TextBox 135"/>
              <p:cNvSpPr txBox="1"/>
              <p:nvPr/>
            </p:nvSpPr>
            <p:spPr>
              <a:xfrm>
                <a:off x="5641514" y="4344646"/>
                <a:ext cx="346570" cy="276999"/>
              </a:xfrm>
              <a:prstGeom prst="rect">
                <a:avLst/>
              </a:prstGeom>
              <a:noFill/>
            </p:spPr>
            <p:txBody>
              <a:bodyPr wrap="none" rtlCol="0">
                <a:spAutoFit/>
              </a:bodyPr>
              <a:lstStyle/>
              <a:p>
                <a:r>
                  <a:rPr lang="en-US" sz="1200" dirty="0">
                    <a:latin typeface="Georgia" panose="02040502050405020303" pitchFamily="18" charset="0"/>
                    <a:cs typeface="Times New Roman" panose="02020603050405020304" pitchFamily="18" charset="0"/>
                  </a:rPr>
                  <a:t>N</a:t>
                </a:r>
                <a:r>
                  <a:rPr lang="en-US" sz="1200" baseline="-25000" dirty="0">
                    <a:latin typeface="Georgia" panose="02040502050405020303" pitchFamily="18" charset="0"/>
                    <a:cs typeface="Times New Roman" panose="02020603050405020304" pitchFamily="18" charset="0"/>
                  </a:rPr>
                  <a:t>1</a:t>
                </a:r>
              </a:p>
            </p:txBody>
          </p:sp>
          <p:sp>
            <p:nvSpPr>
              <p:cNvPr id="137" name="TextBox 136"/>
              <p:cNvSpPr txBox="1"/>
              <p:nvPr/>
            </p:nvSpPr>
            <p:spPr>
              <a:xfrm>
                <a:off x="5698450" y="5543131"/>
                <a:ext cx="330540" cy="276999"/>
              </a:xfrm>
              <a:prstGeom prst="rect">
                <a:avLst/>
              </a:prstGeom>
              <a:noFill/>
            </p:spPr>
            <p:txBody>
              <a:bodyPr wrap="none" rtlCol="0">
                <a:spAutoFit/>
              </a:bodyPr>
              <a:lstStyle/>
              <a:p>
                <a:r>
                  <a:rPr lang="en-US" sz="1200" dirty="0">
                    <a:latin typeface="Georgia" panose="02040502050405020303" pitchFamily="18" charset="0"/>
                    <a:cs typeface="Times New Roman" panose="02020603050405020304" pitchFamily="18" charset="0"/>
                  </a:rPr>
                  <a:t>L</a:t>
                </a:r>
                <a:r>
                  <a:rPr lang="en-US" sz="1200" baseline="-25000" dirty="0">
                    <a:latin typeface="Georgia" panose="02040502050405020303" pitchFamily="18" charset="0"/>
                    <a:cs typeface="Times New Roman" panose="02020603050405020304" pitchFamily="18" charset="0"/>
                  </a:rPr>
                  <a:t>1</a:t>
                </a:r>
              </a:p>
            </p:txBody>
          </p:sp>
          <p:sp>
            <p:nvSpPr>
              <p:cNvPr id="138" name="TextBox 137"/>
              <p:cNvSpPr txBox="1"/>
              <p:nvPr/>
            </p:nvSpPr>
            <p:spPr>
              <a:xfrm>
                <a:off x="5650044" y="4816679"/>
                <a:ext cx="372218" cy="276999"/>
              </a:xfrm>
              <a:prstGeom prst="rect">
                <a:avLst/>
              </a:prstGeom>
              <a:noFill/>
            </p:spPr>
            <p:txBody>
              <a:bodyPr wrap="none" rtlCol="0">
                <a:spAutoFit/>
              </a:bodyPr>
              <a:lstStyle/>
              <a:p>
                <a:r>
                  <a:rPr lang="en-US" sz="1200" dirty="0">
                    <a:latin typeface="Georgia" panose="02040502050405020303" pitchFamily="18" charset="0"/>
                    <a:cs typeface="Times New Roman" panose="02020603050405020304" pitchFamily="18" charset="0"/>
                  </a:rPr>
                  <a:t>M</a:t>
                </a:r>
                <a:r>
                  <a:rPr lang="en-US" sz="1200" baseline="-25000" dirty="0">
                    <a:latin typeface="Georgia" panose="02040502050405020303" pitchFamily="18" charset="0"/>
                    <a:cs typeface="Times New Roman" panose="02020603050405020304" pitchFamily="18" charset="0"/>
                  </a:rPr>
                  <a:t>1</a:t>
                </a:r>
              </a:p>
            </p:txBody>
          </p:sp>
          <p:sp>
            <p:nvSpPr>
              <p:cNvPr id="139" name="TextBox 138"/>
              <p:cNvSpPr txBox="1"/>
              <p:nvPr/>
            </p:nvSpPr>
            <p:spPr>
              <a:xfrm>
                <a:off x="5689599" y="5980441"/>
                <a:ext cx="295274" cy="276999"/>
              </a:xfrm>
              <a:prstGeom prst="rect">
                <a:avLst/>
              </a:prstGeom>
              <a:noFill/>
            </p:spPr>
            <p:txBody>
              <a:bodyPr wrap="none" rtlCol="0">
                <a:spAutoFit/>
              </a:bodyPr>
              <a:lstStyle/>
              <a:p>
                <a:r>
                  <a:rPr lang="en-US" sz="1200" dirty="0">
                    <a:latin typeface="Georgia" panose="02040502050405020303" pitchFamily="18" charset="0"/>
                    <a:cs typeface="Times New Roman" panose="02020603050405020304" pitchFamily="18" charset="0"/>
                  </a:rPr>
                  <a:t>K</a:t>
                </a:r>
                <a:endParaRPr lang="en-US" sz="1200" baseline="-25000" dirty="0">
                  <a:latin typeface="Georgia" panose="02040502050405020303" pitchFamily="18" charset="0"/>
                  <a:cs typeface="Times New Roman" panose="02020603050405020304" pitchFamily="18" charset="0"/>
                </a:endParaRPr>
              </a:p>
            </p:txBody>
          </p:sp>
        </p:grpSp>
      </p:grpSp>
      <p:sp>
        <p:nvSpPr>
          <p:cNvPr id="3" name="Slide Number Placeholder 2">
            <a:extLst>
              <a:ext uri="{FF2B5EF4-FFF2-40B4-BE49-F238E27FC236}">
                <a16:creationId xmlns:a16="http://schemas.microsoft.com/office/drawing/2014/main" id="{94E58746-17E2-4C90-8A22-CA5F21CE663E}"/>
              </a:ext>
            </a:extLst>
          </p:cNvPr>
          <p:cNvSpPr>
            <a:spLocks noGrp="1"/>
          </p:cNvSpPr>
          <p:nvPr>
            <p:ph type="sldNum" sz="quarter" idx="11"/>
          </p:nvPr>
        </p:nvSpPr>
        <p:spPr>
          <a:xfrm>
            <a:off x="6893082" y="6299732"/>
            <a:ext cx="2133600" cy="457200"/>
          </a:xfrm>
        </p:spPr>
        <p:txBody>
          <a:bodyPr/>
          <a:lstStyle/>
          <a:p>
            <a:pPr>
              <a:defRPr/>
            </a:pPr>
            <a:fld id="{EBF73BDF-690D-4725-BA10-A7934ED52EAB}" type="slidenum">
              <a:rPr lang="zh-TW" altLang="en-US" smtClean="0"/>
              <a:pPr>
                <a:defRPr/>
              </a:pPr>
              <a:t>49</a:t>
            </a:fld>
            <a:endParaRPr lang="en-US" altLang="zh-TW" dirty="0"/>
          </a:p>
        </p:txBody>
      </p:sp>
      <p:pic>
        <p:nvPicPr>
          <p:cNvPr id="9" name="Picture 8">
            <a:extLst>
              <a:ext uri="{FF2B5EF4-FFF2-40B4-BE49-F238E27FC236}">
                <a16:creationId xmlns:a16="http://schemas.microsoft.com/office/drawing/2014/main" id="{995757BF-DA76-19AA-CDD9-1BAF0A237C8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4446" y="3700487"/>
            <a:ext cx="2860659" cy="2453728"/>
          </a:xfrm>
          <a:prstGeom prst="rect">
            <a:avLst/>
          </a:prstGeom>
          <a:noFill/>
          <a:extLst>
            <a:ext uri="{909E8E84-426E-40DD-AFC4-6F175D3DCCD1}">
              <a14:hiddenFill xmlns:a14="http://schemas.microsoft.com/office/drawing/2010/main">
                <a:solidFill>
                  <a:srgbClr val="FFFFFF"/>
                </a:solidFill>
              </a14:hiddenFill>
            </a:ext>
          </a:extLst>
        </p:spPr>
      </p:pic>
      <p:sp>
        <p:nvSpPr>
          <p:cNvPr id="19" name="Rectangle 18">
            <a:extLst>
              <a:ext uri="{FF2B5EF4-FFF2-40B4-BE49-F238E27FC236}">
                <a16:creationId xmlns:a16="http://schemas.microsoft.com/office/drawing/2014/main" id="{7BBDB511-378A-42F6-9377-CB1E7260AB3D}"/>
              </a:ext>
            </a:extLst>
          </p:cNvPr>
          <p:cNvSpPr/>
          <p:nvPr/>
        </p:nvSpPr>
        <p:spPr bwMode="auto">
          <a:xfrm>
            <a:off x="228600" y="4778535"/>
            <a:ext cx="8839200" cy="449588"/>
          </a:xfrm>
          <a:prstGeom prst="rect">
            <a:avLst/>
          </a:prstGeom>
          <a:solidFill>
            <a:schemeClr val="accent1">
              <a:alpha val="4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1800" b="0" i="0" u="none" strike="noStrike" cap="none" normalizeH="0" baseline="0">
              <a:ln>
                <a:noFill/>
              </a:ln>
              <a:solidFill>
                <a:schemeClr val="tx1"/>
              </a:solidFill>
              <a:effectLst/>
              <a:latin typeface="Arial" charset="0"/>
            </a:endParaRPr>
          </a:p>
        </p:txBody>
      </p:sp>
    </p:spTree>
    <p:extLst>
      <p:ext uri="{BB962C8B-B14F-4D97-AF65-F5344CB8AC3E}">
        <p14:creationId xmlns:p14="http://schemas.microsoft.com/office/powerpoint/2010/main" val="22676621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A2F7A3-7516-E20E-61CD-559A5B651E22}"/>
              </a:ext>
            </a:extLst>
          </p:cNvPr>
          <p:cNvSpPr>
            <a:spLocks noGrp="1"/>
          </p:cNvSpPr>
          <p:nvPr>
            <p:ph type="sldNum" sz="quarter" idx="11"/>
          </p:nvPr>
        </p:nvSpPr>
        <p:spPr>
          <a:xfrm>
            <a:off x="6910010" y="6293220"/>
            <a:ext cx="2133600" cy="457200"/>
          </a:xfrm>
        </p:spPr>
        <p:txBody>
          <a:bodyPr/>
          <a:lstStyle/>
          <a:p>
            <a:pPr>
              <a:defRPr/>
            </a:pPr>
            <a:fld id="{EBF73BDF-690D-4725-BA10-A7934ED52EAB}" type="slidenum">
              <a:rPr lang="zh-TW" altLang="en-US" smtClean="0"/>
              <a:pPr>
                <a:defRPr/>
              </a:pPr>
              <a:t>50</a:t>
            </a:fld>
            <a:endParaRPr lang="en-US" altLang="zh-TW" dirty="0"/>
          </a:p>
        </p:txBody>
      </p:sp>
      <p:pic>
        <p:nvPicPr>
          <p:cNvPr id="3" name="Picture 2">
            <a:extLst>
              <a:ext uri="{FF2B5EF4-FFF2-40B4-BE49-F238E27FC236}">
                <a16:creationId xmlns:a16="http://schemas.microsoft.com/office/drawing/2014/main" id="{FFD153E5-C443-6079-4589-9D517F3CC172}"/>
              </a:ext>
            </a:extLst>
          </p:cNvPr>
          <p:cNvPicPr>
            <a:picLocks noChangeAspect="1"/>
          </p:cNvPicPr>
          <p:nvPr/>
        </p:nvPicPr>
        <p:blipFill>
          <a:blip r:embed="rId2"/>
          <a:stretch>
            <a:fillRect/>
          </a:stretch>
        </p:blipFill>
        <p:spPr>
          <a:xfrm>
            <a:off x="152400" y="1828800"/>
            <a:ext cx="4728454" cy="4792179"/>
          </a:xfrm>
          <a:prstGeom prst="rect">
            <a:avLst/>
          </a:prstGeom>
        </p:spPr>
      </p:pic>
      <mc:AlternateContent xmlns:mc="http://schemas.openxmlformats.org/markup-compatibility/2006" xmlns:a14="http://schemas.microsoft.com/office/drawing/2010/main">
        <mc:Choice Requires="a14">
          <p:sp>
            <p:nvSpPr>
              <p:cNvPr id="6" name="Object 7">
                <a:extLst>
                  <a:ext uri="{FF2B5EF4-FFF2-40B4-BE49-F238E27FC236}">
                    <a16:creationId xmlns:a16="http://schemas.microsoft.com/office/drawing/2014/main" id="{5C6C71CF-2DE6-E689-4DE1-285F7BE05465}"/>
                  </a:ext>
                </a:extLst>
              </p:cNvPr>
              <p:cNvSpPr txBox="1"/>
              <p:nvPr/>
            </p:nvSpPr>
            <p:spPr bwMode="auto">
              <a:xfrm>
                <a:off x="914400" y="1257707"/>
                <a:ext cx="3581400" cy="838200"/>
              </a:xfrm>
              <a:prstGeom prst="rect">
                <a:avLst/>
              </a:prstGeom>
              <a:noFill/>
            </p:spPr>
            <p:txBody>
              <a:bodyPr>
                <a:normAutofit/>
              </a:bodyPr>
              <a:lstStyle/>
              <a:p>
                <a:pPr/>
                <a14:m>
                  <m:oMathPara xmlns:m="http://schemas.openxmlformats.org/officeDocument/2006/math">
                    <m:oMathParaPr>
                      <m:jc m:val="left"/>
                    </m:oMathParaPr>
                    <m:oMath>
                      <m:sSub>
                        <m:sSubPr>
                          <m:ctrlPr>
                            <a:rPr lang="en-HK" sz="2800" b="1" i="1">
                              <a:solidFill>
                                <a:srgbClr val="000000"/>
                              </a:solidFill>
                              <a:latin typeface="Cambria Math" panose="02040503050406030204" pitchFamily="18" charset="0"/>
                            </a:rPr>
                          </m:ctrlPr>
                        </m:sSubPr>
                        <m:e>
                          <m:r>
                            <a:rPr lang="en-HK" sz="2800" b="1" i="1">
                              <a:solidFill>
                                <a:srgbClr val="000000"/>
                              </a:solidFill>
                              <a:latin typeface="Cambria Math" panose="02040503050406030204" pitchFamily="18" charset="0"/>
                            </a:rPr>
                            <m:t>𝑬</m:t>
                          </m:r>
                        </m:e>
                        <m:sub>
                          <m:r>
                            <a:rPr lang="en-HK" sz="2800" b="1" i="1" smtClean="0">
                              <a:solidFill>
                                <a:srgbClr val="000000"/>
                              </a:solidFill>
                              <a:latin typeface="Cambria Math" panose="02040503050406030204" pitchFamily="18" charset="0"/>
                            </a:rPr>
                            <m:t>𝑩</m:t>
                          </m:r>
                        </m:sub>
                      </m:sSub>
                      <m:r>
                        <a:rPr lang="en-HK" sz="2800" b="1" i="1">
                          <a:solidFill>
                            <a:srgbClr val="000000"/>
                          </a:solidFill>
                          <a:latin typeface="Cambria Math" panose="02040503050406030204" pitchFamily="18" charset="0"/>
                        </a:rPr>
                        <m:t>=</m:t>
                      </m:r>
                      <m:r>
                        <a:rPr lang="en-HK" sz="2800" b="1" i="1">
                          <a:solidFill>
                            <a:srgbClr val="000000"/>
                          </a:solidFill>
                          <a:latin typeface="Cambria Math" panose="02040503050406030204" pitchFamily="18" charset="0"/>
                        </a:rPr>
                        <m:t>𝒉</m:t>
                      </m:r>
                      <m:r>
                        <a:rPr lang="en-HK" sz="2800" b="1" i="1">
                          <a:solidFill>
                            <a:srgbClr val="000000"/>
                          </a:solidFill>
                          <a:latin typeface="Cambria Math" panose="02040503050406030204" pitchFamily="18" charset="0"/>
                        </a:rPr>
                        <m:t>𝝊</m:t>
                      </m:r>
                      <m:r>
                        <a:rPr lang="en-HK" sz="2800" b="1" i="1">
                          <a:solidFill>
                            <a:srgbClr val="000000"/>
                          </a:solidFill>
                          <a:latin typeface="Cambria Math" panose="02040503050406030204" pitchFamily="18" charset="0"/>
                        </a:rPr>
                        <m:t>−</m:t>
                      </m:r>
                      <m:sSub>
                        <m:sSubPr>
                          <m:ctrlPr>
                            <a:rPr lang="en-HK" sz="2800" b="1" i="1">
                              <a:solidFill>
                                <a:srgbClr val="000000"/>
                              </a:solidFill>
                              <a:latin typeface="Cambria Math" panose="02040503050406030204" pitchFamily="18" charset="0"/>
                            </a:rPr>
                          </m:ctrlPr>
                        </m:sSubPr>
                        <m:e>
                          <m:r>
                            <a:rPr lang="en-HK" sz="2800" b="1" i="1">
                              <a:solidFill>
                                <a:srgbClr val="000000"/>
                              </a:solidFill>
                              <a:latin typeface="Cambria Math" panose="02040503050406030204" pitchFamily="18" charset="0"/>
                            </a:rPr>
                            <m:t>𝑬</m:t>
                          </m:r>
                        </m:e>
                        <m:sub>
                          <m:r>
                            <a:rPr lang="en-HK" sz="2800" b="1" i="1" smtClean="0">
                              <a:solidFill>
                                <a:srgbClr val="000000"/>
                              </a:solidFill>
                              <a:latin typeface="Cambria Math" panose="02040503050406030204" pitchFamily="18" charset="0"/>
                            </a:rPr>
                            <m:t>𝑲</m:t>
                          </m:r>
                        </m:sub>
                      </m:sSub>
                      <m:r>
                        <a:rPr lang="en-HK" sz="2800" b="1" i="1">
                          <a:solidFill>
                            <a:srgbClr val="000000"/>
                          </a:solidFill>
                          <a:latin typeface="Cambria Math" panose="02040503050406030204" pitchFamily="18" charset="0"/>
                        </a:rPr>
                        <m:t>−</m:t>
                      </m:r>
                      <m:r>
                        <a:rPr lang="en-HK" sz="2800" b="1" i="1">
                          <a:solidFill>
                            <a:srgbClr val="000000"/>
                          </a:solidFill>
                          <a:latin typeface="Cambria Math" panose="02040503050406030204" pitchFamily="18" charset="0"/>
                        </a:rPr>
                        <m:t>𝝋</m:t>
                      </m:r>
                    </m:oMath>
                  </m:oMathPara>
                </a14:m>
                <a:endParaRPr lang="en-HK" sz="2800" b="1" dirty="0"/>
              </a:p>
            </p:txBody>
          </p:sp>
        </mc:Choice>
        <mc:Fallback xmlns="">
          <p:sp>
            <p:nvSpPr>
              <p:cNvPr id="6" name="Object 7">
                <a:extLst>
                  <a:ext uri="{FF2B5EF4-FFF2-40B4-BE49-F238E27FC236}">
                    <a16:creationId xmlns:a16="http://schemas.microsoft.com/office/drawing/2014/main" id="{5C6C71CF-2DE6-E689-4DE1-285F7BE05465}"/>
                  </a:ext>
                </a:extLst>
              </p:cNvPr>
              <p:cNvSpPr txBox="1">
                <a:spLocks noRot="1" noChangeAspect="1" noMove="1" noResize="1" noEditPoints="1" noAdjustHandles="1" noChangeArrowheads="1" noChangeShapeType="1" noTextEdit="1"/>
              </p:cNvSpPr>
              <p:nvPr/>
            </p:nvSpPr>
            <p:spPr bwMode="auto">
              <a:xfrm>
                <a:off x="914400" y="1257707"/>
                <a:ext cx="3581400" cy="838200"/>
              </a:xfrm>
              <a:prstGeom prst="rect">
                <a:avLst/>
              </a:prstGeom>
              <a:blipFill>
                <a:blip r:embed="rId3"/>
                <a:stretch>
                  <a:fillRect/>
                </a:stretch>
              </a:blipFill>
            </p:spPr>
            <p:txBody>
              <a:bodyPr/>
              <a:lstStyle/>
              <a:p>
                <a:r>
                  <a:rPr lang="en-HK">
                    <a:noFill/>
                  </a:rPr>
                  <a:t> </a:t>
                </a:r>
              </a:p>
            </p:txBody>
          </p:sp>
        </mc:Fallback>
      </mc:AlternateContent>
      <mc:AlternateContent xmlns:mc="http://schemas.openxmlformats.org/markup-compatibility/2006" xmlns:a14="http://schemas.microsoft.com/office/drawing/2010/main">
        <mc:Choice Requires="a14">
          <p:sp>
            <p:nvSpPr>
              <p:cNvPr id="9" name="Object 7">
                <a:extLst>
                  <a:ext uri="{FF2B5EF4-FFF2-40B4-BE49-F238E27FC236}">
                    <a16:creationId xmlns:a16="http://schemas.microsoft.com/office/drawing/2014/main" id="{928B4158-DC69-B43D-9AC7-07525C5CAF6A}"/>
                  </a:ext>
                </a:extLst>
              </p:cNvPr>
              <p:cNvSpPr txBox="1"/>
              <p:nvPr/>
            </p:nvSpPr>
            <p:spPr bwMode="auto">
              <a:xfrm>
                <a:off x="4541762" y="2140753"/>
                <a:ext cx="3048000" cy="533400"/>
              </a:xfrm>
              <a:prstGeom prst="rect">
                <a:avLst/>
              </a:prstGeom>
              <a:solidFill>
                <a:schemeClr val="bg2">
                  <a:lumMod val="20000"/>
                  <a:lumOff val="80000"/>
                </a:schemeClr>
              </a:solidFill>
            </p:spPr>
            <p:txBody>
              <a:bodyPr>
                <a:normAutofit fontScale="92500"/>
              </a:bodyPr>
              <a:lstStyle/>
              <a:p>
                <a:pPr/>
                <a14:m>
                  <m:oMathPara xmlns:m="http://schemas.openxmlformats.org/officeDocument/2006/math">
                    <m:oMathParaPr>
                      <m:jc m:val="left"/>
                    </m:oMathParaPr>
                    <m:oMath>
                      <m:sSub>
                        <m:sSubPr>
                          <m:ctrlPr>
                            <a:rPr lang="en-HK" sz="2400" i="1">
                              <a:solidFill>
                                <a:srgbClr val="000000"/>
                              </a:solidFill>
                              <a:latin typeface="Cambria Math" panose="02040503050406030204" pitchFamily="18" charset="0"/>
                            </a:rPr>
                          </m:ctrlPr>
                        </m:sSubPr>
                        <m:e>
                          <m:r>
                            <a:rPr lang="en-HK" sz="2400" i="1">
                              <a:solidFill>
                                <a:srgbClr val="000000"/>
                              </a:solidFill>
                              <a:latin typeface="Cambria Math" panose="02040503050406030204" pitchFamily="18" charset="0"/>
                            </a:rPr>
                            <m:t>𝐸</m:t>
                          </m:r>
                        </m:e>
                        <m:sub>
                          <m:r>
                            <a:rPr lang="en-HK" sz="2400" b="0" i="1" smtClean="0">
                              <a:solidFill>
                                <a:srgbClr val="000000"/>
                              </a:solidFill>
                              <a:latin typeface="Cambria Math" panose="02040503050406030204" pitchFamily="18" charset="0"/>
                            </a:rPr>
                            <m:t>𝐾</m:t>
                          </m:r>
                        </m:sub>
                      </m:sSub>
                      <m:r>
                        <a:rPr lang="en-HK" sz="2400" b="0" i="0" smtClean="0">
                          <a:solidFill>
                            <a:srgbClr val="000000"/>
                          </a:solidFill>
                          <a:latin typeface="Cambria Math" panose="02040503050406030204" pitchFamily="18" charset="0"/>
                        </a:rPr>
                        <m:t> </m:t>
                      </m:r>
                      <m:r>
                        <m:rPr>
                          <m:sty m:val="p"/>
                        </m:rPr>
                        <a:rPr lang="en-HK" sz="2400" b="0" i="0" smtClean="0">
                          <a:solidFill>
                            <a:srgbClr val="000000"/>
                          </a:solidFill>
                          <a:latin typeface="Cambria Math" panose="02040503050406030204" pitchFamily="18" charset="0"/>
                        </a:rPr>
                        <m:t>of</m:t>
                      </m:r>
                      <m:r>
                        <a:rPr lang="en-HK" sz="2400" b="0" i="0" smtClean="0">
                          <a:solidFill>
                            <a:srgbClr val="000000"/>
                          </a:solidFill>
                          <a:latin typeface="Cambria Math" panose="02040503050406030204" pitchFamily="18" charset="0"/>
                        </a:rPr>
                        <m:t> </m:t>
                      </m:r>
                      <m:r>
                        <m:rPr>
                          <m:sty m:val="p"/>
                        </m:rPr>
                        <a:rPr lang="en-HK" sz="2400" b="0" i="0" smtClean="0">
                          <a:solidFill>
                            <a:srgbClr val="000000"/>
                          </a:solidFill>
                          <a:latin typeface="Cambria Math" panose="02040503050406030204" pitchFamily="18" charset="0"/>
                        </a:rPr>
                        <m:t>the</m:t>
                      </m:r>
                      <m:r>
                        <a:rPr lang="en-HK" sz="2400" b="0" i="0" smtClean="0">
                          <a:solidFill>
                            <a:srgbClr val="000000"/>
                          </a:solidFill>
                          <a:latin typeface="Cambria Math" panose="02040503050406030204" pitchFamily="18" charset="0"/>
                        </a:rPr>
                        <m:t> </m:t>
                      </m:r>
                      <m:r>
                        <m:rPr>
                          <m:sty m:val="p"/>
                        </m:rPr>
                        <a:rPr lang="en-HK" sz="2400" b="0" i="0" smtClean="0">
                          <a:solidFill>
                            <a:srgbClr val="000000"/>
                          </a:solidFill>
                          <a:latin typeface="Cambria Math" panose="02040503050406030204" pitchFamily="18" charset="0"/>
                        </a:rPr>
                        <m:t>photoelectron</m:t>
                      </m:r>
                    </m:oMath>
                  </m:oMathPara>
                </a14:m>
                <a:endParaRPr lang="en-HK" sz="2400" dirty="0"/>
              </a:p>
            </p:txBody>
          </p:sp>
        </mc:Choice>
        <mc:Fallback xmlns="">
          <p:sp>
            <p:nvSpPr>
              <p:cNvPr id="9" name="Object 7">
                <a:extLst>
                  <a:ext uri="{FF2B5EF4-FFF2-40B4-BE49-F238E27FC236}">
                    <a16:creationId xmlns:a16="http://schemas.microsoft.com/office/drawing/2014/main" id="{928B4158-DC69-B43D-9AC7-07525C5CAF6A}"/>
                  </a:ext>
                </a:extLst>
              </p:cNvPr>
              <p:cNvSpPr txBox="1">
                <a:spLocks noRot="1" noChangeAspect="1" noMove="1" noResize="1" noEditPoints="1" noAdjustHandles="1" noChangeArrowheads="1" noChangeShapeType="1" noTextEdit="1"/>
              </p:cNvSpPr>
              <p:nvPr/>
            </p:nvSpPr>
            <p:spPr bwMode="auto">
              <a:xfrm>
                <a:off x="4541762" y="2140753"/>
                <a:ext cx="3048000" cy="533400"/>
              </a:xfrm>
              <a:prstGeom prst="rect">
                <a:avLst/>
              </a:prstGeom>
              <a:blipFill>
                <a:blip r:embed="rId4"/>
                <a:stretch>
                  <a:fillRect l="-200"/>
                </a:stretch>
              </a:blipFill>
            </p:spPr>
            <p:txBody>
              <a:bodyPr/>
              <a:lstStyle/>
              <a:p>
                <a:r>
                  <a:rPr lang="en-HK">
                    <a:noFill/>
                  </a:rPr>
                  <a:t> </a:t>
                </a:r>
              </a:p>
            </p:txBody>
          </p:sp>
        </mc:Fallback>
      </mc:AlternateContent>
      <mc:AlternateContent xmlns:mc="http://schemas.openxmlformats.org/markup-compatibility/2006" xmlns:a14="http://schemas.microsoft.com/office/drawing/2010/main">
        <mc:Choice Requires="a14">
          <p:sp>
            <p:nvSpPr>
              <p:cNvPr id="10" name="Text Box 5">
                <a:extLst>
                  <a:ext uri="{FF2B5EF4-FFF2-40B4-BE49-F238E27FC236}">
                    <a16:creationId xmlns:a16="http://schemas.microsoft.com/office/drawing/2014/main" id="{E75984B3-C82B-0765-0AF0-5E087F981508}"/>
                  </a:ext>
                </a:extLst>
              </p:cNvPr>
              <p:cNvSpPr txBox="1">
                <a:spLocks noChangeArrowheads="1"/>
              </p:cNvSpPr>
              <p:nvPr/>
            </p:nvSpPr>
            <p:spPr bwMode="auto">
              <a:xfrm>
                <a:off x="5257800" y="3115779"/>
                <a:ext cx="3352800" cy="2339102"/>
              </a:xfrm>
              <a:prstGeom prst="rect">
                <a:avLst/>
              </a:prstGeom>
              <a:noFill/>
              <a:ln w="9525">
                <a:noFill/>
                <a:miter lim="800000"/>
                <a:headEnd/>
                <a:tailEnd/>
              </a:ln>
            </p:spPr>
            <p:txBody>
              <a:bodyPr wrap="square">
                <a:spAutoFit/>
              </a:bodyPr>
              <a:lstStyle/>
              <a:p>
                <a:pPr algn="just" eaLnBrk="1" hangingPunct="1">
                  <a:spcAft>
                    <a:spcPts val="600"/>
                  </a:spcAft>
                </a:pPr>
                <a:r>
                  <a:rPr lang="en-US" altLang="zh-CN" dirty="0">
                    <a:latin typeface="Georgia" panose="02040502050405020303" pitchFamily="18" charset="0"/>
                    <a:ea typeface="新細明體" pitchFamily="18" charset="-120"/>
                  </a:rPr>
                  <a:t>How accurate is the </a:t>
                </a:r>
                <a14:m>
                  <m:oMath xmlns:m="http://schemas.openxmlformats.org/officeDocument/2006/math">
                    <m:sSub>
                      <m:sSubPr>
                        <m:ctrlPr>
                          <a:rPr lang="en-HK" i="1">
                            <a:solidFill>
                              <a:srgbClr val="000000"/>
                            </a:solidFill>
                            <a:latin typeface="Cambria Math" panose="02040503050406030204" pitchFamily="18" charset="0"/>
                          </a:rPr>
                        </m:ctrlPr>
                      </m:sSubPr>
                      <m:e>
                        <m:r>
                          <a:rPr lang="en-HK" i="1">
                            <a:solidFill>
                              <a:srgbClr val="000000"/>
                            </a:solidFill>
                            <a:latin typeface="Cambria Math" panose="02040503050406030204" pitchFamily="18" charset="0"/>
                          </a:rPr>
                          <m:t>𝐸</m:t>
                        </m:r>
                      </m:e>
                      <m:sub>
                        <m:r>
                          <a:rPr lang="en-HK" b="0" i="1" smtClean="0">
                            <a:solidFill>
                              <a:srgbClr val="000000"/>
                            </a:solidFill>
                            <a:latin typeface="Cambria Math" panose="02040503050406030204" pitchFamily="18" charset="0"/>
                          </a:rPr>
                          <m:t>𝐵</m:t>
                        </m:r>
                      </m:sub>
                    </m:sSub>
                    <m:r>
                      <a:rPr lang="en-HK">
                        <a:solidFill>
                          <a:srgbClr val="000000"/>
                        </a:solidFill>
                        <a:latin typeface="Cambria Math" panose="02040503050406030204" pitchFamily="18" charset="0"/>
                      </a:rPr>
                      <m:t> </m:t>
                    </m:r>
                  </m:oMath>
                </a14:m>
                <a:endParaRPr lang="en-US" altLang="zh-CN" dirty="0">
                  <a:latin typeface="Georgia" panose="02040502050405020303" pitchFamily="18" charset="0"/>
                  <a:ea typeface="新細明體" pitchFamily="18" charset="-120"/>
                </a:endParaRPr>
              </a:p>
              <a:p>
                <a:pPr marL="285750" indent="-285750" algn="just" eaLnBrk="1" hangingPunct="1">
                  <a:spcAft>
                    <a:spcPts val="600"/>
                  </a:spcAft>
                  <a:buFont typeface="Arial" panose="020B0604020202020204" pitchFamily="34" charset="0"/>
                  <a:buChar char="•"/>
                </a:pPr>
                <a14:m>
                  <m:oMath xmlns:m="http://schemas.openxmlformats.org/officeDocument/2006/math">
                    <m:sSub>
                      <m:sSubPr>
                        <m:ctrlPr>
                          <a:rPr lang="en-HK" i="1">
                            <a:solidFill>
                              <a:srgbClr val="000000"/>
                            </a:solidFill>
                            <a:latin typeface="Cambria Math" panose="02040503050406030204" pitchFamily="18" charset="0"/>
                          </a:rPr>
                        </m:ctrlPr>
                      </m:sSubPr>
                      <m:e>
                        <m:r>
                          <a:rPr lang="en-HK" i="1">
                            <a:solidFill>
                              <a:srgbClr val="000000"/>
                            </a:solidFill>
                            <a:latin typeface="Cambria Math" panose="02040503050406030204" pitchFamily="18" charset="0"/>
                          </a:rPr>
                          <m:t>𝐸</m:t>
                        </m:r>
                      </m:e>
                      <m:sub>
                        <m:r>
                          <a:rPr lang="en-HK" i="1">
                            <a:solidFill>
                              <a:srgbClr val="000000"/>
                            </a:solidFill>
                            <a:latin typeface="Cambria Math" panose="02040503050406030204" pitchFamily="18" charset="0"/>
                          </a:rPr>
                          <m:t>𝐵</m:t>
                        </m:r>
                      </m:sub>
                    </m:sSub>
                    <m:r>
                      <a:rPr lang="en-HK">
                        <a:solidFill>
                          <a:srgbClr val="000000"/>
                        </a:solidFill>
                        <a:latin typeface="Cambria Math" panose="02040503050406030204" pitchFamily="18" charset="0"/>
                      </a:rPr>
                      <m:t> </m:t>
                    </m:r>
                  </m:oMath>
                </a14:m>
                <a:r>
                  <a:rPr lang="en-US" altLang="zh-CN" dirty="0">
                    <a:latin typeface="Georgia" panose="02040502050405020303" pitchFamily="18" charset="0"/>
                    <a:ea typeface="新細明體" pitchFamily="18" charset="-120"/>
                  </a:rPr>
                  <a:t>of different elements may be close to each other</a:t>
                </a:r>
              </a:p>
              <a:p>
                <a:pPr marL="285750" indent="-285750" algn="just" eaLnBrk="1" hangingPunct="1">
                  <a:spcAft>
                    <a:spcPts val="600"/>
                  </a:spcAft>
                  <a:buFont typeface="Arial" panose="020B0604020202020204" pitchFamily="34" charset="0"/>
                  <a:buChar char="•"/>
                </a:pPr>
                <a:r>
                  <a:rPr lang="en-US" altLang="zh-CN" dirty="0">
                    <a:latin typeface="Georgia" panose="02040502050405020303" pitchFamily="18" charset="0"/>
                    <a:ea typeface="新細明體" pitchFamily="18" charset="-120"/>
                  </a:rPr>
                  <a:t>Issue of energy resolution</a:t>
                </a:r>
              </a:p>
              <a:p>
                <a:pPr algn="just" eaLnBrk="1" hangingPunct="1">
                  <a:spcAft>
                    <a:spcPts val="600"/>
                  </a:spcAft>
                </a:pPr>
                <a:endParaRPr lang="en-US" altLang="zh-CN" dirty="0">
                  <a:latin typeface="Georgia" panose="02040502050405020303" pitchFamily="18" charset="0"/>
                  <a:ea typeface="新細明體" pitchFamily="18" charset="-120"/>
                </a:endParaRPr>
              </a:p>
              <a:p>
                <a:pPr algn="just" eaLnBrk="1" hangingPunct="1">
                  <a:spcAft>
                    <a:spcPts val="600"/>
                  </a:spcAft>
                </a:pPr>
                <a:r>
                  <a:rPr lang="en-US" altLang="zh-CN" dirty="0">
                    <a:latin typeface="Georgia" panose="02040502050405020303" pitchFamily="18" charset="0"/>
                    <a:ea typeface="新細明體" pitchFamily="18" charset="-120"/>
                    <a:sym typeface="Wingdings" panose="05000000000000000000" pitchFamily="2" charset="2"/>
                  </a:rPr>
                  <a:t> </a:t>
                </a:r>
                <a:r>
                  <a:rPr lang="en-US" altLang="zh-CN" dirty="0">
                    <a:latin typeface="Georgia" panose="02040502050405020303" pitchFamily="18" charset="0"/>
                    <a:ea typeface="新細明體" pitchFamily="18" charset="-120"/>
                  </a:rPr>
                  <a:t>Possible problem with binding energy overlap</a:t>
                </a:r>
                <a:endParaRPr lang="en-US" altLang="zh-CN" dirty="0">
                  <a:latin typeface="Georgia" panose="02040502050405020303" pitchFamily="18" charset="0"/>
                  <a:ea typeface="SimSun" pitchFamily="2" charset="-122"/>
                </a:endParaRPr>
              </a:p>
            </p:txBody>
          </p:sp>
        </mc:Choice>
        <mc:Fallback xmlns="">
          <p:sp>
            <p:nvSpPr>
              <p:cNvPr id="10" name="Text Box 5">
                <a:extLst>
                  <a:ext uri="{FF2B5EF4-FFF2-40B4-BE49-F238E27FC236}">
                    <a16:creationId xmlns:a16="http://schemas.microsoft.com/office/drawing/2014/main" id="{E75984B3-C82B-0765-0AF0-5E087F981508}"/>
                  </a:ext>
                </a:extLst>
              </p:cNvPr>
              <p:cNvSpPr txBox="1">
                <a:spLocks noRot="1" noChangeAspect="1" noMove="1" noResize="1" noEditPoints="1" noAdjustHandles="1" noChangeArrowheads="1" noChangeShapeType="1" noTextEdit="1"/>
              </p:cNvSpPr>
              <p:nvPr/>
            </p:nvSpPr>
            <p:spPr bwMode="auto">
              <a:xfrm>
                <a:off x="5257800" y="3115779"/>
                <a:ext cx="3352800" cy="2339102"/>
              </a:xfrm>
              <a:prstGeom prst="rect">
                <a:avLst/>
              </a:prstGeom>
              <a:blipFill>
                <a:blip r:embed="rId5"/>
                <a:stretch>
                  <a:fillRect l="-1636" t="-1302" r="-1455" b="-3125"/>
                </a:stretch>
              </a:blipFill>
              <a:ln w="9525">
                <a:noFill/>
                <a:miter lim="800000"/>
                <a:headEnd/>
                <a:tailEnd/>
              </a:ln>
            </p:spPr>
            <p:txBody>
              <a:bodyPr/>
              <a:lstStyle/>
              <a:p>
                <a:r>
                  <a:rPr lang="en-HK">
                    <a:noFill/>
                  </a:rPr>
                  <a:t> </a:t>
                </a:r>
              </a:p>
            </p:txBody>
          </p:sp>
        </mc:Fallback>
      </mc:AlternateContent>
      <p:sp>
        <p:nvSpPr>
          <p:cNvPr id="4" name="TextBox 3">
            <a:extLst>
              <a:ext uri="{FF2B5EF4-FFF2-40B4-BE49-F238E27FC236}">
                <a16:creationId xmlns:a16="http://schemas.microsoft.com/office/drawing/2014/main" id="{0B5F8C23-30BD-B187-0F1A-6C49BB74FA83}"/>
              </a:ext>
            </a:extLst>
          </p:cNvPr>
          <p:cNvSpPr txBox="1"/>
          <p:nvPr/>
        </p:nvSpPr>
        <p:spPr>
          <a:xfrm>
            <a:off x="838200" y="213281"/>
            <a:ext cx="3568606" cy="461665"/>
          </a:xfrm>
          <a:prstGeom prst="rect">
            <a:avLst/>
          </a:prstGeom>
          <a:noFill/>
        </p:spPr>
        <p:txBody>
          <a:bodyPr wrap="none" rtlCol="0">
            <a:spAutoFit/>
          </a:bodyPr>
          <a:lstStyle/>
          <a:p>
            <a:r>
              <a:rPr lang="en-US" sz="2400" dirty="0">
                <a:solidFill>
                  <a:schemeClr val="bg1"/>
                </a:solidFill>
                <a:latin typeface="Georgia" panose="02040502050405020303" pitchFamily="18" charset="0"/>
              </a:rPr>
              <a:t>Finding out who is there </a:t>
            </a:r>
          </a:p>
        </p:txBody>
      </p:sp>
      <p:sp>
        <p:nvSpPr>
          <p:cNvPr id="5" name="TextBox 4">
            <a:extLst>
              <a:ext uri="{FF2B5EF4-FFF2-40B4-BE49-F238E27FC236}">
                <a16:creationId xmlns:a16="http://schemas.microsoft.com/office/drawing/2014/main" id="{2901EF3A-842F-B989-85F3-B13A3A549B54}"/>
              </a:ext>
            </a:extLst>
          </p:cNvPr>
          <p:cNvSpPr txBox="1"/>
          <p:nvPr/>
        </p:nvSpPr>
        <p:spPr>
          <a:xfrm>
            <a:off x="850295" y="627291"/>
            <a:ext cx="6647974" cy="400110"/>
          </a:xfrm>
          <a:prstGeom prst="rect">
            <a:avLst/>
          </a:prstGeom>
          <a:noFill/>
        </p:spPr>
        <p:txBody>
          <a:bodyPr wrap="none" rtlCol="0">
            <a:spAutoFit/>
          </a:bodyPr>
          <a:lstStyle/>
          <a:p>
            <a:r>
              <a:rPr lang="en-US" sz="2000" dirty="0">
                <a:solidFill>
                  <a:schemeClr val="bg2">
                    <a:lumMod val="60000"/>
                    <a:lumOff val="40000"/>
                  </a:schemeClr>
                </a:solidFill>
                <a:latin typeface="Georgia" panose="02040502050405020303" pitchFamily="18" charset="0"/>
              </a:rPr>
              <a:t>By matching the binding energy to the standard database</a:t>
            </a:r>
          </a:p>
        </p:txBody>
      </p:sp>
      <p:sp>
        <p:nvSpPr>
          <p:cNvPr id="8" name="TextBox 7">
            <a:extLst>
              <a:ext uri="{FF2B5EF4-FFF2-40B4-BE49-F238E27FC236}">
                <a16:creationId xmlns:a16="http://schemas.microsoft.com/office/drawing/2014/main" id="{FE63DCDE-4E84-97AE-4722-A9DBBF3C1D4D}"/>
              </a:ext>
            </a:extLst>
          </p:cNvPr>
          <p:cNvSpPr txBox="1"/>
          <p:nvPr/>
        </p:nvSpPr>
        <p:spPr>
          <a:xfrm>
            <a:off x="4045857" y="1383844"/>
            <a:ext cx="4572000" cy="400110"/>
          </a:xfrm>
          <a:prstGeom prst="rect">
            <a:avLst/>
          </a:prstGeom>
          <a:noFill/>
        </p:spPr>
        <p:txBody>
          <a:bodyPr wrap="square">
            <a:spAutoFit/>
          </a:bodyPr>
          <a:lstStyle/>
          <a:p>
            <a:pPr algn="just" eaLnBrk="1" hangingPunct="1">
              <a:spcAft>
                <a:spcPts val="600"/>
              </a:spcAft>
            </a:pPr>
            <a:r>
              <a:rPr lang="en-US" altLang="zh-TW" sz="2000" dirty="0">
                <a:latin typeface="Georgia" panose="02040502050405020303" pitchFamily="18" charset="0"/>
                <a:ea typeface="新細明體" pitchFamily="18" charset="-120"/>
              </a:rPr>
              <a:t>Characteristic</a:t>
            </a:r>
            <a:r>
              <a:rPr lang="en-US" altLang="zh-TW" dirty="0">
                <a:latin typeface="Georgia" panose="02040502050405020303" pitchFamily="18" charset="0"/>
                <a:ea typeface="新細明體" pitchFamily="18" charset="-120"/>
              </a:rPr>
              <a:t> of the specific elements</a:t>
            </a:r>
          </a:p>
        </p:txBody>
      </p:sp>
    </p:spTree>
    <p:extLst>
      <p:ext uri="{BB962C8B-B14F-4D97-AF65-F5344CB8AC3E}">
        <p14:creationId xmlns:p14="http://schemas.microsoft.com/office/powerpoint/2010/main" val="42796099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7" name="Text Box 5"/>
          <p:cNvSpPr txBox="1">
            <a:spLocks noChangeArrowheads="1"/>
          </p:cNvSpPr>
          <p:nvPr/>
        </p:nvSpPr>
        <p:spPr bwMode="auto">
          <a:xfrm>
            <a:off x="974725" y="2632075"/>
            <a:ext cx="7407275" cy="1938992"/>
          </a:xfrm>
          <a:prstGeom prst="rect">
            <a:avLst/>
          </a:prstGeom>
          <a:noFill/>
          <a:ln w="9525">
            <a:noFill/>
            <a:miter lim="800000"/>
            <a:headEnd/>
            <a:tailEnd/>
          </a:ln>
          <a:effectLst/>
        </p:spPr>
        <p:txBody>
          <a:bodyPr>
            <a:spAutoFit/>
          </a:bodyPr>
          <a:lstStyle/>
          <a:p>
            <a:pPr marL="461963" indent="-461963" algn="just" eaLnBrk="1" hangingPunct="1">
              <a:tabLst>
                <a:tab pos="461963" algn="l"/>
              </a:tabLst>
              <a:defRPr/>
            </a:pPr>
            <a:r>
              <a:rPr lang="en-US" altLang="zh-TW" sz="2000" dirty="0">
                <a:solidFill>
                  <a:srgbClr val="006600"/>
                </a:solidFill>
                <a:effectLst>
                  <a:outerShdw blurRad="38100" dist="38100" dir="2700000" algn="tl">
                    <a:srgbClr val="C0C0C0"/>
                  </a:outerShdw>
                </a:effectLst>
                <a:latin typeface="Georgia" panose="02040502050405020303" pitchFamily="18" charset="0"/>
                <a:ea typeface="新細明體" pitchFamily="18" charset="-120"/>
              </a:rPr>
              <a:t>General methods in assisting peak identification</a:t>
            </a:r>
            <a:r>
              <a:rPr lang="en-US" altLang="zh-TW" sz="2000" dirty="0">
                <a:solidFill>
                  <a:srgbClr val="00FF00"/>
                </a:solidFill>
                <a:latin typeface="Georgia" panose="02040502050405020303" pitchFamily="18" charset="0"/>
                <a:ea typeface="新細明體" pitchFamily="18" charset="-120"/>
              </a:rPr>
              <a:t>:</a:t>
            </a:r>
          </a:p>
          <a:p>
            <a:pPr marL="461963" indent="-461963" algn="just" eaLnBrk="1" hangingPunct="1">
              <a:tabLst>
                <a:tab pos="461963" algn="l"/>
              </a:tabLst>
              <a:defRPr/>
            </a:pPr>
            <a:endParaRPr lang="en-US" altLang="zh-TW" sz="2000" dirty="0">
              <a:solidFill>
                <a:srgbClr val="00FF00"/>
              </a:solidFill>
              <a:latin typeface="Georgia" panose="02040502050405020303" pitchFamily="18" charset="0"/>
              <a:ea typeface="新細明體" pitchFamily="18" charset="-120"/>
            </a:endParaRPr>
          </a:p>
          <a:p>
            <a:pPr marL="461963" indent="-461963" algn="just" eaLnBrk="1" hangingPunct="1">
              <a:buFontTx/>
              <a:buAutoNum type="arabicParenBoth"/>
              <a:tabLst>
                <a:tab pos="461963" algn="l"/>
              </a:tabLst>
              <a:defRPr/>
            </a:pPr>
            <a:r>
              <a:rPr lang="en-US" altLang="zh-TW" sz="2000" dirty="0">
                <a:latin typeface="Georgia" panose="02040502050405020303" pitchFamily="18" charset="0"/>
                <a:ea typeface="新細明體" pitchFamily="18" charset="-120"/>
              </a:rPr>
              <a:t>Check </a:t>
            </a:r>
            <a:r>
              <a:rPr lang="en-US" altLang="zh-TW" sz="2000" dirty="0">
                <a:solidFill>
                  <a:schemeClr val="tx2"/>
                </a:solidFill>
                <a:latin typeface="Georgia" panose="02040502050405020303" pitchFamily="18" charset="0"/>
                <a:ea typeface="新細明體" pitchFamily="18" charset="-120"/>
              </a:rPr>
              <a:t>peak </a:t>
            </a:r>
            <a:r>
              <a:rPr lang="en-US" altLang="zh-TW" sz="2000" dirty="0">
                <a:solidFill>
                  <a:schemeClr val="bg2">
                    <a:lumMod val="60000"/>
                    <a:lumOff val="40000"/>
                  </a:schemeClr>
                </a:solidFill>
                <a:latin typeface="Georgia" panose="02040502050405020303" pitchFamily="18" charset="0"/>
                <a:ea typeface="新細明體" pitchFamily="18" charset="-120"/>
              </a:rPr>
              <a:t>positions</a:t>
            </a:r>
            <a:r>
              <a:rPr lang="en-US" altLang="zh-TW" sz="2000" dirty="0">
                <a:latin typeface="Georgia" panose="02040502050405020303" pitchFamily="18" charset="0"/>
                <a:ea typeface="新細明體" pitchFamily="18" charset="-120"/>
              </a:rPr>
              <a:t> and </a:t>
            </a:r>
            <a:r>
              <a:rPr lang="en-US" altLang="zh-TW" sz="2000" dirty="0">
                <a:solidFill>
                  <a:schemeClr val="bg2">
                    <a:lumMod val="60000"/>
                    <a:lumOff val="40000"/>
                  </a:schemeClr>
                </a:solidFill>
                <a:latin typeface="Georgia" panose="02040502050405020303" pitchFamily="18" charset="0"/>
                <a:ea typeface="新細明體" pitchFamily="18" charset="-120"/>
              </a:rPr>
              <a:t>relative peak intensities </a:t>
            </a:r>
            <a:r>
              <a:rPr lang="en-US" altLang="zh-TW" sz="2000" dirty="0">
                <a:latin typeface="Georgia" panose="02040502050405020303" pitchFamily="18" charset="0"/>
                <a:ea typeface="新細明體" pitchFamily="18" charset="-120"/>
              </a:rPr>
              <a:t>of </a:t>
            </a:r>
            <a:r>
              <a:rPr lang="en-US" altLang="zh-TW" sz="2000" dirty="0">
                <a:solidFill>
                  <a:schemeClr val="bg2">
                    <a:lumMod val="60000"/>
                    <a:lumOff val="40000"/>
                  </a:schemeClr>
                </a:solidFill>
                <a:latin typeface="Georgia" panose="02040502050405020303" pitchFamily="18" charset="0"/>
                <a:ea typeface="新細明體" pitchFamily="18" charset="-120"/>
              </a:rPr>
              <a:t>2 or more</a:t>
            </a:r>
            <a:r>
              <a:rPr lang="en-US" altLang="zh-TW" sz="2000" dirty="0">
                <a:latin typeface="Georgia" panose="02040502050405020303" pitchFamily="18" charset="0"/>
                <a:ea typeface="新細明體" pitchFamily="18" charset="-120"/>
              </a:rPr>
              <a:t> peaks of an element.</a:t>
            </a:r>
          </a:p>
          <a:p>
            <a:pPr marL="461963" indent="-461963" algn="just" eaLnBrk="1" hangingPunct="1">
              <a:tabLst>
                <a:tab pos="461963" algn="l"/>
              </a:tabLst>
              <a:defRPr/>
            </a:pPr>
            <a:endParaRPr lang="en-US" altLang="zh-TW" sz="2000" dirty="0">
              <a:latin typeface="Georgia" panose="02040502050405020303" pitchFamily="18" charset="0"/>
              <a:ea typeface="新細明體" pitchFamily="18" charset="-120"/>
            </a:endParaRPr>
          </a:p>
          <a:p>
            <a:pPr marL="461963" indent="-461963" algn="just" eaLnBrk="1" hangingPunct="1">
              <a:tabLst>
                <a:tab pos="461963" algn="l"/>
              </a:tabLst>
              <a:defRPr/>
            </a:pPr>
            <a:r>
              <a:rPr lang="en-US" altLang="zh-TW" sz="2000" dirty="0">
                <a:latin typeface="Georgia" panose="02040502050405020303" pitchFamily="18" charset="0"/>
                <a:ea typeface="新細明體" pitchFamily="18" charset="-120"/>
              </a:rPr>
              <a:t>(2)	Check </a:t>
            </a:r>
            <a:r>
              <a:rPr lang="en-US" altLang="zh-TW" sz="2000" dirty="0">
                <a:solidFill>
                  <a:schemeClr val="tx2"/>
                </a:solidFill>
                <a:latin typeface="Georgia" panose="02040502050405020303" pitchFamily="18" charset="0"/>
                <a:ea typeface="新細明體" pitchFamily="18" charset="-120"/>
              </a:rPr>
              <a:t>spin orbital </a:t>
            </a:r>
            <a:r>
              <a:rPr lang="en-US" altLang="zh-TW" sz="2000" dirty="0">
                <a:solidFill>
                  <a:schemeClr val="bg2">
                    <a:lumMod val="60000"/>
                    <a:lumOff val="40000"/>
                  </a:schemeClr>
                </a:solidFill>
                <a:latin typeface="Georgia" panose="02040502050405020303" pitchFamily="18" charset="0"/>
                <a:ea typeface="新細明體" pitchFamily="18" charset="-120"/>
              </a:rPr>
              <a:t>splitting</a:t>
            </a:r>
            <a:r>
              <a:rPr lang="en-US" altLang="zh-TW" sz="2000" dirty="0">
                <a:latin typeface="Georgia" panose="02040502050405020303" pitchFamily="18" charset="0"/>
                <a:ea typeface="新細明體" pitchFamily="18" charset="-120"/>
              </a:rPr>
              <a:t> and </a:t>
            </a:r>
            <a:r>
              <a:rPr lang="en-US" altLang="zh-TW" sz="2000" dirty="0">
                <a:solidFill>
                  <a:schemeClr val="bg2">
                    <a:lumMod val="60000"/>
                    <a:lumOff val="40000"/>
                  </a:schemeClr>
                </a:solidFill>
                <a:latin typeface="Georgia" panose="02040502050405020303" pitchFamily="18" charset="0"/>
                <a:ea typeface="新細明體" pitchFamily="18" charset="-120"/>
              </a:rPr>
              <a:t>area ratios </a:t>
            </a:r>
            <a:r>
              <a:rPr lang="en-US" altLang="zh-TW" sz="2000" dirty="0">
                <a:solidFill>
                  <a:schemeClr val="tx2"/>
                </a:solidFill>
                <a:latin typeface="Georgia" panose="02040502050405020303" pitchFamily="18" charset="0"/>
                <a:ea typeface="新細明體" pitchFamily="18" charset="-120"/>
              </a:rPr>
              <a:t>for p, d, f signals</a:t>
            </a:r>
            <a:r>
              <a:rPr lang="en-US" altLang="zh-TW" sz="2000" dirty="0">
                <a:latin typeface="Georgia" panose="02040502050405020303" pitchFamily="18" charset="0"/>
                <a:ea typeface="新細明體" pitchFamily="18" charset="-120"/>
              </a:rPr>
              <a:t>. </a:t>
            </a:r>
            <a:endParaRPr lang="en-US" altLang="zh-CN" sz="2000" dirty="0">
              <a:latin typeface="Georgia" panose="02040502050405020303" pitchFamily="18" charset="0"/>
              <a:ea typeface="SimSun" pitchFamily="2" charset="-122"/>
            </a:endParaRPr>
          </a:p>
        </p:txBody>
      </p:sp>
      <p:sp>
        <p:nvSpPr>
          <p:cNvPr id="40963" name="Rectangle 6"/>
          <p:cNvSpPr>
            <a:spLocks noChangeArrowheads="1"/>
          </p:cNvSpPr>
          <p:nvPr/>
        </p:nvSpPr>
        <p:spPr bwMode="auto">
          <a:xfrm>
            <a:off x="762000" y="2438400"/>
            <a:ext cx="7772400" cy="2743200"/>
          </a:xfrm>
          <a:prstGeom prst="rect">
            <a:avLst/>
          </a:prstGeom>
          <a:noFill/>
          <a:ln w="57150" cmpd="thickThin">
            <a:solidFill>
              <a:schemeClr val="bg2"/>
            </a:solidFill>
            <a:miter lim="800000"/>
            <a:headEnd/>
            <a:tailEnd/>
          </a:ln>
        </p:spPr>
        <p:txBody>
          <a:bodyPr wrap="none" anchor="ctr"/>
          <a:lstStyle/>
          <a:p>
            <a:pPr algn="ctr" eaLnBrk="1" hangingPunct="1"/>
            <a:endParaRPr lang="zh-CN" altLang="zh-CN" sz="2400" b="1">
              <a:latin typeface="Georgia" panose="02040502050405020303" pitchFamily="18" charset="0"/>
              <a:ea typeface="SimSun" pitchFamily="2" charset="-122"/>
            </a:endParaRPr>
          </a:p>
        </p:txBody>
      </p:sp>
      <p:sp>
        <p:nvSpPr>
          <p:cNvPr id="40964" name="Rectangle 7"/>
          <p:cNvSpPr>
            <a:spLocks noChangeArrowheads="1"/>
          </p:cNvSpPr>
          <p:nvPr/>
        </p:nvSpPr>
        <p:spPr bwMode="auto">
          <a:xfrm>
            <a:off x="974725" y="898346"/>
            <a:ext cx="6934200" cy="1200329"/>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Core level emission – Elemental identification</a:t>
            </a:r>
          </a:p>
          <a:p>
            <a:pPr algn="ctr" eaLnBrk="1" hangingPunct="1"/>
            <a:endParaRPr lang="en-US" altLang="zh-TW" sz="2400" dirty="0">
              <a:latin typeface="Georgia" panose="02040502050405020303" pitchFamily="18" charset="0"/>
              <a:ea typeface="新細明體" pitchFamily="18" charset="-120"/>
            </a:endParaRPr>
          </a:p>
          <a:p>
            <a:pPr algn="ctr" eaLnBrk="1" hangingPunct="1"/>
            <a:r>
              <a:rPr lang="en-US" altLang="zh-TW" sz="2400" dirty="0">
                <a:solidFill>
                  <a:schemeClr val="bg2">
                    <a:lumMod val="60000"/>
                    <a:lumOff val="40000"/>
                  </a:schemeClr>
                </a:solidFill>
                <a:latin typeface="Georgia" panose="02040502050405020303" pitchFamily="18" charset="0"/>
                <a:ea typeface="新細明體" pitchFamily="18" charset="-120"/>
              </a:rPr>
              <a:t>How do we know who is there for sure?</a:t>
            </a:r>
          </a:p>
        </p:txBody>
      </p:sp>
      <p:sp>
        <p:nvSpPr>
          <p:cNvPr id="40965" name="Rectangle 8"/>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interpretation-Core electron identification</a:t>
            </a:r>
          </a:p>
        </p:txBody>
      </p:sp>
      <p:sp>
        <p:nvSpPr>
          <p:cNvPr id="2" name="Slide Number Placeholder 1">
            <a:extLst>
              <a:ext uri="{FF2B5EF4-FFF2-40B4-BE49-F238E27FC236}">
                <a16:creationId xmlns:a16="http://schemas.microsoft.com/office/drawing/2014/main" id="{C5E3B5A1-22A1-4663-A63F-25F02E0DCFFE}"/>
              </a:ext>
            </a:extLst>
          </p:cNvPr>
          <p:cNvSpPr>
            <a:spLocks noGrp="1"/>
          </p:cNvSpPr>
          <p:nvPr>
            <p:ph type="sldNum" sz="quarter" idx="11"/>
          </p:nvPr>
        </p:nvSpPr>
        <p:spPr/>
        <p:txBody>
          <a:bodyPr/>
          <a:lstStyle/>
          <a:p>
            <a:pPr>
              <a:defRPr/>
            </a:pPr>
            <a:fld id="{EBF73BDF-690D-4725-BA10-A7934ED52EAB}" type="slidenum">
              <a:rPr lang="zh-TW" altLang="en-US" smtClean="0"/>
              <a:pPr>
                <a:defRPr/>
              </a:pPr>
              <a:t>51</a:t>
            </a:fld>
            <a:endParaRPr lang="en-US" altLang="zh-TW"/>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B1BB8B-27EE-EC4C-4D09-7BC102D8FCA8}"/>
              </a:ext>
            </a:extLst>
          </p:cNvPr>
          <p:cNvSpPr>
            <a:spLocks noGrp="1"/>
          </p:cNvSpPr>
          <p:nvPr>
            <p:ph type="sldNum" sz="quarter" idx="11"/>
          </p:nvPr>
        </p:nvSpPr>
        <p:spPr/>
        <p:txBody>
          <a:bodyPr/>
          <a:lstStyle/>
          <a:p>
            <a:pPr>
              <a:defRPr/>
            </a:pPr>
            <a:fld id="{EBF73BDF-690D-4725-BA10-A7934ED52EAB}" type="slidenum">
              <a:rPr lang="zh-TW" altLang="en-US" smtClean="0"/>
              <a:pPr>
                <a:defRPr/>
              </a:pPr>
              <a:t>52</a:t>
            </a:fld>
            <a:endParaRPr lang="en-US" altLang="zh-TW"/>
          </a:p>
        </p:txBody>
      </p:sp>
      <p:pic>
        <p:nvPicPr>
          <p:cNvPr id="3" name="Picture 2">
            <a:extLst>
              <a:ext uri="{FF2B5EF4-FFF2-40B4-BE49-F238E27FC236}">
                <a16:creationId xmlns:a16="http://schemas.microsoft.com/office/drawing/2014/main" id="{C2C2B748-5E2B-CC7E-9706-403221D77F4F}"/>
              </a:ext>
            </a:extLst>
          </p:cNvPr>
          <p:cNvPicPr>
            <a:picLocks noChangeAspect="1"/>
          </p:cNvPicPr>
          <p:nvPr/>
        </p:nvPicPr>
        <p:blipFill>
          <a:blip r:embed="rId2"/>
          <a:stretch>
            <a:fillRect/>
          </a:stretch>
        </p:blipFill>
        <p:spPr>
          <a:xfrm>
            <a:off x="762000" y="875650"/>
            <a:ext cx="7466231" cy="5601350"/>
          </a:xfrm>
          <a:prstGeom prst="rect">
            <a:avLst/>
          </a:prstGeom>
        </p:spPr>
      </p:pic>
    </p:spTree>
    <p:extLst>
      <p:ext uri="{BB962C8B-B14F-4D97-AF65-F5344CB8AC3E}">
        <p14:creationId xmlns:p14="http://schemas.microsoft.com/office/powerpoint/2010/main" val="6309940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010" name="Picture 5"/>
          <p:cNvPicPr>
            <a:picLocks noChangeAspect="1" noChangeArrowheads="1"/>
          </p:cNvPicPr>
          <p:nvPr/>
        </p:nvPicPr>
        <p:blipFill>
          <a:blip r:embed="rId2" cstate="print"/>
          <a:srcRect/>
          <a:stretch>
            <a:fillRect/>
          </a:stretch>
        </p:blipFill>
        <p:spPr bwMode="auto">
          <a:xfrm>
            <a:off x="1066800" y="3100705"/>
            <a:ext cx="6924675" cy="2546079"/>
          </a:xfrm>
          <a:prstGeom prst="rect">
            <a:avLst/>
          </a:prstGeom>
          <a:noFill/>
          <a:ln w="9525">
            <a:noFill/>
            <a:miter lim="800000"/>
            <a:headEnd/>
            <a:tailEnd/>
          </a:ln>
        </p:spPr>
      </p:pic>
      <p:sp>
        <p:nvSpPr>
          <p:cNvPr id="43011" name="Text Box 6"/>
          <p:cNvSpPr txBox="1">
            <a:spLocks noChangeArrowheads="1"/>
          </p:cNvSpPr>
          <p:nvPr/>
        </p:nvSpPr>
        <p:spPr bwMode="auto">
          <a:xfrm>
            <a:off x="457200" y="5785550"/>
            <a:ext cx="8412163" cy="646331"/>
          </a:xfrm>
          <a:prstGeom prst="rect">
            <a:avLst/>
          </a:prstGeom>
          <a:noFill/>
          <a:ln w="9525">
            <a:noFill/>
            <a:miter lim="800000"/>
            <a:headEnd/>
            <a:tailEnd/>
          </a:ln>
        </p:spPr>
        <p:txBody>
          <a:bodyPr wrap="square">
            <a:spAutoFit/>
          </a:bodyPr>
          <a:lstStyle/>
          <a:p>
            <a:pPr marL="223838" indent="-223838" eaLnBrk="1" hangingPunct="1"/>
            <a:r>
              <a:rPr lang="en-US" altLang="zh-CN" dirty="0">
                <a:solidFill>
                  <a:schemeClr val="bg2">
                    <a:lumMod val="60000"/>
                    <a:lumOff val="40000"/>
                  </a:schemeClr>
                </a:solidFill>
                <a:latin typeface="Georgia" panose="02040502050405020303" pitchFamily="18" charset="0"/>
                <a:ea typeface="SimSun" pitchFamily="2" charset="-122"/>
              </a:rPr>
              <a:t>* 	Basically, the spin-orbital coupling is unaffected by the chemical state of elements, i.e. both the area ratio and the energy separation remain the same.</a:t>
            </a:r>
          </a:p>
        </p:txBody>
      </p:sp>
      <p:sp>
        <p:nvSpPr>
          <p:cNvPr id="43012" name="Rectangle 7"/>
          <p:cNvSpPr>
            <a:spLocks noChangeArrowheads="1"/>
          </p:cNvSpPr>
          <p:nvPr/>
        </p:nvSpPr>
        <p:spPr bwMode="auto">
          <a:xfrm>
            <a:off x="-838200" y="1166424"/>
            <a:ext cx="5715000" cy="830997"/>
          </a:xfrm>
          <a:prstGeom prst="rect">
            <a:avLst/>
          </a:prstGeom>
          <a:noFill/>
          <a:ln w="9525">
            <a:noFill/>
            <a:miter lim="800000"/>
            <a:headEnd/>
            <a:tailEnd/>
          </a:ln>
        </p:spPr>
        <p:txBody>
          <a:bodyPr wrap="square">
            <a:spAutoFit/>
          </a:bodyPr>
          <a:lstStyle/>
          <a:p>
            <a:pPr algn="ctr" eaLnBrk="1" hangingPunct="1"/>
            <a:r>
              <a:rPr lang="en-US" altLang="zh-TW" sz="2400" dirty="0">
                <a:latin typeface="Georgia" panose="02040502050405020303" pitchFamily="18" charset="0"/>
                <a:ea typeface="新細明體" pitchFamily="18" charset="-120"/>
              </a:rPr>
              <a:t>Spin-orbital coupling </a:t>
            </a:r>
          </a:p>
          <a:p>
            <a:pPr algn="ctr" eaLnBrk="1" hangingPunct="1"/>
            <a:r>
              <a:rPr lang="en-US" altLang="zh-TW" sz="2400" dirty="0">
                <a:solidFill>
                  <a:schemeClr val="bg2">
                    <a:lumMod val="60000"/>
                    <a:lumOff val="40000"/>
                  </a:schemeClr>
                </a:solidFill>
                <a:latin typeface="Georgia" panose="02040502050405020303" pitchFamily="18" charset="0"/>
                <a:ea typeface="新細明體" pitchFamily="18" charset="-120"/>
              </a:rPr>
              <a:t>                    --Area ratio of the doublet</a:t>
            </a:r>
          </a:p>
        </p:txBody>
      </p:sp>
      <p:sp>
        <p:nvSpPr>
          <p:cNvPr id="2" name="Slide Number Placeholder 1">
            <a:extLst>
              <a:ext uri="{FF2B5EF4-FFF2-40B4-BE49-F238E27FC236}">
                <a16:creationId xmlns:a16="http://schemas.microsoft.com/office/drawing/2014/main" id="{BFBF4762-A68D-4D0E-9B13-1492E43956D1}"/>
              </a:ext>
            </a:extLst>
          </p:cNvPr>
          <p:cNvSpPr>
            <a:spLocks noGrp="1"/>
          </p:cNvSpPr>
          <p:nvPr>
            <p:ph type="sldNum" sz="quarter" idx="11"/>
          </p:nvPr>
        </p:nvSpPr>
        <p:spPr/>
        <p:txBody>
          <a:bodyPr/>
          <a:lstStyle/>
          <a:p>
            <a:pPr>
              <a:defRPr/>
            </a:pPr>
            <a:fld id="{EBF73BDF-690D-4725-BA10-A7934ED52EAB}" type="slidenum">
              <a:rPr lang="zh-TW" altLang="en-US" smtClean="0"/>
              <a:pPr>
                <a:defRPr/>
              </a:pPr>
              <a:t>53</a:t>
            </a:fld>
            <a:endParaRPr lang="en-US" altLang="zh-TW"/>
          </a:p>
        </p:txBody>
      </p:sp>
      <p:graphicFrame>
        <p:nvGraphicFramePr>
          <p:cNvPr id="4" name="Object 7">
            <a:extLst>
              <a:ext uri="{FF2B5EF4-FFF2-40B4-BE49-F238E27FC236}">
                <a16:creationId xmlns:a16="http://schemas.microsoft.com/office/drawing/2014/main" id="{BA7856B9-CA05-6838-529D-AEAC07FA96C0}"/>
              </a:ext>
            </a:extLst>
          </p:cNvPr>
          <p:cNvGraphicFramePr>
            <a:graphicFrameLocks noChangeAspect="1"/>
          </p:cNvGraphicFramePr>
          <p:nvPr>
            <p:extLst>
              <p:ext uri="{D42A27DB-BD31-4B8C-83A1-F6EECF244321}">
                <p14:modId xmlns:p14="http://schemas.microsoft.com/office/powerpoint/2010/main" val="1082858748"/>
              </p:ext>
            </p:extLst>
          </p:nvPr>
        </p:nvGraphicFramePr>
        <p:xfrm>
          <a:off x="1203326" y="2421003"/>
          <a:ext cx="1997075" cy="376238"/>
        </p:xfrm>
        <a:graphic>
          <a:graphicData uri="http://schemas.openxmlformats.org/presentationml/2006/ole">
            <mc:AlternateContent xmlns:mc="http://schemas.openxmlformats.org/markup-compatibility/2006">
              <mc:Choice xmlns:v="urn:schemas-microsoft-com:vml" Requires="v">
                <p:oleObj name="Equation" r:id="rId3" imgW="1143000" imgH="215640" progId="Equation.3">
                  <p:embed/>
                </p:oleObj>
              </mc:Choice>
              <mc:Fallback>
                <p:oleObj name="Equation" r:id="rId3" imgW="1143000" imgH="215640" progId="Equation.3">
                  <p:embed/>
                  <p:pic>
                    <p:nvPicPr>
                      <p:cNvPr id="14339" name="Object 7"/>
                      <p:cNvPicPr>
                        <a:picLocks noChangeAspect="1" noChangeArrowheads="1"/>
                      </p:cNvPicPr>
                      <p:nvPr/>
                    </p:nvPicPr>
                    <p:blipFill>
                      <a:blip r:embed="rId4"/>
                      <a:srcRect/>
                      <a:stretch>
                        <a:fillRect/>
                      </a:stretch>
                    </p:blipFill>
                    <p:spPr bwMode="auto">
                      <a:xfrm>
                        <a:off x="1203326" y="2421003"/>
                        <a:ext cx="1997075" cy="376238"/>
                      </a:xfrm>
                      <a:prstGeom prst="rect">
                        <a:avLst/>
                      </a:prstGeom>
                      <a:noFill/>
                      <a:extLst>
                        <a:ext uri="{909E8E84-426E-40DD-AFC4-6F175D3DCCD1}">
                          <a14:hiddenFill xmlns:a14="http://schemas.microsoft.com/office/drawing/2010/main">
                            <a:solidFill>
                              <a:schemeClr val="tx1"/>
                            </a:solidFill>
                          </a14:hiddenFill>
                        </a:ext>
                      </a:extLst>
                    </p:spPr>
                  </p:pic>
                </p:oleObj>
              </mc:Fallback>
            </mc:AlternateContent>
          </a:graphicData>
        </a:graphic>
      </p:graphicFrame>
      <p:sp>
        <p:nvSpPr>
          <p:cNvPr id="5" name="Rectangle 8">
            <a:extLst>
              <a:ext uri="{FF2B5EF4-FFF2-40B4-BE49-F238E27FC236}">
                <a16:creationId xmlns:a16="http://schemas.microsoft.com/office/drawing/2014/main" id="{AAD46453-1328-2EEF-D066-8431914A074B}"/>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interpretation-Core electron identification</a:t>
            </a:r>
          </a:p>
        </p:txBody>
      </p:sp>
      <p:sp>
        <p:nvSpPr>
          <p:cNvPr id="6" name="TextBox 5">
            <a:extLst>
              <a:ext uri="{FF2B5EF4-FFF2-40B4-BE49-F238E27FC236}">
                <a16:creationId xmlns:a16="http://schemas.microsoft.com/office/drawing/2014/main" id="{A0F9CD50-29D1-8968-EBA5-246705B1FC4D}"/>
              </a:ext>
            </a:extLst>
          </p:cNvPr>
          <p:cNvSpPr txBox="1"/>
          <p:nvPr/>
        </p:nvSpPr>
        <p:spPr>
          <a:xfrm>
            <a:off x="3641214" y="1105409"/>
            <a:ext cx="1447800" cy="461665"/>
          </a:xfrm>
          <a:prstGeom prst="rect">
            <a:avLst/>
          </a:prstGeom>
          <a:noFill/>
        </p:spPr>
        <p:txBody>
          <a:bodyPr wrap="square">
            <a:spAutoFit/>
          </a:bodyPr>
          <a:lstStyle/>
          <a:p>
            <a:r>
              <a:rPr lang="en-US" sz="2400" b="1" i="1" dirty="0">
                <a:latin typeface="Georgia" panose="02040502050405020303" pitchFamily="18" charset="0"/>
                <a:cs typeface="Times New Roman" panose="02020603050405020304" pitchFamily="18" charset="0"/>
              </a:rPr>
              <a:t>J</a:t>
            </a:r>
            <a:r>
              <a:rPr lang="en-US" sz="2400" dirty="0">
                <a:latin typeface="Georgia" panose="02040502050405020303" pitchFamily="18" charset="0"/>
                <a:cs typeface="Times New Roman" panose="02020603050405020304" pitchFamily="18" charset="0"/>
              </a:rPr>
              <a:t> = </a:t>
            </a:r>
            <a:r>
              <a:rPr lang="en-US" sz="2400" b="1" i="1" dirty="0">
                <a:latin typeface="Georgia" panose="02040502050405020303" pitchFamily="18" charset="0"/>
                <a:cs typeface="Times New Roman" panose="02020603050405020304" pitchFamily="18" charset="0"/>
              </a:rPr>
              <a:t>L</a:t>
            </a:r>
            <a:r>
              <a:rPr lang="en-US" sz="2400" i="1" dirty="0">
                <a:latin typeface="Georgia" panose="02040502050405020303" pitchFamily="18" charset="0"/>
                <a:cs typeface="Times New Roman" panose="02020603050405020304" pitchFamily="18" charset="0"/>
              </a:rPr>
              <a:t>+</a:t>
            </a:r>
            <a:r>
              <a:rPr lang="en-US" sz="2400" b="1" i="1" dirty="0">
                <a:latin typeface="Georgia" panose="02040502050405020303" pitchFamily="18" charset="0"/>
                <a:cs typeface="Times New Roman" panose="02020603050405020304" pitchFamily="18" charset="0"/>
              </a:rPr>
              <a:t>S</a:t>
            </a:r>
          </a:p>
        </p:txBody>
      </p:sp>
      <p:pic>
        <p:nvPicPr>
          <p:cNvPr id="7" name="Picture 6">
            <a:extLst>
              <a:ext uri="{FF2B5EF4-FFF2-40B4-BE49-F238E27FC236}">
                <a16:creationId xmlns:a16="http://schemas.microsoft.com/office/drawing/2014/main" id="{306B8AF4-EB8B-1849-8741-11F0503918D1}"/>
              </a:ext>
            </a:extLst>
          </p:cNvPr>
          <p:cNvPicPr>
            <a:picLocks noChangeAspect="1"/>
          </p:cNvPicPr>
          <p:nvPr/>
        </p:nvPicPr>
        <p:blipFill>
          <a:blip r:embed="rId5">
            <a:biLevel thresh="50000"/>
          </a:blip>
          <a:srcRect r="31554"/>
          <a:stretch>
            <a:fillRect/>
          </a:stretch>
        </p:blipFill>
        <p:spPr>
          <a:xfrm>
            <a:off x="5562600" y="699511"/>
            <a:ext cx="2285999" cy="2342744"/>
          </a:xfrm>
          <a:prstGeom prst="rect">
            <a:avLst/>
          </a:prstGeom>
        </p:spPr>
      </p:pic>
      <p:grpSp>
        <p:nvGrpSpPr>
          <p:cNvPr id="13" name="Group 12">
            <a:extLst>
              <a:ext uri="{FF2B5EF4-FFF2-40B4-BE49-F238E27FC236}">
                <a16:creationId xmlns:a16="http://schemas.microsoft.com/office/drawing/2014/main" id="{FDC37299-AA18-5B08-F569-4ED6A5465E95}"/>
              </a:ext>
            </a:extLst>
          </p:cNvPr>
          <p:cNvGrpSpPr/>
          <p:nvPr/>
        </p:nvGrpSpPr>
        <p:grpSpPr>
          <a:xfrm>
            <a:off x="5943600" y="2077382"/>
            <a:ext cx="76200" cy="245997"/>
            <a:chOff x="4648200" y="2421003"/>
            <a:chExt cx="76200" cy="245997"/>
          </a:xfrm>
        </p:grpSpPr>
        <p:cxnSp>
          <p:nvCxnSpPr>
            <p:cNvPr id="9" name="Straight Arrow Connector 8">
              <a:extLst>
                <a:ext uri="{FF2B5EF4-FFF2-40B4-BE49-F238E27FC236}">
                  <a16:creationId xmlns:a16="http://schemas.microsoft.com/office/drawing/2014/main" id="{C9E3D715-A1DC-FC1A-819F-0BB29A965428}"/>
                </a:ext>
              </a:extLst>
            </p:cNvPr>
            <p:cNvCxnSpPr/>
            <p:nvPr/>
          </p:nvCxnSpPr>
          <p:spPr bwMode="auto">
            <a:xfrm flipV="1">
              <a:off x="4648200" y="2421003"/>
              <a:ext cx="0" cy="245997"/>
            </a:xfrm>
            <a:prstGeom prst="straightConnector1">
              <a:avLst/>
            </a:prstGeom>
            <a:solidFill>
              <a:schemeClr val="accent1"/>
            </a:solidFill>
            <a:ln w="9525" cap="flat" cmpd="sng" algn="ctr">
              <a:solidFill>
                <a:schemeClr val="bg2">
                  <a:lumMod val="60000"/>
                  <a:lumOff val="40000"/>
                </a:schemeClr>
              </a:solidFill>
              <a:prstDash val="solid"/>
              <a:round/>
              <a:headEnd type="none" w="med" len="med"/>
              <a:tailEnd type="triangle"/>
            </a:ln>
            <a:effectLst/>
          </p:spPr>
        </p:cxnSp>
        <p:cxnSp>
          <p:nvCxnSpPr>
            <p:cNvPr id="10" name="Straight Arrow Connector 9">
              <a:extLst>
                <a:ext uri="{FF2B5EF4-FFF2-40B4-BE49-F238E27FC236}">
                  <a16:creationId xmlns:a16="http://schemas.microsoft.com/office/drawing/2014/main" id="{794F3989-98DD-1B58-16F4-3C1BEA3E62D4}"/>
                </a:ext>
              </a:extLst>
            </p:cNvPr>
            <p:cNvCxnSpPr>
              <a:cxnSpLocks/>
            </p:cNvCxnSpPr>
            <p:nvPr/>
          </p:nvCxnSpPr>
          <p:spPr bwMode="auto">
            <a:xfrm>
              <a:off x="4724400" y="2421003"/>
              <a:ext cx="0" cy="245997"/>
            </a:xfrm>
            <a:prstGeom prst="straightConnector1">
              <a:avLst/>
            </a:prstGeom>
            <a:solidFill>
              <a:schemeClr val="accent1"/>
            </a:solidFill>
            <a:ln w="9525" cap="flat" cmpd="sng" algn="ctr">
              <a:solidFill>
                <a:schemeClr val="bg2">
                  <a:lumMod val="60000"/>
                  <a:lumOff val="40000"/>
                </a:schemeClr>
              </a:solidFill>
              <a:prstDash val="solid"/>
              <a:round/>
              <a:headEnd type="none" w="med" len="med"/>
              <a:tailEnd type="triangle"/>
            </a:ln>
            <a:effectLst/>
          </p:spPr>
        </p:cxnSp>
      </p:grpSp>
      <p:grpSp>
        <p:nvGrpSpPr>
          <p:cNvPr id="14" name="Group 13">
            <a:extLst>
              <a:ext uri="{FF2B5EF4-FFF2-40B4-BE49-F238E27FC236}">
                <a16:creationId xmlns:a16="http://schemas.microsoft.com/office/drawing/2014/main" id="{41E8D61F-00F7-4F4B-AF14-3D3AF6C905C7}"/>
              </a:ext>
            </a:extLst>
          </p:cNvPr>
          <p:cNvGrpSpPr/>
          <p:nvPr/>
        </p:nvGrpSpPr>
        <p:grpSpPr>
          <a:xfrm>
            <a:off x="7239000" y="2363125"/>
            <a:ext cx="76200" cy="245997"/>
            <a:chOff x="4648200" y="2421003"/>
            <a:chExt cx="76200" cy="245997"/>
          </a:xfrm>
        </p:grpSpPr>
        <p:cxnSp>
          <p:nvCxnSpPr>
            <p:cNvPr id="15" name="Straight Arrow Connector 14">
              <a:extLst>
                <a:ext uri="{FF2B5EF4-FFF2-40B4-BE49-F238E27FC236}">
                  <a16:creationId xmlns:a16="http://schemas.microsoft.com/office/drawing/2014/main" id="{5A012964-6D23-B55B-B602-9D13C3F23F2A}"/>
                </a:ext>
              </a:extLst>
            </p:cNvPr>
            <p:cNvCxnSpPr/>
            <p:nvPr/>
          </p:nvCxnSpPr>
          <p:spPr bwMode="auto">
            <a:xfrm flipV="1">
              <a:off x="4648200" y="2421003"/>
              <a:ext cx="0" cy="245997"/>
            </a:xfrm>
            <a:prstGeom prst="straightConnector1">
              <a:avLst/>
            </a:prstGeom>
            <a:solidFill>
              <a:schemeClr val="accent1"/>
            </a:solidFill>
            <a:ln w="9525" cap="flat" cmpd="sng" algn="ctr">
              <a:solidFill>
                <a:schemeClr val="bg2">
                  <a:lumMod val="60000"/>
                  <a:lumOff val="40000"/>
                </a:schemeClr>
              </a:solidFill>
              <a:prstDash val="solid"/>
              <a:round/>
              <a:headEnd type="none" w="med" len="med"/>
              <a:tailEnd type="triangle"/>
            </a:ln>
            <a:effectLst/>
          </p:spPr>
        </p:cxnSp>
        <p:cxnSp>
          <p:nvCxnSpPr>
            <p:cNvPr id="16" name="Straight Arrow Connector 15">
              <a:extLst>
                <a:ext uri="{FF2B5EF4-FFF2-40B4-BE49-F238E27FC236}">
                  <a16:creationId xmlns:a16="http://schemas.microsoft.com/office/drawing/2014/main" id="{690C06AE-76B9-2EBC-D235-85AED83D644F}"/>
                </a:ext>
              </a:extLst>
            </p:cNvPr>
            <p:cNvCxnSpPr>
              <a:cxnSpLocks/>
            </p:cNvCxnSpPr>
            <p:nvPr/>
          </p:nvCxnSpPr>
          <p:spPr bwMode="auto">
            <a:xfrm>
              <a:off x="4724400" y="2421003"/>
              <a:ext cx="0" cy="245997"/>
            </a:xfrm>
            <a:prstGeom prst="straightConnector1">
              <a:avLst/>
            </a:prstGeom>
            <a:solidFill>
              <a:schemeClr val="accent1"/>
            </a:solidFill>
            <a:ln w="9525" cap="flat" cmpd="sng" algn="ctr">
              <a:solidFill>
                <a:schemeClr val="bg2">
                  <a:lumMod val="60000"/>
                  <a:lumOff val="40000"/>
                </a:schemeClr>
              </a:solidFill>
              <a:prstDash val="solid"/>
              <a:round/>
              <a:headEnd type="none" w="med" len="med"/>
              <a:tailEnd type="triangle"/>
            </a:ln>
            <a:effectLst/>
          </p:spPr>
        </p:cxnSp>
      </p:grpSp>
      <p:grpSp>
        <p:nvGrpSpPr>
          <p:cNvPr id="17" name="Group 16">
            <a:extLst>
              <a:ext uri="{FF2B5EF4-FFF2-40B4-BE49-F238E27FC236}">
                <a16:creationId xmlns:a16="http://schemas.microsoft.com/office/drawing/2014/main" id="{1A90870C-96C2-39C4-7E1C-0C3F0521F9B8}"/>
              </a:ext>
            </a:extLst>
          </p:cNvPr>
          <p:cNvGrpSpPr/>
          <p:nvPr/>
        </p:nvGrpSpPr>
        <p:grpSpPr>
          <a:xfrm>
            <a:off x="6143172" y="2073378"/>
            <a:ext cx="76200" cy="245997"/>
            <a:chOff x="4648200" y="2421003"/>
            <a:chExt cx="76200" cy="245997"/>
          </a:xfrm>
        </p:grpSpPr>
        <p:cxnSp>
          <p:nvCxnSpPr>
            <p:cNvPr id="18" name="Straight Arrow Connector 17">
              <a:extLst>
                <a:ext uri="{FF2B5EF4-FFF2-40B4-BE49-F238E27FC236}">
                  <a16:creationId xmlns:a16="http://schemas.microsoft.com/office/drawing/2014/main" id="{42C2FB16-566F-3BE8-296A-973B0BD8D1B5}"/>
                </a:ext>
              </a:extLst>
            </p:cNvPr>
            <p:cNvCxnSpPr/>
            <p:nvPr/>
          </p:nvCxnSpPr>
          <p:spPr bwMode="auto">
            <a:xfrm flipV="1">
              <a:off x="4648200" y="2421003"/>
              <a:ext cx="0" cy="245997"/>
            </a:xfrm>
            <a:prstGeom prst="straightConnector1">
              <a:avLst/>
            </a:prstGeom>
            <a:solidFill>
              <a:schemeClr val="accent1"/>
            </a:solidFill>
            <a:ln w="9525" cap="flat" cmpd="sng" algn="ctr">
              <a:solidFill>
                <a:schemeClr val="bg2">
                  <a:lumMod val="60000"/>
                  <a:lumOff val="40000"/>
                </a:schemeClr>
              </a:solidFill>
              <a:prstDash val="solid"/>
              <a:round/>
              <a:headEnd type="none" w="med" len="med"/>
              <a:tailEnd type="triangle"/>
            </a:ln>
            <a:effectLst/>
          </p:spPr>
        </p:cxnSp>
        <p:cxnSp>
          <p:nvCxnSpPr>
            <p:cNvPr id="19" name="Straight Arrow Connector 18">
              <a:extLst>
                <a:ext uri="{FF2B5EF4-FFF2-40B4-BE49-F238E27FC236}">
                  <a16:creationId xmlns:a16="http://schemas.microsoft.com/office/drawing/2014/main" id="{D5AEE916-DFC7-81BC-7B6E-54CA9745BBBD}"/>
                </a:ext>
              </a:extLst>
            </p:cNvPr>
            <p:cNvCxnSpPr>
              <a:cxnSpLocks/>
            </p:cNvCxnSpPr>
            <p:nvPr/>
          </p:nvCxnSpPr>
          <p:spPr bwMode="auto">
            <a:xfrm>
              <a:off x="4724400" y="2421003"/>
              <a:ext cx="0" cy="245997"/>
            </a:xfrm>
            <a:prstGeom prst="straightConnector1">
              <a:avLst/>
            </a:prstGeom>
            <a:solidFill>
              <a:schemeClr val="accent1"/>
            </a:solidFill>
            <a:ln w="9525" cap="flat" cmpd="sng" algn="ctr">
              <a:solidFill>
                <a:schemeClr val="bg2">
                  <a:lumMod val="60000"/>
                  <a:lumOff val="40000"/>
                </a:schemeClr>
              </a:solidFill>
              <a:prstDash val="solid"/>
              <a:round/>
              <a:headEnd type="none" w="med" len="med"/>
              <a:tailEnd type="triangle"/>
            </a:ln>
            <a:effectLst/>
          </p:spPr>
        </p:cxnSp>
      </p:grpSp>
      <p:grpSp>
        <p:nvGrpSpPr>
          <p:cNvPr id="20" name="Group 19">
            <a:extLst>
              <a:ext uri="{FF2B5EF4-FFF2-40B4-BE49-F238E27FC236}">
                <a16:creationId xmlns:a16="http://schemas.microsoft.com/office/drawing/2014/main" id="{0283FF78-A825-664E-22C4-8F2CBE9095FD}"/>
              </a:ext>
            </a:extLst>
          </p:cNvPr>
          <p:cNvGrpSpPr/>
          <p:nvPr/>
        </p:nvGrpSpPr>
        <p:grpSpPr>
          <a:xfrm>
            <a:off x="6324600" y="2077381"/>
            <a:ext cx="76200" cy="245997"/>
            <a:chOff x="4648200" y="2421003"/>
            <a:chExt cx="76200" cy="245997"/>
          </a:xfrm>
        </p:grpSpPr>
        <p:cxnSp>
          <p:nvCxnSpPr>
            <p:cNvPr id="21" name="Straight Arrow Connector 20">
              <a:extLst>
                <a:ext uri="{FF2B5EF4-FFF2-40B4-BE49-F238E27FC236}">
                  <a16:creationId xmlns:a16="http://schemas.microsoft.com/office/drawing/2014/main" id="{38EC7E16-5515-8584-B2ED-B4FB92324F4B}"/>
                </a:ext>
              </a:extLst>
            </p:cNvPr>
            <p:cNvCxnSpPr/>
            <p:nvPr/>
          </p:nvCxnSpPr>
          <p:spPr bwMode="auto">
            <a:xfrm flipV="1">
              <a:off x="4648200" y="2421003"/>
              <a:ext cx="0" cy="245997"/>
            </a:xfrm>
            <a:prstGeom prst="straightConnector1">
              <a:avLst/>
            </a:prstGeom>
            <a:solidFill>
              <a:schemeClr val="accent1"/>
            </a:solidFill>
            <a:ln w="9525" cap="flat" cmpd="sng" algn="ctr">
              <a:solidFill>
                <a:schemeClr val="bg2">
                  <a:lumMod val="60000"/>
                  <a:lumOff val="40000"/>
                </a:schemeClr>
              </a:solidFill>
              <a:prstDash val="solid"/>
              <a:round/>
              <a:headEnd type="none" w="med" len="med"/>
              <a:tailEnd type="triangle"/>
            </a:ln>
            <a:effectLst/>
          </p:spPr>
        </p:cxnSp>
        <p:cxnSp>
          <p:nvCxnSpPr>
            <p:cNvPr id="22" name="Straight Arrow Connector 21">
              <a:extLst>
                <a:ext uri="{FF2B5EF4-FFF2-40B4-BE49-F238E27FC236}">
                  <a16:creationId xmlns:a16="http://schemas.microsoft.com/office/drawing/2014/main" id="{FF5B0551-2E82-2BFA-32D3-108D8C4A8917}"/>
                </a:ext>
              </a:extLst>
            </p:cNvPr>
            <p:cNvCxnSpPr>
              <a:cxnSpLocks/>
            </p:cNvCxnSpPr>
            <p:nvPr/>
          </p:nvCxnSpPr>
          <p:spPr bwMode="auto">
            <a:xfrm>
              <a:off x="4724400" y="2421003"/>
              <a:ext cx="0" cy="245997"/>
            </a:xfrm>
            <a:prstGeom prst="straightConnector1">
              <a:avLst/>
            </a:prstGeom>
            <a:solidFill>
              <a:schemeClr val="accent1"/>
            </a:solidFill>
            <a:ln w="9525" cap="flat" cmpd="sng" algn="ctr">
              <a:solidFill>
                <a:schemeClr val="bg2">
                  <a:lumMod val="60000"/>
                  <a:lumOff val="40000"/>
                </a:schemeClr>
              </a:solidFill>
              <a:prstDash val="solid"/>
              <a:round/>
              <a:headEnd type="none" w="med" len="med"/>
              <a:tailEnd type="triangle"/>
            </a:ln>
            <a:effectLst/>
          </p:spPr>
        </p:cxnSp>
      </p:grpSp>
      <p:grpSp>
        <p:nvGrpSpPr>
          <p:cNvPr id="23" name="Group 22">
            <a:extLst>
              <a:ext uri="{FF2B5EF4-FFF2-40B4-BE49-F238E27FC236}">
                <a16:creationId xmlns:a16="http://schemas.microsoft.com/office/drawing/2014/main" id="{290D39BA-DE5B-1F54-CE76-1CAD90B1901F}"/>
              </a:ext>
            </a:extLst>
          </p:cNvPr>
          <p:cNvGrpSpPr/>
          <p:nvPr/>
        </p:nvGrpSpPr>
        <p:grpSpPr>
          <a:xfrm>
            <a:off x="7010400" y="1524037"/>
            <a:ext cx="76200" cy="245997"/>
            <a:chOff x="4648200" y="2421003"/>
            <a:chExt cx="76200" cy="245997"/>
          </a:xfrm>
        </p:grpSpPr>
        <p:cxnSp>
          <p:nvCxnSpPr>
            <p:cNvPr id="24" name="Straight Arrow Connector 23">
              <a:extLst>
                <a:ext uri="{FF2B5EF4-FFF2-40B4-BE49-F238E27FC236}">
                  <a16:creationId xmlns:a16="http://schemas.microsoft.com/office/drawing/2014/main" id="{CC06BBB1-C8C2-FFC6-F6C0-BFEDCF7CA8C4}"/>
                </a:ext>
              </a:extLst>
            </p:cNvPr>
            <p:cNvCxnSpPr/>
            <p:nvPr/>
          </p:nvCxnSpPr>
          <p:spPr bwMode="auto">
            <a:xfrm flipV="1">
              <a:off x="4648200" y="2421003"/>
              <a:ext cx="0" cy="245997"/>
            </a:xfrm>
            <a:prstGeom prst="straightConnector1">
              <a:avLst/>
            </a:prstGeom>
            <a:solidFill>
              <a:schemeClr val="accent1"/>
            </a:solidFill>
            <a:ln w="9525" cap="flat" cmpd="sng" algn="ctr">
              <a:solidFill>
                <a:schemeClr val="bg2">
                  <a:lumMod val="60000"/>
                  <a:lumOff val="40000"/>
                </a:schemeClr>
              </a:solidFill>
              <a:prstDash val="solid"/>
              <a:round/>
              <a:headEnd type="none" w="med" len="med"/>
              <a:tailEnd type="triangle"/>
            </a:ln>
            <a:effectLst/>
          </p:spPr>
        </p:cxnSp>
        <p:cxnSp>
          <p:nvCxnSpPr>
            <p:cNvPr id="25" name="Straight Arrow Connector 24">
              <a:extLst>
                <a:ext uri="{FF2B5EF4-FFF2-40B4-BE49-F238E27FC236}">
                  <a16:creationId xmlns:a16="http://schemas.microsoft.com/office/drawing/2014/main" id="{E707454F-A018-5DC1-5FE6-F03E2A4B8AA8}"/>
                </a:ext>
              </a:extLst>
            </p:cNvPr>
            <p:cNvCxnSpPr>
              <a:cxnSpLocks/>
            </p:cNvCxnSpPr>
            <p:nvPr/>
          </p:nvCxnSpPr>
          <p:spPr bwMode="auto">
            <a:xfrm>
              <a:off x="4724400" y="2421003"/>
              <a:ext cx="0" cy="245997"/>
            </a:xfrm>
            <a:prstGeom prst="straightConnector1">
              <a:avLst/>
            </a:prstGeom>
            <a:solidFill>
              <a:schemeClr val="accent1"/>
            </a:solidFill>
            <a:ln w="9525" cap="flat" cmpd="sng" algn="ctr">
              <a:solidFill>
                <a:schemeClr val="bg2">
                  <a:lumMod val="60000"/>
                  <a:lumOff val="40000"/>
                </a:schemeClr>
              </a:solidFill>
              <a:prstDash val="solid"/>
              <a:round/>
              <a:headEnd type="none" w="med" len="med"/>
              <a:tailEnd type="triangle"/>
            </a:ln>
            <a:effectLst/>
          </p:spPr>
        </p:cxnSp>
      </p:grpSp>
      <p:grpSp>
        <p:nvGrpSpPr>
          <p:cNvPr id="26" name="Group 25">
            <a:extLst>
              <a:ext uri="{FF2B5EF4-FFF2-40B4-BE49-F238E27FC236}">
                <a16:creationId xmlns:a16="http://schemas.microsoft.com/office/drawing/2014/main" id="{8B7BBF29-58FB-580B-53D3-E6169E13A3F2}"/>
              </a:ext>
            </a:extLst>
          </p:cNvPr>
          <p:cNvGrpSpPr/>
          <p:nvPr/>
        </p:nvGrpSpPr>
        <p:grpSpPr>
          <a:xfrm>
            <a:off x="7315200" y="1514732"/>
            <a:ext cx="76200" cy="245997"/>
            <a:chOff x="4648200" y="2421003"/>
            <a:chExt cx="76200" cy="245997"/>
          </a:xfrm>
        </p:grpSpPr>
        <p:cxnSp>
          <p:nvCxnSpPr>
            <p:cNvPr id="27" name="Straight Arrow Connector 26">
              <a:extLst>
                <a:ext uri="{FF2B5EF4-FFF2-40B4-BE49-F238E27FC236}">
                  <a16:creationId xmlns:a16="http://schemas.microsoft.com/office/drawing/2014/main" id="{042732CB-95F8-8AC3-EBA4-451D2C78D213}"/>
                </a:ext>
              </a:extLst>
            </p:cNvPr>
            <p:cNvCxnSpPr/>
            <p:nvPr/>
          </p:nvCxnSpPr>
          <p:spPr bwMode="auto">
            <a:xfrm flipV="1">
              <a:off x="4648200" y="2421003"/>
              <a:ext cx="0" cy="245997"/>
            </a:xfrm>
            <a:prstGeom prst="straightConnector1">
              <a:avLst/>
            </a:prstGeom>
            <a:solidFill>
              <a:schemeClr val="accent1"/>
            </a:solidFill>
            <a:ln w="9525" cap="flat" cmpd="sng" algn="ctr">
              <a:solidFill>
                <a:schemeClr val="bg2">
                  <a:lumMod val="60000"/>
                  <a:lumOff val="40000"/>
                </a:schemeClr>
              </a:solidFill>
              <a:prstDash val="solid"/>
              <a:round/>
              <a:headEnd type="none" w="med" len="med"/>
              <a:tailEnd type="triangle"/>
            </a:ln>
            <a:effectLst/>
          </p:spPr>
        </p:cxnSp>
        <p:cxnSp>
          <p:nvCxnSpPr>
            <p:cNvPr id="28" name="Straight Arrow Connector 27">
              <a:extLst>
                <a:ext uri="{FF2B5EF4-FFF2-40B4-BE49-F238E27FC236}">
                  <a16:creationId xmlns:a16="http://schemas.microsoft.com/office/drawing/2014/main" id="{B6A41AF0-944B-F588-3CD6-0C02E612E19B}"/>
                </a:ext>
              </a:extLst>
            </p:cNvPr>
            <p:cNvCxnSpPr>
              <a:cxnSpLocks/>
            </p:cNvCxnSpPr>
            <p:nvPr/>
          </p:nvCxnSpPr>
          <p:spPr bwMode="auto">
            <a:xfrm>
              <a:off x="4724400" y="2421003"/>
              <a:ext cx="0" cy="245997"/>
            </a:xfrm>
            <a:prstGeom prst="straightConnector1">
              <a:avLst/>
            </a:prstGeom>
            <a:solidFill>
              <a:schemeClr val="accent1"/>
            </a:solidFill>
            <a:ln w="9525" cap="flat" cmpd="sng" algn="ctr">
              <a:solidFill>
                <a:schemeClr val="bg2">
                  <a:lumMod val="60000"/>
                  <a:lumOff val="40000"/>
                </a:schemeClr>
              </a:solidFill>
              <a:prstDash val="solid"/>
              <a:round/>
              <a:headEnd type="none" w="med" len="med"/>
              <a:tailEnd type="triangle"/>
            </a:ln>
            <a:effectLst/>
          </p:spPr>
        </p:cxnSp>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4034" name="Group 5"/>
          <p:cNvGrpSpPr>
            <a:grpSpLocks/>
          </p:cNvGrpSpPr>
          <p:nvPr/>
        </p:nvGrpSpPr>
        <p:grpSpPr bwMode="auto">
          <a:xfrm>
            <a:off x="1981200" y="1956603"/>
            <a:ext cx="5334000" cy="2590800"/>
            <a:chOff x="1344" y="1488"/>
            <a:chExt cx="3360" cy="1632"/>
          </a:xfrm>
        </p:grpSpPr>
        <p:sp>
          <p:nvSpPr>
            <p:cNvPr id="44038" name="Rectangle 6"/>
            <p:cNvSpPr>
              <a:spLocks noChangeArrowheads="1"/>
            </p:cNvSpPr>
            <p:nvPr/>
          </p:nvSpPr>
          <p:spPr bwMode="auto">
            <a:xfrm>
              <a:off x="1344" y="1488"/>
              <a:ext cx="3360" cy="1632"/>
            </a:xfrm>
            <a:prstGeom prst="rect">
              <a:avLst/>
            </a:prstGeom>
            <a:noFill/>
            <a:ln w="9525">
              <a:solidFill>
                <a:schemeClr val="tx1"/>
              </a:solidFill>
              <a:miter lim="800000"/>
              <a:headEnd/>
              <a:tailEnd/>
            </a:ln>
          </p:spPr>
          <p:txBody>
            <a:bodyPr wrap="none" anchor="ctr"/>
            <a:lstStyle/>
            <a:p>
              <a:endParaRPr lang="zh-CN" altLang="zh-CN">
                <a:latin typeface="Georgia" panose="02040502050405020303" pitchFamily="18" charset="0"/>
                <a:ea typeface="SimSun" pitchFamily="2" charset="-122"/>
              </a:endParaRPr>
            </a:p>
          </p:txBody>
        </p:sp>
        <p:pic>
          <p:nvPicPr>
            <p:cNvPr id="44039" name="Picture 7" descr="x15"/>
            <p:cNvPicPr>
              <a:picLocks noChangeAspect="1" noChangeArrowheads="1"/>
            </p:cNvPicPr>
            <p:nvPr/>
          </p:nvPicPr>
          <p:blipFill>
            <a:blip r:embed="rId2" cstate="print">
              <a:lum bright="-30000" contrast="48000"/>
            </a:blip>
            <a:srcRect/>
            <a:stretch>
              <a:fillRect/>
            </a:stretch>
          </p:blipFill>
          <p:spPr bwMode="auto">
            <a:xfrm>
              <a:off x="1488" y="1536"/>
              <a:ext cx="3096" cy="1546"/>
            </a:xfrm>
            <a:prstGeom prst="rect">
              <a:avLst/>
            </a:prstGeom>
            <a:noFill/>
            <a:ln w="9525">
              <a:noFill/>
              <a:miter lim="800000"/>
              <a:headEnd/>
              <a:tailEnd/>
            </a:ln>
          </p:spPr>
        </p:pic>
      </p:grpSp>
      <p:sp>
        <p:nvSpPr>
          <p:cNvPr id="44035" name="Text Box 8"/>
          <p:cNvSpPr txBox="1">
            <a:spLocks noChangeArrowheads="1"/>
          </p:cNvSpPr>
          <p:nvPr/>
        </p:nvSpPr>
        <p:spPr bwMode="auto">
          <a:xfrm>
            <a:off x="1203325" y="4817278"/>
            <a:ext cx="7254875" cy="1190625"/>
          </a:xfrm>
          <a:prstGeom prst="rect">
            <a:avLst/>
          </a:prstGeom>
          <a:noFill/>
          <a:ln w="9525">
            <a:noFill/>
            <a:miter lim="800000"/>
            <a:headEnd/>
            <a:tailEnd/>
          </a:ln>
        </p:spPr>
        <p:txBody>
          <a:bodyPr>
            <a:spAutoFit/>
          </a:bodyPr>
          <a:lstStyle/>
          <a:p>
            <a:pPr eaLnBrk="1" hangingPunct="1"/>
            <a:r>
              <a:rPr lang="en-US" altLang="zh-TW">
                <a:latin typeface="Georgia" panose="02040502050405020303" pitchFamily="18" charset="0"/>
                <a:ea typeface="新細明體" pitchFamily="18" charset="-120"/>
              </a:rPr>
              <a:t>High resolution spectrum of single-crystal Si showing the spin-orbit splitting of the 2p level: </a:t>
            </a:r>
            <a:r>
              <a:rPr lang="en-US" altLang="zh-TW">
                <a:solidFill>
                  <a:srgbClr val="006600"/>
                </a:solidFill>
                <a:latin typeface="Georgia" panose="02040502050405020303" pitchFamily="18" charset="0"/>
                <a:ea typeface="新細明體" pitchFamily="18" charset="-120"/>
              </a:rPr>
              <a:t>2p</a:t>
            </a:r>
            <a:r>
              <a:rPr lang="en-US" altLang="zh-TW" baseline="-15000">
                <a:solidFill>
                  <a:srgbClr val="006600"/>
                </a:solidFill>
                <a:latin typeface="Georgia" panose="02040502050405020303" pitchFamily="18" charset="0"/>
                <a:ea typeface="新細明體" pitchFamily="18" charset="-120"/>
              </a:rPr>
              <a:t>3/2</a:t>
            </a:r>
            <a:r>
              <a:rPr lang="en-US" altLang="zh-TW">
                <a:solidFill>
                  <a:srgbClr val="006600"/>
                </a:solidFill>
                <a:latin typeface="Georgia" panose="02040502050405020303" pitchFamily="18" charset="0"/>
                <a:ea typeface="新細明體" pitchFamily="18" charset="-120"/>
              </a:rPr>
              <a:t> </a:t>
            </a:r>
            <a:r>
              <a:rPr lang="en-US" altLang="zh-TW">
                <a:latin typeface="Georgia" panose="02040502050405020303" pitchFamily="18" charset="0"/>
                <a:ea typeface="新細明體" pitchFamily="18" charset="-120"/>
              </a:rPr>
              <a:t>&amp; </a:t>
            </a:r>
            <a:r>
              <a:rPr lang="en-US" altLang="zh-TW">
                <a:solidFill>
                  <a:srgbClr val="006600"/>
                </a:solidFill>
                <a:latin typeface="Georgia" panose="02040502050405020303" pitchFamily="18" charset="0"/>
                <a:ea typeface="新細明體" pitchFamily="18" charset="-120"/>
              </a:rPr>
              <a:t>2p</a:t>
            </a:r>
            <a:r>
              <a:rPr lang="en-US" altLang="zh-TW" baseline="-15000">
                <a:solidFill>
                  <a:srgbClr val="006600"/>
                </a:solidFill>
                <a:latin typeface="Georgia" panose="02040502050405020303" pitchFamily="18" charset="0"/>
                <a:ea typeface="新細明體" pitchFamily="18" charset="-120"/>
              </a:rPr>
              <a:t>1/2</a:t>
            </a:r>
            <a:r>
              <a:rPr lang="en-US" altLang="zh-TW">
                <a:latin typeface="Georgia" panose="02040502050405020303" pitchFamily="18" charset="0"/>
                <a:ea typeface="新細明體" pitchFamily="18" charset="-120"/>
              </a:rPr>
              <a:t>.</a:t>
            </a:r>
          </a:p>
          <a:p>
            <a:pPr eaLnBrk="1" hangingPunct="1"/>
            <a:endParaRPr lang="en-US" altLang="zh-TW">
              <a:latin typeface="Georgia" panose="02040502050405020303" pitchFamily="18" charset="0"/>
              <a:ea typeface="新細明體" pitchFamily="18" charset="-120"/>
            </a:endParaRPr>
          </a:p>
          <a:p>
            <a:pPr eaLnBrk="1" hangingPunct="1"/>
            <a:r>
              <a:rPr lang="en-US" altLang="zh-TW">
                <a:solidFill>
                  <a:srgbClr val="006600"/>
                </a:solidFill>
                <a:latin typeface="Georgia" panose="02040502050405020303" pitchFamily="18" charset="0"/>
                <a:ea typeface="新細明體" pitchFamily="18" charset="-120"/>
              </a:rPr>
              <a:t>Energy separation = 0.58 eV, area ratio is 2:1.</a:t>
            </a:r>
          </a:p>
        </p:txBody>
      </p:sp>
      <p:sp>
        <p:nvSpPr>
          <p:cNvPr id="44036" name="Rectangle 9"/>
          <p:cNvSpPr>
            <a:spLocks noChangeArrowheads="1"/>
          </p:cNvSpPr>
          <p:nvPr/>
        </p:nvSpPr>
        <p:spPr bwMode="auto">
          <a:xfrm>
            <a:off x="1143000" y="966003"/>
            <a:ext cx="6934200" cy="457200"/>
          </a:xfrm>
          <a:prstGeom prst="rect">
            <a:avLst/>
          </a:prstGeom>
          <a:noFill/>
          <a:ln w="9525">
            <a:noFill/>
            <a:miter lim="800000"/>
            <a:headEnd/>
            <a:tailEnd/>
          </a:ln>
        </p:spPr>
        <p:txBody>
          <a:bodyPr>
            <a:spAutoFit/>
          </a:bodyPr>
          <a:lstStyle/>
          <a:p>
            <a:pPr algn="ctr" eaLnBrk="1" hangingPunct="1"/>
            <a:r>
              <a:rPr lang="en-US" altLang="zh-TW" sz="2400">
                <a:latin typeface="Georgia" panose="02040502050405020303" pitchFamily="18" charset="0"/>
                <a:ea typeface="新細明體" pitchFamily="18" charset="-120"/>
              </a:rPr>
              <a:t>Spin-orbital coupling – </a:t>
            </a:r>
            <a:r>
              <a:rPr lang="en-US" altLang="zh-TW" sz="2400" i="1">
                <a:latin typeface="Georgia" panose="02040502050405020303" pitchFamily="18" charset="0"/>
                <a:ea typeface="新細明體" pitchFamily="18" charset="-120"/>
              </a:rPr>
              <a:t>j-j coupling</a:t>
            </a:r>
            <a:endParaRPr lang="en-US" altLang="zh-TW" sz="2400">
              <a:latin typeface="Georgia" panose="02040502050405020303" pitchFamily="18" charset="0"/>
              <a:ea typeface="新細明體" pitchFamily="18" charset="-120"/>
            </a:endParaRPr>
          </a:p>
        </p:txBody>
      </p:sp>
      <p:sp>
        <p:nvSpPr>
          <p:cNvPr id="2" name="Slide Number Placeholder 1">
            <a:extLst>
              <a:ext uri="{FF2B5EF4-FFF2-40B4-BE49-F238E27FC236}">
                <a16:creationId xmlns:a16="http://schemas.microsoft.com/office/drawing/2014/main" id="{2087B0C8-A2BB-4A60-BB98-E7D1F1D014AB}"/>
              </a:ext>
            </a:extLst>
          </p:cNvPr>
          <p:cNvSpPr>
            <a:spLocks noGrp="1"/>
          </p:cNvSpPr>
          <p:nvPr>
            <p:ph type="sldNum" sz="quarter" idx="11"/>
          </p:nvPr>
        </p:nvSpPr>
        <p:spPr/>
        <p:txBody>
          <a:bodyPr/>
          <a:lstStyle/>
          <a:p>
            <a:pPr>
              <a:defRPr/>
            </a:pPr>
            <a:fld id="{EBF73BDF-690D-4725-BA10-A7934ED52EAB}" type="slidenum">
              <a:rPr lang="zh-TW" altLang="en-US" smtClean="0"/>
              <a:pPr>
                <a:defRPr/>
              </a:pPr>
              <a:t>54</a:t>
            </a:fld>
            <a:endParaRPr lang="en-US" altLang="zh-TW"/>
          </a:p>
        </p:txBody>
      </p:sp>
      <p:sp>
        <p:nvSpPr>
          <p:cNvPr id="5" name="Rectangle 8">
            <a:extLst>
              <a:ext uri="{FF2B5EF4-FFF2-40B4-BE49-F238E27FC236}">
                <a16:creationId xmlns:a16="http://schemas.microsoft.com/office/drawing/2014/main" id="{BA9BECDD-91F4-3633-9328-D83B8362E34A}"/>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interpretation-Core electron identification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058" name="Picture 5"/>
          <p:cNvPicPr>
            <a:picLocks noChangeAspect="1" noChangeArrowheads="1"/>
          </p:cNvPicPr>
          <p:nvPr/>
        </p:nvPicPr>
        <p:blipFill>
          <a:blip r:embed="rId2" cstate="print"/>
          <a:srcRect/>
          <a:stretch>
            <a:fillRect/>
          </a:stretch>
        </p:blipFill>
        <p:spPr bwMode="auto">
          <a:xfrm>
            <a:off x="228600" y="1860424"/>
            <a:ext cx="5486400" cy="3692525"/>
          </a:xfrm>
          <a:prstGeom prst="rect">
            <a:avLst/>
          </a:prstGeom>
          <a:noFill/>
          <a:ln w="9525">
            <a:noFill/>
            <a:miter lim="800000"/>
            <a:headEnd/>
            <a:tailEnd/>
          </a:ln>
        </p:spPr>
      </p:pic>
      <p:sp>
        <p:nvSpPr>
          <p:cNvPr id="45059" name="Text Box 6"/>
          <p:cNvSpPr txBox="1">
            <a:spLocks noChangeArrowheads="1"/>
          </p:cNvSpPr>
          <p:nvPr/>
        </p:nvSpPr>
        <p:spPr bwMode="auto">
          <a:xfrm>
            <a:off x="5876925" y="2203113"/>
            <a:ext cx="2809875" cy="3139321"/>
          </a:xfrm>
          <a:prstGeom prst="rect">
            <a:avLst/>
          </a:prstGeom>
          <a:noFill/>
          <a:ln w="9525">
            <a:noFill/>
            <a:miter lim="800000"/>
            <a:headEnd/>
            <a:tailEnd/>
          </a:ln>
        </p:spPr>
        <p:txBody>
          <a:bodyPr wrap="square">
            <a:spAutoFit/>
          </a:bodyPr>
          <a:lstStyle/>
          <a:p>
            <a:pPr algn="just" eaLnBrk="1" hangingPunct="1"/>
            <a:r>
              <a:rPr lang="en-US" altLang="zh-TW" dirty="0">
                <a:latin typeface="Georgia" panose="02040502050405020303" pitchFamily="18" charset="0"/>
                <a:ea typeface="新細明體" pitchFamily="18" charset="-120"/>
              </a:rPr>
              <a:t>When the element is in different </a:t>
            </a:r>
            <a:r>
              <a:rPr lang="en-US" altLang="zh-TW" dirty="0">
                <a:solidFill>
                  <a:srgbClr val="006600"/>
                </a:solidFill>
                <a:latin typeface="Georgia" panose="02040502050405020303" pitchFamily="18" charset="0"/>
                <a:ea typeface="新細明體" pitchFamily="18" charset="-120"/>
              </a:rPr>
              <a:t>chemical states or chemical environment</a:t>
            </a:r>
            <a:r>
              <a:rPr lang="en-US" altLang="zh-TW" dirty="0">
                <a:latin typeface="Georgia" panose="02040502050405020303" pitchFamily="18" charset="0"/>
                <a:ea typeface="新細明體" pitchFamily="18" charset="-120"/>
              </a:rPr>
              <a:t>, its corresponding energy levels will be different, giving out photoelectrons at different energy from those arisen from its elemental state.  This energy shift is the so-called “</a:t>
            </a:r>
            <a:r>
              <a:rPr lang="en-US" altLang="zh-TW" dirty="0">
                <a:solidFill>
                  <a:srgbClr val="006600"/>
                </a:solidFill>
                <a:latin typeface="Georgia" panose="02040502050405020303" pitchFamily="18" charset="0"/>
                <a:ea typeface="新細明體" pitchFamily="18" charset="-120"/>
              </a:rPr>
              <a:t>chemical shift</a:t>
            </a:r>
            <a:r>
              <a:rPr lang="en-US" altLang="zh-TW" dirty="0">
                <a:latin typeface="Georgia" panose="02040502050405020303" pitchFamily="18" charset="0"/>
                <a:ea typeface="新細明體" pitchFamily="18" charset="-120"/>
              </a:rPr>
              <a:t>”. </a:t>
            </a:r>
            <a:endParaRPr lang="en-US" altLang="zh-CN" dirty="0">
              <a:latin typeface="Georgia" panose="02040502050405020303" pitchFamily="18" charset="0"/>
              <a:ea typeface="SimSun" pitchFamily="2" charset="-122"/>
            </a:endParaRPr>
          </a:p>
        </p:txBody>
      </p:sp>
      <p:sp>
        <p:nvSpPr>
          <p:cNvPr id="45060" name="Text Box 7"/>
          <p:cNvSpPr txBox="1">
            <a:spLocks noChangeArrowheads="1"/>
          </p:cNvSpPr>
          <p:nvPr/>
        </p:nvSpPr>
        <p:spPr bwMode="auto">
          <a:xfrm>
            <a:off x="457200" y="5721320"/>
            <a:ext cx="6622326" cy="400110"/>
          </a:xfrm>
          <a:prstGeom prst="rect">
            <a:avLst/>
          </a:prstGeom>
          <a:noFill/>
          <a:ln w="9525">
            <a:noFill/>
            <a:miter lim="800000"/>
            <a:headEnd/>
            <a:tailEnd/>
          </a:ln>
        </p:spPr>
        <p:txBody>
          <a:bodyPr wrap="none">
            <a:spAutoFit/>
          </a:bodyPr>
          <a:lstStyle/>
          <a:p>
            <a:pPr eaLnBrk="1" hangingPunct="1"/>
            <a:r>
              <a:rPr lang="en-US" altLang="zh-CN" sz="2000" i="1" dirty="0">
                <a:solidFill>
                  <a:srgbClr val="660066"/>
                </a:solidFill>
                <a:latin typeface="Georgia" panose="02040502050405020303" pitchFamily="18" charset="0"/>
                <a:ea typeface="SimSun" pitchFamily="2" charset="-122"/>
              </a:rPr>
              <a:t>Au 4f</a:t>
            </a:r>
            <a:r>
              <a:rPr lang="en-US" altLang="zh-CN" sz="2000" i="1" baseline="-15000" dirty="0">
                <a:solidFill>
                  <a:srgbClr val="660066"/>
                </a:solidFill>
                <a:latin typeface="Georgia" panose="02040502050405020303" pitchFamily="18" charset="0"/>
                <a:ea typeface="SimSun" pitchFamily="2" charset="-122"/>
              </a:rPr>
              <a:t>7/2</a:t>
            </a:r>
            <a:r>
              <a:rPr lang="en-US" altLang="zh-CN" sz="2000" i="1" dirty="0">
                <a:solidFill>
                  <a:srgbClr val="660066"/>
                </a:solidFill>
                <a:latin typeface="Georgia" panose="02040502050405020303" pitchFamily="18" charset="0"/>
                <a:ea typeface="SimSun" pitchFamily="2" charset="-122"/>
              </a:rPr>
              <a:t> signal from different Au-containing compounds</a:t>
            </a:r>
          </a:p>
        </p:txBody>
      </p:sp>
      <p:sp>
        <p:nvSpPr>
          <p:cNvPr id="45061" name="Rectangle 8"/>
          <p:cNvSpPr>
            <a:spLocks noChangeArrowheads="1"/>
          </p:cNvSpPr>
          <p:nvPr/>
        </p:nvSpPr>
        <p:spPr bwMode="auto">
          <a:xfrm>
            <a:off x="1104900" y="803275"/>
            <a:ext cx="6934200" cy="769441"/>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Chemical shift</a:t>
            </a:r>
          </a:p>
          <a:p>
            <a:pPr algn="ctr" eaLnBrk="1" hangingPunct="1"/>
            <a:r>
              <a:rPr lang="en-US" altLang="zh-TW" sz="2000" dirty="0">
                <a:solidFill>
                  <a:schemeClr val="bg2">
                    <a:lumMod val="60000"/>
                    <a:lumOff val="40000"/>
                  </a:schemeClr>
                </a:solidFill>
                <a:latin typeface="Georgia" panose="02040502050405020303" pitchFamily="18" charset="0"/>
                <a:ea typeface="新細明體" pitchFamily="18" charset="-120"/>
              </a:rPr>
              <a:t>Is B. E. a fixed value for a specific element?</a:t>
            </a:r>
          </a:p>
        </p:txBody>
      </p:sp>
      <p:sp>
        <p:nvSpPr>
          <p:cNvPr id="2" name="Slide Number Placeholder 1">
            <a:extLst>
              <a:ext uri="{FF2B5EF4-FFF2-40B4-BE49-F238E27FC236}">
                <a16:creationId xmlns:a16="http://schemas.microsoft.com/office/drawing/2014/main" id="{F701EA1A-FB60-4FA3-A555-E2E27ABAF82C}"/>
              </a:ext>
            </a:extLst>
          </p:cNvPr>
          <p:cNvSpPr>
            <a:spLocks noGrp="1"/>
          </p:cNvSpPr>
          <p:nvPr>
            <p:ph type="sldNum" sz="quarter" idx="11"/>
          </p:nvPr>
        </p:nvSpPr>
        <p:spPr/>
        <p:txBody>
          <a:bodyPr/>
          <a:lstStyle/>
          <a:p>
            <a:pPr>
              <a:defRPr/>
            </a:pPr>
            <a:fld id="{EBF73BDF-690D-4725-BA10-A7934ED52EAB}" type="slidenum">
              <a:rPr lang="zh-TW" altLang="en-US" smtClean="0"/>
              <a:pPr>
                <a:defRPr/>
              </a:pPr>
              <a:t>55</a:t>
            </a:fld>
            <a:endParaRPr lang="en-US" altLang="zh-TW"/>
          </a:p>
        </p:txBody>
      </p:sp>
      <p:sp>
        <p:nvSpPr>
          <p:cNvPr id="3" name="Rectangle 2">
            <a:extLst>
              <a:ext uri="{FF2B5EF4-FFF2-40B4-BE49-F238E27FC236}">
                <a16:creationId xmlns:a16="http://schemas.microsoft.com/office/drawing/2014/main" id="{9393CF5E-B463-6E2D-28AF-C37C4F2F010C}"/>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interpretation-Core electron: Chemical shift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33CBA1E-23C8-4707-BA68-38B35A68DD26}"/>
              </a:ext>
            </a:extLst>
          </p:cNvPr>
          <p:cNvGrpSpPr/>
          <p:nvPr/>
        </p:nvGrpSpPr>
        <p:grpSpPr>
          <a:xfrm>
            <a:off x="533400" y="2590800"/>
            <a:ext cx="3429000" cy="2971800"/>
            <a:chOff x="2590800" y="1971675"/>
            <a:chExt cx="3429000" cy="2971800"/>
          </a:xfrm>
        </p:grpSpPr>
        <p:grpSp>
          <p:nvGrpSpPr>
            <p:cNvPr id="16387" name="Group 7"/>
            <p:cNvGrpSpPr>
              <a:grpSpLocks/>
            </p:cNvGrpSpPr>
            <p:nvPr/>
          </p:nvGrpSpPr>
          <p:grpSpPr bwMode="auto">
            <a:xfrm>
              <a:off x="3886200" y="3038475"/>
              <a:ext cx="762000" cy="784225"/>
              <a:chOff x="2832" y="2386"/>
              <a:chExt cx="480" cy="494"/>
            </a:xfrm>
          </p:grpSpPr>
          <p:sp>
            <p:nvSpPr>
              <p:cNvPr id="16405" name="Oval 8"/>
              <p:cNvSpPr>
                <a:spLocks noChangeArrowheads="1"/>
              </p:cNvSpPr>
              <p:nvPr/>
            </p:nvSpPr>
            <p:spPr bwMode="auto">
              <a:xfrm>
                <a:off x="2832" y="2400"/>
                <a:ext cx="480" cy="480"/>
              </a:xfrm>
              <a:prstGeom prst="ellipse">
                <a:avLst/>
              </a:prstGeom>
              <a:solidFill>
                <a:srgbClr val="FFFFCC"/>
              </a:solidFill>
              <a:ln w="9525">
                <a:solidFill>
                  <a:srgbClr val="FFFF99"/>
                </a:solidFill>
                <a:miter lim="800000"/>
                <a:headEnd/>
                <a:tailEnd/>
              </a:ln>
            </p:spPr>
            <p:txBody>
              <a:bodyPr wrap="none" anchor="ctr"/>
              <a:lstStyle/>
              <a:p>
                <a:endParaRPr lang="zh-CN" altLang="zh-CN">
                  <a:ea typeface="SimSun" pitchFamily="2" charset="-122"/>
                </a:endParaRPr>
              </a:p>
            </p:txBody>
          </p:sp>
          <p:sp>
            <p:nvSpPr>
              <p:cNvPr id="16406" name="Text Box 9"/>
              <p:cNvSpPr txBox="1">
                <a:spLocks noChangeArrowheads="1"/>
              </p:cNvSpPr>
              <p:nvPr/>
            </p:nvSpPr>
            <p:spPr bwMode="auto">
              <a:xfrm>
                <a:off x="2928" y="2386"/>
                <a:ext cx="313" cy="404"/>
              </a:xfrm>
              <a:prstGeom prst="rect">
                <a:avLst/>
              </a:prstGeom>
              <a:noFill/>
              <a:ln w="9525">
                <a:noFill/>
                <a:miter lim="800000"/>
                <a:headEnd/>
                <a:tailEnd/>
              </a:ln>
            </p:spPr>
            <p:txBody>
              <a:bodyPr wrap="none">
                <a:spAutoFit/>
              </a:bodyPr>
              <a:lstStyle/>
              <a:p>
                <a:pPr eaLnBrk="1" hangingPunct="1"/>
                <a:r>
                  <a:rPr lang="en-US" altLang="zh-CN" sz="3600" i="1">
                    <a:solidFill>
                      <a:schemeClr val="bg2"/>
                    </a:solidFill>
                    <a:latin typeface="Times New Roman" pitchFamily="18" charset="0"/>
                    <a:ea typeface="SimSun" pitchFamily="2" charset="-122"/>
                  </a:rPr>
                  <a:t>q</a:t>
                </a:r>
                <a:r>
                  <a:rPr lang="en-US" altLang="zh-CN" sz="3600" i="1" baseline="-15000">
                    <a:solidFill>
                      <a:schemeClr val="bg2"/>
                    </a:solidFill>
                    <a:latin typeface="Times New Roman" pitchFamily="18" charset="0"/>
                    <a:ea typeface="SimSun" pitchFamily="2" charset="-122"/>
                  </a:rPr>
                  <a:t>i</a:t>
                </a:r>
                <a:endParaRPr lang="en-US" altLang="zh-CN" sz="3600" i="1">
                  <a:solidFill>
                    <a:schemeClr val="bg2"/>
                  </a:solidFill>
                  <a:latin typeface="Times New Roman" pitchFamily="18" charset="0"/>
                  <a:ea typeface="SimSun" pitchFamily="2" charset="-122"/>
                </a:endParaRPr>
              </a:p>
            </p:txBody>
          </p:sp>
        </p:grpSp>
        <p:grpSp>
          <p:nvGrpSpPr>
            <p:cNvPr id="16388" name="Group 10"/>
            <p:cNvGrpSpPr>
              <a:grpSpLocks/>
            </p:cNvGrpSpPr>
            <p:nvPr/>
          </p:nvGrpSpPr>
          <p:grpSpPr bwMode="auto">
            <a:xfrm>
              <a:off x="4800600" y="1971675"/>
              <a:ext cx="1066800" cy="1066800"/>
              <a:chOff x="4272" y="2016"/>
              <a:chExt cx="672" cy="672"/>
            </a:xfrm>
          </p:grpSpPr>
          <p:sp>
            <p:nvSpPr>
              <p:cNvPr id="16403" name="Oval 11"/>
              <p:cNvSpPr>
                <a:spLocks noChangeArrowheads="1"/>
              </p:cNvSpPr>
              <p:nvPr/>
            </p:nvSpPr>
            <p:spPr bwMode="auto">
              <a:xfrm>
                <a:off x="4272" y="2016"/>
                <a:ext cx="672" cy="672"/>
              </a:xfrm>
              <a:prstGeom prst="ellipse">
                <a:avLst/>
              </a:prstGeom>
              <a:solidFill>
                <a:srgbClr val="FF0000"/>
              </a:solidFill>
              <a:ln w="9525">
                <a:solidFill>
                  <a:srgbClr val="FF0000"/>
                </a:solidFill>
                <a:miter lim="800000"/>
                <a:headEnd/>
                <a:tailEnd/>
              </a:ln>
            </p:spPr>
            <p:txBody>
              <a:bodyPr wrap="none" anchor="ctr"/>
              <a:lstStyle/>
              <a:p>
                <a:endParaRPr lang="zh-CN" altLang="zh-CN">
                  <a:ea typeface="SimSun" pitchFamily="2" charset="-122"/>
                </a:endParaRPr>
              </a:p>
            </p:txBody>
          </p:sp>
          <p:sp>
            <p:nvSpPr>
              <p:cNvPr id="16404" name="Text Box 12"/>
              <p:cNvSpPr txBox="1">
                <a:spLocks noChangeArrowheads="1"/>
              </p:cNvSpPr>
              <p:nvPr/>
            </p:nvSpPr>
            <p:spPr bwMode="auto">
              <a:xfrm>
                <a:off x="4464" y="2064"/>
                <a:ext cx="319" cy="410"/>
              </a:xfrm>
              <a:prstGeom prst="rect">
                <a:avLst/>
              </a:prstGeom>
              <a:solidFill>
                <a:srgbClr val="FF0000"/>
              </a:solidFill>
              <a:ln w="9525">
                <a:solidFill>
                  <a:srgbClr val="FF0000"/>
                </a:solidFill>
                <a:miter lim="800000"/>
                <a:headEnd/>
                <a:tailEnd/>
              </a:ln>
            </p:spPr>
            <p:txBody>
              <a:bodyPr wrap="none">
                <a:spAutoFit/>
              </a:bodyPr>
              <a:lstStyle/>
              <a:p>
                <a:pPr eaLnBrk="1" hangingPunct="1"/>
                <a:r>
                  <a:rPr lang="en-US" altLang="zh-CN" sz="3600" i="1">
                    <a:latin typeface="Times New Roman" pitchFamily="18" charset="0"/>
                    <a:ea typeface="SimSun" pitchFamily="2" charset="-122"/>
                  </a:rPr>
                  <a:t>q</a:t>
                </a:r>
                <a:r>
                  <a:rPr lang="en-US" altLang="zh-CN" sz="3600" i="1" baseline="-15000">
                    <a:latin typeface="Times New Roman" pitchFamily="18" charset="0"/>
                    <a:ea typeface="SimSun" pitchFamily="2" charset="-122"/>
                  </a:rPr>
                  <a:t>j</a:t>
                </a:r>
                <a:endParaRPr lang="en-US" altLang="zh-CN" sz="3600" i="1">
                  <a:latin typeface="Times New Roman" pitchFamily="18" charset="0"/>
                  <a:ea typeface="SimSun" pitchFamily="2" charset="-122"/>
                </a:endParaRPr>
              </a:p>
            </p:txBody>
          </p:sp>
        </p:grpSp>
        <p:grpSp>
          <p:nvGrpSpPr>
            <p:cNvPr id="16389" name="Group 13"/>
            <p:cNvGrpSpPr>
              <a:grpSpLocks/>
            </p:cNvGrpSpPr>
            <p:nvPr/>
          </p:nvGrpSpPr>
          <p:grpSpPr bwMode="auto">
            <a:xfrm>
              <a:off x="2590800" y="2047875"/>
              <a:ext cx="1066800" cy="1066800"/>
              <a:chOff x="4272" y="2016"/>
              <a:chExt cx="672" cy="672"/>
            </a:xfrm>
          </p:grpSpPr>
          <p:sp>
            <p:nvSpPr>
              <p:cNvPr id="16401" name="Oval 14"/>
              <p:cNvSpPr>
                <a:spLocks noChangeArrowheads="1"/>
              </p:cNvSpPr>
              <p:nvPr/>
            </p:nvSpPr>
            <p:spPr bwMode="auto">
              <a:xfrm>
                <a:off x="4272" y="2016"/>
                <a:ext cx="672" cy="672"/>
              </a:xfrm>
              <a:prstGeom prst="ellipse">
                <a:avLst/>
              </a:prstGeom>
              <a:solidFill>
                <a:srgbClr val="FF0000"/>
              </a:solidFill>
              <a:ln w="9525">
                <a:solidFill>
                  <a:srgbClr val="FF0000"/>
                </a:solidFill>
                <a:miter lim="800000"/>
                <a:headEnd/>
                <a:tailEnd/>
              </a:ln>
            </p:spPr>
            <p:txBody>
              <a:bodyPr wrap="none" anchor="ctr"/>
              <a:lstStyle/>
              <a:p>
                <a:endParaRPr lang="zh-CN" altLang="zh-CN">
                  <a:ea typeface="SimSun" pitchFamily="2" charset="-122"/>
                </a:endParaRPr>
              </a:p>
            </p:txBody>
          </p:sp>
          <p:sp>
            <p:nvSpPr>
              <p:cNvPr id="16402" name="Text Box 15"/>
              <p:cNvSpPr txBox="1">
                <a:spLocks noChangeArrowheads="1"/>
              </p:cNvSpPr>
              <p:nvPr/>
            </p:nvSpPr>
            <p:spPr bwMode="auto">
              <a:xfrm>
                <a:off x="4464" y="2064"/>
                <a:ext cx="319" cy="410"/>
              </a:xfrm>
              <a:prstGeom prst="rect">
                <a:avLst/>
              </a:prstGeom>
              <a:solidFill>
                <a:srgbClr val="FF0000"/>
              </a:solidFill>
              <a:ln w="9525">
                <a:solidFill>
                  <a:srgbClr val="FF0000"/>
                </a:solidFill>
                <a:miter lim="800000"/>
                <a:headEnd/>
                <a:tailEnd/>
              </a:ln>
            </p:spPr>
            <p:txBody>
              <a:bodyPr wrap="none">
                <a:spAutoFit/>
              </a:bodyPr>
              <a:lstStyle/>
              <a:p>
                <a:pPr eaLnBrk="1" hangingPunct="1"/>
                <a:r>
                  <a:rPr lang="en-US" altLang="zh-CN" sz="3600" i="1">
                    <a:latin typeface="Times New Roman" pitchFamily="18" charset="0"/>
                    <a:ea typeface="SimSun" pitchFamily="2" charset="-122"/>
                  </a:rPr>
                  <a:t>q</a:t>
                </a:r>
                <a:r>
                  <a:rPr lang="en-US" altLang="zh-CN" sz="3600" i="1" baseline="-15000">
                    <a:latin typeface="Times New Roman" pitchFamily="18" charset="0"/>
                    <a:ea typeface="SimSun" pitchFamily="2" charset="-122"/>
                  </a:rPr>
                  <a:t>j</a:t>
                </a:r>
                <a:endParaRPr lang="en-US" altLang="zh-CN" sz="3600" i="1">
                  <a:latin typeface="Times New Roman" pitchFamily="18" charset="0"/>
                  <a:ea typeface="SimSun" pitchFamily="2" charset="-122"/>
                </a:endParaRPr>
              </a:p>
            </p:txBody>
          </p:sp>
        </p:grpSp>
        <p:grpSp>
          <p:nvGrpSpPr>
            <p:cNvPr id="16390" name="Group 16"/>
            <p:cNvGrpSpPr>
              <a:grpSpLocks/>
            </p:cNvGrpSpPr>
            <p:nvPr/>
          </p:nvGrpSpPr>
          <p:grpSpPr bwMode="auto">
            <a:xfrm>
              <a:off x="2590800" y="3876675"/>
              <a:ext cx="1066800" cy="1066800"/>
              <a:chOff x="4272" y="2016"/>
              <a:chExt cx="672" cy="672"/>
            </a:xfrm>
          </p:grpSpPr>
          <p:sp>
            <p:nvSpPr>
              <p:cNvPr id="16399" name="Oval 17"/>
              <p:cNvSpPr>
                <a:spLocks noChangeArrowheads="1"/>
              </p:cNvSpPr>
              <p:nvPr/>
            </p:nvSpPr>
            <p:spPr bwMode="auto">
              <a:xfrm>
                <a:off x="4272" y="2016"/>
                <a:ext cx="672" cy="672"/>
              </a:xfrm>
              <a:prstGeom prst="ellipse">
                <a:avLst/>
              </a:prstGeom>
              <a:solidFill>
                <a:srgbClr val="FF0000"/>
              </a:solidFill>
              <a:ln w="9525">
                <a:solidFill>
                  <a:srgbClr val="FF0000"/>
                </a:solidFill>
                <a:miter lim="800000"/>
                <a:headEnd/>
                <a:tailEnd/>
              </a:ln>
            </p:spPr>
            <p:txBody>
              <a:bodyPr wrap="none" anchor="ctr"/>
              <a:lstStyle/>
              <a:p>
                <a:endParaRPr lang="zh-CN" altLang="zh-CN">
                  <a:ea typeface="SimSun" pitchFamily="2" charset="-122"/>
                </a:endParaRPr>
              </a:p>
            </p:txBody>
          </p:sp>
          <p:sp>
            <p:nvSpPr>
              <p:cNvPr id="16400" name="Text Box 18"/>
              <p:cNvSpPr txBox="1">
                <a:spLocks noChangeArrowheads="1"/>
              </p:cNvSpPr>
              <p:nvPr/>
            </p:nvSpPr>
            <p:spPr bwMode="auto">
              <a:xfrm>
                <a:off x="4464" y="2064"/>
                <a:ext cx="319" cy="410"/>
              </a:xfrm>
              <a:prstGeom prst="rect">
                <a:avLst/>
              </a:prstGeom>
              <a:solidFill>
                <a:srgbClr val="FF0000"/>
              </a:solidFill>
              <a:ln w="9525">
                <a:solidFill>
                  <a:srgbClr val="FF0000"/>
                </a:solidFill>
                <a:miter lim="800000"/>
                <a:headEnd/>
                <a:tailEnd/>
              </a:ln>
            </p:spPr>
            <p:txBody>
              <a:bodyPr wrap="none">
                <a:spAutoFit/>
              </a:bodyPr>
              <a:lstStyle/>
              <a:p>
                <a:pPr eaLnBrk="1" hangingPunct="1"/>
                <a:r>
                  <a:rPr lang="en-US" altLang="zh-CN" sz="3600" i="1">
                    <a:latin typeface="Times New Roman" pitchFamily="18" charset="0"/>
                    <a:ea typeface="SimSun" pitchFamily="2" charset="-122"/>
                  </a:rPr>
                  <a:t>q</a:t>
                </a:r>
                <a:r>
                  <a:rPr lang="en-US" altLang="zh-CN" sz="3600" i="1" baseline="-15000">
                    <a:latin typeface="Times New Roman" pitchFamily="18" charset="0"/>
                    <a:ea typeface="SimSun" pitchFamily="2" charset="-122"/>
                  </a:rPr>
                  <a:t>j</a:t>
                </a:r>
                <a:endParaRPr lang="en-US" altLang="zh-CN" sz="3600" i="1">
                  <a:latin typeface="Times New Roman" pitchFamily="18" charset="0"/>
                  <a:ea typeface="SimSun" pitchFamily="2" charset="-122"/>
                </a:endParaRPr>
              </a:p>
            </p:txBody>
          </p:sp>
        </p:grpSp>
        <p:grpSp>
          <p:nvGrpSpPr>
            <p:cNvPr id="16391" name="Group 19"/>
            <p:cNvGrpSpPr>
              <a:grpSpLocks/>
            </p:cNvGrpSpPr>
            <p:nvPr/>
          </p:nvGrpSpPr>
          <p:grpSpPr bwMode="auto">
            <a:xfrm>
              <a:off x="4953000" y="3876675"/>
              <a:ext cx="1066800" cy="1066800"/>
              <a:chOff x="4272" y="2016"/>
              <a:chExt cx="672" cy="672"/>
            </a:xfrm>
          </p:grpSpPr>
          <p:sp>
            <p:nvSpPr>
              <p:cNvPr id="16397" name="Oval 20"/>
              <p:cNvSpPr>
                <a:spLocks noChangeArrowheads="1"/>
              </p:cNvSpPr>
              <p:nvPr/>
            </p:nvSpPr>
            <p:spPr bwMode="auto">
              <a:xfrm>
                <a:off x="4272" y="2016"/>
                <a:ext cx="672" cy="672"/>
              </a:xfrm>
              <a:prstGeom prst="ellipse">
                <a:avLst/>
              </a:prstGeom>
              <a:solidFill>
                <a:srgbClr val="FF0000"/>
              </a:solidFill>
              <a:ln w="9525">
                <a:solidFill>
                  <a:srgbClr val="FF0000"/>
                </a:solidFill>
                <a:miter lim="800000"/>
                <a:headEnd/>
                <a:tailEnd/>
              </a:ln>
            </p:spPr>
            <p:txBody>
              <a:bodyPr wrap="none" anchor="ctr"/>
              <a:lstStyle/>
              <a:p>
                <a:endParaRPr lang="zh-CN" altLang="zh-CN">
                  <a:ea typeface="SimSun" pitchFamily="2" charset="-122"/>
                </a:endParaRPr>
              </a:p>
            </p:txBody>
          </p:sp>
          <p:sp>
            <p:nvSpPr>
              <p:cNvPr id="16398" name="Text Box 21"/>
              <p:cNvSpPr txBox="1">
                <a:spLocks noChangeArrowheads="1"/>
              </p:cNvSpPr>
              <p:nvPr/>
            </p:nvSpPr>
            <p:spPr bwMode="auto">
              <a:xfrm>
                <a:off x="4464" y="2064"/>
                <a:ext cx="319" cy="410"/>
              </a:xfrm>
              <a:prstGeom prst="rect">
                <a:avLst/>
              </a:prstGeom>
              <a:solidFill>
                <a:srgbClr val="FF0000"/>
              </a:solidFill>
              <a:ln w="9525">
                <a:solidFill>
                  <a:srgbClr val="FF0000"/>
                </a:solidFill>
                <a:miter lim="800000"/>
                <a:headEnd/>
                <a:tailEnd/>
              </a:ln>
            </p:spPr>
            <p:txBody>
              <a:bodyPr wrap="none">
                <a:spAutoFit/>
              </a:bodyPr>
              <a:lstStyle/>
              <a:p>
                <a:pPr eaLnBrk="1" hangingPunct="1"/>
                <a:r>
                  <a:rPr lang="en-US" altLang="zh-CN" sz="3600" i="1">
                    <a:latin typeface="Times New Roman" pitchFamily="18" charset="0"/>
                    <a:ea typeface="SimSun" pitchFamily="2" charset="-122"/>
                  </a:rPr>
                  <a:t>q</a:t>
                </a:r>
                <a:r>
                  <a:rPr lang="en-US" altLang="zh-CN" sz="3600" i="1" baseline="-15000">
                    <a:latin typeface="Times New Roman" pitchFamily="18" charset="0"/>
                    <a:ea typeface="SimSun" pitchFamily="2" charset="-122"/>
                  </a:rPr>
                  <a:t>j</a:t>
                </a:r>
                <a:endParaRPr lang="en-US" altLang="zh-CN" sz="3600" i="1">
                  <a:latin typeface="Times New Roman" pitchFamily="18" charset="0"/>
                  <a:ea typeface="SimSun" pitchFamily="2" charset="-122"/>
                </a:endParaRPr>
              </a:p>
            </p:txBody>
          </p:sp>
        </p:grpSp>
        <p:sp>
          <p:nvSpPr>
            <p:cNvPr id="16392" name="Line 22"/>
            <p:cNvSpPr>
              <a:spLocks noChangeShapeType="1"/>
            </p:cNvSpPr>
            <p:nvPr/>
          </p:nvSpPr>
          <p:spPr bwMode="auto">
            <a:xfrm flipV="1">
              <a:off x="3200400" y="3495675"/>
              <a:ext cx="990600" cy="914400"/>
            </a:xfrm>
            <a:prstGeom prst="line">
              <a:avLst/>
            </a:prstGeom>
            <a:noFill/>
            <a:ln w="28575">
              <a:solidFill>
                <a:schemeClr val="bg2"/>
              </a:solidFill>
              <a:miter lim="800000"/>
              <a:headEnd type="triangle" w="med" len="med"/>
              <a:tailEnd type="triangle" w="med" len="med"/>
            </a:ln>
          </p:spPr>
          <p:txBody>
            <a:bodyPr wrap="none"/>
            <a:lstStyle/>
            <a:p>
              <a:endParaRPr lang="en-US"/>
            </a:p>
          </p:txBody>
        </p:sp>
        <p:sp>
          <p:nvSpPr>
            <p:cNvPr id="16393" name="Text Box 23"/>
            <p:cNvSpPr txBox="1">
              <a:spLocks noChangeArrowheads="1"/>
            </p:cNvSpPr>
            <p:nvPr/>
          </p:nvSpPr>
          <p:spPr bwMode="auto">
            <a:xfrm>
              <a:off x="3276600" y="3190875"/>
              <a:ext cx="530225" cy="641350"/>
            </a:xfrm>
            <a:prstGeom prst="rect">
              <a:avLst/>
            </a:prstGeom>
            <a:noFill/>
            <a:ln w="9525">
              <a:noFill/>
              <a:miter lim="800000"/>
              <a:headEnd/>
              <a:tailEnd/>
            </a:ln>
          </p:spPr>
          <p:txBody>
            <a:bodyPr wrap="none">
              <a:spAutoFit/>
            </a:bodyPr>
            <a:lstStyle/>
            <a:p>
              <a:pPr eaLnBrk="1" hangingPunct="1"/>
              <a:r>
                <a:rPr lang="en-US" altLang="zh-CN" sz="3600" i="1">
                  <a:latin typeface="Times New Roman" pitchFamily="18" charset="0"/>
                  <a:ea typeface="SimSun" pitchFamily="2" charset="-122"/>
                </a:rPr>
                <a:t>r</a:t>
              </a:r>
              <a:r>
                <a:rPr lang="en-US" altLang="zh-CN" sz="3600" i="1" baseline="-15000">
                  <a:latin typeface="Times New Roman" pitchFamily="18" charset="0"/>
                  <a:ea typeface="SimSun" pitchFamily="2" charset="-122"/>
                </a:rPr>
                <a:t>ij</a:t>
              </a:r>
              <a:endParaRPr lang="en-US" altLang="zh-CN" sz="3600" i="1">
                <a:latin typeface="Times New Roman" pitchFamily="18" charset="0"/>
                <a:ea typeface="SimSun" pitchFamily="2" charset="-122"/>
              </a:endParaRPr>
            </a:p>
          </p:txBody>
        </p:sp>
      </p:grpSp>
      <p:sp>
        <p:nvSpPr>
          <p:cNvPr id="16395" name="Rectangle 25"/>
          <p:cNvSpPr>
            <a:spLocks noChangeArrowheads="1"/>
          </p:cNvSpPr>
          <p:nvPr/>
        </p:nvSpPr>
        <p:spPr bwMode="auto">
          <a:xfrm>
            <a:off x="838200" y="1061473"/>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Chemical shift – Charge-potential model</a:t>
            </a:r>
          </a:p>
        </p:txBody>
      </p:sp>
      <p:sp>
        <p:nvSpPr>
          <p:cNvPr id="2" name="Slide Number Placeholder 1">
            <a:extLst>
              <a:ext uri="{FF2B5EF4-FFF2-40B4-BE49-F238E27FC236}">
                <a16:creationId xmlns:a16="http://schemas.microsoft.com/office/drawing/2014/main" id="{44D72690-FF32-487C-82F5-ABCE72DAC547}"/>
              </a:ext>
            </a:extLst>
          </p:cNvPr>
          <p:cNvSpPr>
            <a:spLocks noGrp="1"/>
          </p:cNvSpPr>
          <p:nvPr>
            <p:ph type="sldNum" sz="quarter" idx="11"/>
          </p:nvPr>
        </p:nvSpPr>
        <p:spPr/>
        <p:txBody>
          <a:bodyPr/>
          <a:lstStyle/>
          <a:p>
            <a:pPr>
              <a:defRPr/>
            </a:pPr>
            <a:fld id="{EBF73BDF-690D-4725-BA10-A7934ED52EAB}" type="slidenum">
              <a:rPr lang="zh-TW" altLang="en-US" smtClean="0"/>
              <a:pPr>
                <a:defRPr/>
              </a:pPr>
              <a:t>56</a:t>
            </a:fld>
            <a:endParaRPr lang="en-US" altLang="zh-TW"/>
          </a:p>
        </p:txBody>
      </p:sp>
      <p:sp>
        <p:nvSpPr>
          <p:cNvPr id="3" name="Rectangle 2">
            <a:extLst>
              <a:ext uri="{FF2B5EF4-FFF2-40B4-BE49-F238E27FC236}">
                <a16:creationId xmlns:a16="http://schemas.microsoft.com/office/drawing/2014/main" id="{36C07D99-9CDD-7E7D-33B5-6918A636B8F6}"/>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interpretation-Chemical shift: principle</a:t>
            </a:r>
          </a:p>
        </p:txBody>
      </p:sp>
      <p:sp>
        <p:nvSpPr>
          <p:cNvPr id="6" name="TextBox 5">
            <a:extLst>
              <a:ext uri="{FF2B5EF4-FFF2-40B4-BE49-F238E27FC236}">
                <a16:creationId xmlns:a16="http://schemas.microsoft.com/office/drawing/2014/main" id="{39CE470B-BB16-E74A-D0E9-111932003B92}"/>
              </a:ext>
            </a:extLst>
          </p:cNvPr>
          <p:cNvSpPr txBox="1"/>
          <p:nvPr/>
        </p:nvSpPr>
        <p:spPr>
          <a:xfrm>
            <a:off x="4114800" y="1952685"/>
            <a:ext cx="4572000" cy="4524315"/>
          </a:xfrm>
          <a:prstGeom prst="rect">
            <a:avLst/>
          </a:prstGeom>
          <a:noFill/>
        </p:spPr>
        <p:txBody>
          <a:bodyPr wrap="square">
            <a:spAutoFit/>
          </a:bodyPr>
          <a:lstStyle/>
          <a:p>
            <a:pPr algn="just" eaLnBrk="1" hangingPunct="1"/>
            <a:r>
              <a:rPr lang="en-US" altLang="zh-TW" sz="1800" dirty="0">
                <a:latin typeface="Georgia" panose="02040502050405020303" pitchFamily="18" charset="0"/>
                <a:ea typeface="新細明體" pitchFamily="18" charset="-120"/>
              </a:rPr>
              <a:t>A simple but successful model has long been used to interpret the chemical shift data – </a:t>
            </a:r>
            <a:r>
              <a:rPr lang="en-US" altLang="zh-TW" sz="1800" dirty="0">
                <a:solidFill>
                  <a:srgbClr val="006600"/>
                </a:solidFill>
                <a:latin typeface="Georgia" panose="02040502050405020303" pitchFamily="18" charset="0"/>
                <a:ea typeface="新細明體" pitchFamily="18" charset="-120"/>
              </a:rPr>
              <a:t>the charge potential model</a:t>
            </a:r>
          </a:p>
          <a:p>
            <a:pPr algn="just" eaLnBrk="1" hangingPunct="1"/>
            <a:endParaRPr lang="en-US" altLang="zh-TW" dirty="0">
              <a:solidFill>
                <a:srgbClr val="006600"/>
              </a:solidFill>
              <a:latin typeface="Georgia" panose="02040502050405020303" pitchFamily="18" charset="0"/>
              <a:ea typeface="新細明體" pitchFamily="18" charset="-120"/>
            </a:endParaRPr>
          </a:p>
          <a:p>
            <a:pPr marL="285750" indent="-285750" algn="just" eaLnBrk="1" hangingPunct="1">
              <a:buFont typeface="Arial" panose="020B0604020202020204" pitchFamily="34" charset="0"/>
              <a:buChar char="•"/>
            </a:pPr>
            <a:r>
              <a:rPr lang="en-US" altLang="zh-TW" sz="1800" dirty="0">
                <a:latin typeface="Georgia" panose="02040502050405020303" pitchFamily="18" charset="0"/>
                <a:ea typeface="新細明體" pitchFamily="18" charset="-120"/>
              </a:rPr>
              <a:t>Chemical shift is a relative concept (finding the reference)</a:t>
            </a:r>
          </a:p>
          <a:p>
            <a:pPr marL="285750" indent="-285750" algn="just" eaLnBrk="1" hangingPunct="1">
              <a:buFont typeface="Arial" panose="020B0604020202020204" pitchFamily="34" charset="0"/>
              <a:buChar char="•"/>
            </a:pPr>
            <a:endParaRPr lang="en-US" altLang="zh-TW" sz="1800" dirty="0">
              <a:latin typeface="Georgia" panose="02040502050405020303" pitchFamily="18" charset="0"/>
              <a:ea typeface="新細明體" pitchFamily="18" charset="-120"/>
            </a:endParaRPr>
          </a:p>
          <a:p>
            <a:pPr marL="285750" indent="-285750" algn="just" eaLnBrk="1" hangingPunct="1">
              <a:buFont typeface="Arial" panose="020B0604020202020204" pitchFamily="34" charset="0"/>
              <a:buChar char="•"/>
            </a:pPr>
            <a:r>
              <a:rPr lang="en-US" altLang="zh-TW" sz="1800" dirty="0">
                <a:latin typeface="Georgia" panose="02040502050405020303" pitchFamily="18" charset="0"/>
                <a:ea typeface="新細明體" pitchFamily="18" charset="-120"/>
              </a:rPr>
              <a:t>B.E. tells the level of difficulty to get a core electron out to vacuum</a:t>
            </a:r>
          </a:p>
          <a:p>
            <a:pPr marL="285750" indent="-285750" algn="just" eaLnBrk="1" hangingPunct="1">
              <a:buFont typeface="Arial" panose="020B0604020202020204" pitchFamily="34" charset="0"/>
              <a:buChar char="•"/>
            </a:pPr>
            <a:endParaRPr lang="en-US" altLang="zh-TW" dirty="0">
              <a:latin typeface="Georgia" panose="02040502050405020303" pitchFamily="18" charset="0"/>
              <a:ea typeface="新細明體" pitchFamily="18" charset="-120"/>
            </a:endParaRPr>
          </a:p>
          <a:p>
            <a:pPr marL="285750" indent="-285750" algn="just" eaLnBrk="1" hangingPunct="1">
              <a:buFont typeface="Arial" panose="020B0604020202020204" pitchFamily="34" charset="0"/>
              <a:buChar char="•"/>
            </a:pPr>
            <a:r>
              <a:rPr lang="en-US" altLang="zh-TW" dirty="0">
                <a:latin typeface="Georgia" panose="02040502050405020303" pitchFamily="18" charset="0"/>
                <a:ea typeface="新細明體" pitchFamily="18" charset="-120"/>
              </a:rPr>
              <a:t>What affect the difficulty level?</a:t>
            </a:r>
          </a:p>
          <a:p>
            <a:pPr marL="742950" lvl="1" indent="-285750" algn="just" eaLnBrk="1" hangingPunct="1">
              <a:buFont typeface="Arial" panose="020B0604020202020204" pitchFamily="34" charset="0"/>
              <a:buChar char="•"/>
            </a:pPr>
            <a:r>
              <a:rPr lang="en-US" altLang="zh-TW" dirty="0">
                <a:latin typeface="Georgia" panose="02040502050405020303" pitchFamily="18" charset="0"/>
                <a:ea typeface="新細明體" pitchFamily="18" charset="-120"/>
              </a:rPr>
              <a:t>Atomic core and electrons</a:t>
            </a:r>
          </a:p>
          <a:p>
            <a:pPr marL="1200150" lvl="2" indent="-285750" algn="just" eaLnBrk="1" hangingPunct="1">
              <a:buFont typeface="Arial" panose="020B0604020202020204" pitchFamily="34" charset="0"/>
              <a:buChar char="•"/>
            </a:pPr>
            <a:r>
              <a:rPr lang="en-US" altLang="zh-TW" dirty="0">
                <a:latin typeface="Georgia" panose="02040502050405020303" pitchFamily="18" charset="0"/>
                <a:ea typeface="新細明體" pitchFamily="18" charset="-120"/>
              </a:rPr>
              <a:t>Charge on the specific atom</a:t>
            </a:r>
          </a:p>
          <a:p>
            <a:pPr marL="1200150" lvl="2" indent="-285750" algn="just" eaLnBrk="1" hangingPunct="1">
              <a:buFont typeface="Arial" panose="020B0604020202020204" pitchFamily="34" charset="0"/>
              <a:buChar char="•"/>
            </a:pPr>
            <a:r>
              <a:rPr lang="en-US" altLang="zh-TW" dirty="0">
                <a:latin typeface="Georgia" panose="02040502050405020303" pitchFamily="18" charset="0"/>
                <a:ea typeface="新細明體" pitchFamily="18" charset="-120"/>
              </a:rPr>
              <a:t>Charge on surrounding atoms</a:t>
            </a:r>
          </a:p>
          <a:p>
            <a:pPr algn="just" eaLnBrk="1" hangingPunct="1"/>
            <a:endParaRPr lang="en-US" altLang="zh-TW" dirty="0">
              <a:solidFill>
                <a:srgbClr val="006600"/>
              </a:solidFill>
              <a:latin typeface="Georgia" panose="02040502050405020303" pitchFamily="18" charset="0"/>
              <a:ea typeface="新細明體" pitchFamily="18" charset="-120"/>
            </a:endParaRPr>
          </a:p>
          <a:p>
            <a:pPr algn="just" eaLnBrk="1" hangingPunct="1"/>
            <a:endParaRPr lang="en-US" altLang="zh-TW" sz="1800" dirty="0">
              <a:solidFill>
                <a:srgbClr val="006600"/>
              </a:solidFill>
              <a:latin typeface="Georgia" panose="02040502050405020303" pitchFamily="18" charset="0"/>
              <a:ea typeface="新細明體" pitchFamily="18" charset="-120"/>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Text Box 5"/>
          <p:cNvSpPr txBox="1">
            <a:spLocks noChangeArrowheads="1"/>
          </p:cNvSpPr>
          <p:nvPr/>
        </p:nvSpPr>
        <p:spPr bwMode="auto">
          <a:xfrm>
            <a:off x="381000" y="2133600"/>
            <a:ext cx="8229600" cy="3170099"/>
          </a:xfrm>
          <a:prstGeom prst="rect">
            <a:avLst/>
          </a:prstGeom>
          <a:noFill/>
          <a:ln w="9525">
            <a:noFill/>
            <a:miter lim="800000"/>
            <a:headEnd/>
            <a:tailEnd/>
          </a:ln>
        </p:spPr>
        <p:txBody>
          <a:bodyPr wrap="square">
            <a:spAutoFit/>
          </a:bodyPr>
          <a:lstStyle/>
          <a:p>
            <a:pPr algn="just" eaLnBrk="1" hangingPunct="1"/>
            <a:r>
              <a:rPr lang="en-US" altLang="zh-TW" sz="2000" dirty="0">
                <a:latin typeface="Georgia" panose="02040502050405020303" pitchFamily="18" charset="0"/>
                <a:ea typeface="新細明體" pitchFamily="18" charset="-120"/>
              </a:rPr>
              <a:t> 			</a:t>
            </a:r>
          </a:p>
          <a:p>
            <a:pPr marL="342900" indent="-342900" algn="just" eaLnBrk="1" hangingPunct="1">
              <a:spcAft>
                <a:spcPts val="600"/>
              </a:spcAft>
              <a:buFont typeface="Arial" panose="020B0604020202020204" pitchFamily="34" charset="0"/>
              <a:buChar char="•"/>
            </a:pPr>
            <a:r>
              <a:rPr lang="en-US" altLang="zh-TW" sz="2000" dirty="0">
                <a:latin typeface="Georgia" panose="02040502050405020303" pitchFamily="18" charset="0"/>
                <a:ea typeface="新細明體" pitchFamily="18" charset="-120"/>
              </a:rPr>
              <a:t>E</a:t>
            </a:r>
            <a:r>
              <a:rPr lang="en-US" altLang="zh-TW" sz="2000" baseline="-30000" dirty="0">
                <a:latin typeface="Georgia" panose="02040502050405020303" pitchFamily="18" charset="0"/>
                <a:ea typeface="新細明體" pitchFamily="18" charset="-120"/>
              </a:rPr>
              <a:t>i</a:t>
            </a:r>
            <a:r>
              <a:rPr lang="en-US" altLang="zh-TW" sz="2000" dirty="0">
                <a:latin typeface="Georgia" panose="02040502050405020303" pitchFamily="18" charset="0"/>
                <a:ea typeface="新細明體" pitchFamily="18" charset="-120"/>
              </a:rPr>
              <a:t> is the BE of a particular core level on atoms </a:t>
            </a:r>
            <a:r>
              <a:rPr lang="en-US" altLang="zh-TW" sz="2000" dirty="0" err="1">
                <a:latin typeface="Georgia" panose="02040502050405020303" pitchFamily="18" charset="0"/>
                <a:ea typeface="新細明體" pitchFamily="18" charset="-120"/>
              </a:rPr>
              <a:t>i</a:t>
            </a:r>
            <a:r>
              <a:rPr lang="en-US" altLang="zh-TW" sz="2000" dirty="0">
                <a:latin typeface="Georgia" panose="02040502050405020303" pitchFamily="18" charset="0"/>
                <a:ea typeface="新細明體" pitchFamily="18" charset="-120"/>
              </a:rPr>
              <a:t>, </a:t>
            </a:r>
          </a:p>
          <a:p>
            <a:pPr marL="342900" indent="-342900" algn="just" eaLnBrk="1" hangingPunct="1">
              <a:spcAft>
                <a:spcPts val="600"/>
              </a:spcAft>
              <a:buFont typeface="Arial" panose="020B0604020202020204" pitchFamily="34" charset="0"/>
              <a:buChar char="•"/>
            </a:pPr>
            <a:r>
              <a:rPr lang="en-US" altLang="zh-TW" sz="2000" dirty="0" err="1">
                <a:latin typeface="Georgia" panose="02040502050405020303" pitchFamily="18" charset="0"/>
                <a:ea typeface="新細明體" pitchFamily="18" charset="-120"/>
              </a:rPr>
              <a:t>E</a:t>
            </a:r>
            <a:r>
              <a:rPr lang="en-US" altLang="zh-TW" sz="2000" baseline="-30000" dirty="0" err="1">
                <a:latin typeface="Georgia" panose="02040502050405020303" pitchFamily="18" charset="0"/>
                <a:ea typeface="新細明體" pitchFamily="18" charset="-120"/>
              </a:rPr>
              <a:t>i</a:t>
            </a:r>
            <a:r>
              <a:rPr lang="en-US" altLang="zh-TW" sz="2000" baseline="30000" dirty="0" err="1">
                <a:latin typeface="Georgia" panose="02040502050405020303" pitchFamily="18" charset="0"/>
                <a:ea typeface="新細明體" pitchFamily="18" charset="-120"/>
              </a:rPr>
              <a:t>o</a:t>
            </a:r>
            <a:r>
              <a:rPr lang="en-US" altLang="zh-TW" sz="2000" dirty="0">
                <a:latin typeface="Georgia" panose="02040502050405020303" pitchFamily="18" charset="0"/>
                <a:ea typeface="新細明體" pitchFamily="18" charset="-120"/>
              </a:rPr>
              <a:t> is an energy reference (usually the BE of that core level from its elemental state), </a:t>
            </a:r>
          </a:p>
          <a:p>
            <a:pPr marL="342900" indent="-342900" algn="just" eaLnBrk="1" hangingPunct="1">
              <a:spcAft>
                <a:spcPts val="600"/>
              </a:spcAft>
              <a:buFont typeface="Arial" panose="020B0604020202020204" pitchFamily="34" charset="0"/>
              <a:buChar char="•"/>
            </a:pPr>
            <a:r>
              <a:rPr lang="en-US" altLang="zh-TW" sz="2000" dirty="0">
                <a:latin typeface="Georgia" panose="02040502050405020303" pitchFamily="18" charset="0"/>
                <a:ea typeface="新細明體" pitchFamily="18" charset="-120"/>
              </a:rPr>
              <a:t>q</a:t>
            </a:r>
            <a:r>
              <a:rPr lang="en-US" altLang="zh-TW" sz="2000" baseline="-30000" dirty="0">
                <a:latin typeface="Georgia" panose="02040502050405020303" pitchFamily="18" charset="0"/>
                <a:ea typeface="新細明體" pitchFamily="18" charset="-120"/>
              </a:rPr>
              <a:t>i</a:t>
            </a:r>
            <a:r>
              <a:rPr lang="en-US" altLang="zh-TW" sz="2000" dirty="0">
                <a:latin typeface="Georgia" panose="02040502050405020303" pitchFamily="18" charset="0"/>
                <a:ea typeface="新細明體" pitchFamily="18" charset="-120"/>
              </a:rPr>
              <a:t> is the charge on atom </a:t>
            </a:r>
            <a:r>
              <a:rPr lang="en-US" altLang="zh-TW" sz="2000" dirty="0" err="1">
                <a:latin typeface="Georgia" panose="02040502050405020303" pitchFamily="18" charset="0"/>
                <a:ea typeface="新細明體" pitchFamily="18" charset="-120"/>
              </a:rPr>
              <a:t>i</a:t>
            </a:r>
            <a:r>
              <a:rPr lang="en-US" altLang="zh-TW" sz="2000" dirty="0">
                <a:latin typeface="Georgia" panose="02040502050405020303" pitchFamily="18" charset="0"/>
                <a:ea typeface="新細明體" pitchFamily="18" charset="-120"/>
              </a:rPr>
              <a:t>, </a:t>
            </a:r>
          </a:p>
          <a:p>
            <a:pPr marL="342900" indent="-342900" algn="just" eaLnBrk="1" hangingPunct="1">
              <a:spcAft>
                <a:spcPts val="600"/>
              </a:spcAft>
              <a:buFont typeface="Arial" panose="020B0604020202020204" pitchFamily="34" charset="0"/>
              <a:buChar char="•"/>
            </a:pPr>
            <a:r>
              <a:rPr lang="en-US" altLang="zh-TW" sz="2000" dirty="0">
                <a:latin typeface="Georgia" panose="02040502050405020303" pitchFamily="18" charset="0"/>
                <a:ea typeface="新細明體" pitchFamily="18" charset="-120"/>
              </a:rPr>
              <a:t>The final term sums the potential at atom </a:t>
            </a:r>
            <a:r>
              <a:rPr lang="en-US" altLang="zh-TW" sz="2000" dirty="0" err="1">
                <a:latin typeface="Georgia" panose="02040502050405020303" pitchFamily="18" charset="0"/>
                <a:ea typeface="新細明體" pitchFamily="18" charset="-120"/>
              </a:rPr>
              <a:t>i</a:t>
            </a:r>
            <a:r>
              <a:rPr lang="en-US" altLang="zh-TW" sz="2000" dirty="0">
                <a:latin typeface="Georgia" panose="02040502050405020303" pitchFamily="18" charset="0"/>
                <a:ea typeface="新細明體" pitchFamily="18" charset="-120"/>
              </a:rPr>
              <a:t> due to “point charges” on surrounding atom j.  </a:t>
            </a:r>
          </a:p>
          <a:p>
            <a:pPr marL="342900" indent="-342900" algn="just" eaLnBrk="1" hangingPunct="1">
              <a:spcAft>
                <a:spcPts val="600"/>
              </a:spcAft>
              <a:buFont typeface="Arial" panose="020B0604020202020204" pitchFamily="34" charset="0"/>
              <a:buChar char="•"/>
            </a:pPr>
            <a:r>
              <a:rPr lang="en-US" altLang="zh-TW" sz="2000" dirty="0">
                <a:latin typeface="Georgia" panose="02040502050405020303" pitchFamily="18" charset="0"/>
                <a:ea typeface="新細明體" pitchFamily="18" charset="-120"/>
              </a:rPr>
              <a:t>This model has neglected the relaxation effects or the so-called final state effect, which is very important for transition metals.</a:t>
            </a:r>
            <a:endParaRPr lang="en-US" altLang="zh-CN" sz="2000" dirty="0">
              <a:latin typeface="Georgia" panose="02040502050405020303" pitchFamily="18" charset="0"/>
              <a:ea typeface="SimSun" pitchFamily="2" charset="-122"/>
            </a:endParaRPr>
          </a:p>
        </p:txBody>
      </p:sp>
      <p:graphicFrame>
        <p:nvGraphicFramePr>
          <p:cNvPr id="15362" name="Object 6"/>
          <p:cNvGraphicFramePr>
            <a:graphicFrameLocks noChangeAspect="1"/>
          </p:cNvGraphicFramePr>
          <p:nvPr>
            <p:extLst>
              <p:ext uri="{D42A27DB-BD31-4B8C-83A1-F6EECF244321}">
                <p14:modId xmlns:p14="http://schemas.microsoft.com/office/powerpoint/2010/main" val="1211591119"/>
              </p:ext>
            </p:extLst>
          </p:nvPr>
        </p:nvGraphicFramePr>
        <p:xfrm>
          <a:off x="2667000" y="1427798"/>
          <a:ext cx="2853483" cy="990600"/>
        </p:xfrm>
        <a:graphic>
          <a:graphicData uri="http://schemas.openxmlformats.org/presentationml/2006/ole">
            <mc:AlternateContent xmlns:mc="http://schemas.openxmlformats.org/markup-compatibility/2006">
              <mc:Choice xmlns:v="urn:schemas-microsoft-com:vml" Requires="v">
                <p:oleObj name="Equation" r:id="rId3" imgW="1346040" imgH="469800" progId="Equation.3">
                  <p:embed/>
                </p:oleObj>
              </mc:Choice>
              <mc:Fallback>
                <p:oleObj name="Equation" r:id="rId3" imgW="1346040" imgH="469800" progId="Equation.3">
                  <p:embed/>
                  <p:pic>
                    <p:nvPicPr>
                      <p:cNvPr id="15362" name="Object 6"/>
                      <p:cNvPicPr>
                        <a:picLocks noChangeAspect="1" noChangeArrowheads="1"/>
                      </p:cNvPicPr>
                      <p:nvPr/>
                    </p:nvPicPr>
                    <p:blipFill>
                      <a:blip r:embed="rId4"/>
                      <a:srcRect/>
                      <a:stretch>
                        <a:fillRect/>
                      </a:stretch>
                    </p:blipFill>
                    <p:spPr bwMode="auto">
                      <a:xfrm>
                        <a:off x="2667000" y="1427798"/>
                        <a:ext cx="2853483" cy="990600"/>
                      </a:xfrm>
                      <a:prstGeom prst="rect">
                        <a:avLst/>
                      </a:prstGeom>
                      <a:noFill/>
                    </p:spPr>
                  </p:pic>
                </p:oleObj>
              </mc:Fallback>
            </mc:AlternateContent>
          </a:graphicData>
        </a:graphic>
      </p:graphicFrame>
      <p:sp>
        <p:nvSpPr>
          <p:cNvPr id="15364" name="Rectangle 7"/>
          <p:cNvSpPr>
            <a:spLocks noChangeArrowheads="1"/>
          </p:cNvSpPr>
          <p:nvPr/>
        </p:nvSpPr>
        <p:spPr bwMode="auto">
          <a:xfrm>
            <a:off x="855241" y="783432"/>
            <a:ext cx="6934200" cy="461665"/>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Chemical shift – Charge-potential model</a:t>
            </a:r>
          </a:p>
        </p:txBody>
      </p:sp>
      <p:sp>
        <p:nvSpPr>
          <p:cNvPr id="2" name="Slide Number Placeholder 1">
            <a:extLst>
              <a:ext uri="{FF2B5EF4-FFF2-40B4-BE49-F238E27FC236}">
                <a16:creationId xmlns:a16="http://schemas.microsoft.com/office/drawing/2014/main" id="{0DCF601A-5EEC-45B8-A4B4-86DF24C52845}"/>
              </a:ext>
            </a:extLst>
          </p:cNvPr>
          <p:cNvSpPr>
            <a:spLocks noGrp="1"/>
          </p:cNvSpPr>
          <p:nvPr>
            <p:ph type="sldNum" sz="quarter" idx="11"/>
          </p:nvPr>
        </p:nvSpPr>
        <p:spPr/>
        <p:txBody>
          <a:bodyPr/>
          <a:lstStyle/>
          <a:p>
            <a:pPr>
              <a:defRPr/>
            </a:pPr>
            <a:fld id="{EBF73BDF-690D-4725-BA10-A7934ED52EAB}" type="slidenum">
              <a:rPr lang="zh-TW" altLang="en-US" smtClean="0"/>
              <a:pPr>
                <a:defRPr/>
              </a:pPr>
              <a:t>57</a:t>
            </a:fld>
            <a:endParaRPr lang="en-US" altLang="zh-TW"/>
          </a:p>
        </p:txBody>
      </p:sp>
      <p:sp>
        <p:nvSpPr>
          <p:cNvPr id="3" name="Rectangle 2">
            <a:extLst>
              <a:ext uri="{FF2B5EF4-FFF2-40B4-BE49-F238E27FC236}">
                <a16:creationId xmlns:a16="http://schemas.microsoft.com/office/drawing/2014/main" id="{2595C5FE-487E-8467-7597-65607ED72EF4}"/>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interpretation-Chemical shift: principle</a:t>
            </a:r>
          </a:p>
        </p:txBody>
      </p:sp>
      <p:sp>
        <p:nvSpPr>
          <p:cNvPr id="4" name="Text Box 24">
            <a:extLst>
              <a:ext uri="{FF2B5EF4-FFF2-40B4-BE49-F238E27FC236}">
                <a16:creationId xmlns:a16="http://schemas.microsoft.com/office/drawing/2014/main" id="{7668A3F0-EDDC-A2A2-F986-5EB03FF7F693}"/>
              </a:ext>
            </a:extLst>
          </p:cNvPr>
          <p:cNvSpPr txBox="1">
            <a:spLocks noChangeArrowheads="1"/>
          </p:cNvSpPr>
          <p:nvPr/>
        </p:nvSpPr>
        <p:spPr bwMode="auto">
          <a:xfrm>
            <a:off x="533400" y="5430202"/>
            <a:ext cx="7864475" cy="1015663"/>
          </a:xfrm>
          <a:prstGeom prst="rect">
            <a:avLst/>
          </a:prstGeom>
          <a:noFill/>
          <a:ln w="9525">
            <a:noFill/>
            <a:miter lim="800000"/>
            <a:headEnd/>
            <a:tailEnd/>
          </a:ln>
        </p:spPr>
        <p:txBody>
          <a:bodyPr wrap="square">
            <a:spAutoFit/>
          </a:bodyPr>
          <a:lstStyle/>
          <a:p>
            <a:pPr algn="just" eaLnBrk="1" hangingPunct="1"/>
            <a:r>
              <a:rPr lang="en-US" altLang="zh-TW" sz="2000" dirty="0">
                <a:latin typeface="Georgia" panose="02040502050405020303" pitchFamily="18" charset="0"/>
                <a:ea typeface="新細明體" pitchFamily="18" charset="-120"/>
              </a:rPr>
              <a:t>For example, elemental Si (oxidation state =0) has a Si 2p</a:t>
            </a:r>
            <a:r>
              <a:rPr lang="en-US" altLang="zh-TW" sz="2000" baseline="-15000" dirty="0">
                <a:latin typeface="Georgia" panose="02040502050405020303" pitchFamily="18" charset="0"/>
                <a:ea typeface="新細明體" pitchFamily="18" charset="-120"/>
              </a:rPr>
              <a:t>3/2</a:t>
            </a:r>
            <a:r>
              <a:rPr lang="en-US" altLang="zh-TW" sz="2000" dirty="0">
                <a:latin typeface="Georgia" panose="02040502050405020303" pitchFamily="18" charset="0"/>
                <a:ea typeface="新細明體" pitchFamily="18" charset="-120"/>
              </a:rPr>
              <a:t> signal at binding energy of ~99eV, while Si in SiO</a:t>
            </a:r>
            <a:r>
              <a:rPr lang="en-US" altLang="zh-TW" sz="2000" baseline="-15000" dirty="0">
                <a:latin typeface="Georgia" panose="02040502050405020303" pitchFamily="18" charset="0"/>
                <a:ea typeface="新細明體" pitchFamily="18" charset="-120"/>
              </a:rPr>
              <a:t>2</a:t>
            </a:r>
            <a:r>
              <a:rPr lang="en-US" altLang="zh-TW" sz="2000" dirty="0">
                <a:latin typeface="Georgia" panose="02040502050405020303" pitchFamily="18" charset="0"/>
                <a:ea typeface="新細明體" pitchFamily="18" charset="-120"/>
              </a:rPr>
              <a:t> has the corresponding signal at ~104eV.  There is a difference of about 4-5eV. </a:t>
            </a:r>
            <a:endParaRPr lang="en-US" altLang="zh-CN" sz="2000" dirty="0">
              <a:latin typeface="Georgia" panose="02040502050405020303" pitchFamily="18" charset="0"/>
              <a:ea typeface="SimSun" pitchFamily="2" charset="-122"/>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6082" name="Group 14"/>
          <p:cNvGrpSpPr>
            <a:grpSpLocks/>
          </p:cNvGrpSpPr>
          <p:nvPr/>
        </p:nvGrpSpPr>
        <p:grpSpPr bwMode="auto">
          <a:xfrm>
            <a:off x="838200" y="1953658"/>
            <a:ext cx="3124200" cy="4495800"/>
            <a:chOff x="912" y="1344"/>
            <a:chExt cx="1968" cy="2832"/>
          </a:xfrm>
        </p:grpSpPr>
        <p:grpSp>
          <p:nvGrpSpPr>
            <p:cNvPr id="46088" name="Group 5"/>
            <p:cNvGrpSpPr>
              <a:grpSpLocks/>
            </p:cNvGrpSpPr>
            <p:nvPr/>
          </p:nvGrpSpPr>
          <p:grpSpPr bwMode="auto">
            <a:xfrm>
              <a:off x="912" y="1344"/>
              <a:ext cx="1968" cy="2832"/>
              <a:chOff x="912" y="1344"/>
              <a:chExt cx="1968" cy="2832"/>
            </a:xfrm>
          </p:grpSpPr>
          <p:sp>
            <p:nvSpPr>
              <p:cNvPr id="46090" name="Rectangle 6"/>
              <p:cNvSpPr>
                <a:spLocks noChangeArrowheads="1"/>
              </p:cNvSpPr>
              <p:nvPr/>
            </p:nvSpPr>
            <p:spPr bwMode="auto">
              <a:xfrm>
                <a:off x="912" y="1344"/>
                <a:ext cx="1968" cy="2832"/>
              </a:xfrm>
              <a:prstGeom prst="rect">
                <a:avLst/>
              </a:prstGeom>
              <a:noFill/>
              <a:ln w="9525">
                <a:noFill/>
                <a:miter lim="800000"/>
                <a:headEnd/>
                <a:tailEnd/>
              </a:ln>
            </p:spPr>
            <p:txBody>
              <a:bodyPr wrap="none" anchor="ctr"/>
              <a:lstStyle/>
              <a:p>
                <a:endParaRPr lang="zh-CN" altLang="zh-CN">
                  <a:ea typeface="SimSun" pitchFamily="2" charset="-122"/>
                </a:endParaRPr>
              </a:p>
            </p:txBody>
          </p:sp>
          <p:pic>
            <p:nvPicPr>
              <p:cNvPr id="46091" name="Picture 7" descr="x17"/>
              <p:cNvPicPr>
                <a:picLocks noChangeAspect="1" noChangeArrowheads="1"/>
              </p:cNvPicPr>
              <p:nvPr/>
            </p:nvPicPr>
            <p:blipFill>
              <a:blip r:embed="rId2" cstate="print">
                <a:lum bright="-12000" contrast="24000"/>
              </a:blip>
              <a:srcRect/>
              <a:stretch>
                <a:fillRect/>
              </a:stretch>
            </p:blipFill>
            <p:spPr bwMode="auto">
              <a:xfrm>
                <a:off x="912" y="1344"/>
                <a:ext cx="1931" cy="2602"/>
              </a:xfrm>
              <a:prstGeom prst="rect">
                <a:avLst/>
              </a:prstGeom>
              <a:noFill/>
              <a:ln w="9525">
                <a:noFill/>
                <a:miter lim="800000"/>
                <a:headEnd/>
                <a:tailEnd/>
              </a:ln>
            </p:spPr>
          </p:pic>
        </p:grpSp>
        <p:sp>
          <p:nvSpPr>
            <p:cNvPr id="46089" name="Text Box 8"/>
            <p:cNvSpPr txBox="1">
              <a:spLocks noChangeArrowheads="1"/>
            </p:cNvSpPr>
            <p:nvPr/>
          </p:nvSpPr>
          <p:spPr bwMode="auto">
            <a:xfrm>
              <a:off x="1392" y="3903"/>
              <a:ext cx="1008" cy="231"/>
            </a:xfrm>
            <a:prstGeom prst="rect">
              <a:avLst/>
            </a:prstGeom>
            <a:noFill/>
            <a:ln w="9525">
              <a:noFill/>
              <a:miter lim="800000"/>
              <a:headEnd/>
              <a:tailEnd/>
            </a:ln>
          </p:spPr>
          <p:txBody>
            <a:bodyPr wrap="none">
              <a:spAutoFit/>
            </a:bodyPr>
            <a:lstStyle/>
            <a:p>
              <a:pPr eaLnBrk="1" hangingPunct="1"/>
              <a:r>
                <a:rPr lang="en-US" altLang="zh-TW">
                  <a:solidFill>
                    <a:srgbClr val="000000"/>
                  </a:solidFill>
                  <a:latin typeface="Times New Roman" pitchFamily="18" charset="0"/>
                  <a:ea typeface="新細明體" pitchFamily="18" charset="-120"/>
                </a:rPr>
                <a:t>Binding energy</a:t>
              </a:r>
            </a:p>
          </p:txBody>
        </p:sp>
      </p:grpSp>
      <p:grpSp>
        <p:nvGrpSpPr>
          <p:cNvPr id="46083" name="Group 9"/>
          <p:cNvGrpSpPr>
            <a:grpSpLocks/>
          </p:cNvGrpSpPr>
          <p:nvPr/>
        </p:nvGrpSpPr>
        <p:grpSpPr bwMode="auto">
          <a:xfrm>
            <a:off x="4343400" y="1982797"/>
            <a:ext cx="4029075" cy="4197350"/>
            <a:chOff x="3024" y="1440"/>
            <a:chExt cx="2538" cy="2644"/>
          </a:xfrm>
        </p:grpSpPr>
        <p:pic>
          <p:nvPicPr>
            <p:cNvPr id="46086" name="Picture 10" descr="x16"/>
            <p:cNvPicPr>
              <a:picLocks noChangeAspect="1" noChangeArrowheads="1"/>
            </p:cNvPicPr>
            <p:nvPr/>
          </p:nvPicPr>
          <p:blipFill>
            <a:blip r:embed="rId3" cstate="print">
              <a:lum bright="-12000" contrast="24000"/>
            </a:blip>
            <a:srcRect/>
            <a:stretch>
              <a:fillRect/>
            </a:stretch>
          </p:blipFill>
          <p:spPr bwMode="auto">
            <a:xfrm>
              <a:off x="3024" y="1440"/>
              <a:ext cx="2538" cy="2644"/>
            </a:xfrm>
            <a:prstGeom prst="rect">
              <a:avLst/>
            </a:prstGeom>
            <a:noFill/>
            <a:ln w="9525">
              <a:noFill/>
              <a:miter lim="800000"/>
              <a:headEnd/>
              <a:tailEnd/>
            </a:ln>
          </p:spPr>
        </p:pic>
        <p:sp>
          <p:nvSpPr>
            <p:cNvPr id="46087" name="Rectangle 11"/>
            <p:cNvSpPr>
              <a:spLocks noChangeArrowheads="1"/>
            </p:cNvSpPr>
            <p:nvPr/>
          </p:nvSpPr>
          <p:spPr bwMode="auto">
            <a:xfrm>
              <a:off x="3024" y="1488"/>
              <a:ext cx="96" cy="1920"/>
            </a:xfrm>
            <a:prstGeom prst="rect">
              <a:avLst/>
            </a:prstGeom>
            <a:noFill/>
            <a:ln w="9525">
              <a:noFill/>
              <a:miter lim="800000"/>
              <a:headEnd/>
              <a:tailEnd/>
            </a:ln>
          </p:spPr>
          <p:txBody>
            <a:bodyPr wrap="none" anchor="ctr"/>
            <a:lstStyle/>
            <a:p>
              <a:endParaRPr lang="zh-CN" altLang="zh-CN">
                <a:ea typeface="SimSun" pitchFamily="2" charset="-122"/>
              </a:endParaRPr>
            </a:p>
          </p:txBody>
        </p:sp>
      </p:grpSp>
      <p:sp>
        <p:nvSpPr>
          <p:cNvPr id="46084" name="Rectangle 12"/>
          <p:cNvSpPr>
            <a:spLocks noChangeArrowheads="1"/>
          </p:cNvSpPr>
          <p:nvPr/>
        </p:nvSpPr>
        <p:spPr bwMode="auto">
          <a:xfrm>
            <a:off x="876300" y="762709"/>
            <a:ext cx="6934200" cy="1231106"/>
          </a:xfrm>
          <a:prstGeom prst="rect">
            <a:avLst/>
          </a:prstGeom>
          <a:noFill/>
          <a:ln w="9525">
            <a:noFill/>
            <a:miter lim="800000"/>
            <a:headEnd/>
            <a:tailEnd/>
          </a:ln>
        </p:spPr>
        <p:txBody>
          <a:bodyPr>
            <a:spAutoFit/>
          </a:bodyPr>
          <a:lstStyle/>
          <a:p>
            <a:pPr algn="ctr" eaLnBrk="1" hangingPunct="1">
              <a:spcAft>
                <a:spcPts val="600"/>
              </a:spcAft>
            </a:pPr>
            <a:r>
              <a:rPr lang="en-US" altLang="zh-TW" sz="2400" dirty="0">
                <a:latin typeface="Georgia" panose="02040502050405020303" pitchFamily="18" charset="0"/>
                <a:ea typeface="新細明體" pitchFamily="18" charset="-120"/>
              </a:rPr>
              <a:t>Chemical shift </a:t>
            </a:r>
          </a:p>
          <a:p>
            <a:pPr marL="342900" indent="-342900" eaLnBrk="1" hangingPunct="1">
              <a:spcAft>
                <a:spcPts val="600"/>
              </a:spcAft>
              <a:buFont typeface="Arial" panose="020B0604020202020204" pitchFamily="34" charset="0"/>
              <a:buChar char="•"/>
            </a:pPr>
            <a:r>
              <a:rPr lang="en-US" altLang="zh-TW" sz="2000" dirty="0">
                <a:latin typeface="Georgia" panose="02040502050405020303" pitchFamily="18" charset="0"/>
                <a:ea typeface="新細明體" pitchFamily="18" charset="-120"/>
              </a:rPr>
              <a:t>Judging the chemical environment</a:t>
            </a:r>
          </a:p>
          <a:p>
            <a:pPr marL="342900" indent="-342900" eaLnBrk="1" hangingPunct="1">
              <a:buFont typeface="Arial" panose="020B0604020202020204" pitchFamily="34" charset="0"/>
              <a:buChar char="•"/>
            </a:pPr>
            <a:r>
              <a:rPr lang="en-US" altLang="zh-TW" sz="2000" dirty="0">
                <a:latin typeface="Georgia" panose="02040502050405020303" pitchFamily="18" charset="0"/>
                <a:ea typeface="新細明體" pitchFamily="18" charset="-120"/>
              </a:rPr>
              <a:t>Determination of chemical state</a:t>
            </a:r>
          </a:p>
        </p:txBody>
      </p:sp>
      <p:sp>
        <p:nvSpPr>
          <p:cNvPr id="2" name="Slide Number Placeholder 1">
            <a:extLst>
              <a:ext uri="{FF2B5EF4-FFF2-40B4-BE49-F238E27FC236}">
                <a16:creationId xmlns:a16="http://schemas.microsoft.com/office/drawing/2014/main" id="{5DB1EFD1-0F17-4A93-8FAB-F87CE94F3DFD}"/>
              </a:ext>
            </a:extLst>
          </p:cNvPr>
          <p:cNvSpPr>
            <a:spLocks noGrp="1"/>
          </p:cNvSpPr>
          <p:nvPr>
            <p:ph type="sldNum" sz="quarter" idx="11"/>
          </p:nvPr>
        </p:nvSpPr>
        <p:spPr/>
        <p:txBody>
          <a:bodyPr/>
          <a:lstStyle/>
          <a:p>
            <a:pPr>
              <a:defRPr/>
            </a:pPr>
            <a:fld id="{EBF73BDF-690D-4725-BA10-A7934ED52EAB}" type="slidenum">
              <a:rPr lang="zh-TW" altLang="en-US" smtClean="0"/>
              <a:pPr>
                <a:defRPr/>
              </a:pPr>
              <a:t>58</a:t>
            </a:fld>
            <a:endParaRPr lang="en-US" altLang="zh-TW"/>
          </a:p>
        </p:txBody>
      </p:sp>
      <p:sp>
        <p:nvSpPr>
          <p:cNvPr id="3" name="Rectangle 2">
            <a:extLst>
              <a:ext uri="{FF2B5EF4-FFF2-40B4-BE49-F238E27FC236}">
                <a16:creationId xmlns:a16="http://schemas.microsoft.com/office/drawing/2014/main" id="{1FD5F9BF-1A78-BB56-6DFB-3012D4DEA443}"/>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interpretation-Chemical shift: example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7106" name="Group 10"/>
          <p:cNvGrpSpPr>
            <a:grpSpLocks/>
          </p:cNvGrpSpPr>
          <p:nvPr/>
        </p:nvGrpSpPr>
        <p:grpSpPr bwMode="auto">
          <a:xfrm>
            <a:off x="1066800" y="1905000"/>
            <a:ext cx="7315200" cy="4343400"/>
            <a:chOff x="816" y="1392"/>
            <a:chExt cx="4608" cy="2736"/>
          </a:xfrm>
        </p:grpSpPr>
        <p:sp>
          <p:nvSpPr>
            <p:cNvPr id="47109" name="Rectangle 4"/>
            <p:cNvSpPr>
              <a:spLocks noChangeArrowheads="1"/>
            </p:cNvSpPr>
            <p:nvPr/>
          </p:nvSpPr>
          <p:spPr bwMode="auto">
            <a:xfrm>
              <a:off x="816" y="1392"/>
              <a:ext cx="4608" cy="2736"/>
            </a:xfrm>
            <a:prstGeom prst="rect">
              <a:avLst/>
            </a:prstGeom>
            <a:noFill/>
            <a:ln w="9525">
              <a:solidFill>
                <a:schemeClr val="tx1"/>
              </a:solidFill>
              <a:miter lim="800000"/>
              <a:headEnd/>
              <a:tailEnd/>
            </a:ln>
          </p:spPr>
          <p:txBody>
            <a:bodyPr wrap="none" anchor="ctr"/>
            <a:lstStyle/>
            <a:p>
              <a:endParaRPr lang="zh-CN" altLang="zh-CN">
                <a:ea typeface="SimSun" pitchFamily="2" charset="-122"/>
              </a:endParaRPr>
            </a:p>
          </p:txBody>
        </p:sp>
        <p:pic>
          <p:nvPicPr>
            <p:cNvPr id="47110" name="Picture 6"/>
            <p:cNvPicPr>
              <a:picLocks noChangeAspect="1" noChangeArrowheads="1"/>
            </p:cNvPicPr>
            <p:nvPr/>
          </p:nvPicPr>
          <p:blipFill>
            <a:blip r:embed="rId2" cstate="print"/>
            <a:srcRect/>
            <a:stretch>
              <a:fillRect/>
            </a:stretch>
          </p:blipFill>
          <p:spPr bwMode="auto">
            <a:xfrm>
              <a:off x="1056" y="1536"/>
              <a:ext cx="3216" cy="2533"/>
            </a:xfrm>
            <a:prstGeom prst="rect">
              <a:avLst/>
            </a:prstGeom>
            <a:noFill/>
            <a:ln w="9525">
              <a:noFill/>
              <a:miter lim="800000"/>
              <a:headEnd/>
              <a:tailEnd/>
            </a:ln>
          </p:spPr>
        </p:pic>
        <p:pic>
          <p:nvPicPr>
            <p:cNvPr id="47111" name="Picture 7"/>
            <p:cNvPicPr>
              <a:picLocks noChangeAspect="1" noChangeArrowheads="1"/>
            </p:cNvPicPr>
            <p:nvPr/>
          </p:nvPicPr>
          <p:blipFill>
            <a:blip r:embed="rId3" cstate="print"/>
            <a:srcRect/>
            <a:stretch>
              <a:fillRect/>
            </a:stretch>
          </p:blipFill>
          <p:spPr bwMode="auto">
            <a:xfrm>
              <a:off x="4320" y="1584"/>
              <a:ext cx="960" cy="1185"/>
            </a:xfrm>
            <a:prstGeom prst="rect">
              <a:avLst/>
            </a:prstGeom>
            <a:noFill/>
            <a:ln w="9525">
              <a:noFill/>
              <a:miter lim="800000"/>
              <a:headEnd/>
              <a:tailEnd/>
            </a:ln>
          </p:spPr>
        </p:pic>
      </p:grpSp>
      <p:sp>
        <p:nvSpPr>
          <p:cNvPr id="47107" name="Rectangle 8"/>
          <p:cNvSpPr>
            <a:spLocks noChangeArrowheads="1"/>
          </p:cNvSpPr>
          <p:nvPr/>
        </p:nvSpPr>
        <p:spPr bwMode="auto">
          <a:xfrm>
            <a:off x="1066800" y="12192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Valance band emission - Fingerprint</a:t>
            </a:r>
          </a:p>
        </p:txBody>
      </p:sp>
      <p:sp>
        <p:nvSpPr>
          <p:cNvPr id="2" name="Slide Number Placeholder 1">
            <a:extLst>
              <a:ext uri="{FF2B5EF4-FFF2-40B4-BE49-F238E27FC236}">
                <a16:creationId xmlns:a16="http://schemas.microsoft.com/office/drawing/2014/main" id="{B53052E9-F14F-4501-A42D-EA4B5067B876}"/>
              </a:ext>
            </a:extLst>
          </p:cNvPr>
          <p:cNvSpPr>
            <a:spLocks noGrp="1"/>
          </p:cNvSpPr>
          <p:nvPr>
            <p:ph type="sldNum" sz="quarter" idx="11"/>
          </p:nvPr>
        </p:nvSpPr>
        <p:spPr/>
        <p:txBody>
          <a:bodyPr/>
          <a:lstStyle/>
          <a:p>
            <a:pPr>
              <a:defRPr/>
            </a:pPr>
            <a:fld id="{EBF73BDF-690D-4725-BA10-A7934ED52EAB}" type="slidenum">
              <a:rPr lang="zh-TW" altLang="en-US" smtClean="0"/>
              <a:pPr>
                <a:defRPr/>
              </a:pPr>
              <a:t>59</a:t>
            </a:fld>
            <a:endParaRPr lang="en-US" altLang="zh-TW"/>
          </a:p>
        </p:txBody>
      </p:sp>
      <p:sp>
        <p:nvSpPr>
          <p:cNvPr id="3" name="Rectangle 2">
            <a:extLst>
              <a:ext uri="{FF2B5EF4-FFF2-40B4-BE49-F238E27FC236}">
                <a16:creationId xmlns:a16="http://schemas.microsoft.com/office/drawing/2014/main" id="{8B6EE523-45B7-29B6-BE3D-7E4E1617F1AC}"/>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interpretation-valence electrons for </a:t>
            </a:r>
            <a:r>
              <a:rPr lang="en-US" altLang="zh-TW" sz="2000" dirty="0">
                <a:solidFill>
                  <a:schemeClr val="bg2">
                    <a:lumMod val="20000"/>
                    <a:lumOff val="80000"/>
                  </a:schemeClr>
                </a:solidFill>
                <a:latin typeface="Georgia" panose="02040502050405020303" pitchFamily="18" charset="0"/>
                <a:ea typeface="新細明體" pitchFamily="18" charset="-120"/>
              </a:rPr>
              <a:t>macromolecules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0E1C7-5C75-ED7D-E762-4E6718EE8AA3}"/>
            </a:ext>
          </a:extLst>
        </p:cNvPr>
        <p:cNvGrpSpPr/>
        <p:nvPr/>
      </p:nvGrpSpPr>
      <p:grpSpPr>
        <a:xfrm>
          <a:off x="0" y="0"/>
          <a:ext cx="0" cy="0"/>
          <a:chOff x="0" y="0"/>
          <a:chExt cx="0" cy="0"/>
        </a:xfrm>
      </p:grpSpPr>
      <p:pic>
        <p:nvPicPr>
          <p:cNvPr id="39938" name="Picture 4">
            <a:extLst>
              <a:ext uri="{FF2B5EF4-FFF2-40B4-BE49-F238E27FC236}">
                <a16:creationId xmlns:a16="http://schemas.microsoft.com/office/drawing/2014/main" id="{DDD625E2-3DAB-8CBA-17E5-D4B174559D96}"/>
              </a:ext>
            </a:extLst>
          </p:cNvPr>
          <p:cNvPicPr>
            <a:picLocks noChangeAspect="1" noChangeArrowheads="1"/>
          </p:cNvPicPr>
          <p:nvPr/>
        </p:nvPicPr>
        <p:blipFill>
          <a:blip r:embed="rId2" cstate="print"/>
          <a:srcRect/>
          <a:stretch>
            <a:fillRect/>
          </a:stretch>
        </p:blipFill>
        <p:spPr bwMode="auto">
          <a:xfrm>
            <a:off x="1143000" y="1524000"/>
            <a:ext cx="6781800" cy="4937125"/>
          </a:xfrm>
          <a:prstGeom prst="rect">
            <a:avLst/>
          </a:prstGeom>
          <a:noFill/>
          <a:ln w="9525">
            <a:noFill/>
            <a:miter lim="800000"/>
            <a:headEnd/>
            <a:tailEnd/>
          </a:ln>
        </p:spPr>
      </p:pic>
      <p:sp>
        <p:nvSpPr>
          <p:cNvPr id="39939" name="Rectangle 6">
            <a:extLst>
              <a:ext uri="{FF2B5EF4-FFF2-40B4-BE49-F238E27FC236}">
                <a16:creationId xmlns:a16="http://schemas.microsoft.com/office/drawing/2014/main" id="{E5007127-8227-2863-5917-E27C0D9B46F0}"/>
              </a:ext>
            </a:extLst>
          </p:cNvPr>
          <p:cNvSpPr>
            <a:spLocks noChangeArrowheads="1"/>
          </p:cNvSpPr>
          <p:nvPr/>
        </p:nvSpPr>
        <p:spPr bwMode="auto">
          <a:xfrm>
            <a:off x="1066800" y="942975"/>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Other peaks in XPS</a:t>
            </a:r>
          </a:p>
        </p:txBody>
      </p:sp>
      <p:sp>
        <p:nvSpPr>
          <p:cNvPr id="39940" name="Rectangle 7">
            <a:extLst>
              <a:ext uri="{FF2B5EF4-FFF2-40B4-BE49-F238E27FC236}">
                <a16:creationId xmlns:a16="http://schemas.microsoft.com/office/drawing/2014/main" id="{73A92EAC-0C44-BD18-016D-B38DE102CEAA}"/>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Spectral interpretation</a:t>
            </a:r>
          </a:p>
        </p:txBody>
      </p:sp>
      <p:sp>
        <p:nvSpPr>
          <p:cNvPr id="2" name="Slide Number Placeholder 1">
            <a:extLst>
              <a:ext uri="{FF2B5EF4-FFF2-40B4-BE49-F238E27FC236}">
                <a16:creationId xmlns:a16="http://schemas.microsoft.com/office/drawing/2014/main" id="{FA93CC8A-E1B8-0179-F378-EA5A1D78FDED}"/>
              </a:ext>
            </a:extLst>
          </p:cNvPr>
          <p:cNvSpPr>
            <a:spLocks noGrp="1"/>
          </p:cNvSpPr>
          <p:nvPr>
            <p:ph type="sldNum" sz="quarter" idx="11"/>
          </p:nvPr>
        </p:nvSpPr>
        <p:spPr/>
        <p:txBody>
          <a:bodyPr/>
          <a:lstStyle/>
          <a:p>
            <a:pPr>
              <a:defRPr/>
            </a:pPr>
            <a:fld id="{EBF73BDF-690D-4725-BA10-A7934ED52EAB}" type="slidenum">
              <a:rPr lang="zh-TW" altLang="en-US" smtClean="0"/>
              <a:pPr>
                <a:defRPr/>
              </a:pPr>
              <a:t>60</a:t>
            </a:fld>
            <a:endParaRPr lang="en-US" altLang="zh-TW"/>
          </a:p>
        </p:txBody>
      </p:sp>
    </p:spTree>
    <p:extLst>
      <p:ext uri="{BB962C8B-B14F-4D97-AF65-F5344CB8AC3E}">
        <p14:creationId xmlns:p14="http://schemas.microsoft.com/office/powerpoint/2010/main" val="11878098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30" name="Picture 5"/>
          <p:cNvPicPr>
            <a:picLocks noChangeAspect="1" noChangeArrowheads="1"/>
          </p:cNvPicPr>
          <p:nvPr/>
        </p:nvPicPr>
        <p:blipFill>
          <a:blip r:embed="rId2" cstate="print"/>
          <a:srcRect/>
          <a:stretch>
            <a:fillRect/>
          </a:stretch>
        </p:blipFill>
        <p:spPr bwMode="auto">
          <a:xfrm>
            <a:off x="1219200" y="1828800"/>
            <a:ext cx="6705600" cy="3467100"/>
          </a:xfrm>
          <a:prstGeom prst="rect">
            <a:avLst/>
          </a:prstGeom>
          <a:noFill/>
          <a:ln w="9525">
            <a:noFill/>
            <a:miter lim="800000"/>
            <a:headEnd/>
            <a:tailEnd/>
          </a:ln>
        </p:spPr>
      </p:pic>
      <p:sp>
        <p:nvSpPr>
          <p:cNvPr id="48131" name="Text Box 6"/>
          <p:cNvSpPr txBox="1">
            <a:spLocks noChangeArrowheads="1"/>
          </p:cNvSpPr>
          <p:nvPr/>
        </p:nvSpPr>
        <p:spPr bwMode="auto">
          <a:xfrm>
            <a:off x="600075" y="5534087"/>
            <a:ext cx="8382000" cy="707886"/>
          </a:xfrm>
          <a:prstGeom prst="rect">
            <a:avLst/>
          </a:prstGeom>
          <a:noFill/>
          <a:ln w="9525">
            <a:noFill/>
            <a:miter lim="800000"/>
            <a:headEnd/>
            <a:tailEnd/>
          </a:ln>
        </p:spPr>
        <p:txBody>
          <a:bodyPr wrap="square">
            <a:spAutoFit/>
          </a:bodyPr>
          <a:lstStyle/>
          <a:p>
            <a:pPr eaLnBrk="1" hangingPunct="1"/>
            <a:r>
              <a:rPr lang="en-US" altLang="zh-TW" sz="2000" dirty="0">
                <a:latin typeface="Georgia" panose="02040502050405020303" pitchFamily="18" charset="0"/>
                <a:ea typeface="新細明體" pitchFamily="18" charset="-120"/>
              </a:rPr>
              <a:t>Besides core level electrons and valence band electrons, x-ray can also induce the so-called </a:t>
            </a:r>
            <a:r>
              <a:rPr lang="en-US" altLang="zh-TW" sz="2000" dirty="0">
                <a:solidFill>
                  <a:srgbClr val="006600"/>
                </a:solidFill>
                <a:latin typeface="Georgia" panose="02040502050405020303" pitchFamily="18" charset="0"/>
                <a:ea typeface="新細明體" pitchFamily="18" charset="-120"/>
              </a:rPr>
              <a:t>Auger process</a:t>
            </a:r>
            <a:r>
              <a:rPr lang="en-US" altLang="zh-TW" sz="2000" dirty="0">
                <a:latin typeface="Georgia" panose="02040502050405020303" pitchFamily="18" charset="0"/>
                <a:ea typeface="新細明體" pitchFamily="18" charset="-120"/>
              </a:rPr>
              <a:t> that gives out </a:t>
            </a:r>
            <a:r>
              <a:rPr lang="en-US" altLang="zh-TW" sz="2000" dirty="0">
                <a:solidFill>
                  <a:srgbClr val="006600"/>
                </a:solidFill>
                <a:latin typeface="Georgia" panose="02040502050405020303" pitchFamily="18" charset="0"/>
                <a:ea typeface="新細明體" pitchFamily="18" charset="-120"/>
              </a:rPr>
              <a:t>Auger electrons</a:t>
            </a:r>
            <a:r>
              <a:rPr lang="en-US" altLang="zh-TW" sz="2000" dirty="0">
                <a:latin typeface="Georgia" panose="02040502050405020303" pitchFamily="18" charset="0"/>
                <a:ea typeface="新細明體" pitchFamily="18" charset="-120"/>
              </a:rPr>
              <a:t>. </a:t>
            </a:r>
            <a:endParaRPr lang="en-US" altLang="zh-CN" sz="2000" dirty="0">
              <a:latin typeface="Georgia" panose="02040502050405020303" pitchFamily="18" charset="0"/>
              <a:ea typeface="SimSun" pitchFamily="2" charset="-122"/>
            </a:endParaRPr>
          </a:p>
        </p:txBody>
      </p:sp>
      <p:sp>
        <p:nvSpPr>
          <p:cNvPr id="48132" name="Rectangle 7"/>
          <p:cNvSpPr>
            <a:spLocks noChangeArrowheads="1"/>
          </p:cNvSpPr>
          <p:nvPr/>
        </p:nvSpPr>
        <p:spPr bwMode="auto">
          <a:xfrm>
            <a:off x="1066800" y="12192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X-ray induced Auger emission</a:t>
            </a:r>
          </a:p>
        </p:txBody>
      </p:sp>
      <p:sp>
        <p:nvSpPr>
          <p:cNvPr id="2" name="TextBox 1">
            <a:extLst>
              <a:ext uri="{FF2B5EF4-FFF2-40B4-BE49-F238E27FC236}">
                <a16:creationId xmlns:a16="http://schemas.microsoft.com/office/drawing/2014/main" id="{A47D8EFC-AA8A-41AD-9AC3-7492091D88FE}"/>
              </a:ext>
            </a:extLst>
          </p:cNvPr>
          <p:cNvSpPr txBox="1"/>
          <p:nvPr/>
        </p:nvSpPr>
        <p:spPr>
          <a:xfrm>
            <a:off x="2209800" y="2148184"/>
            <a:ext cx="1371600" cy="307777"/>
          </a:xfrm>
          <a:prstGeom prst="rect">
            <a:avLst/>
          </a:prstGeom>
          <a:solidFill>
            <a:schemeClr val="bg1"/>
          </a:solidFill>
        </p:spPr>
        <p:txBody>
          <a:bodyPr wrap="square" rtlCol="0">
            <a:spAutoFit/>
          </a:bodyPr>
          <a:lstStyle/>
          <a:p>
            <a:r>
              <a:rPr lang="en-US" sz="1400" dirty="0"/>
              <a:t>X-ray</a:t>
            </a:r>
          </a:p>
        </p:txBody>
      </p:sp>
      <p:sp>
        <p:nvSpPr>
          <p:cNvPr id="3" name="Slide Number Placeholder 2">
            <a:extLst>
              <a:ext uri="{FF2B5EF4-FFF2-40B4-BE49-F238E27FC236}">
                <a16:creationId xmlns:a16="http://schemas.microsoft.com/office/drawing/2014/main" id="{E07B65B2-894D-4994-AEB5-DD6EEEF15C36}"/>
              </a:ext>
            </a:extLst>
          </p:cNvPr>
          <p:cNvSpPr>
            <a:spLocks noGrp="1"/>
          </p:cNvSpPr>
          <p:nvPr>
            <p:ph type="sldNum" sz="quarter" idx="11"/>
          </p:nvPr>
        </p:nvSpPr>
        <p:spPr/>
        <p:txBody>
          <a:bodyPr/>
          <a:lstStyle/>
          <a:p>
            <a:pPr>
              <a:defRPr/>
            </a:pPr>
            <a:fld id="{EBF73BDF-690D-4725-BA10-A7934ED52EAB}" type="slidenum">
              <a:rPr lang="zh-TW" altLang="en-US" smtClean="0"/>
              <a:pPr>
                <a:defRPr/>
              </a:pPr>
              <a:t>61</a:t>
            </a:fld>
            <a:endParaRPr lang="en-US" altLang="zh-TW"/>
          </a:p>
        </p:txBody>
      </p:sp>
      <p:sp>
        <p:nvSpPr>
          <p:cNvPr id="4" name="Rectangle 3">
            <a:extLst>
              <a:ext uri="{FF2B5EF4-FFF2-40B4-BE49-F238E27FC236}">
                <a16:creationId xmlns:a16="http://schemas.microsoft.com/office/drawing/2014/main" id="{D5535847-A664-B0CA-CD60-09C3E98DAEFD}"/>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interpretation-Auger process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5ACA3B8-CA10-6E49-47FC-1CEC1742AD4D}"/>
              </a:ext>
            </a:extLst>
          </p:cNvPr>
          <p:cNvSpPr>
            <a:spLocks noGrp="1"/>
          </p:cNvSpPr>
          <p:nvPr>
            <p:ph type="sldNum" sz="quarter" idx="11"/>
          </p:nvPr>
        </p:nvSpPr>
        <p:spPr/>
        <p:txBody>
          <a:bodyPr/>
          <a:lstStyle/>
          <a:p>
            <a:pPr>
              <a:defRPr/>
            </a:pPr>
            <a:fld id="{EBF73BDF-690D-4725-BA10-A7934ED52EAB}" type="slidenum">
              <a:rPr lang="zh-TW" altLang="en-US" smtClean="0"/>
              <a:pPr>
                <a:defRPr/>
              </a:pPr>
              <a:t>62</a:t>
            </a:fld>
            <a:endParaRPr lang="en-US" altLang="zh-TW"/>
          </a:p>
        </p:txBody>
      </p:sp>
      <p:pic>
        <p:nvPicPr>
          <p:cNvPr id="1026" name="Picture 2" descr="XPS general spectra with copper 2p and copper Auger spectra enclosed  ">
            <a:extLst>
              <a:ext uri="{FF2B5EF4-FFF2-40B4-BE49-F238E27FC236}">
                <a16:creationId xmlns:a16="http://schemas.microsoft.com/office/drawing/2014/main" id="{6241A1BD-F116-6E09-DCF5-5ECD63ED07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28800" y="1250670"/>
            <a:ext cx="5638800" cy="4997730"/>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C6877D10-E420-9BA9-9901-BC1DCA93A80D}"/>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interpretation-Auger process: </a:t>
            </a:r>
            <a:r>
              <a:rPr lang="en-US" altLang="zh-TW" sz="2000" dirty="0">
                <a:solidFill>
                  <a:schemeClr val="bg2">
                    <a:lumMod val="40000"/>
                    <a:lumOff val="60000"/>
                  </a:schemeClr>
                </a:solidFill>
                <a:latin typeface="Georgia" panose="02040502050405020303" pitchFamily="18" charset="0"/>
                <a:ea typeface="新細明體" pitchFamily="18" charset="-120"/>
              </a:rPr>
              <a:t>example</a:t>
            </a:r>
          </a:p>
        </p:txBody>
      </p:sp>
    </p:spTree>
    <p:extLst>
      <p:ext uri="{BB962C8B-B14F-4D97-AF65-F5344CB8AC3E}">
        <p14:creationId xmlns:p14="http://schemas.microsoft.com/office/powerpoint/2010/main" val="16787893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154" name="Picture 5"/>
          <p:cNvPicPr>
            <a:picLocks noChangeAspect="1" noChangeArrowheads="1"/>
          </p:cNvPicPr>
          <p:nvPr/>
        </p:nvPicPr>
        <p:blipFill>
          <a:blip r:embed="rId2" cstate="print"/>
          <a:srcRect/>
          <a:stretch>
            <a:fillRect/>
          </a:stretch>
        </p:blipFill>
        <p:spPr bwMode="auto">
          <a:xfrm>
            <a:off x="1476375" y="1828800"/>
            <a:ext cx="6629400" cy="4478338"/>
          </a:xfrm>
          <a:prstGeom prst="rect">
            <a:avLst/>
          </a:prstGeom>
          <a:noFill/>
          <a:ln w="9525">
            <a:noFill/>
            <a:miter lim="800000"/>
            <a:headEnd/>
            <a:tailEnd/>
          </a:ln>
        </p:spPr>
      </p:pic>
      <p:sp>
        <p:nvSpPr>
          <p:cNvPr id="49155" name="Rectangle 6"/>
          <p:cNvSpPr>
            <a:spLocks noChangeArrowheads="1"/>
          </p:cNvSpPr>
          <p:nvPr/>
        </p:nvSpPr>
        <p:spPr bwMode="auto">
          <a:xfrm>
            <a:off x="1066800" y="12192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Plasmon loss</a:t>
            </a:r>
          </a:p>
        </p:txBody>
      </p:sp>
      <p:sp>
        <p:nvSpPr>
          <p:cNvPr id="49156" name="Rectangle 7"/>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 – Plasmon </a:t>
            </a:r>
          </a:p>
        </p:txBody>
      </p:sp>
      <p:sp>
        <p:nvSpPr>
          <p:cNvPr id="2" name="Slide Number Placeholder 1">
            <a:extLst>
              <a:ext uri="{FF2B5EF4-FFF2-40B4-BE49-F238E27FC236}">
                <a16:creationId xmlns:a16="http://schemas.microsoft.com/office/drawing/2014/main" id="{23008E00-3CC6-44AE-BAF5-BF65D5518C55}"/>
              </a:ext>
            </a:extLst>
          </p:cNvPr>
          <p:cNvSpPr>
            <a:spLocks noGrp="1"/>
          </p:cNvSpPr>
          <p:nvPr>
            <p:ph type="sldNum" sz="quarter" idx="11"/>
          </p:nvPr>
        </p:nvSpPr>
        <p:spPr/>
        <p:txBody>
          <a:bodyPr/>
          <a:lstStyle/>
          <a:p>
            <a:pPr>
              <a:defRPr/>
            </a:pPr>
            <a:fld id="{EBF73BDF-690D-4725-BA10-A7934ED52EAB}" type="slidenum">
              <a:rPr lang="zh-TW" altLang="en-US" smtClean="0"/>
              <a:pPr>
                <a:defRPr/>
              </a:pPr>
              <a:t>63</a:t>
            </a:fld>
            <a:endParaRPr lang="en-US" altLang="zh-TW"/>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Text Box 5"/>
          <p:cNvSpPr txBox="1">
            <a:spLocks noChangeArrowheads="1"/>
          </p:cNvSpPr>
          <p:nvPr/>
        </p:nvSpPr>
        <p:spPr bwMode="auto">
          <a:xfrm>
            <a:off x="685800" y="1676400"/>
            <a:ext cx="7331075" cy="4324261"/>
          </a:xfrm>
          <a:prstGeom prst="rect">
            <a:avLst/>
          </a:prstGeom>
          <a:noFill/>
          <a:ln w="9525">
            <a:noFill/>
            <a:miter lim="800000"/>
            <a:headEnd/>
            <a:tailEnd/>
          </a:ln>
        </p:spPr>
        <p:txBody>
          <a:bodyPr>
            <a:spAutoFit/>
          </a:bodyPr>
          <a:lstStyle/>
          <a:p>
            <a:pPr marL="342900" indent="-342900" algn="just" eaLnBrk="1" hangingPunct="1">
              <a:spcAft>
                <a:spcPts val="600"/>
              </a:spcAft>
              <a:buFont typeface="Arial" panose="020B0604020202020204" pitchFamily="34" charset="0"/>
              <a:buChar char="•"/>
            </a:pPr>
            <a:r>
              <a:rPr lang="en-US" altLang="zh-TW" sz="2000" dirty="0">
                <a:latin typeface="Georgia" panose="02040502050405020303" pitchFamily="18" charset="0"/>
                <a:ea typeface="新細明體" pitchFamily="18" charset="-120"/>
              </a:rPr>
              <a:t>Any electron of sufficient energy passing through a solid can excite one or other of the modes of “</a:t>
            </a:r>
            <a:r>
              <a:rPr lang="en-US" altLang="zh-TW" sz="2000" dirty="0">
                <a:solidFill>
                  <a:srgbClr val="006600"/>
                </a:solidFill>
                <a:latin typeface="Georgia" panose="02040502050405020303" pitchFamily="18" charset="0"/>
                <a:ea typeface="新細明體" pitchFamily="18" charset="-120"/>
              </a:rPr>
              <a:t>collective</a:t>
            </a:r>
            <a:r>
              <a:rPr lang="en-US" altLang="zh-TW" sz="2000" dirty="0">
                <a:latin typeface="Georgia" panose="02040502050405020303" pitchFamily="18" charset="0"/>
                <a:ea typeface="新細明體" pitchFamily="18" charset="-120"/>
              </a:rPr>
              <a:t>” oscillation of the sea of conduction electrons. </a:t>
            </a:r>
          </a:p>
          <a:p>
            <a:pPr marL="342900" indent="-342900" algn="just" eaLnBrk="1" hangingPunct="1">
              <a:spcAft>
                <a:spcPts val="600"/>
              </a:spcAft>
              <a:buFont typeface="Arial" panose="020B0604020202020204" pitchFamily="34" charset="0"/>
              <a:buChar char="•"/>
            </a:pPr>
            <a:r>
              <a:rPr lang="en-US" altLang="zh-TW" sz="2000" dirty="0">
                <a:latin typeface="Georgia" panose="02040502050405020303" pitchFamily="18" charset="0"/>
                <a:ea typeface="新細明體" pitchFamily="18" charset="-120"/>
              </a:rPr>
              <a:t>These oscillations have frequencies </a:t>
            </a:r>
            <a:r>
              <a:rPr lang="en-US" altLang="zh-TW" sz="2000" dirty="0">
                <a:solidFill>
                  <a:srgbClr val="006600"/>
                </a:solidFill>
                <a:latin typeface="Georgia" panose="02040502050405020303" pitchFamily="18" charset="0"/>
                <a:ea typeface="新細明體" pitchFamily="18" charset="-120"/>
              </a:rPr>
              <a:t>characteristic of the material of the solid</a:t>
            </a:r>
            <a:r>
              <a:rPr lang="en-US" altLang="zh-TW" sz="2000" dirty="0">
                <a:latin typeface="Georgia" panose="02040502050405020303" pitchFamily="18" charset="0"/>
                <a:ea typeface="新細明體" pitchFamily="18" charset="-120"/>
              </a:rPr>
              <a:t>, and therefore require characteristic energies for excitation.</a:t>
            </a:r>
          </a:p>
          <a:p>
            <a:pPr marL="342900" indent="-342900" algn="just" eaLnBrk="1" hangingPunct="1">
              <a:spcAft>
                <a:spcPts val="600"/>
              </a:spcAft>
              <a:buFont typeface="Arial" panose="020B0604020202020204" pitchFamily="34" charset="0"/>
              <a:buChar char="•"/>
            </a:pPr>
            <a:r>
              <a:rPr lang="en-US" altLang="zh-TW" sz="2000" dirty="0">
                <a:latin typeface="Georgia" panose="02040502050405020303" pitchFamily="18" charset="0"/>
                <a:ea typeface="新細明體" pitchFamily="18" charset="-120"/>
              </a:rPr>
              <a:t>An electron that has given up amount of energy equal to one of these characteristic energies, in the course of excitation, is said to have suffered a </a:t>
            </a:r>
            <a:r>
              <a:rPr lang="en-US" altLang="zh-TW" sz="2000" dirty="0">
                <a:solidFill>
                  <a:srgbClr val="006600"/>
                </a:solidFill>
                <a:latin typeface="Georgia" panose="02040502050405020303" pitchFamily="18" charset="0"/>
                <a:ea typeface="新細明體" pitchFamily="18" charset="-120"/>
              </a:rPr>
              <a:t>plasmon loss</a:t>
            </a:r>
            <a:r>
              <a:rPr lang="en-US" altLang="zh-TW" sz="2000" dirty="0">
                <a:latin typeface="Georgia" panose="02040502050405020303" pitchFamily="18" charset="0"/>
                <a:ea typeface="新細明體" pitchFamily="18" charset="-120"/>
              </a:rPr>
              <a:t>. </a:t>
            </a:r>
          </a:p>
          <a:p>
            <a:pPr marL="342900" indent="-342900" algn="just" eaLnBrk="1" hangingPunct="1">
              <a:spcAft>
                <a:spcPts val="600"/>
              </a:spcAft>
              <a:buFont typeface="Arial" panose="020B0604020202020204" pitchFamily="34" charset="0"/>
              <a:buChar char="•"/>
            </a:pPr>
            <a:r>
              <a:rPr lang="en-US" altLang="zh-TW" sz="2000" dirty="0">
                <a:latin typeface="Georgia" panose="02040502050405020303" pitchFamily="18" charset="0"/>
                <a:ea typeface="新細明體" pitchFamily="18" charset="-120"/>
              </a:rPr>
              <a:t>Plasmon loss features are rather </a:t>
            </a:r>
            <a:r>
              <a:rPr lang="en-US" altLang="zh-TW" sz="2000" dirty="0">
                <a:solidFill>
                  <a:srgbClr val="006600"/>
                </a:solidFill>
                <a:latin typeface="Georgia" panose="02040502050405020303" pitchFamily="18" charset="0"/>
                <a:ea typeface="新細明體" pitchFamily="18" charset="-120"/>
              </a:rPr>
              <a:t>weak</a:t>
            </a:r>
            <a:r>
              <a:rPr lang="en-US" altLang="zh-TW" sz="2000" dirty="0">
                <a:latin typeface="Georgia" panose="02040502050405020303" pitchFamily="18" charset="0"/>
                <a:ea typeface="新細明體" pitchFamily="18" charset="-120"/>
              </a:rPr>
              <a:t> when compared with the core level emission, but it offers good evidence to the existence of specific phase of a certain compound or giant structures. </a:t>
            </a:r>
            <a:endParaRPr lang="en-US" altLang="zh-CN" sz="2000" dirty="0">
              <a:latin typeface="Georgia" panose="02040502050405020303" pitchFamily="18" charset="0"/>
              <a:ea typeface="SimSun" pitchFamily="2" charset="-122"/>
            </a:endParaRPr>
          </a:p>
        </p:txBody>
      </p:sp>
      <p:sp>
        <p:nvSpPr>
          <p:cNvPr id="50179" name="Rectangle 6"/>
          <p:cNvSpPr>
            <a:spLocks noChangeArrowheads="1"/>
          </p:cNvSpPr>
          <p:nvPr/>
        </p:nvSpPr>
        <p:spPr bwMode="auto">
          <a:xfrm>
            <a:off x="848299" y="990600"/>
            <a:ext cx="6934200" cy="461665"/>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Plasmon loss</a:t>
            </a:r>
          </a:p>
        </p:txBody>
      </p:sp>
      <p:sp>
        <p:nvSpPr>
          <p:cNvPr id="2" name="Slide Number Placeholder 1">
            <a:extLst>
              <a:ext uri="{FF2B5EF4-FFF2-40B4-BE49-F238E27FC236}">
                <a16:creationId xmlns:a16="http://schemas.microsoft.com/office/drawing/2014/main" id="{F23CA85B-E8C2-40AA-9EC9-F3EDBF156D72}"/>
              </a:ext>
            </a:extLst>
          </p:cNvPr>
          <p:cNvSpPr>
            <a:spLocks noGrp="1"/>
          </p:cNvSpPr>
          <p:nvPr>
            <p:ph type="sldNum" sz="quarter" idx="11"/>
          </p:nvPr>
        </p:nvSpPr>
        <p:spPr/>
        <p:txBody>
          <a:bodyPr/>
          <a:lstStyle/>
          <a:p>
            <a:pPr>
              <a:defRPr/>
            </a:pPr>
            <a:fld id="{EBF73BDF-690D-4725-BA10-A7934ED52EAB}" type="slidenum">
              <a:rPr lang="zh-TW" altLang="en-US" smtClean="0"/>
              <a:pPr>
                <a:defRPr/>
              </a:pPr>
              <a:t>64</a:t>
            </a:fld>
            <a:endParaRPr lang="en-US" altLang="zh-TW"/>
          </a:p>
        </p:txBody>
      </p:sp>
      <p:sp>
        <p:nvSpPr>
          <p:cNvPr id="3" name="Rectangle 7">
            <a:extLst>
              <a:ext uri="{FF2B5EF4-FFF2-40B4-BE49-F238E27FC236}">
                <a16:creationId xmlns:a16="http://schemas.microsoft.com/office/drawing/2014/main" id="{7CAC9650-E376-34E6-91F0-6B584D98502B}"/>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 – Plasmon: origin  </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9"/>
          <p:cNvSpPr>
            <a:spLocks noChangeArrowheads="1"/>
          </p:cNvSpPr>
          <p:nvPr/>
        </p:nvSpPr>
        <p:spPr bwMode="auto">
          <a:xfrm>
            <a:off x="-1066800" y="1025069"/>
            <a:ext cx="6934200" cy="457200"/>
          </a:xfrm>
          <a:prstGeom prst="rect">
            <a:avLst/>
          </a:prstGeom>
          <a:noFill/>
          <a:ln w="9525">
            <a:noFill/>
            <a:miter lim="800000"/>
            <a:headEnd/>
            <a:tailEnd/>
          </a:ln>
        </p:spPr>
        <p:txBody>
          <a:bodyPr>
            <a:spAutoFit/>
          </a:bodyPr>
          <a:lstStyle/>
          <a:p>
            <a:pPr algn="ctr" eaLnBrk="1" hangingPunct="1"/>
            <a:r>
              <a:rPr lang="en-US" altLang="zh-TW" sz="2400" dirty="0" err="1">
                <a:latin typeface="Georgia" panose="02040502050405020303" pitchFamily="18" charset="0"/>
                <a:ea typeface="新細明體" pitchFamily="18" charset="-120"/>
              </a:rPr>
              <a:t>Multiplet</a:t>
            </a:r>
            <a:r>
              <a:rPr lang="en-US" altLang="zh-TW" sz="2400" dirty="0">
                <a:latin typeface="Georgia" panose="02040502050405020303" pitchFamily="18" charset="0"/>
                <a:ea typeface="新細明體" pitchFamily="18" charset="-120"/>
              </a:rPr>
              <a:t> splitting</a:t>
            </a:r>
          </a:p>
        </p:txBody>
      </p:sp>
      <p:sp>
        <p:nvSpPr>
          <p:cNvPr id="2" name="Slide Number Placeholder 1">
            <a:extLst>
              <a:ext uri="{FF2B5EF4-FFF2-40B4-BE49-F238E27FC236}">
                <a16:creationId xmlns:a16="http://schemas.microsoft.com/office/drawing/2014/main" id="{CEB9B9B2-FE12-4FDD-9E40-3FA4761B4CC6}"/>
              </a:ext>
            </a:extLst>
          </p:cNvPr>
          <p:cNvSpPr>
            <a:spLocks noGrp="1"/>
          </p:cNvSpPr>
          <p:nvPr>
            <p:ph type="sldNum" sz="quarter" idx="11"/>
          </p:nvPr>
        </p:nvSpPr>
        <p:spPr/>
        <p:txBody>
          <a:bodyPr/>
          <a:lstStyle/>
          <a:p>
            <a:pPr>
              <a:defRPr/>
            </a:pPr>
            <a:fld id="{EBF73BDF-690D-4725-BA10-A7934ED52EAB}" type="slidenum">
              <a:rPr lang="zh-TW" altLang="en-US" smtClean="0"/>
              <a:pPr>
                <a:defRPr/>
              </a:pPr>
              <a:t>65</a:t>
            </a:fld>
            <a:endParaRPr lang="en-US" altLang="zh-TW"/>
          </a:p>
        </p:txBody>
      </p:sp>
      <p:sp>
        <p:nvSpPr>
          <p:cNvPr id="3" name="Rectangle 7">
            <a:extLst>
              <a:ext uri="{FF2B5EF4-FFF2-40B4-BE49-F238E27FC236}">
                <a16:creationId xmlns:a16="http://schemas.microsoft.com/office/drawing/2014/main" id="{176EE65E-8297-ED96-7DF3-A3D856FD69F1}"/>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 – </a:t>
            </a:r>
            <a:r>
              <a:rPr lang="en-US" altLang="zh-TW" sz="2000" dirty="0" err="1">
                <a:solidFill>
                  <a:schemeClr val="bg1"/>
                </a:solidFill>
                <a:latin typeface="Georgia" panose="02040502050405020303" pitchFamily="18" charset="0"/>
                <a:ea typeface="新細明體" pitchFamily="18" charset="-120"/>
              </a:rPr>
              <a:t>Multiplet</a:t>
            </a:r>
            <a:endParaRPr lang="en-US" altLang="zh-TW" sz="2000" dirty="0">
              <a:solidFill>
                <a:schemeClr val="bg1"/>
              </a:solidFill>
              <a:latin typeface="Georgia" panose="02040502050405020303" pitchFamily="18" charset="0"/>
              <a:ea typeface="新細明體" pitchFamily="18" charset="-120"/>
            </a:endParaRPr>
          </a:p>
        </p:txBody>
      </p:sp>
      <p:pic>
        <p:nvPicPr>
          <p:cNvPr id="4" name="Picture 3">
            <a:extLst>
              <a:ext uri="{FF2B5EF4-FFF2-40B4-BE49-F238E27FC236}">
                <a16:creationId xmlns:a16="http://schemas.microsoft.com/office/drawing/2014/main" id="{231F5444-0596-768F-2154-5D386DCB3331}"/>
              </a:ext>
            </a:extLst>
          </p:cNvPr>
          <p:cNvPicPr>
            <a:picLocks noChangeAspect="1"/>
          </p:cNvPicPr>
          <p:nvPr/>
        </p:nvPicPr>
        <p:blipFill>
          <a:blip r:embed="rId2"/>
          <a:stretch>
            <a:fillRect/>
          </a:stretch>
        </p:blipFill>
        <p:spPr>
          <a:xfrm>
            <a:off x="228600" y="1840588"/>
            <a:ext cx="4191000" cy="4191000"/>
          </a:xfrm>
          <a:prstGeom prst="rect">
            <a:avLst/>
          </a:prstGeom>
        </p:spPr>
      </p:pic>
      <p:sp>
        <p:nvSpPr>
          <p:cNvPr id="5" name="Text Box 4">
            <a:extLst>
              <a:ext uri="{FF2B5EF4-FFF2-40B4-BE49-F238E27FC236}">
                <a16:creationId xmlns:a16="http://schemas.microsoft.com/office/drawing/2014/main" id="{F8E7A7B8-2593-E2C9-B460-3F3743BA6B30}"/>
              </a:ext>
            </a:extLst>
          </p:cNvPr>
          <p:cNvSpPr txBox="1">
            <a:spLocks noChangeArrowheads="1"/>
          </p:cNvSpPr>
          <p:nvPr/>
        </p:nvSpPr>
        <p:spPr bwMode="auto">
          <a:xfrm>
            <a:off x="4572000" y="1127842"/>
            <a:ext cx="3962400" cy="5555367"/>
          </a:xfrm>
          <a:prstGeom prst="rect">
            <a:avLst/>
          </a:prstGeom>
          <a:noFill/>
          <a:ln w="9525">
            <a:noFill/>
            <a:miter lim="800000"/>
            <a:headEnd/>
            <a:tailEnd/>
          </a:ln>
        </p:spPr>
        <p:txBody>
          <a:bodyPr wrap="square">
            <a:spAutoFit/>
          </a:bodyPr>
          <a:lstStyle/>
          <a:p>
            <a:pPr marL="342900" indent="-342900" algn="just" eaLnBrk="1" hangingPunct="1">
              <a:spcAft>
                <a:spcPts val="600"/>
              </a:spcAft>
              <a:buFont typeface="Arial" panose="020B0604020202020204" pitchFamily="34" charset="0"/>
              <a:buChar char="•"/>
            </a:pPr>
            <a:r>
              <a:rPr lang="en-US" altLang="zh-TW" sz="2000" dirty="0" err="1">
                <a:latin typeface="Georgia" panose="02040502050405020303" pitchFamily="18" charset="0"/>
                <a:ea typeface="新細明體" pitchFamily="18" charset="-120"/>
              </a:rPr>
              <a:t>Multiplet</a:t>
            </a:r>
            <a:r>
              <a:rPr lang="en-US" altLang="zh-TW" sz="2000" dirty="0">
                <a:latin typeface="Georgia" panose="02040502050405020303" pitchFamily="18" charset="0"/>
                <a:ea typeface="新細明體" pitchFamily="18" charset="-120"/>
              </a:rPr>
              <a:t> splitting of core level peaks can occur when the system has </a:t>
            </a:r>
            <a:r>
              <a:rPr lang="en-US" altLang="zh-TW" sz="2000" dirty="0">
                <a:solidFill>
                  <a:srgbClr val="006600"/>
                </a:solidFill>
                <a:latin typeface="Georgia" panose="02040502050405020303" pitchFamily="18" charset="0"/>
                <a:ea typeface="新細明體" pitchFamily="18" charset="-120"/>
              </a:rPr>
              <a:t>unpaired electrons</a:t>
            </a:r>
            <a:r>
              <a:rPr lang="en-US" altLang="zh-TW" sz="2000" dirty="0">
                <a:latin typeface="Georgia" panose="02040502050405020303" pitchFamily="18" charset="0"/>
                <a:ea typeface="新細明體" pitchFamily="18" charset="-120"/>
              </a:rPr>
              <a:t> in the valence levels.</a:t>
            </a:r>
          </a:p>
          <a:p>
            <a:pPr marL="342900" indent="-342900" algn="just" eaLnBrk="1" hangingPunct="1">
              <a:spcAft>
                <a:spcPts val="600"/>
              </a:spcAft>
              <a:buFont typeface="Arial" panose="020B0604020202020204" pitchFamily="34" charset="0"/>
              <a:buChar char="•"/>
            </a:pPr>
            <a:r>
              <a:rPr lang="en-US" altLang="zh-TW" sz="2000" dirty="0">
                <a:latin typeface="Georgia" panose="02040502050405020303" pitchFamily="18" charset="0"/>
                <a:ea typeface="新細明體" pitchFamily="18" charset="-120"/>
              </a:rPr>
              <a:t>Consider Mn</a:t>
            </a:r>
            <a:r>
              <a:rPr lang="en-US" altLang="zh-TW" sz="2000" baseline="30000" dirty="0">
                <a:latin typeface="Georgia" panose="02040502050405020303" pitchFamily="18" charset="0"/>
                <a:ea typeface="新細明體" pitchFamily="18" charset="-120"/>
              </a:rPr>
              <a:t>2+</a:t>
            </a:r>
            <a:r>
              <a:rPr lang="en-US" altLang="zh-TW" sz="2000" dirty="0">
                <a:latin typeface="Georgia" panose="02040502050405020303" pitchFamily="18" charset="0"/>
                <a:ea typeface="新細明體" pitchFamily="18" charset="-120"/>
              </a:rPr>
              <a:t> ion (Mn 3d</a:t>
            </a:r>
            <a:r>
              <a:rPr lang="en-US" altLang="zh-TW" sz="2000" baseline="30000" dirty="0">
                <a:latin typeface="Georgia" panose="02040502050405020303" pitchFamily="18" charset="0"/>
                <a:ea typeface="新細明體" pitchFamily="18" charset="-120"/>
              </a:rPr>
              <a:t>5</a:t>
            </a:r>
            <a:r>
              <a:rPr lang="en-US" altLang="zh-TW" sz="2000" dirty="0">
                <a:latin typeface="Georgia" panose="02040502050405020303" pitchFamily="18" charset="0"/>
                <a:ea typeface="新細明體" pitchFamily="18" charset="-120"/>
              </a:rPr>
              <a:t>4s</a:t>
            </a:r>
            <a:r>
              <a:rPr lang="en-US" altLang="zh-TW" sz="2000" baseline="30000" dirty="0">
                <a:latin typeface="Georgia" panose="02040502050405020303" pitchFamily="18" charset="0"/>
                <a:ea typeface="新細明體" pitchFamily="18" charset="-120"/>
              </a:rPr>
              <a:t>2</a:t>
            </a:r>
            <a:r>
              <a:rPr lang="en-US" altLang="zh-TW" sz="2000" dirty="0">
                <a:latin typeface="Georgia" panose="02040502050405020303" pitchFamily="18" charset="0"/>
                <a:ea typeface="新細明體" pitchFamily="18" charset="-120"/>
              </a:rPr>
              <a:t>), the five 3</a:t>
            </a:r>
            <a:r>
              <a:rPr lang="en-US" altLang="zh-TW" sz="2000" i="1" dirty="0">
                <a:latin typeface="Georgia" panose="02040502050405020303" pitchFamily="18" charset="0"/>
                <a:ea typeface="新細明體" pitchFamily="18" charset="-120"/>
              </a:rPr>
              <a:t>d</a:t>
            </a:r>
            <a:r>
              <a:rPr lang="en-US" altLang="zh-TW" sz="2000" dirty="0">
                <a:latin typeface="Georgia" panose="02040502050405020303" pitchFamily="18" charset="0"/>
                <a:ea typeface="新細明體" pitchFamily="18" charset="-120"/>
              </a:rPr>
              <a:t> electrons in the ground state are all unpaired and with parallel spins.  </a:t>
            </a:r>
          </a:p>
          <a:p>
            <a:pPr marL="342900" indent="-342900" algn="just" eaLnBrk="1" hangingPunct="1">
              <a:spcAft>
                <a:spcPts val="600"/>
              </a:spcAft>
              <a:buFont typeface="Arial" panose="020B0604020202020204" pitchFamily="34" charset="0"/>
              <a:buChar char="•"/>
            </a:pPr>
            <a:r>
              <a:rPr lang="en-US" altLang="zh-TW" sz="2000" dirty="0">
                <a:latin typeface="Georgia" panose="02040502050405020303" pitchFamily="18" charset="0"/>
                <a:ea typeface="新細明體" pitchFamily="18" charset="-120"/>
              </a:rPr>
              <a:t>After ejection of the 3</a:t>
            </a:r>
            <a:r>
              <a:rPr lang="en-US" altLang="zh-TW" sz="2000" i="1" dirty="0">
                <a:latin typeface="Georgia" panose="02040502050405020303" pitchFamily="18" charset="0"/>
                <a:ea typeface="新細明體" pitchFamily="18" charset="-120"/>
              </a:rPr>
              <a:t>s</a:t>
            </a:r>
            <a:r>
              <a:rPr lang="en-US" altLang="zh-TW" sz="2000" dirty="0">
                <a:latin typeface="Georgia" panose="02040502050405020303" pitchFamily="18" charset="0"/>
                <a:ea typeface="新細明體" pitchFamily="18" charset="-120"/>
              </a:rPr>
              <a:t> electrons (ionization), a further unpaired electron is present.  </a:t>
            </a:r>
          </a:p>
          <a:p>
            <a:pPr marL="342900" indent="-342900" algn="just" eaLnBrk="1" hangingPunct="1">
              <a:spcAft>
                <a:spcPts val="600"/>
              </a:spcAft>
              <a:buFont typeface="Arial" panose="020B0604020202020204" pitchFamily="34" charset="0"/>
              <a:buChar char="•"/>
            </a:pPr>
            <a:r>
              <a:rPr lang="en-US" altLang="zh-TW" sz="2000" dirty="0">
                <a:solidFill>
                  <a:schemeClr val="bg2">
                    <a:lumMod val="60000"/>
                    <a:lumOff val="40000"/>
                  </a:schemeClr>
                </a:solidFill>
                <a:latin typeface="Georgia" panose="02040502050405020303" pitchFamily="18" charset="0"/>
                <a:ea typeface="新細明體" pitchFamily="18" charset="-120"/>
              </a:rPr>
              <a:t>Exchange interaction </a:t>
            </a:r>
            <a:r>
              <a:rPr lang="en-US" altLang="zh-TW" sz="2000" dirty="0">
                <a:latin typeface="Georgia" panose="02040502050405020303" pitchFamily="18" charset="0"/>
                <a:ea typeface="新細明體" pitchFamily="18" charset="-120"/>
              </a:rPr>
              <a:t>results in a lower energy for parallel spin than for the case of anti-parallel spin. </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D256EE1-9E07-9FAB-6426-562BE254AEF8}"/>
              </a:ext>
            </a:extLst>
          </p:cNvPr>
          <p:cNvSpPr>
            <a:spLocks noGrp="1"/>
          </p:cNvSpPr>
          <p:nvPr>
            <p:ph type="sldNum" sz="quarter" idx="11"/>
          </p:nvPr>
        </p:nvSpPr>
        <p:spPr/>
        <p:txBody>
          <a:bodyPr/>
          <a:lstStyle/>
          <a:p>
            <a:pPr>
              <a:defRPr/>
            </a:pPr>
            <a:fld id="{EBF73BDF-690D-4725-BA10-A7934ED52EAB}" type="slidenum">
              <a:rPr lang="zh-TW" altLang="en-US" smtClean="0"/>
              <a:pPr>
                <a:defRPr/>
              </a:pPr>
              <a:t>66</a:t>
            </a:fld>
            <a:endParaRPr lang="en-US" altLang="zh-TW"/>
          </a:p>
        </p:txBody>
      </p:sp>
      <p:pic>
        <p:nvPicPr>
          <p:cNvPr id="8" name="Picture 7">
            <a:extLst>
              <a:ext uri="{FF2B5EF4-FFF2-40B4-BE49-F238E27FC236}">
                <a16:creationId xmlns:a16="http://schemas.microsoft.com/office/drawing/2014/main" id="{FEC81EE1-0940-AC4D-DECD-30C786FAF710}"/>
              </a:ext>
            </a:extLst>
          </p:cNvPr>
          <p:cNvPicPr>
            <a:picLocks noChangeAspect="1"/>
          </p:cNvPicPr>
          <p:nvPr/>
        </p:nvPicPr>
        <p:blipFill>
          <a:blip r:embed="rId2"/>
          <a:stretch>
            <a:fillRect/>
          </a:stretch>
        </p:blipFill>
        <p:spPr>
          <a:xfrm>
            <a:off x="838200" y="1046238"/>
            <a:ext cx="6960866" cy="5181600"/>
          </a:xfrm>
          <a:prstGeom prst="rect">
            <a:avLst/>
          </a:prstGeom>
        </p:spPr>
      </p:pic>
    </p:spTree>
    <p:extLst>
      <p:ext uri="{BB962C8B-B14F-4D97-AF65-F5344CB8AC3E}">
        <p14:creationId xmlns:p14="http://schemas.microsoft.com/office/powerpoint/2010/main" val="374417681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5"/>
          <p:cNvPicPr>
            <a:picLocks noChangeAspect="1" noChangeArrowheads="1"/>
          </p:cNvPicPr>
          <p:nvPr/>
        </p:nvPicPr>
        <p:blipFill>
          <a:blip r:embed="rId2" cstate="print"/>
          <a:srcRect/>
          <a:stretch>
            <a:fillRect/>
          </a:stretch>
        </p:blipFill>
        <p:spPr bwMode="auto">
          <a:xfrm>
            <a:off x="746125" y="1752600"/>
            <a:ext cx="2784475" cy="4487863"/>
          </a:xfrm>
          <a:prstGeom prst="rect">
            <a:avLst/>
          </a:prstGeom>
          <a:noFill/>
          <a:ln w="9525">
            <a:noFill/>
            <a:miter lim="800000"/>
            <a:headEnd/>
            <a:tailEnd/>
          </a:ln>
        </p:spPr>
      </p:pic>
      <p:pic>
        <p:nvPicPr>
          <p:cNvPr id="54275" name="Picture 6"/>
          <p:cNvPicPr>
            <a:picLocks noChangeAspect="1" noChangeArrowheads="1"/>
          </p:cNvPicPr>
          <p:nvPr/>
        </p:nvPicPr>
        <p:blipFill>
          <a:blip r:embed="rId3" cstate="print">
            <a:lum bright="-12000" contrast="24000"/>
          </a:blip>
          <a:srcRect/>
          <a:stretch>
            <a:fillRect/>
          </a:stretch>
        </p:blipFill>
        <p:spPr bwMode="auto">
          <a:xfrm>
            <a:off x="3657600" y="2743200"/>
            <a:ext cx="4949825" cy="2708275"/>
          </a:xfrm>
          <a:prstGeom prst="rect">
            <a:avLst/>
          </a:prstGeom>
          <a:noFill/>
          <a:ln w="9525">
            <a:noFill/>
            <a:miter lim="800000"/>
            <a:headEnd/>
            <a:tailEnd/>
          </a:ln>
        </p:spPr>
      </p:pic>
      <p:sp>
        <p:nvSpPr>
          <p:cNvPr id="54276" name="Rectangle 7"/>
          <p:cNvSpPr>
            <a:spLocks noChangeArrowheads="1"/>
          </p:cNvSpPr>
          <p:nvPr/>
        </p:nvSpPr>
        <p:spPr bwMode="auto">
          <a:xfrm>
            <a:off x="1066800" y="12192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Shake-up satellites</a:t>
            </a:r>
          </a:p>
        </p:txBody>
      </p:sp>
      <p:sp>
        <p:nvSpPr>
          <p:cNvPr id="2" name="Slide Number Placeholder 1">
            <a:extLst>
              <a:ext uri="{FF2B5EF4-FFF2-40B4-BE49-F238E27FC236}">
                <a16:creationId xmlns:a16="http://schemas.microsoft.com/office/drawing/2014/main" id="{6F1506C2-780B-492A-B266-47C8FBC78B37}"/>
              </a:ext>
            </a:extLst>
          </p:cNvPr>
          <p:cNvSpPr>
            <a:spLocks noGrp="1"/>
          </p:cNvSpPr>
          <p:nvPr>
            <p:ph type="sldNum" sz="quarter" idx="11"/>
          </p:nvPr>
        </p:nvSpPr>
        <p:spPr/>
        <p:txBody>
          <a:bodyPr/>
          <a:lstStyle/>
          <a:p>
            <a:pPr>
              <a:defRPr/>
            </a:pPr>
            <a:fld id="{EBF73BDF-690D-4725-BA10-A7934ED52EAB}" type="slidenum">
              <a:rPr lang="zh-TW" altLang="en-US" smtClean="0"/>
              <a:pPr>
                <a:defRPr/>
              </a:pPr>
              <a:t>67</a:t>
            </a:fld>
            <a:endParaRPr lang="en-US" altLang="zh-TW"/>
          </a:p>
        </p:txBody>
      </p:sp>
      <p:sp>
        <p:nvSpPr>
          <p:cNvPr id="3" name="Rectangle 7">
            <a:extLst>
              <a:ext uri="{FF2B5EF4-FFF2-40B4-BE49-F238E27FC236}">
                <a16:creationId xmlns:a16="http://schemas.microsoft.com/office/drawing/2014/main" id="{1A556565-D62F-9911-C592-A1628F379533}"/>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 – Shake up Satellites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Text Box 4"/>
          <p:cNvSpPr txBox="1">
            <a:spLocks noChangeArrowheads="1"/>
          </p:cNvSpPr>
          <p:nvPr/>
        </p:nvSpPr>
        <p:spPr bwMode="auto">
          <a:xfrm>
            <a:off x="762000" y="1477962"/>
            <a:ext cx="7483475" cy="4555093"/>
          </a:xfrm>
          <a:prstGeom prst="rect">
            <a:avLst/>
          </a:prstGeom>
          <a:noFill/>
          <a:ln w="9525">
            <a:noFill/>
            <a:miter lim="800000"/>
            <a:headEnd/>
            <a:tailEnd/>
          </a:ln>
        </p:spPr>
        <p:txBody>
          <a:bodyPr>
            <a:spAutoFit/>
          </a:bodyPr>
          <a:lstStyle/>
          <a:p>
            <a:pPr marL="342900" indent="-342900" algn="just" eaLnBrk="1" hangingPunct="1">
              <a:spcAft>
                <a:spcPts val="1200"/>
              </a:spcAft>
              <a:buFont typeface="Arial" panose="020B0604020202020204" pitchFamily="34" charset="0"/>
              <a:buChar char="•"/>
            </a:pPr>
            <a:r>
              <a:rPr lang="en-US" altLang="zh-TW" sz="2000" dirty="0">
                <a:latin typeface="Georgia" panose="02040502050405020303" pitchFamily="18" charset="0"/>
                <a:ea typeface="新細明體" pitchFamily="18" charset="-120"/>
              </a:rPr>
              <a:t>To the </a:t>
            </a:r>
            <a:r>
              <a:rPr lang="en-US" altLang="zh-TW" sz="2000" dirty="0">
                <a:solidFill>
                  <a:srgbClr val="006600"/>
                </a:solidFill>
                <a:latin typeface="Georgia" panose="02040502050405020303" pitchFamily="18" charset="0"/>
                <a:ea typeface="新細明體" pitchFamily="18" charset="-120"/>
              </a:rPr>
              <a:t>valence electrons</a:t>
            </a:r>
            <a:r>
              <a:rPr lang="en-US" altLang="zh-TW" sz="2000" dirty="0">
                <a:latin typeface="Georgia" panose="02040502050405020303" pitchFamily="18" charset="0"/>
                <a:ea typeface="新細明體" pitchFamily="18" charset="-120"/>
              </a:rPr>
              <a:t> associated with an atom the loss of a core electrons by photoemission appears to increase the nuclear charge.</a:t>
            </a:r>
          </a:p>
          <a:p>
            <a:pPr marL="342900" indent="-342900" algn="just" eaLnBrk="1" hangingPunct="1">
              <a:spcAft>
                <a:spcPts val="1200"/>
              </a:spcAft>
              <a:buFont typeface="Arial" panose="020B0604020202020204" pitchFamily="34" charset="0"/>
              <a:buChar char="•"/>
            </a:pPr>
            <a:r>
              <a:rPr lang="en-US" altLang="zh-TW" sz="2000" dirty="0">
                <a:latin typeface="Georgia" panose="02040502050405020303" pitchFamily="18" charset="0"/>
                <a:ea typeface="新細明體" pitchFamily="18" charset="-120"/>
              </a:rPr>
              <a:t>This major perturbation gives rise to substantial </a:t>
            </a:r>
            <a:r>
              <a:rPr lang="en-US" altLang="zh-TW" sz="2000" dirty="0">
                <a:solidFill>
                  <a:srgbClr val="006600"/>
                </a:solidFill>
                <a:latin typeface="Georgia" panose="02040502050405020303" pitchFamily="18" charset="0"/>
                <a:ea typeface="新細明體" pitchFamily="18" charset="-120"/>
              </a:rPr>
              <a:t>reorganization of the valence electrons (relaxation)</a:t>
            </a:r>
            <a:r>
              <a:rPr lang="en-US" altLang="zh-TW" sz="2000" dirty="0">
                <a:latin typeface="Georgia" panose="02040502050405020303" pitchFamily="18" charset="0"/>
                <a:ea typeface="新細明體" pitchFamily="18" charset="-120"/>
              </a:rPr>
              <a:t> which may involve excitation of one of them to a higher unfilled level (shake-up).</a:t>
            </a:r>
          </a:p>
          <a:p>
            <a:pPr marL="342900" indent="-342900" algn="just" eaLnBrk="1" hangingPunct="1">
              <a:spcAft>
                <a:spcPts val="1200"/>
              </a:spcAft>
              <a:buFont typeface="Arial" panose="020B0604020202020204" pitchFamily="34" charset="0"/>
              <a:buChar char="•"/>
            </a:pPr>
            <a:r>
              <a:rPr lang="en-US" altLang="zh-TW" sz="2000" dirty="0">
                <a:latin typeface="Georgia" panose="02040502050405020303" pitchFamily="18" charset="0"/>
                <a:ea typeface="新細明體" pitchFamily="18" charset="-120"/>
              </a:rPr>
              <a:t>The energy required for this transition is not available to the primary electron and thus the two-electron process leads to a discrete structure on the</a:t>
            </a:r>
            <a:r>
              <a:rPr lang="en-US" altLang="zh-TW" sz="2000" dirty="0">
                <a:solidFill>
                  <a:srgbClr val="00FF00"/>
                </a:solidFill>
                <a:latin typeface="Georgia" panose="02040502050405020303" pitchFamily="18" charset="0"/>
                <a:ea typeface="新細明體" pitchFamily="18" charset="-120"/>
              </a:rPr>
              <a:t> </a:t>
            </a:r>
            <a:r>
              <a:rPr lang="en-US" altLang="zh-TW" sz="2000" dirty="0">
                <a:solidFill>
                  <a:srgbClr val="006600"/>
                </a:solidFill>
                <a:latin typeface="Georgia" panose="02040502050405020303" pitchFamily="18" charset="0"/>
                <a:ea typeface="新細明體" pitchFamily="18" charset="-120"/>
              </a:rPr>
              <a:t>low KE side of the photoelectron peak (shake-up satellite)</a:t>
            </a:r>
            <a:r>
              <a:rPr lang="en-US" altLang="zh-TW" sz="2000" dirty="0">
                <a:latin typeface="Georgia" panose="02040502050405020303" pitchFamily="18" charset="0"/>
                <a:ea typeface="新細明體" pitchFamily="18" charset="-120"/>
              </a:rPr>
              <a:t>.</a:t>
            </a:r>
          </a:p>
          <a:p>
            <a:pPr marL="342900" indent="-342900" algn="just" eaLnBrk="1" hangingPunct="1">
              <a:spcAft>
                <a:spcPts val="1200"/>
              </a:spcAft>
              <a:buFont typeface="Arial" panose="020B0604020202020204" pitchFamily="34" charset="0"/>
              <a:buChar char="•"/>
            </a:pPr>
            <a:r>
              <a:rPr lang="en-US" altLang="zh-TW" sz="2000" dirty="0">
                <a:latin typeface="Georgia" panose="02040502050405020303" pitchFamily="18" charset="0"/>
                <a:ea typeface="新細明體" pitchFamily="18" charset="-120"/>
              </a:rPr>
              <a:t>Most commonly observed shake-up satellite is that corresponding to the </a:t>
            </a:r>
            <a:r>
              <a:rPr lang="en-US" altLang="zh-TW" sz="2000" dirty="0">
                <a:solidFill>
                  <a:srgbClr val="006600"/>
                </a:solidFill>
                <a:latin typeface="Georgia" panose="02040502050405020303" pitchFamily="18" charset="0"/>
                <a:ea typeface="新細明體" pitchFamily="18" charset="-120"/>
                <a:sym typeface="Symbol" pitchFamily="18" charset="2"/>
              </a:rPr>
              <a:t></a:t>
            </a:r>
            <a:r>
              <a:rPr lang="en-US" altLang="zh-TW" sz="2000" dirty="0">
                <a:solidFill>
                  <a:srgbClr val="006600"/>
                </a:solidFill>
                <a:latin typeface="Georgia" panose="02040502050405020303" pitchFamily="18" charset="0"/>
                <a:ea typeface="新細明體" pitchFamily="18" charset="-120"/>
              </a:rPr>
              <a:t> </a:t>
            </a:r>
            <a:r>
              <a:rPr lang="en-US" altLang="zh-TW" sz="2000" dirty="0">
                <a:solidFill>
                  <a:srgbClr val="006600"/>
                </a:solidFill>
                <a:latin typeface="Georgia" panose="02040502050405020303" pitchFamily="18" charset="0"/>
                <a:ea typeface="新細明體" pitchFamily="18" charset="-120"/>
                <a:sym typeface="Symbol" pitchFamily="18" charset="2"/>
              </a:rPr>
              <a:t></a:t>
            </a:r>
            <a:r>
              <a:rPr lang="en-US" altLang="zh-TW" sz="2000" dirty="0">
                <a:solidFill>
                  <a:srgbClr val="006600"/>
                </a:solidFill>
                <a:latin typeface="Georgia" panose="02040502050405020303" pitchFamily="18" charset="0"/>
                <a:ea typeface="新細明體" pitchFamily="18" charset="-120"/>
              </a:rPr>
              <a:t> </a:t>
            </a:r>
            <a:r>
              <a:rPr lang="en-US" altLang="zh-TW" sz="2000" dirty="0">
                <a:solidFill>
                  <a:srgbClr val="006600"/>
                </a:solidFill>
                <a:latin typeface="Georgia" panose="02040502050405020303" pitchFamily="18" charset="0"/>
                <a:ea typeface="新細明體" pitchFamily="18" charset="-120"/>
                <a:sym typeface="Symbol" pitchFamily="18" charset="2"/>
              </a:rPr>
              <a:t></a:t>
            </a:r>
            <a:r>
              <a:rPr lang="en-US" altLang="zh-TW" sz="2000" baseline="30000" dirty="0">
                <a:solidFill>
                  <a:srgbClr val="006600"/>
                </a:solidFill>
                <a:latin typeface="Georgia" panose="02040502050405020303" pitchFamily="18" charset="0"/>
                <a:ea typeface="新細明體" pitchFamily="18" charset="-120"/>
              </a:rPr>
              <a:t>*</a:t>
            </a:r>
            <a:r>
              <a:rPr lang="en-US" altLang="zh-TW" sz="2000" dirty="0">
                <a:latin typeface="Georgia" panose="02040502050405020303" pitchFamily="18" charset="0"/>
                <a:ea typeface="新細明體" pitchFamily="18" charset="-120"/>
              </a:rPr>
              <a:t> transition in aromatic system.</a:t>
            </a:r>
          </a:p>
        </p:txBody>
      </p:sp>
      <p:sp>
        <p:nvSpPr>
          <p:cNvPr id="53251" name="Rectangle 6"/>
          <p:cNvSpPr>
            <a:spLocks noChangeArrowheads="1"/>
          </p:cNvSpPr>
          <p:nvPr/>
        </p:nvSpPr>
        <p:spPr bwMode="auto">
          <a:xfrm>
            <a:off x="1104900" y="9144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Shake-up satellites</a:t>
            </a:r>
          </a:p>
        </p:txBody>
      </p:sp>
      <p:sp>
        <p:nvSpPr>
          <p:cNvPr id="2" name="Slide Number Placeholder 1">
            <a:extLst>
              <a:ext uri="{FF2B5EF4-FFF2-40B4-BE49-F238E27FC236}">
                <a16:creationId xmlns:a16="http://schemas.microsoft.com/office/drawing/2014/main" id="{4ADEC218-B0CD-4987-A86C-8CB558F10689}"/>
              </a:ext>
            </a:extLst>
          </p:cNvPr>
          <p:cNvSpPr>
            <a:spLocks noGrp="1"/>
          </p:cNvSpPr>
          <p:nvPr>
            <p:ph type="sldNum" sz="quarter" idx="11"/>
          </p:nvPr>
        </p:nvSpPr>
        <p:spPr/>
        <p:txBody>
          <a:bodyPr/>
          <a:lstStyle/>
          <a:p>
            <a:pPr>
              <a:defRPr/>
            </a:pPr>
            <a:fld id="{EBF73BDF-690D-4725-BA10-A7934ED52EAB}" type="slidenum">
              <a:rPr lang="zh-TW" altLang="en-US" smtClean="0"/>
              <a:pPr>
                <a:defRPr/>
              </a:pPr>
              <a:t>68</a:t>
            </a:fld>
            <a:endParaRPr lang="en-US" altLang="zh-TW"/>
          </a:p>
        </p:txBody>
      </p:sp>
      <p:sp>
        <p:nvSpPr>
          <p:cNvPr id="3" name="Rectangle 7">
            <a:extLst>
              <a:ext uri="{FF2B5EF4-FFF2-40B4-BE49-F238E27FC236}">
                <a16:creationId xmlns:a16="http://schemas.microsoft.com/office/drawing/2014/main" id="{C2371EC5-D730-440F-F799-C15A393A0F7F}"/>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 – Shake up Satellites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Text Box 5"/>
          <p:cNvSpPr txBox="1">
            <a:spLocks noChangeArrowheads="1"/>
          </p:cNvSpPr>
          <p:nvPr/>
        </p:nvSpPr>
        <p:spPr bwMode="auto">
          <a:xfrm>
            <a:off x="762000" y="2117725"/>
            <a:ext cx="7712075" cy="3939540"/>
          </a:xfrm>
          <a:prstGeom prst="rect">
            <a:avLst/>
          </a:prstGeom>
          <a:noFill/>
          <a:ln w="9525">
            <a:noFill/>
            <a:miter lim="800000"/>
            <a:headEnd/>
            <a:tailEnd/>
          </a:ln>
        </p:spPr>
        <p:txBody>
          <a:bodyPr>
            <a:spAutoFit/>
          </a:bodyPr>
          <a:lstStyle/>
          <a:p>
            <a:pPr algn="just" eaLnBrk="1" hangingPunct="1"/>
            <a:r>
              <a:rPr lang="en-US" altLang="zh-TW" sz="2000" dirty="0">
                <a:latin typeface="Georgia" panose="02040502050405020303" pitchFamily="18" charset="0"/>
                <a:ea typeface="新細明體" pitchFamily="18" charset="-120"/>
              </a:rPr>
              <a:t>In a process similar to "shake-up", valence electrons can be completely ionized, </a:t>
            </a:r>
            <a:r>
              <a:rPr lang="en-US" altLang="zh-TW" sz="2000" i="1" dirty="0">
                <a:latin typeface="Georgia" panose="02040502050405020303" pitchFamily="18" charset="0"/>
                <a:ea typeface="新細明體" pitchFamily="18" charset="-120"/>
              </a:rPr>
              <a:t>i.e.</a:t>
            </a:r>
            <a:r>
              <a:rPr lang="en-US" altLang="zh-TW" sz="2000" dirty="0">
                <a:latin typeface="Georgia" panose="02040502050405020303" pitchFamily="18" charset="0"/>
                <a:ea typeface="新細明體" pitchFamily="18" charset="-120"/>
              </a:rPr>
              <a:t> excited to an </a:t>
            </a:r>
            <a:r>
              <a:rPr lang="en-US" altLang="zh-TW" sz="2000" dirty="0">
                <a:solidFill>
                  <a:srgbClr val="006600"/>
                </a:solidFill>
                <a:latin typeface="Georgia" panose="02040502050405020303" pitchFamily="18" charset="0"/>
                <a:ea typeface="新細明體" pitchFamily="18" charset="-120"/>
              </a:rPr>
              <a:t>unbounded continuum state</a:t>
            </a:r>
            <a:r>
              <a:rPr lang="en-US" altLang="zh-TW" sz="2000" dirty="0">
                <a:latin typeface="Georgia" panose="02040502050405020303" pitchFamily="18" charset="0"/>
                <a:ea typeface="新細明體" pitchFamily="18" charset="-120"/>
              </a:rPr>
              <a:t>.</a:t>
            </a:r>
          </a:p>
          <a:p>
            <a:pPr algn="just" eaLnBrk="1" hangingPunct="1"/>
            <a:endParaRPr lang="en-US" altLang="zh-TW" sz="1000" dirty="0">
              <a:latin typeface="Georgia" panose="02040502050405020303" pitchFamily="18" charset="0"/>
              <a:ea typeface="新細明體" pitchFamily="18" charset="-120"/>
            </a:endParaRPr>
          </a:p>
          <a:p>
            <a:pPr algn="just" eaLnBrk="1" hangingPunct="1"/>
            <a:r>
              <a:rPr lang="en-US" altLang="zh-TW" sz="2000" dirty="0">
                <a:latin typeface="Georgia" panose="02040502050405020303" pitchFamily="18" charset="0"/>
                <a:ea typeface="新細明體" pitchFamily="18" charset="-120"/>
              </a:rPr>
              <a:t>This process, referred to as "shake-off", </a:t>
            </a:r>
            <a:r>
              <a:rPr lang="en-US" altLang="zh-TW" sz="2000" dirty="0">
                <a:solidFill>
                  <a:srgbClr val="006600"/>
                </a:solidFill>
                <a:latin typeface="Georgia" panose="02040502050405020303" pitchFamily="18" charset="0"/>
                <a:ea typeface="新細明體" pitchFamily="18" charset="-120"/>
              </a:rPr>
              <a:t>leaves an ion with vacancies in both the core and the valence level</a:t>
            </a:r>
            <a:r>
              <a:rPr lang="en-US" altLang="zh-TW" sz="2000" dirty="0">
                <a:latin typeface="Georgia" panose="02040502050405020303" pitchFamily="18" charset="0"/>
                <a:ea typeface="新細明體" pitchFamily="18" charset="-120"/>
              </a:rPr>
              <a:t>.</a:t>
            </a:r>
          </a:p>
          <a:p>
            <a:pPr algn="just" eaLnBrk="1" hangingPunct="1"/>
            <a:endParaRPr lang="en-US" altLang="zh-TW" sz="1000" dirty="0">
              <a:latin typeface="Georgia" panose="02040502050405020303" pitchFamily="18" charset="0"/>
              <a:ea typeface="新細明體" pitchFamily="18" charset="-120"/>
            </a:endParaRPr>
          </a:p>
          <a:p>
            <a:pPr algn="just" eaLnBrk="1" hangingPunct="1"/>
            <a:r>
              <a:rPr lang="en-US" altLang="zh-TW" sz="2000" dirty="0">
                <a:latin typeface="Georgia" panose="02040502050405020303" pitchFamily="18" charset="0"/>
                <a:ea typeface="新細明體" pitchFamily="18" charset="-120"/>
              </a:rPr>
              <a:t>Discrete shake-off satellites are rarely discerned in the solid state because (a) the energy separation from the primary photoelectron peak is much greater than for the "shake-up" satellites, and (b) transition from discrete levels to a continuum produce </a:t>
            </a:r>
            <a:r>
              <a:rPr lang="en-US" altLang="zh-TW" sz="2000" dirty="0">
                <a:solidFill>
                  <a:srgbClr val="FF0000"/>
                </a:solidFill>
                <a:latin typeface="Georgia" panose="02040502050405020303" pitchFamily="18" charset="0"/>
                <a:ea typeface="新細明體" pitchFamily="18" charset="-120"/>
              </a:rPr>
              <a:t>onsets of increased intensity </a:t>
            </a:r>
            <a:r>
              <a:rPr lang="en-US" altLang="zh-TW" sz="2000" dirty="0">
                <a:latin typeface="Georgia" panose="02040502050405020303" pitchFamily="18" charset="0"/>
                <a:ea typeface="新細明體" pitchFamily="18" charset="-120"/>
              </a:rPr>
              <a:t>rather than discrete peaks.</a:t>
            </a:r>
          </a:p>
          <a:p>
            <a:pPr algn="just" eaLnBrk="1" hangingPunct="1"/>
            <a:endParaRPr lang="en-US" altLang="zh-TW" sz="1000" dirty="0">
              <a:latin typeface="Georgia" panose="02040502050405020303" pitchFamily="18" charset="0"/>
              <a:ea typeface="新細明體" pitchFamily="18" charset="-120"/>
            </a:endParaRPr>
          </a:p>
          <a:p>
            <a:pPr algn="just" eaLnBrk="1" hangingPunct="1"/>
            <a:r>
              <a:rPr lang="en-US" altLang="zh-TW" sz="2000" dirty="0">
                <a:latin typeface="Georgia" panose="02040502050405020303" pitchFamily="18" charset="0"/>
                <a:ea typeface="新細明體" pitchFamily="18" charset="-120"/>
              </a:rPr>
              <a:t>However, in some polymers, "shake-off" satellites can be identified, that image the polymer valence band structure.</a:t>
            </a:r>
            <a:endParaRPr lang="en-US" altLang="zh-CN" sz="2000" dirty="0">
              <a:latin typeface="Georgia" panose="02040502050405020303" pitchFamily="18" charset="0"/>
              <a:ea typeface="SimSun" pitchFamily="2" charset="-122"/>
            </a:endParaRPr>
          </a:p>
        </p:txBody>
      </p:sp>
      <p:sp>
        <p:nvSpPr>
          <p:cNvPr id="55299" name="Rectangle 6"/>
          <p:cNvSpPr>
            <a:spLocks noChangeArrowheads="1"/>
          </p:cNvSpPr>
          <p:nvPr/>
        </p:nvSpPr>
        <p:spPr bwMode="auto">
          <a:xfrm>
            <a:off x="1066800" y="12192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Shake-off satellites</a:t>
            </a:r>
          </a:p>
        </p:txBody>
      </p:sp>
      <p:sp>
        <p:nvSpPr>
          <p:cNvPr id="2" name="Slide Number Placeholder 1">
            <a:extLst>
              <a:ext uri="{FF2B5EF4-FFF2-40B4-BE49-F238E27FC236}">
                <a16:creationId xmlns:a16="http://schemas.microsoft.com/office/drawing/2014/main" id="{1042A011-1B7E-45DA-AD72-35275C96C2BD}"/>
              </a:ext>
            </a:extLst>
          </p:cNvPr>
          <p:cNvSpPr>
            <a:spLocks noGrp="1"/>
          </p:cNvSpPr>
          <p:nvPr>
            <p:ph type="sldNum" sz="quarter" idx="11"/>
          </p:nvPr>
        </p:nvSpPr>
        <p:spPr/>
        <p:txBody>
          <a:bodyPr/>
          <a:lstStyle/>
          <a:p>
            <a:pPr>
              <a:defRPr/>
            </a:pPr>
            <a:fld id="{EBF73BDF-690D-4725-BA10-A7934ED52EAB}" type="slidenum">
              <a:rPr lang="zh-TW" altLang="en-US" smtClean="0"/>
              <a:pPr>
                <a:defRPr/>
              </a:pPr>
              <a:t>69</a:t>
            </a:fld>
            <a:endParaRPr lang="en-US" altLang="zh-TW"/>
          </a:p>
        </p:txBody>
      </p:sp>
      <p:sp>
        <p:nvSpPr>
          <p:cNvPr id="3" name="Rectangle 7">
            <a:extLst>
              <a:ext uri="{FF2B5EF4-FFF2-40B4-BE49-F238E27FC236}">
                <a16:creationId xmlns:a16="http://schemas.microsoft.com/office/drawing/2014/main" id="{C9A4699A-6B9B-464D-89A5-77AC06289C89}"/>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 – Shake off Satellites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67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1066800"/>
            <a:ext cx="5734050" cy="50450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Slide Number Placeholder 1">
            <a:extLst>
              <a:ext uri="{FF2B5EF4-FFF2-40B4-BE49-F238E27FC236}">
                <a16:creationId xmlns:a16="http://schemas.microsoft.com/office/drawing/2014/main" id="{5A861164-5268-4470-8779-6E3F4A7D391E}"/>
              </a:ext>
            </a:extLst>
          </p:cNvPr>
          <p:cNvSpPr>
            <a:spLocks noGrp="1"/>
          </p:cNvSpPr>
          <p:nvPr>
            <p:ph type="sldNum" sz="quarter" idx="11"/>
          </p:nvPr>
        </p:nvSpPr>
        <p:spPr/>
        <p:txBody>
          <a:bodyPr/>
          <a:lstStyle/>
          <a:p>
            <a:pPr>
              <a:defRPr/>
            </a:pPr>
            <a:fld id="{EBF73BDF-690D-4725-BA10-A7934ED52EAB}" type="slidenum">
              <a:rPr lang="zh-TW" altLang="en-US" smtClean="0"/>
              <a:pPr>
                <a:defRPr/>
              </a:pPr>
              <a:t>70</a:t>
            </a:fld>
            <a:endParaRPr lang="en-US" altLang="zh-TW"/>
          </a:p>
        </p:txBody>
      </p:sp>
      <p:sp>
        <p:nvSpPr>
          <p:cNvPr id="3" name="Rectangle 7">
            <a:extLst>
              <a:ext uri="{FF2B5EF4-FFF2-40B4-BE49-F238E27FC236}">
                <a16:creationId xmlns:a16="http://schemas.microsoft.com/office/drawing/2014/main" id="{B5EE6490-A76D-2540-463C-E9451F9CC4A3}"/>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 – Shake off Satellites</a:t>
            </a:r>
          </a:p>
        </p:txBody>
      </p:sp>
    </p:spTree>
    <p:extLst>
      <p:ext uri="{BB962C8B-B14F-4D97-AF65-F5344CB8AC3E}">
        <p14:creationId xmlns:p14="http://schemas.microsoft.com/office/powerpoint/2010/main" val="170054926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6322" name="Picture 4"/>
          <p:cNvPicPr>
            <a:picLocks noChangeAspect="1" noChangeArrowheads="1"/>
          </p:cNvPicPr>
          <p:nvPr/>
        </p:nvPicPr>
        <p:blipFill>
          <a:blip r:embed="rId2" cstate="print"/>
          <a:srcRect/>
          <a:stretch>
            <a:fillRect/>
          </a:stretch>
        </p:blipFill>
        <p:spPr bwMode="auto">
          <a:xfrm>
            <a:off x="1295400" y="1013701"/>
            <a:ext cx="5750719" cy="5234699"/>
          </a:xfrm>
          <a:prstGeom prst="rect">
            <a:avLst/>
          </a:prstGeom>
          <a:noFill/>
          <a:ln w="9525">
            <a:noFill/>
            <a:miter lim="800000"/>
            <a:headEnd/>
            <a:tailEnd/>
          </a:ln>
        </p:spPr>
      </p:pic>
      <p:sp>
        <p:nvSpPr>
          <p:cNvPr id="56323" name="Rectangle 6"/>
          <p:cNvSpPr>
            <a:spLocks noChangeArrowheads="1"/>
          </p:cNvSpPr>
          <p:nvPr/>
        </p:nvSpPr>
        <p:spPr bwMode="auto">
          <a:xfrm>
            <a:off x="2743200" y="5732488"/>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Binding energy referencing in XPS</a:t>
            </a:r>
          </a:p>
        </p:txBody>
      </p:sp>
      <p:sp>
        <p:nvSpPr>
          <p:cNvPr id="2" name="Slide Number Placeholder 1">
            <a:extLst>
              <a:ext uri="{FF2B5EF4-FFF2-40B4-BE49-F238E27FC236}">
                <a16:creationId xmlns:a16="http://schemas.microsoft.com/office/drawing/2014/main" id="{1C2FC149-7C4D-4848-909A-585B4B59E436}"/>
              </a:ext>
            </a:extLst>
          </p:cNvPr>
          <p:cNvSpPr>
            <a:spLocks noGrp="1"/>
          </p:cNvSpPr>
          <p:nvPr>
            <p:ph type="sldNum" sz="quarter" idx="11"/>
          </p:nvPr>
        </p:nvSpPr>
        <p:spPr/>
        <p:txBody>
          <a:bodyPr/>
          <a:lstStyle/>
          <a:p>
            <a:pPr>
              <a:defRPr/>
            </a:pPr>
            <a:fld id="{EBF73BDF-690D-4725-BA10-A7934ED52EAB}" type="slidenum">
              <a:rPr lang="zh-TW" altLang="en-US" smtClean="0"/>
              <a:pPr>
                <a:defRPr/>
              </a:pPr>
              <a:t>71</a:t>
            </a:fld>
            <a:endParaRPr lang="en-US" altLang="zh-TW"/>
          </a:p>
        </p:txBody>
      </p:sp>
      <p:sp>
        <p:nvSpPr>
          <p:cNvPr id="3" name="Rectangle 7">
            <a:extLst>
              <a:ext uri="{FF2B5EF4-FFF2-40B4-BE49-F238E27FC236}">
                <a16:creationId xmlns:a16="http://schemas.microsoft.com/office/drawing/2014/main" id="{6733655D-CBCA-3914-DB85-2459B866039E}"/>
              </a:ext>
            </a:extLst>
          </p:cNvPr>
          <p:cNvSpPr>
            <a:spLocks noChangeArrowheads="1"/>
          </p:cNvSpPr>
          <p:nvPr/>
        </p:nvSpPr>
        <p:spPr bwMode="auto">
          <a:xfrm>
            <a:off x="609600" y="211112"/>
            <a:ext cx="8229600" cy="457200"/>
          </a:xfrm>
          <a:prstGeom prst="rect">
            <a:avLst/>
          </a:prstGeom>
          <a:noFill/>
          <a:ln w="9525">
            <a:noFill/>
            <a:miter lim="800000"/>
            <a:headEnd/>
            <a:tailEnd/>
          </a:ln>
        </p:spPr>
        <p:txBody>
          <a:bodyPr anchor="ctr"/>
          <a:lstStyle/>
          <a:p>
            <a:pPr eaLnBrk="1" hangingPunct="1"/>
            <a:r>
              <a:rPr lang="en-US" altLang="zh-TW" sz="2400" dirty="0">
                <a:solidFill>
                  <a:schemeClr val="bg1"/>
                </a:solidFill>
                <a:latin typeface="Georgia" panose="02040502050405020303" pitchFamily="18" charset="0"/>
                <a:ea typeface="新細明體" pitchFamily="18" charset="-120"/>
              </a:rPr>
              <a:t>Spectral interpretation – Binding energy</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346" name="Picture 4"/>
          <p:cNvPicPr>
            <a:picLocks noChangeAspect="1" noChangeArrowheads="1"/>
          </p:cNvPicPr>
          <p:nvPr/>
        </p:nvPicPr>
        <p:blipFill>
          <a:blip r:embed="rId2" cstate="print"/>
          <a:srcRect/>
          <a:stretch>
            <a:fillRect/>
          </a:stretch>
        </p:blipFill>
        <p:spPr bwMode="auto">
          <a:xfrm>
            <a:off x="0" y="2189644"/>
            <a:ext cx="7924800" cy="3188400"/>
          </a:xfrm>
          <a:prstGeom prst="rect">
            <a:avLst/>
          </a:prstGeom>
          <a:noFill/>
          <a:ln w="9525">
            <a:noFill/>
            <a:miter lim="800000"/>
            <a:headEnd/>
            <a:tailEnd/>
          </a:ln>
        </p:spPr>
      </p:pic>
      <p:sp>
        <p:nvSpPr>
          <p:cNvPr id="57347" name="Text Box 5"/>
          <p:cNvSpPr txBox="1">
            <a:spLocks noChangeArrowheads="1"/>
          </p:cNvSpPr>
          <p:nvPr/>
        </p:nvSpPr>
        <p:spPr bwMode="auto">
          <a:xfrm>
            <a:off x="641245" y="1359682"/>
            <a:ext cx="7620000" cy="641350"/>
          </a:xfrm>
          <a:prstGeom prst="rect">
            <a:avLst/>
          </a:prstGeom>
          <a:noFill/>
          <a:ln w="9525">
            <a:noFill/>
            <a:miter lim="800000"/>
            <a:headEnd/>
            <a:tailEnd/>
          </a:ln>
        </p:spPr>
        <p:txBody>
          <a:bodyPr>
            <a:spAutoFit/>
          </a:bodyPr>
          <a:lstStyle/>
          <a:p>
            <a:pPr algn="just" eaLnBrk="1" hangingPunct="1"/>
            <a:r>
              <a:rPr lang="en-US" altLang="zh-TW" dirty="0">
                <a:latin typeface="Georgia" panose="02040502050405020303" pitchFamily="18" charset="0"/>
                <a:ea typeface="新細明體" pitchFamily="18" charset="-120"/>
              </a:rPr>
              <a:t>Each system should be </a:t>
            </a:r>
            <a:r>
              <a:rPr lang="en-US" altLang="zh-TW" b="1" dirty="0">
                <a:solidFill>
                  <a:schemeClr val="bg2">
                    <a:lumMod val="60000"/>
                    <a:lumOff val="40000"/>
                  </a:schemeClr>
                </a:solidFill>
                <a:latin typeface="Georgia" panose="02040502050405020303" pitchFamily="18" charset="0"/>
                <a:ea typeface="新細明體" pitchFamily="18" charset="-120"/>
              </a:rPr>
              <a:t>calibrated</a:t>
            </a:r>
            <a:r>
              <a:rPr lang="en-US" altLang="zh-TW" dirty="0">
                <a:latin typeface="Georgia" panose="02040502050405020303" pitchFamily="18" charset="0"/>
                <a:ea typeface="新細明體" pitchFamily="18" charset="-120"/>
              </a:rPr>
              <a:t> against these accepted photoelectron lines according to the </a:t>
            </a:r>
            <a:r>
              <a:rPr lang="en-US" altLang="zh-TW" dirty="0">
                <a:solidFill>
                  <a:srgbClr val="FF0000"/>
                </a:solidFill>
                <a:latin typeface="Georgia" panose="02040502050405020303" pitchFamily="18" charset="0"/>
                <a:ea typeface="新細明體" pitchFamily="18" charset="-120"/>
              </a:rPr>
              <a:t>system’s unique response function. </a:t>
            </a:r>
            <a:endParaRPr lang="en-US" altLang="zh-CN" dirty="0">
              <a:solidFill>
                <a:srgbClr val="FF0000"/>
              </a:solidFill>
              <a:latin typeface="Georgia" panose="02040502050405020303" pitchFamily="18" charset="0"/>
              <a:ea typeface="SimSun" pitchFamily="2" charset="-122"/>
            </a:endParaRPr>
          </a:p>
        </p:txBody>
      </p:sp>
      <p:sp>
        <p:nvSpPr>
          <p:cNvPr id="57348" name="Text Box 6"/>
          <p:cNvSpPr txBox="1">
            <a:spLocks noChangeArrowheads="1"/>
          </p:cNvSpPr>
          <p:nvPr/>
        </p:nvSpPr>
        <p:spPr bwMode="auto">
          <a:xfrm>
            <a:off x="897427" y="5181600"/>
            <a:ext cx="7712075" cy="915988"/>
          </a:xfrm>
          <a:prstGeom prst="rect">
            <a:avLst/>
          </a:prstGeom>
          <a:noFill/>
          <a:ln w="9525">
            <a:noFill/>
            <a:miter lim="800000"/>
            <a:headEnd/>
            <a:tailEnd/>
          </a:ln>
        </p:spPr>
        <p:txBody>
          <a:bodyPr>
            <a:spAutoFit/>
          </a:bodyPr>
          <a:lstStyle/>
          <a:p>
            <a:pPr algn="just" eaLnBrk="1" hangingPunct="1"/>
            <a:r>
              <a:rPr lang="en-US" altLang="zh-TW" dirty="0">
                <a:latin typeface="Georgia" panose="02040502050405020303" pitchFamily="18" charset="0"/>
                <a:ea typeface="新細明體" pitchFamily="18" charset="-120"/>
              </a:rPr>
              <a:t>Sputter-clean Au, Ag and Cu surface should be prepared </a:t>
            </a:r>
            <a:r>
              <a:rPr lang="en-US" altLang="zh-TW" i="1" dirty="0">
                <a:solidFill>
                  <a:srgbClr val="006600"/>
                </a:solidFill>
                <a:latin typeface="Georgia" panose="02040502050405020303" pitchFamily="18" charset="0"/>
                <a:ea typeface="新細明體" pitchFamily="18" charset="-120"/>
              </a:rPr>
              <a:t>in-situ</a:t>
            </a:r>
            <a:r>
              <a:rPr lang="en-US" altLang="zh-TW" dirty="0">
                <a:latin typeface="Georgia" panose="02040502050405020303" pitchFamily="18" charset="0"/>
                <a:ea typeface="新細明體" pitchFamily="18" charset="-120"/>
              </a:rPr>
              <a:t> and the corresponding XPS lines are acquired.  These lines should be calibrated against the tabulated standard values. </a:t>
            </a:r>
            <a:endParaRPr lang="en-US" altLang="zh-CN" dirty="0">
              <a:latin typeface="Georgia" panose="02040502050405020303" pitchFamily="18" charset="0"/>
              <a:ea typeface="SimSun" pitchFamily="2" charset="-122"/>
            </a:endParaRPr>
          </a:p>
        </p:txBody>
      </p:sp>
      <p:sp>
        <p:nvSpPr>
          <p:cNvPr id="57349" name="Rectangle 7"/>
          <p:cNvSpPr>
            <a:spLocks noChangeArrowheads="1"/>
          </p:cNvSpPr>
          <p:nvPr/>
        </p:nvSpPr>
        <p:spPr bwMode="auto">
          <a:xfrm>
            <a:off x="917473" y="793069"/>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Binding energy referencing in XPS</a:t>
            </a:r>
          </a:p>
        </p:txBody>
      </p:sp>
      <p:sp>
        <p:nvSpPr>
          <p:cNvPr id="2" name="Slide Number Placeholder 1">
            <a:extLst>
              <a:ext uri="{FF2B5EF4-FFF2-40B4-BE49-F238E27FC236}">
                <a16:creationId xmlns:a16="http://schemas.microsoft.com/office/drawing/2014/main" id="{F661F3E1-9BFB-44CC-AF56-C093726288A4}"/>
              </a:ext>
            </a:extLst>
          </p:cNvPr>
          <p:cNvSpPr>
            <a:spLocks noGrp="1"/>
          </p:cNvSpPr>
          <p:nvPr>
            <p:ph type="sldNum" sz="quarter" idx="11"/>
          </p:nvPr>
        </p:nvSpPr>
        <p:spPr/>
        <p:txBody>
          <a:bodyPr/>
          <a:lstStyle/>
          <a:p>
            <a:pPr>
              <a:defRPr/>
            </a:pPr>
            <a:fld id="{EBF73BDF-690D-4725-BA10-A7934ED52EAB}" type="slidenum">
              <a:rPr lang="zh-TW" altLang="en-US" smtClean="0"/>
              <a:pPr>
                <a:defRPr/>
              </a:pPr>
              <a:t>72</a:t>
            </a:fld>
            <a:endParaRPr lang="en-US" altLang="zh-TW"/>
          </a:p>
        </p:txBody>
      </p:sp>
      <p:sp>
        <p:nvSpPr>
          <p:cNvPr id="3" name="Rectangle 7">
            <a:extLst>
              <a:ext uri="{FF2B5EF4-FFF2-40B4-BE49-F238E27FC236}">
                <a16:creationId xmlns:a16="http://schemas.microsoft.com/office/drawing/2014/main" id="{0D50D736-9DFE-2FA2-867D-B18BAC4A0EAD}"/>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Spectral interpretation – Binding energy</a:t>
            </a:r>
          </a:p>
        </p:txBody>
      </p:sp>
      <p:sp>
        <p:nvSpPr>
          <p:cNvPr id="4" name="Text Box 5">
            <a:extLst>
              <a:ext uri="{FF2B5EF4-FFF2-40B4-BE49-F238E27FC236}">
                <a16:creationId xmlns:a16="http://schemas.microsoft.com/office/drawing/2014/main" id="{87BEF199-892B-DF9D-BFC5-3064617E09A7}"/>
              </a:ext>
            </a:extLst>
          </p:cNvPr>
          <p:cNvSpPr txBox="1">
            <a:spLocks noChangeArrowheads="1"/>
          </p:cNvSpPr>
          <p:nvPr/>
        </p:nvSpPr>
        <p:spPr bwMode="auto">
          <a:xfrm>
            <a:off x="929568" y="6248400"/>
            <a:ext cx="7604832" cy="369332"/>
          </a:xfrm>
          <a:prstGeom prst="rect">
            <a:avLst/>
          </a:prstGeom>
          <a:noFill/>
          <a:ln w="9525">
            <a:noFill/>
            <a:miter lim="800000"/>
            <a:headEnd/>
            <a:tailEnd/>
          </a:ln>
        </p:spPr>
        <p:txBody>
          <a:bodyPr wrap="square">
            <a:spAutoFit/>
          </a:bodyPr>
          <a:lstStyle/>
          <a:p>
            <a:pPr algn="just" eaLnBrk="1" hangingPunct="1"/>
            <a:r>
              <a:rPr lang="en-US" altLang="zh-TW" dirty="0">
                <a:solidFill>
                  <a:schemeClr val="bg2">
                    <a:lumMod val="60000"/>
                    <a:lumOff val="40000"/>
                  </a:schemeClr>
                </a:solidFill>
                <a:latin typeface="Georgia" panose="02040502050405020303" pitchFamily="18" charset="0"/>
                <a:ea typeface="新細明體" pitchFamily="18" charset="-120"/>
              </a:rPr>
              <a:t>Anything a bit unusual about this Table?  How to understand?</a:t>
            </a:r>
            <a:endParaRPr lang="en-US" altLang="zh-CN" dirty="0">
              <a:solidFill>
                <a:schemeClr val="bg2">
                  <a:lumMod val="60000"/>
                  <a:lumOff val="40000"/>
                </a:schemeClr>
              </a:solidFill>
              <a:latin typeface="Georgia" panose="02040502050405020303" pitchFamily="18" charset="0"/>
              <a:ea typeface="SimSun" pitchFamily="2" charset="-122"/>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13EE115-AC07-A48E-D5B8-615632956BF7}"/>
              </a:ext>
            </a:extLst>
          </p:cNvPr>
          <p:cNvSpPr>
            <a:spLocks noGrp="1"/>
          </p:cNvSpPr>
          <p:nvPr>
            <p:ph type="sldNum" sz="quarter" idx="11"/>
          </p:nvPr>
        </p:nvSpPr>
        <p:spPr/>
        <p:txBody>
          <a:bodyPr/>
          <a:lstStyle/>
          <a:p>
            <a:pPr>
              <a:defRPr/>
            </a:pPr>
            <a:fld id="{EBF73BDF-690D-4725-BA10-A7934ED52EAB}" type="slidenum">
              <a:rPr lang="zh-TW" altLang="en-US" smtClean="0"/>
              <a:pPr>
                <a:defRPr/>
              </a:pPr>
              <a:t>73</a:t>
            </a:fld>
            <a:endParaRPr lang="en-US" altLang="zh-TW"/>
          </a:p>
        </p:txBody>
      </p:sp>
      <p:sp>
        <p:nvSpPr>
          <p:cNvPr id="3" name="Rectangle 7">
            <a:extLst>
              <a:ext uri="{FF2B5EF4-FFF2-40B4-BE49-F238E27FC236}">
                <a16:creationId xmlns:a16="http://schemas.microsoft.com/office/drawing/2014/main" id="{184EA8F4-DA71-ACF8-0FB3-E74ACBE640B1}"/>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Review on element identification in XPS</a:t>
            </a:r>
          </a:p>
        </p:txBody>
      </p:sp>
      <p:sp>
        <p:nvSpPr>
          <p:cNvPr id="4" name="Rectangle 7">
            <a:extLst>
              <a:ext uri="{FF2B5EF4-FFF2-40B4-BE49-F238E27FC236}">
                <a16:creationId xmlns:a16="http://schemas.microsoft.com/office/drawing/2014/main" id="{45525645-8667-4378-AF59-DF99A7A8F510}"/>
              </a:ext>
            </a:extLst>
          </p:cNvPr>
          <p:cNvSpPr>
            <a:spLocks noChangeArrowheads="1"/>
          </p:cNvSpPr>
          <p:nvPr/>
        </p:nvSpPr>
        <p:spPr bwMode="auto">
          <a:xfrm>
            <a:off x="838200" y="990838"/>
            <a:ext cx="6934200" cy="457200"/>
          </a:xfrm>
          <a:prstGeom prst="rect">
            <a:avLst/>
          </a:prstGeom>
          <a:noFill/>
          <a:ln w="9525">
            <a:noFill/>
            <a:miter lim="800000"/>
            <a:headEnd/>
            <a:tailEnd/>
          </a:ln>
        </p:spPr>
        <p:txBody>
          <a:bodyPr>
            <a:spAutoFit/>
          </a:bodyPr>
          <a:lstStyle/>
          <a:p>
            <a:pPr algn="ctr" eaLnBrk="1" hangingPunct="1"/>
            <a:r>
              <a:rPr lang="en-US" altLang="zh-TW" sz="2400" b="1" dirty="0">
                <a:latin typeface="Georgia" panose="02040502050405020303" pitchFamily="18" charset="0"/>
                <a:ea typeface="新細明體" pitchFamily="18" charset="-120"/>
              </a:rPr>
              <a:t>Binding energy  of elements</a:t>
            </a:r>
          </a:p>
        </p:txBody>
      </p:sp>
      <p:sp>
        <p:nvSpPr>
          <p:cNvPr id="5" name="Text Box 4">
            <a:extLst>
              <a:ext uri="{FF2B5EF4-FFF2-40B4-BE49-F238E27FC236}">
                <a16:creationId xmlns:a16="http://schemas.microsoft.com/office/drawing/2014/main" id="{1BA53F99-314F-4E43-AEE4-8F8AD8512B44}"/>
              </a:ext>
            </a:extLst>
          </p:cNvPr>
          <p:cNvSpPr txBox="1">
            <a:spLocks noChangeArrowheads="1"/>
          </p:cNvSpPr>
          <p:nvPr/>
        </p:nvSpPr>
        <p:spPr bwMode="auto">
          <a:xfrm>
            <a:off x="762000" y="1981200"/>
            <a:ext cx="7483475" cy="3200876"/>
          </a:xfrm>
          <a:prstGeom prst="rect">
            <a:avLst/>
          </a:prstGeom>
          <a:noFill/>
          <a:ln w="9525">
            <a:noFill/>
            <a:miter lim="800000"/>
            <a:headEnd/>
            <a:tailEnd/>
          </a:ln>
        </p:spPr>
        <p:txBody>
          <a:bodyPr>
            <a:spAutoFit/>
          </a:bodyPr>
          <a:lstStyle/>
          <a:p>
            <a:pPr marL="342900" indent="-342900" algn="just" eaLnBrk="1" hangingPunct="1">
              <a:spcAft>
                <a:spcPts val="1200"/>
              </a:spcAft>
              <a:buFont typeface="Arial" panose="020B0604020202020204" pitchFamily="34" charset="0"/>
              <a:buChar char="•"/>
            </a:pPr>
            <a:r>
              <a:rPr lang="en-US" altLang="zh-TW" sz="2400" dirty="0">
                <a:latin typeface="Georgia" panose="02040502050405020303" pitchFamily="18" charset="0"/>
                <a:ea typeface="新細明體" pitchFamily="18" charset="-120"/>
              </a:rPr>
              <a:t>Electronic structure and definition of binding energy</a:t>
            </a:r>
          </a:p>
          <a:p>
            <a:pPr marL="800100" lvl="1" indent="-342900" algn="just" eaLnBrk="1" hangingPunct="1">
              <a:spcAft>
                <a:spcPts val="1200"/>
              </a:spcAft>
              <a:buFont typeface="Arial" panose="020B0604020202020204" pitchFamily="34" charset="0"/>
              <a:buChar char="•"/>
            </a:pPr>
            <a:r>
              <a:rPr lang="en-US" altLang="zh-TW" sz="2000" dirty="0">
                <a:latin typeface="Georgia" panose="02040502050405020303" pitchFamily="18" charset="0"/>
                <a:ea typeface="新細明體" pitchFamily="18" charset="-120"/>
              </a:rPr>
              <a:t>Notation of core electrons</a:t>
            </a:r>
          </a:p>
          <a:p>
            <a:pPr marL="800100" lvl="1" indent="-342900" algn="just" eaLnBrk="1" hangingPunct="1">
              <a:spcAft>
                <a:spcPts val="1200"/>
              </a:spcAft>
              <a:buFont typeface="Arial" panose="020B0604020202020204" pitchFamily="34" charset="0"/>
              <a:buChar char="•"/>
            </a:pPr>
            <a:r>
              <a:rPr lang="en-US" altLang="zh-TW" sz="2000" dirty="0">
                <a:latin typeface="Georgia" panose="02040502050405020303" pitchFamily="18" charset="0"/>
                <a:ea typeface="新細明體" pitchFamily="18" charset="-120"/>
              </a:rPr>
              <a:t>Chemical shift</a:t>
            </a:r>
          </a:p>
          <a:p>
            <a:pPr marL="342900" indent="-342900" algn="just" eaLnBrk="1" hangingPunct="1">
              <a:spcAft>
                <a:spcPts val="1200"/>
              </a:spcAft>
              <a:buFont typeface="Arial" panose="020B0604020202020204" pitchFamily="34" charset="0"/>
              <a:buChar char="•"/>
            </a:pPr>
            <a:r>
              <a:rPr lang="en-US" altLang="zh-TW" sz="2400" dirty="0">
                <a:latin typeface="Georgia" panose="02040502050405020303" pitchFamily="18" charset="0"/>
                <a:ea typeface="新細明體" pitchFamily="18" charset="-120"/>
              </a:rPr>
              <a:t>Experimental cautions</a:t>
            </a:r>
          </a:p>
          <a:p>
            <a:pPr marL="800100" lvl="1" indent="-342900" algn="just" eaLnBrk="1" hangingPunct="1">
              <a:spcAft>
                <a:spcPts val="1200"/>
              </a:spcAft>
              <a:buFont typeface="Arial" panose="020B0604020202020204" pitchFamily="34" charset="0"/>
              <a:buChar char="•"/>
            </a:pPr>
            <a:r>
              <a:rPr lang="en-US" altLang="zh-TW" sz="2000" dirty="0">
                <a:latin typeface="Georgia" panose="02040502050405020303" pitchFamily="18" charset="0"/>
                <a:ea typeface="新細明體" pitchFamily="18" charset="-120"/>
              </a:rPr>
              <a:t>Fermi level alignment</a:t>
            </a:r>
          </a:p>
          <a:p>
            <a:pPr marL="800100" lvl="1" indent="-342900" algn="just" eaLnBrk="1" hangingPunct="1">
              <a:spcAft>
                <a:spcPts val="1200"/>
              </a:spcAft>
              <a:buFont typeface="Arial" panose="020B0604020202020204" pitchFamily="34" charset="0"/>
              <a:buChar char="•"/>
            </a:pPr>
            <a:r>
              <a:rPr lang="en-US" altLang="zh-TW" sz="2000" dirty="0">
                <a:latin typeface="Georgia" panose="02040502050405020303" pitchFamily="18" charset="0"/>
                <a:ea typeface="新細明體" pitchFamily="18" charset="-120"/>
              </a:rPr>
              <a:t>Calibration of the spectrometer</a:t>
            </a:r>
          </a:p>
        </p:txBody>
      </p:sp>
    </p:spTree>
    <p:extLst>
      <p:ext uri="{BB962C8B-B14F-4D97-AF65-F5344CB8AC3E}">
        <p14:creationId xmlns:p14="http://schemas.microsoft.com/office/powerpoint/2010/main" val="146416711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8370" name="Picture 4"/>
          <p:cNvPicPr>
            <a:picLocks noChangeAspect="1" noChangeArrowheads="1"/>
          </p:cNvPicPr>
          <p:nvPr/>
        </p:nvPicPr>
        <p:blipFill>
          <a:blip r:embed="rId3" cstate="print"/>
          <a:srcRect/>
          <a:stretch>
            <a:fillRect/>
          </a:stretch>
        </p:blipFill>
        <p:spPr bwMode="auto">
          <a:xfrm>
            <a:off x="2111375" y="1957388"/>
            <a:ext cx="5481638" cy="581025"/>
          </a:xfrm>
          <a:prstGeom prst="rect">
            <a:avLst/>
          </a:prstGeom>
          <a:noFill/>
          <a:ln w="9525">
            <a:noFill/>
            <a:miter lim="800000"/>
            <a:headEnd/>
            <a:tailEnd/>
          </a:ln>
        </p:spPr>
      </p:pic>
      <p:sp>
        <p:nvSpPr>
          <p:cNvPr id="58371" name="Text Box 5"/>
          <p:cNvSpPr txBox="1">
            <a:spLocks noChangeArrowheads="1"/>
          </p:cNvSpPr>
          <p:nvPr/>
        </p:nvSpPr>
        <p:spPr bwMode="auto">
          <a:xfrm>
            <a:off x="457200" y="1447800"/>
            <a:ext cx="8229600" cy="366713"/>
          </a:xfrm>
          <a:prstGeom prst="rect">
            <a:avLst/>
          </a:prstGeom>
          <a:noFill/>
          <a:ln w="9525">
            <a:noFill/>
            <a:miter lim="800000"/>
            <a:headEnd/>
            <a:tailEnd/>
          </a:ln>
        </p:spPr>
        <p:txBody>
          <a:bodyPr>
            <a:spAutoFit/>
          </a:bodyPr>
          <a:lstStyle/>
          <a:p>
            <a:pPr eaLnBrk="1" hangingPunct="1"/>
            <a:r>
              <a:rPr lang="en-US" altLang="zh-TW">
                <a:solidFill>
                  <a:srgbClr val="006600"/>
                </a:solidFill>
                <a:latin typeface="Georgia" panose="02040502050405020303" pitchFamily="18" charset="0"/>
                <a:ea typeface="新細明體" pitchFamily="18" charset="-120"/>
              </a:rPr>
              <a:t>For a homogenous sample, the measured photoelectron intensity is given by: </a:t>
            </a:r>
            <a:endParaRPr lang="en-US" altLang="zh-CN">
              <a:solidFill>
                <a:srgbClr val="006600"/>
              </a:solidFill>
              <a:latin typeface="Georgia" panose="02040502050405020303" pitchFamily="18" charset="0"/>
              <a:ea typeface="SimSun" pitchFamily="2" charset="-122"/>
            </a:endParaRPr>
          </a:p>
        </p:txBody>
      </p:sp>
      <p:sp>
        <p:nvSpPr>
          <p:cNvPr id="58372" name="Text Box 6"/>
          <p:cNvSpPr txBox="1">
            <a:spLocks noChangeArrowheads="1"/>
          </p:cNvSpPr>
          <p:nvPr/>
        </p:nvSpPr>
        <p:spPr bwMode="auto">
          <a:xfrm>
            <a:off x="388938" y="2819400"/>
            <a:ext cx="8499475" cy="3308350"/>
          </a:xfrm>
          <a:prstGeom prst="rect">
            <a:avLst/>
          </a:prstGeom>
          <a:noFill/>
          <a:ln w="9525">
            <a:noFill/>
            <a:miter lim="800000"/>
            <a:headEnd/>
            <a:tailEnd/>
          </a:ln>
        </p:spPr>
        <p:txBody>
          <a:bodyPr wrap="none">
            <a:spAutoFit/>
          </a:bodyPr>
          <a:lstStyle/>
          <a:p>
            <a:pPr algn="just" eaLnBrk="1" hangingPunct="1"/>
            <a:r>
              <a:rPr lang="en-US" altLang="zh-TW" sz="1900" i="1" dirty="0" err="1">
                <a:latin typeface="Georgia" panose="02040502050405020303" pitchFamily="18" charset="0"/>
                <a:ea typeface="新細明體" pitchFamily="18" charset="-120"/>
              </a:rPr>
              <a:t>I</a:t>
            </a:r>
            <a:r>
              <a:rPr lang="en-US" altLang="zh-TW" sz="1900" i="1" baseline="-30000" dirty="0" err="1">
                <a:latin typeface="Georgia" panose="02040502050405020303" pitchFamily="18" charset="0"/>
                <a:ea typeface="新細明體" pitchFamily="18" charset="-120"/>
              </a:rPr>
              <a:t>i,c</a:t>
            </a:r>
            <a:r>
              <a:rPr lang="en-US" altLang="zh-TW" sz="1900" dirty="0">
                <a:latin typeface="Georgia" panose="02040502050405020303" pitchFamily="18" charset="0"/>
                <a:ea typeface="新細明體" pitchFamily="18" charset="-120"/>
              </a:rPr>
              <a:t>: 	Photoelectron intensity for core level c of element </a:t>
            </a:r>
            <a:r>
              <a:rPr lang="en-US" altLang="zh-TW" sz="1900" dirty="0" err="1">
                <a:latin typeface="Georgia" panose="02040502050405020303" pitchFamily="18" charset="0"/>
                <a:ea typeface="新細明體" pitchFamily="18" charset="-120"/>
              </a:rPr>
              <a:t>i</a:t>
            </a:r>
            <a:endParaRPr lang="en-US" altLang="zh-TW" sz="1900" dirty="0">
              <a:latin typeface="Georgia" panose="02040502050405020303" pitchFamily="18" charset="0"/>
              <a:ea typeface="新細明體" pitchFamily="18" charset="-120"/>
            </a:endParaRPr>
          </a:p>
          <a:p>
            <a:pPr algn="just" eaLnBrk="1" hangingPunct="1"/>
            <a:r>
              <a:rPr lang="en-US" altLang="zh-TW" sz="1900" i="1" dirty="0">
                <a:latin typeface="Georgia" panose="02040502050405020303" pitchFamily="18" charset="0"/>
                <a:ea typeface="新細明體" pitchFamily="18" charset="-120"/>
              </a:rPr>
              <a:t>f</a:t>
            </a:r>
            <a:r>
              <a:rPr lang="en-US" altLang="zh-TW" sz="1900" dirty="0">
                <a:latin typeface="Georgia" panose="02040502050405020303" pitchFamily="18" charset="0"/>
                <a:ea typeface="新細明體" pitchFamily="18" charset="-120"/>
              </a:rPr>
              <a:t>:   	X-ray flux in photons per unit area per unit time</a:t>
            </a:r>
          </a:p>
          <a:p>
            <a:pPr algn="just" eaLnBrk="1" hangingPunct="1"/>
            <a:r>
              <a:rPr lang="en-US" altLang="zh-TW" sz="1900" i="1" dirty="0">
                <a:latin typeface="Georgia" panose="02040502050405020303" pitchFamily="18" charset="0"/>
                <a:ea typeface="新細明體" pitchFamily="18" charset="-120"/>
              </a:rPr>
              <a:t>N</a:t>
            </a:r>
            <a:r>
              <a:rPr lang="en-US" altLang="zh-TW" sz="1900" i="1" baseline="-30000" dirty="0">
                <a:latin typeface="Georgia" panose="02040502050405020303" pitchFamily="18" charset="0"/>
                <a:ea typeface="新細明體" pitchFamily="18" charset="-120"/>
              </a:rPr>
              <a:t>i</a:t>
            </a:r>
            <a:r>
              <a:rPr lang="en-US" altLang="zh-TW" sz="1900" dirty="0">
                <a:latin typeface="Georgia" panose="02040502050405020303" pitchFamily="18" charset="0"/>
                <a:ea typeface="新細明體" pitchFamily="18" charset="-120"/>
              </a:rPr>
              <a:t>: 	Number of atoms of element </a:t>
            </a:r>
            <a:r>
              <a:rPr lang="en-US" altLang="zh-TW" sz="1900" dirty="0" err="1">
                <a:latin typeface="Georgia" panose="02040502050405020303" pitchFamily="18" charset="0"/>
                <a:ea typeface="新細明體" pitchFamily="18" charset="-120"/>
              </a:rPr>
              <a:t>i</a:t>
            </a:r>
            <a:r>
              <a:rPr lang="en-US" altLang="zh-TW" sz="1900" dirty="0">
                <a:latin typeface="Georgia" panose="02040502050405020303" pitchFamily="18" charset="0"/>
                <a:ea typeface="新細明體" pitchFamily="18" charset="-120"/>
              </a:rPr>
              <a:t> per unit volume</a:t>
            </a:r>
          </a:p>
          <a:p>
            <a:pPr algn="just" eaLnBrk="1" hangingPunct="1"/>
            <a:r>
              <a:rPr lang="en-US" altLang="zh-TW" sz="1900" i="1" dirty="0" err="1">
                <a:latin typeface="Symbol" panose="05050102010706020507" pitchFamily="18" charset="2"/>
                <a:ea typeface="新細明體" pitchFamily="18" charset="-120"/>
              </a:rPr>
              <a:t>s</a:t>
            </a:r>
            <a:r>
              <a:rPr lang="en-US" altLang="zh-TW" sz="1900" i="1" baseline="-30000" dirty="0" err="1">
                <a:latin typeface="Georgia" panose="02040502050405020303" pitchFamily="18" charset="0"/>
                <a:ea typeface="新細明體" pitchFamily="18" charset="-120"/>
              </a:rPr>
              <a:t>i,c</a:t>
            </a:r>
            <a:r>
              <a:rPr lang="en-US" altLang="zh-TW" sz="1900" dirty="0">
                <a:latin typeface="Georgia" panose="02040502050405020303" pitchFamily="18" charset="0"/>
                <a:ea typeface="新細明體" pitchFamily="18" charset="-120"/>
              </a:rPr>
              <a:t>:	Photoelectric cross-section for core level c of element </a:t>
            </a:r>
            <a:r>
              <a:rPr lang="en-US" altLang="zh-TW" sz="1900" dirty="0" err="1">
                <a:latin typeface="Georgia" panose="02040502050405020303" pitchFamily="18" charset="0"/>
                <a:ea typeface="新細明體" pitchFamily="18" charset="-120"/>
              </a:rPr>
              <a:t>i</a:t>
            </a:r>
            <a:endParaRPr lang="en-US" altLang="zh-TW" sz="1900" dirty="0">
              <a:latin typeface="Georgia" panose="02040502050405020303" pitchFamily="18" charset="0"/>
              <a:ea typeface="新細明體" pitchFamily="18" charset="-120"/>
            </a:endParaRPr>
          </a:p>
          <a:p>
            <a:pPr algn="just" eaLnBrk="1" hangingPunct="1"/>
            <a:r>
              <a:rPr lang="en-US" altLang="zh-TW" sz="1900" i="1" dirty="0">
                <a:latin typeface="Symbol" panose="05050102010706020507" pitchFamily="18" charset="2"/>
                <a:ea typeface="新細明體" pitchFamily="18" charset="-120"/>
              </a:rPr>
              <a:t>l</a:t>
            </a:r>
            <a:r>
              <a:rPr lang="en-US" altLang="zh-TW" sz="1900" dirty="0">
                <a:latin typeface="Georgia" panose="02040502050405020303" pitchFamily="18" charset="0"/>
                <a:ea typeface="新細明體" pitchFamily="18" charset="-120"/>
              </a:rPr>
              <a:t>: 	Inelastic mean free path for the photoelectron in the sample matrix</a:t>
            </a:r>
          </a:p>
          <a:p>
            <a:pPr algn="just" eaLnBrk="1" hangingPunct="1"/>
            <a:r>
              <a:rPr lang="en-US" altLang="zh-TW" sz="1900" i="1" dirty="0">
                <a:latin typeface="Georgia" panose="02040502050405020303" pitchFamily="18" charset="0"/>
                <a:ea typeface="新細明體" pitchFamily="18" charset="-120"/>
                <a:sym typeface="Symbol" pitchFamily="18" charset="2"/>
              </a:rPr>
              <a:t></a:t>
            </a:r>
            <a:r>
              <a:rPr lang="en-US" altLang="zh-TW" sz="1900" dirty="0">
                <a:latin typeface="Georgia" panose="02040502050405020303" pitchFamily="18" charset="0"/>
                <a:ea typeface="新細明體" pitchFamily="18" charset="-120"/>
              </a:rPr>
              <a:t>:  	Angle between the direction of photoelectron and the sample normal</a:t>
            </a:r>
          </a:p>
          <a:p>
            <a:pPr algn="just" eaLnBrk="1" hangingPunct="1"/>
            <a:r>
              <a:rPr lang="en-US" altLang="zh-TW" sz="1900" i="1" dirty="0">
                <a:latin typeface="Georgia" panose="02040502050405020303" pitchFamily="18" charset="0"/>
                <a:ea typeface="新細明體" pitchFamily="18" charset="-120"/>
              </a:rPr>
              <a:t>F</a:t>
            </a:r>
            <a:r>
              <a:rPr lang="en-US" altLang="zh-TW" sz="1900" dirty="0">
                <a:latin typeface="Georgia" panose="02040502050405020303" pitchFamily="18" charset="0"/>
                <a:ea typeface="新細明體" pitchFamily="18" charset="-120"/>
              </a:rPr>
              <a:t>: 	Factor for analyzer solid angle of acceptance</a:t>
            </a:r>
          </a:p>
          <a:p>
            <a:pPr algn="just" eaLnBrk="1" hangingPunct="1"/>
            <a:r>
              <a:rPr lang="en-US" altLang="zh-TW" sz="1900" i="1" dirty="0">
                <a:latin typeface="Georgia" panose="02040502050405020303" pitchFamily="18" charset="0"/>
                <a:ea typeface="新細明體" pitchFamily="18" charset="-120"/>
              </a:rPr>
              <a:t>T</a:t>
            </a:r>
            <a:r>
              <a:rPr lang="en-US" altLang="zh-TW" sz="1900" dirty="0">
                <a:latin typeface="Georgia" panose="02040502050405020303" pitchFamily="18" charset="0"/>
                <a:ea typeface="新細明體" pitchFamily="18" charset="-120"/>
              </a:rPr>
              <a:t>: 	Analyzer transmission function</a:t>
            </a:r>
          </a:p>
          <a:p>
            <a:pPr algn="just" eaLnBrk="1" hangingPunct="1"/>
            <a:r>
              <a:rPr lang="en-US" altLang="zh-TW" sz="1900" i="1" dirty="0">
                <a:latin typeface="Georgia" panose="02040502050405020303" pitchFamily="18" charset="0"/>
                <a:ea typeface="新細明體" pitchFamily="18" charset="-120"/>
              </a:rPr>
              <a:t>D</a:t>
            </a:r>
            <a:r>
              <a:rPr lang="en-US" altLang="zh-TW" sz="1900" dirty="0">
                <a:latin typeface="Georgia" panose="02040502050405020303" pitchFamily="18" charset="0"/>
                <a:ea typeface="新細明體" pitchFamily="18" charset="-120"/>
              </a:rPr>
              <a:t>: 	Detector efficiency</a:t>
            </a:r>
          </a:p>
          <a:p>
            <a:pPr algn="just" eaLnBrk="1" hangingPunct="1"/>
            <a:r>
              <a:rPr lang="en-US" altLang="zh-TW" sz="1900" i="1" dirty="0">
                <a:latin typeface="Georgia" panose="02040502050405020303" pitchFamily="18" charset="0"/>
                <a:ea typeface="新細明體" pitchFamily="18" charset="-120"/>
              </a:rPr>
              <a:t>A</a:t>
            </a:r>
            <a:r>
              <a:rPr lang="en-US" altLang="zh-TW" sz="1900" dirty="0">
                <a:latin typeface="Georgia" panose="02040502050405020303" pitchFamily="18" charset="0"/>
                <a:ea typeface="新細明體" pitchFamily="18" charset="-120"/>
              </a:rPr>
              <a:t>: 	Area of sample from which photoelectrons are</a:t>
            </a:r>
          </a:p>
          <a:p>
            <a:pPr algn="just" eaLnBrk="1" hangingPunct="1"/>
            <a:r>
              <a:rPr lang="en-US" altLang="zh-TW" sz="1900" dirty="0">
                <a:latin typeface="Georgia" panose="02040502050405020303" pitchFamily="18" charset="0"/>
                <a:ea typeface="新細明體" pitchFamily="18" charset="-120"/>
              </a:rPr>
              <a:t>	detected</a:t>
            </a:r>
            <a:endParaRPr lang="en-US" altLang="zh-CN" sz="1900" dirty="0">
              <a:latin typeface="Georgia" panose="02040502050405020303" pitchFamily="18" charset="0"/>
              <a:ea typeface="SimSun" pitchFamily="2" charset="-122"/>
            </a:endParaRPr>
          </a:p>
        </p:txBody>
      </p:sp>
      <p:pic>
        <p:nvPicPr>
          <p:cNvPr id="58373" name="Picture 7"/>
          <p:cNvPicPr>
            <a:picLocks noChangeAspect="1" noChangeArrowheads="1"/>
          </p:cNvPicPr>
          <p:nvPr/>
        </p:nvPicPr>
        <p:blipFill>
          <a:blip r:embed="rId4" cstate="print"/>
          <a:srcRect/>
          <a:stretch>
            <a:fillRect/>
          </a:stretch>
        </p:blipFill>
        <p:spPr bwMode="auto">
          <a:xfrm>
            <a:off x="6530975" y="4776788"/>
            <a:ext cx="1828800" cy="1430337"/>
          </a:xfrm>
          <a:prstGeom prst="rect">
            <a:avLst/>
          </a:prstGeom>
          <a:noFill/>
          <a:ln w="9525">
            <a:noFill/>
            <a:miter lim="800000"/>
            <a:headEnd/>
            <a:tailEnd/>
          </a:ln>
        </p:spPr>
      </p:pic>
      <p:sp>
        <p:nvSpPr>
          <p:cNvPr id="58374" name="Rectangle 8"/>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dirty="0">
                <a:solidFill>
                  <a:schemeClr val="bg1"/>
                </a:solidFill>
                <a:latin typeface="Georgia" panose="02040502050405020303" pitchFamily="18" charset="0"/>
                <a:ea typeface="新細明體" pitchFamily="18" charset="-120"/>
              </a:rPr>
              <a:t>XPS Quantification</a:t>
            </a:r>
          </a:p>
        </p:txBody>
      </p:sp>
      <p:sp>
        <p:nvSpPr>
          <p:cNvPr id="58375" name="Rectangle 9"/>
          <p:cNvSpPr>
            <a:spLocks noChangeArrowheads="1"/>
          </p:cNvSpPr>
          <p:nvPr/>
        </p:nvSpPr>
        <p:spPr bwMode="auto">
          <a:xfrm>
            <a:off x="1066800" y="9525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Quantification</a:t>
            </a:r>
          </a:p>
        </p:txBody>
      </p:sp>
      <p:sp>
        <p:nvSpPr>
          <p:cNvPr id="2" name="Slide Number Placeholder 1">
            <a:extLst>
              <a:ext uri="{FF2B5EF4-FFF2-40B4-BE49-F238E27FC236}">
                <a16:creationId xmlns:a16="http://schemas.microsoft.com/office/drawing/2014/main" id="{6A357568-BE24-4584-9891-F315C4C77949}"/>
              </a:ext>
            </a:extLst>
          </p:cNvPr>
          <p:cNvSpPr>
            <a:spLocks noGrp="1"/>
          </p:cNvSpPr>
          <p:nvPr>
            <p:ph type="sldNum" sz="quarter" idx="11"/>
          </p:nvPr>
        </p:nvSpPr>
        <p:spPr/>
        <p:txBody>
          <a:bodyPr/>
          <a:lstStyle/>
          <a:p>
            <a:pPr>
              <a:defRPr/>
            </a:pPr>
            <a:fld id="{EBF73BDF-690D-4725-BA10-A7934ED52EAB}" type="slidenum">
              <a:rPr lang="zh-TW" altLang="en-US" smtClean="0"/>
              <a:pPr>
                <a:defRPr/>
              </a:pPr>
              <a:t>74</a:t>
            </a:fld>
            <a:endParaRPr lang="en-US" altLang="zh-TW"/>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9394" name="Picture 4"/>
          <p:cNvPicPr>
            <a:picLocks noChangeAspect="1" noChangeArrowheads="1"/>
          </p:cNvPicPr>
          <p:nvPr/>
        </p:nvPicPr>
        <p:blipFill>
          <a:blip r:embed="rId2" cstate="print"/>
          <a:srcRect/>
          <a:stretch>
            <a:fillRect/>
          </a:stretch>
        </p:blipFill>
        <p:spPr bwMode="auto">
          <a:xfrm>
            <a:off x="419100" y="1865313"/>
            <a:ext cx="8382000" cy="2952750"/>
          </a:xfrm>
          <a:prstGeom prst="rect">
            <a:avLst/>
          </a:prstGeom>
          <a:noFill/>
          <a:ln w="9525">
            <a:noFill/>
            <a:miter lim="800000"/>
            <a:headEnd/>
            <a:tailEnd/>
          </a:ln>
        </p:spPr>
      </p:pic>
      <p:sp>
        <p:nvSpPr>
          <p:cNvPr id="59395" name="Rectangle 5"/>
          <p:cNvSpPr>
            <a:spLocks noChangeArrowheads="1"/>
          </p:cNvSpPr>
          <p:nvPr/>
        </p:nvSpPr>
        <p:spPr bwMode="auto">
          <a:xfrm>
            <a:off x="1104900" y="1143000"/>
            <a:ext cx="6934200" cy="457200"/>
          </a:xfrm>
          <a:prstGeom prst="rect">
            <a:avLst/>
          </a:prstGeom>
          <a:noFill/>
          <a:ln w="9525">
            <a:noFill/>
            <a:miter lim="800000"/>
            <a:headEnd/>
            <a:tailEnd/>
          </a:ln>
        </p:spPr>
        <p:txBody>
          <a:bodyPr>
            <a:spAutoFit/>
          </a:bodyPr>
          <a:lstStyle/>
          <a:p>
            <a:pPr algn="ctr" eaLnBrk="1" hangingPunct="1"/>
            <a:r>
              <a:rPr lang="en-US" altLang="zh-TW" sz="2400">
                <a:latin typeface="Georgia" panose="02040502050405020303" pitchFamily="18" charset="0"/>
                <a:ea typeface="新細明體" pitchFamily="18" charset="-120"/>
              </a:rPr>
              <a:t>Sensitivity factor, SF</a:t>
            </a:r>
          </a:p>
        </p:txBody>
      </p:sp>
      <p:sp>
        <p:nvSpPr>
          <p:cNvPr id="59396" name="Text Box 6"/>
          <p:cNvSpPr txBox="1">
            <a:spLocks noChangeArrowheads="1"/>
          </p:cNvSpPr>
          <p:nvPr/>
        </p:nvSpPr>
        <p:spPr bwMode="auto">
          <a:xfrm>
            <a:off x="609600" y="4996789"/>
            <a:ext cx="7788275" cy="1006475"/>
          </a:xfrm>
          <a:prstGeom prst="rect">
            <a:avLst/>
          </a:prstGeom>
          <a:noFill/>
          <a:ln w="9525">
            <a:noFill/>
            <a:miter lim="800000"/>
            <a:headEnd/>
            <a:tailEnd/>
          </a:ln>
        </p:spPr>
        <p:txBody>
          <a:bodyPr>
            <a:spAutoFit/>
          </a:bodyPr>
          <a:lstStyle/>
          <a:p>
            <a:pPr algn="just" eaLnBrk="1" hangingPunct="1"/>
            <a:r>
              <a:rPr lang="en-US" altLang="zh-CN" sz="2000" dirty="0">
                <a:solidFill>
                  <a:srgbClr val="006600"/>
                </a:solidFill>
                <a:latin typeface="Georgia" panose="02040502050405020303" pitchFamily="18" charset="0"/>
                <a:ea typeface="SimSun" pitchFamily="2" charset="-122"/>
              </a:rPr>
              <a:t>Sensitivity factor</a:t>
            </a:r>
            <a:r>
              <a:rPr lang="en-US" altLang="zh-CN" sz="2000" dirty="0">
                <a:latin typeface="Georgia" panose="02040502050405020303" pitchFamily="18" charset="0"/>
                <a:ea typeface="SimSun" pitchFamily="2" charset="-122"/>
              </a:rPr>
              <a:t>, </a:t>
            </a:r>
            <a:r>
              <a:rPr lang="en-US" altLang="zh-CN" sz="2000" i="1" dirty="0">
                <a:solidFill>
                  <a:srgbClr val="006600"/>
                </a:solidFill>
                <a:latin typeface="Georgia" panose="02040502050405020303" pitchFamily="18" charset="0"/>
                <a:ea typeface="SimSun" pitchFamily="2" charset="-122"/>
              </a:rPr>
              <a:t>S</a:t>
            </a:r>
            <a:r>
              <a:rPr lang="en-US" altLang="zh-CN" sz="2000" dirty="0">
                <a:latin typeface="Georgia" panose="02040502050405020303" pitchFamily="18" charset="0"/>
                <a:ea typeface="SimSun" pitchFamily="2" charset="-122"/>
              </a:rPr>
              <a:t>, is an empirically determined factor that summed up all </a:t>
            </a:r>
            <a:r>
              <a:rPr lang="en-US" altLang="zh-CN" sz="2000" dirty="0">
                <a:solidFill>
                  <a:srgbClr val="FF0000"/>
                </a:solidFill>
                <a:latin typeface="Georgia" panose="02040502050405020303" pitchFamily="18" charset="0"/>
                <a:ea typeface="SimSun" pitchFamily="2" charset="-122"/>
              </a:rPr>
              <a:t>instrumental factors/ionization cross section</a:t>
            </a:r>
            <a:r>
              <a:rPr lang="en-US" altLang="zh-CN" sz="2000" dirty="0">
                <a:latin typeface="Georgia" panose="02040502050405020303" pitchFamily="18" charset="0"/>
                <a:ea typeface="SimSun" pitchFamily="2" charset="-122"/>
              </a:rPr>
              <a:t> in the basic equation after a detailed calibration process. </a:t>
            </a:r>
          </a:p>
        </p:txBody>
      </p:sp>
      <p:sp>
        <p:nvSpPr>
          <p:cNvPr id="2" name="Slide Number Placeholder 1">
            <a:extLst>
              <a:ext uri="{FF2B5EF4-FFF2-40B4-BE49-F238E27FC236}">
                <a16:creationId xmlns:a16="http://schemas.microsoft.com/office/drawing/2014/main" id="{07D04814-6E2F-4DF4-AF7B-D64A2D14A715}"/>
              </a:ext>
            </a:extLst>
          </p:cNvPr>
          <p:cNvSpPr>
            <a:spLocks noGrp="1"/>
          </p:cNvSpPr>
          <p:nvPr>
            <p:ph type="sldNum" sz="quarter" idx="11"/>
          </p:nvPr>
        </p:nvSpPr>
        <p:spPr/>
        <p:txBody>
          <a:bodyPr/>
          <a:lstStyle/>
          <a:p>
            <a:pPr>
              <a:defRPr/>
            </a:pPr>
            <a:fld id="{EBF73BDF-690D-4725-BA10-A7934ED52EAB}" type="slidenum">
              <a:rPr lang="zh-TW" altLang="en-US" smtClean="0"/>
              <a:pPr>
                <a:defRPr/>
              </a:pPr>
              <a:t>75</a:t>
            </a:fld>
            <a:endParaRPr lang="en-US" altLang="zh-TW"/>
          </a:p>
        </p:txBody>
      </p:sp>
      <p:sp>
        <p:nvSpPr>
          <p:cNvPr id="3" name="Rectangle 8">
            <a:extLst>
              <a:ext uri="{FF2B5EF4-FFF2-40B4-BE49-F238E27FC236}">
                <a16:creationId xmlns:a16="http://schemas.microsoft.com/office/drawing/2014/main" id="{E4F2D0D9-3427-97BB-880F-10DC6495724C}"/>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dirty="0">
                <a:solidFill>
                  <a:schemeClr val="bg1"/>
                </a:solidFill>
                <a:latin typeface="Georgia" panose="02040502050405020303" pitchFamily="18" charset="0"/>
                <a:ea typeface="新細明體" pitchFamily="18" charset="-120"/>
              </a:rPr>
              <a:t>XPS Quantification-</a:t>
            </a:r>
            <a:r>
              <a:rPr lang="en-US" altLang="zh-TW" dirty="0" err="1">
                <a:solidFill>
                  <a:schemeClr val="bg1"/>
                </a:solidFill>
                <a:latin typeface="Georgia" panose="02040502050405020303" pitchFamily="18" charset="0"/>
                <a:ea typeface="新細明體" pitchFamily="18" charset="-120"/>
              </a:rPr>
              <a:t>senistivity</a:t>
            </a:r>
            <a:endParaRPr lang="en-US" altLang="zh-TW" dirty="0">
              <a:solidFill>
                <a:schemeClr val="bg1"/>
              </a:solidFill>
              <a:latin typeface="Georgia" panose="02040502050405020303" pitchFamily="18" charset="0"/>
              <a:ea typeface="新細明體" pitchFamily="18" charset="-120"/>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418" name="Picture 4"/>
          <p:cNvPicPr>
            <a:picLocks noChangeAspect="1" noChangeArrowheads="1"/>
          </p:cNvPicPr>
          <p:nvPr/>
        </p:nvPicPr>
        <p:blipFill>
          <a:blip r:embed="rId2" cstate="print"/>
          <a:srcRect/>
          <a:stretch>
            <a:fillRect/>
          </a:stretch>
        </p:blipFill>
        <p:spPr bwMode="auto">
          <a:xfrm>
            <a:off x="838200" y="2438400"/>
            <a:ext cx="7772400" cy="1636713"/>
          </a:xfrm>
          <a:prstGeom prst="rect">
            <a:avLst/>
          </a:prstGeom>
          <a:noFill/>
          <a:ln w="9525">
            <a:noFill/>
            <a:miter lim="800000"/>
            <a:headEnd/>
            <a:tailEnd/>
          </a:ln>
        </p:spPr>
      </p:pic>
      <p:sp>
        <p:nvSpPr>
          <p:cNvPr id="60419" name="Text Box 6"/>
          <p:cNvSpPr txBox="1">
            <a:spLocks noChangeArrowheads="1"/>
          </p:cNvSpPr>
          <p:nvPr/>
        </p:nvSpPr>
        <p:spPr bwMode="auto">
          <a:xfrm>
            <a:off x="914400" y="4495800"/>
            <a:ext cx="7483475" cy="1006475"/>
          </a:xfrm>
          <a:prstGeom prst="rect">
            <a:avLst/>
          </a:prstGeom>
          <a:noFill/>
          <a:ln w="9525">
            <a:noFill/>
            <a:miter lim="800000"/>
            <a:headEnd/>
            <a:tailEnd/>
          </a:ln>
        </p:spPr>
        <p:txBody>
          <a:bodyPr>
            <a:spAutoFit/>
          </a:bodyPr>
          <a:lstStyle/>
          <a:p>
            <a:pPr algn="just" eaLnBrk="1" hangingPunct="1"/>
            <a:r>
              <a:rPr lang="en-US" altLang="zh-CN" sz="2000" dirty="0">
                <a:latin typeface="Georgia" panose="02040502050405020303" pitchFamily="18" charset="0"/>
                <a:ea typeface="SimSun" pitchFamily="2" charset="-122"/>
              </a:rPr>
              <a:t>Sensitivity factor of each element is determined by a series of testing on a batch of compounds containing that particular element with </a:t>
            </a:r>
            <a:r>
              <a:rPr lang="en-US" altLang="zh-CN" sz="2000" dirty="0">
                <a:solidFill>
                  <a:srgbClr val="006600"/>
                </a:solidFill>
                <a:latin typeface="Georgia" panose="02040502050405020303" pitchFamily="18" charset="0"/>
                <a:ea typeface="SimSun" pitchFamily="2" charset="-122"/>
              </a:rPr>
              <a:t>known stoichiometry</a:t>
            </a:r>
            <a:r>
              <a:rPr lang="en-US" altLang="zh-CN" sz="2000" dirty="0">
                <a:latin typeface="Georgia" panose="02040502050405020303" pitchFamily="18" charset="0"/>
                <a:ea typeface="SimSun" pitchFamily="2" charset="-122"/>
              </a:rPr>
              <a:t>. </a:t>
            </a:r>
          </a:p>
        </p:txBody>
      </p:sp>
      <p:sp>
        <p:nvSpPr>
          <p:cNvPr id="60420" name="Rectangle 7"/>
          <p:cNvSpPr>
            <a:spLocks noChangeArrowheads="1"/>
          </p:cNvSpPr>
          <p:nvPr/>
        </p:nvSpPr>
        <p:spPr bwMode="auto">
          <a:xfrm>
            <a:off x="838200" y="1295400"/>
            <a:ext cx="6934200" cy="457200"/>
          </a:xfrm>
          <a:prstGeom prst="rect">
            <a:avLst/>
          </a:prstGeom>
          <a:noFill/>
          <a:ln w="9525">
            <a:noFill/>
            <a:miter lim="800000"/>
            <a:headEnd/>
            <a:tailEnd/>
          </a:ln>
        </p:spPr>
        <p:txBody>
          <a:bodyPr>
            <a:spAutoFit/>
          </a:bodyPr>
          <a:lstStyle/>
          <a:p>
            <a:pPr algn="ctr" eaLnBrk="1" hangingPunct="1"/>
            <a:r>
              <a:rPr lang="en-US" altLang="zh-TW" sz="2400">
                <a:latin typeface="Georgia" panose="02040502050405020303" pitchFamily="18" charset="0"/>
                <a:ea typeface="新細明體" pitchFamily="18" charset="-120"/>
              </a:rPr>
              <a:t>Sensitivity factor, SF</a:t>
            </a:r>
          </a:p>
        </p:txBody>
      </p:sp>
      <p:sp>
        <p:nvSpPr>
          <p:cNvPr id="2" name="Slide Number Placeholder 1">
            <a:extLst>
              <a:ext uri="{FF2B5EF4-FFF2-40B4-BE49-F238E27FC236}">
                <a16:creationId xmlns:a16="http://schemas.microsoft.com/office/drawing/2014/main" id="{E977D57C-1B22-478F-B1BE-5894E43501ED}"/>
              </a:ext>
            </a:extLst>
          </p:cNvPr>
          <p:cNvSpPr>
            <a:spLocks noGrp="1"/>
          </p:cNvSpPr>
          <p:nvPr>
            <p:ph type="sldNum" sz="quarter" idx="11"/>
          </p:nvPr>
        </p:nvSpPr>
        <p:spPr/>
        <p:txBody>
          <a:bodyPr/>
          <a:lstStyle/>
          <a:p>
            <a:pPr>
              <a:defRPr/>
            </a:pPr>
            <a:fld id="{EBF73BDF-690D-4725-BA10-A7934ED52EAB}" type="slidenum">
              <a:rPr lang="zh-TW" altLang="en-US" smtClean="0"/>
              <a:pPr>
                <a:defRPr/>
              </a:pPr>
              <a:t>76</a:t>
            </a:fld>
            <a:endParaRPr lang="en-US" altLang="zh-TW"/>
          </a:p>
        </p:txBody>
      </p:sp>
      <p:sp>
        <p:nvSpPr>
          <p:cNvPr id="3" name="Rectangle 8">
            <a:extLst>
              <a:ext uri="{FF2B5EF4-FFF2-40B4-BE49-F238E27FC236}">
                <a16:creationId xmlns:a16="http://schemas.microsoft.com/office/drawing/2014/main" id="{68334D07-3A41-45EB-4B0D-B2050D33C827}"/>
              </a:ext>
            </a:extLst>
          </p:cNvPr>
          <p:cNvSpPr>
            <a:spLocks noChangeArrowheads="1"/>
          </p:cNvSpPr>
          <p:nvPr/>
        </p:nvSpPr>
        <p:spPr bwMode="auto">
          <a:xfrm>
            <a:off x="685800" y="228600"/>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Quantification-sensitivity factor</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4"/>
          <p:cNvSpPr>
            <a:spLocks noChangeArrowheads="1"/>
          </p:cNvSpPr>
          <p:nvPr/>
        </p:nvSpPr>
        <p:spPr bwMode="auto">
          <a:xfrm>
            <a:off x="1143000" y="1600200"/>
            <a:ext cx="7696200" cy="4953000"/>
          </a:xfrm>
          <a:prstGeom prst="rect">
            <a:avLst/>
          </a:prstGeom>
          <a:noFill/>
          <a:ln w="9525">
            <a:noFill/>
            <a:miter lim="800000"/>
            <a:headEnd/>
            <a:tailEnd/>
          </a:ln>
        </p:spPr>
        <p:txBody>
          <a:bodyPr wrap="none" anchor="ctr"/>
          <a:lstStyle/>
          <a:p>
            <a:endParaRPr lang="zh-CN" altLang="zh-CN">
              <a:latin typeface="Georgia" panose="02040502050405020303" pitchFamily="18" charset="0"/>
              <a:ea typeface="SimSun" pitchFamily="2" charset="-122"/>
            </a:endParaRPr>
          </a:p>
        </p:txBody>
      </p:sp>
      <p:pic>
        <p:nvPicPr>
          <p:cNvPr id="61443" name="Picture 5"/>
          <p:cNvPicPr>
            <a:picLocks noChangeAspect="1" noChangeArrowheads="1"/>
          </p:cNvPicPr>
          <p:nvPr/>
        </p:nvPicPr>
        <p:blipFill>
          <a:blip r:embed="rId2" cstate="print"/>
          <a:srcRect/>
          <a:stretch>
            <a:fillRect/>
          </a:stretch>
        </p:blipFill>
        <p:spPr bwMode="auto">
          <a:xfrm>
            <a:off x="1143000" y="2971800"/>
            <a:ext cx="7696200" cy="3479800"/>
          </a:xfrm>
          <a:prstGeom prst="rect">
            <a:avLst/>
          </a:prstGeom>
          <a:noFill/>
          <a:ln w="9525">
            <a:noFill/>
            <a:miter lim="800000"/>
            <a:headEnd/>
            <a:tailEnd/>
          </a:ln>
        </p:spPr>
      </p:pic>
      <p:sp>
        <p:nvSpPr>
          <p:cNvPr id="61445" name="Rectangle 7"/>
          <p:cNvSpPr>
            <a:spLocks noChangeArrowheads="1"/>
          </p:cNvSpPr>
          <p:nvPr/>
        </p:nvSpPr>
        <p:spPr bwMode="auto">
          <a:xfrm>
            <a:off x="1066800" y="9906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Depth profiling</a:t>
            </a:r>
          </a:p>
        </p:txBody>
      </p:sp>
      <p:sp>
        <p:nvSpPr>
          <p:cNvPr id="61446" name="Rectangle 8"/>
          <p:cNvSpPr>
            <a:spLocks noChangeArrowheads="1"/>
          </p:cNvSpPr>
          <p:nvPr/>
        </p:nvSpPr>
        <p:spPr bwMode="auto">
          <a:xfrm>
            <a:off x="685800" y="179388"/>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quantification-depth profiling</a:t>
            </a:r>
          </a:p>
        </p:txBody>
      </p:sp>
      <p:sp>
        <p:nvSpPr>
          <p:cNvPr id="2" name="Slide Number Placeholder 1">
            <a:extLst>
              <a:ext uri="{FF2B5EF4-FFF2-40B4-BE49-F238E27FC236}">
                <a16:creationId xmlns:a16="http://schemas.microsoft.com/office/drawing/2014/main" id="{BEEFB963-1AB5-445D-902C-8D339B7047B6}"/>
              </a:ext>
            </a:extLst>
          </p:cNvPr>
          <p:cNvSpPr>
            <a:spLocks noGrp="1"/>
          </p:cNvSpPr>
          <p:nvPr>
            <p:ph type="sldNum" sz="quarter" idx="11"/>
          </p:nvPr>
        </p:nvSpPr>
        <p:spPr>
          <a:xfrm>
            <a:off x="6934200" y="6324600"/>
            <a:ext cx="2133600" cy="457200"/>
          </a:xfrm>
        </p:spPr>
        <p:txBody>
          <a:bodyPr/>
          <a:lstStyle/>
          <a:p>
            <a:pPr>
              <a:defRPr/>
            </a:pPr>
            <a:fld id="{EBF73BDF-690D-4725-BA10-A7934ED52EAB}" type="slidenum">
              <a:rPr lang="zh-TW" altLang="en-US" smtClean="0">
                <a:latin typeface="Georgia" panose="02040502050405020303" pitchFamily="18" charset="0"/>
              </a:rPr>
              <a:pPr>
                <a:defRPr/>
              </a:pPr>
              <a:t>77</a:t>
            </a:fld>
            <a:endParaRPr lang="en-US" altLang="zh-TW" dirty="0">
              <a:latin typeface="Georgia" panose="02040502050405020303" pitchFamily="18" charset="0"/>
            </a:endParaRPr>
          </a:p>
        </p:txBody>
      </p:sp>
      <p:sp>
        <p:nvSpPr>
          <p:cNvPr id="4" name="AutoShape 3">
            <a:extLst>
              <a:ext uri="{FF2B5EF4-FFF2-40B4-BE49-F238E27FC236}">
                <a16:creationId xmlns:a16="http://schemas.microsoft.com/office/drawing/2014/main" id="{0530003B-48DE-27F0-CFC8-4B41E7B2FD69}"/>
              </a:ext>
            </a:extLst>
          </p:cNvPr>
          <p:cNvSpPr>
            <a:spLocks noChangeAspect="1" noChangeArrowheads="1" noTextEdit="1"/>
          </p:cNvSpPr>
          <p:nvPr/>
        </p:nvSpPr>
        <p:spPr bwMode="auto">
          <a:xfrm>
            <a:off x="2819400" y="1676400"/>
            <a:ext cx="3657600" cy="1603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5" name="Rectangle 5">
            <a:extLst>
              <a:ext uri="{FF2B5EF4-FFF2-40B4-BE49-F238E27FC236}">
                <a16:creationId xmlns:a16="http://schemas.microsoft.com/office/drawing/2014/main" id="{F3BDA911-F15C-8346-64CA-0961F70A2181}"/>
              </a:ext>
            </a:extLst>
          </p:cNvPr>
          <p:cNvSpPr>
            <a:spLocks noChangeArrowheads="1"/>
          </p:cNvSpPr>
          <p:nvPr/>
        </p:nvSpPr>
        <p:spPr bwMode="auto">
          <a:xfrm>
            <a:off x="2822575" y="2751138"/>
            <a:ext cx="1938338" cy="515938"/>
          </a:xfrm>
          <a:prstGeom prst="rect">
            <a:avLst/>
          </a:prstGeom>
          <a:solidFill>
            <a:srgbClr val="FF0066"/>
          </a:solidFill>
          <a:ln w="6350">
            <a:solidFill>
              <a:srgbClr val="969696"/>
            </a:solidFill>
            <a:prstDash val="solid"/>
            <a:miter lim="800000"/>
            <a:headEnd/>
            <a:tailEnd/>
          </a:ln>
        </p:spPr>
        <p:txBody>
          <a:bodyPr vert="horz" wrap="square" lIns="91440" tIns="45720" rIns="91440" bIns="45720" numCol="1" anchor="t" anchorCtr="0" compatLnSpc="1">
            <a:prstTxWarp prst="textNoShape">
              <a:avLst/>
            </a:prstTxWarp>
          </a:bodyPr>
          <a:lstStyle/>
          <a:p>
            <a:endParaRPr lang="en-HK">
              <a:latin typeface="Georgia" panose="02040502050405020303" pitchFamily="18" charset="0"/>
            </a:endParaRPr>
          </a:p>
        </p:txBody>
      </p:sp>
      <p:sp>
        <p:nvSpPr>
          <p:cNvPr id="6" name="Rectangle 6">
            <a:extLst>
              <a:ext uri="{FF2B5EF4-FFF2-40B4-BE49-F238E27FC236}">
                <a16:creationId xmlns:a16="http://schemas.microsoft.com/office/drawing/2014/main" id="{F13BB6D6-BCFF-7D59-F135-0A4EC8EBE8D3}"/>
              </a:ext>
            </a:extLst>
          </p:cNvPr>
          <p:cNvSpPr>
            <a:spLocks noChangeArrowheads="1"/>
          </p:cNvSpPr>
          <p:nvPr/>
        </p:nvSpPr>
        <p:spPr bwMode="auto">
          <a:xfrm>
            <a:off x="2822575" y="2543175"/>
            <a:ext cx="1938338" cy="209550"/>
          </a:xfrm>
          <a:prstGeom prst="rect">
            <a:avLst/>
          </a:prstGeom>
          <a:solidFill>
            <a:srgbClr val="FFFFCC"/>
          </a:solidFill>
          <a:ln w="6350">
            <a:solidFill>
              <a:srgbClr val="FF0000"/>
            </a:solidFill>
            <a:prstDash val="solid"/>
            <a:miter lim="800000"/>
            <a:headEnd/>
            <a:tailEnd/>
          </a:ln>
        </p:spPr>
        <p:txBody>
          <a:bodyPr vert="horz" wrap="square" lIns="91440" tIns="45720" rIns="91440" bIns="45720" numCol="1" anchor="t" anchorCtr="0" compatLnSpc="1">
            <a:prstTxWarp prst="textNoShape">
              <a:avLst/>
            </a:prstTxWarp>
          </a:bodyPr>
          <a:lstStyle/>
          <a:p>
            <a:endParaRPr lang="en-HK">
              <a:latin typeface="Georgia" panose="02040502050405020303" pitchFamily="18" charset="0"/>
            </a:endParaRPr>
          </a:p>
        </p:txBody>
      </p:sp>
      <p:sp>
        <p:nvSpPr>
          <p:cNvPr id="7" name="Rectangle 7">
            <a:extLst>
              <a:ext uri="{FF2B5EF4-FFF2-40B4-BE49-F238E27FC236}">
                <a16:creationId xmlns:a16="http://schemas.microsoft.com/office/drawing/2014/main" id="{155B71E4-DDB9-77EC-0918-A8CDA03F7536}"/>
              </a:ext>
            </a:extLst>
          </p:cNvPr>
          <p:cNvSpPr>
            <a:spLocks noChangeArrowheads="1"/>
          </p:cNvSpPr>
          <p:nvPr/>
        </p:nvSpPr>
        <p:spPr bwMode="auto">
          <a:xfrm>
            <a:off x="2822575" y="2335213"/>
            <a:ext cx="1938338" cy="209550"/>
          </a:xfrm>
          <a:prstGeom prst="rect">
            <a:avLst/>
          </a:prstGeom>
          <a:solidFill>
            <a:srgbClr val="00B050"/>
          </a:solidFill>
          <a:ln w="6350">
            <a:solidFill>
              <a:srgbClr val="0000FF"/>
            </a:solidFill>
            <a:prstDash val="solid"/>
            <a:miter lim="800000"/>
            <a:headEnd/>
            <a:tailEnd/>
          </a:ln>
        </p:spPr>
        <p:txBody>
          <a:bodyPr vert="horz" wrap="square" lIns="91440" tIns="45720" rIns="91440" bIns="45720" numCol="1" anchor="t" anchorCtr="0" compatLnSpc="1">
            <a:prstTxWarp prst="textNoShape">
              <a:avLst/>
            </a:prstTxWarp>
          </a:bodyPr>
          <a:lstStyle/>
          <a:p>
            <a:endParaRPr lang="en-HK">
              <a:latin typeface="Georgia" panose="02040502050405020303" pitchFamily="18" charset="0"/>
            </a:endParaRPr>
          </a:p>
        </p:txBody>
      </p:sp>
      <p:sp>
        <p:nvSpPr>
          <p:cNvPr id="8" name="Rectangle 8">
            <a:extLst>
              <a:ext uri="{FF2B5EF4-FFF2-40B4-BE49-F238E27FC236}">
                <a16:creationId xmlns:a16="http://schemas.microsoft.com/office/drawing/2014/main" id="{9D45393E-3201-9EBB-1A11-E1B1F356BFD4}"/>
              </a:ext>
            </a:extLst>
          </p:cNvPr>
          <p:cNvSpPr>
            <a:spLocks noChangeArrowheads="1"/>
          </p:cNvSpPr>
          <p:nvPr/>
        </p:nvSpPr>
        <p:spPr bwMode="auto">
          <a:xfrm>
            <a:off x="2822575" y="2111375"/>
            <a:ext cx="1938338" cy="225425"/>
          </a:xfrm>
          <a:prstGeom prst="rect">
            <a:avLst/>
          </a:prstGeom>
          <a:solidFill>
            <a:schemeClr val="bg2">
              <a:lumMod val="60000"/>
              <a:lumOff val="40000"/>
            </a:schemeClr>
          </a:solidFill>
          <a:ln w="6350">
            <a:solidFill>
              <a:srgbClr val="00CC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HK">
              <a:latin typeface="Georgia" panose="02040502050405020303" pitchFamily="18" charset="0"/>
            </a:endParaRPr>
          </a:p>
        </p:txBody>
      </p:sp>
      <p:sp>
        <p:nvSpPr>
          <p:cNvPr id="9" name="Rectangle 9">
            <a:extLst>
              <a:ext uri="{FF2B5EF4-FFF2-40B4-BE49-F238E27FC236}">
                <a16:creationId xmlns:a16="http://schemas.microsoft.com/office/drawing/2014/main" id="{581BDC33-8862-13C0-A04B-5696602FF5AD}"/>
              </a:ext>
            </a:extLst>
          </p:cNvPr>
          <p:cNvSpPr>
            <a:spLocks noChangeArrowheads="1"/>
          </p:cNvSpPr>
          <p:nvPr/>
        </p:nvSpPr>
        <p:spPr bwMode="auto">
          <a:xfrm>
            <a:off x="2822575" y="1895475"/>
            <a:ext cx="1938338" cy="215900"/>
          </a:xfrm>
          <a:prstGeom prst="rect">
            <a:avLst/>
          </a:prstGeom>
          <a:solidFill>
            <a:srgbClr val="FFFFCC"/>
          </a:solidFill>
          <a:ln w="6350">
            <a:solidFill>
              <a:srgbClr val="FF0000"/>
            </a:solidFill>
            <a:prstDash val="solid"/>
            <a:miter lim="800000"/>
            <a:headEnd/>
            <a:tailEnd/>
          </a:ln>
        </p:spPr>
        <p:txBody>
          <a:bodyPr vert="horz" wrap="square" lIns="91440" tIns="45720" rIns="91440" bIns="45720" numCol="1" anchor="t" anchorCtr="0" compatLnSpc="1">
            <a:prstTxWarp prst="textNoShape">
              <a:avLst/>
            </a:prstTxWarp>
          </a:bodyPr>
          <a:lstStyle/>
          <a:p>
            <a:endParaRPr lang="en-HK">
              <a:latin typeface="Georgia" panose="02040502050405020303" pitchFamily="18" charset="0"/>
            </a:endParaRPr>
          </a:p>
        </p:txBody>
      </p:sp>
      <p:sp>
        <p:nvSpPr>
          <p:cNvPr id="10" name="Rectangle 10">
            <a:extLst>
              <a:ext uri="{FF2B5EF4-FFF2-40B4-BE49-F238E27FC236}">
                <a16:creationId xmlns:a16="http://schemas.microsoft.com/office/drawing/2014/main" id="{EB63AAA1-67E3-CC1C-EBD9-25B8D2483021}"/>
              </a:ext>
            </a:extLst>
          </p:cNvPr>
          <p:cNvSpPr>
            <a:spLocks noChangeArrowheads="1"/>
          </p:cNvSpPr>
          <p:nvPr/>
        </p:nvSpPr>
        <p:spPr bwMode="auto">
          <a:xfrm>
            <a:off x="2822575" y="1679575"/>
            <a:ext cx="1938338" cy="217488"/>
          </a:xfrm>
          <a:prstGeom prst="rect">
            <a:avLst/>
          </a:prstGeom>
          <a:solidFill>
            <a:srgbClr val="00B050"/>
          </a:solidFill>
          <a:ln w="6350">
            <a:solidFill>
              <a:srgbClr val="0000FF"/>
            </a:solidFill>
            <a:prstDash val="solid"/>
            <a:miter lim="800000"/>
            <a:headEnd/>
            <a:tailEnd/>
          </a:ln>
        </p:spPr>
        <p:txBody>
          <a:bodyPr vert="horz" wrap="square" lIns="91440" tIns="45720" rIns="91440" bIns="45720" numCol="1" anchor="t" anchorCtr="0" compatLnSpc="1">
            <a:prstTxWarp prst="textNoShape">
              <a:avLst/>
            </a:prstTxWarp>
          </a:bodyPr>
          <a:lstStyle/>
          <a:p>
            <a:endParaRPr lang="en-HK">
              <a:latin typeface="Georgia" panose="02040502050405020303" pitchFamily="18" charset="0"/>
            </a:endParaRPr>
          </a:p>
        </p:txBody>
      </p:sp>
      <p:sp>
        <p:nvSpPr>
          <p:cNvPr id="11" name="Rectangle 11">
            <a:extLst>
              <a:ext uri="{FF2B5EF4-FFF2-40B4-BE49-F238E27FC236}">
                <a16:creationId xmlns:a16="http://schemas.microsoft.com/office/drawing/2014/main" id="{0A6FBC3D-7B2D-5C54-15DE-F72425C18184}"/>
              </a:ext>
            </a:extLst>
          </p:cNvPr>
          <p:cNvSpPr>
            <a:spLocks noChangeArrowheads="1"/>
          </p:cNvSpPr>
          <p:nvPr/>
        </p:nvSpPr>
        <p:spPr bwMode="auto">
          <a:xfrm>
            <a:off x="4743450" y="1881188"/>
            <a:ext cx="1357313"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latin typeface="Georgia" panose="02040502050405020303" pitchFamily="18" charset="0"/>
            </a:endParaRPr>
          </a:p>
        </p:txBody>
      </p:sp>
      <p:sp>
        <p:nvSpPr>
          <p:cNvPr id="12" name="Rectangle 12">
            <a:extLst>
              <a:ext uri="{FF2B5EF4-FFF2-40B4-BE49-F238E27FC236}">
                <a16:creationId xmlns:a16="http://schemas.microsoft.com/office/drawing/2014/main" id="{57ED8463-5C38-8B74-3E78-A11EC7BABA72}"/>
              </a:ext>
            </a:extLst>
          </p:cNvPr>
          <p:cNvSpPr>
            <a:spLocks noChangeArrowheads="1"/>
          </p:cNvSpPr>
          <p:nvPr/>
        </p:nvSpPr>
        <p:spPr bwMode="auto">
          <a:xfrm>
            <a:off x="4813300" y="1914525"/>
            <a:ext cx="1235916" cy="138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900" b="1" i="0" u="none" strike="noStrike" cap="none" normalizeH="0" baseline="0">
                <a:ln>
                  <a:noFill/>
                </a:ln>
                <a:solidFill>
                  <a:srgbClr val="000000"/>
                </a:solidFill>
                <a:effectLst/>
                <a:latin typeface="Georgia" panose="02040502050405020303" pitchFamily="18" charset="0"/>
              </a:rPr>
              <a:t>Chromium (31.7 nm)</a:t>
            </a:r>
            <a:endParaRPr kumimoji="0" lang="en-US" altLang="en-US" sz="1800" b="0" i="0" u="none" strike="noStrike" cap="none" normalizeH="0" baseline="0">
              <a:ln>
                <a:noFill/>
              </a:ln>
              <a:solidFill>
                <a:schemeClr val="tx1"/>
              </a:solidFill>
              <a:effectLst/>
              <a:latin typeface="Georgia" panose="02040502050405020303" pitchFamily="18" charset="0"/>
            </a:endParaRPr>
          </a:p>
        </p:txBody>
      </p:sp>
      <p:sp>
        <p:nvSpPr>
          <p:cNvPr id="13" name="Rectangle 13">
            <a:extLst>
              <a:ext uri="{FF2B5EF4-FFF2-40B4-BE49-F238E27FC236}">
                <a16:creationId xmlns:a16="http://schemas.microsoft.com/office/drawing/2014/main" id="{12081298-737D-A434-A7AF-9867115D7E9D}"/>
              </a:ext>
            </a:extLst>
          </p:cNvPr>
          <p:cNvSpPr>
            <a:spLocks noChangeArrowheads="1"/>
          </p:cNvSpPr>
          <p:nvPr/>
        </p:nvSpPr>
        <p:spPr bwMode="auto">
          <a:xfrm>
            <a:off x="4743450" y="3001963"/>
            <a:ext cx="12128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latin typeface="Georgia" panose="02040502050405020303" pitchFamily="18" charset="0"/>
            </a:endParaRPr>
          </a:p>
        </p:txBody>
      </p:sp>
      <p:sp>
        <p:nvSpPr>
          <p:cNvPr id="14" name="Rectangle 14">
            <a:extLst>
              <a:ext uri="{FF2B5EF4-FFF2-40B4-BE49-F238E27FC236}">
                <a16:creationId xmlns:a16="http://schemas.microsoft.com/office/drawing/2014/main" id="{A60AC493-ACDE-CE94-53AC-1C8C0EA71C7F}"/>
              </a:ext>
            </a:extLst>
          </p:cNvPr>
          <p:cNvSpPr>
            <a:spLocks noChangeArrowheads="1"/>
          </p:cNvSpPr>
          <p:nvPr/>
        </p:nvSpPr>
        <p:spPr bwMode="auto">
          <a:xfrm>
            <a:off x="4813300" y="3035300"/>
            <a:ext cx="1099660" cy="138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900" b="1" i="0" u="none" strike="noStrike" cap="none" normalizeH="0" baseline="0">
                <a:ln>
                  <a:noFill/>
                </a:ln>
                <a:solidFill>
                  <a:srgbClr val="000000"/>
                </a:solidFill>
                <a:effectLst/>
                <a:latin typeface="Georgia" panose="02040502050405020303" pitchFamily="18" charset="0"/>
              </a:rPr>
              <a:t>Silicon (substrate)</a:t>
            </a:r>
            <a:endParaRPr kumimoji="0" lang="en-US" altLang="en-US" sz="1800" b="0" i="0" u="none" strike="noStrike" cap="none" normalizeH="0" baseline="0">
              <a:ln>
                <a:noFill/>
              </a:ln>
              <a:solidFill>
                <a:schemeClr val="tx1"/>
              </a:solidFill>
              <a:effectLst/>
              <a:latin typeface="Georgia" panose="02040502050405020303" pitchFamily="18" charset="0"/>
            </a:endParaRPr>
          </a:p>
        </p:txBody>
      </p:sp>
      <p:sp>
        <p:nvSpPr>
          <p:cNvPr id="15" name="Rectangle 15">
            <a:extLst>
              <a:ext uri="{FF2B5EF4-FFF2-40B4-BE49-F238E27FC236}">
                <a16:creationId xmlns:a16="http://schemas.microsoft.com/office/drawing/2014/main" id="{76884CB3-E188-1430-DF0F-C05E9547DBAF}"/>
              </a:ext>
            </a:extLst>
          </p:cNvPr>
          <p:cNvSpPr>
            <a:spLocks noChangeArrowheads="1"/>
          </p:cNvSpPr>
          <p:nvPr/>
        </p:nvSpPr>
        <p:spPr bwMode="auto">
          <a:xfrm>
            <a:off x="4743450" y="2325688"/>
            <a:ext cx="1114425"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latin typeface="Georgia" panose="02040502050405020303" pitchFamily="18" charset="0"/>
            </a:endParaRPr>
          </a:p>
        </p:txBody>
      </p:sp>
      <p:sp>
        <p:nvSpPr>
          <p:cNvPr id="16" name="Rectangle 16">
            <a:extLst>
              <a:ext uri="{FF2B5EF4-FFF2-40B4-BE49-F238E27FC236}">
                <a16:creationId xmlns:a16="http://schemas.microsoft.com/office/drawing/2014/main" id="{65762497-06A7-C713-63DB-1666AB67768C}"/>
              </a:ext>
            </a:extLst>
          </p:cNvPr>
          <p:cNvSpPr>
            <a:spLocks noChangeArrowheads="1"/>
          </p:cNvSpPr>
          <p:nvPr/>
        </p:nvSpPr>
        <p:spPr bwMode="auto">
          <a:xfrm>
            <a:off x="4813300" y="2359025"/>
            <a:ext cx="993862" cy="138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900" b="1" i="0" u="none" strike="noStrike" cap="none" normalizeH="0" baseline="0">
                <a:ln>
                  <a:noFill/>
                </a:ln>
                <a:solidFill>
                  <a:srgbClr val="000000"/>
                </a:solidFill>
                <a:effectLst/>
                <a:latin typeface="Georgia" panose="02040502050405020303" pitchFamily="18" charset="0"/>
              </a:rPr>
              <a:t>Nickel (29.9 nm)</a:t>
            </a:r>
            <a:endParaRPr kumimoji="0" lang="en-US" altLang="en-US" sz="1800" b="0" i="0" u="none" strike="noStrike" cap="none" normalizeH="0" baseline="0">
              <a:ln>
                <a:noFill/>
              </a:ln>
              <a:solidFill>
                <a:schemeClr val="tx1"/>
              </a:solidFill>
              <a:effectLst/>
              <a:latin typeface="Georgia" panose="02040502050405020303" pitchFamily="18" charset="0"/>
            </a:endParaRPr>
          </a:p>
        </p:txBody>
      </p:sp>
      <p:sp>
        <p:nvSpPr>
          <p:cNvPr id="17" name="Rectangle 17">
            <a:extLst>
              <a:ext uri="{FF2B5EF4-FFF2-40B4-BE49-F238E27FC236}">
                <a16:creationId xmlns:a16="http://schemas.microsoft.com/office/drawing/2014/main" id="{D876BAC7-34D1-8D43-FCC7-9C2CC7E4303B}"/>
              </a:ext>
            </a:extLst>
          </p:cNvPr>
          <p:cNvSpPr>
            <a:spLocks noChangeArrowheads="1"/>
          </p:cNvSpPr>
          <p:nvPr/>
        </p:nvSpPr>
        <p:spPr bwMode="auto">
          <a:xfrm>
            <a:off x="4743450" y="1677988"/>
            <a:ext cx="1114425"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latin typeface="Georgia" panose="02040502050405020303" pitchFamily="18" charset="0"/>
            </a:endParaRPr>
          </a:p>
        </p:txBody>
      </p:sp>
      <p:sp>
        <p:nvSpPr>
          <p:cNvPr id="18" name="Rectangle 18">
            <a:extLst>
              <a:ext uri="{FF2B5EF4-FFF2-40B4-BE49-F238E27FC236}">
                <a16:creationId xmlns:a16="http://schemas.microsoft.com/office/drawing/2014/main" id="{AD9FD7E5-50B7-D75E-EFDB-11AFF886E556}"/>
              </a:ext>
            </a:extLst>
          </p:cNvPr>
          <p:cNvSpPr>
            <a:spLocks noChangeArrowheads="1"/>
          </p:cNvSpPr>
          <p:nvPr/>
        </p:nvSpPr>
        <p:spPr bwMode="auto">
          <a:xfrm>
            <a:off x="4813300" y="1711325"/>
            <a:ext cx="995465" cy="138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900" b="1" i="0" u="none" strike="noStrike" cap="none" normalizeH="0" baseline="0">
                <a:ln>
                  <a:noFill/>
                </a:ln>
                <a:solidFill>
                  <a:srgbClr val="000000"/>
                </a:solidFill>
                <a:effectLst/>
                <a:latin typeface="Georgia" panose="02040502050405020303" pitchFamily="18" charset="0"/>
              </a:rPr>
              <a:t>Nickel (30.3 nm)</a:t>
            </a:r>
            <a:endParaRPr kumimoji="0" lang="en-US" altLang="en-US" sz="1800" b="0" i="0" u="none" strike="noStrike" cap="none" normalizeH="0" baseline="0">
              <a:ln>
                <a:noFill/>
              </a:ln>
              <a:solidFill>
                <a:schemeClr val="tx1"/>
              </a:solidFill>
              <a:effectLst/>
              <a:latin typeface="Georgia" panose="02040502050405020303" pitchFamily="18" charset="0"/>
            </a:endParaRPr>
          </a:p>
        </p:txBody>
      </p:sp>
      <p:sp>
        <p:nvSpPr>
          <p:cNvPr id="19" name="Rectangle 19">
            <a:extLst>
              <a:ext uri="{FF2B5EF4-FFF2-40B4-BE49-F238E27FC236}">
                <a16:creationId xmlns:a16="http://schemas.microsoft.com/office/drawing/2014/main" id="{922A82A1-0306-8863-1E5A-97CD710C2E52}"/>
              </a:ext>
            </a:extLst>
          </p:cNvPr>
          <p:cNvSpPr>
            <a:spLocks noChangeArrowheads="1"/>
          </p:cNvSpPr>
          <p:nvPr/>
        </p:nvSpPr>
        <p:spPr bwMode="auto">
          <a:xfrm>
            <a:off x="4743450" y="2540000"/>
            <a:ext cx="1357313"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latin typeface="Georgia" panose="02040502050405020303" pitchFamily="18" charset="0"/>
            </a:endParaRPr>
          </a:p>
        </p:txBody>
      </p:sp>
      <p:sp>
        <p:nvSpPr>
          <p:cNvPr id="20" name="Rectangle 20">
            <a:extLst>
              <a:ext uri="{FF2B5EF4-FFF2-40B4-BE49-F238E27FC236}">
                <a16:creationId xmlns:a16="http://schemas.microsoft.com/office/drawing/2014/main" id="{940B86E6-AD08-4494-508A-E9C9BA530426}"/>
              </a:ext>
            </a:extLst>
          </p:cNvPr>
          <p:cNvSpPr>
            <a:spLocks noChangeArrowheads="1"/>
          </p:cNvSpPr>
          <p:nvPr/>
        </p:nvSpPr>
        <p:spPr bwMode="auto">
          <a:xfrm>
            <a:off x="4813300" y="2573338"/>
            <a:ext cx="1251946" cy="138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900" b="1" i="0" u="none" strike="noStrike" cap="none" normalizeH="0" baseline="0">
                <a:ln>
                  <a:noFill/>
                </a:ln>
                <a:solidFill>
                  <a:srgbClr val="000000"/>
                </a:solidFill>
                <a:effectLst/>
                <a:latin typeface="Georgia" panose="02040502050405020303" pitchFamily="18" charset="0"/>
              </a:rPr>
              <a:t>Chromium (30.1 nm)</a:t>
            </a:r>
            <a:endParaRPr kumimoji="0" lang="en-US" altLang="en-US" sz="1800" b="0" i="0" u="none" strike="noStrike" cap="none" normalizeH="0" baseline="0">
              <a:ln>
                <a:noFill/>
              </a:ln>
              <a:solidFill>
                <a:schemeClr val="tx1"/>
              </a:solidFill>
              <a:effectLst/>
              <a:latin typeface="Georgia" panose="02040502050405020303" pitchFamily="18" charset="0"/>
            </a:endParaRPr>
          </a:p>
        </p:txBody>
      </p:sp>
      <p:sp>
        <p:nvSpPr>
          <p:cNvPr id="21" name="Rectangle 21">
            <a:extLst>
              <a:ext uri="{FF2B5EF4-FFF2-40B4-BE49-F238E27FC236}">
                <a16:creationId xmlns:a16="http://schemas.microsoft.com/office/drawing/2014/main" id="{AC73674D-F46F-62B4-43A5-11BE9CD84B72}"/>
              </a:ext>
            </a:extLst>
          </p:cNvPr>
          <p:cNvSpPr>
            <a:spLocks noChangeArrowheads="1"/>
          </p:cNvSpPr>
          <p:nvPr/>
        </p:nvSpPr>
        <p:spPr bwMode="auto">
          <a:xfrm>
            <a:off x="4743450" y="2101850"/>
            <a:ext cx="1725613"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latin typeface="Georgia" panose="02040502050405020303" pitchFamily="18" charset="0"/>
            </a:endParaRPr>
          </a:p>
        </p:txBody>
      </p:sp>
      <p:sp>
        <p:nvSpPr>
          <p:cNvPr id="22" name="Rectangle 22">
            <a:extLst>
              <a:ext uri="{FF2B5EF4-FFF2-40B4-BE49-F238E27FC236}">
                <a16:creationId xmlns:a16="http://schemas.microsoft.com/office/drawing/2014/main" id="{388DF6BD-86E7-2B10-2662-7D21A6B42472}"/>
              </a:ext>
            </a:extLst>
          </p:cNvPr>
          <p:cNvSpPr>
            <a:spLocks noChangeArrowheads="1"/>
          </p:cNvSpPr>
          <p:nvPr/>
        </p:nvSpPr>
        <p:spPr bwMode="auto">
          <a:xfrm>
            <a:off x="4813300" y="2135188"/>
            <a:ext cx="1620636" cy="138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900" b="1" i="0" u="none" strike="noStrike" cap="none" normalizeH="0" baseline="0">
                <a:ln>
                  <a:noFill/>
                </a:ln>
                <a:solidFill>
                  <a:srgbClr val="000000"/>
                </a:solidFill>
                <a:effectLst/>
                <a:latin typeface="Georgia" panose="02040502050405020303" pitchFamily="18" charset="0"/>
              </a:rPr>
              <a:t>Chromium Oxide (31.6 nm)</a:t>
            </a:r>
            <a:endParaRPr kumimoji="0" lang="en-US" altLang="en-US" sz="1800" b="0" i="0" u="none" strike="noStrike" cap="none" normalizeH="0" baseline="0">
              <a:ln>
                <a:noFill/>
              </a:ln>
              <a:solidFill>
                <a:schemeClr val="tx1"/>
              </a:solidFill>
              <a:effectLst/>
              <a:latin typeface="Georgia" panose="02040502050405020303" pitchFamily="18" charset="0"/>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4"/>
          <p:cNvSpPr>
            <a:spLocks noChangeArrowheads="1"/>
          </p:cNvSpPr>
          <p:nvPr/>
        </p:nvSpPr>
        <p:spPr bwMode="auto">
          <a:xfrm>
            <a:off x="1295400" y="1752600"/>
            <a:ext cx="7086600" cy="4876800"/>
          </a:xfrm>
          <a:prstGeom prst="rect">
            <a:avLst/>
          </a:prstGeom>
          <a:noFill/>
          <a:ln w="9525">
            <a:noFill/>
            <a:miter lim="800000"/>
            <a:headEnd/>
            <a:tailEnd/>
          </a:ln>
        </p:spPr>
        <p:txBody>
          <a:bodyPr wrap="none" anchor="ctr"/>
          <a:lstStyle/>
          <a:p>
            <a:endParaRPr lang="zh-CN" altLang="zh-CN">
              <a:ea typeface="SimSun" pitchFamily="2" charset="-122"/>
            </a:endParaRPr>
          </a:p>
        </p:txBody>
      </p:sp>
      <p:pic>
        <p:nvPicPr>
          <p:cNvPr id="62467" name="Picture 5"/>
          <p:cNvPicPr>
            <a:picLocks noChangeAspect="1" noChangeArrowheads="1"/>
          </p:cNvPicPr>
          <p:nvPr/>
        </p:nvPicPr>
        <p:blipFill>
          <a:blip r:embed="rId2" cstate="print"/>
          <a:srcRect/>
          <a:stretch>
            <a:fillRect/>
          </a:stretch>
        </p:blipFill>
        <p:spPr bwMode="auto">
          <a:xfrm>
            <a:off x="1676400" y="2590800"/>
            <a:ext cx="2406650" cy="3086100"/>
          </a:xfrm>
          <a:prstGeom prst="rect">
            <a:avLst/>
          </a:prstGeom>
          <a:noFill/>
          <a:ln w="9525">
            <a:noFill/>
            <a:miter lim="800000"/>
            <a:headEnd/>
            <a:tailEnd/>
          </a:ln>
        </p:spPr>
      </p:pic>
      <p:pic>
        <p:nvPicPr>
          <p:cNvPr id="62468" name="Picture 6"/>
          <p:cNvPicPr>
            <a:picLocks noChangeAspect="1" noChangeArrowheads="1"/>
          </p:cNvPicPr>
          <p:nvPr/>
        </p:nvPicPr>
        <p:blipFill>
          <a:blip r:embed="rId3" cstate="print"/>
          <a:srcRect/>
          <a:stretch>
            <a:fillRect/>
          </a:stretch>
        </p:blipFill>
        <p:spPr bwMode="auto">
          <a:xfrm>
            <a:off x="4648200" y="1981200"/>
            <a:ext cx="3276600" cy="1738313"/>
          </a:xfrm>
          <a:prstGeom prst="rect">
            <a:avLst/>
          </a:prstGeom>
          <a:noFill/>
          <a:ln w="9525">
            <a:noFill/>
            <a:miter lim="800000"/>
            <a:headEnd/>
            <a:tailEnd/>
          </a:ln>
        </p:spPr>
      </p:pic>
      <p:pic>
        <p:nvPicPr>
          <p:cNvPr id="62469" name="Picture 7"/>
          <p:cNvPicPr>
            <a:picLocks noChangeAspect="1" noChangeArrowheads="1"/>
          </p:cNvPicPr>
          <p:nvPr/>
        </p:nvPicPr>
        <p:blipFill>
          <a:blip r:embed="rId4" cstate="print"/>
          <a:srcRect/>
          <a:stretch>
            <a:fillRect/>
          </a:stretch>
        </p:blipFill>
        <p:spPr bwMode="auto">
          <a:xfrm>
            <a:off x="4267200" y="3810000"/>
            <a:ext cx="3581400" cy="2763838"/>
          </a:xfrm>
          <a:prstGeom prst="rect">
            <a:avLst/>
          </a:prstGeom>
          <a:noFill/>
          <a:ln w="9525">
            <a:noFill/>
            <a:miter lim="800000"/>
            <a:headEnd/>
            <a:tailEnd/>
          </a:ln>
        </p:spPr>
      </p:pic>
      <p:sp>
        <p:nvSpPr>
          <p:cNvPr id="62470" name="Rectangle 8"/>
          <p:cNvSpPr>
            <a:spLocks noChangeArrowheads="1"/>
          </p:cNvSpPr>
          <p:nvPr/>
        </p:nvSpPr>
        <p:spPr bwMode="auto">
          <a:xfrm>
            <a:off x="1143000" y="10668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Depth profiling</a:t>
            </a:r>
          </a:p>
        </p:txBody>
      </p:sp>
      <p:sp>
        <p:nvSpPr>
          <p:cNvPr id="2" name="Slide Number Placeholder 1">
            <a:extLst>
              <a:ext uri="{FF2B5EF4-FFF2-40B4-BE49-F238E27FC236}">
                <a16:creationId xmlns:a16="http://schemas.microsoft.com/office/drawing/2014/main" id="{AA02BD19-00AF-4A53-A7A2-D271CFBBE64F}"/>
              </a:ext>
            </a:extLst>
          </p:cNvPr>
          <p:cNvSpPr>
            <a:spLocks noGrp="1"/>
          </p:cNvSpPr>
          <p:nvPr>
            <p:ph type="sldNum" sz="quarter" idx="11"/>
          </p:nvPr>
        </p:nvSpPr>
        <p:spPr/>
        <p:txBody>
          <a:bodyPr/>
          <a:lstStyle/>
          <a:p>
            <a:pPr>
              <a:defRPr/>
            </a:pPr>
            <a:fld id="{EBF73BDF-690D-4725-BA10-A7934ED52EAB}" type="slidenum">
              <a:rPr lang="zh-TW" altLang="en-US" smtClean="0"/>
              <a:pPr>
                <a:defRPr/>
              </a:pPr>
              <a:t>78</a:t>
            </a:fld>
            <a:endParaRPr lang="en-US" altLang="zh-TW"/>
          </a:p>
        </p:txBody>
      </p:sp>
      <p:sp>
        <p:nvSpPr>
          <p:cNvPr id="3" name="Rectangle 8">
            <a:extLst>
              <a:ext uri="{FF2B5EF4-FFF2-40B4-BE49-F238E27FC236}">
                <a16:creationId xmlns:a16="http://schemas.microsoft.com/office/drawing/2014/main" id="{3BD3EB72-588D-B8D8-D37C-F3EDAEA6F5D4}"/>
              </a:ext>
            </a:extLst>
          </p:cNvPr>
          <p:cNvSpPr>
            <a:spLocks noChangeArrowheads="1"/>
          </p:cNvSpPr>
          <p:nvPr/>
        </p:nvSpPr>
        <p:spPr bwMode="auto">
          <a:xfrm>
            <a:off x="685800" y="179388"/>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quantification-depth profiling</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490" name="Picture 5"/>
          <p:cNvPicPr>
            <a:picLocks noChangeAspect="1" noChangeArrowheads="1"/>
          </p:cNvPicPr>
          <p:nvPr/>
        </p:nvPicPr>
        <p:blipFill>
          <a:blip r:embed="rId2" cstate="print"/>
          <a:srcRect/>
          <a:stretch>
            <a:fillRect/>
          </a:stretch>
        </p:blipFill>
        <p:spPr bwMode="auto">
          <a:xfrm>
            <a:off x="838200" y="3886200"/>
            <a:ext cx="7467600" cy="2397125"/>
          </a:xfrm>
          <a:prstGeom prst="rect">
            <a:avLst/>
          </a:prstGeom>
          <a:noFill/>
          <a:ln w="9525">
            <a:noFill/>
            <a:miter lim="800000"/>
            <a:headEnd/>
            <a:tailEnd/>
          </a:ln>
        </p:spPr>
      </p:pic>
      <p:sp>
        <p:nvSpPr>
          <p:cNvPr id="63491" name="Text Box 6"/>
          <p:cNvSpPr txBox="1">
            <a:spLocks noChangeArrowheads="1"/>
          </p:cNvSpPr>
          <p:nvPr/>
        </p:nvSpPr>
        <p:spPr bwMode="auto">
          <a:xfrm>
            <a:off x="685800" y="1801812"/>
            <a:ext cx="7712075" cy="1463675"/>
          </a:xfrm>
          <a:prstGeom prst="rect">
            <a:avLst/>
          </a:prstGeom>
          <a:noFill/>
          <a:ln w="9525">
            <a:noFill/>
            <a:miter lim="800000"/>
            <a:headEnd/>
            <a:tailEnd/>
          </a:ln>
        </p:spPr>
        <p:txBody>
          <a:bodyPr>
            <a:spAutoFit/>
          </a:bodyPr>
          <a:lstStyle/>
          <a:p>
            <a:pPr marL="231775" indent="-231775" algn="just" eaLnBrk="1" hangingPunct="1"/>
            <a:r>
              <a:rPr lang="en-US" altLang="zh-TW" dirty="0">
                <a:latin typeface="Georgia" panose="02040502050405020303" pitchFamily="18" charset="0"/>
                <a:ea typeface="新細明體" pitchFamily="18" charset="-120"/>
              </a:rPr>
              <a:t>Sputtering rate is determined from the time required to sputter through a layer of the </a:t>
            </a:r>
            <a:r>
              <a:rPr lang="en-US" altLang="zh-TW" dirty="0">
                <a:solidFill>
                  <a:srgbClr val="006600"/>
                </a:solidFill>
                <a:latin typeface="Georgia" panose="02040502050405020303" pitchFamily="18" charset="0"/>
                <a:ea typeface="新細明體" pitchFamily="18" charset="-120"/>
              </a:rPr>
              <a:t>same material of known thickness</a:t>
            </a:r>
            <a:r>
              <a:rPr lang="en-US" altLang="zh-TW" dirty="0">
                <a:latin typeface="Georgia" panose="02040502050405020303" pitchFamily="18" charset="0"/>
                <a:ea typeface="新細明體" pitchFamily="18" charset="-120"/>
              </a:rPr>
              <a:t>.</a:t>
            </a:r>
          </a:p>
          <a:p>
            <a:pPr marL="231775" indent="-231775" algn="just" eaLnBrk="1" hangingPunct="1"/>
            <a:endParaRPr lang="en-US" altLang="zh-TW" dirty="0">
              <a:latin typeface="Georgia" panose="02040502050405020303" pitchFamily="18" charset="0"/>
              <a:ea typeface="新細明體" pitchFamily="18" charset="-120"/>
            </a:endParaRPr>
          </a:p>
          <a:p>
            <a:pPr marL="231775" indent="-231775" algn="just" eaLnBrk="1" hangingPunct="1"/>
            <a:r>
              <a:rPr lang="en-US" altLang="zh-TW" dirty="0">
                <a:latin typeface="Georgia" panose="02040502050405020303" pitchFamily="18" charset="0"/>
                <a:ea typeface="新細明體" pitchFamily="18" charset="-120"/>
              </a:rPr>
              <a:t>After the sputtering analysis, </a:t>
            </a:r>
            <a:r>
              <a:rPr lang="en-US" altLang="zh-TW" dirty="0">
                <a:solidFill>
                  <a:srgbClr val="006600"/>
                </a:solidFill>
                <a:latin typeface="Georgia" panose="02040502050405020303" pitchFamily="18" charset="0"/>
                <a:ea typeface="新細明體" pitchFamily="18" charset="-120"/>
              </a:rPr>
              <a:t>the crater depth is measured</a:t>
            </a:r>
            <a:r>
              <a:rPr lang="en-US" altLang="zh-TW" dirty="0">
                <a:latin typeface="Georgia" panose="02040502050405020303" pitchFamily="18" charset="0"/>
                <a:ea typeface="新細明體" pitchFamily="18" charset="-120"/>
              </a:rPr>
              <a:t> using depth profilometer.  A constant sputtering rate is assumed. </a:t>
            </a:r>
            <a:endParaRPr lang="en-US" altLang="zh-CN" dirty="0">
              <a:latin typeface="Georgia" panose="02040502050405020303" pitchFamily="18" charset="0"/>
              <a:ea typeface="新細明體" pitchFamily="18" charset="-120"/>
            </a:endParaRPr>
          </a:p>
        </p:txBody>
      </p:sp>
      <p:sp>
        <p:nvSpPr>
          <p:cNvPr id="63492" name="Rectangle 7"/>
          <p:cNvSpPr>
            <a:spLocks noChangeArrowheads="1"/>
          </p:cNvSpPr>
          <p:nvPr/>
        </p:nvSpPr>
        <p:spPr bwMode="auto">
          <a:xfrm>
            <a:off x="1104900" y="9906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Calibration of depth scale</a:t>
            </a:r>
          </a:p>
        </p:txBody>
      </p:sp>
      <p:sp>
        <p:nvSpPr>
          <p:cNvPr id="2" name="Slide Number Placeholder 1">
            <a:extLst>
              <a:ext uri="{FF2B5EF4-FFF2-40B4-BE49-F238E27FC236}">
                <a16:creationId xmlns:a16="http://schemas.microsoft.com/office/drawing/2014/main" id="{FFC08461-2072-439F-BD52-76CCC81F8725}"/>
              </a:ext>
            </a:extLst>
          </p:cNvPr>
          <p:cNvSpPr>
            <a:spLocks noGrp="1"/>
          </p:cNvSpPr>
          <p:nvPr>
            <p:ph type="sldNum" sz="quarter" idx="11"/>
          </p:nvPr>
        </p:nvSpPr>
        <p:spPr/>
        <p:txBody>
          <a:bodyPr/>
          <a:lstStyle/>
          <a:p>
            <a:pPr>
              <a:defRPr/>
            </a:pPr>
            <a:fld id="{EBF73BDF-690D-4725-BA10-A7934ED52EAB}" type="slidenum">
              <a:rPr lang="zh-TW" altLang="en-US" smtClean="0"/>
              <a:pPr>
                <a:defRPr/>
              </a:pPr>
              <a:t>79</a:t>
            </a:fld>
            <a:endParaRPr lang="en-US" altLang="zh-TW"/>
          </a:p>
        </p:txBody>
      </p:sp>
      <p:sp>
        <p:nvSpPr>
          <p:cNvPr id="3" name="Rectangle 8">
            <a:extLst>
              <a:ext uri="{FF2B5EF4-FFF2-40B4-BE49-F238E27FC236}">
                <a16:creationId xmlns:a16="http://schemas.microsoft.com/office/drawing/2014/main" id="{8095A100-5D45-8825-130E-BB37C59371EC}"/>
              </a:ext>
            </a:extLst>
          </p:cNvPr>
          <p:cNvSpPr>
            <a:spLocks noChangeArrowheads="1"/>
          </p:cNvSpPr>
          <p:nvPr/>
        </p:nvSpPr>
        <p:spPr bwMode="auto">
          <a:xfrm>
            <a:off x="685800" y="179388"/>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quantification-depth profiling: calibration</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514" name="Picture 6"/>
          <p:cNvPicPr>
            <a:picLocks noChangeAspect="1" noChangeArrowheads="1"/>
          </p:cNvPicPr>
          <p:nvPr/>
        </p:nvPicPr>
        <p:blipFill>
          <a:blip r:embed="rId3" cstate="print"/>
          <a:srcRect/>
          <a:stretch>
            <a:fillRect/>
          </a:stretch>
        </p:blipFill>
        <p:spPr bwMode="auto">
          <a:xfrm>
            <a:off x="1524000" y="1905000"/>
            <a:ext cx="6553200" cy="4465638"/>
          </a:xfrm>
          <a:prstGeom prst="rect">
            <a:avLst/>
          </a:prstGeom>
          <a:noFill/>
          <a:ln w="9525">
            <a:noFill/>
            <a:miter lim="800000"/>
            <a:headEnd/>
            <a:tailEnd/>
          </a:ln>
        </p:spPr>
      </p:pic>
      <p:sp>
        <p:nvSpPr>
          <p:cNvPr id="64515" name="Rectangle 7"/>
          <p:cNvSpPr>
            <a:spLocks noChangeArrowheads="1"/>
          </p:cNvSpPr>
          <p:nvPr/>
        </p:nvSpPr>
        <p:spPr bwMode="auto">
          <a:xfrm>
            <a:off x="1143000" y="1066800"/>
            <a:ext cx="6934200" cy="457200"/>
          </a:xfrm>
          <a:prstGeom prst="rect">
            <a:avLst/>
          </a:prstGeom>
          <a:noFill/>
          <a:ln w="9525">
            <a:noFill/>
            <a:miter lim="800000"/>
            <a:headEnd/>
            <a:tailEnd/>
          </a:ln>
        </p:spPr>
        <p:txBody>
          <a:bodyPr>
            <a:spAutoFit/>
          </a:bodyPr>
          <a:lstStyle/>
          <a:p>
            <a:pPr algn="ctr" eaLnBrk="1" hangingPunct="1"/>
            <a:r>
              <a:rPr lang="en-US" altLang="zh-TW" sz="2400">
                <a:latin typeface="Georgia" panose="02040502050405020303" pitchFamily="18" charset="0"/>
                <a:ea typeface="新細明體" pitchFamily="18" charset="-120"/>
              </a:rPr>
              <a:t>Ion-mixing effects</a:t>
            </a:r>
          </a:p>
        </p:txBody>
      </p:sp>
      <p:sp>
        <p:nvSpPr>
          <p:cNvPr id="2" name="Slide Number Placeholder 1">
            <a:extLst>
              <a:ext uri="{FF2B5EF4-FFF2-40B4-BE49-F238E27FC236}">
                <a16:creationId xmlns:a16="http://schemas.microsoft.com/office/drawing/2014/main" id="{CFA40E1B-EA2C-4CEB-A0CB-B8C29D27F631}"/>
              </a:ext>
            </a:extLst>
          </p:cNvPr>
          <p:cNvSpPr>
            <a:spLocks noGrp="1"/>
          </p:cNvSpPr>
          <p:nvPr>
            <p:ph type="sldNum" sz="quarter" idx="11"/>
          </p:nvPr>
        </p:nvSpPr>
        <p:spPr/>
        <p:txBody>
          <a:bodyPr/>
          <a:lstStyle/>
          <a:p>
            <a:pPr>
              <a:defRPr/>
            </a:pPr>
            <a:fld id="{EBF73BDF-690D-4725-BA10-A7934ED52EAB}" type="slidenum">
              <a:rPr lang="zh-TW" altLang="en-US" smtClean="0"/>
              <a:pPr>
                <a:defRPr/>
              </a:pPr>
              <a:t>80</a:t>
            </a:fld>
            <a:endParaRPr lang="en-US" altLang="zh-TW"/>
          </a:p>
        </p:txBody>
      </p:sp>
      <p:sp>
        <p:nvSpPr>
          <p:cNvPr id="3" name="Rectangle 8">
            <a:extLst>
              <a:ext uri="{FF2B5EF4-FFF2-40B4-BE49-F238E27FC236}">
                <a16:creationId xmlns:a16="http://schemas.microsoft.com/office/drawing/2014/main" id="{786CD5DF-5418-4A64-0C8F-840B9ACBDA0A}"/>
              </a:ext>
            </a:extLst>
          </p:cNvPr>
          <p:cNvSpPr>
            <a:spLocks noChangeArrowheads="1"/>
          </p:cNvSpPr>
          <p:nvPr/>
        </p:nvSpPr>
        <p:spPr bwMode="auto">
          <a:xfrm>
            <a:off x="685800" y="179388"/>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quantification-depth profiling: </a:t>
            </a:r>
            <a:r>
              <a:rPr lang="en-US" altLang="zh-TW" sz="2000" dirty="0">
                <a:solidFill>
                  <a:schemeClr val="bg2">
                    <a:lumMod val="40000"/>
                    <a:lumOff val="60000"/>
                  </a:schemeClr>
                </a:solidFill>
                <a:latin typeface="Georgia" panose="02040502050405020303" pitchFamily="18" charset="0"/>
                <a:ea typeface="新細明體" pitchFamily="18" charset="-120"/>
              </a:rPr>
              <a:t>artifacts</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4"/>
          <p:cNvSpPr>
            <a:spLocks noChangeArrowheads="1"/>
          </p:cNvSpPr>
          <p:nvPr/>
        </p:nvSpPr>
        <p:spPr bwMode="auto">
          <a:xfrm>
            <a:off x="1676400" y="2286000"/>
            <a:ext cx="6553200" cy="4267200"/>
          </a:xfrm>
          <a:prstGeom prst="rect">
            <a:avLst/>
          </a:prstGeom>
          <a:noFill/>
          <a:ln w="9525">
            <a:noFill/>
            <a:miter lim="800000"/>
            <a:headEnd/>
            <a:tailEnd/>
          </a:ln>
        </p:spPr>
        <p:txBody>
          <a:bodyPr wrap="none" anchor="ctr"/>
          <a:lstStyle/>
          <a:p>
            <a:endParaRPr lang="zh-CN" altLang="zh-CN">
              <a:ea typeface="SimSun" pitchFamily="2" charset="-122"/>
            </a:endParaRPr>
          </a:p>
        </p:txBody>
      </p:sp>
      <p:pic>
        <p:nvPicPr>
          <p:cNvPr id="65539" name="Picture 6"/>
          <p:cNvPicPr>
            <a:picLocks noChangeAspect="1" noChangeArrowheads="1"/>
          </p:cNvPicPr>
          <p:nvPr/>
        </p:nvPicPr>
        <p:blipFill>
          <a:blip r:embed="rId3" cstate="print"/>
          <a:srcRect/>
          <a:stretch>
            <a:fillRect/>
          </a:stretch>
        </p:blipFill>
        <p:spPr bwMode="auto">
          <a:xfrm>
            <a:off x="1449388" y="1828800"/>
            <a:ext cx="6475412" cy="2373313"/>
          </a:xfrm>
          <a:prstGeom prst="rect">
            <a:avLst/>
          </a:prstGeom>
          <a:noFill/>
          <a:ln w="9525">
            <a:noFill/>
            <a:miter lim="800000"/>
            <a:headEnd/>
            <a:tailEnd/>
          </a:ln>
        </p:spPr>
      </p:pic>
      <p:sp>
        <p:nvSpPr>
          <p:cNvPr id="65541" name="Rectangle 8"/>
          <p:cNvSpPr>
            <a:spLocks noChangeArrowheads="1"/>
          </p:cNvSpPr>
          <p:nvPr/>
        </p:nvSpPr>
        <p:spPr bwMode="auto">
          <a:xfrm>
            <a:off x="1143000" y="10668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Preferential sputtering</a:t>
            </a:r>
          </a:p>
        </p:txBody>
      </p:sp>
      <p:sp>
        <p:nvSpPr>
          <p:cNvPr id="2" name="Slide Number Placeholder 1">
            <a:extLst>
              <a:ext uri="{FF2B5EF4-FFF2-40B4-BE49-F238E27FC236}">
                <a16:creationId xmlns:a16="http://schemas.microsoft.com/office/drawing/2014/main" id="{BBB8649C-23A1-478E-974E-1CD60F33A72F}"/>
              </a:ext>
            </a:extLst>
          </p:cNvPr>
          <p:cNvSpPr>
            <a:spLocks noGrp="1"/>
          </p:cNvSpPr>
          <p:nvPr>
            <p:ph type="sldNum" sz="quarter" idx="11"/>
          </p:nvPr>
        </p:nvSpPr>
        <p:spPr/>
        <p:txBody>
          <a:bodyPr/>
          <a:lstStyle/>
          <a:p>
            <a:pPr>
              <a:defRPr/>
            </a:pPr>
            <a:fld id="{EBF73BDF-690D-4725-BA10-A7934ED52EAB}" type="slidenum">
              <a:rPr lang="zh-TW" altLang="en-US" smtClean="0"/>
              <a:pPr>
                <a:defRPr/>
              </a:pPr>
              <a:t>81</a:t>
            </a:fld>
            <a:endParaRPr lang="en-US" altLang="zh-TW"/>
          </a:p>
        </p:txBody>
      </p:sp>
      <p:sp>
        <p:nvSpPr>
          <p:cNvPr id="4" name="AutoShape 3">
            <a:extLst>
              <a:ext uri="{FF2B5EF4-FFF2-40B4-BE49-F238E27FC236}">
                <a16:creationId xmlns:a16="http://schemas.microsoft.com/office/drawing/2014/main" id="{8BB79250-A5B3-5793-F4A8-AC5EF9A454EF}"/>
              </a:ext>
            </a:extLst>
          </p:cNvPr>
          <p:cNvSpPr>
            <a:spLocks noChangeAspect="1" noChangeArrowheads="1" noTextEdit="1"/>
          </p:cNvSpPr>
          <p:nvPr/>
        </p:nvSpPr>
        <p:spPr bwMode="auto">
          <a:xfrm>
            <a:off x="1601788" y="4249738"/>
            <a:ext cx="5981700" cy="2071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pic>
        <p:nvPicPr>
          <p:cNvPr id="2053" name="Picture 5">
            <a:extLst>
              <a:ext uri="{FF2B5EF4-FFF2-40B4-BE49-F238E27FC236}">
                <a16:creationId xmlns:a16="http://schemas.microsoft.com/office/drawing/2014/main" id="{4632CA44-9DD8-7EE2-161C-924AD810D58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21101" y="4598988"/>
            <a:ext cx="3862388" cy="1709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6">
            <a:extLst>
              <a:ext uri="{FF2B5EF4-FFF2-40B4-BE49-F238E27FC236}">
                <a16:creationId xmlns:a16="http://schemas.microsoft.com/office/drawing/2014/main" id="{2D3D5052-158E-E313-5BA6-4C48B6B24897}"/>
              </a:ext>
            </a:extLst>
          </p:cNvPr>
          <p:cNvSpPr>
            <a:spLocks noChangeArrowheads="1"/>
          </p:cNvSpPr>
          <p:nvPr/>
        </p:nvSpPr>
        <p:spPr bwMode="auto">
          <a:xfrm>
            <a:off x="2155826" y="4359275"/>
            <a:ext cx="966788" cy="288925"/>
          </a:xfrm>
          <a:prstGeom prst="rect">
            <a:avLst/>
          </a:prstGeom>
          <a:solidFill>
            <a:srgbClr val="FFFFC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6" name="Rectangle 7">
            <a:extLst>
              <a:ext uri="{FF2B5EF4-FFF2-40B4-BE49-F238E27FC236}">
                <a16:creationId xmlns:a16="http://schemas.microsoft.com/office/drawing/2014/main" id="{1F3FC635-3F24-4B8D-8B6F-6BC52F286DFF}"/>
              </a:ext>
            </a:extLst>
          </p:cNvPr>
          <p:cNvSpPr>
            <a:spLocks noChangeArrowheads="1"/>
          </p:cNvSpPr>
          <p:nvPr/>
        </p:nvSpPr>
        <p:spPr bwMode="auto">
          <a:xfrm>
            <a:off x="2155826" y="4641850"/>
            <a:ext cx="968375" cy="288925"/>
          </a:xfrm>
          <a:prstGeom prst="rect">
            <a:avLst/>
          </a:prstGeom>
          <a:solidFill>
            <a:srgbClr val="CC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 name="Rectangle 8">
            <a:extLst>
              <a:ext uri="{FF2B5EF4-FFF2-40B4-BE49-F238E27FC236}">
                <a16:creationId xmlns:a16="http://schemas.microsoft.com/office/drawing/2014/main" id="{8D3FCF16-13DA-3906-07DD-B1A4A8D837F6}"/>
              </a:ext>
            </a:extLst>
          </p:cNvPr>
          <p:cNvSpPr>
            <a:spLocks noChangeArrowheads="1"/>
          </p:cNvSpPr>
          <p:nvPr/>
        </p:nvSpPr>
        <p:spPr bwMode="auto">
          <a:xfrm>
            <a:off x="2193926" y="4360863"/>
            <a:ext cx="862013"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8" name="Rectangle 9">
            <a:extLst>
              <a:ext uri="{FF2B5EF4-FFF2-40B4-BE49-F238E27FC236}">
                <a16:creationId xmlns:a16="http://schemas.microsoft.com/office/drawing/2014/main" id="{D486BA14-6B53-21B1-AB81-71FBFA54B3BD}"/>
              </a:ext>
            </a:extLst>
          </p:cNvPr>
          <p:cNvSpPr>
            <a:spLocks noChangeArrowheads="1"/>
          </p:cNvSpPr>
          <p:nvPr/>
        </p:nvSpPr>
        <p:spPr bwMode="auto">
          <a:xfrm>
            <a:off x="2260601" y="4408488"/>
            <a:ext cx="457200" cy="257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a:ln>
                  <a:noFill/>
                </a:ln>
                <a:solidFill>
                  <a:srgbClr val="000000"/>
                </a:solidFill>
                <a:effectLst/>
                <a:latin typeface="Times New Roman" panose="02020603050405020304" pitchFamily="18" charset="0"/>
              </a:rPr>
              <a:t>8000</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9" name="Rectangle 10">
            <a:extLst>
              <a:ext uri="{FF2B5EF4-FFF2-40B4-BE49-F238E27FC236}">
                <a16:creationId xmlns:a16="http://schemas.microsoft.com/office/drawing/2014/main" id="{971F6A37-6DB4-F5A9-EB42-8FDC917B1654}"/>
              </a:ext>
            </a:extLst>
          </p:cNvPr>
          <p:cNvSpPr>
            <a:spLocks noChangeArrowheads="1"/>
          </p:cNvSpPr>
          <p:nvPr/>
        </p:nvSpPr>
        <p:spPr bwMode="auto">
          <a:xfrm>
            <a:off x="2625726" y="4408488"/>
            <a:ext cx="214313" cy="257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a:ln>
                  <a:noFill/>
                </a:ln>
                <a:solidFill>
                  <a:srgbClr val="000000"/>
                </a:solidFill>
                <a:effectLst/>
                <a:latin typeface="Times New Roman" panose="02020603050405020304" pitchFamily="18" charset="0"/>
              </a:rPr>
              <a:t>Å</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0" name="Rectangle 11">
            <a:extLst>
              <a:ext uri="{FF2B5EF4-FFF2-40B4-BE49-F238E27FC236}">
                <a16:creationId xmlns:a16="http://schemas.microsoft.com/office/drawing/2014/main" id="{23FBBEE9-4C90-B53D-7E2C-62121B2D7A2B}"/>
              </a:ext>
            </a:extLst>
          </p:cNvPr>
          <p:cNvSpPr>
            <a:spLocks noChangeArrowheads="1"/>
          </p:cNvSpPr>
          <p:nvPr/>
        </p:nvSpPr>
        <p:spPr bwMode="auto">
          <a:xfrm>
            <a:off x="2805113" y="4408488"/>
            <a:ext cx="266700" cy="257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a:ln>
                  <a:noFill/>
                </a:ln>
                <a:solidFill>
                  <a:srgbClr val="000000"/>
                </a:solidFill>
                <a:effectLst/>
                <a:latin typeface="Times New Roman" panose="02020603050405020304" pitchFamily="18" charset="0"/>
              </a:rPr>
              <a:t>Al</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1" name="Rectangle 12">
            <a:extLst>
              <a:ext uri="{FF2B5EF4-FFF2-40B4-BE49-F238E27FC236}">
                <a16:creationId xmlns:a16="http://schemas.microsoft.com/office/drawing/2014/main" id="{2DBAAAB2-3784-BC0F-79FB-B95F3D30B7CC}"/>
              </a:ext>
            </a:extLst>
          </p:cNvPr>
          <p:cNvSpPr>
            <a:spLocks noChangeArrowheads="1"/>
          </p:cNvSpPr>
          <p:nvPr/>
        </p:nvSpPr>
        <p:spPr bwMode="auto">
          <a:xfrm>
            <a:off x="2481263" y="4651375"/>
            <a:ext cx="2857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2" name="Rectangle 13">
            <a:extLst>
              <a:ext uri="{FF2B5EF4-FFF2-40B4-BE49-F238E27FC236}">
                <a16:creationId xmlns:a16="http://schemas.microsoft.com/office/drawing/2014/main" id="{29662F47-19B7-F5CC-510E-89EE9BF8930B}"/>
              </a:ext>
            </a:extLst>
          </p:cNvPr>
          <p:cNvSpPr>
            <a:spLocks noChangeArrowheads="1"/>
          </p:cNvSpPr>
          <p:nvPr/>
        </p:nvSpPr>
        <p:spPr bwMode="auto">
          <a:xfrm>
            <a:off x="2547938" y="4699000"/>
            <a:ext cx="234950" cy="257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a:ln>
                  <a:noFill/>
                </a:ln>
                <a:solidFill>
                  <a:srgbClr val="000000"/>
                </a:solidFill>
                <a:effectLst/>
                <a:latin typeface="Times New Roman" panose="02020603050405020304" pitchFamily="18" charset="0"/>
              </a:rPr>
              <a:t>Si</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3" name="Freeform 14">
            <a:extLst>
              <a:ext uri="{FF2B5EF4-FFF2-40B4-BE49-F238E27FC236}">
                <a16:creationId xmlns:a16="http://schemas.microsoft.com/office/drawing/2014/main" id="{46ABE8AE-ABBC-DCD3-F21B-5B9D0612B33C}"/>
              </a:ext>
            </a:extLst>
          </p:cNvPr>
          <p:cNvSpPr>
            <a:spLocks/>
          </p:cNvSpPr>
          <p:nvPr/>
        </p:nvSpPr>
        <p:spPr bwMode="auto">
          <a:xfrm>
            <a:off x="2149476" y="4629150"/>
            <a:ext cx="968375" cy="14287"/>
          </a:xfrm>
          <a:custGeom>
            <a:avLst/>
            <a:gdLst>
              <a:gd name="T0" fmla="*/ 0 w 1220"/>
              <a:gd name="T1" fmla="*/ 0 h 19"/>
              <a:gd name="T2" fmla="*/ 0 w 1220"/>
              <a:gd name="T3" fmla="*/ 18 h 19"/>
              <a:gd name="T4" fmla="*/ 1220 w 1220"/>
              <a:gd name="T5" fmla="*/ 19 h 19"/>
              <a:gd name="T6" fmla="*/ 1220 w 1220"/>
              <a:gd name="T7" fmla="*/ 2 h 19"/>
              <a:gd name="T8" fmla="*/ 0 w 1220"/>
              <a:gd name="T9" fmla="*/ 0 h 19"/>
            </a:gdLst>
            <a:ahLst/>
            <a:cxnLst>
              <a:cxn ang="0">
                <a:pos x="T0" y="T1"/>
              </a:cxn>
              <a:cxn ang="0">
                <a:pos x="T2" y="T3"/>
              </a:cxn>
              <a:cxn ang="0">
                <a:pos x="T4" y="T5"/>
              </a:cxn>
              <a:cxn ang="0">
                <a:pos x="T6" y="T7"/>
              </a:cxn>
              <a:cxn ang="0">
                <a:pos x="T8" y="T9"/>
              </a:cxn>
            </a:cxnLst>
            <a:rect l="0" t="0" r="r" b="b"/>
            <a:pathLst>
              <a:path w="1220" h="19">
                <a:moveTo>
                  <a:pt x="0" y="0"/>
                </a:moveTo>
                <a:lnTo>
                  <a:pt x="0" y="18"/>
                </a:lnTo>
                <a:lnTo>
                  <a:pt x="1220" y="19"/>
                </a:lnTo>
                <a:lnTo>
                  <a:pt x="1220" y="2"/>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4" name="Rectangle 15">
            <a:extLst>
              <a:ext uri="{FF2B5EF4-FFF2-40B4-BE49-F238E27FC236}">
                <a16:creationId xmlns:a16="http://schemas.microsoft.com/office/drawing/2014/main" id="{6618F5CB-18D8-DA0B-2788-1A6132511CFC}"/>
              </a:ext>
            </a:extLst>
          </p:cNvPr>
          <p:cNvSpPr>
            <a:spLocks noChangeArrowheads="1"/>
          </p:cNvSpPr>
          <p:nvPr/>
        </p:nvSpPr>
        <p:spPr bwMode="auto">
          <a:xfrm>
            <a:off x="3792538" y="4633913"/>
            <a:ext cx="10731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5" name="Rectangle 16">
            <a:extLst>
              <a:ext uri="{FF2B5EF4-FFF2-40B4-BE49-F238E27FC236}">
                <a16:creationId xmlns:a16="http://schemas.microsoft.com/office/drawing/2014/main" id="{DC8AE2C5-3838-7B1E-563F-A831947AEA5D}"/>
              </a:ext>
            </a:extLst>
          </p:cNvPr>
          <p:cNvSpPr>
            <a:spLocks noChangeArrowheads="1"/>
          </p:cNvSpPr>
          <p:nvPr/>
        </p:nvSpPr>
        <p:spPr bwMode="auto">
          <a:xfrm>
            <a:off x="3859213" y="4681538"/>
            <a:ext cx="1052513" cy="257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FFFFFF"/>
                </a:solidFill>
                <a:effectLst/>
                <a:latin typeface="Times New Roman" panose="02020603050405020304" pitchFamily="18" charset="0"/>
              </a:rPr>
              <a:t>SEM images</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6" name="Group 19">
            <a:extLst>
              <a:ext uri="{FF2B5EF4-FFF2-40B4-BE49-F238E27FC236}">
                <a16:creationId xmlns:a16="http://schemas.microsoft.com/office/drawing/2014/main" id="{D5824CB9-EDDA-B4CC-2207-CE1639ADBEB1}"/>
              </a:ext>
            </a:extLst>
          </p:cNvPr>
          <p:cNvGrpSpPr>
            <a:grpSpLocks/>
          </p:cNvGrpSpPr>
          <p:nvPr/>
        </p:nvGrpSpPr>
        <p:grpSpPr bwMode="auto">
          <a:xfrm>
            <a:off x="5111751" y="4468813"/>
            <a:ext cx="2130425" cy="122237"/>
            <a:chOff x="3220" y="2815"/>
            <a:chExt cx="1342" cy="77"/>
          </a:xfrm>
        </p:grpSpPr>
        <p:sp>
          <p:nvSpPr>
            <p:cNvPr id="23" name="Freeform 17">
              <a:extLst>
                <a:ext uri="{FF2B5EF4-FFF2-40B4-BE49-F238E27FC236}">
                  <a16:creationId xmlns:a16="http://schemas.microsoft.com/office/drawing/2014/main" id="{2D2C853D-6000-6383-8923-4B6B1983DEE9}"/>
                </a:ext>
              </a:extLst>
            </p:cNvPr>
            <p:cNvSpPr>
              <a:spLocks/>
            </p:cNvSpPr>
            <p:nvPr/>
          </p:nvSpPr>
          <p:spPr bwMode="auto">
            <a:xfrm>
              <a:off x="3220" y="2844"/>
              <a:ext cx="1266" cy="23"/>
            </a:xfrm>
            <a:custGeom>
              <a:avLst/>
              <a:gdLst>
                <a:gd name="T0" fmla="*/ 0 w 2534"/>
                <a:gd name="T1" fmla="*/ 11 h 46"/>
                <a:gd name="T2" fmla="*/ 0 w 2534"/>
                <a:gd name="T3" fmla="*/ 46 h 46"/>
                <a:gd name="T4" fmla="*/ 2534 w 2534"/>
                <a:gd name="T5" fmla="*/ 34 h 46"/>
                <a:gd name="T6" fmla="*/ 2534 w 2534"/>
                <a:gd name="T7" fmla="*/ 0 h 46"/>
                <a:gd name="T8" fmla="*/ 0 w 2534"/>
                <a:gd name="T9" fmla="*/ 11 h 46"/>
              </a:gdLst>
              <a:ahLst/>
              <a:cxnLst>
                <a:cxn ang="0">
                  <a:pos x="T0" y="T1"/>
                </a:cxn>
                <a:cxn ang="0">
                  <a:pos x="T2" y="T3"/>
                </a:cxn>
                <a:cxn ang="0">
                  <a:pos x="T4" y="T5"/>
                </a:cxn>
                <a:cxn ang="0">
                  <a:pos x="T6" y="T7"/>
                </a:cxn>
                <a:cxn ang="0">
                  <a:pos x="T8" y="T9"/>
                </a:cxn>
              </a:cxnLst>
              <a:rect l="0" t="0" r="r" b="b"/>
              <a:pathLst>
                <a:path w="2534" h="46">
                  <a:moveTo>
                    <a:pt x="0" y="11"/>
                  </a:moveTo>
                  <a:lnTo>
                    <a:pt x="0" y="46"/>
                  </a:lnTo>
                  <a:lnTo>
                    <a:pt x="2534" y="34"/>
                  </a:lnTo>
                  <a:lnTo>
                    <a:pt x="2534" y="0"/>
                  </a:lnTo>
                  <a:lnTo>
                    <a:pt x="0" y="11"/>
                  </a:lnTo>
                  <a:close/>
                </a:path>
              </a:pathLst>
            </a:custGeom>
            <a:solidFill>
              <a:srgbClr val="A5002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24" name="Freeform 18">
              <a:extLst>
                <a:ext uri="{FF2B5EF4-FFF2-40B4-BE49-F238E27FC236}">
                  <a16:creationId xmlns:a16="http://schemas.microsoft.com/office/drawing/2014/main" id="{DFAA2018-722E-2970-3124-98225C90B249}"/>
                </a:ext>
              </a:extLst>
            </p:cNvPr>
            <p:cNvSpPr>
              <a:spLocks/>
            </p:cNvSpPr>
            <p:nvPr/>
          </p:nvSpPr>
          <p:spPr bwMode="auto">
            <a:xfrm>
              <a:off x="4485" y="2815"/>
              <a:ext cx="77" cy="77"/>
            </a:xfrm>
            <a:custGeom>
              <a:avLst/>
              <a:gdLst>
                <a:gd name="T0" fmla="*/ 0 w 154"/>
                <a:gd name="T1" fmla="*/ 155 h 155"/>
                <a:gd name="T2" fmla="*/ 154 w 154"/>
                <a:gd name="T3" fmla="*/ 77 h 155"/>
                <a:gd name="T4" fmla="*/ 0 w 154"/>
                <a:gd name="T5" fmla="*/ 0 h 155"/>
                <a:gd name="T6" fmla="*/ 0 w 154"/>
                <a:gd name="T7" fmla="*/ 155 h 155"/>
              </a:gdLst>
              <a:ahLst/>
              <a:cxnLst>
                <a:cxn ang="0">
                  <a:pos x="T0" y="T1"/>
                </a:cxn>
                <a:cxn ang="0">
                  <a:pos x="T2" y="T3"/>
                </a:cxn>
                <a:cxn ang="0">
                  <a:pos x="T4" y="T5"/>
                </a:cxn>
                <a:cxn ang="0">
                  <a:pos x="T6" y="T7"/>
                </a:cxn>
              </a:cxnLst>
              <a:rect l="0" t="0" r="r" b="b"/>
              <a:pathLst>
                <a:path w="154" h="155">
                  <a:moveTo>
                    <a:pt x="0" y="155"/>
                  </a:moveTo>
                  <a:lnTo>
                    <a:pt x="154" y="77"/>
                  </a:lnTo>
                  <a:lnTo>
                    <a:pt x="0" y="0"/>
                  </a:lnTo>
                  <a:lnTo>
                    <a:pt x="0" y="155"/>
                  </a:lnTo>
                  <a:close/>
                </a:path>
              </a:pathLst>
            </a:custGeom>
            <a:solidFill>
              <a:srgbClr val="A5002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grpSp>
      <p:sp>
        <p:nvSpPr>
          <p:cNvPr id="17" name="Rectangle 20">
            <a:extLst>
              <a:ext uri="{FF2B5EF4-FFF2-40B4-BE49-F238E27FC236}">
                <a16:creationId xmlns:a16="http://schemas.microsoft.com/office/drawing/2014/main" id="{FF68B1CB-1AC0-D21C-8B26-879CA56CAE90}"/>
              </a:ext>
            </a:extLst>
          </p:cNvPr>
          <p:cNvSpPr>
            <a:spLocks noChangeArrowheads="1"/>
          </p:cNvSpPr>
          <p:nvPr/>
        </p:nvSpPr>
        <p:spPr bwMode="auto">
          <a:xfrm>
            <a:off x="5605463" y="4249738"/>
            <a:ext cx="12922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8" name="Rectangle 21">
            <a:extLst>
              <a:ext uri="{FF2B5EF4-FFF2-40B4-BE49-F238E27FC236}">
                <a16:creationId xmlns:a16="http://schemas.microsoft.com/office/drawing/2014/main" id="{86F3FB6C-B004-3215-0050-D8D0CD6D31B2}"/>
              </a:ext>
            </a:extLst>
          </p:cNvPr>
          <p:cNvSpPr>
            <a:spLocks noChangeArrowheads="1"/>
          </p:cNvSpPr>
          <p:nvPr/>
        </p:nvSpPr>
        <p:spPr bwMode="auto">
          <a:xfrm>
            <a:off x="5672138" y="4283075"/>
            <a:ext cx="1277938" cy="214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000000"/>
                </a:solidFill>
                <a:effectLst/>
                <a:latin typeface="Tahoma" panose="020B0604030504040204" pitchFamily="34" charset="0"/>
              </a:rPr>
              <a:t>Sputtering time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pic>
        <p:nvPicPr>
          <p:cNvPr id="2070" name="Picture 22">
            <a:extLst>
              <a:ext uri="{FF2B5EF4-FFF2-40B4-BE49-F238E27FC236}">
                <a16:creationId xmlns:a16="http://schemas.microsoft.com/office/drawing/2014/main" id="{A8C73540-D2C9-76C5-2B92-7B6A40FDF40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601788" y="4929188"/>
            <a:ext cx="2082800" cy="1392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Rectangle 23">
            <a:extLst>
              <a:ext uri="{FF2B5EF4-FFF2-40B4-BE49-F238E27FC236}">
                <a16:creationId xmlns:a16="http://schemas.microsoft.com/office/drawing/2014/main" id="{AEC12C07-20A7-B4B7-8926-32B2DBB97472}"/>
              </a:ext>
            </a:extLst>
          </p:cNvPr>
          <p:cNvSpPr>
            <a:spLocks noChangeArrowheads="1"/>
          </p:cNvSpPr>
          <p:nvPr/>
        </p:nvSpPr>
        <p:spPr bwMode="auto">
          <a:xfrm>
            <a:off x="2832101" y="5046663"/>
            <a:ext cx="723900" cy="595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20" name="Rectangle 24">
            <a:extLst>
              <a:ext uri="{FF2B5EF4-FFF2-40B4-BE49-F238E27FC236}">
                <a16:creationId xmlns:a16="http://schemas.microsoft.com/office/drawing/2014/main" id="{5486A6AE-0135-7511-F86D-720155B62B22}"/>
              </a:ext>
            </a:extLst>
          </p:cNvPr>
          <p:cNvSpPr>
            <a:spLocks noChangeArrowheads="1"/>
          </p:cNvSpPr>
          <p:nvPr/>
        </p:nvSpPr>
        <p:spPr bwMode="auto">
          <a:xfrm>
            <a:off x="2898776" y="5091113"/>
            <a:ext cx="3873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000000"/>
                </a:solidFill>
                <a:effectLst/>
                <a:latin typeface="Times New Roman" panose="02020603050405020304" pitchFamily="18" charset="0"/>
              </a:rPr>
              <a:t>Poor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21" name="Rectangle 25">
            <a:extLst>
              <a:ext uri="{FF2B5EF4-FFF2-40B4-BE49-F238E27FC236}">
                <a16:creationId xmlns:a16="http://schemas.microsoft.com/office/drawing/2014/main" id="{DB779131-A07E-F069-CE34-1FF15DFAFBF7}"/>
              </a:ext>
            </a:extLst>
          </p:cNvPr>
          <p:cNvSpPr>
            <a:spLocks noChangeArrowheads="1"/>
          </p:cNvSpPr>
          <p:nvPr/>
        </p:nvSpPr>
        <p:spPr bwMode="auto">
          <a:xfrm>
            <a:off x="2898776" y="5267325"/>
            <a:ext cx="438150"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000000"/>
                </a:solidFill>
                <a:effectLst/>
                <a:latin typeface="Times New Roman" panose="02020603050405020304" pitchFamily="18" charset="0"/>
              </a:rPr>
              <a:t>depth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22" name="Rectangle 26">
            <a:extLst>
              <a:ext uri="{FF2B5EF4-FFF2-40B4-BE49-F238E27FC236}">
                <a16:creationId xmlns:a16="http://schemas.microsoft.com/office/drawing/2014/main" id="{36F53733-83ED-2AA6-337B-202A376D2564}"/>
              </a:ext>
            </a:extLst>
          </p:cNvPr>
          <p:cNvSpPr>
            <a:spLocks noChangeArrowheads="1"/>
          </p:cNvSpPr>
          <p:nvPr/>
        </p:nvSpPr>
        <p:spPr bwMode="auto">
          <a:xfrm>
            <a:off x="2898776" y="5443538"/>
            <a:ext cx="671513" cy="20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000000"/>
                </a:solidFill>
                <a:effectLst/>
                <a:latin typeface="Times New Roman" panose="02020603050405020304" pitchFamily="18" charset="0"/>
              </a:rPr>
              <a:t>resolution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25" name="Rectangle 8">
            <a:extLst>
              <a:ext uri="{FF2B5EF4-FFF2-40B4-BE49-F238E27FC236}">
                <a16:creationId xmlns:a16="http://schemas.microsoft.com/office/drawing/2014/main" id="{2EC7973D-C6AF-651E-3519-C991900B4F9A}"/>
              </a:ext>
            </a:extLst>
          </p:cNvPr>
          <p:cNvSpPr>
            <a:spLocks noChangeArrowheads="1"/>
          </p:cNvSpPr>
          <p:nvPr/>
        </p:nvSpPr>
        <p:spPr bwMode="auto">
          <a:xfrm>
            <a:off x="685800" y="179388"/>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quantification-depth profiling: </a:t>
            </a:r>
            <a:r>
              <a:rPr lang="en-US" altLang="zh-TW" sz="2000" dirty="0">
                <a:solidFill>
                  <a:schemeClr val="bg2">
                    <a:lumMod val="40000"/>
                    <a:lumOff val="60000"/>
                  </a:schemeClr>
                </a:solidFill>
                <a:latin typeface="Georgia" panose="02040502050405020303" pitchFamily="18" charset="0"/>
                <a:ea typeface="新細明體" pitchFamily="18" charset="-120"/>
              </a:rPr>
              <a:t>artifacts</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6562" name="Group 5"/>
          <p:cNvGrpSpPr>
            <a:grpSpLocks/>
          </p:cNvGrpSpPr>
          <p:nvPr/>
        </p:nvGrpSpPr>
        <p:grpSpPr bwMode="auto">
          <a:xfrm>
            <a:off x="1219200" y="1447800"/>
            <a:ext cx="7239000" cy="4191000"/>
            <a:chOff x="960" y="1292"/>
            <a:chExt cx="4224" cy="2596"/>
          </a:xfrm>
        </p:grpSpPr>
        <p:sp>
          <p:nvSpPr>
            <p:cNvPr id="66566" name="Rectangle 6"/>
            <p:cNvSpPr>
              <a:spLocks noChangeArrowheads="1"/>
            </p:cNvSpPr>
            <p:nvPr/>
          </p:nvSpPr>
          <p:spPr bwMode="auto">
            <a:xfrm>
              <a:off x="960" y="1296"/>
              <a:ext cx="4224" cy="2592"/>
            </a:xfrm>
            <a:prstGeom prst="rect">
              <a:avLst/>
            </a:prstGeom>
            <a:noFill/>
            <a:ln w="9525">
              <a:noFill/>
              <a:miter lim="800000"/>
              <a:headEnd/>
              <a:tailEnd/>
            </a:ln>
          </p:spPr>
          <p:txBody>
            <a:bodyPr wrap="none" anchor="ctr"/>
            <a:lstStyle/>
            <a:p>
              <a:endParaRPr lang="zh-CN" altLang="zh-CN">
                <a:ea typeface="SimSun" pitchFamily="2" charset="-122"/>
              </a:endParaRPr>
            </a:p>
          </p:txBody>
        </p:sp>
        <p:pic>
          <p:nvPicPr>
            <p:cNvPr id="66567" name="Picture 7"/>
            <p:cNvPicPr>
              <a:picLocks noChangeAspect="1" noChangeArrowheads="1"/>
            </p:cNvPicPr>
            <p:nvPr/>
          </p:nvPicPr>
          <p:blipFill>
            <a:blip r:embed="rId3" cstate="print"/>
            <a:srcRect/>
            <a:stretch>
              <a:fillRect/>
            </a:stretch>
          </p:blipFill>
          <p:spPr bwMode="auto">
            <a:xfrm>
              <a:off x="1008" y="1292"/>
              <a:ext cx="3984" cy="2456"/>
            </a:xfrm>
            <a:prstGeom prst="rect">
              <a:avLst/>
            </a:prstGeom>
            <a:noFill/>
            <a:ln w="9525">
              <a:noFill/>
              <a:miter lim="800000"/>
              <a:headEnd/>
              <a:tailEnd/>
            </a:ln>
          </p:spPr>
        </p:pic>
      </p:grpSp>
      <p:sp>
        <p:nvSpPr>
          <p:cNvPr id="66563" name="Text Box 8"/>
          <p:cNvSpPr txBox="1">
            <a:spLocks noChangeArrowheads="1"/>
          </p:cNvSpPr>
          <p:nvPr/>
        </p:nvSpPr>
        <p:spPr bwMode="auto">
          <a:xfrm>
            <a:off x="990600" y="5791200"/>
            <a:ext cx="7178675" cy="641350"/>
          </a:xfrm>
          <a:prstGeom prst="rect">
            <a:avLst/>
          </a:prstGeom>
          <a:noFill/>
          <a:ln w="9525">
            <a:noFill/>
            <a:miter lim="800000"/>
            <a:headEnd/>
            <a:tailEnd/>
          </a:ln>
        </p:spPr>
        <p:txBody>
          <a:bodyPr>
            <a:spAutoFit/>
          </a:bodyPr>
          <a:lstStyle/>
          <a:p>
            <a:pPr algn="just" eaLnBrk="1" hangingPunct="1">
              <a:tabLst>
                <a:tab pos="0" algn="l"/>
              </a:tabLst>
            </a:pPr>
            <a:r>
              <a:rPr lang="en-US" altLang="zh-CN" dirty="0">
                <a:latin typeface="Georgia" panose="02040502050405020303" pitchFamily="18" charset="0"/>
                <a:ea typeface="SimSun" pitchFamily="2" charset="-122"/>
              </a:rPr>
              <a:t>Use of Zalar rotation during sputtering can reduce the angular effects and improve the </a:t>
            </a:r>
            <a:r>
              <a:rPr lang="en-US" altLang="zh-CN" dirty="0">
                <a:solidFill>
                  <a:srgbClr val="006600"/>
                </a:solidFill>
                <a:latin typeface="Georgia" panose="02040502050405020303" pitchFamily="18" charset="0"/>
                <a:ea typeface="SimSun" pitchFamily="2" charset="-122"/>
              </a:rPr>
              <a:t>depth resolution</a:t>
            </a:r>
            <a:r>
              <a:rPr lang="en-US" altLang="zh-CN" dirty="0">
                <a:latin typeface="Georgia" panose="02040502050405020303" pitchFamily="18" charset="0"/>
                <a:ea typeface="SimSun" pitchFamily="2" charset="-122"/>
              </a:rPr>
              <a:t> of the profile. </a:t>
            </a:r>
          </a:p>
        </p:txBody>
      </p:sp>
      <p:sp>
        <p:nvSpPr>
          <p:cNvPr id="66564" name="Rectangle 9"/>
          <p:cNvSpPr>
            <a:spLocks noChangeArrowheads="1"/>
          </p:cNvSpPr>
          <p:nvPr/>
        </p:nvSpPr>
        <p:spPr bwMode="auto">
          <a:xfrm>
            <a:off x="1112837" y="88405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Zalar rotation</a:t>
            </a:r>
          </a:p>
        </p:txBody>
      </p:sp>
      <p:sp>
        <p:nvSpPr>
          <p:cNvPr id="2" name="Slide Number Placeholder 1">
            <a:extLst>
              <a:ext uri="{FF2B5EF4-FFF2-40B4-BE49-F238E27FC236}">
                <a16:creationId xmlns:a16="http://schemas.microsoft.com/office/drawing/2014/main" id="{7C150E1D-57F1-40B0-8BC3-4C2A9FEB522C}"/>
              </a:ext>
            </a:extLst>
          </p:cNvPr>
          <p:cNvSpPr>
            <a:spLocks noGrp="1"/>
          </p:cNvSpPr>
          <p:nvPr>
            <p:ph type="sldNum" sz="quarter" idx="11"/>
          </p:nvPr>
        </p:nvSpPr>
        <p:spPr/>
        <p:txBody>
          <a:bodyPr/>
          <a:lstStyle/>
          <a:p>
            <a:pPr>
              <a:defRPr/>
            </a:pPr>
            <a:fld id="{EBF73BDF-690D-4725-BA10-A7934ED52EAB}" type="slidenum">
              <a:rPr lang="zh-TW" altLang="en-US" smtClean="0"/>
              <a:pPr>
                <a:defRPr/>
              </a:pPr>
              <a:t>82</a:t>
            </a:fld>
            <a:endParaRPr lang="en-US" altLang="zh-TW"/>
          </a:p>
        </p:txBody>
      </p:sp>
      <p:sp>
        <p:nvSpPr>
          <p:cNvPr id="3" name="Rectangle 8">
            <a:extLst>
              <a:ext uri="{FF2B5EF4-FFF2-40B4-BE49-F238E27FC236}">
                <a16:creationId xmlns:a16="http://schemas.microsoft.com/office/drawing/2014/main" id="{298E3632-6307-3104-B658-9015C4854ABE}"/>
              </a:ext>
            </a:extLst>
          </p:cNvPr>
          <p:cNvSpPr>
            <a:spLocks noChangeArrowheads="1"/>
          </p:cNvSpPr>
          <p:nvPr/>
        </p:nvSpPr>
        <p:spPr bwMode="auto">
          <a:xfrm>
            <a:off x="685800" y="179388"/>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quantification-depth profiling: </a:t>
            </a:r>
            <a:r>
              <a:rPr lang="en-US" altLang="zh-TW" sz="2000" dirty="0">
                <a:solidFill>
                  <a:schemeClr val="bg2">
                    <a:lumMod val="40000"/>
                    <a:lumOff val="60000"/>
                  </a:schemeClr>
                </a:solidFill>
                <a:latin typeface="Georgia" panose="02040502050405020303" pitchFamily="18" charset="0"/>
                <a:ea typeface="新細明體" pitchFamily="18" charset="-120"/>
              </a:rPr>
              <a:t>correction of artifacts</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Text Box 4"/>
          <p:cNvSpPr txBox="1">
            <a:spLocks noChangeArrowheads="1"/>
          </p:cNvSpPr>
          <p:nvPr/>
        </p:nvSpPr>
        <p:spPr bwMode="auto">
          <a:xfrm>
            <a:off x="952500" y="1524000"/>
            <a:ext cx="7483475" cy="4737100"/>
          </a:xfrm>
          <a:prstGeom prst="rect">
            <a:avLst/>
          </a:prstGeom>
          <a:noFill/>
          <a:ln w="9525">
            <a:noFill/>
            <a:miter lim="800000"/>
            <a:headEnd/>
            <a:tailEnd/>
          </a:ln>
        </p:spPr>
        <p:txBody>
          <a:bodyPr>
            <a:spAutoFit/>
          </a:bodyPr>
          <a:lstStyle/>
          <a:p>
            <a:pPr marL="231775" indent="-231775" eaLnBrk="1" hangingPunct="1"/>
            <a:r>
              <a:rPr lang="en-US" altLang="zh-TW" sz="1600" dirty="0">
                <a:solidFill>
                  <a:srgbClr val="006600"/>
                </a:solidFill>
                <a:latin typeface="Georgia" panose="02040502050405020303" pitchFamily="18" charset="0"/>
                <a:ea typeface="SimSun" pitchFamily="2" charset="-122"/>
              </a:rPr>
              <a:t>(</a:t>
            </a:r>
            <a:r>
              <a:rPr lang="en-US" altLang="zh-TW" sz="1600" dirty="0" err="1">
                <a:solidFill>
                  <a:srgbClr val="006600"/>
                </a:solidFill>
                <a:latin typeface="Georgia" panose="02040502050405020303" pitchFamily="18" charset="0"/>
                <a:ea typeface="SimSun" pitchFamily="2" charset="-122"/>
              </a:rPr>
              <a:t>i</a:t>
            </a:r>
            <a:r>
              <a:rPr lang="en-US" altLang="zh-TW" sz="1600" dirty="0">
                <a:solidFill>
                  <a:srgbClr val="006600"/>
                </a:solidFill>
                <a:latin typeface="Georgia" panose="02040502050405020303" pitchFamily="18" charset="0"/>
                <a:ea typeface="SimSun" pitchFamily="2" charset="-122"/>
              </a:rPr>
              <a:t>) Instrumental factors</a:t>
            </a:r>
            <a:endParaRPr lang="en-US" altLang="zh-TW" sz="1600" dirty="0">
              <a:solidFill>
                <a:srgbClr val="006600"/>
              </a:solidFill>
              <a:latin typeface="Georgia" panose="02040502050405020303" pitchFamily="18" charset="0"/>
              <a:ea typeface="新細明體" pitchFamily="18" charset="-120"/>
            </a:endParaRPr>
          </a:p>
          <a:p>
            <a:pPr marL="231775" indent="-231775" eaLnBrk="1" hangingPunct="1"/>
            <a:r>
              <a:rPr lang="en-US" altLang="zh-TW" sz="1600" dirty="0">
                <a:latin typeface="Georgia" panose="02040502050405020303" pitchFamily="18" charset="0"/>
                <a:ea typeface="新細明體" pitchFamily="18" charset="-120"/>
              </a:rPr>
              <a:t>	• Adsorption from residual gas atmosphere </a:t>
            </a:r>
          </a:p>
          <a:p>
            <a:pPr marL="231775" indent="-231775" eaLnBrk="1" hangingPunct="1"/>
            <a:r>
              <a:rPr lang="en-US" altLang="zh-TW" sz="1600" dirty="0">
                <a:latin typeface="Georgia" panose="02040502050405020303" pitchFamily="18" charset="0"/>
                <a:ea typeface="新細明體" pitchFamily="18" charset="-120"/>
              </a:rPr>
              <a:t>	• Re-deposition of sputtered species </a:t>
            </a:r>
          </a:p>
          <a:p>
            <a:pPr marL="231775" indent="-231775" eaLnBrk="1" hangingPunct="1"/>
            <a:r>
              <a:rPr lang="en-US" altLang="zh-TW" sz="1600" dirty="0">
                <a:latin typeface="Georgia" panose="02040502050405020303" pitchFamily="18" charset="0"/>
                <a:ea typeface="新細明體" pitchFamily="18" charset="-120"/>
              </a:rPr>
              <a:t>	• Impurities, non uniformity of ion beam </a:t>
            </a:r>
          </a:p>
          <a:p>
            <a:pPr marL="231775" indent="-231775" eaLnBrk="1" hangingPunct="1"/>
            <a:endParaRPr lang="en-US" altLang="zh-TW" sz="1600" dirty="0">
              <a:latin typeface="Georgia" panose="02040502050405020303" pitchFamily="18" charset="0"/>
              <a:ea typeface="新細明體" pitchFamily="18" charset="-120"/>
            </a:endParaRPr>
          </a:p>
          <a:p>
            <a:pPr marL="231775" indent="-231775" eaLnBrk="1" hangingPunct="1"/>
            <a:r>
              <a:rPr lang="en-US" altLang="zh-TW" sz="1600" dirty="0">
                <a:solidFill>
                  <a:srgbClr val="006600"/>
                </a:solidFill>
                <a:latin typeface="Georgia" panose="02040502050405020303" pitchFamily="18" charset="0"/>
                <a:ea typeface="新細明體" pitchFamily="18" charset="-120"/>
              </a:rPr>
              <a:t>(ii) Sample characteristics</a:t>
            </a:r>
          </a:p>
          <a:p>
            <a:pPr marL="231775" indent="-231775" eaLnBrk="1" hangingPunct="1"/>
            <a:r>
              <a:rPr lang="en-US" altLang="zh-TW" sz="1600" dirty="0">
                <a:latin typeface="Georgia" panose="02040502050405020303" pitchFamily="18" charset="0"/>
                <a:ea typeface="新細明體" pitchFamily="18" charset="-120"/>
              </a:rPr>
              <a:t>    • Depth information (IMFP)</a:t>
            </a:r>
          </a:p>
          <a:p>
            <a:pPr marL="231775" indent="-231775" eaLnBrk="1" hangingPunct="1"/>
            <a:r>
              <a:rPr lang="en-US" altLang="zh-TW" sz="1600" dirty="0">
                <a:latin typeface="Georgia" panose="02040502050405020303" pitchFamily="18" charset="0"/>
                <a:ea typeface="新細明體" pitchFamily="18" charset="-120"/>
              </a:rPr>
              <a:t>    • surface roughness</a:t>
            </a:r>
          </a:p>
          <a:p>
            <a:pPr marL="231775" indent="-231775" eaLnBrk="1" hangingPunct="1"/>
            <a:r>
              <a:rPr lang="en-US" altLang="zh-TW" sz="1600" dirty="0">
                <a:latin typeface="Georgia" panose="02040502050405020303" pitchFamily="18" charset="0"/>
                <a:ea typeface="新細明體" pitchFamily="18" charset="-120"/>
              </a:rPr>
              <a:t>    • Crystalline structure and defects (</a:t>
            </a:r>
            <a:r>
              <a:rPr lang="en-US" altLang="zh-TW" sz="1600" dirty="0" err="1">
                <a:latin typeface="Georgia" panose="02040502050405020303" pitchFamily="18" charset="0"/>
                <a:ea typeface="新細明體" pitchFamily="18" charset="-120"/>
              </a:rPr>
              <a:t>Channelling</a:t>
            </a:r>
            <a:r>
              <a:rPr lang="en-US" altLang="zh-TW" sz="1600" dirty="0">
                <a:latin typeface="Georgia" panose="02040502050405020303" pitchFamily="18" charset="0"/>
                <a:ea typeface="新細明體" pitchFamily="18" charset="-120"/>
              </a:rPr>
              <a:t> )</a:t>
            </a:r>
          </a:p>
          <a:p>
            <a:pPr marL="231775" indent="-231775" eaLnBrk="1" hangingPunct="1"/>
            <a:r>
              <a:rPr lang="en-US" altLang="zh-TW" sz="1600" dirty="0">
                <a:latin typeface="Georgia" panose="02040502050405020303" pitchFamily="18" charset="0"/>
                <a:ea typeface="新細明體" pitchFamily="18" charset="-120"/>
              </a:rPr>
              <a:t>    • Preferential sputtering</a:t>
            </a:r>
          </a:p>
          <a:p>
            <a:pPr marL="231775" indent="-231775" eaLnBrk="1" hangingPunct="1"/>
            <a:r>
              <a:rPr lang="en-US" altLang="zh-TW" sz="1600" dirty="0">
                <a:latin typeface="Georgia" panose="02040502050405020303" pitchFamily="18" charset="0"/>
                <a:ea typeface="新細明體" pitchFamily="18" charset="-120"/>
              </a:rPr>
              <a:t>    • Primary ion implantation </a:t>
            </a:r>
          </a:p>
          <a:p>
            <a:pPr marL="231775" indent="-231775" eaLnBrk="1" hangingPunct="1"/>
            <a:endParaRPr lang="en-US" altLang="zh-TW" sz="1600" dirty="0">
              <a:latin typeface="Georgia" panose="02040502050405020303" pitchFamily="18" charset="0"/>
              <a:ea typeface="新細明體" pitchFamily="18" charset="-120"/>
            </a:endParaRPr>
          </a:p>
          <a:p>
            <a:pPr marL="231775" indent="-231775" eaLnBrk="1" hangingPunct="1"/>
            <a:r>
              <a:rPr lang="en-US" altLang="zh-TW" sz="1600" dirty="0">
                <a:solidFill>
                  <a:srgbClr val="006600"/>
                </a:solidFill>
                <a:latin typeface="Georgia" panose="02040502050405020303" pitchFamily="18" charset="0"/>
                <a:ea typeface="新細明體" pitchFamily="18" charset="-120"/>
              </a:rPr>
              <a:t>(iii) Radiation induced effects</a:t>
            </a:r>
          </a:p>
          <a:p>
            <a:pPr marL="231775" indent="-231775" eaLnBrk="1" hangingPunct="1"/>
            <a:r>
              <a:rPr lang="en-US" altLang="zh-TW" sz="1600" dirty="0">
                <a:latin typeface="Georgia" panose="02040502050405020303" pitchFamily="18" charset="0"/>
                <a:ea typeface="新細明體" pitchFamily="18" charset="-120"/>
              </a:rPr>
              <a:t>    • Atomic mixing </a:t>
            </a:r>
          </a:p>
          <a:p>
            <a:pPr marL="231775" indent="-231775" eaLnBrk="1" hangingPunct="1"/>
            <a:r>
              <a:rPr lang="en-US" altLang="zh-TW" sz="1600" dirty="0">
                <a:latin typeface="Georgia" panose="02040502050405020303" pitchFamily="18" charset="0"/>
                <a:ea typeface="新細明體" pitchFamily="18" charset="-120"/>
              </a:rPr>
              <a:t>    • Sputtering-induced roughness </a:t>
            </a:r>
          </a:p>
          <a:p>
            <a:pPr marL="231775" indent="-231775" eaLnBrk="1" hangingPunct="1"/>
            <a:r>
              <a:rPr lang="en-US" altLang="zh-TW" sz="1600" dirty="0">
                <a:latin typeface="Georgia" panose="02040502050405020303" pitchFamily="18" charset="0"/>
                <a:ea typeface="新細明體" pitchFamily="18" charset="-120"/>
              </a:rPr>
              <a:t>  	• Preferential sputtering and decomposition of compounds </a:t>
            </a:r>
          </a:p>
          <a:p>
            <a:pPr marL="231775" indent="-231775" eaLnBrk="1" hangingPunct="1"/>
            <a:r>
              <a:rPr lang="en-US" altLang="zh-TW" sz="1600" dirty="0">
                <a:latin typeface="Georgia" panose="02040502050405020303" pitchFamily="18" charset="0"/>
                <a:ea typeface="新細明體" pitchFamily="18" charset="-120"/>
              </a:rPr>
              <a:t>  	• Enhanced diffusion and segregation </a:t>
            </a:r>
          </a:p>
          <a:p>
            <a:pPr marL="231775" indent="-231775" eaLnBrk="1" hangingPunct="1"/>
            <a:r>
              <a:rPr lang="en-US" altLang="zh-TW" sz="1600" dirty="0">
                <a:latin typeface="Georgia" panose="02040502050405020303" pitchFamily="18" charset="0"/>
                <a:ea typeface="新細明體" pitchFamily="18" charset="-120"/>
              </a:rPr>
              <a:t>  	• Electron-induced desorption</a:t>
            </a:r>
          </a:p>
          <a:p>
            <a:pPr marL="231775" indent="-231775" eaLnBrk="1" hangingPunct="1"/>
            <a:r>
              <a:rPr lang="en-US" altLang="zh-TW" sz="1600" dirty="0">
                <a:latin typeface="Georgia" panose="02040502050405020303" pitchFamily="18" charset="0"/>
                <a:ea typeface="新細明體" pitchFamily="18" charset="-120"/>
              </a:rPr>
              <a:t>  	• Charging of insulators (analysis distortion; electromigration)</a:t>
            </a:r>
          </a:p>
        </p:txBody>
      </p:sp>
      <p:sp>
        <p:nvSpPr>
          <p:cNvPr id="67587" name="Rectangle 6"/>
          <p:cNvSpPr>
            <a:spLocks noChangeArrowheads="1"/>
          </p:cNvSpPr>
          <p:nvPr/>
        </p:nvSpPr>
        <p:spPr bwMode="auto">
          <a:xfrm>
            <a:off x="1104900" y="914400"/>
            <a:ext cx="6934200" cy="457200"/>
          </a:xfrm>
          <a:prstGeom prst="rect">
            <a:avLst/>
          </a:prstGeom>
          <a:noFill/>
          <a:ln w="9525">
            <a:noFill/>
            <a:miter lim="800000"/>
            <a:headEnd/>
            <a:tailEnd/>
          </a:ln>
        </p:spPr>
        <p:txBody>
          <a:bodyPr>
            <a:spAutoFit/>
          </a:bodyPr>
          <a:lstStyle/>
          <a:p>
            <a:pPr algn="ctr" eaLnBrk="1" hangingPunct="1"/>
            <a:r>
              <a:rPr lang="en-US" altLang="zh-TW" sz="2400">
                <a:latin typeface="Georgia" panose="02040502050405020303" pitchFamily="18" charset="0"/>
                <a:ea typeface="新細明體" pitchFamily="18" charset="-120"/>
              </a:rPr>
              <a:t>Factors affecting the depth resolution</a:t>
            </a:r>
          </a:p>
        </p:txBody>
      </p:sp>
      <p:sp>
        <p:nvSpPr>
          <p:cNvPr id="2" name="Slide Number Placeholder 1">
            <a:extLst>
              <a:ext uri="{FF2B5EF4-FFF2-40B4-BE49-F238E27FC236}">
                <a16:creationId xmlns:a16="http://schemas.microsoft.com/office/drawing/2014/main" id="{DBEE1B71-418B-4387-962E-D1CF776B7D3C}"/>
              </a:ext>
            </a:extLst>
          </p:cNvPr>
          <p:cNvSpPr>
            <a:spLocks noGrp="1"/>
          </p:cNvSpPr>
          <p:nvPr>
            <p:ph type="sldNum" sz="quarter" idx="11"/>
          </p:nvPr>
        </p:nvSpPr>
        <p:spPr>
          <a:xfrm>
            <a:off x="6515100" y="6096000"/>
            <a:ext cx="2133600" cy="457200"/>
          </a:xfrm>
        </p:spPr>
        <p:txBody>
          <a:bodyPr/>
          <a:lstStyle/>
          <a:p>
            <a:pPr>
              <a:defRPr/>
            </a:pPr>
            <a:fld id="{EBF73BDF-690D-4725-BA10-A7934ED52EAB}" type="slidenum">
              <a:rPr lang="zh-TW" altLang="en-US" smtClean="0">
                <a:latin typeface="Georgia" panose="02040502050405020303" pitchFamily="18" charset="0"/>
              </a:rPr>
              <a:pPr>
                <a:defRPr/>
              </a:pPr>
              <a:t>83</a:t>
            </a:fld>
            <a:endParaRPr lang="en-US" altLang="zh-TW">
              <a:latin typeface="Georgia" panose="02040502050405020303" pitchFamily="18" charset="0"/>
            </a:endParaRPr>
          </a:p>
        </p:txBody>
      </p:sp>
      <p:sp>
        <p:nvSpPr>
          <p:cNvPr id="3" name="Rectangle 8">
            <a:extLst>
              <a:ext uri="{FF2B5EF4-FFF2-40B4-BE49-F238E27FC236}">
                <a16:creationId xmlns:a16="http://schemas.microsoft.com/office/drawing/2014/main" id="{3B56D4A4-1E77-33AC-B966-5FC265D1D7A7}"/>
              </a:ext>
            </a:extLst>
          </p:cNvPr>
          <p:cNvSpPr>
            <a:spLocks noChangeArrowheads="1"/>
          </p:cNvSpPr>
          <p:nvPr/>
        </p:nvSpPr>
        <p:spPr bwMode="auto">
          <a:xfrm>
            <a:off x="685800" y="179388"/>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quantification-depth profiling: </a:t>
            </a:r>
            <a:r>
              <a:rPr lang="en-US" altLang="zh-TW" sz="2000" dirty="0">
                <a:solidFill>
                  <a:schemeClr val="bg2">
                    <a:lumMod val="40000"/>
                    <a:lumOff val="60000"/>
                  </a:schemeClr>
                </a:solidFill>
                <a:latin typeface="Georgia" panose="02040502050405020303" pitchFamily="18" charset="0"/>
                <a:ea typeface="新細明體" pitchFamily="18" charset="-120"/>
              </a:rPr>
              <a:t>cautions</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410" name="Object 4"/>
          <p:cNvGraphicFramePr>
            <a:graphicFrameLocks noChangeAspect="1"/>
          </p:cNvGraphicFramePr>
          <p:nvPr>
            <p:extLst>
              <p:ext uri="{D42A27DB-BD31-4B8C-83A1-F6EECF244321}">
                <p14:modId xmlns:p14="http://schemas.microsoft.com/office/powerpoint/2010/main" val="1125009220"/>
              </p:ext>
            </p:extLst>
          </p:nvPr>
        </p:nvGraphicFramePr>
        <p:xfrm>
          <a:off x="4267200" y="2896121"/>
          <a:ext cx="3476487" cy="873871"/>
        </p:xfrm>
        <a:graphic>
          <a:graphicData uri="http://schemas.openxmlformats.org/presentationml/2006/ole">
            <mc:AlternateContent xmlns:mc="http://schemas.openxmlformats.org/markup-compatibility/2006">
              <mc:Choice xmlns:v="urn:schemas-microsoft-com:vml" Requires="v">
                <p:oleObj r:id="rId2" imgW="2235200" imgH="558800" progId="Equation.3">
                  <p:embed/>
                </p:oleObj>
              </mc:Choice>
              <mc:Fallback>
                <p:oleObj r:id="rId2" imgW="2235200" imgH="558800" progId="Equation.3">
                  <p:embed/>
                  <p:pic>
                    <p:nvPicPr>
                      <p:cNvPr id="1741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67200" y="2896121"/>
                        <a:ext cx="3476487" cy="873871"/>
                      </a:xfrm>
                      <a:prstGeom prst="rect">
                        <a:avLst/>
                      </a:prstGeom>
                      <a:noFill/>
                    </p:spPr>
                  </p:pic>
                </p:oleObj>
              </mc:Fallback>
            </mc:AlternateContent>
          </a:graphicData>
        </a:graphic>
      </p:graphicFrame>
      <p:sp>
        <p:nvSpPr>
          <p:cNvPr id="17411" name="Text Box 5"/>
          <p:cNvSpPr txBox="1">
            <a:spLocks noChangeArrowheads="1"/>
          </p:cNvSpPr>
          <p:nvPr/>
        </p:nvSpPr>
        <p:spPr bwMode="auto">
          <a:xfrm>
            <a:off x="639762" y="4309408"/>
            <a:ext cx="7940675" cy="1938992"/>
          </a:xfrm>
          <a:prstGeom prst="rect">
            <a:avLst/>
          </a:prstGeom>
          <a:noFill/>
          <a:ln w="9525">
            <a:noFill/>
            <a:miter lim="800000"/>
            <a:headEnd/>
            <a:tailEnd/>
          </a:ln>
        </p:spPr>
        <p:txBody>
          <a:bodyPr wrap="square">
            <a:spAutoFit/>
          </a:bodyPr>
          <a:lstStyle/>
          <a:p>
            <a:pPr algn="just" eaLnBrk="1" hangingPunct="1"/>
            <a:r>
              <a:rPr lang="en-US" altLang="zh-TW" sz="2000" dirty="0">
                <a:latin typeface="Georgia" panose="02040502050405020303" pitchFamily="18" charset="0"/>
                <a:ea typeface="新細明體" pitchFamily="18" charset="-120"/>
              </a:rPr>
              <a:t>The intensity of a signal will vary with the angle </a:t>
            </a:r>
            <a:r>
              <a:rPr lang="en-US" altLang="zh-TW" sz="2000" i="1" dirty="0">
                <a:latin typeface="Georgia" panose="02040502050405020303" pitchFamily="18" charset="0"/>
                <a:ea typeface="新細明體" pitchFamily="18" charset="-120"/>
                <a:sym typeface="Symbol" pitchFamily="18" charset="2"/>
              </a:rPr>
              <a:t></a:t>
            </a:r>
            <a:r>
              <a:rPr lang="en-US" altLang="zh-TW" sz="2000" dirty="0">
                <a:latin typeface="Georgia" panose="02040502050405020303" pitchFamily="18" charset="0"/>
                <a:ea typeface="新細明體" pitchFamily="18" charset="-120"/>
              </a:rPr>
              <a:t>, the angle between the </a:t>
            </a:r>
            <a:r>
              <a:rPr lang="en-US" altLang="zh-TW" sz="2000" i="1" dirty="0">
                <a:latin typeface="Georgia" panose="02040502050405020303" pitchFamily="18" charset="0"/>
                <a:ea typeface="新細明體" pitchFamily="18" charset="-120"/>
              </a:rPr>
              <a:t>surface normal</a:t>
            </a:r>
            <a:r>
              <a:rPr lang="en-US" altLang="zh-TW" sz="2000" dirty="0">
                <a:latin typeface="Georgia" panose="02040502050405020303" pitchFamily="18" charset="0"/>
                <a:ea typeface="新細明體" pitchFamily="18" charset="-120"/>
              </a:rPr>
              <a:t> and </a:t>
            </a:r>
            <a:r>
              <a:rPr lang="en-US" altLang="zh-TW" sz="2000" i="1" dirty="0">
                <a:latin typeface="Georgia" panose="02040502050405020303" pitchFamily="18" charset="0"/>
                <a:ea typeface="新細明體" pitchFamily="18" charset="-120"/>
              </a:rPr>
              <a:t>the detector</a:t>
            </a:r>
            <a:r>
              <a:rPr lang="en-US" altLang="zh-TW" sz="2000" dirty="0">
                <a:latin typeface="Georgia" panose="02040502050405020303" pitchFamily="18" charset="0"/>
                <a:ea typeface="新細明體" pitchFamily="18" charset="-120"/>
              </a:rPr>
              <a:t> (the </a:t>
            </a:r>
            <a:r>
              <a:rPr lang="en-US" altLang="zh-TW" sz="2000" i="1" dirty="0">
                <a:latin typeface="Georgia" panose="02040502050405020303" pitchFamily="18" charset="0"/>
                <a:ea typeface="新細明體" pitchFamily="18" charset="-120"/>
              </a:rPr>
              <a:t>polar</a:t>
            </a:r>
            <a:r>
              <a:rPr lang="en-US" altLang="zh-TW" sz="2000" dirty="0">
                <a:latin typeface="Georgia" panose="02040502050405020303" pitchFamily="18" charset="0"/>
                <a:ea typeface="新細明體" pitchFamily="18" charset="-120"/>
              </a:rPr>
              <a:t> angle).  Therefore, by changing </a:t>
            </a:r>
            <a:r>
              <a:rPr lang="en-US" altLang="zh-TW" sz="2000" i="1" dirty="0">
                <a:latin typeface="Georgia" panose="02040502050405020303" pitchFamily="18" charset="0"/>
                <a:ea typeface="新細明體" pitchFamily="18" charset="-120"/>
                <a:sym typeface="Symbol" pitchFamily="18" charset="2"/>
              </a:rPr>
              <a:t></a:t>
            </a:r>
            <a:r>
              <a:rPr lang="en-US" altLang="zh-TW" sz="2000" dirty="0">
                <a:latin typeface="Georgia" panose="02040502050405020303" pitchFamily="18" charset="0"/>
                <a:ea typeface="新細明體" pitchFamily="18" charset="-120"/>
              </a:rPr>
              <a:t>, we can obtain the intensity variation of a signal originated from a particular element.  As other factors being constant, we can eventually determine the atomic concentration of that element based on the intensity variation with the polar angle. </a:t>
            </a:r>
            <a:endParaRPr lang="en-US" altLang="zh-CN" sz="2000" dirty="0">
              <a:latin typeface="Georgia" panose="02040502050405020303" pitchFamily="18" charset="0"/>
              <a:ea typeface="SimSun" pitchFamily="2" charset="-122"/>
            </a:endParaRPr>
          </a:p>
        </p:txBody>
      </p:sp>
      <p:sp>
        <p:nvSpPr>
          <p:cNvPr id="17412" name="Rectangle 6"/>
          <p:cNvSpPr>
            <a:spLocks noChangeArrowheads="1"/>
          </p:cNvSpPr>
          <p:nvPr/>
        </p:nvSpPr>
        <p:spPr bwMode="auto">
          <a:xfrm>
            <a:off x="3657600" y="2302894"/>
            <a:ext cx="4495800" cy="396875"/>
          </a:xfrm>
          <a:prstGeom prst="rect">
            <a:avLst/>
          </a:prstGeom>
          <a:noFill/>
          <a:ln w="9525">
            <a:noFill/>
            <a:miter lim="800000"/>
            <a:headEnd/>
            <a:tailEnd/>
          </a:ln>
        </p:spPr>
        <p:txBody>
          <a:bodyPr wrap="square">
            <a:spAutoFit/>
          </a:bodyPr>
          <a:lstStyle/>
          <a:p>
            <a:pPr algn="ctr" eaLnBrk="1" hangingPunct="1"/>
            <a:r>
              <a:rPr lang="en-US" altLang="zh-TW" sz="2000" dirty="0">
                <a:solidFill>
                  <a:srgbClr val="006600"/>
                </a:solidFill>
                <a:latin typeface="Georgia" panose="02040502050405020303" pitchFamily="18" charset="0"/>
                <a:ea typeface="新細明體" pitchFamily="18" charset="-120"/>
              </a:rPr>
              <a:t>Variation of intensity with </a:t>
            </a:r>
            <a:r>
              <a:rPr lang="en-US" altLang="zh-TW" sz="2000" i="1" dirty="0">
                <a:solidFill>
                  <a:srgbClr val="006600"/>
                </a:solidFill>
                <a:latin typeface="Symbol" panose="05050102010706020507" pitchFamily="18" charset="2"/>
                <a:ea typeface="新細明體" pitchFamily="18" charset="-120"/>
              </a:rPr>
              <a:t>q</a:t>
            </a:r>
          </a:p>
        </p:txBody>
      </p:sp>
      <p:sp>
        <p:nvSpPr>
          <p:cNvPr id="17413" name="Rectangle 7"/>
          <p:cNvSpPr>
            <a:spLocks noChangeArrowheads="1"/>
          </p:cNvSpPr>
          <p:nvPr/>
        </p:nvSpPr>
        <p:spPr bwMode="auto">
          <a:xfrm>
            <a:off x="914400" y="95166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Angle-resolved depth profiling</a:t>
            </a:r>
          </a:p>
        </p:txBody>
      </p:sp>
      <p:sp>
        <p:nvSpPr>
          <p:cNvPr id="2" name="Slide Number Placeholder 1">
            <a:extLst>
              <a:ext uri="{FF2B5EF4-FFF2-40B4-BE49-F238E27FC236}">
                <a16:creationId xmlns:a16="http://schemas.microsoft.com/office/drawing/2014/main" id="{17E1B219-AF0D-4FBA-9B9B-8D6B316D50A7}"/>
              </a:ext>
            </a:extLst>
          </p:cNvPr>
          <p:cNvSpPr>
            <a:spLocks noGrp="1"/>
          </p:cNvSpPr>
          <p:nvPr>
            <p:ph type="sldNum" sz="quarter" idx="11"/>
          </p:nvPr>
        </p:nvSpPr>
        <p:spPr/>
        <p:txBody>
          <a:bodyPr/>
          <a:lstStyle/>
          <a:p>
            <a:pPr>
              <a:defRPr/>
            </a:pPr>
            <a:fld id="{EBF73BDF-690D-4725-BA10-A7934ED52EAB}" type="slidenum">
              <a:rPr lang="zh-TW" altLang="en-US" smtClean="0"/>
              <a:pPr>
                <a:defRPr/>
              </a:pPr>
              <a:t>84</a:t>
            </a:fld>
            <a:endParaRPr lang="en-US" altLang="zh-TW"/>
          </a:p>
        </p:txBody>
      </p:sp>
      <p:sp>
        <p:nvSpPr>
          <p:cNvPr id="3" name="Rectangle 8">
            <a:extLst>
              <a:ext uri="{FF2B5EF4-FFF2-40B4-BE49-F238E27FC236}">
                <a16:creationId xmlns:a16="http://schemas.microsoft.com/office/drawing/2014/main" id="{335315F0-2DA0-E8F5-8C46-E8BED83FDECE}"/>
              </a:ext>
            </a:extLst>
          </p:cNvPr>
          <p:cNvSpPr>
            <a:spLocks noChangeArrowheads="1"/>
          </p:cNvSpPr>
          <p:nvPr/>
        </p:nvSpPr>
        <p:spPr bwMode="auto">
          <a:xfrm>
            <a:off x="685800" y="179388"/>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quantification-angle resolved depth profiling</a:t>
            </a:r>
            <a:endParaRPr lang="en-US" altLang="zh-TW" sz="2000" dirty="0">
              <a:solidFill>
                <a:schemeClr val="bg2">
                  <a:lumMod val="40000"/>
                  <a:lumOff val="60000"/>
                </a:schemeClr>
              </a:solidFill>
              <a:latin typeface="Georgia" panose="02040502050405020303" pitchFamily="18" charset="0"/>
              <a:ea typeface="新細明體" pitchFamily="18" charset="-120"/>
            </a:endParaRPr>
          </a:p>
        </p:txBody>
      </p:sp>
      <p:pic>
        <p:nvPicPr>
          <p:cNvPr id="16" name="Picture 15">
            <a:extLst>
              <a:ext uri="{FF2B5EF4-FFF2-40B4-BE49-F238E27FC236}">
                <a16:creationId xmlns:a16="http://schemas.microsoft.com/office/drawing/2014/main" id="{CB7134F5-0CAA-E375-0463-9D45B52053DC}"/>
              </a:ext>
            </a:extLst>
          </p:cNvPr>
          <p:cNvPicPr>
            <a:picLocks noChangeAspect="1"/>
          </p:cNvPicPr>
          <p:nvPr/>
        </p:nvPicPr>
        <p:blipFill>
          <a:blip r:embed="rId4"/>
          <a:stretch>
            <a:fillRect/>
          </a:stretch>
        </p:blipFill>
        <p:spPr>
          <a:xfrm>
            <a:off x="409713" y="1573944"/>
            <a:ext cx="3476487" cy="2556808"/>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8610" name="Group 4"/>
          <p:cNvGrpSpPr>
            <a:grpSpLocks/>
          </p:cNvGrpSpPr>
          <p:nvPr/>
        </p:nvGrpSpPr>
        <p:grpSpPr bwMode="auto">
          <a:xfrm>
            <a:off x="609600" y="1981200"/>
            <a:ext cx="8229600" cy="2590800"/>
            <a:chOff x="480" y="1056"/>
            <a:chExt cx="5040" cy="1488"/>
          </a:xfrm>
        </p:grpSpPr>
        <p:sp>
          <p:nvSpPr>
            <p:cNvPr id="68614" name="Rectangle 5"/>
            <p:cNvSpPr>
              <a:spLocks noChangeArrowheads="1"/>
            </p:cNvSpPr>
            <p:nvPr/>
          </p:nvSpPr>
          <p:spPr bwMode="auto">
            <a:xfrm>
              <a:off x="480" y="1056"/>
              <a:ext cx="5040" cy="1488"/>
            </a:xfrm>
            <a:prstGeom prst="rect">
              <a:avLst/>
            </a:prstGeom>
            <a:noFill/>
            <a:ln w="9525">
              <a:noFill/>
              <a:miter lim="800000"/>
              <a:headEnd/>
              <a:tailEnd/>
            </a:ln>
          </p:spPr>
          <p:txBody>
            <a:bodyPr wrap="none" anchor="ctr"/>
            <a:lstStyle/>
            <a:p>
              <a:endParaRPr lang="zh-CN" altLang="zh-CN">
                <a:latin typeface="Georgia" panose="02040502050405020303" pitchFamily="18" charset="0"/>
                <a:ea typeface="SimSun" pitchFamily="2" charset="-122"/>
              </a:endParaRPr>
            </a:p>
          </p:txBody>
        </p:sp>
        <p:pic>
          <p:nvPicPr>
            <p:cNvPr id="68615" name="Picture 6"/>
            <p:cNvPicPr>
              <a:picLocks noChangeAspect="1" noChangeArrowheads="1"/>
            </p:cNvPicPr>
            <p:nvPr/>
          </p:nvPicPr>
          <p:blipFill>
            <a:blip r:embed="rId2" cstate="print"/>
            <a:srcRect/>
            <a:stretch>
              <a:fillRect/>
            </a:stretch>
          </p:blipFill>
          <p:spPr bwMode="auto">
            <a:xfrm>
              <a:off x="576" y="1584"/>
              <a:ext cx="1078" cy="608"/>
            </a:xfrm>
            <a:prstGeom prst="rect">
              <a:avLst/>
            </a:prstGeom>
            <a:noFill/>
            <a:ln w="9525">
              <a:noFill/>
              <a:miter lim="800000"/>
              <a:headEnd/>
              <a:tailEnd/>
            </a:ln>
          </p:spPr>
        </p:pic>
        <p:pic>
          <p:nvPicPr>
            <p:cNvPr id="68616" name="Picture 7"/>
            <p:cNvPicPr>
              <a:picLocks noChangeAspect="1" noChangeArrowheads="1"/>
            </p:cNvPicPr>
            <p:nvPr/>
          </p:nvPicPr>
          <p:blipFill>
            <a:blip r:embed="rId3" cstate="print"/>
            <a:srcRect/>
            <a:stretch>
              <a:fillRect/>
            </a:stretch>
          </p:blipFill>
          <p:spPr bwMode="auto">
            <a:xfrm>
              <a:off x="1872" y="1152"/>
              <a:ext cx="3455" cy="1319"/>
            </a:xfrm>
            <a:prstGeom prst="rect">
              <a:avLst/>
            </a:prstGeom>
            <a:noFill/>
            <a:ln w="9525">
              <a:noFill/>
              <a:miter lim="800000"/>
              <a:headEnd/>
              <a:tailEnd/>
            </a:ln>
          </p:spPr>
        </p:pic>
      </p:grpSp>
      <p:sp>
        <p:nvSpPr>
          <p:cNvPr id="68611" name="Text Box 8"/>
          <p:cNvSpPr txBox="1">
            <a:spLocks noChangeArrowheads="1"/>
          </p:cNvSpPr>
          <p:nvPr/>
        </p:nvSpPr>
        <p:spPr bwMode="auto">
          <a:xfrm>
            <a:off x="457200" y="4953000"/>
            <a:ext cx="8229599" cy="1015663"/>
          </a:xfrm>
          <a:prstGeom prst="rect">
            <a:avLst/>
          </a:prstGeom>
          <a:noFill/>
          <a:ln w="9525">
            <a:noFill/>
            <a:miter lim="800000"/>
            <a:headEnd/>
            <a:tailEnd/>
          </a:ln>
        </p:spPr>
        <p:txBody>
          <a:bodyPr wrap="square">
            <a:spAutoFit/>
          </a:bodyPr>
          <a:lstStyle/>
          <a:p>
            <a:pPr marL="176213" indent="-176213" algn="just" eaLnBrk="1" hangingPunct="1"/>
            <a:r>
              <a:rPr lang="en-US" altLang="zh-TW" sz="2000" dirty="0">
                <a:latin typeface="Georgia" panose="02040502050405020303" pitchFamily="18" charset="0"/>
                <a:ea typeface="新細明體" pitchFamily="18" charset="-120"/>
              </a:rPr>
              <a:t>The advantage of angle-resolved depth profiling is that this technique is </a:t>
            </a:r>
            <a:r>
              <a:rPr lang="en-US" altLang="zh-TW" sz="2000" dirty="0">
                <a:solidFill>
                  <a:srgbClr val="006600"/>
                </a:solidFill>
                <a:latin typeface="Georgia" panose="02040502050405020303" pitchFamily="18" charset="0"/>
                <a:ea typeface="新細明體" pitchFamily="18" charset="-120"/>
              </a:rPr>
              <a:t>non-destructive</a:t>
            </a:r>
            <a:r>
              <a:rPr lang="en-US" altLang="zh-TW" sz="2000" dirty="0">
                <a:latin typeface="Georgia" panose="02040502050405020303" pitchFamily="18" charset="0"/>
                <a:ea typeface="新細明體" pitchFamily="18" charset="-120"/>
              </a:rPr>
              <a:t>, but </a:t>
            </a:r>
            <a:r>
              <a:rPr lang="en-US" altLang="zh-TW" sz="2000" dirty="0">
                <a:solidFill>
                  <a:srgbClr val="006600"/>
                </a:solidFill>
                <a:latin typeface="Georgia" panose="02040502050405020303" pitchFamily="18" charset="0"/>
                <a:ea typeface="新細明體" pitchFamily="18" charset="-120"/>
              </a:rPr>
              <a:t>the sampling depth is limited to the in-depth detection limit of XPS</a:t>
            </a:r>
            <a:r>
              <a:rPr lang="en-US" altLang="zh-TW" sz="2000" dirty="0">
                <a:latin typeface="Georgia" panose="02040502050405020303" pitchFamily="18" charset="0"/>
                <a:ea typeface="新細明體" pitchFamily="18" charset="-120"/>
              </a:rPr>
              <a:t>. </a:t>
            </a:r>
            <a:endParaRPr lang="en-US" altLang="zh-CN" sz="2000" dirty="0">
              <a:latin typeface="Georgia" panose="02040502050405020303" pitchFamily="18" charset="0"/>
              <a:ea typeface="SimSun" pitchFamily="2" charset="-122"/>
            </a:endParaRPr>
          </a:p>
        </p:txBody>
      </p:sp>
      <p:sp>
        <p:nvSpPr>
          <p:cNvPr id="68612" name="Rectangle 10"/>
          <p:cNvSpPr>
            <a:spLocks noChangeArrowheads="1"/>
          </p:cNvSpPr>
          <p:nvPr/>
        </p:nvSpPr>
        <p:spPr bwMode="auto">
          <a:xfrm>
            <a:off x="1143000" y="1066800"/>
            <a:ext cx="6934200" cy="457200"/>
          </a:xfrm>
          <a:prstGeom prst="rect">
            <a:avLst/>
          </a:prstGeom>
          <a:noFill/>
          <a:ln w="9525">
            <a:noFill/>
            <a:miter lim="800000"/>
            <a:headEnd/>
            <a:tailEnd/>
          </a:ln>
        </p:spPr>
        <p:txBody>
          <a:bodyPr>
            <a:spAutoFit/>
          </a:bodyPr>
          <a:lstStyle/>
          <a:p>
            <a:pPr algn="ctr" eaLnBrk="1" hangingPunct="1"/>
            <a:r>
              <a:rPr lang="en-US" altLang="zh-TW" sz="2400">
                <a:latin typeface="Georgia" panose="02040502050405020303" pitchFamily="18" charset="0"/>
                <a:ea typeface="新細明體" pitchFamily="18" charset="-120"/>
              </a:rPr>
              <a:t>Angle-resolved depth profiling</a:t>
            </a:r>
          </a:p>
        </p:txBody>
      </p:sp>
      <p:sp>
        <p:nvSpPr>
          <p:cNvPr id="2" name="Slide Number Placeholder 1">
            <a:extLst>
              <a:ext uri="{FF2B5EF4-FFF2-40B4-BE49-F238E27FC236}">
                <a16:creationId xmlns:a16="http://schemas.microsoft.com/office/drawing/2014/main" id="{1157EE99-70CF-4248-8F94-BCC5901078AB}"/>
              </a:ext>
            </a:extLst>
          </p:cNvPr>
          <p:cNvSpPr>
            <a:spLocks noGrp="1"/>
          </p:cNvSpPr>
          <p:nvPr>
            <p:ph type="sldNum" sz="quarter" idx="11"/>
          </p:nvPr>
        </p:nvSpPr>
        <p:spPr/>
        <p:txBody>
          <a:bodyPr/>
          <a:lstStyle/>
          <a:p>
            <a:pPr>
              <a:defRPr/>
            </a:pPr>
            <a:fld id="{EBF73BDF-690D-4725-BA10-A7934ED52EAB}" type="slidenum">
              <a:rPr lang="zh-TW" altLang="en-US" smtClean="0"/>
              <a:pPr>
                <a:defRPr/>
              </a:pPr>
              <a:t>85</a:t>
            </a:fld>
            <a:endParaRPr lang="en-US" altLang="zh-TW"/>
          </a:p>
        </p:txBody>
      </p:sp>
      <p:sp>
        <p:nvSpPr>
          <p:cNvPr id="3" name="Rectangle 8">
            <a:extLst>
              <a:ext uri="{FF2B5EF4-FFF2-40B4-BE49-F238E27FC236}">
                <a16:creationId xmlns:a16="http://schemas.microsoft.com/office/drawing/2014/main" id="{F4E2C049-2181-598F-3543-112B2533B1C2}"/>
              </a:ext>
            </a:extLst>
          </p:cNvPr>
          <p:cNvSpPr>
            <a:spLocks noChangeArrowheads="1"/>
          </p:cNvSpPr>
          <p:nvPr/>
        </p:nvSpPr>
        <p:spPr bwMode="auto">
          <a:xfrm>
            <a:off x="685800" y="179388"/>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quantification-angle resolved depth profiling: </a:t>
            </a:r>
            <a:r>
              <a:rPr lang="en-US" altLang="zh-TW" sz="2000" dirty="0">
                <a:solidFill>
                  <a:schemeClr val="bg2">
                    <a:lumMod val="40000"/>
                    <a:lumOff val="60000"/>
                  </a:schemeClr>
                </a:solidFill>
                <a:latin typeface="Georgia" panose="02040502050405020303" pitchFamily="18" charset="0"/>
                <a:ea typeface="新細明體" pitchFamily="18" charset="-120"/>
              </a:rPr>
              <a:t>example</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634" name="Group 4"/>
          <p:cNvGrpSpPr>
            <a:grpSpLocks/>
          </p:cNvGrpSpPr>
          <p:nvPr/>
        </p:nvGrpSpPr>
        <p:grpSpPr bwMode="auto">
          <a:xfrm>
            <a:off x="533400" y="1828800"/>
            <a:ext cx="8001000" cy="3429000"/>
            <a:chOff x="576" y="1248"/>
            <a:chExt cx="3648" cy="1488"/>
          </a:xfrm>
        </p:grpSpPr>
        <p:sp>
          <p:nvSpPr>
            <p:cNvPr id="69638" name="Rectangle 5"/>
            <p:cNvSpPr>
              <a:spLocks noChangeArrowheads="1"/>
            </p:cNvSpPr>
            <p:nvPr/>
          </p:nvSpPr>
          <p:spPr bwMode="auto">
            <a:xfrm>
              <a:off x="576" y="1248"/>
              <a:ext cx="3648" cy="1488"/>
            </a:xfrm>
            <a:prstGeom prst="rect">
              <a:avLst/>
            </a:prstGeom>
            <a:noFill/>
            <a:ln w="9525">
              <a:solidFill>
                <a:schemeClr val="tx1"/>
              </a:solidFill>
              <a:miter lim="800000"/>
              <a:headEnd/>
              <a:tailEnd/>
            </a:ln>
          </p:spPr>
          <p:txBody>
            <a:bodyPr wrap="none" anchor="ctr"/>
            <a:lstStyle/>
            <a:p>
              <a:endParaRPr lang="zh-CN" altLang="zh-CN">
                <a:latin typeface="Georgia" panose="02040502050405020303" pitchFamily="18" charset="0"/>
                <a:ea typeface="SimSun" pitchFamily="2" charset="-122"/>
              </a:endParaRPr>
            </a:p>
          </p:txBody>
        </p:sp>
        <p:pic>
          <p:nvPicPr>
            <p:cNvPr id="69639" name="Picture 6"/>
            <p:cNvPicPr>
              <a:picLocks noChangeAspect="1" noChangeArrowheads="1"/>
            </p:cNvPicPr>
            <p:nvPr/>
          </p:nvPicPr>
          <p:blipFill>
            <a:blip r:embed="rId2" cstate="print"/>
            <a:srcRect/>
            <a:stretch>
              <a:fillRect/>
            </a:stretch>
          </p:blipFill>
          <p:spPr bwMode="auto">
            <a:xfrm>
              <a:off x="696" y="1365"/>
              <a:ext cx="3452" cy="1245"/>
            </a:xfrm>
            <a:prstGeom prst="rect">
              <a:avLst/>
            </a:prstGeom>
            <a:noFill/>
            <a:ln w="9525">
              <a:noFill/>
              <a:miter lim="800000"/>
              <a:headEnd/>
              <a:tailEnd/>
            </a:ln>
          </p:spPr>
        </p:pic>
      </p:grpSp>
      <p:sp>
        <p:nvSpPr>
          <p:cNvPr id="69635" name="Rectangle 7"/>
          <p:cNvSpPr>
            <a:spLocks noChangeArrowheads="1"/>
          </p:cNvSpPr>
          <p:nvPr/>
        </p:nvSpPr>
        <p:spPr bwMode="auto">
          <a:xfrm>
            <a:off x="1143000" y="990600"/>
            <a:ext cx="6934200" cy="457200"/>
          </a:xfrm>
          <a:prstGeom prst="rect">
            <a:avLst/>
          </a:prstGeom>
          <a:noFill/>
          <a:ln w="9525">
            <a:noFill/>
            <a:miter lim="800000"/>
            <a:headEnd/>
            <a:tailEnd/>
          </a:ln>
        </p:spPr>
        <p:txBody>
          <a:bodyPr>
            <a:spAutoFit/>
          </a:bodyPr>
          <a:lstStyle/>
          <a:p>
            <a:pPr algn="ctr" eaLnBrk="1" hangingPunct="1"/>
            <a:r>
              <a:rPr lang="en-US" altLang="zh-TW" sz="2400">
                <a:latin typeface="Georgia" panose="02040502050405020303" pitchFamily="18" charset="0"/>
                <a:ea typeface="新細明體" pitchFamily="18" charset="-120"/>
              </a:rPr>
              <a:t>Chemical mapping using XPS</a:t>
            </a:r>
          </a:p>
        </p:txBody>
      </p:sp>
      <p:sp>
        <p:nvSpPr>
          <p:cNvPr id="69636" name="Text Box 8"/>
          <p:cNvSpPr txBox="1">
            <a:spLocks noChangeArrowheads="1"/>
          </p:cNvSpPr>
          <p:nvPr/>
        </p:nvSpPr>
        <p:spPr bwMode="auto">
          <a:xfrm>
            <a:off x="838200" y="5410200"/>
            <a:ext cx="7712075" cy="641350"/>
          </a:xfrm>
          <a:prstGeom prst="rect">
            <a:avLst/>
          </a:prstGeom>
          <a:noFill/>
          <a:ln w="9525">
            <a:noFill/>
            <a:miter lim="800000"/>
            <a:headEnd/>
            <a:tailEnd/>
          </a:ln>
        </p:spPr>
        <p:txBody>
          <a:bodyPr>
            <a:spAutoFit/>
          </a:bodyPr>
          <a:lstStyle/>
          <a:p>
            <a:pPr marL="168275" indent="-168275" eaLnBrk="1" hangingPunct="1"/>
            <a:r>
              <a:rPr lang="en-US" altLang="zh-CN">
                <a:solidFill>
                  <a:srgbClr val="660066"/>
                </a:solidFill>
                <a:latin typeface="Georgia" panose="02040502050405020303" pitchFamily="18" charset="0"/>
                <a:ea typeface="SimSun" pitchFamily="2" charset="-122"/>
              </a:rPr>
              <a:t>XPS mapping can be achieved by size-limiting the illumination area of the source or the sampling area of the detector.</a:t>
            </a:r>
          </a:p>
        </p:txBody>
      </p:sp>
      <p:sp>
        <p:nvSpPr>
          <p:cNvPr id="2" name="Slide Number Placeholder 1">
            <a:extLst>
              <a:ext uri="{FF2B5EF4-FFF2-40B4-BE49-F238E27FC236}">
                <a16:creationId xmlns:a16="http://schemas.microsoft.com/office/drawing/2014/main" id="{B36E130C-063D-4E02-9DEF-BCC4583D13BF}"/>
              </a:ext>
            </a:extLst>
          </p:cNvPr>
          <p:cNvSpPr>
            <a:spLocks noGrp="1"/>
          </p:cNvSpPr>
          <p:nvPr>
            <p:ph type="sldNum" sz="quarter" idx="11"/>
          </p:nvPr>
        </p:nvSpPr>
        <p:spPr/>
        <p:txBody>
          <a:bodyPr/>
          <a:lstStyle/>
          <a:p>
            <a:pPr>
              <a:defRPr/>
            </a:pPr>
            <a:fld id="{EBF73BDF-690D-4725-BA10-A7934ED52EAB}" type="slidenum">
              <a:rPr lang="zh-TW" altLang="en-US" smtClean="0"/>
              <a:pPr>
                <a:defRPr/>
              </a:pPr>
              <a:t>86</a:t>
            </a:fld>
            <a:endParaRPr lang="en-US" altLang="zh-TW"/>
          </a:p>
        </p:txBody>
      </p:sp>
      <p:sp>
        <p:nvSpPr>
          <p:cNvPr id="3" name="Rectangle 8">
            <a:extLst>
              <a:ext uri="{FF2B5EF4-FFF2-40B4-BE49-F238E27FC236}">
                <a16:creationId xmlns:a16="http://schemas.microsoft.com/office/drawing/2014/main" id="{491522DC-A8DF-4580-75C3-D571B5125491}"/>
              </a:ext>
            </a:extLst>
          </p:cNvPr>
          <p:cNvSpPr>
            <a:spLocks noChangeArrowheads="1"/>
          </p:cNvSpPr>
          <p:nvPr/>
        </p:nvSpPr>
        <p:spPr bwMode="auto">
          <a:xfrm>
            <a:off x="685800" y="179388"/>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imaging: chemical map</a:t>
            </a:r>
            <a:endParaRPr lang="en-US" altLang="zh-TW" sz="2000" dirty="0">
              <a:solidFill>
                <a:schemeClr val="bg2">
                  <a:lumMod val="40000"/>
                  <a:lumOff val="60000"/>
                </a:schemeClr>
              </a:solidFill>
              <a:latin typeface="Georgia" panose="02040502050405020303" pitchFamily="18" charset="0"/>
              <a:ea typeface="新細明體" pitchFamily="18" charset="-120"/>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9" name="Rectangle 3726"/>
          <p:cNvSpPr>
            <a:spLocks noChangeArrowheads="1"/>
          </p:cNvSpPr>
          <p:nvPr/>
        </p:nvSpPr>
        <p:spPr bwMode="auto">
          <a:xfrm>
            <a:off x="1143000" y="914400"/>
            <a:ext cx="6934200" cy="457200"/>
          </a:xfrm>
          <a:prstGeom prst="rect">
            <a:avLst/>
          </a:prstGeom>
          <a:noFill/>
          <a:ln w="9525">
            <a:noFill/>
            <a:miter lim="800000"/>
            <a:headEnd/>
            <a:tailEnd/>
          </a:ln>
        </p:spPr>
        <p:txBody>
          <a:bodyPr>
            <a:spAutoFit/>
          </a:bodyPr>
          <a:lstStyle/>
          <a:p>
            <a:pPr algn="ctr" eaLnBrk="1" hangingPunct="1"/>
            <a:r>
              <a:rPr lang="en-US" altLang="zh-TW" sz="2400">
                <a:latin typeface="Georgia" panose="02040502050405020303" pitchFamily="18" charset="0"/>
                <a:ea typeface="新細明體" pitchFamily="18" charset="-120"/>
              </a:rPr>
              <a:t>Mapping technology</a:t>
            </a:r>
          </a:p>
        </p:txBody>
      </p:sp>
      <p:sp>
        <p:nvSpPr>
          <p:cNvPr id="70661" name="Text Box 3728"/>
          <p:cNvSpPr txBox="1">
            <a:spLocks noChangeArrowheads="1"/>
          </p:cNvSpPr>
          <p:nvPr/>
        </p:nvSpPr>
        <p:spPr bwMode="auto">
          <a:xfrm>
            <a:off x="5848350" y="2581275"/>
            <a:ext cx="695325" cy="274638"/>
          </a:xfrm>
          <a:prstGeom prst="rect">
            <a:avLst/>
          </a:prstGeom>
          <a:solidFill>
            <a:schemeClr val="bg1"/>
          </a:solidFill>
          <a:ln w="9525">
            <a:noFill/>
            <a:miter lim="800000"/>
            <a:headEnd/>
            <a:tailEnd/>
          </a:ln>
        </p:spPr>
        <p:txBody>
          <a:bodyPr>
            <a:spAutoFit/>
          </a:bodyPr>
          <a:lstStyle/>
          <a:p>
            <a:r>
              <a:rPr lang="en-US" altLang="zh-CN" sz="1200" b="1">
                <a:latin typeface="Georgia" panose="02040502050405020303" pitchFamily="18" charset="0"/>
                <a:ea typeface="SimSun" pitchFamily="2" charset="-122"/>
                <a:cs typeface="Times New Roman" pitchFamily="18" charset="0"/>
              </a:rPr>
              <a:t>~50 Å</a:t>
            </a:r>
          </a:p>
        </p:txBody>
      </p:sp>
      <p:sp>
        <p:nvSpPr>
          <p:cNvPr id="70662" name="Text Box 3729"/>
          <p:cNvSpPr txBox="1">
            <a:spLocks noChangeArrowheads="1"/>
          </p:cNvSpPr>
          <p:nvPr/>
        </p:nvSpPr>
        <p:spPr bwMode="auto">
          <a:xfrm>
            <a:off x="6086475" y="6164263"/>
            <a:ext cx="695325" cy="274637"/>
          </a:xfrm>
          <a:prstGeom prst="rect">
            <a:avLst/>
          </a:prstGeom>
          <a:solidFill>
            <a:schemeClr val="bg1"/>
          </a:solidFill>
          <a:ln w="9525">
            <a:noFill/>
            <a:miter lim="800000"/>
            <a:headEnd/>
            <a:tailEnd/>
          </a:ln>
        </p:spPr>
        <p:txBody>
          <a:bodyPr>
            <a:spAutoFit/>
          </a:bodyPr>
          <a:lstStyle/>
          <a:p>
            <a:r>
              <a:rPr lang="en-US" altLang="zh-CN" sz="1200" b="1">
                <a:latin typeface="Georgia" panose="02040502050405020303" pitchFamily="18" charset="0"/>
                <a:ea typeface="SimSun" pitchFamily="2" charset="-122"/>
                <a:cs typeface="Times New Roman" pitchFamily="18" charset="0"/>
              </a:rPr>
              <a:t>~10 Å</a:t>
            </a:r>
          </a:p>
        </p:txBody>
      </p:sp>
      <p:sp>
        <p:nvSpPr>
          <p:cNvPr id="2" name="Slide Number Placeholder 1">
            <a:extLst>
              <a:ext uri="{FF2B5EF4-FFF2-40B4-BE49-F238E27FC236}">
                <a16:creationId xmlns:a16="http://schemas.microsoft.com/office/drawing/2014/main" id="{21CA3441-25FD-450E-90F2-0D86D18454B4}"/>
              </a:ext>
            </a:extLst>
          </p:cNvPr>
          <p:cNvSpPr>
            <a:spLocks noGrp="1"/>
          </p:cNvSpPr>
          <p:nvPr>
            <p:ph type="sldNum" sz="quarter" idx="11"/>
          </p:nvPr>
        </p:nvSpPr>
        <p:spPr/>
        <p:txBody>
          <a:bodyPr/>
          <a:lstStyle/>
          <a:p>
            <a:pPr>
              <a:defRPr/>
            </a:pPr>
            <a:fld id="{EBF73BDF-690D-4725-BA10-A7934ED52EAB}" type="slidenum">
              <a:rPr lang="zh-TW" altLang="en-US" smtClean="0"/>
              <a:pPr>
                <a:defRPr/>
              </a:pPr>
              <a:t>87</a:t>
            </a:fld>
            <a:endParaRPr lang="en-US" altLang="zh-TW"/>
          </a:p>
        </p:txBody>
      </p:sp>
      <p:sp>
        <p:nvSpPr>
          <p:cNvPr id="3" name="Rectangle 8">
            <a:extLst>
              <a:ext uri="{FF2B5EF4-FFF2-40B4-BE49-F238E27FC236}">
                <a16:creationId xmlns:a16="http://schemas.microsoft.com/office/drawing/2014/main" id="{92E643E1-0195-6DFF-A81B-EB2C1F9C091C}"/>
              </a:ext>
            </a:extLst>
          </p:cNvPr>
          <p:cNvSpPr>
            <a:spLocks noChangeArrowheads="1"/>
          </p:cNvSpPr>
          <p:nvPr/>
        </p:nvSpPr>
        <p:spPr bwMode="auto">
          <a:xfrm>
            <a:off x="685800" y="179388"/>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imaging: chemical map</a:t>
            </a:r>
            <a:endParaRPr lang="en-US" altLang="zh-TW" sz="2000" dirty="0">
              <a:solidFill>
                <a:schemeClr val="bg2">
                  <a:lumMod val="40000"/>
                  <a:lumOff val="60000"/>
                </a:schemeClr>
              </a:solidFill>
              <a:latin typeface="Georgia" panose="02040502050405020303" pitchFamily="18" charset="0"/>
              <a:ea typeface="新細明體" pitchFamily="18" charset="-120"/>
            </a:endParaRPr>
          </a:p>
        </p:txBody>
      </p:sp>
      <p:sp>
        <p:nvSpPr>
          <p:cNvPr id="5" name="AutoShape 3">
            <a:extLst>
              <a:ext uri="{FF2B5EF4-FFF2-40B4-BE49-F238E27FC236}">
                <a16:creationId xmlns:a16="http://schemas.microsoft.com/office/drawing/2014/main" id="{2920DC16-2FA4-30C5-CB3C-F27CDA6FC517}"/>
              </a:ext>
            </a:extLst>
          </p:cNvPr>
          <p:cNvSpPr>
            <a:spLocks noChangeAspect="1" noChangeArrowheads="1" noTextEdit="1"/>
          </p:cNvSpPr>
          <p:nvPr/>
        </p:nvSpPr>
        <p:spPr bwMode="auto">
          <a:xfrm>
            <a:off x="1143000" y="1676400"/>
            <a:ext cx="6650038" cy="4745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grpSp>
        <p:nvGrpSpPr>
          <p:cNvPr id="6" name="Group 7">
            <a:extLst>
              <a:ext uri="{FF2B5EF4-FFF2-40B4-BE49-F238E27FC236}">
                <a16:creationId xmlns:a16="http://schemas.microsoft.com/office/drawing/2014/main" id="{1BB64DDA-CA3A-F568-229B-26AF248AFC2D}"/>
              </a:ext>
            </a:extLst>
          </p:cNvPr>
          <p:cNvGrpSpPr>
            <a:grpSpLocks/>
          </p:cNvGrpSpPr>
          <p:nvPr/>
        </p:nvGrpSpPr>
        <p:grpSpPr bwMode="auto">
          <a:xfrm>
            <a:off x="1146175" y="1679575"/>
            <a:ext cx="6629400" cy="4724400"/>
            <a:chOff x="722" y="1058"/>
            <a:chExt cx="4176" cy="2976"/>
          </a:xfrm>
        </p:grpSpPr>
        <p:sp>
          <p:nvSpPr>
            <p:cNvPr id="73285" name="Rectangle 5">
              <a:extLst>
                <a:ext uri="{FF2B5EF4-FFF2-40B4-BE49-F238E27FC236}">
                  <a16:creationId xmlns:a16="http://schemas.microsoft.com/office/drawing/2014/main" id="{56D1D0F4-1E96-7A7B-AE97-AC79DAD8718D}"/>
                </a:ext>
              </a:extLst>
            </p:cNvPr>
            <p:cNvSpPr>
              <a:spLocks noChangeArrowheads="1"/>
            </p:cNvSpPr>
            <p:nvPr/>
          </p:nvSpPr>
          <p:spPr bwMode="auto">
            <a:xfrm>
              <a:off x="722" y="1058"/>
              <a:ext cx="4176" cy="2976"/>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sz="2000" dirty="0"/>
            </a:p>
          </p:txBody>
        </p:sp>
        <p:sp>
          <p:nvSpPr>
            <p:cNvPr id="73286" name="Rectangle 6">
              <a:extLst>
                <a:ext uri="{FF2B5EF4-FFF2-40B4-BE49-F238E27FC236}">
                  <a16:creationId xmlns:a16="http://schemas.microsoft.com/office/drawing/2014/main" id="{3FFC47CB-4C8E-0CEB-3225-A1BC173A1DEA}"/>
                </a:ext>
              </a:extLst>
            </p:cNvPr>
            <p:cNvSpPr>
              <a:spLocks noChangeArrowheads="1"/>
            </p:cNvSpPr>
            <p:nvPr/>
          </p:nvSpPr>
          <p:spPr bwMode="auto">
            <a:xfrm>
              <a:off x="722" y="1058"/>
              <a:ext cx="4176" cy="2976"/>
            </a:xfrm>
            <a:prstGeom prst="rect">
              <a:avLst/>
            </a:prstGeom>
            <a:noFill/>
            <a:ln w="9525"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grpSp>
      <p:sp>
        <p:nvSpPr>
          <p:cNvPr id="7" name="Rectangle 8">
            <a:extLst>
              <a:ext uri="{FF2B5EF4-FFF2-40B4-BE49-F238E27FC236}">
                <a16:creationId xmlns:a16="http://schemas.microsoft.com/office/drawing/2014/main" id="{09ACA978-10FF-0556-8B55-516EE0B79CB0}"/>
              </a:ext>
            </a:extLst>
          </p:cNvPr>
          <p:cNvSpPr>
            <a:spLocks noChangeArrowheads="1"/>
          </p:cNvSpPr>
          <p:nvPr/>
        </p:nvSpPr>
        <p:spPr bwMode="auto">
          <a:xfrm>
            <a:off x="6178550" y="5346700"/>
            <a:ext cx="293688" cy="3175"/>
          </a:xfrm>
          <a:prstGeom prst="rect">
            <a:avLst/>
          </a:prstGeom>
          <a:solidFill>
            <a:srgbClr val="96AEB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8" name="Rectangle 9">
            <a:extLst>
              <a:ext uri="{FF2B5EF4-FFF2-40B4-BE49-F238E27FC236}">
                <a16:creationId xmlns:a16="http://schemas.microsoft.com/office/drawing/2014/main" id="{1D99BE23-EFFF-C9E3-C546-5DB31C451596}"/>
              </a:ext>
            </a:extLst>
          </p:cNvPr>
          <p:cNvSpPr>
            <a:spLocks noChangeArrowheads="1"/>
          </p:cNvSpPr>
          <p:nvPr/>
        </p:nvSpPr>
        <p:spPr bwMode="auto">
          <a:xfrm>
            <a:off x="6178550" y="5346700"/>
            <a:ext cx="293688" cy="6350"/>
          </a:xfrm>
          <a:prstGeom prst="rect">
            <a:avLst/>
          </a:prstGeom>
          <a:solidFill>
            <a:srgbClr val="96AEB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9" name="Rectangle 10">
            <a:extLst>
              <a:ext uri="{FF2B5EF4-FFF2-40B4-BE49-F238E27FC236}">
                <a16:creationId xmlns:a16="http://schemas.microsoft.com/office/drawing/2014/main" id="{9C927845-6C0E-0CD4-A926-A16FDD6EBB7B}"/>
              </a:ext>
            </a:extLst>
          </p:cNvPr>
          <p:cNvSpPr>
            <a:spLocks noChangeArrowheads="1"/>
          </p:cNvSpPr>
          <p:nvPr/>
        </p:nvSpPr>
        <p:spPr bwMode="auto">
          <a:xfrm>
            <a:off x="6178550" y="5349875"/>
            <a:ext cx="293688" cy="4763"/>
          </a:xfrm>
          <a:prstGeom prst="rect">
            <a:avLst/>
          </a:prstGeom>
          <a:solidFill>
            <a:srgbClr val="96AEB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0" name="Rectangle 11">
            <a:extLst>
              <a:ext uri="{FF2B5EF4-FFF2-40B4-BE49-F238E27FC236}">
                <a16:creationId xmlns:a16="http://schemas.microsoft.com/office/drawing/2014/main" id="{EF75C07F-F217-E70F-CFA5-F4A4389F99C4}"/>
              </a:ext>
            </a:extLst>
          </p:cNvPr>
          <p:cNvSpPr>
            <a:spLocks noChangeArrowheads="1"/>
          </p:cNvSpPr>
          <p:nvPr/>
        </p:nvSpPr>
        <p:spPr bwMode="auto">
          <a:xfrm>
            <a:off x="6178550" y="5357813"/>
            <a:ext cx="293688" cy="4763"/>
          </a:xfrm>
          <a:prstGeom prst="rect">
            <a:avLst/>
          </a:prstGeom>
          <a:solidFill>
            <a:srgbClr val="A1B7C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1" name="Rectangle 12">
            <a:extLst>
              <a:ext uri="{FF2B5EF4-FFF2-40B4-BE49-F238E27FC236}">
                <a16:creationId xmlns:a16="http://schemas.microsoft.com/office/drawing/2014/main" id="{B997E419-78ED-6B0E-6CC8-C62E124B3531}"/>
              </a:ext>
            </a:extLst>
          </p:cNvPr>
          <p:cNvSpPr>
            <a:spLocks noChangeArrowheads="1"/>
          </p:cNvSpPr>
          <p:nvPr/>
        </p:nvSpPr>
        <p:spPr bwMode="auto">
          <a:xfrm>
            <a:off x="6178550" y="5360988"/>
            <a:ext cx="293688" cy="4763"/>
          </a:xfrm>
          <a:prstGeom prst="rect">
            <a:avLst/>
          </a:prstGeom>
          <a:solidFill>
            <a:srgbClr val="A1B7C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2" name="Rectangle 13">
            <a:extLst>
              <a:ext uri="{FF2B5EF4-FFF2-40B4-BE49-F238E27FC236}">
                <a16:creationId xmlns:a16="http://schemas.microsoft.com/office/drawing/2014/main" id="{FC5ED6AC-72D5-2A52-B2AE-AA5CDEAD6F39}"/>
              </a:ext>
            </a:extLst>
          </p:cNvPr>
          <p:cNvSpPr>
            <a:spLocks noChangeArrowheads="1"/>
          </p:cNvSpPr>
          <p:nvPr/>
        </p:nvSpPr>
        <p:spPr bwMode="auto">
          <a:xfrm>
            <a:off x="6178550" y="5362575"/>
            <a:ext cx="293688" cy="6350"/>
          </a:xfrm>
          <a:prstGeom prst="rect">
            <a:avLst/>
          </a:prstGeom>
          <a:solidFill>
            <a:srgbClr val="A4B9C8"/>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3" name="Rectangle 14">
            <a:extLst>
              <a:ext uri="{FF2B5EF4-FFF2-40B4-BE49-F238E27FC236}">
                <a16:creationId xmlns:a16="http://schemas.microsoft.com/office/drawing/2014/main" id="{D2DF8710-C07F-1189-8A7E-4E203204F2AC}"/>
              </a:ext>
            </a:extLst>
          </p:cNvPr>
          <p:cNvSpPr>
            <a:spLocks noChangeArrowheads="1"/>
          </p:cNvSpPr>
          <p:nvPr/>
        </p:nvSpPr>
        <p:spPr bwMode="auto">
          <a:xfrm>
            <a:off x="6178550" y="5370513"/>
            <a:ext cx="293688" cy="6350"/>
          </a:xfrm>
          <a:prstGeom prst="rect">
            <a:avLst/>
          </a:prstGeom>
          <a:solidFill>
            <a:srgbClr val="ABBFC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4" name="Rectangle 15">
            <a:extLst>
              <a:ext uri="{FF2B5EF4-FFF2-40B4-BE49-F238E27FC236}">
                <a16:creationId xmlns:a16="http://schemas.microsoft.com/office/drawing/2014/main" id="{CDEBB914-2BFA-53D2-7C1B-199E30189172}"/>
              </a:ext>
            </a:extLst>
          </p:cNvPr>
          <p:cNvSpPr>
            <a:spLocks noChangeArrowheads="1"/>
          </p:cNvSpPr>
          <p:nvPr/>
        </p:nvSpPr>
        <p:spPr bwMode="auto">
          <a:xfrm>
            <a:off x="6178550" y="5384800"/>
            <a:ext cx="293688" cy="4763"/>
          </a:xfrm>
          <a:prstGeom prst="rect">
            <a:avLst/>
          </a:prstGeom>
          <a:solidFill>
            <a:srgbClr val="C3D1DB"/>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5" name="Rectangle 16">
            <a:extLst>
              <a:ext uri="{FF2B5EF4-FFF2-40B4-BE49-F238E27FC236}">
                <a16:creationId xmlns:a16="http://schemas.microsoft.com/office/drawing/2014/main" id="{DE3C8F7F-818F-ED5B-1B63-1B02D8D05BEB}"/>
              </a:ext>
            </a:extLst>
          </p:cNvPr>
          <p:cNvSpPr>
            <a:spLocks noChangeArrowheads="1"/>
          </p:cNvSpPr>
          <p:nvPr/>
        </p:nvSpPr>
        <p:spPr bwMode="auto">
          <a:xfrm>
            <a:off x="6178550" y="5386388"/>
            <a:ext cx="293688" cy="6350"/>
          </a:xfrm>
          <a:prstGeom prst="rect">
            <a:avLst/>
          </a:prstGeom>
          <a:solidFill>
            <a:srgbClr val="C3D1DB"/>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6" name="Rectangle 17">
            <a:extLst>
              <a:ext uri="{FF2B5EF4-FFF2-40B4-BE49-F238E27FC236}">
                <a16:creationId xmlns:a16="http://schemas.microsoft.com/office/drawing/2014/main" id="{AD9A0839-56B2-4C25-4782-C3191A8D1844}"/>
              </a:ext>
            </a:extLst>
          </p:cNvPr>
          <p:cNvSpPr>
            <a:spLocks noChangeArrowheads="1"/>
          </p:cNvSpPr>
          <p:nvPr/>
        </p:nvSpPr>
        <p:spPr bwMode="auto">
          <a:xfrm>
            <a:off x="6178550" y="5389563"/>
            <a:ext cx="293688" cy="4763"/>
          </a:xfrm>
          <a:prstGeom prst="rect">
            <a:avLst/>
          </a:prstGeom>
          <a:solidFill>
            <a:srgbClr val="C9D6D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7" name="Rectangle 18">
            <a:extLst>
              <a:ext uri="{FF2B5EF4-FFF2-40B4-BE49-F238E27FC236}">
                <a16:creationId xmlns:a16="http://schemas.microsoft.com/office/drawing/2014/main" id="{A8FF28D0-1F03-822D-5EFD-C51AF5AF67F8}"/>
              </a:ext>
            </a:extLst>
          </p:cNvPr>
          <p:cNvSpPr>
            <a:spLocks noChangeArrowheads="1"/>
          </p:cNvSpPr>
          <p:nvPr/>
        </p:nvSpPr>
        <p:spPr bwMode="auto">
          <a:xfrm>
            <a:off x="6178550" y="5397500"/>
            <a:ext cx="293688" cy="4763"/>
          </a:xfrm>
          <a:prstGeom prst="rect">
            <a:avLst/>
          </a:prstGeom>
          <a:solidFill>
            <a:srgbClr val="D5DFE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8" name="Rectangle 19">
            <a:extLst>
              <a:ext uri="{FF2B5EF4-FFF2-40B4-BE49-F238E27FC236}">
                <a16:creationId xmlns:a16="http://schemas.microsoft.com/office/drawing/2014/main" id="{DF2B355D-55EB-7877-C8F9-72106891610C}"/>
              </a:ext>
            </a:extLst>
          </p:cNvPr>
          <p:cNvSpPr>
            <a:spLocks noChangeArrowheads="1"/>
          </p:cNvSpPr>
          <p:nvPr/>
        </p:nvSpPr>
        <p:spPr bwMode="auto">
          <a:xfrm>
            <a:off x="6178550" y="5399088"/>
            <a:ext cx="293688" cy="6350"/>
          </a:xfrm>
          <a:prstGeom prst="rect">
            <a:avLst/>
          </a:prstGeom>
          <a:solidFill>
            <a:srgbClr val="DCE4EA"/>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9" name="Rectangle 20">
            <a:extLst>
              <a:ext uri="{FF2B5EF4-FFF2-40B4-BE49-F238E27FC236}">
                <a16:creationId xmlns:a16="http://schemas.microsoft.com/office/drawing/2014/main" id="{D83FA758-3BC0-00FA-819C-E206C6473E4C}"/>
              </a:ext>
            </a:extLst>
          </p:cNvPr>
          <p:cNvSpPr>
            <a:spLocks noChangeArrowheads="1"/>
          </p:cNvSpPr>
          <p:nvPr/>
        </p:nvSpPr>
        <p:spPr bwMode="auto">
          <a:xfrm>
            <a:off x="6178550" y="5402263"/>
            <a:ext cx="293688" cy="4763"/>
          </a:xfrm>
          <a:prstGeom prst="rect">
            <a:avLst/>
          </a:prstGeom>
          <a:solidFill>
            <a:srgbClr val="E1E8E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20" name="Rectangle 21">
            <a:extLst>
              <a:ext uri="{FF2B5EF4-FFF2-40B4-BE49-F238E27FC236}">
                <a16:creationId xmlns:a16="http://schemas.microsoft.com/office/drawing/2014/main" id="{BEE7747B-E00C-9015-3594-369812B470F2}"/>
              </a:ext>
            </a:extLst>
          </p:cNvPr>
          <p:cNvSpPr>
            <a:spLocks noChangeArrowheads="1"/>
          </p:cNvSpPr>
          <p:nvPr/>
        </p:nvSpPr>
        <p:spPr bwMode="auto">
          <a:xfrm>
            <a:off x="6178550" y="5410200"/>
            <a:ext cx="293688" cy="4763"/>
          </a:xfrm>
          <a:prstGeom prst="rect">
            <a:avLst/>
          </a:prstGeom>
          <a:solidFill>
            <a:srgbClr val="ECF1F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21" name="Rectangle 22">
            <a:extLst>
              <a:ext uri="{FF2B5EF4-FFF2-40B4-BE49-F238E27FC236}">
                <a16:creationId xmlns:a16="http://schemas.microsoft.com/office/drawing/2014/main" id="{057DD499-084D-A3C1-4E05-913B6CD19991}"/>
              </a:ext>
            </a:extLst>
          </p:cNvPr>
          <p:cNvSpPr>
            <a:spLocks noChangeArrowheads="1"/>
          </p:cNvSpPr>
          <p:nvPr/>
        </p:nvSpPr>
        <p:spPr bwMode="auto">
          <a:xfrm>
            <a:off x="6178550" y="5414963"/>
            <a:ext cx="293688" cy="6350"/>
          </a:xfrm>
          <a:prstGeom prst="rect">
            <a:avLst/>
          </a:prstGeom>
          <a:solidFill>
            <a:srgbClr val="F8FAFB"/>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22" name="Rectangle 23">
            <a:extLst>
              <a:ext uri="{FF2B5EF4-FFF2-40B4-BE49-F238E27FC236}">
                <a16:creationId xmlns:a16="http://schemas.microsoft.com/office/drawing/2014/main" id="{7DF67A4C-E9C6-4221-417D-A7DA8B311B92}"/>
              </a:ext>
            </a:extLst>
          </p:cNvPr>
          <p:cNvSpPr>
            <a:spLocks noChangeArrowheads="1"/>
          </p:cNvSpPr>
          <p:nvPr/>
        </p:nvSpPr>
        <p:spPr bwMode="auto">
          <a:xfrm>
            <a:off x="6178550" y="5418138"/>
            <a:ext cx="293688"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23" name="Rectangle 24">
            <a:extLst>
              <a:ext uri="{FF2B5EF4-FFF2-40B4-BE49-F238E27FC236}">
                <a16:creationId xmlns:a16="http://schemas.microsoft.com/office/drawing/2014/main" id="{349E53EA-1310-C5F1-17FC-5DC2C0FD306F}"/>
              </a:ext>
            </a:extLst>
          </p:cNvPr>
          <p:cNvSpPr>
            <a:spLocks noChangeArrowheads="1"/>
          </p:cNvSpPr>
          <p:nvPr/>
        </p:nvSpPr>
        <p:spPr bwMode="auto">
          <a:xfrm>
            <a:off x="1527175" y="1714500"/>
            <a:ext cx="5710238" cy="46894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grpSp>
        <p:nvGrpSpPr>
          <p:cNvPr id="24" name="Group 225">
            <a:extLst>
              <a:ext uri="{FF2B5EF4-FFF2-40B4-BE49-F238E27FC236}">
                <a16:creationId xmlns:a16="http://schemas.microsoft.com/office/drawing/2014/main" id="{F27A4E4D-E4CE-39CB-9419-DB69F83D32E7}"/>
              </a:ext>
            </a:extLst>
          </p:cNvPr>
          <p:cNvGrpSpPr>
            <a:grpSpLocks/>
          </p:cNvGrpSpPr>
          <p:nvPr/>
        </p:nvGrpSpPr>
        <p:grpSpPr bwMode="auto">
          <a:xfrm>
            <a:off x="1955800" y="2403475"/>
            <a:ext cx="1919288" cy="315913"/>
            <a:chOff x="1232" y="1514"/>
            <a:chExt cx="1209" cy="199"/>
          </a:xfrm>
        </p:grpSpPr>
        <p:sp>
          <p:nvSpPr>
            <p:cNvPr id="73085" name="Freeform 25">
              <a:extLst>
                <a:ext uri="{FF2B5EF4-FFF2-40B4-BE49-F238E27FC236}">
                  <a16:creationId xmlns:a16="http://schemas.microsoft.com/office/drawing/2014/main" id="{BA74522F-F5EB-49FF-C856-8441CE2BC0E3}"/>
                </a:ext>
              </a:extLst>
            </p:cNvPr>
            <p:cNvSpPr>
              <a:spLocks noEditPoints="1"/>
            </p:cNvSpPr>
            <p:nvPr/>
          </p:nvSpPr>
          <p:spPr bwMode="auto">
            <a:xfrm>
              <a:off x="1232" y="1514"/>
              <a:ext cx="1209" cy="199"/>
            </a:xfrm>
            <a:custGeom>
              <a:avLst/>
              <a:gdLst>
                <a:gd name="T0" fmla="*/ 3 w 1209"/>
                <a:gd name="T1" fmla="*/ 197 h 199"/>
                <a:gd name="T2" fmla="*/ 0 w 1209"/>
                <a:gd name="T3" fmla="*/ 199 h 199"/>
                <a:gd name="T4" fmla="*/ 3 w 1209"/>
                <a:gd name="T5" fmla="*/ 199 h 199"/>
                <a:gd name="T6" fmla="*/ 3 w 1209"/>
                <a:gd name="T7" fmla="*/ 197 h 199"/>
                <a:gd name="T8" fmla="*/ 1204 w 1209"/>
                <a:gd name="T9" fmla="*/ 1 h 199"/>
                <a:gd name="T10" fmla="*/ 1209 w 1209"/>
                <a:gd name="T11" fmla="*/ 0 h 199"/>
                <a:gd name="T12" fmla="*/ 1204 w 1209"/>
                <a:gd name="T13" fmla="*/ 0 h 199"/>
                <a:gd name="T14" fmla="*/ 1204 w 1209"/>
                <a:gd name="T15" fmla="*/ 1 h 1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09" h="199">
                  <a:moveTo>
                    <a:pt x="3" y="197"/>
                  </a:moveTo>
                  <a:lnTo>
                    <a:pt x="0" y="199"/>
                  </a:lnTo>
                  <a:lnTo>
                    <a:pt x="3" y="199"/>
                  </a:lnTo>
                  <a:lnTo>
                    <a:pt x="3" y="197"/>
                  </a:lnTo>
                  <a:close/>
                  <a:moveTo>
                    <a:pt x="1204" y="1"/>
                  </a:moveTo>
                  <a:lnTo>
                    <a:pt x="1209" y="0"/>
                  </a:lnTo>
                  <a:lnTo>
                    <a:pt x="1204" y="0"/>
                  </a:lnTo>
                  <a:lnTo>
                    <a:pt x="1204" y="1"/>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86" name="Freeform 26">
              <a:extLst>
                <a:ext uri="{FF2B5EF4-FFF2-40B4-BE49-F238E27FC236}">
                  <a16:creationId xmlns:a16="http://schemas.microsoft.com/office/drawing/2014/main" id="{B24D1DDC-7087-D2E1-6B31-5B89D194B940}"/>
                </a:ext>
              </a:extLst>
            </p:cNvPr>
            <p:cNvSpPr>
              <a:spLocks noEditPoints="1"/>
            </p:cNvSpPr>
            <p:nvPr/>
          </p:nvSpPr>
          <p:spPr bwMode="auto">
            <a:xfrm>
              <a:off x="1234" y="1514"/>
              <a:ext cx="1205" cy="199"/>
            </a:xfrm>
            <a:custGeom>
              <a:avLst/>
              <a:gdLst>
                <a:gd name="T0" fmla="*/ 1205 w 1205"/>
                <a:gd name="T1" fmla="*/ 0 h 199"/>
                <a:gd name="T2" fmla="*/ 1205 w 1205"/>
                <a:gd name="T3" fmla="*/ 0 h 199"/>
                <a:gd name="T4" fmla="*/ 1200 w 1205"/>
                <a:gd name="T5" fmla="*/ 0 h 199"/>
                <a:gd name="T6" fmla="*/ 1200 w 1205"/>
                <a:gd name="T7" fmla="*/ 1 h 199"/>
                <a:gd name="T8" fmla="*/ 1200 w 1205"/>
                <a:gd name="T9" fmla="*/ 3 h 199"/>
                <a:gd name="T10" fmla="*/ 1205 w 1205"/>
                <a:gd name="T11" fmla="*/ 0 h 199"/>
                <a:gd name="T12" fmla="*/ 0 w 1205"/>
                <a:gd name="T13" fmla="*/ 197 h 199"/>
                <a:gd name="T14" fmla="*/ 0 w 1205"/>
                <a:gd name="T15" fmla="*/ 197 h 199"/>
                <a:gd name="T16" fmla="*/ 0 w 1205"/>
                <a:gd name="T17" fmla="*/ 199 h 199"/>
                <a:gd name="T18" fmla="*/ 5 w 1205"/>
                <a:gd name="T19" fmla="*/ 199 h 199"/>
                <a:gd name="T20" fmla="*/ 5 w 1205"/>
                <a:gd name="T21" fmla="*/ 197 h 199"/>
                <a:gd name="T22" fmla="*/ 5 w 1205"/>
                <a:gd name="T23" fmla="*/ 195 h 199"/>
                <a:gd name="T24" fmla="*/ 0 w 1205"/>
                <a:gd name="T25" fmla="*/ 19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05" h="199">
                  <a:moveTo>
                    <a:pt x="1205" y="0"/>
                  </a:moveTo>
                  <a:lnTo>
                    <a:pt x="1205" y="0"/>
                  </a:lnTo>
                  <a:lnTo>
                    <a:pt x="1200" y="0"/>
                  </a:lnTo>
                  <a:lnTo>
                    <a:pt x="1200" y="1"/>
                  </a:lnTo>
                  <a:lnTo>
                    <a:pt x="1200" y="3"/>
                  </a:lnTo>
                  <a:lnTo>
                    <a:pt x="1205" y="0"/>
                  </a:lnTo>
                  <a:close/>
                  <a:moveTo>
                    <a:pt x="0" y="197"/>
                  </a:moveTo>
                  <a:lnTo>
                    <a:pt x="0" y="197"/>
                  </a:lnTo>
                  <a:lnTo>
                    <a:pt x="0" y="199"/>
                  </a:lnTo>
                  <a:lnTo>
                    <a:pt x="5" y="199"/>
                  </a:lnTo>
                  <a:lnTo>
                    <a:pt x="5" y="197"/>
                  </a:lnTo>
                  <a:lnTo>
                    <a:pt x="5" y="195"/>
                  </a:lnTo>
                  <a:lnTo>
                    <a:pt x="0" y="197"/>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87" name="Freeform 27">
              <a:extLst>
                <a:ext uri="{FF2B5EF4-FFF2-40B4-BE49-F238E27FC236}">
                  <a16:creationId xmlns:a16="http://schemas.microsoft.com/office/drawing/2014/main" id="{CACC0227-5838-03F1-B615-6C8F83074ABF}"/>
                </a:ext>
              </a:extLst>
            </p:cNvPr>
            <p:cNvSpPr>
              <a:spLocks noEditPoints="1"/>
            </p:cNvSpPr>
            <p:nvPr/>
          </p:nvSpPr>
          <p:spPr bwMode="auto">
            <a:xfrm>
              <a:off x="1235" y="1514"/>
              <a:ext cx="1201" cy="199"/>
            </a:xfrm>
            <a:custGeom>
              <a:avLst/>
              <a:gdLst>
                <a:gd name="T0" fmla="*/ 1201 w 1201"/>
                <a:gd name="T1" fmla="*/ 1 h 199"/>
                <a:gd name="T2" fmla="*/ 1201 w 1201"/>
                <a:gd name="T3" fmla="*/ 1 h 199"/>
                <a:gd name="T4" fmla="*/ 1201 w 1201"/>
                <a:gd name="T5" fmla="*/ 0 h 199"/>
                <a:gd name="T6" fmla="*/ 1196 w 1201"/>
                <a:gd name="T7" fmla="*/ 0 h 199"/>
                <a:gd name="T8" fmla="*/ 1196 w 1201"/>
                <a:gd name="T9" fmla="*/ 1 h 199"/>
                <a:gd name="T10" fmla="*/ 1198 w 1201"/>
                <a:gd name="T11" fmla="*/ 1 h 199"/>
                <a:gd name="T12" fmla="*/ 1198 w 1201"/>
                <a:gd name="T13" fmla="*/ 3 h 199"/>
                <a:gd name="T14" fmla="*/ 1201 w 1201"/>
                <a:gd name="T15" fmla="*/ 1 h 199"/>
                <a:gd name="T16" fmla="*/ 0 w 1201"/>
                <a:gd name="T17" fmla="*/ 197 h 199"/>
                <a:gd name="T18" fmla="*/ 0 w 1201"/>
                <a:gd name="T19" fmla="*/ 197 h 199"/>
                <a:gd name="T20" fmla="*/ 0 w 1201"/>
                <a:gd name="T21" fmla="*/ 199 h 199"/>
                <a:gd name="T22" fmla="*/ 5 w 1201"/>
                <a:gd name="T23" fmla="*/ 199 h 199"/>
                <a:gd name="T24" fmla="*/ 5 w 1201"/>
                <a:gd name="T25" fmla="*/ 197 h 199"/>
                <a:gd name="T26" fmla="*/ 5 w 1201"/>
                <a:gd name="T27" fmla="*/ 195 h 199"/>
                <a:gd name="T28" fmla="*/ 5 w 1201"/>
                <a:gd name="T29" fmla="*/ 194 h 199"/>
                <a:gd name="T30" fmla="*/ 0 w 1201"/>
                <a:gd name="T31" fmla="*/ 19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01" h="199">
                  <a:moveTo>
                    <a:pt x="1201" y="1"/>
                  </a:moveTo>
                  <a:lnTo>
                    <a:pt x="1201" y="1"/>
                  </a:lnTo>
                  <a:lnTo>
                    <a:pt x="1201" y="0"/>
                  </a:lnTo>
                  <a:lnTo>
                    <a:pt x="1196" y="0"/>
                  </a:lnTo>
                  <a:lnTo>
                    <a:pt x="1196" y="1"/>
                  </a:lnTo>
                  <a:lnTo>
                    <a:pt x="1198" y="1"/>
                  </a:lnTo>
                  <a:lnTo>
                    <a:pt x="1198" y="3"/>
                  </a:lnTo>
                  <a:lnTo>
                    <a:pt x="1201" y="1"/>
                  </a:lnTo>
                  <a:close/>
                  <a:moveTo>
                    <a:pt x="0" y="197"/>
                  </a:moveTo>
                  <a:lnTo>
                    <a:pt x="0" y="197"/>
                  </a:lnTo>
                  <a:lnTo>
                    <a:pt x="0" y="199"/>
                  </a:lnTo>
                  <a:lnTo>
                    <a:pt x="5" y="199"/>
                  </a:lnTo>
                  <a:lnTo>
                    <a:pt x="5" y="197"/>
                  </a:lnTo>
                  <a:lnTo>
                    <a:pt x="5" y="195"/>
                  </a:lnTo>
                  <a:lnTo>
                    <a:pt x="5" y="194"/>
                  </a:lnTo>
                  <a:lnTo>
                    <a:pt x="0" y="197"/>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88" name="Freeform 28">
              <a:extLst>
                <a:ext uri="{FF2B5EF4-FFF2-40B4-BE49-F238E27FC236}">
                  <a16:creationId xmlns:a16="http://schemas.microsoft.com/office/drawing/2014/main" id="{0E55E0F9-9F33-D863-5F69-E747D2690680}"/>
                </a:ext>
              </a:extLst>
            </p:cNvPr>
            <p:cNvSpPr>
              <a:spLocks noEditPoints="1"/>
            </p:cNvSpPr>
            <p:nvPr/>
          </p:nvSpPr>
          <p:spPr bwMode="auto">
            <a:xfrm>
              <a:off x="1239" y="1514"/>
              <a:ext cx="1195" cy="199"/>
            </a:xfrm>
            <a:custGeom>
              <a:avLst/>
              <a:gdLst>
                <a:gd name="T0" fmla="*/ 1195 w 1195"/>
                <a:gd name="T1" fmla="*/ 3 h 199"/>
                <a:gd name="T2" fmla="*/ 1195 w 1195"/>
                <a:gd name="T3" fmla="*/ 1 h 199"/>
                <a:gd name="T4" fmla="*/ 1195 w 1195"/>
                <a:gd name="T5" fmla="*/ 0 h 199"/>
                <a:gd name="T6" fmla="*/ 1190 w 1195"/>
                <a:gd name="T7" fmla="*/ 0 h 199"/>
                <a:gd name="T8" fmla="*/ 1190 w 1195"/>
                <a:gd name="T9" fmla="*/ 1 h 199"/>
                <a:gd name="T10" fmla="*/ 1190 w 1195"/>
                <a:gd name="T11" fmla="*/ 3 h 199"/>
                <a:gd name="T12" fmla="*/ 1190 w 1195"/>
                <a:gd name="T13" fmla="*/ 5 h 199"/>
                <a:gd name="T14" fmla="*/ 1195 w 1195"/>
                <a:gd name="T15" fmla="*/ 3 h 199"/>
                <a:gd name="T16" fmla="*/ 0 w 1195"/>
                <a:gd name="T17" fmla="*/ 195 h 199"/>
                <a:gd name="T18" fmla="*/ 0 w 1195"/>
                <a:gd name="T19" fmla="*/ 195 h 199"/>
                <a:gd name="T20" fmla="*/ 0 w 1195"/>
                <a:gd name="T21" fmla="*/ 197 h 199"/>
                <a:gd name="T22" fmla="*/ 0 w 1195"/>
                <a:gd name="T23" fmla="*/ 199 h 199"/>
                <a:gd name="T24" fmla="*/ 5 w 1195"/>
                <a:gd name="T25" fmla="*/ 199 h 199"/>
                <a:gd name="T26" fmla="*/ 5 w 1195"/>
                <a:gd name="T27" fmla="*/ 197 h 199"/>
                <a:gd name="T28" fmla="*/ 5 w 1195"/>
                <a:gd name="T29" fmla="*/ 195 h 199"/>
                <a:gd name="T30" fmla="*/ 3 w 1195"/>
                <a:gd name="T31" fmla="*/ 195 h 199"/>
                <a:gd name="T32" fmla="*/ 3 w 1195"/>
                <a:gd name="T33" fmla="*/ 194 h 199"/>
                <a:gd name="T34" fmla="*/ 0 w 1195"/>
                <a:gd name="T35" fmla="*/ 19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95" h="199">
                  <a:moveTo>
                    <a:pt x="1195" y="3"/>
                  </a:moveTo>
                  <a:lnTo>
                    <a:pt x="1195" y="1"/>
                  </a:lnTo>
                  <a:lnTo>
                    <a:pt x="1195" y="0"/>
                  </a:lnTo>
                  <a:lnTo>
                    <a:pt x="1190" y="0"/>
                  </a:lnTo>
                  <a:lnTo>
                    <a:pt x="1190" y="1"/>
                  </a:lnTo>
                  <a:lnTo>
                    <a:pt x="1190" y="3"/>
                  </a:lnTo>
                  <a:lnTo>
                    <a:pt x="1190" y="5"/>
                  </a:lnTo>
                  <a:lnTo>
                    <a:pt x="1195" y="3"/>
                  </a:lnTo>
                  <a:close/>
                  <a:moveTo>
                    <a:pt x="0" y="195"/>
                  </a:moveTo>
                  <a:lnTo>
                    <a:pt x="0" y="195"/>
                  </a:lnTo>
                  <a:lnTo>
                    <a:pt x="0" y="197"/>
                  </a:lnTo>
                  <a:lnTo>
                    <a:pt x="0" y="199"/>
                  </a:lnTo>
                  <a:lnTo>
                    <a:pt x="5" y="199"/>
                  </a:lnTo>
                  <a:lnTo>
                    <a:pt x="5" y="197"/>
                  </a:lnTo>
                  <a:lnTo>
                    <a:pt x="5" y="195"/>
                  </a:lnTo>
                  <a:lnTo>
                    <a:pt x="3" y="195"/>
                  </a:lnTo>
                  <a:lnTo>
                    <a:pt x="3" y="194"/>
                  </a:lnTo>
                  <a:lnTo>
                    <a:pt x="0" y="195"/>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89" name="Freeform 29">
              <a:extLst>
                <a:ext uri="{FF2B5EF4-FFF2-40B4-BE49-F238E27FC236}">
                  <a16:creationId xmlns:a16="http://schemas.microsoft.com/office/drawing/2014/main" id="{00B44A0E-19D0-1079-52A8-E809488BC44F}"/>
                </a:ext>
              </a:extLst>
            </p:cNvPr>
            <p:cNvSpPr>
              <a:spLocks noEditPoints="1"/>
            </p:cNvSpPr>
            <p:nvPr/>
          </p:nvSpPr>
          <p:spPr bwMode="auto">
            <a:xfrm>
              <a:off x="1240" y="1514"/>
              <a:ext cx="1193" cy="199"/>
            </a:xfrm>
            <a:custGeom>
              <a:avLst/>
              <a:gdLst>
                <a:gd name="T0" fmla="*/ 1193 w 1193"/>
                <a:gd name="T1" fmla="*/ 3 h 199"/>
                <a:gd name="T2" fmla="*/ 1193 w 1193"/>
                <a:gd name="T3" fmla="*/ 3 h 199"/>
                <a:gd name="T4" fmla="*/ 1193 w 1193"/>
                <a:gd name="T5" fmla="*/ 1 h 199"/>
                <a:gd name="T6" fmla="*/ 1191 w 1193"/>
                <a:gd name="T7" fmla="*/ 1 h 199"/>
                <a:gd name="T8" fmla="*/ 1191 w 1193"/>
                <a:gd name="T9" fmla="*/ 0 h 199"/>
                <a:gd name="T10" fmla="*/ 1186 w 1193"/>
                <a:gd name="T11" fmla="*/ 0 h 199"/>
                <a:gd name="T12" fmla="*/ 1188 w 1193"/>
                <a:gd name="T13" fmla="*/ 1 h 199"/>
                <a:gd name="T14" fmla="*/ 1188 w 1193"/>
                <a:gd name="T15" fmla="*/ 3 h 199"/>
                <a:gd name="T16" fmla="*/ 1188 w 1193"/>
                <a:gd name="T17" fmla="*/ 5 h 199"/>
                <a:gd name="T18" fmla="*/ 1188 w 1193"/>
                <a:gd name="T19" fmla="*/ 6 h 199"/>
                <a:gd name="T20" fmla="*/ 1193 w 1193"/>
                <a:gd name="T21" fmla="*/ 3 h 199"/>
                <a:gd name="T22" fmla="*/ 0 w 1193"/>
                <a:gd name="T23" fmla="*/ 194 h 199"/>
                <a:gd name="T24" fmla="*/ 0 w 1193"/>
                <a:gd name="T25" fmla="*/ 195 h 199"/>
                <a:gd name="T26" fmla="*/ 0 w 1193"/>
                <a:gd name="T27" fmla="*/ 197 h 199"/>
                <a:gd name="T28" fmla="*/ 0 w 1193"/>
                <a:gd name="T29" fmla="*/ 199 h 199"/>
                <a:gd name="T30" fmla="*/ 5 w 1193"/>
                <a:gd name="T31" fmla="*/ 199 h 199"/>
                <a:gd name="T32" fmla="*/ 5 w 1193"/>
                <a:gd name="T33" fmla="*/ 197 h 199"/>
                <a:gd name="T34" fmla="*/ 5 w 1193"/>
                <a:gd name="T35" fmla="*/ 195 h 199"/>
                <a:gd name="T36" fmla="*/ 5 w 1193"/>
                <a:gd name="T37" fmla="*/ 194 h 199"/>
                <a:gd name="T38" fmla="*/ 5 w 1193"/>
                <a:gd name="T39" fmla="*/ 192 h 199"/>
                <a:gd name="T40" fmla="*/ 0 w 1193"/>
                <a:gd name="T41" fmla="*/ 19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193" h="199">
                  <a:moveTo>
                    <a:pt x="1193" y="3"/>
                  </a:moveTo>
                  <a:lnTo>
                    <a:pt x="1193" y="3"/>
                  </a:lnTo>
                  <a:lnTo>
                    <a:pt x="1193" y="1"/>
                  </a:lnTo>
                  <a:lnTo>
                    <a:pt x="1191" y="1"/>
                  </a:lnTo>
                  <a:lnTo>
                    <a:pt x="1191" y="0"/>
                  </a:lnTo>
                  <a:lnTo>
                    <a:pt x="1186" y="0"/>
                  </a:lnTo>
                  <a:lnTo>
                    <a:pt x="1188" y="1"/>
                  </a:lnTo>
                  <a:lnTo>
                    <a:pt x="1188" y="3"/>
                  </a:lnTo>
                  <a:lnTo>
                    <a:pt x="1188" y="5"/>
                  </a:lnTo>
                  <a:lnTo>
                    <a:pt x="1188" y="6"/>
                  </a:lnTo>
                  <a:lnTo>
                    <a:pt x="1193" y="3"/>
                  </a:lnTo>
                  <a:close/>
                  <a:moveTo>
                    <a:pt x="0" y="194"/>
                  </a:moveTo>
                  <a:lnTo>
                    <a:pt x="0" y="195"/>
                  </a:lnTo>
                  <a:lnTo>
                    <a:pt x="0" y="197"/>
                  </a:lnTo>
                  <a:lnTo>
                    <a:pt x="0" y="199"/>
                  </a:lnTo>
                  <a:lnTo>
                    <a:pt x="5" y="199"/>
                  </a:lnTo>
                  <a:lnTo>
                    <a:pt x="5" y="197"/>
                  </a:lnTo>
                  <a:lnTo>
                    <a:pt x="5" y="195"/>
                  </a:lnTo>
                  <a:lnTo>
                    <a:pt x="5" y="194"/>
                  </a:lnTo>
                  <a:lnTo>
                    <a:pt x="5" y="192"/>
                  </a:lnTo>
                  <a:lnTo>
                    <a:pt x="0" y="194"/>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90" name="Freeform 30">
              <a:extLst>
                <a:ext uri="{FF2B5EF4-FFF2-40B4-BE49-F238E27FC236}">
                  <a16:creationId xmlns:a16="http://schemas.microsoft.com/office/drawing/2014/main" id="{14FE0F04-369F-9434-F681-18911C0E3B11}"/>
                </a:ext>
              </a:extLst>
            </p:cNvPr>
            <p:cNvSpPr>
              <a:spLocks noEditPoints="1"/>
            </p:cNvSpPr>
            <p:nvPr/>
          </p:nvSpPr>
          <p:spPr bwMode="auto">
            <a:xfrm>
              <a:off x="1242" y="1514"/>
              <a:ext cx="1187" cy="199"/>
            </a:xfrm>
            <a:custGeom>
              <a:avLst/>
              <a:gdLst>
                <a:gd name="T0" fmla="*/ 1187 w 1187"/>
                <a:gd name="T1" fmla="*/ 5 h 199"/>
                <a:gd name="T2" fmla="*/ 1187 w 1187"/>
                <a:gd name="T3" fmla="*/ 5 h 199"/>
                <a:gd name="T4" fmla="*/ 1187 w 1187"/>
                <a:gd name="T5" fmla="*/ 3 h 199"/>
                <a:gd name="T6" fmla="*/ 1187 w 1187"/>
                <a:gd name="T7" fmla="*/ 1 h 199"/>
                <a:gd name="T8" fmla="*/ 1187 w 1187"/>
                <a:gd name="T9" fmla="*/ 0 h 199"/>
                <a:gd name="T10" fmla="*/ 1182 w 1187"/>
                <a:gd name="T11" fmla="*/ 0 h 199"/>
                <a:gd name="T12" fmla="*/ 1182 w 1187"/>
                <a:gd name="T13" fmla="*/ 1 h 199"/>
                <a:gd name="T14" fmla="*/ 1182 w 1187"/>
                <a:gd name="T15" fmla="*/ 3 h 199"/>
                <a:gd name="T16" fmla="*/ 1182 w 1187"/>
                <a:gd name="T17" fmla="*/ 5 h 199"/>
                <a:gd name="T18" fmla="*/ 1184 w 1187"/>
                <a:gd name="T19" fmla="*/ 6 h 199"/>
                <a:gd name="T20" fmla="*/ 1187 w 1187"/>
                <a:gd name="T21" fmla="*/ 5 h 199"/>
                <a:gd name="T22" fmla="*/ 0 w 1187"/>
                <a:gd name="T23" fmla="*/ 194 h 199"/>
                <a:gd name="T24" fmla="*/ 0 w 1187"/>
                <a:gd name="T25" fmla="*/ 194 h 199"/>
                <a:gd name="T26" fmla="*/ 0 w 1187"/>
                <a:gd name="T27" fmla="*/ 195 h 199"/>
                <a:gd name="T28" fmla="*/ 2 w 1187"/>
                <a:gd name="T29" fmla="*/ 195 h 199"/>
                <a:gd name="T30" fmla="*/ 2 w 1187"/>
                <a:gd name="T31" fmla="*/ 197 h 199"/>
                <a:gd name="T32" fmla="*/ 2 w 1187"/>
                <a:gd name="T33" fmla="*/ 199 h 199"/>
                <a:gd name="T34" fmla="*/ 7 w 1187"/>
                <a:gd name="T35" fmla="*/ 199 h 199"/>
                <a:gd name="T36" fmla="*/ 7 w 1187"/>
                <a:gd name="T37" fmla="*/ 197 h 199"/>
                <a:gd name="T38" fmla="*/ 7 w 1187"/>
                <a:gd name="T39" fmla="*/ 195 h 199"/>
                <a:gd name="T40" fmla="*/ 5 w 1187"/>
                <a:gd name="T41" fmla="*/ 195 h 199"/>
                <a:gd name="T42" fmla="*/ 5 w 1187"/>
                <a:gd name="T43" fmla="*/ 194 h 199"/>
                <a:gd name="T44" fmla="*/ 5 w 1187"/>
                <a:gd name="T45" fmla="*/ 192 h 199"/>
                <a:gd name="T46" fmla="*/ 5 w 1187"/>
                <a:gd name="T47" fmla="*/ 190 h 199"/>
                <a:gd name="T48" fmla="*/ 0 w 1187"/>
                <a:gd name="T49" fmla="*/ 19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187" h="199">
                  <a:moveTo>
                    <a:pt x="1187" y="5"/>
                  </a:moveTo>
                  <a:lnTo>
                    <a:pt x="1187" y="5"/>
                  </a:lnTo>
                  <a:lnTo>
                    <a:pt x="1187" y="3"/>
                  </a:lnTo>
                  <a:lnTo>
                    <a:pt x="1187" y="1"/>
                  </a:lnTo>
                  <a:lnTo>
                    <a:pt x="1187" y="0"/>
                  </a:lnTo>
                  <a:lnTo>
                    <a:pt x="1182" y="0"/>
                  </a:lnTo>
                  <a:lnTo>
                    <a:pt x="1182" y="1"/>
                  </a:lnTo>
                  <a:lnTo>
                    <a:pt x="1182" y="3"/>
                  </a:lnTo>
                  <a:lnTo>
                    <a:pt x="1182" y="5"/>
                  </a:lnTo>
                  <a:lnTo>
                    <a:pt x="1184" y="6"/>
                  </a:lnTo>
                  <a:lnTo>
                    <a:pt x="1187" y="5"/>
                  </a:lnTo>
                  <a:close/>
                  <a:moveTo>
                    <a:pt x="0" y="194"/>
                  </a:moveTo>
                  <a:lnTo>
                    <a:pt x="0" y="194"/>
                  </a:lnTo>
                  <a:lnTo>
                    <a:pt x="0" y="195"/>
                  </a:lnTo>
                  <a:lnTo>
                    <a:pt x="2" y="195"/>
                  </a:lnTo>
                  <a:lnTo>
                    <a:pt x="2" y="197"/>
                  </a:lnTo>
                  <a:lnTo>
                    <a:pt x="2" y="199"/>
                  </a:lnTo>
                  <a:lnTo>
                    <a:pt x="7" y="199"/>
                  </a:lnTo>
                  <a:lnTo>
                    <a:pt x="7" y="197"/>
                  </a:lnTo>
                  <a:lnTo>
                    <a:pt x="7" y="195"/>
                  </a:lnTo>
                  <a:lnTo>
                    <a:pt x="5" y="195"/>
                  </a:lnTo>
                  <a:lnTo>
                    <a:pt x="5" y="194"/>
                  </a:lnTo>
                  <a:lnTo>
                    <a:pt x="5" y="192"/>
                  </a:lnTo>
                  <a:lnTo>
                    <a:pt x="5" y="190"/>
                  </a:lnTo>
                  <a:lnTo>
                    <a:pt x="0" y="194"/>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91" name="Freeform 31">
              <a:extLst>
                <a:ext uri="{FF2B5EF4-FFF2-40B4-BE49-F238E27FC236}">
                  <a16:creationId xmlns:a16="http://schemas.microsoft.com/office/drawing/2014/main" id="{35E60DF5-A399-E749-ADAE-647734C6D691}"/>
                </a:ext>
              </a:extLst>
            </p:cNvPr>
            <p:cNvSpPr>
              <a:spLocks noEditPoints="1"/>
            </p:cNvSpPr>
            <p:nvPr/>
          </p:nvSpPr>
          <p:spPr bwMode="auto">
            <a:xfrm>
              <a:off x="1245" y="1514"/>
              <a:ext cx="1183" cy="199"/>
            </a:xfrm>
            <a:custGeom>
              <a:avLst/>
              <a:gdLst>
                <a:gd name="T0" fmla="*/ 1183 w 1183"/>
                <a:gd name="T1" fmla="*/ 6 h 199"/>
                <a:gd name="T2" fmla="*/ 1183 w 1183"/>
                <a:gd name="T3" fmla="*/ 5 h 199"/>
                <a:gd name="T4" fmla="*/ 1183 w 1183"/>
                <a:gd name="T5" fmla="*/ 3 h 199"/>
                <a:gd name="T6" fmla="*/ 1183 w 1183"/>
                <a:gd name="T7" fmla="*/ 1 h 199"/>
                <a:gd name="T8" fmla="*/ 1181 w 1183"/>
                <a:gd name="T9" fmla="*/ 0 h 199"/>
                <a:gd name="T10" fmla="*/ 1176 w 1183"/>
                <a:gd name="T11" fmla="*/ 0 h 199"/>
                <a:gd name="T12" fmla="*/ 1178 w 1183"/>
                <a:gd name="T13" fmla="*/ 0 h 199"/>
                <a:gd name="T14" fmla="*/ 1178 w 1183"/>
                <a:gd name="T15" fmla="*/ 1 h 199"/>
                <a:gd name="T16" fmla="*/ 1178 w 1183"/>
                <a:gd name="T17" fmla="*/ 3 h 199"/>
                <a:gd name="T18" fmla="*/ 1178 w 1183"/>
                <a:gd name="T19" fmla="*/ 5 h 199"/>
                <a:gd name="T20" fmla="*/ 1178 w 1183"/>
                <a:gd name="T21" fmla="*/ 6 h 199"/>
                <a:gd name="T22" fmla="*/ 1178 w 1183"/>
                <a:gd name="T23" fmla="*/ 8 h 199"/>
                <a:gd name="T24" fmla="*/ 1183 w 1183"/>
                <a:gd name="T25" fmla="*/ 6 h 199"/>
                <a:gd name="T26" fmla="*/ 0 w 1183"/>
                <a:gd name="T27" fmla="*/ 192 h 199"/>
                <a:gd name="T28" fmla="*/ 0 w 1183"/>
                <a:gd name="T29" fmla="*/ 194 h 199"/>
                <a:gd name="T30" fmla="*/ 0 w 1183"/>
                <a:gd name="T31" fmla="*/ 195 h 199"/>
                <a:gd name="T32" fmla="*/ 0 w 1183"/>
                <a:gd name="T33" fmla="*/ 197 h 199"/>
                <a:gd name="T34" fmla="*/ 0 w 1183"/>
                <a:gd name="T35" fmla="*/ 199 h 199"/>
                <a:gd name="T36" fmla="*/ 5 w 1183"/>
                <a:gd name="T37" fmla="*/ 199 h 199"/>
                <a:gd name="T38" fmla="*/ 5 w 1183"/>
                <a:gd name="T39" fmla="*/ 197 h 199"/>
                <a:gd name="T40" fmla="*/ 5 w 1183"/>
                <a:gd name="T41" fmla="*/ 195 h 199"/>
                <a:gd name="T42" fmla="*/ 5 w 1183"/>
                <a:gd name="T43" fmla="*/ 194 h 199"/>
                <a:gd name="T44" fmla="*/ 5 w 1183"/>
                <a:gd name="T45" fmla="*/ 192 h 199"/>
                <a:gd name="T46" fmla="*/ 5 w 1183"/>
                <a:gd name="T47" fmla="*/ 190 h 199"/>
                <a:gd name="T48" fmla="*/ 4 w 1183"/>
                <a:gd name="T49" fmla="*/ 190 h 199"/>
                <a:gd name="T50" fmla="*/ 0 w 1183"/>
                <a:gd name="T51" fmla="*/ 19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183" h="199">
                  <a:moveTo>
                    <a:pt x="1183" y="6"/>
                  </a:moveTo>
                  <a:lnTo>
                    <a:pt x="1183" y="5"/>
                  </a:lnTo>
                  <a:lnTo>
                    <a:pt x="1183" y="3"/>
                  </a:lnTo>
                  <a:lnTo>
                    <a:pt x="1183" y="1"/>
                  </a:lnTo>
                  <a:lnTo>
                    <a:pt x="1181" y="0"/>
                  </a:lnTo>
                  <a:lnTo>
                    <a:pt x="1176" y="0"/>
                  </a:lnTo>
                  <a:lnTo>
                    <a:pt x="1178" y="0"/>
                  </a:lnTo>
                  <a:lnTo>
                    <a:pt x="1178" y="1"/>
                  </a:lnTo>
                  <a:lnTo>
                    <a:pt x="1178" y="3"/>
                  </a:lnTo>
                  <a:lnTo>
                    <a:pt x="1178" y="5"/>
                  </a:lnTo>
                  <a:lnTo>
                    <a:pt x="1178" y="6"/>
                  </a:lnTo>
                  <a:lnTo>
                    <a:pt x="1178" y="8"/>
                  </a:lnTo>
                  <a:lnTo>
                    <a:pt x="1183" y="6"/>
                  </a:lnTo>
                  <a:close/>
                  <a:moveTo>
                    <a:pt x="0" y="192"/>
                  </a:moveTo>
                  <a:lnTo>
                    <a:pt x="0" y="194"/>
                  </a:lnTo>
                  <a:lnTo>
                    <a:pt x="0" y="195"/>
                  </a:lnTo>
                  <a:lnTo>
                    <a:pt x="0" y="197"/>
                  </a:lnTo>
                  <a:lnTo>
                    <a:pt x="0" y="199"/>
                  </a:lnTo>
                  <a:lnTo>
                    <a:pt x="5" y="199"/>
                  </a:lnTo>
                  <a:lnTo>
                    <a:pt x="5" y="197"/>
                  </a:lnTo>
                  <a:lnTo>
                    <a:pt x="5" y="195"/>
                  </a:lnTo>
                  <a:lnTo>
                    <a:pt x="5" y="194"/>
                  </a:lnTo>
                  <a:lnTo>
                    <a:pt x="5" y="192"/>
                  </a:lnTo>
                  <a:lnTo>
                    <a:pt x="5" y="190"/>
                  </a:lnTo>
                  <a:lnTo>
                    <a:pt x="4" y="190"/>
                  </a:lnTo>
                  <a:lnTo>
                    <a:pt x="0" y="192"/>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92" name="Freeform 32">
              <a:extLst>
                <a:ext uri="{FF2B5EF4-FFF2-40B4-BE49-F238E27FC236}">
                  <a16:creationId xmlns:a16="http://schemas.microsoft.com/office/drawing/2014/main" id="{FD9C1D06-3448-E177-89EA-AE92C74FB2C9}"/>
                </a:ext>
              </a:extLst>
            </p:cNvPr>
            <p:cNvSpPr>
              <a:spLocks noEditPoints="1"/>
            </p:cNvSpPr>
            <p:nvPr/>
          </p:nvSpPr>
          <p:spPr bwMode="auto">
            <a:xfrm>
              <a:off x="1247" y="1514"/>
              <a:ext cx="1179" cy="199"/>
            </a:xfrm>
            <a:custGeom>
              <a:avLst/>
              <a:gdLst>
                <a:gd name="T0" fmla="*/ 1179 w 1179"/>
                <a:gd name="T1" fmla="*/ 6 h 199"/>
                <a:gd name="T2" fmla="*/ 1179 w 1179"/>
                <a:gd name="T3" fmla="*/ 6 h 199"/>
                <a:gd name="T4" fmla="*/ 1177 w 1179"/>
                <a:gd name="T5" fmla="*/ 5 h 199"/>
                <a:gd name="T6" fmla="*/ 1177 w 1179"/>
                <a:gd name="T7" fmla="*/ 3 h 199"/>
                <a:gd name="T8" fmla="*/ 1177 w 1179"/>
                <a:gd name="T9" fmla="*/ 1 h 199"/>
                <a:gd name="T10" fmla="*/ 1177 w 1179"/>
                <a:gd name="T11" fmla="*/ 0 h 199"/>
                <a:gd name="T12" fmla="*/ 1172 w 1179"/>
                <a:gd name="T13" fmla="*/ 0 h 199"/>
                <a:gd name="T14" fmla="*/ 1172 w 1179"/>
                <a:gd name="T15" fmla="*/ 1 h 199"/>
                <a:gd name="T16" fmla="*/ 1172 w 1179"/>
                <a:gd name="T17" fmla="*/ 3 h 199"/>
                <a:gd name="T18" fmla="*/ 1172 w 1179"/>
                <a:gd name="T19" fmla="*/ 5 h 199"/>
                <a:gd name="T20" fmla="*/ 1174 w 1179"/>
                <a:gd name="T21" fmla="*/ 5 h 199"/>
                <a:gd name="T22" fmla="*/ 1174 w 1179"/>
                <a:gd name="T23" fmla="*/ 6 h 199"/>
                <a:gd name="T24" fmla="*/ 1174 w 1179"/>
                <a:gd name="T25" fmla="*/ 8 h 199"/>
                <a:gd name="T26" fmla="*/ 1179 w 1179"/>
                <a:gd name="T27" fmla="*/ 6 h 199"/>
                <a:gd name="T28" fmla="*/ 0 w 1179"/>
                <a:gd name="T29" fmla="*/ 190 h 199"/>
                <a:gd name="T30" fmla="*/ 0 w 1179"/>
                <a:gd name="T31" fmla="*/ 192 h 199"/>
                <a:gd name="T32" fmla="*/ 0 w 1179"/>
                <a:gd name="T33" fmla="*/ 194 h 199"/>
                <a:gd name="T34" fmla="*/ 0 w 1179"/>
                <a:gd name="T35" fmla="*/ 195 h 199"/>
                <a:gd name="T36" fmla="*/ 2 w 1179"/>
                <a:gd name="T37" fmla="*/ 195 h 199"/>
                <a:gd name="T38" fmla="*/ 2 w 1179"/>
                <a:gd name="T39" fmla="*/ 197 h 199"/>
                <a:gd name="T40" fmla="*/ 2 w 1179"/>
                <a:gd name="T41" fmla="*/ 199 h 199"/>
                <a:gd name="T42" fmla="*/ 6 w 1179"/>
                <a:gd name="T43" fmla="*/ 199 h 199"/>
                <a:gd name="T44" fmla="*/ 6 w 1179"/>
                <a:gd name="T45" fmla="*/ 197 h 199"/>
                <a:gd name="T46" fmla="*/ 5 w 1179"/>
                <a:gd name="T47" fmla="*/ 195 h 199"/>
                <a:gd name="T48" fmla="*/ 5 w 1179"/>
                <a:gd name="T49" fmla="*/ 194 h 199"/>
                <a:gd name="T50" fmla="*/ 5 w 1179"/>
                <a:gd name="T51" fmla="*/ 192 h 199"/>
                <a:gd name="T52" fmla="*/ 5 w 1179"/>
                <a:gd name="T53" fmla="*/ 190 h 199"/>
                <a:gd name="T54" fmla="*/ 5 w 1179"/>
                <a:gd name="T55" fmla="*/ 189 h 199"/>
                <a:gd name="T56" fmla="*/ 0 w 1179"/>
                <a:gd name="T57" fmla="*/ 19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179" h="199">
                  <a:moveTo>
                    <a:pt x="1179" y="6"/>
                  </a:moveTo>
                  <a:lnTo>
                    <a:pt x="1179" y="6"/>
                  </a:lnTo>
                  <a:lnTo>
                    <a:pt x="1177" y="5"/>
                  </a:lnTo>
                  <a:lnTo>
                    <a:pt x="1177" y="3"/>
                  </a:lnTo>
                  <a:lnTo>
                    <a:pt x="1177" y="1"/>
                  </a:lnTo>
                  <a:lnTo>
                    <a:pt x="1177" y="0"/>
                  </a:lnTo>
                  <a:lnTo>
                    <a:pt x="1172" y="0"/>
                  </a:lnTo>
                  <a:lnTo>
                    <a:pt x="1172" y="1"/>
                  </a:lnTo>
                  <a:lnTo>
                    <a:pt x="1172" y="3"/>
                  </a:lnTo>
                  <a:lnTo>
                    <a:pt x="1172" y="5"/>
                  </a:lnTo>
                  <a:lnTo>
                    <a:pt x="1174" y="5"/>
                  </a:lnTo>
                  <a:lnTo>
                    <a:pt x="1174" y="6"/>
                  </a:lnTo>
                  <a:lnTo>
                    <a:pt x="1174" y="8"/>
                  </a:lnTo>
                  <a:lnTo>
                    <a:pt x="1179" y="6"/>
                  </a:lnTo>
                  <a:close/>
                  <a:moveTo>
                    <a:pt x="0" y="190"/>
                  </a:moveTo>
                  <a:lnTo>
                    <a:pt x="0" y="192"/>
                  </a:lnTo>
                  <a:lnTo>
                    <a:pt x="0" y="194"/>
                  </a:lnTo>
                  <a:lnTo>
                    <a:pt x="0" y="195"/>
                  </a:lnTo>
                  <a:lnTo>
                    <a:pt x="2" y="195"/>
                  </a:lnTo>
                  <a:lnTo>
                    <a:pt x="2" y="197"/>
                  </a:lnTo>
                  <a:lnTo>
                    <a:pt x="2" y="199"/>
                  </a:lnTo>
                  <a:lnTo>
                    <a:pt x="6" y="199"/>
                  </a:lnTo>
                  <a:lnTo>
                    <a:pt x="6" y="197"/>
                  </a:lnTo>
                  <a:lnTo>
                    <a:pt x="5" y="195"/>
                  </a:lnTo>
                  <a:lnTo>
                    <a:pt x="5" y="194"/>
                  </a:lnTo>
                  <a:lnTo>
                    <a:pt x="5" y="192"/>
                  </a:lnTo>
                  <a:lnTo>
                    <a:pt x="5" y="190"/>
                  </a:lnTo>
                  <a:lnTo>
                    <a:pt x="5" y="189"/>
                  </a:lnTo>
                  <a:lnTo>
                    <a:pt x="0" y="19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93" name="Freeform 33">
              <a:extLst>
                <a:ext uri="{FF2B5EF4-FFF2-40B4-BE49-F238E27FC236}">
                  <a16:creationId xmlns:a16="http://schemas.microsoft.com/office/drawing/2014/main" id="{03FEFD69-34F4-5591-33EF-7CD2416E539A}"/>
                </a:ext>
              </a:extLst>
            </p:cNvPr>
            <p:cNvSpPr>
              <a:spLocks noEditPoints="1"/>
            </p:cNvSpPr>
            <p:nvPr/>
          </p:nvSpPr>
          <p:spPr bwMode="auto">
            <a:xfrm>
              <a:off x="1249" y="1514"/>
              <a:ext cx="1174" cy="199"/>
            </a:xfrm>
            <a:custGeom>
              <a:avLst/>
              <a:gdLst>
                <a:gd name="T0" fmla="*/ 1174 w 1174"/>
                <a:gd name="T1" fmla="*/ 8 h 199"/>
                <a:gd name="T2" fmla="*/ 1174 w 1174"/>
                <a:gd name="T3" fmla="*/ 6 h 199"/>
                <a:gd name="T4" fmla="*/ 1174 w 1174"/>
                <a:gd name="T5" fmla="*/ 5 h 199"/>
                <a:gd name="T6" fmla="*/ 1174 w 1174"/>
                <a:gd name="T7" fmla="*/ 3 h 199"/>
                <a:gd name="T8" fmla="*/ 1174 w 1174"/>
                <a:gd name="T9" fmla="*/ 1 h 199"/>
                <a:gd name="T10" fmla="*/ 1174 w 1174"/>
                <a:gd name="T11" fmla="*/ 0 h 199"/>
                <a:gd name="T12" fmla="*/ 1172 w 1174"/>
                <a:gd name="T13" fmla="*/ 0 h 199"/>
                <a:gd name="T14" fmla="*/ 1167 w 1174"/>
                <a:gd name="T15" fmla="*/ 0 h 199"/>
                <a:gd name="T16" fmla="*/ 1169 w 1174"/>
                <a:gd name="T17" fmla="*/ 1 h 199"/>
                <a:gd name="T18" fmla="*/ 1169 w 1174"/>
                <a:gd name="T19" fmla="*/ 3 h 199"/>
                <a:gd name="T20" fmla="*/ 1169 w 1174"/>
                <a:gd name="T21" fmla="*/ 5 h 199"/>
                <a:gd name="T22" fmla="*/ 1169 w 1174"/>
                <a:gd name="T23" fmla="*/ 6 h 199"/>
                <a:gd name="T24" fmla="*/ 1169 w 1174"/>
                <a:gd name="T25" fmla="*/ 8 h 199"/>
                <a:gd name="T26" fmla="*/ 1169 w 1174"/>
                <a:gd name="T27" fmla="*/ 10 h 199"/>
                <a:gd name="T28" fmla="*/ 1174 w 1174"/>
                <a:gd name="T29" fmla="*/ 8 h 199"/>
                <a:gd name="T30" fmla="*/ 0 w 1174"/>
                <a:gd name="T31" fmla="*/ 190 h 199"/>
                <a:gd name="T32" fmla="*/ 1 w 1174"/>
                <a:gd name="T33" fmla="*/ 190 h 199"/>
                <a:gd name="T34" fmla="*/ 1 w 1174"/>
                <a:gd name="T35" fmla="*/ 192 h 199"/>
                <a:gd name="T36" fmla="*/ 1 w 1174"/>
                <a:gd name="T37" fmla="*/ 194 h 199"/>
                <a:gd name="T38" fmla="*/ 1 w 1174"/>
                <a:gd name="T39" fmla="*/ 195 h 199"/>
                <a:gd name="T40" fmla="*/ 1 w 1174"/>
                <a:gd name="T41" fmla="*/ 197 h 199"/>
                <a:gd name="T42" fmla="*/ 1 w 1174"/>
                <a:gd name="T43" fmla="*/ 199 h 199"/>
                <a:gd name="T44" fmla="*/ 6 w 1174"/>
                <a:gd name="T45" fmla="*/ 199 h 199"/>
                <a:gd name="T46" fmla="*/ 6 w 1174"/>
                <a:gd name="T47" fmla="*/ 197 h 199"/>
                <a:gd name="T48" fmla="*/ 6 w 1174"/>
                <a:gd name="T49" fmla="*/ 195 h 199"/>
                <a:gd name="T50" fmla="*/ 6 w 1174"/>
                <a:gd name="T51" fmla="*/ 194 h 199"/>
                <a:gd name="T52" fmla="*/ 6 w 1174"/>
                <a:gd name="T53" fmla="*/ 192 h 199"/>
                <a:gd name="T54" fmla="*/ 4 w 1174"/>
                <a:gd name="T55" fmla="*/ 190 h 199"/>
                <a:gd name="T56" fmla="*/ 4 w 1174"/>
                <a:gd name="T57" fmla="*/ 189 h 199"/>
                <a:gd name="T58" fmla="*/ 0 w 1174"/>
                <a:gd name="T59" fmla="*/ 19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74" h="199">
                  <a:moveTo>
                    <a:pt x="1174" y="8"/>
                  </a:moveTo>
                  <a:lnTo>
                    <a:pt x="1174" y="6"/>
                  </a:lnTo>
                  <a:lnTo>
                    <a:pt x="1174" y="5"/>
                  </a:lnTo>
                  <a:lnTo>
                    <a:pt x="1174" y="3"/>
                  </a:lnTo>
                  <a:lnTo>
                    <a:pt x="1174" y="1"/>
                  </a:lnTo>
                  <a:lnTo>
                    <a:pt x="1174" y="0"/>
                  </a:lnTo>
                  <a:lnTo>
                    <a:pt x="1172" y="0"/>
                  </a:lnTo>
                  <a:lnTo>
                    <a:pt x="1167" y="0"/>
                  </a:lnTo>
                  <a:lnTo>
                    <a:pt x="1169" y="1"/>
                  </a:lnTo>
                  <a:lnTo>
                    <a:pt x="1169" y="3"/>
                  </a:lnTo>
                  <a:lnTo>
                    <a:pt x="1169" y="5"/>
                  </a:lnTo>
                  <a:lnTo>
                    <a:pt x="1169" y="6"/>
                  </a:lnTo>
                  <a:lnTo>
                    <a:pt x="1169" y="8"/>
                  </a:lnTo>
                  <a:lnTo>
                    <a:pt x="1169" y="10"/>
                  </a:lnTo>
                  <a:lnTo>
                    <a:pt x="1174" y="8"/>
                  </a:lnTo>
                  <a:close/>
                  <a:moveTo>
                    <a:pt x="0" y="190"/>
                  </a:moveTo>
                  <a:lnTo>
                    <a:pt x="1" y="190"/>
                  </a:lnTo>
                  <a:lnTo>
                    <a:pt x="1" y="192"/>
                  </a:lnTo>
                  <a:lnTo>
                    <a:pt x="1" y="194"/>
                  </a:lnTo>
                  <a:lnTo>
                    <a:pt x="1" y="195"/>
                  </a:lnTo>
                  <a:lnTo>
                    <a:pt x="1" y="197"/>
                  </a:lnTo>
                  <a:lnTo>
                    <a:pt x="1" y="199"/>
                  </a:lnTo>
                  <a:lnTo>
                    <a:pt x="6" y="199"/>
                  </a:lnTo>
                  <a:lnTo>
                    <a:pt x="6" y="197"/>
                  </a:lnTo>
                  <a:lnTo>
                    <a:pt x="6" y="195"/>
                  </a:lnTo>
                  <a:lnTo>
                    <a:pt x="6" y="194"/>
                  </a:lnTo>
                  <a:lnTo>
                    <a:pt x="6" y="192"/>
                  </a:lnTo>
                  <a:lnTo>
                    <a:pt x="4" y="190"/>
                  </a:lnTo>
                  <a:lnTo>
                    <a:pt x="4" y="189"/>
                  </a:lnTo>
                  <a:lnTo>
                    <a:pt x="0" y="19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94" name="Freeform 34">
              <a:extLst>
                <a:ext uri="{FF2B5EF4-FFF2-40B4-BE49-F238E27FC236}">
                  <a16:creationId xmlns:a16="http://schemas.microsoft.com/office/drawing/2014/main" id="{883F6902-A900-5288-F41E-CC2D390E5665}"/>
                </a:ext>
              </a:extLst>
            </p:cNvPr>
            <p:cNvSpPr>
              <a:spLocks noEditPoints="1"/>
            </p:cNvSpPr>
            <p:nvPr/>
          </p:nvSpPr>
          <p:spPr bwMode="auto">
            <a:xfrm>
              <a:off x="1252" y="1514"/>
              <a:ext cx="1169" cy="199"/>
            </a:xfrm>
            <a:custGeom>
              <a:avLst/>
              <a:gdLst>
                <a:gd name="T0" fmla="*/ 1169 w 1169"/>
                <a:gd name="T1" fmla="*/ 8 h 199"/>
                <a:gd name="T2" fmla="*/ 1169 w 1169"/>
                <a:gd name="T3" fmla="*/ 8 h 199"/>
                <a:gd name="T4" fmla="*/ 1169 w 1169"/>
                <a:gd name="T5" fmla="*/ 6 h 199"/>
                <a:gd name="T6" fmla="*/ 1169 w 1169"/>
                <a:gd name="T7" fmla="*/ 5 h 199"/>
                <a:gd name="T8" fmla="*/ 1167 w 1169"/>
                <a:gd name="T9" fmla="*/ 5 h 199"/>
                <a:gd name="T10" fmla="*/ 1167 w 1169"/>
                <a:gd name="T11" fmla="*/ 3 h 199"/>
                <a:gd name="T12" fmla="*/ 1167 w 1169"/>
                <a:gd name="T13" fmla="*/ 1 h 199"/>
                <a:gd name="T14" fmla="*/ 1167 w 1169"/>
                <a:gd name="T15" fmla="*/ 0 h 199"/>
                <a:gd name="T16" fmla="*/ 1162 w 1169"/>
                <a:gd name="T17" fmla="*/ 0 h 199"/>
                <a:gd name="T18" fmla="*/ 1162 w 1169"/>
                <a:gd name="T19" fmla="*/ 1 h 199"/>
                <a:gd name="T20" fmla="*/ 1162 w 1169"/>
                <a:gd name="T21" fmla="*/ 3 h 199"/>
                <a:gd name="T22" fmla="*/ 1164 w 1169"/>
                <a:gd name="T23" fmla="*/ 5 h 199"/>
                <a:gd name="T24" fmla="*/ 1164 w 1169"/>
                <a:gd name="T25" fmla="*/ 6 h 199"/>
                <a:gd name="T26" fmla="*/ 1164 w 1169"/>
                <a:gd name="T27" fmla="*/ 8 h 199"/>
                <a:gd name="T28" fmla="*/ 1164 w 1169"/>
                <a:gd name="T29" fmla="*/ 10 h 199"/>
                <a:gd name="T30" fmla="*/ 1164 w 1169"/>
                <a:gd name="T31" fmla="*/ 11 h 199"/>
                <a:gd name="T32" fmla="*/ 1169 w 1169"/>
                <a:gd name="T33" fmla="*/ 8 h 199"/>
                <a:gd name="T34" fmla="*/ 0 w 1169"/>
                <a:gd name="T35" fmla="*/ 189 h 199"/>
                <a:gd name="T36" fmla="*/ 0 w 1169"/>
                <a:gd name="T37" fmla="*/ 190 h 199"/>
                <a:gd name="T38" fmla="*/ 0 w 1169"/>
                <a:gd name="T39" fmla="*/ 192 h 199"/>
                <a:gd name="T40" fmla="*/ 0 w 1169"/>
                <a:gd name="T41" fmla="*/ 194 h 199"/>
                <a:gd name="T42" fmla="*/ 0 w 1169"/>
                <a:gd name="T43" fmla="*/ 195 h 199"/>
                <a:gd name="T44" fmla="*/ 1 w 1169"/>
                <a:gd name="T45" fmla="*/ 197 h 199"/>
                <a:gd name="T46" fmla="*/ 1 w 1169"/>
                <a:gd name="T47" fmla="*/ 199 h 199"/>
                <a:gd name="T48" fmla="*/ 6 w 1169"/>
                <a:gd name="T49" fmla="*/ 199 h 199"/>
                <a:gd name="T50" fmla="*/ 6 w 1169"/>
                <a:gd name="T51" fmla="*/ 197 h 199"/>
                <a:gd name="T52" fmla="*/ 5 w 1169"/>
                <a:gd name="T53" fmla="*/ 195 h 199"/>
                <a:gd name="T54" fmla="*/ 5 w 1169"/>
                <a:gd name="T55" fmla="*/ 194 h 199"/>
                <a:gd name="T56" fmla="*/ 5 w 1169"/>
                <a:gd name="T57" fmla="*/ 192 h 199"/>
                <a:gd name="T58" fmla="*/ 5 w 1169"/>
                <a:gd name="T59" fmla="*/ 190 h 199"/>
                <a:gd name="T60" fmla="*/ 5 w 1169"/>
                <a:gd name="T61" fmla="*/ 189 h 199"/>
                <a:gd name="T62" fmla="*/ 5 w 1169"/>
                <a:gd name="T63" fmla="*/ 187 h 199"/>
                <a:gd name="T64" fmla="*/ 0 w 1169"/>
                <a:gd name="T65" fmla="*/ 18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69" h="199">
                  <a:moveTo>
                    <a:pt x="1169" y="8"/>
                  </a:moveTo>
                  <a:lnTo>
                    <a:pt x="1169" y="8"/>
                  </a:lnTo>
                  <a:lnTo>
                    <a:pt x="1169" y="6"/>
                  </a:lnTo>
                  <a:lnTo>
                    <a:pt x="1169" y="5"/>
                  </a:lnTo>
                  <a:lnTo>
                    <a:pt x="1167" y="5"/>
                  </a:lnTo>
                  <a:lnTo>
                    <a:pt x="1167" y="3"/>
                  </a:lnTo>
                  <a:lnTo>
                    <a:pt x="1167" y="1"/>
                  </a:lnTo>
                  <a:lnTo>
                    <a:pt x="1167" y="0"/>
                  </a:lnTo>
                  <a:lnTo>
                    <a:pt x="1162" y="0"/>
                  </a:lnTo>
                  <a:lnTo>
                    <a:pt x="1162" y="1"/>
                  </a:lnTo>
                  <a:lnTo>
                    <a:pt x="1162" y="3"/>
                  </a:lnTo>
                  <a:lnTo>
                    <a:pt x="1164" y="5"/>
                  </a:lnTo>
                  <a:lnTo>
                    <a:pt x="1164" y="6"/>
                  </a:lnTo>
                  <a:lnTo>
                    <a:pt x="1164" y="8"/>
                  </a:lnTo>
                  <a:lnTo>
                    <a:pt x="1164" y="10"/>
                  </a:lnTo>
                  <a:lnTo>
                    <a:pt x="1164" y="11"/>
                  </a:lnTo>
                  <a:lnTo>
                    <a:pt x="1169" y="8"/>
                  </a:lnTo>
                  <a:close/>
                  <a:moveTo>
                    <a:pt x="0" y="189"/>
                  </a:moveTo>
                  <a:lnTo>
                    <a:pt x="0" y="190"/>
                  </a:lnTo>
                  <a:lnTo>
                    <a:pt x="0" y="192"/>
                  </a:lnTo>
                  <a:lnTo>
                    <a:pt x="0" y="194"/>
                  </a:lnTo>
                  <a:lnTo>
                    <a:pt x="0" y="195"/>
                  </a:lnTo>
                  <a:lnTo>
                    <a:pt x="1" y="197"/>
                  </a:lnTo>
                  <a:lnTo>
                    <a:pt x="1" y="199"/>
                  </a:lnTo>
                  <a:lnTo>
                    <a:pt x="6" y="199"/>
                  </a:lnTo>
                  <a:lnTo>
                    <a:pt x="6" y="197"/>
                  </a:lnTo>
                  <a:lnTo>
                    <a:pt x="5" y="195"/>
                  </a:lnTo>
                  <a:lnTo>
                    <a:pt x="5" y="194"/>
                  </a:lnTo>
                  <a:lnTo>
                    <a:pt x="5" y="192"/>
                  </a:lnTo>
                  <a:lnTo>
                    <a:pt x="5" y="190"/>
                  </a:lnTo>
                  <a:lnTo>
                    <a:pt x="5" y="189"/>
                  </a:lnTo>
                  <a:lnTo>
                    <a:pt x="5" y="187"/>
                  </a:lnTo>
                  <a:lnTo>
                    <a:pt x="0" y="189"/>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95" name="Freeform 35">
              <a:extLst>
                <a:ext uri="{FF2B5EF4-FFF2-40B4-BE49-F238E27FC236}">
                  <a16:creationId xmlns:a16="http://schemas.microsoft.com/office/drawing/2014/main" id="{2BD6EB8C-BA45-9D6C-3CBF-FBD21837E234}"/>
                </a:ext>
              </a:extLst>
            </p:cNvPr>
            <p:cNvSpPr>
              <a:spLocks noEditPoints="1"/>
            </p:cNvSpPr>
            <p:nvPr/>
          </p:nvSpPr>
          <p:spPr bwMode="auto">
            <a:xfrm>
              <a:off x="1253" y="1514"/>
              <a:ext cx="1165" cy="199"/>
            </a:xfrm>
            <a:custGeom>
              <a:avLst/>
              <a:gdLst>
                <a:gd name="T0" fmla="*/ 1165 w 1165"/>
                <a:gd name="T1" fmla="*/ 10 h 199"/>
                <a:gd name="T2" fmla="*/ 1165 w 1165"/>
                <a:gd name="T3" fmla="*/ 8 h 199"/>
                <a:gd name="T4" fmla="*/ 1165 w 1165"/>
                <a:gd name="T5" fmla="*/ 6 h 199"/>
                <a:gd name="T6" fmla="*/ 1165 w 1165"/>
                <a:gd name="T7" fmla="*/ 5 h 199"/>
                <a:gd name="T8" fmla="*/ 1165 w 1165"/>
                <a:gd name="T9" fmla="*/ 3 h 199"/>
                <a:gd name="T10" fmla="*/ 1165 w 1165"/>
                <a:gd name="T11" fmla="*/ 1 h 199"/>
                <a:gd name="T12" fmla="*/ 1163 w 1165"/>
                <a:gd name="T13" fmla="*/ 0 h 199"/>
                <a:gd name="T14" fmla="*/ 1160 w 1165"/>
                <a:gd name="T15" fmla="*/ 0 h 199"/>
                <a:gd name="T16" fmla="*/ 1160 w 1165"/>
                <a:gd name="T17" fmla="*/ 1 h 199"/>
                <a:gd name="T18" fmla="*/ 1160 w 1165"/>
                <a:gd name="T19" fmla="*/ 3 h 199"/>
                <a:gd name="T20" fmla="*/ 1160 w 1165"/>
                <a:gd name="T21" fmla="*/ 5 h 199"/>
                <a:gd name="T22" fmla="*/ 1160 w 1165"/>
                <a:gd name="T23" fmla="*/ 6 h 199"/>
                <a:gd name="T24" fmla="*/ 1160 w 1165"/>
                <a:gd name="T25" fmla="*/ 8 h 199"/>
                <a:gd name="T26" fmla="*/ 1161 w 1165"/>
                <a:gd name="T27" fmla="*/ 10 h 199"/>
                <a:gd name="T28" fmla="*/ 1161 w 1165"/>
                <a:gd name="T29" fmla="*/ 11 h 199"/>
                <a:gd name="T30" fmla="*/ 1165 w 1165"/>
                <a:gd name="T31" fmla="*/ 10 h 199"/>
                <a:gd name="T32" fmla="*/ 0 w 1165"/>
                <a:gd name="T33" fmla="*/ 189 h 199"/>
                <a:gd name="T34" fmla="*/ 0 w 1165"/>
                <a:gd name="T35" fmla="*/ 189 h 199"/>
                <a:gd name="T36" fmla="*/ 0 w 1165"/>
                <a:gd name="T37" fmla="*/ 190 h 199"/>
                <a:gd name="T38" fmla="*/ 2 w 1165"/>
                <a:gd name="T39" fmla="*/ 192 h 199"/>
                <a:gd name="T40" fmla="*/ 2 w 1165"/>
                <a:gd name="T41" fmla="*/ 194 h 199"/>
                <a:gd name="T42" fmla="*/ 2 w 1165"/>
                <a:gd name="T43" fmla="*/ 195 h 199"/>
                <a:gd name="T44" fmla="*/ 2 w 1165"/>
                <a:gd name="T45" fmla="*/ 197 h 199"/>
                <a:gd name="T46" fmla="*/ 2 w 1165"/>
                <a:gd name="T47" fmla="*/ 199 h 199"/>
                <a:gd name="T48" fmla="*/ 7 w 1165"/>
                <a:gd name="T49" fmla="*/ 199 h 199"/>
                <a:gd name="T50" fmla="*/ 7 w 1165"/>
                <a:gd name="T51" fmla="*/ 197 h 199"/>
                <a:gd name="T52" fmla="*/ 7 w 1165"/>
                <a:gd name="T53" fmla="*/ 195 h 199"/>
                <a:gd name="T54" fmla="*/ 7 w 1165"/>
                <a:gd name="T55" fmla="*/ 194 h 199"/>
                <a:gd name="T56" fmla="*/ 7 w 1165"/>
                <a:gd name="T57" fmla="*/ 192 h 199"/>
                <a:gd name="T58" fmla="*/ 5 w 1165"/>
                <a:gd name="T59" fmla="*/ 190 h 199"/>
                <a:gd name="T60" fmla="*/ 5 w 1165"/>
                <a:gd name="T61" fmla="*/ 189 h 199"/>
                <a:gd name="T62" fmla="*/ 5 w 1165"/>
                <a:gd name="T63" fmla="*/ 187 h 199"/>
                <a:gd name="T64" fmla="*/ 5 w 1165"/>
                <a:gd name="T65" fmla="*/ 185 h 199"/>
                <a:gd name="T66" fmla="*/ 0 w 1165"/>
                <a:gd name="T67" fmla="*/ 18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65" h="199">
                  <a:moveTo>
                    <a:pt x="1165" y="10"/>
                  </a:moveTo>
                  <a:lnTo>
                    <a:pt x="1165" y="8"/>
                  </a:lnTo>
                  <a:lnTo>
                    <a:pt x="1165" y="6"/>
                  </a:lnTo>
                  <a:lnTo>
                    <a:pt x="1165" y="5"/>
                  </a:lnTo>
                  <a:lnTo>
                    <a:pt x="1165" y="3"/>
                  </a:lnTo>
                  <a:lnTo>
                    <a:pt x="1165" y="1"/>
                  </a:lnTo>
                  <a:lnTo>
                    <a:pt x="1163" y="0"/>
                  </a:lnTo>
                  <a:lnTo>
                    <a:pt x="1160" y="0"/>
                  </a:lnTo>
                  <a:lnTo>
                    <a:pt x="1160" y="1"/>
                  </a:lnTo>
                  <a:lnTo>
                    <a:pt x="1160" y="3"/>
                  </a:lnTo>
                  <a:lnTo>
                    <a:pt x="1160" y="5"/>
                  </a:lnTo>
                  <a:lnTo>
                    <a:pt x="1160" y="6"/>
                  </a:lnTo>
                  <a:lnTo>
                    <a:pt x="1160" y="8"/>
                  </a:lnTo>
                  <a:lnTo>
                    <a:pt x="1161" y="10"/>
                  </a:lnTo>
                  <a:lnTo>
                    <a:pt x="1161" y="11"/>
                  </a:lnTo>
                  <a:lnTo>
                    <a:pt x="1165" y="10"/>
                  </a:lnTo>
                  <a:close/>
                  <a:moveTo>
                    <a:pt x="0" y="189"/>
                  </a:moveTo>
                  <a:lnTo>
                    <a:pt x="0" y="189"/>
                  </a:lnTo>
                  <a:lnTo>
                    <a:pt x="0" y="190"/>
                  </a:lnTo>
                  <a:lnTo>
                    <a:pt x="2" y="192"/>
                  </a:lnTo>
                  <a:lnTo>
                    <a:pt x="2" y="194"/>
                  </a:lnTo>
                  <a:lnTo>
                    <a:pt x="2" y="195"/>
                  </a:lnTo>
                  <a:lnTo>
                    <a:pt x="2" y="197"/>
                  </a:lnTo>
                  <a:lnTo>
                    <a:pt x="2" y="199"/>
                  </a:lnTo>
                  <a:lnTo>
                    <a:pt x="7" y="199"/>
                  </a:lnTo>
                  <a:lnTo>
                    <a:pt x="7" y="197"/>
                  </a:lnTo>
                  <a:lnTo>
                    <a:pt x="7" y="195"/>
                  </a:lnTo>
                  <a:lnTo>
                    <a:pt x="7" y="194"/>
                  </a:lnTo>
                  <a:lnTo>
                    <a:pt x="7" y="192"/>
                  </a:lnTo>
                  <a:lnTo>
                    <a:pt x="5" y="190"/>
                  </a:lnTo>
                  <a:lnTo>
                    <a:pt x="5" y="189"/>
                  </a:lnTo>
                  <a:lnTo>
                    <a:pt x="5" y="187"/>
                  </a:lnTo>
                  <a:lnTo>
                    <a:pt x="5" y="185"/>
                  </a:lnTo>
                  <a:lnTo>
                    <a:pt x="0" y="189"/>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96" name="Freeform 36">
              <a:extLst>
                <a:ext uri="{FF2B5EF4-FFF2-40B4-BE49-F238E27FC236}">
                  <a16:creationId xmlns:a16="http://schemas.microsoft.com/office/drawing/2014/main" id="{85341C75-5377-2A23-183B-158261ECAAF8}"/>
                </a:ext>
              </a:extLst>
            </p:cNvPr>
            <p:cNvSpPr>
              <a:spLocks noEditPoints="1"/>
            </p:cNvSpPr>
            <p:nvPr/>
          </p:nvSpPr>
          <p:spPr bwMode="auto">
            <a:xfrm>
              <a:off x="1257" y="1514"/>
              <a:ext cx="1159" cy="199"/>
            </a:xfrm>
            <a:custGeom>
              <a:avLst/>
              <a:gdLst>
                <a:gd name="T0" fmla="*/ 1159 w 1159"/>
                <a:gd name="T1" fmla="*/ 11 h 199"/>
                <a:gd name="T2" fmla="*/ 1159 w 1159"/>
                <a:gd name="T3" fmla="*/ 10 h 199"/>
                <a:gd name="T4" fmla="*/ 1159 w 1159"/>
                <a:gd name="T5" fmla="*/ 8 h 199"/>
                <a:gd name="T6" fmla="*/ 1159 w 1159"/>
                <a:gd name="T7" fmla="*/ 6 h 199"/>
                <a:gd name="T8" fmla="*/ 1159 w 1159"/>
                <a:gd name="T9" fmla="*/ 5 h 199"/>
                <a:gd name="T10" fmla="*/ 1157 w 1159"/>
                <a:gd name="T11" fmla="*/ 3 h 199"/>
                <a:gd name="T12" fmla="*/ 1157 w 1159"/>
                <a:gd name="T13" fmla="*/ 1 h 199"/>
                <a:gd name="T14" fmla="*/ 1157 w 1159"/>
                <a:gd name="T15" fmla="*/ 0 h 199"/>
                <a:gd name="T16" fmla="*/ 1152 w 1159"/>
                <a:gd name="T17" fmla="*/ 0 h 199"/>
                <a:gd name="T18" fmla="*/ 1152 w 1159"/>
                <a:gd name="T19" fmla="*/ 1 h 199"/>
                <a:gd name="T20" fmla="*/ 1152 w 1159"/>
                <a:gd name="T21" fmla="*/ 3 h 199"/>
                <a:gd name="T22" fmla="*/ 1154 w 1159"/>
                <a:gd name="T23" fmla="*/ 5 h 199"/>
                <a:gd name="T24" fmla="*/ 1154 w 1159"/>
                <a:gd name="T25" fmla="*/ 6 h 199"/>
                <a:gd name="T26" fmla="*/ 1154 w 1159"/>
                <a:gd name="T27" fmla="*/ 8 h 199"/>
                <a:gd name="T28" fmla="*/ 1154 w 1159"/>
                <a:gd name="T29" fmla="*/ 10 h 199"/>
                <a:gd name="T30" fmla="*/ 1154 w 1159"/>
                <a:gd name="T31" fmla="*/ 11 h 199"/>
                <a:gd name="T32" fmla="*/ 1154 w 1159"/>
                <a:gd name="T33" fmla="*/ 13 h 199"/>
                <a:gd name="T34" fmla="*/ 1159 w 1159"/>
                <a:gd name="T35" fmla="*/ 11 h 199"/>
                <a:gd name="T36" fmla="*/ 0 w 1159"/>
                <a:gd name="T37" fmla="*/ 187 h 199"/>
                <a:gd name="T38" fmla="*/ 0 w 1159"/>
                <a:gd name="T39" fmla="*/ 189 h 199"/>
                <a:gd name="T40" fmla="*/ 0 w 1159"/>
                <a:gd name="T41" fmla="*/ 190 h 199"/>
                <a:gd name="T42" fmla="*/ 0 w 1159"/>
                <a:gd name="T43" fmla="*/ 192 h 199"/>
                <a:gd name="T44" fmla="*/ 0 w 1159"/>
                <a:gd name="T45" fmla="*/ 194 h 199"/>
                <a:gd name="T46" fmla="*/ 0 w 1159"/>
                <a:gd name="T47" fmla="*/ 195 h 199"/>
                <a:gd name="T48" fmla="*/ 1 w 1159"/>
                <a:gd name="T49" fmla="*/ 197 h 199"/>
                <a:gd name="T50" fmla="*/ 1 w 1159"/>
                <a:gd name="T51" fmla="*/ 199 h 199"/>
                <a:gd name="T52" fmla="*/ 6 w 1159"/>
                <a:gd name="T53" fmla="*/ 199 h 199"/>
                <a:gd name="T54" fmla="*/ 5 w 1159"/>
                <a:gd name="T55" fmla="*/ 197 h 199"/>
                <a:gd name="T56" fmla="*/ 5 w 1159"/>
                <a:gd name="T57" fmla="*/ 195 h 199"/>
                <a:gd name="T58" fmla="*/ 5 w 1159"/>
                <a:gd name="T59" fmla="*/ 194 h 199"/>
                <a:gd name="T60" fmla="*/ 5 w 1159"/>
                <a:gd name="T61" fmla="*/ 192 h 199"/>
                <a:gd name="T62" fmla="*/ 5 w 1159"/>
                <a:gd name="T63" fmla="*/ 190 h 199"/>
                <a:gd name="T64" fmla="*/ 5 w 1159"/>
                <a:gd name="T65" fmla="*/ 189 h 199"/>
                <a:gd name="T66" fmla="*/ 3 w 1159"/>
                <a:gd name="T67" fmla="*/ 187 h 199"/>
                <a:gd name="T68" fmla="*/ 3 w 1159"/>
                <a:gd name="T69" fmla="*/ 185 h 199"/>
                <a:gd name="T70" fmla="*/ 0 w 1159"/>
                <a:gd name="T71" fmla="*/ 18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159" h="199">
                  <a:moveTo>
                    <a:pt x="1159" y="11"/>
                  </a:moveTo>
                  <a:lnTo>
                    <a:pt x="1159" y="10"/>
                  </a:lnTo>
                  <a:lnTo>
                    <a:pt x="1159" y="8"/>
                  </a:lnTo>
                  <a:lnTo>
                    <a:pt x="1159" y="6"/>
                  </a:lnTo>
                  <a:lnTo>
                    <a:pt x="1159" y="5"/>
                  </a:lnTo>
                  <a:lnTo>
                    <a:pt x="1157" y="3"/>
                  </a:lnTo>
                  <a:lnTo>
                    <a:pt x="1157" y="1"/>
                  </a:lnTo>
                  <a:lnTo>
                    <a:pt x="1157" y="0"/>
                  </a:lnTo>
                  <a:lnTo>
                    <a:pt x="1152" y="0"/>
                  </a:lnTo>
                  <a:lnTo>
                    <a:pt x="1152" y="1"/>
                  </a:lnTo>
                  <a:lnTo>
                    <a:pt x="1152" y="3"/>
                  </a:lnTo>
                  <a:lnTo>
                    <a:pt x="1154" y="5"/>
                  </a:lnTo>
                  <a:lnTo>
                    <a:pt x="1154" y="6"/>
                  </a:lnTo>
                  <a:lnTo>
                    <a:pt x="1154" y="8"/>
                  </a:lnTo>
                  <a:lnTo>
                    <a:pt x="1154" y="10"/>
                  </a:lnTo>
                  <a:lnTo>
                    <a:pt x="1154" y="11"/>
                  </a:lnTo>
                  <a:lnTo>
                    <a:pt x="1154" y="13"/>
                  </a:lnTo>
                  <a:lnTo>
                    <a:pt x="1159" y="11"/>
                  </a:lnTo>
                  <a:close/>
                  <a:moveTo>
                    <a:pt x="0" y="187"/>
                  </a:moveTo>
                  <a:lnTo>
                    <a:pt x="0" y="189"/>
                  </a:lnTo>
                  <a:lnTo>
                    <a:pt x="0" y="190"/>
                  </a:lnTo>
                  <a:lnTo>
                    <a:pt x="0" y="192"/>
                  </a:lnTo>
                  <a:lnTo>
                    <a:pt x="0" y="194"/>
                  </a:lnTo>
                  <a:lnTo>
                    <a:pt x="0" y="195"/>
                  </a:lnTo>
                  <a:lnTo>
                    <a:pt x="1" y="197"/>
                  </a:lnTo>
                  <a:lnTo>
                    <a:pt x="1" y="199"/>
                  </a:lnTo>
                  <a:lnTo>
                    <a:pt x="6" y="199"/>
                  </a:lnTo>
                  <a:lnTo>
                    <a:pt x="5" y="197"/>
                  </a:lnTo>
                  <a:lnTo>
                    <a:pt x="5" y="195"/>
                  </a:lnTo>
                  <a:lnTo>
                    <a:pt x="5" y="194"/>
                  </a:lnTo>
                  <a:lnTo>
                    <a:pt x="5" y="192"/>
                  </a:lnTo>
                  <a:lnTo>
                    <a:pt x="5" y="190"/>
                  </a:lnTo>
                  <a:lnTo>
                    <a:pt x="5" y="189"/>
                  </a:lnTo>
                  <a:lnTo>
                    <a:pt x="3" y="187"/>
                  </a:lnTo>
                  <a:lnTo>
                    <a:pt x="3" y="185"/>
                  </a:lnTo>
                  <a:lnTo>
                    <a:pt x="0" y="187"/>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97" name="Freeform 37">
              <a:extLst>
                <a:ext uri="{FF2B5EF4-FFF2-40B4-BE49-F238E27FC236}">
                  <a16:creationId xmlns:a16="http://schemas.microsoft.com/office/drawing/2014/main" id="{A1D42AA4-9D0F-4C55-6835-B8C3D3007BEA}"/>
                </a:ext>
              </a:extLst>
            </p:cNvPr>
            <p:cNvSpPr>
              <a:spLocks noEditPoints="1"/>
            </p:cNvSpPr>
            <p:nvPr/>
          </p:nvSpPr>
          <p:spPr bwMode="auto">
            <a:xfrm>
              <a:off x="1258" y="1514"/>
              <a:ext cx="1156" cy="199"/>
            </a:xfrm>
            <a:custGeom>
              <a:avLst/>
              <a:gdLst>
                <a:gd name="T0" fmla="*/ 1156 w 1156"/>
                <a:gd name="T1" fmla="*/ 11 h 199"/>
                <a:gd name="T2" fmla="*/ 1156 w 1156"/>
                <a:gd name="T3" fmla="*/ 10 h 199"/>
                <a:gd name="T4" fmla="*/ 1155 w 1156"/>
                <a:gd name="T5" fmla="*/ 8 h 199"/>
                <a:gd name="T6" fmla="*/ 1155 w 1156"/>
                <a:gd name="T7" fmla="*/ 6 h 199"/>
                <a:gd name="T8" fmla="*/ 1155 w 1156"/>
                <a:gd name="T9" fmla="*/ 5 h 199"/>
                <a:gd name="T10" fmla="*/ 1155 w 1156"/>
                <a:gd name="T11" fmla="*/ 3 h 199"/>
                <a:gd name="T12" fmla="*/ 1155 w 1156"/>
                <a:gd name="T13" fmla="*/ 1 h 199"/>
                <a:gd name="T14" fmla="*/ 1155 w 1156"/>
                <a:gd name="T15" fmla="*/ 0 h 199"/>
                <a:gd name="T16" fmla="*/ 1150 w 1156"/>
                <a:gd name="T17" fmla="*/ 0 h 199"/>
                <a:gd name="T18" fmla="*/ 1150 w 1156"/>
                <a:gd name="T19" fmla="*/ 1 h 199"/>
                <a:gd name="T20" fmla="*/ 1150 w 1156"/>
                <a:gd name="T21" fmla="*/ 3 h 199"/>
                <a:gd name="T22" fmla="*/ 1150 w 1156"/>
                <a:gd name="T23" fmla="*/ 5 h 199"/>
                <a:gd name="T24" fmla="*/ 1150 w 1156"/>
                <a:gd name="T25" fmla="*/ 6 h 199"/>
                <a:gd name="T26" fmla="*/ 1151 w 1156"/>
                <a:gd name="T27" fmla="*/ 8 h 199"/>
                <a:gd name="T28" fmla="*/ 1151 w 1156"/>
                <a:gd name="T29" fmla="*/ 10 h 199"/>
                <a:gd name="T30" fmla="*/ 1151 w 1156"/>
                <a:gd name="T31" fmla="*/ 11 h 199"/>
                <a:gd name="T32" fmla="*/ 1151 w 1156"/>
                <a:gd name="T33" fmla="*/ 13 h 199"/>
                <a:gd name="T34" fmla="*/ 1156 w 1156"/>
                <a:gd name="T35" fmla="*/ 11 h 199"/>
                <a:gd name="T36" fmla="*/ 0 w 1156"/>
                <a:gd name="T37" fmla="*/ 185 h 199"/>
                <a:gd name="T38" fmla="*/ 0 w 1156"/>
                <a:gd name="T39" fmla="*/ 187 h 199"/>
                <a:gd name="T40" fmla="*/ 0 w 1156"/>
                <a:gd name="T41" fmla="*/ 189 h 199"/>
                <a:gd name="T42" fmla="*/ 0 w 1156"/>
                <a:gd name="T43" fmla="*/ 190 h 199"/>
                <a:gd name="T44" fmla="*/ 2 w 1156"/>
                <a:gd name="T45" fmla="*/ 192 h 199"/>
                <a:gd name="T46" fmla="*/ 2 w 1156"/>
                <a:gd name="T47" fmla="*/ 194 h 199"/>
                <a:gd name="T48" fmla="*/ 2 w 1156"/>
                <a:gd name="T49" fmla="*/ 195 h 199"/>
                <a:gd name="T50" fmla="*/ 2 w 1156"/>
                <a:gd name="T51" fmla="*/ 197 h 199"/>
                <a:gd name="T52" fmla="*/ 2 w 1156"/>
                <a:gd name="T53" fmla="*/ 199 h 199"/>
                <a:gd name="T54" fmla="*/ 7 w 1156"/>
                <a:gd name="T55" fmla="*/ 199 h 199"/>
                <a:gd name="T56" fmla="*/ 7 w 1156"/>
                <a:gd name="T57" fmla="*/ 197 h 199"/>
                <a:gd name="T58" fmla="*/ 7 w 1156"/>
                <a:gd name="T59" fmla="*/ 195 h 199"/>
                <a:gd name="T60" fmla="*/ 7 w 1156"/>
                <a:gd name="T61" fmla="*/ 194 h 199"/>
                <a:gd name="T62" fmla="*/ 5 w 1156"/>
                <a:gd name="T63" fmla="*/ 190 h 199"/>
                <a:gd name="T64" fmla="*/ 5 w 1156"/>
                <a:gd name="T65" fmla="*/ 189 h 199"/>
                <a:gd name="T66" fmla="*/ 5 w 1156"/>
                <a:gd name="T67" fmla="*/ 187 h 199"/>
                <a:gd name="T68" fmla="*/ 5 w 1156"/>
                <a:gd name="T69" fmla="*/ 185 h 199"/>
                <a:gd name="T70" fmla="*/ 5 w 1156"/>
                <a:gd name="T71" fmla="*/ 184 h 199"/>
                <a:gd name="T72" fmla="*/ 0 w 1156"/>
                <a:gd name="T73" fmla="*/ 18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156" h="199">
                  <a:moveTo>
                    <a:pt x="1156" y="11"/>
                  </a:moveTo>
                  <a:lnTo>
                    <a:pt x="1156" y="10"/>
                  </a:lnTo>
                  <a:lnTo>
                    <a:pt x="1155" y="8"/>
                  </a:lnTo>
                  <a:lnTo>
                    <a:pt x="1155" y="6"/>
                  </a:lnTo>
                  <a:lnTo>
                    <a:pt x="1155" y="5"/>
                  </a:lnTo>
                  <a:lnTo>
                    <a:pt x="1155" y="3"/>
                  </a:lnTo>
                  <a:lnTo>
                    <a:pt x="1155" y="1"/>
                  </a:lnTo>
                  <a:lnTo>
                    <a:pt x="1155" y="0"/>
                  </a:lnTo>
                  <a:lnTo>
                    <a:pt x="1150" y="0"/>
                  </a:lnTo>
                  <a:lnTo>
                    <a:pt x="1150" y="1"/>
                  </a:lnTo>
                  <a:lnTo>
                    <a:pt x="1150" y="3"/>
                  </a:lnTo>
                  <a:lnTo>
                    <a:pt x="1150" y="5"/>
                  </a:lnTo>
                  <a:lnTo>
                    <a:pt x="1150" y="6"/>
                  </a:lnTo>
                  <a:lnTo>
                    <a:pt x="1151" y="8"/>
                  </a:lnTo>
                  <a:lnTo>
                    <a:pt x="1151" y="10"/>
                  </a:lnTo>
                  <a:lnTo>
                    <a:pt x="1151" y="11"/>
                  </a:lnTo>
                  <a:lnTo>
                    <a:pt x="1151" y="13"/>
                  </a:lnTo>
                  <a:lnTo>
                    <a:pt x="1156" y="11"/>
                  </a:lnTo>
                  <a:close/>
                  <a:moveTo>
                    <a:pt x="0" y="185"/>
                  </a:moveTo>
                  <a:lnTo>
                    <a:pt x="0" y="187"/>
                  </a:lnTo>
                  <a:lnTo>
                    <a:pt x="0" y="189"/>
                  </a:lnTo>
                  <a:lnTo>
                    <a:pt x="0" y="190"/>
                  </a:lnTo>
                  <a:lnTo>
                    <a:pt x="2" y="192"/>
                  </a:lnTo>
                  <a:lnTo>
                    <a:pt x="2" y="194"/>
                  </a:lnTo>
                  <a:lnTo>
                    <a:pt x="2" y="195"/>
                  </a:lnTo>
                  <a:lnTo>
                    <a:pt x="2" y="197"/>
                  </a:lnTo>
                  <a:lnTo>
                    <a:pt x="2" y="199"/>
                  </a:lnTo>
                  <a:lnTo>
                    <a:pt x="7" y="199"/>
                  </a:lnTo>
                  <a:lnTo>
                    <a:pt x="7" y="197"/>
                  </a:lnTo>
                  <a:lnTo>
                    <a:pt x="7" y="195"/>
                  </a:lnTo>
                  <a:lnTo>
                    <a:pt x="7" y="194"/>
                  </a:lnTo>
                  <a:lnTo>
                    <a:pt x="5" y="190"/>
                  </a:lnTo>
                  <a:lnTo>
                    <a:pt x="5" y="189"/>
                  </a:lnTo>
                  <a:lnTo>
                    <a:pt x="5" y="187"/>
                  </a:lnTo>
                  <a:lnTo>
                    <a:pt x="5" y="185"/>
                  </a:lnTo>
                  <a:lnTo>
                    <a:pt x="5" y="184"/>
                  </a:lnTo>
                  <a:lnTo>
                    <a:pt x="0" y="185"/>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98" name="Freeform 38">
              <a:extLst>
                <a:ext uri="{FF2B5EF4-FFF2-40B4-BE49-F238E27FC236}">
                  <a16:creationId xmlns:a16="http://schemas.microsoft.com/office/drawing/2014/main" id="{5E65092F-6589-446E-10B2-3BC9529C21F0}"/>
                </a:ext>
              </a:extLst>
            </p:cNvPr>
            <p:cNvSpPr>
              <a:spLocks noEditPoints="1"/>
            </p:cNvSpPr>
            <p:nvPr/>
          </p:nvSpPr>
          <p:spPr bwMode="auto">
            <a:xfrm>
              <a:off x="1260" y="1514"/>
              <a:ext cx="1151" cy="199"/>
            </a:xfrm>
            <a:custGeom>
              <a:avLst/>
              <a:gdLst>
                <a:gd name="T0" fmla="*/ 1151 w 1151"/>
                <a:gd name="T1" fmla="*/ 13 h 199"/>
                <a:gd name="T2" fmla="*/ 1151 w 1151"/>
                <a:gd name="T3" fmla="*/ 11 h 199"/>
                <a:gd name="T4" fmla="*/ 1151 w 1151"/>
                <a:gd name="T5" fmla="*/ 10 h 199"/>
                <a:gd name="T6" fmla="*/ 1151 w 1151"/>
                <a:gd name="T7" fmla="*/ 8 h 199"/>
                <a:gd name="T8" fmla="*/ 1151 w 1151"/>
                <a:gd name="T9" fmla="*/ 6 h 199"/>
                <a:gd name="T10" fmla="*/ 1151 w 1151"/>
                <a:gd name="T11" fmla="*/ 5 h 199"/>
                <a:gd name="T12" fmla="*/ 1149 w 1151"/>
                <a:gd name="T13" fmla="*/ 3 h 199"/>
                <a:gd name="T14" fmla="*/ 1149 w 1151"/>
                <a:gd name="T15" fmla="*/ 1 h 199"/>
                <a:gd name="T16" fmla="*/ 1149 w 1151"/>
                <a:gd name="T17" fmla="*/ 0 h 199"/>
                <a:gd name="T18" fmla="*/ 1144 w 1151"/>
                <a:gd name="T19" fmla="*/ 0 h 199"/>
                <a:gd name="T20" fmla="*/ 1144 w 1151"/>
                <a:gd name="T21" fmla="*/ 1 h 199"/>
                <a:gd name="T22" fmla="*/ 1146 w 1151"/>
                <a:gd name="T23" fmla="*/ 3 h 199"/>
                <a:gd name="T24" fmla="*/ 1146 w 1151"/>
                <a:gd name="T25" fmla="*/ 5 h 199"/>
                <a:gd name="T26" fmla="*/ 1146 w 1151"/>
                <a:gd name="T27" fmla="*/ 6 h 199"/>
                <a:gd name="T28" fmla="*/ 1146 w 1151"/>
                <a:gd name="T29" fmla="*/ 10 h 199"/>
                <a:gd name="T30" fmla="*/ 1146 w 1151"/>
                <a:gd name="T31" fmla="*/ 11 h 199"/>
                <a:gd name="T32" fmla="*/ 1146 w 1151"/>
                <a:gd name="T33" fmla="*/ 13 h 199"/>
                <a:gd name="T34" fmla="*/ 1148 w 1151"/>
                <a:gd name="T35" fmla="*/ 15 h 199"/>
                <a:gd name="T36" fmla="*/ 1151 w 1151"/>
                <a:gd name="T37" fmla="*/ 13 h 199"/>
                <a:gd name="T38" fmla="*/ 0 w 1151"/>
                <a:gd name="T39" fmla="*/ 185 h 199"/>
                <a:gd name="T40" fmla="*/ 0 w 1151"/>
                <a:gd name="T41" fmla="*/ 187 h 199"/>
                <a:gd name="T42" fmla="*/ 2 w 1151"/>
                <a:gd name="T43" fmla="*/ 189 h 199"/>
                <a:gd name="T44" fmla="*/ 2 w 1151"/>
                <a:gd name="T45" fmla="*/ 190 h 199"/>
                <a:gd name="T46" fmla="*/ 2 w 1151"/>
                <a:gd name="T47" fmla="*/ 192 h 199"/>
                <a:gd name="T48" fmla="*/ 2 w 1151"/>
                <a:gd name="T49" fmla="*/ 194 h 199"/>
                <a:gd name="T50" fmla="*/ 2 w 1151"/>
                <a:gd name="T51" fmla="*/ 195 h 199"/>
                <a:gd name="T52" fmla="*/ 2 w 1151"/>
                <a:gd name="T53" fmla="*/ 197 h 199"/>
                <a:gd name="T54" fmla="*/ 3 w 1151"/>
                <a:gd name="T55" fmla="*/ 199 h 199"/>
                <a:gd name="T56" fmla="*/ 8 w 1151"/>
                <a:gd name="T57" fmla="*/ 199 h 199"/>
                <a:gd name="T58" fmla="*/ 7 w 1151"/>
                <a:gd name="T59" fmla="*/ 197 h 199"/>
                <a:gd name="T60" fmla="*/ 7 w 1151"/>
                <a:gd name="T61" fmla="*/ 195 h 199"/>
                <a:gd name="T62" fmla="*/ 7 w 1151"/>
                <a:gd name="T63" fmla="*/ 192 h 199"/>
                <a:gd name="T64" fmla="*/ 7 w 1151"/>
                <a:gd name="T65" fmla="*/ 190 h 199"/>
                <a:gd name="T66" fmla="*/ 7 w 1151"/>
                <a:gd name="T67" fmla="*/ 189 h 199"/>
                <a:gd name="T68" fmla="*/ 5 w 1151"/>
                <a:gd name="T69" fmla="*/ 187 h 199"/>
                <a:gd name="T70" fmla="*/ 5 w 1151"/>
                <a:gd name="T71" fmla="*/ 185 h 199"/>
                <a:gd name="T72" fmla="*/ 5 w 1151"/>
                <a:gd name="T73" fmla="*/ 182 h 199"/>
                <a:gd name="T74" fmla="*/ 0 w 1151"/>
                <a:gd name="T75" fmla="*/ 18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51" h="199">
                  <a:moveTo>
                    <a:pt x="1151" y="13"/>
                  </a:moveTo>
                  <a:lnTo>
                    <a:pt x="1151" y="11"/>
                  </a:lnTo>
                  <a:lnTo>
                    <a:pt x="1151" y="10"/>
                  </a:lnTo>
                  <a:lnTo>
                    <a:pt x="1151" y="8"/>
                  </a:lnTo>
                  <a:lnTo>
                    <a:pt x="1151" y="6"/>
                  </a:lnTo>
                  <a:lnTo>
                    <a:pt x="1151" y="5"/>
                  </a:lnTo>
                  <a:lnTo>
                    <a:pt x="1149" y="3"/>
                  </a:lnTo>
                  <a:lnTo>
                    <a:pt x="1149" y="1"/>
                  </a:lnTo>
                  <a:lnTo>
                    <a:pt x="1149" y="0"/>
                  </a:lnTo>
                  <a:lnTo>
                    <a:pt x="1144" y="0"/>
                  </a:lnTo>
                  <a:lnTo>
                    <a:pt x="1144" y="1"/>
                  </a:lnTo>
                  <a:lnTo>
                    <a:pt x="1146" y="3"/>
                  </a:lnTo>
                  <a:lnTo>
                    <a:pt x="1146" y="5"/>
                  </a:lnTo>
                  <a:lnTo>
                    <a:pt x="1146" y="6"/>
                  </a:lnTo>
                  <a:lnTo>
                    <a:pt x="1146" y="10"/>
                  </a:lnTo>
                  <a:lnTo>
                    <a:pt x="1146" y="11"/>
                  </a:lnTo>
                  <a:lnTo>
                    <a:pt x="1146" y="13"/>
                  </a:lnTo>
                  <a:lnTo>
                    <a:pt x="1148" y="15"/>
                  </a:lnTo>
                  <a:lnTo>
                    <a:pt x="1151" y="13"/>
                  </a:lnTo>
                  <a:close/>
                  <a:moveTo>
                    <a:pt x="0" y="185"/>
                  </a:moveTo>
                  <a:lnTo>
                    <a:pt x="0" y="187"/>
                  </a:lnTo>
                  <a:lnTo>
                    <a:pt x="2" y="189"/>
                  </a:lnTo>
                  <a:lnTo>
                    <a:pt x="2" y="190"/>
                  </a:lnTo>
                  <a:lnTo>
                    <a:pt x="2" y="192"/>
                  </a:lnTo>
                  <a:lnTo>
                    <a:pt x="2" y="194"/>
                  </a:lnTo>
                  <a:lnTo>
                    <a:pt x="2" y="195"/>
                  </a:lnTo>
                  <a:lnTo>
                    <a:pt x="2" y="197"/>
                  </a:lnTo>
                  <a:lnTo>
                    <a:pt x="3" y="199"/>
                  </a:lnTo>
                  <a:lnTo>
                    <a:pt x="8" y="199"/>
                  </a:lnTo>
                  <a:lnTo>
                    <a:pt x="7" y="197"/>
                  </a:lnTo>
                  <a:lnTo>
                    <a:pt x="7" y="195"/>
                  </a:lnTo>
                  <a:lnTo>
                    <a:pt x="7" y="192"/>
                  </a:lnTo>
                  <a:lnTo>
                    <a:pt x="7" y="190"/>
                  </a:lnTo>
                  <a:lnTo>
                    <a:pt x="7" y="189"/>
                  </a:lnTo>
                  <a:lnTo>
                    <a:pt x="5" y="187"/>
                  </a:lnTo>
                  <a:lnTo>
                    <a:pt x="5" y="185"/>
                  </a:lnTo>
                  <a:lnTo>
                    <a:pt x="5" y="182"/>
                  </a:lnTo>
                  <a:lnTo>
                    <a:pt x="0" y="185"/>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99" name="Freeform 39">
              <a:extLst>
                <a:ext uri="{FF2B5EF4-FFF2-40B4-BE49-F238E27FC236}">
                  <a16:creationId xmlns:a16="http://schemas.microsoft.com/office/drawing/2014/main" id="{41F319B9-48E3-C6C4-53A3-1FC2B24CB673}"/>
                </a:ext>
              </a:extLst>
            </p:cNvPr>
            <p:cNvSpPr>
              <a:spLocks noEditPoints="1"/>
            </p:cNvSpPr>
            <p:nvPr/>
          </p:nvSpPr>
          <p:spPr bwMode="auto">
            <a:xfrm>
              <a:off x="1263" y="1514"/>
              <a:ext cx="1146" cy="199"/>
            </a:xfrm>
            <a:custGeom>
              <a:avLst/>
              <a:gdLst>
                <a:gd name="T0" fmla="*/ 1146 w 1146"/>
                <a:gd name="T1" fmla="*/ 13 h 199"/>
                <a:gd name="T2" fmla="*/ 1146 w 1146"/>
                <a:gd name="T3" fmla="*/ 11 h 199"/>
                <a:gd name="T4" fmla="*/ 1146 w 1146"/>
                <a:gd name="T5" fmla="*/ 10 h 199"/>
                <a:gd name="T6" fmla="*/ 1146 w 1146"/>
                <a:gd name="T7" fmla="*/ 8 h 199"/>
                <a:gd name="T8" fmla="*/ 1145 w 1146"/>
                <a:gd name="T9" fmla="*/ 6 h 199"/>
                <a:gd name="T10" fmla="*/ 1145 w 1146"/>
                <a:gd name="T11" fmla="*/ 5 h 199"/>
                <a:gd name="T12" fmla="*/ 1145 w 1146"/>
                <a:gd name="T13" fmla="*/ 3 h 199"/>
                <a:gd name="T14" fmla="*/ 1145 w 1146"/>
                <a:gd name="T15" fmla="*/ 1 h 199"/>
                <a:gd name="T16" fmla="*/ 1145 w 1146"/>
                <a:gd name="T17" fmla="*/ 0 h 199"/>
                <a:gd name="T18" fmla="*/ 1140 w 1146"/>
                <a:gd name="T19" fmla="*/ 0 h 199"/>
                <a:gd name="T20" fmla="*/ 1140 w 1146"/>
                <a:gd name="T21" fmla="*/ 1 h 199"/>
                <a:gd name="T22" fmla="*/ 1140 w 1146"/>
                <a:gd name="T23" fmla="*/ 3 h 199"/>
                <a:gd name="T24" fmla="*/ 1140 w 1146"/>
                <a:gd name="T25" fmla="*/ 6 h 199"/>
                <a:gd name="T26" fmla="*/ 1140 w 1146"/>
                <a:gd name="T27" fmla="*/ 8 h 199"/>
                <a:gd name="T28" fmla="*/ 1141 w 1146"/>
                <a:gd name="T29" fmla="*/ 10 h 199"/>
                <a:gd name="T30" fmla="*/ 1141 w 1146"/>
                <a:gd name="T31" fmla="*/ 11 h 199"/>
                <a:gd name="T32" fmla="*/ 1141 w 1146"/>
                <a:gd name="T33" fmla="*/ 13 h 199"/>
                <a:gd name="T34" fmla="*/ 1141 w 1146"/>
                <a:gd name="T35" fmla="*/ 16 h 199"/>
                <a:gd name="T36" fmla="*/ 1146 w 1146"/>
                <a:gd name="T37" fmla="*/ 13 h 199"/>
                <a:gd name="T38" fmla="*/ 0 w 1146"/>
                <a:gd name="T39" fmla="*/ 184 h 199"/>
                <a:gd name="T40" fmla="*/ 0 w 1146"/>
                <a:gd name="T41" fmla="*/ 185 h 199"/>
                <a:gd name="T42" fmla="*/ 0 w 1146"/>
                <a:gd name="T43" fmla="*/ 187 h 199"/>
                <a:gd name="T44" fmla="*/ 0 w 1146"/>
                <a:gd name="T45" fmla="*/ 189 h 199"/>
                <a:gd name="T46" fmla="*/ 0 w 1146"/>
                <a:gd name="T47" fmla="*/ 190 h 199"/>
                <a:gd name="T48" fmla="*/ 2 w 1146"/>
                <a:gd name="T49" fmla="*/ 194 h 199"/>
                <a:gd name="T50" fmla="*/ 2 w 1146"/>
                <a:gd name="T51" fmla="*/ 195 h 199"/>
                <a:gd name="T52" fmla="*/ 2 w 1146"/>
                <a:gd name="T53" fmla="*/ 197 h 199"/>
                <a:gd name="T54" fmla="*/ 2 w 1146"/>
                <a:gd name="T55" fmla="*/ 199 h 199"/>
                <a:gd name="T56" fmla="*/ 7 w 1146"/>
                <a:gd name="T57" fmla="*/ 199 h 199"/>
                <a:gd name="T58" fmla="*/ 7 w 1146"/>
                <a:gd name="T59" fmla="*/ 197 h 199"/>
                <a:gd name="T60" fmla="*/ 7 w 1146"/>
                <a:gd name="T61" fmla="*/ 194 h 199"/>
                <a:gd name="T62" fmla="*/ 5 w 1146"/>
                <a:gd name="T63" fmla="*/ 192 h 199"/>
                <a:gd name="T64" fmla="*/ 5 w 1146"/>
                <a:gd name="T65" fmla="*/ 190 h 199"/>
                <a:gd name="T66" fmla="*/ 5 w 1146"/>
                <a:gd name="T67" fmla="*/ 189 h 199"/>
                <a:gd name="T68" fmla="*/ 5 w 1146"/>
                <a:gd name="T69" fmla="*/ 185 h 199"/>
                <a:gd name="T70" fmla="*/ 5 w 1146"/>
                <a:gd name="T71" fmla="*/ 184 h 199"/>
                <a:gd name="T72" fmla="*/ 4 w 1146"/>
                <a:gd name="T73" fmla="*/ 182 h 199"/>
                <a:gd name="T74" fmla="*/ 0 w 1146"/>
                <a:gd name="T75" fmla="*/ 18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46" h="199">
                  <a:moveTo>
                    <a:pt x="1146" y="13"/>
                  </a:moveTo>
                  <a:lnTo>
                    <a:pt x="1146" y="11"/>
                  </a:lnTo>
                  <a:lnTo>
                    <a:pt x="1146" y="10"/>
                  </a:lnTo>
                  <a:lnTo>
                    <a:pt x="1146" y="8"/>
                  </a:lnTo>
                  <a:lnTo>
                    <a:pt x="1145" y="6"/>
                  </a:lnTo>
                  <a:lnTo>
                    <a:pt x="1145" y="5"/>
                  </a:lnTo>
                  <a:lnTo>
                    <a:pt x="1145" y="3"/>
                  </a:lnTo>
                  <a:lnTo>
                    <a:pt x="1145" y="1"/>
                  </a:lnTo>
                  <a:lnTo>
                    <a:pt x="1145" y="0"/>
                  </a:lnTo>
                  <a:lnTo>
                    <a:pt x="1140" y="0"/>
                  </a:lnTo>
                  <a:lnTo>
                    <a:pt x="1140" y="1"/>
                  </a:lnTo>
                  <a:lnTo>
                    <a:pt x="1140" y="3"/>
                  </a:lnTo>
                  <a:lnTo>
                    <a:pt x="1140" y="6"/>
                  </a:lnTo>
                  <a:lnTo>
                    <a:pt x="1140" y="8"/>
                  </a:lnTo>
                  <a:lnTo>
                    <a:pt x="1141" y="10"/>
                  </a:lnTo>
                  <a:lnTo>
                    <a:pt x="1141" y="11"/>
                  </a:lnTo>
                  <a:lnTo>
                    <a:pt x="1141" y="13"/>
                  </a:lnTo>
                  <a:lnTo>
                    <a:pt x="1141" y="16"/>
                  </a:lnTo>
                  <a:lnTo>
                    <a:pt x="1146" y="13"/>
                  </a:lnTo>
                  <a:close/>
                  <a:moveTo>
                    <a:pt x="0" y="184"/>
                  </a:moveTo>
                  <a:lnTo>
                    <a:pt x="0" y="185"/>
                  </a:lnTo>
                  <a:lnTo>
                    <a:pt x="0" y="187"/>
                  </a:lnTo>
                  <a:lnTo>
                    <a:pt x="0" y="189"/>
                  </a:lnTo>
                  <a:lnTo>
                    <a:pt x="0" y="190"/>
                  </a:lnTo>
                  <a:lnTo>
                    <a:pt x="2" y="194"/>
                  </a:lnTo>
                  <a:lnTo>
                    <a:pt x="2" y="195"/>
                  </a:lnTo>
                  <a:lnTo>
                    <a:pt x="2" y="197"/>
                  </a:lnTo>
                  <a:lnTo>
                    <a:pt x="2" y="199"/>
                  </a:lnTo>
                  <a:lnTo>
                    <a:pt x="7" y="199"/>
                  </a:lnTo>
                  <a:lnTo>
                    <a:pt x="7" y="197"/>
                  </a:lnTo>
                  <a:lnTo>
                    <a:pt x="7" y="194"/>
                  </a:lnTo>
                  <a:lnTo>
                    <a:pt x="5" y="192"/>
                  </a:lnTo>
                  <a:lnTo>
                    <a:pt x="5" y="190"/>
                  </a:lnTo>
                  <a:lnTo>
                    <a:pt x="5" y="189"/>
                  </a:lnTo>
                  <a:lnTo>
                    <a:pt x="5" y="185"/>
                  </a:lnTo>
                  <a:lnTo>
                    <a:pt x="5" y="184"/>
                  </a:lnTo>
                  <a:lnTo>
                    <a:pt x="4" y="182"/>
                  </a:lnTo>
                  <a:lnTo>
                    <a:pt x="0" y="184"/>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00" name="Freeform 40">
              <a:extLst>
                <a:ext uri="{FF2B5EF4-FFF2-40B4-BE49-F238E27FC236}">
                  <a16:creationId xmlns:a16="http://schemas.microsoft.com/office/drawing/2014/main" id="{BE78355F-329A-D16D-B370-5160B21D8530}"/>
                </a:ext>
              </a:extLst>
            </p:cNvPr>
            <p:cNvSpPr>
              <a:spLocks noEditPoints="1"/>
            </p:cNvSpPr>
            <p:nvPr/>
          </p:nvSpPr>
          <p:spPr bwMode="auto">
            <a:xfrm>
              <a:off x="1265" y="1514"/>
              <a:ext cx="1143" cy="199"/>
            </a:xfrm>
            <a:custGeom>
              <a:avLst/>
              <a:gdLst>
                <a:gd name="T0" fmla="*/ 1143 w 1143"/>
                <a:gd name="T1" fmla="*/ 15 h 199"/>
                <a:gd name="T2" fmla="*/ 1141 w 1143"/>
                <a:gd name="T3" fmla="*/ 13 h 199"/>
                <a:gd name="T4" fmla="*/ 1141 w 1143"/>
                <a:gd name="T5" fmla="*/ 11 h 199"/>
                <a:gd name="T6" fmla="*/ 1141 w 1143"/>
                <a:gd name="T7" fmla="*/ 10 h 199"/>
                <a:gd name="T8" fmla="*/ 1141 w 1143"/>
                <a:gd name="T9" fmla="*/ 6 h 199"/>
                <a:gd name="T10" fmla="*/ 1141 w 1143"/>
                <a:gd name="T11" fmla="*/ 5 h 199"/>
                <a:gd name="T12" fmla="*/ 1141 w 1143"/>
                <a:gd name="T13" fmla="*/ 3 h 199"/>
                <a:gd name="T14" fmla="*/ 1139 w 1143"/>
                <a:gd name="T15" fmla="*/ 1 h 199"/>
                <a:gd name="T16" fmla="*/ 1139 w 1143"/>
                <a:gd name="T17" fmla="*/ 0 h 199"/>
                <a:gd name="T18" fmla="*/ 1134 w 1143"/>
                <a:gd name="T19" fmla="*/ 0 h 199"/>
                <a:gd name="T20" fmla="*/ 1134 w 1143"/>
                <a:gd name="T21" fmla="*/ 1 h 199"/>
                <a:gd name="T22" fmla="*/ 1136 w 1143"/>
                <a:gd name="T23" fmla="*/ 3 h 199"/>
                <a:gd name="T24" fmla="*/ 1136 w 1143"/>
                <a:gd name="T25" fmla="*/ 6 h 199"/>
                <a:gd name="T26" fmla="*/ 1136 w 1143"/>
                <a:gd name="T27" fmla="*/ 8 h 199"/>
                <a:gd name="T28" fmla="*/ 1136 w 1143"/>
                <a:gd name="T29" fmla="*/ 10 h 199"/>
                <a:gd name="T30" fmla="*/ 1136 w 1143"/>
                <a:gd name="T31" fmla="*/ 13 h 199"/>
                <a:gd name="T32" fmla="*/ 1138 w 1143"/>
                <a:gd name="T33" fmla="*/ 15 h 199"/>
                <a:gd name="T34" fmla="*/ 1138 w 1143"/>
                <a:gd name="T35" fmla="*/ 16 h 199"/>
                <a:gd name="T36" fmla="*/ 1143 w 1143"/>
                <a:gd name="T37" fmla="*/ 15 h 199"/>
                <a:gd name="T38" fmla="*/ 0 w 1143"/>
                <a:gd name="T39" fmla="*/ 182 h 199"/>
                <a:gd name="T40" fmla="*/ 0 w 1143"/>
                <a:gd name="T41" fmla="*/ 185 h 199"/>
                <a:gd name="T42" fmla="*/ 0 w 1143"/>
                <a:gd name="T43" fmla="*/ 187 h 199"/>
                <a:gd name="T44" fmla="*/ 2 w 1143"/>
                <a:gd name="T45" fmla="*/ 189 h 199"/>
                <a:gd name="T46" fmla="*/ 2 w 1143"/>
                <a:gd name="T47" fmla="*/ 190 h 199"/>
                <a:gd name="T48" fmla="*/ 2 w 1143"/>
                <a:gd name="T49" fmla="*/ 192 h 199"/>
                <a:gd name="T50" fmla="*/ 2 w 1143"/>
                <a:gd name="T51" fmla="*/ 195 h 199"/>
                <a:gd name="T52" fmla="*/ 2 w 1143"/>
                <a:gd name="T53" fmla="*/ 197 h 199"/>
                <a:gd name="T54" fmla="*/ 3 w 1143"/>
                <a:gd name="T55" fmla="*/ 199 h 199"/>
                <a:gd name="T56" fmla="*/ 7 w 1143"/>
                <a:gd name="T57" fmla="*/ 199 h 199"/>
                <a:gd name="T58" fmla="*/ 7 w 1143"/>
                <a:gd name="T59" fmla="*/ 197 h 199"/>
                <a:gd name="T60" fmla="*/ 7 w 1143"/>
                <a:gd name="T61" fmla="*/ 194 h 199"/>
                <a:gd name="T62" fmla="*/ 7 w 1143"/>
                <a:gd name="T63" fmla="*/ 192 h 199"/>
                <a:gd name="T64" fmla="*/ 7 w 1143"/>
                <a:gd name="T65" fmla="*/ 189 h 199"/>
                <a:gd name="T66" fmla="*/ 5 w 1143"/>
                <a:gd name="T67" fmla="*/ 187 h 199"/>
                <a:gd name="T68" fmla="*/ 5 w 1143"/>
                <a:gd name="T69" fmla="*/ 185 h 199"/>
                <a:gd name="T70" fmla="*/ 5 w 1143"/>
                <a:gd name="T71" fmla="*/ 182 h 199"/>
                <a:gd name="T72" fmla="*/ 5 w 1143"/>
                <a:gd name="T73" fmla="*/ 180 h 199"/>
                <a:gd name="T74" fmla="*/ 0 w 1143"/>
                <a:gd name="T7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43" h="199">
                  <a:moveTo>
                    <a:pt x="1143" y="15"/>
                  </a:moveTo>
                  <a:lnTo>
                    <a:pt x="1141" y="13"/>
                  </a:lnTo>
                  <a:lnTo>
                    <a:pt x="1141" y="11"/>
                  </a:lnTo>
                  <a:lnTo>
                    <a:pt x="1141" y="10"/>
                  </a:lnTo>
                  <a:lnTo>
                    <a:pt x="1141" y="6"/>
                  </a:lnTo>
                  <a:lnTo>
                    <a:pt x="1141" y="5"/>
                  </a:lnTo>
                  <a:lnTo>
                    <a:pt x="1141" y="3"/>
                  </a:lnTo>
                  <a:lnTo>
                    <a:pt x="1139" y="1"/>
                  </a:lnTo>
                  <a:lnTo>
                    <a:pt x="1139" y="0"/>
                  </a:lnTo>
                  <a:lnTo>
                    <a:pt x="1134" y="0"/>
                  </a:lnTo>
                  <a:lnTo>
                    <a:pt x="1134" y="1"/>
                  </a:lnTo>
                  <a:lnTo>
                    <a:pt x="1136" y="3"/>
                  </a:lnTo>
                  <a:lnTo>
                    <a:pt x="1136" y="6"/>
                  </a:lnTo>
                  <a:lnTo>
                    <a:pt x="1136" y="8"/>
                  </a:lnTo>
                  <a:lnTo>
                    <a:pt x="1136" y="10"/>
                  </a:lnTo>
                  <a:lnTo>
                    <a:pt x="1136" y="13"/>
                  </a:lnTo>
                  <a:lnTo>
                    <a:pt x="1138" y="15"/>
                  </a:lnTo>
                  <a:lnTo>
                    <a:pt x="1138" y="16"/>
                  </a:lnTo>
                  <a:lnTo>
                    <a:pt x="1143" y="15"/>
                  </a:lnTo>
                  <a:close/>
                  <a:moveTo>
                    <a:pt x="0" y="182"/>
                  </a:moveTo>
                  <a:lnTo>
                    <a:pt x="0" y="185"/>
                  </a:lnTo>
                  <a:lnTo>
                    <a:pt x="0" y="187"/>
                  </a:lnTo>
                  <a:lnTo>
                    <a:pt x="2" y="189"/>
                  </a:lnTo>
                  <a:lnTo>
                    <a:pt x="2" y="190"/>
                  </a:lnTo>
                  <a:lnTo>
                    <a:pt x="2" y="192"/>
                  </a:lnTo>
                  <a:lnTo>
                    <a:pt x="2" y="195"/>
                  </a:lnTo>
                  <a:lnTo>
                    <a:pt x="2" y="197"/>
                  </a:lnTo>
                  <a:lnTo>
                    <a:pt x="3" y="199"/>
                  </a:lnTo>
                  <a:lnTo>
                    <a:pt x="7" y="199"/>
                  </a:lnTo>
                  <a:lnTo>
                    <a:pt x="7" y="197"/>
                  </a:lnTo>
                  <a:lnTo>
                    <a:pt x="7" y="194"/>
                  </a:lnTo>
                  <a:lnTo>
                    <a:pt x="7" y="192"/>
                  </a:lnTo>
                  <a:lnTo>
                    <a:pt x="7" y="189"/>
                  </a:lnTo>
                  <a:lnTo>
                    <a:pt x="5" y="187"/>
                  </a:lnTo>
                  <a:lnTo>
                    <a:pt x="5" y="185"/>
                  </a:lnTo>
                  <a:lnTo>
                    <a:pt x="5" y="182"/>
                  </a:lnTo>
                  <a:lnTo>
                    <a:pt x="5" y="180"/>
                  </a:lnTo>
                  <a:lnTo>
                    <a:pt x="0" y="182"/>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01" name="Freeform 41">
              <a:extLst>
                <a:ext uri="{FF2B5EF4-FFF2-40B4-BE49-F238E27FC236}">
                  <a16:creationId xmlns:a16="http://schemas.microsoft.com/office/drawing/2014/main" id="{CA77BC00-F551-0D9A-1D38-F432C1211368}"/>
                </a:ext>
              </a:extLst>
            </p:cNvPr>
            <p:cNvSpPr>
              <a:spLocks noEditPoints="1"/>
            </p:cNvSpPr>
            <p:nvPr/>
          </p:nvSpPr>
          <p:spPr bwMode="auto">
            <a:xfrm>
              <a:off x="1267" y="1514"/>
              <a:ext cx="1137" cy="199"/>
            </a:xfrm>
            <a:custGeom>
              <a:avLst/>
              <a:gdLst>
                <a:gd name="T0" fmla="*/ 1137 w 1137"/>
                <a:gd name="T1" fmla="*/ 16 h 199"/>
                <a:gd name="T2" fmla="*/ 1137 w 1137"/>
                <a:gd name="T3" fmla="*/ 13 h 199"/>
                <a:gd name="T4" fmla="*/ 1137 w 1137"/>
                <a:gd name="T5" fmla="*/ 11 h 199"/>
                <a:gd name="T6" fmla="*/ 1137 w 1137"/>
                <a:gd name="T7" fmla="*/ 10 h 199"/>
                <a:gd name="T8" fmla="*/ 1136 w 1137"/>
                <a:gd name="T9" fmla="*/ 8 h 199"/>
                <a:gd name="T10" fmla="*/ 1136 w 1137"/>
                <a:gd name="T11" fmla="*/ 6 h 199"/>
                <a:gd name="T12" fmla="*/ 1136 w 1137"/>
                <a:gd name="T13" fmla="*/ 3 h 199"/>
                <a:gd name="T14" fmla="*/ 1136 w 1137"/>
                <a:gd name="T15" fmla="*/ 1 h 199"/>
                <a:gd name="T16" fmla="*/ 1136 w 1137"/>
                <a:gd name="T17" fmla="*/ 0 h 199"/>
                <a:gd name="T18" fmla="*/ 1131 w 1137"/>
                <a:gd name="T19" fmla="*/ 0 h 199"/>
                <a:gd name="T20" fmla="*/ 1131 w 1137"/>
                <a:gd name="T21" fmla="*/ 1 h 199"/>
                <a:gd name="T22" fmla="*/ 1131 w 1137"/>
                <a:gd name="T23" fmla="*/ 5 h 199"/>
                <a:gd name="T24" fmla="*/ 1131 w 1137"/>
                <a:gd name="T25" fmla="*/ 6 h 199"/>
                <a:gd name="T26" fmla="*/ 1132 w 1137"/>
                <a:gd name="T27" fmla="*/ 8 h 199"/>
                <a:gd name="T28" fmla="*/ 1132 w 1137"/>
                <a:gd name="T29" fmla="*/ 11 h 199"/>
                <a:gd name="T30" fmla="*/ 1132 w 1137"/>
                <a:gd name="T31" fmla="*/ 13 h 199"/>
                <a:gd name="T32" fmla="*/ 1132 w 1137"/>
                <a:gd name="T33" fmla="*/ 15 h 199"/>
                <a:gd name="T34" fmla="*/ 1132 w 1137"/>
                <a:gd name="T35" fmla="*/ 18 h 199"/>
                <a:gd name="T36" fmla="*/ 1137 w 1137"/>
                <a:gd name="T37" fmla="*/ 16 h 199"/>
                <a:gd name="T38" fmla="*/ 0 w 1137"/>
                <a:gd name="T39" fmla="*/ 182 h 199"/>
                <a:gd name="T40" fmla="*/ 1 w 1137"/>
                <a:gd name="T41" fmla="*/ 184 h 199"/>
                <a:gd name="T42" fmla="*/ 1 w 1137"/>
                <a:gd name="T43" fmla="*/ 185 h 199"/>
                <a:gd name="T44" fmla="*/ 1 w 1137"/>
                <a:gd name="T45" fmla="*/ 189 h 199"/>
                <a:gd name="T46" fmla="*/ 1 w 1137"/>
                <a:gd name="T47" fmla="*/ 190 h 199"/>
                <a:gd name="T48" fmla="*/ 1 w 1137"/>
                <a:gd name="T49" fmla="*/ 192 h 199"/>
                <a:gd name="T50" fmla="*/ 3 w 1137"/>
                <a:gd name="T51" fmla="*/ 194 h 199"/>
                <a:gd name="T52" fmla="*/ 3 w 1137"/>
                <a:gd name="T53" fmla="*/ 197 h 199"/>
                <a:gd name="T54" fmla="*/ 3 w 1137"/>
                <a:gd name="T55" fmla="*/ 199 h 199"/>
                <a:gd name="T56" fmla="*/ 8 w 1137"/>
                <a:gd name="T57" fmla="*/ 199 h 199"/>
                <a:gd name="T58" fmla="*/ 8 w 1137"/>
                <a:gd name="T59" fmla="*/ 195 h 199"/>
                <a:gd name="T60" fmla="*/ 6 w 1137"/>
                <a:gd name="T61" fmla="*/ 194 h 199"/>
                <a:gd name="T62" fmla="*/ 6 w 1137"/>
                <a:gd name="T63" fmla="*/ 192 h 199"/>
                <a:gd name="T64" fmla="*/ 6 w 1137"/>
                <a:gd name="T65" fmla="*/ 189 h 199"/>
                <a:gd name="T66" fmla="*/ 6 w 1137"/>
                <a:gd name="T67" fmla="*/ 187 h 199"/>
                <a:gd name="T68" fmla="*/ 6 w 1137"/>
                <a:gd name="T69" fmla="*/ 184 h 199"/>
                <a:gd name="T70" fmla="*/ 5 w 1137"/>
                <a:gd name="T71" fmla="*/ 182 h 199"/>
                <a:gd name="T72" fmla="*/ 5 w 1137"/>
                <a:gd name="T73" fmla="*/ 179 h 199"/>
                <a:gd name="T74" fmla="*/ 0 w 1137"/>
                <a:gd name="T7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37" h="199">
                  <a:moveTo>
                    <a:pt x="1137" y="16"/>
                  </a:moveTo>
                  <a:lnTo>
                    <a:pt x="1137" y="13"/>
                  </a:lnTo>
                  <a:lnTo>
                    <a:pt x="1137" y="11"/>
                  </a:lnTo>
                  <a:lnTo>
                    <a:pt x="1137" y="10"/>
                  </a:lnTo>
                  <a:lnTo>
                    <a:pt x="1136" y="8"/>
                  </a:lnTo>
                  <a:lnTo>
                    <a:pt x="1136" y="6"/>
                  </a:lnTo>
                  <a:lnTo>
                    <a:pt x="1136" y="3"/>
                  </a:lnTo>
                  <a:lnTo>
                    <a:pt x="1136" y="1"/>
                  </a:lnTo>
                  <a:lnTo>
                    <a:pt x="1136" y="0"/>
                  </a:lnTo>
                  <a:lnTo>
                    <a:pt x="1131" y="0"/>
                  </a:lnTo>
                  <a:lnTo>
                    <a:pt x="1131" y="1"/>
                  </a:lnTo>
                  <a:lnTo>
                    <a:pt x="1131" y="5"/>
                  </a:lnTo>
                  <a:lnTo>
                    <a:pt x="1131" y="6"/>
                  </a:lnTo>
                  <a:lnTo>
                    <a:pt x="1132" y="8"/>
                  </a:lnTo>
                  <a:lnTo>
                    <a:pt x="1132" y="11"/>
                  </a:lnTo>
                  <a:lnTo>
                    <a:pt x="1132" y="13"/>
                  </a:lnTo>
                  <a:lnTo>
                    <a:pt x="1132" y="15"/>
                  </a:lnTo>
                  <a:lnTo>
                    <a:pt x="1132" y="18"/>
                  </a:lnTo>
                  <a:lnTo>
                    <a:pt x="1137" y="16"/>
                  </a:lnTo>
                  <a:close/>
                  <a:moveTo>
                    <a:pt x="0" y="182"/>
                  </a:moveTo>
                  <a:lnTo>
                    <a:pt x="1" y="184"/>
                  </a:lnTo>
                  <a:lnTo>
                    <a:pt x="1" y="185"/>
                  </a:lnTo>
                  <a:lnTo>
                    <a:pt x="1" y="189"/>
                  </a:lnTo>
                  <a:lnTo>
                    <a:pt x="1" y="190"/>
                  </a:lnTo>
                  <a:lnTo>
                    <a:pt x="1" y="192"/>
                  </a:lnTo>
                  <a:lnTo>
                    <a:pt x="3" y="194"/>
                  </a:lnTo>
                  <a:lnTo>
                    <a:pt x="3" y="197"/>
                  </a:lnTo>
                  <a:lnTo>
                    <a:pt x="3" y="199"/>
                  </a:lnTo>
                  <a:lnTo>
                    <a:pt x="8" y="199"/>
                  </a:lnTo>
                  <a:lnTo>
                    <a:pt x="8" y="195"/>
                  </a:lnTo>
                  <a:lnTo>
                    <a:pt x="6" y="194"/>
                  </a:lnTo>
                  <a:lnTo>
                    <a:pt x="6" y="192"/>
                  </a:lnTo>
                  <a:lnTo>
                    <a:pt x="6" y="189"/>
                  </a:lnTo>
                  <a:lnTo>
                    <a:pt x="6" y="187"/>
                  </a:lnTo>
                  <a:lnTo>
                    <a:pt x="6" y="184"/>
                  </a:lnTo>
                  <a:lnTo>
                    <a:pt x="5" y="182"/>
                  </a:lnTo>
                  <a:lnTo>
                    <a:pt x="5" y="179"/>
                  </a:lnTo>
                  <a:lnTo>
                    <a:pt x="0" y="182"/>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02" name="Freeform 42">
              <a:extLst>
                <a:ext uri="{FF2B5EF4-FFF2-40B4-BE49-F238E27FC236}">
                  <a16:creationId xmlns:a16="http://schemas.microsoft.com/office/drawing/2014/main" id="{90035DF2-8282-161B-79BB-1D39314285DE}"/>
                </a:ext>
              </a:extLst>
            </p:cNvPr>
            <p:cNvSpPr>
              <a:spLocks noEditPoints="1"/>
            </p:cNvSpPr>
            <p:nvPr/>
          </p:nvSpPr>
          <p:spPr bwMode="auto">
            <a:xfrm>
              <a:off x="1270" y="1514"/>
              <a:ext cx="1133" cy="199"/>
            </a:xfrm>
            <a:custGeom>
              <a:avLst/>
              <a:gdLst>
                <a:gd name="T0" fmla="*/ 1133 w 1133"/>
                <a:gd name="T1" fmla="*/ 16 h 199"/>
                <a:gd name="T2" fmla="*/ 1133 w 1133"/>
                <a:gd name="T3" fmla="*/ 15 h 199"/>
                <a:gd name="T4" fmla="*/ 1131 w 1133"/>
                <a:gd name="T5" fmla="*/ 13 h 199"/>
                <a:gd name="T6" fmla="*/ 1131 w 1133"/>
                <a:gd name="T7" fmla="*/ 10 h 199"/>
                <a:gd name="T8" fmla="*/ 1131 w 1133"/>
                <a:gd name="T9" fmla="*/ 8 h 199"/>
                <a:gd name="T10" fmla="*/ 1131 w 1133"/>
                <a:gd name="T11" fmla="*/ 6 h 199"/>
                <a:gd name="T12" fmla="*/ 1131 w 1133"/>
                <a:gd name="T13" fmla="*/ 3 h 199"/>
                <a:gd name="T14" fmla="*/ 1129 w 1133"/>
                <a:gd name="T15" fmla="*/ 1 h 199"/>
                <a:gd name="T16" fmla="*/ 1129 w 1133"/>
                <a:gd name="T17" fmla="*/ 0 h 199"/>
                <a:gd name="T18" fmla="*/ 1125 w 1133"/>
                <a:gd name="T19" fmla="*/ 0 h 199"/>
                <a:gd name="T20" fmla="*/ 1126 w 1133"/>
                <a:gd name="T21" fmla="*/ 1 h 199"/>
                <a:gd name="T22" fmla="*/ 1126 w 1133"/>
                <a:gd name="T23" fmla="*/ 5 h 199"/>
                <a:gd name="T24" fmla="*/ 1126 w 1133"/>
                <a:gd name="T25" fmla="*/ 6 h 199"/>
                <a:gd name="T26" fmla="*/ 1126 w 1133"/>
                <a:gd name="T27" fmla="*/ 10 h 199"/>
                <a:gd name="T28" fmla="*/ 1126 w 1133"/>
                <a:gd name="T29" fmla="*/ 11 h 199"/>
                <a:gd name="T30" fmla="*/ 1128 w 1133"/>
                <a:gd name="T31" fmla="*/ 15 h 199"/>
                <a:gd name="T32" fmla="*/ 1128 w 1133"/>
                <a:gd name="T33" fmla="*/ 16 h 199"/>
                <a:gd name="T34" fmla="*/ 1128 w 1133"/>
                <a:gd name="T35" fmla="*/ 18 h 199"/>
                <a:gd name="T36" fmla="*/ 1133 w 1133"/>
                <a:gd name="T37" fmla="*/ 16 h 199"/>
                <a:gd name="T38" fmla="*/ 0 w 1133"/>
                <a:gd name="T39" fmla="*/ 180 h 199"/>
                <a:gd name="T40" fmla="*/ 0 w 1133"/>
                <a:gd name="T41" fmla="*/ 182 h 199"/>
                <a:gd name="T42" fmla="*/ 0 w 1133"/>
                <a:gd name="T43" fmla="*/ 185 h 199"/>
                <a:gd name="T44" fmla="*/ 0 w 1133"/>
                <a:gd name="T45" fmla="*/ 187 h 199"/>
                <a:gd name="T46" fmla="*/ 2 w 1133"/>
                <a:gd name="T47" fmla="*/ 189 h 199"/>
                <a:gd name="T48" fmla="*/ 2 w 1133"/>
                <a:gd name="T49" fmla="*/ 192 h 199"/>
                <a:gd name="T50" fmla="*/ 2 w 1133"/>
                <a:gd name="T51" fmla="*/ 194 h 199"/>
                <a:gd name="T52" fmla="*/ 2 w 1133"/>
                <a:gd name="T53" fmla="*/ 197 h 199"/>
                <a:gd name="T54" fmla="*/ 2 w 1133"/>
                <a:gd name="T55" fmla="*/ 199 h 199"/>
                <a:gd name="T56" fmla="*/ 7 w 1133"/>
                <a:gd name="T57" fmla="*/ 199 h 199"/>
                <a:gd name="T58" fmla="*/ 7 w 1133"/>
                <a:gd name="T59" fmla="*/ 195 h 199"/>
                <a:gd name="T60" fmla="*/ 7 w 1133"/>
                <a:gd name="T61" fmla="*/ 194 h 199"/>
                <a:gd name="T62" fmla="*/ 7 w 1133"/>
                <a:gd name="T63" fmla="*/ 190 h 199"/>
                <a:gd name="T64" fmla="*/ 5 w 1133"/>
                <a:gd name="T65" fmla="*/ 189 h 199"/>
                <a:gd name="T66" fmla="*/ 5 w 1133"/>
                <a:gd name="T67" fmla="*/ 185 h 199"/>
                <a:gd name="T68" fmla="*/ 5 w 1133"/>
                <a:gd name="T69" fmla="*/ 184 h 199"/>
                <a:gd name="T70" fmla="*/ 5 w 1133"/>
                <a:gd name="T71" fmla="*/ 180 h 199"/>
                <a:gd name="T72" fmla="*/ 3 w 1133"/>
                <a:gd name="T73" fmla="*/ 179 h 199"/>
                <a:gd name="T74" fmla="*/ 0 w 1133"/>
                <a:gd name="T75" fmla="*/ 18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33" h="199">
                  <a:moveTo>
                    <a:pt x="1133" y="16"/>
                  </a:moveTo>
                  <a:lnTo>
                    <a:pt x="1133" y="15"/>
                  </a:lnTo>
                  <a:lnTo>
                    <a:pt x="1131" y="13"/>
                  </a:lnTo>
                  <a:lnTo>
                    <a:pt x="1131" y="10"/>
                  </a:lnTo>
                  <a:lnTo>
                    <a:pt x="1131" y="8"/>
                  </a:lnTo>
                  <a:lnTo>
                    <a:pt x="1131" y="6"/>
                  </a:lnTo>
                  <a:lnTo>
                    <a:pt x="1131" y="3"/>
                  </a:lnTo>
                  <a:lnTo>
                    <a:pt x="1129" y="1"/>
                  </a:lnTo>
                  <a:lnTo>
                    <a:pt x="1129" y="0"/>
                  </a:lnTo>
                  <a:lnTo>
                    <a:pt x="1125" y="0"/>
                  </a:lnTo>
                  <a:lnTo>
                    <a:pt x="1126" y="1"/>
                  </a:lnTo>
                  <a:lnTo>
                    <a:pt x="1126" y="5"/>
                  </a:lnTo>
                  <a:lnTo>
                    <a:pt x="1126" y="6"/>
                  </a:lnTo>
                  <a:lnTo>
                    <a:pt x="1126" y="10"/>
                  </a:lnTo>
                  <a:lnTo>
                    <a:pt x="1126" y="11"/>
                  </a:lnTo>
                  <a:lnTo>
                    <a:pt x="1128" y="15"/>
                  </a:lnTo>
                  <a:lnTo>
                    <a:pt x="1128" y="16"/>
                  </a:lnTo>
                  <a:lnTo>
                    <a:pt x="1128" y="18"/>
                  </a:lnTo>
                  <a:lnTo>
                    <a:pt x="1133" y="16"/>
                  </a:lnTo>
                  <a:close/>
                  <a:moveTo>
                    <a:pt x="0" y="180"/>
                  </a:moveTo>
                  <a:lnTo>
                    <a:pt x="0" y="182"/>
                  </a:lnTo>
                  <a:lnTo>
                    <a:pt x="0" y="185"/>
                  </a:lnTo>
                  <a:lnTo>
                    <a:pt x="0" y="187"/>
                  </a:lnTo>
                  <a:lnTo>
                    <a:pt x="2" y="189"/>
                  </a:lnTo>
                  <a:lnTo>
                    <a:pt x="2" y="192"/>
                  </a:lnTo>
                  <a:lnTo>
                    <a:pt x="2" y="194"/>
                  </a:lnTo>
                  <a:lnTo>
                    <a:pt x="2" y="197"/>
                  </a:lnTo>
                  <a:lnTo>
                    <a:pt x="2" y="199"/>
                  </a:lnTo>
                  <a:lnTo>
                    <a:pt x="7" y="199"/>
                  </a:lnTo>
                  <a:lnTo>
                    <a:pt x="7" y="195"/>
                  </a:lnTo>
                  <a:lnTo>
                    <a:pt x="7" y="194"/>
                  </a:lnTo>
                  <a:lnTo>
                    <a:pt x="7" y="190"/>
                  </a:lnTo>
                  <a:lnTo>
                    <a:pt x="5" y="189"/>
                  </a:lnTo>
                  <a:lnTo>
                    <a:pt x="5" y="185"/>
                  </a:lnTo>
                  <a:lnTo>
                    <a:pt x="5" y="184"/>
                  </a:lnTo>
                  <a:lnTo>
                    <a:pt x="5" y="180"/>
                  </a:lnTo>
                  <a:lnTo>
                    <a:pt x="3" y="179"/>
                  </a:lnTo>
                  <a:lnTo>
                    <a:pt x="0" y="18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03" name="Freeform 43">
              <a:extLst>
                <a:ext uri="{FF2B5EF4-FFF2-40B4-BE49-F238E27FC236}">
                  <a16:creationId xmlns:a16="http://schemas.microsoft.com/office/drawing/2014/main" id="{67BFFF29-0A48-AA16-FEDC-92310A0A4D52}"/>
                </a:ext>
              </a:extLst>
            </p:cNvPr>
            <p:cNvSpPr>
              <a:spLocks noEditPoints="1"/>
            </p:cNvSpPr>
            <p:nvPr/>
          </p:nvSpPr>
          <p:spPr bwMode="auto">
            <a:xfrm>
              <a:off x="1272" y="1514"/>
              <a:ext cx="1127" cy="199"/>
            </a:xfrm>
            <a:custGeom>
              <a:avLst/>
              <a:gdLst>
                <a:gd name="T0" fmla="*/ 1127 w 1127"/>
                <a:gd name="T1" fmla="*/ 18 h 199"/>
                <a:gd name="T2" fmla="*/ 1127 w 1127"/>
                <a:gd name="T3" fmla="*/ 15 h 199"/>
                <a:gd name="T4" fmla="*/ 1127 w 1127"/>
                <a:gd name="T5" fmla="*/ 13 h 199"/>
                <a:gd name="T6" fmla="*/ 1127 w 1127"/>
                <a:gd name="T7" fmla="*/ 11 h 199"/>
                <a:gd name="T8" fmla="*/ 1127 w 1127"/>
                <a:gd name="T9" fmla="*/ 8 h 199"/>
                <a:gd name="T10" fmla="*/ 1126 w 1127"/>
                <a:gd name="T11" fmla="*/ 6 h 199"/>
                <a:gd name="T12" fmla="*/ 1126 w 1127"/>
                <a:gd name="T13" fmla="*/ 5 h 199"/>
                <a:gd name="T14" fmla="*/ 1126 w 1127"/>
                <a:gd name="T15" fmla="*/ 1 h 199"/>
                <a:gd name="T16" fmla="*/ 1126 w 1127"/>
                <a:gd name="T17" fmla="*/ 0 h 199"/>
                <a:gd name="T18" fmla="*/ 1121 w 1127"/>
                <a:gd name="T19" fmla="*/ 0 h 199"/>
                <a:gd name="T20" fmla="*/ 1121 w 1127"/>
                <a:gd name="T21" fmla="*/ 1 h 199"/>
                <a:gd name="T22" fmla="*/ 1121 w 1127"/>
                <a:gd name="T23" fmla="*/ 5 h 199"/>
                <a:gd name="T24" fmla="*/ 1123 w 1127"/>
                <a:gd name="T25" fmla="*/ 6 h 199"/>
                <a:gd name="T26" fmla="*/ 1123 w 1127"/>
                <a:gd name="T27" fmla="*/ 10 h 199"/>
                <a:gd name="T28" fmla="*/ 1123 w 1127"/>
                <a:gd name="T29" fmla="*/ 11 h 199"/>
                <a:gd name="T30" fmla="*/ 1123 w 1127"/>
                <a:gd name="T31" fmla="*/ 15 h 199"/>
                <a:gd name="T32" fmla="*/ 1124 w 1127"/>
                <a:gd name="T33" fmla="*/ 18 h 199"/>
                <a:gd name="T34" fmla="*/ 1124 w 1127"/>
                <a:gd name="T35" fmla="*/ 20 h 199"/>
                <a:gd name="T36" fmla="*/ 1127 w 1127"/>
                <a:gd name="T37" fmla="*/ 18 h 199"/>
                <a:gd name="T38" fmla="*/ 0 w 1127"/>
                <a:gd name="T39" fmla="*/ 179 h 199"/>
                <a:gd name="T40" fmla="*/ 0 w 1127"/>
                <a:gd name="T41" fmla="*/ 182 h 199"/>
                <a:gd name="T42" fmla="*/ 1 w 1127"/>
                <a:gd name="T43" fmla="*/ 184 h 199"/>
                <a:gd name="T44" fmla="*/ 1 w 1127"/>
                <a:gd name="T45" fmla="*/ 187 h 199"/>
                <a:gd name="T46" fmla="*/ 1 w 1127"/>
                <a:gd name="T47" fmla="*/ 189 h 199"/>
                <a:gd name="T48" fmla="*/ 1 w 1127"/>
                <a:gd name="T49" fmla="*/ 192 h 199"/>
                <a:gd name="T50" fmla="*/ 1 w 1127"/>
                <a:gd name="T51" fmla="*/ 194 h 199"/>
                <a:gd name="T52" fmla="*/ 3 w 1127"/>
                <a:gd name="T53" fmla="*/ 195 h 199"/>
                <a:gd name="T54" fmla="*/ 3 w 1127"/>
                <a:gd name="T55" fmla="*/ 199 h 199"/>
                <a:gd name="T56" fmla="*/ 8 w 1127"/>
                <a:gd name="T57" fmla="*/ 199 h 199"/>
                <a:gd name="T58" fmla="*/ 8 w 1127"/>
                <a:gd name="T59" fmla="*/ 195 h 199"/>
                <a:gd name="T60" fmla="*/ 6 w 1127"/>
                <a:gd name="T61" fmla="*/ 194 h 199"/>
                <a:gd name="T62" fmla="*/ 6 w 1127"/>
                <a:gd name="T63" fmla="*/ 190 h 199"/>
                <a:gd name="T64" fmla="*/ 6 w 1127"/>
                <a:gd name="T65" fmla="*/ 189 h 199"/>
                <a:gd name="T66" fmla="*/ 6 w 1127"/>
                <a:gd name="T67" fmla="*/ 185 h 199"/>
                <a:gd name="T68" fmla="*/ 5 w 1127"/>
                <a:gd name="T69" fmla="*/ 182 h 199"/>
                <a:gd name="T70" fmla="*/ 5 w 1127"/>
                <a:gd name="T71" fmla="*/ 180 h 199"/>
                <a:gd name="T72" fmla="*/ 5 w 1127"/>
                <a:gd name="T73" fmla="*/ 177 h 199"/>
                <a:gd name="T74" fmla="*/ 0 w 1127"/>
                <a:gd name="T75" fmla="*/ 17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27" h="199">
                  <a:moveTo>
                    <a:pt x="1127" y="18"/>
                  </a:moveTo>
                  <a:lnTo>
                    <a:pt x="1127" y="15"/>
                  </a:lnTo>
                  <a:lnTo>
                    <a:pt x="1127" y="13"/>
                  </a:lnTo>
                  <a:lnTo>
                    <a:pt x="1127" y="11"/>
                  </a:lnTo>
                  <a:lnTo>
                    <a:pt x="1127" y="8"/>
                  </a:lnTo>
                  <a:lnTo>
                    <a:pt x="1126" y="6"/>
                  </a:lnTo>
                  <a:lnTo>
                    <a:pt x="1126" y="5"/>
                  </a:lnTo>
                  <a:lnTo>
                    <a:pt x="1126" y="1"/>
                  </a:lnTo>
                  <a:lnTo>
                    <a:pt x="1126" y="0"/>
                  </a:lnTo>
                  <a:lnTo>
                    <a:pt x="1121" y="0"/>
                  </a:lnTo>
                  <a:lnTo>
                    <a:pt x="1121" y="1"/>
                  </a:lnTo>
                  <a:lnTo>
                    <a:pt x="1121" y="5"/>
                  </a:lnTo>
                  <a:lnTo>
                    <a:pt x="1123" y="6"/>
                  </a:lnTo>
                  <a:lnTo>
                    <a:pt x="1123" y="10"/>
                  </a:lnTo>
                  <a:lnTo>
                    <a:pt x="1123" y="11"/>
                  </a:lnTo>
                  <a:lnTo>
                    <a:pt x="1123" y="15"/>
                  </a:lnTo>
                  <a:lnTo>
                    <a:pt x="1124" y="18"/>
                  </a:lnTo>
                  <a:lnTo>
                    <a:pt x="1124" y="20"/>
                  </a:lnTo>
                  <a:lnTo>
                    <a:pt x="1127" y="18"/>
                  </a:lnTo>
                  <a:close/>
                  <a:moveTo>
                    <a:pt x="0" y="179"/>
                  </a:moveTo>
                  <a:lnTo>
                    <a:pt x="0" y="182"/>
                  </a:lnTo>
                  <a:lnTo>
                    <a:pt x="1" y="184"/>
                  </a:lnTo>
                  <a:lnTo>
                    <a:pt x="1" y="187"/>
                  </a:lnTo>
                  <a:lnTo>
                    <a:pt x="1" y="189"/>
                  </a:lnTo>
                  <a:lnTo>
                    <a:pt x="1" y="192"/>
                  </a:lnTo>
                  <a:lnTo>
                    <a:pt x="1" y="194"/>
                  </a:lnTo>
                  <a:lnTo>
                    <a:pt x="3" y="195"/>
                  </a:lnTo>
                  <a:lnTo>
                    <a:pt x="3" y="199"/>
                  </a:lnTo>
                  <a:lnTo>
                    <a:pt x="8" y="199"/>
                  </a:lnTo>
                  <a:lnTo>
                    <a:pt x="8" y="195"/>
                  </a:lnTo>
                  <a:lnTo>
                    <a:pt x="6" y="194"/>
                  </a:lnTo>
                  <a:lnTo>
                    <a:pt x="6" y="190"/>
                  </a:lnTo>
                  <a:lnTo>
                    <a:pt x="6" y="189"/>
                  </a:lnTo>
                  <a:lnTo>
                    <a:pt x="6" y="185"/>
                  </a:lnTo>
                  <a:lnTo>
                    <a:pt x="5" y="182"/>
                  </a:lnTo>
                  <a:lnTo>
                    <a:pt x="5" y="180"/>
                  </a:lnTo>
                  <a:lnTo>
                    <a:pt x="5" y="177"/>
                  </a:lnTo>
                  <a:lnTo>
                    <a:pt x="0" y="179"/>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04" name="Freeform 44">
              <a:extLst>
                <a:ext uri="{FF2B5EF4-FFF2-40B4-BE49-F238E27FC236}">
                  <a16:creationId xmlns:a16="http://schemas.microsoft.com/office/drawing/2014/main" id="{A227AA7A-1E89-FFCF-CBB9-0911D7D2EFD8}"/>
                </a:ext>
              </a:extLst>
            </p:cNvPr>
            <p:cNvSpPr>
              <a:spLocks noEditPoints="1"/>
            </p:cNvSpPr>
            <p:nvPr/>
          </p:nvSpPr>
          <p:spPr bwMode="auto">
            <a:xfrm>
              <a:off x="1273" y="1514"/>
              <a:ext cx="1125" cy="199"/>
            </a:xfrm>
            <a:custGeom>
              <a:avLst/>
              <a:gdLst>
                <a:gd name="T0" fmla="*/ 1125 w 1125"/>
                <a:gd name="T1" fmla="*/ 18 h 199"/>
                <a:gd name="T2" fmla="*/ 1125 w 1125"/>
                <a:gd name="T3" fmla="*/ 16 h 199"/>
                <a:gd name="T4" fmla="*/ 1125 w 1125"/>
                <a:gd name="T5" fmla="*/ 15 h 199"/>
                <a:gd name="T6" fmla="*/ 1123 w 1125"/>
                <a:gd name="T7" fmla="*/ 11 h 199"/>
                <a:gd name="T8" fmla="*/ 1123 w 1125"/>
                <a:gd name="T9" fmla="*/ 10 h 199"/>
                <a:gd name="T10" fmla="*/ 1123 w 1125"/>
                <a:gd name="T11" fmla="*/ 6 h 199"/>
                <a:gd name="T12" fmla="*/ 1123 w 1125"/>
                <a:gd name="T13" fmla="*/ 5 h 199"/>
                <a:gd name="T14" fmla="*/ 1123 w 1125"/>
                <a:gd name="T15" fmla="*/ 1 h 199"/>
                <a:gd name="T16" fmla="*/ 1122 w 1125"/>
                <a:gd name="T17" fmla="*/ 0 h 199"/>
                <a:gd name="T18" fmla="*/ 1117 w 1125"/>
                <a:gd name="T19" fmla="*/ 0 h 199"/>
                <a:gd name="T20" fmla="*/ 1118 w 1125"/>
                <a:gd name="T21" fmla="*/ 1 h 199"/>
                <a:gd name="T22" fmla="*/ 1118 w 1125"/>
                <a:gd name="T23" fmla="*/ 5 h 199"/>
                <a:gd name="T24" fmla="*/ 1118 w 1125"/>
                <a:gd name="T25" fmla="*/ 8 h 199"/>
                <a:gd name="T26" fmla="*/ 1118 w 1125"/>
                <a:gd name="T27" fmla="*/ 10 h 199"/>
                <a:gd name="T28" fmla="*/ 1120 w 1125"/>
                <a:gd name="T29" fmla="*/ 13 h 199"/>
                <a:gd name="T30" fmla="*/ 1120 w 1125"/>
                <a:gd name="T31" fmla="*/ 15 h 199"/>
                <a:gd name="T32" fmla="*/ 1120 w 1125"/>
                <a:gd name="T33" fmla="*/ 18 h 199"/>
                <a:gd name="T34" fmla="*/ 1120 w 1125"/>
                <a:gd name="T35" fmla="*/ 21 h 199"/>
                <a:gd name="T36" fmla="*/ 1125 w 1125"/>
                <a:gd name="T37" fmla="*/ 18 h 199"/>
                <a:gd name="T38" fmla="*/ 0 w 1125"/>
                <a:gd name="T39" fmla="*/ 179 h 199"/>
                <a:gd name="T40" fmla="*/ 2 w 1125"/>
                <a:gd name="T41" fmla="*/ 180 h 199"/>
                <a:gd name="T42" fmla="*/ 2 w 1125"/>
                <a:gd name="T43" fmla="*/ 184 h 199"/>
                <a:gd name="T44" fmla="*/ 2 w 1125"/>
                <a:gd name="T45" fmla="*/ 185 h 199"/>
                <a:gd name="T46" fmla="*/ 2 w 1125"/>
                <a:gd name="T47" fmla="*/ 189 h 199"/>
                <a:gd name="T48" fmla="*/ 4 w 1125"/>
                <a:gd name="T49" fmla="*/ 190 h 199"/>
                <a:gd name="T50" fmla="*/ 4 w 1125"/>
                <a:gd name="T51" fmla="*/ 194 h 199"/>
                <a:gd name="T52" fmla="*/ 4 w 1125"/>
                <a:gd name="T53" fmla="*/ 195 h 199"/>
                <a:gd name="T54" fmla="*/ 4 w 1125"/>
                <a:gd name="T55" fmla="*/ 199 h 199"/>
                <a:gd name="T56" fmla="*/ 9 w 1125"/>
                <a:gd name="T57" fmla="*/ 199 h 199"/>
                <a:gd name="T58" fmla="*/ 9 w 1125"/>
                <a:gd name="T59" fmla="*/ 195 h 199"/>
                <a:gd name="T60" fmla="*/ 9 w 1125"/>
                <a:gd name="T61" fmla="*/ 194 h 199"/>
                <a:gd name="T62" fmla="*/ 7 w 1125"/>
                <a:gd name="T63" fmla="*/ 190 h 199"/>
                <a:gd name="T64" fmla="*/ 7 w 1125"/>
                <a:gd name="T65" fmla="*/ 187 h 199"/>
                <a:gd name="T66" fmla="*/ 7 w 1125"/>
                <a:gd name="T67" fmla="*/ 185 h 199"/>
                <a:gd name="T68" fmla="*/ 7 w 1125"/>
                <a:gd name="T69" fmla="*/ 182 h 199"/>
                <a:gd name="T70" fmla="*/ 5 w 1125"/>
                <a:gd name="T71" fmla="*/ 179 h 199"/>
                <a:gd name="T72" fmla="*/ 5 w 1125"/>
                <a:gd name="T73" fmla="*/ 175 h 199"/>
                <a:gd name="T74" fmla="*/ 0 w 1125"/>
                <a:gd name="T75" fmla="*/ 17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25" h="199">
                  <a:moveTo>
                    <a:pt x="1125" y="18"/>
                  </a:moveTo>
                  <a:lnTo>
                    <a:pt x="1125" y="16"/>
                  </a:lnTo>
                  <a:lnTo>
                    <a:pt x="1125" y="15"/>
                  </a:lnTo>
                  <a:lnTo>
                    <a:pt x="1123" y="11"/>
                  </a:lnTo>
                  <a:lnTo>
                    <a:pt x="1123" y="10"/>
                  </a:lnTo>
                  <a:lnTo>
                    <a:pt x="1123" y="6"/>
                  </a:lnTo>
                  <a:lnTo>
                    <a:pt x="1123" y="5"/>
                  </a:lnTo>
                  <a:lnTo>
                    <a:pt x="1123" y="1"/>
                  </a:lnTo>
                  <a:lnTo>
                    <a:pt x="1122" y="0"/>
                  </a:lnTo>
                  <a:lnTo>
                    <a:pt x="1117" y="0"/>
                  </a:lnTo>
                  <a:lnTo>
                    <a:pt x="1118" y="1"/>
                  </a:lnTo>
                  <a:lnTo>
                    <a:pt x="1118" y="5"/>
                  </a:lnTo>
                  <a:lnTo>
                    <a:pt x="1118" y="8"/>
                  </a:lnTo>
                  <a:lnTo>
                    <a:pt x="1118" y="10"/>
                  </a:lnTo>
                  <a:lnTo>
                    <a:pt x="1120" y="13"/>
                  </a:lnTo>
                  <a:lnTo>
                    <a:pt x="1120" y="15"/>
                  </a:lnTo>
                  <a:lnTo>
                    <a:pt x="1120" y="18"/>
                  </a:lnTo>
                  <a:lnTo>
                    <a:pt x="1120" y="21"/>
                  </a:lnTo>
                  <a:lnTo>
                    <a:pt x="1125" y="18"/>
                  </a:lnTo>
                  <a:close/>
                  <a:moveTo>
                    <a:pt x="0" y="179"/>
                  </a:moveTo>
                  <a:lnTo>
                    <a:pt x="2" y="180"/>
                  </a:lnTo>
                  <a:lnTo>
                    <a:pt x="2" y="184"/>
                  </a:lnTo>
                  <a:lnTo>
                    <a:pt x="2" y="185"/>
                  </a:lnTo>
                  <a:lnTo>
                    <a:pt x="2" y="189"/>
                  </a:lnTo>
                  <a:lnTo>
                    <a:pt x="4" y="190"/>
                  </a:lnTo>
                  <a:lnTo>
                    <a:pt x="4" y="194"/>
                  </a:lnTo>
                  <a:lnTo>
                    <a:pt x="4" y="195"/>
                  </a:lnTo>
                  <a:lnTo>
                    <a:pt x="4" y="199"/>
                  </a:lnTo>
                  <a:lnTo>
                    <a:pt x="9" y="199"/>
                  </a:lnTo>
                  <a:lnTo>
                    <a:pt x="9" y="195"/>
                  </a:lnTo>
                  <a:lnTo>
                    <a:pt x="9" y="194"/>
                  </a:lnTo>
                  <a:lnTo>
                    <a:pt x="7" y="190"/>
                  </a:lnTo>
                  <a:lnTo>
                    <a:pt x="7" y="187"/>
                  </a:lnTo>
                  <a:lnTo>
                    <a:pt x="7" y="185"/>
                  </a:lnTo>
                  <a:lnTo>
                    <a:pt x="7" y="182"/>
                  </a:lnTo>
                  <a:lnTo>
                    <a:pt x="5" y="179"/>
                  </a:lnTo>
                  <a:lnTo>
                    <a:pt x="5" y="175"/>
                  </a:lnTo>
                  <a:lnTo>
                    <a:pt x="0" y="179"/>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05" name="Freeform 45">
              <a:extLst>
                <a:ext uri="{FF2B5EF4-FFF2-40B4-BE49-F238E27FC236}">
                  <a16:creationId xmlns:a16="http://schemas.microsoft.com/office/drawing/2014/main" id="{9615F7E9-EF14-A07D-9FBA-261E5B43AD7B}"/>
                </a:ext>
              </a:extLst>
            </p:cNvPr>
            <p:cNvSpPr>
              <a:spLocks noEditPoints="1"/>
            </p:cNvSpPr>
            <p:nvPr/>
          </p:nvSpPr>
          <p:spPr bwMode="auto">
            <a:xfrm>
              <a:off x="1277" y="1514"/>
              <a:ext cx="1119" cy="199"/>
            </a:xfrm>
            <a:custGeom>
              <a:avLst/>
              <a:gdLst>
                <a:gd name="T0" fmla="*/ 1119 w 1119"/>
                <a:gd name="T1" fmla="*/ 20 h 199"/>
                <a:gd name="T2" fmla="*/ 1119 w 1119"/>
                <a:gd name="T3" fmla="*/ 18 h 199"/>
                <a:gd name="T4" fmla="*/ 1118 w 1119"/>
                <a:gd name="T5" fmla="*/ 15 h 199"/>
                <a:gd name="T6" fmla="*/ 1118 w 1119"/>
                <a:gd name="T7" fmla="*/ 11 h 199"/>
                <a:gd name="T8" fmla="*/ 1118 w 1119"/>
                <a:gd name="T9" fmla="*/ 10 h 199"/>
                <a:gd name="T10" fmla="*/ 1118 w 1119"/>
                <a:gd name="T11" fmla="*/ 6 h 199"/>
                <a:gd name="T12" fmla="*/ 1116 w 1119"/>
                <a:gd name="T13" fmla="*/ 5 h 199"/>
                <a:gd name="T14" fmla="*/ 1116 w 1119"/>
                <a:gd name="T15" fmla="*/ 1 h 199"/>
                <a:gd name="T16" fmla="*/ 1116 w 1119"/>
                <a:gd name="T17" fmla="*/ 0 h 199"/>
                <a:gd name="T18" fmla="*/ 1111 w 1119"/>
                <a:gd name="T19" fmla="*/ 0 h 199"/>
                <a:gd name="T20" fmla="*/ 1111 w 1119"/>
                <a:gd name="T21" fmla="*/ 3 h 199"/>
                <a:gd name="T22" fmla="*/ 1111 w 1119"/>
                <a:gd name="T23" fmla="*/ 5 h 199"/>
                <a:gd name="T24" fmla="*/ 1113 w 1119"/>
                <a:gd name="T25" fmla="*/ 8 h 199"/>
                <a:gd name="T26" fmla="*/ 1113 w 1119"/>
                <a:gd name="T27" fmla="*/ 11 h 199"/>
                <a:gd name="T28" fmla="*/ 1113 w 1119"/>
                <a:gd name="T29" fmla="*/ 13 h 199"/>
                <a:gd name="T30" fmla="*/ 1114 w 1119"/>
                <a:gd name="T31" fmla="*/ 16 h 199"/>
                <a:gd name="T32" fmla="*/ 1114 w 1119"/>
                <a:gd name="T33" fmla="*/ 20 h 199"/>
                <a:gd name="T34" fmla="*/ 1114 w 1119"/>
                <a:gd name="T35" fmla="*/ 21 h 199"/>
                <a:gd name="T36" fmla="*/ 1119 w 1119"/>
                <a:gd name="T37" fmla="*/ 20 h 199"/>
                <a:gd name="T38" fmla="*/ 0 w 1119"/>
                <a:gd name="T39" fmla="*/ 177 h 199"/>
                <a:gd name="T40" fmla="*/ 0 w 1119"/>
                <a:gd name="T41" fmla="*/ 180 h 199"/>
                <a:gd name="T42" fmla="*/ 0 w 1119"/>
                <a:gd name="T43" fmla="*/ 182 h 199"/>
                <a:gd name="T44" fmla="*/ 1 w 1119"/>
                <a:gd name="T45" fmla="*/ 185 h 199"/>
                <a:gd name="T46" fmla="*/ 1 w 1119"/>
                <a:gd name="T47" fmla="*/ 189 h 199"/>
                <a:gd name="T48" fmla="*/ 1 w 1119"/>
                <a:gd name="T49" fmla="*/ 190 h 199"/>
                <a:gd name="T50" fmla="*/ 1 w 1119"/>
                <a:gd name="T51" fmla="*/ 194 h 199"/>
                <a:gd name="T52" fmla="*/ 3 w 1119"/>
                <a:gd name="T53" fmla="*/ 195 h 199"/>
                <a:gd name="T54" fmla="*/ 3 w 1119"/>
                <a:gd name="T55" fmla="*/ 199 h 199"/>
                <a:gd name="T56" fmla="*/ 8 w 1119"/>
                <a:gd name="T57" fmla="*/ 199 h 199"/>
                <a:gd name="T58" fmla="*/ 6 w 1119"/>
                <a:gd name="T59" fmla="*/ 195 h 199"/>
                <a:gd name="T60" fmla="*/ 6 w 1119"/>
                <a:gd name="T61" fmla="*/ 192 h 199"/>
                <a:gd name="T62" fmla="*/ 6 w 1119"/>
                <a:gd name="T63" fmla="*/ 190 h 199"/>
                <a:gd name="T64" fmla="*/ 6 w 1119"/>
                <a:gd name="T65" fmla="*/ 187 h 199"/>
                <a:gd name="T66" fmla="*/ 5 w 1119"/>
                <a:gd name="T67" fmla="*/ 184 h 199"/>
                <a:gd name="T68" fmla="*/ 5 w 1119"/>
                <a:gd name="T69" fmla="*/ 180 h 199"/>
                <a:gd name="T70" fmla="*/ 5 w 1119"/>
                <a:gd name="T71" fmla="*/ 179 h 199"/>
                <a:gd name="T72" fmla="*/ 5 w 1119"/>
                <a:gd name="T73" fmla="*/ 175 h 199"/>
                <a:gd name="T74" fmla="*/ 0 w 1119"/>
                <a:gd name="T75" fmla="*/ 17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19" h="199">
                  <a:moveTo>
                    <a:pt x="1119" y="20"/>
                  </a:moveTo>
                  <a:lnTo>
                    <a:pt x="1119" y="18"/>
                  </a:lnTo>
                  <a:lnTo>
                    <a:pt x="1118" y="15"/>
                  </a:lnTo>
                  <a:lnTo>
                    <a:pt x="1118" y="11"/>
                  </a:lnTo>
                  <a:lnTo>
                    <a:pt x="1118" y="10"/>
                  </a:lnTo>
                  <a:lnTo>
                    <a:pt x="1118" y="6"/>
                  </a:lnTo>
                  <a:lnTo>
                    <a:pt x="1116" y="5"/>
                  </a:lnTo>
                  <a:lnTo>
                    <a:pt x="1116" y="1"/>
                  </a:lnTo>
                  <a:lnTo>
                    <a:pt x="1116" y="0"/>
                  </a:lnTo>
                  <a:lnTo>
                    <a:pt x="1111" y="0"/>
                  </a:lnTo>
                  <a:lnTo>
                    <a:pt x="1111" y="3"/>
                  </a:lnTo>
                  <a:lnTo>
                    <a:pt x="1111" y="5"/>
                  </a:lnTo>
                  <a:lnTo>
                    <a:pt x="1113" y="8"/>
                  </a:lnTo>
                  <a:lnTo>
                    <a:pt x="1113" y="11"/>
                  </a:lnTo>
                  <a:lnTo>
                    <a:pt x="1113" y="13"/>
                  </a:lnTo>
                  <a:lnTo>
                    <a:pt x="1114" y="16"/>
                  </a:lnTo>
                  <a:lnTo>
                    <a:pt x="1114" y="20"/>
                  </a:lnTo>
                  <a:lnTo>
                    <a:pt x="1114" y="21"/>
                  </a:lnTo>
                  <a:lnTo>
                    <a:pt x="1119" y="20"/>
                  </a:lnTo>
                  <a:close/>
                  <a:moveTo>
                    <a:pt x="0" y="177"/>
                  </a:moveTo>
                  <a:lnTo>
                    <a:pt x="0" y="180"/>
                  </a:lnTo>
                  <a:lnTo>
                    <a:pt x="0" y="182"/>
                  </a:lnTo>
                  <a:lnTo>
                    <a:pt x="1" y="185"/>
                  </a:lnTo>
                  <a:lnTo>
                    <a:pt x="1" y="189"/>
                  </a:lnTo>
                  <a:lnTo>
                    <a:pt x="1" y="190"/>
                  </a:lnTo>
                  <a:lnTo>
                    <a:pt x="1" y="194"/>
                  </a:lnTo>
                  <a:lnTo>
                    <a:pt x="3" y="195"/>
                  </a:lnTo>
                  <a:lnTo>
                    <a:pt x="3" y="199"/>
                  </a:lnTo>
                  <a:lnTo>
                    <a:pt x="8" y="199"/>
                  </a:lnTo>
                  <a:lnTo>
                    <a:pt x="6" y="195"/>
                  </a:lnTo>
                  <a:lnTo>
                    <a:pt x="6" y="192"/>
                  </a:lnTo>
                  <a:lnTo>
                    <a:pt x="6" y="190"/>
                  </a:lnTo>
                  <a:lnTo>
                    <a:pt x="6" y="187"/>
                  </a:lnTo>
                  <a:lnTo>
                    <a:pt x="5" y="184"/>
                  </a:lnTo>
                  <a:lnTo>
                    <a:pt x="5" y="180"/>
                  </a:lnTo>
                  <a:lnTo>
                    <a:pt x="5" y="179"/>
                  </a:lnTo>
                  <a:lnTo>
                    <a:pt x="5" y="175"/>
                  </a:lnTo>
                  <a:lnTo>
                    <a:pt x="0" y="177"/>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06" name="Freeform 46">
              <a:extLst>
                <a:ext uri="{FF2B5EF4-FFF2-40B4-BE49-F238E27FC236}">
                  <a16:creationId xmlns:a16="http://schemas.microsoft.com/office/drawing/2014/main" id="{74555504-75E1-B435-E12D-485ED0098E4F}"/>
                </a:ext>
              </a:extLst>
            </p:cNvPr>
            <p:cNvSpPr>
              <a:spLocks noEditPoints="1"/>
            </p:cNvSpPr>
            <p:nvPr/>
          </p:nvSpPr>
          <p:spPr bwMode="auto">
            <a:xfrm>
              <a:off x="1278" y="1514"/>
              <a:ext cx="1115" cy="199"/>
            </a:xfrm>
            <a:custGeom>
              <a:avLst/>
              <a:gdLst>
                <a:gd name="T0" fmla="*/ 1115 w 1115"/>
                <a:gd name="T1" fmla="*/ 21 h 199"/>
                <a:gd name="T2" fmla="*/ 1115 w 1115"/>
                <a:gd name="T3" fmla="*/ 18 h 199"/>
                <a:gd name="T4" fmla="*/ 1115 w 1115"/>
                <a:gd name="T5" fmla="*/ 15 h 199"/>
                <a:gd name="T6" fmla="*/ 1115 w 1115"/>
                <a:gd name="T7" fmla="*/ 13 h 199"/>
                <a:gd name="T8" fmla="*/ 1113 w 1115"/>
                <a:gd name="T9" fmla="*/ 10 h 199"/>
                <a:gd name="T10" fmla="*/ 1113 w 1115"/>
                <a:gd name="T11" fmla="*/ 8 h 199"/>
                <a:gd name="T12" fmla="*/ 1113 w 1115"/>
                <a:gd name="T13" fmla="*/ 5 h 199"/>
                <a:gd name="T14" fmla="*/ 1113 w 1115"/>
                <a:gd name="T15" fmla="*/ 1 h 199"/>
                <a:gd name="T16" fmla="*/ 1112 w 1115"/>
                <a:gd name="T17" fmla="*/ 0 h 199"/>
                <a:gd name="T18" fmla="*/ 1107 w 1115"/>
                <a:gd name="T19" fmla="*/ 0 h 199"/>
                <a:gd name="T20" fmla="*/ 1108 w 1115"/>
                <a:gd name="T21" fmla="*/ 3 h 199"/>
                <a:gd name="T22" fmla="*/ 1108 w 1115"/>
                <a:gd name="T23" fmla="*/ 5 h 199"/>
                <a:gd name="T24" fmla="*/ 1108 w 1115"/>
                <a:gd name="T25" fmla="*/ 8 h 199"/>
                <a:gd name="T26" fmla="*/ 1110 w 1115"/>
                <a:gd name="T27" fmla="*/ 11 h 199"/>
                <a:gd name="T28" fmla="*/ 1110 w 1115"/>
                <a:gd name="T29" fmla="*/ 15 h 199"/>
                <a:gd name="T30" fmla="*/ 1110 w 1115"/>
                <a:gd name="T31" fmla="*/ 16 h 199"/>
                <a:gd name="T32" fmla="*/ 1110 w 1115"/>
                <a:gd name="T33" fmla="*/ 20 h 199"/>
                <a:gd name="T34" fmla="*/ 1112 w 1115"/>
                <a:gd name="T35" fmla="*/ 23 h 199"/>
                <a:gd name="T36" fmla="*/ 1115 w 1115"/>
                <a:gd name="T37" fmla="*/ 21 h 199"/>
                <a:gd name="T38" fmla="*/ 0 w 1115"/>
                <a:gd name="T39" fmla="*/ 175 h 199"/>
                <a:gd name="T40" fmla="*/ 0 w 1115"/>
                <a:gd name="T41" fmla="*/ 179 h 199"/>
                <a:gd name="T42" fmla="*/ 2 w 1115"/>
                <a:gd name="T43" fmla="*/ 182 h 199"/>
                <a:gd name="T44" fmla="*/ 2 w 1115"/>
                <a:gd name="T45" fmla="*/ 185 h 199"/>
                <a:gd name="T46" fmla="*/ 2 w 1115"/>
                <a:gd name="T47" fmla="*/ 187 h 199"/>
                <a:gd name="T48" fmla="*/ 2 w 1115"/>
                <a:gd name="T49" fmla="*/ 190 h 199"/>
                <a:gd name="T50" fmla="*/ 4 w 1115"/>
                <a:gd name="T51" fmla="*/ 194 h 199"/>
                <a:gd name="T52" fmla="*/ 4 w 1115"/>
                <a:gd name="T53" fmla="*/ 195 h 199"/>
                <a:gd name="T54" fmla="*/ 4 w 1115"/>
                <a:gd name="T55" fmla="*/ 199 h 199"/>
                <a:gd name="T56" fmla="*/ 9 w 1115"/>
                <a:gd name="T57" fmla="*/ 199 h 199"/>
                <a:gd name="T58" fmla="*/ 9 w 1115"/>
                <a:gd name="T59" fmla="*/ 195 h 199"/>
                <a:gd name="T60" fmla="*/ 9 w 1115"/>
                <a:gd name="T61" fmla="*/ 192 h 199"/>
                <a:gd name="T62" fmla="*/ 7 w 1115"/>
                <a:gd name="T63" fmla="*/ 189 h 199"/>
                <a:gd name="T64" fmla="*/ 7 w 1115"/>
                <a:gd name="T65" fmla="*/ 187 h 199"/>
                <a:gd name="T66" fmla="*/ 7 w 1115"/>
                <a:gd name="T67" fmla="*/ 184 h 199"/>
                <a:gd name="T68" fmla="*/ 5 w 1115"/>
                <a:gd name="T69" fmla="*/ 180 h 199"/>
                <a:gd name="T70" fmla="*/ 5 w 1115"/>
                <a:gd name="T71" fmla="*/ 177 h 199"/>
                <a:gd name="T72" fmla="*/ 5 w 1115"/>
                <a:gd name="T73" fmla="*/ 174 h 199"/>
                <a:gd name="T74" fmla="*/ 0 w 1115"/>
                <a:gd name="T75" fmla="*/ 17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15" h="199">
                  <a:moveTo>
                    <a:pt x="1115" y="21"/>
                  </a:moveTo>
                  <a:lnTo>
                    <a:pt x="1115" y="18"/>
                  </a:lnTo>
                  <a:lnTo>
                    <a:pt x="1115" y="15"/>
                  </a:lnTo>
                  <a:lnTo>
                    <a:pt x="1115" y="13"/>
                  </a:lnTo>
                  <a:lnTo>
                    <a:pt x="1113" y="10"/>
                  </a:lnTo>
                  <a:lnTo>
                    <a:pt x="1113" y="8"/>
                  </a:lnTo>
                  <a:lnTo>
                    <a:pt x="1113" y="5"/>
                  </a:lnTo>
                  <a:lnTo>
                    <a:pt x="1113" y="1"/>
                  </a:lnTo>
                  <a:lnTo>
                    <a:pt x="1112" y="0"/>
                  </a:lnTo>
                  <a:lnTo>
                    <a:pt x="1107" y="0"/>
                  </a:lnTo>
                  <a:lnTo>
                    <a:pt x="1108" y="3"/>
                  </a:lnTo>
                  <a:lnTo>
                    <a:pt x="1108" y="5"/>
                  </a:lnTo>
                  <a:lnTo>
                    <a:pt x="1108" y="8"/>
                  </a:lnTo>
                  <a:lnTo>
                    <a:pt x="1110" y="11"/>
                  </a:lnTo>
                  <a:lnTo>
                    <a:pt x="1110" y="15"/>
                  </a:lnTo>
                  <a:lnTo>
                    <a:pt x="1110" y="16"/>
                  </a:lnTo>
                  <a:lnTo>
                    <a:pt x="1110" y="20"/>
                  </a:lnTo>
                  <a:lnTo>
                    <a:pt x="1112" y="23"/>
                  </a:lnTo>
                  <a:lnTo>
                    <a:pt x="1115" y="21"/>
                  </a:lnTo>
                  <a:close/>
                  <a:moveTo>
                    <a:pt x="0" y="175"/>
                  </a:moveTo>
                  <a:lnTo>
                    <a:pt x="0" y="179"/>
                  </a:lnTo>
                  <a:lnTo>
                    <a:pt x="2" y="182"/>
                  </a:lnTo>
                  <a:lnTo>
                    <a:pt x="2" y="185"/>
                  </a:lnTo>
                  <a:lnTo>
                    <a:pt x="2" y="187"/>
                  </a:lnTo>
                  <a:lnTo>
                    <a:pt x="2" y="190"/>
                  </a:lnTo>
                  <a:lnTo>
                    <a:pt x="4" y="194"/>
                  </a:lnTo>
                  <a:lnTo>
                    <a:pt x="4" y="195"/>
                  </a:lnTo>
                  <a:lnTo>
                    <a:pt x="4" y="199"/>
                  </a:lnTo>
                  <a:lnTo>
                    <a:pt x="9" y="199"/>
                  </a:lnTo>
                  <a:lnTo>
                    <a:pt x="9" y="195"/>
                  </a:lnTo>
                  <a:lnTo>
                    <a:pt x="9" y="192"/>
                  </a:lnTo>
                  <a:lnTo>
                    <a:pt x="7" y="189"/>
                  </a:lnTo>
                  <a:lnTo>
                    <a:pt x="7" y="187"/>
                  </a:lnTo>
                  <a:lnTo>
                    <a:pt x="7" y="184"/>
                  </a:lnTo>
                  <a:lnTo>
                    <a:pt x="5" y="180"/>
                  </a:lnTo>
                  <a:lnTo>
                    <a:pt x="5" y="177"/>
                  </a:lnTo>
                  <a:lnTo>
                    <a:pt x="5" y="174"/>
                  </a:lnTo>
                  <a:lnTo>
                    <a:pt x="0" y="175"/>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07" name="Freeform 47">
              <a:extLst>
                <a:ext uri="{FF2B5EF4-FFF2-40B4-BE49-F238E27FC236}">
                  <a16:creationId xmlns:a16="http://schemas.microsoft.com/office/drawing/2014/main" id="{3BD7FE28-17B2-B931-7C6A-C4A389E6DB98}"/>
                </a:ext>
              </a:extLst>
            </p:cNvPr>
            <p:cNvSpPr>
              <a:spLocks noEditPoints="1"/>
            </p:cNvSpPr>
            <p:nvPr/>
          </p:nvSpPr>
          <p:spPr bwMode="auto">
            <a:xfrm>
              <a:off x="1282" y="1514"/>
              <a:ext cx="1109" cy="199"/>
            </a:xfrm>
            <a:custGeom>
              <a:avLst/>
              <a:gdLst>
                <a:gd name="T0" fmla="*/ 1109 w 1109"/>
                <a:gd name="T1" fmla="*/ 21 h 199"/>
                <a:gd name="T2" fmla="*/ 1109 w 1109"/>
                <a:gd name="T3" fmla="*/ 20 h 199"/>
                <a:gd name="T4" fmla="*/ 1109 w 1109"/>
                <a:gd name="T5" fmla="*/ 16 h 199"/>
                <a:gd name="T6" fmla="*/ 1108 w 1109"/>
                <a:gd name="T7" fmla="*/ 13 h 199"/>
                <a:gd name="T8" fmla="*/ 1108 w 1109"/>
                <a:gd name="T9" fmla="*/ 11 h 199"/>
                <a:gd name="T10" fmla="*/ 1108 w 1109"/>
                <a:gd name="T11" fmla="*/ 8 h 199"/>
                <a:gd name="T12" fmla="*/ 1106 w 1109"/>
                <a:gd name="T13" fmla="*/ 5 h 199"/>
                <a:gd name="T14" fmla="*/ 1106 w 1109"/>
                <a:gd name="T15" fmla="*/ 3 h 199"/>
                <a:gd name="T16" fmla="*/ 1106 w 1109"/>
                <a:gd name="T17" fmla="*/ 0 h 199"/>
                <a:gd name="T18" fmla="*/ 1101 w 1109"/>
                <a:gd name="T19" fmla="*/ 0 h 199"/>
                <a:gd name="T20" fmla="*/ 1101 w 1109"/>
                <a:gd name="T21" fmla="*/ 3 h 199"/>
                <a:gd name="T22" fmla="*/ 1103 w 1109"/>
                <a:gd name="T23" fmla="*/ 6 h 199"/>
                <a:gd name="T24" fmla="*/ 1103 w 1109"/>
                <a:gd name="T25" fmla="*/ 8 h 199"/>
                <a:gd name="T26" fmla="*/ 1103 w 1109"/>
                <a:gd name="T27" fmla="*/ 11 h 199"/>
                <a:gd name="T28" fmla="*/ 1103 w 1109"/>
                <a:gd name="T29" fmla="*/ 15 h 199"/>
                <a:gd name="T30" fmla="*/ 1104 w 1109"/>
                <a:gd name="T31" fmla="*/ 18 h 199"/>
                <a:gd name="T32" fmla="*/ 1104 w 1109"/>
                <a:gd name="T33" fmla="*/ 21 h 199"/>
                <a:gd name="T34" fmla="*/ 1104 w 1109"/>
                <a:gd name="T35" fmla="*/ 25 h 199"/>
                <a:gd name="T36" fmla="*/ 1109 w 1109"/>
                <a:gd name="T37" fmla="*/ 21 h 199"/>
                <a:gd name="T38" fmla="*/ 0 w 1109"/>
                <a:gd name="T39" fmla="*/ 175 h 199"/>
                <a:gd name="T40" fmla="*/ 0 w 1109"/>
                <a:gd name="T41" fmla="*/ 179 h 199"/>
                <a:gd name="T42" fmla="*/ 0 w 1109"/>
                <a:gd name="T43" fmla="*/ 180 h 199"/>
                <a:gd name="T44" fmla="*/ 0 w 1109"/>
                <a:gd name="T45" fmla="*/ 184 h 199"/>
                <a:gd name="T46" fmla="*/ 1 w 1109"/>
                <a:gd name="T47" fmla="*/ 187 h 199"/>
                <a:gd name="T48" fmla="*/ 1 w 1109"/>
                <a:gd name="T49" fmla="*/ 190 h 199"/>
                <a:gd name="T50" fmla="*/ 1 w 1109"/>
                <a:gd name="T51" fmla="*/ 192 h 199"/>
                <a:gd name="T52" fmla="*/ 1 w 1109"/>
                <a:gd name="T53" fmla="*/ 195 h 199"/>
                <a:gd name="T54" fmla="*/ 3 w 1109"/>
                <a:gd name="T55" fmla="*/ 199 h 199"/>
                <a:gd name="T56" fmla="*/ 8 w 1109"/>
                <a:gd name="T57" fmla="*/ 199 h 199"/>
                <a:gd name="T58" fmla="*/ 6 w 1109"/>
                <a:gd name="T59" fmla="*/ 195 h 199"/>
                <a:gd name="T60" fmla="*/ 6 w 1109"/>
                <a:gd name="T61" fmla="*/ 192 h 199"/>
                <a:gd name="T62" fmla="*/ 6 w 1109"/>
                <a:gd name="T63" fmla="*/ 189 h 199"/>
                <a:gd name="T64" fmla="*/ 5 w 1109"/>
                <a:gd name="T65" fmla="*/ 185 h 199"/>
                <a:gd name="T66" fmla="*/ 5 w 1109"/>
                <a:gd name="T67" fmla="*/ 182 h 199"/>
                <a:gd name="T68" fmla="*/ 5 w 1109"/>
                <a:gd name="T69" fmla="*/ 179 h 199"/>
                <a:gd name="T70" fmla="*/ 5 w 1109"/>
                <a:gd name="T71" fmla="*/ 175 h 199"/>
                <a:gd name="T72" fmla="*/ 3 w 1109"/>
                <a:gd name="T73" fmla="*/ 174 h 199"/>
                <a:gd name="T74" fmla="*/ 0 w 1109"/>
                <a:gd name="T75" fmla="*/ 17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09" h="199">
                  <a:moveTo>
                    <a:pt x="1109" y="21"/>
                  </a:moveTo>
                  <a:lnTo>
                    <a:pt x="1109" y="20"/>
                  </a:lnTo>
                  <a:lnTo>
                    <a:pt x="1109" y="16"/>
                  </a:lnTo>
                  <a:lnTo>
                    <a:pt x="1108" y="13"/>
                  </a:lnTo>
                  <a:lnTo>
                    <a:pt x="1108" y="11"/>
                  </a:lnTo>
                  <a:lnTo>
                    <a:pt x="1108" y="8"/>
                  </a:lnTo>
                  <a:lnTo>
                    <a:pt x="1106" y="5"/>
                  </a:lnTo>
                  <a:lnTo>
                    <a:pt x="1106" y="3"/>
                  </a:lnTo>
                  <a:lnTo>
                    <a:pt x="1106" y="0"/>
                  </a:lnTo>
                  <a:lnTo>
                    <a:pt x="1101" y="0"/>
                  </a:lnTo>
                  <a:lnTo>
                    <a:pt x="1101" y="3"/>
                  </a:lnTo>
                  <a:lnTo>
                    <a:pt x="1103" y="6"/>
                  </a:lnTo>
                  <a:lnTo>
                    <a:pt x="1103" y="8"/>
                  </a:lnTo>
                  <a:lnTo>
                    <a:pt x="1103" y="11"/>
                  </a:lnTo>
                  <a:lnTo>
                    <a:pt x="1103" y="15"/>
                  </a:lnTo>
                  <a:lnTo>
                    <a:pt x="1104" y="18"/>
                  </a:lnTo>
                  <a:lnTo>
                    <a:pt x="1104" y="21"/>
                  </a:lnTo>
                  <a:lnTo>
                    <a:pt x="1104" y="25"/>
                  </a:lnTo>
                  <a:lnTo>
                    <a:pt x="1109" y="21"/>
                  </a:lnTo>
                  <a:close/>
                  <a:moveTo>
                    <a:pt x="0" y="175"/>
                  </a:moveTo>
                  <a:lnTo>
                    <a:pt x="0" y="179"/>
                  </a:lnTo>
                  <a:lnTo>
                    <a:pt x="0" y="180"/>
                  </a:lnTo>
                  <a:lnTo>
                    <a:pt x="0" y="184"/>
                  </a:lnTo>
                  <a:lnTo>
                    <a:pt x="1" y="187"/>
                  </a:lnTo>
                  <a:lnTo>
                    <a:pt x="1" y="190"/>
                  </a:lnTo>
                  <a:lnTo>
                    <a:pt x="1" y="192"/>
                  </a:lnTo>
                  <a:lnTo>
                    <a:pt x="1" y="195"/>
                  </a:lnTo>
                  <a:lnTo>
                    <a:pt x="3" y="199"/>
                  </a:lnTo>
                  <a:lnTo>
                    <a:pt x="8" y="199"/>
                  </a:lnTo>
                  <a:lnTo>
                    <a:pt x="6" y="195"/>
                  </a:lnTo>
                  <a:lnTo>
                    <a:pt x="6" y="192"/>
                  </a:lnTo>
                  <a:lnTo>
                    <a:pt x="6" y="189"/>
                  </a:lnTo>
                  <a:lnTo>
                    <a:pt x="5" y="185"/>
                  </a:lnTo>
                  <a:lnTo>
                    <a:pt x="5" y="182"/>
                  </a:lnTo>
                  <a:lnTo>
                    <a:pt x="5" y="179"/>
                  </a:lnTo>
                  <a:lnTo>
                    <a:pt x="5" y="175"/>
                  </a:lnTo>
                  <a:lnTo>
                    <a:pt x="3" y="174"/>
                  </a:lnTo>
                  <a:lnTo>
                    <a:pt x="0" y="175"/>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08" name="Freeform 48">
              <a:extLst>
                <a:ext uri="{FF2B5EF4-FFF2-40B4-BE49-F238E27FC236}">
                  <a16:creationId xmlns:a16="http://schemas.microsoft.com/office/drawing/2014/main" id="{5BF65ECE-120D-A5EA-806B-ED201DB67CDD}"/>
                </a:ext>
              </a:extLst>
            </p:cNvPr>
            <p:cNvSpPr>
              <a:spLocks noEditPoints="1"/>
            </p:cNvSpPr>
            <p:nvPr/>
          </p:nvSpPr>
          <p:spPr bwMode="auto">
            <a:xfrm>
              <a:off x="1283" y="1514"/>
              <a:ext cx="1107" cy="199"/>
            </a:xfrm>
            <a:custGeom>
              <a:avLst/>
              <a:gdLst>
                <a:gd name="T0" fmla="*/ 1107 w 1107"/>
                <a:gd name="T1" fmla="*/ 23 h 199"/>
                <a:gd name="T2" fmla="*/ 1105 w 1107"/>
                <a:gd name="T3" fmla="*/ 20 h 199"/>
                <a:gd name="T4" fmla="*/ 1105 w 1107"/>
                <a:gd name="T5" fmla="*/ 16 h 199"/>
                <a:gd name="T6" fmla="*/ 1105 w 1107"/>
                <a:gd name="T7" fmla="*/ 15 h 199"/>
                <a:gd name="T8" fmla="*/ 1105 w 1107"/>
                <a:gd name="T9" fmla="*/ 11 h 199"/>
                <a:gd name="T10" fmla="*/ 1103 w 1107"/>
                <a:gd name="T11" fmla="*/ 8 h 199"/>
                <a:gd name="T12" fmla="*/ 1103 w 1107"/>
                <a:gd name="T13" fmla="*/ 5 h 199"/>
                <a:gd name="T14" fmla="*/ 1103 w 1107"/>
                <a:gd name="T15" fmla="*/ 3 h 199"/>
                <a:gd name="T16" fmla="*/ 1102 w 1107"/>
                <a:gd name="T17" fmla="*/ 0 h 199"/>
                <a:gd name="T18" fmla="*/ 1097 w 1107"/>
                <a:gd name="T19" fmla="*/ 0 h 199"/>
                <a:gd name="T20" fmla="*/ 1098 w 1107"/>
                <a:gd name="T21" fmla="*/ 3 h 199"/>
                <a:gd name="T22" fmla="*/ 1098 w 1107"/>
                <a:gd name="T23" fmla="*/ 6 h 199"/>
                <a:gd name="T24" fmla="*/ 1098 w 1107"/>
                <a:gd name="T25" fmla="*/ 10 h 199"/>
                <a:gd name="T26" fmla="*/ 1100 w 1107"/>
                <a:gd name="T27" fmla="*/ 11 h 199"/>
                <a:gd name="T28" fmla="*/ 1100 w 1107"/>
                <a:gd name="T29" fmla="*/ 15 h 199"/>
                <a:gd name="T30" fmla="*/ 1100 w 1107"/>
                <a:gd name="T31" fmla="*/ 18 h 199"/>
                <a:gd name="T32" fmla="*/ 1102 w 1107"/>
                <a:gd name="T33" fmla="*/ 21 h 199"/>
                <a:gd name="T34" fmla="*/ 1102 w 1107"/>
                <a:gd name="T35" fmla="*/ 25 h 199"/>
                <a:gd name="T36" fmla="*/ 1107 w 1107"/>
                <a:gd name="T37" fmla="*/ 23 h 199"/>
                <a:gd name="T38" fmla="*/ 0 w 1107"/>
                <a:gd name="T39" fmla="*/ 174 h 199"/>
                <a:gd name="T40" fmla="*/ 0 w 1107"/>
                <a:gd name="T41" fmla="*/ 177 h 199"/>
                <a:gd name="T42" fmla="*/ 0 w 1107"/>
                <a:gd name="T43" fmla="*/ 180 h 199"/>
                <a:gd name="T44" fmla="*/ 2 w 1107"/>
                <a:gd name="T45" fmla="*/ 184 h 199"/>
                <a:gd name="T46" fmla="*/ 2 w 1107"/>
                <a:gd name="T47" fmla="*/ 187 h 199"/>
                <a:gd name="T48" fmla="*/ 2 w 1107"/>
                <a:gd name="T49" fmla="*/ 189 h 199"/>
                <a:gd name="T50" fmla="*/ 4 w 1107"/>
                <a:gd name="T51" fmla="*/ 192 h 199"/>
                <a:gd name="T52" fmla="*/ 4 w 1107"/>
                <a:gd name="T53" fmla="*/ 195 h 199"/>
                <a:gd name="T54" fmla="*/ 4 w 1107"/>
                <a:gd name="T55" fmla="*/ 199 h 199"/>
                <a:gd name="T56" fmla="*/ 9 w 1107"/>
                <a:gd name="T57" fmla="*/ 199 h 199"/>
                <a:gd name="T58" fmla="*/ 9 w 1107"/>
                <a:gd name="T59" fmla="*/ 195 h 199"/>
                <a:gd name="T60" fmla="*/ 9 w 1107"/>
                <a:gd name="T61" fmla="*/ 192 h 199"/>
                <a:gd name="T62" fmla="*/ 7 w 1107"/>
                <a:gd name="T63" fmla="*/ 189 h 199"/>
                <a:gd name="T64" fmla="*/ 7 w 1107"/>
                <a:gd name="T65" fmla="*/ 185 h 199"/>
                <a:gd name="T66" fmla="*/ 7 w 1107"/>
                <a:gd name="T67" fmla="*/ 182 h 199"/>
                <a:gd name="T68" fmla="*/ 5 w 1107"/>
                <a:gd name="T69" fmla="*/ 179 h 199"/>
                <a:gd name="T70" fmla="*/ 5 w 1107"/>
                <a:gd name="T71" fmla="*/ 175 h 199"/>
                <a:gd name="T72" fmla="*/ 5 w 1107"/>
                <a:gd name="T73" fmla="*/ 172 h 199"/>
                <a:gd name="T74" fmla="*/ 0 w 1107"/>
                <a:gd name="T75" fmla="*/ 17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07" h="199">
                  <a:moveTo>
                    <a:pt x="1107" y="23"/>
                  </a:moveTo>
                  <a:lnTo>
                    <a:pt x="1105" y="20"/>
                  </a:lnTo>
                  <a:lnTo>
                    <a:pt x="1105" y="16"/>
                  </a:lnTo>
                  <a:lnTo>
                    <a:pt x="1105" y="15"/>
                  </a:lnTo>
                  <a:lnTo>
                    <a:pt x="1105" y="11"/>
                  </a:lnTo>
                  <a:lnTo>
                    <a:pt x="1103" y="8"/>
                  </a:lnTo>
                  <a:lnTo>
                    <a:pt x="1103" y="5"/>
                  </a:lnTo>
                  <a:lnTo>
                    <a:pt x="1103" y="3"/>
                  </a:lnTo>
                  <a:lnTo>
                    <a:pt x="1102" y="0"/>
                  </a:lnTo>
                  <a:lnTo>
                    <a:pt x="1097" y="0"/>
                  </a:lnTo>
                  <a:lnTo>
                    <a:pt x="1098" y="3"/>
                  </a:lnTo>
                  <a:lnTo>
                    <a:pt x="1098" y="6"/>
                  </a:lnTo>
                  <a:lnTo>
                    <a:pt x="1098" y="10"/>
                  </a:lnTo>
                  <a:lnTo>
                    <a:pt x="1100" y="11"/>
                  </a:lnTo>
                  <a:lnTo>
                    <a:pt x="1100" y="15"/>
                  </a:lnTo>
                  <a:lnTo>
                    <a:pt x="1100" y="18"/>
                  </a:lnTo>
                  <a:lnTo>
                    <a:pt x="1102" y="21"/>
                  </a:lnTo>
                  <a:lnTo>
                    <a:pt x="1102" y="25"/>
                  </a:lnTo>
                  <a:lnTo>
                    <a:pt x="1107" y="23"/>
                  </a:lnTo>
                  <a:close/>
                  <a:moveTo>
                    <a:pt x="0" y="174"/>
                  </a:moveTo>
                  <a:lnTo>
                    <a:pt x="0" y="177"/>
                  </a:lnTo>
                  <a:lnTo>
                    <a:pt x="0" y="180"/>
                  </a:lnTo>
                  <a:lnTo>
                    <a:pt x="2" y="184"/>
                  </a:lnTo>
                  <a:lnTo>
                    <a:pt x="2" y="187"/>
                  </a:lnTo>
                  <a:lnTo>
                    <a:pt x="2" y="189"/>
                  </a:lnTo>
                  <a:lnTo>
                    <a:pt x="4" y="192"/>
                  </a:lnTo>
                  <a:lnTo>
                    <a:pt x="4" y="195"/>
                  </a:lnTo>
                  <a:lnTo>
                    <a:pt x="4" y="199"/>
                  </a:lnTo>
                  <a:lnTo>
                    <a:pt x="9" y="199"/>
                  </a:lnTo>
                  <a:lnTo>
                    <a:pt x="9" y="195"/>
                  </a:lnTo>
                  <a:lnTo>
                    <a:pt x="9" y="192"/>
                  </a:lnTo>
                  <a:lnTo>
                    <a:pt x="7" y="189"/>
                  </a:lnTo>
                  <a:lnTo>
                    <a:pt x="7" y="185"/>
                  </a:lnTo>
                  <a:lnTo>
                    <a:pt x="7" y="182"/>
                  </a:lnTo>
                  <a:lnTo>
                    <a:pt x="5" y="179"/>
                  </a:lnTo>
                  <a:lnTo>
                    <a:pt x="5" y="175"/>
                  </a:lnTo>
                  <a:lnTo>
                    <a:pt x="5" y="172"/>
                  </a:lnTo>
                  <a:lnTo>
                    <a:pt x="0" y="174"/>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09" name="Freeform 49">
              <a:extLst>
                <a:ext uri="{FF2B5EF4-FFF2-40B4-BE49-F238E27FC236}">
                  <a16:creationId xmlns:a16="http://schemas.microsoft.com/office/drawing/2014/main" id="{FFA5D64D-8A40-77A3-4FFE-5D6382C58295}"/>
                </a:ext>
              </a:extLst>
            </p:cNvPr>
            <p:cNvSpPr>
              <a:spLocks noEditPoints="1"/>
            </p:cNvSpPr>
            <p:nvPr/>
          </p:nvSpPr>
          <p:spPr bwMode="auto">
            <a:xfrm>
              <a:off x="1285" y="1514"/>
              <a:ext cx="1101" cy="199"/>
            </a:xfrm>
            <a:custGeom>
              <a:avLst/>
              <a:gdLst>
                <a:gd name="T0" fmla="*/ 1101 w 1101"/>
                <a:gd name="T1" fmla="*/ 25 h 199"/>
                <a:gd name="T2" fmla="*/ 1101 w 1101"/>
                <a:gd name="T3" fmla="*/ 21 h 199"/>
                <a:gd name="T4" fmla="*/ 1101 w 1101"/>
                <a:gd name="T5" fmla="*/ 18 h 199"/>
                <a:gd name="T6" fmla="*/ 1100 w 1101"/>
                <a:gd name="T7" fmla="*/ 15 h 199"/>
                <a:gd name="T8" fmla="*/ 1100 w 1101"/>
                <a:gd name="T9" fmla="*/ 11 h 199"/>
                <a:gd name="T10" fmla="*/ 1100 w 1101"/>
                <a:gd name="T11" fmla="*/ 8 h 199"/>
                <a:gd name="T12" fmla="*/ 1100 w 1101"/>
                <a:gd name="T13" fmla="*/ 6 h 199"/>
                <a:gd name="T14" fmla="*/ 1098 w 1101"/>
                <a:gd name="T15" fmla="*/ 3 h 199"/>
                <a:gd name="T16" fmla="*/ 1098 w 1101"/>
                <a:gd name="T17" fmla="*/ 0 h 199"/>
                <a:gd name="T18" fmla="*/ 1093 w 1101"/>
                <a:gd name="T19" fmla="*/ 0 h 199"/>
                <a:gd name="T20" fmla="*/ 1093 w 1101"/>
                <a:gd name="T21" fmla="*/ 3 h 199"/>
                <a:gd name="T22" fmla="*/ 1095 w 1101"/>
                <a:gd name="T23" fmla="*/ 6 h 199"/>
                <a:gd name="T24" fmla="*/ 1095 w 1101"/>
                <a:gd name="T25" fmla="*/ 10 h 199"/>
                <a:gd name="T26" fmla="*/ 1095 w 1101"/>
                <a:gd name="T27" fmla="*/ 13 h 199"/>
                <a:gd name="T28" fmla="*/ 1096 w 1101"/>
                <a:gd name="T29" fmla="*/ 16 h 199"/>
                <a:gd name="T30" fmla="*/ 1096 w 1101"/>
                <a:gd name="T31" fmla="*/ 20 h 199"/>
                <a:gd name="T32" fmla="*/ 1096 w 1101"/>
                <a:gd name="T33" fmla="*/ 23 h 199"/>
                <a:gd name="T34" fmla="*/ 1096 w 1101"/>
                <a:gd name="T35" fmla="*/ 26 h 199"/>
                <a:gd name="T36" fmla="*/ 1101 w 1101"/>
                <a:gd name="T37" fmla="*/ 25 h 199"/>
                <a:gd name="T38" fmla="*/ 0 w 1101"/>
                <a:gd name="T39" fmla="*/ 174 h 199"/>
                <a:gd name="T40" fmla="*/ 2 w 1101"/>
                <a:gd name="T41" fmla="*/ 175 h 199"/>
                <a:gd name="T42" fmla="*/ 2 w 1101"/>
                <a:gd name="T43" fmla="*/ 179 h 199"/>
                <a:gd name="T44" fmla="*/ 2 w 1101"/>
                <a:gd name="T45" fmla="*/ 182 h 199"/>
                <a:gd name="T46" fmla="*/ 2 w 1101"/>
                <a:gd name="T47" fmla="*/ 185 h 199"/>
                <a:gd name="T48" fmla="*/ 3 w 1101"/>
                <a:gd name="T49" fmla="*/ 189 h 199"/>
                <a:gd name="T50" fmla="*/ 3 w 1101"/>
                <a:gd name="T51" fmla="*/ 192 h 199"/>
                <a:gd name="T52" fmla="*/ 3 w 1101"/>
                <a:gd name="T53" fmla="*/ 195 h 199"/>
                <a:gd name="T54" fmla="*/ 5 w 1101"/>
                <a:gd name="T55" fmla="*/ 199 h 199"/>
                <a:gd name="T56" fmla="*/ 10 w 1101"/>
                <a:gd name="T57" fmla="*/ 199 h 199"/>
                <a:gd name="T58" fmla="*/ 8 w 1101"/>
                <a:gd name="T59" fmla="*/ 195 h 199"/>
                <a:gd name="T60" fmla="*/ 8 w 1101"/>
                <a:gd name="T61" fmla="*/ 192 h 199"/>
                <a:gd name="T62" fmla="*/ 8 w 1101"/>
                <a:gd name="T63" fmla="*/ 189 h 199"/>
                <a:gd name="T64" fmla="*/ 7 w 1101"/>
                <a:gd name="T65" fmla="*/ 185 h 199"/>
                <a:gd name="T66" fmla="*/ 7 w 1101"/>
                <a:gd name="T67" fmla="*/ 182 h 199"/>
                <a:gd name="T68" fmla="*/ 7 w 1101"/>
                <a:gd name="T69" fmla="*/ 177 h 199"/>
                <a:gd name="T70" fmla="*/ 5 w 1101"/>
                <a:gd name="T71" fmla="*/ 174 h 199"/>
                <a:gd name="T72" fmla="*/ 5 w 1101"/>
                <a:gd name="T73" fmla="*/ 170 h 199"/>
                <a:gd name="T74" fmla="*/ 0 w 1101"/>
                <a:gd name="T75" fmla="*/ 17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01" h="199">
                  <a:moveTo>
                    <a:pt x="1101" y="25"/>
                  </a:moveTo>
                  <a:lnTo>
                    <a:pt x="1101" y="21"/>
                  </a:lnTo>
                  <a:lnTo>
                    <a:pt x="1101" y="18"/>
                  </a:lnTo>
                  <a:lnTo>
                    <a:pt x="1100" y="15"/>
                  </a:lnTo>
                  <a:lnTo>
                    <a:pt x="1100" y="11"/>
                  </a:lnTo>
                  <a:lnTo>
                    <a:pt x="1100" y="8"/>
                  </a:lnTo>
                  <a:lnTo>
                    <a:pt x="1100" y="6"/>
                  </a:lnTo>
                  <a:lnTo>
                    <a:pt x="1098" y="3"/>
                  </a:lnTo>
                  <a:lnTo>
                    <a:pt x="1098" y="0"/>
                  </a:lnTo>
                  <a:lnTo>
                    <a:pt x="1093" y="0"/>
                  </a:lnTo>
                  <a:lnTo>
                    <a:pt x="1093" y="3"/>
                  </a:lnTo>
                  <a:lnTo>
                    <a:pt x="1095" y="6"/>
                  </a:lnTo>
                  <a:lnTo>
                    <a:pt x="1095" y="10"/>
                  </a:lnTo>
                  <a:lnTo>
                    <a:pt x="1095" y="13"/>
                  </a:lnTo>
                  <a:lnTo>
                    <a:pt x="1096" y="16"/>
                  </a:lnTo>
                  <a:lnTo>
                    <a:pt x="1096" y="20"/>
                  </a:lnTo>
                  <a:lnTo>
                    <a:pt x="1096" y="23"/>
                  </a:lnTo>
                  <a:lnTo>
                    <a:pt x="1096" y="26"/>
                  </a:lnTo>
                  <a:lnTo>
                    <a:pt x="1101" y="25"/>
                  </a:lnTo>
                  <a:close/>
                  <a:moveTo>
                    <a:pt x="0" y="174"/>
                  </a:moveTo>
                  <a:lnTo>
                    <a:pt x="2" y="175"/>
                  </a:lnTo>
                  <a:lnTo>
                    <a:pt x="2" y="179"/>
                  </a:lnTo>
                  <a:lnTo>
                    <a:pt x="2" y="182"/>
                  </a:lnTo>
                  <a:lnTo>
                    <a:pt x="2" y="185"/>
                  </a:lnTo>
                  <a:lnTo>
                    <a:pt x="3" y="189"/>
                  </a:lnTo>
                  <a:lnTo>
                    <a:pt x="3" y="192"/>
                  </a:lnTo>
                  <a:lnTo>
                    <a:pt x="3" y="195"/>
                  </a:lnTo>
                  <a:lnTo>
                    <a:pt x="5" y="199"/>
                  </a:lnTo>
                  <a:lnTo>
                    <a:pt x="10" y="199"/>
                  </a:lnTo>
                  <a:lnTo>
                    <a:pt x="8" y="195"/>
                  </a:lnTo>
                  <a:lnTo>
                    <a:pt x="8" y="192"/>
                  </a:lnTo>
                  <a:lnTo>
                    <a:pt x="8" y="189"/>
                  </a:lnTo>
                  <a:lnTo>
                    <a:pt x="7" y="185"/>
                  </a:lnTo>
                  <a:lnTo>
                    <a:pt x="7" y="182"/>
                  </a:lnTo>
                  <a:lnTo>
                    <a:pt x="7" y="177"/>
                  </a:lnTo>
                  <a:lnTo>
                    <a:pt x="5" y="174"/>
                  </a:lnTo>
                  <a:lnTo>
                    <a:pt x="5" y="170"/>
                  </a:lnTo>
                  <a:lnTo>
                    <a:pt x="0" y="174"/>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10" name="Freeform 50">
              <a:extLst>
                <a:ext uri="{FF2B5EF4-FFF2-40B4-BE49-F238E27FC236}">
                  <a16:creationId xmlns:a16="http://schemas.microsoft.com/office/drawing/2014/main" id="{EFF940CE-C710-DA37-B054-71A95A58790F}"/>
                </a:ext>
              </a:extLst>
            </p:cNvPr>
            <p:cNvSpPr>
              <a:spLocks noEditPoints="1"/>
            </p:cNvSpPr>
            <p:nvPr/>
          </p:nvSpPr>
          <p:spPr bwMode="auto">
            <a:xfrm>
              <a:off x="1288" y="1514"/>
              <a:ext cx="1097" cy="199"/>
            </a:xfrm>
            <a:custGeom>
              <a:avLst/>
              <a:gdLst>
                <a:gd name="T0" fmla="*/ 1097 w 1097"/>
                <a:gd name="T1" fmla="*/ 25 h 199"/>
                <a:gd name="T2" fmla="*/ 1097 w 1097"/>
                <a:gd name="T3" fmla="*/ 21 h 199"/>
                <a:gd name="T4" fmla="*/ 1095 w 1097"/>
                <a:gd name="T5" fmla="*/ 18 h 199"/>
                <a:gd name="T6" fmla="*/ 1095 w 1097"/>
                <a:gd name="T7" fmla="*/ 15 h 199"/>
                <a:gd name="T8" fmla="*/ 1095 w 1097"/>
                <a:gd name="T9" fmla="*/ 11 h 199"/>
                <a:gd name="T10" fmla="*/ 1093 w 1097"/>
                <a:gd name="T11" fmla="*/ 10 h 199"/>
                <a:gd name="T12" fmla="*/ 1093 w 1097"/>
                <a:gd name="T13" fmla="*/ 6 h 199"/>
                <a:gd name="T14" fmla="*/ 1093 w 1097"/>
                <a:gd name="T15" fmla="*/ 3 h 199"/>
                <a:gd name="T16" fmla="*/ 1092 w 1097"/>
                <a:gd name="T17" fmla="*/ 0 h 199"/>
                <a:gd name="T18" fmla="*/ 1088 w 1097"/>
                <a:gd name="T19" fmla="*/ 0 h 199"/>
                <a:gd name="T20" fmla="*/ 1088 w 1097"/>
                <a:gd name="T21" fmla="*/ 3 h 199"/>
                <a:gd name="T22" fmla="*/ 1088 w 1097"/>
                <a:gd name="T23" fmla="*/ 6 h 199"/>
                <a:gd name="T24" fmla="*/ 1090 w 1097"/>
                <a:gd name="T25" fmla="*/ 10 h 199"/>
                <a:gd name="T26" fmla="*/ 1090 w 1097"/>
                <a:gd name="T27" fmla="*/ 13 h 199"/>
                <a:gd name="T28" fmla="*/ 1090 w 1097"/>
                <a:gd name="T29" fmla="*/ 16 h 199"/>
                <a:gd name="T30" fmla="*/ 1092 w 1097"/>
                <a:gd name="T31" fmla="*/ 20 h 199"/>
                <a:gd name="T32" fmla="*/ 1092 w 1097"/>
                <a:gd name="T33" fmla="*/ 23 h 199"/>
                <a:gd name="T34" fmla="*/ 1092 w 1097"/>
                <a:gd name="T35" fmla="*/ 26 h 199"/>
                <a:gd name="T36" fmla="*/ 1097 w 1097"/>
                <a:gd name="T37" fmla="*/ 25 h 199"/>
                <a:gd name="T38" fmla="*/ 0 w 1097"/>
                <a:gd name="T39" fmla="*/ 172 h 199"/>
                <a:gd name="T40" fmla="*/ 0 w 1097"/>
                <a:gd name="T41" fmla="*/ 175 h 199"/>
                <a:gd name="T42" fmla="*/ 0 w 1097"/>
                <a:gd name="T43" fmla="*/ 179 h 199"/>
                <a:gd name="T44" fmla="*/ 2 w 1097"/>
                <a:gd name="T45" fmla="*/ 182 h 199"/>
                <a:gd name="T46" fmla="*/ 2 w 1097"/>
                <a:gd name="T47" fmla="*/ 185 h 199"/>
                <a:gd name="T48" fmla="*/ 2 w 1097"/>
                <a:gd name="T49" fmla="*/ 189 h 199"/>
                <a:gd name="T50" fmla="*/ 4 w 1097"/>
                <a:gd name="T51" fmla="*/ 192 h 199"/>
                <a:gd name="T52" fmla="*/ 4 w 1097"/>
                <a:gd name="T53" fmla="*/ 195 h 199"/>
                <a:gd name="T54" fmla="*/ 4 w 1097"/>
                <a:gd name="T55" fmla="*/ 199 h 199"/>
                <a:gd name="T56" fmla="*/ 9 w 1097"/>
                <a:gd name="T57" fmla="*/ 199 h 199"/>
                <a:gd name="T58" fmla="*/ 9 w 1097"/>
                <a:gd name="T59" fmla="*/ 195 h 199"/>
                <a:gd name="T60" fmla="*/ 7 w 1097"/>
                <a:gd name="T61" fmla="*/ 192 h 199"/>
                <a:gd name="T62" fmla="*/ 7 w 1097"/>
                <a:gd name="T63" fmla="*/ 187 h 199"/>
                <a:gd name="T64" fmla="*/ 7 w 1097"/>
                <a:gd name="T65" fmla="*/ 184 h 199"/>
                <a:gd name="T66" fmla="*/ 5 w 1097"/>
                <a:gd name="T67" fmla="*/ 180 h 199"/>
                <a:gd name="T68" fmla="*/ 5 w 1097"/>
                <a:gd name="T69" fmla="*/ 177 h 199"/>
                <a:gd name="T70" fmla="*/ 5 w 1097"/>
                <a:gd name="T71" fmla="*/ 174 h 199"/>
                <a:gd name="T72" fmla="*/ 4 w 1097"/>
                <a:gd name="T73" fmla="*/ 170 h 199"/>
                <a:gd name="T74" fmla="*/ 0 w 1097"/>
                <a:gd name="T75" fmla="*/ 17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97" h="199">
                  <a:moveTo>
                    <a:pt x="1097" y="25"/>
                  </a:moveTo>
                  <a:lnTo>
                    <a:pt x="1097" y="21"/>
                  </a:lnTo>
                  <a:lnTo>
                    <a:pt x="1095" y="18"/>
                  </a:lnTo>
                  <a:lnTo>
                    <a:pt x="1095" y="15"/>
                  </a:lnTo>
                  <a:lnTo>
                    <a:pt x="1095" y="11"/>
                  </a:lnTo>
                  <a:lnTo>
                    <a:pt x="1093" y="10"/>
                  </a:lnTo>
                  <a:lnTo>
                    <a:pt x="1093" y="6"/>
                  </a:lnTo>
                  <a:lnTo>
                    <a:pt x="1093" y="3"/>
                  </a:lnTo>
                  <a:lnTo>
                    <a:pt x="1092" y="0"/>
                  </a:lnTo>
                  <a:lnTo>
                    <a:pt x="1088" y="0"/>
                  </a:lnTo>
                  <a:lnTo>
                    <a:pt x="1088" y="3"/>
                  </a:lnTo>
                  <a:lnTo>
                    <a:pt x="1088" y="6"/>
                  </a:lnTo>
                  <a:lnTo>
                    <a:pt x="1090" y="10"/>
                  </a:lnTo>
                  <a:lnTo>
                    <a:pt x="1090" y="13"/>
                  </a:lnTo>
                  <a:lnTo>
                    <a:pt x="1090" y="16"/>
                  </a:lnTo>
                  <a:lnTo>
                    <a:pt x="1092" y="20"/>
                  </a:lnTo>
                  <a:lnTo>
                    <a:pt x="1092" y="23"/>
                  </a:lnTo>
                  <a:lnTo>
                    <a:pt x="1092" y="26"/>
                  </a:lnTo>
                  <a:lnTo>
                    <a:pt x="1097" y="25"/>
                  </a:lnTo>
                  <a:close/>
                  <a:moveTo>
                    <a:pt x="0" y="172"/>
                  </a:moveTo>
                  <a:lnTo>
                    <a:pt x="0" y="175"/>
                  </a:lnTo>
                  <a:lnTo>
                    <a:pt x="0" y="179"/>
                  </a:lnTo>
                  <a:lnTo>
                    <a:pt x="2" y="182"/>
                  </a:lnTo>
                  <a:lnTo>
                    <a:pt x="2" y="185"/>
                  </a:lnTo>
                  <a:lnTo>
                    <a:pt x="2" y="189"/>
                  </a:lnTo>
                  <a:lnTo>
                    <a:pt x="4" y="192"/>
                  </a:lnTo>
                  <a:lnTo>
                    <a:pt x="4" y="195"/>
                  </a:lnTo>
                  <a:lnTo>
                    <a:pt x="4" y="199"/>
                  </a:lnTo>
                  <a:lnTo>
                    <a:pt x="9" y="199"/>
                  </a:lnTo>
                  <a:lnTo>
                    <a:pt x="9" y="195"/>
                  </a:lnTo>
                  <a:lnTo>
                    <a:pt x="7" y="192"/>
                  </a:lnTo>
                  <a:lnTo>
                    <a:pt x="7" y="187"/>
                  </a:lnTo>
                  <a:lnTo>
                    <a:pt x="7" y="184"/>
                  </a:lnTo>
                  <a:lnTo>
                    <a:pt x="5" y="180"/>
                  </a:lnTo>
                  <a:lnTo>
                    <a:pt x="5" y="177"/>
                  </a:lnTo>
                  <a:lnTo>
                    <a:pt x="5" y="174"/>
                  </a:lnTo>
                  <a:lnTo>
                    <a:pt x="4" y="170"/>
                  </a:lnTo>
                  <a:lnTo>
                    <a:pt x="0" y="172"/>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11" name="Freeform 51">
              <a:extLst>
                <a:ext uri="{FF2B5EF4-FFF2-40B4-BE49-F238E27FC236}">
                  <a16:creationId xmlns:a16="http://schemas.microsoft.com/office/drawing/2014/main" id="{D5F11961-0B8C-F804-E4B5-6D6AA66023DC}"/>
                </a:ext>
              </a:extLst>
            </p:cNvPr>
            <p:cNvSpPr>
              <a:spLocks noEditPoints="1"/>
            </p:cNvSpPr>
            <p:nvPr/>
          </p:nvSpPr>
          <p:spPr bwMode="auto">
            <a:xfrm>
              <a:off x="1290" y="1514"/>
              <a:ext cx="1091" cy="199"/>
            </a:xfrm>
            <a:custGeom>
              <a:avLst/>
              <a:gdLst>
                <a:gd name="T0" fmla="*/ 1091 w 1091"/>
                <a:gd name="T1" fmla="*/ 26 h 199"/>
                <a:gd name="T2" fmla="*/ 1091 w 1091"/>
                <a:gd name="T3" fmla="*/ 23 h 199"/>
                <a:gd name="T4" fmla="*/ 1091 w 1091"/>
                <a:gd name="T5" fmla="*/ 20 h 199"/>
                <a:gd name="T6" fmla="*/ 1091 w 1091"/>
                <a:gd name="T7" fmla="*/ 16 h 199"/>
                <a:gd name="T8" fmla="*/ 1090 w 1091"/>
                <a:gd name="T9" fmla="*/ 13 h 199"/>
                <a:gd name="T10" fmla="*/ 1090 w 1091"/>
                <a:gd name="T11" fmla="*/ 10 h 199"/>
                <a:gd name="T12" fmla="*/ 1090 w 1091"/>
                <a:gd name="T13" fmla="*/ 6 h 199"/>
                <a:gd name="T14" fmla="*/ 1088 w 1091"/>
                <a:gd name="T15" fmla="*/ 3 h 199"/>
                <a:gd name="T16" fmla="*/ 1088 w 1091"/>
                <a:gd name="T17" fmla="*/ 0 h 199"/>
                <a:gd name="T18" fmla="*/ 1083 w 1091"/>
                <a:gd name="T19" fmla="*/ 0 h 199"/>
                <a:gd name="T20" fmla="*/ 1083 w 1091"/>
                <a:gd name="T21" fmla="*/ 3 h 199"/>
                <a:gd name="T22" fmla="*/ 1085 w 1091"/>
                <a:gd name="T23" fmla="*/ 6 h 199"/>
                <a:gd name="T24" fmla="*/ 1085 w 1091"/>
                <a:gd name="T25" fmla="*/ 10 h 199"/>
                <a:gd name="T26" fmla="*/ 1086 w 1091"/>
                <a:gd name="T27" fmla="*/ 13 h 199"/>
                <a:gd name="T28" fmla="*/ 1086 w 1091"/>
                <a:gd name="T29" fmla="*/ 18 h 199"/>
                <a:gd name="T30" fmla="*/ 1086 w 1091"/>
                <a:gd name="T31" fmla="*/ 21 h 199"/>
                <a:gd name="T32" fmla="*/ 1086 w 1091"/>
                <a:gd name="T33" fmla="*/ 25 h 199"/>
                <a:gd name="T34" fmla="*/ 1088 w 1091"/>
                <a:gd name="T35" fmla="*/ 28 h 199"/>
                <a:gd name="T36" fmla="*/ 1091 w 1091"/>
                <a:gd name="T37" fmla="*/ 26 h 199"/>
                <a:gd name="T38" fmla="*/ 0 w 1091"/>
                <a:gd name="T39" fmla="*/ 170 h 199"/>
                <a:gd name="T40" fmla="*/ 0 w 1091"/>
                <a:gd name="T41" fmla="*/ 174 h 199"/>
                <a:gd name="T42" fmla="*/ 2 w 1091"/>
                <a:gd name="T43" fmla="*/ 177 h 199"/>
                <a:gd name="T44" fmla="*/ 2 w 1091"/>
                <a:gd name="T45" fmla="*/ 182 h 199"/>
                <a:gd name="T46" fmla="*/ 2 w 1091"/>
                <a:gd name="T47" fmla="*/ 185 h 199"/>
                <a:gd name="T48" fmla="*/ 3 w 1091"/>
                <a:gd name="T49" fmla="*/ 189 h 199"/>
                <a:gd name="T50" fmla="*/ 3 w 1091"/>
                <a:gd name="T51" fmla="*/ 192 h 199"/>
                <a:gd name="T52" fmla="*/ 3 w 1091"/>
                <a:gd name="T53" fmla="*/ 195 h 199"/>
                <a:gd name="T54" fmla="*/ 5 w 1091"/>
                <a:gd name="T55" fmla="*/ 199 h 199"/>
                <a:gd name="T56" fmla="*/ 10 w 1091"/>
                <a:gd name="T57" fmla="*/ 199 h 199"/>
                <a:gd name="T58" fmla="*/ 8 w 1091"/>
                <a:gd name="T59" fmla="*/ 195 h 199"/>
                <a:gd name="T60" fmla="*/ 8 w 1091"/>
                <a:gd name="T61" fmla="*/ 190 h 199"/>
                <a:gd name="T62" fmla="*/ 7 w 1091"/>
                <a:gd name="T63" fmla="*/ 187 h 199"/>
                <a:gd name="T64" fmla="*/ 7 w 1091"/>
                <a:gd name="T65" fmla="*/ 184 h 199"/>
                <a:gd name="T66" fmla="*/ 7 w 1091"/>
                <a:gd name="T67" fmla="*/ 180 h 199"/>
                <a:gd name="T68" fmla="*/ 5 w 1091"/>
                <a:gd name="T69" fmla="*/ 175 h 199"/>
                <a:gd name="T70" fmla="*/ 5 w 1091"/>
                <a:gd name="T71" fmla="*/ 172 h 199"/>
                <a:gd name="T72" fmla="*/ 5 w 1091"/>
                <a:gd name="T73" fmla="*/ 169 h 199"/>
                <a:gd name="T74" fmla="*/ 0 w 1091"/>
                <a:gd name="T75" fmla="*/ 17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91" h="199">
                  <a:moveTo>
                    <a:pt x="1091" y="26"/>
                  </a:moveTo>
                  <a:lnTo>
                    <a:pt x="1091" y="23"/>
                  </a:lnTo>
                  <a:lnTo>
                    <a:pt x="1091" y="20"/>
                  </a:lnTo>
                  <a:lnTo>
                    <a:pt x="1091" y="16"/>
                  </a:lnTo>
                  <a:lnTo>
                    <a:pt x="1090" y="13"/>
                  </a:lnTo>
                  <a:lnTo>
                    <a:pt x="1090" y="10"/>
                  </a:lnTo>
                  <a:lnTo>
                    <a:pt x="1090" y="6"/>
                  </a:lnTo>
                  <a:lnTo>
                    <a:pt x="1088" y="3"/>
                  </a:lnTo>
                  <a:lnTo>
                    <a:pt x="1088" y="0"/>
                  </a:lnTo>
                  <a:lnTo>
                    <a:pt x="1083" y="0"/>
                  </a:lnTo>
                  <a:lnTo>
                    <a:pt x="1083" y="3"/>
                  </a:lnTo>
                  <a:lnTo>
                    <a:pt x="1085" y="6"/>
                  </a:lnTo>
                  <a:lnTo>
                    <a:pt x="1085" y="10"/>
                  </a:lnTo>
                  <a:lnTo>
                    <a:pt x="1086" y="13"/>
                  </a:lnTo>
                  <a:lnTo>
                    <a:pt x="1086" y="18"/>
                  </a:lnTo>
                  <a:lnTo>
                    <a:pt x="1086" y="21"/>
                  </a:lnTo>
                  <a:lnTo>
                    <a:pt x="1086" y="25"/>
                  </a:lnTo>
                  <a:lnTo>
                    <a:pt x="1088" y="28"/>
                  </a:lnTo>
                  <a:lnTo>
                    <a:pt x="1091" y="26"/>
                  </a:lnTo>
                  <a:close/>
                  <a:moveTo>
                    <a:pt x="0" y="170"/>
                  </a:moveTo>
                  <a:lnTo>
                    <a:pt x="0" y="174"/>
                  </a:lnTo>
                  <a:lnTo>
                    <a:pt x="2" y="177"/>
                  </a:lnTo>
                  <a:lnTo>
                    <a:pt x="2" y="182"/>
                  </a:lnTo>
                  <a:lnTo>
                    <a:pt x="2" y="185"/>
                  </a:lnTo>
                  <a:lnTo>
                    <a:pt x="3" y="189"/>
                  </a:lnTo>
                  <a:lnTo>
                    <a:pt x="3" y="192"/>
                  </a:lnTo>
                  <a:lnTo>
                    <a:pt x="3" y="195"/>
                  </a:lnTo>
                  <a:lnTo>
                    <a:pt x="5" y="199"/>
                  </a:lnTo>
                  <a:lnTo>
                    <a:pt x="10" y="199"/>
                  </a:lnTo>
                  <a:lnTo>
                    <a:pt x="8" y="195"/>
                  </a:lnTo>
                  <a:lnTo>
                    <a:pt x="8" y="190"/>
                  </a:lnTo>
                  <a:lnTo>
                    <a:pt x="7" y="187"/>
                  </a:lnTo>
                  <a:lnTo>
                    <a:pt x="7" y="184"/>
                  </a:lnTo>
                  <a:lnTo>
                    <a:pt x="7" y="180"/>
                  </a:lnTo>
                  <a:lnTo>
                    <a:pt x="5" y="175"/>
                  </a:lnTo>
                  <a:lnTo>
                    <a:pt x="5" y="172"/>
                  </a:lnTo>
                  <a:lnTo>
                    <a:pt x="5" y="169"/>
                  </a:lnTo>
                  <a:lnTo>
                    <a:pt x="0" y="17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12" name="Freeform 52">
              <a:extLst>
                <a:ext uri="{FF2B5EF4-FFF2-40B4-BE49-F238E27FC236}">
                  <a16:creationId xmlns:a16="http://schemas.microsoft.com/office/drawing/2014/main" id="{E52C90D8-0936-4E05-CD09-D769B622C96B}"/>
                </a:ext>
              </a:extLst>
            </p:cNvPr>
            <p:cNvSpPr>
              <a:spLocks noEditPoints="1"/>
            </p:cNvSpPr>
            <p:nvPr/>
          </p:nvSpPr>
          <p:spPr bwMode="auto">
            <a:xfrm>
              <a:off x="1292" y="1514"/>
              <a:ext cx="1088" cy="199"/>
            </a:xfrm>
            <a:custGeom>
              <a:avLst/>
              <a:gdLst>
                <a:gd name="T0" fmla="*/ 1088 w 1088"/>
                <a:gd name="T1" fmla="*/ 26 h 199"/>
                <a:gd name="T2" fmla="*/ 1088 w 1088"/>
                <a:gd name="T3" fmla="*/ 23 h 199"/>
                <a:gd name="T4" fmla="*/ 1088 w 1088"/>
                <a:gd name="T5" fmla="*/ 20 h 199"/>
                <a:gd name="T6" fmla="*/ 1086 w 1088"/>
                <a:gd name="T7" fmla="*/ 16 h 199"/>
                <a:gd name="T8" fmla="*/ 1086 w 1088"/>
                <a:gd name="T9" fmla="*/ 13 h 199"/>
                <a:gd name="T10" fmla="*/ 1086 w 1088"/>
                <a:gd name="T11" fmla="*/ 10 h 199"/>
                <a:gd name="T12" fmla="*/ 1084 w 1088"/>
                <a:gd name="T13" fmla="*/ 6 h 199"/>
                <a:gd name="T14" fmla="*/ 1084 w 1088"/>
                <a:gd name="T15" fmla="*/ 3 h 199"/>
                <a:gd name="T16" fmla="*/ 1084 w 1088"/>
                <a:gd name="T17" fmla="*/ 0 h 199"/>
                <a:gd name="T18" fmla="*/ 1079 w 1088"/>
                <a:gd name="T19" fmla="*/ 0 h 199"/>
                <a:gd name="T20" fmla="*/ 1079 w 1088"/>
                <a:gd name="T21" fmla="*/ 3 h 199"/>
                <a:gd name="T22" fmla="*/ 1079 w 1088"/>
                <a:gd name="T23" fmla="*/ 6 h 199"/>
                <a:gd name="T24" fmla="*/ 1081 w 1088"/>
                <a:gd name="T25" fmla="*/ 10 h 199"/>
                <a:gd name="T26" fmla="*/ 1081 w 1088"/>
                <a:gd name="T27" fmla="*/ 15 h 199"/>
                <a:gd name="T28" fmla="*/ 1081 w 1088"/>
                <a:gd name="T29" fmla="*/ 18 h 199"/>
                <a:gd name="T30" fmla="*/ 1083 w 1088"/>
                <a:gd name="T31" fmla="*/ 21 h 199"/>
                <a:gd name="T32" fmla="*/ 1083 w 1088"/>
                <a:gd name="T33" fmla="*/ 25 h 199"/>
                <a:gd name="T34" fmla="*/ 1083 w 1088"/>
                <a:gd name="T35" fmla="*/ 30 h 199"/>
                <a:gd name="T36" fmla="*/ 1088 w 1088"/>
                <a:gd name="T37" fmla="*/ 26 h 199"/>
                <a:gd name="T38" fmla="*/ 0 w 1088"/>
                <a:gd name="T39" fmla="*/ 170 h 199"/>
                <a:gd name="T40" fmla="*/ 1 w 1088"/>
                <a:gd name="T41" fmla="*/ 174 h 199"/>
                <a:gd name="T42" fmla="*/ 1 w 1088"/>
                <a:gd name="T43" fmla="*/ 177 h 199"/>
                <a:gd name="T44" fmla="*/ 1 w 1088"/>
                <a:gd name="T45" fmla="*/ 180 h 199"/>
                <a:gd name="T46" fmla="*/ 3 w 1088"/>
                <a:gd name="T47" fmla="*/ 184 h 199"/>
                <a:gd name="T48" fmla="*/ 3 w 1088"/>
                <a:gd name="T49" fmla="*/ 187 h 199"/>
                <a:gd name="T50" fmla="*/ 3 w 1088"/>
                <a:gd name="T51" fmla="*/ 192 h 199"/>
                <a:gd name="T52" fmla="*/ 5 w 1088"/>
                <a:gd name="T53" fmla="*/ 195 h 199"/>
                <a:gd name="T54" fmla="*/ 5 w 1088"/>
                <a:gd name="T55" fmla="*/ 199 h 199"/>
                <a:gd name="T56" fmla="*/ 9 w 1088"/>
                <a:gd name="T57" fmla="*/ 199 h 199"/>
                <a:gd name="T58" fmla="*/ 9 w 1088"/>
                <a:gd name="T59" fmla="*/ 195 h 199"/>
                <a:gd name="T60" fmla="*/ 8 w 1088"/>
                <a:gd name="T61" fmla="*/ 190 h 199"/>
                <a:gd name="T62" fmla="*/ 8 w 1088"/>
                <a:gd name="T63" fmla="*/ 187 h 199"/>
                <a:gd name="T64" fmla="*/ 8 w 1088"/>
                <a:gd name="T65" fmla="*/ 184 h 199"/>
                <a:gd name="T66" fmla="*/ 6 w 1088"/>
                <a:gd name="T67" fmla="*/ 179 h 199"/>
                <a:gd name="T68" fmla="*/ 6 w 1088"/>
                <a:gd name="T69" fmla="*/ 175 h 199"/>
                <a:gd name="T70" fmla="*/ 6 w 1088"/>
                <a:gd name="T71" fmla="*/ 172 h 199"/>
                <a:gd name="T72" fmla="*/ 5 w 1088"/>
                <a:gd name="T73" fmla="*/ 167 h 199"/>
                <a:gd name="T74" fmla="*/ 0 w 1088"/>
                <a:gd name="T75" fmla="*/ 17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88" h="199">
                  <a:moveTo>
                    <a:pt x="1088" y="26"/>
                  </a:moveTo>
                  <a:lnTo>
                    <a:pt x="1088" y="23"/>
                  </a:lnTo>
                  <a:lnTo>
                    <a:pt x="1088" y="20"/>
                  </a:lnTo>
                  <a:lnTo>
                    <a:pt x="1086" y="16"/>
                  </a:lnTo>
                  <a:lnTo>
                    <a:pt x="1086" y="13"/>
                  </a:lnTo>
                  <a:lnTo>
                    <a:pt x="1086" y="10"/>
                  </a:lnTo>
                  <a:lnTo>
                    <a:pt x="1084" y="6"/>
                  </a:lnTo>
                  <a:lnTo>
                    <a:pt x="1084" y="3"/>
                  </a:lnTo>
                  <a:lnTo>
                    <a:pt x="1084" y="0"/>
                  </a:lnTo>
                  <a:lnTo>
                    <a:pt x="1079" y="0"/>
                  </a:lnTo>
                  <a:lnTo>
                    <a:pt x="1079" y="3"/>
                  </a:lnTo>
                  <a:lnTo>
                    <a:pt x="1079" y="6"/>
                  </a:lnTo>
                  <a:lnTo>
                    <a:pt x="1081" y="10"/>
                  </a:lnTo>
                  <a:lnTo>
                    <a:pt x="1081" y="15"/>
                  </a:lnTo>
                  <a:lnTo>
                    <a:pt x="1081" y="18"/>
                  </a:lnTo>
                  <a:lnTo>
                    <a:pt x="1083" y="21"/>
                  </a:lnTo>
                  <a:lnTo>
                    <a:pt x="1083" y="25"/>
                  </a:lnTo>
                  <a:lnTo>
                    <a:pt x="1083" y="30"/>
                  </a:lnTo>
                  <a:lnTo>
                    <a:pt x="1088" y="26"/>
                  </a:lnTo>
                  <a:close/>
                  <a:moveTo>
                    <a:pt x="0" y="170"/>
                  </a:moveTo>
                  <a:lnTo>
                    <a:pt x="1" y="174"/>
                  </a:lnTo>
                  <a:lnTo>
                    <a:pt x="1" y="177"/>
                  </a:lnTo>
                  <a:lnTo>
                    <a:pt x="1" y="180"/>
                  </a:lnTo>
                  <a:lnTo>
                    <a:pt x="3" y="184"/>
                  </a:lnTo>
                  <a:lnTo>
                    <a:pt x="3" y="187"/>
                  </a:lnTo>
                  <a:lnTo>
                    <a:pt x="3" y="192"/>
                  </a:lnTo>
                  <a:lnTo>
                    <a:pt x="5" y="195"/>
                  </a:lnTo>
                  <a:lnTo>
                    <a:pt x="5" y="199"/>
                  </a:lnTo>
                  <a:lnTo>
                    <a:pt x="9" y="199"/>
                  </a:lnTo>
                  <a:lnTo>
                    <a:pt x="9" y="195"/>
                  </a:lnTo>
                  <a:lnTo>
                    <a:pt x="8" y="190"/>
                  </a:lnTo>
                  <a:lnTo>
                    <a:pt x="8" y="187"/>
                  </a:lnTo>
                  <a:lnTo>
                    <a:pt x="8" y="184"/>
                  </a:lnTo>
                  <a:lnTo>
                    <a:pt x="6" y="179"/>
                  </a:lnTo>
                  <a:lnTo>
                    <a:pt x="6" y="175"/>
                  </a:lnTo>
                  <a:lnTo>
                    <a:pt x="6" y="172"/>
                  </a:lnTo>
                  <a:lnTo>
                    <a:pt x="5" y="167"/>
                  </a:lnTo>
                  <a:lnTo>
                    <a:pt x="0" y="17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13" name="Freeform 53">
              <a:extLst>
                <a:ext uri="{FF2B5EF4-FFF2-40B4-BE49-F238E27FC236}">
                  <a16:creationId xmlns:a16="http://schemas.microsoft.com/office/drawing/2014/main" id="{03601BE9-965A-E196-9B2B-B0336A5FE9B4}"/>
                </a:ext>
              </a:extLst>
            </p:cNvPr>
            <p:cNvSpPr>
              <a:spLocks noEditPoints="1"/>
            </p:cNvSpPr>
            <p:nvPr/>
          </p:nvSpPr>
          <p:spPr bwMode="auto">
            <a:xfrm>
              <a:off x="1295" y="1514"/>
              <a:ext cx="1083" cy="199"/>
            </a:xfrm>
            <a:custGeom>
              <a:avLst/>
              <a:gdLst>
                <a:gd name="T0" fmla="*/ 1083 w 1083"/>
                <a:gd name="T1" fmla="*/ 28 h 199"/>
                <a:gd name="T2" fmla="*/ 1081 w 1083"/>
                <a:gd name="T3" fmla="*/ 25 h 199"/>
                <a:gd name="T4" fmla="*/ 1081 w 1083"/>
                <a:gd name="T5" fmla="*/ 21 h 199"/>
                <a:gd name="T6" fmla="*/ 1081 w 1083"/>
                <a:gd name="T7" fmla="*/ 18 h 199"/>
                <a:gd name="T8" fmla="*/ 1081 w 1083"/>
                <a:gd name="T9" fmla="*/ 13 h 199"/>
                <a:gd name="T10" fmla="*/ 1080 w 1083"/>
                <a:gd name="T11" fmla="*/ 10 h 199"/>
                <a:gd name="T12" fmla="*/ 1080 w 1083"/>
                <a:gd name="T13" fmla="*/ 6 h 199"/>
                <a:gd name="T14" fmla="*/ 1078 w 1083"/>
                <a:gd name="T15" fmla="*/ 3 h 199"/>
                <a:gd name="T16" fmla="*/ 1078 w 1083"/>
                <a:gd name="T17" fmla="*/ 0 h 199"/>
                <a:gd name="T18" fmla="*/ 1073 w 1083"/>
                <a:gd name="T19" fmla="*/ 0 h 199"/>
                <a:gd name="T20" fmla="*/ 1075 w 1083"/>
                <a:gd name="T21" fmla="*/ 3 h 199"/>
                <a:gd name="T22" fmla="*/ 1075 w 1083"/>
                <a:gd name="T23" fmla="*/ 6 h 199"/>
                <a:gd name="T24" fmla="*/ 1075 w 1083"/>
                <a:gd name="T25" fmla="*/ 11 h 199"/>
                <a:gd name="T26" fmla="*/ 1076 w 1083"/>
                <a:gd name="T27" fmla="*/ 15 h 199"/>
                <a:gd name="T28" fmla="*/ 1076 w 1083"/>
                <a:gd name="T29" fmla="*/ 18 h 199"/>
                <a:gd name="T30" fmla="*/ 1076 w 1083"/>
                <a:gd name="T31" fmla="*/ 23 h 199"/>
                <a:gd name="T32" fmla="*/ 1078 w 1083"/>
                <a:gd name="T33" fmla="*/ 26 h 199"/>
                <a:gd name="T34" fmla="*/ 1078 w 1083"/>
                <a:gd name="T35" fmla="*/ 30 h 199"/>
                <a:gd name="T36" fmla="*/ 1083 w 1083"/>
                <a:gd name="T37" fmla="*/ 28 h 199"/>
                <a:gd name="T38" fmla="*/ 0 w 1083"/>
                <a:gd name="T39" fmla="*/ 169 h 199"/>
                <a:gd name="T40" fmla="*/ 0 w 1083"/>
                <a:gd name="T41" fmla="*/ 172 h 199"/>
                <a:gd name="T42" fmla="*/ 0 w 1083"/>
                <a:gd name="T43" fmla="*/ 175 h 199"/>
                <a:gd name="T44" fmla="*/ 2 w 1083"/>
                <a:gd name="T45" fmla="*/ 180 h 199"/>
                <a:gd name="T46" fmla="*/ 2 w 1083"/>
                <a:gd name="T47" fmla="*/ 184 h 199"/>
                <a:gd name="T48" fmla="*/ 2 w 1083"/>
                <a:gd name="T49" fmla="*/ 187 h 199"/>
                <a:gd name="T50" fmla="*/ 3 w 1083"/>
                <a:gd name="T51" fmla="*/ 190 h 199"/>
                <a:gd name="T52" fmla="*/ 3 w 1083"/>
                <a:gd name="T53" fmla="*/ 195 h 199"/>
                <a:gd name="T54" fmla="*/ 5 w 1083"/>
                <a:gd name="T55" fmla="*/ 199 h 199"/>
                <a:gd name="T56" fmla="*/ 10 w 1083"/>
                <a:gd name="T57" fmla="*/ 199 h 199"/>
                <a:gd name="T58" fmla="*/ 8 w 1083"/>
                <a:gd name="T59" fmla="*/ 195 h 199"/>
                <a:gd name="T60" fmla="*/ 8 w 1083"/>
                <a:gd name="T61" fmla="*/ 190 h 199"/>
                <a:gd name="T62" fmla="*/ 6 w 1083"/>
                <a:gd name="T63" fmla="*/ 187 h 199"/>
                <a:gd name="T64" fmla="*/ 6 w 1083"/>
                <a:gd name="T65" fmla="*/ 182 h 199"/>
                <a:gd name="T66" fmla="*/ 6 w 1083"/>
                <a:gd name="T67" fmla="*/ 179 h 199"/>
                <a:gd name="T68" fmla="*/ 5 w 1083"/>
                <a:gd name="T69" fmla="*/ 174 h 199"/>
                <a:gd name="T70" fmla="*/ 5 w 1083"/>
                <a:gd name="T71" fmla="*/ 170 h 199"/>
                <a:gd name="T72" fmla="*/ 5 w 1083"/>
                <a:gd name="T73" fmla="*/ 167 h 199"/>
                <a:gd name="T74" fmla="*/ 0 w 1083"/>
                <a:gd name="T75" fmla="*/ 16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83" h="199">
                  <a:moveTo>
                    <a:pt x="1083" y="28"/>
                  </a:moveTo>
                  <a:lnTo>
                    <a:pt x="1081" y="25"/>
                  </a:lnTo>
                  <a:lnTo>
                    <a:pt x="1081" y="21"/>
                  </a:lnTo>
                  <a:lnTo>
                    <a:pt x="1081" y="18"/>
                  </a:lnTo>
                  <a:lnTo>
                    <a:pt x="1081" y="13"/>
                  </a:lnTo>
                  <a:lnTo>
                    <a:pt x="1080" y="10"/>
                  </a:lnTo>
                  <a:lnTo>
                    <a:pt x="1080" y="6"/>
                  </a:lnTo>
                  <a:lnTo>
                    <a:pt x="1078" y="3"/>
                  </a:lnTo>
                  <a:lnTo>
                    <a:pt x="1078" y="0"/>
                  </a:lnTo>
                  <a:lnTo>
                    <a:pt x="1073" y="0"/>
                  </a:lnTo>
                  <a:lnTo>
                    <a:pt x="1075" y="3"/>
                  </a:lnTo>
                  <a:lnTo>
                    <a:pt x="1075" y="6"/>
                  </a:lnTo>
                  <a:lnTo>
                    <a:pt x="1075" y="11"/>
                  </a:lnTo>
                  <a:lnTo>
                    <a:pt x="1076" y="15"/>
                  </a:lnTo>
                  <a:lnTo>
                    <a:pt x="1076" y="18"/>
                  </a:lnTo>
                  <a:lnTo>
                    <a:pt x="1076" y="23"/>
                  </a:lnTo>
                  <a:lnTo>
                    <a:pt x="1078" y="26"/>
                  </a:lnTo>
                  <a:lnTo>
                    <a:pt x="1078" y="30"/>
                  </a:lnTo>
                  <a:lnTo>
                    <a:pt x="1083" y="28"/>
                  </a:lnTo>
                  <a:close/>
                  <a:moveTo>
                    <a:pt x="0" y="169"/>
                  </a:moveTo>
                  <a:lnTo>
                    <a:pt x="0" y="172"/>
                  </a:lnTo>
                  <a:lnTo>
                    <a:pt x="0" y="175"/>
                  </a:lnTo>
                  <a:lnTo>
                    <a:pt x="2" y="180"/>
                  </a:lnTo>
                  <a:lnTo>
                    <a:pt x="2" y="184"/>
                  </a:lnTo>
                  <a:lnTo>
                    <a:pt x="2" y="187"/>
                  </a:lnTo>
                  <a:lnTo>
                    <a:pt x="3" y="190"/>
                  </a:lnTo>
                  <a:lnTo>
                    <a:pt x="3" y="195"/>
                  </a:lnTo>
                  <a:lnTo>
                    <a:pt x="5" y="199"/>
                  </a:lnTo>
                  <a:lnTo>
                    <a:pt x="10" y="199"/>
                  </a:lnTo>
                  <a:lnTo>
                    <a:pt x="8" y="195"/>
                  </a:lnTo>
                  <a:lnTo>
                    <a:pt x="8" y="190"/>
                  </a:lnTo>
                  <a:lnTo>
                    <a:pt x="6" y="187"/>
                  </a:lnTo>
                  <a:lnTo>
                    <a:pt x="6" y="182"/>
                  </a:lnTo>
                  <a:lnTo>
                    <a:pt x="6" y="179"/>
                  </a:lnTo>
                  <a:lnTo>
                    <a:pt x="5" y="174"/>
                  </a:lnTo>
                  <a:lnTo>
                    <a:pt x="5" y="170"/>
                  </a:lnTo>
                  <a:lnTo>
                    <a:pt x="5" y="167"/>
                  </a:lnTo>
                  <a:lnTo>
                    <a:pt x="0" y="169"/>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14" name="Freeform 54">
              <a:extLst>
                <a:ext uri="{FF2B5EF4-FFF2-40B4-BE49-F238E27FC236}">
                  <a16:creationId xmlns:a16="http://schemas.microsoft.com/office/drawing/2014/main" id="{9688124B-1A83-2DF1-0813-A1E3C921C4F6}"/>
                </a:ext>
              </a:extLst>
            </p:cNvPr>
            <p:cNvSpPr>
              <a:spLocks noEditPoints="1"/>
            </p:cNvSpPr>
            <p:nvPr/>
          </p:nvSpPr>
          <p:spPr bwMode="auto">
            <a:xfrm>
              <a:off x="1297" y="1514"/>
              <a:ext cx="1078" cy="199"/>
            </a:xfrm>
            <a:custGeom>
              <a:avLst/>
              <a:gdLst>
                <a:gd name="T0" fmla="*/ 1078 w 1078"/>
                <a:gd name="T1" fmla="*/ 30 h 199"/>
                <a:gd name="T2" fmla="*/ 1078 w 1078"/>
                <a:gd name="T3" fmla="*/ 25 h 199"/>
                <a:gd name="T4" fmla="*/ 1078 w 1078"/>
                <a:gd name="T5" fmla="*/ 21 h 199"/>
                <a:gd name="T6" fmla="*/ 1076 w 1078"/>
                <a:gd name="T7" fmla="*/ 18 h 199"/>
                <a:gd name="T8" fmla="*/ 1076 w 1078"/>
                <a:gd name="T9" fmla="*/ 15 h 199"/>
                <a:gd name="T10" fmla="*/ 1076 w 1078"/>
                <a:gd name="T11" fmla="*/ 10 h 199"/>
                <a:gd name="T12" fmla="*/ 1074 w 1078"/>
                <a:gd name="T13" fmla="*/ 6 h 199"/>
                <a:gd name="T14" fmla="*/ 1074 w 1078"/>
                <a:gd name="T15" fmla="*/ 3 h 199"/>
                <a:gd name="T16" fmla="*/ 1074 w 1078"/>
                <a:gd name="T17" fmla="*/ 0 h 199"/>
                <a:gd name="T18" fmla="*/ 1069 w 1078"/>
                <a:gd name="T19" fmla="*/ 0 h 199"/>
                <a:gd name="T20" fmla="*/ 1069 w 1078"/>
                <a:gd name="T21" fmla="*/ 3 h 199"/>
                <a:gd name="T22" fmla="*/ 1069 w 1078"/>
                <a:gd name="T23" fmla="*/ 8 h 199"/>
                <a:gd name="T24" fmla="*/ 1071 w 1078"/>
                <a:gd name="T25" fmla="*/ 11 h 199"/>
                <a:gd name="T26" fmla="*/ 1071 w 1078"/>
                <a:gd name="T27" fmla="*/ 15 h 199"/>
                <a:gd name="T28" fmla="*/ 1073 w 1078"/>
                <a:gd name="T29" fmla="*/ 20 h 199"/>
                <a:gd name="T30" fmla="*/ 1073 w 1078"/>
                <a:gd name="T31" fmla="*/ 23 h 199"/>
                <a:gd name="T32" fmla="*/ 1073 w 1078"/>
                <a:gd name="T33" fmla="*/ 26 h 199"/>
                <a:gd name="T34" fmla="*/ 1074 w 1078"/>
                <a:gd name="T35" fmla="*/ 31 h 199"/>
                <a:gd name="T36" fmla="*/ 1078 w 1078"/>
                <a:gd name="T37" fmla="*/ 30 h 199"/>
                <a:gd name="T38" fmla="*/ 0 w 1078"/>
                <a:gd name="T39" fmla="*/ 167 h 199"/>
                <a:gd name="T40" fmla="*/ 1 w 1078"/>
                <a:gd name="T41" fmla="*/ 172 h 199"/>
                <a:gd name="T42" fmla="*/ 1 w 1078"/>
                <a:gd name="T43" fmla="*/ 175 h 199"/>
                <a:gd name="T44" fmla="*/ 1 w 1078"/>
                <a:gd name="T45" fmla="*/ 179 h 199"/>
                <a:gd name="T46" fmla="*/ 3 w 1078"/>
                <a:gd name="T47" fmla="*/ 184 h 199"/>
                <a:gd name="T48" fmla="*/ 3 w 1078"/>
                <a:gd name="T49" fmla="*/ 187 h 199"/>
                <a:gd name="T50" fmla="*/ 3 w 1078"/>
                <a:gd name="T51" fmla="*/ 190 h 199"/>
                <a:gd name="T52" fmla="*/ 4 w 1078"/>
                <a:gd name="T53" fmla="*/ 195 h 199"/>
                <a:gd name="T54" fmla="*/ 4 w 1078"/>
                <a:gd name="T55" fmla="*/ 199 h 199"/>
                <a:gd name="T56" fmla="*/ 9 w 1078"/>
                <a:gd name="T57" fmla="*/ 199 h 199"/>
                <a:gd name="T58" fmla="*/ 9 w 1078"/>
                <a:gd name="T59" fmla="*/ 194 h 199"/>
                <a:gd name="T60" fmla="*/ 8 w 1078"/>
                <a:gd name="T61" fmla="*/ 190 h 199"/>
                <a:gd name="T62" fmla="*/ 8 w 1078"/>
                <a:gd name="T63" fmla="*/ 185 h 199"/>
                <a:gd name="T64" fmla="*/ 6 w 1078"/>
                <a:gd name="T65" fmla="*/ 182 h 199"/>
                <a:gd name="T66" fmla="*/ 6 w 1078"/>
                <a:gd name="T67" fmla="*/ 179 h 199"/>
                <a:gd name="T68" fmla="*/ 6 w 1078"/>
                <a:gd name="T69" fmla="*/ 174 h 199"/>
                <a:gd name="T70" fmla="*/ 4 w 1078"/>
                <a:gd name="T71" fmla="*/ 170 h 199"/>
                <a:gd name="T72" fmla="*/ 4 w 1078"/>
                <a:gd name="T73" fmla="*/ 165 h 199"/>
                <a:gd name="T74" fmla="*/ 0 w 1078"/>
                <a:gd name="T75" fmla="*/ 16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78" h="199">
                  <a:moveTo>
                    <a:pt x="1078" y="30"/>
                  </a:moveTo>
                  <a:lnTo>
                    <a:pt x="1078" y="25"/>
                  </a:lnTo>
                  <a:lnTo>
                    <a:pt x="1078" y="21"/>
                  </a:lnTo>
                  <a:lnTo>
                    <a:pt x="1076" y="18"/>
                  </a:lnTo>
                  <a:lnTo>
                    <a:pt x="1076" y="15"/>
                  </a:lnTo>
                  <a:lnTo>
                    <a:pt x="1076" y="10"/>
                  </a:lnTo>
                  <a:lnTo>
                    <a:pt x="1074" y="6"/>
                  </a:lnTo>
                  <a:lnTo>
                    <a:pt x="1074" y="3"/>
                  </a:lnTo>
                  <a:lnTo>
                    <a:pt x="1074" y="0"/>
                  </a:lnTo>
                  <a:lnTo>
                    <a:pt x="1069" y="0"/>
                  </a:lnTo>
                  <a:lnTo>
                    <a:pt x="1069" y="3"/>
                  </a:lnTo>
                  <a:lnTo>
                    <a:pt x="1069" y="8"/>
                  </a:lnTo>
                  <a:lnTo>
                    <a:pt x="1071" y="11"/>
                  </a:lnTo>
                  <a:lnTo>
                    <a:pt x="1071" y="15"/>
                  </a:lnTo>
                  <a:lnTo>
                    <a:pt x="1073" y="20"/>
                  </a:lnTo>
                  <a:lnTo>
                    <a:pt x="1073" y="23"/>
                  </a:lnTo>
                  <a:lnTo>
                    <a:pt x="1073" y="26"/>
                  </a:lnTo>
                  <a:lnTo>
                    <a:pt x="1074" y="31"/>
                  </a:lnTo>
                  <a:lnTo>
                    <a:pt x="1078" y="30"/>
                  </a:lnTo>
                  <a:close/>
                  <a:moveTo>
                    <a:pt x="0" y="167"/>
                  </a:moveTo>
                  <a:lnTo>
                    <a:pt x="1" y="172"/>
                  </a:lnTo>
                  <a:lnTo>
                    <a:pt x="1" y="175"/>
                  </a:lnTo>
                  <a:lnTo>
                    <a:pt x="1" y="179"/>
                  </a:lnTo>
                  <a:lnTo>
                    <a:pt x="3" y="184"/>
                  </a:lnTo>
                  <a:lnTo>
                    <a:pt x="3" y="187"/>
                  </a:lnTo>
                  <a:lnTo>
                    <a:pt x="3" y="190"/>
                  </a:lnTo>
                  <a:lnTo>
                    <a:pt x="4" y="195"/>
                  </a:lnTo>
                  <a:lnTo>
                    <a:pt x="4" y="199"/>
                  </a:lnTo>
                  <a:lnTo>
                    <a:pt x="9" y="199"/>
                  </a:lnTo>
                  <a:lnTo>
                    <a:pt x="9" y="194"/>
                  </a:lnTo>
                  <a:lnTo>
                    <a:pt x="8" y="190"/>
                  </a:lnTo>
                  <a:lnTo>
                    <a:pt x="8" y="185"/>
                  </a:lnTo>
                  <a:lnTo>
                    <a:pt x="6" y="182"/>
                  </a:lnTo>
                  <a:lnTo>
                    <a:pt x="6" y="179"/>
                  </a:lnTo>
                  <a:lnTo>
                    <a:pt x="6" y="174"/>
                  </a:lnTo>
                  <a:lnTo>
                    <a:pt x="4" y="170"/>
                  </a:lnTo>
                  <a:lnTo>
                    <a:pt x="4" y="165"/>
                  </a:lnTo>
                  <a:lnTo>
                    <a:pt x="0" y="167"/>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15" name="Freeform 55">
              <a:extLst>
                <a:ext uri="{FF2B5EF4-FFF2-40B4-BE49-F238E27FC236}">
                  <a16:creationId xmlns:a16="http://schemas.microsoft.com/office/drawing/2014/main" id="{D4916B9B-3D79-C084-EB2D-BB7526DB9C00}"/>
                </a:ext>
              </a:extLst>
            </p:cNvPr>
            <p:cNvSpPr>
              <a:spLocks noEditPoints="1"/>
            </p:cNvSpPr>
            <p:nvPr/>
          </p:nvSpPr>
          <p:spPr bwMode="auto">
            <a:xfrm>
              <a:off x="1300" y="1514"/>
              <a:ext cx="1073" cy="199"/>
            </a:xfrm>
            <a:custGeom>
              <a:avLst/>
              <a:gdLst>
                <a:gd name="T0" fmla="*/ 1073 w 1073"/>
                <a:gd name="T1" fmla="*/ 30 h 199"/>
                <a:gd name="T2" fmla="*/ 1073 w 1073"/>
                <a:gd name="T3" fmla="*/ 26 h 199"/>
                <a:gd name="T4" fmla="*/ 1071 w 1073"/>
                <a:gd name="T5" fmla="*/ 23 h 199"/>
                <a:gd name="T6" fmla="*/ 1071 w 1073"/>
                <a:gd name="T7" fmla="*/ 18 h 199"/>
                <a:gd name="T8" fmla="*/ 1071 w 1073"/>
                <a:gd name="T9" fmla="*/ 15 h 199"/>
                <a:gd name="T10" fmla="*/ 1070 w 1073"/>
                <a:gd name="T11" fmla="*/ 11 h 199"/>
                <a:gd name="T12" fmla="*/ 1070 w 1073"/>
                <a:gd name="T13" fmla="*/ 6 h 199"/>
                <a:gd name="T14" fmla="*/ 1070 w 1073"/>
                <a:gd name="T15" fmla="*/ 3 h 199"/>
                <a:gd name="T16" fmla="*/ 1068 w 1073"/>
                <a:gd name="T17" fmla="*/ 0 h 199"/>
                <a:gd name="T18" fmla="*/ 1063 w 1073"/>
                <a:gd name="T19" fmla="*/ 0 h 199"/>
                <a:gd name="T20" fmla="*/ 1065 w 1073"/>
                <a:gd name="T21" fmla="*/ 3 h 199"/>
                <a:gd name="T22" fmla="*/ 1065 w 1073"/>
                <a:gd name="T23" fmla="*/ 8 h 199"/>
                <a:gd name="T24" fmla="*/ 1065 w 1073"/>
                <a:gd name="T25" fmla="*/ 11 h 199"/>
                <a:gd name="T26" fmla="*/ 1066 w 1073"/>
                <a:gd name="T27" fmla="*/ 16 h 199"/>
                <a:gd name="T28" fmla="*/ 1066 w 1073"/>
                <a:gd name="T29" fmla="*/ 20 h 199"/>
                <a:gd name="T30" fmla="*/ 1068 w 1073"/>
                <a:gd name="T31" fmla="*/ 25 h 199"/>
                <a:gd name="T32" fmla="*/ 1068 w 1073"/>
                <a:gd name="T33" fmla="*/ 28 h 199"/>
                <a:gd name="T34" fmla="*/ 1068 w 1073"/>
                <a:gd name="T35" fmla="*/ 31 h 199"/>
                <a:gd name="T36" fmla="*/ 1073 w 1073"/>
                <a:gd name="T37" fmla="*/ 30 h 199"/>
                <a:gd name="T38" fmla="*/ 0 w 1073"/>
                <a:gd name="T39" fmla="*/ 167 h 199"/>
                <a:gd name="T40" fmla="*/ 0 w 1073"/>
                <a:gd name="T41" fmla="*/ 170 h 199"/>
                <a:gd name="T42" fmla="*/ 0 w 1073"/>
                <a:gd name="T43" fmla="*/ 174 h 199"/>
                <a:gd name="T44" fmla="*/ 1 w 1073"/>
                <a:gd name="T45" fmla="*/ 179 h 199"/>
                <a:gd name="T46" fmla="*/ 1 w 1073"/>
                <a:gd name="T47" fmla="*/ 182 h 199"/>
                <a:gd name="T48" fmla="*/ 1 w 1073"/>
                <a:gd name="T49" fmla="*/ 187 h 199"/>
                <a:gd name="T50" fmla="*/ 3 w 1073"/>
                <a:gd name="T51" fmla="*/ 190 h 199"/>
                <a:gd name="T52" fmla="*/ 3 w 1073"/>
                <a:gd name="T53" fmla="*/ 195 h 199"/>
                <a:gd name="T54" fmla="*/ 5 w 1073"/>
                <a:gd name="T55" fmla="*/ 199 h 199"/>
                <a:gd name="T56" fmla="*/ 10 w 1073"/>
                <a:gd name="T57" fmla="*/ 199 h 199"/>
                <a:gd name="T58" fmla="*/ 8 w 1073"/>
                <a:gd name="T59" fmla="*/ 194 h 199"/>
                <a:gd name="T60" fmla="*/ 8 w 1073"/>
                <a:gd name="T61" fmla="*/ 190 h 199"/>
                <a:gd name="T62" fmla="*/ 6 w 1073"/>
                <a:gd name="T63" fmla="*/ 185 h 199"/>
                <a:gd name="T64" fmla="*/ 6 w 1073"/>
                <a:gd name="T65" fmla="*/ 182 h 199"/>
                <a:gd name="T66" fmla="*/ 5 w 1073"/>
                <a:gd name="T67" fmla="*/ 177 h 199"/>
                <a:gd name="T68" fmla="*/ 5 w 1073"/>
                <a:gd name="T69" fmla="*/ 174 h 199"/>
                <a:gd name="T70" fmla="*/ 5 w 1073"/>
                <a:gd name="T71" fmla="*/ 169 h 199"/>
                <a:gd name="T72" fmla="*/ 3 w 1073"/>
                <a:gd name="T73" fmla="*/ 164 h 199"/>
                <a:gd name="T74" fmla="*/ 0 w 1073"/>
                <a:gd name="T75" fmla="*/ 16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73" h="199">
                  <a:moveTo>
                    <a:pt x="1073" y="30"/>
                  </a:moveTo>
                  <a:lnTo>
                    <a:pt x="1073" y="26"/>
                  </a:lnTo>
                  <a:lnTo>
                    <a:pt x="1071" y="23"/>
                  </a:lnTo>
                  <a:lnTo>
                    <a:pt x="1071" y="18"/>
                  </a:lnTo>
                  <a:lnTo>
                    <a:pt x="1071" y="15"/>
                  </a:lnTo>
                  <a:lnTo>
                    <a:pt x="1070" y="11"/>
                  </a:lnTo>
                  <a:lnTo>
                    <a:pt x="1070" y="6"/>
                  </a:lnTo>
                  <a:lnTo>
                    <a:pt x="1070" y="3"/>
                  </a:lnTo>
                  <a:lnTo>
                    <a:pt x="1068" y="0"/>
                  </a:lnTo>
                  <a:lnTo>
                    <a:pt x="1063" y="0"/>
                  </a:lnTo>
                  <a:lnTo>
                    <a:pt x="1065" y="3"/>
                  </a:lnTo>
                  <a:lnTo>
                    <a:pt x="1065" y="8"/>
                  </a:lnTo>
                  <a:lnTo>
                    <a:pt x="1065" y="11"/>
                  </a:lnTo>
                  <a:lnTo>
                    <a:pt x="1066" y="16"/>
                  </a:lnTo>
                  <a:lnTo>
                    <a:pt x="1066" y="20"/>
                  </a:lnTo>
                  <a:lnTo>
                    <a:pt x="1068" y="25"/>
                  </a:lnTo>
                  <a:lnTo>
                    <a:pt x="1068" y="28"/>
                  </a:lnTo>
                  <a:lnTo>
                    <a:pt x="1068" y="31"/>
                  </a:lnTo>
                  <a:lnTo>
                    <a:pt x="1073" y="30"/>
                  </a:lnTo>
                  <a:close/>
                  <a:moveTo>
                    <a:pt x="0" y="167"/>
                  </a:moveTo>
                  <a:lnTo>
                    <a:pt x="0" y="170"/>
                  </a:lnTo>
                  <a:lnTo>
                    <a:pt x="0" y="174"/>
                  </a:lnTo>
                  <a:lnTo>
                    <a:pt x="1" y="179"/>
                  </a:lnTo>
                  <a:lnTo>
                    <a:pt x="1" y="182"/>
                  </a:lnTo>
                  <a:lnTo>
                    <a:pt x="1" y="187"/>
                  </a:lnTo>
                  <a:lnTo>
                    <a:pt x="3" y="190"/>
                  </a:lnTo>
                  <a:lnTo>
                    <a:pt x="3" y="195"/>
                  </a:lnTo>
                  <a:lnTo>
                    <a:pt x="5" y="199"/>
                  </a:lnTo>
                  <a:lnTo>
                    <a:pt x="10" y="199"/>
                  </a:lnTo>
                  <a:lnTo>
                    <a:pt x="8" y="194"/>
                  </a:lnTo>
                  <a:lnTo>
                    <a:pt x="8" y="190"/>
                  </a:lnTo>
                  <a:lnTo>
                    <a:pt x="6" y="185"/>
                  </a:lnTo>
                  <a:lnTo>
                    <a:pt x="6" y="182"/>
                  </a:lnTo>
                  <a:lnTo>
                    <a:pt x="5" y="177"/>
                  </a:lnTo>
                  <a:lnTo>
                    <a:pt x="5" y="174"/>
                  </a:lnTo>
                  <a:lnTo>
                    <a:pt x="5" y="169"/>
                  </a:lnTo>
                  <a:lnTo>
                    <a:pt x="3" y="164"/>
                  </a:lnTo>
                  <a:lnTo>
                    <a:pt x="0" y="167"/>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16" name="Freeform 56">
              <a:extLst>
                <a:ext uri="{FF2B5EF4-FFF2-40B4-BE49-F238E27FC236}">
                  <a16:creationId xmlns:a16="http://schemas.microsoft.com/office/drawing/2014/main" id="{BFE4A8FF-5D55-F40F-4206-48736D3FF0A9}"/>
                </a:ext>
              </a:extLst>
            </p:cNvPr>
            <p:cNvSpPr>
              <a:spLocks noEditPoints="1"/>
            </p:cNvSpPr>
            <p:nvPr/>
          </p:nvSpPr>
          <p:spPr bwMode="auto">
            <a:xfrm>
              <a:off x="1301" y="1514"/>
              <a:ext cx="1070" cy="199"/>
            </a:xfrm>
            <a:custGeom>
              <a:avLst/>
              <a:gdLst>
                <a:gd name="T0" fmla="*/ 1070 w 1070"/>
                <a:gd name="T1" fmla="*/ 31 h 199"/>
                <a:gd name="T2" fmla="*/ 1069 w 1070"/>
                <a:gd name="T3" fmla="*/ 26 h 199"/>
                <a:gd name="T4" fmla="*/ 1069 w 1070"/>
                <a:gd name="T5" fmla="*/ 23 h 199"/>
                <a:gd name="T6" fmla="*/ 1069 w 1070"/>
                <a:gd name="T7" fmla="*/ 20 h 199"/>
                <a:gd name="T8" fmla="*/ 1067 w 1070"/>
                <a:gd name="T9" fmla="*/ 15 h 199"/>
                <a:gd name="T10" fmla="*/ 1067 w 1070"/>
                <a:gd name="T11" fmla="*/ 11 h 199"/>
                <a:gd name="T12" fmla="*/ 1065 w 1070"/>
                <a:gd name="T13" fmla="*/ 8 h 199"/>
                <a:gd name="T14" fmla="*/ 1065 w 1070"/>
                <a:gd name="T15" fmla="*/ 3 h 199"/>
                <a:gd name="T16" fmla="*/ 1065 w 1070"/>
                <a:gd name="T17" fmla="*/ 0 h 199"/>
                <a:gd name="T18" fmla="*/ 1060 w 1070"/>
                <a:gd name="T19" fmla="*/ 0 h 199"/>
                <a:gd name="T20" fmla="*/ 1060 w 1070"/>
                <a:gd name="T21" fmla="*/ 3 h 199"/>
                <a:gd name="T22" fmla="*/ 1062 w 1070"/>
                <a:gd name="T23" fmla="*/ 8 h 199"/>
                <a:gd name="T24" fmla="*/ 1062 w 1070"/>
                <a:gd name="T25" fmla="*/ 11 h 199"/>
                <a:gd name="T26" fmla="*/ 1062 w 1070"/>
                <a:gd name="T27" fmla="*/ 16 h 199"/>
                <a:gd name="T28" fmla="*/ 1064 w 1070"/>
                <a:gd name="T29" fmla="*/ 20 h 199"/>
                <a:gd name="T30" fmla="*/ 1064 w 1070"/>
                <a:gd name="T31" fmla="*/ 25 h 199"/>
                <a:gd name="T32" fmla="*/ 1065 w 1070"/>
                <a:gd name="T33" fmla="*/ 30 h 199"/>
                <a:gd name="T34" fmla="*/ 1065 w 1070"/>
                <a:gd name="T35" fmla="*/ 33 h 199"/>
                <a:gd name="T36" fmla="*/ 1070 w 1070"/>
                <a:gd name="T37" fmla="*/ 31 h 199"/>
                <a:gd name="T38" fmla="*/ 0 w 1070"/>
                <a:gd name="T39" fmla="*/ 165 h 199"/>
                <a:gd name="T40" fmla="*/ 0 w 1070"/>
                <a:gd name="T41" fmla="*/ 170 h 199"/>
                <a:gd name="T42" fmla="*/ 2 w 1070"/>
                <a:gd name="T43" fmla="*/ 174 h 199"/>
                <a:gd name="T44" fmla="*/ 2 w 1070"/>
                <a:gd name="T45" fmla="*/ 179 h 199"/>
                <a:gd name="T46" fmla="*/ 2 w 1070"/>
                <a:gd name="T47" fmla="*/ 182 h 199"/>
                <a:gd name="T48" fmla="*/ 4 w 1070"/>
                <a:gd name="T49" fmla="*/ 185 h 199"/>
                <a:gd name="T50" fmla="*/ 4 w 1070"/>
                <a:gd name="T51" fmla="*/ 190 h 199"/>
                <a:gd name="T52" fmla="*/ 5 w 1070"/>
                <a:gd name="T53" fmla="*/ 194 h 199"/>
                <a:gd name="T54" fmla="*/ 5 w 1070"/>
                <a:gd name="T55" fmla="*/ 199 h 199"/>
                <a:gd name="T56" fmla="*/ 10 w 1070"/>
                <a:gd name="T57" fmla="*/ 199 h 199"/>
                <a:gd name="T58" fmla="*/ 10 w 1070"/>
                <a:gd name="T59" fmla="*/ 194 h 199"/>
                <a:gd name="T60" fmla="*/ 9 w 1070"/>
                <a:gd name="T61" fmla="*/ 190 h 199"/>
                <a:gd name="T62" fmla="*/ 9 w 1070"/>
                <a:gd name="T63" fmla="*/ 185 h 199"/>
                <a:gd name="T64" fmla="*/ 7 w 1070"/>
                <a:gd name="T65" fmla="*/ 180 h 199"/>
                <a:gd name="T66" fmla="*/ 7 w 1070"/>
                <a:gd name="T67" fmla="*/ 177 h 199"/>
                <a:gd name="T68" fmla="*/ 5 w 1070"/>
                <a:gd name="T69" fmla="*/ 172 h 199"/>
                <a:gd name="T70" fmla="*/ 5 w 1070"/>
                <a:gd name="T71" fmla="*/ 167 h 199"/>
                <a:gd name="T72" fmla="*/ 5 w 1070"/>
                <a:gd name="T73" fmla="*/ 164 h 199"/>
                <a:gd name="T74" fmla="*/ 0 w 1070"/>
                <a:gd name="T75" fmla="*/ 16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70" h="199">
                  <a:moveTo>
                    <a:pt x="1070" y="31"/>
                  </a:moveTo>
                  <a:lnTo>
                    <a:pt x="1069" y="26"/>
                  </a:lnTo>
                  <a:lnTo>
                    <a:pt x="1069" y="23"/>
                  </a:lnTo>
                  <a:lnTo>
                    <a:pt x="1069" y="20"/>
                  </a:lnTo>
                  <a:lnTo>
                    <a:pt x="1067" y="15"/>
                  </a:lnTo>
                  <a:lnTo>
                    <a:pt x="1067" y="11"/>
                  </a:lnTo>
                  <a:lnTo>
                    <a:pt x="1065" y="8"/>
                  </a:lnTo>
                  <a:lnTo>
                    <a:pt x="1065" y="3"/>
                  </a:lnTo>
                  <a:lnTo>
                    <a:pt x="1065" y="0"/>
                  </a:lnTo>
                  <a:lnTo>
                    <a:pt x="1060" y="0"/>
                  </a:lnTo>
                  <a:lnTo>
                    <a:pt x="1060" y="3"/>
                  </a:lnTo>
                  <a:lnTo>
                    <a:pt x="1062" y="8"/>
                  </a:lnTo>
                  <a:lnTo>
                    <a:pt x="1062" y="11"/>
                  </a:lnTo>
                  <a:lnTo>
                    <a:pt x="1062" y="16"/>
                  </a:lnTo>
                  <a:lnTo>
                    <a:pt x="1064" y="20"/>
                  </a:lnTo>
                  <a:lnTo>
                    <a:pt x="1064" y="25"/>
                  </a:lnTo>
                  <a:lnTo>
                    <a:pt x="1065" y="30"/>
                  </a:lnTo>
                  <a:lnTo>
                    <a:pt x="1065" y="33"/>
                  </a:lnTo>
                  <a:lnTo>
                    <a:pt x="1070" y="31"/>
                  </a:lnTo>
                  <a:close/>
                  <a:moveTo>
                    <a:pt x="0" y="165"/>
                  </a:moveTo>
                  <a:lnTo>
                    <a:pt x="0" y="170"/>
                  </a:lnTo>
                  <a:lnTo>
                    <a:pt x="2" y="174"/>
                  </a:lnTo>
                  <a:lnTo>
                    <a:pt x="2" y="179"/>
                  </a:lnTo>
                  <a:lnTo>
                    <a:pt x="2" y="182"/>
                  </a:lnTo>
                  <a:lnTo>
                    <a:pt x="4" y="185"/>
                  </a:lnTo>
                  <a:lnTo>
                    <a:pt x="4" y="190"/>
                  </a:lnTo>
                  <a:lnTo>
                    <a:pt x="5" y="194"/>
                  </a:lnTo>
                  <a:lnTo>
                    <a:pt x="5" y="199"/>
                  </a:lnTo>
                  <a:lnTo>
                    <a:pt x="10" y="199"/>
                  </a:lnTo>
                  <a:lnTo>
                    <a:pt x="10" y="194"/>
                  </a:lnTo>
                  <a:lnTo>
                    <a:pt x="9" y="190"/>
                  </a:lnTo>
                  <a:lnTo>
                    <a:pt x="9" y="185"/>
                  </a:lnTo>
                  <a:lnTo>
                    <a:pt x="7" y="180"/>
                  </a:lnTo>
                  <a:lnTo>
                    <a:pt x="7" y="177"/>
                  </a:lnTo>
                  <a:lnTo>
                    <a:pt x="5" y="172"/>
                  </a:lnTo>
                  <a:lnTo>
                    <a:pt x="5" y="167"/>
                  </a:lnTo>
                  <a:lnTo>
                    <a:pt x="5" y="164"/>
                  </a:lnTo>
                  <a:lnTo>
                    <a:pt x="0" y="165"/>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17" name="Freeform 57">
              <a:extLst>
                <a:ext uri="{FF2B5EF4-FFF2-40B4-BE49-F238E27FC236}">
                  <a16:creationId xmlns:a16="http://schemas.microsoft.com/office/drawing/2014/main" id="{F01B2343-96F1-0FD7-9696-6A98159E5342}"/>
                </a:ext>
              </a:extLst>
            </p:cNvPr>
            <p:cNvSpPr>
              <a:spLocks noEditPoints="1"/>
            </p:cNvSpPr>
            <p:nvPr/>
          </p:nvSpPr>
          <p:spPr bwMode="auto">
            <a:xfrm>
              <a:off x="1303" y="1514"/>
              <a:ext cx="1065" cy="199"/>
            </a:xfrm>
            <a:custGeom>
              <a:avLst/>
              <a:gdLst>
                <a:gd name="T0" fmla="*/ 1065 w 1065"/>
                <a:gd name="T1" fmla="*/ 31 h 199"/>
                <a:gd name="T2" fmla="*/ 1065 w 1065"/>
                <a:gd name="T3" fmla="*/ 28 h 199"/>
                <a:gd name="T4" fmla="*/ 1065 w 1065"/>
                <a:gd name="T5" fmla="*/ 25 h 199"/>
                <a:gd name="T6" fmla="*/ 1063 w 1065"/>
                <a:gd name="T7" fmla="*/ 20 h 199"/>
                <a:gd name="T8" fmla="*/ 1063 w 1065"/>
                <a:gd name="T9" fmla="*/ 16 h 199"/>
                <a:gd name="T10" fmla="*/ 1062 w 1065"/>
                <a:gd name="T11" fmla="*/ 11 h 199"/>
                <a:gd name="T12" fmla="*/ 1062 w 1065"/>
                <a:gd name="T13" fmla="*/ 8 h 199"/>
                <a:gd name="T14" fmla="*/ 1062 w 1065"/>
                <a:gd name="T15" fmla="*/ 3 h 199"/>
                <a:gd name="T16" fmla="*/ 1060 w 1065"/>
                <a:gd name="T17" fmla="*/ 0 h 199"/>
                <a:gd name="T18" fmla="*/ 1055 w 1065"/>
                <a:gd name="T19" fmla="*/ 0 h 199"/>
                <a:gd name="T20" fmla="*/ 1057 w 1065"/>
                <a:gd name="T21" fmla="*/ 3 h 199"/>
                <a:gd name="T22" fmla="*/ 1057 w 1065"/>
                <a:gd name="T23" fmla="*/ 8 h 199"/>
                <a:gd name="T24" fmla="*/ 1058 w 1065"/>
                <a:gd name="T25" fmla="*/ 13 h 199"/>
                <a:gd name="T26" fmla="*/ 1058 w 1065"/>
                <a:gd name="T27" fmla="*/ 16 h 199"/>
                <a:gd name="T28" fmla="*/ 1058 w 1065"/>
                <a:gd name="T29" fmla="*/ 21 h 199"/>
                <a:gd name="T30" fmla="*/ 1060 w 1065"/>
                <a:gd name="T31" fmla="*/ 25 h 199"/>
                <a:gd name="T32" fmla="*/ 1060 w 1065"/>
                <a:gd name="T33" fmla="*/ 30 h 199"/>
                <a:gd name="T34" fmla="*/ 1060 w 1065"/>
                <a:gd name="T35" fmla="*/ 35 h 199"/>
                <a:gd name="T36" fmla="*/ 1065 w 1065"/>
                <a:gd name="T37" fmla="*/ 31 h 199"/>
                <a:gd name="T38" fmla="*/ 0 w 1065"/>
                <a:gd name="T39" fmla="*/ 164 h 199"/>
                <a:gd name="T40" fmla="*/ 2 w 1065"/>
                <a:gd name="T41" fmla="*/ 169 h 199"/>
                <a:gd name="T42" fmla="*/ 2 w 1065"/>
                <a:gd name="T43" fmla="*/ 174 h 199"/>
                <a:gd name="T44" fmla="*/ 2 w 1065"/>
                <a:gd name="T45" fmla="*/ 177 h 199"/>
                <a:gd name="T46" fmla="*/ 3 w 1065"/>
                <a:gd name="T47" fmla="*/ 182 h 199"/>
                <a:gd name="T48" fmla="*/ 3 w 1065"/>
                <a:gd name="T49" fmla="*/ 185 h 199"/>
                <a:gd name="T50" fmla="*/ 5 w 1065"/>
                <a:gd name="T51" fmla="*/ 190 h 199"/>
                <a:gd name="T52" fmla="*/ 5 w 1065"/>
                <a:gd name="T53" fmla="*/ 194 h 199"/>
                <a:gd name="T54" fmla="*/ 7 w 1065"/>
                <a:gd name="T55" fmla="*/ 199 h 199"/>
                <a:gd name="T56" fmla="*/ 10 w 1065"/>
                <a:gd name="T57" fmla="*/ 199 h 199"/>
                <a:gd name="T58" fmla="*/ 10 w 1065"/>
                <a:gd name="T59" fmla="*/ 194 h 199"/>
                <a:gd name="T60" fmla="*/ 8 w 1065"/>
                <a:gd name="T61" fmla="*/ 189 h 199"/>
                <a:gd name="T62" fmla="*/ 8 w 1065"/>
                <a:gd name="T63" fmla="*/ 185 h 199"/>
                <a:gd name="T64" fmla="*/ 8 w 1065"/>
                <a:gd name="T65" fmla="*/ 180 h 199"/>
                <a:gd name="T66" fmla="*/ 7 w 1065"/>
                <a:gd name="T67" fmla="*/ 175 h 199"/>
                <a:gd name="T68" fmla="*/ 7 w 1065"/>
                <a:gd name="T69" fmla="*/ 172 h 199"/>
                <a:gd name="T70" fmla="*/ 5 w 1065"/>
                <a:gd name="T71" fmla="*/ 167 h 199"/>
                <a:gd name="T72" fmla="*/ 5 w 1065"/>
                <a:gd name="T73" fmla="*/ 162 h 199"/>
                <a:gd name="T74" fmla="*/ 0 w 1065"/>
                <a:gd name="T75" fmla="*/ 16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65" h="199">
                  <a:moveTo>
                    <a:pt x="1065" y="31"/>
                  </a:moveTo>
                  <a:lnTo>
                    <a:pt x="1065" y="28"/>
                  </a:lnTo>
                  <a:lnTo>
                    <a:pt x="1065" y="25"/>
                  </a:lnTo>
                  <a:lnTo>
                    <a:pt x="1063" y="20"/>
                  </a:lnTo>
                  <a:lnTo>
                    <a:pt x="1063" y="16"/>
                  </a:lnTo>
                  <a:lnTo>
                    <a:pt x="1062" y="11"/>
                  </a:lnTo>
                  <a:lnTo>
                    <a:pt x="1062" y="8"/>
                  </a:lnTo>
                  <a:lnTo>
                    <a:pt x="1062" y="3"/>
                  </a:lnTo>
                  <a:lnTo>
                    <a:pt x="1060" y="0"/>
                  </a:lnTo>
                  <a:lnTo>
                    <a:pt x="1055" y="0"/>
                  </a:lnTo>
                  <a:lnTo>
                    <a:pt x="1057" y="3"/>
                  </a:lnTo>
                  <a:lnTo>
                    <a:pt x="1057" y="8"/>
                  </a:lnTo>
                  <a:lnTo>
                    <a:pt x="1058" y="13"/>
                  </a:lnTo>
                  <a:lnTo>
                    <a:pt x="1058" y="16"/>
                  </a:lnTo>
                  <a:lnTo>
                    <a:pt x="1058" y="21"/>
                  </a:lnTo>
                  <a:lnTo>
                    <a:pt x="1060" y="25"/>
                  </a:lnTo>
                  <a:lnTo>
                    <a:pt x="1060" y="30"/>
                  </a:lnTo>
                  <a:lnTo>
                    <a:pt x="1060" y="35"/>
                  </a:lnTo>
                  <a:lnTo>
                    <a:pt x="1065" y="31"/>
                  </a:lnTo>
                  <a:close/>
                  <a:moveTo>
                    <a:pt x="0" y="164"/>
                  </a:moveTo>
                  <a:lnTo>
                    <a:pt x="2" y="169"/>
                  </a:lnTo>
                  <a:lnTo>
                    <a:pt x="2" y="174"/>
                  </a:lnTo>
                  <a:lnTo>
                    <a:pt x="2" y="177"/>
                  </a:lnTo>
                  <a:lnTo>
                    <a:pt x="3" y="182"/>
                  </a:lnTo>
                  <a:lnTo>
                    <a:pt x="3" y="185"/>
                  </a:lnTo>
                  <a:lnTo>
                    <a:pt x="5" y="190"/>
                  </a:lnTo>
                  <a:lnTo>
                    <a:pt x="5" y="194"/>
                  </a:lnTo>
                  <a:lnTo>
                    <a:pt x="7" y="199"/>
                  </a:lnTo>
                  <a:lnTo>
                    <a:pt x="10" y="199"/>
                  </a:lnTo>
                  <a:lnTo>
                    <a:pt x="10" y="194"/>
                  </a:lnTo>
                  <a:lnTo>
                    <a:pt x="8" y="189"/>
                  </a:lnTo>
                  <a:lnTo>
                    <a:pt x="8" y="185"/>
                  </a:lnTo>
                  <a:lnTo>
                    <a:pt x="8" y="180"/>
                  </a:lnTo>
                  <a:lnTo>
                    <a:pt x="7" y="175"/>
                  </a:lnTo>
                  <a:lnTo>
                    <a:pt x="7" y="172"/>
                  </a:lnTo>
                  <a:lnTo>
                    <a:pt x="5" y="167"/>
                  </a:lnTo>
                  <a:lnTo>
                    <a:pt x="5" y="162"/>
                  </a:lnTo>
                  <a:lnTo>
                    <a:pt x="0" y="164"/>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18" name="Freeform 58">
              <a:extLst>
                <a:ext uri="{FF2B5EF4-FFF2-40B4-BE49-F238E27FC236}">
                  <a16:creationId xmlns:a16="http://schemas.microsoft.com/office/drawing/2014/main" id="{42B44BAF-128F-CC50-66C3-1D3E7D911ED6}"/>
                </a:ext>
              </a:extLst>
            </p:cNvPr>
            <p:cNvSpPr>
              <a:spLocks noEditPoints="1"/>
            </p:cNvSpPr>
            <p:nvPr/>
          </p:nvSpPr>
          <p:spPr bwMode="auto">
            <a:xfrm>
              <a:off x="1306" y="1514"/>
              <a:ext cx="1060" cy="199"/>
            </a:xfrm>
            <a:custGeom>
              <a:avLst/>
              <a:gdLst>
                <a:gd name="T0" fmla="*/ 1060 w 1060"/>
                <a:gd name="T1" fmla="*/ 33 h 199"/>
                <a:gd name="T2" fmla="*/ 1060 w 1060"/>
                <a:gd name="T3" fmla="*/ 30 h 199"/>
                <a:gd name="T4" fmla="*/ 1059 w 1060"/>
                <a:gd name="T5" fmla="*/ 25 h 199"/>
                <a:gd name="T6" fmla="*/ 1059 w 1060"/>
                <a:gd name="T7" fmla="*/ 20 h 199"/>
                <a:gd name="T8" fmla="*/ 1057 w 1060"/>
                <a:gd name="T9" fmla="*/ 16 h 199"/>
                <a:gd name="T10" fmla="*/ 1057 w 1060"/>
                <a:gd name="T11" fmla="*/ 11 h 199"/>
                <a:gd name="T12" fmla="*/ 1057 w 1060"/>
                <a:gd name="T13" fmla="*/ 8 h 199"/>
                <a:gd name="T14" fmla="*/ 1055 w 1060"/>
                <a:gd name="T15" fmla="*/ 3 h 199"/>
                <a:gd name="T16" fmla="*/ 1055 w 1060"/>
                <a:gd name="T17" fmla="*/ 0 h 199"/>
                <a:gd name="T18" fmla="*/ 1050 w 1060"/>
                <a:gd name="T19" fmla="*/ 0 h 199"/>
                <a:gd name="T20" fmla="*/ 1050 w 1060"/>
                <a:gd name="T21" fmla="*/ 5 h 199"/>
                <a:gd name="T22" fmla="*/ 1052 w 1060"/>
                <a:gd name="T23" fmla="*/ 8 h 199"/>
                <a:gd name="T24" fmla="*/ 1052 w 1060"/>
                <a:gd name="T25" fmla="*/ 13 h 199"/>
                <a:gd name="T26" fmla="*/ 1054 w 1060"/>
                <a:gd name="T27" fmla="*/ 18 h 199"/>
                <a:gd name="T28" fmla="*/ 1054 w 1060"/>
                <a:gd name="T29" fmla="*/ 21 h 199"/>
                <a:gd name="T30" fmla="*/ 1054 w 1060"/>
                <a:gd name="T31" fmla="*/ 26 h 199"/>
                <a:gd name="T32" fmla="*/ 1055 w 1060"/>
                <a:gd name="T33" fmla="*/ 31 h 199"/>
                <a:gd name="T34" fmla="*/ 1055 w 1060"/>
                <a:gd name="T35" fmla="*/ 35 h 199"/>
                <a:gd name="T36" fmla="*/ 1060 w 1060"/>
                <a:gd name="T37" fmla="*/ 33 h 199"/>
                <a:gd name="T38" fmla="*/ 0 w 1060"/>
                <a:gd name="T39" fmla="*/ 164 h 199"/>
                <a:gd name="T40" fmla="*/ 0 w 1060"/>
                <a:gd name="T41" fmla="*/ 167 h 199"/>
                <a:gd name="T42" fmla="*/ 0 w 1060"/>
                <a:gd name="T43" fmla="*/ 172 h 199"/>
                <a:gd name="T44" fmla="*/ 2 w 1060"/>
                <a:gd name="T45" fmla="*/ 177 h 199"/>
                <a:gd name="T46" fmla="*/ 2 w 1060"/>
                <a:gd name="T47" fmla="*/ 180 h 199"/>
                <a:gd name="T48" fmla="*/ 4 w 1060"/>
                <a:gd name="T49" fmla="*/ 185 h 199"/>
                <a:gd name="T50" fmla="*/ 4 w 1060"/>
                <a:gd name="T51" fmla="*/ 190 h 199"/>
                <a:gd name="T52" fmla="*/ 5 w 1060"/>
                <a:gd name="T53" fmla="*/ 194 h 199"/>
                <a:gd name="T54" fmla="*/ 5 w 1060"/>
                <a:gd name="T55" fmla="*/ 199 h 199"/>
                <a:gd name="T56" fmla="*/ 10 w 1060"/>
                <a:gd name="T57" fmla="*/ 199 h 199"/>
                <a:gd name="T58" fmla="*/ 9 w 1060"/>
                <a:gd name="T59" fmla="*/ 194 h 199"/>
                <a:gd name="T60" fmla="*/ 9 w 1060"/>
                <a:gd name="T61" fmla="*/ 189 h 199"/>
                <a:gd name="T62" fmla="*/ 7 w 1060"/>
                <a:gd name="T63" fmla="*/ 185 h 199"/>
                <a:gd name="T64" fmla="*/ 7 w 1060"/>
                <a:gd name="T65" fmla="*/ 180 h 199"/>
                <a:gd name="T66" fmla="*/ 7 w 1060"/>
                <a:gd name="T67" fmla="*/ 175 h 199"/>
                <a:gd name="T68" fmla="*/ 5 w 1060"/>
                <a:gd name="T69" fmla="*/ 170 h 199"/>
                <a:gd name="T70" fmla="*/ 5 w 1060"/>
                <a:gd name="T71" fmla="*/ 165 h 199"/>
                <a:gd name="T72" fmla="*/ 4 w 1060"/>
                <a:gd name="T73" fmla="*/ 160 h 199"/>
                <a:gd name="T74" fmla="*/ 0 w 1060"/>
                <a:gd name="T75" fmla="*/ 16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60" h="199">
                  <a:moveTo>
                    <a:pt x="1060" y="33"/>
                  </a:moveTo>
                  <a:lnTo>
                    <a:pt x="1060" y="30"/>
                  </a:lnTo>
                  <a:lnTo>
                    <a:pt x="1059" y="25"/>
                  </a:lnTo>
                  <a:lnTo>
                    <a:pt x="1059" y="20"/>
                  </a:lnTo>
                  <a:lnTo>
                    <a:pt x="1057" y="16"/>
                  </a:lnTo>
                  <a:lnTo>
                    <a:pt x="1057" y="11"/>
                  </a:lnTo>
                  <a:lnTo>
                    <a:pt x="1057" y="8"/>
                  </a:lnTo>
                  <a:lnTo>
                    <a:pt x="1055" y="3"/>
                  </a:lnTo>
                  <a:lnTo>
                    <a:pt x="1055" y="0"/>
                  </a:lnTo>
                  <a:lnTo>
                    <a:pt x="1050" y="0"/>
                  </a:lnTo>
                  <a:lnTo>
                    <a:pt x="1050" y="5"/>
                  </a:lnTo>
                  <a:lnTo>
                    <a:pt x="1052" y="8"/>
                  </a:lnTo>
                  <a:lnTo>
                    <a:pt x="1052" y="13"/>
                  </a:lnTo>
                  <a:lnTo>
                    <a:pt x="1054" y="18"/>
                  </a:lnTo>
                  <a:lnTo>
                    <a:pt x="1054" y="21"/>
                  </a:lnTo>
                  <a:lnTo>
                    <a:pt x="1054" y="26"/>
                  </a:lnTo>
                  <a:lnTo>
                    <a:pt x="1055" y="31"/>
                  </a:lnTo>
                  <a:lnTo>
                    <a:pt x="1055" y="35"/>
                  </a:lnTo>
                  <a:lnTo>
                    <a:pt x="1060" y="33"/>
                  </a:lnTo>
                  <a:close/>
                  <a:moveTo>
                    <a:pt x="0" y="164"/>
                  </a:moveTo>
                  <a:lnTo>
                    <a:pt x="0" y="167"/>
                  </a:lnTo>
                  <a:lnTo>
                    <a:pt x="0" y="172"/>
                  </a:lnTo>
                  <a:lnTo>
                    <a:pt x="2" y="177"/>
                  </a:lnTo>
                  <a:lnTo>
                    <a:pt x="2" y="180"/>
                  </a:lnTo>
                  <a:lnTo>
                    <a:pt x="4" y="185"/>
                  </a:lnTo>
                  <a:lnTo>
                    <a:pt x="4" y="190"/>
                  </a:lnTo>
                  <a:lnTo>
                    <a:pt x="5" y="194"/>
                  </a:lnTo>
                  <a:lnTo>
                    <a:pt x="5" y="199"/>
                  </a:lnTo>
                  <a:lnTo>
                    <a:pt x="10" y="199"/>
                  </a:lnTo>
                  <a:lnTo>
                    <a:pt x="9" y="194"/>
                  </a:lnTo>
                  <a:lnTo>
                    <a:pt x="9" y="189"/>
                  </a:lnTo>
                  <a:lnTo>
                    <a:pt x="7" y="185"/>
                  </a:lnTo>
                  <a:lnTo>
                    <a:pt x="7" y="180"/>
                  </a:lnTo>
                  <a:lnTo>
                    <a:pt x="7" y="175"/>
                  </a:lnTo>
                  <a:lnTo>
                    <a:pt x="5" y="170"/>
                  </a:lnTo>
                  <a:lnTo>
                    <a:pt x="5" y="165"/>
                  </a:lnTo>
                  <a:lnTo>
                    <a:pt x="4" y="160"/>
                  </a:lnTo>
                  <a:lnTo>
                    <a:pt x="0" y="164"/>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19" name="Freeform 59">
              <a:extLst>
                <a:ext uri="{FF2B5EF4-FFF2-40B4-BE49-F238E27FC236}">
                  <a16:creationId xmlns:a16="http://schemas.microsoft.com/office/drawing/2014/main" id="{134932D4-36AE-9851-2015-3FA73A78DC61}"/>
                </a:ext>
              </a:extLst>
            </p:cNvPr>
            <p:cNvSpPr>
              <a:spLocks noEditPoints="1"/>
            </p:cNvSpPr>
            <p:nvPr/>
          </p:nvSpPr>
          <p:spPr bwMode="auto">
            <a:xfrm>
              <a:off x="1308" y="1514"/>
              <a:ext cx="1055" cy="199"/>
            </a:xfrm>
            <a:custGeom>
              <a:avLst/>
              <a:gdLst>
                <a:gd name="T0" fmla="*/ 1055 w 1055"/>
                <a:gd name="T1" fmla="*/ 35 h 199"/>
                <a:gd name="T2" fmla="*/ 1055 w 1055"/>
                <a:gd name="T3" fmla="*/ 30 h 199"/>
                <a:gd name="T4" fmla="*/ 1055 w 1055"/>
                <a:gd name="T5" fmla="*/ 25 h 199"/>
                <a:gd name="T6" fmla="*/ 1053 w 1055"/>
                <a:gd name="T7" fmla="*/ 21 h 199"/>
                <a:gd name="T8" fmla="*/ 1053 w 1055"/>
                <a:gd name="T9" fmla="*/ 16 h 199"/>
                <a:gd name="T10" fmla="*/ 1053 w 1055"/>
                <a:gd name="T11" fmla="*/ 13 h 199"/>
                <a:gd name="T12" fmla="*/ 1052 w 1055"/>
                <a:gd name="T13" fmla="*/ 8 h 199"/>
                <a:gd name="T14" fmla="*/ 1052 w 1055"/>
                <a:gd name="T15" fmla="*/ 3 h 199"/>
                <a:gd name="T16" fmla="*/ 1050 w 1055"/>
                <a:gd name="T17" fmla="*/ 0 h 199"/>
                <a:gd name="T18" fmla="*/ 1045 w 1055"/>
                <a:gd name="T19" fmla="*/ 0 h 199"/>
                <a:gd name="T20" fmla="*/ 1047 w 1055"/>
                <a:gd name="T21" fmla="*/ 5 h 199"/>
                <a:gd name="T22" fmla="*/ 1047 w 1055"/>
                <a:gd name="T23" fmla="*/ 8 h 199"/>
                <a:gd name="T24" fmla="*/ 1048 w 1055"/>
                <a:gd name="T25" fmla="*/ 13 h 199"/>
                <a:gd name="T26" fmla="*/ 1048 w 1055"/>
                <a:gd name="T27" fmla="*/ 18 h 199"/>
                <a:gd name="T28" fmla="*/ 1050 w 1055"/>
                <a:gd name="T29" fmla="*/ 23 h 199"/>
                <a:gd name="T30" fmla="*/ 1050 w 1055"/>
                <a:gd name="T31" fmla="*/ 26 h 199"/>
                <a:gd name="T32" fmla="*/ 1050 w 1055"/>
                <a:gd name="T33" fmla="*/ 31 h 199"/>
                <a:gd name="T34" fmla="*/ 1052 w 1055"/>
                <a:gd name="T35" fmla="*/ 36 h 199"/>
                <a:gd name="T36" fmla="*/ 1055 w 1055"/>
                <a:gd name="T37" fmla="*/ 35 h 199"/>
                <a:gd name="T38" fmla="*/ 0 w 1055"/>
                <a:gd name="T39" fmla="*/ 162 h 199"/>
                <a:gd name="T40" fmla="*/ 0 w 1055"/>
                <a:gd name="T41" fmla="*/ 167 h 199"/>
                <a:gd name="T42" fmla="*/ 2 w 1055"/>
                <a:gd name="T43" fmla="*/ 172 h 199"/>
                <a:gd name="T44" fmla="*/ 2 w 1055"/>
                <a:gd name="T45" fmla="*/ 175 h 199"/>
                <a:gd name="T46" fmla="*/ 3 w 1055"/>
                <a:gd name="T47" fmla="*/ 180 h 199"/>
                <a:gd name="T48" fmla="*/ 3 w 1055"/>
                <a:gd name="T49" fmla="*/ 185 h 199"/>
                <a:gd name="T50" fmla="*/ 3 w 1055"/>
                <a:gd name="T51" fmla="*/ 189 h 199"/>
                <a:gd name="T52" fmla="*/ 5 w 1055"/>
                <a:gd name="T53" fmla="*/ 194 h 199"/>
                <a:gd name="T54" fmla="*/ 5 w 1055"/>
                <a:gd name="T55" fmla="*/ 199 h 199"/>
                <a:gd name="T56" fmla="*/ 10 w 1055"/>
                <a:gd name="T57" fmla="*/ 199 h 199"/>
                <a:gd name="T58" fmla="*/ 10 w 1055"/>
                <a:gd name="T59" fmla="*/ 194 h 199"/>
                <a:gd name="T60" fmla="*/ 8 w 1055"/>
                <a:gd name="T61" fmla="*/ 189 h 199"/>
                <a:gd name="T62" fmla="*/ 8 w 1055"/>
                <a:gd name="T63" fmla="*/ 184 h 199"/>
                <a:gd name="T64" fmla="*/ 7 w 1055"/>
                <a:gd name="T65" fmla="*/ 179 h 199"/>
                <a:gd name="T66" fmla="*/ 7 w 1055"/>
                <a:gd name="T67" fmla="*/ 174 h 199"/>
                <a:gd name="T68" fmla="*/ 7 w 1055"/>
                <a:gd name="T69" fmla="*/ 170 h 199"/>
                <a:gd name="T70" fmla="*/ 5 w 1055"/>
                <a:gd name="T71" fmla="*/ 165 h 199"/>
                <a:gd name="T72" fmla="*/ 5 w 1055"/>
                <a:gd name="T73" fmla="*/ 160 h 199"/>
                <a:gd name="T74" fmla="*/ 0 w 1055"/>
                <a:gd name="T75" fmla="*/ 16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55" h="199">
                  <a:moveTo>
                    <a:pt x="1055" y="35"/>
                  </a:moveTo>
                  <a:lnTo>
                    <a:pt x="1055" y="30"/>
                  </a:lnTo>
                  <a:lnTo>
                    <a:pt x="1055" y="25"/>
                  </a:lnTo>
                  <a:lnTo>
                    <a:pt x="1053" y="21"/>
                  </a:lnTo>
                  <a:lnTo>
                    <a:pt x="1053" y="16"/>
                  </a:lnTo>
                  <a:lnTo>
                    <a:pt x="1053" y="13"/>
                  </a:lnTo>
                  <a:lnTo>
                    <a:pt x="1052" y="8"/>
                  </a:lnTo>
                  <a:lnTo>
                    <a:pt x="1052" y="3"/>
                  </a:lnTo>
                  <a:lnTo>
                    <a:pt x="1050" y="0"/>
                  </a:lnTo>
                  <a:lnTo>
                    <a:pt x="1045" y="0"/>
                  </a:lnTo>
                  <a:lnTo>
                    <a:pt x="1047" y="5"/>
                  </a:lnTo>
                  <a:lnTo>
                    <a:pt x="1047" y="8"/>
                  </a:lnTo>
                  <a:lnTo>
                    <a:pt x="1048" y="13"/>
                  </a:lnTo>
                  <a:lnTo>
                    <a:pt x="1048" y="18"/>
                  </a:lnTo>
                  <a:lnTo>
                    <a:pt x="1050" y="23"/>
                  </a:lnTo>
                  <a:lnTo>
                    <a:pt x="1050" y="26"/>
                  </a:lnTo>
                  <a:lnTo>
                    <a:pt x="1050" y="31"/>
                  </a:lnTo>
                  <a:lnTo>
                    <a:pt x="1052" y="36"/>
                  </a:lnTo>
                  <a:lnTo>
                    <a:pt x="1055" y="35"/>
                  </a:lnTo>
                  <a:close/>
                  <a:moveTo>
                    <a:pt x="0" y="162"/>
                  </a:moveTo>
                  <a:lnTo>
                    <a:pt x="0" y="167"/>
                  </a:lnTo>
                  <a:lnTo>
                    <a:pt x="2" y="172"/>
                  </a:lnTo>
                  <a:lnTo>
                    <a:pt x="2" y="175"/>
                  </a:lnTo>
                  <a:lnTo>
                    <a:pt x="3" y="180"/>
                  </a:lnTo>
                  <a:lnTo>
                    <a:pt x="3" y="185"/>
                  </a:lnTo>
                  <a:lnTo>
                    <a:pt x="3" y="189"/>
                  </a:lnTo>
                  <a:lnTo>
                    <a:pt x="5" y="194"/>
                  </a:lnTo>
                  <a:lnTo>
                    <a:pt x="5" y="199"/>
                  </a:lnTo>
                  <a:lnTo>
                    <a:pt x="10" y="199"/>
                  </a:lnTo>
                  <a:lnTo>
                    <a:pt x="10" y="194"/>
                  </a:lnTo>
                  <a:lnTo>
                    <a:pt x="8" y="189"/>
                  </a:lnTo>
                  <a:lnTo>
                    <a:pt x="8" y="184"/>
                  </a:lnTo>
                  <a:lnTo>
                    <a:pt x="7" y="179"/>
                  </a:lnTo>
                  <a:lnTo>
                    <a:pt x="7" y="174"/>
                  </a:lnTo>
                  <a:lnTo>
                    <a:pt x="7" y="170"/>
                  </a:lnTo>
                  <a:lnTo>
                    <a:pt x="5" y="165"/>
                  </a:lnTo>
                  <a:lnTo>
                    <a:pt x="5" y="160"/>
                  </a:lnTo>
                  <a:lnTo>
                    <a:pt x="0" y="162"/>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20" name="Freeform 60">
              <a:extLst>
                <a:ext uri="{FF2B5EF4-FFF2-40B4-BE49-F238E27FC236}">
                  <a16:creationId xmlns:a16="http://schemas.microsoft.com/office/drawing/2014/main" id="{B6A6F75C-8A35-EE03-FE43-6DCC126A7EE2}"/>
                </a:ext>
              </a:extLst>
            </p:cNvPr>
            <p:cNvSpPr>
              <a:spLocks noEditPoints="1"/>
            </p:cNvSpPr>
            <p:nvPr/>
          </p:nvSpPr>
          <p:spPr bwMode="auto">
            <a:xfrm>
              <a:off x="1310" y="1514"/>
              <a:ext cx="1051" cy="199"/>
            </a:xfrm>
            <a:custGeom>
              <a:avLst/>
              <a:gdLst>
                <a:gd name="T0" fmla="*/ 1051 w 1051"/>
                <a:gd name="T1" fmla="*/ 35 h 199"/>
                <a:gd name="T2" fmla="*/ 1051 w 1051"/>
                <a:gd name="T3" fmla="*/ 31 h 199"/>
                <a:gd name="T4" fmla="*/ 1050 w 1051"/>
                <a:gd name="T5" fmla="*/ 26 h 199"/>
                <a:gd name="T6" fmla="*/ 1050 w 1051"/>
                <a:gd name="T7" fmla="*/ 21 h 199"/>
                <a:gd name="T8" fmla="*/ 1050 w 1051"/>
                <a:gd name="T9" fmla="*/ 18 h 199"/>
                <a:gd name="T10" fmla="*/ 1048 w 1051"/>
                <a:gd name="T11" fmla="*/ 13 h 199"/>
                <a:gd name="T12" fmla="*/ 1048 w 1051"/>
                <a:gd name="T13" fmla="*/ 8 h 199"/>
                <a:gd name="T14" fmla="*/ 1046 w 1051"/>
                <a:gd name="T15" fmla="*/ 5 h 199"/>
                <a:gd name="T16" fmla="*/ 1046 w 1051"/>
                <a:gd name="T17" fmla="*/ 0 h 199"/>
                <a:gd name="T18" fmla="*/ 1041 w 1051"/>
                <a:gd name="T19" fmla="*/ 0 h 199"/>
                <a:gd name="T20" fmla="*/ 1041 w 1051"/>
                <a:gd name="T21" fmla="*/ 5 h 199"/>
                <a:gd name="T22" fmla="*/ 1043 w 1051"/>
                <a:gd name="T23" fmla="*/ 8 h 199"/>
                <a:gd name="T24" fmla="*/ 1043 w 1051"/>
                <a:gd name="T25" fmla="*/ 13 h 199"/>
                <a:gd name="T26" fmla="*/ 1045 w 1051"/>
                <a:gd name="T27" fmla="*/ 18 h 199"/>
                <a:gd name="T28" fmla="*/ 1045 w 1051"/>
                <a:gd name="T29" fmla="*/ 23 h 199"/>
                <a:gd name="T30" fmla="*/ 1046 w 1051"/>
                <a:gd name="T31" fmla="*/ 28 h 199"/>
                <a:gd name="T32" fmla="*/ 1046 w 1051"/>
                <a:gd name="T33" fmla="*/ 33 h 199"/>
                <a:gd name="T34" fmla="*/ 1046 w 1051"/>
                <a:gd name="T35" fmla="*/ 38 h 199"/>
                <a:gd name="T36" fmla="*/ 1051 w 1051"/>
                <a:gd name="T37" fmla="*/ 35 h 199"/>
                <a:gd name="T38" fmla="*/ 0 w 1051"/>
                <a:gd name="T39" fmla="*/ 160 h 199"/>
                <a:gd name="T40" fmla="*/ 1 w 1051"/>
                <a:gd name="T41" fmla="*/ 165 h 199"/>
                <a:gd name="T42" fmla="*/ 1 w 1051"/>
                <a:gd name="T43" fmla="*/ 170 h 199"/>
                <a:gd name="T44" fmla="*/ 3 w 1051"/>
                <a:gd name="T45" fmla="*/ 175 h 199"/>
                <a:gd name="T46" fmla="*/ 3 w 1051"/>
                <a:gd name="T47" fmla="*/ 180 h 199"/>
                <a:gd name="T48" fmla="*/ 3 w 1051"/>
                <a:gd name="T49" fmla="*/ 185 h 199"/>
                <a:gd name="T50" fmla="*/ 5 w 1051"/>
                <a:gd name="T51" fmla="*/ 189 h 199"/>
                <a:gd name="T52" fmla="*/ 5 w 1051"/>
                <a:gd name="T53" fmla="*/ 194 h 199"/>
                <a:gd name="T54" fmla="*/ 6 w 1051"/>
                <a:gd name="T55" fmla="*/ 199 h 199"/>
                <a:gd name="T56" fmla="*/ 11 w 1051"/>
                <a:gd name="T57" fmla="*/ 199 h 199"/>
                <a:gd name="T58" fmla="*/ 10 w 1051"/>
                <a:gd name="T59" fmla="*/ 194 h 199"/>
                <a:gd name="T60" fmla="*/ 10 w 1051"/>
                <a:gd name="T61" fmla="*/ 189 h 199"/>
                <a:gd name="T62" fmla="*/ 8 w 1051"/>
                <a:gd name="T63" fmla="*/ 184 h 199"/>
                <a:gd name="T64" fmla="*/ 8 w 1051"/>
                <a:gd name="T65" fmla="*/ 179 h 199"/>
                <a:gd name="T66" fmla="*/ 6 w 1051"/>
                <a:gd name="T67" fmla="*/ 174 h 199"/>
                <a:gd name="T68" fmla="*/ 6 w 1051"/>
                <a:gd name="T69" fmla="*/ 169 h 199"/>
                <a:gd name="T70" fmla="*/ 6 w 1051"/>
                <a:gd name="T71" fmla="*/ 164 h 199"/>
                <a:gd name="T72" fmla="*/ 5 w 1051"/>
                <a:gd name="T73" fmla="*/ 159 h 199"/>
                <a:gd name="T74" fmla="*/ 0 w 1051"/>
                <a:gd name="T75" fmla="*/ 16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51" h="199">
                  <a:moveTo>
                    <a:pt x="1051" y="35"/>
                  </a:moveTo>
                  <a:lnTo>
                    <a:pt x="1051" y="31"/>
                  </a:lnTo>
                  <a:lnTo>
                    <a:pt x="1050" y="26"/>
                  </a:lnTo>
                  <a:lnTo>
                    <a:pt x="1050" y="21"/>
                  </a:lnTo>
                  <a:lnTo>
                    <a:pt x="1050" y="18"/>
                  </a:lnTo>
                  <a:lnTo>
                    <a:pt x="1048" y="13"/>
                  </a:lnTo>
                  <a:lnTo>
                    <a:pt x="1048" y="8"/>
                  </a:lnTo>
                  <a:lnTo>
                    <a:pt x="1046" y="5"/>
                  </a:lnTo>
                  <a:lnTo>
                    <a:pt x="1046" y="0"/>
                  </a:lnTo>
                  <a:lnTo>
                    <a:pt x="1041" y="0"/>
                  </a:lnTo>
                  <a:lnTo>
                    <a:pt x="1041" y="5"/>
                  </a:lnTo>
                  <a:lnTo>
                    <a:pt x="1043" y="8"/>
                  </a:lnTo>
                  <a:lnTo>
                    <a:pt x="1043" y="13"/>
                  </a:lnTo>
                  <a:lnTo>
                    <a:pt x="1045" y="18"/>
                  </a:lnTo>
                  <a:lnTo>
                    <a:pt x="1045" y="23"/>
                  </a:lnTo>
                  <a:lnTo>
                    <a:pt x="1046" y="28"/>
                  </a:lnTo>
                  <a:lnTo>
                    <a:pt x="1046" y="33"/>
                  </a:lnTo>
                  <a:lnTo>
                    <a:pt x="1046" y="38"/>
                  </a:lnTo>
                  <a:lnTo>
                    <a:pt x="1051" y="35"/>
                  </a:lnTo>
                  <a:close/>
                  <a:moveTo>
                    <a:pt x="0" y="160"/>
                  </a:moveTo>
                  <a:lnTo>
                    <a:pt x="1" y="165"/>
                  </a:lnTo>
                  <a:lnTo>
                    <a:pt x="1" y="170"/>
                  </a:lnTo>
                  <a:lnTo>
                    <a:pt x="3" y="175"/>
                  </a:lnTo>
                  <a:lnTo>
                    <a:pt x="3" y="180"/>
                  </a:lnTo>
                  <a:lnTo>
                    <a:pt x="3" y="185"/>
                  </a:lnTo>
                  <a:lnTo>
                    <a:pt x="5" y="189"/>
                  </a:lnTo>
                  <a:lnTo>
                    <a:pt x="5" y="194"/>
                  </a:lnTo>
                  <a:lnTo>
                    <a:pt x="6" y="199"/>
                  </a:lnTo>
                  <a:lnTo>
                    <a:pt x="11" y="199"/>
                  </a:lnTo>
                  <a:lnTo>
                    <a:pt x="10" y="194"/>
                  </a:lnTo>
                  <a:lnTo>
                    <a:pt x="10" y="189"/>
                  </a:lnTo>
                  <a:lnTo>
                    <a:pt x="8" y="184"/>
                  </a:lnTo>
                  <a:lnTo>
                    <a:pt x="8" y="179"/>
                  </a:lnTo>
                  <a:lnTo>
                    <a:pt x="6" y="174"/>
                  </a:lnTo>
                  <a:lnTo>
                    <a:pt x="6" y="169"/>
                  </a:lnTo>
                  <a:lnTo>
                    <a:pt x="6" y="164"/>
                  </a:lnTo>
                  <a:lnTo>
                    <a:pt x="5" y="159"/>
                  </a:lnTo>
                  <a:lnTo>
                    <a:pt x="0" y="16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21" name="Freeform 61">
              <a:extLst>
                <a:ext uri="{FF2B5EF4-FFF2-40B4-BE49-F238E27FC236}">
                  <a16:creationId xmlns:a16="http://schemas.microsoft.com/office/drawing/2014/main" id="{B5A90ADE-C3D8-E24A-5DFB-7E26D7248318}"/>
                </a:ext>
              </a:extLst>
            </p:cNvPr>
            <p:cNvSpPr>
              <a:spLocks noEditPoints="1"/>
            </p:cNvSpPr>
            <p:nvPr/>
          </p:nvSpPr>
          <p:spPr bwMode="auto">
            <a:xfrm>
              <a:off x="1313" y="1514"/>
              <a:ext cx="1047" cy="199"/>
            </a:xfrm>
            <a:custGeom>
              <a:avLst/>
              <a:gdLst>
                <a:gd name="T0" fmla="*/ 1047 w 1047"/>
                <a:gd name="T1" fmla="*/ 36 h 199"/>
                <a:gd name="T2" fmla="*/ 1045 w 1047"/>
                <a:gd name="T3" fmla="*/ 31 h 199"/>
                <a:gd name="T4" fmla="*/ 1045 w 1047"/>
                <a:gd name="T5" fmla="*/ 26 h 199"/>
                <a:gd name="T6" fmla="*/ 1045 w 1047"/>
                <a:gd name="T7" fmla="*/ 23 h 199"/>
                <a:gd name="T8" fmla="*/ 1043 w 1047"/>
                <a:gd name="T9" fmla="*/ 18 h 199"/>
                <a:gd name="T10" fmla="*/ 1043 w 1047"/>
                <a:gd name="T11" fmla="*/ 13 h 199"/>
                <a:gd name="T12" fmla="*/ 1042 w 1047"/>
                <a:gd name="T13" fmla="*/ 8 h 199"/>
                <a:gd name="T14" fmla="*/ 1042 w 1047"/>
                <a:gd name="T15" fmla="*/ 5 h 199"/>
                <a:gd name="T16" fmla="*/ 1040 w 1047"/>
                <a:gd name="T17" fmla="*/ 0 h 199"/>
                <a:gd name="T18" fmla="*/ 1035 w 1047"/>
                <a:gd name="T19" fmla="*/ 0 h 199"/>
                <a:gd name="T20" fmla="*/ 1037 w 1047"/>
                <a:gd name="T21" fmla="*/ 5 h 199"/>
                <a:gd name="T22" fmla="*/ 1037 w 1047"/>
                <a:gd name="T23" fmla="*/ 10 h 199"/>
                <a:gd name="T24" fmla="*/ 1038 w 1047"/>
                <a:gd name="T25" fmla="*/ 15 h 199"/>
                <a:gd name="T26" fmla="*/ 1038 w 1047"/>
                <a:gd name="T27" fmla="*/ 18 h 199"/>
                <a:gd name="T28" fmla="*/ 1040 w 1047"/>
                <a:gd name="T29" fmla="*/ 23 h 199"/>
                <a:gd name="T30" fmla="*/ 1040 w 1047"/>
                <a:gd name="T31" fmla="*/ 28 h 199"/>
                <a:gd name="T32" fmla="*/ 1042 w 1047"/>
                <a:gd name="T33" fmla="*/ 33 h 199"/>
                <a:gd name="T34" fmla="*/ 1042 w 1047"/>
                <a:gd name="T35" fmla="*/ 38 h 199"/>
                <a:gd name="T36" fmla="*/ 1047 w 1047"/>
                <a:gd name="T37" fmla="*/ 36 h 199"/>
                <a:gd name="T38" fmla="*/ 0 w 1047"/>
                <a:gd name="T39" fmla="*/ 160 h 199"/>
                <a:gd name="T40" fmla="*/ 0 w 1047"/>
                <a:gd name="T41" fmla="*/ 165 h 199"/>
                <a:gd name="T42" fmla="*/ 2 w 1047"/>
                <a:gd name="T43" fmla="*/ 170 h 199"/>
                <a:gd name="T44" fmla="*/ 2 w 1047"/>
                <a:gd name="T45" fmla="*/ 174 h 199"/>
                <a:gd name="T46" fmla="*/ 2 w 1047"/>
                <a:gd name="T47" fmla="*/ 179 h 199"/>
                <a:gd name="T48" fmla="*/ 3 w 1047"/>
                <a:gd name="T49" fmla="*/ 184 h 199"/>
                <a:gd name="T50" fmla="*/ 3 w 1047"/>
                <a:gd name="T51" fmla="*/ 189 h 199"/>
                <a:gd name="T52" fmla="*/ 5 w 1047"/>
                <a:gd name="T53" fmla="*/ 194 h 199"/>
                <a:gd name="T54" fmla="*/ 5 w 1047"/>
                <a:gd name="T55" fmla="*/ 199 h 199"/>
                <a:gd name="T56" fmla="*/ 10 w 1047"/>
                <a:gd name="T57" fmla="*/ 199 h 199"/>
                <a:gd name="T58" fmla="*/ 10 w 1047"/>
                <a:gd name="T59" fmla="*/ 194 h 199"/>
                <a:gd name="T60" fmla="*/ 8 w 1047"/>
                <a:gd name="T61" fmla="*/ 189 h 199"/>
                <a:gd name="T62" fmla="*/ 8 w 1047"/>
                <a:gd name="T63" fmla="*/ 184 h 199"/>
                <a:gd name="T64" fmla="*/ 7 w 1047"/>
                <a:gd name="T65" fmla="*/ 179 h 199"/>
                <a:gd name="T66" fmla="*/ 7 w 1047"/>
                <a:gd name="T67" fmla="*/ 174 h 199"/>
                <a:gd name="T68" fmla="*/ 5 w 1047"/>
                <a:gd name="T69" fmla="*/ 169 h 199"/>
                <a:gd name="T70" fmla="*/ 5 w 1047"/>
                <a:gd name="T71" fmla="*/ 164 h 199"/>
                <a:gd name="T72" fmla="*/ 5 w 1047"/>
                <a:gd name="T73" fmla="*/ 157 h 199"/>
                <a:gd name="T74" fmla="*/ 0 w 1047"/>
                <a:gd name="T75" fmla="*/ 16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47" h="199">
                  <a:moveTo>
                    <a:pt x="1047" y="36"/>
                  </a:moveTo>
                  <a:lnTo>
                    <a:pt x="1045" y="31"/>
                  </a:lnTo>
                  <a:lnTo>
                    <a:pt x="1045" y="26"/>
                  </a:lnTo>
                  <a:lnTo>
                    <a:pt x="1045" y="23"/>
                  </a:lnTo>
                  <a:lnTo>
                    <a:pt x="1043" y="18"/>
                  </a:lnTo>
                  <a:lnTo>
                    <a:pt x="1043" y="13"/>
                  </a:lnTo>
                  <a:lnTo>
                    <a:pt x="1042" y="8"/>
                  </a:lnTo>
                  <a:lnTo>
                    <a:pt x="1042" y="5"/>
                  </a:lnTo>
                  <a:lnTo>
                    <a:pt x="1040" y="0"/>
                  </a:lnTo>
                  <a:lnTo>
                    <a:pt x="1035" y="0"/>
                  </a:lnTo>
                  <a:lnTo>
                    <a:pt x="1037" y="5"/>
                  </a:lnTo>
                  <a:lnTo>
                    <a:pt x="1037" y="10"/>
                  </a:lnTo>
                  <a:lnTo>
                    <a:pt x="1038" y="15"/>
                  </a:lnTo>
                  <a:lnTo>
                    <a:pt x="1038" y="18"/>
                  </a:lnTo>
                  <a:lnTo>
                    <a:pt x="1040" y="23"/>
                  </a:lnTo>
                  <a:lnTo>
                    <a:pt x="1040" y="28"/>
                  </a:lnTo>
                  <a:lnTo>
                    <a:pt x="1042" y="33"/>
                  </a:lnTo>
                  <a:lnTo>
                    <a:pt x="1042" y="38"/>
                  </a:lnTo>
                  <a:lnTo>
                    <a:pt x="1047" y="36"/>
                  </a:lnTo>
                  <a:close/>
                  <a:moveTo>
                    <a:pt x="0" y="160"/>
                  </a:moveTo>
                  <a:lnTo>
                    <a:pt x="0" y="165"/>
                  </a:lnTo>
                  <a:lnTo>
                    <a:pt x="2" y="170"/>
                  </a:lnTo>
                  <a:lnTo>
                    <a:pt x="2" y="174"/>
                  </a:lnTo>
                  <a:lnTo>
                    <a:pt x="2" y="179"/>
                  </a:lnTo>
                  <a:lnTo>
                    <a:pt x="3" y="184"/>
                  </a:lnTo>
                  <a:lnTo>
                    <a:pt x="3" y="189"/>
                  </a:lnTo>
                  <a:lnTo>
                    <a:pt x="5" y="194"/>
                  </a:lnTo>
                  <a:lnTo>
                    <a:pt x="5" y="199"/>
                  </a:lnTo>
                  <a:lnTo>
                    <a:pt x="10" y="199"/>
                  </a:lnTo>
                  <a:lnTo>
                    <a:pt x="10" y="194"/>
                  </a:lnTo>
                  <a:lnTo>
                    <a:pt x="8" y="189"/>
                  </a:lnTo>
                  <a:lnTo>
                    <a:pt x="8" y="184"/>
                  </a:lnTo>
                  <a:lnTo>
                    <a:pt x="7" y="179"/>
                  </a:lnTo>
                  <a:lnTo>
                    <a:pt x="7" y="174"/>
                  </a:lnTo>
                  <a:lnTo>
                    <a:pt x="5" y="169"/>
                  </a:lnTo>
                  <a:lnTo>
                    <a:pt x="5" y="164"/>
                  </a:lnTo>
                  <a:lnTo>
                    <a:pt x="5" y="157"/>
                  </a:lnTo>
                  <a:lnTo>
                    <a:pt x="0" y="16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22" name="Freeform 62">
              <a:extLst>
                <a:ext uri="{FF2B5EF4-FFF2-40B4-BE49-F238E27FC236}">
                  <a16:creationId xmlns:a16="http://schemas.microsoft.com/office/drawing/2014/main" id="{943F8BC5-210C-DAE3-B5C6-57C096C8E3F4}"/>
                </a:ext>
              </a:extLst>
            </p:cNvPr>
            <p:cNvSpPr>
              <a:spLocks noEditPoints="1"/>
            </p:cNvSpPr>
            <p:nvPr/>
          </p:nvSpPr>
          <p:spPr bwMode="auto">
            <a:xfrm>
              <a:off x="1315" y="1514"/>
              <a:ext cx="1041" cy="199"/>
            </a:xfrm>
            <a:custGeom>
              <a:avLst/>
              <a:gdLst>
                <a:gd name="T0" fmla="*/ 1041 w 1041"/>
                <a:gd name="T1" fmla="*/ 38 h 199"/>
                <a:gd name="T2" fmla="*/ 1041 w 1041"/>
                <a:gd name="T3" fmla="*/ 33 h 199"/>
                <a:gd name="T4" fmla="*/ 1041 w 1041"/>
                <a:gd name="T5" fmla="*/ 28 h 199"/>
                <a:gd name="T6" fmla="*/ 1040 w 1041"/>
                <a:gd name="T7" fmla="*/ 23 h 199"/>
                <a:gd name="T8" fmla="*/ 1040 w 1041"/>
                <a:gd name="T9" fmla="*/ 18 h 199"/>
                <a:gd name="T10" fmla="*/ 1038 w 1041"/>
                <a:gd name="T11" fmla="*/ 13 h 199"/>
                <a:gd name="T12" fmla="*/ 1038 w 1041"/>
                <a:gd name="T13" fmla="*/ 8 h 199"/>
                <a:gd name="T14" fmla="*/ 1036 w 1041"/>
                <a:gd name="T15" fmla="*/ 5 h 199"/>
                <a:gd name="T16" fmla="*/ 1036 w 1041"/>
                <a:gd name="T17" fmla="*/ 0 h 199"/>
                <a:gd name="T18" fmla="*/ 1031 w 1041"/>
                <a:gd name="T19" fmla="*/ 0 h 199"/>
                <a:gd name="T20" fmla="*/ 1031 w 1041"/>
                <a:gd name="T21" fmla="*/ 5 h 199"/>
                <a:gd name="T22" fmla="*/ 1033 w 1041"/>
                <a:gd name="T23" fmla="*/ 10 h 199"/>
                <a:gd name="T24" fmla="*/ 1033 w 1041"/>
                <a:gd name="T25" fmla="*/ 15 h 199"/>
                <a:gd name="T26" fmla="*/ 1035 w 1041"/>
                <a:gd name="T27" fmla="*/ 20 h 199"/>
                <a:gd name="T28" fmla="*/ 1035 w 1041"/>
                <a:gd name="T29" fmla="*/ 25 h 199"/>
                <a:gd name="T30" fmla="*/ 1036 w 1041"/>
                <a:gd name="T31" fmla="*/ 30 h 199"/>
                <a:gd name="T32" fmla="*/ 1036 w 1041"/>
                <a:gd name="T33" fmla="*/ 35 h 199"/>
                <a:gd name="T34" fmla="*/ 1038 w 1041"/>
                <a:gd name="T35" fmla="*/ 40 h 199"/>
                <a:gd name="T36" fmla="*/ 1041 w 1041"/>
                <a:gd name="T37" fmla="*/ 38 h 199"/>
                <a:gd name="T38" fmla="*/ 0 w 1041"/>
                <a:gd name="T39" fmla="*/ 159 h 199"/>
                <a:gd name="T40" fmla="*/ 1 w 1041"/>
                <a:gd name="T41" fmla="*/ 164 h 199"/>
                <a:gd name="T42" fmla="*/ 1 w 1041"/>
                <a:gd name="T43" fmla="*/ 169 h 199"/>
                <a:gd name="T44" fmla="*/ 1 w 1041"/>
                <a:gd name="T45" fmla="*/ 174 h 199"/>
                <a:gd name="T46" fmla="*/ 3 w 1041"/>
                <a:gd name="T47" fmla="*/ 179 h 199"/>
                <a:gd name="T48" fmla="*/ 3 w 1041"/>
                <a:gd name="T49" fmla="*/ 184 h 199"/>
                <a:gd name="T50" fmla="*/ 5 w 1041"/>
                <a:gd name="T51" fmla="*/ 189 h 199"/>
                <a:gd name="T52" fmla="*/ 5 w 1041"/>
                <a:gd name="T53" fmla="*/ 194 h 199"/>
                <a:gd name="T54" fmla="*/ 6 w 1041"/>
                <a:gd name="T55" fmla="*/ 199 h 199"/>
                <a:gd name="T56" fmla="*/ 11 w 1041"/>
                <a:gd name="T57" fmla="*/ 199 h 199"/>
                <a:gd name="T58" fmla="*/ 10 w 1041"/>
                <a:gd name="T59" fmla="*/ 194 h 199"/>
                <a:gd name="T60" fmla="*/ 10 w 1041"/>
                <a:gd name="T61" fmla="*/ 189 h 199"/>
                <a:gd name="T62" fmla="*/ 8 w 1041"/>
                <a:gd name="T63" fmla="*/ 184 h 199"/>
                <a:gd name="T64" fmla="*/ 8 w 1041"/>
                <a:gd name="T65" fmla="*/ 177 h 199"/>
                <a:gd name="T66" fmla="*/ 6 w 1041"/>
                <a:gd name="T67" fmla="*/ 172 h 199"/>
                <a:gd name="T68" fmla="*/ 6 w 1041"/>
                <a:gd name="T69" fmla="*/ 167 h 199"/>
                <a:gd name="T70" fmla="*/ 5 w 1041"/>
                <a:gd name="T71" fmla="*/ 162 h 199"/>
                <a:gd name="T72" fmla="*/ 5 w 1041"/>
                <a:gd name="T73" fmla="*/ 157 h 199"/>
                <a:gd name="T74" fmla="*/ 0 w 1041"/>
                <a:gd name="T75" fmla="*/ 15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41" h="199">
                  <a:moveTo>
                    <a:pt x="1041" y="38"/>
                  </a:moveTo>
                  <a:lnTo>
                    <a:pt x="1041" y="33"/>
                  </a:lnTo>
                  <a:lnTo>
                    <a:pt x="1041" y="28"/>
                  </a:lnTo>
                  <a:lnTo>
                    <a:pt x="1040" y="23"/>
                  </a:lnTo>
                  <a:lnTo>
                    <a:pt x="1040" y="18"/>
                  </a:lnTo>
                  <a:lnTo>
                    <a:pt x="1038" y="13"/>
                  </a:lnTo>
                  <a:lnTo>
                    <a:pt x="1038" y="8"/>
                  </a:lnTo>
                  <a:lnTo>
                    <a:pt x="1036" y="5"/>
                  </a:lnTo>
                  <a:lnTo>
                    <a:pt x="1036" y="0"/>
                  </a:lnTo>
                  <a:lnTo>
                    <a:pt x="1031" y="0"/>
                  </a:lnTo>
                  <a:lnTo>
                    <a:pt x="1031" y="5"/>
                  </a:lnTo>
                  <a:lnTo>
                    <a:pt x="1033" y="10"/>
                  </a:lnTo>
                  <a:lnTo>
                    <a:pt x="1033" y="15"/>
                  </a:lnTo>
                  <a:lnTo>
                    <a:pt x="1035" y="20"/>
                  </a:lnTo>
                  <a:lnTo>
                    <a:pt x="1035" y="25"/>
                  </a:lnTo>
                  <a:lnTo>
                    <a:pt x="1036" y="30"/>
                  </a:lnTo>
                  <a:lnTo>
                    <a:pt x="1036" y="35"/>
                  </a:lnTo>
                  <a:lnTo>
                    <a:pt x="1038" y="40"/>
                  </a:lnTo>
                  <a:lnTo>
                    <a:pt x="1041" y="38"/>
                  </a:lnTo>
                  <a:close/>
                  <a:moveTo>
                    <a:pt x="0" y="159"/>
                  </a:moveTo>
                  <a:lnTo>
                    <a:pt x="1" y="164"/>
                  </a:lnTo>
                  <a:lnTo>
                    <a:pt x="1" y="169"/>
                  </a:lnTo>
                  <a:lnTo>
                    <a:pt x="1" y="174"/>
                  </a:lnTo>
                  <a:lnTo>
                    <a:pt x="3" y="179"/>
                  </a:lnTo>
                  <a:lnTo>
                    <a:pt x="3" y="184"/>
                  </a:lnTo>
                  <a:lnTo>
                    <a:pt x="5" y="189"/>
                  </a:lnTo>
                  <a:lnTo>
                    <a:pt x="5" y="194"/>
                  </a:lnTo>
                  <a:lnTo>
                    <a:pt x="6" y="199"/>
                  </a:lnTo>
                  <a:lnTo>
                    <a:pt x="11" y="199"/>
                  </a:lnTo>
                  <a:lnTo>
                    <a:pt x="10" y="194"/>
                  </a:lnTo>
                  <a:lnTo>
                    <a:pt x="10" y="189"/>
                  </a:lnTo>
                  <a:lnTo>
                    <a:pt x="8" y="184"/>
                  </a:lnTo>
                  <a:lnTo>
                    <a:pt x="8" y="177"/>
                  </a:lnTo>
                  <a:lnTo>
                    <a:pt x="6" y="172"/>
                  </a:lnTo>
                  <a:lnTo>
                    <a:pt x="6" y="167"/>
                  </a:lnTo>
                  <a:lnTo>
                    <a:pt x="5" y="162"/>
                  </a:lnTo>
                  <a:lnTo>
                    <a:pt x="5" y="157"/>
                  </a:lnTo>
                  <a:lnTo>
                    <a:pt x="0" y="159"/>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23" name="Freeform 63">
              <a:extLst>
                <a:ext uri="{FF2B5EF4-FFF2-40B4-BE49-F238E27FC236}">
                  <a16:creationId xmlns:a16="http://schemas.microsoft.com/office/drawing/2014/main" id="{662A1FF6-29EE-2127-4552-350D7EDF18CA}"/>
                </a:ext>
              </a:extLst>
            </p:cNvPr>
            <p:cNvSpPr>
              <a:spLocks noEditPoints="1"/>
            </p:cNvSpPr>
            <p:nvPr/>
          </p:nvSpPr>
          <p:spPr bwMode="auto">
            <a:xfrm>
              <a:off x="1318" y="1514"/>
              <a:ext cx="1037" cy="199"/>
            </a:xfrm>
            <a:custGeom>
              <a:avLst/>
              <a:gdLst>
                <a:gd name="T0" fmla="*/ 1037 w 1037"/>
                <a:gd name="T1" fmla="*/ 38 h 199"/>
                <a:gd name="T2" fmla="*/ 1037 w 1037"/>
                <a:gd name="T3" fmla="*/ 33 h 199"/>
                <a:gd name="T4" fmla="*/ 1035 w 1037"/>
                <a:gd name="T5" fmla="*/ 28 h 199"/>
                <a:gd name="T6" fmla="*/ 1035 w 1037"/>
                <a:gd name="T7" fmla="*/ 23 h 199"/>
                <a:gd name="T8" fmla="*/ 1033 w 1037"/>
                <a:gd name="T9" fmla="*/ 18 h 199"/>
                <a:gd name="T10" fmla="*/ 1033 w 1037"/>
                <a:gd name="T11" fmla="*/ 15 h 199"/>
                <a:gd name="T12" fmla="*/ 1032 w 1037"/>
                <a:gd name="T13" fmla="*/ 10 h 199"/>
                <a:gd name="T14" fmla="*/ 1032 w 1037"/>
                <a:gd name="T15" fmla="*/ 5 h 199"/>
                <a:gd name="T16" fmla="*/ 1030 w 1037"/>
                <a:gd name="T17" fmla="*/ 0 h 199"/>
                <a:gd name="T18" fmla="*/ 1025 w 1037"/>
                <a:gd name="T19" fmla="*/ 0 h 199"/>
                <a:gd name="T20" fmla="*/ 1027 w 1037"/>
                <a:gd name="T21" fmla="*/ 5 h 199"/>
                <a:gd name="T22" fmla="*/ 1028 w 1037"/>
                <a:gd name="T23" fmla="*/ 10 h 199"/>
                <a:gd name="T24" fmla="*/ 1028 w 1037"/>
                <a:gd name="T25" fmla="*/ 15 h 199"/>
                <a:gd name="T26" fmla="*/ 1030 w 1037"/>
                <a:gd name="T27" fmla="*/ 20 h 199"/>
                <a:gd name="T28" fmla="*/ 1030 w 1037"/>
                <a:gd name="T29" fmla="*/ 25 h 199"/>
                <a:gd name="T30" fmla="*/ 1030 w 1037"/>
                <a:gd name="T31" fmla="*/ 30 h 199"/>
                <a:gd name="T32" fmla="*/ 1032 w 1037"/>
                <a:gd name="T33" fmla="*/ 35 h 199"/>
                <a:gd name="T34" fmla="*/ 1032 w 1037"/>
                <a:gd name="T35" fmla="*/ 40 h 199"/>
                <a:gd name="T36" fmla="*/ 1037 w 1037"/>
                <a:gd name="T37" fmla="*/ 38 h 199"/>
                <a:gd name="T38" fmla="*/ 0 w 1037"/>
                <a:gd name="T39" fmla="*/ 157 h 199"/>
                <a:gd name="T40" fmla="*/ 0 w 1037"/>
                <a:gd name="T41" fmla="*/ 164 h 199"/>
                <a:gd name="T42" fmla="*/ 0 w 1037"/>
                <a:gd name="T43" fmla="*/ 169 h 199"/>
                <a:gd name="T44" fmla="*/ 2 w 1037"/>
                <a:gd name="T45" fmla="*/ 174 h 199"/>
                <a:gd name="T46" fmla="*/ 2 w 1037"/>
                <a:gd name="T47" fmla="*/ 179 h 199"/>
                <a:gd name="T48" fmla="*/ 3 w 1037"/>
                <a:gd name="T49" fmla="*/ 184 h 199"/>
                <a:gd name="T50" fmla="*/ 3 w 1037"/>
                <a:gd name="T51" fmla="*/ 189 h 199"/>
                <a:gd name="T52" fmla="*/ 5 w 1037"/>
                <a:gd name="T53" fmla="*/ 194 h 199"/>
                <a:gd name="T54" fmla="*/ 5 w 1037"/>
                <a:gd name="T55" fmla="*/ 199 h 199"/>
                <a:gd name="T56" fmla="*/ 10 w 1037"/>
                <a:gd name="T57" fmla="*/ 199 h 199"/>
                <a:gd name="T58" fmla="*/ 10 w 1037"/>
                <a:gd name="T59" fmla="*/ 194 h 199"/>
                <a:gd name="T60" fmla="*/ 8 w 1037"/>
                <a:gd name="T61" fmla="*/ 189 h 199"/>
                <a:gd name="T62" fmla="*/ 8 w 1037"/>
                <a:gd name="T63" fmla="*/ 182 h 199"/>
                <a:gd name="T64" fmla="*/ 7 w 1037"/>
                <a:gd name="T65" fmla="*/ 177 h 199"/>
                <a:gd name="T66" fmla="*/ 7 w 1037"/>
                <a:gd name="T67" fmla="*/ 172 h 199"/>
                <a:gd name="T68" fmla="*/ 5 w 1037"/>
                <a:gd name="T69" fmla="*/ 167 h 199"/>
                <a:gd name="T70" fmla="*/ 5 w 1037"/>
                <a:gd name="T71" fmla="*/ 160 h 199"/>
                <a:gd name="T72" fmla="*/ 3 w 1037"/>
                <a:gd name="T73" fmla="*/ 155 h 199"/>
                <a:gd name="T74" fmla="*/ 0 w 1037"/>
                <a:gd name="T75" fmla="*/ 15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37" h="199">
                  <a:moveTo>
                    <a:pt x="1037" y="38"/>
                  </a:moveTo>
                  <a:lnTo>
                    <a:pt x="1037" y="33"/>
                  </a:lnTo>
                  <a:lnTo>
                    <a:pt x="1035" y="28"/>
                  </a:lnTo>
                  <a:lnTo>
                    <a:pt x="1035" y="23"/>
                  </a:lnTo>
                  <a:lnTo>
                    <a:pt x="1033" y="18"/>
                  </a:lnTo>
                  <a:lnTo>
                    <a:pt x="1033" y="15"/>
                  </a:lnTo>
                  <a:lnTo>
                    <a:pt x="1032" y="10"/>
                  </a:lnTo>
                  <a:lnTo>
                    <a:pt x="1032" y="5"/>
                  </a:lnTo>
                  <a:lnTo>
                    <a:pt x="1030" y="0"/>
                  </a:lnTo>
                  <a:lnTo>
                    <a:pt x="1025" y="0"/>
                  </a:lnTo>
                  <a:lnTo>
                    <a:pt x="1027" y="5"/>
                  </a:lnTo>
                  <a:lnTo>
                    <a:pt x="1028" y="10"/>
                  </a:lnTo>
                  <a:lnTo>
                    <a:pt x="1028" y="15"/>
                  </a:lnTo>
                  <a:lnTo>
                    <a:pt x="1030" y="20"/>
                  </a:lnTo>
                  <a:lnTo>
                    <a:pt x="1030" y="25"/>
                  </a:lnTo>
                  <a:lnTo>
                    <a:pt x="1030" y="30"/>
                  </a:lnTo>
                  <a:lnTo>
                    <a:pt x="1032" y="35"/>
                  </a:lnTo>
                  <a:lnTo>
                    <a:pt x="1032" y="40"/>
                  </a:lnTo>
                  <a:lnTo>
                    <a:pt x="1037" y="38"/>
                  </a:lnTo>
                  <a:close/>
                  <a:moveTo>
                    <a:pt x="0" y="157"/>
                  </a:moveTo>
                  <a:lnTo>
                    <a:pt x="0" y="164"/>
                  </a:lnTo>
                  <a:lnTo>
                    <a:pt x="0" y="169"/>
                  </a:lnTo>
                  <a:lnTo>
                    <a:pt x="2" y="174"/>
                  </a:lnTo>
                  <a:lnTo>
                    <a:pt x="2" y="179"/>
                  </a:lnTo>
                  <a:lnTo>
                    <a:pt x="3" y="184"/>
                  </a:lnTo>
                  <a:lnTo>
                    <a:pt x="3" y="189"/>
                  </a:lnTo>
                  <a:lnTo>
                    <a:pt x="5" y="194"/>
                  </a:lnTo>
                  <a:lnTo>
                    <a:pt x="5" y="199"/>
                  </a:lnTo>
                  <a:lnTo>
                    <a:pt x="10" y="199"/>
                  </a:lnTo>
                  <a:lnTo>
                    <a:pt x="10" y="194"/>
                  </a:lnTo>
                  <a:lnTo>
                    <a:pt x="8" y="189"/>
                  </a:lnTo>
                  <a:lnTo>
                    <a:pt x="8" y="182"/>
                  </a:lnTo>
                  <a:lnTo>
                    <a:pt x="7" y="177"/>
                  </a:lnTo>
                  <a:lnTo>
                    <a:pt x="7" y="172"/>
                  </a:lnTo>
                  <a:lnTo>
                    <a:pt x="5" y="167"/>
                  </a:lnTo>
                  <a:lnTo>
                    <a:pt x="5" y="160"/>
                  </a:lnTo>
                  <a:lnTo>
                    <a:pt x="3" y="155"/>
                  </a:lnTo>
                  <a:lnTo>
                    <a:pt x="0" y="157"/>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24" name="Freeform 64">
              <a:extLst>
                <a:ext uri="{FF2B5EF4-FFF2-40B4-BE49-F238E27FC236}">
                  <a16:creationId xmlns:a16="http://schemas.microsoft.com/office/drawing/2014/main" id="{6F990356-05EE-431D-D547-394E9D6F1B19}"/>
                </a:ext>
              </a:extLst>
            </p:cNvPr>
            <p:cNvSpPr>
              <a:spLocks noEditPoints="1"/>
            </p:cNvSpPr>
            <p:nvPr/>
          </p:nvSpPr>
          <p:spPr bwMode="auto">
            <a:xfrm>
              <a:off x="1320" y="1514"/>
              <a:ext cx="1033" cy="199"/>
            </a:xfrm>
            <a:custGeom>
              <a:avLst/>
              <a:gdLst>
                <a:gd name="T0" fmla="*/ 1033 w 1033"/>
                <a:gd name="T1" fmla="*/ 40 h 199"/>
                <a:gd name="T2" fmla="*/ 1031 w 1033"/>
                <a:gd name="T3" fmla="*/ 35 h 199"/>
                <a:gd name="T4" fmla="*/ 1031 w 1033"/>
                <a:gd name="T5" fmla="*/ 30 h 199"/>
                <a:gd name="T6" fmla="*/ 1030 w 1033"/>
                <a:gd name="T7" fmla="*/ 25 h 199"/>
                <a:gd name="T8" fmla="*/ 1030 w 1033"/>
                <a:gd name="T9" fmla="*/ 20 h 199"/>
                <a:gd name="T10" fmla="*/ 1028 w 1033"/>
                <a:gd name="T11" fmla="*/ 15 h 199"/>
                <a:gd name="T12" fmla="*/ 1028 w 1033"/>
                <a:gd name="T13" fmla="*/ 10 h 199"/>
                <a:gd name="T14" fmla="*/ 1026 w 1033"/>
                <a:gd name="T15" fmla="*/ 5 h 199"/>
                <a:gd name="T16" fmla="*/ 1026 w 1033"/>
                <a:gd name="T17" fmla="*/ 0 h 199"/>
                <a:gd name="T18" fmla="*/ 1022 w 1033"/>
                <a:gd name="T19" fmla="*/ 0 h 199"/>
                <a:gd name="T20" fmla="*/ 1023 w 1033"/>
                <a:gd name="T21" fmla="*/ 5 h 199"/>
                <a:gd name="T22" fmla="*/ 1023 w 1033"/>
                <a:gd name="T23" fmla="*/ 10 h 199"/>
                <a:gd name="T24" fmla="*/ 1025 w 1033"/>
                <a:gd name="T25" fmla="*/ 15 h 199"/>
                <a:gd name="T26" fmla="*/ 1025 w 1033"/>
                <a:gd name="T27" fmla="*/ 20 h 199"/>
                <a:gd name="T28" fmla="*/ 1026 w 1033"/>
                <a:gd name="T29" fmla="*/ 26 h 199"/>
                <a:gd name="T30" fmla="*/ 1026 w 1033"/>
                <a:gd name="T31" fmla="*/ 31 h 199"/>
                <a:gd name="T32" fmla="*/ 1026 w 1033"/>
                <a:gd name="T33" fmla="*/ 36 h 199"/>
                <a:gd name="T34" fmla="*/ 1028 w 1033"/>
                <a:gd name="T35" fmla="*/ 41 h 199"/>
                <a:gd name="T36" fmla="*/ 1033 w 1033"/>
                <a:gd name="T37" fmla="*/ 40 h 199"/>
                <a:gd name="T38" fmla="*/ 0 w 1033"/>
                <a:gd name="T39" fmla="*/ 157 h 199"/>
                <a:gd name="T40" fmla="*/ 0 w 1033"/>
                <a:gd name="T41" fmla="*/ 162 h 199"/>
                <a:gd name="T42" fmla="*/ 1 w 1033"/>
                <a:gd name="T43" fmla="*/ 167 h 199"/>
                <a:gd name="T44" fmla="*/ 1 w 1033"/>
                <a:gd name="T45" fmla="*/ 172 h 199"/>
                <a:gd name="T46" fmla="*/ 3 w 1033"/>
                <a:gd name="T47" fmla="*/ 177 h 199"/>
                <a:gd name="T48" fmla="*/ 3 w 1033"/>
                <a:gd name="T49" fmla="*/ 184 h 199"/>
                <a:gd name="T50" fmla="*/ 5 w 1033"/>
                <a:gd name="T51" fmla="*/ 189 h 199"/>
                <a:gd name="T52" fmla="*/ 5 w 1033"/>
                <a:gd name="T53" fmla="*/ 194 h 199"/>
                <a:gd name="T54" fmla="*/ 6 w 1033"/>
                <a:gd name="T55" fmla="*/ 199 h 199"/>
                <a:gd name="T56" fmla="*/ 11 w 1033"/>
                <a:gd name="T57" fmla="*/ 199 h 199"/>
                <a:gd name="T58" fmla="*/ 10 w 1033"/>
                <a:gd name="T59" fmla="*/ 194 h 199"/>
                <a:gd name="T60" fmla="*/ 10 w 1033"/>
                <a:gd name="T61" fmla="*/ 187 h 199"/>
                <a:gd name="T62" fmla="*/ 8 w 1033"/>
                <a:gd name="T63" fmla="*/ 182 h 199"/>
                <a:gd name="T64" fmla="*/ 8 w 1033"/>
                <a:gd name="T65" fmla="*/ 177 h 199"/>
                <a:gd name="T66" fmla="*/ 6 w 1033"/>
                <a:gd name="T67" fmla="*/ 170 h 199"/>
                <a:gd name="T68" fmla="*/ 6 w 1033"/>
                <a:gd name="T69" fmla="*/ 165 h 199"/>
                <a:gd name="T70" fmla="*/ 5 w 1033"/>
                <a:gd name="T71" fmla="*/ 160 h 199"/>
                <a:gd name="T72" fmla="*/ 5 w 1033"/>
                <a:gd name="T73" fmla="*/ 155 h 199"/>
                <a:gd name="T74" fmla="*/ 0 w 1033"/>
                <a:gd name="T75" fmla="*/ 15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33" h="199">
                  <a:moveTo>
                    <a:pt x="1033" y="40"/>
                  </a:moveTo>
                  <a:lnTo>
                    <a:pt x="1031" y="35"/>
                  </a:lnTo>
                  <a:lnTo>
                    <a:pt x="1031" y="30"/>
                  </a:lnTo>
                  <a:lnTo>
                    <a:pt x="1030" y="25"/>
                  </a:lnTo>
                  <a:lnTo>
                    <a:pt x="1030" y="20"/>
                  </a:lnTo>
                  <a:lnTo>
                    <a:pt x="1028" y="15"/>
                  </a:lnTo>
                  <a:lnTo>
                    <a:pt x="1028" y="10"/>
                  </a:lnTo>
                  <a:lnTo>
                    <a:pt x="1026" y="5"/>
                  </a:lnTo>
                  <a:lnTo>
                    <a:pt x="1026" y="0"/>
                  </a:lnTo>
                  <a:lnTo>
                    <a:pt x="1022" y="0"/>
                  </a:lnTo>
                  <a:lnTo>
                    <a:pt x="1023" y="5"/>
                  </a:lnTo>
                  <a:lnTo>
                    <a:pt x="1023" y="10"/>
                  </a:lnTo>
                  <a:lnTo>
                    <a:pt x="1025" y="15"/>
                  </a:lnTo>
                  <a:lnTo>
                    <a:pt x="1025" y="20"/>
                  </a:lnTo>
                  <a:lnTo>
                    <a:pt x="1026" y="26"/>
                  </a:lnTo>
                  <a:lnTo>
                    <a:pt x="1026" y="31"/>
                  </a:lnTo>
                  <a:lnTo>
                    <a:pt x="1026" y="36"/>
                  </a:lnTo>
                  <a:lnTo>
                    <a:pt x="1028" y="41"/>
                  </a:lnTo>
                  <a:lnTo>
                    <a:pt x="1033" y="40"/>
                  </a:lnTo>
                  <a:close/>
                  <a:moveTo>
                    <a:pt x="0" y="157"/>
                  </a:moveTo>
                  <a:lnTo>
                    <a:pt x="0" y="162"/>
                  </a:lnTo>
                  <a:lnTo>
                    <a:pt x="1" y="167"/>
                  </a:lnTo>
                  <a:lnTo>
                    <a:pt x="1" y="172"/>
                  </a:lnTo>
                  <a:lnTo>
                    <a:pt x="3" y="177"/>
                  </a:lnTo>
                  <a:lnTo>
                    <a:pt x="3" y="184"/>
                  </a:lnTo>
                  <a:lnTo>
                    <a:pt x="5" y="189"/>
                  </a:lnTo>
                  <a:lnTo>
                    <a:pt x="5" y="194"/>
                  </a:lnTo>
                  <a:lnTo>
                    <a:pt x="6" y="199"/>
                  </a:lnTo>
                  <a:lnTo>
                    <a:pt x="11" y="199"/>
                  </a:lnTo>
                  <a:lnTo>
                    <a:pt x="10" y="194"/>
                  </a:lnTo>
                  <a:lnTo>
                    <a:pt x="10" y="187"/>
                  </a:lnTo>
                  <a:lnTo>
                    <a:pt x="8" y="182"/>
                  </a:lnTo>
                  <a:lnTo>
                    <a:pt x="8" y="177"/>
                  </a:lnTo>
                  <a:lnTo>
                    <a:pt x="6" y="170"/>
                  </a:lnTo>
                  <a:lnTo>
                    <a:pt x="6" y="165"/>
                  </a:lnTo>
                  <a:lnTo>
                    <a:pt x="5" y="160"/>
                  </a:lnTo>
                  <a:lnTo>
                    <a:pt x="5" y="155"/>
                  </a:lnTo>
                  <a:lnTo>
                    <a:pt x="0" y="157"/>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25" name="Freeform 65">
              <a:extLst>
                <a:ext uri="{FF2B5EF4-FFF2-40B4-BE49-F238E27FC236}">
                  <a16:creationId xmlns:a16="http://schemas.microsoft.com/office/drawing/2014/main" id="{713829B2-642E-6BF3-00DA-25F834DD8762}"/>
                </a:ext>
              </a:extLst>
            </p:cNvPr>
            <p:cNvSpPr>
              <a:spLocks noEditPoints="1"/>
            </p:cNvSpPr>
            <p:nvPr/>
          </p:nvSpPr>
          <p:spPr bwMode="auto">
            <a:xfrm>
              <a:off x="1321" y="1514"/>
              <a:ext cx="1029" cy="199"/>
            </a:xfrm>
            <a:custGeom>
              <a:avLst/>
              <a:gdLst>
                <a:gd name="T0" fmla="*/ 1029 w 1029"/>
                <a:gd name="T1" fmla="*/ 40 h 199"/>
                <a:gd name="T2" fmla="*/ 1029 w 1029"/>
                <a:gd name="T3" fmla="*/ 35 h 199"/>
                <a:gd name="T4" fmla="*/ 1027 w 1029"/>
                <a:gd name="T5" fmla="*/ 30 h 199"/>
                <a:gd name="T6" fmla="*/ 1027 w 1029"/>
                <a:gd name="T7" fmla="*/ 25 h 199"/>
                <a:gd name="T8" fmla="*/ 1027 w 1029"/>
                <a:gd name="T9" fmla="*/ 20 h 199"/>
                <a:gd name="T10" fmla="*/ 1025 w 1029"/>
                <a:gd name="T11" fmla="*/ 15 h 199"/>
                <a:gd name="T12" fmla="*/ 1025 w 1029"/>
                <a:gd name="T13" fmla="*/ 10 h 199"/>
                <a:gd name="T14" fmla="*/ 1024 w 1029"/>
                <a:gd name="T15" fmla="*/ 5 h 199"/>
                <a:gd name="T16" fmla="*/ 1022 w 1029"/>
                <a:gd name="T17" fmla="*/ 0 h 199"/>
                <a:gd name="T18" fmla="*/ 1017 w 1029"/>
                <a:gd name="T19" fmla="*/ 0 h 199"/>
                <a:gd name="T20" fmla="*/ 1019 w 1029"/>
                <a:gd name="T21" fmla="*/ 5 h 199"/>
                <a:gd name="T22" fmla="*/ 1021 w 1029"/>
                <a:gd name="T23" fmla="*/ 10 h 199"/>
                <a:gd name="T24" fmla="*/ 1021 w 1029"/>
                <a:gd name="T25" fmla="*/ 15 h 199"/>
                <a:gd name="T26" fmla="*/ 1022 w 1029"/>
                <a:gd name="T27" fmla="*/ 21 h 199"/>
                <a:gd name="T28" fmla="*/ 1022 w 1029"/>
                <a:gd name="T29" fmla="*/ 26 h 199"/>
                <a:gd name="T30" fmla="*/ 1024 w 1029"/>
                <a:gd name="T31" fmla="*/ 31 h 199"/>
                <a:gd name="T32" fmla="*/ 1024 w 1029"/>
                <a:gd name="T33" fmla="*/ 36 h 199"/>
                <a:gd name="T34" fmla="*/ 1024 w 1029"/>
                <a:gd name="T35" fmla="*/ 43 h 199"/>
                <a:gd name="T36" fmla="*/ 1029 w 1029"/>
                <a:gd name="T37" fmla="*/ 40 h 199"/>
                <a:gd name="T38" fmla="*/ 0 w 1029"/>
                <a:gd name="T39" fmla="*/ 155 h 199"/>
                <a:gd name="T40" fmla="*/ 2 w 1029"/>
                <a:gd name="T41" fmla="*/ 160 h 199"/>
                <a:gd name="T42" fmla="*/ 2 w 1029"/>
                <a:gd name="T43" fmla="*/ 167 h 199"/>
                <a:gd name="T44" fmla="*/ 4 w 1029"/>
                <a:gd name="T45" fmla="*/ 172 h 199"/>
                <a:gd name="T46" fmla="*/ 4 w 1029"/>
                <a:gd name="T47" fmla="*/ 177 h 199"/>
                <a:gd name="T48" fmla="*/ 5 w 1029"/>
                <a:gd name="T49" fmla="*/ 182 h 199"/>
                <a:gd name="T50" fmla="*/ 5 w 1029"/>
                <a:gd name="T51" fmla="*/ 189 h 199"/>
                <a:gd name="T52" fmla="*/ 7 w 1029"/>
                <a:gd name="T53" fmla="*/ 194 h 199"/>
                <a:gd name="T54" fmla="*/ 7 w 1029"/>
                <a:gd name="T55" fmla="*/ 199 h 199"/>
                <a:gd name="T56" fmla="*/ 12 w 1029"/>
                <a:gd name="T57" fmla="*/ 199 h 199"/>
                <a:gd name="T58" fmla="*/ 12 w 1029"/>
                <a:gd name="T59" fmla="*/ 194 h 199"/>
                <a:gd name="T60" fmla="*/ 10 w 1029"/>
                <a:gd name="T61" fmla="*/ 187 h 199"/>
                <a:gd name="T62" fmla="*/ 9 w 1029"/>
                <a:gd name="T63" fmla="*/ 182 h 199"/>
                <a:gd name="T64" fmla="*/ 9 w 1029"/>
                <a:gd name="T65" fmla="*/ 175 h 199"/>
                <a:gd name="T66" fmla="*/ 7 w 1029"/>
                <a:gd name="T67" fmla="*/ 170 h 199"/>
                <a:gd name="T68" fmla="*/ 7 w 1029"/>
                <a:gd name="T69" fmla="*/ 165 h 199"/>
                <a:gd name="T70" fmla="*/ 7 w 1029"/>
                <a:gd name="T71" fmla="*/ 159 h 199"/>
                <a:gd name="T72" fmla="*/ 5 w 1029"/>
                <a:gd name="T73" fmla="*/ 154 h 199"/>
                <a:gd name="T74" fmla="*/ 0 w 1029"/>
                <a:gd name="T75" fmla="*/ 15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29" h="199">
                  <a:moveTo>
                    <a:pt x="1029" y="40"/>
                  </a:moveTo>
                  <a:lnTo>
                    <a:pt x="1029" y="35"/>
                  </a:lnTo>
                  <a:lnTo>
                    <a:pt x="1027" y="30"/>
                  </a:lnTo>
                  <a:lnTo>
                    <a:pt x="1027" y="25"/>
                  </a:lnTo>
                  <a:lnTo>
                    <a:pt x="1027" y="20"/>
                  </a:lnTo>
                  <a:lnTo>
                    <a:pt x="1025" y="15"/>
                  </a:lnTo>
                  <a:lnTo>
                    <a:pt x="1025" y="10"/>
                  </a:lnTo>
                  <a:lnTo>
                    <a:pt x="1024" y="5"/>
                  </a:lnTo>
                  <a:lnTo>
                    <a:pt x="1022" y="0"/>
                  </a:lnTo>
                  <a:lnTo>
                    <a:pt x="1017" y="0"/>
                  </a:lnTo>
                  <a:lnTo>
                    <a:pt x="1019" y="5"/>
                  </a:lnTo>
                  <a:lnTo>
                    <a:pt x="1021" y="10"/>
                  </a:lnTo>
                  <a:lnTo>
                    <a:pt x="1021" y="15"/>
                  </a:lnTo>
                  <a:lnTo>
                    <a:pt x="1022" y="21"/>
                  </a:lnTo>
                  <a:lnTo>
                    <a:pt x="1022" y="26"/>
                  </a:lnTo>
                  <a:lnTo>
                    <a:pt x="1024" y="31"/>
                  </a:lnTo>
                  <a:lnTo>
                    <a:pt x="1024" y="36"/>
                  </a:lnTo>
                  <a:lnTo>
                    <a:pt x="1024" y="43"/>
                  </a:lnTo>
                  <a:lnTo>
                    <a:pt x="1029" y="40"/>
                  </a:lnTo>
                  <a:close/>
                  <a:moveTo>
                    <a:pt x="0" y="155"/>
                  </a:moveTo>
                  <a:lnTo>
                    <a:pt x="2" y="160"/>
                  </a:lnTo>
                  <a:lnTo>
                    <a:pt x="2" y="167"/>
                  </a:lnTo>
                  <a:lnTo>
                    <a:pt x="4" y="172"/>
                  </a:lnTo>
                  <a:lnTo>
                    <a:pt x="4" y="177"/>
                  </a:lnTo>
                  <a:lnTo>
                    <a:pt x="5" y="182"/>
                  </a:lnTo>
                  <a:lnTo>
                    <a:pt x="5" y="189"/>
                  </a:lnTo>
                  <a:lnTo>
                    <a:pt x="7" y="194"/>
                  </a:lnTo>
                  <a:lnTo>
                    <a:pt x="7" y="199"/>
                  </a:lnTo>
                  <a:lnTo>
                    <a:pt x="12" y="199"/>
                  </a:lnTo>
                  <a:lnTo>
                    <a:pt x="12" y="194"/>
                  </a:lnTo>
                  <a:lnTo>
                    <a:pt x="10" y="187"/>
                  </a:lnTo>
                  <a:lnTo>
                    <a:pt x="9" y="182"/>
                  </a:lnTo>
                  <a:lnTo>
                    <a:pt x="9" y="175"/>
                  </a:lnTo>
                  <a:lnTo>
                    <a:pt x="7" y="170"/>
                  </a:lnTo>
                  <a:lnTo>
                    <a:pt x="7" y="165"/>
                  </a:lnTo>
                  <a:lnTo>
                    <a:pt x="7" y="159"/>
                  </a:lnTo>
                  <a:lnTo>
                    <a:pt x="5" y="154"/>
                  </a:lnTo>
                  <a:lnTo>
                    <a:pt x="0" y="155"/>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26" name="Freeform 66">
              <a:extLst>
                <a:ext uri="{FF2B5EF4-FFF2-40B4-BE49-F238E27FC236}">
                  <a16:creationId xmlns:a16="http://schemas.microsoft.com/office/drawing/2014/main" id="{A7BD1FF3-73EB-0D9B-F225-38D56FD6ADFC}"/>
                </a:ext>
              </a:extLst>
            </p:cNvPr>
            <p:cNvSpPr>
              <a:spLocks noEditPoints="1"/>
            </p:cNvSpPr>
            <p:nvPr/>
          </p:nvSpPr>
          <p:spPr bwMode="auto">
            <a:xfrm>
              <a:off x="1325" y="1514"/>
              <a:ext cx="1023" cy="199"/>
            </a:xfrm>
            <a:custGeom>
              <a:avLst/>
              <a:gdLst>
                <a:gd name="T0" fmla="*/ 1023 w 1023"/>
                <a:gd name="T1" fmla="*/ 41 h 199"/>
                <a:gd name="T2" fmla="*/ 1021 w 1023"/>
                <a:gd name="T3" fmla="*/ 36 h 199"/>
                <a:gd name="T4" fmla="*/ 1021 w 1023"/>
                <a:gd name="T5" fmla="*/ 31 h 199"/>
                <a:gd name="T6" fmla="*/ 1021 w 1023"/>
                <a:gd name="T7" fmla="*/ 26 h 199"/>
                <a:gd name="T8" fmla="*/ 1020 w 1023"/>
                <a:gd name="T9" fmla="*/ 20 h 199"/>
                <a:gd name="T10" fmla="*/ 1020 w 1023"/>
                <a:gd name="T11" fmla="*/ 15 h 199"/>
                <a:gd name="T12" fmla="*/ 1018 w 1023"/>
                <a:gd name="T13" fmla="*/ 10 h 199"/>
                <a:gd name="T14" fmla="*/ 1018 w 1023"/>
                <a:gd name="T15" fmla="*/ 5 h 199"/>
                <a:gd name="T16" fmla="*/ 1017 w 1023"/>
                <a:gd name="T17" fmla="*/ 0 h 199"/>
                <a:gd name="T18" fmla="*/ 1012 w 1023"/>
                <a:gd name="T19" fmla="*/ 0 h 199"/>
                <a:gd name="T20" fmla="*/ 1013 w 1023"/>
                <a:gd name="T21" fmla="*/ 5 h 199"/>
                <a:gd name="T22" fmla="*/ 1013 w 1023"/>
                <a:gd name="T23" fmla="*/ 10 h 199"/>
                <a:gd name="T24" fmla="*/ 1015 w 1023"/>
                <a:gd name="T25" fmla="*/ 16 h 199"/>
                <a:gd name="T26" fmla="*/ 1015 w 1023"/>
                <a:gd name="T27" fmla="*/ 21 h 199"/>
                <a:gd name="T28" fmla="*/ 1017 w 1023"/>
                <a:gd name="T29" fmla="*/ 26 h 199"/>
                <a:gd name="T30" fmla="*/ 1017 w 1023"/>
                <a:gd name="T31" fmla="*/ 33 h 199"/>
                <a:gd name="T32" fmla="*/ 1018 w 1023"/>
                <a:gd name="T33" fmla="*/ 38 h 199"/>
                <a:gd name="T34" fmla="*/ 1018 w 1023"/>
                <a:gd name="T35" fmla="*/ 43 h 199"/>
                <a:gd name="T36" fmla="*/ 1023 w 1023"/>
                <a:gd name="T37" fmla="*/ 41 h 199"/>
                <a:gd name="T38" fmla="*/ 0 w 1023"/>
                <a:gd name="T39" fmla="*/ 155 h 199"/>
                <a:gd name="T40" fmla="*/ 0 w 1023"/>
                <a:gd name="T41" fmla="*/ 160 h 199"/>
                <a:gd name="T42" fmla="*/ 1 w 1023"/>
                <a:gd name="T43" fmla="*/ 165 h 199"/>
                <a:gd name="T44" fmla="*/ 1 w 1023"/>
                <a:gd name="T45" fmla="*/ 170 h 199"/>
                <a:gd name="T46" fmla="*/ 3 w 1023"/>
                <a:gd name="T47" fmla="*/ 177 h 199"/>
                <a:gd name="T48" fmla="*/ 3 w 1023"/>
                <a:gd name="T49" fmla="*/ 182 h 199"/>
                <a:gd name="T50" fmla="*/ 5 w 1023"/>
                <a:gd name="T51" fmla="*/ 187 h 199"/>
                <a:gd name="T52" fmla="*/ 5 w 1023"/>
                <a:gd name="T53" fmla="*/ 194 h 199"/>
                <a:gd name="T54" fmla="*/ 6 w 1023"/>
                <a:gd name="T55" fmla="*/ 199 h 199"/>
                <a:gd name="T56" fmla="*/ 11 w 1023"/>
                <a:gd name="T57" fmla="*/ 199 h 199"/>
                <a:gd name="T58" fmla="*/ 10 w 1023"/>
                <a:gd name="T59" fmla="*/ 192 h 199"/>
                <a:gd name="T60" fmla="*/ 8 w 1023"/>
                <a:gd name="T61" fmla="*/ 187 h 199"/>
                <a:gd name="T62" fmla="*/ 8 w 1023"/>
                <a:gd name="T63" fmla="*/ 182 h 199"/>
                <a:gd name="T64" fmla="*/ 6 w 1023"/>
                <a:gd name="T65" fmla="*/ 175 h 199"/>
                <a:gd name="T66" fmla="*/ 6 w 1023"/>
                <a:gd name="T67" fmla="*/ 170 h 199"/>
                <a:gd name="T68" fmla="*/ 5 w 1023"/>
                <a:gd name="T69" fmla="*/ 164 h 199"/>
                <a:gd name="T70" fmla="*/ 5 w 1023"/>
                <a:gd name="T71" fmla="*/ 159 h 199"/>
                <a:gd name="T72" fmla="*/ 5 w 1023"/>
                <a:gd name="T73" fmla="*/ 152 h 199"/>
                <a:gd name="T74" fmla="*/ 0 w 1023"/>
                <a:gd name="T75" fmla="*/ 15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23" h="199">
                  <a:moveTo>
                    <a:pt x="1023" y="41"/>
                  </a:moveTo>
                  <a:lnTo>
                    <a:pt x="1021" y="36"/>
                  </a:lnTo>
                  <a:lnTo>
                    <a:pt x="1021" y="31"/>
                  </a:lnTo>
                  <a:lnTo>
                    <a:pt x="1021" y="26"/>
                  </a:lnTo>
                  <a:lnTo>
                    <a:pt x="1020" y="20"/>
                  </a:lnTo>
                  <a:lnTo>
                    <a:pt x="1020" y="15"/>
                  </a:lnTo>
                  <a:lnTo>
                    <a:pt x="1018" y="10"/>
                  </a:lnTo>
                  <a:lnTo>
                    <a:pt x="1018" y="5"/>
                  </a:lnTo>
                  <a:lnTo>
                    <a:pt x="1017" y="0"/>
                  </a:lnTo>
                  <a:lnTo>
                    <a:pt x="1012" y="0"/>
                  </a:lnTo>
                  <a:lnTo>
                    <a:pt x="1013" y="5"/>
                  </a:lnTo>
                  <a:lnTo>
                    <a:pt x="1013" y="10"/>
                  </a:lnTo>
                  <a:lnTo>
                    <a:pt x="1015" y="16"/>
                  </a:lnTo>
                  <a:lnTo>
                    <a:pt x="1015" y="21"/>
                  </a:lnTo>
                  <a:lnTo>
                    <a:pt x="1017" y="26"/>
                  </a:lnTo>
                  <a:lnTo>
                    <a:pt x="1017" y="33"/>
                  </a:lnTo>
                  <a:lnTo>
                    <a:pt x="1018" y="38"/>
                  </a:lnTo>
                  <a:lnTo>
                    <a:pt x="1018" y="43"/>
                  </a:lnTo>
                  <a:lnTo>
                    <a:pt x="1023" y="41"/>
                  </a:lnTo>
                  <a:close/>
                  <a:moveTo>
                    <a:pt x="0" y="155"/>
                  </a:moveTo>
                  <a:lnTo>
                    <a:pt x="0" y="160"/>
                  </a:lnTo>
                  <a:lnTo>
                    <a:pt x="1" y="165"/>
                  </a:lnTo>
                  <a:lnTo>
                    <a:pt x="1" y="170"/>
                  </a:lnTo>
                  <a:lnTo>
                    <a:pt x="3" y="177"/>
                  </a:lnTo>
                  <a:lnTo>
                    <a:pt x="3" y="182"/>
                  </a:lnTo>
                  <a:lnTo>
                    <a:pt x="5" y="187"/>
                  </a:lnTo>
                  <a:lnTo>
                    <a:pt x="5" y="194"/>
                  </a:lnTo>
                  <a:lnTo>
                    <a:pt x="6" y="199"/>
                  </a:lnTo>
                  <a:lnTo>
                    <a:pt x="11" y="199"/>
                  </a:lnTo>
                  <a:lnTo>
                    <a:pt x="10" y="192"/>
                  </a:lnTo>
                  <a:lnTo>
                    <a:pt x="8" y="187"/>
                  </a:lnTo>
                  <a:lnTo>
                    <a:pt x="8" y="182"/>
                  </a:lnTo>
                  <a:lnTo>
                    <a:pt x="6" y="175"/>
                  </a:lnTo>
                  <a:lnTo>
                    <a:pt x="6" y="170"/>
                  </a:lnTo>
                  <a:lnTo>
                    <a:pt x="5" y="164"/>
                  </a:lnTo>
                  <a:lnTo>
                    <a:pt x="5" y="159"/>
                  </a:lnTo>
                  <a:lnTo>
                    <a:pt x="5" y="152"/>
                  </a:lnTo>
                  <a:lnTo>
                    <a:pt x="0" y="155"/>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27" name="Freeform 67">
              <a:extLst>
                <a:ext uri="{FF2B5EF4-FFF2-40B4-BE49-F238E27FC236}">
                  <a16:creationId xmlns:a16="http://schemas.microsoft.com/office/drawing/2014/main" id="{0D58628C-B3EA-0ACC-57F5-663D95869472}"/>
                </a:ext>
              </a:extLst>
            </p:cNvPr>
            <p:cNvSpPr>
              <a:spLocks noEditPoints="1"/>
            </p:cNvSpPr>
            <p:nvPr/>
          </p:nvSpPr>
          <p:spPr bwMode="auto">
            <a:xfrm>
              <a:off x="1326" y="1514"/>
              <a:ext cx="1019" cy="199"/>
            </a:xfrm>
            <a:custGeom>
              <a:avLst/>
              <a:gdLst>
                <a:gd name="T0" fmla="*/ 1019 w 1019"/>
                <a:gd name="T1" fmla="*/ 43 h 199"/>
                <a:gd name="T2" fmla="*/ 1019 w 1019"/>
                <a:gd name="T3" fmla="*/ 36 h 199"/>
                <a:gd name="T4" fmla="*/ 1019 w 1019"/>
                <a:gd name="T5" fmla="*/ 31 h 199"/>
                <a:gd name="T6" fmla="*/ 1017 w 1019"/>
                <a:gd name="T7" fmla="*/ 26 h 199"/>
                <a:gd name="T8" fmla="*/ 1017 w 1019"/>
                <a:gd name="T9" fmla="*/ 21 h 199"/>
                <a:gd name="T10" fmla="*/ 1016 w 1019"/>
                <a:gd name="T11" fmla="*/ 15 h 199"/>
                <a:gd name="T12" fmla="*/ 1016 w 1019"/>
                <a:gd name="T13" fmla="*/ 10 h 199"/>
                <a:gd name="T14" fmla="*/ 1014 w 1019"/>
                <a:gd name="T15" fmla="*/ 5 h 199"/>
                <a:gd name="T16" fmla="*/ 1012 w 1019"/>
                <a:gd name="T17" fmla="*/ 0 h 199"/>
                <a:gd name="T18" fmla="*/ 1007 w 1019"/>
                <a:gd name="T19" fmla="*/ 0 h 199"/>
                <a:gd name="T20" fmla="*/ 1009 w 1019"/>
                <a:gd name="T21" fmla="*/ 5 h 199"/>
                <a:gd name="T22" fmla="*/ 1011 w 1019"/>
                <a:gd name="T23" fmla="*/ 11 h 199"/>
                <a:gd name="T24" fmla="*/ 1011 w 1019"/>
                <a:gd name="T25" fmla="*/ 16 h 199"/>
                <a:gd name="T26" fmla="*/ 1012 w 1019"/>
                <a:gd name="T27" fmla="*/ 21 h 199"/>
                <a:gd name="T28" fmla="*/ 1012 w 1019"/>
                <a:gd name="T29" fmla="*/ 28 h 199"/>
                <a:gd name="T30" fmla="*/ 1014 w 1019"/>
                <a:gd name="T31" fmla="*/ 33 h 199"/>
                <a:gd name="T32" fmla="*/ 1014 w 1019"/>
                <a:gd name="T33" fmla="*/ 38 h 199"/>
                <a:gd name="T34" fmla="*/ 1016 w 1019"/>
                <a:gd name="T35" fmla="*/ 45 h 199"/>
                <a:gd name="T36" fmla="*/ 1019 w 1019"/>
                <a:gd name="T37" fmla="*/ 43 h 199"/>
                <a:gd name="T38" fmla="*/ 0 w 1019"/>
                <a:gd name="T39" fmla="*/ 154 h 199"/>
                <a:gd name="T40" fmla="*/ 2 w 1019"/>
                <a:gd name="T41" fmla="*/ 159 h 199"/>
                <a:gd name="T42" fmla="*/ 2 w 1019"/>
                <a:gd name="T43" fmla="*/ 165 h 199"/>
                <a:gd name="T44" fmla="*/ 2 w 1019"/>
                <a:gd name="T45" fmla="*/ 170 h 199"/>
                <a:gd name="T46" fmla="*/ 4 w 1019"/>
                <a:gd name="T47" fmla="*/ 175 h 199"/>
                <a:gd name="T48" fmla="*/ 4 w 1019"/>
                <a:gd name="T49" fmla="*/ 182 h 199"/>
                <a:gd name="T50" fmla="*/ 5 w 1019"/>
                <a:gd name="T51" fmla="*/ 187 h 199"/>
                <a:gd name="T52" fmla="*/ 7 w 1019"/>
                <a:gd name="T53" fmla="*/ 194 h 199"/>
                <a:gd name="T54" fmla="*/ 7 w 1019"/>
                <a:gd name="T55" fmla="*/ 199 h 199"/>
                <a:gd name="T56" fmla="*/ 12 w 1019"/>
                <a:gd name="T57" fmla="*/ 199 h 199"/>
                <a:gd name="T58" fmla="*/ 12 w 1019"/>
                <a:gd name="T59" fmla="*/ 192 h 199"/>
                <a:gd name="T60" fmla="*/ 10 w 1019"/>
                <a:gd name="T61" fmla="*/ 187 h 199"/>
                <a:gd name="T62" fmla="*/ 9 w 1019"/>
                <a:gd name="T63" fmla="*/ 180 h 199"/>
                <a:gd name="T64" fmla="*/ 9 w 1019"/>
                <a:gd name="T65" fmla="*/ 175 h 199"/>
                <a:gd name="T66" fmla="*/ 7 w 1019"/>
                <a:gd name="T67" fmla="*/ 169 h 199"/>
                <a:gd name="T68" fmla="*/ 7 w 1019"/>
                <a:gd name="T69" fmla="*/ 164 h 199"/>
                <a:gd name="T70" fmla="*/ 5 w 1019"/>
                <a:gd name="T71" fmla="*/ 157 h 199"/>
                <a:gd name="T72" fmla="*/ 5 w 1019"/>
                <a:gd name="T73" fmla="*/ 152 h 199"/>
                <a:gd name="T74" fmla="*/ 0 w 1019"/>
                <a:gd name="T75" fmla="*/ 15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19" h="199">
                  <a:moveTo>
                    <a:pt x="1019" y="43"/>
                  </a:moveTo>
                  <a:lnTo>
                    <a:pt x="1019" y="36"/>
                  </a:lnTo>
                  <a:lnTo>
                    <a:pt x="1019" y="31"/>
                  </a:lnTo>
                  <a:lnTo>
                    <a:pt x="1017" y="26"/>
                  </a:lnTo>
                  <a:lnTo>
                    <a:pt x="1017" y="21"/>
                  </a:lnTo>
                  <a:lnTo>
                    <a:pt x="1016" y="15"/>
                  </a:lnTo>
                  <a:lnTo>
                    <a:pt x="1016" y="10"/>
                  </a:lnTo>
                  <a:lnTo>
                    <a:pt x="1014" y="5"/>
                  </a:lnTo>
                  <a:lnTo>
                    <a:pt x="1012" y="0"/>
                  </a:lnTo>
                  <a:lnTo>
                    <a:pt x="1007" y="0"/>
                  </a:lnTo>
                  <a:lnTo>
                    <a:pt x="1009" y="5"/>
                  </a:lnTo>
                  <a:lnTo>
                    <a:pt x="1011" y="11"/>
                  </a:lnTo>
                  <a:lnTo>
                    <a:pt x="1011" y="16"/>
                  </a:lnTo>
                  <a:lnTo>
                    <a:pt x="1012" y="21"/>
                  </a:lnTo>
                  <a:lnTo>
                    <a:pt x="1012" y="28"/>
                  </a:lnTo>
                  <a:lnTo>
                    <a:pt x="1014" y="33"/>
                  </a:lnTo>
                  <a:lnTo>
                    <a:pt x="1014" y="38"/>
                  </a:lnTo>
                  <a:lnTo>
                    <a:pt x="1016" y="45"/>
                  </a:lnTo>
                  <a:lnTo>
                    <a:pt x="1019" y="43"/>
                  </a:lnTo>
                  <a:close/>
                  <a:moveTo>
                    <a:pt x="0" y="154"/>
                  </a:moveTo>
                  <a:lnTo>
                    <a:pt x="2" y="159"/>
                  </a:lnTo>
                  <a:lnTo>
                    <a:pt x="2" y="165"/>
                  </a:lnTo>
                  <a:lnTo>
                    <a:pt x="2" y="170"/>
                  </a:lnTo>
                  <a:lnTo>
                    <a:pt x="4" y="175"/>
                  </a:lnTo>
                  <a:lnTo>
                    <a:pt x="4" y="182"/>
                  </a:lnTo>
                  <a:lnTo>
                    <a:pt x="5" y="187"/>
                  </a:lnTo>
                  <a:lnTo>
                    <a:pt x="7" y="194"/>
                  </a:lnTo>
                  <a:lnTo>
                    <a:pt x="7" y="199"/>
                  </a:lnTo>
                  <a:lnTo>
                    <a:pt x="12" y="199"/>
                  </a:lnTo>
                  <a:lnTo>
                    <a:pt x="12" y="192"/>
                  </a:lnTo>
                  <a:lnTo>
                    <a:pt x="10" y="187"/>
                  </a:lnTo>
                  <a:lnTo>
                    <a:pt x="9" y="180"/>
                  </a:lnTo>
                  <a:lnTo>
                    <a:pt x="9" y="175"/>
                  </a:lnTo>
                  <a:lnTo>
                    <a:pt x="7" y="169"/>
                  </a:lnTo>
                  <a:lnTo>
                    <a:pt x="7" y="164"/>
                  </a:lnTo>
                  <a:lnTo>
                    <a:pt x="5" y="157"/>
                  </a:lnTo>
                  <a:lnTo>
                    <a:pt x="5" y="152"/>
                  </a:lnTo>
                  <a:lnTo>
                    <a:pt x="0" y="154"/>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28" name="Freeform 68">
              <a:extLst>
                <a:ext uri="{FF2B5EF4-FFF2-40B4-BE49-F238E27FC236}">
                  <a16:creationId xmlns:a16="http://schemas.microsoft.com/office/drawing/2014/main" id="{3A0B78AF-2869-F9FE-B54C-A64712EC6736}"/>
                </a:ext>
              </a:extLst>
            </p:cNvPr>
            <p:cNvSpPr>
              <a:spLocks noEditPoints="1"/>
            </p:cNvSpPr>
            <p:nvPr/>
          </p:nvSpPr>
          <p:spPr bwMode="auto">
            <a:xfrm>
              <a:off x="1330" y="1514"/>
              <a:ext cx="1013" cy="199"/>
            </a:xfrm>
            <a:custGeom>
              <a:avLst/>
              <a:gdLst>
                <a:gd name="T0" fmla="*/ 1013 w 1013"/>
                <a:gd name="T1" fmla="*/ 43 h 199"/>
                <a:gd name="T2" fmla="*/ 1013 w 1013"/>
                <a:gd name="T3" fmla="*/ 38 h 199"/>
                <a:gd name="T4" fmla="*/ 1012 w 1013"/>
                <a:gd name="T5" fmla="*/ 33 h 199"/>
                <a:gd name="T6" fmla="*/ 1012 w 1013"/>
                <a:gd name="T7" fmla="*/ 26 h 199"/>
                <a:gd name="T8" fmla="*/ 1010 w 1013"/>
                <a:gd name="T9" fmla="*/ 21 h 199"/>
                <a:gd name="T10" fmla="*/ 1010 w 1013"/>
                <a:gd name="T11" fmla="*/ 16 h 199"/>
                <a:gd name="T12" fmla="*/ 1008 w 1013"/>
                <a:gd name="T13" fmla="*/ 10 h 199"/>
                <a:gd name="T14" fmla="*/ 1008 w 1013"/>
                <a:gd name="T15" fmla="*/ 5 h 199"/>
                <a:gd name="T16" fmla="*/ 1007 w 1013"/>
                <a:gd name="T17" fmla="*/ 0 h 199"/>
                <a:gd name="T18" fmla="*/ 1002 w 1013"/>
                <a:gd name="T19" fmla="*/ 0 h 199"/>
                <a:gd name="T20" fmla="*/ 1003 w 1013"/>
                <a:gd name="T21" fmla="*/ 5 h 199"/>
                <a:gd name="T22" fmla="*/ 1003 w 1013"/>
                <a:gd name="T23" fmla="*/ 11 h 199"/>
                <a:gd name="T24" fmla="*/ 1005 w 1013"/>
                <a:gd name="T25" fmla="*/ 16 h 199"/>
                <a:gd name="T26" fmla="*/ 1005 w 1013"/>
                <a:gd name="T27" fmla="*/ 23 h 199"/>
                <a:gd name="T28" fmla="*/ 1007 w 1013"/>
                <a:gd name="T29" fmla="*/ 28 h 199"/>
                <a:gd name="T30" fmla="*/ 1007 w 1013"/>
                <a:gd name="T31" fmla="*/ 33 h 199"/>
                <a:gd name="T32" fmla="*/ 1008 w 1013"/>
                <a:gd name="T33" fmla="*/ 40 h 199"/>
                <a:gd name="T34" fmla="*/ 1008 w 1013"/>
                <a:gd name="T35" fmla="*/ 45 h 199"/>
                <a:gd name="T36" fmla="*/ 1013 w 1013"/>
                <a:gd name="T37" fmla="*/ 43 h 199"/>
                <a:gd name="T38" fmla="*/ 0 w 1013"/>
                <a:gd name="T39" fmla="*/ 152 h 199"/>
                <a:gd name="T40" fmla="*/ 0 w 1013"/>
                <a:gd name="T41" fmla="*/ 159 h 199"/>
                <a:gd name="T42" fmla="*/ 0 w 1013"/>
                <a:gd name="T43" fmla="*/ 164 h 199"/>
                <a:gd name="T44" fmla="*/ 1 w 1013"/>
                <a:gd name="T45" fmla="*/ 170 h 199"/>
                <a:gd name="T46" fmla="*/ 1 w 1013"/>
                <a:gd name="T47" fmla="*/ 175 h 199"/>
                <a:gd name="T48" fmla="*/ 3 w 1013"/>
                <a:gd name="T49" fmla="*/ 182 h 199"/>
                <a:gd name="T50" fmla="*/ 3 w 1013"/>
                <a:gd name="T51" fmla="*/ 187 h 199"/>
                <a:gd name="T52" fmla="*/ 5 w 1013"/>
                <a:gd name="T53" fmla="*/ 192 h 199"/>
                <a:gd name="T54" fmla="*/ 6 w 1013"/>
                <a:gd name="T55" fmla="*/ 199 h 199"/>
                <a:gd name="T56" fmla="*/ 11 w 1013"/>
                <a:gd name="T57" fmla="*/ 199 h 199"/>
                <a:gd name="T58" fmla="*/ 10 w 1013"/>
                <a:gd name="T59" fmla="*/ 192 h 199"/>
                <a:gd name="T60" fmla="*/ 8 w 1013"/>
                <a:gd name="T61" fmla="*/ 187 h 199"/>
                <a:gd name="T62" fmla="*/ 8 w 1013"/>
                <a:gd name="T63" fmla="*/ 180 h 199"/>
                <a:gd name="T64" fmla="*/ 6 w 1013"/>
                <a:gd name="T65" fmla="*/ 175 h 199"/>
                <a:gd name="T66" fmla="*/ 6 w 1013"/>
                <a:gd name="T67" fmla="*/ 169 h 199"/>
                <a:gd name="T68" fmla="*/ 5 w 1013"/>
                <a:gd name="T69" fmla="*/ 162 h 199"/>
                <a:gd name="T70" fmla="*/ 5 w 1013"/>
                <a:gd name="T71" fmla="*/ 157 h 199"/>
                <a:gd name="T72" fmla="*/ 3 w 1013"/>
                <a:gd name="T73" fmla="*/ 151 h 199"/>
                <a:gd name="T74" fmla="*/ 0 w 1013"/>
                <a:gd name="T75" fmla="*/ 15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13" h="199">
                  <a:moveTo>
                    <a:pt x="1013" y="43"/>
                  </a:moveTo>
                  <a:lnTo>
                    <a:pt x="1013" y="38"/>
                  </a:lnTo>
                  <a:lnTo>
                    <a:pt x="1012" y="33"/>
                  </a:lnTo>
                  <a:lnTo>
                    <a:pt x="1012" y="26"/>
                  </a:lnTo>
                  <a:lnTo>
                    <a:pt x="1010" y="21"/>
                  </a:lnTo>
                  <a:lnTo>
                    <a:pt x="1010" y="16"/>
                  </a:lnTo>
                  <a:lnTo>
                    <a:pt x="1008" y="10"/>
                  </a:lnTo>
                  <a:lnTo>
                    <a:pt x="1008" y="5"/>
                  </a:lnTo>
                  <a:lnTo>
                    <a:pt x="1007" y="0"/>
                  </a:lnTo>
                  <a:lnTo>
                    <a:pt x="1002" y="0"/>
                  </a:lnTo>
                  <a:lnTo>
                    <a:pt x="1003" y="5"/>
                  </a:lnTo>
                  <a:lnTo>
                    <a:pt x="1003" y="11"/>
                  </a:lnTo>
                  <a:lnTo>
                    <a:pt x="1005" y="16"/>
                  </a:lnTo>
                  <a:lnTo>
                    <a:pt x="1005" y="23"/>
                  </a:lnTo>
                  <a:lnTo>
                    <a:pt x="1007" y="28"/>
                  </a:lnTo>
                  <a:lnTo>
                    <a:pt x="1007" y="33"/>
                  </a:lnTo>
                  <a:lnTo>
                    <a:pt x="1008" y="40"/>
                  </a:lnTo>
                  <a:lnTo>
                    <a:pt x="1008" y="45"/>
                  </a:lnTo>
                  <a:lnTo>
                    <a:pt x="1013" y="43"/>
                  </a:lnTo>
                  <a:close/>
                  <a:moveTo>
                    <a:pt x="0" y="152"/>
                  </a:moveTo>
                  <a:lnTo>
                    <a:pt x="0" y="159"/>
                  </a:lnTo>
                  <a:lnTo>
                    <a:pt x="0" y="164"/>
                  </a:lnTo>
                  <a:lnTo>
                    <a:pt x="1" y="170"/>
                  </a:lnTo>
                  <a:lnTo>
                    <a:pt x="1" y="175"/>
                  </a:lnTo>
                  <a:lnTo>
                    <a:pt x="3" y="182"/>
                  </a:lnTo>
                  <a:lnTo>
                    <a:pt x="3" y="187"/>
                  </a:lnTo>
                  <a:lnTo>
                    <a:pt x="5" y="192"/>
                  </a:lnTo>
                  <a:lnTo>
                    <a:pt x="6" y="199"/>
                  </a:lnTo>
                  <a:lnTo>
                    <a:pt x="11" y="199"/>
                  </a:lnTo>
                  <a:lnTo>
                    <a:pt x="10" y="192"/>
                  </a:lnTo>
                  <a:lnTo>
                    <a:pt x="8" y="187"/>
                  </a:lnTo>
                  <a:lnTo>
                    <a:pt x="8" y="180"/>
                  </a:lnTo>
                  <a:lnTo>
                    <a:pt x="6" y="175"/>
                  </a:lnTo>
                  <a:lnTo>
                    <a:pt x="6" y="169"/>
                  </a:lnTo>
                  <a:lnTo>
                    <a:pt x="5" y="162"/>
                  </a:lnTo>
                  <a:lnTo>
                    <a:pt x="5" y="157"/>
                  </a:lnTo>
                  <a:lnTo>
                    <a:pt x="3" y="151"/>
                  </a:lnTo>
                  <a:lnTo>
                    <a:pt x="0" y="152"/>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29" name="Freeform 69">
              <a:extLst>
                <a:ext uri="{FF2B5EF4-FFF2-40B4-BE49-F238E27FC236}">
                  <a16:creationId xmlns:a16="http://schemas.microsoft.com/office/drawing/2014/main" id="{92281623-C7D7-F128-DFE9-ED0AE502BC96}"/>
                </a:ext>
              </a:extLst>
            </p:cNvPr>
            <p:cNvSpPr>
              <a:spLocks noEditPoints="1"/>
            </p:cNvSpPr>
            <p:nvPr/>
          </p:nvSpPr>
          <p:spPr bwMode="auto">
            <a:xfrm>
              <a:off x="1331" y="1514"/>
              <a:ext cx="1011" cy="199"/>
            </a:xfrm>
            <a:custGeom>
              <a:avLst/>
              <a:gdLst>
                <a:gd name="T0" fmla="*/ 1011 w 1011"/>
                <a:gd name="T1" fmla="*/ 45 h 199"/>
                <a:gd name="T2" fmla="*/ 1009 w 1011"/>
                <a:gd name="T3" fmla="*/ 38 h 199"/>
                <a:gd name="T4" fmla="*/ 1009 w 1011"/>
                <a:gd name="T5" fmla="*/ 33 h 199"/>
                <a:gd name="T6" fmla="*/ 1007 w 1011"/>
                <a:gd name="T7" fmla="*/ 28 h 199"/>
                <a:gd name="T8" fmla="*/ 1007 w 1011"/>
                <a:gd name="T9" fmla="*/ 21 h 199"/>
                <a:gd name="T10" fmla="*/ 1006 w 1011"/>
                <a:gd name="T11" fmla="*/ 16 h 199"/>
                <a:gd name="T12" fmla="*/ 1006 w 1011"/>
                <a:gd name="T13" fmla="*/ 11 h 199"/>
                <a:gd name="T14" fmla="*/ 1004 w 1011"/>
                <a:gd name="T15" fmla="*/ 5 h 199"/>
                <a:gd name="T16" fmla="*/ 1002 w 1011"/>
                <a:gd name="T17" fmla="*/ 0 h 199"/>
                <a:gd name="T18" fmla="*/ 999 w 1011"/>
                <a:gd name="T19" fmla="*/ 0 h 199"/>
                <a:gd name="T20" fmla="*/ 999 w 1011"/>
                <a:gd name="T21" fmla="*/ 5 h 199"/>
                <a:gd name="T22" fmla="*/ 1001 w 1011"/>
                <a:gd name="T23" fmla="*/ 11 h 199"/>
                <a:gd name="T24" fmla="*/ 1001 w 1011"/>
                <a:gd name="T25" fmla="*/ 16 h 199"/>
                <a:gd name="T26" fmla="*/ 1002 w 1011"/>
                <a:gd name="T27" fmla="*/ 23 h 199"/>
                <a:gd name="T28" fmla="*/ 1004 w 1011"/>
                <a:gd name="T29" fmla="*/ 28 h 199"/>
                <a:gd name="T30" fmla="*/ 1004 w 1011"/>
                <a:gd name="T31" fmla="*/ 35 h 199"/>
                <a:gd name="T32" fmla="*/ 1004 w 1011"/>
                <a:gd name="T33" fmla="*/ 41 h 199"/>
                <a:gd name="T34" fmla="*/ 1006 w 1011"/>
                <a:gd name="T35" fmla="*/ 46 h 199"/>
                <a:gd name="T36" fmla="*/ 1011 w 1011"/>
                <a:gd name="T37" fmla="*/ 45 h 199"/>
                <a:gd name="T38" fmla="*/ 0 w 1011"/>
                <a:gd name="T39" fmla="*/ 152 h 199"/>
                <a:gd name="T40" fmla="*/ 0 w 1011"/>
                <a:gd name="T41" fmla="*/ 157 h 199"/>
                <a:gd name="T42" fmla="*/ 2 w 1011"/>
                <a:gd name="T43" fmla="*/ 164 h 199"/>
                <a:gd name="T44" fmla="*/ 2 w 1011"/>
                <a:gd name="T45" fmla="*/ 169 h 199"/>
                <a:gd name="T46" fmla="*/ 4 w 1011"/>
                <a:gd name="T47" fmla="*/ 175 h 199"/>
                <a:gd name="T48" fmla="*/ 4 w 1011"/>
                <a:gd name="T49" fmla="*/ 180 h 199"/>
                <a:gd name="T50" fmla="*/ 5 w 1011"/>
                <a:gd name="T51" fmla="*/ 187 h 199"/>
                <a:gd name="T52" fmla="*/ 7 w 1011"/>
                <a:gd name="T53" fmla="*/ 192 h 199"/>
                <a:gd name="T54" fmla="*/ 7 w 1011"/>
                <a:gd name="T55" fmla="*/ 199 h 199"/>
                <a:gd name="T56" fmla="*/ 12 w 1011"/>
                <a:gd name="T57" fmla="*/ 199 h 199"/>
                <a:gd name="T58" fmla="*/ 10 w 1011"/>
                <a:gd name="T59" fmla="*/ 192 h 199"/>
                <a:gd name="T60" fmla="*/ 10 w 1011"/>
                <a:gd name="T61" fmla="*/ 187 h 199"/>
                <a:gd name="T62" fmla="*/ 9 w 1011"/>
                <a:gd name="T63" fmla="*/ 180 h 199"/>
                <a:gd name="T64" fmla="*/ 9 w 1011"/>
                <a:gd name="T65" fmla="*/ 174 h 199"/>
                <a:gd name="T66" fmla="*/ 7 w 1011"/>
                <a:gd name="T67" fmla="*/ 167 h 199"/>
                <a:gd name="T68" fmla="*/ 7 w 1011"/>
                <a:gd name="T69" fmla="*/ 162 h 199"/>
                <a:gd name="T70" fmla="*/ 5 w 1011"/>
                <a:gd name="T71" fmla="*/ 155 h 199"/>
                <a:gd name="T72" fmla="*/ 5 w 1011"/>
                <a:gd name="T73" fmla="*/ 149 h 199"/>
                <a:gd name="T74" fmla="*/ 0 w 1011"/>
                <a:gd name="T75" fmla="*/ 15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11" h="199">
                  <a:moveTo>
                    <a:pt x="1011" y="45"/>
                  </a:moveTo>
                  <a:lnTo>
                    <a:pt x="1009" y="38"/>
                  </a:lnTo>
                  <a:lnTo>
                    <a:pt x="1009" y="33"/>
                  </a:lnTo>
                  <a:lnTo>
                    <a:pt x="1007" y="28"/>
                  </a:lnTo>
                  <a:lnTo>
                    <a:pt x="1007" y="21"/>
                  </a:lnTo>
                  <a:lnTo>
                    <a:pt x="1006" y="16"/>
                  </a:lnTo>
                  <a:lnTo>
                    <a:pt x="1006" y="11"/>
                  </a:lnTo>
                  <a:lnTo>
                    <a:pt x="1004" y="5"/>
                  </a:lnTo>
                  <a:lnTo>
                    <a:pt x="1002" y="0"/>
                  </a:lnTo>
                  <a:lnTo>
                    <a:pt x="999" y="0"/>
                  </a:lnTo>
                  <a:lnTo>
                    <a:pt x="999" y="5"/>
                  </a:lnTo>
                  <a:lnTo>
                    <a:pt x="1001" y="11"/>
                  </a:lnTo>
                  <a:lnTo>
                    <a:pt x="1001" y="16"/>
                  </a:lnTo>
                  <a:lnTo>
                    <a:pt x="1002" y="23"/>
                  </a:lnTo>
                  <a:lnTo>
                    <a:pt x="1004" y="28"/>
                  </a:lnTo>
                  <a:lnTo>
                    <a:pt x="1004" y="35"/>
                  </a:lnTo>
                  <a:lnTo>
                    <a:pt x="1004" y="41"/>
                  </a:lnTo>
                  <a:lnTo>
                    <a:pt x="1006" y="46"/>
                  </a:lnTo>
                  <a:lnTo>
                    <a:pt x="1011" y="45"/>
                  </a:lnTo>
                  <a:close/>
                  <a:moveTo>
                    <a:pt x="0" y="152"/>
                  </a:moveTo>
                  <a:lnTo>
                    <a:pt x="0" y="157"/>
                  </a:lnTo>
                  <a:lnTo>
                    <a:pt x="2" y="164"/>
                  </a:lnTo>
                  <a:lnTo>
                    <a:pt x="2" y="169"/>
                  </a:lnTo>
                  <a:lnTo>
                    <a:pt x="4" y="175"/>
                  </a:lnTo>
                  <a:lnTo>
                    <a:pt x="4" y="180"/>
                  </a:lnTo>
                  <a:lnTo>
                    <a:pt x="5" y="187"/>
                  </a:lnTo>
                  <a:lnTo>
                    <a:pt x="7" y="192"/>
                  </a:lnTo>
                  <a:lnTo>
                    <a:pt x="7" y="199"/>
                  </a:lnTo>
                  <a:lnTo>
                    <a:pt x="12" y="199"/>
                  </a:lnTo>
                  <a:lnTo>
                    <a:pt x="10" y="192"/>
                  </a:lnTo>
                  <a:lnTo>
                    <a:pt x="10" y="187"/>
                  </a:lnTo>
                  <a:lnTo>
                    <a:pt x="9" y="180"/>
                  </a:lnTo>
                  <a:lnTo>
                    <a:pt x="9" y="174"/>
                  </a:lnTo>
                  <a:lnTo>
                    <a:pt x="7" y="167"/>
                  </a:lnTo>
                  <a:lnTo>
                    <a:pt x="7" y="162"/>
                  </a:lnTo>
                  <a:lnTo>
                    <a:pt x="5" y="155"/>
                  </a:lnTo>
                  <a:lnTo>
                    <a:pt x="5" y="149"/>
                  </a:lnTo>
                  <a:lnTo>
                    <a:pt x="0" y="152"/>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30" name="Freeform 70">
              <a:extLst>
                <a:ext uri="{FF2B5EF4-FFF2-40B4-BE49-F238E27FC236}">
                  <a16:creationId xmlns:a16="http://schemas.microsoft.com/office/drawing/2014/main" id="{A8B6FE98-001B-4135-D266-0B634D5492AD}"/>
                </a:ext>
              </a:extLst>
            </p:cNvPr>
            <p:cNvSpPr>
              <a:spLocks noEditPoints="1"/>
            </p:cNvSpPr>
            <p:nvPr/>
          </p:nvSpPr>
          <p:spPr bwMode="auto">
            <a:xfrm>
              <a:off x="1333" y="1514"/>
              <a:ext cx="1005" cy="199"/>
            </a:xfrm>
            <a:custGeom>
              <a:avLst/>
              <a:gdLst>
                <a:gd name="T0" fmla="*/ 1005 w 1005"/>
                <a:gd name="T1" fmla="*/ 45 h 199"/>
                <a:gd name="T2" fmla="*/ 1005 w 1005"/>
                <a:gd name="T3" fmla="*/ 40 h 199"/>
                <a:gd name="T4" fmla="*/ 1004 w 1005"/>
                <a:gd name="T5" fmla="*/ 33 h 199"/>
                <a:gd name="T6" fmla="*/ 1004 w 1005"/>
                <a:gd name="T7" fmla="*/ 28 h 199"/>
                <a:gd name="T8" fmla="*/ 1002 w 1005"/>
                <a:gd name="T9" fmla="*/ 23 h 199"/>
                <a:gd name="T10" fmla="*/ 1002 w 1005"/>
                <a:gd name="T11" fmla="*/ 16 h 199"/>
                <a:gd name="T12" fmla="*/ 1000 w 1005"/>
                <a:gd name="T13" fmla="*/ 11 h 199"/>
                <a:gd name="T14" fmla="*/ 1000 w 1005"/>
                <a:gd name="T15" fmla="*/ 5 h 199"/>
                <a:gd name="T16" fmla="*/ 999 w 1005"/>
                <a:gd name="T17" fmla="*/ 0 h 199"/>
                <a:gd name="T18" fmla="*/ 994 w 1005"/>
                <a:gd name="T19" fmla="*/ 0 h 199"/>
                <a:gd name="T20" fmla="*/ 995 w 1005"/>
                <a:gd name="T21" fmla="*/ 5 h 199"/>
                <a:gd name="T22" fmla="*/ 995 w 1005"/>
                <a:gd name="T23" fmla="*/ 11 h 199"/>
                <a:gd name="T24" fmla="*/ 997 w 1005"/>
                <a:gd name="T25" fmla="*/ 18 h 199"/>
                <a:gd name="T26" fmla="*/ 999 w 1005"/>
                <a:gd name="T27" fmla="*/ 23 h 199"/>
                <a:gd name="T28" fmla="*/ 999 w 1005"/>
                <a:gd name="T29" fmla="*/ 30 h 199"/>
                <a:gd name="T30" fmla="*/ 1000 w 1005"/>
                <a:gd name="T31" fmla="*/ 35 h 199"/>
                <a:gd name="T32" fmla="*/ 1000 w 1005"/>
                <a:gd name="T33" fmla="*/ 41 h 199"/>
                <a:gd name="T34" fmla="*/ 1000 w 1005"/>
                <a:gd name="T35" fmla="*/ 48 h 199"/>
                <a:gd name="T36" fmla="*/ 1005 w 1005"/>
                <a:gd name="T37" fmla="*/ 45 h 199"/>
                <a:gd name="T38" fmla="*/ 0 w 1005"/>
                <a:gd name="T39" fmla="*/ 151 h 199"/>
                <a:gd name="T40" fmla="*/ 2 w 1005"/>
                <a:gd name="T41" fmla="*/ 157 h 199"/>
                <a:gd name="T42" fmla="*/ 2 w 1005"/>
                <a:gd name="T43" fmla="*/ 162 h 199"/>
                <a:gd name="T44" fmla="*/ 3 w 1005"/>
                <a:gd name="T45" fmla="*/ 169 h 199"/>
                <a:gd name="T46" fmla="*/ 3 w 1005"/>
                <a:gd name="T47" fmla="*/ 175 h 199"/>
                <a:gd name="T48" fmla="*/ 5 w 1005"/>
                <a:gd name="T49" fmla="*/ 180 h 199"/>
                <a:gd name="T50" fmla="*/ 5 w 1005"/>
                <a:gd name="T51" fmla="*/ 187 h 199"/>
                <a:gd name="T52" fmla="*/ 7 w 1005"/>
                <a:gd name="T53" fmla="*/ 192 h 199"/>
                <a:gd name="T54" fmla="*/ 8 w 1005"/>
                <a:gd name="T55" fmla="*/ 199 h 199"/>
                <a:gd name="T56" fmla="*/ 13 w 1005"/>
                <a:gd name="T57" fmla="*/ 199 h 199"/>
                <a:gd name="T58" fmla="*/ 12 w 1005"/>
                <a:gd name="T59" fmla="*/ 192 h 199"/>
                <a:gd name="T60" fmla="*/ 10 w 1005"/>
                <a:gd name="T61" fmla="*/ 185 h 199"/>
                <a:gd name="T62" fmla="*/ 10 w 1005"/>
                <a:gd name="T63" fmla="*/ 180 h 199"/>
                <a:gd name="T64" fmla="*/ 8 w 1005"/>
                <a:gd name="T65" fmla="*/ 174 h 199"/>
                <a:gd name="T66" fmla="*/ 7 w 1005"/>
                <a:gd name="T67" fmla="*/ 167 h 199"/>
                <a:gd name="T68" fmla="*/ 7 w 1005"/>
                <a:gd name="T69" fmla="*/ 160 h 199"/>
                <a:gd name="T70" fmla="*/ 5 w 1005"/>
                <a:gd name="T71" fmla="*/ 154 h 199"/>
                <a:gd name="T72" fmla="*/ 5 w 1005"/>
                <a:gd name="T73" fmla="*/ 149 h 199"/>
                <a:gd name="T74" fmla="*/ 0 w 1005"/>
                <a:gd name="T75" fmla="*/ 15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05" h="199">
                  <a:moveTo>
                    <a:pt x="1005" y="45"/>
                  </a:moveTo>
                  <a:lnTo>
                    <a:pt x="1005" y="40"/>
                  </a:lnTo>
                  <a:lnTo>
                    <a:pt x="1004" y="33"/>
                  </a:lnTo>
                  <a:lnTo>
                    <a:pt x="1004" y="28"/>
                  </a:lnTo>
                  <a:lnTo>
                    <a:pt x="1002" y="23"/>
                  </a:lnTo>
                  <a:lnTo>
                    <a:pt x="1002" y="16"/>
                  </a:lnTo>
                  <a:lnTo>
                    <a:pt x="1000" y="11"/>
                  </a:lnTo>
                  <a:lnTo>
                    <a:pt x="1000" y="5"/>
                  </a:lnTo>
                  <a:lnTo>
                    <a:pt x="999" y="0"/>
                  </a:lnTo>
                  <a:lnTo>
                    <a:pt x="994" y="0"/>
                  </a:lnTo>
                  <a:lnTo>
                    <a:pt x="995" y="5"/>
                  </a:lnTo>
                  <a:lnTo>
                    <a:pt x="995" y="11"/>
                  </a:lnTo>
                  <a:lnTo>
                    <a:pt x="997" y="18"/>
                  </a:lnTo>
                  <a:lnTo>
                    <a:pt x="999" y="23"/>
                  </a:lnTo>
                  <a:lnTo>
                    <a:pt x="999" y="30"/>
                  </a:lnTo>
                  <a:lnTo>
                    <a:pt x="1000" y="35"/>
                  </a:lnTo>
                  <a:lnTo>
                    <a:pt x="1000" y="41"/>
                  </a:lnTo>
                  <a:lnTo>
                    <a:pt x="1000" y="48"/>
                  </a:lnTo>
                  <a:lnTo>
                    <a:pt x="1005" y="45"/>
                  </a:lnTo>
                  <a:close/>
                  <a:moveTo>
                    <a:pt x="0" y="151"/>
                  </a:moveTo>
                  <a:lnTo>
                    <a:pt x="2" y="157"/>
                  </a:lnTo>
                  <a:lnTo>
                    <a:pt x="2" y="162"/>
                  </a:lnTo>
                  <a:lnTo>
                    <a:pt x="3" y="169"/>
                  </a:lnTo>
                  <a:lnTo>
                    <a:pt x="3" y="175"/>
                  </a:lnTo>
                  <a:lnTo>
                    <a:pt x="5" y="180"/>
                  </a:lnTo>
                  <a:lnTo>
                    <a:pt x="5" y="187"/>
                  </a:lnTo>
                  <a:lnTo>
                    <a:pt x="7" y="192"/>
                  </a:lnTo>
                  <a:lnTo>
                    <a:pt x="8" y="199"/>
                  </a:lnTo>
                  <a:lnTo>
                    <a:pt x="13" y="199"/>
                  </a:lnTo>
                  <a:lnTo>
                    <a:pt x="12" y="192"/>
                  </a:lnTo>
                  <a:lnTo>
                    <a:pt x="10" y="185"/>
                  </a:lnTo>
                  <a:lnTo>
                    <a:pt x="10" y="180"/>
                  </a:lnTo>
                  <a:lnTo>
                    <a:pt x="8" y="174"/>
                  </a:lnTo>
                  <a:lnTo>
                    <a:pt x="7" y="167"/>
                  </a:lnTo>
                  <a:lnTo>
                    <a:pt x="7" y="160"/>
                  </a:lnTo>
                  <a:lnTo>
                    <a:pt x="5" y="154"/>
                  </a:lnTo>
                  <a:lnTo>
                    <a:pt x="5" y="149"/>
                  </a:lnTo>
                  <a:lnTo>
                    <a:pt x="0" y="151"/>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31" name="Freeform 71">
              <a:extLst>
                <a:ext uri="{FF2B5EF4-FFF2-40B4-BE49-F238E27FC236}">
                  <a16:creationId xmlns:a16="http://schemas.microsoft.com/office/drawing/2014/main" id="{1ECAFB38-9EDE-DD40-1292-D8ED47EE886A}"/>
                </a:ext>
              </a:extLst>
            </p:cNvPr>
            <p:cNvSpPr>
              <a:spLocks noEditPoints="1"/>
            </p:cNvSpPr>
            <p:nvPr/>
          </p:nvSpPr>
          <p:spPr bwMode="auto">
            <a:xfrm>
              <a:off x="1336" y="1514"/>
              <a:ext cx="1001" cy="199"/>
            </a:xfrm>
            <a:custGeom>
              <a:avLst/>
              <a:gdLst>
                <a:gd name="T0" fmla="*/ 1001 w 1001"/>
                <a:gd name="T1" fmla="*/ 46 h 199"/>
                <a:gd name="T2" fmla="*/ 999 w 1001"/>
                <a:gd name="T3" fmla="*/ 41 h 199"/>
                <a:gd name="T4" fmla="*/ 999 w 1001"/>
                <a:gd name="T5" fmla="*/ 35 h 199"/>
                <a:gd name="T6" fmla="*/ 999 w 1001"/>
                <a:gd name="T7" fmla="*/ 28 h 199"/>
                <a:gd name="T8" fmla="*/ 997 w 1001"/>
                <a:gd name="T9" fmla="*/ 23 h 199"/>
                <a:gd name="T10" fmla="*/ 996 w 1001"/>
                <a:gd name="T11" fmla="*/ 16 h 199"/>
                <a:gd name="T12" fmla="*/ 996 w 1001"/>
                <a:gd name="T13" fmla="*/ 11 h 199"/>
                <a:gd name="T14" fmla="*/ 994 w 1001"/>
                <a:gd name="T15" fmla="*/ 5 h 199"/>
                <a:gd name="T16" fmla="*/ 994 w 1001"/>
                <a:gd name="T17" fmla="*/ 0 h 199"/>
                <a:gd name="T18" fmla="*/ 989 w 1001"/>
                <a:gd name="T19" fmla="*/ 0 h 199"/>
                <a:gd name="T20" fmla="*/ 989 w 1001"/>
                <a:gd name="T21" fmla="*/ 6 h 199"/>
                <a:gd name="T22" fmla="*/ 991 w 1001"/>
                <a:gd name="T23" fmla="*/ 11 h 199"/>
                <a:gd name="T24" fmla="*/ 992 w 1001"/>
                <a:gd name="T25" fmla="*/ 18 h 199"/>
                <a:gd name="T26" fmla="*/ 992 w 1001"/>
                <a:gd name="T27" fmla="*/ 23 h 199"/>
                <a:gd name="T28" fmla="*/ 994 w 1001"/>
                <a:gd name="T29" fmla="*/ 30 h 199"/>
                <a:gd name="T30" fmla="*/ 994 w 1001"/>
                <a:gd name="T31" fmla="*/ 36 h 199"/>
                <a:gd name="T32" fmla="*/ 996 w 1001"/>
                <a:gd name="T33" fmla="*/ 43 h 199"/>
                <a:gd name="T34" fmla="*/ 996 w 1001"/>
                <a:gd name="T35" fmla="*/ 48 h 199"/>
                <a:gd name="T36" fmla="*/ 1001 w 1001"/>
                <a:gd name="T37" fmla="*/ 46 h 199"/>
                <a:gd name="T38" fmla="*/ 0 w 1001"/>
                <a:gd name="T39" fmla="*/ 149 h 199"/>
                <a:gd name="T40" fmla="*/ 0 w 1001"/>
                <a:gd name="T41" fmla="*/ 155 h 199"/>
                <a:gd name="T42" fmla="*/ 2 w 1001"/>
                <a:gd name="T43" fmla="*/ 162 h 199"/>
                <a:gd name="T44" fmla="*/ 2 w 1001"/>
                <a:gd name="T45" fmla="*/ 167 h 199"/>
                <a:gd name="T46" fmla="*/ 4 w 1001"/>
                <a:gd name="T47" fmla="*/ 174 h 199"/>
                <a:gd name="T48" fmla="*/ 4 w 1001"/>
                <a:gd name="T49" fmla="*/ 180 h 199"/>
                <a:gd name="T50" fmla="*/ 5 w 1001"/>
                <a:gd name="T51" fmla="*/ 187 h 199"/>
                <a:gd name="T52" fmla="*/ 5 w 1001"/>
                <a:gd name="T53" fmla="*/ 192 h 199"/>
                <a:gd name="T54" fmla="*/ 7 w 1001"/>
                <a:gd name="T55" fmla="*/ 199 h 199"/>
                <a:gd name="T56" fmla="*/ 12 w 1001"/>
                <a:gd name="T57" fmla="*/ 199 h 199"/>
                <a:gd name="T58" fmla="*/ 10 w 1001"/>
                <a:gd name="T59" fmla="*/ 192 h 199"/>
                <a:gd name="T60" fmla="*/ 10 w 1001"/>
                <a:gd name="T61" fmla="*/ 185 h 199"/>
                <a:gd name="T62" fmla="*/ 9 w 1001"/>
                <a:gd name="T63" fmla="*/ 179 h 199"/>
                <a:gd name="T64" fmla="*/ 7 w 1001"/>
                <a:gd name="T65" fmla="*/ 174 h 199"/>
                <a:gd name="T66" fmla="*/ 7 w 1001"/>
                <a:gd name="T67" fmla="*/ 167 h 199"/>
                <a:gd name="T68" fmla="*/ 5 w 1001"/>
                <a:gd name="T69" fmla="*/ 160 h 199"/>
                <a:gd name="T70" fmla="*/ 5 w 1001"/>
                <a:gd name="T71" fmla="*/ 154 h 199"/>
                <a:gd name="T72" fmla="*/ 4 w 1001"/>
                <a:gd name="T73" fmla="*/ 147 h 199"/>
                <a:gd name="T74" fmla="*/ 0 w 1001"/>
                <a:gd name="T75" fmla="*/ 14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01" h="199">
                  <a:moveTo>
                    <a:pt x="1001" y="46"/>
                  </a:moveTo>
                  <a:lnTo>
                    <a:pt x="999" y="41"/>
                  </a:lnTo>
                  <a:lnTo>
                    <a:pt x="999" y="35"/>
                  </a:lnTo>
                  <a:lnTo>
                    <a:pt x="999" y="28"/>
                  </a:lnTo>
                  <a:lnTo>
                    <a:pt x="997" y="23"/>
                  </a:lnTo>
                  <a:lnTo>
                    <a:pt x="996" y="16"/>
                  </a:lnTo>
                  <a:lnTo>
                    <a:pt x="996" y="11"/>
                  </a:lnTo>
                  <a:lnTo>
                    <a:pt x="994" y="5"/>
                  </a:lnTo>
                  <a:lnTo>
                    <a:pt x="994" y="0"/>
                  </a:lnTo>
                  <a:lnTo>
                    <a:pt x="989" y="0"/>
                  </a:lnTo>
                  <a:lnTo>
                    <a:pt x="989" y="6"/>
                  </a:lnTo>
                  <a:lnTo>
                    <a:pt x="991" y="11"/>
                  </a:lnTo>
                  <a:lnTo>
                    <a:pt x="992" y="18"/>
                  </a:lnTo>
                  <a:lnTo>
                    <a:pt x="992" y="23"/>
                  </a:lnTo>
                  <a:lnTo>
                    <a:pt x="994" y="30"/>
                  </a:lnTo>
                  <a:lnTo>
                    <a:pt x="994" y="36"/>
                  </a:lnTo>
                  <a:lnTo>
                    <a:pt x="996" y="43"/>
                  </a:lnTo>
                  <a:lnTo>
                    <a:pt x="996" y="48"/>
                  </a:lnTo>
                  <a:lnTo>
                    <a:pt x="1001" y="46"/>
                  </a:lnTo>
                  <a:close/>
                  <a:moveTo>
                    <a:pt x="0" y="149"/>
                  </a:moveTo>
                  <a:lnTo>
                    <a:pt x="0" y="155"/>
                  </a:lnTo>
                  <a:lnTo>
                    <a:pt x="2" y="162"/>
                  </a:lnTo>
                  <a:lnTo>
                    <a:pt x="2" y="167"/>
                  </a:lnTo>
                  <a:lnTo>
                    <a:pt x="4" y="174"/>
                  </a:lnTo>
                  <a:lnTo>
                    <a:pt x="4" y="180"/>
                  </a:lnTo>
                  <a:lnTo>
                    <a:pt x="5" y="187"/>
                  </a:lnTo>
                  <a:lnTo>
                    <a:pt x="5" y="192"/>
                  </a:lnTo>
                  <a:lnTo>
                    <a:pt x="7" y="199"/>
                  </a:lnTo>
                  <a:lnTo>
                    <a:pt x="12" y="199"/>
                  </a:lnTo>
                  <a:lnTo>
                    <a:pt x="10" y="192"/>
                  </a:lnTo>
                  <a:lnTo>
                    <a:pt x="10" y="185"/>
                  </a:lnTo>
                  <a:lnTo>
                    <a:pt x="9" y="179"/>
                  </a:lnTo>
                  <a:lnTo>
                    <a:pt x="7" y="174"/>
                  </a:lnTo>
                  <a:lnTo>
                    <a:pt x="7" y="167"/>
                  </a:lnTo>
                  <a:lnTo>
                    <a:pt x="5" y="160"/>
                  </a:lnTo>
                  <a:lnTo>
                    <a:pt x="5" y="154"/>
                  </a:lnTo>
                  <a:lnTo>
                    <a:pt x="4" y="147"/>
                  </a:lnTo>
                  <a:lnTo>
                    <a:pt x="0" y="149"/>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32" name="Freeform 72">
              <a:extLst>
                <a:ext uri="{FF2B5EF4-FFF2-40B4-BE49-F238E27FC236}">
                  <a16:creationId xmlns:a16="http://schemas.microsoft.com/office/drawing/2014/main" id="{677E4426-441A-F851-ABF4-C201D133D3EB}"/>
                </a:ext>
              </a:extLst>
            </p:cNvPr>
            <p:cNvSpPr>
              <a:spLocks noEditPoints="1"/>
            </p:cNvSpPr>
            <p:nvPr/>
          </p:nvSpPr>
          <p:spPr bwMode="auto">
            <a:xfrm>
              <a:off x="1338" y="1514"/>
              <a:ext cx="995" cy="199"/>
            </a:xfrm>
            <a:custGeom>
              <a:avLst/>
              <a:gdLst>
                <a:gd name="T0" fmla="*/ 995 w 995"/>
                <a:gd name="T1" fmla="*/ 48 h 199"/>
                <a:gd name="T2" fmla="*/ 995 w 995"/>
                <a:gd name="T3" fmla="*/ 41 h 199"/>
                <a:gd name="T4" fmla="*/ 995 w 995"/>
                <a:gd name="T5" fmla="*/ 35 h 199"/>
                <a:gd name="T6" fmla="*/ 994 w 995"/>
                <a:gd name="T7" fmla="*/ 30 h 199"/>
                <a:gd name="T8" fmla="*/ 994 w 995"/>
                <a:gd name="T9" fmla="*/ 23 h 199"/>
                <a:gd name="T10" fmla="*/ 992 w 995"/>
                <a:gd name="T11" fmla="*/ 18 h 199"/>
                <a:gd name="T12" fmla="*/ 990 w 995"/>
                <a:gd name="T13" fmla="*/ 11 h 199"/>
                <a:gd name="T14" fmla="*/ 990 w 995"/>
                <a:gd name="T15" fmla="*/ 5 h 199"/>
                <a:gd name="T16" fmla="*/ 989 w 995"/>
                <a:gd name="T17" fmla="*/ 0 h 199"/>
                <a:gd name="T18" fmla="*/ 984 w 995"/>
                <a:gd name="T19" fmla="*/ 0 h 199"/>
                <a:gd name="T20" fmla="*/ 985 w 995"/>
                <a:gd name="T21" fmla="*/ 6 h 199"/>
                <a:gd name="T22" fmla="*/ 987 w 995"/>
                <a:gd name="T23" fmla="*/ 11 h 199"/>
                <a:gd name="T24" fmla="*/ 987 w 995"/>
                <a:gd name="T25" fmla="*/ 18 h 199"/>
                <a:gd name="T26" fmla="*/ 989 w 995"/>
                <a:gd name="T27" fmla="*/ 25 h 199"/>
                <a:gd name="T28" fmla="*/ 989 w 995"/>
                <a:gd name="T29" fmla="*/ 31 h 199"/>
                <a:gd name="T30" fmla="*/ 990 w 995"/>
                <a:gd name="T31" fmla="*/ 36 h 199"/>
                <a:gd name="T32" fmla="*/ 990 w 995"/>
                <a:gd name="T33" fmla="*/ 43 h 199"/>
                <a:gd name="T34" fmla="*/ 992 w 995"/>
                <a:gd name="T35" fmla="*/ 50 h 199"/>
                <a:gd name="T36" fmla="*/ 995 w 995"/>
                <a:gd name="T37" fmla="*/ 48 h 199"/>
                <a:gd name="T38" fmla="*/ 0 w 995"/>
                <a:gd name="T39" fmla="*/ 149 h 199"/>
                <a:gd name="T40" fmla="*/ 0 w 995"/>
                <a:gd name="T41" fmla="*/ 154 h 199"/>
                <a:gd name="T42" fmla="*/ 2 w 995"/>
                <a:gd name="T43" fmla="*/ 160 h 199"/>
                <a:gd name="T44" fmla="*/ 2 w 995"/>
                <a:gd name="T45" fmla="*/ 167 h 199"/>
                <a:gd name="T46" fmla="*/ 3 w 995"/>
                <a:gd name="T47" fmla="*/ 174 h 199"/>
                <a:gd name="T48" fmla="*/ 5 w 995"/>
                <a:gd name="T49" fmla="*/ 180 h 199"/>
                <a:gd name="T50" fmla="*/ 5 w 995"/>
                <a:gd name="T51" fmla="*/ 185 h 199"/>
                <a:gd name="T52" fmla="*/ 7 w 995"/>
                <a:gd name="T53" fmla="*/ 192 h 199"/>
                <a:gd name="T54" fmla="*/ 8 w 995"/>
                <a:gd name="T55" fmla="*/ 199 h 199"/>
                <a:gd name="T56" fmla="*/ 13 w 995"/>
                <a:gd name="T57" fmla="*/ 199 h 199"/>
                <a:gd name="T58" fmla="*/ 12 w 995"/>
                <a:gd name="T59" fmla="*/ 192 h 199"/>
                <a:gd name="T60" fmla="*/ 10 w 995"/>
                <a:gd name="T61" fmla="*/ 185 h 199"/>
                <a:gd name="T62" fmla="*/ 8 w 995"/>
                <a:gd name="T63" fmla="*/ 179 h 199"/>
                <a:gd name="T64" fmla="*/ 8 w 995"/>
                <a:gd name="T65" fmla="*/ 172 h 199"/>
                <a:gd name="T66" fmla="*/ 7 w 995"/>
                <a:gd name="T67" fmla="*/ 165 h 199"/>
                <a:gd name="T68" fmla="*/ 7 w 995"/>
                <a:gd name="T69" fmla="*/ 159 h 199"/>
                <a:gd name="T70" fmla="*/ 5 w 995"/>
                <a:gd name="T71" fmla="*/ 152 h 199"/>
                <a:gd name="T72" fmla="*/ 5 w 995"/>
                <a:gd name="T73" fmla="*/ 146 h 199"/>
                <a:gd name="T74" fmla="*/ 0 w 995"/>
                <a:gd name="T75" fmla="*/ 14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95" h="199">
                  <a:moveTo>
                    <a:pt x="995" y="48"/>
                  </a:moveTo>
                  <a:lnTo>
                    <a:pt x="995" y="41"/>
                  </a:lnTo>
                  <a:lnTo>
                    <a:pt x="995" y="35"/>
                  </a:lnTo>
                  <a:lnTo>
                    <a:pt x="994" y="30"/>
                  </a:lnTo>
                  <a:lnTo>
                    <a:pt x="994" y="23"/>
                  </a:lnTo>
                  <a:lnTo>
                    <a:pt x="992" y="18"/>
                  </a:lnTo>
                  <a:lnTo>
                    <a:pt x="990" y="11"/>
                  </a:lnTo>
                  <a:lnTo>
                    <a:pt x="990" y="5"/>
                  </a:lnTo>
                  <a:lnTo>
                    <a:pt x="989" y="0"/>
                  </a:lnTo>
                  <a:lnTo>
                    <a:pt x="984" y="0"/>
                  </a:lnTo>
                  <a:lnTo>
                    <a:pt x="985" y="6"/>
                  </a:lnTo>
                  <a:lnTo>
                    <a:pt x="987" y="11"/>
                  </a:lnTo>
                  <a:lnTo>
                    <a:pt x="987" y="18"/>
                  </a:lnTo>
                  <a:lnTo>
                    <a:pt x="989" y="25"/>
                  </a:lnTo>
                  <a:lnTo>
                    <a:pt x="989" y="31"/>
                  </a:lnTo>
                  <a:lnTo>
                    <a:pt x="990" y="36"/>
                  </a:lnTo>
                  <a:lnTo>
                    <a:pt x="990" y="43"/>
                  </a:lnTo>
                  <a:lnTo>
                    <a:pt x="992" y="50"/>
                  </a:lnTo>
                  <a:lnTo>
                    <a:pt x="995" y="48"/>
                  </a:lnTo>
                  <a:close/>
                  <a:moveTo>
                    <a:pt x="0" y="149"/>
                  </a:moveTo>
                  <a:lnTo>
                    <a:pt x="0" y="154"/>
                  </a:lnTo>
                  <a:lnTo>
                    <a:pt x="2" y="160"/>
                  </a:lnTo>
                  <a:lnTo>
                    <a:pt x="2" y="167"/>
                  </a:lnTo>
                  <a:lnTo>
                    <a:pt x="3" y="174"/>
                  </a:lnTo>
                  <a:lnTo>
                    <a:pt x="5" y="180"/>
                  </a:lnTo>
                  <a:lnTo>
                    <a:pt x="5" y="185"/>
                  </a:lnTo>
                  <a:lnTo>
                    <a:pt x="7" y="192"/>
                  </a:lnTo>
                  <a:lnTo>
                    <a:pt x="8" y="199"/>
                  </a:lnTo>
                  <a:lnTo>
                    <a:pt x="13" y="199"/>
                  </a:lnTo>
                  <a:lnTo>
                    <a:pt x="12" y="192"/>
                  </a:lnTo>
                  <a:lnTo>
                    <a:pt x="10" y="185"/>
                  </a:lnTo>
                  <a:lnTo>
                    <a:pt x="8" y="179"/>
                  </a:lnTo>
                  <a:lnTo>
                    <a:pt x="8" y="172"/>
                  </a:lnTo>
                  <a:lnTo>
                    <a:pt x="7" y="165"/>
                  </a:lnTo>
                  <a:lnTo>
                    <a:pt x="7" y="159"/>
                  </a:lnTo>
                  <a:lnTo>
                    <a:pt x="5" y="152"/>
                  </a:lnTo>
                  <a:lnTo>
                    <a:pt x="5" y="146"/>
                  </a:lnTo>
                  <a:lnTo>
                    <a:pt x="0" y="149"/>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33" name="Freeform 73">
              <a:extLst>
                <a:ext uri="{FF2B5EF4-FFF2-40B4-BE49-F238E27FC236}">
                  <a16:creationId xmlns:a16="http://schemas.microsoft.com/office/drawing/2014/main" id="{C85B898C-AA66-0D32-00B7-740B3BDF9D6E}"/>
                </a:ext>
              </a:extLst>
            </p:cNvPr>
            <p:cNvSpPr>
              <a:spLocks noEditPoints="1"/>
            </p:cNvSpPr>
            <p:nvPr/>
          </p:nvSpPr>
          <p:spPr bwMode="auto">
            <a:xfrm>
              <a:off x="1340" y="1514"/>
              <a:ext cx="992" cy="199"/>
            </a:xfrm>
            <a:custGeom>
              <a:avLst/>
              <a:gdLst>
                <a:gd name="T0" fmla="*/ 992 w 992"/>
                <a:gd name="T1" fmla="*/ 48 h 199"/>
                <a:gd name="T2" fmla="*/ 992 w 992"/>
                <a:gd name="T3" fmla="*/ 43 h 199"/>
                <a:gd name="T4" fmla="*/ 990 w 992"/>
                <a:gd name="T5" fmla="*/ 36 h 199"/>
                <a:gd name="T6" fmla="*/ 990 w 992"/>
                <a:gd name="T7" fmla="*/ 30 h 199"/>
                <a:gd name="T8" fmla="*/ 988 w 992"/>
                <a:gd name="T9" fmla="*/ 23 h 199"/>
                <a:gd name="T10" fmla="*/ 988 w 992"/>
                <a:gd name="T11" fmla="*/ 18 h 199"/>
                <a:gd name="T12" fmla="*/ 987 w 992"/>
                <a:gd name="T13" fmla="*/ 11 h 199"/>
                <a:gd name="T14" fmla="*/ 985 w 992"/>
                <a:gd name="T15" fmla="*/ 6 h 199"/>
                <a:gd name="T16" fmla="*/ 985 w 992"/>
                <a:gd name="T17" fmla="*/ 0 h 199"/>
                <a:gd name="T18" fmla="*/ 980 w 992"/>
                <a:gd name="T19" fmla="*/ 0 h 199"/>
                <a:gd name="T20" fmla="*/ 980 w 992"/>
                <a:gd name="T21" fmla="*/ 6 h 199"/>
                <a:gd name="T22" fmla="*/ 982 w 992"/>
                <a:gd name="T23" fmla="*/ 11 h 199"/>
                <a:gd name="T24" fmla="*/ 983 w 992"/>
                <a:gd name="T25" fmla="*/ 18 h 199"/>
                <a:gd name="T26" fmla="*/ 983 w 992"/>
                <a:gd name="T27" fmla="*/ 25 h 199"/>
                <a:gd name="T28" fmla="*/ 985 w 992"/>
                <a:gd name="T29" fmla="*/ 31 h 199"/>
                <a:gd name="T30" fmla="*/ 985 w 992"/>
                <a:gd name="T31" fmla="*/ 38 h 199"/>
                <a:gd name="T32" fmla="*/ 987 w 992"/>
                <a:gd name="T33" fmla="*/ 45 h 199"/>
                <a:gd name="T34" fmla="*/ 987 w 992"/>
                <a:gd name="T35" fmla="*/ 51 h 199"/>
                <a:gd name="T36" fmla="*/ 992 w 992"/>
                <a:gd name="T37" fmla="*/ 48 h 199"/>
                <a:gd name="T38" fmla="*/ 0 w 992"/>
                <a:gd name="T39" fmla="*/ 147 h 199"/>
                <a:gd name="T40" fmla="*/ 1 w 992"/>
                <a:gd name="T41" fmla="*/ 154 h 199"/>
                <a:gd name="T42" fmla="*/ 1 w 992"/>
                <a:gd name="T43" fmla="*/ 160 h 199"/>
                <a:gd name="T44" fmla="*/ 3 w 992"/>
                <a:gd name="T45" fmla="*/ 167 h 199"/>
                <a:gd name="T46" fmla="*/ 3 w 992"/>
                <a:gd name="T47" fmla="*/ 174 h 199"/>
                <a:gd name="T48" fmla="*/ 5 w 992"/>
                <a:gd name="T49" fmla="*/ 179 h 199"/>
                <a:gd name="T50" fmla="*/ 6 w 992"/>
                <a:gd name="T51" fmla="*/ 185 h 199"/>
                <a:gd name="T52" fmla="*/ 6 w 992"/>
                <a:gd name="T53" fmla="*/ 192 h 199"/>
                <a:gd name="T54" fmla="*/ 8 w 992"/>
                <a:gd name="T55" fmla="*/ 199 h 199"/>
                <a:gd name="T56" fmla="*/ 13 w 992"/>
                <a:gd name="T57" fmla="*/ 199 h 199"/>
                <a:gd name="T58" fmla="*/ 11 w 992"/>
                <a:gd name="T59" fmla="*/ 192 h 199"/>
                <a:gd name="T60" fmla="*/ 11 w 992"/>
                <a:gd name="T61" fmla="*/ 185 h 199"/>
                <a:gd name="T62" fmla="*/ 10 w 992"/>
                <a:gd name="T63" fmla="*/ 179 h 199"/>
                <a:gd name="T64" fmla="*/ 8 w 992"/>
                <a:gd name="T65" fmla="*/ 172 h 199"/>
                <a:gd name="T66" fmla="*/ 8 w 992"/>
                <a:gd name="T67" fmla="*/ 165 h 199"/>
                <a:gd name="T68" fmla="*/ 6 w 992"/>
                <a:gd name="T69" fmla="*/ 159 h 199"/>
                <a:gd name="T70" fmla="*/ 6 w 992"/>
                <a:gd name="T71" fmla="*/ 152 h 199"/>
                <a:gd name="T72" fmla="*/ 5 w 992"/>
                <a:gd name="T73" fmla="*/ 146 h 199"/>
                <a:gd name="T74" fmla="*/ 0 w 992"/>
                <a:gd name="T75" fmla="*/ 14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92" h="199">
                  <a:moveTo>
                    <a:pt x="992" y="48"/>
                  </a:moveTo>
                  <a:lnTo>
                    <a:pt x="992" y="43"/>
                  </a:lnTo>
                  <a:lnTo>
                    <a:pt x="990" y="36"/>
                  </a:lnTo>
                  <a:lnTo>
                    <a:pt x="990" y="30"/>
                  </a:lnTo>
                  <a:lnTo>
                    <a:pt x="988" y="23"/>
                  </a:lnTo>
                  <a:lnTo>
                    <a:pt x="988" y="18"/>
                  </a:lnTo>
                  <a:lnTo>
                    <a:pt x="987" y="11"/>
                  </a:lnTo>
                  <a:lnTo>
                    <a:pt x="985" y="6"/>
                  </a:lnTo>
                  <a:lnTo>
                    <a:pt x="985" y="0"/>
                  </a:lnTo>
                  <a:lnTo>
                    <a:pt x="980" y="0"/>
                  </a:lnTo>
                  <a:lnTo>
                    <a:pt x="980" y="6"/>
                  </a:lnTo>
                  <a:lnTo>
                    <a:pt x="982" y="11"/>
                  </a:lnTo>
                  <a:lnTo>
                    <a:pt x="983" y="18"/>
                  </a:lnTo>
                  <a:lnTo>
                    <a:pt x="983" y="25"/>
                  </a:lnTo>
                  <a:lnTo>
                    <a:pt x="985" y="31"/>
                  </a:lnTo>
                  <a:lnTo>
                    <a:pt x="985" y="38"/>
                  </a:lnTo>
                  <a:lnTo>
                    <a:pt x="987" y="45"/>
                  </a:lnTo>
                  <a:lnTo>
                    <a:pt x="987" y="51"/>
                  </a:lnTo>
                  <a:lnTo>
                    <a:pt x="992" y="48"/>
                  </a:lnTo>
                  <a:close/>
                  <a:moveTo>
                    <a:pt x="0" y="147"/>
                  </a:moveTo>
                  <a:lnTo>
                    <a:pt x="1" y="154"/>
                  </a:lnTo>
                  <a:lnTo>
                    <a:pt x="1" y="160"/>
                  </a:lnTo>
                  <a:lnTo>
                    <a:pt x="3" y="167"/>
                  </a:lnTo>
                  <a:lnTo>
                    <a:pt x="3" y="174"/>
                  </a:lnTo>
                  <a:lnTo>
                    <a:pt x="5" y="179"/>
                  </a:lnTo>
                  <a:lnTo>
                    <a:pt x="6" y="185"/>
                  </a:lnTo>
                  <a:lnTo>
                    <a:pt x="6" y="192"/>
                  </a:lnTo>
                  <a:lnTo>
                    <a:pt x="8" y="199"/>
                  </a:lnTo>
                  <a:lnTo>
                    <a:pt x="13" y="199"/>
                  </a:lnTo>
                  <a:lnTo>
                    <a:pt x="11" y="192"/>
                  </a:lnTo>
                  <a:lnTo>
                    <a:pt x="11" y="185"/>
                  </a:lnTo>
                  <a:lnTo>
                    <a:pt x="10" y="179"/>
                  </a:lnTo>
                  <a:lnTo>
                    <a:pt x="8" y="172"/>
                  </a:lnTo>
                  <a:lnTo>
                    <a:pt x="8" y="165"/>
                  </a:lnTo>
                  <a:lnTo>
                    <a:pt x="6" y="159"/>
                  </a:lnTo>
                  <a:lnTo>
                    <a:pt x="6" y="152"/>
                  </a:lnTo>
                  <a:lnTo>
                    <a:pt x="5" y="146"/>
                  </a:lnTo>
                  <a:lnTo>
                    <a:pt x="0" y="147"/>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34" name="Freeform 74">
              <a:extLst>
                <a:ext uri="{FF2B5EF4-FFF2-40B4-BE49-F238E27FC236}">
                  <a16:creationId xmlns:a16="http://schemas.microsoft.com/office/drawing/2014/main" id="{FC0648C8-E701-5A32-16E0-7E983C0FFCF8}"/>
                </a:ext>
              </a:extLst>
            </p:cNvPr>
            <p:cNvSpPr>
              <a:spLocks noEditPoints="1"/>
            </p:cNvSpPr>
            <p:nvPr/>
          </p:nvSpPr>
          <p:spPr bwMode="auto">
            <a:xfrm>
              <a:off x="1343" y="1514"/>
              <a:ext cx="987" cy="199"/>
            </a:xfrm>
            <a:custGeom>
              <a:avLst/>
              <a:gdLst>
                <a:gd name="T0" fmla="*/ 987 w 987"/>
                <a:gd name="T1" fmla="*/ 50 h 199"/>
                <a:gd name="T2" fmla="*/ 985 w 987"/>
                <a:gd name="T3" fmla="*/ 43 h 199"/>
                <a:gd name="T4" fmla="*/ 985 w 987"/>
                <a:gd name="T5" fmla="*/ 36 h 199"/>
                <a:gd name="T6" fmla="*/ 984 w 987"/>
                <a:gd name="T7" fmla="*/ 31 h 199"/>
                <a:gd name="T8" fmla="*/ 984 w 987"/>
                <a:gd name="T9" fmla="*/ 25 h 199"/>
                <a:gd name="T10" fmla="*/ 982 w 987"/>
                <a:gd name="T11" fmla="*/ 18 h 199"/>
                <a:gd name="T12" fmla="*/ 982 w 987"/>
                <a:gd name="T13" fmla="*/ 11 h 199"/>
                <a:gd name="T14" fmla="*/ 980 w 987"/>
                <a:gd name="T15" fmla="*/ 6 h 199"/>
                <a:gd name="T16" fmla="*/ 979 w 987"/>
                <a:gd name="T17" fmla="*/ 0 h 199"/>
                <a:gd name="T18" fmla="*/ 974 w 987"/>
                <a:gd name="T19" fmla="*/ 0 h 199"/>
                <a:gd name="T20" fmla="*/ 975 w 987"/>
                <a:gd name="T21" fmla="*/ 6 h 199"/>
                <a:gd name="T22" fmla="*/ 977 w 987"/>
                <a:gd name="T23" fmla="*/ 13 h 199"/>
                <a:gd name="T24" fmla="*/ 977 w 987"/>
                <a:gd name="T25" fmla="*/ 18 h 199"/>
                <a:gd name="T26" fmla="*/ 979 w 987"/>
                <a:gd name="T27" fmla="*/ 25 h 199"/>
                <a:gd name="T28" fmla="*/ 980 w 987"/>
                <a:gd name="T29" fmla="*/ 31 h 199"/>
                <a:gd name="T30" fmla="*/ 980 w 987"/>
                <a:gd name="T31" fmla="*/ 38 h 199"/>
                <a:gd name="T32" fmla="*/ 980 w 987"/>
                <a:gd name="T33" fmla="*/ 45 h 199"/>
                <a:gd name="T34" fmla="*/ 982 w 987"/>
                <a:gd name="T35" fmla="*/ 51 h 199"/>
                <a:gd name="T36" fmla="*/ 987 w 987"/>
                <a:gd name="T37" fmla="*/ 50 h 199"/>
                <a:gd name="T38" fmla="*/ 0 w 987"/>
                <a:gd name="T39" fmla="*/ 146 h 199"/>
                <a:gd name="T40" fmla="*/ 0 w 987"/>
                <a:gd name="T41" fmla="*/ 152 h 199"/>
                <a:gd name="T42" fmla="*/ 2 w 987"/>
                <a:gd name="T43" fmla="*/ 159 h 199"/>
                <a:gd name="T44" fmla="*/ 2 w 987"/>
                <a:gd name="T45" fmla="*/ 165 h 199"/>
                <a:gd name="T46" fmla="*/ 3 w 987"/>
                <a:gd name="T47" fmla="*/ 172 h 199"/>
                <a:gd name="T48" fmla="*/ 3 w 987"/>
                <a:gd name="T49" fmla="*/ 179 h 199"/>
                <a:gd name="T50" fmla="*/ 5 w 987"/>
                <a:gd name="T51" fmla="*/ 185 h 199"/>
                <a:gd name="T52" fmla="*/ 7 w 987"/>
                <a:gd name="T53" fmla="*/ 192 h 199"/>
                <a:gd name="T54" fmla="*/ 8 w 987"/>
                <a:gd name="T55" fmla="*/ 199 h 199"/>
                <a:gd name="T56" fmla="*/ 13 w 987"/>
                <a:gd name="T57" fmla="*/ 199 h 199"/>
                <a:gd name="T58" fmla="*/ 11 w 987"/>
                <a:gd name="T59" fmla="*/ 192 h 199"/>
                <a:gd name="T60" fmla="*/ 10 w 987"/>
                <a:gd name="T61" fmla="*/ 185 h 199"/>
                <a:gd name="T62" fmla="*/ 8 w 987"/>
                <a:gd name="T63" fmla="*/ 179 h 199"/>
                <a:gd name="T64" fmla="*/ 8 w 987"/>
                <a:gd name="T65" fmla="*/ 172 h 199"/>
                <a:gd name="T66" fmla="*/ 7 w 987"/>
                <a:gd name="T67" fmla="*/ 164 h 199"/>
                <a:gd name="T68" fmla="*/ 7 w 987"/>
                <a:gd name="T69" fmla="*/ 157 h 199"/>
                <a:gd name="T70" fmla="*/ 5 w 987"/>
                <a:gd name="T71" fmla="*/ 151 h 199"/>
                <a:gd name="T72" fmla="*/ 5 w 987"/>
                <a:gd name="T73" fmla="*/ 144 h 199"/>
                <a:gd name="T74" fmla="*/ 0 w 987"/>
                <a:gd name="T75" fmla="*/ 14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87" h="199">
                  <a:moveTo>
                    <a:pt x="987" y="50"/>
                  </a:moveTo>
                  <a:lnTo>
                    <a:pt x="985" y="43"/>
                  </a:lnTo>
                  <a:lnTo>
                    <a:pt x="985" y="36"/>
                  </a:lnTo>
                  <a:lnTo>
                    <a:pt x="984" y="31"/>
                  </a:lnTo>
                  <a:lnTo>
                    <a:pt x="984" y="25"/>
                  </a:lnTo>
                  <a:lnTo>
                    <a:pt x="982" y="18"/>
                  </a:lnTo>
                  <a:lnTo>
                    <a:pt x="982" y="11"/>
                  </a:lnTo>
                  <a:lnTo>
                    <a:pt x="980" y="6"/>
                  </a:lnTo>
                  <a:lnTo>
                    <a:pt x="979" y="0"/>
                  </a:lnTo>
                  <a:lnTo>
                    <a:pt x="974" y="0"/>
                  </a:lnTo>
                  <a:lnTo>
                    <a:pt x="975" y="6"/>
                  </a:lnTo>
                  <a:lnTo>
                    <a:pt x="977" y="13"/>
                  </a:lnTo>
                  <a:lnTo>
                    <a:pt x="977" y="18"/>
                  </a:lnTo>
                  <a:lnTo>
                    <a:pt x="979" y="25"/>
                  </a:lnTo>
                  <a:lnTo>
                    <a:pt x="980" y="31"/>
                  </a:lnTo>
                  <a:lnTo>
                    <a:pt x="980" y="38"/>
                  </a:lnTo>
                  <a:lnTo>
                    <a:pt x="980" y="45"/>
                  </a:lnTo>
                  <a:lnTo>
                    <a:pt x="982" y="51"/>
                  </a:lnTo>
                  <a:lnTo>
                    <a:pt x="987" y="50"/>
                  </a:lnTo>
                  <a:close/>
                  <a:moveTo>
                    <a:pt x="0" y="146"/>
                  </a:moveTo>
                  <a:lnTo>
                    <a:pt x="0" y="152"/>
                  </a:lnTo>
                  <a:lnTo>
                    <a:pt x="2" y="159"/>
                  </a:lnTo>
                  <a:lnTo>
                    <a:pt x="2" y="165"/>
                  </a:lnTo>
                  <a:lnTo>
                    <a:pt x="3" y="172"/>
                  </a:lnTo>
                  <a:lnTo>
                    <a:pt x="3" y="179"/>
                  </a:lnTo>
                  <a:lnTo>
                    <a:pt x="5" y="185"/>
                  </a:lnTo>
                  <a:lnTo>
                    <a:pt x="7" y="192"/>
                  </a:lnTo>
                  <a:lnTo>
                    <a:pt x="8" y="199"/>
                  </a:lnTo>
                  <a:lnTo>
                    <a:pt x="13" y="199"/>
                  </a:lnTo>
                  <a:lnTo>
                    <a:pt x="11" y="192"/>
                  </a:lnTo>
                  <a:lnTo>
                    <a:pt x="10" y="185"/>
                  </a:lnTo>
                  <a:lnTo>
                    <a:pt x="8" y="179"/>
                  </a:lnTo>
                  <a:lnTo>
                    <a:pt x="8" y="172"/>
                  </a:lnTo>
                  <a:lnTo>
                    <a:pt x="7" y="164"/>
                  </a:lnTo>
                  <a:lnTo>
                    <a:pt x="7" y="157"/>
                  </a:lnTo>
                  <a:lnTo>
                    <a:pt x="5" y="151"/>
                  </a:lnTo>
                  <a:lnTo>
                    <a:pt x="5" y="144"/>
                  </a:lnTo>
                  <a:lnTo>
                    <a:pt x="0" y="146"/>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35" name="Freeform 75">
              <a:extLst>
                <a:ext uri="{FF2B5EF4-FFF2-40B4-BE49-F238E27FC236}">
                  <a16:creationId xmlns:a16="http://schemas.microsoft.com/office/drawing/2014/main" id="{AC682B0D-9DB9-4094-8022-CFB33369E5A9}"/>
                </a:ext>
              </a:extLst>
            </p:cNvPr>
            <p:cNvSpPr>
              <a:spLocks noEditPoints="1"/>
            </p:cNvSpPr>
            <p:nvPr/>
          </p:nvSpPr>
          <p:spPr bwMode="auto">
            <a:xfrm>
              <a:off x="1345" y="1514"/>
              <a:ext cx="982" cy="199"/>
            </a:xfrm>
            <a:custGeom>
              <a:avLst/>
              <a:gdLst>
                <a:gd name="T0" fmla="*/ 982 w 982"/>
                <a:gd name="T1" fmla="*/ 51 h 199"/>
                <a:gd name="T2" fmla="*/ 982 w 982"/>
                <a:gd name="T3" fmla="*/ 45 h 199"/>
                <a:gd name="T4" fmla="*/ 980 w 982"/>
                <a:gd name="T5" fmla="*/ 38 h 199"/>
                <a:gd name="T6" fmla="*/ 980 w 982"/>
                <a:gd name="T7" fmla="*/ 31 h 199"/>
                <a:gd name="T8" fmla="*/ 978 w 982"/>
                <a:gd name="T9" fmla="*/ 25 h 199"/>
                <a:gd name="T10" fmla="*/ 978 w 982"/>
                <a:gd name="T11" fmla="*/ 18 h 199"/>
                <a:gd name="T12" fmla="*/ 977 w 982"/>
                <a:gd name="T13" fmla="*/ 11 h 199"/>
                <a:gd name="T14" fmla="*/ 975 w 982"/>
                <a:gd name="T15" fmla="*/ 6 h 199"/>
                <a:gd name="T16" fmla="*/ 975 w 982"/>
                <a:gd name="T17" fmla="*/ 0 h 199"/>
                <a:gd name="T18" fmla="*/ 970 w 982"/>
                <a:gd name="T19" fmla="*/ 0 h 199"/>
                <a:gd name="T20" fmla="*/ 970 w 982"/>
                <a:gd name="T21" fmla="*/ 6 h 199"/>
                <a:gd name="T22" fmla="*/ 972 w 982"/>
                <a:gd name="T23" fmla="*/ 13 h 199"/>
                <a:gd name="T24" fmla="*/ 973 w 982"/>
                <a:gd name="T25" fmla="*/ 20 h 199"/>
                <a:gd name="T26" fmla="*/ 975 w 982"/>
                <a:gd name="T27" fmla="*/ 26 h 199"/>
                <a:gd name="T28" fmla="*/ 975 w 982"/>
                <a:gd name="T29" fmla="*/ 33 h 199"/>
                <a:gd name="T30" fmla="*/ 977 w 982"/>
                <a:gd name="T31" fmla="*/ 40 h 199"/>
                <a:gd name="T32" fmla="*/ 977 w 982"/>
                <a:gd name="T33" fmla="*/ 46 h 199"/>
                <a:gd name="T34" fmla="*/ 977 w 982"/>
                <a:gd name="T35" fmla="*/ 53 h 199"/>
                <a:gd name="T36" fmla="*/ 982 w 982"/>
                <a:gd name="T37" fmla="*/ 51 h 199"/>
                <a:gd name="T38" fmla="*/ 0 w 982"/>
                <a:gd name="T39" fmla="*/ 146 h 199"/>
                <a:gd name="T40" fmla="*/ 1 w 982"/>
                <a:gd name="T41" fmla="*/ 152 h 199"/>
                <a:gd name="T42" fmla="*/ 1 w 982"/>
                <a:gd name="T43" fmla="*/ 159 h 199"/>
                <a:gd name="T44" fmla="*/ 3 w 982"/>
                <a:gd name="T45" fmla="*/ 165 h 199"/>
                <a:gd name="T46" fmla="*/ 3 w 982"/>
                <a:gd name="T47" fmla="*/ 172 h 199"/>
                <a:gd name="T48" fmla="*/ 5 w 982"/>
                <a:gd name="T49" fmla="*/ 179 h 199"/>
                <a:gd name="T50" fmla="*/ 6 w 982"/>
                <a:gd name="T51" fmla="*/ 185 h 199"/>
                <a:gd name="T52" fmla="*/ 6 w 982"/>
                <a:gd name="T53" fmla="*/ 192 h 199"/>
                <a:gd name="T54" fmla="*/ 8 w 982"/>
                <a:gd name="T55" fmla="*/ 199 h 199"/>
                <a:gd name="T56" fmla="*/ 13 w 982"/>
                <a:gd name="T57" fmla="*/ 199 h 199"/>
                <a:gd name="T58" fmla="*/ 11 w 982"/>
                <a:gd name="T59" fmla="*/ 192 h 199"/>
                <a:gd name="T60" fmla="*/ 9 w 982"/>
                <a:gd name="T61" fmla="*/ 185 h 199"/>
                <a:gd name="T62" fmla="*/ 9 w 982"/>
                <a:gd name="T63" fmla="*/ 177 h 199"/>
                <a:gd name="T64" fmla="*/ 8 w 982"/>
                <a:gd name="T65" fmla="*/ 170 h 199"/>
                <a:gd name="T66" fmla="*/ 6 w 982"/>
                <a:gd name="T67" fmla="*/ 164 h 199"/>
                <a:gd name="T68" fmla="*/ 6 w 982"/>
                <a:gd name="T69" fmla="*/ 157 h 199"/>
                <a:gd name="T70" fmla="*/ 5 w 982"/>
                <a:gd name="T71" fmla="*/ 151 h 199"/>
                <a:gd name="T72" fmla="*/ 5 w 982"/>
                <a:gd name="T73" fmla="*/ 142 h 199"/>
                <a:gd name="T74" fmla="*/ 0 w 982"/>
                <a:gd name="T75" fmla="*/ 14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82" h="199">
                  <a:moveTo>
                    <a:pt x="982" y="51"/>
                  </a:moveTo>
                  <a:lnTo>
                    <a:pt x="982" y="45"/>
                  </a:lnTo>
                  <a:lnTo>
                    <a:pt x="980" y="38"/>
                  </a:lnTo>
                  <a:lnTo>
                    <a:pt x="980" y="31"/>
                  </a:lnTo>
                  <a:lnTo>
                    <a:pt x="978" y="25"/>
                  </a:lnTo>
                  <a:lnTo>
                    <a:pt x="978" y="18"/>
                  </a:lnTo>
                  <a:lnTo>
                    <a:pt x="977" y="11"/>
                  </a:lnTo>
                  <a:lnTo>
                    <a:pt x="975" y="6"/>
                  </a:lnTo>
                  <a:lnTo>
                    <a:pt x="975" y="0"/>
                  </a:lnTo>
                  <a:lnTo>
                    <a:pt x="970" y="0"/>
                  </a:lnTo>
                  <a:lnTo>
                    <a:pt x="970" y="6"/>
                  </a:lnTo>
                  <a:lnTo>
                    <a:pt x="972" y="13"/>
                  </a:lnTo>
                  <a:lnTo>
                    <a:pt x="973" y="20"/>
                  </a:lnTo>
                  <a:lnTo>
                    <a:pt x="975" y="26"/>
                  </a:lnTo>
                  <a:lnTo>
                    <a:pt x="975" y="33"/>
                  </a:lnTo>
                  <a:lnTo>
                    <a:pt x="977" y="40"/>
                  </a:lnTo>
                  <a:lnTo>
                    <a:pt x="977" y="46"/>
                  </a:lnTo>
                  <a:lnTo>
                    <a:pt x="977" y="53"/>
                  </a:lnTo>
                  <a:lnTo>
                    <a:pt x="982" y="51"/>
                  </a:lnTo>
                  <a:close/>
                  <a:moveTo>
                    <a:pt x="0" y="146"/>
                  </a:moveTo>
                  <a:lnTo>
                    <a:pt x="1" y="152"/>
                  </a:lnTo>
                  <a:lnTo>
                    <a:pt x="1" y="159"/>
                  </a:lnTo>
                  <a:lnTo>
                    <a:pt x="3" y="165"/>
                  </a:lnTo>
                  <a:lnTo>
                    <a:pt x="3" y="172"/>
                  </a:lnTo>
                  <a:lnTo>
                    <a:pt x="5" y="179"/>
                  </a:lnTo>
                  <a:lnTo>
                    <a:pt x="6" y="185"/>
                  </a:lnTo>
                  <a:lnTo>
                    <a:pt x="6" y="192"/>
                  </a:lnTo>
                  <a:lnTo>
                    <a:pt x="8" y="199"/>
                  </a:lnTo>
                  <a:lnTo>
                    <a:pt x="13" y="199"/>
                  </a:lnTo>
                  <a:lnTo>
                    <a:pt x="11" y="192"/>
                  </a:lnTo>
                  <a:lnTo>
                    <a:pt x="9" y="185"/>
                  </a:lnTo>
                  <a:lnTo>
                    <a:pt x="9" y="177"/>
                  </a:lnTo>
                  <a:lnTo>
                    <a:pt x="8" y="170"/>
                  </a:lnTo>
                  <a:lnTo>
                    <a:pt x="6" y="164"/>
                  </a:lnTo>
                  <a:lnTo>
                    <a:pt x="6" y="157"/>
                  </a:lnTo>
                  <a:lnTo>
                    <a:pt x="5" y="151"/>
                  </a:lnTo>
                  <a:lnTo>
                    <a:pt x="5" y="142"/>
                  </a:lnTo>
                  <a:lnTo>
                    <a:pt x="0" y="146"/>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36" name="Freeform 76">
              <a:extLst>
                <a:ext uri="{FF2B5EF4-FFF2-40B4-BE49-F238E27FC236}">
                  <a16:creationId xmlns:a16="http://schemas.microsoft.com/office/drawing/2014/main" id="{1E490454-29A4-7468-498E-DF5BFE15742F}"/>
                </a:ext>
              </a:extLst>
            </p:cNvPr>
            <p:cNvSpPr>
              <a:spLocks noEditPoints="1"/>
            </p:cNvSpPr>
            <p:nvPr/>
          </p:nvSpPr>
          <p:spPr bwMode="auto">
            <a:xfrm>
              <a:off x="1348" y="1514"/>
              <a:ext cx="977" cy="199"/>
            </a:xfrm>
            <a:custGeom>
              <a:avLst/>
              <a:gdLst>
                <a:gd name="T0" fmla="*/ 977 w 977"/>
                <a:gd name="T1" fmla="*/ 51 h 199"/>
                <a:gd name="T2" fmla="*/ 975 w 977"/>
                <a:gd name="T3" fmla="*/ 45 h 199"/>
                <a:gd name="T4" fmla="*/ 975 w 977"/>
                <a:gd name="T5" fmla="*/ 38 h 199"/>
                <a:gd name="T6" fmla="*/ 975 w 977"/>
                <a:gd name="T7" fmla="*/ 31 h 199"/>
                <a:gd name="T8" fmla="*/ 974 w 977"/>
                <a:gd name="T9" fmla="*/ 25 h 199"/>
                <a:gd name="T10" fmla="*/ 972 w 977"/>
                <a:gd name="T11" fmla="*/ 18 h 199"/>
                <a:gd name="T12" fmla="*/ 972 w 977"/>
                <a:gd name="T13" fmla="*/ 13 h 199"/>
                <a:gd name="T14" fmla="*/ 970 w 977"/>
                <a:gd name="T15" fmla="*/ 6 h 199"/>
                <a:gd name="T16" fmla="*/ 969 w 977"/>
                <a:gd name="T17" fmla="*/ 0 h 199"/>
                <a:gd name="T18" fmla="*/ 964 w 977"/>
                <a:gd name="T19" fmla="*/ 0 h 199"/>
                <a:gd name="T20" fmla="*/ 965 w 977"/>
                <a:gd name="T21" fmla="*/ 6 h 199"/>
                <a:gd name="T22" fmla="*/ 967 w 977"/>
                <a:gd name="T23" fmla="*/ 13 h 199"/>
                <a:gd name="T24" fmla="*/ 967 w 977"/>
                <a:gd name="T25" fmla="*/ 20 h 199"/>
                <a:gd name="T26" fmla="*/ 969 w 977"/>
                <a:gd name="T27" fmla="*/ 26 h 199"/>
                <a:gd name="T28" fmla="*/ 970 w 977"/>
                <a:gd name="T29" fmla="*/ 33 h 199"/>
                <a:gd name="T30" fmla="*/ 970 w 977"/>
                <a:gd name="T31" fmla="*/ 40 h 199"/>
                <a:gd name="T32" fmla="*/ 972 w 977"/>
                <a:gd name="T33" fmla="*/ 46 h 199"/>
                <a:gd name="T34" fmla="*/ 972 w 977"/>
                <a:gd name="T35" fmla="*/ 53 h 199"/>
                <a:gd name="T36" fmla="*/ 977 w 977"/>
                <a:gd name="T37" fmla="*/ 51 h 199"/>
                <a:gd name="T38" fmla="*/ 0 w 977"/>
                <a:gd name="T39" fmla="*/ 144 h 199"/>
                <a:gd name="T40" fmla="*/ 0 w 977"/>
                <a:gd name="T41" fmla="*/ 151 h 199"/>
                <a:gd name="T42" fmla="*/ 2 w 977"/>
                <a:gd name="T43" fmla="*/ 157 h 199"/>
                <a:gd name="T44" fmla="*/ 2 w 977"/>
                <a:gd name="T45" fmla="*/ 164 h 199"/>
                <a:gd name="T46" fmla="*/ 3 w 977"/>
                <a:gd name="T47" fmla="*/ 172 h 199"/>
                <a:gd name="T48" fmla="*/ 3 w 977"/>
                <a:gd name="T49" fmla="*/ 179 h 199"/>
                <a:gd name="T50" fmla="*/ 5 w 977"/>
                <a:gd name="T51" fmla="*/ 185 h 199"/>
                <a:gd name="T52" fmla="*/ 6 w 977"/>
                <a:gd name="T53" fmla="*/ 192 h 199"/>
                <a:gd name="T54" fmla="*/ 8 w 977"/>
                <a:gd name="T55" fmla="*/ 199 h 199"/>
                <a:gd name="T56" fmla="*/ 11 w 977"/>
                <a:gd name="T57" fmla="*/ 199 h 199"/>
                <a:gd name="T58" fmla="*/ 11 w 977"/>
                <a:gd name="T59" fmla="*/ 192 h 199"/>
                <a:gd name="T60" fmla="*/ 10 w 977"/>
                <a:gd name="T61" fmla="*/ 184 h 199"/>
                <a:gd name="T62" fmla="*/ 8 w 977"/>
                <a:gd name="T63" fmla="*/ 177 h 199"/>
                <a:gd name="T64" fmla="*/ 6 w 977"/>
                <a:gd name="T65" fmla="*/ 170 h 199"/>
                <a:gd name="T66" fmla="*/ 6 w 977"/>
                <a:gd name="T67" fmla="*/ 164 h 199"/>
                <a:gd name="T68" fmla="*/ 5 w 977"/>
                <a:gd name="T69" fmla="*/ 155 h 199"/>
                <a:gd name="T70" fmla="*/ 5 w 977"/>
                <a:gd name="T71" fmla="*/ 149 h 199"/>
                <a:gd name="T72" fmla="*/ 3 w 977"/>
                <a:gd name="T73" fmla="*/ 142 h 199"/>
                <a:gd name="T74" fmla="*/ 0 w 977"/>
                <a:gd name="T75" fmla="*/ 14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77" h="199">
                  <a:moveTo>
                    <a:pt x="977" y="51"/>
                  </a:moveTo>
                  <a:lnTo>
                    <a:pt x="975" y="45"/>
                  </a:lnTo>
                  <a:lnTo>
                    <a:pt x="975" y="38"/>
                  </a:lnTo>
                  <a:lnTo>
                    <a:pt x="975" y="31"/>
                  </a:lnTo>
                  <a:lnTo>
                    <a:pt x="974" y="25"/>
                  </a:lnTo>
                  <a:lnTo>
                    <a:pt x="972" y="18"/>
                  </a:lnTo>
                  <a:lnTo>
                    <a:pt x="972" y="13"/>
                  </a:lnTo>
                  <a:lnTo>
                    <a:pt x="970" y="6"/>
                  </a:lnTo>
                  <a:lnTo>
                    <a:pt x="969" y="0"/>
                  </a:lnTo>
                  <a:lnTo>
                    <a:pt x="964" y="0"/>
                  </a:lnTo>
                  <a:lnTo>
                    <a:pt x="965" y="6"/>
                  </a:lnTo>
                  <a:lnTo>
                    <a:pt x="967" y="13"/>
                  </a:lnTo>
                  <a:lnTo>
                    <a:pt x="967" y="20"/>
                  </a:lnTo>
                  <a:lnTo>
                    <a:pt x="969" y="26"/>
                  </a:lnTo>
                  <a:lnTo>
                    <a:pt x="970" y="33"/>
                  </a:lnTo>
                  <a:lnTo>
                    <a:pt x="970" y="40"/>
                  </a:lnTo>
                  <a:lnTo>
                    <a:pt x="972" y="46"/>
                  </a:lnTo>
                  <a:lnTo>
                    <a:pt x="972" y="53"/>
                  </a:lnTo>
                  <a:lnTo>
                    <a:pt x="977" y="51"/>
                  </a:lnTo>
                  <a:close/>
                  <a:moveTo>
                    <a:pt x="0" y="144"/>
                  </a:moveTo>
                  <a:lnTo>
                    <a:pt x="0" y="151"/>
                  </a:lnTo>
                  <a:lnTo>
                    <a:pt x="2" y="157"/>
                  </a:lnTo>
                  <a:lnTo>
                    <a:pt x="2" y="164"/>
                  </a:lnTo>
                  <a:lnTo>
                    <a:pt x="3" y="172"/>
                  </a:lnTo>
                  <a:lnTo>
                    <a:pt x="3" y="179"/>
                  </a:lnTo>
                  <a:lnTo>
                    <a:pt x="5" y="185"/>
                  </a:lnTo>
                  <a:lnTo>
                    <a:pt x="6" y="192"/>
                  </a:lnTo>
                  <a:lnTo>
                    <a:pt x="8" y="199"/>
                  </a:lnTo>
                  <a:lnTo>
                    <a:pt x="11" y="199"/>
                  </a:lnTo>
                  <a:lnTo>
                    <a:pt x="11" y="192"/>
                  </a:lnTo>
                  <a:lnTo>
                    <a:pt x="10" y="184"/>
                  </a:lnTo>
                  <a:lnTo>
                    <a:pt x="8" y="177"/>
                  </a:lnTo>
                  <a:lnTo>
                    <a:pt x="6" y="170"/>
                  </a:lnTo>
                  <a:lnTo>
                    <a:pt x="6" y="164"/>
                  </a:lnTo>
                  <a:lnTo>
                    <a:pt x="5" y="155"/>
                  </a:lnTo>
                  <a:lnTo>
                    <a:pt x="5" y="149"/>
                  </a:lnTo>
                  <a:lnTo>
                    <a:pt x="3" y="142"/>
                  </a:lnTo>
                  <a:lnTo>
                    <a:pt x="0" y="144"/>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37" name="Freeform 77">
              <a:extLst>
                <a:ext uri="{FF2B5EF4-FFF2-40B4-BE49-F238E27FC236}">
                  <a16:creationId xmlns:a16="http://schemas.microsoft.com/office/drawing/2014/main" id="{C2CC34DE-8D01-FC7E-74CF-0ACCEDAB089A}"/>
                </a:ext>
              </a:extLst>
            </p:cNvPr>
            <p:cNvSpPr>
              <a:spLocks noEditPoints="1"/>
            </p:cNvSpPr>
            <p:nvPr/>
          </p:nvSpPr>
          <p:spPr bwMode="auto">
            <a:xfrm>
              <a:off x="1350" y="1514"/>
              <a:ext cx="972" cy="199"/>
            </a:xfrm>
            <a:custGeom>
              <a:avLst/>
              <a:gdLst>
                <a:gd name="T0" fmla="*/ 972 w 972"/>
                <a:gd name="T1" fmla="*/ 53 h 199"/>
                <a:gd name="T2" fmla="*/ 972 w 972"/>
                <a:gd name="T3" fmla="*/ 46 h 199"/>
                <a:gd name="T4" fmla="*/ 972 w 972"/>
                <a:gd name="T5" fmla="*/ 40 h 199"/>
                <a:gd name="T6" fmla="*/ 970 w 972"/>
                <a:gd name="T7" fmla="*/ 33 h 199"/>
                <a:gd name="T8" fmla="*/ 970 w 972"/>
                <a:gd name="T9" fmla="*/ 26 h 199"/>
                <a:gd name="T10" fmla="*/ 968 w 972"/>
                <a:gd name="T11" fmla="*/ 20 h 199"/>
                <a:gd name="T12" fmla="*/ 967 w 972"/>
                <a:gd name="T13" fmla="*/ 13 h 199"/>
                <a:gd name="T14" fmla="*/ 965 w 972"/>
                <a:gd name="T15" fmla="*/ 6 h 199"/>
                <a:gd name="T16" fmla="*/ 965 w 972"/>
                <a:gd name="T17" fmla="*/ 0 h 199"/>
                <a:gd name="T18" fmla="*/ 960 w 972"/>
                <a:gd name="T19" fmla="*/ 0 h 199"/>
                <a:gd name="T20" fmla="*/ 962 w 972"/>
                <a:gd name="T21" fmla="*/ 6 h 199"/>
                <a:gd name="T22" fmla="*/ 962 w 972"/>
                <a:gd name="T23" fmla="*/ 13 h 199"/>
                <a:gd name="T24" fmla="*/ 963 w 972"/>
                <a:gd name="T25" fmla="*/ 20 h 199"/>
                <a:gd name="T26" fmla="*/ 965 w 972"/>
                <a:gd name="T27" fmla="*/ 26 h 199"/>
                <a:gd name="T28" fmla="*/ 965 w 972"/>
                <a:gd name="T29" fmla="*/ 33 h 199"/>
                <a:gd name="T30" fmla="*/ 967 w 972"/>
                <a:gd name="T31" fmla="*/ 41 h 199"/>
                <a:gd name="T32" fmla="*/ 967 w 972"/>
                <a:gd name="T33" fmla="*/ 48 h 199"/>
                <a:gd name="T34" fmla="*/ 968 w 972"/>
                <a:gd name="T35" fmla="*/ 54 h 199"/>
                <a:gd name="T36" fmla="*/ 972 w 972"/>
                <a:gd name="T37" fmla="*/ 53 h 199"/>
                <a:gd name="T38" fmla="*/ 0 w 972"/>
                <a:gd name="T39" fmla="*/ 142 h 199"/>
                <a:gd name="T40" fmla="*/ 0 w 972"/>
                <a:gd name="T41" fmla="*/ 151 h 199"/>
                <a:gd name="T42" fmla="*/ 1 w 972"/>
                <a:gd name="T43" fmla="*/ 157 h 199"/>
                <a:gd name="T44" fmla="*/ 1 w 972"/>
                <a:gd name="T45" fmla="*/ 164 h 199"/>
                <a:gd name="T46" fmla="*/ 3 w 972"/>
                <a:gd name="T47" fmla="*/ 170 h 199"/>
                <a:gd name="T48" fmla="*/ 4 w 972"/>
                <a:gd name="T49" fmla="*/ 177 h 199"/>
                <a:gd name="T50" fmla="*/ 4 w 972"/>
                <a:gd name="T51" fmla="*/ 185 h 199"/>
                <a:gd name="T52" fmla="*/ 6 w 972"/>
                <a:gd name="T53" fmla="*/ 192 h 199"/>
                <a:gd name="T54" fmla="*/ 8 w 972"/>
                <a:gd name="T55" fmla="*/ 199 h 199"/>
                <a:gd name="T56" fmla="*/ 13 w 972"/>
                <a:gd name="T57" fmla="*/ 199 h 199"/>
                <a:gd name="T58" fmla="*/ 11 w 972"/>
                <a:gd name="T59" fmla="*/ 192 h 199"/>
                <a:gd name="T60" fmla="*/ 9 w 972"/>
                <a:gd name="T61" fmla="*/ 184 h 199"/>
                <a:gd name="T62" fmla="*/ 9 w 972"/>
                <a:gd name="T63" fmla="*/ 177 h 199"/>
                <a:gd name="T64" fmla="*/ 8 w 972"/>
                <a:gd name="T65" fmla="*/ 170 h 199"/>
                <a:gd name="T66" fmla="*/ 6 w 972"/>
                <a:gd name="T67" fmla="*/ 162 h 199"/>
                <a:gd name="T68" fmla="*/ 6 w 972"/>
                <a:gd name="T69" fmla="*/ 155 h 199"/>
                <a:gd name="T70" fmla="*/ 4 w 972"/>
                <a:gd name="T71" fmla="*/ 147 h 199"/>
                <a:gd name="T72" fmla="*/ 4 w 972"/>
                <a:gd name="T73" fmla="*/ 141 h 199"/>
                <a:gd name="T74" fmla="*/ 0 w 972"/>
                <a:gd name="T75" fmla="*/ 14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72" h="199">
                  <a:moveTo>
                    <a:pt x="972" y="53"/>
                  </a:moveTo>
                  <a:lnTo>
                    <a:pt x="972" y="46"/>
                  </a:lnTo>
                  <a:lnTo>
                    <a:pt x="972" y="40"/>
                  </a:lnTo>
                  <a:lnTo>
                    <a:pt x="970" y="33"/>
                  </a:lnTo>
                  <a:lnTo>
                    <a:pt x="970" y="26"/>
                  </a:lnTo>
                  <a:lnTo>
                    <a:pt x="968" y="20"/>
                  </a:lnTo>
                  <a:lnTo>
                    <a:pt x="967" y="13"/>
                  </a:lnTo>
                  <a:lnTo>
                    <a:pt x="965" y="6"/>
                  </a:lnTo>
                  <a:lnTo>
                    <a:pt x="965" y="0"/>
                  </a:lnTo>
                  <a:lnTo>
                    <a:pt x="960" y="0"/>
                  </a:lnTo>
                  <a:lnTo>
                    <a:pt x="962" y="6"/>
                  </a:lnTo>
                  <a:lnTo>
                    <a:pt x="962" y="13"/>
                  </a:lnTo>
                  <a:lnTo>
                    <a:pt x="963" y="20"/>
                  </a:lnTo>
                  <a:lnTo>
                    <a:pt x="965" y="26"/>
                  </a:lnTo>
                  <a:lnTo>
                    <a:pt x="965" y="33"/>
                  </a:lnTo>
                  <a:lnTo>
                    <a:pt x="967" y="41"/>
                  </a:lnTo>
                  <a:lnTo>
                    <a:pt x="967" y="48"/>
                  </a:lnTo>
                  <a:lnTo>
                    <a:pt x="968" y="54"/>
                  </a:lnTo>
                  <a:lnTo>
                    <a:pt x="972" y="53"/>
                  </a:lnTo>
                  <a:close/>
                  <a:moveTo>
                    <a:pt x="0" y="142"/>
                  </a:moveTo>
                  <a:lnTo>
                    <a:pt x="0" y="151"/>
                  </a:lnTo>
                  <a:lnTo>
                    <a:pt x="1" y="157"/>
                  </a:lnTo>
                  <a:lnTo>
                    <a:pt x="1" y="164"/>
                  </a:lnTo>
                  <a:lnTo>
                    <a:pt x="3" y="170"/>
                  </a:lnTo>
                  <a:lnTo>
                    <a:pt x="4" y="177"/>
                  </a:lnTo>
                  <a:lnTo>
                    <a:pt x="4" y="185"/>
                  </a:lnTo>
                  <a:lnTo>
                    <a:pt x="6" y="192"/>
                  </a:lnTo>
                  <a:lnTo>
                    <a:pt x="8" y="199"/>
                  </a:lnTo>
                  <a:lnTo>
                    <a:pt x="13" y="199"/>
                  </a:lnTo>
                  <a:lnTo>
                    <a:pt x="11" y="192"/>
                  </a:lnTo>
                  <a:lnTo>
                    <a:pt x="9" y="184"/>
                  </a:lnTo>
                  <a:lnTo>
                    <a:pt x="9" y="177"/>
                  </a:lnTo>
                  <a:lnTo>
                    <a:pt x="8" y="170"/>
                  </a:lnTo>
                  <a:lnTo>
                    <a:pt x="6" y="162"/>
                  </a:lnTo>
                  <a:lnTo>
                    <a:pt x="6" y="155"/>
                  </a:lnTo>
                  <a:lnTo>
                    <a:pt x="4" y="147"/>
                  </a:lnTo>
                  <a:lnTo>
                    <a:pt x="4" y="141"/>
                  </a:lnTo>
                  <a:lnTo>
                    <a:pt x="0" y="142"/>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38" name="Freeform 78">
              <a:extLst>
                <a:ext uri="{FF2B5EF4-FFF2-40B4-BE49-F238E27FC236}">
                  <a16:creationId xmlns:a16="http://schemas.microsoft.com/office/drawing/2014/main" id="{4EBC25F0-3F54-C8DD-1AD1-85B964D2A281}"/>
                </a:ext>
              </a:extLst>
            </p:cNvPr>
            <p:cNvSpPr>
              <a:spLocks noEditPoints="1"/>
            </p:cNvSpPr>
            <p:nvPr/>
          </p:nvSpPr>
          <p:spPr bwMode="auto">
            <a:xfrm>
              <a:off x="1351" y="1514"/>
              <a:ext cx="969" cy="199"/>
            </a:xfrm>
            <a:custGeom>
              <a:avLst/>
              <a:gdLst>
                <a:gd name="T0" fmla="*/ 969 w 969"/>
                <a:gd name="T1" fmla="*/ 53 h 199"/>
                <a:gd name="T2" fmla="*/ 969 w 969"/>
                <a:gd name="T3" fmla="*/ 46 h 199"/>
                <a:gd name="T4" fmla="*/ 967 w 969"/>
                <a:gd name="T5" fmla="*/ 40 h 199"/>
                <a:gd name="T6" fmla="*/ 967 w 969"/>
                <a:gd name="T7" fmla="*/ 33 h 199"/>
                <a:gd name="T8" fmla="*/ 966 w 969"/>
                <a:gd name="T9" fmla="*/ 26 h 199"/>
                <a:gd name="T10" fmla="*/ 964 w 969"/>
                <a:gd name="T11" fmla="*/ 20 h 199"/>
                <a:gd name="T12" fmla="*/ 964 w 969"/>
                <a:gd name="T13" fmla="*/ 13 h 199"/>
                <a:gd name="T14" fmla="*/ 962 w 969"/>
                <a:gd name="T15" fmla="*/ 6 h 199"/>
                <a:gd name="T16" fmla="*/ 961 w 969"/>
                <a:gd name="T17" fmla="*/ 0 h 199"/>
                <a:gd name="T18" fmla="*/ 956 w 969"/>
                <a:gd name="T19" fmla="*/ 0 h 199"/>
                <a:gd name="T20" fmla="*/ 957 w 969"/>
                <a:gd name="T21" fmla="*/ 6 h 199"/>
                <a:gd name="T22" fmla="*/ 959 w 969"/>
                <a:gd name="T23" fmla="*/ 13 h 199"/>
                <a:gd name="T24" fmla="*/ 961 w 969"/>
                <a:gd name="T25" fmla="*/ 20 h 199"/>
                <a:gd name="T26" fmla="*/ 961 w 969"/>
                <a:gd name="T27" fmla="*/ 28 h 199"/>
                <a:gd name="T28" fmla="*/ 962 w 969"/>
                <a:gd name="T29" fmla="*/ 35 h 199"/>
                <a:gd name="T30" fmla="*/ 962 w 969"/>
                <a:gd name="T31" fmla="*/ 41 h 199"/>
                <a:gd name="T32" fmla="*/ 964 w 969"/>
                <a:gd name="T33" fmla="*/ 48 h 199"/>
                <a:gd name="T34" fmla="*/ 964 w 969"/>
                <a:gd name="T35" fmla="*/ 56 h 199"/>
                <a:gd name="T36" fmla="*/ 969 w 969"/>
                <a:gd name="T37" fmla="*/ 53 h 199"/>
                <a:gd name="T38" fmla="*/ 0 w 969"/>
                <a:gd name="T39" fmla="*/ 142 h 199"/>
                <a:gd name="T40" fmla="*/ 2 w 969"/>
                <a:gd name="T41" fmla="*/ 149 h 199"/>
                <a:gd name="T42" fmla="*/ 2 w 969"/>
                <a:gd name="T43" fmla="*/ 155 h 199"/>
                <a:gd name="T44" fmla="*/ 3 w 969"/>
                <a:gd name="T45" fmla="*/ 164 h 199"/>
                <a:gd name="T46" fmla="*/ 3 w 969"/>
                <a:gd name="T47" fmla="*/ 170 h 199"/>
                <a:gd name="T48" fmla="*/ 5 w 969"/>
                <a:gd name="T49" fmla="*/ 177 h 199"/>
                <a:gd name="T50" fmla="*/ 7 w 969"/>
                <a:gd name="T51" fmla="*/ 184 h 199"/>
                <a:gd name="T52" fmla="*/ 8 w 969"/>
                <a:gd name="T53" fmla="*/ 192 h 199"/>
                <a:gd name="T54" fmla="*/ 8 w 969"/>
                <a:gd name="T55" fmla="*/ 199 h 199"/>
                <a:gd name="T56" fmla="*/ 13 w 969"/>
                <a:gd name="T57" fmla="*/ 199 h 199"/>
                <a:gd name="T58" fmla="*/ 13 w 969"/>
                <a:gd name="T59" fmla="*/ 192 h 199"/>
                <a:gd name="T60" fmla="*/ 12 w 969"/>
                <a:gd name="T61" fmla="*/ 184 h 199"/>
                <a:gd name="T62" fmla="*/ 10 w 969"/>
                <a:gd name="T63" fmla="*/ 177 h 199"/>
                <a:gd name="T64" fmla="*/ 8 w 969"/>
                <a:gd name="T65" fmla="*/ 169 h 199"/>
                <a:gd name="T66" fmla="*/ 8 w 969"/>
                <a:gd name="T67" fmla="*/ 162 h 199"/>
                <a:gd name="T68" fmla="*/ 7 w 969"/>
                <a:gd name="T69" fmla="*/ 154 h 199"/>
                <a:gd name="T70" fmla="*/ 7 w 969"/>
                <a:gd name="T71" fmla="*/ 147 h 199"/>
                <a:gd name="T72" fmla="*/ 5 w 969"/>
                <a:gd name="T73" fmla="*/ 139 h 199"/>
                <a:gd name="T74" fmla="*/ 0 w 969"/>
                <a:gd name="T75" fmla="*/ 14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69" h="199">
                  <a:moveTo>
                    <a:pt x="969" y="53"/>
                  </a:moveTo>
                  <a:lnTo>
                    <a:pt x="969" y="46"/>
                  </a:lnTo>
                  <a:lnTo>
                    <a:pt x="967" y="40"/>
                  </a:lnTo>
                  <a:lnTo>
                    <a:pt x="967" y="33"/>
                  </a:lnTo>
                  <a:lnTo>
                    <a:pt x="966" y="26"/>
                  </a:lnTo>
                  <a:lnTo>
                    <a:pt x="964" y="20"/>
                  </a:lnTo>
                  <a:lnTo>
                    <a:pt x="964" y="13"/>
                  </a:lnTo>
                  <a:lnTo>
                    <a:pt x="962" y="6"/>
                  </a:lnTo>
                  <a:lnTo>
                    <a:pt x="961" y="0"/>
                  </a:lnTo>
                  <a:lnTo>
                    <a:pt x="956" y="0"/>
                  </a:lnTo>
                  <a:lnTo>
                    <a:pt x="957" y="6"/>
                  </a:lnTo>
                  <a:lnTo>
                    <a:pt x="959" y="13"/>
                  </a:lnTo>
                  <a:lnTo>
                    <a:pt x="961" y="20"/>
                  </a:lnTo>
                  <a:lnTo>
                    <a:pt x="961" y="28"/>
                  </a:lnTo>
                  <a:lnTo>
                    <a:pt x="962" y="35"/>
                  </a:lnTo>
                  <a:lnTo>
                    <a:pt x="962" y="41"/>
                  </a:lnTo>
                  <a:lnTo>
                    <a:pt x="964" y="48"/>
                  </a:lnTo>
                  <a:lnTo>
                    <a:pt x="964" y="56"/>
                  </a:lnTo>
                  <a:lnTo>
                    <a:pt x="969" y="53"/>
                  </a:lnTo>
                  <a:close/>
                  <a:moveTo>
                    <a:pt x="0" y="142"/>
                  </a:moveTo>
                  <a:lnTo>
                    <a:pt x="2" y="149"/>
                  </a:lnTo>
                  <a:lnTo>
                    <a:pt x="2" y="155"/>
                  </a:lnTo>
                  <a:lnTo>
                    <a:pt x="3" y="164"/>
                  </a:lnTo>
                  <a:lnTo>
                    <a:pt x="3" y="170"/>
                  </a:lnTo>
                  <a:lnTo>
                    <a:pt x="5" y="177"/>
                  </a:lnTo>
                  <a:lnTo>
                    <a:pt x="7" y="184"/>
                  </a:lnTo>
                  <a:lnTo>
                    <a:pt x="8" y="192"/>
                  </a:lnTo>
                  <a:lnTo>
                    <a:pt x="8" y="199"/>
                  </a:lnTo>
                  <a:lnTo>
                    <a:pt x="13" y="199"/>
                  </a:lnTo>
                  <a:lnTo>
                    <a:pt x="13" y="192"/>
                  </a:lnTo>
                  <a:lnTo>
                    <a:pt x="12" y="184"/>
                  </a:lnTo>
                  <a:lnTo>
                    <a:pt x="10" y="177"/>
                  </a:lnTo>
                  <a:lnTo>
                    <a:pt x="8" y="169"/>
                  </a:lnTo>
                  <a:lnTo>
                    <a:pt x="8" y="162"/>
                  </a:lnTo>
                  <a:lnTo>
                    <a:pt x="7" y="154"/>
                  </a:lnTo>
                  <a:lnTo>
                    <a:pt x="7" y="147"/>
                  </a:lnTo>
                  <a:lnTo>
                    <a:pt x="5" y="139"/>
                  </a:lnTo>
                  <a:lnTo>
                    <a:pt x="0" y="142"/>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39" name="Freeform 79">
              <a:extLst>
                <a:ext uri="{FF2B5EF4-FFF2-40B4-BE49-F238E27FC236}">
                  <a16:creationId xmlns:a16="http://schemas.microsoft.com/office/drawing/2014/main" id="{CF711B2E-E292-E94E-1A08-765A3E677FA8}"/>
                </a:ext>
              </a:extLst>
            </p:cNvPr>
            <p:cNvSpPr>
              <a:spLocks noEditPoints="1"/>
            </p:cNvSpPr>
            <p:nvPr/>
          </p:nvSpPr>
          <p:spPr bwMode="auto">
            <a:xfrm>
              <a:off x="1354" y="1514"/>
              <a:ext cx="964" cy="199"/>
            </a:xfrm>
            <a:custGeom>
              <a:avLst/>
              <a:gdLst>
                <a:gd name="T0" fmla="*/ 964 w 964"/>
                <a:gd name="T1" fmla="*/ 54 h 199"/>
                <a:gd name="T2" fmla="*/ 963 w 964"/>
                <a:gd name="T3" fmla="*/ 48 h 199"/>
                <a:gd name="T4" fmla="*/ 963 w 964"/>
                <a:gd name="T5" fmla="*/ 41 h 199"/>
                <a:gd name="T6" fmla="*/ 961 w 964"/>
                <a:gd name="T7" fmla="*/ 33 h 199"/>
                <a:gd name="T8" fmla="*/ 961 w 964"/>
                <a:gd name="T9" fmla="*/ 26 h 199"/>
                <a:gd name="T10" fmla="*/ 959 w 964"/>
                <a:gd name="T11" fmla="*/ 20 h 199"/>
                <a:gd name="T12" fmla="*/ 958 w 964"/>
                <a:gd name="T13" fmla="*/ 13 h 199"/>
                <a:gd name="T14" fmla="*/ 958 w 964"/>
                <a:gd name="T15" fmla="*/ 6 h 199"/>
                <a:gd name="T16" fmla="*/ 956 w 964"/>
                <a:gd name="T17" fmla="*/ 0 h 199"/>
                <a:gd name="T18" fmla="*/ 951 w 964"/>
                <a:gd name="T19" fmla="*/ 0 h 199"/>
                <a:gd name="T20" fmla="*/ 953 w 964"/>
                <a:gd name="T21" fmla="*/ 6 h 199"/>
                <a:gd name="T22" fmla="*/ 953 w 964"/>
                <a:gd name="T23" fmla="*/ 13 h 199"/>
                <a:gd name="T24" fmla="*/ 954 w 964"/>
                <a:gd name="T25" fmla="*/ 21 h 199"/>
                <a:gd name="T26" fmla="*/ 956 w 964"/>
                <a:gd name="T27" fmla="*/ 28 h 199"/>
                <a:gd name="T28" fmla="*/ 956 w 964"/>
                <a:gd name="T29" fmla="*/ 35 h 199"/>
                <a:gd name="T30" fmla="*/ 958 w 964"/>
                <a:gd name="T31" fmla="*/ 43 h 199"/>
                <a:gd name="T32" fmla="*/ 958 w 964"/>
                <a:gd name="T33" fmla="*/ 50 h 199"/>
                <a:gd name="T34" fmla="*/ 959 w 964"/>
                <a:gd name="T35" fmla="*/ 56 h 199"/>
                <a:gd name="T36" fmla="*/ 964 w 964"/>
                <a:gd name="T37" fmla="*/ 54 h 199"/>
                <a:gd name="T38" fmla="*/ 0 w 964"/>
                <a:gd name="T39" fmla="*/ 141 h 199"/>
                <a:gd name="T40" fmla="*/ 0 w 964"/>
                <a:gd name="T41" fmla="*/ 147 h 199"/>
                <a:gd name="T42" fmla="*/ 2 w 964"/>
                <a:gd name="T43" fmla="*/ 155 h 199"/>
                <a:gd name="T44" fmla="*/ 2 w 964"/>
                <a:gd name="T45" fmla="*/ 162 h 199"/>
                <a:gd name="T46" fmla="*/ 4 w 964"/>
                <a:gd name="T47" fmla="*/ 170 h 199"/>
                <a:gd name="T48" fmla="*/ 5 w 964"/>
                <a:gd name="T49" fmla="*/ 177 h 199"/>
                <a:gd name="T50" fmla="*/ 5 w 964"/>
                <a:gd name="T51" fmla="*/ 184 h 199"/>
                <a:gd name="T52" fmla="*/ 7 w 964"/>
                <a:gd name="T53" fmla="*/ 192 h 199"/>
                <a:gd name="T54" fmla="*/ 9 w 964"/>
                <a:gd name="T55" fmla="*/ 199 h 199"/>
                <a:gd name="T56" fmla="*/ 14 w 964"/>
                <a:gd name="T57" fmla="*/ 199 h 199"/>
                <a:gd name="T58" fmla="*/ 12 w 964"/>
                <a:gd name="T59" fmla="*/ 190 h 199"/>
                <a:gd name="T60" fmla="*/ 10 w 964"/>
                <a:gd name="T61" fmla="*/ 184 h 199"/>
                <a:gd name="T62" fmla="*/ 9 w 964"/>
                <a:gd name="T63" fmla="*/ 177 h 199"/>
                <a:gd name="T64" fmla="*/ 9 w 964"/>
                <a:gd name="T65" fmla="*/ 169 h 199"/>
                <a:gd name="T66" fmla="*/ 7 w 964"/>
                <a:gd name="T67" fmla="*/ 160 h 199"/>
                <a:gd name="T68" fmla="*/ 7 w 964"/>
                <a:gd name="T69" fmla="*/ 154 h 199"/>
                <a:gd name="T70" fmla="*/ 5 w 964"/>
                <a:gd name="T71" fmla="*/ 146 h 199"/>
                <a:gd name="T72" fmla="*/ 5 w 964"/>
                <a:gd name="T73" fmla="*/ 139 h 199"/>
                <a:gd name="T74" fmla="*/ 0 w 964"/>
                <a:gd name="T75" fmla="*/ 14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64" h="199">
                  <a:moveTo>
                    <a:pt x="964" y="54"/>
                  </a:moveTo>
                  <a:lnTo>
                    <a:pt x="963" y="48"/>
                  </a:lnTo>
                  <a:lnTo>
                    <a:pt x="963" y="41"/>
                  </a:lnTo>
                  <a:lnTo>
                    <a:pt x="961" y="33"/>
                  </a:lnTo>
                  <a:lnTo>
                    <a:pt x="961" y="26"/>
                  </a:lnTo>
                  <a:lnTo>
                    <a:pt x="959" y="20"/>
                  </a:lnTo>
                  <a:lnTo>
                    <a:pt x="958" y="13"/>
                  </a:lnTo>
                  <a:lnTo>
                    <a:pt x="958" y="6"/>
                  </a:lnTo>
                  <a:lnTo>
                    <a:pt x="956" y="0"/>
                  </a:lnTo>
                  <a:lnTo>
                    <a:pt x="951" y="0"/>
                  </a:lnTo>
                  <a:lnTo>
                    <a:pt x="953" y="6"/>
                  </a:lnTo>
                  <a:lnTo>
                    <a:pt x="953" y="13"/>
                  </a:lnTo>
                  <a:lnTo>
                    <a:pt x="954" y="21"/>
                  </a:lnTo>
                  <a:lnTo>
                    <a:pt x="956" y="28"/>
                  </a:lnTo>
                  <a:lnTo>
                    <a:pt x="956" y="35"/>
                  </a:lnTo>
                  <a:lnTo>
                    <a:pt x="958" y="43"/>
                  </a:lnTo>
                  <a:lnTo>
                    <a:pt x="958" y="50"/>
                  </a:lnTo>
                  <a:lnTo>
                    <a:pt x="959" y="56"/>
                  </a:lnTo>
                  <a:lnTo>
                    <a:pt x="964" y="54"/>
                  </a:lnTo>
                  <a:close/>
                  <a:moveTo>
                    <a:pt x="0" y="141"/>
                  </a:moveTo>
                  <a:lnTo>
                    <a:pt x="0" y="147"/>
                  </a:lnTo>
                  <a:lnTo>
                    <a:pt x="2" y="155"/>
                  </a:lnTo>
                  <a:lnTo>
                    <a:pt x="2" y="162"/>
                  </a:lnTo>
                  <a:lnTo>
                    <a:pt x="4" y="170"/>
                  </a:lnTo>
                  <a:lnTo>
                    <a:pt x="5" y="177"/>
                  </a:lnTo>
                  <a:lnTo>
                    <a:pt x="5" y="184"/>
                  </a:lnTo>
                  <a:lnTo>
                    <a:pt x="7" y="192"/>
                  </a:lnTo>
                  <a:lnTo>
                    <a:pt x="9" y="199"/>
                  </a:lnTo>
                  <a:lnTo>
                    <a:pt x="14" y="199"/>
                  </a:lnTo>
                  <a:lnTo>
                    <a:pt x="12" y="190"/>
                  </a:lnTo>
                  <a:lnTo>
                    <a:pt x="10" y="184"/>
                  </a:lnTo>
                  <a:lnTo>
                    <a:pt x="9" y="177"/>
                  </a:lnTo>
                  <a:lnTo>
                    <a:pt x="9" y="169"/>
                  </a:lnTo>
                  <a:lnTo>
                    <a:pt x="7" y="160"/>
                  </a:lnTo>
                  <a:lnTo>
                    <a:pt x="7" y="154"/>
                  </a:lnTo>
                  <a:lnTo>
                    <a:pt x="5" y="146"/>
                  </a:lnTo>
                  <a:lnTo>
                    <a:pt x="5" y="139"/>
                  </a:lnTo>
                  <a:lnTo>
                    <a:pt x="0" y="141"/>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40" name="Freeform 80">
              <a:extLst>
                <a:ext uri="{FF2B5EF4-FFF2-40B4-BE49-F238E27FC236}">
                  <a16:creationId xmlns:a16="http://schemas.microsoft.com/office/drawing/2014/main" id="{0E1D5B19-466A-36DE-9B9E-15A15A84A6C6}"/>
                </a:ext>
              </a:extLst>
            </p:cNvPr>
            <p:cNvSpPr>
              <a:spLocks noEditPoints="1"/>
            </p:cNvSpPr>
            <p:nvPr/>
          </p:nvSpPr>
          <p:spPr bwMode="auto">
            <a:xfrm>
              <a:off x="1356" y="1514"/>
              <a:ext cx="959" cy="199"/>
            </a:xfrm>
            <a:custGeom>
              <a:avLst/>
              <a:gdLst>
                <a:gd name="T0" fmla="*/ 959 w 959"/>
                <a:gd name="T1" fmla="*/ 56 h 199"/>
                <a:gd name="T2" fmla="*/ 959 w 959"/>
                <a:gd name="T3" fmla="*/ 48 h 199"/>
                <a:gd name="T4" fmla="*/ 957 w 959"/>
                <a:gd name="T5" fmla="*/ 41 h 199"/>
                <a:gd name="T6" fmla="*/ 957 w 959"/>
                <a:gd name="T7" fmla="*/ 35 h 199"/>
                <a:gd name="T8" fmla="*/ 956 w 959"/>
                <a:gd name="T9" fmla="*/ 28 h 199"/>
                <a:gd name="T10" fmla="*/ 956 w 959"/>
                <a:gd name="T11" fmla="*/ 20 h 199"/>
                <a:gd name="T12" fmla="*/ 954 w 959"/>
                <a:gd name="T13" fmla="*/ 13 h 199"/>
                <a:gd name="T14" fmla="*/ 952 w 959"/>
                <a:gd name="T15" fmla="*/ 6 h 199"/>
                <a:gd name="T16" fmla="*/ 951 w 959"/>
                <a:gd name="T17" fmla="*/ 0 h 199"/>
                <a:gd name="T18" fmla="*/ 946 w 959"/>
                <a:gd name="T19" fmla="*/ 0 h 199"/>
                <a:gd name="T20" fmla="*/ 947 w 959"/>
                <a:gd name="T21" fmla="*/ 6 h 199"/>
                <a:gd name="T22" fmla="*/ 949 w 959"/>
                <a:gd name="T23" fmla="*/ 15 h 199"/>
                <a:gd name="T24" fmla="*/ 951 w 959"/>
                <a:gd name="T25" fmla="*/ 21 h 199"/>
                <a:gd name="T26" fmla="*/ 951 w 959"/>
                <a:gd name="T27" fmla="*/ 28 h 199"/>
                <a:gd name="T28" fmla="*/ 952 w 959"/>
                <a:gd name="T29" fmla="*/ 36 h 199"/>
                <a:gd name="T30" fmla="*/ 954 w 959"/>
                <a:gd name="T31" fmla="*/ 43 h 199"/>
                <a:gd name="T32" fmla="*/ 954 w 959"/>
                <a:gd name="T33" fmla="*/ 50 h 199"/>
                <a:gd name="T34" fmla="*/ 956 w 959"/>
                <a:gd name="T35" fmla="*/ 58 h 199"/>
                <a:gd name="T36" fmla="*/ 959 w 959"/>
                <a:gd name="T37" fmla="*/ 56 h 199"/>
                <a:gd name="T38" fmla="*/ 0 w 959"/>
                <a:gd name="T39" fmla="*/ 139 h 199"/>
                <a:gd name="T40" fmla="*/ 2 w 959"/>
                <a:gd name="T41" fmla="*/ 147 h 199"/>
                <a:gd name="T42" fmla="*/ 2 w 959"/>
                <a:gd name="T43" fmla="*/ 154 h 199"/>
                <a:gd name="T44" fmla="*/ 3 w 959"/>
                <a:gd name="T45" fmla="*/ 162 h 199"/>
                <a:gd name="T46" fmla="*/ 3 w 959"/>
                <a:gd name="T47" fmla="*/ 169 h 199"/>
                <a:gd name="T48" fmla="*/ 5 w 959"/>
                <a:gd name="T49" fmla="*/ 177 h 199"/>
                <a:gd name="T50" fmla="*/ 7 w 959"/>
                <a:gd name="T51" fmla="*/ 184 h 199"/>
                <a:gd name="T52" fmla="*/ 8 w 959"/>
                <a:gd name="T53" fmla="*/ 192 h 199"/>
                <a:gd name="T54" fmla="*/ 8 w 959"/>
                <a:gd name="T55" fmla="*/ 199 h 199"/>
                <a:gd name="T56" fmla="*/ 13 w 959"/>
                <a:gd name="T57" fmla="*/ 199 h 199"/>
                <a:gd name="T58" fmla="*/ 12 w 959"/>
                <a:gd name="T59" fmla="*/ 190 h 199"/>
                <a:gd name="T60" fmla="*/ 12 w 959"/>
                <a:gd name="T61" fmla="*/ 184 h 199"/>
                <a:gd name="T62" fmla="*/ 10 w 959"/>
                <a:gd name="T63" fmla="*/ 175 h 199"/>
                <a:gd name="T64" fmla="*/ 8 w 959"/>
                <a:gd name="T65" fmla="*/ 169 h 199"/>
                <a:gd name="T66" fmla="*/ 7 w 959"/>
                <a:gd name="T67" fmla="*/ 160 h 199"/>
                <a:gd name="T68" fmla="*/ 7 w 959"/>
                <a:gd name="T69" fmla="*/ 152 h 199"/>
                <a:gd name="T70" fmla="*/ 5 w 959"/>
                <a:gd name="T71" fmla="*/ 146 h 199"/>
                <a:gd name="T72" fmla="*/ 5 w 959"/>
                <a:gd name="T73" fmla="*/ 137 h 199"/>
                <a:gd name="T74" fmla="*/ 0 w 959"/>
                <a:gd name="T75" fmla="*/ 13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59" h="199">
                  <a:moveTo>
                    <a:pt x="959" y="56"/>
                  </a:moveTo>
                  <a:lnTo>
                    <a:pt x="959" y="48"/>
                  </a:lnTo>
                  <a:lnTo>
                    <a:pt x="957" y="41"/>
                  </a:lnTo>
                  <a:lnTo>
                    <a:pt x="957" y="35"/>
                  </a:lnTo>
                  <a:lnTo>
                    <a:pt x="956" y="28"/>
                  </a:lnTo>
                  <a:lnTo>
                    <a:pt x="956" y="20"/>
                  </a:lnTo>
                  <a:lnTo>
                    <a:pt x="954" y="13"/>
                  </a:lnTo>
                  <a:lnTo>
                    <a:pt x="952" y="6"/>
                  </a:lnTo>
                  <a:lnTo>
                    <a:pt x="951" y="0"/>
                  </a:lnTo>
                  <a:lnTo>
                    <a:pt x="946" y="0"/>
                  </a:lnTo>
                  <a:lnTo>
                    <a:pt x="947" y="6"/>
                  </a:lnTo>
                  <a:lnTo>
                    <a:pt x="949" y="15"/>
                  </a:lnTo>
                  <a:lnTo>
                    <a:pt x="951" y="21"/>
                  </a:lnTo>
                  <a:lnTo>
                    <a:pt x="951" y="28"/>
                  </a:lnTo>
                  <a:lnTo>
                    <a:pt x="952" y="36"/>
                  </a:lnTo>
                  <a:lnTo>
                    <a:pt x="954" y="43"/>
                  </a:lnTo>
                  <a:lnTo>
                    <a:pt x="954" y="50"/>
                  </a:lnTo>
                  <a:lnTo>
                    <a:pt x="956" y="58"/>
                  </a:lnTo>
                  <a:lnTo>
                    <a:pt x="959" y="56"/>
                  </a:lnTo>
                  <a:close/>
                  <a:moveTo>
                    <a:pt x="0" y="139"/>
                  </a:moveTo>
                  <a:lnTo>
                    <a:pt x="2" y="147"/>
                  </a:lnTo>
                  <a:lnTo>
                    <a:pt x="2" y="154"/>
                  </a:lnTo>
                  <a:lnTo>
                    <a:pt x="3" y="162"/>
                  </a:lnTo>
                  <a:lnTo>
                    <a:pt x="3" y="169"/>
                  </a:lnTo>
                  <a:lnTo>
                    <a:pt x="5" y="177"/>
                  </a:lnTo>
                  <a:lnTo>
                    <a:pt x="7" y="184"/>
                  </a:lnTo>
                  <a:lnTo>
                    <a:pt x="8" y="192"/>
                  </a:lnTo>
                  <a:lnTo>
                    <a:pt x="8" y="199"/>
                  </a:lnTo>
                  <a:lnTo>
                    <a:pt x="13" y="199"/>
                  </a:lnTo>
                  <a:lnTo>
                    <a:pt x="12" y="190"/>
                  </a:lnTo>
                  <a:lnTo>
                    <a:pt x="12" y="184"/>
                  </a:lnTo>
                  <a:lnTo>
                    <a:pt x="10" y="175"/>
                  </a:lnTo>
                  <a:lnTo>
                    <a:pt x="8" y="169"/>
                  </a:lnTo>
                  <a:lnTo>
                    <a:pt x="7" y="160"/>
                  </a:lnTo>
                  <a:lnTo>
                    <a:pt x="7" y="152"/>
                  </a:lnTo>
                  <a:lnTo>
                    <a:pt x="5" y="146"/>
                  </a:lnTo>
                  <a:lnTo>
                    <a:pt x="5" y="137"/>
                  </a:lnTo>
                  <a:lnTo>
                    <a:pt x="0" y="139"/>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41" name="Freeform 81">
              <a:extLst>
                <a:ext uri="{FF2B5EF4-FFF2-40B4-BE49-F238E27FC236}">
                  <a16:creationId xmlns:a16="http://schemas.microsoft.com/office/drawing/2014/main" id="{268C937F-1F40-F2AA-28F2-C7666387DAA9}"/>
                </a:ext>
              </a:extLst>
            </p:cNvPr>
            <p:cNvSpPr>
              <a:spLocks noEditPoints="1"/>
            </p:cNvSpPr>
            <p:nvPr/>
          </p:nvSpPr>
          <p:spPr bwMode="auto">
            <a:xfrm>
              <a:off x="1359" y="1514"/>
              <a:ext cx="954" cy="199"/>
            </a:xfrm>
            <a:custGeom>
              <a:avLst/>
              <a:gdLst>
                <a:gd name="T0" fmla="*/ 954 w 954"/>
                <a:gd name="T1" fmla="*/ 56 h 199"/>
                <a:gd name="T2" fmla="*/ 953 w 954"/>
                <a:gd name="T3" fmla="*/ 50 h 199"/>
                <a:gd name="T4" fmla="*/ 953 w 954"/>
                <a:gd name="T5" fmla="*/ 43 h 199"/>
                <a:gd name="T6" fmla="*/ 951 w 954"/>
                <a:gd name="T7" fmla="*/ 35 h 199"/>
                <a:gd name="T8" fmla="*/ 951 w 954"/>
                <a:gd name="T9" fmla="*/ 28 h 199"/>
                <a:gd name="T10" fmla="*/ 949 w 954"/>
                <a:gd name="T11" fmla="*/ 21 h 199"/>
                <a:gd name="T12" fmla="*/ 948 w 954"/>
                <a:gd name="T13" fmla="*/ 13 h 199"/>
                <a:gd name="T14" fmla="*/ 948 w 954"/>
                <a:gd name="T15" fmla="*/ 6 h 199"/>
                <a:gd name="T16" fmla="*/ 946 w 954"/>
                <a:gd name="T17" fmla="*/ 0 h 199"/>
                <a:gd name="T18" fmla="*/ 941 w 954"/>
                <a:gd name="T19" fmla="*/ 0 h 199"/>
                <a:gd name="T20" fmla="*/ 943 w 954"/>
                <a:gd name="T21" fmla="*/ 6 h 199"/>
                <a:gd name="T22" fmla="*/ 944 w 954"/>
                <a:gd name="T23" fmla="*/ 15 h 199"/>
                <a:gd name="T24" fmla="*/ 944 w 954"/>
                <a:gd name="T25" fmla="*/ 21 h 199"/>
                <a:gd name="T26" fmla="*/ 946 w 954"/>
                <a:gd name="T27" fmla="*/ 30 h 199"/>
                <a:gd name="T28" fmla="*/ 948 w 954"/>
                <a:gd name="T29" fmla="*/ 36 h 199"/>
                <a:gd name="T30" fmla="*/ 948 w 954"/>
                <a:gd name="T31" fmla="*/ 45 h 199"/>
                <a:gd name="T32" fmla="*/ 949 w 954"/>
                <a:gd name="T33" fmla="*/ 51 h 199"/>
                <a:gd name="T34" fmla="*/ 949 w 954"/>
                <a:gd name="T35" fmla="*/ 59 h 199"/>
                <a:gd name="T36" fmla="*/ 954 w 954"/>
                <a:gd name="T37" fmla="*/ 56 h 199"/>
                <a:gd name="T38" fmla="*/ 0 w 954"/>
                <a:gd name="T39" fmla="*/ 139 h 199"/>
                <a:gd name="T40" fmla="*/ 0 w 954"/>
                <a:gd name="T41" fmla="*/ 146 h 199"/>
                <a:gd name="T42" fmla="*/ 2 w 954"/>
                <a:gd name="T43" fmla="*/ 154 h 199"/>
                <a:gd name="T44" fmla="*/ 2 w 954"/>
                <a:gd name="T45" fmla="*/ 160 h 199"/>
                <a:gd name="T46" fmla="*/ 4 w 954"/>
                <a:gd name="T47" fmla="*/ 169 h 199"/>
                <a:gd name="T48" fmla="*/ 4 w 954"/>
                <a:gd name="T49" fmla="*/ 177 h 199"/>
                <a:gd name="T50" fmla="*/ 5 w 954"/>
                <a:gd name="T51" fmla="*/ 184 h 199"/>
                <a:gd name="T52" fmla="*/ 7 w 954"/>
                <a:gd name="T53" fmla="*/ 190 h 199"/>
                <a:gd name="T54" fmla="*/ 9 w 954"/>
                <a:gd name="T55" fmla="*/ 199 h 199"/>
                <a:gd name="T56" fmla="*/ 14 w 954"/>
                <a:gd name="T57" fmla="*/ 199 h 199"/>
                <a:gd name="T58" fmla="*/ 12 w 954"/>
                <a:gd name="T59" fmla="*/ 190 h 199"/>
                <a:gd name="T60" fmla="*/ 10 w 954"/>
                <a:gd name="T61" fmla="*/ 184 h 199"/>
                <a:gd name="T62" fmla="*/ 9 w 954"/>
                <a:gd name="T63" fmla="*/ 175 h 199"/>
                <a:gd name="T64" fmla="*/ 9 w 954"/>
                <a:gd name="T65" fmla="*/ 167 h 199"/>
                <a:gd name="T66" fmla="*/ 7 w 954"/>
                <a:gd name="T67" fmla="*/ 160 h 199"/>
                <a:gd name="T68" fmla="*/ 5 w 954"/>
                <a:gd name="T69" fmla="*/ 152 h 199"/>
                <a:gd name="T70" fmla="*/ 5 w 954"/>
                <a:gd name="T71" fmla="*/ 144 h 199"/>
                <a:gd name="T72" fmla="*/ 4 w 954"/>
                <a:gd name="T73" fmla="*/ 136 h 199"/>
                <a:gd name="T74" fmla="*/ 0 w 954"/>
                <a:gd name="T75" fmla="*/ 13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54" h="199">
                  <a:moveTo>
                    <a:pt x="954" y="56"/>
                  </a:moveTo>
                  <a:lnTo>
                    <a:pt x="953" y="50"/>
                  </a:lnTo>
                  <a:lnTo>
                    <a:pt x="953" y="43"/>
                  </a:lnTo>
                  <a:lnTo>
                    <a:pt x="951" y="35"/>
                  </a:lnTo>
                  <a:lnTo>
                    <a:pt x="951" y="28"/>
                  </a:lnTo>
                  <a:lnTo>
                    <a:pt x="949" y="21"/>
                  </a:lnTo>
                  <a:lnTo>
                    <a:pt x="948" y="13"/>
                  </a:lnTo>
                  <a:lnTo>
                    <a:pt x="948" y="6"/>
                  </a:lnTo>
                  <a:lnTo>
                    <a:pt x="946" y="0"/>
                  </a:lnTo>
                  <a:lnTo>
                    <a:pt x="941" y="0"/>
                  </a:lnTo>
                  <a:lnTo>
                    <a:pt x="943" y="6"/>
                  </a:lnTo>
                  <a:lnTo>
                    <a:pt x="944" y="15"/>
                  </a:lnTo>
                  <a:lnTo>
                    <a:pt x="944" y="21"/>
                  </a:lnTo>
                  <a:lnTo>
                    <a:pt x="946" y="30"/>
                  </a:lnTo>
                  <a:lnTo>
                    <a:pt x="948" y="36"/>
                  </a:lnTo>
                  <a:lnTo>
                    <a:pt x="948" y="45"/>
                  </a:lnTo>
                  <a:lnTo>
                    <a:pt x="949" y="51"/>
                  </a:lnTo>
                  <a:lnTo>
                    <a:pt x="949" y="59"/>
                  </a:lnTo>
                  <a:lnTo>
                    <a:pt x="954" y="56"/>
                  </a:lnTo>
                  <a:close/>
                  <a:moveTo>
                    <a:pt x="0" y="139"/>
                  </a:moveTo>
                  <a:lnTo>
                    <a:pt x="0" y="146"/>
                  </a:lnTo>
                  <a:lnTo>
                    <a:pt x="2" y="154"/>
                  </a:lnTo>
                  <a:lnTo>
                    <a:pt x="2" y="160"/>
                  </a:lnTo>
                  <a:lnTo>
                    <a:pt x="4" y="169"/>
                  </a:lnTo>
                  <a:lnTo>
                    <a:pt x="4" y="177"/>
                  </a:lnTo>
                  <a:lnTo>
                    <a:pt x="5" y="184"/>
                  </a:lnTo>
                  <a:lnTo>
                    <a:pt x="7" y="190"/>
                  </a:lnTo>
                  <a:lnTo>
                    <a:pt x="9" y="199"/>
                  </a:lnTo>
                  <a:lnTo>
                    <a:pt x="14" y="199"/>
                  </a:lnTo>
                  <a:lnTo>
                    <a:pt x="12" y="190"/>
                  </a:lnTo>
                  <a:lnTo>
                    <a:pt x="10" y="184"/>
                  </a:lnTo>
                  <a:lnTo>
                    <a:pt x="9" y="175"/>
                  </a:lnTo>
                  <a:lnTo>
                    <a:pt x="9" y="167"/>
                  </a:lnTo>
                  <a:lnTo>
                    <a:pt x="7" y="160"/>
                  </a:lnTo>
                  <a:lnTo>
                    <a:pt x="5" y="152"/>
                  </a:lnTo>
                  <a:lnTo>
                    <a:pt x="5" y="144"/>
                  </a:lnTo>
                  <a:lnTo>
                    <a:pt x="4" y="136"/>
                  </a:lnTo>
                  <a:lnTo>
                    <a:pt x="0" y="139"/>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42" name="Freeform 82">
              <a:extLst>
                <a:ext uri="{FF2B5EF4-FFF2-40B4-BE49-F238E27FC236}">
                  <a16:creationId xmlns:a16="http://schemas.microsoft.com/office/drawing/2014/main" id="{05754A36-CD8B-964F-8F8E-851AF8A54514}"/>
                </a:ext>
              </a:extLst>
            </p:cNvPr>
            <p:cNvSpPr>
              <a:spLocks noEditPoints="1"/>
            </p:cNvSpPr>
            <p:nvPr/>
          </p:nvSpPr>
          <p:spPr bwMode="auto">
            <a:xfrm>
              <a:off x="1361" y="1514"/>
              <a:ext cx="951" cy="199"/>
            </a:xfrm>
            <a:custGeom>
              <a:avLst/>
              <a:gdLst>
                <a:gd name="T0" fmla="*/ 951 w 951"/>
                <a:gd name="T1" fmla="*/ 58 h 199"/>
                <a:gd name="T2" fmla="*/ 949 w 951"/>
                <a:gd name="T3" fmla="*/ 50 h 199"/>
                <a:gd name="T4" fmla="*/ 949 w 951"/>
                <a:gd name="T5" fmla="*/ 43 h 199"/>
                <a:gd name="T6" fmla="*/ 947 w 951"/>
                <a:gd name="T7" fmla="*/ 36 h 199"/>
                <a:gd name="T8" fmla="*/ 946 w 951"/>
                <a:gd name="T9" fmla="*/ 28 h 199"/>
                <a:gd name="T10" fmla="*/ 946 w 951"/>
                <a:gd name="T11" fmla="*/ 21 h 199"/>
                <a:gd name="T12" fmla="*/ 944 w 951"/>
                <a:gd name="T13" fmla="*/ 15 h 199"/>
                <a:gd name="T14" fmla="*/ 942 w 951"/>
                <a:gd name="T15" fmla="*/ 6 h 199"/>
                <a:gd name="T16" fmla="*/ 941 w 951"/>
                <a:gd name="T17" fmla="*/ 0 h 199"/>
                <a:gd name="T18" fmla="*/ 936 w 951"/>
                <a:gd name="T19" fmla="*/ 0 h 199"/>
                <a:gd name="T20" fmla="*/ 937 w 951"/>
                <a:gd name="T21" fmla="*/ 6 h 199"/>
                <a:gd name="T22" fmla="*/ 939 w 951"/>
                <a:gd name="T23" fmla="*/ 15 h 199"/>
                <a:gd name="T24" fmla="*/ 941 w 951"/>
                <a:gd name="T25" fmla="*/ 21 h 199"/>
                <a:gd name="T26" fmla="*/ 942 w 951"/>
                <a:gd name="T27" fmla="*/ 30 h 199"/>
                <a:gd name="T28" fmla="*/ 942 w 951"/>
                <a:gd name="T29" fmla="*/ 36 h 199"/>
                <a:gd name="T30" fmla="*/ 944 w 951"/>
                <a:gd name="T31" fmla="*/ 45 h 199"/>
                <a:gd name="T32" fmla="*/ 944 w 951"/>
                <a:gd name="T33" fmla="*/ 53 h 199"/>
                <a:gd name="T34" fmla="*/ 946 w 951"/>
                <a:gd name="T35" fmla="*/ 59 h 199"/>
                <a:gd name="T36" fmla="*/ 951 w 951"/>
                <a:gd name="T37" fmla="*/ 58 h 199"/>
                <a:gd name="T38" fmla="*/ 0 w 951"/>
                <a:gd name="T39" fmla="*/ 137 h 199"/>
                <a:gd name="T40" fmla="*/ 0 w 951"/>
                <a:gd name="T41" fmla="*/ 146 h 199"/>
                <a:gd name="T42" fmla="*/ 2 w 951"/>
                <a:gd name="T43" fmla="*/ 152 h 199"/>
                <a:gd name="T44" fmla="*/ 2 w 951"/>
                <a:gd name="T45" fmla="*/ 160 h 199"/>
                <a:gd name="T46" fmla="*/ 3 w 951"/>
                <a:gd name="T47" fmla="*/ 169 h 199"/>
                <a:gd name="T48" fmla="*/ 5 w 951"/>
                <a:gd name="T49" fmla="*/ 175 h 199"/>
                <a:gd name="T50" fmla="*/ 7 w 951"/>
                <a:gd name="T51" fmla="*/ 184 h 199"/>
                <a:gd name="T52" fmla="*/ 7 w 951"/>
                <a:gd name="T53" fmla="*/ 190 h 199"/>
                <a:gd name="T54" fmla="*/ 8 w 951"/>
                <a:gd name="T55" fmla="*/ 199 h 199"/>
                <a:gd name="T56" fmla="*/ 13 w 951"/>
                <a:gd name="T57" fmla="*/ 199 h 199"/>
                <a:gd name="T58" fmla="*/ 12 w 951"/>
                <a:gd name="T59" fmla="*/ 190 h 199"/>
                <a:gd name="T60" fmla="*/ 10 w 951"/>
                <a:gd name="T61" fmla="*/ 184 h 199"/>
                <a:gd name="T62" fmla="*/ 10 w 951"/>
                <a:gd name="T63" fmla="*/ 175 h 199"/>
                <a:gd name="T64" fmla="*/ 8 w 951"/>
                <a:gd name="T65" fmla="*/ 167 h 199"/>
                <a:gd name="T66" fmla="*/ 7 w 951"/>
                <a:gd name="T67" fmla="*/ 159 h 199"/>
                <a:gd name="T68" fmla="*/ 7 w 951"/>
                <a:gd name="T69" fmla="*/ 151 h 199"/>
                <a:gd name="T70" fmla="*/ 5 w 951"/>
                <a:gd name="T71" fmla="*/ 144 h 199"/>
                <a:gd name="T72" fmla="*/ 5 w 951"/>
                <a:gd name="T73" fmla="*/ 136 h 199"/>
                <a:gd name="T74" fmla="*/ 0 w 951"/>
                <a:gd name="T75" fmla="*/ 13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51" h="199">
                  <a:moveTo>
                    <a:pt x="951" y="58"/>
                  </a:moveTo>
                  <a:lnTo>
                    <a:pt x="949" y="50"/>
                  </a:lnTo>
                  <a:lnTo>
                    <a:pt x="949" y="43"/>
                  </a:lnTo>
                  <a:lnTo>
                    <a:pt x="947" y="36"/>
                  </a:lnTo>
                  <a:lnTo>
                    <a:pt x="946" y="28"/>
                  </a:lnTo>
                  <a:lnTo>
                    <a:pt x="946" y="21"/>
                  </a:lnTo>
                  <a:lnTo>
                    <a:pt x="944" y="15"/>
                  </a:lnTo>
                  <a:lnTo>
                    <a:pt x="942" y="6"/>
                  </a:lnTo>
                  <a:lnTo>
                    <a:pt x="941" y="0"/>
                  </a:lnTo>
                  <a:lnTo>
                    <a:pt x="936" y="0"/>
                  </a:lnTo>
                  <a:lnTo>
                    <a:pt x="937" y="6"/>
                  </a:lnTo>
                  <a:lnTo>
                    <a:pt x="939" y="15"/>
                  </a:lnTo>
                  <a:lnTo>
                    <a:pt x="941" y="21"/>
                  </a:lnTo>
                  <a:lnTo>
                    <a:pt x="942" y="30"/>
                  </a:lnTo>
                  <a:lnTo>
                    <a:pt x="942" y="36"/>
                  </a:lnTo>
                  <a:lnTo>
                    <a:pt x="944" y="45"/>
                  </a:lnTo>
                  <a:lnTo>
                    <a:pt x="944" y="53"/>
                  </a:lnTo>
                  <a:lnTo>
                    <a:pt x="946" y="59"/>
                  </a:lnTo>
                  <a:lnTo>
                    <a:pt x="951" y="58"/>
                  </a:lnTo>
                  <a:close/>
                  <a:moveTo>
                    <a:pt x="0" y="137"/>
                  </a:moveTo>
                  <a:lnTo>
                    <a:pt x="0" y="146"/>
                  </a:lnTo>
                  <a:lnTo>
                    <a:pt x="2" y="152"/>
                  </a:lnTo>
                  <a:lnTo>
                    <a:pt x="2" y="160"/>
                  </a:lnTo>
                  <a:lnTo>
                    <a:pt x="3" y="169"/>
                  </a:lnTo>
                  <a:lnTo>
                    <a:pt x="5" y="175"/>
                  </a:lnTo>
                  <a:lnTo>
                    <a:pt x="7" y="184"/>
                  </a:lnTo>
                  <a:lnTo>
                    <a:pt x="7" y="190"/>
                  </a:lnTo>
                  <a:lnTo>
                    <a:pt x="8" y="199"/>
                  </a:lnTo>
                  <a:lnTo>
                    <a:pt x="13" y="199"/>
                  </a:lnTo>
                  <a:lnTo>
                    <a:pt x="12" y="190"/>
                  </a:lnTo>
                  <a:lnTo>
                    <a:pt x="10" y="184"/>
                  </a:lnTo>
                  <a:lnTo>
                    <a:pt x="10" y="175"/>
                  </a:lnTo>
                  <a:lnTo>
                    <a:pt x="8" y="167"/>
                  </a:lnTo>
                  <a:lnTo>
                    <a:pt x="7" y="159"/>
                  </a:lnTo>
                  <a:lnTo>
                    <a:pt x="7" y="151"/>
                  </a:lnTo>
                  <a:lnTo>
                    <a:pt x="5" y="144"/>
                  </a:lnTo>
                  <a:lnTo>
                    <a:pt x="5" y="136"/>
                  </a:lnTo>
                  <a:lnTo>
                    <a:pt x="0" y="137"/>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43" name="Freeform 83">
              <a:extLst>
                <a:ext uri="{FF2B5EF4-FFF2-40B4-BE49-F238E27FC236}">
                  <a16:creationId xmlns:a16="http://schemas.microsoft.com/office/drawing/2014/main" id="{0F324D2F-378E-706D-3846-08B8A97EB0B3}"/>
                </a:ext>
              </a:extLst>
            </p:cNvPr>
            <p:cNvSpPr>
              <a:spLocks noEditPoints="1"/>
            </p:cNvSpPr>
            <p:nvPr/>
          </p:nvSpPr>
          <p:spPr bwMode="auto">
            <a:xfrm>
              <a:off x="1363" y="1514"/>
              <a:ext cx="945" cy="199"/>
            </a:xfrm>
            <a:custGeom>
              <a:avLst/>
              <a:gdLst>
                <a:gd name="T0" fmla="*/ 945 w 945"/>
                <a:gd name="T1" fmla="*/ 59 h 199"/>
                <a:gd name="T2" fmla="*/ 945 w 945"/>
                <a:gd name="T3" fmla="*/ 51 h 199"/>
                <a:gd name="T4" fmla="*/ 944 w 945"/>
                <a:gd name="T5" fmla="*/ 45 h 199"/>
                <a:gd name="T6" fmla="*/ 944 w 945"/>
                <a:gd name="T7" fmla="*/ 36 h 199"/>
                <a:gd name="T8" fmla="*/ 942 w 945"/>
                <a:gd name="T9" fmla="*/ 30 h 199"/>
                <a:gd name="T10" fmla="*/ 940 w 945"/>
                <a:gd name="T11" fmla="*/ 21 h 199"/>
                <a:gd name="T12" fmla="*/ 940 w 945"/>
                <a:gd name="T13" fmla="*/ 15 h 199"/>
                <a:gd name="T14" fmla="*/ 939 w 945"/>
                <a:gd name="T15" fmla="*/ 6 h 199"/>
                <a:gd name="T16" fmla="*/ 937 w 945"/>
                <a:gd name="T17" fmla="*/ 0 h 199"/>
                <a:gd name="T18" fmla="*/ 932 w 945"/>
                <a:gd name="T19" fmla="*/ 0 h 199"/>
                <a:gd name="T20" fmla="*/ 934 w 945"/>
                <a:gd name="T21" fmla="*/ 6 h 199"/>
                <a:gd name="T22" fmla="*/ 935 w 945"/>
                <a:gd name="T23" fmla="*/ 15 h 199"/>
                <a:gd name="T24" fmla="*/ 935 w 945"/>
                <a:gd name="T25" fmla="*/ 23 h 199"/>
                <a:gd name="T26" fmla="*/ 937 w 945"/>
                <a:gd name="T27" fmla="*/ 30 h 199"/>
                <a:gd name="T28" fmla="*/ 939 w 945"/>
                <a:gd name="T29" fmla="*/ 38 h 199"/>
                <a:gd name="T30" fmla="*/ 939 w 945"/>
                <a:gd name="T31" fmla="*/ 45 h 199"/>
                <a:gd name="T32" fmla="*/ 940 w 945"/>
                <a:gd name="T33" fmla="*/ 53 h 199"/>
                <a:gd name="T34" fmla="*/ 940 w 945"/>
                <a:gd name="T35" fmla="*/ 61 h 199"/>
                <a:gd name="T36" fmla="*/ 945 w 945"/>
                <a:gd name="T37" fmla="*/ 59 h 199"/>
                <a:gd name="T38" fmla="*/ 0 w 945"/>
                <a:gd name="T39" fmla="*/ 136 h 199"/>
                <a:gd name="T40" fmla="*/ 1 w 945"/>
                <a:gd name="T41" fmla="*/ 144 h 199"/>
                <a:gd name="T42" fmla="*/ 1 w 945"/>
                <a:gd name="T43" fmla="*/ 152 h 199"/>
                <a:gd name="T44" fmla="*/ 3 w 945"/>
                <a:gd name="T45" fmla="*/ 160 h 199"/>
                <a:gd name="T46" fmla="*/ 5 w 945"/>
                <a:gd name="T47" fmla="*/ 167 h 199"/>
                <a:gd name="T48" fmla="*/ 5 w 945"/>
                <a:gd name="T49" fmla="*/ 175 h 199"/>
                <a:gd name="T50" fmla="*/ 6 w 945"/>
                <a:gd name="T51" fmla="*/ 184 h 199"/>
                <a:gd name="T52" fmla="*/ 8 w 945"/>
                <a:gd name="T53" fmla="*/ 190 h 199"/>
                <a:gd name="T54" fmla="*/ 10 w 945"/>
                <a:gd name="T55" fmla="*/ 199 h 199"/>
                <a:gd name="T56" fmla="*/ 15 w 945"/>
                <a:gd name="T57" fmla="*/ 199 h 199"/>
                <a:gd name="T58" fmla="*/ 13 w 945"/>
                <a:gd name="T59" fmla="*/ 190 h 199"/>
                <a:gd name="T60" fmla="*/ 11 w 945"/>
                <a:gd name="T61" fmla="*/ 182 h 199"/>
                <a:gd name="T62" fmla="*/ 10 w 945"/>
                <a:gd name="T63" fmla="*/ 175 h 199"/>
                <a:gd name="T64" fmla="*/ 8 w 945"/>
                <a:gd name="T65" fmla="*/ 167 h 199"/>
                <a:gd name="T66" fmla="*/ 8 w 945"/>
                <a:gd name="T67" fmla="*/ 159 h 199"/>
                <a:gd name="T68" fmla="*/ 6 w 945"/>
                <a:gd name="T69" fmla="*/ 151 h 199"/>
                <a:gd name="T70" fmla="*/ 6 w 945"/>
                <a:gd name="T71" fmla="*/ 142 h 199"/>
                <a:gd name="T72" fmla="*/ 5 w 945"/>
                <a:gd name="T73" fmla="*/ 134 h 199"/>
                <a:gd name="T74" fmla="*/ 0 w 945"/>
                <a:gd name="T75" fmla="*/ 13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45" h="199">
                  <a:moveTo>
                    <a:pt x="945" y="59"/>
                  </a:moveTo>
                  <a:lnTo>
                    <a:pt x="945" y="51"/>
                  </a:lnTo>
                  <a:lnTo>
                    <a:pt x="944" y="45"/>
                  </a:lnTo>
                  <a:lnTo>
                    <a:pt x="944" y="36"/>
                  </a:lnTo>
                  <a:lnTo>
                    <a:pt x="942" y="30"/>
                  </a:lnTo>
                  <a:lnTo>
                    <a:pt x="940" y="21"/>
                  </a:lnTo>
                  <a:lnTo>
                    <a:pt x="940" y="15"/>
                  </a:lnTo>
                  <a:lnTo>
                    <a:pt x="939" y="6"/>
                  </a:lnTo>
                  <a:lnTo>
                    <a:pt x="937" y="0"/>
                  </a:lnTo>
                  <a:lnTo>
                    <a:pt x="932" y="0"/>
                  </a:lnTo>
                  <a:lnTo>
                    <a:pt x="934" y="6"/>
                  </a:lnTo>
                  <a:lnTo>
                    <a:pt x="935" y="15"/>
                  </a:lnTo>
                  <a:lnTo>
                    <a:pt x="935" y="23"/>
                  </a:lnTo>
                  <a:lnTo>
                    <a:pt x="937" y="30"/>
                  </a:lnTo>
                  <a:lnTo>
                    <a:pt x="939" y="38"/>
                  </a:lnTo>
                  <a:lnTo>
                    <a:pt x="939" y="45"/>
                  </a:lnTo>
                  <a:lnTo>
                    <a:pt x="940" y="53"/>
                  </a:lnTo>
                  <a:lnTo>
                    <a:pt x="940" y="61"/>
                  </a:lnTo>
                  <a:lnTo>
                    <a:pt x="945" y="59"/>
                  </a:lnTo>
                  <a:close/>
                  <a:moveTo>
                    <a:pt x="0" y="136"/>
                  </a:moveTo>
                  <a:lnTo>
                    <a:pt x="1" y="144"/>
                  </a:lnTo>
                  <a:lnTo>
                    <a:pt x="1" y="152"/>
                  </a:lnTo>
                  <a:lnTo>
                    <a:pt x="3" y="160"/>
                  </a:lnTo>
                  <a:lnTo>
                    <a:pt x="5" y="167"/>
                  </a:lnTo>
                  <a:lnTo>
                    <a:pt x="5" y="175"/>
                  </a:lnTo>
                  <a:lnTo>
                    <a:pt x="6" y="184"/>
                  </a:lnTo>
                  <a:lnTo>
                    <a:pt x="8" y="190"/>
                  </a:lnTo>
                  <a:lnTo>
                    <a:pt x="10" y="199"/>
                  </a:lnTo>
                  <a:lnTo>
                    <a:pt x="15" y="199"/>
                  </a:lnTo>
                  <a:lnTo>
                    <a:pt x="13" y="190"/>
                  </a:lnTo>
                  <a:lnTo>
                    <a:pt x="11" y="182"/>
                  </a:lnTo>
                  <a:lnTo>
                    <a:pt x="10" y="175"/>
                  </a:lnTo>
                  <a:lnTo>
                    <a:pt x="8" y="167"/>
                  </a:lnTo>
                  <a:lnTo>
                    <a:pt x="8" y="159"/>
                  </a:lnTo>
                  <a:lnTo>
                    <a:pt x="6" y="151"/>
                  </a:lnTo>
                  <a:lnTo>
                    <a:pt x="6" y="142"/>
                  </a:lnTo>
                  <a:lnTo>
                    <a:pt x="5" y="134"/>
                  </a:lnTo>
                  <a:lnTo>
                    <a:pt x="0" y="136"/>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44" name="Freeform 84">
              <a:extLst>
                <a:ext uri="{FF2B5EF4-FFF2-40B4-BE49-F238E27FC236}">
                  <a16:creationId xmlns:a16="http://schemas.microsoft.com/office/drawing/2014/main" id="{A698898F-2A5B-01AC-C887-CA47B743D438}"/>
                </a:ext>
              </a:extLst>
            </p:cNvPr>
            <p:cNvSpPr>
              <a:spLocks noEditPoints="1"/>
            </p:cNvSpPr>
            <p:nvPr/>
          </p:nvSpPr>
          <p:spPr bwMode="auto">
            <a:xfrm>
              <a:off x="1366" y="1514"/>
              <a:ext cx="941" cy="199"/>
            </a:xfrm>
            <a:custGeom>
              <a:avLst/>
              <a:gdLst>
                <a:gd name="T0" fmla="*/ 941 w 941"/>
                <a:gd name="T1" fmla="*/ 59 h 199"/>
                <a:gd name="T2" fmla="*/ 939 w 941"/>
                <a:gd name="T3" fmla="*/ 53 h 199"/>
                <a:gd name="T4" fmla="*/ 939 w 941"/>
                <a:gd name="T5" fmla="*/ 45 h 199"/>
                <a:gd name="T6" fmla="*/ 937 w 941"/>
                <a:gd name="T7" fmla="*/ 36 h 199"/>
                <a:gd name="T8" fmla="*/ 937 w 941"/>
                <a:gd name="T9" fmla="*/ 30 h 199"/>
                <a:gd name="T10" fmla="*/ 936 w 941"/>
                <a:gd name="T11" fmla="*/ 21 h 199"/>
                <a:gd name="T12" fmla="*/ 934 w 941"/>
                <a:gd name="T13" fmla="*/ 15 h 199"/>
                <a:gd name="T14" fmla="*/ 932 w 941"/>
                <a:gd name="T15" fmla="*/ 6 h 199"/>
                <a:gd name="T16" fmla="*/ 931 w 941"/>
                <a:gd name="T17" fmla="*/ 0 h 199"/>
                <a:gd name="T18" fmla="*/ 926 w 941"/>
                <a:gd name="T19" fmla="*/ 0 h 199"/>
                <a:gd name="T20" fmla="*/ 927 w 941"/>
                <a:gd name="T21" fmla="*/ 6 h 199"/>
                <a:gd name="T22" fmla="*/ 929 w 941"/>
                <a:gd name="T23" fmla="*/ 15 h 199"/>
                <a:gd name="T24" fmla="*/ 931 w 941"/>
                <a:gd name="T25" fmla="*/ 23 h 199"/>
                <a:gd name="T26" fmla="*/ 932 w 941"/>
                <a:gd name="T27" fmla="*/ 30 h 199"/>
                <a:gd name="T28" fmla="*/ 932 w 941"/>
                <a:gd name="T29" fmla="*/ 38 h 199"/>
                <a:gd name="T30" fmla="*/ 934 w 941"/>
                <a:gd name="T31" fmla="*/ 46 h 199"/>
                <a:gd name="T32" fmla="*/ 934 w 941"/>
                <a:gd name="T33" fmla="*/ 54 h 199"/>
                <a:gd name="T34" fmla="*/ 936 w 941"/>
                <a:gd name="T35" fmla="*/ 61 h 199"/>
                <a:gd name="T36" fmla="*/ 941 w 941"/>
                <a:gd name="T37" fmla="*/ 59 h 199"/>
                <a:gd name="T38" fmla="*/ 0 w 941"/>
                <a:gd name="T39" fmla="*/ 136 h 199"/>
                <a:gd name="T40" fmla="*/ 0 w 941"/>
                <a:gd name="T41" fmla="*/ 144 h 199"/>
                <a:gd name="T42" fmla="*/ 2 w 941"/>
                <a:gd name="T43" fmla="*/ 151 h 199"/>
                <a:gd name="T44" fmla="*/ 2 w 941"/>
                <a:gd name="T45" fmla="*/ 159 h 199"/>
                <a:gd name="T46" fmla="*/ 3 w 941"/>
                <a:gd name="T47" fmla="*/ 167 h 199"/>
                <a:gd name="T48" fmla="*/ 5 w 941"/>
                <a:gd name="T49" fmla="*/ 175 h 199"/>
                <a:gd name="T50" fmla="*/ 5 w 941"/>
                <a:gd name="T51" fmla="*/ 184 h 199"/>
                <a:gd name="T52" fmla="*/ 7 w 941"/>
                <a:gd name="T53" fmla="*/ 190 h 199"/>
                <a:gd name="T54" fmla="*/ 8 w 941"/>
                <a:gd name="T55" fmla="*/ 199 h 199"/>
                <a:gd name="T56" fmla="*/ 13 w 941"/>
                <a:gd name="T57" fmla="*/ 199 h 199"/>
                <a:gd name="T58" fmla="*/ 12 w 941"/>
                <a:gd name="T59" fmla="*/ 190 h 199"/>
                <a:gd name="T60" fmla="*/ 10 w 941"/>
                <a:gd name="T61" fmla="*/ 182 h 199"/>
                <a:gd name="T62" fmla="*/ 10 w 941"/>
                <a:gd name="T63" fmla="*/ 174 h 199"/>
                <a:gd name="T64" fmla="*/ 8 w 941"/>
                <a:gd name="T65" fmla="*/ 165 h 199"/>
                <a:gd name="T66" fmla="*/ 7 w 941"/>
                <a:gd name="T67" fmla="*/ 157 h 199"/>
                <a:gd name="T68" fmla="*/ 7 w 941"/>
                <a:gd name="T69" fmla="*/ 149 h 199"/>
                <a:gd name="T70" fmla="*/ 5 w 941"/>
                <a:gd name="T71" fmla="*/ 141 h 199"/>
                <a:gd name="T72" fmla="*/ 5 w 941"/>
                <a:gd name="T73" fmla="*/ 132 h 199"/>
                <a:gd name="T74" fmla="*/ 0 w 941"/>
                <a:gd name="T75" fmla="*/ 13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41" h="199">
                  <a:moveTo>
                    <a:pt x="941" y="59"/>
                  </a:moveTo>
                  <a:lnTo>
                    <a:pt x="939" y="53"/>
                  </a:lnTo>
                  <a:lnTo>
                    <a:pt x="939" y="45"/>
                  </a:lnTo>
                  <a:lnTo>
                    <a:pt x="937" y="36"/>
                  </a:lnTo>
                  <a:lnTo>
                    <a:pt x="937" y="30"/>
                  </a:lnTo>
                  <a:lnTo>
                    <a:pt x="936" y="21"/>
                  </a:lnTo>
                  <a:lnTo>
                    <a:pt x="934" y="15"/>
                  </a:lnTo>
                  <a:lnTo>
                    <a:pt x="932" y="6"/>
                  </a:lnTo>
                  <a:lnTo>
                    <a:pt x="931" y="0"/>
                  </a:lnTo>
                  <a:lnTo>
                    <a:pt x="926" y="0"/>
                  </a:lnTo>
                  <a:lnTo>
                    <a:pt x="927" y="6"/>
                  </a:lnTo>
                  <a:lnTo>
                    <a:pt x="929" y="15"/>
                  </a:lnTo>
                  <a:lnTo>
                    <a:pt x="931" y="23"/>
                  </a:lnTo>
                  <a:lnTo>
                    <a:pt x="932" y="30"/>
                  </a:lnTo>
                  <a:lnTo>
                    <a:pt x="932" y="38"/>
                  </a:lnTo>
                  <a:lnTo>
                    <a:pt x="934" y="46"/>
                  </a:lnTo>
                  <a:lnTo>
                    <a:pt x="934" y="54"/>
                  </a:lnTo>
                  <a:lnTo>
                    <a:pt x="936" y="61"/>
                  </a:lnTo>
                  <a:lnTo>
                    <a:pt x="941" y="59"/>
                  </a:lnTo>
                  <a:close/>
                  <a:moveTo>
                    <a:pt x="0" y="136"/>
                  </a:moveTo>
                  <a:lnTo>
                    <a:pt x="0" y="144"/>
                  </a:lnTo>
                  <a:lnTo>
                    <a:pt x="2" y="151"/>
                  </a:lnTo>
                  <a:lnTo>
                    <a:pt x="2" y="159"/>
                  </a:lnTo>
                  <a:lnTo>
                    <a:pt x="3" y="167"/>
                  </a:lnTo>
                  <a:lnTo>
                    <a:pt x="5" y="175"/>
                  </a:lnTo>
                  <a:lnTo>
                    <a:pt x="5" y="184"/>
                  </a:lnTo>
                  <a:lnTo>
                    <a:pt x="7" y="190"/>
                  </a:lnTo>
                  <a:lnTo>
                    <a:pt x="8" y="199"/>
                  </a:lnTo>
                  <a:lnTo>
                    <a:pt x="13" y="199"/>
                  </a:lnTo>
                  <a:lnTo>
                    <a:pt x="12" y="190"/>
                  </a:lnTo>
                  <a:lnTo>
                    <a:pt x="10" y="182"/>
                  </a:lnTo>
                  <a:lnTo>
                    <a:pt x="10" y="174"/>
                  </a:lnTo>
                  <a:lnTo>
                    <a:pt x="8" y="165"/>
                  </a:lnTo>
                  <a:lnTo>
                    <a:pt x="7" y="157"/>
                  </a:lnTo>
                  <a:lnTo>
                    <a:pt x="7" y="149"/>
                  </a:lnTo>
                  <a:lnTo>
                    <a:pt x="5" y="141"/>
                  </a:lnTo>
                  <a:lnTo>
                    <a:pt x="5" y="132"/>
                  </a:lnTo>
                  <a:lnTo>
                    <a:pt x="0" y="136"/>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45" name="Freeform 85">
              <a:extLst>
                <a:ext uri="{FF2B5EF4-FFF2-40B4-BE49-F238E27FC236}">
                  <a16:creationId xmlns:a16="http://schemas.microsoft.com/office/drawing/2014/main" id="{BD2C0C30-7C96-B3F7-6C3D-C9E4FD3AB268}"/>
                </a:ext>
              </a:extLst>
            </p:cNvPr>
            <p:cNvSpPr>
              <a:spLocks noEditPoints="1"/>
            </p:cNvSpPr>
            <p:nvPr/>
          </p:nvSpPr>
          <p:spPr bwMode="auto">
            <a:xfrm>
              <a:off x="1368" y="1514"/>
              <a:ext cx="935" cy="199"/>
            </a:xfrm>
            <a:custGeom>
              <a:avLst/>
              <a:gdLst>
                <a:gd name="T0" fmla="*/ 935 w 935"/>
                <a:gd name="T1" fmla="*/ 61 h 199"/>
                <a:gd name="T2" fmla="*/ 935 w 935"/>
                <a:gd name="T3" fmla="*/ 53 h 199"/>
                <a:gd name="T4" fmla="*/ 934 w 935"/>
                <a:gd name="T5" fmla="*/ 45 h 199"/>
                <a:gd name="T6" fmla="*/ 934 w 935"/>
                <a:gd name="T7" fmla="*/ 38 h 199"/>
                <a:gd name="T8" fmla="*/ 932 w 935"/>
                <a:gd name="T9" fmla="*/ 30 h 199"/>
                <a:gd name="T10" fmla="*/ 930 w 935"/>
                <a:gd name="T11" fmla="*/ 23 h 199"/>
                <a:gd name="T12" fmla="*/ 930 w 935"/>
                <a:gd name="T13" fmla="*/ 15 h 199"/>
                <a:gd name="T14" fmla="*/ 929 w 935"/>
                <a:gd name="T15" fmla="*/ 6 h 199"/>
                <a:gd name="T16" fmla="*/ 927 w 935"/>
                <a:gd name="T17" fmla="*/ 0 h 199"/>
                <a:gd name="T18" fmla="*/ 922 w 935"/>
                <a:gd name="T19" fmla="*/ 0 h 199"/>
                <a:gd name="T20" fmla="*/ 924 w 935"/>
                <a:gd name="T21" fmla="*/ 8 h 199"/>
                <a:gd name="T22" fmla="*/ 925 w 935"/>
                <a:gd name="T23" fmla="*/ 15 h 199"/>
                <a:gd name="T24" fmla="*/ 927 w 935"/>
                <a:gd name="T25" fmla="*/ 23 h 199"/>
                <a:gd name="T26" fmla="*/ 927 w 935"/>
                <a:gd name="T27" fmla="*/ 31 h 199"/>
                <a:gd name="T28" fmla="*/ 929 w 935"/>
                <a:gd name="T29" fmla="*/ 40 h 199"/>
                <a:gd name="T30" fmla="*/ 930 w 935"/>
                <a:gd name="T31" fmla="*/ 46 h 199"/>
                <a:gd name="T32" fmla="*/ 930 w 935"/>
                <a:gd name="T33" fmla="*/ 54 h 199"/>
                <a:gd name="T34" fmla="*/ 932 w 935"/>
                <a:gd name="T35" fmla="*/ 63 h 199"/>
                <a:gd name="T36" fmla="*/ 935 w 935"/>
                <a:gd name="T37" fmla="*/ 61 h 199"/>
                <a:gd name="T38" fmla="*/ 0 w 935"/>
                <a:gd name="T39" fmla="*/ 134 h 199"/>
                <a:gd name="T40" fmla="*/ 1 w 935"/>
                <a:gd name="T41" fmla="*/ 142 h 199"/>
                <a:gd name="T42" fmla="*/ 1 w 935"/>
                <a:gd name="T43" fmla="*/ 151 h 199"/>
                <a:gd name="T44" fmla="*/ 3 w 935"/>
                <a:gd name="T45" fmla="*/ 159 h 199"/>
                <a:gd name="T46" fmla="*/ 3 w 935"/>
                <a:gd name="T47" fmla="*/ 167 h 199"/>
                <a:gd name="T48" fmla="*/ 5 w 935"/>
                <a:gd name="T49" fmla="*/ 175 h 199"/>
                <a:gd name="T50" fmla="*/ 6 w 935"/>
                <a:gd name="T51" fmla="*/ 182 h 199"/>
                <a:gd name="T52" fmla="*/ 8 w 935"/>
                <a:gd name="T53" fmla="*/ 190 h 199"/>
                <a:gd name="T54" fmla="*/ 10 w 935"/>
                <a:gd name="T55" fmla="*/ 199 h 199"/>
                <a:gd name="T56" fmla="*/ 15 w 935"/>
                <a:gd name="T57" fmla="*/ 199 h 199"/>
                <a:gd name="T58" fmla="*/ 13 w 935"/>
                <a:gd name="T59" fmla="*/ 190 h 199"/>
                <a:gd name="T60" fmla="*/ 11 w 935"/>
                <a:gd name="T61" fmla="*/ 182 h 199"/>
                <a:gd name="T62" fmla="*/ 10 w 935"/>
                <a:gd name="T63" fmla="*/ 174 h 199"/>
                <a:gd name="T64" fmla="*/ 8 w 935"/>
                <a:gd name="T65" fmla="*/ 165 h 199"/>
                <a:gd name="T66" fmla="*/ 8 w 935"/>
                <a:gd name="T67" fmla="*/ 157 h 199"/>
                <a:gd name="T68" fmla="*/ 6 w 935"/>
                <a:gd name="T69" fmla="*/ 149 h 199"/>
                <a:gd name="T70" fmla="*/ 5 w 935"/>
                <a:gd name="T71" fmla="*/ 141 h 199"/>
                <a:gd name="T72" fmla="*/ 5 w 935"/>
                <a:gd name="T73" fmla="*/ 132 h 199"/>
                <a:gd name="T74" fmla="*/ 0 w 935"/>
                <a:gd name="T75" fmla="*/ 13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35" h="199">
                  <a:moveTo>
                    <a:pt x="935" y="61"/>
                  </a:moveTo>
                  <a:lnTo>
                    <a:pt x="935" y="53"/>
                  </a:lnTo>
                  <a:lnTo>
                    <a:pt x="934" y="45"/>
                  </a:lnTo>
                  <a:lnTo>
                    <a:pt x="934" y="38"/>
                  </a:lnTo>
                  <a:lnTo>
                    <a:pt x="932" y="30"/>
                  </a:lnTo>
                  <a:lnTo>
                    <a:pt x="930" y="23"/>
                  </a:lnTo>
                  <a:lnTo>
                    <a:pt x="930" y="15"/>
                  </a:lnTo>
                  <a:lnTo>
                    <a:pt x="929" y="6"/>
                  </a:lnTo>
                  <a:lnTo>
                    <a:pt x="927" y="0"/>
                  </a:lnTo>
                  <a:lnTo>
                    <a:pt x="922" y="0"/>
                  </a:lnTo>
                  <a:lnTo>
                    <a:pt x="924" y="8"/>
                  </a:lnTo>
                  <a:lnTo>
                    <a:pt x="925" y="15"/>
                  </a:lnTo>
                  <a:lnTo>
                    <a:pt x="927" y="23"/>
                  </a:lnTo>
                  <a:lnTo>
                    <a:pt x="927" y="31"/>
                  </a:lnTo>
                  <a:lnTo>
                    <a:pt x="929" y="40"/>
                  </a:lnTo>
                  <a:lnTo>
                    <a:pt x="930" y="46"/>
                  </a:lnTo>
                  <a:lnTo>
                    <a:pt x="930" y="54"/>
                  </a:lnTo>
                  <a:lnTo>
                    <a:pt x="932" y="63"/>
                  </a:lnTo>
                  <a:lnTo>
                    <a:pt x="935" y="61"/>
                  </a:lnTo>
                  <a:close/>
                  <a:moveTo>
                    <a:pt x="0" y="134"/>
                  </a:moveTo>
                  <a:lnTo>
                    <a:pt x="1" y="142"/>
                  </a:lnTo>
                  <a:lnTo>
                    <a:pt x="1" y="151"/>
                  </a:lnTo>
                  <a:lnTo>
                    <a:pt x="3" y="159"/>
                  </a:lnTo>
                  <a:lnTo>
                    <a:pt x="3" y="167"/>
                  </a:lnTo>
                  <a:lnTo>
                    <a:pt x="5" y="175"/>
                  </a:lnTo>
                  <a:lnTo>
                    <a:pt x="6" y="182"/>
                  </a:lnTo>
                  <a:lnTo>
                    <a:pt x="8" y="190"/>
                  </a:lnTo>
                  <a:lnTo>
                    <a:pt x="10" y="199"/>
                  </a:lnTo>
                  <a:lnTo>
                    <a:pt x="15" y="199"/>
                  </a:lnTo>
                  <a:lnTo>
                    <a:pt x="13" y="190"/>
                  </a:lnTo>
                  <a:lnTo>
                    <a:pt x="11" y="182"/>
                  </a:lnTo>
                  <a:lnTo>
                    <a:pt x="10" y="174"/>
                  </a:lnTo>
                  <a:lnTo>
                    <a:pt x="8" y="165"/>
                  </a:lnTo>
                  <a:lnTo>
                    <a:pt x="8" y="157"/>
                  </a:lnTo>
                  <a:lnTo>
                    <a:pt x="6" y="149"/>
                  </a:lnTo>
                  <a:lnTo>
                    <a:pt x="5" y="141"/>
                  </a:lnTo>
                  <a:lnTo>
                    <a:pt x="5" y="132"/>
                  </a:lnTo>
                  <a:lnTo>
                    <a:pt x="0" y="134"/>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46" name="Freeform 86">
              <a:extLst>
                <a:ext uri="{FF2B5EF4-FFF2-40B4-BE49-F238E27FC236}">
                  <a16:creationId xmlns:a16="http://schemas.microsoft.com/office/drawing/2014/main" id="{87BEFD34-C660-80F7-1B10-E27A73ABAE18}"/>
                </a:ext>
              </a:extLst>
            </p:cNvPr>
            <p:cNvSpPr>
              <a:spLocks noEditPoints="1"/>
            </p:cNvSpPr>
            <p:nvPr/>
          </p:nvSpPr>
          <p:spPr bwMode="auto">
            <a:xfrm>
              <a:off x="1371" y="1514"/>
              <a:ext cx="931" cy="199"/>
            </a:xfrm>
            <a:custGeom>
              <a:avLst/>
              <a:gdLst>
                <a:gd name="T0" fmla="*/ 931 w 931"/>
                <a:gd name="T1" fmla="*/ 61 h 199"/>
                <a:gd name="T2" fmla="*/ 929 w 931"/>
                <a:gd name="T3" fmla="*/ 54 h 199"/>
                <a:gd name="T4" fmla="*/ 929 w 931"/>
                <a:gd name="T5" fmla="*/ 46 h 199"/>
                <a:gd name="T6" fmla="*/ 927 w 931"/>
                <a:gd name="T7" fmla="*/ 38 h 199"/>
                <a:gd name="T8" fmla="*/ 927 w 931"/>
                <a:gd name="T9" fmla="*/ 30 h 199"/>
                <a:gd name="T10" fmla="*/ 926 w 931"/>
                <a:gd name="T11" fmla="*/ 23 h 199"/>
                <a:gd name="T12" fmla="*/ 924 w 931"/>
                <a:gd name="T13" fmla="*/ 15 h 199"/>
                <a:gd name="T14" fmla="*/ 922 w 931"/>
                <a:gd name="T15" fmla="*/ 6 h 199"/>
                <a:gd name="T16" fmla="*/ 921 w 931"/>
                <a:gd name="T17" fmla="*/ 0 h 199"/>
                <a:gd name="T18" fmla="*/ 916 w 931"/>
                <a:gd name="T19" fmla="*/ 0 h 199"/>
                <a:gd name="T20" fmla="*/ 918 w 931"/>
                <a:gd name="T21" fmla="*/ 8 h 199"/>
                <a:gd name="T22" fmla="*/ 919 w 931"/>
                <a:gd name="T23" fmla="*/ 15 h 199"/>
                <a:gd name="T24" fmla="*/ 921 w 931"/>
                <a:gd name="T25" fmla="*/ 23 h 199"/>
                <a:gd name="T26" fmla="*/ 922 w 931"/>
                <a:gd name="T27" fmla="*/ 31 h 199"/>
                <a:gd name="T28" fmla="*/ 924 w 931"/>
                <a:gd name="T29" fmla="*/ 40 h 199"/>
                <a:gd name="T30" fmla="*/ 924 w 931"/>
                <a:gd name="T31" fmla="*/ 48 h 199"/>
                <a:gd name="T32" fmla="*/ 926 w 931"/>
                <a:gd name="T33" fmla="*/ 56 h 199"/>
                <a:gd name="T34" fmla="*/ 926 w 931"/>
                <a:gd name="T35" fmla="*/ 64 h 199"/>
                <a:gd name="T36" fmla="*/ 931 w 931"/>
                <a:gd name="T37" fmla="*/ 61 h 199"/>
                <a:gd name="T38" fmla="*/ 0 w 931"/>
                <a:gd name="T39" fmla="*/ 132 h 199"/>
                <a:gd name="T40" fmla="*/ 0 w 931"/>
                <a:gd name="T41" fmla="*/ 141 h 199"/>
                <a:gd name="T42" fmla="*/ 2 w 931"/>
                <a:gd name="T43" fmla="*/ 149 h 199"/>
                <a:gd name="T44" fmla="*/ 2 w 931"/>
                <a:gd name="T45" fmla="*/ 157 h 199"/>
                <a:gd name="T46" fmla="*/ 3 w 931"/>
                <a:gd name="T47" fmla="*/ 165 h 199"/>
                <a:gd name="T48" fmla="*/ 5 w 931"/>
                <a:gd name="T49" fmla="*/ 174 h 199"/>
                <a:gd name="T50" fmla="*/ 5 w 931"/>
                <a:gd name="T51" fmla="*/ 182 h 199"/>
                <a:gd name="T52" fmla="*/ 7 w 931"/>
                <a:gd name="T53" fmla="*/ 190 h 199"/>
                <a:gd name="T54" fmla="*/ 8 w 931"/>
                <a:gd name="T55" fmla="*/ 199 h 199"/>
                <a:gd name="T56" fmla="*/ 13 w 931"/>
                <a:gd name="T57" fmla="*/ 199 h 199"/>
                <a:gd name="T58" fmla="*/ 12 w 931"/>
                <a:gd name="T59" fmla="*/ 190 h 199"/>
                <a:gd name="T60" fmla="*/ 10 w 931"/>
                <a:gd name="T61" fmla="*/ 182 h 199"/>
                <a:gd name="T62" fmla="*/ 8 w 931"/>
                <a:gd name="T63" fmla="*/ 174 h 199"/>
                <a:gd name="T64" fmla="*/ 8 w 931"/>
                <a:gd name="T65" fmla="*/ 165 h 199"/>
                <a:gd name="T66" fmla="*/ 7 w 931"/>
                <a:gd name="T67" fmla="*/ 157 h 199"/>
                <a:gd name="T68" fmla="*/ 5 w 931"/>
                <a:gd name="T69" fmla="*/ 147 h 199"/>
                <a:gd name="T70" fmla="*/ 5 w 931"/>
                <a:gd name="T71" fmla="*/ 139 h 199"/>
                <a:gd name="T72" fmla="*/ 3 w 931"/>
                <a:gd name="T73" fmla="*/ 131 h 199"/>
                <a:gd name="T74" fmla="*/ 0 w 931"/>
                <a:gd name="T75" fmla="*/ 13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31" h="199">
                  <a:moveTo>
                    <a:pt x="931" y="61"/>
                  </a:moveTo>
                  <a:lnTo>
                    <a:pt x="929" y="54"/>
                  </a:lnTo>
                  <a:lnTo>
                    <a:pt x="929" y="46"/>
                  </a:lnTo>
                  <a:lnTo>
                    <a:pt x="927" y="38"/>
                  </a:lnTo>
                  <a:lnTo>
                    <a:pt x="927" y="30"/>
                  </a:lnTo>
                  <a:lnTo>
                    <a:pt x="926" y="23"/>
                  </a:lnTo>
                  <a:lnTo>
                    <a:pt x="924" y="15"/>
                  </a:lnTo>
                  <a:lnTo>
                    <a:pt x="922" y="6"/>
                  </a:lnTo>
                  <a:lnTo>
                    <a:pt x="921" y="0"/>
                  </a:lnTo>
                  <a:lnTo>
                    <a:pt x="916" y="0"/>
                  </a:lnTo>
                  <a:lnTo>
                    <a:pt x="918" y="8"/>
                  </a:lnTo>
                  <a:lnTo>
                    <a:pt x="919" y="15"/>
                  </a:lnTo>
                  <a:lnTo>
                    <a:pt x="921" y="23"/>
                  </a:lnTo>
                  <a:lnTo>
                    <a:pt x="922" y="31"/>
                  </a:lnTo>
                  <a:lnTo>
                    <a:pt x="924" y="40"/>
                  </a:lnTo>
                  <a:lnTo>
                    <a:pt x="924" y="48"/>
                  </a:lnTo>
                  <a:lnTo>
                    <a:pt x="926" y="56"/>
                  </a:lnTo>
                  <a:lnTo>
                    <a:pt x="926" y="64"/>
                  </a:lnTo>
                  <a:lnTo>
                    <a:pt x="931" y="61"/>
                  </a:lnTo>
                  <a:close/>
                  <a:moveTo>
                    <a:pt x="0" y="132"/>
                  </a:moveTo>
                  <a:lnTo>
                    <a:pt x="0" y="141"/>
                  </a:lnTo>
                  <a:lnTo>
                    <a:pt x="2" y="149"/>
                  </a:lnTo>
                  <a:lnTo>
                    <a:pt x="2" y="157"/>
                  </a:lnTo>
                  <a:lnTo>
                    <a:pt x="3" y="165"/>
                  </a:lnTo>
                  <a:lnTo>
                    <a:pt x="5" y="174"/>
                  </a:lnTo>
                  <a:lnTo>
                    <a:pt x="5" y="182"/>
                  </a:lnTo>
                  <a:lnTo>
                    <a:pt x="7" y="190"/>
                  </a:lnTo>
                  <a:lnTo>
                    <a:pt x="8" y="199"/>
                  </a:lnTo>
                  <a:lnTo>
                    <a:pt x="13" y="199"/>
                  </a:lnTo>
                  <a:lnTo>
                    <a:pt x="12" y="190"/>
                  </a:lnTo>
                  <a:lnTo>
                    <a:pt x="10" y="182"/>
                  </a:lnTo>
                  <a:lnTo>
                    <a:pt x="8" y="174"/>
                  </a:lnTo>
                  <a:lnTo>
                    <a:pt x="8" y="165"/>
                  </a:lnTo>
                  <a:lnTo>
                    <a:pt x="7" y="157"/>
                  </a:lnTo>
                  <a:lnTo>
                    <a:pt x="5" y="147"/>
                  </a:lnTo>
                  <a:lnTo>
                    <a:pt x="5" y="139"/>
                  </a:lnTo>
                  <a:lnTo>
                    <a:pt x="3" y="131"/>
                  </a:lnTo>
                  <a:lnTo>
                    <a:pt x="0" y="132"/>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47" name="Freeform 87">
              <a:extLst>
                <a:ext uri="{FF2B5EF4-FFF2-40B4-BE49-F238E27FC236}">
                  <a16:creationId xmlns:a16="http://schemas.microsoft.com/office/drawing/2014/main" id="{555939A2-3F97-73E3-DE86-B88AE3CC8A17}"/>
                </a:ext>
              </a:extLst>
            </p:cNvPr>
            <p:cNvSpPr>
              <a:spLocks noEditPoints="1"/>
            </p:cNvSpPr>
            <p:nvPr/>
          </p:nvSpPr>
          <p:spPr bwMode="auto">
            <a:xfrm>
              <a:off x="1373" y="1514"/>
              <a:ext cx="927" cy="199"/>
            </a:xfrm>
            <a:custGeom>
              <a:avLst/>
              <a:gdLst>
                <a:gd name="T0" fmla="*/ 927 w 927"/>
                <a:gd name="T1" fmla="*/ 63 h 199"/>
                <a:gd name="T2" fmla="*/ 925 w 927"/>
                <a:gd name="T3" fmla="*/ 54 h 199"/>
                <a:gd name="T4" fmla="*/ 925 w 927"/>
                <a:gd name="T5" fmla="*/ 46 h 199"/>
                <a:gd name="T6" fmla="*/ 924 w 927"/>
                <a:gd name="T7" fmla="*/ 40 h 199"/>
                <a:gd name="T8" fmla="*/ 922 w 927"/>
                <a:gd name="T9" fmla="*/ 31 h 199"/>
                <a:gd name="T10" fmla="*/ 922 w 927"/>
                <a:gd name="T11" fmla="*/ 23 h 199"/>
                <a:gd name="T12" fmla="*/ 920 w 927"/>
                <a:gd name="T13" fmla="*/ 15 h 199"/>
                <a:gd name="T14" fmla="*/ 919 w 927"/>
                <a:gd name="T15" fmla="*/ 8 h 199"/>
                <a:gd name="T16" fmla="*/ 917 w 927"/>
                <a:gd name="T17" fmla="*/ 0 h 199"/>
                <a:gd name="T18" fmla="*/ 912 w 927"/>
                <a:gd name="T19" fmla="*/ 0 h 199"/>
                <a:gd name="T20" fmla="*/ 914 w 927"/>
                <a:gd name="T21" fmla="*/ 8 h 199"/>
                <a:gd name="T22" fmla="*/ 916 w 927"/>
                <a:gd name="T23" fmla="*/ 16 h 199"/>
                <a:gd name="T24" fmla="*/ 917 w 927"/>
                <a:gd name="T25" fmla="*/ 23 h 199"/>
                <a:gd name="T26" fmla="*/ 919 w 927"/>
                <a:gd name="T27" fmla="*/ 31 h 199"/>
                <a:gd name="T28" fmla="*/ 919 w 927"/>
                <a:gd name="T29" fmla="*/ 40 h 199"/>
                <a:gd name="T30" fmla="*/ 920 w 927"/>
                <a:gd name="T31" fmla="*/ 48 h 199"/>
                <a:gd name="T32" fmla="*/ 920 w 927"/>
                <a:gd name="T33" fmla="*/ 56 h 199"/>
                <a:gd name="T34" fmla="*/ 922 w 927"/>
                <a:gd name="T35" fmla="*/ 64 h 199"/>
                <a:gd name="T36" fmla="*/ 927 w 927"/>
                <a:gd name="T37" fmla="*/ 63 h 199"/>
                <a:gd name="T38" fmla="*/ 0 w 927"/>
                <a:gd name="T39" fmla="*/ 132 h 199"/>
                <a:gd name="T40" fmla="*/ 0 w 927"/>
                <a:gd name="T41" fmla="*/ 141 h 199"/>
                <a:gd name="T42" fmla="*/ 1 w 927"/>
                <a:gd name="T43" fmla="*/ 149 h 199"/>
                <a:gd name="T44" fmla="*/ 3 w 927"/>
                <a:gd name="T45" fmla="*/ 157 h 199"/>
                <a:gd name="T46" fmla="*/ 3 w 927"/>
                <a:gd name="T47" fmla="*/ 165 h 199"/>
                <a:gd name="T48" fmla="*/ 5 w 927"/>
                <a:gd name="T49" fmla="*/ 174 h 199"/>
                <a:gd name="T50" fmla="*/ 6 w 927"/>
                <a:gd name="T51" fmla="*/ 182 h 199"/>
                <a:gd name="T52" fmla="*/ 8 w 927"/>
                <a:gd name="T53" fmla="*/ 190 h 199"/>
                <a:gd name="T54" fmla="*/ 10 w 927"/>
                <a:gd name="T55" fmla="*/ 199 h 199"/>
                <a:gd name="T56" fmla="*/ 15 w 927"/>
                <a:gd name="T57" fmla="*/ 199 h 199"/>
                <a:gd name="T58" fmla="*/ 13 w 927"/>
                <a:gd name="T59" fmla="*/ 190 h 199"/>
                <a:gd name="T60" fmla="*/ 11 w 927"/>
                <a:gd name="T61" fmla="*/ 182 h 199"/>
                <a:gd name="T62" fmla="*/ 10 w 927"/>
                <a:gd name="T63" fmla="*/ 174 h 199"/>
                <a:gd name="T64" fmla="*/ 8 w 927"/>
                <a:gd name="T65" fmla="*/ 164 h 199"/>
                <a:gd name="T66" fmla="*/ 6 w 927"/>
                <a:gd name="T67" fmla="*/ 155 h 199"/>
                <a:gd name="T68" fmla="*/ 6 w 927"/>
                <a:gd name="T69" fmla="*/ 147 h 199"/>
                <a:gd name="T70" fmla="*/ 5 w 927"/>
                <a:gd name="T71" fmla="*/ 139 h 199"/>
                <a:gd name="T72" fmla="*/ 5 w 927"/>
                <a:gd name="T73" fmla="*/ 129 h 199"/>
                <a:gd name="T74" fmla="*/ 0 w 927"/>
                <a:gd name="T75" fmla="*/ 13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27" h="199">
                  <a:moveTo>
                    <a:pt x="927" y="63"/>
                  </a:moveTo>
                  <a:lnTo>
                    <a:pt x="925" y="54"/>
                  </a:lnTo>
                  <a:lnTo>
                    <a:pt x="925" y="46"/>
                  </a:lnTo>
                  <a:lnTo>
                    <a:pt x="924" y="40"/>
                  </a:lnTo>
                  <a:lnTo>
                    <a:pt x="922" y="31"/>
                  </a:lnTo>
                  <a:lnTo>
                    <a:pt x="922" y="23"/>
                  </a:lnTo>
                  <a:lnTo>
                    <a:pt x="920" y="15"/>
                  </a:lnTo>
                  <a:lnTo>
                    <a:pt x="919" y="8"/>
                  </a:lnTo>
                  <a:lnTo>
                    <a:pt x="917" y="0"/>
                  </a:lnTo>
                  <a:lnTo>
                    <a:pt x="912" y="0"/>
                  </a:lnTo>
                  <a:lnTo>
                    <a:pt x="914" y="8"/>
                  </a:lnTo>
                  <a:lnTo>
                    <a:pt x="916" y="16"/>
                  </a:lnTo>
                  <a:lnTo>
                    <a:pt x="917" y="23"/>
                  </a:lnTo>
                  <a:lnTo>
                    <a:pt x="919" y="31"/>
                  </a:lnTo>
                  <a:lnTo>
                    <a:pt x="919" y="40"/>
                  </a:lnTo>
                  <a:lnTo>
                    <a:pt x="920" y="48"/>
                  </a:lnTo>
                  <a:lnTo>
                    <a:pt x="920" y="56"/>
                  </a:lnTo>
                  <a:lnTo>
                    <a:pt x="922" y="64"/>
                  </a:lnTo>
                  <a:lnTo>
                    <a:pt x="927" y="63"/>
                  </a:lnTo>
                  <a:close/>
                  <a:moveTo>
                    <a:pt x="0" y="132"/>
                  </a:moveTo>
                  <a:lnTo>
                    <a:pt x="0" y="141"/>
                  </a:lnTo>
                  <a:lnTo>
                    <a:pt x="1" y="149"/>
                  </a:lnTo>
                  <a:lnTo>
                    <a:pt x="3" y="157"/>
                  </a:lnTo>
                  <a:lnTo>
                    <a:pt x="3" y="165"/>
                  </a:lnTo>
                  <a:lnTo>
                    <a:pt x="5" y="174"/>
                  </a:lnTo>
                  <a:lnTo>
                    <a:pt x="6" y="182"/>
                  </a:lnTo>
                  <a:lnTo>
                    <a:pt x="8" y="190"/>
                  </a:lnTo>
                  <a:lnTo>
                    <a:pt x="10" y="199"/>
                  </a:lnTo>
                  <a:lnTo>
                    <a:pt x="15" y="199"/>
                  </a:lnTo>
                  <a:lnTo>
                    <a:pt x="13" y="190"/>
                  </a:lnTo>
                  <a:lnTo>
                    <a:pt x="11" y="182"/>
                  </a:lnTo>
                  <a:lnTo>
                    <a:pt x="10" y="174"/>
                  </a:lnTo>
                  <a:lnTo>
                    <a:pt x="8" y="164"/>
                  </a:lnTo>
                  <a:lnTo>
                    <a:pt x="6" y="155"/>
                  </a:lnTo>
                  <a:lnTo>
                    <a:pt x="6" y="147"/>
                  </a:lnTo>
                  <a:lnTo>
                    <a:pt x="5" y="139"/>
                  </a:lnTo>
                  <a:lnTo>
                    <a:pt x="5" y="129"/>
                  </a:lnTo>
                  <a:lnTo>
                    <a:pt x="0" y="132"/>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48" name="Freeform 88">
              <a:extLst>
                <a:ext uri="{FF2B5EF4-FFF2-40B4-BE49-F238E27FC236}">
                  <a16:creationId xmlns:a16="http://schemas.microsoft.com/office/drawing/2014/main" id="{6FF06429-6387-70CD-64FD-79B33EC4E8C4}"/>
                </a:ext>
              </a:extLst>
            </p:cNvPr>
            <p:cNvSpPr>
              <a:spLocks noEditPoints="1"/>
            </p:cNvSpPr>
            <p:nvPr/>
          </p:nvSpPr>
          <p:spPr bwMode="auto">
            <a:xfrm>
              <a:off x="1374" y="1514"/>
              <a:ext cx="923" cy="199"/>
            </a:xfrm>
            <a:custGeom>
              <a:avLst/>
              <a:gdLst>
                <a:gd name="T0" fmla="*/ 923 w 923"/>
                <a:gd name="T1" fmla="*/ 64 h 199"/>
                <a:gd name="T2" fmla="*/ 923 w 923"/>
                <a:gd name="T3" fmla="*/ 56 h 199"/>
                <a:gd name="T4" fmla="*/ 921 w 923"/>
                <a:gd name="T5" fmla="*/ 48 h 199"/>
                <a:gd name="T6" fmla="*/ 921 w 923"/>
                <a:gd name="T7" fmla="*/ 40 h 199"/>
                <a:gd name="T8" fmla="*/ 919 w 923"/>
                <a:gd name="T9" fmla="*/ 31 h 199"/>
                <a:gd name="T10" fmla="*/ 918 w 923"/>
                <a:gd name="T11" fmla="*/ 23 h 199"/>
                <a:gd name="T12" fmla="*/ 916 w 923"/>
                <a:gd name="T13" fmla="*/ 15 h 199"/>
                <a:gd name="T14" fmla="*/ 915 w 923"/>
                <a:gd name="T15" fmla="*/ 8 h 199"/>
                <a:gd name="T16" fmla="*/ 913 w 923"/>
                <a:gd name="T17" fmla="*/ 0 h 199"/>
                <a:gd name="T18" fmla="*/ 908 w 923"/>
                <a:gd name="T19" fmla="*/ 0 h 199"/>
                <a:gd name="T20" fmla="*/ 911 w 923"/>
                <a:gd name="T21" fmla="*/ 8 h 199"/>
                <a:gd name="T22" fmla="*/ 911 w 923"/>
                <a:gd name="T23" fmla="*/ 16 h 199"/>
                <a:gd name="T24" fmla="*/ 913 w 923"/>
                <a:gd name="T25" fmla="*/ 25 h 199"/>
                <a:gd name="T26" fmla="*/ 915 w 923"/>
                <a:gd name="T27" fmla="*/ 33 h 199"/>
                <a:gd name="T28" fmla="*/ 916 w 923"/>
                <a:gd name="T29" fmla="*/ 41 h 199"/>
                <a:gd name="T30" fmla="*/ 916 w 923"/>
                <a:gd name="T31" fmla="*/ 50 h 199"/>
                <a:gd name="T32" fmla="*/ 918 w 923"/>
                <a:gd name="T33" fmla="*/ 58 h 199"/>
                <a:gd name="T34" fmla="*/ 918 w 923"/>
                <a:gd name="T35" fmla="*/ 66 h 199"/>
                <a:gd name="T36" fmla="*/ 923 w 923"/>
                <a:gd name="T37" fmla="*/ 64 h 199"/>
                <a:gd name="T38" fmla="*/ 0 w 923"/>
                <a:gd name="T39" fmla="*/ 131 h 199"/>
                <a:gd name="T40" fmla="*/ 2 w 923"/>
                <a:gd name="T41" fmla="*/ 139 h 199"/>
                <a:gd name="T42" fmla="*/ 2 w 923"/>
                <a:gd name="T43" fmla="*/ 147 h 199"/>
                <a:gd name="T44" fmla="*/ 4 w 923"/>
                <a:gd name="T45" fmla="*/ 157 h 199"/>
                <a:gd name="T46" fmla="*/ 5 w 923"/>
                <a:gd name="T47" fmla="*/ 165 h 199"/>
                <a:gd name="T48" fmla="*/ 5 w 923"/>
                <a:gd name="T49" fmla="*/ 174 h 199"/>
                <a:gd name="T50" fmla="*/ 7 w 923"/>
                <a:gd name="T51" fmla="*/ 182 h 199"/>
                <a:gd name="T52" fmla="*/ 9 w 923"/>
                <a:gd name="T53" fmla="*/ 190 h 199"/>
                <a:gd name="T54" fmla="*/ 10 w 923"/>
                <a:gd name="T55" fmla="*/ 199 h 199"/>
                <a:gd name="T56" fmla="*/ 15 w 923"/>
                <a:gd name="T57" fmla="*/ 199 h 199"/>
                <a:gd name="T58" fmla="*/ 14 w 923"/>
                <a:gd name="T59" fmla="*/ 190 h 199"/>
                <a:gd name="T60" fmla="*/ 12 w 923"/>
                <a:gd name="T61" fmla="*/ 182 h 199"/>
                <a:gd name="T62" fmla="*/ 10 w 923"/>
                <a:gd name="T63" fmla="*/ 172 h 199"/>
                <a:gd name="T64" fmla="*/ 9 w 923"/>
                <a:gd name="T65" fmla="*/ 164 h 199"/>
                <a:gd name="T66" fmla="*/ 9 w 923"/>
                <a:gd name="T67" fmla="*/ 155 h 199"/>
                <a:gd name="T68" fmla="*/ 7 w 923"/>
                <a:gd name="T69" fmla="*/ 146 h 199"/>
                <a:gd name="T70" fmla="*/ 7 w 923"/>
                <a:gd name="T71" fmla="*/ 137 h 199"/>
                <a:gd name="T72" fmla="*/ 5 w 923"/>
                <a:gd name="T73" fmla="*/ 129 h 199"/>
                <a:gd name="T74" fmla="*/ 0 w 923"/>
                <a:gd name="T75" fmla="*/ 13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23" h="199">
                  <a:moveTo>
                    <a:pt x="923" y="64"/>
                  </a:moveTo>
                  <a:lnTo>
                    <a:pt x="923" y="56"/>
                  </a:lnTo>
                  <a:lnTo>
                    <a:pt x="921" y="48"/>
                  </a:lnTo>
                  <a:lnTo>
                    <a:pt x="921" y="40"/>
                  </a:lnTo>
                  <a:lnTo>
                    <a:pt x="919" y="31"/>
                  </a:lnTo>
                  <a:lnTo>
                    <a:pt x="918" y="23"/>
                  </a:lnTo>
                  <a:lnTo>
                    <a:pt x="916" y="15"/>
                  </a:lnTo>
                  <a:lnTo>
                    <a:pt x="915" y="8"/>
                  </a:lnTo>
                  <a:lnTo>
                    <a:pt x="913" y="0"/>
                  </a:lnTo>
                  <a:lnTo>
                    <a:pt x="908" y="0"/>
                  </a:lnTo>
                  <a:lnTo>
                    <a:pt x="911" y="8"/>
                  </a:lnTo>
                  <a:lnTo>
                    <a:pt x="911" y="16"/>
                  </a:lnTo>
                  <a:lnTo>
                    <a:pt x="913" y="25"/>
                  </a:lnTo>
                  <a:lnTo>
                    <a:pt x="915" y="33"/>
                  </a:lnTo>
                  <a:lnTo>
                    <a:pt x="916" y="41"/>
                  </a:lnTo>
                  <a:lnTo>
                    <a:pt x="916" y="50"/>
                  </a:lnTo>
                  <a:lnTo>
                    <a:pt x="918" y="58"/>
                  </a:lnTo>
                  <a:lnTo>
                    <a:pt x="918" y="66"/>
                  </a:lnTo>
                  <a:lnTo>
                    <a:pt x="923" y="64"/>
                  </a:lnTo>
                  <a:close/>
                  <a:moveTo>
                    <a:pt x="0" y="131"/>
                  </a:moveTo>
                  <a:lnTo>
                    <a:pt x="2" y="139"/>
                  </a:lnTo>
                  <a:lnTo>
                    <a:pt x="2" y="147"/>
                  </a:lnTo>
                  <a:lnTo>
                    <a:pt x="4" y="157"/>
                  </a:lnTo>
                  <a:lnTo>
                    <a:pt x="5" y="165"/>
                  </a:lnTo>
                  <a:lnTo>
                    <a:pt x="5" y="174"/>
                  </a:lnTo>
                  <a:lnTo>
                    <a:pt x="7" y="182"/>
                  </a:lnTo>
                  <a:lnTo>
                    <a:pt x="9" y="190"/>
                  </a:lnTo>
                  <a:lnTo>
                    <a:pt x="10" y="199"/>
                  </a:lnTo>
                  <a:lnTo>
                    <a:pt x="15" y="199"/>
                  </a:lnTo>
                  <a:lnTo>
                    <a:pt x="14" y="190"/>
                  </a:lnTo>
                  <a:lnTo>
                    <a:pt x="12" y="182"/>
                  </a:lnTo>
                  <a:lnTo>
                    <a:pt x="10" y="172"/>
                  </a:lnTo>
                  <a:lnTo>
                    <a:pt x="9" y="164"/>
                  </a:lnTo>
                  <a:lnTo>
                    <a:pt x="9" y="155"/>
                  </a:lnTo>
                  <a:lnTo>
                    <a:pt x="7" y="146"/>
                  </a:lnTo>
                  <a:lnTo>
                    <a:pt x="7" y="137"/>
                  </a:lnTo>
                  <a:lnTo>
                    <a:pt x="5" y="129"/>
                  </a:lnTo>
                  <a:lnTo>
                    <a:pt x="0" y="131"/>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49" name="Freeform 89">
              <a:extLst>
                <a:ext uri="{FF2B5EF4-FFF2-40B4-BE49-F238E27FC236}">
                  <a16:creationId xmlns:a16="http://schemas.microsoft.com/office/drawing/2014/main" id="{74B9300E-A86A-50A0-BF27-A013A13193D8}"/>
                </a:ext>
              </a:extLst>
            </p:cNvPr>
            <p:cNvSpPr>
              <a:spLocks noEditPoints="1"/>
            </p:cNvSpPr>
            <p:nvPr/>
          </p:nvSpPr>
          <p:spPr bwMode="auto">
            <a:xfrm>
              <a:off x="1378" y="1514"/>
              <a:ext cx="917" cy="199"/>
            </a:xfrm>
            <a:custGeom>
              <a:avLst/>
              <a:gdLst>
                <a:gd name="T0" fmla="*/ 917 w 917"/>
                <a:gd name="T1" fmla="*/ 64 h 199"/>
                <a:gd name="T2" fmla="*/ 915 w 917"/>
                <a:gd name="T3" fmla="*/ 56 h 199"/>
                <a:gd name="T4" fmla="*/ 915 w 917"/>
                <a:gd name="T5" fmla="*/ 48 h 199"/>
                <a:gd name="T6" fmla="*/ 914 w 917"/>
                <a:gd name="T7" fmla="*/ 40 h 199"/>
                <a:gd name="T8" fmla="*/ 914 w 917"/>
                <a:gd name="T9" fmla="*/ 31 h 199"/>
                <a:gd name="T10" fmla="*/ 912 w 917"/>
                <a:gd name="T11" fmla="*/ 23 h 199"/>
                <a:gd name="T12" fmla="*/ 911 w 917"/>
                <a:gd name="T13" fmla="*/ 16 h 199"/>
                <a:gd name="T14" fmla="*/ 909 w 917"/>
                <a:gd name="T15" fmla="*/ 8 h 199"/>
                <a:gd name="T16" fmla="*/ 907 w 917"/>
                <a:gd name="T17" fmla="*/ 0 h 199"/>
                <a:gd name="T18" fmla="*/ 902 w 917"/>
                <a:gd name="T19" fmla="*/ 0 h 199"/>
                <a:gd name="T20" fmla="*/ 904 w 917"/>
                <a:gd name="T21" fmla="*/ 8 h 199"/>
                <a:gd name="T22" fmla="*/ 906 w 917"/>
                <a:gd name="T23" fmla="*/ 16 h 199"/>
                <a:gd name="T24" fmla="*/ 907 w 917"/>
                <a:gd name="T25" fmla="*/ 25 h 199"/>
                <a:gd name="T26" fmla="*/ 909 w 917"/>
                <a:gd name="T27" fmla="*/ 33 h 199"/>
                <a:gd name="T28" fmla="*/ 909 w 917"/>
                <a:gd name="T29" fmla="*/ 41 h 199"/>
                <a:gd name="T30" fmla="*/ 911 w 917"/>
                <a:gd name="T31" fmla="*/ 50 h 199"/>
                <a:gd name="T32" fmla="*/ 911 w 917"/>
                <a:gd name="T33" fmla="*/ 58 h 199"/>
                <a:gd name="T34" fmla="*/ 912 w 917"/>
                <a:gd name="T35" fmla="*/ 68 h 199"/>
                <a:gd name="T36" fmla="*/ 917 w 917"/>
                <a:gd name="T37" fmla="*/ 64 h 199"/>
                <a:gd name="T38" fmla="*/ 0 w 917"/>
                <a:gd name="T39" fmla="*/ 129 h 199"/>
                <a:gd name="T40" fmla="*/ 0 w 917"/>
                <a:gd name="T41" fmla="*/ 139 h 199"/>
                <a:gd name="T42" fmla="*/ 1 w 917"/>
                <a:gd name="T43" fmla="*/ 147 h 199"/>
                <a:gd name="T44" fmla="*/ 1 w 917"/>
                <a:gd name="T45" fmla="*/ 155 h 199"/>
                <a:gd name="T46" fmla="*/ 3 w 917"/>
                <a:gd name="T47" fmla="*/ 164 h 199"/>
                <a:gd name="T48" fmla="*/ 5 w 917"/>
                <a:gd name="T49" fmla="*/ 174 h 199"/>
                <a:gd name="T50" fmla="*/ 6 w 917"/>
                <a:gd name="T51" fmla="*/ 182 h 199"/>
                <a:gd name="T52" fmla="*/ 8 w 917"/>
                <a:gd name="T53" fmla="*/ 190 h 199"/>
                <a:gd name="T54" fmla="*/ 10 w 917"/>
                <a:gd name="T55" fmla="*/ 199 h 199"/>
                <a:gd name="T56" fmla="*/ 15 w 917"/>
                <a:gd name="T57" fmla="*/ 199 h 199"/>
                <a:gd name="T58" fmla="*/ 13 w 917"/>
                <a:gd name="T59" fmla="*/ 190 h 199"/>
                <a:gd name="T60" fmla="*/ 11 w 917"/>
                <a:gd name="T61" fmla="*/ 180 h 199"/>
                <a:gd name="T62" fmla="*/ 10 w 917"/>
                <a:gd name="T63" fmla="*/ 172 h 199"/>
                <a:gd name="T64" fmla="*/ 8 w 917"/>
                <a:gd name="T65" fmla="*/ 164 h 199"/>
                <a:gd name="T66" fmla="*/ 6 w 917"/>
                <a:gd name="T67" fmla="*/ 154 h 199"/>
                <a:gd name="T68" fmla="*/ 6 w 917"/>
                <a:gd name="T69" fmla="*/ 146 h 199"/>
                <a:gd name="T70" fmla="*/ 5 w 917"/>
                <a:gd name="T71" fmla="*/ 137 h 199"/>
                <a:gd name="T72" fmla="*/ 5 w 917"/>
                <a:gd name="T73" fmla="*/ 127 h 199"/>
                <a:gd name="T74" fmla="*/ 0 w 917"/>
                <a:gd name="T75" fmla="*/ 12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17" h="199">
                  <a:moveTo>
                    <a:pt x="917" y="64"/>
                  </a:moveTo>
                  <a:lnTo>
                    <a:pt x="915" y="56"/>
                  </a:lnTo>
                  <a:lnTo>
                    <a:pt x="915" y="48"/>
                  </a:lnTo>
                  <a:lnTo>
                    <a:pt x="914" y="40"/>
                  </a:lnTo>
                  <a:lnTo>
                    <a:pt x="914" y="31"/>
                  </a:lnTo>
                  <a:lnTo>
                    <a:pt x="912" y="23"/>
                  </a:lnTo>
                  <a:lnTo>
                    <a:pt x="911" y="16"/>
                  </a:lnTo>
                  <a:lnTo>
                    <a:pt x="909" y="8"/>
                  </a:lnTo>
                  <a:lnTo>
                    <a:pt x="907" y="0"/>
                  </a:lnTo>
                  <a:lnTo>
                    <a:pt x="902" y="0"/>
                  </a:lnTo>
                  <a:lnTo>
                    <a:pt x="904" y="8"/>
                  </a:lnTo>
                  <a:lnTo>
                    <a:pt x="906" y="16"/>
                  </a:lnTo>
                  <a:lnTo>
                    <a:pt x="907" y="25"/>
                  </a:lnTo>
                  <a:lnTo>
                    <a:pt x="909" y="33"/>
                  </a:lnTo>
                  <a:lnTo>
                    <a:pt x="909" y="41"/>
                  </a:lnTo>
                  <a:lnTo>
                    <a:pt x="911" y="50"/>
                  </a:lnTo>
                  <a:lnTo>
                    <a:pt x="911" y="58"/>
                  </a:lnTo>
                  <a:lnTo>
                    <a:pt x="912" y="68"/>
                  </a:lnTo>
                  <a:lnTo>
                    <a:pt x="917" y="64"/>
                  </a:lnTo>
                  <a:close/>
                  <a:moveTo>
                    <a:pt x="0" y="129"/>
                  </a:moveTo>
                  <a:lnTo>
                    <a:pt x="0" y="139"/>
                  </a:lnTo>
                  <a:lnTo>
                    <a:pt x="1" y="147"/>
                  </a:lnTo>
                  <a:lnTo>
                    <a:pt x="1" y="155"/>
                  </a:lnTo>
                  <a:lnTo>
                    <a:pt x="3" y="164"/>
                  </a:lnTo>
                  <a:lnTo>
                    <a:pt x="5" y="174"/>
                  </a:lnTo>
                  <a:lnTo>
                    <a:pt x="6" y="182"/>
                  </a:lnTo>
                  <a:lnTo>
                    <a:pt x="8" y="190"/>
                  </a:lnTo>
                  <a:lnTo>
                    <a:pt x="10" y="199"/>
                  </a:lnTo>
                  <a:lnTo>
                    <a:pt x="15" y="199"/>
                  </a:lnTo>
                  <a:lnTo>
                    <a:pt x="13" y="190"/>
                  </a:lnTo>
                  <a:lnTo>
                    <a:pt x="11" y="180"/>
                  </a:lnTo>
                  <a:lnTo>
                    <a:pt x="10" y="172"/>
                  </a:lnTo>
                  <a:lnTo>
                    <a:pt x="8" y="164"/>
                  </a:lnTo>
                  <a:lnTo>
                    <a:pt x="6" y="154"/>
                  </a:lnTo>
                  <a:lnTo>
                    <a:pt x="6" y="146"/>
                  </a:lnTo>
                  <a:lnTo>
                    <a:pt x="5" y="137"/>
                  </a:lnTo>
                  <a:lnTo>
                    <a:pt x="5" y="127"/>
                  </a:lnTo>
                  <a:lnTo>
                    <a:pt x="0" y="129"/>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50" name="Freeform 90">
              <a:extLst>
                <a:ext uri="{FF2B5EF4-FFF2-40B4-BE49-F238E27FC236}">
                  <a16:creationId xmlns:a16="http://schemas.microsoft.com/office/drawing/2014/main" id="{9F40090D-F3B8-18E9-124F-5033B88F9AE9}"/>
                </a:ext>
              </a:extLst>
            </p:cNvPr>
            <p:cNvSpPr>
              <a:spLocks noEditPoints="1"/>
            </p:cNvSpPr>
            <p:nvPr/>
          </p:nvSpPr>
          <p:spPr bwMode="auto">
            <a:xfrm>
              <a:off x="1379" y="1514"/>
              <a:ext cx="913" cy="199"/>
            </a:xfrm>
            <a:custGeom>
              <a:avLst/>
              <a:gdLst>
                <a:gd name="T0" fmla="*/ 913 w 913"/>
                <a:gd name="T1" fmla="*/ 66 h 199"/>
                <a:gd name="T2" fmla="*/ 913 w 913"/>
                <a:gd name="T3" fmla="*/ 58 h 199"/>
                <a:gd name="T4" fmla="*/ 911 w 913"/>
                <a:gd name="T5" fmla="*/ 50 h 199"/>
                <a:gd name="T6" fmla="*/ 911 w 913"/>
                <a:gd name="T7" fmla="*/ 41 h 199"/>
                <a:gd name="T8" fmla="*/ 910 w 913"/>
                <a:gd name="T9" fmla="*/ 33 h 199"/>
                <a:gd name="T10" fmla="*/ 908 w 913"/>
                <a:gd name="T11" fmla="*/ 25 h 199"/>
                <a:gd name="T12" fmla="*/ 906 w 913"/>
                <a:gd name="T13" fmla="*/ 16 h 199"/>
                <a:gd name="T14" fmla="*/ 906 w 913"/>
                <a:gd name="T15" fmla="*/ 8 h 199"/>
                <a:gd name="T16" fmla="*/ 903 w 913"/>
                <a:gd name="T17" fmla="*/ 0 h 199"/>
                <a:gd name="T18" fmla="*/ 900 w 913"/>
                <a:gd name="T19" fmla="*/ 0 h 199"/>
                <a:gd name="T20" fmla="*/ 901 w 913"/>
                <a:gd name="T21" fmla="*/ 8 h 199"/>
                <a:gd name="T22" fmla="*/ 903 w 913"/>
                <a:gd name="T23" fmla="*/ 16 h 199"/>
                <a:gd name="T24" fmla="*/ 903 w 913"/>
                <a:gd name="T25" fmla="*/ 25 h 199"/>
                <a:gd name="T26" fmla="*/ 905 w 913"/>
                <a:gd name="T27" fmla="*/ 33 h 199"/>
                <a:gd name="T28" fmla="*/ 906 w 913"/>
                <a:gd name="T29" fmla="*/ 41 h 199"/>
                <a:gd name="T30" fmla="*/ 908 w 913"/>
                <a:gd name="T31" fmla="*/ 51 h 199"/>
                <a:gd name="T32" fmla="*/ 908 w 913"/>
                <a:gd name="T33" fmla="*/ 59 h 199"/>
                <a:gd name="T34" fmla="*/ 908 w 913"/>
                <a:gd name="T35" fmla="*/ 68 h 199"/>
                <a:gd name="T36" fmla="*/ 913 w 913"/>
                <a:gd name="T37" fmla="*/ 66 h 199"/>
                <a:gd name="T38" fmla="*/ 0 w 913"/>
                <a:gd name="T39" fmla="*/ 129 h 199"/>
                <a:gd name="T40" fmla="*/ 2 w 913"/>
                <a:gd name="T41" fmla="*/ 137 h 199"/>
                <a:gd name="T42" fmla="*/ 2 w 913"/>
                <a:gd name="T43" fmla="*/ 146 h 199"/>
                <a:gd name="T44" fmla="*/ 4 w 913"/>
                <a:gd name="T45" fmla="*/ 155 h 199"/>
                <a:gd name="T46" fmla="*/ 4 w 913"/>
                <a:gd name="T47" fmla="*/ 164 h 199"/>
                <a:gd name="T48" fmla="*/ 5 w 913"/>
                <a:gd name="T49" fmla="*/ 172 h 199"/>
                <a:gd name="T50" fmla="*/ 7 w 913"/>
                <a:gd name="T51" fmla="*/ 182 h 199"/>
                <a:gd name="T52" fmla="*/ 9 w 913"/>
                <a:gd name="T53" fmla="*/ 190 h 199"/>
                <a:gd name="T54" fmla="*/ 10 w 913"/>
                <a:gd name="T55" fmla="*/ 199 h 199"/>
                <a:gd name="T56" fmla="*/ 15 w 913"/>
                <a:gd name="T57" fmla="*/ 199 h 199"/>
                <a:gd name="T58" fmla="*/ 14 w 913"/>
                <a:gd name="T59" fmla="*/ 190 h 199"/>
                <a:gd name="T60" fmla="*/ 12 w 913"/>
                <a:gd name="T61" fmla="*/ 180 h 199"/>
                <a:gd name="T62" fmla="*/ 10 w 913"/>
                <a:gd name="T63" fmla="*/ 172 h 199"/>
                <a:gd name="T64" fmla="*/ 9 w 913"/>
                <a:gd name="T65" fmla="*/ 162 h 199"/>
                <a:gd name="T66" fmla="*/ 9 w 913"/>
                <a:gd name="T67" fmla="*/ 154 h 199"/>
                <a:gd name="T68" fmla="*/ 7 w 913"/>
                <a:gd name="T69" fmla="*/ 146 h 199"/>
                <a:gd name="T70" fmla="*/ 5 w 913"/>
                <a:gd name="T71" fmla="*/ 136 h 199"/>
                <a:gd name="T72" fmla="*/ 5 w 913"/>
                <a:gd name="T73" fmla="*/ 126 h 199"/>
                <a:gd name="T74" fmla="*/ 0 w 913"/>
                <a:gd name="T75" fmla="*/ 12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13" h="199">
                  <a:moveTo>
                    <a:pt x="913" y="66"/>
                  </a:moveTo>
                  <a:lnTo>
                    <a:pt x="913" y="58"/>
                  </a:lnTo>
                  <a:lnTo>
                    <a:pt x="911" y="50"/>
                  </a:lnTo>
                  <a:lnTo>
                    <a:pt x="911" y="41"/>
                  </a:lnTo>
                  <a:lnTo>
                    <a:pt x="910" y="33"/>
                  </a:lnTo>
                  <a:lnTo>
                    <a:pt x="908" y="25"/>
                  </a:lnTo>
                  <a:lnTo>
                    <a:pt x="906" y="16"/>
                  </a:lnTo>
                  <a:lnTo>
                    <a:pt x="906" y="8"/>
                  </a:lnTo>
                  <a:lnTo>
                    <a:pt x="903" y="0"/>
                  </a:lnTo>
                  <a:lnTo>
                    <a:pt x="900" y="0"/>
                  </a:lnTo>
                  <a:lnTo>
                    <a:pt x="901" y="8"/>
                  </a:lnTo>
                  <a:lnTo>
                    <a:pt x="903" y="16"/>
                  </a:lnTo>
                  <a:lnTo>
                    <a:pt x="903" y="25"/>
                  </a:lnTo>
                  <a:lnTo>
                    <a:pt x="905" y="33"/>
                  </a:lnTo>
                  <a:lnTo>
                    <a:pt x="906" y="41"/>
                  </a:lnTo>
                  <a:lnTo>
                    <a:pt x="908" y="51"/>
                  </a:lnTo>
                  <a:lnTo>
                    <a:pt x="908" y="59"/>
                  </a:lnTo>
                  <a:lnTo>
                    <a:pt x="908" y="68"/>
                  </a:lnTo>
                  <a:lnTo>
                    <a:pt x="913" y="66"/>
                  </a:lnTo>
                  <a:close/>
                  <a:moveTo>
                    <a:pt x="0" y="129"/>
                  </a:moveTo>
                  <a:lnTo>
                    <a:pt x="2" y="137"/>
                  </a:lnTo>
                  <a:lnTo>
                    <a:pt x="2" y="146"/>
                  </a:lnTo>
                  <a:lnTo>
                    <a:pt x="4" y="155"/>
                  </a:lnTo>
                  <a:lnTo>
                    <a:pt x="4" y="164"/>
                  </a:lnTo>
                  <a:lnTo>
                    <a:pt x="5" y="172"/>
                  </a:lnTo>
                  <a:lnTo>
                    <a:pt x="7" y="182"/>
                  </a:lnTo>
                  <a:lnTo>
                    <a:pt x="9" y="190"/>
                  </a:lnTo>
                  <a:lnTo>
                    <a:pt x="10" y="199"/>
                  </a:lnTo>
                  <a:lnTo>
                    <a:pt x="15" y="199"/>
                  </a:lnTo>
                  <a:lnTo>
                    <a:pt x="14" y="190"/>
                  </a:lnTo>
                  <a:lnTo>
                    <a:pt x="12" y="180"/>
                  </a:lnTo>
                  <a:lnTo>
                    <a:pt x="10" y="172"/>
                  </a:lnTo>
                  <a:lnTo>
                    <a:pt x="9" y="162"/>
                  </a:lnTo>
                  <a:lnTo>
                    <a:pt x="9" y="154"/>
                  </a:lnTo>
                  <a:lnTo>
                    <a:pt x="7" y="146"/>
                  </a:lnTo>
                  <a:lnTo>
                    <a:pt x="5" y="136"/>
                  </a:lnTo>
                  <a:lnTo>
                    <a:pt x="5" y="126"/>
                  </a:lnTo>
                  <a:lnTo>
                    <a:pt x="0" y="129"/>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51" name="Freeform 91">
              <a:extLst>
                <a:ext uri="{FF2B5EF4-FFF2-40B4-BE49-F238E27FC236}">
                  <a16:creationId xmlns:a16="http://schemas.microsoft.com/office/drawing/2014/main" id="{475DAF12-73E3-79E3-9527-17FC4E0622C2}"/>
                </a:ext>
              </a:extLst>
            </p:cNvPr>
            <p:cNvSpPr>
              <a:spLocks noEditPoints="1"/>
            </p:cNvSpPr>
            <p:nvPr/>
          </p:nvSpPr>
          <p:spPr bwMode="auto">
            <a:xfrm>
              <a:off x="1383" y="1514"/>
              <a:ext cx="907" cy="199"/>
            </a:xfrm>
            <a:custGeom>
              <a:avLst/>
              <a:gdLst>
                <a:gd name="T0" fmla="*/ 907 w 907"/>
                <a:gd name="T1" fmla="*/ 68 h 199"/>
                <a:gd name="T2" fmla="*/ 906 w 907"/>
                <a:gd name="T3" fmla="*/ 58 h 199"/>
                <a:gd name="T4" fmla="*/ 906 w 907"/>
                <a:gd name="T5" fmla="*/ 50 h 199"/>
                <a:gd name="T6" fmla="*/ 904 w 907"/>
                <a:gd name="T7" fmla="*/ 41 h 199"/>
                <a:gd name="T8" fmla="*/ 904 w 907"/>
                <a:gd name="T9" fmla="*/ 33 h 199"/>
                <a:gd name="T10" fmla="*/ 902 w 907"/>
                <a:gd name="T11" fmla="*/ 25 h 199"/>
                <a:gd name="T12" fmla="*/ 901 w 907"/>
                <a:gd name="T13" fmla="*/ 16 h 199"/>
                <a:gd name="T14" fmla="*/ 899 w 907"/>
                <a:gd name="T15" fmla="*/ 8 h 199"/>
                <a:gd name="T16" fmla="*/ 897 w 907"/>
                <a:gd name="T17" fmla="*/ 0 h 199"/>
                <a:gd name="T18" fmla="*/ 892 w 907"/>
                <a:gd name="T19" fmla="*/ 0 h 199"/>
                <a:gd name="T20" fmla="*/ 894 w 907"/>
                <a:gd name="T21" fmla="*/ 8 h 199"/>
                <a:gd name="T22" fmla="*/ 896 w 907"/>
                <a:gd name="T23" fmla="*/ 16 h 199"/>
                <a:gd name="T24" fmla="*/ 897 w 907"/>
                <a:gd name="T25" fmla="*/ 25 h 199"/>
                <a:gd name="T26" fmla="*/ 899 w 907"/>
                <a:gd name="T27" fmla="*/ 35 h 199"/>
                <a:gd name="T28" fmla="*/ 901 w 907"/>
                <a:gd name="T29" fmla="*/ 43 h 199"/>
                <a:gd name="T30" fmla="*/ 901 w 907"/>
                <a:gd name="T31" fmla="*/ 51 h 199"/>
                <a:gd name="T32" fmla="*/ 902 w 907"/>
                <a:gd name="T33" fmla="*/ 59 h 199"/>
                <a:gd name="T34" fmla="*/ 902 w 907"/>
                <a:gd name="T35" fmla="*/ 69 h 199"/>
                <a:gd name="T36" fmla="*/ 907 w 907"/>
                <a:gd name="T37" fmla="*/ 68 h 199"/>
                <a:gd name="T38" fmla="*/ 0 w 907"/>
                <a:gd name="T39" fmla="*/ 127 h 199"/>
                <a:gd name="T40" fmla="*/ 0 w 907"/>
                <a:gd name="T41" fmla="*/ 137 h 199"/>
                <a:gd name="T42" fmla="*/ 1 w 907"/>
                <a:gd name="T43" fmla="*/ 146 h 199"/>
                <a:gd name="T44" fmla="*/ 1 w 907"/>
                <a:gd name="T45" fmla="*/ 154 h 199"/>
                <a:gd name="T46" fmla="*/ 3 w 907"/>
                <a:gd name="T47" fmla="*/ 164 h 199"/>
                <a:gd name="T48" fmla="*/ 5 w 907"/>
                <a:gd name="T49" fmla="*/ 172 h 199"/>
                <a:gd name="T50" fmla="*/ 6 w 907"/>
                <a:gd name="T51" fmla="*/ 180 h 199"/>
                <a:gd name="T52" fmla="*/ 8 w 907"/>
                <a:gd name="T53" fmla="*/ 190 h 199"/>
                <a:gd name="T54" fmla="*/ 10 w 907"/>
                <a:gd name="T55" fmla="*/ 199 h 199"/>
                <a:gd name="T56" fmla="*/ 15 w 907"/>
                <a:gd name="T57" fmla="*/ 199 h 199"/>
                <a:gd name="T58" fmla="*/ 13 w 907"/>
                <a:gd name="T59" fmla="*/ 190 h 199"/>
                <a:gd name="T60" fmla="*/ 10 w 907"/>
                <a:gd name="T61" fmla="*/ 180 h 199"/>
                <a:gd name="T62" fmla="*/ 10 w 907"/>
                <a:gd name="T63" fmla="*/ 172 h 199"/>
                <a:gd name="T64" fmla="*/ 8 w 907"/>
                <a:gd name="T65" fmla="*/ 162 h 199"/>
                <a:gd name="T66" fmla="*/ 6 w 907"/>
                <a:gd name="T67" fmla="*/ 154 h 199"/>
                <a:gd name="T68" fmla="*/ 5 w 907"/>
                <a:gd name="T69" fmla="*/ 144 h 199"/>
                <a:gd name="T70" fmla="*/ 5 w 907"/>
                <a:gd name="T71" fmla="*/ 134 h 199"/>
                <a:gd name="T72" fmla="*/ 3 w 907"/>
                <a:gd name="T73" fmla="*/ 126 h 199"/>
                <a:gd name="T74" fmla="*/ 0 w 907"/>
                <a:gd name="T75" fmla="*/ 12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07" h="199">
                  <a:moveTo>
                    <a:pt x="907" y="68"/>
                  </a:moveTo>
                  <a:lnTo>
                    <a:pt x="906" y="58"/>
                  </a:lnTo>
                  <a:lnTo>
                    <a:pt x="906" y="50"/>
                  </a:lnTo>
                  <a:lnTo>
                    <a:pt x="904" y="41"/>
                  </a:lnTo>
                  <a:lnTo>
                    <a:pt x="904" y="33"/>
                  </a:lnTo>
                  <a:lnTo>
                    <a:pt x="902" y="25"/>
                  </a:lnTo>
                  <a:lnTo>
                    <a:pt x="901" y="16"/>
                  </a:lnTo>
                  <a:lnTo>
                    <a:pt x="899" y="8"/>
                  </a:lnTo>
                  <a:lnTo>
                    <a:pt x="897" y="0"/>
                  </a:lnTo>
                  <a:lnTo>
                    <a:pt x="892" y="0"/>
                  </a:lnTo>
                  <a:lnTo>
                    <a:pt x="894" y="8"/>
                  </a:lnTo>
                  <a:lnTo>
                    <a:pt x="896" y="16"/>
                  </a:lnTo>
                  <a:lnTo>
                    <a:pt x="897" y="25"/>
                  </a:lnTo>
                  <a:lnTo>
                    <a:pt x="899" y="35"/>
                  </a:lnTo>
                  <a:lnTo>
                    <a:pt x="901" y="43"/>
                  </a:lnTo>
                  <a:lnTo>
                    <a:pt x="901" y="51"/>
                  </a:lnTo>
                  <a:lnTo>
                    <a:pt x="902" y="59"/>
                  </a:lnTo>
                  <a:lnTo>
                    <a:pt x="902" y="69"/>
                  </a:lnTo>
                  <a:lnTo>
                    <a:pt x="907" y="68"/>
                  </a:lnTo>
                  <a:close/>
                  <a:moveTo>
                    <a:pt x="0" y="127"/>
                  </a:moveTo>
                  <a:lnTo>
                    <a:pt x="0" y="137"/>
                  </a:lnTo>
                  <a:lnTo>
                    <a:pt x="1" y="146"/>
                  </a:lnTo>
                  <a:lnTo>
                    <a:pt x="1" y="154"/>
                  </a:lnTo>
                  <a:lnTo>
                    <a:pt x="3" y="164"/>
                  </a:lnTo>
                  <a:lnTo>
                    <a:pt x="5" y="172"/>
                  </a:lnTo>
                  <a:lnTo>
                    <a:pt x="6" y="180"/>
                  </a:lnTo>
                  <a:lnTo>
                    <a:pt x="8" y="190"/>
                  </a:lnTo>
                  <a:lnTo>
                    <a:pt x="10" y="199"/>
                  </a:lnTo>
                  <a:lnTo>
                    <a:pt x="15" y="199"/>
                  </a:lnTo>
                  <a:lnTo>
                    <a:pt x="13" y="190"/>
                  </a:lnTo>
                  <a:lnTo>
                    <a:pt x="10" y="180"/>
                  </a:lnTo>
                  <a:lnTo>
                    <a:pt x="10" y="172"/>
                  </a:lnTo>
                  <a:lnTo>
                    <a:pt x="8" y="162"/>
                  </a:lnTo>
                  <a:lnTo>
                    <a:pt x="6" y="154"/>
                  </a:lnTo>
                  <a:lnTo>
                    <a:pt x="5" y="144"/>
                  </a:lnTo>
                  <a:lnTo>
                    <a:pt x="5" y="134"/>
                  </a:lnTo>
                  <a:lnTo>
                    <a:pt x="3" y="126"/>
                  </a:lnTo>
                  <a:lnTo>
                    <a:pt x="0" y="127"/>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52" name="Freeform 92">
              <a:extLst>
                <a:ext uri="{FF2B5EF4-FFF2-40B4-BE49-F238E27FC236}">
                  <a16:creationId xmlns:a16="http://schemas.microsoft.com/office/drawing/2014/main" id="{49F21CE1-0183-F4A7-09BB-FAA17492A0F8}"/>
                </a:ext>
              </a:extLst>
            </p:cNvPr>
            <p:cNvSpPr>
              <a:spLocks noEditPoints="1"/>
            </p:cNvSpPr>
            <p:nvPr/>
          </p:nvSpPr>
          <p:spPr bwMode="auto">
            <a:xfrm>
              <a:off x="1384" y="1514"/>
              <a:ext cx="903" cy="199"/>
            </a:xfrm>
            <a:custGeom>
              <a:avLst/>
              <a:gdLst>
                <a:gd name="T0" fmla="*/ 903 w 903"/>
                <a:gd name="T1" fmla="*/ 68 h 199"/>
                <a:gd name="T2" fmla="*/ 903 w 903"/>
                <a:gd name="T3" fmla="*/ 59 h 199"/>
                <a:gd name="T4" fmla="*/ 903 w 903"/>
                <a:gd name="T5" fmla="*/ 51 h 199"/>
                <a:gd name="T6" fmla="*/ 901 w 903"/>
                <a:gd name="T7" fmla="*/ 41 h 199"/>
                <a:gd name="T8" fmla="*/ 900 w 903"/>
                <a:gd name="T9" fmla="*/ 33 h 199"/>
                <a:gd name="T10" fmla="*/ 898 w 903"/>
                <a:gd name="T11" fmla="*/ 25 h 199"/>
                <a:gd name="T12" fmla="*/ 898 w 903"/>
                <a:gd name="T13" fmla="*/ 16 h 199"/>
                <a:gd name="T14" fmla="*/ 896 w 903"/>
                <a:gd name="T15" fmla="*/ 8 h 199"/>
                <a:gd name="T16" fmla="*/ 895 w 903"/>
                <a:gd name="T17" fmla="*/ 0 h 199"/>
                <a:gd name="T18" fmla="*/ 890 w 903"/>
                <a:gd name="T19" fmla="*/ 0 h 199"/>
                <a:gd name="T20" fmla="*/ 891 w 903"/>
                <a:gd name="T21" fmla="*/ 8 h 199"/>
                <a:gd name="T22" fmla="*/ 893 w 903"/>
                <a:gd name="T23" fmla="*/ 16 h 199"/>
                <a:gd name="T24" fmla="*/ 895 w 903"/>
                <a:gd name="T25" fmla="*/ 26 h 199"/>
                <a:gd name="T26" fmla="*/ 895 w 903"/>
                <a:gd name="T27" fmla="*/ 35 h 199"/>
                <a:gd name="T28" fmla="*/ 896 w 903"/>
                <a:gd name="T29" fmla="*/ 43 h 199"/>
                <a:gd name="T30" fmla="*/ 898 w 903"/>
                <a:gd name="T31" fmla="*/ 53 h 199"/>
                <a:gd name="T32" fmla="*/ 898 w 903"/>
                <a:gd name="T33" fmla="*/ 61 h 199"/>
                <a:gd name="T34" fmla="*/ 900 w 903"/>
                <a:gd name="T35" fmla="*/ 69 h 199"/>
                <a:gd name="T36" fmla="*/ 903 w 903"/>
                <a:gd name="T37" fmla="*/ 68 h 199"/>
                <a:gd name="T38" fmla="*/ 0 w 903"/>
                <a:gd name="T39" fmla="*/ 126 h 199"/>
                <a:gd name="T40" fmla="*/ 0 w 903"/>
                <a:gd name="T41" fmla="*/ 136 h 199"/>
                <a:gd name="T42" fmla="*/ 2 w 903"/>
                <a:gd name="T43" fmla="*/ 146 h 199"/>
                <a:gd name="T44" fmla="*/ 4 w 903"/>
                <a:gd name="T45" fmla="*/ 154 h 199"/>
                <a:gd name="T46" fmla="*/ 4 w 903"/>
                <a:gd name="T47" fmla="*/ 162 h 199"/>
                <a:gd name="T48" fmla="*/ 5 w 903"/>
                <a:gd name="T49" fmla="*/ 172 h 199"/>
                <a:gd name="T50" fmla="*/ 7 w 903"/>
                <a:gd name="T51" fmla="*/ 180 h 199"/>
                <a:gd name="T52" fmla="*/ 9 w 903"/>
                <a:gd name="T53" fmla="*/ 190 h 199"/>
                <a:gd name="T54" fmla="*/ 10 w 903"/>
                <a:gd name="T55" fmla="*/ 199 h 199"/>
                <a:gd name="T56" fmla="*/ 15 w 903"/>
                <a:gd name="T57" fmla="*/ 199 h 199"/>
                <a:gd name="T58" fmla="*/ 14 w 903"/>
                <a:gd name="T59" fmla="*/ 189 h 199"/>
                <a:gd name="T60" fmla="*/ 12 w 903"/>
                <a:gd name="T61" fmla="*/ 180 h 199"/>
                <a:gd name="T62" fmla="*/ 10 w 903"/>
                <a:gd name="T63" fmla="*/ 170 h 199"/>
                <a:gd name="T64" fmla="*/ 9 w 903"/>
                <a:gd name="T65" fmla="*/ 162 h 199"/>
                <a:gd name="T66" fmla="*/ 7 w 903"/>
                <a:gd name="T67" fmla="*/ 152 h 199"/>
                <a:gd name="T68" fmla="*/ 7 w 903"/>
                <a:gd name="T69" fmla="*/ 144 h 199"/>
                <a:gd name="T70" fmla="*/ 5 w 903"/>
                <a:gd name="T71" fmla="*/ 134 h 199"/>
                <a:gd name="T72" fmla="*/ 5 w 903"/>
                <a:gd name="T73" fmla="*/ 124 h 199"/>
                <a:gd name="T74" fmla="*/ 0 w 903"/>
                <a:gd name="T75" fmla="*/ 12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03" h="199">
                  <a:moveTo>
                    <a:pt x="903" y="68"/>
                  </a:moveTo>
                  <a:lnTo>
                    <a:pt x="903" y="59"/>
                  </a:lnTo>
                  <a:lnTo>
                    <a:pt x="903" y="51"/>
                  </a:lnTo>
                  <a:lnTo>
                    <a:pt x="901" y="41"/>
                  </a:lnTo>
                  <a:lnTo>
                    <a:pt x="900" y="33"/>
                  </a:lnTo>
                  <a:lnTo>
                    <a:pt x="898" y="25"/>
                  </a:lnTo>
                  <a:lnTo>
                    <a:pt x="898" y="16"/>
                  </a:lnTo>
                  <a:lnTo>
                    <a:pt x="896" y="8"/>
                  </a:lnTo>
                  <a:lnTo>
                    <a:pt x="895" y="0"/>
                  </a:lnTo>
                  <a:lnTo>
                    <a:pt x="890" y="0"/>
                  </a:lnTo>
                  <a:lnTo>
                    <a:pt x="891" y="8"/>
                  </a:lnTo>
                  <a:lnTo>
                    <a:pt x="893" y="16"/>
                  </a:lnTo>
                  <a:lnTo>
                    <a:pt x="895" y="26"/>
                  </a:lnTo>
                  <a:lnTo>
                    <a:pt x="895" y="35"/>
                  </a:lnTo>
                  <a:lnTo>
                    <a:pt x="896" y="43"/>
                  </a:lnTo>
                  <a:lnTo>
                    <a:pt x="898" y="53"/>
                  </a:lnTo>
                  <a:lnTo>
                    <a:pt x="898" y="61"/>
                  </a:lnTo>
                  <a:lnTo>
                    <a:pt x="900" y="69"/>
                  </a:lnTo>
                  <a:lnTo>
                    <a:pt x="903" y="68"/>
                  </a:lnTo>
                  <a:close/>
                  <a:moveTo>
                    <a:pt x="0" y="126"/>
                  </a:moveTo>
                  <a:lnTo>
                    <a:pt x="0" y="136"/>
                  </a:lnTo>
                  <a:lnTo>
                    <a:pt x="2" y="146"/>
                  </a:lnTo>
                  <a:lnTo>
                    <a:pt x="4" y="154"/>
                  </a:lnTo>
                  <a:lnTo>
                    <a:pt x="4" y="162"/>
                  </a:lnTo>
                  <a:lnTo>
                    <a:pt x="5" y="172"/>
                  </a:lnTo>
                  <a:lnTo>
                    <a:pt x="7" y="180"/>
                  </a:lnTo>
                  <a:lnTo>
                    <a:pt x="9" y="190"/>
                  </a:lnTo>
                  <a:lnTo>
                    <a:pt x="10" y="199"/>
                  </a:lnTo>
                  <a:lnTo>
                    <a:pt x="15" y="199"/>
                  </a:lnTo>
                  <a:lnTo>
                    <a:pt x="14" y="189"/>
                  </a:lnTo>
                  <a:lnTo>
                    <a:pt x="12" y="180"/>
                  </a:lnTo>
                  <a:lnTo>
                    <a:pt x="10" y="170"/>
                  </a:lnTo>
                  <a:lnTo>
                    <a:pt x="9" y="162"/>
                  </a:lnTo>
                  <a:lnTo>
                    <a:pt x="7" y="152"/>
                  </a:lnTo>
                  <a:lnTo>
                    <a:pt x="7" y="144"/>
                  </a:lnTo>
                  <a:lnTo>
                    <a:pt x="5" y="134"/>
                  </a:lnTo>
                  <a:lnTo>
                    <a:pt x="5" y="124"/>
                  </a:lnTo>
                  <a:lnTo>
                    <a:pt x="0" y="126"/>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53" name="Freeform 93">
              <a:extLst>
                <a:ext uri="{FF2B5EF4-FFF2-40B4-BE49-F238E27FC236}">
                  <a16:creationId xmlns:a16="http://schemas.microsoft.com/office/drawing/2014/main" id="{BB8ADFCF-16D6-FCFD-D914-61B3EEFA84E0}"/>
                </a:ext>
              </a:extLst>
            </p:cNvPr>
            <p:cNvSpPr>
              <a:spLocks noEditPoints="1"/>
            </p:cNvSpPr>
            <p:nvPr/>
          </p:nvSpPr>
          <p:spPr bwMode="auto">
            <a:xfrm>
              <a:off x="1386" y="1514"/>
              <a:ext cx="899" cy="199"/>
            </a:xfrm>
            <a:custGeom>
              <a:avLst/>
              <a:gdLst>
                <a:gd name="T0" fmla="*/ 899 w 899"/>
                <a:gd name="T1" fmla="*/ 69 h 199"/>
                <a:gd name="T2" fmla="*/ 899 w 899"/>
                <a:gd name="T3" fmla="*/ 59 h 199"/>
                <a:gd name="T4" fmla="*/ 898 w 899"/>
                <a:gd name="T5" fmla="*/ 51 h 199"/>
                <a:gd name="T6" fmla="*/ 898 w 899"/>
                <a:gd name="T7" fmla="*/ 43 h 199"/>
                <a:gd name="T8" fmla="*/ 896 w 899"/>
                <a:gd name="T9" fmla="*/ 35 h 199"/>
                <a:gd name="T10" fmla="*/ 894 w 899"/>
                <a:gd name="T11" fmla="*/ 25 h 199"/>
                <a:gd name="T12" fmla="*/ 893 w 899"/>
                <a:gd name="T13" fmla="*/ 16 h 199"/>
                <a:gd name="T14" fmla="*/ 891 w 899"/>
                <a:gd name="T15" fmla="*/ 8 h 199"/>
                <a:gd name="T16" fmla="*/ 889 w 899"/>
                <a:gd name="T17" fmla="*/ 0 h 199"/>
                <a:gd name="T18" fmla="*/ 884 w 899"/>
                <a:gd name="T19" fmla="*/ 0 h 199"/>
                <a:gd name="T20" fmla="*/ 886 w 899"/>
                <a:gd name="T21" fmla="*/ 8 h 199"/>
                <a:gd name="T22" fmla="*/ 888 w 899"/>
                <a:gd name="T23" fmla="*/ 16 h 199"/>
                <a:gd name="T24" fmla="*/ 889 w 899"/>
                <a:gd name="T25" fmla="*/ 26 h 199"/>
                <a:gd name="T26" fmla="*/ 891 w 899"/>
                <a:gd name="T27" fmla="*/ 35 h 199"/>
                <a:gd name="T28" fmla="*/ 893 w 899"/>
                <a:gd name="T29" fmla="*/ 45 h 199"/>
                <a:gd name="T30" fmla="*/ 893 w 899"/>
                <a:gd name="T31" fmla="*/ 53 h 199"/>
                <a:gd name="T32" fmla="*/ 894 w 899"/>
                <a:gd name="T33" fmla="*/ 63 h 199"/>
                <a:gd name="T34" fmla="*/ 894 w 899"/>
                <a:gd name="T35" fmla="*/ 71 h 199"/>
                <a:gd name="T36" fmla="*/ 899 w 899"/>
                <a:gd name="T37" fmla="*/ 69 h 199"/>
                <a:gd name="T38" fmla="*/ 0 w 899"/>
                <a:gd name="T39" fmla="*/ 126 h 199"/>
                <a:gd name="T40" fmla="*/ 2 w 899"/>
                <a:gd name="T41" fmla="*/ 134 h 199"/>
                <a:gd name="T42" fmla="*/ 2 w 899"/>
                <a:gd name="T43" fmla="*/ 144 h 199"/>
                <a:gd name="T44" fmla="*/ 3 w 899"/>
                <a:gd name="T45" fmla="*/ 154 h 199"/>
                <a:gd name="T46" fmla="*/ 5 w 899"/>
                <a:gd name="T47" fmla="*/ 162 h 199"/>
                <a:gd name="T48" fmla="*/ 7 w 899"/>
                <a:gd name="T49" fmla="*/ 172 h 199"/>
                <a:gd name="T50" fmla="*/ 7 w 899"/>
                <a:gd name="T51" fmla="*/ 180 h 199"/>
                <a:gd name="T52" fmla="*/ 10 w 899"/>
                <a:gd name="T53" fmla="*/ 190 h 199"/>
                <a:gd name="T54" fmla="*/ 12 w 899"/>
                <a:gd name="T55" fmla="*/ 199 h 199"/>
                <a:gd name="T56" fmla="*/ 17 w 899"/>
                <a:gd name="T57" fmla="*/ 199 h 199"/>
                <a:gd name="T58" fmla="*/ 13 w 899"/>
                <a:gd name="T59" fmla="*/ 189 h 199"/>
                <a:gd name="T60" fmla="*/ 12 w 899"/>
                <a:gd name="T61" fmla="*/ 180 h 199"/>
                <a:gd name="T62" fmla="*/ 10 w 899"/>
                <a:gd name="T63" fmla="*/ 170 h 199"/>
                <a:gd name="T64" fmla="*/ 10 w 899"/>
                <a:gd name="T65" fmla="*/ 160 h 199"/>
                <a:gd name="T66" fmla="*/ 8 w 899"/>
                <a:gd name="T67" fmla="*/ 152 h 199"/>
                <a:gd name="T68" fmla="*/ 7 w 899"/>
                <a:gd name="T69" fmla="*/ 142 h 199"/>
                <a:gd name="T70" fmla="*/ 7 w 899"/>
                <a:gd name="T71" fmla="*/ 132 h 199"/>
                <a:gd name="T72" fmla="*/ 5 w 899"/>
                <a:gd name="T73" fmla="*/ 122 h 199"/>
                <a:gd name="T74" fmla="*/ 0 w 899"/>
                <a:gd name="T75" fmla="*/ 12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99" h="199">
                  <a:moveTo>
                    <a:pt x="899" y="69"/>
                  </a:moveTo>
                  <a:lnTo>
                    <a:pt x="899" y="59"/>
                  </a:lnTo>
                  <a:lnTo>
                    <a:pt x="898" y="51"/>
                  </a:lnTo>
                  <a:lnTo>
                    <a:pt x="898" y="43"/>
                  </a:lnTo>
                  <a:lnTo>
                    <a:pt x="896" y="35"/>
                  </a:lnTo>
                  <a:lnTo>
                    <a:pt x="894" y="25"/>
                  </a:lnTo>
                  <a:lnTo>
                    <a:pt x="893" y="16"/>
                  </a:lnTo>
                  <a:lnTo>
                    <a:pt x="891" y="8"/>
                  </a:lnTo>
                  <a:lnTo>
                    <a:pt x="889" y="0"/>
                  </a:lnTo>
                  <a:lnTo>
                    <a:pt x="884" y="0"/>
                  </a:lnTo>
                  <a:lnTo>
                    <a:pt x="886" y="8"/>
                  </a:lnTo>
                  <a:lnTo>
                    <a:pt x="888" y="16"/>
                  </a:lnTo>
                  <a:lnTo>
                    <a:pt x="889" y="26"/>
                  </a:lnTo>
                  <a:lnTo>
                    <a:pt x="891" y="35"/>
                  </a:lnTo>
                  <a:lnTo>
                    <a:pt x="893" y="45"/>
                  </a:lnTo>
                  <a:lnTo>
                    <a:pt x="893" y="53"/>
                  </a:lnTo>
                  <a:lnTo>
                    <a:pt x="894" y="63"/>
                  </a:lnTo>
                  <a:lnTo>
                    <a:pt x="894" y="71"/>
                  </a:lnTo>
                  <a:lnTo>
                    <a:pt x="899" y="69"/>
                  </a:lnTo>
                  <a:close/>
                  <a:moveTo>
                    <a:pt x="0" y="126"/>
                  </a:moveTo>
                  <a:lnTo>
                    <a:pt x="2" y="134"/>
                  </a:lnTo>
                  <a:lnTo>
                    <a:pt x="2" y="144"/>
                  </a:lnTo>
                  <a:lnTo>
                    <a:pt x="3" y="154"/>
                  </a:lnTo>
                  <a:lnTo>
                    <a:pt x="5" y="162"/>
                  </a:lnTo>
                  <a:lnTo>
                    <a:pt x="7" y="172"/>
                  </a:lnTo>
                  <a:lnTo>
                    <a:pt x="7" y="180"/>
                  </a:lnTo>
                  <a:lnTo>
                    <a:pt x="10" y="190"/>
                  </a:lnTo>
                  <a:lnTo>
                    <a:pt x="12" y="199"/>
                  </a:lnTo>
                  <a:lnTo>
                    <a:pt x="17" y="199"/>
                  </a:lnTo>
                  <a:lnTo>
                    <a:pt x="13" y="189"/>
                  </a:lnTo>
                  <a:lnTo>
                    <a:pt x="12" y="180"/>
                  </a:lnTo>
                  <a:lnTo>
                    <a:pt x="10" y="170"/>
                  </a:lnTo>
                  <a:lnTo>
                    <a:pt x="10" y="160"/>
                  </a:lnTo>
                  <a:lnTo>
                    <a:pt x="8" y="152"/>
                  </a:lnTo>
                  <a:lnTo>
                    <a:pt x="7" y="142"/>
                  </a:lnTo>
                  <a:lnTo>
                    <a:pt x="7" y="132"/>
                  </a:lnTo>
                  <a:lnTo>
                    <a:pt x="5" y="122"/>
                  </a:lnTo>
                  <a:lnTo>
                    <a:pt x="0" y="126"/>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54" name="Freeform 94">
              <a:extLst>
                <a:ext uri="{FF2B5EF4-FFF2-40B4-BE49-F238E27FC236}">
                  <a16:creationId xmlns:a16="http://schemas.microsoft.com/office/drawing/2014/main" id="{75CC7D10-C85C-AC59-9729-2C9A89D0279A}"/>
                </a:ext>
              </a:extLst>
            </p:cNvPr>
            <p:cNvSpPr>
              <a:spLocks noEditPoints="1"/>
            </p:cNvSpPr>
            <p:nvPr/>
          </p:nvSpPr>
          <p:spPr bwMode="auto">
            <a:xfrm>
              <a:off x="1389" y="1514"/>
              <a:ext cx="895" cy="199"/>
            </a:xfrm>
            <a:custGeom>
              <a:avLst/>
              <a:gdLst>
                <a:gd name="T0" fmla="*/ 895 w 895"/>
                <a:gd name="T1" fmla="*/ 69 h 199"/>
                <a:gd name="T2" fmla="*/ 893 w 895"/>
                <a:gd name="T3" fmla="*/ 61 h 199"/>
                <a:gd name="T4" fmla="*/ 893 w 895"/>
                <a:gd name="T5" fmla="*/ 53 h 199"/>
                <a:gd name="T6" fmla="*/ 891 w 895"/>
                <a:gd name="T7" fmla="*/ 43 h 199"/>
                <a:gd name="T8" fmla="*/ 890 w 895"/>
                <a:gd name="T9" fmla="*/ 35 h 199"/>
                <a:gd name="T10" fmla="*/ 890 w 895"/>
                <a:gd name="T11" fmla="*/ 26 h 199"/>
                <a:gd name="T12" fmla="*/ 888 w 895"/>
                <a:gd name="T13" fmla="*/ 16 h 199"/>
                <a:gd name="T14" fmla="*/ 886 w 895"/>
                <a:gd name="T15" fmla="*/ 8 h 199"/>
                <a:gd name="T16" fmla="*/ 885 w 895"/>
                <a:gd name="T17" fmla="*/ 0 h 199"/>
                <a:gd name="T18" fmla="*/ 880 w 895"/>
                <a:gd name="T19" fmla="*/ 0 h 199"/>
                <a:gd name="T20" fmla="*/ 881 w 895"/>
                <a:gd name="T21" fmla="*/ 8 h 199"/>
                <a:gd name="T22" fmla="*/ 883 w 895"/>
                <a:gd name="T23" fmla="*/ 18 h 199"/>
                <a:gd name="T24" fmla="*/ 885 w 895"/>
                <a:gd name="T25" fmla="*/ 26 h 199"/>
                <a:gd name="T26" fmla="*/ 886 w 895"/>
                <a:gd name="T27" fmla="*/ 35 h 199"/>
                <a:gd name="T28" fmla="*/ 886 w 895"/>
                <a:gd name="T29" fmla="*/ 45 h 199"/>
                <a:gd name="T30" fmla="*/ 888 w 895"/>
                <a:gd name="T31" fmla="*/ 54 h 199"/>
                <a:gd name="T32" fmla="*/ 888 w 895"/>
                <a:gd name="T33" fmla="*/ 63 h 199"/>
                <a:gd name="T34" fmla="*/ 890 w 895"/>
                <a:gd name="T35" fmla="*/ 73 h 199"/>
                <a:gd name="T36" fmla="*/ 895 w 895"/>
                <a:gd name="T37" fmla="*/ 69 h 199"/>
                <a:gd name="T38" fmla="*/ 0 w 895"/>
                <a:gd name="T39" fmla="*/ 124 h 199"/>
                <a:gd name="T40" fmla="*/ 0 w 895"/>
                <a:gd name="T41" fmla="*/ 134 h 199"/>
                <a:gd name="T42" fmla="*/ 2 w 895"/>
                <a:gd name="T43" fmla="*/ 144 h 199"/>
                <a:gd name="T44" fmla="*/ 2 w 895"/>
                <a:gd name="T45" fmla="*/ 152 h 199"/>
                <a:gd name="T46" fmla="*/ 4 w 895"/>
                <a:gd name="T47" fmla="*/ 162 h 199"/>
                <a:gd name="T48" fmla="*/ 5 w 895"/>
                <a:gd name="T49" fmla="*/ 170 h 199"/>
                <a:gd name="T50" fmla="*/ 7 w 895"/>
                <a:gd name="T51" fmla="*/ 180 h 199"/>
                <a:gd name="T52" fmla="*/ 9 w 895"/>
                <a:gd name="T53" fmla="*/ 189 h 199"/>
                <a:gd name="T54" fmla="*/ 10 w 895"/>
                <a:gd name="T55" fmla="*/ 199 h 199"/>
                <a:gd name="T56" fmla="*/ 15 w 895"/>
                <a:gd name="T57" fmla="*/ 199 h 199"/>
                <a:gd name="T58" fmla="*/ 14 w 895"/>
                <a:gd name="T59" fmla="*/ 189 h 199"/>
                <a:gd name="T60" fmla="*/ 12 w 895"/>
                <a:gd name="T61" fmla="*/ 180 h 199"/>
                <a:gd name="T62" fmla="*/ 10 w 895"/>
                <a:gd name="T63" fmla="*/ 170 h 199"/>
                <a:gd name="T64" fmla="*/ 9 w 895"/>
                <a:gd name="T65" fmla="*/ 160 h 199"/>
                <a:gd name="T66" fmla="*/ 7 w 895"/>
                <a:gd name="T67" fmla="*/ 151 h 199"/>
                <a:gd name="T68" fmla="*/ 7 w 895"/>
                <a:gd name="T69" fmla="*/ 142 h 199"/>
                <a:gd name="T70" fmla="*/ 5 w 895"/>
                <a:gd name="T71" fmla="*/ 132 h 199"/>
                <a:gd name="T72" fmla="*/ 5 w 895"/>
                <a:gd name="T73" fmla="*/ 122 h 199"/>
                <a:gd name="T74" fmla="*/ 0 w 895"/>
                <a:gd name="T75" fmla="*/ 12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95" h="199">
                  <a:moveTo>
                    <a:pt x="895" y="69"/>
                  </a:moveTo>
                  <a:lnTo>
                    <a:pt x="893" y="61"/>
                  </a:lnTo>
                  <a:lnTo>
                    <a:pt x="893" y="53"/>
                  </a:lnTo>
                  <a:lnTo>
                    <a:pt x="891" y="43"/>
                  </a:lnTo>
                  <a:lnTo>
                    <a:pt x="890" y="35"/>
                  </a:lnTo>
                  <a:lnTo>
                    <a:pt x="890" y="26"/>
                  </a:lnTo>
                  <a:lnTo>
                    <a:pt x="888" y="16"/>
                  </a:lnTo>
                  <a:lnTo>
                    <a:pt x="886" y="8"/>
                  </a:lnTo>
                  <a:lnTo>
                    <a:pt x="885" y="0"/>
                  </a:lnTo>
                  <a:lnTo>
                    <a:pt x="880" y="0"/>
                  </a:lnTo>
                  <a:lnTo>
                    <a:pt x="881" y="8"/>
                  </a:lnTo>
                  <a:lnTo>
                    <a:pt x="883" y="18"/>
                  </a:lnTo>
                  <a:lnTo>
                    <a:pt x="885" y="26"/>
                  </a:lnTo>
                  <a:lnTo>
                    <a:pt x="886" y="35"/>
                  </a:lnTo>
                  <a:lnTo>
                    <a:pt x="886" y="45"/>
                  </a:lnTo>
                  <a:lnTo>
                    <a:pt x="888" y="54"/>
                  </a:lnTo>
                  <a:lnTo>
                    <a:pt x="888" y="63"/>
                  </a:lnTo>
                  <a:lnTo>
                    <a:pt x="890" y="73"/>
                  </a:lnTo>
                  <a:lnTo>
                    <a:pt x="895" y="69"/>
                  </a:lnTo>
                  <a:close/>
                  <a:moveTo>
                    <a:pt x="0" y="124"/>
                  </a:moveTo>
                  <a:lnTo>
                    <a:pt x="0" y="134"/>
                  </a:lnTo>
                  <a:lnTo>
                    <a:pt x="2" y="144"/>
                  </a:lnTo>
                  <a:lnTo>
                    <a:pt x="2" y="152"/>
                  </a:lnTo>
                  <a:lnTo>
                    <a:pt x="4" y="162"/>
                  </a:lnTo>
                  <a:lnTo>
                    <a:pt x="5" y="170"/>
                  </a:lnTo>
                  <a:lnTo>
                    <a:pt x="7" y="180"/>
                  </a:lnTo>
                  <a:lnTo>
                    <a:pt x="9" y="189"/>
                  </a:lnTo>
                  <a:lnTo>
                    <a:pt x="10" y="199"/>
                  </a:lnTo>
                  <a:lnTo>
                    <a:pt x="15" y="199"/>
                  </a:lnTo>
                  <a:lnTo>
                    <a:pt x="14" y="189"/>
                  </a:lnTo>
                  <a:lnTo>
                    <a:pt x="12" y="180"/>
                  </a:lnTo>
                  <a:lnTo>
                    <a:pt x="10" y="170"/>
                  </a:lnTo>
                  <a:lnTo>
                    <a:pt x="9" y="160"/>
                  </a:lnTo>
                  <a:lnTo>
                    <a:pt x="7" y="151"/>
                  </a:lnTo>
                  <a:lnTo>
                    <a:pt x="7" y="142"/>
                  </a:lnTo>
                  <a:lnTo>
                    <a:pt x="5" y="132"/>
                  </a:lnTo>
                  <a:lnTo>
                    <a:pt x="5" y="122"/>
                  </a:lnTo>
                  <a:lnTo>
                    <a:pt x="0" y="124"/>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55" name="Freeform 95">
              <a:extLst>
                <a:ext uri="{FF2B5EF4-FFF2-40B4-BE49-F238E27FC236}">
                  <a16:creationId xmlns:a16="http://schemas.microsoft.com/office/drawing/2014/main" id="{474331D3-E4BF-BE6A-1BEA-22F5F6DCF710}"/>
                </a:ext>
              </a:extLst>
            </p:cNvPr>
            <p:cNvSpPr>
              <a:spLocks noEditPoints="1"/>
            </p:cNvSpPr>
            <p:nvPr/>
          </p:nvSpPr>
          <p:spPr bwMode="auto">
            <a:xfrm>
              <a:off x="1391" y="1514"/>
              <a:ext cx="889" cy="199"/>
            </a:xfrm>
            <a:custGeom>
              <a:avLst/>
              <a:gdLst>
                <a:gd name="T0" fmla="*/ 889 w 889"/>
                <a:gd name="T1" fmla="*/ 71 h 199"/>
                <a:gd name="T2" fmla="*/ 889 w 889"/>
                <a:gd name="T3" fmla="*/ 63 h 199"/>
                <a:gd name="T4" fmla="*/ 888 w 889"/>
                <a:gd name="T5" fmla="*/ 53 h 199"/>
                <a:gd name="T6" fmla="*/ 888 w 889"/>
                <a:gd name="T7" fmla="*/ 45 h 199"/>
                <a:gd name="T8" fmla="*/ 886 w 889"/>
                <a:gd name="T9" fmla="*/ 35 h 199"/>
                <a:gd name="T10" fmla="*/ 884 w 889"/>
                <a:gd name="T11" fmla="*/ 26 h 199"/>
                <a:gd name="T12" fmla="*/ 883 w 889"/>
                <a:gd name="T13" fmla="*/ 16 h 199"/>
                <a:gd name="T14" fmla="*/ 881 w 889"/>
                <a:gd name="T15" fmla="*/ 8 h 199"/>
                <a:gd name="T16" fmla="*/ 879 w 889"/>
                <a:gd name="T17" fmla="*/ 0 h 199"/>
                <a:gd name="T18" fmla="*/ 874 w 889"/>
                <a:gd name="T19" fmla="*/ 0 h 199"/>
                <a:gd name="T20" fmla="*/ 876 w 889"/>
                <a:gd name="T21" fmla="*/ 8 h 199"/>
                <a:gd name="T22" fmla="*/ 878 w 889"/>
                <a:gd name="T23" fmla="*/ 18 h 199"/>
                <a:gd name="T24" fmla="*/ 879 w 889"/>
                <a:gd name="T25" fmla="*/ 26 h 199"/>
                <a:gd name="T26" fmla="*/ 881 w 889"/>
                <a:gd name="T27" fmla="*/ 36 h 199"/>
                <a:gd name="T28" fmla="*/ 883 w 889"/>
                <a:gd name="T29" fmla="*/ 45 h 199"/>
                <a:gd name="T30" fmla="*/ 884 w 889"/>
                <a:gd name="T31" fmla="*/ 54 h 199"/>
                <a:gd name="T32" fmla="*/ 884 w 889"/>
                <a:gd name="T33" fmla="*/ 64 h 199"/>
                <a:gd name="T34" fmla="*/ 884 w 889"/>
                <a:gd name="T35" fmla="*/ 73 h 199"/>
                <a:gd name="T36" fmla="*/ 889 w 889"/>
                <a:gd name="T37" fmla="*/ 71 h 199"/>
                <a:gd name="T38" fmla="*/ 0 w 889"/>
                <a:gd name="T39" fmla="*/ 122 h 199"/>
                <a:gd name="T40" fmla="*/ 2 w 889"/>
                <a:gd name="T41" fmla="*/ 132 h 199"/>
                <a:gd name="T42" fmla="*/ 2 w 889"/>
                <a:gd name="T43" fmla="*/ 142 h 199"/>
                <a:gd name="T44" fmla="*/ 3 w 889"/>
                <a:gd name="T45" fmla="*/ 152 h 199"/>
                <a:gd name="T46" fmla="*/ 5 w 889"/>
                <a:gd name="T47" fmla="*/ 160 h 199"/>
                <a:gd name="T48" fmla="*/ 5 w 889"/>
                <a:gd name="T49" fmla="*/ 170 h 199"/>
                <a:gd name="T50" fmla="*/ 7 w 889"/>
                <a:gd name="T51" fmla="*/ 180 h 199"/>
                <a:gd name="T52" fmla="*/ 8 w 889"/>
                <a:gd name="T53" fmla="*/ 189 h 199"/>
                <a:gd name="T54" fmla="*/ 12 w 889"/>
                <a:gd name="T55" fmla="*/ 199 h 199"/>
                <a:gd name="T56" fmla="*/ 16 w 889"/>
                <a:gd name="T57" fmla="*/ 199 h 199"/>
                <a:gd name="T58" fmla="*/ 13 w 889"/>
                <a:gd name="T59" fmla="*/ 189 h 199"/>
                <a:gd name="T60" fmla="*/ 12 w 889"/>
                <a:gd name="T61" fmla="*/ 179 h 199"/>
                <a:gd name="T62" fmla="*/ 10 w 889"/>
                <a:gd name="T63" fmla="*/ 170 h 199"/>
                <a:gd name="T64" fmla="*/ 8 w 889"/>
                <a:gd name="T65" fmla="*/ 160 h 199"/>
                <a:gd name="T66" fmla="*/ 8 w 889"/>
                <a:gd name="T67" fmla="*/ 151 h 199"/>
                <a:gd name="T68" fmla="*/ 7 w 889"/>
                <a:gd name="T69" fmla="*/ 141 h 199"/>
                <a:gd name="T70" fmla="*/ 5 w 889"/>
                <a:gd name="T71" fmla="*/ 131 h 199"/>
                <a:gd name="T72" fmla="*/ 5 w 889"/>
                <a:gd name="T73" fmla="*/ 121 h 199"/>
                <a:gd name="T74" fmla="*/ 0 w 889"/>
                <a:gd name="T75" fmla="*/ 12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89" h="199">
                  <a:moveTo>
                    <a:pt x="889" y="71"/>
                  </a:moveTo>
                  <a:lnTo>
                    <a:pt x="889" y="63"/>
                  </a:lnTo>
                  <a:lnTo>
                    <a:pt x="888" y="53"/>
                  </a:lnTo>
                  <a:lnTo>
                    <a:pt x="888" y="45"/>
                  </a:lnTo>
                  <a:lnTo>
                    <a:pt x="886" y="35"/>
                  </a:lnTo>
                  <a:lnTo>
                    <a:pt x="884" y="26"/>
                  </a:lnTo>
                  <a:lnTo>
                    <a:pt x="883" y="16"/>
                  </a:lnTo>
                  <a:lnTo>
                    <a:pt x="881" y="8"/>
                  </a:lnTo>
                  <a:lnTo>
                    <a:pt x="879" y="0"/>
                  </a:lnTo>
                  <a:lnTo>
                    <a:pt x="874" y="0"/>
                  </a:lnTo>
                  <a:lnTo>
                    <a:pt x="876" y="8"/>
                  </a:lnTo>
                  <a:lnTo>
                    <a:pt x="878" y="18"/>
                  </a:lnTo>
                  <a:lnTo>
                    <a:pt x="879" y="26"/>
                  </a:lnTo>
                  <a:lnTo>
                    <a:pt x="881" y="36"/>
                  </a:lnTo>
                  <a:lnTo>
                    <a:pt x="883" y="45"/>
                  </a:lnTo>
                  <a:lnTo>
                    <a:pt x="884" y="54"/>
                  </a:lnTo>
                  <a:lnTo>
                    <a:pt x="884" y="64"/>
                  </a:lnTo>
                  <a:lnTo>
                    <a:pt x="884" y="73"/>
                  </a:lnTo>
                  <a:lnTo>
                    <a:pt x="889" y="71"/>
                  </a:lnTo>
                  <a:close/>
                  <a:moveTo>
                    <a:pt x="0" y="122"/>
                  </a:moveTo>
                  <a:lnTo>
                    <a:pt x="2" y="132"/>
                  </a:lnTo>
                  <a:lnTo>
                    <a:pt x="2" y="142"/>
                  </a:lnTo>
                  <a:lnTo>
                    <a:pt x="3" y="152"/>
                  </a:lnTo>
                  <a:lnTo>
                    <a:pt x="5" y="160"/>
                  </a:lnTo>
                  <a:lnTo>
                    <a:pt x="5" y="170"/>
                  </a:lnTo>
                  <a:lnTo>
                    <a:pt x="7" y="180"/>
                  </a:lnTo>
                  <a:lnTo>
                    <a:pt x="8" y="189"/>
                  </a:lnTo>
                  <a:lnTo>
                    <a:pt x="12" y="199"/>
                  </a:lnTo>
                  <a:lnTo>
                    <a:pt x="16" y="199"/>
                  </a:lnTo>
                  <a:lnTo>
                    <a:pt x="13" y="189"/>
                  </a:lnTo>
                  <a:lnTo>
                    <a:pt x="12" y="179"/>
                  </a:lnTo>
                  <a:lnTo>
                    <a:pt x="10" y="170"/>
                  </a:lnTo>
                  <a:lnTo>
                    <a:pt x="8" y="160"/>
                  </a:lnTo>
                  <a:lnTo>
                    <a:pt x="8" y="151"/>
                  </a:lnTo>
                  <a:lnTo>
                    <a:pt x="7" y="141"/>
                  </a:lnTo>
                  <a:lnTo>
                    <a:pt x="5" y="131"/>
                  </a:lnTo>
                  <a:lnTo>
                    <a:pt x="5" y="121"/>
                  </a:lnTo>
                  <a:lnTo>
                    <a:pt x="0" y="122"/>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56" name="Freeform 96">
              <a:extLst>
                <a:ext uri="{FF2B5EF4-FFF2-40B4-BE49-F238E27FC236}">
                  <a16:creationId xmlns:a16="http://schemas.microsoft.com/office/drawing/2014/main" id="{8820E138-EA58-51DD-F2E3-AF5DBA9946F2}"/>
                </a:ext>
              </a:extLst>
            </p:cNvPr>
            <p:cNvSpPr>
              <a:spLocks noEditPoints="1"/>
            </p:cNvSpPr>
            <p:nvPr/>
          </p:nvSpPr>
          <p:spPr bwMode="auto">
            <a:xfrm>
              <a:off x="1394" y="1514"/>
              <a:ext cx="885" cy="199"/>
            </a:xfrm>
            <a:custGeom>
              <a:avLst/>
              <a:gdLst>
                <a:gd name="T0" fmla="*/ 885 w 885"/>
                <a:gd name="T1" fmla="*/ 73 h 199"/>
                <a:gd name="T2" fmla="*/ 883 w 885"/>
                <a:gd name="T3" fmla="*/ 63 h 199"/>
                <a:gd name="T4" fmla="*/ 883 w 885"/>
                <a:gd name="T5" fmla="*/ 54 h 199"/>
                <a:gd name="T6" fmla="*/ 881 w 885"/>
                <a:gd name="T7" fmla="*/ 45 h 199"/>
                <a:gd name="T8" fmla="*/ 881 w 885"/>
                <a:gd name="T9" fmla="*/ 35 h 199"/>
                <a:gd name="T10" fmla="*/ 880 w 885"/>
                <a:gd name="T11" fmla="*/ 26 h 199"/>
                <a:gd name="T12" fmla="*/ 878 w 885"/>
                <a:gd name="T13" fmla="*/ 18 h 199"/>
                <a:gd name="T14" fmla="*/ 876 w 885"/>
                <a:gd name="T15" fmla="*/ 8 h 199"/>
                <a:gd name="T16" fmla="*/ 875 w 885"/>
                <a:gd name="T17" fmla="*/ 0 h 199"/>
                <a:gd name="T18" fmla="*/ 870 w 885"/>
                <a:gd name="T19" fmla="*/ 0 h 199"/>
                <a:gd name="T20" fmla="*/ 871 w 885"/>
                <a:gd name="T21" fmla="*/ 8 h 199"/>
                <a:gd name="T22" fmla="*/ 873 w 885"/>
                <a:gd name="T23" fmla="*/ 18 h 199"/>
                <a:gd name="T24" fmla="*/ 875 w 885"/>
                <a:gd name="T25" fmla="*/ 26 h 199"/>
                <a:gd name="T26" fmla="*/ 876 w 885"/>
                <a:gd name="T27" fmla="*/ 36 h 199"/>
                <a:gd name="T28" fmla="*/ 878 w 885"/>
                <a:gd name="T29" fmla="*/ 46 h 199"/>
                <a:gd name="T30" fmla="*/ 878 w 885"/>
                <a:gd name="T31" fmla="*/ 54 h 199"/>
                <a:gd name="T32" fmla="*/ 880 w 885"/>
                <a:gd name="T33" fmla="*/ 64 h 199"/>
                <a:gd name="T34" fmla="*/ 880 w 885"/>
                <a:gd name="T35" fmla="*/ 74 h 199"/>
                <a:gd name="T36" fmla="*/ 885 w 885"/>
                <a:gd name="T37" fmla="*/ 73 h 199"/>
                <a:gd name="T38" fmla="*/ 0 w 885"/>
                <a:gd name="T39" fmla="*/ 122 h 199"/>
                <a:gd name="T40" fmla="*/ 0 w 885"/>
                <a:gd name="T41" fmla="*/ 132 h 199"/>
                <a:gd name="T42" fmla="*/ 2 w 885"/>
                <a:gd name="T43" fmla="*/ 142 h 199"/>
                <a:gd name="T44" fmla="*/ 2 w 885"/>
                <a:gd name="T45" fmla="*/ 151 h 199"/>
                <a:gd name="T46" fmla="*/ 4 w 885"/>
                <a:gd name="T47" fmla="*/ 160 h 199"/>
                <a:gd name="T48" fmla="*/ 5 w 885"/>
                <a:gd name="T49" fmla="*/ 170 h 199"/>
                <a:gd name="T50" fmla="*/ 7 w 885"/>
                <a:gd name="T51" fmla="*/ 180 h 199"/>
                <a:gd name="T52" fmla="*/ 9 w 885"/>
                <a:gd name="T53" fmla="*/ 189 h 199"/>
                <a:gd name="T54" fmla="*/ 10 w 885"/>
                <a:gd name="T55" fmla="*/ 199 h 199"/>
                <a:gd name="T56" fmla="*/ 15 w 885"/>
                <a:gd name="T57" fmla="*/ 199 h 199"/>
                <a:gd name="T58" fmla="*/ 13 w 885"/>
                <a:gd name="T59" fmla="*/ 189 h 199"/>
                <a:gd name="T60" fmla="*/ 12 w 885"/>
                <a:gd name="T61" fmla="*/ 179 h 199"/>
                <a:gd name="T62" fmla="*/ 10 w 885"/>
                <a:gd name="T63" fmla="*/ 169 h 199"/>
                <a:gd name="T64" fmla="*/ 9 w 885"/>
                <a:gd name="T65" fmla="*/ 160 h 199"/>
                <a:gd name="T66" fmla="*/ 7 w 885"/>
                <a:gd name="T67" fmla="*/ 151 h 199"/>
                <a:gd name="T68" fmla="*/ 5 w 885"/>
                <a:gd name="T69" fmla="*/ 141 h 199"/>
                <a:gd name="T70" fmla="*/ 5 w 885"/>
                <a:gd name="T71" fmla="*/ 131 h 199"/>
                <a:gd name="T72" fmla="*/ 5 w 885"/>
                <a:gd name="T73" fmla="*/ 119 h 199"/>
                <a:gd name="T74" fmla="*/ 0 w 885"/>
                <a:gd name="T75" fmla="*/ 12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85" h="199">
                  <a:moveTo>
                    <a:pt x="885" y="73"/>
                  </a:moveTo>
                  <a:lnTo>
                    <a:pt x="883" y="63"/>
                  </a:lnTo>
                  <a:lnTo>
                    <a:pt x="883" y="54"/>
                  </a:lnTo>
                  <a:lnTo>
                    <a:pt x="881" y="45"/>
                  </a:lnTo>
                  <a:lnTo>
                    <a:pt x="881" y="35"/>
                  </a:lnTo>
                  <a:lnTo>
                    <a:pt x="880" y="26"/>
                  </a:lnTo>
                  <a:lnTo>
                    <a:pt x="878" y="18"/>
                  </a:lnTo>
                  <a:lnTo>
                    <a:pt x="876" y="8"/>
                  </a:lnTo>
                  <a:lnTo>
                    <a:pt x="875" y="0"/>
                  </a:lnTo>
                  <a:lnTo>
                    <a:pt x="870" y="0"/>
                  </a:lnTo>
                  <a:lnTo>
                    <a:pt x="871" y="8"/>
                  </a:lnTo>
                  <a:lnTo>
                    <a:pt x="873" y="18"/>
                  </a:lnTo>
                  <a:lnTo>
                    <a:pt x="875" y="26"/>
                  </a:lnTo>
                  <a:lnTo>
                    <a:pt x="876" y="36"/>
                  </a:lnTo>
                  <a:lnTo>
                    <a:pt x="878" y="46"/>
                  </a:lnTo>
                  <a:lnTo>
                    <a:pt x="878" y="54"/>
                  </a:lnTo>
                  <a:lnTo>
                    <a:pt x="880" y="64"/>
                  </a:lnTo>
                  <a:lnTo>
                    <a:pt x="880" y="74"/>
                  </a:lnTo>
                  <a:lnTo>
                    <a:pt x="885" y="73"/>
                  </a:lnTo>
                  <a:close/>
                  <a:moveTo>
                    <a:pt x="0" y="122"/>
                  </a:moveTo>
                  <a:lnTo>
                    <a:pt x="0" y="132"/>
                  </a:lnTo>
                  <a:lnTo>
                    <a:pt x="2" y="142"/>
                  </a:lnTo>
                  <a:lnTo>
                    <a:pt x="2" y="151"/>
                  </a:lnTo>
                  <a:lnTo>
                    <a:pt x="4" y="160"/>
                  </a:lnTo>
                  <a:lnTo>
                    <a:pt x="5" y="170"/>
                  </a:lnTo>
                  <a:lnTo>
                    <a:pt x="7" y="180"/>
                  </a:lnTo>
                  <a:lnTo>
                    <a:pt x="9" y="189"/>
                  </a:lnTo>
                  <a:lnTo>
                    <a:pt x="10" y="199"/>
                  </a:lnTo>
                  <a:lnTo>
                    <a:pt x="15" y="199"/>
                  </a:lnTo>
                  <a:lnTo>
                    <a:pt x="13" y="189"/>
                  </a:lnTo>
                  <a:lnTo>
                    <a:pt x="12" y="179"/>
                  </a:lnTo>
                  <a:lnTo>
                    <a:pt x="10" y="169"/>
                  </a:lnTo>
                  <a:lnTo>
                    <a:pt x="9" y="160"/>
                  </a:lnTo>
                  <a:lnTo>
                    <a:pt x="7" y="151"/>
                  </a:lnTo>
                  <a:lnTo>
                    <a:pt x="5" y="141"/>
                  </a:lnTo>
                  <a:lnTo>
                    <a:pt x="5" y="131"/>
                  </a:lnTo>
                  <a:lnTo>
                    <a:pt x="5" y="119"/>
                  </a:lnTo>
                  <a:lnTo>
                    <a:pt x="0" y="122"/>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57" name="Freeform 97">
              <a:extLst>
                <a:ext uri="{FF2B5EF4-FFF2-40B4-BE49-F238E27FC236}">
                  <a16:creationId xmlns:a16="http://schemas.microsoft.com/office/drawing/2014/main" id="{05D4133D-1C4C-24ED-81CE-AB3926B10F68}"/>
                </a:ext>
              </a:extLst>
            </p:cNvPr>
            <p:cNvSpPr>
              <a:spLocks noEditPoints="1"/>
            </p:cNvSpPr>
            <p:nvPr/>
          </p:nvSpPr>
          <p:spPr bwMode="auto">
            <a:xfrm>
              <a:off x="1396" y="1514"/>
              <a:ext cx="879" cy="199"/>
            </a:xfrm>
            <a:custGeom>
              <a:avLst/>
              <a:gdLst>
                <a:gd name="T0" fmla="*/ 879 w 879"/>
                <a:gd name="T1" fmla="*/ 73 h 199"/>
                <a:gd name="T2" fmla="*/ 879 w 879"/>
                <a:gd name="T3" fmla="*/ 64 h 199"/>
                <a:gd name="T4" fmla="*/ 879 w 879"/>
                <a:gd name="T5" fmla="*/ 54 h 199"/>
                <a:gd name="T6" fmla="*/ 878 w 879"/>
                <a:gd name="T7" fmla="*/ 45 h 199"/>
                <a:gd name="T8" fmla="*/ 876 w 879"/>
                <a:gd name="T9" fmla="*/ 36 h 199"/>
                <a:gd name="T10" fmla="*/ 874 w 879"/>
                <a:gd name="T11" fmla="*/ 26 h 199"/>
                <a:gd name="T12" fmla="*/ 873 w 879"/>
                <a:gd name="T13" fmla="*/ 18 h 199"/>
                <a:gd name="T14" fmla="*/ 871 w 879"/>
                <a:gd name="T15" fmla="*/ 8 h 199"/>
                <a:gd name="T16" fmla="*/ 869 w 879"/>
                <a:gd name="T17" fmla="*/ 0 h 199"/>
                <a:gd name="T18" fmla="*/ 864 w 879"/>
                <a:gd name="T19" fmla="*/ 0 h 199"/>
                <a:gd name="T20" fmla="*/ 866 w 879"/>
                <a:gd name="T21" fmla="*/ 8 h 199"/>
                <a:gd name="T22" fmla="*/ 868 w 879"/>
                <a:gd name="T23" fmla="*/ 18 h 199"/>
                <a:gd name="T24" fmla="*/ 869 w 879"/>
                <a:gd name="T25" fmla="*/ 28 h 199"/>
                <a:gd name="T26" fmla="*/ 871 w 879"/>
                <a:gd name="T27" fmla="*/ 36 h 199"/>
                <a:gd name="T28" fmla="*/ 873 w 879"/>
                <a:gd name="T29" fmla="*/ 46 h 199"/>
                <a:gd name="T30" fmla="*/ 874 w 879"/>
                <a:gd name="T31" fmla="*/ 56 h 199"/>
                <a:gd name="T32" fmla="*/ 874 w 879"/>
                <a:gd name="T33" fmla="*/ 66 h 199"/>
                <a:gd name="T34" fmla="*/ 876 w 879"/>
                <a:gd name="T35" fmla="*/ 76 h 199"/>
                <a:gd name="T36" fmla="*/ 879 w 879"/>
                <a:gd name="T37" fmla="*/ 73 h 199"/>
                <a:gd name="T38" fmla="*/ 0 w 879"/>
                <a:gd name="T39" fmla="*/ 121 h 199"/>
                <a:gd name="T40" fmla="*/ 0 w 879"/>
                <a:gd name="T41" fmla="*/ 131 h 199"/>
                <a:gd name="T42" fmla="*/ 2 w 879"/>
                <a:gd name="T43" fmla="*/ 141 h 199"/>
                <a:gd name="T44" fmla="*/ 3 w 879"/>
                <a:gd name="T45" fmla="*/ 151 h 199"/>
                <a:gd name="T46" fmla="*/ 3 w 879"/>
                <a:gd name="T47" fmla="*/ 160 h 199"/>
                <a:gd name="T48" fmla="*/ 5 w 879"/>
                <a:gd name="T49" fmla="*/ 170 h 199"/>
                <a:gd name="T50" fmla="*/ 7 w 879"/>
                <a:gd name="T51" fmla="*/ 179 h 199"/>
                <a:gd name="T52" fmla="*/ 8 w 879"/>
                <a:gd name="T53" fmla="*/ 189 h 199"/>
                <a:gd name="T54" fmla="*/ 11 w 879"/>
                <a:gd name="T55" fmla="*/ 199 h 199"/>
                <a:gd name="T56" fmla="*/ 16 w 879"/>
                <a:gd name="T57" fmla="*/ 199 h 199"/>
                <a:gd name="T58" fmla="*/ 13 w 879"/>
                <a:gd name="T59" fmla="*/ 189 h 199"/>
                <a:gd name="T60" fmla="*/ 11 w 879"/>
                <a:gd name="T61" fmla="*/ 179 h 199"/>
                <a:gd name="T62" fmla="*/ 10 w 879"/>
                <a:gd name="T63" fmla="*/ 169 h 199"/>
                <a:gd name="T64" fmla="*/ 8 w 879"/>
                <a:gd name="T65" fmla="*/ 159 h 199"/>
                <a:gd name="T66" fmla="*/ 7 w 879"/>
                <a:gd name="T67" fmla="*/ 149 h 199"/>
                <a:gd name="T68" fmla="*/ 7 w 879"/>
                <a:gd name="T69" fmla="*/ 139 h 199"/>
                <a:gd name="T70" fmla="*/ 5 w 879"/>
                <a:gd name="T71" fmla="*/ 129 h 199"/>
                <a:gd name="T72" fmla="*/ 5 w 879"/>
                <a:gd name="T73" fmla="*/ 119 h 199"/>
                <a:gd name="T74" fmla="*/ 0 w 879"/>
                <a:gd name="T75" fmla="*/ 12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79" h="199">
                  <a:moveTo>
                    <a:pt x="879" y="73"/>
                  </a:moveTo>
                  <a:lnTo>
                    <a:pt x="879" y="64"/>
                  </a:lnTo>
                  <a:lnTo>
                    <a:pt x="879" y="54"/>
                  </a:lnTo>
                  <a:lnTo>
                    <a:pt x="878" y="45"/>
                  </a:lnTo>
                  <a:lnTo>
                    <a:pt x="876" y="36"/>
                  </a:lnTo>
                  <a:lnTo>
                    <a:pt x="874" y="26"/>
                  </a:lnTo>
                  <a:lnTo>
                    <a:pt x="873" y="18"/>
                  </a:lnTo>
                  <a:lnTo>
                    <a:pt x="871" y="8"/>
                  </a:lnTo>
                  <a:lnTo>
                    <a:pt x="869" y="0"/>
                  </a:lnTo>
                  <a:lnTo>
                    <a:pt x="864" y="0"/>
                  </a:lnTo>
                  <a:lnTo>
                    <a:pt x="866" y="8"/>
                  </a:lnTo>
                  <a:lnTo>
                    <a:pt x="868" y="18"/>
                  </a:lnTo>
                  <a:lnTo>
                    <a:pt x="869" y="28"/>
                  </a:lnTo>
                  <a:lnTo>
                    <a:pt x="871" y="36"/>
                  </a:lnTo>
                  <a:lnTo>
                    <a:pt x="873" y="46"/>
                  </a:lnTo>
                  <a:lnTo>
                    <a:pt x="874" y="56"/>
                  </a:lnTo>
                  <a:lnTo>
                    <a:pt x="874" y="66"/>
                  </a:lnTo>
                  <a:lnTo>
                    <a:pt x="876" y="76"/>
                  </a:lnTo>
                  <a:lnTo>
                    <a:pt x="879" y="73"/>
                  </a:lnTo>
                  <a:close/>
                  <a:moveTo>
                    <a:pt x="0" y="121"/>
                  </a:moveTo>
                  <a:lnTo>
                    <a:pt x="0" y="131"/>
                  </a:lnTo>
                  <a:lnTo>
                    <a:pt x="2" y="141"/>
                  </a:lnTo>
                  <a:lnTo>
                    <a:pt x="3" y="151"/>
                  </a:lnTo>
                  <a:lnTo>
                    <a:pt x="3" y="160"/>
                  </a:lnTo>
                  <a:lnTo>
                    <a:pt x="5" y="170"/>
                  </a:lnTo>
                  <a:lnTo>
                    <a:pt x="7" y="179"/>
                  </a:lnTo>
                  <a:lnTo>
                    <a:pt x="8" y="189"/>
                  </a:lnTo>
                  <a:lnTo>
                    <a:pt x="11" y="199"/>
                  </a:lnTo>
                  <a:lnTo>
                    <a:pt x="16" y="199"/>
                  </a:lnTo>
                  <a:lnTo>
                    <a:pt x="13" y="189"/>
                  </a:lnTo>
                  <a:lnTo>
                    <a:pt x="11" y="179"/>
                  </a:lnTo>
                  <a:lnTo>
                    <a:pt x="10" y="169"/>
                  </a:lnTo>
                  <a:lnTo>
                    <a:pt x="8" y="159"/>
                  </a:lnTo>
                  <a:lnTo>
                    <a:pt x="7" y="149"/>
                  </a:lnTo>
                  <a:lnTo>
                    <a:pt x="7" y="139"/>
                  </a:lnTo>
                  <a:lnTo>
                    <a:pt x="5" y="129"/>
                  </a:lnTo>
                  <a:lnTo>
                    <a:pt x="5" y="119"/>
                  </a:lnTo>
                  <a:lnTo>
                    <a:pt x="0" y="121"/>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58" name="Freeform 98">
              <a:extLst>
                <a:ext uri="{FF2B5EF4-FFF2-40B4-BE49-F238E27FC236}">
                  <a16:creationId xmlns:a16="http://schemas.microsoft.com/office/drawing/2014/main" id="{481F9320-F3F4-2EC1-72ED-9A27D179B220}"/>
                </a:ext>
              </a:extLst>
            </p:cNvPr>
            <p:cNvSpPr>
              <a:spLocks noEditPoints="1"/>
            </p:cNvSpPr>
            <p:nvPr/>
          </p:nvSpPr>
          <p:spPr bwMode="auto">
            <a:xfrm>
              <a:off x="1399" y="1514"/>
              <a:ext cx="875" cy="199"/>
            </a:xfrm>
            <a:custGeom>
              <a:avLst/>
              <a:gdLst>
                <a:gd name="T0" fmla="*/ 875 w 875"/>
                <a:gd name="T1" fmla="*/ 74 h 199"/>
                <a:gd name="T2" fmla="*/ 875 w 875"/>
                <a:gd name="T3" fmla="*/ 64 h 199"/>
                <a:gd name="T4" fmla="*/ 873 w 875"/>
                <a:gd name="T5" fmla="*/ 54 h 199"/>
                <a:gd name="T6" fmla="*/ 873 w 875"/>
                <a:gd name="T7" fmla="*/ 46 h 199"/>
                <a:gd name="T8" fmla="*/ 871 w 875"/>
                <a:gd name="T9" fmla="*/ 36 h 199"/>
                <a:gd name="T10" fmla="*/ 870 w 875"/>
                <a:gd name="T11" fmla="*/ 26 h 199"/>
                <a:gd name="T12" fmla="*/ 868 w 875"/>
                <a:gd name="T13" fmla="*/ 18 h 199"/>
                <a:gd name="T14" fmla="*/ 866 w 875"/>
                <a:gd name="T15" fmla="*/ 8 h 199"/>
                <a:gd name="T16" fmla="*/ 865 w 875"/>
                <a:gd name="T17" fmla="*/ 0 h 199"/>
                <a:gd name="T18" fmla="*/ 860 w 875"/>
                <a:gd name="T19" fmla="*/ 0 h 199"/>
                <a:gd name="T20" fmla="*/ 861 w 875"/>
                <a:gd name="T21" fmla="*/ 10 h 199"/>
                <a:gd name="T22" fmla="*/ 863 w 875"/>
                <a:gd name="T23" fmla="*/ 18 h 199"/>
                <a:gd name="T24" fmla="*/ 865 w 875"/>
                <a:gd name="T25" fmla="*/ 28 h 199"/>
                <a:gd name="T26" fmla="*/ 866 w 875"/>
                <a:gd name="T27" fmla="*/ 38 h 199"/>
                <a:gd name="T28" fmla="*/ 868 w 875"/>
                <a:gd name="T29" fmla="*/ 48 h 199"/>
                <a:gd name="T30" fmla="*/ 868 w 875"/>
                <a:gd name="T31" fmla="*/ 56 h 199"/>
                <a:gd name="T32" fmla="*/ 870 w 875"/>
                <a:gd name="T33" fmla="*/ 66 h 199"/>
                <a:gd name="T34" fmla="*/ 870 w 875"/>
                <a:gd name="T35" fmla="*/ 76 h 199"/>
                <a:gd name="T36" fmla="*/ 875 w 875"/>
                <a:gd name="T37" fmla="*/ 74 h 199"/>
                <a:gd name="T38" fmla="*/ 0 w 875"/>
                <a:gd name="T39" fmla="*/ 119 h 199"/>
                <a:gd name="T40" fmla="*/ 0 w 875"/>
                <a:gd name="T41" fmla="*/ 131 h 199"/>
                <a:gd name="T42" fmla="*/ 0 w 875"/>
                <a:gd name="T43" fmla="*/ 141 h 199"/>
                <a:gd name="T44" fmla="*/ 2 w 875"/>
                <a:gd name="T45" fmla="*/ 151 h 199"/>
                <a:gd name="T46" fmla="*/ 4 w 875"/>
                <a:gd name="T47" fmla="*/ 160 h 199"/>
                <a:gd name="T48" fmla="*/ 5 w 875"/>
                <a:gd name="T49" fmla="*/ 169 h 199"/>
                <a:gd name="T50" fmla="*/ 7 w 875"/>
                <a:gd name="T51" fmla="*/ 179 h 199"/>
                <a:gd name="T52" fmla="*/ 8 w 875"/>
                <a:gd name="T53" fmla="*/ 189 h 199"/>
                <a:gd name="T54" fmla="*/ 10 w 875"/>
                <a:gd name="T55" fmla="*/ 199 h 199"/>
                <a:gd name="T56" fmla="*/ 15 w 875"/>
                <a:gd name="T57" fmla="*/ 199 h 199"/>
                <a:gd name="T58" fmla="*/ 13 w 875"/>
                <a:gd name="T59" fmla="*/ 189 h 199"/>
                <a:gd name="T60" fmla="*/ 12 w 875"/>
                <a:gd name="T61" fmla="*/ 179 h 199"/>
                <a:gd name="T62" fmla="*/ 10 w 875"/>
                <a:gd name="T63" fmla="*/ 169 h 199"/>
                <a:gd name="T64" fmla="*/ 8 w 875"/>
                <a:gd name="T65" fmla="*/ 159 h 199"/>
                <a:gd name="T66" fmla="*/ 7 w 875"/>
                <a:gd name="T67" fmla="*/ 149 h 199"/>
                <a:gd name="T68" fmla="*/ 5 w 875"/>
                <a:gd name="T69" fmla="*/ 139 h 199"/>
                <a:gd name="T70" fmla="*/ 5 w 875"/>
                <a:gd name="T71" fmla="*/ 127 h 199"/>
                <a:gd name="T72" fmla="*/ 4 w 875"/>
                <a:gd name="T73" fmla="*/ 117 h 199"/>
                <a:gd name="T74" fmla="*/ 0 w 875"/>
                <a:gd name="T75" fmla="*/ 11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75" h="199">
                  <a:moveTo>
                    <a:pt x="875" y="74"/>
                  </a:moveTo>
                  <a:lnTo>
                    <a:pt x="875" y="64"/>
                  </a:lnTo>
                  <a:lnTo>
                    <a:pt x="873" y="54"/>
                  </a:lnTo>
                  <a:lnTo>
                    <a:pt x="873" y="46"/>
                  </a:lnTo>
                  <a:lnTo>
                    <a:pt x="871" y="36"/>
                  </a:lnTo>
                  <a:lnTo>
                    <a:pt x="870" y="26"/>
                  </a:lnTo>
                  <a:lnTo>
                    <a:pt x="868" y="18"/>
                  </a:lnTo>
                  <a:lnTo>
                    <a:pt x="866" y="8"/>
                  </a:lnTo>
                  <a:lnTo>
                    <a:pt x="865" y="0"/>
                  </a:lnTo>
                  <a:lnTo>
                    <a:pt x="860" y="0"/>
                  </a:lnTo>
                  <a:lnTo>
                    <a:pt x="861" y="10"/>
                  </a:lnTo>
                  <a:lnTo>
                    <a:pt x="863" y="18"/>
                  </a:lnTo>
                  <a:lnTo>
                    <a:pt x="865" y="28"/>
                  </a:lnTo>
                  <a:lnTo>
                    <a:pt x="866" y="38"/>
                  </a:lnTo>
                  <a:lnTo>
                    <a:pt x="868" y="48"/>
                  </a:lnTo>
                  <a:lnTo>
                    <a:pt x="868" y="56"/>
                  </a:lnTo>
                  <a:lnTo>
                    <a:pt x="870" y="66"/>
                  </a:lnTo>
                  <a:lnTo>
                    <a:pt x="870" y="76"/>
                  </a:lnTo>
                  <a:lnTo>
                    <a:pt x="875" y="74"/>
                  </a:lnTo>
                  <a:close/>
                  <a:moveTo>
                    <a:pt x="0" y="119"/>
                  </a:moveTo>
                  <a:lnTo>
                    <a:pt x="0" y="131"/>
                  </a:lnTo>
                  <a:lnTo>
                    <a:pt x="0" y="141"/>
                  </a:lnTo>
                  <a:lnTo>
                    <a:pt x="2" y="151"/>
                  </a:lnTo>
                  <a:lnTo>
                    <a:pt x="4" y="160"/>
                  </a:lnTo>
                  <a:lnTo>
                    <a:pt x="5" y="169"/>
                  </a:lnTo>
                  <a:lnTo>
                    <a:pt x="7" y="179"/>
                  </a:lnTo>
                  <a:lnTo>
                    <a:pt x="8" y="189"/>
                  </a:lnTo>
                  <a:lnTo>
                    <a:pt x="10" y="199"/>
                  </a:lnTo>
                  <a:lnTo>
                    <a:pt x="15" y="199"/>
                  </a:lnTo>
                  <a:lnTo>
                    <a:pt x="13" y="189"/>
                  </a:lnTo>
                  <a:lnTo>
                    <a:pt x="12" y="179"/>
                  </a:lnTo>
                  <a:lnTo>
                    <a:pt x="10" y="169"/>
                  </a:lnTo>
                  <a:lnTo>
                    <a:pt x="8" y="159"/>
                  </a:lnTo>
                  <a:lnTo>
                    <a:pt x="7" y="149"/>
                  </a:lnTo>
                  <a:lnTo>
                    <a:pt x="5" y="139"/>
                  </a:lnTo>
                  <a:lnTo>
                    <a:pt x="5" y="127"/>
                  </a:lnTo>
                  <a:lnTo>
                    <a:pt x="4" y="117"/>
                  </a:lnTo>
                  <a:lnTo>
                    <a:pt x="0" y="119"/>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59" name="Freeform 99">
              <a:extLst>
                <a:ext uri="{FF2B5EF4-FFF2-40B4-BE49-F238E27FC236}">
                  <a16:creationId xmlns:a16="http://schemas.microsoft.com/office/drawing/2014/main" id="{7840CD26-FB38-5A7A-990D-AC0DBC487D20}"/>
                </a:ext>
              </a:extLst>
            </p:cNvPr>
            <p:cNvSpPr>
              <a:spLocks noEditPoints="1"/>
            </p:cNvSpPr>
            <p:nvPr/>
          </p:nvSpPr>
          <p:spPr bwMode="auto">
            <a:xfrm>
              <a:off x="1401" y="1514"/>
              <a:ext cx="871" cy="199"/>
            </a:xfrm>
            <a:custGeom>
              <a:avLst/>
              <a:gdLst>
                <a:gd name="T0" fmla="*/ 871 w 871"/>
                <a:gd name="T1" fmla="*/ 76 h 199"/>
                <a:gd name="T2" fmla="*/ 869 w 871"/>
                <a:gd name="T3" fmla="*/ 66 h 199"/>
                <a:gd name="T4" fmla="*/ 869 w 871"/>
                <a:gd name="T5" fmla="*/ 56 h 199"/>
                <a:gd name="T6" fmla="*/ 868 w 871"/>
                <a:gd name="T7" fmla="*/ 46 h 199"/>
                <a:gd name="T8" fmla="*/ 866 w 871"/>
                <a:gd name="T9" fmla="*/ 36 h 199"/>
                <a:gd name="T10" fmla="*/ 864 w 871"/>
                <a:gd name="T11" fmla="*/ 28 h 199"/>
                <a:gd name="T12" fmla="*/ 863 w 871"/>
                <a:gd name="T13" fmla="*/ 18 h 199"/>
                <a:gd name="T14" fmla="*/ 861 w 871"/>
                <a:gd name="T15" fmla="*/ 8 h 199"/>
                <a:gd name="T16" fmla="*/ 859 w 871"/>
                <a:gd name="T17" fmla="*/ 0 h 199"/>
                <a:gd name="T18" fmla="*/ 854 w 871"/>
                <a:gd name="T19" fmla="*/ 0 h 199"/>
                <a:gd name="T20" fmla="*/ 856 w 871"/>
                <a:gd name="T21" fmla="*/ 10 h 199"/>
                <a:gd name="T22" fmla="*/ 859 w 871"/>
                <a:gd name="T23" fmla="*/ 18 h 199"/>
                <a:gd name="T24" fmla="*/ 861 w 871"/>
                <a:gd name="T25" fmla="*/ 28 h 199"/>
                <a:gd name="T26" fmla="*/ 863 w 871"/>
                <a:gd name="T27" fmla="*/ 38 h 199"/>
                <a:gd name="T28" fmla="*/ 863 w 871"/>
                <a:gd name="T29" fmla="*/ 48 h 199"/>
                <a:gd name="T30" fmla="*/ 864 w 871"/>
                <a:gd name="T31" fmla="*/ 58 h 199"/>
                <a:gd name="T32" fmla="*/ 864 w 871"/>
                <a:gd name="T33" fmla="*/ 68 h 199"/>
                <a:gd name="T34" fmla="*/ 866 w 871"/>
                <a:gd name="T35" fmla="*/ 78 h 199"/>
                <a:gd name="T36" fmla="*/ 871 w 871"/>
                <a:gd name="T37" fmla="*/ 76 h 199"/>
                <a:gd name="T38" fmla="*/ 0 w 871"/>
                <a:gd name="T39" fmla="*/ 119 h 199"/>
                <a:gd name="T40" fmla="*/ 0 w 871"/>
                <a:gd name="T41" fmla="*/ 129 h 199"/>
                <a:gd name="T42" fmla="*/ 2 w 871"/>
                <a:gd name="T43" fmla="*/ 139 h 199"/>
                <a:gd name="T44" fmla="*/ 2 w 871"/>
                <a:gd name="T45" fmla="*/ 149 h 199"/>
                <a:gd name="T46" fmla="*/ 3 w 871"/>
                <a:gd name="T47" fmla="*/ 159 h 199"/>
                <a:gd name="T48" fmla="*/ 5 w 871"/>
                <a:gd name="T49" fmla="*/ 169 h 199"/>
                <a:gd name="T50" fmla="*/ 6 w 871"/>
                <a:gd name="T51" fmla="*/ 179 h 199"/>
                <a:gd name="T52" fmla="*/ 8 w 871"/>
                <a:gd name="T53" fmla="*/ 189 h 199"/>
                <a:gd name="T54" fmla="*/ 11 w 871"/>
                <a:gd name="T55" fmla="*/ 199 h 199"/>
                <a:gd name="T56" fmla="*/ 16 w 871"/>
                <a:gd name="T57" fmla="*/ 199 h 199"/>
                <a:gd name="T58" fmla="*/ 13 w 871"/>
                <a:gd name="T59" fmla="*/ 189 h 199"/>
                <a:gd name="T60" fmla="*/ 11 w 871"/>
                <a:gd name="T61" fmla="*/ 179 h 199"/>
                <a:gd name="T62" fmla="*/ 10 w 871"/>
                <a:gd name="T63" fmla="*/ 169 h 199"/>
                <a:gd name="T64" fmla="*/ 8 w 871"/>
                <a:gd name="T65" fmla="*/ 159 h 199"/>
                <a:gd name="T66" fmla="*/ 6 w 871"/>
                <a:gd name="T67" fmla="*/ 147 h 199"/>
                <a:gd name="T68" fmla="*/ 6 w 871"/>
                <a:gd name="T69" fmla="*/ 137 h 199"/>
                <a:gd name="T70" fmla="*/ 5 w 871"/>
                <a:gd name="T71" fmla="*/ 127 h 199"/>
                <a:gd name="T72" fmla="*/ 5 w 871"/>
                <a:gd name="T73" fmla="*/ 116 h 199"/>
                <a:gd name="T74" fmla="*/ 0 w 871"/>
                <a:gd name="T75" fmla="*/ 11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71" h="199">
                  <a:moveTo>
                    <a:pt x="871" y="76"/>
                  </a:moveTo>
                  <a:lnTo>
                    <a:pt x="869" y="66"/>
                  </a:lnTo>
                  <a:lnTo>
                    <a:pt x="869" y="56"/>
                  </a:lnTo>
                  <a:lnTo>
                    <a:pt x="868" y="46"/>
                  </a:lnTo>
                  <a:lnTo>
                    <a:pt x="866" y="36"/>
                  </a:lnTo>
                  <a:lnTo>
                    <a:pt x="864" y="28"/>
                  </a:lnTo>
                  <a:lnTo>
                    <a:pt x="863" y="18"/>
                  </a:lnTo>
                  <a:lnTo>
                    <a:pt x="861" y="8"/>
                  </a:lnTo>
                  <a:lnTo>
                    <a:pt x="859" y="0"/>
                  </a:lnTo>
                  <a:lnTo>
                    <a:pt x="854" y="0"/>
                  </a:lnTo>
                  <a:lnTo>
                    <a:pt x="856" y="10"/>
                  </a:lnTo>
                  <a:lnTo>
                    <a:pt x="859" y="18"/>
                  </a:lnTo>
                  <a:lnTo>
                    <a:pt x="861" y="28"/>
                  </a:lnTo>
                  <a:lnTo>
                    <a:pt x="863" y="38"/>
                  </a:lnTo>
                  <a:lnTo>
                    <a:pt x="863" y="48"/>
                  </a:lnTo>
                  <a:lnTo>
                    <a:pt x="864" y="58"/>
                  </a:lnTo>
                  <a:lnTo>
                    <a:pt x="864" y="68"/>
                  </a:lnTo>
                  <a:lnTo>
                    <a:pt x="866" y="78"/>
                  </a:lnTo>
                  <a:lnTo>
                    <a:pt x="871" y="76"/>
                  </a:lnTo>
                  <a:close/>
                  <a:moveTo>
                    <a:pt x="0" y="119"/>
                  </a:moveTo>
                  <a:lnTo>
                    <a:pt x="0" y="129"/>
                  </a:lnTo>
                  <a:lnTo>
                    <a:pt x="2" y="139"/>
                  </a:lnTo>
                  <a:lnTo>
                    <a:pt x="2" y="149"/>
                  </a:lnTo>
                  <a:lnTo>
                    <a:pt x="3" y="159"/>
                  </a:lnTo>
                  <a:lnTo>
                    <a:pt x="5" y="169"/>
                  </a:lnTo>
                  <a:lnTo>
                    <a:pt x="6" y="179"/>
                  </a:lnTo>
                  <a:lnTo>
                    <a:pt x="8" y="189"/>
                  </a:lnTo>
                  <a:lnTo>
                    <a:pt x="11" y="199"/>
                  </a:lnTo>
                  <a:lnTo>
                    <a:pt x="16" y="199"/>
                  </a:lnTo>
                  <a:lnTo>
                    <a:pt x="13" y="189"/>
                  </a:lnTo>
                  <a:lnTo>
                    <a:pt x="11" y="179"/>
                  </a:lnTo>
                  <a:lnTo>
                    <a:pt x="10" y="169"/>
                  </a:lnTo>
                  <a:lnTo>
                    <a:pt x="8" y="159"/>
                  </a:lnTo>
                  <a:lnTo>
                    <a:pt x="6" y="147"/>
                  </a:lnTo>
                  <a:lnTo>
                    <a:pt x="6" y="137"/>
                  </a:lnTo>
                  <a:lnTo>
                    <a:pt x="5" y="127"/>
                  </a:lnTo>
                  <a:lnTo>
                    <a:pt x="5" y="116"/>
                  </a:lnTo>
                  <a:lnTo>
                    <a:pt x="0" y="119"/>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60" name="Freeform 100">
              <a:extLst>
                <a:ext uri="{FF2B5EF4-FFF2-40B4-BE49-F238E27FC236}">
                  <a16:creationId xmlns:a16="http://schemas.microsoft.com/office/drawing/2014/main" id="{56D793DB-CD86-8043-585E-4FBF2D4A8D31}"/>
                </a:ext>
              </a:extLst>
            </p:cNvPr>
            <p:cNvSpPr>
              <a:spLocks noEditPoints="1"/>
            </p:cNvSpPr>
            <p:nvPr/>
          </p:nvSpPr>
          <p:spPr bwMode="auto">
            <a:xfrm>
              <a:off x="1403" y="1514"/>
              <a:ext cx="866" cy="199"/>
            </a:xfrm>
            <a:custGeom>
              <a:avLst/>
              <a:gdLst>
                <a:gd name="T0" fmla="*/ 866 w 866"/>
                <a:gd name="T1" fmla="*/ 76 h 199"/>
                <a:gd name="T2" fmla="*/ 866 w 866"/>
                <a:gd name="T3" fmla="*/ 66 h 199"/>
                <a:gd name="T4" fmla="*/ 864 w 866"/>
                <a:gd name="T5" fmla="*/ 56 h 199"/>
                <a:gd name="T6" fmla="*/ 864 w 866"/>
                <a:gd name="T7" fmla="*/ 48 h 199"/>
                <a:gd name="T8" fmla="*/ 862 w 866"/>
                <a:gd name="T9" fmla="*/ 38 h 199"/>
                <a:gd name="T10" fmla="*/ 861 w 866"/>
                <a:gd name="T11" fmla="*/ 28 h 199"/>
                <a:gd name="T12" fmla="*/ 859 w 866"/>
                <a:gd name="T13" fmla="*/ 18 h 199"/>
                <a:gd name="T14" fmla="*/ 857 w 866"/>
                <a:gd name="T15" fmla="*/ 10 h 199"/>
                <a:gd name="T16" fmla="*/ 856 w 866"/>
                <a:gd name="T17" fmla="*/ 0 h 199"/>
                <a:gd name="T18" fmla="*/ 851 w 866"/>
                <a:gd name="T19" fmla="*/ 0 h 199"/>
                <a:gd name="T20" fmla="*/ 852 w 866"/>
                <a:gd name="T21" fmla="*/ 10 h 199"/>
                <a:gd name="T22" fmla="*/ 854 w 866"/>
                <a:gd name="T23" fmla="*/ 20 h 199"/>
                <a:gd name="T24" fmla="*/ 856 w 866"/>
                <a:gd name="T25" fmla="*/ 28 h 199"/>
                <a:gd name="T26" fmla="*/ 857 w 866"/>
                <a:gd name="T27" fmla="*/ 38 h 199"/>
                <a:gd name="T28" fmla="*/ 859 w 866"/>
                <a:gd name="T29" fmla="*/ 48 h 199"/>
                <a:gd name="T30" fmla="*/ 861 w 866"/>
                <a:gd name="T31" fmla="*/ 58 h 199"/>
                <a:gd name="T32" fmla="*/ 861 w 866"/>
                <a:gd name="T33" fmla="*/ 68 h 199"/>
                <a:gd name="T34" fmla="*/ 861 w 866"/>
                <a:gd name="T35" fmla="*/ 78 h 199"/>
                <a:gd name="T36" fmla="*/ 866 w 866"/>
                <a:gd name="T37" fmla="*/ 76 h 199"/>
                <a:gd name="T38" fmla="*/ 0 w 866"/>
                <a:gd name="T39" fmla="*/ 117 h 199"/>
                <a:gd name="T40" fmla="*/ 1 w 866"/>
                <a:gd name="T41" fmla="*/ 127 h 199"/>
                <a:gd name="T42" fmla="*/ 1 w 866"/>
                <a:gd name="T43" fmla="*/ 139 h 199"/>
                <a:gd name="T44" fmla="*/ 3 w 866"/>
                <a:gd name="T45" fmla="*/ 149 h 199"/>
                <a:gd name="T46" fmla="*/ 4 w 866"/>
                <a:gd name="T47" fmla="*/ 159 h 199"/>
                <a:gd name="T48" fmla="*/ 6 w 866"/>
                <a:gd name="T49" fmla="*/ 169 h 199"/>
                <a:gd name="T50" fmla="*/ 8 w 866"/>
                <a:gd name="T51" fmla="*/ 179 h 199"/>
                <a:gd name="T52" fmla="*/ 9 w 866"/>
                <a:gd name="T53" fmla="*/ 189 h 199"/>
                <a:gd name="T54" fmla="*/ 11 w 866"/>
                <a:gd name="T55" fmla="*/ 199 h 199"/>
                <a:gd name="T56" fmla="*/ 16 w 866"/>
                <a:gd name="T57" fmla="*/ 199 h 199"/>
                <a:gd name="T58" fmla="*/ 14 w 866"/>
                <a:gd name="T59" fmla="*/ 189 h 199"/>
                <a:gd name="T60" fmla="*/ 11 w 866"/>
                <a:gd name="T61" fmla="*/ 179 h 199"/>
                <a:gd name="T62" fmla="*/ 9 w 866"/>
                <a:gd name="T63" fmla="*/ 167 h 199"/>
                <a:gd name="T64" fmla="*/ 8 w 866"/>
                <a:gd name="T65" fmla="*/ 157 h 199"/>
                <a:gd name="T66" fmla="*/ 8 w 866"/>
                <a:gd name="T67" fmla="*/ 147 h 199"/>
                <a:gd name="T68" fmla="*/ 6 w 866"/>
                <a:gd name="T69" fmla="*/ 137 h 199"/>
                <a:gd name="T70" fmla="*/ 6 w 866"/>
                <a:gd name="T71" fmla="*/ 126 h 199"/>
                <a:gd name="T72" fmla="*/ 4 w 866"/>
                <a:gd name="T73" fmla="*/ 116 h 199"/>
                <a:gd name="T74" fmla="*/ 0 w 866"/>
                <a:gd name="T75" fmla="*/ 11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66" h="199">
                  <a:moveTo>
                    <a:pt x="866" y="76"/>
                  </a:moveTo>
                  <a:lnTo>
                    <a:pt x="866" y="66"/>
                  </a:lnTo>
                  <a:lnTo>
                    <a:pt x="864" y="56"/>
                  </a:lnTo>
                  <a:lnTo>
                    <a:pt x="864" y="48"/>
                  </a:lnTo>
                  <a:lnTo>
                    <a:pt x="862" y="38"/>
                  </a:lnTo>
                  <a:lnTo>
                    <a:pt x="861" y="28"/>
                  </a:lnTo>
                  <a:lnTo>
                    <a:pt x="859" y="18"/>
                  </a:lnTo>
                  <a:lnTo>
                    <a:pt x="857" y="10"/>
                  </a:lnTo>
                  <a:lnTo>
                    <a:pt x="856" y="0"/>
                  </a:lnTo>
                  <a:lnTo>
                    <a:pt x="851" y="0"/>
                  </a:lnTo>
                  <a:lnTo>
                    <a:pt x="852" y="10"/>
                  </a:lnTo>
                  <a:lnTo>
                    <a:pt x="854" y="20"/>
                  </a:lnTo>
                  <a:lnTo>
                    <a:pt x="856" y="28"/>
                  </a:lnTo>
                  <a:lnTo>
                    <a:pt x="857" y="38"/>
                  </a:lnTo>
                  <a:lnTo>
                    <a:pt x="859" y="48"/>
                  </a:lnTo>
                  <a:lnTo>
                    <a:pt x="861" y="58"/>
                  </a:lnTo>
                  <a:lnTo>
                    <a:pt x="861" y="68"/>
                  </a:lnTo>
                  <a:lnTo>
                    <a:pt x="861" y="78"/>
                  </a:lnTo>
                  <a:lnTo>
                    <a:pt x="866" y="76"/>
                  </a:lnTo>
                  <a:close/>
                  <a:moveTo>
                    <a:pt x="0" y="117"/>
                  </a:moveTo>
                  <a:lnTo>
                    <a:pt x="1" y="127"/>
                  </a:lnTo>
                  <a:lnTo>
                    <a:pt x="1" y="139"/>
                  </a:lnTo>
                  <a:lnTo>
                    <a:pt x="3" y="149"/>
                  </a:lnTo>
                  <a:lnTo>
                    <a:pt x="4" y="159"/>
                  </a:lnTo>
                  <a:lnTo>
                    <a:pt x="6" y="169"/>
                  </a:lnTo>
                  <a:lnTo>
                    <a:pt x="8" y="179"/>
                  </a:lnTo>
                  <a:lnTo>
                    <a:pt x="9" y="189"/>
                  </a:lnTo>
                  <a:lnTo>
                    <a:pt x="11" y="199"/>
                  </a:lnTo>
                  <a:lnTo>
                    <a:pt x="16" y="199"/>
                  </a:lnTo>
                  <a:lnTo>
                    <a:pt x="14" y="189"/>
                  </a:lnTo>
                  <a:lnTo>
                    <a:pt x="11" y="179"/>
                  </a:lnTo>
                  <a:lnTo>
                    <a:pt x="9" y="167"/>
                  </a:lnTo>
                  <a:lnTo>
                    <a:pt x="8" y="157"/>
                  </a:lnTo>
                  <a:lnTo>
                    <a:pt x="8" y="147"/>
                  </a:lnTo>
                  <a:lnTo>
                    <a:pt x="6" y="137"/>
                  </a:lnTo>
                  <a:lnTo>
                    <a:pt x="6" y="126"/>
                  </a:lnTo>
                  <a:lnTo>
                    <a:pt x="4" y="116"/>
                  </a:lnTo>
                  <a:lnTo>
                    <a:pt x="0" y="117"/>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61" name="Freeform 101">
              <a:extLst>
                <a:ext uri="{FF2B5EF4-FFF2-40B4-BE49-F238E27FC236}">
                  <a16:creationId xmlns:a16="http://schemas.microsoft.com/office/drawing/2014/main" id="{CC2A6EEF-051B-136C-0A59-7B94D5BFE47E}"/>
                </a:ext>
              </a:extLst>
            </p:cNvPr>
            <p:cNvSpPr>
              <a:spLocks noEditPoints="1"/>
            </p:cNvSpPr>
            <p:nvPr/>
          </p:nvSpPr>
          <p:spPr bwMode="auto">
            <a:xfrm>
              <a:off x="1406" y="1514"/>
              <a:ext cx="861" cy="199"/>
            </a:xfrm>
            <a:custGeom>
              <a:avLst/>
              <a:gdLst>
                <a:gd name="T0" fmla="*/ 861 w 861"/>
                <a:gd name="T1" fmla="*/ 78 h 199"/>
                <a:gd name="T2" fmla="*/ 859 w 861"/>
                <a:gd name="T3" fmla="*/ 68 h 199"/>
                <a:gd name="T4" fmla="*/ 859 w 861"/>
                <a:gd name="T5" fmla="*/ 58 h 199"/>
                <a:gd name="T6" fmla="*/ 858 w 861"/>
                <a:gd name="T7" fmla="*/ 48 h 199"/>
                <a:gd name="T8" fmla="*/ 858 w 861"/>
                <a:gd name="T9" fmla="*/ 38 h 199"/>
                <a:gd name="T10" fmla="*/ 856 w 861"/>
                <a:gd name="T11" fmla="*/ 28 h 199"/>
                <a:gd name="T12" fmla="*/ 854 w 861"/>
                <a:gd name="T13" fmla="*/ 18 h 199"/>
                <a:gd name="T14" fmla="*/ 851 w 861"/>
                <a:gd name="T15" fmla="*/ 10 h 199"/>
                <a:gd name="T16" fmla="*/ 849 w 861"/>
                <a:gd name="T17" fmla="*/ 0 h 199"/>
                <a:gd name="T18" fmla="*/ 844 w 861"/>
                <a:gd name="T19" fmla="*/ 0 h 199"/>
                <a:gd name="T20" fmla="*/ 848 w 861"/>
                <a:gd name="T21" fmla="*/ 10 h 199"/>
                <a:gd name="T22" fmla="*/ 849 w 861"/>
                <a:gd name="T23" fmla="*/ 20 h 199"/>
                <a:gd name="T24" fmla="*/ 851 w 861"/>
                <a:gd name="T25" fmla="*/ 30 h 199"/>
                <a:gd name="T26" fmla="*/ 853 w 861"/>
                <a:gd name="T27" fmla="*/ 40 h 199"/>
                <a:gd name="T28" fmla="*/ 853 w 861"/>
                <a:gd name="T29" fmla="*/ 50 h 199"/>
                <a:gd name="T30" fmla="*/ 854 w 861"/>
                <a:gd name="T31" fmla="*/ 59 h 199"/>
                <a:gd name="T32" fmla="*/ 856 w 861"/>
                <a:gd name="T33" fmla="*/ 69 h 199"/>
                <a:gd name="T34" fmla="*/ 856 w 861"/>
                <a:gd name="T35" fmla="*/ 79 h 199"/>
                <a:gd name="T36" fmla="*/ 861 w 861"/>
                <a:gd name="T37" fmla="*/ 78 h 199"/>
                <a:gd name="T38" fmla="*/ 0 w 861"/>
                <a:gd name="T39" fmla="*/ 116 h 199"/>
                <a:gd name="T40" fmla="*/ 0 w 861"/>
                <a:gd name="T41" fmla="*/ 127 h 199"/>
                <a:gd name="T42" fmla="*/ 1 w 861"/>
                <a:gd name="T43" fmla="*/ 137 h 199"/>
                <a:gd name="T44" fmla="*/ 1 w 861"/>
                <a:gd name="T45" fmla="*/ 147 h 199"/>
                <a:gd name="T46" fmla="*/ 3 w 861"/>
                <a:gd name="T47" fmla="*/ 159 h 199"/>
                <a:gd name="T48" fmla="*/ 5 w 861"/>
                <a:gd name="T49" fmla="*/ 169 h 199"/>
                <a:gd name="T50" fmla="*/ 6 w 861"/>
                <a:gd name="T51" fmla="*/ 179 h 199"/>
                <a:gd name="T52" fmla="*/ 8 w 861"/>
                <a:gd name="T53" fmla="*/ 189 h 199"/>
                <a:gd name="T54" fmla="*/ 11 w 861"/>
                <a:gd name="T55" fmla="*/ 199 h 199"/>
                <a:gd name="T56" fmla="*/ 16 w 861"/>
                <a:gd name="T57" fmla="*/ 199 h 199"/>
                <a:gd name="T58" fmla="*/ 13 w 861"/>
                <a:gd name="T59" fmla="*/ 189 h 199"/>
                <a:gd name="T60" fmla="*/ 11 w 861"/>
                <a:gd name="T61" fmla="*/ 179 h 199"/>
                <a:gd name="T62" fmla="*/ 10 w 861"/>
                <a:gd name="T63" fmla="*/ 167 h 199"/>
                <a:gd name="T64" fmla="*/ 8 w 861"/>
                <a:gd name="T65" fmla="*/ 157 h 199"/>
                <a:gd name="T66" fmla="*/ 6 w 861"/>
                <a:gd name="T67" fmla="*/ 147 h 199"/>
                <a:gd name="T68" fmla="*/ 5 w 861"/>
                <a:gd name="T69" fmla="*/ 136 h 199"/>
                <a:gd name="T70" fmla="*/ 5 w 861"/>
                <a:gd name="T71" fmla="*/ 126 h 199"/>
                <a:gd name="T72" fmla="*/ 5 w 861"/>
                <a:gd name="T73" fmla="*/ 114 h 199"/>
                <a:gd name="T74" fmla="*/ 0 w 861"/>
                <a:gd name="T75" fmla="*/ 11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61" h="199">
                  <a:moveTo>
                    <a:pt x="861" y="78"/>
                  </a:moveTo>
                  <a:lnTo>
                    <a:pt x="859" y="68"/>
                  </a:lnTo>
                  <a:lnTo>
                    <a:pt x="859" y="58"/>
                  </a:lnTo>
                  <a:lnTo>
                    <a:pt x="858" y="48"/>
                  </a:lnTo>
                  <a:lnTo>
                    <a:pt x="858" y="38"/>
                  </a:lnTo>
                  <a:lnTo>
                    <a:pt x="856" y="28"/>
                  </a:lnTo>
                  <a:lnTo>
                    <a:pt x="854" y="18"/>
                  </a:lnTo>
                  <a:lnTo>
                    <a:pt x="851" y="10"/>
                  </a:lnTo>
                  <a:lnTo>
                    <a:pt x="849" y="0"/>
                  </a:lnTo>
                  <a:lnTo>
                    <a:pt x="844" y="0"/>
                  </a:lnTo>
                  <a:lnTo>
                    <a:pt x="848" y="10"/>
                  </a:lnTo>
                  <a:lnTo>
                    <a:pt x="849" y="20"/>
                  </a:lnTo>
                  <a:lnTo>
                    <a:pt x="851" y="30"/>
                  </a:lnTo>
                  <a:lnTo>
                    <a:pt x="853" y="40"/>
                  </a:lnTo>
                  <a:lnTo>
                    <a:pt x="853" y="50"/>
                  </a:lnTo>
                  <a:lnTo>
                    <a:pt x="854" y="59"/>
                  </a:lnTo>
                  <a:lnTo>
                    <a:pt x="856" y="69"/>
                  </a:lnTo>
                  <a:lnTo>
                    <a:pt x="856" y="79"/>
                  </a:lnTo>
                  <a:lnTo>
                    <a:pt x="861" y="78"/>
                  </a:lnTo>
                  <a:close/>
                  <a:moveTo>
                    <a:pt x="0" y="116"/>
                  </a:moveTo>
                  <a:lnTo>
                    <a:pt x="0" y="127"/>
                  </a:lnTo>
                  <a:lnTo>
                    <a:pt x="1" y="137"/>
                  </a:lnTo>
                  <a:lnTo>
                    <a:pt x="1" y="147"/>
                  </a:lnTo>
                  <a:lnTo>
                    <a:pt x="3" y="159"/>
                  </a:lnTo>
                  <a:lnTo>
                    <a:pt x="5" y="169"/>
                  </a:lnTo>
                  <a:lnTo>
                    <a:pt x="6" y="179"/>
                  </a:lnTo>
                  <a:lnTo>
                    <a:pt x="8" y="189"/>
                  </a:lnTo>
                  <a:lnTo>
                    <a:pt x="11" y="199"/>
                  </a:lnTo>
                  <a:lnTo>
                    <a:pt x="16" y="199"/>
                  </a:lnTo>
                  <a:lnTo>
                    <a:pt x="13" y="189"/>
                  </a:lnTo>
                  <a:lnTo>
                    <a:pt x="11" y="179"/>
                  </a:lnTo>
                  <a:lnTo>
                    <a:pt x="10" y="167"/>
                  </a:lnTo>
                  <a:lnTo>
                    <a:pt x="8" y="157"/>
                  </a:lnTo>
                  <a:lnTo>
                    <a:pt x="6" y="147"/>
                  </a:lnTo>
                  <a:lnTo>
                    <a:pt x="5" y="136"/>
                  </a:lnTo>
                  <a:lnTo>
                    <a:pt x="5" y="126"/>
                  </a:lnTo>
                  <a:lnTo>
                    <a:pt x="5" y="114"/>
                  </a:lnTo>
                  <a:lnTo>
                    <a:pt x="0" y="116"/>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62" name="Freeform 102">
              <a:extLst>
                <a:ext uri="{FF2B5EF4-FFF2-40B4-BE49-F238E27FC236}">
                  <a16:creationId xmlns:a16="http://schemas.microsoft.com/office/drawing/2014/main" id="{1D970637-C423-F2CA-2527-120D6C8681D2}"/>
                </a:ext>
              </a:extLst>
            </p:cNvPr>
            <p:cNvSpPr>
              <a:spLocks noEditPoints="1"/>
            </p:cNvSpPr>
            <p:nvPr/>
          </p:nvSpPr>
          <p:spPr bwMode="auto">
            <a:xfrm>
              <a:off x="1407" y="1514"/>
              <a:ext cx="857" cy="199"/>
            </a:xfrm>
            <a:custGeom>
              <a:avLst/>
              <a:gdLst>
                <a:gd name="T0" fmla="*/ 857 w 857"/>
                <a:gd name="T1" fmla="*/ 78 h 199"/>
                <a:gd name="T2" fmla="*/ 857 w 857"/>
                <a:gd name="T3" fmla="*/ 68 h 199"/>
                <a:gd name="T4" fmla="*/ 857 w 857"/>
                <a:gd name="T5" fmla="*/ 58 h 199"/>
                <a:gd name="T6" fmla="*/ 855 w 857"/>
                <a:gd name="T7" fmla="*/ 48 h 199"/>
                <a:gd name="T8" fmla="*/ 853 w 857"/>
                <a:gd name="T9" fmla="*/ 38 h 199"/>
                <a:gd name="T10" fmla="*/ 852 w 857"/>
                <a:gd name="T11" fmla="*/ 28 h 199"/>
                <a:gd name="T12" fmla="*/ 850 w 857"/>
                <a:gd name="T13" fmla="*/ 20 h 199"/>
                <a:gd name="T14" fmla="*/ 848 w 857"/>
                <a:gd name="T15" fmla="*/ 10 h 199"/>
                <a:gd name="T16" fmla="*/ 847 w 857"/>
                <a:gd name="T17" fmla="*/ 0 h 199"/>
                <a:gd name="T18" fmla="*/ 842 w 857"/>
                <a:gd name="T19" fmla="*/ 0 h 199"/>
                <a:gd name="T20" fmla="*/ 843 w 857"/>
                <a:gd name="T21" fmla="*/ 10 h 199"/>
                <a:gd name="T22" fmla="*/ 845 w 857"/>
                <a:gd name="T23" fmla="*/ 20 h 199"/>
                <a:gd name="T24" fmla="*/ 847 w 857"/>
                <a:gd name="T25" fmla="*/ 30 h 199"/>
                <a:gd name="T26" fmla="*/ 848 w 857"/>
                <a:gd name="T27" fmla="*/ 40 h 199"/>
                <a:gd name="T28" fmla="*/ 850 w 857"/>
                <a:gd name="T29" fmla="*/ 50 h 199"/>
                <a:gd name="T30" fmla="*/ 852 w 857"/>
                <a:gd name="T31" fmla="*/ 59 h 199"/>
                <a:gd name="T32" fmla="*/ 852 w 857"/>
                <a:gd name="T33" fmla="*/ 69 h 199"/>
                <a:gd name="T34" fmla="*/ 853 w 857"/>
                <a:gd name="T35" fmla="*/ 81 h 199"/>
                <a:gd name="T36" fmla="*/ 857 w 857"/>
                <a:gd name="T37" fmla="*/ 78 h 199"/>
                <a:gd name="T38" fmla="*/ 0 w 857"/>
                <a:gd name="T39" fmla="*/ 116 h 199"/>
                <a:gd name="T40" fmla="*/ 2 w 857"/>
                <a:gd name="T41" fmla="*/ 126 h 199"/>
                <a:gd name="T42" fmla="*/ 2 w 857"/>
                <a:gd name="T43" fmla="*/ 137 h 199"/>
                <a:gd name="T44" fmla="*/ 4 w 857"/>
                <a:gd name="T45" fmla="*/ 147 h 199"/>
                <a:gd name="T46" fmla="*/ 4 w 857"/>
                <a:gd name="T47" fmla="*/ 157 h 199"/>
                <a:gd name="T48" fmla="*/ 5 w 857"/>
                <a:gd name="T49" fmla="*/ 167 h 199"/>
                <a:gd name="T50" fmla="*/ 7 w 857"/>
                <a:gd name="T51" fmla="*/ 179 h 199"/>
                <a:gd name="T52" fmla="*/ 10 w 857"/>
                <a:gd name="T53" fmla="*/ 189 h 199"/>
                <a:gd name="T54" fmla="*/ 12 w 857"/>
                <a:gd name="T55" fmla="*/ 199 h 199"/>
                <a:gd name="T56" fmla="*/ 17 w 857"/>
                <a:gd name="T57" fmla="*/ 199 h 199"/>
                <a:gd name="T58" fmla="*/ 15 w 857"/>
                <a:gd name="T59" fmla="*/ 189 h 199"/>
                <a:gd name="T60" fmla="*/ 12 w 857"/>
                <a:gd name="T61" fmla="*/ 177 h 199"/>
                <a:gd name="T62" fmla="*/ 10 w 857"/>
                <a:gd name="T63" fmla="*/ 167 h 199"/>
                <a:gd name="T64" fmla="*/ 9 w 857"/>
                <a:gd name="T65" fmla="*/ 157 h 199"/>
                <a:gd name="T66" fmla="*/ 7 w 857"/>
                <a:gd name="T67" fmla="*/ 146 h 199"/>
                <a:gd name="T68" fmla="*/ 7 w 857"/>
                <a:gd name="T69" fmla="*/ 136 h 199"/>
                <a:gd name="T70" fmla="*/ 5 w 857"/>
                <a:gd name="T71" fmla="*/ 124 h 199"/>
                <a:gd name="T72" fmla="*/ 5 w 857"/>
                <a:gd name="T73" fmla="*/ 112 h 199"/>
                <a:gd name="T74" fmla="*/ 0 w 857"/>
                <a:gd name="T75" fmla="*/ 11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57" h="199">
                  <a:moveTo>
                    <a:pt x="857" y="78"/>
                  </a:moveTo>
                  <a:lnTo>
                    <a:pt x="857" y="68"/>
                  </a:lnTo>
                  <a:lnTo>
                    <a:pt x="857" y="58"/>
                  </a:lnTo>
                  <a:lnTo>
                    <a:pt x="855" y="48"/>
                  </a:lnTo>
                  <a:lnTo>
                    <a:pt x="853" y="38"/>
                  </a:lnTo>
                  <a:lnTo>
                    <a:pt x="852" y="28"/>
                  </a:lnTo>
                  <a:lnTo>
                    <a:pt x="850" y="20"/>
                  </a:lnTo>
                  <a:lnTo>
                    <a:pt x="848" y="10"/>
                  </a:lnTo>
                  <a:lnTo>
                    <a:pt x="847" y="0"/>
                  </a:lnTo>
                  <a:lnTo>
                    <a:pt x="842" y="0"/>
                  </a:lnTo>
                  <a:lnTo>
                    <a:pt x="843" y="10"/>
                  </a:lnTo>
                  <a:lnTo>
                    <a:pt x="845" y="20"/>
                  </a:lnTo>
                  <a:lnTo>
                    <a:pt x="847" y="30"/>
                  </a:lnTo>
                  <a:lnTo>
                    <a:pt x="848" y="40"/>
                  </a:lnTo>
                  <a:lnTo>
                    <a:pt x="850" y="50"/>
                  </a:lnTo>
                  <a:lnTo>
                    <a:pt x="852" y="59"/>
                  </a:lnTo>
                  <a:lnTo>
                    <a:pt x="852" y="69"/>
                  </a:lnTo>
                  <a:lnTo>
                    <a:pt x="853" y="81"/>
                  </a:lnTo>
                  <a:lnTo>
                    <a:pt x="857" y="78"/>
                  </a:lnTo>
                  <a:close/>
                  <a:moveTo>
                    <a:pt x="0" y="116"/>
                  </a:moveTo>
                  <a:lnTo>
                    <a:pt x="2" y="126"/>
                  </a:lnTo>
                  <a:lnTo>
                    <a:pt x="2" y="137"/>
                  </a:lnTo>
                  <a:lnTo>
                    <a:pt x="4" y="147"/>
                  </a:lnTo>
                  <a:lnTo>
                    <a:pt x="4" y="157"/>
                  </a:lnTo>
                  <a:lnTo>
                    <a:pt x="5" y="167"/>
                  </a:lnTo>
                  <a:lnTo>
                    <a:pt x="7" y="179"/>
                  </a:lnTo>
                  <a:lnTo>
                    <a:pt x="10" y="189"/>
                  </a:lnTo>
                  <a:lnTo>
                    <a:pt x="12" y="199"/>
                  </a:lnTo>
                  <a:lnTo>
                    <a:pt x="17" y="199"/>
                  </a:lnTo>
                  <a:lnTo>
                    <a:pt x="15" y="189"/>
                  </a:lnTo>
                  <a:lnTo>
                    <a:pt x="12" y="177"/>
                  </a:lnTo>
                  <a:lnTo>
                    <a:pt x="10" y="167"/>
                  </a:lnTo>
                  <a:lnTo>
                    <a:pt x="9" y="157"/>
                  </a:lnTo>
                  <a:lnTo>
                    <a:pt x="7" y="146"/>
                  </a:lnTo>
                  <a:lnTo>
                    <a:pt x="7" y="136"/>
                  </a:lnTo>
                  <a:lnTo>
                    <a:pt x="5" y="124"/>
                  </a:lnTo>
                  <a:lnTo>
                    <a:pt x="5" y="112"/>
                  </a:lnTo>
                  <a:lnTo>
                    <a:pt x="0" y="116"/>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63" name="Freeform 103">
              <a:extLst>
                <a:ext uri="{FF2B5EF4-FFF2-40B4-BE49-F238E27FC236}">
                  <a16:creationId xmlns:a16="http://schemas.microsoft.com/office/drawing/2014/main" id="{F7ABFD21-F4CC-5696-4050-5CE09BBC8C6A}"/>
                </a:ext>
              </a:extLst>
            </p:cNvPr>
            <p:cNvSpPr>
              <a:spLocks noEditPoints="1"/>
            </p:cNvSpPr>
            <p:nvPr/>
          </p:nvSpPr>
          <p:spPr bwMode="auto">
            <a:xfrm>
              <a:off x="1411" y="1514"/>
              <a:ext cx="851" cy="199"/>
            </a:xfrm>
            <a:custGeom>
              <a:avLst/>
              <a:gdLst>
                <a:gd name="T0" fmla="*/ 851 w 851"/>
                <a:gd name="T1" fmla="*/ 79 h 199"/>
                <a:gd name="T2" fmla="*/ 851 w 851"/>
                <a:gd name="T3" fmla="*/ 69 h 199"/>
                <a:gd name="T4" fmla="*/ 849 w 851"/>
                <a:gd name="T5" fmla="*/ 59 h 199"/>
                <a:gd name="T6" fmla="*/ 848 w 851"/>
                <a:gd name="T7" fmla="*/ 50 h 199"/>
                <a:gd name="T8" fmla="*/ 848 w 851"/>
                <a:gd name="T9" fmla="*/ 40 h 199"/>
                <a:gd name="T10" fmla="*/ 846 w 851"/>
                <a:gd name="T11" fmla="*/ 30 h 199"/>
                <a:gd name="T12" fmla="*/ 844 w 851"/>
                <a:gd name="T13" fmla="*/ 20 h 199"/>
                <a:gd name="T14" fmla="*/ 843 w 851"/>
                <a:gd name="T15" fmla="*/ 10 h 199"/>
                <a:gd name="T16" fmla="*/ 839 w 851"/>
                <a:gd name="T17" fmla="*/ 0 h 199"/>
                <a:gd name="T18" fmla="*/ 834 w 851"/>
                <a:gd name="T19" fmla="*/ 0 h 199"/>
                <a:gd name="T20" fmla="*/ 838 w 851"/>
                <a:gd name="T21" fmla="*/ 10 h 199"/>
                <a:gd name="T22" fmla="*/ 839 w 851"/>
                <a:gd name="T23" fmla="*/ 20 h 199"/>
                <a:gd name="T24" fmla="*/ 841 w 851"/>
                <a:gd name="T25" fmla="*/ 30 h 199"/>
                <a:gd name="T26" fmla="*/ 843 w 851"/>
                <a:gd name="T27" fmla="*/ 40 h 199"/>
                <a:gd name="T28" fmla="*/ 844 w 851"/>
                <a:gd name="T29" fmla="*/ 50 h 199"/>
                <a:gd name="T30" fmla="*/ 844 w 851"/>
                <a:gd name="T31" fmla="*/ 61 h 199"/>
                <a:gd name="T32" fmla="*/ 846 w 851"/>
                <a:gd name="T33" fmla="*/ 71 h 199"/>
                <a:gd name="T34" fmla="*/ 846 w 851"/>
                <a:gd name="T35" fmla="*/ 81 h 199"/>
                <a:gd name="T36" fmla="*/ 851 w 851"/>
                <a:gd name="T37" fmla="*/ 79 h 199"/>
                <a:gd name="T38" fmla="*/ 0 w 851"/>
                <a:gd name="T39" fmla="*/ 114 h 199"/>
                <a:gd name="T40" fmla="*/ 0 w 851"/>
                <a:gd name="T41" fmla="*/ 126 h 199"/>
                <a:gd name="T42" fmla="*/ 0 w 851"/>
                <a:gd name="T43" fmla="*/ 136 h 199"/>
                <a:gd name="T44" fmla="*/ 1 w 851"/>
                <a:gd name="T45" fmla="*/ 147 h 199"/>
                <a:gd name="T46" fmla="*/ 3 w 851"/>
                <a:gd name="T47" fmla="*/ 157 h 199"/>
                <a:gd name="T48" fmla="*/ 5 w 851"/>
                <a:gd name="T49" fmla="*/ 167 h 199"/>
                <a:gd name="T50" fmla="*/ 6 w 851"/>
                <a:gd name="T51" fmla="*/ 179 h 199"/>
                <a:gd name="T52" fmla="*/ 8 w 851"/>
                <a:gd name="T53" fmla="*/ 189 h 199"/>
                <a:gd name="T54" fmla="*/ 11 w 851"/>
                <a:gd name="T55" fmla="*/ 199 h 199"/>
                <a:gd name="T56" fmla="*/ 15 w 851"/>
                <a:gd name="T57" fmla="*/ 199 h 199"/>
                <a:gd name="T58" fmla="*/ 13 w 851"/>
                <a:gd name="T59" fmla="*/ 189 h 199"/>
                <a:gd name="T60" fmla="*/ 11 w 851"/>
                <a:gd name="T61" fmla="*/ 177 h 199"/>
                <a:gd name="T62" fmla="*/ 10 w 851"/>
                <a:gd name="T63" fmla="*/ 167 h 199"/>
                <a:gd name="T64" fmla="*/ 8 w 851"/>
                <a:gd name="T65" fmla="*/ 155 h 199"/>
                <a:gd name="T66" fmla="*/ 6 w 851"/>
                <a:gd name="T67" fmla="*/ 146 h 199"/>
                <a:gd name="T68" fmla="*/ 5 w 851"/>
                <a:gd name="T69" fmla="*/ 134 h 199"/>
                <a:gd name="T70" fmla="*/ 5 w 851"/>
                <a:gd name="T71" fmla="*/ 122 h 199"/>
                <a:gd name="T72" fmla="*/ 3 w 851"/>
                <a:gd name="T73" fmla="*/ 112 h 199"/>
                <a:gd name="T74" fmla="*/ 0 w 851"/>
                <a:gd name="T75" fmla="*/ 11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51" h="199">
                  <a:moveTo>
                    <a:pt x="851" y="79"/>
                  </a:moveTo>
                  <a:lnTo>
                    <a:pt x="851" y="69"/>
                  </a:lnTo>
                  <a:lnTo>
                    <a:pt x="849" y="59"/>
                  </a:lnTo>
                  <a:lnTo>
                    <a:pt x="848" y="50"/>
                  </a:lnTo>
                  <a:lnTo>
                    <a:pt x="848" y="40"/>
                  </a:lnTo>
                  <a:lnTo>
                    <a:pt x="846" y="30"/>
                  </a:lnTo>
                  <a:lnTo>
                    <a:pt x="844" y="20"/>
                  </a:lnTo>
                  <a:lnTo>
                    <a:pt x="843" y="10"/>
                  </a:lnTo>
                  <a:lnTo>
                    <a:pt x="839" y="0"/>
                  </a:lnTo>
                  <a:lnTo>
                    <a:pt x="834" y="0"/>
                  </a:lnTo>
                  <a:lnTo>
                    <a:pt x="838" y="10"/>
                  </a:lnTo>
                  <a:lnTo>
                    <a:pt x="839" y="20"/>
                  </a:lnTo>
                  <a:lnTo>
                    <a:pt x="841" y="30"/>
                  </a:lnTo>
                  <a:lnTo>
                    <a:pt x="843" y="40"/>
                  </a:lnTo>
                  <a:lnTo>
                    <a:pt x="844" y="50"/>
                  </a:lnTo>
                  <a:lnTo>
                    <a:pt x="844" y="61"/>
                  </a:lnTo>
                  <a:lnTo>
                    <a:pt x="846" y="71"/>
                  </a:lnTo>
                  <a:lnTo>
                    <a:pt x="846" y="81"/>
                  </a:lnTo>
                  <a:lnTo>
                    <a:pt x="851" y="79"/>
                  </a:lnTo>
                  <a:close/>
                  <a:moveTo>
                    <a:pt x="0" y="114"/>
                  </a:moveTo>
                  <a:lnTo>
                    <a:pt x="0" y="126"/>
                  </a:lnTo>
                  <a:lnTo>
                    <a:pt x="0" y="136"/>
                  </a:lnTo>
                  <a:lnTo>
                    <a:pt x="1" y="147"/>
                  </a:lnTo>
                  <a:lnTo>
                    <a:pt x="3" y="157"/>
                  </a:lnTo>
                  <a:lnTo>
                    <a:pt x="5" y="167"/>
                  </a:lnTo>
                  <a:lnTo>
                    <a:pt x="6" y="179"/>
                  </a:lnTo>
                  <a:lnTo>
                    <a:pt x="8" y="189"/>
                  </a:lnTo>
                  <a:lnTo>
                    <a:pt x="11" y="199"/>
                  </a:lnTo>
                  <a:lnTo>
                    <a:pt x="15" y="199"/>
                  </a:lnTo>
                  <a:lnTo>
                    <a:pt x="13" y="189"/>
                  </a:lnTo>
                  <a:lnTo>
                    <a:pt x="11" y="177"/>
                  </a:lnTo>
                  <a:lnTo>
                    <a:pt x="10" y="167"/>
                  </a:lnTo>
                  <a:lnTo>
                    <a:pt x="8" y="155"/>
                  </a:lnTo>
                  <a:lnTo>
                    <a:pt x="6" y="146"/>
                  </a:lnTo>
                  <a:lnTo>
                    <a:pt x="5" y="134"/>
                  </a:lnTo>
                  <a:lnTo>
                    <a:pt x="5" y="122"/>
                  </a:lnTo>
                  <a:lnTo>
                    <a:pt x="3" y="112"/>
                  </a:lnTo>
                  <a:lnTo>
                    <a:pt x="0" y="114"/>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64" name="Freeform 104">
              <a:extLst>
                <a:ext uri="{FF2B5EF4-FFF2-40B4-BE49-F238E27FC236}">
                  <a16:creationId xmlns:a16="http://schemas.microsoft.com/office/drawing/2014/main" id="{3CAEF145-E8B9-2F8C-525E-2DA8ADB6305E}"/>
                </a:ext>
              </a:extLst>
            </p:cNvPr>
            <p:cNvSpPr>
              <a:spLocks noEditPoints="1"/>
            </p:cNvSpPr>
            <p:nvPr/>
          </p:nvSpPr>
          <p:spPr bwMode="auto">
            <a:xfrm>
              <a:off x="1412" y="1514"/>
              <a:ext cx="848" cy="199"/>
            </a:xfrm>
            <a:custGeom>
              <a:avLst/>
              <a:gdLst>
                <a:gd name="T0" fmla="*/ 848 w 848"/>
                <a:gd name="T1" fmla="*/ 81 h 199"/>
                <a:gd name="T2" fmla="*/ 847 w 848"/>
                <a:gd name="T3" fmla="*/ 69 h 199"/>
                <a:gd name="T4" fmla="*/ 847 w 848"/>
                <a:gd name="T5" fmla="*/ 59 h 199"/>
                <a:gd name="T6" fmla="*/ 845 w 848"/>
                <a:gd name="T7" fmla="*/ 50 h 199"/>
                <a:gd name="T8" fmla="*/ 843 w 848"/>
                <a:gd name="T9" fmla="*/ 40 h 199"/>
                <a:gd name="T10" fmla="*/ 842 w 848"/>
                <a:gd name="T11" fmla="*/ 30 h 199"/>
                <a:gd name="T12" fmla="*/ 840 w 848"/>
                <a:gd name="T13" fmla="*/ 20 h 199"/>
                <a:gd name="T14" fmla="*/ 838 w 848"/>
                <a:gd name="T15" fmla="*/ 10 h 199"/>
                <a:gd name="T16" fmla="*/ 837 w 848"/>
                <a:gd name="T17" fmla="*/ 0 h 199"/>
                <a:gd name="T18" fmla="*/ 832 w 848"/>
                <a:gd name="T19" fmla="*/ 0 h 199"/>
                <a:gd name="T20" fmla="*/ 833 w 848"/>
                <a:gd name="T21" fmla="*/ 10 h 199"/>
                <a:gd name="T22" fmla="*/ 835 w 848"/>
                <a:gd name="T23" fmla="*/ 20 h 199"/>
                <a:gd name="T24" fmla="*/ 837 w 848"/>
                <a:gd name="T25" fmla="*/ 30 h 199"/>
                <a:gd name="T26" fmla="*/ 838 w 848"/>
                <a:gd name="T27" fmla="*/ 41 h 199"/>
                <a:gd name="T28" fmla="*/ 840 w 848"/>
                <a:gd name="T29" fmla="*/ 51 h 199"/>
                <a:gd name="T30" fmla="*/ 842 w 848"/>
                <a:gd name="T31" fmla="*/ 61 h 199"/>
                <a:gd name="T32" fmla="*/ 842 w 848"/>
                <a:gd name="T33" fmla="*/ 73 h 199"/>
                <a:gd name="T34" fmla="*/ 843 w 848"/>
                <a:gd name="T35" fmla="*/ 83 h 199"/>
                <a:gd name="T36" fmla="*/ 848 w 848"/>
                <a:gd name="T37" fmla="*/ 81 h 199"/>
                <a:gd name="T38" fmla="*/ 0 w 848"/>
                <a:gd name="T39" fmla="*/ 112 h 199"/>
                <a:gd name="T40" fmla="*/ 0 w 848"/>
                <a:gd name="T41" fmla="*/ 124 h 199"/>
                <a:gd name="T42" fmla="*/ 2 w 848"/>
                <a:gd name="T43" fmla="*/ 136 h 199"/>
                <a:gd name="T44" fmla="*/ 2 w 848"/>
                <a:gd name="T45" fmla="*/ 146 h 199"/>
                <a:gd name="T46" fmla="*/ 4 w 848"/>
                <a:gd name="T47" fmla="*/ 157 h 199"/>
                <a:gd name="T48" fmla="*/ 5 w 848"/>
                <a:gd name="T49" fmla="*/ 167 h 199"/>
                <a:gd name="T50" fmla="*/ 7 w 848"/>
                <a:gd name="T51" fmla="*/ 177 h 199"/>
                <a:gd name="T52" fmla="*/ 10 w 848"/>
                <a:gd name="T53" fmla="*/ 189 h 199"/>
                <a:gd name="T54" fmla="*/ 12 w 848"/>
                <a:gd name="T55" fmla="*/ 199 h 199"/>
                <a:gd name="T56" fmla="*/ 17 w 848"/>
                <a:gd name="T57" fmla="*/ 199 h 199"/>
                <a:gd name="T58" fmla="*/ 15 w 848"/>
                <a:gd name="T59" fmla="*/ 189 h 199"/>
                <a:gd name="T60" fmla="*/ 12 w 848"/>
                <a:gd name="T61" fmla="*/ 177 h 199"/>
                <a:gd name="T62" fmla="*/ 10 w 848"/>
                <a:gd name="T63" fmla="*/ 167 h 199"/>
                <a:gd name="T64" fmla="*/ 9 w 848"/>
                <a:gd name="T65" fmla="*/ 155 h 199"/>
                <a:gd name="T66" fmla="*/ 7 w 848"/>
                <a:gd name="T67" fmla="*/ 144 h 199"/>
                <a:gd name="T68" fmla="*/ 7 w 848"/>
                <a:gd name="T69" fmla="*/ 134 h 199"/>
                <a:gd name="T70" fmla="*/ 5 w 848"/>
                <a:gd name="T71" fmla="*/ 122 h 199"/>
                <a:gd name="T72" fmla="*/ 5 w 848"/>
                <a:gd name="T73" fmla="*/ 111 h 199"/>
                <a:gd name="T74" fmla="*/ 0 w 848"/>
                <a:gd name="T75" fmla="*/ 11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48" h="199">
                  <a:moveTo>
                    <a:pt x="848" y="81"/>
                  </a:moveTo>
                  <a:lnTo>
                    <a:pt x="847" y="69"/>
                  </a:lnTo>
                  <a:lnTo>
                    <a:pt x="847" y="59"/>
                  </a:lnTo>
                  <a:lnTo>
                    <a:pt x="845" y="50"/>
                  </a:lnTo>
                  <a:lnTo>
                    <a:pt x="843" y="40"/>
                  </a:lnTo>
                  <a:lnTo>
                    <a:pt x="842" y="30"/>
                  </a:lnTo>
                  <a:lnTo>
                    <a:pt x="840" y="20"/>
                  </a:lnTo>
                  <a:lnTo>
                    <a:pt x="838" y="10"/>
                  </a:lnTo>
                  <a:lnTo>
                    <a:pt x="837" y="0"/>
                  </a:lnTo>
                  <a:lnTo>
                    <a:pt x="832" y="0"/>
                  </a:lnTo>
                  <a:lnTo>
                    <a:pt x="833" y="10"/>
                  </a:lnTo>
                  <a:lnTo>
                    <a:pt x="835" y="20"/>
                  </a:lnTo>
                  <a:lnTo>
                    <a:pt x="837" y="30"/>
                  </a:lnTo>
                  <a:lnTo>
                    <a:pt x="838" y="41"/>
                  </a:lnTo>
                  <a:lnTo>
                    <a:pt x="840" y="51"/>
                  </a:lnTo>
                  <a:lnTo>
                    <a:pt x="842" y="61"/>
                  </a:lnTo>
                  <a:lnTo>
                    <a:pt x="842" y="73"/>
                  </a:lnTo>
                  <a:lnTo>
                    <a:pt x="843" y="83"/>
                  </a:lnTo>
                  <a:lnTo>
                    <a:pt x="848" y="81"/>
                  </a:lnTo>
                  <a:close/>
                  <a:moveTo>
                    <a:pt x="0" y="112"/>
                  </a:moveTo>
                  <a:lnTo>
                    <a:pt x="0" y="124"/>
                  </a:lnTo>
                  <a:lnTo>
                    <a:pt x="2" y="136"/>
                  </a:lnTo>
                  <a:lnTo>
                    <a:pt x="2" y="146"/>
                  </a:lnTo>
                  <a:lnTo>
                    <a:pt x="4" y="157"/>
                  </a:lnTo>
                  <a:lnTo>
                    <a:pt x="5" y="167"/>
                  </a:lnTo>
                  <a:lnTo>
                    <a:pt x="7" y="177"/>
                  </a:lnTo>
                  <a:lnTo>
                    <a:pt x="10" y="189"/>
                  </a:lnTo>
                  <a:lnTo>
                    <a:pt x="12" y="199"/>
                  </a:lnTo>
                  <a:lnTo>
                    <a:pt x="17" y="199"/>
                  </a:lnTo>
                  <a:lnTo>
                    <a:pt x="15" y="189"/>
                  </a:lnTo>
                  <a:lnTo>
                    <a:pt x="12" y="177"/>
                  </a:lnTo>
                  <a:lnTo>
                    <a:pt x="10" y="167"/>
                  </a:lnTo>
                  <a:lnTo>
                    <a:pt x="9" y="155"/>
                  </a:lnTo>
                  <a:lnTo>
                    <a:pt x="7" y="144"/>
                  </a:lnTo>
                  <a:lnTo>
                    <a:pt x="7" y="134"/>
                  </a:lnTo>
                  <a:lnTo>
                    <a:pt x="5" y="122"/>
                  </a:lnTo>
                  <a:lnTo>
                    <a:pt x="5" y="111"/>
                  </a:lnTo>
                  <a:lnTo>
                    <a:pt x="0" y="112"/>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65" name="Freeform 105">
              <a:extLst>
                <a:ext uri="{FF2B5EF4-FFF2-40B4-BE49-F238E27FC236}">
                  <a16:creationId xmlns:a16="http://schemas.microsoft.com/office/drawing/2014/main" id="{E484EFDA-CE7B-FF6E-75A6-BC3A17509D28}"/>
                </a:ext>
              </a:extLst>
            </p:cNvPr>
            <p:cNvSpPr>
              <a:spLocks noEditPoints="1"/>
            </p:cNvSpPr>
            <p:nvPr/>
          </p:nvSpPr>
          <p:spPr bwMode="auto">
            <a:xfrm>
              <a:off x="1414" y="1514"/>
              <a:ext cx="843" cy="199"/>
            </a:xfrm>
            <a:custGeom>
              <a:avLst/>
              <a:gdLst>
                <a:gd name="T0" fmla="*/ 843 w 843"/>
                <a:gd name="T1" fmla="*/ 81 h 199"/>
                <a:gd name="T2" fmla="*/ 843 w 843"/>
                <a:gd name="T3" fmla="*/ 71 h 199"/>
                <a:gd name="T4" fmla="*/ 841 w 843"/>
                <a:gd name="T5" fmla="*/ 61 h 199"/>
                <a:gd name="T6" fmla="*/ 841 w 843"/>
                <a:gd name="T7" fmla="*/ 50 h 199"/>
                <a:gd name="T8" fmla="*/ 840 w 843"/>
                <a:gd name="T9" fmla="*/ 40 h 199"/>
                <a:gd name="T10" fmla="*/ 838 w 843"/>
                <a:gd name="T11" fmla="*/ 30 h 199"/>
                <a:gd name="T12" fmla="*/ 836 w 843"/>
                <a:gd name="T13" fmla="*/ 20 h 199"/>
                <a:gd name="T14" fmla="*/ 835 w 843"/>
                <a:gd name="T15" fmla="*/ 10 h 199"/>
                <a:gd name="T16" fmla="*/ 831 w 843"/>
                <a:gd name="T17" fmla="*/ 0 h 199"/>
                <a:gd name="T18" fmla="*/ 826 w 843"/>
                <a:gd name="T19" fmla="*/ 0 h 199"/>
                <a:gd name="T20" fmla="*/ 830 w 843"/>
                <a:gd name="T21" fmla="*/ 10 h 199"/>
                <a:gd name="T22" fmla="*/ 831 w 843"/>
                <a:gd name="T23" fmla="*/ 20 h 199"/>
                <a:gd name="T24" fmla="*/ 833 w 843"/>
                <a:gd name="T25" fmla="*/ 31 h 199"/>
                <a:gd name="T26" fmla="*/ 835 w 843"/>
                <a:gd name="T27" fmla="*/ 41 h 199"/>
                <a:gd name="T28" fmla="*/ 836 w 843"/>
                <a:gd name="T29" fmla="*/ 51 h 199"/>
                <a:gd name="T30" fmla="*/ 836 w 843"/>
                <a:gd name="T31" fmla="*/ 63 h 199"/>
                <a:gd name="T32" fmla="*/ 838 w 843"/>
                <a:gd name="T33" fmla="*/ 73 h 199"/>
                <a:gd name="T34" fmla="*/ 838 w 843"/>
                <a:gd name="T35" fmla="*/ 84 h 199"/>
                <a:gd name="T36" fmla="*/ 843 w 843"/>
                <a:gd name="T37" fmla="*/ 81 h 199"/>
                <a:gd name="T38" fmla="*/ 0 w 843"/>
                <a:gd name="T39" fmla="*/ 112 h 199"/>
                <a:gd name="T40" fmla="*/ 2 w 843"/>
                <a:gd name="T41" fmla="*/ 122 h 199"/>
                <a:gd name="T42" fmla="*/ 2 w 843"/>
                <a:gd name="T43" fmla="*/ 134 h 199"/>
                <a:gd name="T44" fmla="*/ 3 w 843"/>
                <a:gd name="T45" fmla="*/ 146 h 199"/>
                <a:gd name="T46" fmla="*/ 5 w 843"/>
                <a:gd name="T47" fmla="*/ 155 h 199"/>
                <a:gd name="T48" fmla="*/ 7 w 843"/>
                <a:gd name="T49" fmla="*/ 167 h 199"/>
                <a:gd name="T50" fmla="*/ 8 w 843"/>
                <a:gd name="T51" fmla="*/ 177 h 199"/>
                <a:gd name="T52" fmla="*/ 10 w 843"/>
                <a:gd name="T53" fmla="*/ 189 h 199"/>
                <a:gd name="T54" fmla="*/ 12 w 843"/>
                <a:gd name="T55" fmla="*/ 199 h 199"/>
                <a:gd name="T56" fmla="*/ 17 w 843"/>
                <a:gd name="T57" fmla="*/ 199 h 199"/>
                <a:gd name="T58" fmla="*/ 15 w 843"/>
                <a:gd name="T59" fmla="*/ 187 h 199"/>
                <a:gd name="T60" fmla="*/ 13 w 843"/>
                <a:gd name="T61" fmla="*/ 177 h 199"/>
                <a:gd name="T62" fmla="*/ 10 w 843"/>
                <a:gd name="T63" fmla="*/ 165 h 199"/>
                <a:gd name="T64" fmla="*/ 10 w 843"/>
                <a:gd name="T65" fmla="*/ 155 h 199"/>
                <a:gd name="T66" fmla="*/ 8 w 843"/>
                <a:gd name="T67" fmla="*/ 144 h 199"/>
                <a:gd name="T68" fmla="*/ 7 w 843"/>
                <a:gd name="T69" fmla="*/ 132 h 199"/>
                <a:gd name="T70" fmla="*/ 7 w 843"/>
                <a:gd name="T71" fmla="*/ 121 h 199"/>
                <a:gd name="T72" fmla="*/ 5 w 843"/>
                <a:gd name="T73" fmla="*/ 109 h 199"/>
                <a:gd name="T74" fmla="*/ 0 w 843"/>
                <a:gd name="T75" fmla="*/ 11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43" h="199">
                  <a:moveTo>
                    <a:pt x="843" y="81"/>
                  </a:moveTo>
                  <a:lnTo>
                    <a:pt x="843" y="71"/>
                  </a:lnTo>
                  <a:lnTo>
                    <a:pt x="841" y="61"/>
                  </a:lnTo>
                  <a:lnTo>
                    <a:pt x="841" y="50"/>
                  </a:lnTo>
                  <a:lnTo>
                    <a:pt x="840" y="40"/>
                  </a:lnTo>
                  <a:lnTo>
                    <a:pt x="838" y="30"/>
                  </a:lnTo>
                  <a:lnTo>
                    <a:pt x="836" y="20"/>
                  </a:lnTo>
                  <a:lnTo>
                    <a:pt x="835" y="10"/>
                  </a:lnTo>
                  <a:lnTo>
                    <a:pt x="831" y="0"/>
                  </a:lnTo>
                  <a:lnTo>
                    <a:pt x="826" y="0"/>
                  </a:lnTo>
                  <a:lnTo>
                    <a:pt x="830" y="10"/>
                  </a:lnTo>
                  <a:lnTo>
                    <a:pt x="831" y="20"/>
                  </a:lnTo>
                  <a:lnTo>
                    <a:pt x="833" y="31"/>
                  </a:lnTo>
                  <a:lnTo>
                    <a:pt x="835" y="41"/>
                  </a:lnTo>
                  <a:lnTo>
                    <a:pt x="836" y="51"/>
                  </a:lnTo>
                  <a:lnTo>
                    <a:pt x="836" y="63"/>
                  </a:lnTo>
                  <a:lnTo>
                    <a:pt x="838" y="73"/>
                  </a:lnTo>
                  <a:lnTo>
                    <a:pt x="838" y="84"/>
                  </a:lnTo>
                  <a:lnTo>
                    <a:pt x="843" y="81"/>
                  </a:lnTo>
                  <a:close/>
                  <a:moveTo>
                    <a:pt x="0" y="112"/>
                  </a:moveTo>
                  <a:lnTo>
                    <a:pt x="2" y="122"/>
                  </a:lnTo>
                  <a:lnTo>
                    <a:pt x="2" y="134"/>
                  </a:lnTo>
                  <a:lnTo>
                    <a:pt x="3" y="146"/>
                  </a:lnTo>
                  <a:lnTo>
                    <a:pt x="5" y="155"/>
                  </a:lnTo>
                  <a:lnTo>
                    <a:pt x="7" y="167"/>
                  </a:lnTo>
                  <a:lnTo>
                    <a:pt x="8" y="177"/>
                  </a:lnTo>
                  <a:lnTo>
                    <a:pt x="10" y="189"/>
                  </a:lnTo>
                  <a:lnTo>
                    <a:pt x="12" y="199"/>
                  </a:lnTo>
                  <a:lnTo>
                    <a:pt x="17" y="199"/>
                  </a:lnTo>
                  <a:lnTo>
                    <a:pt x="15" y="187"/>
                  </a:lnTo>
                  <a:lnTo>
                    <a:pt x="13" y="177"/>
                  </a:lnTo>
                  <a:lnTo>
                    <a:pt x="10" y="165"/>
                  </a:lnTo>
                  <a:lnTo>
                    <a:pt x="10" y="155"/>
                  </a:lnTo>
                  <a:lnTo>
                    <a:pt x="8" y="144"/>
                  </a:lnTo>
                  <a:lnTo>
                    <a:pt x="7" y="132"/>
                  </a:lnTo>
                  <a:lnTo>
                    <a:pt x="7" y="121"/>
                  </a:lnTo>
                  <a:lnTo>
                    <a:pt x="5" y="109"/>
                  </a:lnTo>
                  <a:lnTo>
                    <a:pt x="0" y="112"/>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66" name="Freeform 106">
              <a:extLst>
                <a:ext uri="{FF2B5EF4-FFF2-40B4-BE49-F238E27FC236}">
                  <a16:creationId xmlns:a16="http://schemas.microsoft.com/office/drawing/2014/main" id="{E1305433-6253-E5A5-11AD-49198F6F6061}"/>
                </a:ext>
              </a:extLst>
            </p:cNvPr>
            <p:cNvSpPr>
              <a:spLocks noEditPoints="1"/>
            </p:cNvSpPr>
            <p:nvPr/>
          </p:nvSpPr>
          <p:spPr bwMode="auto">
            <a:xfrm>
              <a:off x="1417" y="1514"/>
              <a:ext cx="838" cy="199"/>
            </a:xfrm>
            <a:custGeom>
              <a:avLst/>
              <a:gdLst>
                <a:gd name="T0" fmla="*/ 838 w 838"/>
                <a:gd name="T1" fmla="*/ 83 h 199"/>
                <a:gd name="T2" fmla="*/ 837 w 838"/>
                <a:gd name="T3" fmla="*/ 73 h 199"/>
                <a:gd name="T4" fmla="*/ 837 w 838"/>
                <a:gd name="T5" fmla="*/ 61 h 199"/>
                <a:gd name="T6" fmla="*/ 835 w 838"/>
                <a:gd name="T7" fmla="*/ 51 h 199"/>
                <a:gd name="T8" fmla="*/ 833 w 838"/>
                <a:gd name="T9" fmla="*/ 41 h 199"/>
                <a:gd name="T10" fmla="*/ 832 w 838"/>
                <a:gd name="T11" fmla="*/ 30 h 199"/>
                <a:gd name="T12" fmla="*/ 830 w 838"/>
                <a:gd name="T13" fmla="*/ 20 h 199"/>
                <a:gd name="T14" fmla="*/ 828 w 838"/>
                <a:gd name="T15" fmla="*/ 10 h 199"/>
                <a:gd name="T16" fmla="*/ 827 w 838"/>
                <a:gd name="T17" fmla="*/ 0 h 199"/>
                <a:gd name="T18" fmla="*/ 822 w 838"/>
                <a:gd name="T19" fmla="*/ 0 h 199"/>
                <a:gd name="T20" fmla="*/ 823 w 838"/>
                <a:gd name="T21" fmla="*/ 10 h 199"/>
                <a:gd name="T22" fmla="*/ 825 w 838"/>
                <a:gd name="T23" fmla="*/ 20 h 199"/>
                <a:gd name="T24" fmla="*/ 828 w 838"/>
                <a:gd name="T25" fmla="*/ 31 h 199"/>
                <a:gd name="T26" fmla="*/ 830 w 838"/>
                <a:gd name="T27" fmla="*/ 41 h 199"/>
                <a:gd name="T28" fmla="*/ 830 w 838"/>
                <a:gd name="T29" fmla="*/ 53 h 199"/>
                <a:gd name="T30" fmla="*/ 832 w 838"/>
                <a:gd name="T31" fmla="*/ 63 h 199"/>
                <a:gd name="T32" fmla="*/ 833 w 838"/>
                <a:gd name="T33" fmla="*/ 74 h 199"/>
                <a:gd name="T34" fmla="*/ 833 w 838"/>
                <a:gd name="T35" fmla="*/ 84 h 199"/>
                <a:gd name="T36" fmla="*/ 838 w 838"/>
                <a:gd name="T37" fmla="*/ 83 h 199"/>
                <a:gd name="T38" fmla="*/ 0 w 838"/>
                <a:gd name="T39" fmla="*/ 111 h 199"/>
                <a:gd name="T40" fmla="*/ 0 w 838"/>
                <a:gd name="T41" fmla="*/ 122 h 199"/>
                <a:gd name="T42" fmla="*/ 2 w 838"/>
                <a:gd name="T43" fmla="*/ 134 h 199"/>
                <a:gd name="T44" fmla="*/ 2 w 838"/>
                <a:gd name="T45" fmla="*/ 144 h 199"/>
                <a:gd name="T46" fmla="*/ 4 w 838"/>
                <a:gd name="T47" fmla="*/ 155 h 199"/>
                <a:gd name="T48" fmla="*/ 5 w 838"/>
                <a:gd name="T49" fmla="*/ 167 h 199"/>
                <a:gd name="T50" fmla="*/ 7 w 838"/>
                <a:gd name="T51" fmla="*/ 177 h 199"/>
                <a:gd name="T52" fmla="*/ 10 w 838"/>
                <a:gd name="T53" fmla="*/ 189 h 199"/>
                <a:gd name="T54" fmla="*/ 12 w 838"/>
                <a:gd name="T55" fmla="*/ 199 h 199"/>
                <a:gd name="T56" fmla="*/ 17 w 838"/>
                <a:gd name="T57" fmla="*/ 199 h 199"/>
                <a:gd name="T58" fmla="*/ 14 w 838"/>
                <a:gd name="T59" fmla="*/ 187 h 199"/>
                <a:gd name="T60" fmla="*/ 12 w 838"/>
                <a:gd name="T61" fmla="*/ 177 h 199"/>
                <a:gd name="T62" fmla="*/ 10 w 838"/>
                <a:gd name="T63" fmla="*/ 165 h 199"/>
                <a:gd name="T64" fmla="*/ 9 w 838"/>
                <a:gd name="T65" fmla="*/ 154 h 199"/>
                <a:gd name="T66" fmla="*/ 7 w 838"/>
                <a:gd name="T67" fmla="*/ 144 h 199"/>
                <a:gd name="T68" fmla="*/ 5 w 838"/>
                <a:gd name="T69" fmla="*/ 132 h 199"/>
                <a:gd name="T70" fmla="*/ 5 w 838"/>
                <a:gd name="T71" fmla="*/ 121 h 199"/>
                <a:gd name="T72" fmla="*/ 5 w 838"/>
                <a:gd name="T73" fmla="*/ 109 h 199"/>
                <a:gd name="T74" fmla="*/ 0 w 838"/>
                <a:gd name="T75" fmla="*/ 11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38" h="199">
                  <a:moveTo>
                    <a:pt x="838" y="83"/>
                  </a:moveTo>
                  <a:lnTo>
                    <a:pt x="837" y="73"/>
                  </a:lnTo>
                  <a:lnTo>
                    <a:pt x="837" y="61"/>
                  </a:lnTo>
                  <a:lnTo>
                    <a:pt x="835" y="51"/>
                  </a:lnTo>
                  <a:lnTo>
                    <a:pt x="833" y="41"/>
                  </a:lnTo>
                  <a:lnTo>
                    <a:pt x="832" y="30"/>
                  </a:lnTo>
                  <a:lnTo>
                    <a:pt x="830" y="20"/>
                  </a:lnTo>
                  <a:lnTo>
                    <a:pt x="828" y="10"/>
                  </a:lnTo>
                  <a:lnTo>
                    <a:pt x="827" y="0"/>
                  </a:lnTo>
                  <a:lnTo>
                    <a:pt x="822" y="0"/>
                  </a:lnTo>
                  <a:lnTo>
                    <a:pt x="823" y="10"/>
                  </a:lnTo>
                  <a:lnTo>
                    <a:pt x="825" y="20"/>
                  </a:lnTo>
                  <a:lnTo>
                    <a:pt x="828" y="31"/>
                  </a:lnTo>
                  <a:lnTo>
                    <a:pt x="830" y="41"/>
                  </a:lnTo>
                  <a:lnTo>
                    <a:pt x="830" y="53"/>
                  </a:lnTo>
                  <a:lnTo>
                    <a:pt x="832" y="63"/>
                  </a:lnTo>
                  <a:lnTo>
                    <a:pt x="833" y="74"/>
                  </a:lnTo>
                  <a:lnTo>
                    <a:pt x="833" y="84"/>
                  </a:lnTo>
                  <a:lnTo>
                    <a:pt x="838" y="83"/>
                  </a:lnTo>
                  <a:close/>
                  <a:moveTo>
                    <a:pt x="0" y="111"/>
                  </a:moveTo>
                  <a:lnTo>
                    <a:pt x="0" y="122"/>
                  </a:lnTo>
                  <a:lnTo>
                    <a:pt x="2" y="134"/>
                  </a:lnTo>
                  <a:lnTo>
                    <a:pt x="2" y="144"/>
                  </a:lnTo>
                  <a:lnTo>
                    <a:pt x="4" y="155"/>
                  </a:lnTo>
                  <a:lnTo>
                    <a:pt x="5" y="167"/>
                  </a:lnTo>
                  <a:lnTo>
                    <a:pt x="7" y="177"/>
                  </a:lnTo>
                  <a:lnTo>
                    <a:pt x="10" y="189"/>
                  </a:lnTo>
                  <a:lnTo>
                    <a:pt x="12" y="199"/>
                  </a:lnTo>
                  <a:lnTo>
                    <a:pt x="17" y="199"/>
                  </a:lnTo>
                  <a:lnTo>
                    <a:pt x="14" y="187"/>
                  </a:lnTo>
                  <a:lnTo>
                    <a:pt x="12" y="177"/>
                  </a:lnTo>
                  <a:lnTo>
                    <a:pt x="10" y="165"/>
                  </a:lnTo>
                  <a:lnTo>
                    <a:pt x="9" y="154"/>
                  </a:lnTo>
                  <a:lnTo>
                    <a:pt x="7" y="144"/>
                  </a:lnTo>
                  <a:lnTo>
                    <a:pt x="5" y="132"/>
                  </a:lnTo>
                  <a:lnTo>
                    <a:pt x="5" y="121"/>
                  </a:lnTo>
                  <a:lnTo>
                    <a:pt x="5" y="109"/>
                  </a:lnTo>
                  <a:lnTo>
                    <a:pt x="0" y="111"/>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67" name="Freeform 107">
              <a:extLst>
                <a:ext uri="{FF2B5EF4-FFF2-40B4-BE49-F238E27FC236}">
                  <a16:creationId xmlns:a16="http://schemas.microsoft.com/office/drawing/2014/main" id="{A8BF2764-5CD4-DE79-6724-0EA6905431B9}"/>
                </a:ext>
              </a:extLst>
            </p:cNvPr>
            <p:cNvSpPr>
              <a:spLocks noEditPoints="1"/>
            </p:cNvSpPr>
            <p:nvPr/>
          </p:nvSpPr>
          <p:spPr bwMode="auto">
            <a:xfrm>
              <a:off x="1419" y="1514"/>
              <a:ext cx="833" cy="199"/>
            </a:xfrm>
            <a:custGeom>
              <a:avLst/>
              <a:gdLst>
                <a:gd name="T0" fmla="*/ 833 w 833"/>
                <a:gd name="T1" fmla="*/ 84 h 199"/>
                <a:gd name="T2" fmla="*/ 833 w 833"/>
                <a:gd name="T3" fmla="*/ 73 h 199"/>
                <a:gd name="T4" fmla="*/ 831 w 833"/>
                <a:gd name="T5" fmla="*/ 63 h 199"/>
                <a:gd name="T6" fmla="*/ 831 w 833"/>
                <a:gd name="T7" fmla="*/ 51 h 199"/>
                <a:gd name="T8" fmla="*/ 830 w 833"/>
                <a:gd name="T9" fmla="*/ 41 h 199"/>
                <a:gd name="T10" fmla="*/ 828 w 833"/>
                <a:gd name="T11" fmla="*/ 31 h 199"/>
                <a:gd name="T12" fmla="*/ 826 w 833"/>
                <a:gd name="T13" fmla="*/ 20 h 199"/>
                <a:gd name="T14" fmla="*/ 825 w 833"/>
                <a:gd name="T15" fmla="*/ 10 h 199"/>
                <a:gd name="T16" fmla="*/ 821 w 833"/>
                <a:gd name="T17" fmla="*/ 0 h 199"/>
                <a:gd name="T18" fmla="*/ 817 w 833"/>
                <a:gd name="T19" fmla="*/ 0 h 199"/>
                <a:gd name="T20" fmla="*/ 820 w 833"/>
                <a:gd name="T21" fmla="*/ 10 h 199"/>
                <a:gd name="T22" fmla="*/ 821 w 833"/>
                <a:gd name="T23" fmla="*/ 21 h 199"/>
                <a:gd name="T24" fmla="*/ 823 w 833"/>
                <a:gd name="T25" fmla="*/ 31 h 199"/>
                <a:gd name="T26" fmla="*/ 825 w 833"/>
                <a:gd name="T27" fmla="*/ 41 h 199"/>
                <a:gd name="T28" fmla="*/ 826 w 833"/>
                <a:gd name="T29" fmla="*/ 53 h 199"/>
                <a:gd name="T30" fmla="*/ 828 w 833"/>
                <a:gd name="T31" fmla="*/ 64 h 199"/>
                <a:gd name="T32" fmla="*/ 828 w 833"/>
                <a:gd name="T33" fmla="*/ 74 h 199"/>
                <a:gd name="T34" fmla="*/ 828 w 833"/>
                <a:gd name="T35" fmla="*/ 86 h 199"/>
                <a:gd name="T36" fmla="*/ 833 w 833"/>
                <a:gd name="T37" fmla="*/ 84 h 199"/>
                <a:gd name="T38" fmla="*/ 0 w 833"/>
                <a:gd name="T39" fmla="*/ 109 h 199"/>
                <a:gd name="T40" fmla="*/ 2 w 833"/>
                <a:gd name="T41" fmla="*/ 121 h 199"/>
                <a:gd name="T42" fmla="*/ 2 w 833"/>
                <a:gd name="T43" fmla="*/ 132 h 199"/>
                <a:gd name="T44" fmla="*/ 3 w 833"/>
                <a:gd name="T45" fmla="*/ 144 h 199"/>
                <a:gd name="T46" fmla="*/ 5 w 833"/>
                <a:gd name="T47" fmla="*/ 155 h 199"/>
                <a:gd name="T48" fmla="*/ 5 w 833"/>
                <a:gd name="T49" fmla="*/ 165 h 199"/>
                <a:gd name="T50" fmla="*/ 8 w 833"/>
                <a:gd name="T51" fmla="*/ 177 h 199"/>
                <a:gd name="T52" fmla="*/ 10 w 833"/>
                <a:gd name="T53" fmla="*/ 187 h 199"/>
                <a:gd name="T54" fmla="*/ 12 w 833"/>
                <a:gd name="T55" fmla="*/ 199 h 199"/>
                <a:gd name="T56" fmla="*/ 17 w 833"/>
                <a:gd name="T57" fmla="*/ 199 h 199"/>
                <a:gd name="T58" fmla="*/ 15 w 833"/>
                <a:gd name="T59" fmla="*/ 187 h 199"/>
                <a:gd name="T60" fmla="*/ 13 w 833"/>
                <a:gd name="T61" fmla="*/ 177 h 199"/>
                <a:gd name="T62" fmla="*/ 10 w 833"/>
                <a:gd name="T63" fmla="*/ 165 h 199"/>
                <a:gd name="T64" fmla="*/ 8 w 833"/>
                <a:gd name="T65" fmla="*/ 154 h 199"/>
                <a:gd name="T66" fmla="*/ 8 w 833"/>
                <a:gd name="T67" fmla="*/ 142 h 199"/>
                <a:gd name="T68" fmla="*/ 7 w 833"/>
                <a:gd name="T69" fmla="*/ 131 h 199"/>
                <a:gd name="T70" fmla="*/ 5 w 833"/>
                <a:gd name="T71" fmla="*/ 119 h 199"/>
                <a:gd name="T72" fmla="*/ 5 w 833"/>
                <a:gd name="T73" fmla="*/ 107 h 199"/>
                <a:gd name="T74" fmla="*/ 0 w 833"/>
                <a:gd name="T75" fmla="*/ 10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33" h="199">
                  <a:moveTo>
                    <a:pt x="833" y="84"/>
                  </a:moveTo>
                  <a:lnTo>
                    <a:pt x="833" y="73"/>
                  </a:lnTo>
                  <a:lnTo>
                    <a:pt x="831" y="63"/>
                  </a:lnTo>
                  <a:lnTo>
                    <a:pt x="831" y="51"/>
                  </a:lnTo>
                  <a:lnTo>
                    <a:pt x="830" y="41"/>
                  </a:lnTo>
                  <a:lnTo>
                    <a:pt x="828" y="31"/>
                  </a:lnTo>
                  <a:lnTo>
                    <a:pt x="826" y="20"/>
                  </a:lnTo>
                  <a:lnTo>
                    <a:pt x="825" y="10"/>
                  </a:lnTo>
                  <a:lnTo>
                    <a:pt x="821" y="0"/>
                  </a:lnTo>
                  <a:lnTo>
                    <a:pt x="817" y="0"/>
                  </a:lnTo>
                  <a:lnTo>
                    <a:pt x="820" y="10"/>
                  </a:lnTo>
                  <a:lnTo>
                    <a:pt x="821" y="21"/>
                  </a:lnTo>
                  <a:lnTo>
                    <a:pt x="823" y="31"/>
                  </a:lnTo>
                  <a:lnTo>
                    <a:pt x="825" y="41"/>
                  </a:lnTo>
                  <a:lnTo>
                    <a:pt x="826" y="53"/>
                  </a:lnTo>
                  <a:lnTo>
                    <a:pt x="828" y="64"/>
                  </a:lnTo>
                  <a:lnTo>
                    <a:pt x="828" y="74"/>
                  </a:lnTo>
                  <a:lnTo>
                    <a:pt x="828" y="86"/>
                  </a:lnTo>
                  <a:lnTo>
                    <a:pt x="833" y="84"/>
                  </a:lnTo>
                  <a:close/>
                  <a:moveTo>
                    <a:pt x="0" y="109"/>
                  </a:moveTo>
                  <a:lnTo>
                    <a:pt x="2" y="121"/>
                  </a:lnTo>
                  <a:lnTo>
                    <a:pt x="2" y="132"/>
                  </a:lnTo>
                  <a:lnTo>
                    <a:pt x="3" y="144"/>
                  </a:lnTo>
                  <a:lnTo>
                    <a:pt x="5" y="155"/>
                  </a:lnTo>
                  <a:lnTo>
                    <a:pt x="5" y="165"/>
                  </a:lnTo>
                  <a:lnTo>
                    <a:pt x="8" y="177"/>
                  </a:lnTo>
                  <a:lnTo>
                    <a:pt x="10" y="187"/>
                  </a:lnTo>
                  <a:lnTo>
                    <a:pt x="12" y="199"/>
                  </a:lnTo>
                  <a:lnTo>
                    <a:pt x="17" y="199"/>
                  </a:lnTo>
                  <a:lnTo>
                    <a:pt x="15" y="187"/>
                  </a:lnTo>
                  <a:lnTo>
                    <a:pt x="13" y="177"/>
                  </a:lnTo>
                  <a:lnTo>
                    <a:pt x="10" y="165"/>
                  </a:lnTo>
                  <a:lnTo>
                    <a:pt x="8" y="154"/>
                  </a:lnTo>
                  <a:lnTo>
                    <a:pt x="8" y="142"/>
                  </a:lnTo>
                  <a:lnTo>
                    <a:pt x="7" y="131"/>
                  </a:lnTo>
                  <a:lnTo>
                    <a:pt x="5" y="119"/>
                  </a:lnTo>
                  <a:lnTo>
                    <a:pt x="5" y="107"/>
                  </a:lnTo>
                  <a:lnTo>
                    <a:pt x="0" y="109"/>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68" name="Freeform 108">
              <a:extLst>
                <a:ext uri="{FF2B5EF4-FFF2-40B4-BE49-F238E27FC236}">
                  <a16:creationId xmlns:a16="http://schemas.microsoft.com/office/drawing/2014/main" id="{F64AC266-1A54-D94D-F64B-6D9EBCA1C3D0}"/>
                </a:ext>
              </a:extLst>
            </p:cNvPr>
            <p:cNvSpPr>
              <a:spLocks noEditPoints="1"/>
            </p:cNvSpPr>
            <p:nvPr/>
          </p:nvSpPr>
          <p:spPr bwMode="auto">
            <a:xfrm>
              <a:off x="1422" y="1514"/>
              <a:ext cx="828" cy="199"/>
            </a:xfrm>
            <a:custGeom>
              <a:avLst/>
              <a:gdLst>
                <a:gd name="T0" fmla="*/ 828 w 828"/>
                <a:gd name="T1" fmla="*/ 84 h 199"/>
                <a:gd name="T2" fmla="*/ 828 w 828"/>
                <a:gd name="T3" fmla="*/ 74 h 199"/>
                <a:gd name="T4" fmla="*/ 827 w 828"/>
                <a:gd name="T5" fmla="*/ 63 h 199"/>
                <a:gd name="T6" fmla="*/ 825 w 828"/>
                <a:gd name="T7" fmla="*/ 53 h 199"/>
                <a:gd name="T8" fmla="*/ 825 w 828"/>
                <a:gd name="T9" fmla="*/ 41 h 199"/>
                <a:gd name="T10" fmla="*/ 823 w 828"/>
                <a:gd name="T11" fmla="*/ 31 h 199"/>
                <a:gd name="T12" fmla="*/ 820 w 828"/>
                <a:gd name="T13" fmla="*/ 20 h 199"/>
                <a:gd name="T14" fmla="*/ 818 w 828"/>
                <a:gd name="T15" fmla="*/ 10 h 199"/>
                <a:gd name="T16" fmla="*/ 817 w 828"/>
                <a:gd name="T17" fmla="*/ 0 h 199"/>
                <a:gd name="T18" fmla="*/ 812 w 828"/>
                <a:gd name="T19" fmla="*/ 0 h 199"/>
                <a:gd name="T20" fmla="*/ 814 w 828"/>
                <a:gd name="T21" fmla="*/ 10 h 199"/>
                <a:gd name="T22" fmla="*/ 817 w 828"/>
                <a:gd name="T23" fmla="*/ 21 h 199"/>
                <a:gd name="T24" fmla="*/ 818 w 828"/>
                <a:gd name="T25" fmla="*/ 31 h 199"/>
                <a:gd name="T26" fmla="*/ 820 w 828"/>
                <a:gd name="T27" fmla="*/ 43 h 199"/>
                <a:gd name="T28" fmla="*/ 822 w 828"/>
                <a:gd name="T29" fmla="*/ 53 h 199"/>
                <a:gd name="T30" fmla="*/ 822 w 828"/>
                <a:gd name="T31" fmla="*/ 64 h 199"/>
                <a:gd name="T32" fmla="*/ 823 w 828"/>
                <a:gd name="T33" fmla="*/ 76 h 199"/>
                <a:gd name="T34" fmla="*/ 823 w 828"/>
                <a:gd name="T35" fmla="*/ 88 h 199"/>
                <a:gd name="T36" fmla="*/ 828 w 828"/>
                <a:gd name="T37" fmla="*/ 84 h 199"/>
                <a:gd name="T38" fmla="*/ 0 w 828"/>
                <a:gd name="T39" fmla="*/ 109 h 199"/>
                <a:gd name="T40" fmla="*/ 0 w 828"/>
                <a:gd name="T41" fmla="*/ 121 h 199"/>
                <a:gd name="T42" fmla="*/ 0 w 828"/>
                <a:gd name="T43" fmla="*/ 132 h 199"/>
                <a:gd name="T44" fmla="*/ 2 w 828"/>
                <a:gd name="T45" fmla="*/ 144 h 199"/>
                <a:gd name="T46" fmla="*/ 4 w 828"/>
                <a:gd name="T47" fmla="*/ 154 h 199"/>
                <a:gd name="T48" fmla="*/ 5 w 828"/>
                <a:gd name="T49" fmla="*/ 165 h 199"/>
                <a:gd name="T50" fmla="*/ 7 w 828"/>
                <a:gd name="T51" fmla="*/ 177 h 199"/>
                <a:gd name="T52" fmla="*/ 9 w 828"/>
                <a:gd name="T53" fmla="*/ 187 h 199"/>
                <a:gd name="T54" fmla="*/ 12 w 828"/>
                <a:gd name="T55" fmla="*/ 199 h 199"/>
                <a:gd name="T56" fmla="*/ 17 w 828"/>
                <a:gd name="T57" fmla="*/ 199 h 199"/>
                <a:gd name="T58" fmla="*/ 14 w 828"/>
                <a:gd name="T59" fmla="*/ 187 h 199"/>
                <a:gd name="T60" fmla="*/ 12 w 828"/>
                <a:gd name="T61" fmla="*/ 175 h 199"/>
                <a:gd name="T62" fmla="*/ 10 w 828"/>
                <a:gd name="T63" fmla="*/ 165 h 199"/>
                <a:gd name="T64" fmla="*/ 9 w 828"/>
                <a:gd name="T65" fmla="*/ 154 h 199"/>
                <a:gd name="T66" fmla="*/ 7 w 828"/>
                <a:gd name="T67" fmla="*/ 142 h 199"/>
                <a:gd name="T68" fmla="*/ 5 w 828"/>
                <a:gd name="T69" fmla="*/ 131 h 199"/>
                <a:gd name="T70" fmla="*/ 5 w 828"/>
                <a:gd name="T71" fmla="*/ 119 h 199"/>
                <a:gd name="T72" fmla="*/ 5 w 828"/>
                <a:gd name="T73" fmla="*/ 106 h 199"/>
                <a:gd name="T74" fmla="*/ 0 w 828"/>
                <a:gd name="T75" fmla="*/ 10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28" h="199">
                  <a:moveTo>
                    <a:pt x="828" y="84"/>
                  </a:moveTo>
                  <a:lnTo>
                    <a:pt x="828" y="74"/>
                  </a:lnTo>
                  <a:lnTo>
                    <a:pt x="827" y="63"/>
                  </a:lnTo>
                  <a:lnTo>
                    <a:pt x="825" y="53"/>
                  </a:lnTo>
                  <a:lnTo>
                    <a:pt x="825" y="41"/>
                  </a:lnTo>
                  <a:lnTo>
                    <a:pt x="823" y="31"/>
                  </a:lnTo>
                  <a:lnTo>
                    <a:pt x="820" y="20"/>
                  </a:lnTo>
                  <a:lnTo>
                    <a:pt x="818" y="10"/>
                  </a:lnTo>
                  <a:lnTo>
                    <a:pt x="817" y="0"/>
                  </a:lnTo>
                  <a:lnTo>
                    <a:pt x="812" y="0"/>
                  </a:lnTo>
                  <a:lnTo>
                    <a:pt x="814" y="10"/>
                  </a:lnTo>
                  <a:lnTo>
                    <a:pt x="817" y="21"/>
                  </a:lnTo>
                  <a:lnTo>
                    <a:pt x="818" y="31"/>
                  </a:lnTo>
                  <a:lnTo>
                    <a:pt x="820" y="43"/>
                  </a:lnTo>
                  <a:lnTo>
                    <a:pt x="822" y="53"/>
                  </a:lnTo>
                  <a:lnTo>
                    <a:pt x="822" y="64"/>
                  </a:lnTo>
                  <a:lnTo>
                    <a:pt x="823" y="76"/>
                  </a:lnTo>
                  <a:lnTo>
                    <a:pt x="823" y="88"/>
                  </a:lnTo>
                  <a:lnTo>
                    <a:pt x="828" y="84"/>
                  </a:lnTo>
                  <a:close/>
                  <a:moveTo>
                    <a:pt x="0" y="109"/>
                  </a:moveTo>
                  <a:lnTo>
                    <a:pt x="0" y="121"/>
                  </a:lnTo>
                  <a:lnTo>
                    <a:pt x="0" y="132"/>
                  </a:lnTo>
                  <a:lnTo>
                    <a:pt x="2" y="144"/>
                  </a:lnTo>
                  <a:lnTo>
                    <a:pt x="4" y="154"/>
                  </a:lnTo>
                  <a:lnTo>
                    <a:pt x="5" y="165"/>
                  </a:lnTo>
                  <a:lnTo>
                    <a:pt x="7" y="177"/>
                  </a:lnTo>
                  <a:lnTo>
                    <a:pt x="9" y="187"/>
                  </a:lnTo>
                  <a:lnTo>
                    <a:pt x="12" y="199"/>
                  </a:lnTo>
                  <a:lnTo>
                    <a:pt x="17" y="199"/>
                  </a:lnTo>
                  <a:lnTo>
                    <a:pt x="14" y="187"/>
                  </a:lnTo>
                  <a:lnTo>
                    <a:pt x="12" y="175"/>
                  </a:lnTo>
                  <a:lnTo>
                    <a:pt x="10" y="165"/>
                  </a:lnTo>
                  <a:lnTo>
                    <a:pt x="9" y="154"/>
                  </a:lnTo>
                  <a:lnTo>
                    <a:pt x="7" y="142"/>
                  </a:lnTo>
                  <a:lnTo>
                    <a:pt x="5" y="131"/>
                  </a:lnTo>
                  <a:lnTo>
                    <a:pt x="5" y="119"/>
                  </a:lnTo>
                  <a:lnTo>
                    <a:pt x="5" y="106"/>
                  </a:lnTo>
                  <a:lnTo>
                    <a:pt x="0" y="109"/>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69" name="Freeform 109">
              <a:extLst>
                <a:ext uri="{FF2B5EF4-FFF2-40B4-BE49-F238E27FC236}">
                  <a16:creationId xmlns:a16="http://schemas.microsoft.com/office/drawing/2014/main" id="{558948E6-60E1-8D65-334C-96C325359995}"/>
                </a:ext>
              </a:extLst>
            </p:cNvPr>
            <p:cNvSpPr>
              <a:spLocks noEditPoints="1"/>
            </p:cNvSpPr>
            <p:nvPr/>
          </p:nvSpPr>
          <p:spPr bwMode="auto">
            <a:xfrm>
              <a:off x="1424" y="1514"/>
              <a:ext cx="823" cy="199"/>
            </a:xfrm>
            <a:custGeom>
              <a:avLst/>
              <a:gdLst>
                <a:gd name="T0" fmla="*/ 823 w 823"/>
                <a:gd name="T1" fmla="*/ 86 h 199"/>
                <a:gd name="T2" fmla="*/ 823 w 823"/>
                <a:gd name="T3" fmla="*/ 74 h 199"/>
                <a:gd name="T4" fmla="*/ 823 w 823"/>
                <a:gd name="T5" fmla="*/ 64 h 199"/>
                <a:gd name="T6" fmla="*/ 821 w 823"/>
                <a:gd name="T7" fmla="*/ 53 h 199"/>
                <a:gd name="T8" fmla="*/ 820 w 823"/>
                <a:gd name="T9" fmla="*/ 41 h 199"/>
                <a:gd name="T10" fmla="*/ 818 w 823"/>
                <a:gd name="T11" fmla="*/ 31 h 199"/>
                <a:gd name="T12" fmla="*/ 816 w 823"/>
                <a:gd name="T13" fmla="*/ 21 h 199"/>
                <a:gd name="T14" fmla="*/ 815 w 823"/>
                <a:gd name="T15" fmla="*/ 10 h 199"/>
                <a:gd name="T16" fmla="*/ 812 w 823"/>
                <a:gd name="T17" fmla="*/ 0 h 199"/>
                <a:gd name="T18" fmla="*/ 807 w 823"/>
                <a:gd name="T19" fmla="*/ 0 h 199"/>
                <a:gd name="T20" fmla="*/ 810 w 823"/>
                <a:gd name="T21" fmla="*/ 10 h 199"/>
                <a:gd name="T22" fmla="*/ 812 w 823"/>
                <a:gd name="T23" fmla="*/ 21 h 199"/>
                <a:gd name="T24" fmla="*/ 813 w 823"/>
                <a:gd name="T25" fmla="*/ 31 h 199"/>
                <a:gd name="T26" fmla="*/ 815 w 823"/>
                <a:gd name="T27" fmla="*/ 43 h 199"/>
                <a:gd name="T28" fmla="*/ 816 w 823"/>
                <a:gd name="T29" fmla="*/ 54 h 199"/>
                <a:gd name="T30" fmla="*/ 818 w 823"/>
                <a:gd name="T31" fmla="*/ 66 h 199"/>
                <a:gd name="T32" fmla="*/ 818 w 823"/>
                <a:gd name="T33" fmla="*/ 76 h 199"/>
                <a:gd name="T34" fmla="*/ 820 w 823"/>
                <a:gd name="T35" fmla="*/ 88 h 199"/>
                <a:gd name="T36" fmla="*/ 823 w 823"/>
                <a:gd name="T37" fmla="*/ 86 h 199"/>
                <a:gd name="T38" fmla="*/ 0 w 823"/>
                <a:gd name="T39" fmla="*/ 107 h 199"/>
                <a:gd name="T40" fmla="*/ 0 w 823"/>
                <a:gd name="T41" fmla="*/ 119 h 199"/>
                <a:gd name="T42" fmla="*/ 2 w 823"/>
                <a:gd name="T43" fmla="*/ 131 h 199"/>
                <a:gd name="T44" fmla="*/ 3 w 823"/>
                <a:gd name="T45" fmla="*/ 142 h 199"/>
                <a:gd name="T46" fmla="*/ 3 w 823"/>
                <a:gd name="T47" fmla="*/ 154 h 199"/>
                <a:gd name="T48" fmla="*/ 5 w 823"/>
                <a:gd name="T49" fmla="*/ 165 h 199"/>
                <a:gd name="T50" fmla="*/ 8 w 823"/>
                <a:gd name="T51" fmla="*/ 177 h 199"/>
                <a:gd name="T52" fmla="*/ 10 w 823"/>
                <a:gd name="T53" fmla="*/ 187 h 199"/>
                <a:gd name="T54" fmla="*/ 12 w 823"/>
                <a:gd name="T55" fmla="*/ 199 h 199"/>
                <a:gd name="T56" fmla="*/ 17 w 823"/>
                <a:gd name="T57" fmla="*/ 199 h 199"/>
                <a:gd name="T58" fmla="*/ 15 w 823"/>
                <a:gd name="T59" fmla="*/ 187 h 199"/>
                <a:gd name="T60" fmla="*/ 12 w 823"/>
                <a:gd name="T61" fmla="*/ 175 h 199"/>
                <a:gd name="T62" fmla="*/ 10 w 823"/>
                <a:gd name="T63" fmla="*/ 164 h 199"/>
                <a:gd name="T64" fmla="*/ 8 w 823"/>
                <a:gd name="T65" fmla="*/ 152 h 199"/>
                <a:gd name="T66" fmla="*/ 7 w 823"/>
                <a:gd name="T67" fmla="*/ 141 h 199"/>
                <a:gd name="T68" fmla="*/ 7 w 823"/>
                <a:gd name="T69" fmla="*/ 129 h 199"/>
                <a:gd name="T70" fmla="*/ 5 w 823"/>
                <a:gd name="T71" fmla="*/ 117 h 199"/>
                <a:gd name="T72" fmla="*/ 5 w 823"/>
                <a:gd name="T73" fmla="*/ 106 h 199"/>
                <a:gd name="T74" fmla="*/ 0 w 823"/>
                <a:gd name="T75" fmla="*/ 10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23" h="199">
                  <a:moveTo>
                    <a:pt x="823" y="86"/>
                  </a:moveTo>
                  <a:lnTo>
                    <a:pt x="823" y="74"/>
                  </a:lnTo>
                  <a:lnTo>
                    <a:pt x="823" y="64"/>
                  </a:lnTo>
                  <a:lnTo>
                    <a:pt x="821" y="53"/>
                  </a:lnTo>
                  <a:lnTo>
                    <a:pt x="820" y="41"/>
                  </a:lnTo>
                  <a:lnTo>
                    <a:pt x="818" y="31"/>
                  </a:lnTo>
                  <a:lnTo>
                    <a:pt x="816" y="21"/>
                  </a:lnTo>
                  <a:lnTo>
                    <a:pt x="815" y="10"/>
                  </a:lnTo>
                  <a:lnTo>
                    <a:pt x="812" y="0"/>
                  </a:lnTo>
                  <a:lnTo>
                    <a:pt x="807" y="0"/>
                  </a:lnTo>
                  <a:lnTo>
                    <a:pt x="810" y="10"/>
                  </a:lnTo>
                  <a:lnTo>
                    <a:pt x="812" y="21"/>
                  </a:lnTo>
                  <a:lnTo>
                    <a:pt x="813" y="31"/>
                  </a:lnTo>
                  <a:lnTo>
                    <a:pt x="815" y="43"/>
                  </a:lnTo>
                  <a:lnTo>
                    <a:pt x="816" y="54"/>
                  </a:lnTo>
                  <a:lnTo>
                    <a:pt x="818" y="66"/>
                  </a:lnTo>
                  <a:lnTo>
                    <a:pt x="818" y="76"/>
                  </a:lnTo>
                  <a:lnTo>
                    <a:pt x="820" y="88"/>
                  </a:lnTo>
                  <a:lnTo>
                    <a:pt x="823" y="86"/>
                  </a:lnTo>
                  <a:close/>
                  <a:moveTo>
                    <a:pt x="0" y="107"/>
                  </a:moveTo>
                  <a:lnTo>
                    <a:pt x="0" y="119"/>
                  </a:lnTo>
                  <a:lnTo>
                    <a:pt x="2" y="131"/>
                  </a:lnTo>
                  <a:lnTo>
                    <a:pt x="3" y="142"/>
                  </a:lnTo>
                  <a:lnTo>
                    <a:pt x="3" y="154"/>
                  </a:lnTo>
                  <a:lnTo>
                    <a:pt x="5" y="165"/>
                  </a:lnTo>
                  <a:lnTo>
                    <a:pt x="8" y="177"/>
                  </a:lnTo>
                  <a:lnTo>
                    <a:pt x="10" y="187"/>
                  </a:lnTo>
                  <a:lnTo>
                    <a:pt x="12" y="199"/>
                  </a:lnTo>
                  <a:lnTo>
                    <a:pt x="17" y="199"/>
                  </a:lnTo>
                  <a:lnTo>
                    <a:pt x="15" y="187"/>
                  </a:lnTo>
                  <a:lnTo>
                    <a:pt x="12" y="175"/>
                  </a:lnTo>
                  <a:lnTo>
                    <a:pt x="10" y="164"/>
                  </a:lnTo>
                  <a:lnTo>
                    <a:pt x="8" y="152"/>
                  </a:lnTo>
                  <a:lnTo>
                    <a:pt x="7" y="141"/>
                  </a:lnTo>
                  <a:lnTo>
                    <a:pt x="7" y="129"/>
                  </a:lnTo>
                  <a:lnTo>
                    <a:pt x="5" y="117"/>
                  </a:lnTo>
                  <a:lnTo>
                    <a:pt x="5" y="106"/>
                  </a:lnTo>
                  <a:lnTo>
                    <a:pt x="0" y="107"/>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70" name="Freeform 110">
              <a:extLst>
                <a:ext uri="{FF2B5EF4-FFF2-40B4-BE49-F238E27FC236}">
                  <a16:creationId xmlns:a16="http://schemas.microsoft.com/office/drawing/2014/main" id="{E8F9A8F9-7CF8-6AB9-2E3A-655219D8F0F2}"/>
                </a:ext>
              </a:extLst>
            </p:cNvPr>
            <p:cNvSpPr>
              <a:spLocks noEditPoints="1"/>
            </p:cNvSpPr>
            <p:nvPr/>
          </p:nvSpPr>
          <p:spPr bwMode="auto">
            <a:xfrm>
              <a:off x="1427" y="1514"/>
              <a:ext cx="818" cy="199"/>
            </a:xfrm>
            <a:custGeom>
              <a:avLst/>
              <a:gdLst>
                <a:gd name="T0" fmla="*/ 818 w 818"/>
                <a:gd name="T1" fmla="*/ 88 h 199"/>
                <a:gd name="T2" fmla="*/ 818 w 818"/>
                <a:gd name="T3" fmla="*/ 76 h 199"/>
                <a:gd name="T4" fmla="*/ 817 w 818"/>
                <a:gd name="T5" fmla="*/ 64 h 199"/>
                <a:gd name="T6" fmla="*/ 817 w 818"/>
                <a:gd name="T7" fmla="*/ 53 h 199"/>
                <a:gd name="T8" fmla="*/ 815 w 818"/>
                <a:gd name="T9" fmla="*/ 43 h 199"/>
                <a:gd name="T10" fmla="*/ 813 w 818"/>
                <a:gd name="T11" fmla="*/ 31 h 199"/>
                <a:gd name="T12" fmla="*/ 812 w 818"/>
                <a:gd name="T13" fmla="*/ 21 h 199"/>
                <a:gd name="T14" fmla="*/ 809 w 818"/>
                <a:gd name="T15" fmla="*/ 10 h 199"/>
                <a:gd name="T16" fmla="*/ 807 w 818"/>
                <a:gd name="T17" fmla="*/ 0 h 199"/>
                <a:gd name="T18" fmla="*/ 802 w 818"/>
                <a:gd name="T19" fmla="*/ 0 h 199"/>
                <a:gd name="T20" fmla="*/ 804 w 818"/>
                <a:gd name="T21" fmla="*/ 10 h 199"/>
                <a:gd name="T22" fmla="*/ 807 w 818"/>
                <a:gd name="T23" fmla="*/ 21 h 199"/>
                <a:gd name="T24" fmla="*/ 809 w 818"/>
                <a:gd name="T25" fmla="*/ 33 h 199"/>
                <a:gd name="T26" fmla="*/ 810 w 818"/>
                <a:gd name="T27" fmla="*/ 43 h 199"/>
                <a:gd name="T28" fmla="*/ 812 w 818"/>
                <a:gd name="T29" fmla="*/ 54 h 199"/>
                <a:gd name="T30" fmla="*/ 812 w 818"/>
                <a:gd name="T31" fmla="*/ 66 h 199"/>
                <a:gd name="T32" fmla="*/ 813 w 818"/>
                <a:gd name="T33" fmla="*/ 78 h 199"/>
                <a:gd name="T34" fmla="*/ 813 w 818"/>
                <a:gd name="T35" fmla="*/ 89 h 199"/>
                <a:gd name="T36" fmla="*/ 818 w 818"/>
                <a:gd name="T37" fmla="*/ 88 h 199"/>
                <a:gd name="T38" fmla="*/ 0 w 818"/>
                <a:gd name="T39" fmla="*/ 106 h 199"/>
                <a:gd name="T40" fmla="*/ 0 w 818"/>
                <a:gd name="T41" fmla="*/ 119 h 199"/>
                <a:gd name="T42" fmla="*/ 0 w 818"/>
                <a:gd name="T43" fmla="*/ 131 h 199"/>
                <a:gd name="T44" fmla="*/ 2 w 818"/>
                <a:gd name="T45" fmla="*/ 142 h 199"/>
                <a:gd name="T46" fmla="*/ 4 w 818"/>
                <a:gd name="T47" fmla="*/ 154 h 199"/>
                <a:gd name="T48" fmla="*/ 5 w 818"/>
                <a:gd name="T49" fmla="*/ 165 h 199"/>
                <a:gd name="T50" fmla="*/ 7 w 818"/>
                <a:gd name="T51" fmla="*/ 175 h 199"/>
                <a:gd name="T52" fmla="*/ 9 w 818"/>
                <a:gd name="T53" fmla="*/ 187 h 199"/>
                <a:gd name="T54" fmla="*/ 12 w 818"/>
                <a:gd name="T55" fmla="*/ 199 h 199"/>
                <a:gd name="T56" fmla="*/ 17 w 818"/>
                <a:gd name="T57" fmla="*/ 199 h 199"/>
                <a:gd name="T58" fmla="*/ 14 w 818"/>
                <a:gd name="T59" fmla="*/ 187 h 199"/>
                <a:gd name="T60" fmla="*/ 12 w 818"/>
                <a:gd name="T61" fmla="*/ 175 h 199"/>
                <a:gd name="T62" fmla="*/ 10 w 818"/>
                <a:gd name="T63" fmla="*/ 164 h 199"/>
                <a:gd name="T64" fmla="*/ 9 w 818"/>
                <a:gd name="T65" fmla="*/ 152 h 199"/>
                <a:gd name="T66" fmla="*/ 7 w 818"/>
                <a:gd name="T67" fmla="*/ 141 h 199"/>
                <a:gd name="T68" fmla="*/ 5 w 818"/>
                <a:gd name="T69" fmla="*/ 129 h 199"/>
                <a:gd name="T70" fmla="*/ 5 w 818"/>
                <a:gd name="T71" fmla="*/ 116 h 199"/>
                <a:gd name="T72" fmla="*/ 5 w 818"/>
                <a:gd name="T73" fmla="*/ 104 h 199"/>
                <a:gd name="T74" fmla="*/ 0 w 818"/>
                <a:gd name="T75" fmla="*/ 10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8" h="199">
                  <a:moveTo>
                    <a:pt x="818" y="88"/>
                  </a:moveTo>
                  <a:lnTo>
                    <a:pt x="818" y="76"/>
                  </a:lnTo>
                  <a:lnTo>
                    <a:pt x="817" y="64"/>
                  </a:lnTo>
                  <a:lnTo>
                    <a:pt x="817" y="53"/>
                  </a:lnTo>
                  <a:lnTo>
                    <a:pt x="815" y="43"/>
                  </a:lnTo>
                  <a:lnTo>
                    <a:pt x="813" y="31"/>
                  </a:lnTo>
                  <a:lnTo>
                    <a:pt x="812" y="21"/>
                  </a:lnTo>
                  <a:lnTo>
                    <a:pt x="809" y="10"/>
                  </a:lnTo>
                  <a:lnTo>
                    <a:pt x="807" y="0"/>
                  </a:lnTo>
                  <a:lnTo>
                    <a:pt x="802" y="0"/>
                  </a:lnTo>
                  <a:lnTo>
                    <a:pt x="804" y="10"/>
                  </a:lnTo>
                  <a:lnTo>
                    <a:pt x="807" y="21"/>
                  </a:lnTo>
                  <a:lnTo>
                    <a:pt x="809" y="33"/>
                  </a:lnTo>
                  <a:lnTo>
                    <a:pt x="810" y="43"/>
                  </a:lnTo>
                  <a:lnTo>
                    <a:pt x="812" y="54"/>
                  </a:lnTo>
                  <a:lnTo>
                    <a:pt x="812" y="66"/>
                  </a:lnTo>
                  <a:lnTo>
                    <a:pt x="813" y="78"/>
                  </a:lnTo>
                  <a:lnTo>
                    <a:pt x="813" y="89"/>
                  </a:lnTo>
                  <a:lnTo>
                    <a:pt x="818" y="88"/>
                  </a:lnTo>
                  <a:close/>
                  <a:moveTo>
                    <a:pt x="0" y="106"/>
                  </a:moveTo>
                  <a:lnTo>
                    <a:pt x="0" y="119"/>
                  </a:lnTo>
                  <a:lnTo>
                    <a:pt x="0" y="131"/>
                  </a:lnTo>
                  <a:lnTo>
                    <a:pt x="2" y="142"/>
                  </a:lnTo>
                  <a:lnTo>
                    <a:pt x="4" y="154"/>
                  </a:lnTo>
                  <a:lnTo>
                    <a:pt x="5" y="165"/>
                  </a:lnTo>
                  <a:lnTo>
                    <a:pt x="7" y="175"/>
                  </a:lnTo>
                  <a:lnTo>
                    <a:pt x="9" y="187"/>
                  </a:lnTo>
                  <a:lnTo>
                    <a:pt x="12" y="199"/>
                  </a:lnTo>
                  <a:lnTo>
                    <a:pt x="17" y="199"/>
                  </a:lnTo>
                  <a:lnTo>
                    <a:pt x="14" y="187"/>
                  </a:lnTo>
                  <a:lnTo>
                    <a:pt x="12" y="175"/>
                  </a:lnTo>
                  <a:lnTo>
                    <a:pt x="10" y="164"/>
                  </a:lnTo>
                  <a:lnTo>
                    <a:pt x="9" y="152"/>
                  </a:lnTo>
                  <a:lnTo>
                    <a:pt x="7" y="141"/>
                  </a:lnTo>
                  <a:lnTo>
                    <a:pt x="5" y="129"/>
                  </a:lnTo>
                  <a:lnTo>
                    <a:pt x="5" y="116"/>
                  </a:lnTo>
                  <a:lnTo>
                    <a:pt x="5" y="104"/>
                  </a:lnTo>
                  <a:lnTo>
                    <a:pt x="0" y="106"/>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71" name="Freeform 111">
              <a:extLst>
                <a:ext uri="{FF2B5EF4-FFF2-40B4-BE49-F238E27FC236}">
                  <a16:creationId xmlns:a16="http://schemas.microsoft.com/office/drawing/2014/main" id="{FC23312E-C201-3743-1271-F82B8F9A57AD}"/>
                </a:ext>
              </a:extLst>
            </p:cNvPr>
            <p:cNvSpPr>
              <a:spLocks noEditPoints="1"/>
            </p:cNvSpPr>
            <p:nvPr/>
          </p:nvSpPr>
          <p:spPr bwMode="auto">
            <a:xfrm>
              <a:off x="1429" y="1514"/>
              <a:ext cx="815" cy="199"/>
            </a:xfrm>
            <a:custGeom>
              <a:avLst/>
              <a:gdLst>
                <a:gd name="T0" fmla="*/ 815 w 815"/>
                <a:gd name="T1" fmla="*/ 88 h 199"/>
                <a:gd name="T2" fmla="*/ 813 w 815"/>
                <a:gd name="T3" fmla="*/ 76 h 199"/>
                <a:gd name="T4" fmla="*/ 813 w 815"/>
                <a:gd name="T5" fmla="*/ 66 h 199"/>
                <a:gd name="T6" fmla="*/ 811 w 815"/>
                <a:gd name="T7" fmla="*/ 54 h 199"/>
                <a:gd name="T8" fmla="*/ 810 w 815"/>
                <a:gd name="T9" fmla="*/ 43 h 199"/>
                <a:gd name="T10" fmla="*/ 808 w 815"/>
                <a:gd name="T11" fmla="*/ 31 h 199"/>
                <a:gd name="T12" fmla="*/ 807 w 815"/>
                <a:gd name="T13" fmla="*/ 21 h 199"/>
                <a:gd name="T14" fmla="*/ 805 w 815"/>
                <a:gd name="T15" fmla="*/ 10 h 199"/>
                <a:gd name="T16" fmla="*/ 802 w 815"/>
                <a:gd name="T17" fmla="*/ 0 h 199"/>
                <a:gd name="T18" fmla="*/ 797 w 815"/>
                <a:gd name="T19" fmla="*/ 0 h 199"/>
                <a:gd name="T20" fmla="*/ 800 w 815"/>
                <a:gd name="T21" fmla="*/ 10 h 199"/>
                <a:gd name="T22" fmla="*/ 802 w 815"/>
                <a:gd name="T23" fmla="*/ 21 h 199"/>
                <a:gd name="T24" fmla="*/ 803 w 815"/>
                <a:gd name="T25" fmla="*/ 33 h 199"/>
                <a:gd name="T26" fmla="*/ 807 w 815"/>
                <a:gd name="T27" fmla="*/ 45 h 199"/>
                <a:gd name="T28" fmla="*/ 807 w 815"/>
                <a:gd name="T29" fmla="*/ 56 h 199"/>
                <a:gd name="T30" fmla="*/ 808 w 815"/>
                <a:gd name="T31" fmla="*/ 66 h 199"/>
                <a:gd name="T32" fmla="*/ 808 w 815"/>
                <a:gd name="T33" fmla="*/ 78 h 199"/>
                <a:gd name="T34" fmla="*/ 810 w 815"/>
                <a:gd name="T35" fmla="*/ 89 h 199"/>
                <a:gd name="T36" fmla="*/ 815 w 815"/>
                <a:gd name="T37" fmla="*/ 88 h 199"/>
                <a:gd name="T38" fmla="*/ 0 w 815"/>
                <a:gd name="T39" fmla="*/ 106 h 199"/>
                <a:gd name="T40" fmla="*/ 0 w 815"/>
                <a:gd name="T41" fmla="*/ 117 h 199"/>
                <a:gd name="T42" fmla="*/ 2 w 815"/>
                <a:gd name="T43" fmla="*/ 129 h 199"/>
                <a:gd name="T44" fmla="*/ 2 w 815"/>
                <a:gd name="T45" fmla="*/ 141 h 199"/>
                <a:gd name="T46" fmla="*/ 3 w 815"/>
                <a:gd name="T47" fmla="*/ 152 h 199"/>
                <a:gd name="T48" fmla="*/ 5 w 815"/>
                <a:gd name="T49" fmla="*/ 164 h 199"/>
                <a:gd name="T50" fmla="*/ 7 w 815"/>
                <a:gd name="T51" fmla="*/ 175 h 199"/>
                <a:gd name="T52" fmla="*/ 10 w 815"/>
                <a:gd name="T53" fmla="*/ 187 h 199"/>
                <a:gd name="T54" fmla="*/ 12 w 815"/>
                <a:gd name="T55" fmla="*/ 199 h 199"/>
                <a:gd name="T56" fmla="*/ 17 w 815"/>
                <a:gd name="T57" fmla="*/ 199 h 199"/>
                <a:gd name="T58" fmla="*/ 15 w 815"/>
                <a:gd name="T59" fmla="*/ 187 h 199"/>
                <a:gd name="T60" fmla="*/ 12 w 815"/>
                <a:gd name="T61" fmla="*/ 175 h 199"/>
                <a:gd name="T62" fmla="*/ 10 w 815"/>
                <a:gd name="T63" fmla="*/ 164 h 199"/>
                <a:gd name="T64" fmla="*/ 8 w 815"/>
                <a:gd name="T65" fmla="*/ 152 h 199"/>
                <a:gd name="T66" fmla="*/ 7 w 815"/>
                <a:gd name="T67" fmla="*/ 139 h 199"/>
                <a:gd name="T68" fmla="*/ 7 w 815"/>
                <a:gd name="T69" fmla="*/ 127 h 199"/>
                <a:gd name="T70" fmla="*/ 5 w 815"/>
                <a:gd name="T71" fmla="*/ 116 h 199"/>
                <a:gd name="T72" fmla="*/ 5 w 815"/>
                <a:gd name="T73" fmla="*/ 102 h 199"/>
                <a:gd name="T74" fmla="*/ 0 w 815"/>
                <a:gd name="T75" fmla="*/ 10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5" h="199">
                  <a:moveTo>
                    <a:pt x="815" y="88"/>
                  </a:moveTo>
                  <a:lnTo>
                    <a:pt x="813" y="76"/>
                  </a:lnTo>
                  <a:lnTo>
                    <a:pt x="813" y="66"/>
                  </a:lnTo>
                  <a:lnTo>
                    <a:pt x="811" y="54"/>
                  </a:lnTo>
                  <a:lnTo>
                    <a:pt x="810" y="43"/>
                  </a:lnTo>
                  <a:lnTo>
                    <a:pt x="808" y="31"/>
                  </a:lnTo>
                  <a:lnTo>
                    <a:pt x="807" y="21"/>
                  </a:lnTo>
                  <a:lnTo>
                    <a:pt x="805" y="10"/>
                  </a:lnTo>
                  <a:lnTo>
                    <a:pt x="802" y="0"/>
                  </a:lnTo>
                  <a:lnTo>
                    <a:pt x="797" y="0"/>
                  </a:lnTo>
                  <a:lnTo>
                    <a:pt x="800" y="10"/>
                  </a:lnTo>
                  <a:lnTo>
                    <a:pt x="802" y="21"/>
                  </a:lnTo>
                  <a:lnTo>
                    <a:pt x="803" y="33"/>
                  </a:lnTo>
                  <a:lnTo>
                    <a:pt x="807" y="45"/>
                  </a:lnTo>
                  <a:lnTo>
                    <a:pt x="807" y="56"/>
                  </a:lnTo>
                  <a:lnTo>
                    <a:pt x="808" y="66"/>
                  </a:lnTo>
                  <a:lnTo>
                    <a:pt x="808" y="78"/>
                  </a:lnTo>
                  <a:lnTo>
                    <a:pt x="810" y="89"/>
                  </a:lnTo>
                  <a:lnTo>
                    <a:pt x="815" y="88"/>
                  </a:lnTo>
                  <a:close/>
                  <a:moveTo>
                    <a:pt x="0" y="106"/>
                  </a:moveTo>
                  <a:lnTo>
                    <a:pt x="0" y="117"/>
                  </a:lnTo>
                  <a:lnTo>
                    <a:pt x="2" y="129"/>
                  </a:lnTo>
                  <a:lnTo>
                    <a:pt x="2" y="141"/>
                  </a:lnTo>
                  <a:lnTo>
                    <a:pt x="3" y="152"/>
                  </a:lnTo>
                  <a:lnTo>
                    <a:pt x="5" y="164"/>
                  </a:lnTo>
                  <a:lnTo>
                    <a:pt x="7" y="175"/>
                  </a:lnTo>
                  <a:lnTo>
                    <a:pt x="10" y="187"/>
                  </a:lnTo>
                  <a:lnTo>
                    <a:pt x="12" y="199"/>
                  </a:lnTo>
                  <a:lnTo>
                    <a:pt x="17" y="199"/>
                  </a:lnTo>
                  <a:lnTo>
                    <a:pt x="15" y="187"/>
                  </a:lnTo>
                  <a:lnTo>
                    <a:pt x="12" y="175"/>
                  </a:lnTo>
                  <a:lnTo>
                    <a:pt x="10" y="164"/>
                  </a:lnTo>
                  <a:lnTo>
                    <a:pt x="8" y="152"/>
                  </a:lnTo>
                  <a:lnTo>
                    <a:pt x="7" y="139"/>
                  </a:lnTo>
                  <a:lnTo>
                    <a:pt x="7" y="127"/>
                  </a:lnTo>
                  <a:lnTo>
                    <a:pt x="5" y="116"/>
                  </a:lnTo>
                  <a:lnTo>
                    <a:pt x="5" y="102"/>
                  </a:lnTo>
                  <a:lnTo>
                    <a:pt x="0" y="106"/>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72" name="Freeform 112">
              <a:extLst>
                <a:ext uri="{FF2B5EF4-FFF2-40B4-BE49-F238E27FC236}">
                  <a16:creationId xmlns:a16="http://schemas.microsoft.com/office/drawing/2014/main" id="{6258D75A-6B9C-441B-1CEB-E33B20151013}"/>
                </a:ext>
              </a:extLst>
            </p:cNvPr>
            <p:cNvSpPr>
              <a:spLocks noEditPoints="1"/>
            </p:cNvSpPr>
            <p:nvPr/>
          </p:nvSpPr>
          <p:spPr bwMode="auto">
            <a:xfrm>
              <a:off x="1432" y="1514"/>
              <a:ext cx="808" cy="199"/>
            </a:xfrm>
            <a:custGeom>
              <a:avLst/>
              <a:gdLst>
                <a:gd name="T0" fmla="*/ 808 w 808"/>
                <a:gd name="T1" fmla="*/ 89 h 199"/>
                <a:gd name="T2" fmla="*/ 808 w 808"/>
                <a:gd name="T3" fmla="*/ 78 h 199"/>
                <a:gd name="T4" fmla="*/ 807 w 808"/>
                <a:gd name="T5" fmla="*/ 66 h 199"/>
                <a:gd name="T6" fmla="*/ 807 w 808"/>
                <a:gd name="T7" fmla="*/ 54 h 199"/>
                <a:gd name="T8" fmla="*/ 805 w 808"/>
                <a:gd name="T9" fmla="*/ 43 h 199"/>
                <a:gd name="T10" fmla="*/ 804 w 808"/>
                <a:gd name="T11" fmla="*/ 33 h 199"/>
                <a:gd name="T12" fmla="*/ 802 w 808"/>
                <a:gd name="T13" fmla="*/ 21 h 199"/>
                <a:gd name="T14" fmla="*/ 799 w 808"/>
                <a:gd name="T15" fmla="*/ 10 h 199"/>
                <a:gd name="T16" fmla="*/ 797 w 808"/>
                <a:gd name="T17" fmla="*/ 0 h 199"/>
                <a:gd name="T18" fmla="*/ 792 w 808"/>
                <a:gd name="T19" fmla="*/ 0 h 199"/>
                <a:gd name="T20" fmla="*/ 794 w 808"/>
                <a:gd name="T21" fmla="*/ 11 h 199"/>
                <a:gd name="T22" fmla="*/ 797 w 808"/>
                <a:gd name="T23" fmla="*/ 21 h 199"/>
                <a:gd name="T24" fmla="*/ 799 w 808"/>
                <a:gd name="T25" fmla="*/ 33 h 199"/>
                <a:gd name="T26" fmla="*/ 800 w 808"/>
                <a:gd name="T27" fmla="*/ 45 h 199"/>
                <a:gd name="T28" fmla="*/ 802 w 808"/>
                <a:gd name="T29" fmla="*/ 56 h 199"/>
                <a:gd name="T30" fmla="*/ 804 w 808"/>
                <a:gd name="T31" fmla="*/ 68 h 199"/>
                <a:gd name="T32" fmla="*/ 804 w 808"/>
                <a:gd name="T33" fmla="*/ 79 h 199"/>
                <a:gd name="T34" fmla="*/ 804 w 808"/>
                <a:gd name="T35" fmla="*/ 91 h 199"/>
                <a:gd name="T36" fmla="*/ 808 w 808"/>
                <a:gd name="T37" fmla="*/ 89 h 199"/>
                <a:gd name="T38" fmla="*/ 0 w 808"/>
                <a:gd name="T39" fmla="*/ 104 h 199"/>
                <a:gd name="T40" fmla="*/ 0 w 808"/>
                <a:gd name="T41" fmla="*/ 116 h 199"/>
                <a:gd name="T42" fmla="*/ 0 w 808"/>
                <a:gd name="T43" fmla="*/ 129 h 199"/>
                <a:gd name="T44" fmla="*/ 2 w 808"/>
                <a:gd name="T45" fmla="*/ 141 h 199"/>
                <a:gd name="T46" fmla="*/ 4 w 808"/>
                <a:gd name="T47" fmla="*/ 152 h 199"/>
                <a:gd name="T48" fmla="*/ 5 w 808"/>
                <a:gd name="T49" fmla="*/ 164 h 199"/>
                <a:gd name="T50" fmla="*/ 7 w 808"/>
                <a:gd name="T51" fmla="*/ 175 h 199"/>
                <a:gd name="T52" fmla="*/ 9 w 808"/>
                <a:gd name="T53" fmla="*/ 187 h 199"/>
                <a:gd name="T54" fmla="*/ 12 w 808"/>
                <a:gd name="T55" fmla="*/ 199 h 199"/>
                <a:gd name="T56" fmla="*/ 17 w 808"/>
                <a:gd name="T57" fmla="*/ 199 h 199"/>
                <a:gd name="T58" fmla="*/ 14 w 808"/>
                <a:gd name="T59" fmla="*/ 187 h 199"/>
                <a:gd name="T60" fmla="*/ 12 w 808"/>
                <a:gd name="T61" fmla="*/ 175 h 199"/>
                <a:gd name="T62" fmla="*/ 9 w 808"/>
                <a:gd name="T63" fmla="*/ 164 h 199"/>
                <a:gd name="T64" fmla="*/ 7 w 808"/>
                <a:gd name="T65" fmla="*/ 151 h 199"/>
                <a:gd name="T66" fmla="*/ 7 w 808"/>
                <a:gd name="T67" fmla="*/ 139 h 199"/>
                <a:gd name="T68" fmla="*/ 5 w 808"/>
                <a:gd name="T69" fmla="*/ 127 h 199"/>
                <a:gd name="T70" fmla="*/ 5 w 808"/>
                <a:gd name="T71" fmla="*/ 114 h 199"/>
                <a:gd name="T72" fmla="*/ 4 w 808"/>
                <a:gd name="T73" fmla="*/ 102 h 199"/>
                <a:gd name="T74" fmla="*/ 0 w 808"/>
                <a:gd name="T75" fmla="*/ 10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08" h="199">
                  <a:moveTo>
                    <a:pt x="808" y="89"/>
                  </a:moveTo>
                  <a:lnTo>
                    <a:pt x="808" y="78"/>
                  </a:lnTo>
                  <a:lnTo>
                    <a:pt x="807" y="66"/>
                  </a:lnTo>
                  <a:lnTo>
                    <a:pt x="807" y="54"/>
                  </a:lnTo>
                  <a:lnTo>
                    <a:pt x="805" y="43"/>
                  </a:lnTo>
                  <a:lnTo>
                    <a:pt x="804" y="33"/>
                  </a:lnTo>
                  <a:lnTo>
                    <a:pt x="802" y="21"/>
                  </a:lnTo>
                  <a:lnTo>
                    <a:pt x="799" y="10"/>
                  </a:lnTo>
                  <a:lnTo>
                    <a:pt x="797" y="0"/>
                  </a:lnTo>
                  <a:lnTo>
                    <a:pt x="792" y="0"/>
                  </a:lnTo>
                  <a:lnTo>
                    <a:pt x="794" y="11"/>
                  </a:lnTo>
                  <a:lnTo>
                    <a:pt x="797" y="21"/>
                  </a:lnTo>
                  <a:lnTo>
                    <a:pt x="799" y="33"/>
                  </a:lnTo>
                  <a:lnTo>
                    <a:pt x="800" y="45"/>
                  </a:lnTo>
                  <a:lnTo>
                    <a:pt x="802" y="56"/>
                  </a:lnTo>
                  <a:lnTo>
                    <a:pt x="804" y="68"/>
                  </a:lnTo>
                  <a:lnTo>
                    <a:pt x="804" y="79"/>
                  </a:lnTo>
                  <a:lnTo>
                    <a:pt x="804" y="91"/>
                  </a:lnTo>
                  <a:lnTo>
                    <a:pt x="808" y="89"/>
                  </a:lnTo>
                  <a:close/>
                  <a:moveTo>
                    <a:pt x="0" y="104"/>
                  </a:moveTo>
                  <a:lnTo>
                    <a:pt x="0" y="116"/>
                  </a:lnTo>
                  <a:lnTo>
                    <a:pt x="0" y="129"/>
                  </a:lnTo>
                  <a:lnTo>
                    <a:pt x="2" y="141"/>
                  </a:lnTo>
                  <a:lnTo>
                    <a:pt x="4" y="152"/>
                  </a:lnTo>
                  <a:lnTo>
                    <a:pt x="5" y="164"/>
                  </a:lnTo>
                  <a:lnTo>
                    <a:pt x="7" y="175"/>
                  </a:lnTo>
                  <a:lnTo>
                    <a:pt x="9" y="187"/>
                  </a:lnTo>
                  <a:lnTo>
                    <a:pt x="12" y="199"/>
                  </a:lnTo>
                  <a:lnTo>
                    <a:pt x="17" y="199"/>
                  </a:lnTo>
                  <a:lnTo>
                    <a:pt x="14" y="187"/>
                  </a:lnTo>
                  <a:lnTo>
                    <a:pt x="12" y="175"/>
                  </a:lnTo>
                  <a:lnTo>
                    <a:pt x="9" y="164"/>
                  </a:lnTo>
                  <a:lnTo>
                    <a:pt x="7" y="151"/>
                  </a:lnTo>
                  <a:lnTo>
                    <a:pt x="7" y="139"/>
                  </a:lnTo>
                  <a:lnTo>
                    <a:pt x="5" y="127"/>
                  </a:lnTo>
                  <a:lnTo>
                    <a:pt x="5" y="114"/>
                  </a:lnTo>
                  <a:lnTo>
                    <a:pt x="4" y="102"/>
                  </a:lnTo>
                  <a:lnTo>
                    <a:pt x="0" y="104"/>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73" name="Freeform 113">
              <a:extLst>
                <a:ext uri="{FF2B5EF4-FFF2-40B4-BE49-F238E27FC236}">
                  <a16:creationId xmlns:a16="http://schemas.microsoft.com/office/drawing/2014/main" id="{71E0F3E5-0269-9C8C-069C-EC650403A23A}"/>
                </a:ext>
              </a:extLst>
            </p:cNvPr>
            <p:cNvSpPr>
              <a:spLocks noEditPoints="1"/>
            </p:cNvSpPr>
            <p:nvPr/>
          </p:nvSpPr>
          <p:spPr bwMode="auto">
            <a:xfrm>
              <a:off x="1434" y="1514"/>
              <a:ext cx="805" cy="199"/>
            </a:xfrm>
            <a:custGeom>
              <a:avLst/>
              <a:gdLst>
                <a:gd name="T0" fmla="*/ 805 w 805"/>
                <a:gd name="T1" fmla="*/ 89 h 199"/>
                <a:gd name="T2" fmla="*/ 803 w 805"/>
                <a:gd name="T3" fmla="*/ 78 h 199"/>
                <a:gd name="T4" fmla="*/ 803 w 805"/>
                <a:gd name="T5" fmla="*/ 66 h 199"/>
                <a:gd name="T6" fmla="*/ 802 w 805"/>
                <a:gd name="T7" fmla="*/ 56 h 199"/>
                <a:gd name="T8" fmla="*/ 802 w 805"/>
                <a:gd name="T9" fmla="*/ 45 h 199"/>
                <a:gd name="T10" fmla="*/ 798 w 805"/>
                <a:gd name="T11" fmla="*/ 33 h 199"/>
                <a:gd name="T12" fmla="*/ 797 w 805"/>
                <a:gd name="T13" fmla="*/ 21 h 199"/>
                <a:gd name="T14" fmla="*/ 795 w 805"/>
                <a:gd name="T15" fmla="*/ 10 h 199"/>
                <a:gd name="T16" fmla="*/ 792 w 805"/>
                <a:gd name="T17" fmla="*/ 0 h 199"/>
                <a:gd name="T18" fmla="*/ 787 w 805"/>
                <a:gd name="T19" fmla="*/ 0 h 199"/>
                <a:gd name="T20" fmla="*/ 790 w 805"/>
                <a:gd name="T21" fmla="*/ 11 h 199"/>
                <a:gd name="T22" fmla="*/ 792 w 805"/>
                <a:gd name="T23" fmla="*/ 21 h 199"/>
                <a:gd name="T24" fmla="*/ 795 w 805"/>
                <a:gd name="T25" fmla="*/ 33 h 199"/>
                <a:gd name="T26" fmla="*/ 797 w 805"/>
                <a:gd name="T27" fmla="*/ 45 h 199"/>
                <a:gd name="T28" fmla="*/ 798 w 805"/>
                <a:gd name="T29" fmla="*/ 56 h 199"/>
                <a:gd name="T30" fmla="*/ 798 w 805"/>
                <a:gd name="T31" fmla="*/ 68 h 199"/>
                <a:gd name="T32" fmla="*/ 800 w 805"/>
                <a:gd name="T33" fmla="*/ 81 h 199"/>
                <a:gd name="T34" fmla="*/ 800 w 805"/>
                <a:gd name="T35" fmla="*/ 93 h 199"/>
                <a:gd name="T36" fmla="*/ 805 w 805"/>
                <a:gd name="T37" fmla="*/ 89 h 199"/>
                <a:gd name="T38" fmla="*/ 0 w 805"/>
                <a:gd name="T39" fmla="*/ 102 h 199"/>
                <a:gd name="T40" fmla="*/ 0 w 805"/>
                <a:gd name="T41" fmla="*/ 116 h 199"/>
                <a:gd name="T42" fmla="*/ 2 w 805"/>
                <a:gd name="T43" fmla="*/ 127 h 199"/>
                <a:gd name="T44" fmla="*/ 2 w 805"/>
                <a:gd name="T45" fmla="*/ 139 h 199"/>
                <a:gd name="T46" fmla="*/ 3 w 805"/>
                <a:gd name="T47" fmla="*/ 152 h 199"/>
                <a:gd name="T48" fmla="*/ 5 w 805"/>
                <a:gd name="T49" fmla="*/ 164 h 199"/>
                <a:gd name="T50" fmla="*/ 7 w 805"/>
                <a:gd name="T51" fmla="*/ 175 h 199"/>
                <a:gd name="T52" fmla="*/ 10 w 805"/>
                <a:gd name="T53" fmla="*/ 187 h 199"/>
                <a:gd name="T54" fmla="*/ 12 w 805"/>
                <a:gd name="T55" fmla="*/ 199 h 199"/>
                <a:gd name="T56" fmla="*/ 17 w 805"/>
                <a:gd name="T57" fmla="*/ 199 h 199"/>
                <a:gd name="T58" fmla="*/ 15 w 805"/>
                <a:gd name="T59" fmla="*/ 187 h 199"/>
                <a:gd name="T60" fmla="*/ 12 w 805"/>
                <a:gd name="T61" fmla="*/ 175 h 199"/>
                <a:gd name="T62" fmla="*/ 10 w 805"/>
                <a:gd name="T63" fmla="*/ 162 h 199"/>
                <a:gd name="T64" fmla="*/ 8 w 805"/>
                <a:gd name="T65" fmla="*/ 151 h 199"/>
                <a:gd name="T66" fmla="*/ 7 w 805"/>
                <a:gd name="T67" fmla="*/ 139 h 199"/>
                <a:gd name="T68" fmla="*/ 5 w 805"/>
                <a:gd name="T69" fmla="*/ 126 h 199"/>
                <a:gd name="T70" fmla="*/ 5 w 805"/>
                <a:gd name="T71" fmla="*/ 114 h 199"/>
                <a:gd name="T72" fmla="*/ 5 w 805"/>
                <a:gd name="T73" fmla="*/ 101 h 199"/>
                <a:gd name="T74" fmla="*/ 0 w 805"/>
                <a:gd name="T75" fmla="*/ 10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05" h="199">
                  <a:moveTo>
                    <a:pt x="805" y="89"/>
                  </a:moveTo>
                  <a:lnTo>
                    <a:pt x="803" y="78"/>
                  </a:lnTo>
                  <a:lnTo>
                    <a:pt x="803" y="66"/>
                  </a:lnTo>
                  <a:lnTo>
                    <a:pt x="802" y="56"/>
                  </a:lnTo>
                  <a:lnTo>
                    <a:pt x="802" y="45"/>
                  </a:lnTo>
                  <a:lnTo>
                    <a:pt x="798" y="33"/>
                  </a:lnTo>
                  <a:lnTo>
                    <a:pt x="797" y="21"/>
                  </a:lnTo>
                  <a:lnTo>
                    <a:pt x="795" y="10"/>
                  </a:lnTo>
                  <a:lnTo>
                    <a:pt x="792" y="0"/>
                  </a:lnTo>
                  <a:lnTo>
                    <a:pt x="787" y="0"/>
                  </a:lnTo>
                  <a:lnTo>
                    <a:pt x="790" y="11"/>
                  </a:lnTo>
                  <a:lnTo>
                    <a:pt x="792" y="21"/>
                  </a:lnTo>
                  <a:lnTo>
                    <a:pt x="795" y="33"/>
                  </a:lnTo>
                  <a:lnTo>
                    <a:pt x="797" y="45"/>
                  </a:lnTo>
                  <a:lnTo>
                    <a:pt x="798" y="56"/>
                  </a:lnTo>
                  <a:lnTo>
                    <a:pt x="798" y="68"/>
                  </a:lnTo>
                  <a:lnTo>
                    <a:pt x="800" y="81"/>
                  </a:lnTo>
                  <a:lnTo>
                    <a:pt x="800" y="93"/>
                  </a:lnTo>
                  <a:lnTo>
                    <a:pt x="805" y="89"/>
                  </a:lnTo>
                  <a:close/>
                  <a:moveTo>
                    <a:pt x="0" y="102"/>
                  </a:moveTo>
                  <a:lnTo>
                    <a:pt x="0" y="116"/>
                  </a:lnTo>
                  <a:lnTo>
                    <a:pt x="2" y="127"/>
                  </a:lnTo>
                  <a:lnTo>
                    <a:pt x="2" y="139"/>
                  </a:lnTo>
                  <a:lnTo>
                    <a:pt x="3" y="152"/>
                  </a:lnTo>
                  <a:lnTo>
                    <a:pt x="5" y="164"/>
                  </a:lnTo>
                  <a:lnTo>
                    <a:pt x="7" y="175"/>
                  </a:lnTo>
                  <a:lnTo>
                    <a:pt x="10" y="187"/>
                  </a:lnTo>
                  <a:lnTo>
                    <a:pt x="12" y="199"/>
                  </a:lnTo>
                  <a:lnTo>
                    <a:pt x="17" y="199"/>
                  </a:lnTo>
                  <a:lnTo>
                    <a:pt x="15" y="187"/>
                  </a:lnTo>
                  <a:lnTo>
                    <a:pt x="12" y="175"/>
                  </a:lnTo>
                  <a:lnTo>
                    <a:pt x="10" y="162"/>
                  </a:lnTo>
                  <a:lnTo>
                    <a:pt x="8" y="151"/>
                  </a:lnTo>
                  <a:lnTo>
                    <a:pt x="7" y="139"/>
                  </a:lnTo>
                  <a:lnTo>
                    <a:pt x="5" y="126"/>
                  </a:lnTo>
                  <a:lnTo>
                    <a:pt x="5" y="114"/>
                  </a:lnTo>
                  <a:lnTo>
                    <a:pt x="5" y="101"/>
                  </a:lnTo>
                  <a:lnTo>
                    <a:pt x="0" y="102"/>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74" name="Freeform 114">
              <a:extLst>
                <a:ext uri="{FF2B5EF4-FFF2-40B4-BE49-F238E27FC236}">
                  <a16:creationId xmlns:a16="http://schemas.microsoft.com/office/drawing/2014/main" id="{DD24DD1C-60F4-F050-894B-1991D232613C}"/>
                </a:ext>
              </a:extLst>
            </p:cNvPr>
            <p:cNvSpPr>
              <a:spLocks noEditPoints="1"/>
            </p:cNvSpPr>
            <p:nvPr/>
          </p:nvSpPr>
          <p:spPr bwMode="auto">
            <a:xfrm>
              <a:off x="1436" y="1514"/>
              <a:ext cx="800" cy="199"/>
            </a:xfrm>
            <a:custGeom>
              <a:avLst/>
              <a:gdLst>
                <a:gd name="T0" fmla="*/ 800 w 800"/>
                <a:gd name="T1" fmla="*/ 91 h 199"/>
                <a:gd name="T2" fmla="*/ 800 w 800"/>
                <a:gd name="T3" fmla="*/ 79 h 199"/>
                <a:gd name="T4" fmla="*/ 800 w 800"/>
                <a:gd name="T5" fmla="*/ 68 h 199"/>
                <a:gd name="T6" fmla="*/ 798 w 800"/>
                <a:gd name="T7" fmla="*/ 56 h 199"/>
                <a:gd name="T8" fmla="*/ 796 w 800"/>
                <a:gd name="T9" fmla="*/ 45 h 199"/>
                <a:gd name="T10" fmla="*/ 795 w 800"/>
                <a:gd name="T11" fmla="*/ 33 h 199"/>
                <a:gd name="T12" fmla="*/ 793 w 800"/>
                <a:gd name="T13" fmla="*/ 21 h 199"/>
                <a:gd name="T14" fmla="*/ 790 w 800"/>
                <a:gd name="T15" fmla="*/ 11 h 199"/>
                <a:gd name="T16" fmla="*/ 788 w 800"/>
                <a:gd name="T17" fmla="*/ 0 h 199"/>
                <a:gd name="T18" fmla="*/ 783 w 800"/>
                <a:gd name="T19" fmla="*/ 0 h 199"/>
                <a:gd name="T20" fmla="*/ 785 w 800"/>
                <a:gd name="T21" fmla="*/ 11 h 199"/>
                <a:gd name="T22" fmla="*/ 788 w 800"/>
                <a:gd name="T23" fmla="*/ 23 h 199"/>
                <a:gd name="T24" fmla="*/ 790 w 800"/>
                <a:gd name="T25" fmla="*/ 35 h 199"/>
                <a:gd name="T26" fmla="*/ 791 w 800"/>
                <a:gd name="T27" fmla="*/ 46 h 199"/>
                <a:gd name="T28" fmla="*/ 793 w 800"/>
                <a:gd name="T29" fmla="*/ 58 h 199"/>
                <a:gd name="T30" fmla="*/ 795 w 800"/>
                <a:gd name="T31" fmla="*/ 69 h 199"/>
                <a:gd name="T32" fmla="*/ 795 w 800"/>
                <a:gd name="T33" fmla="*/ 81 h 199"/>
                <a:gd name="T34" fmla="*/ 795 w 800"/>
                <a:gd name="T35" fmla="*/ 93 h 199"/>
                <a:gd name="T36" fmla="*/ 800 w 800"/>
                <a:gd name="T37" fmla="*/ 91 h 199"/>
                <a:gd name="T38" fmla="*/ 0 w 800"/>
                <a:gd name="T39" fmla="*/ 102 h 199"/>
                <a:gd name="T40" fmla="*/ 1 w 800"/>
                <a:gd name="T41" fmla="*/ 114 h 199"/>
                <a:gd name="T42" fmla="*/ 1 w 800"/>
                <a:gd name="T43" fmla="*/ 127 h 199"/>
                <a:gd name="T44" fmla="*/ 3 w 800"/>
                <a:gd name="T45" fmla="*/ 139 h 199"/>
                <a:gd name="T46" fmla="*/ 3 w 800"/>
                <a:gd name="T47" fmla="*/ 151 h 199"/>
                <a:gd name="T48" fmla="*/ 5 w 800"/>
                <a:gd name="T49" fmla="*/ 164 h 199"/>
                <a:gd name="T50" fmla="*/ 8 w 800"/>
                <a:gd name="T51" fmla="*/ 175 h 199"/>
                <a:gd name="T52" fmla="*/ 10 w 800"/>
                <a:gd name="T53" fmla="*/ 187 h 199"/>
                <a:gd name="T54" fmla="*/ 13 w 800"/>
                <a:gd name="T55" fmla="*/ 199 h 199"/>
                <a:gd name="T56" fmla="*/ 18 w 800"/>
                <a:gd name="T57" fmla="*/ 199 h 199"/>
                <a:gd name="T58" fmla="*/ 15 w 800"/>
                <a:gd name="T59" fmla="*/ 187 h 199"/>
                <a:gd name="T60" fmla="*/ 13 w 800"/>
                <a:gd name="T61" fmla="*/ 174 h 199"/>
                <a:gd name="T62" fmla="*/ 10 w 800"/>
                <a:gd name="T63" fmla="*/ 162 h 199"/>
                <a:gd name="T64" fmla="*/ 8 w 800"/>
                <a:gd name="T65" fmla="*/ 151 h 199"/>
                <a:gd name="T66" fmla="*/ 6 w 800"/>
                <a:gd name="T67" fmla="*/ 137 h 199"/>
                <a:gd name="T68" fmla="*/ 6 w 800"/>
                <a:gd name="T69" fmla="*/ 126 h 199"/>
                <a:gd name="T70" fmla="*/ 5 w 800"/>
                <a:gd name="T71" fmla="*/ 112 h 199"/>
                <a:gd name="T72" fmla="*/ 5 w 800"/>
                <a:gd name="T73" fmla="*/ 99 h 199"/>
                <a:gd name="T74" fmla="*/ 0 w 800"/>
                <a:gd name="T75" fmla="*/ 10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00" h="199">
                  <a:moveTo>
                    <a:pt x="800" y="91"/>
                  </a:moveTo>
                  <a:lnTo>
                    <a:pt x="800" y="79"/>
                  </a:lnTo>
                  <a:lnTo>
                    <a:pt x="800" y="68"/>
                  </a:lnTo>
                  <a:lnTo>
                    <a:pt x="798" y="56"/>
                  </a:lnTo>
                  <a:lnTo>
                    <a:pt x="796" y="45"/>
                  </a:lnTo>
                  <a:lnTo>
                    <a:pt x="795" y="33"/>
                  </a:lnTo>
                  <a:lnTo>
                    <a:pt x="793" y="21"/>
                  </a:lnTo>
                  <a:lnTo>
                    <a:pt x="790" y="11"/>
                  </a:lnTo>
                  <a:lnTo>
                    <a:pt x="788" y="0"/>
                  </a:lnTo>
                  <a:lnTo>
                    <a:pt x="783" y="0"/>
                  </a:lnTo>
                  <a:lnTo>
                    <a:pt x="785" y="11"/>
                  </a:lnTo>
                  <a:lnTo>
                    <a:pt x="788" y="23"/>
                  </a:lnTo>
                  <a:lnTo>
                    <a:pt x="790" y="35"/>
                  </a:lnTo>
                  <a:lnTo>
                    <a:pt x="791" y="46"/>
                  </a:lnTo>
                  <a:lnTo>
                    <a:pt x="793" y="58"/>
                  </a:lnTo>
                  <a:lnTo>
                    <a:pt x="795" y="69"/>
                  </a:lnTo>
                  <a:lnTo>
                    <a:pt x="795" y="81"/>
                  </a:lnTo>
                  <a:lnTo>
                    <a:pt x="795" y="93"/>
                  </a:lnTo>
                  <a:lnTo>
                    <a:pt x="800" y="91"/>
                  </a:lnTo>
                  <a:close/>
                  <a:moveTo>
                    <a:pt x="0" y="102"/>
                  </a:moveTo>
                  <a:lnTo>
                    <a:pt x="1" y="114"/>
                  </a:lnTo>
                  <a:lnTo>
                    <a:pt x="1" y="127"/>
                  </a:lnTo>
                  <a:lnTo>
                    <a:pt x="3" y="139"/>
                  </a:lnTo>
                  <a:lnTo>
                    <a:pt x="3" y="151"/>
                  </a:lnTo>
                  <a:lnTo>
                    <a:pt x="5" y="164"/>
                  </a:lnTo>
                  <a:lnTo>
                    <a:pt x="8" y="175"/>
                  </a:lnTo>
                  <a:lnTo>
                    <a:pt x="10" y="187"/>
                  </a:lnTo>
                  <a:lnTo>
                    <a:pt x="13" y="199"/>
                  </a:lnTo>
                  <a:lnTo>
                    <a:pt x="18" y="199"/>
                  </a:lnTo>
                  <a:lnTo>
                    <a:pt x="15" y="187"/>
                  </a:lnTo>
                  <a:lnTo>
                    <a:pt x="13" y="174"/>
                  </a:lnTo>
                  <a:lnTo>
                    <a:pt x="10" y="162"/>
                  </a:lnTo>
                  <a:lnTo>
                    <a:pt x="8" y="151"/>
                  </a:lnTo>
                  <a:lnTo>
                    <a:pt x="6" y="137"/>
                  </a:lnTo>
                  <a:lnTo>
                    <a:pt x="6" y="126"/>
                  </a:lnTo>
                  <a:lnTo>
                    <a:pt x="5" y="112"/>
                  </a:lnTo>
                  <a:lnTo>
                    <a:pt x="5" y="99"/>
                  </a:lnTo>
                  <a:lnTo>
                    <a:pt x="0" y="102"/>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75" name="Freeform 115">
              <a:extLst>
                <a:ext uri="{FF2B5EF4-FFF2-40B4-BE49-F238E27FC236}">
                  <a16:creationId xmlns:a16="http://schemas.microsoft.com/office/drawing/2014/main" id="{38AE132A-4418-FBAC-2E62-8B0D899D6F31}"/>
                </a:ext>
              </a:extLst>
            </p:cNvPr>
            <p:cNvSpPr>
              <a:spLocks noEditPoints="1"/>
            </p:cNvSpPr>
            <p:nvPr/>
          </p:nvSpPr>
          <p:spPr bwMode="auto">
            <a:xfrm>
              <a:off x="1439" y="1514"/>
              <a:ext cx="795" cy="199"/>
            </a:xfrm>
            <a:custGeom>
              <a:avLst/>
              <a:gdLst>
                <a:gd name="T0" fmla="*/ 795 w 795"/>
                <a:gd name="T1" fmla="*/ 93 h 199"/>
                <a:gd name="T2" fmla="*/ 795 w 795"/>
                <a:gd name="T3" fmla="*/ 81 h 199"/>
                <a:gd name="T4" fmla="*/ 793 w 795"/>
                <a:gd name="T5" fmla="*/ 68 h 199"/>
                <a:gd name="T6" fmla="*/ 793 w 795"/>
                <a:gd name="T7" fmla="*/ 56 h 199"/>
                <a:gd name="T8" fmla="*/ 792 w 795"/>
                <a:gd name="T9" fmla="*/ 45 h 199"/>
                <a:gd name="T10" fmla="*/ 790 w 795"/>
                <a:gd name="T11" fmla="*/ 33 h 199"/>
                <a:gd name="T12" fmla="*/ 787 w 795"/>
                <a:gd name="T13" fmla="*/ 21 h 199"/>
                <a:gd name="T14" fmla="*/ 785 w 795"/>
                <a:gd name="T15" fmla="*/ 11 h 199"/>
                <a:gd name="T16" fmla="*/ 782 w 795"/>
                <a:gd name="T17" fmla="*/ 0 h 199"/>
                <a:gd name="T18" fmla="*/ 777 w 795"/>
                <a:gd name="T19" fmla="*/ 0 h 199"/>
                <a:gd name="T20" fmla="*/ 780 w 795"/>
                <a:gd name="T21" fmla="*/ 11 h 199"/>
                <a:gd name="T22" fmla="*/ 782 w 795"/>
                <a:gd name="T23" fmla="*/ 23 h 199"/>
                <a:gd name="T24" fmla="*/ 785 w 795"/>
                <a:gd name="T25" fmla="*/ 35 h 199"/>
                <a:gd name="T26" fmla="*/ 787 w 795"/>
                <a:gd name="T27" fmla="*/ 46 h 199"/>
                <a:gd name="T28" fmla="*/ 788 w 795"/>
                <a:gd name="T29" fmla="*/ 58 h 199"/>
                <a:gd name="T30" fmla="*/ 788 w 795"/>
                <a:gd name="T31" fmla="*/ 69 h 199"/>
                <a:gd name="T32" fmla="*/ 790 w 795"/>
                <a:gd name="T33" fmla="*/ 83 h 199"/>
                <a:gd name="T34" fmla="*/ 790 w 795"/>
                <a:gd name="T35" fmla="*/ 94 h 199"/>
                <a:gd name="T36" fmla="*/ 795 w 795"/>
                <a:gd name="T37" fmla="*/ 93 h 199"/>
                <a:gd name="T38" fmla="*/ 0 w 795"/>
                <a:gd name="T39" fmla="*/ 101 h 199"/>
                <a:gd name="T40" fmla="*/ 0 w 795"/>
                <a:gd name="T41" fmla="*/ 114 h 199"/>
                <a:gd name="T42" fmla="*/ 0 w 795"/>
                <a:gd name="T43" fmla="*/ 126 h 199"/>
                <a:gd name="T44" fmla="*/ 2 w 795"/>
                <a:gd name="T45" fmla="*/ 139 h 199"/>
                <a:gd name="T46" fmla="*/ 3 w 795"/>
                <a:gd name="T47" fmla="*/ 151 h 199"/>
                <a:gd name="T48" fmla="*/ 5 w 795"/>
                <a:gd name="T49" fmla="*/ 162 h 199"/>
                <a:gd name="T50" fmla="*/ 7 w 795"/>
                <a:gd name="T51" fmla="*/ 175 h 199"/>
                <a:gd name="T52" fmla="*/ 10 w 795"/>
                <a:gd name="T53" fmla="*/ 187 h 199"/>
                <a:gd name="T54" fmla="*/ 12 w 795"/>
                <a:gd name="T55" fmla="*/ 199 h 199"/>
                <a:gd name="T56" fmla="*/ 17 w 795"/>
                <a:gd name="T57" fmla="*/ 199 h 199"/>
                <a:gd name="T58" fmla="*/ 15 w 795"/>
                <a:gd name="T59" fmla="*/ 187 h 199"/>
                <a:gd name="T60" fmla="*/ 12 w 795"/>
                <a:gd name="T61" fmla="*/ 174 h 199"/>
                <a:gd name="T62" fmla="*/ 10 w 795"/>
                <a:gd name="T63" fmla="*/ 162 h 199"/>
                <a:gd name="T64" fmla="*/ 8 w 795"/>
                <a:gd name="T65" fmla="*/ 149 h 199"/>
                <a:gd name="T66" fmla="*/ 7 w 795"/>
                <a:gd name="T67" fmla="*/ 137 h 199"/>
                <a:gd name="T68" fmla="*/ 5 w 795"/>
                <a:gd name="T69" fmla="*/ 124 h 199"/>
                <a:gd name="T70" fmla="*/ 5 w 795"/>
                <a:gd name="T71" fmla="*/ 112 h 199"/>
                <a:gd name="T72" fmla="*/ 5 w 795"/>
                <a:gd name="T73" fmla="*/ 99 h 199"/>
                <a:gd name="T74" fmla="*/ 0 w 795"/>
                <a:gd name="T75" fmla="*/ 10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95" h="199">
                  <a:moveTo>
                    <a:pt x="795" y="93"/>
                  </a:moveTo>
                  <a:lnTo>
                    <a:pt x="795" y="81"/>
                  </a:lnTo>
                  <a:lnTo>
                    <a:pt x="793" y="68"/>
                  </a:lnTo>
                  <a:lnTo>
                    <a:pt x="793" y="56"/>
                  </a:lnTo>
                  <a:lnTo>
                    <a:pt x="792" y="45"/>
                  </a:lnTo>
                  <a:lnTo>
                    <a:pt x="790" y="33"/>
                  </a:lnTo>
                  <a:lnTo>
                    <a:pt x="787" y="21"/>
                  </a:lnTo>
                  <a:lnTo>
                    <a:pt x="785" y="11"/>
                  </a:lnTo>
                  <a:lnTo>
                    <a:pt x="782" y="0"/>
                  </a:lnTo>
                  <a:lnTo>
                    <a:pt x="777" y="0"/>
                  </a:lnTo>
                  <a:lnTo>
                    <a:pt x="780" y="11"/>
                  </a:lnTo>
                  <a:lnTo>
                    <a:pt x="782" y="23"/>
                  </a:lnTo>
                  <a:lnTo>
                    <a:pt x="785" y="35"/>
                  </a:lnTo>
                  <a:lnTo>
                    <a:pt x="787" y="46"/>
                  </a:lnTo>
                  <a:lnTo>
                    <a:pt x="788" y="58"/>
                  </a:lnTo>
                  <a:lnTo>
                    <a:pt x="788" y="69"/>
                  </a:lnTo>
                  <a:lnTo>
                    <a:pt x="790" y="83"/>
                  </a:lnTo>
                  <a:lnTo>
                    <a:pt x="790" y="94"/>
                  </a:lnTo>
                  <a:lnTo>
                    <a:pt x="795" y="93"/>
                  </a:lnTo>
                  <a:close/>
                  <a:moveTo>
                    <a:pt x="0" y="101"/>
                  </a:moveTo>
                  <a:lnTo>
                    <a:pt x="0" y="114"/>
                  </a:lnTo>
                  <a:lnTo>
                    <a:pt x="0" y="126"/>
                  </a:lnTo>
                  <a:lnTo>
                    <a:pt x="2" y="139"/>
                  </a:lnTo>
                  <a:lnTo>
                    <a:pt x="3" y="151"/>
                  </a:lnTo>
                  <a:lnTo>
                    <a:pt x="5" y="162"/>
                  </a:lnTo>
                  <a:lnTo>
                    <a:pt x="7" y="175"/>
                  </a:lnTo>
                  <a:lnTo>
                    <a:pt x="10" y="187"/>
                  </a:lnTo>
                  <a:lnTo>
                    <a:pt x="12" y="199"/>
                  </a:lnTo>
                  <a:lnTo>
                    <a:pt x="17" y="199"/>
                  </a:lnTo>
                  <a:lnTo>
                    <a:pt x="15" y="187"/>
                  </a:lnTo>
                  <a:lnTo>
                    <a:pt x="12" y="174"/>
                  </a:lnTo>
                  <a:lnTo>
                    <a:pt x="10" y="162"/>
                  </a:lnTo>
                  <a:lnTo>
                    <a:pt x="8" y="149"/>
                  </a:lnTo>
                  <a:lnTo>
                    <a:pt x="7" y="137"/>
                  </a:lnTo>
                  <a:lnTo>
                    <a:pt x="5" y="124"/>
                  </a:lnTo>
                  <a:lnTo>
                    <a:pt x="5" y="112"/>
                  </a:lnTo>
                  <a:lnTo>
                    <a:pt x="5" y="99"/>
                  </a:lnTo>
                  <a:lnTo>
                    <a:pt x="0" y="101"/>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76" name="Freeform 116">
              <a:extLst>
                <a:ext uri="{FF2B5EF4-FFF2-40B4-BE49-F238E27FC236}">
                  <a16:creationId xmlns:a16="http://schemas.microsoft.com/office/drawing/2014/main" id="{9C786342-5B14-2741-1859-1E6BDF95CEB2}"/>
                </a:ext>
              </a:extLst>
            </p:cNvPr>
            <p:cNvSpPr>
              <a:spLocks noEditPoints="1"/>
            </p:cNvSpPr>
            <p:nvPr/>
          </p:nvSpPr>
          <p:spPr bwMode="auto">
            <a:xfrm>
              <a:off x="1441" y="1514"/>
              <a:ext cx="790" cy="199"/>
            </a:xfrm>
            <a:custGeom>
              <a:avLst/>
              <a:gdLst>
                <a:gd name="T0" fmla="*/ 790 w 790"/>
                <a:gd name="T1" fmla="*/ 93 h 199"/>
                <a:gd name="T2" fmla="*/ 790 w 790"/>
                <a:gd name="T3" fmla="*/ 81 h 199"/>
                <a:gd name="T4" fmla="*/ 790 w 790"/>
                <a:gd name="T5" fmla="*/ 69 h 199"/>
                <a:gd name="T6" fmla="*/ 788 w 790"/>
                <a:gd name="T7" fmla="*/ 58 h 199"/>
                <a:gd name="T8" fmla="*/ 786 w 790"/>
                <a:gd name="T9" fmla="*/ 46 h 199"/>
                <a:gd name="T10" fmla="*/ 785 w 790"/>
                <a:gd name="T11" fmla="*/ 35 h 199"/>
                <a:gd name="T12" fmla="*/ 783 w 790"/>
                <a:gd name="T13" fmla="*/ 23 h 199"/>
                <a:gd name="T14" fmla="*/ 780 w 790"/>
                <a:gd name="T15" fmla="*/ 11 h 199"/>
                <a:gd name="T16" fmla="*/ 778 w 790"/>
                <a:gd name="T17" fmla="*/ 0 h 199"/>
                <a:gd name="T18" fmla="*/ 773 w 790"/>
                <a:gd name="T19" fmla="*/ 0 h 199"/>
                <a:gd name="T20" fmla="*/ 776 w 790"/>
                <a:gd name="T21" fmla="*/ 11 h 199"/>
                <a:gd name="T22" fmla="*/ 778 w 790"/>
                <a:gd name="T23" fmla="*/ 23 h 199"/>
                <a:gd name="T24" fmla="*/ 780 w 790"/>
                <a:gd name="T25" fmla="*/ 35 h 199"/>
                <a:gd name="T26" fmla="*/ 781 w 790"/>
                <a:gd name="T27" fmla="*/ 46 h 199"/>
                <a:gd name="T28" fmla="*/ 783 w 790"/>
                <a:gd name="T29" fmla="*/ 58 h 199"/>
                <a:gd name="T30" fmla="*/ 785 w 790"/>
                <a:gd name="T31" fmla="*/ 71 h 199"/>
                <a:gd name="T32" fmla="*/ 785 w 790"/>
                <a:gd name="T33" fmla="*/ 83 h 199"/>
                <a:gd name="T34" fmla="*/ 786 w 790"/>
                <a:gd name="T35" fmla="*/ 96 h 199"/>
                <a:gd name="T36" fmla="*/ 790 w 790"/>
                <a:gd name="T37" fmla="*/ 93 h 199"/>
                <a:gd name="T38" fmla="*/ 0 w 790"/>
                <a:gd name="T39" fmla="*/ 99 h 199"/>
                <a:gd name="T40" fmla="*/ 0 w 790"/>
                <a:gd name="T41" fmla="*/ 112 h 199"/>
                <a:gd name="T42" fmla="*/ 1 w 790"/>
                <a:gd name="T43" fmla="*/ 126 h 199"/>
                <a:gd name="T44" fmla="*/ 1 w 790"/>
                <a:gd name="T45" fmla="*/ 137 h 199"/>
                <a:gd name="T46" fmla="*/ 3 w 790"/>
                <a:gd name="T47" fmla="*/ 151 h 199"/>
                <a:gd name="T48" fmla="*/ 5 w 790"/>
                <a:gd name="T49" fmla="*/ 162 h 199"/>
                <a:gd name="T50" fmla="*/ 8 w 790"/>
                <a:gd name="T51" fmla="*/ 174 h 199"/>
                <a:gd name="T52" fmla="*/ 10 w 790"/>
                <a:gd name="T53" fmla="*/ 187 h 199"/>
                <a:gd name="T54" fmla="*/ 13 w 790"/>
                <a:gd name="T55" fmla="*/ 199 h 199"/>
                <a:gd name="T56" fmla="*/ 18 w 790"/>
                <a:gd name="T57" fmla="*/ 199 h 199"/>
                <a:gd name="T58" fmla="*/ 15 w 790"/>
                <a:gd name="T59" fmla="*/ 187 h 199"/>
                <a:gd name="T60" fmla="*/ 13 w 790"/>
                <a:gd name="T61" fmla="*/ 174 h 199"/>
                <a:gd name="T62" fmla="*/ 10 w 790"/>
                <a:gd name="T63" fmla="*/ 162 h 199"/>
                <a:gd name="T64" fmla="*/ 8 w 790"/>
                <a:gd name="T65" fmla="*/ 149 h 199"/>
                <a:gd name="T66" fmla="*/ 6 w 790"/>
                <a:gd name="T67" fmla="*/ 137 h 199"/>
                <a:gd name="T68" fmla="*/ 6 w 790"/>
                <a:gd name="T69" fmla="*/ 124 h 199"/>
                <a:gd name="T70" fmla="*/ 5 w 790"/>
                <a:gd name="T71" fmla="*/ 112 h 199"/>
                <a:gd name="T72" fmla="*/ 5 w 790"/>
                <a:gd name="T73" fmla="*/ 99 h 199"/>
                <a:gd name="T74" fmla="*/ 5 w 790"/>
                <a:gd name="T75" fmla="*/ 98 h 199"/>
                <a:gd name="T76" fmla="*/ 0 w 790"/>
                <a:gd name="T77" fmla="*/ 9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90" h="199">
                  <a:moveTo>
                    <a:pt x="790" y="93"/>
                  </a:moveTo>
                  <a:lnTo>
                    <a:pt x="790" y="81"/>
                  </a:lnTo>
                  <a:lnTo>
                    <a:pt x="790" y="69"/>
                  </a:lnTo>
                  <a:lnTo>
                    <a:pt x="788" y="58"/>
                  </a:lnTo>
                  <a:lnTo>
                    <a:pt x="786" y="46"/>
                  </a:lnTo>
                  <a:lnTo>
                    <a:pt x="785" y="35"/>
                  </a:lnTo>
                  <a:lnTo>
                    <a:pt x="783" y="23"/>
                  </a:lnTo>
                  <a:lnTo>
                    <a:pt x="780" y="11"/>
                  </a:lnTo>
                  <a:lnTo>
                    <a:pt x="778" y="0"/>
                  </a:lnTo>
                  <a:lnTo>
                    <a:pt x="773" y="0"/>
                  </a:lnTo>
                  <a:lnTo>
                    <a:pt x="776" y="11"/>
                  </a:lnTo>
                  <a:lnTo>
                    <a:pt x="778" y="23"/>
                  </a:lnTo>
                  <a:lnTo>
                    <a:pt x="780" y="35"/>
                  </a:lnTo>
                  <a:lnTo>
                    <a:pt x="781" y="46"/>
                  </a:lnTo>
                  <a:lnTo>
                    <a:pt x="783" y="58"/>
                  </a:lnTo>
                  <a:lnTo>
                    <a:pt x="785" y="71"/>
                  </a:lnTo>
                  <a:lnTo>
                    <a:pt x="785" y="83"/>
                  </a:lnTo>
                  <a:lnTo>
                    <a:pt x="786" y="96"/>
                  </a:lnTo>
                  <a:lnTo>
                    <a:pt x="790" y="93"/>
                  </a:lnTo>
                  <a:close/>
                  <a:moveTo>
                    <a:pt x="0" y="99"/>
                  </a:moveTo>
                  <a:lnTo>
                    <a:pt x="0" y="112"/>
                  </a:lnTo>
                  <a:lnTo>
                    <a:pt x="1" y="126"/>
                  </a:lnTo>
                  <a:lnTo>
                    <a:pt x="1" y="137"/>
                  </a:lnTo>
                  <a:lnTo>
                    <a:pt x="3" y="151"/>
                  </a:lnTo>
                  <a:lnTo>
                    <a:pt x="5" y="162"/>
                  </a:lnTo>
                  <a:lnTo>
                    <a:pt x="8" y="174"/>
                  </a:lnTo>
                  <a:lnTo>
                    <a:pt x="10" y="187"/>
                  </a:lnTo>
                  <a:lnTo>
                    <a:pt x="13" y="199"/>
                  </a:lnTo>
                  <a:lnTo>
                    <a:pt x="18" y="199"/>
                  </a:lnTo>
                  <a:lnTo>
                    <a:pt x="15" y="187"/>
                  </a:lnTo>
                  <a:lnTo>
                    <a:pt x="13" y="174"/>
                  </a:lnTo>
                  <a:lnTo>
                    <a:pt x="10" y="162"/>
                  </a:lnTo>
                  <a:lnTo>
                    <a:pt x="8" y="149"/>
                  </a:lnTo>
                  <a:lnTo>
                    <a:pt x="6" y="137"/>
                  </a:lnTo>
                  <a:lnTo>
                    <a:pt x="6" y="124"/>
                  </a:lnTo>
                  <a:lnTo>
                    <a:pt x="5" y="112"/>
                  </a:lnTo>
                  <a:lnTo>
                    <a:pt x="5" y="99"/>
                  </a:lnTo>
                  <a:lnTo>
                    <a:pt x="5" y="98"/>
                  </a:lnTo>
                  <a:lnTo>
                    <a:pt x="0" y="99"/>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77" name="Freeform 117">
              <a:extLst>
                <a:ext uri="{FF2B5EF4-FFF2-40B4-BE49-F238E27FC236}">
                  <a16:creationId xmlns:a16="http://schemas.microsoft.com/office/drawing/2014/main" id="{3A5D772A-A090-81A7-90F8-739B82700F56}"/>
                </a:ext>
              </a:extLst>
            </p:cNvPr>
            <p:cNvSpPr>
              <a:spLocks noEditPoints="1"/>
            </p:cNvSpPr>
            <p:nvPr/>
          </p:nvSpPr>
          <p:spPr bwMode="auto">
            <a:xfrm>
              <a:off x="1444" y="1514"/>
              <a:ext cx="785" cy="199"/>
            </a:xfrm>
            <a:custGeom>
              <a:avLst/>
              <a:gdLst>
                <a:gd name="T0" fmla="*/ 785 w 785"/>
                <a:gd name="T1" fmla="*/ 94 h 199"/>
                <a:gd name="T2" fmla="*/ 785 w 785"/>
                <a:gd name="T3" fmla="*/ 83 h 199"/>
                <a:gd name="T4" fmla="*/ 783 w 785"/>
                <a:gd name="T5" fmla="*/ 69 h 199"/>
                <a:gd name="T6" fmla="*/ 783 w 785"/>
                <a:gd name="T7" fmla="*/ 58 h 199"/>
                <a:gd name="T8" fmla="*/ 782 w 785"/>
                <a:gd name="T9" fmla="*/ 46 h 199"/>
                <a:gd name="T10" fmla="*/ 780 w 785"/>
                <a:gd name="T11" fmla="*/ 35 h 199"/>
                <a:gd name="T12" fmla="*/ 777 w 785"/>
                <a:gd name="T13" fmla="*/ 23 h 199"/>
                <a:gd name="T14" fmla="*/ 775 w 785"/>
                <a:gd name="T15" fmla="*/ 11 h 199"/>
                <a:gd name="T16" fmla="*/ 772 w 785"/>
                <a:gd name="T17" fmla="*/ 0 h 199"/>
                <a:gd name="T18" fmla="*/ 767 w 785"/>
                <a:gd name="T19" fmla="*/ 0 h 199"/>
                <a:gd name="T20" fmla="*/ 770 w 785"/>
                <a:gd name="T21" fmla="*/ 11 h 199"/>
                <a:gd name="T22" fmla="*/ 773 w 785"/>
                <a:gd name="T23" fmla="*/ 23 h 199"/>
                <a:gd name="T24" fmla="*/ 775 w 785"/>
                <a:gd name="T25" fmla="*/ 35 h 199"/>
                <a:gd name="T26" fmla="*/ 777 w 785"/>
                <a:gd name="T27" fmla="*/ 48 h 199"/>
                <a:gd name="T28" fmla="*/ 778 w 785"/>
                <a:gd name="T29" fmla="*/ 59 h 199"/>
                <a:gd name="T30" fmla="*/ 778 w 785"/>
                <a:gd name="T31" fmla="*/ 71 h 199"/>
                <a:gd name="T32" fmla="*/ 780 w 785"/>
                <a:gd name="T33" fmla="*/ 84 h 199"/>
                <a:gd name="T34" fmla="*/ 780 w 785"/>
                <a:gd name="T35" fmla="*/ 96 h 199"/>
                <a:gd name="T36" fmla="*/ 785 w 785"/>
                <a:gd name="T37" fmla="*/ 94 h 199"/>
                <a:gd name="T38" fmla="*/ 0 w 785"/>
                <a:gd name="T39" fmla="*/ 99 h 199"/>
                <a:gd name="T40" fmla="*/ 0 w 785"/>
                <a:gd name="T41" fmla="*/ 99 h 199"/>
                <a:gd name="T42" fmla="*/ 0 w 785"/>
                <a:gd name="T43" fmla="*/ 112 h 199"/>
                <a:gd name="T44" fmla="*/ 0 w 785"/>
                <a:gd name="T45" fmla="*/ 124 h 199"/>
                <a:gd name="T46" fmla="*/ 2 w 785"/>
                <a:gd name="T47" fmla="*/ 137 h 199"/>
                <a:gd name="T48" fmla="*/ 3 w 785"/>
                <a:gd name="T49" fmla="*/ 149 h 199"/>
                <a:gd name="T50" fmla="*/ 5 w 785"/>
                <a:gd name="T51" fmla="*/ 162 h 199"/>
                <a:gd name="T52" fmla="*/ 7 w 785"/>
                <a:gd name="T53" fmla="*/ 174 h 199"/>
                <a:gd name="T54" fmla="*/ 10 w 785"/>
                <a:gd name="T55" fmla="*/ 187 h 199"/>
                <a:gd name="T56" fmla="*/ 12 w 785"/>
                <a:gd name="T57" fmla="*/ 199 h 199"/>
                <a:gd name="T58" fmla="*/ 16 w 785"/>
                <a:gd name="T59" fmla="*/ 199 h 199"/>
                <a:gd name="T60" fmla="*/ 15 w 785"/>
                <a:gd name="T61" fmla="*/ 187 h 199"/>
                <a:gd name="T62" fmla="*/ 12 w 785"/>
                <a:gd name="T63" fmla="*/ 174 h 199"/>
                <a:gd name="T64" fmla="*/ 10 w 785"/>
                <a:gd name="T65" fmla="*/ 162 h 199"/>
                <a:gd name="T66" fmla="*/ 8 w 785"/>
                <a:gd name="T67" fmla="*/ 149 h 199"/>
                <a:gd name="T68" fmla="*/ 7 w 785"/>
                <a:gd name="T69" fmla="*/ 137 h 199"/>
                <a:gd name="T70" fmla="*/ 5 w 785"/>
                <a:gd name="T71" fmla="*/ 124 h 199"/>
                <a:gd name="T72" fmla="*/ 5 w 785"/>
                <a:gd name="T73" fmla="*/ 112 h 199"/>
                <a:gd name="T74" fmla="*/ 5 w 785"/>
                <a:gd name="T75" fmla="*/ 99 h 199"/>
                <a:gd name="T76" fmla="*/ 5 w 785"/>
                <a:gd name="T77" fmla="*/ 98 h 199"/>
                <a:gd name="T78" fmla="*/ 5 w 785"/>
                <a:gd name="T79" fmla="*/ 96 h 199"/>
                <a:gd name="T80" fmla="*/ 0 w 785"/>
                <a:gd name="T81" fmla="*/ 9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5" h="199">
                  <a:moveTo>
                    <a:pt x="785" y="94"/>
                  </a:moveTo>
                  <a:lnTo>
                    <a:pt x="785" y="83"/>
                  </a:lnTo>
                  <a:lnTo>
                    <a:pt x="783" y="69"/>
                  </a:lnTo>
                  <a:lnTo>
                    <a:pt x="783" y="58"/>
                  </a:lnTo>
                  <a:lnTo>
                    <a:pt x="782" y="46"/>
                  </a:lnTo>
                  <a:lnTo>
                    <a:pt x="780" y="35"/>
                  </a:lnTo>
                  <a:lnTo>
                    <a:pt x="777" y="23"/>
                  </a:lnTo>
                  <a:lnTo>
                    <a:pt x="775" y="11"/>
                  </a:lnTo>
                  <a:lnTo>
                    <a:pt x="772" y="0"/>
                  </a:lnTo>
                  <a:lnTo>
                    <a:pt x="767" y="0"/>
                  </a:lnTo>
                  <a:lnTo>
                    <a:pt x="770" y="11"/>
                  </a:lnTo>
                  <a:lnTo>
                    <a:pt x="773" y="23"/>
                  </a:lnTo>
                  <a:lnTo>
                    <a:pt x="775" y="35"/>
                  </a:lnTo>
                  <a:lnTo>
                    <a:pt x="777" y="48"/>
                  </a:lnTo>
                  <a:lnTo>
                    <a:pt x="778" y="59"/>
                  </a:lnTo>
                  <a:lnTo>
                    <a:pt x="778" y="71"/>
                  </a:lnTo>
                  <a:lnTo>
                    <a:pt x="780" y="84"/>
                  </a:lnTo>
                  <a:lnTo>
                    <a:pt x="780" y="96"/>
                  </a:lnTo>
                  <a:lnTo>
                    <a:pt x="785" y="94"/>
                  </a:lnTo>
                  <a:close/>
                  <a:moveTo>
                    <a:pt x="0" y="99"/>
                  </a:moveTo>
                  <a:lnTo>
                    <a:pt x="0" y="99"/>
                  </a:lnTo>
                  <a:lnTo>
                    <a:pt x="0" y="112"/>
                  </a:lnTo>
                  <a:lnTo>
                    <a:pt x="0" y="124"/>
                  </a:lnTo>
                  <a:lnTo>
                    <a:pt x="2" y="137"/>
                  </a:lnTo>
                  <a:lnTo>
                    <a:pt x="3" y="149"/>
                  </a:lnTo>
                  <a:lnTo>
                    <a:pt x="5" y="162"/>
                  </a:lnTo>
                  <a:lnTo>
                    <a:pt x="7" y="174"/>
                  </a:lnTo>
                  <a:lnTo>
                    <a:pt x="10" y="187"/>
                  </a:lnTo>
                  <a:lnTo>
                    <a:pt x="12" y="199"/>
                  </a:lnTo>
                  <a:lnTo>
                    <a:pt x="16" y="199"/>
                  </a:lnTo>
                  <a:lnTo>
                    <a:pt x="15" y="187"/>
                  </a:lnTo>
                  <a:lnTo>
                    <a:pt x="12" y="174"/>
                  </a:lnTo>
                  <a:lnTo>
                    <a:pt x="10" y="162"/>
                  </a:lnTo>
                  <a:lnTo>
                    <a:pt x="8" y="149"/>
                  </a:lnTo>
                  <a:lnTo>
                    <a:pt x="7" y="137"/>
                  </a:lnTo>
                  <a:lnTo>
                    <a:pt x="5" y="124"/>
                  </a:lnTo>
                  <a:lnTo>
                    <a:pt x="5" y="112"/>
                  </a:lnTo>
                  <a:lnTo>
                    <a:pt x="5" y="99"/>
                  </a:lnTo>
                  <a:lnTo>
                    <a:pt x="5" y="98"/>
                  </a:lnTo>
                  <a:lnTo>
                    <a:pt x="5" y="96"/>
                  </a:lnTo>
                  <a:lnTo>
                    <a:pt x="0" y="99"/>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78" name="Freeform 118">
              <a:extLst>
                <a:ext uri="{FF2B5EF4-FFF2-40B4-BE49-F238E27FC236}">
                  <a16:creationId xmlns:a16="http://schemas.microsoft.com/office/drawing/2014/main" id="{1ABD74F0-2DBF-2FE8-1252-C99ADAE0B51E}"/>
                </a:ext>
              </a:extLst>
            </p:cNvPr>
            <p:cNvSpPr>
              <a:spLocks noEditPoints="1"/>
            </p:cNvSpPr>
            <p:nvPr/>
          </p:nvSpPr>
          <p:spPr bwMode="auto">
            <a:xfrm>
              <a:off x="1446" y="1514"/>
              <a:ext cx="781" cy="199"/>
            </a:xfrm>
            <a:custGeom>
              <a:avLst/>
              <a:gdLst>
                <a:gd name="T0" fmla="*/ 781 w 781"/>
                <a:gd name="T1" fmla="*/ 96 h 199"/>
                <a:gd name="T2" fmla="*/ 780 w 781"/>
                <a:gd name="T3" fmla="*/ 83 h 199"/>
                <a:gd name="T4" fmla="*/ 780 w 781"/>
                <a:gd name="T5" fmla="*/ 71 h 199"/>
                <a:gd name="T6" fmla="*/ 778 w 781"/>
                <a:gd name="T7" fmla="*/ 58 h 199"/>
                <a:gd name="T8" fmla="*/ 776 w 781"/>
                <a:gd name="T9" fmla="*/ 46 h 199"/>
                <a:gd name="T10" fmla="*/ 775 w 781"/>
                <a:gd name="T11" fmla="*/ 35 h 199"/>
                <a:gd name="T12" fmla="*/ 773 w 781"/>
                <a:gd name="T13" fmla="*/ 23 h 199"/>
                <a:gd name="T14" fmla="*/ 771 w 781"/>
                <a:gd name="T15" fmla="*/ 11 h 199"/>
                <a:gd name="T16" fmla="*/ 768 w 781"/>
                <a:gd name="T17" fmla="*/ 0 h 199"/>
                <a:gd name="T18" fmla="*/ 763 w 781"/>
                <a:gd name="T19" fmla="*/ 0 h 199"/>
                <a:gd name="T20" fmla="*/ 766 w 781"/>
                <a:gd name="T21" fmla="*/ 11 h 199"/>
                <a:gd name="T22" fmla="*/ 768 w 781"/>
                <a:gd name="T23" fmla="*/ 23 h 199"/>
                <a:gd name="T24" fmla="*/ 770 w 781"/>
                <a:gd name="T25" fmla="*/ 35 h 199"/>
                <a:gd name="T26" fmla="*/ 773 w 781"/>
                <a:gd name="T27" fmla="*/ 48 h 199"/>
                <a:gd name="T28" fmla="*/ 773 w 781"/>
                <a:gd name="T29" fmla="*/ 59 h 199"/>
                <a:gd name="T30" fmla="*/ 775 w 781"/>
                <a:gd name="T31" fmla="*/ 73 h 199"/>
                <a:gd name="T32" fmla="*/ 775 w 781"/>
                <a:gd name="T33" fmla="*/ 84 h 199"/>
                <a:gd name="T34" fmla="*/ 776 w 781"/>
                <a:gd name="T35" fmla="*/ 98 h 199"/>
                <a:gd name="T36" fmla="*/ 781 w 781"/>
                <a:gd name="T37" fmla="*/ 96 h 199"/>
                <a:gd name="T38" fmla="*/ 0 w 781"/>
                <a:gd name="T39" fmla="*/ 98 h 199"/>
                <a:gd name="T40" fmla="*/ 0 w 781"/>
                <a:gd name="T41" fmla="*/ 98 h 199"/>
                <a:gd name="T42" fmla="*/ 0 w 781"/>
                <a:gd name="T43" fmla="*/ 99 h 199"/>
                <a:gd name="T44" fmla="*/ 0 w 781"/>
                <a:gd name="T45" fmla="*/ 112 h 199"/>
                <a:gd name="T46" fmla="*/ 1 w 781"/>
                <a:gd name="T47" fmla="*/ 124 h 199"/>
                <a:gd name="T48" fmla="*/ 1 w 781"/>
                <a:gd name="T49" fmla="*/ 137 h 199"/>
                <a:gd name="T50" fmla="*/ 3 w 781"/>
                <a:gd name="T51" fmla="*/ 149 h 199"/>
                <a:gd name="T52" fmla="*/ 5 w 781"/>
                <a:gd name="T53" fmla="*/ 162 h 199"/>
                <a:gd name="T54" fmla="*/ 8 w 781"/>
                <a:gd name="T55" fmla="*/ 174 h 199"/>
                <a:gd name="T56" fmla="*/ 10 w 781"/>
                <a:gd name="T57" fmla="*/ 187 h 199"/>
                <a:gd name="T58" fmla="*/ 13 w 781"/>
                <a:gd name="T59" fmla="*/ 199 h 199"/>
                <a:gd name="T60" fmla="*/ 18 w 781"/>
                <a:gd name="T61" fmla="*/ 199 h 199"/>
                <a:gd name="T62" fmla="*/ 14 w 781"/>
                <a:gd name="T63" fmla="*/ 187 h 199"/>
                <a:gd name="T64" fmla="*/ 11 w 781"/>
                <a:gd name="T65" fmla="*/ 174 h 199"/>
                <a:gd name="T66" fmla="*/ 10 w 781"/>
                <a:gd name="T67" fmla="*/ 162 h 199"/>
                <a:gd name="T68" fmla="*/ 8 w 781"/>
                <a:gd name="T69" fmla="*/ 149 h 199"/>
                <a:gd name="T70" fmla="*/ 6 w 781"/>
                <a:gd name="T71" fmla="*/ 137 h 199"/>
                <a:gd name="T72" fmla="*/ 6 w 781"/>
                <a:gd name="T73" fmla="*/ 124 h 199"/>
                <a:gd name="T74" fmla="*/ 5 w 781"/>
                <a:gd name="T75" fmla="*/ 112 h 199"/>
                <a:gd name="T76" fmla="*/ 5 w 781"/>
                <a:gd name="T77" fmla="*/ 99 h 199"/>
                <a:gd name="T78" fmla="*/ 5 w 781"/>
                <a:gd name="T79" fmla="*/ 98 h 199"/>
                <a:gd name="T80" fmla="*/ 5 w 781"/>
                <a:gd name="T81" fmla="*/ 96 h 199"/>
                <a:gd name="T82" fmla="*/ 0 w 781"/>
                <a:gd name="T83" fmla="*/ 9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81" h="199">
                  <a:moveTo>
                    <a:pt x="781" y="96"/>
                  </a:moveTo>
                  <a:lnTo>
                    <a:pt x="780" y="83"/>
                  </a:lnTo>
                  <a:lnTo>
                    <a:pt x="780" y="71"/>
                  </a:lnTo>
                  <a:lnTo>
                    <a:pt x="778" y="58"/>
                  </a:lnTo>
                  <a:lnTo>
                    <a:pt x="776" y="46"/>
                  </a:lnTo>
                  <a:lnTo>
                    <a:pt x="775" y="35"/>
                  </a:lnTo>
                  <a:lnTo>
                    <a:pt x="773" y="23"/>
                  </a:lnTo>
                  <a:lnTo>
                    <a:pt x="771" y="11"/>
                  </a:lnTo>
                  <a:lnTo>
                    <a:pt x="768" y="0"/>
                  </a:lnTo>
                  <a:lnTo>
                    <a:pt x="763" y="0"/>
                  </a:lnTo>
                  <a:lnTo>
                    <a:pt x="766" y="11"/>
                  </a:lnTo>
                  <a:lnTo>
                    <a:pt x="768" y="23"/>
                  </a:lnTo>
                  <a:lnTo>
                    <a:pt x="770" y="35"/>
                  </a:lnTo>
                  <a:lnTo>
                    <a:pt x="773" y="48"/>
                  </a:lnTo>
                  <a:lnTo>
                    <a:pt x="773" y="59"/>
                  </a:lnTo>
                  <a:lnTo>
                    <a:pt x="775" y="73"/>
                  </a:lnTo>
                  <a:lnTo>
                    <a:pt x="775" y="84"/>
                  </a:lnTo>
                  <a:lnTo>
                    <a:pt x="776" y="98"/>
                  </a:lnTo>
                  <a:lnTo>
                    <a:pt x="781" y="96"/>
                  </a:lnTo>
                  <a:close/>
                  <a:moveTo>
                    <a:pt x="0" y="98"/>
                  </a:moveTo>
                  <a:lnTo>
                    <a:pt x="0" y="98"/>
                  </a:lnTo>
                  <a:lnTo>
                    <a:pt x="0" y="99"/>
                  </a:lnTo>
                  <a:lnTo>
                    <a:pt x="0" y="112"/>
                  </a:lnTo>
                  <a:lnTo>
                    <a:pt x="1" y="124"/>
                  </a:lnTo>
                  <a:lnTo>
                    <a:pt x="1" y="137"/>
                  </a:lnTo>
                  <a:lnTo>
                    <a:pt x="3" y="149"/>
                  </a:lnTo>
                  <a:lnTo>
                    <a:pt x="5" y="162"/>
                  </a:lnTo>
                  <a:lnTo>
                    <a:pt x="8" y="174"/>
                  </a:lnTo>
                  <a:lnTo>
                    <a:pt x="10" y="187"/>
                  </a:lnTo>
                  <a:lnTo>
                    <a:pt x="13" y="199"/>
                  </a:lnTo>
                  <a:lnTo>
                    <a:pt x="18" y="199"/>
                  </a:lnTo>
                  <a:lnTo>
                    <a:pt x="14" y="187"/>
                  </a:lnTo>
                  <a:lnTo>
                    <a:pt x="11" y="174"/>
                  </a:lnTo>
                  <a:lnTo>
                    <a:pt x="10" y="162"/>
                  </a:lnTo>
                  <a:lnTo>
                    <a:pt x="8" y="149"/>
                  </a:lnTo>
                  <a:lnTo>
                    <a:pt x="6" y="137"/>
                  </a:lnTo>
                  <a:lnTo>
                    <a:pt x="6" y="124"/>
                  </a:lnTo>
                  <a:lnTo>
                    <a:pt x="5" y="112"/>
                  </a:lnTo>
                  <a:lnTo>
                    <a:pt x="5" y="99"/>
                  </a:lnTo>
                  <a:lnTo>
                    <a:pt x="5" y="98"/>
                  </a:lnTo>
                  <a:lnTo>
                    <a:pt x="5" y="96"/>
                  </a:lnTo>
                  <a:lnTo>
                    <a:pt x="0" y="98"/>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79" name="Freeform 119">
              <a:extLst>
                <a:ext uri="{FF2B5EF4-FFF2-40B4-BE49-F238E27FC236}">
                  <a16:creationId xmlns:a16="http://schemas.microsoft.com/office/drawing/2014/main" id="{B1DF52DA-1E3D-993B-708E-430426121E1F}"/>
                </a:ext>
              </a:extLst>
            </p:cNvPr>
            <p:cNvSpPr>
              <a:spLocks noEditPoints="1"/>
            </p:cNvSpPr>
            <p:nvPr/>
          </p:nvSpPr>
          <p:spPr bwMode="auto">
            <a:xfrm>
              <a:off x="1449" y="1514"/>
              <a:ext cx="775" cy="199"/>
            </a:xfrm>
            <a:custGeom>
              <a:avLst/>
              <a:gdLst>
                <a:gd name="T0" fmla="*/ 775 w 775"/>
                <a:gd name="T1" fmla="*/ 96 h 199"/>
                <a:gd name="T2" fmla="*/ 775 w 775"/>
                <a:gd name="T3" fmla="*/ 84 h 199"/>
                <a:gd name="T4" fmla="*/ 773 w 775"/>
                <a:gd name="T5" fmla="*/ 71 h 199"/>
                <a:gd name="T6" fmla="*/ 773 w 775"/>
                <a:gd name="T7" fmla="*/ 59 h 199"/>
                <a:gd name="T8" fmla="*/ 772 w 775"/>
                <a:gd name="T9" fmla="*/ 48 h 199"/>
                <a:gd name="T10" fmla="*/ 770 w 775"/>
                <a:gd name="T11" fmla="*/ 35 h 199"/>
                <a:gd name="T12" fmla="*/ 768 w 775"/>
                <a:gd name="T13" fmla="*/ 23 h 199"/>
                <a:gd name="T14" fmla="*/ 765 w 775"/>
                <a:gd name="T15" fmla="*/ 11 h 199"/>
                <a:gd name="T16" fmla="*/ 762 w 775"/>
                <a:gd name="T17" fmla="*/ 0 h 199"/>
                <a:gd name="T18" fmla="*/ 757 w 775"/>
                <a:gd name="T19" fmla="*/ 0 h 199"/>
                <a:gd name="T20" fmla="*/ 760 w 775"/>
                <a:gd name="T21" fmla="*/ 11 h 199"/>
                <a:gd name="T22" fmla="*/ 763 w 775"/>
                <a:gd name="T23" fmla="*/ 23 h 199"/>
                <a:gd name="T24" fmla="*/ 765 w 775"/>
                <a:gd name="T25" fmla="*/ 36 h 199"/>
                <a:gd name="T26" fmla="*/ 767 w 775"/>
                <a:gd name="T27" fmla="*/ 48 h 199"/>
                <a:gd name="T28" fmla="*/ 768 w 775"/>
                <a:gd name="T29" fmla="*/ 61 h 199"/>
                <a:gd name="T30" fmla="*/ 770 w 775"/>
                <a:gd name="T31" fmla="*/ 73 h 199"/>
                <a:gd name="T32" fmla="*/ 770 w 775"/>
                <a:gd name="T33" fmla="*/ 86 h 199"/>
                <a:gd name="T34" fmla="*/ 770 w 775"/>
                <a:gd name="T35" fmla="*/ 99 h 199"/>
                <a:gd name="T36" fmla="*/ 775 w 775"/>
                <a:gd name="T37" fmla="*/ 96 h 199"/>
                <a:gd name="T38" fmla="*/ 0 w 775"/>
                <a:gd name="T39" fmla="*/ 96 h 199"/>
                <a:gd name="T40" fmla="*/ 0 w 775"/>
                <a:gd name="T41" fmla="*/ 98 h 199"/>
                <a:gd name="T42" fmla="*/ 0 w 775"/>
                <a:gd name="T43" fmla="*/ 99 h 199"/>
                <a:gd name="T44" fmla="*/ 0 w 775"/>
                <a:gd name="T45" fmla="*/ 112 h 199"/>
                <a:gd name="T46" fmla="*/ 0 w 775"/>
                <a:gd name="T47" fmla="*/ 124 h 199"/>
                <a:gd name="T48" fmla="*/ 2 w 775"/>
                <a:gd name="T49" fmla="*/ 137 h 199"/>
                <a:gd name="T50" fmla="*/ 3 w 775"/>
                <a:gd name="T51" fmla="*/ 149 h 199"/>
                <a:gd name="T52" fmla="*/ 5 w 775"/>
                <a:gd name="T53" fmla="*/ 162 h 199"/>
                <a:gd name="T54" fmla="*/ 7 w 775"/>
                <a:gd name="T55" fmla="*/ 174 h 199"/>
                <a:gd name="T56" fmla="*/ 10 w 775"/>
                <a:gd name="T57" fmla="*/ 187 h 199"/>
                <a:gd name="T58" fmla="*/ 11 w 775"/>
                <a:gd name="T59" fmla="*/ 199 h 199"/>
                <a:gd name="T60" fmla="*/ 16 w 775"/>
                <a:gd name="T61" fmla="*/ 199 h 199"/>
                <a:gd name="T62" fmla="*/ 15 w 775"/>
                <a:gd name="T63" fmla="*/ 187 h 199"/>
                <a:gd name="T64" fmla="*/ 11 w 775"/>
                <a:gd name="T65" fmla="*/ 174 h 199"/>
                <a:gd name="T66" fmla="*/ 10 w 775"/>
                <a:gd name="T67" fmla="*/ 162 h 199"/>
                <a:gd name="T68" fmla="*/ 8 w 775"/>
                <a:gd name="T69" fmla="*/ 151 h 199"/>
                <a:gd name="T70" fmla="*/ 7 w 775"/>
                <a:gd name="T71" fmla="*/ 137 h 199"/>
                <a:gd name="T72" fmla="*/ 5 w 775"/>
                <a:gd name="T73" fmla="*/ 124 h 199"/>
                <a:gd name="T74" fmla="*/ 5 w 775"/>
                <a:gd name="T75" fmla="*/ 112 h 199"/>
                <a:gd name="T76" fmla="*/ 3 w 775"/>
                <a:gd name="T77" fmla="*/ 99 h 199"/>
                <a:gd name="T78" fmla="*/ 3 w 775"/>
                <a:gd name="T79" fmla="*/ 98 h 199"/>
                <a:gd name="T80" fmla="*/ 5 w 775"/>
                <a:gd name="T81" fmla="*/ 96 h 199"/>
                <a:gd name="T82" fmla="*/ 5 w 775"/>
                <a:gd name="T83" fmla="*/ 94 h 199"/>
                <a:gd name="T84" fmla="*/ 0 w 775"/>
                <a:gd name="T85" fmla="*/ 9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75" h="199">
                  <a:moveTo>
                    <a:pt x="775" y="96"/>
                  </a:moveTo>
                  <a:lnTo>
                    <a:pt x="775" y="84"/>
                  </a:lnTo>
                  <a:lnTo>
                    <a:pt x="773" y="71"/>
                  </a:lnTo>
                  <a:lnTo>
                    <a:pt x="773" y="59"/>
                  </a:lnTo>
                  <a:lnTo>
                    <a:pt x="772" y="48"/>
                  </a:lnTo>
                  <a:lnTo>
                    <a:pt x="770" y="35"/>
                  </a:lnTo>
                  <a:lnTo>
                    <a:pt x="768" y="23"/>
                  </a:lnTo>
                  <a:lnTo>
                    <a:pt x="765" y="11"/>
                  </a:lnTo>
                  <a:lnTo>
                    <a:pt x="762" y="0"/>
                  </a:lnTo>
                  <a:lnTo>
                    <a:pt x="757" y="0"/>
                  </a:lnTo>
                  <a:lnTo>
                    <a:pt x="760" y="11"/>
                  </a:lnTo>
                  <a:lnTo>
                    <a:pt x="763" y="23"/>
                  </a:lnTo>
                  <a:lnTo>
                    <a:pt x="765" y="36"/>
                  </a:lnTo>
                  <a:lnTo>
                    <a:pt x="767" y="48"/>
                  </a:lnTo>
                  <a:lnTo>
                    <a:pt x="768" y="61"/>
                  </a:lnTo>
                  <a:lnTo>
                    <a:pt x="770" y="73"/>
                  </a:lnTo>
                  <a:lnTo>
                    <a:pt x="770" y="86"/>
                  </a:lnTo>
                  <a:lnTo>
                    <a:pt x="770" y="99"/>
                  </a:lnTo>
                  <a:lnTo>
                    <a:pt x="775" y="96"/>
                  </a:lnTo>
                  <a:close/>
                  <a:moveTo>
                    <a:pt x="0" y="96"/>
                  </a:moveTo>
                  <a:lnTo>
                    <a:pt x="0" y="98"/>
                  </a:lnTo>
                  <a:lnTo>
                    <a:pt x="0" y="99"/>
                  </a:lnTo>
                  <a:lnTo>
                    <a:pt x="0" y="112"/>
                  </a:lnTo>
                  <a:lnTo>
                    <a:pt x="0" y="124"/>
                  </a:lnTo>
                  <a:lnTo>
                    <a:pt x="2" y="137"/>
                  </a:lnTo>
                  <a:lnTo>
                    <a:pt x="3" y="149"/>
                  </a:lnTo>
                  <a:lnTo>
                    <a:pt x="5" y="162"/>
                  </a:lnTo>
                  <a:lnTo>
                    <a:pt x="7" y="174"/>
                  </a:lnTo>
                  <a:lnTo>
                    <a:pt x="10" y="187"/>
                  </a:lnTo>
                  <a:lnTo>
                    <a:pt x="11" y="199"/>
                  </a:lnTo>
                  <a:lnTo>
                    <a:pt x="16" y="199"/>
                  </a:lnTo>
                  <a:lnTo>
                    <a:pt x="15" y="187"/>
                  </a:lnTo>
                  <a:lnTo>
                    <a:pt x="11" y="174"/>
                  </a:lnTo>
                  <a:lnTo>
                    <a:pt x="10" y="162"/>
                  </a:lnTo>
                  <a:lnTo>
                    <a:pt x="8" y="151"/>
                  </a:lnTo>
                  <a:lnTo>
                    <a:pt x="7" y="137"/>
                  </a:lnTo>
                  <a:lnTo>
                    <a:pt x="5" y="124"/>
                  </a:lnTo>
                  <a:lnTo>
                    <a:pt x="5" y="112"/>
                  </a:lnTo>
                  <a:lnTo>
                    <a:pt x="3" y="99"/>
                  </a:lnTo>
                  <a:lnTo>
                    <a:pt x="3" y="98"/>
                  </a:lnTo>
                  <a:lnTo>
                    <a:pt x="5" y="96"/>
                  </a:lnTo>
                  <a:lnTo>
                    <a:pt x="5" y="94"/>
                  </a:lnTo>
                  <a:lnTo>
                    <a:pt x="0" y="96"/>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80" name="Freeform 120">
              <a:extLst>
                <a:ext uri="{FF2B5EF4-FFF2-40B4-BE49-F238E27FC236}">
                  <a16:creationId xmlns:a16="http://schemas.microsoft.com/office/drawing/2014/main" id="{2A205763-6661-2E15-2630-C25D4B538B28}"/>
                </a:ext>
              </a:extLst>
            </p:cNvPr>
            <p:cNvSpPr>
              <a:spLocks noEditPoints="1"/>
            </p:cNvSpPr>
            <p:nvPr/>
          </p:nvSpPr>
          <p:spPr bwMode="auto">
            <a:xfrm>
              <a:off x="1451" y="1514"/>
              <a:ext cx="771" cy="199"/>
            </a:xfrm>
            <a:custGeom>
              <a:avLst/>
              <a:gdLst>
                <a:gd name="T0" fmla="*/ 771 w 771"/>
                <a:gd name="T1" fmla="*/ 98 h 199"/>
                <a:gd name="T2" fmla="*/ 770 w 771"/>
                <a:gd name="T3" fmla="*/ 84 h 199"/>
                <a:gd name="T4" fmla="*/ 770 w 771"/>
                <a:gd name="T5" fmla="*/ 73 h 199"/>
                <a:gd name="T6" fmla="*/ 768 w 771"/>
                <a:gd name="T7" fmla="*/ 59 h 199"/>
                <a:gd name="T8" fmla="*/ 768 w 771"/>
                <a:gd name="T9" fmla="*/ 48 h 199"/>
                <a:gd name="T10" fmla="*/ 765 w 771"/>
                <a:gd name="T11" fmla="*/ 35 h 199"/>
                <a:gd name="T12" fmla="*/ 763 w 771"/>
                <a:gd name="T13" fmla="*/ 23 h 199"/>
                <a:gd name="T14" fmla="*/ 761 w 771"/>
                <a:gd name="T15" fmla="*/ 11 h 199"/>
                <a:gd name="T16" fmla="*/ 758 w 771"/>
                <a:gd name="T17" fmla="*/ 0 h 199"/>
                <a:gd name="T18" fmla="*/ 753 w 771"/>
                <a:gd name="T19" fmla="*/ 0 h 199"/>
                <a:gd name="T20" fmla="*/ 756 w 771"/>
                <a:gd name="T21" fmla="*/ 11 h 199"/>
                <a:gd name="T22" fmla="*/ 758 w 771"/>
                <a:gd name="T23" fmla="*/ 23 h 199"/>
                <a:gd name="T24" fmla="*/ 761 w 771"/>
                <a:gd name="T25" fmla="*/ 36 h 199"/>
                <a:gd name="T26" fmla="*/ 763 w 771"/>
                <a:gd name="T27" fmla="*/ 48 h 199"/>
                <a:gd name="T28" fmla="*/ 765 w 771"/>
                <a:gd name="T29" fmla="*/ 61 h 199"/>
                <a:gd name="T30" fmla="*/ 765 w 771"/>
                <a:gd name="T31" fmla="*/ 73 h 199"/>
                <a:gd name="T32" fmla="*/ 766 w 771"/>
                <a:gd name="T33" fmla="*/ 86 h 199"/>
                <a:gd name="T34" fmla="*/ 766 w 771"/>
                <a:gd name="T35" fmla="*/ 99 h 199"/>
                <a:gd name="T36" fmla="*/ 771 w 771"/>
                <a:gd name="T37" fmla="*/ 98 h 199"/>
                <a:gd name="T38" fmla="*/ 0 w 771"/>
                <a:gd name="T39" fmla="*/ 96 h 199"/>
                <a:gd name="T40" fmla="*/ 0 w 771"/>
                <a:gd name="T41" fmla="*/ 96 h 199"/>
                <a:gd name="T42" fmla="*/ 0 w 771"/>
                <a:gd name="T43" fmla="*/ 98 h 199"/>
                <a:gd name="T44" fmla="*/ 0 w 771"/>
                <a:gd name="T45" fmla="*/ 99 h 199"/>
                <a:gd name="T46" fmla="*/ 0 w 771"/>
                <a:gd name="T47" fmla="*/ 112 h 199"/>
                <a:gd name="T48" fmla="*/ 1 w 771"/>
                <a:gd name="T49" fmla="*/ 124 h 199"/>
                <a:gd name="T50" fmla="*/ 1 w 771"/>
                <a:gd name="T51" fmla="*/ 137 h 199"/>
                <a:gd name="T52" fmla="*/ 3 w 771"/>
                <a:gd name="T53" fmla="*/ 149 h 199"/>
                <a:gd name="T54" fmla="*/ 5 w 771"/>
                <a:gd name="T55" fmla="*/ 162 h 199"/>
                <a:gd name="T56" fmla="*/ 6 w 771"/>
                <a:gd name="T57" fmla="*/ 174 h 199"/>
                <a:gd name="T58" fmla="*/ 9 w 771"/>
                <a:gd name="T59" fmla="*/ 187 h 199"/>
                <a:gd name="T60" fmla="*/ 13 w 771"/>
                <a:gd name="T61" fmla="*/ 199 h 199"/>
                <a:gd name="T62" fmla="*/ 18 w 771"/>
                <a:gd name="T63" fmla="*/ 199 h 199"/>
                <a:gd name="T64" fmla="*/ 14 w 771"/>
                <a:gd name="T65" fmla="*/ 187 h 199"/>
                <a:gd name="T66" fmla="*/ 11 w 771"/>
                <a:gd name="T67" fmla="*/ 174 h 199"/>
                <a:gd name="T68" fmla="*/ 9 w 771"/>
                <a:gd name="T69" fmla="*/ 162 h 199"/>
                <a:gd name="T70" fmla="*/ 8 w 771"/>
                <a:gd name="T71" fmla="*/ 151 h 199"/>
                <a:gd name="T72" fmla="*/ 6 w 771"/>
                <a:gd name="T73" fmla="*/ 137 h 199"/>
                <a:gd name="T74" fmla="*/ 5 w 771"/>
                <a:gd name="T75" fmla="*/ 124 h 199"/>
                <a:gd name="T76" fmla="*/ 5 w 771"/>
                <a:gd name="T77" fmla="*/ 112 h 199"/>
                <a:gd name="T78" fmla="*/ 5 w 771"/>
                <a:gd name="T79" fmla="*/ 99 h 199"/>
                <a:gd name="T80" fmla="*/ 5 w 771"/>
                <a:gd name="T81" fmla="*/ 98 h 199"/>
                <a:gd name="T82" fmla="*/ 5 w 771"/>
                <a:gd name="T83" fmla="*/ 96 h 199"/>
                <a:gd name="T84" fmla="*/ 5 w 771"/>
                <a:gd name="T85" fmla="*/ 94 h 199"/>
                <a:gd name="T86" fmla="*/ 5 w 771"/>
                <a:gd name="T87" fmla="*/ 93 h 199"/>
                <a:gd name="T88" fmla="*/ 0 w 771"/>
                <a:gd name="T89" fmla="*/ 9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71" h="199">
                  <a:moveTo>
                    <a:pt x="771" y="98"/>
                  </a:moveTo>
                  <a:lnTo>
                    <a:pt x="770" y="84"/>
                  </a:lnTo>
                  <a:lnTo>
                    <a:pt x="770" y="73"/>
                  </a:lnTo>
                  <a:lnTo>
                    <a:pt x="768" y="59"/>
                  </a:lnTo>
                  <a:lnTo>
                    <a:pt x="768" y="48"/>
                  </a:lnTo>
                  <a:lnTo>
                    <a:pt x="765" y="35"/>
                  </a:lnTo>
                  <a:lnTo>
                    <a:pt x="763" y="23"/>
                  </a:lnTo>
                  <a:lnTo>
                    <a:pt x="761" y="11"/>
                  </a:lnTo>
                  <a:lnTo>
                    <a:pt x="758" y="0"/>
                  </a:lnTo>
                  <a:lnTo>
                    <a:pt x="753" y="0"/>
                  </a:lnTo>
                  <a:lnTo>
                    <a:pt x="756" y="11"/>
                  </a:lnTo>
                  <a:lnTo>
                    <a:pt x="758" y="23"/>
                  </a:lnTo>
                  <a:lnTo>
                    <a:pt x="761" y="36"/>
                  </a:lnTo>
                  <a:lnTo>
                    <a:pt x="763" y="48"/>
                  </a:lnTo>
                  <a:lnTo>
                    <a:pt x="765" y="61"/>
                  </a:lnTo>
                  <a:lnTo>
                    <a:pt x="765" y="73"/>
                  </a:lnTo>
                  <a:lnTo>
                    <a:pt x="766" y="86"/>
                  </a:lnTo>
                  <a:lnTo>
                    <a:pt x="766" y="99"/>
                  </a:lnTo>
                  <a:lnTo>
                    <a:pt x="771" y="98"/>
                  </a:lnTo>
                  <a:close/>
                  <a:moveTo>
                    <a:pt x="0" y="96"/>
                  </a:moveTo>
                  <a:lnTo>
                    <a:pt x="0" y="96"/>
                  </a:lnTo>
                  <a:lnTo>
                    <a:pt x="0" y="98"/>
                  </a:lnTo>
                  <a:lnTo>
                    <a:pt x="0" y="99"/>
                  </a:lnTo>
                  <a:lnTo>
                    <a:pt x="0" y="112"/>
                  </a:lnTo>
                  <a:lnTo>
                    <a:pt x="1" y="124"/>
                  </a:lnTo>
                  <a:lnTo>
                    <a:pt x="1" y="137"/>
                  </a:lnTo>
                  <a:lnTo>
                    <a:pt x="3" y="149"/>
                  </a:lnTo>
                  <a:lnTo>
                    <a:pt x="5" y="162"/>
                  </a:lnTo>
                  <a:lnTo>
                    <a:pt x="6" y="174"/>
                  </a:lnTo>
                  <a:lnTo>
                    <a:pt x="9" y="187"/>
                  </a:lnTo>
                  <a:lnTo>
                    <a:pt x="13" y="199"/>
                  </a:lnTo>
                  <a:lnTo>
                    <a:pt x="18" y="199"/>
                  </a:lnTo>
                  <a:lnTo>
                    <a:pt x="14" y="187"/>
                  </a:lnTo>
                  <a:lnTo>
                    <a:pt x="11" y="174"/>
                  </a:lnTo>
                  <a:lnTo>
                    <a:pt x="9" y="162"/>
                  </a:lnTo>
                  <a:lnTo>
                    <a:pt x="8" y="151"/>
                  </a:lnTo>
                  <a:lnTo>
                    <a:pt x="6" y="137"/>
                  </a:lnTo>
                  <a:lnTo>
                    <a:pt x="5" y="124"/>
                  </a:lnTo>
                  <a:lnTo>
                    <a:pt x="5" y="112"/>
                  </a:lnTo>
                  <a:lnTo>
                    <a:pt x="5" y="99"/>
                  </a:lnTo>
                  <a:lnTo>
                    <a:pt x="5" y="98"/>
                  </a:lnTo>
                  <a:lnTo>
                    <a:pt x="5" y="96"/>
                  </a:lnTo>
                  <a:lnTo>
                    <a:pt x="5" y="94"/>
                  </a:lnTo>
                  <a:lnTo>
                    <a:pt x="5" y="93"/>
                  </a:lnTo>
                  <a:lnTo>
                    <a:pt x="0" y="96"/>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81" name="Freeform 121">
              <a:extLst>
                <a:ext uri="{FF2B5EF4-FFF2-40B4-BE49-F238E27FC236}">
                  <a16:creationId xmlns:a16="http://schemas.microsoft.com/office/drawing/2014/main" id="{7746B327-975E-E5A8-2E8A-71F305B519A4}"/>
                </a:ext>
              </a:extLst>
            </p:cNvPr>
            <p:cNvSpPr>
              <a:spLocks noEditPoints="1"/>
            </p:cNvSpPr>
            <p:nvPr/>
          </p:nvSpPr>
          <p:spPr bwMode="auto">
            <a:xfrm>
              <a:off x="1452" y="1514"/>
              <a:ext cx="767" cy="199"/>
            </a:xfrm>
            <a:custGeom>
              <a:avLst/>
              <a:gdLst>
                <a:gd name="T0" fmla="*/ 767 w 767"/>
                <a:gd name="T1" fmla="*/ 99 h 199"/>
                <a:gd name="T2" fmla="*/ 767 w 767"/>
                <a:gd name="T3" fmla="*/ 86 h 199"/>
                <a:gd name="T4" fmla="*/ 767 w 767"/>
                <a:gd name="T5" fmla="*/ 73 h 199"/>
                <a:gd name="T6" fmla="*/ 765 w 767"/>
                <a:gd name="T7" fmla="*/ 61 h 199"/>
                <a:gd name="T8" fmla="*/ 764 w 767"/>
                <a:gd name="T9" fmla="*/ 48 h 199"/>
                <a:gd name="T10" fmla="*/ 762 w 767"/>
                <a:gd name="T11" fmla="*/ 36 h 199"/>
                <a:gd name="T12" fmla="*/ 760 w 767"/>
                <a:gd name="T13" fmla="*/ 23 h 199"/>
                <a:gd name="T14" fmla="*/ 757 w 767"/>
                <a:gd name="T15" fmla="*/ 11 h 199"/>
                <a:gd name="T16" fmla="*/ 754 w 767"/>
                <a:gd name="T17" fmla="*/ 0 h 199"/>
                <a:gd name="T18" fmla="*/ 749 w 767"/>
                <a:gd name="T19" fmla="*/ 0 h 199"/>
                <a:gd name="T20" fmla="*/ 752 w 767"/>
                <a:gd name="T21" fmla="*/ 11 h 199"/>
                <a:gd name="T22" fmla="*/ 755 w 767"/>
                <a:gd name="T23" fmla="*/ 23 h 199"/>
                <a:gd name="T24" fmla="*/ 757 w 767"/>
                <a:gd name="T25" fmla="*/ 36 h 199"/>
                <a:gd name="T26" fmla="*/ 759 w 767"/>
                <a:gd name="T27" fmla="*/ 48 h 199"/>
                <a:gd name="T28" fmla="*/ 760 w 767"/>
                <a:gd name="T29" fmla="*/ 61 h 199"/>
                <a:gd name="T30" fmla="*/ 762 w 767"/>
                <a:gd name="T31" fmla="*/ 73 h 199"/>
                <a:gd name="T32" fmla="*/ 762 w 767"/>
                <a:gd name="T33" fmla="*/ 86 h 199"/>
                <a:gd name="T34" fmla="*/ 762 w 767"/>
                <a:gd name="T35" fmla="*/ 99 h 199"/>
                <a:gd name="T36" fmla="*/ 762 w 767"/>
                <a:gd name="T37" fmla="*/ 101 h 199"/>
                <a:gd name="T38" fmla="*/ 767 w 767"/>
                <a:gd name="T39" fmla="*/ 99 h 199"/>
                <a:gd name="T40" fmla="*/ 2 w 767"/>
                <a:gd name="T41" fmla="*/ 94 h 199"/>
                <a:gd name="T42" fmla="*/ 2 w 767"/>
                <a:gd name="T43" fmla="*/ 94 h 199"/>
                <a:gd name="T44" fmla="*/ 2 w 767"/>
                <a:gd name="T45" fmla="*/ 96 h 199"/>
                <a:gd name="T46" fmla="*/ 0 w 767"/>
                <a:gd name="T47" fmla="*/ 98 h 199"/>
                <a:gd name="T48" fmla="*/ 0 w 767"/>
                <a:gd name="T49" fmla="*/ 99 h 199"/>
                <a:gd name="T50" fmla="*/ 2 w 767"/>
                <a:gd name="T51" fmla="*/ 112 h 199"/>
                <a:gd name="T52" fmla="*/ 2 w 767"/>
                <a:gd name="T53" fmla="*/ 124 h 199"/>
                <a:gd name="T54" fmla="*/ 4 w 767"/>
                <a:gd name="T55" fmla="*/ 137 h 199"/>
                <a:gd name="T56" fmla="*/ 5 w 767"/>
                <a:gd name="T57" fmla="*/ 151 h 199"/>
                <a:gd name="T58" fmla="*/ 7 w 767"/>
                <a:gd name="T59" fmla="*/ 162 h 199"/>
                <a:gd name="T60" fmla="*/ 8 w 767"/>
                <a:gd name="T61" fmla="*/ 174 h 199"/>
                <a:gd name="T62" fmla="*/ 12 w 767"/>
                <a:gd name="T63" fmla="*/ 187 h 199"/>
                <a:gd name="T64" fmla="*/ 13 w 767"/>
                <a:gd name="T65" fmla="*/ 199 h 199"/>
                <a:gd name="T66" fmla="*/ 18 w 767"/>
                <a:gd name="T67" fmla="*/ 199 h 199"/>
                <a:gd name="T68" fmla="*/ 17 w 767"/>
                <a:gd name="T69" fmla="*/ 187 h 199"/>
                <a:gd name="T70" fmla="*/ 13 w 767"/>
                <a:gd name="T71" fmla="*/ 174 h 199"/>
                <a:gd name="T72" fmla="*/ 12 w 767"/>
                <a:gd name="T73" fmla="*/ 162 h 199"/>
                <a:gd name="T74" fmla="*/ 8 w 767"/>
                <a:gd name="T75" fmla="*/ 151 h 199"/>
                <a:gd name="T76" fmla="*/ 8 w 767"/>
                <a:gd name="T77" fmla="*/ 137 h 199"/>
                <a:gd name="T78" fmla="*/ 7 w 767"/>
                <a:gd name="T79" fmla="*/ 124 h 199"/>
                <a:gd name="T80" fmla="*/ 7 w 767"/>
                <a:gd name="T81" fmla="*/ 112 h 199"/>
                <a:gd name="T82" fmla="*/ 5 w 767"/>
                <a:gd name="T83" fmla="*/ 99 h 199"/>
                <a:gd name="T84" fmla="*/ 5 w 767"/>
                <a:gd name="T85" fmla="*/ 98 h 199"/>
                <a:gd name="T86" fmla="*/ 5 w 767"/>
                <a:gd name="T87" fmla="*/ 96 h 199"/>
                <a:gd name="T88" fmla="*/ 5 w 767"/>
                <a:gd name="T89" fmla="*/ 94 h 199"/>
                <a:gd name="T90" fmla="*/ 5 w 767"/>
                <a:gd name="T91" fmla="*/ 93 h 199"/>
                <a:gd name="T92" fmla="*/ 2 w 767"/>
                <a:gd name="T93" fmla="*/ 9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67" h="199">
                  <a:moveTo>
                    <a:pt x="767" y="99"/>
                  </a:moveTo>
                  <a:lnTo>
                    <a:pt x="767" y="86"/>
                  </a:lnTo>
                  <a:lnTo>
                    <a:pt x="767" y="73"/>
                  </a:lnTo>
                  <a:lnTo>
                    <a:pt x="765" y="61"/>
                  </a:lnTo>
                  <a:lnTo>
                    <a:pt x="764" y="48"/>
                  </a:lnTo>
                  <a:lnTo>
                    <a:pt x="762" y="36"/>
                  </a:lnTo>
                  <a:lnTo>
                    <a:pt x="760" y="23"/>
                  </a:lnTo>
                  <a:lnTo>
                    <a:pt x="757" y="11"/>
                  </a:lnTo>
                  <a:lnTo>
                    <a:pt x="754" y="0"/>
                  </a:lnTo>
                  <a:lnTo>
                    <a:pt x="749" y="0"/>
                  </a:lnTo>
                  <a:lnTo>
                    <a:pt x="752" y="11"/>
                  </a:lnTo>
                  <a:lnTo>
                    <a:pt x="755" y="23"/>
                  </a:lnTo>
                  <a:lnTo>
                    <a:pt x="757" y="36"/>
                  </a:lnTo>
                  <a:lnTo>
                    <a:pt x="759" y="48"/>
                  </a:lnTo>
                  <a:lnTo>
                    <a:pt x="760" y="61"/>
                  </a:lnTo>
                  <a:lnTo>
                    <a:pt x="762" y="73"/>
                  </a:lnTo>
                  <a:lnTo>
                    <a:pt x="762" y="86"/>
                  </a:lnTo>
                  <a:lnTo>
                    <a:pt x="762" y="99"/>
                  </a:lnTo>
                  <a:lnTo>
                    <a:pt x="762" y="101"/>
                  </a:lnTo>
                  <a:lnTo>
                    <a:pt x="767" y="99"/>
                  </a:lnTo>
                  <a:close/>
                  <a:moveTo>
                    <a:pt x="2" y="94"/>
                  </a:moveTo>
                  <a:lnTo>
                    <a:pt x="2" y="94"/>
                  </a:lnTo>
                  <a:lnTo>
                    <a:pt x="2" y="96"/>
                  </a:lnTo>
                  <a:lnTo>
                    <a:pt x="0" y="98"/>
                  </a:lnTo>
                  <a:lnTo>
                    <a:pt x="0" y="99"/>
                  </a:lnTo>
                  <a:lnTo>
                    <a:pt x="2" y="112"/>
                  </a:lnTo>
                  <a:lnTo>
                    <a:pt x="2" y="124"/>
                  </a:lnTo>
                  <a:lnTo>
                    <a:pt x="4" y="137"/>
                  </a:lnTo>
                  <a:lnTo>
                    <a:pt x="5" y="151"/>
                  </a:lnTo>
                  <a:lnTo>
                    <a:pt x="7" y="162"/>
                  </a:lnTo>
                  <a:lnTo>
                    <a:pt x="8" y="174"/>
                  </a:lnTo>
                  <a:lnTo>
                    <a:pt x="12" y="187"/>
                  </a:lnTo>
                  <a:lnTo>
                    <a:pt x="13" y="199"/>
                  </a:lnTo>
                  <a:lnTo>
                    <a:pt x="18" y="199"/>
                  </a:lnTo>
                  <a:lnTo>
                    <a:pt x="17" y="187"/>
                  </a:lnTo>
                  <a:lnTo>
                    <a:pt x="13" y="174"/>
                  </a:lnTo>
                  <a:lnTo>
                    <a:pt x="12" y="162"/>
                  </a:lnTo>
                  <a:lnTo>
                    <a:pt x="8" y="151"/>
                  </a:lnTo>
                  <a:lnTo>
                    <a:pt x="8" y="137"/>
                  </a:lnTo>
                  <a:lnTo>
                    <a:pt x="7" y="124"/>
                  </a:lnTo>
                  <a:lnTo>
                    <a:pt x="7" y="112"/>
                  </a:lnTo>
                  <a:lnTo>
                    <a:pt x="5" y="99"/>
                  </a:lnTo>
                  <a:lnTo>
                    <a:pt x="5" y="98"/>
                  </a:lnTo>
                  <a:lnTo>
                    <a:pt x="5" y="96"/>
                  </a:lnTo>
                  <a:lnTo>
                    <a:pt x="5" y="94"/>
                  </a:lnTo>
                  <a:lnTo>
                    <a:pt x="5" y="93"/>
                  </a:lnTo>
                  <a:lnTo>
                    <a:pt x="2" y="94"/>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82" name="Freeform 122">
              <a:extLst>
                <a:ext uri="{FF2B5EF4-FFF2-40B4-BE49-F238E27FC236}">
                  <a16:creationId xmlns:a16="http://schemas.microsoft.com/office/drawing/2014/main" id="{FCD37AA8-D4C0-3069-DA76-4B970C9A49E3}"/>
                </a:ext>
              </a:extLst>
            </p:cNvPr>
            <p:cNvSpPr>
              <a:spLocks noEditPoints="1"/>
            </p:cNvSpPr>
            <p:nvPr/>
          </p:nvSpPr>
          <p:spPr bwMode="auto">
            <a:xfrm>
              <a:off x="1456" y="1514"/>
              <a:ext cx="761" cy="199"/>
            </a:xfrm>
            <a:custGeom>
              <a:avLst/>
              <a:gdLst>
                <a:gd name="T0" fmla="*/ 761 w 761"/>
                <a:gd name="T1" fmla="*/ 99 h 199"/>
                <a:gd name="T2" fmla="*/ 761 w 761"/>
                <a:gd name="T3" fmla="*/ 86 h 199"/>
                <a:gd name="T4" fmla="*/ 760 w 761"/>
                <a:gd name="T5" fmla="*/ 73 h 199"/>
                <a:gd name="T6" fmla="*/ 760 w 761"/>
                <a:gd name="T7" fmla="*/ 61 h 199"/>
                <a:gd name="T8" fmla="*/ 758 w 761"/>
                <a:gd name="T9" fmla="*/ 48 h 199"/>
                <a:gd name="T10" fmla="*/ 756 w 761"/>
                <a:gd name="T11" fmla="*/ 36 h 199"/>
                <a:gd name="T12" fmla="*/ 753 w 761"/>
                <a:gd name="T13" fmla="*/ 23 h 199"/>
                <a:gd name="T14" fmla="*/ 751 w 761"/>
                <a:gd name="T15" fmla="*/ 11 h 199"/>
                <a:gd name="T16" fmla="*/ 748 w 761"/>
                <a:gd name="T17" fmla="*/ 0 h 199"/>
                <a:gd name="T18" fmla="*/ 743 w 761"/>
                <a:gd name="T19" fmla="*/ 0 h 199"/>
                <a:gd name="T20" fmla="*/ 746 w 761"/>
                <a:gd name="T21" fmla="*/ 11 h 199"/>
                <a:gd name="T22" fmla="*/ 748 w 761"/>
                <a:gd name="T23" fmla="*/ 23 h 199"/>
                <a:gd name="T24" fmla="*/ 751 w 761"/>
                <a:gd name="T25" fmla="*/ 36 h 199"/>
                <a:gd name="T26" fmla="*/ 753 w 761"/>
                <a:gd name="T27" fmla="*/ 48 h 199"/>
                <a:gd name="T28" fmla="*/ 755 w 761"/>
                <a:gd name="T29" fmla="*/ 61 h 199"/>
                <a:gd name="T30" fmla="*/ 755 w 761"/>
                <a:gd name="T31" fmla="*/ 73 h 199"/>
                <a:gd name="T32" fmla="*/ 756 w 761"/>
                <a:gd name="T33" fmla="*/ 86 h 199"/>
                <a:gd name="T34" fmla="*/ 756 w 761"/>
                <a:gd name="T35" fmla="*/ 99 h 199"/>
                <a:gd name="T36" fmla="*/ 756 w 761"/>
                <a:gd name="T37" fmla="*/ 101 h 199"/>
                <a:gd name="T38" fmla="*/ 756 w 761"/>
                <a:gd name="T39" fmla="*/ 102 h 199"/>
                <a:gd name="T40" fmla="*/ 761 w 761"/>
                <a:gd name="T41" fmla="*/ 99 h 199"/>
                <a:gd name="T42" fmla="*/ 0 w 761"/>
                <a:gd name="T43" fmla="*/ 93 h 199"/>
                <a:gd name="T44" fmla="*/ 0 w 761"/>
                <a:gd name="T45" fmla="*/ 94 h 199"/>
                <a:gd name="T46" fmla="*/ 0 w 761"/>
                <a:gd name="T47" fmla="*/ 96 h 199"/>
                <a:gd name="T48" fmla="*/ 0 w 761"/>
                <a:gd name="T49" fmla="*/ 98 h 199"/>
                <a:gd name="T50" fmla="*/ 0 w 761"/>
                <a:gd name="T51" fmla="*/ 99 h 199"/>
                <a:gd name="T52" fmla="*/ 0 w 761"/>
                <a:gd name="T53" fmla="*/ 112 h 199"/>
                <a:gd name="T54" fmla="*/ 0 w 761"/>
                <a:gd name="T55" fmla="*/ 124 h 199"/>
                <a:gd name="T56" fmla="*/ 1 w 761"/>
                <a:gd name="T57" fmla="*/ 137 h 199"/>
                <a:gd name="T58" fmla="*/ 3 w 761"/>
                <a:gd name="T59" fmla="*/ 151 h 199"/>
                <a:gd name="T60" fmla="*/ 4 w 761"/>
                <a:gd name="T61" fmla="*/ 162 h 199"/>
                <a:gd name="T62" fmla="*/ 6 w 761"/>
                <a:gd name="T63" fmla="*/ 174 h 199"/>
                <a:gd name="T64" fmla="*/ 9 w 761"/>
                <a:gd name="T65" fmla="*/ 187 h 199"/>
                <a:gd name="T66" fmla="*/ 13 w 761"/>
                <a:gd name="T67" fmla="*/ 199 h 199"/>
                <a:gd name="T68" fmla="*/ 18 w 761"/>
                <a:gd name="T69" fmla="*/ 199 h 199"/>
                <a:gd name="T70" fmla="*/ 14 w 761"/>
                <a:gd name="T71" fmla="*/ 187 h 199"/>
                <a:gd name="T72" fmla="*/ 11 w 761"/>
                <a:gd name="T73" fmla="*/ 174 h 199"/>
                <a:gd name="T74" fmla="*/ 9 w 761"/>
                <a:gd name="T75" fmla="*/ 162 h 199"/>
                <a:gd name="T76" fmla="*/ 8 w 761"/>
                <a:gd name="T77" fmla="*/ 151 h 199"/>
                <a:gd name="T78" fmla="*/ 6 w 761"/>
                <a:gd name="T79" fmla="*/ 137 h 199"/>
                <a:gd name="T80" fmla="*/ 4 w 761"/>
                <a:gd name="T81" fmla="*/ 124 h 199"/>
                <a:gd name="T82" fmla="*/ 4 w 761"/>
                <a:gd name="T83" fmla="*/ 112 h 199"/>
                <a:gd name="T84" fmla="*/ 4 w 761"/>
                <a:gd name="T85" fmla="*/ 99 h 199"/>
                <a:gd name="T86" fmla="*/ 4 w 761"/>
                <a:gd name="T87" fmla="*/ 98 h 199"/>
                <a:gd name="T88" fmla="*/ 4 w 761"/>
                <a:gd name="T89" fmla="*/ 96 h 199"/>
                <a:gd name="T90" fmla="*/ 4 w 761"/>
                <a:gd name="T91" fmla="*/ 94 h 199"/>
                <a:gd name="T92" fmla="*/ 4 w 761"/>
                <a:gd name="T93" fmla="*/ 93 h 199"/>
                <a:gd name="T94" fmla="*/ 4 w 761"/>
                <a:gd name="T95" fmla="*/ 91 h 199"/>
                <a:gd name="T96" fmla="*/ 0 w 761"/>
                <a:gd name="T97" fmla="*/ 9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61" h="199">
                  <a:moveTo>
                    <a:pt x="761" y="99"/>
                  </a:moveTo>
                  <a:lnTo>
                    <a:pt x="761" y="86"/>
                  </a:lnTo>
                  <a:lnTo>
                    <a:pt x="760" y="73"/>
                  </a:lnTo>
                  <a:lnTo>
                    <a:pt x="760" y="61"/>
                  </a:lnTo>
                  <a:lnTo>
                    <a:pt x="758" y="48"/>
                  </a:lnTo>
                  <a:lnTo>
                    <a:pt x="756" y="36"/>
                  </a:lnTo>
                  <a:lnTo>
                    <a:pt x="753" y="23"/>
                  </a:lnTo>
                  <a:lnTo>
                    <a:pt x="751" y="11"/>
                  </a:lnTo>
                  <a:lnTo>
                    <a:pt x="748" y="0"/>
                  </a:lnTo>
                  <a:lnTo>
                    <a:pt x="743" y="0"/>
                  </a:lnTo>
                  <a:lnTo>
                    <a:pt x="746" y="11"/>
                  </a:lnTo>
                  <a:lnTo>
                    <a:pt x="748" y="23"/>
                  </a:lnTo>
                  <a:lnTo>
                    <a:pt x="751" y="36"/>
                  </a:lnTo>
                  <a:lnTo>
                    <a:pt x="753" y="48"/>
                  </a:lnTo>
                  <a:lnTo>
                    <a:pt x="755" y="61"/>
                  </a:lnTo>
                  <a:lnTo>
                    <a:pt x="755" y="73"/>
                  </a:lnTo>
                  <a:lnTo>
                    <a:pt x="756" y="86"/>
                  </a:lnTo>
                  <a:lnTo>
                    <a:pt x="756" y="99"/>
                  </a:lnTo>
                  <a:lnTo>
                    <a:pt x="756" y="101"/>
                  </a:lnTo>
                  <a:lnTo>
                    <a:pt x="756" y="102"/>
                  </a:lnTo>
                  <a:lnTo>
                    <a:pt x="761" y="99"/>
                  </a:lnTo>
                  <a:close/>
                  <a:moveTo>
                    <a:pt x="0" y="93"/>
                  </a:moveTo>
                  <a:lnTo>
                    <a:pt x="0" y="94"/>
                  </a:lnTo>
                  <a:lnTo>
                    <a:pt x="0" y="96"/>
                  </a:lnTo>
                  <a:lnTo>
                    <a:pt x="0" y="98"/>
                  </a:lnTo>
                  <a:lnTo>
                    <a:pt x="0" y="99"/>
                  </a:lnTo>
                  <a:lnTo>
                    <a:pt x="0" y="112"/>
                  </a:lnTo>
                  <a:lnTo>
                    <a:pt x="0" y="124"/>
                  </a:lnTo>
                  <a:lnTo>
                    <a:pt x="1" y="137"/>
                  </a:lnTo>
                  <a:lnTo>
                    <a:pt x="3" y="151"/>
                  </a:lnTo>
                  <a:lnTo>
                    <a:pt x="4" y="162"/>
                  </a:lnTo>
                  <a:lnTo>
                    <a:pt x="6" y="174"/>
                  </a:lnTo>
                  <a:lnTo>
                    <a:pt x="9" y="187"/>
                  </a:lnTo>
                  <a:lnTo>
                    <a:pt x="13" y="199"/>
                  </a:lnTo>
                  <a:lnTo>
                    <a:pt x="18" y="199"/>
                  </a:lnTo>
                  <a:lnTo>
                    <a:pt x="14" y="187"/>
                  </a:lnTo>
                  <a:lnTo>
                    <a:pt x="11" y="174"/>
                  </a:lnTo>
                  <a:lnTo>
                    <a:pt x="9" y="162"/>
                  </a:lnTo>
                  <a:lnTo>
                    <a:pt x="8" y="151"/>
                  </a:lnTo>
                  <a:lnTo>
                    <a:pt x="6" y="137"/>
                  </a:lnTo>
                  <a:lnTo>
                    <a:pt x="4" y="124"/>
                  </a:lnTo>
                  <a:lnTo>
                    <a:pt x="4" y="112"/>
                  </a:lnTo>
                  <a:lnTo>
                    <a:pt x="4" y="99"/>
                  </a:lnTo>
                  <a:lnTo>
                    <a:pt x="4" y="98"/>
                  </a:lnTo>
                  <a:lnTo>
                    <a:pt x="4" y="96"/>
                  </a:lnTo>
                  <a:lnTo>
                    <a:pt x="4" y="94"/>
                  </a:lnTo>
                  <a:lnTo>
                    <a:pt x="4" y="93"/>
                  </a:lnTo>
                  <a:lnTo>
                    <a:pt x="4" y="91"/>
                  </a:lnTo>
                  <a:lnTo>
                    <a:pt x="0" y="93"/>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83" name="Freeform 123">
              <a:extLst>
                <a:ext uri="{FF2B5EF4-FFF2-40B4-BE49-F238E27FC236}">
                  <a16:creationId xmlns:a16="http://schemas.microsoft.com/office/drawing/2014/main" id="{783ED8C5-107A-3914-5F3E-AE5A3B87BE7D}"/>
                </a:ext>
              </a:extLst>
            </p:cNvPr>
            <p:cNvSpPr>
              <a:spLocks noEditPoints="1"/>
            </p:cNvSpPr>
            <p:nvPr/>
          </p:nvSpPr>
          <p:spPr bwMode="auto">
            <a:xfrm>
              <a:off x="1457" y="1514"/>
              <a:ext cx="757" cy="199"/>
            </a:xfrm>
            <a:custGeom>
              <a:avLst/>
              <a:gdLst>
                <a:gd name="T0" fmla="*/ 757 w 757"/>
                <a:gd name="T1" fmla="*/ 99 h 199"/>
                <a:gd name="T2" fmla="*/ 757 w 757"/>
                <a:gd name="T3" fmla="*/ 86 h 199"/>
                <a:gd name="T4" fmla="*/ 757 w 757"/>
                <a:gd name="T5" fmla="*/ 73 h 199"/>
                <a:gd name="T6" fmla="*/ 755 w 757"/>
                <a:gd name="T7" fmla="*/ 61 h 199"/>
                <a:gd name="T8" fmla="*/ 754 w 757"/>
                <a:gd name="T9" fmla="*/ 48 h 199"/>
                <a:gd name="T10" fmla="*/ 752 w 757"/>
                <a:gd name="T11" fmla="*/ 36 h 199"/>
                <a:gd name="T12" fmla="*/ 750 w 757"/>
                <a:gd name="T13" fmla="*/ 23 h 199"/>
                <a:gd name="T14" fmla="*/ 747 w 757"/>
                <a:gd name="T15" fmla="*/ 11 h 199"/>
                <a:gd name="T16" fmla="*/ 744 w 757"/>
                <a:gd name="T17" fmla="*/ 0 h 199"/>
                <a:gd name="T18" fmla="*/ 739 w 757"/>
                <a:gd name="T19" fmla="*/ 0 h 199"/>
                <a:gd name="T20" fmla="*/ 742 w 757"/>
                <a:gd name="T21" fmla="*/ 11 h 199"/>
                <a:gd name="T22" fmla="*/ 745 w 757"/>
                <a:gd name="T23" fmla="*/ 23 h 199"/>
                <a:gd name="T24" fmla="*/ 747 w 757"/>
                <a:gd name="T25" fmla="*/ 36 h 199"/>
                <a:gd name="T26" fmla="*/ 749 w 757"/>
                <a:gd name="T27" fmla="*/ 48 h 199"/>
                <a:gd name="T28" fmla="*/ 750 w 757"/>
                <a:gd name="T29" fmla="*/ 61 h 199"/>
                <a:gd name="T30" fmla="*/ 752 w 757"/>
                <a:gd name="T31" fmla="*/ 73 h 199"/>
                <a:gd name="T32" fmla="*/ 752 w 757"/>
                <a:gd name="T33" fmla="*/ 86 h 199"/>
                <a:gd name="T34" fmla="*/ 752 w 757"/>
                <a:gd name="T35" fmla="*/ 99 h 199"/>
                <a:gd name="T36" fmla="*/ 752 w 757"/>
                <a:gd name="T37" fmla="*/ 101 h 199"/>
                <a:gd name="T38" fmla="*/ 752 w 757"/>
                <a:gd name="T39" fmla="*/ 102 h 199"/>
                <a:gd name="T40" fmla="*/ 757 w 757"/>
                <a:gd name="T41" fmla="*/ 101 h 199"/>
                <a:gd name="T42" fmla="*/ 757 w 757"/>
                <a:gd name="T43" fmla="*/ 99 h 199"/>
                <a:gd name="T44" fmla="*/ 0 w 757"/>
                <a:gd name="T45" fmla="*/ 93 h 199"/>
                <a:gd name="T46" fmla="*/ 0 w 757"/>
                <a:gd name="T47" fmla="*/ 93 h 199"/>
                <a:gd name="T48" fmla="*/ 0 w 757"/>
                <a:gd name="T49" fmla="*/ 94 h 199"/>
                <a:gd name="T50" fmla="*/ 0 w 757"/>
                <a:gd name="T51" fmla="*/ 96 h 199"/>
                <a:gd name="T52" fmla="*/ 0 w 757"/>
                <a:gd name="T53" fmla="*/ 98 h 199"/>
                <a:gd name="T54" fmla="*/ 0 w 757"/>
                <a:gd name="T55" fmla="*/ 99 h 199"/>
                <a:gd name="T56" fmla="*/ 2 w 757"/>
                <a:gd name="T57" fmla="*/ 112 h 199"/>
                <a:gd name="T58" fmla="*/ 2 w 757"/>
                <a:gd name="T59" fmla="*/ 124 h 199"/>
                <a:gd name="T60" fmla="*/ 3 w 757"/>
                <a:gd name="T61" fmla="*/ 137 h 199"/>
                <a:gd name="T62" fmla="*/ 3 w 757"/>
                <a:gd name="T63" fmla="*/ 151 h 199"/>
                <a:gd name="T64" fmla="*/ 7 w 757"/>
                <a:gd name="T65" fmla="*/ 162 h 199"/>
                <a:gd name="T66" fmla="*/ 8 w 757"/>
                <a:gd name="T67" fmla="*/ 174 h 199"/>
                <a:gd name="T68" fmla="*/ 12 w 757"/>
                <a:gd name="T69" fmla="*/ 187 h 199"/>
                <a:gd name="T70" fmla="*/ 13 w 757"/>
                <a:gd name="T71" fmla="*/ 199 h 199"/>
                <a:gd name="T72" fmla="*/ 18 w 757"/>
                <a:gd name="T73" fmla="*/ 199 h 199"/>
                <a:gd name="T74" fmla="*/ 17 w 757"/>
                <a:gd name="T75" fmla="*/ 187 h 199"/>
                <a:gd name="T76" fmla="*/ 13 w 757"/>
                <a:gd name="T77" fmla="*/ 174 h 199"/>
                <a:gd name="T78" fmla="*/ 10 w 757"/>
                <a:gd name="T79" fmla="*/ 162 h 199"/>
                <a:gd name="T80" fmla="*/ 8 w 757"/>
                <a:gd name="T81" fmla="*/ 151 h 199"/>
                <a:gd name="T82" fmla="*/ 7 w 757"/>
                <a:gd name="T83" fmla="*/ 137 h 199"/>
                <a:gd name="T84" fmla="*/ 7 w 757"/>
                <a:gd name="T85" fmla="*/ 124 h 199"/>
                <a:gd name="T86" fmla="*/ 5 w 757"/>
                <a:gd name="T87" fmla="*/ 112 h 199"/>
                <a:gd name="T88" fmla="*/ 5 w 757"/>
                <a:gd name="T89" fmla="*/ 99 h 199"/>
                <a:gd name="T90" fmla="*/ 5 w 757"/>
                <a:gd name="T91" fmla="*/ 98 h 199"/>
                <a:gd name="T92" fmla="*/ 5 w 757"/>
                <a:gd name="T93" fmla="*/ 96 h 199"/>
                <a:gd name="T94" fmla="*/ 5 w 757"/>
                <a:gd name="T95" fmla="*/ 94 h 199"/>
                <a:gd name="T96" fmla="*/ 5 w 757"/>
                <a:gd name="T97" fmla="*/ 93 h 199"/>
                <a:gd name="T98" fmla="*/ 5 w 757"/>
                <a:gd name="T99" fmla="*/ 91 h 199"/>
                <a:gd name="T100" fmla="*/ 5 w 757"/>
                <a:gd name="T101" fmla="*/ 89 h 199"/>
                <a:gd name="T102" fmla="*/ 0 w 757"/>
                <a:gd name="T103" fmla="*/ 9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57" h="199">
                  <a:moveTo>
                    <a:pt x="757" y="99"/>
                  </a:moveTo>
                  <a:lnTo>
                    <a:pt x="757" y="86"/>
                  </a:lnTo>
                  <a:lnTo>
                    <a:pt x="757" y="73"/>
                  </a:lnTo>
                  <a:lnTo>
                    <a:pt x="755" y="61"/>
                  </a:lnTo>
                  <a:lnTo>
                    <a:pt x="754" y="48"/>
                  </a:lnTo>
                  <a:lnTo>
                    <a:pt x="752" y="36"/>
                  </a:lnTo>
                  <a:lnTo>
                    <a:pt x="750" y="23"/>
                  </a:lnTo>
                  <a:lnTo>
                    <a:pt x="747" y="11"/>
                  </a:lnTo>
                  <a:lnTo>
                    <a:pt x="744" y="0"/>
                  </a:lnTo>
                  <a:lnTo>
                    <a:pt x="739" y="0"/>
                  </a:lnTo>
                  <a:lnTo>
                    <a:pt x="742" y="11"/>
                  </a:lnTo>
                  <a:lnTo>
                    <a:pt x="745" y="23"/>
                  </a:lnTo>
                  <a:lnTo>
                    <a:pt x="747" y="36"/>
                  </a:lnTo>
                  <a:lnTo>
                    <a:pt x="749" y="48"/>
                  </a:lnTo>
                  <a:lnTo>
                    <a:pt x="750" y="61"/>
                  </a:lnTo>
                  <a:lnTo>
                    <a:pt x="752" y="73"/>
                  </a:lnTo>
                  <a:lnTo>
                    <a:pt x="752" y="86"/>
                  </a:lnTo>
                  <a:lnTo>
                    <a:pt x="752" y="99"/>
                  </a:lnTo>
                  <a:lnTo>
                    <a:pt x="752" y="101"/>
                  </a:lnTo>
                  <a:lnTo>
                    <a:pt x="752" y="102"/>
                  </a:lnTo>
                  <a:lnTo>
                    <a:pt x="757" y="101"/>
                  </a:lnTo>
                  <a:lnTo>
                    <a:pt x="757" y="99"/>
                  </a:lnTo>
                  <a:close/>
                  <a:moveTo>
                    <a:pt x="0" y="93"/>
                  </a:moveTo>
                  <a:lnTo>
                    <a:pt x="0" y="93"/>
                  </a:lnTo>
                  <a:lnTo>
                    <a:pt x="0" y="94"/>
                  </a:lnTo>
                  <a:lnTo>
                    <a:pt x="0" y="96"/>
                  </a:lnTo>
                  <a:lnTo>
                    <a:pt x="0" y="98"/>
                  </a:lnTo>
                  <a:lnTo>
                    <a:pt x="0" y="99"/>
                  </a:lnTo>
                  <a:lnTo>
                    <a:pt x="2" y="112"/>
                  </a:lnTo>
                  <a:lnTo>
                    <a:pt x="2" y="124"/>
                  </a:lnTo>
                  <a:lnTo>
                    <a:pt x="3" y="137"/>
                  </a:lnTo>
                  <a:lnTo>
                    <a:pt x="3" y="151"/>
                  </a:lnTo>
                  <a:lnTo>
                    <a:pt x="7" y="162"/>
                  </a:lnTo>
                  <a:lnTo>
                    <a:pt x="8" y="174"/>
                  </a:lnTo>
                  <a:lnTo>
                    <a:pt x="12" y="187"/>
                  </a:lnTo>
                  <a:lnTo>
                    <a:pt x="13" y="199"/>
                  </a:lnTo>
                  <a:lnTo>
                    <a:pt x="18" y="199"/>
                  </a:lnTo>
                  <a:lnTo>
                    <a:pt x="17" y="187"/>
                  </a:lnTo>
                  <a:lnTo>
                    <a:pt x="13" y="174"/>
                  </a:lnTo>
                  <a:lnTo>
                    <a:pt x="10" y="162"/>
                  </a:lnTo>
                  <a:lnTo>
                    <a:pt x="8" y="151"/>
                  </a:lnTo>
                  <a:lnTo>
                    <a:pt x="7" y="137"/>
                  </a:lnTo>
                  <a:lnTo>
                    <a:pt x="7" y="124"/>
                  </a:lnTo>
                  <a:lnTo>
                    <a:pt x="5" y="112"/>
                  </a:lnTo>
                  <a:lnTo>
                    <a:pt x="5" y="99"/>
                  </a:lnTo>
                  <a:lnTo>
                    <a:pt x="5" y="98"/>
                  </a:lnTo>
                  <a:lnTo>
                    <a:pt x="5" y="96"/>
                  </a:lnTo>
                  <a:lnTo>
                    <a:pt x="5" y="94"/>
                  </a:lnTo>
                  <a:lnTo>
                    <a:pt x="5" y="93"/>
                  </a:lnTo>
                  <a:lnTo>
                    <a:pt x="5" y="91"/>
                  </a:lnTo>
                  <a:lnTo>
                    <a:pt x="5" y="89"/>
                  </a:lnTo>
                  <a:lnTo>
                    <a:pt x="0" y="93"/>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84" name="Freeform 124">
              <a:extLst>
                <a:ext uri="{FF2B5EF4-FFF2-40B4-BE49-F238E27FC236}">
                  <a16:creationId xmlns:a16="http://schemas.microsoft.com/office/drawing/2014/main" id="{63BAE0A5-FADD-E333-99A5-03038A048000}"/>
                </a:ext>
              </a:extLst>
            </p:cNvPr>
            <p:cNvSpPr>
              <a:spLocks noEditPoints="1"/>
            </p:cNvSpPr>
            <p:nvPr/>
          </p:nvSpPr>
          <p:spPr bwMode="auto">
            <a:xfrm>
              <a:off x="1460" y="1514"/>
              <a:ext cx="752" cy="199"/>
            </a:xfrm>
            <a:custGeom>
              <a:avLst/>
              <a:gdLst>
                <a:gd name="T0" fmla="*/ 752 w 752"/>
                <a:gd name="T1" fmla="*/ 99 h 199"/>
                <a:gd name="T2" fmla="*/ 752 w 752"/>
                <a:gd name="T3" fmla="*/ 86 h 199"/>
                <a:gd name="T4" fmla="*/ 751 w 752"/>
                <a:gd name="T5" fmla="*/ 73 h 199"/>
                <a:gd name="T6" fmla="*/ 751 w 752"/>
                <a:gd name="T7" fmla="*/ 61 h 199"/>
                <a:gd name="T8" fmla="*/ 749 w 752"/>
                <a:gd name="T9" fmla="*/ 48 h 199"/>
                <a:gd name="T10" fmla="*/ 747 w 752"/>
                <a:gd name="T11" fmla="*/ 36 h 199"/>
                <a:gd name="T12" fmla="*/ 744 w 752"/>
                <a:gd name="T13" fmla="*/ 23 h 199"/>
                <a:gd name="T14" fmla="*/ 742 w 752"/>
                <a:gd name="T15" fmla="*/ 11 h 199"/>
                <a:gd name="T16" fmla="*/ 739 w 752"/>
                <a:gd name="T17" fmla="*/ 0 h 199"/>
                <a:gd name="T18" fmla="*/ 734 w 752"/>
                <a:gd name="T19" fmla="*/ 0 h 199"/>
                <a:gd name="T20" fmla="*/ 737 w 752"/>
                <a:gd name="T21" fmla="*/ 11 h 199"/>
                <a:gd name="T22" fmla="*/ 739 w 752"/>
                <a:gd name="T23" fmla="*/ 23 h 199"/>
                <a:gd name="T24" fmla="*/ 742 w 752"/>
                <a:gd name="T25" fmla="*/ 36 h 199"/>
                <a:gd name="T26" fmla="*/ 744 w 752"/>
                <a:gd name="T27" fmla="*/ 48 h 199"/>
                <a:gd name="T28" fmla="*/ 746 w 752"/>
                <a:gd name="T29" fmla="*/ 61 h 199"/>
                <a:gd name="T30" fmla="*/ 746 w 752"/>
                <a:gd name="T31" fmla="*/ 73 h 199"/>
                <a:gd name="T32" fmla="*/ 747 w 752"/>
                <a:gd name="T33" fmla="*/ 86 h 199"/>
                <a:gd name="T34" fmla="*/ 747 w 752"/>
                <a:gd name="T35" fmla="*/ 99 h 199"/>
                <a:gd name="T36" fmla="*/ 747 w 752"/>
                <a:gd name="T37" fmla="*/ 101 h 199"/>
                <a:gd name="T38" fmla="*/ 747 w 752"/>
                <a:gd name="T39" fmla="*/ 102 h 199"/>
                <a:gd name="T40" fmla="*/ 747 w 752"/>
                <a:gd name="T41" fmla="*/ 104 h 199"/>
                <a:gd name="T42" fmla="*/ 752 w 752"/>
                <a:gd name="T43" fmla="*/ 102 h 199"/>
                <a:gd name="T44" fmla="*/ 752 w 752"/>
                <a:gd name="T45" fmla="*/ 101 h 199"/>
                <a:gd name="T46" fmla="*/ 752 w 752"/>
                <a:gd name="T47" fmla="*/ 99 h 199"/>
                <a:gd name="T48" fmla="*/ 0 w 752"/>
                <a:gd name="T49" fmla="*/ 91 h 199"/>
                <a:gd name="T50" fmla="*/ 0 w 752"/>
                <a:gd name="T51" fmla="*/ 93 h 199"/>
                <a:gd name="T52" fmla="*/ 0 w 752"/>
                <a:gd name="T53" fmla="*/ 94 h 199"/>
                <a:gd name="T54" fmla="*/ 0 w 752"/>
                <a:gd name="T55" fmla="*/ 96 h 199"/>
                <a:gd name="T56" fmla="*/ 0 w 752"/>
                <a:gd name="T57" fmla="*/ 98 h 199"/>
                <a:gd name="T58" fmla="*/ 0 w 752"/>
                <a:gd name="T59" fmla="*/ 99 h 199"/>
                <a:gd name="T60" fmla="*/ 0 w 752"/>
                <a:gd name="T61" fmla="*/ 112 h 199"/>
                <a:gd name="T62" fmla="*/ 0 w 752"/>
                <a:gd name="T63" fmla="*/ 124 h 199"/>
                <a:gd name="T64" fmla="*/ 2 w 752"/>
                <a:gd name="T65" fmla="*/ 137 h 199"/>
                <a:gd name="T66" fmla="*/ 4 w 752"/>
                <a:gd name="T67" fmla="*/ 151 h 199"/>
                <a:gd name="T68" fmla="*/ 5 w 752"/>
                <a:gd name="T69" fmla="*/ 162 h 199"/>
                <a:gd name="T70" fmla="*/ 7 w 752"/>
                <a:gd name="T71" fmla="*/ 174 h 199"/>
                <a:gd name="T72" fmla="*/ 10 w 752"/>
                <a:gd name="T73" fmla="*/ 187 h 199"/>
                <a:gd name="T74" fmla="*/ 14 w 752"/>
                <a:gd name="T75" fmla="*/ 199 h 199"/>
                <a:gd name="T76" fmla="*/ 19 w 752"/>
                <a:gd name="T77" fmla="*/ 199 h 199"/>
                <a:gd name="T78" fmla="*/ 15 w 752"/>
                <a:gd name="T79" fmla="*/ 187 h 199"/>
                <a:gd name="T80" fmla="*/ 12 w 752"/>
                <a:gd name="T81" fmla="*/ 174 h 199"/>
                <a:gd name="T82" fmla="*/ 10 w 752"/>
                <a:gd name="T83" fmla="*/ 162 h 199"/>
                <a:gd name="T84" fmla="*/ 9 w 752"/>
                <a:gd name="T85" fmla="*/ 151 h 199"/>
                <a:gd name="T86" fmla="*/ 7 w 752"/>
                <a:gd name="T87" fmla="*/ 137 h 199"/>
                <a:gd name="T88" fmla="*/ 5 w 752"/>
                <a:gd name="T89" fmla="*/ 124 h 199"/>
                <a:gd name="T90" fmla="*/ 5 w 752"/>
                <a:gd name="T91" fmla="*/ 112 h 199"/>
                <a:gd name="T92" fmla="*/ 5 w 752"/>
                <a:gd name="T93" fmla="*/ 99 h 199"/>
                <a:gd name="T94" fmla="*/ 5 w 752"/>
                <a:gd name="T95" fmla="*/ 98 h 199"/>
                <a:gd name="T96" fmla="*/ 5 w 752"/>
                <a:gd name="T97" fmla="*/ 96 h 199"/>
                <a:gd name="T98" fmla="*/ 5 w 752"/>
                <a:gd name="T99" fmla="*/ 94 h 199"/>
                <a:gd name="T100" fmla="*/ 5 w 752"/>
                <a:gd name="T101" fmla="*/ 93 h 199"/>
                <a:gd name="T102" fmla="*/ 5 w 752"/>
                <a:gd name="T103" fmla="*/ 91 h 199"/>
                <a:gd name="T104" fmla="*/ 5 w 752"/>
                <a:gd name="T105" fmla="*/ 89 h 199"/>
                <a:gd name="T106" fmla="*/ 0 w 752"/>
                <a:gd name="T107" fmla="*/ 9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752" h="199">
                  <a:moveTo>
                    <a:pt x="752" y="99"/>
                  </a:moveTo>
                  <a:lnTo>
                    <a:pt x="752" y="86"/>
                  </a:lnTo>
                  <a:lnTo>
                    <a:pt x="751" y="73"/>
                  </a:lnTo>
                  <a:lnTo>
                    <a:pt x="751" y="61"/>
                  </a:lnTo>
                  <a:lnTo>
                    <a:pt x="749" y="48"/>
                  </a:lnTo>
                  <a:lnTo>
                    <a:pt x="747" y="36"/>
                  </a:lnTo>
                  <a:lnTo>
                    <a:pt x="744" y="23"/>
                  </a:lnTo>
                  <a:lnTo>
                    <a:pt x="742" y="11"/>
                  </a:lnTo>
                  <a:lnTo>
                    <a:pt x="739" y="0"/>
                  </a:lnTo>
                  <a:lnTo>
                    <a:pt x="734" y="0"/>
                  </a:lnTo>
                  <a:lnTo>
                    <a:pt x="737" y="11"/>
                  </a:lnTo>
                  <a:lnTo>
                    <a:pt x="739" y="23"/>
                  </a:lnTo>
                  <a:lnTo>
                    <a:pt x="742" y="36"/>
                  </a:lnTo>
                  <a:lnTo>
                    <a:pt x="744" y="48"/>
                  </a:lnTo>
                  <a:lnTo>
                    <a:pt x="746" y="61"/>
                  </a:lnTo>
                  <a:lnTo>
                    <a:pt x="746" y="73"/>
                  </a:lnTo>
                  <a:lnTo>
                    <a:pt x="747" y="86"/>
                  </a:lnTo>
                  <a:lnTo>
                    <a:pt x="747" y="99"/>
                  </a:lnTo>
                  <a:lnTo>
                    <a:pt x="747" y="101"/>
                  </a:lnTo>
                  <a:lnTo>
                    <a:pt x="747" y="102"/>
                  </a:lnTo>
                  <a:lnTo>
                    <a:pt x="747" y="104"/>
                  </a:lnTo>
                  <a:lnTo>
                    <a:pt x="752" y="102"/>
                  </a:lnTo>
                  <a:lnTo>
                    <a:pt x="752" y="101"/>
                  </a:lnTo>
                  <a:lnTo>
                    <a:pt x="752" y="99"/>
                  </a:lnTo>
                  <a:close/>
                  <a:moveTo>
                    <a:pt x="0" y="91"/>
                  </a:moveTo>
                  <a:lnTo>
                    <a:pt x="0" y="93"/>
                  </a:lnTo>
                  <a:lnTo>
                    <a:pt x="0" y="94"/>
                  </a:lnTo>
                  <a:lnTo>
                    <a:pt x="0" y="96"/>
                  </a:lnTo>
                  <a:lnTo>
                    <a:pt x="0" y="98"/>
                  </a:lnTo>
                  <a:lnTo>
                    <a:pt x="0" y="99"/>
                  </a:lnTo>
                  <a:lnTo>
                    <a:pt x="0" y="112"/>
                  </a:lnTo>
                  <a:lnTo>
                    <a:pt x="0" y="124"/>
                  </a:lnTo>
                  <a:lnTo>
                    <a:pt x="2" y="137"/>
                  </a:lnTo>
                  <a:lnTo>
                    <a:pt x="4" y="151"/>
                  </a:lnTo>
                  <a:lnTo>
                    <a:pt x="5" y="162"/>
                  </a:lnTo>
                  <a:lnTo>
                    <a:pt x="7" y="174"/>
                  </a:lnTo>
                  <a:lnTo>
                    <a:pt x="10" y="187"/>
                  </a:lnTo>
                  <a:lnTo>
                    <a:pt x="14" y="199"/>
                  </a:lnTo>
                  <a:lnTo>
                    <a:pt x="19" y="199"/>
                  </a:lnTo>
                  <a:lnTo>
                    <a:pt x="15" y="187"/>
                  </a:lnTo>
                  <a:lnTo>
                    <a:pt x="12" y="174"/>
                  </a:lnTo>
                  <a:lnTo>
                    <a:pt x="10" y="162"/>
                  </a:lnTo>
                  <a:lnTo>
                    <a:pt x="9" y="151"/>
                  </a:lnTo>
                  <a:lnTo>
                    <a:pt x="7" y="137"/>
                  </a:lnTo>
                  <a:lnTo>
                    <a:pt x="5" y="124"/>
                  </a:lnTo>
                  <a:lnTo>
                    <a:pt x="5" y="112"/>
                  </a:lnTo>
                  <a:lnTo>
                    <a:pt x="5" y="99"/>
                  </a:lnTo>
                  <a:lnTo>
                    <a:pt x="5" y="98"/>
                  </a:lnTo>
                  <a:lnTo>
                    <a:pt x="5" y="96"/>
                  </a:lnTo>
                  <a:lnTo>
                    <a:pt x="5" y="94"/>
                  </a:lnTo>
                  <a:lnTo>
                    <a:pt x="5" y="93"/>
                  </a:lnTo>
                  <a:lnTo>
                    <a:pt x="5" y="91"/>
                  </a:lnTo>
                  <a:lnTo>
                    <a:pt x="5" y="89"/>
                  </a:lnTo>
                  <a:lnTo>
                    <a:pt x="0" y="91"/>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85" name="Freeform 125">
              <a:extLst>
                <a:ext uri="{FF2B5EF4-FFF2-40B4-BE49-F238E27FC236}">
                  <a16:creationId xmlns:a16="http://schemas.microsoft.com/office/drawing/2014/main" id="{8BAAF7C2-9010-E17F-53C4-6EAFEE586A53}"/>
                </a:ext>
              </a:extLst>
            </p:cNvPr>
            <p:cNvSpPr>
              <a:spLocks noEditPoints="1"/>
            </p:cNvSpPr>
            <p:nvPr/>
          </p:nvSpPr>
          <p:spPr bwMode="auto">
            <a:xfrm>
              <a:off x="1462" y="1514"/>
              <a:ext cx="747" cy="199"/>
            </a:xfrm>
            <a:custGeom>
              <a:avLst/>
              <a:gdLst>
                <a:gd name="T0" fmla="*/ 747 w 747"/>
                <a:gd name="T1" fmla="*/ 99 h 199"/>
                <a:gd name="T2" fmla="*/ 747 w 747"/>
                <a:gd name="T3" fmla="*/ 86 h 199"/>
                <a:gd name="T4" fmla="*/ 747 w 747"/>
                <a:gd name="T5" fmla="*/ 73 h 199"/>
                <a:gd name="T6" fmla="*/ 745 w 747"/>
                <a:gd name="T7" fmla="*/ 61 h 199"/>
                <a:gd name="T8" fmla="*/ 744 w 747"/>
                <a:gd name="T9" fmla="*/ 48 h 199"/>
                <a:gd name="T10" fmla="*/ 742 w 747"/>
                <a:gd name="T11" fmla="*/ 36 h 199"/>
                <a:gd name="T12" fmla="*/ 740 w 747"/>
                <a:gd name="T13" fmla="*/ 23 h 199"/>
                <a:gd name="T14" fmla="*/ 737 w 747"/>
                <a:gd name="T15" fmla="*/ 11 h 199"/>
                <a:gd name="T16" fmla="*/ 734 w 747"/>
                <a:gd name="T17" fmla="*/ 0 h 199"/>
                <a:gd name="T18" fmla="*/ 729 w 747"/>
                <a:gd name="T19" fmla="*/ 0 h 199"/>
                <a:gd name="T20" fmla="*/ 732 w 747"/>
                <a:gd name="T21" fmla="*/ 11 h 199"/>
                <a:gd name="T22" fmla="*/ 735 w 747"/>
                <a:gd name="T23" fmla="*/ 23 h 199"/>
                <a:gd name="T24" fmla="*/ 737 w 747"/>
                <a:gd name="T25" fmla="*/ 36 h 199"/>
                <a:gd name="T26" fmla="*/ 739 w 747"/>
                <a:gd name="T27" fmla="*/ 48 h 199"/>
                <a:gd name="T28" fmla="*/ 740 w 747"/>
                <a:gd name="T29" fmla="*/ 61 h 199"/>
                <a:gd name="T30" fmla="*/ 742 w 747"/>
                <a:gd name="T31" fmla="*/ 73 h 199"/>
                <a:gd name="T32" fmla="*/ 742 w 747"/>
                <a:gd name="T33" fmla="*/ 86 h 199"/>
                <a:gd name="T34" fmla="*/ 744 w 747"/>
                <a:gd name="T35" fmla="*/ 99 h 199"/>
                <a:gd name="T36" fmla="*/ 744 w 747"/>
                <a:gd name="T37" fmla="*/ 101 h 199"/>
                <a:gd name="T38" fmla="*/ 744 w 747"/>
                <a:gd name="T39" fmla="*/ 102 h 199"/>
                <a:gd name="T40" fmla="*/ 742 w 747"/>
                <a:gd name="T41" fmla="*/ 104 h 199"/>
                <a:gd name="T42" fmla="*/ 747 w 747"/>
                <a:gd name="T43" fmla="*/ 102 h 199"/>
                <a:gd name="T44" fmla="*/ 747 w 747"/>
                <a:gd name="T45" fmla="*/ 101 h 199"/>
                <a:gd name="T46" fmla="*/ 747 w 747"/>
                <a:gd name="T47" fmla="*/ 99 h 199"/>
                <a:gd name="T48" fmla="*/ 0 w 747"/>
                <a:gd name="T49" fmla="*/ 89 h 199"/>
                <a:gd name="T50" fmla="*/ 0 w 747"/>
                <a:gd name="T51" fmla="*/ 91 h 199"/>
                <a:gd name="T52" fmla="*/ 0 w 747"/>
                <a:gd name="T53" fmla="*/ 93 h 199"/>
                <a:gd name="T54" fmla="*/ 0 w 747"/>
                <a:gd name="T55" fmla="*/ 94 h 199"/>
                <a:gd name="T56" fmla="*/ 0 w 747"/>
                <a:gd name="T57" fmla="*/ 96 h 199"/>
                <a:gd name="T58" fmla="*/ 0 w 747"/>
                <a:gd name="T59" fmla="*/ 98 h 199"/>
                <a:gd name="T60" fmla="*/ 0 w 747"/>
                <a:gd name="T61" fmla="*/ 99 h 199"/>
                <a:gd name="T62" fmla="*/ 0 w 747"/>
                <a:gd name="T63" fmla="*/ 112 h 199"/>
                <a:gd name="T64" fmla="*/ 2 w 747"/>
                <a:gd name="T65" fmla="*/ 124 h 199"/>
                <a:gd name="T66" fmla="*/ 2 w 747"/>
                <a:gd name="T67" fmla="*/ 137 h 199"/>
                <a:gd name="T68" fmla="*/ 3 w 747"/>
                <a:gd name="T69" fmla="*/ 151 h 199"/>
                <a:gd name="T70" fmla="*/ 5 w 747"/>
                <a:gd name="T71" fmla="*/ 162 h 199"/>
                <a:gd name="T72" fmla="*/ 8 w 747"/>
                <a:gd name="T73" fmla="*/ 174 h 199"/>
                <a:gd name="T74" fmla="*/ 12 w 747"/>
                <a:gd name="T75" fmla="*/ 187 h 199"/>
                <a:gd name="T76" fmla="*/ 13 w 747"/>
                <a:gd name="T77" fmla="*/ 199 h 199"/>
                <a:gd name="T78" fmla="*/ 18 w 747"/>
                <a:gd name="T79" fmla="*/ 199 h 199"/>
                <a:gd name="T80" fmla="*/ 15 w 747"/>
                <a:gd name="T81" fmla="*/ 187 h 199"/>
                <a:gd name="T82" fmla="*/ 13 w 747"/>
                <a:gd name="T83" fmla="*/ 174 h 199"/>
                <a:gd name="T84" fmla="*/ 10 w 747"/>
                <a:gd name="T85" fmla="*/ 162 h 199"/>
                <a:gd name="T86" fmla="*/ 8 w 747"/>
                <a:gd name="T87" fmla="*/ 151 h 199"/>
                <a:gd name="T88" fmla="*/ 7 w 747"/>
                <a:gd name="T89" fmla="*/ 137 h 199"/>
                <a:gd name="T90" fmla="*/ 7 w 747"/>
                <a:gd name="T91" fmla="*/ 124 h 199"/>
                <a:gd name="T92" fmla="*/ 5 w 747"/>
                <a:gd name="T93" fmla="*/ 112 h 199"/>
                <a:gd name="T94" fmla="*/ 5 w 747"/>
                <a:gd name="T95" fmla="*/ 99 h 199"/>
                <a:gd name="T96" fmla="*/ 5 w 747"/>
                <a:gd name="T97" fmla="*/ 98 h 199"/>
                <a:gd name="T98" fmla="*/ 5 w 747"/>
                <a:gd name="T99" fmla="*/ 96 h 199"/>
                <a:gd name="T100" fmla="*/ 5 w 747"/>
                <a:gd name="T101" fmla="*/ 94 h 199"/>
                <a:gd name="T102" fmla="*/ 5 w 747"/>
                <a:gd name="T103" fmla="*/ 93 h 199"/>
                <a:gd name="T104" fmla="*/ 5 w 747"/>
                <a:gd name="T105" fmla="*/ 91 h 199"/>
                <a:gd name="T106" fmla="*/ 5 w 747"/>
                <a:gd name="T107" fmla="*/ 89 h 199"/>
                <a:gd name="T108" fmla="*/ 5 w 747"/>
                <a:gd name="T109" fmla="*/ 88 h 199"/>
                <a:gd name="T110" fmla="*/ 0 w 747"/>
                <a:gd name="T111" fmla="*/ 8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747" h="199">
                  <a:moveTo>
                    <a:pt x="747" y="99"/>
                  </a:moveTo>
                  <a:lnTo>
                    <a:pt x="747" y="86"/>
                  </a:lnTo>
                  <a:lnTo>
                    <a:pt x="747" y="73"/>
                  </a:lnTo>
                  <a:lnTo>
                    <a:pt x="745" y="61"/>
                  </a:lnTo>
                  <a:lnTo>
                    <a:pt x="744" y="48"/>
                  </a:lnTo>
                  <a:lnTo>
                    <a:pt x="742" y="36"/>
                  </a:lnTo>
                  <a:lnTo>
                    <a:pt x="740" y="23"/>
                  </a:lnTo>
                  <a:lnTo>
                    <a:pt x="737" y="11"/>
                  </a:lnTo>
                  <a:lnTo>
                    <a:pt x="734" y="0"/>
                  </a:lnTo>
                  <a:lnTo>
                    <a:pt x="729" y="0"/>
                  </a:lnTo>
                  <a:lnTo>
                    <a:pt x="732" y="11"/>
                  </a:lnTo>
                  <a:lnTo>
                    <a:pt x="735" y="23"/>
                  </a:lnTo>
                  <a:lnTo>
                    <a:pt x="737" y="36"/>
                  </a:lnTo>
                  <a:lnTo>
                    <a:pt x="739" y="48"/>
                  </a:lnTo>
                  <a:lnTo>
                    <a:pt x="740" y="61"/>
                  </a:lnTo>
                  <a:lnTo>
                    <a:pt x="742" y="73"/>
                  </a:lnTo>
                  <a:lnTo>
                    <a:pt x="742" y="86"/>
                  </a:lnTo>
                  <a:lnTo>
                    <a:pt x="744" y="99"/>
                  </a:lnTo>
                  <a:lnTo>
                    <a:pt x="744" y="101"/>
                  </a:lnTo>
                  <a:lnTo>
                    <a:pt x="744" y="102"/>
                  </a:lnTo>
                  <a:lnTo>
                    <a:pt x="742" y="104"/>
                  </a:lnTo>
                  <a:lnTo>
                    <a:pt x="747" y="102"/>
                  </a:lnTo>
                  <a:lnTo>
                    <a:pt x="747" y="101"/>
                  </a:lnTo>
                  <a:lnTo>
                    <a:pt x="747" y="99"/>
                  </a:lnTo>
                  <a:close/>
                  <a:moveTo>
                    <a:pt x="0" y="89"/>
                  </a:moveTo>
                  <a:lnTo>
                    <a:pt x="0" y="91"/>
                  </a:lnTo>
                  <a:lnTo>
                    <a:pt x="0" y="93"/>
                  </a:lnTo>
                  <a:lnTo>
                    <a:pt x="0" y="94"/>
                  </a:lnTo>
                  <a:lnTo>
                    <a:pt x="0" y="96"/>
                  </a:lnTo>
                  <a:lnTo>
                    <a:pt x="0" y="98"/>
                  </a:lnTo>
                  <a:lnTo>
                    <a:pt x="0" y="99"/>
                  </a:lnTo>
                  <a:lnTo>
                    <a:pt x="0" y="112"/>
                  </a:lnTo>
                  <a:lnTo>
                    <a:pt x="2" y="124"/>
                  </a:lnTo>
                  <a:lnTo>
                    <a:pt x="2" y="137"/>
                  </a:lnTo>
                  <a:lnTo>
                    <a:pt x="3" y="151"/>
                  </a:lnTo>
                  <a:lnTo>
                    <a:pt x="5" y="162"/>
                  </a:lnTo>
                  <a:lnTo>
                    <a:pt x="8" y="174"/>
                  </a:lnTo>
                  <a:lnTo>
                    <a:pt x="12" y="187"/>
                  </a:lnTo>
                  <a:lnTo>
                    <a:pt x="13" y="199"/>
                  </a:lnTo>
                  <a:lnTo>
                    <a:pt x="18" y="199"/>
                  </a:lnTo>
                  <a:lnTo>
                    <a:pt x="15" y="187"/>
                  </a:lnTo>
                  <a:lnTo>
                    <a:pt x="13" y="174"/>
                  </a:lnTo>
                  <a:lnTo>
                    <a:pt x="10" y="162"/>
                  </a:lnTo>
                  <a:lnTo>
                    <a:pt x="8" y="151"/>
                  </a:lnTo>
                  <a:lnTo>
                    <a:pt x="7" y="137"/>
                  </a:lnTo>
                  <a:lnTo>
                    <a:pt x="7" y="124"/>
                  </a:lnTo>
                  <a:lnTo>
                    <a:pt x="5" y="112"/>
                  </a:lnTo>
                  <a:lnTo>
                    <a:pt x="5" y="99"/>
                  </a:lnTo>
                  <a:lnTo>
                    <a:pt x="5" y="98"/>
                  </a:lnTo>
                  <a:lnTo>
                    <a:pt x="5" y="96"/>
                  </a:lnTo>
                  <a:lnTo>
                    <a:pt x="5" y="94"/>
                  </a:lnTo>
                  <a:lnTo>
                    <a:pt x="5" y="93"/>
                  </a:lnTo>
                  <a:lnTo>
                    <a:pt x="5" y="91"/>
                  </a:lnTo>
                  <a:lnTo>
                    <a:pt x="5" y="89"/>
                  </a:lnTo>
                  <a:lnTo>
                    <a:pt x="5" y="88"/>
                  </a:lnTo>
                  <a:lnTo>
                    <a:pt x="0" y="89"/>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86" name="Freeform 126">
              <a:extLst>
                <a:ext uri="{FF2B5EF4-FFF2-40B4-BE49-F238E27FC236}">
                  <a16:creationId xmlns:a16="http://schemas.microsoft.com/office/drawing/2014/main" id="{4ACBE722-EB38-9F75-EFEA-134758F34531}"/>
                </a:ext>
              </a:extLst>
            </p:cNvPr>
            <p:cNvSpPr>
              <a:spLocks noEditPoints="1"/>
            </p:cNvSpPr>
            <p:nvPr/>
          </p:nvSpPr>
          <p:spPr bwMode="auto">
            <a:xfrm>
              <a:off x="1465" y="1514"/>
              <a:ext cx="742" cy="199"/>
            </a:xfrm>
            <a:custGeom>
              <a:avLst/>
              <a:gdLst>
                <a:gd name="T0" fmla="*/ 742 w 742"/>
                <a:gd name="T1" fmla="*/ 99 h 199"/>
                <a:gd name="T2" fmla="*/ 742 w 742"/>
                <a:gd name="T3" fmla="*/ 86 h 199"/>
                <a:gd name="T4" fmla="*/ 741 w 742"/>
                <a:gd name="T5" fmla="*/ 73 h 199"/>
                <a:gd name="T6" fmla="*/ 741 w 742"/>
                <a:gd name="T7" fmla="*/ 61 h 199"/>
                <a:gd name="T8" fmla="*/ 739 w 742"/>
                <a:gd name="T9" fmla="*/ 48 h 199"/>
                <a:gd name="T10" fmla="*/ 737 w 742"/>
                <a:gd name="T11" fmla="*/ 36 h 199"/>
                <a:gd name="T12" fmla="*/ 734 w 742"/>
                <a:gd name="T13" fmla="*/ 23 h 199"/>
                <a:gd name="T14" fmla="*/ 732 w 742"/>
                <a:gd name="T15" fmla="*/ 11 h 199"/>
                <a:gd name="T16" fmla="*/ 729 w 742"/>
                <a:gd name="T17" fmla="*/ 0 h 199"/>
                <a:gd name="T18" fmla="*/ 724 w 742"/>
                <a:gd name="T19" fmla="*/ 0 h 199"/>
                <a:gd name="T20" fmla="*/ 727 w 742"/>
                <a:gd name="T21" fmla="*/ 11 h 199"/>
                <a:gd name="T22" fmla="*/ 729 w 742"/>
                <a:gd name="T23" fmla="*/ 23 h 199"/>
                <a:gd name="T24" fmla="*/ 732 w 742"/>
                <a:gd name="T25" fmla="*/ 36 h 199"/>
                <a:gd name="T26" fmla="*/ 734 w 742"/>
                <a:gd name="T27" fmla="*/ 48 h 199"/>
                <a:gd name="T28" fmla="*/ 736 w 742"/>
                <a:gd name="T29" fmla="*/ 61 h 199"/>
                <a:gd name="T30" fmla="*/ 737 w 742"/>
                <a:gd name="T31" fmla="*/ 73 h 199"/>
                <a:gd name="T32" fmla="*/ 737 w 742"/>
                <a:gd name="T33" fmla="*/ 86 h 199"/>
                <a:gd name="T34" fmla="*/ 737 w 742"/>
                <a:gd name="T35" fmla="*/ 99 h 199"/>
                <a:gd name="T36" fmla="*/ 737 w 742"/>
                <a:gd name="T37" fmla="*/ 101 h 199"/>
                <a:gd name="T38" fmla="*/ 737 w 742"/>
                <a:gd name="T39" fmla="*/ 102 h 199"/>
                <a:gd name="T40" fmla="*/ 737 w 742"/>
                <a:gd name="T41" fmla="*/ 104 h 199"/>
                <a:gd name="T42" fmla="*/ 737 w 742"/>
                <a:gd name="T43" fmla="*/ 106 h 199"/>
                <a:gd name="T44" fmla="*/ 742 w 742"/>
                <a:gd name="T45" fmla="*/ 104 h 199"/>
                <a:gd name="T46" fmla="*/ 742 w 742"/>
                <a:gd name="T47" fmla="*/ 102 h 199"/>
                <a:gd name="T48" fmla="*/ 742 w 742"/>
                <a:gd name="T49" fmla="*/ 101 h 199"/>
                <a:gd name="T50" fmla="*/ 742 w 742"/>
                <a:gd name="T51" fmla="*/ 99 h 199"/>
                <a:gd name="T52" fmla="*/ 0 w 742"/>
                <a:gd name="T53" fmla="*/ 89 h 199"/>
                <a:gd name="T54" fmla="*/ 0 w 742"/>
                <a:gd name="T55" fmla="*/ 89 h 199"/>
                <a:gd name="T56" fmla="*/ 0 w 742"/>
                <a:gd name="T57" fmla="*/ 91 h 199"/>
                <a:gd name="T58" fmla="*/ 0 w 742"/>
                <a:gd name="T59" fmla="*/ 93 h 199"/>
                <a:gd name="T60" fmla="*/ 0 w 742"/>
                <a:gd name="T61" fmla="*/ 94 h 199"/>
                <a:gd name="T62" fmla="*/ 0 w 742"/>
                <a:gd name="T63" fmla="*/ 96 h 199"/>
                <a:gd name="T64" fmla="*/ 0 w 742"/>
                <a:gd name="T65" fmla="*/ 98 h 199"/>
                <a:gd name="T66" fmla="*/ 0 w 742"/>
                <a:gd name="T67" fmla="*/ 99 h 199"/>
                <a:gd name="T68" fmla="*/ 0 w 742"/>
                <a:gd name="T69" fmla="*/ 112 h 199"/>
                <a:gd name="T70" fmla="*/ 0 w 742"/>
                <a:gd name="T71" fmla="*/ 124 h 199"/>
                <a:gd name="T72" fmla="*/ 2 w 742"/>
                <a:gd name="T73" fmla="*/ 137 h 199"/>
                <a:gd name="T74" fmla="*/ 4 w 742"/>
                <a:gd name="T75" fmla="*/ 151 h 199"/>
                <a:gd name="T76" fmla="*/ 5 w 742"/>
                <a:gd name="T77" fmla="*/ 162 h 199"/>
                <a:gd name="T78" fmla="*/ 7 w 742"/>
                <a:gd name="T79" fmla="*/ 174 h 199"/>
                <a:gd name="T80" fmla="*/ 10 w 742"/>
                <a:gd name="T81" fmla="*/ 187 h 199"/>
                <a:gd name="T82" fmla="*/ 14 w 742"/>
                <a:gd name="T83" fmla="*/ 199 h 199"/>
                <a:gd name="T84" fmla="*/ 19 w 742"/>
                <a:gd name="T85" fmla="*/ 199 h 199"/>
                <a:gd name="T86" fmla="*/ 15 w 742"/>
                <a:gd name="T87" fmla="*/ 187 h 199"/>
                <a:gd name="T88" fmla="*/ 12 w 742"/>
                <a:gd name="T89" fmla="*/ 174 h 199"/>
                <a:gd name="T90" fmla="*/ 10 w 742"/>
                <a:gd name="T91" fmla="*/ 162 h 199"/>
                <a:gd name="T92" fmla="*/ 9 w 742"/>
                <a:gd name="T93" fmla="*/ 151 h 199"/>
                <a:gd name="T94" fmla="*/ 7 w 742"/>
                <a:gd name="T95" fmla="*/ 137 h 199"/>
                <a:gd name="T96" fmla="*/ 5 w 742"/>
                <a:gd name="T97" fmla="*/ 124 h 199"/>
                <a:gd name="T98" fmla="*/ 5 w 742"/>
                <a:gd name="T99" fmla="*/ 112 h 199"/>
                <a:gd name="T100" fmla="*/ 5 w 742"/>
                <a:gd name="T101" fmla="*/ 99 h 199"/>
                <a:gd name="T102" fmla="*/ 5 w 742"/>
                <a:gd name="T103" fmla="*/ 98 h 199"/>
                <a:gd name="T104" fmla="*/ 5 w 742"/>
                <a:gd name="T105" fmla="*/ 96 h 199"/>
                <a:gd name="T106" fmla="*/ 5 w 742"/>
                <a:gd name="T107" fmla="*/ 94 h 199"/>
                <a:gd name="T108" fmla="*/ 5 w 742"/>
                <a:gd name="T109" fmla="*/ 93 h 199"/>
                <a:gd name="T110" fmla="*/ 5 w 742"/>
                <a:gd name="T111" fmla="*/ 91 h 199"/>
                <a:gd name="T112" fmla="*/ 5 w 742"/>
                <a:gd name="T113" fmla="*/ 89 h 199"/>
                <a:gd name="T114" fmla="*/ 5 w 742"/>
                <a:gd name="T115" fmla="*/ 88 h 199"/>
                <a:gd name="T116" fmla="*/ 5 w 742"/>
                <a:gd name="T117" fmla="*/ 86 h 199"/>
                <a:gd name="T118" fmla="*/ 0 w 742"/>
                <a:gd name="T119" fmla="*/ 8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42" h="199">
                  <a:moveTo>
                    <a:pt x="742" y="99"/>
                  </a:moveTo>
                  <a:lnTo>
                    <a:pt x="742" y="86"/>
                  </a:lnTo>
                  <a:lnTo>
                    <a:pt x="741" y="73"/>
                  </a:lnTo>
                  <a:lnTo>
                    <a:pt x="741" y="61"/>
                  </a:lnTo>
                  <a:lnTo>
                    <a:pt x="739" y="48"/>
                  </a:lnTo>
                  <a:lnTo>
                    <a:pt x="737" y="36"/>
                  </a:lnTo>
                  <a:lnTo>
                    <a:pt x="734" y="23"/>
                  </a:lnTo>
                  <a:lnTo>
                    <a:pt x="732" y="11"/>
                  </a:lnTo>
                  <a:lnTo>
                    <a:pt x="729" y="0"/>
                  </a:lnTo>
                  <a:lnTo>
                    <a:pt x="724" y="0"/>
                  </a:lnTo>
                  <a:lnTo>
                    <a:pt x="727" y="11"/>
                  </a:lnTo>
                  <a:lnTo>
                    <a:pt x="729" y="23"/>
                  </a:lnTo>
                  <a:lnTo>
                    <a:pt x="732" y="36"/>
                  </a:lnTo>
                  <a:lnTo>
                    <a:pt x="734" y="48"/>
                  </a:lnTo>
                  <a:lnTo>
                    <a:pt x="736" y="61"/>
                  </a:lnTo>
                  <a:lnTo>
                    <a:pt x="737" y="73"/>
                  </a:lnTo>
                  <a:lnTo>
                    <a:pt x="737" y="86"/>
                  </a:lnTo>
                  <a:lnTo>
                    <a:pt x="737" y="99"/>
                  </a:lnTo>
                  <a:lnTo>
                    <a:pt x="737" y="101"/>
                  </a:lnTo>
                  <a:lnTo>
                    <a:pt x="737" y="102"/>
                  </a:lnTo>
                  <a:lnTo>
                    <a:pt x="737" y="104"/>
                  </a:lnTo>
                  <a:lnTo>
                    <a:pt x="737" y="106"/>
                  </a:lnTo>
                  <a:lnTo>
                    <a:pt x="742" y="104"/>
                  </a:lnTo>
                  <a:lnTo>
                    <a:pt x="742" y="102"/>
                  </a:lnTo>
                  <a:lnTo>
                    <a:pt x="742" y="101"/>
                  </a:lnTo>
                  <a:lnTo>
                    <a:pt x="742" y="99"/>
                  </a:lnTo>
                  <a:close/>
                  <a:moveTo>
                    <a:pt x="0" y="89"/>
                  </a:moveTo>
                  <a:lnTo>
                    <a:pt x="0" y="89"/>
                  </a:lnTo>
                  <a:lnTo>
                    <a:pt x="0" y="91"/>
                  </a:lnTo>
                  <a:lnTo>
                    <a:pt x="0" y="93"/>
                  </a:lnTo>
                  <a:lnTo>
                    <a:pt x="0" y="94"/>
                  </a:lnTo>
                  <a:lnTo>
                    <a:pt x="0" y="96"/>
                  </a:lnTo>
                  <a:lnTo>
                    <a:pt x="0" y="98"/>
                  </a:lnTo>
                  <a:lnTo>
                    <a:pt x="0" y="99"/>
                  </a:lnTo>
                  <a:lnTo>
                    <a:pt x="0" y="112"/>
                  </a:lnTo>
                  <a:lnTo>
                    <a:pt x="0" y="124"/>
                  </a:lnTo>
                  <a:lnTo>
                    <a:pt x="2" y="137"/>
                  </a:lnTo>
                  <a:lnTo>
                    <a:pt x="4" y="151"/>
                  </a:lnTo>
                  <a:lnTo>
                    <a:pt x="5" y="162"/>
                  </a:lnTo>
                  <a:lnTo>
                    <a:pt x="7" y="174"/>
                  </a:lnTo>
                  <a:lnTo>
                    <a:pt x="10" y="187"/>
                  </a:lnTo>
                  <a:lnTo>
                    <a:pt x="14" y="199"/>
                  </a:lnTo>
                  <a:lnTo>
                    <a:pt x="19" y="199"/>
                  </a:lnTo>
                  <a:lnTo>
                    <a:pt x="15" y="187"/>
                  </a:lnTo>
                  <a:lnTo>
                    <a:pt x="12" y="174"/>
                  </a:lnTo>
                  <a:lnTo>
                    <a:pt x="10" y="162"/>
                  </a:lnTo>
                  <a:lnTo>
                    <a:pt x="9" y="151"/>
                  </a:lnTo>
                  <a:lnTo>
                    <a:pt x="7" y="137"/>
                  </a:lnTo>
                  <a:lnTo>
                    <a:pt x="5" y="124"/>
                  </a:lnTo>
                  <a:lnTo>
                    <a:pt x="5" y="112"/>
                  </a:lnTo>
                  <a:lnTo>
                    <a:pt x="5" y="99"/>
                  </a:lnTo>
                  <a:lnTo>
                    <a:pt x="5" y="98"/>
                  </a:lnTo>
                  <a:lnTo>
                    <a:pt x="5" y="96"/>
                  </a:lnTo>
                  <a:lnTo>
                    <a:pt x="5" y="94"/>
                  </a:lnTo>
                  <a:lnTo>
                    <a:pt x="5" y="93"/>
                  </a:lnTo>
                  <a:lnTo>
                    <a:pt x="5" y="91"/>
                  </a:lnTo>
                  <a:lnTo>
                    <a:pt x="5" y="89"/>
                  </a:lnTo>
                  <a:lnTo>
                    <a:pt x="5" y="88"/>
                  </a:lnTo>
                  <a:lnTo>
                    <a:pt x="5" y="86"/>
                  </a:lnTo>
                  <a:lnTo>
                    <a:pt x="0" y="89"/>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87" name="Freeform 127">
              <a:extLst>
                <a:ext uri="{FF2B5EF4-FFF2-40B4-BE49-F238E27FC236}">
                  <a16:creationId xmlns:a16="http://schemas.microsoft.com/office/drawing/2014/main" id="{3B37E0FC-8114-9606-9960-8FACCE4361F7}"/>
                </a:ext>
              </a:extLst>
            </p:cNvPr>
            <p:cNvSpPr>
              <a:spLocks noEditPoints="1"/>
            </p:cNvSpPr>
            <p:nvPr/>
          </p:nvSpPr>
          <p:spPr bwMode="auto">
            <a:xfrm>
              <a:off x="1467" y="1514"/>
              <a:ext cx="739" cy="199"/>
            </a:xfrm>
            <a:custGeom>
              <a:avLst/>
              <a:gdLst>
                <a:gd name="T0" fmla="*/ 739 w 739"/>
                <a:gd name="T1" fmla="*/ 99 h 199"/>
                <a:gd name="T2" fmla="*/ 737 w 739"/>
                <a:gd name="T3" fmla="*/ 86 h 199"/>
                <a:gd name="T4" fmla="*/ 737 w 739"/>
                <a:gd name="T5" fmla="*/ 73 h 199"/>
                <a:gd name="T6" fmla="*/ 735 w 739"/>
                <a:gd name="T7" fmla="*/ 61 h 199"/>
                <a:gd name="T8" fmla="*/ 734 w 739"/>
                <a:gd name="T9" fmla="*/ 48 h 199"/>
                <a:gd name="T10" fmla="*/ 732 w 739"/>
                <a:gd name="T11" fmla="*/ 36 h 199"/>
                <a:gd name="T12" fmla="*/ 730 w 739"/>
                <a:gd name="T13" fmla="*/ 23 h 199"/>
                <a:gd name="T14" fmla="*/ 727 w 739"/>
                <a:gd name="T15" fmla="*/ 11 h 199"/>
                <a:gd name="T16" fmla="*/ 724 w 739"/>
                <a:gd name="T17" fmla="*/ 0 h 199"/>
                <a:gd name="T18" fmla="*/ 719 w 739"/>
                <a:gd name="T19" fmla="*/ 0 h 199"/>
                <a:gd name="T20" fmla="*/ 722 w 739"/>
                <a:gd name="T21" fmla="*/ 11 h 199"/>
                <a:gd name="T22" fmla="*/ 725 w 739"/>
                <a:gd name="T23" fmla="*/ 23 h 199"/>
                <a:gd name="T24" fmla="*/ 727 w 739"/>
                <a:gd name="T25" fmla="*/ 36 h 199"/>
                <a:gd name="T26" fmla="*/ 730 w 739"/>
                <a:gd name="T27" fmla="*/ 48 h 199"/>
                <a:gd name="T28" fmla="*/ 730 w 739"/>
                <a:gd name="T29" fmla="*/ 61 h 199"/>
                <a:gd name="T30" fmla="*/ 732 w 739"/>
                <a:gd name="T31" fmla="*/ 73 h 199"/>
                <a:gd name="T32" fmla="*/ 732 w 739"/>
                <a:gd name="T33" fmla="*/ 86 h 199"/>
                <a:gd name="T34" fmla="*/ 734 w 739"/>
                <a:gd name="T35" fmla="*/ 99 h 199"/>
                <a:gd name="T36" fmla="*/ 734 w 739"/>
                <a:gd name="T37" fmla="*/ 101 h 199"/>
                <a:gd name="T38" fmla="*/ 734 w 739"/>
                <a:gd name="T39" fmla="*/ 102 h 199"/>
                <a:gd name="T40" fmla="*/ 734 w 739"/>
                <a:gd name="T41" fmla="*/ 104 h 199"/>
                <a:gd name="T42" fmla="*/ 734 w 739"/>
                <a:gd name="T43" fmla="*/ 106 h 199"/>
                <a:gd name="T44" fmla="*/ 734 w 739"/>
                <a:gd name="T45" fmla="*/ 107 h 199"/>
                <a:gd name="T46" fmla="*/ 737 w 739"/>
                <a:gd name="T47" fmla="*/ 104 h 199"/>
                <a:gd name="T48" fmla="*/ 737 w 739"/>
                <a:gd name="T49" fmla="*/ 102 h 199"/>
                <a:gd name="T50" fmla="*/ 739 w 739"/>
                <a:gd name="T51" fmla="*/ 102 h 199"/>
                <a:gd name="T52" fmla="*/ 739 w 739"/>
                <a:gd name="T53" fmla="*/ 101 h 199"/>
                <a:gd name="T54" fmla="*/ 739 w 739"/>
                <a:gd name="T55" fmla="*/ 99 h 199"/>
                <a:gd name="T56" fmla="*/ 0 w 739"/>
                <a:gd name="T57" fmla="*/ 88 h 199"/>
                <a:gd name="T58" fmla="*/ 0 w 739"/>
                <a:gd name="T59" fmla="*/ 89 h 199"/>
                <a:gd name="T60" fmla="*/ 0 w 739"/>
                <a:gd name="T61" fmla="*/ 91 h 199"/>
                <a:gd name="T62" fmla="*/ 0 w 739"/>
                <a:gd name="T63" fmla="*/ 93 h 199"/>
                <a:gd name="T64" fmla="*/ 0 w 739"/>
                <a:gd name="T65" fmla="*/ 94 h 199"/>
                <a:gd name="T66" fmla="*/ 0 w 739"/>
                <a:gd name="T67" fmla="*/ 96 h 199"/>
                <a:gd name="T68" fmla="*/ 0 w 739"/>
                <a:gd name="T69" fmla="*/ 98 h 199"/>
                <a:gd name="T70" fmla="*/ 0 w 739"/>
                <a:gd name="T71" fmla="*/ 99 h 199"/>
                <a:gd name="T72" fmla="*/ 0 w 739"/>
                <a:gd name="T73" fmla="*/ 112 h 199"/>
                <a:gd name="T74" fmla="*/ 2 w 739"/>
                <a:gd name="T75" fmla="*/ 124 h 199"/>
                <a:gd name="T76" fmla="*/ 2 w 739"/>
                <a:gd name="T77" fmla="*/ 137 h 199"/>
                <a:gd name="T78" fmla="*/ 3 w 739"/>
                <a:gd name="T79" fmla="*/ 151 h 199"/>
                <a:gd name="T80" fmla="*/ 5 w 739"/>
                <a:gd name="T81" fmla="*/ 162 h 199"/>
                <a:gd name="T82" fmla="*/ 8 w 739"/>
                <a:gd name="T83" fmla="*/ 174 h 199"/>
                <a:gd name="T84" fmla="*/ 10 w 739"/>
                <a:gd name="T85" fmla="*/ 187 h 199"/>
                <a:gd name="T86" fmla="*/ 13 w 739"/>
                <a:gd name="T87" fmla="*/ 199 h 199"/>
                <a:gd name="T88" fmla="*/ 18 w 739"/>
                <a:gd name="T89" fmla="*/ 199 h 199"/>
                <a:gd name="T90" fmla="*/ 15 w 739"/>
                <a:gd name="T91" fmla="*/ 187 h 199"/>
                <a:gd name="T92" fmla="*/ 13 w 739"/>
                <a:gd name="T93" fmla="*/ 174 h 199"/>
                <a:gd name="T94" fmla="*/ 10 w 739"/>
                <a:gd name="T95" fmla="*/ 162 h 199"/>
                <a:gd name="T96" fmla="*/ 8 w 739"/>
                <a:gd name="T97" fmla="*/ 151 h 199"/>
                <a:gd name="T98" fmla="*/ 7 w 739"/>
                <a:gd name="T99" fmla="*/ 137 h 199"/>
                <a:gd name="T100" fmla="*/ 7 w 739"/>
                <a:gd name="T101" fmla="*/ 124 h 199"/>
                <a:gd name="T102" fmla="*/ 5 w 739"/>
                <a:gd name="T103" fmla="*/ 112 h 199"/>
                <a:gd name="T104" fmla="*/ 5 w 739"/>
                <a:gd name="T105" fmla="*/ 99 h 199"/>
                <a:gd name="T106" fmla="*/ 5 w 739"/>
                <a:gd name="T107" fmla="*/ 98 h 199"/>
                <a:gd name="T108" fmla="*/ 5 w 739"/>
                <a:gd name="T109" fmla="*/ 96 h 199"/>
                <a:gd name="T110" fmla="*/ 5 w 739"/>
                <a:gd name="T111" fmla="*/ 94 h 199"/>
                <a:gd name="T112" fmla="*/ 5 w 739"/>
                <a:gd name="T113" fmla="*/ 93 h 199"/>
                <a:gd name="T114" fmla="*/ 5 w 739"/>
                <a:gd name="T115" fmla="*/ 91 h 199"/>
                <a:gd name="T116" fmla="*/ 5 w 739"/>
                <a:gd name="T117" fmla="*/ 89 h 199"/>
                <a:gd name="T118" fmla="*/ 5 w 739"/>
                <a:gd name="T119" fmla="*/ 88 h 199"/>
                <a:gd name="T120" fmla="*/ 5 w 739"/>
                <a:gd name="T121" fmla="*/ 84 h 199"/>
                <a:gd name="T122" fmla="*/ 0 w 739"/>
                <a:gd name="T123" fmla="*/ 8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39" h="199">
                  <a:moveTo>
                    <a:pt x="739" y="99"/>
                  </a:moveTo>
                  <a:lnTo>
                    <a:pt x="737" y="86"/>
                  </a:lnTo>
                  <a:lnTo>
                    <a:pt x="737" y="73"/>
                  </a:lnTo>
                  <a:lnTo>
                    <a:pt x="735" y="61"/>
                  </a:lnTo>
                  <a:lnTo>
                    <a:pt x="734" y="48"/>
                  </a:lnTo>
                  <a:lnTo>
                    <a:pt x="732" y="36"/>
                  </a:lnTo>
                  <a:lnTo>
                    <a:pt x="730" y="23"/>
                  </a:lnTo>
                  <a:lnTo>
                    <a:pt x="727" y="11"/>
                  </a:lnTo>
                  <a:lnTo>
                    <a:pt x="724" y="0"/>
                  </a:lnTo>
                  <a:lnTo>
                    <a:pt x="719" y="0"/>
                  </a:lnTo>
                  <a:lnTo>
                    <a:pt x="722" y="11"/>
                  </a:lnTo>
                  <a:lnTo>
                    <a:pt x="725" y="23"/>
                  </a:lnTo>
                  <a:lnTo>
                    <a:pt x="727" y="36"/>
                  </a:lnTo>
                  <a:lnTo>
                    <a:pt x="730" y="48"/>
                  </a:lnTo>
                  <a:lnTo>
                    <a:pt x="730" y="61"/>
                  </a:lnTo>
                  <a:lnTo>
                    <a:pt x="732" y="73"/>
                  </a:lnTo>
                  <a:lnTo>
                    <a:pt x="732" y="86"/>
                  </a:lnTo>
                  <a:lnTo>
                    <a:pt x="734" y="99"/>
                  </a:lnTo>
                  <a:lnTo>
                    <a:pt x="734" y="101"/>
                  </a:lnTo>
                  <a:lnTo>
                    <a:pt x="734" y="102"/>
                  </a:lnTo>
                  <a:lnTo>
                    <a:pt x="734" y="104"/>
                  </a:lnTo>
                  <a:lnTo>
                    <a:pt x="734" y="106"/>
                  </a:lnTo>
                  <a:lnTo>
                    <a:pt x="734" y="107"/>
                  </a:lnTo>
                  <a:lnTo>
                    <a:pt x="737" y="104"/>
                  </a:lnTo>
                  <a:lnTo>
                    <a:pt x="737" y="102"/>
                  </a:lnTo>
                  <a:lnTo>
                    <a:pt x="739" y="102"/>
                  </a:lnTo>
                  <a:lnTo>
                    <a:pt x="739" y="101"/>
                  </a:lnTo>
                  <a:lnTo>
                    <a:pt x="739" y="99"/>
                  </a:lnTo>
                  <a:close/>
                  <a:moveTo>
                    <a:pt x="0" y="88"/>
                  </a:moveTo>
                  <a:lnTo>
                    <a:pt x="0" y="89"/>
                  </a:lnTo>
                  <a:lnTo>
                    <a:pt x="0" y="91"/>
                  </a:lnTo>
                  <a:lnTo>
                    <a:pt x="0" y="93"/>
                  </a:lnTo>
                  <a:lnTo>
                    <a:pt x="0" y="94"/>
                  </a:lnTo>
                  <a:lnTo>
                    <a:pt x="0" y="96"/>
                  </a:lnTo>
                  <a:lnTo>
                    <a:pt x="0" y="98"/>
                  </a:lnTo>
                  <a:lnTo>
                    <a:pt x="0" y="99"/>
                  </a:lnTo>
                  <a:lnTo>
                    <a:pt x="0" y="112"/>
                  </a:lnTo>
                  <a:lnTo>
                    <a:pt x="2"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7" y="124"/>
                  </a:lnTo>
                  <a:lnTo>
                    <a:pt x="5" y="112"/>
                  </a:lnTo>
                  <a:lnTo>
                    <a:pt x="5" y="99"/>
                  </a:lnTo>
                  <a:lnTo>
                    <a:pt x="5" y="98"/>
                  </a:lnTo>
                  <a:lnTo>
                    <a:pt x="5" y="96"/>
                  </a:lnTo>
                  <a:lnTo>
                    <a:pt x="5" y="94"/>
                  </a:lnTo>
                  <a:lnTo>
                    <a:pt x="5" y="93"/>
                  </a:lnTo>
                  <a:lnTo>
                    <a:pt x="5" y="91"/>
                  </a:lnTo>
                  <a:lnTo>
                    <a:pt x="5" y="89"/>
                  </a:lnTo>
                  <a:lnTo>
                    <a:pt x="5" y="88"/>
                  </a:lnTo>
                  <a:lnTo>
                    <a:pt x="5" y="84"/>
                  </a:lnTo>
                  <a:lnTo>
                    <a:pt x="0" y="88"/>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88" name="Freeform 128">
              <a:extLst>
                <a:ext uri="{FF2B5EF4-FFF2-40B4-BE49-F238E27FC236}">
                  <a16:creationId xmlns:a16="http://schemas.microsoft.com/office/drawing/2014/main" id="{AB319F10-B63A-C435-1F94-C9A5FAA8E9B9}"/>
                </a:ext>
              </a:extLst>
            </p:cNvPr>
            <p:cNvSpPr>
              <a:spLocks noEditPoints="1"/>
            </p:cNvSpPr>
            <p:nvPr/>
          </p:nvSpPr>
          <p:spPr bwMode="auto">
            <a:xfrm>
              <a:off x="1470" y="1514"/>
              <a:ext cx="732" cy="199"/>
            </a:xfrm>
            <a:custGeom>
              <a:avLst/>
              <a:gdLst>
                <a:gd name="T0" fmla="*/ 732 w 732"/>
                <a:gd name="T1" fmla="*/ 99 h 199"/>
                <a:gd name="T2" fmla="*/ 732 w 732"/>
                <a:gd name="T3" fmla="*/ 86 h 199"/>
                <a:gd name="T4" fmla="*/ 732 w 732"/>
                <a:gd name="T5" fmla="*/ 73 h 199"/>
                <a:gd name="T6" fmla="*/ 731 w 732"/>
                <a:gd name="T7" fmla="*/ 61 h 199"/>
                <a:gd name="T8" fmla="*/ 729 w 732"/>
                <a:gd name="T9" fmla="*/ 48 h 199"/>
                <a:gd name="T10" fmla="*/ 727 w 732"/>
                <a:gd name="T11" fmla="*/ 36 h 199"/>
                <a:gd name="T12" fmla="*/ 724 w 732"/>
                <a:gd name="T13" fmla="*/ 23 h 199"/>
                <a:gd name="T14" fmla="*/ 722 w 732"/>
                <a:gd name="T15" fmla="*/ 11 h 199"/>
                <a:gd name="T16" fmla="*/ 719 w 732"/>
                <a:gd name="T17" fmla="*/ 0 h 199"/>
                <a:gd name="T18" fmla="*/ 714 w 732"/>
                <a:gd name="T19" fmla="*/ 0 h 199"/>
                <a:gd name="T20" fmla="*/ 717 w 732"/>
                <a:gd name="T21" fmla="*/ 11 h 199"/>
                <a:gd name="T22" fmla="*/ 719 w 732"/>
                <a:gd name="T23" fmla="*/ 23 h 199"/>
                <a:gd name="T24" fmla="*/ 722 w 732"/>
                <a:gd name="T25" fmla="*/ 36 h 199"/>
                <a:gd name="T26" fmla="*/ 724 w 732"/>
                <a:gd name="T27" fmla="*/ 48 h 199"/>
                <a:gd name="T28" fmla="*/ 726 w 732"/>
                <a:gd name="T29" fmla="*/ 61 h 199"/>
                <a:gd name="T30" fmla="*/ 727 w 732"/>
                <a:gd name="T31" fmla="*/ 73 h 199"/>
                <a:gd name="T32" fmla="*/ 727 w 732"/>
                <a:gd name="T33" fmla="*/ 86 h 199"/>
                <a:gd name="T34" fmla="*/ 727 w 732"/>
                <a:gd name="T35" fmla="*/ 99 h 199"/>
                <a:gd name="T36" fmla="*/ 727 w 732"/>
                <a:gd name="T37" fmla="*/ 101 h 199"/>
                <a:gd name="T38" fmla="*/ 727 w 732"/>
                <a:gd name="T39" fmla="*/ 102 h 199"/>
                <a:gd name="T40" fmla="*/ 727 w 732"/>
                <a:gd name="T41" fmla="*/ 104 h 199"/>
                <a:gd name="T42" fmla="*/ 727 w 732"/>
                <a:gd name="T43" fmla="*/ 106 h 199"/>
                <a:gd name="T44" fmla="*/ 727 w 732"/>
                <a:gd name="T45" fmla="*/ 107 h 199"/>
                <a:gd name="T46" fmla="*/ 732 w 732"/>
                <a:gd name="T47" fmla="*/ 106 h 199"/>
                <a:gd name="T48" fmla="*/ 732 w 732"/>
                <a:gd name="T49" fmla="*/ 104 h 199"/>
                <a:gd name="T50" fmla="*/ 732 w 732"/>
                <a:gd name="T51" fmla="*/ 102 h 199"/>
                <a:gd name="T52" fmla="*/ 732 w 732"/>
                <a:gd name="T53" fmla="*/ 101 h 199"/>
                <a:gd name="T54" fmla="*/ 732 w 732"/>
                <a:gd name="T55" fmla="*/ 99 h 199"/>
                <a:gd name="T56" fmla="*/ 0 w 732"/>
                <a:gd name="T57" fmla="*/ 86 h 199"/>
                <a:gd name="T58" fmla="*/ 0 w 732"/>
                <a:gd name="T59" fmla="*/ 88 h 199"/>
                <a:gd name="T60" fmla="*/ 0 w 732"/>
                <a:gd name="T61" fmla="*/ 89 h 199"/>
                <a:gd name="T62" fmla="*/ 0 w 732"/>
                <a:gd name="T63" fmla="*/ 91 h 199"/>
                <a:gd name="T64" fmla="*/ 0 w 732"/>
                <a:gd name="T65" fmla="*/ 93 h 199"/>
                <a:gd name="T66" fmla="*/ 0 w 732"/>
                <a:gd name="T67" fmla="*/ 94 h 199"/>
                <a:gd name="T68" fmla="*/ 0 w 732"/>
                <a:gd name="T69" fmla="*/ 96 h 199"/>
                <a:gd name="T70" fmla="*/ 0 w 732"/>
                <a:gd name="T71" fmla="*/ 98 h 199"/>
                <a:gd name="T72" fmla="*/ 0 w 732"/>
                <a:gd name="T73" fmla="*/ 99 h 199"/>
                <a:gd name="T74" fmla="*/ 0 w 732"/>
                <a:gd name="T75" fmla="*/ 112 h 199"/>
                <a:gd name="T76" fmla="*/ 0 w 732"/>
                <a:gd name="T77" fmla="*/ 124 h 199"/>
                <a:gd name="T78" fmla="*/ 2 w 732"/>
                <a:gd name="T79" fmla="*/ 137 h 199"/>
                <a:gd name="T80" fmla="*/ 4 w 732"/>
                <a:gd name="T81" fmla="*/ 151 h 199"/>
                <a:gd name="T82" fmla="*/ 5 w 732"/>
                <a:gd name="T83" fmla="*/ 162 h 199"/>
                <a:gd name="T84" fmla="*/ 7 w 732"/>
                <a:gd name="T85" fmla="*/ 174 h 199"/>
                <a:gd name="T86" fmla="*/ 10 w 732"/>
                <a:gd name="T87" fmla="*/ 187 h 199"/>
                <a:gd name="T88" fmla="*/ 14 w 732"/>
                <a:gd name="T89" fmla="*/ 199 h 199"/>
                <a:gd name="T90" fmla="*/ 19 w 732"/>
                <a:gd name="T91" fmla="*/ 199 h 199"/>
                <a:gd name="T92" fmla="*/ 15 w 732"/>
                <a:gd name="T93" fmla="*/ 187 h 199"/>
                <a:gd name="T94" fmla="*/ 12 w 732"/>
                <a:gd name="T95" fmla="*/ 174 h 199"/>
                <a:gd name="T96" fmla="*/ 10 w 732"/>
                <a:gd name="T97" fmla="*/ 162 h 199"/>
                <a:gd name="T98" fmla="*/ 9 w 732"/>
                <a:gd name="T99" fmla="*/ 151 h 199"/>
                <a:gd name="T100" fmla="*/ 7 w 732"/>
                <a:gd name="T101" fmla="*/ 137 h 199"/>
                <a:gd name="T102" fmla="*/ 5 w 732"/>
                <a:gd name="T103" fmla="*/ 124 h 199"/>
                <a:gd name="T104" fmla="*/ 5 w 732"/>
                <a:gd name="T105" fmla="*/ 112 h 199"/>
                <a:gd name="T106" fmla="*/ 5 w 732"/>
                <a:gd name="T107" fmla="*/ 99 h 199"/>
                <a:gd name="T108" fmla="*/ 5 w 732"/>
                <a:gd name="T109" fmla="*/ 98 h 199"/>
                <a:gd name="T110" fmla="*/ 5 w 732"/>
                <a:gd name="T111" fmla="*/ 96 h 199"/>
                <a:gd name="T112" fmla="*/ 5 w 732"/>
                <a:gd name="T113" fmla="*/ 93 h 199"/>
                <a:gd name="T114" fmla="*/ 5 w 732"/>
                <a:gd name="T115" fmla="*/ 91 h 199"/>
                <a:gd name="T116" fmla="*/ 5 w 732"/>
                <a:gd name="T117" fmla="*/ 89 h 199"/>
                <a:gd name="T118" fmla="*/ 5 w 732"/>
                <a:gd name="T119" fmla="*/ 88 h 199"/>
                <a:gd name="T120" fmla="*/ 5 w 732"/>
                <a:gd name="T121" fmla="*/ 86 h 199"/>
                <a:gd name="T122" fmla="*/ 5 w 732"/>
                <a:gd name="T123" fmla="*/ 84 h 199"/>
                <a:gd name="T124" fmla="*/ 0 w 732"/>
                <a:gd name="T125" fmla="*/ 8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32" h="199">
                  <a:moveTo>
                    <a:pt x="732" y="99"/>
                  </a:moveTo>
                  <a:lnTo>
                    <a:pt x="732" y="86"/>
                  </a:lnTo>
                  <a:lnTo>
                    <a:pt x="732" y="73"/>
                  </a:lnTo>
                  <a:lnTo>
                    <a:pt x="731" y="61"/>
                  </a:lnTo>
                  <a:lnTo>
                    <a:pt x="729" y="48"/>
                  </a:lnTo>
                  <a:lnTo>
                    <a:pt x="727" y="36"/>
                  </a:lnTo>
                  <a:lnTo>
                    <a:pt x="724" y="23"/>
                  </a:lnTo>
                  <a:lnTo>
                    <a:pt x="722" y="11"/>
                  </a:lnTo>
                  <a:lnTo>
                    <a:pt x="719" y="0"/>
                  </a:lnTo>
                  <a:lnTo>
                    <a:pt x="714" y="0"/>
                  </a:lnTo>
                  <a:lnTo>
                    <a:pt x="717" y="11"/>
                  </a:lnTo>
                  <a:lnTo>
                    <a:pt x="719" y="23"/>
                  </a:lnTo>
                  <a:lnTo>
                    <a:pt x="722" y="36"/>
                  </a:lnTo>
                  <a:lnTo>
                    <a:pt x="724" y="48"/>
                  </a:lnTo>
                  <a:lnTo>
                    <a:pt x="726" y="61"/>
                  </a:lnTo>
                  <a:lnTo>
                    <a:pt x="727" y="73"/>
                  </a:lnTo>
                  <a:lnTo>
                    <a:pt x="727" y="86"/>
                  </a:lnTo>
                  <a:lnTo>
                    <a:pt x="727" y="99"/>
                  </a:lnTo>
                  <a:lnTo>
                    <a:pt x="727" y="101"/>
                  </a:lnTo>
                  <a:lnTo>
                    <a:pt x="727" y="102"/>
                  </a:lnTo>
                  <a:lnTo>
                    <a:pt x="727" y="104"/>
                  </a:lnTo>
                  <a:lnTo>
                    <a:pt x="727" y="106"/>
                  </a:lnTo>
                  <a:lnTo>
                    <a:pt x="727" y="107"/>
                  </a:lnTo>
                  <a:lnTo>
                    <a:pt x="732" y="106"/>
                  </a:lnTo>
                  <a:lnTo>
                    <a:pt x="732" y="104"/>
                  </a:lnTo>
                  <a:lnTo>
                    <a:pt x="732" y="102"/>
                  </a:lnTo>
                  <a:lnTo>
                    <a:pt x="732" y="101"/>
                  </a:lnTo>
                  <a:lnTo>
                    <a:pt x="732" y="99"/>
                  </a:lnTo>
                  <a:close/>
                  <a:moveTo>
                    <a:pt x="0" y="86"/>
                  </a:moveTo>
                  <a:lnTo>
                    <a:pt x="0" y="88"/>
                  </a:lnTo>
                  <a:lnTo>
                    <a:pt x="0" y="89"/>
                  </a:lnTo>
                  <a:lnTo>
                    <a:pt x="0" y="91"/>
                  </a:lnTo>
                  <a:lnTo>
                    <a:pt x="0" y="93"/>
                  </a:lnTo>
                  <a:lnTo>
                    <a:pt x="0" y="94"/>
                  </a:lnTo>
                  <a:lnTo>
                    <a:pt x="0" y="96"/>
                  </a:lnTo>
                  <a:lnTo>
                    <a:pt x="0" y="98"/>
                  </a:lnTo>
                  <a:lnTo>
                    <a:pt x="0" y="99"/>
                  </a:lnTo>
                  <a:lnTo>
                    <a:pt x="0" y="112"/>
                  </a:lnTo>
                  <a:lnTo>
                    <a:pt x="0" y="124"/>
                  </a:lnTo>
                  <a:lnTo>
                    <a:pt x="2" y="137"/>
                  </a:lnTo>
                  <a:lnTo>
                    <a:pt x="4" y="151"/>
                  </a:lnTo>
                  <a:lnTo>
                    <a:pt x="5" y="162"/>
                  </a:lnTo>
                  <a:lnTo>
                    <a:pt x="7" y="174"/>
                  </a:lnTo>
                  <a:lnTo>
                    <a:pt x="10" y="187"/>
                  </a:lnTo>
                  <a:lnTo>
                    <a:pt x="14" y="199"/>
                  </a:lnTo>
                  <a:lnTo>
                    <a:pt x="19" y="199"/>
                  </a:lnTo>
                  <a:lnTo>
                    <a:pt x="15" y="187"/>
                  </a:lnTo>
                  <a:lnTo>
                    <a:pt x="12" y="174"/>
                  </a:lnTo>
                  <a:lnTo>
                    <a:pt x="10" y="162"/>
                  </a:lnTo>
                  <a:lnTo>
                    <a:pt x="9" y="151"/>
                  </a:lnTo>
                  <a:lnTo>
                    <a:pt x="7" y="137"/>
                  </a:lnTo>
                  <a:lnTo>
                    <a:pt x="5" y="124"/>
                  </a:lnTo>
                  <a:lnTo>
                    <a:pt x="5" y="112"/>
                  </a:lnTo>
                  <a:lnTo>
                    <a:pt x="5" y="99"/>
                  </a:lnTo>
                  <a:lnTo>
                    <a:pt x="5" y="98"/>
                  </a:lnTo>
                  <a:lnTo>
                    <a:pt x="5" y="96"/>
                  </a:lnTo>
                  <a:lnTo>
                    <a:pt x="5" y="93"/>
                  </a:lnTo>
                  <a:lnTo>
                    <a:pt x="5" y="91"/>
                  </a:lnTo>
                  <a:lnTo>
                    <a:pt x="5" y="89"/>
                  </a:lnTo>
                  <a:lnTo>
                    <a:pt x="5" y="88"/>
                  </a:lnTo>
                  <a:lnTo>
                    <a:pt x="5" y="86"/>
                  </a:lnTo>
                  <a:lnTo>
                    <a:pt x="5" y="84"/>
                  </a:lnTo>
                  <a:lnTo>
                    <a:pt x="0" y="86"/>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89" name="Freeform 129">
              <a:extLst>
                <a:ext uri="{FF2B5EF4-FFF2-40B4-BE49-F238E27FC236}">
                  <a16:creationId xmlns:a16="http://schemas.microsoft.com/office/drawing/2014/main" id="{03170BBF-6C20-C68A-F76F-870B6D5AD2AB}"/>
                </a:ext>
              </a:extLst>
            </p:cNvPr>
            <p:cNvSpPr>
              <a:spLocks noEditPoints="1"/>
            </p:cNvSpPr>
            <p:nvPr/>
          </p:nvSpPr>
          <p:spPr bwMode="auto">
            <a:xfrm>
              <a:off x="1472" y="1514"/>
              <a:ext cx="729" cy="199"/>
            </a:xfrm>
            <a:custGeom>
              <a:avLst/>
              <a:gdLst>
                <a:gd name="T0" fmla="*/ 727 w 729"/>
                <a:gd name="T1" fmla="*/ 86 h 199"/>
                <a:gd name="T2" fmla="*/ 725 w 729"/>
                <a:gd name="T3" fmla="*/ 61 h 199"/>
                <a:gd name="T4" fmla="*/ 722 w 729"/>
                <a:gd name="T5" fmla="*/ 36 h 199"/>
                <a:gd name="T6" fmla="*/ 717 w 729"/>
                <a:gd name="T7" fmla="*/ 11 h 199"/>
                <a:gd name="T8" fmla="*/ 709 w 729"/>
                <a:gd name="T9" fmla="*/ 0 h 199"/>
                <a:gd name="T10" fmla="*/ 715 w 729"/>
                <a:gd name="T11" fmla="*/ 23 h 199"/>
                <a:gd name="T12" fmla="*/ 720 w 729"/>
                <a:gd name="T13" fmla="*/ 48 h 199"/>
                <a:gd name="T14" fmla="*/ 722 w 729"/>
                <a:gd name="T15" fmla="*/ 73 h 199"/>
                <a:gd name="T16" fmla="*/ 724 w 729"/>
                <a:gd name="T17" fmla="*/ 99 h 199"/>
                <a:gd name="T18" fmla="*/ 724 w 729"/>
                <a:gd name="T19" fmla="*/ 102 h 199"/>
                <a:gd name="T20" fmla="*/ 724 w 729"/>
                <a:gd name="T21" fmla="*/ 106 h 199"/>
                <a:gd name="T22" fmla="*/ 724 w 729"/>
                <a:gd name="T23" fmla="*/ 109 h 199"/>
                <a:gd name="T24" fmla="*/ 729 w 729"/>
                <a:gd name="T25" fmla="*/ 106 h 199"/>
                <a:gd name="T26" fmla="*/ 729 w 729"/>
                <a:gd name="T27" fmla="*/ 102 h 199"/>
                <a:gd name="T28" fmla="*/ 729 w 729"/>
                <a:gd name="T29" fmla="*/ 99 h 199"/>
                <a:gd name="T30" fmla="*/ 0 w 729"/>
                <a:gd name="T31" fmla="*/ 88 h 199"/>
                <a:gd name="T32" fmla="*/ 0 w 729"/>
                <a:gd name="T33" fmla="*/ 91 h 199"/>
                <a:gd name="T34" fmla="*/ 0 w 729"/>
                <a:gd name="T35" fmla="*/ 94 h 199"/>
                <a:gd name="T36" fmla="*/ 0 w 729"/>
                <a:gd name="T37" fmla="*/ 98 h 199"/>
                <a:gd name="T38" fmla="*/ 0 w 729"/>
                <a:gd name="T39" fmla="*/ 112 h 199"/>
                <a:gd name="T40" fmla="*/ 2 w 729"/>
                <a:gd name="T41" fmla="*/ 137 h 199"/>
                <a:gd name="T42" fmla="*/ 5 w 729"/>
                <a:gd name="T43" fmla="*/ 162 h 199"/>
                <a:gd name="T44" fmla="*/ 10 w 729"/>
                <a:gd name="T45" fmla="*/ 187 h 199"/>
                <a:gd name="T46" fmla="*/ 18 w 729"/>
                <a:gd name="T47" fmla="*/ 199 h 199"/>
                <a:gd name="T48" fmla="*/ 13 w 729"/>
                <a:gd name="T49" fmla="*/ 174 h 199"/>
                <a:gd name="T50" fmla="*/ 8 w 729"/>
                <a:gd name="T51" fmla="*/ 151 h 199"/>
                <a:gd name="T52" fmla="*/ 5 w 729"/>
                <a:gd name="T53" fmla="*/ 124 h 199"/>
                <a:gd name="T54" fmla="*/ 5 w 729"/>
                <a:gd name="T55" fmla="*/ 99 h 199"/>
                <a:gd name="T56" fmla="*/ 5 w 729"/>
                <a:gd name="T57" fmla="*/ 94 h 199"/>
                <a:gd name="T58" fmla="*/ 5 w 729"/>
                <a:gd name="T59" fmla="*/ 91 h 199"/>
                <a:gd name="T60" fmla="*/ 5 w 729"/>
                <a:gd name="T61" fmla="*/ 88 h 199"/>
                <a:gd name="T62" fmla="*/ 5 w 729"/>
                <a:gd name="T63" fmla="*/ 8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29" h="199">
                  <a:moveTo>
                    <a:pt x="729" y="99"/>
                  </a:moveTo>
                  <a:lnTo>
                    <a:pt x="727" y="86"/>
                  </a:lnTo>
                  <a:lnTo>
                    <a:pt x="727" y="73"/>
                  </a:lnTo>
                  <a:lnTo>
                    <a:pt x="725" y="61"/>
                  </a:lnTo>
                  <a:lnTo>
                    <a:pt x="725" y="48"/>
                  </a:lnTo>
                  <a:lnTo>
                    <a:pt x="722" y="36"/>
                  </a:lnTo>
                  <a:lnTo>
                    <a:pt x="720" y="23"/>
                  </a:lnTo>
                  <a:lnTo>
                    <a:pt x="717" y="11"/>
                  </a:lnTo>
                  <a:lnTo>
                    <a:pt x="714" y="0"/>
                  </a:lnTo>
                  <a:lnTo>
                    <a:pt x="709" y="0"/>
                  </a:lnTo>
                  <a:lnTo>
                    <a:pt x="712" y="11"/>
                  </a:lnTo>
                  <a:lnTo>
                    <a:pt x="715" y="23"/>
                  </a:lnTo>
                  <a:lnTo>
                    <a:pt x="717" y="36"/>
                  </a:lnTo>
                  <a:lnTo>
                    <a:pt x="720" y="48"/>
                  </a:lnTo>
                  <a:lnTo>
                    <a:pt x="722" y="61"/>
                  </a:lnTo>
                  <a:lnTo>
                    <a:pt x="722" y="73"/>
                  </a:lnTo>
                  <a:lnTo>
                    <a:pt x="724" y="86"/>
                  </a:lnTo>
                  <a:lnTo>
                    <a:pt x="724" y="99"/>
                  </a:lnTo>
                  <a:lnTo>
                    <a:pt x="724" y="101"/>
                  </a:lnTo>
                  <a:lnTo>
                    <a:pt x="724" y="102"/>
                  </a:lnTo>
                  <a:lnTo>
                    <a:pt x="724" y="104"/>
                  </a:lnTo>
                  <a:lnTo>
                    <a:pt x="724" y="106"/>
                  </a:lnTo>
                  <a:lnTo>
                    <a:pt x="724" y="107"/>
                  </a:lnTo>
                  <a:lnTo>
                    <a:pt x="724" y="109"/>
                  </a:lnTo>
                  <a:lnTo>
                    <a:pt x="729" y="107"/>
                  </a:lnTo>
                  <a:lnTo>
                    <a:pt x="729" y="106"/>
                  </a:lnTo>
                  <a:lnTo>
                    <a:pt x="729" y="104"/>
                  </a:lnTo>
                  <a:lnTo>
                    <a:pt x="729" y="102"/>
                  </a:lnTo>
                  <a:lnTo>
                    <a:pt x="729" y="101"/>
                  </a:lnTo>
                  <a:lnTo>
                    <a:pt x="729" y="99"/>
                  </a:lnTo>
                  <a:close/>
                  <a:moveTo>
                    <a:pt x="0" y="84"/>
                  </a:moveTo>
                  <a:lnTo>
                    <a:pt x="0" y="88"/>
                  </a:lnTo>
                  <a:lnTo>
                    <a:pt x="0" y="89"/>
                  </a:lnTo>
                  <a:lnTo>
                    <a:pt x="0" y="91"/>
                  </a:lnTo>
                  <a:lnTo>
                    <a:pt x="0" y="93"/>
                  </a:lnTo>
                  <a:lnTo>
                    <a:pt x="0" y="94"/>
                  </a:lnTo>
                  <a:lnTo>
                    <a:pt x="0" y="96"/>
                  </a:lnTo>
                  <a:lnTo>
                    <a:pt x="0" y="98"/>
                  </a:lnTo>
                  <a:lnTo>
                    <a:pt x="0" y="99"/>
                  </a:lnTo>
                  <a:lnTo>
                    <a:pt x="0" y="112"/>
                  </a:lnTo>
                  <a:lnTo>
                    <a:pt x="2"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8"/>
                  </a:lnTo>
                  <a:lnTo>
                    <a:pt x="5" y="94"/>
                  </a:lnTo>
                  <a:lnTo>
                    <a:pt x="5" y="93"/>
                  </a:lnTo>
                  <a:lnTo>
                    <a:pt x="5" y="91"/>
                  </a:lnTo>
                  <a:lnTo>
                    <a:pt x="5" y="89"/>
                  </a:lnTo>
                  <a:lnTo>
                    <a:pt x="5" y="88"/>
                  </a:lnTo>
                  <a:lnTo>
                    <a:pt x="5" y="84"/>
                  </a:lnTo>
                  <a:lnTo>
                    <a:pt x="5" y="83"/>
                  </a:lnTo>
                  <a:lnTo>
                    <a:pt x="0" y="84"/>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90" name="Freeform 130">
              <a:extLst>
                <a:ext uri="{FF2B5EF4-FFF2-40B4-BE49-F238E27FC236}">
                  <a16:creationId xmlns:a16="http://schemas.microsoft.com/office/drawing/2014/main" id="{ADE9EBD4-21D7-1D93-10B4-A54216872E48}"/>
                </a:ext>
              </a:extLst>
            </p:cNvPr>
            <p:cNvSpPr>
              <a:spLocks noEditPoints="1"/>
            </p:cNvSpPr>
            <p:nvPr/>
          </p:nvSpPr>
          <p:spPr bwMode="auto">
            <a:xfrm>
              <a:off x="1475" y="1514"/>
              <a:ext cx="722" cy="199"/>
            </a:xfrm>
            <a:custGeom>
              <a:avLst/>
              <a:gdLst>
                <a:gd name="T0" fmla="*/ 722 w 722"/>
                <a:gd name="T1" fmla="*/ 86 h 199"/>
                <a:gd name="T2" fmla="*/ 721 w 722"/>
                <a:gd name="T3" fmla="*/ 61 h 199"/>
                <a:gd name="T4" fmla="*/ 717 w 722"/>
                <a:gd name="T5" fmla="*/ 36 h 199"/>
                <a:gd name="T6" fmla="*/ 712 w 722"/>
                <a:gd name="T7" fmla="*/ 11 h 199"/>
                <a:gd name="T8" fmla="*/ 704 w 722"/>
                <a:gd name="T9" fmla="*/ 0 h 199"/>
                <a:gd name="T10" fmla="*/ 709 w 722"/>
                <a:gd name="T11" fmla="*/ 23 h 199"/>
                <a:gd name="T12" fmla="*/ 714 w 722"/>
                <a:gd name="T13" fmla="*/ 48 h 199"/>
                <a:gd name="T14" fmla="*/ 717 w 722"/>
                <a:gd name="T15" fmla="*/ 73 h 199"/>
                <a:gd name="T16" fmla="*/ 717 w 722"/>
                <a:gd name="T17" fmla="*/ 99 h 199"/>
                <a:gd name="T18" fmla="*/ 717 w 722"/>
                <a:gd name="T19" fmla="*/ 102 h 199"/>
                <a:gd name="T20" fmla="*/ 717 w 722"/>
                <a:gd name="T21" fmla="*/ 106 h 199"/>
                <a:gd name="T22" fmla="*/ 717 w 722"/>
                <a:gd name="T23" fmla="*/ 109 h 199"/>
                <a:gd name="T24" fmla="*/ 722 w 722"/>
                <a:gd name="T25" fmla="*/ 107 h 199"/>
                <a:gd name="T26" fmla="*/ 722 w 722"/>
                <a:gd name="T27" fmla="*/ 104 h 199"/>
                <a:gd name="T28" fmla="*/ 722 w 722"/>
                <a:gd name="T29" fmla="*/ 101 h 199"/>
                <a:gd name="T30" fmla="*/ 0 w 722"/>
                <a:gd name="T31" fmla="*/ 84 h 199"/>
                <a:gd name="T32" fmla="*/ 0 w 722"/>
                <a:gd name="T33" fmla="*/ 88 h 199"/>
                <a:gd name="T34" fmla="*/ 0 w 722"/>
                <a:gd name="T35" fmla="*/ 91 h 199"/>
                <a:gd name="T36" fmla="*/ 0 w 722"/>
                <a:gd name="T37" fmla="*/ 96 h 199"/>
                <a:gd name="T38" fmla="*/ 0 w 722"/>
                <a:gd name="T39" fmla="*/ 99 h 199"/>
                <a:gd name="T40" fmla="*/ 0 w 722"/>
                <a:gd name="T41" fmla="*/ 124 h 199"/>
                <a:gd name="T42" fmla="*/ 4 w 722"/>
                <a:gd name="T43" fmla="*/ 151 h 199"/>
                <a:gd name="T44" fmla="*/ 7 w 722"/>
                <a:gd name="T45" fmla="*/ 174 h 199"/>
                <a:gd name="T46" fmla="*/ 14 w 722"/>
                <a:gd name="T47" fmla="*/ 199 h 199"/>
                <a:gd name="T48" fmla="*/ 15 w 722"/>
                <a:gd name="T49" fmla="*/ 187 h 199"/>
                <a:gd name="T50" fmla="*/ 10 w 722"/>
                <a:gd name="T51" fmla="*/ 162 h 199"/>
                <a:gd name="T52" fmla="*/ 7 w 722"/>
                <a:gd name="T53" fmla="*/ 137 h 199"/>
                <a:gd name="T54" fmla="*/ 5 w 722"/>
                <a:gd name="T55" fmla="*/ 112 h 199"/>
                <a:gd name="T56" fmla="*/ 4 w 722"/>
                <a:gd name="T57" fmla="*/ 98 h 199"/>
                <a:gd name="T58" fmla="*/ 4 w 722"/>
                <a:gd name="T59" fmla="*/ 93 h 199"/>
                <a:gd name="T60" fmla="*/ 4 w 722"/>
                <a:gd name="T61" fmla="*/ 88 h 199"/>
                <a:gd name="T62" fmla="*/ 5 w 722"/>
                <a:gd name="T63" fmla="*/ 84 h 199"/>
                <a:gd name="T64" fmla="*/ 0 w 722"/>
                <a:gd name="T65" fmla="*/ 8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22" h="199">
                  <a:moveTo>
                    <a:pt x="722" y="99"/>
                  </a:moveTo>
                  <a:lnTo>
                    <a:pt x="722" y="86"/>
                  </a:lnTo>
                  <a:lnTo>
                    <a:pt x="722" y="73"/>
                  </a:lnTo>
                  <a:lnTo>
                    <a:pt x="721" y="61"/>
                  </a:lnTo>
                  <a:lnTo>
                    <a:pt x="719" y="48"/>
                  </a:lnTo>
                  <a:lnTo>
                    <a:pt x="717" y="36"/>
                  </a:lnTo>
                  <a:lnTo>
                    <a:pt x="714" y="23"/>
                  </a:lnTo>
                  <a:lnTo>
                    <a:pt x="712" y="11"/>
                  </a:lnTo>
                  <a:lnTo>
                    <a:pt x="709" y="0"/>
                  </a:lnTo>
                  <a:lnTo>
                    <a:pt x="704" y="0"/>
                  </a:lnTo>
                  <a:lnTo>
                    <a:pt x="708" y="11"/>
                  </a:lnTo>
                  <a:lnTo>
                    <a:pt x="709" y="23"/>
                  </a:lnTo>
                  <a:lnTo>
                    <a:pt x="712" y="36"/>
                  </a:lnTo>
                  <a:lnTo>
                    <a:pt x="714" y="48"/>
                  </a:lnTo>
                  <a:lnTo>
                    <a:pt x="716" y="61"/>
                  </a:lnTo>
                  <a:lnTo>
                    <a:pt x="717" y="73"/>
                  </a:lnTo>
                  <a:lnTo>
                    <a:pt x="717" y="86"/>
                  </a:lnTo>
                  <a:lnTo>
                    <a:pt x="717" y="99"/>
                  </a:lnTo>
                  <a:lnTo>
                    <a:pt x="717" y="101"/>
                  </a:lnTo>
                  <a:lnTo>
                    <a:pt x="717" y="102"/>
                  </a:lnTo>
                  <a:lnTo>
                    <a:pt x="717" y="104"/>
                  </a:lnTo>
                  <a:lnTo>
                    <a:pt x="717" y="106"/>
                  </a:lnTo>
                  <a:lnTo>
                    <a:pt x="717" y="107"/>
                  </a:lnTo>
                  <a:lnTo>
                    <a:pt x="717" y="109"/>
                  </a:lnTo>
                  <a:lnTo>
                    <a:pt x="717" y="111"/>
                  </a:lnTo>
                  <a:lnTo>
                    <a:pt x="722" y="107"/>
                  </a:lnTo>
                  <a:lnTo>
                    <a:pt x="722" y="106"/>
                  </a:lnTo>
                  <a:lnTo>
                    <a:pt x="722" y="104"/>
                  </a:lnTo>
                  <a:lnTo>
                    <a:pt x="722" y="102"/>
                  </a:lnTo>
                  <a:lnTo>
                    <a:pt x="722" y="101"/>
                  </a:lnTo>
                  <a:lnTo>
                    <a:pt x="722" y="99"/>
                  </a:lnTo>
                  <a:close/>
                  <a:moveTo>
                    <a:pt x="0" y="84"/>
                  </a:moveTo>
                  <a:lnTo>
                    <a:pt x="0" y="86"/>
                  </a:lnTo>
                  <a:lnTo>
                    <a:pt x="0" y="88"/>
                  </a:lnTo>
                  <a:lnTo>
                    <a:pt x="0" y="89"/>
                  </a:lnTo>
                  <a:lnTo>
                    <a:pt x="0" y="91"/>
                  </a:lnTo>
                  <a:lnTo>
                    <a:pt x="0" y="93"/>
                  </a:lnTo>
                  <a:lnTo>
                    <a:pt x="0" y="96"/>
                  </a:lnTo>
                  <a:lnTo>
                    <a:pt x="0" y="98"/>
                  </a:lnTo>
                  <a:lnTo>
                    <a:pt x="0" y="99"/>
                  </a:lnTo>
                  <a:lnTo>
                    <a:pt x="0" y="112"/>
                  </a:lnTo>
                  <a:lnTo>
                    <a:pt x="0" y="124"/>
                  </a:lnTo>
                  <a:lnTo>
                    <a:pt x="2" y="137"/>
                  </a:lnTo>
                  <a:lnTo>
                    <a:pt x="4" y="151"/>
                  </a:lnTo>
                  <a:lnTo>
                    <a:pt x="5" y="162"/>
                  </a:lnTo>
                  <a:lnTo>
                    <a:pt x="7" y="174"/>
                  </a:lnTo>
                  <a:lnTo>
                    <a:pt x="10" y="187"/>
                  </a:lnTo>
                  <a:lnTo>
                    <a:pt x="14" y="199"/>
                  </a:lnTo>
                  <a:lnTo>
                    <a:pt x="19" y="199"/>
                  </a:lnTo>
                  <a:lnTo>
                    <a:pt x="15" y="187"/>
                  </a:lnTo>
                  <a:lnTo>
                    <a:pt x="12" y="174"/>
                  </a:lnTo>
                  <a:lnTo>
                    <a:pt x="10" y="162"/>
                  </a:lnTo>
                  <a:lnTo>
                    <a:pt x="9" y="151"/>
                  </a:lnTo>
                  <a:lnTo>
                    <a:pt x="7" y="137"/>
                  </a:lnTo>
                  <a:lnTo>
                    <a:pt x="5" y="124"/>
                  </a:lnTo>
                  <a:lnTo>
                    <a:pt x="5" y="112"/>
                  </a:lnTo>
                  <a:lnTo>
                    <a:pt x="4" y="99"/>
                  </a:lnTo>
                  <a:lnTo>
                    <a:pt x="4" y="98"/>
                  </a:lnTo>
                  <a:lnTo>
                    <a:pt x="4" y="94"/>
                  </a:lnTo>
                  <a:lnTo>
                    <a:pt x="4" y="93"/>
                  </a:lnTo>
                  <a:lnTo>
                    <a:pt x="4" y="91"/>
                  </a:lnTo>
                  <a:lnTo>
                    <a:pt x="4" y="88"/>
                  </a:lnTo>
                  <a:lnTo>
                    <a:pt x="5" y="86"/>
                  </a:lnTo>
                  <a:lnTo>
                    <a:pt x="5" y="84"/>
                  </a:lnTo>
                  <a:lnTo>
                    <a:pt x="5" y="81"/>
                  </a:lnTo>
                  <a:lnTo>
                    <a:pt x="0" y="84"/>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91" name="Freeform 131">
              <a:extLst>
                <a:ext uri="{FF2B5EF4-FFF2-40B4-BE49-F238E27FC236}">
                  <a16:creationId xmlns:a16="http://schemas.microsoft.com/office/drawing/2014/main" id="{E69D420C-7886-DF5C-A37C-64865388B508}"/>
                </a:ext>
              </a:extLst>
            </p:cNvPr>
            <p:cNvSpPr>
              <a:spLocks noEditPoints="1"/>
            </p:cNvSpPr>
            <p:nvPr/>
          </p:nvSpPr>
          <p:spPr bwMode="auto">
            <a:xfrm>
              <a:off x="1477" y="1514"/>
              <a:ext cx="719" cy="199"/>
            </a:xfrm>
            <a:custGeom>
              <a:avLst/>
              <a:gdLst>
                <a:gd name="T0" fmla="*/ 719 w 719"/>
                <a:gd name="T1" fmla="*/ 86 h 199"/>
                <a:gd name="T2" fmla="*/ 717 w 719"/>
                <a:gd name="T3" fmla="*/ 61 h 199"/>
                <a:gd name="T4" fmla="*/ 712 w 719"/>
                <a:gd name="T5" fmla="*/ 36 h 199"/>
                <a:gd name="T6" fmla="*/ 707 w 719"/>
                <a:gd name="T7" fmla="*/ 11 h 199"/>
                <a:gd name="T8" fmla="*/ 699 w 719"/>
                <a:gd name="T9" fmla="*/ 0 h 199"/>
                <a:gd name="T10" fmla="*/ 706 w 719"/>
                <a:gd name="T11" fmla="*/ 23 h 199"/>
                <a:gd name="T12" fmla="*/ 710 w 719"/>
                <a:gd name="T13" fmla="*/ 48 h 199"/>
                <a:gd name="T14" fmla="*/ 712 w 719"/>
                <a:gd name="T15" fmla="*/ 73 h 199"/>
                <a:gd name="T16" fmla="*/ 714 w 719"/>
                <a:gd name="T17" fmla="*/ 99 h 199"/>
                <a:gd name="T18" fmla="*/ 714 w 719"/>
                <a:gd name="T19" fmla="*/ 102 h 199"/>
                <a:gd name="T20" fmla="*/ 714 w 719"/>
                <a:gd name="T21" fmla="*/ 106 h 199"/>
                <a:gd name="T22" fmla="*/ 714 w 719"/>
                <a:gd name="T23" fmla="*/ 109 h 199"/>
                <a:gd name="T24" fmla="*/ 719 w 719"/>
                <a:gd name="T25" fmla="*/ 109 h 199"/>
                <a:gd name="T26" fmla="*/ 719 w 719"/>
                <a:gd name="T27" fmla="*/ 106 h 199"/>
                <a:gd name="T28" fmla="*/ 719 w 719"/>
                <a:gd name="T29" fmla="*/ 102 h 199"/>
                <a:gd name="T30" fmla="*/ 719 w 719"/>
                <a:gd name="T31" fmla="*/ 99 h 199"/>
                <a:gd name="T32" fmla="*/ 0 w 719"/>
                <a:gd name="T33" fmla="*/ 84 h 199"/>
                <a:gd name="T34" fmla="*/ 0 w 719"/>
                <a:gd name="T35" fmla="*/ 89 h 199"/>
                <a:gd name="T36" fmla="*/ 0 w 719"/>
                <a:gd name="T37" fmla="*/ 93 h 199"/>
                <a:gd name="T38" fmla="*/ 0 w 719"/>
                <a:gd name="T39" fmla="*/ 98 h 199"/>
                <a:gd name="T40" fmla="*/ 0 w 719"/>
                <a:gd name="T41" fmla="*/ 112 h 199"/>
                <a:gd name="T42" fmla="*/ 2 w 719"/>
                <a:gd name="T43" fmla="*/ 137 h 199"/>
                <a:gd name="T44" fmla="*/ 5 w 719"/>
                <a:gd name="T45" fmla="*/ 162 h 199"/>
                <a:gd name="T46" fmla="*/ 10 w 719"/>
                <a:gd name="T47" fmla="*/ 187 h 199"/>
                <a:gd name="T48" fmla="*/ 18 w 719"/>
                <a:gd name="T49" fmla="*/ 199 h 199"/>
                <a:gd name="T50" fmla="*/ 13 w 719"/>
                <a:gd name="T51" fmla="*/ 174 h 199"/>
                <a:gd name="T52" fmla="*/ 8 w 719"/>
                <a:gd name="T53" fmla="*/ 151 h 199"/>
                <a:gd name="T54" fmla="*/ 5 w 719"/>
                <a:gd name="T55" fmla="*/ 124 h 199"/>
                <a:gd name="T56" fmla="*/ 5 w 719"/>
                <a:gd name="T57" fmla="*/ 99 h 199"/>
                <a:gd name="T58" fmla="*/ 5 w 719"/>
                <a:gd name="T59" fmla="*/ 94 h 199"/>
                <a:gd name="T60" fmla="*/ 5 w 719"/>
                <a:gd name="T61" fmla="*/ 89 h 199"/>
                <a:gd name="T62" fmla="*/ 5 w 719"/>
                <a:gd name="T63" fmla="*/ 84 h 199"/>
                <a:gd name="T64" fmla="*/ 5 w 719"/>
                <a:gd name="T65" fmla="*/ 8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19" h="199">
                  <a:moveTo>
                    <a:pt x="719" y="99"/>
                  </a:moveTo>
                  <a:lnTo>
                    <a:pt x="719" y="86"/>
                  </a:lnTo>
                  <a:lnTo>
                    <a:pt x="717" y="73"/>
                  </a:lnTo>
                  <a:lnTo>
                    <a:pt x="717" y="61"/>
                  </a:lnTo>
                  <a:lnTo>
                    <a:pt x="715" y="48"/>
                  </a:lnTo>
                  <a:lnTo>
                    <a:pt x="712" y="36"/>
                  </a:lnTo>
                  <a:lnTo>
                    <a:pt x="710" y="23"/>
                  </a:lnTo>
                  <a:lnTo>
                    <a:pt x="707" y="11"/>
                  </a:lnTo>
                  <a:lnTo>
                    <a:pt x="704" y="0"/>
                  </a:lnTo>
                  <a:lnTo>
                    <a:pt x="699" y="0"/>
                  </a:lnTo>
                  <a:lnTo>
                    <a:pt x="702" y="11"/>
                  </a:lnTo>
                  <a:lnTo>
                    <a:pt x="706" y="23"/>
                  </a:lnTo>
                  <a:lnTo>
                    <a:pt x="707" y="36"/>
                  </a:lnTo>
                  <a:lnTo>
                    <a:pt x="710" y="48"/>
                  </a:lnTo>
                  <a:lnTo>
                    <a:pt x="712" y="61"/>
                  </a:lnTo>
                  <a:lnTo>
                    <a:pt x="712" y="73"/>
                  </a:lnTo>
                  <a:lnTo>
                    <a:pt x="714" y="86"/>
                  </a:lnTo>
                  <a:lnTo>
                    <a:pt x="714" y="99"/>
                  </a:lnTo>
                  <a:lnTo>
                    <a:pt x="714" y="101"/>
                  </a:lnTo>
                  <a:lnTo>
                    <a:pt x="714" y="102"/>
                  </a:lnTo>
                  <a:lnTo>
                    <a:pt x="714" y="104"/>
                  </a:lnTo>
                  <a:lnTo>
                    <a:pt x="714" y="106"/>
                  </a:lnTo>
                  <a:lnTo>
                    <a:pt x="714" y="107"/>
                  </a:lnTo>
                  <a:lnTo>
                    <a:pt x="714" y="109"/>
                  </a:lnTo>
                  <a:lnTo>
                    <a:pt x="714" y="111"/>
                  </a:lnTo>
                  <a:lnTo>
                    <a:pt x="719" y="109"/>
                  </a:lnTo>
                  <a:lnTo>
                    <a:pt x="719" y="107"/>
                  </a:lnTo>
                  <a:lnTo>
                    <a:pt x="719" y="106"/>
                  </a:lnTo>
                  <a:lnTo>
                    <a:pt x="719" y="104"/>
                  </a:lnTo>
                  <a:lnTo>
                    <a:pt x="719" y="102"/>
                  </a:lnTo>
                  <a:lnTo>
                    <a:pt x="719" y="101"/>
                  </a:lnTo>
                  <a:lnTo>
                    <a:pt x="719" y="99"/>
                  </a:lnTo>
                  <a:close/>
                  <a:moveTo>
                    <a:pt x="0" y="83"/>
                  </a:moveTo>
                  <a:lnTo>
                    <a:pt x="0" y="84"/>
                  </a:lnTo>
                  <a:lnTo>
                    <a:pt x="0" y="88"/>
                  </a:lnTo>
                  <a:lnTo>
                    <a:pt x="0" y="89"/>
                  </a:lnTo>
                  <a:lnTo>
                    <a:pt x="0" y="91"/>
                  </a:lnTo>
                  <a:lnTo>
                    <a:pt x="0" y="93"/>
                  </a:lnTo>
                  <a:lnTo>
                    <a:pt x="0" y="94"/>
                  </a:lnTo>
                  <a:lnTo>
                    <a:pt x="0" y="98"/>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6"/>
                  </a:lnTo>
                  <a:lnTo>
                    <a:pt x="5" y="94"/>
                  </a:lnTo>
                  <a:lnTo>
                    <a:pt x="5" y="93"/>
                  </a:lnTo>
                  <a:lnTo>
                    <a:pt x="5" y="89"/>
                  </a:lnTo>
                  <a:lnTo>
                    <a:pt x="5" y="88"/>
                  </a:lnTo>
                  <a:lnTo>
                    <a:pt x="5" y="84"/>
                  </a:lnTo>
                  <a:lnTo>
                    <a:pt x="5" y="83"/>
                  </a:lnTo>
                  <a:lnTo>
                    <a:pt x="5" y="81"/>
                  </a:lnTo>
                  <a:lnTo>
                    <a:pt x="0" y="83"/>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92" name="Freeform 132">
              <a:extLst>
                <a:ext uri="{FF2B5EF4-FFF2-40B4-BE49-F238E27FC236}">
                  <a16:creationId xmlns:a16="http://schemas.microsoft.com/office/drawing/2014/main" id="{5A397751-B7B1-1306-5CBA-09BABA7689FB}"/>
                </a:ext>
              </a:extLst>
            </p:cNvPr>
            <p:cNvSpPr>
              <a:spLocks noEditPoints="1"/>
            </p:cNvSpPr>
            <p:nvPr/>
          </p:nvSpPr>
          <p:spPr bwMode="auto">
            <a:xfrm>
              <a:off x="1479" y="1514"/>
              <a:ext cx="713" cy="199"/>
            </a:xfrm>
            <a:custGeom>
              <a:avLst/>
              <a:gdLst>
                <a:gd name="T0" fmla="*/ 713 w 713"/>
                <a:gd name="T1" fmla="*/ 86 h 199"/>
                <a:gd name="T2" fmla="*/ 712 w 713"/>
                <a:gd name="T3" fmla="*/ 61 h 199"/>
                <a:gd name="T4" fmla="*/ 708 w 713"/>
                <a:gd name="T5" fmla="*/ 36 h 199"/>
                <a:gd name="T6" fmla="*/ 704 w 713"/>
                <a:gd name="T7" fmla="*/ 11 h 199"/>
                <a:gd name="T8" fmla="*/ 695 w 713"/>
                <a:gd name="T9" fmla="*/ 0 h 199"/>
                <a:gd name="T10" fmla="*/ 700 w 713"/>
                <a:gd name="T11" fmla="*/ 23 h 199"/>
                <a:gd name="T12" fmla="*/ 705 w 713"/>
                <a:gd name="T13" fmla="*/ 48 h 199"/>
                <a:gd name="T14" fmla="*/ 708 w 713"/>
                <a:gd name="T15" fmla="*/ 73 h 199"/>
                <a:gd name="T16" fmla="*/ 708 w 713"/>
                <a:gd name="T17" fmla="*/ 99 h 199"/>
                <a:gd name="T18" fmla="*/ 708 w 713"/>
                <a:gd name="T19" fmla="*/ 102 h 199"/>
                <a:gd name="T20" fmla="*/ 708 w 713"/>
                <a:gd name="T21" fmla="*/ 106 h 199"/>
                <a:gd name="T22" fmla="*/ 708 w 713"/>
                <a:gd name="T23" fmla="*/ 109 h 199"/>
                <a:gd name="T24" fmla="*/ 708 w 713"/>
                <a:gd name="T25" fmla="*/ 112 h 199"/>
                <a:gd name="T26" fmla="*/ 713 w 713"/>
                <a:gd name="T27" fmla="*/ 109 h 199"/>
                <a:gd name="T28" fmla="*/ 713 w 713"/>
                <a:gd name="T29" fmla="*/ 106 h 199"/>
                <a:gd name="T30" fmla="*/ 713 w 713"/>
                <a:gd name="T31" fmla="*/ 102 h 199"/>
                <a:gd name="T32" fmla="*/ 713 w 713"/>
                <a:gd name="T33" fmla="*/ 99 h 199"/>
                <a:gd name="T34" fmla="*/ 1 w 713"/>
                <a:gd name="T35" fmla="*/ 84 h 199"/>
                <a:gd name="T36" fmla="*/ 0 w 713"/>
                <a:gd name="T37" fmla="*/ 88 h 199"/>
                <a:gd name="T38" fmla="*/ 0 w 713"/>
                <a:gd name="T39" fmla="*/ 93 h 199"/>
                <a:gd name="T40" fmla="*/ 0 w 713"/>
                <a:gd name="T41" fmla="*/ 98 h 199"/>
                <a:gd name="T42" fmla="*/ 1 w 713"/>
                <a:gd name="T43" fmla="*/ 112 h 199"/>
                <a:gd name="T44" fmla="*/ 3 w 713"/>
                <a:gd name="T45" fmla="*/ 137 h 199"/>
                <a:gd name="T46" fmla="*/ 6 w 713"/>
                <a:gd name="T47" fmla="*/ 162 h 199"/>
                <a:gd name="T48" fmla="*/ 11 w 713"/>
                <a:gd name="T49" fmla="*/ 187 h 199"/>
                <a:gd name="T50" fmla="*/ 20 w 713"/>
                <a:gd name="T51" fmla="*/ 199 h 199"/>
                <a:gd name="T52" fmla="*/ 13 w 713"/>
                <a:gd name="T53" fmla="*/ 174 h 199"/>
                <a:gd name="T54" fmla="*/ 8 w 713"/>
                <a:gd name="T55" fmla="*/ 151 h 199"/>
                <a:gd name="T56" fmla="*/ 6 w 713"/>
                <a:gd name="T57" fmla="*/ 124 h 199"/>
                <a:gd name="T58" fmla="*/ 5 w 713"/>
                <a:gd name="T59" fmla="*/ 99 h 199"/>
                <a:gd name="T60" fmla="*/ 5 w 713"/>
                <a:gd name="T61" fmla="*/ 94 h 199"/>
                <a:gd name="T62" fmla="*/ 5 w 713"/>
                <a:gd name="T63" fmla="*/ 89 h 199"/>
                <a:gd name="T64" fmla="*/ 5 w 713"/>
                <a:gd name="T65" fmla="*/ 84 h 199"/>
                <a:gd name="T66" fmla="*/ 6 w 713"/>
                <a:gd name="T67" fmla="*/ 7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13" h="199">
                  <a:moveTo>
                    <a:pt x="713" y="99"/>
                  </a:moveTo>
                  <a:lnTo>
                    <a:pt x="713" y="86"/>
                  </a:lnTo>
                  <a:lnTo>
                    <a:pt x="713" y="73"/>
                  </a:lnTo>
                  <a:lnTo>
                    <a:pt x="712" y="61"/>
                  </a:lnTo>
                  <a:lnTo>
                    <a:pt x="710" y="48"/>
                  </a:lnTo>
                  <a:lnTo>
                    <a:pt x="708" y="36"/>
                  </a:lnTo>
                  <a:lnTo>
                    <a:pt x="705" y="23"/>
                  </a:lnTo>
                  <a:lnTo>
                    <a:pt x="704" y="11"/>
                  </a:lnTo>
                  <a:lnTo>
                    <a:pt x="700" y="0"/>
                  </a:lnTo>
                  <a:lnTo>
                    <a:pt x="695" y="0"/>
                  </a:lnTo>
                  <a:lnTo>
                    <a:pt x="699" y="11"/>
                  </a:lnTo>
                  <a:lnTo>
                    <a:pt x="700" y="23"/>
                  </a:lnTo>
                  <a:lnTo>
                    <a:pt x="704" y="36"/>
                  </a:lnTo>
                  <a:lnTo>
                    <a:pt x="705" y="48"/>
                  </a:lnTo>
                  <a:lnTo>
                    <a:pt x="707" y="61"/>
                  </a:lnTo>
                  <a:lnTo>
                    <a:pt x="708" y="73"/>
                  </a:lnTo>
                  <a:lnTo>
                    <a:pt x="708" y="86"/>
                  </a:lnTo>
                  <a:lnTo>
                    <a:pt x="708" y="99"/>
                  </a:lnTo>
                  <a:lnTo>
                    <a:pt x="708" y="101"/>
                  </a:lnTo>
                  <a:lnTo>
                    <a:pt x="708" y="102"/>
                  </a:lnTo>
                  <a:lnTo>
                    <a:pt x="708" y="104"/>
                  </a:lnTo>
                  <a:lnTo>
                    <a:pt x="708" y="106"/>
                  </a:lnTo>
                  <a:lnTo>
                    <a:pt x="708" y="107"/>
                  </a:lnTo>
                  <a:lnTo>
                    <a:pt x="708" y="109"/>
                  </a:lnTo>
                  <a:lnTo>
                    <a:pt x="708" y="111"/>
                  </a:lnTo>
                  <a:lnTo>
                    <a:pt x="708" y="112"/>
                  </a:lnTo>
                  <a:lnTo>
                    <a:pt x="713" y="111"/>
                  </a:lnTo>
                  <a:lnTo>
                    <a:pt x="713" y="109"/>
                  </a:lnTo>
                  <a:lnTo>
                    <a:pt x="713" y="107"/>
                  </a:lnTo>
                  <a:lnTo>
                    <a:pt x="713" y="106"/>
                  </a:lnTo>
                  <a:lnTo>
                    <a:pt x="713" y="104"/>
                  </a:lnTo>
                  <a:lnTo>
                    <a:pt x="713" y="102"/>
                  </a:lnTo>
                  <a:lnTo>
                    <a:pt x="713" y="101"/>
                  </a:lnTo>
                  <a:lnTo>
                    <a:pt x="713" y="99"/>
                  </a:lnTo>
                  <a:close/>
                  <a:moveTo>
                    <a:pt x="1" y="81"/>
                  </a:moveTo>
                  <a:lnTo>
                    <a:pt x="1" y="84"/>
                  </a:lnTo>
                  <a:lnTo>
                    <a:pt x="1" y="86"/>
                  </a:lnTo>
                  <a:lnTo>
                    <a:pt x="0" y="88"/>
                  </a:lnTo>
                  <a:lnTo>
                    <a:pt x="0" y="91"/>
                  </a:lnTo>
                  <a:lnTo>
                    <a:pt x="0" y="93"/>
                  </a:lnTo>
                  <a:lnTo>
                    <a:pt x="0" y="94"/>
                  </a:lnTo>
                  <a:lnTo>
                    <a:pt x="0" y="98"/>
                  </a:lnTo>
                  <a:lnTo>
                    <a:pt x="0" y="99"/>
                  </a:lnTo>
                  <a:lnTo>
                    <a:pt x="1" y="112"/>
                  </a:lnTo>
                  <a:lnTo>
                    <a:pt x="1" y="124"/>
                  </a:lnTo>
                  <a:lnTo>
                    <a:pt x="3" y="137"/>
                  </a:lnTo>
                  <a:lnTo>
                    <a:pt x="5" y="151"/>
                  </a:lnTo>
                  <a:lnTo>
                    <a:pt x="6" y="162"/>
                  </a:lnTo>
                  <a:lnTo>
                    <a:pt x="8" y="174"/>
                  </a:lnTo>
                  <a:lnTo>
                    <a:pt x="11" y="187"/>
                  </a:lnTo>
                  <a:lnTo>
                    <a:pt x="15" y="199"/>
                  </a:lnTo>
                  <a:lnTo>
                    <a:pt x="20" y="199"/>
                  </a:lnTo>
                  <a:lnTo>
                    <a:pt x="16" y="187"/>
                  </a:lnTo>
                  <a:lnTo>
                    <a:pt x="13" y="174"/>
                  </a:lnTo>
                  <a:lnTo>
                    <a:pt x="11" y="162"/>
                  </a:lnTo>
                  <a:lnTo>
                    <a:pt x="8" y="151"/>
                  </a:lnTo>
                  <a:lnTo>
                    <a:pt x="8" y="137"/>
                  </a:lnTo>
                  <a:lnTo>
                    <a:pt x="6" y="124"/>
                  </a:lnTo>
                  <a:lnTo>
                    <a:pt x="5" y="112"/>
                  </a:lnTo>
                  <a:lnTo>
                    <a:pt x="5" y="99"/>
                  </a:lnTo>
                  <a:lnTo>
                    <a:pt x="5" y="96"/>
                  </a:lnTo>
                  <a:lnTo>
                    <a:pt x="5" y="94"/>
                  </a:lnTo>
                  <a:lnTo>
                    <a:pt x="5" y="91"/>
                  </a:lnTo>
                  <a:lnTo>
                    <a:pt x="5" y="89"/>
                  </a:lnTo>
                  <a:lnTo>
                    <a:pt x="5" y="86"/>
                  </a:lnTo>
                  <a:lnTo>
                    <a:pt x="5" y="84"/>
                  </a:lnTo>
                  <a:lnTo>
                    <a:pt x="6" y="81"/>
                  </a:lnTo>
                  <a:lnTo>
                    <a:pt x="6" y="79"/>
                  </a:lnTo>
                  <a:lnTo>
                    <a:pt x="1" y="81"/>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93" name="Freeform 133">
              <a:extLst>
                <a:ext uri="{FF2B5EF4-FFF2-40B4-BE49-F238E27FC236}">
                  <a16:creationId xmlns:a16="http://schemas.microsoft.com/office/drawing/2014/main" id="{A62F0133-1629-67FA-7586-E2776313DEFB}"/>
                </a:ext>
              </a:extLst>
            </p:cNvPr>
            <p:cNvSpPr>
              <a:spLocks noEditPoints="1"/>
            </p:cNvSpPr>
            <p:nvPr/>
          </p:nvSpPr>
          <p:spPr bwMode="auto">
            <a:xfrm>
              <a:off x="1482" y="1514"/>
              <a:ext cx="709" cy="199"/>
            </a:xfrm>
            <a:custGeom>
              <a:avLst/>
              <a:gdLst>
                <a:gd name="T0" fmla="*/ 709 w 709"/>
                <a:gd name="T1" fmla="*/ 86 h 199"/>
                <a:gd name="T2" fmla="*/ 707 w 709"/>
                <a:gd name="T3" fmla="*/ 61 h 199"/>
                <a:gd name="T4" fmla="*/ 702 w 709"/>
                <a:gd name="T5" fmla="*/ 36 h 199"/>
                <a:gd name="T6" fmla="*/ 697 w 709"/>
                <a:gd name="T7" fmla="*/ 11 h 199"/>
                <a:gd name="T8" fmla="*/ 689 w 709"/>
                <a:gd name="T9" fmla="*/ 0 h 199"/>
                <a:gd name="T10" fmla="*/ 696 w 709"/>
                <a:gd name="T11" fmla="*/ 23 h 199"/>
                <a:gd name="T12" fmla="*/ 701 w 709"/>
                <a:gd name="T13" fmla="*/ 48 h 199"/>
                <a:gd name="T14" fmla="*/ 702 w 709"/>
                <a:gd name="T15" fmla="*/ 73 h 199"/>
                <a:gd name="T16" fmla="*/ 704 w 709"/>
                <a:gd name="T17" fmla="*/ 99 h 199"/>
                <a:gd name="T18" fmla="*/ 704 w 709"/>
                <a:gd name="T19" fmla="*/ 102 h 199"/>
                <a:gd name="T20" fmla="*/ 704 w 709"/>
                <a:gd name="T21" fmla="*/ 106 h 199"/>
                <a:gd name="T22" fmla="*/ 704 w 709"/>
                <a:gd name="T23" fmla="*/ 111 h 199"/>
                <a:gd name="T24" fmla="*/ 704 w 709"/>
                <a:gd name="T25" fmla="*/ 114 h 199"/>
                <a:gd name="T26" fmla="*/ 709 w 709"/>
                <a:gd name="T27" fmla="*/ 109 h 199"/>
                <a:gd name="T28" fmla="*/ 709 w 709"/>
                <a:gd name="T29" fmla="*/ 106 h 199"/>
                <a:gd name="T30" fmla="*/ 709 w 709"/>
                <a:gd name="T31" fmla="*/ 102 h 199"/>
                <a:gd name="T32" fmla="*/ 709 w 709"/>
                <a:gd name="T33" fmla="*/ 99 h 199"/>
                <a:gd name="T34" fmla="*/ 0 w 709"/>
                <a:gd name="T35" fmla="*/ 83 h 199"/>
                <a:gd name="T36" fmla="*/ 0 w 709"/>
                <a:gd name="T37" fmla="*/ 88 h 199"/>
                <a:gd name="T38" fmla="*/ 0 w 709"/>
                <a:gd name="T39" fmla="*/ 93 h 199"/>
                <a:gd name="T40" fmla="*/ 0 w 709"/>
                <a:gd name="T41" fmla="*/ 96 h 199"/>
                <a:gd name="T42" fmla="*/ 0 w 709"/>
                <a:gd name="T43" fmla="*/ 112 h 199"/>
                <a:gd name="T44" fmla="*/ 2 w 709"/>
                <a:gd name="T45" fmla="*/ 137 h 199"/>
                <a:gd name="T46" fmla="*/ 5 w 709"/>
                <a:gd name="T47" fmla="*/ 162 h 199"/>
                <a:gd name="T48" fmla="*/ 10 w 709"/>
                <a:gd name="T49" fmla="*/ 187 h 199"/>
                <a:gd name="T50" fmla="*/ 18 w 709"/>
                <a:gd name="T51" fmla="*/ 199 h 199"/>
                <a:gd name="T52" fmla="*/ 13 w 709"/>
                <a:gd name="T53" fmla="*/ 174 h 199"/>
                <a:gd name="T54" fmla="*/ 8 w 709"/>
                <a:gd name="T55" fmla="*/ 151 h 199"/>
                <a:gd name="T56" fmla="*/ 5 w 709"/>
                <a:gd name="T57" fmla="*/ 124 h 199"/>
                <a:gd name="T58" fmla="*/ 5 w 709"/>
                <a:gd name="T59" fmla="*/ 99 h 199"/>
                <a:gd name="T60" fmla="*/ 5 w 709"/>
                <a:gd name="T61" fmla="*/ 94 h 199"/>
                <a:gd name="T62" fmla="*/ 5 w 709"/>
                <a:gd name="T63" fmla="*/ 89 h 199"/>
                <a:gd name="T64" fmla="*/ 5 w 709"/>
                <a:gd name="T65" fmla="*/ 83 h 199"/>
                <a:gd name="T66" fmla="*/ 5 w 709"/>
                <a:gd name="T67" fmla="*/ 7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09" h="199">
                  <a:moveTo>
                    <a:pt x="709" y="99"/>
                  </a:moveTo>
                  <a:lnTo>
                    <a:pt x="709" y="86"/>
                  </a:lnTo>
                  <a:lnTo>
                    <a:pt x="707" y="73"/>
                  </a:lnTo>
                  <a:lnTo>
                    <a:pt x="707" y="61"/>
                  </a:lnTo>
                  <a:lnTo>
                    <a:pt x="705" y="48"/>
                  </a:lnTo>
                  <a:lnTo>
                    <a:pt x="702" y="36"/>
                  </a:lnTo>
                  <a:lnTo>
                    <a:pt x="701" y="23"/>
                  </a:lnTo>
                  <a:lnTo>
                    <a:pt x="697" y="11"/>
                  </a:lnTo>
                  <a:lnTo>
                    <a:pt x="694" y="0"/>
                  </a:lnTo>
                  <a:lnTo>
                    <a:pt x="689" y="0"/>
                  </a:lnTo>
                  <a:lnTo>
                    <a:pt x="692" y="11"/>
                  </a:lnTo>
                  <a:lnTo>
                    <a:pt x="696" y="23"/>
                  </a:lnTo>
                  <a:lnTo>
                    <a:pt x="699" y="36"/>
                  </a:lnTo>
                  <a:lnTo>
                    <a:pt x="701" y="48"/>
                  </a:lnTo>
                  <a:lnTo>
                    <a:pt x="702" y="61"/>
                  </a:lnTo>
                  <a:lnTo>
                    <a:pt x="702" y="73"/>
                  </a:lnTo>
                  <a:lnTo>
                    <a:pt x="704" y="86"/>
                  </a:lnTo>
                  <a:lnTo>
                    <a:pt x="704" y="99"/>
                  </a:lnTo>
                  <a:lnTo>
                    <a:pt x="704" y="101"/>
                  </a:lnTo>
                  <a:lnTo>
                    <a:pt x="704" y="102"/>
                  </a:lnTo>
                  <a:lnTo>
                    <a:pt x="704" y="104"/>
                  </a:lnTo>
                  <a:lnTo>
                    <a:pt x="704" y="106"/>
                  </a:lnTo>
                  <a:lnTo>
                    <a:pt x="704" y="107"/>
                  </a:lnTo>
                  <a:lnTo>
                    <a:pt x="704" y="111"/>
                  </a:lnTo>
                  <a:lnTo>
                    <a:pt x="704" y="112"/>
                  </a:lnTo>
                  <a:lnTo>
                    <a:pt x="704" y="114"/>
                  </a:lnTo>
                  <a:lnTo>
                    <a:pt x="709" y="111"/>
                  </a:lnTo>
                  <a:lnTo>
                    <a:pt x="709" y="109"/>
                  </a:lnTo>
                  <a:lnTo>
                    <a:pt x="709" y="107"/>
                  </a:lnTo>
                  <a:lnTo>
                    <a:pt x="709" y="106"/>
                  </a:lnTo>
                  <a:lnTo>
                    <a:pt x="709" y="104"/>
                  </a:lnTo>
                  <a:lnTo>
                    <a:pt x="709" y="102"/>
                  </a:lnTo>
                  <a:lnTo>
                    <a:pt x="709" y="101"/>
                  </a:lnTo>
                  <a:lnTo>
                    <a:pt x="709" y="99"/>
                  </a:lnTo>
                  <a:close/>
                  <a:moveTo>
                    <a:pt x="0" y="81"/>
                  </a:moveTo>
                  <a:lnTo>
                    <a:pt x="0" y="83"/>
                  </a:lnTo>
                  <a:lnTo>
                    <a:pt x="0" y="84"/>
                  </a:lnTo>
                  <a:lnTo>
                    <a:pt x="0" y="88"/>
                  </a:lnTo>
                  <a:lnTo>
                    <a:pt x="0" y="89"/>
                  </a:lnTo>
                  <a:lnTo>
                    <a:pt x="0" y="93"/>
                  </a:lnTo>
                  <a:lnTo>
                    <a:pt x="0" y="94"/>
                  </a:lnTo>
                  <a:lnTo>
                    <a:pt x="0" y="96"/>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6"/>
                  </a:lnTo>
                  <a:lnTo>
                    <a:pt x="5" y="94"/>
                  </a:lnTo>
                  <a:lnTo>
                    <a:pt x="5" y="91"/>
                  </a:lnTo>
                  <a:lnTo>
                    <a:pt x="5" y="89"/>
                  </a:lnTo>
                  <a:lnTo>
                    <a:pt x="5" y="86"/>
                  </a:lnTo>
                  <a:lnTo>
                    <a:pt x="5" y="83"/>
                  </a:lnTo>
                  <a:lnTo>
                    <a:pt x="5" y="81"/>
                  </a:lnTo>
                  <a:lnTo>
                    <a:pt x="5" y="78"/>
                  </a:lnTo>
                  <a:lnTo>
                    <a:pt x="0" y="81"/>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94" name="Freeform 134">
              <a:extLst>
                <a:ext uri="{FF2B5EF4-FFF2-40B4-BE49-F238E27FC236}">
                  <a16:creationId xmlns:a16="http://schemas.microsoft.com/office/drawing/2014/main" id="{7A82764D-F2C6-9019-86A7-135ADF8DB317}"/>
                </a:ext>
              </a:extLst>
            </p:cNvPr>
            <p:cNvSpPr>
              <a:spLocks noEditPoints="1"/>
            </p:cNvSpPr>
            <p:nvPr/>
          </p:nvSpPr>
          <p:spPr bwMode="auto">
            <a:xfrm>
              <a:off x="1484" y="1514"/>
              <a:ext cx="703" cy="199"/>
            </a:xfrm>
            <a:custGeom>
              <a:avLst/>
              <a:gdLst>
                <a:gd name="T0" fmla="*/ 703 w 703"/>
                <a:gd name="T1" fmla="*/ 86 h 199"/>
                <a:gd name="T2" fmla="*/ 702 w 703"/>
                <a:gd name="T3" fmla="*/ 61 h 199"/>
                <a:gd name="T4" fmla="*/ 699 w 703"/>
                <a:gd name="T5" fmla="*/ 36 h 199"/>
                <a:gd name="T6" fmla="*/ 694 w 703"/>
                <a:gd name="T7" fmla="*/ 11 h 199"/>
                <a:gd name="T8" fmla="*/ 685 w 703"/>
                <a:gd name="T9" fmla="*/ 0 h 199"/>
                <a:gd name="T10" fmla="*/ 692 w 703"/>
                <a:gd name="T11" fmla="*/ 23 h 199"/>
                <a:gd name="T12" fmla="*/ 695 w 703"/>
                <a:gd name="T13" fmla="*/ 48 h 199"/>
                <a:gd name="T14" fmla="*/ 699 w 703"/>
                <a:gd name="T15" fmla="*/ 73 h 199"/>
                <a:gd name="T16" fmla="*/ 700 w 703"/>
                <a:gd name="T17" fmla="*/ 99 h 199"/>
                <a:gd name="T18" fmla="*/ 699 w 703"/>
                <a:gd name="T19" fmla="*/ 102 h 199"/>
                <a:gd name="T20" fmla="*/ 699 w 703"/>
                <a:gd name="T21" fmla="*/ 107 h 199"/>
                <a:gd name="T22" fmla="*/ 699 w 703"/>
                <a:gd name="T23" fmla="*/ 111 h 199"/>
                <a:gd name="T24" fmla="*/ 699 w 703"/>
                <a:gd name="T25" fmla="*/ 114 h 199"/>
                <a:gd name="T26" fmla="*/ 703 w 703"/>
                <a:gd name="T27" fmla="*/ 111 h 199"/>
                <a:gd name="T28" fmla="*/ 703 w 703"/>
                <a:gd name="T29" fmla="*/ 107 h 199"/>
                <a:gd name="T30" fmla="*/ 703 w 703"/>
                <a:gd name="T31" fmla="*/ 104 h 199"/>
                <a:gd name="T32" fmla="*/ 703 w 703"/>
                <a:gd name="T33" fmla="*/ 101 h 199"/>
                <a:gd name="T34" fmla="*/ 1 w 703"/>
                <a:gd name="T35" fmla="*/ 79 h 199"/>
                <a:gd name="T36" fmla="*/ 0 w 703"/>
                <a:gd name="T37" fmla="*/ 84 h 199"/>
                <a:gd name="T38" fmla="*/ 0 w 703"/>
                <a:gd name="T39" fmla="*/ 89 h 199"/>
                <a:gd name="T40" fmla="*/ 0 w 703"/>
                <a:gd name="T41" fmla="*/ 94 h 199"/>
                <a:gd name="T42" fmla="*/ 0 w 703"/>
                <a:gd name="T43" fmla="*/ 99 h 199"/>
                <a:gd name="T44" fmla="*/ 1 w 703"/>
                <a:gd name="T45" fmla="*/ 124 h 199"/>
                <a:gd name="T46" fmla="*/ 3 w 703"/>
                <a:gd name="T47" fmla="*/ 151 h 199"/>
                <a:gd name="T48" fmla="*/ 8 w 703"/>
                <a:gd name="T49" fmla="*/ 174 h 199"/>
                <a:gd name="T50" fmla="*/ 15 w 703"/>
                <a:gd name="T51" fmla="*/ 199 h 199"/>
                <a:gd name="T52" fmla="*/ 16 w 703"/>
                <a:gd name="T53" fmla="*/ 187 h 199"/>
                <a:gd name="T54" fmla="*/ 11 w 703"/>
                <a:gd name="T55" fmla="*/ 162 h 199"/>
                <a:gd name="T56" fmla="*/ 6 w 703"/>
                <a:gd name="T57" fmla="*/ 137 h 199"/>
                <a:gd name="T58" fmla="*/ 5 w 703"/>
                <a:gd name="T59" fmla="*/ 112 h 199"/>
                <a:gd name="T60" fmla="*/ 5 w 703"/>
                <a:gd name="T61" fmla="*/ 96 h 199"/>
                <a:gd name="T62" fmla="*/ 5 w 703"/>
                <a:gd name="T63" fmla="*/ 91 h 199"/>
                <a:gd name="T64" fmla="*/ 5 w 703"/>
                <a:gd name="T65" fmla="*/ 86 h 199"/>
                <a:gd name="T66" fmla="*/ 6 w 703"/>
                <a:gd name="T67" fmla="*/ 79 h 199"/>
                <a:gd name="T68" fmla="*/ 1 w 703"/>
                <a:gd name="T69" fmla="*/ 7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3" h="199">
                  <a:moveTo>
                    <a:pt x="703" y="99"/>
                  </a:moveTo>
                  <a:lnTo>
                    <a:pt x="703" y="86"/>
                  </a:lnTo>
                  <a:lnTo>
                    <a:pt x="703" y="73"/>
                  </a:lnTo>
                  <a:lnTo>
                    <a:pt x="702" y="61"/>
                  </a:lnTo>
                  <a:lnTo>
                    <a:pt x="700" y="48"/>
                  </a:lnTo>
                  <a:lnTo>
                    <a:pt x="699" y="36"/>
                  </a:lnTo>
                  <a:lnTo>
                    <a:pt x="695" y="23"/>
                  </a:lnTo>
                  <a:lnTo>
                    <a:pt x="694" y="11"/>
                  </a:lnTo>
                  <a:lnTo>
                    <a:pt x="690" y="0"/>
                  </a:lnTo>
                  <a:lnTo>
                    <a:pt x="685" y="0"/>
                  </a:lnTo>
                  <a:lnTo>
                    <a:pt x="689" y="11"/>
                  </a:lnTo>
                  <a:lnTo>
                    <a:pt x="692" y="23"/>
                  </a:lnTo>
                  <a:lnTo>
                    <a:pt x="694" y="36"/>
                  </a:lnTo>
                  <a:lnTo>
                    <a:pt x="695" y="48"/>
                  </a:lnTo>
                  <a:lnTo>
                    <a:pt x="697" y="61"/>
                  </a:lnTo>
                  <a:lnTo>
                    <a:pt x="699" y="73"/>
                  </a:lnTo>
                  <a:lnTo>
                    <a:pt x="699" y="86"/>
                  </a:lnTo>
                  <a:lnTo>
                    <a:pt x="700" y="99"/>
                  </a:lnTo>
                  <a:lnTo>
                    <a:pt x="700" y="101"/>
                  </a:lnTo>
                  <a:lnTo>
                    <a:pt x="699" y="102"/>
                  </a:lnTo>
                  <a:lnTo>
                    <a:pt x="699" y="104"/>
                  </a:lnTo>
                  <a:lnTo>
                    <a:pt x="699" y="107"/>
                  </a:lnTo>
                  <a:lnTo>
                    <a:pt x="699" y="109"/>
                  </a:lnTo>
                  <a:lnTo>
                    <a:pt x="699" y="111"/>
                  </a:lnTo>
                  <a:lnTo>
                    <a:pt x="699" y="112"/>
                  </a:lnTo>
                  <a:lnTo>
                    <a:pt x="699" y="114"/>
                  </a:lnTo>
                  <a:lnTo>
                    <a:pt x="703" y="112"/>
                  </a:lnTo>
                  <a:lnTo>
                    <a:pt x="703" y="111"/>
                  </a:lnTo>
                  <a:lnTo>
                    <a:pt x="703" y="109"/>
                  </a:lnTo>
                  <a:lnTo>
                    <a:pt x="703" y="107"/>
                  </a:lnTo>
                  <a:lnTo>
                    <a:pt x="703" y="106"/>
                  </a:lnTo>
                  <a:lnTo>
                    <a:pt x="703" y="104"/>
                  </a:lnTo>
                  <a:lnTo>
                    <a:pt x="703" y="102"/>
                  </a:lnTo>
                  <a:lnTo>
                    <a:pt x="703" y="101"/>
                  </a:lnTo>
                  <a:lnTo>
                    <a:pt x="703" y="99"/>
                  </a:lnTo>
                  <a:close/>
                  <a:moveTo>
                    <a:pt x="1" y="79"/>
                  </a:moveTo>
                  <a:lnTo>
                    <a:pt x="1" y="81"/>
                  </a:lnTo>
                  <a:lnTo>
                    <a:pt x="0" y="84"/>
                  </a:lnTo>
                  <a:lnTo>
                    <a:pt x="0" y="86"/>
                  </a:lnTo>
                  <a:lnTo>
                    <a:pt x="0" y="89"/>
                  </a:lnTo>
                  <a:lnTo>
                    <a:pt x="0" y="91"/>
                  </a:lnTo>
                  <a:lnTo>
                    <a:pt x="0" y="94"/>
                  </a:lnTo>
                  <a:lnTo>
                    <a:pt x="0" y="96"/>
                  </a:lnTo>
                  <a:lnTo>
                    <a:pt x="0" y="99"/>
                  </a:lnTo>
                  <a:lnTo>
                    <a:pt x="0" y="112"/>
                  </a:lnTo>
                  <a:lnTo>
                    <a:pt x="1" y="124"/>
                  </a:lnTo>
                  <a:lnTo>
                    <a:pt x="3" y="137"/>
                  </a:lnTo>
                  <a:lnTo>
                    <a:pt x="3" y="151"/>
                  </a:lnTo>
                  <a:lnTo>
                    <a:pt x="6" y="162"/>
                  </a:lnTo>
                  <a:lnTo>
                    <a:pt x="8" y="174"/>
                  </a:lnTo>
                  <a:lnTo>
                    <a:pt x="11" y="187"/>
                  </a:lnTo>
                  <a:lnTo>
                    <a:pt x="15" y="199"/>
                  </a:lnTo>
                  <a:lnTo>
                    <a:pt x="20" y="199"/>
                  </a:lnTo>
                  <a:lnTo>
                    <a:pt x="16" y="187"/>
                  </a:lnTo>
                  <a:lnTo>
                    <a:pt x="13" y="174"/>
                  </a:lnTo>
                  <a:lnTo>
                    <a:pt x="11" y="162"/>
                  </a:lnTo>
                  <a:lnTo>
                    <a:pt x="8" y="151"/>
                  </a:lnTo>
                  <a:lnTo>
                    <a:pt x="6" y="137"/>
                  </a:lnTo>
                  <a:lnTo>
                    <a:pt x="6" y="124"/>
                  </a:lnTo>
                  <a:lnTo>
                    <a:pt x="5" y="112"/>
                  </a:lnTo>
                  <a:lnTo>
                    <a:pt x="5" y="99"/>
                  </a:lnTo>
                  <a:lnTo>
                    <a:pt x="5" y="96"/>
                  </a:lnTo>
                  <a:lnTo>
                    <a:pt x="5" y="94"/>
                  </a:lnTo>
                  <a:lnTo>
                    <a:pt x="5" y="91"/>
                  </a:lnTo>
                  <a:lnTo>
                    <a:pt x="5" y="88"/>
                  </a:lnTo>
                  <a:lnTo>
                    <a:pt x="5" y="86"/>
                  </a:lnTo>
                  <a:lnTo>
                    <a:pt x="5" y="83"/>
                  </a:lnTo>
                  <a:lnTo>
                    <a:pt x="6" y="79"/>
                  </a:lnTo>
                  <a:lnTo>
                    <a:pt x="6" y="78"/>
                  </a:lnTo>
                  <a:lnTo>
                    <a:pt x="1" y="79"/>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95" name="Freeform 135">
              <a:extLst>
                <a:ext uri="{FF2B5EF4-FFF2-40B4-BE49-F238E27FC236}">
                  <a16:creationId xmlns:a16="http://schemas.microsoft.com/office/drawing/2014/main" id="{61F751AE-FAFD-8201-0225-0F72EA3CB341}"/>
                </a:ext>
              </a:extLst>
            </p:cNvPr>
            <p:cNvSpPr>
              <a:spLocks noEditPoints="1"/>
            </p:cNvSpPr>
            <p:nvPr/>
          </p:nvSpPr>
          <p:spPr bwMode="auto">
            <a:xfrm>
              <a:off x="1487" y="1514"/>
              <a:ext cx="699" cy="199"/>
            </a:xfrm>
            <a:custGeom>
              <a:avLst/>
              <a:gdLst>
                <a:gd name="T0" fmla="*/ 699 w 699"/>
                <a:gd name="T1" fmla="*/ 86 h 199"/>
                <a:gd name="T2" fmla="*/ 697 w 699"/>
                <a:gd name="T3" fmla="*/ 61 h 199"/>
                <a:gd name="T4" fmla="*/ 694 w 699"/>
                <a:gd name="T5" fmla="*/ 36 h 199"/>
                <a:gd name="T6" fmla="*/ 687 w 699"/>
                <a:gd name="T7" fmla="*/ 11 h 199"/>
                <a:gd name="T8" fmla="*/ 679 w 699"/>
                <a:gd name="T9" fmla="*/ 0 h 199"/>
                <a:gd name="T10" fmla="*/ 686 w 699"/>
                <a:gd name="T11" fmla="*/ 23 h 199"/>
                <a:gd name="T12" fmla="*/ 691 w 699"/>
                <a:gd name="T13" fmla="*/ 48 h 199"/>
                <a:gd name="T14" fmla="*/ 692 w 699"/>
                <a:gd name="T15" fmla="*/ 73 h 199"/>
                <a:gd name="T16" fmla="*/ 694 w 699"/>
                <a:gd name="T17" fmla="*/ 99 h 199"/>
                <a:gd name="T18" fmla="*/ 694 w 699"/>
                <a:gd name="T19" fmla="*/ 102 h 199"/>
                <a:gd name="T20" fmla="*/ 694 w 699"/>
                <a:gd name="T21" fmla="*/ 107 h 199"/>
                <a:gd name="T22" fmla="*/ 694 w 699"/>
                <a:gd name="T23" fmla="*/ 112 h 199"/>
                <a:gd name="T24" fmla="*/ 694 w 699"/>
                <a:gd name="T25" fmla="*/ 116 h 199"/>
                <a:gd name="T26" fmla="*/ 699 w 699"/>
                <a:gd name="T27" fmla="*/ 112 h 199"/>
                <a:gd name="T28" fmla="*/ 699 w 699"/>
                <a:gd name="T29" fmla="*/ 107 h 199"/>
                <a:gd name="T30" fmla="*/ 699 w 699"/>
                <a:gd name="T31" fmla="*/ 104 h 199"/>
                <a:gd name="T32" fmla="*/ 699 w 699"/>
                <a:gd name="T33" fmla="*/ 101 h 199"/>
                <a:gd name="T34" fmla="*/ 0 w 699"/>
                <a:gd name="T35" fmla="*/ 78 h 199"/>
                <a:gd name="T36" fmla="*/ 0 w 699"/>
                <a:gd name="T37" fmla="*/ 83 h 199"/>
                <a:gd name="T38" fmla="*/ 0 w 699"/>
                <a:gd name="T39" fmla="*/ 89 h 199"/>
                <a:gd name="T40" fmla="*/ 0 w 699"/>
                <a:gd name="T41" fmla="*/ 94 h 199"/>
                <a:gd name="T42" fmla="*/ 0 w 699"/>
                <a:gd name="T43" fmla="*/ 99 h 199"/>
                <a:gd name="T44" fmla="*/ 0 w 699"/>
                <a:gd name="T45" fmla="*/ 124 h 199"/>
                <a:gd name="T46" fmla="*/ 3 w 699"/>
                <a:gd name="T47" fmla="*/ 151 h 199"/>
                <a:gd name="T48" fmla="*/ 8 w 699"/>
                <a:gd name="T49" fmla="*/ 174 h 199"/>
                <a:gd name="T50" fmla="*/ 13 w 699"/>
                <a:gd name="T51" fmla="*/ 199 h 199"/>
                <a:gd name="T52" fmla="*/ 15 w 699"/>
                <a:gd name="T53" fmla="*/ 187 h 199"/>
                <a:gd name="T54" fmla="*/ 10 w 699"/>
                <a:gd name="T55" fmla="*/ 162 h 199"/>
                <a:gd name="T56" fmla="*/ 7 w 699"/>
                <a:gd name="T57" fmla="*/ 137 h 199"/>
                <a:gd name="T58" fmla="*/ 5 w 699"/>
                <a:gd name="T59" fmla="*/ 112 h 199"/>
                <a:gd name="T60" fmla="*/ 5 w 699"/>
                <a:gd name="T61" fmla="*/ 96 h 199"/>
                <a:gd name="T62" fmla="*/ 5 w 699"/>
                <a:gd name="T63" fmla="*/ 91 h 199"/>
                <a:gd name="T64" fmla="*/ 5 w 699"/>
                <a:gd name="T65" fmla="*/ 84 h 199"/>
                <a:gd name="T66" fmla="*/ 5 w 699"/>
                <a:gd name="T67" fmla="*/ 79 h 199"/>
                <a:gd name="T68" fmla="*/ 0 w 699"/>
                <a:gd name="T69" fmla="*/ 7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9" h="199">
                  <a:moveTo>
                    <a:pt x="699" y="99"/>
                  </a:moveTo>
                  <a:lnTo>
                    <a:pt x="699" y="86"/>
                  </a:lnTo>
                  <a:lnTo>
                    <a:pt x="697" y="73"/>
                  </a:lnTo>
                  <a:lnTo>
                    <a:pt x="697" y="61"/>
                  </a:lnTo>
                  <a:lnTo>
                    <a:pt x="696" y="48"/>
                  </a:lnTo>
                  <a:lnTo>
                    <a:pt x="694" y="36"/>
                  </a:lnTo>
                  <a:lnTo>
                    <a:pt x="691" y="23"/>
                  </a:lnTo>
                  <a:lnTo>
                    <a:pt x="687" y="11"/>
                  </a:lnTo>
                  <a:lnTo>
                    <a:pt x="684" y="0"/>
                  </a:lnTo>
                  <a:lnTo>
                    <a:pt x="679" y="0"/>
                  </a:lnTo>
                  <a:lnTo>
                    <a:pt x="682" y="11"/>
                  </a:lnTo>
                  <a:lnTo>
                    <a:pt x="686" y="23"/>
                  </a:lnTo>
                  <a:lnTo>
                    <a:pt x="689" y="36"/>
                  </a:lnTo>
                  <a:lnTo>
                    <a:pt x="691" y="48"/>
                  </a:lnTo>
                  <a:lnTo>
                    <a:pt x="692" y="61"/>
                  </a:lnTo>
                  <a:lnTo>
                    <a:pt x="692" y="73"/>
                  </a:lnTo>
                  <a:lnTo>
                    <a:pt x="694" y="86"/>
                  </a:lnTo>
                  <a:lnTo>
                    <a:pt x="694" y="99"/>
                  </a:lnTo>
                  <a:lnTo>
                    <a:pt x="694" y="101"/>
                  </a:lnTo>
                  <a:lnTo>
                    <a:pt x="694" y="102"/>
                  </a:lnTo>
                  <a:lnTo>
                    <a:pt x="694" y="106"/>
                  </a:lnTo>
                  <a:lnTo>
                    <a:pt x="694" y="107"/>
                  </a:lnTo>
                  <a:lnTo>
                    <a:pt x="694" y="109"/>
                  </a:lnTo>
                  <a:lnTo>
                    <a:pt x="694" y="112"/>
                  </a:lnTo>
                  <a:lnTo>
                    <a:pt x="694" y="114"/>
                  </a:lnTo>
                  <a:lnTo>
                    <a:pt x="694" y="116"/>
                  </a:lnTo>
                  <a:lnTo>
                    <a:pt x="699" y="114"/>
                  </a:lnTo>
                  <a:lnTo>
                    <a:pt x="699" y="112"/>
                  </a:lnTo>
                  <a:lnTo>
                    <a:pt x="699" y="111"/>
                  </a:lnTo>
                  <a:lnTo>
                    <a:pt x="699" y="107"/>
                  </a:lnTo>
                  <a:lnTo>
                    <a:pt x="699" y="106"/>
                  </a:lnTo>
                  <a:lnTo>
                    <a:pt x="699" y="104"/>
                  </a:lnTo>
                  <a:lnTo>
                    <a:pt x="699" y="102"/>
                  </a:lnTo>
                  <a:lnTo>
                    <a:pt x="699" y="101"/>
                  </a:lnTo>
                  <a:lnTo>
                    <a:pt x="699" y="99"/>
                  </a:lnTo>
                  <a:close/>
                  <a:moveTo>
                    <a:pt x="0" y="78"/>
                  </a:moveTo>
                  <a:lnTo>
                    <a:pt x="0" y="81"/>
                  </a:lnTo>
                  <a:lnTo>
                    <a:pt x="0" y="83"/>
                  </a:lnTo>
                  <a:lnTo>
                    <a:pt x="0" y="86"/>
                  </a:lnTo>
                  <a:lnTo>
                    <a:pt x="0" y="89"/>
                  </a:lnTo>
                  <a:lnTo>
                    <a:pt x="0" y="91"/>
                  </a:lnTo>
                  <a:lnTo>
                    <a:pt x="0" y="94"/>
                  </a:lnTo>
                  <a:lnTo>
                    <a:pt x="0" y="96"/>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6"/>
                  </a:lnTo>
                  <a:lnTo>
                    <a:pt x="5" y="93"/>
                  </a:lnTo>
                  <a:lnTo>
                    <a:pt x="5" y="91"/>
                  </a:lnTo>
                  <a:lnTo>
                    <a:pt x="5" y="88"/>
                  </a:lnTo>
                  <a:lnTo>
                    <a:pt x="5" y="84"/>
                  </a:lnTo>
                  <a:lnTo>
                    <a:pt x="5" y="81"/>
                  </a:lnTo>
                  <a:lnTo>
                    <a:pt x="5" y="79"/>
                  </a:lnTo>
                  <a:lnTo>
                    <a:pt x="5" y="76"/>
                  </a:lnTo>
                  <a:lnTo>
                    <a:pt x="0" y="78"/>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96" name="Freeform 136">
              <a:extLst>
                <a:ext uri="{FF2B5EF4-FFF2-40B4-BE49-F238E27FC236}">
                  <a16:creationId xmlns:a16="http://schemas.microsoft.com/office/drawing/2014/main" id="{19FF2C34-8671-6E3A-3788-254DE09B1E18}"/>
                </a:ext>
              </a:extLst>
            </p:cNvPr>
            <p:cNvSpPr>
              <a:spLocks noEditPoints="1"/>
            </p:cNvSpPr>
            <p:nvPr/>
          </p:nvSpPr>
          <p:spPr bwMode="auto">
            <a:xfrm>
              <a:off x="1489" y="1514"/>
              <a:ext cx="695" cy="199"/>
            </a:xfrm>
            <a:custGeom>
              <a:avLst/>
              <a:gdLst>
                <a:gd name="T0" fmla="*/ 694 w 695"/>
                <a:gd name="T1" fmla="*/ 86 h 199"/>
                <a:gd name="T2" fmla="*/ 692 w 695"/>
                <a:gd name="T3" fmla="*/ 61 h 199"/>
                <a:gd name="T4" fmla="*/ 689 w 695"/>
                <a:gd name="T5" fmla="*/ 36 h 199"/>
                <a:gd name="T6" fmla="*/ 684 w 695"/>
                <a:gd name="T7" fmla="*/ 11 h 199"/>
                <a:gd name="T8" fmla="*/ 675 w 695"/>
                <a:gd name="T9" fmla="*/ 0 h 199"/>
                <a:gd name="T10" fmla="*/ 682 w 695"/>
                <a:gd name="T11" fmla="*/ 23 h 199"/>
                <a:gd name="T12" fmla="*/ 685 w 695"/>
                <a:gd name="T13" fmla="*/ 48 h 199"/>
                <a:gd name="T14" fmla="*/ 689 w 695"/>
                <a:gd name="T15" fmla="*/ 73 h 199"/>
                <a:gd name="T16" fmla="*/ 690 w 695"/>
                <a:gd name="T17" fmla="*/ 99 h 199"/>
                <a:gd name="T18" fmla="*/ 690 w 695"/>
                <a:gd name="T19" fmla="*/ 104 h 199"/>
                <a:gd name="T20" fmla="*/ 690 w 695"/>
                <a:gd name="T21" fmla="*/ 107 h 199"/>
                <a:gd name="T22" fmla="*/ 689 w 695"/>
                <a:gd name="T23" fmla="*/ 112 h 199"/>
                <a:gd name="T24" fmla="*/ 689 w 695"/>
                <a:gd name="T25" fmla="*/ 117 h 199"/>
                <a:gd name="T26" fmla="*/ 694 w 695"/>
                <a:gd name="T27" fmla="*/ 112 h 199"/>
                <a:gd name="T28" fmla="*/ 694 w 695"/>
                <a:gd name="T29" fmla="*/ 109 h 199"/>
                <a:gd name="T30" fmla="*/ 694 w 695"/>
                <a:gd name="T31" fmla="*/ 104 h 199"/>
                <a:gd name="T32" fmla="*/ 695 w 695"/>
                <a:gd name="T33" fmla="*/ 101 h 199"/>
                <a:gd name="T34" fmla="*/ 1 w 695"/>
                <a:gd name="T35" fmla="*/ 78 h 199"/>
                <a:gd name="T36" fmla="*/ 0 w 695"/>
                <a:gd name="T37" fmla="*/ 83 h 199"/>
                <a:gd name="T38" fmla="*/ 0 w 695"/>
                <a:gd name="T39" fmla="*/ 88 h 199"/>
                <a:gd name="T40" fmla="*/ 0 w 695"/>
                <a:gd name="T41" fmla="*/ 94 h 199"/>
                <a:gd name="T42" fmla="*/ 0 w 695"/>
                <a:gd name="T43" fmla="*/ 99 h 199"/>
                <a:gd name="T44" fmla="*/ 1 w 695"/>
                <a:gd name="T45" fmla="*/ 124 h 199"/>
                <a:gd name="T46" fmla="*/ 3 w 695"/>
                <a:gd name="T47" fmla="*/ 151 h 199"/>
                <a:gd name="T48" fmla="*/ 8 w 695"/>
                <a:gd name="T49" fmla="*/ 174 h 199"/>
                <a:gd name="T50" fmla="*/ 15 w 695"/>
                <a:gd name="T51" fmla="*/ 199 h 199"/>
                <a:gd name="T52" fmla="*/ 16 w 695"/>
                <a:gd name="T53" fmla="*/ 187 h 199"/>
                <a:gd name="T54" fmla="*/ 11 w 695"/>
                <a:gd name="T55" fmla="*/ 162 h 199"/>
                <a:gd name="T56" fmla="*/ 6 w 695"/>
                <a:gd name="T57" fmla="*/ 137 h 199"/>
                <a:gd name="T58" fmla="*/ 5 w 695"/>
                <a:gd name="T59" fmla="*/ 112 h 199"/>
                <a:gd name="T60" fmla="*/ 5 w 695"/>
                <a:gd name="T61" fmla="*/ 96 h 199"/>
                <a:gd name="T62" fmla="*/ 5 w 695"/>
                <a:gd name="T63" fmla="*/ 89 h 199"/>
                <a:gd name="T64" fmla="*/ 5 w 695"/>
                <a:gd name="T65" fmla="*/ 84 h 199"/>
                <a:gd name="T66" fmla="*/ 5 w 695"/>
                <a:gd name="T67" fmla="*/ 78 h 199"/>
                <a:gd name="T68" fmla="*/ 1 w 695"/>
                <a:gd name="T69" fmla="*/ 7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5" h="199">
                  <a:moveTo>
                    <a:pt x="695" y="99"/>
                  </a:moveTo>
                  <a:lnTo>
                    <a:pt x="694" y="86"/>
                  </a:lnTo>
                  <a:lnTo>
                    <a:pt x="694" y="73"/>
                  </a:lnTo>
                  <a:lnTo>
                    <a:pt x="692" y="61"/>
                  </a:lnTo>
                  <a:lnTo>
                    <a:pt x="690" y="48"/>
                  </a:lnTo>
                  <a:lnTo>
                    <a:pt x="689" y="36"/>
                  </a:lnTo>
                  <a:lnTo>
                    <a:pt x="687" y="23"/>
                  </a:lnTo>
                  <a:lnTo>
                    <a:pt x="684" y="11"/>
                  </a:lnTo>
                  <a:lnTo>
                    <a:pt x="680" y="0"/>
                  </a:lnTo>
                  <a:lnTo>
                    <a:pt x="675" y="0"/>
                  </a:lnTo>
                  <a:lnTo>
                    <a:pt x="679" y="11"/>
                  </a:lnTo>
                  <a:lnTo>
                    <a:pt x="682" y="23"/>
                  </a:lnTo>
                  <a:lnTo>
                    <a:pt x="684" y="36"/>
                  </a:lnTo>
                  <a:lnTo>
                    <a:pt x="685" y="48"/>
                  </a:lnTo>
                  <a:lnTo>
                    <a:pt x="687" y="61"/>
                  </a:lnTo>
                  <a:lnTo>
                    <a:pt x="689" y="73"/>
                  </a:lnTo>
                  <a:lnTo>
                    <a:pt x="689" y="86"/>
                  </a:lnTo>
                  <a:lnTo>
                    <a:pt x="690" y="99"/>
                  </a:lnTo>
                  <a:lnTo>
                    <a:pt x="690" y="101"/>
                  </a:lnTo>
                  <a:lnTo>
                    <a:pt x="690" y="104"/>
                  </a:lnTo>
                  <a:lnTo>
                    <a:pt x="690" y="106"/>
                  </a:lnTo>
                  <a:lnTo>
                    <a:pt x="690" y="107"/>
                  </a:lnTo>
                  <a:lnTo>
                    <a:pt x="690" y="111"/>
                  </a:lnTo>
                  <a:lnTo>
                    <a:pt x="689" y="112"/>
                  </a:lnTo>
                  <a:lnTo>
                    <a:pt x="689" y="114"/>
                  </a:lnTo>
                  <a:lnTo>
                    <a:pt x="689" y="117"/>
                  </a:lnTo>
                  <a:lnTo>
                    <a:pt x="694" y="114"/>
                  </a:lnTo>
                  <a:lnTo>
                    <a:pt x="694" y="112"/>
                  </a:lnTo>
                  <a:lnTo>
                    <a:pt x="694" y="111"/>
                  </a:lnTo>
                  <a:lnTo>
                    <a:pt x="694" y="109"/>
                  </a:lnTo>
                  <a:lnTo>
                    <a:pt x="694" y="107"/>
                  </a:lnTo>
                  <a:lnTo>
                    <a:pt x="694" y="104"/>
                  </a:lnTo>
                  <a:lnTo>
                    <a:pt x="694" y="102"/>
                  </a:lnTo>
                  <a:lnTo>
                    <a:pt x="695" y="101"/>
                  </a:lnTo>
                  <a:lnTo>
                    <a:pt x="695" y="99"/>
                  </a:lnTo>
                  <a:close/>
                  <a:moveTo>
                    <a:pt x="1" y="78"/>
                  </a:moveTo>
                  <a:lnTo>
                    <a:pt x="1" y="79"/>
                  </a:lnTo>
                  <a:lnTo>
                    <a:pt x="0" y="83"/>
                  </a:lnTo>
                  <a:lnTo>
                    <a:pt x="0" y="86"/>
                  </a:lnTo>
                  <a:lnTo>
                    <a:pt x="0" y="88"/>
                  </a:lnTo>
                  <a:lnTo>
                    <a:pt x="0" y="91"/>
                  </a:lnTo>
                  <a:lnTo>
                    <a:pt x="0" y="94"/>
                  </a:lnTo>
                  <a:lnTo>
                    <a:pt x="0" y="96"/>
                  </a:lnTo>
                  <a:lnTo>
                    <a:pt x="0" y="99"/>
                  </a:lnTo>
                  <a:lnTo>
                    <a:pt x="0" y="112"/>
                  </a:lnTo>
                  <a:lnTo>
                    <a:pt x="1" y="124"/>
                  </a:lnTo>
                  <a:lnTo>
                    <a:pt x="1" y="137"/>
                  </a:lnTo>
                  <a:lnTo>
                    <a:pt x="3" y="151"/>
                  </a:lnTo>
                  <a:lnTo>
                    <a:pt x="6" y="162"/>
                  </a:lnTo>
                  <a:lnTo>
                    <a:pt x="8" y="174"/>
                  </a:lnTo>
                  <a:lnTo>
                    <a:pt x="11" y="187"/>
                  </a:lnTo>
                  <a:lnTo>
                    <a:pt x="15" y="199"/>
                  </a:lnTo>
                  <a:lnTo>
                    <a:pt x="20" y="199"/>
                  </a:lnTo>
                  <a:lnTo>
                    <a:pt x="16" y="187"/>
                  </a:lnTo>
                  <a:lnTo>
                    <a:pt x="13" y="174"/>
                  </a:lnTo>
                  <a:lnTo>
                    <a:pt x="11" y="162"/>
                  </a:lnTo>
                  <a:lnTo>
                    <a:pt x="8" y="151"/>
                  </a:lnTo>
                  <a:lnTo>
                    <a:pt x="6" y="137"/>
                  </a:lnTo>
                  <a:lnTo>
                    <a:pt x="6" y="124"/>
                  </a:lnTo>
                  <a:lnTo>
                    <a:pt x="5" y="112"/>
                  </a:lnTo>
                  <a:lnTo>
                    <a:pt x="5" y="99"/>
                  </a:lnTo>
                  <a:lnTo>
                    <a:pt x="5" y="96"/>
                  </a:lnTo>
                  <a:lnTo>
                    <a:pt x="5" y="93"/>
                  </a:lnTo>
                  <a:lnTo>
                    <a:pt x="5" y="89"/>
                  </a:lnTo>
                  <a:lnTo>
                    <a:pt x="5" y="88"/>
                  </a:lnTo>
                  <a:lnTo>
                    <a:pt x="5" y="84"/>
                  </a:lnTo>
                  <a:lnTo>
                    <a:pt x="5" y="81"/>
                  </a:lnTo>
                  <a:lnTo>
                    <a:pt x="5" y="78"/>
                  </a:lnTo>
                  <a:lnTo>
                    <a:pt x="6" y="74"/>
                  </a:lnTo>
                  <a:lnTo>
                    <a:pt x="1" y="78"/>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97" name="Freeform 137">
              <a:extLst>
                <a:ext uri="{FF2B5EF4-FFF2-40B4-BE49-F238E27FC236}">
                  <a16:creationId xmlns:a16="http://schemas.microsoft.com/office/drawing/2014/main" id="{099CBE66-F386-DA42-449B-408855E12AE6}"/>
                </a:ext>
              </a:extLst>
            </p:cNvPr>
            <p:cNvSpPr>
              <a:spLocks noEditPoints="1"/>
            </p:cNvSpPr>
            <p:nvPr/>
          </p:nvSpPr>
          <p:spPr bwMode="auto">
            <a:xfrm>
              <a:off x="1492" y="1514"/>
              <a:ext cx="689" cy="199"/>
            </a:xfrm>
            <a:custGeom>
              <a:avLst/>
              <a:gdLst>
                <a:gd name="T0" fmla="*/ 689 w 689"/>
                <a:gd name="T1" fmla="*/ 86 h 199"/>
                <a:gd name="T2" fmla="*/ 687 w 689"/>
                <a:gd name="T3" fmla="*/ 61 h 199"/>
                <a:gd name="T4" fmla="*/ 684 w 689"/>
                <a:gd name="T5" fmla="*/ 36 h 199"/>
                <a:gd name="T6" fmla="*/ 677 w 689"/>
                <a:gd name="T7" fmla="*/ 11 h 199"/>
                <a:gd name="T8" fmla="*/ 669 w 689"/>
                <a:gd name="T9" fmla="*/ 0 h 199"/>
                <a:gd name="T10" fmla="*/ 676 w 689"/>
                <a:gd name="T11" fmla="*/ 23 h 199"/>
                <a:gd name="T12" fmla="*/ 681 w 689"/>
                <a:gd name="T13" fmla="*/ 48 h 199"/>
                <a:gd name="T14" fmla="*/ 684 w 689"/>
                <a:gd name="T15" fmla="*/ 73 h 199"/>
                <a:gd name="T16" fmla="*/ 684 w 689"/>
                <a:gd name="T17" fmla="*/ 99 h 199"/>
                <a:gd name="T18" fmla="*/ 684 w 689"/>
                <a:gd name="T19" fmla="*/ 104 h 199"/>
                <a:gd name="T20" fmla="*/ 684 w 689"/>
                <a:gd name="T21" fmla="*/ 109 h 199"/>
                <a:gd name="T22" fmla="*/ 684 w 689"/>
                <a:gd name="T23" fmla="*/ 114 h 199"/>
                <a:gd name="T24" fmla="*/ 684 w 689"/>
                <a:gd name="T25" fmla="*/ 117 h 199"/>
                <a:gd name="T26" fmla="*/ 689 w 689"/>
                <a:gd name="T27" fmla="*/ 114 h 199"/>
                <a:gd name="T28" fmla="*/ 689 w 689"/>
                <a:gd name="T29" fmla="*/ 109 h 199"/>
                <a:gd name="T30" fmla="*/ 689 w 689"/>
                <a:gd name="T31" fmla="*/ 106 h 199"/>
                <a:gd name="T32" fmla="*/ 689 w 689"/>
                <a:gd name="T33" fmla="*/ 101 h 199"/>
                <a:gd name="T34" fmla="*/ 0 w 689"/>
                <a:gd name="T35" fmla="*/ 76 h 199"/>
                <a:gd name="T36" fmla="*/ 0 w 689"/>
                <a:gd name="T37" fmla="*/ 81 h 199"/>
                <a:gd name="T38" fmla="*/ 0 w 689"/>
                <a:gd name="T39" fmla="*/ 88 h 199"/>
                <a:gd name="T40" fmla="*/ 0 w 689"/>
                <a:gd name="T41" fmla="*/ 93 h 199"/>
                <a:gd name="T42" fmla="*/ 0 w 689"/>
                <a:gd name="T43" fmla="*/ 99 h 199"/>
                <a:gd name="T44" fmla="*/ 0 w 689"/>
                <a:gd name="T45" fmla="*/ 124 h 199"/>
                <a:gd name="T46" fmla="*/ 3 w 689"/>
                <a:gd name="T47" fmla="*/ 151 h 199"/>
                <a:gd name="T48" fmla="*/ 8 w 689"/>
                <a:gd name="T49" fmla="*/ 174 h 199"/>
                <a:gd name="T50" fmla="*/ 13 w 689"/>
                <a:gd name="T51" fmla="*/ 199 h 199"/>
                <a:gd name="T52" fmla="*/ 15 w 689"/>
                <a:gd name="T53" fmla="*/ 187 h 199"/>
                <a:gd name="T54" fmla="*/ 10 w 689"/>
                <a:gd name="T55" fmla="*/ 162 h 199"/>
                <a:gd name="T56" fmla="*/ 7 w 689"/>
                <a:gd name="T57" fmla="*/ 137 h 199"/>
                <a:gd name="T58" fmla="*/ 5 w 689"/>
                <a:gd name="T59" fmla="*/ 112 h 199"/>
                <a:gd name="T60" fmla="*/ 5 w 689"/>
                <a:gd name="T61" fmla="*/ 96 h 199"/>
                <a:gd name="T62" fmla="*/ 5 w 689"/>
                <a:gd name="T63" fmla="*/ 89 h 199"/>
                <a:gd name="T64" fmla="*/ 5 w 689"/>
                <a:gd name="T65" fmla="*/ 83 h 199"/>
                <a:gd name="T66" fmla="*/ 5 w 689"/>
                <a:gd name="T67" fmla="*/ 76 h 199"/>
                <a:gd name="T68" fmla="*/ 0 w 689"/>
                <a:gd name="T69" fmla="*/ 7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9" h="199">
                  <a:moveTo>
                    <a:pt x="689" y="99"/>
                  </a:moveTo>
                  <a:lnTo>
                    <a:pt x="689" y="86"/>
                  </a:lnTo>
                  <a:lnTo>
                    <a:pt x="687" y="73"/>
                  </a:lnTo>
                  <a:lnTo>
                    <a:pt x="687" y="61"/>
                  </a:lnTo>
                  <a:lnTo>
                    <a:pt x="686" y="48"/>
                  </a:lnTo>
                  <a:lnTo>
                    <a:pt x="684" y="36"/>
                  </a:lnTo>
                  <a:lnTo>
                    <a:pt x="681" y="23"/>
                  </a:lnTo>
                  <a:lnTo>
                    <a:pt x="677" y="11"/>
                  </a:lnTo>
                  <a:lnTo>
                    <a:pt x="674" y="0"/>
                  </a:lnTo>
                  <a:lnTo>
                    <a:pt x="669" y="0"/>
                  </a:lnTo>
                  <a:lnTo>
                    <a:pt x="672" y="11"/>
                  </a:lnTo>
                  <a:lnTo>
                    <a:pt x="676" y="23"/>
                  </a:lnTo>
                  <a:lnTo>
                    <a:pt x="679" y="36"/>
                  </a:lnTo>
                  <a:lnTo>
                    <a:pt x="681" y="48"/>
                  </a:lnTo>
                  <a:lnTo>
                    <a:pt x="682" y="61"/>
                  </a:lnTo>
                  <a:lnTo>
                    <a:pt x="684" y="73"/>
                  </a:lnTo>
                  <a:lnTo>
                    <a:pt x="684" y="86"/>
                  </a:lnTo>
                  <a:lnTo>
                    <a:pt x="684" y="99"/>
                  </a:lnTo>
                  <a:lnTo>
                    <a:pt x="684" y="101"/>
                  </a:lnTo>
                  <a:lnTo>
                    <a:pt x="684" y="104"/>
                  </a:lnTo>
                  <a:lnTo>
                    <a:pt x="684" y="106"/>
                  </a:lnTo>
                  <a:lnTo>
                    <a:pt x="684" y="109"/>
                  </a:lnTo>
                  <a:lnTo>
                    <a:pt x="684" y="111"/>
                  </a:lnTo>
                  <a:lnTo>
                    <a:pt x="684" y="114"/>
                  </a:lnTo>
                  <a:lnTo>
                    <a:pt x="684" y="116"/>
                  </a:lnTo>
                  <a:lnTo>
                    <a:pt x="684" y="117"/>
                  </a:lnTo>
                  <a:lnTo>
                    <a:pt x="689" y="116"/>
                  </a:lnTo>
                  <a:lnTo>
                    <a:pt x="689" y="114"/>
                  </a:lnTo>
                  <a:lnTo>
                    <a:pt x="689" y="112"/>
                  </a:lnTo>
                  <a:lnTo>
                    <a:pt x="689" y="109"/>
                  </a:lnTo>
                  <a:lnTo>
                    <a:pt x="689" y="107"/>
                  </a:lnTo>
                  <a:lnTo>
                    <a:pt x="689" y="106"/>
                  </a:lnTo>
                  <a:lnTo>
                    <a:pt x="689" y="102"/>
                  </a:lnTo>
                  <a:lnTo>
                    <a:pt x="689" y="101"/>
                  </a:lnTo>
                  <a:lnTo>
                    <a:pt x="689" y="99"/>
                  </a:lnTo>
                  <a:close/>
                  <a:moveTo>
                    <a:pt x="0" y="76"/>
                  </a:moveTo>
                  <a:lnTo>
                    <a:pt x="0" y="79"/>
                  </a:lnTo>
                  <a:lnTo>
                    <a:pt x="0" y="81"/>
                  </a:lnTo>
                  <a:lnTo>
                    <a:pt x="0" y="84"/>
                  </a:lnTo>
                  <a:lnTo>
                    <a:pt x="0" y="88"/>
                  </a:lnTo>
                  <a:lnTo>
                    <a:pt x="0" y="91"/>
                  </a:lnTo>
                  <a:lnTo>
                    <a:pt x="0" y="93"/>
                  </a:lnTo>
                  <a:lnTo>
                    <a:pt x="0" y="96"/>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6"/>
                  </a:lnTo>
                  <a:lnTo>
                    <a:pt x="5" y="93"/>
                  </a:lnTo>
                  <a:lnTo>
                    <a:pt x="5" y="89"/>
                  </a:lnTo>
                  <a:lnTo>
                    <a:pt x="5" y="86"/>
                  </a:lnTo>
                  <a:lnTo>
                    <a:pt x="5" y="83"/>
                  </a:lnTo>
                  <a:lnTo>
                    <a:pt x="5" y="79"/>
                  </a:lnTo>
                  <a:lnTo>
                    <a:pt x="5" y="76"/>
                  </a:lnTo>
                  <a:lnTo>
                    <a:pt x="5" y="73"/>
                  </a:lnTo>
                  <a:lnTo>
                    <a:pt x="0" y="76"/>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98" name="Freeform 138">
              <a:extLst>
                <a:ext uri="{FF2B5EF4-FFF2-40B4-BE49-F238E27FC236}">
                  <a16:creationId xmlns:a16="http://schemas.microsoft.com/office/drawing/2014/main" id="{6C97DED5-B91F-2F68-CC5B-E58EC40ED564}"/>
                </a:ext>
              </a:extLst>
            </p:cNvPr>
            <p:cNvSpPr>
              <a:spLocks noEditPoints="1"/>
            </p:cNvSpPr>
            <p:nvPr/>
          </p:nvSpPr>
          <p:spPr bwMode="auto">
            <a:xfrm>
              <a:off x="1494" y="1514"/>
              <a:ext cx="685" cy="199"/>
            </a:xfrm>
            <a:custGeom>
              <a:avLst/>
              <a:gdLst>
                <a:gd name="T0" fmla="*/ 684 w 685"/>
                <a:gd name="T1" fmla="*/ 86 h 199"/>
                <a:gd name="T2" fmla="*/ 682 w 685"/>
                <a:gd name="T3" fmla="*/ 61 h 199"/>
                <a:gd name="T4" fmla="*/ 679 w 685"/>
                <a:gd name="T5" fmla="*/ 36 h 199"/>
                <a:gd name="T6" fmla="*/ 674 w 685"/>
                <a:gd name="T7" fmla="*/ 11 h 199"/>
                <a:gd name="T8" fmla="*/ 665 w 685"/>
                <a:gd name="T9" fmla="*/ 0 h 199"/>
                <a:gd name="T10" fmla="*/ 672 w 685"/>
                <a:gd name="T11" fmla="*/ 23 h 199"/>
                <a:gd name="T12" fmla="*/ 675 w 685"/>
                <a:gd name="T13" fmla="*/ 48 h 199"/>
                <a:gd name="T14" fmla="*/ 679 w 685"/>
                <a:gd name="T15" fmla="*/ 73 h 199"/>
                <a:gd name="T16" fmla="*/ 680 w 685"/>
                <a:gd name="T17" fmla="*/ 99 h 199"/>
                <a:gd name="T18" fmla="*/ 680 w 685"/>
                <a:gd name="T19" fmla="*/ 104 h 199"/>
                <a:gd name="T20" fmla="*/ 680 w 685"/>
                <a:gd name="T21" fmla="*/ 109 h 199"/>
                <a:gd name="T22" fmla="*/ 680 w 685"/>
                <a:gd name="T23" fmla="*/ 114 h 199"/>
                <a:gd name="T24" fmla="*/ 679 w 685"/>
                <a:gd name="T25" fmla="*/ 119 h 199"/>
                <a:gd name="T26" fmla="*/ 684 w 685"/>
                <a:gd name="T27" fmla="*/ 114 h 199"/>
                <a:gd name="T28" fmla="*/ 685 w 685"/>
                <a:gd name="T29" fmla="*/ 111 h 199"/>
                <a:gd name="T30" fmla="*/ 685 w 685"/>
                <a:gd name="T31" fmla="*/ 106 h 199"/>
                <a:gd name="T32" fmla="*/ 685 w 685"/>
                <a:gd name="T33" fmla="*/ 101 h 199"/>
                <a:gd name="T34" fmla="*/ 1 w 685"/>
                <a:gd name="T35" fmla="*/ 74 h 199"/>
                <a:gd name="T36" fmla="*/ 0 w 685"/>
                <a:gd name="T37" fmla="*/ 81 h 199"/>
                <a:gd name="T38" fmla="*/ 0 w 685"/>
                <a:gd name="T39" fmla="*/ 88 h 199"/>
                <a:gd name="T40" fmla="*/ 0 w 685"/>
                <a:gd name="T41" fmla="*/ 93 h 199"/>
                <a:gd name="T42" fmla="*/ 0 w 685"/>
                <a:gd name="T43" fmla="*/ 99 h 199"/>
                <a:gd name="T44" fmla="*/ 1 w 685"/>
                <a:gd name="T45" fmla="*/ 124 h 199"/>
                <a:gd name="T46" fmla="*/ 3 w 685"/>
                <a:gd name="T47" fmla="*/ 151 h 199"/>
                <a:gd name="T48" fmla="*/ 8 w 685"/>
                <a:gd name="T49" fmla="*/ 174 h 199"/>
                <a:gd name="T50" fmla="*/ 15 w 685"/>
                <a:gd name="T51" fmla="*/ 199 h 199"/>
                <a:gd name="T52" fmla="*/ 16 w 685"/>
                <a:gd name="T53" fmla="*/ 187 h 199"/>
                <a:gd name="T54" fmla="*/ 11 w 685"/>
                <a:gd name="T55" fmla="*/ 162 h 199"/>
                <a:gd name="T56" fmla="*/ 6 w 685"/>
                <a:gd name="T57" fmla="*/ 137 h 199"/>
                <a:gd name="T58" fmla="*/ 5 w 685"/>
                <a:gd name="T59" fmla="*/ 112 h 199"/>
                <a:gd name="T60" fmla="*/ 5 w 685"/>
                <a:gd name="T61" fmla="*/ 96 h 199"/>
                <a:gd name="T62" fmla="*/ 5 w 685"/>
                <a:gd name="T63" fmla="*/ 89 h 199"/>
                <a:gd name="T64" fmla="*/ 5 w 685"/>
                <a:gd name="T65" fmla="*/ 83 h 199"/>
                <a:gd name="T66" fmla="*/ 5 w 685"/>
                <a:gd name="T67" fmla="*/ 76 h 199"/>
                <a:gd name="T68" fmla="*/ 1 w 685"/>
                <a:gd name="T69" fmla="*/ 7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5" h="199">
                  <a:moveTo>
                    <a:pt x="685" y="99"/>
                  </a:moveTo>
                  <a:lnTo>
                    <a:pt x="684" y="86"/>
                  </a:lnTo>
                  <a:lnTo>
                    <a:pt x="684" y="73"/>
                  </a:lnTo>
                  <a:lnTo>
                    <a:pt x="682" y="61"/>
                  </a:lnTo>
                  <a:lnTo>
                    <a:pt x="680" y="48"/>
                  </a:lnTo>
                  <a:lnTo>
                    <a:pt x="679" y="36"/>
                  </a:lnTo>
                  <a:lnTo>
                    <a:pt x="677" y="23"/>
                  </a:lnTo>
                  <a:lnTo>
                    <a:pt x="674" y="11"/>
                  </a:lnTo>
                  <a:lnTo>
                    <a:pt x="670" y="0"/>
                  </a:lnTo>
                  <a:lnTo>
                    <a:pt x="665" y="0"/>
                  </a:lnTo>
                  <a:lnTo>
                    <a:pt x="669" y="11"/>
                  </a:lnTo>
                  <a:lnTo>
                    <a:pt x="672" y="23"/>
                  </a:lnTo>
                  <a:lnTo>
                    <a:pt x="674" y="36"/>
                  </a:lnTo>
                  <a:lnTo>
                    <a:pt x="675" y="48"/>
                  </a:lnTo>
                  <a:lnTo>
                    <a:pt x="677" y="61"/>
                  </a:lnTo>
                  <a:lnTo>
                    <a:pt x="679" y="73"/>
                  </a:lnTo>
                  <a:lnTo>
                    <a:pt x="680" y="86"/>
                  </a:lnTo>
                  <a:lnTo>
                    <a:pt x="680" y="99"/>
                  </a:lnTo>
                  <a:lnTo>
                    <a:pt x="680" y="101"/>
                  </a:lnTo>
                  <a:lnTo>
                    <a:pt x="680" y="104"/>
                  </a:lnTo>
                  <a:lnTo>
                    <a:pt x="680" y="106"/>
                  </a:lnTo>
                  <a:lnTo>
                    <a:pt x="680" y="109"/>
                  </a:lnTo>
                  <a:lnTo>
                    <a:pt x="680" y="111"/>
                  </a:lnTo>
                  <a:lnTo>
                    <a:pt x="680" y="114"/>
                  </a:lnTo>
                  <a:lnTo>
                    <a:pt x="679" y="117"/>
                  </a:lnTo>
                  <a:lnTo>
                    <a:pt x="679" y="119"/>
                  </a:lnTo>
                  <a:lnTo>
                    <a:pt x="684" y="117"/>
                  </a:lnTo>
                  <a:lnTo>
                    <a:pt x="684" y="114"/>
                  </a:lnTo>
                  <a:lnTo>
                    <a:pt x="684" y="112"/>
                  </a:lnTo>
                  <a:lnTo>
                    <a:pt x="685" y="111"/>
                  </a:lnTo>
                  <a:lnTo>
                    <a:pt x="685" y="107"/>
                  </a:lnTo>
                  <a:lnTo>
                    <a:pt x="685" y="106"/>
                  </a:lnTo>
                  <a:lnTo>
                    <a:pt x="685" y="104"/>
                  </a:lnTo>
                  <a:lnTo>
                    <a:pt x="685" y="101"/>
                  </a:lnTo>
                  <a:lnTo>
                    <a:pt x="685" y="99"/>
                  </a:lnTo>
                  <a:close/>
                  <a:moveTo>
                    <a:pt x="1" y="74"/>
                  </a:moveTo>
                  <a:lnTo>
                    <a:pt x="0" y="78"/>
                  </a:lnTo>
                  <a:lnTo>
                    <a:pt x="0" y="81"/>
                  </a:lnTo>
                  <a:lnTo>
                    <a:pt x="0" y="84"/>
                  </a:lnTo>
                  <a:lnTo>
                    <a:pt x="0" y="88"/>
                  </a:lnTo>
                  <a:lnTo>
                    <a:pt x="0" y="89"/>
                  </a:lnTo>
                  <a:lnTo>
                    <a:pt x="0" y="93"/>
                  </a:lnTo>
                  <a:lnTo>
                    <a:pt x="0" y="96"/>
                  </a:lnTo>
                  <a:lnTo>
                    <a:pt x="0" y="99"/>
                  </a:lnTo>
                  <a:lnTo>
                    <a:pt x="0" y="112"/>
                  </a:lnTo>
                  <a:lnTo>
                    <a:pt x="1" y="124"/>
                  </a:lnTo>
                  <a:lnTo>
                    <a:pt x="1" y="137"/>
                  </a:lnTo>
                  <a:lnTo>
                    <a:pt x="3" y="151"/>
                  </a:lnTo>
                  <a:lnTo>
                    <a:pt x="6" y="162"/>
                  </a:lnTo>
                  <a:lnTo>
                    <a:pt x="8" y="174"/>
                  </a:lnTo>
                  <a:lnTo>
                    <a:pt x="11" y="187"/>
                  </a:lnTo>
                  <a:lnTo>
                    <a:pt x="15" y="199"/>
                  </a:lnTo>
                  <a:lnTo>
                    <a:pt x="19" y="199"/>
                  </a:lnTo>
                  <a:lnTo>
                    <a:pt x="16" y="187"/>
                  </a:lnTo>
                  <a:lnTo>
                    <a:pt x="13" y="174"/>
                  </a:lnTo>
                  <a:lnTo>
                    <a:pt x="11" y="162"/>
                  </a:lnTo>
                  <a:lnTo>
                    <a:pt x="8" y="151"/>
                  </a:lnTo>
                  <a:lnTo>
                    <a:pt x="6" y="137"/>
                  </a:lnTo>
                  <a:lnTo>
                    <a:pt x="6" y="124"/>
                  </a:lnTo>
                  <a:lnTo>
                    <a:pt x="5" y="112"/>
                  </a:lnTo>
                  <a:lnTo>
                    <a:pt x="5" y="99"/>
                  </a:lnTo>
                  <a:lnTo>
                    <a:pt x="5" y="96"/>
                  </a:lnTo>
                  <a:lnTo>
                    <a:pt x="5" y="93"/>
                  </a:lnTo>
                  <a:lnTo>
                    <a:pt x="5" y="89"/>
                  </a:lnTo>
                  <a:lnTo>
                    <a:pt x="5" y="86"/>
                  </a:lnTo>
                  <a:lnTo>
                    <a:pt x="5" y="83"/>
                  </a:lnTo>
                  <a:lnTo>
                    <a:pt x="5" y="79"/>
                  </a:lnTo>
                  <a:lnTo>
                    <a:pt x="5" y="76"/>
                  </a:lnTo>
                  <a:lnTo>
                    <a:pt x="6" y="73"/>
                  </a:lnTo>
                  <a:lnTo>
                    <a:pt x="1" y="74"/>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199" name="Freeform 139">
              <a:extLst>
                <a:ext uri="{FF2B5EF4-FFF2-40B4-BE49-F238E27FC236}">
                  <a16:creationId xmlns:a16="http://schemas.microsoft.com/office/drawing/2014/main" id="{DECFF0B2-C507-1D36-A6B8-B37AE3A25792}"/>
                </a:ext>
              </a:extLst>
            </p:cNvPr>
            <p:cNvSpPr>
              <a:spLocks noEditPoints="1"/>
            </p:cNvSpPr>
            <p:nvPr/>
          </p:nvSpPr>
          <p:spPr bwMode="auto">
            <a:xfrm>
              <a:off x="1497" y="1514"/>
              <a:ext cx="679" cy="199"/>
            </a:xfrm>
            <a:custGeom>
              <a:avLst/>
              <a:gdLst>
                <a:gd name="T0" fmla="*/ 679 w 679"/>
                <a:gd name="T1" fmla="*/ 86 h 199"/>
                <a:gd name="T2" fmla="*/ 677 w 679"/>
                <a:gd name="T3" fmla="*/ 61 h 199"/>
                <a:gd name="T4" fmla="*/ 674 w 679"/>
                <a:gd name="T5" fmla="*/ 36 h 199"/>
                <a:gd name="T6" fmla="*/ 667 w 679"/>
                <a:gd name="T7" fmla="*/ 11 h 199"/>
                <a:gd name="T8" fmla="*/ 659 w 679"/>
                <a:gd name="T9" fmla="*/ 0 h 199"/>
                <a:gd name="T10" fmla="*/ 666 w 679"/>
                <a:gd name="T11" fmla="*/ 23 h 199"/>
                <a:gd name="T12" fmla="*/ 671 w 679"/>
                <a:gd name="T13" fmla="*/ 48 h 199"/>
                <a:gd name="T14" fmla="*/ 674 w 679"/>
                <a:gd name="T15" fmla="*/ 73 h 199"/>
                <a:gd name="T16" fmla="*/ 674 w 679"/>
                <a:gd name="T17" fmla="*/ 99 h 199"/>
                <a:gd name="T18" fmla="*/ 674 w 679"/>
                <a:gd name="T19" fmla="*/ 104 h 199"/>
                <a:gd name="T20" fmla="*/ 674 w 679"/>
                <a:gd name="T21" fmla="*/ 109 h 199"/>
                <a:gd name="T22" fmla="*/ 674 w 679"/>
                <a:gd name="T23" fmla="*/ 116 h 199"/>
                <a:gd name="T24" fmla="*/ 674 w 679"/>
                <a:gd name="T25" fmla="*/ 121 h 199"/>
                <a:gd name="T26" fmla="*/ 679 w 679"/>
                <a:gd name="T27" fmla="*/ 116 h 199"/>
                <a:gd name="T28" fmla="*/ 679 w 679"/>
                <a:gd name="T29" fmla="*/ 111 h 199"/>
                <a:gd name="T30" fmla="*/ 679 w 679"/>
                <a:gd name="T31" fmla="*/ 106 h 199"/>
                <a:gd name="T32" fmla="*/ 679 w 679"/>
                <a:gd name="T33" fmla="*/ 101 h 199"/>
                <a:gd name="T34" fmla="*/ 0 w 679"/>
                <a:gd name="T35" fmla="*/ 73 h 199"/>
                <a:gd name="T36" fmla="*/ 0 w 679"/>
                <a:gd name="T37" fmla="*/ 79 h 199"/>
                <a:gd name="T38" fmla="*/ 0 w 679"/>
                <a:gd name="T39" fmla="*/ 86 h 199"/>
                <a:gd name="T40" fmla="*/ 0 w 679"/>
                <a:gd name="T41" fmla="*/ 93 h 199"/>
                <a:gd name="T42" fmla="*/ 0 w 679"/>
                <a:gd name="T43" fmla="*/ 99 h 199"/>
                <a:gd name="T44" fmla="*/ 0 w 679"/>
                <a:gd name="T45" fmla="*/ 124 h 199"/>
                <a:gd name="T46" fmla="*/ 3 w 679"/>
                <a:gd name="T47" fmla="*/ 151 h 199"/>
                <a:gd name="T48" fmla="*/ 8 w 679"/>
                <a:gd name="T49" fmla="*/ 174 h 199"/>
                <a:gd name="T50" fmla="*/ 13 w 679"/>
                <a:gd name="T51" fmla="*/ 199 h 199"/>
                <a:gd name="T52" fmla="*/ 15 w 679"/>
                <a:gd name="T53" fmla="*/ 187 h 199"/>
                <a:gd name="T54" fmla="*/ 10 w 679"/>
                <a:gd name="T55" fmla="*/ 162 h 199"/>
                <a:gd name="T56" fmla="*/ 7 w 679"/>
                <a:gd name="T57" fmla="*/ 137 h 199"/>
                <a:gd name="T58" fmla="*/ 5 w 679"/>
                <a:gd name="T59" fmla="*/ 112 h 199"/>
                <a:gd name="T60" fmla="*/ 3 w 679"/>
                <a:gd name="T61" fmla="*/ 96 h 199"/>
                <a:gd name="T62" fmla="*/ 5 w 679"/>
                <a:gd name="T63" fmla="*/ 89 h 199"/>
                <a:gd name="T64" fmla="*/ 5 w 679"/>
                <a:gd name="T65" fmla="*/ 81 h 199"/>
                <a:gd name="T66" fmla="*/ 5 w 679"/>
                <a:gd name="T67" fmla="*/ 74 h 199"/>
                <a:gd name="T68" fmla="*/ 0 w 679"/>
                <a:gd name="T69" fmla="*/ 7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9" h="199">
                  <a:moveTo>
                    <a:pt x="679" y="99"/>
                  </a:moveTo>
                  <a:lnTo>
                    <a:pt x="679" y="86"/>
                  </a:lnTo>
                  <a:lnTo>
                    <a:pt x="679" y="73"/>
                  </a:lnTo>
                  <a:lnTo>
                    <a:pt x="677" y="61"/>
                  </a:lnTo>
                  <a:lnTo>
                    <a:pt x="676" y="48"/>
                  </a:lnTo>
                  <a:lnTo>
                    <a:pt x="674" y="36"/>
                  </a:lnTo>
                  <a:lnTo>
                    <a:pt x="671" y="23"/>
                  </a:lnTo>
                  <a:lnTo>
                    <a:pt x="667" y="11"/>
                  </a:lnTo>
                  <a:lnTo>
                    <a:pt x="664" y="0"/>
                  </a:lnTo>
                  <a:lnTo>
                    <a:pt x="659" y="0"/>
                  </a:lnTo>
                  <a:lnTo>
                    <a:pt x="662" y="11"/>
                  </a:lnTo>
                  <a:lnTo>
                    <a:pt x="666" y="23"/>
                  </a:lnTo>
                  <a:lnTo>
                    <a:pt x="669" y="36"/>
                  </a:lnTo>
                  <a:lnTo>
                    <a:pt x="671" y="48"/>
                  </a:lnTo>
                  <a:lnTo>
                    <a:pt x="672" y="61"/>
                  </a:lnTo>
                  <a:lnTo>
                    <a:pt x="674" y="73"/>
                  </a:lnTo>
                  <a:lnTo>
                    <a:pt x="674" y="86"/>
                  </a:lnTo>
                  <a:lnTo>
                    <a:pt x="674" y="99"/>
                  </a:lnTo>
                  <a:lnTo>
                    <a:pt x="674" y="101"/>
                  </a:lnTo>
                  <a:lnTo>
                    <a:pt x="674" y="104"/>
                  </a:lnTo>
                  <a:lnTo>
                    <a:pt x="674" y="107"/>
                  </a:lnTo>
                  <a:lnTo>
                    <a:pt x="674" y="109"/>
                  </a:lnTo>
                  <a:lnTo>
                    <a:pt x="674" y="112"/>
                  </a:lnTo>
                  <a:lnTo>
                    <a:pt x="674" y="116"/>
                  </a:lnTo>
                  <a:lnTo>
                    <a:pt x="674" y="117"/>
                  </a:lnTo>
                  <a:lnTo>
                    <a:pt x="674" y="121"/>
                  </a:lnTo>
                  <a:lnTo>
                    <a:pt x="679" y="117"/>
                  </a:lnTo>
                  <a:lnTo>
                    <a:pt x="679" y="116"/>
                  </a:lnTo>
                  <a:lnTo>
                    <a:pt x="679" y="114"/>
                  </a:lnTo>
                  <a:lnTo>
                    <a:pt x="679" y="111"/>
                  </a:lnTo>
                  <a:lnTo>
                    <a:pt x="679" y="109"/>
                  </a:lnTo>
                  <a:lnTo>
                    <a:pt x="679" y="106"/>
                  </a:lnTo>
                  <a:lnTo>
                    <a:pt x="679" y="104"/>
                  </a:lnTo>
                  <a:lnTo>
                    <a:pt x="679" y="101"/>
                  </a:lnTo>
                  <a:lnTo>
                    <a:pt x="679" y="99"/>
                  </a:lnTo>
                  <a:close/>
                  <a:moveTo>
                    <a:pt x="0" y="73"/>
                  </a:moveTo>
                  <a:lnTo>
                    <a:pt x="0" y="76"/>
                  </a:lnTo>
                  <a:lnTo>
                    <a:pt x="0" y="79"/>
                  </a:lnTo>
                  <a:lnTo>
                    <a:pt x="0" y="83"/>
                  </a:lnTo>
                  <a:lnTo>
                    <a:pt x="0" y="86"/>
                  </a:lnTo>
                  <a:lnTo>
                    <a:pt x="0" y="89"/>
                  </a:lnTo>
                  <a:lnTo>
                    <a:pt x="0" y="93"/>
                  </a:lnTo>
                  <a:lnTo>
                    <a:pt x="0" y="96"/>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3" y="99"/>
                  </a:lnTo>
                  <a:lnTo>
                    <a:pt x="3" y="96"/>
                  </a:lnTo>
                  <a:lnTo>
                    <a:pt x="3" y="93"/>
                  </a:lnTo>
                  <a:lnTo>
                    <a:pt x="5" y="89"/>
                  </a:lnTo>
                  <a:lnTo>
                    <a:pt x="5" y="84"/>
                  </a:lnTo>
                  <a:lnTo>
                    <a:pt x="5" y="81"/>
                  </a:lnTo>
                  <a:lnTo>
                    <a:pt x="5" y="78"/>
                  </a:lnTo>
                  <a:lnTo>
                    <a:pt x="5" y="74"/>
                  </a:lnTo>
                  <a:lnTo>
                    <a:pt x="5" y="71"/>
                  </a:lnTo>
                  <a:lnTo>
                    <a:pt x="0" y="73"/>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00" name="Freeform 140">
              <a:extLst>
                <a:ext uri="{FF2B5EF4-FFF2-40B4-BE49-F238E27FC236}">
                  <a16:creationId xmlns:a16="http://schemas.microsoft.com/office/drawing/2014/main" id="{49722B99-69E7-3C37-C3D2-B69B975933D0}"/>
                </a:ext>
              </a:extLst>
            </p:cNvPr>
            <p:cNvSpPr>
              <a:spLocks noEditPoints="1"/>
            </p:cNvSpPr>
            <p:nvPr/>
          </p:nvSpPr>
          <p:spPr bwMode="auto">
            <a:xfrm>
              <a:off x="1499" y="1514"/>
              <a:ext cx="675" cy="199"/>
            </a:xfrm>
            <a:custGeom>
              <a:avLst/>
              <a:gdLst>
                <a:gd name="T0" fmla="*/ 675 w 675"/>
                <a:gd name="T1" fmla="*/ 86 h 199"/>
                <a:gd name="T2" fmla="*/ 672 w 675"/>
                <a:gd name="T3" fmla="*/ 61 h 199"/>
                <a:gd name="T4" fmla="*/ 669 w 675"/>
                <a:gd name="T5" fmla="*/ 36 h 199"/>
                <a:gd name="T6" fmla="*/ 664 w 675"/>
                <a:gd name="T7" fmla="*/ 11 h 199"/>
                <a:gd name="T8" fmla="*/ 655 w 675"/>
                <a:gd name="T9" fmla="*/ 0 h 199"/>
                <a:gd name="T10" fmla="*/ 662 w 675"/>
                <a:gd name="T11" fmla="*/ 23 h 199"/>
                <a:gd name="T12" fmla="*/ 665 w 675"/>
                <a:gd name="T13" fmla="*/ 48 h 199"/>
                <a:gd name="T14" fmla="*/ 669 w 675"/>
                <a:gd name="T15" fmla="*/ 73 h 199"/>
                <a:gd name="T16" fmla="*/ 670 w 675"/>
                <a:gd name="T17" fmla="*/ 99 h 199"/>
                <a:gd name="T18" fmla="*/ 670 w 675"/>
                <a:gd name="T19" fmla="*/ 104 h 199"/>
                <a:gd name="T20" fmla="*/ 670 w 675"/>
                <a:gd name="T21" fmla="*/ 111 h 199"/>
                <a:gd name="T22" fmla="*/ 670 w 675"/>
                <a:gd name="T23" fmla="*/ 116 h 199"/>
                <a:gd name="T24" fmla="*/ 669 w 675"/>
                <a:gd name="T25" fmla="*/ 121 h 199"/>
                <a:gd name="T26" fmla="*/ 674 w 675"/>
                <a:gd name="T27" fmla="*/ 117 h 199"/>
                <a:gd name="T28" fmla="*/ 675 w 675"/>
                <a:gd name="T29" fmla="*/ 111 h 199"/>
                <a:gd name="T30" fmla="*/ 675 w 675"/>
                <a:gd name="T31" fmla="*/ 106 h 199"/>
                <a:gd name="T32" fmla="*/ 675 w 675"/>
                <a:gd name="T33" fmla="*/ 101 h 199"/>
                <a:gd name="T34" fmla="*/ 1 w 675"/>
                <a:gd name="T35" fmla="*/ 73 h 199"/>
                <a:gd name="T36" fmla="*/ 0 w 675"/>
                <a:gd name="T37" fmla="*/ 79 h 199"/>
                <a:gd name="T38" fmla="*/ 0 w 675"/>
                <a:gd name="T39" fmla="*/ 86 h 199"/>
                <a:gd name="T40" fmla="*/ 0 w 675"/>
                <a:gd name="T41" fmla="*/ 93 h 199"/>
                <a:gd name="T42" fmla="*/ 0 w 675"/>
                <a:gd name="T43" fmla="*/ 99 h 199"/>
                <a:gd name="T44" fmla="*/ 1 w 675"/>
                <a:gd name="T45" fmla="*/ 124 h 199"/>
                <a:gd name="T46" fmla="*/ 3 w 675"/>
                <a:gd name="T47" fmla="*/ 151 h 199"/>
                <a:gd name="T48" fmla="*/ 8 w 675"/>
                <a:gd name="T49" fmla="*/ 174 h 199"/>
                <a:gd name="T50" fmla="*/ 14 w 675"/>
                <a:gd name="T51" fmla="*/ 199 h 199"/>
                <a:gd name="T52" fmla="*/ 16 w 675"/>
                <a:gd name="T53" fmla="*/ 187 h 199"/>
                <a:gd name="T54" fmla="*/ 10 w 675"/>
                <a:gd name="T55" fmla="*/ 162 h 199"/>
                <a:gd name="T56" fmla="*/ 6 w 675"/>
                <a:gd name="T57" fmla="*/ 137 h 199"/>
                <a:gd name="T58" fmla="*/ 5 w 675"/>
                <a:gd name="T59" fmla="*/ 112 h 199"/>
                <a:gd name="T60" fmla="*/ 5 w 675"/>
                <a:gd name="T61" fmla="*/ 96 h 199"/>
                <a:gd name="T62" fmla="*/ 5 w 675"/>
                <a:gd name="T63" fmla="*/ 88 h 199"/>
                <a:gd name="T64" fmla="*/ 5 w 675"/>
                <a:gd name="T65" fmla="*/ 81 h 199"/>
                <a:gd name="T66" fmla="*/ 5 w 675"/>
                <a:gd name="T67" fmla="*/ 74 h 199"/>
                <a:gd name="T68" fmla="*/ 1 w 675"/>
                <a:gd name="T69" fmla="*/ 7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5" h="199">
                  <a:moveTo>
                    <a:pt x="675" y="99"/>
                  </a:moveTo>
                  <a:lnTo>
                    <a:pt x="675" y="86"/>
                  </a:lnTo>
                  <a:lnTo>
                    <a:pt x="674" y="73"/>
                  </a:lnTo>
                  <a:lnTo>
                    <a:pt x="672" y="61"/>
                  </a:lnTo>
                  <a:lnTo>
                    <a:pt x="670" y="48"/>
                  </a:lnTo>
                  <a:lnTo>
                    <a:pt x="669" y="36"/>
                  </a:lnTo>
                  <a:lnTo>
                    <a:pt x="667" y="23"/>
                  </a:lnTo>
                  <a:lnTo>
                    <a:pt x="664" y="11"/>
                  </a:lnTo>
                  <a:lnTo>
                    <a:pt x="660" y="0"/>
                  </a:lnTo>
                  <a:lnTo>
                    <a:pt x="655" y="0"/>
                  </a:lnTo>
                  <a:lnTo>
                    <a:pt x="659" y="11"/>
                  </a:lnTo>
                  <a:lnTo>
                    <a:pt x="662" y="23"/>
                  </a:lnTo>
                  <a:lnTo>
                    <a:pt x="664" y="36"/>
                  </a:lnTo>
                  <a:lnTo>
                    <a:pt x="665" y="48"/>
                  </a:lnTo>
                  <a:lnTo>
                    <a:pt x="669" y="61"/>
                  </a:lnTo>
                  <a:lnTo>
                    <a:pt x="669" y="73"/>
                  </a:lnTo>
                  <a:lnTo>
                    <a:pt x="670" y="86"/>
                  </a:lnTo>
                  <a:lnTo>
                    <a:pt x="670" y="99"/>
                  </a:lnTo>
                  <a:lnTo>
                    <a:pt x="670" y="102"/>
                  </a:lnTo>
                  <a:lnTo>
                    <a:pt x="670" y="104"/>
                  </a:lnTo>
                  <a:lnTo>
                    <a:pt x="670" y="107"/>
                  </a:lnTo>
                  <a:lnTo>
                    <a:pt x="670" y="111"/>
                  </a:lnTo>
                  <a:lnTo>
                    <a:pt x="670" y="112"/>
                  </a:lnTo>
                  <a:lnTo>
                    <a:pt x="670" y="116"/>
                  </a:lnTo>
                  <a:lnTo>
                    <a:pt x="669" y="119"/>
                  </a:lnTo>
                  <a:lnTo>
                    <a:pt x="669" y="121"/>
                  </a:lnTo>
                  <a:lnTo>
                    <a:pt x="674" y="119"/>
                  </a:lnTo>
                  <a:lnTo>
                    <a:pt x="674" y="117"/>
                  </a:lnTo>
                  <a:lnTo>
                    <a:pt x="675" y="114"/>
                  </a:lnTo>
                  <a:lnTo>
                    <a:pt x="675" y="111"/>
                  </a:lnTo>
                  <a:lnTo>
                    <a:pt x="675" y="109"/>
                  </a:lnTo>
                  <a:lnTo>
                    <a:pt x="675" y="106"/>
                  </a:lnTo>
                  <a:lnTo>
                    <a:pt x="675" y="104"/>
                  </a:lnTo>
                  <a:lnTo>
                    <a:pt x="675" y="101"/>
                  </a:lnTo>
                  <a:lnTo>
                    <a:pt x="675" y="99"/>
                  </a:lnTo>
                  <a:close/>
                  <a:moveTo>
                    <a:pt x="1" y="73"/>
                  </a:moveTo>
                  <a:lnTo>
                    <a:pt x="0" y="76"/>
                  </a:lnTo>
                  <a:lnTo>
                    <a:pt x="0" y="79"/>
                  </a:lnTo>
                  <a:lnTo>
                    <a:pt x="0" y="83"/>
                  </a:lnTo>
                  <a:lnTo>
                    <a:pt x="0" y="86"/>
                  </a:lnTo>
                  <a:lnTo>
                    <a:pt x="0" y="89"/>
                  </a:lnTo>
                  <a:lnTo>
                    <a:pt x="0" y="93"/>
                  </a:lnTo>
                  <a:lnTo>
                    <a:pt x="0" y="96"/>
                  </a:lnTo>
                  <a:lnTo>
                    <a:pt x="0" y="99"/>
                  </a:lnTo>
                  <a:lnTo>
                    <a:pt x="0" y="112"/>
                  </a:lnTo>
                  <a:lnTo>
                    <a:pt x="1" y="124"/>
                  </a:lnTo>
                  <a:lnTo>
                    <a:pt x="1" y="137"/>
                  </a:lnTo>
                  <a:lnTo>
                    <a:pt x="3" y="151"/>
                  </a:lnTo>
                  <a:lnTo>
                    <a:pt x="6" y="162"/>
                  </a:lnTo>
                  <a:lnTo>
                    <a:pt x="8" y="174"/>
                  </a:lnTo>
                  <a:lnTo>
                    <a:pt x="11" y="187"/>
                  </a:lnTo>
                  <a:lnTo>
                    <a:pt x="14" y="199"/>
                  </a:lnTo>
                  <a:lnTo>
                    <a:pt x="19" y="199"/>
                  </a:lnTo>
                  <a:lnTo>
                    <a:pt x="16" y="187"/>
                  </a:lnTo>
                  <a:lnTo>
                    <a:pt x="13" y="174"/>
                  </a:lnTo>
                  <a:lnTo>
                    <a:pt x="10" y="162"/>
                  </a:lnTo>
                  <a:lnTo>
                    <a:pt x="8" y="151"/>
                  </a:lnTo>
                  <a:lnTo>
                    <a:pt x="6" y="137"/>
                  </a:lnTo>
                  <a:lnTo>
                    <a:pt x="5" y="124"/>
                  </a:lnTo>
                  <a:lnTo>
                    <a:pt x="5" y="112"/>
                  </a:lnTo>
                  <a:lnTo>
                    <a:pt x="5" y="99"/>
                  </a:lnTo>
                  <a:lnTo>
                    <a:pt x="5" y="96"/>
                  </a:lnTo>
                  <a:lnTo>
                    <a:pt x="5" y="91"/>
                  </a:lnTo>
                  <a:lnTo>
                    <a:pt x="5" y="88"/>
                  </a:lnTo>
                  <a:lnTo>
                    <a:pt x="5" y="84"/>
                  </a:lnTo>
                  <a:lnTo>
                    <a:pt x="5" y="81"/>
                  </a:lnTo>
                  <a:lnTo>
                    <a:pt x="5" y="78"/>
                  </a:lnTo>
                  <a:lnTo>
                    <a:pt x="5" y="74"/>
                  </a:lnTo>
                  <a:lnTo>
                    <a:pt x="6" y="69"/>
                  </a:lnTo>
                  <a:lnTo>
                    <a:pt x="1" y="73"/>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01" name="Freeform 141">
              <a:extLst>
                <a:ext uri="{FF2B5EF4-FFF2-40B4-BE49-F238E27FC236}">
                  <a16:creationId xmlns:a16="http://schemas.microsoft.com/office/drawing/2014/main" id="{D4321994-8819-C02C-D771-4C3FADF60DEA}"/>
                </a:ext>
              </a:extLst>
            </p:cNvPr>
            <p:cNvSpPr>
              <a:spLocks noEditPoints="1"/>
            </p:cNvSpPr>
            <p:nvPr/>
          </p:nvSpPr>
          <p:spPr bwMode="auto">
            <a:xfrm>
              <a:off x="1500" y="1514"/>
              <a:ext cx="671" cy="199"/>
            </a:xfrm>
            <a:custGeom>
              <a:avLst/>
              <a:gdLst>
                <a:gd name="T0" fmla="*/ 671 w 671"/>
                <a:gd name="T1" fmla="*/ 86 h 199"/>
                <a:gd name="T2" fmla="*/ 669 w 671"/>
                <a:gd name="T3" fmla="*/ 61 h 199"/>
                <a:gd name="T4" fmla="*/ 666 w 671"/>
                <a:gd name="T5" fmla="*/ 36 h 199"/>
                <a:gd name="T6" fmla="*/ 659 w 671"/>
                <a:gd name="T7" fmla="*/ 11 h 199"/>
                <a:gd name="T8" fmla="*/ 651 w 671"/>
                <a:gd name="T9" fmla="*/ 0 h 199"/>
                <a:gd name="T10" fmla="*/ 658 w 671"/>
                <a:gd name="T11" fmla="*/ 23 h 199"/>
                <a:gd name="T12" fmla="*/ 663 w 671"/>
                <a:gd name="T13" fmla="*/ 48 h 199"/>
                <a:gd name="T14" fmla="*/ 666 w 671"/>
                <a:gd name="T15" fmla="*/ 73 h 199"/>
                <a:gd name="T16" fmla="*/ 666 w 671"/>
                <a:gd name="T17" fmla="*/ 99 h 199"/>
                <a:gd name="T18" fmla="*/ 666 w 671"/>
                <a:gd name="T19" fmla="*/ 104 h 199"/>
                <a:gd name="T20" fmla="*/ 666 w 671"/>
                <a:gd name="T21" fmla="*/ 111 h 199"/>
                <a:gd name="T22" fmla="*/ 666 w 671"/>
                <a:gd name="T23" fmla="*/ 117 h 199"/>
                <a:gd name="T24" fmla="*/ 666 w 671"/>
                <a:gd name="T25" fmla="*/ 122 h 199"/>
                <a:gd name="T26" fmla="*/ 671 w 671"/>
                <a:gd name="T27" fmla="*/ 117 h 199"/>
                <a:gd name="T28" fmla="*/ 671 w 671"/>
                <a:gd name="T29" fmla="*/ 112 h 199"/>
                <a:gd name="T30" fmla="*/ 671 w 671"/>
                <a:gd name="T31" fmla="*/ 107 h 199"/>
                <a:gd name="T32" fmla="*/ 671 w 671"/>
                <a:gd name="T33" fmla="*/ 101 h 199"/>
                <a:gd name="T34" fmla="*/ 2 w 671"/>
                <a:gd name="T35" fmla="*/ 71 h 199"/>
                <a:gd name="T36" fmla="*/ 2 w 671"/>
                <a:gd name="T37" fmla="*/ 78 h 199"/>
                <a:gd name="T38" fmla="*/ 2 w 671"/>
                <a:gd name="T39" fmla="*/ 84 h 199"/>
                <a:gd name="T40" fmla="*/ 0 w 671"/>
                <a:gd name="T41" fmla="*/ 93 h 199"/>
                <a:gd name="T42" fmla="*/ 0 w 671"/>
                <a:gd name="T43" fmla="*/ 99 h 199"/>
                <a:gd name="T44" fmla="*/ 2 w 671"/>
                <a:gd name="T45" fmla="*/ 124 h 199"/>
                <a:gd name="T46" fmla="*/ 5 w 671"/>
                <a:gd name="T47" fmla="*/ 151 h 199"/>
                <a:gd name="T48" fmla="*/ 10 w 671"/>
                <a:gd name="T49" fmla="*/ 174 h 199"/>
                <a:gd name="T50" fmla="*/ 15 w 671"/>
                <a:gd name="T51" fmla="*/ 199 h 199"/>
                <a:gd name="T52" fmla="*/ 17 w 671"/>
                <a:gd name="T53" fmla="*/ 187 h 199"/>
                <a:gd name="T54" fmla="*/ 12 w 671"/>
                <a:gd name="T55" fmla="*/ 162 h 199"/>
                <a:gd name="T56" fmla="*/ 9 w 671"/>
                <a:gd name="T57" fmla="*/ 137 h 199"/>
                <a:gd name="T58" fmla="*/ 5 w 671"/>
                <a:gd name="T59" fmla="*/ 112 h 199"/>
                <a:gd name="T60" fmla="*/ 5 w 671"/>
                <a:gd name="T61" fmla="*/ 96 h 199"/>
                <a:gd name="T62" fmla="*/ 5 w 671"/>
                <a:gd name="T63" fmla="*/ 88 h 199"/>
                <a:gd name="T64" fmla="*/ 7 w 671"/>
                <a:gd name="T65" fmla="*/ 79 h 199"/>
                <a:gd name="T66" fmla="*/ 7 w 671"/>
                <a:gd name="T67" fmla="*/ 73 h 199"/>
                <a:gd name="T68" fmla="*/ 2 w 671"/>
                <a:gd name="T69" fmla="*/ 7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1" h="199">
                  <a:moveTo>
                    <a:pt x="671" y="99"/>
                  </a:moveTo>
                  <a:lnTo>
                    <a:pt x="671" y="86"/>
                  </a:lnTo>
                  <a:lnTo>
                    <a:pt x="671" y="73"/>
                  </a:lnTo>
                  <a:lnTo>
                    <a:pt x="669" y="61"/>
                  </a:lnTo>
                  <a:lnTo>
                    <a:pt x="668" y="48"/>
                  </a:lnTo>
                  <a:lnTo>
                    <a:pt x="666" y="36"/>
                  </a:lnTo>
                  <a:lnTo>
                    <a:pt x="663" y="23"/>
                  </a:lnTo>
                  <a:lnTo>
                    <a:pt x="659" y="11"/>
                  </a:lnTo>
                  <a:lnTo>
                    <a:pt x="656" y="0"/>
                  </a:lnTo>
                  <a:lnTo>
                    <a:pt x="651" y="0"/>
                  </a:lnTo>
                  <a:lnTo>
                    <a:pt x="654" y="11"/>
                  </a:lnTo>
                  <a:lnTo>
                    <a:pt x="658" y="23"/>
                  </a:lnTo>
                  <a:lnTo>
                    <a:pt x="661" y="36"/>
                  </a:lnTo>
                  <a:lnTo>
                    <a:pt x="663" y="48"/>
                  </a:lnTo>
                  <a:lnTo>
                    <a:pt x="664" y="61"/>
                  </a:lnTo>
                  <a:lnTo>
                    <a:pt x="666" y="73"/>
                  </a:lnTo>
                  <a:lnTo>
                    <a:pt x="666" y="86"/>
                  </a:lnTo>
                  <a:lnTo>
                    <a:pt x="666" y="99"/>
                  </a:lnTo>
                  <a:lnTo>
                    <a:pt x="666" y="102"/>
                  </a:lnTo>
                  <a:lnTo>
                    <a:pt x="666" y="104"/>
                  </a:lnTo>
                  <a:lnTo>
                    <a:pt x="666" y="107"/>
                  </a:lnTo>
                  <a:lnTo>
                    <a:pt x="666" y="111"/>
                  </a:lnTo>
                  <a:lnTo>
                    <a:pt x="666" y="114"/>
                  </a:lnTo>
                  <a:lnTo>
                    <a:pt x="666" y="117"/>
                  </a:lnTo>
                  <a:lnTo>
                    <a:pt x="666" y="119"/>
                  </a:lnTo>
                  <a:lnTo>
                    <a:pt x="666" y="122"/>
                  </a:lnTo>
                  <a:lnTo>
                    <a:pt x="671" y="121"/>
                  </a:lnTo>
                  <a:lnTo>
                    <a:pt x="671" y="117"/>
                  </a:lnTo>
                  <a:lnTo>
                    <a:pt x="671" y="116"/>
                  </a:lnTo>
                  <a:lnTo>
                    <a:pt x="671" y="112"/>
                  </a:lnTo>
                  <a:lnTo>
                    <a:pt x="671" y="109"/>
                  </a:lnTo>
                  <a:lnTo>
                    <a:pt x="671" y="107"/>
                  </a:lnTo>
                  <a:lnTo>
                    <a:pt x="671" y="104"/>
                  </a:lnTo>
                  <a:lnTo>
                    <a:pt x="671" y="101"/>
                  </a:lnTo>
                  <a:lnTo>
                    <a:pt x="671" y="99"/>
                  </a:lnTo>
                  <a:close/>
                  <a:moveTo>
                    <a:pt x="2" y="71"/>
                  </a:moveTo>
                  <a:lnTo>
                    <a:pt x="2" y="74"/>
                  </a:lnTo>
                  <a:lnTo>
                    <a:pt x="2" y="78"/>
                  </a:lnTo>
                  <a:lnTo>
                    <a:pt x="2" y="81"/>
                  </a:lnTo>
                  <a:lnTo>
                    <a:pt x="2" y="84"/>
                  </a:lnTo>
                  <a:lnTo>
                    <a:pt x="2" y="89"/>
                  </a:lnTo>
                  <a:lnTo>
                    <a:pt x="0" y="93"/>
                  </a:lnTo>
                  <a:lnTo>
                    <a:pt x="0" y="96"/>
                  </a:lnTo>
                  <a:lnTo>
                    <a:pt x="0" y="99"/>
                  </a:lnTo>
                  <a:lnTo>
                    <a:pt x="2" y="112"/>
                  </a:lnTo>
                  <a:lnTo>
                    <a:pt x="2" y="124"/>
                  </a:lnTo>
                  <a:lnTo>
                    <a:pt x="4" y="137"/>
                  </a:lnTo>
                  <a:lnTo>
                    <a:pt x="5" y="151"/>
                  </a:lnTo>
                  <a:lnTo>
                    <a:pt x="7" y="162"/>
                  </a:lnTo>
                  <a:lnTo>
                    <a:pt x="10" y="174"/>
                  </a:lnTo>
                  <a:lnTo>
                    <a:pt x="12" y="187"/>
                  </a:lnTo>
                  <a:lnTo>
                    <a:pt x="15" y="199"/>
                  </a:lnTo>
                  <a:lnTo>
                    <a:pt x="20" y="199"/>
                  </a:lnTo>
                  <a:lnTo>
                    <a:pt x="17" y="187"/>
                  </a:lnTo>
                  <a:lnTo>
                    <a:pt x="15" y="174"/>
                  </a:lnTo>
                  <a:lnTo>
                    <a:pt x="12" y="162"/>
                  </a:lnTo>
                  <a:lnTo>
                    <a:pt x="10" y="151"/>
                  </a:lnTo>
                  <a:lnTo>
                    <a:pt x="9" y="137"/>
                  </a:lnTo>
                  <a:lnTo>
                    <a:pt x="7" y="124"/>
                  </a:lnTo>
                  <a:lnTo>
                    <a:pt x="5" y="112"/>
                  </a:lnTo>
                  <a:lnTo>
                    <a:pt x="5" y="99"/>
                  </a:lnTo>
                  <a:lnTo>
                    <a:pt x="5" y="96"/>
                  </a:lnTo>
                  <a:lnTo>
                    <a:pt x="5" y="91"/>
                  </a:lnTo>
                  <a:lnTo>
                    <a:pt x="5" y="88"/>
                  </a:lnTo>
                  <a:lnTo>
                    <a:pt x="7" y="84"/>
                  </a:lnTo>
                  <a:lnTo>
                    <a:pt x="7" y="79"/>
                  </a:lnTo>
                  <a:lnTo>
                    <a:pt x="7" y="76"/>
                  </a:lnTo>
                  <a:lnTo>
                    <a:pt x="7" y="73"/>
                  </a:lnTo>
                  <a:lnTo>
                    <a:pt x="7" y="69"/>
                  </a:lnTo>
                  <a:lnTo>
                    <a:pt x="2" y="71"/>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02" name="Freeform 142">
              <a:extLst>
                <a:ext uri="{FF2B5EF4-FFF2-40B4-BE49-F238E27FC236}">
                  <a16:creationId xmlns:a16="http://schemas.microsoft.com/office/drawing/2014/main" id="{1BF2FDE6-2FEB-E761-F433-2B341C188387}"/>
                </a:ext>
              </a:extLst>
            </p:cNvPr>
            <p:cNvSpPr>
              <a:spLocks noEditPoints="1"/>
            </p:cNvSpPr>
            <p:nvPr/>
          </p:nvSpPr>
          <p:spPr bwMode="auto">
            <a:xfrm>
              <a:off x="1504" y="1514"/>
              <a:ext cx="665" cy="199"/>
            </a:xfrm>
            <a:custGeom>
              <a:avLst/>
              <a:gdLst>
                <a:gd name="T0" fmla="*/ 665 w 665"/>
                <a:gd name="T1" fmla="*/ 86 h 199"/>
                <a:gd name="T2" fmla="*/ 664 w 665"/>
                <a:gd name="T3" fmla="*/ 61 h 199"/>
                <a:gd name="T4" fmla="*/ 659 w 665"/>
                <a:gd name="T5" fmla="*/ 36 h 199"/>
                <a:gd name="T6" fmla="*/ 654 w 665"/>
                <a:gd name="T7" fmla="*/ 11 h 199"/>
                <a:gd name="T8" fmla="*/ 645 w 665"/>
                <a:gd name="T9" fmla="*/ 0 h 199"/>
                <a:gd name="T10" fmla="*/ 652 w 665"/>
                <a:gd name="T11" fmla="*/ 23 h 199"/>
                <a:gd name="T12" fmla="*/ 657 w 665"/>
                <a:gd name="T13" fmla="*/ 48 h 199"/>
                <a:gd name="T14" fmla="*/ 659 w 665"/>
                <a:gd name="T15" fmla="*/ 73 h 199"/>
                <a:gd name="T16" fmla="*/ 660 w 665"/>
                <a:gd name="T17" fmla="*/ 99 h 199"/>
                <a:gd name="T18" fmla="*/ 660 w 665"/>
                <a:gd name="T19" fmla="*/ 106 h 199"/>
                <a:gd name="T20" fmla="*/ 660 w 665"/>
                <a:gd name="T21" fmla="*/ 111 h 199"/>
                <a:gd name="T22" fmla="*/ 660 w 665"/>
                <a:gd name="T23" fmla="*/ 117 h 199"/>
                <a:gd name="T24" fmla="*/ 659 w 665"/>
                <a:gd name="T25" fmla="*/ 124 h 199"/>
                <a:gd name="T26" fmla="*/ 664 w 665"/>
                <a:gd name="T27" fmla="*/ 119 h 199"/>
                <a:gd name="T28" fmla="*/ 665 w 665"/>
                <a:gd name="T29" fmla="*/ 112 h 199"/>
                <a:gd name="T30" fmla="*/ 665 w 665"/>
                <a:gd name="T31" fmla="*/ 107 h 199"/>
                <a:gd name="T32" fmla="*/ 665 w 665"/>
                <a:gd name="T33" fmla="*/ 102 h 199"/>
                <a:gd name="T34" fmla="*/ 1 w 665"/>
                <a:gd name="T35" fmla="*/ 69 h 199"/>
                <a:gd name="T36" fmla="*/ 0 w 665"/>
                <a:gd name="T37" fmla="*/ 78 h 199"/>
                <a:gd name="T38" fmla="*/ 0 w 665"/>
                <a:gd name="T39" fmla="*/ 84 h 199"/>
                <a:gd name="T40" fmla="*/ 0 w 665"/>
                <a:gd name="T41" fmla="*/ 91 h 199"/>
                <a:gd name="T42" fmla="*/ 0 w 665"/>
                <a:gd name="T43" fmla="*/ 99 h 199"/>
                <a:gd name="T44" fmla="*/ 0 w 665"/>
                <a:gd name="T45" fmla="*/ 124 h 199"/>
                <a:gd name="T46" fmla="*/ 3 w 665"/>
                <a:gd name="T47" fmla="*/ 151 h 199"/>
                <a:gd name="T48" fmla="*/ 8 w 665"/>
                <a:gd name="T49" fmla="*/ 174 h 199"/>
                <a:gd name="T50" fmla="*/ 14 w 665"/>
                <a:gd name="T51" fmla="*/ 199 h 199"/>
                <a:gd name="T52" fmla="*/ 16 w 665"/>
                <a:gd name="T53" fmla="*/ 187 h 199"/>
                <a:gd name="T54" fmla="*/ 9 w 665"/>
                <a:gd name="T55" fmla="*/ 162 h 199"/>
                <a:gd name="T56" fmla="*/ 6 w 665"/>
                <a:gd name="T57" fmla="*/ 137 h 199"/>
                <a:gd name="T58" fmla="*/ 5 w 665"/>
                <a:gd name="T59" fmla="*/ 112 h 199"/>
                <a:gd name="T60" fmla="*/ 5 w 665"/>
                <a:gd name="T61" fmla="*/ 94 h 199"/>
                <a:gd name="T62" fmla="*/ 5 w 665"/>
                <a:gd name="T63" fmla="*/ 88 h 199"/>
                <a:gd name="T64" fmla="*/ 5 w 665"/>
                <a:gd name="T65" fmla="*/ 79 h 199"/>
                <a:gd name="T66" fmla="*/ 5 w 665"/>
                <a:gd name="T67" fmla="*/ 71 h 199"/>
                <a:gd name="T68" fmla="*/ 1 w 665"/>
                <a:gd name="T69" fmla="*/ 6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5" h="199">
                  <a:moveTo>
                    <a:pt x="665" y="99"/>
                  </a:moveTo>
                  <a:lnTo>
                    <a:pt x="665" y="86"/>
                  </a:lnTo>
                  <a:lnTo>
                    <a:pt x="664" y="73"/>
                  </a:lnTo>
                  <a:lnTo>
                    <a:pt x="664" y="61"/>
                  </a:lnTo>
                  <a:lnTo>
                    <a:pt x="660" y="48"/>
                  </a:lnTo>
                  <a:lnTo>
                    <a:pt x="659" y="36"/>
                  </a:lnTo>
                  <a:lnTo>
                    <a:pt x="657" y="23"/>
                  </a:lnTo>
                  <a:lnTo>
                    <a:pt x="654" y="11"/>
                  </a:lnTo>
                  <a:lnTo>
                    <a:pt x="650" y="0"/>
                  </a:lnTo>
                  <a:lnTo>
                    <a:pt x="645" y="0"/>
                  </a:lnTo>
                  <a:lnTo>
                    <a:pt x="649" y="11"/>
                  </a:lnTo>
                  <a:lnTo>
                    <a:pt x="652" y="23"/>
                  </a:lnTo>
                  <a:lnTo>
                    <a:pt x="654" y="36"/>
                  </a:lnTo>
                  <a:lnTo>
                    <a:pt x="657" y="48"/>
                  </a:lnTo>
                  <a:lnTo>
                    <a:pt x="659" y="61"/>
                  </a:lnTo>
                  <a:lnTo>
                    <a:pt x="659" y="73"/>
                  </a:lnTo>
                  <a:lnTo>
                    <a:pt x="660" y="86"/>
                  </a:lnTo>
                  <a:lnTo>
                    <a:pt x="660" y="99"/>
                  </a:lnTo>
                  <a:lnTo>
                    <a:pt x="660" y="102"/>
                  </a:lnTo>
                  <a:lnTo>
                    <a:pt x="660" y="106"/>
                  </a:lnTo>
                  <a:lnTo>
                    <a:pt x="660" y="107"/>
                  </a:lnTo>
                  <a:lnTo>
                    <a:pt x="660" y="111"/>
                  </a:lnTo>
                  <a:lnTo>
                    <a:pt x="660" y="114"/>
                  </a:lnTo>
                  <a:lnTo>
                    <a:pt x="660" y="117"/>
                  </a:lnTo>
                  <a:lnTo>
                    <a:pt x="660" y="121"/>
                  </a:lnTo>
                  <a:lnTo>
                    <a:pt x="659" y="124"/>
                  </a:lnTo>
                  <a:lnTo>
                    <a:pt x="664" y="121"/>
                  </a:lnTo>
                  <a:lnTo>
                    <a:pt x="664" y="119"/>
                  </a:lnTo>
                  <a:lnTo>
                    <a:pt x="665" y="116"/>
                  </a:lnTo>
                  <a:lnTo>
                    <a:pt x="665" y="112"/>
                  </a:lnTo>
                  <a:lnTo>
                    <a:pt x="665" y="111"/>
                  </a:lnTo>
                  <a:lnTo>
                    <a:pt x="665" y="107"/>
                  </a:lnTo>
                  <a:lnTo>
                    <a:pt x="665" y="104"/>
                  </a:lnTo>
                  <a:lnTo>
                    <a:pt x="665" y="102"/>
                  </a:lnTo>
                  <a:lnTo>
                    <a:pt x="665" y="99"/>
                  </a:lnTo>
                  <a:close/>
                  <a:moveTo>
                    <a:pt x="1" y="69"/>
                  </a:moveTo>
                  <a:lnTo>
                    <a:pt x="0" y="74"/>
                  </a:lnTo>
                  <a:lnTo>
                    <a:pt x="0" y="78"/>
                  </a:lnTo>
                  <a:lnTo>
                    <a:pt x="0" y="81"/>
                  </a:lnTo>
                  <a:lnTo>
                    <a:pt x="0" y="84"/>
                  </a:lnTo>
                  <a:lnTo>
                    <a:pt x="0" y="88"/>
                  </a:lnTo>
                  <a:lnTo>
                    <a:pt x="0" y="91"/>
                  </a:lnTo>
                  <a:lnTo>
                    <a:pt x="0" y="96"/>
                  </a:lnTo>
                  <a:lnTo>
                    <a:pt x="0" y="99"/>
                  </a:lnTo>
                  <a:lnTo>
                    <a:pt x="0" y="112"/>
                  </a:lnTo>
                  <a:lnTo>
                    <a:pt x="0" y="124"/>
                  </a:lnTo>
                  <a:lnTo>
                    <a:pt x="1" y="137"/>
                  </a:lnTo>
                  <a:lnTo>
                    <a:pt x="3" y="151"/>
                  </a:lnTo>
                  <a:lnTo>
                    <a:pt x="5" y="162"/>
                  </a:lnTo>
                  <a:lnTo>
                    <a:pt x="8" y="174"/>
                  </a:lnTo>
                  <a:lnTo>
                    <a:pt x="11" y="187"/>
                  </a:lnTo>
                  <a:lnTo>
                    <a:pt x="14" y="199"/>
                  </a:lnTo>
                  <a:lnTo>
                    <a:pt x="19" y="199"/>
                  </a:lnTo>
                  <a:lnTo>
                    <a:pt x="16" y="187"/>
                  </a:lnTo>
                  <a:lnTo>
                    <a:pt x="13" y="174"/>
                  </a:lnTo>
                  <a:lnTo>
                    <a:pt x="9" y="162"/>
                  </a:lnTo>
                  <a:lnTo>
                    <a:pt x="8" y="151"/>
                  </a:lnTo>
                  <a:lnTo>
                    <a:pt x="6" y="137"/>
                  </a:lnTo>
                  <a:lnTo>
                    <a:pt x="5" y="124"/>
                  </a:lnTo>
                  <a:lnTo>
                    <a:pt x="5" y="112"/>
                  </a:lnTo>
                  <a:lnTo>
                    <a:pt x="5" y="99"/>
                  </a:lnTo>
                  <a:lnTo>
                    <a:pt x="5" y="94"/>
                  </a:lnTo>
                  <a:lnTo>
                    <a:pt x="5" y="91"/>
                  </a:lnTo>
                  <a:lnTo>
                    <a:pt x="5" y="88"/>
                  </a:lnTo>
                  <a:lnTo>
                    <a:pt x="5" y="83"/>
                  </a:lnTo>
                  <a:lnTo>
                    <a:pt x="5" y="79"/>
                  </a:lnTo>
                  <a:lnTo>
                    <a:pt x="5" y="76"/>
                  </a:lnTo>
                  <a:lnTo>
                    <a:pt x="5" y="71"/>
                  </a:lnTo>
                  <a:lnTo>
                    <a:pt x="6" y="68"/>
                  </a:lnTo>
                  <a:lnTo>
                    <a:pt x="1" y="69"/>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03" name="Freeform 143">
              <a:extLst>
                <a:ext uri="{FF2B5EF4-FFF2-40B4-BE49-F238E27FC236}">
                  <a16:creationId xmlns:a16="http://schemas.microsoft.com/office/drawing/2014/main" id="{EA040F86-92A8-55F8-5260-D0CD12D0CB93}"/>
                </a:ext>
              </a:extLst>
            </p:cNvPr>
            <p:cNvSpPr>
              <a:spLocks noEditPoints="1"/>
            </p:cNvSpPr>
            <p:nvPr/>
          </p:nvSpPr>
          <p:spPr bwMode="auto">
            <a:xfrm>
              <a:off x="1505" y="1514"/>
              <a:ext cx="661" cy="199"/>
            </a:xfrm>
            <a:custGeom>
              <a:avLst/>
              <a:gdLst>
                <a:gd name="T0" fmla="*/ 661 w 661"/>
                <a:gd name="T1" fmla="*/ 86 h 199"/>
                <a:gd name="T2" fmla="*/ 659 w 661"/>
                <a:gd name="T3" fmla="*/ 61 h 199"/>
                <a:gd name="T4" fmla="*/ 656 w 661"/>
                <a:gd name="T5" fmla="*/ 36 h 199"/>
                <a:gd name="T6" fmla="*/ 649 w 661"/>
                <a:gd name="T7" fmla="*/ 11 h 199"/>
                <a:gd name="T8" fmla="*/ 641 w 661"/>
                <a:gd name="T9" fmla="*/ 0 h 199"/>
                <a:gd name="T10" fmla="*/ 648 w 661"/>
                <a:gd name="T11" fmla="*/ 23 h 199"/>
                <a:gd name="T12" fmla="*/ 653 w 661"/>
                <a:gd name="T13" fmla="*/ 48 h 199"/>
                <a:gd name="T14" fmla="*/ 656 w 661"/>
                <a:gd name="T15" fmla="*/ 73 h 199"/>
                <a:gd name="T16" fmla="*/ 656 w 661"/>
                <a:gd name="T17" fmla="*/ 99 h 199"/>
                <a:gd name="T18" fmla="*/ 656 w 661"/>
                <a:gd name="T19" fmla="*/ 106 h 199"/>
                <a:gd name="T20" fmla="*/ 656 w 661"/>
                <a:gd name="T21" fmla="*/ 112 h 199"/>
                <a:gd name="T22" fmla="*/ 656 w 661"/>
                <a:gd name="T23" fmla="*/ 119 h 199"/>
                <a:gd name="T24" fmla="*/ 656 w 661"/>
                <a:gd name="T25" fmla="*/ 124 h 199"/>
                <a:gd name="T26" fmla="*/ 661 w 661"/>
                <a:gd name="T27" fmla="*/ 119 h 199"/>
                <a:gd name="T28" fmla="*/ 661 w 661"/>
                <a:gd name="T29" fmla="*/ 114 h 199"/>
                <a:gd name="T30" fmla="*/ 661 w 661"/>
                <a:gd name="T31" fmla="*/ 107 h 199"/>
                <a:gd name="T32" fmla="*/ 661 w 661"/>
                <a:gd name="T33" fmla="*/ 102 h 199"/>
                <a:gd name="T34" fmla="*/ 2 w 661"/>
                <a:gd name="T35" fmla="*/ 69 h 199"/>
                <a:gd name="T36" fmla="*/ 2 w 661"/>
                <a:gd name="T37" fmla="*/ 76 h 199"/>
                <a:gd name="T38" fmla="*/ 2 w 661"/>
                <a:gd name="T39" fmla="*/ 84 h 199"/>
                <a:gd name="T40" fmla="*/ 0 w 661"/>
                <a:gd name="T41" fmla="*/ 91 h 199"/>
                <a:gd name="T42" fmla="*/ 0 w 661"/>
                <a:gd name="T43" fmla="*/ 99 h 199"/>
                <a:gd name="T44" fmla="*/ 2 w 661"/>
                <a:gd name="T45" fmla="*/ 124 h 199"/>
                <a:gd name="T46" fmla="*/ 5 w 661"/>
                <a:gd name="T47" fmla="*/ 151 h 199"/>
                <a:gd name="T48" fmla="*/ 10 w 661"/>
                <a:gd name="T49" fmla="*/ 174 h 199"/>
                <a:gd name="T50" fmla="*/ 15 w 661"/>
                <a:gd name="T51" fmla="*/ 199 h 199"/>
                <a:gd name="T52" fmla="*/ 17 w 661"/>
                <a:gd name="T53" fmla="*/ 187 h 199"/>
                <a:gd name="T54" fmla="*/ 12 w 661"/>
                <a:gd name="T55" fmla="*/ 162 h 199"/>
                <a:gd name="T56" fmla="*/ 8 w 661"/>
                <a:gd name="T57" fmla="*/ 137 h 199"/>
                <a:gd name="T58" fmla="*/ 5 w 661"/>
                <a:gd name="T59" fmla="*/ 112 h 199"/>
                <a:gd name="T60" fmla="*/ 5 w 661"/>
                <a:gd name="T61" fmla="*/ 94 h 199"/>
                <a:gd name="T62" fmla="*/ 5 w 661"/>
                <a:gd name="T63" fmla="*/ 86 h 199"/>
                <a:gd name="T64" fmla="*/ 7 w 661"/>
                <a:gd name="T65" fmla="*/ 79 h 199"/>
                <a:gd name="T66" fmla="*/ 7 w 661"/>
                <a:gd name="T67" fmla="*/ 71 h 199"/>
                <a:gd name="T68" fmla="*/ 2 w 661"/>
                <a:gd name="T69" fmla="*/ 6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1" h="199">
                  <a:moveTo>
                    <a:pt x="661" y="99"/>
                  </a:moveTo>
                  <a:lnTo>
                    <a:pt x="661" y="86"/>
                  </a:lnTo>
                  <a:lnTo>
                    <a:pt x="661" y="73"/>
                  </a:lnTo>
                  <a:lnTo>
                    <a:pt x="659" y="61"/>
                  </a:lnTo>
                  <a:lnTo>
                    <a:pt x="658" y="48"/>
                  </a:lnTo>
                  <a:lnTo>
                    <a:pt x="656" y="36"/>
                  </a:lnTo>
                  <a:lnTo>
                    <a:pt x="653" y="23"/>
                  </a:lnTo>
                  <a:lnTo>
                    <a:pt x="649" y="11"/>
                  </a:lnTo>
                  <a:lnTo>
                    <a:pt x="646" y="0"/>
                  </a:lnTo>
                  <a:lnTo>
                    <a:pt x="641" y="0"/>
                  </a:lnTo>
                  <a:lnTo>
                    <a:pt x="644" y="11"/>
                  </a:lnTo>
                  <a:lnTo>
                    <a:pt x="648" y="23"/>
                  </a:lnTo>
                  <a:lnTo>
                    <a:pt x="651" y="36"/>
                  </a:lnTo>
                  <a:lnTo>
                    <a:pt x="653" y="48"/>
                  </a:lnTo>
                  <a:lnTo>
                    <a:pt x="654" y="61"/>
                  </a:lnTo>
                  <a:lnTo>
                    <a:pt x="656" y="73"/>
                  </a:lnTo>
                  <a:lnTo>
                    <a:pt x="656" y="86"/>
                  </a:lnTo>
                  <a:lnTo>
                    <a:pt x="656" y="99"/>
                  </a:lnTo>
                  <a:lnTo>
                    <a:pt x="656" y="102"/>
                  </a:lnTo>
                  <a:lnTo>
                    <a:pt x="656" y="106"/>
                  </a:lnTo>
                  <a:lnTo>
                    <a:pt x="656" y="109"/>
                  </a:lnTo>
                  <a:lnTo>
                    <a:pt x="656" y="112"/>
                  </a:lnTo>
                  <a:lnTo>
                    <a:pt x="656" y="116"/>
                  </a:lnTo>
                  <a:lnTo>
                    <a:pt x="656" y="119"/>
                  </a:lnTo>
                  <a:lnTo>
                    <a:pt x="656" y="121"/>
                  </a:lnTo>
                  <a:lnTo>
                    <a:pt x="656" y="124"/>
                  </a:lnTo>
                  <a:lnTo>
                    <a:pt x="661" y="122"/>
                  </a:lnTo>
                  <a:lnTo>
                    <a:pt x="661" y="119"/>
                  </a:lnTo>
                  <a:lnTo>
                    <a:pt x="661" y="117"/>
                  </a:lnTo>
                  <a:lnTo>
                    <a:pt x="661" y="114"/>
                  </a:lnTo>
                  <a:lnTo>
                    <a:pt x="661" y="111"/>
                  </a:lnTo>
                  <a:lnTo>
                    <a:pt x="661" y="107"/>
                  </a:lnTo>
                  <a:lnTo>
                    <a:pt x="661" y="104"/>
                  </a:lnTo>
                  <a:lnTo>
                    <a:pt x="661" y="102"/>
                  </a:lnTo>
                  <a:lnTo>
                    <a:pt x="661" y="99"/>
                  </a:lnTo>
                  <a:close/>
                  <a:moveTo>
                    <a:pt x="2" y="69"/>
                  </a:moveTo>
                  <a:lnTo>
                    <a:pt x="2" y="73"/>
                  </a:lnTo>
                  <a:lnTo>
                    <a:pt x="2" y="76"/>
                  </a:lnTo>
                  <a:lnTo>
                    <a:pt x="2" y="79"/>
                  </a:lnTo>
                  <a:lnTo>
                    <a:pt x="2" y="84"/>
                  </a:lnTo>
                  <a:lnTo>
                    <a:pt x="0" y="88"/>
                  </a:lnTo>
                  <a:lnTo>
                    <a:pt x="0" y="91"/>
                  </a:lnTo>
                  <a:lnTo>
                    <a:pt x="0" y="96"/>
                  </a:lnTo>
                  <a:lnTo>
                    <a:pt x="0" y="99"/>
                  </a:lnTo>
                  <a:lnTo>
                    <a:pt x="0" y="112"/>
                  </a:lnTo>
                  <a:lnTo>
                    <a:pt x="2" y="124"/>
                  </a:lnTo>
                  <a:lnTo>
                    <a:pt x="4" y="137"/>
                  </a:lnTo>
                  <a:lnTo>
                    <a:pt x="5" y="151"/>
                  </a:lnTo>
                  <a:lnTo>
                    <a:pt x="7" y="162"/>
                  </a:lnTo>
                  <a:lnTo>
                    <a:pt x="10" y="174"/>
                  </a:lnTo>
                  <a:lnTo>
                    <a:pt x="12" y="187"/>
                  </a:lnTo>
                  <a:lnTo>
                    <a:pt x="15" y="199"/>
                  </a:lnTo>
                  <a:lnTo>
                    <a:pt x="22" y="199"/>
                  </a:lnTo>
                  <a:lnTo>
                    <a:pt x="17" y="187"/>
                  </a:lnTo>
                  <a:lnTo>
                    <a:pt x="15" y="174"/>
                  </a:lnTo>
                  <a:lnTo>
                    <a:pt x="12" y="162"/>
                  </a:lnTo>
                  <a:lnTo>
                    <a:pt x="10" y="151"/>
                  </a:lnTo>
                  <a:lnTo>
                    <a:pt x="8" y="137"/>
                  </a:lnTo>
                  <a:lnTo>
                    <a:pt x="7" y="124"/>
                  </a:lnTo>
                  <a:lnTo>
                    <a:pt x="5" y="112"/>
                  </a:lnTo>
                  <a:lnTo>
                    <a:pt x="5" y="99"/>
                  </a:lnTo>
                  <a:lnTo>
                    <a:pt x="5" y="94"/>
                  </a:lnTo>
                  <a:lnTo>
                    <a:pt x="5" y="91"/>
                  </a:lnTo>
                  <a:lnTo>
                    <a:pt x="5" y="86"/>
                  </a:lnTo>
                  <a:lnTo>
                    <a:pt x="5" y="83"/>
                  </a:lnTo>
                  <a:lnTo>
                    <a:pt x="7" y="79"/>
                  </a:lnTo>
                  <a:lnTo>
                    <a:pt x="7" y="74"/>
                  </a:lnTo>
                  <a:lnTo>
                    <a:pt x="7" y="71"/>
                  </a:lnTo>
                  <a:lnTo>
                    <a:pt x="7" y="66"/>
                  </a:lnTo>
                  <a:lnTo>
                    <a:pt x="2" y="69"/>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04" name="Freeform 144">
              <a:extLst>
                <a:ext uri="{FF2B5EF4-FFF2-40B4-BE49-F238E27FC236}">
                  <a16:creationId xmlns:a16="http://schemas.microsoft.com/office/drawing/2014/main" id="{CDC403B9-065F-F00A-F917-65D2CA03C7A0}"/>
                </a:ext>
              </a:extLst>
            </p:cNvPr>
            <p:cNvSpPr>
              <a:spLocks noEditPoints="1"/>
            </p:cNvSpPr>
            <p:nvPr/>
          </p:nvSpPr>
          <p:spPr bwMode="auto">
            <a:xfrm>
              <a:off x="1509" y="1514"/>
              <a:ext cx="655" cy="199"/>
            </a:xfrm>
            <a:custGeom>
              <a:avLst/>
              <a:gdLst>
                <a:gd name="T0" fmla="*/ 655 w 655"/>
                <a:gd name="T1" fmla="*/ 86 h 199"/>
                <a:gd name="T2" fmla="*/ 654 w 655"/>
                <a:gd name="T3" fmla="*/ 61 h 199"/>
                <a:gd name="T4" fmla="*/ 649 w 655"/>
                <a:gd name="T5" fmla="*/ 36 h 199"/>
                <a:gd name="T6" fmla="*/ 644 w 655"/>
                <a:gd name="T7" fmla="*/ 11 h 199"/>
                <a:gd name="T8" fmla="*/ 635 w 655"/>
                <a:gd name="T9" fmla="*/ 0 h 199"/>
                <a:gd name="T10" fmla="*/ 642 w 655"/>
                <a:gd name="T11" fmla="*/ 23 h 199"/>
                <a:gd name="T12" fmla="*/ 647 w 655"/>
                <a:gd name="T13" fmla="*/ 48 h 199"/>
                <a:gd name="T14" fmla="*/ 649 w 655"/>
                <a:gd name="T15" fmla="*/ 73 h 199"/>
                <a:gd name="T16" fmla="*/ 650 w 655"/>
                <a:gd name="T17" fmla="*/ 99 h 199"/>
                <a:gd name="T18" fmla="*/ 650 w 655"/>
                <a:gd name="T19" fmla="*/ 106 h 199"/>
                <a:gd name="T20" fmla="*/ 650 w 655"/>
                <a:gd name="T21" fmla="*/ 112 h 199"/>
                <a:gd name="T22" fmla="*/ 650 w 655"/>
                <a:gd name="T23" fmla="*/ 119 h 199"/>
                <a:gd name="T24" fmla="*/ 649 w 655"/>
                <a:gd name="T25" fmla="*/ 126 h 199"/>
                <a:gd name="T26" fmla="*/ 655 w 655"/>
                <a:gd name="T27" fmla="*/ 121 h 199"/>
                <a:gd name="T28" fmla="*/ 655 w 655"/>
                <a:gd name="T29" fmla="*/ 114 h 199"/>
                <a:gd name="T30" fmla="*/ 655 w 655"/>
                <a:gd name="T31" fmla="*/ 107 h 199"/>
                <a:gd name="T32" fmla="*/ 655 w 655"/>
                <a:gd name="T33" fmla="*/ 102 h 199"/>
                <a:gd name="T34" fmla="*/ 1 w 655"/>
                <a:gd name="T35" fmla="*/ 68 h 199"/>
                <a:gd name="T36" fmla="*/ 0 w 655"/>
                <a:gd name="T37" fmla="*/ 76 h 199"/>
                <a:gd name="T38" fmla="*/ 0 w 655"/>
                <a:gd name="T39" fmla="*/ 83 h 199"/>
                <a:gd name="T40" fmla="*/ 0 w 655"/>
                <a:gd name="T41" fmla="*/ 91 h 199"/>
                <a:gd name="T42" fmla="*/ 0 w 655"/>
                <a:gd name="T43" fmla="*/ 99 h 199"/>
                <a:gd name="T44" fmla="*/ 0 w 655"/>
                <a:gd name="T45" fmla="*/ 124 h 199"/>
                <a:gd name="T46" fmla="*/ 3 w 655"/>
                <a:gd name="T47" fmla="*/ 151 h 199"/>
                <a:gd name="T48" fmla="*/ 8 w 655"/>
                <a:gd name="T49" fmla="*/ 174 h 199"/>
                <a:gd name="T50" fmla="*/ 14 w 655"/>
                <a:gd name="T51" fmla="*/ 199 h 199"/>
                <a:gd name="T52" fmla="*/ 16 w 655"/>
                <a:gd name="T53" fmla="*/ 187 h 199"/>
                <a:gd name="T54" fmla="*/ 9 w 655"/>
                <a:gd name="T55" fmla="*/ 162 h 199"/>
                <a:gd name="T56" fmla="*/ 6 w 655"/>
                <a:gd name="T57" fmla="*/ 137 h 199"/>
                <a:gd name="T58" fmla="*/ 4 w 655"/>
                <a:gd name="T59" fmla="*/ 112 h 199"/>
                <a:gd name="T60" fmla="*/ 4 w 655"/>
                <a:gd name="T61" fmla="*/ 94 h 199"/>
                <a:gd name="T62" fmla="*/ 4 w 655"/>
                <a:gd name="T63" fmla="*/ 86 h 199"/>
                <a:gd name="T64" fmla="*/ 4 w 655"/>
                <a:gd name="T65" fmla="*/ 78 h 199"/>
                <a:gd name="T66" fmla="*/ 4 w 655"/>
                <a:gd name="T67" fmla="*/ 69 h 199"/>
                <a:gd name="T68" fmla="*/ 1 w 655"/>
                <a:gd name="T69" fmla="*/ 6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5" h="199">
                  <a:moveTo>
                    <a:pt x="655" y="99"/>
                  </a:moveTo>
                  <a:lnTo>
                    <a:pt x="655" y="86"/>
                  </a:lnTo>
                  <a:lnTo>
                    <a:pt x="654" y="73"/>
                  </a:lnTo>
                  <a:lnTo>
                    <a:pt x="654" y="61"/>
                  </a:lnTo>
                  <a:lnTo>
                    <a:pt x="652" y="48"/>
                  </a:lnTo>
                  <a:lnTo>
                    <a:pt x="649" y="36"/>
                  </a:lnTo>
                  <a:lnTo>
                    <a:pt x="647" y="23"/>
                  </a:lnTo>
                  <a:lnTo>
                    <a:pt x="644" y="11"/>
                  </a:lnTo>
                  <a:lnTo>
                    <a:pt x="640" y="0"/>
                  </a:lnTo>
                  <a:lnTo>
                    <a:pt x="635" y="0"/>
                  </a:lnTo>
                  <a:lnTo>
                    <a:pt x="639" y="11"/>
                  </a:lnTo>
                  <a:lnTo>
                    <a:pt x="642" y="23"/>
                  </a:lnTo>
                  <a:lnTo>
                    <a:pt x="644" y="36"/>
                  </a:lnTo>
                  <a:lnTo>
                    <a:pt x="647" y="48"/>
                  </a:lnTo>
                  <a:lnTo>
                    <a:pt x="649" y="61"/>
                  </a:lnTo>
                  <a:lnTo>
                    <a:pt x="649" y="73"/>
                  </a:lnTo>
                  <a:lnTo>
                    <a:pt x="650" y="86"/>
                  </a:lnTo>
                  <a:lnTo>
                    <a:pt x="650" y="99"/>
                  </a:lnTo>
                  <a:lnTo>
                    <a:pt x="650" y="102"/>
                  </a:lnTo>
                  <a:lnTo>
                    <a:pt x="650" y="106"/>
                  </a:lnTo>
                  <a:lnTo>
                    <a:pt x="650" y="109"/>
                  </a:lnTo>
                  <a:lnTo>
                    <a:pt x="650" y="112"/>
                  </a:lnTo>
                  <a:lnTo>
                    <a:pt x="650" y="116"/>
                  </a:lnTo>
                  <a:lnTo>
                    <a:pt x="650" y="119"/>
                  </a:lnTo>
                  <a:lnTo>
                    <a:pt x="650" y="122"/>
                  </a:lnTo>
                  <a:lnTo>
                    <a:pt x="649" y="126"/>
                  </a:lnTo>
                  <a:lnTo>
                    <a:pt x="654" y="124"/>
                  </a:lnTo>
                  <a:lnTo>
                    <a:pt x="655" y="121"/>
                  </a:lnTo>
                  <a:lnTo>
                    <a:pt x="655" y="117"/>
                  </a:lnTo>
                  <a:lnTo>
                    <a:pt x="655" y="114"/>
                  </a:lnTo>
                  <a:lnTo>
                    <a:pt x="655" y="111"/>
                  </a:lnTo>
                  <a:lnTo>
                    <a:pt x="655" y="107"/>
                  </a:lnTo>
                  <a:lnTo>
                    <a:pt x="655" y="106"/>
                  </a:lnTo>
                  <a:lnTo>
                    <a:pt x="655" y="102"/>
                  </a:lnTo>
                  <a:lnTo>
                    <a:pt x="655" y="99"/>
                  </a:lnTo>
                  <a:close/>
                  <a:moveTo>
                    <a:pt x="1" y="68"/>
                  </a:moveTo>
                  <a:lnTo>
                    <a:pt x="0" y="71"/>
                  </a:lnTo>
                  <a:lnTo>
                    <a:pt x="0" y="76"/>
                  </a:lnTo>
                  <a:lnTo>
                    <a:pt x="0" y="79"/>
                  </a:lnTo>
                  <a:lnTo>
                    <a:pt x="0" y="83"/>
                  </a:lnTo>
                  <a:lnTo>
                    <a:pt x="0" y="88"/>
                  </a:lnTo>
                  <a:lnTo>
                    <a:pt x="0" y="91"/>
                  </a:lnTo>
                  <a:lnTo>
                    <a:pt x="0" y="94"/>
                  </a:lnTo>
                  <a:lnTo>
                    <a:pt x="0" y="99"/>
                  </a:lnTo>
                  <a:lnTo>
                    <a:pt x="0" y="112"/>
                  </a:lnTo>
                  <a:lnTo>
                    <a:pt x="0" y="124"/>
                  </a:lnTo>
                  <a:lnTo>
                    <a:pt x="1" y="137"/>
                  </a:lnTo>
                  <a:lnTo>
                    <a:pt x="3" y="151"/>
                  </a:lnTo>
                  <a:lnTo>
                    <a:pt x="4" y="162"/>
                  </a:lnTo>
                  <a:lnTo>
                    <a:pt x="8" y="174"/>
                  </a:lnTo>
                  <a:lnTo>
                    <a:pt x="11" y="187"/>
                  </a:lnTo>
                  <a:lnTo>
                    <a:pt x="14" y="199"/>
                  </a:lnTo>
                  <a:lnTo>
                    <a:pt x="19" y="199"/>
                  </a:lnTo>
                  <a:lnTo>
                    <a:pt x="16" y="187"/>
                  </a:lnTo>
                  <a:lnTo>
                    <a:pt x="13" y="174"/>
                  </a:lnTo>
                  <a:lnTo>
                    <a:pt x="9" y="162"/>
                  </a:lnTo>
                  <a:lnTo>
                    <a:pt x="8" y="151"/>
                  </a:lnTo>
                  <a:lnTo>
                    <a:pt x="6" y="137"/>
                  </a:lnTo>
                  <a:lnTo>
                    <a:pt x="4" y="124"/>
                  </a:lnTo>
                  <a:lnTo>
                    <a:pt x="4" y="112"/>
                  </a:lnTo>
                  <a:lnTo>
                    <a:pt x="4" y="99"/>
                  </a:lnTo>
                  <a:lnTo>
                    <a:pt x="4" y="94"/>
                  </a:lnTo>
                  <a:lnTo>
                    <a:pt x="4" y="91"/>
                  </a:lnTo>
                  <a:lnTo>
                    <a:pt x="4" y="86"/>
                  </a:lnTo>
                  <a:lnTo>
                    <a:pt x="4" y="83"/>
                  </a:lnTo>
                  <a:lnTo>
                    <a:pt x="4" y="78"/>
                  </a:lnTo>
                  <a:lnTo>
                    <a:pt x="4" y="74"/>
                  </a:lnTo>
                  <a:lnTo>
                    <a:pt x="4" y="69"/>
                  </a:lnTo>
                  <a:lnTo>
                    <a:pt x="6" y="66"/>
                  </a:lnTo>
                  <a:lnTo>
                    <a:pt x="1" y="68"/>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05" name="Freeform 145">
              <a:extLst>
                <a:ext uri="{FF2B5EF4-FFF2-40B4-BE49-F238E27FC236}">
                  <a16:creationId xmlns:a16="http://schemas.microsoft.com/office/drawing/2014/main" id="{52C7060A-5F62-2A15-CE51-5EE66F35ADB8}"/>
                </a:ext>
              </a:extLst>
            </p:cNvPr>
            <p:cNvSpPr>
              <a:spLocks noEditPoints="1"/>
            </p:cNvSpPr>
            <p:nvPr/>
          </p:nvSpPr>
          <p:spPr bwMode="auto">
            <a:xfrm>
              <a:off x="1510" y="1514"/>
              <a:ext cx="651" cy="199"/>
            </a:xfrm>
            <a:custGeom>
              <a:avLst/>
              <a:gdLst>
                <a:gd name="T0" fmla="*/ 651 w 651"/>
                <a:gd name="T1" fmla="*/ 86 h 199"/>
                <a:gd name="T2" fmla="*/ 649 w 651"/>
                <a:gd name="T3" fmla="*/ 61 h 199"/>
                <a:gd name="T4" fmla="*/ 646 w 651"/>
                <a:gd name="T5" fmla="*/ 36 h 199"/>
                <a:gd name="T6" fmla="*/ 639 w 651"/>
                <a:gd name="T7" fmla="*/ 11 h 199"/>
                <a:gd name="T8" fmla="*/ 631 w 651"/>
                <a:gd name="T9" fmla="*/ 0 h 199"/>
                <a:gd name="T10" fmla="*/ 638 w 651"/>
                <a:gd name="T11" fmla="*/ 23 h 199"/>
                <a:gd name="T12" fmla="*/ 643 w 651"/>
                <a:gd name="T13" fmla="*/ 48 h 199"/>
                <a:gd name="T14" fmla="*/ 646 w 651"/>
                <a:gd name="T15" fmla="*/ 73 h 199"/>
                <a:gd name="T16" fmla="*/ 648 w 651"/>
                <a:gd name="T17" fmla="*/ 99 h 199"/>
                <a:gd name="T18" fmla="*/ 648 w 651"/>
                <a:gd name="T19" fmla="*/ 106 h 199"/>
                <a:gd name="T20" fmla="*/ 646 w 651"/>
                <a:gd name="T21" fmla="*/ 112 h 199"/>
                <a:gd name="T22" fmla="*/ 646 w 651"/>
                <a:gd name="T23" fmla="*/ 121 h 199"/>
                <a:gd name="T24" fmla="*/ 646 w 651"/>
                <a:gd name="T25" fmla="*/ 127 h 199"/>
                <a:gd name="T26" fmla="*/ 651 w 651"/>
                <a:gd name="T27" fmla="*/ 121 h 199"/>
                <a:gd name="T28" fmla="*/ 651 w 651"/>
                <a:gd name="T29" fmla="*/ 116 h 199"/>
                <a:gd name="T30" fmla="*/ 651 w 651"/>
                <a:gd name="T31" fmla="*/ 109 h 199"/>
                <a:gd name="T32" fmla="*/ 651 w 651"/>
                <a:gd name="T33" fmla="*/ 102 h 199"/>
                <a:gd name="T34" fmla="*/ 2 w 651"/>
                <a:gd name="T35" fmla="*/ 66 h 199"/>
                <a:gd name="T36" fmla="*/ 2 w 651"/>
                <a:gd name="T37" fmla="*/ 74 h 199"/>
                <a:gd name="T38" fmla="*/ 0 w 651"/>
                <a:gd name="T39" fmla="*/ 83 h 199"/>
                <a:gd name="T40" fmla="*/ 0 w 651"/>
                <a:gd name="T41" fmla="*/ 91 h 199"/>
                <a:gd name="T42" fmla="*/ 0 w 651"/>
                <a:gd name="T43" fmla="*/ 99 h 199"/>
                <a:gd name="T44" fmla="*/ 2 w 651"/>
                <a:gd name="T45" fmla="*/ 124 h 199"/>
                <a:gd name="T46" fmla="*/ 5 w 651"/>
                <a:gd name="T47" fmla="*/ 151 h 199"/>
                <a:gd name="T48" fmla="*/ 10 w 651"/>
                <a:gd name="T49" fmla="*/ 174 h 199"/>
                <a:gd name="T50" fmla="*/ 17 w 651"/>
                <a:gd name="T51" fmla="*/ 199 h 199"/>
                <a:gd name="T52" fmla="*/ 17 w 651"/>
                <a:gd name="T53" fmla="*/ 187 h 199"/>
                <a:gd name="T54" fmla="*/ 12 w 651"/>
                <a:gd name="T55" fmla="*/ 162 h 199"/>
                <a:gd name="T56" fmla="*/ 7 w 651"/>
                <a:gd name="T57" fmla="*/ 137 h 199"/>
                <a:gd name="T58" fmla="*/ 5 w 651"/>
                <a:gd name="T59" fmla="*/ 112 h 199"/>
                <a:gd name="T60" fmla="*/ 5 w 651"/>
                <a:gd name="T61" fmla="*/ 94 h 199"/>
                <a:gd name="T62" fmla="*/ 5 w 651"/>
                <a:gd name="T63" fmla="*/ 86 h 199"/>
                <a:gd name="T64" fmla="*/ 7 w 651"/>
                <a:gd name="T65" fmla="*/ 78 h 199"/>
                <a:gd name="T66" fmla="*/ 7 w 651"/>
                <a:gd name="T67" fmla="*/ 68 h 199"/>
                <a:gd name="T68" fmla="*/ 2 w 651"/>
                <a:gd name="T69" fmla="*/ 6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1" h="199">
                  <a:moveTo>
                    <a:pt x="651" y="99"/>
                  </a:moveTo>
                  <a:lnTo>
                    <a:pt x="651" y="86"/>
                  </a:lnTo>
                  <a:lnTo>
                    <a:pt x="651" y="73"/>
                  </a:lnTo>
                  <a:lnTo>
                    <a:pt x="649" y="61"/>
                  </a:lnTo>
                  <a:lnTo>
                    <a:pt x="648" y="48"/>
                  </a:lnTo>
                  <a:lnTo>
                    <a:pt x="646" y="36"/>
                  </a:lnTo>
                  <a:lnTo>
                    <a:pt x="643" y="23"/>
                  </a:lnTo>
                  <a:lnTo>
                    <a:pt x="639" y="11"/>
                  </a:lnTo>
                  <a:lnTo>
                    <a:pt x="636" y="0"/>
                  </a:lnTo>
                  <a:lnTo>
                    <a:pt x="631" y="0"/>
                  </a:lnTo>
                  <a:lnTo>
                    <a:pt x="634" y="11"/>
                  </a:lnTo>
                  <a:lnTo>
                    <a:pt x="638" y="23"/>
                  </a:lnTo>
                  <a:lnTo>
                    <a:pt x="641" y="36"/>
                  </a:lnTo>
                  <a:lnTo>
                    <a:pt x="643" y="48"/>
                  </a:lnTo>
                  <a:lnTo>
                    <a:pt x="644" y="61"/>
                  </a:lnTo>
                  <a:lnTo>
                    <a:pt x="646" y="73"/>
                  </a:lnTo>
                  <a:lnTo>
                    <a:pt x="646" y="86"/>
                  </a:lnTo>
                  <a:lnTo>
                    <a:pt x="648" y="99"/>
                  </a:lnTo>
                  <a:lnTo>
                    <a:pt x="648" y="102"/>
                  </a:lnTo>
                  <a:lnTo>
                    <a:pt x="648" y="106"/>
                  </a:lnTo>
                  <a:lnTo>
                    <a:pt x="646" y="109"/>
                  </a:lnTo>
                  <a:lnTo>
                    <a:pt x="646" y="112"/>
                  </a:lnTo>
                  <a:lnTo>
                    <a:pt x="646" y="116"/>
                  </a:lnTo>
                  <a:lnTo>
                    <a:pt x="646" y="121"/>
                  </a:lnTo>
                  <a:lnTo>
                    <a:pt x="646" y="124"/>
                  </a:lnTo>
                  <a:lnTo>
                    <a:pt x="646" y="127"/>
                  </a:lnTo>
                  <a:lnTo>
                    <a:pt x="651" y="124"/>
                  </a:lnTo>
                  <a:lnTo>
                    <a:pt x="651" y="121"/>
                  </a:lnTo>
                  <a:lnTo>
                    <a:pt x="651" y="119"/>
                  </a:lnTo>
                  <a:lnTo>
                    <a:pt x="651" y="116"/>
                  </a:lnTo>
                  <a:lnTo>
                    <a:pt x="651" y="112"/>
                  </a:lnTo>
                  <a:lnTo>
                    <a:pt x="651" y="109"/>
                  </a:lnTo>
                  <a:lnTo>
                    <a:pt x="651" y="106"/>
                  </a:lnTo>
                  <a:lnTo>
                    <a:pt x="651" y="102"/>
                  </a:lnTo>
                  <a:lnTo>
                    <a:pt x="651" y="99"/>
                  </a:lnTo>
                  <a:close/>
                  <a:moveTo>
                    <a:pt x="2" y="66"/>
                  </a:moveTo>
                  <a:lnTo>
                    <a:pt x="2" y="71"/>
                  </a:lnTo>
                  <a:lnTo>
                    <a:pt x="2" y="74"/>
                  </a:lnTo>
                  <a:lnTo>
                    <a:pt x="2" y="79"/>
                  </a:lnTo>
                  <a:lnTo>
                    <a:pt x="0" y="83"/>
                  </a:lnTo>
                  <a:lnTo>
                    <a:pt x="0" y="86"/>
                  </a:lnTo>
                  <a:lnTo>
                    <a:pt x="0" y="91"/>
                  </a:lnTo>
                  <a:lnTo>
                    <a:pt x="0" y="94"/>
                  </a:lnTo>
                  <a:lnTo>
                    <a:pt x="0" y="99"/>
                  </a:lnTo>
                  <a:lnTo>
                    <a:pt x="0" y="112"/>
                  </a:lnTo>
                  <a:lnTo>
                    <a:pt x="2" y="124"/>
                  </a:lnTo>
                  <a:lnTo>
                    <a:pt x="3" y="137"/>
                  </a:lnTo>
                  <a:lnTo>
                    <a:pt x="5" y="151"/>
                  </a:lnTo>
                  <a:lnTo>
                    <a:pt x="7" y="162"/>
                  </a:lnTo>
                  <a:lnTo>
                    <a:pt x="10" y="174"/>
                  </a:lnTo>
                  <a:lnTo>
                    <a:pt x="12" y="187"/>
                  </a:lnTo>
                  <a:lnTo>
                    <a:pt x="17" y="199"/>
                  </a:lnTo>
                  <a:lnTo>
                    <a:pt x="22" y="199"/>
                  </a:lnTo>
                  <a:lnTo>
                    <a:pt x="17" y="187"/>
                  </a:lnTo>
                  <a:lnTo>
                    <a:pt x="13" y="175"/>
                  </a:lnTo>
                  <a:lnTo>
                    <a:pt x="12" y="162"/>
                  </a:lnTo>
                  <a:lnTo>
                    <a:pt x="10" y="151"/>
                  </a:lnTo>
                  <a:lnTo>
                    <a:pt x="7" y="137"/>
                  </a:lnTo>
                  <a:lnTo>
                    <a:pt x="7" y="124"/>
                  </a:lnTo>
                  <a:lnTo>
                    <a:pt x="5" y="112"/>
                  </a:lnTo>
                  <a:lnTo>
                    <a:pt x="5" y="99"/>
                  </a:lnTo>
                  <a:lnTo>
                    <a:pt x="5" y="94"/>
                  </a:lnTo>
                  <a:lnTo>
                    <a:pt x="5" y="91"/>
                  </a:lnTo>
                  <a:lnTo>
                    <a:pt x="5" y="86"/>
                  </a:lnTo>
                  <a:lnTo>
                    <a:pt x="5" y="81"/>
                  </a:lnTo>
                  <a:lnTo>
                    <a:pt x="7" y="78"/>
                  </a:lnTo>
                  <a:lnTo>
                    <a:pt x="7" y="73"/>
                  </a:lnTo>
                  <a:lnTo>
                    <a:pt x="7" y="68"/>
                  </a:lnTo>
                  <a:lnTo>
                    <a:pt x="7" y="64"/>
                  </a:lnTo>
                  <a:lnTo>
                    <a:pt x="2" y="66"/>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06" name="Freeform 146">
              <a:extLst>
                <a:ext uri="{FF2B5EF4-FFF2-40B4-BE49-F238E27FC236}">
                  <a16:creationId xmlns:a16="http://schemas.microsoft.com/office/drawing/2014/main" id="{7725995D-F2DA-02A6-1A02-4C2A428C0ADB}"/>
                </a:ext>
              </a:extLst>
            </p:cNvPr>
            <p:cNvSpPr>
              <a:spLocks noEditPoints="1"/>
            </p:cNvSpPr>
            <p:nvPr/>
          </p:nvSpPr>
          <p:spPr bwMode="auto">
            <a:xfrm>
              <a:off x="1513" y="1514"/>
              <a:ext cx="646" cy="199"/>
            </a:xfrm>
            <a:custGeom>
              <a:avLst/>
              <a:gdLst>
                <a:gd name="T0" fmla="*/ 646 w 646"/>
                <a:gd name="T1" fmla="*/ 86 h 199"/>
                <a:gd name="T2" fmla="*/ 645 w 646"/>
                <a:gd name="T3" fmla="*/ 61 h 199"/>
                <a:gd name="T4" fmla="*/ 640 w 646"/>
                <a:gd name="T5" fmla="*/ 36 h 199"/>
                <a:gd name="T6" fmla="*/ 635 w 646"/>
                <a:gd name="T7" fmla="*/ 11 h 199"/>
                <a:gd name="T8" fmla="*/ 626 w 646"/>
                <a:gd name="T9" fmla="*/ 0 h 199"/>
                <a:gd name="T10" fmla="*/ 633 w 646"/>
                <a:gd name="T11" fmla="*/ 23 h 199"/>
                <a:gd name="T12" fmla="*/ 638 w 646"/>
                <a:gd name="T13" fmla="*/ 48 h 199"/>
                <a:gd name="T14" fmla="*/ 641 w 646"/>
                <a:gd name="T15" fmla="*/ 73 h 199"/>
                <a:gd name="T16" fmla="*/ 641 w 646"/>
                <a:gd name="T17" fmla="*/ 99 h 199"/>
                <a:gd name="T18" fmla="*/ 641 w 646"/>
                <a:gd name="T19" fmla="*/ 106 h 199"/>
                <a:gd name="T20" fmla="*/ 641 w 646"/>
                <a:gd name="T21" fmla="*/ 114 h 199"/>
                <a:gd name="T22" fmla="*/ 641 w 646"/>
                <a:gd name="T23" fmla="*/ 121 h 199"/>
                <a:gd name="T24" fmla="*/ 640 w 646"/>
                <a:gd name="T25" fmla="*/ 127 h 199"/>
                <a:gd name="T26" fmla="*/ 646 w 646"/>
                <a:gd name="T27" fmla="*/ 122 h 199"/>
                <a:gd name="T28" fmla="*/ 646 w 646"/>
                <a:gd name="T29" fmla="*/ 116 h 199"/>
                <a:gd name="T30" fmla="*/ 646 w 646"/>
                <a:gd name="T31" fmla="*/ 109 h 199"/>
                <a:gd name="T32" fmla="*/ 646 w 646"/>
                <a:gd name="T33" fmla="*/ 102 h 199"/>
                <a:gd name="T34" fmla="*/ 2 w 646"/>
                <a:gd name="T35" fmla="*/ 66 h 199"/>
                <a:gd name="T36" fmla="*/ 0 w 646"/>
                <a:gd name="T37" fmla="*/ 74 h 199"/>
                <a:gd name="T38" fmla="*/ 0 w 646"/>
                <a:gd name="T39" fmla="*/ 83 h 199"/>
                <a:gd name="T40" fmla="*/ 0 w 646"/>
                <a:gd name="T41" fmla="*/ 91 h 199"/>
                <a:gd name="T42" fmla="*/ 0 w 646"/>
                <a:gd name="T43" fmla="*/ 99 h 199"/>
                <a:gd name="T44" fmla="*/ 0 w 646"/>
                <a:gd name="T45" fmla="*/ 124 h 199"/>
                <a:gd name="T46" fmla="*/ 4 w 646"/>
                <a:gd name="T47" fmla="*/ 151 h 199"/>
                <a:gd name="T48" fmla="*/ 9 w 646"/>
                <a:gd name="T49" fmla="*/ 174 h 199"/>
                <a:gd name="T50" fmla="*/ 15 w 646"/>
                <a:gd name="T51" fmla="*/ 199 h 199"/>
                <a:gd name="T52" fmla="*/ 17 w 646"/>
                <a:gd name="T53" fmla="*/ 187 h 199"/>
                <a:gd name="T54" fmla="*/ 10 w 646"/>
                <a:gd name="T55" fmla="*/ 162 h 199"/>
                <a:gd name="T56" fmla="*/ 7 w 646"/>
                <a:gd name="T57" fmla="*/ 137 h 199"/>
                <a:gd name="T58" fmla="*/ 5 w 646"/>
                <a:gd name="T59" fmla="*/ 112 h 199"/>
                <a:gd name="T60" fmla="*/ 5 w 646"/>
                <a:gd name="T61" fmla="*/ 94 h 199"/>
                <a:gd name="T62" fmla="*/ 5 w 646"/>
                <a:gd name="T63" fmla="*/ 86 h 199"/>
                <a:gd name="T64" fmla="*/ 5 w 646"/>
                <a:gd name="T65" fmla="*/ 76 h 199"/>
                <a:gd name="T66" fmla="*/ 5 w 646"/>
                <a:gd name="T67" fmla="*/ 68 h 199"/>
                <a:gd name="T68" fmla="*/ 2 w 646"/>
                <a:gd name="T69" fmla="*/ 6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6" h="199">
                  <a:moveTo>
                    <a:pt x="646" y="99"/>
                  </a:moveTo>
                  <a:lnTo>
                    <a:pt x="646" y="86"/>
                  </a:lnTo>
                  <a:lnTo>
                    <a:pt x="645" y="73"/>
                  </a:lnTo>
                  <a:lnTo>
                    <a:pt x="645" y="61"/>
                  </a:lnTo>
                  <a:lnTo>
                    <a:pt x="643" y="48"/>
                  </a:lnTo>
                  <a:lnTo>
                    <a:pt x="640" y="36"/>
                  </a:lnTo>
                  <a:lnTo>
                    <a:pt x="638" y="23"/>
                  </a:lnTo>
                  <a:lnTo>
                    <a:pt x="635" y="11"/>
                  </a:lnTo>
                  <a:lnTo>
                    <a:pt x="631" y="0"/>
                  </a:lnTo>
                  <a:lnTo>
                    <a:pt x="626" y="0"/>
                  </a:lnTo>
                  <a:lnTo>
                    <a:pt x="630" y="11"/>
                  </a:lnTo>
                  <a:lnTo>
                    <a:pt x="633" y="23"/>
                  </a:lnTo>
                  <a:lnTo>
                    <a:pt x="635" y="36"/>
                  </a:lnTo>
                  <a:lnTo>
                    <a:pt x="638" y="48"/>
                  </a:lnTo>
                  <a:lnTo>
                    <a:pt x="640" y="61"/>
                  </a:lnTo>
                  <a:lnTo>
                    <a:pt x="641" y="73"/>
                  </a:lnTo>
                  <a:lnTo>
                    <a:pt x="641" y="86"/>
                  </a:lnTo>
                  <a:lnTo>
                    <a:pt x="641" y="99"/>
                  </a:lnTo>
                  <a:lnTo>
                    <a:pt x="641" y="102"/>
                  </a:lnTo>
                  <a:lnTo>
                    <a:pt x="641" y="106"/>
                  </a:lnTo>
                  <a:lnTo>
                    <a:pt x="641" y="109"/>
                  </a:lnTo>
                  <a:lnTo>
                    <a:pt x="641" y="114"/>
                  </a:lnTo>
                  <a:lnTo>
                    <a:pt x="641" y="117"/>
                  </a:lnTo>
                  <a:lnTo>
                    <a:pt x="641" y="121"/>
                  </a:lnTo>
                  <a:lnTo>
                    <a:pt x="641" y="124"/>
                  </a:lnTo>
                  <a:lnTo>
                    <a:pt x="640" y="127"/>
                  </a:lnTo>
                  <a:lnTo>
                    <a:pt x="645" y="126"/>
                  </a:lnTo>
                  <a:lnTo>
                    <a:pt x="646" y="122"/>
                  </a:lnTo>
                  <a:lnTo>
                    <a:pt x="646" y="119"/>
                  </a:lnTo>
                  <a:lnTo>
                    <a:pt x="646" y="116"/>
                  </a:lnTo>
                  <a:lnTo>
                    <a:pt x="646" y="112"/>
                  </a:lnTo>
                  <a:lnTo>
                    <a:pt x="646" y="109"/>
                  </a:lnTo>
                  <a:lnTo>
                    <a:pt x="646" y="106"/>
                  </a:lnTo>
                  <a:lnTo>
                    <a:pt x="646" y="102"/>
                  </a:lnTo>
                  <a:lnTo>
                    <a:pt x="646" y="99"/>
                  </a:lnTo>
                  <a:close/>
                  <a:moveTo>
                    <a:pt x="2" y="66"/>
                  </a:moveTo>
                  <a:lnTo>
                    <a:pt x="0" y="69"/>
                  </a:lnTo>
                  <a:lnTo>
                    <a:pt x="0" y="74"/>
                  </a:lnTo>
                  <a:lnTo>
                    <a:pt x="0" y="78"/>
                  </a:lnTo>
                  <a:lnTo>
                    <a:pt x="0" y="83"/>
                  </a:lnTo>
                  <a:lnTo>
                    <a:pt x="0" y="86"/>
                  </a:lnTo>
                  <a:lnTo>
                    <a:pt x="0" y="91"/>
                  </a:lnTo>
                  <a:lnTo>
                    <a:pt x="0" y="94"/>
                  </a:lnTo>
                  <a:lnTo>
                    <a:pt x="0" y="99"/>
                  </a:lnTo>
                  <a:lnTo>
                    <a:pt x="0" y="112"/>
                  </a:lnTo>
                  <a:lnTo>
                    <a:pt x="0" y="124"/>
                  </a:lnTo>
                  <a:lnTo>
                    <a:pt x="2" y="137"/>
                  </a:lnTo>
                  <a:lnTo>
                    <a:pt x="4" y="151"/>
                  </a:lnTo>
                  <a:lnTo>
                    <a:pt x="5" y="162"/>
                  </a:lnTo>
                  <a:lnTo>
                    <a:pt x="9" y="174"/>
                  </a:lnTo>
                  <a:lnTo>
                    <a:pt x="12" y="187"/>
                  </a:lnTo>
                  <a:lnTo>
                    <a:pt x="15" y="199"/>
                  </a:lnTo>
                  <a:lnTo>
                    <a:pt x="20" y="199"/>
                  </a:lnTo>
                  <a:lnTo>
                    <a:pt x="17" y="187"/>
                  </a:lnTo>
                  <a:lnTo>
                    <a:pt x="14" y="175"/>
                  </a:lnTo>
                  <a:lnTo>
                    <a:pt x="10" y="162"/>
                  </a:lnTo>
                  <a:lnTo>
                    <a:pt x="9" y="151"/>
                  </a:lnTo>
                  <a:lnTo>
                    <a:pt x="7" y="137"/>
                  </a:lnTo>
                  <a:lnTo>
                    <a:pt x="5" y="124"/>
                  </a:lnTo>
                  <a:lnTo>
                    <a:pt x="5" y="112"/>
                  </a:lnTo>
                  <a:lnTo>
                    <a:pt x="5" y="99"/>
                  </a:lnTo>
                  <a:lnTo>
                    <a:pt x="5" y="94"/>
                  </a:lnTo>
                  <a:lnTo>
                    <a:pt x="5" y="89"/>
                  </a:lnTo>
                  <a:lnTo>
                    <a:pt x="5" y="86"/>
                  </a:lnTo>
                  <a:lnTo>
                    <a:pt x="5" y="81"/>
                  </a:lnTo>
                  <a:lnTo>
                    <a:pt x="5" y="76"/>
                  </a:lnTo>
                  <a:lnTo>
                    <a:pt x="5" y="71"/>
                  </a:lnTo>
                  <a:lnTo>
                    <a:pt x="5" y="68"/>
                  </a:lnTo>
                  <a:lnTo>
                    <a:pt x="7" y="63"/>
                  </a:lnTo>
                  <a:lnTo>
                    <a:pt x="2" y="66"/>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07" name="Freeform 147">
              <a:extLst>
                <a:ext uri="{FF2B5EF4-FFF2-40B4-BE49-F238E27FC236}">
                  <a16:creationId xmlns:a16="http://schemas.microsoft.com/office/drawing/2014/main" id="{25B39BD2-3186-144C-7943-DDFA8AE27B7C}"/>
                </a:ext>
              </a:extLst>
            </p:cNvPr>
            <p:cNvSpPr>
              <a:spLocks noEditPoints="1"/>
            </p:cNvSpPr>
            <p:nvPr/>
          </p:nvSpPr>
          <p:spPr bwMode="auto">
            <a:xfrm>
              <a:off x="1515" y="1514"/>
              <a:ext cx="643" cy="199"/>
            </a:xfrm>
            <a:custGeom>
              <a:avLst/>
              <a:gdLst>
                <a:gd name="T0" fmla="*/ 641 w 643"/>
                <a:gd name="T1" fmla="*/ 86 h 199"/>
                <a:gd name="T2" fmla="*/ 639 w 643"/>
                <a:gd name="T3" fmla="*/ 61 h 199"/>
                <a:gd name="T4" fmla="*/ 636 w 643"/>
                <a:gd name="T5" fmla="*/ 36 h 199"/>
                <a:gd name="T6" fmla="*/ 629 w 643"/>
                <a:gd name="T7" fmla="*/ 11 h 199"/>
                <a:gd name="T8" fmla="*/ 621 w 643"/>
                <a:gd name="T9" fmla="*/ 0 h 199"/>
                <a:gd name="T10" fmla="*/ 628 w 643"/>
                <a:gd name="T11" fmla="*/ 23 h 199"/>
                <a:gd name="T12" fmla="*/ 633 w 643"/>
                <a:gd name="T13" fmla="*/ 48 h 199"/>
                <a:gd name="T14" fmla="*/ 636 w 643"/>
                <a:gd name="T15" fmla="*/ 73 h 199"/>
                <a:gd name="T16" fmla="*/ 638 w 643"/>
                <a:gd name="T17" fmla="*/ 99 h 199"/>
                <a:gd name="T18" fmla="*/ 638 w 643"/>
                <a:gd name="T19" fmla="*/ 106 h 199"/>
                <a:gd name="T20" fmla="*/ 636 w 643"/>
                <a:gd name="T21" fmla="*/ 114 h 199"/>
                <a:gd name="T22" fmla="*/ 636 w 643"/>
                <a:gd name="T23" fmla="*/ 122 h 199"/>
                <a:gd name="T24" fmla="*/ 636 w 643"/>
                <a:gd name="T25" fmla="*/ 129 h 199"/>
                <a:gd name="T26" fmla="*/ 641 w 643"/>
                <a:gd name="T27" fmla="*/ 124 h 199"/>
                <a:gd name="T28" fmla="*/ 641 w 643"/>
                <a:gd name="T29" fmla="*/ 116 h 199"/>
                <a:gd name="T30" fmla="*/ 641 w 643"/>
                <a:gd name="T31" fmla="*/ 109 h 199"/>
                <a:gd name="T32" fmla="*/ 643 w 643"/>
                <a:gd name="T33" fmla="*/ 102 h 199"/>
                <a:gd name="T34" fmla="*/ 2 w 643"/>
                <a:gd name="T35" fmla="*/ 64 h 199"/>
                <a:gd name="T36" fmla="*/ 2 w 643"/>
                <a:gd name="T37" fmla="*/ 73 h 199"/>
                <a:gd name="T38" fmla="*/ 0 w 643"/>
                <a:gd name="T39" fmla="*/ 81 h 199"/>
                <a:gd name="T40" fmla="*/ 0 w 643"/>
                <a:gd name="T41" fmla="*/ 91 h 199"/>
                <a:gd name="T42" fmla="*/ 0 w 643"/>
                <a:gd name="T43" fmla="*/ 99 h 199"/>
                <a:gd name="T44" fmla="*/ 2 w 643"/>
                <a:gd name="T45" fmla="*/ 124 h 199"/>
                <a:gd name="T46" fmla="*/ 5 w 643"/>
                <a:gd name="T47" fmla="*/ 151 h 199"/>
                <a:gd name="T48" fmla="*/ 8 w 643"/>
                <a:gd name="T49" fmla="*/ 175 h 199"/>
                <a:gd name="T50" fmla="*/ 17 w 643"/>
                <a:gd name="T51" fmla="*/ 199 h 199"/>
                <a:gd name="T52" fmla="*/ 17 w 643"/>
                <a:gd name="T53" fmla="*/ 187 h 199"/>
                <a:gd name="T54" fmla="*/ 12 w 643"/>
                <a:gd name="T55" fmla="*/ 162 h 199"/>
                <a:gd name="T56" fmla="*/ 7 w 643"/>
                <a:gd name="T57" fmla="*/ 137 h 199"/>
                <a:gd name="T58" fmla="*/ 5 w 643"/>
                <a:gd name="T59" fmla="*/ 112 h 199"/>
                <a:gd name="T60" fmla="*/ 5 w 643"/>
                <a:gd name="T61" fmla="*/ 94 h 199"/>
                <a:gd name="T62" fmla="*/ 5 w 643"/>
                <a:gd name="T63" fmla="*/ 84 h 199"/>
                <a:gd name="T64" fmla="*/ 7 w 643"/>
                <a:gd name="T65" fmla="*/ 76 h 199"/>
                <a:gd name="T66" fmla="*/ 7 w 643"/>
                <a:gd name="T67" fmla="*/ 66 h 199"/>
                <a:gd name="T68" fmla="*/ 2 w 643"/>
                <a:gd name="T69" fmla="*/ 6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3" h="199">
                  <a:moveTo>
                    <a:pt x="643" y="99"/>
                  </a:moveTo>
                  <a:lnTo>
                    <a:pt x="641" y="86"/>
                  </a:lnTo>
                  <a:lnTo>
                    <a:pt x="641" y="73"/>
                  </a:lnTo>
                  <a:lnTo>
                    <a:pt x="639" y="61"/>
                  </a:lnTo>
                  <a:lnTo>
                    <a:pt x="638" y="48"/>
                  </a:lnTo>
                  <a:lnTo>
                    <a:pt x="636" y="36"/>
                  </a:lnTo>
                  <a:lnTo>
                    <a:pt x="633" y="23"/>
                  </a:lnTo>
                  <a:lnTo>
                    <a:pt x="629" y="11"/>
                  </a:lnTo>
                  <a:lnTo>
                    <a:pt x="626" y="0"/>
                  </a:lnTo>
                  <a:lnTo>
                    <a:pt x="621" y="0"/>
                  </a:lnTo>
                  <a:lnTo>
                    <a:pt x="624" y="11"/>
                  </a:lnTo>
                  <a:lnTo>
                    <a:pt x="628" y="23"/>
                  </a:lnTo>
                  <a:lnTo>
                    <a:pt x="631" y="36"/>
                  </a:lnTo>
                  <a:lnTo>
                    <a:pt x="633" y="48"/>
                  </a:lnTo>
                  <a:lnTo>
                    <a:pt x="634" y="61"/>
                  </a:lnTo>
                  <a:lnTo>
                    <a:pt x="636" y="73"/>
                  </a:lnTo>
                  <a:lnTo>
                    <a:pt x="638" y="86"/>
                  </a:lnTo>
                  <a:lnTo>
                    <a:pt x="638" y="99"/>
                  </a:lnTo>
                  <a:lnTo>
                    <a:pt x="638" y="102"/>
                  </a:lnTo>
                  <a:lnTo>
                    <a:pt x="638" y="106"/>
                  </a:lnTo>
                  <a:lnTo>
                    <a:pt x="638" y="111"/>
                  </a:lnTo>
                  <a:lnTo>
                    <a:pt x="636" y="114"/>
                  </a:lnTo>
                  <a:lnTo>
                    <a:pt x="636" y="117"/>
                  </a:lnTo>
                  <a:lnTo>
                    <a:pt x="636" y="122"/>
                  </a:lnTo>
                  <a:lnTo>
                    <a:pt x="636" y="126"/>
                  </a:lnTo>
                  <a:lnTo>
                    <a:pt x="636" y="129"/>
                  </a:lnTo>
                  <a:lnTo>
                    <a:pt x="641" y="127"/>
                  </a:lnTo>
                  <a:lnTo>
                    <a:pt x="641" y="124"/>
                  </a:lnTo>
                  <a:lnTo>
                    <a:pt x="641" y="121"/>
                  </a:lnTo>
                  <a:lnTo>
                    <a:pt x="641" y="116"/>
                  </a:lnTo>
                  <a:lnTo>
                    <a:pt x="641" y="112"/>
                  </a:lnTo>
                  <a:lnTo>
                    <a:pt x="641" y="109"/>
                  </a:lnTo>
                  <a:lnTo>
                    <a:pt x="643" y="106"/>
                  </a:lnTo>
                  <a:lnTo>
                    <a:pt x="643" y="102"/>
                  </a:lnTo>
                  <a:lnTo>
                    <a:pt x="643" y="99"/>
                  </a:lnTo>
                  <a:close/>
                  <a:moveTo>
                    <a:pt x="2" y="64"/>
                  </a:moveTo>
                  <a:lnTo>
                    <a:pt x="2" y="68"/>
                  </a:lnTo>
                  <a:lnTo>
                    <a:pt x="2" y="73"/>
                  </a:lnTo>
                  <a:lnTo>
                    <a:pt x="2" y="78"/>
                  </a:lnTo>
                  <a:lnTo>
                    <a:pt x="0" y="81"/>
                  </a:lnTo>
                  <a:lnTo>
                    <a:pt x="0" y="86"/>
                  </a:lnTo>
                  <a:lnTo>
                    <a:pt x="0" y="91"/>
                  </a:lnTo>
                  <a:lnTo>
                    <a:pt x="0" y="94"/>
                  </a:lnTo>
                  <a:lnTo>
                    <a:pt x="0" y="99"/>
                  </a:lnTo>
                  <a:lnTo>
                    <a:pt x="0" y="112"/>
                  </a:lnTo>
                  <a:lnTo>
                    <a:pt x="2" y="124"/>
                  </a:lnTo>
                  <a:lnTo>
                    <a:pt x="2" y="137"/>
                  </a:lnTo>
                  <a:lnTo>
                    <a:pt x="5" y="151"/>
                  </a:lnTo>
                  <a:lnTo>
                    <a:pt x="7" y="162"/>
                  </a:lnTo>
                  <a:lnTo>
                    <a:pt x="8" y="175"/>
                  </a:lnTo>
                  <a:lnTo>
                    <a:pt x="12" y="187"/>
                  </a:lnTo>
                  <a:lnTo>
                    <a:pt x="17" y="199"/>
                  </a:lnTo>
                  <a:lnTo>
                    <a:pt x="22" y="199"/>
                  </a:lnTo>
                  <a:lnTo>
                    <a:pt x="17" y="187"/>
                  </a:lnTo>
                  <a:lnTo>
                    <a:pt x="13" y="175"/>
                  </a:lnTo>
                  <a:lnTo>
                    <a:pt x="12" y="162"/>
                  </a:lnTo>
                  <a:lnTo>
                    <a:pt x="8" y="151"/>
                  </a:lnTo>
                  <a:lnTo>
                    <a:pt x="7" y="137"/>
                  </a:lnTo>
                  <a:lnTo>
                    <a:pt x="7" y="124"/>
                  </a:lnTo>
                  <a:lnTo>
                    <a:pt x="5" y="112"/>
                  </a:lnTo>
                  <a:lnTo>
                    <a:pt x="5" y="99"/>
                  </a:lnTo>
                  <a:lnTo>
                    <a:pt x="5" y="94"/>
                  </a:lnTo>
                  <a:lnTo>
                    <a:pt x="5" y="89"/>
                  </a:lnTo>
                  <a:lnTo>
                    <a:pt x="5" y="84"/>
                  </a:lnTo>
                  <a:lnTo>
                    <a:pt x="5" y="81"/>
                  </a:lnTo>
                  <a:lnTo>
                    <a:pt x="7" y="76"/>
                  </a:lnTo>
                  <a:lnTo>
                    <a:pt x="7" y="71"/>
                  </a:lnTo>
                  <a:lnTo>
                    <a:pt x="7" y="66"/>
                  </a:lnTo>
                  <a:lnTo>
                    <a:pt x="7" y="61"/>
                  </a:lnTo>
                  <a:lnTo>
                    <a:pt x="2" y="64"/>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08" name="Freeform 148">
              <a:extLst>
                <a:ext uri="{FF2B5EF4-FFF2-40B4-BE49-F238E27FC236}">
                  <a16:creationId xmlns:a16="http://schemas.microsoft.com/office/drawing/2014/main" id="{1C92BDAE-02FC-5FC9-45F0-62288C708F67}"/>
                </a:ext>
              </a:extLst>
            </p:cNvPr>
            <p:cNvSpPr>
              <a:spLocks noEditPoints="1"/>
            </p:cNvSpPr>
            <p:nvPr/>
          </p:nvSpPr>
          <p:spPr bwMode="auto">
            <a:xfrm>
              <a:off x="1518" y="1514"/>
              <a:ext cx="636" cy="199"/>
            </a:xfrm>
            <a:custGeom>
              <a:avLst/>
              <a:gdLst>
                <a:gd name="T0" fmla="*/ 636 w 636"/>
                <a:gd name="T1" fmla="*/ 86 h 199"/>
                <a:gd name="T2" fmla="*/ 635 w 636"/>
                <a:gd name="T3" fmla="*/ 61 h 199"/>
                <a:gd name="T4" fmla="*/ 630 w 636"/>
                <a:gd name="T5" fmla="*/ 36 h 199"/>
                <a:gd name="T6" fmla="*/ 625 w 636"/>
                <a:gd name="T7" fmla="*/ 11 h 199"/>
                <a:gd name="T8" fmla="*/ 617 w 636"/>
                <a:gd name="T9" fmla="*/ 0 h 199"/>
                <a:gd name="T10" fmla="*/ 623 w 636"/>
                <a:gd name="T11" fmla="*/ 23 h 199"/>
                <a:gd name="T12" fmla="*/ 628 w 636"/>
                <a:gd name="T13" fmla="*/ 48 h 199"/>
                <a:gd name="T14" fmla="*/ 631 w 636"/>
                <a:gd name="T15" fmla="*/ 73 h 199"/>
                <a:gd name="T16" fmla="*/ 631 w 636"/>
                <a:gd name="T17" fmla="*/ 99 h 199"/>
                <a:gd name="T18" fmla="*/ 631 w 636"/>
                <a:gd name="T19" fmla="*/ 107 h 199"/>
                <a:gd name="T20" fmla="*/ 631 w 636"/>
                <a:gd name="T21" fmla="*/ 114 h 199"/>
                <a:gd name="T22" fmla="*/ 631 w 636"/>
                <a:gd name="T23" fmla="*/ 122 h 199"/>
                <a:gd name="T24" fmla="*/ 630 w 636"/>
                <a:gd name="T25" fmla="*/ 131 h 199"/>
                <a:gd name="T26" fmla="*/ 636 w 636"/>
                <a:gd name="T27" fmla="*/ 124 h 199"/>
                <a:gd name="T28" fmla="*/ 636 w 636"/>
                <a:gd name="T29" fmla="*/ 117 h 199"/>
                <a:gd name="T30" fmla="*/ 636 w 636"/>
                <a:gd name="T31" fmla="*/ 109 h 199"/>
                <a:gd name="T32" fmla="*/ 636 w 636"/>
                <a:gd name="T33" fmla="*/ 102 h 199"/>
                <a:gd name="T34" fmla="*/ 2 w 636"/>
                <a:gd name="T35" fmla="*/ 63 h 199"/>
                <a:gd name="T36" fmla="*/ 0 w 636"/>
                <a:gd name="T37" fmla="*/ 71 h 199"/>
                <a:gd name="T38" fmla="*/ 0 w 636"/>
                <a:gd name="T39" fmla="*/ 81 h 199"/>
                <a:gd name="T40" fmla="*/ 0 w 636"/>
                <a:gd name="T41" fmla="*/ 89 h 199"/>
                <a:gd name="T42" fmla="*/ 0 w 636"/>
                <a:gd name="T43" fmla="*/ 99 h 199"/>
                <a:gd name="T44" fmla="*/ 0 w 636"/>
                <a:gd name="T45" fmla="*/ 124 h 199"/>
                <a:gd name="T46" fmla="*/ 4 w 636"/>
                <a:gd name="T47" fmla="*/ 151 h 199"/>
                <a:gd name="T48" fmla="*/ 9 w 636"/>
                <a:gd name="T49" fmla="*/ 175 h 199"/>
                <a:gd name="T50" fmla="*/ 15 w 636"/>
                <a:gd name="T51" fmla="*/ 199 h 199"/>
                <a:gd name="T52" fmla="*/ 17 w 636"/>
                <a:gd name="T53" fmla="*/ 187 h 199"/>
                <a:gd name="T54" fmla="*/ 10 w 636"/>
                <a:gd name="T55" fmla="*/ 162 h 199"/>
                <a:gd name="T56" fmla="*/ 7 w 636"/>
                <a:gd name="T57" fmla="*/ 137 h 199"/>
                <a:gd name="T58" fmla="*/ 5 w 636"/>
                <a:gd name="T59" fmla="*/ 112 h 199"/>
                <a:gd name="T60" fmla="*/ 4 w 636"/>
                <a:gd name="T61" fmla="*/ 94 h 199"/>
                <a:gd name="T62" fmla="*/ 5 w 636"/>
                <a:gd name="T63" fmla="*/ 84 h 199"/>
                <a:gd name="T64" fmla="*/ 5 w 636"/>
                <a:gd name="T65" fmla="*/ 74 h 199"/>
                <a:gd name="T66" fmla="*/ 7 w 636"/>
                <a:gd name="T67" fmla="*/ 64 h 199"/>
                <a:gd name="T68" fmla="*/ 2 w 636"/>
                <a:gd name="T69" fmla="*/ 6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6" h="199">
                  <a:moveTo>
                    <a:pt x="636" y="99"/>
                  </a:moveTo>
                  <a:lnTo>
                    <a:pt x="636" y="86"/>
                  </a:lnTo>
                  <a:lnTo>
                    <a:pt x="636" y="73"/>
                  </a:lnTo>
                  <a:lnTo>
                    <a:pt x="635" y="61"/>
                  </a:lnTo>
                  <a:lnTo>
                    <a:pt x="633" y="48"/>
                  </a:lnTo>
                  <a:lnTo>
                    <a:pt x="630" y="36"/>
                  </a:lnTo>
                  <a:lnTo>
                    <a:pt x="628" y="23"/>
                  </a:lnTo>
                  <a:lnTo>
                    <a:pt x="625" y="11"/>
                  </a:lnTo>
                  <a:lnTo>
                    <a:pt x="621" y="0"/>
                  </a:lnTo>
                  <a:lnTo>
                    <a:pt x="617" y="0"/>
                  </a:lnTo>
                  <a:lnTo>
                    <a:pt x="620" y="11"/>
                  </a:lnTo>
                  <a:lnTo>
                    <a:pt x="623" y="23"/>
                  </a:lnTo>
                  <a:lnTo>
                    <a:pt x="625" y="36"/>
                  </a:lnTo>
                  <a:lnTo>
                    <a:pt x="628" y="48"/>
                  </a:lnTo>
                  <a:lnTo>
                    <a:pt x="630" y="61"/>
                  </a:lnTo>
                  <a:lnTo>
                    <a:pt x="631" y="73"/>
                  </a:lnTo>
                  <a:lnTo>
                    <a:pt x="631" y="86"/>
                  </a:lnTo>
                  <a:lnTo>
                    <a:pt x="631" y="99"/>
                  </a:lnTo>
                  <a:lnTo>
                    <a:pt x="631" y="102"/>
                  </a:lnTo>
                  <a:lnTo>
                    <a:pt x="631" y="107"/>
                  </a:lnTo>
                  <a:lnTo>
                    <a:pt x="631" y="111"/>
                  </a:lnTo>
                  <a:lnTo>
                    <a:pt x="631" y="114"/>
                  </a:lnTo>
                  <a:lnTo>
                    <a:pt x="631" y="119"/>
                  </a:lnTo>
                  <a:lnTo>
                    <a:pt x="631" y="122"/>
                  </a:lnTo>
                  <a:lnTo>
                    <a:pt x="631" y="126"/>
                  </a:lnTo>
                  <a:lnTo>
                    <a:pt x="630" y="131"/>
                  </a:lnTo>
                  <a:lnTo>
                    <a:pt x="635" y="127"/>
                  </a:lnTo>
                  <a:lnTo>
                    <a:pt x="636" y="124"/>
                  </a:lnTo>
                  <a:lnTo>
                    <a:pt x="636" y="121"/>
                  </a:lnTo>
                  <a:lnTo>
                    <a:pt x="636" y="117"/>
                  </a:lnTo>
                  <a:lnTo>
                    <a:pt x="636" y="114"/>
                  </a:lnTo>
                  <a:lnTo>
                    <a:pt x="636" y="109"/>
                  </a:lnTo>
                  <a:lnTo>
                    <a:pt x="636" y="106"/>
                  </a:lnTo>
                  <a:lnTo>
                    <a:pt x="636" y="102"/>
                  </a:lnTo>
                  <a:lnTo>
                    <a:pt x="636" y="99"/>
                  </a:lnTo>
                  <a:close/>
                  <a:moveTo>
                    <a:pt x="2" y="63"/>
                  </a:moveTo>
                  <a:lnTo>
                    <a:pt x="0" y="68"/>
                  </a:lnTo>
                  <a:lnTo>
                    <a:pt x="0" y="71"/>
                  </a:lnTo>
                  <a:lnTo>
                    <a:pt x="0" y="76"/>
                  </a:lnTo>
                  <a:lnTo>
                    <a:pt x="0" y="81"/>
                  </a:lnTo>
                  <a:lnTo>
                    <a:pt x="0" y="86"/>
                  </a:lnTo>
                  <a:lnTo>
                    <a:pt x="0" y="89"/>
                  </a:lnTo>
                  <a:lnTo>
                    <a:pt x="0" y="94"/>
                  </a:lnTo>
                  <a:lnTo>
                    <a:pt x="0" y="99"/>
                  </a:lnTo>
                  <a:lnTo>
                    <a:pt x="0" y="112"/>
                  </a:lnTo>
                  <a:lnTo>
                    <a:pt x="0" y="124"/>
                  </a:lnTo>
                  <a:lnTo>
                    <a:pt x="2" y="137"/>
                  </a:lnTo>
                  <a:lnTo>
                    <a:pt x="4" y="151"/>
                  </a:lnTo>
                  <a:lnTo>
                    <a:pt x="5" y="162"/>
                  </a:lnTo>
                  <a:lnTo>
                    <a:pt x="9" y="175"/>
                  </a:lnTo>
                  <a:lnTo>
                    <a:pt x="12" y="187"/>
                  </a:lnTo>
                  <a:lnTo>
                    <a:pt x="15" y="199"/>
                  </a:lnTo>
                  <a:lnTo>
                    <a:pt x="20" y="199"/>
                  </a:lnTo>
                  <a:lnTo>
                    <a:pt x="17" y="187"/>
                  </a:lnTo>
                  <a:lnTo>
                    <a:pt x="14" y="175"/>
                  </a:lnTo>
                  <a:lnTo>
                    <a:pt x="10" y="162"/>
                  </a:lnTo>
                  <a:lnTo>
                    <a:pt x="9" y="151"/>
                  </a:lnTo>
                  <a:lnTo>
                    <a:pt x="7" y="137"/>
                  </a:lnTo>
                  <a:lnTo>
                    <a:pt x="5" y="124"/>
                  </a:lnTo>
                  <a:lnTo>
                    <a:pt x="5" y="112"/>
                  </a:lnTo>
                  <a:lnTo>
                    <a:pt x="4" y="99"/>
                  </a:lnTo>
                  <a:lnTo>
                    <a:pt x="4" y="94"/>
                  </a:lnTo>
                  <a:lnTo>
                    <a:pt x="5" y="89"/>
                  </a:lnTo>
                  <a:lnTo>
                    <a:pt x="5" y="84"/>
                  </a:lnTo>
                  <a:lnTo>
                    <a:pt x="5" y="79"/>
                  </a:lnTo>
                  <a:lnTo>
                    <a:pt x="5" y="74"/>
                  </a:lnTo>
                  <a:lnTo>
                    <a:pt x="5" y="69"/>
                  </a:lnTo>
                  <a:lnTo>
                    <a:pt x="7" y="64"/>
                  </a:lnTo>
                  <a:lnTo>
                    <a:pt x="7" y="61"/>
                  </a:lnTo>
                  <a:lnTo>
                    <a:pt x="2" y="63"/>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09" name="Freeform 149">
              <a:extLst>
                <a:ext uri="{FF2B5EF4-FFF2-40B4-BE49-F238E27FC236}">
                  <a16:creationId xmlns:a16="http://schemas.microsoft.com/office/drawing/2014/main" id="{F0967E94-795F-247C-6ADB-4D402F6D2FA9}"/>
                </a:ext>
              </a:extLst>
            </p:cNvPr>
            <p:cNvSpPr>
              <a:spLocks noEditPoints="1"/>
            </p:cNvSpPr>
            <p:nvPr/>
          </p:nvSpPr>
          <p:spPr bwMode="auto">
            <a:xfrm>
              <a:off x="1520" y="1514"/>
              <a:ext cx="633" cy="199"/>
            </a:xfrm>
            <a:custGeom>
              <a:avLst/>
              <a:gdLst>
                <a:gd name="T0" fmla="*/ 633 w 633"/>
                <a:gd name="T1" fmla="*/ 86 h 199"/>
                <a:gd name="T2" fmla="*/ 629 w 633"/>
                <a:gd name="T3" fmla="*/ 61 h 199"/>
                <a:gd name="T4" fmla="*/ 626 w 633"/>
                <a:gd name="T5" fmla="*/ 36 h 199"/>
                <a:gd name="T6" fmla="*/ 619 w 633"/>
                <a:gd name="T7" fmla="*/ 11 h 199"/>
                <a:gd name="T8" fmla="*/ 611 w 633"/>
                <a:gd name="T9" fmla="*/ 0 h 199"/>
                <a:gd name="T10" fmla="*/ 618 w 633"/>
                <a:gd name="T11" fmla="*/ 23 h 199"/>
                <a:gd name="T12" fmla="*/ 623 w 633"/>
                <a:gd name="T13" fmla="*/ 48 h 199"/>
                <a:gd name="T14" fmla="*/ 626 w 633"/>
                <a:gd name="T15" fmla="*/ 73 h 199"/>
                <a:gd name="T16" fmla="*/ 628 w 633"/>
                <a:gd name="T17" fmla="*/ 99 h 199"/>
                <a:gd name="T18" fmla="*/ 628 w 633"/>
                <a:gd name="T19" fmla="*/ 107 h 199"/>
                <a:gd name="T20" fmla="*/ 628 w 633"/>
                <a:gd name="T21" fmla="*/ 116 h 199"/>
                <a:gd name="T22" fmla="*/ 626 w 633"/>
                <a:gd name="T23" fmla="*/ 124 h 199"/>
                <a:gd name="T24" fmla="*/ 626 w 633"/>
                <a:gd name="T25" fmla="*/ 131 h 199"/>
                <a:gd name="T26" fmla="*/ 631 w 633"/>
                <a:gd name="T27" fmla="*/ 126 h 199"/>
                <a:gd name="T28" fmla="*/ 631 w 633"/>
                <a:gd name="T29" fmla="*/ 117 h 199"/>
                <a:gd name="T30" fmla="*/ 633 w 633"/>
                <a:gd name="T31" fmla="*/ 111 h 199"/>
                <a:gd name="T32" fmla="*/ 633 w 633"/>
                <a:gd name="T33" fmla="*/ 102 h 199"/>
                <a:gd name="T34" fmla="*/ 2 w 633"/>
                <a:gd name="T35" fmla="*/ 61 h 199"/>
                <a:gd name="T36" fmla="*/ 2 w 633"/>
                <a:gd name="T37" fmla="*/ 71 h 199"/>
                <a:gd name="T38" fmla="*/ 0 w 633"/>
                <a:gd name="T39" fmla="*/ 81 h 199"/>
                <a:gd name="T40" fmla="*/ 0 w 633"/>
                <a:gd name="T41" fmla="*/ 89 h 199"/>
                <a:gd name="T42" fmla="*/ 0 w 633"/>
                <a:gd name="T43" fmla="*/ 99 h 199"/>
                <a:gd name="T44" fmla="*/ 2 w 633"/>
                <a:gd name="T45" fmla="*/ 124 h 199"/>
                <a:gd name="T46" fmla="*/ 3 w 633"/>
                <a:gd name="T47" fmla="*/ 151 h 199"/>
                <a:gd name="T48" fmla="*/ 8 w 633"/>
                <a:gd name="T49" fmla="*/ 175 h 199"/>
                <a:gd name="T50" fmla="*/ 17 w 633"/>
                <a:gd name="T51" fmla="*/ 199 h 199"/>
                <a:gd name="T52" fmla="*/ 17 w 633"/>
                <a:gd name="T53" fmla="*/ 187 h 199"/>
                <a:gd name="T54" fmla="*/ 12 w 633"/>
                <a:gd name="T55" fmla="*/ 162 h 199"/>
                <a:gd name="T56" fmla="*/ 7 w 633"/>
                <a:gd name="T57" fmla="*/ 137 h 199"/>
                <a:gd name="T58" fmla="*/ 5 w 633"/>
                <a:gd name="T59" fmla="*/ 112 h 199"/>
                <a:gd name="T60" fmla="*/ 5 w 633"/>
                <a:gd name="T61" fmla="*/ 94 h 199"/>
                <a:gd name="T62" fmla="*/ 5 w 633"/>
                <a:gd name="T63" fmla="*/ 84 h 199"/>
                <a:gd name="T64" fmla="*/ 5 w 633"/>
                <a:gd name="T65" fmla="*/ 74 h 199"/>
                <a:gd name="T66" fmla="*/ 7 w 633"/>
                <a:gd name="T67" fmla="*/ 64 h 199"/>
                <a:gd name="T68" fmla="*/ 2 w 633"/>
                <a:gd name="T69" fmla="*/ 6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3" h="199">
                  <a:moveTo>
                    <a:pt x="633" y="99"/>
                  </a:moveTo>
                  <a:lnTo>
                    <a:pt x="633" y="86"/>
                  </a:lnTo>
                  <a:lnTo>
                    <a:pt x="631" y="73"/>
                  </a:lnTo>
                  <a:lnTo>
                    <a:pt x="629" y="61"/>
                  </a:lnTo>
                  <a:lnTo>
                    <a:pt x="628" y="48"/>
                  </a:lnTo>
                  <a:lnTo>
                    <a:pt x="626" y="36"/>
                  </a:lnTo>
                  <a:lnTo>
                    <a:pt x="623" y="23"/>
                  </a:lnTo>
                  <a:lnTo>
                    <a:pt x="619" y="11"/>
                  </a:lnTo>
                  <a:lnTo>
                    <a:pt x="616" y="0"/>
                  </a:lnTo>
                  <a:lnTo>
                    <a:pt x="611" y="0"/>
                  </a:lnTo>
                  <a:lnTo>
                    <a:pt x="615" y="11"/>
                  </a:lnTo>
                  <a:lnTo>
                    <a:pt x="618" y="23"/>
                  </a:lnTo>
                  <a:lnTo>
                    <a:pt x="621" y="36"/>
                  </a:lnTo>
                  <a:lnTo>
                    <a:pt x="623" y="48"/>
                  </a:lnTo>
                  <a:lnTo>
                    <a:pt x="624" y="61"/>
                  </a:lnTo>
                  <a:lnTo>
                    <a:pt x="626" y="73"/>
                  </a:lnTo>
                  <a:lnTo>
                    <a:pt x="628" y="86"/>
                  </a:lnTo>
                  <a:lnTo>
                    <a:pt x="628" y="99"/>
                  </a:lnTo>
                  <a:lnTo>
                    <a:pt x="628" y="102"/>
                  </a:lnTo>
                  <a:lnTo>
                    <a:pt x="628" y="107"/>
                  </a:lnTo>
                  <a:lnTo>
                    <a:pt x="628" y="111"/>
                  </a:lnTo>
                  <a:lnTo>
                    <a:pt x="628" y="116"/>
                  </a:lnTo>
                  <a:lnTo>
                    <a:pt x="626" y="119"/>
                  </a:lnTo>
                  <a:lnTo>
                    <a:pt x="626" y="124"/>
                  </a:lnTo>
                  <a:lnTo>
                    <a:pt x="626" y="127"/>
                  </a:lnTo>
                  <a:lnTo>
                    <a:pt x="626" y="131"/>
                  </a:lnTo>
                  <a:lnTo>
                    <a:pt x="631" y="129"/>
                  </a:lnTo>
                  <a:lnTo>
                    <a:pt x="631" y="126"/>
                  </a:lnTo>
                  <a:lnTo>
                    <a:pt x="631" y="122"/>
                  </a:lnTo>
                  <a:lnTo>
                    <a:pt x="631" y="117"/>
                  </a:lnTo>
                  <a:lnTo>
                    <a:pt x="631" y="114"/>
                  </a:lnTo>
                  <a:lnTo>
                    <a:pt x="633" y="111"/>
                  </a:lnTo>
                  <a:lnTo>
                    <a:pt x="633" y="106"/>
                  </a:lnTo>
                  <a:lnTo>
                    <a:pt x="633" y="102"/>
                  </a:lnTo>
                  <a:lnTo>
                    <a:pt x="633" y="99"/>
                  </a:lnTo>
                  <a:close/>
                  <a:moveTo>
                    <a:pt x="2" y="61"/>
                  </a:moveTo>
                  <a:lnTo>
                    <a:pt x="2" y="66"/>
                  </a:lnTo>
                  <a:lnTo>
                    <a:pt x="2" y="71"/>
                  </a:lnTo>
                  <a:lnTo>
                    <a:pt x="2" y="76"/>
                  </a:lnTo>
                  <a:lnTo>
                    <a:pt x="0" y="81"/>
                  </a:lnTo>
                  <a:lnTo>
                    <a:pt x="0" y="84"/>
                  </a:lnTo>
                  <a:lnTo>
                    <a:pt x="0" y="89"/>
                  </a:lnTo>
                  <a:lnTo>
                    <a:pt x="0" y="94"/>
                  </a:lnTo>
                  <a:lnTo>
                    <a:pt x="0" y="99"/>
                  </a:lnTo>
                  <a:lnTo>
                    <a:pt x="0" y="112"/>
                  </a:lnTo>
                  <a:lnTo>
                    <a:pt x="2" y="124"/>
                  </a:lnTo>
                  <a:lnTo>
                    <a:pt x="2" y="137"/>
                  </a:lnTo>
                  <a:lnTo>
                    <a:pt x="3" y="151"/>
                  </a:lnTo>
                  <a:lnTo>
                    <a:pt x="7" y="162"/>
                  </a:lnTo>
                  <a:lnTo>
                    <a:pt x="8" y="175"/>
                  </a:lnTo>
                  <a:lnTo>
                    <a:pt x="12" y="187"/>
                  </a:lnTo>
                  <a:lnTo>
                    <a:pt x="17" y="199"/>
                  </a:lnTo>
                  <a:lnTo>
                    <a:pt x="22" y="199"/>
                  </a:lnTo>
                  <a:lnTo>
                    <a:pt x="17" y="187"/>
                  </a:lnTo>
                  <a:lnTo>
                    <a:pt x="13" y="175"/>
                  </a:lnTo>
                  <a:lnTo>
                    <a:pt x="12" y="162"/>
                  </a:lnTo>
                  <a:lnTo>
                    <a:pt x="8" y="151"/>
                  </a:lnTo>
                  <a:lnTo>
                    <a:pt x="7" y="137"/>
                  </a:lnTo>
                  <a:lnTo>
                    <a:pt x="7" y="124"/>
                  </a:lnTo>
                  <a:lnTo>
                    <a:pt x="5" y="112"/>
                  </a:lnTo>
                  <a:lnTo>
                    <a:pt x="5" y="99"/>
                  </a:lnTo>
                  <a:lnTo>
                    <a:pt x="5" y="94"/>
                  </a:lnTo>
                  <a:lnTo>
                    <a:pt x="5" y="89"/>
                  </a:lnTo>
                  <a:lnTo>
                    <a:pt x="5" y="84"/>
                  </a:lnTo>
                  <a:lnTo>
                    <a:pt x="5" y="79"/>
                  </a:lnTo>
                  <a:lnTo>
                    <a:pt x="5" y="74"/>
                  </a:lnTo>
                  <a:lnTo>
                    <a:pt x="7" y="69"/>
                  </a:lnTo>
                  <a:lnTo>
                    <a:pt x="7" y="64"/>
                  </a:lnTo>
                  <a:lnTo>
                    <a:pt x="7" y="59"/>
                  </a:lnTo>
                  <a:lnTo>
                    <a:pt x="2" y="61"/>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10" name="Freeform 150">
              <a:extLst>
                <a:ext uri="{FF2B5EF4-FFF2-40B4-BE49-F238E27FC236}">
                  <a16:creationId xmlns:a16="http://schemas.microsoft.com/office/drawing/2014/main" id="{F4C22BFF-1B97-7016-D668-13C9AC071D8B}"/>
                </a:ext>
              </a:extLst>
            </p:cNvPr>
            <p:cNvSpPr>
              <a:spLocks noEditPoints="1"/>
            </p:cNvSpPr>
            <p:nvPr/>
          </p:nvSpPr>
          <p:spPr bwMode="auto">
            <a:xfrm>
              <a:off x="1522" y="1514"/>
              <a:ext cx="627" cy="199"/>
            </a:xfrm>
            <a:custGeom>
              <a:avLst/>
              <a:gdLst>
                <a:gd name="T0" fmla="*/ 627 w 627"/>
                <a:gd name="T1" fmla="*/ 86 h 199"/>
                <a:gd name="T2" fmla="*/ 626 w 627"/>
                <a:gd name="T3" fmla="*/ 61 h 199"/>
                <a:gd name="T4" fmla="*/ 621 w 627"/>
                <a:gd name="T5" fmla="*/ 36 h 199"/>
                <a:gd name="T6" fmla="*/ 616 w 627"/>
                <a:gd name="T7" fmla="*/ 11 h 199"/>
                <a:gd name="T8" fmla="*/ 608 w 627"/>
                <a:gd name="T9" fmla="*/ 0 h 199"/>
                <a:gd name="T10" fmla="*/ 614 w 627"/>
                <a:gd name="T11" fmla="*/ 23 h 199"/>
                <a:gd name="T12" fmla="*/ 619 w 627"/>
                <a:gd name="T13" fmla="*/ 48 h 199"/>
                <a:gd name="T14" fmla="*/ 622 w 627"/>
                <a:gd name="T15" fmla="*/ 73 h 199"/>
                <a:gd name="T16" fmla="*/ 622 w 627"/>
                <a:gd name="T17" fmla="*/ 99 h 199"/>
                <a:gd name="T18" fmla="*/ 622 w 627"/>
                <a:gd name="T19" fmla="*/ 107 h 199"/>
                <a:gd name="T20" fmla="*/ 622 w 627"/>
                <a:gd name="T21" fmla="*/ 116 h 199"/>
                <a:gd name="T22" fmla="*/ 622 w 627"/>
                <a:gd name="T23" fmla="*/ 124 h 199"/>
                <a:gd name="T24" fmla="*/ 621 w 627"/>
                <a:gd name="T25" fmla="*/ 132 h 199"/>
                <a:gd name="T26" fmla="*/ 627 w 627"/>
                <a:gd name="T27" fmla="*/ 126 h 199"/>
                <a:gd name="T28" fmla="*/ 627 w 627"/>
                <a:gd name="T29" fmla="*/ 119 h 199"/>
                <a:gd name="T30" fmla="*/ 627 w 627"/>
                <a:gd name="T31" fmla="*/ 111 h 199"/>
                <a:gd name="T32" fmla="*/ 627 w 627"/>
                <a:gd name="T33" fmla="*/ 102 h 199"/>
                <a:gd name="T34" fmla="*/ 3 w 627"/>
                <a:gd name="T35" fmla="*/ 61 h 199"/>
                <a:gd name="T36" fmla="*/ 1 w 627"/>
                <a:gd name="T37" fmla="*/ 69 h 199"/>
                <a:gd name="T38" fmla="*/ 1 w 627"/>
                <a:gd name="T39" fmla="*/ 79 h 199"/>
                <a:gd name="T40" fmla="*/ 1 w 627"/>
                <a:gd name="T41" fmla="*/ 89 h 199"/>
                <a:gd name="T42" fmla="*/ 0 w 627"/>
                <a:gd name="T43" fmla="*/ 99 h 199"/>
                <a:gd name="T44" fmla="*/ 1 w 627"/>
                <a:gd name="T45" fmla="*/ 124 h 199"/>
                <a:gd name="T46" fmla="*/ 5 w 627"/>
                <a:gd name="T47" fmla="*/ 151 h 199"/>
                <a:gd name="T48" fmla="*/ 10 w 627"/>
                <a:gd name="T49" fmla="*/ 175 h 199"/>
                <a:gd name="T50" fmla="*/ 16 w 627"/>
                <a:gd name="T51" fmla="*/ 199 h 199"/>
                <a:gd name="T52" fmla="*/ 18 w 627"/>
                <a:gd name="T53" fmla="*/ 187 h 199"/>
                <a:gd name="T54" fmla="*/ 11 w 627"/>
                <a:gd name="T55" fmla="*/ 162 h 199"/>
                <a:gd name="T56" fmla="*/ 8 w 627"/>
                <a:gd name="T57" fmla="*/ 137 h 199"/>
                <a:gd name="T58" fmla="*/ 5 w 627"/>
                <a:gd name="T59" fmla="*/ 112 h 199"/>
                <a:gd name="T60" fmla="*/ 5 w 627"/>
                <a:gd name="T61" fmla="*/ 94 h 199"/>
                <a:gd name="T62" fmla="*/ 6 w 627"/>
                <a:gd name="T63" fmla="*/ 84 h 199"/>
                <a:gd name="T64" fmla="*/ 6 w 627"/>
                <a:gd name="T65" fmla="*/ 73 h 199"/>
                <a:gd name="T66" fmla="*/ 8 w 627"/>
                <a:gd name="T67" fmla="*/ 63 h 199"/>
                <a:gd name="T68" fmla="*/ 3 w 627"/>
                <a:gd name="T69" fmla="*/ 6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7" h="199">
                  <a:moveTo>
                    <a:pt x="627" y="99"/>
                  </a:moveTo>
                  <a:lnTo>
                    <a:pt x="627" y="86"/>
                  </a:lnTo>
                  <a:lnTo>
                    <a:pt x="627" y="73"/>
                  </a:lnTo>
                  <a:lnTo>
                    <a:pt x="626" y="61"/>
                  </a:lnTo>
                  <a:lnTo>
                    <a:pt x="624" y="48"/>
                  </a:lnTo>
                  <a:lnTo>
                    <a:pt x="621" y="36"/>
                  </a:lnTo>
                  <a:lnTo>
                    <a:pt x="619" y="23"/>
                  </a:lnTo>
                  <a:lnTo>
                    <a:pt x="616" y="11"/>
                  </a:lnTo>
                  <a:lnTo>
                    <a:pt x="613" y="0"/>
                  </a:lnTo>
                  <a:lnTo>
                    <a:pt x="608" y="0"/>
                  </a:lnTo>
                  <a:lnTo>
                    <a:pt x="611" y="11"/>
                  </a:lnTo>
                  <a:lnTo>
                    <a:pt x="614" y="23"/>
                  </a:lnTo>
                  <a:lnTo>
                    <a:pt x="616" y="36"/>
                  </a:lnTo>
                  <a:lnTo>
                    <a:pt x="619" y="48"/>
                  </a:lnTo>
                  <a:lnTo>
                    <a:pt x="621" y="61"/>
                  </a:lnTo>
                  <a:lnTo>
                    <a:pt x="622" y="73"/>
                  </a:lnTo>
                  <a:lnTo>
                    <a:pt x="622" y="86"/>
                  </a:lnTo>
                  <a:lnTo>
                    <a:pt x="622" y="99"/>
                  </a:lnTo>
                  <a:lnTo>
                    <a:pt x="622" y="102"/>
                  </a:lnTo>
                  <a:lnTo>
                    <a:pt x="622" y="107"/>
                  </a:lnTo>
                  <a:lnTo>
                    <a:pt x="622" y="112"/>
                  </a:lnTo>
                  <a:lnTo>
                    <a:pt x="622" y="116"/>
                  </a:lnTo>
                  <a:lnTo>
                    <a:pt x="622" y="121"/>
                  </a:lnTo>
                  <a:lnTo>
                    <a:pt x="622" y="124"/>
                  </a:lnTo>
                  <a:lnTo>
                    <a:pt x="622" y="129"/>
                  </a:lnTo>
                  <a:lnTo>
                    <a:pt x="621" y="132"/>
                  </a:lnTo>
                  <a:lnTo>
                    <a:pt x="626" y="131"/>
                  </a:lnTo>
                  <a:lnTo>
                    <a:pt x="627" y="126"/>
                  </a:lnTo>
                  <a:lnTo>
                    <a:pt x="627" y="122"/>
                  </a:lnTo>
                  <a:lnTo>
                    <a:pt x="627" y="119"/>
                  </a:lnTo>
                  <a:lnTo>
                    <a:pt x="627" y="114"/>
                  </a:lnTo>
                  <a:lnTo>
                    <a:pt x="627" y="111"/>
                  </a:lnTo>
                  <a:lnTo>
                    <a:pt x="627" y="107"/>
                  </a:lnTo>
                  <a:lnTo>
                    <a:pt x="627" y="102"/>
                  </a:lnTo>
                  <a:lnTo>
                    <a:pt x="627" y="99"/>
                  </a:lnTo>
                  <a:close/>
                  <a:moveTo>
                    <a:pt x="3" y="61"/>
                  </a:moveTo>
                  <a:lnTo>
                    <a:pt x="3" y="64"/>
                  </a:lnTo>
                  <a:lnTo>
                    <a:pt x="1" y="69"/>
                  </a:lnTo>
                  <a:lnTo>
                    <a:pt x="1" y="74"/>
                  </a:lnTo>
                  <a:lnTo>
                    <a:pt x="1" y="79"/>
                  </a:lnTo>
                  <a:lnTo>
                    <a:pt x="1" y="84"/>
                  </a:lnTo>
                  <a:lnTo>
                    <a:pt x="1" y="89"/>
                  </a:lnTo>
                  <a:lnTo>
                    <a:pt x="0" y="94"/>
                  </a:lnTo>
                  <a:lnTo>
                    <a:pt x="0" y="99"/>
                  </a:lnTo>
                  <a:lnTo>
                    <a:pt x="1" y="112"/>
                  </a:lnTo>
                  <a:lnTo>
                    <a:pt x="1" y="124"/>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8" y="137"/>
                  </a:lnTo>
                  <a:lnTo>
                    <a:pt x="6" y="124"/>
                  </a:lnTo>
                  <a:lnTo>
                    <a:pt x="5" y="112"/>
                  </a:lnTo>
                  <a:lnTo>
                    <a:pt x="5" y="99"/>
                  </a:lnTo>
                  <a:lnTo>
                    <a:pt x="5" y="94"/>
                  </a:lnTo>
                  <a:lnTo>
                    <a:pt x="5" y="89"/>
                  </a:lnTo>
                  <a:lnTo>
                    <a:pt x="6" y="84"/>
                  </a:lnTo>
                  <a:lnTo>
                    <a:pt x="6" y="78"/>
                  </a:lnTo>
                  <a:lnTo>
                    <a:pt x="6" y="73"/>
                  </a:lnTo>
                  <a:lnTo>
                    <a:pt x="6" y="68"/>
                  </a:lnTo>
                  <a:lnTo>
                    <a:pt x="8" y="63"/>
                  </a:lnTo>
                  <a:lnTo>
                    <a:pt x="8" y="58"/>
                  </a:lnTo>
                  <a:lnTo>
                    <a:pt x="3" y="61"/>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11" name="Freeform 151">
              <a:extLst>
                <a:ext uri="{FF2B5EF4-FFF2-40B4-BE49-F238E27FC236}">
                  <a16:creationId xmlns:a16="http://schemas.microsoft.com/office/drawing/2014/main" id="{C9FFE640-245C-23DF-BBDC-3E1867704F7D}"/>
                </a:ext>
              </a:extLst>
            </p:cNvPr>
            <p:cNvSpPr>
              <a:spLocks noEditPoints="1"/>
            </p:cNvSpPr>
            <p:nvPr/>
          </p:nvSpPr>
          <p:spPr bwMode="auto">
            <a:xfrm>
              <a:off x="1525" y="1514"/>
              <a:ext cx="623" cy="199"/>
            </a:xfrm>
            <a:custGeom>
              <a:avLst/>
              <a:gdLst>
                <a:gd name="T0" fmla="*/ 623 w 623"/>
                <a:gd name="T1" fmla="*/ 86 h 199"/>
                <a:gd name="T2" fmla="*/ 619 w 623"/>
                <a:gd name="T3" fmla="*/ 61 h 199"/>
                <a:gd name="T4" fmla="*/ 616 w 623"/>
                <a:gd name="T5" fmla="*/ 36 h 199"/>
                <a:gd name="T6" fmla="*/ 610 w 623"/>
                <a:gd name="T7" fmla="*/ 11 h 199"/>
                <a:gd name="T8" fmla="*/ 601 w 623"/>
                <a:gd name="T9" fmla="*/ 0 h 199"/>
                <a:gd name="T10" fmla="*/ 608 w 623"/>
                <a:gd name="T11" fmla="*/ 23 h 199"/>
                <a:gd name="T12" fmla="*/ 613 w 623"/>
                <a:gd name="T13" fmla="*/ 48 h 199"/>
                <a:gd name="T14" fmla="*/ 616 w 623"/>
                <a:gd name="T15" fmla="*/ 73 h 199"/>
                <a:gd name="T16" fmla="*/ 618 w 623"/>
                <a:gd name="T17" fmla="*/ 99 h 199"/>
                <a:gd name="T18" fmla="*/ 618 w 623"/>
                <a:gd name="T19" fmla="*/ 107 h 199"/>
                <a:gd name="T20" fmla="*/ 618 w 623"/>
                <a:gd name="T21" fmla="*/ 116 h 199"/>
                <a:gd name="T22" fmla="*/ 616 w 623"/>
                <a:gd name="T23" fmla="*/ 126 h 199"/>
                <a:gd name="T24" fmla="*/ 616 w 623"/>
                <a:gd name="T25" fmla="*/ 134 h 199"/>
                <a:gd name="T26" fmla="*/ 621 w 623"/>
                <a:gd name="T27" fmla="*/ 127 h 199"/>
                <a:gd name="T28" fmla="*/ 621 w 623"/>
                <a:gd name="T29" fmla="*/ 119 h 199"/>
                <a:gd name="T30" fmla="*/ 623 w 623"/>
                <a:gd name="T31" fmla="*/ 111 h 199"/>
                <a:gd name="T32" fmla="*/ 623 w 623"/>
                <a:gd name="T33" fmla="*/ 102 h 199"/>
                <a:gd name="T34" fmla="*/ 2 w 623"/>
                <a:gd name="T35" fmla="*/ 59 h 199"/>
                <a:gd name="T36" fmla="*/ 2 w 623"/>
                <a:gd name="T37" fmla="*/ 69 h 199"/>
                <a:gd name="T38" fmla="*/ 0 w 623"/>
                <a:gd name="T39" fmla="*/ 79 h 199"/>
                <a:gd name="T40" fmla="*/ 0 w 623"/>
                <a:gd name="T41" fmla="*/ 89 h 199"/>
                <a:gd name="T42" fmla="*/ 0 w 623"/>
                <a:gd name="T43" fmla="*/ 99 h 199"/>
                <a:gd name="T44" fmla="*/ 2 w 623"/>
                <a:gd name="T45" fmla="*/ 124 h 199"/>
                <a:gd name="T46" fmla="*/ 3 w 623"/>
                <a:gd name="T47" fmla="*/ 151 h 199"/>
                <a:gd name="T48" fmla="*/ 8 w 623"/>
                <a:gd name="T49" fmla="*/ 175 h 199"/>
                <a:gd name="T50" fmla="*/ 17 w 623"/>
                <a:gd name="T51" fmla="*/ 199 h 199"/>
                <a:gd name="T52" fmla="*/ 17 w 623"/>
                <a:gd name="T53" fmla="*/ 187 h 199"/>
                <a:gd name="T54" fmla="*/ 12 w 623"/>
                <a:gd name="T55" fmla="*/ 162 h 199"/>
                <a:gd name="T56" fmla="*/ 7 w 623"/>
                <a:gd name="T57" fmla="*/ 137 h 199"/>
                <a:gd name="T58" fmla="*/ 5 w 623"/>
                <a:gd name="T59" fmla="*/ 112 h 199"/>
                <a:gd name="T60" fmla="*/ 5 w 623"/>
                <a:gd name="T61" fmla="*/ 94 h 199"/>
                <a:gd name="T62" fmla="*/ 5 w 623"/>
                <a:gd name="T63" fmla="*/ 83 h 199"/>
                <a:gd name="T64" fmla="*/ 5 w 623"/>
                <a:gd name="T65" fmla="*/ 73 h 199"/>
                <a:gd name="T66" fmla="*/ 7 w 623"/>
                <a:gd name="T67" fmla="*/ 63 h 199"/>
                <a:gd name="T68" fmla="*/ 2 w 623"/>
                <a:gd name="T69" fmla="*/ 5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3" h="199">
                  <a:moveTo>
                    <a:pt x="623" y="99"/>
                  </a:moveTo>
                  <a:lnTo>
                    <a:pt x="623" y="86"/>
                  </a:lnTo>
                  <a:lnTo>
                    <a:pt x="621" y="73"/>
                  </a:lnTo>
                  <a:lnTo>
                    <a:pt x="619" y="61"/>
                  </a:lnTo>
                  <a:lnTo>
                    <a:pt x="618" y="48"/>
                  </a:lnTo>
                  <a:lnTo>
                    <a:pt x="616" y="36"/>
                  </a:lnTo>
                  <a:lnTo>
                    <a:pt x="613" y="23"/>
                  </a:lnTo>
                  <a:lnTo>
                    <a:pt x="610" y="11"/>
                  </a:lnTo>
                  <a:lnTo>
                    <a:pt x="606" y="0"/>
                  </a:lnTo>
                  <a:lnTo>
                    <a:pt x="601" y="0"/>
                  </a:lnTo>
                  <a:lnTo>
                    <a:pt x="605" y="11"/>
                  </a:lnTo>
                  <a:lnTo>
                    <a:pt x="608" y="23"/>
                  </a:lnTo>
                  <a:lnTo>
                    <a:pt x="611" y="36"/>
                  </a:lnTo>
                  <a:lnTo>
                    <a:pt x="613" y="48"/>
                  </a:lnTo>
                  <a:lnTo>
                    <a:pt x="614" y="61"/>
                  </a:lnTo>
                  <a:lnTo>
                    <a:pt x="616" y="73"/>
                  </a:lnTo>
                  <a:lnTo>
                    <a:pt x="618" y="86"/>
                  </a:lnTo>
                  <a:lnTo>
                    <a:pt x="618" y="99"/>
                  </a:lnTo>
                  <a:lnTo>
                    <a:pt x="618" y="104"/>
                  </a:lnTo>
                  <a:lnTo>
                    <a:pt x="618" y="107"/>
                  </a:lnTo>
                  <a:lnTo>
                    <a:pt x="618" y="112"/>
                  </a:lnTo>
                  <a:lnTo>
                    <a:pt x="618" y="116"/>
                  </a:lnTo>
                  <a:lnTo>
                    <a:pt x="616" y="121"/>
                  </a:lnTo>
                  <a:lnTo>
                    <a:pt x="616" y="126"/>
                  </a:lnTo>
                  <a:lnTo>
                    <a:pt x="616" y="129"/>
                  </a:lnTo>
                  <a:lnTo>
                    <a:pt x="616" y="134"/>
                  </a:lnTo>
                  <a:lnTo>
                    <a:pt x="621" y="131"/>
                  </a:lnTo>
                  <a:lnTo>
                    <a:pt x="621" y="127"/>
                  </a:lnTo>
                  <a:lnTo>
                    <a:pt x="621" y="124"/>
                  </a:lnTo>
                  <a:lnTo>
                    <a:pt x="621" y="119"/>
                  </a:lnTo>
                  <a:lnTo>
                    <a:pt x="623" y="116"/>
                  </a:lnTo>
                  <a:lnTo>
                    <a:pt x="623" y="111"/>
                  </a:lnTo>
                  <a:lnTo>
                    <a:pt x="623" y="107"/>
                  </a:lnTo>
                  <a:lnTo>
                    <a:pt x="623" y="102"/>
                  </a:lnTo>
                  <a:lnTo>
                    <a:pt x="623" y="99"/>
                  </a:lnTo>
                  <a:close/>
                  <a:moveTo>
                    <a:pt x="2" y="59"/>
                  </a:moveTo>
                  <a:lnTo>
                    <a:pt x="2" y="64"/>
                  </a:lnTo>
                  <a:lnTo>
                    <a:pt x="2" y="69"/>
                  </a:lnTo>
                  <a:lnTo>
                    <a:pt x="0" y="74"/>
                  </a:lnTo>
                  <a:lnTo>
                    <a:pt x="0" y="79"/>
                  </a:lnTo>
                  <a:lnTo>
                    <a:pt x="0" y="84"/>
                  </a:lnTo>
                  <a:lnTo>
                    <a:pt x="0" y="89"/>
                  </a:lnTo>
                  <a:lnTo>
                    <a:pt x="0" y="94"/>
                  </a:lnTo>
                  <a:lnTo>
                    <a:pt x="0" y="99"/>
                  </a:lnTo>
                  <a:lnTo>
                    <a:pt x="0" y="112"/>
                  </a:lnTo>
                  <a:lnTo>
                    <a:pt x="2" y="124"/>
                  </a:lnTo>
                  <a:lnTo>
                    <a:pt x="2" y="137"/>
                  </a:lnTo>
                  <a:lnTo>
                    <a:pt x="3" y="151"/>
                  </a:lnTo>
                  <a:lnTo>
                    <a:pt x="7" y="162"/>
                  </a:lnTo>
                  <a:lnTo>
                    <a:pt x="8" y="175"/>
                  </a:lnTo>
                  <a:lnTo>
                    <a:pt x="12" y="187"/>
                  </a:lnTo>
                  <a:lnTo>
                    <a:pt x="17" y="199"/>
                  </a:lnTo>
                  <a:lnTo>
                    <a:pt x="22" y="199"/>
                  </a:lnTo>
                  <a:lnTo>
                    <a:pt x="17" y="187"/>
                  </a:lnTo>
                  <a:lnTo>
                    <a:pt x="13" y="175"/>
                  </a:lnTo>
                  <a:lnTo>
                    <a:pt x="12" y="162"/>
                  </a:lnTo>
                  <a:lnTo>
                    <a:pt x="8" y="151"/>
                  </a:lnTo>
                  <a:lnTo>
                    <a:pt x="7" y="137"/>
                  </a:lnTo>
                  <a:lnTo>
                    <a:pt x="5" y="124"/>
                  </a:lnTo>
                  <a:lnTo>
                    <a:pt x="5" y="112"/>
                  </a:lnTo>
                  <a:lnTo>
                    <a:pt x="5" y="99"/>
                  </a:lnTo>
                  <a:lnTo>
                    <a:pt x="5" y="94"/>
                  </a:lnTo>
                  <a:lnTo>
                    <a:pt x="5" y="88"/>
                  </a:lnTo>
                  <a:lnTo>
                    <a:pt x="5" y="83"/>
                  </a:lnTo>
                  <a:lnTo>
                    <a:pt x="5" y="78"/>
                  </a:lnTo>
                  <a:lnTo>
                    <a:pt x="5" y="73"/>
                  </a:lnTo>
                  <a:lnTo>
                    <a:pt x="7" y="68"/>
                  </a:lnTo>
                  <a:lnTo>
                    <a:pt x="7" y="63"/>
                  </a:lnTo>
                  <a:lnTo>
                    <a:pt x="8" y="56"/>
                  </a:lnTo>
                  <a:lnTo>
                    <a:pt x="2" y="59"/>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12" name="Freeform 152">
              <a:extLst>
                <a:ext uri="{FF2B5EF4-FFF2-40B4-BE49-F238E27FC236}">
                  <a16:creationId xmlns:a16="http://schemas.microsoft.com/office/drawing/2014/main" id="{B6881E68-02F5-E621-B8B8-8824AD5DF610}"/>
                </a:ext>
              </a:extLst>
            </p:cNvPr>
            <p:cNvSpPr>
              <a:spLocks noEditPoints="1"/>
            </p:cNvSpPr>
            <p:nvPr/>
          </p:nvSpPr>
          <p:spPr bwMode="auto">
            <a:xfrm>
              <a:off x="1527" y="1514"/>
              <a:ext cx="617" cy="199"/>
            </a:xfrm>
            <a:custGeom>
              <a:avLst/>
              <a:gdLst>
                <a:gd name="T0" fmla="*/ 617 w 617"/>
                <a:gd name="T1" fmla="*/ 86 h 199"/>
                <a:gd name="T2" fmla="*/ 616 w 617"/>
                <a:gd name="T3" fmla="*/ 61 h 199"/>
                <a:gd name="T4" fmla="*/ 611 w 617"/>
                <a:gd name="T5" fmla="*/ 36 h 199"/>
                <a:gd name="T6" fmla="*/ 606 w 617"/>
                <a:gd name="T7" fmla="*/ 11 h 199"/>
                <a:gd name="T8" fmla="*/ 596 w 617"/>
                <a:gd name="T9" fmla="*/ 0 h 199"/>
                <a:gd name="T10" fmla="*/ 604 w 617"/>
                <a:gd name="T11" fmla="*/ 23 h 199"/>
                <a:gd name="T12" fmla="*/ 609 w 617"/>
                <a:gd name="T13" fmla="*/ 48 h 199"/>
                <a:gd name="T14" fmla="*/ 612 w 617"/>
                <a:gd name="T15" fmla="*/ 73 h 199"/>
                <a:gd name="T16" fmla="*/ 612 w 617"/>
                <a:gd name="T17" fmla="*/ 99 h 199"/>
                <a:gd name="T18" fmla="*/ 612 w 617"/>
                <a:gd name="T19" fmla="*/ 107 h 199"/>
                <a:gd name="T20" fmla="*/ 612 w 617"/>
                <a:gd name="T21" fmla="*/ 117 h 199"/>
                <a:gd name="T22" fmla="*/ 612 w 617"/>
                <a:gd name="T23" fmla="*/ 126 h 199"/>
                <a:gd name="T24" fmla="*/ 611 w 617"/>
                <a:gd name="T25" fmla="*/ 134 h 199"/>
                <a:gd name="T26" fmla="*/ 617 w 617"/>
                <a:gd name="T27" fmla="*/ 129 h 199"/>
                <a:gd name="T28" fmla="*/ 617 w 617"/>
                <a:gd name="T29" fmla="*/ 121 h 199"/>
                <a:gd name="T30" fmla="*/ 617 w 617"/>
                <a:gd name="T31" fmla="*/ 112 h 199"/>
                <a:gd name="T32" fmla="*/ 617 w 617"/>
                <a:gd name="T33" fmla="*/ 102 h 199"/>
                <a:gd name="T34" fmla="*/ 3 w 617"/>
                <a:gd name="T35" fmla="*/ 58 h 199"/>
                <a:gd name="T36" fmla="*/ 1 w 617"/>
                <a:gd name="T37" fmla="*/ 68 h 199"/>
                <a:gd name="T38" fmla="*/ 1 w 617"/>
                <a:gd name="T39" fmla="*/ 78 h 199"/>
                <a:gd name="T40" fmla="*/ 0 w 617"/>
                <a:gd name="T41" fmla="*/ 89 h 199"/>
                <a:gd name="T42" fmla="*/ 0 w 617"/>
                <a:gd name="T43" fmla="*/ 99 h 199"/>
                <a:gd name="T44" fmla="*/ 1 w 617"/>
                <a:gd name="T45" fmla="*/ 124 h 199"/>
                <a:gd name="T46" fmla="*/ 5 w 617"/>
                <a:gd name="T47" fmla="*/ 151 h 199"/>
                <a:gd name="T48" fmla="*/ 10 w 617"/>
                <a:gd name="T49" fmla="*/ 175 h 199"/>
                <a:gd name="T50" fmla="*/ 16 w 617"/>
                <a:gd name="T51" fmla="*/ 199 h 199"/>
                <a:gd name="T52" fmla="*/ 18 w 617"/>
                <a:gd name="T53" fmla="*/ 187 h 199"/>
                <a:gd name="T54" fmla="*/ 11 w 617"/>
                <a:gd name="T55" fmla="*/ 162 h 199"/>
                <a:gd name="T56" fmla="*/ 8 w 617"/>
                <a:gd name="T57" fmla="*/ 137 h 199"/>
                <a:gd name="T58" fmla="*/ 5 w 617"/>
                <a:gd name="T59" fmla="*/ 112 h 199"/>
                <a:gd name="T60" fmla="*/ 5 w 617"/>
                <a:gd name="T61" fmla="*/ 94 h 199"/>
                <a:gd name="T62" fmla="*/ 5 w 617"/>
                <a:gd name="T63" fmla="*/ 83 h 199"/>
                <a:gd name="T64" fmla="*/ 6 w 617"/>
                <a:gd name="T65" fmla="*/ 71 h 199"/>
                <a:gd name="T66" fmla="*/ 8 w 617"/>
                <a:gd name="T67" fmla="*/ 61 h 199"/>
                <a:gd name="T68" fmla="*/ 3 w 617"/>
                <a:gd name="T69" fmla="*/ 5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7" h="199">
                  <a:moveTo>
                    <a:pt x="617" y="99"/>
                  </a:moveTo>
                  <a:lnTo>
                    <a:pt x="617" y="86"/>
                  </a:lnTo>
                  <a:lnTo>
                    <a:pt x="617" y="73"/>
                  </a:lnTo>
                  <a:lnTo>
                    <a:pt x="616" y="61"/>
                  </a:lnTo>
                  <a:lnTo>
                    <a:pt x="614" y="48"/>
                  </a:lnTo>
                  <a:lnTo>
                    <a:pt x="611" y="36"/>
                  </a:lnTo>
                  <a:lnTo>
                    <a:pt x="609" y="23"/>
                  </a:lnTo>
                  <a:lnTo>
                    <a:pt x="606" y="11"/>
                  </a:lnTo>
                  <a:lnTo>
                    <a:pt x="603" y="0"/>
                  </a:lnTo>
                  <a:lnTo>
                    <a:pt x="596" y="0"/>
                  </a:lnTo>
                  <a:lnTo>
                    <a:pt x="601" y="11"/>
                  </a:lnTo>
                  <a:lnTo>
                    <a:pt x="604" y="23"/>
                  </a:lnTo>
                  <a:lnTo>
                    <a:pt x="606" y="36"/>
                  </a:lnTo>
                  <a:lnTo>
                    <a:pt x="609" y="48"/>
                  </a:lnTo>
                  <a:lnTo>
                    <a:pt x="611" y="61"/>
                  </a:lnTo>
                  <a:lnTo>
                    <a:pt x="612" y="73"/>
                  </a:lnTo>
                  <a:lnTo>
                    <a:pt x="612" y="86"/>
                  </a:lnTo>
                  <a:lnTo>
                    <a:pt x="612" y="99"/>
                  </a:lnTo>
                  <a:lnTo>
                    <a:pt x="612" y="104"/>
                  </a:lnTo>
                  <a:lnTo>
                    <a:pt x="612" y="107"/>
                  </a:lnTo>
                  <a:lnTo>
                    <a:pt x="612" y="112"/>
                  </a:lnTo>
                  <a:lnTo>
                    <a:pt x="612" y="117"/>
                  </a:lnTo>
                  <a:lnTo>
                    <a:pt x="612" y="121"/>
                  </a:lnTo>
                  <a:lnTo>
                    <a:pt x="612" y="126"/>
                  </a:lnTo>
                  <a:lnTo>
                    <a:pt x="612" y="131"/>
                  </a:lnTo>
                  <a:lnTo>
                    <a:pt x="611" y="134"/>
                  </a:lnTo>
                  <a:lnTo>
                    <a:pt x="616" y="132"/>
                  </a:lnTo>
                  <a:lnTo>
                    <a:pt x="617" y="129"/>
                  </a:lnTo>
                  <a:lnTo>
                    <a:pt x="617" y="124"/>
                  </a:lnTo>
                  <a:lnTo>
                    <a:pt x="617" y="121"/>
                  </a:lnTo>
                  <a:lnTo>
                    <a:pt x="617" y="116"/>
                  </a:lnTo>
                  <a:lnTo>
                    <a:pt x="617" y="112"/>
                  </a:lnTo>
                  <a:lnTo>
                    <a:pt x="617" y="107"/>
                  </a:lnTo>
                  <a:lnTo>
                    <a:pt x="617" y="102"/>
                  </a:lnTo>
                  <a:lnTo>
                    <a:pt x="617" y="99"/>
                  </a:lnTo>
                  <a:close/>
                  <a:moveTo>
                    <a:pt x="3" y="58"/>
                  </a:moveTo>
                  <a:lnTo>
                    <a:pt x="3" y="63"/>
                  </a:lnTo>
                  <a:lnTo>
                    <a:pt x="1" y="68"/>
                  </a:lnTo>
                  <a:lnTo>
                    <a:pt x="1" y="73"/>
                  </a:lnTo>
                  <a:lnTo>
                    <a:pt x="1" y="78"/>
                  </a:lnTo>
                  <a:lnTo>
                    <a:pt x="1" y="84"/>
                  </a:lnTo>
                  <a:lnTo>
                    <a:pt x="0" y="89"/>
                  </a:lnTo>
                  <a:lnTo>
                    <a:pt x="0" y="94"/>
                  </a:lnTo>
                  <a:lnTo>
                    <a:pt x="0" y="99"/>
                  </a:lnTo>
                  <a:lnTo>
                    <a:pt x="0" y="112"/>
                  </a:lnTo>
                  <a:lnTo>
                    <a:pt x="1" y="124"/>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8" y="137"/>
                  </a:lnTo>
                  <a:lnTo>
                    <a:pt x="6" y="124"/>
                  </a:lnTo>
                  <a:lnTo>
                    <a:pt x="5" y="112"/>
                  </a:lnTo>
                  <a:lnTo>
                    <a:pt x="5" y="99"/>
                  </a:lnTo>
                  <a:lnTo>
                    <a:pt x="5" y="94"/>
                  </a:lnTo>
                  <a:lnTo>
                    <a:pt x="5" y="88"/>
                  </a:lnTo>
                  <a:lnTo>
                    <a:pt x="5" y="83"/>
                  </a:lnTo>
                  <a:lnTo>
                    <a:pt x="6" y="78"/>
                  </a:lnTo>
                  <a:lnTo>
                    <a:pt x="6" y="71"/>
                  </a:lnTo>
                  <a:lnTo>
                    <a:pt x="6" y="66"/>
                  </a:lnTo>
                  <a:lnTo>
                    <a:pt x="8" y="61"/>
                  </a:lnTo>
                  <a:lnTo>
                    <a:pt x="8" y="56"/>
                  </a:lnTo>
                  <a:lnTo>
                    <a:pt x="3" y="58"/>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13" name="Freeform 153">
              <a:extLst>
                <a:ext uri="{FF2B5EF4-FFF2-40B4-BE49-F238E27FC236}">
                  <a16:creationId xmlns:a16="http://schemas.microsoft.com/office/drawing/2014/main" id="{31C23E61-D33A-7241-45A7-E708B6695153}"/>
                </a:ext>
              </a:extLst>
            </p:cNvPr>
            <p:cNvSpPr>
              <a:spLocks noEditPoints="1"/>
            </p:cNvSpPr>
            <p:nvPr/>
          </p:nvSpPr>
          <p:spPr bwMode="auto">
            <a:xfrm>
              <a:off x="1530" y="1514"/>
              <a:ext cx="613" cy="199"/>
            </a:xfrm>
            <a:custGeom>
              <a:avLst/>
              <a:gdLst>
                <a:gd name="T0" fmla="*/ 613 w 613"/>
                <a:gd name="T1" fmla="*/ 86 h 199"/>
                <a:gd name="T2" fmla="*/ 609 w 613"/>
                <a:gd name="T3" fmla="*/ 61 h 199"/>
                <a:gd name="T4" fmla="*/ 606 w 613"/>
                <a:gd name="T5" fmla="*/ 36 h 199"/>
                <a:gd name="T6" fmla="*/ 600 w 613"/>
                <a:gd name="T7" fmla="*/ 11 h 199"/>
                <a:gd name="T8" fmla="*/ 591 w 613"/>
                <a:gd name="T9" fmla="*/ 0 h 199"/>
                <a:gd name="T10" fmla="*/ 598 w 613"/>
                <a:gd name="T11" fmla="*/ 23 h 199"/>
                <a:gd name="T12" fmla="*/ 603 w 613"/>
                <a:gd name="T13" fmla="*/ 48 h 199"/>
                <a:gd name="T14" fmla="*/ 606 w 613"/>
                <a:gd name="T15" fmla="*/ 73 h 199"/>
                <a:gd name="T16" fmla="*/ 608 w 613"/>
                <a:gd name="T17" fmla="*/ 99 h 199"/>
                <a:gd name="T18" fmla="*/ 608 w 613"/>
                <a:gd name="T19" fmla="*/ 109 h 199"/>
                <a:gd name="T20" fmla="*/ 608 w 613"/>
                <a:gd name="T21" fmla="*/ 117 h 199"/>
                <a:gd name="T22" fmla="*/ 606 w 613"/>
                <a:gd name="T23" fmla="*/ 127 h 199"/>
                <a:gd name="T24" fmla="*/ 606 w 613"/>
                <a:gd name="T25" fmla="*/ 136 h 199"/>
                <a:gd name="T26" fmla="*/ 611 w 613"/>
                <a:gd name="T27" fmla="*/ 129 h 199"/>
                <a:gd name="T28" fmla="*/ 611 w 613"/>
                <a:gd name="T29" fmla="*/ 121 h 199"/>
                <a:gd name="T30" fmla="*/ 613 w 613"/>
                <a:gd name="T31" fmla="*/ 112 h 199"/>
                <a:gd name="T32" fmla="*/ 613 w 613"/>
                <a:gd name="T33" fmla="*/ 104 h 199"/>
                <a:gd name="T34" fmla="*/ 3 w 613"/>
                <a:gd name="T35" fmla="*/ 56 h 199"/>
                <a:gd name="T36" fmla="*/ 2 w 613"/>
                <a:gd name="T37" fmla="*/ 68 h 199"/>
                <a:gd name="T38" fmla="*/ 0 w 613"/>
                <a:gd name="T39" fmla="*/ 78 h 199"/>
                <a:gd name="T40" fmla="*/ 0 w 613"/>
                <a:gd name="T41" fmla="*/ 88 h 199"/>
                <a:gd name="T42" fmla="*/ 0 w 613"/>
                <a:gd name="T43" fmla="*/ 99 h 199"/>
                <a:gd name="T44" fmla="*/ 0 w 613"/>
                <a:gd name="T45" fmla="*/ 124 h 199"/>
                <a:gd name="T46" fmla="*/ 3 w 613"/>
                <a:gd name="T47" fmla="*/ 151 h 199"/>
                <a:gd name="T48" fmla="*/ 8 w 613"/>
                <a:gd name="T49" fmla="*/ 175 h 199"/>
                <a:gd name="T50" fmla="*/ 17 w 613"/>
                <a:gd name="T51" fmla="*/ 199 h 199"/>
                <a:gd name="T52" fmla="*/ 17 w 613"/>
                <a:gd name="T53" fmla="*/ 187 h 199"/>
                <a:gd name="T54" fmla="*/ 12 w 613"/>
                <a:gd name="T55" fmla="*/ 162 h 199"/>
                <a:gd name="T56" fmla="*/ 7 w 613"/>
                <a:gd name="T57" fmla="*/ 137 h 199"/>
                <a:gd name="T58" fmla="*/ 5 w 613"/>
                <a:gd name="T59" fmla="*/ 112 h 199"/>
                <a:gd name="T60" fmla="*/ 5 w 613"/>
                <a:gd name="T61" fmla="*/ 93 h 199"/>
                <a:gd name="T62" fmla="*/ 5 w 613"/>
                <a:gd name="T63" fmla="*/ 83 h 199"/>
                <a:gd name="T64" fmla="*/ 5 w 613"/>
                <a:gd name="T65" fmla="*/ 71 h 199"/>
                <a:gd name="T66" fmla="*/ 7 w 613"/>
                <a:gd name="T67" fmla="*/ 59 h 199"/>
                <a:gd name="T68" fmla="*/ 3 w 613"/>
                <a:gd name="T69" fmla="*/ 5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3" h="199">
                  <a:moveTo>
                    <a:pt x="613" y="99"/>
                  </a:moveTo>
                  <a:lnTo>
                    <a:pt x="613" y="86"/>
                  </a:lnTo>
                  <a:lnTo>
                    <a:pt x="611" y="73"/>
                  </a:lnTo>
                  <a:lnTo>
                    <a:pt x="609" y="61"/>
                  </a:lnTo>
                  <a:lnTo>
                    <a:pt x="608" y="48"/>
                  </a:lnTo>
                  <a:lnTo>
                    <a:pt x="606" y="36"/>
                  </a:lnTo>
                  <a:lnTo>
                    <a:pt x="603" y="23"/>
                  </a:lnTo>
                  <a:lnTo>
                    <a:pt x="600" y="11"/>
                  </a:lnTo>
                  <a:lnTo>
                    <a:pt x="596" y="0"/>
                  </a:lnTo>
                  <a:lnTo>
                    <a:pt x="591" y="0"/>
                  </a:lnTo>
                  <a:lnTo>
                    <a:pt x="595" y="11"/>
                  </a:lnTo>
                  <a:lnTo>
                    <a:pt x="598" y="23"/>
                  </a:lnTo>
                  <a:lnTo>
                    <a:pt x="601" y="36"/>
                  </a:lnTo>
                  <a:lnTo>
                    <a:pt x="603" y="48"/>
                  </a:lnTo>
                  <a:lnTo>
                    <a:pt x="606" y="61"/>
                  </a:lnTo>
                  <a:lnTo>
                    <a:pt x="606" y="73"/>
                  </a:lnTo>
                  <a:lnTo>
                    <a:pt x="608" y="86"/>
                  </a:lnTo>
                  <a:lnTo>
                    <a:pt x="608" y="99"/>
                  </a:lnTo>
                  <a:lnTo>
                    <a:pt x="608" y="104"/>
                  </a:lnTo>
                  <a:lnTo>
                    <a:pt x="608" y="109"/>
                  </a:lnTo>
                  <a:lnTo>
                    <a:pt x="608" y="112"/>
                  </a:lnTo>
                  <a:lnTo>
                    <a:pt x="608" y="117"/>
                  </a:lnTo>
                  <a:lnTo>
                    <a:pt x="608" y="122"/>
                  </a:lnTo>
                  <a:lnTo>
                    <a:pt x="606" y="127"/>
                  </a:lnTo>
                  <a:lnTo>
                    <a:pt x="606" y="131"/>
                  </a:lnTo>
                  <a:lnTo>
                    <a:pt x="606" y="136"/>
                  </a:lnTo>
                  <a:lnTo>
                    <a:pt x="611" y="134"/>
                  </a:lnTo>
                  <a:lnTo>
                    <a:pt x="611" y="129"/>
                  </a:lnTo>
                  <a:lnTo>
                    <a:pt x="611" y="126"/>
                  </a:lnTo>
                  <a:lnTo>
                    <a:pt x="611" y="121"/>
                  </a:lnTo>
                  <a:lnTo>
                    <a:pt x="613" y="116"/>
                  </a:lnTo>
                  <a:lnTo>
                    <a:pt x="613" y="112"/>
                  </a:lnTo>
                  <a:lnTo>
                    <a:pt x="613" y="107"/>
                  </a:lnTo>
                  <a:lnTo>
                    <a:pt x="613" y="104"/>
                  </a:lnTo>
                  <a:lnTo>
                    <a:pt x="613" y="99"/>
                  </a:lnTo>
                  <a:close/>
                  <a:moveTo>
                    <a:pt x="3" y="56"/>
                  </a:moveTo>
                  <a:lnTo>
                    <a:pt x="2" y="63"/>
                  </a:lnTo>
                  <a:lnTo>
                    <a:pt x="2" y="68"/>
                  </a:lnTo>
                  <a:lnTo>
                    <a:pt x="0" y="73"/>
                  </a:lnTo>
                  <a:lnTo>
                    <a:pt x="0" y="78"/>
                  </a:lnTo>
                  <a:lnTo>
                    <a:pt x="0" y="83"/>
                  </a:lnTo>
                  <a:lnTo>
                    <a:pt x="0" y="88"/>
                  </a:lnTo>
                  <a:lnTo>
                    <a:pt x="0" y="94"/>
                  </a:lnTo>
                  <a:lnTo>
                    <a:pt x="0" y="99"/>
                  </a:lnTo>
                  <a:lnTo>
                    <a:pt x="0" y="112"/>
                  </a:lnTo>
                  <a:lnTo>
                    <a:pt x="0" y="124"/>
                  </a:lnTo>
                  <a:lnTo>
                    <a:pt x="2" y="137"/>
                  </a:lnTo>
                  <a:lnTo>
                    <a:pt x="3" y="151"/>
                  </a:lnTo>
                  <a:lnTo>
                    <a:pt x="7" y="162"/>
                  </a:lnTo>
                  <a:lnTo>
                    <a:pt x="8" y="175"/>
                  </a:lnTo>
                  <a:lnTo>
                    <a:pt x="12" y="187"/>
                  </a:lnTo>
                  <a:lnTo>
                    <a:pt x="17" y="199"/>
                  </a:lnTo>
                  <a:lnTo>
                    <a:pt x="22" y="199"/>
                  </a:lnTo>
                  <a:lnTo>
                    <a:pt x="17" y="187"/>
                  </a:lnTo>
                  <a:lnTo>
                    <a:pt x="13" y="175"/>
                  </a:lnTo>
                  <a:lnTo>
                    <a:pt x="12" y="162"/>
                  </a:lnTo>
                  <a:lnTo>
                    <a:pt x="8" y="151"/>
                  </a:lnTo>
                  <a:lnTo>
                    <a:pt x="7" y="137"/>
                  </a:lnTo>
                  <a:lnTo>
                    <a:pt x="5" y="124"/>
                  </a:lnTo>
                  <a:lnTo>
                    <a:pt x="5" y="112"/>
                  </a:lnTo>
                  <a:lnTo>
                    <a:pt x="5" y="99"/>
                  </a:lnTo>
                  <a:lnTo>
                    <a:pt x="5" y="93"/>
                  </a:lnTo>
                  <a:lnTo>
                    <a:pt x="5" y="88"/>
                  </a:lnTo>
                  <a:lnTo>
                    <a:pt x="5" y="83"/>
                  </a:lnTo>
                  <a:lnTo>
                    <a:pt x="5" y="76"/>
                  </a:lnTo>
                  <a:lnTo>
                    <a:pt x="5" y="71"/>
                  </a:lnTo>
                  <a:lnTo>
                    <a:pt x="7" y="66"/>
                  </a:lnTo>
                  <a:lnTo>
                    <a:pt x="7" y="59"/>
                  </a:lnTo>
                  <a:lnTo>
                    <a:pt x="8" y="54"/>
                  </a:lnTo>
                  <a:lnTo>
                    <a:pt x="3" y="56"/>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14" name="Freeform 154">
              <a:extLst>
                <a:ext uri="{FF2B5EF4-FFF2-40B4-BE49-F238E27FC236}">
                  <a16:creationId xmlns:a16="http://schemas.microsoft.com/office/drawing/2014/main" id="{9010F35F-E154-E701-E56D-B509EF9BBE52}"/>
                </a:ext>
              </a:extLst>
            </p:cNvPr>
            <p:cNvSpPr>
              <a:spLocks noEditPoints="1"/>
            </p:cNvSpPr>
            <p:nvPr/>
          </p:nvSpPr>
          <p:spPr bwMode="auto">
            <a:xfrm>
              <a:off x="1532" y="1514"/>
              <a:ext cx="607" cy="199"/>
            </a:xfrm>
            <a:custGeom>
              <a:avLst/>
              <a:gdLst>
                <a:gd name="T0" fmla="*/ 607 w 607"/>
                <a:gd name="T1" fmla="*/ 86 h 199"/>
                <a:gd name="T2" fmla="*/ 606 w 607"/>
                <a:gd name="T3" fmla="*/ 61 h 199"/>
                <a:gd name="T4" fmla="*/ 601 w 607"/>
                <a:gd name="T5" fmla="*/ 36 h 199"/>
                <a:gd name="T6" fmla="*/ 596 w 607"/>
                <a:gd name="T7" fmla="*/ 11 h 199"/>
                <a:gd name="T8" fmla="*/ 586 w 607"/>
                <a:gd name="T9" fmla="*/ 0 h 199"/>
                <a:gd name="T10" fmla="*/ 594 w 607"/>
                <a:gd name="T11" fmla="*/ 23 h 199"/>
                <a:gd name="T12" fmla="*/ 599 w 607"/>
                <a:gd name="T13" fmla="*/ 48 h 199"/>
                <a:gd name="T14" fmla="*/ 603 w 607"/>
                <a:gd name="T15" fmla="*/ 73 h 199"/>
                <a:gd name="T16" fmla="*/ 604 w 607"/>
                <a:gd name="T17" fmla="*/ 99 h 199"/>
                <a:gd name="T18" fmla="*/ 603 w 607"/>
                <a:gd name="T19" fmla="*/ 109 h 199"/>
                <a:gd name="T20" fmla="*/ 603 w 607"/>
                <a:gd name="T21" fmla="*/ 117 h 199"/>
                <a:gd name="T22" fmla="*/ 603 w 607"/>
                <a:gd name="T23" fmla="*/ 127 h 199"/>
                <a:gd name="T24" fmla="*/ 601 w 607"/>
                <a:gd name="T25" fmla="*/ 137 h 199"/>
                <a:gd name="T26" fmla="*/ 607 w 607"/>
                <a:gd name="T27" fmla="*/ 131 h 199"/>
                <a:gd name="T28" fmla="*/ 607 w 607"/>
                <a:gd name="T29" fmla="*/ 121 h 199"/>
                <a:gd name="T30" fmla="*/ 607 w 607"/>
                <a:gd name="T31" fmla="*/ 112 h 199"/>
                <a:gd name="T32" fmla="*/ 607 w 607"/>
                <a:gd name="T33" fmla="*/ 104 h 199"/>
                <a:gd name="T34" fmla="*/ 3 w 607"/>
                <a:gd name="T35" fmla="*/ 56 h 199"/>
                <a:gd name="T36" fmla="*/ 1 w 607"/>
                <a:gd name="T37" fmla="*/ 66 h 199"/>
                <a:gd name="T38" fmla="*/ 1 w 607"/>
                <a:gd name="T39" fmla="*/ 78 h 199"/>
                <a:gd name="T40" fmla="*/ 0 w 607"/>
                <a:gd name="T41" fmla="*/ 88 h 199"/>
                <a:gd name="T42" fmla="*/ 0 w 607"/>
                <a:gd name="T43" fmla="*/ 99 h 199"/>
                <a:gd name="T44" fmla="*/ 1 w 607"/>
                <a:gd name="T45" fmla="*/ 124 h 199"/>
                <a:gd name="T46" fmla="*/ 5 w 607"/>
                <a:gd name="T47" fmla="*/ 151 h 199"/>
                <a:gd name="T48" fmla="*/ 10 w 607"/>
                <a:gd name="T49" fmla="*/ 175 h 199"/>
                <a:gd name="T50" fmla="*/ 16 w 607"/>
                <a:gd name="T51" fmla="*/ 199 h 199"/>
                <a:gd name="T52" fmla="*/ 18 w 607"/>
                <a:gd name="T53" fmla="*/ 187 h 199"/>
                <a:gd name="T54" fmla="*/ 11 w 607"/>
                <a:gd name="T55" fmla="*/ 162 h 199"/>
                <a:gd name="T56" fmla="*/ 8 w 607"/>
                <a:gd name="T57" fmla="*/ 137 h 199"/>
                <a:gd name="T58" fmla="*/ 5 w 607"/>
                <a:gd name="T59" fmla="*/ 112 h 199"/>
                <a:gd name="T60" fmla="*/ 5 w 607"/>
                <a:gd name="T61" fmla="*/ 93 h 199"/>
                <a:gd name="T62" fmla="*/ 5 w 607"/>
                <a:gd name="T63" fmla="*/ 81 h 199"/>
                <a:gd name="T64" fmla="*/ 6 w 607"/>
                <a:gd name="T65" fmla="*/ 69 h 199"/>
                <a:gd name="T66" fmla="*/ 8 w 607"/>
                <a:gd name="T67" fmla="*/ 59 h 199"/>
                <a:gd name="T68" fmla="*/ 3 w 607"/>
                <a:gd name="T69" fmla="*/ 5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7" h="199">
                  <a:moveTo>
                    <a:pt x="607" y="99"/>
                  </a:moveTo>
                  <a:lnTo>
                    <a:pt x="607" y="86"/>
                  </a:lnTo>
                  <a:lnTo>
                    <a:pt x="607" y="73"/>
                  </a:lnTo>
                  <a:lnTo>
                    <a:pt x="606" y="61"/>
                  </a:lnTo>
                  <a:lnTo>
                    <a:pt x="604" y="48"/>
                  </a:lnTo>
                  <a:lnTo>
                    <a:pt x="601" y="36"/>
                  </a:lnTo>
                  <a:lnTo>
                    <a:pt x="599" y="23"/>
                  </a:lnTo>
                  <a:lnTo>
                    <a:pt x="596" y="11"/>
                  </a:lnTo>
                  <a:lnTo>
                    <a:pt x="591" y="0"/>
                  </a:lnTo>
                  <a:lnTo>
                    <a:pt x="586" y="0"/>
                  </a:lnTo>
                  <a:lnTo>
                    <a:pt x="591" y="11"/>
                  </a:lnTo>
                  <a:lnTo>
                    <a:pt x="594" y="23"/>
                  </a:lnTo>
                  <a:lnTo>
                    <a:pt x="598" y="36"/>
                  </a:lnTo>
                  <a:lnTo>
                    <a:pt x="599" y="48"/>
                  </a:lnTo>
                  <a:lnTo>
                    <a:pt x="601" y="61"/>
                  </a:lnTo>
                  <a:lnTo>
                    <a:pt x="603" y="73"/>
                  </a:lnTo>
                  <a:lnTo>
                    <a:pt x="603" y="86"/>
                  </a:lnTo>
                  <a:lnTo>
                    <a:pt x="604" y="99"/>
                  </a:lnTo>
                  <a:lnTo>
                    <a:pt x="604" y="104"/>
                  </a:lnTo>
                  <a:lnTo>
                    <a:pt x="603" y="109"/>
                  </a:lnTo>
                  <a:lnTo>
                    <a:pt x="603" y="114"/>
                  </a:lnTo>
                  <a:lnTo>
                    <a:pt x="603" y="117"/>
                  </a:lnTo>
                  <a:lnTo>
                    <a:pt x="603" y="122"/>
                  </a:lnTo>
                  <a:lnTo>
                    <a:pt x="603" y="127"/>
                  </a:lnTo>
                  <a:lnTo>
                    <a:pt x="601" y="132"/>
                  </a:lnTo>
                  <a:lnTo>
                    <a:pt x="601" y="137"/>
                  </a:lnTo>
                  <a:lnTo>
                    <a:pt x="606" y="134"/>
                  </a:lnTo>
                  <a:lnTo>
                    <a:pt x="607" y="131"/>
                  </a:lnTo>
                  <a:lnTo>
                    <a:pt x="607" y="126"/>
                  </a:lnTo>
                  <a:lnTo>
                    <a:pt x="607" y="121"/>
                  </a:lnTo>
                  <a:lnTo>
                    <a:pt x="607" y="117"/>
                  </a:lnTo>
                  <a:lnTo>
                    <a:pt x="607" y="112"/>
                  </a:lnTo>
                  <a:lnTo>
                    <a:pt x="607" y="107"/>
                  </a:lnTo>
                  <a:lnTo>
                    <a:pt x="607" y="104"/>
                  </a:lnTo>
                  <a:lnTo>
                    <a:pt x="607" y="99"/>
                  </a:lnTo>
                  <a:close/>
                  <a:moveTo>
                    <a:pt x="3" y="56"/>
                  </a:moveTo>
                  <a:lnTo>
                    <a:pt x="3" y="61"/>
                  </a:lnTo>
                  <a:lnTo>
                    <a:pt x="1" y="66"/>
                  </a:lnTo>
                  <a:lnTo>
                    <a:pt x="1" y="71"/>
                  </a:lnTo>
                  <a:lnTo>
                    <a:pt x="1" y="78"/>
                  </a:lnTo>
                  <a:lnTo>
                    <a:pt x="0" y="83"/>
                  </a:lnTo>
                  <a:lnTo>
                    <a:pt x="0" y="88"/>
                  </a:lnTo>
                  <a:lnTo>
                    <a:pt x="0" y="94"/>
                  </a:lnTo>
                  <a:lnTo>
                    <a:pt x="0" y="99"/>
                  </a:lnTo>
                  <a:lnTo>
                    <a:pt x="0" y="112"/>
                  </a:lnTo>
                  <a:lnTo>
                    <a:pt x="1" y="124"/>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8" y="137"/>
                  </a:lnTo>
                  <a:lnTo>
                    <a:pt x="6" y="126"/>
                  </a:lnTo>
                  <a:lnTo>
                    <a:pt x="5" y="112"/>
                  </a:lnTo>
                  <a:lnTo>
                    <a:pt x="5" y="99"/>
                  </a:lnTo>
                  <a:lnTo>
                    <a:pt x="5" y="93"/>
                  </a:lnTo>
                  <a:lnTo>
                    <a:pt x="5" y="88"/>
                  </a:lnTo>
                  <a:lnTo>
                    <a:pt x="5" y="81"/>
                  </a:lnTo>
                  <a:lnTo>
                    <a:pt x="6" y="76"/>
                  </a:lnTo>
                  <a:lnTo>
                    <a:pt x="6" y="69"/>
                  </a:lnTo>
                  <a:lnTo>
                    <a:pt x="6" y="64"/>
                  </a:lnTo>
                  <a:lnTo>
                    <a:pt x="8" y="59"/>
                  </a:lnTo>
                  <a:lnTo>
                    <a:pt x="8" y="53"/>
                  </a:lnTo>
                  <a:lnTo>
                    <a:pt x="3" y="56"/>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15" name="Freeform 155">
              <a:extLst>
                <a:ext uri="{FF2B5EF4-FFF2-40B4-BE49-F238E27FC236}">
                  <a16:creationId xmlns:a16="http://schemas.microsoft.com/office/drawing/2014/main" id="{C959AE6D-221D-D8FE-EF50-C05B385C5D4B}"/>
                </a:ext>
              </a:extLst>
            </p:cNvPr>
            <p:cNvSpPr>
              <a:spLocks noEditPoints="1"/>
            </p:cNvSpPr>
            <p:nvPr/>
          </p:nvSpPr>
          <p:spPr bwMode="auto">
            <a:xfrm>
              <a:off x="1535" y="1514"/>
              <a:ext cx="603" cy="199"/>
            </a:xfrm>
            <a:custGeom>
              <a:avLst/>
              <a:gdLst>
                <a:gd name="T0" fmla="*/ 603 w 603"/>
                <a:gd name="T1" fmla="*/ 86 h 199"/>
                <a:gd name="T2" fmla="*/ 601 w 603"/>
                <a:gd name="T3" fmla="*/ 61 h 199"/>
                <a:gd name="T4" fmla="*/ 596 w 603"/>
                <a:gd name="T5" fmla="*/ 36 h 199"/>
                <a:gd name="T6" fmla="*/ 590 w 603"/>
                <a:gd name="T7" fmla="*/ 11 h 199"/>
                <a:gd name="T8" fmla="*/ 581 w 603"/>
                <a:gd name="T9" fmla="*/ 0 h 199"/>
                <a:gd name="T10" fmla="*/ 588 w 603"/>
                <a:gd name="T11" fmla="*/ 23 h 199"/>
                <a:gd name="T12" fmla="*/ 593 w 603"/>
                <a:gd name="T13" fmla="*/ 48 h 199"/>
                <a:gd name="T14" fmla="*/ 596 w 603"/>
                <a:gd name="T15" fmla="*/ 73 h 199"/>
                <a:gd name="T16" fmla="*/ 598 w 603"/>
                <a:gd name="T17" fmla="*/ 99 h 199"/>
                <a:gd name="T18" fmla="*/ 598 w 603"/>
                <a:gd name="T19" fmla="*/ 109 h 199"/>
                <a:gd name="T20" fmla="*/ 598 w 603"/>
                <a:gd name="T21" fmla="*/ 119 h 199"/>
                <a:gd name="T22" fmla="*/ 596 w 603"/>
                <a:gd name="T23" fmla="*/ 129 h 199"/>
                <a:gd name="T24" fmla="*/ 596 w 603"/>
                <a:gd name="T25" fmla="*/ 139 h 199"/>
                <a:gd name="T26" fmla="*/ 601 w 603"/>
                <a:gd name="T27" fmla="*/ 131 h 199"/>
                <a:gd name="T28" fmla="*/ 603 w 603"/>
                <a:gd name="T29" fmla="*/ 122 h 199"/>
                <a:gd name="T30" fmla="*/ 603 w 603"/>
                <a:gd name="T31" fmla="*/ 112 h 199"/>
                <a:gd name="T32" fmla="*/ 603 w 603"/>
                <a:gd name="T33" fmla="*/ 104 h 199"/>
                <a:gd name="T34" fmla="*/ 3 w 603"/>
                <a:gd name="T35" fmla="*/ 54 h 199"/>
                <a:gd name="T36" fmla="*/ 2 w 603"/>
                <a:gd name="T37" fmla="*/ 66 h 199"/>
                <a:gd name="T38" fmla="*/ 0 w 603"/>
                <a:gd name="T39" fmla="*/ 76 h 199"/>
                <a:gd name="T40" fmla="*/ 0 w 603"/>
                <a:gd name="T41" fmla="*/ 88 h 199"/>
                <a:gd name="T42" fmla="*/ 0 w 603"/>
                <a:gd name="T43" fmla="*/ 99 h 199"/>
                <a:gd name="T44" fmla="*/ 0 w 603"/>
                <a:gd name="T45" fmla="*/ 124 h 199"/>
                <a:gd name="T46" fmla="*/ 3 w 603"/>
                <a:gd name="T47" fmla="*/ 151 h 199"/>
                <a:gd name="T48" fmla="*/ 8 w 603"/>
                <a:gd name="T49" fmla="*/ 175 h 199"/>
                <a:gd name="T50" fmla="*/ 17 w 603"/>
                <a:gd name="T51" fmla="*/ 199 h 199"/>
                <a:gd name="T52" fmla="*/ 17 w 603"/>
                <a:gd name="T53" fmla="*/ 187 h 199"/>
                <a:gd name="T54" fmla="*/ 12 w 603"/>
                <a:gd name="T55" fmla="*/ 162 h 199"/>
                <a:gd name="T56" fmla="*/ 7 w 603"/>
                <a:gd name="T57" fmla="*/ 137 h 199"/>
                <a:gd name="T58" fmla="*/ 5 w 603"/>
                <a:gd name="T59" fmla="*/ 112 h 199"/>
                <a:gd name="T60" fmla="*/ 5 w 603"/>
                <a:gd name="T61" fmla="*/ 93 h 199"/>
                <a:gd name="T62" fmla="*/ 5 w 603"/>
                <a:gd name="T63" fmla="*/ 81 h 199"/>
                <a:gd name="T64" fmla="*/ 5 w 603"/>
                <a:gd name="T65" fmla="*/ 69 h 199"/>
                <a:gd name="T66" fmla="*/ 7 w 603"/>
                <a:gd name="T67" fmla="*/ 58 h 199"/>
                <a:gd name="T68" fmla="*/ 3 w 603"/>
                <a:gd name="T69" fmla="*/ 5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3" h="199">
                  <a:moveTo>
                    <a:pt x="603" y="99"/>
                  </a:moveTo>
                  <a:lnTo>
                    <a:pt x="603" y="86"/>
                  </a:lnTo>
                  <a:lnTo>
                    <a:pt x="601" y="73"/>
                  </a:lnTo>
                  <a:lnTo>
                    <a:pt x="601" y="61"/>
                  </a:lnTo>
                  <a:lnTo>
                    <a:pt x="598" y="48"/>
                  </a:lnTo>
                  <a:lnTo>
                    <a:pt x="596" y="36"/>
                  </a:lnTo>
                  <a:lnTo>
                    <a:pt x="593" y="23"/>
                  </a:lnTo>
                  <a:lnTo>
                    <a:pt x="590" y="11"/>
                  </a:lnTo>
                  <a:lnTo>
                    <a:pt x="586" y="0"/>
                  </a:lnTo>
                  <a:lnTo>
                    <a:pt x="581" y="0"/>
                  </a:lnTo>
                  <a:lnTo>
                    <a:pt x="585" y="11"/>
                  </a:lnTo>
                  <a:lnTo>
                    <a:pt x="588" y="23"/>
                  </a:lnTo>
                  <a:lnTo>
                    <a:pt x="591" y="36"/>
                  </a:lnTo>
                  <a:lnTo>
                    <a:pt x="593" y="48"/>
                  </a:lnTo>
                  <a:lnTo>
                    <a:pt x="596" y="61"/>
                  </a:lnTo>
                  <a:lnTo>
                    <a:pt x="596" y="73"/>
                  </a:lnTo>
                  <a:lnTo>
                    <a:pt x="598" y="86"/>
                  </a:lnTo>
                  <a:lnTo>
                    <a:pt x="598" y="99"/>
                  </a:lnTo>
                  <a:lnTo>
                    <a:pt x="598" y="104"/>
                  </a:lnTo>
                  <a:lnTo>
                    <a:pt x="598" y="109"/>
                  </a:lnTo>
                  <a:lnTo>
                    <a:pt x="598" y="114"/>
                  </a:lnTo>
                  <a:lnTo>
                    <a:pt x="598" y="119"/>
                  </a:lnTo>
                  <a:lnTo>
                    <a:pt x="598" y="124"/>
                  </a:lnTo>
                  <a:lnTo>
                    <a:pt x="596" y="129"/>
                  </a:lnTo>
                  <a:lnTo>
                    <a:pt x="596" y="134"/>
                  </a:lnTo>
                  <a:lnTo>
                    <a:pt x="596" y="139"/>
                  </a:lnTo>
                  <a:lnTo>
                    <a:pt x="601" y="136"/>
                  </a:lnTo>
                  <a:lnTo>
                    <a:pt x="601" y="131"/>
                  </a:lnTo>
                  <a:lnTo>
                    <a:pt x="601" y="127"/>
                  </a:lnTo>
                  <a:lnTo>
                    <a:pt x="603" y="122"/>
                  </a:lnTo>
                  <a:lnTo>
                    <a:pt x="603" y="117"/>
                  </a:lnTo>
                  <a:lnTo>
                    <a:pt x="603" y="112"/>
                  </a:lnTo>
                  <a:lnTo>
                    <a:pt x="603" y="109"/>
                  </a:lnTo>
                  <a:lnTo>
                    <a:pt x="603" y="104"/>
                  </a:lnTo>
                  <a:lnTo>
                    <a:pt x="603" y="99"/>
                  </a:lnTo>
                  <a:close/>
                  <a:moveTo>
                    <a:pt x="3" y="54"/>
                  </a:moveTo>
                  <a:lnTo>
                    <a:pt x="2" y="59"/>
                  </a:lnTo>
                  <a:lnTo>
                    <a:pt x="2" y="66"/>
                  </a:lnTo>
                  <a:lnTo>
                    <a:pt x="0" y="71"/>
                  </a:lnTo>
                  <a:lnTo>
                    <a:pt x="0" y="76"/>
                  </a:lnTo>
                  <a:lnTo>
                    <a:pt x="0" y="83"/>
                  </a:lnTo>
                  <a:lnTo>
                    <a:pt x="0" y="88"/>
                  </a:lnTo>
                  <a:lnTo>
                    <a:pt x="0" y="93"/>
                  </a:lnTo>
                  <a:lnTo>
                    <a:pt x="0" y="99"/>
                  </a:lnTo>
                  <a:lnTo>
                    <a:pt x="0" y="112"/>
                  </a:lnTo>
                  <a:lnTo>
                    <a:pt x="0" y="124"/>
                  </a:lnTo>
                  <a:lnTo>
                    <a:pt x="2" y="137"/>
                  </a:lnTo>
                  <a:lnTo>
                    <a:pt x="3" y="151"/>
                  </a:lnTo>
                  <a:lnTo>
                    <a:pt x="7" y="162"/>
                  </a:lnTo>
                  <a:lnTo>
                    <a:pt x="8" y="175"/>
                  </a:lnTo>
                  <a:lnTo>
                    <a:pt x="12" y="187"/>
                  </a:lnTo>
                  <a:lnTo>
                    <a:pt x="17" y="199"/>
                  </a:lnTo>
                  <a:lnTo>
                    <a:pt x="22" y="199"/>
                  </a:lnTo>
                  <a:lnTo>
                    <a:pt x="17" y="187"/>
                  </a:lnTo>
                  <a:lnTo>
                    <a:pt x="13" y="175"/>
                  </a:lnTo>
                  <a:lnTo>
                    <a:pt x="12" y="162"/>
                  </a:lnTo>
                  <a:lnTo>
                    <a:pt x="8" y="151"/>
                  </a:lnTo>
                  <a:lnTo>
                    <a:pt x="7" y="137"/>
                  </a:lnTo>
                  <a:lnTo>
                    <a:pt x="5" y="126"/>
                  </a:lnTo>
                  <a:lnTo>
                    <a:pt x="5" y="112"/>
                  </a:lnTo>
                  <a:lnTo>
                    <a:pt x="5" y="99"/>
                  </a:lnTo>
                  <a:lnTo>
                    <a:pt x="5" y="93"/>
                  </a:lnTo>
                  <a:lnTo>
                    <a:pt x="5" y="88"/>
                  </a:lnTo>
                  <a:lnTo>
                    <a:pt x="5" y="81"/>
                  </a:lnTo>
                  <a:lnTo>
                    <a:pt x="5" y="76"/>
                  </a:lnTo>
                  <a:lnTo>
                    <a:pt x="5" y="69"/>
                  </a:lnTo>
                  <a:lnTo>
                    <a:pt x="7" y="63"/>
                  </a:lnTo>
                  <a:lnTo>
                    <a:pt x="7" y="58"/>
                  </a:lnTo>
                  <a:lnTo>
                    <a:pt x="8" y="51"/>
                  </a:lnTo>
                  <a:lnTo>
                    <a:pt x="3" y="54"/>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16" name="Freeform 156">
              <a:extLst>
                <a:ext uri="{FF2B5EF4-FFF2-40B4-BE49-F238E27FC236}">
                  <a16:creationId xmlns:a16="http://schemas.microsoft.com/office/drawing/2014/main" id="{B76BDB17-B7B8-BE1C-8F58-9B05B0316CA8}"/>
                </a:ext>
              </a:extLst>
            </p:cNvPr>
            <p:cNvSpPr>
              <a:spLocks noEditPoints="1"/>
            </p:cNvSpPr>
            <p:nvPr/>
          </p:nvSpPr>
          <p:spPr bwMode="auto">
            <a:xfrm>
              <a:off x="1537" y="1514"/>
              <a:ext cx="599" cy="199"/>
            </a:xfrm>
            <a:custGeom>
              <a:avLst/>
              <a:gdLst>
                <a:gd name="T0" fmla="*/ 598 w 599"/>
                <a:gd name="T1" fmla="*/ 86 h 199"/>
                <a:gd name="T2" fmla="*/ 596 w 599"/>
                <a:gd name="T3" fmla="*/ 61 h 199"/>
                <a:gd name="T4" fmla="*/ 593 w 599"/>
                <a:gd name="T5" fmla="*/ 36 h 199"/>
                <a:gd name="T6" fmla="*/ 586 w 599"/>
                <a:gd name="T7" fmla="*/ 11 h 199"/>
                <a:gd name="T8" fmla="*/ 576 w 599"/>
                <a:gd name="T9" fmla="*/ 0 h 199"/>
                <a:gd name="T10" fmla="*/ 584 w 599"/>
                <a:gd name="T11" fmla="*/ 23 h 199"/>
                <a:gd name="T12" fmla="*/ 589 w 599"/>
                <a:gd name="T13" fmla="*/ 48 h 199"/>
                <a:gd name="T14" fmla="*/ 593 w 599"/>
                <a:gd name="T15" fmla="*/ 73 h 199"/>
                <a:gd name="T16" fmla="*/ 594 w 599"/>
                <a:gd name="T17" fmla="*/ 99 h 199"/>
                <a:gd name="T18" fmla="*/ 594 w 599"/>
                <a:gd name="T19" fmla="*/ 109 h 199"/>
                <a:gd name="T20" fmla="*/ 593 w 599"/>
                <a:gd name="T21" fmla="*/ 119 h 199"/>
                <a:gd name="T22" fmla="*/ 593 w 599"/>
                <a:gd name="T23" fmla="*/ 129 h 199"/>
                <a:gd name="T24" fmla="*/ 591 w 599"/>
                <a:gd name="T25" fmla="*/ 139 h 199"/>
                <a:gd name="T26" fmla="*/ 596 w 599"/>
                <a:gd name="T27" fmla="*/ 132 h 199"/>
                <a:gd name="T28" fmla="*/ 598 w 599"/>
                <a:gd name="T29" fmla="*/ 122 h 199"/>
                <a:gd name="T30" fmla="*/ 598 w 599"/>
                <a:gd name="T31" fmla="*/ 114 h 199"/>
                <a:gd name="T32" fmla="*/ 599 w 599"/>
                <a:gd name="T33" fmla="*/ 104 h 199"/>
                <a:gd name="T34" fmla="*/ 3 w 599"/>
                <a:gd name="T35" fmla="*/ 53 h 199"/>
                <a:gd name="T36" fmla="*/ 1 w 599"/>
                <a:gd name="T37" fmla="*/ 64 h 199"/>
                <a:gd name="T38" fmla="*/ 1 w 599"/>
                <a:gd name="T39" fmla="*/ 76 h 199"/>
                <a:gd name="T40" fmla="*/ 0 w 599"/>
                <a:gd name="T41" fmla="*/ 88 h 199"/>
                <a:gd name="T42" fmla="*/ 0 w 599"/>
                <a:gd name="T43" fmla="*/ 99 h 199"/>
                <a:gd name="T44" fmla="*/ 1 w 599"/>
                <a:gd name="T45" fmla="*/ 126 h 199"/>
                <a:gd name="T46" fmla="*/ 5 w 599"/>
                <a:gd name="T47" fmla="*/ 151 h 199"/>
                <a:gd name="T48" fmla="*/ 10 w 599"/>
                <a:gd name="T49" fmla="*/ 175 h 199"/>
                <a:gd name="T50" fmla="*/ 16 w 599"/>
                <a:gd name="T51" fmla="*/ 199 h 199"/>
                <a:gd name="T52" fmla="*/ 18 w 599"/>
                <a:gd name="T53" fmla="*/ 187 h 199"/>
                <a:gd name="T54" fmla="*/ 11 w 599"/>
                <a:gd name="T55" fmla="*/ 162 h 199"/>
                <a:gd name="T56" fmla="*/ 8 w 599"/>
                <a:gd name="T57" fmla="*/ 137 h 199"/>
                <a:gd name="T58" fmla="*/ 5 w 599"/>
                <a:gd name="T59" fmla="*/ 112 h 199"/>
                <a:gd name="T60" fmla="*/ 5 w 599"/>
                <a:gd name="T61" fmla="*/ 93 h 199"/>
                <a:gd name="T62" fmla="*/ 5 w 599"/>
                <a:gd name="T63" fmla="*/ 81 h 199"/>
                <a:gd name="T64" fmla="*/ 6 w 599"/>
                <a:gd name="T65" fmla="*/ 69 h 199"/>
                <a:gd name="T66" fmla="*/ 8 w 599"/>
                <a:gd name="T67" fmla="*/ 56 h 199"/>
                <a:gd name="T68" fmla="*/ 3 w 599"/>
                <a:gd name="T69" fmla="*/ 5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9" h="199">
                  <a:moveTo>
                    <a:pt x="599" y="99"/>
                  </a:moveTo>
                  <a:lnTo>
                    <a:pt x="598" y="86"/>
                  </a:lnTo>
                  <a:lnTo>
                    <a:pt x="598" y="73"/>
                  </a:lnTo>
                  <a:lnTo>
                    <a:pt x="596" y="61"/>
                  </a:lnTo>
                  <a:lnTo>
                    <a:pt x="594" y="48"/>
                  </a:lnTo>
                  <a:lnTo>
                    <a:pt x="593" y="36"/>
                  </a:lnTo>
                  <a:lnTo>
                    <a:pt x="589" y="23"/>
                  </a:lnTo>
                  <a:lnTo>
                    <a:pt x="586" y="11"/>
                  </a:lnTo>
                  <a:lnTo>
                    <a:pt x="581" y="0"/>
                  </a:lnTo>
                  <a:lnTo>
                    <a:pt x="576" y="0"/>
                  </a:lnTo>
                  <a:lnTo>
                    <a:pt x="581" y="11"/>
                  </a:lnTo>
                  <a:lnTo>
                    <a:pt x="584" y="23"/>
                  </a:lnTo>
                  <a:lnTo>
                    <a:pt x="588" y="36"/>
                  </a:lnTo>
                  <a:lnTo>
                    <a:pt x="589" y="48"/>
                  </a:lnTo>
                  <a:lnTo>
                    <a:pt x="591" y="61"/>
                  </a:lnTo>
                  <a:lnTo>
                    <a:pt x="593" y="73"/>
                  </a:lnTo>
                  <a:lnTo>
                    <a:pt x="594" y="86"/>
                  </a:lnTo>
                  <a:lnTo>
                    <a:pt x="594" y="99"/>
                  </a:lnTo>
                  <a:lnTo>
                    <a:pt x="594" y="104"/>
                  </a:lnTo>
                  <a:lnTo>
                    <a:pt x="594" y="109"/>
                  </a:lnTo>
                  <a:lnTo>
                    <a:pt x="593" y="114"/>
                  </a:lnTo>
                  <a:lnTo>
                    <a:pt x="593" y="119"/>
                  </a:lnTo>
                  <a:lnTo>
                    <a:pt x="593" y="124"/>
                  </a:lnTo>
                  <a:lnTo>
                    <a:pt x="593" y="129"/>
                  </a:lnTo>
                  <a:lnTo>
                    <a:pt x="591" y="134"/>
                  </a:lnTo>
                  <a:lnTo>
                    <a:pt x="591" y="139"/>
                  </a:lnTo>
                  <a:lnTo>
                    <a:pt x="596" y="137"/>
                  </a:lnTo>
                  <a:lnTo>
                    <a:pt x="596" y="132"/>
                  </a:lnTo>
                  <a:lnTo>
                    <a:pt x="598" y="127"/>
                  </a:lnTo>
                  <a:lnTo>
                    <a:pt x="598" y="122"/>
                  </a:lnTo>
                  <a:lnTo>
                    <a:pt x="598" y="117"/>
                  </a:lnTo>
                  <a:lnTo>
                    <a:pt x="598" y="114"/>
                  </a:lnTo>
                  <a:lnTo>
                    <a:pt x="598" y="109"/>
                  </a:lnTo>
                  <a:lnTo>
                    <a:pt x="599" y="104"/>
                  </a:lnTo>
                  <a:lnTo>
                    <a:pt x="599" y="99"/>
                  </a:lnTo>
                  <a:close/>
                  <a:moveTo>
                    <a:pt x="3" y="53"/>
                  </a:moveTo>
                  <a:lnTo>
                    <a:pt x="3" y="59"/>
                  </a:lnTo>
                  <a:lnTo>
                    <a:pt x="1" y="64"/>
                  </a:lnTo>
                  <a:lnTo>
                    <a:pt x="1" y="69"/>
                  </a:lnTo>
                  <a:lnTo>
                    <a:pt x="1" y="76"/>
                  </a:lnTo>
                  <a:lnTo>
                    <a:pt x="0" y="81"/>
                  </a:lnTo>
                  <a:lnTo>
                    <a:pt x="0" y="88"/>
                  </a:lnTo>
                  <a:lnTo>
                    <a:pt x="0" y="93"/>
                  </a:lnTo>
                  <a:lnTo>
                    <a:pt x="0" y="99"/>
                  </a:lnTo>
                  <a:lnTo>
                    <a:pt x="0" y="112"/>
                  </a:lnTo>
                  <a:lnTo>
                    <a:pt x="1" y="126"/>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8" y="137"/>
                  </a:lnTo>
                  <a:lnTo>
                    <a:pt x="6" y="126"/>
                  </a:lnTo>
                  <a:lnTo>
                    <a:pt x="5" y="112"/>
                  </a:lnTo>
                  <a:lnTo>
                    <a:pt x="5" y="99"/>
                  </a:lnTo>
                  <a:lnTo>
                    <a:pt x="5" y="93"/>
                  </a:lnTo>
                  <a:lnTo>
                    <a:pt x="5" y="86"/>
                  </a:lnTo>
                  <a:lnTo>
                    <a:pt x="5" y="81"/>
                  </a:lnTo>
                  <a:lnTo>
                    <a:pt x="6" y="74"/>
                  </a:lnTo>
                  <a:lnTo>
                    <a:pt x="6" y="69"/>
                  </a:lnTo>
                  <a:lnTo>
                    <a:pt x="6" y="63"/>
                  </a:lnTo>
                  <a:lnTo>
                    <a:pt x="8" y="56"/>
                  </a:lnTo>
                  <a:lnTo>
                    <a:pt x="8" y="51"/>
                  </a:lnTo>
                  <a:lnTo>
                    <a:pt x="3" y="53"/>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17" name="Freeform 157">
              <a:extLst>
                <a:ext uri="{FF2B5EF4-FFF2-40B4-BE49-F238E27FC236}">
                  <a16:creationId xmlns:a16="http://schemas.microsoft.com/office/drawing/2014/main" id="{634C09CD-9B00-E803-E711-235AB3E65A63}"/>
                </a:ext>
              </a:extLst>
            </p:cNvPr>
            <p:cNvSpPr>
              <a:spLocks noEditPoints="1"/>
            </p:cNvSpPr>
            <p:nvPr/>
          </p:nvSpPr>
          <p:spPr bwMode="auto">
            <a:xfrm>
              <a:off x="1540" y="1514"/>
              <a:ext cx="593" cy="199"/>
            </a:xfrm>
            <a:custGeom>
              <a:avLst/>
              <a:gdLst>
                <a:gd name="T0" fmla="*/ 593 w 593"/>
                <a:gd name="T1" fmla="*/ 86 h 199"/>
                <a:gd name="T2" fmla="*/ 591 w 593"/>
                <a:gd name="T3" fmla="*/ 61 h 199"/>
                <a:gd name="T4" fmla="*/ 586 w 593"/>
                <a:gd name="T5" fmla="*/ 36 h 199"/>
                <a:gd name="T6" fmla="*/ 580 w 593"/>
                <a:gd name="T7" fmla="*/ 11 h 199"/>
                <a:gd name="T8" fmla="*/ 571 w 593"/>
                <a:gd name="T9" fmla="*/ 0 h 199"/>
                <a:gd name="T10" fmla="*/ 578 w 593"/>
                <a:gd name="T11" fmla="*/ 23 h 199"/>
                <a:gd name="T12" fmla="*/ 585 w 593"/>
                <a:gd name="T13" fmla="*/ 48 h 199"/>
                <a:gd name="T14" fmla="*/ 588 w 593"/>
                <a:gd name="T15" fmla="*/ 73 h 199"/>
                <a:gd name="T16" fmla="*/ 588 w 593"/>
                <a:gd name="T17" fmla="*/ 99 h 199"/>
                <a:gd name="T18" fmla="*/ 588 w 593"/>
                <a:gd name="T19" fmla="*/ 109 h 199"/>
                <a:gd name="T20" fmla="*/ 588 w 593"/>
                <a:gd name="T21" fmla="*/ 121 h 199"/>
                <a:gd name="T22" fmla="*/ 586 w 593"/>
                <a:gd name="T23" fmla="*/ 131 h 199"/>
                <a:gd name="T24" fmla="*/ 585 w 593"/>
                <a:gd name="T25" fmla="*/ 141 h 199"/>
                <a:gd name="T26" fmla="*/ 591 w 593"/>
                <a:gd name="T27" fmla="*/ 134 h 199"/>
                <a:gd name="T28" fmla="*/ 593 w 593"/>
                <a:gd name="T29" fmla="*/ 124 h 199"/>
                <a:gd name="T30" fmla="*/ 593 w 593"/>
                <a:gd name="T31" fmla="*/ 114 h 199"/>
                <a:gd name="T32" fmla="*/ 593 w 593"/>
                <a:gd name="T33" fmla="*/ 104 h 199"/>
                <a:gd name="T34" fmla="*/ 3 w 593"/>
                <a:gd name="T35" fmla="*/ 51 h 199"/>
                <a:gd name="T36" fmla="*/ 2 w 593"/>
                <a:gd name="T37" fmla="*/ 63 h 199"/>
                <a:gd name="T38" fmla="*/ 0 w 593"/>
                <a:gd name="T39" fmla="*/ 76 h 199"/>
                <a:gd name="T40" fmla="*/ 0 w 593"/>
                <a:gd name="T41" fmla="*/ 88 h 199"/>
                <a:gd name="T42" fmla="*/ 0 w 593"/>
                <a:gd name="T43" fmla="*/ 99 h 199"/>
                <a:gd name="T44" fmla="*/ 0 w 593"/>
                <a:gd name="T45" fmla="*/ 126 h 199"/>
                <a:gd name="T46" fmla="*/ 3 w 593"/>
                <a:gd name="T47" fmla="*/ 151 h 199"/>
                <a:gd name="T48" fmla="*/ 8 w 593"/>
                <a:gd name="T49" fmla="*/ 175 h 199"/>
                <a:gd name="T50" fmla="*/ 17 w 593"/>
                <a:gd name="T51" fmla="*/ 199 h 199"/>
                <a:gd name="T52" fmla="*/ 18 w 593"/>
                <a:gd name="T53" fmla="*/ 187 h 199"/>
                <a:gd name="T54" fmla="*/ 12 w 593"/>
                <a:gd name="T55" fmla="*/ 162 h 199"/>
                <a:gd name="T56" fmla="*/ 7 w 593"/>
                <a:gd name="T57" fmla="*/ 137 h 199"/>
                <a:gd name="T58" fmla="*/ 5 w 593"/>
                <a:gd name="T59" fmla="*/ 112 h 199"/>
                <a:gd name="T60" fmla="*/ 3 w 593"/>
                <a:gd name="T61" fmla="*/ 93 h 199"/>
                <a:gd name="T62" fmla="*/ 5 w 593"/>
                <a:gd name="T63" fmla="*/ 81 h 199"/>
                <a:gd name="T64" fmla="*/ 5 w 593"/>
                <a:gd name="T65" fmla="*/ 68 h 199"/>
                <a:gd name="T66" fmla="*/ 7 w 593"/>
                <a:gd name="T67" fmla="*/ 56 h 199"/>
                <a:gd name="T68" fmla="*/ 3 w 593"/>
                <a:gd name="T69" fmla="*/ 5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3" h="199">
                  <a:moveTo>
                    <a:pt x="593" y="99"/>
                  </a:moveTo>
                  <a:lnTo>
                    <a:pt x="593" y="86"/>
                  </a:lnTo>
                  <a:lnTo>
                    <a:pt x="591" y="73"/>
                  </a:lnTo>
                  <a:lnTo>
                    <a:pt x="591" y="61"/>
                  </a:lnTo>
                  <a:lnTo>
                    <a:pt x="588" y="48"/>
                  </a:lnTo>
                  <a:lnTo>
                    <a:pt x="586" y="36"/>
                  </a:lnTo>
                  <a:lnTo>
                    <a:pt x="583" y="23"/>
                  </a:lnTo>
                  <a:lnTo>
                    <a:pt x="580" y="11"/>
                  </a:lnTo>
                  <a:lnTo>
                    <a:pt x="576" y="0"/>
                  </a:lnTo>
                  <a:lnTo>
                    <a:pt x="571" y="0"/>
                  </a:lnTo>
                  <a:lnTo>
                    <a:pt x="575" y="11"/>
                  </a:lnTo>
                  <a:lnTo>
                    <a:pt x="578" y="23"/>
                  </a:lnTo>
                  <a:lnTo>
                    <a:pt x="581" y="36"/>
                  </a:lnTo>
                  <a:lnTo>
                    <a:pt x="585" y="48"/>
                  </a:lnTo>
                  <a:lnTo>
                    <a:pt x="586" y="61"/>
                  </a:lnTo>
                  <a:lnTo>
                    <a:pt x="588" y="73"/>
                  </a:lnTo>
                  <a:lnTo>
                    <a:pt x="588" y="86"/>
                  </a:lnTo>
                  <a:lnTo>
                    <a:pt x="588" y="99"/>
                  </a:lnTo>
                  <a:lnTo>
                    <a:pt x="588" y="104"/>
                  </a:lnTo>
                  <a:lnTo>
                    <a:pt x="588" y="109"/>
                  </a:lnTo>
                  <a:lnTo>
                    <a:pt x="588" y="114"/>
                  </a:lnTo>
                  <a:lnTo>
                    <a:pt x="588" y="121"/>
                  </a:lnTo>
                  <a:lnTo>
                    <a:pt x="588" y="126"/>
                  </a:lnTo>
                  <a:lnTo>
                    <a:pt x="586" y="131"/>
                  </a:lnTo>
                  <a:lnTo>
                    <a:pt x="586" y="136"/>
                  </a:lnTo>
                  <a:lnTo>
                    <a:pt x="585" y="141"/>
                  </a:lnTo>
                  <a:lnTo>
                    <a:pt x="591" y="139"/>
                  </a:lnTo>
                  <a:lnTo>
                    <a:pt x="591" y="134"/>
                  </a:lnTo>
                  <a:lnTo>
                    <a:pt x="591" y="129"/>
                  </a:lnTo>
                  <a:lnTo>
                    <a:pt x="593" y="124"/>
                  </a:lnTo>
                  <a:lnTo>
                    <a:pt x="593" y="119"/>
                  </a:lnTo>
                  <a:lnTo>
                    <a:pt x="593" y="114"/>
                  </a:lnTo>
                  <a:lnTo>
                    <a:pt x="593" y="109"/>
                  </a:lnTo>
                  <a:lnTo>
                    <a:pt x="593" y="104"/>
                  </a:lnTo>
                  <a:lnTo>
                    <a:pt x="593" y="99"/>
                  </a:lnTo>
                  <a:close/>
                  <a:moveTo>
                    <a:pt x="3" y="51"/>
                  </a:moveTo>
                  <a:lnTo>
                    <a:pt x="2" y="58"/>
                  </a:lnTo>
                  <a:lnTo>
                    <a:pt x="2" y="63"/>
                  </a:lnTo>
                  <a:lnTo>
                    <a:pt x="0" y="69"/>
                  </a:lnTo>
                  <a:lnTo>
                    <a:pt x="0" y="76"/>
                  </a:lnTo>
                  <a:lnTo>
                    <a:pt x="0" y="81"/>
                  </a:lnTo>
                  <a:lnTo>
                    <a:pt x="0" y="88"/>
                  </a:lnTo>
                  <a:lnTo>
                    <a:pt x="0" y="93"/>
                  </a:lnTo>
                  <a:lnTo>
                    <a:pt x="0" y="99"/>
                  </a:lnTo>
                  <a:lnTo>
                    <a:pt x="0" y="112"/>
                  </a:lnTo>
                  <a:lnTo>
                    <a:pt x="0" y="126"/>
                  </a:lnTo>
                  <a:lnTo>
                    <a:pt x="2" y="137"/>
                  </a:lnTo>
                  <a:lnTo>
                    <a:pt x="3" y="151"/>
                  </a:lnTo>
                  <a:lnTo>
                    <a:pt x="7" y="162"/>
                  </a:lnTo>
                  <a:lnTo>
                    <a:pt x="8" y="175"/>
                  </a:lnTo>
                  <a:lnTo>
                    <a:pt x="12" y="187"/>
                  </a:lnTo>
                  <a:lnTo>
                    <a:pt x="17" y="199"/>
                  </a:lnTo>
                  <a:lnTo>
                    <a:pt x="22" y="199"/>
                  </a:lnTo>
                  <a:lnTo>
                    <a:pt x="18" y="187"/>
                  </a:lnTo>
                  <a:lnTo>
                    <a:pt x="13" y="175"/>
                  </a:lnTo>
                  <a:lnTo>
                    <a:pt x="12" y="162"/>
                  </a:lnTo>
                  <a:lnTo>
                    <a:pt x="8" y="151"/>
                  </a:lnTo>
                  <a:lnTo>
                    <a:pt x="7" y="137"/>
                  </a:lnTo>
                  <a:lnTo>
                    <a:pt x="5" y="126"/>
                  </a:lnTo>
                  <a:lnTo>
                    <a:pt x="5" y="112"/>
                  </a:lnTo>
                  <a:lnTo>
                    <a:pt x="3" y="99"/>
                  </a:lnTo>
                  <a:lnTo>
                    <a:pt x="3" y="93"/>
                  </a:lnTo>
                  <a:lnTo>
                    <a:pt x="5" y="86"/>
                  </a:lnTo>
                  <a:lnTo>
                    <a:pt x="5" y="81"/>
                  </a:lnTo>
                  <a:lnTo>
                    <a:pt x="5" y="74"/>
                  </a:lnTo>
                  <a:lnTo>
                    <a:pt x="5" y="68"/>
                  </a:lnTo>
                  <a:lnTo>
                    <a:pt x="7" y="61"/>
                  </a:lnTo>
                  <a:lnTo>
                    <a:pt x="7" y="56"/>
                  </a:lnTo>
                  <a:lnTo>
                    <a:pt x="8" y="50"/>
                  </a:lnTo>
                  <a:lnTo>
                    <a:pt x="3" y="51"/>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18" name="Freeform 158">
              <a:extLst>
                <a:ext uri="{FF2B5EF4-FFF2-40B4-BE49-F238E27FC236}">
                  <a16:creationId xmlns:a16="http://schemas.microsoft.com/office/drawing/2014/main" id="{7CBC082E-B11D-563A-BDDB-7C6423D1FE2A}"/>
                </a:ext>
              </a:extLst>
            </p:cNvPr>
            <p:cNvSpPr>
              <a:spLocks noEditPoints="1"/>
            </p:cNvSpPr>
            <p:nvPr/>
          </p:nvSpPr>
          <p:spPr bwMode="auto">
            <a:xfrm>
              <a:off x="1542" y="1514"/>
              <a:ext cx="589" cy="199"/>
            </a:xfrm>
            <a:custGeom>
              <a:avLst/>
              <a:gdLst>
                <a:gd name="T0" fmla="*/ 589 w 589"/>
                <a:gd name="T1" fmla="*/ 86 h 199"/>
                <a:gd name="T2" fmla="*/ 586 w 589"/>
                <a:gd name="T3" fmla="*/ 61 h 199"/>
                <a:gd name="T4" fmla="*/ 583 w 589"/>
                <a:gd name="T5" fmla="*/ 36 h 199"/>
                <a:gd name="T6" fmla="*/ 576 w 589"/>
                <a:gd name="T7" fmla="*/ 11 h 199"/>
                <a:gd name="T8" fmla="*/ 566 w 589"/>
                <a:gd name="T9" fmla="*/ 0 h 199"/>
                <a:gd name="T10" fmla="*/ 574 w 589"/>
                <a:gd name="T11" fmla="*/ 23 h 199"/>
                <a:gd name="T12" fmla="*/ 579 w 589"/>
                <a:gd name="T13" fmla="*/ 48 h 199"/>
                <a:gd name="T14" fmla="*/ 583 w 589"/>
                <a:gd name="T15" fmla="*/ 73 h 199"/>
                <a:gd name="T16" fmla="*/ 584 w 589"/>
                <a:gd name="T17" fmla="*/ 99 h 199"/>
                <a:gd name="T18" fmla="*/ 584 w 589"/>
                <a:gd name="T19" fmla="*/ 109 h 199"/>
                <a:gd name="T20" fmla="*/ 583 w 589"/>
                <a:gd name="T21" fmla="*/ 121 h 199"/>
                <a:gd name="T22" fmla="*/ 583 w 589"/>
                <a:gd name="T23" fmla="*/ 131 h 199"/>
                <a:gd name="T24" fmla="*/ 581 w 589"/>
                <a:gd name="T25" fmla="*/ 142 h 199"/>
                <a:gd name="T26" fmla="*/ 586 w 589"/>
                <a:gd name="T27" fmla="*/ 134 h 199"/>
                <a:gd name="T28" fmla="*/ 588 w 589"/>
                <a:gd name="T29" fmla="*/ 124 h 199"/>
                <a:gd name="T30" fmla="*/ 588 w 589"/>
                <a:gd name="T31" fmla="*/ 114 h 199"/>
                <a:gd name="T32" fmla="*/ 589 w 589"/>
                <a:gd name="T33" fmla="*/ 104 h 199"/>
                <a:gd name="T34" fmla="*/ 3 w 589"/>
                <a:gd name="T35" fmla="*/ 51 h 199"/>
                <a:gd name="T36" fmla="*/ 1 w 589"/>
                <a:gd name="T37" fmla="*/ 63 h 199"/>
                <a:gd name="T38" fmla="*/ 1 w 589"/>
                <a:gd name="T39" fmla="*/ 74 h 199"/>
                <a:gd name="T40" fmla="*/ 0 w 589"/>
                <a:gd name="T41" fmla="*/ 86 h 199"/>
                <a:gd name="T42" fmla="*/ 0 w 589"/>
                <a:gd name="T43" fmla="*/ 99 h 199"/>
                <a:gd name="T44" fmla="*/ 1 w 589"/>
                <a:gd name="T45" fmla="*/ 126 h 199"/>
                <a:gd name="T46" fmla="*/ 5 w 589"/>
                <a:gd name="T47" fmla="*/ 151 h 199"/>
                <a:gd name="T48" fmla="*/ 10 w 589"/>
                <a:gd name="T49" fmla="*/ 175 h 199"/>
                <a:gd name="T50" fmla="*/ 16 w 589"/>
                <a:gd name="T51" fmla="*/ 199 h 199"/>
                <a:gd name="T52" fmla="*/ 18 w 589"/>
                <a:gd name="T53" fmla="*/ 187 h 199"/>
                <a:gd name="T54" fmla="*/ 11 w 589"/>
                <a:gd name="T55" fmla="*/ 162 h 199"/>
                <a:gd name="T56" fmla="*/ 6 w 589"/>
                <a:gd name="T57" fmla="*/ 137 h 199"/>
                <a:gd name="T58" fmla="*/ 5 w 589"/>
                <a:gd name="T59" fmla="*/ 112 h 199"/>
                <a:gd name="T60" fmla="*/ 5 w 589"/>
                <a:gd name="T61" fmla="*/ 93 h 199"/>
                <a:gd name="T62" fmla="*/ 5 w 589"/>
                <a:gd name="T63" fmla="*/ 79 h 199"/>
                <a:gd name="T64" fmla="*/ 6 w 589"/>
                <a:gd name="T65" fmla="*/ 68 h 199"/>
                <a:gd name="T66" fmla="*/ 8 w 589"/>
                <a:gd name="T67" fmla="*/ 54 h 199"/>
                <a:gd name="T68" fmla="*/ 3 w 589"/>
                <a:gd name="T69" fmla="*/ 5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9" h="199">
                  <a:moveTo>
                    <a:pt x="589" y="99"/>
                  </a:moveTo>
                  <a:lnTo>
                    <a:pt x="589" y="86"/>
                  </a:lnTo>
                  <a:lnTo>
                    <a:pt x="588" y="73"/>
                  </a:lnTo>
                  <a:lnTo>
                    <a:pt x="586" y="61"/>
                  </a:lnTo>
                  <a:lnTo>
                    <a:pt x="584" y="48"/>
                  </a:lnTo>
                  <a:lnTo>
                    <a:pt x="583" y="36"/>
                  </a:lnTo>
                  <a:lnTo>
                    <a:pt x="579" y="23"/>
                  </a:lnTo>
                  <a:lnTo>
                    <a:pt x="576" y="11"/>
                  </a:lnTo>
                  <a:lnTo>
                    <a:pt x="571" y="0"/>
                  </a:lnTo>
                  <a:lnTo>
                    <a:pt x="566" y="0"/>
                  </a:lnTo>
                  <a:lnTo>
                    <a:pt x="571" y="11"/>
                  </a:lnTo>
                  <a:lnTo>
                    <a:pt x="574" y="23"/>
                  </a:lnTo>
                  <a:lnTo>
                    <a:pt x="578" y="36"/>
                  </a:lnTo>
                  <a:lnTo>
                    <a:pt x="579" y="48"/>
                  </a:lnTo>
                  <a:lnTo>
                    <a:pt x="581" y="61"/>
                  </a:lnTo>
                  <a:lnTo>
                    <a:pt x="583" y="73"/>
                  </a:lnTo>
                  <a:lnTo>
                    <a:pt x="584" y="86"/>
                  </a:lnTo>
                  <a:lnTo>
                    <a:pt x="584" y="99"/>
                  </a:lnTo>
                  <a:lnTo>
                    <a:pt x="584" y="104"/>
                  </a:lnTo>
                  <a:lnTo>
                    <a:pt x="584" y="109"/>
                  </a:lnTo>
                  <a:lnTo>
                    <a:pt x="584" y="116"/>
                  </a:lnTo>
                  <a:lnTo>
                    <a:pt x="583" y="121"/>
                  </a:lnTo>
                  <a:lnTo>
                    <a:pt x="583" y="126"/>
                  </a:lnTo>
                  <a:lnTo>
                    <a:pt x="583" y="131"/>
                  </a:lnTo>
                  <a:lnTo>
                    <a:pt x="581" y="136"/>
                  </a:lnTo>
                  <a:lnTo>
                    <a:pt x="581" y="142"/>
                  </a:lnTo>
                  <a:lnTo>
                    <a:pt x="586" y="139"/>
                  </a:lnTo>
                  <a:lnTo>
                    <a:pt x="586" y="134"/>
                  </a:lnTo>
                  <a:lnTo>
                    <a:pt x="588" y="129"/>
                  </a:lnTo>
                  <a:lnTo>
                    <a:pt x="588" y="124"/>
                  </a:lnTo>
                  <a:lnTo>
                    <a:pt x="588" y="119"/>
                  </a:lnTo>
                  <a:lnTo>
                    <a:pt x="588" y="114"/>
                  </a:lnTo>
                  <a:lnTo>
                    <a:pt x="589" y="109"/>
                  </a:lnTo>
                  <a:lnTo>
                    <a:pt x="589" y="104"/>
                  </a:lnTo>
                  <a:lnTo>
                    <a:pt x="589" y="99"/>
                  </a:lnTo>
                  <a:close/>
                  <a:moveTo>
                    <a:pt x="3" y="51"/>
                  </a:moveTo>
                  <a:lnTo>
                    <a:pt x="3" y="56"/>
                  </a:lnTo>
                  <a:lnTo>
                    <a:pt x="1" y="63"/>
                  </a:lnTo>
                  <a:lnTo>
                    <a:pt x="1" y="69"/>
                  </a:lnTo>
                  <a:lnTo>
                    <a:pt x="1" y="74"/>
                  </a:lnTo>
                  <a:lnTo>
                    <a:pt x="0" y="81"/>
                  </a:lnTo>
                  <a:lnTo>
                    <a:pt x="0" y="86"/>
                  </a:lnTo>
                  <a:lnTo>
                    <a:pt x="0" y="93"/>
                  </a:lnTo>
                  <a:lnTo>
                    <a:pt x="0" y="99"/>
                  </a:lnTo>
                  <a:lnTo>
                    <a:pt x="0" y="112"/>
                  </a:lnTo>
                  <a:lnTo>
                    <a:pt x="1" y="126"/>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6" y="137"/>
                  </a:lnTo>
                  <a:lnTo>
                    <a:pt x="6" y="126"/>
                  </a:lnTo>
                  <a:lnTo>
                    <a:pt x="5" y="112"/>
                  </a:lnTo>
                  <a:lnTo>
                    <a:pt x="5" y="99"/>
                  </a:lnTo>
                  <a:lnTo>
                    <a:pt x="5" y="93"/>
                  </a:lnTo>
                  <a:lnTo>
                    <a:pt x="5" y="86"/>
                  </a:lnTo>
                  <a:lnTo>
                    <a:pt x="5" y="79"/>
                  </a:lnTo>
                  <a:lnTo>
                    <a:pt x="6" y="73"/>
                  </a:lnTo>
                  <a:lnTo>
                    <a:pt x="6" y="68"/>
                  </a:lnTo>
                  <a:lnTo>
                    <a:pt x="6" y="61"/>
                  </a:lnTo>
                  <a:lnTo>
                    <a:pt x="8" y="54"/>
                  </a:lnTo>
                  <a:lnTo>
                    <a:pt x="10" y="48"/>
                  </a:lnTo>
                  <a:lnTo>
                    <a:pt x="3" y="51"/>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19" name="Freeform 159">
              <a:extLst>
                <a:ext uri="{FF2B5EF4-FFF2-40B4-BE49-F238E27FC236}">
                  <a16:creationId xmlns:a16="http://schemas.microsoft.com/office/drawing/2014/main" id="{423B2F08-6D50-145B-ADB7-D3BE70B46671}"/>
                </a:ext>
              </a:extLst>
            </p:cNvPr>
            <p:cNvSpPr>
              <a:spLocks noEditPoints="1"/>
            </p:cNvSpPr>
            <p:nvPr/>
          </p:nvSpPr>
          <p:spPr bwMode="auto">
            <a:xfrm>
              <a:off x="1543" y="1514"/>
              <a:ext cx="585" cy="199"/>
            </a:xfrm>
            <a:custGeom>
              <a:avLst/>
              <a:gdLst>
                <a:gd name="T0" fmla="*/ 585 w 585"/>
                <a:gd name="T1" fmla="*/ 86 h 199"/>
                <a:gd name="T2" fmla="*/ 583 w 585"/>
                <a:gd name="T3" fmla="*/ 61 h 199"/>
                <a:gd name="T4" fmla="*/ 578 w 585"/>
                <a:gd name="T5" fmla="*/ 36 h 199"/>
                <a:gd name="T6" fmla="*/ 572 w 585"/>
                <a:gd name="T7" fmla="*/ 11 h 199"/>
                <a:gd name="T8" fmla="*/ 563 w 585"/>
                <a:gd name="T9" fmla="*/ 0 h 199"/>
                <a:gd name="T10" fmla="*/ 570 w 585"/>
                <a:gd name="T11" fmla="*/ 23 h 199"/>
                <a:gd name="T12" fmla="*/ 577 w 585"/>
                <a:gd name="T13" fmla="*/ 48 h 199"/>
                <a:gd name="T14" fmla="*/ 580 w 585"/>
                <a:gd name="T15" fmla="*/ 73 h 199"/>
                <a:gd name="T16" fmla="*/ 580 w 585"/>
                <a:gd name="T17" fmla="*/ 99 h 199"/>
                <a:gd name="T18" fmla="*/ 580 w 585"/>
                <a:gd name="T19" fmla="*/ 111 h 199"/>
                <a:gd name="T20" fmla="*/ 580 w 585"/>
                <a:gd name="T21" fmla="*/ 121 h 199"/>
                <a:gd name="T22" fmla="*/ 578 w 585"/>
                <a:gd name="T23" fmla="*/ 132 h 199"/>
                <a:gd name="T24" fmla="*/ 577 w 585"/>
                <a:gd name="T25" fmla="*/ 142 h 199"/>
                <a:gd name="T26" fmla="*/ 583 w 585"/>
                <a:gd name="T27" fmla="*/ 136 h 199"/>
                <a:gd name="T28" fmla="*/ 585 w 585"/>
                <a:gd name="T29" fmla="*/ 126 h 199"/>
                <a:gd name="T30" fmla="*/ 585 w 585"/>
                <a:gd name="T31" fmla="*/ 114 h 199"/>
                <a:gd name="T32" fmla="*/ 585 w 585"/>
                <a:gd name="T33" fmla="*/ 104 h 199"/>
                <a:gd name="T34" fmla="*/ 5 w 585"/>
                <a:gd name="T35" fmla="*/ 50 h 199"/>
                <a:gd name="T36" fmla="*/ 4 w 585"/>
                <a:gd name="T37" fmla="*/ 61 h 199"/>
                <a:gd name="T38" fmla="*/ 2 w 585"/>
                <a:gd name="T39" fmla="*/ 74 h 199"/>
                <a:gd name="T40" fmla="*/ 2 w 585"/>
                <a:gd name="T41" fmla="*/ 86 h 199"/>
                <a:gd name="T42" fmla="*/ 0 w 585"/>
                <a:gd name="T43" fmla="*/ 99 h 199"/>
                <a:gd name="T44" fmla="*/ 2 w 585"/>
                <a:gd name="T45" fmla="*/ 126 h 199"/>
                <a:gd name="T46" fmla="*/ 5 w 585"/>
                <a:gd name="T47" fmla="*/ 151 h 199"/>
                <a:gd name="T48" fmla="*/ 10 w 585"/>
                <a:gd name="T49" fmla="*/ 175 h 199"/>
                <a:gd name="T50" fmla="*/ 19 w 585"/>
                <a:gd name="T51" fmla="*/ 199 h 199"/>
                <a:gd name="T52" fmla="*/ 20 w 585"/>
                <a:gd name="T53" fmla="*/ 187 h 199"/>
                <a:gd name="T54" fmla="*/ 14 w 585"/>
                <a:gd name="T55" fmla="*/ 162 h 199"/>
                <a:gd name="T56" fmla="*/ 9 w 585"/>
                <a:gd name="T57" fmla="*/ 137 h 199"/>
                <a:gd name="T58" fmla="*/ 7 w 585"/>
                <a:gd name="T59" fmla="*/ 112 h 199"/>
                <a:gd name="T60" fmla="*/ 5 w 585"/>
                <a:gd name="T61" fmla="*/ 93 h 199"/>
                <a:gd name="T62" fmla="*/ 7 w 585"/>
                <a:gd name="T63" fmla="*/ 79 h 199"/>
                <a:gd name="T64" fmla="*/ 7 w 585"/>
                <a:gd name="T65" fmla="*/ 66 h 199"/>
                <a:gd name="T66" fmla="*/ 10 w 585"/>
                <a:gd name="T67" fmla="*/ 53 h 199"/>
                <a:gd name="T68" fmla="*/ 5 w 585"/>
                <a:gd name="T69" fmla="*/ 5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5" h="199">
                  <a:moveTo>
                    <a:pt x="585" y="99"/>
                  </a:moveTo>
                  <a:lnTo>
                    <a:pt x="585" y="86"/>
                  </a:lnTo>
                  <a:lnTo>
                    <a:pt x="585" y="73"/>
                  </a:lnTo>
                  <a:lnTo>
                    <a:pt x="583" y="61"/>
                  </a:lnTo>
                  <a:lnTo>
                    <a:pt x="582" y="48"/>
                  </a:lnTo>
                  <a:lnTo>
                    <a:pt x="578" y="36"/>
                  </a:lnTo>
                  <a:lnTo>
                    <a:pt x="575" y="23"/>
                  </a:lnTo>
                  <a:lnTo>
                    <a:pt x="572" y="11"/>
                  </a:lnTo>
                  <a:lnTo>
                    <a:pt x="568" y="0"/>
                  </a:lnTo>
                  <a:lnTo>
                    <a:pt x="563" y="0"/>
                  </a:lnTo>
                  <a:lnTo>
                    <a:pt x="567" y="11"/>
                  </a:lnTo>
                  <a:lnTo>
                    <a:pt x="570" y="23"/>
                  </a:lnTo>
                  <a:lnTo>
                    <a:pt x="573" y="36"/>
                  </a:lnTo>
                  <a:lnTo>
                    <a:pt x="577" y="48"/>
                  </a:lnTo>
                  <a:lnTo>
                    <a:pt x="578" y="61"/>
                  </a:lnTo>
                  <a:lnTo>
                    <a:pt x="580" y="73"/>
                  </a:lnTo>
                  <a:lnTo>
                    <a:pt x="580" y="86"/>
                  </a:lnTo>
                  <a:lnTo>
                    <a:pt x="580" y="99"/>
                  </a:lnTo>
                  <a:lnTo>
                    <a:pt x="580" y="104"/>
                  </a:lnTo>
                  <a:lnTo>
                    <a:pt x="580" y="111"/>
                  </a:lnTo>
                  <a:lnTo>
                    <a:pt x="580" y="116"/>
                  </a:lnTo>
                  <a:lnTo>
                    <a:pt x="580" y="121"/>
                  </a:lnTo>
                  <a:lnTo>
                    <a:pt x="580" y="127"/>
                  </a:lnTo>
                  <a:lnTo>
                    <a:pt x="578" y="132"/>
                  </a:lnTo>
                  <a:lnTo>
                    <a:pt x="578" y="137"/>
                  </a:lnTo>
                  <a:lnTo>
                    <a:pt x="577" y="142"/>
                  </a:lnTo>
                  <a:lnTo>
                    <a:pt x="582" y="141"/>
                  </a:lnTo>
                  <a:lnTo>
                    <a:pt x="583" y="136"/>
                  </a:lnTo>
                  <a:lnTo>
                    <a:pt x="583" y="131"/>
                  </a:lnTo>
                  <a:lnTo>
                    <a:pt x="585" y="126"/>
                  </a:lnTo>
                  <a:lnTo>
                    <a:pt x="585" y="121"/>
                  </a:lnTo>
                  <a:lnTo>
                    <a:pt x="585" y="114"/>
                  </a:lnTo>
                  <a:lnTo>
                    <a:pt x="585" y="109"/>
                  </a:lnTo>
                  <a:lnTo>
                    <a:pt x="585" y="104"/>
                  </a:lnTo>
                  <a:lnTo>
                    <a:pt x="585" y="99"/>
                  </a:lnTo>
                  <a:close/>
                  <a:moveTo>
                    <a:pt x="5" y="50"/>
                  </a:moveTo>
                  <a:lnTo>
                    <a:pt x="4" y="56"/>
                  </a:lnTo>
                  <a:lnTo>
                    <a:pt x="4" y="61"/>
                  </a:lnTo>
                  <a:lnTo>
                    <a:pt x="2" y="68"/>
                  </a:lnTo>
                  <a:lnTo>
                    <a:pt x="2" y="74"/>
                  </a:lnTo>
                  <a:lnTo>
                    <a:pt x="2" y="81"/>
                  </a:lnTo>
                  <a:lnTo>
                    <a:pt x="2" y="86"/>
                  </a:lnTo>
                  <a:lnTo>
                    <a:pt x="0" y="93"/>
                  </a:lnTo>
                  <a:lnTo>
                    <a:pt x="0" y="99"/>
                  </a:lnTo>
                  <a:lnTo>
                    <a:pt x="2" y="112"/>
                  </a:lnTo>
                  <a:lnTo>
                    <a:pt x="2" y="126"/>
                  </a:lnTo>
                  <a:lnTo>
                    <a:pt x="4" y="137"/>
                  </a:lnTo>
                  <a:lnTo>
                    <a:pt x="5" y="151"/>
                  </a:lnTo>
                  <a:lnTo>
                    <a:pt x="9" y="162"/>
                  </a:lnTo>
                  <a:lnTo>
                    <a:pt x="10" y="175"/>
                  </a:lnTo>
                  <a:lnTo>
                    <a:pt x="15" y="187"/>
                  </a:lnTo>
                  <a:lnTo>
                    <a:pt x="19" y="199"/>
                  </a:lnTo>
                  <a:lnTo>
                    <a:pt x="23" y="199"/>
                  </a:lnTo>
                  <a:lnTo>
                    <a:pt x="20" y="187"/>
                  </a:lnTo>
                  <a:lnTo>
                    <a:pt x="15" y="175"/>
                  </a:lnTo>
                  <a:lnTo>
                    <a:pt x="14" y="162"/>
                  </a:lnTo>
                  <a:lnTo>
                    <a:pt x="10" y="151"/>
                  </a:lnTo>
                  <a:lnTo>
                    <a:pt x="9" y="137"/>
                  </a:lnTo>
                  <a:lnTo>
                    <a:pt x="7" y="126"/>
                  </a:lnTo>
                  <a:lnTo>
                    <a:pt x="7" y="112"/>
                  </a:lnTo>
                  <a:lnTo>
                    <a:pt x="5" y="99"/>
                  </a:lnTo>
                  <a:lnTo>
                    <a:pt x="5" y="93"/>
                  </a:lnTo>
                  <a:lnTo>
                    <a:pt x="7" y="86"/>
                  </a:lnTo>
                  <a:lnTo>
                    <a:pt x="7" y="79"/>
                  </a:lnTo>
                  <a:lnTo>
                    <a:pt x="7" y="73"/>
                  </a:lnTo>
                  <a:lnTo>
                    <a:pt x="7" y="66"/>
                  </a:lnTo>
                  <a:lnTo>
                    <a:pt x="9" y="59"/>
                  </a:lnTo>
                  <a:lnTo>
                    <a:pt x="10" y="53"/>
                  </a:lnTo>
                  <a:lnTo>
                    <a:pt x="10" y="46"/>
                  </a:lnTo>
                  <a:lnTo>
                    <a:pt x="5" y="5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20" name="Freeform 160">
              <a:extLst>
                <a:ext uri="{FF2B5EF4-FFF2-40B4-BE49-F238E27FC236}">
                  <a16:creationId xmlns:a16="http://schemas.microsoft.com/office/drawing/2014/main" id="{24AE0D9F-2CD4-6067-1BB8-53AFB0238D14}"/>
                </a:ext>
              </a:extLst>
            </p:cNvPr>
            <p:cNvSpPr>
              <a:spLocks noEditPoints="1"/>
            </p:cNvSpPr>
            <p:nvPr/>
          </p:nvSpPr>
          <p:spPr bwMode="auto">
            <a:xfrm>
              <a:off x="1547" y="1514"/>
              <a:ext cx="579" cy="199"/>
            </a:xfrm>
            <a:custGeom>
              <a:avLst/>
              <a:gdLst>
                <a:gd name="T0" fmla="*/ 579 w 579"/>
                <a:gd name="T1" fmla="*/ 86 h 199"/>
                <a:gd name="T2" fmla="*/ 576 w 579"/>
                <a:gd name="T3" fmla="*/ 61 h 199"/>
                <a:gd name="T4" fmla="*/ 573 w 579"/>
                <a:gd name="T5" fmla="*/ 36 h 199"/>
                <a:gd name="T6" fmla="*/ 566 w 579"/>
                <a:gd name="T7" fmla="*/ 11 h 199"/>
                <a:gd name="T8" fmla="*/ 556 w 579"/>
                <a:gd name="T9" fmla="*/ 0 h 199"/>
                <a:gd name="T10" fmla="*/ 564 w 579"/>
                <a:gd name="T11" fmla="*/ 23 h 199"/>
                <a:gd name="T12" fmla="*/ 569 w 579"/>
                <a:gd name="T13" fmla="*/ 48 h 199"/>
                <a:gd name="T14" fmla="*/ 573 w 579"/>
                <a:gd name="T15" fmla="*/ 73 h 199"/>
                <a:gd name="T16" fmla="*/ 574 w 579"/>
                <a:gd name="T17" fmla="*/ 99 h 199"/>
                <a:gd name="T18" fmla="*/ 574 w 579"/>
                <a:gd name="T19" fmla="*/ 111 h 199"/>
                <a:gd name="T20" fmla="*/ 573 w 579"/>
                <a:gd name="T21" fmla="*/ 122 h 199"/>
                <a:gd name="T22" fmla="*/ 573 w 579"/>
                <a:gd name="T23" fmla="*/ 132 h 199"/>
                <a:gd name="T24" fmla="*/ 571 w 579"/>
                <a:gd name="T25" fmla="*/ 144 h 199"/>
                <a:gd name="T26" fmla="*/ 576 w 579"/>
                <a:gd name="T27" fmla="*/ 136 h 199"/>
                <a:gd name="T28" fmla="*/ 578 w 579"/>
                <a:gd name="T29" fmla="*/ 126 h 199"/>
                <a:gd name="T30" fmla="*/ 579 w 579"/>
                <a:gd name="T31" fmla="*/ 116 h 199"/>
                <a:gd name="T32" fmla="*/ 579 w 579"/>
                <a:gd name="T33" fmla="*/ 104 h 199"/>
                <a:gd name="T34" fmla="*/ 5 w 579"/>
                <a:gd name="T35" fmla="*/ 48 h 199"/>
                <a:gd name="T36" fmla="*/ 1 w 579"/>
                <a:gd name="T37" fmla="*/ 61 h 199"/>
                <a:gd name="T38" fmla="*/ 1 w 579"/>
                <a:gd name="T39" fmla="*/ 73 h 199"/>
                <a:gd name="T40" fmla="*/ 0 w 579"/>
                <a:gd name="T41" fmla="*/ 86 h 199"/>
                <a:gd name="T42" fmla="*/ 0 w 579"/>
                <a:gd name="T43" fmla="*/ 99 h 199"/>
                <a:gd name="T44" fmla="*/ 1 w 579"/>
                <a:gd name="T45" fmla="*/ 126 h 199"/>
                <a:gd name="T46" fmla="*/ 5 w 579"/>
                <a:gd name="T47" fmla="*/ 151 h 199"/>
                <a:gd name="T48" fmla="*/ 10 w 579"/>
                <a:gd name="T49" fmla="*/ 175 h 199"/>
                <a:gd name="T50" fmla="*/ 16 w 579"/>
                <a:gd name="T51" fmla="*/ 199 h 199"/>
                <a:gd name="T52" fmla="*/ 18 w 579"/>
                <a:gd name="T53" fmla="*/ 187 h 199"/>
                <a:gd name="T54" fmla="*/ 11 w 579"/>
                <a:gd name="T55" fmla="*/ 162 h 199"/>
                <a:gd name="T56" fmla="*/ 6 w 579"/>
                <a:gd name="T57" fmla="*/ 137 h 199"/>
                <a:gd name="T58" fmla="*/ 5 w 579"/>
                <a:gd name="T59" fmla="*/ 112 h 199"/>
                <a:gd name="T60" fmla="*/ 5 w 579"/>
                <a:gd name="T61" fmla="*/ 93 h 199"/>
                <a:gd name="T62" fmla="*/ 5 w 579"/>
                <a:gd name="T63" fmla="*/ 79 h 199"/>
                <a:gd name="T64" fmla="*/ 6 w 579"/>
                <a:gd name="T65" fmla="*/ 66 h 199"/>
                <a:gd name="T66" fmla="*/ 8 w 579"/>
                <a:gd name="T67" fmla="*/ 53 h 199"/>
                <a:gd name="T68" fmla="*/ 5 w 579"/>
                <a:gd name="T69" fmla="*/ 4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9" h="199">
                  <a:moveTo>
                    <a:pt x="579" y="99"/>
                  </a:moveTo>
                  <a:lnTo>
                    <a:pt x="579" y="86"/>
                  </a:lnTo>
                  <a:lnTo>
                    <a:pt x="578" y="73"/>
                  </a:lnTo>
                  <a:lnTo>
                    <a:pt x="576" y="61"/>
                  </a:lnTo>
                  <a:lnTo>
                    <a:pt x="574" y="48"/>
                  </a:lnTo>
                  <a:lnTo>
                    <a:pt x="573" y="36"/>
                  </a:lnTo>
                  <a:lnTo>
                    <a:pt x="569" y="23"/>
                  </a:lnTo>
                  <a:lnTo>
                    <a:pt x="566" y="11"/>
                  </a:lnTo>
                  <a:lnTo>
                    <a:pt x="561" y="0"/>
                  </a:lnTo>
                  <a:lnTo>
                    <a:pt x="556" y="0"/>
                  </a:lnTo>
                  <a:lnTo>
                    <a:pt x="561" y="11"/>
                  </a:lnTo>
                  <a:lnTo>
                    <a:pt x="564" y="23"/>
                  </a:lnTo>
                  <a:lnTo>
                    <a:pt x="568" y="36"/>
                  </a:lnTo>
                  <a:lnTo>
                    <a:pt x="569" y="48"/>
                  </a:lnTo>
                  <a:lnTo>
                    <a:pt x="571" y="61"/>
                  </a:lnTo>
                  <a:lnTo>
                    <a:pt x="573" y="73"/>
                  </a:lnTo>
                  <a:lnTo>
                    <a:pt x="574" y="86"/>
                  </a:lnTo>
                  <a:lnTo>
                    <a:pt x="574" y="99"/>
                  </a:lnTo>
                  <a:lnTo>
                    <a:pt x="574" y="104"/>
                  </a:lnTo>
                  <a:lnTo>
                    <a:pt x="574" y="111"/>
                  </a:lnTo>
                  <a:lnTo>
                    <a:pt x="574" y="116"/>
                  </a:lnTo>
                  <a:lnTo>
                    <a:pt x="573" y="122"/>
                  </a:lnTo>
                  <a:lnTo>
                    <a:pt x="573" y="127"/>
                  </a:lnTo>
                  <a:lnTo>
                    <a:pt x="573" y="132"/>
                  </a:lnTo>
                  <a:lnTo>
                    <a:pt x="571" y="139"/>
                  </a:lnTo>
                  <a:lnTo>
                    <a:pt x="571" y="144"/>
                  </a:lnTo>
                  <a:lnTo>
                    <a:pt x="576" y="142"/>
                  </a:lnTo>
                  <a:lnTo>
                    <a:pt x="576" y="136"/>
                  </a:lnTo>
                  <a:lnTo>
                    <a:pt x="578" y="131"/>
                  </a:lnTo>
                  <a:lnTo>
                    <a:pt x="578" y="126"/>
                  </a:lnTo>
                  <a:lnTo>
                    <a:pt x="578" y="121"/>
                  </a:lnTo>
                  <a:lnTo>
                    <a:pt x="579" y="116"/>
                  </a:lnTo>
                  <a:lnTo>
                    <a:pt x="579" y="109"/>
                  </a:lnTo>
                  <a:lnTo>
                    <a:pt x="579" y="104"/>
                  </a:lnTo>
                  <a:lnTo>
                    <a:pt x="579" y="99"/>
                  </a:lnTo>
                  <a:close/>
                  <a:moveTo>
                    <a:pt x="5" y="48"/>
                  </a:moveTo>
                  <a:lnTo>
                    <a:pt x="3" y="54"/>
                  </a:lnTo>
                  <a:lnTo>
                    <a:pt x="1" y="61"/>
                  </a:lnTo>
                  <a:lnTo>
                    <a:pt x="1" y="68"/>
                  </a:lnTo>
                  <a:lnTo>
                    <a:pt x="1" y="73"/>
                  </a:lnTo>
                  <a:lnTo>
                    <a:pt x="0" y="79"/>
                  </a:lnTo>
                  <a:lnTo>
                    <a:pt x="0" y="86"/>
                  </a:lnTo>
                  <a:lnTo>
                    <a:pt x="0" y="93"/>
                  </a:lnTo>
                  <a:lnTo>
                    <a:pt x="0" y="99"/>
                  </a:lnTo>
                  <a:lnTo>
                    <a:pt x="0" y="112"/>
                  </a:lnTo>
                  <a:lnTo>
                    <a:pt x="1" y="126"/>
                  </a:lnTo>
                  <a:lnTo>
                    <a:pt x="1" y="137"/>
                  </a:lnTo>
                  <a:lnTo>
                    <a:pt x="5" y="151"/>
                  </a:lnTo>
                  <a:lnTo>
                    <a:pt x="6" y="162"/>
                  </a:lnTo>
                  <a:lnTo>
                    <a:pt x="10" y="175"/>
                  </a:lnTo>
                  <a:lnTo>
                    <a:pt x="13" y="187"/>
                  </a:lnTo>
                  <a:lnTo>
                    <a:pt x="16" y="199"/>
                  </a:lnTo>
                  <a:lnTo>
                    <a:pt x="23" y="199"/>
                  </a:lnTo>
                  <a:lnTo>
                    <a:pt x="18" y="187"/>
                  </a:lnTo>
                  <a:lnTo>
                    <a:pt x="15" y="175"/>
                  </a:lnTo>
                  <a:lnTo>
                    <a:pt x="11" y="162"/>
                  </a:lnTo>
                  <a:lnTo>
                    <a:pt x="10" y="151"/>
                  </a:lnTo>
                  <a:lnTo>
                    <a:pt x="6" y="137"/>
                  </a:lnTo>
                  <a:lnTo>
                    <a:pt x="5" y="126"/>
                  </a:lnTo>
                  <a:lnTo>
                    <a:pt x="5" y="112"/>
                  </a:lnTo>
                  <a:lnTo>
                    <a:pt x="5" y="99"/>
                  </a:lnTo>
                  <a:lnTo>
                    <a:pt x="5" y="93"/>
                  </a:lnTo>
                  <a:lnTo>
                    <a:pt x="5" y="86"/>
                  </a:lnTo>
                  <a:lnTo>
                    <a:pt x="5" y="79"/>
                  </a:lnTo>
                  <a:lnTo>
                    <a:pt x="6" y="73"/>
                  </a:lnTo>
                  <a:lnTo>
                    <a:pt x="6" y="66"/>
                  </a:lnTo>
                  <a:lnTo>
                    <a:pt x="6" y="59"/>
                  </a:lnTo>
                  <a:lnTo>
                    <a:pt x="8" y="53"/>
                  </a:lnTo>
                  <a:lnTo>
                    <a:pt x="10" y="46"/>
                  </a:lnTo>
                  <a:lnTo>
                    <a:pt x="5" y="48"/>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21" name="Freeform 161">
              <a:extLst>
                <a:ext uri="{FF2B5EF4-FFF2-40B4-BE49-F238E27FC236}">
                  <a16:creationId xmlns:a16="http://schemas.microsoft.com/office/drawing/2014/main" id="{85292DAB-8631-1FC8-98FE-22AE07945301}"/>
                </a:ext>
              </a:extLst>
            </p:cNvPr>
            <p:cNvSpPr>
              <a:spLocks noEditPoints="1"/>
            </p:cNvSpPr>
            <p:nvPr/>
          </p:nvSpPr>
          <p:spPr bwMode="auto">
            <a:xfrm>
              <a:off x="1548" y="1514"/>
              <a:ext cx="575" cy="199"/>
            </a:xfrm>
            <a:custGeom>
              <a:avLst/>
              <a:gdLst>
                <a:gd name="T0" fmla="*/ 575 w 575"/>
                <a:gd name="T1" fmla="*/ 86 h 199"/>
                <a:gd name="T2" fmla="*/ 573 w 575"/>
                <a:gd name="T3" fmla="*/ 61 h 199"/>
                <a:gd name="T4" fmla="*/ 568 w 575"/>
                <a:gd name="T5" fmla="*/ 36 h 199"/>
                <a:gd name="T6" fmla="*/ 562 w 575"/>
                <a:gd name="T7" fmla="*/ 11 h 199"/>
                <a:gd name="T8" fmla="*/ 553 w 575"/>
                <a:gd name="T9" fmla="*/ 0 h 199"/>
                <a:gd name="T10" fmla="*/ 560 w 575"/>
                <a:gd name="T11" fmla="*/ 23 h 199"/>
                <a:gd name="T12" fmla="*/ 567 w 575"/>
                <a:gd name="T13" fmla="*/ 48 h 199"/>
                <a:gd name="T14" fmla="*/ 570 w 575"/>
                <a:gd name="T15" fmla="*/ 73 h 199"/>
                <a:gd name="T16" fmla="*/ 570 w 575"/>
                <a:gd name="T17" fmla="*/ 99 h 199"/>
                <a:gd name="T18" fmla="*/ 570 w 575"/>
                <a:gd name="T19" fmla="*/ 111 h 199"/>
                <a:gd name="T20" fmla="*/ 570 w 575"/>
                <a:gd name="T21" fmla="*/ 122 h 199"/>
                <a:gd name="T22" fmla="*/ 568 w 575"/>
                <a:gd name="T23" fmla="*/ 134 h 199"/>
                <a:gd name="T24" fmla="*/ 567 w 575"/>
                <a:gd name="T25" fmla="*/ 146 h 199"/>
                <a:gd name="T26" fmla="*/ 573 w 575"/>
                <a:gd name="T27" fmla="*/ 137 h 199"/>
                <a:gd name="T28" fmla="*/ 575 w 575"/>
                <a:gd name="T29" fmla="*/ 127 h 199"/>
                <a:gd name="T30" fmla="*/ 575 w 575"/>
                <a:gd name="T31" fmla="*/ 116 h 199"/>
                <a:gd name="T32" fmla="*/ 575 w 575"/>
                <a:gd name="T33" fmla="*/ 104 h 199"/>
                <a:gd name="T34" fmla="*/ 5 w 575"/>
                <a:gd name="T35" fmla="*/ 46 h 199"/>
                <a:gd name="T36" fmla="*/ 4 w 575"/>
                <a:gd name="T37" fmla="*/ 59 h 199"/>
                <a:gd name="T38" fmla="*/ 2 w 575"/>
                <a:gd name="T39" fmla="*/ 73 h 199"/>
                <a:gd name="T40" fmla="*/ 2 w 575"/>
                <a:gd name="T41" fmla="*/ 86 h 199"/>
                <a:gd name="T42" fmla="*/ 0 w 575"/>
                <a:gd name="T43" fmla="*/ 99 h 199"/>
                <a:gd name="T44" fmla="*/ 2 w 575"/>
                <a:gd name="T45" fmla="*/ 126 h 199"/>
                <a:gd name="T46" fmla="*/ 5 w 575"/>
                <a:gd name="T47" fmla="*/ 151 h 199"/>
                <a:gd name="T48" fmla="*/ 10 w 575"/>
                <a:gd name="T49" fmla="*/ 175 h 199"/>
                <a:gd name="T50" fmla="*/ 18 w 575"/>
                <a:gd name="T51" fmla="*/ 199 h 199"/>
                <a:gd name="T52" fmla="*/ 20 w 575"/>
                <a:gd name="T53" fmla="*/ 187 h 199"/>
                <a:gd name="T54" fmla="*/ 14 w 575"/>
                <a:gd name="T55" fmla="*/ 162 h 199"/>
                <a:gd name="T56" fmla="*/ 9 w 575"/>
                <a:gd name="T57" fmla="*/ 137 h 199"/>
                <a:gd name="T58" fmla="*/ 5 w 575"/>
                <a:gd name="T59" fmla="*/ 112 h 199"/>
                <a:gd name="T60" fmla="*/ 5 w 575"/>
                <a:gd name="T61" fmla="*/ 93 h 199"/>
                <a:gd name="T62" fmla="*/ 7 w 575"/>
                <a:gd name="T63" fmla="*/ 78 h 199"/>
                <a:gd name="T64" fmla="*/ 7 w 575"/>
                <a:gd name="T65" fmla="*/ 64 h 199"/>
                <a:gd name="T66" fmla="*/ 10 w 575"/>
                <a:gd name="T67" fmla="*/ 51 h 199"/>
                <a:gd name="T68" fmla="*/ 5 w 575"/>
                <a:gd name="T69" fmla="*/ 4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5" h="199">
                  <a:moveTo>
                    <a:pt x="575" y="99"/>
                  </a:moveTo>
                  <a:lnTo>
                    <a:pt x="575" y="86"/>
                  </a:lnTo>
                  <a:lnTo>
                    <a:pt x="575" y="73"/>
                  </a:lnTo>
                  <a:lnTo>
                    <a:pt x="573" y="61"/>
                  </a:lnTo>
                  <a:lnTo>
                    <a:pt x="572" y="48"/>
                  </a:lnTo>
                  <a:lnTo>
                    <a:pt x="568" y="36"/>
                  </a:lnTo>
                  <a:lnTo>
                    <a:pt x="565" y="23"/>
                  </a:lnTo>
                  <a:lnTo>
                    <a:pt x="562" y="11"/>
                  </a:lnTo>
                  <a:lnTo>
                    <a:pt x="558" y="0"/>
                  </a:lnTo>
                  <a:lnTo>
                    <a:pt x="553" y="0"/>
                  </a:lnTo>
                  <a:lnTo>
                    <a:pt x="557" y="11"/>
                  </a:lnTo>
                  <a:lnTo>
                    <a:pt x="560" y="23"/>
                  </a:lnTo>
                  <a:lnTo>
                    <a:pt x="563" y="35"/>
                  </a:lnTo>
                  <a:lnTo>
                    <a:pt x="567" y="48"/>
                  </a:lnTo>
                  <a:lnTo>
                    <a:pt x="568" y="61"/>
                  </a:lnTo>
                  <a:lnTo>
                    <a:pt x="570" y="73"/>
                  </a:lnTo>
                  <a:lnTo>
                    <a:pt x="570" y="86"/>
                  </a:lnTo>
                  <a:lnTo>
                    <a:pt x="570" y="99"/>
                  </a:lnTo>
                  <a:lnTo>
                    <a:pt x="570" y="104"/>
                  </a:lnTo>
                  <a:lnTo>
                    <a:pt x="570" y="111"/>
                  </a:lnTo>
                  <a:lnTo>
                    <a:pt x="570" y="116"/>
                  </a:lnTo>
                  <a:lnTo>
                    <a:pt x="570" y="122"/>
                  </a:lnTo>
                  <a:lnTo>
                    <a:pt x="570" y="127"/>
                  </a:lnTo>
                  <a:lnTo>
                    <a:pt x="568" y="134"/>
                  </a:lnTo>
                  <a:lnTo>
                    <a:pt x="568" y="139"/>
                  </a:lnTo>
                  <a:lnTo>
                    <a:pt x="567" y="146"/>
                  </a:lnTo>
                  <a:lnTo>
                    <a:pt x="572" y="142"/>
                  </a:lnTo>
                  <a:lnTo>
                    <a:pt x="573" y="137"/>
                  </a:lnTo>
                  <a:lnTo>
                    <a:pt x="573" y="132"/>
                  </a:lnTo>
                  <a:lnTo>
                    <a:pt x="575" y="127"/>
                  </a:lnTo>
                  <a:lnTo>
                    <a:pt x="575" y="121"/>
                  </a:lnTo>
                  <a:lnTo>
                    <a:pt x="575" y="116"/>
                  </a:lnTo>
                  <a:lnTo>
                    <a:pt x="575" y="111"/>
                  </a:lnTo>
                  <a:lnTo>
                    <a:pt x="575" y="104"/>
                  </a:lnTo>
                  <a:lnTo>
                    <a:pt x="575" y="99"/>
                  </a:lnTo>
                  <a:close/>
                  <a:moveTo>
                    <a:pt x="5" y="46"/>
                  </a:moveTo>
                  <a:lnTo>
                    <a:pt x="5" y="53"/>
                  </a:lnTo>
                  <a:lnTo>
                    <a:pt x="4" y="59"/>
                  </a:lnTo>
                  <a:lnTo>
                    <a:pt x="2" y="66"/>
                  </a:lnTo>
                  <a:lnTo>
                    <a:pt x="2" y="73"/>
                  </a:lnTo>
                  <a:lnTo>
                    <a:pt x="2" y="79"/>
                  </a:lnTo>
                  <a:lnTo>
                    <a:pt x="2" y="86"/>
                  </a:lnTo>
                  <a:lnTo>
                    <a:pt x="0" y="93"/>
                  </a:lnTo>
                  <a:lnTo>
                    <a:pt x="0" y="99"/>
                  </a:lnTo>
                  <a:lnTo>
                    <a:pt x="2" y="112"/>
                  </a:lnTo>
                  <a:lnTo>
                    <a:pt x="2" y="126"/>
                  </a:lnTo>
                  <a:lnTo>
                    <a:pt x="4" y="137"/>
                  </a:lnTo>
                  <a:lnTo>
                    <a:pt x="5" y="151"/>
                  </a:lnTo>
                  <a:lnTo>
                    <a:pt x="9" y="162"/>
                  </a:lnTo>
                  <a:lnTo>
                    <a:pt x="10" y="175"/>
                  </a:lnTo>
                  <a:lnTo>
                    <a:pt x="15" y="187"/>
                  </a:lnTo>
                  <a:lnTo>
                    <a:pt x="18" y="199"/>
                  </a:lnTo>
                  <a:lnTo>
                    <a:pt x="23" y="199"/>
                  </a:lnTo>
                  <a:lnTo>
                    <a:pt x="20" y="187"/>
                  </a:lnTo>
                  <a:lnTo>
                    <a:pt x="15" y="175"/>
                  </a:lnTo>
                  <a:lnTo>
                    <a:pt x="14" y="162"/>
                  </a:lnTo>
                  <a:lnTo>
                    <a:pt x="10" y="151"/>
                  </a:lnTo>
                  <a:lnTo>
                    <a:pt x="9" y="137"/>
                  </a:lnTo>
                  <a:lnTo>
                    <a:pt x="7" y="126"/>
                  </a:lnTo>
                  <a:lnTo>
                    <a:pt x="5" y="112"/>
                  </a:lnTo>
                  <a:lnTo>
                    <a:pt x="5" y="99"/>
                  </a:lnTo>
                  <a:lnTo>
                    <a:pt x="5" y="93"/>
                  </a:lnTo>
                  <a:lnTo>
                    <a:pt x="5" y="84"/>
                  </a:lnTo>
                  <a:lnTo>
                    <a:pt x="7" y="78"/>
                  </a:lnTo>
                  <a:lnTo>
                    <a:pt x="7" y="71"/>
                  </a:lnTo>
                  <a:lnTo>
                    <a:pt x="7" y="64"/>
                  </a:lnTo>
                  <a:lnTo>
                    <a:pt x="9" y="58"/>
                  </a:lnTo>
                  <a:lnTo>
                    <a:pt x="10" y="51"/>
                  </a:lnTo>
                  <a:lnTo>
                    <a:pt x="10" y="45"/>
                  </a:lnTo>
                  <a:lnTo>
                    <a:pt x="5" y="46"/>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22" name="Freeform 162">
              <a:extLst>
                <a:ext uri="{FF2B5EF4-FFF2-40B4-BE49-F238E27FC236}">
                  <a16:creationId xmlns:a16="http://schemas.microsoft.com/office/drawing/2014/main" id="{D3704242-8174-01D7-46AB-4AC43AB0189A}"/>
                </a:ext>
              </a:extLst>
            </p:cNvPr>
            <p:cNvSpPr>
              <a:spLocks noEditPoints="1"/>
            </p:cNvSpPr>
            <p:nvPr/>
          </p:nvSpPr>
          <p:spPr bwMode="auto">
            <a:xfrm>
              <a:off x="1552" y="1514"/>
              <a:ext cx="569" cy="199"/>
            </a:xfrm>
            <a:custGeom>
              <a:avLst/>
              <a:gdLst>
                <a:gd name="T0" fmla="*/ 569 w 569"/>
                <a:gd name="T1" fmla="*/ 86 h 199"/>
                <a:gd name="T2" fmla="*/ 566 w 569"/>
                <a:gd name="T3" fmla="*/ 61 h 199"/>
                <a:gd name="T4" fmla="*/ 563 w 569"/>
                <a:gd name="T5" fmla="*/ 36 h 199"/>
                <a:gd name="T6" fmla="*/ 556 w 569"/>
                <a:gd name="T7" fmla="*/ 11 h 199"/>
                <a:gd name="T8" fmla="*/ 546 w 569"/>
                <a:gd name="T9" fmla="*/ 0 h 199"/>
                <a:gd name="T10" fmla="*/ 554 w 569"/>
                <a:gd name="T11" fmla="*/ 23 h 199"/>
                <a:gd name="T12" fmla="*/ 559 w 569"/>
                <a:gd name="T13" fmla="*/ 48 h 199"/>
                <a:gd name="T14" fmla="*/ 563 w 569"/>
                <a:gd name="T15" fmla="*/ 73 h 199"/>
                <a:gd name="T16" fmla="*/ 564 w 569"/>
                <a:gd name="T17" fmla="*/ 99 h 199"/>
                <a:gd name="T18" fmla="*/ 564 w 569"/>
                <a:gd name="T19" fmla="*/ 111 h 199"/>
                <a:gd name="T20" fmla="*/ 563 w 569"/>
                <a:gd name="T21" fmla="*/ 122 h 199"/>
                <a:gd name="T22" fmla="*/ 563 w 569"/>
                <a:gd name="T23" fmla="*/ 134 h 199"/>
                <a:gd name="T24" fmla="*/ 561 w 569"/>
                <a:gd name="T25" fmla="*/ 146 h 199"/>
                <a:gd name="T26" fmla="*/ 566 w 569"/>
                <a:gd name="T27" fmla="*/ 139 h 199"/>
                <a:gd name="T28" fmla="*/ 568 w 569"/>
                <a:gd name="T29" fmla="*/ 127 h 199"/>
                <a:gd name="T30" fmla="*/ 569 w 569"/>
                <a:gd name="T31" fmla="*/ 116 h 199"/>
                <a:gd name="T32" fmla="*/ 569 w 569"/>
                <a:gd name="T33" fmla="*/ 104 h 199"/>
                <a:gd name="T34" fmla="*/ 5 w 569"/>
                <a:gd name="T35" fmla="*/ 46 h 199"/>
                <a:gd name="T36" fmla="*/ 1 w 569"/>
                <a:gd name="T37" fmla="*/ 59 h 199"/>
                <a:gd name="T38" fmla="*/ 1 w 569"/>
                <a:gd name="T39" fmla="*/ 73 h 199"/>
                <a:gd name="T40" fmla="*/ 0 w 569"/>
                <a:gd name="T41" fmla="*/ 86 h 199"/>
                <a:gd name="T42" fmla="*/ 0 w 569"/>
                <a:gd name="T43" fmla="*/ 99 h 199"/>
                <a:gd name="T44" fmla="*/ 0 w 569"/>
                <a:gd name="T45" fmla="*/ 126 h 199"/>
                <a:gd name="T46" fmla="*/ 5 w 569"/>
                <a:gd name="T47" fmla="*/ 151 h 199"/>
                <a:gd name="T48" fmla="*/ 10 w 569"/>
                <a:gd name="T49" fmla="*/ 175 h 199"/>
                <a:gd name="T50" fmla="*/ 18 w 569"/>
                <a:gd name="T51" fmla="*/ 199 h 199"/>
                <a:gd name="T52" fmla="*/ 18 w 569"/>
                <a:gd name="T53" fmla="*/ 187 h 199"/>
                <a:gd name="T54" fmla="*/ 11 w 569"/>
                <a:gd name="T55" fmla="*/ 162 h 199"/>
                <a:gd name="T56" fmla="*/ 6 w 569"/>
                <a:gd name="T57" fmla="*/ 137 h 199"/>
                <a:gd name="T58" fmla="*/ 5 w 569"/>
                <a:gd name="T59" fmla="*/ 112 h 199"/>
                <a:gd name="T60" fmla="*/ 5 w 569"/>
                <a:gd name="T61" fmla="*/ 93 h 199"/>
                <a:gd name="T62" fmla="*/ 5 w 569"/>
                <a:gd name="T63" fmla="*/ 78 h 199"/>
                <a:gd name="T64" fmla="*/ 6 w 569"/>
                <a:gd name="T65" fmla="*/ 64 h 199"/>
                <a:gd name="T66" fmla="*/ 8 w 569"/>
                <a:gd name="T67" fmla="*/ 50 h 199"/>
                <a:gd name="T68" fmla="*/ 5 w 569"/>
                <a:gd name="T69" fmla="*/ 4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9" h="199">
                  <a:moveTo>
                    <a:pt x="569" y="99"/>
                  </a:moveTo>
                  <a:lnTo>
                    <a:pt x="569" y="86"/>
                  </a:lnTo>
                  <a:lnTo>
                    <a:pt x="568" y="73"/>
                  </a:lnTo>
                  <a:lnTo>
                    <a:pt x="566" y="61"/>
                  </a:lnTo>
                  <a:lnTo>
                    <a:pt x="564" y="48"/>
                  </a:lnTo>
                  <a:lnTo>
                    <a:pt x="563" y="36"/>
                  </a:lnTo>
                  <a:lnTo>
                    <a:pt x="559" y="23"/>
                  </a:lnTo>
                  <a:lnTo>
                    <a:pt x="556" y="11"/>
                  </a:lnTo>
                  <a:lnTo>
                    <a:pt x="551" y="0"/>
                  </a:lnTo>
                  <a:lnTo>
                    <a:pt x="546" y="0"/>
                  </a:lnTo>
                  <a:lnTo>
                    <a:pt x="551" y="11"/>
                  </a:lnTo>
                  <a:lnTo>
                    <a:pt x="554" y="23"/>
                  </a:lnTo>
                  <a:lnTo>
                    <a:pt x="558" y="35"/>
                  </a:lnTo>
                  <a:lnTo>
                    <a:pt x="559" y="48"/>
                  </a:lnTo>
                  <a:lnTo>
                    <a:pt x="561" y="61"/>
                  </a:lnTo>
                  <a:lnTo>
                    <a:pt x="563" y="73"/>
                  </a:lnTo>
                  <a:lnTo>
                    <a:pt x="564" y="86"/>
                  </a:lnTo>
                  <a:lnTo>
                    <a:pt x="564" y="99"/>
                  </a:lnTo>
                  <a:lnTo>
                    <a:pt x="564" y="106"/>
                  </a:lnTo>
                  <a:lnTo>
                    <a:pt x="564" y="111"/>
                  </a:lnTo>
                  <a:lnTo>
                    <a:pt x="564" y="117"/>
                  </a:lnTo>
                  <a:lnTo>
                    <a:pt x="563" y="122"/>
                  </a:lnTo>
                  <a:lnTo>
                    <a:pt x="563" y="129"/>
                  </a:lnTo>
                  <a:lnTo>
                    <a:pt x="563" y="134"/>
                  </a:lnTo>
                  <a:lnTo>
                    <a:pt x="561" y="141"/>
                  </a:lnTo>
                  <a:lnTo>
                    <a:pt x="561" y="146"/>
                  </a:lnTo>
                  <a:lnTo>
                    <a:pt x="566" y="144"/>
                  </a:lnTo>
                  <a:lnTo>
                    <a:pt x="566" y="139"/>
                  </a:lnTo>
                  <a:lnTo>
                    <a:pt x="568" y="132"/>
                  </a:lnTo>
                  <a:lnTo>
                    <a:pt x="568" y="127"/>
                  </a:lnTo>
                  <a:lnTo>
                    <a:pt x="568" y="122"/>
                  </a:lnTo>
                  <a:lnTo>
                    <a:pt x="569" y="116"/>
                  </a:lnTo>
                  <a:lnTo>
                    <a:pt x="569" y="111"/>
                  </a:lnTo>
                  <a:lnTo>
                    <a:pt x="569" y="104"/>
                  </a:lnTo>
                  <a:lnTo>
                    <a:pt x="569" y="99"/>
                  </a:lnTo>
                  <a:close/>
                  <a:moveTo>
                    <a:pt x="5" y="46"/>
                  </a:moveTo>
                  <a:lnTo>
                    <a:pt x="3" y="53"/>
                  </a:lnTo>
                  <a:lnTo>
                    <a:pt x="1" y="59"/>
                  </a:lnTo>
                  <a:lnTo>
                    <a:pt x="1" y="66"/>
                  </a:lnTo>
                  <a:lnTo>
                    <a:pt x="1" y="73"/>
                  </a:lnTo>
                  <a:lnTo>
                    <a:pt x="0" y="79"/>
                  </a:lnTo>
                  <a:lnTo>
                    <a:pt x="0" y="86"/>
                  </a:lnTo>
                  <a:lnTo>
                    <a:pt x="0" y="93"/>
                  </a:lnTo>
                  <a:lnTo>
                    <a:pt x="0" y="99"/>
                  </a:lnTo>
                  <a:lnTo>
                    <a:pt x="0" y="112"/>
                  </a:lnTo>
                  <a:lnTo>
                    <a:pt x="0" y="126"/>
                  </a:lnTo>
                  <a:lnTo>
                    <a:pt x="1" y="137"/>
                  </a:lnTo>
                  <a:lnTo>
                    <a:pt x="5" y="151"/>
                  </a:lnTo>
                  <a:lnTo>
                    <a:pt x="6" y="162"/>
                  </a:lnTo>
                  <a:lnTo>
                    <a:pt x="10" y="175"/>
                  </a:lnTo>
                  <a:lnTo>
                    <a:pt x="13" y="187"/>
                  </a:lnTo>
                  <a:lnTo>
                    <a:pt x="18" y="199"/>
                  </a:lnTo>
                  <a:lnTo>
                    <a:pt x="23" y="199"/>
                  </a:lnTo>
                  <a:lnTo>
                    <a:pt x="18" y="187"/>
                  </a:lnTo>
                  <a:lnTo>
                    <a:pt x="14" y="175"/>
                  </a:lnTo>
                  <a:lnTo>
                    <a:pt x="11" y="162"/>
                  </a:lnTo>
                  <a:lnTo>
                    <a:pt x="8" y="151"/>
                  </a:lnTo>
                  <a:lnTo>
                    <a:pt x="6" y="137"/>
                  </a:lnTo>
                  <a:lnTo>
                    <a:pt x="5" y="126"/>
                  </a:lnTo>
                  <a:lnTo>
                    <a:pt x="5" y="112"/>
                  </a:lnTo>
                  <a:lnTo>
                    <a:pt x="5" y="99"/>
                  </a:lnTo>
                  <a:lnTo>
                    <a:pt x="5" y="93"/>
                  </a:lnTo>
                  <a:lnTo>
                    <a:pt x="5" y="84"/>
                  </a:lnTo>
                  <a:lnTo>
                    <a:pt x="5" y="78"/>
                  </a:lnTo>
                  <a:lnTo>
                    <a:pt x="6" y="71"/>
                  </a:lnTo>
                  <a:lnTo>
                    <a:pt x="6" y="64"/>
                  </a:lnTo>
                  <a:lnTo>
                    <a:pt x="8" y="56"/>
                  </a:lnTo>
                  <a:lnTo>
                    <a:pt x="8" y="50"/>
                  </a:lnTo>
                  <a:lnTo>
                    <a:pt x="10" y="43"/>
                  </a:lnTo>
                  <a:lnTo>
                    <a:pt x="5" y="46"/>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23" name="Freeform 163">
              <a:extLst>
                <a:ext uri="{FF2B5EF4-FFF2-40B4-BE49-F238E27FC236}">
                  <a16:creationId xmlns:a16="http://schemas.microsoft.com/office/drawing/2014/main" id="{7D61458D-16DA-F243-12EE-2DED6A5F5E82}"/>
                </a:ext>
              </a:extLst>
            </p:cNvPr>
            <p:cNvSpPr>
              <a:spLocks noEditPoints="1"/>
            </p:cNvSpPr>
            <p:nvPr/>
          </p:nvSpPr>
          <p:spPr bwMode="auto">
            <a:xfrm>
              <a:off x="1553" y="1514"/>
              <a:ext cx="565" cy="199"/>
            </a:xfrm>
            <a:custGeom>
              <a:avLst/>
              <a:gdLst>
                <a:gd name="T0" fmla="*/ 565 w 565"/>
                <a:gd name="T1" fmla="*/ 86 h 199"/>
                <a:gd name="T2" fmla="*/ 563 w 565"/>
                <a:gd name="T3" fmla="*/ 61 h 199"/>
                <a:gd name="T4" fmla="*/ 558 w 565"/>
                <a:gd name="T5" fmla="*/ 35 h 199"/>
                <a:gd name="T6" fmla="*/ 552 w 565"/>
                <a:gd name="T7" fmla="*/ 11 h 199"/>
                <a:gd name="T8" fmla="*/ 543 w 565"/>
                <a:gd name="T9" fmla="*/ 0 h 199"/>
                <a:gd name="T10" fmla="*/ 550 w 565"/>
                <a:gd name="T11" fmla="*/ 23 h 199"/>
                <a:gd name="T12" fmla="*/ 557 w 565"/>
                <a:gd name="T13" fmla="*/ 48 h 199"/>
                <a:gd name="T14" fmla="*/ 560 w 565"/>
                <a:gd name="T15" fmla="*/ 73 h 199"/>
                <a:gd name="T16" fmla="*/ 562 w 565"/>
                <a:gd name="T17" fmla="*/ 99 h 199"/>
                <a:gd name="T18" fmla="*/ 560 w 565"/>
                <a:gd name="T19" fmla="*/ 111 h 199"/>
                <a:gd name="T20" fmla="*/ 560 w 565"/>
                <a:gd name="T21" fmla="*/ 124 h 199"/>
                <a:gd name="T22" fmla="*/ 558 w 565"/>
                <a:gd name="T23" fmla="*/ 136 h 199"/>
                <a:gd name="T24" fmla="*/ 557 w 565"/>
                <a:gd name="T25" fmla="*/ 147 h 199"/>
                <a:gd name="T26" fmla="*/ 563 w 565"/>
                <a:gd name="T27" fmla="*/ 139 h 199"/>
                <a:gd name="T28" fmla="*/ 565 w 565"/>
                <a:gd name="T29" fmla="*/ 127 h 199"/>
                <a:gd name="T30" fmla="*/ 565 w 565"/>
                <a:gd name="T31" fmla="*/ 116 h 199"/>
                <a:gd name="T32" fmla="*/ 565 w 565"/>
                <a:gd name="T33" fmla="*/ 104 h 199"/>
                <a:gd name="T34" fmla="*/ 5 w 565"/>
                <a:gd name="T35" fmla="*/ 45 h 199"/>
                <a:gd name="T36" fmla="*/ 4 w 565"/>
                <a:gd name="T37" fmla="*/ 58 h 199"/>
                <a:gd name="T38" fmla="*/ 2 w 565"/>
                <a:gd name="T39" fmla="*/ 71 h 199"/>
                <a:gd name="T40" fmla="*/ 0 w 565"/>
                <a:gd name="T41" fmla="*/ 84 h 199"/>
                <a:gd name="T42" fmla="*/ 0 w 565"/>
                <a:gd name="T43" fmla="*/ 99 h 199"/>
                <a:gd name="T44" fmla="*/ 2 w 565"/>
                <a:gd name="T45" fmla="*/ 126 h 199"/>
                <a:gd name="T46" fmla="*/ 5 w 565"/>
                <a:gd name="T47" fmla="*/ 151 h 199"/>
                <a:gd name="T48" fmla="*/ 10 w 565"/>
                <a:gd name="T49" fmla="*/ 175 h 199"/>
                <a:gd name="T50" fmla="*/ 18 w 565"/>
                <a:gd name="T51" fmla="*/ 199 h 199"/>
                <a:gd name="T52" fmla="*/ 20 w 565"/>
                <a:gd name="T53" fmla="*/ 187 h 199"/>
                <a:gd name="T54" fmla="*/ 13 w 565"/>
                <a:gd name="T55" fmla="*/ 162 h 199"/>
                <a:gd name="T56" fmla="*/ 9 w 565"/>
                <a:gd name="T57" fmla="*/ 137 h 199"/>
                <a:gd name="T58" fmla="*/ 5 w 565"/>
                <a:gd name="T59" fmla="*/ 112 h 199"/>
                <a:gd name="T60" fmla="*/ 5 w 565"/>
                <a:gd name="T61" fmla="*/ 91 h 199"/>
                <a:gd name="T62" fmla="*/ 7 w 565"/>
                <a:gd name="T63" fmla="*/ 78 h 199"/>
                <a:gd name="T64" fmla="*/ 9 w 565"/>
                <a:gd name="T65" fmla="*/ 63 h 199"/>
                <a:gd name="T66" fmla="*/ 10 w 565"/>
                <a:gd name="T67" fmla="*/ 50 h 199"/>
                <a:gd name="T68" fmla="*/ 5 w 565"/>
                <a:gd name="T69" fmla="*/ 4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5" h="199">
                  <a:moveTo>
                    <a:pt x="565" y="99"/>
                  </a:moveTo>
                  <a:lnTo>
                    <a:pt x="565" y="86"/>
                  </a:lnTo>
                  <a:lnTo>
                    <a:pt x="565" y="73"/>
                  </a:lnTo>
                  <a:lnTo>
                    <a:pt x="563" y="61"/>
                  </a:lnTo>
                  <a:lnTo>
                    <a:pt x="562" y="48"/>
                  </a:lnTo>
                  <a:lnTo>
                    <a:pt x="558" y="35"/>
                  </a:lnTo>
                  <a:lnTo>
                    <a:pt x="555" y="23"/>
                  </a:lnTo>
                  <a:lnTo>
                    <a:pt x="552" y="11"/>
                  </a:lnTo>
                  <a:lnTo>
                    <a:pt x="548" y="0"/>
                  </a:lnTo>
                  <a:lnTo>
                    <a:pt x="543" y="0"/>
                  </a:lnTo>
                  <a:lnTo>
                    <a:pt x="547" y="11"/>
                  </a:lnTo>
                  <a:lnTo>
                    <a:pt x="550" y="23"/>
                  </a:lnTo>
                  <a:lnTo>
                    <a:pt x="553" y="35"/>
                  </a:lnTo>
                  <a:lnTo>
                    <a:pt x="557" y="48"/>
                  </a:lnTo>
                  <a:lnTo>
                    <a:pt x="558" y="61"/>
                  </a:lnTo>
                  <a:lnTo>
                    <a:pt x="560" y="73"/>
                  </a:lnTo>
                  <a:lnTo>
                    <a:pt x="560" y="86"/>
                  </a:lnTo>
                  <a:lnTo>
                    <a:pt x="562" y="99"/>
                  </a:lnTo>
                  <a:lnTo>
                    <a:pt x="562" y="106"/>
                  </a:lnTo>
                  <a:lnTo>
                    <a:pt x="560" y="111"/>
                  </a:lnTo>
                  <a:lnTo>
                    <a:pt x="560" y="117"/>
                  </a:lnTo>
                  <a:lnTo>
                    <a:pt x="560" y="124"/>
                  </a:lnTo>
                  <a:lnTo>
                    <a:pt x="560" y="129"/>
                  </a:lnTo>
                  <a:lnTo>
                    <a:pt x="558" y="136"/>
                  </a:lnTo>
                  <a:lnTo>
                    <a:pt x="558" y="142"/>
                  </a:lnTo>
                  <a:lnTo>
                    <a:pt x="557" y="147"/>
                  </a:lnTo>
                  <a:lnTo>
                    <a:pt x="562" y="146"/>
                  </a:lnTo>
                  <a:lnTo>
                    <a:pt x="563" y="139"/>
                  </a:lnTo>
                  <a:lnTo>
                    <a:pt x="563" y="134"/>
                  </a:lnTo>
                  <a:lnTo>
                    <a:pt x="565" y="127"/>
                  </a:lnTo>
                  <a:lnTo>
                    <a:pt x="565" y="122"/>
                  </a:lnTo>
                  <a:lnTo>
                    <a:pt x="565" y="116"/>
                  </a:lnTo>
                  <a:lnTo>
                    <a:pt x="565" y="111"/>
                  </a:lnTo>
                  <a:lnTo>
                    <a:pt x="565" y="104"/>
                  </a:lnTo>
                  <a:lnTo>
                    <a:pt x="565" y="99"/>
                  </a:lnTo>
                  <a:close/>
                  <a:moveTo>
                    <a:pt x="5" y="45"/>
                  </a:moveTo>
                  <a:lnTo>
                    <a:pt x="5" y="51"/>
                  </a:lnTo>
                  <a:lnTo>
                    <a:pt x="4" y="58"/>
                  </a:lnTo>
                  <a:lnTo>
                    <a:pt x="2" y="64"/>
                  </a:lnTo>
                  <a:lnTo>
                    <a:pt x="2" y="71"/>
                  </a:lnTo>
                  <a:lnTo>
                    <a:pt x="2" y="78"/>
                  </a:lnTo>
                  <a:lnTo>
                    <a:pt x="0" y="84"/>
                  </a:lnTo>
                  <a:lnTo>
                    <a:pt x="0" y="93"/>
                  </a:lnTo>
                  <a:lnTo>
                    <a:pt x="0" y="99"/>
                  </a:lnTo>
                  <a:lnTo>
                    <a:pt x="0" y="112"/>
                  </a:lnTo>
                  <a:lnTo>
                    <a:pt x="2" y="126"/>
                  </a:lnTo>
                  <a:lnTo>
                    <a:pt x="4" y="137"/>
                  </a:lnTo>
                  <a:lnTo>
                    <a:pt x="5" y="151"/>
                  </a:lnTo>
                  <a:lnTo>
                    <a:pt x="9" y="162"/>
                  </a:lnTo>
                  <a:lnTo>
                    <a:pt x="10" y="175"/>
                  </a:lnTo>
                  <a:lnTo>
                    <a:pt x="15" y="187"/>
                  </a:lnTo>
                  <a:lnTo>
                    <a:pt x="18" y="199"/>
                  </a:lnTo>
                  <a:lnTo>
                    <a:pt x="23" y="199"/>
                  </a:lnTo>
                  <a:lnTo>
                    <a:pt x="20" y="187"/>
                  </a:lnTo>
                  <a:lnTo>
                    <a:pt x="15" y="175"/>
                  </a:lnTo>
                  <a:lnTo>
                    <a:pt x="13" y="162"/>
                  </a:lnTo>
                  <a:lnTo>
                    <a:pt x="10" y="151"/>
                  </a:lnTo>
                  <a:lnTo>
                    <a:pt x="9" y="137"/>
                  </a:lnTo>
                  <a:lnTo>
                    <a:pt x="7" y="126"/>
                  </a:lnTo>
                  <a:lnTo>
                    <a:pt x="5" y="112"/>
                  </a:lnTo>
                  <a:lnTo>
                    <a:pt x="5" y="99"/>
                  </a:lnTo>
                  <a:lnTo>
                    <a:pt x="5" y="91"/>
                  </a:lnTo>
                  <a:lnTo>
                    <a:pt x="5" y="84"/>
                  </a:lnTo>
                  <a:lnTo>
                    <a:pt x="7" y="78"/>
                  </a:lnTo>
                  <a:lnTo>
                    <a:pt x="7" y="69"/>
                  </a:lnTo>
                  <a:lnTo>
                    <a:pt x="9" y="63"/>
                  </a:lnTo>
                  <a:lnTo>
                    <a:pt x="9" y="56"/>
                  </a:lnTo>
                  <a:lnTo>
                    <a:pt x="10" y="50"/>
                  </a:lnTo>
                  <a:lnTo>
                    <a:pt x="12" y="41"/>
                  </a:lnTo>
                  <a:lnTo>
                    <a:pt x="5" y="45"/>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24" name="Freeform 164">
              <a:extLst>
                <a:ext uri="{FF2B5EF4-FFF2-40B4-BE49-F238E27FC236}">
                  <a16:creationId xmlns:a16="http://schemas.microsoft.com/office/drawing/2014/main" id="{FDE0C36E-1986-A0EA-53CF-BE9DDDB43F0F}"/>
                </a:ext>
              </a:extLst>
            </p:cNvPr>
            <p:cNvSpPr>
              <a:spLocks noEditPoints="1"/>
            </p:cNvSpPr>
            <p:nvPr/>
          </p:nvSpPr>
          <p:spPr bwMode="auto">
            <a:xfrm>
              <a:off x="1557" y="1514"/>
              <a:ext cx="559" cy="199"/>
            </a:xfrm>
            <a:custGeom>
              <a:avLst/>
              <a:gdLst>
                <a:gd name="T0" fmla="*/ 559 w 559"/>
                <a:gd name="T1" fmla="*/ 86 h 199"/>
                <a:gd name="T2" fmla="*/ 556 w 559"/>
                <a:gd name="T3" fmla="*/ 61 h 199"/>
                <a:gd name="T4" fmla="*/ 553 w 559"/>
                <a:gd name="T5" fmla="*/ 35 h 199"/>
                <a:gd name="T6" fmla="*/ 546 w 559"/>
                <a:gd name="T7" fmla="*/ 11 h 199"/>
                <a:gd name="T8" fmla="*/ 536 w 559"/>
                <a:gd name="T9" fmla="*/ 0 h 199"/>
                <a:gd name="T10" fmla="*/ 544 w 559"/>
                <a:gd name="T11" fmla="*/ 23 h 199"/>
                <a:gd name="T12" fmla="*/ 549 w 559"/>
                <a:gd name="T13" fmla="*/ 48 h 199"/>
                <a:gd name="T14" fmla="*/ 553 w 559"/>
                <a:gd name="T15" fmla="*/ 73 h 199"/>
                <a:gd name="T16" fmla="*/ 554 w 559"/>
                <a:gd name="T17" fmla="*/ 99 h 199"/>
                <a:gd name="T18" fmla="*/ 554 w 559"/>
                <a:gd name="T19" fmla="*/ 112 h 199"/>
                <a:gd name="T20" fmla="*/ 553 w 559"/>
                <a:gd name="T21" fmla="*/ 124 h 199"/>
                <a:gd name="T22" fmla="*/ 553 w 559"/>
                <a:gd name="T23" fmla="*/ 136 h 199"/>
                <a:gd name="T24" fmla="*/ 549 w 559"/>
                <a:gd name="T25" fmla="*/ 149 h 199"/>
                <a:gd name="T26" fmla="*/ 556 w 559"/>
                <a:gd name="T27" fmla="*/ 141 h 199"/>
                <a:gd name="T28" fmla="*/ 558 w 559"/>
                <a:gd name="T29" fmla="*/ 129 h 199"/>
                <a:gd name="T30" fmla="*/ 559 w 559"/>
                <a:gd name="T31" fmla="*/ 117 h 199"/>
                <a:gd name="T32" fmla="*/ 559 w 559"/>
                <a:gd name="T33" fmla="*/ 106 h 199"/>
                <a:gd name="T34" fmla="*/ 5 w 559"/>
                <a:gd name="T35" fmla="*/ 43 h 199"/>
                <a:gd name="T36" fmla="*/ 3 w 559"/>
                <a:gd name="T37" fmla="*/ 56 h 199"/>
                <a:gd name="T38" fmla="*/ 1 w 559"/>
                <a:gd name="T39" fmla="*/ 71 h 199"/>
                <a:gd name="T40" fmla="*/ 0 w 559"/>
                <a:gd name="T41" fmla="*/ 84 h 199"/>
                <a:gd name="T42" fmla="*/ 0 w 559"/>
                <a:gd name="T43" fmla="*/ 99 h 199"/>
                <a:gd name="T44" fmla="*/ 0 w 559"/>
                <a:gd name="T45" fmla="*/ 126 h 199"/>
                <a:gd name="T46" fmla="*/ 3 w 559"/>
                <a:gd name="T47" fmla="*/ 151 h 199"/>
                <a:gd name="T48" fmla="*/ 9 w 559"/>
                <a:gd name="T49" fmla="*/ 175 h 199"/>
                <a:gd name="T50" fmla="*/ 18 w 559"/>
                <a:gd name="T51" fmla="*/ 199 h 199"/>
                <a:gd name="T52" fmla="*/ 18 w 559"/>
                <a:gd name="T53" fmla="*/ 187 h 199"/>
                <a:gd name="T54" fmla="*/ 11 w 559"/>
                <a:gd name="T55" fmla="*/ 162 h 199"/>
                <a:gd name="T56" fmla="*/ 6 w 559"/>
                <a:gd name="T57" fmla="*/ 137 h 199"/>
                <a:gd name="T58" fmla="*/ 5 w 559"/>
                <a:gd name="T59" fmla="*/ 112 h 199"/>
                <a:gd name="T60" fmla="*/ 5 w 559"/>
                <a:gd name="T61" fmla="*/ 91 h 199"/>
                <a:gd name="T62" fmla="*/ 5 w 559"/>
                <a:gd name="T63" fmla="*/ 76 h 199"/>
                <a:gd name="T64" fmla="*/ 6 w 559"/>
                <a:gd name="T65" fmla="*/ 63 h 199"/>
                <a:gd name="T66" fmla="*/ 8 w 559"/>
                <a:gd name="T67" fmla="*/ 48 h 199"/>
                <a:gd name="T68" fmla="*/ 5 w 559"/>
                <a:gd name="T69" fmla="*/ 4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9" h="199">
                  <a:moveTo>
                    <a:pt x="559" y="99"/>
                  </a:moveTo>
                  <a:lnTo>
                    <a:pt x="559" y="86"/>
                  </a:lnTo>
                  <a:lnTo>
                    <a:pt x="558" y="73"/>
                  </a:lnTo>
                  <a:lnTo>
                    <a:pt x="556" y="61"/>
                  </a:lnTo>
                  <a:lnTo>
                    <a:pt x="554" y="48"/>
                  </a:lnTo>
                  <a:lnTo>
                    <a:pt x="553" y="35"/>
                  </a:lnTo>
                  <a:lnTo>
                    <a:pt x="549" y="23"/>
                  </a:lnTo>
                  <a:lnTo>
                    <a:pt x="546" y="11"/>
                  </a:lnTo>
                  <a:lnTo>
                    <a:pt x="541" y="0"/>
                  </a:lnTo>
                  <a:lnTo>
                    <a:pt x="536" y="0"/>
                  </a:lnTo>
                  <a:lnTo>
                    <a:pt x="541" y="11"/>
                  </a:lnTo>
                  <a:lnTo>
                    <a:pt x="544" y="23"/>
                  </a:lnTo>
                  <a:lnTo>
                    <a:pt x="548" y="35"/>
                  </a:lnTo>
                  <a:lnTo>
                    <a:pt x="549" y="48"/>
                  </a:lnTo>
                  <a:lnTo>
                    <a:pt x="551" y="61"/>
                  </a:lnTo>
                  <a:lnTo>
                    <a:pt x="553" y="73"/>
                  </a:lnTo>
                  <a:lnTo>
                    <a:pt x="554" y="86"/>
                  </a:lnTo>
                  <a:lnTo>
                    <a:pt x="554" y="99"/>
                  </a:lnTo>
                  <a:lnTo>
                    <a:pt x="554" y="106"/>
                  </a:lnTo>
                  <a:lnTo>
                    <a:pt x="554" y="112"/>
                  </a:lnTo>
                  <a:lnTo>
                    <a:pt x="554" y="117"/>
                  </a:lnTo>
                  <a:lnTo>
                    <a:pt x="553" y="124"/>
                  </a:lnTo>
                  <a:lnTo>
                    <a:pt x="553" y="131"/>
                  </a:lnTo>
                  <a:lnTo>
                    <a:pt x="553" y="136"/>
                  </a:lnTo>
                  <a:lnTo>
                    <a:pt x="551" y="142"/>
                  </a:lnTo>
                  <a:lnTo>
                    <a:pt x="549" y="149"/>
                  </a:lnTo>
                  <a:lnTo>
                    <a:pt x="556" y="146"/>
                  </a:lnTo>
                  <a:lnTo>
                    <a:pt x="556" y="141"/>
                  </a:lnTo>
                  <a:lnTo>
                    <a:pt x="558" y="134"/>
                  </a:lnTo>
                  <a:lnTo>
                    <a:pt x="558" y="129"/>
                  </a:lnTo>
                  <a:lnTo>
                    <a:pt x="558" y="122"/>
                  </a:lnTo>
                  <a:lnTo>
                    <a:pt x="559" y="117"/>
                  </a:lnTo>
                  <a:lnTo>
                    <a:pt x="559" y="111"/>
                  </a:lnTo>
                  <a:lnTo>
                    <a:pt x="559" y="106"/>
                  </a:lnTo>
                  <a:lnTo>
                    <a:pt x="559" y="99"/>
                  </a:lnTo>
                  <a:close/>
                  <a:moveTo>
                    <a:pt x="5" y="43"/>
                  </a:moveTo>
                  <a:lnTo>
                    <a:pt x="3" y="50"/>
                  </a:lnTo>
                  <a:lnTo>
                    <a:pt x="3" y="56"/>
                  </a:lnTo>
                  <a:lnTo>
                    <a:pt x="1" y="64"/>
                  </a:lnTo>
                  <a:lnTo>
                    <a:pt x="1" y="71"/>
                  </a:lnTo>
                  <a:lnTo>
                    <a:pt x="0" y="78"/>
                  </a:lnTo>
                  <a:lnTo>
                    <a:pt x="0" y="84"/>
                  </a:lnTo>
                  <a:lnTo>
                    <a:pt x="0" y="93"/>
                  </a:lnTo>
                  <a:lnTo>
                    <a:pt x="0" y="99"/>
                  </a:lnTo>
                  <a:lnTo>
                    <a:pt x="0" y="112"/>
                  </a:lnTo>
                  <a:lnTo>
                    <a:pt x="0" y="126"/>
                  </a:lnTo>
                  <a:lnTo>
                    <a:pt x="1" y="137"/>
                  </a:lnTo>
                  <a:lnTo>
                    <a:pt x="3" y="151"/>
                  </a:lnTo>
                  <a:lnTo>
                    <a:pt x="6" y="162"/>
                  </a:lnTo>
                  <a:lnTo>
                    <a:pt x="9" y="175"/>
                  </a:lnTo>
                  <a:lnTo>
                    <a:pt x="13" y="187"/>
                  </a:lnTo>
                  <a:lnTo>
                    <a:pt x="18" y="199"/>
                  </a:lnTo>
                  <a:lnTo>
                    <a:pt x="23" y="199"/>
                  </a:lnTo>
                  <a:lnTo>
                    <a:pt x="18" y="187"/>
                  </a:lnTo>
                  <a:lnTo>
                    <a:pt x="14" y="175"/>
                  </a:lnTo>
                  <a:lnTo>
                    <a:pt x="11" y="162"/>
                  </a:lnTo>
                  <a:lnTo>
                    <a:pt x="8" y="151"/>
                  </a:lnTo>
                  <a:lnTo>
                    <a:pt x="6" y="137"/>
                  </a:lnTo>
                  <a:lnTo>
                    <a:pt x="5" y="126"/>
                  </a:lnTo>
                  <a:lnTo>
                    <a:pt x="5" y="112"/>
                  </a:lnTo>
                  <a:lnTo>
                    <a:pt x="5" y="99"/>
                  </a:lnTo>
                  <a:lnTo>
                    <a:pt x="5" y="91"/>
                  </a:lnTo>
                  <a:lnTo>
                    <a:pt x="5" y="84"/>
                  </a:lnTo>
                  <a:lnTo>
                    <a:pt x="5" y="76"/>
                  </a:lnTo>
                  <a:lnTo>
                    <a:pt x="6" y="69"/>
                  </a:lnTo>
                  <a:lnTo>
                    <a:pt x="6" y="63"/>
                  </a:lnTo>
                  <a:lnTo>
                    <a:pt x="8" y="54"/>
                  </a:lnTo>
                  <a:lnTo>
                    <a:pt x="8" y="48"/>
                  </a:lnTo>
                  <a:lnTo>
                    <a:pt x="9" y="41"/>
                  </a:lnTo>
                  <a:lnTo>
                    <a:pt x="5" y="43"/>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25" name="Freeform 165">
              <a:extLst>
                <a:ext uri="{FF2B5EF4-FFF2-40B4-BE49-F238E27FC236}">
                  <a16:creationId xmlns:a16="http://schemas.microsoft.com/office/drawing/2014/main" id="{C5FABB09-55CC-0894-3725-DB7BEAE83888}"/>
                </a:ext>
              </a:extLst>
            </p:cNvPr>
            <p:cNvSpPr>
              <a:spLocks noEditPoints="1"/>
            </p:cNvSpPr>
            <p:nvPr/>
          </p:nvSpPr>
          <p:spPr bwMode="auto">
            <a:xfrm>
              <a:off x="1558" y="1514"/>
              <a:ext cx="557" cy="199"/>
            </a:xfrm>
            <a:custGeom>
              <a:avLst/>
              <a:gdLst>
                <a:gd name="T0" fmla="*/ 555 w 557"/>
                <a:gd name="T1" fmla="*/ 86 h 199"/>
                <a:gd name="T2" fmla="*/ 553 w 557"/>
                <a:gd name="T3" fmla="*/ 61 h 199"/>
                <a:gd name="T4" fmla="*/ 548 w 557"/>
                <a:gd name="T5" fmla="*/ 35 h 199"/>
                <a:gd name="T6" fmla="*/ 542 w 557"/>
                <a:gd name="T7" fmla="*/ 11 h 199"/>
                <a:gd name="T8" fmla="*/ 532 w 557"/>
                <a:gd name="T9" fmla="*/ 0 h 199"/>
                <a:gd name="T10" fmla="*/ 540 w 557"/>
                <a:gd name="T11" fmla="*/ 23 h 199"/>
                <a:gd name="T12" fmla="*/ 547 w 557"/>
                <a:gd name="T13" fmla="*/ 48 h 199"/>
                <a:gd name="T14" fmla="*/ 550 w 557"/>
                <a:gd name="T15" fmla="*/ 73 h 199"/>
                <a:gd name="T16" fmla="*/ 552 w 557"/>
                <a:gd name="T17" fmla="*/ 99 h 199"/>
                <a:gd name="T18" fmla="*/ 550 w 557"/>
                <a:gd name="T19" fmla="*/ 112 h 199"/>
                <a:gd name="T20" fmla="*/ 550 w 557"/>
                <a:gd name="T21" fmla="*/ 124 h 199"/>
                <a:gd name="T22" fmla="*/ 548 w 557"/>
                <a:gd name="T23" fmla="*/ 137 h 199"/>
                <a:gd name="T24" fmla="*/ 547 w 557"/>
                <a:gd name="T25" fmla="*/ 151 h 199"/>
                <a:gd name="T26" fmla="*/ 553 w 557"/>
                <a:gd name="T27" fmla="*/ 142 h 199"/>
                <a:gd name="T28" fmla="*/ 555 w 557"/>
                <a:gd name="T29" fmla="*/ 129 h 199"/>
                <a:gd name="T30" fmla="*/ 555 w 557"/>
                <a:gd name="T31" fmla="*/ 117 h 199"/>
                <a:gd name="T32" fmla="*/ 557 w 557"/>
                <a:gd name="T33" fmla="*/ 106 h 199"/>
                <a:gd name="T34" fmla="*/ 7 w 557"/>
                <a:gd name="T35" fmla="*/ 41 h 199"/>
                <a:gd name="T36" fmla="*/ 4 w 557"/>
                <a:gd name="T37" fmla="*/ 56 h 199"/>
                <a:gd name="T38" fmla="*/ 2 w 557"/>
                <a:gd name="T39" fmla="*/ 69 h 199"/>
                <a:gd name="T40" fmla="*/ 0 w 557"/>
                <a:gd name="T41" fmla="*/ 84 h 199"/>
                <a:gd name="T42" fmla="*/ 0 w 557"/>
                <a:gd name="T43" fmla="*/ 99 h 199"/>
                <a:gd name="T44" fmla="*/ 2 w 557"/>
                <a:gd name="T45" fmla="*/ 126 h 199"/>
                <a:gd name="T46" fmla="*/ 5 w 557"/>
                <a:gd name="T47" fmla="*/ 151 h 199"/>
                <a:gd name="T48" fmla="*/ 10 w 557"/>
                <a:gd name="T49" fmla="*/ 175 h 199"/>
                <a:gd name="T50" fmla="*/ 18 w 557"/>
                <a:gd name="T51" fmla="*/ 199 h 199"/>
                <a:gd name="T52" fmla="*/ 20 w 557"/>
                <a:gd name="T53" fmla="*/ 187 h 199"/>
                <a:gd name="T54" fmla="*/ 13 w 557"/>
                <a:gd name="T55" fmla="*/ 162 h 199"/>
                <a:gd name="T56" fmla="*/ 8 w 557"/>
                <a:gd name="T57" fmla="*/ 137 h 199"/>
                <a:gd name="T58" fmla="*/ 5 w 557"/>
                <a:gd name="T59" fmla="*/ 112 h 199"/>
                <a:gd name="T60" fmla="*/ 5 w 557"/>
                <a:gd name="T61" fmla="*/ 91 h 199"/>
                <a:gd name="T62" fmla="*/ 7 w 557"/>
                <a:gd name="T63" fmla="*/ 76 h 199"/>
                <a:gd name="T64" fmla="*/ 8 w 557"/>
                <a:gd name="T65" fmla="*/ 61 h 199"/>
                <a:gd name="T66" fmla="*/ 10 w 557"/>
                <a:gd name="T67" fmla="*/ 46 h 199"/>
                <a:gd name="T68" fmla="*/ 7 w 557"/>
                <a:gd name="T69" fmla="*/ 4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7" h="199">
                  <a:moveTo>
                    <a:pt x="557" y="99"/>
                  </a:moveTo>
                  <a:lnTo>
                    <a:pt x="555" y="86"/>
                  </a:lnTo>
                  <a:lnTo>
                    <a:pt x="555" y="73"/>
                  </a:lnTo>
                  <a:lnTo>
                    <a:pt x="553" y="61"/>
                  </a:lnTo>
                  <a:lnTo>
                    <a:pt x="552" y="48"/>
                  </a:lnTo>
                  <a:lnTo>
                    <a:pt x="548" y="35"/>
                  </a:lnTo>
                  <a:lnTo>
                    <a:pt x="545" y="23"/>
                  </a:lnTo>
                  <a:lnTo>
                    <a:pt x="542" y="11"/>
                  </a:lnTo>
                  <a:lnTo>
                    <a:pt x="538" y="0"/>
                  </a:lnTo>
                  <a:lnTo>
                    <a:pt x="532" y="0"/>
                  </a:lnTo>
                  <a:lnTo>
                    <a:pt x="537" y="11"/>
                  </a:lnTo>
                  <a:lnTo>
                    <a:pt x="540" y="23"/>
                  </a:lnTo>
                  <a:lnTo>
                    <a:pt x="543" y="35"/>
                  </a:lnTo>
                  <a:lnTo>
                    <a:pt x="547" y="48"/>
                  </a:lnTo>
                  <a:lnTo>
                    <a:pt x="548" y="59"/>
                  </a:lnTo>
                  <a:lnTo>
                    <a:pt x="550" y="73"/>
                  </a:lnTo>
                  <a:lnTo>
                    <a:pt x="550" y="86"/>
                  </a:lnTo>
                  <a:lnTo>
                    <a:pt x="552" y="99"/>
                  </a:lnTo>
                  <a:lnTo>
                    <a:pt x="552" y="106"/>
                  </a:lnTo>
                  <a:lnTo>
                    <a:pt x="550" y="112"/>
                  </a:lnTo>
                  <a:lnTo>
                    <a:pt x="550" y="119"/>
                  </a:lnTo>
                  <a:lnTo>
                    <a:pt x="550" y="124"/>
                  </a:lnTo>
                  <a:lnTo>
                    <a:pt x="550" y="131"/>
                  </a:lnTo>
                  <a:lnTo>
                    <a:pt x="548" y="137"/>
                  </a:lnTo>
                  <a:lnTo>
                    <a:pt x="547" y="144"/>
                  </a:lnTo>
                  <a:lnTo>
                    <a:pt x="547" y="151"/>
                  </a:lnTo>
                  <a:lnTo>
                    <a:pt x="552" y="147"/>
                  </a:lnTo>
                  <a:lnTo>
                    <a:pt x="553" y="142"/>
                  </a:lnTo>
                  <a:lnTo>
                    <a:pt x="553" y="136"/>
                  </a:lnTo>
                  <a:lnTo>
                    <a:pt x="555" y="129"/>
                  </a:lnTo>
                  <a:lnTo>
                    <a:pt x="555" y="124"/>
                  </a:lnTo>
                  <a:lnTo>
                    <a:pt x="555" y="117"/>
                  </a:lnTo>
                  <a:lnTo>
                    <a:pt x="555" y="111"/>
                  </a:lnTo>
                  <a:lnTo>
                    <a:pt x="557" y="106"/>
                  </a:lnTo>
                  <a:lnTo>
                    <a:pt x="557" y="99"/>
                  </a:lnTo>
                  <a:close/>
                  <a:moveTo>
                    <a:pt x="7" y="41"/>
                  </a:moveTo>
                  <a:lnTo>
                    <a:pt x="5" y="50"/>
                  </a:lnTo>
                  <a:lnTo>
                    <a:pt x="4" y="56"/>
                  </a:lnTo>
                  <a:lnTo>
                    <a:pt x="4" y="63"/>
                  </a:lnTo>
                  <a:lnTo>
                    <a:pt x="2" y="69"/>
                  </a:lnTo>
                  <a:lnTo>
                    <a:pt x="2" y="78"/>
                  </a:lnTo>
                  <a:lnTo>
                    <a:pt x="0" y="84"/>
                  </a:lnTo>
                  <a:lnTo>
                    <a:pt x="0" y="91"/>
                  </a:lnTo>
                  <a:lnTo>
                    <a:pt x="0" y="99"/>
                  </a:lnTo>
                  <a:lnTo>
                    <a:pt x="0" y="112"/>
                  </a:lnTo>
                  <a:lnTo>
                    <a:pt x="2" y="126"/>
                  </a:lnTo>
                  <a:lnTo>
                    <a:pt x="4" y="137"/>
                  </a:lnTo>
                  <a:lnTo>
                    <a:pt x="5" y="151"/>
                  </a:lnTo>
                  <a:lnTo>
                    <a:pt x="8" y="162"/>
                  </a:lnTo>
                  <a:lnTo>
                    <a:pt x="10" y="175"/>
                  </a:lnTo>
                  <a:lnTo>
                    <a:pt x="15" y="187"/>
                  </a:lnTo>
                  <a:lnTo>
                    <a:pt x="18" y="199"/>
                  </a:lnTo>
                  <a:lnTo>
                    <a:pt x="23" y="199"/>
                  </a:lnTo>
                  <a:lnTo>
                    <a:pt x="20" y="187"/>
                  </a:lnTo>
                  <a:lnTo>
                    <a:pt x="15" y="175"/>
                  </a:lnTo>
                  <a:lnTo>
                    <a:pt x="13" y="162"/>
                  </a:lnTo>
                  <a:lnTo>
                    <a:pt x="10" y="151"/>
                  </a:lnTo>
                  <a:lnTo>
                    <a:pt x="8" y="137"/>
                  </a:lnTo>
                  <a:lnTo>
                    <a:pt x="7" y="126"/>
                  </a:lnTo>
                  <a:lnTo>
                    <a:pt x="5" y="112"/>
                  </a:lnTo>
                  <a:lnTo>
                    <a:pt x="5" y="99"/>
                  </a:lnTo>
                  <a:lnTo>
                    <a:pt x="5" y="91"/>
                  </a:lnTo>
                  <a:lnTo>
                    <a:pt x="5" y="84"/>
                  </a:lnTo>
                  <a:lnTo>
                    <a:pt x="7" y="76"/>
                  </a:lnTo>
                  <a:lnTo>
                    <a:pt x="7" y="69"/>
                  </a:lnTo>
                  <a:lnTo>
                    <a:pt x="8" y="61"/>
                  </a:lnTo>
                  <a:lnTo>
                    <a:pt x="8" y="54"/>
                  </a:lnTo>
                  <a:lnTo>
                    <a:pt x="10" y="46"/>
                  </a:lnTo>
                  <a:lnTo>
                    <a:pt x="12" y="40"/>
                  </a:lnTo>
                  <a:lnTo>
                    <a:pt x="7" y="41"/>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26" name="Freeform 166">
              <a:extLst>
                <a:ext uri="{FF2B5EF4-FFF2-40B4-BE49-F238E27FC236}">
                  <a16:creationId xmlns:a16="http://schemas.microsoft.com/office/drawing/2014/main" id="{FC498566-1DF5-B7B2-A936-C0AC1B0E2941}"/>
                </a:ext>
              </a:extLst>
            </p:cNvPr>
            <p:cNvSpPr>
              <a:spLocks noEditPoints="1"/>
            </p:cNvSpPr>
            <p:nvPr/>
          </p:nvSpPr>
          <p:spPr bwMode="auto">
            <a:xfrm>
              <a:off x="1562" y="1514"/>
              <a:ext cx="549" cy="199"/>
            </a:xfrm>
            <a:custGeom>
              <a:avLst/>
              <a:gdLst>
                <a:gd name="T0" fmla="*/ 549 w 549"/>
                <a:gd name="T1" fmla="*/ 86 h 199"/>
                <a:gd name="T2" fmla="*/ 546 w 549"/>
                <a:gd name="T3" fmla="*/ 61 h 199"/>
                <a:gd name="T4" fmla="*/ 543 w 549"/>
                <a:gd name="T5" fmla="*/ 35 h 199"/>
                <a:gd name="T6" fmla="*/ 536 w 549"/>
                <a:gd name="T7" fmla="*/ 11 h 199"/>
                <a:gd name="T8" fmla="*/ 526 w 549"/>
                <a:gd name="T9" fmla="*/ 0 h 199"/>
                <a:gd name="T10" fmla="*/ 534 w 549"/>
                <a:gd name="T11" fmla="*/ 23 h 199"/>
                <a:gd name="T12" fmla="*/ 539 w 549"/>
                <a:gd name="T13" fmla="*/ 48 h 199"/>
                <a:gd name="T14" fmla="*/ 543 w 549"/>
                <a:gd name="T15" fmla="*/ 73 h 199"/>
                <a:gd name="T16" fmla="*/ 544 w 549"/>
                <a:gd name="T17" fmla="*/ 99 h 199"/>
                <a:gd name="T18" fmla="*/ 544 w 549"/>
                <a:gd name="T19" fmla="*/ 112 h 199"/>
                <a:gd name="T20" fmla="*/ 543 w 549"/>
                <a:gd name="T21" fmla="*/ 126 h 199"/>
                <a:gd name="T22" fmla="*/ 543 w 549"/>
                <a:gd name="T23" fmla="*/ 139 h 199"/>
                <a:gd name="T24" fmla="*/ 539 w 549"/>
                <a:gd name="T25" fmla="*/ 151 h 199"/>
                <a:gd name="T26" fmla="*/ 546 w 549"/>
                <a:gd name="T27" fmla="*/ 142 h 199"/>
                <a:gd name="T28" fmla="*/ 548 w 549"/>
                <a:gd name="T29" fmla="*/ 131 h 199"/>
                <a:gd name="T30" fmla="*/ 549 w 549"/>
                <a:gd name="T31" fmla="*/ 117 h 199"/>
                <a:gd name="T32" fmla="*/ 549 w 549"/>
                <a:gd name="T33" fmla="*/ 106 h 199"/>
                <a:gd name="T34" fmla="*/ 4 w 549"/>
                <a:gd name="T35" fmla="*/ 41 h 199"/>
                <a:gd name="T36" fmla="*/ 3 w 549"/>
                <a:gd name="T37" fmla="*/ 54 h 199"/>
                <a:gd name="T38" fmla="*/ 1 w 549"/>
                <a:gd name="T39" fmla="*/ 69 h 199"/>
                <a:gd name="T40" fmla="*/ 0 w 549"/>
                <a:gd name="T41" fmla="*/ 84 h 199"/>
                <a:gd name="T42" fmla="*/ 0 w 549"/>
                <a:gd name="T43" fmla="*/ 99 h 199"/>
                <a:gd name="T44" fmla="*/ 0 w 549"/>
                <a:gd name="T45" fmla="*/ 126 h 199"/>
                <a:gd name="T46" fmla="*/ 3 w 549"/>
                <a:gd name="T47" fmla="*/ 151 h 199"/>
                <a:gd name="T48" fmla="*/ 9 w 549"/>
                <a:gd name="T49" fmla="*/ 175 h 199"/>
                <a:gd name="T50" fmla="*/ 18 w 549"/>
                <a:gd name="T51" fmla="*/ 199 h 199"/>
                <a:gd name="T52" fmla="*/ 18 w 549"/>
                <a:gd name="T53" fmla="*/ 187 h 199"/>
                <a:gd name="T54" fmla="*/ 11 w 549"/>
                <a:gd name="T55" fmla="*/ 162 h 199"/>
                <a:gd name="T56" fmla="*/ 6 w 549"/>
                <a:gd name="T57" fmla="*/ 137 h 199"/>
                <a:gd name="T58" fmla="*/ 4 w 549"/>
                <a:gd name="T59" fmla="*/ 112 h 199"/>
                <a:gd name="T60" fmla="*/ 4 w 549"/>
                <a:gd name="T61" fmla="*/ 91 h 199"/>
                <a:gd name="T62" fmla="*/ 4 w 549"/>
                <a:gd name="T63" fmla="*/ 76 h 199"/>
                <a:gd name="T64" fmla="*/ 6 w 549"/>
                <a:gd name="T65" fmla="*/ 61 h 199"/>
                <a:gd name="T66" fmla="*/ 9 w 549"/>
                <a:gd name="T67" fmla="*/ 46 h 199"/>
                <a:gd name="T68" fmla="*/ 4 w 549"/>
                <a:gd name="T69" fmla="*/ 4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9" h="199">
                  <a:moveTo>
                    <a:pt x="549" y="99"/>
                  </a:moveTo>
                  <a:lnTo>
                    <a:pt x="549" y="86"/>
                  </a:lnTo>
                  <a:lnTo>
                    <a:pt x="548" y="73"/>
                  </a:lnTo>
                  <a:lnTo>
                    <a:pt x="546" y="61"/>
                  </a:lnTo>
                  <a:lnTo>
                    <a:pt x="544" y="48"/>
                  </a:lnTo>
                  <a:lnTo>
                    <a:pt x="543" y="35"/>
                  </a:lnTo>
                  <a:lnTo>
                    <a:pt x="539" y="23"/>
                  </a:lnTo>
                  <a:lnTo>
                    <a:pt x="536" y="11"/>
                  </a:lnTo>
                  <a:lnTo>
                    <a:pt x="531" y="0"/>
                  </a:lnTo>
                  <a:lnTo>
                    <a:pt x="526" y="0"/>
                  </a:lnTo>
                  <a:lnTo>
                    <a:pt x="529" y="11"/>
                  </a:lnTo>
                  <a:lnTo>
                    <a:pt x="534" y="23"/>
                  </a:lnTo>
                  <a:lnTo>
                    <a:pt x="538" y="35"/>
                  </a:lnTo>
                  <a:lnTo>
                    <a:pt x="539" y="48"/>
                  </a:lnTo>
                  <a:lnTo>
                    <a:pt x="543" y="59"/>
                  </a:lnTo>
                  <a:lnTo>
                    <a:pt x="543" y="73"/>
                  </a:lnTo>
                  <a:lnTo>
                    <a:pt x="544" y="86"/>
                  </a:lnTo>
                  <a:lnTo>
                    <a:pt x="544" y="99"/>
                  </a:lnTo>
                  <a:lnTo>
                    <a:pt x="544" y="106"/>
                  </a:lnTo>
                  <a:lnTo>
                    <a:pt x="544" y="112"/>
                  </a:lnTo>
                  <a:lnTo>
                    <a:pt x="544" y="119"/>
                  </a:lnTo>
                  <a:lnTo>
                    <a:pt x="543" y="126"/>
                  </a:lnTo>
                  <a:lnTo>
                    <a:pt x="543" y="132"/>
                  </a:lnTo>
                  <a:lnTo>
                    <a:pt x="543" y="139"/>
                  </a:lnTo>
                  <a:lnTo>
                    <a:pt x="541" y="144"/>
                  </a:lnTo>
                  <a:lnTo>
                    <a:pt x="539" y="151"/>
                  </a:lnTo>
                  <a:lnTo>
                    <a:pt x="544" y="149"/>
                  </a:lnTo>
                  <a:lnTo>
                    <a:pt x="546" y="142"/>
                  </a:lnTo>
                  <a:lnTo>
                    <a:pt x="548" y="136"/>
                  </a:lnTo>
                  <a:lnTo>
                    <a:pt x="548" y="131"/>
                  </a:lnTo>
                  <a:lnTo>
                    <a:pt x="548" y="124"/>
                  </a:lnTo>
                  <a:lnTo>
                    <a:pt x="549" y="117"/>
                  </a:lnTo>
                  <a:lnTo>
                    <a:pt x="549" y="112"/>
                  </a:lnTo>
                  <a:lnTo>
                    <a:pt x="549" y="106"/>
                  </a:lnTo>
                  <a:lnTo>
                    <a:pt x="549" y="99"/>
                  </a:lnTo>
                  <a:close/>
                  <a:moveTo>
                    <a:pt x="4" y="41"/>
                  </a:moveTo>
                  <a:lnTo>
                    <a:pt x="3" y="48"/>
                  </a:lnTo>
                  <a:lnTo>
                    <a:pt x="3" y="54"/>
                  </a:lnTo>
                  <a:lnTo>
                    <a:pt x="1" y="63"/>
                  </a:lnTo>
                  <a:lnTo>
                    <a:pt x="1" y="69"/>
                  </a:lnTo>
                  <a:lnTo>
                    <a:pt x="0" y="76"/>
                  </a:lnTo>
                  <a:lnTo>
                    <a:pt x="0" y="84"/>
                  </a:lnTo>
                  <a:lnTo>
                    <a:pt x="0" y="91"/>
                  </a:lnTo>
                  <a:lnTo>
                    <a:pt x="0" y="99"/>
                  </a:lnTo>
                  <a:lnTo>
                    <a:pt x="0" y="112"/>
                  </a:lnTo>
                  <a:lnTo>
                    <a:pt x="0" y="126"/>
                  </a:lnTo>
                  <a:lnTo>
                    <a:pt x="1" y="137"/>
                  </a:lnTo>
                  <a:lnTo>
                    <a:pt x="3" y="151"/>
                  </a:lnTo>
                  <a:lnTo>
                    <a:pt x="6" y="162"/>
                  </a:lnTo>
                  <a:lnTo>
                    <a:pt x="9" y="175"/>
                  </a:lnTo>
                  <a:lnTo>
                    <a:pt x="13" y="187"/>
                  </a:lnTo>
                  <a:lnTo>
                    <a:pt x="18" y="199"/>
                  </a:lnTo>
                  <a:lnTo>
                    <a:pt x="23" y="199"/>
                  </a:lnTo>
                  <a:lnTo>
                    <a:pt x="18" y="187"/>
                  </a:lnTo>
                  <a:lnTo>
                    <a:pt x="14" y="175"/>
                  </a:lnTo>
                  <a:lnTo>
                    <a:pt x="11" y="162"/>
                  </a:lnTo>
                  <a:lnTo>
                    <a:pt x="8" y="151"/>
                  </a:lnTo>
                  <a:lnTo>
                    <a:pt x="6" y="137"/>
                  </a:lnTo>
                  <a:lnTo>
                    <a:pt x="4" y="126"/>
                  </a:lnTo>
                  <a:lnTo>
                    <a:pt x="4" y="112"/>
                  </a:lnTo>
                  <a:lnTo>
                    <a:pt x="3" y="99"/>
                  </a:lnTo>
                  <a:lnTo>
                    <a:pt x="4" y="91"/>
                  </a:lnTo>
                  <a:lnTo>
                    <a:pt x="4" y="83"/>
                  </a:lnTo>
                  <a:lnTo>
                    <a:pt x="4" y="76"/>
                  </a:lnTo>
                  <a:lnTo>
                    <a:pt x="6" y="68"/>
                  </a:lnTo>
                  <a:lnTo>
                    <a:pt x="6" y="61"/>
                  </a:lnTo>
                  <a:lnTo>
                    <a:pt x="8" y="53"/>
                  </a:lnTo>
                  <a:lnTo>
                    <a:pt x="9" y="46"/>
                  </a:lnTo>
                  <a:lnTo>
                    <a:pt x="11" y="38"/>
                  </a:lnTo>
                  <a:lnTo>
                    <a:pt x="4" y="41"/>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27" name="Freeform 167">
              <a:extLst>
                <a:ext uri="{FF2B5EF4-FFF2-40B4-BE49-F238E27FC236}">
                  <a16:creationId xmlns:a16="http://schemas.microsoft.com/office/drawing/2014/main" id="{47D392EC-3E18-CB85-BC70-08B45DA8087C}"/>
                </a:ext>
              </a:extLst>
            </p:cNvPr>
            <p:cNvSpPr>
              <a:spLocks noEditPoints="1"/>
            </p:cNvSpPr>
            <p:nvPr/>
          </p:nvSpPr>
          <p:spPr bwMode="auto">
            <a:xfrm>
              <a:off x="1563" y="1514"/>
              <a:ext cx="547" cy="199"/>
            </a:xfrm>
            <a:custGeom>
              <a:avLst/>
              <a:gdLst>
                <a:gd name="T0" fmla="*/ 545 w 547"/>
                <a:gd name="T1" fmla="*/ 86 h 199"/>
                <a:gd name="T2" fmla="*/ 543 w 547"/>
                <a:gd name="T3" fmla="*/ 59 h 199"/>
                <a:gd name="T4" fmla="*/ 538 w 547"/>
                <a:gd name="T5" fmla="*/ 35 h 199"/>
                <a:gd name="T6" fmla="*/ 532 w 547"/>
                <a:gd name="T7" fmla="*/ 11 h 199"/>
                <a:gd name="T8" fmla="*/ 522 w 547"/>
                <a:gd name="T9" fmla="*/ 0 h 199"/>
                <a:gd name="T10" fmla="*/ 530 w 547"/>
                <a:gd name="T11" fmla="*/ 23 h 199"/>
                <a:gd name="T12" fmla="*/ 537 w 547"/>
                <a:gd name="T13" fmla="*/ 48 h 199"/>
                <a:gd name="T14" fmla="*/ 540 w 547"/>
                <a:gd name="T15" fmla="*/ 73 h 199"/>
                <a:gd name="T16" fmla="*/ 542 w 547"/>
                <a:gd name="T17" fmla="*/ 99 h 199"/>
                <a:gd name="T18" fmla="*/ 542 w 547"/>
                <a:gd name="T19" fmla="*/ 112 h 199"/>
                <a:gd name="T20" fmla="*/ 540 w 547"/>
                <a:gd name="T21" fmla="*/ 126 h 199"/>
                <a:gd name="T22" fmla="*/ 538 w 547"/>
                <a:gd name="T23" fmla="*/ 139 h 199"/>
                <a:gd name="T24" fmla="*/ 537 w 547"/>
                <a:gd name="T25" fmla="*/ 152 h 199"/>
                <a:gd name="T26" fmla="*/ 542 w 547"/>
                <a:gd name="T27" fmla="*/ 144 h 199"/>
                <a:gd name="T28" fmla="*/ 545 w 547"/>
                <a:gd name="T29" fmla="*/ 131 h 199"/>
                <a:gd name="T30" fmla="*/ 545 w 547"/>
                <a:gd name="T31" fmla="*/ 119 h 199"/>
                <a:gd name="T32" fmla="*/ 547 w 547"/>
                <a:gd name="T33" fmla="*/ 106 h 199"/>
                <a:gd name="T34" fmla="*/ 7 w 547"/>
                <a:gd name="T35" fmla="*/ 40 h 199"/>
                <a:gd name="T36" fmla="*/ 3 w 547"/>
                <a:gd name="T37" fmla="*/ 54 h 199"/>
                <a:gd name="T38" fmla="*/ 2 w 547"/>
                <a:gd name="T39" fmla="*/ 69 h 199"/>
                <a:gd name="T40" fmla="*/ 0 w 547"/>
                <a:gd name="T41" fmla="*/ 84 h 199"/>
                <a:gd name="T42" fmla="*/ 0 w 547"/>
                <a:gd name="T43" fmla="*/ 99 h 199"/>
                <a:gd name="T44" fmla="*/ 2 w 547"/>
                <a:gd name="T45" fmla="*/ 126 h 199"/>
                <a:gd name="T46" fmla="*/ 5 w 547"/>
                <a:gd name="T47" fmla="*/ 151 h 199"/>
                <a:gd name="T48" fmla="*/ 10 w 547"/>
                <a:gd name="T49" fmla="*/ 175 h 199"/>
                <a:gd name="T50" fmla="*/ 18 w 547"/>
                <a:gd name="T51" fmla="*/ 199 h 199"/>
                <a:gd name="T52" fmla="*/ 20 w 547"/>
                <a:gd name="T53" fmla="*/ 187 h 199"/>
                <a:gd name="T54" fmla="*/ 12 w 547"/>
                <a:gd name="T55" fmla="*/ 162 h 199"/>
                <a:gd name="T56" fmla="*/ 8 w 547"/>
                <a:gd name="T57" fmla="*/ 137 h 199"/>
                <a:gd name="T58" fmla="*/ 5 w 547"/>
                <a:gd name="T59" fmla="*/ 112 h 199"/>
                <a:gd name="T60" fmla="*/ 5 w 547"/>
                <a:gd name="T61" fmla="*/ 91 h 199"/>
                <a:gd name="T62" fmla="*/ 7 w 547"/>
                <a:gd name="T63" fmla="*/ 76 h 199"/>
                <a:gd name="T64" fmla="*/ 8 w 547"/>
                <a:gd name="T65" fmla="*/ 59 h 199"/>
                <a:gd name="T66" fmla="*/ 10 w 547"/>
                <a:gd name="T67" fmla="*/ 45 h 199"/>
                <a:gd name="T68" fmla="*/ 7 w 547"/>
                <a:gd name="T69" fmla="*/ 4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7" h="199">
                  <a:moveTo>
                    <a:pt x="547" y="99"/>
                  </a:moveTo>
                  <a:lnTo>
                    <a:pt x="545" y="86"/>
                  </a:lnTo>
                  <a:lnTo>
                    <a:pt x="545" y="73"/>
                  </a:lnTo>
                  <a:lnTo>
                    <a:pt x="543" y="59"/>
                  </a:lnTo>
                  <a:lnTo>
                    <a:pt x="542" y="48"/>
                  </a:lnTo>
                  <a:lnTo>
                    <a:pt x="538" y="35"/>
                  </a:lnTo>
                  <a:lnTo>
                    <a:pt x="535" y="23"/>
                  </a:lnTo>
                  <a:lnTo>
                    <a:pt x="532" y="11"/>
                  </a:lnTo>
                  <a:lnTo>
                    <a:pt x="527" y="0"/>
                  </a:lnTo>
                  <a:lnTo>
                    <a:pt x="522" y="0"/>
                  </a:lnTo>
                  <a:lnTo>
                    <a:pt x="527" y="11"/>
                  </a:lnTo>
                  <a:lnTo>
                    <a:pt x="530" y="23"/>
                  </a:lnTo>
                  <a:lnTo>
                    <a:pt x="533" y="35"/>
                  </a:lnTo>
                  <a:lnTo>
                    <a:pt x="537" y="48"/>
                  </a:lnTo>
                  <a:lnTo>
                    <a:pt x="538" y="59"/>
                  </a:lnTo>
                  <a:lnTo>
                    <a:pt x="540" y="73"/>
                  </a:lnTo>
                  <a:lnTo>
                    <a:pt x="542" y="86"/>
                  </a:lnTo>
                  <a:lnTo>
                    <a:pt x="542" y="99"/>
                  </a:lnTo>
                  <a:lnTo>
                    <a:pt x="542" y="106"/>
                  </a:lnTo>
                  <a:lnTo>
                    <a:pt x="542" y="112"/>
                  </a:lnTo>
                  <a:lnTo>
                    <a:pt x="540" y="119"/>
                  </a:lnTo>
                  <a:lnTo>
                    <a:pt x="540" y="126"/>
                  </a:lnTo>
                  <a:lnTo>
                    <a:pt x="540" y="132"/>
                  </a:lnTo>
                  <a:lnTo>
                    <a:pt x="538" y="139"/>
                  </a:lnTo>
                  <a:lnTo>
                    <a:pt x="537" y="146"/>
                  </a:lnTo>
                  <a:lnTo>
                    <a:pt x="537" y="152"/>
                  </a:lnTo>
                  <a:lnTo>
                    <a:pt x="542" y="151"/>
                  </a:lnTo>
                  <a:lnTo>
                    <a:pt x="542" y="144"/>
                  </a:lnTo>
                  <a:lnTo>
                    <a:pt x="543" y="137"/>
                  </a:lnTo>
                  <a:lnTo>
                    <a:pt x="545" y="131"/>
                  </a:lnTo>
                  <a:lnTo>
                    <a:pt x="545" y="124"/>
                  </a:lnTo>
                  <a:lnTo>
                    <a:pt x="545" y="119"/>
                  </a:lnTo>
                  <a:lnTo>
                    <a:pt x="545" y="112"/>
                  </a:lnTo>
                  <a:lnTo>
                    <a:pt x="547" y="106"/>
                  </a:lnTo>
                  <a:lnTo>
                    <a:pt x="547" y="99"/>
                  </a:lnTo>
                  <a:close/>
                  <a:moveTo>
                    <a:pt x="7" y="40"/>
                  </a:moveTo>
                  <a:lnTo>
                    <a:pt x="5" y="46"/>
                  </a:lnTo>
                  <a:lnTo>
                    <a:pt x="3" y="54"/>
                  </a:lnTo>
                  <a:lnTo>
                    <a:pt x="3" y="61"/>
                  </a:lnTo>
                  <a:lnTo>
                    <a:pt x="2" y="69"/>
                  </a:lnTo>
                  <a:lnTo>
                    <a:pt x="2" y="76"/>
                  </a:lnTo>
                  <a:lnTo>
                    <a:pt x="0" y="84"/>
                  </a:lnTo>
                  <a:lnTo>
                    <a:pt x="0" y="91"/>
                  </a:lnTo>
                  <a:lnTo>
                    <a:pt x="0" y="99"/>
                  </a:lnTo>
                  <a:lnTo>
                    <a:pt x="0" y="112"/>
                  </a:lnTo>
                  <a:lnTo>
                    <a:pt x="2" y="126"/>
                  </a:lnTo>
                  <a:lnTo>
                    <a:pt x="3" y="137"/>
                  </a:lnTo>
                  <a:lnTo>
                    <a:pt x="5" y="151"/>
                  </a:lnTo>
                  <a:lnTo>
                    <a:pt x="8" y="162"/>
                  </a:lnTo>
                  <a:lnTo>
                    <a:pt x="10" y="175"/>
                  </a:lnTo>
                  <a:lnTo>
                    <a:pt x="15" y="187"/>
                  </a:lnTo>
                  <a:lnTo>
                    <a:pt x="18" y="199"/>
                  </a:lnTo>
                  <a:lnTo>
                    <a:pt x="23" y="199"/>
                  </a:lnTo>
                  <a:lnTo>
                    <a:pt x="20" y="187"/>
                  </a:lnTo>
                  <a:lnTo>
                    <a:pt x="15" y="175"/>
                  </a:lnTo>
                  <a:lnTo>
                    <a:pt x="12" y="162"/>
                  </a:lnTo>
                  <a:lnTo>
                    <a:pt x="10" y="151"/>
                  </a:lnTo>
                  <a:lnTo>
                    <a:pt x="8" y="137"/>
                  </a:lnTo>
                  <a:lnTo>
                    <a:pt x="7" y="126"/>
                  </a:lnTo>
                  <a:lnTo>
                    <a:pt x="5" y="112"/>
                  </a:lnTo>
                  <a:lnTo>
                    <a:pt x="5" y="99"/>
                  </a:lnTo>
                  <a:lnTo>
                    <a:pt x="5" y="91"/>
                  </a:lnTo>
                  <a:lnTo>
                    <a:pt x="5" y="83"/>
                  </a:lnTo>
                  <a:lnTo>
                    <a:pt x="7" y="76"/>
                  </a:lnTo>
                  <a:lnTo>
                    <a:pt x="7" y="68"/>
                  </a:lnTo>
                  <a:lnTo>
                    <a:pt x="8" y="59"/>
                  </a:lnTo>
                  <a:lnTo>
                    <a:pt x="8" y="51"/>
                  </a:lnTo>
                  <a:lnTo>
                    <a:pt x="10" y="45"/>
                  </a:lnTo>
                  <a:lnTo>
                    <a:pt x="12" y="36"/>
                  </a:lnTo>
                  <a:lnTo>
                    <a:pt x="7" y="4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28" name="Freeform 168">
              <a:extLst>
                <a:ext uri="{FF2B5EF4-FFF2-40B4-BE49-F238E27FC236}">
                  <a16:creationId xmlns:a16="http://schemas.microsoft.com/office/drawing/2014/main" id="{5D706C0F-D430-790D-C282-CFCBE0E7F0C7}"/>
                </a:ext>
              </a:extLst>
            </p:cNvPr>
            <p:cNvSpPr>
              <a:spLocks noEditPoints="1"/>
            </p:cNvSpPr>
            <p:nvPr/>
          </p:nvSpPr>
          <p:spPr bwMode="auto">
            <a:xfrm>
              <a:off x="1565" y="1514"/>
              <a:ext cx="541" cy="199"/>
            </a:xfrm>
            <a:custGeom>
              <a:avLst/>
              <a:gdLst>
                <a:gd name="T0" fmla="*/ 541 w 541"/>
                <a:gd name="T1" fmla="*/ 86 h 199"/>
                <a:gd name="T2" fmla="*/ 540 w 541"/>
                <a:gd name="T3" fmla="*/ 59 h 199"/>
                <a:gd name="T4" fmla="*/ 535 w 541"/>
                <a:gd name="T5" fmla="*/ 35 h 199"/>
                <a:gd name="T6" fmla="*/ 526 w 541"/>
                <a:gd name="T7" fmla="*/ 11 h 199"/>
                <a:gd name="T8" fmla="*/ 518 w 541"/>
                <a:gd name="T9" fmla="*/ 0 h 199"/>
                <a:gd name="T10" fmla="*/ 526 w 541"/>
                <a:gd name="T11" fmla="*/ 23 h 199"/>
                <a:gd name="T12" fmla="*/ 531 w 541"/>
                <a:gd name="T13" fmla="*/ 48 h 199"/>
                <a:gd name="T14" fmla="*/ 536 w 541"/>
                <a:gd name="T15" fmla="*/ 73 h 199"/>
                <a:gd name="T16" fmla="*/ 536 w 541"/>
                <a:gd name="T17" fmla="*/ 99 h 199"/>
                <a:gd name="T18" fmla="*/ 536 w 541"/>
                <a:gd name="T19" fmla="*/ 112 h 199"/>
                <a:gd name="T20" fmla="*/ 535 w 541"/>
                <a:gd name="T21" fmla="*/ 127 h 199"/>
                <a:gd name="T22" fmla="*/ 533 w 541"/>
                <a:gd name="T23" fmla="*/ 141 h 199"/>
                <a:gd name="T24" fmla="*/ 531 w 541"/>
                <a:gd name="T25" fmla="*/ 154 h 199"/>
                <a:gd name="T26" fmla="*/ 538 w 541"/>
                <a:gd name="T27" fmla="*/ 144 h 199"/>
                <a:gd name="T28" fmla="*/ 540 w 541"/>
                <a:gd name="T29" fmla="*/ 132 h 199"/>
                <a:gd name="T30" fmla="*/ 541 w 541"/>
                <a:gd name="T31" fmla="*/ 119 h 199"/>
                <a:gd name="T32" fmla="*/ 541 w 541"/>
                <a:gd name="T33" fmla="*/ 106 h 199"/>
                <a:gd name="T34" fmla="*/ 8 w 541"/>
                <a:gd name="T35" fmla="*/ 38 h 199"/>
                <a:gd name="T36" fmla="*/ 5 w 541"/>
                <a:gd name="T37" fmla="*/ 53 h 199"/>
                <a:gd name="T38" fmla="*/ 3 w 541"/>
                <a:gd name="T39" fmla="*/ 68 h 199"/>
                <a:gd name="T40" fmla="*/ 1 w 541"/>
                <a:gd name="T41" fmla="*/ 83 h 199"/>
                <a:gd name="T42" fmla="*/ 0 w 541"/>
                <a:gd name="T43" fmla="*/ 99 h 199"/>
                <a:gd name="T44" fmla="*/ 1 w 541"/>
                <a:gd name="T45" fmla="*/ 126 h 199"/>
                <a:gd name="T46" fmla="*/ 5 w 541"/>
                <a:gd name="T47" fmla="*/ 151 h 199"/>
                <a:gd name="T48" fmla="*/ 11 w 541"/>
                <a:gd name="T49" fmla="*/ 175 h 199"/>
                <a:gd name="T50" fmla="*/ 20 w 541"/>
                <a:gd name="T51" fmla="*/ 199 h 199"/>
                <a:gd name="T52" fmla="*/ 20 w 541"/>
                <a:gd name="T53" fmla="*/ 187 h 199"/>
                <a:gd name="T54" fmla="*/ 13 w 541"/>
                <a:gd name="T55" fmla="*/ 162 h 199"/>
                <a:gd name="T56" fmla="*/ 8 w 541"/>
                <a:gd name="T57" fmla="*/ 137 h 199"/>
                <a:gd name="T58" fmla="*/ 6 w 541"/>
                <a:gd name="T59" fmla="*/ 112 h 199"/>
                <a:gd name="T60" fmla="*/ 5 w 541"/>
                <a:gd name="T61" fmla="*/ 91 h 199"/>
                <a:gd name="T62" fmla="*/ 6 w 541"/>
                <a:gd name="T63" fmla="*/ 74 h 199"/>
                <a:gd name="T64" fmla="*/ 8 w 541"/>
                <a:gd name="T65" fmla="*/ 59 h 199"/>
                <a:gd name="T66" fmla="*/ 11 w 541"/>
                <a:gd name="T67" fmla="*/ 43 h 199"/>
                <a:gd name="T68" fmla="*/ 8 w 541"/>
                <a:gd name="T69" fmla="*/ 3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1" h="199">
                  <a:moveTo>
                    <a:pt x="541" y="99"/>
                  </a:moveTo>
                  <a:lnTo>
                    <a:pt x="541" y="86"/>
                  </a:lnTo>
                  <a:lnTo>
                    <a:pt x="540" y="73"/>
                  </a:lnTo>
                  <a:lnTo>
                    <a:pt x="540" y="59"/>
                  </a:lnTo>
                  <a:lnTo>
                    <a:pt x="536" y="48"/>
                  </a:lnTo>
                  <a:lnTo>
                    <a:pt x="535" y="35"/>
                  </a:lnTo>
                  <a:lnTo>
                    <a:pt x="531" y="23"/>
                  </a:lnTo>
                  <a:lnTo>
                    <a:pt x="526" y="11"/>
                  </a:lnTo>
                  <a:lnTo>
                    <a:pt x="523" y="0"/>
                  </a:lnTo>
                  <a:lnTo>
                    <a:pt x="518" y="0"/>
                  </a:lnTo>
                  <a:lnTo>
                    <a:pt x="521" y="11"/>
                  </a:lnTo>
                  <a:lnTo>
                    <a:pt x="526" y="23"/>
                  </a:lnTo>
                  <a:lnTo>
                    <a:pt x="530" y="35"/>
                  </a:lnTo>
                  <a:lnTo>
                    <a:pt x="531" y="48"/>
                  </a:lnTo>
                  <a:lnTo>
                    <a:pt x="535" y="59"/>
                  </a:lnTo>
                  <a:lnTo>
                    <a:pt x="536" y="73"/>
                  </a:lnTo>
                  <a:lnTo>
                    <a:pt x="536" y="86"/>
                  </a:lnTo>
                  <a:lnTo>
                    <a:pt x="536" y="99"/>
                  </a:lnTo>
                  <a:lnTo>
                    <a:pt x="536" y="106"/>
                  </a:lnTo>
                  <a:lnTo>
                    <a:pt x="536" y="112"/>
                  </a:lnTo>
                  <a:lnTo>
                    <a:pt x="536" y="119"/>
                  </a:lnTo>
                  <a:lnTo>
                    <a:pt x="535" y="127"/>
                  </a:lnTo>
                  <a:lnTo>
                    <a:pt x="535" y="134"/>
                  </a:lnTo>
                  <a:lnTo>
                    <a:pt x="533" y="141"/>
                  </a:lnTo>
                  <a:lnTo>
                    <a:pt x="533" y="147"/>
                  </a:lnTo>
                  <a:lnTo>
                    <a:pt x="531" y="154"/>
                  </a:lnTo>
                  <a:lnTo>
                    <a:pt x="536" y="151"/>
                  </a:lnTo>
                  <a:lnTo>
                    <a:pt x="538" y="144"/>
                  </a:lnTo>
                  <a:lnTo>
                    <a:pt x="540" y="139"/>
                  </a:lnTo>
                  <a:lnTo>
                    <a:pt x="540" y="132"/>
                  </a:lnTo>
                  <a:lnTo>
                    <a:pt x="540" y="126"/>
                  </a:lnTo>
                  <a:lnTo>
                    <a:pt x="541" y="119"/>
                  </a:lnTo>
                  <a:lnTo>
                    <a:pt x="541" y="112"/>
                  </a:lnTo>
                  <a:lnTo>
                    <a:pt x="541" y="106"/>
                  </a:lnTo>
                  <a:lnTo>
                    <a:pt x="541" y="99"/>
                  </a:lnTo>
                  <a:close/>
                  <a:moveTo>
                    <a:pt x="8" y="38"/>
                  </a:moveTo>
                  <a:lnTo>
                    <a:pt x="6" y="46"/>
                  </a:lnTo>
                  <a:lnTo>
                    <a:pt x="5" y="53"/>
                  </a:lnTo>
                  <a:lnTo>
                    <a:pt x="3" y="61"/>
                  </a:lnTo>
                  <a:lnTo>
                    <a:pt x="3" y="68"/>
                  </a:lnTo>
                  <a:lnTo>
                    <a:pt x="1" y="76"/>
                  </a:lnTo>
                  <a:lnTo>
                    <a:pt x="1" y="83"/>
                  </a:lnTo>
                  <a:lnTo>
                    <a:pt x="1" y="91"/>
                  </a:lnTo>
                  <a:lnTo>
                    <a:pt x="0" y="99"/>
                  </a:lnTo>
                  <a:lnTo>
                    <a:pt x="1" y="112"/>
                  </a:lnTo>
                  <a:lnTo>
                    <a:pt x="1" y="126"/>
                  </a:lnTo>
                  <a:lnTo>
                    <a:pt x="3" y="137"/>
                  </a:lnTo>
                  <a:lnTo>
                    <a:pt x="5" y="151"/>
                  </a:lnTo>
                  <a:lnTo>
                    <a:pt x="8" y="162"/>
                  </a:lnTo>
                  <a:lnTo>
                    <a:pt x="11" y="175"/>
                  </a:lnTo>
                  <a:lnTo>
                    <a:pt x="15" y="187"/>
                  </a:lnTo>
                  <a:lnTo>
                    <a:pt x="20" y="199"/>
                  </a:lnTo>
                  <a:lnTo>
                    <a:pt x="25" y="199"/>
                  </a:lnTo>
                  <a:lnTo>
                    <a:pt x="20" y="187"/>
                  </a:lnTo>
                  <a:lnTo>
                    <a:pt x="16" y="175"/>
                  </a:lnTo>
                  <a:lnTo>
                    <a:pt x="13" y="162"/>
                  </a:lnTo>
                  <a:lnTo>
                    <a:pt x="10" y="151"/>
                  </a:lnTo>
                  <a:lnTo>
                    <a:pt x="8" y="137"/>
                  </a:lnTo>
                  <a:lnTo>
                    <a:pt x="6" y="126"/>
                  </a:lnTo>
                  <a:lnTo>
                    <a:pt x="6" y="112"/>
                  </a:lnTo>
                  <a:lnTo>
                    <a:pt x="5" y="99"/>
                  </a:lnTo>
                  <a:lnTo>
                    <a:pt x="5" y="91"/>
                  </a:lnTo>
                  <a:lnTo>
                    <a:pt x="6" y="83"/>
                  </a:lnTo>
                  <a:lnTo>
                    <a:pt x="6" y="74"/>
                  </a:lnTo>
                  <a:lnTo>
                    <a:pt x="8" y="66"/>
                  </a:lnTo>
                  <a:lnTo>
                    <a:pt x="8" y="59"/>
                  </a:lnTo>
                  <a:lnTo>
                    <a:pt x="10" y="51"/>
                  </a:lnTo>
                  <a:lnTo>
                    <a:pt x="11" y="43"/>
                  </a:lnTo>
                  <a:lnTo>
                    <a:pt x="13" y="36"/>
                  </a:lnTo>
                  <a:lnTo>
                    <a:pt x="8" y="38"/>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29" name="Freeform 169">
              <a:extLst>
                <a:ext uri="{FF2B5EF4-FFF2-40B4-BE49-F238E27FC236}">
                  <a16:creationId xmlns:a16="http://schemas.microsoft.com/office/drawing/2014/main" id="{AAEB0FA2-B8AA-EA83-6694-382AE94967C3}"/>
                </a:ext>
              </a:extLst>
            </p:cNvPr>
            <p:cNvSpPr>
              <a:spLocks noEditPoints="1"/>
            </p:cNvSpPr>
            <p:nvPr/>
          </p:nvSpPr>
          <p:spPr bwMode="auto">
            <a:xfrm>
              <a:off x="1568" y="1514"/>
              <a:ext cx="537" cy="199"/>
            </a:xfrm>
            <a:custGeom>
              <a:avLst/>
              <a:gdLst>
                <a:gd name="T0" fmla="*/ 537 w 537"/>
                <a:gd name="T1" fmla="*/ 86 h 199"/>
                <a:gd name="T2" fmla="*/ 533 w 537"/>
                <a:gd name="T3" fmla="*/ 59 h 199"/>
                <a:gd name="T4" fmla="*/ 528 w 537"/>
                <a:gd name="T5" fmla="*/ 35 h 199"/>
                <a:gd name="T6" fmla="*/ 522 w 537"/>
                <a:gd name="T7" fmla="*/ 11 h 199"/>
                <a:gd name="T8" fmla="*/ 512 w 537"/>
                <a:gd name="T9" fmla="*/ 0 h 199"/>
                <a:gd name="T10" fmla="*/ 520 w 537"/>
                <a:gd name="T11" fmla="*/ 23 h 199"/>
                <a:gd name="T12" fmla="*/ 527 w 537"/>
                <a:gd name="T13" fmla="*/ 48 h 199"/>
                <a:gd name="T14" fmla="*/ 530 w 537"/>
                <a:gd name="T15" fmla="*/ 73 h 199"/>
                <a:gd name="T16" fmla="*/ 532 w 537"/>
                <a:gd name="T17" fmla="*/ 99 h 199"/>
                <a:gd name="T18" fmla="*/ 532 w 537"/>
                <a:gd name="T19" fmla="*/ 112 h 199"/>
                <a:gd name="T20" fmla="*/ 530 w 537"/>
                <a:gd name="T21" fmla="*/ 127 h 199"/>
                <a:gd name="T22" fmla="*/ 528 w 537"/>
                <a:gd name="T23" fmla="*/ 141 h 199"/>
                <a:gd name="T24" fmla="*/ 525 w 537"/>
                <a:gd name="T25" fmla="*/ 154 h 199"/>
                <a:gd name="T26" fmla="*/ 532 w 537"/>
                <a:gd name="T27" fmla="*/ 146 h 199"/>
                <a:gd name="T28" fmla="*/ 535 w 537"/>
                <a:gd name="T29" fmla="*/ 132 h 199"/>
                <a:gd name="T30" fmla="*/ 535 w 537"/>
                <a:gd name="T31" fmla="*/ 119 h 199"/>
                <a:gd name="T32" fmla="*/ 537 w 537"/>
                <a:gd name="T33" fmla="*/ 106 h 199"/>
                <a:gd name="T34" fmla="*/ 7 w 537"/>
                <a:gd name="T35" fmla="*/ 36 h 199"/>
                <a:gd name="T36" fmla="*/ 3 w 537"/>
                <a:gd name="T37" fmla="*/ 51 h 199"/>
                <a:gd name="T38" fmla="*/ 2 w 537"/>
                <a:gd name="T39" fmla="*/ 68 h 199"/>
                <a:gd name="T40" fmla="*/ 0 w 537"/>
                <a:gd name="T41" fmla="*/ 83 h 199"/>
                <a:gd name="T42" fmla="*/ 0 w 537"/>
                <a:gd name="T43" fmla="*/ 99 h 199"/>
                <a:gd name="T44" fmla="*/ 2 w 537"/>
                <a:gd name="T45" fmla="*/ 126 h 199"/>
                <a:gd name="T46" fmla="*/ 5 w 537"/>
                <a:gd name="T47" fmla="*/ 151 h 199"/>
                <a:gd name="T48" fmla="*/ 10 w 537"/>
                <a:gd name="T49" fmla="*/ 175 h 199"/>
                <a:gd name="T50" fmla="*/ 18 w 537"/>
                <a:gd name="T51" fmla="*/ 199 h 199"/>
                <a:gd name="T52" fmla="*/ 20 w 537"/>
                <a:gd name="T53" fmla="*/ 187 h 199"/>
                <a:gd name="T54" fmla="*/ 12 w 537"/>
                <a:gd name="T55" fmla="*/ 162 h 199"/>
                <a:gd name="T56" fmla="*/ 8 w 537"/>
                <a:gd name="T57" fmla="*/ 137 h 199"/>
                <a:gd name="T58" fmla="*/ 5 w 537"/>
                <a:gd name="T59" fmla="*/ 112 h 199"/>
                <a:gd name="T60" fmla="*/ 5 w 537"/>
                <a:gd name="T61" fmla="*/ 91 h 199"/>
                <a:gd name="T62" fmla="*/ 5 w 537"/>
                <a:gd name="T63" fmla="*/ 74 h 199"/>
                <a:gd name="T64" fmla="*/ 8 w 537"/>
                <a:gd name="T65" fmla="*/ 58 h 199"/>
                <a:gd name="T66" fmla="*/ 12 w 537"/>
                <a:gd name="T67" fmla="*/ 41 h 199"/>
                <a:gd name="T68" fmla="*/ 7 w 537"/>
                <a:gd name="T69" fmla="*/ 3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7" h="199">
                  <a:moveTo>
                    <a:pt x="537" y="99"/>
                  </a:moveTo>
                  <a:lnTo>
                    <a:pt x="537" y="86"/>
                  </a:lnTo>
                  <a:lnTo>
                    <a:pt x="535" y="73"/>
                  </a:lnTo>
                  <a:lnTo>
                    <a:pt x="533" y="59"/>
                  </a:lnTo>
                  <a:lnTo>
                    <a:pt x="532" y="48"/>
                  </a:lnTo>
                  <a:lnTo>
                    <a:pt x="528" y="35"/>
                  </a:lnTo>
                  <a:lnTo>
                    <a:pt x="525" y="23"/>
                  </a:lnTo>
                  <a:lnTo>
                    <a:pt x="522" y="11"/>
                  </a:lnTo>
                  <a:lnTo>
                    <a:pt x="517" y="0"/>
                  </a:lnTo>
                  <a:lnTo>
                    <a:pt x="512" y="0"/>
                  </a:lnTo>
                  <a:lnTo>
                    <a:pt x="517" y="11"/>
                  </a:lnTo>
                  <a:lnTo>
                    <a:pt x="520" y="23"/>
                  </a:lnTo>
                  <a:lnTo>
                    <a:pt x="523" y="35"/>
                  </a:lnTo>
                  <a:lnTo>
                    <a:pt x="527" y="48"/>
                  </a:lnTo>
                  <a:lnTo>
                    <a:pt x="528" y="59"/>
                  </a:lnTo>
                  <a:lnTo>
                    <a:pt x="530" y="73"/>
                  </a:lnTo>
                  <a:lnTo>
                    <a:pt x="532" y="86"/>
                  </a:lnTo>
                  <a:lnTo>
                    <a:pt x="532" y="99"/>
                  </a:lnTo>
                  <a:lnTo>
                    <a:pt x="532" y="106"/>
                  </a:lnTo>
                  <a:lnTo>
                    <a:pt x="532" y="112"/>
                  </a:lnTo>
                  <a:lnTo>
                    <a:pt x="530" y="121"/>
                  </a:lnTo>
                  <a:lnTo>
                    <a:pt x="530" y="127"/>
                  </a:lnTo>
                  <a:lnTo>
                    <a:pt x="528" y="134"/>
                  </a:lnTo>
                  <a:lnTo>
                    <a:pt x="528" y="141"/>
                  </a:lnTo>
                  <a:lnTo>
                    <a:pt x="527" y="147"/>
                  </a:lnTo>
                  <a:lnTo>
                    <a:pt x="525" y="154"/>
                  </a:lnTo>
                  <a:lnTo>
                    <a:pt x="532" y="152"/>
                  </a:lnTo>
                  <a:lnTo>
                    <a:pt x="532" y="146"/>
                  </a:lnTo>
                  <a:lnTo>
                    <a:pt x="533" y="139"/>
                  </a:lnTo>
                  <a:lnTo>
                    <a:pt x="535" y="132"/>
                  </a:lnTo>
                  <a:lnTo>
                    <a:pt x="535" y="126"/>
                  </a:lnTo>
                  <a:lnTo>
                    <a:pt x="535" y="119"/>
                  </a:lnTo>
                  <a:lnTo>
                    <a:pt x="537" y="112"/>
                  </a:lnTo>
                  <a:lnTo>
                    <a:pt x="537" y="106"/>
                  </a:lnTo>
                  <a:lnTo>
                    <a:pt x="537" y="99"/>
                  </a:lnTo>
                  <a:close/>
                  <a:moveTo>
                    <a:pt x="7" y="36"/>
                  </a:moveTo>
                  <a:lnTo>
                    <a:pt x="5" y="45"/>
                  </a:lnTo>
                  <a:lnTo>
                    <a:pt x="3" y="51"/>
                  </a:lnTo>
                  <a:lnTo>
                    <a:pt x="3" y="59"/>
                  </a:lnTo>
                  <a:lnTo>
                    <a:pt x="2" y="68"/>
                  </a:lnTo>
                  <a:lnTo>
                    <a:pt x="2" y="76"/>
                  </a:lnTo>
                  <a:lnTo>
                    <a:pt x="0" y="83"/>
                  </a:lnTo>
                  <a:lnTo>
                    <a:pt x="0" y="91"/>
                  </a:lnTo>
                  <a:lnTo>
                    <a:pt x="0" y="99"/>
                  </a:lnTo>
                  <a:lnTo>
                    <a:pt x="0" y="112"/>
                  </a:lnTo>
                  <a:lnTo>
                    <a:pt x="2" y="126"/>
                  </a:lnTo>
                  <a:lnTo>
                    <a:pt x="3" y="137"/>
                  </a:lnTo>
                  <a:lnTo>
                    <a:pt x="5" y="151"/>
                  </a:lnTo>
                  <a:lnTo>
                    <a:pt x="7" y="162"/>
                  </a:lnTo>
                  <a:lnTo>
                    <a:pt x="10" y="175"/>
                  </a:lnTo>
                  <a:lnTo>
                    <a:pt x="15" y="187"/>
                  </a:lnTo>
                  <a:lnTo>
                    <a:pt x="18" y="199"/>
                  </a:lnTo>
                  <a:lnTo>
                    <a:pt x="25" y="199"/>
                  </a:lnTo>
                  <a:lnTo>
                    <a:pt x="20" y="187"/>
                  </a:lnTo>
                  <a:lnTo>
                    <a:pt x="15" y="175"/>
                  </a:lnTo>
                  <a:lnTo>
                    <a:pt x="12" y="162"/>
                  </a:lnTo>
                  <a:lnTo>
                    <a:pt x="10" y="151"/>
                  </a:lnTo>
                  <a:lnTo>
                    <a:pt x="8" y="137"/>
                  </a:lnTo>
                  <a:lnTo>
                    <a:pt x="7" y="126"/>
                  </a:lnTo>
                  <a:lnTo>
                    <a:pt x="5" y="112"/>
                  </a:lnTo>
                  <a:lnTo>
                    <a:pt x="5" y="99"/>
                  </a:lnTo>
                  <a:lnTo>
                    <a:pt x="5" y="91"/>
                  </a:lnTo>
                  <a:lnTo>
                    <a:pt x="5" y="83"/>
                  </a:lnTo>
                  <a:lnTo>
                    <a:pt x="5" y="74"/>
                  </a:lnTo>
                  <a:lnTo>
                    <a:pt x="7" y="66"/>
                  </a:lnTo>
                  <a:lnTo>
                    <a:pt x="8" y="58"/>
                  </a:lnTo>
                  <a:lnTo>
                    <a:pt x="10" y="50"/>
                  </a:lnTo>
                  <a:lnTo>
                    <a:pt x="12" y="41"/>
                  </a:lnTo>
                  <a:lnTo>
                    <a:pt x="13" y="35"/>
                  </a:lnTo>
                  <a:lnTo>
                    <a:pt x="7" y="36"/>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30" name="Freeform 170">
              <a:extLst>
                <a:ext uri="{FF2B5EF4-FFF2-40B4-BE49-F238E27FC236}">
                  <a16:creationId xmlns:a16="http://schemas.microsoft.com/office/drawing/2014/main" id="{40A3F1F9-AB7D-78E3-7E6C-119DD45341AD}"/>
                </a:ext>
              </a:extLst>
            </p:cNvPr>
            <p:cNvSpPr>
              <a:spLocks noEditPoints="1"/>
            </p:cNvSpPr>
            <p:nvPr/>
          </p:nvSpPr>
          <p:spPr bwMode="auto">
            <a:xfrm>
              <a:off x="1570" y="1514"/>
              <a:ext cx="531" cy="199"/>
            </a:xfrm>
            <a:custGeom>
              <a:avLst/>
              <a:gdLst>
                <a:gd name="T0" fmla="*/ 531 w 531"/>
                <a:gd name="T1" fmla="*/ 86 h 199"/>
                <a:gd name="T2" fmla="*/ 530 w 531"/>
                <a:gd name="T3" fmla="*/ 59 h 199"/>
                <a:gd name="T4" fmla="*/ 525 w 531"/>
                <a:gd name="T5" fmla="*/ 35 h 199"/>
                <a:gd name="T6" fmla="*/ 516 w 531"/>
                <a:gd name="T7" fmla="*/ 11 h 199"/>
                <a:gd name="T8" fmla="*/ 508 w 531"/>
                <a:gd name="T9" fmla="*/ 0 h 199"/>
                <a:gd name="T10" fmla="*/ 516 w 531"/>
                <a:gd name="T11" fmla="*/ 23 h 199"/>
                <a:gd name="T12" fmla="*/ 521 w 531"/>
                <a:gd name="T13" fmla="*/ 48 h 199"/>
                <a:gd name="T14" fmla="*/ 526 w 531"/>
                <a:gd name="T15" fmla="*/ 73 h 199"/>
                <a:gd name="T16" fmla="*/ 526 w 531"/>
                <a:gd name="T17" fmla="*/ 99 h 199"/>
                <a:gd name="T18" fmla="*/ 526 w 531"/>
                <a:gd name="T19" fmla="*/ 114 h 199"/>
                <a:gd name="T20" fmla="*/ 526 w 531"/>
                <a:gd name="T21" fmla="*/ 127 h 199"/>
                <a:gd name="T22" fmla="*/ 523 w 531"/>
                <a:gd name="T23" fmla="*/ 142 h 199"/>
                <a:gd name="T24" fmla="*/ 521 w 531"/>
                <a:gd name="T25" fmla="*/ 155 h 199"/>
                <a:gd name="T26" fmla="*/ 528 w 531"/>
                <a:gd name="T27" fmla="*/ 147 h 199"/>
                <a:gd name="T28" fmla="*/ 530 w 531"/>
                <a:gd name="T29" fmla="*/ 134 h 199"/>
                <a:gd name="T30" fmla="*/ 531 w 531"/>
                <a:gd name="T31" fmla="*/ 119 h 199"/>
                <a:gd name="T32" fmla="*/ 531 w 531"/>
                <a:gd name="T33" fmla="*/ 106 h 199"/>
                <a:gd name="T34" fmla="*/ 8 w 531"/>
                <a:gd name="T35" fmla="*/ 36 h 199"/>
                <a:gd name="T36" fmla="*/ 5 w 531"/>
                <a:gd name="T37" fmla="*/ 51 h 199"/>
                <a:gd name="T38" fmla="*/ 3 w 531"/>
                <a:gd name="T39" fmla="*/ 66 h 199"/>
                <a:gd name="T40" fmla="*/ 1 w 531"/>
                <a:gd name="T41" fmla="*/ 83 h 199"/>
                <a:gd name="T42" fmla="*/ 0 w 531"/>
                <a:gd name="T43" fmla="*/ 99 h 199"/>
                <a:gd name="T44" fmla="*/ 1 w 531"/>
                <a:gd name="T45" fmla="*/ 126 h 199"/>
                <a:gd name="T46" fmla="*/ 5 w 531"/>
                <a:gd name="T47" fmla="*/ 151 h 199"/>
                <a:gd name="T48" fmla="*/ 11 w 531"/>
                <a:gd name="T49" fmla="*/ 175 h 199"/>
                <a:gd name="T50" fmla="*/ 20 w 531"/>
                <a:gd name="T51" fmla="*/ 199 h 199"/>
                <a:gd name="T52" fmla="*/ 20 w 531"/>
                <a:gd name="T53" fmla="*/ 187 h 199"/>
                <a:gd name="T54" fmla="*/ 13 w 531"/>
                <a:gd name="T55" fmla="*/ 162 h 199"/>
                <a:gd name="T56" fmla="*/ 8 w 531"/>
                <a:gd name="T57" fmla="*/ 137 h 199"/>
                <a:gd name="T58" fmla="*/ 5 w 531"/>
                <a:gd name="T59" fmla="*/ 112 h 199"/>
                <a:gd name="T60" fmla="*/ 5 w 531"/>
                <a:gd name="T61" fmla="*/ 91 h 199"/>
                <a:gd name="T62" fmla="*/ 6 w 531"/>
                <a:gd name="T63" fmla="*/ 74 h 199"/>
                <a:gd name="T64" fmla="*/ 8 w 531"/>
                <a:gd name="T65" fmla="*/ 58 h 199"/>
                <a:gd name="T66" fmla="*/ 11 w 531"/>
                <a:gd name="T67" fmla="*/ 41 h 199"/>
                <a:gd name="T68" fmla="*/ 8 w 531"/>
                <a:gd name="T69" fmla="*/ 3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1" h="199">
                  <a:moveTo>
                    <a:pt x="531" y="99"/>
                  </a:moveTo>
                  <a:lnTo>
                    <a:pt x="531" y="86"/>
                  </a:lnTo>
                  <a:lnTo>
                    <a:pt x="531" y="73"/>
                  </a:lnTo>
                  <a:lnTo>
                    <a:pt x="530" y="59"/>
                  </a:lnTo>
                  <a:lnTo>
                    <a:pt x="526" y="48"/>
                  </a:lnTo>
                  <a:lnTo>
                    <a:pt x="525" y="35"/>
                  </a:lnTo>
                  <a:lnTo>
                    <a:pt x="521" y="23"/>
                  </a:lnTo>
                  <a:lnTo>
                    <a:pt x="516" y="11"/>
                  </a:lnTo>
                  <a:lnTo>
                    <a:pt x="513" y="0"/>
                  </a:lnTo>
                  <a:lnTo>
                    <a:pt x="508" y="0"/>
                  </a:lnTo>
                  <a:lnTo>
                    <a:pt x="512" y="11"/>
                  </a:lnTo>
                  <a:lnTo>
                    <a:pt x="516" y="23"/>
                  </a:lnTo>
                  <a:lnTo>
                    <a:pt x="520" y="35"/>
                  </a:lnTo>
                  <a:lnTo>
                    <a:pt x="521" y="48"/>
                  </a:lnTo>
                  <a:lnTo>
                    <a:pt x="525" y="59"/>
                  </a:lnTo>
                  <a:lnTo>
                    <a:pt x="526" y="73"/>
                  </a:lnTo>
                  <a:lnTo>
                    <a:pt x="526" y="86"/>
                  </a:lnTo>
                  <a:lnTo>
                    <a:pt x="526" y="99"/>
                  </a:lnTo>
                  <a:lnTo>
                    <a:pt x="526" y="106"/>
                  </a:lnTo>
                  <a:lnTo>
                    <a:pt x="526" y="114"/>
                  </a:lnTo>
                  <a:lnTo>
                    <a:pt x="526" y="121"/>
                  </a:lnTo>
                  <a:lnTo>
                    <a:pt x="526" y="127"/>
                  </a:lnTo>
                  <a:lnTo>
                    <a:pt x="525" y="136"/>
                  </a:lnTo>
                  <a:lnTo>
                    <a:pt x="523" y="142"/>
                  </a:lnTo>
                  <a:lnTo>
                    <a:pt x="523" y="149"/>
                  </a:lnTo>
                  <a:lnTo>
                    <a:pt x="521" y="155"/>
                  </a:lnTo>
                  <a:lnTo>
                    <a:pt x="526" y="154"/>
                  </a:lnTo>
                  <a:lnTo>
                    <a:pt x="528" y="147"/>
                  </a:lnTo>
                  <a:lnTo>
                    <a:pt x="528" y="141"/>
                  </a:lnTo>
                  <a:lnTo>
                    <a:pt x="530" y="134"/>
                  </a:lnTo>
                  <a:lnTo>
                    <a:pt x="530" y="127"/>
                  </a:lnTo>
                  <a:lnTo>
                    <a:pt x="531" y="119"/>
                  </a:lnTo>
                  <a:lnTo>
                    <a:pt x="531" y="112"/>
                  </a:lnTo>
                  <a:lnTo>
                    <a:pt x="531" y="106"/>
                  </a:lnTo>
                  <a:lnTo>
                    <a:pt x="531" y="99"/>
                  </a:lnTo>
                  <a:close/>
                  <a:moveTo>
                    <a:pt x="8" y="36"/>
                  </a:moveTo>
                  <a:lnTo>
                    <a:pt x="6" y="43"/>
                  </a:lnTo>
                  <a:lnTo>
                    <a:pt x="5" y="51"/>
                  </a:lnTo>
                  <a:lnTo>
                    <a:pt x="3" y="59"/>
                  </a:lnTo>
                  <a:lnTo>
                    <a:pt x="3" y="66"/>
                  </a:lnTo>
                  <a:lnTo>
                    <a:pt x="1" y="74"/>
                  </a:lnTo>
                  <a:lnTo>
                    <a:pt x="1" y="83"/>
                  </a:lnTo>
                  <a:lnTo>
                    <a:pt x="0" y="91"/>
                  </a:lnTo>
                  <a:lnTo>
                    <a:pt x="0" y="99"/>
                  </a:lnTo>
                  <a:lnTo>
                    <a:pt x="1" y="112"/>
                  </a:lnTo>
                  <a:lnTo>
                    <a:pt x="1" y="126"/>
                  </a:lnTo>
                  <a:lnTo>
                    <a:pt x="3" y="137"/>
                  </a:lnTo>
                  <a:lnTo>
                    <a:pt x="5" y="151"/>
                  </a:lnTo>
                  <a:lnTo>
                    <a:pt x="8" y="162"/>
                  </a:lnTo>
                  <a:lnTo>
                    <a:pt x="11" y="175"/>
                  </a:lnTo>
                  <a:lnTo>
                    <a:pt x="15" y="187"/>
                  </a:lnTo>
                  <a:lnTo>
                    <a:pt x="20" y="199"/>
                  </a:lnTo>
                  <a:lnTo>
                    <a:pt x="25" y="199"/>
                  </a:lnTo>
                  <a:lnTo>
                    <a:pt x="20" y="187"/>
                  </a:lnTo>
                  <a:lnTo>
                    <a:pt x="16" y="175"/>
                  </a:lnTo>
                  <a:lnTo>
                    <a:pt x="13" y="162"/>
                  </a:lnTo>
                  <a:lnTo>
                    <a:pt x="10" y="151"/>
                  </a:lnTo>
                  <a:lnTo>
                    <a:pt x="8" y="137"/>
                  </a:lnTo>
                  <a:lnTo>
                    <a:pt x="6" y="126"/>
                  </a:lnTo>
                  <a:lnTo>
                    <a:pt x="5" y="112"/>
                  </a:lnTo>
                  <a:lnTo>
                    <a:pt x="5" y="99"/>
                  </a:lnTo>
                  <a:lnTo>
                    <a:pt x="5" y="91"/>
                  </a:lnTo>
                  <a:lnTo>
                    <a:pt x="6" y="83"/>
                  </a:lnTo>
                  <a:lnTo>
                    <a:pt x="6" y="74"/>
                  </a:lnTo>
                  <a:lnTo>
                    <a:pt x="8" y="66"/>
                  </a:lnTo>
                  <a:lnTo>
                    <a:pt x="8" y="58"/>
                  </a:lnTo>
                  <a:lnTo>
                    <a:pt x="10" y="50"/>
                  </a:lnTo>
                  <a:lnTo>
                    <a:pt x="11" y="41"/>
                  </a:lnTo>
                  <a:lnTo>
                    <a:pt x="13" y="33"/>
                  </a:lnTo>
                  <a:lnTo>
                    <a:pt x="8" y="36"/>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31" name="Freeform 171">
              <a:extLst>
                <a:ext uri="{FF2B5EF4-FFF2-40B4-BE49-F238E27FC236}">
                  <a16:creationId xmlns:a16="http://schemas.microsoft.com/office/drawing/2014/main" id="{204A3E1B-3D10-1A0A-864D-6D892D85208C}"/>
                </a:ext>
              </a:extLst>
            </p:cNvPr>
            <p:cNvSpPr>
              <a:spLocks noEditPoints="1"/>
            </p:cNvSpPr>
            <p:nvPr/>
          </p:nvSpPr>
          <p:spPr bwMode="auto">
            <a:xfrm>
              <a:off x="1573" y="1514"/>
              <a:ext cx="527" cy="199"/>
            </a:xfrm>
            <a:custGeom>
              <a:avLst/>
              <a:gdLst>
                <a:gd name="T0" fmla="*/ 527 w 527"/>
                <a:gd name="T1" fmla="*/ 86 h 199"/>
                <a:gd name="T2" fmla="*/ 523 w 527"/>
                <a:gd name="T3" fmla="*/ 59 h 199"/>
                <a:gd name="T4" fmla="*/ 518 w 527"/>
                <a:gd name="T5" fmla="*/ 35 h 199"/>
                <a:gd name="T6" fmla="*/ 512 w 527"/>
                <a:gd name="T7" fmla="*/ 11 h 199"/>
                <a:gd name="T8" fmla="*/ 502 w 527"/>
                <a:gd name="T9" fmla="*/ 0 h 199"/>
                <a:gd name="T10" fmla="*/ 510 w 527"/>
                <a:gd name="T11" fmla="*/ 23 h 199"/>
                <a:gd name="T12" fmla="*/ 517 w 527"/>
                <a:gd name="T13" fmla="*/ 48 h 199"/>
                <a:gd name="T14" fmla="*/ 520 w 527"/>
                <a:gd name="T15" fmla="*/ 73 h 199"/>
                <a:gd name="T16" fmla="*/ 522 w 527"/>
                <a:gd name="T17" fmla="*/ 99 h 199"/>
                <a:gd name="T18" fmla="*/ 522 w 527"/>
                <a:gd name="T19" fmla="*/ 114 h 199"/>
                <a:gd name="T20" fmla="*/ 520 w 527"/>
                <a:gd name="T21" fmla="*/ 129 h 199"/>
                <a:gd name="T22" fmla="*/ 518 w 527"/>
                <a:gd name="T23" fmla="*/ 142 h 199"/>
                <a:gd name="T24" fmla="*/ 515 w 527"/>
                <a:gd name="T25" fmla="*/ 157 h 199"/>
                <a:gd name="T26" fmla="*/ 522 w 527"/>
                <a:gd name="T27" fmla="*/ 147 h 199"/>
                <a:gd name="T28" fmla="*/ 523 w 527"/>
                <a:gd name="T29" fmla="*/ 134 h 199"/>
                <a:gd name="T30" fmla="*/ 525 w 527"/>
                <a:gd name="T31" fmla="*/ 121 h 199"/>
                <a:gd name="T32" fmla="*/ 527 w 527"/>
                <a:gd name="T33" fmla="*/ 106 h 199"/>
                <a:gd name="T34" fmla="*/ 8 w 527"/>
                <a:gd name="T35" fmla="*/ 35 h 199"/>
                <a:gd name="T36" fmla="*/ 5 w 527"/>
                <a:gd name="T37" fmla="*/ 50 h 199"/>
                <a:gd name="T38" fmla="*/ 2 w 527"/>
                <a:gd name="T39" fmla="*/ 66 h 199"/>
                <a:gd name="T40" fmla="*/ 0 w 527"/>
                <a:gd name="T41" fmla="*/ 83 h 199"/>
                <a:gd name="T42" fmla="*/ 0 w 527"/>
                <a:gd name="T43" fmla="*/ 99 h 199"/>
                <a:gd name="T44" fmla="*/ 2 w 527"/>
                <a:gd name="T45" fmla="*/ 126 h 199"/>
                <a:gd name="T46" fmla="*/ 5 w 527"/>
                <a:gd name="T47" fmla="*/ 151 h 199"/>
                <a:gd name="T48" fmla="*/ 10 w 527"/>
                <a:gd name="T49" fmla="*/ 175 h 199"/>
                <a:gd name="T50" fmla="*/ 20 w 527"/>
                <a:gd name="T51" fmla="*/ 199 h 199"/>
                <a:gd name="T52" fmla="*/ 20 w 527"/>
                <a:gd name="T53" fmla="*/ 187 h 199"/>
                <a:gd name="T54" fmla="*/ 12 w 527"/>
                <a:gd name="T55" fmla="*/ 162 h 199"/>
                <a:gd name="T56" fmla="*/ 7 w 527"/>
                <a:gd name="T57" fmla="*/ 137 h 199"/>
                <a:gd name="T58" fmla="*/ 5 w 527"/>
                <a:gd name="T59" fmla="*/ 112 h 199"/>
                <a:gd name="T60" fmla="*/ 5 w 527"/>
                <a:gd name="T61" fmla="*/ 91 h 199"/>
                <a:gd name="T62" fmla="*/ 5 w 527"/>
                <a:gd name="T63" fmla="*/ 73 h 199"/>
                <a:gd name="T64" fmla="*/ 8 w 527"/>
                <a:gd name="T65" fmla="*/ 56 h 199"/>
                <a:gd name="T66" fmla="*/ 12 w 527"/>
                <a:gd name="T67" fmla="*/ 40 h 199"/>
                <a:gd name="T68" fmla="*/ 8 w 527"/>
                <a:gd name="T69" fmla="*/ 3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7" h="199">
                  <a:moveTo>
                    <a:pt x="527" y="99"/>
                  </a:moveTo>
                  <a:lnTo>
                    <a:pt x="527" y="86"/>
                  </a:lnTo>
                  <a:lnTo>
                    <a:pt x="525" y="73"/>
                  </a:lnTo>
                  <a:lnTo>
                    <a:pt x="523" y="59"/>
                  </a:lnTo>
                  <a:lnTo>
                    <a:pt x="522" y="48"/>
                  </a:lnTo>
                  <a:lnTo>
                    <a:pt x="518" y="35"/>
                  </a:lnTo>
                  <a:lnTo>
                    <a:pt x="515" y="23"/>
                  </a:lnTo>
                  <a:lnTo>
                    <a:pt x="512" y="11"/>
                  </a:lnTo>
                  <a:lnTo>
                    <a:pt x="507" y="0"/>
                  </a:lnTo>
                  <a:lnTo>
                    <a:pt x="502" y="0"/>
                  </a:lnTo>
                  <a:lnTo>
                    <a:pt x="507" y="11"/>
                  </a:lnTo>
                  <a:lnTo>
                    <a:pt x="510" y="23"/>
                  </a:lnTo>
                  <a:lnTo>
                    <a:pt x="513" y="35"/>
                  </a:lnTo>
                  <a:lnTo>
                    <a:pt x="517" y="48"/>
                  </a:lnTo>
                  <a:lnTo>
                    <a:pt x="518" y="59"/>
                  </a:lnTo>
                  <a:lnTo>
                    <a:pt x="520" y="73"/>
                  </a:lnTo>
                  <a:lnTo>
                    <a:pt x="522" y="86"/>
                  </a:lnTo>
                  <a:lnTo>
                    <a:pt x="522" y="99"/>
                  </a:lnTo>
                  <a:lnTo>
                    <a:pt x="522" y="106"/>
                  </a:lnTo>
                  <a:lnTo>
                    <a:pt x="522" y="114"/>
                  </a:lnTo>
                  <a:lnTo>
                    <a:pt x="520" y="121"/>
                  </a:lnTo>
                  <a:lnTo>
                    <a:pt x="520" y="129"/>
                  </a:lnTo>
                  <a:lnTo>
                    <a:pt x="518" y="136"/>
                  </a:lnTo>
                  <a:lnTo>
                    <a:pt x="518" y="142"/>
                  </a:lnTo>
                  <a:lnTo>
                    <a:pt x="517" y="151"/>
                  </a:lnTo>
                  <a:lnTo>
                    <a:pt x="515" y="157"/>
                  </a:lnTo>
                  <a:lnTo>
                    <a:pt x="520" y="154"/>
                  </a:lnTo>
                  <a:lnTo>
                    <a:pt x="522" y="147"/>
                  </a:lnTo>
                  <a:lnTo>
                    <a:pt x="523" y="141"/>
                  </a:lnTo>
                  <a:lnTo>
                    <a:pt x="523" y="134"/>
                  </a:lnTo>
                  <a:lnTo>
                    <a:pt x="525" y="127"/>
                  </a:lnTo>
                  <a:lnTo>
                    <a:pt x="525" y="121"/>
                  </a:lnTo>
                  <a:lnTo>
                    <a:pt x="527" y="112"/>
                  </a:lnTo>
                  <a:lnTo>
                    <a:pt x="527" y="106"/>
                  </a:lnTo>
                  <a:lnTo>
                    <a:pt x="527" y="99"/>
                  </a:lnTo>
                  <a:close/>
                  <a:moveTo>
                    <a:pt x="8" y="35"/>
                  </a:moveTo>
                  <a:lnTo>
                    <a:pt x="7" y="41"/>
                  </a:lnTo>
                  <a:lnTo>
                    <a:pt x="5" y="50"/>
                  </a:lnTo>
                  <a:lnTo>
                    <a:pt x="3" y="58"/>
                  </a:lnTo>
                  <a:lnTo>
                    <a:pt x="2" y="66"/>
                  </a:lnTo>
                  <a:lnTo>
                    <a:pt x="0" y="74"/>
                  </a:lnTo>
                  <a:lnTo>
                    <a:pt x="0" y="83"/>
                  </a:lnTo>
                  <a:lnTo>
                    <a:pt x="0" y="91"/>
                  </a:lnTo>
                  <a:lnTo>
                    <a:pt x="0" y="99"/>
                  </a:lnTo>
                  <a:lnTo>
                    <a:pt x="0" y="112"/>
                  </a:lnTo>
                  <a:lnTo>
                    <a:pt x="2" y="126"/>
                  </a:lnTo>
                  <a:lnTo>
                    <a:pt x="3" y="137"/>
                  </a:lnTo>
                  <a:lnTo>
                    <a:pt x="5" y="151"/>
                  </a:lnTo>
                  <a:lnTo>
                    <a:pt x="7" y="162"/>
                  </a:lnTo>
                  <a:lnTo>
                    <a:pt x="10" y="175"/>
                  </a:lnTo>
                  <a:lnTo>
                    <a:pt x="15" y="187"/>
                  </a:lnTo>
                  <a:lnTo>
                    <a:pt x="20" y="199"/>
                  </a:lnTo>
                  <a:lnTo>
                    <a:pt x="25" y="199"/>
                  </a:lnTo>
                  <a:lnTo>
                    <a:pt x="20" y="187"/>
                  </a:lnTo>
                  <a:lnTo>
                    <a:pt x="17" y="175"/>
                  </a:lnTo>
                  <a:lnTo>
                    <a:pt x="12" y="162"/>
                  </a:lnTo>
                  <a:lnTo>
                    <a:pt x="10" y="151"/>
                  </a:lnTo>
                  <a:lnTo>
                    <a:pt x="7" y="137"/>
                  </a:lnTo>
                  <a:lnTo>
                    <a:pt x="5" y="126"/>
                  </a:lnTo>
                  <a:lnTo>
                    <a:pt x="5" y="112"/>
                  </a:lnTo>
                  <a:lnTo>
                    <a:pt x="5" y="99"/>
                  </a:lnTo>
                  <a:lnTo>
                    <a:pt x="5" y="91"/>
                  </a:lnTo>
                  <a:lnTo>
                    <a:pt x="5" y="81"/>
                  </a:lnTo>
                  <a:lnTo>
                    <a:pt x="5" y="73"/>
                  </a:lnTo>
                  <a:lnTo>
                    <a:pt x="7" y="64"/>
                  </a:lnTo>
                  <a:lnTo>
                    <a:pt x="8" y="56"/>
                  </a:lnTo>
                  <a:lnTo>
                    <a:pt x="10" y="48"/>
                  </a:lnTo>
                  <a:lnTo>
                    <a:pt x="12" y="40"/>
                  </a:lnTo>
                  <a:lnTo>
                    <a:pt x="13" y="31"/>
                  </a:lnTo>
                  <a:lnTo>
                    <a:pt x="8" y="35"/>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32" name="Freeform 172">
              <a:extLst>
                <a:ext uri="{FF2B5EF4-FFF2-40B4-BE49-F238E27FC236}">
                  <a16:creationId xmlns:a16="http://schemas.microsoft.com/office/drawing/2014/main" id="{ECB5F197-6CA8-2D3A-2CB2-A3E292BA7F74}"/>
                </a:ext>
              </a:extLst>
            </p:cNvPr>
            <p:cNvSpPr>
              <a:spLocks noEditPoints="1"/>
            </p:cNvSpPr>
            <p:nvPr/>
          </p:nvSpPr>
          <p:spPr bwMode="auto">
            <a:xfrm>
              <a:off x="1575" y="1514"/>
              <a:ext cx="521" cy="199"/>
            </a:xfrm>
            <a:custGeom>
              <a:avLst/>
              <a:gdLst>
                <a:gd name="T0" fmla="*/ 521 w 521"/>
                <a:gd name="T1" fmla="*/ 86 h 199"/>
                <a:gd name="T2" fmla="*/ 520 w 521"/>
                <a:gd name="T3" fmla="*/ 59 h 199"/>
                <a:gd name="T4" fmla="*/ 515 w 521"/>
                <a:gd name="T5" fmla="*/ 35 h 199"/>
                <a:gd name="T6" fmla="*/ 507 w 521"/>
                <a:gd name="T7" fmla="*/ 11 h 199"/>
                <a:gd name="T8" fmla="*/ 497 w 521"/>
                <a:gd name="T9" fmla="*/ 0 h 199"/>
                <a:gd name="T10" fmla="*/ 507 w 521"/>
                <a:gd name="T11" fmla="*/ 23 h 199"/>
                <a:gd name="T12" fmla="*/ 511 w 521"/>
                <a:gd name="T13" fmla="*/ 48 h 199"/>
                <a:gd name="T14" fmla="*/ 516 w 521"/>
                <a:gd name="T15" fmla="*/ 73 h 199"/>
                <a:gd name="T16" fmla="*/ 518 w 521"/>
                <a:gd name="T17" fmla="*/ 99 h 199"/>
                <a:gd name="T18" fmla="*/ 516 w 521"/>
                <a:gd name="T19" fmla="*/ 114 h 199"/>
                <a:gd name="T20" fmla="*/ 516 w 521"/>
                <a:gd name="T21" fmla="*/ 129 h 199"/>
                <a:gd name="T22" fmla="*/ 513 w 521"/>
                <a:gd name="T23" fmla="*/ 144 h 199"/>
                <a:gd name="T24" fmla="*/ 510 w 521"/>
                <a:gd name="T25" fmla="*/ 159 h 199"/>
                <a:gd name="T26" fmla="*/ 518 w 521"/>
                <a:gd name="T27" fmla="*/ 149 h 199"/>
                <a:gd name="T28" fmla="*/ 520 w 521"/>
                <a:gd name="T29" fmla="*/ 136 h 199"/>
                <a:gd name="T30" fmla="*/ 521 w 521"/>
                <a:gd name="T31" fmla="*/ 121 h 199"/>
                <a:gd name="T32" fmla="*/ 521 w 521"/>
                <a:gd name="T33" fmla="*/ 106 h 199"/>
                <a:gd name="T34" fmla="*/ 8 w 521"/>
                <a:gd name="T35" fmla="*/ 33 h 199"/>
                <a:gd name="T36" fmla="*/ 5 w 521"/>
                <a:gd name="T37" fmla="*/ 50 h 199"/>
                <a:gd name="T38" fmla="*/ 3 w 521"/>
                <a:gd name="T39" fmla="*/ 66 h 199"/>
                <a:gd name="T40" fmla="*/ 1 w 521"/>
                <a:gd name="T41" fmla="*/ 83 h 199"/>
                <a:gd name="T42" fmla="*/ 0 w 521"/>
                <a:gd name="T43" fmla="*/ 99 h 199"/>
                <a:gd name="T44" fmla="*/ 1 w 521"/>
                <a:gd name="T45" fmla="*/ 126 h 199"/>
                <a:gd name="T46" fmla="*/ 5 w 521"/>
                <a:gd name="T47" fmla="*/ 151 h 199"/>
                <a:gd name="T48" fmla="*/ 11 w 521"/>
                <a:gd name="T49" fmla="*/ 175 h 199"/>
                <a:gd name="T50" fmla="*/ 20 w 521"/>
                <a:gd name="T51" fmla="*/ 199 h 199"/>
                <a:gd name="T52" fmla="*/ 20 w 521"/>
                <a:gd name="T53" fmla="*/ 187 h 199"/>
                <a:gd name="T54" fmla="*/ 13 w 521"/>
                <a:gd name="T55" fmla="*/ 162 h 199"/>
                <a:gd name="T56" fmla="*/ 8 w 521"/>
                <a:gd name="T57" fmla="*/ 137 h 199"/>
                <a:gd name="T58" fmla="*/ 5 w 521"/>
                <a:gd name="T59" fmla="*/ 112 h 199"/>
                <a:gd name="T60" fmla="*/ 5 w 521"/>
                <a:gd name="T61" fmla="*/ 91 h 199"/>
                <a:gd name="T62" fmla="*/ 6 w 521"/>
                <a:gd name="T63" fmla="*/ 73 h 199"/>
                <a:gd name="T64" fmla="*/ 8 w 521"/>
                <a:gd name="T65" fmla="*/ 54 h 199"/>
                <a:gd name="T66" fmla="*/ 11 w 521"/>
                <a:gd name="T67" fmla="*/ 38 h 199"/>
                <a:gd name="T68" fmla="*/ 8 w 521"/>
                <a:gd name="T69" fmla="*/ 3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1" h="199">
                  <a:moveTo>
                    <a:pt x="521" y="99"/>
                  </a:moveTo>
                  <a:lnTo>
                    <a:pt x="521" y="86"/>
                  </a:lnTo>
                  <a:lnTo>
                    <a:pt x="521" y="73"/>
                  </a:lnTo>
                  <a:lnTo>
                    <a:pt x="520" y="59"/>
                  </a:lnTo>
                  <a:lnTo>
                    <a:pt x="516" y="48"/>
                  </a:lnTo>
                  <a:lnTo>
                    <a:pt x="515" y="35"/>
                  </a:lnTo>
                  <a:lnTo>
                    <a:pt x="511" y="23"/>
                  </a:lnTo>
                  <a:lnTo>
                    <a:pt x="507" y="11"/>
                  </a:lnTo>
                  <a:lnTo>
                    <a:pt x="503" y="0"/>
                  </a:lnTo>
                  <a:lnTo>
                    <a:pt x="497" y="0"/>
                  </a:lnTo>
                  <a:lnTo>
                    <a:pt x="502" y="11"/>
                  </a:lnTo>
                  <a:lnTo>
                    <a:pt x="507" y="23"/>
                  </a:lnTo>
                  <a:lnTo>
                    <a:pt x="510" y="35"/>
                  </a:lnTo>
                  <a:lnTo>
                    <a:pt x="511" y="48"/>
                  </a:lnTo>
                  <a:lnTo>
                    <a:pt x="515" y="59"/>
                  </a:lnTo>
                  <a:lnTo>
                    <a:pt x="516" y="73"/>
                  </a:lnTo>
                  <a:lnTo>
                    <a:pt x="516" y="86"/>
                  </a:lnTo>
                  <a:lnTo>
                    <a:pt x="518" y="99"/>
                  </a:lnTo>
                  <a:lnTo>
                    <a:pt x="516" y="106"/>
                  </a:lnTo>
                  <a:lnTo>
                    <a:pt x="516" y="114"/>
                  </a:lnTo>
                  <a:lnTo>
                    <a:pt x="516" y="122"/>
                  </a:lnTo>
                  <a:lnTo>
                    <a:pt x="516" y="129"/>
                  </a:lnTo>
                  <a:lnTo>
                    <a:pt x="515" y="137"/>
                  </a:lnTo>
                  <a:lnTo>
                    <a:pt x="513" y="144"/>
                  </a:lnTo>
                  <a:lnTo>
                    <a:pt x="511" y="151"/>
                  </a:lnTo>
                  <a:lnTo>
                    <a:pt x="510" y="159"/>
                  </a:lnTo>
                  <a:lnTo>
                    <a:pt x="516" y="155"/>
                  </a:lnTo>
                  <a:lnTo>
                    <a:pt x="518" y="149"/>
                  </a:lnTo>
                  <a:lnTo>
                    <a:pt x="518" y="142"/>
                  </a:lnTo>
                  <a:lnTo>
                    <a:pt x="520" y="136"/>
                  </a:lnTo>
                  <a:lnTo>
                    <a:pt x="520" y="127"/>
                  </a:lnTo>
                  <a:lnTo>
                    <a:pt x="521" y="121"/>
                  </a:lnTo>
                  <a:lnTo>
                    <a:pt x="521" y="114"/>
                  </a:lnTo>
                  <a:lnTo>
                    <a:pt x="521" y="106"/>
                  </a:lnTo>
                  <a:lnTo>
                    <a:pt x="521" y="99"/>
                  </a:lnTo>
                  <a:close/>
                  <a:moveTo>
                    <a:pt x="8" y="33"/>
                  </a:moveTo>
                  <a:lnTo>
                    <a:pt x="6" y="41"/>
                  </a:lnTo>
                  <a:lnTo>
                    <a:pt x="5" y="50"/>
                  </a:lnTo>
                  <a:lnTo>
                    <a:pt x="3" y="58"/>
                  </a:lnTo>
                  <a:lnTo>
                    <a:pt x="3" y="66"/>
                  </a:lnTo>
                  <a:lnTo>
                    <a:pt x="1" y="74"/>
                  </a:lnTo>
                  <a:lnTo>
                    <a:pt x="1" y="83"/>
                  </a:lnTo>
                  <a:lnTo>
                    <a:pt x="0" y="91"/>
                  </a:lnTo>
                  <a:lnTo>
                    <a:pt x="0" y="99"/>
                  </a:lnTo>
                  <a:lnTo>
                    <a:pt x="0" y="112"/>
                  </a:lnTo>
                  <a:lnTo>
                    <a:pt x="1" y="126"/>
                  </a:lnTo>
                  <a:lnTo>
                    <a:pt x="3" y="137"/>
                  </a:lnTo>
                  <a:lnTo>
                    <a:pt x="5" y="151"/>
                  </a:lnTo>
                  <a:lnTo>
                    <a:pt x="8" y="162"/>
                  </a:lnTo>
                  <a:lnTo>
                    <a:pt x="11" y="175"/>
                  </a:lnTo>
                  <a:lnTo>
                    <a:pt x="15" y="187"/>
                  </a:lnTo>
                  <a:lnTo>
                    <a:pt x="20" y="199"/>
                  </a:lnTo>
                  <a:lnTo>
                    <a:pt x="25" y="199"/>
                  </a:lnTo>
                  <a:lnTo>
                    <a:pt x="20" y="187"/>
                  </a:lnTo>
                  <a:lnTo>
                    <a:pt x="16" y="175"/>
                  </a:lnTo>
                  <a:lnTo>
                    <a:pt x="13" y="162"/>
                  </a:lnTo>
                  <a:lnTo>
                    <a:pt x="10" y="151"/>
                  </a:lnTo>
                  <a:lnTo>
                    <a:pt x="8" y="137"/>
                  </a:lnTo>
                  <a:lnTo>
                    <a:pt x="6" y="126"/>
                  </a:lnTo>
                  <a:lnTo>
                    <a:pt x="5" y="112"/>
                  </a:lnTo>
                  <a:lnTo>
                    <a:pt x="5" y="99"/>
                  </a:lnTo>
                  <a:lnTo>
                    <a:pt x="5" y="91"/>
                  </a:lnTo>
                  <a:lnTo>
                    <a:pt x="5" y="81"/>
                  </a:lnTo>
                  <a:lnTo>
                    <a:pt x="6" y="73"/>
                  </a:lnTo>
                  <a:lnTo>
                    <a:pt x="8" y="64"/>
                  </a:lnTo>
                  <a:lnTo>
                    <a:pt x="8" y="54"/>
                  </a:lnTo>
                  <a:lnTo>
                    <a:pt x="10" y="46"/>
                  </a:lnTo>
                  <a:lnTo>
                    <a:pt x="11" y="38"/>
                  </a:lnTo>
                  <a:lnTo>
                    <a:pt x="15" y="30"/>
                  </a:lnTo>
                  <a:lnTo>
                    <a:pt x="8" y="33"/>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33" name="Freeform 173">
              <a:extLst>
                <a:ext uri="{FF2B5EF4-FFF2-40B4-BE49-F238E27FC236}">
                  <a16:creationId xmlns:a16="http://schemas.microsoft.com/office/drawing/2014/main" id="{A0238A0B-3297-7217-7829-DCB80A7C626D}"/>
                </a:ext>
              </a:extLst>
            </p:cNvPr>
            <p:cNvSpPr>
              <a:spLocks noEditPoints="1"/>
            </p:cNvSpPr>
            <p:nvPr/>
          </p:nvSpPr>
          <p:spPr bwMode="auto">
            <a:xfrm>
              <a:off x="1578" y="1514"/>
              <a:ext cx="517" cy="199"/>
            </a:xfrm>
            <a:custGeom>
              <a:avLst/>
              <a:gdLst>
                <a:gd name="T0" fmla="*/ 517 w 517"/>
                <a:gd name="T1" fmla="*/ 86 h 199"/>
                <a:gd name="T2" fmla="*/ 513 w 517"/>
                <a:gd name="T3" fmla="*/ 59 h 199"/>
                <a:gd name="T4" fmla="*/ 508 w 517"/>
                <a:gd name="T5" fmla="*/ 35 h 199"/>
                <a:gd name="T6" fmla="*/ 502 w 517"/>
                <a:gd name="T7" fmla="*/ 11 h 199"/>
                <a:gd name="T8" fmla="*/ 492 w 517"/>
                <a:gd name="T9" fmla="*/ 0 h 199"/>
                <a:gd name="T10" fmla="*/ 500 w 517"/>
                <a:gd name="T11" fmla="*/ 23 h 199"/>
                <a:gd name="T12" fmla="*/ 507 w 517"/>
                <a:gd name="T13" fmla="*/ 48 h 199"/>
                <a:gd name="T14" fmla="*/ 510 w 517"/>
                <a:gd name="T15" fmla="*/ 73 h 199"/>
                <a:gd name="T16" fmla="*/ 512 w 517"/>
                <a:gd name="T17" fmla="*/ 99 h 199"/>
                <a:gd name="T18" fmla="*/ 512 w 517"/>
                <a:gd name="T19" fmla="*/ 114 h 199"/>
                <a:gd name="T20" fmla="*/ 510 w 517"/>
                <a:gd name="T21" fmla="*/ 129 h 199"/>
                <a:gd name="T22" fmla="*/ 508 w 517"/>
                <a:gd name="T23" fmla="*/ 146 h 199"/>
                <a:gd name="T24" fmla="*/ 505 w 517"/>
                <a:gd name="T25" fmla="*/ 159 h 199"/>
                <a:gd name="T26" fmla="*/ 512 w 517"/>
                <a:gd name="T27" fmla="*/ 151 h 199"/>
                <a:gd name="T28" fmla="*/ 513 w 517"/>
                <a:gd name="T29" fmla="*/ 136 h 199"/>
                <a:gd name="T30" fmla="*/ 515 w 517"/>
                <a:gd name="T31" fmla="*/ 121 h 199"/>
                <a:gd name="T32" fmla="*/ 517 w 517"/>
                <a:gd name="T33" fmla="*/ 106 h 199"/>
                <a:gd name="T34" fmla="*/ 8 w 517"/>
                <a:gd name="T35" fmla="*/ 31 h 199"/>
                <a:gd name="T36" fmla="*/ 5 w 517"/>
                <a:gd name="T37" fmla="*/ 48 h 199"/>
                <a:gd name="T38" fmla="*/ 2 w 517"/>
                <a:gd name="T39" fmla="*/ 64 h 199"/>
                <a:gd name="T40" fmla="*/ 0 w 517"/>
                <a:gd name="T41" fmla="*/ 81 h 199"/>
                <a:gd name="T42" fmla="*/ 0 w 517"/>
                <a:gd name="T43" fmla="*/ 99 h 199"/>
                <a:gd name="T44" fmla="*/ 0 w 517"/>
                <a:gd name="T45" fmla="*/ 126 h 199"/>
                <a:gd name="T46" fmla="*/ 5 w 517"/>
                <a:gd name="T47" fmla="*/ 151 h 199"/>
                <a:gd name="T48" fmla="*/ 12 w 517"/>
                <a:gd name="T49" fmla="*/ 175 h 199"/>
                <a:gd name="T50" fmla="*/ 20 w 517"/>
                <a:gd name="T51" fmla="*/ 199 h 199"/>
                <a:gd name="T52" fmla="*/ 20 w 517"/>
                <a:gd name="T53" fmla="*/ 187 h 199"/>
                <a:gd name="T54" fmla="*/ 12 w 517"/>
                <a:gd name="T55" fmla="*/ 162 h 199"/>
                <a:gd name="T56" fmla="*/ 7 w 517"/>
                <a:gd name="T57" fmla="*/ 137 h 199"/>
                <a:gd name="T58" fmla="*/ 5 w 517"/>
                <a:gd name="T59" fmla="*/ 112 h 199"/>
                <a:gd name="T60" fmla="*/ 5 w 517"/>
                <a:gd name="T61" fmla="*/ 89 h 199"/>
                <a:gd name="T62" fmla="*/ 5 w 517"/>
                <a:gd name="T63" fmla="*/ 73 h 199"/>
                <a:gd name="T64" fmla="*/ 8 w 517"/>
                <a:gd name="T65" fmla="*/ 54 h 199"/>
                <a:gd name="T66" fmla="*/ 12 w 517"/>
                <a:gd name="T67" fmla="*/ 38 h 199"/>
                <a:gd name="T68" fmla="*/ 8 w 517"/>
                <a:gd name="T69" fmla="*/ 3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7" h="199">
                  <a:moveTo>
                    <a:pt x="517" y="99"/>
                  </a:moveTo>
                  <a:lnTo>
                    <a:pt x="517" y="86"/>
                  </a:lnTo>
                  <a:lnTo>
                    <a:pt x="515" y="73"/>
                  </a:lnTo>
                  <a:lnTo>
                    <a:pt x="513" y="59"/>
                  </a:lnTo>
                  <a:lnTo>
                    <a:pt x="512" y="48"/>
                  </a:lnTo>
                  <a:lnTo>
                    <a:pt x="508" y="35"/>
                  </a:lnTo>
                  <a:lnTo>
                    <a:pt x="505" y="23"/>
                  </a:lnTo>
                  <a:lnTo>
                    <a:pt x="502" y="11"/>
                  </a:lnTo>
                  <a:lnTo>
                    <a:pt x="497" y="0"/>
                  </a:lnTo>
                  <a:lnTo>
                    <a:pt x="492" y="0"/>
                  </a:lnTo>
                  <a:lnTo>
                    <a:pt x="497" y="11"/>
                  </a:lnTo>
                  <a:lnTo>
                    <a:pt x="500" y="23"/>
                  </a:lnTo>
                  <a:lnTo>
                    <a:pt x="504" y="35"/>
                  </a:lnTo>
                  <a:lnTo>
                    <a:pt x="507" y="48"/>
                  </a:lnTo>
                  <a:lnTo>
                    <a:pt x="508" y="59"/>
                  </a:lnTo>
                  <a:lnTo>
                    <a:pt x="510" y="73"/>
                  </a:lnTo>
                  <a:lnTo>
                    <a:pt x="512" y="86"/>
                  </a:lnTo>
                  <a:lnTo>
                    <a:pt x="512" y="99"/>
                  </a:lnTo>
                  <a:lnTo>
                    <a:pt x="512" y="107"/>
                  </a:lnTo>
                  <a:lnTo>
                    <a:pt x="512" y="114"/>
                  </a:lnTo>
                  <a:lnTo>
                    <a:pt x="510" y="122"/>
                  </a:lnTo>
                  <a:lnTo>
                    <a:pt x="510" y="129"/>
                  </a:lnTo>
                  <a:lnTo>
                    <a:pt x="508" y="137"/>
                  </a:lnTo>
                  <a:lnTo>
                    <a:pt x="508" y="146"/>
                  </a:lnTo>
                  <a:lnTo>
                    <a:pt x="507" y="152"/>
                  </a:lnTo>
                  <a:lnTo>
                    <a:pt x="505" y="159"/>
                  </a:lnTo>
                  <a:lnTo>
                    <a:pt x="510" y="157"/>
                  </a:lnTo>
                  <a:lnTo>
                    <a:pt x="512" y="151"/>
                  </a:lnTo>
                  <a:lnTo>
                    <a:pt x="513" y="142"/>
                  </a:lnTo>
                  <a:lnTo>
                    <a:pt x="513" y="136"/>
                  </a:lnTo>
                  <a:lnTo>
                    <a:pt x="515" y="129"/>
                  </a:lnTo>
                  <a:lnTo>
                    <a:pt x="515" y="121"/>
                  </a:lnTo>
                  <a:lnTo>
                    <a:pt x="517" y="114"/>
                  </a:lnTo>
                  <a:lnTo>
                    <a:pt x="517" y="106"/>
                  </a:lnTo>
                  <a:lnTo>
                    <a:pt x="517" y="99"/>
                  </a:lnTo>
                  <a:close/>
                  <a:moveTo>
                    <a:pt x="8" y="31"/>
                  </a:moveTo>
                  <a:lnTo>
                    <a:pt x="7" y="40"/>
                  </a:lnTo>
                  <a:lnTo>
                    <a:pt x="5" y="48"/>
                  </a:lnTo>
                  <a:lnTo>
                    <a:pt x="3" y="56"/>
                  </a:lnTo>
                  <a:lnTo>
                    <a:pt x="2" y="64"/>
                  </a:lnTo>
                  <a:lnTo>
                    <a:pt x="0" y="73"/>
                  </a:lnTo>
                  <a:lnTo>
                    <a:pt x="0" y="81"/>
                  </a:lnTo>
                  <a:lnTo>
                    <a:pt x="0" y="91"/>
                  </a:lnTo>
                  <a:lnTo>
                    <a:pt x="0" y="99"/>
                  </a:lnTo>
                  <a:lnTo>
                    <a:pt x="0" y="112"/>
                  </a:lnTo>
                  <a:lnTo>
                    <a:pt x="0" y="126"/>
                  </a:lnTo>
                  <a:lnTo>
                    <a:pt x="2" y="137"/>
                  </a:lnTo>
                  <a:lnTo>
                    <a:pt x="5" y="151"/>
                  </a:lnTo>
                  <a:lnTo>
                    <a:pt x="7" y="162"/>
                  </a:lnTo>
                  <a:lnTo>
                    <a:pt x="12" y="175"/>
                  </a:lnTo>
                  <a:lnTo>
                    <a:pt x="15" y="187"/>
                  </a:lnTo>
                  <a:lnTo>
                    <a:pt x="20" y="199"/>
                  </a:lnTo>
                  <a:lnTo>
                    <a:pt x="25" y="199"/>
                  </a:lnTo>
                  <a:lnTo>
                    <a:pt x="20" y="187"/>
                  </a:lnTo>
                  <a:lnTo>
                    <a:pt x="17" y="175"/>
                  </a:lnTo>
                  <a:lnTo>
                    <a:pt x="12" y="162"/>
                  </a:lnTo>
                  <a:lnTo>
                    <a:pt x="10" y="151"/>
                  </a:lnTo>
                  <a:lnTo>
                    <a:pt x="7" y="137"/>
                  </a:lnTo>
                  <a:lnTo>
                    <a:pt x="5" y="126"/>
                  </a:lnTo>
                  <a:lnTo>
                    <a:pt x="5" y="112"/>
                  </a:lnTo>
                  <a:lnTo>
                    <a:pt x="5" y="99"/>
                  </a:lnTo>
                  <a:lnTo>
                    <a:pt x="5" y="89"/>
                  </a:lnTo>
                  <a:lnTo>
                    <a:pt x="5" y="81"/>
                  </a:lnTo>
                  <a:lnTo>
                    <a:pt x="5" y="73"/>
                  </a:lnTo>
                  <a:lnTo>
                    <a:pt x="7" y="63"/>
                  </a:lnTo>
                  <a:lnTo>
                    <a:pt x="8" y="54"/>
                  </a:lnTo>
                  <a:lnTo>
                    <a:pt x="10" y="46"/>
                  </a:lnTo>
                  <a:lnTo>
                    <a:pt x="12" y="38"/>
                  </a:lnTo>
                  <a:lnTo>
                    <a:pt x="15" y="30"/>
                  </a:lnTo>
                  <a:lnTo>
                    <a:pt x="8" y="31"/>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34" name="Freeform 174">
              <a:extLst>
                <a:ext uri="{FF2B5EF4-FFF2-40B4-BE49-F238E27FC236}">
                  <a16:creationId xmlns:a16="http://schemas.microsoft.com/office/drawing/2014/main" id="{6AEBF97F-30C4-801A-FF62-D37AFD845CFB}"/>
                </a:ext>
              </a:extLst>
            </p:cNvPr>
            <p:cNvSpPr>
              <a:spLocks noEditPoints="1"/>
            </p:cNvSpPr>
            <p:nvPr/>
          </p:nvSpPr>
          <p:spPr bwMode="auto">
            <a:xfrm>
              <a:off x="1580" y="1514"/>
              <a:ext cx="513" cy="199"/>
            </a:xfrm>
            <a:custGeom>
              <a:avLst/>
              <a:gdLst>
                <a:gd name="T0" fmla="*/ 511 w 513"/>
                <a:gd name="T1" fmla="*/ 86 h 199"/>
                <a:gd name="T2" fmla="*/ 510 w 513"/>
                <a:gd name="T3" fmla="*/ 59 h 199"/>
                <a:gd name="T4" fmla="*/ 505 w 513"/>
                <a:gd name="T5" fmla="*/ 35 h 199"/>
                <a:gd name="T6" fmla="*/ 497 w 513"/>
                <a:gd name="T7" fmla="*/ 11 h 199"/>
                <a:gd name="T8" fmla="*/ 487 w 513"/>
                <a:gd name="T9" fmla="*/ 0 h 199"/>
                <a:gd name="T10" fmla="*/ 497 w 513"/>
                <a:gd name="T11" fmla="*/ 23 h 199"/>
                <a:gd name="T12" fmla="*/ 502 w 513"/>
                <a:gd name="T13" fmla="*/ 48 h 199"/>
                <a:gd name="T14" fmla="*/ 506 w 513"/>
                <a:gd name="T15" fmla="*/ 73 h 199"/>
                <a:gd name="T16" fmla="*/ 508 w 513"/>
                <a:gd name="T17" fmla="*/ 99 h 199"/>
                <a:gd name="T18" fmla="*/ 506 w 513"/>
                <a:gd name="T19" fmla="*/ 114 h 199"/>
                <a:gd name="T20" fmla="*/ 505 w 513"/>
                <a:gd name="T21" fmla="*/ 131 h 199"/>
                <a:gd name="T22" fmla="*/ 503 w 513"/>
                <a:gd name="T23" fmla="*/ 146 h 199"/>
                <a:gd name="T24" fmla="*/ 500 w 513"/>
                <a:gd name="T25" fmla="*/ 160 h 199"/>
                <a:gd name="T26" fmla="*/ 506 w 513"/>
                <a:gd name="T27" fmla="*/ 151 h 199"/>
                <a:gd name="T28" fmla="*/ 510 w 513"/>
                <a:gd name="T29" fmla="*/ 137 h 199"/>
                <a:gd name="T30" fmla="*/ 511 w 513"/>
                <a:gd name="T31" fmla="*/ 122 h 199"/>
                <a:gd name="T32" fmla="*/ 511 w 513"/>
                <a:gd name="T33" fmla="*/ 106 h 199"/>
                <a:gd name="T34" fmla="*/ 10 w 513"/>
                <a:gd name="T35" fmla="*/ 30 h 199"/>
                <a:gd name="T36" fmla="*/ 5 w 513"/>
                <a:gd name="T37" fmla="*/ 46 h 199"/>
                <a:gd name="T38" fmla="*/ 3 w 513"/>
                <a:gd name="T39" fmla="*/ 64 h 199"/>
                <a:gd name="T40" fmla="*/ 0 w 513"/>
                <a:gd name="T41" fmla="*/ 81 h 199"/>
                <a:gd name="T42" fmla="*/ 0 w 513"/>
                <a:gd name="T43" fmla="*/ 99 h 199"/>
                <a:gd name="T44" fmla="*/ 1 w 513"/>
                <a:gd name="T45" fmla="*/ 126 h 199"/>
                <a:gd name="T46" fmla="*/ 5 w 513"/>
                <a:gd name="T47" fmla="*/ 151 h 199"/>
                <a:gd name="T48" fmla="*/ 11 w 513"/>
                <a:gd name="T49" fmla="*/ 175 h 199"/>
                <a:gd name="T50" fmla="*/ 20 w 513"/>
                <a:gd name="T51" fmla="*/ 199 h 199"/>
                <a:gd name="T52" fmla="*/ 21 w 513"/>
                <a:gd name="T53" fmla="*/ 187 h 199"/>
                <a:gd name="T54" fmla="*/ 13 w 513"/>
                <a:gd name="T55" fmla="*/ 162 h 199"/>
                <a:gd name="T56" fmla="*/ 8 w 513"/>
                <a:gd name="T57" fmla="*/ 137 h 199"/>
                <a:gd name="T58" fmla="*/ 5 w 513"/>
                <a:gd name="T59" fmla="*/ 112 h 199"/>
                <a:gd name="T60" fmla="*/ 5 w 513"/>
                <a:gd name="T61" fmla="*/ 89 h 199"/>
                <a:gd name="T62" fmla="*/ 6 w 513"/>
                <a:gd name="T63" fmla="*/ 71 h 199"/>
                <a:gd name="T64" fmla="*/ 10 w 513"/>
                <a:gd name="T65" fmla="*/ 53 h 199"/>
                <a:gd name="T66" fmla="*/ 13 w 513"/>
                <a:gd name="T67" fmla="*/ 36 h 199"/>
                <a:gd name="T68" fmla="*/ 10 w 513"/>
                <a:gd name="T69" fmla="*/ 3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3" h="199">
                  <a:moveTo>
                    <a:pt x="513" y="99"/>
                  </a:moveTo>
                  <a:lnTo>
                    <a:pt x="511" y="86"/>
                  </a:lnTo>
                  <a:lnTo>
                    <a:pt x="511" y="73"/>
                  </a:lnTo>
                  <a:lnTo>
                    <a:pt x="510" y="59"/>
                  </a:lnTo>
                  <a:lnTo>
                    <a:pt x="506" y="48"/>
                  </a:lnTo>
                  <a:lnTo>
                    <a:pt x="505" y="35"/>
                  </a:lnTo>
                  <a:lnTo>
                    <a:pt x="502" y="23"/>
                  </a:lnTo>
                  <a:lnTo>
                    <a:pt x="497" y="11"/>
                  </a:lnTo>
                  <a:lnTo>
                    <a:pt x="492" y="0"/>
                  </a:lnTo>
                  <a:lnTo>
                    <a:pt x="487" y="0"/>
                  </a:lnTo>
                  <a:lnTo>
                    <a:pt x="492" y="11"/>
                  </a:lnTo>
                  <a:lnTo>
                    <a:pt x="497" y="23"/>
                  </a:lnTo>
                  <a:lnTo>
                    <a:pt x="500" y="35"/>
                  </a:lnTo>
                  <a:lnTo>
                    <a:pt x="502" y="48"/>
                  </a:lnTo>
                  <a:lnTo>
                    <a:pt x="505" y="59"/>
                  </a:lnTo>
                  <a:lnTo>
                    <a:pt x="506" y="73"/>
                  </a:lnTo>
                  <a:lnTo>
                    <a:pt x="506" y="86"/>
                  </a:lnTo>
                  <a:lnTo>
                    <a:pt x="508" y="99"/>
                  </a:lnTo>
                  <a:lnTo>
                    <a:pt x="508" y="107"/>
                  </a:lnTo>
                  <a:lnTo>
                    <a:pt x="506" y="114"/>
                  </a:lnTo>
                  <a:lnTo>
                    <a:pt x="506" y="122"/>
                  </a:lnTo>
                  <a:lnTo>
                    <a:pt x="505" y="131"/>
                  </a:lnTo>
                  <a:lnTo>
                    <a:pt x="505" y="137"/>
                  </a:lnTo>
                  <a:lnTo>
                    <a:pt x="503" y="146"/>
                  </a:lnTo>
                  <a:lnTo>
                    <a:pt x="502" y="154"/>
                  </a:lnTo>
                  <a:lnTo>
                    <a:pt x="500" y="160"/>
                  </a:lnTo>
                  <a:lnTo>
                    <a:pt x="505" y="159"/>
                  </a:lnTo>
                  <a:lnTo>
                    <a:pt x="506" y="151"/>
                  </a:lnTo>
                  <a:lnTo>
                    <a:pt x="508" y="144"/>
                  </a:lnTo>
                  <a:lnTo>
                    <a:pt x="510" y="137"/>
                  </a:lnTo>
                  <a:lnTo>
                    <a:pt x="511" y="129"/>
                  </a:lnTo>
                  <a:lnTo>
                    <a:pt x="511" y="122"/>
                  </a:lnTo>
                  <a:lnTo>
                    <a:pt x="511" y="114"/>
                  </a:lnTo>
                  <a:lnTo>
                    <a:pt x="511" y="106"/>
                  </a:lnTo>
                  <a:lnTo>
                    <a:pt x="513" y="99"/>
                  </a:lnTo>
                  <a:close/>
                  <a:moveTo>
                    <a:pt x="10" y="30"/>
                  </a:moveTo>
                  <a:lnTo>
                    <a:pt x="6" y="38"/>
                  </a:lnTo>
                  <a:lnTo>
                    <a:pt x="5" y="46"/>
                  </a:lnTo>
                  <a:lnTo>
                    <a:pt x="3" y="54"/>
                  </a:lnTo>
                  <a:lnTo>
                    <a:pt x="3" y="64"/>
                  </a:lnTo>
                  <a:lnTo>
                    <a:pt x="1" y="73"/>
                  </a:lnTo>
                  <a:lnTo>
                    <a:pt x="0" y="81"/>
                  </a:lnTo>
                  <a:lnTo>
                    <a:pt x="0" y="91"/>
                  </a:lnTo>
                  <a:lnTo>
                    <a:pt x="0" y="99"/>
                  </a:lnTo>
                  <a:lnTo>
                    <a:pt x="0" y="112"/>
                  </a:lnTo>
                  <a:lnTo>
                    <a:pt x="1" y="126"/>
                  </a:lnTo>
                  <a:lnTo>
                    <a:pt x="3" y="137"/>
                  </a:lnTo>
                  <a:lnTo>
                    <a:pt x="5" y="151"/>
                  </a:lnTo>
                  <a:lnTo>
                    <a:pt x="8" y="162"/>
                  </a:lnTo>
                  <a:lnTo>
                    <a:pt x="11" y="175"/>
                  </a:lnTo>
                  <a:lnTo>
                    <a:pt x="15" y="187"/>
                  </a:lnTo>
                  <a:lnTo>
                    <a:pt x="20" y="199"/>
                  </a:lnTo>
                  <a:lnTo>
                    <a:pt x="25" y="199"/>
                  </a:lnTo>
                  <a:lnTo>
                    <a:pt x="21" y="187"/>
                  </a:lnTo>
                  <a:lnTo>
                    <a:pt x="16" y="175"/>
                  </a:lnTo>
                  <a:lnTo>
                    <a:pt x="13" y="162"/>
                  </a:lnTo>
                  <a:lnTo>
                    <a:pt x="10" y="151"/>
                  </a:lnTo>
                  <a:lnTo>
                    <a:pt x="8" y="137"/>
                  </a:lnTo>
                  <a:lnTo>
                    <a:pt x="6" y="126"/>
                  </a:lnTo>
                  <a:lnTo>
                    <a:pt x="5" y="112"/>
                  </a:lnTo>
                  <a:lnTo>
                    <a:pt x="5" y="99"/>
                  </a:lnTo>
                  <a:lnTo>
                    <a:pt x="5" y="89"/>
                  </a:lnTo>
                  <a:lnTo>
                    <a:pt x="5" y="81"/>
                  </a:lnTo>
                  <a:lnTo>
                    <a:pt x="6" y="71"/>
                  </a:lnTo>
                  <a:lnTo>
                    <a:pt x="8" y="63"/>
                  </a:lnTo>
                  <a:lnTo>
                    <a:pt x="10" y="53"/>
                  </a:lnTo>
                  <a:lnTo>
                    <a:pt x="11" y="45"/>
                  </a:lnTo>
                  <a:lnTo>
                    <a:pt x="13" y="36"/>
                  </a:lnTo>
                  <a:lnTo>
                    <a:pt x="15" y="28"/>
                  </a:lnTo>
                  <a:lnTo>
                    <a:pt x="10" y="3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35" name="Freeform 175">
              <a:extLst>
                <a:ext uri="{FF2B5EF4-FFF2-40B4-BE49-F238E27FC236}">
                  <a16:creationId xmlns:a16="http://schemas.microsoft.com/office/drawing/2014/main" id="{4535E856-1C1D-EB2B-842E-16A6C18248D2}"/>
                </a:ext>
              </a:extLst>
            </p:cNvPr>
            <p:cNvSpPr>
              <a:spLocks noEditPoints="1"/>
            </p:cNvSpPr>
            <p:nvPr/>
          </p:nvSpPr>
          <p:spPr bwMode="auto">
            <a:xfrm>
              <a:off x="1583" y="1514"/>
              <a:ext cx="507" cy="199"/>
            </a:xfrm>
            <a:custGeom>
              <a:avLst/>
              <a:gdLst>
                <a:gd name="T0" fmla="*/ 507 w 507"/>
                <a:gd name="T1" fmla="*/ 86 h 199"/>
                <a:gd name="T2" fmla="*/ 503 w 507"/>
                <a:gd name="T3" fmla="*/ 59 h 199"/>
                <a:gd name="T4" fmla="*/ 499 w 507"/>
                <a:gd name="T5" fmla="*/ 35 h 199"/>
                <a:gd name="T6" fmla="*/ 492 w 507"/>
                <a:gd name="T7" fmla="*/ 11 h 199"/>
                <a:gd name="T8" fmla="*/ 482 w 507"/>
                <a:gd name="T9" fmla="*/ 0 h 199"/>
                <a:gd name="T10" fmla="*/ 490 w 507"/>
                <a:gd name="T11" fmla="*/ 23 h 199"/>
                <a:gd name="T12" fmla="*/ 497 w 507"/>
                <a:gd name="T13" fmla="*/ 48 h 199"/>
                <a:gd name="T14" fmla="*/ 500 w 507"/>
                <a:gd name="T15" fmla="*/ 73 h 199"/>
                <a:gd name="T16" fmla="*/ 502 w 507"/>
                <a:gd name="T17" fmla="*/ 99 h 199"/>
                <a:gd name="T18" fmla="*/ 502 w 507"/>
                <a:gd name="T19" fmla="*/ 116 h 199"/>
                <a:gd name="T20" fmla="*/ 500 w 507"/>
                <a:gd name="T21" fmla="*/ 131 h 199"/>
                <a:gd name="T22" fmla="*/ 497 w 507"/>
                <a:gd name="T23" fmla="*/ 147 h 199"/>
                <a:gd name="T24" fmla="*/ 494 w 507"/>
                <a:gd name="T25" fmla="*/ 162 h 199"/>
                <a:gd name="T26" fmla="*/ 502 w 507"/>
                <a:gd name="T27" fmla="*/ 152 h 199"/>
                <a:gd name="T28" fmla="*/ 503 w 507"/>
                <a:gd name="T29" fmla="*/ 137 h 199"/>
                <a:gd name="T30" fmla="*/ 505 w 507"/>
                <a:gd name="T31" fmla="*/ 122 h 199"/>
                <a:gd name="T32" fmla="*/ 507 w 507"/>
                <a:gd name="T33" fmla="*/ 107 h 199"/>
                <a:gd name="T34" fmla="*/ 10 w 507"/>
                <a:gd name="T35" fmla="*/ 30 h 199"/>
                <a:gd name="T36" fmla="*/ 5 w 507"/>
                <a:gd name="T37" fmla="*/ 46 h 199"/>
                <a:gd name="T38" fmla="*/ 2 w 507"/>
                <a:gd name="T39" fmla="*/ 63 h 199"/>
                <a:gd name="T40" fmla="*/ 0 w 507"/>
                <a:gd name="T41" fmla="*/ 81 h 199"/>
                <a:gd name="T42" fmla="*/ 0 w 507"/>
                <a:gd name="T43" fmla="*/ 99 h 199"/>
                <a:gd name="T44" fmla="*/ 0 w 507"/>
                <a:gd name="T45" fmla="*/ 126 h 199"/>
                <a:gd name="T46" fmla="*/ 5 w 507"/>
                <a:gd name="T47" fmla="*/ 151 h 199"/>
                <a:gd name="T48" fmla="*/ 12 w 507"/>
                <a:gd name="T49" fmla="*/ 175 h 199"/>
                <a:gd name="T50" fmla="*/ 20 w 507"/>
                <a:gd name="T51" fmla="*/ 199 h 199"/>
                <a:gd name="T52" fmla="*/ 20 w 507"/>
                <a:gd name="T53" fmla="*/ 187 h 199"/>
                <a:gd name="T54" fmla="*/ 12 w 507"/>
                <a:gd name="T55" fmla="*/ 162 h 199"/>
                <a:gd name="T56" fmla="*/ 7 w 507"/>
                <a:gd name="T57" fmla="*/ 137 h 199"/>
                <a:gd name="T58" fmla="*/ 5 w 507"/>
                <a:gd name="T59" fmla="*/ 112 h 199"/>
                <a:gd name="T60" fmla="*/ 5 w 507"/>
                <a:gd name="T61" fmla="*/ 89 h 199"/>
                <a:gd name="T62" fmla="*/ 5 w 507"/>
                <a:gd name="T63" fmla="*/ 71 h 199"/>
                <a:gd name="T64" fmla="*/ 8 w 507"/>
                <a:gd name="T65" fmla="*/ 53 h 199"/>
                <a:gd name="T66" fmla="*/ 13 w 507"/>
                <a:gd name="T67" fmla="*/ 35 h 199"/>
                <a:gd name="T68" fmla="*/ 10 w 507"/>
                <a:gd name="T69" fmla="*/ 3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7" h="199">
                  <a:moveTo>
                    <a:pt x="507" y="99"/>
                  </a:moveTo>
                  <a:lnTo>
                    <a:pt x="507" y="86"/>
                  </a:lnTo>
                  <a:lnTo>
                    <a:pt x="505" y="73"/>
                  </a:lnTo>
                  <a:lnTo>
                    <a:pt x="503" y="59"/>
                  </a:lnTo>
                  <a:lnTo>
                    <a:pt x="502" y="48"/>
                  </a:lnTo>
                  <a:lnTo>
                    <a:pt x="499" y="35"/>
                  </a:lnTo>
                  <a:lnTo>
                    <a:pt x="495" y="23"/>
                  </a:lnTo>
                  <a:lnTo>
                    <a:pt x="492" y="11"/>
                  </a:lnTo>
                  <a:lnTo>
                    <a:pt x="487" y="0"/>
                  </a:lnTo>
                  <a:lnTo>
                    <a:pt x="482" y="0"/>
                  </a:lnTo>
                  <a:lnTo>
                    <a:pt x="487" y="11"/>
                  </a:lnTo>
                  <a:lnTo>
                    <a:pt x="490" y="23"/>
                  </a:lnTo>
                  <a:lnTo>
                    <a:pt x="494" y="35"/>
                  </a:lnTo>
                  <a:lnTo>
                    <a:pt x="497" y="48"/>
                  </a:lnTo>
                  <a:lnTo>
                    <a:pt x="499" y="59"/>
                  </a:lnTo>
                  <a:lnTo>
                    <a:pt x="500" y="73"/>
                  </a:lnTo>
                  <a:lnTo>
                    <a:pt x="502" y="86"/>
                  </a:lnTo>
                  <a:lnTo>
                    <a:pt x="502" y="99"/>
                  </a:lnTo>
                  <a:lnTo>
                    <a:pt x="502" y="107"/>
                  </a:lnTo>
                  <a:lnTo>
                    <a:pt x="502" y="116"/>
                  </a:lnTo>
                  <a:lnTo>
                    <a:pt x="502" y="122"/>
                  </a:lnTo>
                  <a:lnTo>
                    <a:pt x="500" y="131"/>
                  </a:lnTo>
                  <a:lnTo>
                    <a:pt x="499" y="139"/>
                  </a:lnTo>
                  <a:lnTo>
                    <a:pt x="497" y="147"/>
                  </a:lnTo>
                  <a:lnTo>
                    <a:pt x="495" y="154"/>
                  </a:lnTo>
                  <a:lnTo>
                    <a:pt x="494" y="162"/>
                  </a:lnTo>
                  <a:lnTo>
                    <a:pt x="500" y="159"/>
                  </a:lnTo>
                  <a:lnTo>
                    <a:pt x="502" y="152"/>
                  </a:lnTo>
                  <a:lnTo>
                    <a:pt x="503" y="146"/>
                  </a:lnTo>
                  <a:lnTo>
                    <a:pt x="503" y="137"/>
                  </a:lnTo>
                  <a:lnTo>
                    <a:pt x="505" y="129"/>
                  </a:lnTo>
                  <a:lnTo>
                    <a:pt x="505" y="122"/>
                  </a:lnTo>
                  <a:lnTo>
                    <a:pt x="507" y="114"/>
                  </a:lnTo>
                  <a:lnTo>
                    <a:pt x="507" y="107"/>
                  </a:lnTo>
                  <a:lnTo>
                    <a:pt x="507" y="99"/>
                  </a:lnTo>
                  <a:close/>
                  <a:moveTo>
                    <a:pt x="10" y="30"/>
                  </a:moveTo>
                  <a:lnTo>
                    <a:pt x="7" y="38"/>
                  </a:lnTo>
                  <a:lnTo>
                    <a:pt x="5" y="46"/>
                  </a:lnTo>
                  <a:lnTo>
                    <a:pt x="3" y="54"/>
                  </a:lnTo>
                  <a:lnTo>
                    <a:pt x="2" y="63"/>
                  </a:lnTo>
                  <a:lnTo>
                    <a:pt x="0" y="73"/>
                  </a:lnTo>
                  <a:lnTo>
                    <a:pt x="0" y="81"/>
                  </a:lnTo>
                  <a:lnTo>
                    <a:pt x="0" y="89"/>
                  </a:lnTo>
                  <a:lnTo>
                    <a:pt x="0" y="99"/>
                  </a:lnTo>
                  <a:lnTo>
                    <a:pt x="0" y="112"/>
                  </a:lnTo>
                  <a:lnTo>
                    <a:pt x="0" y="126"/>
                  </a:lnTo>
                  <a:lnTo>
                    <a:pt x="2" y="137"/>
                  </a:lnTo>
                  <a:lnTo>
                    <a:pt x="5" y="151"/>
                  </a:lnTo>
                  <a:lnTo>
                    <a:pt x="7" y="162"/>
                  </a:lnTo>
                  <a:lnTo>
                    <a:pt x="12" y="175"/>
                  </a:lnTo>
                  <a:lnTo>
                    <a:pt x="15" y="187"/>
                  </a:lnTo>
                  <a:lnTo>
                    <a:pt x="20" y="199"/>
                  </a:lnTo>
                  <a:lnTo>
                    <a:pt x="25" y="199"/>
                  </a:lnTo>
                  <a:lnTo>
                    <a:pt x="20" y="187"/>
                  </a:lnTo>
                  <a:lnTo>
                    <a:pt x="17" y="175"/>
                  </a:lnTo>
                  <a:lnTo>
                    <a:pt x="12" y="162"/>
                  </a:lnTo>
                  <a:lnTo>
                    <a:pt x="10" y="151"/>
                  </a:lnTo>
                  <a:lnTo>
                    <a:pt x="7" y="137"/>
                  </a:lnTo>
                  <a:lnTo>
                    <a:pt x="5" y="126"/>
                  </a:lnTo>
                  <a:lnTo>
                    <a:pt x="5" y="112"/>
                  </a:lnTo>
                  <a:lnTo>
                    <a:pt x="3" y="99"/>
                  </a:lnTo>
                  <a:lnTo>
                    <a:pt x="5" y="89"/>
                  </a:lnTo>
                  <a:lnTo>
                    <a:pt x="5" y="81"/>
                  </a:lnTo>
                  <a:lnTo>
                    <a:pt x="5" y="71"/>
                  </a:lnTo>
                  <a:lnTo>
                    <a:pt x="7" y="61"/>
                  </a:lnTo>
                  <a:lnTo>
                    <a:pt x="8" y="53"/>
                  </a:lnTo>
                  <a:lnTo>
                    <a:pt x="10" y="43"/>
                  </a:lnTo>
                  <a:lnTo>
                    <a:pt x="13" y="35"/>
                  </a:lnTo>
                  <a:lnTo>
                    <a:pt x="15" y="26"/>
                  </a:lnTo>
                  <a:lnTo>
                    <a:pt x="10" y="3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36" name="Freeform 176">
              <a:extLst>
                <a:ext uri="{FF2B5EF4-FFF2-40B4-BE49-F238E27FC236}">
                  <a16:creationId xmlns:a16="http://schemas.microsoft.com/office/drawing/2014/main" id="{CC46DF39-F107-F096-8DAD-E63B019603A8}"/>
                </a:ext>
              </a:extLst>
            </p:cNvPr>
            <p:cNvSpPr>
              <a:spLocks noEditPoints="1"/>
            </p:cNvSpPr>
            <p:nvPr/>
          </p:nvSpPr>
          <p:spPr bwMode="auto">
            <a:xfrm>
              <a:off x="1585" y="1514"/>
              <a:ext cx="503" cy="199"/>
            </a:xfrm>
            <a:custGeom>
              <a:avLst/>
              <a:gdLst>
                <a:gd name="T0" fmla="*/ 501 w 503"/>
                <a:gd name="T1" fmla="*/ 86 h 199"/>
                <a:gd name="T2" fmla="*/ 500 w 503"/>
                <a:gd name="T3" fmla="*/ 59 h 199"/>
                <a:gd name="T4" fmla="*/ 495 w 503"/>
                <a:gd name="T5" fmla="*/ 35 h 199"/>
                <a:gd name="T6" fmla="*/ 487 w 503"/>
                <a:gd name="T7" fmla="*/ 11 h 199"/>
                <a:gd name="T8" fmla="*/ 477 w 503"/>
                <a:gd name="T9" fmla="*/ 0 h 199"/>
                <a:gd name="T10" fmla="*/ 487 w 503"/>
                <a:gd name="T11" fmla="*/ 23 h 199"/>
                <a:gd name="T12" fmla="*/ 493 w 503"/>
                <a:gd name="T13" fmla="*/ 48 h 199"/>
                <a:gd name="T14" fmla="*/ 497 w 503"/>
                <a:gd name="T15" fmla="*/ 73 h 199"/>
                <a:gd name="T16" fmla="*/ 498 w 503"/>
                <a:gd name="T17" fmla="*/ 99 h 199"/>
                <a:gd name="T18" fmla="*/ 497 w 503"/>
                <a:gd name="T19" fmla="*/ 116 h 199"/>
                <a:gd name="T20" fmla="*/ 495 w 503"/>
                <a:gd name="T21" fmla="*/ 132 h 199"/>
                <a:gd name="T22" fmla="*/ 493 w 503"/>
                <a:gd name="T23" fmla="*/ 147 h 199"/>
                <a:gd name="T24" fmla="*/ 490 w 503"/>
                <a:gd name="T25" fmla="*/ 164 h 199"/>
                <a:gd name="T26" fmla="*/ 497 w 503"/>
                <a:gd name="T27" fmla="*/ 154 h 199"/>
                <a:gd name="T28" fmla="*/ 500 w 503"/>
                <a:gd name="T29" fmla="*/ 137 h 199"/>
                <a:gd name="T30" fmla="*/ 501 w 503"/>
                <a:gd name="T31" fmla="*/ 122 h 199"/>
                <a:gd name="T32" fmla="*/ 503 w 503"/>
                <a:gd name="T33" fmla="*/ 107 h 199"/>
                <a:gd name="T34" fmla="*/ 10 w 503"/>
                <a:gd name="T35" fmla="*/ 28 h 199"/>
                <a:gd name="T36" fmla="*/ 6 w 503"/>
                <a:gd name="T37" fmla="*/ 45 h 199"/>
                <a:gd name="T38" fmla="*/ 3 w 503"/>
                <a:gd name="T39" fmla="*/ 63 h 199"/>
                <a:gd name="T40" fmla="*/ 0 w 503"/>
                <a:gd name="T41" fmla="*/ 81 h 199"/>
                <a:gd name="T42" fmla="*/ 0 w 503"/>
                <a:gd name="T43" fmla="*/ 99 h 199"/>
                <a:gd name="T44" fmla="*/ 1 w 503"/>
                <a:gd name="T45" fmla="*/ 126 h 199"/>
                <a:gd name="T46" fmla="*/ 5 w 503"/>
                <a:gd name="T47" fmla="*/ 151 h 199"/>
                <a:gd name="T48" fmla="*/ 11 w 503"/>
                <a:gd name="T49" fmla="*/ 175 h 199"/>
                <a:gd name="T50" fmla="*/ 20 w 503"/>
                <a:gd name="T51" fmla="*/ 199 h 199"/>
                <a:gd name="T52" fmla="*/ 21 w 503"/>
                <a:gd name="T53" fmla="*/ 187 h 199"/>
                <a:gd name="T54" fmla="*/ 13 w 503"/>
                <a:gd name="T55" fmla="*/ 162 h 199"/>
                <a:gd name="T56" fmla="*/ 8 w 503"/>
                <a:gd name="T57" fmla="*/ 137 h 199"/>
                <a:gd name="T58" fmla="*/ 5 w 503"/>
                <a:gd name="T59" fmla="*/ 112 h 199"/>
                <a:gd name="T60" fmla="*/ 5 w 503"/>
                <a:gd name="T61" fmla="*/ 89 h 199"/>
                <a:gd name="T62" fmla="*/ 6 w 503"/>
                <a:gd name="T63" fmla="*/ 71 h 199"/>
                <a:gd name="T64" fmla="*/ 10 w 503"/>
                <a:gd name="T65" fmla="*/ 51 h 199"/>
                <a:gd name="T66" fmla="*/ 13 w 503"/>
                <a:gd name="T67" fmla="*/ 33 h 199"/>
                <a:gd name="T68" fmla="*/ 10 w 503"/>
                <a:gd name="T69" fmla="*/ 2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3" h="199">
                  <a:moveTo>
                    <a:pt x="503" y="99"/>
                  </a:moveTo>
                  <a:lnTo>
                    <a:pt x="501" y="86"/>
                  </a:lnTo>
                  <a:lnTo>
                    <a:pt x="501" y="73"/>
                  </a:lnTo>
                  <a:lnTo>
                    <a:pt x="500" y="59"/>
                  </a:lnTo>
                  <a:lnTo>
                    <a:pt x="497" y="48"/>
                  </a:lnTo>
                  <a:lnTo>
                    <a:pt x="495" y="35"/>
                  </a:lnTo>
                  <a:lnTo>
                    <a:pt x="492" y="23"/>
                  </a:lnTo>
                  <a:lnTo>
                    <a:pt x="487" y="11"/>
                  </a:lnTo>
                  <a:lnTo>
                    <a:pt x="482" y="0"/>
                  </a:lnTo>
                  <a:lnTo>
                    <a:pt x="477" y="0"/>
                  </a:lnTo>
                  <a:lnTo>
                    <a:pt x="482" y="11"/>
                  </a:lnTo>
                  <a:lnTo>
                    <a:pt x="487" y="23"/>
                  </a:lnTo>
                  <a:lnTo>
                    <a:pt x="490" y="35"/>
                  </a:lnTo>
                  <a:lnTo>
                    <a:pt x="493" y="48"/>
                  </a:lnTo>
                  <a:lnTo>
                    <a:pt x="495" y="59"/>
                  </a:lnTo>
                  <a:lnTo>
                    <a:pt x="497" y="73"/>
                  </a:lnTo>
                  <a:lnTo>
                    <a:pt x="498" y="86"/>
                  </a:lnTo>
                  <a:lnTo>
                    <a:pt x="498" y="99"/>
                  </a:lnTo>
                  <a:lnTo>
                    <a:pt x="498" y="107"/>
                  </a:lnTo>
                  <a:lnTo>
                    <a:pt x="497" y="116"/>
                  </a:lnTo>
                  <a:lnTo>
                    <a:pt x="497" y="124"/>
                  </a:lnTo>
                  <a:lnTo>
                    <a:pt x="495" y="132"/>
                  </a:lnTo>
                  <a:lnTo>
                    <a:pt x="495" y="139"/>
                  </a:lnTo>
                  <a:lnTo>
                    <a:pt x="493" y="147"/>
                  </a:lnTo>
                  <a:lnTo>
                    <a:pt x="492" y="155"/>
                  </a:lnTo>
                  <a:lnTo>
                    <a:pt x="490" y="164"/>
                  </a:lnTo>
                  <a:lnTo>
                    <a:pt x="495" y="160"/>
                  </a:lnTo>
                  <a:lnTo>
                    <a:pt x="497" y="154"/>
                  </a:lnTo>
                  <a:lnTo>
                    <a:pt x="498" y="146"/>
                  </a:lnTo>
                  <a:lnTo>
                    <a:pt x="500" y="137"/>
                  </a:lnTo>
                  <a:lnTo>
                    <a:pt x="500" y="131"/>
                  </a:lnTo>
                  <a:lnTo>
                    <a:pt x="501" y="122"/>
                  </a:lnTo>
                  <a:lnTo>
                    <a:pt x="501" y="114"/>
                  </a:lnTo>
                  <a:lnTo>
                    <a:pt x="503" y="107"/>
                  </a:lnTo>
                  <a:lnTo>
                    <a:pt x="503" y="99"/>
                  </a:lnTo>
                  <a:close/>
                  <a:moveTo>
                    <a:pt x="10" y="28"/>
                  </a:moveTo>
                  <a:lnTo>
                    <a:pt x="8" y="36"/>
                  </a:lnTo>
                  <a:lnTo>
                    <a:pt x="6" y="45"/>
                  </a:lnTo>
                  <a:lnTo>
                    <a:pt x="5" y="53"/>
                  </a:lnTo>
                  <a:lnTo>
                    <a:pt x="3" y="63"/>
                  </a:lnTo>
                  <a:lnTo>
                    <a:pt x="1" y="71"/>
                  </a:lnTo>
                  <a:lnTo>
                    <a:pt x="0" y="81"/>
                  </a:lnTo>
                  <a:lnTo>
                    <a:pt x="0" y="89"/>
                  </a:lnTo>
                  <a:lnTo>
                    <a:pt x="0" y="99"/>
                  </a:lnTo>
                  <a:lnTo>
                    <a:pt x="0" y="112"/>
                  </a:lnTo>
                  <a:lnTo>
                    <a:pt x="1" y="126"/>
                  </a:lnTo>
                  <a:lnTo>
                    <a:pt x="3" y="137"/>
                  </a:lnTo>
                  <a:lnTo>
                    <a:pt x="5" y="151"/>
                  </a:lnTo>
                  <a:lnTo>
                    <a:pt x="8" y="162"/>
                  </a:lnTo>
                  <a:lnTo>
                    <a:pt x="11" y="175"/>
                  </a:lnTo>
                  <a:lnTo>
                    <a:pt x="16" y="187"/>
                  </a:lnTo>
                  <a:lnTo>
                    <a:pt x="20" y="199"/>
                  </a:lnTo>
                  <a:lnTo>
                    <a:pt x="26" y="199"/>
                  </a:lnTo>
                  <a:lnTo>
                    <a:pt x="21" y="187"/>
                  </a:lnTo>
                  <a:lnTo>
                    <a:pt x="16" y="175"/>
                  </a:lnTo>
                  <a:lnTo>
                    <a:pt x="13" y="162"/>
                  </a:lnTo>
                  <a:lnTo>
                    <a:pt x="10" y="151"/>
                  </a:lnTo>
                  <a:lnTo>
                    <a:pt x="8" y="137"/>
                  </a:lnTo>
                  <a:lnTo>
                    <a:pt x="6" y="126"/>
                  </a:lnTo>
                  <a:lnTo>
                    <a:pt x="5" y="112"/>
                  </a:lnTo>
                  <a:lnTo>
                    <a:pt x="5" y="99"/>
                  </a:lnTo>
                  <a:lnTo>
                    <a:pt x="5" y="89"/>
                  </a:lnTo>
                  <a:lnTo>
                    <a:pt x="5" y="79"/>
                  </a:lnTo>
                  <a:lnTo>
                    <a:pt x="6" y="71"/>
                  </a:lnTo>
                  <a:lnTo>
                    <a:pt x="8" y="61"/>
                  </a:lnTo>
                  <a:lnTo>
                    <a:pt x="10" y="51"/>
                  </a:lnTo>
                  <a:lnTo>
                    <a:pt x="11" y="43"/>
                  </a:lnTo>
                  <a:lnTo>
                    <a:pt x="13" y="33"/>
                  </a:lnTo>
                  <a:lnTo>
                    <a:pt x="16" y="25"/>
                  </a:lnTo>
                  <a:lnTo>
                    <a:pt x="10" y="28"/>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37" name="Freeform 177">
              <a:extLst>
                <a:ext uri="{FF2B5EF4-FFF2-40B4-BE49-F238E27FC236}">
                  <a16:creationId xmlns:a16="http://schemas.microsoft.com/office/drawing/2014/main" id="{77C98539-20C1-D3D6-7C7A-190C46C5892A}"/>
                </a:ext>
              </a:extLst>
            </p:cNvPr>
            <p:cNvSpPr>
              <a:spLocks noEditPoints="1"/>
            </p:cNvSpPr>
            <p:nvPr/>
          </p:nvSpPr>
          <p:spPr bwMode="auto">
            <a:xfrm>
              <a:off x="1586" y="1514"/>
              <a:ext cx="499" cy="199"/>
            </a:xfrm>
            <a:custGeom>
              <a:avLst/>
              <a:gdLst>
                <a:gd name="T0" fmla="*/ 499 w 499"/>
                <a:gd name="T1" fmla="*/ 86 h 199"/>
                <a:gd name="T2" fmla="*/ 496 w 499"/>
                <a:gd name="T3" fmla="*/ 59 h 199"/>
                <a:gd name="T4" fmla="*/ 491 w 499"/>
                <a:gd name="T5" fmla="*/ 35 h 199"/>
                <a:gd name="T6" fmla="*/ 484 w 499"/>
                <a:gd name="T7" fmla="*/ 11 h 199"/>
                <a:gd name="T8" fmla="*/ 474 w 499"/>
                <a:gd name="T9" fmla="*/ 0 h 199"/>
                <a:gd name="T10" fmla="*/ 482 w 499"/>
                <a:gd name="T11" fmla="*/ 23 h 199"/>
                <a:gd name="T12" fmla="*/ 489 w 499"/>
                <a:gd name="T13" fmla="*/ 48 h 199"/>
                <a:gd name="T14" fmla="*/ 492 w 499"/>
                <a:gd name="T15" fmla="*/ 73 h 199"/>
                <a:gd name="T16" fmla="*/ 494 w 499"/>
                <a:gd name="T17" fmla="*/ 99 h 199"/>
                <a:gd name="T18" fmla="*/ 494 w 499"/>
                <a:gd name="T19" fmla="*/ 116 h 199"/>
                <a:gd name="T20" fmla="*/ 492 w 499"/>
                <a:gd name="T21" fmla="*/ 132 h 199"/>
                <a:gd name="T22" fmla="*/ 489 w 499"/>
                <a:gd name="T23" fmla="*/ 149 h 199"/>
                <a:gd name="T24" fmla="*/ 486 w 499"/>
                <a:gd name="T25" fmla="*/ 164 h 199"/>
                <a:gd name="T26" fmla="*/ 492 w 499"/>
                <a:gd name="T27" fmla="*/ 154 h 199"/>
                <a:gd name="T28" fmla="*/ 496 w 499"/>
                <a:gd name="T29" fmla="*/ 139 h 199"/>
                <a:gd name="T30" fmla="*/ 499 w 499"/>
                <a:gd name="T31" fmla="*/ 122 h 199"/>
                <a:gd name="T32" fmla="*/ 499 w 499"/>
                <a:gd name="T33" fmla="*/ 107 h 199"/>
                <a:gd name="T34" fmla="*/ 12 w 499"/>
                <a:gd name="T35" fmla="*/ 26 h 199"/>
                <a:gd name="T36" fmla="*/ 7 w 499"/>
                <a:gd name="T37" fmla="*/ 43 h 199"/>
                <a:gd name="T38" fmla="*/ 4 w 499"/>
                <a:gd name="T39" fmla="*/ 61 h 199"/>
                <a:gd name="T40" fmla="*/ 2 w 499"/>
                <a:gd name="T41" fmla="*/ 81 h 199"/>
                <a:gd name="T42" fmla="*/ 0 w 499"/>
                <a:gd name="T43" fmla="*/ 99 h 199"/>
                <a:gd name="T44" fmla="*/ 2 w 499"/>
                <a:gd name="T45" fmla="*/ 126 h 199"/>
                <a:gd name="T46" fmla="*/ 7 w 499"/>
                <a:gd name="T47" fmla="*/ 151 h 199"/>
                <a:gd name="T48" fmla="*/ 14 w 499"/>
                <a:gd name="T49" fmla="*/ 175 h 199"/>
                <a:gd name="T50" fmla="*/ 22 w 499"/>
                <a:gd name="T51" fmla="*/ 199 h 199"/>
                <a:gd name="T52" fmla="*/ 22 w 499"/>
                <a:gd name="T53" fmla="*/ 187 h 199"/>
                <a:gd name="T54" fmla="*/ 14 w 499"/>
                <a:gd name="T55" fmla="*/ 162 h 199"/>
                <a:gd name="T56" fmla="*/ 9 w 499"/>
                <a:gd name="T57" fmla="*/ 137 h 199"/>
                <a:gd name="T58" fmla="*/ 7 w 499"/>
                <a:gd name="T59" fmla="*/ 112 h 199"/>
                <a:gd name="T60" fmla="*/ 5 w 499"/>
                <a:gd name="T61" fmla="*/ 89 h 199"/>
                <a:gd name="T62" fmla="*/ 7 w 499"/>
                <a:gd name="T63" fmla="*/ 69 h 199"/>
                <a:gd name="T64" fmla="*/ 10 w 499"/>
                <a:gd name="T65" fmla="*/ 51 h 199"/>
                <a:gd name="T66" fmla="*/ 15 w 499"/>
                <a:gd name="T67" fmla="*/ 33 h 199"/>
                <a:gd name="T68" fmla="*/ 12 w 499"/>
                <a:gd name="T69" fmla="*/ 2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9" h="199">
                  <a:moveTo>
                    <a:pt x="499" y="99"/>
                  </a:moveTo>
                  <a:lnTo>
                    <a:pt x="499" y="86"/>
                  </a:lnTo>
                  <a:lnTo>
                    <a:pt x="497" y="73"/>
                  </a:lnTo>
                  <a:lnTo>
                    <a:pt x="496" y="59"/>
                  </a:lnTo>
                  <a:lnTo>
                    <a:pt x="494" y="48"/>
                  </a:lnTo>
                  <a:lnTo>
                    <a:pt x="491" y="35"/>
                  </a:lnTo>
                  <a:lnTo>
                    <a:pt x="487" y="23"/>
                  </a:lnTo>
                  <a:lnTo>
                    <a:pt x="484" y="11"/>
                  </a:lnTo>
                  <a:lnTo>
                    <a:pt x="479" y="0"/>
                  </a:lnTo>
                  <a:lnTo>
                    <a:pt x="474" y="0"/>
                  </a:lnTo>
                  <a:lnTo>
                    <a:pt x="477" y="11"/>
                  </a:lnTo>
                  <a:lnTo>
                    <a:pt x="482" y="23"/>
                  </a:lnTo>
                  <a:lnTo>
                    <a:pt x="486" y="35"/>
                  </a:lnTo>
                  <a:lnTo>
                    <a:pt x="489" y="48"/>
                  </a:lnTo>
                  <a:lnTo>
                    <a:pt x="491" y="59"/>
                  </a:lnTo>
                  <a:lnTo>
                    <a:pt x="492" y="73"/>
                  </a:lnTo>
                  <a:lnTo>
                    <a:pt x="494" y="86"/>
                  </a:lnTo>
                  <a:lnTo>
                    <a:pt x="494" y="99"/>
                  </a:lnTo>
                  <a:lnTo>
                    <a:pt x="494" y="107"/>
                  </a:lnTo>
                  <a:lnTo>
                    <a:pt x="494" y="116"/>
                  </a:lnTo>
                  <a:lnTo>
                    <a:pt x="494" y="124"/>
                  </a:lnTo>
                  <a:lnTo>
                    <a:pt x="492" y="132"/>
                  </a:lnTo>
                  <a:lnTo>
                    <a:pt x="491" y="141"/>
                  </a:lnTo>
                  <a:lnTo>
                    <a:pt x="489" y="149"/>
                  </a:lnTo>
                  <a:lnTo>
                    <a:pt x="487" y="157"/>
                  </a:lnTo>
                  <a:lnTo>
                    <a:pt x="486" y="164"/>
                  </a:lnTo>
                  <a:lnTo>
                    <a:pt x="491" y="162"/>
                  </a:lnTo>
                  <a:lnTo>
                    <a:pt x="492" y="154"/>
                  </a:lnTo>
                  <a:lnTo>
                    <a:pt x="494" y="147"/>
                  </a:lnTo>
                  <a:lnTo>
                    <a:pt x="496" y="139"/>
                  </a:lnTo>
                  <a:lnTo>
                    <a:pt x="497" y="131"/>
                  </a:lnTo>
                  <a:lnTo>
                    <a:pt x="499" y="122"/>
                  </a:lnTo>
                  <a:lnTo>
                    <a:pt x="499" y="116"/>
                  </a:lnTo>
                  <a:lnTo>
                    <a:pt x="499" y="107"/>
                  </a:lnTo>
                  <a:lnTo>
                    <a:pt x="499" y="99"/>
                  </a:lnTo>
                  <a:close/>
                  <a:moveTo>
                    <a:pt x="12" y="26"/>
                  </a:moveTo>
                  <a:lnTo>
                    <a:pt x="10" y="35"/>
                  </a:lnTo>
                  <a:lnTo>
                    <a:pt x="7" y="43"/>
                  </a:lnTo>
                  <a:lnTo>
                    <a:pt x="5" y="53"/>
                  </a:lnTo>
                  <a:lnTo>
                    <a:pt x="4" y="61"/>
                  </a:lnTo>
                  <a:lnTo>
                    <a:pt x="2" y="71"/>
                  </a:lnTo>
                  <a:lnTo>
                    <a:pt x="2" y="81"/>
                  </a:lnTo>
                  <a:lnTo>
                    <a:pt x="2" y="89"/>
                  </a:lnTo>
                  <a:lnTo>
                    <a:pt x="0" y="99"/>
                  </a:lnTo>
                  <a:lnTo>
                    <a:pt x="2" y="112"/>
                  </a:lnTo>
                  <a:lnTo>
                    <a:pt x="2" y="126"/>
                  </a:lnTo>
                  <a:lnTo>
                    <a:pt x="4" y="137"/>
                  </a:lnTo>
                  <a:lnTo>
                    <a:pt x="7" y="151"/>
                  </a:lnTo>
                  <a:lnTo>
                    <a:pt x="9" y="162"/>
                  </a:lnTo>
                  <a:lnTo>
                    <a:pt x="14" y="175"/>
                  </a:lnTo>
                  <a:lnTo>
                    <a:pt x="17" y="187"/>
                  </a:lnTo>
                  <a:lnTo>
                    <a:pt x="22" y="199"/>
                  </a:lnTo>
                  <a:lnTo>
                    <a:pt x="27" y="199"/>
                  </a:lnTo>
                  <a:lnTo>
                    <a:pt x="22" y="187"/>
                  </a:lnTo>
                  <a:lnTo>
                    <a:pt x="19" y="175"/>
                  </a:lnTo>
                  <a:lnTo>
                    <a:pt x="14" y="162"/>
                  </a:lnTo>
                  <a:lnTo>
                    <a:pt x="12" y="151"/>
                  </a:lnTo>
                  <a:lnTo>
                    <a:pt x="9" y="137"/>
                  </a:lnTo>
                  <a:lnTo>
                    <a:pt x="7" y="126"/>
                  </a:lnTo>
                  <a:lnTo>
                    <a:pt x="7" y="112"/>
                  </a:lnTo>
                  <a:lnTo>
                    <a:pt x="5" y="99"/>
                  </a:lnTo>
                  <a:lnTo>
                    <a:pt x="5" y="89"/>
                  </a:lnTo>
                  <a:lnTo>
                    <a:pt x="7" y="79"/>
                  </a:lnTo>
                  <a:lnTo>
                    <a:pt x="7" y="69"/>
                  </a:lnTo>
                  <a:lnTo>
                    <a:pt x="9" y="59"/>
                  </a:lnTo>
                  <a:lnTo>
                    <a:pt x="10" y="51"/>
                  </a:lnTo>
                  <a:lnTo>
                    <a:pt x="12" y="41"/>
                  </a:lnTo>
                  <a:lnTo>
                    <a:pt x="15" y="33"/>
                  </a:lnTo>
                  <a:lnTo>
                    <a:pt x="19" y="23"/>
                  </a:lnTo>
                  <a:lnTo>
                    <a:pt x="12" y="26"/>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38" name="Freeform 178">
              <a:extLst>
                <a:ext uri="{FF2B5EF4-FFF2-40B4-BE49-F238E27FC236}">
                  <a16:creationId xmlns:a16="http://schemas.microsoft.com/office/drawing/2014/main" id="{C0BB549C-8D6C-5F45-C182-C855A24C55A0}"/>
                </a:ext>
              </a:extLst>
            </p:cNvPr>
            <p:cNvSpPr>
              <a:spLocks noEditPoints="1"/>
            </p:cNvSpPr>
            <p:nvPr/>
          </p:nvSpPr>
          <p:spPr bwMode="auto">
            <a:xfrm>
              <a:off x="1590" y="1514"/>
              <a:ext cx="493" cy="199"/>
            </a:xfrm>
            <a:custGeom>
              <a:avLst/>
              <a:gdLst>
                <a:gd name="T0" fmla="*/ 493 w 493"/>
                <a:gd name="T1" fmla="*/ 86 h 199"/>
                <a:gd name="T2" fmla="*/ 490 w 493"/>
                <a:gd name="T3" fmla="*/ 59 h 199"/>
                <a:gd name="T4" fmla="*/ 485 w 493"/>
                <a:gd name="T5" fmla="*/ 35 h 199"/>
                <a:gd name="T6" fmla="*/ 477 w 493"/>
                <a:gd name="T7" fmla="*/ 11 h 199"/>
                <a:gd name="T8" fmla="*/ 467 w 493"/>
                <a:gd name="T9" fmla="*/ 0 h 199"/>
                <a:gd name="T10" fmla="*/ 477 w 493"/>
                <a:gd name="T11" fmla="*/ 23 h 199"/>
                <a:gd name="T12" fmla="*/ 483 w 493"/>
                <a:gd name="T13" fmla="*/ 48 h 199"/>
                <a:gd name="T14" fmla="*/ 487 w 493"/>
                <a:gd name="T15" fmla="*/ 73 h 199"/>
                <a:gd name="T16" fmla="*/ 488 w 493"/>
                <a:gd name="T17" fmla="*/ 99 h 199"/>
                <a:gd name="T18" fmla="*/ 488 w 493"/>
                <a:gd name="T19" fmla="*/ 116 h 199"/>
                <a:gd name="T20" fmla="*/ 485 w 493"/>
                <a:gd name="T21" fmla="*/ 132 h 199"/>
                <a:gd name="T22" fmla="*/ 483 w 493"/>
                <a:gd name="T23" fmla="*/ 149 h 199"/>
                <a:gd name="T24" fmla="*/ 478 w 493"/>
                <a:gd name="T25" fmla="*/ 165 h 199"/>
                <a:gd name="T26" fmla="*/ 487 w 493"/>
                <a:gd name="T27" fmla="*/ 155 h 199"/>
                <a:gd name="T28" fmla="*/ 490 w 493"/>
                <a:gd name="T29" fmla="*/ 139 h 199"/>
                <a:gd name="T30" fmla="*/ 492 w 493"/>
                <a:gd name="T31" fmla="*/ 124 h 199"/>
                <a:gd name="T32" fmla="*/ 493 w 493"/>
                <a:gd name="T33" fmla="*/ 107 h 199"/>
                <a:gd name="T34" fmla="*/ 11 w 493"/>
                <a:gd name="T35" fmla="*/ 25 h 199"/>
                <a:gd name="T36" fmla="*/ 6 w 493"/>
                <a:gd name="T37" fmla="*/ 43 h 199"/>
                <a:gd name="T38" fmla="*/ 3 w 493"/>
                <a:gd name="T39" fmla="*/ 61 h 199"/>
                <a:gd name="T40" fmla="*/ 0 w 493"/>
                <a:gd name="T41" fmla="*/ 79 h 199"/>
                <a:gd name="T42" fmla="*/ 0 w 493"/>
                <a:gd name="T43" fmla="*/ 99 h 199"/>
                <a:gd name="T44" fmla="*/ 1 w 493"/>
                <a:gd name="T45" fmla="*/ 126 h 199"/>
                <a:gd name="T46" fmla="*/ 5 w 493"/>
                <a:gd name="T47" fmla="*/ 151 h 199"/>
                <a:gd name="T48" fmla="*/ 11 w 493"/>
                <a:gd name="T49" fmla="*/ 175 h 199"/>
                <a:gd name="T50" fmla="*/ 21 w 493"/>
                <a:gd name="T51" fmla="*/ 199 h 199"/>
                <a:gd name="T52" fmla="*/ 21 w 493"/>
                <a:gd name="T53" fmla="*/ 187 h 199"/>
                <a:gd name="T54" fmla="*/ 13 w 493"/>
                <a:gd name="T55" fmla="*/ 164 h 199"/>
                <a:gd name="T56" fmla="*/ 8 w 493"/>
                <a:gd name="T57" fmla="*/ 137 h 199"/>
                <a:gd name="T58" fmla="*/ 5 w 493"/>
                <a:gd name="T59" fmla="*/ 112 h 199"/>
                <a:gd name="T60" fmla="*/ 5 w 493"/>
                <a:gd name="T61" fmla="*/ 89 h 199"/>
                <a:gd name="T62" fmla="*/ 6 w 493"/>
                <a:gd name="T63" fmla="*/ 69 h 199"/>
                <a:gd name="T64" fmla="*/ 10 w 493"/>
                <a:gd name="T65" fmla="*/ 50 h 199"/>
                <a:gd name="T66" fmla="*/ 15 w 493"/>
                <a:gd name="T67" fmla="*/ 31 h 199"/>
                <a:gd name="T68" fmla="*/ 11 w 493"/>
                <a:gd name="T69" fmla="*/ 2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3" h="199">
                  <a:moveTo>
                    <a:pt x="493" y="99"/>
                  </a:moveTo>
                  <a:lnTo>
                    <a:pt x="493" y="86"/>
                  </a:lnTo>
                  <a:lnTo>
                    <a:pt x="492" y="73"/>
                  </a:lnTo>
                  <a:lnTo>
                    <a:pt x="490" y="59"/>
                  </a:lnTo>
                  <a:lnTo>
                    <a:pt x="488" y="48"/>
                  </a:lnTo>
                  <a:lnTo>
                    <a:pt x="485" y="35"/>
                  </a:lnTo>
                  <a:lnTo>
                    <a:pt x="482" y="23"/>
                  </a:lnTo>
                  <a:lnTo>
                    <a:pt x="477" y="11"/>
                  </a:lnTo>
                  <a:lnTo>
                    <a:pt x="472" y="0"/>
                  </a:lnTo>
                  <a:lnTo>
                    <a:pt x="467" y="0"/>
                  </a:lnTo>
                  <a:lnTo>
                    <a:pt x="472" y="11"/>
                  </a:lnTo>
                  <a:lnTo>
                    <a:pt x="477" y="23"/>
                  </a:lnTo>
                  <a:lnTo>
                    <a:pt x="480" y="35"/>
                  </a:lnTo>
                  <a:lnTo>
                    <a:pt x="483" y="48"/>
                  </a:lnTo>
                  <a:lnTo>
                    <a:pt x="485" y="59"/>
                  </a:lnTo>
                  <a:lnTo>
                    <a:pt x="487" y="73"/>
                  </a:lnTo>
                  <a:lnTo>
                    <a:pt x="488" y="86"/>
                  </a:lnTo>
                  <a:lnTo>
                    <a:pt x="488" y="99"/>
                  </a:lnTo>
                  <a:lnTo>
                    <a:pt x="488" y="107"/>
                  </a:lnTo>
                  <a:lnTo>
                    <a:pt x="488" y="116"/>
                  </a:lnTo>
                  <a:lnTo>
                    <a:pt x="487" y="124"/>
                  </a:lnTo>
                  <a:lnTo>
                    <a:pt x="485" y="132"/>
                  </a:lnTo>
                  <a:lnTo>
                    <a:pt x="485" y="141"/>
                  </a:lnTo>
                  <a:lnTo>
                    <a:pt x="483" y="149"/>
                  </a:lnTo>
                  <a:lnTo>
                    <a:pt x="482" y="157"/>
                  </a:lnTo>
                  <a:lnTo>
                    <a:pt x="478" y="165"/>
                  </a:lnTo>
                  <a:lnTo>
                    <a:pt x="485" y="164"/>
                  </a:lnTo>
                  <a:lnTo>
                    <a:pt x="487" y="155"/>
                  </a:lnTo>
                  <a:lnTo>
                    <a:pt x="488" y="147"/>
                  </a:lnTo>
                  <a:lnTo>
                    <a:pt x="490" y="139"/>
                  </a:lnTo>
                  <a:lnTo>
                    <a:pt x="490" y="132"/>
                  </a:lnTo>
                  <a:lnTo>
                    <a:pt x="492" y="124"/>
                  </a:lnTo>
                  <a:lnTo>
                    <a:pt x="492" y="116"/>
                  </a:lnTo>
                  <a:lnTo>
                    <a:pt x="493" y="107"/>
                  </a:lnTo>
                  <a:lnTo>
                    <a:pt x="493" y="99"/>
                  </a:lnTo>
                  <a:close/>
                  <a:moveTo>
                    <a:pt x="11" y="25"/>
                  </a:moveTo>
                  <a:lnTo>
                    <a:pt x="8" y="33"/>
                  </a:lnTo>
                  <a:lnTo>
                    <a:pt x="6" y="43"/>
                  </a:lnTo>
                  <a:lnTo>
                    <a:pt x="5" y="51"/>
                  </a:lnTo>
                  <a:lnTo>
                    <a:pt x="3" y="61"/>
                  </a:lnTo>
                  <a:lnTo>
                    <a:pt x="1" y="71"/>
                  </a:lnTo>
                  <a:lnTo>
                    <a:pt x="0" y="79"/>
                  </a:lnTo>
                  <a:lnTo>
                    <a:pt x="0" y="89"/>
                  </a:lnTo>
                  <a:lnTo>
                    <a:pt x="0" y="99"/>
                  </a:lnTo>
                  <a:lnTo>
                    <a:pt x="0" y="112"/>
                  </a:lnTo>
                  <a:lnTo>
                    <a:pt x="1" y="126"/>
                  </a:lnTo>
                  <a:lnTo>
                    <a:pt x="3" y="137"/>
                  </a:lnTo>
                  <a:lnTo>
                    <a:pt x="5" y="151"/>
                  </a:lnTo>
                  <a:lnTo>
                    <a:pt x="8" y="162"/>
                  </a:lnTo>
                  <a:lnTo>
                    <a:pt x="11" y="175"/>
                  </a:lnTo>
                  <a:lnTo>
                    <a:pt x="16" y="187"/>
                  </a:lnTo>
                  <a:lnTo>
                    <a:pt x="21" y="199"/>
                  </a:lnTo>
                  <a:lnTo>
                    <a:pt x="26" y="199"/>
                  </a:lnTo>
                  <a:lnTo>
                    <a:pt x="21" y="187"/>
                  </a:lnTo>
                  <a:lnTo>
                    <a:pt x="16" y="175"/>
                  </a:lnTo>
                  <a:lnTo>
                    <a:pt x="13" y="164"/>
                  </a:lnTo>
                  <a:lnTo>
                    <a:pt x="10" y="151"/>
                  </a:lnTo>
                  <a:lnTo>
                    <a:pt x="8" y="137"/>
                  </a:lnTo>
                  <a:lnTo>
                    <a:pt x="6" y="126"/>
                  </a:lnTo>
                  <a:lnTo>
                    <a:pt x="5" y="112"/>
                  </a:lnTo>
                  <a:lnTo>
                    <a:pt x="5" y="99"/>
                  </a:lnTo>
                  <a:lnTo>
                    <a:pt x="5" y="89"/>
                  </a:lnTo>
                  <a:lnTo>
                    <a:pt x="5" y="79"/>
                  </a:lnTo>
                  <a:lnTo>
                    <a:pt x="6" y="69"/>
                  </a:lnTo>
                  <a:lnTo>
                    <a:pt x="8" y="59"/>
                  </a:lnTo>
                  <a:lnTo>
                    <a:pt x="10" y="50"/>
                  </a:lnTo>
                  <a:lnTo>
                    <a:pt x="11" y="41"/>
                  </a:lnTo>
                  <a:lnTo>
                    <a:pt x="15" y="31"/>
                  </a:lnTo>
                  <a:lnTo>
                    <a:pt x="16" y="21"/>
                  </a:lnTo>
                  <a:lnTo>
                    <a:pt x="11" y="25"/>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39" name="Freeform 179">
              <a:extLst>
                <a:ext uri="{FF2B5EF4-FFF2-40B4-BE49-F238E27FC236}">
                  <a16:creationId xmlns:a16="http://schemas.microsoft.com/office/drawing/2014/main" id="{2013C2CC-B468-A80E-E399-332A23A5BB8D}"/>
                </a:ext>
              </a:extLst>
            </p:cNvPr>
            <p:cNvSpPr>
              <a:spLocks noEditPoints="1"/>
            </p:cNvSpPr>
            <p:nvPr/>
          </p:nvSpPr>
          <p:spPr bwMode="auto">
            <a:xfrm>
              <a:off x="1591" y="1514"/>
              <a:ext cx="489" cy="199"/>
            </a:xfrm>
            <a:custGeom>
              <a:avLst/>
              <a:gdLst>
                <a:gd name="T0" fmla="*/ 489 w 489"/>
                <a:gd name="T1" fmla="*/ 86 h 199"/>
                <a:gd name="T2" fmla="*/ 486 w 489"/>
                <a:gd name="T3" fmla="*/ 59 h 199"/>
                <a:gd name="T4" fmla="*/ 481 w 489"/>
                <a:gd name="T5" fmla="*/ 35 h 199"/>
                <a:gd name="T6" fmla="*/ 472 w 489"/>
                <a:gd name="T7" fmla="*/ 11 h 199"/>
                <a:gd name="T8" fmla="*/ 462 w 489"/>
                <a:gd name="T9" fmla="*/ 0 h 199"/>
                <a:gd name="T10" fmla="*/ 472 w 489"/>
                <a:gd name="T11" fmla="*/ 23 h 199"/>
                <a:gd name="T12" fmla="*/ 479 w 489"/>
                <a:gd name="T13" fmla="*/ 48 h 199"/>
                <a:gd name="T14" fmla="*/ 484 w 489"/>
                <a:gd name="T15" fmla="*/ 73 h 199"/>
                <a:gd name="T16" fmla="*/ 484 w 489"/>
                <a:gd name="T17" fmla="*/ 99 h 199"/>
                <a:gd name="T18" fmla="*/ 484 w 489"/>
                <a:gd name="T19" fmla="*/ 116 h 199"/>
                <a:gd name="T20" fmla="*/ 482 w 489"/>
                <a:gd name="T21" fmla="*/ 134 h 199"/>
                <a:gd name="T22" fmla="*/ 479 w 489"/>
                <a:gd name="T23" fmla="*/ 151 h 199"/>
                <a:gd name="T24" fmla="*/ 476 w 489"/>
                <a:gd name="T25" fmla="*/ 167 h 199"/>
                <a:gd name="T26" fmla="*/ 482 w 489"/>
                <a:gd name="T27" fmla="*/ 157 h 199"/>
                <a:gd name="T28" fmla="*/ 486 w 489"/>
                <a:gd name="T29" fmla="*/ 141 h 199"/>
                <a:gd name="T30" fmla="*/ 489 w 489"/>
                <a:gd name="T31" fmla="*/ 124 h 199"/>
                <a:gd name="T32" fmla="*/ 489 w 489"/>
                <a:gd name="T33" fmla="*/ 107 h 199"/>
                <a:gd name="T34" fmla="*/ 14 w 489"/>
                <a:gd name="T35" fmla="*/ 23 h 199"/>
                <a:gd name="T36" fmla="*/ 7 w 489"/>
                <a:gd name="T37" fmla="*/ 41 h 199"/>
                <a:gd name="T38" fmla="*/ 4 w 489"/>
                <a:gd name="T39" fmla="*/ 59 h 199"/>
                <a:gd name="T40" fmla="*/ 2 w 489"/>
                <a:gd name="T41" fmla="*/ 79 h 199"/>
                <a:gd name="T42" fmla="*/ 0 w 489"/>
                <a:gd name="T43" fmla="*/ 99 h 199"/>
                <a:gd name="T44" fmla="*/ 2 w 489"/>
                <a:gd name="T45" fmla="*/ 126 h 199"/>
                <a:gd name="T46" fmla="*/ 7 w 489"/>
                <a:gd name="T47" fmla="*/ 151 h 199"/>
                <a:gd name="T48" fmla="*/ 14 w 489"/>
                <a:gd name="T49" fmla="*/ 175 h 199"/>
                <a:gd name="T50" fmla="*/ 22 w 489"/>
                <a:gd name="T51" fmla="*/ 199 h 199"/>
                <a:gd name="T52" fmla="*/ 22 w 489"/>
                <a:gd name="T53" fmla="*/ 187 h 199"/>
                <a:gd name="T54" fmla="*/ 14 w 489"/>
                <a:gd name="T55" fmla="*/ 164 h 199"/>
                <a:gd name="T56" fmla="*/ 9 w 489"/>
                <a:gd name="T57" fmla="*/ 137 h 199"/>
                <a:gd name="T58" fmla="*/ 5 w 489"/>
                <a:gd name="T59" fmla="*/ 112 h 199"/>
                <a:gd name="T60" fmla="*/ 5 w 489"/>
                <a:gd name="T61" fmla="*/ 89 h 199"/>
                <a:gd name="T62" fmla="*/ 7 w 489"/>
                <a:gd name="T63" fmla="*/ 69 h 199"/>
                <a:gd name="T64" fmla="*/ 10 w 489"/>
                <a:gd name="T65" fmla="*/ 50 h 199"/>
                <a:gd name="T66" fmla="*/ 15 w 489"/>
                <a:gd name="T67" fmla="*/ 30 h 199"/>
                <a:gd name="T68" fmla="*/ 14 w 489"/>
                <a:gd name="T69" fmla="*/ 2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9" h="199">
                  <a:moveTo>
                    <a:pt x="489" y="99"/>
                  </a:moveTo>
                  <a:lnTo>
                    <a:pt x="489" y="86"/>
                  </a:lnTo>
                  <a:lnTo>
                    <a:pt x="487" y="73"/>
                  </a:lnTo>
                  <a:lnTo>
                    <a:pt x="486" y="59"/>
                  </a:lnTo>
                  <a:lnTo>
                    <a:pt x="484" y="48"/>
                  </a:lnTo>
                  <a:lnTo>
                    <a:pt x="481" y="35"/>
                  </a:lnTo>
                  <a:lnTo>
                    <a:pt x="477" y="23"/>
                  </a:lnTo>
                  <a:lnTo>
                    <a:pt x="472" y="11"/>
                  </a:lnTo>
                  <a:lnTo>
                    <a:pt x="469" y="0"/>
                  </a:lnTo>
                  <a:lnTo>
                    <a:pt x="462" y="0"/>
                  </a:lnTo>
                  <a:lnTo>
                    <a:pt x="467" y="11"/>
                  </a:lnTo>
                  <a:lnTo>
                    <a:pt x="472" y="23"/>
                  </a:lnTo>
                  <a:lnTo>
                    <a:pt x="476" y="35"/>
                  </a:lnTo>
                  <a:lnTo>
                    <a:pt x="479" y="48"/>
                  </a:lnTo>
                  <a:lnTo>
                    <a:pt x="482" y="59"/>
                  </a:lnTo>
                  <a:lnTo>
                    <a:pt x="484" y="73"/>
                  </a:lnTo>
                  <a:lnTo>
                    <a:pt x="484" y="86"/>
                  </a:lnTo>
                  <a:lnTo>
                    <a:pt x="484" y="99"/>
                  </a:lnTo>
                  <a:lnTo>
                    <a:pt x="484" y="107"/>
                  </a:lnTo>
                  <a:lnTo>
                    <a:pt x="484" y="116"/>
                  </a:lnTo>
                  <a:lnTo>
                    <a:pt x="484" y="126"/>
                  </a:lnTo>
                  <a:lnTo>
                    <a:pt x="482" y="134"/>
                  </a:lnTo>
                  <a:lnTo>
                    <a:pt x="481" y="142"/>
                  </a:lnTo>
                  <a:lnTo>
                    <a:pt x="479" y="151"/>
                  </a:lnTo>
                  <a:lnTo>
                    <a:pt x="477" y="159"/>
                  </a:lnTo>
                  <a:lnTo>
                    <a:pt x="476" y="167"/>
                  </a:lnTo>
                  <a:lnTo>
                    <a:pt x="481" y="164"/>
                  </a:lnTo>
                  <a:lnTo>
                    <a:pt x="482" y="157"/>
                  </a:lnTo>
                  <a:lnTo>
                    <a:pt x="484" y="149"/>
                  </a:lnTo>
                  <a:lnTo>
                    <a:pt x="486" y="141"/>
                  </a:lnTo>
                  <a:lnTo>
                    <a:pt x="487" y="132"/>
                  </a:lnTo>
                  <a:lnTo>
                    <a:pt x="489" y="124"/>
                  </a:lnTo>
                  <a:lnTo>
                    <a:pt x="489" y="116"/>
                  </a:lnTo>
                  <a:lnTo>
                    <a:pt x="489" y="107"/>
                  </a:lnTo>
                  <a:lnTo>
                    <a:pt x="489" y="99"/>
                  </a:lnTo>
                  <a:close/>
                  <a:moveTo>
                    <a:pt x="14" y="23"/>
                  </a:moveTo>
                  <a:lnTo>
                    <a:pt x="10" y="33"/>
                  </a:lnTo>
                  <a:lnTo>
                    <a:pt x="7" y="41"/>
                  </a:lnTo>
                  <a:lnTo>
                    <a:pt x="5" y="51"/>
                  </a:lnTo>
                  <a:lnTo>
                    <a:pt x="4" y="59"/>
                  </a:lnTo>
                  <a:lnTo>
                    <a:pt x="2" y="69"/>
                  </a:lnTo>
                  <a:lnTo>
                    <a:pt x="2" y="79"/>
                  </a:lnTo>
                  <a:lnTo>
                    <a:pt x="0" y="89"/>
                  </a:lnTo>
                  <a:lnTo>
                    <a:pt x="0" y="99"/>
                  </a:lnTo>
                  <a:lnTo>
                    <a:pt x="2" y="112"/>
                  </a:lnTo>
                  <a:lnTo>
                    <a:pt x="2" y="126"/>
                  </a:lnTo>
                  <a:lnTo>
                    <a:pt x="4" y="137"/>
                  </a:lnTo>
                  <a:lnTo>
                    <a:pt x="7" y="151"/>
                  </a:lnTo>
                  <a:lnTo>
                    <a:pt x="9" y="162"/>
                  </a:lnTo>
                  <a:lnTo>
                    <a:pt x="14" y="175"/>
                  </a:lnTo>
                  <a:lnTo>
                    <a:pt x="17" y="187"/>
                  </a:lnTo>
                  <a:lnTo>
                    <a:pt x="22" y="199"/>
                  </a:lnTo>
                  <a:lnTo>
                    <a:pt x="27" y="199"/>
                  </a:lnTo>
                  <a:lnTo>
                    <a:pt x="22" y="187"/>
                  </a:lnTo>
                  <a:lnTo>
                    <a:pt x="19" y="175"/>
                  </a:lnTo>
                  <a:lnTo>
                    <a:pt x="14" y="164"/>
                  </a:lnTo>
                  <a:lnTo>
                    <a:pt x="12" y="151"/>
                  </a:lnTo>
                  <a:lnTo>
                    <a:pt x="9" y="137"/>
                  </a:lnTo>
                  <a:lnTo>
                    <a:pt x="7" y="126"/>
                  </a:lnTo>
                  <a:lnTo>
                    <a:pt x="5" y="112"/>
                  </a:lnTo>
                  <a:lnTo>
                    <a:pt x="5" y="99"/>
                  </a:lnTo>
                  <a:lnTo>
                    <a:pt x="5" y="89"/>
                  </a:lnTo>
                  <a:lnTo>
                    <a:pt x="7" y="79"/>
                  </a:lnTo>
                  <a:lnTo>
                    <a:pt x="7" y="69"/>
                  </a:lnTo>
                  <a:lnTo>
                    <a:pt x="9" y="59"/>
                  </a:lnTo>
                  <a:lnTo>
                    <a:pt x="10" y="50"/>
                  </a:lnTo>
                  <a:lnTo>
                    <a:pt x="14" y="40"/>
                  </a:lnTo>
                  <a:lnTo>
                    <a:pt x="15" y="30"/>
                  </a:lnTo>
                  <a:lnTo>
                    <a:pt x="19" y="20"/>
                  </a:lnTo>
                  <a:lnTo>
                    <a:pt x="14" y="23"/>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40" name="Freeform 180">
              <a:extLst>
                <a:ext uri="{FF2B5EF4-FFF2-40B4-BE49-F238E27FC236}">
                  <a16:creationId xmlns:a16="http://schemas.microsoft.com/office/drawing/2014/main" id="{83A9134B-63B6-53A8-E689-46B0C8CCBC4C}"/>
                </a:ext>
              </a:extLst>
            </p:cNvPr>
            <p:cNvSpPr>
              <a:spLocks noEditPoints="1"/>
            </p:cNvSpPr>
            <p:nvPr/>
          </p:nvSpPr>
          <p:spPr bwMode="auto">
            <a:xfrm>
              <a:off x="1595" y="1514"/>
              <a:ext cx="483" cy="199"/>
            </a:xfrm>
            <a:custGeom>
              <a:avLst/>
              <a:gdLst>
                <a:gd name="T0" fmla="*/ 483 w 483"/>
                <a:gd name="T1" fmla="*/ 86 h 199"/>
                <a:gd name="T2" fmla="*/ 480 w 483"/>
                <a:gd name="T3" fmla="*/ 59 h 199"/>
                <a:gd name="T4" fmla="*/ 475 w 483"/>
                <a:gd name="T5" fmla="*/ 35 h 199"/>
                <a:gd name="T6" fmla="*/ 467 w 483"/>
                <a:gd name="T7" fmla="*/ 11 h 199"/>
                <a:gd name="T8" fmla="*/ 457 w 483"/>
                <a:gd name="T9" fmla="*/ 0 h 199"/>
                <a:gd name="T10" fmla="*/ 465 w 483"/>
                <a:gd name="T11" fmla="*/ 23 h 199"/>
                <a:gd name="T12" fmla="*/ 473 w 483"/>
                <a:gd name="T13" fmla="*/ 48 h 199"/>
                <a:gd name="T14" fmla="*/ 477 w 483"/>
                <a:gd name="T15" fmla="*/ 73 h 199"/>
                <a:gd name="T16" fmla="*/ 478 w 483"/>
                <a:gd name="T17" fmla="*/ 99 h 199"/>
                <a:gd name="T18" fmla="*/ 478 w 483"/>
                <a:gd name="T19" fmla="*/ 117 h 199"/>
                <a:gd name="T20" fmla="*/ 475 w 483"/>
                <a:gd name="T21" fmla="*/ 134 h 199"/>
                <a:gd name="T22" fmla="*/ 472 w 483"/>
                <a:gd name="T23" fmla="*/ 152 h 199"/>
                <a:gd name="T24" fmla="*/ 468 w 483"/>
                <a:gd name="T25" fmla="*/ 169 h 199"/>
                <a:gd name="T26" fmla="*/ 477 w 483"/>
                <a:gd name="T27" fmla="*/ 157 h 199"/>
                <a:gd name="T28" fmla="*/ 480 w 483"/>
                <a:gd name="T29" fmla="*/ 141 h 199"/>
                <a:gd name="T30" fmla="*/ 482 w 483"/>
                <a:gd name="T31" fmla="*/ 124 h 199"/>
                <a:gd name="T32" fmla="*/ 483 w 483"/>
                <a:gd name="T33" fmla="*/ 107 h 199"/>
                <a:gd name="T34" fmla="*/ 11 w 483"/>
                <a:gd name="T35" fmla="*/ 21 h 199"/>
                <a:gd name="T36" fmla="*/ 6 w 483"/>
                <a:gd name="T37" fmla="*/ 41 h 199"/>
                <a:gd name="T38" fmla="*/ 3 w 483"/>
                <a:gd name="T39" fmla="*/ 59 h 199"/>
                <a:gd name="T40" fmla="*/ 0 w 483"/>
                <a:gd name="T41" fmla="*/ 79 h 199"/>
                <a:gd name="T42" fmla="*/ 0 w 483"/>
                <a:gd name="T43" fmla="*/ 99 h 199"/>
                <a:gd name="T44" fmla="*/ 1 w 483"/>
                <a:gd name="T45" fmla="*/ 126 h 199"/>
                <a:gd name="T46" fmla="*/ 5 w 483"/>
                <a:gd name="T47" fmla="*/ 151 h 199"/>
                <a:gd name="T48" fmla="*/ 11 w 483"/>
                <a:gd name="T49" fmla="*/ 175 h 199"/>
                <a:gd name="T50" fmla="*/ 21 w 483"/>
                <a:gd name="T51" fmla="*/ 199 h 199"/>
                <a:gd name="T52" fmla="*/ 21 w 483"/>
                <a:gd name="T53" fmla="*/ 187 h 199"/>
                <a:gd name="T54" fmla="*/ 13 w 483"/>
                <a:gd name="T55" fmla="*/ 164 h 199"/>
                <a:gd name="T56" fmla="*/ 8 w 483"/>
                <a:gd name="T57" fmla="*/ 137 h 199"/>
                <a:gd name="T58" fmla="*/ 5 w 483"/>
                <a:gd name="T59" fmla="*/ 112 h 199"/>
                <a:gd name="T60" fmla="*/ 5 w 483"/>
                <a:gd name="T61" fmla="*/ 89 h 199"/>
                <a:gd name="T62" fmla="*/ 6 w 483"/>
                <a:gd name="T63" fmla="*/ 68 h 199"/>
                <a:gd name="T64" fmla="*/ 10 w 483"/>
                <a:gd name="T65" fmla="*/ 48 h 199"/>
                <a:gd name="T66" fmla="*/ 15 w 483"/>
                <a:gd name="T67" fmla="*/ 28 h 199"/>
                <a:gd name="T68" fmla="*/ 11 w 483"/>
                <a:gd name="T69" fmla="*/ 2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3" h="199">
                  <a:moveTo>
                    <a:pt x="483" y="99"/>
                  </a:moveTo>
                  <a:lnTo>
                    <a:pt x="483" y="86"/>
                  </a:lnTo>
                  <a:lnTo>
                    <a:pt x="482" y="73"/>
                  </a:lnTo>
                  <a:lnTo>
                    <a:pt x="480" y="59"/>
                  </a:lnTo>
                  <a:lnTo>
                    <a:pt x="478" y="48"/>
                  </a:lnTo>
                  <a:lnTo>
                    <a:pt x="475" y="35"/>
                  </a:lnTo>
                  <a:lnTo>
                    <a:pt x="472" y="23"/>
                  </a:lnTo>
                  <a:lnTo>
                    <a:pt x="467" y="11"/>
                  </a:lnTo>
                  <a:lnTo>
                    <a:pt x="462" y="0"/>
                  </a:lnTo>
                  <a:lnTo>
                    <a:pt x="457" y="0"/>
                  </a:lnTo>
                  <a:lnTo>
                    <a:pt x="462" y="11"/>
                  </a:lnTo>
                  <a:lnTo>
                    <a:pt x="465" y="23"/>
                  </a:lnTo>
                  <a:lnTo>
                    <a:pt x="470" y="35"/>
                  </a:lnTo>
                  <a:lnTo>
                    <a:pt x="473" y="48"/>
                  </a:lnTo>
                  <a:lnTo>
                    <a:pt x="475" y="59"/>
                  </a:lnTo>
                  <a:lnTo>
                    <a:pt x="477" y="73"/>
                  </a:lnTo>
                  <a:lnTo>
                    <a:pt x="478" y="86"/>
                  </a:lnTo>
                  <a:lnTo>
                    <a:pt x="478" y="99"/>
                  </a:lnTo>
                  <a:lnTo>
                    <a:pt x="478" y="107"/>
                  </a:lnTo>
                  <a:lnTo>
                    <a:pt x="478" y="117"/>
                  </a:lnTo>
                  <a:lnTo>
                    <a:pt x="477" y="126"/>
                  </a:lnTo>
                  <a:lnTo>
                    <a:pt x="475" y="134"/>
                  </a:lnTo>
                  <a:lnTo>
                    <a:pt x="475" y="144"/>
                  </a:lnTo>
                  <a:lnTo>
                    <a:pt x="472" y="152"/>
                  </a:lnTo>
                  <a:lnTo>
                    <a:pt x="470" y="160"/>
                  </a:lnTo>
                  <a:lnTo>
                    <a:pt x="468" y="169"/>
                  </a:lnTo>
                  <a:lnTo>
                    <a:pt x="473" y="165"/>
                  </a:lnTo>
                  <a:lnTo>
                    <a:pt x="477" y="157"/>
                  </a:lnTo>
                  <a:lnTo>
                    <a:pt x="478" y="149"/>
                  </a:lnTo>
                  <a:lnTo>
                    <a:pt x="480" y="141"/>
                  </a:lnTo>
                  <a:lnTo>
                    <a:pt x="480" y="132"/>
                  </a:lnTo>
                  <a:lnTo>
                    <a:pt x="482" y="124"/>
                  </a:lnTo>
                  <a:lnTo>
                    <a:pt x="483" y="116"/>
                  </a:lnTo>
                  <a:lnTo>
                    <a:pt x="483" y="107"/>
                  </a:lnTo>
                  <a:lnTo>
                    <a:pt x="483" y="99"/>
                  </a:lnTo>
                  <a:close/>
                  <a:moveTo>
                    <a:pt x="11" y="21"/>
                  </a:moveTo>
                  <a:lnTo>
                    <a:pt x="10" y="31"/>
                  </a:lnTo>
                  <a:lnTo>
                    <a:pt x="6" y="41"/>
                  </a:lnTo>
                  <a:lnTo>
                    <a:pt x="5" y="50"/>
                  </a:lnTo>
                  <a:lnTo>
                    <a:pt x="3" y="59"/>
                  </a:lnTo>
                  <a:lnTo>
                    <a:pt x="1" y="69"/>
                  </a:lnTo>
                  <a:lnTo>
                    <a:pt x="0" y="79"/>
                  </a:lnTo>
                  <a:lnTo>
                    <a:pt x="0" y="89"/>
                  </a:lnTo>
                  <a:lnTo>
                    <a:pt x="0" y="99"/>
                  </a:lnTo>
                  <a:lnTo>
                    <a:pt x="0" y="112"/>
                  </a:lnTo>
                  <a:lnTo>
                    <a:pt x="1" y="126"/>
                  </a:lnTo>
                  <a:lnTo>
                    <a:pt x="3" y="137"/>
                  </a:lnTo>
                  <a:lnTo>
                    <a:pt x="5" y="151"/>
                  </a:lnTo>
                  <a:lnTo>
                    <a:pt x="8" y="164"/>
                  </a:lnTo>
                  <a:lnTo>
                    <a:pt x="11" y="175"/>
                  </a:lnTo>
                  <a:lnTo>
                    <a:pt x="16" y="187"/>
                  </a:lnTo>
                  <a:lnTo>
                    <a:pt x="21" y="199"/>
                  </a:lnTo>
                  <a:lnTo>
                    <a:pt x="26" y="199"/>
                  </a:lnTo>
                  <a:lnTo>
                    <a:pt x="21" y="187"/>
                  </a:lnTo>
                  <a:lnTo>
                    <a:pt x="16" y="175"/>
                  </a:lnTo>
                  <a:lnTo>
                    <a:pt x="13" y="164"/>
                  </a:lnTo>
                  <a:lnTo>
                    <a:pt x="10" y="151"/>
                  </a:lnTo>
                  <a:lnTo>
                    <a:pt x="8" y="137"/>
                  </a:lnTo>
                  <a:lnTo>
                    <a:pt x="6" y="126"/>
                  </a:lnTo>
                  <a:lnTo>
                    <a:pt x="5" y="112"/>
                  </a:lnTo>
                  <a:lnTo>
                    <a:pt x="5" y="99"/>
                  </a:lnTo>
                  <a:lnTo>
                    <a:pt x="5" y="89"/>
                  </a:lnTo>
                  <a:lnTo>
                    <a:pt x="5" y="78"/>
                  </a:lnTo>
                  <a:lnTo>
                    <a:pt x="6" y="68"/>
                  </a:lnTo>
                  <a:lnTo>
                    <a:pt x="8" y="58"/>
                  </a:lnTo>
                  <a:lnTo>
                    <a:pt x="10" y="48"/>
                  </a:lnTo>
                  <a:lnTo>
                    <a:pt x="11" y="38"/>
                  </a:lnTo>
                  <a:lnTo>
                    <a:pt x="15" y="28"/>
                  </a:lnTo>
                  <a:lnTo>
                    <a:pt x="18" y="20"/>
                  </a:lnTo>
                  <a:lnTo>
                    <a:pt x="11" y="21"/>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41" name="Freeform 181">
              <a:extLst>
                <a:ext uri="{FF2B5EF4-FFF2-40B4-BE49-F238E27FC236}">
                  <a16:creationId xmlns:a16="http://schemas.microsoft.com/office/drawing/2014/main" id="{E1F26746-8922-5268-B347-7524E8D95F2B}"/>
                </a:ext>
              </a:extLst>
            </p:cNvPr>
            <p:cNvSpPr>
              <a:spLocks noEditPoints="1"/>
            </p:cNvSpPr>
            <p:nvPr/>
          </p:nvSpPr>
          <p:spPr bwMode="auto">
            <a:xfrm>
              <a:off x="1596" y="1514"/>
              <a:ext cx="479" cy="199"/>
            </a:xfrm>
            <a:custGeom>
              <a:avLst/>
              <a:gdLst>
                <a:gd name="T0" fmla="*/ 479 w 479"/>
                <a:gd name="T1" fmla="*/ 86 h 199"/>
                <a:gd name="T2" fmla="*/ 477 w 479"/>
                <a:gd name="T3" fmla="*/ 59 h 199"/>
                <a:gd name="T4" fmla="*/ 471 w 479"/>
                <a:gd name="T5" fmla="*/ 35 h 199"/>
                <a:gd name="T6" fmla="*/ 462 w 479"/>
                <a:gd name="T7" fmla="*/ 11 h 199"/>
                <a:gd name="T8" fmla="*/ 452 w 479"/>
                <a:gd name="T9" fmla="*/ 0 h 199"/>
                <a:gd name="T10" fmla="*/ 462 w 479"/>
                <a:gd name="T11" fmla="*/ 23 h 199"/>
                <a:gd name="T12" fmla="*/ 469 w 479"/>
                <a:gd name="T13" fmla="*/ 48 h 199"/>
                <a:gd name="T14" fmla="*/ 474 w 479"/>
                <a:gd name="T15" fmla="*/ 73 h 199"/>
                <a:gd name="T16" fmla="*/ 476 w 479"/>
                <a:gd name="T17" fmla="*/ 99 h 199"/>
                <a:gd name="T18" fmla="*/ 474 w 479"/>
                <a:gd name="T19" fmla="*/ 117 h 199"/>
                <a:gd name="T20" fmla="*/ 472 w 479"/>
                <a:gd name="T21" fmla="*/ 136 h 199"/>
                <a:gd name="T22" fmla="*/ 469 w 479"/>
                <a:gd name="T23" fmla="*/ 152 h 199"/>
                <a:gd name="T24" fmla="*/ 464 w 479"/>
                <a:gd name="T25" fmla="*/ 169 h 199"/>
                <a:gd name="T26" fmla="*/ 472 w 479"/>
                <a:gd name="T27" fmla="*/ 159 h 199"/>
                <a:gd name="T28" fmla="*/ 476 w 479"/>
                <a:gd name="T29" fmla="*/ 142 h 199"/>
                <a:gd name="T30" fmla="*/ 479 w 479"/>
                <a:gd name="T31" fmla="*/ 126 h 199"/>
                <a:gd name="T32" fmla="*/ 479 w 479"/>
                <a:gd name="T33" fmla="*/ 107 h 199"/>
                <a:gd name="T34" fmla="*/ 14 w 479"/>
                <a:gd name="T35" fmla="*/ 20 h 199"/>
                <a:gd name="T36" fmla="*/ 9 w 479"/>
                <a:gd name="T37" fmla="*/ 40 h 199"/>
                <a:gd name="T38" fmla="*/ 4 w 479"/>
                <a:gd name="T39" fmla="*/ 59 h 199"/>
                <a:gd name="T40" fmla="*/ 2 w 479"/>
                <a:gd name="T41" fmla="*/ 79 h 199"/>
                <a:gd name="T42" fmla="*/ 0 w 479"/>
                <a:gd name="T43" fmla="*/ 99 h 199"/>
                <a:gd name="T44" fmla="*/ 2 w 479"/>
                <a:gd name="T45" fmla="*/ 126 h 199"/>
                <a:gd name="T46" fmla="*/ 7 w 479"/>
                <a:gd name="T47" fmla="*/ 151 h 199"/>
                <a:gd name="T48" fmla="*/ 14 w 479"/>
                <a:gd name="T49" fmla="*/ 175 h 199"/>
                <a:gd name="T50" fmla="*/ 22 w 479"/>
                <a:gd name="T51" fmla="*/ 199 h 199"/>
                <a:gd name="T52" fmla="*/ 22 w 479"/>
                <a:gd name="T53" fmla="*/ 187 h 199"/>
                <a:gd name="T54" fmla="*/ 14 w 479"/>
                <a:gd name="T55" fmla="*/ 164 h 199"/>
                <a:gd name="T56" fmla="*/ 9 w 479"/>
                <a:gd name="T57" fmla="*/ 139 h 199"/>
                <a:gd name="T58" fmla="*/ 5 w 479"/>
                <a:gd name="T59" fmla="*/ 112 h 199"/>
                <a:gd name="T60" fmla="*/ 5 w 479"/>
                <a:gd name="T61" fmla="*/ 88 h 199"/>
                <a:gd name="T62" fmla="*/ 7 w 479"/>
                <a:gd name="T63" fmla="*/ 68 h 199"/>
                <a:gd name="T64" fmla="*/ 12 w 479"/>
                <a:gd name="T65" fmla="*/ 46 h 199"/>
                <a:gd name="T66" fmla="*/ 17 w 479"/>
                <a:gd name="T67" fmla="*/ 28 h 199"/>
                <a:gd name="T68" fmla="*/ 14 w 479"/>
                <a:gd name="T69" fmla="*/ 2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9" h="199">
                  <a:moveTo>
                    <a:pt x="479" y="99"/>
                  </a:moveTo>
                  <a:lnTo>
                    <a:pt x="479" y="86"/>
                  </a:lnTo>
                  <a:lnTo>
                    <a:pt x="479" y="73"/>
                  </a:lnTo>
                  <a:lnTo>
                    <a:pt x="477" y="59"/>
                  </a:lnTo>
                  <a:lnTo>
                    <a:pt x="474" y="48"/>
                  </a:lnTo>
                  <a:lnTo>
                    <a:pt x="471" y="35"/>
                  </a:lnTo>
                  <a:lnTo>
                    <a:pt x="467" y="23"/>
                  </a:lnTo>
                  <a:lnTo>
                    <a:pt x="462" y="11"/>
                  </a:lnTo>
                  <a:lnTo>
                    <a:pt x="457" y="0"/>
                  </a:lnTo>
                  <a:lnTo>
                    <a:pt x="452" y="0"/>
                  </a:lnTo>
                  <a:lnTo>
                    <a:pt x="457" y="11"/>
                  </a:lnTo>
                  <a:lnTo>
                    <a:pt x="462" y="23"/>
                  </a:lnTo>
                  <a:lnTo>
                    <a:pt x="466" y="35"/>
                  </a:lnTo>
                  <a:lnTo>
                    <a:pt x="469" y="48"/>
                  </a:lnTo>
                  <a:lnTo>
                    <a:pt x="472" y="59"/>
                  </a:lnTo>
                  <a:lnTo>
                    <a:pt x="474" y="73"/>
                  </a:lnTo>
                  <a:lnTo>
                    <a:pt x="474" y="86"/>
                  </a:lnTo>
                  <a:lnTo>
                    <a:pt x="476" y="99"/>
                  </a:lnTo>
                  <a:lnTo>
                    <a:pt x="474" y="107"/>
                  </a:lnTo>
                  <a:lnTo>
                    <a:pt x="474" y="117"/>
                  </a:lnTo>
                  <a:lnTo>
                    <a:pt x="474" y="126"/>
                  </a:lnTo>
                  <a:lnTo>
                    <a:pt x="472" y="136"/>
                  </a:lnTo>
                  <a:lnTo>
                    <a:pt x="471" y="144"/>
                  </a:lnTo>
                  <a:lnTo>
                    <a:pt x="469" y="152"/>
                  </a:lnTo>
                  <a:lnTo>
                    <a:pt x="467" y="160"/>
                  </a:lnTo>
                  <a:lnTo>
                    <a:pt x="464" y="169"/>
                  </a:lnTo>
                  <a:lnTo>
                    <a:pt x="471" y="167"/>
                  </a:lnTo>
                  <a:lnTo>
                    <a:pt x="472" y="159"/>
                  </a:lnTo>
                  <a:lnTo>
                    <a:pt x="474" y="151"/>
                  </a:lnTo>
                  <a:lnTo>
                    <a:pt x="476" y="142"/>
                  </a:lnTo>
                  <a:lnTo>
                    <a:pt x="477" y="134"/>
                  </a:lnTo>
                  <a:lnTo>
                    <a:pt x="479" y="126"/>
                  </a:lnTo>
                  <a:lnTo>
                    <a:pt x="479" y="116"/>
                  </a:lnTo>
                  <a:lnTo>
                    <a:pt x="479" y="107"/>
                  </a:lnTo>
                  <a:lnTo>
                    <a:pt x="479" y="99"/>
                  </a:lnTo>
                  <a:close/>
                  <a:moveTo>
                    <a:pt x="14" y="20"/>
                  </a:moveTo>
                  <a:lnTo>
                    <a:pt x="10" y="30"/>
                  </a:lnTo>
                  <a:lnTo>
                    <a:pt x="9" y="40"/>
                  </a:lnTo>
                  <a:lnTo>
                    <a:pt x="5" y="50"/>
                  </a:lnTo>
                  <a:lnTo>
                    <a:pt x="4" y="59"/>
                  </a:lnTo>
                  <a:lnTo>
                    <a:pt x="2" y="69"/>
                  </a:lnTo>
                  <a:lnTo>
                    <a:pt x="2" y="79"/>
                  </a:lnTo>
                  <a:lnTo>
                    <a:pt x="0" y="89"/>
                  </a:lnTo>
                  <a:lnTo>
                    <a:pt x="0" y="99"/>
                  </a:lnTo>
                  <a:lnTo>
                    <a:pt x="0" y="112"/>
                  </a:lnTo>
                  <a:lnTo>
                    <a:pt x="2" y="126"/>
                  </a:lnTo>
                  <a:lnTo>
                    <a:pt x="4" y="137"/>
                  </a:lnTo>
                  <a:lnTo>
                    <a:pt x="7" y="151"/>
                  </a:lnTo>
                  <a:lnTo>
                    <a:pt x="9" y="164"/>
                  </a:lnTo>
                  <a:lnTo>
                    <a:pt x="14" y="175"/>
                  </a:lnTo>
                  <a:lnTo>
                    <a:pt x="17" y="187"/>
                  </a:lnTo>
                  <a:lnTo>
                    <a:pt x="22" y="199"/>
                  </a:lnTo>
                  <a:lnTo>
                    <a:pt x="27" y="199"/>
                  </a:lnTo>
                  <a:lnTo>
                    <a:pt x="22" y="187"/>
                  </a:lnTo>
                  <a:lnTo>
                    <a:pt x="18" y="175"/>
                  </a:lnTo>
                  <a:lnTo>
                    <a:pt x="14" y="164"/>
                  </a:lnTo>
                  <a:lnTo>
                    <a:pt x="12" y="151"/>
                  </a:lnTo>
                  <a:lnTo>
                    <a:pt x="9" y="139"/>
                  </a:lnTo>
                  <a:lnTo>
                    <a:pt x="7" y="126"/>
                  </a:lnTo>
                  <a:lnTo>
                    <a:pt x="5" y="112"/>
                  </a:lnTo>
                  <a:lnTo>
                    <a:pt x="5" y="99"/>
                  </a:lnTo>
                  <a:lnTo>
                    <a:pt x="5" y="88"/>
                  </a:lnTo>
                  <a:lnTo>
                    <a:pt x="7" y="78"/>
                  </a:lnTo>
                  <a:lnTo>
                    <a:pt x="7" y="68"/>
                  </a:lnTo>
                  <a:lnTo>
                    <a:pt x="9" y="58"/>
                  </a:lnTo>
                  <a:lnTo>
                    <a:pt x="12" y="46"/>
                  </a:lnTo>
                  <a:lnTo>
                    <a:pt x="14" y="36"/>
                  </a:lnTo>
                  <a:lnTo>
                    <a:pt x="17" y="28"/>
                  </a:lnTo>
                  <a:lnTo>
                    <a:pt x="20" y="18"/>
                  </a:lnTo>
                  <a:lnTo>
                    <a:pt x="14" y="2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42" name="Freeform 182">
              <a:extLst>
                <a:ext uri="{FF2B5EF4-FFF2-40B4-BE49-F238E27FC236}">
                  <a16:creationId xmlns:a16="http://schemas.microsoft.com/office/drawing/2014/main" id="{3F02ACB8-30F1-3E1F-B21B-632A65ECC33C}"/>
                </a:ext>
              </a:extLst>
            </p:cNvPr>
            <p:cNvSpPr>
              <a:spLocks noEditPoints="1"/>
            </p:cNvSpPr>
            <p:nvPr/>
          </p:nvSpPr>
          <p:spPr bwMode="auto">
            <a:xfrm>
              <a:off x="1600" y="1514"/>
              <a:ext cx="473" cy="199"/>
            </a:xfrm>
            <a:custGeom>
              <a:avLst/>
              <a:gdLst>
                <a:gd name="T0" fmla="*/ 473 w 473"/>
                <a:gd name="T1" fmla="*/ 86 h 199"/>
                <a:gd name="T2" fmla="*/ 470 w 473"/>
                <a:gd name="T3" fmla="*/ 59 h 199"/>
                <a:gd name="T4" fmla="*/ 465 w 473"/>
                <a:gd name="T5" fmla="*/ 35 h 199"/>
                <a:gd name="T6" fmla="*/ 457 w 473"/>
                <a:gd name="T7" fmla="*/ 11 h 199"/>
                <a:gd name="T8" fmla="*/ 447 w 473"/>
                <a:gd name="T9" fmla="*/ 0 h 199"/>
                <a:gd name="T10" fmla="*/ 455 w 473"/>
                <a:gd name="T11" fmla="*/ 23 h 199"/>
                <a:gd name="T12" fmla="*/ 463 w 473"/>
                <a:gd name="T13" fmla="*/ 48 h 199"/>
                <a:gd name="T14" fmla="*/ 467 w 473"/>
                <a:gd name="T15" fmla="*/ 73 h 199"/>
                <a:gd name="T16" fmla="*/ 468 w 473"/>
                <a:gd name="T17" fmla="*/ 99 h 199"/>
                <a:gd name="T18" fmla="*/ 468 w 473"/>
                <a:gd name="T19" fmla="*/ 117 h 199"/>
                <a:gd name="T20" fmla="*/ 465 w 473"/>
                <a:gd name="T21" fmla="*/ 136 h 199"/>
                <a:gd name="T22" fmla="*/ 462 w 473"/>
                <a:gd name="T23" fmla="*/ 154 h 199"/>
                <a:gd name="T24" fmla="*/ 457 w 473"/>
                <a:gd name="T25" fmla="*/ 170 h 199"/>
                <a:gd name="T26" fmla="*/ 465 w 473"/>
                <a:gd name="T27" fmla="*/ 160 h 199"/>
                <a:gd name="T28" fmla="*/ 470 w 473"/>
                <a:gd name="T29" fmla="*/ 144 h 199"/>
                <a:gd name="T30" fmla="*/ 472 w 473"/>
                <a:gd name="T31" fmla="*/ 126 h 199"/>
                <a:gd name="T32" fmla="*/ 473 w 473"/>
                <a:gd name="T33" fmla="*/ 107 h 199"/>
                <a:gd name="T34" fmla="*/ 13 w 473"/>
                <a:gd name="T35" fmla="*/ 20 h 199"/>
                <a:gd name="T36" fmla="*/ 6 w 473"/>
                <a:gd name="T37" fmla="*/ 38 h 199"/>
                <a:gd name="T38" fmla="*/ 3 w 473"/>
                <a:gd name="T39" fmla="*/ 58 h 199"/>
                <a:gd name="T40" fmla="*/ 0 w 473"/>
                <a:gd name="T41" fmla="*/ 78 h 199"/>
                <a:gd name="T42" fmla="*/ 0 w 473"/>
                <a:gd name="T43" fmla="*/ 99 h 199"/>
                <a:gd name="T44" fmla="*/ 1 w 473"/>
                <a:gd name="T45" fmla="*/ 126 h 199"/>
                <a:gd name="T46" fmla="*/ 5 w 473"/>
                <a:gd name="T47" fmla="*/ 151 h 199"/>
                <a:gd name="T48" fmla="*/ 11 w 473"/>
                <a:gd name="T49" fmla="*/ 175 h 199"/>
                <a:gd name="T50" fmla="*/ 21 w 473"/>
                <a:gd name="T51" fmla="*/ 199 h 199"/>
                <a:gd name="T52" fmla="*/ 21 w 473"/>
                <a:gd name="T53" fmla="*/ 187 h 199"/>
                <a:gd name="T54" fmla="*/ 13 w 473"/>
                <a:gd name="T55" fmla="*/ 164 h 199"/>
                <a:gd name="T56" fmla="*/ 8 w 473"/>
                <a:gd name="T57" fmla="*/ 139 h 199"/>
                <a:gd name="T58" fmla="*/ 5 w 473"/>
                <a:gd name="T59" fmla="*/ 112 h 199"/>
                <a:gd name="T60" fmla="*/ 5 w 473"/>
                <a:gd name="T61" fmla="*/ 88 h 199"/>
                <a:gd name="T62" fmla="*/ 6 w 473"/>
                <a:gd name="T63" fmla="*/ 66 h 199"/>
                <a:gd name="T64" fmla="*/ 10 w 473"/>
                <a:gd name="T65" fmla="*/ 46 h 199"/>
                <a:gd name="T66" fmla="*/ 16 w 473"/>
                <a:gd name="T67" fmla="*/ 26 h 199"/>
                <a:gd name="T68" fmla="*/ 13 w 473"/>
                <a:gd name="T69" fmla="*/ 2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3" h="199">
                  <a:moveTo>
                    <a:pt x="473" y="99"/>
                  </a:moveTo>
                  <a:lnTo>
                    <a:pt x="473" y="86"/>
                  </a:lnTo>
                  <a:lnTo>
                    <a:pt x="472" y="73"/>
                  </a:lnTo>
                  <a:lnTo>
                    <a:pt x="470" y="59"/>
                  </a:lnTo>
                  <a:lnTo>
                    <a:pt x="468" y="48"/>
                  </a:lnTo>
                  <a:lnTo>
                    <a:pt x="465" y="35"/>
                  </a:lnTo>
                  <a:lnTo>
                    <a:pt x="460" y="23"/>
                  </a:lnTo>
                  <a:lnTo>
                    <a:pt x="457" y="11"/>
                  </a:lnTo>
                  <a:lnTo>
                    <a:pt x="452" y="0"/>
                  </a:lnTo>
                  <a:lnTo>
                    <a:pt x="447" y="0"/>
                  </a:lnTo>
                  <a:lnTo>
                    <a:pt x="452" y="11"/>
                  </a:lnTo>
                  <a:lnTo>
                    <a:pt x="455" y="23"/>
                  </a:lnTo>
                  <a:lnTo>
                    <a:pt x="460" y="35"/>
                  </a:lnTo>
                  <a:lnTo>
                    <a:pt x="463" y="48"/>
                  </a:lnTo>
                  <a:lnTo>
                    <a:pt x="465" y="59"/>
                  </a:lnTo>
                  <a:lnTo>
                    <a:pt x="467" y="73"/>
                  </a:lnTo>
                  <a:lnTo>
                    <a:pt x="468" y="86"/>
                  </a:lnTo>
                  <a:lnTo>
                    <a:pt x="468" y="99"/>
                  </a:lnTo>
                  <a:lnTo>
                    <a:pt x="468" y="109"/>
                  </a:lnTo>
                  <a:lnTo>
                    <a:pt x="468" y="117"/>
                  </a:lnTo>
                  <a:lnTo>
                    <a:pt x="467" y="127"/>
                  </a:lnTo>
                  <a:lnTo>
                    <a:pt x="465" y="136"/>
                  </a:lnTo>
                  <a:lnTo>
                    <a:pt x="463" y="146"/>
                  </a:lnTo>
                  <a:lnTo>
                    <a:pt x="462" y="154"/>
                  </a:lnTo>
                  <a:lnTo>
                    <a:pt x="460" y="162"/>
                  </a:lnTo>
                  <a:lnTo>
                    <a:pt x="457" y="170"/>
                  </a:lnTo>
                  <a:lnTo>
                    <a:pt x="463" y="169"/>
                  </a:lnTo>
                  <a:lnTo>
                    <a:pt x="465" y="160"/>
                  </a:lnTo>
                  <a:lnTo>
                    <a:pt x="467" y="152"/>
                  </a:lnTo>
                  <a:lnTo>
                    <a:pt x="470" y="144"/>
                  </a:lnTo>
                  <a:lnTo>
                    <a:pt x="470" y="134"/>
                  </a:lnTo>
                  <a:lnTo>
                    <a:pt x="472" y="126"/>
                  </a:lnTo>
                  <a:lnTo>
                    <a:pt x="473" y="117"/>
                  </a:lnTo>
                  <a:lnTo>
                    <a:pt x="473" y="107"/>
                  </a:lnTo>
                  <a:lnTo>
                    <a:pt x="473" y="99"/>
                  </a:lnTo>
                  <a:close/>
                  <a:moveTo>
                    <a:pt x="13" y="20"/>
                  </a:moveTo>
                  <a:lnTo>
                    <a:pt x="10" y="28"/>
                  </a:lnTo>
                  <a:lnTo>
                    <a:pt x="6" y="38"/>
                  </a:lnTo>
                  <a:lnTo>
                    <a:pt x="5" y="48"/>
                  </a:lnTo>
                  <a:lnTo>
                    <a:pt x="3" y="58"/>
                  </a:lnTo>
                  <a:lnTo>
                    <a:pt x="1" y="68"/>
                  </a:lnTo>
                  <a:lnTo>
                    <a:pt x="0" y="78"/>
                  </a:lnTo>
                  <a:lnTo>
                    <a:pt x="0" y="89"/>
                  </a:lnTo>
                  <a:lnTo>
                    <a:pt x="0" y="99"/>
                  </a:lnTo>
                  <a:lnTo>
                    <a:pt x="0" y="112"/>
                  </a:lnTo>
                  <a:lnTo>
                    <a:pt x="1" y="126"/>
                  </a:lnTo>
                  <a:lnTo>
                    <a:pt x="3" y="137"/>
                  </a:lnTo>
                  <a:lnTo>
                    <a:pt x="5" y="151"/>
                  </a:lnTo>
                  <a:lnTo>
                    <a:pt x="8" y="164"/>
                  </a:lnTo>
                  <a:lnTo>
                    <a:pt x="11" y="175"/>
                  </a:lnTo>
                  <a:lnTo>
                    <a:pt x="16" y="187"/>
                  </a:lnTo>
                  <a:lnTo>
                    <a:pt x="21" y="199"/>
                  </a:lnTo>
                  <a:lnTo>
                    <a:pt x="26" y="199"/>
                  </a:lnTo>
                  <a:lnTo>
                    <a:pt x="21" y="187"/>
                  </a:lnTo>
                  <a:lnTo>
                    <a:pt x="16" y="175"/>
                  </a:lnTo>
                  <a:lnTo>
                    <a:pt x="13" y="164"/>
                  </a:lnTo>
                  <a:lnTo>
                    <a:pt x="10" y="151"/>
                  </a:lnTo>
                  <a:lnTo>
                    <a:pt x="8" y="139"/>
                  </a:lnTo>
                  <a:lnTo>
                    <a:pt x="5" y="126"/>
                  </a:lnTo>
                  <a:lnTo>
                    <a:pt x="5" y="112"/>
                  </a:lnTo>
                  <a:lnTo>
                    <a:pt x="5" y="99"/>
                  </a:lnTo>
                  <a:lnTo>
                    <a:pt x="5" y="88"/>
                  </a:lnTo>
                  <a:lnTo>
                    <a:pt x="5" y="78"/>
                  </a:lnTo>
                  <a:lnTo>
                    <a:pt x="6" y="66"/>
                  </a:lnTo>
                  <a:lnTo>
                    <a:pt x="8" y="56"/>
                  </a:lnTo>
                  <a:lnTo>
                    <a:pt x="10" y="46"/>
                  </a:lnTo>
                  <a:lnTo>
                    <a:pt x="13" y="36"/>
                  </a:lnTo>
                  <a:lnTo>
                    <a:pt x="16" y="26"/>
                  </a:lnTo>
                  <a:lnTo>
                    <a:pt x="19" y="16"/>
                  </a:lnTo>
                  <a:lnTo>
                    <a:pt x="13" y="2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43" name="Freeform 183">
              <a:extLst>
                <a:ext uri="{FF2B5EF4-FFF2-40B4-BE49-F238E27FC236}">
                  <a16:creationId xmlns:a16="http://schemas.microsoft.com/office/drawing/2014/main" id="{89AA9089-EF7E-F721-6869-AD5AB5C47BCD}"/>
                </a:ext>
              </a:extLst>
            </p:cNvPr>
            <p:cNvSpPr>
              <a:spLocks noEditPoints="1"/>
            </p:cNvSpPr>
            <p:nvPr/>
          </p:nvSpPr>
          <p:spPr bwMode="auto">
            <a:xfrm>
              <a:off x="1601" y="1514"/>
              <a:ext cx="471" cy="199"/>
            </a:xfrm>
            <a:custGeom>
              <a:avLst/>
              <a:gdLst>
                <a:gd name="T0" fmla="*/ 469 w 471"/>
                <a:gd name="T1" fmla="*/ 86 h 199"/>
                <a:gd name="T2" fmla="*/ 467 w 471"/>
                <a:gd name="T3" fmla="*/ 59 h 199"/>
                <a:gd name="T4" fmla="*/ 461 w 471"/>
                <a:gd name="T5" fmla="*/ 35 h 199"/>
                <a:gd name="T6" fmla="*/ 452 w 471"/>
                <a:gd name="T7" fmla="*/ 11 h 199"/>
                <a:gd name="T8" fmla="*/ 442 w 471"/>
                <a:gd name="T9" fmla="*/ 0 h 199"/>
                <a:gd name="T10" fmla="*/ 452 w 471"/>
                <a:gd name="T11" fmla="*/ 23 h 199"/>
                <a:gd name="T12" fmla="*/ 459 w 471"/>
                <a:gd name="T13" fmla="*/ 48 h 199"/>
                <a:gd name="T14" fmla="*/ 464 w 471"/>
                <a:gd name="T15" fmla="*/ 73 h 199"/>
                <a:gd name="T16" fmla="*/ 466 w 471"/>
                <a:gd name="T17" fmla="*/ 99 h 199"/>
                <a:gd name="T18" fmla="*/ 464 w 471"/>
                <a:gd name="T19" fmla="*/ 117 h 199"/>
                <a:gd name="T20" fmla="*/ 462 w 471"/>
                <a:gd name="T21" fmla="*/ 137 h 199"/>
                <a:gd name="T22" fmla="*/ 459 w 471"/>
                <a:gd name="T23" fmla="*/ 154 h 199"/>
                <a:gd name="T24" fmla="*/ 452 w 471"/>
                <a:gd name="T25" fmla="*/ 172 h 199"/>
                <a:gd name="T26" fmla="*/ 462 w 471"/>
                <a:gd name="T27" fmla="*/ 160 h 199"/>
                <a:gd name="T28" fmla="*/ 466 w 471"/>
                <a:gd name="T29" fmla="*/ 144 h 199"/>
                <a:gd name="T30" fmla="*/ 469 w 471"/>
                <a:gd name="T31" fmla="*/ 126 h 199"/>
                <a:gd name="T32" fmla="*/ 469 w 471"/>
                <a:gd name="T33" fmla="*/ 107 h 199"/>
                <a:gd name="T34" fmla="*/ 15 w 471"/>
                <a:gd name="T35" fmla="*/ 18 h 199"/>
                <a:gd name="T36" fmla="*/ 9 w 471"/>
                <a:gd name="T37" fmla="*/ 36 h 199"/>
                <a:gd name="T38" fmla="*/ 4 w 471"/>
                <a:gd name="T39" fmla="*/ 58 h 199"/>
                <a:gd name="T40" fmla="*/ 2 w 471"/>
                <a:gd name="T41" fmla="*/ 78 h 199"/>
                <a:gd name="T42" fmla="*/ 0 w 471"/>
                <a:gd name="T43" fmla="*/ 99 h 199"/>
                <a:gd name="T44" fmla="*/ 2 w 471"/>
                <a:gd name="T45" fmla="*/ 126 h 199"/>
                <a:gd name="T46" fmla="*/ 7 w 471"/>
                <a:gd name="T47" fmla="*/ 151 h 199"/>
                <a:gd name="T48" fmla="*/ 13 w 471"/>
                <a:gd name="T49" fmla="*/ 175 h 199"/>
                <a:gd name="T50" fmla="*/ 22 w 471"/>
                <a:gd name="T51" fmla="*/ 199 h 199"/>
                <a:gd name="T52" fmla="*/ 23 w 471"/>
                <a:gd name="T53" fmla="*/ 187 h 199"/>
                <a:gd name="T54" fmla="*/ 15 w 471"/>
                <a:gd name="T55" fmla="*/ 164 h 199"/>
                <a:gd name="T56" fmla="*/ 9 w 471"/>
                <a:gd name="T57" fmla="*/ 139 h 199"/>
                <a:gd name="T58" fmla="*/ 5 w 471"/>
                <a:gd name="T59" fmla="*/ 112 h 199"/>
                <a:gd name="T60" fmla="*/ 5 w 471"/>
                <a:gd name="T61" fmla="*/ 88 h 199"/>
                <a:gd name="T62" fmla="*/ 7 w 471"/>
                <a:gd name="T63" fmla="*/ 66 h 199"/>
                <a:gd name="T64" fmla="*/ 12 w 471"/>
                <a:gd name="T65" fmla="*/ 45 h 199"/>
                <a:gd name="T66" fmla="*/ 17 w 471"/>
                <a:gd name="T67" fmla="*/ 25 h 199"/>
                <a:gd name="T68" fmla="*/ 15 w 471"/>
                <a:gd name="T69" fmla="*/ 1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1" h="199">
                  <a:moveTo>
                    <a:pt x="471" y="99"/>
                  </a:moveTo>
                  <a:lnTo>
                    <a:pt x="469" y="86"/>
                  </a:lnTo>
                  <a:lnTo>
                    <a:pt x="469" y="73"/>
                  </a:lnTo>
                  <a:lnTo>
                    <a:pt x="467" y="59"/>
                  </a:lnTo>
                  <a:lnTo>
                    <a:pt x="464" y="48"/>
                  </a:lnTo>
                  <a:lnTo>
                    <a:pt x="461" y="35"/>
                  </a:lnTo>
                  <a:lnTo>
                    <a:pt x="457" y="23"/>
                  </a:lnTo>
                  <a:lnTo>
                    <a:pt x="452" y="11"/>
                  </a:lnTo>
                  <a:lnTo>
                    <a:pt x="447" y="0"/>
                  </a:lnTo>
                  <a:lnTo>
                    <a:pt x="442" y="0"/>
                  </a:lnTo>
                  <a:lnTo>
                    <a:pt x="447" y="11"/>
                  </a:lnTo>
                  <a:lnTo>
                    <a:pt x="452" y="23"/>
                  </a:lnTo>
                  <a:lnTo>
                    <a:pt x="456" y="35"/>
                  </a:lnTo>
                  <a:lnTo>
                    <a:pt x="459" y="48"/>
                  </a:lnTo>
                  <a:lnTo>
                    <a:pt x="462" y="59"/>
                  </a:lnTo>
                  <a:lnTo>
                    <a:pt x="464" y="73"/>
                  </a:lnTo>
                  <a:lnTo>
                    <a:pt x="464" y="86"/>
                  </a:lnTo>
                  <a:lnTo>
                    <a:pt x="466" y="99"/>
                  </a:lnTo>
                  <a:lnTo>
                    <a:pt x="466" y="109"/>
                  </a:lnTo>
                  <a:lnTo>
                    <a:pt x="464" y="117"/>
                  </a:lnTo>
                  <a:lnTo>
                    <a:pt x="464" y="127"/>
                  </a:lnTo>
                  <a:lnTo>
                    <a:pt x="462" y="137"/>
                  </a:lnTo>
                  <a:lnTo>
                    <a:pt x="461" y="146"/>
                  </a:lnTo>
                  <a:lnTo>
                    <a:pt x="459" y="154"/>
                  </a:lnTo>
                  <a:lnTo>
                    <a:pt x="456" y="164"/>
                  </a:lnTo>
                  <a:lnTo>
                    <a:pt x="452" y="172"/>
                  </a:lnTo>
                  <a:lnTo>
                    <a:pt x="459" y="169"/>
                  </a:lnTo>
                  <a:lnTo>
                    <a:pt x="462" y="160"/>
                  </a:lnTo>
                  <a:lnTo>
                    <a:pt x="464" y="152"/>
                  </a:lnTo>
                  <a:lnTo>
                    <a:pt x="466" y="144"/>
                  </a:lnTo>
                  <a:lnTo>
                    <a:pt x="467" y="136"/>
                  </a:lnTo>
                  <a:lnTo>
                    <a:pt x="469" y="126"/>
                  </a:lnTo>
                  <a:lnTo>
                    <a:pt x="469" y="117"/>
                  </a:lnTo>
                  <a:lnTo>
                    <a:pt x="469" y="107"/>
                  </a:lnTo>
                  <a:lnTo>
                    <a:pt x="471" y="99"/>
                  </a:lnTo>
                  <a:close/>
                  <a:moveTo>
                    <a:pt x="15" y="18"/>
                  </a:moveTo>
                  <a:lnTo>
                    <a:pt x="12" y="28"/>
                  </a:lnTo>
                  <a:lnTo>
                    <a:pt x="9" y="36"/>
                  </a:lnTo>
                  <a:lnTo>
                    <a:pt x="7" y="46"/>
                  </a:lnTo>
                  <a:lnTo>
                    <a:pt x="4" y="58"/>
                  </a:lnTo>
                  <a:lnTo>
                    <a:pt x="2" y="68"/>
                  </a:lnTo>
                  <a:lnTo>
                    <a:pt x="2" y="78"/>
                  </a:lnTo>
                  <a:lnTo>
                    <a:pt x="0" y="88"/>
                  </a:lnTo>
                  <a:lnTo>
                    <a:pt x="0" y="99"/>
                  </a:lnTo>
                  <a:lnTo>
                    <a:pt x="0" y="112"/>
                  </a:lnTo>
                  <a:lnTo>
                    <a:pt x="2" y="126"/>
                  </a:lnTo>
                  <a:lnTo>
                    <a:pt x="4" y="139"/>
                  </a:lnTo>
                  <a:lnTo>
                    <a:pt x="7" y="151"/>
                  </a:lnTo>
                  <a:lnTo>
                    <a:pt x="9" y="164"/>
                  </a:lnTo>
                  <a:lnTo>
                    <a:pt x="13" y="175"/>
                  </a:lnTo>
                  <a:lnTo>
                    <a:pt x="17" y="187"/>
                  </a:lnTo>
                  <a:lnTo>
                    <a:pt x="22" y="199"/>
                  </a:lnTo>
                  <a:lnTo>
                    <a:pt x="28" y="199"/>
                  </a:lnTo>
                  <a:lnTo>
                    <a:pt x="23" y="187"/>
                  </a:lnTo>
                  <a:lnTo>
                    <a:pt x="18" y="175"/>
                  </a:lnTo>
                  <a:lnTo>
                    <a:pt x="15" y="164"/>
                  </a:lnTo>
                  <a:lnTo>
                    <a:pt x="12" y="151"/>
                  </a:lnTo>
                  <a:lnTo>
                    <a:pt x="9" y="139"/>
                  </a:lnTo>
                  <a:lnTo>
                    <a:pt x="7" y="126"/>
                  </a:lnTo>
                  <a:lnTo>
                    <a:pt x="5" y="112"/>
                  </a:lnTo>
                  <a:lnTo>
                    <a:pt x="5" y="99"/>
                  </a:lnTo>
                  <a:lnTo>
                    <a:pt x="5" y="88"/>
                  </a:lnTo>
                  <a:lnTo>
                    <a:pt x="7" y="78"/>
                  </a:lnTo>
                  <a:lnTo>
                    <a:pt x="7" y="66"/>
                  </a:lnTo>
                  <a:lnTo>
                    <a:pt x="10" y="56"/>
                  </a:lnTo>
                  <a:lnTo>
                    <a:pt x="12" y="45"/>
                  </a:lnTo>
                  <a:lnTo>
                    <a:pt x="15" y="35"/>
                  </a:lnTo>
                  <a:lnTo>
                    <a:pt x="17" y="25"/>
                  </a:lnTo>
                  <a:lnTo>
                    <a:pt x="22" y="15"/>
                  </a:lnTo>
                  <a:lnTo>
                    <a:pt x="15" y="18"/>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44" name="Freeform 184">
              <a:extLst>
                <a:ext uri="{FF2B5EF4-FFF2-40B4-BE49-F238E27FC236}">
                  <a16:creationId xmlns:a16="http://schemas.microsoft.com/office/drawing/2014/main" id="{646F2F12-0E15-FC4E-5509-B77AB754FBAB}"/>
                </a:ext>
              </a:extLst>
            </p:cNvPr>
            <p:cNvSpPr>
              <a:spLocks noEditPoints="1"/>
            </p:cNvSpPr>
            <p:nvPr/>
          </p:nvSpPr>
          <p:spPr bwMode="auto">
            <a:xfrm>
              <a:off x="1605" y="1514"/>
              <a:ext cx="463" cy="199"/>
            </a:xfrm>
            <a:custGeom>
              <a:avLst/>
              <a:gdLst>
                <a:gd name="T0" fmla="*/ 463 w 463"/>
                <a:gd name="T1" fmla="*/ 86 h 199"/>
                <a:gd name="T2" fmla="*/ 460 w 463"/>
                <a:gd name="T3" fmla="*/ 59 h 199"/>
                <a:gd name="T4" fmla="*/ 455 w 463"/>
                <a:gd name="T5" fmla="*/ 35 h 199"/>
                <a:gd name="T6" fmla="*/ 447 w 463"/>
                <a:gd name="T7" fmla="*/ 11 h 199"/>
                <a:gd name="T8" fmla="*/ 435 w 463"/>
                <a:gd name="T9" fmla="*/ 0 h 199"/>
                <a:gd name="T10" fmla="*/ 445 w 463"/>
                <a:gd name="T11" fmla="*/ 23 h 199"/>
                <a:gd name="T12" fmla="*/ 453 w 463"/>
                <a:gd name="T13" fmla="*/ 48 h 199"/>
                <a:gd name="T14" fmla="*/ 457 w 463"/>
                <a:gd name="T15" fmla="*/ 73 h 199"/>
                <a:gd name="T16" fmla="*/ 458 w 463"/>
                <a:gd name="T17" fmla="*/ 99 h 199"/>
                <a:gd name="T18" fmla="*/ 458 w 463"/>
                <a:gd name="T19" fmla="*/ 119 h 199"/>
                <a:gd name="T20" fmla="*/ 455 w 463"/>
                <a:gd name="T21" fmla="*/ 137 h 199"/>
                <a:gd name="T22" fmla="*/ 452 w 463"/>
                <a:gd name="T23" fmla="*/ 155 h 199"/>
                <a:gd name="T24" fmla="*/ 447 w 463"/>
                <a:gd name="T25" fmla="*/ 174 h 199"/>
                <a:gd name="T26" fmla="*/ 455 w 463"/>
                <a:gd name="T27" fmla="*/ 162 h 199"/>
                <a:gd name="T28" fmla="*/ 458 w 463"/>
                <a:gd name="T29" fmla="*/ 146 h 199"/>
                <a:gd name="T30" fmla="*/ 462 w 463"/>
                <a:gd name="T31" fmla="*/ 127 h 199"/>
                <a:gd name="T32" fmla="*/ 463 w 463"/>
                <a:gd name="T33" fmla="*/ 109 h 199"/>
                <a:gd name="T34" fmla="*/ 14 w 463"/>
                <a:gd name="T35" fmla="*/ 16 h 199"/>
                <a:gd name="T36" fmla="*/ 8 w 463"/>
                <a:gd name="T37" fmla="*/ 36 h 199"/>
                <a:gd name="T38" fmla="*/ 3 w 463"/>
                <a:gd name="T39" fmla="*/ 56 h 199"/>
                <a:gd name="T40" fmla="*/ 0 w 463"/>
                <a:gd name="T41" fmla="*/ 78 h 199"/>
                <a:gd name="T42" fmla="*/ 0 w 463"/>
                <a:gd name="T43" fmla="*/ 99 h 199"/>
                <a:gd name="T44" fmla="*/ 0 w 463"/>
                <a:gd name="T45" fmla="*/ 126 h 199"/>
                <a:gd name="T46" fmla="*/ 5 w 463"/>
                <a:gd name="T47" fmla="*/ 151 h 199"/>
                <a:gd name="T48" fmla="*/ 11 w 463"/>
                <a:gd name="T49" fmla="*/ 175 h 199"/>
                <a:gd name="T50" fmla="*/ 21 w 463"/>
                <a:gd name="T51" fmla="*/ 199 h 199"/>
                <a:gd name="T52" fmla="*/ 21 w 463"/>
                <a:gd name="T53" fmla="*/ 187 h 199"/>
                <a:gd name="T54" fmla="*/ 13 w 463"/>
                <a:gd name="T55" fmla="*/ 164 h 199"/>
                <a:gd name="T56" fmla="*/ 8 w 463"/>
                <a:gd name="T57" fmla="*/ 139 h 199"/>
                <a:gd name="T58" fmla="*/ 5 w 463"/>
                <a:gd name="T59" fmla="*/ 112 h 199"/>
                <a:gd name="T60" fmla="*/ 5 w 463"/>
                <a:gd name="T61" fmla="*/ 88 h 199"/>
                <a:gd name="T62" fmla="*/ 6 w 463"/>
                <a:gd name="T63" fmla="*/ 66 h 199"/>
                <a:gd name="T64" fmla="*/ 11 w 463"/>
                <a:gd name="T65" fmla="*/ 45 h 199"/>
                <a:gd name="T66" fmla="*/ 16 w 463"/>
                <a:gd name="T67" fmla="*/ 23 h 199"/>
                <a:gd name="T68" fmla="*/ 14 w 463"/>
                <a:gd name="T69" fmla="*/ 1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3" h="199">
                  <a:moveTo>
                    <a:pt x="463" y="99"/>
                  </a:moveTo>
                  <a:lnTo>
                    <a:pt x="463" y="86"/>
                  </a:lnTo>
                  <a:lnTo>
                    <a:pt x="462" y="73"/>
                  </a:lnTo>
                  <a:lnTo>
                    <a:pt x="460" y="59"/>
                  </a:lnTo>
                  <a:lnTo>
                    <a:pt x="458" y="48"/>
                  </a:lnTo>
                  <a:lnTo>
                    <a:pt x="455" y="35"/>
                  </a:lnTo>
                  <a:lnTo>
                    <a:pt x="450" y="23"/>
                  </a:lnTo>
                  <a:lnTo>
                    <a:pt x="447" y="11"/>
                  </a:lnTo>
                  <a:lnTo>
                    <a:pt x="442" y="0"/>
                  </a:lnTo>
                  <a:lnTo>
                    <a:pt x="435" y="0"/>
                  </a:lnTo>
                  <a:lnTo>
                    <a:pt x="442" y="11"/>
                  </a:lnTo>
                  <a:lnTo>
                    <a:pt x="445" y="23"/>
                  </a:lnTo>
                  <a:lnTo>
                    <a:pt x="450" y="35"/>
                  </a:lnTo>
                  <a:lnTo>
                    <a:pt x="453" y="48"/>
                  </a:lnTo>
                  <a:lnTo>
                    <a:pt x="455" y="59"/>
                  </a:lnTo>
                  <a:lnTo>
                    <a:pt x="457" y="73"/>
                  </a:lnTo>
                  <a:lnTo>
                    <a:pt x="458" y="86"/>
                  </a:lnTo>
                  <a:lnTo>
                    <a:pt x="458" y="99"/>
                  </a:lnTo>
                  <a:lnTo>
                    <a:pt x="458" y="109"/>
                  </a:lnTo>
                  <a:lnTo>
                    <a:pt x="458" y="119"/>
                  </a:lnTo>
                  <a:lnTo>
                    <a:pt x="457" y="127"/>
                  </a:lnTo>
                  <a:lnTo>
                    <a:pt x="455" y="137"/>
                  </a:lnTo>
                  <a:lnTo>
                    <a:pt x="453" y="147"/>
                  </a:lnTo>
                  <a:lnTo>
                    <a:pt x="452" y="155"/>
                  </a:lnTo>
                  <a:lnTo>
                    <a:pt x="448" y="165"/>
                  </a:lnTo>
                  <a:lnTo>
                    <a:pt x="447" y="174"/>
                  </a:lnTo>
                  <a:lnTo>
                    <a:pt x="452" y="170"/>
                  </a:lnTo>
                  <a:lnTo>
                    <a:pt x="455" y="162"/>
                  </a:lnTo>
                  <a:lnTo>
                    <a:pt x="457" y="154"/>
                  </a:lnTo>
                  <a:lnTo>
                    <a:pt x="458" y="146"/>
                  </a:lnTo>
                  <a:lnTo>
                    <a:pt x="460" y="136"/>
                  </a:lnTo>
                  <a:lnTo>
                    <a:pt x="462" y="127"/>
                  </a:lnTo>
                  <a:lnTo>
                    <a:pt x="463" y="117"/>
                  </a:lnTo>
                  <a:lnTo>
                    <a:pt x="463" y="109"/>
                  </a:lnTo>
                  <a:lnTo>
                    <a:pt x="463" y="99"/>
                  </a:lnTo>
                  <a:close/>
                  <a:moveTo>
                    <a:pt x="14" y="16"/>
                  </a:moveTo>
                  <a:lnTo>
                    <a:pt x="11" y="26"/>
                  </a:lnTo>
                  <a:lnTo>
                    <a:pt x="8" y="36"/>
                  </a:lnTo>
                  <a:lnTo>
                    <a:pt x="5" y="46"/>
                  </a:lnTo>
                  <a:lnTo>
                    <a:pt x="3" y="56"/>
                  </a:lnTo>
                  <a:lnTo>
                    <a:pt x="1" y="66"/>
                  </a:lnTo>
                  <a:lnTo>
                    <a:pt x="0" y="78"/>
                  </a:lnTo>
                  <a:lnTo>
                    <a:pt x="0" y="88"/>
                  </a:lnTo>
                  <a:lnTo>
                    <a:pt x="0" y="99"/>
                  </a:lnTo>
                  <a:lnTo>
                    <a:pt x="0" y="112"/>
                  </a:lnTo>
                  <a:lnTo>
                    <a:pt x="0" y="126"/>
                  </a:lnTo>
                  <a:lnTo>
                    <a:pt x="3" y="139"/>
                  </a:lnTo>
                  <a:lnTo>
                    <a:pt x="5" y="151"/>
                  </a:lnTo>
                  <a:lnTo>
                    <a:pt x="8" y="164"/>
                  </a:lnTo>
                  <a:lnTo>
                    <a:pt x="11" y="175"/>
                  </a:lnTo>
                  <a:lnTo>
                    <a:pt x="16" y="187"/>
                  </a:lnTo>
                  <a:lnTo>
                    <a:pt x="21" y="199"/>
                  </a:lnTo>
                  <a:lnTo>
                    <a:pt x="26" y="199"/>
                  </a:lnTo>
                  <a:lnTo>
                    <a:pt x="21" y="187"/>
                  </a:lnTo>
                  <a:lnTo>
                    <a:pt x="16" y="175"/>
                  </a:lnTo>
                  <a:lnTo>
                    <a:pt x="13" y="164"/>
                  </a:lnTo>
                  <a:lnTo>
                    <a:pt x="9" y="151"/>
                  </a:lnTo>
                  <a:lnTo>
                    <a:pt x="8" y="139"/>
                  </a:lnTo>
                  <a:lnTo>
                    <a:pt x="5" y="126"/>
                  </a:lnTo>
                  <a:lnTo>
                    <a:pt x="5" y="112"/>
                  </a:lnTo>
                  <a:lnTo>
                    <a:pt x="3" y="99"/>
                  </a:lnTo>
                  <a:lnTo>
                    <a:pt x="5" y="88"/>
                  </a:lnTo>
                  <a:lnTo>
                    <a:pt x="5" y="76"/>
                  </a:lnTo>
                  <a:lnTo>
                    <a:pt x="6" y="66"/>
                  </a:lnTo>
                  <a:lnTo>
                    <a:pt x="8" y="54"/>
                  </a:lnTo>
                  <a:lnTo>
                    <a:pt x="11" y="45"/>
                  </a:lnTo>
                  <a:lnTo>
                    <a:pt x="13" y="33"/>
                  </a:lnTo>
                  <a:lnTo>
                    <a:pt x="16" y="23"/>
                  </a:lnTo>
                  <a:lnTo>
                    <a:pt x="21" y="13"/>
                  </a:lnTo>
                  <a:lnTo>
                    <a:pt x="14" y="16"/>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45" name="Freeform 185">
              <a:extLst>
                <a:ext uri="{FF2B5EF4-FFF2-40B4-BE49-F238E27FC236}">
                  <a16:creationId xmlns:a16="http://schemas.microsoft.com/office/drawing/2014/main" id="{53DD7D0C-6E4D-624C-F424-D1D2F5CB1881}"/>
                </a:ext>
              </a:extLst>
            </p:cNvPr>
            <p:cNvSpPr>
              <a:spLocks noEditPoints="1"/>
            </p:cNvSpPr>
            <p:nvPr/>
          </p:nvSpPr>
          <p:spPr bwMode="auto">
            <a:xfrm>
              <a:off x="1606" y="1514"/>
              <a:ext cx="461" cy="199"/>
            </a:xfrm>
            <a:custGeom>
              <a:avLst/>
              <a:gdLst>
                <a:gd name="T0" fmla="*/ 459 w 461"/>
                <a:gd name="T1" fmla="*/ 86 h 199"/>
                <a:gd name="T2" fmla="*/ 457 w 461"/>
                <a:gd name="T3" fmla="*/ 59 h 199"/>
                <a:gd name="T4" fmla="*/ 451 w 461"/>
                <a:gd name="T5" fmla="*/ 35 h 199"/>
                <a:gd name="T6" fmla="*/ 442 w 461"/>
                <a:gd name="T7" fmla="*/ 11 h 199"/>
                <a:gd name="T8" fmla="*/ 432 w 461"/>
                <a:gd name="T9" fmla="*/ 0 h 199"/>
                <a:gd name="T10" fmla="*/ 442 w 461"/>
                <a:gd name="T11" fmla="*/ 23 h 199"/>
                <a:gd name="T12" fmla="*/ 449 w 461"/>
                <a:gd name="T13" fmla="*/ 48 h 199"/>
                <a:gd name="T14" fmla="*/ 454 w 461"/>
                <a:gd name="T15" fmla="*/ 73 h 199"/>
                <a:gd name="T16" fmla="*/ 456 w 461"/>
                <a:gd name="T17" fmla="*/ 99 h 199"/>
                <a:gd name="T18" fmla="*/ 454 w 461"/>
                <a:gd name="T19" fmla="*/ 119 h 199"/>
                <a:gd name="T20" fmla="*/ 452 w 461"/>
                <a:gd name="T21" fmla="*/ 137 h 199"/>
                <a:gd name="T22" fmla="*/ 447 w 461"/>
                <a:gd name="T23" fmla="*/ 157 h 199"/>
                <a:gd name="T24" fmla="*/ 442 w 461"/>
                <a:gd name="T25" fmla="*/ 175 h 199"/>
                <a:gd name="T26" fmla="*/ 451 w 461"/>
                <a:gd name="T27" fmla="*/ 164 h 199"/>
                <a:gd name="T28" fmla="*/ 456 w 461"/>
                <a:gd name="T29" fmla="*/ 146 h 199"/>
                <a:gd name="T30" fmla="*/ 459 w 461"/>
                <a:gd name="T31" fmla="*/ 127 h 199"/>
                <a:gd name="T32" fmla="*/ 461 w 461"/>
                <a:gd name="T33" fmla="*/ 109 h 199"/>
                <a:gd name="T34" fmla="*/ 17 w 461"/>
                <a:gd name="T35" fmla="*/ 15 h 199"/>
                <a:gd name="T36" fmla="*/ 10 w 461"/>
                <a:gd name="T37" fmla="*/ 35 h 199"/>
                <a:gd name="T38" fmla="*/ 5 w 461"/>
                <a:gd name="T39" fmla="*/ 56 h 199"/>
                <a:gd name="T40" fmla="*/ 2 w 461"/>
                <a:gd name="T41" fmla="*/ 78 h 199"/>
                <a:gd name="T42" fmla="*/ 0 w 461"/>
                <a:gd name="T43" fmla="*/ 99 h 199"/>
                <a:gd name="T44" fmla="*/ 2 w 461"/>
                <a:gd name="T45" fmla="*/ 126 h 199"/>
                <a:gd name="T46" fmla="*/ 7 w 461"/>
                <a:gd name="T47" fmla="*/ 151 h 199"/>
                <a:gd name="T48" fmla="*/ 13 w 461"/>
                <a:gd name="T49" fmla="*/ 175 h 199"/>
                <a:gd name="T50" fmla="*/ 23 w 461"/>
                <a:gd name="T51" fmla="*/ 199 h 199"/>
                <a:gd name="T52" fmla="*/ 23 w 461"/>
                <a:gd name="T53" fmla="*/ 187 h 199"/>
                <a:gd name="T54" fmla="*/ 15 w 461"/>
                <a:gd name="T55" fmla="*/ 164 h 199"/>
                <a:gd name="T56" fmla="*/ 8 w 461"/>
                <a:gd name="T57" fmla="*/ 139 h 199"/>
                <a:gd name="T58" fmla="*/ 5 w 461"/>
                <a:gd name="T59" fmla="*/ 112 h 199"/>
                <a:gd name="T60" fmla="*/ 5 w 461"/>
                <a:gd name="T61" fmla="*/ 88 h 199"/>
                <a:gd name="T62" fmla="*/ 7 w 461"/>
                <a:gd name="T63" fmla="*/ 64 h 199"/>
                <a:gd name="T64" fmla="*/ 12 w 461"/>
                <a:gd name="T65" fmla="*/ 43 h 199"/>
                <a:gd name="T66" fmla="*/ 18 w 461"/>
                <a:gd name="T67" fmla="*/ 21 h 199"/>
                <a:gd name="T68" fmla="*/ 17 w 461"/>
                <a:gd name="T69" fmla="*/ 1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1" h="199">
                  <a:moveTo>
                    <a:pt x="461" y="99"/>
                  </a:moveTo>
                  <a:lnTo>
                    <a:pt x="459" y="86"/>
                  </a:lnTo>
                  <a:lnTo>
                    <a:pt x="459" y="73"/>
                  </a:lnTo>
                  <a:lnTo>
                    <a:pt x="457" y="59"/>
                  </a:lnTo>
                  <a:lnTo>
                    <a:pt x="454" y="48"/>
                  </a:lnTo>
                  <a:lnTo>
                    <a:pt x="451" y="35"/>
                  </a:lnTo>
                  <a:lnTo>
                    <a:pt x="447" y="23"/>
                  </a:lnTo>
                  <a:lnTo>
                    <a:pt x="442" y="11"/>
                  </a:lnTo>
                  <a:lnTo>
                    <a:pt x="437" y="0"/>
                  </a:lnTo>
                  <a:lnTo>
                    <a:pt x="432" y="0"/>
                  </a:lnTo>
                  <a:lnTo>
                    <a:pt x="437" y="11"/>
                  </a:lnTo>
                  <a:lnTo>
                    <a:pt x="442" y="23"/>
                  </a:lnTo>
                  <a:lnTo>
                    <a:pt x="446" y="35"/>
                  </a:lnTo>
                  <a:lnTo>
                    <a:pt x="449" y="48"/>
                  </a:lnTo>
                  <a:lnTo>
                    <a:pt x="452" y="59"/>
                  </a:lnTo>
                  <a:lnTo>
                    <a:pt x="454" y="73"/>
                  </a:lnTo>
                  <a:lnTo>
                    <a:pt x="456" y="86"/>
                  </a:lnTo>
                  <a:lnTo>
                    <a:pt x="456" y="99"/>
                  </a:lnTo>
                  <a:lnTo>
                    <a:pt x="456" y="109"/>
                  </a:lnTo>
                  <a:lnTo>
                    <a:pt x="454" y="119"/>
                  </a:lnTo>
                  <a:lnTo>
                    <a:pt x="454" y="129"/>
                  </a:lnTo>
                  <a:lnTo>
                    <a:pt x="452" y="137"/>
                  </a:lnTo>
                  <a:lnTo>
                    <a:pt x="451" y="147"/>
                  </a:lnTo>
                  <a:lnTo>
                    <a:pt x="447" y="157"/>
                  </a:lnTo>
                  <a:lnTo>
                    <a:pt x="446" y="165"/>
                  </a:lnTo>
                  <a:lnTo>
                    <a:pt x="442" y="175"/>
                  </a:lnTo>
                  <a:lnTo>
                    <a:pt x="447" y="172"/>
                  </a:lnTo>
                  <a:lnTo>
                    <a:pt x="451" y="164"/>
                  </a:lnTo>
                  <a:lnTo>
                    <a:pt x="454" y="154"/>
                  </a:lnTo>
                  <a:lnTo>
                    <a:pt x="456" y="146"/>
                  </a:lnTo>
                  <a:lnTo>
                    <a:pt x="457" y="137"/>
                  </a:lnTo>
                  <a:lnTo>
                    <a:pt x="459" y="127"/>
                  </a:lnTo>
                  <a:lnTo>
                    <a:pt x="459" y="117"/>
                  </a:lnTo>
                  <a:lnTo>
                    <a:pt x="461" y="109"/>
                  </a:lnTo>
                  <a:lnTo>
                    <a:pt x="461" y="99"/>
                  </a:lnTo>
                  <a:close/>
                  <a:moveTo>
                    <a:pt x="17" y="15"/>
                  </a:moveTo>
                  <a:lnTo>
                    <a:pt x="12" y="25"/>
                  </a:lnTo>
                  <a:lnTo>
                    <a:pt x="10" y="35"/>
                  </a:lnTo>
                  <a:lnTo>
                    <a:pt x="7" y="45"/>
                  </a:lnTo>
                  <a:lnTo>
                    <a:pt x="5" y="56"/>
                  </a:lnTo>
                  <a:lnTo>
                    <a:pt x="2" y="66"/>
                  </a:lnTo>
                  <a:lnTo>
                    <a:pt x="2" y="78"/>
                  </a:lnTo>
                  <a:lnTo>
                    <a:pt x="0" y="88"/>
                  </a:lnTo>
                  <a:lnTo>
                    <a:pt x="0" y="99"/>
                  </a:lnTo>
                  <a:lnTo>
                    <a:pt x="0" y="112"/>
                  </a:lnTo>
                  <a:lnTo>
                    <a:pt x="2" y="126"/>
                  </a:lnTo>
                  <a:lnTo>
                    <a:pt x="4" y="139"/>
                  </a:lnTo>
                  <a:lnTo>
                    <a:pt x="7" y="151"/>
                  </a:lnTo>
                  <a:lnTo>
                    <a:pt x="10" y="164"/>
                  </a:lnTo>
                  <a:lnTo>
                    <a:pt x="13" y="175"/>
                  </a:lnTo>
                  <a:lnTo>
                    <a:pt x="18" y="187"/>
                  </a:lnTo>
                  <a:lnTo>
                    <a:pt x="23" y="199"/>
                  </a:lnTo>
                  <a:lnTo>
                    <a:pt x="28" y="199"/>
                  </a:lnTo>
                  <a:lnTo>
                    <a:pt x="23" y="187"/>
                  </a:lnTo>
                  <a:lnTo>
                    <a:pt x="18" y="175"/>
                  </a:lnTo>
                  <a:lnTo>
                    <a:pt x="15" y="164"/>
                  </a:lnTo>
                  <a:lnTo>
                    <a:pt x="12" y="151"/>
                  </a:lnTo>
                  <a:lnTo>
                    <a:pt x="8" y="139"/>
                  </a:lnTo>
                  <a:lnTo>
                    <a:pt x="7" y="126"/>
                  </a:lnTo>
                  <a:lnTo>
                    <a:pt x="5" y="112"/>
                  </a:lnTo>
                  <a:lnTo>
                    <a:pt x="5" y="99"/>
                  </a:lnTo>
                  <a:lnTo>
                    <a:pt x="5" y="88"/>
                  </a:lnTo>
                  <a:lnTo>
                    <a:pt x="7" y="76"/>
                  </a:lnTo>
                  <a:lnTo>
                    <a:pt x="7" y="64"/>
                  </a:lnTo>
                  <a:lnTo>
                    <a:pt x="10" y="54"/>
                  </a:lnTo>
                  <a:lnTo>
                    <a:pt x="12" y="43"/>
                  </a:lnTo>
                  <a:lnTo>
                    <a:pt x="15" y="33"/>
                  </a:lnTo>
                  <a:lnTo>
                    <a:pt x="18" y="21"/>
                  </a:lnTo>
                  <a:lnTo>
                    <a:pt x="23" y="11"/>
                  </a:lnTo>
                  <a:lnTo>
                    <a:pt x="17" y="15"/>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46" name="Freeform 186">
              <a:extLst>
                <a:ext uri="{FF2B5EF4-FFF2-40B4-BE49-F238E27FC236}">
                  <a16:creationId xmlns:a16="http://schemas.microsoft.com/office/drawing/2014/main" id="{C1B7D837-4B8F-7978-CE64-CED0F21C58A6}"/>
                </a:ext>
              </a:extLst>
            </p:cNvPr>
            <p:cNvSpPr>
              <a:spLocks noEditPoints="1"/>
            </p:cNvSpPr>
            <p:nvPr/>
          </p:nvSpPr>
          <p:spPr bwMode="auto">
            <a:xfrm>
              <a:off x="1608" y="1514"/>
              <a:ext cx="455" cy="199"/>
            </a:xfrm>
            <a:custGeom>
              <a:avLst/>
              <a:gdLst>
                <a:gd name="T0" fmla="*/ 455 w 455"/>
                <a:gd name="T1" fmla="*/ 86 h 199"/>
                <a:gd name="T2" fmla="*/ 452 w 455"/>
                <a:gd name="T3" fmla="*/ 59 h 199"/>
                <a:gd name="T4" fmla="*/ 447 w 455"/>
                <a:gd name="T5" fmla="*/ 35 h 199"/>
                <a:gd name="T6" fmla="*/ 439 w 455"/>
                <a:gd name="T7" fmla="*/ 11 h 199"/>
                <a:gd name="T8" fmla="*/ 427 w 455"/>
                <a:gd name="T9" fmla="*/ 0 h 199"/>
                <a:gd name="T10" fmla="*/ 437 w 455"/>
                <a:gd name="T11" fmla="*/ 23 h 199"/>
                <a:gd name="T12" fmla="*/ 445 w 455"/>
                <a:gd name="T13" fmla="*/ 48 h 199"/>
                <a:gd name="T14" fmla="*/ 449 w 455"/>
                <a:gd name="T15" fmla="*/ 73 h 199"/>
                <a:gd name="T16" fmla="*/ 450 w 455"/>
                <a:gd name="T17" fmla="*/ 99 h 199"/>
                <a:gd name="T18" fmla="*/ 450 w 455"/>
                <a:gd name="T19" fmla="*/ 119 h 199"/>
                <a:gd name="T20" fmla="*/ 447 w 455"/>
                <a:gd name="T21" fmla="*/ 139 h 199"/>
                <a:gd name="T22" fmla="*/ 444 w 455"/>
                <a:gd name="T23" fmla="*/ 157 h 199"/>
                <a:gd name="T24" fmla="*/ 437 w 455"/>
                <a:gd name="T25" fmla="*/ 177 h 199"/>
                <a:gd name="T26" fmla="*/ 445 w 455"/>
                <a:gd name="T27" fmla="*/ 165 h 199"/>
                <a:gd name="T28" fmla="*/ 450 w 455"/>
                <a:gd name="T29" fmla="*/ 147 h 199"/>
                <a:gd name="T30" fmla="*/ 454 w 455"/>
                <a:gd name="T31" fmla="*/ 127 h 199"/>
                <a:gd name="T32" fmla="*/ 455 w 455"/>
                <a:gd name="T33" fmla="*/ 109 h 199"/>
                <a:gd name="T34" fmla="*/ 18 w 455"/>
                <a:gd name="T35" fmla="*/ 13 h 199"/>
                <a:gd name="T36" fmla="*/ 10 w 455"/>
                <a:gd name="T37" fmla="*/ 33 h 199"/>
                <a:gd name="T38" fmla="*/ 5 w 455"/>
                <a:gd name="T39" fmla="*/ 54 h 199"/>
                <a:gd name="T40" fmla="*/ 2 w 455"/>
                <a:gd name="T41" fmla="*/ 76 h 199"/>
                <a:gd name="T42" fmla="*/ 0 w 455"/>
                <a:gd name="T43" fmla="*/ 99 h 199"/>
                <a:gd name="T44" fmla="*/ 2 w 455"/>
                <a:gd name="T45" fmla="*/ 126 h 199"/>
                <a:gd name="T46" fmla="*/ 6 w 455"/>
                <a:gd name="T47" fmla="*/ 151 h 199"/>
                <a:gd name="T48" fmla="*/ 13 w 455"/>
                <a:gd name="T49" fmla="*/ 175 h 199"/>
                <a:gd name="T50" fmla="*/ 23 w 455"/>
                <a:gd name="T51" fmla="*/ 199 h 199"/>
                <a:gd name="T52" fmla="*/ 23 w 455"/>
                <a:gd name="T53" fmla="*/ 187 h 199"/>
                <a:gd name="T54" fmla="*/ 15 w 455"/>
                <a:gd name="T55" fmla="*/ 164 h 199"/>
                <a:gd name="T56" fmla="*/ 8 w 455"/>
                <a:gd name="T57" fmla="*/ 139 h 199"/>
                <a:gd name="T58" fmla="*/ 6 w 455"/>
                <a:gd name="T59" fmla="*/ 112 h 199"/>
                <a:gd name="T60" fmla="*/ 6 w 455"/>
                <a:gd name="T61" fmla="*/ 88 h 199"/>
                <a:gd name="T62" fmla="*/ 8 w 455"/>
                <a:gd name="T63" fmla="*/ 64 h 199"/>
                <a:gd name="T64" fmla="*/ 13 w 455"/>
                <a:gd name="T65" fmla="*/ 41 h 199"/>
                <a:gd name="T66" fmla="*/ 20 w 455"/>
                <a:gd name="T67" fmla="*/ 20 h 199"/>
                <a:gd name="T68" fmla="*/ 18 w 455"/>
                <a:gd name="T69" fmla="*/ 1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5" h="199">
                  <a:moveTo>
                    <a:pt x="455" y="99"/>
                  </a:moveTo>
                  <a:lnTo>
                    <a:pt x="455" y="86"/>
                  </a:lnTo>
                  <a:lnTo>
                    <a:pt x="454" y="73"/>
                  </a:lnTo>
                  <a:lnTo>
                    <a:pt x="452" y="59"/>
                  </a:lnTo>
                  <a:lnTo>
                    <a:pt x="450" y="48"/>
                  </a:lnTo>
                  <a:lnTo>
                    <a:pt x="447" y="35"/>
                  </a:lnTo>
                  <a:lnTo>
                    <a:pt x="442" y="23"/>
                  </a:lnTo>
                  <a:lnTo>
                    <a:pt x="439" y="11"/>
                  </a:lnTo>
                  <a:lnTo>
                    <a:pt x="432" y="0"/>
                  </a:lnTo>
                  <a:lnTo>
                    <a:pt x="427" y="0"/>
                  </a:lnTo>
                  <a:lnTo>
                    <a:pt x="432" y="11"/>
                  </a:lnTo>
                  <a:lnTo>
                    <a:pt x="437" y="23"/>
                  </a:lnTo>
                  <a:lnTo>
                    <a:pt x="442" y="35"/>
                  </a:lnTo>
                  <a:lnTo>
                    <a:pt x="445" y="48"/>
                  </a:lnTo>
                  <a:lnTo>
                    <a:pt x="447" y="59"/>
                  </a:lnTo>
                  <a:lnTo>
                    <a:pt x="449" y="73"/>
                  </a:lnTo>
                  <a:lnTo>
                    <a:pt x="450" y="86"/>
                  </a:lnTo>
                  <a:lnTo>
                    <a:pt x="450" y="99"/>
                  </a:lnTo>
                  <a:lnTo>
                    <a:pt x="450" y="109"/>
                  </a:lnTo>
                  <a:lnTo>
                    <a:pt x="450" y="119"/>
                  </a:lnTo>
                  <a:lnTo>
                    <a:pt x="449" y="129"/>
                  </a:lnTo>
                  <a:lnTo>
                    <a:pt x="447" y="139"/>
                  </a:lnTo>
                  <a:lnTo>
                    <a:pt x="445" y="149"/>
                  </a:lnTo>
                  <a:lnTo>
                    <a:pt x="444" y="157"/>
                  </a:lnTo>
                  <a:lnTo>
                    <a:pt x="440" y="167"/>
                  </a:lnTo>
                  <a:lnTo>
                    <a:pt x="437" y="177"/>
                  </a:lnTo>
                  <a:lnTo>
                    <a:pt x="444" y="174"/>
                  </a:lnTo>
                  <a:lnTo>
                    <a:pt x="445" y="165"/>
                  </a:lnTo>
                  <a:lnTo>
                    <a:pt x="449" y="155"/>
                  </a:lnTo>
                  <a:lnTo>
                    <a:pt x="450" y="147"/>
                  </a:lnTo>
                  <a:lnTo>
                    <a:pt x="452" y="137"/>
                  </a:lnTo>
                  <a:lnTo>
                    <a:pt x="454" y="127"/>
                  </a:lnTo>
                  <a:lnTo>
                    <a:pt x="455" y="119"/>
                  </a:lnTo>
                  <a:lnTo>
                    <a:pt x="455" y="109"/>
                  </a:lnTo>
                  <a:lnTo>
                    <a:pt x="455" y="99"/>
                  </a:lnTo>
                  <a:close/>
                  <a:moveTo>
                    <a:pt x="18" y="13"/>
                  </a:moveTo>
                  <a:lnTo>
                    <a:pt x="13" y="23"/>
                  </a:lnTo>
                  <a:lnTo>
                    <a:pt x="10" y="33"/>
                  </a:lnTo>
                  <a:lnTo>
                    <a:pt x="8" y="45"/>
                  </a:lnTo>
                  <a:lnTo>
                    <a:pt x="5" y="54"/>
                  </a:lnTo>
                  <a:lnTo>
                    <a:pt x="3" y="66"/>
                  </a:lnTo>
                  <a:lnTo>
                    <a:pt x="2" y="76"/>
                  </a:lnTo>
                  <a:lnTo>
                    <a:pt x="2" y="88"/>
                  </a:lnTo>
                  <a:lnTo>
                    <a:pt x="0" y="99"/>
                  </a:lnTo>
                  <a:lnTo>
                    <a:pt x="2" y="112"/>
                  </a:lnTo>
                  <a:lnTo>
                    <a:pt x="2" y="126"/>
                  </a:lnTo>
                  <a:lnTo>
                    <a:pt x="5" y="139"/>
                  </a:lnTo>
                  <a:lnTo>
                    <a:pt x="6" y="151"/>
                  </a:lnTo>
                  <a:lnTo>
                    <a:pt x="10" y="164"/>
                  </a:lnTo>
                  <a:lnTo>
                    <a:pt x="13" y="175"/>
                  </a:lnTo>
                  <a:lnTo>
                    <a:pt x="18" y="187"/>
                  </a:lnTo>
                  <a:lnTo>
                    <a:pt x="23" y="199"/>
                  </a:lnTo>
                  <a:lnTo>
                    <a:pt x="28" y="199"/>
                  </a:lnTo>
                  <a:lnTo>
                    <a:pt x="23" y="187"/>
                  </a:lnTo>
                  <a:lnTo>
                    <a:pt x="18" y="175"/>
                  </a:lnTo>
                  <a:lnTo>
                    <a:pt x="15" y="164"/>
                  </a:lnTo>
                  <a:lnTo>
                    <a:pt x="11" y="151"/>
                  </a:lnTo>
                  <a:lnTo>
                    <a:pt x="8" y="139"/>
                  </a:lnTo>
                  <a:lnTo>
                    <a:pt x="6" y="126"/>
                  </a:lnTo>
                  <a:lnTo>
                    <a:pt x="6" y="112"/>
                  </a:lnTo>
                  <a:lnTo>
                    <a:pt x="5" y="99"/>
                  </a:lnTo>
                  <a:lnTo>
                    <a:pt x="6" y="88"/>
                  </a:lnTo>
                  <a:lnTo>
                    <a:pt x="6" y="76"/>
                  </a:lnTo>
                  <a:lnTo>
                    <a:pt x="8" y="64"/>
                  </a:lnTo>
                  <a:lnTo>
                    <a:pt x="10" y="53"/>
                  </a:lnTo>
                  <a:lnTo>
                    <a:pt x="13" y="41"/>
                  </a:lnTo>
                  <a:lnTo>
                    <a:pt x="16" y="31"/>
                  </a:lnTo>
                  <a:lnTo>
                    <a:pt x="20" y="20"/>
                  </a:lnTo>
                  <a:lnTo>
                    <a:pt x="25" y="10"/>
                  </a:lnTo>
                  <a:lnTo>
                    <a:pt x="18" y="13"/>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47" name="Freeform 187">
              <a:extLst>
                <a:ext uri="{FF2B5EF4-FFF2-40B4-BE49-F238E27FC236}">
                  <a16:creationId xmlns:a16="http://schemas.microsoft.com/office/drawing/2014/main" id="{3F1A0D2F-3B41-2AA2-9D08-A877526FCD05}"/>
                </a:ext>
              </a:extLst>
            </p:cNvPr>
            <p:cNvSpPr>
              <a:spLocks noEditPoints="1"/>
            </p:cNvSpPr>
            <p:nvPr/>
          </p:nvSpPr>
          <p:spPr bwMode="auto">
            <a:xfrm>
              <a:off x="1611" y="1514"/>
              <a:ext cx="451" cy="199"/>
            </a:xfrm>
            <a:custGeom>
              <a:avLst/>
              <a:gdLst>
                <a:gd name="T0" fmla="*/ 451 w 451"/>
                <a:gd name="T1" fmla="*/ 86 h 199"/>
                <a:gd name="T2" fmla="*/ 447 w 451"/>
                <a:gd name="T3" fmla="*/ 59 h 199"/>
                <a:gd name="T4" fmla="*/ 441 w 451"/>
                <a:gd name="T5" fmla="*/ 35 h 199"/>
                <a:gd name="T6" fmla="*/ 432 w 451"/>
                <a:gd name="T7" fmla="*/ 11 h 199"/>
                <a:gd name="T8" fmla="*/ 422 w 451"/>
                <a:gd name="T9" fmla="*/ 0 h 199"/>
                <a:gd name="T10" fmla="*/ 432 w 451"/>
                <a:gd name="T11" fmla="*/ 23 h 199"/>
                <a:gd name="T12" fmla="*/ 439 w 451"/>
                <a:gd name="T13" fmla="*/ 48 h 199"/>
                <a:gd name="T14" fmla="*/ 444 w 451"/>
                <a:gd name="T15" fmla="*/ 73 h 199"/>
                <a:gd name="T16" fmla="*/ 446 w 451"/>
                <a:gd name="T17" fmla="*/ 99 h 199"/>
                <a:gd name="T18" fmla="*/ 444 w 451"/>
                <a:gd name="T19" fmla="*/ 119 h 199"/>
                <a:gd name="T20" fmla="*/ 442 w 451"/>
                <a:gd name="T21" fmla="*/ 139 h 199"/>
                <a:gd name="T22" fmla="*/ 437 w 451"/>
                <a:gd name="T23" fmla="*/ 159 h 199"/>
                <a:gd name="T24" fmla="*/ 431 w 451"/>
                <a:gd name="T25" fmla="*/ 177 h 199"/>
                <a:gd name="T26" fmla="*/ 441 w 451"/>
                <a:gd name="T27" fmla="*/ 165 h 199"/>
                <a:gd name="T28" fmla="*/ 446 w 451"/>
                <a:gd name="T29" fmla="*/ 147 h 199"/>
                <a:gd name="T30" fmla="*/ 449 w 451"/>
                <a:gd name="T31" fmla="*/ 129 h 199"/>
                <a:gd name="T32" fmla="*/ 451 w 451"/>
                <a:gd name="T33" fmla="*/ 109 h 199"/>
                <a:gd name="T34" fmla="*/ 18 w 451"/>
                <a:gd name="T35" fmla="*/ 11 h 199"/>
                <a:gd name="T36" fmla="*/ 10 w 451"/>
                <a:gd name="T37" fmla="*/ 33 h 199"/>
                <a:gd name="T38" fmla="*/ 5 w 451"/>
                <a:gd name="T39" fmla="*/ 54 h 199"/>
                <a:gd name="T40" fmla="*/ 2 w 451"/>
                <a:gd name="T41" fmla="*/ 76 h 199"/>
                <a:gd name="T42" fmla="*/ 0 w 451"/>
                <a:gd name="T43" fmla="*/ 99 h 199"/>
                <a:gd name="T44" fmla="*/ 2 w 451"/>
                <a:gd name="T45" fmla="*/ 126 h 199"/>
                <a:gd name="T46" fmla="*/ 7 w 451"/>
                <a:gd name="T47" fmla="*/ 151 h 199"/>
                <a:gd name="T48" fmla="*/ 13 w 451"/>
                <a:gd name="T49" fmla="*/ 175 h 199"/>
                <a:gd name="T50" fmla="*/ 23 w 451"/>
                <a:gd name="T51" fmla="*/ 199 h 199"/>
                <a:gd name="T52" fmla="*/ 23 w 451"/>
                <a:gd name="T53" fmla="*/ 187 h 199"/>
                <a:gd name="T54" fmla="*/ 15 w 451"/>
                <a:gd name="T55" fmla="*/ 164 h 199"/>
                <a:gd name="T56" fmla="*/ 8 w 451"/>
                <a:gd name="T57" fmla="*/ 139 h 199"/>
                <a:gd name="T58" fmla="*/ 5 w 451"/>
                <a:gd name="T59" fmla="*/ 112 h 199"/>
                <a:gd name="T60" fmla="*/ 5 w 451"/>
                <a:gd name="T61" fmla="*/ 88 h 199"/>
                <a:gd name="T62" fmla="*/ 8 w 451"/>
                <a:gd name="T63" fmla="*/ 63 h 199"/>
                <a:gd name="T64" fmla="*/ 13 w 451"/>
                <a:gd name="T65" fmla="*/ 41 h 199"/>
                <a:gd name="T66" fmla="*/ 20 w 451"/>
                <a:gd name="T67" fmla="*/ 20 h 199"/>
                <a:gd name="T68" fmla="*/ 18 w 451"/>
                <a:gd name="T69" fmla="*/ 1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1" h="199">
                  <a:moveTo>
                    <a:pt x="451" y="99"/>
                  </a:moveTo>
                  <a:lnTo>
                    <a:pt x="451" y="86"/>
                  </a:lnTo>
                  <a:lnTo>
                    <a:pt x="449" y="73"/>
                  </a:lnTo>
                  <a:lnTo>
                    <a:pt x="447" y="59"/>
                  </a:lnTo>
                  <a:lnTo>
                    <a:pt x="444" y="48"/>
                  </a:lnTo>
                  <a:lnTo>
                    <a:pt x="441" y="35"/>
                  </a:lnTo>
                  <a:lnTo>
                    <a:pt x="437" y="23"/>
                  </a:lnTo>
                  <a:lnTo>
                    <a:pt x="432" y="11"/>
                  </a:lnTo>
                  <a:lnTo>
                    <a:pt x="427" y="0"/>
                  </a:lnTo>
                  <a:lnTo>
                    <a:pt x="422" y="0"/>
                  </a:lnTo>
                  <a:lnTo>
                    <a:pt x="427" y="11"/>
                  </a:lnTo>
                  <a:lnTo>
                    <a:pt x="432" y="23"/>
                  </a:lnTo>
                  <a:lnTo>
                    <a:pt x="436" y="35"/>
                  </a:lnTo>
                  <a:lnTo>
                    <a:pt x="439" y="48"/>
                  </a:lnTo>
                  <a:lnTo>
                    <a:pt x="442" y="59"/>
                  </a:lnTo>
                  <a:lnTo>
                    <a:pt x="444" y="73"/>
                  </a:lnTo>
                  <a:lnTo>
                    <a:pt x="446" y="86"/>
                  </a:lnTo>
                  <a:lnTo>
                    <a:pt x="446" y="99"/>
                  </a:lnTo>
                  <a:lnTo>
                    <a:pt x="446" y="109"/>
                  </a:lnTo>
                  <a:lnTo>
                    <a:pt x="444" y="119"/>
                  </a:lnTo>
                  <a:lnTo>
                    <a:pt x="444" y="129"/>
                  </a:lnTo>
                  <a:lnTo>
                    <a:pt x="442" y="139"/>
                  </a:lnTo>
                  <a:lnTo>
                    <a:pt x="439" y="149"/>
                  </a:lnTo>
                  <a:lnTo>
                    <a:pt x="437" y="159"/>
                  </a:lnTo>
                  <a:lnTo>
                    <a:pt x="434" y="169"/>
                  </a:lnTo>
                  <a:lnTo>
                    <a:pt x="431" y="177"/>
                  </a:lnTo>
                  <a:lnTo>
                    <a:pt x="437" y="175"/>
                  </a:lnTo>
                  <a:lnTo>
                    <a:pt x="441" y="165"/>
                  </a:lnTo>
                  <a:lnTo>
                    <a:pt x="442" y="157"/>
                  </a:lnTo>
                  <a:lnTo>
                    <a:pt x="446" y="147"/>
                  </a:lnTo>
                  <a:lnTo>
                    <a:pt x="447" y="137"/>
                  </a:lnTo>
                  <a:lnTo>
                    <a:pt x="449" y="129"/>
                  </a:lnTo>
                  <a:lnTo>
                    <a:pt x="449" y="119"/>
                  </a:lnTo>
                  <a:lnTo>
                    <a:pt x="451" y="109"/>
                  </a:lnTo>
                  <a:lnTo>
                    <a:pt x="451" y="99"/>
                  </a:lnTo>
                  <a:close/>
                  <a:moveTo>
                    <a:pt x="18" y="11"/>
                  </a:moveTo>
                  <a:lnTo>
                    <a:pt x="13" y="21"/>
                  </a:lnTo>
                  <a:lnTo>
                    <a:pt x="10" y="33"/>
                  </a:lnTo>
                  <a:lnTo>
                    <a:pt x="7" y="43"/>
                  </a:lnTo>
                  <a:lnTo>
                    <a:pt x="5" y="54"/>
                  </a:lnTo>
                  <a:lnTo>
                    <a:pt x="2" y="64"/>
                  </a:lnTo>
                  <a:lnTo>
                    <a:pt x="2" y="76"/>
                  </a:lnTo>
                  <a:lnTo>
                    <a:pt x="0" y="88"/>
                  </a:lnTo>
                  <a:lnTo>
                    <a:pt x="0" y="99"/>
                  </a:lnTo>
                  <a:lnTo>
                    <a:pt x="0" y="112"/>
                  </a:lnTo>
                  <a:lnTo>
                    <a:pt x="2" y="126"/>
                  </a:lnTo>
                  <a:lnTo>
                    <a:pt x="3" y="139"/>
                  </a:lnTo>
                  <a:lnTo>
                    <a:pt x="7" y="151"/>
                  </a:lnTo>
                  <a:lnTo>
                    <a:pt x="10" y="164"/>
                  </a:lnTo>
                  <a:lnTo>
                    <a:pt x="13" y="175"/>
                  </a:lnTo>
                  <a:lnTo>
                    <a:pt x="18" y="187"/>
                  </a:lnTo>
                  <a:lnTo>
                    <a:pt x="23" y="199"/>
                  </a:lnTo>
                  <a:lnTo>
                    <a:pt x="28" y="199"/>
                  </a:lnTo>
                  <a:lnTo>
                    <a:pt x="23" y="187"/>
                  </a:lnTo>
                  <a:lnTo>
                    <a:pt x="18" y="175"/>
                  </a:lnTo>
                  <a:lnTo>
                    <a:pt x="15" y="164"/>
                  </a:lnTo>
                  <a:lnTo>
                    <a:pt x="12" y="151"/>
                  </a:lnTo>
                  <a:lnTo>
                    <a:pt x="8" y="139"/>
                  </a:lnTo>
                  <a:lnTo>
                    <a:pt x="7" y="126"/>
                  </a:lnTo>
                  <a:lnTo>
                    <a:pt x="5" y="112"/>
                  </a:lnTo>
                  <a:lnTo>
                    <a:pt x="5" y="99"/>
                  </a:lnTo>
                  <a:lnTo>
                    <a:pt x="5" y="88"/>
                  </a:lnTo>
                  <a:lnTo>
                    <a:pt x="7" y="74"/>
                  </a:lnTo>
                  <a:lnTo>
                    <a:pt x="8" y="63"/>
                  </a:lnTo>
                  <a:lnTo>
                    <a:pt x="10" y="53"/>
                  </a:lnTo>
                  <a:lnTo>
                    <a:pt x="13" y="41"/>
                  </a:lnTo>
                  <a:lnTo>
                    <a:pt x="17" y="30"/>
                  </a:lnTo>
                  <a:lnTo>
                    <a:pt x="20" y="20"/>
                  </a:lnTo>
                  <a:lnTo>
                    <a:pt x="23" y="8"/>
                  </a:lnTo>
                  <a:lnTo>
                    <a:pt x="18" y="11"/>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48" name="Freeform 188">
              <a:extLst>
                <a:ext uri="{FF2B5EF4-FFF2-40B4-BE49-F238E27FC236}">
                  <a16:creationId xmlns:a16="http://schemas.microsoft.com/office/drawing/2014/main" id="{C8BFCBD0-2A73-2059-C0A5-746A7F33F61B}"/>
                </a:ext>
              </a:extLst>
            </p:cNvPr>
            <p:cNvSpPr>
              <a:spLocks noEditPoints="1"/>
            </p:cNvSpPr>
            <p:nvPr/>
          </p:nvSpPr>
          <p:spPr bwMode="auto">
            <a:xfrm>
              <a:off x="1613" y="1514"/>
              <a:ext cx="445" cy="199"/>
            </a:xfrm>
            <a:custGeom>
              <a:avLst/>
              <a:gdLst>
                <a:gd name="T0" fmla="*/ 445 w 445"/>
                <a:gd name="T1" fmla="*/ 86 h 199"/>
                <a:gd name="T2" fmla="*/ 442 w 445"/>
                <a:gd name="T3" fmla="*/ 59 h 199"/>
                <a:gd name="T4" fmla="*/ 437 w 445"/>
                <a:gd name="T5" fmla="*/ 35 h 199"/>
                <a:gd name="T6" fmla="*/ 427 w 445"/>
                <a:gd name="T7" fmla="*/ 11 h 199"/>
                <a:gd name="T8" fmla="*/ 417 w 445"/>
                <a:gd name="T9" fmla="*/ 0 h 199"/>
                <a:gd name="T10" fmla="*/ 427 w 445"/>
                <a:gd name="T11" fmla="*/ 23 h 199"/>
                <a:gd name="T12" fmla="*/ 435 w 445"/>
                <a:gd name="T13" fmla="*/ 48 h 199"/>
                <a:gd name="T14" fmla="*/ 439 w 445"/>
                <a:gd name="T15" fmla="*/ 73 h 199"/>
                <a:gd name="T16" fmla="*/ 440 w 445"/>
                <a:gd name="T17" fmla="*/ 99 h 199"/>
                <a:gd name="T18" fmla="*/ 440 w 445"/>
                <a:gd name="T19" fmla="*/ 121 h 199"/>
                <a:gd name="T20" fmla="*/ 437 w 445"/>
                <a:gd name="T21" fmla="*/ 141 h 199"/>
                <a:gd name="T22" fmla="*/ 432 w 445"/>
                <a:gd name="T23" fmla="*/ 160 h 199"/>
                <a:gd name="T24" fmla="*/ 425 w 445"/>
                <a:gd name="T25" fmla="*/ 179 h 199"/>
                <a:gd name="T26" fmla="*/ 435 w 445"/>
                <a:gd name="T27" fmla="*/ 167 h 199"/>
                <a:gd name="T28" fmla="*/ 440 w 445"/>
                <a:gd name="T29" fmla="*/ 149 h 199"/>
                <a:gd name="T30" fmla="*/ 444 w 445"/>
                <a:gd name="T31" fmla="*/ 129 h 199"/>
                <a:gd name="T32" fmla="*/ 445 w 445"/>
                <a:gd name="T33" fmla="*/ 109 h 199"/>
                <a:gd name="T34" fmla="*/ 20 w 445"/>
                <a:gd name="T35" fmla="*/ 10 h 199"/>
                <a:gd name="T36" fmla="*/ 11 w 445"/>
                <a:gd name="T37" fmla="*/ 31 h 199"/>
                <a:gd name="T38" fmla="*/ 5 w 445"/>
                <a:gd name="T39" fmla="*/ 53 h 199"/>
                <a:gd name="T40" fmla="*/ 1 w 445"/>
                <a:gd name="T41" fmla="*/ 76 h 199"/>
                <a:gd name="T42" fmla="*/ 0 w 445"/>
                <a:gd name="T43" fmla="*/ 99 h 199"/>
                <a:gd name="T44" fmla="*/ 1 w 445"/>
                <a:gd name="T45" fmla="*/ 126 h 199"/>
                <a:gd name="T46" fmla="*/ 6 w 445"/>
                <a:gd name="T47" fmla="*/ 151 h 199"/>
                <a:gd name="T48" fmla="*/ 13 w 445"/>
                <a:gd name="T49" fmla="*/ 175 h 199"/>
                <a:gd name="T50" fmla="*/ 23 w 445"/>
                <a:gd name="T51" fmla="*/ 199 h 199"/>
                <a:gd name="T52" fmla="*/ 23 w 445"/>
                <a:gd name="T53" fmla="*/ 187 h 199"/>
                <a:gd name="T54" fmla="*/ 15 w 445"/>
                <a:gd name="T55" fmla="*/ 164 h 199"/>
                <a:gd name="T56" fmla="*/ 8 w 445"/>
                <a:gd name="T57" fmla="*/ 139 h 199"/>
                <a:gd name="T58" fmla="*/ 6 w 445"/>
                <a:gd name="T59" fmla="*/ 112 h 199"/>
                <a:gd name="T60" fmla="*/ 5 w 445"/>
                <a:gd name="T61" fmla="*/ 86 h 199"/>
                <a:gd name="T62" fmla="*/ 8 w 445"/>
                <a:gd name="T63" fmla="*/ 63 h 199"/>
                <a:gd name="T64" fmla="*/ 13 w 445"/>
                <a:gd name="T65" fmla="*/ 40 h 199"/>
                <a:gd name="T66" fmla="*/ 21 w 445"/>
                <a:gd name="T67" fmla="*/ 18 h 199"/>
                <a:gd name="T68" fmla="*/ 20 w 445"/>
                <a:gd name="T69" fmla="*/ 1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5" h="199">
                  <a:moveTo>
                    <a:pt x="445" y="99"/>
                  </a:moveTo>
                  <a:lnTo>
                    <a:pt x="445" y="86"/>
                  </a:lnTo>
                  <a:lnTo>
                    <a:pt x="444" y="73"/>
                  </a:lnTo>
                  <a:lnTo>
                    <a:pt x="442" y="59"/>
                  </a:lnTo>
                  <a:lnTo>
                    <a:pt x="440" y="48"/>
                  </a:lnTo>
                  <a:lnTo>
                    <a:pt x="437" y="35"/>
                  </a:lnTo>
                  <a:lnTo>
                    <a:pt x="432" y="23"/>
                  </a:lnTo>
                  <a:lnTo>
                    <a:pt x="427" y="11"/>
                  </a:lnTo>
                  <a:lnTo>
                    <a:pt x="422" y="0"/>
                  </a:lnTo>
                  <a:lnTo>
                    <a:pt x="417" y="0"/>
                  </a:lnTo>
                  <a:lnTo>
                    <a:pt x="422" y="11"/>
                  </a:lnTo>
                  <a:lnTo>
                    <a:pt x="427" y="23"/>
                  </a:lnTo>
                  <a:lnTo>
                    <a:pt x="432" y="35"/>
                  </a:lnTo>
                  <a:lnTo>
                    <a:pt x="435" y="48"/>
                  </a:lnTo>
                  <a:lnTo>
                    <a:pt x="437" y="59"/>
                  </a:lnTo>
                  <a:lnTo>
                    <a:pt x="439" y="73"/>
                  </a:lnTo>
                  <a:lnTo>
                    <a:pt x="440" y="86"/>
                  </a:lnTo>
                  <a:lnTo>
                    <a:pt x="440" y="99"/>
                  </a:lnTo>
                  <a:lnTo>
                    <a:pt x="440" y="109"/>
                  </a:lnTo>
                  <a:lnTo>
                    <a:pt x="440" y="121"/>
                  </a:lnTo>
                  <a:lnTo>
                    <a:pt x="439" y="131"/>
                  </a:lnTo>
                  <a:lnTo>
                    <a:pt x="437" y="141"/>
                  </a:lnTo>
                  <a:lnTo>
                    <a:pt x="435" y="151"/>
                  </a:lnTo>
                  <a:lnTo>
                    <a:pt x="432" y="160"/>
                  </a:lnTo>
                  <a:lnTo>
                    <a:pt x="429" y="170"/>
                  </a:lnTo>
                  <a:lnTo>
                    <a:pt x="425" y="179"/>
                  </a:lnTo>
                  <a:lnTo>
                    <a:pt x="432" y="177"/>
                  </a:lnTo>
                  <a:lnTo>
                    <a:pt x="435" y="167"/>
                  </a:lnTo>
                  <a:lnTo>
                    <a:pt x="439" y="157"/>
                  </a:lnTo>
                  <a:lnTo>
                    <a:pt x="440" y="149"/>
                  </a:lnTo>
                  <a:lnTo>
                    <a:pt x="442" y="139"/>
                  </a:lnTo>
                  <a:lnTo>
                    <a:pt x="444" y="129"/>
                  </a:lnTo>
                  <a:lnTo>
                    <a:pt x="445" y="119"/>
                  </a:lnTo>
                  <a:lnTo>
                    <a:pt x="445" y="109"/>
                  </a:lnTo>
                  <a:lnTo>
                    <a:pt x="445" y="99"/>
                  </a:lnTo>
                  <a:close/>
                  <a:moveTo>
                    <a:pt x="20" y="10"/>
                  </a:moveTo>
                  <a:lnTo>
                    <a:pt x="15" y="20"/>
                  </a:lnTo>
                  <a:lnTo>
                    <a:pt x="11" y="31"/>
                  </a:lnTo>
                  <a:lnTo>
                    <a:pt x="8" y="41"/>
                  </a:lnTo>
                  <a:lnTo>
                    <a:pt x="5" y="53"/>
                  </a:lnTo>
                  <a:lnTo>
                    <a:pt x="3" y="64"/>
                  </a:lnTo>
                  <a:lnTo>
                    <a:pt x="1" y="76"/>
                  </a:lnTo>
                  <a:lnTo>
                    <a:pt x="1" y="88"/>
                  </a:lnTo>
                  <a:lnTo>
                    <a:pt x="0" y="99"/>
                  </a:lnTo>
                  <a:lnTo>
                    <a:pt x="1" y="112"/>
                  </a:lnTo>
                  <a:lnTo>
                    <a:pt x="1" y="126"/>
                  </a:lnTo>
                  <a:lnTo>
                    <a:pt x="3" y="139"/>
                  </a:lnTo>
                  <a:lnTo>
                    <a:pt x="6" y="151"/>
                  </a:lnTo>
                  <a:lnTo>
                    <a:pt x="10" y="164"/>
                  </a:lnTo>
                  <a:lnTo>
                    <a:pt x="13" y="175"/>
                  </a:lnTo>
                  <a:lnTo>
                    <a:pt x="18" y="187"/>
                  </a:lnTo>
                  <a:lnTo>
                    <a:pt x="23" y="199"/>
                  </a:lnTo>
                  <a:lnTo>
                    <a:pt x="30" y="199"/>
                  </a:lnTo>
                  <a:lnTo>
                    <a:pt x="23" y="187"/>
                  </a:lnTo>
                  <a:lnTo>
                    <a:pt x="20" y="175"/>
                  </a:lnTo>
                  <a:lnTo>
                    <a:pt x="15" y="164"/>
                  </a:lnTo>
                  <a:lnTo>
                    <a:pt x="11" y="151"/>
                  </a:lnTo>
                  <a:lnTo>
                    <a:pt x="8" y="139"/>
                  </a:lnTo>
                  <a:lnTo>
                    <a:pt x="6" y="126"/>
                  </a:lnTo>
                  <a:lnTo>
                    <a:pt x="6" y="112"/>
                  </a:lnTo>
                  <a:lnTo>
                    <a:pt x="5" y="99"/>
                  </a:lnTo>
                  <a:lnTo>
                    <a:pt x="5" y="86"/>
                  </a:lnTo>
                  <a:lnTo>
                    <a:pt x="6" y="74"/>
                  </a:lnTo>
                  <a:lnTo>
                    <a:pt x="8" y="63"/>
                  </a:lnTo>
                  <a:lnTo>
                    <a:pt x="10" y="51"/>
                  </a:lnTo>
                  <a:lnTo>
                    <a:pt x="13" y="40"/>
                  </a:lnTo>
                  <a:lnTo>
                    <a:pt x="16" y="28"/>
                  </a:lnTo>
                  <a:lnTo>
                    <a:pt x="21" y="18"/>
                  </a:lnTo>
                  <a:lnTo>
                    <a:pt x="26" y="6"/>
                  </a:lnTo>
                  <a:lnTo>
                    <a:pt x="20" y="1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49" name="Freeform 189">
              <a:extLst>
                <a:ext uri="{FF2B5EF4-FFF2-40B4-BE49-F238E27FC236}">
                  <a16:creationId xmlns:a16="http://schemas.microsoft.com/office/drawing/2014/main" id="{817FEF1E-FE3E-8964-FDCF-6505DE9DA912}"/>
                </a:ext>
              </a:extLst>
            </p:cNvPr>
            <p:cNvSpPr>
              <a:spLocks noEditPoints="1"/>
            </p:cNvSpPr>
            <p:nvPr/>
          </p:nvSpPr>
          <p:spPr bwMode="auto">
            <a:xfrm>
              <a:off x="1616" y="1514"/>
              <a:ext cx="441" cy="199"/>
            </a:xfrm>
            <a:custGeom>
              <a:avLst/>
              <a:gdLst>
                <a:gd name="T0" fmla="*/ 441 w 441"/>
                <a:gd name="T1" fmla="*/ 86 h 199"/>
                <a:gd name="T2" fmla="*/ 437 w 441"/>
                <a:gd name="T3" fmla="*/ 59 h 199"/>
                <a:gd name="T4" fmla="*/ 431 w 441"/>
                <a:gd name="T5" fmla="*/ 35 h 199"/>
                <a:gd name="T6" fmla="*/ 422 w 441"/>
                <a:gd name="T7" fmla="*/ 11 h 199"/>
                <a:gd name="T8" fmla="*/ 411 w 441"/>
                <a:gd name="T9" fmla="*/ 0 h 199"/>
                <a:gd name="T10" fmla="*/ 422 w 441"/>
                <a:gd name="T11" fmla="*/ 23 h 199"/>
                <a:gd name="T12" fmla="*/ 429 w 441"/>
                <a:gd name="T13" fmla="*/ 46 h 199"/>
                <a:gd name="T14" fmla="*/ 434 w 441"/>
                <a:gd name="T15" fmla="*/ 73 h 199"/>
                <a:gd name="T16" fmla="*/ 436 w 441"/>
                <a:gd name="T17" fmla="*/ 99 h 199"/>
                <a:gd name="T18" fmla="*/ 434 w 441"/>
                <a:gd name="T19" fmla="*/ 121 h 199"/>
                <a:gd name="T20" fmla="*/ 431 w 441"/>
                <a:gd name="T21" fmla="*/ 141 h 199"/>
                <a:gd name="T22" fmla="*/ 426 w 441"/>
                <a:gd name="T23" fmla="*/ 160 h 199"/>
                <a:gd name="T24" fmla="*/ 419 w 441"/>
                <a:gd name="T25" fmla="*/ 180 h 199"/>
                <a:gd name="T26" fmla="*/ 429 w 441"/>
                <a:gd name="T27" fmla="*/ 169 h 199"/>
                <a:gd name="T28" fmla="*/ 434 w 441"/>
                <a:gd name="T29" fmla="*/ 149 h 199"/>
                <a:gd name="T30" fmla="*/ 439 w 441"/>
                <a:gd name="T31" fmla="*/ 129 h 199"/>
                <a:gd name="T32" fmla="*/ 441 w 441"/>
                <a:gd name="T33" fmla="*/ 109 h 199"/>
                <a:gd name="T34" fmla="*/ 18 w 441"/>
                <a:gd name="T35" fmla="*/ 8 h 199"/>
                <a:gd name="T36" fmla="*/ 12 w 441"/>
                <a:gd name="T37" fmla="*/ 30 h 199"/>
                <a:gd name="T38" fmla="*/ 5 w 441"/>
                <a:gd name="T39" fmla="*/ 53 h 199"/>
                <a:gd name="T40" fmla="*/ 2 w 441"/>
                <a:gd name="T41" fmla="*/ 74 h 199"/>
                <a:gd name="T42" fmla="*/ 0 w 441"/>
                <a:gd name="T43" fmla="*/ 99 h 199"/>
                <a:gd name="T44" fmla="*/ 2 w 441"/>
                <a:gd name="T45" fmla="*/ 126 h 199"/>
                <a:gd name="T46" fmla="*/ 7 w 441"/>
                <a:gd name="T47" fmla="*/ 151 h 199"/>
                <a:gd name="T48" fmla="*/ 13 w 441"/>
                <a:gd name="T49" fmla="*/ 175 h 199"/>
                <a:gd name="T50" fmla="*/ 23 w 441"/>
                <a:gd name="T51" fmla="*/ 199 h 199"/>
                <a:gd name="T52" fmla="*/ 23 w 441"/>
                <a:gd name="T53" fmla="*/ 187 h 199"/>
                <a:gd name="T54" fmla="*/ 15 w 441"/>
                <a:gd name="T55" fmla="*/ 164 h 199"/>
                <a:gd name="T56" fmla="*/ 8 w 441"/>
                <a:gd name="T57" fmla="*/ 139 h 199"/>
                <a:gd name="T58" fmla="*/ 5 w 441"/>
                <a:gd name="T59" fmla="*/ 112 h 199"/>
                <a:gd name="T60" fmla="*/ 5 w 441"/>
                <a:gd name="T61" fmla="*/ 86 h 199"/>
                <a:gd name="T62" fmla="*/ 8 w 441"/>
                <a:gd name="T63" fmla="*/ 63 h 199"/>
                <a:gd name="T64" fmla="*/ 13 w 441"/>
                <a:gd name="T65" fmla="*/ 38 h 199"/>
                <a:gd name="T66" fmla="*/ 22 w 441"/>
                <a:gd name="T67" fmla="*/ 16 h 199"/>
                <a:gd name="T68" fmla="*/ 18 w 441"/>
                <a:gd name="T69" fmla="*/ 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1" h="199">
                  <a:moveTo>
                    <a:pt x="441" y="99"/>
                  </a:moveTo>
                  <a:lnTo>
                    <a:pt x="441" y="86"/>
                  </a:lnTo>
                  <a:lnTo>
                    <a:pt x="439" y="73"/>
                  </a:lnTo>
                  <a:lnTo>
                    <a:pt x="437" y="59"/>
                  </a:lnTo>
                  <a:lnTo>
                    <a:pt x="434" y="48"/>
                  </a:lnTo>
                  <a:lnTo>
                    <a:pt x="431" y="35"/>
                  </a:lnTo>
                  <a:lnTo>
                    <a:pt x="427" y="23"/>
                  </a:lnTo>
                  <a:lnTo>
                    <a:pt x="422" y="11"/>
                  </a:lnTo>
                  <a:lnTo>
                    <a:pt x="417" y="0"/>
                  </a:lnTo>
                  <a:lnTo>
                    <a:pt x="411" y="0"/>
                  </a:lnTo>
                  <a:lnTo>
                    <a:pt x="417" y="11"/>
                  </a:lnTo>
                  <a:lnTo>
                    <a:pt x="422" y="23"/>
                  </a:lnTo>
                  <a:lnTo>
                    <a:pt x="426" y="35"/>
                  </a:lnTo>
                  <a:lnTo>
                    <a:pt x="429" y="46"/>
                  </a:lnTo>
                  <a:lnTo>
                    <a:pt x="432" y="59"/>
                  </a:lnTo>
                  <a:lnTo>
                    <a:pt x="434" y="73"/>
                  </a:lnTo>
                  <a:lnTo>
                    <a:pt x="436" y="86"/>
                  </a:lnTo>
                  <a:lnTo>
                    <a:pt x="436" y="99"/>
                  </a:lnTo>
                  <a:lnTo>
                    <a:pt x="436" y="109"/>
                  </a:lnTo>
                  <a:lnTo>
                    <a:pt x="434" y="121"/>
                  </a:lnTo>
                  <a:lnTo>
                    <a:pt x="434" y="131"/>
                  </a:lnTo>
                  <a:lnTo>
                    <a:pt x="431" y="141"/>
                  </a:lnTo>
                  <a:lnTo>
                    <a:pt x="429" y="151"/>
                  </a:lnTo>
                  <a:lnTo>
                    <a:pt x="426" y="160"/>
                  </a:lnTo>
                  <a:lnTo>
                    <a:pt x="424" y="170"/>
                  </a:lnTo>
                  <a:lnTo>
                    <a:pt x="419" y="180"/>
                  </a:lnTo>
                  <a:lnTo>
                    <a:pt x="426" y="177"/>
                  </a:lnTo>
                  <a:lnTo>
                    <a:pt x="429" y="169"/>
                  </a:lnTo>
                  <a:lnTo>
                    <a:pt x="432" y="159"/>
                  </a:lnTo>
                  <a:lnTo>
                    <a:pt x="434" y="149"/>
                  </a:lnTo>
                  <a:lnTo>
                    <a:pt x="437" y="139"/>
                  </a:lnTo>
                  <a:lnTo>
                    <a:pt x="439" y="129"/>
                  </a:lnTo>
                  <a:lnTo>
                    <a:pt x="439" y="119"/>
                  </a:lnTo>
                  <a:lnTo>
                    <a:pt x="441" y="109"/>
                  </a:lnTo>
                  <a:lnTo>
                    <a:pt x="441" y="99"/>
                  </a:lnTo>
                  <a:close/>
                  <a:moveTo>
                    <a:pt x="18" y="8"/>
                  </a:moveTo>
                  <a:lnTo>
                    <a:pt x="15" y="20"/>
                  </a:lnTo>
                  <a:lnTo>
                    <a:pt x="12" y="30"/>
                  </a:lnTo>
                  <a:lnTo>
                    <a:pt x="8" y="41"/>
                  </a:lnTo>
                  <a:lnTo>
                    <a:pt x="5" y="53"/>
                  </a:lnTo>
                  <a:lnTo>
                    <a:pt x="3" y="63"/>
                  </a:lnTo>
                  <a:lnTo>
                    <a:pt x="2" y="74"/>
                  </a:lnTo>
                  <a:lnTo>
                    <a:pt x="0" y="88"/>
                  </a:lnTo>
                  <a:lnTo>
                    <a:pt x="0" y="99"/>
                  </a:lnTo>
                  <a:lnTo>
                    <a:pt x="0" y="112"/>
                  </a:lnTo>
                  <a:lnTo>
                    <a:pt x="2" y="126"/>
                  </a:lnTo>
                  <a:lnTo>
                    <a:pt x="3" y="139"/>
                  </a:lnTo>
                  <a:lnTo>
                    <a:pt x="7" y="151"/>
                  </a:lnTo>
                  <a:lnTo>
                    <a:pt x="10" y="164"/>
                  </a:lnTo>
                  <a:lnTo>
                    <a:pt x="13" y="175"/>
                  </a:lnTo>
                  <a:lnTo>
                    <a:pt x="18" y="187"/>
                  </a:lnTo>
                  <a:lnTo>
                    <a:pt x="23" y="199"/>
                  </a:lnTo>
                  <a:lnTo>
                    <a:pt x="28" y="199"/>
                  </a:lnTo>
                  <a:lnTo>
                    <a:pt x="23" y="187"/>
                  </a:lnTo>
                  <a:lnTo>
                    <a:pt x="18" y="175"/>
                  </a:lnTo>
                  <a:lnTo>
                    <a:pt x="15" y="164"/>
                  </a:lnTo>
                  <a:lnTo>
                    <a:pt x="12" y="151"/>
                  </a:lnTo>
                  <a:lnTo>
                    <a:pt x="8" y="139"/>
                  </a:lnTo>
                  <a:lnTo>
                    <a:pt x="7" y="126"/>
                  </a:lnTo>
                  <a:lnTo>
                    <a:pt x="5" y="112"/>
                  </a:lnTo>
                  <a:lnTo>
                    <a:pt x="5" y="99"/>
                  </a:lnTo>
                  <a:lnTo>
                    <a:pt x="5" y="86"/>
                  </a:lnTo>
                  <a:lnTo>
                    <a:pt x="7" y="74"/>
                  </a:lnTo>
                  <a:lnTo>
                    <a:pt x="8" y="63"/>
                  </a:lnTo>
                  <a:lnTo>
                    <a:pt x="10" y="50"/>
                  </a:lnTo>
                  <a:lnTo>
                    <a:pt x="13" y="38"/>
                  </a:lnTo>
                  <a:lnTo>
                    <a:pt x="17" y="28"/>
                  </a:lnTo>
                  <a:lnTo>
                    <a:pt x="22" y="16"/>
                  </a:lnTo>
                  <a:lnTo>
                    <a:pt x="27" y="5"/>
                  </a:lnTo>
                  <a:lnTo>
                    <a:pt x="18" y="8"/>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50" name="Freeform 190">
              <a:extLst>
                <a:ext uri="{FF2B5EF4-FFF2-40B4-BE49-F238E27FC236}">
                  <a16:creationId xmlns:a16="http://schemas.microsoft.com/office/drawing/2014/main" id="{FA16FB45-D6C1-9CCE-ED8E-A718F1BAC413}"/>
                </a:ext>
              </a:extLst>
            </p:cNvPr>
            <p:cNvSpPr>
              <a:spLocks noEditPoints="1"/>
            </p:cNvSpPr>
            <p:nvPr/>
          </p:nvSpPr>
          <p:spPr bwMode="auto">
            <a:xfrm>
              <a:off x="1618" y="1514"/>
              <a:ext cx="435" cy="199"/>
            </a:xfrm>
            <a:custGeom>
              <a:avLst/>
              <a:gdLst>
                <a:gd name="T0" fmla="*/ 435 w 435"/>
                <a:gd name="T1" fmla="*/ 86 h 199"/>
                <a:gd name="T2" fmla="*/ 432 w 435"/>
                <a:gd name="T3" fmla="*/ 59 h 199"/>
                <a:gd name="T4" fmla="*/ 427 w 435"/>
                <a:gd name="T5" fmla="*/ 35 h 199"/>
                <a:gd name="T6" fmla="*/ 417 w 435"/>
                <a:gd name="T7" fmla="*/ 11 h 199"/>
                <a:gd name="T8" fmla="*/ 407 w 435"/>
                <a:gd name="T9" fmla="*/ 0 h 199"/>
                <a:gd name="T10" fmla="*/ 417 w 435"/>
                <a:gd name="T11" fmla="*/ 23 h 199"/>
                <a:gd name="T12" fmla="*/ 425 w 435"/>
                <a:gd name="T13" fmla="*/ 46 h 199"/>
                <a:gd name="T14" fmla="*/ 430 w 435"/>
                <a:gd name="T15" fmla="*/ 73 h 199"/>
                <a:gd name="T16" fmla="*/ 432 w 435"/>
                <a:gd name="T17" fmla="*/ 99 h 199"/>
                <a:gd name="T18" fmla="*/ 430 w 435"/>
                <a:gd name="T19" fmla="*/ 121 h 199"/>
                <a:gd name="T20" fmla="*/ 427 w 435"/>
                <a:gd name="T21" fmla="*/ 142 h 199"/>
                <a:gd name="T22" fmla="*/ 422 w 435"/>
                <a:gd name="T23" fmla="*/ 162 h 199"/>
                <a:gd name="T24" fmla="*/ 414 w 435"/>
                <a:gd name="T25" fmla="*/ 182 h 199"/>
                <a:gd name="T26" fmla="*/ 424 w 435"/>
                <a:gd name="T27" fmla="*/ 170 h 199"/>
                <a:gd name="T28" fmla="*/ 430 w 435"/>
                <a:gd name="T29" fmla="*/ 151 h 199"/>
                <a:gd name="T30" fmla="*/ 434 w 435"/>
                <a:gd name="T31" fmla="*/ 131 h 199"/>
                <a:gd name="T32" fmla="*/ 435 w 435"/>
                <a:gd name="T33" fmla="*/ 109 h 199"/>
                <a:gd name="T34" fmla="*/ 21 w 435"/>
                <a:gd name="T35" fmla="*/ 6 h 199"/>
                <a:gd name="T36" fmla="*/ 11 w 435"/>
                <a:gd name="T37" fmla="*/ 28 h 199"/>
                <a:gd name="T38" fmla="*/ 5 w 435"/>
                <a:gd name="T39" fmla="*/ 51 h 199"/>
                <a:gd name="T40" fmla="*/ 1 w 435"/>
                <a:gd name="T41" fmla="*/ 74 h 199"/>
                <a:gd name="T42" fmla="*/ 0 w 435"/>
                <a:gd name="T43" fmla="*/ 99 h 199"/>
                <a:gd name="T44" fmla="*/ 1 w 435"/>
                <a:gd name="T45" fmla="*/ 126 h 199"/>
                <a:gd name="T46" fmla="*/ 6 w 435"/>
                <a:gd name="T47" fmla="*/ 151 h 199"/>
                <a:gd name="T48" fmla="*/ 15 w 435"/>
                <a:gd name="T49" fmla="*/ 175 h 199"/>
                <a:gd name="T50" fmla="*/ 25 w 435"/>
                <a:gd name="T51" fmla="*/ 199 h 199"/>
                <a:gd name="T52" fmla="*/ 25 w 435"/>
                <a:gd name="T53" fmla="*/ 187 h 199"/>
                <a:gd name="T54" fmla="*/ 15 w 435"/>
                <a:gd name="T55" fmla="*/ 164 h 199"/>
                <a:gd name="T56" fmla="*/ 8 w 435"/>
                <a:gd name="T57" fmla="*/ 139 h 199"/>
                <a:gd name="T58" fmla="*/ 5 w 435"/>
                <a:gd name="T59" fmla="*/ 112 h 199"/>
                <a:gd name="T60" fmla="*/ 5 w 435"/>
                <a:gd name="T61" fmla="*/ 86 h 199"/>
                <a:gd name="T62" fmla="*/ 8 w 435"/>
                <a:gd name="T63" fmla="*/ 61 h 199"/>
                <a:gd name="T64" fmla="*/ 15 w 435"/>
                <a:gd name="T65" fmla="*/ 38 h 199"/>
                <a:gd name="T66" fmla="*/ 23 w 435"/>
                <a:gd name="T67" fmla="*/ 15 h 199"/>
                <a:gd name="T68" fmla="*/ 21 w 435"/>
                <a:gd name="T69" fmla="*/ 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5" h="199">
                  <a:moveTo>
                    <a:pt x="435" y="99"/>
                  </a:moveTo>
                  <a:lnTo>
                    <a:pt x="435" y="86"/>
                  </a:lnTo>
                  <a:lnTo>
                    <a:pt x="434" y="73"/>
                  </a:lnTo>
                  <a:lnTo>
                    <a:pt x="432" y="59"/>
                  </a:lnTo>
                  <a:lnTo>
                    <a:pt x="430" y="48"/>
                  </a:lnTo>
                  <a:lnTo>
                    <a:pt x="427" y="35"/>
                  </a:lnTo>
                  <a:lnTo>
                    <a:pt x="422" y="23"/>
                  </a:lnTo>
                  <a:lnTo>
                    <a:pt x="417" y="11"/>
                  </a:lnTo>
                  <a:lnTo>
                    <a:pt x="412" y="0"/>
                  </a:lnTo>
                  <a:lnTo>
                    <a:pt x="407" y="0"/>
                  </a:lnTo>
                  <a:lnTo>
                    <a:pt x="412" y="11"/>
                  </a:lnTo>
                  <a:lnTo>
                    <a:pt x="417" y="23"/>
                  </a:lnTo>
                  <a:lnTo>
                    <a:pt x="422" y="35"/>
                  </a:lnTo>
                  <a:lnTo>
                    <a:pt x="425" y="46"/>
                  </a:lnTo>
                  <a:lnTo>
                    <a:pt x="427" y="59"/>
                  </a:lnTo>
                  <a:lnTo>
                    <a:pt x="430" y="73"/>
                  </a:lnTo>
                  <a:lnTo>
                    <a:pt x="430" y="86"/>
                  </a:lnTo>
                  <a:lnTo>
                    <a:pt x="432" y="99"/>
                  </a:lnTo>
                  <a:lnTo>
                    <a:pt x="430" y="109"/>
                  </a:lnTo>
                  <a:lnTo>
                    <a:pt x="430" y="121"/>
                  </a:lnTo>
                  <a:lnTo>
                    <a:pt x="429" y="131"/>
                  </a:lnTo>
                  <a:lnTo>
                    <a:pt x="427" y="142"/>
                  </a:lnTo>
                  <a:lnTo>
                    <a:pt x="425" y="152"/>
                  </a:lnTo>
                  <a:lnTo>
                    <a:pt x="422" y="162"/>
                  </a:lnTo>
                  <a:lnTo>
                    <a:pt x="419" y="172"/>
                  </a:lnTo>
                  <a:lnTo>
                    <a:pt x="414" y="182"/>
                  </a:lnTo>
                  <a:lnTo>
                    <a:pt x="420" y="179"/>
                  </a:lnTo>
                  <a:lnTo>
                    <a:pt x="424" y="170"/>
                  </a:lnTo>
                  <a:lnTo>
                    <a:pt x="427" y="160"/>
                  </a:lnTo>
                  <a:lnTo>
                    <a:pt x="430" y="151"/>
                  </a:lnTo>
                  <a:lnTo>
                    <a:pt x="432" y="141"/>
                  </a:lnTo>
                  <a:lnTo>
                    <a:pt x="434" y="131"/>
                  </a:lnTo>
                  <a:lnTo>
                    <a:pt x="435" y="121"/>
                  </a:lnTo>
                  <a:lnTo>
                    <a:pt x="435" y="109"/>
                  </a:lnTo>
                  <a:lnTo>
                    <a:pt x="435" y="99"/>
                  </a:lnTo>
                  <a:close/>
                  <a:moveTo>
                    <a:pt x="21" y="6"/>
                  </a:moveTo>
                  <a:lnTo>
                    <a:pt x="16" y="18"/>
                  </a:lnTo>
                  <a:lnTo>
                    <a:pt x="11" y="28"/>
                  </a:lnTo>
                  <a:lnTo>
                    <a:pt x="8" y="40"/>
                  </a:lnTo>
                  <a:lnTo>
                    <a:pt x="5" y="51"/>
                  </a:lnTo>
                  <a:lnTo>
                    <a:pt x="3" y="63"/>
                  </a:lnTo>
                  <a:lnTo>
                    <a:pt x="1" y="74"/>
                  </a:lnTo>
                  <a:lnTo>
                    <a:pt x="0" y="86"/>
                  </a:lnTo>
                  <a:lnTo>
                    <a:pt x="0" y="99"/>
                  </a:lnTo>
                  <a:lnTo>
                    <a:pt x="1" y="112"/>
                  </a:lnTo>
                  <a:lnTo>
                    <a:pt x="1" y="126"/>
                  </a:lnTo>
                  <a:lnTo>
                    <a:pt x="3" y="139"/>
                  </a:lnTo>
                  <a:lnTo>
                    <a:pt x="6" y="151"/>
                  </a:lnTo>
                  <a:lnTo>
                    <a:pt x="10" y="164"/>
                  </a:lnTo>
                  <a:lnTo>
                    <a:pt x="15" y="175"/>
                  </a:lnTo>
                  <a:lnTo>
                    <a:pt x="18" y="187"/>
                  </a:lnTo>
                  <a:lnTo>
                    <a:pt x="25" y="199"/>
                  </a:lnTo>
                  <a:lnTo>
                    <a:pt x="30" y="199"/>
                  </a:lnTo>
                  <a:lnTo>
                    <a:pt x="25" y="187"/>
                  </a:lnTo>
                  <a:lnTo>
                    <a:pt x="20" y="175"/>
                  </a:lnTo>
                  <a:lnTo>
                    <a:pt x="15" y="164"/>
                  </a:lnTo>
                  <a:lnTo>
                    <a:pt x="11" y="151"/>
                  </a:lnTo>
                  <a:lnTo>
                    <a:pt x="8" y="139"/>
                  </a:lnTo>
                  <a:lnTo>
                    <a:pt x="6" y="126"/>
                  </a:lnTo>
                  <a:lnTo>
                    <a:pt x="5" y="112"/>
                  </a:lnTo>
                  <a:lnTo>
                    <a:pt x="5" y="99"/>
                  </a:lnTo>
                  <a:lnTo>
                    <a:pt x="5" y="86"/>
                  </a:lnTo>
                  <a:lnTo>
                    <a:pt x="6" y="74"/>
                  </a:lnTo>
                  <a:lnTo>
                    <a:pt x="8" y="61"/>
                  </a:lnTo>
                  <a:lnTo>
                    <a:pt x="11" y="50"/>
                  </a:lnTo>
                  <a:lnTo>
                    <a:pt x="15" y="38"/>
                  </a:lnTo>
                  <a:lnTo>
                    <a:pt x="18" y="26"/>
                  </a:lnTo>
                  <a:lnTo>
                    <a:pt x="23" y="15"/>
                  </a:lnTo>
                  <a:lnTo>
                    <a:pt x="28" y="3"/>
                  </a:lnTo>
                  <a:lnTo>
                    <a:pt x="21" y="6"/>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51" name="Freeform 191">
              <a:extLst>
                <a:ext uri="{FF2B5EF4-FFF2-40B4-BE49-F238E27FC236}">
                  <a16:creationId xmlns:a16="http://schemas.microsoft.com/office/drawing/2014/main" id="{99BC03BF-CD0C-F2CD-A350-0347CA95C193}"/>
                </a:ext>
              </a:extLst>
            </p:cNvPr>
            <p:cNvSpPr>
              <a:spLocks noEditPoints="1"/>
            </p:cNvSpPr>
            <p:nvPr/>
          </p:nvSpPr>
          <p:spPr bwMode="auto">
            <a:xfrm>
              <a:off x="1621" y="1514"/>
              <a:ext cx="431" cy="199"/>
            </a:xfrm>
            <a:custGeom>
              <a:avLst/>
              <a:gdLst>
                <a:gd name="T0" fmla="*/ 431 w 431"/>
                <a:gd name="T1" fmla="*/ 86 h 199"/>
                <a:gd name="T2" fmla="*/ 427 w 431"/>
                <a:gd name="T3" fmla="*/ 59 h 199"/>
                <a:gd name="T4" fmla="*/ 421 w 431"/>
                <a:gd name="T5" fmla="*/ 35 h 199"/>
                <a:gd name="T6" fmla="*/ 412 w 431"/>
                <a:gd name="T7" fmla="*/ 11 h 199"/>
                <a:gd name="T8" fmla="*/ 401 w 431"/>
                <a:gd name="T9" fmla="*/ 0 h 199"/>
                <a:gd name="T10" fmla="*/ 411 w 431"/>
                <a:gd name="T11" fmla="*/ 23 h 199"/>
                <a:gd name="T12" fmla="*/ 419 w 431"/>
                <a:gd name="T13" fmla="*/ 46 h 199"/>
                <a:gd name="T14" fmla="*/ 424 w 431"/>
                <a:gd name="T15" fmla="*/ 73 h 199"/>
                <a:gd name="T16" fmla="*/ 426 w 431"/>
                <a:gd name="T17" fmla="*/ 99 h 199"/>
                <a:gd name="T18" fmla="*/ 424 w 431"/>
                <a:gd name="T19" fmla="*/ 121 h 199"/>
                <a:gd name="T20" fmla="*/ 421 w 431"/>
                <a:gd name="T21" fmla="*/ 142 h 199"/>
                <a:gd name="T22" fmla="*/ 416 w 431"/>
                <a:gd name="T23" fmla="*/ 164 h 199"/>
                <a:gd name="T24" fmla="*/ 409 w 431"/>
                <a:gd name="T25" fmla="*/ 184 h 199"/>
                <a:gd name="T26" fmla="*/ 419 w 431"/>
                <a:gd name="T27" fmla="*/ 170 h 199"/>
                <a:gd name="T28" fmla="*/ 424 w 431"/>
                <a:gd name="T29" fmla="*/ 151 h 199"/>
                <a:gd name="T30" fmla="*/ 429 w 431"/>
                <a:gd name="T31" fmla="*/ 131 h 199"/>
                <a:gd name="T32" fmla="*/ 431 w 431"/>
                <a:gd name="T33" fmla="*/ 109 h 199"/>
                <a:gd name="T34" fmla="*/ 22 w 431"/>
                <a:gd name="T35" fmla="*/ 5 h 199"/>
                <a:gd name="T36" fmla="*/ 12 w 431"/>
                <a:gd name="T37" fmla="*/ 28 h 199"/>
                <a:gd name="T38" fmla="*/ 5 w 431"/>
                <a:gd name="T39" fmla="*/ 50 h 199"/>
                <a:gd name="T40" fmla="*/ 2 w 431"/>
                <a:gd name="T41" fmla="*/ 74 h 199"/>
                <a:gd name="T42" fmla="*/ 0 w 431"/>
                <a:gd name="T43" fmla="*/ 99 h 199"/>
                <a:gd name="T44" fmla="*/ 2 w 431"/>
                <a:gd name="T45" fmla="*/ 126 h 199"/>
                <a:gd name="T46" fmla="*/ 7 w 431"/>
                <a:gd name="T47" fmla="*/ 151 h 199"/>
                <a:gd name="T48" fmla="*/ 13 w 431"/>
                <a:gd name="T49" fmla="*/ 175 h 199"/>
                <a:gd name="T50" fmla="*/ 23 w 431"/>
                <a:gd name="T51" fmla="*/ 199 h 199"/>
                <a:gd name="T52" fmla="*/ 23 w 431"/>
                <a:gd name="T53" fmla="*/ 187 h 199"/>
                <a:gd name="T54" fmla="*/ 15 w 431"/>
                <a:gd name="T55" fmla="*/ 164 h 199"/>
                <a:gd name="T56" fmla="*/ 8 w 431"/>
                <a:gd name="T57" fmla="*/ 139 h 199"/>
                <a:gd name="T58" fmla="*/ 5 w 431"/>
                <a:gd name="T59" fmla="*/ 112 h 199"/>
                <a:gd name="T60" fmla="*/ 5 w 431"/>
                <a:gd name="T61" fmla="*/ 86 h 199"/>
                <a:gd name="T62" fmla="*/ 8 w 431"/>
                <a:gd name="T63" fmla="*/ 61 h 199"/>
                <a:gd name="T64" fmla="*/ 13 w 431"/>
                <a:gd name="T65" fmla="*/ 36 h 199"/>
                <a:gd name="T66" fmla="*/ 23 w 431"/>
                <a:gd name="T67" fmla="*/ 13 h 199"/>
                <a:gd name="T68" fmla="*/ 22 w 431"/>
                <a:gd name="T69" fmla="*/ 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1" h="199">
                  <a:moveTo>
                    <a:pt x="431" y="99"/>
                  </a:moveTo>
                  <a:lnTo>
                    <a:pt x="431" y="86"/>
                  </a:lnTo>
                  <a:lnTo>
                    <a:pt x="429" y="73"/>
                  </a:lnTo>
                  <a:lnTo>
                    <a:pt x="427" y="59"/>
                  </a:lnTo>
                  <a:lnTo>
                    <a:pt x="424" y="46"/>
                  </a:lnTo>
                  <a:lnTo>
                    <a:pt x="421" y="35"/>
                  </a:lnTo>
                  <a:lnTo>
                    <a:pt x="417" y="23"/>
                  </a:lnTo>
                  <a:lnTo>
                    <a:pt x="412" y="11"/>
                  </a:lnTo>
                  <a:lnTo>
                    <a:pt x="406" y="0"/>
                  </a:lnTo>
                  <a:lnTo>
                    <a:pt x="401" y="0"/>
                  </a:lnTo>
                  <a:lnTo>
                    <a:pt x="406" y="11"/>
                  </a:lnTo>
                  <a:lnTo>
                    <a:pt x="411" y="23"/>
                  </a:lnTo>
                  <a:lnTo>
                    <a:pt x="416" y="35"/>
                  </a:lnTo>
                  <a:lnTo>
                    <a:pt x="419" y="46"/>
                  </a:lnTo>
                  <a:lnTo>
                    <a:pt x="422" y="59"/>
                  </a:lnTo>
                  <a:lnTo>
                    <a:pt x="424" y="73"/>
                  </a:lnTo>
                  <a:lnTo>
                    <a:pt x="426" y="86"/>
                  </a:lnTo>
                  <a:lnTo>
                    <a:pt x="426" y="99"/>
                  </a:lnTo>
                  <a:lnTo>
                    <a:pt x="426" y="111"/>
                  </a:lnTo>
                  <a:lnTo>
                    <a:pt x="424" y="121"/>
                  </a:lnTo>
                  <a:lnTo>
                    <a:pt x="424" y="132"/>
                  </a:lnTo>
                  <a:lnTo>
                    <a:pt x="421" y="142"/>
                  </a:lnTo>
                  <a:lnTo>
                    <a:pt x="419" y="154"/>
                  </a:lnTo>
                  <a:lnTo>
                    <a:pt x="416" y="164"/>
                  </a:lnTo>
                  <a:lnTo>
                    <a:pt x="412" y="174"/>
                  </a:lnTo>
                  <a:lnTo>
                    <a:pt x="409" y="184"/>
                  </a:lnTo>
                  <a:lnTo>
                    <a:pt x="414" y="180"/>
                  </a:lnTo>
                  <a:lnTo>
                    <a:pt x="419" y="170"/>
                  </a:lnTo>
                  <a:lnTo>
                    <a:pt x="421" y="160"/>
                  </a:lnTo>
                  <a:lnTo>
                    <a:pt x="424" y="151"/>
                  </a:lnTo>
                  <a:lnTo>
                    <a:pt x="426" y="141"/>
                  </a:lnTo>
                  <a:lnTo>
                    <a:pt x="429" y="131"/>
                  </a:lnTo>
                  <a:lnTo>
                    <a:pt x="429" y="121"/>
                  </a:lnTo>
                  <a:lnTo>
                    <a:pt x="431" y="109"/>
                  </a:lnTo>
                  <a:lnTo>
                    <a:pt x="431" y="99"/>
                  </a:lnTo>
                  <a:close/>
                  <a:moveTo>
                    <a:pt x="22" y="5"/>
                  </a:moveTo>
                  <a:lnTo>
                    <a:pt x="17" y="16"/>
                  </a:lnTo>
                  <a:lnTo>
                    <a:pt x="12" y="28"/>
                  </a:lnTo>
                  <a:lnTo>
                    <a:pt x="8" y="38"/>
                  </a:lnTo>
                  <a:lnTo>
                    <a:pt x="5" y="50"/>
                  </a:lnTo>
                  <a:lnTo>
                    <a:pt x="3" y="63"/>
                  </a:lnTo>
                  <a:lnTo>
                    <a:pt x="2" y="74"/>
                  </a:lnTo>
                  <a:lnTo>
                    <a:pt x="0" y="86"/>
                  </a:lnTo>
                  <a:lnTo>
                    <a:pt x="0" y="99"/>
                  </a:lnTo>
                  <a:lnTo>
                    <a:pt x="0" y="112"/>
                  </a:lnTo>
                  <a:lnTo>
                    <a:pt x="2" y="126"/>
                  </a:lnTo>
                  <a:lnTo>
                    <a:pt x="3" y="139"/>
                  </a:lnTo>
                  <a:lnTo>
                    <a:pt x="7" y="151"/>
                  </a:lnTo>
                  <a:lnTo>
                    <a:pt x="10" y="164"/>
                  </a:lnTo>
                  <a:lnTo>
                    <a:pt x="13" y="175"/>
                  </a:lnTo>
                  <a:lnTo>
                    <a:pt x="18" y="187"/>
                  </a:lnTo>
                  <a:lnTo>
                    <a:pt x="23" y="199"/>
                  </a:lnTo>
                  <a:lnTo>
                    <a:pt x="30" y="199"/>
                  </a:lnTo>
                  <a:lnTo>
                    <a:pt x="23" y="187"/>
                  </a:lnTo>
                  <a:lnTo>
                    <a:pt x="18" y="175"/>
                  </a:lnTo>
                  <a:lnTo>
                    <a:pt x="15" y="164"/>
                  </a:lnTo>
                  <a:lnTo>
                    <a:pt x="12" y="151"/>
                  </a:lnTo>
                  <a:lnTo>
                    <a:pt x="8" y="139"/>
                  </a:lnTo>
                  <a:lnTo>
                    <a:pt x="7" y="126"/>
                  </a:lnTo>
                  <a:lnTo>
                    <a:pt x="5" y="112"/>
                  </a:lnTo>
                  <a:lnTo>
                    <a:pt x="5" y="99"/>
                  </a:lnTo>
                  <a:lnTo>
                    <a:pt x="5" y="86"/>
                  </a:lnTo>
                  <a:lnTo>
                    <a:pt x="7" y="73"/>
                  </a:lnTo>
                  <a:lnTo>
                    <a:pt x="8" y="61"/>
                  </a:lnTo>
                  <a:lnTo>
                    <a:pt x="10" y="48"/>
                  </a:lnTo>
                  <a:lnTo>
                    <a:pt x="13" y="36"/>
                  </a:lnTo>
                  <a:lnTo>
                    <a:pt x="18" y="25"/>
                  </a:lnTo>
                  <a:lnTo>
                    <a:pt x="23" y="13"/>
                  </a:lnTo>
                  <a:lnTo>
                    <a:pt x="28" y="1"/>
                  </a:lnTo>
                  <a:lnTo>
                    <a:pt x="22" y="5"/>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52" name="Freeform 192">
              <a:extLst>
                <a:ext uri="{FF2B5EF4-FFF2-40B4-BE49-F238E27FC236}">
                  <a16:creationId xmlns:a16="http://schemas.microsoft.com/office/drawing/2014/main" id="{077D0409-513D-CFA2-4AD6-79145A9336A6}"/>
                </a:ext>
              </a:extLst>
            </p:cNvPr>
            <p:cNvSpPr>
              <a:spLocks noEditPoints="1"/>
            </p:cNvSpPr>
            <p:nvPr/>
          </p:nvSpPr>
          <p:spPr bwMode="auto">
            <a:xfrm>
              <a:off x="1623" y="1514"/>
              <a:ext cx="427" cy="199"/>
            </a:xfrm>
            <a:custGeom>
              <a:avLst/>
              <a:gdLst>
                <a:gd name="T0" fmla="*/ 425 w 427"/>
                <a:gd name="T1" fmla="*/ 86 h 199"/>
                <a:gd name="T2" fmla="*/ 422 w 427"/>
                <a:gd name="T3" fmla="*/ 59 h 199"/>
                <a:gd name="T4" fmla="*/ 417 w 427"/>
                <a:gd name="T5" fmla="*/ 35 h 199"/>
                <a:gd name="T6" fmla="*/ 407 w 427"/>
                <a:gd name="T7" fmla="*/ 11 h 199"/>
                <a:gd name="T8" fmla="*/ 396 w 427"/>
                <a:gd name="T9" fmla="*/ 0 h 199"/>
                <a:gd name="T10" fmla="*/ 407 w 427"/>
                <a:gd name="T11" fmla="*/ 23 h 199"/>
                <a:gd name="T12" fmla="*/ 415 w 427"/>
                <a:gd name="T13" fmla="*/ 46 h 199"/>
                <a:gd name="T14" fmla="*/ 420 w 427"/>
                <a:gd name="T15" fmla="*/ 73 h 199"/>
                <a:gd name="T16" fmla="*/ 422 w 427"/>
                <a:gd name="T17" fmla="*/ 99 h 199"/>
                <a:gd name="T18" fmla="*/ 420 w 427"/>
                <a:gd name="T19" fmla="*/ 122 h 199"/>
                <a:gd name="T20" fmla="*/ 417 w 427"/>
                <a:gd name="T21" fmla="*/ 144 h 199"/>
                <a:gd name="T22" fmla="*/ 410 w 427"/>
                <a:gd name="T23" fmla="*/ 164 h 199"/>
                <a:gd name="T24" fmla="*/ 404 w 427"/>
                <a:gd name="T25" fmla="*/ 185 h 199"/>
                <a:gd name="T26" fmla="*/ 414 w 427"/>
                <a:gd name="T27" fmla="*/ 172 h 199"/>
                <a:gd name="T28" fmla="*/ 419 w 427"/>
                <a:gd name="T29" fmla="*/ 152 h 199"/>
                <a:gd name="T30" fmla="*/ 424 w 427"/>
                <a:gd name="T31" fmla="*/ 131 h 199"/>
                <a:gd name="T32" fmla="*/ 425 w 427"/>
                <a:gd name="T33" fmla="*/ 109 h 199"/>
                <a:gd name="T34" fmla="*/ 23 w 427"/>
                <a:gd name="T35" fmla="*/ 3 h 199"/>
                <a:gd name="T36" fmla="*/ 13 w 427"/>
                <a:gd name="T37" fmla="*/ 26 h 199"/>
                <a:gd name="T38" fmla="*/ 6 w 427"/>
                <a:gd name="T39" fmla="*/ 50 h 199"/>
                <a:gd name="T40" fmla="*/ 1 w 427"/>
                <a:gd name="T41" fmla="*/ 74 h 199"/>
                <a:gd name="T42" fmla="*/ 0 w 427"/>
                <a:gd name="T43" fmla="*/ 99 h 199"/>
                <a:gd name="T44" fmla="*/ 1 w 427"/>
                <a:gd name="T45" fmla="*/ 126 h 199"/>
                <a:gd name="T46" fmla="*/ 6 w 427"/>
                <a:gd name="T47" fmla="*/ 151 h 199"/>
                <a:gd name="T48" fmla="*/ 15 w 427"/>
                <a:gd name="T49" fmla="*/ 175 h 199"/>
                <a:gd name="T50" fmla="*/ 25 w 427"/>
                <a:gd name="T51" fmla="*/ 199 h 199"/>
                <a:gd name="T52" fmla="*/ 25 w 427"/>
                <a:gd name="T53" fmla="*/ 187 h 199"/>
                <a:gd name="T54" fmla="*/ 15 w 427"/>
                <a:gd name="T55" fmla="*/ 164 h 199"/>
                <a:gd name="T56" fmla="*/ 8 w 427"/>
                <a:gd name="T57" fmla="*/ 139 h 199"/>
                <a:gd name="T58" fmla="*/ 5 w 427"/>
                <a:gd name="T59" fmla="*/ 112 h 199"/>
                <a:gd name="T60" fmla="*/ 5 w 427"/>
                <a:gd name="T61" fmla="*/ 86 h 199"/>
                <a:gd name="T62" fmla="*/ 8 w 427"/>
                <a:gd name="T63" fmla="*/ 59 h 199"/>
                <a:gd name="T64" fmla="*/ 15 w 427"/>
                <a:gd name="T65" fmla="*/ 35 h 199"/>
                <a:gd name="T66" fmla="*/ 25 w 427"/>
                <a:gd name="T67" fmla="*/ 11 h 199"/>
                <a:gd name="T68" fmla="*/ 23 w 427"/>
                <a:gd name="T69" fmla="*/ 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7" h="199">
                  <a:moveTo>
                    <a:pt x="427" y="99"/>
                  </a:moveTo>
                  <a:lnTo>
                    <a:pt x="425" y="86"/>
                  </a:lnTo>
                  <a:lnTo>
                    <a:pt x="425" y="73"/>
                  </a:lnTo>
                  <a:lnTo>
                    <a:pt x="422" y="59"/>
                  </a:lnTo>
                  <a:lnTo>
                    <a:pt x="420" y="46"/>
                  </a:lnTo>
                  <a:lnTo>
                    <a:pt x="417" y="35"/>
                  </a:lnTo>
                  <a:lnTo>
                    <a:pt x="412" y="23"/>
                  </a:lnTo>
                  <a:lnTo>
                    <a:pt x="407" y="11"/>
                  </a:lnTo>
                  <a:lnTo>
                    <a:pt x="402" y="0"/>
                  </a:lnTo>
                  <a:lnTo>
                    <a:pt x="396" y="0"/>
                  </a:lnTo>
                  <a:lnTo>
                    <a:pt x="402" y="11"/>
                  </a:lnTo>
                  <a:lnTo>
                    <a:pt x="407" y="23"/>
                  </a:lnTo>
                  <a:lnTo>
                    <a:pt x="412" y="35"/>
                  </a:lnTo>
                  <a:lnTo>
                    <a:pt x="415" y="46"/>
                  </a:lnTo>
                  <a:lnTo>
                    <a:pt x="417" y="59"/>
                  </a:lnTo>
                  <a:lnTo>
                    <a:pt x="420" y="73"/>
                  </a:lnTo>
                  <a:lnTo>
                    <a:pt x="420" y="86"/>
                  </a:lnTo>
                  <a:lnTo>
                    <a:pt x="422" y="99"/>
                  </a:lnTo>
                  <a:lnTo>
                    <a:pt x="420" y="111"/>
                  </a:lnTo>
                  <a:lnTo>
                    <a:pt x="420" y="122"/>
                  </a:lnTo>
                  <a:lnTo>
                    <a:pt x="419" y="132"/>
                  </a:lnTo>
                  <a:lnTo>
                    <a:pt x="417" y="144"/>
                  </a:lnTo>
                  <a:lnTo>
                    <a:pt x="414" y="154"/>
                  </a:lnTo>
                  <a:lnTo>
                    <a:pt x="410" y="164"/>
                  </a:lnTo>
                  <a:lnTo>
                    <a:pt x="407" y="175"/>
                  </a:lnTo>
                  <a:lnTo>
                    <a:pt x="404" y="185"/>
                  </a:lnTo>
                  <a:lnTo>
                    <a:pt x="409" y="182"/>
                  </a:lnTo>
                  <a:lnTo>
                    <a:pt x="414" y="172"/>
                  </a:lnTo>
                  <a:lnTo>
                    <a:pt x="417" y="162"/>
                  </a:lnTo>
                  <a:lnTo>
                    <a:pt x="419" y="152"/>
                  </a:lnTo>
                  <a:lnTo>
                    <a:pt x="422" y="142"/>
                  </a:lnTo>
                  <a:lnTo>
                    <a:pt x="424" y="131"/>
                  </a:lnTo>
                  <a:lnTo>
                    <a:pt x="425" y="121"/>
                  </a:lnTo>
                  <a:lnTo>
                    <a:pt x="425" y="109"/>
                  </a:lnTo>
                  <a:lnTo>
                    <a:pt x="427" y="99"/>
                  </a:lnTo>
                  <a:close/>
                  <a:moveTo>
                    <a:pt x="23" y="3"/>
                  </a:moveTo>
                  <a:lnTo>
                    <a:pt x="18" y="15"/>
                  </a:lnTo>
                  <a:lnTo>
                    <a:pt x="13" y="26"/>
                  </a:lnTo>
                  <a:lnTo>
                    <a:pt x="10" y="38"/>
                  </a:lnTo>
                  <a:lnTo>
                    <a:pt x="6" y="50"/>
                  </a:lnTo>
                  <a:lnTo>
                    <a:pt x="3" y="61"/>
                  </a:lnTo>
                  <a:lnTo>
                    <a:pt x="1" y="74"/>
                  </a:lnTo>
                  <a:lnTo>
                    <a:pt x="0" y="86"/>
                  </a:lnTo>
                  <a:lnTo>
                    <a:pt x="0" y="99"/>
                  </a:lnTo>
                  <a:lnTo>
                    <a:pt x="0" y="112"/>
                  </a:lnTo>
                  <a:lnTo>
                    <a:pt x="1" y="126"/>
                  </a:lnTo>
                  <a:lnTo>
                    <a:pt x="3" y="139"/>
                  </a:lnTo>
                  <a:lnTo>
                    <a:pt x="6" y="151"/>
                  </a:lnTo>
                  <a:lnTo>
                    <a:pt x="10" y="164"/>
                  </a:lnTo>
                  <a:lnTo>
                    <a:pt x="15" y="175"/>
                  </a:lnTo>
                  <a:lnTo>
                    <a:pt x="20" y="187"/>
                  </a:lnTo>
                  <a:lnTo>
                    <a:pt x="25" y="199"/>
                  </a:lnTo>
                  <a:lnTo>
                    <a:pt x="30" y="199"/>
                  </a:lnTo>
                  <a:lnTo>
                    <a:pt x="25" y="187"/>
                  </a:lnTo>
                  <a:lnTo>
                    <a:pt x="20" y="175"/>
                  </a:lnTo>
                  <a:lnTo>
                    <a:pt x="15" y="164"/>
                  </a:lnTo>
                  <a:lnTo>
                    <a:pt x="11" y="151"/>
                  </a:lnTo>
                  <a:lnTo>
                    <a:pt x="8" y="139"/>
                  </a:lnTo>
                  <a:lnTo>
                    <a:pt x="6" y="126"/>
                  </a:lnTo>
                  <a:lnTo>
                    <a:pt x="5" y="112"/>
                  </a:lnTo>
                  <a:lnTo>
                    <a:pt x="5" y="99"/>
                  </a:lnTo>
                  <a:lnTo>
                    <a:pt x="5" y="86"/>
                  </a:lnTo>
                  <a:lnTo>
                    <a:pt x="6" y="73"/>
                  </a:lnTo>
                  <a:lnTo>
                    <a:pt x="8" y="59"/>
                  </a:lnTo>
                  <a:lnTo>
                    <a:pt x="11" y="48"/>
                  </a:lnTo>
                  <a:lnTo>
                    <a:pt x="15" y="35"/>
                  </a:lnTo>
                  <a:lnTo>
                    <a:pt x="20" y="23"/>
                  </a:lnTo>
                  <a:lnTo>
                    <a:pt x="25" y="11"/>
                  </a:lnTo>
                  <a:lnTo>
                    <a:pt x="30" y="0"/>
                  </a:lnTo>
                  <a:lnTo>
                    <a:pt x="23" y="3"/>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53" name="Freeform 193">
              <a:extLst>
                <a:ext uri="{FF2B5EF4-FFF2-40B4-BE49-F238E27FC236}">
                  <a16:creationId xmlns:a16="http://schemas.microsoft.com/office/drawing/2014/main" id="{A8FA10A1-5E9B-3C73-81FC-E745D0B62B55}"/>
                </a:ext>
              </a:extLst>
            </p:cNvPr>
            <p:cNvSpPr>
              <a:spLocks noEditPoints="1"/>
            </p:cNvSpPr>
            <p:nvPr/>
          </p:nvSpPr>
          <p:spPr bwMode="auto">
            <a:xfrm>
              <a:off x="1626" y="1514"/>
              <a:ext cx="421" cy="199"/>
            </a:xfrm>
            <a:custGeom>
              <a:avLst/>
              <a:gdLst>
                <a:gd name="T0" fmla="*/ 421 w 421"/>
                <a:gd name="T1" fmla="*/ 86 h 199"/>
                <a:gd name="T2" fmla="*/ 417 w 421"/>
                <a:gd name="T3" fmla="*/ 59 h 199"/>
                <a:gd name="T4" fmla="*/ 411 w 421"/>
                <a:gd name="T5" fmla="*/ 35 h 199"/>
                <a:gd name="T6" fmla="*/ 401 w 421"/>
                <a:gd name="T7" fmla="*/ 11 h 199"/>
                <a:gd name="T8" fmla="*/ 391 w 421"/>
                <a:gd name="T9" fmla="*/ 0 h 199"/>
                <a:gd name="T10" fmla="*/ 401 w 421"/>
                <a:gd name="T11" fmla="*/ 23 h 199"/>
                <a:gd name="T12" fmla="*/ 409 w 421"/>
                <a:gd name="T13" fmla="*/ 46 h 199"/>
                <a:gd name="T14" fmla="*/ 414 w 421"/>
                <a:gd name="T15" fmla="*/ 73 h 199"/>
                <a:gd name="T16" fmla="*/ 416 w 421"/>
                <a:gd name="T17" fmla="*/ 99 h 199"/>
                <a:gd name="T18" fmla="*/ 414 w 421"/>
                <a:gd name="T19" fmla="*/ 122 h 199"/>
                <a:gd name="T20" fmla="*/ 411 w 421"/>
                <a:gd name="T21" fmla="*/ 144 h 199"/>
                <a:gd name="T22" fmla="*/ 406 w 421"/>
                <a:gd name="T23" fmla="*/ 165 h 199"/>
                <a:gd name="T24" fmla="*/ 398 w 421"/>
                <a:gd name="T25" fmla="*/ 187 h 199"/>
                <a:gd name="T26" fmla="*/ 407 w 421"/>
                <a:gd name="T27" fmla="*/ 174 h 199"/>
                <a:gd name="T28" fmla="*/ 414 w 421"/>
                <a:gd name="T29" fmla="*/ 154 h 199"/>
                <a:gd name="T30" fmla="*/ 419 w 421"/>
                <a:gd name="T31" fmla="*/ 132 h 199"/>
                <a:gd name="T32" fmla="*/ 421 w 421"/>
                <a:gd name="T33" fmla="*/ 111 h 199"/>
                <a:gd name="T34" fmla="*/ 23 w 421"/>
                <a:gd name="T35" fmla="*/ 1 h 199"/>
                <a:gd name="T36" fmla="*/ 13 w 421"/>
                <a:gd name="T37" fmla="*/ 25 h 199"/>
                <a:gd name="T38" fmla="*/ 5 w 421"/>
                <a:gd name="T39" fmla="*/ 48 h 199"/>
                <a:gd name="T40" fmla="*/ 2 w 421"/>
                <a:gd name="T41" fmla="*/ 73 h 199"/>
                <a:gd name="T42" fmla="*/ 0 w 421"/>
                <a:gd name="T43" fmla="*/ 99 h 199"/>
                <a:gd name="T44" fmla="*/ 2 w 421"/>
                <a:gd name="T45" fmla="*/ 126 h 199"/>
                <a:gd name="T46" fmla="*/ 7 w 421"/>
                <a:gd name="T47" fmla="*/ 151 h 199"/>
                <a:gd name="T48" fmla="*/ 13 w 421"/>
                <a:gd name="T49" fmla="*/ 175 h 199"/>
                <a:gd name="T50" fmla="*/ 25 w 421"/>
                <a:gd name="T51" fmla="*/ 199 h 199"/>
                <a:gd name="T52" fmla="*/ 23 w 421"/>
                <a:gd name="T53" fmla="*/ 187 h 199"/>
                <a:gd name="T54" fmla="*/ 15 w 421"/>
                <a:gd name="T55" fmla="*/ 164 h 199"/>
                <a:gd name="T56" fmla="*/ 8 w 421"/>
                <a:gd name="T57" fmla="*/ 139 h 199"/>
                <a:gd name="T58" fmla="*/ 5 w 421"/>
                <a:gd name="T59" fmla="*/ 112 h 199"/>
                <a:gd name="T60" fmla="*/ 5 w 421"/>
                <a:gd name="T61" fmla="*/ 86 h 199"/>
                <a:gd name="T62" fmla="*/ 8 w 421"/>
                <a:gd name="T63" fmla="*/ 59 h 199"/>
                <a:gd name="T64" fmla="*/ 15 w 421"/>
                <a:gd name="T65" fmla="*/ 35 h 199"/>
                <a:gd name="T66" fmla="*/ 23 w 421"/>
                <a:gd name="T67" fmla="*/ 11 h 199"/>
                <a:gd name="T68" fmla="*/ 28 w 42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1" h="199">
                  <a:moveTo>
                    <a:pt x="421" y="99"/>
                  </a:moveTo>
                  <a:lnTo>
                    <a:pt x="421" y="86"/>
                  </a:lnTo>
                  <a:lnTo>
                    <a:pt x="419" y="73"/>
                  </a:lnTo>
                  <a:lnTo>
                    <a:pt x="417" y="59"/>
                  </a:lnTo>
                  <a:lnTo>
                    <a:pt x="414" y="46"/>
                  </a:lnTo>
                  <a:lnTo>
                    <a:pt x="411" y="35"/>
                  </a:lnTo>
                  <a:lnTo>
                    <a:pt x="406" y="23"/>
                  </a:lnTo>
                  <a:lnTo>
                    <a:pt x="401" y="11"/>
                  </a:lnTo>
                  <a:lnTo>
                    <a:pt x="396" y="0"/>
                  </a:lnTo>
                  <a:lnTo>
                    <a:pt x="391" y="0"/>
                  </a:lnTo>
                  <a:lnTo>
                    <a:pt x="396" y="11"/>
                  </a:lnTo>
                  <a:lnTo>
                    <a:pt x="401" y="23"/>
                  </a:lnTo>
                  <a:lnTo>
                    <a:pt x="406" y="35"/>
                  </a:lnTo>
                  <a:lnTo>
                    <a:pt x="409" y="46"/>
                  </a:lnTo>
                  <a:lnTo>
                    <a:pt x="412" y="59"/>
                  </a:lnTo>
                  <a:lnTo>
                    <a:pt x="414" y="73"/>
                  </a:lnTo>
                  <a:lnTo>
                    <a:pt x="416" y="86"/>
                  </a:lnTo>
                  <a:lnTo>
                    <a:pt x="416" y="99"/>
                  </a:lnTo>
                  <a:lnTo>
                    <a:pt x="416" y="111"/>
                  </a:lnTo>
                  <a:lnTo>
                    <a:pt x="414" y="122"/>
                  </a:lnTo>
                  <a:lnTo>
                    <a:pt x="412" y="134"/>
                  </a:lnTo>
                  <a:lnTo>
                    <a:pt x="411" y="144"/>
                  </a:lnTo>
                  <a:lnTo>
                    <a:pt x="409" y="155"/>
                  </a:lnTo>
                  <a:lnTo>
                    <a:pt x="406" y="165"/>
                  </a:lnTo>
                  <a:lnTo>
                    <a:pt x="401" y="175"/>
                  </a:lnTo>
                  <a:lnTo>
                    <a:pt x="398" y="187"/>
                  </a:lnTo>
                  <a:lnTo>
                    <a:pt x="404" y="184"/>
                  </a:lnTo>
                  <a:lnTo>
                    <a:pt x="407" y="174"/>
                  </a:lnTo>
                  <a:lnTo>
                    <a:pt x="411" y="164"/>
                  </a:lnTo>
                  <a:lnTo>
                    <a:pt x="414" y="154"/>
                  </a:lnTo>
                  <a:lnTo>
                    <a:pt x="416" y="142"/>
                  </a:lnTo>
                  <a:lnTo>
                    <a:pt x="419" y="132"/>
                  </a:lnTo>
                  <a:lnTo>
                    <a:pt x="419" y="121"/>
                  </a:lnTo>
                  <a:lnTo>
                    <a:pt x="421" y="111"/>
                  </a:lnTo>
                  <a:lnTo>
                    <a:pt x="421" y="99"/>
                  </a:lnTo>
                  <a:close/>
                  <a:moveTo>
                    <a:pt x="23" y="1"/>
                  </a:moveTo>
                  <a:lnTo>
                    <a:pt x="18" y="13"/>
                  </a:lnTo>
                  <a:lnTo>
                    <a:pt x="13" y="25"/>
                  </a:lnTo>
                  <a:lnTo>
                    <a:pt x="8" y="36"/>
                  </a:lnTo>
                  <a:lnTo>
                    <a:pt x="5" y="48"/>
                  </a:lnTo>
                  <a:lnTo>
                    <a:pt x="3" y="61"/>
                  </a:lnTo>
                  <a:lnTo>
                    <a:pt x="2" y="73"/>
                  </a:lnTo>
                  <a:lnTo>
                    <a:pt x="0" y="86"/>
                  </a:lnTo>
                  <a:lnTo>
                    <a:pt x="0" y="99"/>
                  </a:lnTo>
                  <a:lnTo>
                    <a:pt x="0" y="112"/>
                  </a:lnTo>
                  <a:lnTo>
                    <a:pt x="2" y="126"/>
                  </a:lnTo>
                  <a:lnTo>
                    <a:pt x="3" y="139"/>
                  </a:lnTo>
                  <a:lnTo>
                    <a:pt x="7" y="151"/>
                  </a:lnTo>
                  <a:lnTo>
                    <a:pt x="10" y="164"/>
                  </a:lnTo>
                  <a:lnTo>
                    <a:pt x="13" y="175"/>
                  </a:lnTo>
                  <a:lnTo>
                    <a:pt x="18" y="187"/>
                  </a:lnTo>
                  <a:lnTo>
                    <a:pt x="25" y="199"/>
                  </a:lnTo>
                  <a:lnTo>
                    <a:pt x="30" y="199"/>
                  </a:lnTo>
                  <a:lnTo>
                    <a:pt x="23" y="187"/>
                  </a:lnTo>
                  <a:lnTo>
                    <a:pt x="18" y="175"/>
                  </a:lnTo>
                  <a:lnTo>
                    <a:pt x="15" y="164"/>
                  </a:lnTo>
                  <a:lnTo>
                    <a:pt x="12" y="151"/>
                  </a:lnTo>
                  <a:lnTo>
                    <a:pt x="8" y="139"/>
                  </a:lnTo>
                  <a:lnTo>
                    <a:pt x="7" y="126"/>
                  </a:lnTo>
                  <a:lnTo>
                    <a:pt x="5" y="112"/>
                  </a:lnTo>
                  <a:lnTo>
                    <a:pt x="3" y="99"/>
                  </a:lnTo>
                  <a:lnTo>
                    <a:pt x="5" y="86"/>
                  </a:lnTo>
                  <a:lnTo>
                    <a:pt x="7" y="73"/>
                  </a:lnTo>
                  <a:lnTo>
                    <a:pt x="8" y="59"/>
                  </a:lnTo>
                  <a:lnTo>
                    <a:pt x="12" y="46"/>
                  </a:lnTo>
                  <a:lnTo>
                    <a:pt x="15" y="35"/>
                  </a:lnTo>
                  <a:lnTo>
                    <a:pt x="18" y="23"/>
                  </a:lnTo>
                  <a:lnTo>
                    <a:pt x="23" y="11"/>
                  </a:lnTo>
                  <a:lnTo>
                    <a:pt x="30" y="0"/>
                  </a:lnTo>
                  <a:lnTo>
                    <a:pt x="28" y="0"/>
                  </a:lnTo>
                  <a:lnTo>
                    <a:pt x="23" y="1"/>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54" name="Freeform 194">
              <a:extLst>
                <a:ext uri="{FF2B5EF4-FFF2-40B4-BE49-F238E27FC236}">
                  <a16:creationId xmlns:a16="http://schemas.microsoft.com/office/drawing/2014/main" id="{0BA83B38-5A15-0DD5-B375-74958B54C4AC}"/>
                </a:ext>
              </a:extLst>
            </p:cNvPr>
            <p:cNvSpPr>
              <a:spLocks noEditPoints="1"/>
            </p:cNvSpPr>
            <p:nvPr/>
          </p:nvSpPr>
          <p:spPr bwMode="auto">
            <a:xfrm>
              <a:off x="1628" y="1514"/>
              <a:ext cx="417" cy="199"/>
            </a:xfrm>
            <a:custGeom>
              <a:avLst/>
              <a:gdLst>
                <a:gd name="T0" fmla="*/ 415 w 417"/>
                <a:gd name="T1" fmla="*/ 86 h 199"/>
                <a:gd name="T2" fmla="*/ 412 w 417"/>
                <a:gd name="T3" fmla="*/ 59 h 199"/>
                <a:gd name="T4" fmla="*/ 407 w 417"/>
                <a:gd name="T5" fmla="*/ 35 h 199"/>
                <a:gd name="T6" fmla="*/ 397 w 417"/>
                <a:gd name="T7" fmla="*/ 11 h 199"/>
                <a:gd name="T8" fmla="*/ 386 w 417"/>
                <a:gd name="T9" fmla="*/ 0 h 199"/>
                <a:gd name="T10" fmla="*/ 397 w 417"/>
                <a:gd name="T11" fmla="*/ 23 h 199"/>
                <a:gd name="T12" fmla="*/ 405 w 417"/>
                <a:gd name="T13" fmla="*/ 46 h 199"/>
                <a:gd name="T14" fmla="*/ 410 w 417"/>
                <a:gd name="T15" fmla="*/ 73 h 199"/>
                <a:gd name="T16" fmla="*/ 412 w 417"/>
                <a:gd name="T17" fmla="*/ 99 h 199"/>
                <a:gd name="T18" fmla="*/ 410 w 417"/>
                <a:gd name="T19" fmla="*/ 122 h 199"/>
                <a:gd name="T20" fmla="*/ 407 w 417"/>
                <a:gd name="T21" fmla="*/ 146 h 199"/>
                <a:gd name="T22" fmla="*/ 401 w 417"/>
                <a:gd name="T23" fmla="*/ 167 h 199"/>
                <a:gd name="T24" fmla="*/ 392 w 417"/>
                <a:gd name="T25" fmla="*/ 187 h 199"/>
                <a:gd name="T26" fmla="*/ 402 w 417"/>
                <a:gd name="T27" fmla="*/ 175 h 199"/>
                <a:gd name="T28" fmla="*/ 409 w 417"/>
                <a:gd name="T29" fmla="*/ 154 h 199"/>
                <a:gd name="T30" fmla="*/ 414 w 417"/>
                <a:gd name="T31" fmla="*/ 132 h 199"/>
                <a:gd name="T32" fmla="*/ 415 w 417"/>
                <a:gd name="T33" fmla="*/ 111 h 199"/>
                <a:gd name="T34" fmla="*/ 25 w 417"/>
                <a:gd name="T35" fmla="*/ 0 h 199"/>
                <a:gd name="T36" fmla="*/ 15 w 417"/>
                <a:gd name="T37" fmla="*/ 23 h 199"/>
                <a:gd name="T38" fmla="*/ 6 w 417"/>
                <a:gd name="T39" fmla="*/ 48 h 199"/>
                <a:gd name="T40" fmla="*/ 1 w 417"/>
                <a:gd name="T41" fmla="*/ 73 h 199"/>
                <a:gd name="T42" fmla="*/ 0 w 417"/>
                <a:gd name="T43" fmla="*/ 99 h 199"/>
                <a:gd name="T44" fmla="*/ 1 w 417"/>
                <a:gd name="T45" fmla="*/ 126 h 199"/>
                <a:gd name="T46" fmla="*/ 6 w 417"/>
                <a:gd name="T47" fmla="*/ 151 h 199"/>
                <a:gd name="T48" fmla="*/ 15 w 417"/>
                <a:gd name="T49" fmla="*/ 175 h 199"/>
                <a:gd name="T50" fmla="*/ 25 w 417"/>
                <a:gd name="T51" fmla="*/ 199 h 199"/>
                <a:gd name="T52" fmla="*/ 25 w 417"/>
                <a:gd name="T53" fmla="*/ 187 h 199"/>
                <a:gd name="T54" fmla="*/ 15 w 417"/>
                <a:gd name="T55" fmla="*/ 164 h 199"/>
                <a:gd name="T56" fmla="*/ 8 w 417"/>
                <a:gd name="T57" fmla="*/ 139 h 199"/>
                <a:gd name="T58" fmla="*/ 5 w 417"/>
                <a:gd name="T59" fmla="*/ 112 h 199"/>
                <a:gd name="T60" fmla="*/ 5 w 417"/>
                <a:gd name="T61" fmla="*/ 86 h 199"/>
                <a:gd name="T62" fmla="*/ 8 w 417"/>
                <a:gd name="T63" fmla="*/ 59 h 199"/>
                <a:gd name="T64" fmla="*/ 15 w 417"/>
                <a:gd name="T65" fmla="*/ 35 h 199"/>
                <a:gd name="T66" fmla="*/ 25 w 417"/>
                <a:gd name="T67" fmla="*/ 11 h 199"/>
                <a:gd name="T68" fmla="*/ 26 w 41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7" h="199">
                  <a:moveTo>
                    <a:pt x="417" y="99"/>
                  </a:moveTo>
                  <a:lnTo>
                    <a:pt x="415" y="86"/>
                  </a:lnTo>
                  <a:lnTo>
                    <a:pt x="415" y="73"/>
                  </a:lnTo>
                  <a:lnTo>
                    <a:pt x="412" y="59"/>
                  </a:lnTo>
                  <a:lnTo>
                    <a:pt x="410" y="46"/>
                  </a:lnTo>
                  <a:lnTo>
                    <a:pt x="407" y="35"/>
                  </a:lnTo>
                  <a:lnTo>
                    <a:pt x="402" y="23"/>
                  </a:lnTo>
                  <a:lnTo>
                    <a:pt x="397" y="11"/>
                  </a:lnTo>
                  <a:lnTo>
                    <a:pt x="391" y="0"/>
                  </a:lnTo>
                  <a:lnTo>
                    <a:pt x="386" y="0"/>
                  </a:lnTo>
                  <a:lnTo>
                    <a:pt x="392" y="11"/>
                  </a:lnTo>
                  <a:lnTo>
                    <a:pt x="397" y="23"/>
                  </a:lnTo>
                  <a:lnTo>
                    <a:pt x="401" y="35"/>
                  </a:lnTo>
                  <a:lnTo>
                    <a:pt x="405" y="46"/>
                  </a:lnTo>
                  <a:lnTo>
                    <a:pt x="407" y="59"/>
                  </a:lnTo>
                  <a:lnTo>
                    <a:pt x="410" y="73"/>
                  </a:lnTo>
                  <a:lnTo>
                    <a:pt x="410" y="86"/>
                  </a:lnTo>
                  <a:lnTo>
                    <a:pt x="412" y="99"/>
                  </a:lnTo>
                  <a:lnTo>
                    <a:pt x="412" y="111"/>
                  </a:lnTo>
                  <a:lnTo>
                    <a:pt x="410" y="122"/>
                  </a:lnTo>
                  <a:lnTo>
                    <a:pt x="409" y="134"/>
                  </a:lnTo>
                  <a:lnTo>
                    <a:pt x="407" y="146"/>
                  </a:lnTo>
                  <a:lnTo>
                    <a:pt x="404" y="155"/>
                  </a:lnTo>
                  <a:lnTo>
                    <a:pt x="401" y="167"/>
                  </a:lnTo>
                  <a:lnTo>
                    <a:pt x="396" y="177"/>
                  </a:lnTo>
                  <a:lnTo>
                    <a:pt x="392" y="187"/>
                  </a:lnTo>
                  <a:lnTo>
                    <a:pt x="399" y="185"/>
                  </a:lnTo>
                  <a:lnTo>
                    <a:pt x="402" y="175"/>
                  </a:lnTo>
                  <a:lnTo>
                    <a:pt x="405" y="164"/>
                  </a:lnTo>
                  <a:lnTo>
                    <a:pt x="409" y="154"/>
                  </a:lnTo>
                  <a:lnTo>
                    <a:pt x="412" y="144"/>
                  </a:lnTo>
                  <a:lnTo>
                    <a:pt x="414" y="132"/>
                  </a:lnTo>
                  <a:lnTo>
                    <a:pt x="415" y="122"/>
                  </a:lnTo>
                  <a:lnTo>
                    <a:pt x="415" y="111"/>
                  </a:lnTo>
                  <a:lnTo>
                    <a:pt x="417" y="99"/>
                  </a:lnTo>
                  <a:close/>
                  <a:moveTo>
                    <a:pt x="25" y="0"/>
                  </a:moveTo>
                  <a:lnTo>
                    <a:pt x="20" y="11"/>
                  </a:lnTo>
                  <a:lnTo>
                    <a:pt x="15" y="23"/>
                  </a:lnTo>
                  <a:lnTo>
                    <a:pt x="10" y="35"/>
                  </a:lnTo>
                  <a:lnTo>
                    <a:pt x="6" y="48"/>
                  </a:lnTo>
                  <a:lnTo>
                    <a:pt x="3" y="59"/>
                  </a:lnTo>
                  <a:lnTo>
                    <a:pt x="1" y="73"/>
                  </a:lnTo>
                  <a:lnTo>
                    <a:pt x="0" y="86"/>
                  </a:lnTo>
                  <a:lnTo>
                    <a:pt x="0" y="99"/>
                  </a:lnTo>
                  <a:lnTo>
                    <a:pt x="0" y="112"/>
                  </a:lnTo>
                  <a:lnTo>
                    <a:pt x="1" y="126"/>
                  </a:lnTo>
                  <a:lnTo>
                    <a:pt x="3" y="139"/>
                  </a:lnTo>
                  <a:lnTo>
                    <a:pt x="6" y="151"/>
                  </a:lnTo>
                  <a:lnTo>
                    <a:pt x="10" y="164"/>
                  </a:lnTo>
                  <a:lnTo>
                    <a:pt x="15" y="175"/>
                  </a:lnTo>
                  <a:lnTo>
                    <a:pt x="20" y="187"/>
                  </a:lnTo>
                  <a:lnTo>
                    <a:pt x="25" y="199"/>
                  </a:lnTo>
                  <a:lnTo>
                    <a:pt x="31" y="199"/>
                  </a:lnTo>
                  <a:lnTo>
                    <a:pt x="25" y="187"/>
                  </a:lnTo>
                  <a:lnTo>
                    <a:pt x="20" y="175"/>
                  </a:lnTo>
                  <a:lnTo>
                    <a:pt x="15" y="164"/>
                  </a:lnTo>
                  <a:lnTo>
                    <a:pt x="11" y="151"/>
                  </a:lnTo>
                  <a:lnTo>
                    <a:pt x="8" y="139"/>
                  </a:lnTo>
                  <a:lnTo>
                    <a:pt x="6" y="126"/>
                  </a:lnTo>
                  <a:lnTo>
                    <a:pt x="5" y="112"/>
                  </a:lnTo>
                  <a:lnTo>
                    <a:pt x="5" y="99"/>
                  </a:lnTo>
                  <a:lnTo>
                    <a:pt x="5" y="86"/>
                  </a:lnTo>
                  <a:lnTo>
                    <a:pt x="6" y="73"/>
                  </a:lnTo>
                  <a:lnTo>
                    <a:pt x="8" y="59"/>
                  </a:lnTo>
                  <a:lnTo>
                    <a:pt x="11" y="46"/>
                  </a:lnTo>
                  <a:lnTo>
                    <a:pt x="15" y="35"/>
                  </a:lnTo>
                  <a:lnTo>
                    <a:pt x="20" y="23"/>
                  </a:lnTo>
                  <a:lnTo>
                    <a:pt x="25" y="11"/>
                  </a:lnTo>
                  <a:lnTo>
                    <a:pt x="31" y="0"/>
                  </a:lnTo>
                  <a:lnTo>
                    <a:pt x="26" y="0"/>
                  </a:lnTo>
                  <a:lnTo>
                    <a:pt x="25"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55" name="Freeform 195">
              <a:extLst>
                <a:ext uri="{FF2B5EF4-FFF2-40B4-BE49-F238E27FC236}">
                  <a16:creationId xmlns:a16="http://schemas.microsoft.com/office/drawing/2014/main" id="{0C0B35DA-D4DB-1F3B-A754-CCBB2AAC7311}"/>
                </a:ext>
              </a:extLst>
            </p:cNvPr>
            <p:cNvSpPr>
              <a:spLocks noEditPoints="1"/>
            </p:cNvSpPr>
            <p:nvPr/>
          </p:nvSpPr>
          <p:spPr bwMode="auto">
            <a:xfrm>
              <a:off x="1629" y="1514"/>
              <a:ext cx="413" cy="199"/>
            </a:xfrm>
            <a:custGeom>
              <a:avLst/>
              <a:gdLst>
                <a:gd name="T0" fmla="*/ 413 w 413"/>
                <a:gd name="T1" fmla="*/ 86 h 199"/>
                <a:gd name="T2" fmla="*/ 409 w 413"/>
                <a:gd name="T3" fmla="*/ 59 h 199"/>
                <a:gd name="T4" fmla="*/ 403 w 413"/>
                <a:gd name="T5" fmla="*/ 35 h 199"/>
                <a:gd name="T6" fmla="*/ 393 w 413"/>
                <a:gd name="T7" fmla="*/ 11 h 199"/>
                <a:gd name="T8" fmla="*/ 381 w 413"/>
                <a:gd name="T9" fmla="*/ 0 h 199"/>
                <a:gd name="T10" fmla="*/ 393 w 413"/>
                <a:gd name="T11" fmla="*/ 23 h 199"/>
                <a:gd name="T12" fmla="*/ 401 w 413"/>
                <a:gd name="T13" fmla="*/ 46 h 199"/>
                <a:gd name="T14" fmla="*/ 406 w 413"/>
                <a:gd name="T15" fmla="*/ 73 h 199"/>
                <a:gd name="T16" fmla="*/ 408 w 413"/>
                <a:gd name="T17" fmla="*/ 99 h 199"/>
                <a:gd name="T18" fmla="*/ 406 w 413"/>
                <a:gd name="T19" fmla="*/ 122 h 199"/>
                <a:gd name="T20" fmla="*/ 403 w 413"/>
                <a:gd name="T21" fmla="*/ 146 h 199"/>
                <a:gd name="T22" fmla="*/ 396 w 413"/>
                <a:gd name="T23" fmla="*/ 169 h 199"/>
                <a:gd name="T24" fmla="*/ 386 w 413"/>
                <a:gd name="T25" fmla="*/ 189 h 199"/>
                <a:gd name="T26" fmla="*/ 398 w 413"/>
                <a:gd name="T27" fmla="*/ 175 h 199"/>
                <a:gd name="T28" fmla="*/ 406 w 413"/>
                <a:gd name="T29" fmla="*/ 155 h 199"/>
                <a:gd name="T30" fmla="*/ 409 w 413"/>
                <a:gd name="T31" fmla="*/ 134 h 199"/>
                <a:gd name="T32" fmla="*/ 413 w 413"/>
                <a:gd name="T33" fmla="*/ 111 h 199"/>
                <a:gd name="T34" fmla="*/ 27 w 413"/>
                <a:gd name="T35" fmla="*/ 0 h 199"/>
                <a:gd name="T36" fmla="*/ 15 w 413"/>
                <a:gd name="T37" fmla="*/ 23 h 199"/>
                <a:gd name="T38" fmla="*/ 9 w 413"/>
                <a:gd name="T39" fmla="*/ 46 h 199"/>
                <a:gd name="T40" fmla="*/ 4 w 413"/>
                <a:gd name="T41" fmla="*/ 73 h 199"/>
                <a:gd name="T42" fmla="*/ 0 w 413"/>
                <a:gd name="T43" fmla="*/ 99 h 199"/>
                <a:gd name="T44" fmla="*/ 4 w 413"/>
                <a:gd name="T45" fmla="*/ 126 h 199"/>
                <a:gd name="T46" fmla="*/ 9 w 413"/>
                <a:gd name="T47" fmla="*/ 151 h 199"/>
                <a:gd name="T48" fmla="*/ 15 w 413"/>
                <a:gd name="T49" fmla="*/ 175 h 199"/>
                <a:gd name="T50" fmla="*/ 27 w 413"/>
                <a:gd name="T51" fmla="*/ 199 h 199"/>
                <a:gd name="T52" fmla="*/ 27 w 413"/>
                <a:gd name="T53" fmla="*/ 187 h 199"/>
                <a:gd name="T54" fmla="*/ 17 w 413"/>
                <a:gd name="T55" fmla="*/ 164 h 199"/>
                <a:gd name="T56" fmla="*/ 10 w 413"/>
                <a:gd name="T57" fmla="*/ 139 h 199"/>
                <a:gd name="T58" fmla="*/ 7 w 413"/>
                <a:gd name="T59" fmla="*/ 112 h 199"/>
                <a:gd name="T60" fmla="*/ 7 w 413"/>
                <a:gd name="T61" fmla="*/ 86 h 199"/>
                <a:gd name="T62" fmla="*/ 10 w 413"/>
                <a:gd name="T63" fmla="*/ 59 h 199"/>
                <a:gd name="T64" fmla="*/ 17 w 413"/>
                <a:gd name="T65" fmla="*/ 35 h 199"/>
                <a:gd name="T66" fmla="*/ 27 w 413"/>
                <a:gd name="T67" fmla="*/ 11 h 199"/>
                <a:gd name="T68" fmla="*/ 27 w 41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3" h="199">
                  <a:moveTo>
                    <a:pt x="413" y="99"/>
                  </a:moveTo>
                  <a:lnTo>
                    <a:pt x="413" y="86"/>
                  </a:lnTo>
                  <a:lnTo>
                    <a:pt x="411" y="73"/>
                  </a:lnTo>
                  <a:lnTo>
                    <a:pt x="409" y="59"/>
                  </a:lnTo>
                  <a:lnTo>
                    <a:pt x="406" y="46"/>
                  </a:lnTo>
                  <a:lnTo>
                    <a:pt x="403" y="35"/>
                  </a:lnTo>
                  <a:lnTo>
                    <a:pt x="398" y="23"/>
                  </a:lnTo>
                  <a:lnTo>
                    <a:pt x="393" y="11"/>
                  </a:lnTo>
                  <a:lnTo>
                    <a:pt x="388" y="0"/>
                  </a:lnTo>
                  <a:lnTo>
                    <a:pt x="381" y="0"/>
                  </a:lnTo>
                  <a:lnTo>
                    <a:pt x="388" y="11"/>
                  </a:lnTo>
                  <a:lnTo>
                    <a:pt x="393" y="23"/>
                  </a:lnTo>
                  <a:lnTo>
                    <a:pt x="398" y="35"/>
                  </a:lnTo>
                  <a:lnTo>
                    <a:pt x="401" y="46"/>
                  </a:lnTo>
                  <a:lnTo>
                    <a:pt x="404" y="59"/>
                  </a:lnTo>
                  <a:lnTo>
                    <a:pt x="406" y="73"/>
                  </a:lnTo>
                  <a:lnTo>
                    <a:pt x="408" y="86"/>
                  </a:lnTo>
                  <a:lnTo>
                    <a:pt x="408" y="99"/>
                  </a:lnTo>
                  <a:lnTo>
                    <a:pt x="408" y="111"/>
                  </a:lnTo>
                  <a:lnTo>
                    <a:pt x="406" y="122"/>
                  </a:lnTo>
                  <a:lnTo>
                    <a:pt x="404" y="134"/>
                  </a:lnTo>
                  <a:lnTo>
                    <a:pt x="403" y="146"/>
                  </a:lnTo>
                  <a:lnTo>
                    <a:pt x="400" y="157"/>
                  </a:lnTo>
                  <a:lnTo>
                    <a:pt x="396" y="169"/>
                  </a:lnTo>
                  <a:lnTo>
                    <a:pt x="391" y="179"/>
                  </a:lnTo>
                  <a:lnTo>
                    <a:pt x="386" y="189"/>
                  </a:lnTo>
                  <a:lnTo>
                    <a:pt x="395" y="187"/>
                  </a:lnTo>
                  <a:lnTo>
                    <a:pt x="398" y="175"/>
                  </a:lnTo>
                  <a:lnTo>
                    <a:pt x="403" y="165"/>
                  </a:lnTo>
                  <a:lnTo>
                    <a:pt x="406" y="155"/>
                  </a:lnTo>
                  <a:lnTo>
                    <a:pt x="408" y="144"/>
                  </a:lnTo>
                  <a:lnTo>
                    <a:pt x="409" y="134"/>
                  </a:lnTo>
                  <a:lnTo>
                    <a:pt x="411" y="122"/>
                  </a:lnTo>
                  <a:lnTo>
                    <a:pt x="413" y="111"/>
                  </a:lnTo>
                  <a:lnTo>
                    <a:pt x="413" y="99"/>
                  </a:lnTo>
                  <a:close/>
                  <a:moveTo>
                    <a:pt x="27" y="0"/>
                  </a:moveTo>
                  <a:lnTo>
                    <a:pt x="20" y="11"/>
                  </a:lnTo>
                  <a:lnTo>
                    <a:pt x="15" y="23"/>
                  </a:lnTo>
                  <a:lnTo>
                    <a:pt x="12" y="35"/>
                  </a:lnTo>
                  <a:lnTo>
                    <a:pt x="9" y="46"/>
                  </a:lnTo>
                  <a:lnTo>
                    <a:pt x="5" y="59"/>
                  </a:lnTo>
                  <a:lnTo>
                    <a:pt x="4" y="73"/>
                  </a:lnTo>
                  <a:lnTo>
                    <a:pt x="2" y="86"/>
                  </a:lnTo>
                  <a:lnTo>
                    <a:pt x="0" y="99"/>
                  </a:lnTo>
                  <a:lnTo>
                    <a:pt x="2" y="112"/>
                  </a:lnTo>
                  <a:lnTo>
                    <a:pt x="4" y="126"/>
                  </a:lnTo>
                  <a:lnTo>
                    <a:pt x="5" y="139"/>
                  </a:lnTo>
                  <a:lnTo>
                    <a:pt x="9" y="151"/>
                  </a:lnTo>
                  <a:lnTo>
                    <a:pt x="12" y="164"/>
                  </a:lnTo>
                  <a:lnTo>
                    <a:pt x="15" y="175"/>
                  </a:lnTo>
                  <a:lnTo>
                    <a:pt x="20" y="187"/>
                  </a:lnTo>
                  <a:lnTo>
                    <a:pt x="27" y="199"/>
                  </a:lnTo>
                  <a:lnTo>
                    <a:pt x="32" y="199"/>
                  </a:lnTo>
                  <a:lnTo>
                    <a:pt x="27" y="187"/>
                  </a:lnTo>
                  <a:lnTo>
                    <a:pt x="22" y="175"/>
                  </a:lnTo>
                  <a:lnTo>
                    <a:pt x="17" y="164"/>
                  </a:lnTo>
                  <a:lnTo>
                    <a:pt x="14" y="151"/>
                  </a:lnTo>
                  <a:lnTo>
                    <a:pt x="10" y="139"/>
                  </a:lnTo>
                  <a:lnTo>
                    <a:pt x="7" y="126"/>
                  </a:lnTo>
                  <a:lnTo>
                    <a:pt x="7" y="112"/>
                  </a:lnTo>
                  <a:lnTo>
                    <a:pt x="5" y="99"/>
                  </a:lnTo>
                  <a:lnTo>
                    <a:pt x="7" y="86"/>
                  </a:lnTo>
                  <a:lnTo>
                    <a:pt x="7" y="73"/>
                  </a:lnTo>
                  <a:lnTo>
                    <a:pt x="10" y="59"/>
                  </a:lnTo>
                  <a:lnTo>
                    <a:pt x="14" y="46"/>
                  </a:lnTo>
                  <a:lnTo>
                    <a:pt x="17" y="35"/>
                  </a:lnTo>
                  <a:lnTo>
                    <a:pt x="22" y="23"/>
                  </a:lnTo>
                  <a:lnTo>
                    <a:pt x="27" y="11"/>
                  </a:lnTo>
                  <a:lnTo>
                    <a:pt x="32" y="0"/>
                  </a:lnTo>
                  <a:lnTo>
                    <a:pt x="27"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56" name="Freeform 196">
              <a:extLst>
                <a:ext uri="{FF2B5EF4-FFF2-40B4-BE49-F238E27FC236}">
                  <a16:creationId xmlns:a16="http://schemas.microsoft.com/office/drawing/2014/main" id="{C603BB47-826C-3936-EC01-8C3041203653}"/>
                </a:ext>
              </a:extLst>
            </p:cNvPr>
            <p:cNvSpPr>
              <a:spLocks noEditPoints="1"/>
            </p:cNvSpPr>
            <p:nvPr/>
          </p:nvSpPr>
          <p:spPr bwMode="auto">
            <a:xfrm>
              <a:off x="1633" y="1514"/>
              <a:ext cx="407" cy="199"/>
            </a:xfrm>
            <a:custGeom>
              <a:avLst/>
              <a:gdLst>
                <a:gd name="T0" fmla="*/ 405 w 407"/>
                <a:gd name="T1" fmla="*/ 86 h 199"/>
                <a:gd name="T2" fmla="*/ 402 w 407"/>
                <a:gd name="T3" fmla="*/ 59 h 199"/>
                <a:gd name="T4" fmla="*/ 396 w 407"/>
                <a:gd name="T5" fmla="*/ 35 h 199"/>
                <a:gd name="T6" fmla="*/ 387 w 407"/>
                <a:gd name="T7" fmla="*/ 11 h 199"/>
                <a:gd name="T8" fmla="*/ 376 w 407"/>
                <a:gd name="T9" fmla="*/ 0 h 199"/>
                <a:gd name="T10" fmla="*/ 387 w 407"/>
                <a:gd name="T11" fmla="*/ 23 h 199"/>
                <a:gd name="T12" fmla="*/ 396 w 407"/>
                <a:gd name="T13" fmla="*/ 46 h 199"/>
                <a:gd name="T14" fmla="*/ 400 w 407"/>
                <a:gd name="T15" fmla="*/ 73 h 199"/>
                <a:gd name="T16" fmla="*/ 402 w 407"/>
                <a:gd name="T17" fmla="*/ 99 h 199"/>
                <a:gd name="T18" fmla="*/ 400 w 407"/>
                <a:gd name="T19" fmla="*/ 124 h 199"/>
                <a:gd name="T20" fmla="*/ 396 w 407"/>
                <a:gd name="T21" fmla="*/ 147 h 199"/>
                <a:gd name="T22" fmla="*/ 389 w 407"/>
                <a:gd name="T23" fmla="*/ 169 h 199"/>
                <a:gd name="T24" fmla="*/ 379 w 407"/>
                <a:gd name="T25" fmla="*/ 190 h 199"/>
                <a:gd name="T26" fmla="*/ 391 w 407"/>
                <a:gd name="T27" fmla="*/ 177 h 199"/>
                <a:gd name="T28" fmla="*/ 399 w 407"/>
                <a:gd name="T29" fmla="*/ 155 h 199"/>
                <a:gd name="T30" fmla="*/ 404 w 407"/>
                <a:gd name="T31" fmla="*/ 134 h 199"/>
                <a:gd name="T32" fmla="*/ 407 w 407"/>
                <a:gd name="T33" fmla="*/ 111 h 199"/>
                <a:gd name="T34" fmla="*/ 26 w 407"/>
                <a:gd name="T35" fmla="*/ 0 h 199"/>
                <a:gd name="T36" fmla="*/ 15 w 407"/>
                <a:gd name="T37" fmla="*/ 23 h 199"/>
                <a:gd name="T38" fmla="*/ 6 w 407"/>
                <a:gd name="T39" fmla="*/ 46 h 199"/>
                <a:gd name="T40" fmla="*/ 1 w 407"/>
                <a:gd name="T41" fmla="*/ 73 h 199"/>
                <a:gd name="T42" fmla="*/ 0 w 407"/>
                <a:gd name="T43" fmla="*/ 99 h 199"/>
                <a:gd name="T44" fmla="*/ 1 w 407"/>
                <a:gd name="T45" fmla="*/ 126 h 199"/>
                <a:gd name="T46" fmla="*/ 6 w 407"/>
                <a:gd name="T47" fmla="*/ 151 h 199"/>
                <a:gd name="T48" fmla="*/ 15 w 407"/>
                <a:gd name="T49" fmla="*/ 175 h 199"/>
                <a:gd name="T50" fmla="*/ 26 w 407"/>
                <a:gd name="T51" fmla="*/ 199 h 199"/>
                <a:gd name="T52" fmla="*/ 25 w 407"/>
                <a:gd name="T53" fmla="*/ 187 h 199"/>
                <a:gd name="T54" fmla="*/ 15 w 407"/>
                <a:gd name="T55" fmla="*/ 164 h 199"/>
                <a:gd name="T56" fmla="*/ 8 w 407"/>
                <a:gd name="T57" fmla="*/ 139 h 199"/>
                <a:gd name="T58" fmla="*/ 5 w 407"/>
                <a:gd name="T59" fmla="*/ 112 h 199"/>
                <a:gd name="T60" fmla="*/ 5 w 407"/>
                <a:gd name="T61" fmla="*/ 86 h 199"/>
                <a:gd name="T62" fmla="*/ 8 w 407"/>
                <a:gd name="T63" fmla="*/ 59 h 199"/>
                <a:gd name="T64" fmla="*/ 15 w 407"/>
                <a:gd name="T65" fmla="*/ 35 h 199"/>
                <a:gd name="T66" fmla="*/ 25 w 407"/>
                <a:gd name="T67" fmla="*/ 11 h 199"/>
                <a:gd name="T68" fmla="*/ 26 w 40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7" h="199">
                  <a:moveTo>
                    <a:pt x="407" y="99"/>
                  </a:moveTo>
                  <a:lnTo>
                    <a:pt x="405" y="86"/>
                  </a:lnTo>
                  <a:lnTo>
                    <a:pt x="405" y="73"/>
                  </a:lnTo>
                  <a:lnTo>
                    <a:pt x="402" y="59"/>
                  </a:lnTo>
                  <a:lnTo>
                    <a:pt x="400" y="46"/>
                  </a:lnTo>
                  <a:lnTo>
                    <a:pt x="396" y="35"/>
                  </a:lnTo>
                  <a:lnTo>
                    <a:pt x="392" y="23"/>
                  </a:lnTo>
                  <a:lnTo>
                    <a:pt x="387" y="11"/>
                  </a:lnTo>
                  <a:lnTo>
                    <a:pt x="381" y="0"/>
                  </a:lnTo>
                  <a:lnTo>
                    <a:pt x="376" y="0"/>
                  </a:lnTo>
                  <a:lnTo>
                    <a:pt x="381" y="11"/>
                  </a:lnTo>
                  <a:lnTo>
                    <a:pt x="387" y="23"/>
                  </a:lnTo>
                  <a:lnTo>
                    <a:pt x="391" y="35"/>
                  </a:lnTo>
                  <a:lnTo>
                    <a:pt x="396" y="46"/>
                  </a:lnTo>
                  <a:lnTo>
                    <a:pt x="397" y="59"/>
                  </a:lnTo>
                  <a:lnTo>
                    <a:pt x="400" y="73"/>
                  </a:lnTo>
                  <a:lnTo>
                    <a:pt x="402" y="86"/>
                  </a:lnTo>
                  <a:lnTo>
                    <a:pt x="402" y="99"/>
                  </a:lnTo>
                  <a:lnTo>
                    <a:pt x="402" y="111"/>
                  </a:lnTo>
                  <a:lnTo>
                    <a:pt x="400" y="124"/>
                  </a:lnTo>
                  <a:lnTo>
                    <a:pt x="399" y="136"/>
                  </a:lnTo>
                  <a:lnTo>
                    <a:pt x="396" y="147"/>
                  </a:lnTo>
                  <a:lnTo>
                    <a:pt x="392" y="159"/>
                  </a:lnTo>
                  <a:lnTo>
                    <a:pt x="389" y="169"/>
                  </a:lnTo>
                  <a:lnTo>
                    <a:pt x="384" y="180"/>
                  </a:lnTo>
                  <a:lnTo>
                    <a:pt x="379" y="190"/>
                  </a:lnTo>
                  <a:lnTo>
                    <a:pt x="387" y="187"/>
                  </a:lnTo>
                  <a:lnTo>
                    <a:pt x="391" y="177"/>
                  </a:lnTo>
                  <a:lnTo>
                    <a:pt x="396" y="167"/>
                  </a:lnTo>
                  <a:lnTo>
                    <a:pt x="399" y="155"/>
                  </a:lnTo>
                  <a:lnTo>
                    <a:pt x="402" y="146"/>
                  </a:lnTo>
                  <a:lnTo>
                    <a:pt x="404" y="134"/>
                  </a:lnTo>
                  <a:lnTo>
                    <a:pt x="405" y="122"/>
                  </a:lnTo>
                  <a:lnTo>
                    <a:pt x="407" y="111"/>
                  </a:lnTo>
                  <a:lnTo>
                    <a:pt x="407" y="99"/>
                  </a:lnTo>
                  <a:close/>
                  <a:moveTo>
                    <a:pt x="26" y="0"/>
                  </a:moveTo>
                  <a:lnTo>
                    <a:pt x="20" y="11"/>
                  </a:lnTo>
                  <a:lnTo>
                    <a:pt x="15" y="23"/>
                  </a:lnTo>
                  <a:lnTo>
                    <a:pt x="10" y="35"/>
                  </a:lnTo>
                  <a:lnTo>
                    <a:pt x="6" y="46"/>
                  </a:lnTo>
                  <a:lnTo>
                    <a:pt x="3" y="59"/>
                  </a:lnTo>
                  <a:lnTo>
                    <a:pt x="1" y="73"/>
                  </a:lnTo>
                  <a:lnTo>
                    <a:pt x="0" y="86"/>
                  </a:lnTo>
                  <a:lnTo>
                    <a:pt x="0" y="99"/>
                  </a:lnTo>
                  <a:lnTo>
                    <a:pt x="0" y="112"/>
                  </a:lnTo>
                  <a:lnTo>
                    <a:pt x="1" y="126"/>
                  </a:lnTo>
                  <a:lnTo>
                    <a:pt x="3" y="139"/>
                  </a:lnTo>
                  <a:lnTo>
                    <a:pt x="6" y="151"/>
                  </a:lnTo>
                  <a:lnTo>
                    <a:pt x="10" y="164"/>
                  </a:lnTo>
                  <a:lnTo>
                    <a:pt x="15" y="175"/>
                  </a:lnTo>
                  <a:lnTo>
                    <a:pt x="20" y="187"/>
                  </a:lnTo>
                  <a:lnTo>
                    <a:pt x="26" y="199"/>
                  </a:lnTo>
                  <a:lnTo>
                    <a:pt x="31" y="199"/>
                  </a:lnTo>
                  <a:lnTo>
                    <a:pt x="25" y="187"/>
                  </a:lnTo>
                  <a:lnTo>
                    <a:pt x="20" y="175"/>
                  </a:lnTo>
                  <a:lnTo>
                    <a:pt x="15" y="164"/>
                  </a:lnTo>
                  <a:lnTo>
                    <a:pt x="11" y="151"/>
                  </a:lnTo>
                  <a:lnTo>
                    <a:pt x="8" y="139"/>
                  </a:lnTo>
                  <a:lnTo>
                    <a:pt x="6" y="126"/>
                  </a:lnTo>
                  <a:lnTo>
                    <a:pt x="5" y="112"/>
                  </a:lnTo>
                  <a:lnTo>
                    <a:pt x="5" y="99"/>
                  </a:lnTo>
                  <a:lnTo>
                    <a:pt x="5" y="86"/>
                  </a:lnTo>
                  <a:lnTo>
                    <a:pt x="6" y="73"/>
                  </a:lnTo>
                  <a:lnTo>
                    <a:pt x="8" y="59"/>
                  </a:lnTo>
                  <a:lnTo>
                    <a:pt x="11" y="46"/>
                  </a:lnTo>
                  <a:lnTo>
                    <a:pt x="15" y="35"/>
                  </a:lnTo>
                  <a:lnTo>
                    <a:pt x="20" y="23"/>
                  </a:lnTo>
                  <a:lnTo>
                    <a:pt x="25" y="11"/>
                  </a:lnTo>
                  <a:lnTo>
                    <a:pt x="31" y="0"/>
                  </a:lnTo>
                  <a:lnTo>
                    <a:pt x="26"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57" name="Freeform 197">
              <a:extLst>
                <a:ext uri="{FF2B5EF4-FFF2-40B4-BE49-F238E27FC236}">
                  <a16:creationId xmlns:a16="http://schemas.microsoft.com/office/drawing/2014/main" id="{4F5F77C9-B9DC-BA01-3BC4-07CA52D3ABB6}"/>
                </a:ext>
              </a:extLst>
            </p:cNvPr>
            <p:cNvSpPr>
              <a:spLocks noEditPoints="1"/>
            </p:cNvSpPr>
            <p:nvPr/>
          </p:nvSpPr>
          <p:spPr bwMode="auto">
            <a:xfrm>
              <a:off x="1634" y="1514"/>
              <a:ext cx="403" cy="199"/>
            </a:xfrm>
            <a:custGeom>
              <a:avLst/>
              <a:gdLst>
                <a:gd name="T0" fmla="*/ 403 w 403"/>
                <a:gd name="T1" fmla="*/ 86 h 199"/>
                <a:gd name="T2" fmla="*/ 399 w 403"/>
                <a:gd name="T3" fmla="*/ 59 h 199"/>
                <a:gd name="T4" fmla="*/ 393 w 403"/>
                <a:gd name="T5" fmla="*/ 35 h 199"/>
                <a:gd name="T6" fmla="*/ 383 w 403"/>
                <a:gd name="T7" fmla="*/ 11 h 199"/>
                <a:gd name="T8" fmla="*/ 371 w 403"/>
                <a:gd name="T9" fmla="*/ 0 h 199"/>
                <a:gd name="T10" fmla="*/ 383 w 403"/>
                <a:gd name="T11" fmla="*/ 23 h 199"/>
                <a:gd name="T12" fmla="*/ 391 w 403"/>
                <a:gd name="T13" fmla="*/ 46 h 199"/>
                <a:gd name="T14" fmla="*/ 396 w 403"/>
                <a:gd name="T15" fmla="*/ 73 h 199"/>
                <a:gd name="T16" fmla="*/ 398 w 403"/>
                <a:gd name="T17" fmla="*/ 99 h 199"/>
                <a:gd name="T18" fmla="*/ 396 w 403"/>
                <a:gd name="T19" fmla="*/ 124 h 199"/>
                <a:gd name="T20" fmla="*/ 393 w 403"/>
                <a:gd name="T21" fmla="*/ 147 h 199"/>
                <a:gd name="T22" fmla="*/ 385 w 403"/>
                <a:gd name="T23" fmla="*/ 170 h 199"/>
                <a:gd name="T24" fmla="*/ 375 w 403"/>
                <a:gd name="T25" fmla="*/ 192 h 199"/>
                <a:gd name="T26" fmla="*/ 386 w 403"/>
                <a:gd name="T27" fmla="*/ 179 h 199"/>
                <a:gd name="T28" fmla="*/ 395 w 403"/>
                <a:gd name="T29" fmla="*/ 157 h 199"/>
                <a:gd name="T30" fmla="*/ 399 w 403"/>
                <a:gd name="T31" fmla="*/ 134 h 199"/>
                <a:gd name="T32" fmla="*/ 403 w 403"/>
                <a:gd name="T33" fmla="*/ 111 h 199"/>
                <a:gd name="T34" fmla="*/ 27 w 403"/>
                <a:gd name="T35" fmla="*/ 0 h 199"/>
                <a:gd name="T36" fmla="*/ 17 w 403"/>
                <a:gd name="T37" fmla="*/ 23 h 199"/>
                <a:gd name="T38" fmla="*/ 9 w 403"/>
                <a:gd name="T39" fmla="*/ 46 h 199"/>
                <a:gd name="T40" fmla="*/ 2 w 403"/>
                <a:gd name="T41" fmla="*/ 73 h 199"/>
                <a:gd name="T42" fmla="*/ 0 w 403"/>
                <a:gd name="T43" fmla="*/ 99 h 199"/>
                <a:gd name="T44" fmla="*/ 2 w 403"/>
                <a:gd name="T45" fmla="*/ 126 h 199"/>
                <a:gd name="T46" fmla="*/ 9 w 403"/>
                <a:gd name="T47" fmla="*/ 151 h 199"/>
                <a:gd name="T48" fmla="*/ 17 w 403"/>
                <a:gd name="T49" fmla="*/ 175 h 199"/>
                <a:gd name="T50" fmla="*/ 27 w 403"/>
                <a:gd name="T51" fmla="*/ 199 h 199"/>
                <a:gd name="T52" fmla="*/ 27 w 403"/>
                <a:gd name="T53" fmla="*/ 187 h 199"/>
                <a:gd name="T54" fmla="*/ 17 w 403"/>
                <a:gd name="T55" fmla="*/ 164 h 199"/>
                <a:gd name="T56" fmla="*/ 10 w 403"/>
                <a:gd name="T57" fmla="*/ 139 h 199"/>
                <a:gd name="T58" fmla="*/ 7 w 403"/>
                <a:gd name="T59" fmla="*/ 112 h 199"/>
                <a:gd name="T60" fmla="*/ 7 w 403"/>
                <a:gd name="T61" fmla="*/ 86 h 199"/>
                <a:gd name="T62" fmla="*/ 10 w 403"/>
                <a:gd name="T63" fmla="*/ 59 h 199"/>
                <a:gd name="T64" fmla="*/ 17 w 403"/>
                <a:gd name="T65" fmla="*/ 35 h 199"/>
                <a:gd name="T66" fmla="*/ 27 w 403"/>
                <a:gd name="T67" fmla="*/ 11 h 199"/>
                <a:gd name="T68" fmla="*/ 27 w 40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3" h="199">
                  <a:moveTo>
                    <a:pt x="403" y="99"/>
                  </a:moveTo>
                  <a:lnTo>
                    <a:pt x="403" y="86"/>
                  </a:lnTo>
                  <a:lnTo>
                    <a:pt x="401" y="73"/>
                  </a:lnTo>
                  <a:lnTo>
                    <a:pt x="399" y="59"/>
                  </a:lnTo>
                  <a:lnTo>
                    <a:pt x="396" y="46"/>
                  </a:lnTo>
                  <a:lnTo>
                    <a:pt x="393" y="35"/>
                  </a:lnTo>
                  <a:lnTo>
                    <a:pt x="388" y="23"/>
                  </a:lnTo>
                  <a:lnTo>
                    <a:pt x="383" y="11"/>
                  </a:lnTo>
                  <a:lnTo>
                    <a:pt x="376" y="0"/>
                  </a:lnTo>
                  <a:lnTo>
                    <a:pt x="371" y="0"/>
                  </a:lnTo>
                  <a:lnTo>
                    <a:pt x="378" y="11"/>
                  </a:lnTo>
                  <a:lnTo>
                    <a:pt x="383" y="23"/>
                  </a:lnTo>
                  <a:lnTo>
                    <a:pt x="388" y="35"/>
                  </a:lnTo>
                  <a:lnTo>
                    <a:pt x="391" y="46"/>
                  </a:lnTo>
                  <a:lnTo>
                    <a:pt x="395" y="59"/>
                  </a:lnTo>
                  <a:lnTo>
                    <a:pt x="396" y="73"/>
                  </a:lnTo>
                  <a:lnTo>
                    <a:pt x="398" y="86"/>
                  </a:lnTo>
                  <a:lnTo>
                    <a:pt x="398" y="99"/>
                  </a:lnTo>
                  <a:lnTo>
                    <a:pt x="398" y="111"/>
                  </a:lnTo>
                  <a:lnTo>
                    <a:pt x="396" y="124"/>
                  </a:lnTo>
                  <a:lnTo>
                    <a:pt x="395" y="136"/>
                  </a:lnTo>
                  <a:lnTo>
                    <a:pt x="393" y="147"/>
                  </a:lnTo>
                  <a:lnTo>
                    <a:pt x="390" y="159"/>
                  </a:lnTo>
                  <a:lnTo>
                    <a:pt x="385" y="170"/>
                  </a:lnTo>
                  <a:lnTo>
                    <a:pt x="380" y="182"/>
                  </a:lnTo>
                  <a:lnTo>
                    <a:pt x="375" y="192"/>
                  </a:lnTo>
                  <a:lnTo>
                    <a:pt x="381" y="189"/>
                  </a:lnTo>
                  <a:lnTo>
                    <a:pt x="386" y="179"/>
                  </a:lnTo>
                  <a:lnTo>
                    <a:pt x="391" y="169"/>
                  </a:lnTo>
                  <a:lnTo>
                    <a:pt x="395" y="157"/>
                  </a:lnTo>
                  <a:lnTo>
                    <a:pt x="398" y="146"/>
                  </a:lnTo>
                  <a:lnTo>
                    <a:pt x="399" y="134"/>
                  </a:lnTo>
                  <a:lnTo>
                    <a:pt x="401" y="122"/>
                  </a:lnTo>
                  <a:lnTo>
                    <a:pt x="403" y="111"/>
                  </a:lnTo>
                  <a:lnTo>
                    <a:pt x="403" y="99"/>
                  </a:lnTo>
                  <a:close/>
                  <a:moveTo>
                    <a:pt x="27" y="0"/>
                  </a:moveTo>
                  <a:lnTo>
                    <a:pt x="22" y="11"/>
                  </a:lnTo>
                  <a:lnTo>
                    <a:pt x="17" y="23"/>
                  </a:lnTo>
                  <a:lnTo>
                    <a:pt x="12" y="35"/>
                  </a:lnTo>
                  <a:lnTo>
                    <a:pt x="9" y="46"/>
                  </a:lnTo>
                  <a:lnTo>
                    <a:pt x="5" y="59"/>
                  </a:lnTo>
                  <a:lnTo>
                    <a:pt x="2" y="73"/>
                  </a:lnTo>
                  <a:lnTo>
                    <a:pt x="2" y="86"/>
                  </a:lnTo>
                  <a:lnTo>
                    <a:pt x="0" y="99"/>
                  </a:lnTo>
                  <a:lnTo>
                    <a:pt x="2" y="112"/>
                  </a:lnTo>
                  <a:lnTo>
                    <a:pt x="2" y="126"/>
                  </a:lnTo>
                  <a:lnTo>
                    <a:pt x="5" y="139"/>
                  </a:lnTo>
                  <a:lnTo>
                    <a:pt x="9" y="151"/>
                  </a:lnTo>
                  <a:lnTo>
                    <a:pt x="12" y="164"/>
                  </a:lnTo>
                  <a:lnTo>
                    <a:pt x="17" y="175"/>
                  </a:lnTo>
                  <a:lnTo>
                    <a:pt x="22" y="187"/>
                  </a:lnTo>
                  <a:lnTo>
                    <a:pt x="27" y="199"/>
                  </a:lnTo>
                  <a:lnTo>
                    <a:pt x="33" y="199"/>
                  </a:lnTo>
                  <a:lnTo>
                    <a:pt x="27" y="187"/>
                  </a:lnTo>
                  <a:lnTo>
                    <a:pt x="22" y="175"/>
                  </a:lnTo>
                  <a:lnTo>
                    <a:pt x="17" y="164"/>
                  </a:lnTo>
                  <a:lnTo>
                    <a:pt x="14" y="152"/>
                  </a:lnTo>
                  <a:lnTo>
                    <a:pt x="10" y="139"/>
                  </a:lnTo>
                  <a:lnTo>
                    <a:pt x="7" y="126"/>
                  </a:lnTo>
                  <a:lnTo>
                    <a:pt x="7" y="112"/>
                  </a:lnTo>
                  <a:lnTo>
                    <a:pt x="5" y="99"/>
                  </a:lnTo>
                  <a:lnTo>
                    <a:pt x="7" y="86"/>
                  </a:lnTo>
                  <a:lnTo>
                    <a:pt x="7" y="73"/>
                  </a:lnTo>
                  <a:lnTo>
                    <a:pt x="10" y="59"/>
                  </a:lnTo>
                  <a:lnTo>
                    <a:pt x="14" y="46"/>
                  </a:lnTo>
                  <a:lnTo>
                    <a:pt x="17" y="35"/>
                  </a:lnTo>
                  <a:lnTo>
                    <a:pt x="22" y="23"/>
                  </a:lnTo>
                  <a:lnTo>
                    <a:pt x="27" y="11"/>
                  </a:lnTo>
                  <a:lnTo>
                    <a:pt x="33" y="0"/>
                  </a:lnTo>
                  <a:lnTo>
                    <a:pt x="27"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58" name="Freeform 198">
              <a:extLst>
                <a:ext uri="{FF2B5EF4-FFF2-40B4-BE49-F238E27FC236}">
                  <a16:creationId xmlns:a16="http://schemas.microsoft.com/office/drawing/2014/main" id="{D10F9ACE-5A13-9DA8-7B68-6F8589170FB6}"/>
                </a:ext>
              </a:extLst>
            </p:cNvPr>
            <p:cNvSpPr>
              <a:spLocks noEditPoints="1"/>
            </p:cNvSpPr>
            <p:nvPr/>
          </p:nvSpPr>
          <p:spPr bwMode="auto">
            <a:xfrm>
              <a:off x="1638" y="1514"/>
              <a:ext cx="397" cy="199"/>
            </a:xfrm>
            <a:custGeom>
              <a:avLst/>
              <a:gdLst>
                <a:gd name="T0" fmla="*/ 397 w 397"/>
                <a:gd name="T1" fmla="*/ 86 h 199"/>
                <a:gd name="T2" fmla="*/ 392 w 397"/>
                <a:gd name="T3" fmla="*/ 59 h 199"/>
                <a:gd name="T4" fmla="*/ 386 w 397"/>
                <a:gd name="T5" fmla="*/ 35 h 199"/>
                <a:gd name="T6" fmla="*/ 376 w 397"/>
                <a:gd name="T7" fmla="*/ 11 h 199"/>
                <a:gd name="T8" fmla="*/ 364 w 397"/>
                <a:gd name="T9" fmla="*/ 0 h 199"/>
                <a:gd name="T10" fmla="*/ 376 w 397"/>
                <a:gd name="T11" fmla="*/ 23 h 199"/>
                <a:gd name="T12" fmla="*/ 386 w 397"/>
                <a:gd name="T13" fmla="*/ 46 h 199"/>
                <a:gd name="T14" fmla="*/ 391 w 397"/>
                <a:gd name="T15" fmla="*/ 73 h 199"/>
                <a:gd name="T16" fmla="*/ 392 w 397"/>
                <a:gd name="T17" fmla="*/ 99 h 199"/>
                <a:gd name="T18" fmla="*/ 391 w 397"/>
                <a:gd name="T19" fmla="*/ 124 h 199"/>
                <a:gd name="T20" fmla="*/ 386 w 397"/>
                <a:gd name="T21" fmla="*/ 149 h 199"/>
                <a:gd name="T22" fmla="*/ 377 w 397"/>
                <a:gd name="T23" fmla="*/ 172 h 199"/>
                <a:gd name="T24" fmla="*/ 367 w 397"/>
                <a:gd name="T25" fmla="*/ 194 h 199"/>
                <a:gd name="T26" fmla="*/ 379 w 397"/>
                <a:gd name="T27" fmla="*/ 180 h 199"/>
                <a:gd name="T28" fmla="*/ 387 w 397"/>
                <a:gd name="T29" fmla="*/ 159 h 199"/>
                <a:gd name="T30" fmla="*/ 394 w 397"/>
                <a:gd name="T31" fmla="*/ 136 h 199"/>
                <a:gd name="T32" fmla="*/ 397 w 397"/>
                <a:gd name="T33" fmla="*/ 111 h 199"/>
                <a:gd name="T34" fmla="*/ 26 w 397"/>
                <a:gd name="T35" fmla="*/ 0 h 199"/>
                <a:gd name="T36" fmla="*/ 15 w 397"/>
                <a:gd name="T37" fmla="*/ 23 h 199"/>
                <a:gd name="T38" fmla="*/ 6 w 397"/>
                <a:gd name="T39" fmla="*/ 46 h 199"/>
                <a:gd name="T40" fmla="*/ 1 w 397"/>
                <a:gd name="T41" fmla="*/ 73 h 199"/>
                <a:gd name="T42" fmla="*/ 0 w 397"/>
                <a:gd name="T43" fmla="*/ 99 h 199"/>
                <a:gd name="T44" fmla="*/ 1 w 397"/>
                <a:gd name="T45" fmla="*/ 126 h 199"/>
                <a:gd name="T46" fmla="*/ 6 w 397"/>
                <a:gd name="T47" fmla="*/ 151 h 199"/>
                <a:gd name="T48" fmla="*/ 15 w 397"/>
                <a:gd name="T49" fmla="*/ 175 h 199"/>
                <a:gd name="T50" fmla="*/ 26 w 397"/>
                <a:gd name="T51" fmla="*/ 199 h 199"/>
                <a:gd name="T52" fmla="*/ 26 w 397"/>
                <a:gd name="T53" fmla="*/ 187 h 199"/>
                <a:gd name="T54" fmla="*/ 15 w 397"/>
                <a:gd name="T55" fmla="*/ 164 h 199"/>
                <a:gd name="T56" fmla="*/ 8 w 397"/>
                <a:gd name="T57" fmla="*/ 139 h 199"/>
                <a:gd name="T58" fmla="*/ 5 w 397"/>
                <a:gd name="T59" fmla="*/ 112 h 199"/>
                <a:gd name="T60" fmla="*/ 5 w 397"/>
                <a:gd name="T61" fmla="*/ 86 h 199"/>
                <a:gd name="T62" fmla="*/ 8 w 397"/>
                <a:gd name="T63" fmla="*/ 59 h 199"/>
                <a:gd name="T64" fmla="*/ 15 w 397"/>
                <a:gd name="T65" fmla="*/ 35 h 199"/>
                <a:gd name="T66" fmla="*/ 26 w 397"/>
                <a:gd name="T67" fmla="*/ 11 h 199"/>
                <a:gd name="T68" fmla="*/ 26 w 39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7" h="199">
                  <a:moveTo>
                    <a:pt x="397" y="99"/>
                  </a:moveTo>
                  <a:lnTo>
                    <a:pt x="397" y="86"/>
                  </a:lnTo>
                  <a:lnTo>
                    <a:pt x="395" y="73"/>
                  </a:lnTo>
                  <a:lnTo>
                    <a:pt x="392" y="59"/>
                  </a:lnTo>
                  <a:lnTo>
                    <a:pt x="391" y="46"/>
                  </a:lnTo>
                  <a:lnTo>
                    <a:pt x="386" y="35"/>
                  </a:lnTo>
                  <a:lnTo>
                    <a:pt x="382" y="23"/>
                  </a:lnTo>
                  <a:lnTo>
                    <a:pt x="376" y="11"/>
                  </a:lnTo>
                  <a:lnTo>
                    <a:pt x="371" y="0"/>
                  </a:lnTo>
                  <a:lnTo>
                    <a:pt x="364" y="0"/>
                  </a:lnTo>
                  <a:lnTo>
                    <a:pt x="371" y="11"/>
                  </a:lnTo>
                  <a:lnTo>
                    <a:pt x="376" y="23"/>
                  </a:lnTo>
                  <a:lnTo>
                    <a:pt x="381" y="35"/>
                  </a:lnTo>
                  <a:lnTo>
                    <a:pt x="386" y="46"/>
                  </a:lnTo>
                  <a:lnTo>
                    <a:pt x="389" y="59"/>
                  </a:lnTo>
                  <a:lnTo>
                    <a:pt x="391" y="73"/>
                  </a:lnTo>
                  <a:lnTo>
                    <a:pt x="392" y="86"/>
                  </a:lnTo>
                  <a:lnTo>
                    <a:pt x="392" y="99"/>
                  </a:lnTo>
                  <a:lnTo>
                    <a:pt x="392" y="112"/>
                  </a:lnTo>
                  <a:lnTo>
                    <a:pt x="391" y="124"/>
                  </a:lnTo>
                  <a:lnTo>
                    <a:pt x="389" y="137"/>
                  </a:lnTo>
                  <a:lnTo>
                    <a:pt x="386" y="149"/>
                  </a:lnTo>
                  <a:lnTo>
                    <a:pt x="382" y="160"/>
                  </a:lnTo>
                  <a:lnTo>
                    <a:pt x="377" y="172"/>
                  </a:lnTo>
                  <a:lnTo>
                    <a:pt x="372" y="184"/>
                  </a:lnTo>
                  <a:lnTo>
                    <a:pt x="367" y="194"/>
                  </a:lnTo>
                  <a:lnTo>
                    <a:pt x="374" y="190"/>
                  </a:lnTo>
                  <a:lnTo>
                    <a:pt x="379" y="180"/>
                  </a:lnTo>
                  <a:lnTo>
                    <a:pt x="384" y="169"/>
                  </a:lnTo>
                  <a:lnTo>
                    <a:pt x="387" y="159"/>
                  </a:lnTo>
                  <a:lnTo>
                    <a:pt x="391" y="147"/>
                  </a:lnTo>
                  <a:lnTo>
                    <a:pt x="394" y="136"/>
                  </a:lnTo>
                  <a:lnTo>
                    <a:pt x="395" y="124"/>
                  </a:lnTo>
                  <a:lnTo>
                    <a:pt x="397" y="111"/>
                  </a:lnTo>
                  <a:lnTo>
                    <a:pt x="397" y="99"/>
                  </a:lnTo>
                  <a:close/>
                  <a:moveTo>
                    <a:pt x="26" y="0"/>
                  </a:moveTo>
                  <a:lnTo>
                    <a:pt x="20" y="11"/>
                  </a:lnTo>
                  <a:lnTo>
                    <a:pt x="15" y="23"/>
                  </a:lnTo>
                  <a:lnTo>
                    <a:pt x="10" y="35"/>
                  </a:lnTo>
                  <a:lnTo>
                    <a:pt x="6" y="46"/>
                  </a:lnTo>
                  <a:lnTo>
                    <a:pt x="3" y="59"/>
                  </a:lnTo>
                  <a:lnTo>
                    <a:pt x="1" y="73"/>
                  </a:lnTo>
                  <a:lnTo>
                    <a:pt x="0" y="86"/>
                  </a:lnTo>
                  <a:lnTo>
                    <a:pt x="0" y="99"/>
                  </a:lnTo>
                  <a:lnTo>
                    <a:pt x="0" y="112"/>
                  </a:lnTo>
                  <a:lnTo>
                    <a:pt x="1" y="126"/>
                  </a:lnTo>
                  <a:lnTo>
                    <a:pt x="3" y="139"/>
                  </a:lnTo>
                  <a:lnTo>
                    <a:pt x="6" y="151"/>
                  </a:lnTo>
                  <a:lnTo>
                    <a:pt x="10" y="164"/>
                  </a:lnTo>
                  <a:lnTo>
                    <a:pt x="15" y="175"/>
                  </a:lnTo>
                  <a:lnTo>
                    <a:pt x="20" y="187"/>
                  </a:lnTo>
                  <a:lnTo>
                    <a:pt x="26" y="199"/>
                  </a:lnTo>
                  <a:lnTo>
                    <a:pt x="31" y="199"/>
                  </a:lnTo>
                  <a:lnTo>
                    <a:pt x="26" y="187"/>
                  </a:lnTo>
                  <a:lnTo>
                    <a:pt x="20" y="175"/>
                  </a:lnTo>
                  <a:lnTo>
                    <a:pt x="15" y="164"/>
                  </a:lnTo>
                  <a:lnTo>
                    <a:pt x="11" y="152"/>
                  </a:lnTo>
                  <a:lnTo>
                    <a:pt x="8" y="139"/>
                  </a:lnTo>
                  <a:lnTo>
                    <a:pt x="6" y="126"/>
                  </a:lnTo>
                  <a:lnTo>
                    <a:pt x="5" y="112"/>
                  </a:lnTo>
                  <a:lnTo>
                    <a:pt x="5" y="99"/>
                  </a:lnTo>
                  <a:lnTo>
                    <a:pt x="5" y="86"/>
                  </a:lnTo>
                  <a:lnTo>
                    <a:pt x="6" y="73"/>
                  </a:lnTo>
                  <a:lnTo>
                    <a:pt x="8" y="59"/>
                  </a:lnTo>
                  <a:lnTo>
                    <a:pt x="11" y="46"/>
                  </a:lnTo>
                  <a:lnTo>
                    <a:pt x="15" y="35"/>
                  </a:lnTo>
                  <a:lnTo>
                    <a:pt x="20" y="23"/>
                  </a:lnTo>
                  <a:lnTo>
                    <a:pt x="26" y="11"/>
                  </a:lnTo>
                  <a:lnTo>
                    <a:pt x="31" y="0"/>
                  </a:lnTo>
                  <a:lnTo>
                    <a:pt x="26"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59" name="Freeform 199">
              <a:extLst>
                <a:ext uri="{FF2B5EF4-FFF2-40B4-BE49-F238E27FC236}">
                  <a16:creationId xmlns:a16="http://schemas.microsoft.com/office/drawing/2014/main" id="{1F3DF9A2-0A5F-7602-C7F5-B61B9E1D2BC6}"/>
                </a:ext>
              </a:extLst>
            </p:cNvPr>
            <p:cNvSpPr>
              <a:spLocks noEditPoints="1"/>
            </p:cNvSpPr>
            <p:nvPr/>
          </p:nvSpPr>
          <p:spPr bwMode="auto">
            <a:xfrm>
              <a:off x="1639" y="1514"/>
              <a:ext cx="393" cy="199"/>
            </a:xfrm>
            <a:custGeom>
              <a:avLst/>
              <a:gdLst>
                <a:gd name="T0" fmla="*/ 393 w 393"/>
                <a:gd name="T1" fmla="*/ 86 h 199"/>
                <a:gd name="T2" fmla="*/ 390 w 393"/>
                <a:gd name="T3" fmla="*/ 59 h 199"/>
                <a:gd name="T4" fmla="*/ 383 w 393"/>
                <a:gd name="T5" fmla="*/ 35 h 199"/>
                <a:gd name="T6" fmla="*/ 373 w 393"/>
                <a:gd name="T7" fmla="*/ 11 h 199"/>
                <a:gd name="T8" fmla="*/ 361 w 393"/>
                <a:gd name="T9" fmla="*/ 0 h 199"/>
                <a:gd name="T10" fmla="*/ 373 w 393"/>
                <a:gd name="T11" fmla="*/ 23 h 199"/>
                <a:gd name="T12" fmla="*/ 381 w 393"/>
                <a:gd name="T13" fmla="*/ 46 h 199"/>
                <a:gd name="T14" fmla="*/ 386 w 393"/>
                <a:gd name="T15" fmla="*/ 73 h 199"/>
                <a:gd name="T16" fmla="*/ 390 w 393"/>
                <a:gd name="T17" fmla="*/ 99 h 199"/>
                <a:gd name="T18" fmla="*/ 386 w 393"/>
                <a:gd name="T19" fmla="*/ 126 h 199"/>
                <a:gd name="T20" fmla="*/ 381 w 393"/>
                <a:gd name="T21" fmla="*/ 151 h 199"/>
                <a:gd name="T22" fmla="*/ 373 w 393"/>
                <a:gd name="T23" fmla="*/ 174 h 199"/>
                <a:gd name="T24" fmla="*/ 363 w 393"/>
                <a:gd name="T25" fmla="*/ 195 h 199"/>
                <a:gd name="T26" fmla="*/ 375 w 393"/>
                <a:gd name="T27" fmla="*/ 182 h 199"/>
                <a:gd name="T28" fmla="*/ 385 w 393"/>
                <a:gd name="T29" fmla="*/ 159 h 199"/>
                <a:gd name="T30" fmla="*/ 390 w 393"/>
                <a:gd name="T31" fmla="*/ 136 h 199"/>
                <a:gd name="T32" fmla="*/ 393 w 393"/>
                <a:gd name="T33" fmla="*/ 111 h 199"/>
                <a:gd name="T34" fmla="*/ 28 w 393"/>
                <a:gd name="T35" fmla="*/ 0 h 199"/>
                <a:gd name="T36" fmla="*/ 17 w 393"/>
                <a:gd name="T37" fmla="*/ 23 h 199"/>
                <a:gd name="T38" fmla="*/ 9 w 393"/>
                <a:gd name="T39" fmla="*/ 46 h 199"/>
                <a:gd name="T40" fmla="*/ 2 w 393"/>
                <a:gd name="T41" fmla="*/ 73 h 199"/>
                <a:gd name="T42" fmla="*/ 0 w 393"/>
                <a:gd name="T43" fmla="*/ 99 h 199"/>
                <a:gd name="T44" fmla="*/ 2 w 393"/>
                <a:gd name="T45" fmla="*/ 126 h 199"/>
                <a:gd name="T46" fmla="*/ 9 w 393"/>
                <a:gd name="T47" fmla="*/ 152 h 199"/>
                <a:gd name="T48" fmla="*/ 17 w 393"/>
                <a:gd name="T49" fmla="*/ 175 h 199"/>
                <a:gd name="T50" fmla="*/ 28 w 393"/>
                <a:gd name="T51" fmla="*/ 199 h 199"/>
                <a:gd name="T52" fmla="*/ 27 w 393"/>
                <a:gd name="T53" fmla="*/ 187 h 199"/>
                <a:gd name="T54" fmla="*/ 17 w 393"/>
                <a:gd name="T55" fmla="*/ 164 h 199"/>
                <a:gd name="T56" fmla="*/ 10 w 393"/>
                <a:gd name="T57" fmla="*/ 139 h 199"/>
                <a:gd name="T58" fmla="*/ 5 w 393"/>
                <a:gd name="T59" fmla="*/ 112 h 199"/>
                <a:gd name="T60" fmla="*/ 5 w 393"/>
                <a:gd name="T61" fmla="*/ 86 h 199"/>
                <a:gd name="T62" fmla="*/ 10 w 393"/>
                <a:gd name="T63" fmla="*/ 59 h 199"/>
                <a:gd name="T64" fmla="*/ 17 w 393"/>
                <a:gd name="T65" fmla="*/ 35 h 199"/>
                <a:gd name="T66" fmla="*/ 27 w 393"/>
                <a:gd name="T67" fmla="*/ 11 h 199"/>
                <a:gd name="T68" fmla="*/ 28 w 39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3" h="199">
                  <a:moveTo>
                    <a:pt x="393" y="99"/>
                  </a:moveTo>
                  <a:lnTo>
                    <a:pt x="393" y="86"/>
                  </a:lnTo>
                  <a:lnTo>
                    <a:pt x="391" y="73"/>
                  </a:lnTo>
                  <a:lnTo>
                    <a:pt x="390" y="59"/>
                  </a:lnTo>
                  <a:lnTo>
                    <a:pt x="386" y="46"/>
                  </a:lnTo>
                  <a:lnTo>
                    <a:pt x="383" y="35"/>
                  </a:lnTo>
                  <a:lnTo>
                    <a:pt x="378" y="23"/>
                  </a:lnTo>
                  <a:lnTo>
                    <a:pt x="373" y="11"/>
                  </a:lnTo>
                  <a:lnTo>
                    <a:pt x="366" y="0"/>
                  </a:lnTo>
                  <a:lnTo>
                    <a:pt x="361" y="0"/>
                  </a:lnTo>
                  <a:lnTo>
                    <a:pt x="368" y="11"/>
                  </a:lnTo>
                  <a:lnTo>
                    <a:pt x="373" y="23"/>
                  </a:lnTo>
                  <a:lnTo>
                    <a:pt x="378" y="35"/>
                  </a:lnTo>
                  <a:lnTo>
                    <a:pt x="381" y="46"/>
                  </a:lnTo>
                  <a:lnTo>
                    <a:pt x="385" y="59"/>
                  </a:lnTo>
                  <a:lnTo>
                    <a:pt x="386" y="73"/>
                  </a:lnTo>
                  <a:lnTo>
                    <a:pt x="388" y="86"/>
                  </a:lnTo>
                  <a:lnTo>
                    <a:pt x="390" y="99"/>
                  </a:lnTo>
                  <a:lnTo>
                    <a:pt x="388" y="112"/>
                  </a:lnTo>
                  <a:lnTo>
                    <a:pt x="386" y="126"/>
                  </a:lnTo>
                  <a:lnTo>
                    <a:pt x="385" y="137"/>
                  </a:lnTo>
                  <a:lnTo>
                    <a:pt x="381" y="151"/>
                  </a:lnTo>
                  <a:lnTo>
                    <a:pt x="378" y="162"/>
                  </a:lnTo>
                  <a:lnTo>
                    <a:pt x="373" y="174"/>
                  </a:lnTo>
                  <a:lnTo>
                    <a:pt x="368" y="185"/>
                  </a:lnTo>
                  <a:lnTo>
                    <a:pt x="363" y="195"/>
                  </a:lnTo>
                  <a:lnTo>
                    <a:pt x="370" y="192"/>
                  </a:lnTo>
                  <a:lnTo>
                    <a:pt x="375" y="182"/>
                  </a:lnTo>
                  <a:lnTo>
                    <a:pt x="380" y="170"/>
                  </a:lnTo>
                  <a:lnTo>
                    <a:pt x="385" y="159"/>
                  </a:lnTo>
                  <a:lnTo>
                    <a:pt x="388" y="147"/>
                  </a:lnTo>
                  <a:lnTo>
                    <a:pt x="390" y="136"/>
                  </a:lnTo>
                  <a:lnTo>
                    <a:pt x="391" y="124"/>
                  </a:lnTo>
                  <a:lnTo>
                    <a:pt x="393" y="111"/>
                  </a:lnTo>
                  <a:lnTo>
                    <a:pt x="393" y="99"/>
                  </a:lnTo>
                  <a:close/>
                  <a:moveTo>
                    <a:pt x="28" y="0"/>
                  </a:moveTo>
                  <a:lnTo>
                    <a:pt x="22" y="11"/>
                  </a:lnTo>
                  <a:lnTo>
                    <a:pt x="17" y="23"/>
                  </a:lnTo>
                  <a:lnTo>
                    <a:pt x="12" y="35"/>
                  </a:lnTo>
                  <a:lnTo>
                    <a:pt x="9" y="46"/>
                  </a:lnTo>
                  <a:lnTo>
                    <a:pt x="5" y="59"/>
                  </a:lnTo>
                  <a:lnTo>
                    <a:pt x="2" y="73"/>
                  </a:lnTo>
                  <a:lnTo>
                    <a:pt x="2" y="86"/>
                  </a:lnTo>
                  <a:lnTo>
                    <a:pt x="0" y="99"/>
                  </a:lnTo>
                  <a:lnTo>
                    <a:pt x="2" y="112"/>
                  </a:lnTo>
                  <a:lnTo>
                    <a:pt x="2" y="126"/>
                  </a:lnTo>
                  <a:lnTo>
                    <a:pt x="5" y="139"/>
                  </a:lnTo>
                  <a:lnTo>
                    <a:pt x="9" y="152"/>
                  </a:lnTo>
                  <a:lnTo>
                    <a:pt x="12" y="164"/>
                  </a:lnTo>
                  <a:lnTo>
                    <a:pt x="17" y="175"/>
                  </a:lnTo>
                  <a:lnTo>
                    <a:pt x="22" y="187"/>
                  </a:lnTo>
                  <a:lnTo>
                    <a:pt x="28" y="199"/>
                  </a:lnTo>
                  <a:lnTo>
                    <a:pt x="33" y="199"/>
                  </a:lnTo>
                  <a:lnTo>
                    <a:pt x="27" y="187"/>
                  </a:lnTo>
                  <a:lnTo>
                    <a:pt x="22" y="175"/>
                  </a:lnTo>
                  <a:lnTo>
                    <a:pt x="17" y="164"/>
                  </a:lnTo>
                  <a:lnTo>
                    <a:pt x="14" y="152"/>
                  </a:lnTo>
                  <a:lnTo>
                    <a:pt x="10" y="139"/>
                  </a:lnTo>
                  <a:lnTo>
                    <a:pt x="7" y="126"/>
                  </a:lnTo>
                  <a:lnTo>
                    <a:pt x="5" y="112"/>
                  </a:lnTo>
                  <a:lnTo>
                    <a:pt x="5" y="99"/>
                  </a:lnTo>
                  <a:lnTo>
                    <a:pt x="5" y="86"/>
                  </a:lnTo>
                  <a:lnTo>
                    <a:pt x="7" y="73"/>
                  </a:lnTo>
                  <a:lnTo>
                    <a:pt x="10" y="59"/>
                  </a:lnTo>
                  <a:lnTo>
                    <a:pt x="14" y="46"/>
                  </a:lnTo>
                  <a:lnTo>
                    <a:pt x="17" y="35"/>
                  </a:lnTo>
                  <a:lnTo>
                    <a:pt x="22" y="23"/>
                  </a:lnTo>
                  <a:lnTo>
                    <a:pt x="27" y="11"/>
                  </a:lnTo>
                  <a:lnTo>
                    <a:pt x="33" y="0"/>
                  </a:lnTo>
                  <a:lnTo>
                    <a:pt x="28"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60" name="Freeform 200">
              <a:extLst>
                <a:ext uri="{FF2B5EF4-FFF2-40B4-BE49-F238E27FC236}">
                  <a16:creationId xmlns:a16="http://schemas.microsoft.com/office/drawing/2014/main" id="{05841951-CD1C-33EB-FEAF-D2871B05E9A4}"/>
                </a:ext>
              </a:extLst>
            </p:cNvPr>
            <p:cNvSpPr>
              <a:spLocks noEditPoints="1"/>
            </p:cNvSpPr>
            <p:nvPr/>
          </p:nvSpPr>
          <p:spPr bwMode="auto">
            <a:xfrm>
              <a:off x="1643" y="1514"/>
              <a:ext cx="387" cy="199"/>
            </a:xfrm>
            <a:custGeom>
              <a:avLst/>
              <a:gdLst>
                <a:gd name="T0" fmla="*/ 387 w 387"/>
                <a:gd name="T1" fmla="*/ 86 h 199"/>
                <a:gd name="T2" fmla="*/ 384 w 387"/>
                <a:gd name="T3" fmla="*/ 59 h 199"/>
                <a:gd name="T4" fmla="*/ 376 w 387"/>
                <a:gd name="T5" fmla="*/ 35 h 199"/>
                <a:gd name="T6" fmla="*/ 366 w 387"/>
                <a:gd name="T7" fmla="*/ 11 h 199"/>
                <a:gd name="T8" fmla="*/ 354 w 387"/>
                <a:gd name="T9" fmla="*/ 0 h 199"/>
                <a:gd name="T10" fmla="*/ 366 w 387"/>
                <a:gd name="T11" fmla="*/ 23 h 199"/>
                <a:gd name="T12" fmla="*/ 376 w 387"/>
                <a:gd name="T13" fmla="*/ 46 h 199"/>
                <a:gd name="T14" fmla="*/ 381 w 387"/>
                <a:gd name="T15" fmla="*/ 73 h 199"/>
                <a:gd name="T16" fmla="*/ 382 w 387"/>
                <a:gd name="T17" fmla="*/ 99 h 199"/>
                <a:gd name="T18" fmla="*/ 381 w 387"/>
                <a:gd name="T19" fmla="*/ 126 h 199"/>
                <a:gd name="T20" fmla="*/ 376 w 387"/>
                <a:gd name="T21" fmla="*/ 151 h 199"/>
                <a:gd name="T22" fmla="*/ 367 w 387"/>
                <a:gd name="T23" fmla="*/ 175 h 199"/>
                <a:gd name="T24" fmla="*/ 354 w 387"/>
                <a:gd name="T25" fmla="*/ 197 h 199"/>
                <a:gd name="T26" fmla="*/ 367 w 387"/>
                <a:gd name="T27" fmla="*/ 184 h 199"/>
                <a:gd name="T28" fmla="*/ 377 w 387"/>
                <a:gd name="T29" fmla="*/ 160 h 199"/>
                <a:gd name="T30" fmla="*/ 384 w 387"/>
                <a:gd name="T31" fmla="*/ 137 h 199"/>
                <a:gd name="T32" fmla="*/ 387 w 387"/>
                <a:gd name="T33" fmla="*/ 112 h 199"/>
                <a:gd name="T34" fmla="*/ 26 w 387"/>
                <a:gd name="T35" fmla="*/ 0 h 199"/>
                <a:gd name="T36" fmla="*/ 15 w 387"/>
                <a:gd name="T37" fmla="*/ 23 h 199"/>
                <a:gd name="T38" fmla="*/ 6 w 387"/>
                <a:gd name="T39" fmla="*/ 46 h 199"/>
                <a:gd name="T40" fmla="*/ 1 w 387"/>
                <a:gd name="T41" fmla="*/ 73 h 199"/>
                <a:gd name="T42" fmla="*/ 0 w 387"/>
                <a:gd name="T43" fmla="*/ 99 h 199"/>
                <a:gd name="T44" fmla="*/ 1 w 387"/>
                <a:gd name="T45" fmla="*/ 126 h 199"/>
                <a:gd name="T46" fmla="*/ 6 w 387"/>
                <a:gd name="T47" fmla="*/ 152 h 199"/>
                <a:gd name="T48" fmla="*/ 15 w 387"/>
                <a:gd name="T49" fmla="*/ 175 h 199"/>
                <a:gd name="T50" fmla="*/ 26 w 387"/>
                <a:gd name="T51" fmla="*/ 199 h 199"/>
                <a:gd name="T52" fmla="*/ 26 w 387"/>
                <a:gd name="T53" fmla="*/ 187 h 199"/>
                <a:gd name="T54" fmla="*/ 16 w 387"/>
                <a:gd name="T55" fmla="*/ 164 h 199"/>
                <a:gd name="T56" fmla="*/ 8 w 387"/>
                <a:gd name="T57" fmla="*/ 139 h 199"/>
                <a:gd name="T58" fmla="*/ 5 w 387"/>
                <a:gd name="T59" fmla="*/ 112 h 199"/>
                <a:gd name="T60" fmla="*/ 5 w 387"/>
                <a:gd name="T61" fmla="*/ 86 h 199"/>
                <a:gd name="T62" fmla="*/ 8 w 387"/>
                <a:gd name="T63" fmla="*/ 59 h 199"/>
                <a:gd name="T64" fmla="*/ 16 w 387"/>
                <a:gd name="T65" fmla="*/ 35 h 199"/>
                <a:gd name="T66" fmla="*/ 26 w 387"/>
                <a:gd name="T67" fmla="*/ 11 h 199"/>
                <a:gd name="T68" fmla="*/ 26 w 38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7" h="199">
                  <a:moveTo>
                    <a:pt x="387" y="99"/>
                  </a:moveTo>
                  <a:lnTo>
                    <a:pt x="387" y="86"/>
                  </a:lnTo>
                  <a:lnTo>
                    <a:pt x="386" y="73"/>
                  </a:lnTo>
                  <a:lnTo>
                    <a:pt x="384" y="59"/>
                  </a:lnTo>
                  <a:lnTo>
                    <a:pt x="381" y="46"/>
                  </a:lnTo>
                  <a:lnTo>
                    <a:pt x="376" y="35"/>
                  </a:lnTo>
                  <a:lnTo>
                    <a:pt x="371" y="23"/>
                  </a:lnTo>
                  <a:lnTo>
                    <a:pt x="366" y="11"/>
                  </a:lnTo>
                  <a:lnTo>
                    <a:pt x="359" y="0"/>
                  </a:lnTo>
                  <a:lnTo>
                    <a:pt x="354" y="0"/>
                  </a:lnTo>
                  <a:lnTo>
                    <a:pt x="361" y="11"/>
                  </a:lnTo>
                  <a:lnTo>
                    <a:pt x="366" y="23"/>
                  </a:lnTo>
                  <a:lnTo>
                    <a:pt x="371" y="35"/>
                  </a:lnTo>
                  <a:lnTo>
                    <a:pt x="376" y="46"/>
                  </a:lnTo>
                  <a:lnTo>
                    <a:pt x="379" y="59"/>
                  </a:lnTo>
                  <a:lnTo>
                    <a:pt x="381" y="73"/>
                  </a:lnTo>
                  <a:lnTo>
                    <a:pt x="382" y="86"/>
                  </a:lnTo>
                  <a:lnTo>
                    <a:pt x="382" y="99"/>
                  </a:lnTo>
                  <a:lnTo>
                    <a:pt x="382" y="112"/>
                  </a:lnTo>
                  <a:lnTo>
                    <a:pt x="381" y="126"/>
                  </a:lnTo>
                  <a:lnTo>
                    <a:pt x="379" y="139"/>
                  </a:lnTo>
                  <a:lnTo>
                    <a:pt x="376" y="151"/>
                  </a:lnTo>
                  <a:lnTo>
                    <a:pt x="371" y="164"/>
                  </a:lnTo>
                  <a:lnTo>
                    <a:pt x="367" y="175"/>
                  </a:lnTo>
                  <a:lnTo>
                    <a:pt x="361" y="187"/>
                  </a:lnTo>
                  <a:lnTo>
                    <a:pt x="354" y="197"/>
                  </a:lnTo>
                  <a:lnTo>
                    <a:pt x="362" y="194"/>
                  </a:lnTo>
                  <a:lnTo>
                    <a:pt x="367" y="184"/>
                  </a:lnTo>
                  <a:lnTo>
                    <a:pt x="372" y="172"/>
                  </a:lnTo>
                  <a:lnTo>
                    <a:pt x="377" y="160"/>
                  </a:lnTo>
                  <a:lnTo>
                    <a:pt x="381" y="149"/>
                  </a:lnTo>
                  <a:lnTo>
                    <a:pt x="384" y="137"/>
                  </a:lnTo>
                  <a:lnTo>
                    <a:pt x="386" y="124"/>
                  </a:lnTo>
                  <a:lnTo>
                    <a:pt x="387" y="112"/>
                  </a:lnTo>
                  <a:lnTo>
                    <a:pt x="387" y="99"/>
                  </a:lnTo>
                  <a:close/>
                  <a:moveTo>
                    <a:pt x="26" y="0"/>
                  </a:moveTo>
                  <a:lnTo>
                    <a:pt x="21" y="11"/>
                  </a:lnTo>
                  <a:lnTo>
                    <a:pt x="15" y="23"/>
                  </a:lnTo>
                  <a:lnTo>
                    <a:pt x="10" y="35"/>
                  </a:lnTo>
                  <a:lnTo>
                    <a:pt x="6" y="46"/>
                  </a:lnTo>
                  <a:lnTo>
                    <a:pt x="3" y="59"/>
                  </a:lnTo>
                  <a:lnTo>
                    <a:pt x="1" y="73"/>
                  </a:lnTo>
                  <a:lnTo>
                    <a:pt x="0" y="86"/>
                  </a:lnTo>
                  <a:lnTo>
                    <a:pt x="0" y="99"/>
                  </a:lnTo>
                  <a:lnTo>
                    <a:pt x="0" y="112"/>
                  </a:lnTo>
                  <a:lnTo>
                    <a:pt x="1" y="126"/>
                  </a:lnTo>
                  <a:lnTo>
                    <a:pt x="3" y="139"/>
                  </a:lnTo>
                  <a:lnTo>
                    <a:pt x="6" y="152"/>
                  </a:lnTo>
                  <a:lnTo>
                    <a:pt x="10" y="164"/>
                  </a:lnTo>
                  <a:lnTo>
                    <a:pt x="15" y="175"/>
                  </a:lnTo>
                  <a:lnTo>
                    <a:pt x="21" y="187"/>
                  </a:lnTo>
                  <a:lnTo>
                    <a:pt x="26" y="199"/>
                  </a:lnTo>
                  <a:lnTo>
                    <a:pt x="33" y="199"/>
                  </a:lnTo>
                  <a:lnTo>
                    <a:pt x="26" y="187"/>
                  </a:lnTo>
                  <a:lnTo>
                    <a:pt x="20" y="175"/>
                  </a:lnTo>
                  <a:lnTo>
                    <a:pt x="16" y="164"/>
                  </a:lnTo>
                  <a:lnTo>
                    <a:pt x="11" y="152"/>
                  </a:lnTo>
                  <a:lnTo>
                    <a:pt x="8" y="139"/>
                  </a:lnTo>
                  <a:lnTo>
                    <a:pt x="6" y="126"/>
                  </a:lnTo>
                  <a:lnTo>
                    <a:pt x="5" y="112"/>
                  </a:lnTo>
                  <a:lnTo>
                    <a:pt x="5" y="99"/>
                  </a:lnTo>
                  <a:lnTo>
                    <a:pt x="5" y="86"/>
                  </a:lnTo>
                  <a:lnTo>
                    <a:pt x="6" y="73"/>
                  </a:lnTo>
                  <a:lnTo>
                    <a:pt x="8" y="59"/>
                  </a:lnTo>
                  <a:lnTo>
                    <a:pt x="11" y="46"/>
                  </a:lnTo>
                  <a:lnTo>
                    <a:pt x="16" y="35"/>
                  </a:lnTo>
                  <a:lnTo>
                    <a:pt x="20" y="23"/>
                  </a:lnTo>
                  <a:lnTo>
                    <a:pt x="26" y="11"/>
                  </a:lnTo>
                  <a:lnTo>
                    <a:pt x="33" y="0"/>
                  </a:lnTo>
                  <a:lnTo>
                    <a:pt x="26"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61" name="Freeform 201">
              <a:extLst>
                <a:ext uri="{FF2B5EF4-FFF2-40B4-BE49-F238E27FC236}">
                  <a16:creationId xmlns:a16="http://schemas.microsoft.com/office/drawing/2014/main" id="{232B6E4F-3CF8-B026-EB43-490563F292E7}"/>
                </a:ext>
              </a:extLst>
            </p:cNvPr>
            <p:cNvSpPr>
              <a:spLocks noEditPoints="1"/>
            </p:cNvSpPr>
            <p:nvPr/>
          </p:nvSpPr>
          <p:spPr bwMode="auto">
            <a:xfrm>
              <a:off x="1644" y="1514"/>
              <a:ext cx="385" cy="199"/>
            </a:xfrm>
            <a:custGeom>
              <a:avLst/>
              <a:gdLst>
                <a:gd name="T0" fmla="*/ 383 w 385"/>
                <a:gd name="T1" fmla="*/ 86 h 199"/>
                <a:gd name="T2" fmla="*/ 380 w 385"/>
                <a:gd name="T3" fmla="*/ 59 h 199"/>
                <a:gd name="T4" fmla="*/ 373 w 385"/>
                <a:gd name="T5" fmla="*/ 35 h 199"/>
                <a:gd name="T6" fmla="*/ 363 w 385"/>
                <a:gd name="T7" fmla="*/ 11 h 199"/>
                <a:gd name="T8" fmla="*/ 350 w 385"/>
                <a:gd name="T9" fmla="*/ 0 h 199"/>
                <a:gd name="T10" fmla="*/ 363 w 385"/>
                <a:gd name="T11" fmla="*/ 21 h 199"/>
                <a:gd name="T12" fmla="*/ 371 w 385"/>
                <a:gd name="T13" fmla="*/ 46 h 199"/>
                <a:gd name="T14" fmla="*/ 376 w 385"/>
                <a:gd name="T15" fmla="*/ 73 h 199"/>
                <a:gd name="T16" fmla="*/ 380 w 385"/>
                <a:gd name="T17" fmla="*/ 99 h 199"/>
                <a:gd name="T18" fmla="*/ 376 w 385"/>
                <a:gd name="T19" fmla="*/ 126 h 199"/>
                <a:gd name="T20" fmla="*/ 371 w 385"/>
                <a:gd name="T21" fmla="*/ 152 h 199"/>
                <a:gd name="T22" fmla="*/ 363 w 385"/>
                <a:gd name="T23" fmla="*/ 175 h 199"/>
                <a:gd name="T24" fmla="*/ 350 w 385"/>
                <a:gd name="T25" fmla="*/ 199 h 199"/>
                <a:gd name="T26" fmla="*/ 358 w 385"/>
                <a:gd name="T27" fmla="*/ 195 h 199"/>
                <a:gd name="T28" fmla="*/ 368 w 385"/>
                <a:gd name="T29" fmla="*/ 174 h 199"/>
                <a:gd name="T30" fmla="*/ 376 w 385"/>
                <a:gd name="T31" fmla="*/ 151 h 199"/>
                <a:gd name="T32" fmla="*/ 381 w 385"/>
                <a:gd name="T33" fmla="*/ 126 h 199"/>
                <a:gd name="T34" fmla="*/ 385 w 385"/>
                <a:gd name="T35" fmla="*/ 99 h 199"/>
                <a:gd name="T36" fmla="*/ 22 w 385"/>
                <a:gd name="T37" fmla="*/ 11 h 199"/>
                <a:gd name="T38" fmla="*/ 12 w 385"/>
                <a:gd name="T39" fmla="*/ 35 h 199"/>
                <a:gd name="T40" fmla="*/ 5 w 385"/>
                <a:gd name="T41" fmla="*/ 59 h 199"/>
                <a:gd name="T42" fmla="*/ 0 w 385"/>
                <a:gd name="T43" fmla="*/ 86 h 199"/>
                <a:gd name="T44" fmla="*/ 0 w 385"/>
                <a:gd name="T45" fmla="*/ 112 h 199"/>
                <a:gd name="T46" fmla="*/ 5 w 385"/>
                <a:gd name="T47" fmla="*/ 139 h 199"/>
                <a:gd name="T48" fmla="*/ 12 w 385"/>
                <a:gd name="T49" fmla="*/ 164 h 199"/>
                <a:gd name="T50" fmla="*/ 22 w 385"/>
                <a:gd name="T51" fmla="*/ 187 h 199"/>
                <a:gd name="T52" fmla="*/ 33 w 385"/>
                <a:gd name="T53" fmla="*/ 199 h 199"/>
                <a:gd name="T54" fmla="*/ 22 w 385"/>
                <a:gd name="T55" fmla="*/ 175 h 199"/>
                <a:gd name="T56" fmla="*/ 14 w 385"/>
                <a:gd name="T57" fmla="*/ 152 h 199"/>
                <a:gd name="T58" fmla="*/ 7 w 385"/>
                <a:gd name="T59" fmla="*/ 126 h 199"/>
                <a:gd name="T60" fmla="*/ 5 w 385"/>
                <a:gd name="T61" fmla="*/ 99 h 199"/>
                <a:gd name="T62" fmla="*/ 7 w 385"/>
                <a:gd name="T63" fmla="*/ 73 h 199"/>
                <a:gd name="T64" fmla="*/ 14 w 385"/>
                <a:gd name="T65" fmla="*/ 46 h 199"/>
                <a:gd name="T66" fmla="*/ 22 w 385"/>
                <a:gd name="T67" fmla="*/ 21 h 199"/>
                <a:gd name="T68" fmla="*/ 33 w 38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5" h="199">
                  <a:moveTo>
                    <a:pt x="385" y="99"/>
                  </a:moveTo>
                  <a:lnTo>
                    <a:pt x="383" y="86"/>
                  </a:lnTo>
                  <a:lnTo>
                    <a:pt x="381" y="73"/>
                  </a:lnTo>
                  <a:lnTo>
                    <a:pt x="380" y="59"/>
                  </a:lnTo>
                  <a:lnTo>
                    <a:pt x="376" y="46"/>
                  </a:lnTo>
                  <a:lnTo>
                    <a:pt x="373" y="35"/>
                  </a:lnTo>
                  <a:lnTo>
                    <a:pt x="368" y="23"/>
                  </a:lnTo>
                  <a:lnTo>
                    <a:pt x="363" y="11"/>
                  </a:lnTo>
                  <a:lnTo>
                    <a:pt x="356" y="0"/>
                  </a:lnTo>
                  <a:lnTo>
                    <a:pt x="350" y="0"/>
                  </a:lnTo>
                  <a:lnTo>
                    <a:pt x="356" y="11"/>
                  </a:lnTo>
                  <a:lnTo>
                    <a:pt x="363" y="21"/>
                  </a:lnTo>
                  <a:lnTo>
                    <a:pt x="368" y="35"/>
                  </a:lnTo>
                  <a:lnTo>
                    <a:pt x="371" y="46"/>
                  </a:lnTo>
                  <a:lnTo>
                    <a:pt x="375" y="59"/>
                  </a:lnTo>
                  <a:lnTo>
                    <a:pt x="376" y="73"/>
                  </a:lnTo>
                  <a:lnTo>
                    <a:pt x="378" y="86"/>
                  </a:lnTo>
                  <a:lnTo>
                    <a:pt x="380" y="99"/>
                  </a:lnTo>
                  <a:lnTo>
                    <a:pt x="378" y="112"/>
                  </a:lnTo>
                  <a:lnTo>
                    <a:pt x="376" y="126"/>
                  </a:lnTo>
                  <a:lnTo>
                    <a:pt x="375" y="139"/>
                  </a:lnTo>
                  <a:lnTo>
                    <a:pt x="371" y="152"/>
                  </a:lnTo>
                  <a:lnTo>
                    <a:pt x="368" y="164"/>
                  </a:lnTo>
                  <a:lnTo>
                    <a:pt x="363" y="175"/>
                  </a:lnTo>
                  <a:lnTo>
                    <a:pt x="356" y="187"/>
                  </a:lnTo>
                  <a:lnTo>
                    <a:pt x="350" y="199"/>
                  </a:lnTo>
                  <a:lnTo>
                    <a:pt x="351" y="199"/>
                  </a:lnTo>
                  <a:lnTo>
                    <a:pt x="358" y="195"/>
                  </a:lnTo>
                  <a:lnTo>
                    <a:pt x="363" y="185"/>
                  </a:lnTo>
                  <a:lnTo>
                    <a:pt x="368" y="174"/>
                  </a:lnTo>
                  <a:lnTo>
                    <a:pt x="373" y="162"/>
                  </a:lnTo>
                  <a:lnTo>
                    <a:pt x="376" y="151"/>
                  </a:lnTo>
                  <a:lnTo>
                    <a:pt x="380" y="137"/>
                  </a:lnTo>
                  <a:lnTo>
                    <a:pt x="381" y="126"/>
                  </a:lnTo>
                  <a:lnTo>
                    <a:pt x="383" y="112"/>
                  </a:lnTo>
                  <a:lnTo>
                    <a:pt x="385" y="99"/>
                  </a:lnTo>
                  <a:close/>
                  <a:moveTo>
                    <a:pt x="28" y="0"/>
                  </a:moveTo>
                  <a:lnTo>
                    <a:pt x="22" y="11"/>
                  </a:lnTo>
                  <a:lnTo>
                    <a:pt x="17" y="23"/>
                  </a:lnTo>
                  <a:lnTo>
                    <a:pt x="12" y="35"/>
                  </a:lnTo>
                  <a:lnTo>
                    <a:pt x="9" y="46"/>
                  </a:lnTo>
                  <a:lnTo>
                    <a:pt x="5" y="59"/>
                  </a:lnTo>
                  <a:lnTo>
                    <a:pt x="2" y="73"/>
                  </a:lnTo>
                  <a:lnTo>
                    <a:pt x="0" y="86"/>
                  </a:lnTo>
                  <a:lnTo>
                    <a:pt x="0" y="99"/>
                  </a:lnTo>
                  <a:lnTo>
                    <a:pt x="0" y="112"/>
                  </a:lnTo>
                  <a:lnTo>
                    <a:pt x="2" y="126"/>
                  </a:lnTo>
                  <a:lnTo>
                    <a:pt x="5" y="139"/>
                  </a:lnTo>
                  <a:lnTo>
                    <a:pt x="9" y="152"/>
                  </a:lnTo>
                  <a:lnTo>
                    <a:pt x="12" y="164"/>
                  </a:lnTo>
                  <a:lnTo>
                    <a:pt x="17" y="175"/>
                  </a:lnTo>
                  <a:lnTo>
                    <a:pt x="22" y="187"/>
                  </a:lnTo>
                  <a:lnTo>
                    <a:pt x="28" y="199"/>
                  </a:lnTo>
                  <a:lnTo>
                    <a:pt x="33" y="199"/>
                  </a:lnTo>
                  <a:lnTo>
                    <a:pt x="27" y="187"/>
                  </a:lnTo>
                  <a:lnTo>
                    <a:pt x="22" y="175"/>
                  </a:lnTo>
                  <a:lnTo>
                    <a:pt x="17" y="164"/>
                  </a:lnTo>
                  <a:lnTo>
                    <a:pt x="14" y="152"/>
                  </a:lnTo>
                  <a:lnTo>
                    <a:pt x="10" y="139"/>
                  </a:lnTo>
                  <a:lnTo>
                    <a:pt x="7" y="126"/>
                  </a:lnTo>
                  <a:lnTo>
                    <a:pt x="5" y="112"/>
                  </a:lnTo>
                  <a:lnTo>
                    <a:pt x="5" y="99"/>
                  </a:lnTo>
                  <a:lnTo>
                    <a:pt x="5" y="86"/>
                  </a:lnTo>
                  <a:lnTo>
                    <a:pt x="7" y="73"/>
                  </a:lnTo>
                  <a:lnTo>
                    <a:pt x="10" y="59"/>
                  </a:lnTo>
                  <a:lnTo>
                    <a:pt x="14" y="46"/>
                  </a:lnTo>
                  <a:lnTo>
                    <a:pt x="17" y="35"/>
                  </a:lnTo>
                  <a:lnTo>
                    <a:pt x="22" y="21"/>
                  </a:lnTo>
                  <a:lnTo>
                    <a:pt x="27" y="11"/>
                  </a:lnTo>
                  <a:lnTo>
                    <a:pt x="33" y="0"/>
                  </a:lnTo>
                  <a:lnTo>
                    <a:pt x="28"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62" name="Freeform 202">
              <a:extLst>
                <a:ext uri="{FF2B5EF4-FFF2-40B4-BE49-F238E27FC236}">
                  <a16:creationId xmlns:a16="http://schemas.microsoft.com/office/drawing/2014/main" id="{D3C44855-A7AC-01AE-41A9-FA7AF7901010}"/>
                </a:ext>
              </a:extLst>
            </p:cNvPr>
            <p:cNvSpPr>
              <a:spLocks noEditPoints="1"/>
            </p:cNvSpPr>
            <p:nvPr/>
          </p:nvSpPr>
          <p:spPr bwMode="auto">
            <a:xfrm>
              <a:off x="1648" y="1514"/>
              <a:ext cx="377" cy="199"/>
            </a:xfrm>
            <a:custGeom>
              <a:avLst/>
              <a:gdLst>
                <a:gd name="T0" fmla="*/ 377 w 377"/>
                <a:gd name="T1" fmla="*/ 86 h 199"/>
                <a:gd name="T2" fmla="*/ 374 w 377"/>
                <a:gd name="T3" fmla="*/ 59 h 199"/>
                <a:gd name="T4" fmla="*/ 366 w 377"/>
                <a:gd name="T5" fmla="*/ 35 h 199"/>
                <a:gd name="T6" fmla="*/ 356 w 377"/>
                <a:gd name="T7" fmla="*/ 11 h 199"/>
                <a:gd name="T8" fmla="*/ 344 w 377"/>
                <a:gd name="T9" fmla="*/ 0 h 199"/>
                <a:gd name="T10" fmla="*/ 356 w 377"/>
                <a:gd name="T11" fmla="*/ 21 h 199"/>
                <a:gd name="T12" fmla="*/ 366 w 377"/>
                <a:gd name="T13" fmla="*/ 46 h 199"/>
                <a:gd name="T14" fmla="*/ 371 w 377"/>
                <a:gd name="T15" fmla="*/ 73 h 199"/>
                <a:gd name="T16" fmla="*/ 372 w 377"/>
                <a:gd name="T17" fmla="*/ 99 h 199"/>
                <a:gd name="T18" fmla="*/ 371 w 377"/>
                <a:gd name="T19" fmla="*/ 126 h 199"/>
                <a:gd name="T20" fmla="*/ 366 w 377"/>
                <a:gd name="T21" fmla="*/ 152 h 199"/>
                <a:gd name="T22" fmla="*/ 356 w 377"/>
                <a:gd name="T23" fmla="*/ 175 h 199"/>
                <a:gd name="T24" fmla="*/ 344 w 377"/>
                <a:gd name="T25" fmla="*/ 199 h 199"/>
                <a:gd name="T26" fmla="*/ 349 w 377"/>
                <a:gd name="T27" fmla="*/ 197 h 199"/>
                <a:gd name="T28" fmla="*/ 362 w 377"/>
                <a:gd name="T29" fmla="*/ 175 h 199"/>
                <a:gd name="T30" fmla="*/ 371 w 377"/>
                <a:gd name="T31" fmla="*/ 151 h 199"/>
                <a:gd name="T32" fmla="*/ 376 w 377"/>
                <a:gd name="T33" fmla="*/ 126 h 199"/>
                <a:gd name="T34" fmla="*/ 377 w 377"/>
                <a:gd name="T35" fmla="*/ 99 h 199"/>
                <a:gd name="T36" fmla="*/ 21 w 377"/>
                <a:gd name="T37" fmla="*/ 11 h 199"/>
                <a:gd name="T38" fmla="*/ 11 w 377"/>
                <a:gd name="T39" fmla="*/ 35 h 199"/>
                <a:gd name="T40" fmla="*/ 3 w 377"/>
                <a:gd name="T41" fmla="*/ 59 h 199"/>
                <a:gd name="T42" fmla="*/ 0 w 377"/>
                <a:gd name="T43" fmla="*/ 86 h 199"/>
                <a:gd name="T44" fmla="*/ 0 w 377"/>
                <a:gd name="T45" fmla="*/ 112 h 199"/>
                <a:gd name="T46" fmla="*/ 3 w 377"/>
                <a:gd name="T47" fmla="*/ 139 h 199"/>
                <a:gd name="T48" fmla="*/ 11 w 377"/>
                <a:gd name="T49" fmla="*/ 164 h 199"/>
                <a:gd name="T50" fmla="*/ 21 w 377"/>
                <a:gd name="T51" fmla="*/ 187 h 199"/>
                <a:gd name="T52" fmla="*/ 33 w 377"/>
                <a:gd name="T53" fmla="*/ 199 h 199"/>
                <a:gd name="T54" fmla="*/ 21 w 377"/>
                <a:gd name="T55" fmla="*/ 175 h 199"/>
                <a:gd name="T56" fmla="*/ 11 w 377"/>
                <a:gd name="T57" fmla="*/ 152 h 199"/>
                <a:gd name="T58" fmla="*/ 6 w 377"/>
                <a:gd name="T59" fmla="*/ 126 h 199"/>
                <a:gd name="T60" fmla="*/ 5 w 377"/>
                <a:gd name="T61" fmla="*/ 99 h 199"/>
                <a:gd name="T62" fmla="*/ 6 w 377"/>
                <a:gd name="T63" fmla="*/ 73 h 199"/>
                <a:gd name="T64" fmla="*/ 11 w 377"/>
                <a:gd name="T65" fmla="*/ 46 h 199"/>
                <a:gd name="T66" fmla="*/ 21 w 377"/>
                <a:gd name="T67" fmla="*/ 21 h 199"/>
                <a:gd name="T68" fmla="*/ 33 w 37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7" h="199">
                  <a:moveTo>
                    <a:pt x="377" y="99"/>
                  </a:moveTo>
                  <a:lnTo>
                    <a:pt x="377" y="86"/>
                  </a:lnTo>
                  <a:lnTo>
                    <a:pt x="376" y="73"/>
                  </a:lnTo>
                  <a:lnTo>
                    <a:pt x="374" y="59"/>
                  </a:lnTo>
                  <a:lnTo>
                    <a:pt x="371" y="46"/>
                  </a:lnTo>
                  <a:lnTo>
                    <a:pt x="366" y="35"/>
                  </a:lnTo>
                  <a:lnTo>
                    <a:pt x="361" y="23"/>
                  </a:lnTo>
                  <a:lnTo>
                    <a:pt x="356" y="11"/>
                  </a:lnTo>
                  <a:lnTo>
                    <a:pt x="349" y="0"/>
                  </a:lnTo>
                  <a:lnTo>
                    <a:pt x="344" y="0"/>
                  </a:lnTo>
                  <a:lnTo>
                    <a:pt x="351" y="11"/>
                  </a:lnTo>
                  <a:lnTo>
                    <a:pt x="356" y="21"/>
                  </a:lnTo>
                  <a:lnTo>
                    <a:pt x="361" y="35"/>
                  </a:lnTo>
                  <a:lnTo>
                    <a:pt x="366" y="46"/>
                  </a:lnTo>
                  <a:lnTo>
                    <a:pt x="369" y="59"/>
                  </a:lnTo>
                  <a:lnTo>
                    <a:pt x="371" y="73"/>
                  </a:lnTo>
                  <a:lnTo>
                    <a:pt x="372" y="86"/>
                  </a:lnTo>
                  <a:lnTo>
                    <a:pt x="372" y="99"/>
                  </a:lnTo>
                  <a:lnTo>
                    <a:pt x="372" y="112"/>
                  </a:lnTo>
                  <a:lnTo>
                    <a:pt x="371" y="126"/>
                  </a:lnTo>
                  <a:lnTo>
                    <a:pt x="369" y="139"/>
                  </a:lnTo>
                  <a:lnTo>
                    <a:pt x="366" y="152"/>
                  </a:lnTo>
                  <a:lnTo>
                    <a:pt x="361" y="164"/>
                  </a:lnTo>
                  <a:lnTo>
                    <a:pt x="356" y="175"/>
                  </a:lnTo>
                  <a:lnTo>
                    <a:pt x="351" y="187"/>
                  </a:lnTo>
                  <a:lnTo>
                    <a:pt x="344" y="199"/>
                  </a:lnTo>
                  <a:lnTo>
                    <a:pt x="347" y="199"/>
                  </a:lnTo>
                  <a:lnTo>
                    <a:pt x="349" y="197"/>
                  </a:lnTo>
                  <a:lnTo>
                    <a:pt x="356" y="187"/>
                  </a:lnTo>
                  <a:lnTo>
                    <a:pt x="362" y="175"/>
                  </a:lnTo>
                  <a:lnTo>
                    <a:pt x="366" y="164"/>
                  </a:lnTo>
                  <a:lnTo>
                    <a:pt x="371" y="151"/>
                  </a:lnTo>
                  <a:lnTo>
                    <a:pt x="374" y="139"/>
                  </a:lnTo>
                  <a:lnTo>
                    <a:pt x="376" y="126"/>
                  </a:lnTo>
                  <a:lnTo>
                    <a:pt x="377" y="112"/>
                  </a:lnTo>
                  <a:lnTo>
                    <a:pt x="377" y="99"/>
                  </a:lnTo>
                  <a:close/>
                  <a:moveTo>
                    <a:pt x="28" y="0"/>
                  </a:moveTo>
                  <a:lnTo>
                    <a:pt x="21" y="11"/>
                  </a:lnTo>
                  <a:lnTo>
                    <a:pt x="15" y="23"/>
                  </a:lnTo>
                  <a:lnTo>
                    <a:pt x="11" y="35"/>
                  </a:lnTo>
                  <a:lnTo>
                    <a:pt x="6" y="46"/>
                  </a:lnTo>
                  <a:lnTo>
                    <a:pt x="3" y="59"/>
                  </a:lnTo>
                  <a:lnTo>
                    <a:pt x="1" y="73"/>
                  </a:lnTo>
                  <a:lnTo>
                    <a:pt x="0" y="86"/>
                  </a:lnTo>
                  <a:lnTo>
                    <a:pt x="0" y="99"/>
                  </a:lnTo>
                  <a:lnTo>
                    <a:pt x="0" y="112"/>
                  </a:lnTo>
                  <a:lnTo>
                    <a:pt x="1" y="126"/>
                  </a:lnTo>
                  <a:lnTo>
                    <a:pt x="3" y="139"/>
                  </a:lnTo>
                  <a:lnTo>
                    <a:pt x="6" y="152"/>
                  </a:lnTo>
                  <a:lnTo>
                    <a:pt x="11" y="164"/>
                  </a:lnTo>
                  <a:lnTo>
                    <a:pt x="15" y="175"/>
                  </a:lnTo>
                  <a:lnTo>
                    <a:pt x="21" y="187"/>
                  </a:lnTo>
                  <a:lnTo>
                    <a:pt x="28" y="199"/>
                  </a:lnTo>
                  <a:lnTo>
                    <a:pt x="33" y="199"/>
                  </a:lnTo>
                  <a:lnTo>
                    <a:pt x="26" y="187"/>
                  </a:lnTo>
                  <a:lnTo>
                    <a:pt x="21" y="175"/>
                  </a:lnTo>
                  <a:lnTo>
                    <a:pt x="16" y="164"/>
                  </a:lnTo>
                  <a:lnTo>
                    <a:pt x="11" y="152"/>
                  </a:lnTo>
                  <a:lnTo>
                    <a:pt x="8" y="139"/>
                  </a:lnTo>
                  <a:lnTo>
                    <a:pt x="6" y="126"/>
                  </a:lnTo>
                  <a:lnTo>
                    <a:pt x="5" y="112"/>
                  </a:lnTo>
                  <a:lnTo>
                    <a:pt x="5" y="99"/>
                  </a:lnTo>
                  <a:lnTo>
                    <a:pt x="5" y="86"/>
                  </a:lnTo>
                  <a:lnTo>
                    <a:pt x="6" y="73"/>
                  </a:lnTo>
                  <a:lnTo>
                    <a:pt x="8" y="59"/>
                  </a:lnTo>
                  <a:lnTo>
                    <a:pt x="11" y="46"/>
                  </a:lnTo>
                  <a:lnTo>
                    <a:pt x="16" y="35"/>
                  </a:lnTo>
                  <a:lnTo>
                    <a:pt x="21" y="21"/>
                  </a:lnTo>
                  <a:lnTo>
                    <a:pt x="26" y="11"/>
                  </a:lnTo>
                  <a:lnTo>
                    <a:pt x="33" y="0"/>
                  </a:lnTo>
                  <a:lnTo>
                    <a:pt x="28"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63" name="Freeform 203">
              <a:extLst>
                <a:ext uri="{FF2B5EF4-FFF2-40B4-BE49-F238E27FC236}">
                  <a16:creationId xmlns:a16="http://schemas.microsoft.com/office/drawing/2014/main" id="{99CF8081-C501-D58C-6922-9F5D2BD73A6D}"/>
                </a:ext>
              </a:extLst>
            </p:cNvPr>
            <p:cNvSpPr>
              <a:spLocks noEditPoints="1"/>
            </p:cNvSpPr>
            <p:nvPr/>
          </p:nvSpPr>
          <p:spPr bwMode="auto">
            <a:xfrm>
              <a:off x="1649" y="1514"/>
              <a:ext cx="375" cy="199"/>
            </a:xfrm>
            <a:custGeom>
              <a:avLst/>
              <a:gdLst>
                <a:gd name="T0" fmla="*/ 373 w 375"/>
                <a:gd name="T1" fmla="*/ 86 h 199"/>
                <a:gd name="T2" fmla="*/ 370 w 375"/>
                <a:gd name="T3" fmla="*/ 59 h 199"/>
                <a:gd name="T4" fmla="*/ 363 w 375"/>
                <a:gd name="T5" fmla="*/ 35 h 199"/>
                <a:gd name="T6" fmla="*/ 351 w 375"/>
                <a:gd name="T7" fmla="*/ 11 h 199"/>
                <a:gd name="T8" fmla="*/ 340 w 375"/>
                <a:gd name="T9" fmla="*/ 0 h 199"/>
                <a:gd name="T10" fmla="*/ 351 w 375"/>
                <a:gd name="T11" fmla="*/ 21 h 199"/>
                <a:gd name="T12" fmla="*/ 361 w 375"/>
                <a:gd name="T13" fmla="*/ 46 h 199"/>
                <a:gd name="T14" fmla="*/ 368 w 375"/>
                <a:gd name="T15" fmla="*/ 73 h 199"/>
                <a:gd name="T16" fmla="*/ 370 w 375"/>
                <a:gd name="T17" fmla="*/ 99 h 199"/>
                <a:gd name="T18" fmla="*/ 368 w 375"/>
                <a:gd name="T19" fmla="*/ 126 h 199"/>
                <a:gd name="T20" fmla="*/ 361 w 375"/>
                <a:gd name="T21" fmla="*/ 152 h 199"/>
                <a:gd name="T22" fmla="*/ 351 w 375"/>
                <a:gd name="T23" fmla="*/ 175 h 199"/>
                <a:gd name="T24" fmla="*/ 340 w 375"/>
                <a:gd name="T25" fmla="*/ 199 h 199"/>
                <a:gd name="T26" fmla="*/ 351 w 375"/>
                <a:gd name="T27" fmla="*/ 187 h 199"/>
                <a:gd name="T28" fmla="*/ 363 w 375"/>
                <a:gd name="T29" fmla="*/ 164 h 199"/>
                <a:gd name="T30" fmla="*/ 370 w 375"/>
                <a:gd name="T31" fmla="*/ 139 h 199"/>
                <a:gd name="T32" fmla="*/ 373 w 375"/>
                <a:gd name="T33" fmla="*/ 112 h 199"/>
                <a:gd name="T34" fmla="*/ 28 w 375"/>
                <a:gd name="T35" fmla="*/ 0 h 199"/>
                <a:gd name="T36" fmla="*/ 17 w 375"/>
                <a:gd name="T37" fmla="*/ 21 h 199"/>
                <a:gd name="T38" fmla="*/ 9 w 375"/>
                <a:gd name="T39" fmla="*/ 46 h 199"/>
                <a:gd name="T40" fmla="*/ 2 w 375"/>
                <a:gd name="T41" fmla="*/ 73 h 199"/>
                <a:gd name="T42" fmla="*/ 0 w 375"/>
                <a:gd name="T43" fmla="*/ 99 h 199"/>
                <a:gd name="T44" fmla="*/ 2 w 375"/>
                <a:gd name="T45" fmla="*/ 126 h 199"/>
                <a:gd name="T46" fmla="*/ 9 w 375"/>
                <a:gd name="T47" fmla="*/ 152 h 199"/>
                <a:gd name="T48" fmla="*/ 17 w 375"/>
                <a:gd name="T49" fmla="*/ 175 h 199"/>
                <a:gd name="T50" fmla="*/ 28 w 375"/>
                <a:gd name="T51" fmla="*/ 199 h 199"/>
                <a:gd name="T52" fmla="*/ 28 w 375"/>
                <a:gd name="T53" fmla="*/ 187 h 199"/>
                <a:gd name="T54" fmla="*/ 17 w 375"/>
                <a:gd name="T55" fmla="*/ 164 h 199"/>
                <a:gd name="T56" fmla="*/ 10 w 375"/>
                <a:gd name="T57" fmla="*/ 139 h 199"/>
                <a:gd name="T58" fmla="*/ 5 w 375"/>
                <a:gd name="T59" fmla="*/ 112 h 199"/>
                <a:gd name="T60" fmla="*/ 5 w 375"/>
                <a:gd name="T61" fmla="*/ 86 h 199"/>
                <a:gd name="T62" fmla="*/ 10 w 375"/>
                <a:gd name="T63" fmla="*/ 59 h 199"/>
                <a:gd name="T64" fmla="*/ 17 w 375"/>
                <a:gd name="T65" fmla="*/ 35 h 199"/>
                <a:gd name="T66" fmla="*/ 28 w 375"/>
                <a:gd name="T67" fmla="*/ 10 h 199"/>
                <a:gd name="T68" fmla="*/ 28 w 37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5" h="199">
                  <a:moveTo>
                    <a:pt x="375" y="99"/>
                  </a:moveTo>
                  <a:lnTo>
                    <a:pt x="373" y="86"/>
                  </a:lnTo>
                  <a:lnTo>
                    <a:pt x="371" y="73"/>
                  </a:lnTo>
                  <a:lnTo>
                    <a:pt x="370" y="59"/>
                  </a:lnTo>
                  <a:lnTo>
                    <a:pt x="366" y="46"/>
                  </a:lnTo>
                  <a:lnTo>
                    <a:pt x="363" y="35"/>
                  </a:lnTo>
                  <a:lnTo>
                    <a:pt x="358" y="21"/>
                  </a:lnTo>
                  <a:lnTo>
                    <a:pt x="351" y="11"/>
                  </a:lnTo>
                  <a:lnTo>
                    <a:pt x="345" y="0"/>
                  </a:lnTo>
                  <a:lnTo>
                    <a:pt x="340" y="0"/>
                  </a:lnTo>
                  <a:lnTo>
                    <a:pt x="346" y="10"/>
                  </a:lnTo>
                  <a:lnTo>
                    <a:pt x="351" y="21"/>
                  </a:lnTo>
                  <a:lnTo>
                    <a:pt x="358" y="35"/>
                  </a:lnTo>
                  <a:lnTo>
                    <a:pt x="361" y="46"/>
                  </a:lnTo>
                  <a:lnTo>
                    <a:pt x="365" y="59"/>
                  </a:lnTo>
                  <a:lnTo>
                    <a:pt x="368" y="73"/>
                  </a:lnTo>
                  <a:lnTo>
                    <a:pt x="368" y="86"/>
                  </a:lnTo>
                  <a:lnTo>
                    <a:pt x="370" y="99"/>
                  </a:lnTo>
                  <a:lnTo>
                    <a:pt x="368" y="112"/>
                  </a:lnTo>
                  <a:lnTo>
                    <a:pt x="368" y="126"/>
                  </a:lnTo>
                  <a:lnTo>
                    <a:pt x="365" y="139"/>
                  </a:lnTo>
                  <a:lnTo>
                    <a:pt x="361" y="152"/>
                  </a:lnTo>
                  <a:lnTo>
                    <a:pt x="358" y="164"/>
                  </a:lnTo>
                  <a:lnTo>
                    <a:pt x="351" y="175"/>
                  </a:lnTo>
                  <a:lnTo>
                    <a:pt x="346" y="187"/>
                  </a:lnTo>
                  <a:lnTo>
                    <a:pt x="340" y="199"/>
                  </a:lnTo>
                  <a:lnTo>
                    <a:pt x="345" y="199"/>
                  </a:lnTo>
                  <a:lnTo>
                    <a:pt x="351" y="187"/>
                  </a:lnTo>
                  <a:lnTo>
                    <a:pt x="358" y="175"/>
                  </a:lnTo>
                  <a:lnTo>
                    <a:pt x="363" y="164"/>
                  </a:lnTo>
                  <a:lnTo>
                    <a:pt x="366" y="152"/>
                  </a:lnTo>
                  <a:lnTo>
                    <a:pt x="370" y="139"/>
                  </a:lnTo>
                  <a:lnTo>
                    <a:pt x="371" y="126"/>
                  </a:lnTo>
                  <a:lnTo>
                    <a:pt x="373" y="112"/>
                  </a:lnTo>
                  <a:lnTo>
                    <a:pt x="375" y="99"/>
                  </a:lnTo>
                  <a:close/>
                  <a:moveTo>
                    <a:pt x="28" y="0"/>
                  </a:moveTo>
                  <a:lnTo>
                    <a:pt x="22" y="11"/>
                  </a:lnTo>
                  <a:lnTo>
                    <a:pt x="17" y="21"/>
                  </a:lnTo>
                  <a:lnTo>
                    <a:pt x="12" y="35"/>
                  </a:lnTo>
                  <a:lnTo>
                    <a:pt x="9" y="46"/>
                  </a:lnTo>
                  <a:lnTo>
                    <a:pt x="5" y="59"/>
                  </a:lnTo>
                  <a:lnTo>
                    <a:pt x="2" y="73"/>
                  </a:lnTo>
                  <a:lnTo>
                    <a:pt x="0" y="86"/>
                  </a:lnTo>
                  <a:lnTo>
                    <a:pt x="0" y="99"/>
                  </a:lnTo>
                  <a:lnTo>
                    <a:pt x="0" y="112"/>
                  </a:lnTo>
                  <a:lnTo>
                    <a:pt x="2" y="126"/>
                  </a:lnTo>
                  <a:lnTo>
                    <a:pt x="5" y="139"/>
                  </a:lnTo>
                  <a:lnTo>
                    <a:pt x="9" y="152"/>
                  </a:lnTo>
                  <a:lnTo>
                    <a:pt x="12" y="164"/>
                  </a:lnTo>
                  <a:lnTo>
                    <a:pt x="17" y="175"/>
                  </a:lnTo>
                  <a:lnTo>
                    <a:pt x="22" y="187"/>
                  </a:lnTo>
                  <a:lnTo>
                    <a:pt x="28" y="199"/>
                  </a:lnTo>
                  <a:lnTo>
                    <a:pt x="35" y="199"/>
                  </a:lnTo>
                  <a:lnTo>
                    <a:pt x="28" y="187"/>
                  </a:lnTo>
                  <a:lnTo>
                    <a:pt x="22" y="175"/>
                  </a:lnTo>
                  <a:lnTo>
                    <a:pt x="17" y="164"/>
                  </a:lnTo>
                  <a:lnTo>
                    <a:pt x="14" y="152"/>
                  </a:lnTo>
                  <a:lnTo>
                    <a:pt x="10" y="139"/>
                  </a:lnTo>
                  <a:lnTo>
                    <a:pt x="7" y="126"/>
                  </a:lnTo>
                  <a:lnTo>
                    <a:pt x="5" y="112"/>
                  </a:lnTo>
                  <a:lnTo>
                    <a:pt x="5" y="99"/>
                  </a:lnTo>
                  <a:lnTo>
                    <a:pt x="5" y="86"/>
                  </a:lnTo>
                  <a:lnTo>
                    <a:pt x="7" y="73"/>
                  </a:lnTo>
                  <a:lnTo>
                    <a:pt x="10" y="59"/>
                  </a:lnTo>
                  <a:lnTo>
                    <a:pt x="14" y="46"/>
                  </a:lnTo>
                  <a:lnTo>
                    <a:pt x="17" y="35"/>
                  </a:lnTo>
                  <a:lnTo>
                    <a:pt x="22" y="21"/>
                  </a:lnTo>
                  <a:lnTo>
                    <a:pt x="28" y="10"/>
                  </a:lnTo>
                  <a:lnTo>
                    <a:pt x="35" y="0"/>
                  </a:lnTo>
                  <a:lnTo>
                    <a:pt x="28"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64" name="Freeform 204">
              <a:extLst>
                <a:ext uri="{FF2B5EF4-FFF2-40B4-BE49-F238E27FC236}">
                  <a16:creationId xmlns:a16="http://schemas.microsoft.com/office/drawing/2014/main" id="{F18E96EE-1A64-9231-E820-2AE103A33A90}"/>
                </a:ext>
              </a:extLst>
            </p:cNvPr>
            <p:cNvSpPr>
              <a:spLocks noEditPoints="1"/>
            </p:cNvSpPr>
            <p:nvPr/>
          </p:nvSpPr>
          <p:spPr bwMode="auto">
            <a:xfrm>
              <a:off x="1653" y="1514"/>
              <a:ext cx="367" cy="199"/>
            </a:xfrm>
            <a:custGeom>
              <a:avLst/>
              <a:gdLst>
                <a:gd name="T0" fmla="*/ 367 w 367"/>
                <a:gd name="T1" fmla="*/ 86 h 199"/>
                <a:gd name="T2" fmla="*/ 364 w 367"/>
                <a:gd name="T3" fmla="*/ 59 h 199"/>
                <a:gd name="T4" fmla="*/ 356 w 367"/>
                <a:gd name="T5" fmla="*/ 35 h 199"/>
                <a:gd name="T6" fmla="*/ 346 w 367"/>
                <a:gd name="T7" fmla="*/ 11 h 199"/>
                <a:gd name="T8" fmla="*/ 332 w 367"/>
                <a:gd name="T9" fmla="*/ 0 h 199"/>
                <a:gd name="T10" fmla="*/ 346 w 367"/>
                <a:gd name="T11" fmla="*/ 21 h 199"/>
                <a:gd name="T12" fmla="*/ 356 w 367"/>
                <a:gd name="T13" fmla="*/ 46 h 199"/>
                <a:gd name="T14" fmla="*/ 361 w 367"/>
                <a:gd name="T15" fmla="*/ 73 h 199"/>
                <a:gd name="T16" fmla="*/ 362 w 367"/>
                <a:gd name="T17" fmla="*/ 99 h 199"/>
                <a:gd name="T18" fmla="*/ 361 w 367"/>
                <a:gd name="T19" fmla="*/ 126 h 199"/>
                <a:gd name="T20" fmla="*/ 356 w 367"/>
                <a:gd name="T21" fmla="*/ 152 h 199"/>
                <a:gd name="T22" fmla="*/ 346 w 367"/>
                <a:gd name="T23" fmla="*/ 175 h 199"/>
                <a:gd name="T24" fmla="*/ 332 w 367"/>
                <a:gd name="T25" fmla="*/ 199 h 199"/>
                <a:gd name="T26" fmla="*/ 346 w 367"/>
                <a:gd name="T27" fmla="*/ 187 h 199"/>
                <a:gd name="T28" fmla="*/ 356 w 367"/>
                <a:gd name="T29" fmla="*/ 164 h 199"/>
                <a:gd name="T30" fmla="*/ 364 w 367"/>
                <a:gd name="T31" fmla="*/ 139 h 199"/>
                <a:gd name="T32" fmla="*/ 367 w 367"/>
                <a:gd name="T33" fmla="*/ 112 h 199"/>
                <a:gd name="T34" fmla="*/ 28 w 367"/>
                <a:gd name="T35" fmla="*/ 0 h 199"/>
                <a:gd name="T36" fmla="*/ 16 w 367"/>
                <a:gd name="T37" fmla="*/ 21 h 199"/>
                <a:gd name="T38" fmla="*/ 6 w 367"/>
                <a:gd name="T39" fmla="*/ 46 h 199"/>
                <a:gd name="T40" fmla="*/ 1 w 367"/>
                <a:gd name="T41" fmla="*/ 73 h 199"/>
                <a:gd name="T42" fmla="*/ 0 w 367"/>
                <a:gd name="T43" fmla="*/ 99 h 199"/>
                <a:gd name="T44" fmla="*/ 1 w 367"/>
                <a:gd name="T45" fmla="*/ 126 h 199"/>
                <a:gd name="T46" fmla="*/ 6 w 367"/>
                <a:gd name="T47" fmla="*/ 152 h 199"/>
                <a:gd name="T48" fmla="*/ 16 w 367"/>
                <a:gd name="T49" fmla="*/ 175 h 199"/>
                <a:gd name="T50" fmla="*/ 28 w 367"/>
                <a:gd name="T51" fmla="*/ 199 h 199"/>
                <a:gd name="T52" fmla="*/ 26 w 367"/>
                <a:gd name="T53" fmla="*/ 187 h 199"/>
                <a:gd name="T54" fmla="*/ 16 w 367"/>
                <a:gd name="T55" fmla="*/ 164 h 199"/>
                <a:gd name="T56" fmla="*/ 8 w 367"/>
                <a:gd name="T57" fmla="*/ 139 h 199"/>
                <a:gd name="T58" fmla="*/ 5 w 367"/>
                <a:gd name="T59" fmla="*/ 112 h 199"/>
                <a:gd name="T60" fmla="*/ 5 w 367"/>
                <a:gd name="T61" fmla="*/ 86 h 199"/>
                <a:gd name="T62" fmla="*/ 8 w 367"/>
                <a:gd name="T63" fmla="*/ 59 h 199"/>
                <a:gd name="T64" fmla="*/ 16 w 367"/>
                <a:gd name="T65" fmla="*/ 35 h 199"/>
                <a:gd name="T66" fmla="*/ 26 w 367"/>
                <a:gd name="T67" fmla="*/ 10 h 199"/>
                <a:gd name="T68" fmla="*/ 28 w 36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7" h="199">
                  <a:moveTo>
                    <a:pt x="367" y="99"/>
                  </a:moveTo>
                  <a:lnTo>
                    <a:pt x="367" y="86"/>
                  </a:lnTo>
                  <a:lnTo>
                    <a:pt x="366" y="73"/>
                  </a:lnTo>
                  <a:lnTo>
                    <a:pt x="364" y="59"/>
                  </a:lnTo>
                  <a:lnTo>
                    <a:pt x="361" y="46"/>
                  </a:lnTo>
                  <a:lnTo>
                    <a:pt x="356" y="35"/>
                  </a:lnTo>
                  <a:lnTo>
                    <a:pt x="351" y="21"/>
                  </a:lnTo>
                  <a:lnTo>
                    <a:pt x="346" y="11"/>
                  </a:lnTo>
                  <a:lnTo>
                    <a:pt x="339" y="0"/>
                  </a:lnTo>
                  <a:lnTo>
                    <a:pt x="332" y="0"/>
                  </a:lnTo>
                  <a:lnTo>
                    <a:pt x="339" y="10"/>
                  </a:lnTo>
                  <a:lnTo>
                    <a:pt x="346" y="21"/>
                  </a:lnTo>
                  <a:lnTo>
                    <a:pt x="351" y="35"/>
                  </a:lnTo>
                  <a:lnTo>
                    <a:pt x="356" y="46"/>
                  </a:lnTo>
                  <a:lnTo>
                    <a:pt x="359" y="59"/>
                  </a:lnTo>
                  <a:lnTo>
                    <a:pt x="361" y="73"/>
                  </a:lnTo>
                  <a:lnTo>
                    <a:pt x="362" y="86"/>
                  </a:lnTo>
                  <a:lnTo>
                    <a:pt x="362" y="99"/>
                  </a:lnTo>
                  <a:lnTo>
                    <a:pt x="362" y="112"/>
                  </a:lnTo>
                  <a:lnTo>
                    <a:pt x="361" y="126"/>
                  </a:lnTo>
                  <a:lnTo>
                    <a:pt x="359" y="139"/>
                  </a:lnTo>
                  <a:lnTo>
                    <a:pt x="356" y="152"/>
                  </a:lnTo>
                  <a:lnTo>
                    <a:pt x="351" y="164"/>
                  </a:lnTo>
                  <a:lnTo>
                    <a:pt x="346" y="175"/>
                  </a:lnTo>
                  <a:lnTo>
                    <a:pt x="339" y="187"/>
                  </a:lnTo>
                  <a:lnTo>
                    <a:pt x="332" y="199"/>
                  </a:lnTo>
                  <a:lnTo>
                    <a:pt x="339" y="199"/>
                  </a:lnTo>
                  <a:lnTo>
                    <a:pt x="346" y="187"/>
                  </a:lnTo>
                  <a:lnTo>
                    <a:pt x="351" y="175"/>
                  </a:lnTo>
                  <a:lnTo>
                    <a:pt x="356" y="164"/>
                  </a:lnTo>
                  <a:lnTo>
                    <a:pt x="361" y="152"/>
                  </a:lnTo>
                  <a:lnTo>
                    <a:pt x="364" y="139"/>
                  </a:lnTo>
                  <a:lnTo>
                    <a:pt x="366" y="126"/>
                  </a:lnTo>
                  <a:lnTo>
                    <a:pt x="367" y="112"/>
                  </a:lnTo>
                  <a:lnTo>
                    <a:pt x="367" y="99"/>
                  </a:lnTo>
                  <a:close/>
                  <a:moveTo>
                    <a:pt x="28" y="0"/>
                  </a:moveTo>
                  <a:lnTo>
                    <a:pt x="21" y="11"/>
                  </a:lnTo>
                  <a:lnTo>
                    <a:pt x="16" y="21"/>
                  </a:lnTo>
                  <a:lnTo>
                    <a:pt x="11" y="35"/>
                  </a:lnTo>
                  <a:lnTo>
                    <a:pt x="6" y="46"/>
                  </a:lnTo>
                  <a:lnTo>
                    <a:pt x="3" y="59"/>
                  </a:lnTo>
                  <a:lnTo>
                    <a:pt x="1" y="73"/>
                  </a:lnTo>
                  <a:lnTo>
                    <a:pt x="0" y="86"/>
                  </a:lnTo>
                  <a:lnTo>
                    <a:pt x="0" y="99"/>
                  </a:lnTo>
                  <a:lnTo>
                    <a:pt x="0" y="112"/>
                  </a:lnTo>
                  <a:lnTo>
                    <a:pt x="1" y="126"/>
                  </a:lnTo>
                  <a:lnTo>
                    <a:pt x="3" y="139"/>
                  </a:lnTo>
                  <a:lnTo>
                    <a:pt x="6" y="152"/>
                  </a:lnTo>
                  <a:lnTo>
                    <a:pt x="11" y="164"/>
                  </a:lnTo>
                  <a:lnTo>
                    <a:pt x="16" y="175"/>
                  </a:lnTo>
                  <a:lnTo>
                    <a:pt x="21" y="187"/>
                  </a:lnTo>
                  <a:lnTo>
                    <a:pt x="28" y="199"/>
                  </a:lnTo>
                  <a:lnTo>
                    <a:pt x="34" y="199"/>
                  </a:lnTo>
                  <a:lnTo>
                    <a:pt x="26" y="187"/>
                  </a:lnTo>
                  <a:lnTo>
                    <a:pt x="21" y="175"/>
                  </a:lnTo>
                  <a:lnTo>
                    <a:pt x="16" y="164"/>
                  </a:lnTo>
                  <a:lnTo>
                    <a:pt x="11" y="152"/>
                  </a:lnTo>
                  <a:lnTo>
                    <a:pt x="8" y="139"/>
                  </a:lnTo>
                  <a:lnTo>
                    <a:pt x="6" y="126"/>
                  </a:lnTo>
                  <a:lnTo>
                    <a:pt x="5" y="112"/>
                  </a:lnTo>
                  <a:lnTo>
                    <a:pt x="3" y="99"/>
                  </a:lnTo>
                  <a:lnTo>
                    <a:pt x="5" y="86"/>
                  </a:lnTo>
                  <a:lnTo>
                    <a:pt x="6" y="73"/>
                  </a:lnTo>
                  <a:lnTo>
                    <a:pt x="8" y="59"/>
                  </a:lnTo>
                  <a:lnTo>
                    <a:pt x="11" y="46"/>
                  </a:lnTo>
                  <a:lnTo>
                    <a:pt x="16" y="35"/>
                  </a:lnTo>
                  <a:lnTo>
                    <a:pt x="21" y="21"/>
                  </a:lnTo>
                  <a:lnTo>
                    <a:pt x="26" y="10"/>
                  </a:lnTo>
                  <a:lnTo>
                    <a:pt x="34" y="0"/>
                  </a:lnTo>
                  <a:lnTo>
                    <a:pt x="28"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65" name="Freeform 205">
              <a:extLst>
                <a:ext uri="{FF2B5EF4-FFF2-40B4-BE49-F238E27FC236}">
                  <a16:creationId xmlns:a16="http://schemas.microsoft.com/office/drawing/2014/main" id="{38176723-6A2C-AB08-68B9-4A42B8FEB857}"/>
                </a:ext>
              </a:extLst>
            </p:cNvPr>
            <p:cNvSpPr>
              <a:spLocks noEditPoints="1"/>
            </p:cNvSpPr>
            <p:nvPr/>
          </p:nvSpPr>
          <p:spPr bwMode="auto">
            <a:xfrm>
              <a:off x="1654" y="1514"/>
              <a:ext cx="365" cy="199"/>
            </a:xfrm>
            <a:custGeom>
              <a:avLst/>
              <a:gdLst>
                <a:gd name="T0" fmla="*/ 363 w 365"/>
                <a:gd name="T1" fmla="*/ 86 h 199"/>
                <a:gd name="T2" fmla="*/ 360 w 365"/>
                <a:gd name="T3" fmla="*/ 59 h 199"/>
                <a:gd name="T4" fmla="*/ 353 w 365"/>
                <a:gd name="T5" fmla="*/ 35 h 199"/>
                <a:gd name="T6" fmla="*/ 341 w 365"/>
                <a:gd name="T7" fmla="*/ 10 h 199"/>
                <a:gd name="T8" fmla="*/ 328 w 365"/>
                <a:gd name="T9" fmla="*/ 0 h 199"/>
                <a:gd name="T10" fmla="*/ 341 w 365"/>
                <a:gd name="T11" fmla="*/ 21 h 199"/>
                <a:gd name="T12" fmla="*/ 351 w 365"/>
                <a:gd name="T13" fmla="*/ 46 h 199"/>
                <a:gd name="T14" fmla="*/ 358 w 365"/>
                <a:gd name="T15" fmla="*/ 73 h 199"/>
                <a:gd name="T16" fmla="*/ 360 w 365"/>
                <a:gd name="T17" fmla="*/ 99 h 199"/>
                <a:gd name="T18" fmla="*/ 358 w 365"/>
                <a:gd name="T19" fmla="*/ 126 h 199"/>
                <a:gd name="T20" fmla="*/ 351 w 365"/>
                <a:gd name="T21" fmla="*/ 152 h 199"/>
                <a:gd name="T22" fmla="*/ 341 w 365"/>
                <a:gd name="T23" fmla="*/ 175 h 199"/>
                <a:gd name="T24" fmla="*/ 328 w 365"/>
                <a:gd name="T25" fmla="*/ 199 h 199"/>
                <a:gd name="T26" fmla="*/ 341 w 365"/>
                <a:gd name="T27" fmla="*/ 187 h 199"/>
                <a:gd name="T28" fmla="*/ 353 w 365"/>
                <a:gd name="T29" fmla="*/ 164 h 199"/>
                <a:gd name="T30" fmla="*/ 360 w 365"/>
                <a:gd name="T31" fmla="*/ 139 h 199"/>
                <a:gd name="T32" fmla="*/ 363 w 365"/>
                <a:gd name="T33" fmla="*/ 112 h 199"/>
                <a:gd name="T34" fmla="*/ 30 w 365"/>
                <a:gd name="T35" fmla="*/ 0 h 199"/>
                <a:gd name="T36" fmla="*/ 17 w 365"/>
                <a:gd name="T37" fmla="*/ 21 h 199"/>
                <a:gd name="T38" fmla="*/ 9 w 365"/>
                <a:gd name="T39" fmla="*/ 46 h 199"/>
                <a:gd name="T40" fmla="*/ 2 w 365"/>
                <a:gd name="T41" fmla="*/ 73 h 199"/>
                <a:gd name="T42" fmla="*/ 0 w 365"/>
                <a:gd name="T43" fmla="*/ 99 h 199"/>
                <a:gd name="T44" fmla="*/ 2 w 365"/>
                <a:gd name="T45" fmla="*/ 126 h 199"/>
                <a:gd name="T46" fmla="*/ 9 w 365"/>
                <a:gd name="T47" fmla="*/ 152 h 199"/>
                <a:gd name="T48" fmla="*/ 17 w 365"/>
                <a:gd name="T49" fmla="*/ 175 h 199"/>
                <a:gd name="T50" fmla="*/ 30 w 365"/>
                <a:gd name="T51" fmla="*/ 199 h 199"/>
                <a:gd name="T52" fmla="*/ 28 w 365"/>
                <a:gd name="T53" fmla="*/ 187 h 199"/>
                <a:gd name="T54" fmla="*/ 17 w 365"/>
                <a:gd name="T55" fmla="*/ 164 h 199"/>
                <a:gd name="T56" fmla="*/ 10 w 365"/>
                <a:gd name="T57" fmla="*/ 139 h 199"/>
                <a:gd name="T58" fmla="*/ 5 w 365"/>
                <a:gd name="T59" fmla="*/ 112 h 199"/>
                <a:gd name="T60" fmla="*/ 5 w 365"/>
                <a:gd name="T61" fmla="*/ 86 h 199"/>
                <a:gd name="T62" fmla="*/ 10 w 365"/>
                <a:gd name="T63" fmla="*/ 59 h 199"/>
                <a:gd name="T64" fmla="*/ 17 w 365"/>
                <a:gd name="T65" fmla="*/ 35 h 199"/>
                <a:gd name="T66" fmla="*/ 28 w 365"/>
                <a:gd name="T67" fmla="*/ 10 h 199"/>
                <a:gd name="T68" fmla="*/ 30 w 36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5" h="199">
                  <a:moveTo>
                    <a:pt x="365" y="99"/>
                  </a:moveTo>
                  <a:lnTo>
                    <a:pt x="363" y="86"/>
                  </a:lnTo>
                  <a:lnTo>
                    <a:pt x="363" y="73"/>
                  </a:lnTo>
                  <a:lnTo>
                    <a:pt x="360" y="59"/>
                  </a:lnTo>
                  <a:lnTo>
                    <a:pt x="356" y="46"/>
                  </a:lnTo>
                  <a:lnTo>
                    <a:pt x="353" y="35"/>
                  </a:lnTo>
                  <a:lnTo>
                    <a:pt x="346" y="21"/>
                  </a:lnTo>
                  <a:lnTo>
                    <a:pt x="341" y="10"/>
                  </a:lnTo>
                  <a:lnTo>
                    <a:pt x="335" y="0"/>
                  </a:lnTo>
                  <a:lnTo>
                    <a:pt x="328" y="0"/>
                  </a:lnTo>
                  <a:lnTo>
                    <a:pt x="336" y="10"/>
                  </a:lnTo>
                  <a:lnTo>
                    <a:pt x="341" y="21"/>
                  </a:lnTo>
                  <a:lnTo>
                    <a:pt x="346" y="35"/>
                  </a:lnTo>
                  <a:lnTo>
                    <a:pt x="351" y="46"/>
                  </a:lnTo>
                  <a:lnTo>
                    <a:pt x="355" y="59"/>
                  </a:lnTo>
                  <a:lnTo>
                    <a:pt x="358" y="73"/>
                  </a:lnTo>
                  <a:lnTo>
                    <a:pt x="360" y="86"/>
                  </a:lnTo>
                  <a:lnTo>
                    <a:pt x="360" y="99"/>
                  </a:lnTo>
                  <a:lnTo>
                    <a:pt x="360" y="112"/>
                  </a:lnTo>
                  <a:lnTo>
                    <a:pt x="358" y="126"/>
                  </a:lnTo>
                  <a:lnTo>
                    <a:pt x="355" y="139"/>
                  </a:lnTo>
                  <a:lnTo>
                    <a:pt x="351" y="152"/>
                  </a:lnTo>
                  <a:lnTo>
                    <a:pt x="346" y="164"/>
                  </a:lnTo>
                  <a:lnTo>
                    <a:pt x="341" y="175"/>
                  </a:lnTo>
                  <a:lnTo>
                    <a:pt x="336" y="187"/>
                  </a:lnTo>
                  <a:lnTo>
                    <a:pt x="328" y="199"/>
                  </a:lnTo>
                  <a:lnTo>
                    <a:pt x="335" y="199"/>
                  </a:lnTo>
                  <a:lnTo>
                    <a:pt x="341" y="187"/>
                  </a:lnTo>
                  <a:lnTo>
                    <a:pt x="346" y="175"/>
                  </a:lnTo>
                  <a:lnTo>
                    <a:pt x="353" y="164"/>
                  </a:lnTo>
                  <a:lnTo>
                    <a:pt x="356" y="152"/>
                  </a:lnTo>
                  <a:lnTo>
                    <a:pt x="360" y="139"/>
                  </a:lnTo>
                  <a:lnTo>
                    <a:pt x="363" y="126"/>
                  </a:lnTo>
                  <a:lnTo>
                    <a:pt x="363" y="112"/>
                  </a:lnTo>
                  <a:lnTo>
                    <a:pt x="365" y="99"/>
                  </a:lnTo>
                  <a:close/>
                  <a:moveTo>
                    <a:pt x="30" y="0"/>
                  </a:moveTo>
                  <a:lnTo>
                    <a:pt x="23" y="10"/>
                  </a:lnTo>
                  <a:lnTo>
                    <a:pt x="17" y="21"/>
                  </a:lnTo>
                  <a:lnTo>
                    <a:pt x="12" y="35"/>
                  </a:lnTo>
                  <a:lnTo>
                    <a:pt x="9" y="46"/>
                  </a:lnTo>
                  <a:lnTo>
                    <a:pt x="5" y="59"/>
                  </a:lnTo>
                  <a:lnTo>
                    <a:pt x="2" y="73"/>
                  </a:lnTo>
                  <a:lnTo>
                    <a:pt x="0" y="86"/>
                  </a:lnTo>
                  <a:lnTo>
                    <a:pt x="0" y="99"/>
                  </a:lnTo>
                  <a:lnTo>
                    <a:pt x="0" y="112"/>
                  </a:lnTo>
                  <a:lnTo>
                    <a:pt x="2" y="126"/>
                  </a:lnTo>
                  <a:lnTo>
                    <a:pt x="5" y="139"/>
                  </a:lnTo>
                  <a:lnTo>
                    <a:pt x="9" y="152"/>
                  </a:lnTo>
                  <a:lnTo>
                    <a:pt x="12" y="164"/>
                  </a:lnTo>
                  <a:lnTo>
                    <a:pt x="17" y="175"/>
                  </a:lnTo>
                  <a:lnTo>
                    <a:pt x="23" y="187"/>
                  </a:lnTo>
                  <a:lnTo>
                    <a:pt x="30" y="199"/>
                  </a:lnTo>
                  <a:lnTo>
                    <a:pt x="35" y="199"/>
                  </a:lnTo>
                  <a:lnTo>
                    <a:pt x="28" y="187"/>
                  </a:lnTo>
                  <a:lnTo>
                    <a:pt x="22" y="175"/>
                  </a:lnTo>
                  <a:lnTo>
                    <a:pt x="17" y="164"/>
                  </a:lnTo>
                  <a:lnTo>
                    <a:pt x="13" y="152"/>
                  </a:lnTo>
                  <a:lnTo>
                    <a:pt x="10" y="139"/>
                  </a:lnTo>
                  <a:lnTo>
                    <a:pt x="7" y="126"/>
                  </a:lnTo>
                  <a:lnTo>
                    <a:pt x="5" y="112"/>
                  </a:lnTo>
                  <a:lnTo>
                    <a:pt x="5" y="99"/>
                  </a:lnTo>
                  <a:lnTo>
                    <a:pt x="5" y="86"/>
                  </a:lnTo>
                  <a:lnTo>
                    <a:pt x="7" y="73"/>
                  </a:lnTo>
                  <a:lnTo>
                    <a:pt x="10" y="59"/>
                  </a:lnTo>
                  <a:lnTo>
                    <a:pt x="13" y="46"/>
                  </a:lnTo>
                  <a:lnTo>
                    <a:pt x="17" y="35"/>
                  </a:lnTo>
                  <a:lnTo>
                    <a:pt x="22" y="21"/>
                  </a:lnTo>
                  <a:lnTo>
                    <a:pt x="28" y="10"/>
                  </a:lnTo>
                  <a:lnTo>
                    <a:pt x="35" y="0"/>
                  </a:lnTo>
                  <a:lnTo>
                    <a:pt x="30"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66" name="Freeform 206">
              <a:extLst>
                <a:ext uri="{FF2B5EF4-FFF2-40B4-BE49-F238E27FC236}">
                  <a16:creationId xmlns:a16="http://schemas.microsoft.com/office/drawing/2014/main" id="{EBA0AF62-612C-A6B0-1F07-719C787EBD68}"/>
                </a:ext>
              </a:extLst>
            </p:cNvPr>
            <p:cNvSpPr>
              <a:spLocks noEditPoints="1"/>
            </p:cNvSpPr>
            <p:nvPr/>
          </p:nvSpPr>
          <p:spPr bwMode="auto">
            <a:xfrm>
              <a:off x="1656" y="1514"/>
              <a:ext cx="359" cy="199"/>
            </a:xfrm>
            <a:custGeom>
              <a:avLst/>
              <a:gdLst>
                <a:gd name="T0" fmla="*/ 359 w 359"/>
                <a:gd name="T1" fmla="*/ 86 h 199"/>
                <a:gd name="T2" fmla="*/ 356 w 359"/>
                <a:gd name="T3" fmla="*/ 59 h 199"/>
                <a:gd name="T4" fmla="*/ 348 w 359"/>
                <a:gd name="T5" fmla="*/ 35 h 199"/>
                <a:gd name="T6" fmla="*/ 336 w 359"/>
                <a:gd name="T7" fmla="*/ 10 h 199"/>
                <a:gd name="T8" fmla="*/ 324 w 359"/>
                <a:gd name="T9" fmla="*/ 0 h 199"/>
                <a:gd name="T10" fmla="*/ 338 w 359"/>
                <a:gd name="T11" fmla="*/ 21 h 199"/>
                <a:gd name="T12" fmla="*/ 346 w 359"/>
                <a:gd name="T13" fmla="*/ 46 h 199"/>
                <a:gd name="T14" fmla="*/ 353 w 359"/>
                <a:gd name="T15" fmla="*/ 73 h 199"/>
                <a:gd name="T16" fmla="*/ 354 w 359"/>
                <a:gd name="T17" fmla="*/ 99 h 199"/>
                <a:gd name="T18" fmla="*/ 353 w 359"/>
                <a:gd name="T19" fmla="*/ 126 h 199"/>
                <a:gd name="T20" fmla="*/ 346 w 359"/>
                <a:gd name="T21" fmla="*/ 152 h 199"/>
                <a:gd name="T22" fmla="*/ 338 w 359"/>
                <a:gd name="T23" fmla="*/ 175 h 199"/>
                <a:gd name="T24" fmla="*/ 324 w 359"/>
                <a:gd name="T25" fmla="*/ 199 h 199"/>
                <a:gd name="T26" fmla="*/ 336 w 359"/>
                <a:gd name="T27" fmla="*/ 187 h 199"/>
                <a:gd name="T28" fmla="*/ 348 w 359"/>
                <a:gd name="T29" fmla="*/ 164 h 199"/>
                <a:gd name="T30" fmla="*/ 356 w 359"/>
                <a:gd name="T31" fmla="*/ 139 h 199"/>
                <a:gd name="T32" fmla="*/ 359 w 359"/>
                <a:gd name="T33" fmla="*/ 112 h 199"/>
                <a:gd name="T34" fmla="*/ 31 w 359"/>
                <a:gd name="T35" fmla="*/ 0 h 199"/>
                <a:gd name="T36" fmla="*/ 18 w 359"/>
                <a:gd name="T37" fmla="*/ 21 h 199"/>
                <a:gd name="T38" fmla="*/ 8 w 359"/>
                <a:gd name="T39" fmla="*/ 46 h 199"/>
                <a:gd name="T40" fmla="*/ 3 w 359"/>
                <a:gd name="T41" fmla="*/ 73 h 199"/>
                <a:gd name="T42" fmla="*/ 0 w 359"/>
                <a:gd name="T43" fmla="*/ 99 h 199"/>
                <a:gd name="T44" fmla="*/ 3 w 359"/>
                <a:gd name="T45" fmla="*/ 126 h 199"/>
                <a:gd name="T46" fmla="*/ 8 w 359"/>
                <a:gd name="T47" fmla="*/ 152 h 199"/>
                <a:gd name="T48" fmla="*/ 18 w 359"/>
                <a:gd name="T49" fmla="*/ 175 h 199"/>
                <a:gd name="T50" fmla="*/ 31 w 359"/>
                <a:gd name="T51" fmla="*/ 199 h 199"/>
                <a:gd name="T52" fmla="*/ 30 w 359"/>
                <a:gd name="T53" fmla="*/ 187 h 199"/>
                <a:gd name="T54" fmla="*/ 18 w 359"/>
                <a:gd name="T55" fmla="*/ 164 h 199"/>
                <a:gd name="T56" fmla="*/ 10 w 359"/>
                <a:gd name="T57" fmla="*/ 139 h 199"/>
                <a:gd name="T58" fmla="*/ 7 w 359"/>
                <a:gd name="T59" fmla="*/ 112 h 199"/>
                <a:gd name="T60" fmla="*/ 7 w 359"/>
                <a:gd name="T61" fmla="*/ 86 h 199"/>
                <a:gd name="T62" fmla="*/ 10 w 359"/>
                <a:gd name="T63" fmla="*/ 59 h 199"/>
                <a:gd name="T64" fmla="*/ 18 w 359"/>
                <a:gd name="T65" fmla="*/ 33 h 199"/>
                <a:gd name="T66" fmla="*/ 30 w 359"/>
                <a:gd name="T67" fmla="*/ 10 h 199"/>
                <a:gd name="T68" fmla="*/ 31 w 35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9" h="199">
                  <a:moveTo>
                    <a:pt x="359" y="99"/>
                  </a:moveTo>
                  <a:lnTo>
                    <a:pt x="359" y="86"/>
                  </a:lnTo>
                  <a:lnTo>
                    <a:pt x="358" y="73"/>
                  </a:lnTo>
                  <a:lnTo>
                    <a:pt x="356" y="59"/>
                  </a:lnTo>
                  <a:lnTo>
                    <a:pt x="353" y="46"/>
                  </a:lnTo>
                  <a:lnTo>
                    <a:pt x="348" y="35"/>
                  </a:lnTo>
                  <a:lnTo>
                    <a:pt x="343" y="21"/>
                  </a:lnTo>
                  <a:lnTo>
                    <a:pt x="336" y="10"/>
                  </a:lnTo>
                  <a:lnTo>
                    <a:pt x="329" y="0"/>
                  </a:lnTo>
                  <a:lnTo>
                    <a:pt x="324" y="0"/>
                  </a:lnTo>
                  <a:lnTo>
                    <a:pt x="331" y="10"/>
                  </a:lnTo>
                  <a:lnTo>
                    <a:pt x="338" y="21"/>
                  </a:lnTo>
                  <a:lnTo>
                    <a:pt x="343" y="33"/>
                  </a:lnTo>
                  <a:lnTo>
                    <a:pt x="346" y="46"/>
                  </a:lnTo>
                  <a:lnTo>
                    <a:pt x="351" y="59"/>
                  </a:lnTo>
                  <a:lnTo>
                    <a:pt x="353" y="73"/>
                  </a:lnTo>
                  <a:lnTo>
                    <a:pt x="354" y="86"/>
                  </a:lnTo>
                  <a:lnTo>
                    <a:pt x="354" y="99"/>
                  </a:lnTo>
                  <a:lnTo>
                    <a:pt x="354" y="112"/>
                  </a:lnTo>
                  <a:lnTo>
                    <a:pt x="353" y="126"/>
                  </a:lnTo>
                  <a:lnTo>
                    <a:pt x="351" y="139"/>
                  </a:lnTo>
                  <a:lnTo>
                    <a:pt x="346" y="152"/>
                  </a:lnTo>
                  <a:lnTo>
                    <a:pt x="343" y="164"/>
                  </a:lnTo>
                  <a:lnTo>
                    <a:pt x="338" y="175"/>
                  </a:lnTo>
                  <a:lnTo>
                    <a:pt x="331" y="187"/>
                  </a:lnTo>
                  <a:lnTo>
                    <a:pt x="324" y="199"/>
                  </a:lnTo>
                  <a:lnTo>
                    <a:pt x="329" y="199"/>
                  </a:lnTo>
                  <a:lnTo>
                    <a:pt x="336" y="187"/>
                  </a:lnTo>
                  <a:lnTo>
                    <a:pt x="343" y="175"/>
                  </a:lnTo>
                  <a:lnTo>
                    <a:pt x="348" y="164"/>
                  </a:lnTo>
                  <a:lnTo>
                    <a:pt x="353" y="152"/>
                  </a:lnTo>
                  <a:lnTo>
                    <a:pt x="356" y="139"/>
                  </a:lnTo>
                  <a:lnTo>
                    <a:pt x="358" y="126"/>
                  </a:lnTo>
                  <a:lnTo>
                    <a:pt x="359" y="112"/>
                  </a:lnTo>
                  <a:lnTo>
                    <a:pt x="359" y="99"/>
                  </a:lnTo>
                  <a:close/>
                  <a:moveTo>
                    <a:pt x="31" y="0"/>
                  </a:moveTo>
                  <a:lnTo>
                    <a:pt x="23" y="10"/>
                  </a:lnTo>
                  <a:lnTo>
                    <a:pt x="18" y="21"/>
                  </a:lnTo>
                  <a:lnTo>
                    <a:pt x="13" y="35"/>
                  </a:lnTo>
                  <a:lnTo>
                    <a:pt x="8" y="46"/>
                  </a:lnTo>
                  <a:lnTo>
                    <a:pt x="5" y="59"/>
                  </a:lnTo>
                  <a:lnTo>
                    <a:pt x="3" y="73"/>
                  </a:lnTo>
                  <a:lnTo>
                    <a:pt x="2" y="86"/>
                  </a:lnTo>
                  <a:lnTo>
                    <a:pt x="0" y="99"/>
                  </a:lnTo>
                  <a:lnTo>
                    <a:pt x="2" y="112"/>
                  </a:lnTo>
                  <a:lnTo>
                    <a:pt x="3" y="126"/>
                  </a:lnTo>
                  <a:lnTo>
                    <a:pt x="5" y="139"/>
                  </a:lnTo>
                  <a:lnTo>
                    <a:pt x="8" y="152"/>
                  </a:lnTo>
                  <a:lnTo>
                    <a:pt x="13" y="164"/>
                  </a:lnTo>
                  <a:lnTo>
                    <a:pt x="18" y="175"/>
                  </a:lnTo>
                  <a:lnTo>
                    <a:pt x="23" y="187"/>
                  </a:lnTo>
                  <a:lnTo>
                    <a:pt x="31" y="199"/>
                  </a:lnTo>
                  <a:lnTo>
                    <a:pt x="36" y="199"/>
                  </a:lnTo>
                  <a:lnTo>
                    <a:pt x="30" y="187"/>
                  </a:lnTo>
                  <a:lnTo>
                    <a:pt x="23" y="175"/>
                  </a:lnTo>
                  <a:lnTo>
                    <a:pt x="18" y="164"/>
                  </a:lnTo>
                  <a:lnTo>
                    <a:pt x="13" y="152"/>
                  </a:lnTo>
                  <a:lnTo>
                    <a:pt x="10" y="139"/>
                  </a:lnTo>
                  <a:lnTo>
                    <a:pt x="8" y="126"/>
                  </a:lnTo>
                  <a:lnTo>
                    <a:pt x="7" y="112"/>
                  </a:lnTo>
                  <a:lnTo>
                    <a:pt x="5" y="99"/>
                  </a:lnTo>
                  <a:lnTo>
                    <a:pt x="7" y="86"/>
                  </a:lnTo>
                  <a:lnTo>
                    <a:pt x="8" y="73"/>
                  </a:lnTo>
                  <a:lnTo>
                    <a:pt x="10" y="59"/>
                  </a:lnTo>
                  <a:lnTo>
                    <a:pt x="13" y="46"/>
                  </a:lnTo>
                  <a:lnTo>
                    <a:pt x="18" y="33"/>
                  </a:lnTo>
                  <a:lnTo>
                    <a:pt x="23" y="21"/>
                  </a:lnTo>
                  <a:lnTo>
                    <a:pt x="30" y="10"/>
                  </a:lnTo>
                  <a:lnTo>
                    <a:pt x="36" y="0"/>
                  </a:lnTo>
                  <a:lnTo>
                    <a:pt x="31"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67" name="Freeform 207">
              <a:extLst>
                <a:ext uri="{FF2B5EF4-FFF2-40B4-BE49-F238E27FC236}">
                  <a16:creationId xmlns:a16="http://schemas.microsoft.com/office/drawing/2014/main" id="{608346A3-58EA-D386-AEA4-056C9F9A5FD8}"/>
                </a:ext>
              </a:extLst>
            </p:cNvPr>
            <p:cNvSpPr>
              <a:spLocks noEditPoints="1"/>
            </p:cNvSpPr>
            <p:nvPr/>
          </p:nvSpPr>
          <p:spPr bwMode="auto">
            <a:xfrm>
              <a:off x="1659" y="1514"/>
              <a:ext cx="355" cy="199"/>
            </a:xfrm>
            <a:custGeom>
              <a:avLst/>
              <a:gdLst>
                <a:gd name="T0" fmla="*/ 355 w 355"/>
                <a:gd name="T1" fmla="*/ 86 h 199"/>
                <a:gd name="T2" fmla="*/ 350 w 355"/>
                <a:gd name="T3" fmla="*/ 59 h 199"/>
                <a:gd name="T4" fmla="*/ 341 w 355"/>
                <a:gd name="T5" fmla="*/ 35 h 199"/>
                <a:gd name="T6" fmla="*/ 331 w 355"/>
                <a:gd name="T7" fmla="*/ 10 h 199"/>
                <a:gd name="T8" fmla="*/ 318 w 355"/>
                <a:gd name="T9" fmla="*/ 0 h 199"/>
                <a:gd name="T10" fmla="*/ 331 w 355"/>
                <a:gd name="T11" fmla="*/ 21 h 199"/>
                <a:gd name="T12" fmla="*/ 341 w 355"/>
                <a:gd name="T13" fmla="*/ 46 h 199"/>
                <a:gd name="T14" fmla="*/ 348 w 355"/>
                <a:gd name="T15" fmla="*/ 71 h 199"/>
                <a:gd name="T16" fmla="*/ 350 w 355"/>
                <a:gd name="T17" fmla="*/ 99 h 199"/>
                <a:gd name="T18" fmla="*/ 348 w 355"/>
                <a:gd name="T19" fmla="*/ 126 h 199"/>
                <a:gd name="T20" fmla="*/ 341 w 355"/>
                <a:gd name="T21" fmla="*/ 152 h 199"/>
                <a:gd name="T22" fmla="*/ 331 w 355"/>
                <a:gd name="T23" fmla="*/ 177 h 199"/>
                <a:gd name="T24" fmla="*/ 318 w 355"/>
                <a:gd name="T25" fmla="*/ 199 h 199"/>
                <a:gd name="T26" fmla="*/ 331 w 355"/>
                <a:gd name="T27" fmla="*/ 187 h 199"/>
                <a:gd name="T28" fmla="*/ 341 w 355"/>
                <a:gd name="T29" fmla="*/ 164 h 199"/>
                <a:gd name="T30" fmla="*/ 350 w 355"/>
                <a:gd name="T31" fmla="*/ 139 h 199"/>
                <a:gd name="T32" fmla="*/ 355 w 355"/>
                <a:gd name="T33" fmla="*/ 112 h 199"/>
                <a:gd name="T34" fmla="*/ 30 w 355"/>
                <a:gd name="T35" fmla="*/ 0 h 199"/>
                <a:gd name="T36" fmla="*/ 17 w 355"/>
                <a:gd name="T37" fmla="*/ 21 h 199"/>
                <a:gd name="T38" fmla="*/ 8 w 355"/>
                <a:gd name="T39" fmla="*/ 46 h 199"/>
                <a:gd name="T40" fmla="*/ 2 w 355"/>
                <a:gd name="T41" fmla="*/ 73 h 199"/>
                <a:gd name="T42" fmla="*/ 0 w 355"/>
                <a:gd name="T43" fmla="*/ 99 h 199"/>
                <a:gd name="T44" fmla="*/ 2 w 355"/>
                <a:gd name="T45" fmla="*/ 126 h 199"/>
                <a:gd name="T46" fmla="*/ 8 w 355"/>
                <a:gd name="T47" fmla="*/ 152 h 199"/>
                <a:gd name="T48" fmla="*/ 17 w 355"/>
                <a:gd name="T49" fmla="*/ 175 h 199"/>
                <a:gd name="T50" fmla="*/ 30 w 355"/>
                <a:gd name="T51" fmla="*/ 199 h 199"/>
                <a:gd name="T52" fmla="*/ 30 w 355"/>
                <a:gd name="T53" fmla="*/ 187 h 199"/>
                <a:gd name="T54" fmla="*/ 17 w 355"/>
                <a:gd name="T55" fmla="*/ 164 h 199"/>
                <a:gd name="T56" fmla="*/ 10 w 355"/>
                <a:gd name="T57" fmla="*/ 139 h 199"/>
                <a:gd name="T58" fmla="*/ 5 w 355"/>
                <a:gd name="T59" fmla="*/ 112 h 199"/>
                <a:gd name="T60" fmla="*/ 5 w 355"/>
                <a:gd name="T61" fmla="*/ 86 h 199"/>
                <a:gd name="T62" fmla="*/ 10 w 355"/>
                <a:gd name="T63" fmla="*/ 59 h 199"/>
                <a:gd name="T64" fmla="*/ 17 w 355"/>
                <a:gd name="T65" fmla="*/ 33 h 199"/>
                <a:gd name="T66" fmla="*/ 30 w 355"/>
                <a:gd name="T67" fmla="*/ 10 h 199"/>
                <a:gd name="T68" fmla="*/ 30 w 35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5" h="199">
                  <a:moveTo>
                    <a:pt x="355" y="99"/>
                  </a:moveTo>
                  <a:lnTo>
                    <a:pt x="355" y="86"/>
                  </a:lnTo>
                  <a:lnTo>
                    <a:pt x="353" y="73"/>
                  </a:lnTo>
                  <a:lnTo>
                    <a:pt x="350" y="59"/>
                  </a:lnTo>
                  <a:lnTo>
                    <a:pt x="346" y="46"/>
                  </a:lnTo>
                  <a:lnTo>
                    <a:pt x="341" y="35"/>
                  </a:lnTo>
                  <a:lnTo>
                    <a:pt x="336" y="21"/>
                  </a:lnTo>
                  <a:lnTo>
                    <a:pt x="331" y="10"/>
                  </a:lnTo>
                  <a:lnTo>
                    <a:pt x="323" y="0"/>
                  </a:lnTo>
                  <a:lnTo>
                    <a:pt x="318" y="0"/>
                  </a:lnTo>
                  <a:lnTo>
                    <a:pt x="325" y="10"/>
                  </a:lnTo>
                  <a:lnTo>
                    <a:pt x="331" y="21"/>
                  </a:lnTo>
                  <a:lnTo>
                    <a:pt x="336" y="33"/>
                  </a:lnTo>
                  <a:lnTo>
                    <a:pt x="341" y="46"/>
                  </a:lnTo>
                  <a:lnTo>
                    <a:pt x="345" y="59"/>
                  </a:lnTo>
                  <a:lnTo>
                    <a:pt x="348" y="71"/>
                  </a:lnTo>
                  <a:lnTo>
                    <a:pt x="350" y="86"/>
                  </a:lnTo>
                  <a:lnTo>
                    <a:pt x="350" y="99"/>
                  </a:lnTo>
                  <a:lnTo>
                    <a:pt x="350" y="112"/>
                  </a:lnTo>
                  <a:lnTo>
                    <a:pt x="348" y="126"/>
                  </a:lnTo>
                  <a:lnTo>
                    <a:pt x="345" y="139"/>
                  </a:lnTo>
                  <a:lnTo>
                    <a:pt x="341" y="152"/>
                  </a:lnTo>
                  <a:lnTo>
                    <a:pt x="336" y="164"/>
                  </a:lnTo>
                  <a:lnTo>
                    <a:pt x="331" y="177"/>
                  </a:lnTo>
                  <a:lnTo>
                    <a:pt x="325" y="187"/>
                  </a:lnTo>
                  <a:lnTo>
                    <a:pt x="318" y="199"/>
                  </a:lnTo>
                  <a:lnTo>
                    <a:pt x="323" y="199"/>
                  </a:lnTo>
                  <a:lnTo>
                    <a:pt x="331" y="187"/>
                  </a:lnTo>
                  <a:lnTo>
                    <a:pt x="336" y="175"/>
                  </a:lnTo>
                  <a:lnTo>
                    <a:pt x="341" y="164"/>
                  </a:lnTo>
                  <a:lnTo>
                    <a:pt x="346" y="152"/>
                  </a:lnTo>
                  <a:lnTo>
                    <a:pt x="350" y="139"/>
                  </a:lnTo>
                  <a:lnTo>
                    <a:pt x="353" y="126"/>
                  </a:lnTo>
                  <a:lnTo>
                    <a:pt x="355" y="112"/>
                  </a:lnTo>
                  <a:lnTo>
                    <a:pt x="355" y="99"/>
                  </a:lnTo>
                  <a:close/>
                  <a:moveTo>
                    <a:pt x="30" y="0"/>
                  </a:moveTo>
                  <a:lnTo>
                    <a:pt x="23" y="10"/>
                  </a:lnTo>
                  <a:lnTo>
                    <a:pt x="17" y="21"/>
                  </a:lnTo>
                  <a:lnTo>
                    <a:pt x="12" y="35"/>
                  </a:lnTo>
                  <a:lnTo>
                    <a:pt x="8" y="46"/>
                  </a:lnTo>
                  <a:lnTo>
                    <a:pt x="5" y="59"/>
                  </a:lnTo>
                  <a:lnTo>
                    <a:pt x="2" y="73"/>
                  </a:lnTo>
                  <a:lnTo>
                    <a:pt x="0" y="86"/>
                  </a:lnTo>
                  <a:lnTo>
                    <a:pt x="0" y="99"/>
                  </a:lnTo>
                  <a:lnTo>
                    <a:pt x="0" y="112"/>
                  </a:lnTo>
                  <a:lnTo>
                    <a:pt x="2" y="126"/>
                  </a:lnTo>
                  <a:lnTo>
                    <a:pt x="5" y="139"/>
                  </a:lnTo>
                  <a:lnTo>
                    <a:pt x="8" y="152"/>
                  </a:lnTo>
                  <a:lnTo>
                    <a:pt x="12" y="164"/>
                  </a:lnTo>
                  <a:lnTo>
                    <a:pt x="17" y="175"/>
                  </a:lnTo>
                  <a:lnTo>
                    <a:pt x="23" y="187"/>
                  </a:lnTo>
                  <a:lnTo>
                    <a:pt x="30" y="199"/>
                  </a:lnTo>
                  <a:lnTo>
                    <a:pt x="37" y="199"/>
                  </a:lnTo>
                  <a:lnTo>
                    <a:pt x="30" y="187"/>
                  </a:lnTo>
                  <a:lnTo>
                    <a:pt x="23" y="177"/>
                  </a:lnTo>
                  <a:lnTo>
                    <a:pt x="17" y="164"/>
                  </a:lnTo>
                  <a:lnTo>
                    <a:pt x="13" y="152"/>
                  </a:lnTo>
                  <a:lnTo>
                    <a:pt x="10" y="139"/>
                  </a:lnTo>
                  <a:lnTo>
                    <a:pt x="7" y="126"/>
                  </a:lnTo>
                  <a:lnTo>
                    <a:pt x="5" y="112"/>
                  </a:lnTo>
                  <a:lnTo>
                    <a:pt x="5" y="99"/>
                  </a:lnTo>
                  <a:lnTo>
                    <a:pt x="5" y="86"/>
                  </a:lnTo>
                  <a:lnTo>
                    <a:pt x="7" y="71"/>
                  </a:lnTo>
                  <a:lnTo>
                    <a:pt x="10" y="59"/>
                  </a:lnTo>
                  <a:lnTo>
                    <a:pt x="13" y="46"/>
                  </a:lnTo>
                  <a:lnTo>
                    <a:pt x="17" y="33"/>
                  </a:lnTo>
                  <a:lnTo>
                    <a:pt x="23" y="21"/>
                  </a:lnTo>
                  <a:lnTo>
                    <a:pt x="30" y="10"/>
                  </a:lnTo>
                  <a:lnTo>
                    <a:pt x="37" y="0"/>
                  </a:lnTo>
                  <a:lnTo>
                    <a:pt x="30"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68" name="Freeform 208">
              <a:extLst>
                <a:ext uri="{FF2B5EF4-FFF2-40B4-BE49-F238E27FC236}">
                  <a16:creationId xmlns:a16="http://schemas.microsoft.com/office/drawing/2014/main" id="{4992D044-E9F0-B8CD-64CB-60F192643A2E}"/>
                </a:ext>
              </a:extLst>
            </p:cNvPr>
            <p:cNvSpPr>
              <a:spLocks noEditPoints="1"/>
            </p:cNvSpPr>
            <p:nvPr/>
          </p:nvSpPr>
          <p:spPr bwMode="auto">
            <a:xfrm>
              <a:off x="1661" y="1514"/>
              <a:ext cx="349" cy="199"/>
            </a:xfrm>
            <a:custGeom>
              <a:avLst/>
              <a:gdLst>
                <a:gd name="T0" fmla="*/ 349 w 349"/>
                <a:gd name="T1" fmla="*/ 86 h 199"/>
                <a:gd name="T2" fmla="*/ 346 w 349"/>
                <a:gd name="T3" fmla="*/ 59 h 199"/>
                <a:gd name="T4" fmla="*/ 338 w 349"/>
                <a:gd name="T5" fmla="*/ 33 h 199"/>
                <a:gd name="T6" fmla="*/ 326 w 349"/>
                <a:gd name="T7" fmla="*/ 10 h 199"/>
                <a:gd name="T8" fmla="*/ 313 w 349"/>
                <a:gd name="T9" fmla="*/ 0 h 199"/>
                <a:gd name="T10" fmla="*/ 326 w 349"/>
                <a:gd name="T11" fmla="*/ 21 h 199"/>
                <a:gd name="T12" fmla="*/ 336 w 349"/>
                <a:gd name="T13" fmla="*/ 46 h 199"/>
                <a:gd name="T14" fmla="*/ 343 w 349"/>
                <a:gd name="T15" fmla="*/ 71 h 199"/>
                <a:gd name="T16" fmla="*/ 346 w 349"/>
                <a:gd name="T17" fmla="*/ 99 h 199"/>
                <a:gd name="T18" fmla="*/ 343 w 349"/>
                <a:gd name="T19" fmla="*/ 126 h 199"/>
                <a:gd name="T20" fmla="*/ 336 w 349"/>
                <a:gd name="T21" fmla="*/ 152 h 199"/>
                <a:gd name="T22" fmla="*/ 326 w 349"/>
                <a:gd name="T23" fmla="*/ 177 h 199"/>
                <a:gd name="T24" fmla="*/ 313 w 349"/>
                <a:gd name="T25" fmla="*/ 199 h 199"/>
                <a:gd name="T26" fmla="*/ 326 w 349"/>
                <a:gd name="T27" fmla="*/ 187 h 199"/>
                <a:gd name="T28" fmla="*/ 338 w 349"/>
                <a:gd name="T29" fmla="*/ 164 h 199"/>
                <a:gd name="T30" fmla="*/ 346 w 349"/>
                <a:gd name="T31" fmla="*/ 139 h 199"/>
                <a:gd name="T32" fmla="*/ 349 w 349"/>
                <a:gd name="T33" fmla="*/ 112 h 199"/>
                <a:gd name="T34" fmla="*/ 31 w 349"/>
                <a:gd name="T35" fmla="*/ 0 h 199"/>
                <a:gd name="T36" fmla="*/ 18 w 349"/>
                <a:gd name="T37" fmla="*/ 21 h 199"/>
                <a:gd name="T38" fmla="*/ 8 w 349"/>
                <a:gd name="T39" fmla="*/ 46 h 199"/>
                <a:gd name="T40" fmla="*/ 3 w 349"/>
                <a:gd name="T41" fmla="*/ 73 h 199"/>
                <a:gd name="T42" fmla="*/ 0 w 349"/>
                <a:gd name="T43" fmla="*/ 99 h 199"/>
                <a:gd name="T44" fmla="*/ 3 w 349"/>
                <a:gd name="T45" fmla="*/ 126 h 199"/>
                <a:gd name="T46" fmla="*/ 8 w 349"/>
                <a:gd name="T47" fmla="*/ 152 h 199"/>
                <a:gd name="T48" fmla="*/ 18 w 349"/>
                <a:gd name="T49" fmla="*/ 175 h 199"/>
                <a:gd name="T50" fmla="*/ 31 w 349"/>
                <a:gd name="T51" fmla="*/ 199 h 199"/>
                <a:gd name="T52" fmla="*/ 30 w 349"/>
                <a:gd name="T53" fmla="*/ 187 h 199"/>
                <a:gd name="T54" fmla="*/ 18 w 349"/>
                <a:gd name="T55" fmla="*/ 164 h 199"/>
                <a:gd name="T56" fmla="*/ 10 w 349"/>
                <a:gd name="T57" fmla="*/ 139 h 199"/>
                <a:gd name="T58" fmla="*/ 6 w 349"/>
                <a:gd name="T59" fmla="*/ 112 h 199"/>
                <a:gd name="T60" fmla="*/ 6 w 349"/>
                <a:gd name="T61" fmla="*/ 86 h 199"/>
                <a:gd name="T62" fmla="*/ 10 w 349"/>
                <a:gd name="T63" fmla="*/ 59 h 199"/>
                <a:gd name="T64" fmla="*/ 18 w 349"/>
                <a:gd name="T65" fmla="*/ 33 h 199"/>
                <a:gd name="T66" fmla="*/ 30 w 349"/>
                <a:gd name="T67" fmla="*/ 10 h 199"/>
                <a:gd name="T68" fmla="*/ 31 w 34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9" h="199">
                  <a:moveTo>
                    <a:pt x="349" y="99"/>
                  </a:moveTo>
                  <a:lnTo>
                    <a:pt x="349" y="86"/>
                  </a:lnTo>
                  <a:lnTo>
                    <a:pt x="348" y="73"/>
                  </a:lnTo>
                  <a:lnTo>
                    <a:pt x="346" y="59"/>
                  </a:lnTo>
                  <a:lnTo>
                    <a:pt x="341" y="46"/>
                  </a:lnTo>
                  <a:lnTo>
                    <a:pt x="338" y="33"/>
                  </a:lnTo>
                  <a:lnTo>
                    <a:pt x="333" y="21"/>
                  </a:lnTo>
                  <a:lnTo>
                    <a:pt x="326" y="10"/>
                  </a:lnTo>
                  <a:lnTo>
                    <a:pt x="319" y="0"/>
                  </a:lnTo>
                  <a:lnTo>
                    <a:pt x="313" y="0"/>
                  </a:lnTo>
                  <a:lnTo>
                    <a:pt x="319" y="10"/>
                  </a:lnTo>
                  <a:lnTo>
                    <a:pt x="326" y="21"/>
                  </a:lnTo>
                  <a:lnTo>
                    <a:pt x="333" y="33"/>
                  </a:lnTo>
                  <a:lnTo>
                    <a:pt x="336" y="46"/>
                  </a:lnTo>
                  <a:lnTo>
                    <a:pt x="341" y="59"/>
                  </a:lnTo>
                  <a:lnTo>
                    <a:pt x="343" y="71"/>
                  </a:lnTo>
                  <a:lnTo>
                    <a:pt x="344" y="86"/>
                  </a:lnTo>
                  <a:lnTo>
                    <a:pt x="346" y="99"/>
                  </a:lnTo>
                  <a:lnTo>
                    <a:pt x="344" y="112"/>
                  </a:lnTo>
                  <a:lnTo>
                    <a:pt x="343" y="126"/>
                  </a:lnTo>
                  <a:lnTo>
                    <a:pt x="341" y="139"/>
                  </a:lnTo>
                  <a:lnTo>
                    <a:pt x="336" y="152"/>
                  </a:lnTo>
                  <a:lnTo>
                    <a:pt x="333" y="164"/>
                  </a:lnTo>
                  <a:lnTo>
                    <a:pt x="326" y="177"/>
                  </a:lnTo>
                  <a:lnTo>
                    <a:pt x="319" y="187"/>
                  </a:lnTo>
                  <a:lnTo>
                    <a:pt x="313" y="199"/>
                  </a:lnTo>
                  <a:lnTo>
                    <a:pt x="319" y="199"/>
                  </a:lnTo>
                  <a:lnTo>
                    <a:pt x="326" y="187"/>
                  </a:lnTo>
                  <a:lnTo>
                    <a:pt x="333" y="175"/>
                  </a:lnTo>
                  <a:lnTo>
                    <a:pt x="338" y="164"/>
                  </a:lnTo>
                  <a:lnTo>
                    <a:pt x="341" y="152"/>
                  </a:lnTo>
                  <a:lnTo>
                    <a:pt x="346" y="139"/>
                  </a:lnTo>
                  <a:lnTo>
                    <a:pt x="348" y="126"/>
                  </a:lnTo>
                  <a:lnTo>
                    <a:pt x="349" y="112"/>
                  </a:lnTo>
                  <a:lnTo>
                    <a:pt x="349" y="99"/>
                  </a:lnTo>
                  <a:close/>
                  <a:moveTo>
                    <a:pt x="31" y="0"/>
                  </a:moveTo>
                  <a:lnTo>
                    <a:pt x="25" y="10"/>
                  </a:lnTo>
                  <a:lnTo>
                    <a:pt x="18" y="21"/>
                  </a:lnTo>
                  <a:lnTo>
                    <a:pt x="13" y="33"/>
                  </a:lnTo>
                  <a:lnTo>
                    <a:pt x="8" y="46"/>
                  </a:lnTo>
                  <a:lnTo>
                    <a:pt x="5" y="59"/>
                  </a:lnTo>
                  <a:lnTo>
                    <a:pt x="3" y="73"/>
                  </a:lnTo>
                  <a:lnTo>
                    <a:pt x="2" y="86"/>
                  </a:lnTo>
                  <a:lnTo>
                    <a:pt x="0" y="99"/>
                  </a:lnTo>
                  <a:lnTo>
                    <a:pt x="2" y="112"/>
                  </a:lnTo>
                  <a:lnTo>
                    <a:pt x="3" y="126"/>
                  </a:lnTo>
                  <a:lnTo>
                    <a:pt x="5" y="139"/>
                  </a:lnTo>
                  <a:lnTo>
                    <a:pt x="8" y="152"/>
                  </a:lnTo>
                  <a:lnTo>
                    <a:pt x="13" y="164"/>
                  </a:lnTo>
                  <a:lnTo>
                    <a:pt x="18" y="175"/>
                  </a:lnTo>
                  <a:lnTo>
                    <a:pt x="25" y="187"/>
                  </a:lnTo>
                  <a:lnTo>
                    <a:pt x="31" y="199"/>
                  </a:lnTo>
                  <a:lnTo>
                    <a:pt x="38" y="199"/>
                  </a:lnTo>
                  <a:lnTo>
                    <a:pt x="30" y="187"/>
                  </a:lnTo>
                  <a:lnTo>
                    <a:pt x="23" y="177"/>
                  </a:lnTo>
                  <a:lnTo>
                    <a:pt x="18" y="164"/>
                  </a:lnTo>
                  <a:lnTo>
                    <a:pt x="13" y="152"/>
                  </a:lnTo>
                  <a:lnTo>
                    <a:pt x="10" y="139"/>
                  </a:lnTo>
                  <a:lnTo>
                    <a:pt x="6" y="126"/>
                  </a:lnTo>
                  <a:lnTo>
                    <a:pt x="6" y="112"/>
                  </a:lnTo>
                  <a:lnTo>
                    <a:pt x="5" y="99"/>
                  </a:lnTo>
                  <a:lnTo>
                    <a:pt x="6" y="86"/>
                  </a:lnTo>
                  <a:lnTo>
                    <a:pt x="6" y="71"/>
                  </a:lnTo>
                  <a:lnTo>
                    <a:pt x="10" y="59"/>
                  </a:lnTo>
                  <a:lnTo>
                    <a:pt x="13" y="46"/>
                  </a:lnTo>
                  <a:lnTo>
                    <a:pt x="18" y="33"/>
                  </a:lnTo>
                  <a:lnTo>
                    <a:pt x="23" y="21"/>
                  </a:lnTo>
                  <a:lnTo>
                    <a:pt x="30" y="10"/>
                  </a:lnTo>
                  <a:lnTo>
                    <a:pt x="38" y="0"/>
                  </a:lnTo>
                  <a:lnTo>
                    <a:pt x="31"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69" name="Freeform 209">
              <a:extLst>
                <a:ext uri="{FF2B5EF4-FFF2-40B4-BE49-F238E27FC236}">
                  <a16:creationId xmlns:a16="http://schemas.microsoft.com/office/drawing/2014/main" id="{9D54CD08-F81A-C7BA-23B4-F8DB59A2BE7A}"/>
                </a:ext>
              </a:extLst>
            </p:cNvPr>
            <p:cNvSpPr>
              <a:spLocks noEditPoints="1"/>
            </p:cNvSpPr>
            <p:nvPr/>
          </p:nvSpPr>
          <p:spPr bwMode="auto">
            <a:xfrm>
              <a:off x="1664" y="1514"/>
              <a:ext cx="345" cy="199"/>
            </a:xfrm>
            <a:custGeom>
              <a:avLst/>
              <a:gdLst>
                <a:gd name="T0" fmla="*/ 345 w 345"/>
                <a:gd name="T1" fmla="*/ 86 h 199"/>
                <a:gd name="T2" fmla="*/ 340 w 345"/>
                <a:gd name="T3" fmla="*/ 59 h 199"/>
                <a:gd name="T4" fmla="*/ 331 w 345"/>
                <a:gd name="T5" fmla="*/ 33 h 199"/>
                <a:gd name="T6" fmla="*/ 320 w 345"/>
                <a:gd name="T7" fmla="*/ 10 h 199"/>
                <a:gd name="T8" fmla="*/ 307 w 345"/>
                <a:gd name="T9" fmla="*/ 0 h 199"/>
                <a:gd name="T10" fmla="*/ 321 w 345"/>
                <a:gd name="T11" fmla="*/ 21 h 199"/>
                <a:gd name="T12" fmla="*/ 331 w 345"/>
                <a:gd name="T13" fmla="*/ 46 h 199"/>
                <a:gd name="T14" fmla="*/ 338 w 345"/>
                <a:gd name="T15" fmla="*/ 71 h 199"/>
                <a:gd name="T16" fmla="*/ 340 w 345"/>
                <a:gd name="T17" fmla="*/ 99 h 199"/>
                <a:gd name="T18" fmla="*/ 338 w 345"/>
                <a:gd name="T19" fmla="*/ 126 h 199"/>
                <a:gd name="T20" fmla="*/ 331 w 345"/>
                <a:gd name="T21" fmla="*/ 152 h 199"/>
                <a:gd name="T22" fmla="*/ 321 w 345"/>
                <a:gd name="T23" fmla="*/ 177 h 199"/>
                <a:gd name="T24" fmla="*/ 307 w 345"/>
                <a:gd name="T25" fmla="*/ 199 h 199"/>
                <a:gd name="T26" fmla="*/ 320 w 345"/>
                <a:gd name="T27" fmla="*/ 187 h 199"/>
                <a:gd name="T28" fmla="*/ 331 w 345"/>
                <a:gd name="T29" fmla="*/ 164 h 199"/>
                <a:gd name="T30" fmla="*/ 340 w 345"/>
                <a:gd name="T31" fmla="*/ 139 h 199"/>
                <a:gd name="T32" fmla="*/ 345 w 345"/>
                <a:gd name="T33" fmla="*/ 112 h 199"/>
                <a:gd name="T34" fmla="*/ 32 w 345"/>
                <a:gd name="T35" fmla="*/ 0 h 199"/>
                <a:gd name="T36" fmla="*/ 18 w 345"/>
                <a:gd name="T37" fmla="*/ 21 h 199"/>
                <a:gd name="T38" fmla="*/ 8 w 345"/>
                <a:gd name="T39" fmla="*/ 46 h 199"/>
                <a:gd name="T40" fmla="*/ 2 w 345"/>
                <a:gd name="T41" fmla="*/ 71 h 199"/>
                <a:gd name="T42" fmla="*/ 0 w 345"/>
                <a:gd name="T43" fmla="*/ 99 h 199"/>
                <a:gd name="T44" fmla="*/ 2 w 345"/>
                <a:gd name="T45" fmla="*/ 126 h 199"/>
                <a:gd name="T46" fmla="*/ 8 w 345"/>
                <a:gd name="T47" fmla="*/ 152 h 199"/>
                <a:gd name="T48" fmla="*/ 18 w 345"/>
                <a:gd name="T49" fmla="*/ 177 h 199"/>
                <a:gd name="T50" fmla="*/ 32 w 345"/>
                <a:gd name="T51" fmla="*/ 199 h 199"/>
                <a:gd name="T52" fmla="*/ 30 w 345"/>
                <a:gd name="T53" fmla="*/ 187 h 199"/>
                <a:gd name="T54" fmla="*/ 18 w 345"/>
                <a:gd name="T55" fmla="*/ 164 h 199"/>
                <a:gd name="T56" fmla="*/ 10 w 345"/>
                <a:gd name="T57" fmla="*/ 139 h 199"/>
                <a:gd name="T58" fmla="*/ 5 w 345"/>
                <a:gd name="T59" fmla="*/ 112 h 199"/>
                <a:gd name="T60" fmla="*/ 5 w 345"/>
                <a:gd name="T61" fmla="*/ 86 h 199"/>
                <a:gd name="T62" fmla="*/ 10 w 345"/>
                <a:gd name="T63" fmla="*/ 58 h 199"/>
                <a:gd name="T64" fmla="*/ 18 w 345"/>
                <a:gd name="T65" fmla="*/ 33 h 199"/>
                <a:gd name="T66" fmla="*/ 30 w 345"/>
                <a:gd name="T67" fmla="*/ 10 h 199"/>
                <a:gd name="T68" fmla="*/ 32 w 34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5" h="199">
                  <a:moveTo>
                    <a:pt x="345" y="99"/>
                  </a:moveTo>
                  <a:lnTo>
                    <a:pt x="345" y="86"/>
                  </a:lnTo>
                  <a:lnTo>
                    <a:pt x="343" y="71"/>
                  </a:lnTo>
                  <a:lnTo>
                    <a:pt x="340" y="59"/>
                  </a:lnTo>
                  <a:lnTo>
                    <a:pt x="336" y="46"/>
                  </a:lnTo>
                  <a:lnTo>
                    <a:pt x="331" y="33"/>
                  </a:lnTo>
                  <a:lnTo>
                    <a:pt x="326" y="21"/>
                  </a:lnTo>
                  <a:lnTo>
                    <a:pt x="320" y="10"/>
                  </a:lnTo>
                  <a:lnTo>
                    <a:pt x="313" y="0"/>
                  </a:lnTo>
                  <a:lnTo>
                    <a:pt x="307" y="0"/>
                  </a:lnTo>
                  <a:lnTo>
                    <a:pt x="315" y="10"/>
                  </a:lnTo>
                  <a:lnTo>
                    <a:pt x="321" y="21"/>
                  </a:lnTo>
                  <a:lnTo>
                    <a:pt x="326" y="33"/>
                  </a:lnTo>
                  <a:lnTo>
                    <a:pt x="331" y="46"/>
                  </a:lnTo>
                  <a:lnTo>
                    <a:pt x="335" y="58"/>
                  </a:lnTo>
                  <a:lnTo>
                    <a:pt x="338" y="71"/>
                  </a:lnTo>
                  <a:lnTo>
                    <a:pt x="340" y="86"/>
                  </a:lnTo>
                  <a:lnTo>
                    <a:pt x="340" y="99"/>
                  </a:lnTo>
                  <a:lnTo>
                    <a:pt x="340" y="112"/>
                  </a:lnTo>
                  <a:lnTo>
                    <a:pt x="338" y="126"/>
                  </a:lnTo>
                  <a:lnTo>
                    <a:pt x="335" y="139"/>
                  </a:lnTo>
                  <a:lnTo>
                    <a:pt x="331" y="152"/>
                  </a:lnTo>
                  <a:lnTo>
                    <a:pt x="326" y="164"/>
                  </a:lnTo>
                  <a:lnTo>
                    <a:pt x="321" y="177"/>
                  </a:lnTo>
                  <a:lnTo>
                    <a:pt x="315" y="187"/>
                  </a:lnTo>
                  <a:lnTo>
                    <a:pt x="307" y="199"/>
                  </a:lnTo>
                  <a:lnTo>
                    <a:pt x="313" y="199"/>
                  </a:lnTo>
                  <a:lnTo>
                    <a:pt x="320" y="187"/>
                  </a:lnTo>
                  <a:lnTo>
                    <a:pt x="326" y="177"/>
                  </a:lnTo>
                  <a:lnTo>
                    <a:pt x="331" y="164"/>
                  </a:lnTo>
                  <a:lnTo>
                    <a:pt x="336" y="152"/>
                  </a:lnTo>
                  <a:lnTo>
                    <a:pt x="340" y="139"/>
                  </a:lnTo>
                  <a:lnTo>
                    <a:pt x="343" y="126"/>
                  </a:lnTo>
                  <a:lnTo>
                    <a:pt x="345" y="112"/>
                  </a:lnTo>
                  <a:lnTo>
                    <a:pt x="345" y="99"/>
                  </a:lnTo>
                  <a:close/>
                  <a:moveTo>
                    <a:pt x="32" y="0"/>
                  </a:moveTo>
                  <a:lnTo>
                    <a:pt x="25" y="10"/>
                  </a:lnTo>
                  <a:lnTo>
                    <a:pt x="18" y="21"/>
                  </a:lnTo>
                  <a:lnTo>
                    <a:pt x="12" y="33"/>
                  </a:lnTo>
                  <a:lnTo>
                    <a:pt x="8" y="46"/>
                  </a:lnTo>
                  <a:lnTo>
                    <a:pt x="5" y="59"/>
                  </a:lnTo>
                  <a:lnTo>
                    <a:pt x="2" y="71"/>
                  </a:lnTo>
                  <a:lnTo>
                    <a:pt x="0" y="86"/>
                  </a:lnTo>
                  <a:lnTo>
                    <a:pt x="0" y="99"/>
                  </a:lnTo>
                  <a:lnTo>
                    <a:pt x="0" y="112"/>
                  </a:lnTo>
                  <a:lnTo>
                    <a:pt x="2" y="126"/>
                  </a:lnTo>
                  <a:lnTo>
                    <a:pt x="5" y="139"/>
                  </a:lnTo>
                  <a:lnTo>
                    <a:pt x="8" y="152"/>
                  </a:lnTo>
                  <a:lnTo>
                    <a:pt x="12" y="164"/>
                  </a:lnTo>
                  <a:lnTo>
                    <a:pt x="18" y="177"/>
                  </a:lnTo>
                  <a:lnTo>
                    <a:pt x="25" y="187"/>
                  </a:lnTo>
                  <a:lnTo>
                    <a:pt x="32" y="199"/>
                  </a:lnTo>
                  <a:lnTo>
                    <a:pt x="37" y="199"/>
                  </a:lnTo>
                  <a:lnTo>
                    <a:pt x="30" y="187"/>
                  </a:lnTo>
                  <a:lnTo>
                    <a:pt x="23" y="177"/>
                  </a:lnTo>
                  <a:lnTo>
                    <a:pt x="18" y="164"/>
                  </a:lnTo>
                  <a:lnTo>
                    <a:pt x="13" y="152"/>
                  </a:lnTo>
                  <a:lnTo>
                    <a:pt x="10" y="139"/>
                  </a:lnTo>
                  <a:lnTo>
                    <a:pt x="7" y="126"/>
                  </a:lnTo>
                  <a:lnTo>
                    <a:pt x="5" y="112"/>
                  </a:lnTo>
                  <a:lnTo>
                    <a:pt x="5" y="99"/>
                  </a:lnTo>
                  <a:lnTo>
                    <a:pt x="5" y="86"/>
                  </a:lnTo>
                  <a:lnTo>
                    <a:pt x="7" y="71"/>
                  </a:lnTo>
                  <a:lnTo>
                    <a:pt x="10" y="58"/>
                  </a:lnTo>
                  <a:lnTo>
                    <a:pt x="13" y="46"/>
                  </a:lnTo>
                  <a:lnTo>
                    <a:pt x="18" y="33"/>
                  </a:lnTo>
                  <a:lnTo>
                    <a:pt x="23" y="21"/>
                  </a:lnTo>
                  <a:lnTo>
                    <a:pt x="30" y="10"/>
                  </a:lnTo>
                  <a:lnTo>
                    <a:pt x="37" y="0"/>
                  </a:lnTo>
                  <a:lnTo>
                    <a:pt x="32"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70" name="Freeform 210">
              <a:extLst>
                <a:ext uri="{FF2B5EF4-FFF2-40B4-BE49-F238E27FC236}">
                  <a16:creationId xmlns:a16="http://schemas.microsoft.com/office/drawing/2014/main" id="{93EB9EE7-D84A-1C62-3B73-2591A202029E}"/>
                </a:ext>
              </a:extLst>
            </p:cNvPr>
            <p:cNvSpPr>
              <a:spLocks noEditPoints="1"/>
            </p:cNvSpPr>
            <p:nvPr/>
          </p:nvSpPr>
          <p:spPr bwMode="auto">
            <a:xfrm>
              <a:off x="1666" y="1514"/>
              <a:ext cx="341" cy="199"/>
            </a:xfrm>
            <a:custGeom>
              <a:avLst/>
              <a:gdLst>
                <a:gd name="T0" fmla="*/ 339 w 341"/>
                <a:gd name="T1" fmla="*/ 86 h 199"/>
                <a:gd name="T2" fmla="*/ 336 w 341"/>
                <a:gd name="T3" fmla="*/ 59 h 199"/>
                <a:gd name="T4" fmla="*/ 328 w 341"/>
                <a:gd name="T5" fmla="*/ 33 h 199"/>
                <a:gd name="T6" fmla="*/ 314 w 341"/>
                <a:gd name="T7" fmla="*/ 10 h 199"/>
                <a:gd name="T8" fmla="*/ 303 w 341"/>
                <a:gd name="T9" fmla="*/ 0 h 199"/>
                <a:gd name="T10" fmla="*/ 316 w 341"/>
                <a:gd name="T11" fmla="*/ 21 h 199"/>
                <a:gd name="T12" fmla="*/ 326 w 341"/>
                <a:gd name="T13" fmla="*/ 46 h 199"/>
                <a:gd name="T14" fmla="*/ 333 w 341"/>
                <a:gd name="T15" fmla="*/ 71 h 199"/>
                <a:gd name="T16" fmla="*/ 336 w 341"/>
                <a:gd name="T17" fmla="*/ 99 h 199"/>
                <a:gd name="T18" fmla="*/ 333 w 341"/>
                <a:gd name="T19" fmla="*/ 126 h 199"/>
                <a:gd name="T20" fmla="*/ 326 w 341"/>
                <a:gd name="T21" fmla="*/ 152 h 199"/>
                <a:gd name="T22" fmla="*/ 316 w 341"/>
                <a:gd name="T23" fmla="*/ 177 h 199"/>
                <a:gd name="T24" fmla="*/ 303 w 341"/>
                <a:gd name="T25" fmla="*/ 199 h 199"/>
                <a:gd name="T26" fmla="*/ 314 w 341"/>
                <a:gd name="T27" fmla="*/ 187 h 199"/>
                <a:gd name="T28" fmla="*/ 328 w 341"/>
                <a:gd name="T29" fmla="*/ 164 h 199"/>
                <a:gd name="T30" fmla="*/ 336 w 341"/>
                <a:gd name="T31" fmla="*/ 139 h 199"/>
                <a:gd name="T32" fmla="*/ 339 w 341"/>
                <a:gd name="T33" fmla="*/ 112 h 199"/>
                <a:gd name="T34" fmla="*/ 33 w 341"/>
                <a:gd name="T35" fmla="*/ 0 h 199"/>
                <a:gd name="T36" fmla="*/ 18 w 341"/>
                <a:gd name="T37" fmla="*/ 21 h 199"/>
                <a:gd name="T38" fmla="*/ 8 w 341"/>
                <a:gd name="T39" fmla="*/ 46 h 199"/>
                <a:gd name="T40" fmla="*/ 1 w 341"/>
                <a:gd name="T41" fmla="*/ 71 h 199"/>
                <a:gd name="T42" fmla="*/ 0 w 341"/>
                <a:gd name="T43" fmla="*/ 99 h 199"/>
                <a:gd name="T44" fmla="*/ 1 w 341"/>
                <a:gd name="T45" fmla="*/ 126 h 199"/>
                <a:gd name="T46" fmla="*/ 8 w 341"/>
                <a:gd name="T47" fmla="*/ 152 h 199"/>
                <a:gd name="T48" fmla="*/ 18 w 341"/>
                <a:gd name="T49" fmla="*/ 177 h 199"/>
                <a:gd name="T50" fmla="*/ 33 w 341"/>
                <a:gd name="T51" fmla="*/ 199 h 199"/>
                <a:gd name="T52" fmla="*/ 31 w 341"/>
                <a:gd name="T53" fmla="*/ 187 h 199"/>
                <a:gd name="T54" fmla="*/ 18 w 341"/>
                <a:gd name="T55" fmla="*/ 165 h 199"/>
                <a:gd name="T56" fmla="*/ 10 w 341"/>
                <a:gd name="T57" fmla="*/ 139 h 199"/>
                <a:gd name="T58" fmla="*/ 5 w 341"/>
                <a:gd name="T59" fmla="*/ 112 h 199"/>
                <a:gd name="T60" fmla="*/ 5 w 341"/>
                <a:gd name="T61" fmla="*/ 86 h 199"/>
                <a:gd name="T62" fmla="*/ 10 w 341"/>
                <a:gd name="T63" fmla="*/ 58 h 199"/>
                <a:gd name="T64" fmla="*/ 18 w 341"/>
                <a:gd name="T65" fmla="*/ 33 h 199"/>
                <a:gd name="T66" fmla="*/ 31 w 341"/>
                <a:gd name="T67" fmla="*/ 10 h 199"/>
                <a:gd name="T68" fmla="*/ 33 w 34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1" h="199">
                  <a:moveTo>
                    <a:pt x="341" y="99"/>
                  </a:moveTo>
                  <a:lnTo>
                    <a:pt x="339" y="86"/>
                  </a:lnTo>
                  <a:lnTo>
                    <a:pt x="338" y="71"/>
                  </a:lnTo>
                  <a:lnTo>
                    <a:pt x="336" y="59"/>
                  </a:lnTo>
                  <a:lnTo>
                    <a:pt x="331" y="46"/>
                  </a:lnTo>
                  <a:lnTo>
                    <a:pt x="328" y="33"/>
                  </a:lnTo>
                  <a:lnTo>
                    <a:pt x="321" y="21"/>
                  </a:lnTo>
                  <a:lnTo>
                    <a:pt x="314" y="10"/>
                  </a:lnTo>
                  <a:lnTo>
                    <a:pt x="308" y="0"/>
                  </a:lnTo>
                  <a:lnTo>
                    <a:pt x="303" y="0"/>
                  </a:lnTo>
                  <a:lnTo>
                    <a:pt x="310" y="10"/>
                  </a:lnTo>
                  <a:lnTo>
                    <a:pt x="316" y="21"/>
                  </a:lnTo>
                  <a:lnTo>
                    <a:pt x="321" y="33"/>
                  </a:lnTo>
                  <a:lnTo>
                    <a:pt x="326" y="46"/>
                  </a:lnTo>
                  <a:lnTo>
                    <a:pt x="331" y="58"/>
                  </a:lnTo>
                  <a:lnTo>
                    <a:pt x="333" y="71"/>
                  </a:lnTo>
                  <a:lnTo>
                    <a:pt x="334" y="86"/>
                  </a:lnTo>
                  <a:lnTo>
                    <a:pt x="336" y="99"/>
                  </a:lnTo>
                  <a:lnTo>
                    <a:pt x="334" y="112"/>
                  </a:lnTo>
                  <a:lnTo>
                    <a:pt x="333" y="126"/>
                  </a:lnTo>
                  <a:lnTo>
                    <a:pt x="331" y="139"/>
                  </a:lnTo>
                  <a:lnTo>
                    <a:pt x="326" y="152"/>
                  </a:lnTo>
                  <a:lnTo>
                    <a:pt x="321" y="165"/>
                  </a:lnTo>
                  <a:lnTo>
                    <a:pt x="316" y="177"/>
                  </a:lnTo>
                  <a:lnTo>
                    <a:pt x="310" y="187"/>
                  </a:lnTo>
                  <a:lnTo>
                    <a:pt x="303" y="199"/>
                  </a:lnTo>
                  <a:lnTo>
                    <a:pt x="308" y="199"/>
                  </a:lnTo>
                  <a:lnTo>
                    <a:pt x="314" y="187"/>
                  </a:lnTo>
                  <a:lnTo>
                    <a:pt x="321" y="177"/>
                  </a:lnTo>
                  <a:lnTo>
                    <a:pt x="328" y="164"/>
                  </a:lnTo>
                  <a:lnTo>
                    <a:pt x="331" y="152"/>
                  </a:lnTo>
                  <a:lnTo>
                    <a:pt x="336" y="139"/>
                  </a:lnTo>
                  <a:lnTo>
                    <a:pt x="338" y="126"/>
                  </a:lnTo>
                  <a:lnTo>
                    <a:pt x="339" y="112"/>
                  </a:lnTo>
                  <a:lnTo>
                    <a:pt x="341" y="99"/>
                  </a:lnTo>
                  <a:close/>
                  <a:moveTo>
                    <a:pt x="33" y="0"/>
                  </a:moveTo>
                  <a:lnTo>
                    <a:pt x="25" y="10"/>
                  </a:lnTo>
                  <a:lnTo>
                    <a:pt x="18" y="21"/>
                  </a:lnTo>
                  <a:lnTo>
                    <a:pt x="13" y="33"/>
                  </a:lnTo>
                  <a:lnTo>
                    <a:pt x="8" y="46"/>
                  </a:lnTo>
                  <a:lnTo>
                    <a:pt x="5" y="59"/>
                  </a:lnTo>
                  <a:lnTo>
                    <a:pt x="1" y="71"/>
                  </a:lnTo>
                  <a:lnTo>
                    <a:pt x="1" y="86"/>
                  </a:lnTo>
                  <a:lnTo>
                    <a:pt x="0" y="99"/>
                  </a:lnTo>
                  <a:lnTo>
                    <a:pt x="1" y="112"/>
                  </a:lnTo>
                  <a:lnTo>
                    <a:pt x="1" y="126"/>
                  </a:lnTo>
                  <a:lnTo>
                    <a:pt x="5" y="139"/>
                  </a:lnTo>
                  <a:lnTo>
                    <a:pt x="8" y="152"/>
                  </a:lnTo>
                  <a:lnTo>
                    <a:pt x="13" y="164"/>
                  </a:lnTo>
                  <a:lnTo>
                    <a:pt x="18" y="177"/>
                  </a:lnTo>
                  <a:lnTo>
                    <a:pt x="25" y="187"/>
                  </a:lnTo>
                  <a:lnTo>
                    <a:pt x="33" y="199"/>
                  </a:lnTo>
                  <a:lnTo>
                    <a:pt x="38" y="199"/>
                  </a:lnTo>
                  <a:lnTo>
                    <a:pt x="31" y="187"/>
                  </a:lnTo>
                  <a:lnTo>
                    <a:pt x="25" y="177"/>
                  </a:lnTo>
                  <a:lnTo>
                    <a:pt x="18" y="165"/>
                  </a:lnTo>
                  <a:lnTo>
                    <a:pt x="13" y="152"/>
                  </a:lnTo>
                  <a:lnTo>
                    <a:pt x="10" y="139"/>
                  </a:lnTo>
                  <a:lnTo>
                    <a:pt x="6" y="126"/>
                  </a:lnTo>
                  <a:lnTo>
                    <a:pt x="5" y="112"/>
                  </a:lnTo>
                  <a:lnTo>
                    <a:pt x="5" y="99"/>
                  </a:lnTo>
                  <a:lnTo>
                    <a:pt x="5" y="86"/>
                  </a:lnTo>
                  <a:lnTo>
                    <a:pt x="6" y="71"/>
                  </a:lnTo>
                  <a:lnTo>
                    <a:pt x="10" y="58"/>
                  </a:lnTo>
                  <a:lnTo>
                    <a:pt x="13" y="46"/>
                  </a:lnTo>
                  <a:lnTo>
                    <a:pt x="18" y="33"/>
                  </a:lnTo>
                  <a:lnTo>
                    <a:pt x="25" y="21"/>
                  </a:lnTo>
                  <a:lnTo>
                    <a:pt x="31" y="10"/>
                  </a:lnTo>
                  <a:lnTo>
                    <a:pt x="38" y="0"/>
                  </a:lnTo>
                  <a:lnTo>
                    <a:pt x="3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71" name="Freeform 211">
              <a:extLst>
                <a:ext uri="{FF2B5EF4-FFF2-40B4-BE49-F238E27FC236}">
                  <a16:creationId xmlns:a16="http://schemas.microsoft.com/office/drawing/2014/main" id="{AF8233FA-C35C-CCFB-4652-B41475797D43}"/>
                </a:ext>
              </a:extLst>
            </p:cNvPr>
            <p:cNvSpPr>
              <a:spLocks noEditPoints="1"/>
            </p:cNvSpPr>
            <p:nvPr/>
          </p:nvSpPr>
          <p:spPr bwMode="auto">
            <a:xfrm>
              <a:off x="1669" y="1514"/>
              <a:ext cx="335" cy="199"/>
            </a:xfrm>
            <a:custGeom>
              <a:avLst/>
              <a:gdLst>
                <a:gd name="T0" fmla="*/ 335 w 335"/>
                <a:gd name="T1" fmla="*/ 86 h 199"/>
                <a:gd name="T2" fmla="*/ 330 w 335"/>
                <a:gd name="T3" fmla="*/ 58 h 199"/>
                <a:gd name="T4" fmla="*/ 321 w 335"/>
                <a:gd name="T5" fmla="*/ 33 h 199"/>
                <a:gd name="T6" fmla="*/ 310 w 335"/>
                <a:gd name="T7" fmla="*/ 10 h 199"/>
                <a:gd name="T8" fmla="*/ 297 w 335"/>
                <a:gd name="T9" fmla="*/ 0 h 199"/>
                <a:gd name="T10" fmla="*/ 310 w 335"/>
                <a:gd name="T11" fmla="*/ 21 h 199"/>
                <a:gd name="T12" fmla="*/ 321 w 335"/>
                <a:gd name="T13" fmla="*/ 46 h 199"/>
                <a:gd name="T14" fmla="*/ 328 w 335"/>
                <a:gd name="T15" fmla="*/ 71 h 199"/>
                <a:gd name="T16" fmla="*/ 330 w 335"/>
                <a:gd name="T17" fmla="*/ 99 h 199"/>
                <a:gd name="T18" fmla="*/ 328 w 335"/>
                <a:gd name="T19" fmla="*/ 126 h 199"/>
                <a:gd name="T20" fmla="*/ 321 w 335"/>
                <a:gd name="T21" fmla="*/ 152 h 199"/>
                <a:gd name="T22" fmla="*/ 310 w 335"/>
                <a:gd name="T23" fmla="*/ 177 h 199"/>
                <a:gd name="T24" fmla="*/ 297 w 335"/>
                <a:gd name="T25" fmla="*/ 199 h 199"/>
                <a:gd name="T26" fmla="*/ 310 w 335"/>
                <a:gd name="T27" fmla="*/ 187 h 199"/>
                <a:gd name="T28" fmla="*/ 321 w 335"/>
                <a:gd name="T29" fmla="*/ 164 h 199"/>
                <a:gd name="T30" fmla="*/ 330 w 335"/>
                <a:gd name="T31" fmla="*/ 139 h 199"/>
                <a:gd name="T32" fmla="*/ 335 w 335"/>
                <a:gd name="T33" fmla="*/ 112 h 199"/>
                <a:gd name="T34" fmla="*/ 32 w 335"/>
                <a:gd name="T35" fmla="*/ 0 h 199"/>
                <a:gd name="T36" fmla="*/ 18 w 335"/>
                <a:gd name="T37" fmla="*/ 21 h 199"/>
                <a:gd name="T38" fmla="*/ 8 w 335"/>
                <a:gd name="T39" fmla="*/ 46 h 199"/>
                <a:gd name="T40" fmla="*/ 2 w 335"/>
                <a:gd name="T41" fmla="*/ 71 h 199"/>
                <a:gd name="T42" fmla="*/ 0 w 335"/>
                <a:gd name="T43" fmla="*/ 99 h 199"/>
                <a:gd name="T44" fmla="*/ 2 w 335"/>
                <a:gd name="T45" fmla="*/ 126 h 199"/>
                <a:gd name="T46" fmla="*/ 8 w 335"/>
                <a:gd name="T47" fmla="*/ 152 h 199"/>
                <a:gd name="T48" fmla="*/ 18 w 335"/>
                <a:gd name="T49" fmla="*/ 177 h 199"/>
                <a:gd name="T50" fmla="*/ 32 w 335"/>
                <a:gd name="T51" fmla="*/ 199 h 199"/>
                <a:gd name="T52" fmla="*/ 30 w 335"/>
                <a:gd name="T53" fmla="*/ 187 h 199"/>
                <a:gd name="T54" fmla="*/ 18 w 335"/>
                <a:gd name="T55" fmla="*/ 165 h 199"/>
                <a:gd name="T56" fmla="*/ 10 w 335"/>
                <a:gd name="T57" fmla="*/ 139 h 199"/>
                <a:gd name="T58" fmla="*/ 5 w 335"/>
                <a:gd name="T59" fmla="*/ 112 h 199"/>
                <a:gd name="T60" fmla="*/ 5 w 335"/>
                <a:gd name="T61" fmla="*/ 86 h 199"/>
                <a:gd name="T62" fmla="*/ 10 w 335"/>
                <a:gd name="T63" fmla="*/ 58 h 199"/>
                <a:gd name="T64" fmla="*/ 18 w 335"/>
                <a:gd name="T65" fmla="*/ 33 h 199"/>
                <a:gd name="T66" fmla="*/ 30 w 335"/>
                <a:gd name="T67" fmla="*/ 10 h 199"/>
                <a:gd name="T68" fmla="*/ 32 w 33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5" h="199">
                  <a:moveTo>
                    <a:pt x="335" y="99"/>
                  </a:moveTo>
                  <a:lnTo>
                    <a:pt x="335" y="86"/>
                  </a:lnTo>
                  <a:lnTo>
                    <a:pt x="333" y="71"/>
                  </a:lnTo>
                  <a:lnTo>
                    <a:pt x="330" y="58"/>
                  </a:lnTo>
                  <a:lnTo>
                    <a:pt x="326" y="46"/>
                  </a:lnTo>
                  <a:lnTo>
                    <a:pt x="321" y="33"/>
                  </a:lnTo>
                  <a:lnTo>
                    <a:pt x="316" y="21"/>
                  </a:lnTo>
                  <a:lnTo>
                    <a:pt x="310" y="10"/>
                  </a:lnTo>
                  <a:lnTo>
                    <a:pt x="302" y="0"/>
                  </a:lnTo>
                  <a:lnTo>
                    <a:pt x="297" y="0"/>
                  </a:lnTo>
                  <a:lnTo>
                    <a:pt x="303" y="10"/>
                  </a:lnTo>
                  <a:lnTo>
                    <a:pt x="310" y="21"/>
                  </a:lnTo>
                  <a:lnTo>
                    <a:pt x="316" y="33"/>
                  </a:lnTo>
                  <a:lnTo>
                    <a:pt x="321" y="46"/>
                  </a:lnTo>
                  <a:lnTo>
                    <a:pt x="325" y="58"/>
                  </a:lnTo>
                  <a:lnTo>
                    <a:pt x="328" y="71"/>
                  </a:lnTo>
                  <a:lnTo>
                    <a:pt x="330" y="86"/>
                  </a:lnTo>
                  <a:lnTo>
                    <a:pt x="330" y="99"/>
                  </a:lnTo>
                  <a:lnTo>
                    <a:pt x="330" y="112"/>
                  </a:lnTo>
                  <a:lnTo>
                    <a:pt x="328" y="126"/>
                  </a:lnTo>
                  <a:lnTo>
                    <a:pt x="325" y="139"/>
                  </a:lnTo>
                  <a:lnTo>
                    <a:pt x="321" y="152"/>
                  </a:lnTo>
                  <a:lnTo>
                    <a:pt x="316" y="165"/>
                  </a:lnTo>
                  <a:lnTo>
                    <a:pt x="310" y="177"/>
                  </a:lnTo>
                  <a:lnTo>
                    <a:pt x="303" y="187"/>
                  </a:lnTo>
                  <a:lnTo>
                    <a:pt x="297" y="199"/>
                  </a:lnTo>
                  <a:lnTo>
                    <a:pt x="302" y="199"/>
                  </a:lnTo>
                  <a:lnTo>
                    <a:pt x="310" y="187"/>
                  </a:lnTo>
                  <a:lnTo>
                    <a:pt x="316" y="177"/>
                  </a:lnTo>
                  <a:lnTo>
                    <a:pt x="321" y="164"/>
                  </a:lnTo>
                  <a:lnTo>
                    <a:pt x="326" y="152"/>
                  </a:lnTo>
                  <a:lnTo>
                    <a:pt x="330" y="139"/>
                  </a:lnTo>
                  <a:lnTo>
                    <a:pt x="333" y="126"/>
                  </a:lnTo>
                  <a:lnTo>
                    <a:pt x="335" y="112"/>
                  </a:lnTo>
                  <a:lnTo>
                    <a:pt x="335" y="99"/>
                  </a:lnTo>
                  <a:close/>
                  <a:moveTo>
                    <a:pt x="32" y="0"/>
                  </a:moveTo>
                  <a:lnTo>
                    <a:pt x="25" y="10"/>
                  </a:lnTo>
                  <a:lnTo>
                    <a:pt x="18" y="21"/>
                  </a:lnTo>
                  <a:lnTo>
                    <a:pt x="13" y="33"/>
                  </a:lnTo>
                  <a:lnTo>
                    <a:pt x="8" y="46"/>
                  </a:lnTo>
                  <a:lnTo>
                    <a:pt x="5" y="58"/>
                  </a:lnTo>
                  <a:lnTo>
                    <a:pt x="2" y="71"/>
                  </a:lnTo>
                  <a:lnTo>
                    <a:pt x="0" y="86"/>
                  </a:lnTo>
                  <a:lnTo>
                    <a:pt x="0" y="99"/>
                  </a:lnTo>
                  <a:lnTo>
                    <a:pt x="0" y="112"/>
                  </a:lnTo>
                  <a:lnTo>
                    <a:pt x="2" y="126"/>
                  </a:lnTo>
                  <a:lnTo>
                    <a:pt x="5" y="139"/>
                  </a:lnTo>
                  <a:lnTo>
                    <a:pt x="8" y="152"/>
                  </a:lnTo>
                  <a:lnTo>
                    <a:pt x="13" y="164"/>
                  </a:lnTo>
                  <a:lnTo>
                    <a:pt x="18" y="177"/>
                  </a:lnTo>
                  <a:lnTo>
                    <a:pt x="25" y="187"/>
                  </a:lnTo>
                  <a:lnTo>
                    <a:pt x="32" y="199"/>
                  </a:lnTo>
                  <a:lnTo>
                    <a:pt x="38" y="199"/>
                  </a:lnTo>
                  <a:lnTo>
                    <a:pt x="30" y="187"/>
                  </a:lnTo>
                  <a:lnTo>
                    <a:pt x="23" y="177"/>
                  </a:lnTo>
                  <a:lnTo>
                    <a:pt x="18" y="165"/>
                  </a:lnTo>
                  <a:lnTo>
                    <a:pt x="13" y="152"/>
                  </a:lnTo>
                  <a:lnTo>
                    <a:pt x="10" y="139"/>
                  </a:lnTo>
                  <a:lnTo>
                    <a:pt x="7" y="126"/>
                  </a:lnTo>
                  <a:lnTo>
                    <a:pt x="5" y="112"/>
                  </a:lnTo>
                  <a:lnTo>
                    <a:pt x="5" y="99"/>
                  </a:lnTo>
                  <a:lnTo>
                    <a:pt x="5" y="86"/>
                  </a:lnTo>
                  <a:lnTo>
                    <a:pt x="7" y="71"/>
                  </a:lnTo>
                  <a:lnTo>
                    <a:pt x="10" y="58"/>
                  </a:lnTo>
                  <a:lnTo>
                    <a:pt x="13" y="46"/>
                  </a:lnTo>
                  <a:lnTo>
                    <a:pt x="18" y="33"/>
                  </a:lnTo>
                  <a:lnTo>
                    <a:pt x="23" y="21"/>
                  </a:lnTo>
                  <a:lnTo>
                    <a:pt x="30" y="10"/>
                  </a:lnTo>
                  <a:lnTo>
                    <a:pt x="38" y="0"/>
                  </a:lnTo>
                  <a:lnTo>
                    <a:pt x="32"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72" name="Freeform 212">
              <a:extLst>
                <a:ext uri="{FF2B5EF4-FFF2-40B4-BE49-F238E27FC236}">
                  <a16:creationId xmlns:a16="http://schemas.microsoft.com/office/drawing/2014/main" id="{8594C81F-7808-C618-3A4F-DDF3FB3CFCC4}"/>
                </a:ext>
              </a:extLst>
            </p:cNvPr>
            <p:cNvSpPr>
              <a:spLocks noEditPoints="1"/>
            </p:cNvSpPr>
            <p:nvPr/>
          </p:nvSpPr>
          <p:spPr bwMode="auto">
            <a:xfrm>
              <a:off x="1671" y="1514"/>
              <a:ext cx="331" cy="199"/>
            </a:xfrm>
            <a:custGeom>
              <a:avLst/>
              <a:gdLst>
                <a:gd name="T0" fmla="*/ 329 w 331"/>
                <a:gd name="T1" fmla="*/ 86 h 199"/>
                <a:gd name="T2" fmla="*/ 326 w 331"/>
                <a:gd name="T3" fmla="*/ 58 h 199"/>
                <a:gd name="T4" fmla="*/ 316 w 331"/>
                <a:gd name="T5" fmla="*/ 33 h 199"/>
                <a:gd name="T6" fmla="*/ 305 w 331"/>
                <a:gd name="T7" fmla="*/ 10 h 199"/>
                <a:gd name="T8" fmla="*/ 291 w 331"/>
                <a:gd name="T9" fmla="*/ 0 h 199"/>
                <a:gd name="T10" fmla="*/ 306 w 331"/>
                <a:gd name="T11" fmla="*/ 21 h 199"/>
                <a:gd name="T12" fmla="*/ 316 w 331"/>
                <a:gd name="T13" fmla="*/ 46 h 199"/>
                <a:gd name="T14" fmla="*/ 323 w 331"/>
                <a:gd name="T15" fmla="*/ 71 h 199"/>
                <a:gd name="T16" fmla="*/ 326 w 331"/>
                <a:gd name="T17" fmla="*/ 99 h 199"/>
                <a:gd name="T18" fmla="*/ 323 w 331"/>
                <a:gd name="T19" fmla="*/ 127 h 199"/>
                <a:gd name="T20" fmla="*/ 316 w 331"/>
                <a:gd name="T21" fmla="*/ 152 h 199"/>
                <a:gd name="T22" fmla="*/ 306 w 331"/>
                <a:gd name="T23" fmla="*/ 177 h 199"/>
                <a:gd name="T24" fmla="*/ 291 w 331"/>
                <a:gd name="T25" fmla="*/ 199 h 199"/>
                <a:gd name="T26" fmla="*/ 305 w 331"/>
                <a:gd name="T27" fmla="*/ 187 h 199"/>
                <a:gd name="T28" fmla="*/ 316 w 331"/>
                <a:gd name="T29" fmla="*/ 165 h 199"/>
                <a:gd name="T30" fmla="*/ 326 w 331"/>
                <a:gd name="T31" fmla="*/ 139 h 199"/>
                <a:gd name="T32" fmla="*/ 329 w 331"/>
                <a:gd name="T33" fmla="*/ 112 h 199"/>
                <a:gd name="T34" fmla="*/ 33 w 331"/>
                <a:gd name="T35" fmla="*/ 0 h 199"/>
                <a:gd name="T36" fmla="*/ 20 w 331"/>
                <a:gd name="T37" fmla="*/ 21 h 199"/>
                <a:gd name="T38" fmla="*/ 8 w 331"/>
                <a:gd name="T39" fmla="*/ 46 h 199"/>
                <a:gd name="T40" fmla="*/ 1 w 331"/>
                <a:gd name="T41" fmla="*/ 71 h 199"/>
                <a:gd name="T42" fmla="*/ 0 w 331"/>
                <a:gd name="T43" fmla="*/ 99 h 199"/>
                <a:gd name="T44" fmla="*/ 1 w 331"/>
                <a:gd name="T45" fmla="*/ 126 h 199"/>
                <a:gd name="T46" fmla="*/ 8 w 331"/>
                <a:gd name="T47" fmla="*/ 152 h 199"/>
                <a:gd name="T48" fmla="*/ 20 w 331"/>
                <a:gd name="T49" fmla="*/ 177 h 199"/>
                <a:gd name="T50" fmla="*/ 33 w 331"/>
                <a:gd name="T51" fmla="*/ 199 h 199"/>
                <a:gd name="T52" fmla="*/ 31 w 331"/>
                <a:gd name="T53" fmla="*/ 189 h 199"/>
                <a:gd name="T54" fmla="*/ 18 w 331"/>
                <a:gd name="T55" fmla="*/ 165 h 199"/>
                <a:gd name="T56" fmla="*/ 10 w 331"/>
                <a:gd name="T57" fmla="*/ 139 h 199"/>
                <a:gd name="T58" fmla="*/ 5 w 331"/>
                <a:gd name="T59" fmla="*/ 112 h 199"/>
                <a:gd name="T60" fmla="*/ 5 w 331"/>
                <a:gd name="T61" fmla="*/ 84 h 199"/>
                <a:gd name="T62" fmla="*/ 10 w 331"/>
                <a:gd name="T63" fmla="*/ 58 h 199"/>
                <a:gd name="T64" fmla="*/ 18 w 331"/>
                <a:gd name="T65" fmla="*/ 33 h 199"/>
                <a:gd name="T66" fmla="*/ 31 w 331"/>
                <a:gd name="T67" fmla="*/ 10 h 199"/>
                <a:gd name="T68" fmla="*/ 33 w 33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1" h="199">
                  <a:moveTo>
                    <a:pt x="331" y="99"/>
                  </a:moveTo>
                  <a:lnTo>
                    <a:pt x="329" y="86"/>
                  </a:lnTo>
                  <a:lnTo>
                    <a:pt x="328" y="71"/>
                  </a:lnTo>
                  <a:lnTo>
                    <a:pt x="326" y="58"/>
                  </a:lnTo>
                  <a:lnTo>
                    <a:pt x="321" y="46"/>
                  </a:lnTo>
                  <a:lnTo>
                    <a:pt x="316" y="33"/>
                  </a:lnTo>
                  <a:lnTo>
                    <a:pt x="311" y="21"/>
                  </a:lnTo>
                  <a:lnTo>
                    <a:pt x="305" y="10"/>
                  </a:lnTo>
                  <a:lnTo>
                    <a:pt x="298" y="0"/>
                  </a:lnTo>
                  <a:lnTo>
                    <a:pt x="291" y="0"/>
                  </a:lnTo>
                  <a:lnTo>
                    <a:pt x="300" y="10"/>
                  </a:lnTo>
                  <a:lnTo>
                    <a:pt x="306" y="21"/>
                  </a:lnTo>
                  <a:lnTo>
                    <a:pt x="311" y="33"/>
                  </a:lnTo>
                  <a:lnTo>
                    <a:pt x="316" y="46"/>
                  </a:lnTo>
                  <a:lnTo>
                    <a:pt x="321" y="58"/>
                  </a:lnTo>
                  <a:lnTo>
                    <a:pt x="323" y="71"/>
                  </a:lnTo>
                  <a:lnTo>
                    <a:pt x="324" y="84"/>
                  </a:lnTo>
                  <a:lnTo>
                    <a:pt x="326" y="99"/>
                  </a:lnTo>
                  <a:lnTo>
                    <a:pt x="324" y="112"/>
                  </a:lnTo>
                  <a:lnTo>
                    <a:pt x="323" y="127"/>
                  </a:lnTo>
                  <a:lnTo>
                    <a:pt x="321" y="139"/>
                  </a:lnTo>
                  <a:lnTo>
                    <a:pt x="316" y="152"/>
                  </a:lnTo>
                  <a:lnTo>
                    <a:pt x="311" y="165"/>
                  </a:lnTo>
                  <a:lnTo>
                    <a:pt x="306" y="177"/>
                  </a:lnTo>
                  <a:lnTo>
                    <a:pt x="300" y="189"/>
                  </a:lnTo>
                  <a:lnTo>
                    <a:pt x="291" y="199"/>
                  </a:lnTo>
                  <a:lnTo>
                    <a:pt x="298" y="199"/>
                  </a:lnTo>
                  <a:lnTo>
                    <a:pt x="305" y="187"/>
                  </a:lnTo>
                  <a:lnTo>
                    <a:pt x="311" y="177"/>
                  </a:lnTo>
                  <a:lnTo>
                    <a:pt x="316" y="165"/>
                  </a:lnTo>
                  <a:lnTo>
                    <a:pt x="321" y="152"/>
                  </a:lnTo>
                  <a:lnTo>
                    <a:pt x="326" y="139"/>
                  </a:lnTo>
                  <a:lnTo>
                    <a:pt x="328" y="126"/>
                  </a:lnTo>
                  <a:lnTo>
                    <a:pt x="329" y="112"/>
                  </a:lnTo>
                  <a:lnTo>
                    <a:pt x="331" y="99"/>
                  </a:lnTo>
                  <a:close/>
                  <a:moveTo>
                    <a:pt x="33" y="0"/>
                  </a:moveTo>
                  <a:lnTo>
                    <a:pt x="26" y="10"/>
                  </a:lnTo>
                  <a:lnTo>
                    <a:pt x="20" y="21"/>
                  </a:lnTo>
                  <a:lnTo>
                    <a:pt x="13" y="33"/>
                  </a:lnTo>
                  <a:lnTo>
                    <a:pt x="8" y="46"/>
                  </a:lnTo>
                  <a:lnTo>
                    <a:pt x="5" y="58"/>
                  </a:lnTo>
                  <a:lnTo>
                    <a:pt x="1" y="71"/>
                  </a:lnTo>
                  <a:lnTo>
                    <a:pt x="0" y="86"/>
                  </a:lnTo>
                  <a:lnTo>
                    <a:pt x="0" y="99"/>
                  </a:lnTo>
                  <a:lnTo>
                    <a:pt x="0" y="112"/>
                  </a:lnTo>
                  <a:lnTo>
                    <a:pt x="1" y="126"/>
                  </a:lnTo>
                  <a:lnTo>
                    <a:pt x="5" y="139"/>
                  </a:lnTo>
                  <a:lnTo>
                    <a:pt x="8" y="152"/>
                  </a:lnTo>
                  <a:lnTo>
                    <a:pt x="13" y="165"/>
                  </a:lnTo>
                  <a:lnTo>
                    <a:pt x="20" y="177"/>
                  </a:lnTo>
                  <a:lnTo>
                    <a:pt x="26" y="187"/>
                  </a:lnTo>
                  <a:lnTo>
                    <a:pt x="33" y="199"/>
                  </a:lnTo>
                  <a:lnTo>
                    <a:pt x="40" y="199"/>
                  </a:lnTo>
                  <a:lnTo>
                    <a:pt x="31" y="189"/>
                  </a:lnTo>
                  <a:lnTo>
                    <a:pt x="25" y="177"/>
                  </a:lnTo>
                  <a:lnTo>
                    <a:pt x="18" y="165"/>
                  </a:lnTo>
                  <a:lnTo>
                    <a:pt x="13" y="152"/>
                  </a:lnTo>
                  <a:lnTo>
                    <a:pt x="10" y="139"/>
                  </a:lnTo>
                  <a:lnTo>
                    <a:pt x="6" y="127"/>
                  </a:lnTo>
                  <a:lnTo>
                    <a:pt x="5" y="112"/>
                  </a:lnTo>
                  <a:lnTo>
                    <a:pt x="5" y="99"/>
                  </a:lnTo>
                  <a:lnTo>
                    <a:pt x="5" y="84"/>
                  </a:lnTo>
                  <a:lnTo>
                    <a:pt x="6" y="71"/>
                  </a:lnTo>
                  <a:lnTo>
                    <a:pt x="10" y="58"/>
                  </a:lnTo>
                  <a:lnTo>
                    <a:pt x="13" y="46"/>
                  </a:lnTo>
                  <a:lnTo>
                    <a:pt x="18" y="33"/>
                  </a:lnTo>
                  <a:lnTo>
                    <a:pt x="25" y="21"/>
                  </a:lnTo>
                  <a:lnTo>
                    <a:pt x="31" y="10"/>
                  </a:lnTo>
                  <a:lnTo>
                    <a:pt x="40" y="0"/>
                  </a:lnTo>
                  <a:lnTo>
                    <a:pt x="3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73" name="Freeform 213">
              <a:extLst>
                <a:ext uri="{FF2B5EF4-FFF2-40B4-BE49-F238E27FC236}">
                  <a16:creationId xmlns:a16="http://schemas.microsoft.com/office/drawing/2014/main" id="{748ECF27-DEB3-FBF4-43FE-1B72CB5C80C3}"/>
                </a:ext>
              </a:extLst>
            </p:cNvPr>
            <p:cNvSpPr>
              <a:spLocks noEditPoints="1"/>
            </p:cNvSpPr>
            <p:nvPr/>
          </p:nvSpPr>
          <p:spPr bwMode="auto">
            <a:xfrm>
              <a:off x="1674" y="1514"/>
              <a:ext cx="325" cy="199"/>
            </a:xfrm>
            <a:custGeom>
              <a:avLst/>
              <a:gdLst>
                <a:gd name="T0" fmla="*/ 325 w 325"/>
                <a:gd name="T1" fmla="*/ 86 h 199"/>
                <a:gd name="T2" fmla="*/ 320 w 325"/>
                <a:gd name="T3" fmla="*/ 58 h 199"/>
                <a:gd name="T4" fmla="*/ 311 w 325"/>
                <a:gd name="T5" fmla="*/ 33 h 199"/>
                <a:gd name="T6" fmla="*/ 298 w 325"/>
                <a:gd name="T7" fmla="*/ 10 h 199"/>
                <a:gd name="T8" fmla="*/ 285 w 325"/>
                <a:gd name="T9" fmla="*/ 0 h 199"/>
                <a:gd name="T10" fmla="*/ 300 w 325"/>
                <a:gd name="T11" fmla="*/ 21 h 199"/>
                <a:gd name="T12" fmla="*/ 311 w 325"/>
                <a:gd name="T13" fmla="*/ 46 h 199"/>
                <a:gd name="T14" fmla="*/ 318 w 325"/>
                <a:gd name="T15" fmla="*/ 71 h 199"/>
                <a:gd name="T16" fmla="*/ 320 w 325"/>
                <a:gd name="T17" fmla="*/ 99 h 199"/>
                <a:gd name="T18" fmla="*/ 318 w 325"/>
                <a:gd name="T19" fmla="*/ 127 h 199"/>
                <a:gd name="T20" fmla="*/ 311 w 325"/>
                <a:gd name="T21" fmla="*/ 152 h 199"/>
                <a:gd name="T22" fmla="*/ 300 w 325"/>
                <a:gd name="T23" fmla="*/ 177 h 199"/>
                <a:gd name="T24" fmla="*/ 285 w 325"/>
                <a:gd name="T25" fmla="*/ 199 h 199"/>
                <a:gd name="T26" fmla="*/ 298 w 325"/>
                <a:gd name="T27" fmla="*/ 187 h 199"/>
                <a:gd name="T28" fmla="*/ 311 w 325"/>
                <a:gd name="T29" fmla="*/ 165 h 199"/>
                <a:gd name="T30" fmla="*/ 320 w 325"/>
                <a:gd name="T31" fmla="*/ 139 h 199"/>
                <a:gd name="T32" fmla="*/ 325 w 325"/>
                <a:gd name="T33" fmla="*/ 112 h 199"/>
                <a:gd name="T34" fmla="*/ 33 w 325"/>
                <a:gd name="T35" fmla="*/ 0 h 199"/>
                <a:gd name="T36" fmla="*/ 18 w 325"/>
                <a:gd name="T37" fmla="*/ 21 h 199"/>
                <a:gd name="T38" fmla="*/ 8 w 325"/>
                <a:gd name="T39" fmla="*/ 46 h 199"/>
                <a:gd name="T40" fmla="*/ 2 w 325"/>
                <a:gd name="T41" fmla="*/ 71 h 199"/>
                <a:gd name="T42" fmla="*/ 0 w 325"/>
                <a:gd name="T43" fmla="*/ 99 h 199"/>
                <a:gd name="T44" fmla="*/ 2 w 325"/>
                <a:gd name="T45" fmla="*/ 126 h 199"/>
                <a:gd name="T46" fmla="*/ 8 w 325"/>
                <a:gd name="T47" fmla="*/ 152 h 199"/>
                <a:gd name="T48" fmla="*/ 18 w 325"/>
                <a:gd name="T49" fmla="*/ 177 h 199"/>
                <a:gd name="T50" fmla="*/ 33 w 325"/>
                <a:gd name="T51" fmla="*/ 199 h 199"/>
                <a:gd name="T52" fmla="*/ 32 w 325"/>
                <a:gd name="T53" fmla="*/ 189 h 199"/>
                <a:gd name="T54" fmla="*/ 18 w 325"/>
                <a:gd name="T55" fmla="*/ 165 h 199"/>
                <a:gd name="T56" fmla="*/ 10 w 325"/>
                <a:gd name="T57" fmla="*/ 141 h 199"/>
                <a:gd name="T58" fmla="*/ 5 w 325"/>
                <a:gd name="T59" fmla="*/ 112 h 199"/>
                <a:gd name="T60" fmla="*/ 5 w 325"/>
                <a:gd name="T61" fmla="*/ 84 h 199"/>
                <a:gd name="T62" fmla="*/ 10 w 325"/>
                <a:gd name="T63" fmla="*/ 58 h 199"/>
                <a:gd name="T64" fmla="*/ 18 w 325"/>
                <a:gd name="T65" fmla="*/ 33 h 199"/>
                <a:gd name="T66" fmla="*/ 32 w 325"/>
                <a:gd name="T67" fmla="*/ 10 h 199"/>
                <a:gd name="T68" fmla="*/ 33 w 32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5" h="199">
                  <a:moveTo>
                    <a:pt x="325" y="99"/>
                  </a:moveTo>
                  <a:lnTo>
                    <a:pt x="325" y="86"/>
                  </a:lnTo>
                  <a:lnTo>
                    <a:pt x="323" y="71"/>
                  </a:lnTo>
                  <a:lnTo>
                    <a:pt x="320" y="58"/>
                  </a:lnTo>
                  <a:lnTo>
                    <a:pt x="316" y="46"/>
                  </a:lnTo>
                  <a:lnTo>
                    <a:pt x="311" y="33"/>
                  </a:lnTo>
                  <a:lnTo>
                    <a:pt x="305" y="21"/>
                  </a:lnTo>
                  <a:lnTo>
                    <a:pt x="298" y="10"/>
                  </a:lnTo>
                  <a:lnTo>
                    <a:pt x="292" y="0"/>
                  </a:lnTo>
                  <a:lnTo>
                    <a:pt x="285" y="0"/>
                  </a:lnTo>
                  <a:lnTo>
                    <a:pt x="293" y="10"/>
                  </a:lnTo>
                  <a:lnTo>
                    <a:pt x="300" y="21"/>
                  </a:lnTo>
                  <a:lnTo>
                    <a:pt x="306" y="33"/>
                  </a:lnTo>
                  <a:lnTo>
                    <a:pt x="311" y="46"/>
                  </a:lnTo>
                  <a:lnTo>
                    <a:pt x="315" y="58"/>
                  </a:lnTo>
                  <a:lnTo>
                    <a:pt x="318" y="71"/>
                  </a:lnTo>
                  <a:lnTo>
                    <a:pt x="320" y="84"/>
                  </a:lnTo>
                  <a:lnTo>
                    <a:pt x="320" y="99"/>
                  </a:lnTo>
                  <a:lnTo>
                    <a:pt x="320" y="112"/>
                  </a:lnTo>
                  <a:lnTo>
                    <a:pt x="318" y="127"/>
                  </a:lnTo>
                  <a:lnTo>
                    <a:pt x="315" y="141"/>
                  </a:lnTo>
                  <a:lnTo>
                    <a:pt x="311" y="152"/>
                  </a:lnTo>
                  <a:lnTo>
                    <a:pt x="306" y="165"/>
                  </a:lnTo>
                  <a:lnTo>
                    <a:pt x="300" y="177"/>
                  </a:lnTo>
                  <a:lnTo>
                    <a:pt x="293" y="189"/>
                  </a:lnTo>
                  <a:lnTo>
                    <a:pt x="285" y="199"/>
                  </a:lnTo>
                  <a:lnTo>
                    <a:pt x="292" y="199"/>
                  </a:lnTo>
                  <a:lnTo>
                    <a:pt x="298" y="187"/>
                  </a:lnTo>
                  <a:lnTo>
                    <a:pt x="305" y="177"/>
                  </a:lnTo>
                  <a:lnTo>
                    <a:pt x="311" y="165"/>
                  </a:lnTo>
                  <a:lnTo>
                    <a:pt x="316" y="152"/>
                  </a:lnTo>
                  <a:lnTo>
                    <a:pt x="320" y="139"/>
                  </a:lnTo>
                  <a:lnTo>
                    <a:pt x="323" y="126"/>
                  </a:lnTo>
                  <a:lnTo>
                    <a:pt x="325" y="112"/>
                  </a:lnTo>
                  <a:lnTo>
                    <a:pt x="325" y="99"/>
                  </a:lnTo>
                  <a:close/>
                  <a:moveTo>
                    <a:pt x="33" y="0"/>
                  </a:moveTo>
                  <a:lnTo>
                    <a:pt x="25" y="10"/>
                  </a:lnTo>
                  <a:lnTo>
                    <a:pt x="18" y="21"/>
                  </a:lnTo>
                  <a:lnTo>
                    <a:pt x="13" y="33"/>
                  </a:lnTo>
                  <a:lnTo>
                    <a:pt x="8" y="46"/>
                  </a:lnTo>
                  <a:lnTo>
                    <a:pt x="5" y="58"/>
                  </a:lnTo>
                  <a:lnTo>
                    <a:pt x="2" y="71"/>
                  </a:lnTo>
                  <a:lnTo>
                    <a:pt x="0" y="86"/>
                  </a:lnTo>
                  <a:lnTo>
                    <a:pt x="0" y="99"/>
                  </a:lnTo>
                  <a:lnTo>
                    <a:pt x="0" y="112"/>
                  </a:lnTo>
                  <a:lnTo>
                    <a:pt x="2" y="126"/>
                  </a:lnTo>
                  <a:lnTo>
                    <a:pt x="5" y="139"/>
                  </a:lnTo>
                  <a:lnTo>
                    <a:pt x="8" y="152"/>
                  </a:lnTo>
                  <a:lnTo>
                    <a:pt x="13" y="165"/>
                  </a:lnTo>
                  <a:lnTo>
                    <a:pt x="18" y="177"/>
                  </a:lnTo>
                  <a:lnTo>
                    <a:pt x="25" y="187"/>
                  </a:lnTo>
                  <a:lnTo>
                    <a:pt x="33" y="199"/>
                  </a:lnTo>
                  <a:lnTo>
                    <a:pt x="40" y="199"/>
                  </a:lnTo>
                  <a:lnTo>
                    <a:pt x="32" y="189"/>
                  </a:lnTo>
                  <a:lnTo>
                    <a:pt x="25" y="177"/>
                  </a:lnTo>
                  <a:lnTo>
                    <a:pt x="18" y="165"/>
                  </a:lnTo>
                  <a:lnTo>
                    <a:pt x="13" y="152"/>
                  </a:lnTo>
                  <a:lnTo>
                    <a:pt x="10" y="141"/>
                  </a:lnTo>
                  <a:lnTo>
                    <a:pt x="7" y="127"/>
                  </a:lnTo>
                  <a:lnTo>
                    <a:pt x="5" y="112"/>
                  </a:lnTo>
                  <a:lnTo>
                    <a:pt x="3" y="99"/>
                  </a:lnTo>
                  <a:lnTo>
                    <a:pt x="5" y="84"/>
                  </a:lnTo>
                  <a:lnTo>
                    <a:pt x="7" y="71"/>
                  </a:lnTo>
                  <a:lnTo>
                    <a:pt x="10" y="58"/>
                  </a:lnTo>
                  <a:lnTo>
                    <a:pt x="13" y="46"/>
                  </a:lnTo>
                  <a:lnTo>
                    <a:pt x="18" y="33"/>
                  </a:lnTo>
                  <a:lnTo>
                    <a:pt x="25" y="21"/>
                  </a:lnTo>
                  <a:lnTo>
                    <a:pt x="32" y="10"/>
                  </a:lnTo>
                  <a:lnTo>
                    <a:pt x="40" y="0"/>
                  </a:lnTo>
                  <a:lnTo>
                    <a:pt x="3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74" name="Freeform 214">
              <a:extLst>
                <a:ext uri="{FF2B5EF4-FFF2-40B4-BE49-F238E27FC236}">
                  <a16:creationId xmlns:a16="http://schemas.microsoft.com/office/drawing/2014/main" id="{B4016408-E5B6-D50F-9274-8ACF9D49F554}"/>
                </a:ext>
              </a:extLst>
            </p:cNvPr>
            <p:cNvSpPr>
              <a:spLocks noEditPoints="1"/>
            </p:cNvSpPr>
            <p:nvPr/>
          </p:nvSpPr>
          <p:spPr bwMode="auto">
            <a:xfrm>
              <a:off x="1676" y="1514"/>
              <a:ext cx="321" cy="199"/>
            </a:xfrm>
            <a:custGeom>
              <a:avLst/>
              <a:gdLst>
                <a:gd name="T0" fmla="*/ 319 w 321"/>
                <a:gd name="T1" fmla="*/ 84 h 199"/>
                <a:gd name="T2" fmla="*/ 316 w 321"/>
                <a:gd name="T3" fmla="*/ 58 h 199"/>
                <a:gd name="T4" fmla="*/ 306 w 321"/>
                <a:gd name="T5" fmla="*/ 33 h 199"/>
                <a:gd name="T6" fmla="*/ 295 w 321"/>
                <a:gd name="T7" fmla="*/ 10 h 199"/>
                <a:gd name="T8" fmla="*/ 280 w 321"/>
                <a:gd name="T9" fmla="*/ 0 h 199"/>
                <a:gd name="T10" fmla="*/ 295 w 321"/>
                <a:gd name="T11" fmla="*/ 21 h 199"/>
                <a:gd name="T12" fmla="*/ 306 w 321"/>
                <a:gd name="T13" fmla="*/ 45 h 199"/>
                <a:gd name="T14" fmla="*/ 313 w 321"/>
                <a:gd name="T15" fmla="*/ 71 h 199"/>
                <a:gd name="T16" fmla="*/ 316 w 321"/>
                <a:gd name="T17" fmla="*/ 99 h 199"/>
                <a:gd name="T18" fmla="*/ 313 w 321"/>
                <a:gd name="T19" fmla="*/ 127 h 199"/>
                <a:gd name="T20" fmla="*/ 306 w 321"/>
                <a:gd name="T21" fmla="*/ 152 h 199"/>
                <a:gd name="T22" fmla="*/ 295 w 321"/>
                <a:gd name="T23" fmla="*/ 177 h 199"/>
                <a:gd name="T24" fmla="*/ 280 w 321"/>
                <a:gd name="T25" fmla="*/ 199 h 199"/>
                <a:gd name="T26" fmla="*/ 295 w 321"/>
                <a:gd name="T27" fmla="*/ 189 h 199"/>
                <a:gd name="T28" fmla="*/ 306 w 321"/>
                <a:gd name="T29" fmla="*/ 165 h 199"/>
                <a:gd name="T30" fmla="*/ 316 w 321"/>
                <a:gd name="T31" fmla="*/ 139 h 199"/>
                <a:gd name="T32" fmla="*/ 319 w 321"/>
                <a:gd name="T33" fmla="*/ 112 h 199"/>
                <a:gd name="T34" fmla="*/ 35 w 321"/>
                <a:gd name="T35" fmla="*/ 0 h 199"/>
                <a:gd name="T36" fmla="*/ 20 w 321"/>
                <a:gd name="T37" fmla="*/ 21 h 199"/>
                <a:gd name="T38" fmla="*/ 8 w 321"/>
                <a:gd name="T39" fmla="*/ 46 h 199"/>
                <a:gd name="T40" fmla="*/ 1 w 321"/>
                <a:gd name="T41" fmla="*/ 71 h 199"/>
                <a:gd name="T42" fmla="*/ 0 w 321"/>
                <a:gd name="T43" fmla="*/ 99 h 199"/>
                <a:gd name="T44" fmla="*/ 1 w 321"/>
                <a:gd name="T45" fmla="*/ 127 h 199"/>
                <a:gd name="T46" fmla="*/ 8 w 321"/>
                <a:gd name="T47" fmla="*/ 152 h 199"/>
                <a:gd name="T48" fmla="*/ 20 w 321"/>
                <a:gd name="T49" fmla="*/ 177 h 199"/>
                <a:gd name="T50" fmla="*/ 35 w 321"/>
                <a:gd name="T51" fmla="*/ 199 h 199"/>
                <a:gd name="T52" fmla="*/ 33 w 321"/>
                <a:gd name="T53" fmla="*/ 189 h 199"/>
                <a:gd name="T54" fmla="*/ 20 w 321"/>
                <a:gd name="T55" fmla="*/ 165 h 199"/>
                <a:gd name="T56" fmla="*/ 10 w 321"/>
                <a:gd name="T57" fmla="*/ 141 h 199"/>
                <a:gd name="T58" fmla="*/ 5 w 321"/>
                <a:gd name="T59" fmla="*/ 112 h 199"/>
                <a:gd name="T60" fmla="*/ 5 w 321"/>
                <a:gd name="T61" fmla="*/ 84 h 199"/>
                <a:gd name="T62" fmla="*/ 10 w 321"/>
                <a:gd name="T63" fmla="*/ 58 h 199"/>
                <a:gd name="T64" fmla="*/ 20 w 321"/>
                <a:gd name="T65" fmla="*/ 33 h 199"/>
                <a:gd name="T66" fmla="*/ 33 w 321"/>
                <a:gd name="T67" fmla="*/ 10 h 199"/>
                <a:gd name="T68" fmla="*/ 35 w 32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1" h="199">
                  <a:moveTo>
                    <a:pt x="321" y="99"/>
                  </a:moveTo>
                  <a:lnTo>
                    <a:pt x="319" y="84"/>
                  </a:lnTo>
                  <a:lnTo>
                    <a:pt x="318" y="71"/>
                  </a:lnTo>
                  <a:lnTo>
                    <a:pt x="316" y="58"/>
                  </a:lnTo>
                  <a:lnTo>
                    <a:pt x="311" y="46"/>
                  </a:lnTo>
                  <a:lnTo>
                    <a:pt x="306" y="33"/>
                  </a:lnTo>
                  <a:lnTo>
                    <a:pt x="301" y="21"/>
                  </a:lnTo>
                  <a:lnTo>
                    <a:pt x="295" y="10"/>
                  </a:lnTo>
                  <a:lnTo>
                    <a:pt x="286" y="0"/>
                  </a:lnTo>
                  <a:lnTo>
                    <a:pt x="280" y="0"/>
                  </a:lnTo>
                  <a:lnTo>
                    <a:pt x="288" y="10"/>
                  </a:lnTo>
                  <a:lnTo>
                    <a:pt x="295" y="21"/>
                  </a:lnTo>
                  <a:lnTo>
                    <a:pt x="301" y="33"/>
                  </a:lnTo>
                  <a:lnTo>
                    <a:pt x="306" y="45"/>
                  </a:lnTo>
                  <a:lnTo>
                    <a:pt x="311" y="58"/>
                  </a:lnTo>
                  <a:lnTo>
                    <a:pt x="313" y="71"/>
                  </a:lnTo>
                  <a:lnTo>
                    <a:pt x="314" y="84"/>
                  </a:lnTo>
                  <a:lnTo>
                    <a:pt x="316" y="99"/>
                  </a:lnTo>
                  <a:lnTo>
                    <a:pt x="314" y="112"/>
                  </a:lnTo>
                  <a:lnTo>
                    <a:pt x="313" y="127"/>
                  </a:lnTo>
                  <a:lnTo>
                    <a:pt x="311" y="141"/>
                  </a:lnTo>
                  <a:lnTo>
                    <a:pt x="306" y="152"/>
                  </a:lnTo>
                  <a:lnTo>
                    <a:pt x="301" y="165"/>
                  </a:lnTo>
                  <a:lnTo>
                    <a:pt x="295" y="177"/>
                  </a:lnTo>
                  <a:lnTo>
                    <a:pt x="288" y="189"/>
                  </a:lnTo>
                  <a:lnTo>
                    <a:pt x="280" y="199"/>
                  </a:lnTo>
                  <a:lnTo>
                    <a:pt x="286" y="199"/>
                  </a:lnTo>
                  <a:lnTo>
                    <a:pt x="295" y="189"/>
                  </a:lnTo>
                  <a:lnTo>
                    <a:pt x="301" y="177"/>
                  </a:lnTo>
                  <a:lnTo>
                    <a:pt x="306" y="165"/>
                  </a:lnTo>
                  <a:lnTo>
                    <a:pt x="311" y="152"/>
                  </a:lnTo>
                  <a:lnTo>
                    <a:pt x="316" y="139"/>
                  </a:lnTo>
                  <a:lnTo>
                    <a:pt x="318" y="127"/>
                  </a:lnTo>
                  <a:lnTo>
                    <a:pt x="319" y="112"/>
                  </a:lnTo>
                  <a:lnTo>
                    <a:pt x="321" y="99"/>
                  </a:lnTo>
                  <a:close/>
                  <a:moveTo>
                    <a:pt x="35" y="0"/>
                  </a:moveTo>
                  <a:lnTo>
                    <a:pt x="26" y="10"/>
                  </a:lnTo>
                  <a:lnTo>
                    <a:pt x="20" y="21"/>
                  </a:lnTo>
                  <a:lnTo>
                    <a:pt x="13" y="33"/>
                  </a:lnTo>
                  <a:lnTo>
                    <a:pt x="8" y="46"/>
                  </a:lnTo>
                  <a:lnTo>
                    <a:pt x="5" y="58"/>
                  </a:lnTo>
                  <a:lnTo>
                    <a:pt x="1" y="71"/>
                  </a:lnTo>
                  <a:lnTo>
                    <a:pt x="0" y="84"/>
                  </a:lnTo>
                  <a:lnTo>
                    <a:pt x="0" y="99"/>
                  </a:lnTo>
                  <a:lnTo>
                    <a:pt x="0" y="112"/>
                  </a:lnTo>
                  <a:lnTo>
                    <a:pt x="1" y="127"/>
                  </a:lnTo>
                  <a:lnTo>
                    <a:pt x="5" y="139"/>
                  </a:lnTo>
                  <a:lnTo>
                    <a:pt x="8" y="152"/>
                  </a:lnTo>
                  <a:lnTo>
                    <a:pt x="13" y="165"/>
                  </a:lnTo>
                  <a:lnTo>
                    <a:pt x="20" y="177"/>
                  </a:lnTo>
                  <a:lnTo>
                    <a:pt x="26" y="189"/>
                  </a:lnTo>
                  <a:lnTo>
                    <a:pt x="35" y="199"/>
                  </a:lnTo>
                  <a:lnTo>
                    <a:pt x="41" y="199"/>
                  </a:lnTo>
                  <a:lnTo>
                    <a:pt x="33" y="189"/>
                  </a:lnTo>
                  <a:lnTo>
                    <a:pt x="25" y="177"/>
                  </a:lnTo>
                  <a:lnTo>
                    <a:pt x="20" y="165"/>
                  </a:lnTo>
                  <a:lnTo>
                    <a:pt x="15" y="152"/>
                  </a:lnTo>
                  <a:lnTo>
                    <a:pt x="10" y="141"/>
                  </a:lnTo>
                  <a:lnTo>
                    <a:pt x="6" y="127"/>
                  </a:lnTo>
                  <a:lnTo>
                    <a:pt x="5" y="112"/>
                  </a:lnTo>
                  <a:lnTo>
                    <a:pt x="5" y="99"/>
                  </a:lnTo>
                  <a:lnTo>
                    <a:pt x="5" y="84"/>
                  </a:lnTo>
                  <a:lnTo>
                    <a:pt x="6" y="71"/>
                  </a:lnTo>
                  <a:lnTo>
                    <a:pt x="10" y="58"/>
                  </a:lnTo>
                  <a:lnTo>
                    <a:pt x="15" y="45"/>
                  </a:lnTo>
                  <a:lnTo>
                    <a:pt x="20" y="33"/>
                  </a:lnTo>
                  <a:lnTo>
                    <a:pt x="25" y="21"/>
                  </a:lnTo>
                  <a:lnTo>
                    <a:pt x="33" y="10"/>
                  </a:lnTo>
                  <a:lnTo>
                    <a:pt x="41" y="0"/>
                  </a:lnTo>
                  <a:lnTo>
                    <a:pt x="35"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75" name="Freeform 215">
              <a:extLst>
                <a:ext uri="{FF2B5EF4-FFF2-40B4-BE49-F238E27FC236}">
                  <a16:creationId xmlns:a16="http://schemas.microsoft.com/office/drawing/2014/main" id="{A9503B53-A629-AA61-B68A-E309D214868F}"/>
                </a:ext>
              </a:extLst>
            </p:cNvPr>
            <p:cNvSpPr>
              <a:spLocks noEditPoints="1"/>
            </p:cNvSpPr>
            <p:nvPr/>
          </p:nvSpPr>
          <p:spPr bwMode="auto">
            <a:xfrm>
              <a:off x="1677" y="1514"/>
              <a:ext cx="317" cy="199"/>
            </a:xfrm>
            <a:custGeom>
              <a:avLst/>
              <a:gdLst>
                <a:gd name="T0" fmla="*/ 317 w 317"/>
                <a:gd name="T1" fmla="*/ 84 h 199"/>
                <a:gd name="T2" fmla="*/ 312 w 317"/>
                <a:gd name="T3" fmla="*/ 58 h 199"/>
                <a:gd name="T4" fmla="*/ 303 w 317"/>
                <a:gd name="T5" fmla="*/ 33 h 199"/>
                <a:gd name="T6" fmla="*/ 290 w 317"/>
                <a:gd name="T7" fmla="*/ 10 h 199"/>
                <a:gd name="T8" fmla="*/ 275 w 317"/>
                <a:gd name="T9" fmla="*/ 0 h 199"/>
                <a:gd name="T10" fmla="*/ 292 w 317"/>
                <a:gd name="T11" fmla="*/ 21 h 199"/>
                <a:gd name="T12" fmla="*/ 303 w 317"/>
                <a:gd name="T13" fmla="*/ 45 h 199"/>
                <a:gd name="T14" fmla="*/ 310 w 317"/>
                <a:gd name="T15" fmla="*/ 71 h 199"/>
                <a:gd name="T16" fmla="*/ 312 w 317"/>
                <a:gd name="T17" fmla="*/ 99 h 199"/>
                <a:gd name="T18" fmla="*/ 310 w 317"/>
                <a:gd name="T19" fmla="*/ 127 h 199"/>
                <a:gd name="T20" fmla="*/ 303 w 317"/>
                <a:gd name="T21" fmla="*/ 152 h 199"/>
                <a:gd name="T22" fmla="*/ 292 w 317"/>
                <a:gd name="T23" fmla="*/ 177 h 199"/>
                <a:gd name="T24" fmla="*/ 275 w 317"/>
                <a:gd name="T25" fmla="*/ 199 h 199"/>
                <a:gd name="T26" fmla="*/ 290 w 317"/>
                <a:gd name="T27" fmla="*/ 189 h 199"/>
                <a:gd name="T28" fmla="*/ 303 w 317"/>
                <a:gd name="T29" fmla="*/ 165 h 199"/>
                <a:gd name="T30" fmla="*/ 312 w 317"/>
                <a:gd name="T31" fmla="*/ 141 h 199"/>
                <a:gd name="T32" fmla="*/ 317 w 317"/>
                <a:gd name="T33" fmla="*/ 112 h 199"/>
                <a:gd name="T34" fmla="*/ 37 w 317"/>
                <a:gd name="T35" fmla="*/ 0 h 199"/>
                <a:gd name="T36" fmla="*/ 22 w 317"/>
                <a:gd name="T37" fmla="*/ 21 h 199"/>
                <a:gd name="T38" fmla="*/ 10 w 317"/>
                <a:gd name="T39" fmla="*/ 46 h 199"/>
                <a:gd name="T40" fmla="*/ 4 w 317"/>
                <a:gd name="T41" fmla="*/ 71 h 199"/>
                <a:gd name="T42" fmla="*/ 0 w 317"/>
                <a:gd name="T43" fmla="*/ 99 h 199"/>
                <a:gd name="T44" fmla="*/ 4 w 317"/>
                <a:gd name="T45" fmla="*/ 127 h 199"/>
                <a:gd name="T46" fmla="*/ 10 w 317"/>
                <a:gd name="T47" fmla="*/ 152 h 199"/>
                <a:gd name="T48" fmla="*/ 22 w 317"/>
                <a:gd name="T49" fmla="*/ 177 h 199"/>
                <a:gd name="T50" fmla="*/ 37 w 317"/>
                <a:gd name="T51" fmla="*/ 199 h 199"/>
                <a:gd name="T52" fmla="*/ 35 w 317"/>
                <a:gd name="T53" fmla="*/ 189 h 199"/>
                <a:gd name="T54" fmla="*/ 20 w 317"/>
                <a:gd name="T55" fmla="*/ 165 h 199"/>
                <a:gd name="T56" fmla="*/ 12 w 317"/>
                <a:gd name="T57" fmla="*/ 141 h 199"/>
                <a:gd name="T58" fmla="*/ 7 w 317"/>
                <a:gd name="T59" fmla="*/ 112 h 199"/>
                <a:gd name="T60" fmla="*/ 7 w 317"/>
                <a:gd name="T61" fmla="*/ 84 h 199"/>
                <a:gd name="T62" fmla="*/ 12 w 317"/>
                <a:gd name="T63" fmla="*/ 58 h 199"/>
                <a:gd name="T64" fmla="*/ 20 w 317"/>
                <a:gd name="T65" fmla="*/ 33 h 199"/>
                <a:gd name="T66" fmla="*/ 35 w 317"/>
                <a:gd name="T67" fmla="*/ 10 h 199"/>
                <a:gd name="T68" fmla="*/ 37 w 31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7" h="199">
                  <a:moveTo>
                    <a:pt x="317" y="99"/>
                  </a:moveTo>
                  <a:lnTo>
                    <a:pt x="317" y="84"/>
                  </a:lnTo>
                  <a:lnTo>
                    <a:pt x="315" y="71"/>
                  </a:lnTo>
                  <a:lnTo>
                    <a:pt x="312" y="58"/>
                  </a:lnTo>
                  <a:lnTo>
                    <a:pt x="308" y="46"/>
                  </a:lnTo>
                  <a:lnTo>
                    <a:pt x="303" y="33"/>
                  </a:lnTo>
                  <a:lnTo>
                    <a:pt x="297" y="21"/>
                  </a:lnTo>
                  <a:lnTo>
                    <a:pt x="290" y="10"/>
                  </a:lnTo>
                  <a:lnTo>
                    <a:pt x="282" y="0"/>
                  </a:lnTo>
                  <a:lnTo>
                    <a:pt x="275" y="0"/>
                  </a:lnTo>
                  <a:lnTo>
                    <a:pt x="284" y="10"/>
                  </a:lnTo>
                  <a:lnTo>
                    <a:pt x="292" y="21"/>
                  </a:lnTo>
                  <a:lnTo>
                    <a:pt x="297" y="33"/>
                  </a:lnTo>
                  <a:lnTo>
                    <a:pt x="303" y="45"/>
                  </a:lnTo>
                  <a:lnTo>
                    <a:pt x="307" y="58"/>
                  </a:lnTo>
                  <a:lnTo>
                    <a:pt x="310" y="71"/>
                  </a:lnTo>
                  <a:lnTo>
                    <a:pt x="312" y="84"/>
                  </a:lnTo>
                  <a:lnTo>
                    <a:pt x="312" y="99"/>
                  </a:lnTo>
                  <a:lnTo>
                    <a:pt x="312" y="112"/>
                  </a:lnTo>
                  <a:lnTo>
                    <a:pt x="310" y="127"/>
                  </a:lnTo>
                  <a:lnTo>
                    <a:pt x="307" y="141"/>
                  </a:lnTo>
                  <a:lnTo>
                    <a:pt x="303" y="152"/>
                  </a:lnTo>
                  <a:lnTo>
                    <a:pt x="297" y="165"/>
                  </a:lnTo>
                  <a:lnTo>
                    <a:pt x="292" y="177"/>
                  </a:lnTo>
                  <a:lnTo>
                    <a:pt x="284" y="189"/>
                  </a:lnTo>
                  <a:lnTo>
                    <a:pt x="275" y="199"/>
                  </a:lnTo>
                  <a:lnTo>
                    <a:pt x="282" y="199"/>
                  </a:lnTo>
                  <a:lnTo>
                    <a:pt x="290" y="189"/>
                  </a:lnTo>
                  <a:lnTo>
                    <a:pt x="297" y="177"/>
                  </a:lnTo>
                  <a:lnTo>
                    <a:pt x="303" y="165"/>
                  </a:lnTo>
                  <a:lnTo>
                    <a:pt x="308" y="152"/>
                  </a:lnTo>
                  <a:lnTo>
                    <a:pt x="312" y="141"/>
                  </a:lnTo>
                  <a:lnTo>
                    <a:pt x="315" y="127"/>
                  </a:lnTo>
                  <a:lnTo>
                    <a:pt x="317" y="112"/>
                  </a:lnTo>
                  <a:lnTo>
                    <a:pt x="317" y="99"/>
                  </a:lnTo>
                  <a:close/>
                  <a:moveTo>
                    <a:pt x="37" y="0"/>
                  </a:moveTo>
                  <a:lnTo>
                    <a:pt x="29" y="10"/>
                  </a:lnTo>
                  <a:lnTo>
                    <a:pt x="22" y="21"/>
                  </a:lnTo>
                  <a:lnTo>
                    <a:pt x="15" y="33"/>
                  </a:lnTo>
                  <a:lnTo>
                    <a:pt x="10" y="46"/>
                  </a:lnTo>
                  <a:lnTo>
                    <a:pt x="7" y="58"/>
                  </a:lnTo>
                  <a:lnTo>
                    <a:pt x="4" y="71"/>
                  </a:lnTo>
                  <a:lnTo>
                    <a:pt x="2" y="84"/>
                  </a:lnTo>
                  <a:lnTo>
                    <a:pt x="0" y="99"/>
                  </a:lnTo>
                  <a:lnTo>
                    <a:pt x="2" y="112"/>
                  </a:lnTo>
                  <a:lnTo>
                    <a:pt x="4" y="127"/>
                  </a:lnTo>
                  <a:lnTo>
                    <a:pt x="7" y="141"/>
                  </a:lnTo>
                  <a:lnTo>
                    <a:pt x="10" y="152"/>
                  </a:lnTo>
                  <a:lnTo>
                    <a:pt x="15" y="165"/>
                  </a:lnTo>
                  <a:lnTo>
                    <a:pt x="22" y="177"/>
                  </a:lnTo>
                  <a:lnTo>
                    <a:pt x="29" y="189"/>
                  </a:lnTo>
                  <a:lnTo>
                    <a:pt x="37" y="199"/>
                  </a:lnTo>
                  <a:lnTo>
                    <a:pt x="42" y="199"/>
                  </a:lnTo>
                  <a:lnTo>
                    <a:pt x="35" y="189"/>
                  </a:lnTo>
                  <a:lnTo>
                    <a:pt x="27" y="177"/>
                  </a:lnTo>
                  <a:lnTo>
                    <a:pt x="20" y="165"/>
                  </a:lnTo>
                  <a:lnTo>
                    <a:pt x="15" y="152"/>
                  </a:lnTo>
                  <a:lnTo>
                    <a:pt x="12" y="141"/>
                  </a:lnTo>
                  <a:lnTo>
                    <a:pt x="9" y="127"/>
                  </a:lnTo>
                  <a:lnTo>
                    <a:pt x="7" y="112"/>
                  </a:lnTo>
                  <a:lnTo>
                    <a:pt x="5" y="99"/>
                  </a:lnTo>
                  <a:lnTo>
                    <a:pt x="7" y="84"/>
                  </a:lnTo>
                  <a:lnTo>
                    <a:pt x="9" y="71"/>
                  </a:lnTo>
                  <a:lnTo>
                    <a:pt x="12" y="58"/>
                  </a:lnTo>
                  <a:lnTo>
                    <a:pt x="15" y="45"/>
                  </a:lnTo>
                  <a:lnTo>
                    <a:pt x="20" y="33"/>
                  </a:lnTo>
                  <a:lnTo>
                    <a:pt x="27" y="21"/>
                  </a:lnTo>
                  <a:lnTo>
                    <a:pt x="35" y="10"/>
                  </a:lnTo>
                  <a:lnTo>
                    <a:pt x="42" y="0"/>
                  </a:lnTo>
                  <a:lnTo>
                    <a:pt x="37"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76" name="Freeform 216">
              <a:extLst>
                <a:ext uri="{FF2B5EF4-FFF2-40B4-BE49-F238E27FC236}">
                  <a16:creationId xmlns:a16="http://schemas.microsoft.com/office/drawing/2014/main" id="{031BEE60-86A4-44F2-554D-4BF5C40583AA}"/>
                </a:ext>
              </a:extLst>
            </p:cNvPr>
            <p:cNvSpPr>
              <a:spLocks noEditPoints="1"/>
            </p:cNvSpPr>
            <p:nvPr/>
          </p:nvSpPr>
          <p:spPr bwMode="auto">
            <a:xfrm>
              <a:off x="1681" y="1514"/>
              <a:ext cx="311" cy="199"/>
            </a:xfrm>
            <a:custGeom>
              <a:avLst/>
              <a:gdLst>
                <a:gd name="T0" fmla="*/ 309 w 311"/>
                <a:gd name="T1" fmla="*/ 84 h 199"/>
                <a:gd name="T2" fmla="*/ 306 w 311"/>
                <a:gd name="T3" fmla="*/ 58 h 199"/>
                <a:gd name="T4" fmla="*/ 296 w 311"/>
                <a:gd name="T5" fmla="*/ 33 h 199"/>
                <a:gd name="T6" fmla="*/ 283 w 311"/>
                <a:gd name="T7" fmla="*/ 10 h 199"/>
                <a:gd name="T8" fmla="*/ 268 w 311"/>
                <a:gd name="T9" fmla="*/ 0 h 199"/>
                <a:gd name="T10" fmla="*/ 285 w 311"/>
                <a:gd name="T11" fmla="*/ 21 h 199"/>
                <a:gd name="T12" fmla="*/ 296 w 311"/>
                <a:gd name="T13" fmla="*/ 45 h 199"/>
                <a:gd name="T14" fmla="*/ 303 w 311"/>
                <a:gd name="T15" fmla="*/ 71 h 199"/>
                <a:gd name="T16" fmla="*/ 306 w 311"/>
                <a:gd name="T17" fmla="*/ 99 h 199"/>
                <a:gd name="T18" fmla="*/ 303 w 311"/>
                <a:gd name="T19" fmla="*/ 127 h 199"/>
                <a:gd name="T20" fmla="*/ 296 w 311"/>
                <a:gd name="T21" fmla="*/ 154 h 199"/>
                <a:gd name="T22" fmla="*/ 285 w 311"/>
                <a:gd name="T23" fmla="*/ 177 h 199"/>
                <a:gd name="T24" fmla="*/ 268 w 311"/>
                <a:gd name="T25" fmla="*/ 199 h 199"/>
                <a:gd name="T26" fmla="*/ 283 w 311"/>
                <a:gd name="T27" fmla="*/ 189 h 199"/>
                <a:gd name="T28" fmla="*/ 296 w 311"/>
                <a:gd name="T29" fmla="*/ 165 h 199"/>
                <a:gd name="T30" fmla="*/ 306 w 311"/>
                <a:gd name="T31" fmla="*/ 141 h 199"/>
                <a:gd name="T32" fmla="*/ 309 w 311"/>
                <a:gd name="T33" fmla="*/ 112 h 199"/>
                <a:gd name="T34" fmla="*/ 36 w 311"/>
                <a:gd name="T35" fmla="*/ 0 h 199"/>
                <a:gd name="T36" fmla="*/ 20 w 311"/>
                <a:gd name="T37" fmla="*/ 21 h 199"/>
                <a:gd name="T38" fmla="*/ 10 w 311"/>
                <a:gd name="T39" fmla="*/ 45 h 199"/>
                <a:gd name="T40" fmla="*/ 1 w 311"/>
                <a:gd name="T41" fmla="*/ 71 h 199"/>
                <a:gd name="T42" fmla="*/ 0 w 311"/>
                <a:gd name="T43" fmla="*/ 99 h 199"/>
                <a:gd name="T44" fmla="*/ 1 w 311"/>
                <a:gd name="T45" fmla="*/ 127 h 199"/>
                <a:gd name="T46" fmla="*/ 10 w 311"/>
                <a:gd name="T47" fmla="*/ 152 h 199"/>
                <a:gd name="T48" fmla="*/ 20 w 311"/>
                <a:gd name="T49" fmla="*/ 177 h 199"/>
                <a:gd name="T50" fmla="*/ 36 w 311"/>
                <a:gd name="T51" fmla="*/ 199 h 199"/>
                <a:gd name="T52" fmla="*/ 33 w 311"/>
                <a:gd name="T53" fmla="*/ 189 h 199"/>
                <a:gd name="T54" fmla="*/ 20 w 311"/>
                <a:gd name="T55" fmla="*/ 165 h 199"/>
                <a:gd name="T56" fmla="*/ 10 w 311"/>
                <a:gd name="T57" fmla="*/ 141 h 199"/>
                <a:gd name="T58" fmla="*/ 5 w 311"/>
                <a:gd name="T59" fmla="*/ 112 h 199"/>
                <a:gd name="T60" fmla="*/ 5 w 311"/>
                <a:gd name="T61" fmla="*/ 84 h 199"/>
                <a:gd name="T62" fmla="*/ 10 w 311"/>
                <a:gd name="T63" fmla="*/ 58 h 199"/>
                <a:gd name="T64" fmla="*/ 20 w 311"/>
                <a:gd name="T65" fmla="*/ 33 h 199"/>
                <a:gd name="T66" fmla="*/ 33 w 311"/>
                <a:gd name="T67" fmla="*/ 10 h 199"/>
                <a:gd name="T68" fmla="*/ 36 w 31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1" h="199">
                  <a:moveTo>
                    <a:pt x="311" y="99"/>
                  </a:moveTo>
                  <a:lnTo>
                    <a:pt x="309" y="84"/>
                  </a:lnTo>
                  <a:lnTo>
                    <a:pt x="308" y="71"/>
                  </a:lnTo>
                  <a:lnTo>
                    <a:pt x="306" y="58"/>
                  </a:lnTo>
                  <a:lnTo>
                    <a:pt x="301" y="45"/>
                  </a:lnTo>
                  <a:lnTo>
                    <a:pt x="296" y="33"/>
                  </a:lnTo>
                  <a:lnTo>
                    <a:pt x="290" y="21"/>
                  </a:lnTo>
                  <a:lnTo>
                    <a:pt x="283" y="10"/>
                  </a:lnTo>
                  <a:lnTo>
                    <a:pt x="275" y="0"/>
                  </a:lnTo>
                  <a:lnTo>
                    <a:pt x="268" y="0"/>
                  </a:lnTo>
                  <a:lnTo>
                    <a:pt x="276" y="10"/>
                  </a:lnTo>
                  <a:lnTo>
                    <a:pt x="285" y="21"/>
                  </a:lnTo>
                  <a:lnTo>
                    <a:pt x="291" y="33"/>
                  </a:lnTo>
                  <a:lnTo>
                    <a:pt x="296" y="45"/>
                  </a:lnTo>
                  <a:lnTo>
                    <a:pt x="301" y="58"/>
                  </a:lnTo>
                  <a:lnTo>
                    <a:pt x="303" y="71"/>
                  </a:lnTo>
                  <a:lnTo>
                    <a:pt x="306" y="84"/>
                  </a:lnTo>
                  <a:lnTo>
                    <a:pt x="306" y="99"/>
                  </a:lnTo>
                  <a:lnTo>
                    <a:pt x="306" y="112"/>
                  </a:lnTo>
                  <a:lnTo>
                    <a:pt x="303" y="127"/>
                  </a:lnTo>
                  <a:lnTo>
                    <a:pt x="301" y="141"/>
                  </a:lnTo>
                  <a:lnTo>
                    <a:pt x="296" y="154"/>
                  </a:lnTo>
                  <a:lnTo>
                    <a:pt x="291" y="165"/>
                  </a:lnTo>
                  <a:lnTo>
                    <a:pt x="285" y="177"/>
                  </a:lnTo>
                  <a:lnTo>
                    <a:pt x="276" y="189"/>
                  </a:lnTo>
                  <a:lnTo>
                    <a:pt x="268" y="199"/>
                  </a:lnTo>
                  <a:lnTo>
                    <a:pt x="275" y="199"/>
                  </a:lnTo>
                  <a:lnTo>
                    <a:pt x="283" y="189"/>
                  </a:lnTo>
                  <a:lnTo>
                    <a:pt x="290" y="177"/>
                  </a:lnTo>
                  <a:lnTo>
                    <a:pt x="296" y="165"/>
                  </a:lnTo>
                  <a:lnTo>
                    <a:pt x="301" y="152"/>
                  </a:lnTo>
                  <a:lnTo>
                    <a:pt x="306" y="141"/>
                  </a:lnTo>
                  <a:lnTo>
                    <a:pt x="308" y="127"/>
                  </a:lnTo>
                  <a:lnTo>
                    <a:pt x="309" y="112"/>
                  </a:lnTo>
                  <a:lnTo>
                    <a:pt x="311" y="99"/>
                  </a:lnTo>
                  <a:close/>
                  <a:moveTo>
                    <a:pt x="36" y="0"/>
                  </a:moveTo>
                  <a:lnTo>
                    <a:pt x="28" y="10"/>
                  </a:lnTo>
                  <a:lnTo>
                    <a:pt x="20" y="21"/>
                  </a:lnTo>
                  <a:lnTo>
                    <a:pt x="15" y="33"/>
                  </a:lnTo>
                  <a:lnTo>
                    <a:pt x="10" y="45"/>
                  </a:lnTo>
                  <a:lnTo>
                    <a:pt x="5" y="58"/>
                  </a:lnTo>
                  <a:lnTo>
                    <a:pt x="1" y="71"/>
                  </a:lnTo>
                  <a:lnTo>
                    <a:pt x="0" y="84"/>
                  </a:lnTo>
                  <a:lnTo>
                    <a:pt x="0" y="99"/>
                  </a:lnTo>
                  <a:lnTo>
                    <a:pt x="0" y="112"/>
                  </a:lnTo>
                  <a:lnTo>
                    <a:pt x="1" y="127"/>
                  </a:lnTo>
                  <a:lnTo>
                    <a:pt x="5" y="141"/>
                  </a:lnTo>
                  <a:lnTo>
                    <a:pt x="10" y="152"/>
                  </a:lnTo>
                  <a:lnTo>
                    <a:pt x="15" y="165"/>
                  </a:lnTo>
                  <a:lnTo>
                    <a:pt x="20" y="177"/>
                  </a:lnTo>
                  <a:lnTo>
                    <a:pt x="28" y="189"/>
                  </a:lnTo>
                  <a:lnTo>
                    <a:pt x="36" y="199"/>
                  </a:lnTo>
                  <a:lnTo>
                    <a:pt x="41" y="199"/>
                  </a:lnTo>
                  <a:lnTo>
                    <a:pt x="33" y="189"/>
                  </a:lnTo>
                  <a:lnTo>
                    <a:pt x="26" y="177"/>
                  </a:lnTo>
                  <a:lnTo>
                    <a:pt x="20" y="165"/>
                  </a:lnTo>
                  <a:lnTo>
                    <a:pt x="15" y="154"/>
                  </a:lnTo>
                  <a:lnTo>
                    <a:pt x="10" y="141"/>
                  </a:lnTo>
                  <a:lnTo>
                    <a:pt x="6" y="127"/>
                  </a:lnTo>
                  <a:lnTo>
                    <a:pt x="5" y="112"/>
                  </a:lnTo>
                  <a:lnTo>
                    <a:pt x="5" y="99"/>
                  </a:lnTo>
                  <a:lnTo>
                    <a:pt x="5" y="84"/>
                  </a:lnTo>
                  <a:lnTo>
                    <a:pt x="6" y="71"/>
                  </a:lnTo>
                  <a:lnTo>
                    <a:pt x="10" y="58"/>
                  </a:lnTo>
                  <a:lnTo>
                    <a:pt x="15" y="45"/>
                  </a:lnTo>
                  <a:lnTo>
                    <a:pt x="20" y="33"/>
                  </a:lnTo>
                  <a:lnTo>
                    <a:pt x="26" y="21"/>
                  </a:lnTo>
                  <a:lnTo>
                    <a:pt x="33" y="10"/>
                  </a:lnTo>
                  <a:lnTo>
                    <a:pt x="41" y="0"/>
                  </a:lnTo>
                  <a:lnTo>
                    <a:pt x="36"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77" name="Freeform 217">
              <a:extLst>
                <a:ext uri="{FF2B5EF4-FFF2-40B4-BE49-F238E27FC236}">
                  <a16:creationId xmlns:a16="http://schemas.microsoft.com/office/drawing/2014/main" id="{6CF4046E-3EEF-7A63-509C-F4638859D934}"/>
                </a:ext>
              </a:extLst>
            </p:cNvPr>
            <p:cNvSpPr>
              <a:spLocks noEditPoints="1"/>
            </p:cNvSpPr>
            <p:nvPr/>
          </p:nvSpPr>
          <p:spPr bwMode="auto">
            <a:xfrm>
              <a:off x="1682" y="1514"/>
              <a:ext cx="307" cy="199"/>
            </a:xfrm>
            <a:custGeom>
              <a:avLst/>
              <a:gdLst>
                <a:gd name="T0" fmla="*/ 307 w 307"/>
                <a:gd name="T1" fmla="*/ 84 h 199"/>
                <a:gd name="T2" fmla="*/ 302 w 307"/>
                <a:gd name="T3" fmla="*/ 58 h 199"/>
                <a:gd name="T4" fmla="*/ 292 w 307"/>
                <a:gd name="T5" fmla="*/ 33 h 199"/>
                <a:gd name="T6" fmla="*/ 279 w 307"/>
                <a:gd name="T7" fmla="*/ 10 h 199"/>
                <a:gd name="T8" fmla="*/ 264 w 307"/>
                <a:gd name="T9" fmla="*/ 0 h 199"/>
                <a:gd name="T10" fmla="*/ 280 w 307"/>
                <a:gd name="T11" fmla="*/ 21 h 199"/>
                <a:gd name="T12" fmla="*/ 292 w 307"/>
                <a:gd name="T13" fmla="*/ 45 h 199"/>
                <a:gd name="T14" fmla="*/ 300 w 307"/>
                <a:gd name="T15" fmla="*/ 71 h 199"/>
                <a:gd name="T16" fmla="*/ 302 w 307"/>
                <a:gd name="T17" fmla="*/ 99 h 199"/>
                <a:gd name="T18" fmla="*/ 300 w 307"/>
                <a:gd name="T19" fmla="*/ 127 h 199"/>
                <a:gd name="T20" fmla="*/ 292 w 307"/>
                <a:gd name="T21" fmla="*/ 154 h 199"/>
                <a:gd name="T22" fmla="*/ 280 w 307"/>
                <a:gd name="T23" fmla="*/ 177 h 199"/>
                <a:gd name="T24" fmla="*/ 264 w 307"/>
                <a:gd name="T25" fmla="*/ 199 h 199"/>
                <a:gd name="T26" fmla="*/ 279 w 307"/>
                <a:gd name="T27" fmla="*/ 189 h 199"/>
                <a:gd name="T28" fmla="*/ 292 w 307"/>
                <a:gd name="T29" fmla="*/ 165 h 199"/>
                <a:gd name="T30" fmla="*/ 302 w 307"/>
                <a:gd name="T31" fmla="*/ 141 h 199"/>
                <a:gd name="T32" fmla="*/ 307 w 307"/>
                <a:gd name="T33" fmla="*/ 112 h 199"/>
                <a:gd name="T34" fmla="*/ 37 w 307"/>
                <a:gd name="T35" fmla="*/ 0 h 199"/>
                <a:gd name="T36" fmla="*/ 22 w 307"/>
                <a:gd name="T37" fmla="*/ 21 h 199"/>
                <a:gd name="T38" fmla="*/ 10 w 307"/>
                <a:gd name="T39" fmla="*/ 45 h 199"/>
                <a:gd name="T40" fmla="*/ 4 w 307"/>
                <a:gd name="T41" fmla="*/ 71 h 199"/>
                <a:gd name="T42" fmla="*/ 0 w 307"/>
                <a:gd name="T43" fmla="*/ 99 h 199"/>
                <a:gd name="T44" fmla="*/ 4 w 307"/>
                <a:gd name="T45" fmla="*/ 127 h 199"/>
                <a:gd name="T46" fmla="*/ 10 w 307"/>
                <a:gd name="T47" fmla="*/ 152 h 199"/>
                <a:gd name="T48" fmla="*/ 22 w 307"/>
                <a:gd name="T49" fmla="*/ 177 h 199"/>
                <a:gd name="T50" fmla="*/ 37 w 307"/>
                <a:gd name="T51" fmla="*/ 199 h 199"/>
                <a:gd name="T52" fmla="*/ 35 w 307"/>
                <a:gd name="T53" fmla="*/ 189 h 199"/>
                <a:gd name="T54" fmla="*/ 22 w 307"/>
                <a:gd name="T55" fmla="*/ 165 h 199"/>
                <a:gd name="T56" fmla="*/ 12 w 307"/>
                <a:gd name="T57" fmla="*/ 141 h 199"/>
                <a:gd name="T58" fmla="*/ 7 w 307"/>
                <a:gd name="T59" fmla="*/ 112 h 199"/>
                <a:gd name="T60" fmla="*/ 7 w 307"/>
                <a:gd name="T61" fmla="*/ 84 h 199"/>
                <a:gd name="T62" fmla="*/ 12 w 307"/>
                <a:gd name="T63" fmla="*/ 58 h 199"/>
                <a:gd name="T64" fmla="*/ 22 w 307"/>
                <a:gd name="T65" fmla="*/ 33 h 199"/>
                <a:gd name="T66" fmla="*/ 35 w 307"/>
                <a:gd name="T67" fmla="*/ 10 h 199"/>
                <a:gd name="T68" fmla="*/ 37 w 30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7" h="199">
                  <a:moveTo>
                    <a:pt x="307" y="99"/>
                  </a:moveTo>
                  <a:lnTo>
                    <a:pt x="307" y="84"/>
                  </a:lnTo>
                  <a:lnTo>
                    <a:pt x="305" y="71"/>
                  </a:lnTo>
                  <a:lnTo>
                    <a:pt x="302" y="58"/>
                  </a:lnTo>
                  <a:lnTo>
                    <a:pt x="298" y="45"/>
                  </a:lnTo>
                  <a:lnTo>
                    <a:pt x="292" y="33"/>
                  </a:lnTo>
                  <a:lnTo>
                    <a:pt x="287" y="21"/>
                  </a:lnTo>
                  <a:lnTo>
                    <a:pt x="279" y="10"/>
                  </a:lnTo>
                  <a:lnTo>
                    <a:pt x="270" y="0"/>
                  </a:lnTo>
                  <a:lnTo>
                    <a:pt x="264" y="0"/>
                  </a:lnTo>
                  <a:lnTo>
                    <a:pt x="274" y="10"/>
                  </a:lnTo>
                  <a:lnTo>
                    <a:pt x="280" y="21"/>
                  </a:lnTo>
                  <a:lnTo>
                    <a:pt x="287" y="33"/>
                  </a:lnTo>
                  <a:lnTo>
                    <a:pt x="292" y="45"/>
                  </a:lnTo>
                  <a:lnTo>
                    <a:pt x="297" y="58"/>
                  </a:lnTo>
                  <a:lnTo>
                    <a:pt x="300" y="71"/>
                  </a:lnTo>
                  <a:lnTo>
                    <a:pt x="302" y="84"/>
                  </a:lnTo>
                  <a:lnTo>
                    <a:pt x="302" y="99"/>
                  </a:lnTo>
                  <a:lnTo>
                    <a:pt x="302" y="112"/>
                  </a:lnTo>
                  <a:lnTo>
                    <a:pt x="300" y="127"/>
                  </a:lnTo>
                  <a:lnTo>
                    <a:pt x="297" y="141"/>
                  </a:lnTo>
                  <a:lnTo>
                    <a:pt x="292" y="154"/>
                  </a:lnTo>
                  <a:lnTo>
                    <a:pt x="287" y="165"/>
                  </a:lnTo>
                  <a:lnTo>
                    <a:pt x="280" y="177"/>
                  </a:lnTo>
                  <a:lnTo>
                    <a:pt x="274" y="189"/>
                  </a:lnTo>
                  <a:lnTo>
                    <a:pt x="264" y="199"/>
                  </a:lnTo>
                  <a:lnTo>
                    <a:pt x="270" y="199"/>
                  </a:lnTo>
                  <a:lnTo>
                    <a:pt x="279" y="189"/>
                  </a:lnTo>
                  <a:lnTo>
                    <a:pt x="287" y="177"/>
                  </a:lnTo>
                  <a:lnTo>
                    <a:pt x="292" y="165"/>
                  </a:lnTo>
                  <a:lnTo>
                    <a:pt x="298" y="152"/>
                  </a:lnTo>
                  <a:lnTo>
                    <a:pt x="302" y="141"/>
                  </a:lnTo>
                  <a:lnTo>
                    <a:pt x="305" y="127"/>
                  </a:lnTo>
                  <a:lnTo>
                    <a:pt x="307" y="112"/>
                  </a:lnTo>
                  <a:lnTo>
                    <a:pt x="307" y="99"/>
                  </a:lnTo>
                  <a:close/>
                  <a:moveTo>
                    <a:pt x="37" y="0"/>
                  </a:moveTo>
                  <a:lnTo>
                    <a:pt x="30" y="10"/>
                  </a:lnTo>
                  <a:lnTo>
                    <a:pt x="22" y="21"/>
                  </a:lnTo>
                  <a:lnTo>
                    <a:pt x="15" y="33"/>
                  </a:lnTo>
                  <a:lnTo>
                    <a:pt x="10" y="45"/>
                  </a:lnTo>
                  <a:lnTo>
                    <a:pt x="7" y="58"/>
                  </a:lnTo>
                  <a:lnTo>
                    <a:pt x="4" y="71"/>
                  </a:lnTo>
                  <a:lnTo>
                    <a:pt x="2" y="84"/>
                  </a:lnTo>
                  <a:lnTo>
                    <a:pt x="0" y="99"/>
                  </a:lnTo>
                  <a:lnTo>
                    <a:pt x="2" y="112"/>
                  </a:lnTo>
                  <a:lnTo>
                    <a:pt x="4" y="127"/>
                  </a:lnTo>
                  <a:lnTo>
                    <a:pt x="7" y="141"/>
                  </a:lnTo>
                  <a:lnTo>
                    <a:pt x="10" y="152"/>
                  </a:lnTo>
                  <a:lnTo>
                    <a:pt x="15" y="165"/>
                  </a:lnTo>
                  <a:lnTo>
                    <a:pt x="22" y="177"/>
                  </a:lnTo>
                  <a:lnTo>
                    <a:pt x="30" y="189"/>
                  </a:lnTo>
                  <a:lnTo>
                    <a:pt x="37" y="199"/>
                  </a:lnTo>
                  <a:lnTo>
                    <a:pt x="43" y="199"/>
                  </a:lnTo>
                  <a:lnTo>
                    <a:pt x="35" y="189"/>
                  </a:lnTo>
                  <a:lnTo>
                    <a:pt x="29" y="177"/>
                  </a:lnTo>
                  <a:lnTo>
                    <a:pt x="22" y="165"/>
                  </a:lnTo>
                  <a:lnTo>
                    <a:pt x="15" y="154"/>
                  </a:lnTo>
                  <a:lnTo>
                    <a:pt x="12" y="141"/>
                  </a:lnTo>
                  <a:lnTo>
                    <a:pt x="9" y="127"/>
                  </a:lnTo>
                  <a:lnTo>
                    <a:pt x="7" y="112"/>
                  </a:lnTo>
                  <a:lnTo>
                    <a:pt x="5" y="99"/>
                  </a:lnTo>
                  <a:lnTo>
                    <a:pt x="7" y="84"/>
                  </a:lnTo>
                  <a:lnTo>
                    <a:pt x="9" y="71"/>
                  </a:lnTo>
                  <a:lnTo>
                    <a:pt x="12" y="58"/>
                  </a:lnTo>
                  <a:lnTo>
                    <a:pt x="15" y="45"/>
                  </a:lnTo>
                  <a:lnTo>
                    <a:pt x="22" y="33"/>
                  </a:lnTo>
                  <a:lnTo>
                    <a:pt x="29" y="21"/>
                  </a:lnTo>
                  <a:lnTo>
                    <a:pt x="35" y="10"/>
                  </a:lnTo>
                  <a:lnTo>
                    <a:pt x="43" y="0"/>
                  </a:lnTo>
                  <a:lnTo>
                    <a:pt x="37"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78" name="Freeform 218">
              <a:extLst>
                <a:ext uri="{FF2B5EF4-FFF2-40B4-BE49-F238E27FC236}">
                  <a16:creationId xmlns:a16="http://schemas.microsoft.com/office/drawing/2014/main" id="{9E9695DE-8A45-4038-4299-6D1D5391836F}"/>
                </a:ext>
              </a:extLst>
            </p:cNvPr>
            <p:cNvSpPr>
              <a:spLocks noEditPoints="1"/>
            </p:cNvSpPr>
            <p:nvPr/>
          </p:nvSpPr>
          <p:spPr bwMode="auto">
            <a:xfrm>
              <a:off x="1686" y="1514"/>
              <a:ext cx="301" cy="199"/>
            </a:xfrm>
            <a:custGeom>
              <a:avLst/>
              <a:gdLst>
                <a:gd name="T0" fmla="*/ 301 w 301"/>
                <a:gd name="T1" fmla="*/ 84 h 199"/>
                <a:gd name="T2" fmla="*/ 296 w 301"/>
                <a:gd name="T3" fmla="*/ 58 h 199"/>
                <a:gd name="T4" fmla="*/ 286 w 301"/>
                <a:gd name="T5" fmla="*/ 33 h 199"/>
                <a:gd name="T6" fmla="*/ 271 w 301"/>
                <a:gd name="T7" fmla="*/ 10 h 199"/>
                <a:gd name="T8" fmla="*/ 256 w 301"/>
                <a:gd name="T9" fmla="*/ 0 h 199"/>
                <a:gd name="T10" fmla="*/ 273 w 301"/>
                <a:gd name="T11" fmla="*/ 21 h 199"/>
                <a:gd name="T12" fmla="*/ 286 w 301"/>
                <a:gd name="T13" fmla="*/ 45 h 199"/>
                <a:gd name="T14" fmla="*/ 293 w 301"/>
                <a:gd name="T15" fmla="*/ 71 h 199"/>
                <a:gd name="T16" fmla="*/ 296 w 301"/>
                <a:gd name="T17" fmla="*/ 99 h 199"/>
                <a:gd name="T18" fmla="*/ 293 w 301"/>
                <a:gd name="T19" fmla="*/ 127 h 199"/>
                <a:gd name="T20" fmla="*/ 286 w 301"/>
                <a:gd name="T21" fmla="*/ 154 h 199"/>
                <a:gd name="T22" fmla="*/ 273 w 301"/>
                <a:gd name="T23" fmla="*/ 177 h 199"/>
                <a:gd name="T24" fmla="*/ 256 w 301"/>
                <a:gd name="T25" fmla="*/ 199 h 199"/>
                <a:gd name="T26" fmla="*/ 271 w 301"/>
                <a:gd name="T27" fmla="*/ 189 h 199"/>
                <a:gd name="T28" fmla="*/ 286 w 301"/>
                <a:gd name="T29" fmla="*/ 165 h 199"/>
                <a:gd name="T30" fmla="*/ 296 w 301"/>
                <a:gd name="T31" fmla="*/ 141 h 199"/>
                <a:gd name="T32" fmla="*/ 301 w 301"/>
                <a:gd name="T33" fmla="*/ 112 h 199"/>
                <a:gd name="T34" fmla="*/ 36 w 301"/>
                <a:gd name="T35" fmla="*/ 0 h 199"/>
                <a:gd name="T36" fmla="*/ 21 w 301"/>
                <a:gd name="T37" fmla="*/ 21 h 199"/>
                <a:gd name="T38" fmla="*/ 10 w 301"/>
                <a:gd name="T39" fmla="*/ 45 h 199"/>
                <a:gd name="T40" fmla="*/ 1 w 301"/>
                <a:gd name="T41" fmla="*/ 71 h 199"/>
                <a:gd name="T42" fmla="*/ 0 w 301"/>
                <a:gd name="T43" fmla="*/ 99 h 199"/>
                <a:gd name="T44" fmla="*/ 1 w 301"/>
                <a:gd name="T45" fmla="*/ 127 h 199"/>
                <a:gd name="T46" fmla="*/ 10 w 301"/>
                <a:gd name="T47" fmla="*/ 154 h 199"/>
                <a:gd name="T48" fmla="*/ 21 w 301"/>
                <a:gd name="T49" fmla="*/ 177 h 199"/>
                <a:gd name="T50" fmla="*/ 36 w 301"/>
                <a:gd name="T51" fmla="*/ 199 h 199"/>
                <a:gd name="T52" fmla="*/ 34 w 301"/>
                <a:gd name="T53" fmla="*/ 189 h 199"/>
                <a:gd name="T54" fmla="*/ 20 w 301"/>
                <a:gd name="T55" fmla="*/ 165 h 199"/>
                <a:gd name="T56" fmla="*/ 10 w 301"/>
                <a:gd name="T57" fmla="*/ 141 h 199"/>
                <a:gd name="T58" fmla="*/ 5 w 301"/>
                <a:gd name="T59" fmla="*/ 112 h 199"/>
                <a:gd name="T60" fmla="*/ 5 w 301"/>
                <a:gd name="T61" fmla="*/ 84 h 199"/>
                <a:gd name="T62" fmla="*/ 10 w 301"/>
                <a:gd name="T63" fmla="*/ 58 h 199"/>
                <a:gd name="T64" fmla="*/ 20 w 301"/>
                <a:gd name="T65" fmla="*/ 33 h 199"/>
                <a:gd name="T66" fmla="*/ 34 w 301"/>
                <a:gd name="T67" fmla="*/ 10 h 199"/>
                <a:gd name="T68" fmla="*/ 36 w 30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1" h="199">
                  <a:moveTo>
                    <a:pt x="301" y="99"/>
                  </a:moveTo>
                  <a:lnTo>
                    <a:pt x="301" y="84"/>
                  </a:lnTo>
                  <a:lnTo>
                    <a:pt x="298" y="71"/>
                  </a:lnTo>
                  <a:lnTo>
                    <a:pt x="296" y="58"/>
                  </a:lnTo>
                  <a:lnTo>
                    <a:pt x="291" y="45"/>
                  </a:lnTo>
                  <a:lnTo>
                    <a:pt x="286" y="33"/>
                  </a:lnTo>
                  <a:lnTo>
                    <a:pt x="280" y="21"/>
                  </a:lnTo>
                  <a:lnTo>
                    <a:pt x="271" y="10"/>
                  </a:lnTo>
                  <a:lnTo>
                    <a:pt x="263" y="0"/>
                  </a:lnTo>
                  <a:lnTo>
                    <a:pt x="256" y="0"/>
                  </a:lnTo>
                  <a:lnTo>
                    <a:pt x="266" y="10"/>
                  </a:lnTo>
                  <a:lnTo>
                    <a:pt x="273" y="21"/>
                  </a:lnTo>
                  <a:lnTo>
                    <a:pt x="280" y="33"/>
                  </a:lnTo>
                  <a:lnTo>
                    <a:pt x="286" y="45"/>
                  </a:lnTo>
                  <a:lnTo>
                    <a:pt x="290" y="58"/>
                  </a:lnTo>
                  <a:lnTo>
                    <a:pt x="293" y="71"/>
                  </a:lnTo>
                  <a:lnTo>
                    <a:pt x="296" y="84"/>
                  </a:lnTo>
                  <a:lnTo>
                    <a:pt x="296" y="99"/>
                  </a:lnTo>
                  <a:lnTo>
                    <a:pt x="296" y="112"/>
                  </a:lnTo>
                  <a:lnTo>
                    <a:pt x="293" y="127"/>
                  </a:lnTo>
                  <a:lnTo>
                    <a:pt x="290" y="141"/>
                  </a:lnTo>
                  <a:lnTo>
                    <a:pt x="286" y="154"/>
                  </a:lnTo>
                  <a:lnTo>
                    <a:pt x="280" y="165"/>
                  </a:lnTo>
                  <a:lnTo>
                    <a:pt x="273" y="177"/>
                  </a:lnTo>
                  <a:lnTo>
                    <a:pt x="266" y="189"/>
                  </a:lnTo>
                  <a:lnTo>
                    <a:pt x="256" y="199"/>
                  </a:lnTo>
                  <a:lnTo>
                    <a:pt x="263" y="199"/>
                  </a:lnTo>
                  <a:lnTo>
                    <a:pt x="271" y="189"/>
                  </a:lnTo>
                  <a:lnTo>
                    <a:pt x="280" y="177"/>
                  </a:lnTo>
                  <a:lnTo>
                    <a:pt x="286" y="165"/>
                  </a:lnTo>
                  <a:lnTo>
                    <a:pt x="291" y="154"/>
                  </a:lnTo>
                  <a:lnTo>
                    <a:pt x="296" y="141"/>
                  </a:lnTo>
                  <a:lnTo>
                    <a:pt x="298" y="127"/>
                  </a:lnTo>
                  <a:lnTo>
                    <a:pt x="301" y="112"/>
                  </a:lnTo>
                  <a:lnTo>
                    <a:pt x="301" y="99"/>
                  </a:lnTo>
                  <a:close/>
                  <a:moveTo>
                    <a:pt x="36" y="0"/>
                  </a:moveTo>
                  <a:lnTo>
                    <a:pt x="28" y="10"/>
                  </a:lnTo>
                  <a:lnTo>
                    <a:pt x="21" y="21"/>
                  </a:lnTo>
                  <a:lnTo>
                    <a:pt x="15" y="33"/>
                  </a:lnTo>
                  <a:lnTo>
                    <a:pt x="10" y="45"/>
                  </a:lnTo>
                  <a:lnTo>
                    <a:pt x="5" y="58"/>
                  </a:lnTo>
                  <a:lnTo>
                    <a:pt x="1" y="71"/>
                  </a:lnTo>
                  <a:lnTo>
                    <a:pt x="0" y="84"/>
                  </a:lnTo>
                  <a:lnTo>
                    <a:pt x="0" y="99"/>
                  </a:lnTo>
                  <a:lnTo>
                    <a:pt x="0" y="112"/>
                  </a:lnTo>
                  <a:lnTo>
                    <a:pt x="1" y="127"/>
                  </a:lnTo>
                  <a:lnTo>
                    <a:pt x="5" y="141"/>
                  </a:lnTo>
                  <a:lnTo>
                    <a:pt x="10" y="154"/>
                  </a:lnTo>
                  <a:lnTo>
                    <a:pt x="15" y="165"/>
                  </a:lnTo>
                  <a:lnTo>
                    <a:pt x="21" y="177"/>
                  </a:lnTo>
                  <a:lnTo>
                    <a:pt x="28" y="189"/>
                  </a:lnTo>
                  <a:lnTo>
                    <a:pt x="36" y="199"/>
                  </a:lnTo>
                  <a:lnTo>
                    <a:pt x="43" y="199"/>
                  </a:lnTo>
                  <a:lnTo>
                    <a:pt x="34" y="189"/>
                  </a:lnTo>
                  <a:lnTo>
                    <a:pt x="26" y="177"/>
                  </a:lnTo>
                  <a:lnTo>
                    <a:pt x="20" y="165"/>
                  </a:lnTo>
                  <a:lnTo>
                    <a:pt x="15" y="154"/>
                  </a:lnTo>
                  <a:lnTo>
                    <a:pt x="10" y="141"/>
                  </a:lnTo>
                  <a:lnTo>
                    <a:pt x="6" y="127"/>
                  </a:lnTo>
                  <a:lnTo>
                    <a:pt x="5" y="112"/>
                  </a:lnTo>
                  <a:lnTo>
                    <a:pt x="5" y="99"/>
                  </a:lnTo>
                  <a:lnTo>
                    <a:pt x="5" y="84"/>
                  </a:lnTo>
                  <a:lnTo>
                    <a:pt x="6" y="71"/>
                  </a:lnTo>
                  <a:lnTo>
                    <a:pt x="10" y="58"/>
                  </a:lnTo>
                  <a:lnTo>
                    <a:pt x="15" y="45"/>
                  </a:lnTo>
                  <a:lnTo>
                    <a:pt x="20" y="33"/>
                  </a:lnTo>
                  <a:lnTo>
                    <a:pt x="26" y="21"/>
                  </a:lnTo>
                  <a:lnTo>
                    <a:pt x="34" y="10"/>
                  </a:lnTo>
                  <a:lnTo>
                    <a:pt x="43" y="0"/>
                  </a:lnTo>
                  <a:lnTo>
                    <a:pt x="36"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79" name="Freeform 219">
              <a:extLst>
                <a:ext uri="{FF2B5EF4-FFF2-40B4-BE49-F238E27FC236}">
                  <a16:creationId xmlns:a16="http://schemas.microsoft.com/office/drawing/2014/main" id="{7FFCAC2E-4B2A-63D9-5356-AE7140E6FE31}"/>
                </a:ext>
              </a:extLst>
            </p:cNvPr>
            <p:cNvSpPr>
              <a:spLocks noEditPoints="1"/>
            </p:cNvSpPr>
            <p:nvPr/>
          </p:nvSpPr>
          <p:spPr bwMode="auto">
            <a:xfrm>
              <a:off x="1687" y="1514"/>
              <a:ext cx="297" cy="199"/>
            </a:xfrm>
            <a:custGeom>
              <a:avLst/>
              <a:gdLst>
                <a:gd name="T0" fmla="*/ 297 w 297"/>
                <a:gd name="T1" fmla="*/ 84 h 199"/>
                <a:gd name="T2" fmla="*/ 292 w 297"/>
                <a:gd name="T3" fmla="*/ 58 h 199"/>
                <a:gd name="T4" fmla="*/ 282 w 297"/>
                <a:gd name="T5" fmla="*/ 33 h 199"/>
                <a:gd name="T6" fmla="*/ 269 w 297"/>
                <a:gd name="T7" fmla="*/ 10 h 199"/>
                <a:gd name="T8" fmla="*/ 252 w 297"/>
                <a:gd name="T9" fmla="*/ 0 h 199"/>
                <a:gd name="T10" fmla="*/ 270 w 297"/>
                <a:gd name="T11" fmla="*/ 21 h 199"/>
                <a:gd name="T12" fmla="*/ 282 w 297"/>
                <a:gd name="T13" fmla="*/ 45 h 199"/>
                <a:gd name="T14" fmla="*/ 290 w 297"/>
                <a:gd name="T15" fmla="*/ 71 h 199"/>
                <a:gd name="T16" fmla="*/ 293 w 297"/>
                <a:gd name="T17" fmla="*/ 99 h 199"/>
                <a:gd name="T18" fmla="*/ 290 w 297"/>
                <a:gd name="T19" fmla="*/ 127 h 199"/>
                <a:gd name="T20" fmla="*/ 282 w 297"/>
                <a:gd name="T21" fmla="*/ 154 h 199"/>
                <a:gd name="T22" fmla="*/ 270 w 297"/>
                <a:gd name="T23" fmla="*/ 177 h 199"/>
                <a:gd name="T24" fmla="*/ 252 w 297"/>
                <a:gd name="T25" fmla="*/ 199 h 199"/>
                <a:gd name="T26" fmla="*/ 269 w 297"/>
                <a:gd name="T27" fmla="*/ 189 h 199"/>
                <a:gd name="T28" fmla="*/ 282 w 297"/>
                <a:gd name="T29" fmla="*/ 165 h 199"/>
                <a:gd name="T30" fmla="*/ 292 w 297"/>
                <a:gd name="T31" fmla="*/ 141 h 199"/>
                <a:gd name="T32" fmla="*/ 297 w 297"/>
                <a:gd name="T33" fmla="*/ 112 h 199"/>
                <a:gd name="T34" fmla="*/ 38 w 297"/>
                <a:gd name="T35" fmla="*/ 0 h 199"/>
                <a:gd name="T36" fmla="*/ 24 w 297"/>
                <a:gd name="T37" fmla="*/ 21 h 199"/>
                <a:gd name="T38" fmla="*/ 10 w 297"/>
                <a:gd name="T39" fmla="*/ 45 h 199"/>
                <a:gd name="T40" fmla="*/ 4 w 297"/>
                <a:gd name="T41" fmla="*/ 71 h 199"/>
                <a:gd name="T42" fmla="*/ 0 w 297"/>
                <a:gd name="T43" fmla="*/ 99 h 199"/>
                <a:gd name="T44" fmla="*/ 4 w 297"/>
                <a:gd name="T45" fmla="*/ 127 h 199"/>
                <a:gd name="T46" fmla="*/ 10 w 297"/>
                <a:gd name="T47" fmla="*/ 154 h 199"/>
                <a:gd name="T48" fmla="*/ 24 w 297"/>
                <a:gd name="T49" fmla="*/ 177 h 199"/>
                <a:gd name="T50" fmla="*/ 38 w 297"/>
                <a:gd name="T51" fmla="*/ 199 h 199"/>
                <a:gd name="T52" fmla="*/ 37 w 297"/>
                <a:gd name="T53" fmla="*/ 189 h 199"/>
                <a:gd name="T54" fmla="*/ 22 w 297"/>
                <a:gd name="T55" fmla="*/ 165 h 199"/>
                <a:gd name="T56" fmla="*/ 12 w 297"/>
                <a:gd name="T57" fmla="*/ 141 h 199"/>
                <a:gd name="T58" fmla="*/ 7 w 297"/>
                <a:gd name="T59" fmla="*/ 114 h 199"/>
                <a:gd name="T60" fmla="*/ 7 w 297"/>
                <a:gd name="T61" fmla="*/ 84 h 199"/>
                <a:gd name="T62" fmla="*/ 12 w 297"/>
                <a:gd name="T63" fmla="*/ 58 h 199"/>
                <a:gd name="T64" fmla="*/ 22 w 297"/>
                <a:gd name="T65" fmla="*/ 33 h 199"/>
                <a:gd name="T66" fmla="*/ 37 w 297"/>
                <a:gd name="T67" fmla="*/ 10 h 199"/>
                <a:gd name="T68" fmla="*/ 38 w 29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7" h="199">
                  <a:moveTo>
                    <a:pt x="297" y="99"/>
                  </a:moveTo>
                  <a:lnTo>
                    <a:pt x="297" y="84"/>
                  </a:lnTo>
                  <a:lnTo>
                    <a:pt x="295" y="71"/>
                  </a:lnTo>
                  <a:lnTo>
                    <a:pt x="292" y="58"/>
                  </a:lnTo>
                  <a:lnTo>
                    <a:pt x="287" y="45"/>
                  </a:lnTo>
                  <a:lnTo>
                    <a:pt x="282" y="33"/>
                  </a:lnTo>
                  <a:lnTo>
                    <a:pt x="275" y="21"/>
                  </a:lnTo>
                  <a:lnTo>
                    <a:pt x="269" y="10"/>
                  </a:lnTo>
                  <a:lnTo>
                    <a:pt x="259" y="0"/>
                  </a:lnTo>
                  <a:lnTo>
                    <a:pt x="252" y="0"/>
                  </a:lnTo>
                  <a:lnTo>
                    <a:pt x="262" y="10"/>
                  </a:lnTo>
                  <a:lnTo>
                    <a:pt x="270" y="21"/>
                  </a:lnTo>
                  <a:lnTo>
                    <a:pt x="277" y="33"/>
                  </a:lnTo>
                  <a:lnTo>
                    <a:pt x="282" y="45"/>
                  </a:lnTo>
                  <a:lnTo>
                    <a:pt x="287" y="58"/>
                  </a:lnTo>
                  <a:lnTo>
                    <a:pt x="290" y="71"/>
                  </a:lnTo>
                  <a:lnTo>
                    <a:pt x="292" y="84"/>
                  </a:lnTo>
                  <a:lnTo>
                    <a:pt x="293" y="99"/>
                  </a:lnTo>
                  <a:lnTo>
                    <a:pt x="292" y="114"/>
                  </a:lnTo>
                  <a:lnTo>
                    <a:pt x="290" y="127"/>
                  </a:lnTo>
                  <a:lnTo>
                    <a:pt x="287" y="141"/>
                  </a:lnTo>
                  <a:lnTo>
                    <a:pt x="282" y="154"/>
                  </a:lnTo>
                  <a:lnTo>
                    <a:pt x="277" y="165"/>
                  </a:lnTo>
                  <a:lnTo>
                    <a:pt x="270" y="177"/>
                  </a:lnTo>
                  <a:lnTo>
                    <a:pt x="262" y="189"/>
                  </a:lnTo>
                  <a:lnTo>
                    <a:pt x="252" y="199"/>
                  </a:lnTo>
                  <a:lnTo>
                    <a:pt x="259" y="199"/>
                  </a:lnTo>
                  <a:lnTo>
                    <a:pt x="269" y="189"/>
                  </a:lnTo>
                  <a:lnTo>
                    <a:pt x="275" y="177"/>
                  </a:lnTo>
                  <a:lnTo>
                    <a:pt x="282" y="165"/>
                  </a:lnTo>
                  <a:lnTo>
                    <a:pt x="287" y="154"/>
                  </a:lnTo>
                  <a:lnTo>
                    <a:pt x="292" y="141"/>
                  </a:lnTo>
                  <a:lnTo>
                    <a:pt x="295" y="127"/>
                  </a:lnTo>
                  <a:lnTo>
                    <a:pt x="297" y="112"/>
                  </a:lnTo>
                  <a:lnTo>
                    <a:pt x="297" y="99"/>
                  </a:lnTo>
                  <a:close/>
                  <a:moveTo>
                    <a:pt x="38" y="0"/>
                  </a:moveTo>
                  <a:lnTo>
                    <a:pt x="30" y="10"/>
                  </a:lnTo>
                  <a:lnTo>
                    <a:pt x="24" y="21"/>
                  </a:lnTo>
                  <a:lnTo>
                    <a:pt x="17" y="33"/>
                  </a:lnTo>
                  <a:lnTo>
                    <a:pt x="10" y="45"/>
                  </a:lnTo>
                  <a:lnTo>
                    <a:pt x="7" y="58"/>
                  </a:lnTo>
                  <a:lnTo>
                    <a:pt x="4" y="71"/>
                  </a:lnTo>
                  <a:lnTo>
                    <a:pt x="2" y="84"/>
                  </a:lnTo>
                  <a:lnTo>
                    <a:pt x="0" y="99"/>
                  </a:lnTo>
                  <a:lnTo>
                    <a:pt x="2" y="112"/>
                  </a:lnTo>
                  <a:lnTo>
                    <a:pt x="4" y="127"/>
                  </a:lnTo>
                  <a:lnTo>
                    <a:pt x="7" y="141"/>
                  </a:lnTo>
                  <a:lnTo>
                    <a:pt x="10" y="154"/>
                  </a:lnTo>
                  <a:lnTo>
                    <a:pt x="17" y="165"/>
                  </a:lnTo>
                  <a:lnTo>
                    <a:pt x="24" y="177"/>
                  </a:lnTo>
                  <a:lnTo>
                    <a:pt x="30" y="189"/>
                  </a:lnTo>
                  <a:lnTo>
                    <a:pt x="38" y="199"/>
                  </a:lnTo>
                  <a:lnTo>
                    <a:pt x="45" y="199"/>
                  </a:lnTo>
                  <a:lnTo>
                    <a:pt x="37" y="189"/>
                  </a:lnTo>
                  <a:lnTo>
                    <a:pt x="29" y="177"/>
                  </a:lnTo>
                  <a:lnTo>
                    <a:pt x="22" y="165"/>
                  </a:lnTo>
                  <a:lnTo>
                    <a:pt x="17" y="154"/>
                  </a:lnTo>
                  <a:lnTo>
                    <a:pt x="12" y="141"/>
                  </a:lnTo>
                  <a:lnTo>
                    <a:pt x="9" y="127"/>
                  </a:lnTo>
                  <a:lnTo>
                    <a:pt x="7" y="114"/>
                  </a:lnTo>
                  <a:lnTo>
                    <a:pt x="5" y="99"/>
                  </a:lnTo>
                  <a:lnTo>
                    <a:pt x="7" y="84"/>
                  </a:lnTo>
                  <a:lnTo>
                    <a:pt x="9" y="71"/>
                  </a:lnTo>
                  <a:lnTo>
                    <a:pt x="12" y="58"/>
                  </a:lnTo>
                  <a:lnTo>
                    <a:pt x="17" y="45"/>
                  </a:lnTo>
                  <a:lnTo>
                    <a:pt x="22" y="33"/>
                  </a:lnTo>
                  <a:lnTo>
                    <a:pt x="29" y="21"/>
                  </a:lnTo>
                  <a:lnTo>
                    <a:pt x="37" y="10"/>
                  </a:lnTo>
                  <a:lnTo>
                    <a:pt x="45" y="0"/>
                  </a:lnTo>
                  <a:lnTo>
                    <a:pt x="38"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80" name="Freeform 220">
              <a:extLst>
                <a:ext uri="{FF2B5EF4-FFF2-40B4-BE49-F238E27FC236}">
                  <a16:creationId xmlns:a16="http://schemas.microsoft.com/office/drawing/2014/main" id="{22103908-1504-E7C6-FD35-53E3A62431AE}"/>
                </a:ext>
              </a:extLst>
            </p:cNvPr>
            <p:cNvSpPr>
              <a:spLocks noEditPoints="1"/>
            </p:cNvSpPr>
            <p:nvPr/>
          </p:nvSpPr>
          <p:spPr bwMode="auto">
            <a:xfrm>
              <a:off x="1691" y="1514"/>
              <a:ext cx="291" cy="199"/>
            </a:xfrm>
            <a:custGeom>
              <a:avLst/>
              <a:gdLst>
                <a:gd name="T0" fmla="*/ 291 w 291"/>
                <a:gd name="T1" fmla="*/ 84 h 199"/>
                <a:gd name="T2" fmla="*/ 285 w 291"/>
                <a:gd name="T3" fmla="*/ 58 h 199"/>
                <a:gd name="T4" fmla="*/ 275 w 291"/>
                <a:gd name="T5" fmla="*/ 33 h 199"/>
                <a:gd name="T6" fmla="*/ 261 w 291"/>
                <a:gd name="T7" fmla="*/ 10 h 199"/>
                <a:gd name="T8" fmla="*/ 245 w 291"/>
                <a:gd name="T9" fmla="*/ 0 h 199"/>
                <a:gd name="T10" fmla="*/ 263 w 291"/>
                <a:gd name="T11" fmla="*/ 20 h 199"/>
                <a:gd name="T12" fmla="*/ 276 w 291"/>
                <a:gd name="T13" fmla="*/ 45 h 199"/>
                <a:gd name="T14" fmla="*/ 283 w 291"/>
                <a:gd name="T15" fmla="*/ 71 h 199"/>
                <a:gd name="T16" fmla="*/ 286 w 291"/>
                <a:gd name="T17" fmla="*/ 99 h 199"/>
                <a:gd name="T18" fmla="*/ 283 w 291"/>
                <a:gd name="T19" fmla="*/ 127 h 199"/>
                <a:gd name="T20" fmla="*/ 276 w 291"/>
                <a:gd name="T21" fmla="*/ 154 h 199"/>
                <a:gd name="T22" fmla="*/ 263 w 291"/>
                <a:gd name="T23" fmla="*/ 177 h 199"/>
                <a:gd name="T24" fmla="*/ 245 w 291"/>
                <a:gd name="T25" fmla="*/ 199 h 199"/>
                <a:gd name="T26" fmla="*/ 261 w 291"/>
                <a:gd name="T27" fmla="*/ 189 h 199"/>
                <a:gd name="T28" fmla="*/ 275 w 291"/>
                <a:gd name="T29" fmla="*/ 165 h 199"/>
                <a:gd name="T30" fmla="*/ 285 w 291"/>
                <a:gd name="T31" fmla="*/ 141 h 199"/>
                <a:gd name="T32" fmla="*/ 291 w 291"/>
                <a:gd name="T33" fmla="*/ 112 h 199"/>
                <a:gd name="T34" fmla="*/ 38 w 291"/>
                <a:gd name="T35" fmla="*/ 0 h 199"/>
                <a:gd name="T36" fmla="*/ 21 w 291"/>
                <a:gd name="T37" fmla="*/ 21 h 199"/>
                <a:gd name="T38" fmla="*/ 10 w 291"/>
                <a:gd name="T39" fmla="*/ 45 h 199"/>
                <a:gd name="T40" fmla="*/ 1 w 291"/>
                <a:gd name="T41" fmla="*/ 71 h 199"/>
                <a:gd name="T42" fmla="*/ 0 w 291"/>
                <a:gd name="T43" fmla="*/ 99 h 199"/>
                <a:gd name="T44" fmla="*/ 1 w 291"/>
                <a:gd name="T45" fmla="*/ 127 h 199"/>
                <a:gd name="T46" fmla="*/ 10 w 291"/>
                <a:gd name="T47" fmla="*/ 154 h 199"/>
                <a:gd name="T48" fmla="*/ 21 w 291"/>
                <a:gd name="T49" fmla="*/ 177 h 199"/>
                <a:gd name="T50" fmla="*/ 38 w 291"/>
                <a:gd name="T51" fmla="*/ 199 h 199"/>
                <a:gd name="T52" fmla="*/ 36 w 291"/>
                <a:gd name="T53" fmla="*/ 189 h 199"/>
                <a:gd name="T54" fmla="*/ 21 w 291"/>
                <a:gd name="T55" fmla="*/ 165 h 199"/>
                <a:gd name="T56" fmla="*/ 10 w 291"/>
                <a:gd name="T57" fmla="*/ 141 h 199"/>
                <a:gd name="T58" fmla="*/ 5 w 291"/>
                <a:gd name="T59" fmla="*/ 114 h 199"/>
                <a:gd name="T60" fmla="*/ 5 w 291"/>
                <a:gd name="T61" fmla="*/ 84 h 199"/>
                <a:gd name="T62" fmla="*/ 10 w 291"/>
                <a:gd name="T63" fmla="*/ 58 h 199"/>
                <a:gd name="T64" fmla="*/ 21 w 291"/>
                <a:gd name="T65" fmla="*/ 31 h 199"/>
                <a:gd name="T66" fmla="*/ 36 w 291"/>
                <a:gd name="T67" fmla="*/ 10 h 199"/>
                <a:gd name="T68" fmla="*/ 38 w 29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1" h="199">
                  <a:moveTo>
                    <a:pt x="291" y="99"/>
                  </a:moveTo>
                  <a:lnTo>
                    <a:pt x="291" y="84"/>
                  </a:lnTo>
                  <a:lnTo>
                    <a:pt x="288" y="71"/>
                  </a:lnTo>
                  <a:lnTo>
                    <a:pt x="285" y="58"/>
                  </a:lnTo>
                  <a:lnTo>
                    <a:pt x="281" y="45"/>
                  </a:lnTo>
                  <a:lnTo>
                    <a:pt x="275" y="33"/>
                  </a:lnTo>
                  <a:lnTo>
                    <a:pt x="268" y="21"/>
                  </a:lnTo>
                  <a:lnTo>
                    <a:pt x="261" y="10"/>
                  </a:lnTo>
                  <a:lnTo>
                    <a:pt x="251" y="0"/>
                  </a:lnTo>
                  <a:lnTo>
                    <a:pt x="245" y="0"/>
                  </a:lnTo>
                  <a:lnTo>
                    <a:pt x="255" y="10"/>
                  </a:lnTo>
                  <a:lnTo>
                    <a:pt x="263" y="20"/>
                  </a:lnTo>
                  <a:lnTo>
                    <a:pt x="270" y="31"/>
                  </a:lnTo>
                  <a:lnTo>
                    <a:pt x="276" y="45"/>
                  </a:lnTo>
                  <a:lnTo>
                    <a:pt x="280" y="58"/>
                  </a:lnTo>
                  <a:lnTo>
                    <a:pt x="283" y="71"/>
                  </a:lnTo>
                  <a:lnTo>
                    <a:pt x="286" y="84"/>
                  </a:lnTo>
                  <a:lnTo>
                    <a:pt x="286" y="99"/>
                  </a:lnTo>
                  <a:lnTo>
                    <a:pt x="286" y="114"/>
                  </a:lnTo>
                  <a:lnTo>
                    <a:pt x="283" y="127"/>
                  </a:lnTo>
                  <a:lnTo>
                    <a:pt x="280" y="141"/>
                  </a:lnTo>
                  <a:lnTo>
                    <a:pt x="276" y="154"/>
                  </a:lnTo>
                  <a:lnTo>
                    <a:pt x="270" y="165"/>
                  </a:lnTo>
                  <a:lnTo>
                    <a:pt x="263" y="177"/>
                  </a:lnTo>
                  <a:lnTo>
                    <a:pt x="255" y="189"/>
                  </a:lnTo>
                  <a:lnTo>
                    <a:pt x="245" y="199"/>
                  </a:lnTo>
                  <a:lnTo>
                    <a:pt x="251" y="199"/>
                  </a:lnTo>
                  <a:lnTo>
                    <a:pt x="261" y="189"/>
                  </a:lnTo>
                  <a:lnTo>
                    <a:pt x="268" y="177"/>
                  </a:lnTo>
                  <a:lnTo>
                    <a:pt x="275" y="165"/>
                  </a:lnTo>
                  <a:lnTo>
                    <a:pt x="281" y="154"/>
                  </a:lnTo>
                  <a:lnTo>
                    <a:pt x="285" y="141"/>
                  </a:lnTo>
                  <a:lnTo>
                    <a:pt x="288" y="127"/>
                  </a:lnTo>
                  <a:lnTo>
                    <a:pt x="291" y="112"/>
                  </a:lnTo>
                  <a:lnTo>
                    <a:pt x="291" y="99"/>
                  </a:lnTo>
                  <a:close/>
                  <a:moveTo>
                    <a:pt x="38" y="0"/>
                  </a:moveTo>
                  <a:lnTo>
                    <a:pt x="29" y="10"/>
                  </a:lnTo>
                  <a:lnTo>
                    <a:pt x="21" y="21"/>
                  </a:lnTo>
                  <a:lnTo>
                    <a:pt x="15" y="33"/>
                  </a:lnTo>
                  <a:lnTo>
                    <a:pt x="10" y="45"/>
                  </a:lnTo>
                  <a:lnTo>
                    <a:pt x="5" y="58"/>
                  </a:lnTo>
                  <a:lnTo>
                    <a:pt x="1" y="71"/>
                  </a:lnTo>
                  <a:lnTo>
                    <a:pt x="0" y="84"/>
                  </a:lnTo>
                  <a:lnTo>
                    <a:pt x="0" y="99"/>
                  </a:lnTo>
                  <a:lnTo>
                    <a:pt x="0" y="112"/>
                  </a:lnTo>
                  <a:lnTo>
                    <a:pt x="1" y="127"/>
                  </a:lnTo>
                  <a:lnTo>
                    <a:pt x="5" y="141"/>
                  </a:lnTo>
                  <a:lnTo>
                    <a:pt x="10" y="154"/>
                  </a:lnTo>
                  <a:lnTo>
                    <a:pt x="15" y="165"/>
                  </a:lnTo>
                  <a:lnTo>
                    <a:pt x="21" y="177"/>
                  </a:lnTo>
                  <a:lnTo>
                    <a:pt x="29" y="189"/>
                  </a:lnTo>
                  <a:lnTo>
                    <a:pt x="38" y="199"/>
                  </a:lnTo>
                  <a:lnTo>
                    <a:pt x="44" y="199"/>
                  </a:lnTo>
                  <a:lnTo>
                    <a:pt x="36" y="189"/>
                  </a:lnTo>
                  <a:lnTo>
                    <a:pt x="28" y="177"/>
                  </a:lnTo>
                  <a:lnTo>
                    <a:pt x="21" y="165"/>
                  </a:lnTo>
                  <a:lnTo>
                    <a:pt x="15" y="154"/>
                  </a:lnTo>
                  <a:lnTo>
                    <a:pt x="10" y="141"/>
                  </a:lnTo>
                  <a:lnTo>
                    <a:pt x="6" y="127"/>
                  </a:lnTo>
                  <a:lnTo>
                    <a:pt x="5" y="114"/>
                  </a:lnTo>
                  <a:lnTo>
                    <a:pt x="5" y="99"/>
                  </a:lnTo>
                  <a:lnTo>
                    <a:pt x="5" y="84"/>
                  </a:lnTo>
                  <a:lnTo>
                    <a:pt x="6" y="71"/>
                  </a:lnTo>
                  <a:lnTo>
                    <a:pt x="10" y="58"/>
                  </a:lnTo>
                  <a:lnTo>
                    <a:pt x="15" y="45"/>
                  </a:lnTo>
                  <a:lnTo>
                    <a:pt x="21" y="31"/>
                  </a:lnTo>
                  <a:lnTo>
                    <a:pt x="28" y="20"/>
                  </a:lnTo>
                  <a:lnTo>
                    <a:pt x="36" y="10"/>
                  </a:lnTo>
                  <a:lnTo>
                    <a:pt x="44" y="0"/>
                  </a:lnTo>
                  <a:lnTo>
                    <a:pt x="38"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81" name="Freeform 221">
              <a:extLst>
                <a:ext uri="{FF2B5EF4-FFF2-40B4-BE49-F238E27FC236}">
                  <a16:creationId xmlns:a16="http://schemas.microsoft.com/office/drawing/2014/main" id="{1D053B87-F828-766D-1B40-ED9CBFD7CCEB}"/>
                </a:ext>
              </a:extLst>
            </p:cNvPr>
            <p:cNvSpPr>
              <a:spLocks noEditPoints="1"/>
            </p:cNvSpPr>
            <p:nvPr/>
          </p:nvSpPr>
          <p:spPr bwMode="auto">
            <a:xfrm>
              <a:off x="1692" y="1514"/>
              <a:ext cx="288" cy="199"/>
            </a:xfrm>
            <a:custGeom>
              <a:avLst/>
              <a:gdLst>
                <a:gd name="T0" fmla="*/ 287 w 288"/>
                <a:gd name="T1" fmla="*/ 84 h 199"/>
                <a:gd name="T2" fmla="*/ 282 w 288"/>
                <a:gd name="T3" fmla="*/ 58 h 199"/>
                <a:gd name="T4" fmla="*/ 272 w 288"/>
                <a:gd name="T5" fmla="*/ 33 h 199"/>
                <a:gd name="T6" fmla="*/ 257 w 288"/>
                <a:gd name="T7" fmla="*/ 10 h 199"/>
                <a:gd name="T8" fmla="*/ 240 w 288"/>
                <a:gd name="T9" fmla="*/ 0 h 199"/>
                <a:gd name="T10" fmla="*/ 259 w 288"/>
                <a:gd name="T11" fmla="*/ 20 h 199"/>
                <a:gd name="T12" fmla="*/ 272 w 288"/>
                <a:gd name="T13" fmla="*/ 45 h 199"/>
                <a:gd name="T14" fmla="*/ 280 w 288"/>
                <a:gd name="T15" fmla="*/ 71 h 199"/>
                <a:gd name="T16" fmla="*/ 284 w 288"/>
                <a:gd name="T17" fmla="*/ 99 h 199"/>
                <a:gd name="T18" fmla="*/ 280 w 288"/>
                <a:gd name="T19" fmla="*/ 127 h 199"/>
                <a:gd name="T20" fmla="*/ 272 w 288"/>
                <a:gd name="T21" fmla="*/ 154 h 199"/>
                <a:gd name="T22" fmla="*/ 259 w 288"/>
                <a:gd name="T23" fmla="*/ 177 h 199"/>
                <a:gd name="T24" fmla="*/ 240 w 288"/>
                <a:gd name="T25" fmla="*/ 199 h 199"/>
                <a:gd name="T26" fmla="*/ 257 w 288"/>
                <a:gd name="T27" fmla="*/ 189 h 199"/>
                <a:gd name="T28" fmla="*/ 272 w 288"/>
                <a:gd name="T29" fmla="*/ 165 h 199"/>
                <a:gd name="T30" fmla="*/ 282 w 288"/>
                <a:gd name="T31" fmla="*/ 141 h 199"/>
                <a:gd name="T32" fmla="*/ 287 w 288"/>
                <a:gd name="T33" fmla="*/ 114 h 199"/>
                <a:gd name="T34" fmla="*/ 40 w 288"/>
                <a:gd name="T35" fmla="*/ 0 h 199"/>
                <a:gd name="T36" fmla="*/ 24 w 288"/>
                <a:gd name="T37" fmla="*/ 21 h 199"/>
                <a:gd name="T38" fmla="*/ 12 w 288"/>
                <a:gd name="T39" fmla="*/ 45 h 199"/>
                <a:gd name="T40" fmla="*/ 4 w 288"/>
                <a:gd name="T41" fmla="*/ 71 h 199"/>
                <a:gd name="T42" fmla="*/ 0 w 288"/>
                <a:gd name="T43" fmla="*/ 99 h 199"/>
                <a:gd name="T44" fmla="*/ 4 w 288"/>
                <a:gd name="T45" fmla="*/ 127 h 199"/>
                <a:gd name="T46" fmla="*/ 12 w 288"/>
                <a:gd name="T47" fmla="*/ 154 h 199"/>
                <a:gd name="T48" fmla="*/ 24 w 288"/>
                <a:gd name="T49" fmla="*/ 177 h 199"/>
                <a:gd name="T50" fmla="*/ 40 w 288"/>
                <a:gd name="T51" fmla="*/ 199 h 199"/>
                <a:gd name="T52" fmla="*/ 38 w 288"/>
                <a:gd name="T53" fmla="*/ 189 h 199"/>
                <a:gd name="T54" fmla="*/ 22 w 288"/>
                <a:gd name="T55" fmla="*/ 165 h 199"/>
                <a:gd name="T56" fmla="*/ 12 w 288"/>
                <a:gd name="T57" fmla="*/ 141 h 199"/>
                <a:gd name="T58" fmla="*/ 5 w 288"/>
                <a:gd name="T59" fmla="*/ 114 h 199"/>
                <a:gd name="T60" fmla="*/ 5 w 288"/>
                <a:gd name="T61" fmla="*/ 84 h 199"/>
                <a:gd name="T62" fmla="*/ 12 w 288"/>
                <a:gd name="T63" fmla="*/ 58 h 199"/>
                <a:gd name="T64" fmla="*/ 22 w 288"/>
                <a:gd name="T65" fmla="*/ 31 h 199"/>
                <a:gd name="T66" fmla="*/ 38 w 288"/>
                <a:gd name="T67" fmla="*/ 10 h 199"/>
                <a:gd name="T68" fmla="*/ 40 w 288"/>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8" h="199">
                  <a:moveTo>
                    <a:pt x="288" y="99"/>
                  </a:moveTo>
                  <a:lnTo>
                    <a:pt x="287" y="84"/>
                  </a:lnTo>
                  <a:lnTo>
                    <a:pt x="285" y="71"/>
                  </a:lnTo>
                  <a:lnTo>
                    <a:pt x="282" y="58"/>
                  </a:lnTo>
                  <a:lnTo>
                    <a:pt x="277" y="45"/>
                  </a:lnTo>
                  <a:lnTo>
                    <a:pt x="272" y="33"/>
                  </a:lnTo>
                  <a:lnTo>
                    <a:pt x="265" y="21"/>
                  </a:lnTo>
                  <a:lnTo>
                    <a:pt x="257" y="10"/>
                  </a:lnTo>
                  <a:lnTo>
                    <a:pt x="247" y="0"/>
                  </a:lnTo>
                  <a:lnTo>
                    <a:pt x="240" y="0"/>
                  </a:lnTo>
                  <a:lnTo>
                    <a:pt x="250" y="10"/>
                  </a:lnTo>
                  <a:lnTo>
                    <a:pt x="259" y="20"/>
                  </a:lnTo>
                  <a:lnTo>
                    <a:pt x="265" y="31"/>
                  </a:lnTo>
                  <a:lnTo>
                    <a:pt x="272" y="45"/>
                  </a:lnTo>
                  <a:lnTo>
                    <a:pt x="277" y="58"/>
                  </a:lnTo>
                  <a:lnTo>
                    <a:pt x="280" y="71"/>
                  </a:lnTo>
                  <a:lnTo>
                    <a:pt x="282" y="84"/>
                  </a:lnTo>
                  <a:lnTo>
                    <a:pt x="284" y="99"/>
                  </a:lnTo>
                  <a:lnTo>
                    <a:pt x="282" y="114"/>
                  </a:lnTo>
                  <a:lnTo>
                    <a:pt x="280" y="127"/>
                  </a:lnTo>
                  <a:lnTo>
                    <a:pt x="277" y="141"/>
                  </a:lnTo>
                  <a:lnTo>
                    <a:pt x="272" y="154"/>
                  </a:lnTo>
                  <a:lnTo>
                    <a:pt x="265" y="165"/>
                  </a:lnTo>
                  <a:lnTo>
                    <a:pt x="259" y="177"/>
                  </a:lnTo>
                  <a:lnTo>
                    <a:pt x="250" y="189"/>
                  </a:lnTo>
                  <a:lnTo>
                    <a:pt x="240" y="199"/>
                  </a:lnTo>
                  <a:lnTo>
                    <a:pt x="247" y="199"/>
                  </a:lnTo>
                  <a:lnTo>
                    <a:pt x="257" y="189"/>
                  </a:lnTo>
                  <a:lnTo>
                    <a:pt x="265" y="177"/>
                  </a:lnTo>
                  <a:lnTo>
                    <a:pt x="272" y="165"/>
                  </a:lnTo>
                  <a:lnTo>
                    <a:pt x="277" y="154"/>
                  </a:lnTo>
                  <a:lnTo>
                    <a:pt x="282" y="141"/>
                  </a:lnTo>
                  <a:lnTo>
                    <a:pt x="285" y="127"/>
                  </a:lnTo>
                  <a:lnTo>
                    <a:pt x="287" y="114"/>
                  </a:lnTo>
                  <a:lnTo>
                    <a:pt x="288" y="99"/>
                  </a:lnTo>
                  <a:close/>
                  <a:moveTo>
                    <a:pt x="40" y="0"/>
                  </a:moveTo>
                  <a:lnTo>
                    <a:pt x="32" y="10"/>
                  </a:lnTo>
                  <a:lnTo>
                    <a:pt x="24" y="21"/>
                  </a:lnTo>
                  <a:lnTo>
                    <a:pt x="17" y="33"/>
                  </a:lnTo>
                  <a:lnTo>
                    <a:pt x="12" y="45"/>
                  </a:lnTo>
                  <a:lnTo>
                    <a:pt x="7" y="58"/>
                  </a:lnTo>
                  <a:lnTo>
                    <a:pt x="4" y="71"/>
                  </a:lnTo>
                  <a:lnTo>
                    <a:pt x="2" y="84"/>
                  </a:lnTo>
                  <a:lnTo>
                    <a:pt x="0" y="99"/>
                  </a:lnTo>
                  <a:lnTo>
                    <a:pt x="2" y="114"/>
                  </a:lnTo>
                  <a:lnTo>
                    <a:pt x="4" y="127"/>
                  </a:lnTo>
                  <a:lnTo>
                    <a:pt x="7" y="141"/>
                  </a:lnTo>
                  <a:lnTo>
                    <a:pt x="12" y="154"/>
                  </a:lnTo>
                  <a:lnTo>
                    <a:pt x="17" y="165"/>
                  </a:lnTo>
                  <a:lnTo>
                    <a:pt x="24" y="177"/>
                  </a:lnTo>
                  <a:lnTo>
                    <a:pt x="32" y="189"/>
                  </a:lnTo>
                  <a:lnTo>
                    <a:pt x="40" y="199"/>
                  </a:lnTo>
                  <a:lnTo>
                    <a:pt x="47" y="199"/>
                  </a:lnTo>
                  <a:lnTo>
                    <a:pt x="38" y="189"/>
                  </a:lnTo>
                  <a:lnTo>
                    <a:pt x="30" y="177"/>
                  </a:lnTo>
                  <a:lnTo>
                    <a:pt x="22" y="165"/>
                  </a:lnTo>
                  <a:lnTo>
                    <a:pt x="17" y="154"/>
                  </a:lnTo>
                  <a:lnTo>
                    <a:pt x="12" y="141"/>
                  </a:lnTo>
                  <a:lnTo>
                    <a:pt x="9" y="127"/>
                  </a:lnTo>
                  <a:lnTo>
                    <a:pt x="5" y="114"/>
                  </a:lnTo>
                  <a:lnTo>
                    <a:pt x="5" y="99"/>
                  </a:lnTo>
                  <a:lnTo>
                    <a:pt x="5" y="84"/>
                  </a:lnTo>
                  <a:lnTo>
                    <a:pt x="9" y="71"/>
                  </a:lnTo>
                  <a:lnTo>
                    <a:pt x="12" y="58"/>
                  </a:lnTo>
                  <a:lnTo>
                    <a:pt x="17" y="45"/>
                  </a:lnTo>
                  <a:lnTo>
                    <a:pt x="22" y="31"/>
                  </a:lnTo>
                  <a:lnTo>
                    <a:pt x="30" y="20"/>
                  </a:lnTo>
                  <a:lnTo>
                    <a:pt x="38" y="10"/>
                  </a:lnTo>
                  <a:lnTo>
                    <a:pt x="47" y="0"/>
                  </a:lnTo>
                  <a:lnTo>
                    <a:pt x="40"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82" name="Freeform 222">
              <a:extLst>
                <a:ext uri="{FF2B5EF4-FFF2-40B4-BE49-F238E27FC236}">
                  <a16:creationId xmlns:a16="http://schemas.microsoft.com/office/drawing/2014/main" id="{A0E51402-1591-3133-279C-3C1E2007331C}"/>
                </a:ext>
              </a:extLst>
            </p:cNvPr>
            <p:cNvSpPr>
              <a:spLocks noEditPoints="1"/>
            </p:cNvSpPr>
            <p:nvPr/>
          </p:nvSpPr>
          <p:spPr bwMode="auto">
            <a:xfrm>
              <a:off x="1696" y="1514"/>
              <a:ext cx="281" cy="199"/>
            </a:xfrm>
            <a:custGeom>
              <a:avLst/>
              <a:gdLst>
                <a:gd name="T0" fmla="*/ 281 w 281"/>
                <a:gd name="T1" fmla="*/ 84 h 199"/>
                <a:gd name="T2" fmla="*/ 275 w 281"/>
                <a:gd name="T3" fmla="*/ 58 h 199"/>
                <a:gd name="T4" fmla="*/ 265 w 281"/>
                <a:gd name="T5" fmla="*/ 31 h 199"/>
                <a:gd name="T6" fmla="*/ 250 w 281"/>
                <a:gd name="T7" fmla="*/ 10 h 199"/>
                <a:gd name="T8" fmla="*/ 233 w 281"/>
                <a:gd name="T9" fmla="*/ 0 h 199"/>
                <a:gd name="T10" fmla="*/ 251 w 281"/>
                <a:gd name="T11" fmla="*/ 20 h 199"/>
                <a:gd name="T12" fmla="*/ 265 w 281"/>
                <a:gd name="T13" fmla="*/ 45 h 199"/>
                <a:gd name="T14" fmla="*/ 273 w 281"/>
                <a:gd name="T15" fmla="*/ 71 h 199"/>
                <a:gd name="T16" fmla="*/ 276 w 281"/>
                <a:gd name="T17" fmla="*/ 99 h 199"/>
                <a:gd name="T18" fmla="*/ 273 w 281"/>
                <a:gd name="T19" fmla="*/ 127 h 199"/>
                <a:gd name="T20" fmla="*/ 265 w 281"/>
                <a:gd name="T21" fmla="*/ 154 h 199"/>
                <a:gd name="T22" fmla="*/ 251 w 281"/>
                <a:gd name="T23" fmla="*/ 179 h 199"/>
                <a:gd name="T24" fmla="*/ 233 w 281"/>
                <a:gd name="T25" fmla="*/ 199 h 199"/>
                <a:gd name="T26" fmla="*/ 250 w 281"/>
                <a:gd name="T27" fmla="*/ 189 h 199"/>
                <a:gd name="T28" fmla="*/ 265 w 281"/>
                <a:gd name="T29" fmla="*/ 165 h 199"/>
                <a:gd name="T30" fmla="*/ 275 w 281"/>
                <a:gd name="T31" fmla="*/ 141 h 199"/>
                <a:gd name="T32" fmla="*/ 281 w 281"/>
                <a:gd name="T33" fmla="*/ 114 h 199"/>
                <a:gd name="T34" fmla="*/ 39 w 281"/>
                <a:gd name="T35" fmla="*/ 0 h 199"/>
                <a:gd name="T36" fmla="*/ 23 w 281"/>
                <a:gd name="T37" fmla="*/ 20 h 199"/>
                <a:gd name="T38" fmla="*/ 10 w 281"/>
                <a:gd name="T39" fmla="*/ 45 h 199"/>
                <a:gd name="T40" fmla="*/ 1 w 281"/>
                <a:gd name="T41" fmla="*/ 71 h 199"/>
                <a:gd name="T42" fmla="*/ 0 w 281"/>
                <a:gd name="T43" fmla="*/ 99 h 199"/>
                <a:gd name="T44" fmla="*/ 1 w 281"/>
                <a:gd name="T45" fmla="*/ 127 h 199"/>
                <a:gd name="T46" fmla="*/ 10 w 281"/>
                <a:gd name="T47" fmla="*/ 154 h 199"/>
                <a:gd name="T48" fmla="*/ 23 w 281"/>
                <a:gd name="T49" fmla="*/ 177 h 199"/>
                <a:gd name="T50" fmla="*/ 39 w 281"/>
                <a:gd name="T51" fmla="*/ 199 h 199"/>
                <a:gd name="T52" fmla="*/ 38 w 281"/>
                <a:gd name="T53" fmla="*/ 189 h 199"/>
                <a:gd name="T54" fmla="*/ 21 w 281"/>
                <a:gd name="T55" fmla="*/ 167 h 199"/>
                <a:gd name="T56" fmla="*/ 10 w 281"/>
                <a:gd name="T57" fmla="*/ 141 h 199"/>
                <a:gd name="T58" fmla="*/ 5 w 281"/>
                <a:gd name="T59" fmla="*/ 114 h 199"/>
                <a:gd name="T60" fmla="*/ 5 w 281"/>
                <a:gd name="T61" fmla="*/ 84 h 199"/>
                <a:gd name="T62" fmla="*/ 10 w 281"/>
                <a:gd name="T63" fmla="*/ 56 h 199"/>
                <a:gd name="T64" fmla="*/ 21 w 281"/>
                <a:gd name="T65" fmla="*/ 31 h 199"/>
                <a:gd name="T66" fmla="*/ 38 w 281"/>
                <a:gd name="T67" fmla="*/ 10 h 199"/>
                <a:gd name="T68" fmla="*/ 39 w 28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1" h="199">
                  <a:moveTo>
                    <a:pt x="281" y="99"/>
                  </a:moveTo>
                  <a:lnTo>
                    <a:pt x="281" y="84"/>
                  </a:lnTo>
                  <a:lnTo>
                    <a:pt x="278" y="71"/>
                  </a:lnTo>
                  <a:lnTo>
                    <a:pt x="275" y="58"/>
                  </a:lnTo>
                  <a:lnTo>
                    <a:pt x="271" y="45"/>
                  </a:lnTo>
                  <a:lnTo>
                    <a:pt x="265" y="31"/>
                  </a:lnTo>
                  <a:lnTo>
                    <a:pt x="258" y="20"/>
                  </a:lnTo>
                  <a:lnTo>
                    <a:pt x="250" y="10"/>
                  </a:lnTo>
                  <a:lnTo>
                    <a:pt x="240" y="0"/>
                  </a:lnTo>
                  <a:lnTo>
                    <a:pt x="233" y="0"/>
                  </a:lnTo>
                  <a:lnTo>
                    <a:pt x="243" y="10"/>
                  </a:lnTo>
                  <a:lnTo>
                    <a:pt x="251" y="20"/>
                  </a:lnTo>
                  <a:lnTo>
                    <a:pt x="260" y="31"/>
                  </a:lnTo>
                  <a:lnTo>
                    <a:pt x="265" y="45"/>
                  </a:lnTo>
                  <a:lnTo>
                    <a:pt x="270" y="56"/>
                  </a:lnTo>
                  <a:lnTo>
                    <a:pt x="273" y="71"/>
                  </a:lnTo>
                  <a:lnTo>
                    <a:pt x="276" y="84"/>
                  </a:lnTo>
                  <a:lnTo>
                    <a:pt x="276" y="99"/>
                  </a:lnTo>
                  <a:lnTo>
                    <a:pt x="276" y="114"/>
                  </a:lnTo>
                  <a:lnTo>
                    <a:pt x="273" y="127"/>
                  </a:lnTo>
                  <a:lnTo>
                    <a:pt x="270" y="141"/>
                  </a:lnTo>
                  <a:lnTo>
                    <a:pt x="265" y="154"/>
                  </a:lnTo>
                  <a:lnTo>
                    <a:pt x="260" y="167"/>
                  </a:lnTo>
                  <a:lnTo>
                    <a:pt x="251" y="179"/>
                  </a:lnTo>
                  <a:lnTo>
                    <a:pt x="243" y="189"/>
                  </a:lnTo>
                  <a:lnTo>
                    <a:pt x="233" y="199"/>
                  </a:lnTo>
                  <a:lnTo>
                    <a:pt x="240" y="199"/>
                  </a:lnTo>
                  <a:lnTo>
                    <a:pt x="250" y="189"/>
                  </a:lnTo>
                  <a:lnTo>
                    <a:pt x="258" y="177"/>
                  </a:lnTo>
                  <a:lnTo>
                    <a:pt x="265" y="165"/>
                  </a:lnTo>
                  <a:lnTo>
                    <a:pt x="271" y="154"/>
                  </a:lnTo>
                  <a:lnTo>
                    <a:pt x="275" y="141"/>
                  </a:lnTo>
                  <a:lnTo>
                    <a:pt x="278" y="127"/>
                  </a:lnTo>
                  <a:lnTo>
                    <a:pt x="281" y="114"/>
                  </a:lnTo>
                  <a:lnTo>
                    <a:pt x="281" y="99"/>
                  </a:lnTo>
                  <a:close/>
                  <a:moveTo>
                    <a:pt x="39" y="0"/>
                  </a:moveTo>
                  <a:lnTo>
                    <a:pt x="31" y="10"/>
                  </a:lnTo>
                  <a:lnTo>
                    <a:pt x="23" y="20"/>
                  </a:lnTo>
                  <a:lnTo>
                    <a:pt x="16" y="31"/>
                  </a:lnTo>
                  <a:lnTo>
                    <a:pt x="10" y="45"/>
                  </a:lnTo>
                  <a:lnTo>
                    <a:pt x="5" y="58"/>
                  </a:lnTo>
                  <a:lnTo>
                    <a:pt x="1" y="71"/>
                  </a:lnTo>
                  <a:lnTo>
                    <a:pt x="0" y="84"/>
                  </a:lnTo>
                  <a:lnTo>
                    <a:pt x="0" y="99"/>
                  </a:lnTo>
                  <a:lnTo>
                    <a:pt x="0" y="114"/>
                  </a:lnTo>
                  <a:lnTo>
                    <a:pt x="1" y="127"/>
                  </a:lnTo>
                  <a:lnTo>
                    <a:pt x="5" y="141"/>
                  </a:lnTo>
                  <a:lnTo>
                    <a:pt x="10" y="154"/>
                  </a:lnTo>
                  <a:lnTo>
                    <a:pt x="16" y="165"/>
                  </a:lnTo>
                  <a:lnTo>
                    <a:pt x="23" y="177"/>
                  </a:lnTo>
                  <a:lnTo>
                    <a:pt x="31" y="189"/>
                  </a:lnTo>
                  <a:lnTo>
                    <a:pt x="39" y="199"/>
                  </a:lnTo>
                  <a:lnTo>
                    <a:pt x="46" y="199"/>
                  </a:lnTo>
                  <a:lnTo>
                    <a:pt x="38" y="189"/>
                  </a:lnTo>
                  <a:lnTo>
                    <a:pt x="29" y="179"/>
                  </a:lnTo>
                  <a:lnTo>
                    <a:pt x="21" y="167"/>
                  </a:lnTo>
                  <a:lnTo>
                    <a:pt x="15" y="154"/>
                  </a:lnTo>
                  <a:lnTo>
                    <a:pt x="10" y="141"/>
                  </a:lnTo>
                  <a:lnTo>
                    <a:pt x="6" y="127"/>
                  </a:lnTo>
                  <a:lnTo>
                    <a:pt x="5" y="114"/>
                  </a:lnTo>
                  <a:lnTo>
                    <a:pt x="3" y="99"/>
                  </a:lnTo>
                  <a:lnTo>
                    <a:pt x="5" y="84"/>
                  </a:lnTo>
                  <a:lnTo>
                    <a:pt x="6" y="71"/>
                  </a:lnTo>
                  <a:lnTo>
                    <a:pt x="10" y="56"/>
                  </a:lnTo>
                  <a:lnTo>
                    <a:pt x="15" y="45"/>
                  </a:lnTo>
                  <a:lnTo>
                    <a:pt x="21" y="31"/>
                  </a:lnTo>
                  <a:lnTo>
                    <a:pt x="29" y="20"/>
                  </a:lnTo>
                  <a:lnTo>
                    <a:pt x="38" y="10"/>
                  </a:lnTo>
                  <a:lnTo>
                    <a:pt x="46" y="0"/>
                  </a:lnTo>
                  <a:lnTo>
                    <a:pt x="39"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83" name="Freeform 223">
              <a:extLst>
                <a:ext uri="{FF2B5EF4-FFF2-40B4-BE49-F238E27FC236}">
                  <a16:creationId xmlns:a16="http://schemas.microsoft.com/office/drawing/2014/main" id="{76123E0A-9574-7E2A-54C3-C1E806620AB3}"/>
                </a:ext>
              </a:extLst>
            </p:cNvPr>
            <p:cNvSpPr>
              <a:spLocks noEditPoints="1"/>
            </p:cNvSpPr>
            <p:nvPr/>
          </p:nvSpPr>
          <p:spPr bwMode="auto">
            <a:xfrm>
              <a:off x="1697" y="1514"/>
              <a:ext cx="279" cy="199"/>
            </a:xfrm>
            <a:custGeom>
              <a:avLst/>
              <a:gdLst>
                <a:gd name="T0" fmla="*/ 277 w 279"/>
                <a:gd name="T1" fmla="*/ 84 h 199"/>
                <a:gd name="T2" fmla="*/ 272 w 279"/>
                <a:gd name="T3" fmla="*/ 58 h 199"/>
                <a:gd name="T4" fmla="*/ 260 w 279"/>
                <a:gd name="T5" fmla="*/ 31 h 199"/>
                <a:gd name="T6" fmla="*/ 245 w 279"/>
                <a:gd name="T7" fmla="*/ 10 h 199"/>
                <a:gd name="T8" fmla="*/ 229 w 279"/>
                <a:gd name="T9" fmla="*/ 0 h 199"/>
                <a:gd name="T10" fmla="*/ 247 w 279"/>
                <a:gd name="T11" fmla="*/ 20 h 199"/>
                <a:gd name="T12" fmla="*/ 262 w 279"/>
                <a:gd name="T13" fmla="*/ 45 h 199"/>
                <a:gd name="T14" fmla="*/ 270 w 279"/>
                <a:gd name="T15" fmla="*/ 71 h 199"/>
                <a:gd name="T16" fmla="*/ 274 w 279"/>
                <a:gd name="T17" fmla="*/ 99 h 199"/>
                <a:gd name="T18" fmla="*/ 270 w 279"/>
                <a:gd name="T19" fmla="*/ 127 h 199"/>
                <a:gd name="T20" fmla="*/ 262 w 279"/>
                <a:gd name="T21" fmla="*/ 154 h 199"/>
                <a:gd name="T22" fmla="*/ 247 w 279"/>
                <a:gd name="T23" fmla="*/ 179 h 199"/>
                <a:gd name="T24" fmla="*/ 229 w 279"/>
                <a:gd name="T25" fmla="*/ 199 h 199"/>
                <a:gd name="T26" fmla="*/ 245 w 279"/>
                <a:gd name="T27" fmla="*/ 189 h 199"/>
                <a:gd name="T28" fmla="*/ 260 w 279"/>
                <a:gd name="T29" fmla="*/ 165 h 199"/>
                <a:gd name="T30" fmla="*/ 272 w 279"/>
                <a:gd name="T31" fmla="*/ 141 h 199"/>
                <a:gd name="T32" fmla="*/ 277 w 279"/>
                <a:gd name="T33" fmla="*/ 114 h 199"/>
                <a:gd name="T34" fmla="*/ 42 w 279"/>
                <a:gd name="T35" fmla="*/ 0 h 199"/>
                <a:gd name="T36" fmla="*/ 25 w 279"/>
                <a:gd name="T37" fmla="*/ 20 h 199"/>
                <a:gd name="T38" fmla="*/ 12 w 279"/>
                <a:gd name="T39" fmla="*/ 45 h 199"/>
                <a:gd name="T40" fmla="*/ 4 w 279"/>
                <a:gd name="T41" fmla="*/ 71 h 199"/>
                <a:gd name="T42" fmla="*/ 0 w 279"/>
                <a:gd name="T43" fmla="*/ 99 h 199"/>
                <a:gd name="T44" fmla="*/ 4 w 279"/>
                <a:gd name="T45" fmla="*/ 127 h 199"/>
                <a:gd name="T46" fmla="*/ 12 w 279"/>
                <a:gd name="T47" fmla="*/ 154 h 199"/>
                <a:gd name="T48" fmla="*/ 25 w 279"/>
                <a:gd name="T49" fmla="*/ 177 h 199"/>
                <a:gd name="T50" fmla="*/ 42 w 279"/>
                <a:gd name="T51" fmla="*/ 199 h 199"/>
                <a:gd name="T52" fmla="*/ 40 w 279"/>
                <a:gd name="T53" fmla="*/ 189 h 199"/>
                <a:gd name="T54" fmla="*/ 23 w 279"/>
                <a:gd name="T55" fmla="*/ 167 h 199"/>
                <a:gd name="T56" fmla="*/ 12 w 279"/>
                <a:gd name="T57" fmla="*/ 141 h 199"/>
                <a:gd name="T58" fmla="*/ 5 w 279"/>
                <a:gd name="T59" fmla="*/ 114 h 199"/>
                <a:gd name="T60" fmla="*/ 5 w 279"/>
                <a:gd name="T61" fmla="*/ 84 h 199"/>
                <a:gd name="T62" fmla="*/ 12 w 279"/>
                <a:gd name="T63" fmla="*/ 56 h 199"/>
                <a:gd name="T64" fmla="*/ 23 w 279"/>
                <a:gd name="T65" fmla="*/ 31 h 199"/>
                <a:gd name="T66" fmla="*/ 40 w 279"/>
                <a:gd name="T67" fmla="*/ 10 h 199"/>
                <a:gd name="T68" fmla="*/ 42 w 27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9" h="199">
                  <a:moveTo>
                    <a:pt x="279" y="99"/>
                  </a:moveTo>
                  <a:lnTo>
                    <a:pt x="277" y="84"/>
                  </a:lnTo>
                  <a:lnTo>
                    <a:pt x="275" y="71"/>
                  </a:lnTo>
                  <a:lnTo>
                    <a:pt x="272" y="58"/>
                  </a:lnTo>
                  <a:lnTo>
                    <a:pt x="267" y="45"/>
                  </a:lnTo>
                  <a:lnTo>
                    <a:pt x="260" y="31"/>
                  </a:lnTo>
                  <a:lnTo>
                    <a:pt x="254" y="20"/>
                  </a:lnTo>
                  <a:lnTo>
                    <a:pt x="245" y="10"/>
                  </a:lnTo>
                  <a:lnTo>
                    <a:pt x="235" y="0"/>
                  </a:lnTo>
                  <a:lnTo>
                    <a:pt x="229" y="0"/>
                  </a:lnTo>
                  <a:lnTo>
                    <a:pt x="239" y="10"/>
                  </a:lnTo>
                  <a:lnTo>
                    <a:pt x="247" y="20"/>
                  </a:lnTo>
                  <a:lnTo>
                    <a:pt x="255" y="31"/>
                  </a:lnTo>
                  <a:lnTo>
                    <a:pt x="262" y="45"/>
                  </a:lnTo>
                  <a:lnTo>
                    <a:pt x="267" y="56"/>
                  </a:lnTo>
                  <a:lnTo>
                    <a:pt x="270" y="71"/>
                  </a:lnTo>
                  <a:lnTo>
                    <a:pt x="272" y="84"/>
                  </a:lnTo>
                  <a:lnTo>
                    <a:pt x="274" y="99"/>
                  </a:lnTo>
                  <a:lnTo>
                    <a:pt x="272" y="114"/>
                  </a:lnTo>
                  <a:lnTo>
                    <a:pt x="270" y="127"/>
                  </a:lnTo>
                  <a:lnTo>
                    <a:pt x="267" y="141"/>
                  </a:lnTo>
                  <a:lnTo>
                    <a:pt x="262" y="154"/>
                  </a:lnTo>
                  <a:lnTo>
                    <a:pt x="255" y="167"/>
                  </a:lnTo>
                  <a:lnTo>
                    <a:pt x="247" y="179"/>
                  </a:lnTo>
                  <a:lnTo>
                    <a:pt x="239" y="189"/>
                  </a:lnTo>
                  <a:lnTo>
                    <a:pt x="229" y="199"/>
                  </a:lnTo>
                  <a:lnTo>
                    <a:pt x="235" y="199"/>
                  </a:lnTo>
                  <a:lnTo>
                    <a:pt x="245" y="189"/>
                  </a:lnTo>
                  <a:lnTo>
                    <a:pt x="254" y="177"/>
                  </a:lnTo>
                  <a:lnTo>
                    <a:pt x="260" y="165"/>
                  </a:lnTo>
                  <a:lnTo>
                    <a:pt x="267" y="154"/>
                  </a:lnTo>
                  <a:lnTo>
                    <a:pt x="272" y="141"/>
                  </a:lnTo>
                  <a:lnTo>
                    <a:pt x="275" y="127"/>
                  </a:lnTo>
                  <a:lnTo>
                    <a:pt x="277" y="114"/>
                  </a:lnTo>
                  <a:lnTo>
                    <a:pt x="279" y="99"/>
                  </a:lnTo>
                  <a:close/>
                  <a:moveTo>
                    <a:pt x="42" y="0"/>
                  </a:moveTo>
                  <a:lnTo>
                    <a:pt x="33" y="10"/>
                  </a:lnTo>
                  <a:lnTo>
                    <a:pt x="25" y="20"/>
                  </a:lnTo>
                  <a:lnTo>
                    <a:pt x="17" y="31"/>
                  </a:lnTo>
                  <a:lnTo>
                    <a:pt x="12" y="45"/>
                  </a:lnTo>
                  <a:lnTo>
                    <a:pt x="7" y="58"/>
                  </a:lnTo>
                  <a:lnTo>
                    <a:pt x="4" y="71"/>
                  </a:lnTo>
                  <a:lnTo>
                    <a:pt x="0" y="84"/>
                  </a:lnTo>
                  <a:lnTo>
                    <a:pt x="0" y="99"/>
                  </a:lnTo>
                  <a:lnTo>
                    <a:pt x="0" y="114"/>
                  </a:lnTo>
                  <a:lnTo>
                    <a:pt x="4" y="127"/>
                  </a:lnTo>
                  <a:lnTo>
                    <a:pt x="7" y="141"/>
                  </a:lnTo>
                  <a:lnTo>
                    <a:pt x="12" y="154"/>
                  </a:lnTo>
                  <a:lnTo>
                    <a:pt x="17" y="165"/>
                  </a:lnTo>
                  <a:lnTo>
                    <a:pt x="25" y="177"/>
                  </a:lnTo>
                  <a:lnTo>
                    <a:pt x="33" y="189"/>
                  </a:lnTo>
                  <a:lnTo>
                    <a:pt x="42" y="199"/>
                  </a:lnTo>
                  <a:lnTo>
                    <a:pt x="48" y="199"/>
                  </a:lnTo>
                  <a:lnTo>
                    <a:pt x="40" y="189"/>
                  </a:lnTo>
                  <a:lnTo>
                    <a:pt x="30" y="179"/>
                  </a:lnTo>
                  <a:lnTo>
                    <a:pt x="23" y="167"/>
                  </a:lnTo>
                  <a:lnTo>
                    <a:pt x="17" y="154"/>
                  </a:lnTo>
                  <a:lnTo>
                    <a:pt x="12" y="141"/>
                  </a:lnTo>
                  <a:lnTo>
                    <a:pt x="9" y="127"/>
                  </a:lnTo>
                  <a:lnTo>
                    <a:pt x="5" y="114"/>
                  </a:lnTo>
                  <a:lnTo>
                    <a:pt x="5" y="99"/>
                  </a:lnTo>
                  <a:lnTo>
                    <a:pt x="5" y="84"/>
                  </a:lnTo>
                  <a:lnTo>
                    <a:pt x="9" y="71"/>
                  </a:lnTo>
                  <a:lnTo>
                    <a:pt x="12" y="56"/>
                  </a:lnTo>
                  <a:lnTo>
                    <a:pt x="17" y="45"/>
                  </a:lnTo>
                  <a:lnTo>
                    <a:pt x="23" y="31"/>
                  </a:lnTo>
                  <a:lnTo>
                    <a:pt x="30" y="20"/>
                  </a:lnTo>
                  <a:lnTo>
                    <a:pt x="40" y="10"/>
                  </a:lnTo>
                  <a:lnTo>
                    <a:pt x="48" y="0"/>
                  </a:lnTo>
                  <a:lnTo>
                    <a:pt x="42"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284" name="Freeform 224">
              <a:extLst>
                <a:ext uri="{FF2B5EF4-FFF2-40B4-BE49-F238E27FC236}">
                  <a16:creationId xmlns:a16="http://schemas.microsoft.com/office/drawing/2014/main" id="{5F3515C4-04B5-0C0C-E73E-CC8CEFA98730}"/>
                </a:ext>
              </a:extLst>
            </p:cNvPr>
            <p:cNvSpPr>
              <a:spLocks noEditPoints="1"/>
            </p:cNvSpPr>
            <p:nvPr/>
          </p:nvSpPr>
          <p:spPr bwMode="auto">
            <a:xfrm>
              <a:off x="1699" y="1514"/>
              <a:ext cx="273" cy="199"/>
            </a:xfrm>
            <a:custGeom>
              <a:avLst/>
              <a:gdLst>
                <a:gd name="T0" fmla="*/ 273 w 273"/>
                <a:gd name="T1" fmla="*/ 84 h 199"/>
                <a:gd name="T2" fmla="*/ 267 w 273"/>
                <a:gd name="T3" fmla="*/ 56 h 199"/>
                <a:gd name="T4" fmla="*/ 257 w 273"/>
                <a:gd name="T5" fmla="*/ 31 h 199"/>
                <a:gd name="T6" fmla="*/ 240 w 273"/>
                <a:gd name="T7" fmla="*/ 10 h 199"/>
                <a:gd name="T8" fmla="*/ 224 w 273"/>
                <a:gd name="T9" fmla="*/ 0 h 199"/>
                <a:gd name="T10" fmla="*/ 242 w 273"/>
                <a:gd name="T11" fmla="*/ 20 h 199"/>
                <a:gd name="T12" fmla="*/ 257 w 273"/>
                <a:gd name="T13" fmla="*/ 43 h 199"/>
                <a:gd name="T14" fmla="*/ 265 w 273"/>
                <a:gd name="T15" fmla="*/ 69 h 199"/>
                <a:gd name="T16" fmla="*/ 268 w 273"/>
                <a:gd name="T17" fmla="*/ 99 h 199"/>
                <a:gd name="T18" fmla="*/ 265 w 273"/>
                <a:gd name="T19" fmla="*/ 127 h 199"/>
                <a:gd name="T20" fmla="*/ 257 w 273"/>
                <a:gd name="T21" fmla="*/ 154 h 199"/>
                <a:gd name="T22" fmla="*/ 242 w 273"/>
                <a:gd name="T23" fmla="*/ 179 h 199"/>
                <a:gd name="T24" fmla="*/ 224 w 273"/>
                <a:gd name="T25" fmla="*/ 199 h 199"/>
                <a:gd name="T26" fmla="*/ 240 w 273"/>
                <a:gd name="T27" fmla="*/ 189 h 199"/>
                <a:gd name="T28" fmla="*/ 257 w 273"/>
                <a:gd name="T29" fmla="*/ 167 h 199"/>
                <a:gd name="T30" fmla="*/ 267 w 273"/>
                <a:gd name="T31" fmla="*/ 141 h 199"/>
                <a:gd name="T32" fmla="*/ 273 w 273"/>
                <a:gd name="T33" fmla="*/ 114 h 199"/>
                <a:gd name="T34" fmla="*/ 43 w 273"/>
                <a:gd name="T35" fmla="*/ 0 h 199"/>
                <a:gd name="T36" fmla="*/ 26 w 273"/>
                <a:gd name="T37" fmla="*/ 20 h 199"/>
                <a:gd name="T38" fmla="*/ 12 w 273"/>
                <a:gd name="T39" fmla="*/ 45 h 199"/>
                <a:gd name="T40" fmla="*/ 3 w 273"/>
                <a:gd name="T41" fmla="*/ 71 h 199"/>
                <a:gd name="T42" fmla="*/ 0 w 273"/>
                <a:gd name="T43" fmla="*/ 99 h 199"/>
                <a:gd name="T44" fmla="*/ 3 w 273"/>
                <a:gd name="T45" fmla="*/ 127 h 199"/>
                <a:gd name="T46" fmla="*/ 12 w 273"/>
                <a:gd name="T47" fmla="*/ 154 h 199"/>
                <a:gd name="T48" fmla="*/ 26 w 273"/>
                <a:gd name="T49" fmla="*/ 179 h 199"/>
                <a:gd name="T50" fmla="*/ 43 w 273"/>
                <a:gd name="T51" fmla="*/ 199 h 199"/>
                <a:gd name="T52" fmla="*/ 41 w 273"/>
                <a:gd name="T53" fmla="*/ 189 h 199"/>
                <a:gd name="T54" fmla="*/ 25 w 273"/>
                <a:gd name="T55" fmla="*/ 167 h 199"/>
                <a:gd name="T56" fmla="*/ 13 w 273"/>
                <a:gd name="T57" fmla="*/ 142 h 199"/>
                <a:gd name="T58" fmla="*/ 7 w 273"/>
                <a:gd name="T59" fmla="*/ 114 h 199"/>
                <a:gd name="T60" fmla="*/ 7 w 273"/>
                <a:gd name="T61" fmla="*/ 84 h 199"/>
                <a:gd name="T62" fmla="*/ 13 w 273"/>
                <a:gd name="T63" fmla="*/ 56 h 199"/>
                <a:gd name="T64" fmla="*/ 25 w 273"/>
                <a:gd name="T65" fmla="*/ 31 h 199"/>
                <a:gd name="T66" fmla="*/ 41 w 273"/>
                <a:gd name="T67" fmla="*/ 10 h 199"/>
                <a:gd name="T68" fmla="*/ 43 w 27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3" h="199">
                  <a:moveTo>
                    <a:pt x="273" y="99"/>
                  </a:moveTo>
                  <a:lnTo>
                    <a:pt x="273" y="84"/>
                  </a:lnTo>
                  <a:lnTo>
                    <a:pt x="270" y="71"/>
                  </a:lnTo>
                  <a:lnTo>
                    <a:pt x="267" y="56"/>
                  </a:lnTo>
                  <a:lnTo>
                    <a:pt x="262" y="45"/>
                  </a:lnTo>
                  <a:lnTo>
                    <a:pt x="257" y="31"/>
                  </a:lnTo>
                  <a:lnTo>
                    <a:pt x="248" y="20"/>
                  </a:lnTo>
                  <a:lnTo>
                    <a:pt x="240" y="10"/>
                  </a:lnTo>
                  <a:lnTo>
                    <a:pt x="230" y="0"/>
                  </a:lnTo>
                  <a:lnTo>
                    <a:pt x="224" y="0"/>
                  </a:lnTo>
                  <a:lnTo>
                    <a:pt x="233" y="10"/>
                  </a:lnTo>
                  <a:lnTo>
                    <a:pt x="242" y="20"/>
                  </a:lnTo>
                  <a:lnTo>
                    <a:pt x="250" y="31"/>
                  </a:lnTo>
                  <a:lnTo>
                    <a:pt x="257" y="43"/>
                  </a:lnTo>
                  <a:lnTo>
                    <a:pt x="262" y="56"/>
                  </a:lnTo>
                  <a:lnTo>
                    <a:pt x="265" y="69"/>
                  </a:lnTo>
                  <a:lnTo>
                    <a:pt x="268" y="84"/>
                  </a:lnTo>
                  <a:lnTo>
                    <a:pt x="268" y="99"/>
                  </a:lnTo>
                  <a:lnTo>
                    <a:pt x="268" y="114"/>
                  </a:lnTo>
                  <a:lnTo>
                    <a:pt x="265" y="127"/>
                  </a:lnTo>
                  <a:lnTo>
                    <a:pt x="262" y="142"/>
                  </a:lnTo>
                  <a:lnTo>
                    <a:pt x="257" y="154"/>
                  </a:lnTo>
                  <a:lnTo>
                    <a:pt x="250" y="167"/>
                  </a:lnTo>
                  <a:lnTo>
                    <a:pt x="242" y="179"/>
                  </a:lnTo>
                  <a:lnTo>
                    <a:pt x="233" y="189"/>
                  </a:lnTo>
                  <a:lnTo>
                    <a:pt x="224" y="199"/>
                  </a:lnTo>
                  <a:lnTo>
                    <a:pt x="230" y="199"/>
                  </a:lnTo>
                  <a:lnTo>
                    <a:pt x="240" y="189"/>
                  </a:lnTo>
                  <a:lnTo>
                    <a:pt x="248" y="179"/>
                  </a:lnTo>
                  <a:lnTo>
                    <a:pt x="257" y="167"/>
                  </a:lnTo>
                  <a:lnTo>
                    <a:pt x="262" y="154"/>
                  </a:lnTo>
                  <a:lnTo>
                    <a:pt x="267" y="141"/>
                  </a:lnTo>
                  <a:lnTo>
                    <a:pt x="270" y="127"/>
                  </a:lnTo>
                  <a:lnTo>
                    <a:pt x="273" y="114"/>
                  </a:lnTo>
                  <a:lnTo>
                    <a:pt x="273" y="99"/>
                  </a:lnTo>
                  <a:close/>
                  <a:moveTo>
                    <a:pt x="43" y="0"/>
                  </a:moveTo>
                  <a:lnTo>
                    <a:pt x="35" y="10"/>
                  </a:lnTo>
                  <a:lnTo>
                    <a:pt x="26" y="20"/>
                  </a:lnTo>
                  <a:lnTo>
                    <a:pt x="18" y="31"/>
                  </a:lnTo>
                  <a:lnTo>
                    <a:pt x="12" y="45"/>
                  </a:lnTo>
                  <a:lnTo>
                    <a:pt x="7" y="56"/>
                  </a:lnTo>
                  <a:lnTo>
                    <a:pt x="3" y="71"/>
                  </a:lnTo>
                  <a:lnTo>
                    <a:pt x="2" y="84"/>
                  </a:lnTo>
                  <a:lnTo>
                    <a:pt x="0" y="99"/>
                  </a:lnTo>
                  <a:lnTo>
                    <a:pt x="2" y="114"/>
                  </a:lnTo>
                  <a:lnTo>
                    <a:pt x="3" y="127"/>
                  </a:lnTo>
                  <a:lnTo>
                    <a:pt x="7" y="141"/>
                  </a:lnTo>
                  <a:lnTo>
                    <a:pt x="12" y="154"/>
                  </a:lnTo>
                  <a:lnTo>
                    <a:pt x="18" y="167"/>
                  </a:lnTo>
                  <a:lnTo>
                    <a:pt x="26" y="179"/>
                  </a:lnTo>
                  <a:lnTo>
                    <a:pt x="35" y="189"/>
                  </a:lnTo>
                  <a:lnTo>
                    <a:pt x="43" y="199"/>
                  </a:lnTo>
                  <a:lnTo>
                    <a:pt x="51" y="199"/>
                  </a:lnTo>
                  <a:lnTo>
                    <a:pt x="41" y="189"/>
                  </a:lnTo>
                  <a:lnTo>
                    <a:pt x="31" y="179"/>
                  </a:lnTo>
                  <a:lnTo>
                    <a:pt x="25" y="167"/>
                  </a:lnTo>
                  <a:lnTo>
                    <a:pt x="18" y="154"/>
                  </a:lnTo>
                  <a:lnTo>
                    <a:pt x="13" y="142"/>
                  </a:lnTo>
                  <a:lnTo>
                    <a:pt x="8" y="127"/>
                  </a:lnTo>
                  <a:lnTo>
                    <a:pt x="7" y="114"/>
                  </a:lnTo>
                  <a:lnTo>
                    <a:pt x="5" y="99"/>
                  </a:lnTo>
                  <a:lnTo>
                    <a:pt x="7" y="84"/>
                  </a:lnTo>
                  <a:lnTo>
                    <a:pt x="8" y="69"/>
                  </a:lnTo>
                  <a:lnTo>
                    <a:pt x="13" y="56"/>
                  </a:lnTo>
                  <a:lnTo>
                    <a:pt x="18" y="43"/>
                  </a:lnTo>
                  <a:lnTo>
                    <a:pt x="25" y="31"/>
                  </a:lnTo>
                  <a:lnTo>
                    <a:pt x="31" y="20"/>
                  </a:lnTo>
                  <a:lnTo>
                    <a:pt x="41" y="10"/>
                  </a:lnTo>
                  <a:lnTo>
                    <a:pt x="51" y="0"/>
                  </a:lnTo>
                  <a:lnTo>
                    <a:pt x="43"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grpSp>
      <p:grpSp>
        <p:nvGrpSpPr>
          <p:cNvPr id="25" name="Group 426">
            <a:extLst>
              <a:ext uri="{FF2B5EF4-FFF2-40B4-BE49-F238E27FC236}">
                <a16:creationId xmlns:a16="http://schemas.microsoft.com/office/drawing/2014/main" id="{60415C5F-8F69-AC43-BB8D-AF5BEBB998BB}"/>
              </a:ext>
            </a:extLst>
          </p:cNvPr>
          <p:cNvGrpSpPr>
            <a:grpSpLocks/>
          </p:cNvGrpSpPr>
          <p:nvPr/>
        </p:nvGrpSpPr>
        <p:grpSpPr bwMode="auto">
          <a:xfrm>
            <a:off x="1951038" y="2403475"/>
            <a:ext cx="1924050" cy="396875"/>
            <a:chOff x="1229" y="1514"/>
            <a:chExt cx="1212" cy="250"/>
          </a:xfrm>
        </p:grpSpPr>
        <p:sp>
          <p:nvSpPr>
            <p:cNvPr id="72885" name="Freeform 226">
              <a:extLst>
                <a:ext uri="{FF2B5EF4-FFF2-40B4-BE49-F238E27FC236}">
                  <a16:creationId xmlns:a16="http://schemas.microsoft.com/office/drawing/2014/main" id="{D6AA6BEE-97E4-6879-E894-7DA8F4994EE0}"/>
                </a:ext>
              </a:extLst>
            </p:cNvPr>
            <p:cNvSpPr>
              <a:spLocks noEditPoints="1"/>
            </p:cNvSpPr>
            <p:nvPr/>
          </p:nvSpPr>
          <p:spPr bwMode="auto">
            <a:xfrm>
              <a:off x="1702" y="1514"/>
              <a:ext cx="269" cy="199"/>
            </a:xfrm>
            <a:custGeom>
              <a:avLst/>
              <a:gdLst>
                <a:gd name="T0" fmla="*/ 267 w 269"/>
                <a:gd name="T1" fmla="*/ 84 h 199"/>
                <a:gd name="T2" fmla="*/ 262 w 269"/>
                <a:gd name="T3" fmla="*/ 56 h 199"/>
                <a:gd name="T4" fmla="*/ 250 w 269"/>
                <a:gd name="T5" fmla="*/ 31 h 199"/>
                <a:gd name="T6" fmla="*/ 234 w 269"/>
                <a:gd name="T7" fmla="*/ 10 h 199"/>
                <a:gd name="T8" fmla="*/ 217 w 269"/>
                <a:gd name="T9" fmla="*/ 0 h 199"/>
                <a:gd name="T10" fmla="*/ 235 w 269"/>
                <a:gd name="T11" fmla="*/ 20 h 199"/>
                <a:gd name="T12" fmla="*/ 250 w 269"/>
                <a:gd name="T13" fmla="*/ 43 h 199"/>
                <a:gd name="T14" fmla="*/ 260 w 269"/>
                <a:gd name="T15" fmla="*/ 69 h 199"/>
                <a:gd name="T16" fmla="*/ 264 w 269"/>
                <a:gd name="T17" fmla="*/ 99 h 199"/>
                <a:gd name="T18" fmla="*/ 260 w 269"/>
                <a:gd name="T19" fmla="*/ 127 h 199"/>
                <a:gd name="T20" fmla="*/ 250 w 269"/>
                <a:gd name="T21" fmla="*/ 155 h 199"/>
                <a:gd name="T22" fmla="*/ 235 w 269"/>
                <a:gd name="T23" fmla="*/ 179 h 199"/>
                <a:gd name="T24" fmla="*/ 217 w 269"/>
                <a:gd name="T25" fmla="*/ 199 h 199"/>
                <a:gd name="T26" fmla="*/ 234 w 269"/>
                <a:gd name="T27" fmla="*/ 189 h 199"/>
                <a:gd name="T28" fmla="*/ 250 w 269"/>
                <a:gd name="T29" fmla="*/ 167 h 199"/>
                <a:gd name="T30" fmla="*/ 262 w 269"/>
                <a:gd name="T31" fmla="*/ 141 h 199"/>
                <a:gd name="T32" fmla="*/ 267 w 269"/>
                <a:gd name="T33" fmla="*/ 114 h 199"/>
                <a:gd name="T34" fmla="*/ 43 w 269"/>
                <a:gd name="T35" fmla="*/ 0 h 199"/>
                <a:gd name="T36" fmla="*/ 25 w 269"/>
                <a:gd name="T37" fmla="*/ 20 h 199"/>
                <a:gd name="T38" fmla="*/ 12 w 269"/>
                <a:gd name="T39" fmla="*/ 45 h 199"/>
                <a:gd name="T40" fmla="*/ 4 w 269"/>
                <a:gd name="T41" fmla="*/ 71 h 199"/>
                <a:gd name="T42" fmla="*/ 0 w 269"/>
                <a:gd name="T43" fmla="*/ 99 h 199"/>
                <a:gd name="T44" fmla="*/ 4 w 269"/>
                <a:gd name="T45" fmla="*/ 127 h 199"/>
                <a:gd name="T46" fmla="*/ 12 w 269"/>
                <a:gd name="T47" fmla="*/ 154 h 199"/>
                <a:gd name="T48" fmla="*/ 25 w 269"/>
                <a:gd name="T49" fmla="*/ 179 h 199"/>
                <a:gd name="T50" fmla="*/ 43 w 269"/>
                <a:gd name="T51" fmla="*/ 199 h 199"/>
                <a:gd name="T52" fmla="*/ 42 w 269"/>
                <a:gd name="T53" fmla="*/ 189 h 199"/>
                <a:gd name="T54" fmla="*/ 23 w 269"/>
                <a:gd name="T55" fmla="*/ 167 h 199"/>
                <a:gd name="T56" fmla="*/ 12 w 269"/>
                <a:gd name="T57" fmla="*/ 142 h 199"/>
                <a:gd name="T58" fmla="*/ 5 w 269"/>
                <a:gd name="T59" fmla="*/ 114 h 199"/>
                <a:gd name="T60" fmla="*/ 5 w 269"/>
                <a:gd name="T61" fmla="*/ 84 h 199"/>
                <a:gd name="T62" fmla="*/ 12 w 269"/>
                <a:gd name="T63" fmla="*/ 56 h 199"/>
                <a:gd name="T64" fmla="*/ 23 w 269"/>
                <a:gd name="T65" fmla="*/ 31 h 199"/>
                <a:gd name="T66" fmla="*/ 42 w 269"/>
                <a:gd name="T67" fmla="*/ 10 h 199"/>
                <a:gd name="T68" fmla="*/ 43 w 26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9" h="199">
                  <a:moveTo>
                    <a:pt x="269" y="99"/>
                  </a:moveTo>
                  <a:lnTo>
                    <a:pt x="267" y="84"/>
                  </a:lnTo>
                  <a:lnTo>
                    <a:pt x="265" y="71"/>
                  </a:lnTo>
                  <a:lnTo>
                    <a:pt x="262" y="56"/>
                  </a:lnTo>
                  <a:lnTo>
                    <a:pt x="257" y="45"/>
                  </a:lnTo>
                  <a:lnTo>
                    <a:pt x="250" y="31"/>
                  </a:lnTo>
                  <a:lnTo>
                    <a:pt x="242" y="20"/>
                  </a:lnTo>
                  <a:lnTo>
                    <a:pt x="234" y="10"/>
                  </a:lnTo>
                  <a:lnTo>
                    <a:pt x="224" y="0"/>
                  </a:lnTo>
                  <a:lnTo>
                    <a:pt x="217" y="0"/>
                  </a:lnTo>
                  <a:lnTo>
                    <a:pt x="227" y="10"/>
                  </a:lnTo>
                  <a:lnTo>
                    <a:pt x="235" y="20"/>
                  </a:lnTo>
                  <a:lnTo>
                    <a:pt x="244" y="31"/>
                  </a:lnTo>
                  <a:lnTo>
                    <a:pt x="250" y="43"/>
                  </a:lnTo>
                  <a:lnTo>
                    <a:pt x="257" y="56"/>
                  </a:lnTo>
                  <a:lnTo>
                    <a:pt x="260" y="69"/>
                  </a:lnTo>
                  <a:lnTo>
                    <a:pt x="262" y="84"/>
                  </a:lnTo>
                  <a:lnTo>
                    <a:pt x="264" y="99"/>
                  </a:lnTo>
                  <a:lnTo>
                    <a:pt x="262" y="114"/>
                  </a:lnTo>
                  <a:lnTo>
                    <a:pt x="260" y="127"/>
                  </a:lnTo>
                  <a:lnTo>
                    <a:pt x="257" y="142"/>
                  </a:lnTo>
                  <a:lnTo>
                    <a:pt x="250" y="155"/>
                  </a:lnTo>
                  <a:lnTo>
                    <a:pt x="244" y="167"/>
                  </a:lnTo>
                  <a:lnTo>
                    <a:pt x="235" y="179"/>
                  </a:lnTo>
                  <a:lnTo>
                    <a:pt x="227" y="189"/>
                  </a:lnTo>
                  <a:lnTo>
                    <a:pt x="217" y="199"/>
                  </a:lnTo>
                  <a:lnTo>
                    <a:pt x="224" y="199"/>
                  </a:lnTo>
                  <a:lnTo>
                    <a:pt x="234" y="189"/>
                  </a:lnTo>
                  <a:lnTo>
                    <a:pt x="242" y="179"/>
                  </a:lnTo>
                  <a:lnTo>
                    <a:pt x="250" y="167"/>
                  </a:lnTo>
                  <a:lnTo>
                    <a:pt x="257" y="154"/>
                  </a:lnTo>
                  <a:lnTo>
                    <a:pt x="262" y="141"/>
                  </a:lnTo>
                  <a:lnTo>
                    <a:pt x="265" y="127"/>
                  </a:lnTo>
                  <a:lnTo>
                    <a:pt x="267" y="114"/>
                  </a:lnTo>
                  <a:lnTo>
                    <a:pt x="269" y="99"/>
                  </a:lnTo>
                  <a:close/>
                  <a:moveTo>
                    <a:pt x="43" y="0"/>
                  </a:moveTo>
                  <a:lnTo>
                    <a:pt x="35" y="10"/>
                  </a:lnTo>
                  <a:lnTo>
                    <a:pt x="25" y="20"/>
                  </a:lnTo>
                  <a:lnTo>
                    <a:pt x="18" y="31"/>
                  </a:lnTo>
                  <a:lnTo>
                    <a:pt x="12" y="45"/>
                  </a:lnTo>
                  <a:lnTo>
                    <a:pt x="7" y="56"/>
                  </a:lnTo>
                  <a:lnTo>
                    <a:pt x="4" y="71"/>
                  </a:lnTo>
                  <a:lnTo>
                    <a:pt x="0" y="84"/>
                  </a:lnTo>
                  <a:lnTo>
                    <a:pt x="0" y="99"/>
                  </a:lnTo>
                  <a:lnTo>
                    <a:pt x="0" y="114"/>
                  </a:lnTo>
                  <a:lnTo>
                    <a:pt x="4" y="127"/>
                  </a:lnTo>
                  <a:lnTo>
                    <a:pt x="7" y="141"/>
                  </a:lnTo>
                  <a:lnTo>
                    <a:pt x="12" y="154"/>
                  </a:lnTo>
                  <a:lnTo>
                    <a:pt x="18" y="167"/>
                  </a:lnTo>
                  <a:lnTo>
                    <a:pt x="25" y="179"/>
                  </a:lnTo>
                  <a:lnTo>
                    <a:pt x="35" y="189"/>
                  </a:lnTo>
                  <a:lnTo>
                    <a:pt x="43" y="199"/>
                  </a:lnTo>
                  <a:lnTo>
                    <a:pt x="52" y="199"/>
                  </a:lnTo>
                  <a:lnTo>
                    <a:pt x="42" y="189"/>
                  </a:lnTo>
                  <a:lnTo>
                    <a:pt x="32" y="179"/>
                  </a:lnTo>
                  <a:lnTo>
                    <a:pt x="23" y="167"/>
                  </a:lnTo>
                  <a:lnTo>
                    <a:pt x="17" y="155"/>
                  </a:lnTo>
                  <a:lnTo>
                    <a:pt x="12" y="142"/>
                  </a:lnTo>
                  <a:lnTo>
                    <a:pt x="9" y="127"/>
                  </a:lnTo>
                  <a:lnTo>
                    <a:pt x="5" y="114"/>
                  </a:lnTo>
                  <a:lnTo>
                    <a:pt x="5" y="99"/>
                  </a:lnTo>
                  <a:lnTo>
                    <a:pt x="5" y="84"/>
                  </a:lnTo>
                  <a:lnTo>
                    <a:pt x="9" y="69"/>
                  </a:lnTo>
                  <a:lnTo>
                    <a:pt x="12" y="56"/>
                  </a:lnTo>
                  <a:lnTo>
                    <a:pt x="17" y="43"/>
                  </a:lnTo>
                  <a:lnTo>
                    <a:pt x="23" y="31"/>
                  </a:lnTo>
                  <a:lnTo>
                    <a:pt x="32" y="20"/>
                  </a:lnTo>
                  <a:lnTo>
                    <a:pt x="42" y="10"/>
                  </a:lnTo>
                  <a:lnTo>
                    <a:pt x="52" y="0"/>
                  </a:lnTo>
                  <a:lnTo>
                    <a:pt x="43"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86" name="Freeform 227">
              <a:extLst>
                <a:ext uri="{FF2B5EF4-FFF2-40B4-BE49-F238E27FC236}">
                  <a16:creationId xmlns:a16="http://schemas.microsoft.com/office/drawing/2014/main" id="{AFFD43FA-8378-5208-BBD4-3062720EA178}"/>
                </a:ext>
              </a:extLst>
            </p:cNvPr>
            <p:cNvSpPr>
              <a:spLocks noEditPoints="1"/>
            </p:cNvSpPr>
            <p:nvPr/>
          </p:nvSpPr>
          <p:spPr bwMode="auto">
            <a:xfrm>
              <a:off x="1704" y="1514"/>
              <a:ext cx="263" cy="199"/>
            </a:xfrm>
            <a:custGeom>
              <a:avLst/>
              <a:gdLst>
                <a:gd name="T0" fmla="*/ 263 w 263"/>
                <a:gd name="T1" fmla="*/ 84 h 199"/>
                <a:gd name="T2" fmla="*/ 257 w 263"/>
                <a:gd name="T3" fmla="*/ 56 h 199"/>
                <a:gd name="T4" fmla="*/ 245 w 263"/>
                <a:gd name="T5" fmla="*/ 31 h 199"/>
                <a:gd name="T6" fmla="*/ 228 w 263"/>
                <a:gd name="T7" fmla="*/ 10 h 199"/>
                <a:gd name="T8" fmla="*/ 212 w 263"/>
                <a:gd name="T9" fmla="*/ 0 h 199"/>
                <a:gd name="T10" fmla="*/ 230 w 263"/>
                <a:gd name="T11" fmla="*/ 20 h 199"/>
                <a:gd name="T12" fmla="*/ 247 w 263"/>
                <a:gd name="T13" fmla="*/ 43 h 199"/>
                <a:gd name="T14" fmla="*/ 255 w 263"/>
                <a:gd name="T15" fmla="*/ 69 h 199"/>
                <a:gd name="T16" fmla="*/ 258 w 263"/>
                <a:gd name="T17" fmla="*/ 99 h 199"/>
                <a:gd name="T18" fmla="*/ 255 w 263"/>
                <a:gd name="T19" fmla="*/ 129 h 199"/>
                <a:gd name="T20" fmla="*/ 247 w 263"/>
                <a:gd name="T21" fmla="*/ 155 h 199"/>
                <a:gd name="T22" fmla="*/ 230 w 263"/>
                <a:gd name="T23" fmla="*/ 179 h 199"/>
                <a:gd name="T24" fmla="*/ 212 w 263"/>
                <a:gd name="T25" fmla="*/ 199 h 199"/>
                <a:gd name="T26" fmla="*/ 228 w 263"/>
                <a:gd name="T27" fmla="*/ 189 h 199"/>
                <a:gd name="T28" fmla="*/ 245 w 263"/>
                <a:gd name="T29" fmla="*/ 167 h 199"/>
                <a:gd name="T30" fmla="*/ 257 w 263"/>
                <a:gd name="T31" fmla="*/ 142 h 199"/>
                <a:gd name="T32" fmla="*/ 263 w 263"/>
                <a:gd name="T33" fmla="*/ 114 h 199"/>
                <a:gd name="T34" fmla="*/ 46 w 263"/>
                <a:gd name="T35" fmla="*/ 0 h 199"/>
                <a:gd name="T36" fmla="*/ 26 w 263"/>
                <a:gd name="T37" fmla="*/ 20 h 199"/>
                <a:gd name="T38" fmla="*/ 13 w 263"/>
                <a:gd name="T39" fmla="*/ 43 h 199"/>
                <a:gd name="T40" fmla="*/ 3 w 263"/>
                <a:gd name="T41" fmla="*/ 69 h 199"/>
                <a:gd name="T42" fmla="*/ 0 w 263"/>
                <a:gd name="T43" fmla="*/ 99 h 199"/>
                <a:gd name="T44" fmla="*/ 3 w 263"/>
                <a:gd name="T45" fmla="*/ 127 h 199"/>
                <a:gd name="T46" fmla="*/ 13 w 263"/>
                <a:gd name="T47" fmla="*/ 154 h 199"/>
                <a:gd name="T48" fmla="*/ 26 w 263"/>
                <a:gd name="T49" fmla="*/ 179 h 199"/>
                <a:gd name="T50" fmla="*/ 46 w 263"/>
                <a:gd name="T51" fmla="*/ 199 h 199"/>
                <a:gd name="T52" fmla="*/ 43 w 263"/>
                <a:gd name="T53" fmla="*/ 189 h 199"/>
                <a:gd name="T54" fmla="*/ 25 w 263"/>
                <a:gd name="T55" fmla="*/ 167 h 199"/>
                <a:gd name="T56" fmla="*/ 13 w 263"/>
                <a:gd name="T57" fmla="*/ 142 h 199"/>
                <a:gd name="T58" fmla="*/ 7 w 263"/>
                <a:gd name="T59" fmla="*/ 114 h 199"/>
                <a:gd name="T60" fmla="*/ 7 w 263"/>
                <a:gd name="T61" fmla="*/ 84 h 199"/>
                <a:gd name="T62" fmla="*/ 13 w 263"/>
                <a:gd name="T63" fmla="*/ 56 h 199"/>
                <a:gd name="T64" fmla="*/ 25 w 263"/>
                <a:gd name="T65" fmla="*/ 31 h 199"/>
                <a:gd name="T66" fmla="*/ 43 w 263"/>
                <a:gd name="T67" fmla="*/ 8 h 199"/>
                <a:gd name="T68" fmla="*/ 46 w 26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3" h="199">
                  <a:moveTo>
                    <a:pt x="263" y="99"/>
                  </a:moveTo>
                  <a:lnTo>
                    <a:pt x="263" y="84"/>
                  </a:lnTo>
                  <a:lnTo>
                    <a:pt x="260" y="69"/>
                  </a:lnTo>
                  <a:lnTo>
                    <a:pt x="257" y="56"/>
                  </a:lnTo>
                  <a:lnTo>
                    <a:pt x="252" y="43"/>
                  </a:lnTo>
                  <a:lnTo>
                    <a:pt x="245" y="31"/>
                  </a:lnTo>
                  <a:lnTo>
                    <a:pt x="237" y="20"/>
                  </a:lnTo>
                  <a:lnTo>
                    <a:pt x="228" y="10"/>
                  </a:lnTo>
                  <a:lnTo>
                    <a:pt x="219" y="0"/>
                  </a:lnTo>
                  <a:lnTo>
                    <a:pt x="212" y="0"/>
                  </a:lnTo>
                  <a:lnTo>
                    <a:pt x="222" y="8"/>
                  </a:lnTo>
                  <a:lnTo>
                    <a:pt x="230" y="20"/>
                  </a:lnTo>
                  <a:lnTo>
                    <a:pt x="238" y="31"/>
                  </a:lnTo>
                  <a:lnTo>
                    <a:pt x="247" y="43"/>
                  </a:lnTo>
                  <a:lnTo>
                    <a:pt x="252" y="56"/>
                  </a:lnTo>
                  <a:lnTo>
                    <a:pt x="255" y="69"/>
                  </a:lnTo>
                  <a:lnTo>
                    <a:pt x="258" y="84"/>
                  </a:lnTo>
                  <a:lnTo>
                    <a:pt x="258" y="99"/>
                  </a:lnTo>
                  <a:lnTo>
                    <a:pt x="258" y="114"/>
                  </a:lnTo>
                  <a:lnTo>
                    <a:pt x="255" y="129"/>
                  </a:lnTo>
                  <a:lnTo>
                    <a:pt x="252" y="142"/>
                  </a:lnTo>
                  <a:lnTo>
                    <a:pt x="247" y="155"/>
                  </a:lnTo>
                  <a:lnTo>
                    <a:pt x="238" y="167"/>
                  </a:lnTo>
                  <a:lnTo>
                    <a:pt x="230" y="179"/>
                  </a:lnTo>
                  <a:lnTo>
                    <a:pt x="222" y="189"/>
                  </a:lnTo>
                  <a:lnTo>
                    <a:pt x="212" y="199"/>
                  </a:lnTo>
                  <a:lnTo>
                    <a:pt x="219" y="199"/>
                  </a:lnTo>
                  <a:lnTo>
                    <a:pt x="228" y="189"/>
                  </a:lnTo>
                  <a:lnTo>
                    <a:pt x="237" y="179"/>
                  </a:lnTo>
                  <a:lnTo>
                    <a:pt x="245" y="167"/>
                  </a:lnTo>
                  <a:lnTo>
                    <a:pt x="252" y="154"/>
                  </a:lnTo>
                  <a:lnTo>
                    <a:pt x="257" y="142"/>
                  </a:lnTo>
                  <a:lnTo>
                    <a:pt x="260" y="127"/>
                  </a:lnTo>
                  <a:lnTo>
                    <a:pt x="263" y="114"/>
                  </a:lnTo>
                  <a:lnTo>
                    <a:pt x="263" y="99"/>
                  </a:lnTo>
                  <a:close/>
                  <a:moveTo>
                    <a:pt x="46" y="0"/>
                  </a:moveTo>
                  <a:lnTo>
                    <a:pt x="36" y="10"/>
                  </a:lnTo>
                  <a:lnTo>
                    <a:pt x="26" y="20"/>
                  </a:lnTo>
                  <a:lnTo>
                    <a:pt x="20" y="31"/>
                  </a:lnTo>
                  <a:lnTo>
                    <a:pt x="13" y="43"/>
                  </a:lnTo>
                  <a:lnTo>
                    <a:pt x="8" y="56"/>
                  </a:lnTo>
                  <a:lnTo>
                    <a:pt x="3" y="69"/>
                  </a:lnTo>
                  <a:lnTo>
                    <a:pt x="2" y="84"/>
                  </a:lnTo>
                  <a:lnTo>
                    <a:pt x="0" y="99"/>
                  </a:lnTo>
                  <a:lnTo>
                    <a:pt x="2" y="114"/>
                  </a:lnTo>
                  <a:lnTo>
                    <a:pt x="3" y="127"/>
                  </a:lnTo>
                  <a:lnTo>
                    <a:pt x="8" y="142"/>
                  </a:lnTo>
                  <a:lnTo>
                    <a:pt x="13" y="154"/>
                  </a:lnTo>
                  <a:lnTo>
                    <a:pt x="20" y="167"/>
                  </a:lnTo>
                  <a:lnTo>
                    <a:pt x="26" y="179"/>
                  </a:lnTo>
                  <a:lnTo>
                    <a:pt x="36" y="189"/>
                  </a:lnTo>
                  <a:lnTo>
                    <a:pt x="46" y="199"/>
                  </a:lnTo>
                  <a:lnTo>
                    <a:pt x="53" y="199"/>
                  </a:lnTo>
                  <a:lnTo>
                    <a:pt x="43" y="189"/>
                  </a:lnTo>
                  <a:lnTo>
                    <a:pt x="33" y="179"/>
                  </a:lnTo>
                  <a:lnTo>
                    <a:pt x="25" y="167"/>
                  </a:lnTo>
                  <a:lnTo>
                    <a:pt x="18" y="155"/>
                  </a:lnTo>
                  <a:lnTo>
                    <a:pt x="13" y="142"/>
                  </a:lnTo>
                  <a:lnTo>
                    <a:pt x="8" y="129"/>
                  </a:lnTo>
                  <a:lnTo>
                    <a:pt x="7" y="114"/>
                  </a:lnTo>
                  <a:lnTo>
                    <a:pt x="5" y="99"/>
                  </a:lnTo>
                  <a:lnTo>
                    <a:pt x="7" y="84"/>
                  </a:lnTo>
                  <a:lnTo>
                    <a:pt x="8" y="69"/>
                  </a:lnTo>
                  <a:lnTo>
                    <a:pt x="13" y="56"/>
                  </a:lnTo>
                  <a:lnTo>
                    <a:pt x="18" y="43"/>
                  </a:lnTo>
                  <a:lnTo>
                    <a:pt x="25" y="31"/>
                  </a:lnTo>
                  <a:lnTo>
                    <a:pt x="33" y="20"/>
                  </a:lnTo>
                  <a:lnTo>
                    <a:pt x="43" y="8"/>
                  </a:lnTo>
                  <a:lnTo>
                    <a:pt x="53" y="0"/>
                  </a:lnTo>
                  <a:lnTo>
                    <a:pt x="46"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87" name="Freeform 228">
              <a:extLst>
                <a:ext uri="{FF2B5EF4-FFF2-40B4-BE49-F238E27FC236}">
                  <a16:creationId xmlns:a16="http://schemas.microsoft.com/office/drawing/2014/main" id="{1AC28B69-768F-8836-9289-07410493B3E3}"/>
                </a:ext>
              </a:extLst>
            </p:cNvPr>
            <p:cNvSpPr>
              <a:spLocks noEditPoints="1"/>
            </p:cNvSpPr>
            <p:nvPr/>
          </p:nvSpPr>
          <p:spPr bwMode="auto">
            <a:xfrm>
              <a:off x="1707" y="1514"/>
              <a:ext cx="259" cy="199"/>
            </a:xfrm>
            <a:custGeom>
              <a:avLst/>
              <a:gdLst>
                <a:gd name="T0" fmla="*/ 257 w 259"/>
                <a:gd name="T1" fmla="*/ 84 h 199"/>
                <a:gd name="T2" fmla="*/ 252 w 259"/>
                <a:gd name="T3" fmla="*/ 56 h 199"/>
                <a:gd name="T4" fmla="*/ 239 w 259"/>
                <a:gd name="T5" fmla="*/ 31 h 199"/>
                <a:gd name="T6" fmla="*/ 222 w 259"/>
                <a:gd name="T7" fmla="*/ 10 h 199"/>
                <a:gd name="T8" fmla="*/ 204 w 259"/>
                <a:gd name="T9" fmla="*/ 0 h 199"/>
                <a:gd name="T10" fmla="*/ 224 w 259"/>
                <a:gd name="T11" fmla="*/ 20 h 199"/>
                <a:gd name="T12" fmla="*/ 240 w 259"/>
                <a:gd name="T13" fmla="*/ 43 h 199"/>
                <a:gd name="T14" fmla="*/ 250 w 259"/>
                <a:gd name="T15" fmla="*/ 69 h 199"/>
                <a:gd name="T16" fmla="*/ 254 w 259"/>
                <a:gd name="T17" fmla="*/ 99 h 199"/>
                <a:gd name="T18" fmla="*/ 250 w 259"/>
                <a:gd name="T19" fmla="*/ 129 h 199"/>
                <a:gd name="T20" fmla="*/ 240 w 259"/>
                <a:gd name="T21" fmla="*/ 155 h 199"/>
                <a:gd name="T22" fmla="*/ 224 w 259"/>
                <a:gd name="T23" fmla="*/ 179 h 199"/>
                <a:gd name="T24" fmla="*/ 204 w 259"/>
                <a:gd name="T25" fmla="*/ 199 h 199"/>
                <a:gd name="T26" fmla="*/ 222 w 259"/>
                <a:gd name="T27" fmla="*/ 189 h 199"/>
                <a:gd name="T28" fmla="*/ 239 w 259"/>
                <a:gd name="T29" fmla="*/ 167 h 199"/>
                <a:gd name="T30" fmla="*/ 252 w 259"/>
                <a:gd name="T31" fmla="*/ 142 h 199"/>
                <a:gd name="T32" fmla="*/ 257 w 259"/>
                <a:gd name="T33" fmla="*/ 114 h 199"/>
                <a:gd name="T34" fmla="*/ 47 w 259"/>
                <a:gd name="T35" fmla="*/ 0 h 199"/>
                <a:gd name="T36" fmla="*/ 27 w 259"/>
                <a:gd name="T37" fmla="*/ 20 h 199"/>
                <a:gd name="T38" fmla="*/ 12 w 259"/>
                <a:gd name="T39" fmla="*/ 43 h 199"/>
                <a:gd name="T40" fmla="*/ 4 w 259"/>
                <a:gd name="T41" fmla="*/ 69 h 199"/>
                <a:gd name="T42" fmla="*/ 0 w 259"/>
                <a:gd name="T43" fmla="*/ 99 h 199"/>
                <a:gd name="T44" fmla="*/ 4 w 259"/>
                <a:gd name="T45" fmla="*/ 127 h 199"/>
                <a:gd name="T46" fmla="*/ 12 w 259"/>
                <a:gd name="T47" fmla="*/ 155 h 199"/>
                <a:gd name="T48" fmla="*/ 27 w 259"/>
                <a:gd name="T49" fmla="*/ 179 h 199"/>
                <a:gd name="T50" fmla="*/ 47 w 259"/>
                <a:gd name="T51" fmla="*/ 199 h 199"/>
                <a:gd name="T52" fmla="*/ 43 w 259"/>
                <a:gd name="T53" fmla="*/ 189 h 199"/>
                <a:gd name="T54" fmla="*/ 25 w 259"/>
                <a:gd name="T55" fmla="*/ 167 h 199"/>
                <a:gd name="T56" fmla="*/ 12 w 259"/>
                <a:gd name="T57" fmla="*/ 142 h 199"/>
                <a:gd name="T58" fmla="*/ 5 w 259"/>
                <a:gd name="T59" fmla="*/ 114 h 199"/>
                <a:gd name="T60" fmla="*/ 5 w 259"/>
                <a:gd name="T61" fmla="*/ 84 h 199"/>
                <a:gd name="T62" fmla="*/ 12 w 259"/>
                <a:gd name="T63" fmla="*/ 56 h 199"/>
                <a:gd name="T64" fmla="*/ 25 w 259"/>
                <a:gd name="T65" fmla="*/ 30 h 199"/>
                <a:gd name="T66" fmla="*/ 43 w 259"/>
                <a:gd name="T67" fmla="*/ 8 h 199"/>
                <a:gd name="T68" fmla="*/ 47 w 25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9" h="199">
                  <a:moveTo>
                    <a:pt x="259" y="99"/>
                  </a:moveTo>
                  <a:lnTo>
                    <a:pt x="257" y="84"/>
                  </a:lnTo>
                  <a:lnTo>
                    <a:pt x="255" y="69"/>
                  </a:lnTo>
                  <a:lnTo>
                    <a:pt x="252" y="56"/>
                  </a:lnTo>
                  <a:lnTo>
                    <a:pt x="245" y="43"/>
                  </a:lnTo>
                  <a:lnTo>
                    <a:pt x="239" y="31"/>
                  </a:lnTo>
                  <a:lnTo>
                    <a:pt x="230" y="20"/>
                  </a:lnTo>
                  <a:lnTo>
                    <a:pt x="222" y="10"/>
                  </a:lnTo>
                  <a:lnTo>
                    <a:pt x="212" y="0"/>
                  </a:lnTo>
                  <a:lnTo>
                    <a:pt x="204" y="0"/>
                  </a:lnTo>
                  <a:lnTo>
                    <a:pt x="216" y="8"/>
                  </a:lnTo>
                  <a:lnTo>
                    <a:pt x="224" y="20"/>
                  </a:lnTo>
                  <a:lnTo>
                    <a:pt x="234" y="30"/>
                  </a:lnTo>
                  <a:lnTo>
                    <a:pt x="240" y="43"/>
                  </a:lnTo>
                  <a:lnTo>
                    <a:pt x="245" y="56"/>
                  </a:lnTo>
                  <a:lnTo>
                    <a:pt x="250" y="69"/>
                  </a:lnTo>
                  <a:lnTo>
                    <a:pt x="252" y="84"/>
                  </a:lnTo>
                  <a:lnTo>
                    <a:pt x="254" y="99"/>
                  </a:lnTo>
                  <a:lnTo>
                    <a:pt x="252" y="114"/>
                  </a:lnTo>
                  <a:lnTo>
                    <a:pt x="250" y="129"/>
                  </a:lnTo>
                  <a:lnTo>
                    <a:pt x="245" y="142"/>
                  </a:lnTo>
                  <a:lnTo>
                    <a:pt x="240" y="155"/>
                  </a:lnTo>
                  <a:lnTo>
                    <a:pt x="234" y="167"/>
                  </a:lnTo>
                  <a:lnTo>
                    <a:pt x="224" y="179"/>
                  </a:lnTo>
                  <a:lnTo>
                    <a:pt x="216" y="189"/>
                  </a:lnTo>
                  <a:lnTo>
                    <a:pt x="204" y="199"/>
                  </a:lnTo>
                  <a:lnTo>
                    <a:pt x="212" y="199"/>
                  </a:lnTo>
                  <a:lnTo>
                    <a:pt x="222" y="189"/>
                  </a:lnTo>
                  <a:lnTo>
                    <a:pt x="230" y="179"/>
                  </a:lnTo>
                  <a:lnTo>
                    <a:pt x="239" y="167"/>
                  </a:lnTo>
                  <a:lnTo>
                    <a:pt x="245" y="155"/>
                  </a:lnTo>
                  <a:lnTo>
                    <a:pt x="252" y="142"/>
                  </a:lnTo>
                  <a:lnTo>
                    <a:pt x="255" y="127"/>
                  </a:lnTo>
                  <a:lnTo>
                    <a:pt x="257" y="114"/>
                  </a:lnTo>
                  <a:lnTo>
                    <a:pt x="259" y="99"/>
                  </a:lnTo>
                  <a:close/>
                  <a:moveTo>
                    <a:pt x="47" y="0"/>
                  </a:moveTo>
                  <a:lnTo>
                    <a:pt x="37" y="10"/>
                  </a:lnTo>
                  <a:lnTo>
                    <a:pt x="27" y="20"/>
                  </a:lnTo>
                  <a:lnTo>
                    <a:pt x="18" y="31"/>
                  </a:lnTo>
                  <a:lnTo>
                    <a:pt x="12" y="43"/>
                  </a:lnTo>
                  <a:lnTo>
                    <a:pt x="7" y="56"/>
                  </a:lnTo>
                  <a:lnTo>
                    <a:pt x="4" y="69"/>
                  </a:lnTo>
                  <a:lnTo>
                    <a:pt x="0" y="84"/>
                  </a:lnTo>
                  <a:lnTo>
                    <a:pt x="0" y="99"/>
                  </a:lnTo>
                  <a:lnTo>
                    <a:pt x="0" y="114"/>
                  </a:lnTo>
                  <a:lnTo>
                    <a:pt x="4" y="127"/>
                  </a:lnTo>
                  <a:lnTo>
                    <a:pt x="7" y="142"/>
                  </a:lnTo>
                  <a:lnTo>
                    <a:pt x="12" y="155"/>
                  </a:lnTo>
                  <a:lnTo>
                    <a:pt x="18" y="167"/>
                  </a:lnTo>
                  <a:lnTo>
                    <a:pt x="27" y="179"/>
                  </a:lnTo>
                  <a:lnTo>
                    <a:pt x="37" y="189"/>
                  </a:lnTo>
                  <a:lnTo>
                    <a:pt x="47" y="199"/>
                  </a:lnTo>
                  <a:lnTo>
                    <a:pt x="55" y="199"/>
                  </a:lnTo>
                  <a:lnTo>
                    <a:pt x="43" y="189"/>
                  </a:lnTo>
                  <a:lnTo>
                    <a:pt x="33" y="179"/>
                  </a:lnTo>
                  <a:lnTo>
                    <a:pt x="25" y="167"/>
                  </a:lnTo>
                  <a:lnTo>
                    <a:pt x="18" y="155"/>
                  </a:lnTo>
                  <a:lnTo>
                    <a:pt x="12" y="142"/>
                  </a:lnTo>
                  <a:lnTo>
                    <a:pt x="9" y="129"/>
                  </a:lnTo>
                  <a:lnTo>
                    <a:pt x="5" y="114"/>
                  </a:lnTo>
                  <a:lnTo>
                    <a:pt x="5" y="99"/>
                  </a:lnTo>
                  <a:lnTo>
                    <a:pt x="5" y="84"/>
                  </a:lnTo>
                  <a:lnTo>
                    <a:pt x="9" y="69"/>
                  </a:lnTo>
                  <a:lnTo>
                    <a:pt x="12" y="56"/>
                  </a:lnTo>
                  <a:lnTo>
                    <a:pt x="18" y="43"/>
                  </a:lnTo>
                  <a:lnTo>
                    <a:pt x="25" y="30"/>
                  </a:lnTo>
                  <a:lnTo>
                    <a:pt x="33" y="20"/>
                  </a:lnTo>
                  <a:lnTo>
                    <a:pt x="43" y="8"/>
                  </a:lnTo>
                  <a:lnTo>
                    <a:pt x="55" y="0"/>
                  </a:lnTo>
                  <a:lnTo>
                    <a:pt x="47"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88" name="Freeform 229">
              <a:extLst>
                <a:ext uri="{FF2B5EF4-FFF2-40B4-BE49-F238E27FC236}">
                  <a16:creationId xmlns:a16="http://schemas.microsoft.com/office/drawing/2014/main" id="{4CEA26D4-3BAA-350E-0F04-486EB69D6841}"/>
                </a:ext>
              </a:extLst>
            </p:cNvPr>
            <p:cNvSpPr>
              <a:spLocks noEditPoints="1"/>
            </p:cNvSpPr>
            <p:nvPr/>
          </p:nvSpPr>
          <p:spPr bwMode="auto">
            <a:xfrm>
              <a:off x="1709" y="1514"/>
              <a:ext cx="253" cy="199"/>
            </a:xfrm>
            <a:custGeom>
              <a:avLst/>
              <a:gdLst>
                <a:gd name="T0" fmla="*/ 253 w 253"/>
                <a:gd name="T1" fmla="*/ 84 h 199"/>
                <a:gd name="T2" fmla="*/ 247 w 253"/>
                <a:gd name="T3" fmla="*/ 56 h 199"/>
                <a:gd name="T4" fmla="*/ 233 w 253"/>
                <a:gd name="T5" fmla="*/ 31 h 199"/>
                <a:gd name="T6" fmla="*/ 217 w 253"/>
                <a:gd name="T7" fmla="*/ 8 h 199"/>
                <a:gd name="T8" fmla="*/ 199 w 253"/>
                <a:gd name="T9" fmla="*/ 0 h 199"/>
                <a:gd name="T10" fmla="*/ 218 w 253"/>
                <a:gd name="T11" fmla="*/ 18 h 199"/>
                <a:gd name="T12" fmla="*/ 235 w 253"/>
                <a:gd name="T13" fmla="*/ 43 h 199"/>
                <a:gd name="T14" fmla="*/ 245 w 253"/>
                <a:gd name="T15" fmla="*/ 69 h 199"/>
                <a:gd name="T16" fmla="*/ 250 w 253"/>
                <a:gd name="T17" fmla="*/ 99 h 199"/>
                <a:gd name="T18" fmla="*/ 245 w 253"/>
                <a:gd name="T19" fmla="*/ 129 h 199"/>
                <a:gd name="T20" fmla="*/ 235 w 253"/>
                <a:gd name="T21" fmla="*/ 155 h 199"/>
                <a:gd name="T22" fmla="*/ 218 w 253"/>
                <a:gd name="T23" fmla="*/ 179 h 199"/>
                <a:gd name="T24" fmla="*/ 199 w 253"/>
                <a:gd name="T25" fmla="*/ 199 h 199"/>
                <a:gd name="T26" fmla="*/ 217 w 253"/>
                <a:gd name="T27" fmla="*/ 189 h 199"/>
                <a:gd name="T28" fmla="*/ 233 w 253"/>
                <a:gd name="T29" fmla="*/ 167 h 199"/>
                <a:gd name="T30" fmla="*/ 247 w 253"/>
                <a:gd name="T31" fmla="*/ 142 h 199"/>
                <a:gd name="T32" fmla="*/ 253 w 253"/>
                <a:gd name="T33" fmla="*/ 114 h 199"/>
                <a:gd name="T34" fmla="*/ 48 w 253"/>
                <a:gd name="T35" fmla="*/ 0 h 199"/>
                <a:gd name="T36" fmla="*/ 28 w 253"/>
                <a:gd name="T37" fmla="*/ 20 h 199"/>
                <a:gd name="T38" fmla="*/ 13 w 253"/>
                <a:gd name="T39" fmla="*/ 43 h 199"/>
                <a:gd name="T40" fmla="*/ 3 w 253"/>
                <a:gd name="T41" fmla="*/ 69 h 199"/>
                <a:gd name="T42" fmla="*/ 0 w 253"/>
                <a:gd name="T43" fmla="*/ 99 h 199"/>
                <a:gd name="T44" fmla="*/ 3 w 253"/>
                <a:gd name="T45" fmla="*/ 129 h 199"/>
                <a:gd name="T46" fmla="*/ 13 w 253"/>
                <a:gd name="T47" fmla="*/ 155 h 199"/>
                <a:gd name="T48" fmla="*/ 28 w 253"/>
                <a:gd name="T49" fmla="*/ 179 h 199"/>
                <a:gd name="T50" fmla="*/ 48 w 253"/>
                <a:gd name="T51" fmla="*/ 199 h 199"/>
                <a:gd name="T52" fmla="*/ 45 w 253"/>
                <a:gd name="T53" fmla="*/ 189 h 199"/>
                <a:gd name="T54" fmla="*/ 26 w 253"/>
                <a:gd name="T55" fmla="*/ 169 h 199"/>
                <a:gd name="T56" fmla="*/ 13 w 253"/>
                <a:gd name="T57" fmla="*/ 142 h 199"/>
                <a:gd name="T58" fmla="*/ 7 w 253"/>
                <a:gd name="T59" fmla="*/ 114 h 199"/>
                <a:gd name="T60" fmla="*/ 7 w 253"/>
                <a:gd name="T61" fmla="*/ 84 h 199"/>
                <a:gd name="T62" fmla="*/ 13 w 253"/>
                <a:gd name="T63" fmla="*/ 56 h 199"/>
                <a:gd name="T64" fmla="*/ 26 w 253"/>
                <a:gd name="T65" fmla="*/ 30 h 199"/>
                <a:gd name="T66" fmla="*/ 45 w 253"/>
                <a:gd name="T67" fmla="*/ 8 h 199"/>
                <a:gd name="T68" fmla="*/ 48 w 25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3" h="199">
                  <a:moveTo>
                    <a:pt x="253" y="99"/>
                  </a:moveTo>
                  <a:lnTo>
                    <a:pt x="253" y="84"/>
                  </a:lnTo>
                  <a:lnTo>
                    <a:pt x="250" y="69"/>
                  </a:lnTo>
                  <a:lnTo>
                    <a:pt x="247" y="56"/>
                  </a:lnTo>
                  <a:lnTo>
                    <a:pt x="242" y="43"/>
                  </a:lnTo>
                  <a:lnTo>
                    <a:pt x="233" y="31"/>
                  </a:lnTo>
                  <a:lnTo>
                    <a:pt x="225" y="20"/>
                  </a:lnTo>
                  <a:lnTo>
                    <a:pt x="217" y="8"/>
                  </a:lnTo>
                  <a:lnTo>
                    <a:pt x="207" y="0"/>
                  </a:lnTo>
                  <a:lnTo>
                    <a:pt x="199" y="0"/>
                  </a:lnTo>
                  <a:lnTo>
                    <a:pt x="209" y="8"/>
                  </a:lnTo>
                  <a:lnTo>
                    <a:pt x="218" y="18"/>
                  </a:lnTo>
                  <a:lnTo>
                    <a:pt x="228" y="30"/>
                  </a:lnTo>
                  <a:lnTo>
                    <a:pt x="235" y="43"/>
                  </a:lnTo>
                  <a:lnTo>
                    <a:pt x="242" y="56"/>
                  </a:lnTo>
                  <a:lnTo>
                    <a:pt x="245" y="69"/>
                  </a:lnTo>
                  <a:lnTo>
                    <a:pt x="248" y="84"/>
                  </a:lnTo>
                  <a:lnTo>
                    <a:pt x="250" y="99"/>
                  </a:lnTo>
                  <a:lnTo>
                    <a:pt x="248" y="114"/>
                  </a:lnTo>
                  <a:lnTo>
                    <a:pt x="245" y="129"/>
                  </a:lnTo>
                  <a:lnTo>
                    <a:pt x="242" y="142"/>
                  </a:lnTo>
                  <a:lnTo>
                    <a:pt x="235" y="155"/>
                  </a:lnTo>
                  <a:lnTo>
                    <a:pt x="228" y="169"/>
                  </a:lnTo>
                  <a:lnTo>
                    <a:pt x="218" y="179"/>
                  </a:lnTo>
                  <a:lnTo>
                    <a:pt x="209" y="189"/>
                  </a:lnTo>
                  <a:lnTo>
                    <a:pt x="199" y="199"/>
                  </a:lnTo>
                  <a:lnTo>
                    <a:pt x="207" y="199"/>
                  </a:lnTo>
                  <a:lnTo>
                    <a:pt x="217" y="189"/>
                  </a:lnTo>
                  <a:lnTo>
                    <a:pt x="225" y="179"/>
                  </a:lnTo>
                  <a:lnTo>
                    <a:pt x="233" y="167"/>
                  </a:lnTo>
                  <a:lnTo>
                    <a:pt x="242" y="155"/>
                  </a:lnTo>
                  <a:lnTo>
                    <a:pt x="247" y="142"/>
                  </a:lnTo>
                  <a:lnTo>
                    <a:pt x="250" y="129"/>
                  </a:lnTo>
                  <a:lnTo>
                    <a:pt x="253" y="114"/>
                  </a:lnTo>
                  <a:lnTo>
                    <a:pt x="253" y="99"/>
                  </a:lnTo>
                  <a:close/>
                  <a:moveTo>
                    <a:pt x="48" y="0"/>
                  </a:moveTo>
                  <a:lnTo>
                    <a:pt x="38" y="8"/>
                  </a:lnTo>
                  <a:lnTo>
                    <a:pt x="28" y="20"/>
                  </a:lnTo>
                  <a:lnTo>
                    <a:pt x="20" y="31"/>
                  </a:lnTo>
                  <a:lnTo>
                    <a:pt x="13" y="43"/>
                  </a:lnTo>
                  <a:lnTo>
                    <a:pt x="8" y="56"/>
                  </a:lnTo>
                  <a:lnTo>
                    <a:pt x="3" y="69"/>
                  </a:lnTo>
                  <a:lnTo>
                    <a:pt x="2" y="84"/>
                  </a:lnTo>
                  <a:lnTo>
                    <a:pt x="0" y="99"/>
                  </a:lnTo>
                  <a:lnTo>
                    <a:pt x="2" y="114"/>
                  </a:lnTo>
                  <a:lnTo>
                    <a:pt x="3" y="129"/>
                  </a:lnTo>
                  <a:lnTo>
                    <a:pt x="8" y="142"/>
                  </a:lnTo>
                  <a:lnTo>
                    <a:pt x="13" y="155"/>
                  </a:lnTo>
                  <a:lnTo>
                    <a:pt x="20" y="167"/>
                  </a:lnTo>
                  <a:lnTo>
                    <a:pt x="28" y="179"/>
                  </a:lnTo>
                  <a:lnTo>
                    <a:pt x="38" y="189"/>
                  </a:lnTo>
                  <a:lnTo>
                    <a:pt x="48" y="199"/>
                  </a:lnTo>
                  <a:lnTo>
                    <a:pt x="56" y="199"/>
                  </a:lnTo>
                  <a:lnTo>
                    <a:pt x="45" y="189"/>
                  </a:lnTo>
                  <a:lnTo>
                    <a:pt x="35" y="179"/>
                  </a:lnTo>
                  <a:lnTo>
                    <a:pt x="26" y="169"/>
                  </a:lnTo>
                  <a:lnTo>
                    <a:pt x="20" y="155"/>
                  </a:lnTo>
                  <a:lnTo>
                    <a:pt x="13" y="142"/>
                  </a:lnTo>
                  <a:lnTo>
                    <a:pt x="8" y="129"/>
                  </a:lnTo>
                  <a:lnTo>
                    <a:pt x="7" y="114"/>
                  </a:lnTo>
                  <a:lnTo>
                    <a:pt x="5" y="99"/>
                  </a:lnTo>
                  <a:lnTo>
                    <a:pt x="7" y="84"/>
                  </a:lnTo>
                  <a:lnTo>
                    <a:pt x="8" y="69"/>
                  </a:lnTo>
                  <a:lnTo>
                    <a:pt x="13" y="56"/>
                  </a:lnTo>
                  <a:lnTo>
                    <a:pt x="20" y="43"/>
                  </a:lnTo>
                  <a:lnTo>
                    <a:pt x="26" y="30"/>
                  </a:lnTo>
                  <a:lnTo>
                    <a:pt x="35" y="18"/>
                  </a:lnTo>
                  <a:lnTo>
                    <a:pt x="45" y="8"/>
                  </a:lnTo>
                  <a:lnTo>
                    <a:pt x="56" y="0"/>
                  </a:lnTo>
                  <a:lnTo>
                    <a:pt x="48"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89" name="Freeform 230">
              <a:extLst>
                <a:ext uri="{FF2B5EF4-FFF2-40B4-BE49-F238E27FC236}">
                  <a16:creationId xmlns:a16="http://schemas.microsoft.com/office/drawing/2014/main" id="{99C58AAF-BDFB-EED6-3388-41BC409FEFB3}"/>
                </a:ext>
              </a:extLst>
            </p:cNvPr>
            <p:cNvSpPr>
              <a:spLocks noEditPoints="1"/>
            </p:cNvSpPr>
            <p:nvPr/>
          </p:nvSpPr>
          <p:spPr bwMode="auto">
            <a:xfrm>
              <a:off x="1712" y="1514"/>
              <a:ext cx="249" cy="199"/>
            </a:xfrm>
            <a:custGeom>
              <a:avLst/>
              <a:gdLst>
                <a:gd name="T0" fmla="*/ 247 w 249"/>
                <a:gd name="T1" fmla="*/ 84 h 199"/>
                <a:gd name="T2" fmla="*/ 240 w 249"/>
                <a:gd name="T3" fmla="*/ 56 h 199"/>
                <a:gd name="T4" fmla="*/ 229 w 249"/>
                <a:gd name="T5" fmla="*/ 30 h 199"/>
                <a:gd name="T6" fmla="*/ 211 w 249"/>
                <a:gd name="T7" fmla="*/ 8 h 199"/>
                <a:gd name="T8" fmla="*/ 191 w 249"/>
                <a:gd name="T9" fmla="*/ 0 h 199"/>
                <a:gd name="T10" fmla="*/ 212 w 249"/>
                <a:gd name="T11" fmla="*/ 18 h 199"/>
                <a:gd name="T12" fmla="*/ 229 w 249"/>
                <a:gd name="T13" fmla="*/ 41 h 199"/>
                <a:gd name="T14" fmla="*/ 240 w 249"/>
                <a:gd name="T15" fmla="*/ 69 h 199"/>
                <a:gd name="T16" fmla="*/ 244 w 249"/>
                <a:gd name="T17" fmla="*/ 99 h 199"/>
                <a:gd name="T18" fmla="*/ 240 w 249"/>
                <a:gd name="T19" fmla="*/ 129 h 199"/>
                <a:gd name="T20" fmla="*/ 229 w 249"/>
                <a:gd name="T21" fmla="*/ 155 h 199"/>
                <a:gd name="T22" fmla="*/ 212 w 249"/>
                <a:gd name="T23" fmla="*/ 180 h 199"/>
                <a:gd name="T24" fmla="*/ 191 w 249"/>
                <a:gd name="T25" fmla="*/ 199 h 199"/>
                <a:gd name="T26" fmla="*/ 211 w 249"/>
                <a:gd name="T27" fmla="*/ 189 h 199"/>
                <a:gd name="T28" fmla="*/ 229 w 249"/>
                <a:gd name="T29" fmla="*/ 167 h 199"/>
                <a:gd name="T30" fmla="*/ 240 w 249"/>
                <a:gd name="T31" fmla="*/ 142 h 199"/>
                <a:gd name="T32" fmla="*/ 247 w 249"/>
                <a:gd name="T33" fmla="*/ 114 h 199"/>
                <a:gd name="T34" fmla="*/ 50 w 249"/>
                <a:gd name="T35" fmla="*/ 0 h 199"/>
                <a:gd name="T36" fmla="*/ 28 w 249"/>
                <a:gd name="T37" fmla="*/ 20 h 199"/>
                <a:gd name="T38" fmla="*/ 13 w 249"/>
                <a:gd name="T39" fmla="*/ 43 h 199"/>
                <a:gd name="T40" fmla="*/ 4 w 249"/>
                <a:gd name="T41" fmla="*/ 69 h 199"/>
                <a:gd name="T42" fmla="*/ 0 w 249"/>
                <a:gd name="T43" fmla="*/ 99 h 199"/>
                <a:gd name="T44" fmla="*/ 4 w 249"/>
                <a:gd name="T45" fmla="*/ 129 h 199"/>
                <a:gd name="T46" fmla="*/ 13 w 249"/>
                <a:gd name="T47" fmla="*/ 155 h 199"/>
                <a:gd name="T48" fmla="*/ 28 w 249"/>
                <a:gd name="T49" fmla="*/ 179 h 199"/>
                <a:gd name="T50" fmla="*/ 50 w 249"/>
                <a:gd name="T51" fmla="*/ 199 h 199"/>
                <a:gd name="T52" fmla="*/ 47 w 249"/>
                <a:gd name="T53" fmla="*/ 190 h 199"/>
                <a:gd name="T54" fmla="*/ 27 w 249"/>
                <a:gd name="T55" fmla="*/ 169 h 199"/>
                <a:gd name="T56" fmla="*/ 13 w 249"/>
                <a:gd name="T57" fmla="*/ 142 h 199"/>
                <a:gd name="T58" fmla="*/ 5 w 249"/>
                <a:gd name="T59" fmla="*/ 114 h 199"/>
                <a:gd name="T60" fmla="*/ 5 w 249"/>
                <a:gd name="T61" fmla="*/ 84 h 199"/>
                <a:gd name="T62" fmla="*/ 13 w 249"/>
                <a:gd name="T63" fmla="*/ 54 h 199"/>
                <a:gd name="T64" fmla="*/ 27 w 249"/>
                <a:gd name="T65" fmla="*/ 30 h 199"/>
                <a:gd name="T66" fmla="*/ 47 w 249"/>
                <a:gd name="T67" fmla="*/ 8 h 199"/>
                <a:gd name="T68" fmla="*/ 50 w 24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9" h="199">
                  <a:moveTo>
                    <a:pt x="249" y="99"/>
                  </a:moveTo>
                  <a:lnTo>
                    <a:pt x="247" y="84"/>
                  </a:lnTo>
                  <a:lnTo>
                    <a:pt x="245" y="69"/>
                  </a:lnTo>
                  <a:lnTo>
                    <a:pt x="240" y="56"/>
                  </a:lnTo>
                  <a:lnTo>
                    <a:pt x="235" y="43"/>
                  </a:lnTo>
                  <a:lnTo>
                    <a:pt x="229" y="30"/>
                  </a:lnTo>
                  <a:lnTo>
                    <a:pt x="219" y="20"/>
                  </a:lnTo>
                  <a:lnTo>
                    <a:pt x="211" y="8"/>
                  </a:lnTo>
                  <a:lnTo>
                    <a:pt x="199" y="0"/>
                  </a:lnTo>
                  <a:lnTo>
                    <a:pt x="191" y="0"/>
                  </a:lnTo>
                  <a:lnTo>
                    <a:pt x="202" y="8"/>
                  </a:lnTo>
                  <a:lnTo>
                    <a:pt x="212" y="18"/>
                  </a:lnTo>
                  <a:lnTo>
                    <a:pt x="222" y="30"/>
                  </a:lnTo>
                  <a:lnTo>
                    <a:pt x="229" y="41"/>
                  </a:lnTo>
                  <a:lnTo>
                    <a:pt x="235" y="54"/>
                  </a:lnTo>
                  <a:lnTo>
                    <a:pt x="240" y="69"/>
                  </a:lnTo>
                  <a:lnTo>
                    <a:pt x="244" y="84"/>
                  </a:lnTo>
                  <a:lnTo>
                    <a:pt x="244" y="99"/>
                  </a:lnTo>
                  <a:lnTo>
                    <a:pt x="244" y="114"/>
                  </a:lnTo>
                  <a:lnTo>
                    <a:pt x="240" y="129"/>
                  </a:lnTo>
                  <a:lnTo>
                    <a:pt x="235" y="142"/>
                  </a:lnTo>
                  <a:lnTo>
                    <a:pt x="229" y="155"/>
                  </a:lnTo>
                  <a:lnTo>
                    <a:pt x="222" y="169"/>
                  </a:lnTo>
                  <a:lnTo>
                    <a:pt x="212" y="180"/>
                  </a:lnTo>
                  <a:lnTo>
                    <a:pt x="202" y="190"/>
                  </a:lnTo>
                  <a:lnTo>
                    <a:pt x="191" y="199"/>
                  </a:lnTo>
                  <a:lnTo>
                    <a:pt x="199" y="199"/>
                  </a:lnTo>
                  <a:lnTo>
                    <a:pt x="211" y="189"/>
                  </a:lnTo>
                  <a:lnTo>
                    <a:pt x="219" y="179"/>
                  </a:lnTo>
                  <a:lnTo>
                    <a:pt x="229" y="167"/>
                  </a:lnTo>
                  <a:lnTo>
                    <a:pt x="235" y="155"/>
                  </a:lnTo>
                  <a:lnTo>
                    <a:pt x="240" y="142"/>
                  </a:lnTo>
                  <a:lnTo>
                    <a:pt x="245" y="129"/>
                  </a:lnTo>
                  <a:lnTo>
                    <a:pt x="247" y="114"/>
                  </a:lnTo>
                  <a:lnTo>
                    <a:pt x="249" y="99"/>
                  </a:lnTo>
                  <a:close/>
                  <a:moveTo>
                    <a:pt x="50" y="0"/>
                  </a:moveTo>
                  <a:lnTo>
                    <a:pt x="38" y="8"/>
                  </a:lnTo>
                  <a:lnTo>
                    <a:pt x="28" y="20"/>
                  </a:lnTo>
                  <a:lnTo>
                    <a:pt x="20" y="30"/>
                  </a:lnTo>
                  <a:lnTo>
                    <a:pt x="13" y="43"/>
                  </a:lnTo>
                  <a:lnTo>
                    <a:pt x="7" y="56"/>
                  </a:lnTo>
                  <a:lnTo>
                    <a:pt x="4" y="69"/>
                  </a:lnTo>
                  <a:lnTo>
                    <a:pt x="0" y="84"/>
                  </a:lnTo>
                  <a:lnTo>
                    <a:pt x="0" y="99"/>
                  </a:lnTo>
                  <a:lnTo>
                    <a:pt x="0" y="114"/>
                  </a:lnTo>
                  <a:lnTo>
                    <a:pt x="4" y="129"/>
                  </a:lnTo>
                  <a:lnTo>
                    <a:pt x="7" y="142"/>
                  </a:lnTo>
                  <a:lnTo>
                    <a:pt x="13" y="155"/>
                  </a:lnTo>
                  <a:lnTo>
                    <a:pt x="20" y="167"/>
                  </a:lnTo>
                  <a:lnTo>
                    <a:pt x="28" y="179"/>
                  </a:lnTo>
                  <a:lnTo>
                    <a:pt x="38" y="189"/>
                  </a:lnTo>
                  <a:lnTo>
                    <a:pt x="50" y="199"/>
                  </a:lnTo>
                  <a:lnTo>
                    <a:pt x="58" y="199"/>
                  </a:lnTo>
                  <a:lnTo>
                    <a:pt x="47" y="190"/>
                  </a:lnTo>
                  <a:lnTo>
                    <a:pt x="35" y="180"/>
                  </a:lnTo>
                  <a:lnTo>
                    <a:pt x="27" y="169"/>
                  </a:lnTo>
                  <a:lnTo>
                    <a:pt x="18" y="155"/>
                  </a:lnTo>
                  <a:lnTo>
                    <a:pt x="13" y="142"/>
                  </a:lnTo>
                  <a:lnTo>
                    <a:pt x="8" y="129"/>
                  </a:lnTo>
                  <a:lnTo>
                    <a:pt x="5" y="114"/>
                  </a:lnTo>
                  <a:lnTo>
                    <a:pt x="5" y="99"/>
                  </a:lnTo>
                  <a:lnTo>
                    <a:pt x="5" y="84"/>
                  </a:lnTo>
                  <a:lnTo>
                    <a:pt x="8" y="69"/>
                  </a:lnTo>
                  <a:lnTo>
                    <a:pt x="13" y="54"/>
                  </a:lnTo>
                  <a:lnTo>
                    <a:pt x="18" y="41"/>
                  </a:lnTo>
                  <a:lnTo>
                    <a:pt x="27" y="30"/>
                  </a:lnTo>
                  <a:lnTo>
                    <a:pt x="35" y="18"/>
                  </a:lnTo>
                  <a:lnTo>
                    <a:pt x="47" y="8"/>
                  </a:lnTo>
                  <a:lnTo>
                    <a:pt x="58" y="0"/>
                  </a:lnTo>
                  <a:lnTo>
                    <a:pt x="50"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90" name="Freeform 231">
              <a:extLst>
                <a:ext uri="{FF2B5EF4-FFF2-40B4-BE49-F238E27FC236}">
                  <a16:creationId xmlns:a16="http://schemas.microsoft.com/office/drawing/2014/main" id="{F3113FC4-3177-8006-DAB9-A4A49C4FFC7E}"/>
                </a:ext>
              </a:extLst>
            </p:cNvPr>
            <p:cNvSpPr>
              <a:spLocks noEditPoints="1"/>
            </p:cNvSpPr>
            <p:nvPr/>
          </p:nvSpPr>
          <p:spPr bwMode="auto">
            <a:xfrm>
              <a:off x="1714" y="1514"/>
              <a:ext cx="245" cy="199"/>
            </a:xfrm>
            <a:custGeom>
              <a:avLst/>
              <a:gdLst>
                <a:gd name="T0" fmla="*/ 243 w 245"/>
                <a:gd name="T1" fmla="*/ 84 h 199"/>
                <a:gd name="T2" fmla="*/ 237 w 245"/>
                <a:gd name="T3" fmla="*/ 56 h 199"/>
                <a:gd name="T4" fmla="*/ 223 w 245"/>
                <a:gd name="T5" fmla="*/ 30 h 199"/>
                <a:gd name="T6" fmla="*/ 204 w 245"/>
                <a:gd name="T7" fmla="*/ 8 h 199"/>
                <a:gd name="T8" fmla="*/ 185 w 245"/>
                <a:gd name="T9" fmla="*/ 0 h 199"/>
                <a:gd name="T10" fmla="*/ 207 w 245"/>
                <a:gd name="T11" fmla="*/ 18 h 199"/>
                <a:gd name="T12" fmla="*/ 225 w 245"/>
                <a:gd name="T13" fmla="*/ 41 h 199"/>
                <a:gd name="T14" fmla="*/ 235 w 245"/>
                <a:gd name="T15" fmla="*/ 69 h 199"/>
                <a:gd name="T16" fmla="*/ 240 w 245"/>
                <a:gd name="T17" fmla="*/ 99 h 199"/>
                <a:gd name="T18" fmla="*/ 235 w 245"/>
                <a:gd name="T19" fmla="*/ 129 h 199"/>
                <a:gd name="T20" fmla="*/ 225 w 245"/>
                <a:gd name="T21" fmla="*/ 157 h 199"/>
                <a:gd name="T22" fmla="*/ 207 w 245"/>
                <a:gd name="T23" fmla="*/ 180 h 199"/>
                <a:gd name="T24" fmla="*/ 185 w 245"/>
                <a:gd name="T25" fmla="*/ 199 h 199"/>
                <a:gd name="T26" fmla="*/ 204 w 245"/>
                <a:gd name="T27" fmla="*/ 189 h 199"/>
                <a:gd name="T28" fmla="*/ 223 w 245"/>
                <a:gd name="T29" fmla="*/ 169 h 199"/>
                <a:gd name="T30" fmla="*/ 237 w 245"/>
                <a:gd name="T31" fmla="*/ 142 h 199"/>
                <a:gd name="T32" fmla="*/ 243 w 245"/>
                <a:gd name="T33" fmla="*/ 114 h 199"/>
                <a:gd name="T34" fmla="*/ 51 w 245"/>
                <a:gd name="T35" fmla="*/ 0 h 199"/>
                <a:gd name="T36" fmla="*/ 30 w 245"/>
                <a:gd name="T37" fmla="*/ 18 h 199"/>
                <a:gd name="T38" fmla="*/ 15 w 245"/>
                <a:gd name="T39" fmla="*/ 43 h 199"/>
                <a:gd name="T40" fmla="*/ 3 w 245"/>
                <a:gd name="T41" fmla="*/ 69 h 199"/>
                <a:gd name="T42" fmla="*/ 0 w 245"/>
                <a:gd name="T43" fmla="*/ 99 h 199"/>
                <a:gd name="T44" fmla="*/ 3 w 245"/>
                <a:gd name="T45" fmla="*/ 129 h 199"/>
                <a:gd name="T46" fmla="*/ 15 w 245"/>
                <a:gd name="T47" fmla="*/ 155 h 199"/>
                <a:gd name="T48" fmla="*/ 30 w 245"/>
                <a:gd name="T49" fmla="*/ 179 h 199"/>
                <a:gd name="T50" fmla="*/ 51 w 245"/>
                <a:gd name="T51" fmla="*/ 199 h 199"/>
                <a:gd name="T52" fmla="*/ 48 w 245"/>
                <a:gd name="T53" fmla="*/ 190 h 199"/>
                <a:gd name="T54" fmla="*/ 28 w 245"/>
                <a:gd name="T55" fmla="*/ 169 h 199"/>
                <a:gd name="T56" fmla="*/ 13 w 245"/>
                <a:gd name="T57" fmla="*/ 144 h 199"/>
                <a:gd name="T58" fmla="*/ 6 w 245"/>
                <a:gd name="T59" fmla="*/ 114 h 199"/>
                <a:gd name="T60" fmla="*/ 6 w 245"/>
                <a:gd name="T61" fmla="*/ 84 h 199"/>
                <a:gd name="T62" fmla="*/ 13 w 245"/>
                <a:gd name="T63" fmla="*/ 54 h 199"/>
                <a:gd name="T64" fmla="*/ 28 w 245"/>
                <a:gd name="T65" fmla="*/ 30 h 199"/>
                <a:gd name="T66" fmla="*/ 48 w 245"/>
                <a:gd name="T67" fmla="*/ 8 h 199"/>
                <a:gd name="T68" fmla="*/ 51 w 24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5" h="199">
                  <a:moveTo>
                    <a:pt x="245" y="99"/>
                  </a:moveTo>
                  <a:lnTo>
                    <a:pt x="243" y="84"/>
                  </a:lnTo>
                  <a:lnTo>
                    <a:pt x="240" y="69"/>
                  </a:lnTo>
                  <a:lnTo>
                    <a:pt x="237" y="56"/>
                  </a:lnTo>
                  <a:lnTo>
                    <a:pt x="230" y="43"/>
                  </a:lnTo>
                  <a:lnTo>
                    <a:pt x="223" y="30"/>
                  </a:lnTo>
                  <a:lnTo>
                    <a:pt x="213" y="18"/>
                  </a:lnTo>
                  <a:lnTo>
                    <a:pt x="204" y="8"/>
                  </a:lnTo>
                  <a:lnTo>
                    <a:pt x="194" y="0"/>
                  </a:lnTo>
                  <a:lnTo>
                    <a:pt x="185" y="0"/>
                  </a:lnTo>
                  <a:lnTo>
                    <a:pt x="197" y="8"/>
                  </a:lnTo>
                  <a:lnTo>
                    <a:pt x="207" y="18"/>
                  </a:lnTo>
                  <a:lnTo>
                    <a:pt x="217" y="30"/>
                  </a:lnTo>
                  <a:lnTo>
                    <a:pt x="225" y="41"/>
                  </a:lnTo>
                  <a:lnTo>
                    <a:pt x="230" y="54"/>
                  </a:lnTo>
                  <a:lnTo>
                    <a:pt x="235" y="69"/>
                  </a:lnTo>
                  <a:lnTo>
                    <a:pt x="238" y="84"/>
                  </a:lnTo>
                  <a:lnTo>
                    <a:pt x="240" y="99"/>
                  </a:lnTo>
                  <a:lnTo>
                    <a:pt x="238" y="114"/>
                  </a:lnTo>
                  <a:lnTo>
                    <a:pt x="235" y="129"/>
                  </a:lnTo>
                  <a:lnTo>
                    <a:pt x="230" y="144"/>
                  </a:lnTo>
                  <a:lnTo>
                    <a:pt x="225" y="157"/>
                  </a:lnTo>
                  <a:lnTo>
                    <a:pt x="217" y="169"/>
                  </a:lnTo>
                  <a:lnTo>
                    <a:pt x="207" y="180"/>
                  </a:lnTo>
                  <a:lnTo>
                    <a:pt x="197" y="190"/>
                  </a:lnTo>
                  <a:lnTo>
                    <a:pt x="185" y="199"/>
                  </a:lnTo>
                  <a:lnTo>
                    <a:pt x="194" y="199"/>
                  </a:lnTo>
                  <a:lnTo>
                    <a:pt x="204" y="189"/>
                  </a:lnTo>
                  <a:lnTo>
                    <a:pt x="213" y="179"/>
                  </a:lnTo>
                  <a:lnTo>
                    <a:pt x="223" y="169"/>
                  </a:lnTo>
                  <a:lnTo>
                    <a:pt x="230" y="155"/>
                  </a:lnTo>
                  <a:lnTo>
                    <a:pt x="237" y="142"/>
                  </a:lnTo>
                  <a:lnTo>
                    <a:pt x="240" y="129"/>
                  </a:lnTo>
                  <a:lnTo>
                    <a:pt x="243" y="114"/>
                  </a:lnTo>
                  <a:lnTo>
                    <a:pt x="245" y="99"/>
                  </a:lnTo>
                  <a:close/>
                  <a:moveTo>
                    <a:pt x="51" y="0"/>
                  </a:moveTo>
                  <a:lnTo>
                    <a:pt x="40" y="8"/>
                  </a:lnTo>
                  <a:lnTo>
                    <a:pt x="30" y="18"/>
                  </a:lnTo>
                  <a:lnTo>
                    <a:pt x="21" y="30"/>
                  </a:lnTo>
                  <a:lnTo>
                    <a:pt x="15" y="43"/>
                  </a:lnTo>
                  <a:lnTo>
                    <a:pt x="8" y="56"/>
                  </a:lnTo>
                  <a:lnTo>
                    <a:pt x="3" y="69"/>
                  </a:lnTo>
                  <a:lnTo>
                    <a:pt x="2" y="84"/>
                  </a:lnTo>
                  <a:lnTo>
                    <a:pt x="0" y="99"/>
                  </a:lnTo>
                  <a:lnTo>
                    <a:pt x="2" y="114"/>
                  </a:lnTo>
                  <a:lnTo>
                    <a:pt x="3" y="129"/>
                  </a:lnTo>
                  <a:lnTo>
                    <a:pt x="8" y="142"/>
                  </a:lnTo>
                  <a:lnTo>
                    <a:pt x="15" y="155"/>
                  </a:lnTo>
                  <a:lnTo>
                    <a:pt x="21" y="169"/>
                  </a:lnTo>
                  <a:lnTo>
                    <a:pt x="30" y="179"/>
                  </a:lnTo>
                  <a:lnTo>
                    <a:pt x="40" y="189"/>
                  </a:lnTo>
                  <a:lnTo>
                    <a:pt x="51" y="199"/>
                  </a:lnTo>
                  <a:lnTo>
                    <a:pt x="59" y="199"/>
                  </a:lnTo>
                  <a:lnTo>
                    <a:pt x="48" y="190"/>
                  </a:lnTo>
                  <a:lnTo>
                    <a:pt x="38" y="180"/>
                  </a:lnTo>
                  <a:lnTo>
                    <a:pt x="28" y="169"/>
                  </a:lnTo>
                  <a:lnTo>
                    <a:pt x="20" y="157"/>
                  </a:lnTo>
                  <a:lnTo>
                    <a:pt x="13" y="144"/>
                  </a:lnTo>
                  <a:lnTo>
                    <a:pt x="8" y="129"/>
                  </a:lnTo>
                  <a:lnTo>
                    <a:pt x="6" y="114"/>
                  </a:lnTo>
                  <a:lnTo>
                    <a:pt x="5" y="99"/>
                  </a:lnTo>
                  <a:lnTo>
                    <a:pt x="6" y="84"/>
                  </a:lnTo>
                  <a:lnTo>
                    <a:pt x="8" y="69"/>
                  </a:lnTo>
                  <a:lnTo>
                    <a:pt x="13" y="54"/>
                  </a:lnTo>
                  <a:lnTo>
                    <a:pt x="20" y="41"/>
                  </a:lnTo>
                  <a:lnTo>
                    <a:pt x="28" y="30"/>
                  </a:lnTo>
                  <a:lnTo>
                    <a:pt x="38" y="18"/>
                  </a:lnTo>
                  <a:lnTo>
                    <a:pt x="48" y="8"/>
                  </a:lnTo>
                  <a:lnTo>
                    <a:pt x="59" y="0"/>
                  </a:lnTo>
                  <a:lnTo>
                    <a:pt x="51"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91" name="Freeform 232">
              <a:extLst>
                <a:ext uri="{FF2B5EF4-FFF2-40B4-BE49-F238E27FC236}">
                  <a16:creationId xmlns:a16="http://schemas.microsoft.com/office/drawing/2014/main" id="{1B9D49FE-064C-5A8B-63CB-0C2C35F444D2}"/>
                </a:ext>
              </a:extLst>
            </p:cNvPr>
            <p:cNvSpPr>
              <a:spLocks noEditPoints="1"/>
            </p:cNvSpPr>
            <p:nvPr/>
          </p:nvSpPr>
          <p:spPr bwMode="auto">
            <a:xfrm>
              <a:off x="1717" y="1514"/>
              <a:ext cx="239" cy="199"/>
            </a:xfrm>
            <a:custGeom>
              <a:avLst/>
              <a:gdLst>
                <a:gd name="T0" fmla="*/ 239 w 239"/>
                <a:gd name="T1" fmla="*/ 84 h 199"/>
                <a:gd name="T2" fmla="*/ 230 w 239"/>
                <a:gd name="T3" fmla="*/ 54 h 199"/>
                <a:gd name="T4" fmla="*/ 217 w 239"/>
                <a:gd name="T5" fmla="*/ 30 h 199"/>
                <a:gd name="T6" fmla="*/ 197 w 239"/>
                <a:gd name="T7" fmla="*/ 8 h 199"/>
                <a:gd name="T8" fmla="*/ 177 w 239"/>
                <a:gd name="T9" fmla="*/ 0 h 199"/>
                <a:gd name="T10" fmla="*/ 201 w 239"/>
                <a:gd name="T11" fmla="*/ 18 h 199"/>
                <a:gd name="T12" fmla="*/ 219 w 239"/>
                <a:gd name="T13" fmla="*/ 41 h 199"/>
                <a:gd name="T14" fmla="*/ 230 w 239"/>
                <a:gd name="T15" fmla="*/ 68 h 199"/>
                <a:gd name="T16" fmla="*/ 234 w 239"/>
                <a:gd name="T17" fmla="*/ 99 h 199"/>
                <a:gd name="T18" fmla="*/ 230 w 239"/>
                <a:gd name="T19" fmla="*/ 129 h 199"/>
                <a:gd name="T20" fmla="*/ 219 w 239"/>
                <a:gd name="T21" fmla="*/ 157 h 199"/>
                <a:gd name="T22" fmla="*/ 201 w 239"/>
                <a:gd name="T23" fmla="*/ 180 h 199"/>
                <a:gd name="T24" fmla="*/ 177 w 239"/>
                <a:gd name="T25" fmla="*/ 199 h 199"/>
                <a:gd name="T26" fmla="*/ 197 w 239"/>
                <a:gd name="T27" fmla="*/ 190 h 199"/>
                <a:gd name="T28" fmla="*/ 217 w 239"/>
                <a:gd name="T29" fmla="*/ 169 h 199"/>
                <a:gd name="T30" fmla="*/ 230 w 239"/>
                <a:gd name="T31" fmla="*/ 142 h 199"/>
                <a:gd name="T32" fmla="*/ 239 w 239"/>
                <a:gd name="T33" fmla="*/ 114 h 199"/>
                <a:gd name="T34" fmla="*/ 53 w 239"/>
                <a:gd name="T35" fmla="*/ 0 h 199"/>
                <a:gd name="T36" fmla="*/ 30 w 239"/>
                <a:gd name="T37" fmla="*/ 18 h 199"/>
                <a:gd name="T38" fmla="*/ 13 w 239"/>
                <a:gd name="T39" fmla="*/ 41 h 199"/>
                <a:gd name="T40" fmla="*/ 3 w 239"/>
                <a:gd name="T41" fmla="*/ 69 h 199"/>
                <a:gd name="T42" fmla="*/ 0 w 239"/>
                <a:gd name="T43" fmla="*/ 99 h 199"/>
                <a:gd name="T44" fmla="*/ 3 w 239"/>
                <a:gd name="T45" fmla="*/ 129 h 199"/>
                <a:gd name="T46" fmla="*/ 13 w 239"/>
                <a:gd name="T47" fmla="*/ 155 h 199"/>
                <a:gd name="T48" fmla="*/ 30 w 239"/>
                <a:gd name="T49" fmla="*/ 180 h 199"/>
                <a:gd name="T50" fmla="*/ 53 w 239"/>
                <a:gd name="T51" fmla="*/ 199 h 199"/>
                <a:gd name="T52" fmla="*/ 50 w 239"/>
                <a:gd name="T53" fmla="*/ 190 h 199"/>
                <a:gd name="T54" fmla="*/ 28 w 239"/>
                <a:gd name="T55" fmla="*/ 169 h 199"/>
                <a:gd name="T56" fmla="*/ 13 w 239"/>
                <a:gd name="T57" fmla="*/ 144 h 199"/>
                <a:gd name="T58" fmla="*/ 5 w 239"/>
                <a:gd name="T59" fmla="*/ 114 h 199"/>
                <a:gd name="T60" fmla="*/ 5 w 239"/>
                <a:gd name="T61" fmla="*/ 83 h 199"/>
                <a:gd name="T62" fmla="*/ 13 w 239"/>
                <a:gd name="T63" fmla="*/ 54 h 199"/>
                <a:gd name="T64" fmla="*/ 28 w 239"/>
                <a:gd name="T65" fmla="*/ 28 h 199"/>
                <a:gd name="T66" fmla="*/ 50 w 239"/>
                <a:gd name="T67" fmla="*/ 8 h 199"/>
                <a:gd name="T68" fmla="*/ 53 w 23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9" h="199">
                  <a:moveTo>
                    <a:pt x="239" y="99"/>
                  </a:moveTo>
                  <a:lnTo>
                    <a:pt x="239" y="84"/>
                  </a:lnTo>
                  <a:lnTo>
                    <a:pt x="235" y="69"/>
                  </a:lnTo>
                  <a:lnTo>
                    <a:pt x="230" y="54"/>
                  </a:lnTo>
                  <a:lnTo>
                    <a:pt x="224" y="41"/>
                  </a:lnTo>
                  <a:lnTo>
                    <a:pt x="217" y="30"/>
                  </a:lnTo>
                  <a:lnTo>
                    <a:pt x="207" y="18"/>
                  </a:lnTo>
                  <a:lnTo>
                    <a:pt x="197" y="8"/>
                  </a:lnTo>
                  <a:lnTo>
                    <a:pt x="186" y="0"/>
                  </a:lnTo>
                  <a:lnTo>
                    <a:pt x="177" y="0"/>
                  </a:lnTo>
                  <a:lnTo>
                    <a:pt x="189" y="8"/>
                  </a:lnTo>
                  <a:lnTo>
                    <a:pt x="201" y="18"/>
                  </a:lnTo>
                  <a:lnTo>
                    <a:pt x="210" y="28"/>
                  </a:lnTo>
                  <a:lnTo>
                    <a:pt x="219" y="41"/>
                  </a:lnTo>
                  <a:lnTo>
                    <a:pt x="225" y="54"/>
                  </a:lnTo>
                  <a:lnTo>
                    <a:pt x="230" y="68"/>
                  </a:lnTo>
                  <a:lnTo>
                    <a:pt x="234" y="83"/>
                  </a:lnTo>
                  <a:lnTo>
                    <a:pt x="234" y="99"/>
                  </a:lnTo>
                  <a:lnTo>
                    <a:pt x="234" y="114"/>
                  </a:lnTo>
                  <a:lnTo>
                    <a:pt x="230" y="129"/>
                  </a:lnTo>
                  <a:lnTo>
                    <a:pt x="225" y="144"/>
                  </a:lnTo>
                  <a:lnTo>
                    <a:pt x="219" y="157"/>
                  </a:lnTo>
                  <a:lnTo>
                    <a:pt x="210" y="169"/>
                  </a:lnTo>
                  <a:lnTo>
                    <a:pt x="201" y="180"/>
                  </a:lnTo>
                  <a:lnTo>
                    <a:pt x="189" y="190"/>
                  </a:lnTo>
                  <a:lnTo>
                    <a:pt x="177" y="199"/>
                  </a:lnTo>
                  <a:lnTo>
                    <a:pt x="186" y="199"/>
                  </a:lnTo>
                  <a:lnTo>
                    <a:pt x="197" y="190"/>
                  </a:lnTo>
                  <a:lnTo>
                    <a:pt x="207" y="180"/>
                  </a:lnTo>
                  <a:lnTo>
                    <a:pt x="217" y="169"/>
                  </a:lnTo>
                  <a:lnTo>
                    <a:pt x="224" y="155"/>
                  </a:lnTo>
                  <a:lnTo>
                    <a:pt x="230" y="142"/>
                  </a:lnTo>
                  <a:lnTo>
                    <a:pt x="235" y="129"/>
                  </a:lnTo>
                  <a:lnTo>
                    <a:pt x="239" y="114"/>
                  </a:lnTo>
                  <a:lnTo>
                    <a:pt x="239" y="99"/>
                  </a:lnTo>
                  <a:close/>
                  <a:moveTo>
                    <a:pt x="53" y="0"/>
                  </a:moveTo>
                  <a:lnTo>
                    <a:pt x="42" y="8"/>
                  </a:lnTo>
                  <a:lnTo>
                    <a:pt x="30" y="18"/>
                  </a:lnTo>
                  <a:lnTo>
                    <a:pt x="22" y="30"/>
                  </a:lnTo>
                  <a:lnTo>
                    <a:pt x="13" y="41"/>
                  </a:lnTo>
                  <a:lnTo>
                    <a:pt x="8" y="54"/>
                  </a:lnTo>
                  <a:lnTo>
                    <a:pt x="3" y="69"/>
                  </a:lnTo>
                  <a:lnTo>
                    <a:pt x="0" y="84"/>
                  </a:lnTo>
                  <a:lnTo>
                    <a:pt x="0" y="99"/>
                  </a:lnTo>
                  <a:lnTo>
                    <a:pt x="0" y="114"/>
                  </a:lnTo>
                  <a:lnTo>
                    <a:pt x="3" y="129"/>
                  </a:lnTo>
                  <a:lnTo>
                    <a:pt x="8" y="142"/>
                  </a:lnTo>
                  <a:lnTo>
                    <a:pt x="13" y="155"/>
                  </a:lnTo>
                  <a:lnTo>
                    <a:pt x="22" y="169"/>
                  </a:lnTo>
                  <a:lnTo>
                    <a:pt x="30" y="180"/>
                  </a:lnTo>
                  <a:lnTo>
                    <a:pt x="42" y="190"/>
                  </a:lnTo>
                  <a:lnTo>
                    <a:pt x="53" y="199"/>
                  </a:lnTo>
                  <a:lnTo>
                    <a:pt x="61" y="199"/>
                  </a:lnTo>
                  <a:lnTo>
                    <a:pt x="50" y="190"/>
                  </a:lnTo>
                  <a:lnTo>
                    <a:pt x="38" y="180"/>
                  </a:lnTo>
                  <a:lnTo>
                    <a:pt x="28" y="169"/>
                  </a:lnTo>
                  <a:lnTo>
                    <a:pt x="20" y="157"/>
                  </a:lnTo>
                  <a:lnTo>
                    <a:pt x="13" y="144"/>
                  </a:lnTo>
                  <a:lnTo>
                    <a:pt x="8" y="129"/>
                  </a:lnTo>
                  <a:lnTo>
                    <a:pt x="5" y="114"/>
                  </a:lnTo>
                  <a:lnTo>
                    <a:pt x="3" y="99"/>
                  </a:lnTo>
                  <a:lnTo>
                    <a:pt x="5" y="83"/>
                  </a:lnTo>
                  <a:lnTo>
                    <a:pt x="8" y="68"/>
                  </a:lnTo>
                  <a:lnTo>
                    <a:pt x="13" y="54"/>
                  </a:lnTo>
                  <a:lnTo>
                    <a:pt x="20" y="41"/>
                  </a:lnTo>
                  <a:lnTo>
                    <a:pt x="28" y="28"/>
                  </a:lnTo>
                  <a:lnTo>
                    <a:pt x="38" y="18"/>
                  </a:lnTo>
                  <a:lnTo>
                    <a:pt x="50" y="8"/>
                  </a:lnTo>
                  <a:lnTo>
                    <a:pt x="61" y="0"/>
                  </a:lnTo>
                  <a:lnTo>
                    <a:pt x="53"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92" name="Freeform 233">
              <a:extLst>
                <a:ext uri="{FF2B5EF4-FFF2-40B4-BE49-F238E27FC236}">
                  <a16:creationId xmlns:a16="http://schemas.microsoft.com/office/drawing/2014/main" id="{CFE3A2F7-9A30-BB05-740A-85665BE1A129}"/>
                </a:ext>
              </a:extLst>
            </p:cNvPr>
            <p:cNvSpPr>
              <a:spLocks noEditPoints="1"/>
            </p:cNvSpPr>
            <p:nvPr/>
          </p:nvSpPr>
          <p:spPr bwMode="auto">
            <a:xfrm>
              <a:off x="1719" y="1514"/>
              <a:ext cx="235" cy="199"/>
            </a:xfrm>
            <a:custGeom>
              <a:avLst/>
              <a:gdLst>
                <a:gd name="T0" fmla="*/ 233 w 235"/>
                <a:gd name="T1" fmla="*/ 84 h 199"/>
                <a:gd name="T2" fmla="*/ 225 w 235"/>
                <a:gd name="T3" fmla="*/ 54 h 199"/>
                <a:gd name="T4" fmla="*/ 212 w 235"/>
                <a:gd name="T5" fmla="*/ 30 h 199"/>
                <a:gd name="T6" fmla="*/ 192 w 235"/>
                <a:gd name="T7" fmla="*/ 8 h 199"/>
                <a:gd name="T8" fmla="*/ 170 w 235"/>
                <a:gd name="T9" fmla="*/ 0 h 199"/>
                <a:gd name="T10" fmla="*/ 194 w 235"/>
                <a:gd name="T11" fmla="*/ 16 h 199"/>
                <a:gd name="T12" fmla="*/ 213 w 235"/>
                <a:gd name="T13" fmla="*/ 40 h 199"/>
                <a:gd name="T14" fmla="*/ 225 w 235"/>
                <a:gd name="T15" fmla="*/ 68 h 199"/>
                <a:gd name="T16" fmla="*/ 230 w 235"/>
                <a:gd name="T17" fmla="*/ 99 h 199"/>
                <a:gd name="T18" fmla="*/ 225 w 235"/>
                <a:gd name="T19" fmla="*/ 131 h 199"/>
                <a:gd name="T20" fmla="*/ 213 w 235"/>
                <a:gd name="T21" fmla="*/ 157 h 199"/>
                <a:gd name="T22" fmla="*/ 194 w 235"/>
                <a:gd name="T23" fmla="*/ 180 h 199"/>
                <a:gd name="T24" fmla="*/ 170 w 235"/>
                <a:gd name="T25" fmla="*/ 199 h 199"/>
                <a:gd name="T26" fmla="*/ 192 w 235"/>
                <a:gd name="T27" fmla="*/ 190 h 199"/>
                <a:gd name="T28" fmla="*/ 212 w 235"/>
                <a:gd name="T29" fmla="*/ 169 h 199"/>
                <a:gd name="T30" fmla="*/ 225 w 235"/>
                <a:gd name="T31" fmla="*/ 144 h 199"/>
                <a:gd name="T32" fmla="*/ 233 w 235"/>
                <a:gd name="T33" fmla="*/ 114 h 199"/>
                <a:gd name="T34" fmla="*/ 54 w 235"/>
                <a:gd name="T35" fmla="*/ 0 h 199"/>
                <a:gd name="T36" fmla="*/ 33 w 235"/>
                <a:gd name="T37" fmla="*/ 18 h 199"/>
                <a:gd name="T38" fmla="*/ 15 w 235"/>
                <a:gd name="T39" fmla="*/ 41 h 199"/>
                <a:gd name="T40" fmla="*/ 3 w 235"/>
                <a:gd name="T41" fmla="*/ 69 h 199"/>
                <a:gd name="T42" fmla="*/ 0 w 235"/>
                <a:gd name="T43" fmla="*/ 99 h 199"/>
                <a:gd name="T44" fmla="*/ 3 w 235"/>
                <a:gd name="T45" fmla="*/ 129 h 199"/>
                <a:gd name="T46" fmla="*/ 15 w 235"/>
                <a:gd name="T47" fmla="*/ 157 h 199"/>
                <a:gd name="T48" fmla="*/ 33 w 235"/>
                <a:gd name="T49" fmla="*/ 180 h 199"/>
                <a:gd name="T50" fmla="*/ 54 w 235"/>
                <a:gd name="T51" fmla="*/ 199 h 199"/>
                <a:gd name="T52" fmla="*/ 51 w 235"/>
                <a:gd name="T53" fmla="*/ 190 h 199"/>
                <a:gd name="T54" fmla="*/ 30 w 235"/>
                <a:gd name="T55" fmla="*/ 170 h 199"/>
                <a:gd name="T56" fmla="*/ 15 w 235"/>
                <a:gd name="T57" fmla="*/ 144 h 199"/>
                <a:gd name="T58" fmla="*/ 6 w 235"/>
                <a:gd name="T59" fmla="*/ 114 h 199"/>
                <a:gd name="T60" fmla="*/ 6 w 235"/>
                <a:gd name="T61" fmla="*/ 83 h 199"/>
                <a:gd name="T62" fmla="*/ 15 w 235"/>
                <a:gd name="T63" fmla="*/ 53 h 199"/>
                <a:gd name="T64" fmla="*/ 30 w 235"/>
                <a:gd name="T65" fmla="*/ 28 h 199"/>
                <a:gd name="T66" fmla="*/ 51 w 235"/>
                <a:gd name="T67" fmla="*/ 8 h 199"/>
                <a:gd name="T68" fmla="*/ 54 w 23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5" h="199">
                  <a:moveTo>
                    <a:pt x="235" y="99"/>
                  </a:moveTo>
                  <a:lnTo>
                    <a:pt x="233" y="84"/>
                  </a:lnTo>
                  <a:lnTo>
                    <a:pt x="230" y="69"/>
                  </a:lnTo>
                  <a:lnTo>
                    <a:pt x="225" y="54"/>
                  </a:lnTo>
                  <a:lnTo>
                    <a:pt x="220" y="41"/>
                  </a:lnTo>
                  <a:lnTo>
                    <a:pt x="212" y="30"/>
                  </a:lnTo>
                  <a:lnTo>
                    <a:pt x="202" y="18"/>
                  </a:lnTo>
                  <a:lnTo>
                    <a:pt x="192" y="8"/>
                  </a:lnTo>
                  <a:lnTo>
                    <a:pt x="180" y="0"/>
                  </a:lnTo>
                  <a:lnTo>
                    <a:pt x="170" y="0"/>
                  </a:lnTo>
                  <a:lnTo>
                    <a:pt x="182" y="8"/>
                  </a:lnTo>
                  <a:lnTo>
                    <a:pt x="194" y="16"/>
                  </a:lnTo>
                  <a:lnTo>
                    <a:pt x="205" y="28"/>
                  </a:lnTo>
                  <a:lnTo>
                    <a:pt x="213" y="40"/>
                  </a:lnTo>
                  <a:lnTo>
                    <a:pt x="220" y="53"/>
                  </a:lnTo>
                  <a:lnTo>
                    <a:pt x="225" y="68"/>
                  </a:lnTo>
                  <a:lnTo>
                    <a:pt x="228" y="83"/>
                  </a:lnTo>
                  <a:lnTo>
                    <a:pt x="230" y="99"/>
                  </a:lnTo>
                  <a:lnTo>
                    <a:pt x="228" y="114"/>
                  </a:lnTo>
                  <a:lnTo>
                    <a:pt x="225" y="131"/>
                  </a:lnTo>
                  <a:lnTo>
                    <a:pt x="220" y="144"/>
                  </a:lnTo>
                  <a:lnTo>
                    <a:pt x="213" y="157"/>
                  </a:lnTo>
                  <a:lnTo>
                    <a:pt x="205" y="170"/>
                  </a:lnTo>
                  <a:lnTo>
                    <a:pt x="194" y="180"/>
                  </a:lnTo>
                  <a:lnTo>
                    <a:pt x="182" y="190"/>
                  </a:lnTo>
                  <a:lnTo>
                    <a:pt x="170" y="199"/>
                  </a:lnTo>
                  <a:lnTo>
                    <a:pt x="180" y="199"/>
                  </a:lnTo>
                  <a:lnTo>
                    <a:pt x="192" y="190"/>
                  </a:lnTo>
                  <a:lnTo>
                    <a:pt x="202" y="180"/>
                  </a:lnTo>
                  <a:lnTo>
                    <a:pt x="212" y="169"/>
                  </a:lnTo>
                  <a:lnTo>
                    <a:pt x="220" y="157"/>
                  </a:lnTo>
                  <a:lnTo>
                    <a:pt x="225" y="144"/>
                  </a:lnTo>
                  <a:lnTo>
                    <a:pt x="230" y="129"/>
                  </a:lnTo>
                  <a:lnTo>
                    <a:pt x="233" y="114"/>
                  </a:lnTo>
                  <a:lnTo>
                    <a:pt x="235" y="99"/>
                  </a:lnTo>
                  <a:close/>
                  <a:moveTo>
                    <a:pt x="54" y="0"/>
                  </a:moveTo>
                  <a:lnTo>
                    <a:pt x="43" y="8"/>
                  </a:lnTo>
                  <a:lnTo>
                    <a:pt x="33" y="18"/>
                  </a:lnTo>
                  <a:lnTo>
                    <a:pt x="23" y="30"/>
                  </a:lnTo>
                  <a:lnTo>
                    <a:pt x="15" y="41"/>
                  </a:lnTo>
                  <a:lnTo>
                    <a:pt x="8" y="54"/>
                  </a:lnTo>
                  <a:lnTo>
                    <a:pt x="3" y="69"/>
                  </a:lnTo>
                  <a:lnTo>
                    <a:pt x="1" y="84"/>
                  </a:lnTo>
                  <a:lnTo>
                    <a:pt x="0" y="99"/>
                  </a:lnTo>
                  <a:lnTo>
                    <a:pt x="1" y="114"/>
                  </a:lnTo>
                  <a:lnTo>
                    <a:pt x="3" y="129"/>
                  </a:lnTo>
                  <a:lnTo>
                    <a:pt x="8" y="144"/>
                  </a:lnTo>
                  <a:lnTo>
                    <a:pt x="15" y="157"/>
                  </a:lnTo>
                  <a:lnTo>
                    <a:pt x="23" y="169"/>
                  </a:lnTo>
                  <a:lnTo>
                    <a:pt x="33" y="180"/>
                  </a:lnTo>
                  <a:lnTo>
                    <a:pt x="43" y="190"/>
                  </a:lnTo>
                  <a:lnTo>
                    <a:pt x="54" y="199"/>
                  </a:lnTo>
                  <a:lnTo>
                    <a:pt x="64" y="199"/>
                  </a:lnTo>
                  <a:lnTo>
                    <a:pt x="51" y="190"/>
                  </a:lnTo>
                  <a:lnTo>
                    <a:pt x="40" y="180"/>
                  </a:lnTo>
                  <a:lnTo>
                    <a:pt x="30" y="170"/>
                  </a:lnTo>
                  <a:lnTo>
                    <a:pt x="21" y="157"/>
                  </a:lnTo>
                  <a:lnTo>
                    <a:pt x="15" y="144"/>
                  </a:lnTo>
                  <a:lnTo>
                    <a:pt x="10" y="131"/>
                  </a:lnTo>
                  <a:lnTo>
                    <a:pt x="6" y="114"/>
                  </a:lnTo>
                  <a:lnTo>
                    <a:pt x="5" y="99"/>
                  </a:lnTo>
                  <a:lnTo>
                    <a:pt x="6" y="83"/>
                  </a:lnTo>
                  <a:lnTo>
                    <a:pt x="10" y="68"/>
                  </a:lnTo>
                  <a:lnTo>
                    <a:pt x="15" y="53"/>
                  </a:lnTo>
                  <a:lnTo>
                    <a:pt x="21" y="40"/>
                  </a:lnTo>
                  <a:lnTo>
                    <a:pt x="30" y="28"/>
                  </a:lnTo>
                  <a:lnTo>
                    <a:pt x="40" y="16"/>
                  </a:lnTo>
                  <a:lnTo>
                    <a:pt x="51" y="8"/>
                  </a:lnTo>
                  <a:lnTo>
                    <a:pt x="64" y="0"/>
                  </a:lnTo>
                  <a:lnTo>
                    <a:pt x="54"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93" name="Freeform 234">
              <a:extLst>
                <a:ext uri="{FF2B5EF4-FFF2-40B4-BE49-F238E27FC236}">
                  <a16:creationId xmlns:a16="http://schemas.microsoft.com/office/drawing/2014/main" id="{6FD7A6DC-2B60-B3F5-9C9D-A16A5FE78DB3}"/>
                </a:ext>
              </a:extLst>
            </p:cNvPr>
            <p:cNvSpPr>
              <a:spLocks noEditPoints="1"/>
            </p:cNvSpPr>
            <p:nvPr/>
          </p:nvSpPr>
          <p:spPr bwMode="auto">
            <a:xfrm>
              <a:off x="1720" y="1514"/>
              <a:ext cx="231" cy="199"/>
            </a:xfrm>
            <a:custGeom>
              <a:avLst/>
              <a:gdLst>
                <a:gd name="T0" fmla="*/ 231 w 231"/>
                <a:gd name="T1" fmla="*/ 83 h 199"/>
                <a:gd name="T2" fmla="*/ 222 w 231"/>
                <a:gd name="T3" fmla="*/ 54 h 199"/>
                <a:gd name="T4" fmla="*/ 207 w 231"/>
                <a:gd name="T5" fmla="*/ 28 h 199"/>
                <a:gd name="T6" fmla="*/ 186 w 231"/>
                <a:gd name="T7" fmla="*/ 8 h 199"/>
                <a:gd name="T8" fmla="*/ 164 w 231"/>
                <a:gd name="T9" fmla="*/ 0 h 199"/>
                <a:gd name="T10" fmla="*/ 189 w 231"/>
                <a:gd name="T11" fmla="*/ 16 h 199"/>
                <a:gd name="T12" fmla="*/ 209 w 231"/>
                <a:gd name="T13" fmla="*/ 40 h 199"/>
                <a:gd name="T14" fmla="*/ 222 w 231"/>
                <a:gd name="T15" fmla="*/ 68 h 199"/>
                <a:gd name="T16" fmla="*/ 226 w 231"/>
                <a:gd name="T17" fmla="*/ 99 h 199"/>
                <a:gd name="T18" fmla="*/ 222 w 231"/>
                <a:gd name="T19" fmla="*/ 131 h 199"/>
                <a:gd name="T20" fmla="*/ 209 w 231"/>
                <a:gd name="T21" fmla="*/ 159 h 199"/>
                <a:gd name="T22" fmla="*/ 189 w 231"/>
                <a:gd name="T23" fmla="*/ 182 h 199"/>
                <a:gd name="T24" fmla="*/ 164 w 231"/>
                <a:gd name="T25" fmla="*/ 199 h 199"/>
                <a:gd name="T26" fmla="*/ 186 w 231"/>
                <a:gd name="T27" fmla="*/ 190 h 199"/>
                <a:gd name="T28" fmla="*/ 207 w 231"/>
                <a:gd name="T29" fmla="*/ 169 h 199"/>
                <a:gd name="T30" fmla="*/ 222 w 231"/>
                <a:gd name="T31" fmla="*/ 144 h 199"/>
                <a:gd name="T32" fmla="*/ 231 w 231"/>
                <a:gd name="T33" fmla="*/ 114 h 199"/>
                <a:gd name="T34" fmla="*/ 58 w 231"/>
                <a:gd name="T35" fmla="*/ 0 h 199"/>
                <a:gd name="T36" fmla="*/ 35 w 231"/>
                <a:gd name="T37" fmla="*/ 18 h 199"/>
                <a:gd name="T38" fmla="*/ 17 w 231"/>
                <a:gd name="T39" fmla="*/ 41 h 199"/>
                <a:gd name="T40" fmla="*/ 5 w 231"/>
                <a:gd name="T41" fmla="*/ 68 h 199"/>
                <a:gd name="T42" fmla="*/ 0 w 231"/>
                <a:gd name="T43" fmla="*/ 99 h 199"/>
                <a:gd name="T44" fmla="*/ 5 w 231"/>
                <a:gd name="T45" fmla="*/ 129 h 199"/>
                <a:gd name="T46" fmla="*/ 17 w 231"/>
                <a:gd name="T47" fmla="*/ 157 h 199"/>
                <a:gd name="T48" fmla="*/ 35 w 231"/>
                <a:gd name="T49" fmla="*/ 180 h 199"/>
                <a:gd name="T50" fmla="*/ 58 w 231"/>
                <a:gd name="T51" fmla="*/ 199 h 199"/>
                <a:gd name="T52" fmla="*/ 55 w 231"/>
                <a:gd name="T53" fmla="*/ 190 h 199"/>
                <a:gd name="T54" fmla="*/ 32 w 231"/>
                <a:gd name="T55" fmla="*/ 170 h 199"/>
                <a:gd name="T56" fmla="*/ 15 w 231"/>
                <a:gd name="T57" fmla="*/ 146 h 199"/>
                <a:gd name="T58" fmla="*/ 7 w 231"/>
                <a:gd name="T59" fmla="*/ 116 h 199"/>
                <a:gd name="T60" fmla="*/ 7 w 231"/>
                <a:gd name="T61" fmla="*/ 83 h 199"/>
                <a:gd name="T62" fmla="*/ 15 w 231"/>
                <a:gd name="T63" fmla="*/ 53 h 199"/>
                <a:gd name="T64" fmla="*/ 32 w 231"/>
                <a:gd name="T65" fmla="*/ 28 h 199"/>
                <a:gd name="T66" fmla="*/ 55 w 231"/>
                <a:gd name="T67" fmla="*/ 6 h 199"/>
                <a:gd name="T68" fmla="*/ 58 w 23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1" h="199">
                  <a:moveTo>
                    <a:pt x="231" y="99"/>
                  </a:moveTo>
                  <a:lnTo>
                    <a:pt x="231" y="83"/>
                  </a:lnTo>
                  <a:lnTo>
                    <a:pt x="227" y="68"/>
                  </a:lnTo>
                  <a:lnTo>
                    <a:pt x="222" y="54"/>
                  </a:lnTo>
                  <a:lnTo>
                    <a:pt x="216" y="41"/>
                  </a:lnTo>
                  <a:lnTo>
                    <a:pt x="207" y="28"/>
                  </a:lnTo>
                  <a:lnTo>
                    <a:pt x="198" y="18"/>
                  </a:lnTo>
                  <a:lnTo>
                    <a:pt x="186" y="8"/>
                  </a:lnTo>
                  <a:lnTo>
                    <a:pt x="174" y="0"/>
                  </a:lnTo>
                  <a:lnTo>
                    <a:pt x="164" y="0"/>
                  </a:lnTo>
                  <a:lnTo>
                    <a:pt x="178" y="6"/>
                  </a:lnTo>
                  <a:lnTo>
                    <a:pt x="189" y="16"/>
                  </a:lnTo>
                  <a:lnTo>
                    <a:pt x="199" y="28"/>
                  </a:lnTo>
                  <a:lnTo>
                    <a:pt x="209" y="40"/>
                  </a:lnTo>
                  <a:lnTo>
                    <a:pt x="216" y="53"/>
                  </a:lnTo>
                  <a:lnTo>
                    <a:pt x="222" y="68"/>
                  </a:lnTo>
                  <a:lnTo>
                    <a:pt x="226" y="83"/>
                  </a:lnTo>
                  <a:lnTo>
                    <a:pt x="226" y="99"/>
                  </a:lnTo>
                  <a:lnTo>
                    <a:pt x="226" y="116"/>
                  </a:lnTo>
                  <a:lnTo>
                    <a:pt x="222" y="131"/>
                  </a:lnTo>
                  <a:lnTo>
                    <a:pt x="216" y="146"/>
                  </a:lnTo>
                  <a:lnTo>
                    <a:pt x="209" y="159"/>
                  </a:lnTo>
                  <a:lnTo>
                    <a:pt x="199" y="170"/>
                  </a:lnTo>
                  <a:lnTo>
                    <a:pt x="189" y="182"/>
                  </a:lnTo>
                  <a:lnTo>
                    <a:pt x="178" y="190"/>
                  </a:lnTo>
                  <a:lnTo>
                    <a:pt x="164" y="199"/>
                  </a:lnTo>
                  <a:lnTo>
                    <a:pt x="174" y="199"/>
                  </a:lnTo>
                  <a:lnTo>
                    <a:pt x="186" y="190"/>
                  </a:lnTo>
                  <a:lnTo>
                    <a:pt x="198" y="180"/>
                  </a:lnTo>
                  <a:lnTo>
                    <a:pt x="207" y="169"/>
                  </a:lnTo>
                  <a:lnTo>
                    <a:pt x="216" y="157"/>
                  </a:lnTo>
                  <a:lnTo>
                    <a:pt x="222" y="144"/>
                  </a:lnTo>
                  <a:lnTo>
                    <a:pt x="227" y="129"/>
                  </a:lnTo>
                  <a:lnTo>
                    <a:pt x="231" y="114"/>
                  </a:lnTo>
                  <a:lnTo>
                    <a:pt x="231" y="99"/>
                  </a:lnTo>
                  <a:close/>
                  <a:moveTo>
                    <a:pt x="58" y="0"/>
                  </a:moveTo>
                  <a:lnTo>
                    <a:pt x="47" y="8"/>
                  </a:lnTo>
                  <a:lnTo>
                    <a:pt x="35" y="18"/>
                  </a:lnTo>
                  <a:lnTo>
                    <a:pt x="25" y="28"/>
                  </a:lnTo>
                  <a:lnTo>
                    <a:pt x="17" y="41"/>
                  </a:lnTo>
                  <a:lnTo>
                    <a:pt x="10" y="54"/>
                  </a:lnTo>
                  <a:lnTo>
                    <a:pt x="5" y="68"/>
                  </a:lnTo>
                  <a:lnTo>
                    <a:pt x="2" y="83"/>
                  </a:lnTo>
                  <a:lnTo>
                    <a:pt x="0" y="99"/>
                  </a:lnTo>
                  <a:lnTo>
                    <a:pt x="2" y="114"/>
                  </a:lnTo>
                  <a:lnTo>
                    <a:pt x="5" y="129"/>
                  </a:lnTo>
                  <a:lnTo>
                    <a:pt x="10" y="144"/>
                  </a:lnTo>
                  <a:lnTo>
                    <a:pt x="17" y="157"/>
                  </a:lnTo>
                  <a:lnTo>
                    <a:pt x="25" y="169"/>
                  </a:lnTo>
                  <a:lnTo>
                    <a:pt x="35" y="180"/>
                  </a:lnTo>
                  <a:lnTo>
                    <a:pt x="47" y="190"/>
                  </a:lnTo>
                  <a:lnTo>
                    <a:pt x="58" y="199"/>
                  </a:lnTo>
                  <a:lnTo>
                    <a:pt x="68" y="199"/>
                  </a:lnTo>
                  <a:lnTo>
                    <a:pt x="55" y="190"/>
                  </a:lnTo>
                  <a:lnTo>
                    <a:pt x="44" y="182"/>
                  </a:lnTo>
                  <a:lnTo>
                    <a:pt x="32" y="170"/>
                  </a:lnTo>
                  <a:lnTo>
                    <a:pt x="24" y="159"/>
                  </a:lnTo>
                  <a:lnTo>
                    <a:pt x="15" y="146"/>
                  </a:lnTo>
                  <a:lnTo>
                    <a:pt x="10" y="131"/>
                  </a:lnTo>
                  <a:lnTo>
                    <a:pt x="7" y="116"/>
                  </a:lnTo>
                  <a:lnTo>
                    <a:pt x="5" y="99"/>
                  </a:lnTo>
                  <a:lnTo>
                    <a:pt x="7" y="83"/>
                  </a:lnTo>
                  <a:lnTo>
                    <a:pt x="10" y="68"/>
                  </a:lnTo>
                  <a:lnTo>
                    <a:pt x="15" y="53"/>
                  </a:lnTo>
                  <a:lnTo>
                    <a:pt x="24" y="40"/>
                  </a:lnTo>
                  <a:lnTo>
                    <a:pt x="32" y="28"/>
                  </a:lnTo>
                  <a:lnTo>
                    <a:pt x="44" y="16"/>
                  </a:lnTo>
                  <a:lnTo>
                    <a:pt x="55" y="6"/>
                  </a:lnTo>
                  <a:lnTo>
                    <a:pt x="68" y="0"/>
                  </a:lnTo>
                  <a:lnTo>
                    <a:pt x="58"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94" name="Freeform 235">
              <a:extLst>
                <a:ext uri="{FF2B5EF4-FFF2-40B4-BE49-F238E27FC236}">
                  <a16:creationId xmlns:a16="http://schemas.microsoft.com/office/drawing/2014/main" id="{6EB59583-A810-25A5-2800-180C22EBEFD4}"/>
                </a:ext>
              </a:extLst>
            </p:cNvPr>
            <p:cNvSpPr>
              <a:spLocks noEditPoints="1"/>
            </p:cNvSpPr>
            <p:nvPr/>
          </p:nvSpPr>
          <p:spPr bwMode="auto">
            <a:xfrm>
              <a:off x="1724" y="1514"/>
              <a:ext cx="225" cy="199"/>
            </a:xfrm>
            <a:custGeom>
              <a:avLst/>
              <a:gdLst>
                <a:gd name="T0" fmla="*/ 223 w 225"/>
                <a:gd name="T1" fmla="*/ 83 h 199"/>
                <a:gd name="T2" fmla="*/ 215 w 225"/>
                <a:gd name="T3" fmla="*/ 53 h 199"/>
                <a:gd name="T4" fmla="*/ 200 w 225"/>
                <a:gd name="T5" fmla="*/ 28 h 199"/>
                <a:gd name="T6" fmla="*/ 177 w 225"/>
                <a:gd name="T7" fmla="*/ 8 h 199"/>
                <a:gd name="T8" fmla="*/ 154 w 225"/>
                <a:gd name="T9" fmla="*/ 0 h 199"/>
                <a:gd name="T10" fmla="*/ 180 w 225"/>
                <a:gd name="T11" fmla="*/ 16 h 199"/>
                <a:gd name="T12" fmla="*/ 202 w 225"/>
                <a:gd name="T13" fmla="*/ 38 h 199"/>
                <a:gd name="T14" fmla="*/ 215 w 225"/>
                <a:gd name="T15" fmla="*/ 68 h 199"/>
                <a:gd name="T16" fmla="*/ 220 w 225"/>
                <a:gd name="T17" fmla="*/ 99 h 199"/>
                <a:gd name="T18" fmla="*/ 215 w 225"/>
                <a:gd name="T19" fmla="*/ 131 h 199"/>
                <a:gd name="T20" fmla="*/ 202 w 225"/>
                <a:gd name="T21" fmla="*/ 159 h 199"/>
                <a:gd name="T22" fmla="*/ 180 w 225"/>
                <a:gd name="T23" fmla="*/ 182 h 199"/>
                <a:gd name="T24" fmla="*/ 154 w 225"/>
                <a:gd name="T25" fmla="*/ 199 h 199"/>
                <a:gd name="T26" fmla="*/ 177 w 225"/>
                <a:gd name="T27" fmla="*/ 190 h 199"/>
                <a:gd name="T28" fmla="*/ 200 w 225"/>
                <a:gd name="T29" fmla="*/ 170 h 199"/>
                <a:gd name="T30" fmla="*/ 215 w 225"/>
                <a:gd name="T31" fmla="*/ 144 h 199"/>
                <a:gd name="T32" fmla="*/ 223 w 225"/>
                <a:gd name="T33" fmla="*/ 114 h 199"/>
                <a:gd name="T34" fmla="*/ 59 w 225"/>
                <a:gd name="T35" fmla="*/ 0 h 199"/>
                <a:gd name="T36" fmla="*/ 35 w 225"/>
                <a:gd name="T37" fmla="*/ 16 h 199"/>
                <a:gd name="T38" fmla="*/ 16 w 225"/>
                <a:gd name="T39" fmla="*/ 40 h 199"/>
                <a:gd name="T40" fmla="*/ 5 w 225"/>
                <a:gd name="T41" fmla="*/ 68 h 199"/>
                <a:gd name="T42" fmla="*/ 0 w 225"/>
                <a:gd name="T43" fmla="*/ 99 h 199"/>
                <a:gd name="T44" fmla="*/ 5 w 225"/>
                <a:gd name="T45" fmla="*/ 131 h 199"/>
                <a:gd name="T46" fmla="*/ 16 w 225"/>
                <a:gd name="T47" fmla="*/ 157 h 199"/>
                <a:gd name="T48" fmla="*/ 35 w 225"/>
                <a:gd name="T49" fmla="*/ 180 h 199"/>
                <a:gd name="T50" fmla="*/ 59 w 225"/>
                <a:gd name="T51" fmla="*/ 199 h 199"/>
                <a:gd name="T52" fmla="*/ 56 w 225"/>
                <a:gd name="T53" fmla="*/ 192 h 199"/>
                <a:gd name="T54" fmla="*/ 33 w 225"/>
                <a:gd name="T55" fmla="*/ 172 h 199"/>
                <a:gd name="T56" fmla="*/ 15 w 225"/>
                <a:gd name="T57" fmla="*/ 146 h 199"/>
                <a:gd name="T58" fmla="*/ 6 w 225"/>
                <a:gd name="T59" fmla="*/ 116 h 199"/>
                <a:gd name="T60" fmla="*/ 6 w 225"/>
                <a:gd name="T61" fmla="*/ 83 h 199"/>
                <a:gd name="T62" fmla="*/ 15 w 225"/>
                <a:gd name="T63" fmla="*/ 53 h 199"/>
                <a:gd name="T64" fmla="*/ 33 w 225"/>
                <a:gd name="T65" fmla="*/ 26 h 199"/>
                <a:gd name="T66" fmla="*/ 56 w 225"/>
                <a:gd name="T67" fmla="*/ 6 h 199"/>
                <a:gd name="T68" fmla="*/ 59 w 22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5" h="199">
                  <a:moveTo>
                    <a:pt x="225" y="99"/>
                  </a:moveTo>
                  <a:lnTo>
                    <a:pt x="223" y="83"/>
                  </a:lnTo>
                  <a:lnTo>
                    <a:pt x="220" y="68"/>
                  </a:lnTo>
                  <a:lnTo>
                    <a:pt x="215" y="53"/>
                  </a:lnTo>
                  <a:lnTo>
                    <a:pt x="208" y="40"/>
                  </a:lnTo>
                  <a:lnTo>
                    <a:pt x="200" y="28"/>
                  </a:lnTo>
                  <a:lnTo>
                    <a:pt x="189" y="16"/>
                  </a:lnTo>
                  <a:lnTo>
                    <a:pt x="177" y="8"/>
                  </a:lnTo>
                  <a:lnTo>
                    <a:pt x="165" y="0"/>
                  </a:lnTo>
                  <a:lnTo>
                    <a:pt x="154" y="0"/>
                  </a:lnTo>
                  <a:lnTo>
                    <a:pt x="167" y="6"/>
                  </a:lnTo>
                  <a:lnTo>
                    <a:pt x="180" y="16"/>
                  </a:lnTo>
                  <a:lnTo>
                    <a:pt x="192" y="26"/>
                  </a:lnTo>
                  <a:lnTo>
                    <a:pt x="202" y="38"/>
                  </a:lnTo>
                  <a:lnTo>
                    <a:pt x="208" y="53"/>
                  </a:lnTo>
                  <a:lnTo>
                    <a:pt x="215" y="68"/>
                  </a:lnTo>
                  <a:lnTo>
                    <a:pt x="218" y="83"/>
                  </a:lnTo>
                  <a:lnTo>
                    <a:pt x="220" y="99"/>
                  </a:lnTo>
                  <a:lnTo>
                    <a:pt x="218" y="116"/>
                  </a:lnTo>
                  <a:lnTo>
                    <a:pt x="215" y="131"/>
                  </a:lnTo>
                  <a:lnTo>
                    <a:pt x="208" y="146"/>
                  </a:lnTo>
                  <a:lnTo>
                    <a:pt x="202" y="159"/>
                  </a:lnTo>
                  <a:lnTo>
                    <a:pt x="192" y="172"/>
                  </a:lnTo>
                  <a:lnTo>
                    <a:pt x="180" y="182"/>
                  </a:lnTo>
                  <a:lnTo>
                    <a:pt x="167" y="192"/>
                  </a:lnTo>
                  <a:lnTo>
                    <a:pt x="154" y="199"/>
                  </a:lnTo>
                  <a:lnTo>
                    <a:pt x="165" y="199"/>
                  </a:lnTo>
                  <a:lnTo>
                    <a:pt x="177" y="190"/>
                  </a:lnTo>
                  <a:lnTo>
                    <a:pt x="189" y="180"/>
                  </a:lnTo>
                  <a:lnTo>
                    <a:pt x="200" y="170"/>
                  </a:lnTo>
                  <a:lnTo>
                    <a:pt x="208" y="157"/>
                  </a:lnTo>
                  <a:lnTo>
                    <a:pt x="215" y="144"/>
                  </a:lnTo>
                  <a:lnTo>
                    <a:pt x="220" y="131"/>
                  </a:lnTo>
                  <a:lnTo>
                    <a:pt x="223" y="114"/>
                  </a:lnTo>
                  <a:lnTo>
                    <a:pt x="225" y="99"/>
                  </a:lnTo>
                  <a:close/>
                  <a:moveTo>
                    <a:pt x="59" y="0"/>
                  </a:moveTo>
                  <a:lnTo>
                    <a:pt x="46" y="8"/>
                  </a:lnTo>
                  <a:lnTo>
                    <a:pt x="35" y="16"/>
                  </a:lnTo>
                  <a:lnTo>
                    <a:pt x="25" y="28"/>
                  </a:lnTo>
                  <a:lnTo>
                    <a:pt x="16" y="40"/>
                  </a:lnTo>
                  <a:lnTo>
                    <a:pt x="10" y="53"/>
                  </a:lnTo>
                  <a:lnTo>
                    <a:pt x="5" y="68"/>
                  </a:lnTo>
                  <a:lnTo>
                    <a:pt x="1" y="83"/>
                  </a:lnTo>
                  <a:lnTo>
                    <a:pt x="0" y="99"/>
                  </a:lnTo>
                  <a:lnTo>
                    <a:pt x="1" y="114"/>
                  </a:lnTo>
                  <a:lnTo>
                    <a:pt x="5" y="131"/>
                  </a:lnTo>
                  <a:lnTo>
                    <a:pt x="10" y="144"/>
                  </a:lnTo>
                  <a:lnTo>
                    <a:pt x="16" y="157"/>
                  </a:lnTo>
                  <a:lnTo>
                    <a:pt x="25" y="170"/>
                  </a:lnTo>
                  <a:lnTo>
                    <a:pt x="35" y="180"/>
                  </a:lnTo>
                  <a:lnTo>
                    <a:pt x="46" y="190"/>
                  </a:lnTo>
                  <a:lnTo>
                    <a:pt x="59" y="199"/>
                  </a:lnTo>
                  <a:lnTo>
                    <a:pt x="71" y="199"/>
                  </a:lnTo>
                  <a:lnTo>
                    <a:pt x="56" y="192"/>
                  </a:lnTo>
                  <a:lnTo>
                    <a:pt x="45" y="182"/>
                  </a:lnTo>
                  <a:lnTo>
                    <a:pt x="33" y="172"/>
                  </a:lnTo>
                  <a:lnTo>
                    <a:pt x="23" y="159"/>
                  </a:lnTo>
                  <a:lnTo>
                    <a:pt x="15" y="146"/>
                  </a:lnTo>
                  <a:lnTo>
                    <a:pt x="10" y="131"/>
                  </a:lnTo>
                  <a:lnTo>
                    <a:pt x="6" y="116"/>
                  </a:lnTo>
                  <a:lnTo>
                    <a:pt x="5" y="99"/>
                  </a:lnTo>
                  <a:lnTo>
                    <a:pt x="6" y="83"/>
                  </a:lnTo>
                  <a:lnTo>
                    <a:pt x="10" y="68"/>
                  </a:lnTo>
                  <a:lnTo>
                    <a:pt x="15" y="53"/>
                  </a:lnTo>
                  <a:lnTo>
                    <a:pt x="23" y="38"/>
                  </a:lnTo>
                  <a:lnTo>
                    <a:pt x="33" y="26"/>
                  </a:lnTo>
                  <a:lnTo>
                    <a:pt x="45" y="16"/>
                  </a:lnTo>
                  <a:lnTo>
                    <a:pt x="56" y="6"/>
                  </a:lnTo>
                  <a:lnTo>
                    <a:pt x="71" y="0"/>
                  </a:lnTo>
                  <a:lnTo>
                    <a:pt x="59"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95" name="Freeform 236">
              <a:extLst>
                <a:ext uri="{FF2B5EF4-FFF2-40B4-BE49-F238E27FC236}">
                  <a16:creationId xmlns:a16="http://schemas.microsoft.com/office/drawing/2014/main" id="{93D5D4A4-75E9-0E5C-E272-1698E1C00562}"/>
                </a:ext>
              </a:extLst>
            </p:cNvPr>
            <p:cNvSpPr>
              <a:spLocks noEditPoints="1"/>
            </p:cNvSpPr>
            <p:nvPr/>
          </p:nvSpPr>
          <p:spPr bwMode="auto">
            <a:xfrm>
              <a:off x="1725" y="1514"/>
              <a:ext cx="221" cy="199"/>
            </a:xfrm>
            <a:custGeom>
              <a:avLst/>
              <a:gdLst>
                <a:gd name="T0" fmla="*/ 221 w 221"/>
                <a:gd name="T1" fmla="*/ 83 h 199"/>
                <a:gd name="T2" fmla="*/ 211 w 221"/>
                <a:gd name="T3" fmla="*/ 53 h 199"/>
                <a:gd name="T4" fmla="*/ 194 w 221"/>
                <a:gd name="T5" fmla="*/ 28 h 199"/>
                <a:gd name="T6" fmla="*/ 173 w 221"/>
                <a:gd name="T7" fmla="*/ 6 h 199"/>
                <a:gd name="T8" fmla="*/ 146 w 221"/>
                <a:gd name="T9" fmla="*/ 0 h 199"/>
                <a:gd name="T10" fmla="*/ 174 w 221"/>
                <a:gd name="T11" fmla="*/ 15 h 199"/>
                <a:gd name="T12" fmla="*/ 198 w 221"/>
                <a:gd name="T13" fmla="*/ 38 h 199"/>
                <a:gd name="T14" fmla="*/ 211 w 221"/>
                <a:gd name="T15" fmla="*/ 66 h 199"/>
                <a:gd name="T16" fmla="*/ 216 w 221"/>
                <a:gd name="T17" fmla="*/ 99 h 199"/>
                <a:gd name="T18" fmla="*/ 211 w 221"/>
                <a:gd name="T19" fmla="*/ 132 h 199"/>
                <a:gd name="T20" fmla="*/ 198 w 221"/>
                <a:gd name="T21" fmla="*/ 160 h 199"/>
                <a:gd name="T22" fmla="*/ 174 w 221"/>
                <a:gd name="T23" fmla="*/ 184 h 199"/>
                <a:gd name="T24" fmla="*/ 146 w 221"/>
                <a:gd name="T25" fmla="*/ 199 h 199"/>
                <a:gd name="T26" fmla="*/ 173 w 221"/>
                <a:gd name="T27" fmla="*/ 190 h 199"/>
                <a:gd name="T28" fmla="*/ 194 w 221"/>
                <a:gd name="T29" fmla="*/ 170 h 199"/>
                <a:gd name="T30" fmla="*/ 211 w 221"/>
                <a:gd name="T31" fmla="*/ 146 h 199"/>
                <a:gd name="T32" fmla="*/ 221 w 221"/>
                <a:gd name="T33" fmla="*/ 116 h 199"/>
                <a:gd name="T34" fmla="*/ 63 w 221"/>
                <a:gd name="T35" fmla="*/ 0 h 199"/>
                <a:gd name="T36" fmla="*/ 39 w 221"/>
                <a:gd name="T37" fmla="*/ 16 h 199"/>
                <a:gd name="T38" fmla="*/ 19 w 221"/>
                <a:gd name="T39" fmla="*/ 40 h 199"/>
                <a:gd name="T40" fmla="*/ 5 w 221"/>
                <a:gd name="T41" fmla="*/ 68 h 199"/>
                <a:gd name="T42" fmla="*/ 0 w 221"/>
                <a:gd name="T43" fmla="*/ 99 h 199"/>
                <a:gd name="T44" fmla="*/ 5 w 221"/>
                <a:gd name="T45" fmla="*/ 131 h 199"/>
                <a:gd name="T46" fmla="*/ 19 w 221"/>
                <a:gd name="T47" fmla="*/ 159 h 199"/>
                <a:gd name="T48" fmla="*/ 39 w 221"/>
                <a:gd name="T49" fmla="*/ 182 h 199"/>
                <a:gd name="T50" fmla="*/ 63 w 221"/>
                <a:gd name="T51" fmla="*/ 199 h 199"/>
                <a:gd name="T52" fmla="*/ 62 w 221"/>
                <a:gd name="T53" fmla="*/ 192 h 199"/>
                <a:gd name="T54" fmla="*/ 35 w 221"/>
                <a:gd name="T55" fmla="*/ 172 h 199"/>
                <a:gd name="T56" fmla="*/ 17 w 221"/>
                <a:gd name="T57" fmla="*/ 147 h 199"/>
                <a:gd name="T58" fmla="*/ 7 w 221"/>
                <a:gd name="T59" fmla="*/ 116 h 199"/>
                <a:gd name="T60" fmla="*/ 7 w 221"/>
                <a:gd name="T61" fmla="*/ 83 h 199"/>
                <a:gd name="T62" fmla="*/ 17 w 221"/>
                <a:gd name="T63" fmla="*/ 51 h 199"/>
                <a:gd name="T64" fmla="*/ 35 w 221"/>
                <a:gd name="T65" fmla="*/ 25 h 199"/>
                <a:gd name="T66" fmla="*/ 62 w 221"/>
                <a:gd name="T67" fmla="*/ 6 h 199"/>
                <a:gd name="T68" fmla="*/ 63 w 22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1" h="199">
                  <a:moveTo>
                    <a:pt x="221" y="99"/>
                  </a:moveTo>
                  <a:lnTo>
                    <a:pt x="221" y="83"/>
                  </a:lnTo>
                  <a:lnTo>
                    <a:pt x="217" y="68"/>
                  </a:lnTo>
                  <a:lnTo>
                    <a:pt x="211" y="53"/>
                  </a:lnTo>
                  <a:lnTo>
                    <a:pt x="204" y="40"/>
                  </a:lnTo>
                  <a:lnTo>
                    <a:pt x="194" y="28"/>
                  </a:lnTo>
                  <a:lnTo>
                    <a:pt x="184" y="16"/>
                  </a:lnTo>
                  <a:lnTo>
                    <a:pt x="173" y="6"/>
                  </a:lnTo>
                  <a:lnTo>
                    <a:pt x="159" y="0"/>
                  </a:lnTo>
                  <a:lnTo>
                    <a:pt x="146" y="0"/>
                  </a:lnTo>
                  <a:lnTo>
                    <a:pt x="161" y="6"/>
                  </a:lnTo>
                  <a:lnTo>
                    <a:pt x="174" y="15"/>
                  </a:lnTo>
                  <a:lnTo>
                    <a:pt x="186" y="25"/>
                  </a:lnTo>
                  <a:lnTo>
                    <a:pt x="198" y="38"/>
                  </a:lnTo>
                  <a:lnTo>
                    <a:pt x="206" y="51"/>
                  </a:lnTo>
                  <a:lnTo>
                    <a:pt x="211" y="66"/>
                  </a:lnTo>
                  <a:lnTo>
                    <a:pt x="216" y="83"/>
                  </a:lnTo>
                  <a:lnTo>
                    <a:pt x="216" y="99"/>
                  </a:lnTo>
                  <a:lnTo>
                    <a:pt x="216" y="116"/>
                  </a:lnTo>
                  <a:lnTo>
                    <a:pt x="211" y="132"/>
                  </a:lnTo>
                  <a:lnTo>
                    <a:pt x="206" y="147"/>
                  </a:lnTo>
                  <a:lnTo>
                    <a:pt x="198" y="160"/>
                  </a:lnTo>
                  <a:lnTo>
                    <a:pt x="186" y="172"/>
                  </a:lnTo>
                  <a:lnTo>
                    <a:pt x="174" y="184"/>
                  </a:lnTo>
                  <a:lnTo>
                    <a:pt x="161" y="192"/>
                  </a:lnTo>
                  <a:lnTo>
                    <a:pt x="146" y="199"/>
                  </a:lnTo>
                  <a:lnTo>
                    <a:pt x="159" y="199"/>
                  </a:lnTo>
                  <a:lnTo>
                    <a:pt x="173" y="190"/>
                  </a:lnTo>
                  <a:lnTo>
                    <a:pt x="184" y="182"/>
                  </a:lnTo>
                  <a:lnTo>
                    <a:pt x="194" y="170"/>
                  </a:lnTo>
                  <a:lnTo>
                    <a:pt x="204" y="159"/>
                  </a:lnTo>
                  <a:lnTo>
                    <a:pt x="211" y="146"/>
                  </a:lnTo>
                  <a:lnTo>
                    <a:pt x="217" y="131"/>
                  </a:lnTo>
                  <a:lnTo>
                    <a:pt x="221" y="116"/>
                  </a:lnTo>
                  <a:lnTo>
                    <a:pt x="221" y="99"/>
                  </a:lnTo>
                  <a:close/>
                  <a:moveTo>
                    <a:pt x="63" y="0"/>
                  </a:moveTo>
                  <a:lnTo>
                    <a:pt x="50" y="6"/>
                  </a:lnTo>
                  <a:lnTo>
                    <a:pt x="39" y="16"/>
                  </a:lnTo>
                  <a:lnTo>
                    <a:pt x="27" y="28"/>
                  </a:lnTo>
                  <a:lnTo>
                    <a:pt x="19" y="40"/>
                  </a:lnTo>
                  <a:lnTo>
                    <a:pt x="10" y="53"/>
                  </a:lnTo>
                  <a:lnTo>
                    <a:pt x="5" y="68"/>
                  </a:lnTo>
                  <a:lnTo>
                    <a:pt x="2" y="83"/>
                  </a:lnTo>
                  <a:lnTo>
                    <a:pt x="0" y="99"/>
                  </a:lnTo>
                  <a:lnTo>
                    <a:pt x="2" y="116"/>
                  </a:lnTo>
                  <a:lnTo>
                    <a:pt x="5" y="131"/>
                  </a:lnTo>
                  <a:lnTo>
                    <a:pt x="10" y="146"/>
                  </a:lnTo>
                  <a:lnTo>
                    <a:pt x="19" y="159"/>
                  </a:lnTo>
                  <a:lnTo>
                    <a:pt x="27" y="170"/>
                  </a:lnTo>
                  <a:lnTo>
                    <a:pt x="39" y="182"/>
                  </a:lnTo>
                  <a:lnTo>
                    <a:pt x="50" y="190"/>
                  </a:lnTo>
                  <a:lnTo>
                    <a:pt x="63" y="199"/>
                  </a:lnTo>
                  <a:lnTo>
                    <a:pt x="77" y="199"/>
                  </a:lnTo>
                  <a:lnTo>
                    <a:pt x="62" y="192"/>
                  </a:lnTo>
                  <a:lnTo>
                    <a:pt x="48" y="184"/>
                  </a:lnTo>
                  <a:lnTo>
                    <a:pt x="35" y="172"/>
                  </a:lnTo>
                  <a:lnTo>
                    <a:pt x="25" y="160"/>
                  </a:lnTo>
                  <a:lnTo>
                    <a:pt x="17" y="147"/>
                  </a:lnTo>
                  <a:lnTo>
                    <a:pt x="10" y="132"/>
                  </a:lnTo>
                  <a:lnTo>
                    <a:pt x="7" y="116"/>
                  </a:lnTo>
                  <a:lnTo>
                    <a:pt x="5" y="99"/>
                  </a:lnTo>
                  <a:lnTo>
                    <a:pt x="7" y="83"/>
                  </a:lnTo>
                  <a:lnTo>
                    <a:pt x="10" y="66"/>
                  </a:lnTo>
                  <a:lnTo>
                    <a:pt x="17" y="51"/>
                  </a:lnTo>
                  <a:lnTo>
                    <a:pt x="25" y="38"/>
                  </a:lnTo>
                  <a:lnTo>
                    <a:pt x="35" y="25"/>
                  </a:lnTo>
                  <a:lnTo>
                    <a:pt x="48" y="15"/>
                  </a:lnTo>
                  <a:lnTo>
                    <a:pt x="62" y="6"/>
                  </a:lnTo>
                  <a:lnTo>
                    <a:pt x="77" y="0"/>
                  </a:lnTo>
                  <a:lnTo>
                    <a:pt x="63"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96" name="Freeform 237">
              <a:extLst>
                <a:ext uri="{FF2B5EF4-FFF2-40B4-BE49-F238E27FC236}">
                  <a16:creationId xmlns:a16="http://schemas.microsoft.com/office/drawing/2014/main" id="{2738078C-713A-7FD1-CB13-51A9FBA785F3}"/>
                </a:ext>
              </a:extLst>
            </p:cNvPr>
            <p:cNvSpPr>
              <a:spLocks noEditPoints="1"/>
            </p:cNvSpPr>
            <p:nvPr/>
          </p:nvSpPr>
          <p:spPr bwMode="auto">
            <a:xfrm>
              <a:off x="1729" y="1514"/>
              <a:ext cx="215" cy="199"/>
            </a:xfrm>
            <a:custGeom>
              <a:avLst/>
              <a:gdLst>
                <a:gd name="T0" fmla="*/ 213 w 215"/>
                <a:gd name="T1" fmla="*/ 83 h 199"/>
                <a:gd name="T2" fmla="*/ 203 w 215"/>
                <a:gd name="T3" fmla="*/ 53 h 199"/>
                <a:gd name="T4" fmla="*/ 187 w 215"/>
                <a:gd name="T5" fmla="*/ 26 h 199"/>
                <a:gd name="T6" fmla="*/ 162 w 215"/>
                <a:gd name="T7" fmla="*/ 6 h 199"/>
                <a:gd name="T8" fmla="*/ 134 w 215"/>
                <a:gd name="T9" fmla="*/ 0 h 199"/>
                <a:gd name="T10" fmla="*/ 164 w 215"/>
                <a:gd name="T11" fmla="*/ 13 h 199"/>
                <a:gd name="T12" fmla="*/ 189 w 215"/>
                <a:gd name="T13" fmla="*/ 36 h 199"/>
                <a:gd name="T14" fmla="*/ 205 w 215"/>
                <a:gd name="T15" fmla="*/ 64 h 199"/>
                <a:gd name="T16" fmla="*/ 210 w 215"/>
                <a:gd name="T17" fmla="*/ 99 h 199"/>
                <a:gd name="T18" fmla="*/ 205 w 215"/>
                <a:gd name="T19" fmla="*/ 132 h 199"/>
                <a:gd name="T20" fmla="*/ 189 w 215"/>
                <a:gd name="T21" fmla="*/ 162 h 199"/>
                <a:gd name="T22" fmla="*/ 164 w 215"/>
                <a:gd name="T23" fmla="*/ 185 h 199"/>
                <a:gd name="T24" fmla="*/ 134 w 215"/>
                <a:gd name="T25" fmla="*/ 199 h 199"/>
                <a:gd name="T26" fmla="*/ 162 w 215"/>
                <a:gd name="T27" fmla="*/ 192 h 199"/>
                <a:gd name="T28" fmla="*/ 187 w 215"/>
                <a:gd name="T29" fmla="*/ 172 h 199"/>
                <a:gd name="T30" fmla="*/ 203 w 215"/>
                <a:gd name="T31" fmla="*/ 146 h 199"/>
                <a:gd name="T32" fmla="*/ 213 w 215"/>
                <a:gd name="T33" fmla="*/ 116 h 199"/>
                <a:gd name="T34" fmla="*/ 66 w 215"/>
                <a:gd name="T35" fmla="*/ 0 h 199"/>
                <a:gd name="T36" fmla="*/ 40 w 215"/>
                <a:gd name="T37" fmla="*/ 16 h 199"/>
                <a:gd name="T38" fmla="*/ 18 w 215"/>
                <a:gd name="T39" fmla="*/ 38 h 199"/>
                <a:gd name="T40" fmla="*/ 5 w 215"/>
                <a:gd name="T41" fmla="*/ 68 h 199"/>
                <a:gd name="T42" fmla="*/ 0 w 215"/>
                <a:gd name="T43" fmla="*/ 99 h 199"/>
                <a:gd name="T44" fmla="*/ 5 w 215"/>
                <a:gd name="T45" fmla="*/ 131 h 199"/>
                <a:gd name="T46" fmla="*/ 18 w 215"/>
                <a:gd name="T47" fmla="*/ 159 h 199"/>
                <a:gd name="T48" fmla="*/ 40 w 215"/>
                <a:gd name="T49" fmla="*/ 182 h 199"/>
                <a:gd name="T50" fmla="*/ 66 w 215"/>
                <a:gd name="T51" fmla="*/ 199 h 199"/>
                <a:gd name="T52" fmla="*/ 64 w 215"/>
                <a:gd name="T53" fmla="*/ 192 h 199"/>
                <a:gd name="T54" fmla="*/ 36 w 215"/>
                <a:gd name="T55" fmla="*/ 174 h 199"/>
                <a:gd name="T56" fmla="*/ 16 w 215"/>
                <a:gd name="T57" fmla="*/ 149 h 199"/>
                <a:gd name="T58" fmla="*/ 6 w 215"/>
                <a:gd name="T59" fmla="*/ 116 h 199"/>
                <a:gd name="T60" fmla="*/ 6 w 215"/>
                <a:gd name="T61" fmla="*/ 81 h 199"/>
                <a:gd name="T62" fmla="*/ 16 w 215"/>
                <a:gd name="T63" fmla="*/ 50 h 199"/>
                <a:gd name="T64" fmla="*/ 36 w 215"/>
                <a:gd name="T65" fmla="*/ 23 h 199"/>
                <a:gd name="T66" fmla="*/ 64 w 215"/>
                <a:gd name="T67" fmla="*/ 5 h 199"/>
                <a:gd name="T68" fmla="*/ 66 w 21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5" h="199">
                  <a:moveTo>
                    <a:pt x="215" y="99"/>
                  </a:moveTo>
                  <a:lnTo>
                    <a:pt x="213" y="83"/>
                  </a:lnTo>
                  <a:lnTo>
                    <a:pt x="210" y="68"/>
                  </a:lnTo>
                  <a:lnTo>
                    <a:pt x="203" y="53"/>
                  </a:lnTo>
                  <a:lnTo>
                    <a:pt x="197" y="38"/>
                  </a:lnTo>
                  <a:lnTo>
                    <a:pt x="187" y="26"/>
                  </a:lnTo>
                  <a:lnTo>
                    <a:pt x="175" y="16"/>
                  </a:lnTo>
                  <a:lnTo>
                    <a:pt x="162" y="6"/>
                  </a:lnTo>
                  <a:lnTo>
                    <a:pt x="149" y="0"/>
                  </a:lnTo>
                  <a:lnTo>
                    <a:pt x="134" y="0"/>
                  </a:lnTo>
                  <a:lnTo>
                    <a:pt x="150" y="5"/>
                  </a:lnTo>
                  <a:lnTo>
                    <a:pt x="164" y="13"/>
                  </a:lnTo>
                  <a:lnTo>
                    <a:pt x="177" y="23"/>
                  </a:lnTo>
                  <a:lnTo>
                    <a:pt x="189" y="36"/>
                  </a:lnTo>
                  <a:lnTo>
                    <a:pt x="197" y="50"/>
                  </a:lnTo>
                  <a:lnTo>
                    <a:pt x="205" y="64"/>
                  </a:lnTo>
                  <a:lnTo>
                    <a:pt x="208" y="81"/>
                  </a:lnTo>
                  <a:lnTo>
                    <a:pt x="210" y="99"/>
                  </a:lnTo>
                  <a:lnTo>
                    <a:pt x="208" y="116"/>
                  </a:lnTo>
                  <a:lnTo>
                    <a:pt x="205" y="132"/>
                  </a:lnTo>
                  <a:lnTo>
                    <a:pt x="197" y="149"/>
                  </a:lnTo>
                  <a:lnTo>
                    <a:pt x="189" y="162"/>
                  </a:lnTo>
                  <a:lnTo>
                    <a:pt x="177" y="174"/>
                  </a:lnTo>
                  <a:lnTo>
                    <a:pt x="164" y="185"/>
                  </a:lnTo>
                  <a:lnTo>
                    <a:pt x="150" y="192"/>
                  </a:lnTo>
                  <a:lnTo>
                    <a:pt x="134" y="199"/>
                  </a:lnTo>
                  <a:lnTo>
                    <a:pt x="149" y="199"/>
                  </a:lnTo>
                  <a:lnTo>
                    <a:pt x="162" y="192"/>
                  </a:lnTo>
                  <a:lnTo>
                    <a:pt x="175" y="182"/>
                  </a:lnTo>
                  <a:lnTo>
                    <a:pt x="187" y="172"/>
                  </a:lnTo>
                  <a:lnTo>
                    <a:pt x="197" y="159"/>
                  </a:lnTo>
                  <a:lnTo>
                    <a:pt x="203" y="146"/>
                  </a:lnTo>
                  <a:lnTo>
                    <a:pt x="210" y="131"/>
                  </a:lnTo>
                  <a:lnTo>
                    <a:pt x="213" y="116"/>
                  </a:lnTo>
                  <a:lnTo>
                    <a:pt x="215" y="99"/>
                  </a:lnTo>
                  <a:close/>
                  <a:moveTo>
                    <a:pt x="66" y="0"/>
                  </a:moveTo>
                  <a:lnTo>
                    <a:pt x="51" y="6"/>
                  </a:lnTo>
                  <a:lnTo>
                    <a:pt x="40" y="16"/>
                  </a:lnTo>
                  <a:lnTo>
                    <a:pt x="28" y="26"/>
                  </a:lnTo>
                  <a:lnTo>
                    <a:pt x="18" y="38"/>
                  </a:lnTo>
                  <a:lnTo>
                    <a:pt x="10" y="53"/>
                  </a:lnTo>
                  <a:lnTo>
                    <a:pt x="5" y="68"/>
                  </a:lnTo>
                  <a:lnTo>
                    <a:pt x="1" y="83"/>
                  </a:lnTo>
                  <a:lnTo>
                    <a:pt x="0" y="99"/>
                  </a:lnTo>
                  <a:lnTo>
                    <a:pt x="1" y="116"/>
                  </a:lnTo>
                  <a:lnTo>
                    <a:pt x="5" y="131"/>
                  </a:lnTo>
                  <a:lnTo>
                    <a:pt x="10" y="146"/>
                  </a:lnTo>
                  <a:lnTo>
                    <a:pt x="18" y="159"/>
                  </a:lnTo>
                  <a:lnTo>
                    <a:pt x="28" y="172"/>
                  </a:lnTo>
                  <a:lnTo>
                    <a:pt x="40" y="182"/>
                  </a:lnTo>
                  <a:lnTo>
                    <a:pt x="51" y="192"/>
                  </a:lnTo>
                  <a:lnTo>
                    <a:pt x="66" y="199"/>
                  </a:lnTo>
                  <a:lnTo>
                    <a:pt x="81" y="199"/>
                  </a:lnTo>
                  <a:lnTo>
                    <a:pt x="64" y="192"/>
                  </a:lnTo>
                  <a:lnTo>
                    <a:pt x="49" y="185"/>
                  </a:lnTo>
                  <a:lnTo>
                    <a:pt x="36" y="174"/>
                  </a:lnTo>
                  <a:lnTo>
                    <a:pt x="26" y="162"/>
                  </a:lnTo>
                  <a:lnTo>
                    <a:pt x="16" y="149"/>
                  </a:lnTo>
                  <a:lnTo>
                    <a:pt x="10" y="132"/>
                  </a:lnTo>
                  <a:lnTo>
                    <a:pt x="6" y="116"/>
                  </a:lnTo>
                  <a:lnTo>
                    <a:pt x="5" y="99"/>
                  </a:lnTo>
                  <a:lnTo>
                    <a:pt x="6" y="81"/>
                  </a:lnTo>
                  <a:lnTo>
                    <a:pt x="10" y="64"/>
                  </a:lnTo>
                  <a:lnTo>
                    <a:pt x="16" y="50"/>
                  </a:lnTo>
                  <a:lnTo>
                    <a:pt x="26" y="36"/>
                  </a:lnTo>
                  <a:lnTo>
                    <a:pt x="36" y="23"/>
                  </a:lnTo>
                  <a:lnTo>
                    <a:pt x="49" y="13"/>
                  </a:lnTo>
                  <a:lnTo>
                    <a:pt x="64" y="5"/>
                  </a:lnTo>
                  <a:lnTo>
                    <a:pt x="81" y="0"/>
                  </a:lnTo>
                  <a:lnTo>
                    <a:pt x="66"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97" name="Freeform 238">
              <a:extLst>
                <a:ext uri="{FF2B5EF4-FFF2-40B4-BE49-F238E27FC236}">
                  <a16:creationId xmlns:a16="http://schemas.microsoft.com/office/drawing/2014/main" id="{6CCB5A2D-672F-42D6-B28A-5AE3BF982C1C}"/>
                </a:ext>
              </a:extLst>
            </p:cNvPr>
            <p:cNvSpPr>
              <a:spLocks noEditPoints="1"/>
            </p:cNvSpPr>
            <p:nvPr/>
          </p:nvSpPr>
          <p:spPr bwMode="auto">
            <a:xfrm>
              <a:off x="1730" y="1514"/>
              <a:ext cx="211" cy="199"/>
            </a:xfrm>
            <a:custGeom>
              <a:avLst/>
              <a:gdLst>
                <a:gd name="T0" fmla="*/ 211 w 211"/>
                <a:gd name="T1" fmla="*/ 83 h 199"/>
                <a:gd name="T2" fmla="*/ 201 w 211"/>
                <a:gd name="T3" fmla="*/ 51 h 199"/>
                <a:gd name="T4" fmla="*/ 181 w 211"/>
                <a:gd name="T5" fmla="*/ 25 h 199"/>
                <a:gd name="T6" fmla="*/ 156 w 211"/>
                <a:gd name="T7" fmla="*/ 6 h 199"/>
                <a:gd name="T8" fmla="*/ 121 w 211"/>
                <a:gd name="T9" fmla="*/ 0 h 199"/>
                <a:gd name="T10" fmla="*/ 154 w 211"/>
                <a:gd name="T11" fmla="*/ 11 h 199"/>
                <a:gd name="T12" fmla="*/ 183 w 211"/>
                <a:gd name="T13" fmla="*/ 33 h 199"/>
                <a:gd name="T14" fmla="*/ 201 w 211"/>
                <a:gd name="T15" fmla="*/ 63 h 199"/>
                <a:gd name="T16" fmla="*/ 207 w 211"/>
                <a:gd name="T17" fmla="*/ 99 h 199"/>
                <a:gd name="T18" fmla="*/ 201 w 211"/>
                <a:gd name="T19" fmla="*/ 134 h 199"/>
                <a:gd name="T20" fmla="*/ 183 w 211"/>
                <a:gd name="T21" fmla="*/ 165 h 199"/>
                <a:gd name="T22" fmla="*/ 156 w 211"/>
                <a:gd name="T23" fmla="*/ 187 h 199"/>
                <a:gd name="T24" fmla="*/ 121 w 211"/>
                <a:gd name="T25" fmla="*/ 199 h 199"/>
                <a:gd name="T26" fmla="*/ 156 w 211"/>
                <a:gd name="T27" fmla="*/ 192 h 199"/>
                <a:gd name="T28" fmla="*/ 181 w 211"/>
                <a:gd name="T29" fmla="*/ 172 h 199"/>
                <a:gd name="T30" fmla="*/ 201 w 211"/>
                <a:gd name="T31" fmla="*/ 147 h 199"/>
                <a:gd name="T32" fmla="*/ 211 w 211"/>
                <a:gd name="T33" fmla="*/ 116 h 199"/>
                <a:gd name="T34" fmla="*/ 72 w 211"/>
                <a:gd name="T35" fmla="*/ 0 h 199"/>
                <a:gd name="T36" fmla="*/ 43 w 211"/>
                <a:gd name="T37" fmla="*/ 15 h 199"/>
                <a:gd name="T38" fmla="*/ 20 w 211"/>
                <a:gd name="T39" fmla="*/ 38 h 199"/>
                <a:gd name="T40" fmla="*/ 5 w 211"/>
                <a:gd name="T41" fmla="*/ 66 h 199"/>
                <a:gd name="T42" fmla="*/ 0 w 211"/>
                <a:gd name="T43" fmla="*/ 99 h 199"/>
                <a:gd name="T44" fmla="*/ 5 w 211"/>
                <a:gd name="T45" fmla="*/ 132 h 199"/>
                <a:gd name="T46" fmla="*/ 20 w 211"/>
                <a:gd name="T47" fmla="*/ 160 h 199"/>
                <a:gd name="T48" fmla="*/ 43 w 211"/>
                <a:gd name="T49" fmla="*/ 184 h 199"/>
                <a:gd name="T50" fmla="*/ 72 w 211"/>
                <a:gd name="T51" fmla="*/ 199 h 199"/>
                <a:gd name="T52" fmla="*/ 73 w 211"/>
                <a:gd name="T53" fmla="*/ 194 h 199"/>
                <a:gd name="T54" fmla="*/ 42 w 211"/>
                <a:gd name="T55" fmla="*/ 177 h 199"/>
                <a:gd name="T56" fmla="*/ 20 w 211"/>
                <a:gd name="T57" fmla="*/ 151 h 199"/>
                <a:gd name="T58" fmla="*/ 7 w 211"/>
                <a:gd name="T59" fmla="*/ 117 h 199"/>
                <a:gd name="T60" fmla="*/ 7 w 211"/>
                <a:gd name="T61" fmla="*/ 81 h 199"/>
                <a:gd name="T62" fmla="*/ 20 w 211"/>
                <a:gd name="T63" fmla="*/ 48 h 199"/>
                <a:gd name="T64" fmla="*/ 42 w 211"/>
                <a:gd name="T65" fmla="*/ 21 h 199"/>
                <a:gd name="T66" fmla="*/ 73 w 211"/>
                <a:gd name="T67" fmla="*/ 3 h 199"/>
                <a:gd name="T68" fmla="*/ 72 w 21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1" h="199">
                  <a:moveTo>
                    <a:pt x="211" y="99"/>
                  </a:moveTo>
                  <a:lnTo>
                    <a:pt x="211" y="83"/>
                  </a:lnTo>
                  <a:lnTo>
                    <a:pt x="206" y="66"/>
                  </a:lnTo>
                  <a:lnTo>
                    <a:pt x="201" y="51"/>
                  </a:lnTo>
                  <a:lnTo>
                    <a:pt x="193" y="38"/>
                  </a:lnTo>
                  <a:lnTo>
                    <a:pt x="181" y="25"/>
                  </a:lnTo>
                  <a:lnTo>
                    <a:pt x="169" y="15"/>
                  </a:lnTo>
                  <a:lnTo>
                    <a:pt x="156" y="6"/>
                  </a:lnTo>
                  <a:lnTo>
                    <a:pt x="141" y="0"/>
                  </a:lnTo>
                  <a:lnTo>
                    <a:pt x="121" y="0"/>
                  </a:lnTo>
                  <a:lnTo>
                    <a:pt x="140" y="3"/>
                  </a:lnTo>
                  <a:lnTo>
                    <a:pt x="154" y="11"/>
                  </a:lnTo>
                  <a:lnTo>
                    <a:pt x="169" y="21"/>
                  </a:lnTo>
                  <a:lnTo>
                    <a:pt x="183" y="33"/>
                  </a:lnTo>
                  <a:lnTo>
                    <a:pt x="193" y="48"/>
                  </a:lnTo>
                  <a:lnTo>
                    <a:pt x="201" y="63"/>
                  </a:lnTo>
                  <a:lnTo>
                    <a:pt x="206" y="81"/>
                  </a:lnTo>
                  <a:lnTo>
                    <a:pt x="207" y="99"/>
                  </a:lnTo>
                  <a:lnTo>
                    <a:pt x="206" y="117"/>
                  </a:lnTo>
                  <a:lnTo>
                    <a:pt x="201" y="134"/>
                  </a:lnTo>
                  <a:lnTo>
                    <a:pt x="193" y="151"/>
                  </a:lnTo>
                  <a:lnTo>
                    <a:pt x="183" y="165"/>
                  </a:lnTo>
                  <a:lnTo>
                    <a:pt x="169" y="177"/>
                  </a:lnTo>
                  <a:lnTo>
                    <a:pt x="156" y="187"/>
                  </a:lnTo>
                  <a:lnTo>
                    <a:pt x="140" y="194"/>
                  </a:lnTo>
                  <a:lnTo>
                    <a:pt x="121" y="199"/>
                  </a:lnTo>
                  <a:lnTo>
                    <a:pt x="141" y="199"/>
                  </a:lnTo>
                  <a:lnTo>
                    <a:pt x="156" y="192"/>
                  </a:lnTo>
                  <a:lnTo>
                    <a:pt x="169" y="184"/>
                  </a:lnTo>
                  <a:lnTo>
                    <a:pt x="181" y="172"/>
                  </a:lnTo>
                  <a:lnTo>
                    <a:pt x="193" y="160"/>
                  </a:lnTo>
                  <a:lnTo>
                    <a:pt x="201" y="147"/>
                  </a:lnTo>
                  <a:lnTo>
                    <a:pt x="206" y="132"/>
                  </a:lnTo>
                  <a:lnTo>
                    <a:pt x="211" y="116"/>
                  </a:lnTo>
                  <a:lnTo>
                    <a:pt x="211" y="99"/>
                  </a:lnTo>
                  <a:close/>
                  <a:moveTo>
                    <a:pt x="72" y="0"/>
                  </a:moveTo>
                  <a:lnTo>
                    <a:pt x="57" y="6"/>
                  </a:lnTo>
                  <a:lnTo>
                    <a:pt x="43" y="15"/>
                  </a:lnTo>
                  <a:lnTo>
                    <a:pt x="30" y="25"/>
                  </a:lnTo>
                  <a:lnTo>
                    <a:pt x="20" y="38"/>
                  </a:lnTo>
                  <a:lnTo>
                    <a:pt x="12" y="51"/>
                  </a:lnTo>
                  <a:lnTo>
                    <a:pt x="5" y="66"/>
                  </a:lnTo>
                  <a:lnTo>
                    <a:pt x="2" y="83"/>
                  </a:lnTo>
                  <a:lnTo>
                    <a:pt x="0" y="99"/>
                  </a:lnTo>
                  <a:lnTo>
                    <a:pt x="2" y="116"/>
                  </a:lnTo>
                  <a:lnTo>
                    <a:pt x="5" y="132"/>
                  </a:lnTo>
                  <a:lnTo>
                    <a:pt x="12" y="147"/>
                  </a:lnTo>
                  <a:lnTo>
                    <a:pt x="20" y="160"/>
                  </a:lnTo>
                  <a:lnTo>
                    <a:pt x="30" y="172"/>
                  </a:lnTo>
                  <a:lnTo>
                    <a:pt x="43" y="184"/>
                  </a:lnTo>
                  <a:lnTo>
                    <a:pt x="57" y="192"/>
                  </a:lnTo>
                  <a:lnTo>
                    <a:pt x="72" y="199"/>
                  </a:lnTo>
                  <a:lnTo>
                    <a:pt x="90" y="199"/>
                  </a:lnTo>
                  <a:lnTo>
                    <a:pt x="73" y="194"/>
                  </a:lnTo>
                  <a:lnTo>
                    <a:pt x="57" y="187"/>
                  </a:lnTo>
                  <a:lnTo>
                    <a:pt x="42" y="177"/>
                  </a:lnTo>
                  <a:lnTo>
                    <a:pt x="30" y="165"/>
                  </a:lnTo>
                  <a:lnTo>
                    <a:pt x="20" y="151"/>
                  </a:lnTo>
                  <a:lnTo>
                    <a:pt x="12" y="134"/>
                  </a:lnTo>
                  <a:lnTo>
                    <a:pt x="7" y="117"/>
                  </a:lnTo>
                  <a:lnTo>
                    <a:pt x="5" y="99"/>
                  </a:lnTo>
                  <a:lnTo>
                    <a:pt x="7" y="81"/>
                  </a:lnTo>
                  <a:lnTo>
                    <a:pt x="12" y="63"/>
                  </a:lnTo>
                  <a:lnTo>
                    <a:pt x="20" y="48"/>
                  </a:lnTo>
                  <a:lnTo>
                    <a:pt x="30" y="33"/>
                  </a:lnTo>
                  <a:lnTo>
                    <a:pt x="42" y="21"/>
                  </a:lnTo>
                  <a:lnTo>
                    <a:pt x="57" y="11"/>
                  </a:lnTo>
                  <a:lnTo>
                    <a:pt x="73" y="3"/>
                  </a:lnTo>
                  <a:lnTo>
                    <a:pt x="92" y="0"/>
                  </a:lnTo>
                  <a:lnTo>
                    <a:pt x="72"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98" name="Freeform 239">
              <a:extLst>
                <a:ext uri="{FF2B5EF4-FFF2-40B4-BE49-F238E27FC236}">
                  <a16:creationId xmlns:a16="http://schemas.microsoft.com/office/drawing/2014/main" id="{28140319-20A8-B27A-FBAF-03266B47EE81}"/>
                </a:ext>
              </a:extLst>
            </p:cNvPr>
            <p:cNvSpPr>
              <a:spLocks noEditPoints="1"/>
            </p:cNvSpPr>
            <p:nvPr/>
          </p:nvSpPr>
          <p:spPr bwMode="auto">
            <a:xfrm>
              <a:off x="1734" y="1514"/>
              <a:ext cx="205" cy="199"/>
            </a:xfrm>
            <a:custGeom>
              <a:avLst/>
              <a:gdLst>
                <a:gd name="T0" fmla="*/ 203 w 205"/>
                <a:gd name="T1" fmla="*/ 81 h 199"/>
                <a:gd name="T2" fmla="*/ 192 w 205"/>
                <a:gd name="T3" fmla="*/ 50 h 199"/>
                <a:gd name="T4" fmla="*/ 172 w 205"/>
                <a:gd name="T5" fmla="*/ 23 h 199"/>
                <a:gd name="T6" fmla="*/ 145 w 205"/>
                <a:gd name="T7" fmla="*/ 5 h 199"/>
                <a:gd name="T8" fmla="*/ 76 w 205"/>
                <a:gd name="T9" fmla="*/ 0 h 199"/>
                <a:gd name="T10" fmla="*/ 44 w 205"/>
                <a:gd name="T11" fmla="*/ 13 h 199"/>
                <a:gd name="T12" fmla="*/ 21 w 205"/>
                <a:gd name="T13" fmla="*/ 36 h 199"/>
                <a:gd name="T14" fmla="*/ 5 w 205"/>
                <a:gd name="T15" fmla="*/ 64 h 199"/>
                <a:gd name="T16" fmla="*/ 0 w 205"/>
                <a:gd name="T17" fmla="*/ 99 h 199"/>
                <a:gd name="T18" fmla="*/ 5 w 205"/>
                <a:gd name="T19" fmla="*/ 132 h 199"/>
                <a:gd name="T20" fmla="*/ 21 w 205"/>
                <a:gd name="T21" fmla="*/ 162 h 199"/>
                <a:gd name="T22" fmla="*/ 44 w 205"/>
                <a:gd name="T23" fmla="*/ 185 h 199"/>
                <a:gd name="T24" fmla="*/ 76 w 205"/>
                <a:gd name="T25" fmla="*/ 199 h 199"/>
                <a:gd name="T26" fmla="*/ 145 w 205"/>
                <a:gd name="T27" fmla="*/ 192 h 199"/>
                <a:gd name="T28" fmla="*/ 172 w 205"/>
                <a:gd name="T29" fmla="*/ 174 h 199"/>
                <a:gd name="T30" fmla="*/ 192 w 205"/>
                <a:gd name="T31" fmla="*/ 149 h 199"/>
                <a:gd name="T32" fmla="*/ 203 w 205"/>
                <a:gd name="T33" fmla="*/ 116 h 199"/>
                <a:gd name="T34" fmla="*/ 200 w 205"/>
                <a:gd name="T35" fmla="*/ 99 h 199"/>
                <a:gd name="T36" fmla="*/ 198 w 205"/>
                <a:gd name="T37" fmla="*/ 119 h 199"/>
                <a:gd name="T38" fmla="*/ 192 w 205"/>
                <a:gd name="T39" fmla="*/ 137 h 199"/>
                <a:gd name="T40" fmla="*/ 184 w 205"/>
                <a:gd name="T41" fmla="*/ 154 h 199"/>
                <a:gd name="T42" fmla="*/ 172 w 205"/>
                <a:gd name="T43" fmla="*/ 169 h 199"/>
                <a:gd name="T44" fmla="*/ 157 w 205"/>
                <a:gd name="T45" fmla="*/ 180 h 199"/>
                <a:gd name="T46" fmla="*/ 140 w 205"/>
                <a:gd name="T47" fmla="*/ 190 h 199"/>
                <a:gd name="T48" fmla="*/ 122 w 205"/>
                <a:gd name="T49" fmla="*/ 195 h 199"/>
                <a:gd name="T50" fmla="*/ 102 w 205"/>
                <a:gd name="T51" fmla="*/ 197 h 199"/>
                <a:gd name="T52" fmla="*/ 83 w 205"/>
                <a:gd name="T53" fmla="*/ 195 h 199"/>
                <a:gd name="T54" fmla="*/ 64 w 205"/>
                <a:gd name="T55" fmla="*/ 190 h 199"/>
                <a:gd name="T56" fmla="*/ 48 w 205"/>
                <a:gd name="T57" fmla="*/ 180 h 199"/>
                <a:gd name="T58" fmla="*/ 33 w 205"/>
                <a:gd name="T59" fmla="*/ 169 h 199"/>
                <a:gd name="T60" fmla="*/ 21 w 205"/>
                <a:gd name="T61" fmla="*/ 154 h 199"/>
                <a:gd name="T62" fmla="*/ 11 w 205"/>
                <a:gd name="T63" fmla="*/ 137 h 199"/>
                <a:gd name="T64" fmla="*/ 6 w 205"/>
                <a:gd name="T65" fmla="*/ 119 h 199"/>
                <a:gd name="T66" fmla="*/ 5 w 205"/>
                <a:gd name="T67" fmla="*/ 99 h 199"/>
                <a:gd name="T68" fmla="*/ 6 w 205"/>
                <a:gd name="T69" fmla="*/ 79 h 199"/>
                <a:gd name="T70" fmla="*/ 11 w 205"/>
                <a:gd name="T71" fmla="*/ 61 h 199"/>
                <a:gd name="T72" fmla="*/ 21 w 205"/>
                <a:gd name="T73" fmla="*/ 45 h 199"/>
                <a:gd name="T74" fmla="*/ 33 w 205"/>
                <a:gd name="T75" fmla="*/ 30 h 199"/>
                <a:gd name="T76" fmla="*/ 48 w 205"/>
                <a:gd name="T77" fmla="*/ 18 h 199"/>
                <a:gd name="T78" fmla="*/ 64 w 205"/>
                <a:gd name="T79" fmla="*/ 8 h 199"/>
                <a:gd name="T80" fmla="*/ 83 w 205"/>
                <a:gd name="T81" fmla="*/ 3 h 199"/>
                <a:gd name="T82" fmla="*/ 102 w 205"/>
                <a:gd name="T83" fmla="*/ 1 h 199"/>
                <a:gd name="T84" fmla="*/ 122 w 205"/>
                <a:gd name="T85" fmla="*/ 3 h 199"/>
                <a:gd name="T86" fmla="*/ 140 w 205"/>
                <a:gd name="T87" fmla="*/ 8 h 199"/>
                <a:gd name="T88" fmla="*/ 157 w 205"/>
                <a:gd name="T89" fmla="*/ 18 h 199"/>
                <a:gd name="T90" fmla="*/ 172 w 205"/>
                <a:gd name="T91" fmla="*/ 30 h 199"/>
                <a:gd name="T92" fmla="*/ 184 w 205"/>
                <a:gd name="T93" fmla="*/ 45 h 199"/>
                <a:gd name="T94" fmla="*/ 192 w 205"/>
                <a:gd name="T95" fmla="*/ 61 h 199"/>
                <a:gd name="T96" fmla="*/ 198 w 205"/>
                <a:gd name="T97" fmla="*/ 79 h 199"/>
                <a:gd name="T98" fmla="*/ 200 w 205"/>
                <a:gd name="T99" fmla="*/ 9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5" h="199">
                  <a:moveTo>
                    <a:pt x="205" y="99"/>
                  </a:moveTo>
                  <a:lnTo>
                    <a:pt x="203" y="81"/>
                  </a:lnTo>
                  <a:lnTo>
                    <a:pt x="200" y="64"/>
                  </a:lnTo>
                  <a:lnTo>
                    <a:pt x="192" y="50"/>
                  </a:lnTo>
                  <a:lnTo>
                    <a:pt x="184" y="36"/>
                  </a:lnTo>
                  <a:lnTo>
                    <a:pt x="172" y="23"/>
                  </a:lnTo>
                  <a:lnTo>
                    <a:pt x="159" y="13"/>
                  </a:lnTo>
                  <a:lnTo>
                    <a:pt x="145" y="5"/>
                  </a:lnTo>
                  <a:lnTo>
                    <a:pt x="129" y="0"/>
                  </a:lnTo>
                  <a:lnTo>
                    <a:pt x="76" y="0"/>
                  </a:lnTo>
                  <a:lnTo>
                    <a:pt x="59" y="5"/>
                  </a:lnTo>
                  <a:lnTo>
                    <a:pt x="44" y="13"/>
                  </a:lnTo>
                  <a:lnTo>
                    <a:pt x="31" y="23"/>
                  </a:lnTo>
                  <a:lnTo>
                    <a:pt x="21" y="36"/>
                  </a:lnTo>
                  <a:lnTo>
                    <a:pt x="11" y="50"/>
                  </a:lnTo>
                  <a:lnTo>
                    <a:pt x="5" y="64"/>
                  </a:lnTo>
                  <a:lnTo>
                    <a:pt x="1" y="81"/>
                  </a:lnTo>
                  <a:lnTo>
                    <a:pt x="0" y="99"/>
                  </a:lnTo>
                  <a:lnTo>
                    <a:pt x="1" y="116"/>
                  </a:lnTo>
                  <a:lnTo>
                    <a:pt x="5" y="132"/>
                  </a:lnTo>
                  <a:lnTo>
                    <a:pt x="11" y="149"/>
                  </a:lnTo>
                  <a:lnTo>
                    <a:pt x="21" y="162"/>
                  </a:lnTo>
                  <a:lnTo>
                    <a:pt x="31" y="174"/>
                  </a:lnTo>
                  <a:lnTo>
                    <a:pt x="44" y="185"/>
                  </a:lnTo>
                  <a:lnTo>
                    <a:pt x="59" y="192"/>
                  </a:lnTo>
                  <a:lnTo>
                    <a:pt x="76" y="199"/>
                  </a:lnTo>
                  <a:lnTo>
                    <a:pt x="129" y="199"/>
                  </a:lnTo>
                  <a:lnTo>
                    <a:pt x="145" y="192"/>
                  </a:lnTo>
                  <a:lnTo>
                    <a:pt x="159" y="185"/>
                  </a:lnTo>
                  <a:lnTo>
                    <a:pt x="172" y="174"/>
                  </a:lnTo>
                  <a:lnTo>
                    <a:pt x="184" y="162"/>
                  </a:lnTo>
                  <a:lnTo>
                    <a:pt x="192" y="149"/>
                  </a:lnTo>
                  <a:lnTo>
                    <a:pt x="200" y="132"/>
                  </a:lnTo>
                  <a:lnTo>
                    <a:pt x="203" y="116"/>
                  </a:lnTo>
                  <a:lnTo>
                    <a:pt x="205" y="99"/>
                  </a:lnTo>
                  <a:close/>
                  <a:moveTo>
                    <a:pt x="200" y="99"/>
                  </a:moveTo>
                  <a:lnTo>
                    <a:pt x="200" y="109"/>
                  </a:lnTo>
                  <a:lnTo>
                    <a:pt x="198" y="119"/>
                  </a:lnTo>
                  <a:lnTo>
                    <a:pt x="195" y="129"/>
                  </a:lnTo>
                  <a:lnTo>
                    <a:pt x="192" y="137"/>
                  </a:lnTo>
                  <a:lnTo>
                    <a:pt x="189" y="146"/>
                  </a:lnTo>
                  <a:lnTo>
                    <a:pt x="184" y="154"/>
                  </a:lnTo>
                  <a:lnTo>
                    <a:pt x="179" y="162"/>
                  </a:lnTo>
                  <a:lnTo>
                    <a:pt x="172" y="169"/>
                  </a:lnTo>
                  <a:lnTo>
                    <a:pt x="165" y="175"/>
                  </a:lnTo>
                  <a:lnTo>
                    <a:pt x="157" y="180"/>
                  </a:lnTo>
                  <a:lnTo>
                    <a:pt x="149" y="185"/>
                  </a:lnTo>
                  <a:lnTo>
                    <a:pt x="140" y="190"/>
                  </a:lnTo>
                  <a:lnTo>
                    <a:pt x="131" y="194"/>
                  </a:lnTo>
                  <a:lnTo>
                    <a:pt x="122" y="195"/>
                  </a:lnTo>
                  <a:lnTo>
                    <a:pt x="112" y="197"/>
                  </a:lnTo>
                  <a:lnTo>
                    <a:pt x="102" y="197"/>
                  </a:lnTo>
                  <a:lnTo>
                    <a:pt x="92" y="197"/>
                  </a:lnTo>
                  <a:lnTo>
                    <a:pt x="83" y="195"/>
                  </a:lnTo>
                  <a:lnTo>
                    <a:pt x="73" y="194"/>
                  </a:lnTo>
                  <a:lnTo>
                    <a:pt x="64" y="190"/>
                  </a:lnTo>
                  <a:lnTo>
                    <a:pt x="56" y="185"/>
                  </a:lnTo>
                  <a:lnTo>
                    <a:pt x="48" y="180"/>
                  </a:lnTo>
                  <a:lnTo>
                    <a:pt x="39" y="175"/>
                  </a:lnTo>
                  <a:lnTo>
                    <a:pt x="33" y="169"/>
                  </a:lnTo>
                  <a:lnTo>
                    <a:pt x="26" y="162"/>
                  </a:lnTo>
                  <a:lnTo>
                    <a:pt x="21" y="154"/>
                  </a:lnTo>
                  <a:lnTo>
                    <a:pt x="16" y="146"/>
                  </a:lnTo>
                  <a:lnTo>
                    <a:pt x="11" y="137"/>
                  </a:lnTo>
                  <a:lnTo>
                    <a:pt x="8" y="129"/>
                  </a:lnTo>
                  <a:lnTo>
                    <a:pt x="6" y="119"/>
                  </a:lnTo>
                  <a:lnTo>
                    <a:pt x="5" y="109"/>
                  </a:lnTo>
                  <a:lnTo>
                    <a:pt x="5" y="99"/>
                  </a:lnTo>
                  <a:lnTo>
                    <a:pt x="5" y="89"/>
                  </a:lnTo>
                  <a:lnTo>
                    <a:pt x="6" y="79"/>
                  </a:lnTo>
                  <a:lnTo>
                    <a:pt x="8" y="69"/>
                  </a:lnTo>
                  <a:lnTo>
                    <a:pt x="11" y="61"/>
                  </a:lnTo>
                  <a:lnTo>
                    <a:pt x="16" y="53"/>
                  </a:lnTo>
                  <a:lnTo>
                    <a:pt x="21" y="45"/>
                  </a:lnTo>
                  <a:lnTo>
                    <a:pt x="26" y="36"/>
                  </a:lnTo>
                  <a:lnTo>
                    <a:pt x="33" y="30"/>
                  </a:lnTo>
                  <a:lnTo>
                    <a:pt x="39" y="23"/>
                  </a:lnTo>
                  <a:lnTo>
                    <a:pt x="48" y="18"/>
                  </a:lnTo>
                  <a:lnTo>
                    <a:pt x="56" y="13"/>
                  </a:lnTo>
                  <a:lnTo>
                    <a:pt x="64" y="8"/>
                  </a:lnTo>
                  <a:lnTo>
                    <a:pt x="73" y="5"/>
                  </a:lnTo>
                  <a:lnTo>
                    <a:pt x="83" y="3"/>
                  </a:lnTo>
                  <a:lnTo>
                    <a:pt x="92" y="1"/>
                  </a:lnTo>
                  <a:lnTo>
                    <a:pt x="102" y="1"/>
                  </a:lnTo>
                  <a:lnTo>
                    <a:pt x="112" y="1"/>
                  </a:lnTo>
                  <a:lnTo>
                    <a:pt x="122" y="3"/>
                  </a:lnTo>
                  <a:lnTo>
                    <a:pt x="131" y="5"/>
                  </a:lnTo>
                  <a:lnTo>
                    <a:pt x="140" y="8"/>
                  </a:lnTo>
                  <a:lnTo>
                    <a:pt x="149" y="13"/>
                  </a:lnTo>
                  <a:lnTo>
                    <a:pt x="157" y="18"/>
                  </a:lnTo>
                  <a:lnTo>
                    <a:pt x="165" y="23"/>
                  </a:lnTo>
                  <a:lnTo>
                    <a:pt x="172" y="30"/>
                  </a:lnTo>
                  <a:lnTo>
                    <a:pt x="179" y="36"/>
                  </a:lnTo>
                  <a:lnTo>
                    <a:pt x="184" y="45"/>
                  </a:lnTo>
                  <a:lnTo>
                    <a:pt x="189" y="53"/>
                  </a:lnTo>
                  <a:lnTo>
                    <a:pt x="192" y="61"/>
                  </a:lnTo>
                  <a:lnTo>
                    <a:pt x="195" y="69"/>
                  </a:lnTo>
                  <a:lnTo>
                    <a:pt x="198" y="79"/>
                  </a:lnTo>
                  <a:lnTo>
                    <a:pt x="200" y="89"/>
                  </a:lnTo>
                  <a:lnTo>
                    <a:pt x="200" y="99"/>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99" name="Freeform 240">
              <a:extLst>
                <a:ext uri="{FF2B5EF4-FFF2-40B4-BE49-F238E27FC236}">
                  <a16:creationId xmlns:a16="http://schemas.microsoft.com/office/drawing/2014/main" id="{7F3840BD-8512-FFE2-5D15-C5BE4FB265DD}"/>
                </a:ext>
              </a:extLst>
            </p:cNvPr>
            <p:cNvSpPr>
              <a:spLocks noEditPoints="1"/>
            </p:cNvSpPr>
            <p:nvPr/>
          </p:nvSpPr>
          <p:spPr bwMode="auto">
            <a:xfrm>
              <a:off x="1735" y="1514"/>
              <a:ext cx="202" cy="199"/>
            </a:xfrm>
            <a:custGeom>
              <a:avLst/>
              <a:gdLst>
                <a:gd name="T0" fmla="*/ 201 w 202"/>
                <a:gd name="T1" fmla="*/ 81 h 199"/>
                <a:gd name="T2" fmla="*/ 188 w 202"/>
                <a:gd name="T3" fmla="*/ 48 h 199"/>
                <a:gd name="T4" fmla="*/ 164 w 202"/>
                <a:gd name="T5" fmla="*/ 21 h 199"/>
                <a:gd name="T6" fmla="*/ 135 w 202"/>
                <a:gd name="T7" fmla="*/ 3 h 199"/>
                <a:gd name="T8" fmla="*/ 87 w 202"/>
                <a:gd name="T9" fmla="*/ 0 h 199"/>
                <a:gd name="T10" fmla="*/ 52 w 202"/>
                <a:gd name="T11" fmla="*/ 11 h 199"/>
                <a:gd name="T12" fmla="*/ 25 w 202"/>
                <a:gd name="T13" fmla="*/ 33 h 199"/>
                <a:gd name="T14" fmla="*/ 7 w 202"/>
                <a:gd name="T15" fmla="*/ 63 h 199"/>
                <a:gd name="T16" fmla="*/ 2 w 202"/>
                <a:gd name="T17" fmla="*/ 81 h 199"/>
                <a:gd name="T18" fmla="*/ 0 w 202"/>
                <a:gd name="T19" fmla="*/ 99 h 199"/>
                <a:gd name="T20" fmla="*/ 7 w 202"/>
                <a:gd name="T21" fmla="*/ 134 h 199"/>
                <a:gd name="T22" fmla="*/ 25 w 202"/>
                <a:gd name="T23" fmla="*/ 165 h 199"/>
                <a:gd name="T24" fmla="*/ 52 w 202"/>
                <a:gd name="T25" fmla="*/ 187 h 199"/>
                <a:gd name="T26" fmla="*/ 85 w 202"/>
                <a:gd name="T27" fmla="*/ 199 h 199"/>
                <a:gd name="T28" fmla="*/ 135 w 202"/>
                <a:gd name="T29" fmla="*/ 194 h 199"/>
                <a:gd name="T30" fmla="*/ 164 w 202"/>
                <a:gd name="T31" fmla="*/ 177 h 199"/>
                <a:gd name="T32" fmla="*/ 188 w 202"/>
                <a:gd name="T33" fmla="*/ 151 h 199"/>
                <a:gd name="T34" fmla="*/ 201 w 202"/>
                <a:gd name="T35" fmla="*/ 117 h 199"/>
                <a:gd name="T36" fmla="*/ 197 w 202"/>
                <a:gd name="T37" fmla="*/ 99 h 199"/>
                <a:gd name="T38" fmla="*/ 196 w 202"/>
                <a:gd name="T39" fmla="*/ 119 h 199"/>
                <a:gd name="T40" fmla="*/ 189 w 202"/>
                <a:gd name="T41" fmla="*/ 136 h 199"/>
                <a:gd name="T42" fmla="*/ 181 w 202"/>
                <a:gd name="T43" fmla="*/ 152 h 199"/>
                <a:gd name="T44" fmla="*/ 169 w 202"/>
                <a:gd name="T45" fmla="*/ 167 h 199"/>
                <a:gd name="T46" fmla="*/ 154 w 202"/>
                <a:gd name="T47" fmla="*/ 179 h 199"/>
                <a:gd name="T48" fmla="*/ 138 w 202"/>
                <a:gd name="T49" fmla="*/ 187 h 199"/>
                <a:gd name="T50" fmla="*/ 120 w 202"/>
                <a:gd name="T51" fmla="*/ 194 h 199"/>
                <a:gd name="T52" fmla="*/ 101 w 202"/>
                <a:gd name="T53" fmla="*/ 195 h 199"/>
                <a:gd name="T54" fmla="*/ 82 w 202"/>
                <a:gd name="T55" fmla="*/ 194 h 199"/>
                <a:gd name="T56" fmla="*/ 63 w 202"/>
                <a:gd name="T57" fmla="*/ 187 h 199"/>
                <a:gd name="T58" fmla="*/ 48 w 202"/>
                <a:gd name="T59" fmla="*/ 179 h 199"/>
                <a:gd name="T60" fmla="*/ 34 w 202"/>
                <a:gd name="T61" fmla="*/ 167 h 199"/>
                <a:gd name="T62" fmla="*/ 22 w 202"/>
                <a:gd name="T63" fmla="*/ 152 h 199"/>
                <a:gd name="T64" fmla="*/ 14 w 202"/>
                <a:gd name="T65" fmla="*/ 136 h 199"/>
                <a:gd name="T66" fmla="*/ 7 w 202"/>
                <a:gd name="T67" fmla="*/ 119 h 199"/>
                <a:gd name="T68" fmla="*/ 5 w 202"/>
                <a:gd name="T69" fmla="*/ 99 h 199"/>
                <a:gd name="T70" fmla="*/ 7 w 202"/>
                <a:gd name="T71" fmla="*/ 79 h 199"/>
                <a:gd name="T72" fmla="*/ 14 w 202"/>
                <a:gd name="T73" fmla="*/ 61 h 199"/>
                <a:gd name="T74" fmla="*/ 22 w 202"/>
                <a:gd name="T75" fmla="*/ 46 h 199"/>
                <a:gd name="T76" fmla="*/ 34 w 202"/>
                <a:gd name="T77" fmla="*/ 31 h 199"/>
                <a:gd name="T78" fmla="*/ 48 w 202"/>
                <a:gd name="T79" fmla="*/ 20 h 199"/>
                <a:gd name="T80" fmla="*/ 63 w 202"/>
                <a:gd name="T81" fmla="*/ 11 h 199"/>
                <a:gd name="T82" fmla="*/ 82 w 202"/>
                <a:gd name="T83" fmla="*/ 5 h 199"/>
                <a:gd name="T84" fmla="*/ 101 w 202"/>
                <a:gd name="T85" fmla="*/ 3 h 199"/>
                <a:gd name="T86" fmla="*/ 120 w 202"/>
                <a:gd name="T87" fmla="*/ 5 h 199"/>
                <a:gd name="T88" fmla="*/ 138 w 202"/>
                <a:gd name="T89" fmla="*/ 11 h 199"/>
                <a:gd name="T90" fmla="*/ 154 w 202"/>
                <a:gd name="T91" fmla="*/ 20 h 199"/>
                <a:gd name="T92" fmla="*/ 169 w 202"/>
                <a:gd name="T93" fmla="*/ 31 h 199"/>
                <a:gd name="T94" fmla="*/ 181 w 202"/>
                <a:gd name="T95" fmla="*/ 46 h 199"/>
                <a:gd name="T96" fmla="*/ 189 w 202"/>
                <a:gd name="T97" fmla="*/ 61 h 199"/>
                <a:gd name="T98" fmla="*/ 196 w 202"/>
                <a:gd name="T99" fmla="*/ 79 h 199"/>
                <a:gd name="T100" fmla="*/ 197 w 202"/>
                <a:gd name="T101" fmla="*/ 9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02" h="199">
                  <a:moveTo>
                    <a:pt x="202" y="99"/>
                  </a:moveTo>
                  <a:lnTo>
                    <a:pt x="201" y="81"/>
                  </a:lnTo>
                  <a:lnTo>
                    <a:pt x="196" y="63"/>
                  </a:lnTo>
                  <a:lnTo>
                    <a:pt x="188" y="48"/>
                  </a:lnTo>
                  <a:lnTo>
                    <a:pt x="178" y="33"/>
                  </a:lnTo>
                  <a:lnTo>
                    <a:pt x="164" y="21"/>
                  </a:lnTo>
                  <a:lnTo>
                    <a:pt x="149" y="11"/>
                  </a:lnTo>
                  <a:lnTo>
                    <a:pt x="135" y="3"/>
                  </a:lnTo>
                  <a:lnTo>
                    <a:pt x="116" y="0"/>
                  </a:lnTo>
                  <a:lnTo>
                    <a:pt x="87" y="0"/>
                  </a:lnTo>
                  <a:lnTo>
                    <a:pt x="68" y="3"/>
                  </a:lnTo>
                  <a:lnTo>
                    <a:pt x="52" y="11"/>
                  </a:lnTo>
                  <a:lnTo>
                    <a:pt x="37" y="21"/>
                  </a:lnTo>
                  <a:lnTo>
                    <a:pt x="25" y="33"/>
                  </a:lnTo>
                  <a:lnTo>
                    <a:pt x="15" y="48"/>
                  </a:lnTo>
                  <a:lnTo>
                    <a:pt x="7" y="63"/>
                  </a:lnTo>
                  <a:lnTo>
                    <a:pt x="4" y="71"/>
                  </a:lnTo>
                  <a:lnTo>
                    <a:pt x="2" y="81"/>
                  </a:lnTo>
                  <a:lnTo>
                    <a:pt x="0" y="89"/>
                  </a:lnTo>
                  <a:lnTo>
                    <a:pt x="0" y="99"/>
                  </a:lnTo>
                  <a:lnTo>
                    <a:pt x="2" y="117"/>
                  </a:lnTo>
                  <a:lnTo>
                    <a:pt x="7" y="134"/>
                  </a:lnTo>
                  <a:lnTo>
                    <a:pt x="15" y="151"/>
                  </a:lnTo>
                  <a:lnTo>
                    <a:pt x="25" y="165"/>
                  </a:lnTo>
                  <a:lnTo>
                    <a:pt x="37" y="177"/>
                  </a:lnTo>
                  <a:lnTo>
                    <a:pt x="52" y="187"/>
                  </a:lnTo>
                  <a:lnTo>
                    <a:pt x="68" y="194"/>
                  </a:lnTo>
                  <a:lnTo>
                    <a:pt x="85" y="199"/>
                  </a:lnTo>
                  <a:lnTo>
                    <a:pt x="116" y="199"/>
                  </a:lnTo>
                  <a:lnTo>
                    <a:pt x="135" y="194"/>
                  </a:lnTo>
                  <a:lnTo>
                    <a:pt x="151" y="187"/>
                  </a:lnTo>
                  <a:lnTo>
                    <a:pt x="164" y="177"/>
                  </a:lnTo>
                  <a:lnTo>
                    <a:pt x="178" y="165"/>
                  </a:lnTo>
                  <a:lnTo>
                    <a:pt x="188" y="151"/>
                  </a:lnTo>
                  <a:lnTo>
                    <a:pt x="196" y="134"/>
                  </a:lnTo>
                  <a:lnTo>
                    <a:pt x="201" y="117"/>
                  </a:lnTo>
                  <a:lnTo>
                    <a:pt x="202" y="99"/>
                  </a:lnTo>
                  <a:close/>
                  <a:moveTo>
                    <a:pt x="197" y="99"/>
                  </a:moveTo>
                  <a:lnTo>
                    <a:pt x="196" y="109"/>
                  </a:lnTo>
                  <a:lnTo>
                    <a:pt x="196" y="119"/>
                  </a:lnTo>
                  <a:lnTo>
                    <a:pt x="192" y="127"/>
                  </a:lnTo>
                  <a:lnTo>
                    <a:pt x="189" y="136"/>
                  </a:lnTo>
                  <a:lnTo>
                    <a:pt x="186" y="144"/>
                  </a:lnTo>
                  <a:lnTo>
                    <a:pt x="181" y="152"/>
                  </a:lnTo>
                  <a:lnTo>
                    <a:pt x="174" y="160"/>
                  </a:lnTo>
                  <a:lnTo>
                    <a:pt x="169" y="167"/>
                  </a:lnTo>
                  <a:lnTo>
                    <a:pt x="163" y="174"/>
                  </a:lnTo>
                  <a:lnTo>
                    <a:pt x="154" y="179"/>
                  </a:lnTo>
                  <a:lnTo>
                    <a:pt x="146" y="184"/>
                  </a:lnTo>
                  <a:lnTo>
                    <a:pt x="138" y="187"/>
                  </a:lnTo>
                  <a:lnTo>
                    <a:pt x="130" y="190"/>
                  </a:lnTo>
                  <a:lnTo>
                    <a:pt x="120" y="194"/>
                  </a:lnTo>
                  <a:lnTo>
                    <a:pt x="111" y="194"/>
                  </a:lnTo>
                  <a:lnTo>
                    <a:pt x="101" y="195"/>
                  </a:lnTo>
                  <a:lnTo>
                    <a:pt x="91" y="194"/>
                  </a:lnTo>
                  <a:lnTo>
                    <a:pt x="82" y="194"/>
                  </a:lnTo>
                  <a:lnTo>
                    <a:pt x="73" y="190"/>
                  </a:lnTo>
                  <a:lnTo>
                    <a:pt x="63" y="187"/>
                  </a:lnTo>
                  <a:lnTo>
                    <a:pt x="55" y="184"/>
                  </a:lnTo>
                  <a:lnTo>
                    <a:pt x="48" y="179"/>
                  </a:lnTo>
                  <a:lnTo>
                    <a:pt x="40" y="174"/>
                  </a:lnTo>
                  <a:lnTo>
                    <a:pt x="34" y="167"/>
                  </a:lnTo>
                  <a:lnTo>
                    <a:pt x="27" y="160"/>
                  </a:lnTo>
                  <a:lnTo>
                    <a:pt x="22" y="152"/>
                  </a:lnTo>
                  <a:lnTo>
                    <a:pt x="17" y="144"/>
                  </a:lnTo>
                  <a:lnTo>
                    <a:pt x="14" y="136"/>
                  </a:lnTo>
                  <a:lnTo>
                    <a:pt x="10" y="127"/>
                  </a:lnTo>
                  <a:lnTo>
                    <a:pt x="7" y="119"/>
                  </a:lnTo>
                  <a:lnTo>
                    <a:pt x="5" y="109"/>
                  </a:lnTo>
                  <a:lnTo>
                    <a:pt x="5" y="99"/>
                  </a:lnTo>
                  <a:lnTo>
                    <a:pt x="5" y="89"/>
                  </a:lnTo>
                  <a:lnTo>
                    <a:pt x="7" y="79"/>
                  </a:lnTo>
                  <a:lnTo>
                    <a:pt x="10" y="71"/>
                  </a:lnTo>
                  <a:lnTo>
                    <a:pt x="14" y="61"/>
                  </a:lnTo>
                  <a:lnTo>
                    <a:pt x="17" y="53"/>
                  </a:lnTo>
                  <a:lnTo>
                    <a:pt x="22" y="46"/>
                  </a:lnTo>
                  <a:lnTo>
                    <a:pt x="27" y="38"/>
                  </a:lnTo>
                  <a:lnTo>
                    <a:pt x="34" y="31"/>
                  </a:lnTo>
                  <a:lnTo>
                    <a:pt x="40" y="25"/>
                  </a:lnTo>
                  <a:lnTo>
                    <a:pt x="48" y="20"/>
                  </a:lnTo>
                  <a:lnTo>
                    <a:pt x="55" y="15"/>
                  </a:lnTo>
                  <a:lnTo>
                    <a:pt x="63" y="11"/>
                  </a:lnTo>
                  <a:lnTo>
                    <a:pt x="73" y="8"/>
                  </a:lnTo>
                  <a:lnTo>
                    <a:pt x="82" y="5"/>
                  </a:lnTo>
                  <a:lnTo>
                    <a:pt x="91" y="3"/>
                  </a:lnTo>
                  <a:lnTo>
                    <a:pt x="101" y="3"/>
                  </a:lnTo>
                  <a:lnTo>
                    <a:pt x="111" y="3"/>
                  </a:lnTo>
                  <a:lnTo>
                    <a:pt x="120" y="5"/>
                  </a:lnTo>
                  <a:lnTo>
                    <a:pt x="130" y="8"/>
                  </a:lnTo>
                  <a:lnTo>
                    <a:pt x="138" y="11"/>
                  </a:lnTo>
                  <a:lnTo>
                    <a:pt x="146" y="15"/>
                  </a:lnTo>
                  <a:lnTo>
                    <a:pt x="154" y="20"/>
                  </a:lnTo>
                  <a:lnTo>
                    <a:pt x="163" y="25"/>
                  </a:lnTo>
                  <a:lnTo>
                    <a:pt x="169" y="31"/>
                  </a:lnTo>
                  <a:lnTo>
                    <a:pt x="174" y="38"/>
                  </a:lnTo>
                  <a:lnTo>
                    <a:pt x="181" y="46"/>
                  </a:lnTo>
                  <a:lnTo>
                    <a:pt x="186" y="53"/>
                  </a:lnTo>
                  <a:lnTo>
                    <a:pt x="189" y="61"/>
                  </a:lnTo>
                  <a:lnTo>
                    <a:pt x="192" y="71"/>
                  </a:lnTo>
                  <a:lnTo>
                    <a:pt x="196" y="79"/>
                  </a:lnTo>
                  <a:lnTo>
                    <a:pt x="196" y="89"/>
                  </a:lnTo>
                  <a:lnTo>
                    <a:pt x="197" y="99"/>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00" name="Freeform 241">
              <a:extLst>
                <a:ext uri="{FF2B5EF4-FFF2-40B4-BE49-F238E27FC236}">
                  <a16:creationId xmlns:a16="http://schemas.microsoft.com/office/drawing/2014/main" id="{7C81B899-6D61-0193-1DF0-9D9E5D88B4BE}"/>
                </a:ext>
              </a:extLst>
            </p:cNvPr>
            <p:cNvSpPr>
              <a:spLocks noEditPoints="1"/>
            </p:cNvSpPr>
            <p:nvPr/>
          </p:nvSpPr>
          <p:spPr bwMode="auto">
            <a:xfrm>
              <a:off x="1739" y="1515"/>
              <a:ext cx="195" cy="196"/>
            </a:xfrm>
            <a:custGeom>
              <a:avLst/>
              <a:gdLst>
                <a:gd name="T0" fmla="*/ 193 w 195"/>
                <a:gd name="T1" fmla="*/ 78 h 196"/>
                <a:gd name="T2" fmla="*/ 184 w 195"/>
                <a:gd name="T3" fmla="*/ 52 h 196"/>
                <a:gd name="T4" fmla="*/ 167 w 195"/>
                <a:gd name="T5" fmla="*/ 29 h 196"/>
                <a:gd name="T6" fmla="*/ 144 w 195"/>
                <a:gd name="T7" fmla="*/ 12 h 196"/>
                <a:gd name="T8" fmla="*/ 117 w 195"/>
                <a:gd name="T9" fmla="*/ 2 h 196"/>
                <a:gd name="T10" fmla="*/ 87 w 195"/>
                <a:gd name="T11" fmla="*/ 0 h 196"/>
                <a:gd name="T12" fmla="*/ 59 w 195"/>
                <a:gd name="T13" fmla="*/ 7 h 196"/>
                <a:gd name="T14" fmla="*/ 34 w 195"/>
                <a:gd name="T15" fmla="*/ 22 h 196"/>
                <a:gd name="T16" fmla="*/ 16 w 195"/>
                <a:gd name="T17" fmla="*/ 44 h 196"/>
                <a:gd name="T18" fmla="*/ 3 w 195"/>
                <a:gd name="T19" fmla="*/ 68 h 196"/>
                <a:gd name="T20" fmla="*/ 0 w 195"/>
                <a:gd name="T21" fmla="*/ 98 h 196"/>
                <a:gd name="T22" fmla="*/ 3 w 195"/>
                <a:gd name="T23" fmla="*/ 128 h 196"/>
                <a:gd name="T24" fmla="*/ 16 w 195"/>
                <a:gd name="T25" fmla="*/ 153 h 196"/>
                <a:gd name="T26" fmla="*/ 34 w 195"/>
                <a:gd name="T27" fmla="*/ 174 h 196"/>
                <a:gd name="T28" fmla="*/ 59 w 195"/>
                <a:gd name="T29" fmla="*/ 189 h 196"/>
                <a:gd name="T30" fmla="*/ 87 w 195"/>
                <a:gd name="T31" fmla="*/ 196 h 196"/>
                <a:gd name="T32" fmla="*/ 117 w 195"/>
                <a:gd name="T33" fmla="*/ 194 h 196"/>
                <a:gd name="T34" fmla="*/ 144 w 195"/>
                <a:gd name="T35" fmla="*/ 184 h 196"/>
                <a:gd name="T36" fmla="*/ 167 w 195"/>
                <a:gd name="T37" fmla="*/ 168 h 196"/>
                <a:gd name="T38" fmla="*/ 184 w 195"/>
                <a:gd name="T39" fmla="*/ 145 h 196"/>
                <a:gd name="T40" fmla="*/ 193 w 195"/>
                <a:gd name="T41" fmla="*/ 118 h 196"/>
                <a:gd name="T42" fmla="*/ 190 w 195"/>
                <a:gd name="T43" fmla="*/ 98 h 196"/>
                <a:gd name="T44" fmla="*/ 187 w 195"/>
                <a:gd name="T45" fmla="*/ 126 h 196"/>
                <a:gd name="T46" fmla="*/ 175 w 195"/>
                <a:gd name="T47" fmla="*/ 150 h 196"/>
                <a:gd name="T48" fmla="*/ 157 w 195"/>
                <a:gd name="T49" fmla="*/ 169 h 196"/>
                <a:gd name="T50" fmla="*/ 134 w 195"/>
                <a:gd name="T51" fmla="*/ 184 h 196"/>
                <a:gd name="T52" fmla="*/ 107 w 195"/>
                <a:gd name="T53" fmla="*/ 191 h 196"/>
                <a:gd name="T54" fmla="*/ 78 w 195"/>
                <a:gd name="T55" fmla="*/ 189 h 196"/>
                <a:gd name="T56" fmla="*/ 53 w 195"/>
                <a:gd name="T57" fmla="*/ 179 h 196"/>
                <a:gd name="T58" fmla="*/ 31 w 195"/>
                <a:gd name="T59" fmla="*/ 164 h 196"/>
                <a:gd name="T60" fmla="*/ 15 w 195"/>
                <a:gd name="T61" fmla="*/ 143 h 196"/>
                <a:gd name="T62" fmla="*/ 6 w 195"/>
                <a:gd name="T63" fmla="*/ 116 h 196"/>
                <a:gd name="T64" fmla="*/ 5 w 195"/>
                <a:gd name="T65" fmla="*/ 88 h 196"/>
                <a:gd name="T66" fmla="*/ 11 w 195"/>
                <a:gd name="T67" fmla="*/ 62 h 196"/>
                <a:gd name="T68" fmla="*/ 25 w 195"/>
                <a:gd name="T69" fmla="*/ 39 h 196"/>
                <a:gd name="T70" fmla="*/ 44 w 195"/>
                <a:gd name="T71" fmla="*/ 20 h 196"/>
                <a:gd name="T72" fmla="*/ 69 w 195"/>
                <a:gd name="T73" fmla="*/ 9 h 196"/>
                <a:gd name="T74" fmla="*/ 97 w 195"/>
                <a:gd name="T75" fmla="*/ 4 h 196"/>
                <a:gd name="T76" fmla="*/ 126 w 195"/>
                <a:gd name="T77" fmla="*/ 9 h 196"/>
                <a:gd name="T78" fmla="*/ 149 w 195"/>
                <a:gd name="T79" fmla="*/ 20 h 196"/>
                <a:gd name="T80" fmla="*/ 169 w 195"/>
                <a:gd name="T81" fmla="*/ 39 h 196"/>
                <a:gd name="T82" fmla="*/ 184 w 195"/>
                <a:gd name="T83" fmla="*/ 62 h 196"/>
                <a:gd name="T84" fmla="*/ 190 w 195"/>
                <a:gd name="T85" fmla="*/ 88 h 1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95" h="196">
                  <a:moveTo>
                    <a:pt x="195" y="98"/>
                  </a:moveTo>
                  <a:lnTo>
                    <a:pt x="195" y="88"/>
                  </a:lnTo>
                  <a:lnTo>
                    <a:pt x="193" y="78"/>
                  </a:lnTo>
                  <a:lnTo>
                    <a:pt x="190" y="68"/>
                  </a:lnTo>
                  <a:lnTo>
                    <a:pt x="187" y="60"/>
                  </a:lnTo>
                  <a:lnTo>
                    <a:pt x="184" y="52"/>
                  </a:lnTo>
                  <a:lnTo>
                    <a:pt x="179" y="44"/>
                  </a:lnTo>
                  <a:lnTo>
                    <a:pt x="174" y="35"/>
                  </a:lnTo>
                  <a:lnTo>
                    <a:pt x="167" y="29"/>
                  </a:lnTo>
                  <a:lnTo>
                    <a:pt x="160" y="22"/>
                  </a:lnTo>
                  <a:lnTo>
                    <a:pt x="152" y="17"/>
                  </a:lnTo>
                  <a:lnTo>
                    <a:pt x="144" y="12"/>
                  </a:lnTo>
                  <a:lnTo>
                    <a:pt x="135" y="7"/>
                  </a:lnTo>
                  <a:lnTo>
                    <a:pt x="126" y="4"/>
                  </a:lnTo>
                  <a:lnTo>
                    <a:pt x="117" y="2"/>
                  </a:lnTo>
                  <a:lnTo>
                    <a:pt x="107" y="0"/>
                  </a:lnTo>
                  <a:lnTo>
                    <a:pt x="97" y="0"/>
                  </a:lnTo>
                  <a:lnTo>
                    <a:pt x="87" y="0"/>
                  </a:lnTo>
                  <a:lnTo>
                    <a:pt x="78" y="2"/>
                  </a:lnTo>
                  <a:lnTo>
                    <a:pt x="68" y="4"/>
                  </a:lnTo>
                  <a:lnTo>
                    <a:pt x="59" y="7"/>
                  </a:lnTo>
                  <a:lnTo>
                    <a:pt x="51" y="12"/>
                  </a:lnTo>
                  <a:lnTo>
                    <a:pt x="43" y="17"/>
                  </a:lnTo>
                  <a:lnTo>
                    <a:pt x="34" y="22"/>
                  </a:lnTo>
                  <a:lnTo>
                    <a:pt x="28" y="29"/>
                  </a:lnTo>
                  <a:lnTo>
                    <a:pt x="21" y="35"/>
                  </a:lnTo>
                  <a:lnTo>
                    <a:pt x="16" y="44"/>
                  </a:lnTo>
                  <a:lnTo>
                    <a:pt x="11" y="52"/>
                  </a:lnTo>
                  <a:lnTo>
                    <a:pt x="6" y="60"/>
                  </a:lnTo>
                  <a:lnTo>
                    <a:pt x="3" y="68"/>
                  </a:lnTo>
                  <a:lnTo>
                    <a:pt x="1" y="78"/>
                  </a:lnTo>
                  <a:lnTo>
                    <a:pt x="0" y="88"/>
                  </a:lnTo>
                  <a:lnTo>
                    <a:pt x="0" y="98"/>
                  </a:lnTo>
                  <a:lnTo>
                    <a:pt x="0" y="108"/>
                  </a:lnTo>
                  <a:lnTo>
                    <a:pt x="1" y="118"/>
                  </a:lnTo>
                  <a:lnTo>
                    <a:pt x="3" y="128"/>
                  </a:lnTo>
                  <a:lnTo>
                    <a:pt x="6" y="136"/>
                  </a:lnTo>
                  <a:lnTo>
                    <a:pt x="11" y="145"/>
                  </a:lnTo>
                  <a:lnTo>
                    <a:pt x="16" y="153"/>
                  </a:lnTo>
                  <a:lnTo>
                    <a:pt x="21" y="161"/>
                  </a:lnTo>
                  <a:lnTo>
                    <a:pt x="28" y="168"/>
                  </a:lnTo>
                  <a:lnTo>
                    <a:pt x="34" y="174"/>
                  </a:lnTo>
                  <a:lnTo>
                    <a:pt x="43" y="179"/>
                  </a:lnTo>
                  <a:lnTo>
                    <a:pt x="51" y="184"/>
                  </a:lnTo>
                  <a:lnTo>
                    <a:pt x="59" y="189"/>
                  </a:lnTo>
                  <a:lnTo>
                    <a:pt x="68" y="193"/>
                  </a:lnTo>
                  <a:lnTo>
                    <a:pt x="78" y="194"/>
                  </a:lnTo>
                  <a:lnTo>
                    <a:pt x="87" y="196"/>
                  </a:lnTo>
                  <a:lnTo>
                    <a:pt x="97" y="196"/>
                  </a:lnTo>
                  <a:lnTo>
                    <a:pt x="107" y="196"/>
                  </a:lnTo>
                  <a:lnTo>
                    <a:pt x="117" y="194"/>
                  </a:lnTo>
                  <a:lnTo>
                    <a:pt x="126" y="193"/>
                  </a:lnTo>
                  <a:lnTo>
                    <a:pt x="135" y="189"/>
                  </a:lnTo>
                  <a:lnTo>
                    <a:pt x="144" y="184"/>
                  </a:lnTo>
                  <a:lnTo>
                    <a:pt x="152" y="179"/>
                  </a:lnTo>
                  <a:lnTo>
                    <a:pt x="160" y="174"/>
                  </a:lnTo>
                  <a:lnTo>
                    <a:pt x="167" y="168"/>
                  </a:lnTo>
                  <a:lnTo>
                    <a:pt x="174" y="161"/>
                  </a:lnTo>
                  <a:lnTo>
                    <a:pt x="179" y="153"/>
                  </a:lnTo>
                  <a:lnTo>
                    <a:pt x="184" y="145"/>
                  </a:lnTo>
                  <a:lnTo>
                    <a:pt x="187" y="136"/>
                  </a:lnTo>
                  <a:lnTo>
                    <a:pt x="190" y="128"/>
                  </a:lnTo>
                  <a:lnTo>
                    <a:pt x="193" y="118"/>
                  </a:lnTo>
                  <a:lnTo>
                    <a:pt x="195" y="108"/>
                  </a:lnTo>
                  <a:lnTo>
                    <a:pt x="195" y="98"/>
                  </a:lnTo>
                  <a:close/>
                  <a:moveTo>
                    <a:pt x="190" y="98"/>
                  </a:moveTo>
                  <a:lnTo>
                    <a:pt x="190" y="108"/>
                  </a:lnTo>
                  <a:lnTo>
                    <a:pt x="188" y="116"/>
                  </a:lnTo>
                  <a:lnTo>
                    <a:pt x="187" y="126"/>
                  </a:lnTo>
                  <a:lnTo>
                    <a:pt x="184" y="135"/>
                  </a:lnTo>
                  <a:lnTo>
                    <a:pt x="179" y="143"/>
                  </a:lnTo>
                  <a:lnTo>
                    <a:pt x="175" y="150"/>
                  </a:lnTo>
                  <a:lnTo>
                    <a:pt x="169" y="158"/>
                  </a:lnTo>
                  <a:lnTo>
                    <a:pt x="164" y="164"/>
                  </a:lnTo>
                  <a:lnTo>
                    <a:pt x="157" y="169"/>
                  </a:lnTo>
                  <a:lnTo>
                    <a:pt x="149" y="176"/>
                  </a:lnTo>
                  <a:lnTo>
                    <a:pt x="142" y="179"/>
                  </a:lnTo>
                  <a:lnTo>
                    <a:pt x="134" y="184"/>
                  </a:lnTo>
                  <a:lnTo>
                    <a:pt x="126" y="188"/>
                  </a:lnTo>
                  <a:lnTo>
                    <a:pt x="116" y="189"/>
                  </a:lnTo>
                  <a:lnTo>
                    <a:pt x="107" y="191"/>
                  </a:lnTo>
                  <a:lnTo>
                    <a:pt x="97" y="191"/>
                  </a:lnTo>
                  <a:lnTo>
                    <a:pt x="87" y="191"/>
                  </a:lnTo>
                  <a:lnTo>
                    <a:pt x="78" y="189"/>
                  </a:lnTo>
                  <a:lnTo>
                    <a:pt x="69" y="188"/>
                  </a:lnTo>
                  <a:lnTo>
                    <a:pt x="61" y="184"/>
                  </a:lnTo>
                  <a:lnTo>
                    <a:pt x="53" y="179"/>
                  </a:lnTo>
                  <a:lnTo>
                    <a:pt x="44" y="176"/>
                  </a:lnTo>
                  <a:lnTo>
                    <a:pt x="38" y="169"/>
                  </a:lnTo>
                  <a:lnTo>
                    <a:pt x="31" y="164"/>
                  </a:lnTo>
                  <a:lnTo>
                    <a:pt x="25" y="158"/>
                  </a:lnTo>
                  <a:lnTo>
                    <a:pt x="20" y="150"/>
                  </a:lnTo>
                  <a:lnTo>
                    <a:pt x="15" y="143"/>
                  </a:lnTo>
                  <a:lnTo>
                    <a:pt x="11" y="135"/>
                  </a:lnTo>
                  <a:lnTo>
                    <a:pt x="8" y="126"/>
                  </a:lnTo>
                  <a:lnTo>
                    <a:pt x="6" y="116"/>
                  </a:lnTo>
                  <a:lnTo>
                    <a:pt x="5" y="108"/>
                  </a:lnTo>
                  <a:lnTo>
                    <a:pt x="3" y="98"/>
                  </a:lnTo>
                  <a:lnTo>
                    <a:pt x="5" y="88"/>
                  </a:lnTo>
                  <a:lnTo>
                    <a:pt x="6" y="80"/>
                  </a:lnTo>
                  <a:lnTo>
                    <a:pt x="8" y="70"/>
                  </a:lnTo>
                  <a:lnTo>
                    <a:pt x="11" y="62"/>
                  </a:lnTo>
                  <a:lnTo>
                    <a:pt x="15" y="53"/>
                  </a:lnTo>
                  <a:lnTo>
                    <a:pt x="20" y="45"/>
                  </a:lnTo>
                  <a:lnTo>
                    <a:pt x="25" y="39"/>
                  </a:lnTo>
                  <a:lnTo>
                    <a:pt x="31" y="32"/>
                  </a:lnTo>
                  <a:lnTo>
                    <a:pt x="38" y="25"/>
                  </a:lnTo>
                  <a:lnTo>
                    <a:pt x="44" y="20"/>
                  </a:lnTo>
                  <a:lnTo>
                    <a:pt x="53" y="15"/>
                  </a:lnTo>
                  <a:lnTo>
                    <a:pt x="61" y="12"/>
                  </a:lnTo>
                  <a:lnTo>
                    <a:pt x="69" y="9"/>
                  </a:lnTo>
                  <a:lnTo>
                    <a:pt x="78" y="7"/>
                  </a:lnTo>
                  <a:lnTo>
                    <a:pt x="87" y="5"/>
                  </a:lnTo>
                  <a:lnTo>
                    <a:pt x="97" y="4"/>
                  </a:lnTo>
                  <a:lnTo>
                    <a:pt x="107" y="5"/>
                  </a:lnTo>
                  <a:lnTo>
                    <a:pt x="116" y="7"/>
                  </a:lnTo>
                  <a:lnTo>
                    <a:pt x="126" y="9"/>
                  </a:lnTo>
                  <a:lnTo>
                    <a:pt x="134" y="12"/>
                  </a:lnTo>
                  <a:lnTo>
                    <a:pt x="142" y="15"/>
                  </a:lnTo>
                  <a:lnTo>
                    <a:pt x="149" y="20"/>
                  </a:lnTo>
                  <a:lnTo>
                    <a:pt x="157" y="25"/>
                  </a:lnTo>
                  <a:lnTo>
                    <a:pt x="164" y="32"/>
                  </a:lnTo>
                  <a:lnTo>
                    <a:pt x="169" y="39"/>
                  </a:lnTo>
                  <a:lnTo>
                    <a:pt x="175" y="45"/>
                  </a:lnTo>
                  <a:lnTo>
                    <a:pt x="179" y="53"/>
                  </a:lnTo>
                  <a:lnTo>
                    <a:pt x="184" y="62"/>
                  </a:lnTo>
                  <a:lnTo>
                    <a:pt x="187" y="70"/>
                  </a:lnTo>
                  <a:lnTo>
                    <a:pt x="188" y="80"/>
                  </a:lnTo>
                  <a:lnTo>
                    <a:pt x="190" y="88"/>
                  </a:lnTo>
                  <a:lnTo>
                    <a:pt x="190" y="98"/>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01" name="Freeform 242">
              <a:extLst>
                <a:ext uri="{FF2B5EF4-FFF2-40B4-BE49-F238E27FC236}">
                  <a16:creationId xmlns:a16="http://schemas.microsoft.com/office/drawing/2014/main" id="{6EC59FE8-E44D-22D1-98E3-DAE666B2AC15}"/>
                </a:ext>
              </a:extLst>
            </p:cNvPr>
            <p:cNvSpPr>
              <a:spLocks noEditPoints="1"/>
            </p:cNvSpPr>
            <p:nvPr/>
          </p:nvSpPr>
          <p:spPr bwMode="auto">
            <a:xfrm>
              <a:off x="1740" y="1517"/>
              <a:ext cx="192" cy="192"/>
            </a:xfrm>
            <a:custGeom>
              <a:avLst/>
              <a:gdLst>
                <a:gd name="T0" fmla="*/ 191 w 192"/>
                <a:gd name="T1" fmla="*/ 76 h 192"/>
                <a:gd name="T2" fmla="*/ 181 w 192"/>
                <a:gd name="T3" fmla="*/ 50 h 192"/>
                <a:gd name="T4" fmla="*/ 164 w 192"/>
                <a:gd name="T5" fmla="*/ 28 h 192"/>
                <a:gd name="T6" fmla="*/ 141 w 192"/>
                <a:gd name="T7" fmla="*/ 12 h 192"/>
                <a:gd name="T8" fmla="*/ 115 w 192"/>
                <a:gd name="T9" fmla="*/ 2 h 192"/>
                <a:gd name="T10" fmla="*/ 86 w 192"/>
                <a:gd name="T11" fmla="*/ 0 h 192"/>
                <a:gd name="T12" fmla="*/ 58 w 192"/>
                <a:gd name="T13" fmla="*/ 8 h 192"/>
                <a:gd name="T14" fmla="*/ 35 w 192"/>
                <a:gd name="T15" fmla="*/ 22 h 192"/>
                <a:gd name="T16" fmla="*/ 17 w 192"/>
                <a:gd name="T17" fmla="*/ 43 h 192"/>
                <a:gd name="T18" fmla="*/ 5 w 192"/>
                <a:gd name="T19" fmla="*/ 68 h 192"/>
                <a:gd name="T20" fmla="*/ 0 w 192"/>
                <a:gd name="T21" fmla="*/ 96 h 192"/>
                <a:gd name="T22" fmla="*/ 5 w 192"/>
                <a:gd name="T23" fmla="*/ 124 h 192"/>
                <a:gd name="T24" fmla="*/ 17 w 192"/>
                <a:gd name="T25" fmla="*/ 149 h 192"/>
                <a:gd name="T26" fmla="*/ 35 w 192"/>
                <a:gd name="T27" fmla="*/ 171 h 192"/>
                <a:gd name="T28" fmla="*/ 58 w 192"/>
                <a:gd name="T29" fmla="*/ 184 h 192"/>
                <a:gd name="T30" fmla="*/ 86 w 192"/>
                <a:gd name="T31" fmla="*/ 191 h 192"/>
                <a:gd name="T32" fmla="*/ 115 w 192"/>
                <a:gd name="T33" fmla="*/ 191 h 192"/>
                <a:gd name="T34" fmla="*/ 141 w 192"/>
                <a:gd name="T35" fmla="*/ 181 h 192"/>
                <a:gd name="T36" fmla="*/ 164 w 192"/>
                <a:gd name="T37" fmla="*/ 164 h 192"/>
                <a:gd name="T38" fmla="*/ 181 w 192"/>
                <a:gd name="T39" fmla="*/ 141 h 192"/>
                <a:gd name="T40" fmla="*/ 191 w 192"/>
                <a:gd name="T41" fmla="*/ 116 h 192"/>
                <a:gd name="T42" fmla="*/ 187 w 192"/>
                <a:gd name="T43" fmla="*/ 96 h 192"/>
                <a:gd name="T44" fmla="*/ 183 w 192"/>
                <a:gd name="T45" fmla="*/ 123 h 192"/>
                <a:gd name="T46" fmla="*/ 171 w 192"/>
                <a:gd name="T47" fmla="*/ 148 h 192"/>
                <a:gd name="T48" fmla="*/ 154 w 192"/>
                <a:gd name="T49" fmla="*/ 166 h 192"/>
                <a:gd name="T50" fmla="*/ 131 w 192"/>
                <a:gd name="T51" fmla="*/ 181 h 192"/>
                <a:gd name="T52" fmla="*/ 105 w 192"/>
                <a:gd name="T53" fmla="*/ 187 h 192"/>
                <a:gd name="T54" fmla="*/ 78 w 192"/>
                <a:gd name="T55" fmla="*/ 186 h 192"/>
                <a:gd name="T56" fmla="*/ 53 w 192"/>
                <a:gd name="T57" fmla="*/ 176 h 192"/>
                <a:gd name="T58" fmla="*/ 32 w 192"/>
                <a:gd name="T59" fmla="*/ 161 h 192"/>
                <a:gd name="T60" fmla="*/ 17 w 192"/>
                <a:gd name="T61" fmla="*/ 139 h 192"/>
                <a:gd name="T62" fmla="*/ 7 w 192"/>
                <a:gd name="T63" fmla="*/ 114 h 192"/>
                <a:gd name="T64" fmla="*/ 5 w 192"/>
                <a:gd name="T65" fmla="*/ 86 h 192"/>
                <a:gd name="T66" fmla="*/ 12 w 192"/>
                <a:gd name="T67" fmla="*/ 61 h 192"/>
                <a:gd name="T68" fmla="*/ 25 w 192"/>
                <a:gd name="T69" fmla="*/ 38 h 192"/>
                <a:gd name="T70" fmla="*/ 45 w 192"/>
                <a:gd name="T71" fmla="*/ 20 h 192"/>
                <a:gd name="T72" fmla="*/ 70 w 192"/>
                <a:gd name="T73" fmla="*/ 8 h 192"/>
                <a:gd name="T74" fmla="*/ 96 w 192"/>
                <a:gd name="T75" fmla="*/ 5 h 192"/>
                <a:gd name="T76" fmla="*/ 123 w 192"/>
                <a:gd name="T77" fmla="*/ 8 h 192"/>
                <a:gd name="T78" fmla="*/ 148 w 192"/>
                <a:gd name="T79" fmla="*/ 20 h 192"/>
                <a:gd name="T80" fmla="*/ 166 w 192"/>
                <a:gd name="T81" fmla="*/ 38 h 192"/>
                <a:gd name="T82" fmla="*/ 179 w 192"/>
                <a:gd name="T83" fmla="*/ 61 h 192"/>
                <a:gd name="T84" fmla="*/ 187 w 192"/>
                <a:gd name="T85" fmla="*/ 8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92" h="192">
                  <a:moveTo>
                    <a:pt x="192" y="96"/>
                  </a:moveTo>
                  <a:lnTo>
                    <a:pt x="191" y="86"/>
                  </a:lnTo>
                  <a:lnTo>
                    <a:pt x="191" y="76"/>
                  </a:lnTo>
                  <a:lnTo>
                    <a:pt x="187" y="68"/>
                  </a:lnTo>
                  <a:lnTo>
                    <a:pt x="184" y="58"/>
                  </a:lnTo>
                  <a:lnTo>
                    <a:pt x="181" y="50"/>
                  </a:lnTo>
                  <a:lnTo>
                    <a:pt x="176" y="43"/>
                  </a:lnTo>
                  <a:lnTo>
                    <a:pt x="169" y="35"/>
                  </a:lnTo>
                  <a:lnTo>
                    <a:pt x="164" y="28"/>
                  </a:lnTo>
                  <a:lnTo>
                    <a:pt x="158" y="22"/>
                  </a:lnTo>
                  <a:lnTo>
                    <a:pt x="149" y="17"/>
                  </a:lnTo>
                  <a:lnTo>
                    <a:pt x="141" y="12"/>
                  </a:lnTo>
                  <a:lnTo>
                    <a:pt x="133" y="8"/>
                  </a:lnTo>
                  <a:lnTo>
                    <a:pt x="125" y="5"/>
                  </a:lnTo>
                  <a:lnTo>
                    <a:pt x="115" y="2"/>
                  </a:lnTo>
                  <a:lnTo>
                    <a:pt x="106" y="0"/>
                  </a:lnTo>
                  <a:lnTo>
                    <a:pt x="96" y="0"/>
                  </a:lnTo>
                  <a:lnTo>
                    <a:pt x="86" y="0"/>
                  </a:lnTo>
                  <a:lnTo>
                    <a:pt x="77" y="2"/>
                  </a:lnTo>
                  <a:lnTo>
                    <a:pt x="68" y="5"/>
                  </a:lnTo>
                  <a:lnTo>
                    <a:pt x="58" y="8"/>
                  </a:lnTo>
                  <a:lnTo>
                    <a:pt x="50" y="12"/>
                  </a:lnTo>
                  <a:lnTo>
                    <a:pt x="43" y="17"/>
                  </a:lnTo>
                  <a:lnTo>
                    <a:pt x="35" y="22"/>
                  </a:lnTo>
                  <a:lnTo>
                    <a:pt x="29" y="28"/>
                  </a:lnTo>
                  <a:lnTo>
                    <a:pt x="22" y="35"/>
                  </a:lnTo>
                  <a:lnTo>
                    <a:pt x="17" y="43"/>
                  </a:lnTo>
                  <a:lnTo>
                    <a:pt x="12" y="50"/>
                  </a:lnTo>
                  <a:lnTo>
                    <a:pt x="9" y="58"/>
                  </a:lnTo>
                  <a:lnTo>
                    <a:pt x="5" y="68"/>
                  </a:lnTo>
                  <a:lnTo>
                    <a:pt x="2" y="76"/>
                  </a:lnTo>
                  <a:lnTo>
                    <a:pt x="0" y="86"/>
                  </a:lnTo>
                  <a:lnTo>
                    <a:pt x="0" y="96"/>
                  </a:lnTo>
                  <a:lnTo>
                    <a:pt x="0" y="106"/>
                  </a:lnTo>
                  <a:lnTo>
                    <a:pt x="2" y="116"/>
                  </a:lnTo>
                  <a:lnTo>
                    <a:pt x="5" y="124"/>
                  </a:lnTo>
                  <a:lnTo>
                    <a:pt x="9" y="133"/>
                  </a:lnTo>
                  <a:lnTo>
                    <a:pt x="12" y="141"/>
                  </a:lnTo>
                  <a:lnTo>
                    <a:pt x="17" y="149"/>
                  </a:lnTo>
                  <a:lnTo>
                    <a:pt x="22" y="157"/>
                  </a:lnTo>
                  <a:lnTo>
                    <a:pt x="29" y="164"/>
                  </a:lnTo>
                  <a:lnTo>
                    <a:pt x="35" y="171"/>
                  </a:lnTo>
                  <a:lnTo>
                    <a:pt x="43" y="176"/>
                  </a:lnTo>
                  <a:lnTo>
                    <a:pt x="50" y="181"/>
                  </a:lnTo>
                  <a:lnTo>
                    <a:pt x="58" y="184"/>
                  </a:lnTo>
                  <a:lnTo>
                    <a:pt x="68" y="187"/>
                  </a:lnTo>
                  <a:lnTo>
                    <a:pt x="77" y="191"/>
                  </a:lnTo>
                  <a:lnTo>
                    <a:pt x="86" y="191"/>
                  </a:lnTo>
                  <a:lnTo>
                    <a:pt x="96" y="192"/>
                  </a:lnTo>
                  <a:lnTo>
                    <a:pt x="106" y="191"/>
                  </a:lnTo>
                  <a:lnTo>
                    <a:pt x="115" y="191"/>
                  </a:lnTo>
                  <a:lnTo>
                    <a:pt x="125" y="187"/>
                  </a:lnTo>
                  <a:lnTo>
                    <a:pt x="133" y="184"/>
                  </a:lnTo>
                  <a:lnTo>
                    <a:pt x="141" y="181"/>
                  </a:lnTo>
                  <a:lnTo>
                    <a:pt x="149" y="176"/>
                  </a:lnTo>
                  <a:lnTo>
                    <a:pt x="158" y="171"/>
                  </a:lnTo>
                  <a:lnTo>
                    <a:pt x="164" y="164"/>
                  </a:lnTo>
                  <a:lnTo>
                    <a:pt x="169" y="157"/>
                  </a:lnTo>
                  <a:lnTo>
                    <a:pt x="176" y="149"/>
                  </a:lnTo>
                  <a:lnTo>
                    <a:pt x="181" y="141"/>
                  </a:lnTo>
                  <a:lnTo>
                    <a:pt x="184" y="133"/>
                  </a:lnTo>
                  <a:lnTo>
                    <a:pt x="187" y="124"/>
                  </a:lnTo>
                  <a:lnTo>
                    <a:pt x="191" y="116"/>
                  </a:lnTo>
                  <a:lnTo>
                    <a:pt x="191" y="106"/>
                  </a:lnTo>
                  <a:lnTo>
                    <a:pt x="192" y="96"/>
                  </a:lnTo>
                  <a:close/>
                  <a:moveTo>
                    <a:pt x="187" y="96"/>
                  </a:moveTo>
                  <a:lnTo>
                    <a:pt x="187" y="106"/>
                  </a:lnTo>
                  <a:lnTo>
                    <a:pt x="186" y="114"/>
                  </a:lnTo>
                  <a:lnTo>
                    <a:pt x="183" y="123"/>
                  </a:lnTo>
                  <a:lnTo>
                    <a:pt x="179" y="131"/>
                  </a:lnTo>
                  <a:lnTo>
                    <a:pt x="176" y="139"/>
                  </a:lnTo>
                  <a:lnTo>
                    <a:pt x="171" y="148"/>
                  </a:lnTo>
                  <a:lnTo>
                    <a:pt x="166" y="154"/>
                  </a:lnTo>
                  <a:lnTo>
                    <a:pt x="161" y="161"/>
                  </a:lnTo>
                  <a:lnTo>
                    <a:pt x="154" y="166"/>
                  </a:lnTo>
                  <a:lnTo>
                    <a:pt x="148" y="171"/>
                  </a:lnTo>
                  <a:lnTo>
                    <a:pt x="139" y="176"/>
                  </a:lnTo>
                  <a:lnTo>
                    <a:pt x="131" y="181"/>
                  </a:lnTo>
                  <a:lnTo>
                    <a:pt x="123" y="182"/>
                  </a:lnTo>
                  <a:lnTo>
                    <a:pt x="115" y="186"/>
                  </a:lnTo>
                  <a:lnTo>
                    <a:pt x="105" y="187"/>
                  </a:lnTo>
                  <a:lnTo>
                    <a:pt x="96" y="187"/>
                  </a:lnTo>
                  <a:lnTo>
                    <a:pt x="86" y="187"/>
                  </a:lnTo>
                  <a:lnTo>
                    <a:pt x="78" y="186"/>
                  </a:lnTo>
                  <a:lnTo>
                    <a:pt x="70" y="182"/>
                  </a:lnTo>
                  <a:lnTo>
                    <a:pt x="60" y="181"/>
                  </a:lnTo>
                  <a:lnTo>
                    <a:pt x="53" y="176"/>
                  </a:lnTo>
                  <a:lnTo>
                    <a:pt x="45" y="171"/>
                  </a:lnTo>
                  <a:lnTo>
                    <a:pt x="38" y="166"/>
                  </a:lnTo>
                  <a:lnTo>
                    <a:pt x="32" y="161"/>
                  </a:lnTo>
                  <a:lnTo>
                    <a:pt x="25" y="154"/>
                  </a:lnTo>
                  <a:lnTo>
                    <a:pt x="20" y="148"/>
                  </a:lnTo>
                  <a:lnTo>
                    <a:pt x="17" y="139"/>
                  </a:lnTo>
                  <a:lnTo>
                    <a:pt x="12" y="131"/>
                  </a:lnTo>
                  <a:lnTo>
                    <a:pt x="9" y="123"/>
                  </a:lnTo>
                  <a:lnTo>
                    <a:pt x="7" y="114"/>
                  </a:lnTo>
                  <a:lnTo>
                    <a:pt x="5" y="106"/>
                  </a:lnTo>
                  <a:lnTo>
                    <a:pt x="5" y="96"/>
                  </a:lnTo>
                  <a:lnTo>
                    <a:pt x="5" y="86"/>
                  </a:lnTo>
                  <a:lnTo>
                    <a:pt x="7" y="78"/>
                  </a:lnTo>
                  <a:lnTo>
                    <a:pt x="9" y="70"/>
                  </a:lnTo>
                  <a:lnTo>
                    <a:pt x="12" y="61"/>
                  </a:lnTo>
                  <a:lnTo>
                    <a:pt x="17" y="53"/>
                  </a:lnTo>
                  <a:lnTo>
                    <a:pt x="20" y="45"/>
                  </a:lnTo>
                  <a:lnTo>
                    <a:pt x="25" y="38"/>
                  </a:lnTo>
                  <a:lnTo>
                    <a:pt x="32" y="32"/>
                  </a:lnTo>
                  <a:lnTo>
                    <a:pt x="38" y="25"/>
                  </a:lnTo>
                  <a:lnTo>
                    <a:pt x="45" y="20"/>
                  </a:lnTo>
                  <a:lnTo>
                    <a:pt x="53" y="17"/>
                  </a:lnTo>
                  <a:lnTo>
                    <a:pt x="60" y="12"/>
                  </a:lnTo>
                  <a:lnTo>
                    <a:pt x="70" y="8"/>
                  </a:lnTo>
                  <a:lnTo>
                    <a:pt x="78" y="7"/>
                  </a:lnTo>
                  <a:lnTo>
                    <a:pt x="86" y="5"/>
                  </a:lnTo>
                  <a:lnTo>
                    <a:pt x="96" y="5"/>
                  </a:lnTo>
                  <a:lnTo>
                    <a:pt x="105" y="5"/>
                  </a:lnTo>
                  <a:lnTo>
                    <a:pt x="115" y="7"/>
                  </a:lnTo>
                  <a:lnTo>
                    <a:pt x="123" y="8"/>
                  </a:lnTo>
                  <a:lnTo>
                    <a:pt x="131" y="12"/>
                  </a:lnTo>
                  <a:lnTo>
                    <a:pt x="139" y="17"/>
                  </a:lnTo>
                  <a:lnTo>
                    <a:pt x="148" y="20"/>
                  </a:lnTo>
                  <a:lnTo>
                    <a:pt x="154" y="25"/>
                  </a:lnTo>
                  <a:lnTo>
                    <a:pt x="161" y="32"/>
                  </a:lnTo>
                  <a:lnTo>
                    <a:pt x="166" y="38"/>
                  </a:lnTo>
                  <a:lnTo>
                    <a:pt x="171" y="45"/>
                  </a:lnTo>
                  <a:lnTo>
                    <a:pt x="176" y="53"/>
                  </a:lnTo>
                  <a:lnTo>
                    <a:pt x="179" y="61"/>
                  </a:lnTo>
                  <a:lnTo>
                    <a:pt x="183" y="70"/>
                  </a:lnTo>
                  <a:lnTo>
                    <a:pt x="186" y="78"/>
                  </a:lnTo>
                  <a:lnTo>
                    <a:pt x="187" y="86"/>
                  </a:lnTo>
                  <a:lnTo>
                    <a:pt x="187" y="96"/>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02" name="Freeform 243">
              <a:extLst>
                <a:ext uri="{FF2B5EF4-FFF2-40B4-BE49-F238E27FC236}">
                  <a16:creationId xmlns:a16="http://schemas.microsoft.com/office/drawing/2014/main" id="{DFFA9D10-DBD0-F1E4-4ABD-4AE5FAA58A43}"/>
                </a:ext>
              </a:extLst>
            </p:cNvPr>
            <p:cNvSpPr>
              <a:spLocks noEditPoints="1"/>
            </p:cNvSpPr>
            <p:nvPr/>
          </p:nvSpPr>
          <p:spPr bwMode="auto">
            <a:xfrm>
              <a:off x="1742" y="1519"/>
              <a:ext cx="187" cy="187"/>
            </a:xfrm>
            <a:custGeom>
              <a:avLst/>
              <a:gdLst>
                <a:gd name="T0" fmla="*/ 187 w 187"/>
                <a:gd name="T1" fmla="*/ 84 h 187"/>
                <a:gd name="T2" fmla="*/ 184 w 187"/>
                <a:gd name="T3" fmla="*/ 66 h 187"/>
                <a:gd name="T4" fmla="*/ 176 w 187"/>
                <a:gd name="T5" fmla="*/ 49 h 187"/>
                <a:gd name="T6" fmla="*/ 166 w 187"/>
                <a:gd name="T7" fmla="*/ 35 h 187"/>
                <a:gd name="T8" fmla="*/ 154 w 187"/>
                <a:gd name="T9" fmla="*/ 21 h 187"/>
                <a:gd name="T10" fmla="*/ 139 w 187"/>
                <a:gd name="T11" fmla="*/ 11 h 187"/>
                <a:gd name="T12" fmla="*/ 123 w 187"/>
                <a:gd name="T13" fmla="*/ 5 h 187"/>
                <a:gd name="T14" fmla="*/ 104 w 187"/>
                <a:gd name="T15" fmla="*/ 1 h 187"/>
                <a:gd name="T16" fmla="*/ 84 w 187"/>
                <a:gd name="T17" fmla="*/ 1 h 187"/>
                <a:gd name="T18" fmla="*/ 66 w 187"/>
                <a:gd name="T19" fmla="*/ 5 h 187"/>
                <a:gd name="T20" fmla="*/ 50 w 187"/>
                <a:gd name="T21" fmla="*/ 11 h 187"/>
                <a:gd name="T22" fmla="*/ 35 w 187"/>
                <a:gd name="T23" fmla="*/ 21 h 187"/>
                <a:gd name="T24" fmla="*/ 22 w 187"/>
                <a:gd name="T25" fmla="*/ 35 h 187"/>
                <a:gd name="T26" fmla="*/ 12 w 187"/>
                <a:gd name="T27" fmla="*/ 49 h 187"/>
                <a:gd name="T28" fmla="*/ 5 w 187"/>
                <a:gd name="T29" fmla="*/ 66 h 187"/>
                <a:gd name="T30" fmla="*/ 2 w 187"/>
                <a:gd name="T31" fmla="*/ 84 h 187"/>
                <a:gd name="T32" fmla="*/ 2 w 187"/>
                <a:gd name="T33" fmla="*/ 104 h 187"/>
                <a:gd name="T34" fmla="*/ 5 w 187"/>
                <a:gd name="T35" fmla="*/ 122 h 187"/>
                <a:gd name="T36" fmla="*/ 12 w 187"/>
                <a:gd name="T37" fmla="*/ 139 h 187"/>
                <a:gd name="T38" fmla="*/ 22 w 187"/>
                <a:gd name="T39" fmla="*/ 154 h 187"/>
                <a:gd name="T40" fmla="*/ 35 w 187"/>
                <a:gd name="T41" fmla="*/ 165 h 187"/>
                <a:gd name="T42" fmla="*/ 50 w 187"/>
                <a:gd name="T43" fmla="*/ 175 h 187"/>
                <a:gd name="T44" fmla="*/ 66 w 187"/>
                <a:gd name="T45" fmla="*/ 184 h 187"/>
                <a:gd name="T46" fmla="*/ 84 w 187"/>
                <a:gd name="T47" fmla="*/ 187 h 187"/>
                <a:gd name="T48" fmla="*/ 104 w 187"/>
                <a:gd name="T49" fmla="*/ 187 h 187"/>
                <a:gd name="T50" fmla="*/ 123 w 187"/>
                <a:gd name="T51" fmla="*/ 184 h 187"/>
                <a:gd name="T52" fmla="*/ 139 w 187"/>
                <a:gd name="T53" fmla="*/ 175 h 187"/>
                <a:gd name="T54" fmla="*/ 154 w 187"/>
                <a:gd name="T55" fmla="*/ 165 h 187"/>
                <a:gd name="T56" fmla="*/ 166 w 187"/>
                <a:gd name="T57" fmla="*/ 154 h 187"/>
                <a:gd name="T58" fmla="*/ 176 w 187"/>
                <a:gd name="T59" fmla="*/ 139 h 187"/>
                <a:gd name="T60" fmla="*/ 184 w 187"/>
                <a:gd name="T61" fmla="*/ 122 h 187"/>
                <a:gd name="T62" fmla="*/ 187 w 187"/>
                <a:gd name="T63" fmla="*/ 104 h 187"/>
                <a:gd name="T64" fmla="*/ 182 w 187"/>
                <a:gd name="T65" fmla="*/ 94 h 187"/>
                <a:gd name="T66" fmla="*/ 181 w 187"/>
                <a:gd name="T67" fmla="*/ 112 h 187"/>
                <a:gd name="T68" fmla="*/ 176 w 187"/>
                <a:gd name="T69" fmla="*/ 129 h 187"/>
                <a:gd name="T70" fmla="*/ 157 w 187"/>
                <a:gd name="T71" fmla="*/ 157 h 187"/>
                <a:gd name="T72" fmla="*/ 129 w 187"/>
                <a:gd name="T73" fmla="*/ 175 h 187"/>
                <a:gd name="T74" fmla="*/ 113 w 187"/>
                <a:gd name="T75" fmla="*/ 180 h 187"/>
                <a:gd name="T76" fmla="*/ 94 w 187"/>
                <a:gd name="T77" fmla="*/ 182 h 187"/>
                <a:gd name="T78" fmla="*/ 76 w 187"/>
                <a:gd name="T79" fmla="*/ 180 h 187"/>
                <a:gd name="T80" fmla="*/ 60 w 187"/>
                <a:gd name="T81" fmla="*/ 175 h 187"/>
                <a:gd name="T82" fmla="*/ 31 w 187"/>
                <a:gd name="T83" fmla="*/ 157 h 187"/>
                <a:gd name="T84" fmla="*/ 13 w 187"/>
                <a:gd name="T85" fmla="*/ 129 h 187"/>
                <a:gd name="T86" fmla="*/ 7 w 187"/>
                <a:gd name="T87" fmla="*/ 112 h 187"/>
                <a:gd name="T88" fmla="*/ 5 w 187"/>
                <a:gd name="T89" fmla="*/ 94 h 187"/>
                <a:gd name="T90" fmla="*/ 7 w 187"/>
                <a:gd name="T91" fmla="*/ 76 h 187"/>
                <a:gd name="T92" fmla="*/ 13 w 187"/>
                <a:gd name="T93" fmla="*/ 59 h 187"/>
                <a:gd name="T94" fmla="*/ 31 w 187"/>
                <a:gd name="T95" fmla="*/ 31 h 187"/>
                <a:gd name="T96" fmla="*/ 60 w 187"/>
                <a:gd name="T97" fmla="*/ 13 h 187"/>
                <a:gd name="T98" fmla="*/ 76 w 187"/>
                <a:gd name="T99" fmla="*/ 6 h 187"/>
                <a:gd name="T100" fmla="*/ 94 w 187"/>
                <a:gd name="T101" fmla="*/ 5 h 187"/>
                <a:gd name="T102" fmla="*/ 113 w 187"/>
                <a:gd name="T103" fmla="*/ 6 h 187"/>
                <a:gd name="T104" fmla="*/ 129 w 187"/>
                <a:gd name="T105" fmla="*/ 13 h 187"/>
                <a:gd name="T106" fmla="*/ 157 w 187"/>
                <a:gd name="T107" fmla="*/ 31 h 187"/>
                <a:gd name="T108" fmla="*/ 176 w 187"/>
                <a:gd name="T109" fmla="*/ 59 h 187"/>
                <a:gd name="T110" fmla="*/ 181 w 187"/>
                <a:gd name="T111" fmla="*/ 76 h 187"/>
                <a:gd name="T112" fmla="*/ 182 w 187"/>
                <a:gd name="T113" fmla="*/ 94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87" h="187">
                  <a:moveTo>
                    <a:pt x="187" y="94"/>
                  </a:moveTo>
                  <a:lnTo>
                    <a:pt x="187" y="84"/>
                  </a:lnTo>
                  <a:lnTo>
                    <a:pt x="185" y="76"/>
                  </a:lnTo>
                  <a:lnTo>
                    <a:pt x="184" y="66"/>
                  </a:lnTo>
                  <a:lnTo>
                    <a:pt x="181" y="58"/>
                  </a:lnTo>
                  <a:lnTo>
                    <a:pt x="176" y="49"/>
                  </a:lnTo>
                  <a:lnTo>
                    <a:pt x="172" y="41"/>
                  </a:lnTo>
                  <a:lnTo>
                    <a:pt x="166" y="35"/>
                  </a:lnTo>
                  <a:lnTo>
                    <a:pt x="161" y="28"/>
                  </a:lnTo>
                  <a:lnTo>
                    <a:pt x="154" y="21"/>
                  </a:lnTo>
                  <a:lnTo>
                    <a:pt x="146" y="16"/>
                  </a:lnTo>
                  <a:lnTo>
                    <a:pt x="139" y="11"/>
                  </a:lnTo>
                  <a:lnTo>
                    <a:pt x="131" y="8"/>
                  </a:lnTo>
                  <a:lnTo>
                    <a:pt x="123" y="5"/>
                  </a:lnTo>
                  <a:lnTo>
                    <a:pt x="113" y="3"/>
                  </a:lnTo>
                  <a:lnTo>
                    <a:pt x="104" y="1"/>
                  </a:lnTo>
                  <a:lnTo>
                    <a:pt x="94" y="0"/>
                  </a:lnTo>
                  <a:lnTo>
                    <a:pt x="84" y="1"/>
                  </a:lnTo>
                  <a:lnTo>
                    <a:pt x="75" y="3"/>
                  </a:lnTo>
                  <a:lnTo>
                    <a:pt x="66" y="5"/>
                  </a:lnTo>
                  <a:lnTo>
                    <a:pt x="58" y="8"/>
                  </a:lnTo>
                  <a:lnTo>
                    <a:pt x="50" y="11"/>
                  </a:lnTo>
                  <a:lnTo>
                    <a:pt x="41" y="16"/>
                  </a:lnTo>
                  <a:lnTo>
                    <a:pt x="35" y="21"/>
                  </a:lnTo>
                  <a:lnTo>
                    <a:pt x="28" y="28"/>
                  </a:lnTo>
                  <a:lnTo>
                    <a:pt x="22" y="35"/>
                  </a:lnTo>
                  <a:lnTo>
                    <a:pt x="17" y="41"/>
                  </a:lnTo>
                  <a:lnTo>
                    <a:pt x="12" y="49"/>
                  </a:lnTo>
                  <a:lnTo>
                    <a:pt x="8" y="58"/>
                  </a:lnTo>
                  <a:lnTo>
                    <a:pt x="5" y="66"/>
                  </a:lnTo>
                  <a:lnTo>
                    <a:pt x="3" y="76"/>
                  </a:lnTo>
                  <a:lnTo>
                    <a:pt x="2" y="84"/>
                  </a:lnTo>
                  <a:lnTo>
                    <a:pt x="0" y="94"/>
                  </a:lnTo>
                  <a:lnTo>
                    <a:pt x="2" y="104"/>
                  </a:lnTo>
                  <a:lnTo>
                    <a:pt x="3" y="112"/>
                  </a:lnTo>
                  <a:lnTo>
                    <a:pt x="5" y="122"/>
                  </a:lnTo>
                  <a:lnTo>
                    <a:pt x="8" y="131"/>
                  </a:lnTo>
                  <a:lnTo>
                    <a:pt x="12" y="139"/>
                  </a:lnTo>
                  <a:lnTo>
                    <a:pt x="17" y="146"/>
                  </a:lnTo>
                  <a:lnTo>
                    <a:pt x="22" y="154"/>
                  </a:lnTo>
                  <a:lnTo>
                    <a:pt x="28" y="160"/>
                  </a:lnTo>
                  <a:lnTo>
                    <a:pt x="35" y="165"/>
                  </a:lnTo>
                  <a:lnTo>
                    <a:pt x="41" y="172"/>
                  </a:lnTo>
                  <a:lnTo>
                    <a:pt x="50" y="175"/>
                  </a:lnTo>
                  <a:lnTo>
                    <a:pt x="58" y="180"/>
                  </a:lnTo>
                  <a:lnTo>
                    <a:pt x="66" y="184"/>
                  </a:lnTo>
                  <a:lnTo>
                    <a:pt x="75" y="185"/>
                  </a:lnTo>
                  <a:lnTo>
                    <a:pt x="84" y="187"/>
                  </a:lnTo>
                  <a:lnTo>
                    <a:pt x="94" y="187"/>
                  </a:lnTo>
                  <a:lnTo>
                    <a:pt x="104" y="187"/>
                  </a:lnTo>
                  <a:lnTo>
                    <a:pt x="113" y="185"/>
                  </a:lnTo>
                  <a:lnTo>
                    <a:pt x="123" y="184"/>
                  </a:lnTo>
                  <a:lnTo>
                    <a:pt x="131" y="180"/>
                  </a:lnTo>
                  <a:lnTo>
                    <a:pt x="139" y="175"/>
                  </a:lnTo>
                  <a:lnTo>
                    <a:pt x="146" y="172"/>
                  </a:lnTo>
                  <a:lnTo>
                    <a:pt x="154" y="165"/>
                  </a:lnTo>
                  <a:lnTo>
                    <a:pt x="161" y="160"/>
                  </a:lnTo>
                  <a:lnTo>
                    <a:pt x="166" y="154"/>
                  </a:lnTo>
                  <a:lnTo>
                    <a:pt x="172" y="146"/>
                  </a:lnTo>
                  <a:lnTo>
                    <a:pt x="176" y="139"/>
                  </a:lnTo>
                  <a:lnTo>
                    <a:pt x="181" y="131"/>
                  </a:lnTo>
                  <a:lnTo>
                    <a:pt x="184" y="122"/>
                  </a:lnTo>
                  <a:lnTo>
                    <a:pt x="185" y="112"/>
                  </a:lnTo>
                  <a:lnTo>
                    <a:pt x="187" y="104"/>
                  </a:lnTo>
                  <a:lnTo>
                    <a:pt x="187" y="94"/>
                  </a:lnTo>
                  <a:close/>
                  <a:moveTo>
                    <a:pt x="182" y="94"/>
                  </a:moveTo>
                  <a:lnTo>
                    <a:pt x="182" y="102"/>
                  </a:lnTo>
                  <a:lnTo>
                    <a:pt x="181" y="112"/>
                  </a:lnTo>
                  <a:lnTo>
                    <a:pt x="179" y="121"/>
                  </a:lnTo>
                  <a:lnTo>
                    <a:pt x="176" y="129"/>
                  </a:lnTo>
                  <a:lnTo>
                    <a:pt x="167" y="144"/>
                  </a:lnTo>
                  <a:lnTo>
                    <a:pt x="157" y="157"/>
                  </a:lnTo>
                  <a:lnTo>
                    <a:pt x="144" y="167"/>
                  </a:lnTo>
                  <a:lnTo>
                    <a:pt x="129" y="175"/>
                  </a:lnTo>
                  <a:lnTo>
                    <a:pt x="121" y="179"/>
                  </a:lnTo>
                  <a:lnTo>
                    <a:pt x="113" y="180"/>
                  </a:lnTo>
                  <a:lnTo>
                    <a:pt x="103" y="182"/>
                  </a:lnTo>
                  <a:lnTo>
                    <a:pt x="94" y="182"/>
                  </a:lnTo>
                  <a:lnTo>
                    <a:pt x="84" y="182"/>
                  </a:lnTo>
                  <a:lnTo>
                    <a:pt x="76" y="180"/>
                  </a:lnTo>
                  <a:lnTo>
                    <a:pt x="68" y="179"/>
                  </a:lnTo>
                  <a:lnTo>
                    <a:pt x="60" y="175"/>
                  </a:lnTo>
                  <a:lnTo>
                    <a:pt x="45" y="167"/>
                  </a:lnTo>
                  <a:lnTo>
                    <a:pt x="31" y="157"/>
                  </a:lnTo>
                  <a:lnTo>
                    <a:pt x="20" y="144"/>
                  </a:lnTo>
                  <a:lnTo>
                    <a:pt x="13" y="129"/>
                  </a:lnTo>
                  <a:lnTo>
                    <a:pt x="10" y="121"/>
                  </a:lnTo>
                  <a:lnTo>
                    <a:pt x="7" y="112"/>
                  </a:lnTo>
                  <a:lnTo>
                    <a:pt x="7" y="102"/>
                  </a:lnTo>
                  <a:lnTo>
                    <a:pt x="5" y="94"/>
                  </a:lnTo>
                  <a:lnTo>
                    <a:pt x="7" y="84"/>
                  </a:lnTo>
                  <a:lnTo>
                    <a:pt x="7" y="76"/>
                  </a:lnTo>
                  <a:lnTo>
                    <a:pt x="10" y="68"/>
                  </a:lnTo>
                  <a:lnTo>
                    <a:pt x="13" y="59"/>
                  </a:lnTo>
                  <a:lnTo>
                    <a:pt x="20" y="45"/>
                  </a:lnTo>
                  <a:lnTo>
                    <a:pt x="31" y="31"/>
                  </a:lnTo>
                  <a:lnTo>
                    <a:pt x="45" y="21"/>
                  </a:lnTo>
                  <a:lnTo>
                    <a:pt x="60" y="13"/>
                  </a:lnTo>
                  <a:lnTo>
                    <a:pt x="68" y="10"/>
                  </a:lnTo>
                  <a:lnTo>
                    <a:pt x="76" y="6"/>
                  </a:lnTo>
                  <a:lnTo>
                    <a:pt x="84" y="6"/>
                  </a:lnTo>
                  <a:lnTo>
                    <a:pt x="94" y="5"/>
                  </a:lnTo>
                  <a:lnTo>
                    <a:pt x="103" y="6"/>
                  </a:lnTo>
                  <a:lnTo>
                    <a:pt x="113" y="6"/>
                  </a:lnTo>
                  <a:lnTo>
                    <a:pt x="121" y="10"/>
                  </a:lnTo>
                  <a:lnTo>
                    <a:pt x="129" y="13"/>
                  </a:lnTo>
                  <a:lnTo>
                    <a:pt x="144" y="21"/>
                  </a:lnTo>
                  <a:lnTo>
                    <a:pt x="157" y="31"/>
                  </a:lnTo>
                  <a:lnTo>
                    <a:pt x="167" y="45"/>
                  </a:lnTo>
                  <a:lnTo>
                    <a:pt x="176" y="59"/>
                  </a:lnTo>
                  <a:lnTo>
                    <a:pt x="179" y="68"/>
                  </a:lnTo>
                  <a:lnTo>
                    <a:pt x="181" y="76"/>
                  </a:lnTo>
                  <a:lnTo>
                    <a:pt x="182" y="84"/>
                  </a:lnTo>
                  <a:lnTo>
                    <a:pt x="182" y="94"/>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03" name="Freeform 244">
              <a:extLst>
                <a:ext uri="{FF2B5EF4-FFF2-40B4-BE49-F238E27FC236}">
                  <a16:creationId xmlns:a16="http://schemas.microsoft.com/office/drawing/2014/main" id="{BA91064E-47A7-ED32-0CB9-62AC3CE99505}"/>
                </a:ext>
              </a:extLst>
            </p:cNvPr>
            <p:cNvSpPr>
              <a:spLocks noEditPoints="1"/>
            </p:cNvSpPr>
            <p:nvPr/>
          </p:nvSpPr>
          <p:spPr bwMode="auto">
            <a:xfrm>
              <a:off x="1745" y="1522"/>
              <a:ext cx="182" cy="182"/>
            </a:xfrm>
            <a:custGeom>
              <a:avLst/>
              <a:gdLst>
                <a:gd name="T0" fmla="*/ 182 w 182"/>
                <a:gd name="T1" fmla="*/ 81 h 182"/>
                <a:gd name="T2" fmla="*/ 178 w 182"/>
                <a:gd name="T3" fmla="*/ 65 h 182"/>
                <a:gd name="T4" fmla="*/ 171 w 182"/>
                <a:gd name="T5" fmla="*/ 48 h 182"/>
                <a:gd name="T6" fmla="*/ 161 w 182"/>
                <a:gd name="T7" fmla="*/ 33 h 182"/>
                <a:gd name="T8" fmla="*/ 149 w 182"/>
                <a:gd name="T9" fmla="*/ 20 h 182"/>
                <a:gd name="T10" fmla="*/ 134 w 182"/>
                <a:gd name="T11" fmla="*/ 12 h 182"/>
                <a:gd name="T12" fmla="*/ 118 w 182"/>
                <a:gd name="T13" fmla="*/ 3 h 182"/>
                <a:gd name="T14" fmla="*/ 100 w 182"/>
                <a:gd name="T15" fmla="*/ 0 h 182"/>
                <a:gd name="T16" fmla="*/ 81 w 182"/>
                <a:gd name="T17" fmla="*/ 0 h 182"/>
                <a:gd name="T18" fmla="*/ 65 w 182"/>
                <a:gd name="T19" fmla="*/ 3 h 182"/>
                <a:gd name="T20" fmla="*/ 48 w 182"/>
                <a:gd name="T21" fmla="*/ 12 h 182"/>
                <a:gd name="T22" fmla="*/ 33 w 182"/>
                <a:gd name="T23" fmla="*/ 20 h 182"/>
                <a:gd name="T24" fmla="*/ 20 w 182"/>
                <a:gd name="T25" fmla="*/ 33 h 182"/>
                <a:gd name="T26" fmla="*/ 12 w 182"/>
                <a:gd name="T27" fmla="*/ 48 h 182"/>
                <a:gd name="T28" fmla="*/ 4 w 182"/>
                <a:gd name="T29" fmla="*/ 65 h 182"/>
                <a:gd name="T30" fmla="*/ 0 w 182"/>
                <a:gd name="T31" fmla="*/ 81 h 182"/>
                <a:gd name="T32" fmla="*/ 0 w 182"/>
                <a:gd name="T33" fmla="*/ 101 h 182"/>
                <a:gd name="T34" fmla="*/ 4 w 182"/>
                <a:gd name="T35" fmla="*/ 118 h 182"/>
                <a:gd name="T36" fmla="*/ 12 w 182"/>
                <a:gd name="T37" fmla="*/ 134 h 182"/>
                <a:gd name="T38" fmla="*/ 20 w 182"/>
                <a:gd name="T39" fmla="*/ 149 h 182"/>
                <a:gd name="T40" fmla="*/ 33 w 182"/>
                <a:gd name="T41" fmla="*/ 161 h 182"/>
                <a:gd name="T42" fmla="*/ 48 w 182"/>
                <a:gd name="T43" fmla="*/ 171 h 182"/>
                <a:gd name="T44" fmla="*/ 65 w 182"/>
                <a:gd name="T45" fmla="*/ 177 h 182"/>
                <a:gd name="T46" fmla="*/ 81 w 182"/>
                <a:gd name="T47" fmla="*/ 182 h 182"/>
                <a:gd name="T48" fmla="*/ 100 w 182"/>
                <a:gd name="T49" fmla="*/ 182 h 182"/>
                <a:gd name="T50" fmla="*/ 118 w 182"/>
                <a:gd name="T51" fmla="*/ 177 h 182"/>
                <a:gd name="T52" fmla="*/ 134 w 182"/>
                <a:gd name="T53" fmla="*/ 171 h 182"/>
                <a:gd name="T54" fmla="*/ 149 w 182"/>
                <a:gd name="T55" fmla="*/ 161 h 182"/>
                <a:gd name="T56" fmla="*/ 161 w 182"/>
                <a:gd name="T57" fmla="*/ 149 h 182"/>
                <a:gd name="T58" fmla="*/ 171 w 182"/>
                <a:gd name="T59" fmla="*/ 134 h 182"/>
                <a:gd name="T60" fmla="*/ 178 w 182"/>
                <a:gd name="T61" fmla="*/ 118 h 182"/>
                <a:gd name="T62" fmla="*/ 182 w 182"/>
                <a:gd name="T63" fmla="*/ 101 h 182"/>
                <a:gd name="T64" fmla="*/ 178 w 182"/>
                <a:gd name="T65" fmla="*/ 91 h 182"/>
                <a:gd name="T66" fmla="*/ 176 w 182"/>
                <a:gd name="T67" fmla="*/ 108 h 182"/>
                <a:gd name="T68" fmla="*/ 171 w 182"/>
                <a:gd name="T69" fmla="*/ 124 h 182"/>
                <a:gd name="T70" fmla="*/ 153 w 182"/>
                <a:gd name="T71" fmla="*/ 152 h 182"/>
                <a:gd name="T72" fmla="*/ 125 w 182"/>
                <a:gd name="T73" fmla="*/ 171 h 182"/>
                <a:gd name="T74" fmla="*/ 108 w 182"/>
                <a:gd name="T75" fmla="*/ 176 h 182"/>
                <a:gd name="T76" fmla="*/ 91 w 182"/>
                <a:gd name="T77" fmla="*/ 177 h 182"/>
                <a:gd name="T78" fmla="*/ 73 w 182"/>
                <a:gd name="T79" fmla="*/ 176 h 182"/>
                <a:gd name="T80" fmla="*/ 58 w 182"/>
                <a:gd name="T81" fmla="*/ 171 h 182"/>
                <a:gd name="T82" fmla="*/ 30 w 182"/>
                <a:gd name="T83" fmla="*/ 152 h 182"/>
                <a:gd name="T84" fmla="*/ 12 w 182"/>
                <a:gd name="T85" fmla="*/ 124 h 182"/>
                <a:gd name="T86" fmla="*/ 7 w 182"/>
                <a:gd name="T87" fmla="*/ 108 h 182"/>
                <a:gd name="T88" fmla="*/ 5 w 182"/>
                <a:gd name="T89" fmla="*/ 91 h 182"/>
                <a:gd name="T90" fmla="*/ 7 w 182"/>
                <a:gd name="T91" fmla="*/ 73 h 182"/>
                <a:gd name="T92" fmla="*/ 12 w 182"/>
                <a:gd name="T93" fmla="*/ 58 h 182"/>
                <a:gd name="T94" fmla="*/ 30 w 182"/>
                <a:gd name="T95" fmla="*/ 30 h 182"/>
                <a:gd name="T96" fmla="*/ 58 w 182"/>
                <a:gd name="T97" fmla="*/ 12 h 182"/>
                <a:gd name="T98" fmla="*/ 73 w 182"/>
                <a:gd name="T99" fmla="*/ 7 h 182"/>
                <a:gd name="T100" fmla="*/ 91 w 182"/>
                <a:gd name="T101" fmla="*/ 5 h 182"/>
                <a:gd name="T102" fmla="*/ 108 w 182"/>
                <a:gd name="T103" fmla="*/ 7 h 182"/>
                <a:gd name="T104" fmla="*/ 125 w 182"/>
                <a:gd name="T105" fmla="*/ 12 h 182"/>
                <a:gd name="T106" fmla="*/ 153 w 182"/>
                <a:gd name="T107" fmla="*/ 30 h 182"/>
                <a:gd name="T108" fmla="*/ 171 w 182"/>
                <a:gd name="T109" fmla="*/ 58 h 182"/>
                <a:gd name="T110" fmla="*/ 176 w 182"/>
                <a:gd name="T111" fmla="*/ 73 h 182"/>
                <a:gd name="T112" fmla="*/ 178 w 182"/>
                <a:gd name="T113" fmla="*/ 91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82" h="182">
                  <a:moveTo>
                    <a:pt x="182" y="91"/>
                  </a:moveTo>
                  <a:lnTo>
                    <a:pt x="182" y="81"/>
                  </a:lnTo>
                  <a:lnTo>
                    <a:pt x="181" y="73"/>
                  </a:lnTo>
                  <a:lnTo>
                    <a:pt x="178" y="65"/>
                  </a:lnTo>
                  <a:lnTo>
                    <a:pt x="174" y="55"/>
                  </a:lnTo>
                  <a:lnTo>
                    <a:pt x="171" y="48"/>
                  </a:lnTo>
                  <a:lnTo>
                    <a:pt x="166" y="40"/>
                  </a:lnTo>
                  <a:lnTo>
                    <a:pt x="161" y="33"/>
                  </a:lnTo>
                  <a:lnTo>
                    <a:pt x="156" y="27"/>
                  </a:lnTo>
                  <a:lnTo>
                    <a:pt x="149" y="20"/>
                  </a:lnTo>
                  <a:lnTo>
                    <a:pt x="143" y="15"/>
                  </a:lnTo>
                  <a:lnTo>
                    <a:pt x="134" y="12"/>
                  </a:lnTo>
                  <a:lnTo>
                    <a:pt x="126" y="7"/>
                  </a:lnTo>
                  <a:lnTo>
                    <a:pt x="118" y="3"/>
                  </a:lnTo>
                  <a:lnTo>
                    <a:pt x="110" y="2"/>
                  </a:lnTo>
                  <a:lnTo>
                    <a:pt x="100" y="0"/>
                  </a:lnTo>
                  <a:lnTo>
                    <a:pt x="91" y="0"/>
                  </a:lnTo>
                  <a:lnTo>
                    <a:pt x="81" y="0"/>
                  </a:lnTo>
                  <a:lnTo>
                    <a:pt x="73" y="2"/>
                  </a:lnTo>
                  <a:lnTo>
                    <a:pt x="65" y="3"/>
                  </a:lnTo>
                  <a:lnTo>
                    <a:pt x="55" y="7"/>
                  </a:lnTo>
                  <a:lnTo>
                    <a:pt x="48" y="12"/>
                  </a:lnTo>
                  <a:lnTo>
                    <a:pt x="40" y="15"/>
                  </a:lnTo>
                  <a:lnTo>
                    <a:pt x="33" y="20"/>
                  </a:lnTo>
                  <a:lnTo>
                    <a:pt x="27" y="27"/>
                  </a:lnTo>
                  <a:lnTo>
                    <a:pt x="20" y="33"/>
                  </a:lnTo>
                  <a:lnTo>
                    <a:pt x="15" y="40"/>
                  </a:lnTo>
                  <a:lnTo>
                    <a:pt x="12" y="48"/>
                  </a:lnTo>
                  <a:lnTo>
                    <a:pt x="7" y="55"/>
                  </a:lnTo>
                  <a:lnTo>
                    <a:pt x="4" y="65"/>
                  </a:lnTo>
                  <a:lnTo>
                    <a:pt x="2" y="73"/>
                  </a:lnTo>
                  <a:lnTo>
                    <a:pt x="0" y="81"/>
                  </a:lnTo>
                  <a:lnTo>
                    <a:pt x="0" y="91"/>
                  </a:lnTo>
                  <a:lnTo>
                    <a:pt x="0" y="101"/>
                  </a:lnTo>
                  <a:lnTo>
                    <a:pt x="2" y="109"/>
                  </a:lnTo>
                  <a:lnTo>
                    <a:pt x="4" y="118"/>
                  </a:lnTo>
                  <a:lnTo>
                    <a:pt x="7" y="126"/>
                  </a:lnTo>
                  <a:lnTo>
                    <a:pt x="12" y="134"/>
                  </a:lnTo>
                  <a:lnTo>
                    <a:pt x="15" y="143"/>
                  </a:lnTo>
                  <a:lnTo>
                    <a:pt x="20" y="149"/>
                  </a:lnTo>
                  <a:lnTo>
                    <a:pt x="27" y="156"/>
                  </a:lnTo>
                  <a:lnTo>
                    <a:pt x="33" y="161"/>
                  </a:lnTo>
                  <a:lnTo>
                    <a:pt x="40" y="166"/>
                  </a:lnTo>
                  <a:lnTo>
                    <a:pt x="48" y="171"/>
                  </a:lnTo>
                  <a:lnTo>
                    <a:pt x="55" y="176"/>
                  </a:lnTo>
                  <a:lnTo>
                    <a:pt x="65" y="177"/>
                  </a:lnTo>
                  <a:lnTo>
                    <a:pt x="73" y="181"/>
                  </a:lnTo>
                  <a:lnTo>
                    <a:pt x="81" y="182"/>
                  </a:lnTo>
                  <a:lnTo>
                    <a:pt x="91" y="182"/>
                  </a:lnTo>
                  <a:lnTo>
                    <a:pt x="100" y="182"/>
                  </a:lnTo>
                  <a:lnTo>
                    <a:pt x="110" y="181"/>
                  </a:lnTo>
                  <a:lnTo>
                    <a:pt x="118" y="177"/>
                  </a:lnTo>
                  <a:lnTo>
                    <a:pt x="126" y="176"/>
                  </a:lnTo>
                  <a:lnTo>
                    <a:pt x="134" y="171"/>
                  </a:lnTo>
                  <a:lnTo>
                    <a:pt x="143" y="166"/>
                  </a:lnTo>
                  <a:lnTo>
                    <a:pt x="149" y="161"/>
                  </a:lnTo>
                  <a:lnTo>
                    <a:pt x="156" y="156"/>
                  </a:lnTo>
                  <a:lnTo>
                    <a:pt x="161" y="149"/>
                  </a:lnTo>
                  <a:lnTo>
                    <a:pt x="166" y="143"/>
                  </a:lnTo>
                  <a:lnTo>
                    <a:pt x="171" y="134"/>
                  </a:lnTo>
                  <a:lnTo>
                    <a:pt x="174" y="126"/>
                  </a:lnTo>
                  <a:lnTo>
                    <a:pt x="178" y="118"/>
                  </a:lnTo>
                  <a:lnTo>
                    <a:pt x="181" y="109"/>
                  </a:lnTo>
                  <a:lnTo>
                    <a:pt x="182" y="101"/>
                  </a:lnTo>
                  <a:lnTo>
                    <a:pt x="182" y="91"/>
                  </a:lnTo>
                  <a:close/>
                  <a:moveTo>
                    <a:pt x="178" y="91"/>
                  </a:moveTo>
                  <a:lnTo>
                    <a:pt x="178" y="99"/>
                  </a:lnTo>
                  <a:lnTo>
                    <a:pt x="176" y="108"/>
                  </a:lnTo>
                  <a:lnTo>
                    <a:pt x="174" y="116"/>
                  </a:lnTo>
                  <a:lnTo>
                    <a:pt x="171" y="124"/>
                  </a:lnTo>
                  <a:lnTo>
                    <a:pt x="163" y="139"/>
                  </a:lnTo>
                  <a:lnTo>
                    <a:pt x="153" y="152"/>
                  </a:lnTo>
                  <a:lnTo>
                    <a:pt x="139" y="162"/>
                  </a:lnTo>
                  <a:lnTo>
                    <a:pt x="125" y="171"/>
                  </a:lnTo>
                  <a:lnTo>
                    <a:pt x="116" y="174"/>
                  </a:lnTo>
                  <a:lnTo>
                    <a:pt x="108" y="176"/>
                  </a:lnTo>
                  <a:lnTo>
                    <a:pt x="100" y="177"/>
                  </a:lnTo>
                  <a:lnTo>
                    <a:pt x="91" y="177"/>
                  </a:lnTo>
                  <a:lnTo>
                    <a:pt x="83" y="177"/>
                  </a:lnTo>
                  <a:lnTo>
                    <a:pt x="73" y="176"/>
                  </a:lnTo>
                  <a:lnTo>
                    <a:pt x="65" y="174"/>
                  </a:lnTo>
                  <a:lnTo>
                    <a:pt x="58" y="171"/>
                  </a:lnTo>
                  <a:lnTo>
                    <a:pt x="43" y="162"/>
                  </a:lnTo>
                  <a:lnTo>
                    <a:pt x="30" y="152"/>
                  </a:lnTo>
                  <a:lnTo>
                    <a:pt x="20" y="139"/>
                  </a:lnTo>
                  <a:lnTo>
                    <a:pt x="12" y="124"/>
                  </a:lnTo>
                  <a:lnTo>
                    <a:pt x="9" y="116"/>
                  </a:lnTo>
                  <a:lnTo>
                    <a:pt x="7" y="108"/>
                  </a:lnTo>
                  <a:lnTo>
                    <a:pt x="5" y="99"/>
                  </a:lnTo>
                  <a:lnTo>
                    <a:pt x="5" y="91"/>
                  </a:lnTo>
                  <a:lnTo>
                    <a:pt x="5" y="83"/>
                  </a:lnTo>
                  <a:lnTo>
                    <a:pt x="7" y="73"/>
                  </a:lnTo>
                  <a:lnTo>
                    <a:pt x="9" y="65"/>
                  </a:lnTo>
                  <a:lnTo>
                    <a:pt x="12" y="58"/>
                  </a:lnTo>
                  <a:lnTo>
                    <a:pt x="20" y="43"/>
                  </a:lnTo>
                  <a:lnTo>
                    <a:pt x="30" y="30"/>
                  </a:lnTo>
                  <a:lnTo>
                    <a:pt x="43" y="20"/>
                  </a:lnTo>
                  <a:lnTo>
                    <a:pt x="58" y="12"/>
                  </a:lnTo>
                  <a:lnTo>
                    <a:pt x="65" y="8"/>
                  </a:lnTo>
                  <a:lnTo>
                    <a:pt x="73" y="7"/>
                  </a:lnTo>
                  <a:lnTo>
                    <a:pt x="83" y="5"/>
                  </a:lnTo>
                  <a:lnTo>
                    <a:pt x="91" y="5"/>
                  </a:lnTo>
                  <a:lnTo>
                    <a:pt x="100" y="5"/>
                  </a:lnTo>
                  <a:lnTo>
                    <a:pt x="108" y="7"/>
                  </a:lnTo>
                  <a:lnTo>
                    <a:pt x="116" y="8"/>
                  </a:lnTo>
                  <a:lnTo>
                    <a:pt x="125" y="12"/>
                  </a:lnTo>
                  <a:lnTo>
                    <a:pt x="139" y="20"/>
                  </a:lnTo>
                  <a:lnTo>
                    <a:pt x="153" y="30"/>
                  </a:lnTo>
                  <a:lnTo>
                    <a:pt x="163" y="43"/>
                  </a:lnTo>
                  <a:lnTo>
                    <a:pt x="171" y="58"/>
                  </a:lnTo>
                  <a:lnTo>
                    <a:pt x="174" y="65"/>
                  </a:lnTo>
                  <a:lnTo>
                    <a:pt x="176" y="73"/>
                  </a:lnTo>
                  <a:lnTo>
                    <a:pt x="178" y="83"/>
                  </a:lnTo>
                  <a:lnTo>
                    <a:pt x="178" y="91"/>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04" name="Freeform 245">
              <a:extLst>
                <a:ext uri="{FF2B5EF4-FFF2-40B4-BE49-F238E27FC236}">
                  <a16:creationId xmlns:a16="http://schemas.microsoft.com/office/drawing/2014/main" id="{9810867B-813C-30A3-9896-58DE65B3A329}"/>
                </a:ext>
              </a:extLst>
            </p:cNvPr>
            <p:cNvSpPr>
              <a:spLocks noEditPoints="1"/>
            </p:cNvSpPr>
            <p:nvPr/>
          </p:nvSpPr>
          <p:spPr bwMode="auto">
            <a:xfrm>
              <a:off x="1747" y="1524"/>
              <a:ext cx="177" cy="177"/>
            </a:xfrm>
            <a:custGeom>
              <a:avLst/>
              <a:gdLst>
                <a:gd name="T0" fmla="*/ 177 w 177"/>
                <a:gd name="T1" fmla="*/ 79 h 177"/>
                <a:gd name="T2" fmla="*/ 174 w 177"/>
                <a:gd name="T3" fmla="*/ 63 h 177"/>
                <a:gd name="T4" fmla="*/ 162 w 177"/>
                <a:gd name="T5" fmla="*/ 40 h 177"/>
                <a:gd name="T6" fmla="*/ 139 w 177"/>
                <a:gd name="T7" fmla="*/ 16 h 177"/>
                <a:gd name="T8" fmla="*/ 116 w 177"/>
                <a:gd name="T9" fmla="*/ 5 h 177"/>
                <a:gd name="T10" fmla="*/ 98 w 177"/>
                <a:gd name="T11" fmla="*/ 1 h 177"/>
                <a:gd name="T12" fmla="*/ 79 w 177"/>
                <a:gd name="T13" fmla="*/ 1 h 177"/>
                <a:gd name="T14" fmla="*/ 63 w 177"/>
                <a:gd name="T15" fmla="*/ 5 h 177"/>
                <a:gd name="T16" fmla="*/ 40 w 177"/>
                <a:gd name="T17" fmla="*/ 16 h 177"/>
                <a:gd name="T18" fmla="*/ 15 w 177"/>
                <a:gd name="T19" fmla="*/ 40 h 177"/>
                <a:gd name="T20" fmla="*/ 5 w 177"/>
                <a:gd name="T21" fmla="*/ 63 h 177"/>
                <a:gd name="T22" fmla="*/ 2 w 177"/>
                <a:gd name="T23" fmla="*/ 79 h 177"/>
                <a:gd name="T24" fmla="*/ 2 w 177"/>
                <a:gd name="T25" fmla="*/ 97 h 177"/>
                <a:gd name="T26" fmla="*/ 5 w 177"/>
                <a:gd name="T27" fmla="*/ 116 h 177"/>
                <a:gd name="T28" fmla="*/ 15 w 177"/>
                <a:gd name="T29" fmla="*/ 139 h 177"/>
                <a:gd name="T30" fmla="*/ 40 w 177"/>
                <a:gd name="T31" fmla="*/ 162 h 177"/>
                <a:gd name="T32" fmla="*/ 63 w 177"/>
                <a:gd name="T33" fmla="*/ 174 h 177"/>
                <a:gd name="T34" fmla="*/ 79 w 177"/>
                <a:gd name="T35" fmla="*/ 177 h 177"/>
                <a:gd name="T36" fmla="*/ 98 w 177"/>
                <a:gd name="T37" fmla="*/ 177 h 177"/>
                <a:gd name="T38" fmla="*/ 116 w 177"/>
                <a:gd name="T39" fmla="*/ 174 h 177"/>
                <a:gd name="T40" fmla="*/ 139 w 177"/>
                <a:gd name="T41" fmla="*/ 162 h 177"/>
                <a:gd name="T42" fmla="*/ 162 w 177"/>
                <a:gd name="T43" fmla="*/ 139 h 177"/>
                <a:gd name="T44" fmla="*/ 174 w 177"/>
                <a:gd name="T45" fmla="*/ 116 h 177"/>
                <a:gd name="T46" fmla="*/ 177 w 177"/>
                <a:gd name="T47" fmla="*/ 97 h 177"/>
                <a:gd name="T48" fmla="*/ 172 w 177"/>
                <a:gd name="T49" fmla="*/ 89 h 177"/>
                <a:gd name="T50" fmla="*/ 171 w 177"/>
                <a:gd name="T51" fmla="*/ 106 h 177"/>
                <a:gd name="T52" fmla="*/ 166 w 177"/>
                <a:gd name="T53" fmla="*/ 122 h 177"/>
                <a:gd name="T54" fmla="*/ 149 w 177"/>
                <a:gd name="T55" fmla="*/ 149 h 177"/>
                <a:gd name="T56" fmla="*/ 123 w 177"/>
                <a:gd name="T57" fmla="*/ 167 h 177"/>
                <a:gd name="T58" fmla="*/ 106 w 177"/>
                <a:gd name="T59" fmla="*/ 170 h 177"/>
                <a:gd name="T60" fmla="*/ 89 w 177"/>
                <a:gd name="T61" fmla="*/ 172 h 177"/>
                <a:gd name="T62" fmla="*/ 73 w 177"/>
                <a:gd name="T63" fmla="*/ 170 h 177"/>
                <a:gd name="T64" fmla="*/ 56 w 177"/>
                <a:gd name="T65" fmla="*/ 167 h 177"/>
                <a:gd name="T66" fmla="*/ 30 w 177"/>
                <a:gd name="T67" fmla="*/ 149 h 177"/>
                <a:gd name="T68" fmla="*/ 12 w 177"/>
                <a:gd name="T69" fmla="*/ 122 h 177"/>
                <a:gd name="T70" fmla="*/ 7 w 177"/>
                <a:gd name="T71" fmla="*/ 106 h 177"/>
                <a:gd name="T72" fmla="*/ 5 w 177"/>
                <a:gd name="T73" fmla="*/ 89 h 177"/>
                <a:gd name="T74" fmla="*/ 7 w 177"/>
                <a:gd name="T75" fmla="*/ 73 h 177"/>
                <a:gd name="T76" fmla="*/ 12 w 177"/>
                <a:gd name="T77" fmla="*/ 56 h 177"/>
                <a:gd name="T78" fmla="*/ 30 w 177"/>
                <a:gd name="T79" fmla="*/ 30 h 177"/>
                <a:gd name="T80" fmla="*/ 56 w 177"/>
                <a:gd name="T81" fmla="*/ 11 h 177"/>
                <a:gd name="T82" fmla="*/ 73 w 177"/>
                <a:gd name="T83" fmla="*/ 6 h 177"/>
                <a:gd name="T84" fmla="*/ 89 w 177"/>
                <a:gd name="T85" fmla="*/ 5 h 177"/>
                <a:gd name="T86" fmla="*/ 106 w 177"/>
                <a:gd name="T87" fmla="*/ 6 h 177"/>
                <a:gd name="T88" fmla="*/ 123 w 177"/>
                <a:gd name="T89" fmla="*/ 11 h 177"/>
                <a:gd name="T90" fmla="*/ 149 w 177"/>
                <a:gd name="T91" fmla="*/ 30 h 177"/>
                <a:gd name="T92" fmla="*/ 166 w 177"/>
                <a:gd name="T93" fmla="*/ 56 h 177"/>
                <a:gd name="T94" fmla="*/ 171 w 177"/>
                <a:gd name="T95" fmla="*/ 73 h 177"/>
                <a:gd name="T96" fmla="*/ 172 w 177"/>
                <a:gd name="T97" fmla="*/ 89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77" h="177">
                  <a:moveTo>
                    <a:pt x="177" y="89"/>
                  </a:moveTo>
                  <a:lnTo>
                    <a:pt x="177" y="79"/>
                  </a:lnTo>
                  <a:lnTo>
                    <a:pt x="176" y="71"/>
                  </a:lnTo>
                  <a:lnTo>
                    <a:pt x="174" y="63"/>
                  </a:lnTo>
                  <a:lnTo>
                    <a:pt x="171" y="54"/>
                  </a:lnTo>
                  <a:lnTo>
                    <a:pt x="162" y="40"/>
                  </a:lnTo>
                  <a:lnTo>
                    <a:pt x="152" y="26"/>
                  </a:lnTo>
                  <a:lnTo>
                    <a:pt x="139" y="16"/>
                  </a:lnTo>
                  <a:lnTo>
                    <a:pt x="124" y="8"/>
                  </a:lnTo>
                  <a:lnTo>
                    <a:pt x="116" y="5"/>
                  </a:lnTo>
                  <a:lnTo>
                    <a:pt x="108" y="1"/>
                  </a:lnTo>
                  <a:lnTo>
                    <a:pt x="98" y="1"/>
                  </a:lnTo>
                  <a:lnTo>
                    <a:pt x="89" y="0"/>
                  </a:lnTo>
                  <a:lnTo>
                    <a:pt x="79" y="1"/>
                  </a:lnTo>
                  <a:lnTo>
                    <a:pt x="71" y="1"/>
                  </a:lnTo>
                  <a:lnTo>
                    <a:pt x="63" y="5"/>
                  </a:lnTo>
                  <a:lnTo>
                    <a:pt x="55" y="8"/>
                  </a:lnTo>
                  <a:lnTo>
                    <a:pt x="40" y="16"/>
                  </a:lnTo>
                  <a:lnTo>
                    <a:pt x="26" y="26"/>
                  </a:lnTo>
                  <a:lnTo>
                    <a:pt x="15" y="40"/>
                  </a:lnTo>
                  <a:lnTo>
                    <a:pt x="8" y="54"/>
                  </a:lnTo>
                  <a:lnTo>
                    <a:pt x="5" y="63"/>
                  </a:lnTo>
                  <a:lnTo>
                    <a:pt x="2" y="71"/>
                  </a:lnTo>
                  <a:lnTo>
                    <a:pt x="2" y="79"/>
                  </a:lnTo>
                  <a:lnTo>
                    <a:pt x="0" y="89"/>
                  </a:lnTo>
                  <a:lnTo>
                    <a:pt x="2" y="97"/>
                  </a:lnTo>
                  <a:lnTo>
                    <a:pt x="2" y="107"/>
                  </a:lnTo>
                  <a:lnTo>
                    <a:pt x="5" y="116"/>
                  </a:lnTo>
                  <a:lnTo>
                    <a:pt x="8" y="124"/>
                  </a:lnTo>
                  <a:lnTo>
                    <a:pt x="15" y="139"/>
                  </a:lnTo>
                  <a:lnTo>
                    <a:pt x="26" y="152"/>
                  </a:lnTo>
                  <a:lnTo>
                    <a:pt x="40" y="162"/>
                  </a:lnTo>
                  <a:lnTo>
                    <a:pt x="55" y="170"/>
                  </a:lnTo>
                  <a:lnTo>
                    <a:pt x="63" y="174"/>
                  </a:lnTo>
                  <a:lnTo>
                    <a:pt x="71" y="175"/>
                  </a:lnTo>
                  <a:lnTo>
                    <a:pt x="79" y="177"/>
                  </a:lnTo>
                  <a:lnTo>
                    <a:pt x="89" y="177"/>
                  </a:lnTo>
                  <a:lnTo>
                    <a:pt x="98" y="177"/>
                  </a:lnTo>
                  <a:lnTo>
                    <a:pt x="108" y="175"/>
                  </a:lnTo>
                  <a:lnTo>
                    <a:pt x="116" y="174"/>
                  </a:lnTo>
                  <a:lnTo>
                    <a:pt x="124" y="170"/>
                  </a:lnTo>
                  <a:lnTo>
                    <a:pt x="139" y="162"/>
                  </a:lnTo>
                  <a:lnTo>
                    <a:pt x="152" y="152"/>
                  </a:lnTo>
                  <a:lnTo>
                    <a:pt x="162" y="139"/>
                  </a:lnTo>
                  <a:lnTo>
                    <a:pt x="171" y="124"/>
                  </a:lnTo>
                  <a:lnTo>
                    <a:pt x="174" y="116"/>
                  </a:lnTo>
                  <a:lnTo>
                    <a:pt x="176" y="107"/>
                  </a:lnTo>
                  <a:lnTo>
                    <a:pt x="177" y="97"/>
                  </a:lnTo>
                  <a:lnTo>
                    <a:pt x="177" y="89"/>
                  </a:lnTo>
                  <a:close/>
                  <a:moveTo>
                    <a:pt x="172" y="89"/>
                  </a:moveTo>
                  <a:lnTo>
                    <a:pt x="172" y="97"/>
                  </a:lnTo>
                  <a:lnTo>
                    <a:pt x="171" y="106"/>
                  </a:lnTo>
                  <a:lnTo>
                    <a:pt x="169" y="114"/>
                  </a:lnTo>
                  <a:lnTo>
                    <a:pt x="166" y="122"/>
                  </a:lnTo>
                  <a:lnTo>
                    <a:pt x="159" y="136"/>
                  </a:lnTo>
                  <a:lnTo>
                    <a:pt x="149" y="149"/>
                  </a:lnTo>
                  <a:lnTo>
                    <a:pt x="136" y="159"/>
                  </a:lnTo>
                  <a:lnTo>
                    <a:pt x="123" y="167"/>
                  </a:lnTo>
                  <a:lnTo>
                    <a:pt x="114" y="169"/>
                  </a:lnTo>
                  <a:lnTo>
                    <a:pt x="106" y="170"/>
                  </a:lnTo>
                  <a:lnTo>
                    <a:pt x="98" y="172"/>
                  </a:lnTo>
                  <a:lnTo>
                    <a:pt x="89" y="172"/>
                  </a:lnTo>
                  <a:lnTo>
                    <a:pt x="81" y="172"/>
                  </a:lnTo>
                  <a:lnTo>
                    <a:pt x="73" y="170"/>
                  </a:lnTo>
                  <a:lnTo>
                    <a:pt x="65" y="169"/>
                  </a:lnTo>
                  <a:lnTo>
                    <a:pt x="56" y="167"/>
                  </a:lnTo>
                  <a:lnTo>
                    <a:pt x="43" y="159"/>
                  </a:lnTo>
                  <a:lnTo>
                    <a:pt x="30" y="149"/>
                  </a:lnTo>
                  <a:lnTo>
                    <a:pt x="20" y="136"/>
                  </a:lnTo>
                  <a:lnTo>
                    <a:pt x="12" y="122"/>
                  </a:lnTo>
                  <a:lnTo>
                    <a:pt x="10" y="114"/>
                  </a:lnTo>
                  <a:lnTo>
                    <a:pt x="7" y="106"/>
                  </a:lnTo>
                  <a:lnTo>
                    <a:pt x="5" y="97"/>
                  </a:lnTo>
                  <a:lnTo>
                    <a:pt x="5" y="89"/>
                  </a:lnTo>
                  <a:lnTo>
                    <a:pt x="5" y="81"/>
                  </a:lnTo>
                  <a:lnTo>
                    <a:pt x="7" y="73"/>
                  </a:lnTo>
                  <a:lnTo>
                    <a:pt x="10" y="64"/>
                  </a:lnTo>
                  <a:lnTo>
                    <a:pt x="12" y="56"/>
                  </a:lnTo>
                  <a:lnTo>
                    <a:pt x="20" y="43"/>
                  </a:lnTo>
                  <a:lnTo>
                    <a:pt x="30" y="30"/>
                  </a:lnTo>
                  <a:lnTo>
                    <a:pt x="43" y="20"/>
                  </a:lnTo>
                  <a:lnTo>
                    <a:pt x="56" y="11"/>
                  </a:lnTo>
                  <a:lnTo>
                    <a:pt x="65" y="10"/>
                  </a:lnTo>
                  <a:lnTo>
                    <a:pt x="73" y="6"/>
                  </a:lnTo>
                  <a:lnTo>
                    <a:pt x="81" y="6"/>
                  </a:lnTo>
                  <a:lnTo>
                    <a:pt x="89" y="5"/>
                  </a:lnTo>
                  <a:lnTo>
                    <a:pt x="98" y="6"/>
                  </a:lnTo>
                  <a:lnTo>
                    <a:pt x="106" y="6"/>
                  </a:lnTo>
                  <a:lnTo>
                    <a:pt x="114" y="10"/>
                  </a:lnTo>
                  <a:lnTo>
                    <a:pt x="123" y="11"/>
                  </a:lnTo>
                  <a:lnTo>
                    <a:pt x="136" y="20"/>
                  </a:lnTo>
                  <a:lnTo>
                    <a:pt x="149" y="30"/>
                  </a:lnTo>
                  <a:lnTo>
                    <a:pt x="159" y="43"/>
                  </a:lnTo>
                  <a:lnTo>
                    <a:pt x="166" y="56"/>
                  </a:lnTo>
                  <a:lnTo>
                    <a:pt x="169" y="64"/>
                  </a:lnTo>
                  <a:lnTo>
                    <a:pt x="171" y="73"/>
                  </a:lnTo>
                  <a:lnTo>
                    <a:pt x="172" y="81"/>
                  </a:lnTo>
                  <a:lnTo>
                    <a:pt x="172" y="89"/>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05" name="Freeform 246">
              <a:extLst>
                <a:ext uri="{FF2B5EF4-FFF2-40B4-BE49-F238E27FC236}">
                  <a16:creationId xmlns:a16="http://schemas.microsoft.com/office/drawing/2014/main" id="{823B0B03-CAE2-D09F-3ACE-3FC32B974E96}"/>
                </a:ext>
              </a:extLst>
            </p:cNvPr>
            <p:cNvSpPr>
              <a:spLocks noEditPoints="1"/>
            </p:cNvSpPr>
            <p:nvPr/>
          </p:nvSpPr>
          <p:spPr bwMode="auto">
            <a:xfrm>
              <a:off x="1750" y="1527"/>
              <a:ext cx="173" cy="172"/>
            </a:xfrm>
            <a:custGeom>
              <a:avLst/>
              <a:gdLst>
                <a:gd name="T0" fmla="*/ 173 w 173"/>
                <a:gd name="T1" fmla="*/ 78 h 172"/>
                <a:gd name="T2" fmla="*/ 169 w 173"/>
                <a:gd name="T3" fmla="*/ 60 h 172"/>
                <a:gd name="T4" fmla="*/ 158 w 173"/>
                <a:gd name="T5" fmla="*/ 38 h 172"/>
                <a:gd name="T6" fmla="*/ 134 w 173"/>
                <a:gd name="T7" fmla="*/ 15 h 172"/>
                <a:gd name="T8" fmla="*/ 111 w 173"/>
                <a:gd name="T9" fmla="*/ 3 h 172"/>
                <a:gd name="T10" fmla="*/ 95 w 173"/>
                <a:gd name="T11" fmla="*/ 0 h 172"/>
                <a:gd name="T12" fmla="*/ 78 w 173"/>
                <a:gd name="T13" fmla="*/ 0 h 172"/>
                <a:gd name="T14" fmla="*/ 60 w 173"/>
                <a:gd name="T15" fmla="*/ 3 h 172"/>
                <a:gd name="T16" fmla="*/ 38 w 173"/>
                <a:gd name="T17" fmla="*/ 15 h 172"/>
                <a:gd name="T18" fmla="*/ 15 w 173"/>
                <a:gd name="T19" fmla="*/ 38 h 172"/>
                <a:gd name="T20" fmla="*/ 4 w 173"/>
                <a:gd name="T21" fmla="*/ 60 h 172"/>
                <a:gd name="T22" fmla="*/ 0 w 173"/>
                <a:gd name="T23" fmla="*/ 78 h 172"/>
                <a:gd name="T24" fmla="*/ 0 w 173"/>
                <a:gd name="T25" fmla="*/ 94 h 172"/>
                <a:gd name="T26" fmla="*/ 4 w 173"/>
                <a:gd name="T27" fmla="*/ 111 h 172"/>
                <a:gd name="T28" fmla="*/ 15 w 173"/>
                <a:gd name="T29" fmla="*/ 134 h 172"/>
                <a:gd name="T30" fmla="*/ 38 w 173"/>
                <a:gd name="T31" fmla="*/ 157 h 172"/>
                <a:gd name="T32" fmla="*/ 60 w 173"/>
                <a:gd name="T33" fmla="*/ 169 h 172"/>
                <a:gd name="T34" fmla="*/ 78 w 173"/>
                <a:gd name="T35" fmla="*/ 172 h 172"/>
                <a:gd name="T36" fmla="*/ 95 w 173"/>
                <a:gd name="T37" fmla="*/ 172 h 172"/>
                <a:gd name="T38" fmla="*/ 111 w 173"/>
                <a:gd name="T39" fmla="*/ 169 h 172"/>
                <a:gd name="T40" fmla="*/ 134 w 173"/>
                <a:gd name="T41" fmla="*/ 157 h 172"/>
                <a:gd name="T42" fmla="*/ 158 w 173"/>
                <a:gd name="T43" fmla="*/ 134 h 172"/>
                <a:gd name="T44" fmla="*/ 169 w 173"/>
                <a:gd name="T45" fmla="*/ 111 h 172"/>
                <a:gd name="T46" fmla="*/ 173 w 173"/>
                <a:gd name="T47" fmla="*/ 94 h 172"/>
                <a:gd name="T48" fmla="*/ 168 w 173"/>
                <a:gd name="T49" fmla="*/ 86 h 172"/>
                <a:gd name="T50" fmla="*/ 161 w 173"/>
                <a:gd name="T51" fmla="*/ 118 h 172"/>
                <a:gd name="T52" fmla="*/ 144 w 173"/>
                <a:gd name="T53" fmla="*/ 144 h 172"/>
                <a:gd name="T54" fmla="*/ 118 w 173"/>
                <a:gd name="T55" fmla="*/ 161 h 172"/>
                <a:gd name="T56" fmla="*/ 86 w 173"/>
                <a:gd name="T57" fmla="*/ 167 h 172"/>
                <a:gd name="T58" fmla="*/ 55 w 173"/>
                <a:gd name="T59" fmla="*/ 161 h 172"/>
                <a:gd name="T60" fmla="*/ 28 w 173"/>
                <a:gd name="T61" fmla="*/ 144 h 172"/>
                <a:gd name="T62" fmla="*/ 12 w 173"/>
                <a:gd name="T63" fmla="*/ 118 h 172"/>
                <a:gd name="T64" fmla="*/ 5 w 173"/>
                <a:gd name="T65" fmla="*/ 86 h 172"/>
                <a:gd name="T66" fmla="*/ 12 w 173"/>
                <a:gd name="T67" fmla="*/ 55 h 172"/>
                <a:gd name="T68" fmla="*/ 28 w 173"/>
                <a:gd name="T69" fmla="*/ 28 h 172"/>
                <a:gd name="T70" fmla="*/ 55 w 173"/>
                <a:gd name="T71" fmla="*/ 12 h 172"/>
                <a:gd name="T72" fmla="*/ 86 w 173"/>
                <a:gd name="T73" fmla="*/ 5 h 172"/>
                <a:gd name="T74" fmla="*/ 118 w 173"/>
                <a:gd name="T75" fmla="*/ 12 h 172"/>
                <a:gd name="T76" fmla="*/ 144 w 173"/>
                <a:gd name="T77" fmla="*/ 28 h 172"/>
                <a:gd name="T78" fmla="*/ 161 w 173"/>
                <a:gd name="T79" fmla="*/ 55 h 172"/>
                <a:gd name="T80" fmla="*/ 168 w 173"/>
                <a:gd name="T81" fmla="*/ 86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73" h="172">
                  <a:moveTo>
                    <a:pt x="173" y="86"/>
                  </a:moveTo>
                  <a:lnTo>
                    <a:pt x="173" y="78"/>
                  </a:lnTo>
                  <a:lnTo>
                    <a:pt x="171" y="68"/>
                  </a:lnTo>
                  <a:lnTo>
                    <a:pt x="169" y="60"/>
                  </a:lnTo>
                  <a:lnTo>
                    <a:pt x="166" y="53"/>
                  </a:lnTo>
                  <a:lnTo>
                    <a:pt x="158" y="38"/>
                  </a:lnTo>
                  <a:lnTo>
                    <a:pt x="148" y="25"/>
                  </a:lnTo>
                  <a:lnTo>
                    <a:pt x="134" y="15"/>
                  </a:lnTo>
                  <a:lnTo>
                    <a:pt x="120" y="7"/>
                  </a:lnTo>
                  <a:lnTo>
                    <a:pt x="111" y="3"/>
                  </a:lnTo>
                  <a:lnTo>
                    <a:pt x="103" y="2"/>
                  </a:lnTo>
                  <a:lnTo>
                    <a:pt x="95" y="0"/>
                  </a:lnTo>
                  <a:lnTo>
                    <a:pt x="86" y="0"/>
                  </a:lnTo>
                  <a:lnTo>
                    <a:pt x="78" y="0"/>
                  </a:lnTo>
                  <a:lnTo>
                    <a:pt x="68" y="2"/>
                  </a:lnTo>
                  <a:lnTo>
                    <a:pt x="60" y="3"/>
                  </a:lnTo>
                  <a:lnTo>
                    <a:pt x="53" y="7"/>
                  </a:lnTo>
                  <a:lnTo>
                    <a:pt x="38" y="15"/>
                  </a:lnTo>
                  <a:lnTo>
                    <a:pt x="25" y="25"/>
                  </a:lnTo>
                  <a:lnTo>
                    <a:pt x="15" y="38"/>
                  </a:lnTo>
                  <a:lnTo>
                    <a:pt x="7" y="53"/>
                  </a:lnTo>
                  <a:lnTo>
                    <a:pt x="4" y="60"/>
                  </a:lnTo>
                  <a:lnTo>
                    <a:pt x="2" y="68"/>
                  </a:lnTo>
                  <a:lnTo>
                    <a:pt x="0" y="78"/>
                  </a:lnTo>
                  <a:lnTo>
                    <a:pt x="0" y="86"/>
                  </a:lnTo>
                  <a:lnTo>
                    <a:pt x="0" y="94"/>
                  </a:lnTo>
                  <a:lnTo>
                    <a:pt x="2" y="103"/>
                  </a:lnTo>
                  <a:lnTo>
                    <a:pt x="4" y="111"/>
                  </a:lnTo>
                  <a:lnTo>
                    <a:pt x="7" y="119"/>
                  </a:lnTo>
                  <a:lnTo>
                    <a:pt x="15" y="134"/>
                  </a:lnTo>
                  <a:lnTo>
                    <a:pt x="25" y="147"/>
                  </a:lnTo>
                  <a:lnTo>
                    <a:pt x="38" y="157"/>
                  </a:lnTo>
                  <a:lnTo>
                    <a:pt x="53" y="166"/>
                  </a:lnTo>
                  <a:lnTo>
                    <a:pt x="60" y="169"/>
                  </a:lnTo>
                  <a:lnTo>
                    <a:pt x="68" y="171"/>
                  </a:lnTo>
                  <a:lnTo>
                    <a:pt x="78" y="172"/>
                  </a:lnTo>
                  <a:lnTo>
                    <a:pt x="86" y="172"/>
                  </a:lnTo>
                  <a:lnTo>
                    <a:pt x="95" y="172"/>
                  </a:lnTo>
                  <a:lnTo>
                    <a:pt x="103" y="171"/>
                  </a:lnTo>
                  <a:lnTo>
                    <a:pt x="111" y="169"/>
                  </a:lnTo>
                  <a:lnTo>
                    <a:pt x="120" y="166"/>
                  </a:lnTo>
                  <a:lnTo>
                    <a:pt x="134" y="157"/>
                  </a:lnTo>
                  <a:lnTo>
                    <a:pt x="148" y="147"/>
                  </a:lnTo>
                  <a:lnTo>
                    <a:pt x="158" y="134"/>
                  </a:lnTo>
                  <a:lnTo>
                    <a:pt x="166" y="119"/>
                  </a:lnTo>
                  <a:lnTo>
                    <a:pt x="169" y="111"/>
                  </a:lnTo>
                  <a:lnTo>
                    <a:pt x="171" y="103"/>
                  </a:lnTo>
                  <a:lnTo>
                    <a:pt x="173" y="94"/>
                  </a:lnTo>
                  <a:lnTo>
                    <a:pt x="173" y="86"/>
                  </a:lnTo>
                  <a:close/>
                  <a:moveTo>
                    <a:pt x="168" y="86"/>
                  </a:moveTo>
                  <a:lnTo>
                    <a:pt x="166" y="103"/>
                  </a:lnTo>
                  <a:lnTo>
                    <a:pt x="161" y="118"/>
                  </a:lnTo>
                  <a:lnTo>
                    <a:pt x="154" y="131"/>
                  </a:lnTo>
                  <a:lnTo>
                    <a:pt x="144" y="144"/>
                  </a:lnTo>
                  <a:lnTo>
                    <a:pt x="131" y="154"/>
                  </a:lnTo>
                  <a:lnTo>
                    <a:pt x="118" y="161"/>
                  </a:lnTo>
                  <a:lnTo>
                    <a:pt x="103" y="166"/>
                  </a:lnTo>
                  <a:lnTo>
                    <a:pt x="86" y="167"/>
                  </a:lnTo>
                  <a:lnTo>
                    <a:pt x="70" y="166"/>
                  </a:lnTo>
                  <a:lnTo>
                    <a:pt x="55" y="161"/>
                  </a:lnTo>
                  <a:lnTo>
                    <a:pt x="40" y="154"/>
                  </a:lnTo>
                  <a:lnTo>
                    <a:pt x="28" y="144"/>
                  </a:lnTo>
                  <a:lnTo>
                    <a:pt x="19" y="131"/>
                  </a:lnTo>
                  <a:lnTo>
                    <a:pt x="12" y="118"/>
                  </a:lnTo>
                  <a:lnTo>
                    <a:pt x="7" y="103"/>
                  </a:lnTo>
                  <a:lnTo>
                    <a:pt x="5" y="86"/>
                  </a:lnTo>
                  <a:lnTo>
                    <a:pt x="7" y="70"/>
                  </a:lnTo>
                  <a:lnTo>
                    <a:pt x="12" y="55"/>
                  </a:lnTo>
                  <a:lnTo>
                    <a:pt x="19" y="40"/>
                  </a:lnTo>
                  <a:lnTo>
                    <a:pt x="28" y="28"/>
                  </a:lnTo>
                  <a:lnTo>
                    <a:pt x="40" y="18"/>
                  </a:lnTo>
                  <a:lnTo>
                    <a:pt x="55" y="12"/>
                  </a:lnTo>
                  <a:lnTo>
                    <a:pt x="70" y="7"/>
                  </a:lnTo>
                  <a:lnTo>
                    <a:pt x="86" y="5"/>
                  </a:lnTo>
                  <a:lnTo>
                    <a:pt x="103" y="7"/>
                  </a:lnTo>
                  <a:lnTo>
                    <a:pt x="118" y="12"/>
                  </a:lnTo>
                  <a:lnTo>
                    <a:pt x="131" y="18"/>
                  </a:lnTo>
                  <a:lnTo>
                    <a:pt x="144" y="28"/>
                  </a:lnTo>
                  <a:lnTo>
                    <a:pt x="154" y="40"/>
                  </a:lnTo>
                  <a:lnTo>
                    <a:pt x="161" y="55"/>
                  </a:lnTo>
                  <a:lnTo>
                    <a:pt x="166" y="70"/>
                  </a:lnTo>
                  <a:lnTo>
                    <a:pt x="168" y="86"/>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06" name="Freeform 247">
              <a:extLst>
                <a:ext uri="{FF2B5EF4-FFF2-40B4-BE49-F238E27FC236}">
                  <a16:creationId xmlns:a16="http://schemas.microsoft.com/office/drawing/2014/main" id="{7A333C89-7EE2-3721-12B4-09C3BB755E06}"/>
                </a:ext>
              </a:extLst>
            </p:cNvPr>
            <p:cNvSpPr>
              <a:spLocks noEditPoints="1"/>
            </p:cNvSpPr>
            <p:nvPr/>
          </p:nvSpPr>
          <p:spPr bwMode="auto">
            <a:xfrm>
              <a:off x="1752" y="1529"/>
              <a:ext cx="167" cy="169"/>
            </a:xfrm>
            <a:custGeom>
              <a:avLst/>
              <a:gdLst>
                <a:gd name="T0" fmla="*/ 167 w 167"/>
                <a:gd name="T1" fmla="*/ 76 h 169"/>
                <a:gd name="T2" fmla="*/ 164 w 167"/>
                <a:gd name="T3" fmla="*/ 59 h 169"/>
                <a:gd name="T4" fmla="*/ 154 w 167"/>
                <a:gd name="T5" fmla="*/ 38 h 169"/>
                <a:gd name="T6" fmla="*/ 131 w 167"/>
                <a:gd name="T7" fmla="*/ 15 h 169"/>
                <a:gd name="T8" fmla="*/ 109 w 167"/>
                <a:gd name="T9" fmla="*/ 5 h 169"/>
                <a:gd name="T10" fmla="*/ 93 w 167"/>
                <a:gd name="T11" fmla="*/ 1 h 169"/>
                <a:gd name="T12" fmla="*/ 76 w 167"/>
                <a:gd name="T13" fmla="*/ 1 h 169"/>
                <a:gd name="T14" fmla="*/ 60 w 167"/>
                <a:gd name="T15" fmla="*/ 5 h 169"/>
                <a:gd name="T16" fmla="*/ 38 w 167"/>
                <a:gd name="T17" fmla="*/ 15 h 169"/>
                <a:gd name="T18" fmla="*/ 15 w 167"/>
                <a:gd name="T19" fmla="*/ 38 h 169"/>
                <a:gd name="T20" fmla="*/ 5 w 167"/>
                <a:gd name="T21" fmla="*/ 59 h 169"/>
                <a:gd name="T22" fmla="*/ 0 w 167"/>
                <a:gd name="T23" fmla="*/ 76 h 169"/>
                <a:gd name="T24" fmla="*/ 0 w 167"/>
                <a:gd name="T25" fmla="*/ 92 h 169"/>
                <a:gd name="T26" fmla="*/ 5 w 167"/>
                <a:gd name="T27" fmla="*/ 109 h 169"/>
                <a:gd name="T28" fmla="*/ 15 w 167"/>
                <a:gd name="T29" fmla="*/ 131 h 169"/>
                <a:gd name="T30" fmla="*/ 38 w 167"/>
                <a:gd name="T31" fmla="*/ 154 h 169"/>
                <a:gd name="T32" fmla="*/ 60 w 167"/>
                <a:gd name="T33" fmla="*/ 164 h 169"/>
                <a:gd name="T34" fmla="*/ 76 w 167"/>
                <a:gd name="T35" fmla="*/ 167 h 169"/>
                <a:gd name="T36" fmla="*/ 93 w 167"/>
                <a:gd name="T37" fmla="*/ 167 h 169"/>
                <a:gd name="T38" fmla="*/ 109 w 167"/>
                <a:gd name="T39" fmla="*/ 164 h 169"/>
                <a:gd name="T40" fmla="*/ 131 w 167"/>
                <a:gd name="T41" fmla="*/ 154 h 169"/>
                <a:gd name="T42" fmla="*/ 154 w 167"/>
                <a:gd name="T43" fmla="*/ 131 h 169"/>
                <a:gd name="T44" fmla="*/ 164 w 167"/>
                <a:gd name="T45" fmla="*/ 109 h 169"/>
                <a:gd name="T46" fmla="*/ 167 w 167"/>
                <a:gd name="T47" fmla="*/ 92 h 169"/>
                <a:gd name="T48" fmla="*/ 164 w 167"/>
                <a:gd name="T49" fmla="*/ 84 h 169"/>
                <a:gd name="T50" fmla="*/ 157 w 167"/>
                <a:gd name="T51" fmla="*/ 114 h 169"/>
                <a:gd name="T52" fmla="*/ 141 w 167"/>
                <a:gd name="T53" fmla="*/ 140 h 169"/>
                <a:gd name="T54" fmla="*/ 114 w 167"/>
                <a:gd name="T55" fmla="*/ 157 h 169"/>
                <a:gd name="T56" fmla="*/ 84 w 167"/>
                <a:gd name="T57" fmla="*/ 164 h 169"/>
                <a:gd name="T58" fmla="*/ 53 w 167"/>
                <a:gd name="T59" fmla="*/ 157 h 169"/>
                <a:gd name="T60" fmla="*/ 28 w 167"/>
                <a:gd name="T61" fmla="*/ 140 h 169"/>
                <a:gd name="T62" fmla="*/ 12 w 167"/>
                <a:gd name="T63" fmla="*/ 114 h 169"/>
                <a:gd name="T64" fmla="*/ 5 w 167"/>
                <a:gd name="T65" fmla="*/ 84 h 169"/>
                <a:gd name="T66" fmla="*/ 12 w 167"/>
                <a:gd name="T67" fmla="*/ 53 h 169"/>
                <a:gd name="T68" fmla="*/ 28 w 167"/>
                <a:gd name="T69" fmla="*/ 28 h 169"/>
                <a:gd name="T70" fmla="*/ 53 w 167"/>
                <a:gd name="T71" fmla="*/ 11 h 169"/>
                <a:gd name="T72" fmla="*/ 84 w 167"/>
                <a:gd name="T73" fmla="*/ 5 h 169"/>
                <a:gd name="T74" fmla="*/ 114 w 167"/>
                <a:gd name="T75" fmla="*/ 11 h 169"/>
                <a:gd name="T76" fmla="*/ 141 w 167"/>
                <a:gd name="T77" fmla="*/ 28 h 169"/>
                <a:gd name="T78" fmla="*/ 157 w 167"/>
                <a:gd name="T79" fmla="*/ 53 h 169"/>
                <a:gd name="T80" fmla="*/ 164 w 167"/>
                <a:gd name="T81" fmla="*/ 84 h 1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67" h="169">
                  <a:moveTo>
                    <a:pt x="167" y="84"/>
                  </a:moveTo>
                  <a:lnTo>
                    <a:pt x="167" y="76"/>
                  </a:lnTo>
                  <a:lnTo>
                    <a:pt x="166" y="68"/>
                  </a:lnTo>
                  <a:lnTo>
                    <a:pt x="164" y="59"/>
                  </a:lnTo>
                  <a:lnTo>
                    <a:pt x="161" y="51"/>
                  </a:lnTo>
                  <a:lnTo>
                    <a:pt x="154" y="38"/>
                  </a:lnTo>
                  <a:lnTo>
                    <a:pt x="144" y="25"/>
                  </a:lnTo>
                  <a:lnTo>
                    <a:pt x="131" y="15"/>
                  </a:lnTo>
                  <a:lnTo>
                    <a:pt x="118" y="6"/>
                  </a:lnTo>
                  <a:lnTo>
                    <a:pt x="109" y="5"/>
                  </a:lnTo>
                  <a:lnTo>
                    <a:pt x="101" y="1"/>
                  </a:lnTo>
                  <a:lnTo>
                    <a:pt x="93" y="1"/>
                  </a:lnTo>
                  <a:lnTo>
                    <a:pt x="84" y="0"/>
                  </a:lnTo>
                  <a:lnTo>
                    <a:pt x="76" y="1"/>
                  </a:lnTo>
                  <a:lnTo>
                    <a:pt x="68" y="1"/>
                  </a:lnTo>
                  <a:lnTo>
                    <a:pt x="60" y="5"/>
                  </a:lnTo>
                  <a:lnTo>
                    <a:pt x="51" y="6"/>
                  </a:lnTo>
                  <a:lnTo>
                    <a:pt x="38" y="15"/>
                  </a:lnTo>
                  <a:lnTo>
                    <a:pt x="25" y="25"/>
                  </a:lnTo>
                  <a:lnTo>
                    <a:pt x="15" y="38"/>
                  </a:lnTo>
                  <a:lnTo>
                    <a:pt x="7" y="51"/>
                  </a:lnTo>
                  <a:lnTo>
                    <a:pt x="5" y="59"/>
                  </a:lnTo>
                  <a:lnTo>
                    <a:pt x="2" y="68"/>
                  </a:lnTo>
                  <a:lnTo>
                    <a:pt x="0" y="76"/>
                  </a:lnTo>
                  <a:lnTo>
                    <a:pt x="0" y="84"/>
                  </a:lnTo>
                  <a:lnTo>
                    <a:pt x="0" y="92"/>
                  </a:lnTo>
                  <a:lnTo>
                    <a:pt x="2" y="101"/>
                  </a:lnTo>
                  <a:lnTo>
                    <a:pt x="5" y="109"/>
                  </a:lnTo>
                  <a:lnTo>
                    <a:pt x="7" y="117"/>
                  </a:lnTo>
                  <a:lnTo>
                    <a:pt x="15" y="131"/>
                  </a:lnTo>
                  <a:lnTo>
                    <a:pt x="25" y="144"/>
                  </a:lnTo>
                  <a:lnTo>
                    <a:pt x="38" y="154"/>
                  </a:lnTo>
                  <a:lnTo>
                    <a:pt x="51" y="162"/>
                  </a:lnTo>
                  <a:lnTo>
                    <a:pt x="60" y="164"/>
                  </a:lnTo>
                  <a:lnTo>
                    <a:pt x="68" y="165"/>
                  </a:lnTo>
                  <a:lnTo>
                    <a:pt x="76" y="167"/>
                  </a:lnTo>
                  <a:lnTo>
                    <a:pt x="84" y="169"/>
                  </a:lnTo>
                  <a:lnTo>
                    <a:pt x="93" y="167"/>
                  </a:lnTo>
                  <a:lnTo>
                    <a:pt x="101" y="165"/>
                  </a:lnTo>
                  <a:lnTo>
                    <a:pt x="109" y="164"/>
                  </a:lnTo>
                  <a:lnTo>
                    <a:pt x="118" y="162"/>
                  </a:lnTo>
                  <a:lnTo>
                    <a:pt x="131" y="154"/>
                  </a:lnTo>
                  <a:lnTo>
                    <a:pt x="144" y="144"/>
                  </a:lnTo>
                  <a:lnTo>
                    <a:pt x="154" y="131"/>
                  </a:lnTo>
                  <a:lnTo>
                    <a:pt x="161" y="117"/>
                  </a:lnTo>
                  <a:lnTo>
                    <a:pt x="164" y="109"/>
                  </a:lnTo>
                  <a:lnTo>
                    <a:pt x="166" y="101"/>
                  </a:lnTo>
                  <a:lnTo>
                    <a:pt x="167" y="92"/>
                  </a:lnTo>
                  <a:lnTo>
                    <a:pt x="167" y="84"/>
                  </a:lnTo>
                  <a:close/>
                  <a:moveTo>
                    <a:pt x="164" y="84"/>
                  </a:moveTo>
                  <a:lnTo>
                    <a:pt x="162" y="101"/>
                  </a:lnTo>
                  <a:lnTo>
                    <a:pt x="157" y="114"/>
                  </a:lnTo>
                  <a:lnTo>
                    <a:pt x="149" y="129"/>
                  </a:lnTo>
                  <a:lnTo>
                    <a:pt x="141" y="140"/>
                  </a:lnTo>
                  <a:lnTo>
                    <a:pt x="129" y="149"/>
                  </a:lnTo>
                  <a:lnTo>
                    <a:pt x="114" y="157"/>
                  </a:lnTo>
                  <a:lnTo>
                    <a:pt x="99" y="162"/>
                  </a:lnTo>
                  <a:lnTo>
                    <a:pt x="84" y="164"/>
                  </a:lnTo>
                  <a:lnTo>
                    <a:pt x="68" y="162"/>
                  </a:lnTo>
                  <a:lnTo>
                    <a:pt x="53" y="157"/>
                  </a:lnTo>
                  <a:lnTo>
                    <a:pt x="40" y="149"/>
                  </a:lnTo>
                  <a:lnTo>
                    <a:pt x="28" y="140"/>
                  </a:lnTo>
                  <a:lnTo>
                    <a:pt x="18" y="129"/>
                  </a:lnTo>
                  <a:lnTo>
                    <a:pt x="12" y="114"/>
                  </a:lnTo>
                  <a:lnTo>
                    <a:pt x="7" y="101"/>
                  </a:lnTo>
                  <a:lnTo>
                    <a:pt x="5" y="84"/>
                  </a:lnTo>
                  <a:lnTo>
                    <a:pt x="7" y="68"/>
                  </a:lnTo>
                  <a:lnTo>
                    <a:pt x="12" y="53"/>
                  </a:lnTo>
                  <a:lnTo>
                    <a:pt x="18" y="39"/>
                  </a:lnTo>
                  <a:lnTo>
                    <a:pt x="28" y="28"/>
                  </a:lnTo>
                  <a:lnTo>
                    <a:pt x="40" y="18"/>
                  </a:lnTo>
                  <a:lnTo>
                    <a:pt x="53" y="11"/>
                  </a:lnTo>
                  <a:lnTo>
                    <a:pt x="68" y="6"/>
                  </a:lnTo>
                  <a:lnTo>
                    <a:pt x="84" y="5"/>
                  </a:lnTo>
                  <a:lnTo>
                    <a:pt x="99" y="6"/>
                  </a:lnTo>
                  <a:lnTo>
                    <a:pt x="114" y="11"/>
                  </a:lnTo>
                  <a:lnTo>
                    <a:pt x="129" y="18"/>
                  </a:lnTo>
                  <a:lnTo>
                    <a:pt x="141" y="28"/>
                  </a:lnTo>
                  <a:lnTo>
                    <a:pt x="149" y="39"/>
                  </a:lnTo>
                  <a:lnTo>
                    <a:pt x="157" y="53"/>
                  </a:lnTo>
                  <a:lnTo>
                    <a:pt x="162" y="68"/>
                  </a:lnTo>
                  <a:lnTo>
                    <a:pt x="164" y="84"/>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07" name="Freeform 248">
              <a:extLst>
                <a:ext uri="{FF2B5EF4-FFF2-40B4-BE49-F238E27FC236}">
                  <a16:creationId xmlns:a16="http://schemas.microsoft.com/office/drawing/2014/main" id="{32683C1B-A59F-D27B-97CE-D165FBD7A470}"/>
                </a:ext>
              </a:extLst>
            </p:cNvPr>
            <p:cNvSpPr>
              <a:spLocks noEditPoints="1"/>
            </p:cNvSpPr>
            <p:nvPr/>
          </p:nvSpPr>
          <p:spPr bwMode="auto">
            <a:xfrm>
              <a:off x="1755" y="1532"/>
              <a:ext cx="163" cy="162"/>
            </a:xfrm>
            <a:custGeom>
              <a:avLst/>
              <a:gdLst>
                <a:gd name="T0" fmla="*/ 161 w 163"/>
                <a:gd name="T1" fmla="*/ 65 h 162"/>
                <a:gd name="T2" fmla="*/ 149 w 163"/>
                <a:gd name="T3" fmla="*/ 35 h 162"/>
                <a:gd name="T4" fmla="*/ 126 w 163"/>
                <a:gd name="T5" fmla="*/ 13 h 162"/>
                <a:gd name="T6" fmla="*/ 98 w 163"/>
                <a:gd name="T7" fmla="*/ 2 h 162"/>
                <a:gd name="T8" fmla="*/ 65 w 163"/>
                <a:gd name="T9" fmla="*/ 2 h 162"/>
                <a:gd name="T10" fmla="*/ 35 w 163"/>
                <a:gd name="T11" fmla="*/ 13 h 162"/>
                <a:gd name="T12" fmla="*/ 14 w 163"/>
                <a:gd name="T13" fmla="*/ 35 h 162"/>
                <a:gd name="T14" fmla="*/ 2 w 163"/>
                <a:gd name="T15" fmla="*/ 65 h 162"/>
                <a:gd name="T16" fmla="*/ 2 w 163"/>
                <a:gd name="T17" fmla="*/ 98 h 162"/>
                <a:gd name="T18" fmla="*/ 14 w 163"/>
                <a:gd name="T19" fmla="*/ 126 h 162"/>
                <a:gd name="T20" fmla="*/ 35 w 163"/>
                <a:gd name="T21" fmla="*/ 149 h 162"/>
                <a:gd name="T22" fmla="*/ 65 w 163"/>
                <a:gd name="T23" fmla="*/ 161 h 162"/>
                <a:gd name="T24" fmla="*/ 98 w 163"/>
                <a:gd name="T25" fmla="*/ 161 h 162"/>
                <a:gd name="T26" fmla="*/ 126 w 163"/>
                <a:gd name="T27" fmla="*/ 149 h 162"/>
                <a:gd name="T28" fmla="*/ 149 w 163"/>
                <a:gd name="T29" fmla="*/ 126 h 162"/>
                <a:gd name="T30" fmla="*/ 161 w 163"/>
                <a:gd name="T31" fmla="*/ 98 h 162"/>
                <a:gd name="T32" fmla="*/ 158 w 163"/>
                <a:gd name="T33" fmla="*/ 81 h 162"/>
                <a:gd name="T34" fmla="*/ 151 w 163"/>
                <a:gd name="T35" fmla="*/ 111 h 162"/>
                <a:gd name="T36" fmla="*/ 136 w 163"/>
                <a:gd name="T37" fmla="*/ 136 h 162"/>
                <a:gd name="T38" fmla="*/ 111 w 163"/>
                <a:gd name="T39" fmla="*/ 152 h 162"/>
                <a:gd name="T40" fmla="*/ 81 w 163"/>
                <a:gd name="T41" fmla="*/ 157 h 162"/>
                <a:gd name="T42" fmla="*/ 52 w 163"/>
                <a:gd name="T43" fmla="*/ 152 h 162"/>
                <a:gd name="T44" fmla="*/ 27 w 163"/>
                <a:gd name="T45" fmla="*/ 136 h 162"/>
                <a:gd name="T46" fmla="*/ 10 w 163"/>
                <a:gd name="T47" fmla="*/ 111 h 162"/>
                <a:gd name="T48" fmla="*/ 5 w 163"/>
                <a:gd name="T49" fmla="*/ 81 h 162"/>
                <a:gd name="T50" fmla="*/ 10 w 163"/>
                <a:gd name="T51" fmla="*/ 51 h 162"/>
                <a:gd name="T52" fmla="*/ 27 w 163"/>
                <a:gd name="T53" fmla="*/ 27 h 162"/>
                <a:gd name="T54" fmla="*/ 52 w 163"/>
                <a:gd name="T55" fmla="*/ 10 h 162"/>
                <a:gd name="T56" fmla="*/ 81 w 163"/>
                <a:gd name="T57" fmla="*/ 5 h 162"/>
                <a:gd name="T58" fmla="*/ 111 w 163"/>
                <a:gd name="T59" fmla="*/ 10 h 162"/>
                <a:gd name="T60" fmla="*/ 136 w 163"/>
                <a:gd name="T61" fmla="*/ 27 h 162"/>
                <a:gd name="T62" fmla="*/ 151 w 163"/>
                <a:gd name="T63" fmla="*/ 51 h 162"/>
                <a:gd name="T64" fmla="*/ 158 w 163"/>
                <a:gd name="T65" fmla="*/ 81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63" h="162">
                  <a:moveTo>
                    <a:pt x="163" y="81"/>
                  </a:moveTo>
                  <a:lnTo>
                    <a:pt x="161" y="65"/>
                  </a:lnTo>
                  <a:lnTo>
                    <a:pt x="156" y="50"/>
                  </a:lnTo>
                  <a:lnTo>
                    <a:pt x="149" y="35"/>
                  </a:lnTo>
                  <a:lnTo>
                    <a:pt x="139" y="23"/>
                  </a:lnTo>
                  <a:lnTo>
                    <a:pt x="126" y="13"/>
                  </a:lnTo>
                  <a:lnTo>
                    <a:pt x="113" y="7"/>
                  </a:lnTo>
                  <a:lnTo>
                    <a:pt x="98" y="2"/>
                  </a:lnTo>
                  <a:lnTo>
                    <a:pt x="81" y="0"/>
                  </a:lnTo>
                  <a:lnTo>
                    <a:pt x="65" y="2"/>
                  </a:lnTo>
                  <a:lnTo>
                    <a:pt x="50" y="7"/>
                  </a:lnTo>
                  <a:lnTo>
                    <a:pt x="35" y="13"/>
                  </a:lnTo>
                  <a:lnTo>
                    <a:pt x="23" y="23"/>
                  </a:lnTo>
                  <a:lnTo>
                    <a:pt x="14" y="35"/>
                  </a:lnTo>
                  <a:lnTo>
                    <a:pt x="7" y="50"/>
                  </a:lnTo>
                  <a:lnTo>
                    <a:pt x="2" y="65"/>
                  </a:lnTo>
                  <a:lnTo>
                    <a:pt x="0" y="81"/>
                  </a:lnTo>
                  <a:lnTo>
                    <a:pt x="2" y="98"/>
                  </a:lnTo>
                  <a:lnTo>
                    <a:pt x="7" y="113"/>
                  </a:lnTo>
                  <a:lnTo>
                    <a:pt x="14" y="126"/>
                  </a:lnTo>
                  <a:lnTo>
                    <a:pt x="23" y="139"/>
                  </a:lnTo>
                  <a:lnTo>
                    <a:pt x="35" y="149"/>
                  </a:lnTo>
                  <a:lnTo>
                    <a:pt x="50" y="156"/>
                  </a:lnTo>
                  <a:lnTo>
                    <a:pt x="65" y="161"/>
                  </a:lnTo>
                  <a:lnTo>
                    <a:pt x="81" y="162"/>
                  </a:lnTo>
                  <a:lnTo>
                    <a:pt x="98" y="161"/>
                  </a:lnTo>
                  <a:lnTo>
                    <a:pt x="113" y="156"/>
                  </a:lnTo>
                  <a:lnTo>
                    <a:pt x="126" y="149"/>
                  </a:lnTo>
                  <a:lnTo>
                    <a:pt x="139" y="139"/>
                  </a:lnTo>
                  <a:lnTo>
                    <a:pt x="149" y="126"/>
                  </a:lnTo>
                  <a:lnTo>
                    <a:pt x="156" y="113"/>
                  </a:lnTo>
                  <a:lnTo>
                    <a:pt x="161" y="98"/>
                  </a:lnTo>
                  <a:lnTo>
                    <a:pt x="163" y="81"/>
                  </a:lnTo>
                  <a:close/>
                  <a:moveTo>
                    <a:pt x="158" y="81"/>
                  </a:moveTo>
                  <a:lnTo>
                    <a:pt x="156" y="96"/>
                  </a:lnTo>
                  <a:lnTo>
                    <a:pt x="151" y="111"/>
                  </a:lnTo>
                  <a:lnTo>
                    <a:pt x="144" y="124"/>
                  </a:lnTo>
                  <a:lnTo>
                    <a:pt x="136" y="136"/>
                  </a:lnTo>
                  <a:lnTo>
                    <a:pt x="124" y="144"/>
                  </a:lnTo>
                  <a:lnTo>
                    <a:pt x="111" y="152"/>
                  </a:lnTo>
                  <a:lnTo>
                    <a:pt x="96" y="156"/>
                  </a:lnTo>
                  <a:lnTo>
                    <a:pt x="81" y="157"/>
                  </a:lnTo>
                  <a:lnTo>
                    <a:pt x="67" y="156"/>
                  </a:lnTo>
                  <a:lnTo>
                    <a:pt x="52" y="152"/>
                  </a:lnTo>
                  <a:lnTo>
                    <a:pt x="38" y="144"/>
                  </a:lnTo>
                  <a:lnTo>
                    <a:pt x="27" y="136"/>
                  </a:lnTo>
                  <a:lnTo>
                    <a:pt x="17" y="124"/>
                  </a:lnTo>
                  <a:lnTo>
                    <a:pt x="10" y="111"/>
                  </a:lnTo>
                  <a:lnTo>
                    <a:pt x="7" y="96"/>
                  </a:lnTo>
                  <a:lnTo>
                    <a:pt x="5" y="81"/>
                  </a:lnTo>
                  <a:lnTo>
                    <a:pt x="7" y="66"/>
                  </a:lnTo>
                  <a:lnTo>
                    <a:pt x="10" y="51"/>
                  </a:lnTo>
                  <a:lnTo>
                    <a:pt x="17" y="38"/>
                  </a:lnTo>
                  <a:lnTo>
                    <a:pt x="27" y="27"/>
                  </a:lnTo>
                  <a:lnTo>
                    <a:pt x="38" y="18"/>
                  </a:lnTo>
                  <a:lnTo>
                    <a:pt x="52" y="10"/>
                  </a:lnTo>
                  <a:lnTo>
                    <a:pt x="67" y="7"/>
                  </a:lnTo>
                  <a:lnTo>
                    <a:pt x="81" y="5"/>
                  </a:lnTo>
                  <a:lnTo>
                    <a:pt x="96" y="7"/>
                  </a:lnTo>
                  <a:lnTo>
                    <a:pt x="111" y="10"/>
                  </a:lnTo>
                  <a:lnTo>
                    <a:pt x="124" y="18"/>
                  </a:lnTo>
                  <a:lnTo>
                    <a:pt x="136" y="27"/>
                  </a:lnTo>
                  <a:lnTo>
                    <a:pt x="144" y="38"/>
                  </a:lnTo>
                  <a:lnTo>
                    <a:pt x="151" y="51"/>
                  </a:lnTo>
                  <a:lnTo>
                    <a:pt x="156" y="66"/>
                  </a:lnTo>
                  <a:lnTo>
                    <a:pt x="158" y="81"/>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08" name="Freeform 249">
              <a:extLst>
                <a:ext uri="{FF2B5EF4-FFF2-40B4-BE49-F238E27FC236}">
                  <a16:creationId xmlns:a16="http://schemas.microsoft.com/office/drawing/2014/main" id="{00C0B067-DB6C-5E83-B137-A028231A560E}"/>
                </a:ext>
              </a:extLst>
            </p:cNvPr>
            <p:cNvSpPr>
              <a:spLocks noEditPoints="1"/>
            </p:cNvSpPr>
            <p:nvPr/>
          </p:nvSpPr>
          <p:spPr bwMode="auto">
            <a:xfrm>
              <a:off x="1757" y="1534"/>
              <a:ext cx="159" cy="159"/>
            </a:xfrm>
            <a:custGeom>
              <a:avLst/>
              <a:gdLst>
                <a:gd name="T0" fmla="*/ 157 w 159"/>
                <a:gd name="T1" fmla="*/ 63 h 159"/>
                <a:gd name="T2" fmla="*/ 144 w 159"/>
                <a:gd name="T3" fmla="*/ 34 h 159"/>
                <a:gd name="T4" fmla="*/ 124 w 159"/>
                <a:gd name="T5" fmla="*/ 13 h 159"/>
                <a:gd name="T6" fmla="*/ 94 w 159"/>
                <a:gd name="T7" fmla="*/ 1 h 159"/>
                <a:gd name="T8" fmla="*/ 63 w 159"/>
                <a:gd name="T9" fmla="*/ 1 h 159"/>
                <a:gd name="T10" fmla="*/ 35 w 159"/>
                <a:gd name="T11" fmla="*/ 13 h 159"/>
                <a:gd name="T12" fmla="*/ 13 w 159"/>
                <a:gd name="T13" fmla="*/ 34 h 159"/>
                <a:gd name="T14" fmla="*/ 2 w 159"/>
                <a:gd name="T15" fmla="*/ 63 h 159"/>
                <a:gd name="T16" fmla="*/ 2 w 159"/>
                <a:gd name="T17" fmla="*/ 96 h 159"/>
                <a:gd name="T18" fmla="*/ 13 w 159"/>
                <a:gd name="T19" fmla="*/ 124 h 159"/>
                <a:gd name="T20" fmla="*/ 35 w 159"/>
                <a:gd name="T21" fmla="*/ 144 h 159"/>
                <a:gd name="T22" fmla="*/ 63 w 159"/>
                <a:gd name="T23" fmla="*/ 157 h 159"/>
                <a:gd name="T24" fmla="*/ 94 w 159"/>
                <a:gd name="T25" fmla="*/ 157 h 159"/>
                <a:gd name="T26" fmla="*/ 124 w 159"/>
                <a:gd name="T27" fmla="*/ 144 h 159"/>
                <a:gd name="T28" fmla="*/ 144 w 159"/>
                <a:gd name="T29" fmla="*/ 124 h 159"/>
                <a:gd name="T30" fmla="*/ 157 w 159"/>
                <a:gd name="T31" fmla="*/ 96 h 159"/>
                <a:gd name="T32" fmla="*/ 154 w 159"/>
                <a:gd name="T33" fmla="*/ 79 h 159"/>
                <a:gd name="T34" fmla="*/ 147 w 159"/>
                <a:gd name="T35" fmla="*/ 107 h 159"/>
                <a:gd name="T36" fmla="*/ 132 w 159"/>
                <a:gd name="T37" fmla="*/ 132 h 159"/>
                <a:gd name="T38" fmla="*/ 108 w 159"/>
                <a:gd name="T39" fmla="*/ 147 h 159"/>
                <a:gd name="T40" fmla="*/ 79 w 159"/>
                <a:gd name="T41" fmla="*/ 154 h 159"/>
                <a:gd name="T42" fmla="*/ 50 w 159"/>
                <a:gd name="T43" fmla="*/ 147 h 159"/>
                <a:gd name="T44" fmla="*/ 26 w 159"/>
                <a:gd name="T45" fmla="*/ 132 h 159"/>
                <a:gd name="T46" fmla="*/ 12 w 159"/>
                <a:gd name="T47" fmla="*/ 107 h 159"/>
                <a:gd name="T48" fmla="*/ 5 w 159"/>
                <a:gd name="T49" fmla="*/ 79 h 159"/>
                <a:gd name="T50" fmla="*/ 12 w 159"/>
                <a:gd name="T51" fmla="*/ 49 h 159"/>
                <a:gd name="T52" fmla="*/ 26 w 159"/>
                <a:gd name="T53" fmla="*/ 26 h 159"/>
                <a:gd name="T54" fmla="*/ 50 w 159"/>
                <a:gd name="T55" fmla="*/ 11 h 159"/>
                <a:gd name="T56" fmla="*/ 79 w 159"/>
                <a:gd name="T57" fmla="*/ 5 h 159"/>
                <a:gd name="T58" fmla="*/ 108 w 159"/>
                <a:gd name="T59" fmla="*/ 11 h 159"/>
                <a:gd name="T60" fmla="*/ 132 w 159"/>
                <a:gd name="T61" fmla="*/ 26 h 159"/>
                <a:gd name="T62" fmla="*/ 147 w 159"/>
                <a:gd name="T63" fmla="*/ 49 h 159"/>
                <a:gd name="T64" fmla="*/ 154 w 159"/>
                <a:gd name="T65" fmla="*/ 7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9" h="159">
                  <a:moveTo>
                    <a:pt x="159" y="79"/>
                  </a:moveTo>
                  <a:lnTo>
                    <a:pt x="157" y="63"/>
                  </a:lnTo>
                  <a:lnTo>
                    <a:pt x="152" y="48"/>
                  </a:lnTo>
                  <a:lnTo>
                    <a:pt x="144" y="34"/>
                  </a:lnTo>
                  <a:lnTo>
                    <a:pt x="136" y="23"/>
                  </a:lnTo>
                  <a:lnTo>
                    <a:pt x="124" y="13"/>
                  </a:lnTo>
                  <a:lnTo>
                    <a:pt x="109" y="6"/>
                  </a:lnTo>
                  <a:lnTo>
                    <a:pt x="94" y="1"/>
                  </a:lnTo>
                  <a:lnTo>
                    <a:pt x="79" y="0"/>
                  </a:lnTo>
                  <a:lnTo>
                    <a:pt x="63" y="1"/>
                  </a:lnTo>
                  <a:lnTo>
                    <a:pt x="48" y="6"/>
                  </a:lnTo>
                  <a:lnTo>
                    <a:pt x="35" y="13"/>
                  </a:lnTo>
                  <a:lnTo>
                    <a:pt x="23" y="23"/>
                  </a:lnTo>
                  <a:lnTo>
                    <a:pt x="13" y="34"/>
                  </a:lnTo>
                  <a:lnTo>
                    <a:pt x="7" y="48"/>
                  </a:lnTo>
                  <a:lnTo>
                    <a:pt x="2" y="63"/>
                  </a:lnTo>
                  <a:lnTo>
                    <a:pt x="0" y="79"/>
                  </a:lnTo>
                  <a:lnTo>
                    <a:pt x="2" y="96"/>
                  </a:lnTo>
                  <a:lnTo>
                    <a:pt x="7" y="109"/>
                  </a:lnTo>
                  <a:lnTo>
                    <a:pt x="13" y="124"/>
                  </a:lnTo>
                  <a:lnTo>
                    <a:pt x="23" y="135"/>
                  </a:lnTo>
                  <a:lnTo>
                    <a:pt x="35" y="144"/>
                  </a:lnTo>
                  <a:lnTo>
                    <a:pt x="48" y="152"/>
                  </a:lnTo>
                  <a:lnTo>
                    <a:pt x="63" y="157"/>
                  </a:lnTo>
                  <a:lnTo>
                    <a:pt x="79" y="159"/>
                  </a:lnTo>
                  <a:lnTo>
                    <a:pt x="94" y="157"/>
                  </a:lnTo>
                  <a:lnTo>
                    <a:pt x="109" y="152"/>
                  </a:lnTo>
                  <a:lnTo>
                    <a:pt x="124" y="144"/>
                  </a:lnTo>
                  <a:lnTo>
                    <a:pt x="136" y="135"/>
                  </a:lnTo>
                  <a:lnTo>
                    <a:pt x="144" y="124"/>
                  </a:lnTo>
                  <a:lnTo>
                    <a:pt x="152" y="109"/>
                  </a:lnTo>
                  <a:lnTo>
                    <a:pt x="157" y="96"/>
                  </a:lnTo>
                  <a:lnTo>
                    <a:pt x="159" y="79"/>
                  </a:lnTo>
                  <a:close/>
                  <a:moveTo>
                    <a:pt x="154" y="79"/>
                  </a:moveTo>
                  <a:lnTo>
                    <a:pt x="152" y="94"/>
                  </a:lnTo>
                  <a:lnTo>
                    <a:pt x="147" y="107"/>
                  </a:lnTo>
                  <a:lnTo>
                    <a:pt x="141" y="121"/>
                  </a:lnTo>
                  <a:lnTo>
                    <a:pt x="132" y="132"/>
                  </a:lnTo>
                  <a:lnTo>
                    <a:pt x="121" y="140"/>
                  </a:lnTo>
                  <a:lnTo>
                    <a:pt x="108" y="147"/>
                  </a:lnTo>
                  <a:lnTo>
                    <a:pt x="94" y="152"/>
                  </a:lnTo>
                  <a:lnTo>
                    <a:pt x="79" y="154"/>
                  </a:lnTo>
                  <a:lnTo>
                    <a:pt x="65" y="152"/>
                  </a:lnTo>
                  <a:lnTo>
                    <a:pt x="50" y="147"/>
                  </a:lnTo>
                  <a:lnTo>
                    <a:pt x="38" y="140"/>
                  </a:lnTo>
                  <a:lnTo>
                    <a:pt x="26" y="132"/>
                  </a:lnTo>
                  <a:lnTo>
                    <a:pt x="18" y="121"/>
                  </a:lnTo>
                  <a:lnTo>
                    <a:pt x="12" y="107"/>
                  </a:lnTo>
                  <a:lnTo>
                    <a:pt x="7" y="94"/>
                  </a:lnTo>
                  <a:lnTo>
                    <a:pt x="5" y="79"/>
                  </a:lnTo>
                  <a:lnTo>
                    <a:pt x="7" y="64"/>
                  </a:lnTo>
                  <a:lnTo>
                    <a:pt x="12" y="49"/>
                  </a:lnTo>
                  <a:lnTo>
                    <a:pt x="18" y="38"/>
                  </a:lnTo>
                  <a:lnTo>
                    <a:pt x="26" y="26"/>
                  </a:lnTo>
                  <a:lnTo>
                    <a:pt x="38" y="18"/>
                  </a:lnTo>
                  <a:lnTo>
                    <a:pt x="50" y="11"/>
                  </a:lnTo>
                  <a:lnTo>
                    <a:pt x="65" y="6"/>
                  </a:lnTo>
                  <a:lnTo>
                    <a:pt x="79" y="5"/>
                  </a:lnTo>
                  <a:lnTo>
                    <a:pt x="94" y="6"/>
                  </a:lnTo>
                  <a:lnTo>
                    <a:pt x="108" y="11"/>
                  </a:lnTo>
                  <a:lnTo>
                    <a:pt x="121" y="18"/>
                  </a:lnTo>
                  <a:lnTo>
                    <a:pt x="132" y="26"/>
                  </a:lnTo>
                  <a:lnTo>
                    <a:pt x="141" y="38"/>
                  </a:lnTo>
                  <a:lnTo>
                    <a:pt x="147" y="49"/>
                  </a:lnTo>
                  <a:lnTo>
                    <a:pt x="152" y="64"/>
                  </a:lnTo>
                  <a:lnTo>
                    <a:pt x="154" y="79"/>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09" name="Freeform 250">
              <a:extLst>
                <a:ext uri="{FF2B5EF4-FFF2-40B4-BE49-F238E27FC236}">
                  <a16:creationId xmlns:a16="http://schemas.microsoft.com/office/drawing/2014/main" id="{E59A9F76-B5BF-96AA-E1E0-DCDFB4D3316B}"/>
                </a:ext>
              </a:extLst>
            </p:cNvPr>
            <p:cNvSpPr>
              <a:spLocks noEditPoints="1"/>
            </p:cNvSpPr>
            <p:nvPr/>
          </p:nvSpPr>
          <p:spPr bwMode="auto">
            <a:xfrm>
              <a:off x="1760" y="1537"/>
              <a:ext cx="153" cy="152"/>
            </a:xfrm>
            <a:custGeom>
              <a:avLst/>
              <a:gdLst>
                <a:gd name="T0" fmla="*/ 151 w 153"/>
                <a:gd name="T1" fmla="*/ 61 h 152"/>
                <a:gd name="T2" fmla="*/ 139 w 153"/>
                <a:gd name="T3" fmla="*/ 33 h 152"/>
                <a:gd name="T4" fmla="*/ 119 w 153"/>
                <a:gd name="T5" fmla="*/ 13 h 152"/>
                <a:gd name="T6" fmla="*/ 91 w 153"/>
                <a:gd name="T7" fmla="*/ 2 h 152"/>
                <a:gd name="T8" fmla="*/ 62 w 153"/>
                <a:gd name="T9" fmla="*/ 2 h 152"/>
                <a:gd name="T10" fmla="*/ 33 w 153"/>
                <a:gd name="T11" fmla="*/ 13 h 152"/>
                <a:gd name="T12" fmla="*/ 12 w 153"/>
                <a:gd name="T13" fmla="*/ 33 h 152"/>
                <a:gd name="T14" fmla="*/ 2 w 153"/>
                <a:gd name="T15" fmla="*/ 61 h 152"/>
                <a:gd name="T16" fmla="*/ 2 w 153"/>
                <a:gd name="T17" fmla="*/ 91 h 152"/>
                <a:gd name="T18" fmla="*/ 12 w 153"/>
                <a:gd name="T19" fmla="*/ 119 h 152"/>
                <a:gd name="T20" fmla="*/ 33 w 153"/>
                <a:gd name="T21" fmla="*/ 139 h 152"/>
                <a:gd name="T22" fmla="*/ 62 w 153"/>
                <a:gd name="T23" fmla="*/ 151 h 152"/>
                <a:gd name="T24" fmla="*/ 91 w 153"/>
                <a:gd name="T25" fmla="*/ 151 h 152"/>
                <a:gd name="T26" fmla="*/ 119 w 153"/>
                <a:gd name="T27" fmla="*/ 139 h 152"/>
                <a:gd name="T28" fmla="*/ 139 w 153"/>
                <a:gd name="T29" fmla="*/ 119 h 152"/>
                <a:gd name="T30" fmla="*/ 151 w 153"/>
                <a:gd name="T31" fmla="*/ 91 h 152"/>
                <a:gd name="T32" fmla="*/ 148 w 153"/>
                <a:gd name="T33" fmla="*/ 76 h 152"/>
                <a:gd name="T34" fmla="*/ 143 w 153"/>
                <a:gd name="T35" fmla="*/ 104 h 152"/>
                <a:gd name="T36" fmla="*/ 128 w 153"/>
                <a:gd name="T37" fmla="*/ 128 h 152"/>
                <a:gd name="T38" fmla="*/ 105 w 153"/>
                <a:gd name="T39" fmla="*/ 142 h 152"/>
                <a:gd name="T40" fmla="*/ 76 w 153"/>
                <a:gd name="T41" fmla="*/ 147 h 152"/>
                <a:gd name="T42" fmla="*/ 48 w 153"/>
                <a:gd name="T43" fmla="*/ 142 h 152"/>
                <a:gd name="T44" fmla="*/ 25 w 153"/>
                <a:gd name="T45" fmla="*/ 128 h 152"/>
                <a:gd name="T46" fmla="*/ 10 w 153"/>
                <a:gd name="T47" fmla="*/ 104 h 152"/>
                <a:gd name="T48" fmla="*/ 4 w 153"/>
                <a:gd name="T49" fmla="*/ 76 h 152"/>
                <a:gd name="T50" fmla="*/ 10 w 153"/>
                <a:gd name="T51" fmla="*/ 48 h 152"/>
                <a:gd name="T52" fmla="*/ 25 w 153"/>
                <a:gd name="T53" fmla="*/ 25 h 152"/>
                <a:gd name="T54" fmla="*/ 48 w 153"/>
                <a:gd name="T55" fmla="*/ 10 h 152"/>
                <a:gd name="T56" fmla="*/ 76 w 153"/>
                <a:gd name="T57" fmla="*/ 5 h 152"/>
                <a:gd name="T58" fmla="*/ 105 w 153"/>
                <a:gd name="T59" fmla="*/ 10 h 152"/>
                <a:gd name="T60" fmla="*/ 128 w 153"/>
                <a:gd name="T61" fmla="*/ 25 h 152"/>
                <a:gd name="T62" fmla="*/ 143 w 153"/>
                <a:gd name="T63" fmla="*/ 48 h 152"/>
                <a:gd name="T64" fmla="*/ 148 w 153"/>
                <a:gd name="T65" fmla="*/ 7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3" h="152">
                  <a:moveTo>
                    <a:pt x="153" y="76"/>
                  </a:moveTo>
                  <a:lnTo>
                    <a:pt x="151" y="61"/>
                  </a:lnTo>
                  <a:lnTo>
                    <a:pt x="146" y="46"/>
                  </a:lnTo>
                  <a:lnTo>
                    <a:pt x="139" y="33"/>
                  </a:lnTo>
                  <a:lnTo>
                    <a:pt x="131" y="22"/>
                  </a:lnTo>
                  <a:lnTo>
                    <a:pt x="119" y="13"/>
                  </a:lnTo>
                  <a:lnTo>
                    <a:pt x="106" y="5"/>
                  </a:lnTo>
                  <a:lnTo>
                    <a:pt x="91" y="2"/>
                  </a:lnTo>
                  <a:lnTo>
                    <a:pt x="76" y="0"/>
                  </a:lnTo>
                  <a:lnTo>
                    <a:pt x="62" y="2"/>
                  </a:lnTo>
                  <a:lnTo>
                    <a:pt x="47" y="5"/>
                  </a:lnTo>
                  <a:lnTo>
                    <a:pt x="33" y="13"/>
                  </a:lnTo>
                  <a:lnTo>
                    <a:pt x="22" y="22"/>
                  </a:lnTo>
                  <a:lnTo>
                    <a:pt x="12" y="33"/>
                  </a:lnTo>
                  <a:lnTo>
                    <a:pt x="5" y="46"/>
                  </a:lnTo>
                  <a:lnTo>
                    <a:pt x="2" y="61"/>
                  </a:lnTo>
                  <a:lnTo>
                    <a:pt x="0" y="76"/>
                  </a:lnTo>
                  <a:lnTo>
                    <a:pt x="2" y="91"/>
                  </a:lnTo>
                  <a:lnTo>
                    <a:pt x="5" y="106"/>
                  </a:lnTo>
                  <a:lnTo>
                    <a:pt x="12" y="119"/>
                  </a:lnTo>
                  <a:lnTo>
                    <a:pt x="22" y="131"/>
                  </a:lnTo>
                  <a:lnTo>
                    <a:pt x="33" y="139"/>
                  </a:lnTo>
                  <a:lnTo>
                    <a:pt x="47" y="147"/>
                  </a:lnTo>
                  <a:lnTo>
                    <a:pt x="62" y="151"/>
                  </a:lnTo>
                  <a:lnTo>
                    <a:pt x="76" y="152"/>
                  </a:lnTo>
                  <a:lnTo>
                    <a:pt x="91" y="151"/>
                  </a:lnTo>
                  <a:lnTo>
                    <a:pt x="106" y="147"/>
                  </a:lnTo>
                  <a:lnTo>
                    <a:pt x="119" y="139"/>
                  </a:lnTo>
                  <a:lnTo>
                    <a:pt x="131" y="131"/>
                  </a:lnTo>
                  <a:lnTo>
                    <a:pt x="139" y="119"/>
                  </a:lnTo>
                  <a:lnTo>
                    <a:pt x="146" y="106"/>
                  </a:lnTo>
                  <a:lnTo>
                    <a:pt x="151" y="91"/>
                  </a:lnTo>
                  <a:lnTo>
                    <a:pt x="153" y="76"/>
                  </a:lnTo>
                  <a:close/>
                  <a:moveTo>
                    <a:pt x="148" y="76"/>
                  </a:moveTo>
                  <a:lnTo>
                    <a:pt x="146" y="91"/>
                  </a:lnTo>
                  <a:lnTo>
                    <a:pt x="143" y="104"/>
                  </a:lnTo>
                  <a:lnTo>
                    <a:pt x="136" y="116"/>
                  </a:lnTo>
                  <a:lnTo>
                    <a:pt x="128" y="128"/>
                  </a:lnTo>
                  <a:lnTo>
                    <a:pt x="116" y="136"/>
                  </a:lnTo>
                  <a:lnTo>
                    <a:pt x="105" y="142"/>
                  </a:lnTo>
                  <a:lnTo>
                    <a:pt x="91" y="146"/>
                  </a:lnTo>
                  <a:lnTo>
                    <a:pt x="76" y="147"/>
                  </a:lnTo>
                  <a:lnTo>
                    <a:pt x="62" y="146"/>
                  </a:lnTo>
                  <a:lnTo>
                    <a:pt x="48" y="142"/>
                  </a:lnTo>
                  <a:lnTo>
                    <a:pt x="37" y="136"/>
                  </a:lnTo>
                  <a:lnTo>
                    <a:pt x="25" y="128"/>
                  </a:lnTo>
                  <a:lnTo>
                    <a:pt x="17" y="116"/>
                  </a:lnTo>
                  <a:lnTo>
                    <a:pt x="10" y="104"/>
                  </a:lnTo>
                  <a:lnTo>
                    <a:pt x="5" y="91"/>
                  </a:lnTo>
                  <a:lnTo>
                    <a:pt x="4" y="76"/>
                  </a:lnTo>
                  <a:lnTo>
                    <a:pt x="5" y="61"/>
                  </a:lnTo>
                  <a:lnTo>
                    <a:pt x="10" y="48"/>
                  </a:lnTo>
                  <a:lnTo>
                    <a:pt x="17" y="36"/>
                  </a:lnTo>
                  <a:lnTo>
                    <a:pt x="25" y="25"/>
                  </a:lnTo>
                  <a:lnTo>
                    <a:pt x="37" y="17"/>
                  </a:lnTo>
                  <a:lnTo>
                    <a:pt x="48" y="10"/>
                  </a:lnTo>
                  <a:lnTo>
                    <a:pt x="62" y="5"/>
                  </a:lnTo>
                  <a:lnTo>
                    <a:pt x="76" y="5"/>
                  </a:lnTo>
                  <a:lnTo>
                    <a:pt x="91" y="5"/>
                  </a:lnTo>
                  <a:lnTo>
                    <a:pt x="105" y="10"/>
                  </a:lnTo>
                  <a:lnTo>
                    <a:pt x="116" y="17"/>
                  </a:lnTo>
                  <a:lnTo>
                    <a:pt x="128" y="25"/>
                  </a:lnTo>
                  <a:lnTo>
                    <a:pt x="136" y="36"/>
                  </a:lnTo>
                  <a:lnTo>
                    <a:pt x="143" y="48"/>
                  </a:lnTo>
                  <a:lnTo>
                    <a:pt x="146" y="61"/>
                  </a:lnTo>
                  <a:lnTo>
                    <a:pt x="148" y="76"/>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10" name="Freeform 251">
              <a:extLst>
                <a:ext uri="{FF2B5EF4-FFF2-40B4-BE49-F238E27FC236}">
                  <a16:creationId xmlns:a16="http://schemas.microsoft.com/office/drawing/2014/main" id="{D935E81A-6EBF-4EBB-A8A9-8B5B73D4CA1E}"/>
                </a:ext>
              </a:extLst>
            </p:cNvPr>
            <p:cNvSpPr>
              <a:spLocks noEditPoints="1"/>
            </p:cNvSpPr>
            <p:nvPr/>
          </p:nvSpPr>
          <p:spPr bwMode="auto">
            <a:xfrm>
              <a:off x="1762" y="1539"/>
              <a:ext cx="149" cy="149"/>
            </a:xfrm>
            <a:custGeom>
              <a:avLst/>
              <a:gdLst>
                <a:gd name="T0" fmla="*/ 147 w 149"/>
                <a:gd name="T1" fmla="*/ 59 h 149"/>
                <a:gd name="T2" fmla="*/ 136 w 149"/>
                <a:gd name="T3" fmla="*/ 33 h 149"/>
                <a:gd name="T4" fmla="*/ 116 w 149"/>
                <a:gd name="T5" fmla="*/ 13 h 149"/>
                <a:gd name="T6" fmla="*/ 89 w 149"/>
                <a:gd name="T7" fmla="*/ 1 h 149"/>
                <a:gd name="T8" fmla="*/ 60 w 149"/>
                <a:gd name="T9" fmla="*/ 1 h 149"/>
                <a:gd name="T10" fmla="*/ 33 w 149"/>
                <a:gd name="T11" fmla="*/ 13 h 149"/>
                <a:gd name="T12" fmla="*/ 13 w 149"/>
                <a:gd name="T13" fmla="*/ 33 h 149"/>
                <a:gd name="T14" fmla="*/ 2 w 149"/>
                <a:gd name="T15" fmla="*/ 59 h 149"/>
                <a:gd name="T16" fmla="*/ 2 w 149"/>
                <a:gd name="T17" fmla="*/ 89 h 149"/>
                <a:gd name="T18" fmla="*/ 13 w 149"/>
                <a:gd name="T19" fmla="*/ 116 h 149"/>
                <a:gd name="T20" fmla="*/ 33 w 149"/>
                <a:gd name="T21" fmla="*/ 135 h 149"/>
                <a:gd name="T22" fmla="*/ 60 w 149"/>
                <a:gd name="T23" fmla="*/ 147 h 149"/>
                <a:gd name="T24" fmla="*/ 89 w 149"/>
                <a:gd name="T25" fmla="*/ 147 h 149"/>
                <a:gd name="T26" fmla="*/ 116 w 149"/>
                <a:gd name="T27" fmla="*/ 135 h 149"/>
                <a:gd name="T28" fmla="*/ 136 w 149"/>
                <a:gd name="T29" fmla="*/ 116 h 149"/>
                <a:gd name="T30" fmla="*/ 147 w 149"/>
                <a:gd name="T31" fmla="*/ 89 h 149"/>
                <a:gd name="T32" fmla="*/ 144 w 149"/>
                <a:gd name="T33" fmla="*/ 74 h 149"/>
                <a:gd name="T34" fmla="*/ 137 w 149"/>
                <a:gd name="T35" fmla="*/ 101 h 149"/>
                <a:gd name="T36" fmla="*/ 122 w 149"/>
                <a:gd name="T37" fmla="*/ 124 h 149"/>
                <a:gd name="T38" fmla="*/ 101 w 149"/>
                <a:gd name="T39" fmla="*/ 139 h 149"/>
                <a:gd name="T40" fmla="*/ 74 w 149"/>
                <a:gd name="T41" fmla="*/ 144 h 149"/>
                <a:gd name="T42" fmla="*/ 48 w 149"/>
                <a:gd name="T43" fmla="*/ 139 h 149"/>
                <a:gd name="T44" fmla="*/ 25 w 149"/>
                <a:gd name="T45" fmla="*/ 124 h 149"/>
                <a:gd name="T46" fmla="*/ 10 w 149"/>
                <a:gd name="T47" fmla="*/ 101 h 149"/>
                <a:gd name="T48" fmla="*/ 5 w 149"/>
                <a:gd name="T49" fmla="*/ 74 h 149"/>
                <a:gd name="T50" fmla="*/ 10 w 149"/>
                <a:gd name="T51" fmla="*/ 48 h 149"/>
                <a:gd name="T52" fmla="*/ 25 w 149"/>
                <a:gd name="T53" fmla="*/ 25 h 149"/>
                <a:gd name="T54" fmla="*/ 48 w 149"/>
                <a:gd name="T55" fmla="*/ 10 h 149"/>
                <a:gd name="T56" fmla="*/ 74 w 149"/>
                <a:gd name="T57" fmla="*/ 5 h 149"/>
                <a:gd name="T58" fmla="*/ 101 w 149"/>
                <a:gd name="T59" fmla="*/ 10 h 149"/>
                <a:gd name="T60" fmla="*/ 122 w 149"/>
                <a:gd name="T61" fmla="*/ 25 h 149"/>
                <a:gd name="T62" fmla="*/ 137 w 149"/>
                <a:gd name="T63" fmla="*/ 48 h 149"/>
                <a:gd name="T64" fmla="*/ 144 w 149"/>
                <a:gd name="T65"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49" h="149">
                  <a:moveTo>
                    <a:pt x="149" y="74"/>
                  </a:moveTo>
                  <a:lnTo>
                    <a:pt x="147" y="59"/>
                  </a:lnTo>
                  <a:lnTo>
                    <a:pt x="142" y="44"/>
                  </a:lnTo>
                  <a:lnTo>
                    <a:pt x="136" y="33"/>
                  </a:lnTo>
                  <a:lnTo>
                    <a:pt x="127" y="21"/>
                  </a:lnTo>
                  <a:lnTo>
                    <a:pt x="116" y="13"/>
                  </a:lnTo>
                  <a:lnTo>
                    <a:pt x="103" y="6"/>
                  </a:lnTo>
                  <a:lnTo>
                    <a:pt x="89" y="1"/>
                  </a:lnTo>
                  <a:lnTo>
                    <a:pt x="74" y="0"/>
                  </a:lnTo>
                  <a:lnTo>
                    <a:pt x="60" y="1"/>
                  </a:lnTo>
                  <a:lnTo>
                    <a:pt x="45" y="6"/>
                  </a:lnTo>
                  <a:lnTo>
                    <a:pt x="33" y="13"/>
                  </a:lnTo>
                  <a:lnTo>
                    <a:pt x="21" y="21"/>
                  </a:lnTo>
                  <a:lnTo>
                    <a:pt x="13" y="33"/>
                  </a:lnTo>
                  <a:lnTo>
                    <a:pt x="7" y="44"/>
                  </a:lnTo>
                  <a:lnTo>
                    <a:pt x="2" y="59"/>
                  </a:lnTo>
                  <a:lnTo>
                    <a:pt x="0" y="74"/>
                  </a:lnTo>
                  <a:lnTo>
                    <a:pt x="2" y="89"/>
                  </a:lnTo>
                  <a:lnTo>
                    <a:pt x="7" y="102"/>
                  </a:lnTo>
                  <a:lnTo>
                    <a:pt x="13" y="116"/>
                  </a:lnTo>
                  <a:lnTo>
                    <a:pt x="21" y="127"/>
                  </a:lnTo>
                  <a:lnTo>
                    <a:pt x="33" y="135"/>
                  </a:lnTo>
                  <a:lnTo>
                    <a:pt x="45" y="142"/>
                  </a:lnTo>
                  <a:lnTo>
                    <a:pt x="60" y="147"/>
                  </a:lnTo>
                  <a:lnTo>
                    <a:pt x="74" y="149"/>
                  </a:lnTo>
                  <a:lnTo>
                    <a:pt x="89" y="147"/>
                  </a:lnTo>
                  <a:lnTo>
                    <a:pt x="103" y="142"/>
                  </a:lnTo>
                  <a:lnTo>
                    <a:pt x="116" y="135"/>
                  </a:lnTo>
                  <a:lnTo>
                    <a:pt x="127" y="127"/>
                  </a:lnTo>
                  <a:lnTo>
                    <a:pt x="136" y="116"/>
                  </a:lnTo>
                  <a:lnTo>
                    <a:pt x="142" y="102"/>
                  </a:lnTo>
                  <a:lnTo>
                    <a:pt x="147" y="89"/>
                  </a:lnTo>
                  <a:lnTo>
                    <a:pt x="149" y="74"/>
                  </a:lnTo>
                  <a:close/>
                  <a:moveTo>
                    <a:pt x="144" y="74"/>
                  </a:moveTo>
                  <a:lnTo>
                    <a:pt x="142" y="87"/>
                  </a:lnTo>
                  <a:lnTo>
                    <a:pt x="137" y="101"/>
                  </a:lnTo>
                  <a:lnTo>
                    <a:pt x="132" y="112"/>
                  </a:lnTo>
                  <a:lnTo>
                    <a:pt x="122" y="124"/>
                  </a:lnTo>
                  <a:lnTo>
                    <a:pt x="112" y="132"/>
                  </a:lnTo>
                  <a:lnTo>
                    <a:pt x="101" y="139"/>
                  </a:lnTo>
                  <a:lnTo>
                    <a:pt x="88" y="142"/>
                  </a:lnTo>
                  <a:lnTo>
                    <a:pt x="74" y="144"/>
                  </a:lnTo>
                  <a:lnTo>
                    <a:pt x="60" y="142"/>
                  </a:lnTo>
                  <a:lnTo>
                    <a:pt x="48" y="139"/>
                  </a:lnTo>
                  <a:lnTo>
                    <a:pt x="35" y="132"/>
                  </a:lnTo>
                  <a:lnTo>
                    <a:pt x="25" y="124"/>
                  </a:lnTo>
                  <a:lnTo>
                    <a:pt x="16" y="112"/>
                  </a:lnTo>
                  <a:lnTo>
                    <a:pt x="10" y="101"/>
                  </a:lnTo>
                  <a:lnTo>
                    <a:pt x="7" y="87"/>
                  </a:lnTo>
                  <a:lnTo>
                    <a:pt x="5" y="74"/>
                  </a:lnTo>
                  <a:lnTo>
                    <a:pt x="7" y="59"/>
                  </a:lnTo>
                  <a:lnTo>
                    <a:pt x="10" y="48"/>
                  </a:lnTo>
                  <a:lnTo>
                    <a:pt x="16" y="34"/>
                  </a:lnTo>
                  <a:lnTo>
                    <a:pt x="25" y="25"/>
                  </a:lnTo>
                  <a:lnTo>
                    <a:pt x="35" y="16"/>
                  </a:lnTo>
                  <a:lnTo>
                    <a:pt x="48" y="10"/>
                  </a:lnTo>
                  <a:lnTo>
                    <a:pt x="60" y="6"/>
                  </a:lnTo>
                  <a:lnTo>
                    <a:pt x="74" y="5"/>
                  </a:lnTo>
                  <a:lnTo>
                    <a:pt x="88" y="6"/>
                  </a:lnTo>
                  <a:lnTo>
                    <a:pt x="101" y="10"/>
                  </a:lnTo>
                  <a:lnTo>
                    <a:pt x="112" y="16"/>
                  </a:lnTo>
                  <a:lnTo>
                    <a:pt x="122" y="25"/>
                  </a:lnTo>
                  <a:lnTo>
                    <a:pt x="132" y="34"/>
                  </a:lnTo>
                  <a:lnTo>
                    <a:pt x="137" y="48"/>
                  </a:lnTo>
                  <a:lnTo>
                    <a:pt x="142" y="59"/>
                  </a:lnTo>
                  <a:lnTo>
                    <a:pt x="144" y="74"/>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11" name="Freeform 252">
              <a:extLst>
                <a:ext uri="{FF2B5EF4-FFF2-40B4-BE49-F238E27FC236}">
                  <a16:creationId xmlns:a16="http://schemas.microsoft.com/office/drawing/2014/main" id="{F985C691-64F1-48CB-DE0B-F608CC0FDCD6}"/>
                </a:ext>
              </a:extLst>
            </p:cNvPr>
            <p:cNvSpPr>
              <a:spLocks noEditPoints="1"/>
            </p:cNvSpPr>
            <p:nvPr/>
          </p:nvSpPr>
          <p:spPr bwMode="auto">
            <a:xfrm>
              <a:off x="1764" y="1542"/>
              <a:ext cx="144" cy="142"/>
            </a:xfrm>
            <a:custGeom>
              <a:avLst/>
              <a:gdLst>
                <a:gd name="T0" fmla="*/ 142 w 144"/>
                <a:gd name="T1" fmla="*/ 56 h 142"/>
                <a:gd name="T2" fmla="*/ 132 w 144"/>
                <a:gd name="T3" fmla="*/ 31 h 142"/>
                <a:gd name="T4" fmla="*/ 112 w 144"/>
                <a:gd name="T5" fmla="*/ 12 h 142"/>
                <a:gd name="T6" fmla="*/ 87 w 144"/>
                <a:gd name="T7" fmla="*/ 0 h 142"/>
                <a:gd name="T8" fmla="*/ 58 w 144"/>
                <a:gd name="T9" fmla="*/ 0 h 142"/>
                <a:gd name="T10" fmla="*/ 33 w 144"/>
                <a:gd name="T11" fmla="*/ 12 h 142"/>
                <a:gd name="T12" fmla="*/ 13 w 144"/>
                <a:gd name="T13" fmla="*/ 31 h 142"/>
                <a:gd name="T14" fmla="*/ 1 w 144"/>
                <a:gd name="T15" fmla="*/ 56 h 142"/>
                <a:gd name="T16" fmla="*/ 1 w 144"/>
                <a:gd name="T17" fmla="*/ 86 h 142"/>
                <a:gd name="T18" fmla="*/ 13 w 144"/>
                <a:gd name="T19" fmla="*/ 111 h 142"/>
                <a:gd name="T20" fmla="*/ 33 w 144"/>
                <a:gd name="T21" fmla="*/ 131 h 142"/>
                <a:gd name="T22" fmla="*/ 58 w 144"/>
                <a:gd name="T23" fmla="*/ 141 h 142"/>
                <a:gd name="T24" fmla="*/ 87 w 144"/>
                <a:gd name="T25" fmla="*/ 141 h 142"/>
                <a:gd name="T26" fmla="*/ 112 w 144"/>
                <a:gd name="T27" fmla="*/ 131 h 142"/>
                <a:gd name="T28" fmla="*/ 132 w 144"/>
                <a:gd name="T29" fmla="*/ 111 h 142"/>
                <a:gd name="T30" fmla="*/ 142 w 144"/>
                <a:gd name="T31" fmla="*/ 86 h 142"/>
                <a:gd name="T32" fmla="*/ 139 w 144"/>
                <a:gd name="T33" fmla="*/ 71 h 142"/>
                <a:gd name="T34" fmla="*/ 134 w 144"/>
                <a:gd name="T35" fmla="*/ 98 h 142"/>
                <a:gd name="T36" fmla="*/ 119 w 144"/>
                <a:gd name="T37" fmla="*/ 119 h 142"/>
                <a:gd name="T38" fmla="*/ 99 w 144"/>
                <a:gd name="T39" fmla="*/ 132 h 142"/>
                <a:gd name="T40" fmla="*/ 72 w 144"/>
                <a:gd name="T41" fmla="*/ 137 h 142"/>
                <a:gd name="T42" fmla="*/ 46 w 144"/>
                <a:gd name="T43" fmla="*/ 132 h 142"/>
                <a:gd name="T44" fmla="*/ 24 w 144"/>
                <a:gd name="T45" fmla="*/ 119 h 142"/>
                <a:gd name="T46" fmla="*/ 11 w 144"/>
                <a:gd name="T47" fmla="*/ 98 h 142"/>
                <a:gd name="T48" fmla="*/ 5 w 144"/>
                <a:gd name="T49" fmla="*/ 71 h 142"/>
                <a:gd name="T50" fmla="*/ 11 w 144"/>
                <a:gd name="T51" fmla="*/ 45 h 142"/>
                <a:gd name="T52" fmla="*/ 24 w 144"/>
                <a:gd name="T53" fmla="*/ 23 h 142"/>
                <a:gd name="T54" fmla="*/ 46 w 144"/>
                <a:gd name="T55" fmla="*/ 10 h 142"/>
                <a:gd name="T56" fmla="*/ 72 w 144"/>
                <a:gd name="T57" fmla="*/ 3 h 142"/>
                <a:gd name="T58" fmla="*/ 99 w 144"/>
                <a:gd name="T59" fmla="*/ 10 h 142"/>
                <a:gd name="T60" fmla="*/ 119 w 144"/>
                <a:gd name="T61" fmla="*/ 23 h 142"/>
                <a:gd name="T62" fmla="*/ 134 w 144"/>
                <a:gd name="T63" fmla="*/ 45 h 142"/>
                <a:gd name="T64" fmla="*/ 139 w 144"/>
                <a:gd name="T65" fmla="*/ 71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44" h="142">
                  <a:moveTo>
                    <a:pt x="144" y="71"/>
                  </a:moveTo>
                  <a:lnTo>
                    <a:pt x="142" y="56"/>
                  </a:lnTo>
                  <a:lnTo>
                    <a:pt x="139" y="43"/>
                  </a:lnTo>
                  <a:lnTo>
                    <a:pt x="132" y="31"/>
                  </a:lnTo>
                  <a:lnTo>
                    <a:pt x="124" y="20"/>
                  </a:lnTo>
                  <a:lnTo>
                    <a:pt x="112" y="12"/>
                  </a:lnTo>
                  <a:lnTo>
                    <a:pt x="101" y="5"/>
                  </a:lnTo>
                  <a:lnTo>
                    <a:pt x="87" y="0"/>
                  </a:lnTo>
                  <a:lnTo>
                    <a:pt x="72" y="0"/>
                  </a:lnTo>
                  <a:lnTo>
                    <a:pt x="58" y="0"/>
                  </a:lnTo>
                  <a:lnTo>
                    <a:pt x="44" y="5"/>
                  </a:lnTo>
                  <a:lnTo>
                    <a:pt x="33" y="12"/>
                  </a:lnTo>
                  <a:lnTo>
                    <a:pt x="21" y="20"/>
                  </a:lnTo>
                  <a:lnTo>
                    <a:pt x="13" y="31"/>
                  </a:lnTo>
                  <a:lnTo>
                    <a:pt x="6" y="43"/>
                  </a:lnTo>
                  <a:lnTo>
                    <a:pt x="1" y="56"/>
                  </a:lnTo>
                  <a:lnTo>
                    <a:pt x="0" y="71"/>
                  </a:lnTo>
                  <a:lnTo>
                    <a:pt x="1" y="86"/>
                  </a:lnTo>
                  <a:lnTo>
                    <a:pt x="6" y="99"/>
                  </a:lnTo>
                  <a:lnTo>
                    <a:pt x="13" y="111"/>
                  </a:lnTo>
                  <a:lnTo>
                    <a:pt x="21" y="123"/>
                  </a:lnTo>
                  <a:lnTo>
                    <a:pt x="33" y="131"/>
                  </a:lnTo>
                  <a:lnTo>
                    <a:pt x="44" y="137"/>
                  </a:lnTo>
                  <a:lnTo>
                    <a:pt x="58" y="141"/>
                  </a:lnTo>
                  <a:lnTo>
                    <a:pt x="72" y="142"/>
                  </a:lnTo>
                  <a:lnTo>
                    <a:pt x="87" y="141"/>
                  </a:lnTo>
                  <a:lnTo>
                    <a:pt x="101" y="137"/>
                  </a:lnTo>
                  <a:lnTo>
                    <a:pt x="112" y="131"/>
                  </a:lnTo>
                  <a:lnTo>
                    <a:pt x="124" y="123"/>
                  </a:lnTo>
                  <a:lnTo>
                    <a:pt x="132" y="111"/>
                  </a:lnTo>
                  <a:lnTo>
                    <a:pt x="139" y="99"/>
                  </a:lnTo>
                  <a:lnTo>
                    <a:pt x="142" y="86"/>
                  </a:lnTo>
                  <a:lnTo>
                    <a:pt x="144" y="71"/>
                  </a:lnTo>
                  <a:close/>
                  <a:moveTo>
                    <a:pt x="139" y="71"/>
                  </a:moveTo>
                  <a:lnTo>
                    <a:pt x="139" y="84"/>
                  </a:lnTo>
                  <a:lnTo>
                    <a:pt x="134" y="98"/>
                  </a:lnTo>
                  <a:lnTo>
                    <a:pt x="127" y="109"/>
                  </a:lnTo>
                  <a:lnTo>
                    <a:pt x="119" y="119"/>
                  </a:lnTo>
                  <a:lnTo>
                    <a:pt x="109" y="126"/>
                  </a:lnTo>
                  <a:lnTo>
                    <a:pt x="99" y="132"/>
                  </a:lnTo>
                  <a:lnTo>
                    <a:pt x="86" y="137"/>
                  </a:lnTo>
                  <a:lnTo>
                    <a:pt x="72" y="137"/>
                  </a:lnTo>
                  <a:lnTo>
                    <a:pt x="59" y="137"/>
                  </a:lnTo>
                  <a:lnTo>
                    <a:pt x="46" y="132"/>
                  </a:lnTo>
                  <a:lnTo>
                    <a:pt x="34" y="126"/>
                  </a:lnTo>
                  <a:lnTo>
                    <a:pt x="24" y="119"/>
                  </a:lnTo>
                  <a:lnTo>
                    <a:pt x="16" y="109"/>
                  </a:lnTo>
                  <a:lnTo>
                    <a:pt x="11" y="98"/>
                  </a:lnTo>
                  <a:lnTo>
                    <a:pt x="6" y="84"/>
                  </a:lnTo>
                  <a:lnTo>
                    <a:pt x="5" y="71"/>
                  </a:lnTo>
                  <a:lnTo>
                    <a:pt x="6" y="58"/>
                  </a:lnTo>
                  <a:lnTo>
                    <a:pt x="11" y="45"/>
                  </a:lnTo>
                  <a:lnTo>
                    <a:pt x="16" y="33"/>
                  </a:lnTo>
                  <a:lnTo>
                    <a:pt x="24" y="23"/>
                  </a:lnTo>
                  <a:lnTo>
                    <a:pt x="34" y="15"/>
                  </a:lnTo>
                  <a:lnTo>
                    <a:pt x="46" y="10"/>
                  </a:lnTo>
                  <a:lnTo>
                    <a:pt x="59" y="5"/>
                  </a:lnTo>
                  <a:lnTo>
                    <a:pt x="72" y="3"/>
                  </a:lnTo>
                  <a:lnTo>
                    <a:pt x="86" y="5"/>
                  </a:lnTo>
                  <a:lnTo>
                    <a:pt x="99" y="10"/>
                  </a:lnTo>
                  <a:lnTo>
                    <a:pt x="109" y="15"/>
                  </a:lnTo>
                  <a:lnTo>
                    <a:pt x="119" y="23"/>
                  </a:lnTo>
                  <a:lnTo>
                    <a:pt x="127" y="33"/>
                  </a:lnTo>
                  <a:lnTo>
                    <a:pt x="134" y="45"/>
                  </a:lnTo>
                  <a:lnTo>
                    <a:pt x="139" y="58"/>
                  </a:lnTo>
                  <a:lnTo>
                    <a:pt x="139" y="71"/>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12" name="Freeform 253">
              <a:extLst>
                <a:ext uri="{FF2B5EF4-FFF2-40B4-BE49-F238E27FC236}">
                  <a16:creationId xmlns:a16="http://schemas.microsoft.com/office/drawing/2014/main" id="{5ED39AF8-98CB-7003-2F4A-75EC970C807C}"/>
                </a:ext>
              </a:extLst>
            </p:cNvPr>
            <p:cNvSpPr>
              <a:spLocks noEditPoints="1"/>
            </p:cNvSpPr>
            <p:nvPr/>
          </p:nvSpPr>
          <p:spPr bwMode="auto">
            <a:xfrm>
              <a:off x="1767" y="1544"/>
              <a:ext cx="139" cy="139"/>
            </a:xfrm>
            <a:custGeom>
              <a:avLst/>
              <a:gdLst>
                <a:gd name="T0" fmla="*/ 137 w 139"/>
                <a:gd name="T1" fmla="*/ 54 h 139"/>
                <a:gd name="T2" fmla="*/ 127 w 139"/>
                <a:gd name="T3" fmla="*/ 29 h 139"/>
                <a:gd name="T4" fmla="*/ 107 w 139"/>
                <a:gd name="T5" fmla="*/ 11 h 139"/>
                <a:gd name="T6" fmla="*/ 83 w 139"/>
                <a:gd name="T7" fmla="*/ 1 h 139"/>
                <a:gd name="T8" fmla="*/ 55 w 139"/>
                <a:gd name="T9" fmla="*/ 1 h 139"/>
                <a:gd name="T10" fmla="*/ 30 w 139"/>
                <a:gd name="T11" fmla="*/ 11 h 139"/>
                <a:gd name="T12" fmla="*/ 11 w 139"/>
                <a:gd name="T13" fmla="*/ 29 h 139"/>
                <a:gd name="T14" fmla="*/ 2 w 139"/>
                <a:gd name="T15" fmla="*/ 54 h 139"/>
                <a:gd name="T16" fmla="*/ 2 w 139"/>
                <a:gd name="T17" fmla="*/ 82 h 139"/>
                <a:gd name="T18" fmla="*/ 11 w 139"/>
                <a:gd name="T19" fmla="*/ 107 h 139"/>
                <a:gd name="T20" fmla="*/ 30 w 139"/>
                <a:gd name="T21" fmla="*/ 127 h 139"/>
                <a:gd name="T22" fmla="*/ 55 w 139"/>
                <a:gd name="T23" fmla="*/ 137 h 139"/>
                <a:gd name="T24" fmla="*/ 83 w 139"/>
                <a:gd name="T25" fmla="*/ 137 h 139"/>
                <a:gd name="T26" fmla="*/ 107 w 139"/>
                <a:gd name="T27" fmla="*/ 127 h 139"/>
                <a:gd name="T28" fmla="*/ 127 w 139"/>
                <a:gd name="T29" fmla="*/ 107 h 139"/>
                <a:gd name="T30" fmla="*/ 137 w 139"/>
                <a:gd name="T31" fmla="*/ 82 h 139"/>
                <a:gd name="T32" fmla="*/ 134 w 139"/>
                <a:gd name="T33" fmla="*/ 69 h 139"/>
                <a:gd name="T34" fmla="*/ 129 w 139"/>
                <a:gd name="T35" fmla="*/ 94 h 139"/>
                <a:gd name="T36" fmla="*/ 114 w 139"/>
                <a:gd name="T37" fmla="*/ 114 h 139"/>
                <a:gd name="T38" fmla="*/ 94 w 139"/>
                <a:gd name="T39" fmla="*/ 129 h 139"/>
                <a:gd name="T40" fmla="*/ 69 w 139"/>
                <a:gd name="T41" fmla="*/ 134 h 139"/>
                <a:gd name="T42" fmla="*/ 45 w 139"/>
                <a:gd name="T43" fmla="*/ 129 h 139"/>
                <a:gd name="T44" fmla="*/ 23 w 139"/>
                <a:gd name="T45" fmla="*/ 114 h 139"/>
                <a:gd name="T46" fmla="*/ 10 w 139"/>
                <a:gd name="T47" fmla="*/ 94 h 139"/>
                <a:gd name="T48" fmla="*/ 5 w 139"/>
                <a:gd name="T49" fmla="*/ 69 h 139"/>
                <a:gd name="T50" fmla="*/ 10 w 139"/>
                <a:gd name="T51" fmla="*/ 44 h 139"/>
                <a:gd name="T52" fmla="*/ 23 w 139"/>
                <a:gd name="T53" fmla="*/ 23 h 139"/>
                <a:gd name="T54" fmla="*/ 45 w 139"/>
                <a:gd name="T55" fmla="*/ 10 h 139"/>
                <a:gd name="T56" fmla="*/ 69 w 139"/>
                <a:gd name="T57" fmla="*/ 5 h 139"/>
                <a:gd name="T58" fmla="*/ 94 w 139"/>
                <a:gd name="T59" fmla="*/ 10 h 139"/>
                <a:gd name="T60" fmla="*/ 114 w 139"/>
                <a:gd name="T61" fmla="*/ 23 h 139"/>
                <a:gd name="T62" fmla="*/ 129 w 139"/>
                <a:gd name="T63" fmla="*/ 44 h 139"/>
                <a:gd name="T64" fmla="*/ 134 w 139"/>
                <a:gd name="T65" fmla="*/ 69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39">
                  <a:moveTo>
                    <a:pt x="139" y="69"/>
                  </a:moveTo>
                  <a:lnTo>
                    <a:pt x="137" y="54"/>
                  </a:lnTo>
                  <a:lnTo>
                    <a:pt x="132" y="43"/>
                  </a:lnTo>
                  <a:lnTo>
                    <a:pt x="127" y="29"/>
                  </a:lnTo>
                  <a:lnTo>
                    <a:pt x="117" y="20"/>
                  </a:lnTo>
                  <a:lnTo>
                    <a:pt x="107" y="11"/>
                  </a:lnTo>
                  <a:lnTo>
                    <a:pt x="96" y="5"/>
                  </a:lnTo>
                  <a:lnTo>
                    <a:pt x="83" y="1"/>
                  </a:lnTo>
                  <a:lnTo>
                    <a:pt x="69" y="0"/>
                  </a:lnTo>
                  <a:lnTo>
                    <a:pt x="55" y="1"/>
                  </a:lnTo>
                  <a:lnTo>
                    <a:pt x="43" y="5"/>
                  </a:lnTo>
                  <a:lnTo>
                    <a:pt x="30" y="11"/>
                  </a:lnTo>
                  <a:lnTo>
                    <a:pt x="20" y="20"/>
                  </a:lnTo>
                  <a:lnTo>
                    <a:pt x="11" y="29"/>
                  </a:lnTo>
                  <a:lnTo>
                    <a:pt x="5" y="43"/>
                  </a:lnTo>
                  <a:lnTo>
                    <a:pt x="2" y="54"/>
                  </a:lnTo>
                  <a:lnTo>
                    <a:pt x="0" y="69"/>
                  </a:lnTo>
                  <a:lnTo>
                    <a:pt x="2" y="82"/>
                  </a:lnTo>
                  <a:lnTo>
                    <a:pt x="5" y="96"/>
                  </a:lnTo>
                  <a:lnTo>
                    <a:pt x="11" y="107"/>
                  </a:lnTo>
                  <a:lnTo>
                    <a:pt x="20" y="119"/>
                  </a:lnTo>
                  <a:lnTo>
                    <a:pt x="30" y="127"/>
                  </a:lnTo>
                  <a:lnTo>
                    <a:pt x="43" y="134"/>
                  </a:lnTo>
                  <a:lnTo>
                    <a:pt x="55" y="137"/>
                  </a:lnTo>
                  <a:lnTo>
                    <a:pt x="69" y="139"/>
                  </a:lnTo>
                  <a:lnTo>
                    <a:pt x="83" y="137"/>
                  </a:lnTo>
                  <a:lnTo>
                    <a:pt x="96" y="134"/>
                  </a:lnTo>
                  <a:lnTo>
                    <a:pt x="107" y="127"/>
                  </a:lnTo>
                  <a:lnTo>
                    <a:pt x="117" y="119"/>
                  </a:lnTo>
                  <a:lnTo>
                    <a:pt x="127" y="107"/>
                  </a:lnTo>
                  <a:lnTo>
                    <a:pt x="132" y="96"/>
                  </a:lnTo>
                  <a:lnTo>
                    <a:pt x="137" y="82"/>
                  </a:lnTo>
                  <a:lnTo>
                    <a:pt x="139" y="69"/>
                  </a:lnTo>
                  <a:close/>
                  <a:moveTo>
                    <a:pt x="134" y="69"/>
                  </a:moveTo>
                  <a:lnTo>
                    <a:pt x="132" y="82"/>
                  </a:lnTo>
                  <a:lnTo>
                    <a:pt x="129" y="94"/>
                  </a:lnTo>
                  <a:lnTo>
                    <a:pt x="122" y="106"/>
                  </a:lnTo>
                  <a:lnTo>
                    <a:pt x="114" y="114"/>
                  </a:lnTo>
                  <a:lnTo>
                    <a:pt x="106" y="122"/>
                  </a:lnTo>
                  <a:lnTo>
                    <a:pt x="94" y="129"/>
                  </a:lnTo>
                  <a:lnTo>
                    <a:pt x="83" y="132"/>
                  </a:lnTo>
                  <a:lnTo>
                    <a:pt x="69" y="134"/>
                  </a:lnTo>
                  <a:lnTo>
                    <a:pt x="56" y="132"/>
                  </a:lnTo>
                  <a:lnTo>
                    <a:pt x="45" y="129"/>
                  </a:lnTo>
                  <a:lnTo>
                    <a:pt x="33" y="122"/>
                  </a:lnTo>
                  <a:lnTo>
                    <a:pt x="23" y="114"/>
                  </a:lnTo>
                  <a:lnTo>
                    <a:pt x="15" y="106"/>
                  </a:lnTo>
                  <a:lnTo>
                    <a:pt x="10" y="94"/>
                  </a:lnTo>
                  <a:lnTo>
                    <a:pt x="6" y="82"/>
                  </a:lnTo>
                  <a:lnTo>
                    <a:pt x="5" y="69"/>
                  </a:lnTo>
                  <a:lnTo>
                    <a:pt x="6" y="56"/>
                  </a:lnTo>
                  <a:lnTo>
                    <a:pt x="10" y="44"/>
                  </a:lnTo>
                  <a:lnTo>
                    <a:pt x="15" y="33"/>
                  </a:lnTo>
                  <a:lnTo>
                    <a:pt x="23" y="23"/>
                  </a:lnTo>
                  <a:lnTo>
                    <a:pt x="33" y="16"/>
                  </a:lnTo>
                  <a:lnTo>
                    <a:pt x="45" y="10"/>
                  </a:lnTo>
                  <a:lnTo>
                    <a:pt x="56" y="6"/>
                  </a:lnTo>
                  <a:lnTo>
                    <a:pt x="69" y="5"/>
                  </a:lnTo>
                  <a:lnTo>
                    <a:pt x="83" y="6"/>
                  </a:lnTo>
                  <a:lnTo>
                    <a:pt x="94" y="10"/>
                  </a:lnTo>
                  <a:lnTo>
                    <a:pt x="106" y="16"/>
                  </a:lnTo>
                  <a:lnTo>
                    <a:pt x="114" y="23"/>
                  </a:lnTo>
                  <a:lnTo>
                    <a:pt x="122" y="33"/>
                  </a:lnTo>
                  <a:lnTo>
                    <a:pt x="129" y="44"/>
                  </a:lnTo>
                  <a:lnTo>
                    <a:pt x="132" y="56"/>
                  </a:lnTo>
                  <a:lnTo>
                    <a:pt x="134" y="69"/>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13" name="Freeform 254">
              <a:extLst>
                <a:ext uri="{FF2B5EF4-FFF2-40B4-BE49-F238E27FC236}">
                  <a16:creationId xmlns:a16="http://schemas.microsoft.com/office/drawing/2014/main" id="{F02516A9-599A-CF25-D9DE-99738ABFFB6B}"/>
                </a:ext>
              </a:extLst>
            </p:cNvPr>
            <p:cNvSpPr>
              <a:spLocks noEditPoints="1"/>
            </p:cNvSpPr>
            <p:nvPr/>
          </p:nvSpPr>
          <p:spPr bwMode="auto">
            <a:xfrm>
              <a:off x="1769" y="1545"/>
              <a:ext cx="134" cy="134"/>
            </a:xfrm>
            <a:custGeom>
              <a:avLst/>
              <a:gdLst>
                <a:gd name="T0" fmla="*/ 134 w 134"/>
                <a:gd name="T1" fmla="*/ 55 h 134"/>
                <a:gd name="T2" fmla="*/ 122 w 134"/>
                <a:gd name="T3" fmla="*/ 30 h 134"/>
                <a:gd name="T4" fmla="*/ 104 w 134"/>
                <a:gd name="T5" fmla="*/ 12 h 134"/>
                <a:gd name="T6" fmla="*/ 81 w 134"/>
                <a:gd name="T7" fmla="*/ 2 h 134"/>
                <a:gd name="T8" fmla="*/ 54 w 134"/>
                <a:gd name="T9" fmla="*/ 2 h 134"/>
                <a:gd name="T10" fmla="*/ 29 w 134"/>
                <a:gd name="T11" fmla="*/ 12 h 134"/>
                <a:gd name="T12" fmla="*/ 11 w 134"/>
                <a:gd name="T13" fmla="*/ 30 h 134"/>
                <a:gd name="T14" fmla="*/ 1 w 134"/>
                <a:gd name="T15" fmla="*/ 55 h 134"/>
                <a:gd name="T16" fmla="*/ 1 w 134"/>
                <a:gd name="T17" fmla="*/ 81 h 134"/>
                <a:gd name="T18" fmla="*/ 11 w 134"/>
                <a:gd name="T19" fmla="*/ 106 h 134"/>
                <a:gd name="T20" fmla="*/ 29 w 134"/>
                <a:gd name="T21" fmla="*/ 123 h 134"/>
                <a:gd name="T22" fmla="*/ 54 w 134"/>
                <a:gd name="T23" fmla="*/ 134 h 134"/>
                <a:gd name="T24" fmla="*/ 81 w 134"/>
                <a:gd name="T25" fmla="*/ 134 h 134"/>
                <a:gd name="T26" fmla="*/ 104 w 134"/>
                <a:gd name="T27" fmla="*/ 123 h 134"/>
                <a:gd name="T28" fmla="*/ 122 w 134"/>
                <a:gd name="T29" fmla="*/ 106 h 134"/>
                <a:gd name="T30" fmla="*/ 134 w 134"/>
                <a:gd name="T31" fmla="*/ 81 h 134"/>
                <a:gd name="T32" fmla="*/ 129 w 134"/>
                <a:gd name="T33" fmla="*/ 68 h 134"/>
                <a:gd name="T34" fmla="*/ 124 w 134"/>
                <a:gd name="T35" fmla="*/ 93 h 134"/>
                <a:gd name="T36" fmla="*/ 110 w 134"/>
                <a:gd name="T37" fmla="*/ 111 h 134"/>
                <a:gd name="T38" fmla="*/ 91 w 134"/>
                <a:gd name="T39" fmla="*/ 126 h 134"/>
                <a:gd name="T40" fmla="*/ 67 w 134"/>
                <a:gd name="T41" fmla="*/ 129 h 134"/>
                <a:gd name="T42" fmla="*/ 43 w 134"/>
                <a:gd name="T43" fmla="*/ 126 h 134"/>
                <a:gd name="T44" fmla="*/ 23 w 134"/>
                <a:gd name="T45" fmla="*/ 111 h 134"/>
                <a:gd name="T46" fmla="*/ 9 w 134"/>
                <a:gd name="T47" fmla="*/ 93 h 134"/>
                <a:gd name="T48" fmla="*/ 4 w 134"/>
                <a:gd name="T49" fmla="*/ 68 h 134"/>
                <a:gd name="T50" fmla="*/ 9 w 134"/>
                <a:gd name="T51" fmla="*/ 43 h 134"/>
                <a:gd name="T52" fmla="*/ 23 w 134"/>
                <a:gd name="T53" fmla="*/ 23 h 134"/>
                <a:gd name="T54" fmla="*/ 43 w 134"/>
                <a:gd name="T55" fmla="*/ 10 h 134"/>
                <a:gd name="T56" fmla="*/ 67 w 134"/>
                <a:gd name="T57" fmla="*/ 5 h 134"/>
                <a:gd name="T58" fmla="*/ 91 w 134"/>
                <a:gd name="T59" fmla="*/ 10 h 134"/>
                <a:gd name="T60" fmla="*/ 110 w 134"/>
                <a:gd name="T61" fmla="*/ 23 h 134"/>
                <a:gd name="T62" fmla="*/ 124 w 134"/>
                <a:gd name="T63" fmla="*/ 43 h 134"/>
                <a:gd name="T64" fmla="*/ 129 w 134"/>
                <a:gd name="T65" fmla="*/ 6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4" h="134">
                  <a:moveTo>
                    <a:pt x="134" y="68"/>
                  </a:moveTo>
                  <a:lnTo>
                    <a:pt x="134" y="55"/>
                  </a:lnTo>
                  <a:lnTo>
                    <a:pt x="129" y="42"/>
                  </a:lnTo>
                  <a:lnTo>
                    <a:pt x="122" y="30"/>
                  </a:lnTo>
                  <a:lnTo>
                    <a:pt x="114" y="20"/>
                  </a:lnTo>
                  <a:lnTo>
                    <a:pt x="104" y="12"/>
                  </a:lnTo>
                  <a:lnTo>
                    <a:pt x="94" y="7"/>
                  </a:lnTo>
                  <a:lnTo>
                    <a:pt x="81" y="2"/>
                  </a:lnTo>
                  <a:lnTo>
                    <a:pt x="67" y="0"/>
                  </a:lnTo>
                  <a:lnTo>
                    <a:pt x="54" y="2"/>
                  </a:lnTo>
                  <a:lnTo>
                    <a:pt x="41" y="7"/>
                  </a:lnTo>
                  <a:lnTo>
                    <a:pt x="29" y="12"/>
                  </a:lnTo>
                  <a:lnTo>
                    <a:pt x="19" y="20"/>
                  </a:lnTo>
                  <a:lnTo>
                    <a:pt x="11" y="30"/>
                  </a:lnTo>
                  <a:lnTo>
                    <a:pt x="6" y="42"/>
                  </a:lnTo>
                  <a:lnTo>
                    <a:pt x="1" y="55"/>
                  </a:lnTo>
                  <a:lnTo>
                    <a:pt x="0" y="68"/>
                  </a:lnTo>
                  <a:lnTo>
                    <a:pt x="1" y="81"/>
                  </a:lnTo>
                  <a:lnTo>
                    <a:pt x="6" y="95"/>
                  </a:lnTo>
                  <a:lnTo>
                    <a:pt x="11" y="106"/>
                  </a:lnTo>
                  <a:lnTo>
                    <a:pt x="19" y="116"/>
                  </a:lnTo>
                  <a:lnTo>
                    <a:pt x="29" y="123"/>
                  </a:lnTo>
                  <a:lnTo>
                    <a:pt x="41" y="129"/>
                  </a:lnTo>
                  <a:lnTo>
                    <a:pt x="54" y="134"/>
                  </a:lnTo>
                  <a:lnTo>
                    <a:pt x="67" y="134"/>
                  </a:lnTo>
                  <a:lnTo>
                    <a:pt x="81" y="134"/>
                  </a:lnTo>
                  <a:lnTo>
                    <a:pt x="94" y="129"/>
                  </a:lnTo>
                  <a:lnTo>
                    <a:pt x="104" y="123"/>
                  </a:lnTo>
                  <a:lnTo>
                    <a:pt x="114" y="116"/>
                  </a:lnTo>
                  <a:lnTo>
                    <a:pt x="122" y="106"/>
                  </a:lnTo>
                  <a:lnTo>
                    <a:pt x="129" y="95"/>
                  </a:lnTo>
                  <a:lnTo>
                    <a:pt x="134" y="81"/>
                  </a:lnTo>
                  <a:lnTo>
                    <a:pt x="134" y="68"/>
                  </a:lnTo>
                  <a:close/>
                  <a:moveTo>
                    <a:pt x="129" y="68"/>
                  </a:moveTo>
                  <a:lnTo>
                    <a:pt x="129" y="80"/>
                  </a:lnTo>
                  <a:lnTo>
                    <a:pt x="124" y="93"/>
                  </a:lnTo>
                  <a:lnTo>
                    <a:pt x="119" y="103"/>
                  </a:lnTo>
                  <a:lnTo>
                    <a:pt x="110" y="111"/>
                  </a:lnTo>
                  <a:lnTo>
                    <a:pt x="102" y="120"/>
                  </a:lnTo>
                  <a:lnTo>
                    <a:pt x="91" y="126"/>
                  </a:lnTo>
                  <a:lnTo>
                    <a:pt x="79" y="129"/>
                  </a:lnTo>
                  <a:lnTo>
                    <a:pt x="67" y="129"/>
                  </a:lnTo>
                  <a:lnTo>
                    <a:pt x="54" y="129"/>
                  </a:lnTo>
                  <a:lnTo>
                    <a:pt x="43" y="126"/>
                  </a:lnTo>
                  <a:lnTo>
                    <a:pt x="33" y="120"/>
                  </a:lnTo>
                  <a:lnTo>
                    <a:pt x="23" y="111"/>
                  </a:lnTo>
                  <a:lnTo>
                    <a:pt x="16" y="103"/>
                  </a:lnTo>
                  <a:lnTo>
                    <a:pt x="9" y="93"/>
                  </a:lnTo>
                  <a:lnTo>
                    <a:pt x="6" y="80"/>
                  </a:lnTo>
                  <a:lnTo>
                    <a:pt x="4" y="68"/>
                  </a:lnTo>
                  <a:lnTo>
                    <a:pt x="6" y="55"/>
                  </a:lnTo>
                  <a:lnTo>
                    <a:pt x="9" y="43"/>
                  </a:lnTo>
                  <a:lnTo>
                    <a:pt x="16" y="33"/>
                  </a:lnTo>
                  <a:lnTo>
                    <a:pt x="23" y="23"/>
                  </a:lnTo>
                  <a:lnTo>
                    <a:pt x="33" y="17"/>
                  </a:lnTo>
                  <a:lnTo>
                    <a:pt x="43" y="10"/>
                  </a:lnTo>
                  <a:lnTo>
                    <a:pt x="54" y="7"/>
                  </a:lnTo>
                  <a:lnTo>
                    <a:pt x="67" y="5"/>
                  </a:lnTo>
                  <a:lnTo>
                    <a:pt x="79" y="7"/>
                  </a:lnTo>
                  <a:lnTo>
                    <a:pt x="91" y="10"/>
                  </a:lnTo>
                  <a:lnTo>
                    <a:pt x="102" y="17"/>
                  </a:lnTo>
                  <a:lnTo>
                    <a:pt x="110" y="23"/>
                  </a:lnTo>
                  <a:lnTo>
                    <a:pt x="119" y="33"/>
                  </a:lnTo>
                  <a:lnTo>
                    <a:pt x="124" y="43"/>
                  </a:lnTo>
                  <a:lnTo>
                    <a:pt x="129" y="55"/>
                  </a:lnTo>
                  <a:lnTo>
                    <a:pt x="129" y="68"/>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14" name="Freeform 255">
              <a:extLst>
                <a:ext uri="{FF2B5EF4-FFF2-40B4-BE49-F238E27FC236}">
                  <a16:creationId xmlns:a16="http://schemas.microsoft.com/office/drawing/2014/main" id="{E0E41F7E-AF4E-37DD-1932-37838FEE56F4}"/>
                </a:ext>
              </a:extLst>
            </p:cNvPr>
            <p:cNvSpPr>
              <a:spLocks noEditPoints="1"/>
            </p:cNvSpPr>
            <p:nvPr/>
          </p:nvSpPr>
          <p:spPr bwMode="auto">
            <a:xfrm>
              <a:off x="1772" y="1549"/>
              <a:ext cx="129" cy="129"/>
            </a:xfrm>
            <a:custGeom>
              <a:avLst/>
              <a:gdLst>
                <a:gd name="T0" fmla="*/ 127 w 129"/>
                <a:gd name="T1" fmla="*/ 51 h 129"/>
                <a:gd name="T2" fmla="*/ 117 w 129"/>
                <a:gd name="T3" fmla="*/ 28 h 129"/>
                <a:gd name="T4" fmla="*/ 101 w 129"/>
                <a:gd name="T5" fmla="*/ 11 h 129"/>
                <a:gd name="T6" fmla="*/ 78 w 129"/>
                <a:gd name="T7" fmla="*/ 1 h 129"/>
                <a:gd name="T8" fmla="*/ 51 w 129"/>
                <a:gd name="T9" fmla="*/ 1 h 129"/>
                <a:gd name="T10" fmla="*/ 28 w 129"/>
                <a:gd name="T11" fmla="*/ 11 h 129"/>
                <a:gd name="T12" fmla="*/ 10 w 129"/>
                <a:gd name="T13" fmla="*/ 28 h 129"/>
                <a:gd name="T14" fmla="*/ 1 w 129"/>
                <a:gd name="T15" fmla="*/ 51 h 129"/>
                <a:gd name="T16" fmla="*/ 1 w 129"/>
                <a:gd name="T17" fmla="*/ 77 h 129"/>
                <a:gd name="T18" fmla="*/ 10 w 129"/>
                <a:gd name="T19" fmla="*/ 101 h 129"/>
                <a:gd name="T20" fmla="*/ 28 w 129"/>
                <a:gd name="T21" fmla="*/ 117 h 129"/>
                <a:gd name="T22" fmla="*/ 51 w 129"/>
                <a:gd name="T23" fmla="*/ 127 h 129"/>
                <a:gd name="T24" fmla="*/ 78 w 129"/>
                <a:gd name="T25" fmla="*/ 127 h 129"/>
                <a:gd name="T26" fmla="*/ 101 w 129"/>
                <a:gd name="T27" fmla="*/ 117 h 129"/>
                <a:gd name="T28" fmla="*/ 117 w 129"/>
                <a:gd name="T29" fmla="*/ 101 h 129"/>
                <a:gd name="T30" fmla="*/ 127 w 129"/>
                <a:gd name="T31" fmla="*/ 77 h 129"/>
                <a:gd name="T32" fmla="*/ 124 w 129"/>
                <a:gd name="T33" fmla="*/ 64 h 129"/>
                <a:gd name="T34" fmla="*/ 119 w 129"/>
                <a:gd name="T35" fmla="*/ 87 h 129"/>
                <a:gd name="T36" fmla="*/ 106 w 129"/>
                <a:gd name="T37" fmla="*/ 106 h 129"/>
                <a:gd name="T38" fmla="*/ 88 w 129"/>
                <a:gd name="T39" fmla="*/ 119 h 129"/>
                <a:gd name="T40" fmla="*/ 64 w 129"/>
                <a:gd name="T41" fmla="*/ 124 h 129"/>
                <a:gd name="T42" fmla="*/ 41 w 129"/>
                <a:gd name="T43" fmla="*/ 119 h 129"/>
                <a:gd name="T44" fmla="*/ 21 w 129"/>
                <a:gd name="T45" fmla="*/ 106 h 129"/>
                <a:gd name="T46" fmla="*/ 10 w 129"/>
                <a:gd name="T47" fmla="*/ 87 h 129"/>
                <a:gd name="T48" fmla="*/ 5 w 129"/>
                <a:gd name="T49" fmla="*/ 64 h 129"/>
                <a:gd name="T50" fmla="*/ 10 w 129"/>
                <a:gd name="T51" fmla="*/ 41 h 129"/>
                <a:gd name="T52" fmla="*/ 21 w 129"/>
                <a:gd name="T53" fmla="*/ 21 h 129"/>
                <a:gd name="T54" fmla="*/ 41 w 129"/>
                <a:gd name="T55" fmla="*/ 10 h 129"/>
                <a:gd name="T56" fmla="*/ 64 w 129"/>
                <a:gd name="T57" fmla="*/ 5 h 129"/>
                <a:gd name="T58" fmla="*/ 88 w 129"/>
                <a:gd name="T59" fmla="*/ 10 h 129"/>
                <a:gd name="T60" fmla="*/ 106 w 129"/>
                <a:gd name="T61" fmla="*/ 21 h 129"/>
                <a:gd name="T62" fmla="*/ 119 w 129"/>
                <a:gd name="T63" fmla="*/ 41 h 129"/>
                <a:gd name="T64" fmla="*/ 124 w 129"/>
                <a:gd name="T65" fmla="*/ 64 h 1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29" h="129">
                  <a:moveTo>
                    <a:pt x="129" y="64"/>
                  </a:moveTo>
                  <a:lnTo>
                    <a:pt x="127" y="51"/>
                  </a:lnTo>
                  <a:lnTo>
                    <a:pt x="124" y="39"/>
                  </a:lnTo>
                  <a:lnTo>
                    <a:pt x="117" y="28"/>
                  </a:lnTo>
                  <a:lnTo>
                    <a:pt x="109" y="18"/>
                  </a:lnTo>
                  <a:lnTo>
                    <a:pt x="101" y="11"/>
                  </a:lnTo>
                  <a:lnTo>
                    <a:pt x="89" y="5"/>
                  </a:lnTo>
                  <a:lnTo>
                    <a:pt x="78" y="1"/>
                  </a:lnTo>
                  <a:lnTo>
                    <a:pt x="64" y="0"/>
                  </a:lnTo>
                  <a:lnTo>
                    <a:pt x="51" y="1"/>
                  </a:lnTo>
                  <a:lnTo>
                    <a:pt x="40" y="5"/>
                  </a:lnTo>
                  <a:lnTo>
                    <a:pt x="28" y="11"/>
                  </a:lnTo>
                  <a:lnTo>
                    <a:pt x="18" y="18"/>
                  </a:lnTo>
                  <a:lnTo>
                    <a:pt x="10" y="28"/>
                  </a:lnTo>
                  <a:lnTo>
                    <a:pt x="5" y="39"/>
                  </a:lnTo>
                  <a:lnTo>
                    <a:pt x="1" y="51"/>
                  </a:lnTo>
                  <a:lnTo>
                    <a:pt x="0" y="64"/>
                  </a:lnTo>
                  <a:lnTo>
                    <a:pt x="1" y="77"/>
                  </a:lnTo>
                  <a:lnTo>
                    <a:pt x="5" y="89"/>
                  </a:lnTo>
                  <a:lnTo>
                    <a:pt x="10" y="101"/>
                  </a:lnTo>
                  <a:lnTo>
                    <a:pt x="18" y="109"/>
                  </a:lnTo>
                  <a:lnTo>
                    <a:pt x="28" y="117"/>
                  </a:lnTo>
                  <a:lnTo>
                    <a:pt x="40" y="124"/>
                  </a:lnTo>
                  <a:lnTo>
                    <a:pt x="51" y="127"/>
                  </a:lnTo>
                  <a:lnTo>
                    <a:pt x="64" y="129"/>
                  </a:lnTo>
                  <a:lnTo>
                    <a:pt x="78" y="127"/>
                  </a:lnTo>
                  <a:lnTo>
                    <a:pt x="89" y="124"/>
                  </a:lnTo>
                  <a:lnTo>
                    <a:pt x="101" y="117"/>
                  </a:lnTo>
                  <a:lnTo>
                    <a:pt x="109" y="109"/>
                  </a:lnTo>
                  <a:lnTo>
                    <a:pt x="117" y="101"/>
                  </a:lnTo>
                  <a:lnTo>
                    <a:pt x="124" y="89"/>
                  </a:lnTo>
                  <a:lnTo>
                    <a:pt x="127" y="77"/>
                  </a:lnTo>
                  <a:lnTo>
                    <a:pt x="129" y="64"/>
                  </a:lnTo>
                  <a:close/>
                  <a:moveTo>
                    <a:pt x="124" y="64"/>
                  </a:moveTo>
                  <a:lnTo>
                    <a:pt x="122" y="76"/>
                  </a:lnTo>
                  <a:lnTo>
                    <a:pt x="119" y="87"/>
                  </a:lnTo>
                  <a:lnTo>
                    <a:pt x="114" y="97"/>
                  </a:lnTo>
                  <a:lnTo>
                    <a:pt x="106" y="106"/>
                  </a:lnTo>
                  <a:lnTo>
                    <a:pt x="98" y="114"/>
                  </a:lnTo>
                  <a:lnTo>
                    <a:pt x="88" y="119"/>
                  </a:lnTo>
                  <a:lnTo>
                    <a:pt x="76" y="122"/>
                  </a:lnTo>
                  <a:lnTo>
                    <a:pt x="64" y="124"/>
                  </a:lnTo>
                  <a:lnTo>
                    <a:pt x="53" y="122"/>
                  </a:lnTo>
                  <a:lnTo>
                    <a:pt x="41" y="119"/>
                  </a:lnTo>
                  <a:lnTo>
                    <a:pt x="31" y="114"/>
                  </a:lnTo>
                  <a:lnTo>
                    <a:pt x="21" y="106"/>
                  </a:lnTo>
                  <a:lnTo>
                    <a:pt x="15" y="97"/>
                  </a:lnTo>
                  <a:lnTo>
                    <a:pt x="10" y="87"/>
                  </a:lnTo>
                  <a:lnTo>
                    <a:pt x="5" y="76"/>
                  </a:lnTo>
                  <a:lnTo>
                    <a:pt x="5" y="64"/>
                  </a:lnTo>
                  <a:lnTo>
                    <a:pt x="5" y="53"/>
                  </a:lnTo>
                  <a:lnTo>
                    <a:pt x="10" y="41"/>
                  </a:lnTo>
                  <a:lnTo>
                    <a:pt x="15" y="31"/>
                  </a:lnTo>
                  <a:lnTo>
                    <a:pt x="21" y="21"/>
                  </a:lnTo>
                  <a:lnTo>
                    <a:pt x="31" y="15"/>
                  </a:lnTo>
                  <a:lnTo>
                    <a:pt x="41" y="10"/>
                  </a:lnTo>
                  <a:lnTo>
                    <a:pt x="53" y="5"/>
                  </a:lnTo>
                  <a:lnTo>
                    <a:pt x="64" y="5"/>
                  </a:lnTo>
                  <a:lnTo>
                    <a:pt x="76" y="5"/>
                  </a:lnTo>
                  <a:lnTo>
                    <a:pt x="88" y="10"/>
                  </a:lnTo>
                  <a:lnTo>
                    <a:pt x="98" y="15"/>
                  </a:lnTo>
                  <a:lnTo>
                    <a:pt x="106" y="21"/>
                  </a:lnTo>
                  <a:lnTo>
                    <a:pt x="114" y="31"/>
                  </a:lnTo>
                  <a:lnTo>
                    <a:pt x="119" y="41"/>
                  </a:lnTo>
                  <a:lnTo>
                    <a:pt x="122" y="53"/>
                  </a:lnTo>
                  <a:lnTo>
                    <a:pt x="124" y="64"/>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15" name="Freeform 256">
              <a:extLst>
                <a:ext uri="{FF2B5EF4-FFF2-40B4-BE49-F238E27FC236}">
                  <a16:creationId xmlns:a16="http://schemas.microsoft.com/office/drawing/2014/main" id="{21F724C7-84E3-A5EA-8FAB-E511F9C5EA5F}"/>
                </a:ext>
              </a:extLst>
            </p:cNvPr>
            <p:cNvSpPr>
              <a:spLocks noEditPoints="1"/>
            </p:cNvSpPr>
            <p:nvPr/>
          </p:nvSpPr>
          <p:spPr bwMode="auto">
            <a:xfrm>
              <a:off x="1773" y="1550"/>
              <a:ext cx="125" cy="124"/>
            </a:xfrm>
            <a:custGeom>
              <a:avLst/>
              <a:gdLst>
                <a:gd name="T0" fmla="*/ 125 w 125"/>
                <a:gd name="T1" fmla="*/ 50 h 124"/>
                <a:gd name="T2" fmla="*/ 115 w 125"/>
                <a:gd name="T3" fmla="*/ 28 h 124"/>
                <a:gd name="T4" fmla="*/ 98 w 125"/>
                <a:gd name="T5" fmla="*/ 12 h 124"/>
                <a:gd name="T6" fmla="*/ 75 w 125"/>
                <a:gd name="T7" fmla="*/ 2 h 124"/>
                <a:gd name="T8" fmla="*/ 50 w 125"/>
                <a:gd name="T9" fmla="*/ 2 h 124"/>
                <a:gd name="T10" fmla="*/ 29 w 125"/>
                <a:gd name="T11" fmla="*/ 12 h 124"/>
                <a:gd name="T12" fmla="*/ 12 w 125"/>
                <a:gd name="T13" fmla="*/ 28 h 124"/>
                <a:gd name="T14" fmla="*/ 2 w 125"/>
                <a:gd name="T15" fmla="*/ 50 h 124"/>
                <a:gd name="T16" fmla="*/ 2 w 125"/>
                <a:gd name="T17" fmla="*/ 75 h 124"/>
                <a:gd name="T18" fmla="*/ 12 w 125"/>
                <a:gd name="T19" fmla="*/ 98 h 124"/>
                <a:gd name="T20" fmla="*/ 29 w 125"/>
                <a:gd name="T21" fmla="*/ 115 h 124"/>
                <a:gd name="T22" fmla="*/ 50 w 125"/>
                <a:gd name="T23" fmla="*/ 124 h 124"/>
                <a:gd name="T24" fmla="*/ 75 w 125"/>
                <a:gd name="T25" fmla="*/ 124 h 124"/>
                <a:gd name="T26" fmla="*/ 98 w 125"/>
                <a:gd name="T27" fmla="*/ 115 h 124"/>
                <a:gd name="T28" fmla="*/ 115 w 125"/>
                <a:gd name="T29" fmla="*/ 98 h 124"/>
                <a:gd name="T30" fmla="*/ 125 w 125"/>
                <a:gd name="T31" fmla="*/ 75 h 124"/>
                <a:gd name="T32" fmla="*/ 121 w 125"/>
                <a:gd name="T33" fmla="*/ 63 h 124"/>
                <a:gd name="T34" fmla="*/ 116 w 125"/>
                <a:gd name="T35" fmla="*/ 85 h 124"/>
                <a:gd name="T36" fmla="*/ 103 w 125"/>
                <a:gd name="T37" fmla="*/ 103 h 124"/>
                <a:gd name="T38" fmla="*/ 85 w 125"/>
                <a:gd name="T39" fmla="*/ 116 h 124"/>
                <a:gd name="T40" fmla="*/ 63 w 125"/>
                <a:gd name="T41" fmla="*/ 121 h 124"/>
                <a:gd name="T42" fmla="*/ 40 w 125"/>
                <a:gd name="T43" fmla="*/ 116 h 124"/>
                <a:gd name="T44" fmla="*/ 22 w 125"/>
                <a:gd name="T45" fmla="*/ 103 h 124"/>
                <a:gd name="T46" fmla="*/ 10 w 125"/>
                <a:gd name="T47" fmla="*/ 85 h 124"/>
                <a:gd name="T48" fmla="*/ 5 w 125"/>
                <a:gd name="T49" fmla="*/ 63 h 124"/>
                <a:gd name="T50" fmla="*/ 10 w 125"/>
                <a:gd name="T51" fmla="*/ 40 h 124"/>
                <a:gd name="T52" fmla="*/ 22 w 125"/>
                <a:gd name="T53" fmla="*/ 22 h 124"/>
                <a:gd name="T54" fmla="*/ 40 w 125"/>
                <a:gd name="T55" fmla="*/ 10 h 124"/>
                <a:gd name="T56" fmla="*/ 63 w 125"/>
                <a:gd name="T57" fmla="*/ 5 h 124"/>
                <a:gd name="T58" fmla="*/ 85 w 125"/>
                <a:gd name="T59" fmla="*/ 10 h 124"/>
                <a:gd name="T60" fmla="*/ 103 w 125"/>
                <a:gd name="T61" fmla="*/ 22 h 124"/>
                <a:gd name="T62" fmla="*/ 116 w 125"/>
                <a:gd name="T63" fmla="*/ 40 h 124"/>
                <a:gd name="T64" fmla="*/ 121 w 125"/>
                <a:gd name="T65" fmla="*/ 63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25" h="124">
                  <a:moveTo>
                    <a:pt x="125" y="63"/>
                  </a:moveTo>
                  <a:lnTo>
                    <a:pt x="125" y="50"/>
                  </a:lnTo>
                  <a:lnTo>
                    <a:pt x="120" y="38"/>
                  </a:lnTo>
                  <a:lnTo>
                    <a:pt x="115" y="28"/>
                  </a:lnTo>
                  <a:lnTo>
                    <a:pt x="106" y="18"/>
                  </a:lnTo>
                  <a:lnTo>
                    <a:pt x="98" y="12"/>
                  </a:lnTo>
                  <a:lnTo>
                    <a:pt x="87" y="5"/>
                  </a:lnTo>
                  <a:lnTo>
                    <a:pt x="75" y="2"/>
                  </a:lnTo>
                  <a:lnTo>
                    <a:pt x="63" y="0"/>
                  </a:lnTo>
                  <a:lnTo>
                    <a:pt x="50" y="2"/>
                  </a:lnTo>
                  <a:lnTo>
                    <a:pt x="39" y="5"/>
                  </a:lnTo>
                  <a:lnTo>
                    <a:pt x="29" y="12"/>
                  </a:lnTo>
                  <a:lnTo>
                    <a:pt x="19" y="18"/>
                  </a:lnTo>
                  <a:lnTo>
                    <a:pt x="12" y="28"/>
                  </a:lnTo>
                  <a:lnTo>
                    <a:pt x="5" y="38"/>
                  </a:lnTo>
                  <a:lnTo>
                    <a:pt x="2" y="50"/>
                  </a:lnTo>
                  <a:lnTo>
                    <a:pt x="0" y="63"/>
                  </a:lnTo>
                  <a:lnTo>
                    <a:pt x="2" y="75"/>
                  </a:lnTo>
                  <a:lnTo>
                    <a:pt x="5" y="88"/>
                  </a:lnTo>
                  <a:lnTo>
                    <a:pt x="12" y="98"/>
                  </a:lnTo>
                  <a:lnTo>
                    <a:pt x="19" y="106"/>
                  </a:lnTo>
                  <a:lnTo>
                    <a:pt x="29" y="115"/>
                  </a:lnTo>
                  <a:lnTo>
                    <a:pt x="39" y="121"/>
                  </a:lnTo>
                  <a:lnTo>
                    <a:pt x="50" y="124"/>
                  </a:lnTo>
                  <a:lnTo>
                    <a:pt x="63" y="124"/>
                  </a:lnTo>
                  <a:lnTo>
                    <a:pt x="75" y="124"/>
                  </a:lnTo>
                  <a:lnTo>
                    <a:pt x="87" y="121"/>
                  </a:lnTo>
                  <a:lnTo>
                    <a:pt x="98" y="115"/>
                  </a:lnTo>
                  <a:lnTo>
                    <a:pt x="106" y="106"/>
                  </a:lnTo>
                  <a:lnTo>
                    <a:pt x="115" y="98"/>
                  </a:lnTo>
                  <a:lnTo>
                    <a:pt x="120" y="88"/>
                  </a:lnTo>
                  <a:lnTo>
                    <a:pt x="125" y="75"/>
                  </a:lnTo>
                  <a:lnTo>
                    <a:pt x="125" y="63"/>
                  </a:lnTo>
                  <a:close/>
                  <a:moveTo>
                    <a:pt x="121" y="63"/>
                  </a:moveTo>
                  <a:lnTo>
                    <a:pt x="120" y="75"/>
                  </a:lnTo>
                  <a:lnTo>
                    <a:pt x="116" y="85"/>
                  </a:lnTo>
                  <a:lnTo>
                    <a:pt x="111" y="95"/>
                  </a:lnTo>
                  <a:lnTo>
                    <a:pt x="103" y="103"/>
                  </a:lnTo>
                  <a:lnTo>
                    <a:pt x="95" y="111"/>
                  </a:lnTo>
                  <a:lnTo>
                    <a:pt x="85" y="116"/>
                  </a:lnTo>
                  <a:lnTo>
                    <a:pt x="75" y="119"/>
                  </a:lnTo>
                  <a:lnTo>
                    <a:pt x="63" y="121"/>
                  </a:lnTo>
                  <a:lnTo>
                    <a:pt x="52" y="119"/>
                  </a:lnTo>
                  <a:lnTo>
                    <a:pt x="40" y="116"/>
                  </a:lnTo>
                  <a:lnTo>
                    <a:pt x="30" y="111"/>
                  </a:lnTo>
                  <a:lnTo>
                    <a:pt x="22" y="103"/>
                  </a:lnTo>
                  <a:lnTo>
                    <a:pt x="15" y="95"/>
                  </a:lnTo>
                  <a:lnTo>
                    <a:pt x="10" y="85"/>
                  </a:lnTo>
                  <a:lnTo>
                    <a:pt x="7" y="75"/>
                  </a:lnTo>
                  <a:lnTo>
                    <a:pt x="5" y="63"/>
                  </a:lnTo>
                  <a:lnTo>
                    <a:pt x="7" y="52"/>
                  </a:lnTo>
                  <a:lnTo>
                    <a:pt x="10" y="40"/>
                  </a:lnTo>
                  <a:lnTo>
                    <a:pt x="15" y="30"/>
                  </a:lnTo>
                  <a:lnTo>
                    <a:pt x="22" y="22"/>
                  </a:lnTo>
                  <a:lnTo>
                    <a:pt x="30" y="15"/>
                  </a:lnTo>
                  <a:lnTo>
                    <a:pt x="40" y="10"/>
                  </a:lnTo>
                  <a:lnTo>
                    <a:pt x="52" y="7"/>
                  </a:lnTo>
                  <a:lnTo>
                    <a:pt x="63" y="5"/>
                  </a:lnTo>
                  <a:lnTo>
                    <a:pt x="75" y="7"/>
                  </a:lnTo>
                  <a:lnTo>
                    <a:pt x="85" y="10"/>
                  </a:lnTo>
                  <a:lnTo>
                    <a:pt x="95" y="15"/>
                  </a:lnTo>
                  <a:lnTo>
                    <a:pt x="103" y="22"/>
                  </a:lnTo>
                  <a:lnTo>
                    <a:pt x="111" y="30"/>
                  </a:lnTo>
                  <a:lnTo>
                    <a:pt x="116" y="40"/>
                  </a:lnTo>
                  <a:lnTo>
                    <a:pt x="120" y="52"/>
                  </a:lnTo>
                  <a:lnTo>
                    <a:pt x="121" y="63"/>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16" name="Freeform 257">
              <a:extLst>
                <a:ext uri="{FF2B5EF4-FFF2-40B4-BE49-F238E27FC236}">
                  <a16:creationId xmlns:a16="http://schemas.microsoft.com/office/drawing/2014/main" id="{23E151B9-916C-77A5-0AFF-DA4045C50DF5}"/>
                </a:ext>
              </a:extLst>
            </p:cNvPr>
            <p:cNvSpPr>
              <a:spLocks noEditPoints="1"/>
            </p:cNvSpPr>
            <p:nvPr/>
          </p:nvSpPr>
          <p:spPr bwMode="auto">
            <a:xfrm>
              <a:off x="1777" y="1554"/>
              <a:ext cx="119" cy="119"/>
            </a:xfrm>
            <a:custGeom>
              <a:avLst/>
              <a:gdLst>
                <a:gd name="T0" fmla="*/ 117 w 119"/>
                <a:gd name="T1" fmla="*/ 48 h 119"/>
                <a:gd name="T2" fmla="*/ 109 w 119"/>
                <a:gd name="T3" fmla="*/ 26 h 119"/>
                <a:gd name="T4" fmla="*/ 93 w 119"/>
                <a:gd name="T5" fmla="*/ 10 h 119"/>
                <a:gd name="T6" fmla="*/ 71 w 119"/>
                <a:gd name="T7" fmla="*/ 0 h 119"/>
                <a:gd name="T8" fmla="*/ 48 w 119"/>
                <a:gd name="T9" fmla="*/ 0 h 119"/>
                <a:gd name="T10" fmla="*/ 26 w 119"/>
                <a:gd name="T11" fmla="*/ 10 h 119"/>
                <a:gd name="T12" fmla="*/ 10 w 119"/>
                <a:gd name="T13" fmla="*/ 26 h 119"/>
                <a:gd name="T14" fmla="*/ 0 w 119"/>
                <a:gd name="T15" fmla="*/ 48 h 119"/>
                <a:gd name="T16" fmla="*/ 0 w 119"/>
                <a:gd name="T17" fmla="*/ 71 h 119"/>
                <a:gd name="T18" fmla="*/ 10 w 119"/>
                <a:gd name="T19" fmla="*/ 92 h 119"/>
                <a:gd name="T20" fmla="*/ 26 w 119"/>
                <a:gd name="T21" fmla="*/ 109 h 119"/>
                <a:gd name="T22" fmla="*/ 48 w 119"/>
                <a:gd name="T23" fmla="*/ 117 h 119"/>
                <a:gd name="T24" fmla="*/ 71 w 119"/>
                <a:gd name="T25" fmla="*/ 117 h 119"/>
                <a:gd name="T26" fmla="*/ 93 w 119"/>
                <a:gd name="T27" fmla="*/ 109 h 119"/>
                <a:gd name="T28" fmla="*/ 109 w 119"/>
                <a:gd name="T29" fmla="*/ 92 h 119"/>
                <a:gd name="T30" fmla="*/ 117 w 119"/>
                <a:gd name="T31" fmla="*/ 71 h 119"/>
                <a:gd name="T32" fmla="*/ 114 w 119"/>
                <a:gd name="T33" fmla="*/ 59 h 119"/>
                <a:gd name="T34" fmla="*/ 109 w 119"/>
                <a:gd name="T35" fmla="*/ 81 h 119"/>
                <a:gd name="T36" fmla="*/ 97 w 119"/>
                <a:gd name="T37" fmla="*/ 97 h 119"/>
                <a:gd name="T38" fmla="*/ 81 w 119"/>
                <a:gd name="T39" fmla="*/ 111 h 119"/>
                <a:gd name="T40" fmla="*/ 59 w 119"/>
                <a:gd name="T41" fmla="*/ 114 h 119"/>
                <a:gd name="T42" fmla="*/ 38 w 119"/>
                <a:gd name="T43" fmla="*/ 111 h 119"/>
                <a:gd name="T44" fmla="*/ 20 w 119"/>
                <a:gd name="T45" fmla="*/ 97 h 119"/>
                <a:gd name="T46" fmla="*/ 8 w 119"/>
                <a:gd name="T47" fmla="*/ 81 h 119"/>
                <a:gd name="T48" fmla="*/ 5 w 119"/>
                <a:gd name="T49" fmla="*/ 59 h 119"/>
                <a:gd name="T50" fmla="*/ 8 w 119"/>
                <a:gd name="T51" fmla="*/ 38 h 119"/>
                <a:gd name="T52" fmla="*/ 20 w 119"/>
                <a:gd name="T53" fmla="*/ 19 h 119"/>
                <a:gd name="T54" fmla="*/ 38 w 119"/>
                <a:gd name="T55" fmla="*/ 8 h 119"/>
                <a:gd name="T56" fmla="*/ 59 w 119"/>
                <a:gd name="T57" fmla="*/ 5 h 119"/>
                <a:gd name="T58" fmla="*/ 81 w 119"/>
                <a:gd name="T59" fmla="*/ 8 h 119"/>
                <a:gd name="T60" fmla="*/ 97 w 119"/>
                <a:gd name="T61" fmla="*/ 19 h 119"/>
                <a:gd name="T62" fmla="*/ 109 w 119"/>
                <a:gd name="T63" fmla="*/ 38 h 119"/>
                <a:gd name="T64" fmla="*/ 114 w 119"/>
                <a:gd name="T65" fmla="*/ 59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9" h="119">
                  <a:moveTo>
                    <a:pt x="119" y="59"/>
                  </a:moveTo>
                  <a:lnTo>
                    <a:pt x="117" y="48"/>
                  </a:lnTo>
                  <a:lnTo>
                    <a:pt x="114" y="36"/>
                  </a:lnTo>
                  <a:lnTo>
                    <a:pt x="109" y="26"/>
                  </a:lnTo>
                  <a:lnTo>
                    <a:pt x="101" y="16"/>
                  </a:lnTo>
                  <a:lnTo>
                    <a:pt x="93" y="10"/>
                  </a:lnTo>
                  <a:lnTo>
                    <a:pt x="83" y="5"/>
                  </a:lnTo>
                  <a:lnTo>
                    <a:pt x="71" y="0"/>
                  </a:lnTo>
                  <a:lnTo>
                    <a:pt x="59" y="0"/>
                  </a:lnTo>
                  <a:lnTo>
                    <a:pt x="48" y="0"/>
                  </a:lnTo>
                  <a:lnTo>
                    <a:pt x="36" y="5"/>
                  </a:lnTo>
                  <a:lnTo>
                    <a:pt x="26" y="10"/>
                  </a:lnTo>
                  <a:lnTo>
                    <a:pt x="16" y="16"/>
                  </a:lnTo>
                  <a:lnTo>
                    <a:pt x="10" y="26"/>
                  </a:lnTo>
                  <a:lnTo>
                    <a:pt x="5" y="36"/>
                  </a:lnTo>
                  <a:lnTo>
                    <a:pt x="0" y="48"/>
                  </a:lnTo>
                  <a:lnTo>
                    <a:pt x="0" y="59"/>
                  </a:lnTo>
                  <a:lnTo>
                    <a:pt x="0" y="71"/>
                  </a:lnTo>
                  <a:lnTo>
                    <a:pt x="5" y="82"/>
                  </a:lnTo>
                  <a:lnTo>
                    <a:pt x="10" y="92"/>
                  </a:lnTo>
                  <a:lnTo>
                    <a:pt x="16" y="101"/>
                  </a:lnTo>
                  <a:lnTo>
                    <a:pt x="26" y="109"/>
                  </a:lnTo>
                  <a:lnTo>
                    <a:pt x="36" y="114"/>
                  </a:lnTo>
                  <a:lnTo>
                    <a:pt x="48" y="117"/>
                  </a:lnTo>
                  <a:lnTo>
                    <a:pt x="59" y="119"/>
                  </a:lnTo>
                  <a:lnTo>
                    <a:pt x="71" y="117"/>
                  </a:lnTo>
                  <a:lnTo>
                    <a:pt x="83" y="114"/>
                  </a:lnTo>
                  <a:lnTo>
                    <a:pt x="93" y="109"/>
                  </a:lnTo>
                  <a:lnTo>
                    <a:pt x="101" y="101"/>
                  </a:lnTo>
                  <a:lnTo>
                    <a:pt x="109" y="92"/>
                  </a:lnTo>
                  <a:lnTo>
                    <a:pt x="114" y="82"/>
                  </a:lnTo>
                  <a:lnTo>
                    <a:pt x="117" y="71"/>
                  </a:lnTo>
                  <a:lnTo>
                    <a:pt x="119" y="59"/>
                  </a:lnTo>
                  <a:close/>
                  <a:moveTo>
                    <a:pt x="114" y="59"/>
                  </a:moveTo>
                  <a:lnTo>
                    <a:pt x="112" y="71"/>
                  </a:lnTo>
                  <a:lnTo>
                    <a:pt x="109" y="81"/>
                  </a:lnTo>
                  <a:lnTo>
                    <a:pt x="104" y="89"/>
                  </a:lnTo>
                  <a:lnTo>
                    <a:pt x="97" y="97"/>
                  </a:lnTo>
                  <a:lnTo>
                    <a:pt x="89" y="104"/>
                  </a:lnTo>
                  <a:lnTo>
                    <a:pt x="81" y="111"/>
                  </a:lnTo>
                  <a:lnTo>
                    <a:pt x="71" y="112"/>
                  </a:lnTo>
                  <a:lnTo>
                    <a:pt x="59" y="114"/>
                  </a:lnTo>
                  <a:lnTo>
                    <a:pt x="48" y="112"/>
                  </a:lnTo>
                  <a:lnTo>
                    <a:pt x="38" y="111"/>
                  </a:lnTo>
                  <a:lnTo>
                    <a:pt x="28" y="104"/>
                  </a:lnTo>
                  <a:lnTo>
                    <a:pt x="20" y="97"/>
                  </a:lnTo>
                  <a:lnTo>
                    <a:pt x="13" y="89"/>
                  </a:lnTo>
                  <a:lnTo>
                    <a:pt x="8" y="81"/>
                  </a:lnTo>
                  <a:lnTo>
                    <a:pt x="5" y="71"/>
                  </a:lnTo>
                  <a:lnTo>
                    <a:pt x="5" y="59"/>
                  </a:lnTo>
                  <a:lnTo>
                    <a:pt x="5" y="48"/>
                  </a:lnTo>
                  <a:lnTo>
                    <a:pt x="8" y="38"/>
                  </a:lnTo>
                  <a:lnTo>
                    <a:pt x="13" y="28"/>
                  </a:lnTo>
                  <a:lnTo>
                    <a:pt x="20" y="19"/>
                  </a:lnTo>
                  <a:lnTo>
                    <a:pt x="28" y="13"/>
                  </a:lnTo>
                  <a:lnTo>
                    <a:pt x="38" y="8"/>
                  </a:lnTo>
                  <a:lnTo>
                    <a:pt x="48" y="5"/>
                  </a:lnTo>
                  <a:lnTo>
                    <a:pt x="59" y="5"/>
                  </a:lnTo>
                  <a:lnTo>
                    <a:pt x="71" y="5"/>
                  </a:lnTo>
                  <a:lnTo>
                    <a:pt x="81" y="8"/>
                  </a:lnTo>
                  <a:lnTo>
                    <a:pt x="89" y="13"/>
                  </a:lnTo>
                  <a:lnTo>
                    <a:pt x="97" y="19"/>
                  </a:lnTo>
                  <a:lnTo>
                    <a:pt x="104" y="28"/>
                  </a:lnTo>
                  <a:lnTo>
                    <a:pt x="109" y="38"/>
                  </a:lnTo>
                  <a:lnTo>
                    <a:pt x="112" y="48"/>
                  </a:lnTo>
                  <a:lnTo>
                    <a:pt x="114" y="59"/>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17" name="Freeform 258">
              <a:extLst>
                <a:ext uri="{FF2B5EF4-FFF2-40B4-BE49-F238E27FC236}">
                  <a16:creationId xmlns:a16="http://schemas.microsoft.com/office/drawing/2014/main" id="{98881267-C6A4-845A-AD4B-86E7C01B5231}"/>
                </a:ext>
              </a:extLst>
            </p:cNvPr>
            <p:cNvSpPr>
              <a:spLocks noEditPoints="1"/>
            </p:cNvSpPr>
            <p:nvPr/>
          </p:nvSpPr>
          <p:spPr bwMode="auto">
            <a:xfrm>
              <a:off x="1778" y="1555"/>
              <a:ext cx="116" cy="116"/>
            </a:xfrm>
            <a:custGeom>
              <a:avLst/>
              <a:gdLst>
                <a:gd name="T0" fmla="*/ 115 w 116"/>
                <a:gd name="T1" fmla="*/ 47 h 116"/>
                <a:gd name="T2" fmla="*/ 106 w 116"/>
                <a:gd name="T3" fmla="*/ 25 h 116"/>
                <a:gd name="T4" fmla="*/ 90 w 116"/>
                <a:gd name="T5" fmla="*/ 10 h 116"/>
                <a:gd name="T6" fmla="*/ 70 w 116"/>
                <a:gd name="T7" fmla="*/ 2 h 116"/>
                <a:gd name="T8" fmla="*/ 47 w 116"/>
                <a:gd name="T9" fmla="*/ 2 h 116"/>
                <a:gd name="T10" fmla="*/ 25 w 116"/>
                <a:gd name="T11" fmla="*/ 10 h 116"/>
                <a:gd name="T12" fmla="*/ 10 w 116"/>
                <a:gd name="T13" fmla="*/ 25 h 116"/>
                <a:gd name="T14" fmla="*/ 2 w 116"/>
                <a:gd name="T15" fmla="*/ 47 h 116"/>
                <a:gd name="T16" fmla="*/ 2 w 116"/>
                <a:gd name="T17" fmla="*/ 70 h 116"/>
                <a:gd name="T18" fmla="*/ 10 w 116"/>
                <a:gd name="T19" fmla="*/ 90 h 116"/>
                <a:gd name="T20" fmla="*/ 25 w 116"/>
                <a:gd name="T21" fmla="*/ 106 h 116"/>
                <a:gd name="T22" fmla="*/ 47 w 116"/>
                <a:gd name="T23" fmla="*/ 114 h 116"/>
                <a:gd name="T24" fmla="*/ 70 w 116"/>
                <a:gd name="T25" fmla="*/ 114 h 116"/>
                <a:gd name="T26" fmla="*/ 90 w 116"/>
                <a:gd name="T27" fmla="*/ 106 h 116"/>
                <a:gd name="T28" fmla="*/ 106 w 116"/>
                <a:gd name="T29" fmla="*/ 90 h 116"/>
                <a:gd name="T30" fmla="*/ 115 w 116"/>
                <a:gd name="T31" fmla="*/ 70 h 116"/>
                <a:gd name="T32" fmla="*/ 111 w 116"/>
                <a:gd name="T33" fmla="*/ 58 h 116"/>
                <a:gd name="T34" fmla="*/ 106 w 116"/>
                <a:gd name="T35" fmla="*/ 78 h 116"/>
                <a:gd name="T36" fmla="*/ 95 w 116"/>
                <a:gd name="T37" fmla="*/ 95 h 116"/>
                <a:gd name="T38" fmla="*/ 78 w 116"/>
                <a:gd name="T39" fmla="*/ 106 h 116"/>
                <a:gd name="T40" fmla="*/ 58 w 116"/>
                <a:gd name="T41" fmla="*/ 111 h 116"/>
                <a:gd name="T42" fmla="*/ 37 w 116"/>
                <a:gd name="T43" fmla="*/ 106 h 116"/>
                <a:gd name="T44" fmla="*/ 20 w 116"/>
                <a:gd name="T45" fmla="*/ 95 h 116"/>
                <a:gd name="T46" fmla="*/ 10 w 116"/>
                <a:gd name="T47" fmla="*/ 78 h 116"/>
                <a:gd name="T48" fmla="*/ 5 w 116"/>
                <a:gd name="T49" fmla="*/ 58 h 116"/>
                <a:gd name="T50" fmla="*/ 10 w 116"/>
                <a:gd name="T51" fmla="*/ 38 h 116"/>
                <a:gd name="T52" fmla="*/ 20 w 116"/>
                <a:gd name="T53" fmla="*/ 20 h 116"/>
                <a:gd name="T54" fmla="*/ 37 w 116"/>
                <a:gd name="T55" fmla="*/ 10 h 116"/>
                <a:gd name="T56" fmla="*/ 58 w 116"/>
                <a:gd name="T57" fmla="*/ 5 h 116"/>
                <a:gd name="T58" fmla="*/ 78 w 116"/>
                <a:gd name="T59" fmla="*/ 10 h 116"/>
                <a:gd name="T60" fmla="*/ 95 w 116"/>
                <a:gd name="T61" fmla="*/ 20 h 116"/>
                <a:gd name="T62" fmla="*/ 106 w 116"/>
                <a:gd name="T63" fmla="*/ 38 h 116"/>
                <a:gd name="T64" fmla="*/ 111 w 116"/>
                <a:gd name="T65"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6" h="116">
                  <a:moveTo>
                    <a:pt x="116" y="58"/>
                  </a:moveTo>
                  <a:lnTo>
                    <a:pt x="115" y="47"/>
                  </a:lnTo>
                  <a:lnTo>
                    <a:pt x="111" y="35"/>
                  </a:lnTo>
                  <a:lnTo>
                    <a:pt x="106" y="25"/>
                  </a:lnTo>
                  <a:lnTo>
                    <a:pt x="98" y="17"/>
                  </a:lnTo>
                  <a:lnTo>
                    <a:pt x="90" y="10"/>
                  </a:lnTo>
                  <a:lnTo>
                    <a:pt x="80" y="5"/>
                  </a:lnTo>
                  <a:lnTo>
                    <a:pt x="70" y="2"/>
                  </a:lnTo>
                  <a:lnTo>
                    <a:pt x="58" y="0"/>
                  </a:lnTo>
                  <a:lnTo>
                    <a:pt x="47" y="2"/>
                  </a:lnTo>
                  <a:lnTo>
                    <a:pt x="35" y="5"/>
                  </a:lnTo>
                  <a:lnTo>
                    <a:pt x="25" y="10"/>
                  </a:lnTo>
                  <a:lnTo>
                    <a:pt x="17" y="17"/>
                  </a:lnTo>
                  <a:lnTo>
                    <a:pt x="10" y="25"/>
                  </a:lnTo>
                  <a:lnTo>
                    <a:pt x="5" y="35"/>
                  </a:lnTo>
                  <a:lnTo>
                    <a:pt x="2" y="47"/>
                  </a:lnTo>
                  <a:lnTo>
                    <a:pt x="0" y="58"/>
                  </a:lnTo>
                  <a:lnTo>
                    <a:pt x="2" y="70"/>
                  </a:lnTo>
                  <a:lnTo>
                    <a:pt x="5" y="80"/>
                  </a:lnTo>
                  <a:lnTo>
                    <a:pt x="10" y="90"/>
                  </a:lnTo>
                  <a:lnTo>
                    <a:pt x="17" y="98"/>
                  </a:lnTo>
                  <a:lnTo>
                    <a:pt x="25" y="106"/>
                  </a:lnTo>
                  <a:lnTo>
                    <a:pt x="35" y="111"/>
                  </a:lnTo>
                  <a:lnTo>
                    <a:pt x="47" y="114"/>
                  </a:lnTo>
                  <a:lnTo>
                    <a:pt x="58" y="116"/>
                  </a:lnTo>
                  <a:lnTo>
                    <a:pt x="70" y="114"/>
                  </a:lnTo>
                  <a:lnTo>
                    <a:pt x="80" y="111"/>
                  </a:lnTo>
                  <a:lnTo>
                    <a:pt x="90" y="106"/>
                  </a:lnTo>
                  <a:lnTo>
                    <a:pt x="98" y="98"/>
                  </a:lnTo>
                  <a:lnTo>
                    <a:pt x="106" y="90"/>
                  </a:lnTo>
                  <a:lnTo>
                    <a:pt x="111" y="80"/>
                  </a:lnTo>
                  <a:lnTo>
                    <a:pt x="115" y="70"/>
                  </a:lnTo>
                  <a:lnTo>
                    <a:pt x="116" y="58"/>
                  </a:lnTo>
                  <a:close/>
                  <a:moveTo>
                    <a:pt x="111" y="58"/>
                  </a:moveTo>
                  <a:lnTo>
                    <a:pt x="110" y="68"/>
                  </a:lnTo>
                  <a:lnTo>
                    <a:pt x="106" y="78"/>
                  </a:lnTo>
                  <a:lnTo>
                    <a:pt x="101" y="88"/>
                  </a:lnTo>
                  <a:lnTo>
                    <a:pt x="95" y="95"/>
                  </a:lnTo>
                  <a:lnTo>
                    <a:pt x="88" y="101"/>
                  </a:lnTo>
                  <a:lnTo>
                    <a:pt x="78" y="106"/>
                  </a:lnTo>
                  <a:lnTo>
                    <a:pt x="68" y="110"/>
                  </a:lnTo>
                  <a:lnTo>
                    <a:pt x="58" y="111"/>
                  </a:lnTo>
                  <a:lnTo>
                    <a:pt x="47" y="110"/>
                  </a:lnTo>
                  <a:lnTo>
                    <a:pt x="37" y="106"/>
                  </a:lnTo>
                  <a:lnTo>
                    <a:pt x="29" y="101"/>
                  </a:lnTo>
                  <a:lnTo>
                    <a:pt x="20" y="95"/>
                  </a:lnTo>
                  <a:lnTo>
                    <a:pt x="14" y="88"/>
                  </a:lnTo>
                  <a:lnTo>
                    <a:pt x="10" y="78"/>
                  </a:lnTo>
                  <a:lnTo>
                    <a:pt x="7" y="68"/>
                  </a:lnTo>
                  <a:lnTo>
                    <a:pt x="5" y="58"/>
                  </a:lnTo>
                  <a:lnTo>
                    <a:pt x="7" y="47"/>
                  </a:lnTo>
                  <a:lnTo>
                    <a:pt x="10" y="38"/>
                  </a:lnTo>
                  <a:lnTo>
                    <a:pt x="14" y="28"/>
                  </a:lnTo>
                  <a:lnTo>
                    <a:pt x="20" y="20"/>
                  </a:lnTo>
                  <a:lnTo>
                    <a:pt x="29" y="15"/>
                  </a:lnTo>
                  <a:lnTo>
                    <a:pt x="37" y="10"/>
                  </a:lnTo>
                  <a:lnTo>
                    <a:pt x="47" y="7"/>
                  </a:lnTo>
                  <a:lnTo>
                    <a:pt x="58" y="5"/>
                  </a:lnTo>
                  <a:lnTo>
                    <a:pt x="68" y="7"/>
                  </a:lnTo>
                  <a:lnTo>
                    <a:pt x="78" y="10"/>
                  </a:lnTo>
                  <a:lnTo>
                    <a:pt x="88" y="15"/>
                  </a:lnTo>
                  <a:lnTo>
                    <a:pt x="95" y="20"/>
                  </a:lnTo>
                  <a:lnTo>
                    <a:pt x="101" y="28"/>
                  </a:lnTo>
                  <a:lnTo>
                    <a:pt x="106" y="38"/>
                  </a:lnTo>
                  <a:lnTo>
                    <a:pt x="110" y="47"/>
                  </a:lnTo>
                  <a:lnTo>
                    <a:pt x="111" y="58"/>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18" name="Freeform 259">
              <a:extLst>
                <a:ext uri="{FF2B5EF4-FFF2-40B4-BE49-F238E27FC236}">
                  <a16:creationId xmlns:a16="http://schemas.microsoft.com/office/drawing/2014/main" id="{63903FB1-7336-78D3-C3A1-65170276A1DC}"/>
                </a:ext>
              </a:extLst>
            </p:cNvPr>
            <p:cNvSpPr>
              <a:spLocks noEditPoints="1"/>
            </p:cNvSpPr>
            <p:nvPr/>
          </p:nvSpPr>
          <p:spPr bwMode="auto">
            <a:xfrm>
              <a:off x="1782" y="1559"/>
              <a:ext cx="109" cy="109"/>
            </a:xfrm>
            <a:custGeom>
              <a:avLst/>
              <a:gdLst>
                <a:gd name="T0" fmla="*/ 107 w 109"/>
                <a:gd name="T1" fmla="*/ 43 h 109"/>
                <a:gd name="T2" fmla="*/ 99 w 109"/>
                <a:gd name="T3" fmla="*/ 23 h 109"/>
                <a:gd name="T4" fmla="*/ 84 w 109"/>
                <a:gd name="T5" fmla="*/ 8 h 109"/>
                <a:gd name="T6" fmla="*/ 66 w 109"/>
                <a:gd name="T7" fmla="*/ 0 h 109"/>
                <a:gd name="T8" fmla="*/ 43 w 109"/>
                <a:gd name="T9" fmla="*/ 0 h 109"/>
                <a:gd name="T10" fmla="*/ 23 w 109"/>
                <a:gd name="T11" fmla="*/ 8 h 109"/>
                <a:gd name="T12" fmla="*/ 8 w 109"/>
                <a:gd name="T13" fmla="*/ 23 h 109"/>
                <a:gd name="T14" fmla="*/ 0 w 109"/>
                <a:gd name="T15" fmla="*/ 43 h 109"/>
                <a:gd name="T16" fmla="*/ 0 w 109"/>
                <a:gd name="T17" fmla="*/ 66 h 109"/>
                <a:gd name="T18" fmla="*/ 8 w 109"/>
                <a:gd name="T19" fmla="*/ 84 h 109"/>
                <a:gd name="T20" fmla="*/ 23 w 109"/>
                <a:gd name="T21" fmla="*/ 99 h 109"/>
                <a:gd name="T22" fmla="*/ 43 w 109"/>
                <a:gd name="T23" fmla="*/ 107 h 109"/>
                <a:gd name="T24" fmla="*/ 66 w 109"/>
                <a:gd name="T25" fmla="*/ 107 h 109"/>
                <a:gd name="T26" fmla="*/ 84 w 109"/>
                <a:gd name="T27" fmla="*/ 99 h 109"/>
                <a:gd name="T28" fmla="*/ 99 w 109"/>
                <a:gd name="T29" fmla="*/ 84 h 109"/>
                <a:gd name="T30" fmla="*/ 107 w 109"/>
                <a:gd name="T31" fmla="*/ 66 h 109"/>
                <a:gd name="T32" fmla="*/ 104 w 109"/>
                <a:gd name="T33" fmla="*/ 54 h 109"/>
                <a:gd name="T34" fmla="*/ 101 w 109"/>
                <a:gd name="T35" fmla="*/ 74 h 109"/>
                <a:gd name="T36" fmla="*/ 89 w 109"/>
                <a:gd name="T37" fmla="*/ 89 h 109"/>
                <a:gd name="T38" fmla="*/ 74 w 109"/>
                <a:gd name="T39" fmla="*/ 101 h 109"/>
                <a:gd name="T40" fmla="*/ 54 w 109"/>
                <a:gd name="T41" fmla="*/ 104 h 109"/>
                <a:gd name="T42" fmla="*/ 35 w 109"/>
                <a:gd name="T43" fmla="*/ 101 h 109"/>
                <a:gd name="T44" fmla="*/ 18 w 109"/>
                <a:gd name="T45" fmla="*/ 89 h 109"/>
                <a:gd name="T46" fmla="*/ 8 w 109"/>
                <a:gd name="T47" fmla="*/ 74 h 109"/>
                <a:gd name="T48" fmla="*/ 3 w 109"/>
                <a:gd name="T49" fmla="*/ 54 h 109"/>
                <a:gd name="T50" fmla="*/ 8 w 109"/>
                <a:gd name="T51" fmla="*/ 34 h 109"/>
                <a:gd name="T52" fmla="*/ 18 w 109"/>
                <a:gd name="T53" fmla="*/ 18 h 109"/>
                <a:gd name="T54" fmla="*/ 35 w 109"/>
                <a:gd name="T55" fmla="*/ 8 h 109"/>
                <a:gd name="T56" fmla="*/ 54 w 109"/>
                <a:gd name="T57" fmla="*/ 5 h 109"/>
                <a:gd name="T58" fmla="*/ 74 w 109"/>
                <a:gd name="T59" fmla="*/ 8 h 109"/>
                <a:gd name="T60" fmla="*/ 89 w 109"/>
                <a:gd name="T61" fmla="*/ 18 h 109"/>
                <a:gd name="T62" fmla="*/ 101 w 109"/>
                <a:gd name="T63" fmla="*/ 34 h 109"/>
                <a:gd name="T64" fmla="*/ 104 w 109"/>
                <a:gd name="T65" fmla="*/ 54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09" h="109">
                  <a:moveTo>
                    <a:pt x="109" y="54"/>
                  </a:moveTo>
                  <a:lnTo>
                    <a:pt x="107" y="43"/>
                  </a:lnTo>
                  <a:lnTo>
                    <a:pt x="104" y="33"/>
                  </a:lnTo>
                  <a:lnTo>
                    <a:pt x="99" y="23"/>
                  </a:lnTo>
                  <a:lnTo>
                    <a:pt x="92" y="14"/>
                  </a:lnTo>
                  <a:lnTo>
                    <a:pt x="84" y="8"/>
                  </a:lnTo>
                  <a:lnTo>
                    <a:pt x="76" y="3"/>
                  </a:lnTo>
                  <a:lnTo>
                    <a:pt x="66" y="0"/>
                  </a:lnTo>
                  <a:lnTo>
                    <a:pt x="54" y="0"/>
                  </a:lnTo>
                  <a:lnTo>
                    <a:pt x="43" y="0"/>
                  </a:lnTo>
                  <a:lnTo>
                    <a:pt x="33" y="3"/>
                  </a:lnTo>
                  <a:lnTo>
                    <a:pt x="23" y="8"/>
                  </a:lnTo>
                  <a:lnTo>
                    <a:pt x="15" y="14"/>
                  </a:lnTo>
                  <a:lnTo>
                    <a:pt x="8" y="23"/>
                  </a:lnTo>
                  <a:lnTo>
                    <a:pt x="3" y="33"/>
                  </a:lnTo>
                  <a:lnTo>
                    <a:pt x="0" y="43"/>
                  </a:lnTo>
                  <a:lnTo>
                    <a:pt x="0" y="54"/>
                  </a:lnTo>
                  <a:lnTo>
                    <a:pt x="0" y="66"/>
                  </a:lnTo>
                  <a:lnTo>
                    <a:pt x="3" y="76"/>
                  </a:lnTo>
                  <a:lnTo>
                    <a:pt x="8" y="84"/>
                  </a:lnTo>
                  <a:lnTo>
                    <a:pt x="15" y="92"/>
                  </a:lnTo>
                  <a:lnTo>
                    <a:pt x="23" y="99"/>
                  </a:lnTo>
                  <a:lnTo>
                    <a:pt x="33" y="106"/>
                  </a:lnTo>
                  <a:lnTo>
                    <a:pt x="43" y="107"/>
                  </a:lnTo>
                  <a:lnTo>
                    <a:pt x="54" y="109"/>
                  </a:lnTo>
                  <a:lnTo>
                    <a:pt x="66" y="107"/>
                  </a:lnTo>
                  <a:lnTo>
                    <a:pt x="76" y="106"/>
                  </a:lnTo>
                  <a:lnTo>
                    <a:pt x="84" y="99"/>
                  </a:lnTo>
                  <a:lnTo>
                    <a:pt x="92" y="92"/>
                  </a:lnTo>
                  <a:lnTo>
                    <a:pt x="99" y="84"/>
                  </a:lnTo>
                  <a:lnTo>
                    <a:pt x="104" y="76"/>
                  </a:lnTo>
                  <a:lnTo>
                    <a:pt x="107" y="66"/>
                  </a:lnTo>
                  <a:lnTo>
                    <a:pt x="109" y="54"/>
                  </a:lnTo>
                  <a:close/>
                  <a:moveTo>
                    <a:pt x="104" y="54"/>
                  </a:moveTo>
                  <a:lnTo>
                    <a:pt x="104" y="64"/>
                  </a:lnTo>
                  <a:lnTo>
                    <a:pt x="101" y="74"/>
                  </a:lnTo>
                  <a:lnTo>
                    <a:pt x="96" y="82"/>
                  </a:lnTo>
                  <a:lnTo>
                    <a:pt x="89" y="89"/>
                  </a:lnTo>
                  <a:lnTo>
                    <a:pt x="83" y="96"/>
                  </a:lnTo>
                  <a:lnTo>
                    <a:pt x="74" y="101"/>
                  </a:lnTo>
                  <a:lnTo>
                    <a:pt x="64" y="104"/>
                  </a:lnTo>
                  <a:lnTo>
                    <a:pt x="54" y="104"/>
                  </a:lnTo>
                  <a:lnTo>
                    <a:pt x="44" y="104"/>
                  </a:lnTo>
                  <a:lnTo>
                    <a:pt x="35" y="101"/>
                  </a:lnTo>
                  <a:lnTo>
                    <a:pt x="26" y="96"/>
                  </a:lnTo>
                  <a:lnTo>
                    <a:pt x="18" y="89"/>
                  </a:lnTo>
                  <a:lnTo>
                    <a:pt x="13" y="82"/>
                  </a:lnTo>
                  <a:lnTo>
                    <a:pt x="8" y="74"/>
                  </a:lnTo>
                  <a:lnTo>
                    <a:pt x="5" y="64"/>
                  </a:lnTo>
                  <a:lnTo>
                    <a:pt x="3" y="54"/>
                  </a:lnTo>
                  <a:lnTo>
                    <a:pt x="5" y="44"/>
                  </a:lnTo>
                  <a:lnTo>
                    <a:pt x="8" y="34"/>
                  </a:lnTo>
                  <a:lnTo>
                    <a:pt x="13" y="26"/>
                  </a:lnTo>
                  <a:lnTo>
                    <a:pt x="18" y="18"/>
                  </a:lnTo>
                  <a:lnTo>
                    <a:pt x="26" y="13"/>
                  </a:lnTo>
                  <a:lnTo>
                    <a:pt x="35" y="8"/>
                  </a:lnTo>
                  <a:lnTo>
                    <a:pt x="44" y="5"/>
                  </a:lnTo>
                  <a:lnTo>
                    <a:pt x="54" y="5"/>
                  </a:lnTo>
                  <a:lnTo>
                    <a:pt x="64" y="5"/>
                  </a:lnTo>
                  <a:lnTo>
                    <a:pt x="74" y="8"/>
                  </a:lnTo>
                  <a:lnTo>
                    <a:pt x="83" y="13"/>
                  </a:lnTo>
                  <a:lnTo>
                    <a:pt x="89" y="18"/>
                  </a:lnTo>
                  <a:lnTo>
                    <a:pt x="96" y="26"/>
                  </a:lnTo>
                  <a:lnTo>
                    <a:pt x="101" y="34"/>
                  </a:lnTo>
                  <a:lnTo>
                    <a:pt x="104" y="44"/>
                  </a:lnTo>
                  <a:lnTo>
                    <a:pt x="104" y="54"/>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19" name="Freeform 260">
              <a:extLst>
                <a:ext uri="{FF2B5EF4-FFF2-40B4-BE49-F238E27FC236}">
                  <a16:creationId xmlns:a16="http://schemas.microsoft.com/office/drawing/2014/main" id="{801F0135-88C5-9171-91E3-118B4A78572A}"/>
                </a:ext>
              </a:extLst>
            </p:cNvPr>
            <p:cNvSpPr>
              <a:spLocks noEditPoints="1"/>
            </p:cNvSpPr>
            <p:nvPr/>
          </p:nvSpPr>
          <p:spPr bwMode="auto">
            <a:xfrm>
              <a:off x="1783" y="1560"/>
              <a:ext cx="106" cy="106"/>
            </a:xfrm>
            <a:custGeom>
              <a:avLst/>
              <a:gdLst>
                <a:gd name="T0" fmla="*/ 105 w 106"/>
                <a:gd name="T1" fmla="*/ 42 h 106"/>
                <a:gd name="T2" fmla="*/ 96 w 106"/>
                <a:gd name="T3" fmla="*/ 23 h 106"/>
                <a:gd name="T4" fmla="*/ 83 w 106"/>
                <a:gd name="T5" fmla="*/ 10 h 106"/>
                <a:gd name="T6" fmla="*/ 63 w 106"/>
                <a:gd name="T7" fmla="*/ 2 h 106"/>
                <a:gd name="T8" fmla="*/ 42 w 106"/>
                <a:gd name="T9" fmla="*/ 2 h 106"/>
                <a:gd name="T10" fmla="*/ 24 w 106"/>
                <a:gd name="T11" fmla="*/ 10 h 106"/>
                <a:gd name="T12" fmla="*/ 9 w 106"/>
                <a:gd name="T13" fmla="*/ 23 h 106"/>
                <a:gd name="T14" fmla="*/ 2 w 106"/>
                <a:gd name="T15" fmla="*/ 42 h 106"/>
                <a:gd name="T16" fmla="*/ 2 w 106"/>
                <a:gd name="T17" fmla="*/ 63 h 106"/>
                <a:gd name="T18" fmla="*/ 9 w 106"/>
                <a:gd name="T19" fmla="*/ 83 h 106"/>
                <a:gd name="T20" fmla="*/ 24 w 106"/>
                <a:gd name="T21" fmla="*/ 96 h 106"/>
                <a:gd name="T22" fmla="*/ 42 w 106"/>
                <a:gd name="T23" fmla="*/ 105 h 106"/>
                <a:gd name="T24" fmla="*/ 63 w 106"/>
                <a:gd name="T25" fmla="*/ 105 h 106"/>
                <a:gd name="T26" fmla="*/ 83 w 106"/>
                <a:gd name="T27" fmla="*/ 96 h 106"/>
                <a:gd name="T28" fmla="*/ 96 w 106"/>
                <a:gd name="T29" fmla="*/ 83 h 106"/>
                <a:gd name="T30" fmla="*/ 105 w 106"/>
                <a:gd name="T31" fmla="*/ 63 h 106"/>
                <a:gd name="T32" fmla="*/ 101 w 106"/>
                <a:gd name="T33" fmla="*/ 53 h 106"/>
                <a:gd name="T34" fmla="*/ 96 w 106"/>
                <a:gd name="T35" fmla="*/ 71 h 106"/>
                <a:gd name="T36" fmla="*/ 87 w 106"/>
                <a:gd name="T37" fmla="*/ 86 h 106"/>
                <a:gd name="T38" fmla="*/ 72 w 106"/>
                <a:gd name="T39" fmla="*/ 98 h 106"/>
                <a:gd name="T40" fmla="*/ 53 w 106"/>
                <a:gd name="T41" fmla="*/ 101 h 106"/>
                <a:gd name="T42" fmla="*/ 35 w 106"/>
                <a:gd name="T43" fmla="*/ 98 h 106"/>
                <a:gd name="T44" fmla="*/ 19 w 106"/>
                <a:gd name="T45" fmla="*/ 86 h 106"/>
                <a:gd name="T46" fmla="*/ 9 w 106"/>
                <a:gd name="T47" fmla="*/ 71 h 106"/>
                <a:gd name="T48" fmla="*/ 5 w 106"/>
                <a:gd name="T49" fmla="*/ 53 h 106"/>
                <a:gd name="T50" fmla="*/ 9 w 106"/>
                <a:gd name="T51" fmla="*/ 35 h 106"/>
                <a:gd name="T52" fmla="*/ 19 w 106"/>
                <a:gd name="T53" fmla="*/ 18 h 106"/>
                <a:gd name="T54" fmla="*/ 35 w 106"/>
                <a:gd name="T55" fmla="*/ 8 h 106"/>
                <a:gd name="T56" fmla="*/ 53 w 106"/>
                <a:gd name="T57" fmla="*/ 5 h 106"/>
                <a:gd name="T58" fmla="*/ 72 w 106"/>
                <a:gd name="T59" fmla="*/ 8 h 106"/>
                <a:gd name="T60" fmla="*/ 87 w 106"/>
                <a:gd name="T61" fmla="*/ 18 h 106"/>
                <a:gd name="T62" fmla="*/ 96 w 106"/>
                <a:gd name="T63" fmla="*/ 35 h 106"/>
                <a:gd name="T64" fmla="*/ 101 w 106"/>
                <a:gd name="T65" fmla="*/ 53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06" h="106">
                  <a:moveTo>
                    <a:pt x="106" y="53"/>
                  </a:moveTo>
                  <a:lnTo>
                    <a:pt x="105" y="42"/>
                  </a:lnTo>
                  <a:lnTo>
                    <a:pt x="101" y="33"/>
                  </a:lnTo>
                  <a:lnTo>
                    <a:pt x="96" y="23"/>
                  </a:lnTo>
                  <a:lnTo>
                    <a:pt x="90" y="15"/>
                  </a:lnTo>
                  <a:lnTo>
                    <a:pt x="83" y="10"/>
                  </a:lnTo>
                  <a:lnTo>
                    <a:pt x="73" y="5"/>
                  </a:lnTo>
                  <a:lnTo>
                    <a:pt x="63" y="2"/>
                  </a:lnTo>
                  <a:lnTo>
                    <a:pt x="53" y="0"/>
                  </a:lnTo>
                  <a:lnTo>
                    <a:pt x="42" y="2"/>
                  </a:lnTo>
                  <a:lnTo>
                    <a:pt x="32" y="5"/>
                  </a:lnTo>
                  <a:lnTo>
                    <a:pt x="24" y="10"/>
                  </a:lnTo>
                  <a:lnTo>
                    <a:pt x="15" y="15"/>
                  </a:lnTo>
                  <a:lnTo>
                    <a:pt x="9" y="23"/>
                  </a:lnTo>
                  <a:lnTo>
                    <a:pt x="5" y="33"/>
                  </a:lnTo>
                  <a:lnTo>
                    <a:pt x="2" y="42"/>
                  </a:lnTo>
                  <a:lnTo>
                    <a:pt x="0" y="53"/>
                  </a:lnTo>
                  <a:lnTo>
                    <a:pt x="2" y="63"/>
                  </a:lnTo>
                  <a:lnTo>
                    <a:pt x="5" y="73"/>
                  </a:lnTo>
                  <a:lnTo>
                    <a:pt x="9" y="83"/>
                  </a:lnTo>
                  <a:lnTo>
                    <a:pt x="15" y="90"/>
                  </a:lnTo>
                  <a:lnTo>
                    <a:pt x="24" y="96"/>
                  </a:lnTo>
                  <a:lnTo>
                    <a:pt x="32" y="101"/>
                  </a:lnTo>
                  <a:lnTo>
                    <a:pt x="42" y="105"/>
                  </a:lnTo>
                  <a:lnTo>
                    <a:pt x="53" y="106"/>
                  </a:lnTo>
                  <a:lnTo>
                    <a:pt x="63" y="105"/>
                  </a:lnTo>
                  <a:lnTo>
                    <a:pt x="73" y="101"/>
                  </a:lnTo>
                  <a:lnTo>
                    <a:pt x="83" y="96"/>
                  </a:lnTo>
                  <a:lnTo>
                    <a:pt x="90" y="90"/>
                  </a:lnTo>
                  <a:lnTo>
                    <a:pt x="96" y="83"/>
                  </a:lnTo>
                  <a:lnTo>
                    <a:pt x="101" y="73"/>
                  </a:lnTo>
                  <a:lnTo>
                    <a:pt x="105" y="63"/>
                  </a:lnTo>
                  <a:lnTo>
                    <a:pt x="106" y="53"/>
                  </a:lnTo>
                  <a:close/>
                  <a:moveTo>
                    <a:pt x="101" y="53"/>
                  </a:moveTo>
                  <a:lnTo>
                    <a:pt x="100" y="63"/>
                  </a:lnTo>
                  <a:lnTo>
                    <a:pt x="96" y="71"/>
                  </a:lnTo>
                  <a:lnTo>
                    <a:pt x="93" y="80"/>
                  </a:lnTo>
                  <a:lnTo>
                    <a:pt x="87" y="86"/>
                  </a:lnTo>
                  <a:lnTo>
                    <a:pt x="80" y="93"/>
                  </a:lnTo>
                  <a:lnTo>
                    <a:pt x="72" y="98"/>
                  </a:lnTo>
                  <a:lnTo>
                    <a:pt x="63" y="100"/>
                  </a:lnTo>
                  <a:lnTo>
                    <a:pt x="53" y="101"/>
                  </a:lnTo>
                  <a:lnTo>
                    <a:pt x="43" y="100"/>
                  </a:lnTo>
                  <a:lnTo>
                    <a:pt x="35" y="98"/>
                  </a:lnTo>
                  <a:lnTo>
                    <a:pt x="27" y="93"/>
                  </a:lnTo>
                  <a:lnTo>
                    <a:pt x="19" y="86"/>
                  </a:lnTo>
                  <a:lnTo>
                    <a:pt x="14" y="80"/>
                  </a:lnTo>
                  <a:lnTo>
                    <a:pt x="9" y="71"/>
                  </a:lnTo>
                  <a:lnTo>
                    <a:pt x="7" y="63"/>
                  </a:lnTo>
                  <a:lnTo>
                    <a:pt x="5" y="53"/>
                  </a:lnTo>
                  <a:lnTo>
                    <a:pt x="7" y="43"/>
                  </a:lnTo>
                  <a:lnTo>
                    <a:pt x="9" y="35"/>
                  </a:lnTo>
                  <a:lnTo>
                    <a:pt x="14" y="27"/>
                  </a:lnTo>
                  <a:lnTo>
                    <a:pt x="19" y="18"/>
                  </a:lnTo>
                  <a:lnTo>
                    <a:pt x="27" y="13"/>
                  </a:lnTo>
                  <a:lnTo>
                    <a:pt x="35" y="8"/>
                  </a:lnTo>
                  <a:lnTo>
                    <a:pt x="43" y="7"/>
                  </a:lnTo>
                  <a:lnTo>
                    <a:pt x="53" y="5"/>
                  </a:lnTo>
                  <a:lnTo>
                    <a:pt x="63" y="7"/>
                  </a:lnTo>
                  <a:lnTo>
                    <a:pt x="72" y="8"/>
                  </a:lnTo>
                  <a:lnTo>
                    <a:pt x="80" y="13"/>
                  </a:lnTo>
                  <a:lnTo>
                    <a:pt x="87" y="18"/>
                  </a:lnTo>
                  <a:lnTo>
                    <a:pt x="93" y="27"/>
                  </a:lnTo>
                  <a:lnTo>
                    <a:pt x="96" y="35"/>
                  </a:lnTo>
                  <a:lnTo>
                    <a:pt x="100" y="43"/>
                  </a:lnTo>
                  <a:lnTo>
                    <a:pt x="101" y="53"/>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20" name="Freeform 261">
              <a:extLst>
                <a:ext uri="{FF2B5EF4-FFF2-40B4-BE49-F238E27FC236}">
                  <a16:creationId xmlns:a16="http://schemas.microsoft.com/office/drawing/2014/main" id="{4E7D51D1-BBE4-037A-603C-DA1A6CE66D05}"/>
                </a:ext>
              </a:extLst>
            </p:cNvPr>
            <p:cNvSpPr>
              <a:spLocks noEditPoints="1"/>
            </p:cNvSpPr>
            <p:nvPr/>
          </p:nvSpPr>
          <p:spPr bwMode="auto">
            <a:xfrm>
              <a:off x="1785" y="1564"/>
              <a:ext cx="101" cy="99"/>
            </a:xfrm>
            <a:custGeom>
              <a:avLst/>
              <a:gdLst>
                <a:gd name="T0" fmla="*/ 101 w 101"/>
                <a:gd name="T1" fmla="*/ 39 h 99"/>
                <a:gd name="T2" fmla="*/ 93 w 101"/>
                <a:gd name="T3" fmla="*/ 21 h 99"/>
                <a:gd name="T4" fmla="*/ 80 w 101"/>
                <a:gd name="T5" fmla="*/ 8 h 99"/>
                <a:gd name="T6" fmla="*/ 61 w 101"/>
                <a:gd name="T7" fmla="*/ 0 h 99"/>
                <a:gd name="T8" fmla="*/ 41 w 101"/>
                <a:gd name="T9" fmla="*/ 0 h 99"/>
                <a:gd name="T10" fmla="*/ 23 w 101"/>
                <a:gd name="T11" fmla="*/ 8 h 99"/>
                <a:gd name="T12" fmla="*/ 10 w 101"/>
                <a:gd name="T13" fmla="*/ 21 h 99"/>
                <a:gd name="T14" fmla="*/ 2 w 101"/>
                <a:gd name="T15" fmla="*/ 39 h 99"/>
                <a:gd name="T16" fmla="*/ 2 w 101"/>
                <a:gd name="T17" fmla="*/ 59 h 99"/>
                <a:gd name="T18" fmla="*/ 10 w 101"/>
                <a:gd name="T19" fmla="*/ 77 h 99"/>
                <a:gd name="T20" fmla="*/ 23 w 101"/>
                <a:gd name="T21" fmla="*/ 91 h 99"/>
                <a:gd name="T22" fmla="*/ 41 w 101"/>
                <a:gd name="T23" fmla="*/ 99 h 99"/>
                <a:gd name="T24" fmla="*/ 61 w 101"/>
                <a:gd name="T25" fmla="*/ 99 h 99"/>
                <a:gd name="T26" fmla="*/ 80 w 101"/>
                <a:gd name="T27" fmla="*/ 91 h 99"/>
                <a:gd name="T28" fmla="*/ 93 w 101"/>
                <a:gd name="T29" fmla="*/ 77 h 99"/>
                <a:gd name="T30" fmla="*/ 101 w 101"/>
                <a:gd name="T31" fmla="*/ 59 h 99"/>
                <a:gd name="T32" fmla="*/ 96 w 101"/>
                <a:gd name="T33" fmla="*/ 49 h 99"/>
                <a:gd name="T34" fmla="*/ 93 w 101"/>
                <a:gd name="T35" fmla="*/ 67 h 99"/>
                <a:gd name="T36" fmla="*/ 83 w 101"/>
                <a:gd name="T37" fmla="*/ 81 h 99"/>
                <a:gd name="T38" fmla="*/ 70 w 101"/>
                <a:gd name="T39" fmla="*/ 91 h 99"/>
                <a:gd name="T40" fmla="*/ 51 w 101"/>
                <a:gd name="T41" fmla="*/ 94 h 99"/>
                <a:gd name="T42" fmla="*/ 33 w 101"/>
                <a:gd name="T43" fmla="*/ 91 h 99"/>
                <a:gd name="T44" fmla="*/ 18 w 101"/>
                <a:gd name="T45" fmla="*/ 81 h 99"/>
                <a:gd name="T46" fmla="*/ 10 w 101"/>
                <a:gd name="T47" fmla="*/ 67 h 99"/>
                <a:gd name="T48" fmla="*/ 5 w 101"/>
                <a:gd name="T49" fmla="*/ 49 h 99"/>
                <a:gd name="T50" fmla="*/ 10 w 101"/>
                <a:gd name="T51" fmla="*/ 31 h 99"/>
                <a:gd name="T52" fmla="*/ 18 w 101"/>
                <a:gd name="T53" fmla="*/ 16 h 99"/>
                <a:gd name="T54" fmla="*/ 33 w 101"/>
                <a:gd name="T55" fmla="*/ 8 h 99"/>
                <a:gd name="T56" fmla="*/ 51 w 101"/>
                <a:gd name="T57" fmla="*/ 3 h 99"/>
                <a:gd name="T58" fmla="*/ 70 w 101"/>
                <a:gd name="T59" fmla="*/ 8 h 99"/>
                <a:gd name="T60" fmla="*/ 83 w 101"/>
                <a:gd name="T61" fmla="*/ 16 h 99"/>
                <a:gd name="T62" fmla="*/ 93 w 101"/>
                <a:gd name="T63" fmla="*/ 31 h 99"/>
                <a:gd name="T64" fmla="*/ 96 w 101"/>
                <a:gd name="T65" fmla="*/ 4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01" h="99">
                  <a:moveTo>
                    <a:pt x="101" y="49"/>
                  </a:moveTo>
                  <a:lnTo>
                    <a:pt x="101" y="39"/>
                  </a:lnTo>
                  <a:lnTo>
                    <a:pt x="98" y="29"/>
                  </a:lnTo>
                  <a:lnTo>
                    <a:pt x="93" y="21"/>
                  </a:lnTo>
                  <a:lnTo>
                    <a:pt x="86" y="13"/>
                  </a:lnTo>
                  <a:lnTo>
                    <a:pt x="80" y="8"/>
                  </a:lnTo>
                  <a:lnTo>
                    <a:pt x="71" y="3"/>
                  </a:lnTo>
                  <a:lnTo>
                    <a:pt x="61" y="0"/>
                  </a:lnTo>
                  <a:lnTo>
                    <a:pt x="51" y="0"/>
                  </a:lnTo>
                  <a:lnTo>
                    <a:pt x="41" y="0"/>
                  </a:lnTo>
                  <a:lnTo>
                    <a:pt x="32" y="3"/>
                  </a:lnTo>
                  <a:lnTo>
                    <a:pt x="23" y="8"/>
                  </a:lnTo>
                  <a:lnTo>
                    <a:pt x="15" y="13"/>
                  </a:lnTo>
                  <a:lnTo>
                    <a:pt x="10" y="21"/>
                  </a:lnTo>
                  <a:lnTo>
                    <a:pt x="5" y="29"/>
                  </a:lnTo>
                  <a:lnTo>
                    <a:pt x="2" y="39"/>
                  </a:lnTo>
                  <a:lnTo>
                    <a:pt x="0" y="49"/>
                  </a:lnTo>
                  <a:lnTo>
                    <a:pt x="2" y="59"/>
                  </a:lnTo>
                  <a:lnTo>
                    <a:pt x="5" y="69"/>
                  </a:lnTo>
                  <a:lnTo>
                    <a:pt x="10" y="77"/>
                  </a:lnTo>
                  <a:lnTo>
                    <a:pt x="15" y="84"/>
                  </a:lnTo>
                  <a:lnTo>
                    <a:pt x="23" y="91"/>
                  </a:lnTo>
                  <a:lnTo>
                    <a:pt x="32" y="96"/>
                  </a:lnTo>
                  <a:lnTo>
                    <a:pt x="41" y="99"/>
                  </a:lnTo>
                  <a:lnTo>
                    <a:pt x="51" y="99"/>
                  </a:lnTo>
                  <a:lnTo>
                    <a:pt x="61" y="99"/>
                  </a:lnTo>
                  <a:lnTo>
                    <a:pt x="71" y="96"/>
                  </a:lnTo>
                  <a:lnTo>
                    <a:pt x="80" y="91"/>
                  </a:lnTo>
                  <a:lnTo>
                    <a:pt x="86" y="84"/>
                  </a:lnTo>
                  <a:lnTo>
                    <a:pt x="93" y="77"/>
                  </a:lnTo>
                  <a:lnTo>
                    <a:pt x="98" y="69"/>
                  </a:lnTo>
                  <a:lnTo>
                    <a:pt x="101" y="59"/>
                  </a:lnTo>
                  <a:lnTo>
                    <a:pt x="101" y="49"/>
                  </a:lnTo>
                  <a:close/>
                  <a:moveTo>
                    <a:pt x="96" y="49"/>
                  </a:moveTo>
                  <a:lnTo>
                    <a:pt x="96" y="57"/>
                  </a:lnTo>
                  <a:lnTo>
                    <a:pt x="93" y="67"/>
                  </a:lnTo>
                  <a:lnTo>
                    <a:pt x="89" y="74"/>
                  </a:lnTo>
                  <a:lnTo>
                    <a:pt x="83" y="81"/>
                  </a:lnTo>
                  <a:lnTo>
                    <a:pt x="76" y="87"/>
                  </a:lnTo>
                  <a:lnTo>
                    <a:pt x="70" y="91"/>
                  </a:lnTo>
                  <a:lnTo>
                    <a:pt x="60" y="94"/>
                  </a:lnTo>
                  <a:lnTo>
                    <a:pt x="51" y="94"/>
                  </a:lnTo>
                  <a:lnTo>
                    <a:pt x="41" y="94"/>
                  </a:lnTo>
                  <a:lnTo>
                    <a:pt x="33" y="91"/>
                  </a:lnTo>
                  <a:lnTo>
                    <a:pt x="25" y="87"/>
                  </a:lnTo>
                  <a:lnTo>
                    <a:pt x="18" y="81"/>
                  </a:lnTo>
                  <a:lnTo>
                    <a:pt x="13" y="74"/>
                  </a:lnTo>
                  <a:lnTo>
                    <a:pt x="10" y="67"/>
                  </a:lnTo>
                  <a:lnTo>
                    <a:pt x="7" y="57"/>
                  </a:lnTo>
                  <a:lnTo>
                    <a:pt x="5" y="49"/>
                  </a:lnTo>
                  <a:lnTo>
                    <a:pt x="7" y="39"/>
                  </a:lnTo>
                  <a:lnTo>
                    <a:pt x="10" y="31"/>
                  </a:lnTo>
                  <a:lnTo>
                    <a:pt x="13" y="24"/>
                  </a:lnTo>
                  <a:lnTo>
                    <a:pt x="18" y="16"/>
                  </a:lnTo>
                  <a:lnTo>
                    <a:pt x="25" y="11"/>
                  </a:lnTo>
                  <a:lnTo>
                    <a:pt x="33" y="8"/>
                  </a:lnTo>
                  <a:lnTo>
                    <a:pt x="41" y="4"/>
                  </a:lnTo>
                  <a:lnTo>
                    <a:pt x="51" y="3"/>
                  </a:lnTo>
                  <a:lnTo>
                    <a:pt x="60" y="4"/>
                  </a:lnTo>
                  <a:lnTo>
                    <a:pt x="70" y="8"/>
                  </a:lnTo>
                  <a:lnTo>
                    <a:pt x="76" y="11"/>
                  </a:lnTo>
                  <a:lnTo>
                    <a:pt x="83" y="16"/>
                  </a:lnTo>
                  <a:lnTo>
                    <a:pt x="89" y="24"/>
                  </a:lnTo>
                  <a:lnTo>
                    <a:pt x="93" y="31"/>
                  </a:lnTo>
                  <a:lnTo>
                    <a:pt x="96" y="39"/>
                  </a:lnTo>
                  <a:lnTo>
                    <a:pt x="96" y="49"/>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21" name="Freeform 262">
              <a:extLst>
                <a:ext uri="{FF2B5EF4-FFF2-40B4-BE49-F238E27FC236}">
                  <a16:creationId xmlns:a16="http://schemas.microsoft.com/office/drawing/2014/main" id="{D37F25ED-1B4F-C14B-C05E-9BF8C8B89B71}"/>
                </a:ext>
              </a:extLst>
            </p:cNvPr>
            <p:cNvSpPr>
              <a:spLocks noEditPoints="1"/>
            </p:cNvSpPr>
            <p:nvPr/>
          </p:nvSpPr>
          <p:spPr bwMode="auto">
            <a:xfrm>
              <a:off x="1788" y="1565"/>
              <a:ext cx="96" cy="96"/>
            </a:xfrm>
            <a:custGeom>
              <a:avLst/>
              <a:gdLst>
                <a:gd name="T0" fmla="*/ 95 w 96"/>
                <a:gd name="T1" fmla="*/ 38 h 96"/>
                <a:gd name="T2" fmla="*/ 88 w 96"/>
                <a:gd name="T3" fmla="*/ 22 h 96"/>
                <a:gd name="T4" fmla="*/ 75 w 96"/>
                <a:gd name="T5" fmla="*/ 8 h 96"/>
                <a:gd name="T6" fmla="*/ 58 w 96"/>
                <a:gd name="T7" fmla="*/ 2 h 96"/>
                <a:gd name="T8" fmla="*/ 38 w 96"/>
                <a:gd name="T9" fmla="*/ 2 h 96"/>
                <a:gd name="T10" fmla="*/ 22 w 96"/>
                <a:gd name="T11" fmla="*/ 8 h 96"/>
                <a:gd name="T12" fmla="*/ 9 w 96"/>
                <a:gd name="T13" fmla="*/ 22 h 96"/>
                <a:gd name="T14" fmla="*/ 2 w 96"/>
                <a:gd name="T15" fmla="*/ 38 h 96"/>
                <a:gd name="T16" fmla="*/ 2 w 96"/>
                <a:gd name="T17" fmla="*/ 58 h 96"/>
                <a:gd name="T18" fmla="*/ 9 w 96"/>
                <a:gd name="T19" fmla="*/ 75 h 96"/>
                <a:gd name="T20" fmla="*/ 22 w 96"/>
                <a:gd name="T21" fmla="*/ 88 h 96"/>
                <a:gd name="T22" fmla="*/ 38 w 96"/>
                <a:gd name="T23" fmla="*/ 95 h 96"/>
                <a:gd name="T24" fmla="*/ 58 w 96"/>
                <a:gd name="T25" fmla="*/ 95 h 96"/>
                <a:gd name="T26" fmla="*/ 75 w 96"/>
                <a:gd name="T27" fmla="*/ 88 h 96"/>
                <a:gd name="T28" fmla="*/ 88 w 96"/>
                <a:gd name="T29" fmla="*/ 75 h 96"/>
                <a:gd name="T30" fmla="*/ 95 w 96"/>
                <a:gd name="T31" fmla="*/ 58 h 96"/>
                <a:gd name="T32" fmla="*/ 91 w 96"/>
                <a:gd name="T33" fmla="*/ 48 h 96"/>
                <a:gd name="T34" fmla="*/ 88 w 96"/>
                <a:gd name="T35" fmla="*/ 65 h 96"/>
                <a:gd name="T36" fmla="*/ 78 w 96"/>
                <a:gd name="T37" fmla="*/ 78 h 96"/>
                <a:gd name="T38" fmla="*/ 65 w 96"/>
                <a:gd name="T39" fmla="*/ 88 h 96"/>
                <a:gd name="T40" fmla="*/ 48 w 96"/>
                <a:gd name="T41" fmla="*/ 91 h 96"/>
                <a:gd name="T42" fmla="*/ 32 w 96"/>
                <a:gd name="T43" fmla="*/ 88 h 96"/>
                <a:gd name="T44" fmla="*/ 17 w 96"/>
                <a:gd name="T45" fmla="*/ 78 h 96"/>
                <a:gd name="T46" fmla="*/ 9 w 96"/>
                <a:gd name="T47" fmla="*/ 65 h 96"/>
                <a:gd name="T48" fmla="*/ 5 w 96"/>
                <a:gd name="T49" fmla="*/ 48 h 96"/>
                <a:gd name="T50" fmla="*/ 9 w 96"/>
                <a:gd name="T51" fmla="*/ 32 h 96"/>
                <a:gd name="T52" fmla="*/ 17 w 96"/>
                <a:gd name="T53" fmla="*/ 17 h 96"/>
                <a:gd name="T54" fmla="*/ 32 w 96"/>
                <a:gd name="T55" fmla="*/ 8 h 96"/>
                <a:gd name="T56" fmla="*/ 48 w 96"/>
                <a:gd name="T57" fmla="*/ 5 h 96"/>
                <a:gd name="T58" fmla="*/ 65 w 96"/>
                <a:gd name="T59" fmla="*/ 8 h 96"/>
                <a:gd name="T60" fmla="*/ 78 w 96"/>
                <a:gd name="T61" fmla="*/ 17 h 96"/>
                <a:gd name="T62" fmla="*/ 88 w 96"/>
                <a:gd name="T63" fmla="*/ 32 h 96"/>
                <a:gd name="T64" fmla="*/ 91 w 96"/>
                <a:gd name="T65" fmla="*/ 48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96" h="96">
                  <a:moveTo>
                    <a:pt x="96" y="48"/>
                  </a:moveTo>
                  <a:lnTo>
                    <a:pt x="95" y="38"/>
                  </a:lnTo>
                  <a:lnTo>
                    <a:pt x="91" y="30"/>
                  </a:lnTo>
                  <a:lnTo>
                    <a:pt x="88" y="22"/>
                  </a:lnTo>
                  <a:lnTo>
                    <a:pt x="82" y="13"/>
                  </a:lnTo>
                  <a:lnTo>
                    <a:pt x="75" y="8"/>
                  </a:lnTo>
                  <a:lnTo>
                    <a:pt x="67" y="3"/>
                  </a:lnTo>
                  <a:lnTo>
                    <a:pt x="58" y="2"/>
                  </a:lnTo>
                  <a:lnTo>
                    <a:pt x="48" y="0"/>
                  </a:lnTo>
                  <a:lnTo>
                    <a:pt x="38" y="2"/>
                  </a:lnTo>
                  <a:lnTo>
                    <a:pt x="30" y="3"/>
                  </a:lnTo>
                  <a:lnTo>
                    <a:pt x="22" y="8"/>
                  </a:lnTo>
                  <a:lnTo>
                    <a:pt x="14" y="13"/>
                  </a:lnTo>
                  <a:lnTo>
                    <a:pt x="9" y="22"/>
                  </a:lnTo>
                  <a:lnTo>
                    <a:pt x="4" y="30"/>
                  </a:lnTo>
                  <a:lnTo>
                    <a:pt x="2" y="38"/>
                  </a:lnTo>
                  <a:lnTo>
                    <a:pt x="0" y="48"/>
                  </a:lnTo>
                  <a:lnTo>
                    <a:pt x="2" y="58"/>
                  </a:lnTo>
                  <a:lnTo>
                    <a:pt x="4" y="66"/>
                  </a:lnTo>
                  <a:lnTo>
                    <a:pt x="9" y="75"/>
                  </a:lnTo>
                  <a:lnTo>
                    <a:pt x="14" y="81"/>
                  </a:lnTo>
                  <a:lnTo>
                    <a:pt x="22" y="88"/>
                  </a:lnTo>
                  <a:lnTo>
                    <a:pt x="30" y="93"/>
                  </a:lnTo>
                  <a:lnTo>
                    <a:pt x="38" y="95"/>
                  </a:lnTo>
                  <a:lnTo>
                    <a:pt x="48" y="96"/>
                  </a:lnTo>
                  <a:lnTo>
                    <a:pt x="58" y="95"/>
                  </a:lnTo>
                  <a:lnTo>
                    <a:pt x="67" y="93"/>
                  </a:lnTo>
                  <a:lnTo>
                    <a:pt x="75" y="88"/>
                  </a:lnTo>
                  <a:lnTo>
                    <a:pt x="82" y="81"/>
                  </a:lnTo>
                  <a:lnTo>
                    <a:pt x="88" y="75"/>
                  </a:lnTo>
                  <a:lnTo>
                    <a:pt x="91" y="66"/>
                  </a:lnTo>
                  <a:lnTo>
                    <a:pt x="95" y="58"/>
                  </a:lnTo>
                  <a:lnTo>
                    <a:pt x="96" y="48"/>
                  </a:lnTo>
                  <a:close/>
                  <a:moveTo>
                    <a:pt x="91" y="48"/>
                  </a:moveTo>
                  <a:lnTo>
                    <a:pt x="90" y="56"/>
                  </a:lnTo>
                  <a:lnTo>
                    <a:pt x="88" y="65"/>
                  </a:lnTo>
                  <a:lnTo>
                    <a:pt x="83" y="71"/>
                  </a:lnTo>
                  <a:lnTo>
                    <a:pt x="78" y="78"/>
                  </a:lnTo>
                  <a:lnTo>
                    <a:pt x="72" y="83"/>
                  </a:lnTo>
                  <a:lnTo>
                    <a:pt x="65" y="88"/>
                  </a:lnTo>
                  <a:lnTo>
                    <a:pt x="57" y="90"/>
                  </a:lnTo>
                  <a:lnTo>
                    <a:pt x="48" y="91"/>
                  </a:lnTo>
                  <a:lnTo>
                    <a:pt x="40" y="90"/>
                  </a:lnTo>
                  <a:lnTo>
                    <a:pt x="32" y="88"/>
                  </a:lnTo>
                  <a:lnTo>
                    <a:pt x="24" y="83"/>
                  </a:lnTo>
                  <a:lnTo>
                    <a:pt x="17" y="78"/>
                  </a:lnTo>
                  <a:lnTo>
                    <a:pt x="12" y="71"/>
                  </a:lnTo>
                  <a:lnTo>
                    <a:pt x="9" y="65"/>
                  </a:lnTo>
                  <a:lnTo>
                    <a:pt x="5" y="56"/>
                  </a:lnTo>
                  <a:lnTo>
                    <a:pt x="5" y="48"/>
                  </a:lnTo>
                  <a:lnTo>
                    <a:pt x="5" y="40"/>
                  </a:lnTo>
                  <a:lnTo>
                    <a:pt x="9" y="32"/>
                  </a:lnTo>
                  <a:lnTo>
                    <a:pt x="12" y="23"/>
                  </a:lnTo>
                  <a:lnTo>
                    <a:pt x="17" y="17"/>
                  </a:lnTo>
                  <a:lnTo>
                    <a:pt x="24" y="12"/>
                  </a:lnTo>
                  <a:lnTo>
                    <a:pt x="32" y="8"/>
                  </a:lnTo>
                  <a:lnTo>
                    <a:pt x="40" y="5"/>
                  </a:lnTo>
                  <a:lnTo>
                    <a:pt x="48" y="5"/>
                  </a:lnTo>
                  <a:lnTo>
                    <a:pt x="57" y="5"/>
                  </a:lnTo>
                  <a:lnTo>
                    <a:pt x="65" y="8"/>
                  </a:lnTo>
                  <a:lnTo>
                    <a:pt x="72" y="12"/>
                  </a:lnTo>
                  <a:lnTo>
                    <a:pt x="78" y="17"/>
                  </a:lnTo>
                  <a:lnTo>
                    <a:pt x="83" y="23"/>
                  </a:lnTo>
                  <a:lnTo>
                    <a:pt x="88" y="32"/>
                  </a:lnTo>
                  <a:lnTo>
                    <a:pt x="90" y="40"/>
                  </a:lnTo>
                  <a:lnTo>
                    <a:pt x="91" y="48"/>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22" name="Freeform 263">
              <a:extLst>
                <a:ext uri="{FF2B5EF4-FFF2-40B4-BE49-F238E27FC236}">
                  <a16:creationId xmlns:a16="http://schemas.microsoft.com/office/drawing/2014/main" id="{A660C0B6-1EC6-BE7F-10A5-39B26C3DD4D7}"/>
                </a:ext>
              </a:extLst>
            </p:cNvPr>
            <p:cNvSpPr>
              <a:spLocks noEditPoints="1"/>
            </p:cNvSpPr>
            <p:nvPr/>
          </p:nvSpPr>
          <p:spPr bwMode="auto">
            <a:xfrm>
              <a:off x="1790" y="1567"/>
              <a:ext cx="91" cy="91"/>
            </a:xfrm>
            <a:custGeom>
              <a:avLst/>
              <a:gdLst>
                <a:gd name="T0" fmla="*/ 91 w 91"/>
                <a:gd name="T1" fmla="*/ 36 h 91"/>
                <a:gd name="T2" fmla="*/ 84 w 91"/>
                <a:gd name="T3" fmla="*/ 21 h 91"/>
                <a:gd name="T4" fmla="*/ 71 w 91"/>
                <a:gd name="T5" fmla="*/ 8 h 91"/>
                <a:gd name="T6" fmla="*/ 55 w 91"/>
                <a:gd name="T7" fmla="*/ 1 h 91"/>
                <a:gd name="T8" fmla="*/ 36 w 91"/>
                <a:gd name="T9" fmla="*/ 1 h 91"/>
                <a:gd name="T10" fmla="*/ 20 w 91"/>
                <a:gd name="T11" fmla="*/ 8 h 91"/>
                <a:gd name="T12" fmla="*/ 8 w 91"/>
                <a:gd name="T13" fmla="*/ 21 h 91"/>
                <a:gd name="T14" fmla="*/ 2 w 91"/>
                <a:gd name="T15" fmla="*/ 36 h 91"/>
                <a:gd name="T16" fmla="*/ 2 w 91"/>
                <a:gd name="T17" fmla="*/ 54 h 91"/>
                <a:gd name="T18" fmla="*/ 8 w 91"/>
                <a:gd name="T19" fmla="*/ 71 h 91"/>
                <a:gd name="T20" fmla="*/ 20 w 91"/>
                <a:gd name="T21" fmla="*/ 84 h 91"/>
                <a:gd name="T22" fmla="*/ 36 w 91"/>
                <a:gd name="T23" fmla="*/ 91 h 91"/>
                <a:gd name="T24" fmla="*/ 55 w 91"/>
                <a:gd name="T25" fmla="*/ 91 h 91"/>
                <a:gd name="T26" fmla="*/ 71 w 91"/>
                <a:gd name="T27" fmla="*/ 84 h 91"/>
                <a:gd name="T28" fmla="*/ 84 w 91"/>
                <a:gd name="T29" fmla="*/ 71 h 91"/>
                <a:gd name="T30" fmla="*/ 91 w 91"/>
                <a:gd name="T31" fmla="*/ 54 h 91"/>
                <a:gd name="T32" fmla="*/ 86 w 91"/>
                <a:gd name="T33" fmla="*/ 46 h 91"/>
                <a:gd name="T34" fmla="*/ 83 w 91"/>
                <a:gd name="T35" fmla="*/ 61 h 91"/>
                <a:gd name="T36" fmla="*/ 75 w 91"/>
                <a:gd name="T37" fmla="*/ 74 h 91"/>
                <a:gd name="T38" fmla="*/ 61 w 91"/>
                <a:gd name="T39" fmla="*/ 84 h 91"/>
                <a:gd name="T40" fmla="*/ 46 w 91"/>
                <a:gd name="T41" fmla="*/ 86 h 91"/>
                <a:gd name="T42" fmla="*/ 30 w 91"/>
                <a:gd name="T43" fmla="*/ 84 h 91"/>
                <a:gd name="T44" fmla="*/ 17 w 91"/>
                <a:gd name="T45" fmla="*/ 74 h 91"/>
                <a:gd name="T46" fmla="*/ 8 w 91"/>
                <a:gd name="T47" fmla="*/ 61 h 91"/>
                <a:gd name="T48" fmla="*/ 5 w 91"/>
                <a:gd name="T49" fmla="*/ 46 h 91"/>
                <a:gd name="T50" fmla="*/ 8 w 91"/>
                <a:gd name="T51" fmla="*/ 30 h 91"/>
                <a:gd name="T52" fmla="*/ 17 w 91"/>
                <a:gd name="T53" fmla="*/ 18 h 91"/>
                <a:gd name="T54" fmla="*/ 30 w 91"/>
                <a:gd name="T55" fmla="*/ 8 h 91"/>
                <a:gd name="T56" fmla="*/ 46 w 91"/>
                <a:gd name="T57" fmla="*/ 5 h 91"/>
                <a:gd name="T58" fmla="*/ 61 w 91"/>
                <a:gd name="T59" fmla="*/ 8 h 91"/>
                <a:gd name="T60" fmla="*/ 75 w 91"/>
                <a:gd name="T61" fmla="*/ 18 h 91"/>
                <a:gd name="T62" fmla="*/ 83 w 91"/>
                <a:gd name="T63" fmla="*/ 30 h 91"/>
                <a:gd name="T64" fmla="*/ 86 w 91"/>
                <a:gd name="T65" fmla="*/ 46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91" h="91">
                  <a:moveTo>
                    <a:pt x="91" y="46"/>
                  </a:moveTo>
                  <a:lnTo>
                    <a:pt x="91" y="36"/>
                  </a:lnTo>
                  <a:lnTo>
                    <a:pt x="88" y="28"/>
                  </a:lnTo>
                  <a:lnTo>
                    <a:pt x="84" y="21"/>
                  </a:lnTo>
                  <a:lnTo>
                    <a:pt x="78" y="13"/>
                  </a:lnTo>
                  <a:lnTo>
                    <a:pt x="71" y="8"/>
                  </a:lnTo>
                  <a:lnTo>
                    <a:pt x="65" y="5"/>
                  </a:lnTo>
                  <a:lnTo>
                    <a:pt x="55" y="1"/>
                  </a:lnTo>
                  <a:lnTo>
                    <a:pt x="46" y="0"/>
                  </a:lnTo>
                  <a:lnTo>
                    <a:pt x="36" y="1"/>
                  </a:lnTo>
                  <a:lnTo>
                    <a:pt x="28" y="5"/>
                  </a:lnTo>
                  <a:lnTo>
                    <a:pt x="20" y="8"/>
                  </a:lnTo>
                  <a:lnTo>
                    <a:pt x="13" y="13"/>
                  </a:lnTo>
                  <a:lnTo>
                    <a:pt x="8" y="21"/>
                  </a:lnTo>
                  <a:lnTo>
                    <a:pt x="5" y="28"/>
                  </a:lnTo>
                  <a:lnTo>
                    <a:pt x="2" y="36"/>
                  </a:lnTo>
                  <a:lnTo>
                    <a:pt x="0" y="46"/>
                  </a:lnTo>
                  <a:lnTo>
                    <a:pt x="2" y="54"/>
                  </a:lnTo>
                  <a:lnTo>
                    <a:pt x="5" y="64"/>
                  </a:lnTo>
                  <a:lnTo>
                    <a:pt x="8" y="71"/>
                  </a:lnTo>
                  <a:lnTo>
                    <a:pt x="13" y="78"/>
                  </a:lnTo>
                  <a:lnTo>
                    <a:pt x="20" y="84"/>
                  </a:lnTo>
                  <a:lnTo>
                    <a:pt x="28" y="88"/>
                  </a:lnTo>
                  <a:lnTo>
                    <a:pt x="36" y="91"/>
                  </a:lnTo>
                  <a:lnTo>
                    <a:pt x="46" y="91"/>
                  </a:lnTo>
                  <a:lnTo>
                    <a:pt x="55" y="91"/>
                  </a:lnTo>
                  <a:lnTo>
                    <a:pt x="65" y="88"/>
                  </a:lnTo>
                  <a:lnTo>
                    <a:pt x="71" y="84"/>
                  </a:lnTo>
                  <a:lnTo>
                    <a:pt x="78" y="78"/>
                  </a:lnTo>
                  <a:lnTo>
                    <a:pt x="84" y="71"/>
                  </a:lnTo>
                  <a:lnTo>
                    <a:pt x="88" y="64"/>
                  </a:lnTo>
                  <a:lnTo>
                    <a:pt x="91" y="54"/>
                  </a:lnTo>
                  <a:lnTo>
                    <a:pt x="91" y="46"/>
                  </a:lnTo>
                  <a:close/>
                  <a:moveTo>
                    <a:pt x="86" y="46"/>
                  </a:moveTo>
                  <a:lnTo>
                    <a:pt x="86" y="54"/>
                  </a:lnTo>
                  <a:lnTo>
                    <a:pt x="83" y="61"/>
                  </a:lnTo>
                  <a:lnTo>
                    <a:pt x="80" y="69"/>
                  </a:lnTo>
                  <a:lnTo>
                    <a:pt x="75" y="74"/>
                  </a:lnTo>
                  <a:lnTo>
                    <a:pt x="70" y="79"/>
                  </a:lnTo>
                  <a:lnTo>
                    <a:pt x="61" y="84"/>
                  </a:lnTo>
                  <a:lnTo>
                    <a:pt x="55" y="86"/>
                  </a:lnTo>
                  <a:lnTo>
                    <a:pt x="46" y="86"/>
                  </a:lnTo>
                  <a:lnTo>
                    <a:pt x="38" y="86"/>
                  </a:lnTo>
                  <a:lnTo>
                    <a:pt x="30" y="84"/>
                  </a:lnTo>
                  <a:lnTo>
                    <a:pt x="23" y="79"/>
                  </a:lnTo>
                  <a:lnTo>
                    <a:pt x="17" y="74"/>
                  </a:lnTo>
                  <a:lnTo>
                    <a:pt x="12" y="69"/>
                  </a:lnTo>
                  <a:lnTo>
                    <a:pt x="8" y="61"/>
                  </a:lnTo>
                  <a:lnTo>
                    <a:pt x="7" y="54"/>
                  </a:lnTo>
                  <a:lnTo>
                    <a:pt x="5" y="46"/>
                  </a:lnTo>
                  <a:lnTo>
                    <a:pt x="7" y="38"/>
                  </a:lnTo>
                  <a:lnTo>
                    <a:pt x="8" y="30"/>
                  </a:lnTo>
                  <a:lnTo>
                    <a:pt x="12" y="23"/>
                  </a:lnTo>
                  <a:lnTo>
                    <a:pt x="17" y="18"/>
                  </a:lnTo>
                  <a:lnTo>
                    <a:pt x="23" y="13"/>
                  </a:lnTo>
                  <a:lnTo>
                    <a:pt x="30" y="8"/>
                  </a:lnTo>
                  <a:lnTo>
                    <a:pt x="38" y="6"/>
                  </a:lnTo>
                  <a:lnTo>
                    <a:pt x="46" y="5"/>
                  </a:lnTo>
                  <a:lnTo>
                    <a:pt x="55" y="6"/>
                  </a:lnTo>
                  <a:lnTo>
                    <a:pt x="61" y="8"/>
                  </a:lnTo>
                  <a:lnTo>
                    <a:pt x="70" y="13"/>
                  </a:lnTo>
                  <a:lnTo>
                    <a:pt x="75" y="18"/>
                  </a:lnTo>
                  <a:lnTo>
                    <a:pt x="80" y="23"/>
                  </a:lnTo>
                  <a:lnTo>
                    <a:pt x="83" y="30"/>
                  </a:lnTo>
                  <a:lnTo>
                    <a:pt x="86" y="38"/>
                  </a:lnTo>
                  <a:lnTo>
                    <a:pt x="86" y="46"/>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23" name="Freeform 264">
              <a:extLst>
                <a:ext uri="{FF2B5EF4-FFF2-40B4-BE49-F238E27FC236}">
                  <a16:creationId xmlns:a16="http://schemas.microsoft.com/office/drawing/2014/main" id="{C28E522A-B9C7-EF25-654D-36E466A39CEA}"/>
                </a:ext>
              </a:extLst>
            </p:cNvPr>
            <p:cNvSpPr>
              <a:spLocks noEditPoints="1"/>
            </p:cNvSpPr>
            <p:nvPr/>
          </p:nvSpPr>
          <p:spPr bwMode="auto">
            <a:xfrm>
              <a:off x="1793" y="1570"/>
              <a:ext cx="86" cy="86"/>
            </a:xfrm>
            <a:custGeom>
              <a:avLst/>
              <a:gdLst>
                <a:gd name="T0" fmla="*/ 85 w 86"/>
                <a:gd name="T1" fmla="*/ 35 h 86"/>
                <a:gd name="T2" fmla="*/ 78 w 86"/>
                <a:gd name="T3" fmla="*/ 18 h 86"/>
                <a:gd name="T4" fmla="*/ 67 w 86"/>
                <a:gd name="T5" fmla="*/ 7 h 86"/>
                <a:gd name="T6" fmla="*/ 52 w 86"/>
                <a:gd name="T7" fmla="*/ 0 h 86"/>
                <a:gd name="T8" fmla="*/ 35 w 86"/>
                <a:gd name="T9" fmla="*/ 0 h 86"/>
                <a:gd name="T10" fmla="*/ 19 w 86"/>
                <a:gd name="T11" fmla="*/ 7 h 86"/>
                <a:gd name="T12" fmla="*/ 7 w 86"/>
                <a:gd name="T13" fmla="*/ 18 h 86"/>
                <a:gd name="T14" fmla="*/ 0 w 86"/>
                <a:gd name="T15" fmla="*/ 35 h 86"/>
                <a:gd name="T16" fmla="*/ 0 w 86"/>
                <a:gd name="T17" fmla="*/ 51 h 86"/>
                <a:gd name="T18" fmla="*/ 7 w 86"/>
                <a:gd name="T19" fmla="*/ 66 h 86"/>
                <a:gd name="T20" fmla="*/ 19 w 86"/>
                <a:gd name="T21" fmla="*/ 78 h 86"/>
                <a:gd name="T22" fmla="*/ 35 w 86"/>
                <a:gd name="T23" fmla="*/ 85 h 86"/>
                <a:gd name="T24" fmla="*/ 52 w 86"/>
                <a:gd name="T25" fmla="*/ 85 h 86"/>
                <a:gd name="T26" fmla="*/ 67 w 86"/>
                <a:gd name="T27" fmla="*/ 78 h 86"/>
                <a:gd name="T28" fmla="*/ 78 w 86"/>
                <a:gd name="T29" fmla="*/ 66 h 86"/>
                <a:gd name="T30" fmla="*/ 85 w 86"/>
                <a:gd name="T31" fmla="*/ 51 h 86"/>
                <a:gd name="T32" fmla="*/ 81 w 86"/>
                <a:gd name="T33" fmla="*/ 43 h 86"/>
                <a:gd name="T34" fmla="*/ 78 w 86"/>
                <a:gd name="T35" fmla="*/ 58 h 86"/>
                <a:gd name="T36" fmla="*/ 70 w 86"/>
                <a:gd name="T37" fmla="*/ 70 h 86"/>
                <a:gd name="T38" fmla="*/ 58 w 86"/>
                <a:gd name="T39" fmla="*/ 78 h 86"/>
                <a:gd name="T40" fmla="*/ 43 w 86"/>
                <a:gd name="T41" fmla="*/ 81 h 86"/>
                <a:gd name="T42" fmla="*/ 29 w 86"/>
                <a:gd name="T43" fmla="*/ 78 h 86"/>
                <a:gd name="T44" fmla="*/ 15 w 86"/>
                <a:gd name="T45" fmla="*/ 70 h 86"/>
                <a:gd name="T46" fmla="*/ 9 w 86"/>
                <a:gd name="T47" fmla="*/ 58 h 86"/>
                <a:gd name="T48" fmla="*/ 5 w 86"/>
                <a:gd name="T49" fmla="*/ 43 h 86"/>
                <a:gd name="T50" fmla="*/ 9 w 86"/>
                <a:gd name="T51" fmla="*/ 28 h 86"/>
                <a:gd name="T52" fmla="*/ 15 w 86"/>
                <a:gd name="T53" fmla="*/ 17 h 86"/>
                <a:gd name="T54" fmla="*/ 29 w 86"/>
                <a:gd name="T55" fmla="*/ 8 h 86"/>
                <a:gd name="T56" fmla="*/ 43 w 86"/>
                <a:gd name="T57" fmla="*/ 5 h 86"/>
                <a:gd name="T58" fmla="*/ 58 w 86"/>
                <a:gd name="T59" fmla="*/ 8 h 86"/>
                <a:gd name="T60" fmla="*/ 70 w 86"/>
                <a:gd name="T61" fmla="*/ 17 h 86"/>
                <a:gd name="T62" fmla="*/ 78 w 86"/>
                <a:gd name="T63" fmla="*/ 28 h 86"/>
                <a:gd name="T64" fmla="*/ 81 w 86"/>
                <a:gd name="T65" fmla="*/ 43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6" h="86">
                  <a:moveTo>
                    <a:pt x="86" y="43"/>
                  </a:moveTo>
                  <a:lnTo>
                    <a:pt x="85" y="35"/>
                  </a:lnTo>
                  <a:lnTo>
                    <a:pt x="83" y="27"/>
                  </a:lnTo>
                  <a:lnTo>
                    <a:pt x="78" y="18"/>
                  </a:lnTo>
                  <a:lnTo>
                    <a:pt x="73" y="12"/>
                  </a:lnTo>
                  <a:lnTo>
                    <a:pt x="67" y="7"/>
                  </a:lnTo>
                  <a:lnTo>
                    <a:pt x="60" y="3"/>
                  </a:lnTo>
                  <a:lnTo>
                    <a:pt x="52" y="0"/>
                  </a:lnTo>
                  <a:lnTo>
                    <a:pt x="43" y="0"/>
                  </a:lnTo>
                  <a:lnTo>
                    <a:pt x="35" y="0"/>
                  </a:lnTo>
                  <a:lnTo>
                    <a:pt x="27" y="3"/>
                  </a:lnTo>
                  <a:lnTo>
                    <a:pt x="19" y="7"/>
                  </a:lnTo>
                  <a:lnTo>
                    <a:pt x="12" y="12"/>
                  </a:lnTo>
                  <a:lnTo>
                    <a:pt x="7" y="18"/>
                  </a:lnTo>
                  <a:lnTo>
                    <a:pt x="4" y="27"/>
                  </a:lnTo>
                  <a:lnTo>
                    <a:pt x="0" y="35"/>
                  </a:lnTo>
                  <a:lnTo>
                    <a:pt x="0" y="43"/>
                  </a:lnTo>
                  <a:lnTo>
                    <a:pt x="0" y="51"/>
                  </a:lnTo>
                  <a:lnTo>
                    <a:pt x="4" y="60"/>
                  </a:lnTo>
                  <a:lnTo>
                    <a:pt x="7" y="66"/>
                  </a:lnTo>
                  <a:lnTo>
                    <a:pt x="12" y="73"/>
                  </a:lnTo>
                  <a:lnTo>
                    <a:pt x="19" y="78"/>
                  </a:lnTo>
                  <a:lnTo>
                    <a:pt x="27" y="83"/>
                  </a:lnTo>
                  <a:lnTo>
                    <a:pt x="35" y="85"/>
                  </a:lnTo>
                  <a:lnTo>
                    <a:pt x="43" y="86"/>
                  </a:lnTo>
                  <a:lnTo>
                    <a:pt x="52" y="85"/>
                  </a:lnTo>
                  <a:lnTo>
                    <a:pt x="60" y="83"/>
                  </a:lnTo>
                  <a:lnTo>
                    <a:pt x="67" y="78"/>
                  </a:lnTo>
                  <a:lnTo>
                    <a:pt x="73" y="73"/>
                  </a:lnTo>
                  <a:lnTo>
                    <a:pt x="78" y="66"/>
                  </a:lnTo>
                  <a:lnTo>
                    <a:pt x="83" y="60"/>
                  </a:lnTo>
                  <a:lnTo>
                    <a:pt x="85" y="51"/>
                  </a:lnTo>
                  <a:lnTo>
                    <a:pt x="86" y="43"/>
                  </a:lnTo>
                  <a:close/>
                  <a:moveTo>
                    <a:pt x="81" y="43"/>
                  </a:moveTo>
                  <a:lnTo>
                    <a:pt x="81" y="51"/>
                  </a:lnTo>
                  <a:lnTo>
                    <a:pt x="78" y="58"/>
                  </a:lnTo>
                  <a:lnTo>
                    <a:pt x="75" y="65"/>
                  </a:lnTo>
                  <a:lnTo>
                    <a:pt x="70" y="70"/>
                  </a:lnTo>
                  <a:lnTo>
                    <a:pt x="65" y="75"/>
                  </a:lnTo>
                  <a:lnTo>
                    <a:pt x="58" y="78"/>
                  </a:lnTo>
                  <a:lnTo>
                    <a:pt x="52" y="81"/>
                  </a:lnTo>
                  <a:lnTo>
                    <a:pt x="43" y="81"/>
                  </a:lnTo>
                  <a:lnTo>
                    <a:pt x="35" y="81"/>
                  </a:lnTo>
                  <a:lnTo>
                    <a:pt x="29" y="78"/>
                  </a:lnTo>
                  <a:lnTo>
                    <a:pt x="22" y="75"/>
                  </a:lnTo>
                  <a:lnTo>
                    <a:pt x="15" y="70"/>
                  </a:lnTo>
                  <a:lnTo>
                    <a:pt x="12" y="65"/>
                  </a:lnTo>
                  <a:lnTo>
                    <a:pt x="9" y="58"/>
                  </a:lnTo>
                  <a:lnTo>
                    <a:pt x="5" y="51"/>
                  </a:lnTo>
                  <a:lnTo>
                    <a:pt x="5" y="43"/>
                  </a:lnTo>
                  <a:lnTo>
                    <a:pt x="5" y="35"/>
                  </a:lnTo>
                  <a:lnTo>
                    <a:pt x="9" y="28"/>
                  </a:lnTo>
                  <a:lnTo>
                    <a:pt x="12" y="22"/>
                  </a:lnTo>
                  <a:lnTo>
                    <a:pt x="15" y="17"/>
                  </a:lnTo>
                  <a:lnTo>
                    <a:pt x="22" y="12"/>
                  </a:lnTo>
                  <a:lnTo>
                    <a:pt x="29" y="8"/>
                  </a:lnTo>
                  <a:lnTo>
                    <a:pt x="35" y="5"/>
                  </a:lnTo>
                  <a:lnTo>
                    <a:pt x="43" y="5"/>
                  </a:lnTo>
                  <a:lnTo>
                    <a:pt x="52" y="5"/>
                  </a:lnTo>
                  <a:lnTo>
                    <a:pt x="58" y="8"/>
                  </a:lnTo>
                  <a:lnTo>
                    <a:pt x="65" y="12"/>
                  </a:lnTo>
                  <a:lnTo>
                    <a:pt x="70" y="17"/>
                  </a:lnTo>
                  <a:lnTo>
                    <a:pt x="75" y="22"/>
                  </a:lnTo>
                  <a:lnTo>
                    <a:pt x="78" y="28"/>
                  </a:lnTo>
                  <a:lnTo>
                    <a:pt x="81" y="35"/>
                  </a:lnTo>
                  <a:lnTo>
                    <a:pt x="81" y="43"/>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24" name="Freeform 265">
              <a:extLst>
                <a:ext uri="{FF2B5EF4-FFF2-40B4-BE49-F238E27FC236}">
                  <a16:creationId xmlns:a16="http://schemas.microsoft.com/office/drawing/2014/main" id="{6DB5C421-1818-B07A-7C82-53EA04FE81D7}"/>
                </a:ext>
              </a:extLst>
            </p:cNvPr>
            <p:cNvSpPr>
              <a:spLocks noEditPoints="1"/>
            </p:cNvSpPr>
            <p:nvPr/>
          </p:nvSpPr>
          <p:spPr bwMode="auto">
            <a:xfrm>
              <a:off x="1795" y="1572"/>
              <a:ext cx="81" cy="81"/>
            </a:xfrm>
            <a:custGeom>
              <a:avLst/>
              <a:gdLst>
                <a:gd name="T0" fmla="*/ 81 w 81"/>
                <a:gd name="T1" fmla="*/ 33 h 81"/>
                <a:gd name="T2" fmla="*/ 75 w 81"/>
                <a:gd name="T3" fmla="*/ 18 h 81"/>
                <a:gd name="T4" fmla="*/ 65 w 81"/>
                <a:gd name="T5" fmla="*/ 8 h 81"/>
                <a:gd name="T6" fmla="*/ 50 w 81"/>
                <a:gd name="T7" fmla="*/ 1 h 81"/>
                <a:gd name="T8" fmla="*/ 33 w 81"/>
                <a:gd name="T9" fmla="*/ 1 h 81"/>
                <a:gd name="T10" fmla="*/ 18 w 81"/>
                <a:gd name="T11" fmla="*/ 8 h 81"/>
                <a:gd name="T12" fmla="*/ 7 w 81"/>
                <a:gd name="T13" fmla="*/ 18 h 81"/>
                <a:gd name="T14" fmla="*/ 2 w 81"/>
                <a:gd name="T15" fmla="*/ 33 h 81"/>
                <a:gd name="T16" fmla="*/ 2 w 81"/>
                <a:gd name="T17" fmla="*/ 49 h 81"/>
                <a:gd name="T18" fmla="*/ 7 w 81"/>
                <a:gd name="T19" fmla="*/ 64 h 81"/>
                <a:gd name="T20" fmla="*/ 18 w 81"/>
                <a:gd name="T21" fmla="*/ 74 h 81"/>
                <a:gd name="T22" fmla="*/ 33 w 81"/>
                <a:gd name="T23" fmla="*/ 81 h 81"/>
                <a:gd name="T24" fmla="*/ 50 w 81"/>
                <a:gd name="T25" fmla="*/ 81 h 81"/>
                <a:gd name="T26" fmla="*/ 65 w 81"/>
                <a:gd name="T27" fmla="*/ 74 h 81"/>
                <a:gd name="T28" fmla="*/ 75 w 81"/>
                <a:gd name="T29" fmla="*/ 64 h 81"/>
                <a:gd name="T30" fmla="*/ 81 w 81"/>
                <a:gd name="T31" fmla="*/ 49 h 81"/>
                <a:gd name="T32" fmla="*/ 78 w 81"/>
                <a:gd name="T33" fmla="*/ 41 h 81"/>
                <a:gd name="T34" fmla="*/ 75 w 81"/>
                <a:gd name="T35" fmla="*/ 54 h 81"/>
                <a:gd name="T36" fmla="*/ 66 w 81"/>
                <a:gd name="T37" fmla="*/ 66 h 81"/>
                <a:gd name="T38" fmla="*/ 55 w 81"/>
                <a:gd name="T39" fmla="*/ 74 h 81"/>
                <a:gd name="T40" fmla="*/ 41 w 81"/>
                <a:gd name="T41" fmla="*/ 78 h 81"/>
                <a:gd name="T42" fmla="*/ 27 w 81"/>
                <a:gd name="T43" fmla="*/ 74 h 81"/>
                <a:gd name="T44" fmla="*/ 17 w 81"/>
                <a:gd name="T45" fmla="*/ 66 h 81"/>
                <a:gd name="T46" fmla="*/ 8 w 81"/>
                <a:gd name="T47" fmla="*/ 54 h 81"/>
                <a:gd name="T48" fmla="*/ 5 w 81"/>
                <a:gd name="T49" fmla="*/ 41 h 81"/>
                <a:gd name="T50" fmla="*/ 8 w 81"/>
                <a:gd name="T51" fmla="*/ 26 h 81"/>
                <a:gd name="T52" fmla="*/ 17 w 81"/>
                <a:gd name="T53" fmla="*/ 16 h 81"/>
                <a:gd name="T54" fmla="*/ 27 w 81"/>
                <a:gd name="T55" fmla="*/ 8 h 81"/>
                <a:gd name="T56" fmla="*/ 41 w 81"/>
                <a:gd name="T57" fmla="*/ 5 h 81"/>
                <a:gd name="T58" fmla="*/ 55 w 81"/>
                <a:gd name="T59" fmla="*/ 8 h 81"/>
                <a:gd name="T60" fmla="*/ 66 w 81"/>
                <a:gd name="T61" fmla="*/ 16 h 81"/>
                <a:gd name="T62" fmla="*/ 75 w 81"/>
                <a:gd name="T63" fmla="*/ 26 h 81"/>
                <a:gd name="T64" fmla="*/ 78 w 81"/>
                <a:gd name="T65" fmla="*/ 41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1" h="81">
                  <a:moveTo>
                    <a:pt x="81" y="41"/>
                  </a:moveTo>
                  <a:lnTo>
                    <a:pt x="81" y="33"/>
                  </a:lnTo>
                  <a:lnTo>
                    <a:pt x="78" y="25"/>
                  </a:lnTo>
                  <a:lnTo>
                    <a:pt x="75" y="18"/>
                  </a:lnTo>
                  <a:lnTo>
                    <a:pt x="70" y="13"/>
                  </a:lnTo>
                  <a:lnTo>
                    <a:pt x="65" y="8"/>
                  </a:lnTo>
                  <a:lnTo>
                    <a:pt x="56" y="3"/>
                  </a:lnTo>
                  <a:lnTo>
                    <a:pt x="50" y="1"/>
                  </a:lnTo>
                  <a:lnTo>
                    <a:pt x="41" y="0"/>
                  </a:lnTo>
                  <a:lnTo>
                    <a:pt x="33" y="1"/>
                  </a:lnTo>
                  <a:lnTo>
                    <a:pt x="25" y="3"/>
                  </a:lnTo>
                  <a:lnTo>
                    <a:pt x="18" y="8"/>
                  </a:lnTo>
                  <a:lnTo>
                    <a:pt x="12" y="13"/>
                  </a:lnTo>
                  <a:lnTo>
                    <a:pt x="7" y="18"/>
                  </a:lnTo>
                  <a:lnTo>
                    <a:pt x="3" y="25"/>
                  </a:lnTo>
                  <a:lnTo>
                    <a:pt x="2" y="33"/>
                  </a:lnTo>
                  <a:lnTo>
                    <a:pt x="0" y="41"/>
                  </a:lnTo>
                  <a:lnTo>
                    <a:pt x="2" y="49"/>
                  </a:lnTo>
                  <a:lnTo>
                    <a:pt x="3" y="56"/>
                  </a:lnTo>
                  <a:lnTo>
                    <a:pt x="7" y="64"/>
                  </a:lnTo>
                  <a:lnTo>
                    <a:pt x="12" y="69"/>
                  </a:lnTo>
                  <a:lnTo>
                    <a:pt x="18" y="74"/>
                  </a:lnTo>
                  <a:lnTo>
                    <a:pt x="25" y="79"/>
                  </a:lnTo>
                  <a:lnTo>
                    <a:pt x="33" y="81"/>
                  </a:lnTo>
                  <a:lnTo>
                    <a:pt x="41" y="81"/>
                  </a:lnTo>
                  <a:lnTo>
                    <a:pt x="50" y="81"/>
                  </a:lnTo>
                  <a:lnTo>
                    <a:pt x="56" y="79"/>
                  </a:lnTo>
                  <a:lnTo>
                    <a:pt x="65" y="74"/>
                  </a:lnTo>
                  <a:lnTo>
                    <a:pt x="70" y="69"/>
                  </a:lnTo>
                  <a:lnTo>
                    <a:pt x="75" y="64"/>
                  </a:lnTo>
                  <a:lnTo>
                    <a:pt x="78" y="56"/>
                  </a:lnTo>
                  <a:lnTo>
                    <a:pt x="81" y="49"/>
                  </a:lnTo>
                  <a:lnTo>
                    <a:pt x="81" y="41"/>
                  </a:lnTo>
                  <a:close/>
                  <a:moveTo>
                    <a:pt x="78" y="41"/>
                  </a:moveTo>
                  <a:lnTo>
                    <a:pt x="76" y="48"/>
                  </a:lnTo>
                  <a:lnTo>
                    <a:pt x="75" y="54"/>
                  </a:lnTo>
                  <a:lnTo>
                    <a:pt x="71" y="61"/>
                  </a:lnTo>
                  <a:lnTo>
                    <a:pt x="66" y="66"/>
                  </a:lnTo>
                  <a:lnTo>
                    <a:pt x="61" y="71"/>
                  </a:lnTo>
                  <a:lnTo>
                    <a:pt x="55" y="74"/>
                  </a:lnTo>
                  <a:lnTo>
                    <a:pt x="48" y="76"/>
                  </a:lnTo>
                  <a:lnTo>
                    <a:pt x="41" y="78"/>
                  </a:lnTo>
                  <a:lnTo>
                    <a:pt x="33" y="76"/>
                  </a:lnTo>
                  <a:lnTo>
                    <a:pt x="27" y="74"/>
                  </a:lnTo>
                  <a:lnTo>
                    <a:pt x="22" y="71"/>
                  </a:lnTo>
                  <a:lnTo>
                    <a:pt x="17" y="66"/>
                  </a:lnTo>
                  <a:lnTo>
                    <a:pt x="12" y="61"/>
                  </a:lnTo>
                  <a:lnTo>
                    <a:pt x="8" y="54"/>
                  </a:lnTo>
                  <a:lnTo>
                    <a:pt x="7" y="48"/>
                  </a:lnTo>
                  <a:lnTo>
                    <a:pt x="5" y="41"/>
                  </a:lnTo>
                  <a:lnTo>
                    <a:pt x="7" y="35"/>
                  </a:lnTo>
                  <a:lnTo>
                    <a:pt x="8" y="26"/>
                  </a:lnTo>
                  <a:lnTo>
                    <a:pt x="12" y="21"/>
                  </a:lnTo>
                  <a:lnTo>
                    <a:pt x="17" y="16"/>
                  </a:lnTo>
                  <a:lnTo>
                    <a:pt x="22" y="11"/>
                  </a:lnTo>
                  <a:lnTo>
                    <a:pt x="27" y="8"/>
                  </a:lnTo>
                  <a:lnTo>
                    <a:pt x="33" y="6"/>
                  </a:lnTo>
                  <a:lnTo>
                    <a:pt x="41" y="5"/>
                  </a:lnTo>
                  <a:lnTo>
                    <a:pt x="48" y="6"/>
                  </a:lnTo>
                  <a:lnTo>
                    <a:pt x="55" y="8"/>
                  </a:lnTo>
                  <a:lnTo>
                    <a:pt x="61" y="11"/>
                  </a:lnTo>
                  <a:lnTo>
                    <a:pt x="66" y="16"/>
                  </a:lnTo>
                  <a:lnTo>
                    <a:pt x="71" y="21"/>
                  </a:lnTo>
                  <a:lnTo>
                    <a:pt x="75" y="26"/>
                  </a:lnTo>
                  <a:lnTo>
                    <a:pt x="76" y="35"/>
                  </a:lnTo>
                  <a:lnTo>
                    <a:pt x="78" y="41"/>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25" name="Freeform 266">
              <a:extLst>
                <a:ext uri="{FF2B5EF4-FFF2-40B4-BE49-F238E27FC236}">
                  <a16:creationId xmlns:a16="http://schemas.microsoft.com/office/drawing/2014/main" id="{8F7228CC-0B99-303A-3EB9-23717620F85C}"/>
                </a:ext>
              </a:extLst>
            </p:cNvPr>
            <p:cNvSpPr>
              <a:spLocks noEditPoints="1"/>
            </p:cNvSpPr>
            <p:nvPr/>
          </p:nvSpPr>
          <p:spPr bwMode="auto">
            <a:xfrm>
              <a:off x="1798" y="1575"/>
              <a:ext cx="76" cy="76"/>
            </a:xfrm>
            <a:custGeom>
              <a:avLst/>
              <a:gdLst>
                <a:gd name="T0" fmla="*/ 76 w 76"/>
                <a:gd name="T1" fmla="*/ 30 h 76"/>
                <a:gd name="T2" fmla="*/ 70 w 76"/>
                <a:gd name="T3" fmla="*/ 17 h 76"/>
                <a:gd name="T4" fmla="*/ 60 w 76"/>
                <a:gd name="T5" fmla="*/ 7 h 76"/>
                <a:gd name="T6" fmla="*/ 47 w 76"/>
                <a:gd name="T7" fmla="*/ 0 h 76"/>
                <a:gd name="T8" fmla="*/ 30 w 76"/>
                <a:gd name="T9" fmla="*/ 0 h 76"/>
                <a:gd name="T10" fmla="*/ 17 w 76"/>
                <a:gd name="T11" fmla="*/ 7 h 76"/>
                <a:gd name="T12" fmla="*/ 7 w 76"/>
                <a:gd name="T13" fmla="*/ 17 h 76"/>
                <a:gd name="T14" fmla="*/ 0 w 76"/>
                <a:gd name="T15" fmla="*/ 30 h 76"/>
                <a:gd name="T16" fmla="*/ 0 w 76"/>
                <a:gd name="T17" fmla="*/ 46 h 76"/>
                <a:gd name="T18" fmla="*/ 7 w 76"/>
                <a:gd name="T19" fmla="*/ 60 h 76"/>
                <a:gd name="T20" fmla="*/ 17 w 76"/>
                <a:gd name="T21" fmla="*/ 70 h 76"/>
                <a:gd name="T22" fmla="*/ 30 w 76"/>
                <a:gd name="T23" fmla="*/ 76 h 76"/>
                <a:gd name="T24" fmla="*/ 47 w 76"/>
                <a:gd name="T25" fmla="*/ 76 h 76"/>
                <a:gd name="T26" fmla="*/ 60 w 76"/>
                <a:gd name="T27" fmla="*/ 70 h 76"/>
                <a:gd name="T28" fmla="*/ 70 w 76"/>
                <a:gd name="T29" fmla="*/ 60 h 76"/>
                <a:gd name="T30" fmla="*/ 76 w 76"/>
                <a:gd name="T31" fmla="*/ 46 h 76"/>
                <a:gd name="T32" fmla="*/ 72 w 76"/>
                <a:gd name="T33" fmla="*/ 38 h 76"/>
                <a:gd name="T34" fmla="*/ 68 w 76"/>
                <a:gd name="T35" fmla="*/ 51 h 76"/>
                <a:gd name="T36" fmla="*/ 62 w 76"/>
                <a:gd name="T37" fmla="*/ 61 h 76"/>
                <a:gd name="T38" fmla="*/ 52 w 76"/>
                <a:gd name="T39" fmla="*/ 70 h 76"/>
                <a:gd name="T40" fmla="*/ 38 w 76"/>
                <a:gd name="T41" fmla="*/ 71 h 76"/>
                <a:gd name="T42" fmla="*/ 25 w 76"/>
                <a:gd name="T43" fmla="*/ 70 h 76"/>
                <a:gd name="T44" fmla="*/ 15 w 76"/>
                <a:gd name="T45" fmla="*/ 61 h 76"/>
                <a:gd name="T46" fmla="*/ 7 w 76"/>
                <a:gd name="T47" fmla="*/ 51 h 76"/>
                <a:gd name="T48" fmla="*/ 5 w 76"/>
                <a:gd name="T49" fmla="*/ 38 h 76"/>
                <a:gd name="T50" fmla="*/ 7 w 76"/>
                <a:gd name="T51" fmla="*/ 25 h 76"/>
                <a:gd name="T52" fmla="*/ 15 w 76"/>
                <a:gd name="T53" fmla="*/ 15 h 76"/>
                <a:gd name="T54" fmla="*/ 25 w 76"/>
                <a:gd name="T55" fmla="*/ 7 h 76"/>
                <a:gd name="T56" fmla="*/ 38 w 76"/>
                <a:gd name="T57" fmla="*/ 5 h 76"/>
                <a:gd name="T58" fmla="*/ 52 w 76"/>
                <a:gd name="T59" fmla="*/ 7 h 76"/>
                <a:gd name="T60" fmla="*/ 62 w 76"/>
                <a:gd name="T61" fmla="*/ 15 h 76"/>
                <a:gd name="T62" fmla="*/ 68 w 76"/>
                <a:gd name="T63" fmla="*/ 25 h 76"/>
                <a:gd name="T64" fmla="*/ 72 w 76"/>
                <a:gd name="T65" fmla="*/ 38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6" h="76">
                  <a:moveTo>
                    <a:pt x="76" y="38"/>
                  </a:moveTo>
                  <a:lnTo>
                    <a:pt x="76" y="30"/>
                  </a:lnTo>
                  <a:lnTo>
                    <a:pt x="73" y="23"/>
                  </a:lnTo>
                  <a:lnTo>
                    <a:pt x="70" y="17"/>
                  </a:lnTo>
                  <a:lnTo>
                    <a:pt x="65" y="12"/>
                  </a:lnTo>
                  <a:lnTo>
                    <a:pt x="60" y="7"/>
                  </a:lnTo>
                  <a:lnTo>
                    <a:pt x="53" y="3"/>
                  </a:lnTo>
                  <a:lnTo>
                    <a:pt x="47" y="0"/>
                  </a:lnTo>
                  <a:lnTo>
                    <a:pt x="38" y="0"/>
                  </a:lnTo>
                  <a:lnTo>
                    <a:pt x="30" y="0"/>
                  </a:lnTo>
                  <a:lnTo>
                    <a:pt x="24" y="3"/>
                  </a:lnTo>
                  <a:lnTo>
                    <a:pt x="17" y="7"/>
                  </a:lnTo>
                  <a:lnTo>
                    <a:pt x="10" y="12"/>
                  </a:lnTo>
                  <a:lnTo>
                    <a:pt x="7" y="17"/>
                  </a:lnTo>
                  <a:lnTo>
                    <a:pt x="4" y="23"/>
                  </a:lnTo>
                  <a:lnTo>
                    <a:pt x="0" y="30"/>
                  </a:lnTo>
                  <a:lnTo>
                    <a:pt x="0" y="38"/>
                  </a:lnTo>
                  <a:lnTo>
                    <a:pt x="0" y="46"/>
                  </a:lnTo>
                  <a:lnTo>
                    <a:pt x="4" y="53"/>
                  </a:lnTo>
                  <a:lnTo>
                    <a:pt x="7" y="60"/>
                  </a:lnTo>
                  <a:lnTo>
                    <a:pt x="10" y="65"/>
                  </a:lnTo>
                  <a:lnTo>
                    <a:pt x="17" y="70"/>
                  </a:lnTo>
                  <a:lnTo>
                    <a:pt x="24" y="73"/>
                  </a:lnTo>
                  <a:lnTo>
                    <a:pt x="30" y="76"/>
                  </a:lnTo>
                  <a:lnTo>
                    <a:pt x="38" y="76"/>
                  </a:lnTo>
                  <a:lnTo>
                    <a:pt x="47" y="76"/>
                  </a:lnTo>
                  <a:lnTo>
                    <a:pt x="53" y="73"/>
                  </a:lnTo>
                  <a:lnTo>
                    <a:pt x="60" y="70"/>
                  </a:lnTo>
                  <a:lnTo>
                    <a:pt x="65" y="65"/>
                  </a:lnTo>
                  <a:lnTo>
                    <a:pt x="70" y="60"/>
                  </a:lnTo>
                  <a:lnTo>
                    <a:pt x="73" y="53"/>
                  </a:lnTo>
                  <a:lnTo>
                    <a:pt x="76" y="46"/>
                  </a:lnTo>
                  <a:lnTo>
                    <a:pt x="76" y="38"/>
                  </a:lnTo>
                  <a:close/>
                  <a:moveTo>
                    <a:pt x="72" y="38"/>
                  </a:moveTo>
                  <a:lnTo>
                    <a:pt x="72" y="45"/>
                  </a:lnTo>
                  <a:lnTo>
                    <a:pt x="68" y="51"/>
                  </a:lnTo>
                  <a:lnTo>
                    <a:pt x="67" y="56"/>
                  </a:lnTo>
                  <a:lnTo>
                    <a:pt x="62" y="61"/>
                  </a:lnTo>
                  <a:lnTo>
                    <a:pt x="57" y="66"/>
                  </a:lnTo>
                  <a:lnTo>
                    <a:pt x="52" y="70"/>
                  </a:lnTo>
                  <a:lnTo>
                    <a:pt x="45" y="71"/>
                  </a:lnTo>
                  <a:lnTo>
                    <a:pt x="38" y="71"/>
                  </a:lnTo>
                  <a:lnTo>
                    <a:pt x="32" y="71"/>
                  </a:lnTo>
                  <a:lnTo>
                    <a:pt x="25" y="70"/>
                  </a:lnTo>
                  <a:lnTo>
                    <a:pt x="20" y="66"/>
                  </a:lnTo>
                  <a:lnTo>
                    <a:pt x="15" y="61"/>
                  </a:lnTo>
                  <a:lnTo>
                    <a:pt x="10" y="56"/>
                  </a:lnTo>
                  <a:lnTo>
                    <a:pt x="7" y="51"/>
                  </a:lnTo>
                  <a:lnTo>
                    <a:pt x="5" y="45"/>
                  </a:lnTo>
                  <a:lnTo>
                    <a:pt x="5" y="38"/>
                  </a:lnTo>
                  <a:lnTo>
                    <a:pt x="5" y="32"/>
                  </a:lnTo>
                  <a:lnTo>
                    <a:pt x="7" y="25"/>
                  </a:lnTo>
                  <a:lnTo>
                    <a:pt x="10" y="20"/>
                  </a:lnTo>
                  <a:lnTo>
                    <a:pt x="15" y="15"/>
                  </a:lnTo>
                  <a:lnTo>
                    <a:pt x="20" y="10"/>
                  </a:lnTo>
                  <a:lnTo>
                    <a:pt x="25" y="7"/>
                  </a:lnTo>
                  <a:lnTo>
                    <a:pt x="32" y="5"/>
                  </a:lnTo>
                  <a:lnTo>
                    <a:pt x="38" y="5"/>
                  </a:lnTo>
                  <a:lnTo>
                    <a:pt x="45" y="5"/>
                  </a:lnTo>
                  <a:lnTo>
                    <a:pt x="52" y="7"/>
                  </a:lnTo>
                  <a:lnTo>
                    <a:pt x="57" y="10"/>
                  </a:lnTo>
                  <a:lnTo>
                    <a:pt x="62" y="15"/>
                  </a:lnTo>
                  <a:lnTo>
                    <a:pt x="67" y="20"/>
                  </a:lnTo>
                  <a:lnTo>
                    <a:pt x="68" y="25"/>
                  </a:lnTo>
                  <a:lnTo>
                    <a:pt x="72" y="32"/>
                  </a:lnTo>
                  <a:lnTo>
                    <a:pt x="72" y="38"/>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26" name="Freeform 267">
              <a:extLst>
                <a:ext uri="{FF2B5EF4-FFF2-40B4-BE49-F238E27FC236}">
                  <a16:creationId xmlns:a16="http://schemas.microsoft.com/office/drawing/2014/main" id="{C050CC55-62E1-10AD-DFCC-FD51E26FF873}"/>
                </a:ext>
              </a:extLst>
            </p:cNvPr>
            <p:cNvSpPr>
              <a:spLocks noEditPoints="1"/>
            </p:cNvSpPr>
            <p:nvPr/>
          </p:nvSpPr>
          <p:spPr bwMode="auto">
            <a:xfrm>
              <a:off x="1800" y="1577"/>
              <a:ext cx="73" cy="73"/>
            </a:xfrm>
            <a:custGeom>
              <a:avLst/>
              <a:gdLst>
                <a:gd name="T0" fmla="*/ 71 w 73"/>
                <a:gd name="T1" fmla="*/ 30 h 73"/>
                <a:gd name="T2" fmla="*/ 66 w 73"/>
                <a:gd name="T3" fmla="*/ 16 h 73"/>
                <a:gd name="T4" fmla="*/ 56 w 73"/>
                <a:gd name="T5" fmla="*/ 6 h 73"/>
                <a:gd name="T6" fmla="*/ 43 w 73"/>
                <a:gd name="T7" fmla="*/ 1 h 73"/>
                <a:gd name="T8" fmla="*/ 28 w 73"/>
                <a:gd name="T9" fmla="*/ 1 h 73"/>
                <a:gd name="T10" fmla="*/ 17 w 73"/>
                <a:gd name="T11" fmla="*/ 6 h 73"/>
                <a:gd name="T12" fmla="*/ 7 w 73"/>
                <a:gd name="T13" fmla="*/ 16 h 73"/>
                <a:gd name="T14" fmla="*/ 2 w 73"/>
                <a:gd name="T15" fmla="*/ 30 h 73"/>
                <a:gd name="T16" fmla="*/ 2 w 73"/>
                <a:gd name="T17" fmla="*/ 43 h 73"/>
                <a:gd name="T18" fmla="*/ 7 w 73"/>
                <a:gd name="T19" fmla="*/ 56 h 73"/>
                <a:gd name="T20" fmla="*/ 17 w 73"/>
                <a:gd name="T21" fmla="*/ 66 h 73"/>
                <a:gd name="T22" fmla="*/ 28 w 73"/>
                <a:gd name="T23" fmla="*/ 71 h 73"/>
                <a:gd name="T24" fmla="*/ 43 w 73"/>
                <a:gd name="T25" fmla="*/ 71 h 73"/>
                <a:gd name="T26" fmla="*/ 56 w 73"/>
                <a:gd name="T27" fmla="*/ 66 h 73"/>
                <a:gd name="T28" fmla="*/ 66 w 73"/>
                <a:gd name="T29" fmla="*/ 56 h 73"/>
                <a:gd name="T30" fmla="*/ 71 w 73"/>
                <a:gd name="T31" fmla="*/ 43 h 73"/>
                <a:gd name="T32" fmla="*/ 68 w 73"/>
                <a:gd name="T33" fmla="*/ 36 h 73"/>
                <a:gd name="T34" fmla="*/ 65 w 73"/>
                <a:gd name="T35" fmla="*/ 48 h 73"/>
                <a:gd name="T36" fmla="*/ 58 w 73"/>
                <a:gd name="T37" fmla="*/ 58 h 73"/>
                <a:gd name="T38" fmla="*/ 48 w 73"/>
                <a:gd name="T39" fmla="*/ 64 h 73"/>
                <a:gd name="T40" fmla="*/ 36 w 73"/>
                <a:gd name="T41" fmla="*/ 68 h 73"/>
                <a:gd name="T42" fmla="*/ 25 w 73"/>
                <a:gd name="T43" fmla="*/ 64 h 73"/>
                <a:gd name="T44" fmla="*/ 15 w 73"/>
                <a:gd name="T45" fmla="*/ 58 h 73"/>
                <a:gd name="T46" fmla="*/ 8 w 73"/>
                <a:gd name="T47" fmla="*/ 48 h 73"/>
                <a:gd name="T48" fmla="*/ 5 w 73"/>
                <a:gd name="T49" fmla="*/ 36 h 73"/>
                <a:gd name="T50" fmla="*/ 8 w 73"/>
                <a:gd name="T51" fmla="*/ 25 h 73"/>
                <a:gd name="T52" fmla="*/ 15 w 73"/>
                <a:gd name="T53" fmla="*/ 15 h 73"/>
                <a:gd name="T54" fmla="*/ 25 w 73"/>
                <a:gd name="T55" fmla="*/ 8 h 73"/>
                <a:gd name="T56" fmla="*/ 36 w 73"/>
                <a:gd name="T57" fmla="*/ 5 h 73"/>
                <a:gd name="T58" fmla="*/ 48 w 73"/>
                <a:gd name="T59" fmla="*/ 8 h 73"/>
                <a:gd name="T60" fmla="*/ 58 w 73"/>
                <a:gd name="T61" fmla="*/ 15 h 73"/>
                <a:gd name="T62" fmla="*/ 65 w 73"/>
                <a:gd name="T63" fmla="*/ 25 h 73"/>
                <a:gd name="T64" fmla="*/ 68 w 73"/>
                <a:gd name="T65" fmla="*/ 36 h 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3" h="73">
                  <a:moveTo>
                    <a:pt x="73" y="36"/>
                  </a:moveTo>
                  <a:lnTo>
                    <a:pt x="71" y="30"/>
                  </a:lnTo>
                  <a:lnTo>
                    <a:pt x="70" y="21"/>
                  </a:lnTo>
                  <a:lnTo>
                    <a:pt x="66" y="16"/>
                  </a:lnTo>
                  <a:lnTo>
                    <a:pt x="61" y="11"/>
                  </a:lnTo>
                  <a:lnTo>
                    <a:pt x="56" y="6"/>
                  </a:lnTo>
                  <a:lnTo>
                    <a:pt x="50" y="3"/>
                  </a:lnTo>
                  <a:lnTo>
                    <a:pt x="43" y="1"/>
                  </a:lnTo>
                  <a:lnTo>
                    <a:pt x="36" y="0"/>
                  </a:lnTo>
                  <a:lnTo>
                    <a:pt x="28" y="1"/>
                  </a:lnTo>
                  <a:lnTo>
                    <a:pt x="22" y="3"/>
                  </a:lnTo>
                  <a:lnTo>
                    <a:pt x="17" y="6"/>
                  </a:lnTo>
                  <a:lnTo>
                    <a:pt x="12" y="11"/>
                  </a:lnTo>
                  <a:lnTo>
                    <a:pt x="7" y="16"/>
                  </a:lnTo>
                  <a:lnTo>
                    <a:pt x="3" y="21"/>
                  </a:lnTo>
                  <a:lnTo>
                    <a:pt x="2" y="30"/>
                  </a:lnTo>
                  <a:lnTo>
                    <a:pt x="0" y="36"/>
                  </a:lnTo>
                  <a:lnTo>
                    <a:pt x="2" y="43"/>
                  </a:lnTo>
                  <a:lnTo>
                    <a:pt x="3" y="49"/>
                  </a:lnTo>
                  <a:lnTo>
                    <a:pt x="7" y="56"/>
                  </a:lnTo>
                  <a:lnTo>
                    <a:pt x="12" y="61"/>
                  </a:lnTo>
                  <a:lnTo>
                    <a:pt x="17" y="66"/>
                  </a:lnTo>
                  <a:lnTo>
                    <a:pt x="22" y="69"/>
                  </a:lnTo>
                  <a:lnTo>
                    <a:pt x="28" y="71"/>
                  </a:lnTo>
                  <a:lnTo>
                    <a:pt x="36" y="73"/>
                  </a:lnTo>
                  <a:lnTo>
                    <a:pt x="43" y="71"/>
                  </a:lnTo>
                  <a:lnTo>
                    <a:pt x="50" y="69"/>
                  </a:lnTo>
                  <a:lnTo>
                    <a:pt x="56" y="66"/>
                  </a:lnTo>
                  <a:lnTo>
                    <a:pt x="61" y="61"/>
                  </a:lnTo>
                  <a:lnTo>
                    <a:pt x="66" y="56"/>
                  </a:lnTo>
                  <a:lnTo>
                    <a:pt x="70" y="49"/>
                  </a:lnTo>
                  <a:lnTo>
                    <a:pt x="71" y="43"/>
                  </a:lnTo>
                  <a:lnTo>
                    <a:pt x="73" y="36"/>
                  </a:lnTo>
                  <a:close/>
                  <a:moveTo>
                    <a:pt x="68" y="36"/>
                  </a:moveTo>
                  <a:lnTo>
                    <a:pt x="66" y="43"/>
                  </a:lnTo>
                  <a:lnTo>
                    <a:pt x="65" y="48"/>
                  </a:lnTo>
                  <a:lnTo>
                    <a:pt x="61" y="53"/>
                  </a:lnTo>
                  <a:lnTo>
                    <a:pt x="58" y="58"/>
                  </a:lnTo>
                  <a:lnTo>
                    <a:pt x="53" y="61"/>
                  </a:lnTo>
                  <a:lnTo>
                    <a:pt x="48" y="64"/>
                  </a:lnTo>
                  <a:lnTo>
                    <a:pt x="43" y="66"/>
                  </a:lnTo>
                  <a:lnTo>
                    <a:pt x="36" y="68"/>
                  </a:lnTo>
                  <a:lnTo>
                    <a:pt x="30" y="66"/>
                  </a:lnTo>
                  <a:lnTo>
                    <a:pt x="25" y="64"/>
                  </a:lnTo>
                  <a:lnTo>
                    <a:pt x="18" y="61"/>
                  </a:lnTo>
                  <a:lnTo>
                    <a:pt x="15" y="58"/>
                  </a:lnTo>
                  <a:lnTo>
                    <a:pt x="10" y="53"/>
                  </a:lnTo>
                  <a:lnTo>
                    <a:pt x="8" y="48"/>
                  </a:lnTo>
                  <a:lnTo>
                    <a:pt x="5" y="43"/>
                  </a:lnTo>
                  <a:lnTo>
                    <a:pt x="5" y="36"/>
                  </a:lnTo>
                  <a:lnTo>
                    <a:pt x="5" y="30"/>
                  </a:lnTo>
                  <a:lnTo>
                    <a:pt x="8" y="25"/>
                  </a:lnTo>
                  <a:lnTo>
                    <a:pt x="10" y="18"/>
                  </a:lnTo>
                  <a:lnTo>
                    <a:pt x="15" y="15"/>
                  </a:lnTo>
                  <a:lnTo>
                    <a:pt x="18" y="10"/>
                  </a:lnTo>
                  <a:lnTo>
                    <a:pt x="25" y="8"/>
                  </a:lnTo>
                  <a:lnTo>
                    <a:pt x="30" y="5"/>
                  </a:lnTo>
                  <a:lnTo>
                    <a:pt x="36" y="5"/>
                  </a:lnTo>
                  <a:lnTo>
                    <a:pt x="43" y="5"/>
                  </a:lnTo>
                  <a:lnTo>
                    <a:pt x="48" y="8"/>
                  </a:lnTo>
                  <a:lnTo>
                    <a:pt x="53" y="10"/>
                  </a:lnTo>
                  <a:lnTo>
                    <a:pt x="58" y="15"/>
                  </a:lnTo>
                  <a:lnTo>
                    <a:pt x="61" y="18"/>
                  </a:lnTo>
                  <a:lnTo>
                    <a:pt x="65" y="25"/>
                  </a:lnTo>
                  <a:lnTo>
                    <a:pt x="66" y="30"/>
                  </a:lnTo>
                  <a:lnTo>
                    <a:pt x="68" y="36"/>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27" name="Freeform 268">
              <a:extLst>
                <a:ext uri="{FF2B5EF4-FFF2-40B4-BE49-F238E27FC236}">
                  <a16:creationId xmlns:a16="http://schemas.microsoft.com/office/drawing/2014/main" id="{DFDF71EC-ACCF-D4E4-AF12-1FC03B0B200F}"/>
                </a:ext>
              </a:extLst>
            </p:cNvPr>
            <p:cNvSpPr>
              <a:spLocks noEditPoints="1"/>
            </p:cNvSpPr>
            <p:nvPr/>
          </p:nvSpPr>
          <p:spPr bwMode="auto">
            <a:xfrm>
              <a:off x="1803" y="1580"/>
              <a:ext cx="67" cy="66"/>
            </a:xfrm>
            <a:custGeom>
              <a:avLst/>
              <a:gdLst>
                <a:gd name="T0" fmla="*/ 67 w 67"/>
                <a:gd name="T1" fmla="*/ 27 h 66"/>
                <a:gd name="T2" fmla="*/ 62 w 67"/>
                <a:gd name="T3" fmla="*/ 15 h 66"/>
                <a:gd name="T4" fmla="*/ 52 w 67"/>
                <a:gd name="T5" fmla="*/ 5 h 66"/>
                <a:gd name="T6" fmla="*/ 40 w 67"/>
                <a:gd name="T7" fmla="*/ 0 h 66"/>
                <a:gd name="T8" fmla="*/ 27 w 67"/>
                <a:gd name="T9" fmla="*/ 0 h 66"/>
                <a:gd name="T10" fmla="*/ 15 w 67"/>
                <a:gd name="T11" fmla="*/ 5 h 66"/>
                <a:gd name="T12" fmla="*/ 5 w 67"/>
                <a:gd name="T13" fmla="*/ 15 h 66"/>
                <a:gd name="T14" fmla="*/ 0 w 67"/>
                <a:gd name="T15" fmla="*/ 27 h 66"/>
                <a:gd name="T16" fmla="*/ 0 w 67"/>
                <a:gd name="T17" fmla="*/ 40 h 66"/>
                <a:gd name="T18" fmla="*/ 5 w 67"/>
                <a:gd name="T19" fmla="*/ 51 h 66"/>
                <a:gd name="T20" fmla="*/ 15 w 67"/>
                <a:gd name="T21" fmla="*/ 61 h 66"/>
                <a:gd name="T22" fmla="*/ 27 w 67"/>
                <a:gd name="T23" fmla="*/ 66 h 66"/>
                <a:gd name="T24" fmla="*/ 40 w 67"/>
                <a:gd name="T25" fmla="*/ 66 h 66"/>
                <a:gd name="T26" fmla="*/ 52 w 67"/>
                <a:gd name="T27" fmla="*/ 61 h 66"/>
                <a:gd name="T28" fmla="*/ 62 w 67"/>
                <a:gd name="T29" fmla="*/ 51 h 66"/>
                <a:gd name="T30" fmla="*/ 67 w 67"/>
                <a:gd name="T31" fmla="*/ 40 h 66"/>
                <a:gd name="T32" fmla="*/ 62 w 67"/>
                <a:gd name="T33" fmla="*/ 33 h 66"/>
                <a:gd name="T34" fmla="*/ 60 w 67"/>
                <a:gd name="T35" fmla="*/ 45 h 66"/>
                <a:gd name="T36" fmla="*/ 53 w 67"/>
                <a:gd name="T37" fmla="*/ 53 h 66"/>
                <a:gd name="T38" fmla="*/ 45 w 67"/>
                <a:gd name="T39" fmla="*/ 60 h 66"/>
                <a:gd name="T40" fmla="*/ 33 w 67"/>
                <a:gd name="T41" fmla="*/ 61 h 66"/>
                <a:gd name="T42" fmla="*/ 22 w 67"/>
                <a:gd name="T43" fmla="*/ 60 h 66"/>
                <a:gd name="T44" fmla="*/ 14 w 67"/>
                <a:gd name="T45" fmla="*/ 53 h 66"/>
                <a:gd name="T46" fmla="*/ 7 w 67"/>
                <a:gd name="T47" fmla="*/ 45 h 66"/>
                <a:gd name="T48" fmla="*/ 4 w 67"/>
                <a:gd name="T49" fmla="*/ 33 h 66"/>
                <a:gd name="T50" fmla="*/ 7 w 67"/>
                <a:gd name="T51" fmla="*/ 22 h 66"/>
                <a:gd name="T52" fmla="*/ 14 w 67"/>
                <a:gd name="T53" fmla="*/ 13 h 66"/>
                <a:gd name="T54" fmla="*/ 22 w 67"/>
                <a:gd name="T55" fmla="*/ 7 h 66"/>
                <a:gd name="T56" fmla="*/ 33 w 67"/>
                <a:gd name="T57" fmla="*/ 5 h 66"/>
                <a:gd name="T58" fmla="*/ 45 w 67"/>
                <a:gd name="T59" fmla="*/ 7 h 66"/>
                <a:gd name="T60" fmla="*/ 53 w 67"/>
                <a:gd name="T61" fmla="*/ 13 h 66"/>
                <a:gd name="T62" fmla="*/ 60 w 67"/>
                <a:gd name="T63" fmla="*/ 22 h 66"/>
                <a:gd name="T64" fmla="*/ 62 w 67"/>
                <a:gd name="T65" fmla="*/ 3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 h="66">
                  <a:moveTo>
                    <a:pt x="67" y="33"/>
                  </a:moveTo>
                  <a:lnTo>
                    <a:pt x="67" y="27"/>
                  </a:lnTo>
                  <a:lnTo>
                    <a:pt x="63" y="20"/>
                  </a:lnTo>
                  <a:lnTo>
                    <a:pt x="62" y="15"/>
                  </a:lnTo>
                  <a:lnTo>
                    <a:pt x="57" y="10"/>
                  </a:lnTo>
                  <a:lnTo>
                    <a:pt x="52" y="5"/>
                  </a:lnTo>
                  <a:lnTo>
                    <a:pt x="47" y="2"/>
                  </a:lnTo>
                  <a:lnTo>
                    <a:pt x="40" y="0"/>
                  </a:lnTo>
                  <a:lnTo>
                    <a:pt x="33" y="0"/>
                  </a:lnTo>
                  <a:lnTo>
                    <a:pt x="27" y="0"/>
                  </a:lnTo>
                  <a:lnTo>
                    <a:pt x="20" y="2"/>
                  </a:lnTo>
                  <a:lnTo>
                    <a:pt x="15" y="5"/>
                  </a:lnTo>
                  <a:lnTo>
                    <a:pt x="10" y="10"/>
                  </a:lnTo>
                  <a:lnTo>
                    <a:pt x="5" y="15"/>
                  </a:lnTo>
                  <a:lnTo>
                    <a:pt x="2" y="20"/>
                  </a:lnTo>
                  <a:lnTo>
                    <a:pt x="0" y="27"/>
                  </a:lnTo>
                  <a:lnTo>
                    <a:pt x="0" y="33"/>
                  </a:lnTo>
                  <a:lnTo>
                    <a:pt x="0" y="40"/>
                  </a:lnTo>
                  <a:lnTo>
                    <a:pt x="2" y="46"/>
                  </a:lnTo>
                  <a:lnTo>
                    <a:pt x="5" y="51"/>
                  </a:lnTo>
                  <a:lnTo>
                    <a:pt x="10" y="56"/>
                  </a:lnTo>
                  <a:lnTo>
                    <a:pt x="15" y="61"/>
                  </a:lnTo>
                  <a:lnTo>
                    <a:pt x="20" y="65"/>
                  </a:lnTo>
                  <a:lnTo>
                    <a:pt x="27" y="66"/>
                  </a:lnTo>
                  <a:lnTo>
                    <a:pt x="33" y="66"/>
                  </a:lnTo>
                  <a:lnTo>
                    <a:pt x="40" y="66"/>
                  </a:lnTo>
                  <a:lnTo>
                    <a:pt x="47" y="65"/>
                  </a:lnTo>
                  <a:lnTo>
                    <a:pt x="52" y="61"/>
                  </a:lnTo>
                  <a:lnTo>
                    <a:pt x="57" y="56"/>
                  </a:lnTo>
                  <a:lnTo>
                    <a:pt x="62" y="51"/>
                  </a:lnTo>
                  <a:lnTo>
                    <a:pt x="63" y="46"/>
                  </a:lnTo>
                  <a:lnTo>
                    <a:pt x="67" y="40"/>
                  </a:lnTo>
                  <a:lnTo>
                    <a:pt x="67" y="33"/>
                  </a:lnTo>
                  <a:close/>
                  <a:moveTo>
                    <a:pt x="62" y="33"/>
                  </a:moveTo>
                  <a:lnTo>
                    <a:pt x="62" y="38"/>
                  </a:lnTo>
                  <a:lnTo>
                    <a:pt x="60" y="45"/>
                  </a:lnTo>
                  <a:lnTo>
                    <a:pt x="57" y="50"/>
                  </a:lnTo>
                  <a:lnTo>
                    <a:pt x="53" y="53"/>
                  </a:lnTo>
                  <a:lnTo>
                    <a:pt x="50" y="56"/>
                  </a:lnTo>
                  <a:lnTo>
                    <a:pt x="45" y="60"/>
                  </a:lnTo>
                  <a:lnTo>
                    <a:pt x="38" y="61"/>
                  </a:lnTo>
                  <a:lnTo>
                    <a:pt x="33" y="61"/>
                  </a:lnTo>
                  <a:lnTo>
                    <a:pt x="27" y="61"/>
                  </a:lnTo>
                  <a:lnTo>
                    <a:pt x="22" y="60"/>
                  </a:lnTo>
                  <a:lnTo>
                    <a:pt x="17" y="56"/>
                  </a:lnTo>
                  <a:lnTo>
                    <a:pt x="14" y="53"/>
                  </a:lnTo>
                  <a:lnTo>
                    <a:pt x="9" y="50"/>
                  </a:lnTo>
                  <a:lnTo>
                    <a:pt x="7" y="45"/>
                  </a:lnTo>
                  <a:lnTo>
                    <a:pt x="5" y="38"/>
                  </a:lnTo>
                  <a:lnTo>
                    <a:pt x="4" y="33"/>
                  </a:lnTo>
                  <a:lnTo>
                    <a:pt x="5" y="27"/>
                  </a:lnTo>
                  <a:lnTo>
                    <a:pt x="7" y="22"/>
                  </a:lnTo>
                  <a:lnTo>
                    <a:pt x="9" y="17"/>
                  </a:lnTo>
                  <a:lnTo>
                    <a:pt x="14" y="13"/>
                  </a:lnTo>
                  <a:lnTo>
                    <a:pt x="17" y="10"/>
                  </a:lnTo>
                  <a:lnTo>
                    <a:pt x="22" y="7"/>
                  </a:lnTo>
                  <a:lnTo>
                    <a:pt x="27" y="5"/>
                  </a:lnTo>
                  <a:lnTo>
                    <a:pt x="33" y="5"/>
                  </a:lnTo>
                  <a:lnTo>
                    <a:pt x="38" y="5"/>
                  </a:lnTo>
                  <a:lnTo>
                    <a:pt x="45" y="7"/>
                  </a:lnTo>
                  <a:lnTo>
                    <a:pt x="50" y="10"/>
                  </a:lnTo>
                  <a:lnTo>
                    <a:pt x="53" y="13"/>
                  </a:lnTo>
                  <a:lnTo>
                    <a:pt x="57" y="17"/>
                  </a:lnTo>
                  <a:lnTo>
                    <a:pt x="60" y="22"/>
                  </a:lnTo>
                  <a:lnTo>
                    <a:pt x="62" y="27"/>
                  </a:lnTo>
                  <a:lnTo>
                    <a:pt x="62" y="33"/>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28" name="Freeform 269">
              <a:extLst>
                <a:ext uri="{FF2B5EF4-FFF2-40B4-BE49-F238E27FC236}">
                  <a16:creationId xmlns:a16="http://schemas.microsoft.com/office/drawing/2014/main" id="{9CC7CAC5-ABE2-D08A-A0ED-2D39211EFF4B}"/>
                </a:ext>
              </a:extLst>
            </p:cNvPr>
            <p:cNvSpPr>
              <a:spLocks noEditPoints="1"/>
            </p:cNvSpPr>
            <p:nvPr/>
          </p:nvSpPr>
          <p:spPr bwMode="auto">
            <a:xfrm>
              <a:off x="1805" y="1582"/>
              <a:ext cx="63" cy="63"/>
            </a:xfrm>
            <a:custGeom>
              <a:avLst/>
              <a:gdLst>
                <a:gd name="T0" fmla="*/ 61 w 63"/>
                <a:gd name="T1" fmla="*/ 25 h 63"/>
                <a:gd name="T2" fmla="*/ 56 w 63"/>
                <a:gd name="T3" fmla="*/ 13 h 63"/>
                <a:gd name="T4" fmla="*/ 48 w 63"/>
                <a:gd name="T5" fmla="*/ 5 h 63"/>
                <a:gd name="T6" fmla="*/ 38 w 63"/>
                <a:gd name="T7" fmla="*/ 0 h 63"/>
                <a:gd name="T8" fmla="*/ 25 w 63"/>
                <a:gd name="T9" fmla="*/ 0 h 63"/>
                <a:gd name="T10" fmla="*/ 13 w 63"/>
                <a:gd name="T11" fmla="*/ 5 h 63"/>
                <a:gd name="T12" fmla="*/ 5 w 63"/>
                <a:gd name="T13" fmla="*/ 13 h 63"/>
                <a:gd name="T14" fmla="*/ 0 w 63"/>
                <a:gd name="T15" fmla="*/ 25 h 63"/>
                <a:gd name="T16" fmla="*/ 0 w 63"/>
                <a:gd name="T17" fmla="*/ 38 h 63"/>
                <a:gd name="T18" fmla="*/ 5 w 63"/>
                <a:gd name="T19" fmla="*/ 48 h 63"/>
                <a:gd name="T20" fmla="*/ 13 w 63"/>
                <a:gd name="T21" fmla="*/ 56 h 63"/>
                <a:gd name="T22" fmla="*/ 25 w 63"/>
                <a:gd name="T23" fmla="*/ 61 h 63"/>
                <a:gd name="T24" fmla="*/ 38 w 63"/>
                <a:gd name="T25" fmla="*/ 61 h 63"/>
                <a:gd name="T26" fmla="*/ 48 w 63"/>
                <a:gd name="T27" fmla="*/ 56 h 63"/>
                <a:gd name="T28" fmla="*/ 56 w 63"/>
                <a:gd name="T29" fmla="*/ 48 h 63"/>
                <a:gd name="T30" fmla="*/ 61 w 63"/>
                <a:gd name="T31" fmla="*/ 38 h 63"/>
                <a:gd name="T32" fmla="*/ 58 w 63"/>
                <a:gd name="T33" fmla="*/ 31 h 63"/>
                <a:gd name="T34" fmla="*/ 55 w 63"/>
                <a:gd name="T35" fmla="*/ 41 h 63"/>
                <a:gd name="T36" fmla="*/ 50 w 63"/>
                <a:gd name="T37" fmla="*/ 49 h 63"/>
                <a:gd name="T38" fmla="*/ 41 w 63"/>
                <a:gd name="T39" fmla="*/ 56 h 63"/>
                <a:gd name="T40" fmla="*/ 31 w 63"/>
                <a:gd name="T41" fmla="*/ 58 h 63"/>
                <a:gd name="T42" fmla="*/ 21 w 63"/>
                <a:gd name="T43" fmla="*/ 56 h 63"/>
                <a:gd name="T44" fmla="*/ 13 w 63"/>
                <a:gd name="T45" fmla="*/ 49 h 63"/>
                <a:gd name="T46" fmla="*/ 7 w 63"/>
                <a:gd name="T47" fmla="*/ 41 h 63"/>
                <a:gd name="T48" fmla="*/ 5 w 63"/>
                <a:gd name="T49" fmla="*/ 31 h 63"/>
                <a:gd name="T50" fmla="*/ 7 w 63"/>
                <a:gd name="T51" fmla="*/ 21 h 63"/>
                <a:gd name="T52" fmla="*/ 13 w 63"/>
                <a:gd name="T53" fmla="*/ 13 h 63"/>
                <a:gd name="T54" fmla="*/ 21 w 63"/>
                <a:gd name="T55" fmla="*/ 6 h 63"/>
                <a:gd name="T56" fmla="*/ 31 w 63"/>
                <a:gd name="T57" fmla="*/ 5 h 63"/>
                <a:gd name="T58" fmla="*/ 41 w 63"/>
                <a:gd name="T59" fmla="*/ 6 h 63"/>
                <a:gd name="T60" fmla="*/ 50 w 63"/>
                <a:gd name="T61" fmla="*/ 13 h 63"/>
                <a:gd name="T62" fmla="*/ 55 w 63"/>
                <a:gd name="T63" fmla="*/ 21 h 63"/>
                <a:gd name="T64" fmla="*/ 58 w 63"/>
                <a:gd name="T65" fmla="*/ 31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3" h="63">
                  <a:moveTo>
                    <a:pt x="63" y="31"/>
                  </a:moveTo>
                  <a:lnTo>
                    <a:pt x="61" y="25"/>
                  </a:lnTo>
                  <a:lnTo>
                    <a:pt x="60" y="20"/>
                  </a:lnTo>
                  <a:lnTo>
                    <a:pt x="56" y="13"/>
                  </a:lnTo>
                  <a:lnTo>
                    <a:pt x="53" y="10"/>
                  </a:lnTo>
                  <a:lnTo>
                    <a:pt x="48" y="5"/>
                  </a:lnTo>
                  <a:lnTo>
                    <a:pt x="43" y="3"/>
                  </a:lnTo>
                  <a:lnTo>
                    <a:pt x="38" y="0"/>
                  </a:lnTo>
                  <a:lnTo>
                    <a:pt x="31" y="0"/>
                  </a:lnTo>
                  <a:lnTo>
                    <a:pt x="25" y="0"/>
                  </a:lnTo>
                  <a:lnTo>
                    <a:pt x="20" y="3"/>
                  </a:lnTo>
                  <a:lnTo>
                    <a:pt x="13" y="5"/>
                  </a:lnTo>
                  <a:lnTo>
                    <a:pt x="10" y="10"/>
                  </a:lnTo>
                  <a:lnTo>
                    <a:pt x="5" y="13"/>
                  </a:lnTo>
                  <a:lnTo>
                    <a:pt x="3" y="20"/>
                  </a:lnTo>
                  <a:lnTo>
                    <a:pt x="0" y="25"/>
                  </a:lnTo>
                  <a:lnTo>
                    <a:pt x="0" y="31"/>
                  </a:lnTo>
                  <a:lnTo>
                    <a:pt x="0" y="38"/>
                  </a:lnTo>
                  <a:lnTo>
                    <a:pt x="3" y="43"/>
                  </a:lnTo>
                  <a:lnTo>
                    <a:pt x="5" y="48"/>
                  </a:lnTo>
                  <a:lnTo>
                    <a:pt x="10" y="53"/>
                  </a:lnTo>
                  <a:lnTo>
                    <a:pt x="13" y="56"/>
                  </a:lnTo>
                  <a:lnTo>
                    <a:pt x="20" y="59"/>
                  </a:lnTo>
                  <a:lnTo>
                    <a:pt x="25" y="61"/>
                  </a:lnTo>
                  <a:lnTo>
                    <a:pt x="31" y="63"/>
                  </a:lnTo>
                  <a:lnTo>
                    <a:pt x="38" y="61"/>
                  </a:lnTo>
                  <a:lnTo>
                    <a:pt x="43" y="59"/>
                  </a:lnTo>
                  <a:lnTo>
                    <a:pt x="48" y="56"/>
                  </a:lnTo>
                  <a:lnTo>
                    <a:pt x="53" y="53"/>
                  </a:lnTo>
                  <a:lnTo>
                    <a:pt x="56" y="48"/>
                  </a:lnTo>
                  <a:lnTo>
                    <a:pt x="60" y="43"/>
                  </a:lnTo>
                  <a:lnTo>
                    <a:pt x="61" y="38"/>
                  </a:lnTo>
                  <a:lnTo>
                    <a:pt x="63" y="31"/>
                  </a:lnTo>
                  <a:close/>
                  <a:moveTo>
                    <a:pt x="58" y="31"/>
                  </a:moveTo>
                  <a:lnTo>
                    <a:pt x="56" y="36"/>
                  </a:lnTo>
                  <a:lnTo>
                    <a:pt x="55" y="41"/>
                  </a:lnTo>
                  <a:lnTo>
                    <a:pt x="53" y="46"/>
                  </a:lnTo>
                  <a:lnTo>
                    <a:pt x="50" y="49"/>
                  </a:lnTo>
                  <a:lnTo>
                    <a:pt x="46" y="53"/>
                  </a:lnTo>
                  <a:lnTo>
                    <a:pt x="41" y="56"/>
                  </a:lnTo>
                  <a:lnTo>
                    <a:pt x="36" y="56"/>
                  </a:lnTo>
                  <a:lnTo>
                    <a:pt x="31" y="58"/>
                  </a:lnTo>
                  <a:lnTo>
                    <a:pt x="26" y="56"/>
                  </a:lnTo>
                  <a:lnTo>
                    <a:pt x="21" y="56"/>
                  </a:lnTo>
                  <a:lnTo>
                    <a:pt x="17" y="53"/>
                  </a:lnTo>
                  <a:lnTo>
                    <a:pt x="13" y="49"/>
                  </a:lnTo>
                  <a:lnTo>
                    <a:pt x="10" y="46"/>
                  </a:lnTo>
                  <a:lnTo>
                    <a:pt x="7" y="41"/>
                  </a:lnTo>
                  <a:lnTo>
                    <a:pt x="5" y="36"/>
                  </a:lnTo>
                  <a:lnTo>
                    <a:pt x="5" y="31"/>
                  </a:lnTo>
                  <a:lnTo>
                    <a:pt x="5" y="26"/>
                  </a:lnTo>
                  <a:lnTo>
                    <a:pt x="7" y="21"/>
                  </a:lnTo>
                  <a:lnTo>
                    <a:pt x="10" y="16"/>
                  </a:lnTo>
                  <a:lnTo>
                    <a:pt x="13" y="13"/>
                  </a:lnTo>
                  <a:lnTo>
                    <a:pt x="17" y="10"/>
                  </a:lnTo>
                  <a:lnTo>
                    <a:pt x="21" y="6"/>
                  </a:lnTo>
                  <a:lnTo>
                    <a:pt x="26" y="5"/>
                  </a:lnTo>
                  <a:lnTo>
                    <a:pt x="31" y="5"/>
                  </a:lnTo>
                  <a:lnTo>
                    <a:pt x="36" y="5"/>
                  </a:lnTo>
                  <a:lnTo>
                    <a:pt x="41" y="6"/>
                  </a:lnTo>
                  <a:lnTo>
                    <a:pt x="46" y="10"/>
                  </a:lnTo>
                  <a:lnTo>
                    <a:pt x="50" y="13"/>
                  </a:lnTo>
                  <a:lnTo>
                    <a:pt x="53" y="16"/>
                  </a:lnTo>
                  <a:lnTo>
                    <a:pt x="55" y="21"/>
                  </a:lnTo>
                  <a:lnTo>
                    <a:pt x="56" y="26"/>
                  </a:lnTo>
                  <a:lnTo>
                    <a:pt x="58" y="31"/>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29" name="Freeform 270">
              <a:extLst>
                <a:ext uri="{FF2B5EF4-FFF2-40B4-BE49-F238E27FC236}">
                  <a16:creationId xmlns:a16="http://schemas.microsoft.com/office/drawing/2014/main" id="{6C55C680-055E-06C6-BF58-C1B6BFBFCF64}"/>
                </a:ext>
              </a:extLst>
            </p:cNvPr>
            <p:cNvSpPr>
              <a:spLocks noEditPoints="1"/>
            </p:cNvSpPr>
            <p:nvPr/>
          </p:nvSpPr>
          <p:spPr bwMode="auto">
            <a:xfrm>
              <a:off x="1807" y="1585"/>
              <a:ext cx="58" cy="56"/>
            </a:xfrm>
            <a:custGeom>
              <a:avLst/>
              <a:gdLst>
                <a:gd name="T0" fmla="*/ 58 w 58"/>
                <a:gd name="T1" fmla="*/ 22 h 56"/>
                <a:gd name="T2" fmla="*/ 53 w 58"/>
                <a:gd name="T3" fmla="*/ 12 h 56"/>
                <a:gd name="T4" fmla="*/ 46 w 58"/>
                <a:gd name="T5" fmla="*/ 5 h 56"/>
                <a:gd name="T6" fmla="*/ 34 w 58"/>
                <a:gd name="T7" fmla="*/ 0 h 56"/>
                <a:gd name="T8" fmla="*/ 23 w 58"/>
                <a:gd name="T9" fmla="*/ 0 h 56"/>
                <a:gd name="T10" fmla="*/ 13 w 58"/>
                <a:gd name="T11" fmla="*/ 5 h 56"/>
                <a:gd name="T12" fmla="*/ 5 w 58"/>
                <a:gd name="T13" fmla="*/ 12 h 56"/>
                <a:gd name="T14" fmla="*/ 1 w 58"/>
                <a:gd name="T15" fmla="*/ 22 h 56"/>
                <a:gd name="T16" fmla="*/ 1 w 58"/>
                <a:gd name="T17" fmla="*/ 33 h 56"/>
                <a:gd name="T18" fmla="*/ 5 w 58"/>
                <a:gd name="T19" fmla="*/ 45 h 56"/>
                <a:gd name="T20" fmla="*/ 13 w 58"/>
                <a:gd name="T21" fmla="*/ 51 h 56"/>
                <a:gd name="T22" fmla="*/ 23 w 58"/>
                <a:gd name="T23" fmla="*/ 56 h 56"/>
                <a:gd name="T24" fmla="*/ 34 w 58"/>
                <a:gd name="T25" fmla="*/ 56 h 56"/>
                <a:gd name="T26" fmla="*/ 46 w 58"/>
                <a:gd name="T27" fmla="*/ 51 h 56"/>
                <a:gd name="T28" fmla="*/ 53 w 58"/>
                <a:gd name="T29" fmla="*/ 45 h 56"/>
                <a:gd name="T30" fmla="*/ 58 w 58"/>
                <a:gd name="T31" fmla="*/ 33 h 56"/>
                <a:gd name="T32" fmla="*/ 53 w 58"/>
                <a:gd name="T33" fmla="*/ 28 h 56"/>
                <a:gd name="T34" fmla="*/ 51 w 58"/>
                <a:gd name="T35" fmla="*/ 38 h 56"/>
                <a:gd name="T36" fmla="*/ 46 w 58"/>
                <a:gd name="T37" fmla="*/ 45 h 56"/>
                <a:gd name="T38" fmla="*/ 38 w 58"/>
                <a:gd name="T39" fmla="*/ 50 h 56"/>
                <a:gd name="T40" fmla="*/ 29 w 58"/>
                <a:gd name="T41" fmla="*/ 51 h 56"/>
                <a:gd name="T42" fmla="*/ 19 w 58"/>
                <a:gd name="T43" fmla="*/ 50 h 56"/>
                <a:gd name="T44" fmla="*/ 13 w 58"/>
                <a:gd name="T45" fmla="*/ 45 h 56"/>
                <a:gd name="T46" fmla="*/ 8 w 58"/>
                <a:gd name="T47" fmla="*/ 38 h 56"/>
                <a:gd name="T48" fmla="*/ 5 w 58"/>
                <a:gd name="T49" fmla="*/ 28 h 56"/>
                <a:gd name="T50" fmla="*/ 8 w 58"/>
                <a:gd name="T51" fmla="*/ 18 h 56"/>
                <a:gd name="T52" fmla="*/ 13 w 58"/>
                <a:gd name="T53" fmla="*/ 12 h 56"/>
                <a:gd name="T54" fmla="*/ 19 w 58"/>
                <a:gd name="T55" fmla="*/ 7 h 56"/>
                <a:gd name="T56" fmla="*/ 29 w 58"/>
                <a:gd name="T57" fmla="*/ 3 h 56"/>
                <a:gd name="T58" fmla="*/ 38 w 58"/>
                <a:gd name="T59" fmla="*/ 7 h 56"/>
                <a:gd name="T60" fmla="*/ 46 w 58"/>
                <a:gd name="T61" fmla="*/ 12 h 56"/>
                <a:gd name="T62" fmla="*/ 51 w 58"/>
                <a:gd name="T63" fmla="*/ 18 h 56"/>
                <a:gd name="T64" fmla="*/ 53 w 58"/>
                <a:gd name="T65" fmla="*/ 28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8" h="56">
                  <a:moveTo>
                    <a:pt x="58" y="28"/>
                  </a:moveTo>
                  <a:lnTo>
                    <a:pt x="58" y="22"/>
                  </a:lnTo>
                  <a:lnTo>
                    <a:pt x="56" y="17"/>
                  </a:lnTo>
                  <a:lnTo>
                    <a:pt x="53" y="12"/>
                  </a:lnTo>
                  <a:lnTo>
                    <a:pt x="49" y="8"/>
                  </a:lnTo>
                  <a:lnTo>
                    <a:pt x="46" y="5"/>
                  </a:lnTo>
                  <a:lnTo>
                    <a:pt x="41" y="2"/>
                  </a:lnTo>
                  <a:lnTo>
                    <a:pt x="34" y="0"/>
                  </a:lnTo>
                  <a:lnTo>
                    <a:pt x="29" y="0"/>
                  </a:lnTo>
                  <a:lnTo>
                    <a:pt x="23" y="0"/>
                  </a:lnTo>
                  <a:lnTo>
                    <a:pt x="18" y="2"/>
                  </a:lnTo>
                  <a:lnTo>
                    <a:pt x="13" y="5"/>
                  </a:lnTo>
                  <a:lnTo>
                    <a:pt x="10" y="8"/>
                  </a:lnTo>
                  <a:lnTo>
                    <a:pt x="5" y="12"/>
                  </a:lnTo>
                  <a:lnTo>
                    <a:pt x="3" y="17"/>
                  </a:lnTo>
                  <a:lnTo>
                    <a:pt x="1" y="22"/>
                  </a:lnTo>
                  <a:lnTo>
                    <a:pt x="0" y="28"/>
                  </a:lnTo>
                  <a:lnTo>
                    <a:pt x="1" y="33"/>
                  </a:lnTo>
                  <a:lnTo>
                    <a:pt x="3" y="40"/>
                  </a:lnTo>
                  <a:lnTo>
                    <a:pt x="5" y="45"/>
                  </a:lnTo>
                  <a:lnTo>
                    <a:pt x="10" y="48"/>
                  </a:lnTo>
                  <a:lnTo>
                    <a:pt x="13" y="51"/>
                  </a:lnTo>
                  <a:lnTo>
                    <a:pt x="18" y="55"/>
                  </a:lnTo>
                  <a:lnTo>
                    <a:pt x="23" y="56"/>
                  </a:lnTo>
                  <a:lnTo>
                    <a:pt x="29" y="56"/>
                  </a:lnTo>
                  <a:lnTo>
                    <a:pt x="34" y="56"/>
                  </a:lnTo>
                  <a:lnTo>
                    <a:pt x="41" y="55"/>
                  </a:lnTo>
                  <a:lnTo>
                    <a:pt x="46" y="51"/>
                  </a:lnTo>
                  <a:lnTo>
                    <a:pt x="49" y="48"/>
                  </a:lnTo>
                  <a:lnTo>
                    <a:pt x="53" y="45"/>
                  </a:lnTo>
                  <a:lnTo>
                    <a:pt x="56" y="40"/>
                  </a:lnTo>
                  <a:lnTo>
                    <a:pt x="58" y="33"/>
                  </a:lnTo>
                  <a:lnTo>
                    <a:pt x="58" y="28"/>
                  </a:lnTo>
                  <a:close/>
                  <a:moveTo>
                    <a:pt x="53" y="28"/>
                  </a:moveTo>
                  <a:lnTo>
                    <a:pt x="53" y="33"/>
                  </a:lnTo>
                  <a:lnTo>
                    <a:pt x="51" y="38"/>
                  </a:lnTo>
                  <a:lnTo>
                    <a:pt x="49" y="41"/>
                  </a:lnTo>
                  <a:lnTo>
                    <a:pt x="46" y="45"/>
                  </a:lnTo>
                  <a:lnTo>
                    <a:pt x="43" y="48"/>
                  </a:lnTo>
                  <a:lnTo>
                    <a:pt x="38" y="50"/>
                  </a:lnTo>
                  <a:lnTo>
                    <a:pt x="34" y="51"/>
                  </a:lnTo>
                  <a:lnTo>
                    <a:pt x="29" y="51"/>
                  </a:lnTo>
                  <a:lnTo>
                    <a:pt x="24" y="51"/>
                  </a:lnTo>
                  <a:lnTo>
                    <a:pt x="19" y="50"/>
                  </a:lnTo>
                  <a:lnTo>
                    <a:pt x="16" y="48"/>
                  </a:lnTo>
                  <a:lnTo>
                    <a:pt x="13" y="45"/>
                  </a:lnTo>
                  <a:lnTo>
                    <a:pt x="10" y="41"/>
                  </a:lnTo>
                  <a:lnTo>
                    <a:pt x="8" y="38"/>
                  </a:lnTo>
                  <a:lnTo>
                    <a:pt x="6" y="33"/>
                  </a:lnTo>
                  <a:lnTo>
                    <a:pt x="5" y="28"/>
                  </a:lnTo>
                  <a:lnTo>
                    <a:pt x="6" y="23"/>
                  </a:lnTo>
                  <a:lnTo>
                    <a:pt x="8" y="18"/>
                  </a:lnTo>
                  <a:lnTo>
                    <a:pt x="10" y="15"/>
                  </a:lnTo>
                  <a:lnTo>
                    <a:pt x="13" y="12"/>
                  </a:lnTo>
                  <a:lnTo>
                    <a:pt x="16" y="8"/>
                  </a:lnTo>
                  <a:lnTo>
                    <a:pt x="19" y="7"/>
                  </a:lnTo>
                  <a:lnTo>
                    <a:pt x="24" y="5"/>
                  </a:lnTo>
                  <a:lnTo>
                    <a:pt x="29" y="3"/>
                  </a:lnTo>
                  <a:lnTo>
                    <a:pt x="34" y="5"/>
                  </a:lnTo>
                  <a:lnTo>
                    <a:pt x="38" y="7"/>
                  </a:lnTo>
                  <a:lnTo>
                    <a:pt x="43" y="8"/>
                  </a:lnTo>
                  <a:lnTo>
                    <a:pt x="46" y="12"/>
                  </a:lnTo>
                  <a:lnTo>
                    <a:pt x="49" y="15"/>
                  </a:lnTo>
                  <a:lnTo>
                    <a:pt x="51" y="18"/>
                  </a:lnTo>
                  <a:lnTo>
                    <a:pt x="53" y="23"/>
                  </a:lnTo>
                  <a:lnTo>
                    <a:pt x="53" y="28"/>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30" name="Freeform 271">
              <a:extLst>
                <a:ext uri="{FF2B5EF4-FFF2-40B4-BE49-F238E27FC236}">
                  <a16:creationId xmlns:a16="http://schemas.microsoft.com/office/drawing/2014/main" id="{A9957407-192C-66CF-1A16-2B1286EBEB9A}"/>
                </a:ext>
              </a:extLst>
            </p:cNvPr>
            <p:cNvSpPr>
              <a:spLocks noEditPoints="1"/>
            </p:cNvSpPr>
            <p:nvPr/>
          </p:nvSpPr>
          <p:spPr bwMode="auto">
            <a:xfrm>
              <a:off x="1810" y="1587"/>
              <a:ext cx="53" cy="53"/>
            </a:xfrm>
            <a:custGeom>
              <a:avLst/>
              <a:gdLst>
                <a:gd name="T0" fmla="*/ 51 w 53"/>
                <a:gd name="T1" fmla="*/ 21 h 53"/>
                <a:gd name="T2" fmla="*/ 48 w 53"/>
                <a:gd name="T3" fmla="*/ 11 h 53"/>
                <a:gd name="T4" fmla="*/ 41 w 53"/>
                <a:gd name="T5" fmla="*/ 5 h 53"/>
                <a:gd name="T6" fmla="*/ 31 w 53"/>
                <a:gd name="T7" fmla="*/ 0 h 53"/>
                <a:gd name="T8" fmla="*/ 21 w 53"/>
                <a:gd name="T9" fmla="*/ 0 h 53"/>
                <a:gd name="T10" fmla="*/ 12 w 53"/>
                <a:gd name="T11" fmla="*/ 5 h 53"/>
                <a:gd name="T12" fmla="*/ 5 w 53"/>
                <a:gd name="T13" fmla="*/ 11 h 53"/>
                <a:gd name="T14" fmla="*/ 0 w 53"/>
                <a:gd name="T15" fmla="*/ 21 h 53"/>
                <a:gd name="T16" fmla="*/ 0 w 53"/>
                <a:gd name="T17" fmla="*/ 31 h 53"/>
                <a:gd name="T18" fmla="*/ 5 w 53"/>
                <a:gd name="T19" fmla="*/ 41 h 53"/>
                <a:gd name="T20" fmla="*/ 12 w 53"/>
                <a:gd name="T21" fmla="*/ 48 h 53"/>
                <a:gd name="T22" fmla="*/ 21 w 53"/>
                <a:gd name="T23" fmla="*/ 51 h 53"/>
                <a:gd name="T24" fmla="*/ 31 w 53"/>
                <a:gd name="T25" fmla="*/ 51 h 53"/>
                <a:gd name="T26" fmla="*/ 41 w 53"/>
                <a:gd name="T27" fmla="*/ 48 h 53"/>
                <a:gd name="T28" fmla="*/ 48 w 53"/>
                <a:gd name="T29" fmla="*/ 41 h 53"/>
                <a:gd name="T30" fmla="*/ 51 w 53"/>
                <a:gd name="T31" fmla="*/ 31 h 53"/>
                <a:gd name="T32" fmla="*/ 48 w 53"/>
                <a:gd name="T33" fmla="*/ 26 h 53"/>
                <a:gd name="T34" fmla="*/ 46 w 53"/>
                <a:gd name="T35" fmla="*/ 34 h 53"/>
                <a:gd name="T36" fmla="*/ 41 w 53"/>
                <a:gd name="T37" fmla="*/ 41 h 53"/>
                <a:gd name="T38" fmla="*/ 35 w 53"/>
                <a:gd name="T39" fmla="*/ 46 h 53"/>
                <a:gd name="T40" fmla="*/ 26 w 53"/>
                <a:gd name="T41" fmla="*/ 48 h 53"/>
                <a:gd name="T42" fmla="*/ 18 w 53"/>
                <a:gd name="T43" fmla="*/ 46 h 53"/>
                <a:gd name="T44" fmla="*/ 12 w 53"/>
                <a:gd name="T45" fmla="*/ 41 h 53"/>
                <a:gd name="T46" fmla="*/ 7 w 53"/>
                <a:gd name="T47" fmla="*/ 34 h 53"/>
                <a:gd name="T48" fmla="*/ 5 w 53"/>
                <a:gd name="T49" fmla="*/ 26 h 53"/>
                <a:gd name="T50" fmla="*/ 7 w 53"/>
                <a:gd name="T51" fmla="*/ 18 h 53"/>
                <a:gd name="T52" fmla="*/ 12 w 53"/>
                <a:gd name="T53" fmla="*/ 11 h 53"/>
                <a:gd name="T54" fmla="*/ 18 w 53"/>
                <a:gd name="T55" fmla="*/ 6 h 53"/>
                <a:gd name="T56" fmla="*/ 26 w 53"/>
                <a:gd name="T57" fmla="*/ 5 h 53"/>
                <a:gd name="T58" fmla="*/ 35 w 53"/>
                <a:gd name="T59" fmla="*/ 6 h 53"/>
                <a:gd name="T60" fmla="*/ 41 w 53"/>
                <a:gd name="T61" fmla="*/ 11 h 53"/>
                <a:gd name="T62" fmla="*/ 46 w 53"/>
                <a:gd name="T63" fmla="*/ 18 h 53"/>
                <a:gd name="T64" fmla="*/ 48 w 53"/>
                <a:gd name="T65" fmla="*/ 26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3" h="53">
                  <a:moveTo>
                    <a:pt x="53" y="26"/>
                  </a:moveTo>
                  <a:lnTo>
                    <a:pt x="51" y="21"/>
                  </a:lnTo>
                  <a:lnTo>
                    <a:pt x="50" y="16"/>
                  </a:lnTo>
                  <a:lnTo>
                    <a:pt x="48" y="11"/>
                  </a:lnTo>
                  <a:lnTo>
                    <a:pt x="45" y="8"/>
                  </a:lnTo>
                  <a:lnTo>
                    <a:pt x="41" y="5"/>
                  </a:lnTo>
                  <a:lnTo>
                    <a:pt x="36" y="1"/>
                  </a:lnTo>
                  <a:lnTo>
                    <a:pt x="31" y="0"/>
                  </a:lnTo>
                  <a:lnTo>
                    <a:pt x="26" y="0"/>
                  </a:lnTo>
                  <a:lnTo>
                    <a:pt x="21" y="0"/>
                  </a:lnTo>
                  <a:lnTo>
                    <a:pt x="16" y="1"/>
                  </a:lnTo>
                  <a:lnTo>
                    <a:pt x="12" y="5"/>
                  </a:lnTo>
                  <a:lnTo>
                    <a:pt x="8" y="8"/>
                  </a:lnTo>
                  <a:lnTo>
                    <a:pt x="5" y="11"/>
                  </a:lnTo>
                  <a:lnTo>
                    <a:pt x="2" y="16"/>
                  </a:lnTo>
                  <a:lnTo>
                    <a:pt x="0" y="21"/>
                  </a:lnTo>
                  <a:lnTo>
                    <a:pt x="0" y="26"/>
                  </a:lnTo>
                  <a:lnTo>
                    <a:pt x="0" y="31"/>
                  </a:lnTo>
                  <a:lnTo>
                    <a:pt x="2" y="36"/>
                  </a:lnTo>
                  <a:lnTo>
                    <a:pt x="5" y="41"/>
                  </a:lnTo>
                  <a:lnTo>
                    <a:pt x="8" y="44"/>
                  </a:lnTo>
                  <a:lnTo>
                    <a:pt x="12" y="48"/>
                  </a:lnTo>
                  <a:lnTo>
                    <a:pt x="16" y="51"/>
                  </a:lnTo>
                  <a:lnTo>
                    <a:pt x="21" y="51"/>
                  </a:lnTo>
                  <a:lnTo>
                    <a:pt x="26" y="53"/>
                  </a:lnTo>
                  <a:lnTo>
                    <a:pt x="31" y="51"/>
                  </a:lnTo>
                  <a:lnTo>
                    <a:pt x="36" y="51"/>
                  </a:lnTo>
                  <a:lnTo>
                    <a:pt x="41" y="48"/>
                  </a:lnTo>
                  <a:lnTo>
                    <a:pt x="45" y="44"/>
                  </a:lnTo>
                  <a:lnTo>
                    <a:pt x="48" y="41"/>
                  </a:lnTo>
                  <a:lnTo>
                    <a:pt x="50" y="36"/>
                  </a:lnTo>
                  <a:lnTo>
                    <a:pt x="51" y="31"/>
                  </a:lnTo>
                  <a:lnTo>
                    <a:pt x="53" y="26"/>
                  </a:lnTo>
                  <a:close/>
                  <a:moveTo>
                    <a:pt x="48" y="26"/>
                  </a:moveTo>
                  <a:lnTo>
                    <a:pt x="48" y="31"/>
                  </a:lnTo>
                  <a:lnTo>
                    <a:pt x="46" y="34"/>
                  </a:lnTo>
                  <a:lnTo>
                    <a:pt x="45" y="38"/>
                  </a:lnTo>
                  <a:lnTo>
                    <a:pt x="41" y="41"/>
                  </a:lnTo>
                  <a:lnTo>
                    <a:pt x="38" y="44"/>
                  </a:lnTo>
                  <a:lnTo>
                    <a:pt x="35" y="46"/>
                  </a:lnTo>
                  <a:lnTo>
                    <a:pt x="30" y="48"/>
                  </a:lnTo>
                  <a:lnTo>
                    <a:pt x="26" y="48"/>
                  </a:lnTo>
                  <a:lnTo>
                    <a:pt x="21" y="48"/>
                  </a:lnTo>
                  <a:lnTo>
                    <a:pt x="18" y="46"/>
                  </a:lnTo>
                  <a:lnTo>
                    <a:pt x="15" y="44"/>
                  </a:lnTo>
                  <a:lnTo>
                    <a:pt x="12" y="41"/>
                  </a:lnTo>
                  <a:lnTo>
                    <a:pt x="8" y="38"/>
                  </a:lnTo>
                  <a:lnTo>
                    <a:pt x="7" y="34"/>
                  </a:lnTo>
                  <a:lnTo>
                    <a:pt x="5" y="31"/>
                  </a:lnTo>
                  <a:lnTo>
                    <a:pt x="5" y="26"/>
                  </a:lnTo>
                  <a:lnTo>
                    <a:pt x="5" y="21"/>
                  </a:lnTo>
                  <a:lnTo>
                    <a:pt x="7" y="18"/>
                  </a:lnTo>
                  <a:lnTo>
                    <a:pt x="8" y="15"/>
                  </a:lnTo>
                  <a:lnTo>
                    <a:pt x="12" y="11"/>
                  </a:lnTo>
                  <a:lnTo>
                    <a:pt x="15" y="8"/>
                  </a:lnTo>
                  <a:lnTo>
                    <a:pt x="18" y="6"/>
                  </a:lnTo>
                  <a:lnTo>
                    <a:pt x="21" y="5"/>
                  </a:lnTo>
                  <a:lnTo>
                    <a:pt x="26" y="5"/>
                  </a:lnTo>
                  <a:lnTo>
                    <a:pt x="30" y="5"/>
                  </a:lnTo>
                  <a:lnTo>
                    <a:pt x="35" y="6"/>
                  </a:lnTo>
                  <a:lnTo>
                    <a:pt x="38" y="8"/>
                  </a:lnTo>
                  <a:lnTo>
                    <a:pt x="41" y="11"/>
                  </a:lnTo>
                  <a:lnTo>
                    <a:pt x="45" y="15"/>
                  </a:lnTo>
                  <a:lnTo>
                    <a:pt x="46" y="18"/>
                  </a:lnTo>
                  <a:lnTo>
                    <a:pt x="48" y="21"/>
                  </a:lnTo>
                  <a:lnTo>
                    <a:pt x="48" y="26"/>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31" name="Freeform 272">
              <a:extLst>
                <a:ext uri="{FF2B5EF4-FFF2-40B4-BE49-F238E27FC236}">
                  <a16:creationId xmlns:a16="http://schemas.microsoft.com/office/drawing/2014/main" id="{95CF2F16-3FAA-DEC2-DFC3-77FCA84F3FCB}"/>
                </a:ext>
              </a:extLst>
            </p:cNvPr>
            <p:cNvSpPr>
              <a:spLocks noEditPoints="1"/>
            </p:cNvSpPr>
            <p:nvPr/>
          </p:nvSpPr>
          <p:spPr bwMode="auto">
            <a:xfrm>
              <a:off x="1812" y="1588"/>
              <a:ext cx="48" cy="48"/>
            </a:xfrm>
            <a:custGeom>
              <a:avLst/>
              <a:gdLst>
                <a:gd name="T0" fmla="*/ 48 w 48"/>
                <a:gd name="T1" fmla="*/ 20 h 48"/>
                <a:gd name="T2" fmla="*/ 44 w 48"/>
                <a:gd name="T3" fmla="*/ 12 h 48"/>
                <a:gd name="T4" fmla="*/ 38 w 48"/>
                <a:gd name="T5" fmla="*/ 5 h 48"/>
                <a:gd name="T6" fmla="*/ 29 w 48"/>
                <a:gd name="T7" fmla="*/ 2 h 48"/>
                <a:gd name="T8" fmla="*/ 19 w 48"/>
                <a:gd name="T9" fmla="*/ 2 h 48"/>
                <a:gd name="T10" fmla="*/ 11 w 48"/>
                <a:gd name="T11" fmla="*/ 5 h 48"/>
                <a:gd name="T12" fmla="*/ 5 w 48"/>
                <a:gd name="T13" fmla="*/ 12 h 48"/>
                <a:gd name="T14" fmla="*/ 1 w 48"/>
                <a:gd name="T15" fmla="*/ 20 h 48"/>
                <a:gd name="T16" fmla="*/ 1 w 48"/>
                <a:gd name="T17" fmla="*/ 30 h 48"/>
                <a:gd name="T18" fmla="*/ 5 w 48"/>
                <a:gd name="T19" fmla="*/ 38 h 48"/>
                <a:gd name="T20" fmla="*/ 11 w 48"/>
                <a:gd name="T21" fmla="*/ 45 h 48"/>
                <a:gd name="T22" fmla="*/ 19 w 48"/>
                <a:gd name="T23" fmla="*/ 48 h 48"/>
                <a:gd name="T24" fmla="*/ 29 w 48"/>
                <a:gd name="T25" fmla="*/ 48 h 48"/>
                <a:gd name="T26" fmla="*/ 38 w 48"/>
                <a:gd name="T27" fmla="*/ 45 h 48"/>
                <a:gd name="T28" fmla="*/ 44 w 48"/>
                <a:gd name="T29" fmla="*/ 38 h 48"/>
                <a:gd name="T30" fmla="*/ 48 w 48"/>
                <a:gd name="T31" fmla="*/ 30 h 48"/>
                <a:gd name="T32" fmla="*/ 43 w 48"/>
                <a:gd name="T33" fmla="*/ 25 h 48"/>
                <a:gd name="T34" fmla="*/ 43 w 48"/>
                <a:gd name="T35" fmla="*/ 32 h 48"/>
                <a:gd name="T36" fmla="*/ 38 w 48"/>
                <a:gd name="T37" fmla="*/ 38 h 48"/>
                <a:gd name="T38" fmla="*/ 31 w 48"/>
                <a:gd name="T39" fmla="*/ 43 h 48"/>
                <a:gd name="T40" fmla="*/ 24 w 48"/>
                <a:gd name="T41" fmla="*/ 43 h 48"/>
                <a:gd name="T42" fmla="*/ 16 w 48"/>
                <a:gd name="T43" fmla="*/ 43 h 48"/>
                <a:gd name="T44" fmla="*/ 11 w 48"/>
                <a:gd name="T45" fmla="*/ 38 h 48"/>
                <a:gd name="T46" fmla="*/ 6 w 48"/>
                <a:gd name="T47" fmla="*/ 32 h 48"/>
                <a:gd name="T48" fmla="*/ 5 w 48"/>
                <a:gd name="T49" fmla="*/ 25 h 48"/>
                <a:gd name="T50" fmla="*/ 6 w 48"/>
                <a:gd name="T51" fmla="*/ 17 h 48"/>
                <a:gd name="T52" fmla="*/ 11 w 48"/>
                <a:gd name="T53" fmla="*/ 12 h 48"/>
                <a:gd name="T54" fmla="*/ 16 w 48"/>
                <a:gd name="T55" fmla="*/ 7 h 48"/>
                <a:gd name="T56" fmla="*/ 24 w 48"/>
                <a:gd name="T57" fmla="*/ 5 h 48"/>
                <a:gd name="T58" fmla="*/ 31 w 48"/>
                <a:gd name="T59" fmla="*/ 7 h 48"/>
                <a:gd name="T60" fmla="*/ 38 w 48"/>
                <a:gd name="T61" fmla="*/ 12 h 48"/>
                <a:gd name="T62" fmla="*/ 43 w 48"/>
                <a:gd name="T63" fmla="*/ 17 h 48"/>
                <a:gd name="T64" fmla="*/ 43 w 48"/>
                <a:gd name="T65" fmla="*/ 25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8" h="48">
                  <a:moveTo>
                    <a:pt x="48" y="25"/>
                  </a:moveTo>
                  <a:lnTo>
                    <a:pt x="48" y="20"/>
                  </a:lnTo>
                  <a:lnTo>
                    <a:pt x="46" y="15"/>
                  </a:lnTo>
                  <a:lnTo>
                    <a:pt x="44" y="12"/>
                  </a:lnTo>
                  <a:lnTo>
                    <a:pt x="41" y="9"/>
                  </a:lnTo>
                  <a:lnTo>
                    <a:pt x="38" y="5"/>
                  </a:lnTo>
                  <a:lnTo>
                    <a:pt x="33" y="4"/>
                  </a:lnTo>
                  <a:lnTo>
                    <a:pt x="29" y="2"/>
                  </a:lnTo>
                  <a:lnTo>
                    <a:pt x="24" y="0"/>
                  </a:lnTo>
                  <a:lnTo>
                    <a:pt x="19" y="2"/>
                  </a:lnTo>
                  <a:lnTo>
                    <a:pt x="14" y="4"/>
                  </a:lnTo>
                  <a:lnTo>
                    <a:pt x="11" y="5"/>
                  </a:lnTo>
                  <a:lnTo>
                    <a:pt x="8" y="9"/>
                  </a:lnTo>
                  <a:lnTo>
                    <a:pt x="5" y="12"/>
                  </a:lnTo>
                  <a:lnTo>
                    <a:pt x="3" y="15"/>
                  </a:lnTo>
                  <a:lnTo>
                    <a:pt x="1" y="20"/>
                  </a:lnTo>
                  <a:lnTo>
                    <a:pt x="0" y="25"/>
                  </a:lnTo>
                  <a:lnTo>
                    <a:pt x="1" y="30"/>
                  </a:lnTo>
                  <a:lnTo>
                    <a:pt x="3" y="35"/>
                  </a:lnTo>
                  <a:lnTo>
                    <a:pt x="5" y="38"/>
                  </a:lnTo>
                  <a:lnTo>
                    <a:pt x="8" y="42"/>
                  </a:lnTo>
                  <a:lnTo>
                    <a:pt x="11" y="45"/>
                  </a:lnTo>
                  <a:lnTo>
                    <a:pt x="14" y="47"/>
                  </a:lnTo>
                  <a:lnTo>
                    <a:pt x="19" y="48"/>
                  </a:lnTo>
                  <a:lnTo>
                    <a:pt x="24" y="48"/>
                  </a:lnTo>
                  <a:lnTo>
                    <a:pt x="29" y="48"/>
                  </a:lnTo>
                  <a:lnTo>
                    <a:pt x="33" y="47"/>
                  </a:lnTo>
                  <a:lnTo>
                    <a:pt x="38" y="45"/>
                  </a:lnTo>
                  <a:lnTo>
                    <a:pt x="41" y="42"/>
                  </a:lnTo>
                  <a:lnTo>
                    <a:pt x="44" y="38"/>
                  </a:lnTo>
                  <a:lnTo>
                    <a:pt x="46" y="35"/>
                  </a:lnTo>
                  <a:lnTo>
                    <a:pt x="48" y="30"/>
                  </a:lnTo>
                  <a:lnTo>
                    <a:pt x="48" y="25"/>
                  </a:lnTo>
                  <a:close/>
                  <a:moveTo>
                    <a:pt x="43" y="25"/>
                  </a:moveTo>
                  <a:lnTo>
                    <a:pt x="43" y="28"/>
                  </a:lnTo>
                  <a:lnTo>
                    <a:pt x="43" y="32"/>
                  </a:lnTo>
                  <a:lnTo>
                    <a:pt x="39" y="35"/>
                  </a:lnTo>
                  <a:lnTo>
                    <a:pt x="38" y="38"/>
                  </a:lnTo>
                  <a:lnTo>
                    <a:pt x="34" y="40"/>
                  </a:lnTo>
                  <a:lnTo>
                    <a:pt x="31" y="43"/>
                  </a:lnTo>
                  <a:lnTo>
                    <a:pt x="28" y="43"/>
                  </a:lnTo>
                  <a:lnTo>
                    <a:pt x="24" y="43"/>
                  </a:lnTo>
                  <a:lnTo>
                    <a:pt x="21" y="43"/>
                  </a:lnTo>
                  <a:lnTo>
                    <a:pt x="16" y="43"/>
                  </a:lnTo>
                  <a:lnTo>
                    <a:pt x="13" y="40"/>
                  </a:lnTo>
                  <a:lnTo>
                    <a:pt x="11" y="38"/>
                  </a:lnTo>
                  <a:lnTo>
                    <a:pt x="8" y="35"/>
                  </a:lnTo>
                  <a:lnTo>
                    <a:pt x="6" y="32"/>
                  </a:lnTo>
                  <a:lnTo>
                    <a:pt x="6" y="28"/>
                  </a:lnTo>
                  <a:lnTo>
                    <a:pt x="5" y="25"/>
                  </a:lnTo>
                  <a:lnTo>
                    <a:pt x="6" y="22"/>
                  </a:lnTo>
                  <a:lnTo>
                    <a:pt x="6" y="17"/>
                  </a:lnTo>
                  <a:lnTo>
                    <a:pt x="8" y="14"/>
                  </a:lnTo>
                  <a:lnTo>
                    <a:pt x="11" y="12"/>
                  </a:lnTo>
                  <a:lnTo>
                    <a:pt x="13" y="9"/>
                  </a:lnTo>
                  <a:lnTo>
                    <a:pt x="16" y="7"/>
                  </a:lnTo>
                  <a:lnTo>
                    <a:pt x="21" y="7"/>
                  </a:lnTo>
                  <a:lnTo>
                    <a:pt x="24" y="5"/>
                  </a:lnTo>
                  <a:lnTo>
                    <a:pt x="28" y="7"/>
                  </a:lnTo>
                  <a:lnTo>
                    <a:pt x="31" y="7"/>
                  </a:lnTo>
                  <a:lnTo>
                    <a:pt x="34" y="9"/>
                  </a:lnTo>
                  <a:lnTo>
                    <a:pt x="38" y="12"/>
                  </a:lnTo>
                  <a:lnTo>
                    <a:pt x="39" y="14"/>
                  </a:lnTo>
                  <a:lnTo>
                    <a:pt x="43" y="17"/>
                  </a:lnTo>
                  <a:lnTo>
                    <a:pt x="43" y="22"/>
                  </a:lnTo>
                  <a:lnTo>
                    <a:pt x="43" y="25"/>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32" name="Freeform 273">
              <a:extLst>
                <a:ext uri="{FF2B5EF4-FFF2-40B4-BE49-F238E27FC236}">
                  <a16:creationId xmlns:a16="http://schemas.microsoft.com/office/drawing/2014/main" id="{240641E8-6834-64F2-C13F-B92D1BE5451F}"/>
                </a:ext>
              </a:extLst>
            </p:cNvPr>
            <p:cNvSpPr>
              <a:spLocks noEditPoints="1"/>
            </p:cNvSpPr>
            <p:nvPr/>
          </p:nvSpPr>
          <p:spPr bwMode="auto">
            <a:xfrm>
              <a:off x="1815" y="1592"/>
              <a:ext cx="43" cy="43"/>
            </a:xfrm>
            <a:custGeom>
              <a:avLst/>
              <a:gdLst>
                <a:gd name="T0" fmla="*/ 43 w 43"/>
                <a:gd name="T1" fmla="*/ 16 h 43"/>
                <a:gd name="T2" fmla="*/ 40 w 43"/>
                <a:gd name="T3" fmla="*/ 10 h 43"/>
                <a:gd name="T4" fmla="*/ 33 w 43"/>
                <a:gd name="T5" fmla="*/ 3 h 43"/>
                <a:gd name="T6" fmla="*/ 25 w 43"/>
                <a:gd name="T7" fmla="*/ 0 h 43"/>
                <a:gd name="T8" fmla="*/ 16 w 43"/>
                <a:gd name="T9" fmla="*/ 0 h 43"/>
                <a:gd name="T10" fmla="*/ 10 w 43"/>
                <a:gd name="T11" fmla="*/ 3 h 43"/>
                <a:gd name="T12" fmla="*/ 3 w 43"/>
                <a:gd name="T13" fmla="*/ 10 h 43"/>
                <a:gd name="T14" fmla="*/ 0 w 43"/>
                <a:gd name="T15" fmla="*/ 16 h 43"/>
                <a:gd name="T16" fmla="*/ 0 w 43"/>
                <a:gd name="T17" fmla="*/ 26 h 43"/>
                <a:gd name="T18" fmla="*/ 3 w 43"/>
                <a:gd name="T19" fmla="*/ 33 h 43"/>
                <a:gd name="T20" fmla="*/ 10 w 43"/>
                <a:gd name="T21" fmla="*/ 39 h 43"/>
                <a:gd name="T22" fmla="*/ 16 w 43"/>
                <a:gd name="T23" fmla="*/ 43 h 43"/>
                <a:gd name="T24" fmla="*/ 25 w 43"/>
                <a:gd name="T25" fmla="*/ 43 h 43"/>
                <a:gd name="T26" fmla="*/ 33 w 43"/>
                <a:gd name="T27" fmla="*/ 39 h 43"/>
                <a:gd name="T28" fmla="*/ 40 w 43"/>
                <a:gd name="T29" fmla="*/ 33 h 43"/>
                <a:gd name="T30" fmla="*/ 43 w 43"/>
                <a:gd name="T31" fmla="*/ 26 h 43"/>
                <a:gd name="T32" fmla="*/ 38 w 43"/>
                <a:gd name="T33" fmla="*/ 21 h 43"/>
                <a:gd name="T34" fmla="*/ 36 w 43"/>
                <a:gd name="T35" fmla="*/ 28 h 43"/>
                <a:gd name="T36" fmla="*/ 33 w 43"/>
                <a:gd name="T37" fmla="*/ 33 h 43"/>
                <a:gd name="T38" fmla="*/ 28 w 43"/>
                <a:gd name="T39" fmla="*/ 36 h 43"/>
                <a:gd name="T40" fmla="*/ 21 w 43"/>
                <a:gd name="T41" fmla="*/ 38 h 43"/>
                <a:gd name="T42" fmla="*/ 15 w 43"/>
                <a:gd name="T43" fmla="*/ 36 h 43"/>
                <a:gd name="T44" fmla="*/ 10 w 43"/>
                <a:gd name="T45" fmla="*/ 33 h 43"/>
                <a:gd name="T46" fmla="*/ 7 w 43"/>
                <a:gd name="T47" fmla="*/ 28 h 43"/>
                <a:gd name="T48" fmla="*/ 5 w 43"/>
                <a:gd name="T49" fmla="*/ 21 h 43"/>
                <a:gd name="T50" fmla="*/ 7 w 43"/>
                <a:gd name="T51" fmla="*/ 15 h 43"/>
                <a:gd name="T52" fmla="*/ 10 w 43"/>
                <a:gd name="T53" fmla="*/ 10 h 43"/>
                <a:gd name="T54" fmla="*/ 15 w 43"/>
                <a:gd name="T55" fmla="*/ 6 h 43"/>
                <a:gd name="T56" fmla="*/ 21 w 43"/>
                <a:gd name="T57" fmla="*/ 5 h 43"/>
                <a:gd name="T58" fmla="*/ 28 w 43"/>
                <a:gd name="T59" fmla="*/ 6 h 43"/>
                <a:gd name="T60" fmla="*/ 33 w 43"/>
                <a:gd name="T61" fmla="*/ 10 h 43"/>
                <a:gd name="T62" fmla="*/ 36 w 43"/>
                <a:gd name="T63" fmla="*/ 15 h 43"/>
                <a:gd name="T64" fmla="*/ 38 w 43"/>
                <a:gd name="T65" fmla="*/ 21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3" h="43">
                  <a:moveTo>
                    <a:pt x="43" y="21"/>
                  </a:moveTo>
                  <a:lnTo>
                    <a:pt x="43" y="16"/>
                  </a:lnTo>
                  <a:lnTo>
                    <a:pt x="41" y="13"/>
                  </a:lnTo>
                  <a:lnTo>
                    <a:pt x="40" y="10"/>
                  </a:lnTo>
                  <a:lnTo>
                    <a:pt x="36" y="6"/>
                  </a:lnTo>
                  <a:lnTo>
                    <a:pt x="33" y="3"/>
                  </a:lnTo>
                  <a:lnTo>
                    <a:pt x="30" y="1"/>
                  </a:lnTo>
                  <a:lnTo>
                    <a:pt x="25" y="0"/>
                  </a:lnTo>
                  <a:lnTo>
                    <a:pt x="21" y="0"/>
                  </a:lnTo>
                  <a:lnTo>
                    <a:pt x="16" y="0"/>
                  </a:lnTo>
                  <a:lnTo>
                    <a:pt x="13" y="1"/>
                  </a:lnTo>
                  <a:lnTo>
                    <a:pt x="10" y="3"/>
                  </a:lnTo>
                  <a:lnTo>
                    <a:pt x="7" y="6"/>
                  </a:lnTo>
                  <a:lnTo>
                    <a:pt x="3" y="10"/>
                  </a:lnTo>
                  <a:lnTo>
                    <a:pt x="2" y="13"/>
                  </a:lnTo>
                  <a:lnTo>
                    <a:pt x="0" y="16"/>
                  </a:lnTo>
                  <a:lnTo>
                    <a:pt x="0" y="21"/>
                  </a:lnTo>
                  <a:lnTo>
                    <a:pt x="0" y="26"/>
                  </a:lnTo>
                  <a:lnTo>
                    <a:pt x="2" y="29"/>
                  </a:lnTo>
                  <a:lnTo>
                    <a:pt x="3" y="33"/>
                  </a:lnTo>
                  <a:lnTo>
                    <a:pt x="7" y="36"/>
                  </a:lnTo>
                  <a:lnTo>
                    <a:pt x="10" y="39"/>
                  </a:lnTo>
                  <a:lnTo>
                    <a:pt x="13" y="41"/>
                  </a:lnTo>
                  <a:lnTo>
                    <a:pt x="16" y="43"/>
                  </a:lnTo>
                  <a:lnTo>
                    <a:pt x="21" y="43"/>
                  </a:lnTo>
                  <a:lnTo>
                    <a:pt x="25" y="43"/>
                  </a:lnTo>
                  <a:lnTo>
                    <a:pt x="30" y="41"/>
                  </a:lnTo>
                  <a:lnTo>
                    <a:pt x="33" y="39"/>
                  </a:lnTo>
                  <a:lnTo>
                    <a:pt x="36" y="36"/>
                  </a:lnTo>
                  <a:lnTo>
                    <a:pt x="40" y="33"/>
                  </a:lnTo>
                  <a:lnTo>
                    <a:pt x="41" y="29"/>
                  </a:lnTo>
                  <a:lnTo>
                    <a:pt x="43" y="26"/>
                  </a:lnTo>
                  <a:lnTo>
                    <a:pt x="43" y="21"/>
                  </a:lnTo>
                  <a:close/>
                  <a:moveTo>
                    <a:pt x="38" y="21"/>
                  </a:moveTo>
                  <a:lnTo>
                    <a:pt x="38" y="24"/>
                  </a:lnTo>
                  <a:lnTo>
                    <a:pt x="36" y="28"/>
                  </a:lnTo>
                  <a:lnTo>
                    <a:pt x="35" y="31"/>
                  </a:lnTo>
                  <a:lnTo>
                    <a:pt x="33" y="33"/>
                  </a:lnTo>
                  <a:lnTo>
                    <a:pt x="31" y="34"/>
                  </a:lnTo>
                  <a:lnTo>
                    <a:pt x="28" y="36"/>
                  </a:lnTo>
                  <a:lnTo>
                    <a:pt x="25" y="38"/>
                  </a:lnTo>
                  <a:lnTo>
                    <a:pt x="21" y="38"/>
                  </a:lnTo>
                  <a:lnTo>
                    <a:pt x="18" y="38"/>
                  </a:lnTo>
                  <a:lnTo>
                    <a:pt x="15" y="36"/>
                  </a:lnTo>
                  <a:lnTo>
                    <a:pt x="11" y="34"/>
                  </a:lnTo>
                  <a:lnTo>
                    <a:pt x="10" y="33"/>
                  </a:lnTo>
                  <a:lnTo>
                    <a:pt x="7" y="31"/>
                  </a:lnTo>
                  <a:lnTo>
                    <a:pt x="7" y="28"/>
                  </a:lnTo>
                  <a:lnTo>
                    <a:pt x="5" y="24"/>
                  </a:lnTo>
                  <a:lnTo>
                    <a:pt x="5" y="21"/>
                  </a:lnTo>
                  <a:lnTo>
                    <a:pt x="5" y="18"/>
                  </a:lnTo>
                  <a:lnTo>
                    <a:pt x="7" y="15"/>
                  </a:lnTo>
                  <a:lnTo>
                    <a:pt x="7" y="11"/>
                  </a:lnTo>
                  <a:lnTo>
                    <a:pt x="10" y="10"/>
                  </a:lnTo>
                  <a:lnTo>
                    <a:pt x="11" y="6"/>
                  </a:lnTo>
                  <a:lnTo>
                    <a:pt x="15" y="6"/>
                  </a:lnTo>
                  <a:lnTo>
                    <a:pt x="18" y="5"/>
                  </a:lnTo>
                  <a:lnTo>
                    <a:pt x="21" y="5"/>
                  </a:lnTo>
                  <a:lnTo>
                    <a:pt x="25" y="5"/>
                  </a:lnTo>
                  <a:lnTo>
                    <a:pt x="28" y="6"/>
                  </a:lnTo>
                  <a:lnTo>
                    <a:pt x="31" y="6"/>
                  </a:lnTo>
                  <a:lnTo>
                    <a:pt x="33" y="10"/>
                  </a:lnTo>
                  <a:lnTo>
                    <a:pt x="35" y="11"/>
                  </a:lnTo>
                  <a:lnTo>
                    <a:pt x="36" y="15"/>
                  </a:lnTo>
                  <a:lnTo>
                    <a:pt x="38" y="18"/>
                  </a:lnTo>
                  <a:lnTo>
                    <a:pt x="38" y="21"/>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33" name="Freeform 274">
              <a:extLst>
                <a:ext uri="{FF2B5EF4-FFF2-40B4-BE49-F238E27FC236}">
                  <a16:creationId xmlns:a16="http://schemas.microsoft.com/office/drawing/2014/main" id="{1F626C0F-A3D2-6523-AE48-90DF56AB4032}"/>
                </a:ext>
              </a:extLst>
            </p:cNvPr>
            <p:cNvSpPr>
              <a:spLocks noEditPoints="1"/>
            </p:cNvSpPr>
            <p:nvPr/>
          </p:nvSpPr>
          <p:spPr bwMode="auto">
            <a:xfrm>
              <a:off x="1817" y="1593"/>
              <a:ext cx="38" cy="38"/>
            </a:xfrm>
            <a:custGeom>
              <a:avLst/>
              <a:gdLst>
                <a:gd name="T0" fmla="*/ 38 w 38"/>
                <a:gd name="T1" fmla="*/ 17 h 38"/>
                <a:gd name="T2" fmla="*/ 34 w 38"/>
                <a:gd name="T3" fmla="*/ 9 h 38"/>
                <a:gd name="T4" fmla="*/ 29 w 38"/>
                <a:gd name="T5" fmla="*/ 4 h 38"/>
                <a:gd name="T6" fmla="*/ 23 w 38"/>
                <a:gd name="T7" fmla="*/ 2 h 38"/>
                <a:gd name="T8" fmla="*/ 16 w 38"/>
                <a:gd name="T9" fmla="*/ 2 h 38"/>
                <a:gd name="T10" fmla="*/ 8 w 38"/>
                <a:gd name="T11" fmla="*/ 4 h 38"/>
                <a:gd name="T12" fmla="*/ 3 w 38"/>
                <a:gd name="T13" fmla="*/ 9 h 38"/>
                <a:gd name="T14" fmla="*/ 1 w 38"/>
                <a:gd name="T15" fmla="*/ 17 h 38"/>
                <a:gd name="T16" fmla="*/ 1 w 38"/>
                <a:gd name="T17" fmla="*/ 23 h 38"/>
                <a:gd name="T18" fmla="*/ 3 w 38"/>
                <a:gd name="T19" fmla="*/ 30 h 38"/>
                <a:gd name="T20" fmla="*/ 8 w 38"/>
                <a:gd name="T21" fmla="*/ 35 h 38"/>
                <a:gd name="T22" fmla="*/ 16 w 38"/>
                <a:gd name="T23" fmla="*/ 38 h 38"/>
                <a:gd name="T24" fmla="*/ 23 w 38"/>
                <a:gd name="T25" fmla="*/ 38 h 38"/>
                <a:gd name="T26" fmla="*/ 29 w 38"/>
                <a:gd name="T27" fmla="*/ 35 h 38"/>
                <a:gd name="T28" fmla="*/ 34 w 38"/>
                <a:gd name="T29" fmla="*/ 30 h 38"/>
                <a:gd name="T30" fmla="*/ 38 w 38"/>
                <a:gd name="T31" fmla="*/ 23 h 38"/>
                <a:gd name="T32" fmla="*/ 34 w 38"/>
                <a:gd name="T33" fmla="*/ 20 h 38"/>
                <a:gd name="T34" fmla="*/ 33 w 38"/>
                <a:gd name="T35" fmla="*/ 25 h 38"/>
                <a:gd name="T36" fmla="*/ 29 w 38"/>
                <a:gd name="T37" fmla="*/ 30 h 38"/>
                <a:gd name="T38" fmla="*/ 24 w 38"/>
                <a:gd name="T39" fmla="*/ 33 h 38"/>
                <a:gd name="T40" fmla="*/ 19 w 38"/>
                <a:gd name="T41" fmla="*/ 35 h 38"/>
                <a:gd name="T42" fmla="*/ 13 w 38"/>
                <a:gd name="T43" fmla="*/ 33 h 38"/>
                <a:gd name="T44" fmla="*/ 9 w 38"/>
                <a:gd name="T45" fmla="*/ 30 h 38"/>
                <a:gd name="T46" fmla="*/ 6 w 38"/>
                <a:gd name="T47" fmla="*/ 25 h 38"/>
                <a:gd name="T48" fmla="*/ 5 w 38"/>
                <a:gd name="T49" fmla="*/ 20 h 38"/>
                <a:gd name="T50" fmla="*/ 6 w 38"/>
                <a:gd name="T51" fmla="*/ 15 h 38"/>
                <a:gd name="T52" fmla="*/ 9 w 38"/>
                <a:gd name="T53" fmla="*/ 10 h 38"/>
                <a:gd name="T54" fmla="*/ 13 w 38"/>
                <a:gd name="T55" fmla="*/ 7 h 38"/>
                <a:gd name="T56" fmla="*/ 19 w 38"/>
                <a:gd name="T57" fmla="*/ 5 h 38"/>
                <a:gd name="T58" fmla="*/ 24 w 38"/>
                <a:gd name="T59" fmla="*/ 7 h 38"/>
                <a:gd name="T60" fmla="*/ 29 w 38"/>
                <a:gd name="T61" fmla="*/ 10 h 38"/>
                <a:gd name="T62" fmla="*/ 33 w 38"/>
                <a:gd name="T63" fmla="*/ 15 h 38"/>
                <a:gd name="T64" fmla="*/ 34 w 38"/>
                <a:gd name="T65" fmla="*/ 20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8" h="38">
                  <a:moveTo>
                    <a:pt x="38" y="20"/>
                  </a:moveTo>
                  <a:lnTo>
                    <a:pt x="38" y="17"/>
                  </a:lnTo>
                  <a:lnTo>
                    <a:pt x="38" y="12"/>
                  </a:lnTo>
                  <a:lnTo>
                    <a:pt x="34" y="9"/>
                  </a:lnTo>
                  <a:lnTo>
                    <a:pt x="33" y="7"/>
                  </a:lnTo>
                  <a:lnTo>
                    <a:pt x="29" y="4"/>
                  </a:lnTo>
                  <a:lnTo>
                    <a:pt x="26" y="2"/>
                  </a:lnTo>
                  <a:lnTo>
                    <a:pt x="23" y="2"/>
                  </a:lnTo>
                  <a:lnTo>
                    <a:pt x="19" y="0"/>
                  </a:lnTo>
                  <a:lnTo>
                    <a:pt x="16" y="2"/>
                  </a:lnTo>
                  <a:lnTo>
                    <a:pt x="11" y="2"/>
                  </a:lnTo>
                  <a:lnTo>
                    <a:pt x="8" y="4"/>
                  </a:lnTo>
                  <a:lnTo>
                    <a:pt x="6" y="7"/>
                  </a:lnTo>
                  <a:lnTo>
                    <a:pt x="3" y="9"/>
                  </a:lnTo>
                  <a:lnTo>
                    <a:pt x="1" y="12"/>
                  </a:lnTo>
                  <a:lnTo>
                    <a:pt x="1" y="17"/>
                  </a:lnTo>
                  <a:lnTo>
                    <a:pt x="0" y="20"/>
                  </a:lnTo>
                  <a:lnTo>
                    <a:pt x="1" y="23"/>
                  </a:lnTo>
                  <a:lnTo>
                    <a:pt x="1" y="27"/>
                  </a:lnTo>
                  <a:lnTo>
                    <a:pt x="3" y="30"/>
                  </a:lnTo>
                  <a:lnTo>
                    <a:pt x="6" y="33"/>
                  </a:lnTo>
                  <a:lnTo>
                    <a:pt x="8" y="35"/>
                  </a:lnTo>
                  <a:lnTo>
                    <a:pt x="11" y="38"/>
                  </a:lnTo>
                  <a:lnTo>
                    <a:pt x="16" y="38"/>
                  </a:lnTo>
                  <a:lnTo>
                    <a:pt x="19" y="38"/>
                  </a:lnTo>
                  <a:lnTo>
                    <a:pt x="23" y="38"/>
                  </a:lnTo>
                  <a:lnTo>
                    <a:pt x="26" y="38"/>
                  </a:lnTo>
                  <a:lnTo>
                    <a:pt x="29" y="35"/>
                  </a:lnTo>
                  <a:lnTo>
                    <a:pt x="33" y="33"/>
                  </a:lnTo>
                  <a:lnTo>
                    <a:pt x="34" y="30"/>
                  </a:lnTo>
                  <a:lnTo>
                    <a:pt x="38" y="27"/>
                  </a:lnTo>
                  <a:lnTo>
                    <a:pt x="38" y="23"/>
                  </a:lnTo>
                  <a:lnTo>
                    <a:pt x="38" y="20"/>
                  </a:lnTo>
                  <a:close/>
                  <a:moveTo>
                    <a:pt x="34" y="20"/>
                  </a:moveTo>
                  <a:lnTo>
                    <a:pt x="33" y="23"/>
                  </a:lnTo>
                  <a:lnTo>
                    <a:pt x="33" y="25"/>
                  </a:lnTo>
                  <a:lnTo>
                    <a:pt x="31" y="28"/>
                  </a:lnTo>
                  <a:lnTo>
                    <a:pt x="29" y="30"/>
                  </a:lnTo>
                  <a:lnTo>
                    <a:pt x="28" y="32"/>
                  </a:lnTo>
                  <a:lnTo>
                    <a:pt x="24" y="33"/>
                  </a:lnTo>
                  <a:lnTo>
                    <a:pt x="23" y="33"/>
                  </a:lnTo>
                  <a:lnTo>
                    <a:pt x="19" y="35"/>
                  </a:lnTo>
                  <a:lnTo>
                    <a:pt x="16" y="33"/>
                  </a:lnTo>
                  <a:lnTo>
                    <a:pt x="13" y="33"/>
                  </a:lnTo>
                  <a:lnTo>
                    <a:pt x="11" y="32"/>
                  </a:lnTo>
                  <a:lnTo>
                    <a:pt x="9" y="30"/>
                  </a:lnTo>
                  <a:lnTo>
                    <a:pt x="8" y="28"/>
                  </a:lnTo>
                  <a:lnTo>
                    <a:pt x="6" y="25"/>
                  </a:lnTo>
                  <a:lnTo>
                    <a:pt x="5" y="23"/>
                  </a:lnTo>
                  <a:lnTo>
                    <a:pt x="5" y="20"/>
                  </a:lnTo>
                  <a:lnTo>
                    <a:pt x="5" y="17"/>
                  </a:lnTo>
                  <a:lnTo>
                    <a:pt x="6" y="15"/>
                  </a:lnTo>
                  <a:lnTo>
                    <a:pt x="8" y="12"/>
                  </a:lnTo>
                  <a:lnTo>
                    <a:pt x="9" y="10"/>
                  </a:lnTo>
                  <a:lnTo>
                    <a:pt x="11" y="9"/>
                  </a:lnTo>
                  <a:lnTo>
                    <a:pt x="13" y="7"/>
                  </a:lnTo>
                  <a:lnTo>
                    <a:pt x="16" y="5"/>
                  </a:lnTo>
                  <a:lnTo>
                    <a:pt x="19" y="5"/>
                  </a:lnTo>
                  <a:lnTo>
                    <a:pt x="23" y="5"/>
                  </a:lnTo>
                  <a:lnTo>
                    <a:pt x="24" y="7"/>
                  </a:lnTo>
                  <a:lnTo>
                    <a:pt x="28" y="9"/>
                  </a:lnTo>
                  <a:lnTo>
                    <a:pt x="29" y="10"/>
                  </a:lnTo>
                  <a:lnTo>
                    <a:pt x="31" y="12"/>
                  </a:lnTo>
                  <a:lnTo>
                    <a:pt x="33" y="15"/>
                  </a:lnTo>
                  <a:lnTo>
                    <a:pt x="33" y="17"/>
                  </a:lnTo>
                  <a:lnTo>
                    <a:pt x="34" y="20"/>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34" name="Freeform 275">
              <a:extLst>
                <a:ext uri="{FF2B5EF4-FFF2-40B4-BE49-F238E27FC236}">
                  <a16:creationId xmlns:a16="http://schemas.microsoft.com/office/drawing/2014/main" id="{41D03B19-566E-74DD-0B45-EE44A41AC53B}"/>
                </a:ext>
              </a:extLst>
            </p:cNvPr>
            <p:cNvSpPr>
              <a:spLocks noEditPoints="1"/>
            </p:cNvSpPr>
            <p:nvPr/>
          </p:nvSpPr>
          <p:spPr bwMode="auto">
            <a:xfrm>
              <a:off x="1820" y="1597"/>
              <a:ext cx="33" cy="33"/>
            </a:xfrm>
            <a:custGeom>
              <a:avLst/>
              <a:gdLst>
                <a:gd name="T0" fmla="*/ 33 w 33"/>
                <a:gd name="T1" fmla="*/ 13 h 33"/>
                <a:gd name="T2" fmla="*/ 30 w 33"/>
                <a:gd name="T3" fmla="*/ 6 h 33"/>
                <a:gd name="T4" fmla="*/ 26 w 33"/>
                <a:gd name="T5" fmla="*/ 1 h 33"/>
                <a:gd name="T6" fmla="*/ 20 w 33"/>
                <a:gd name="T7" fmla="*/ 0 h 33"/>
                <a:gd name="T8" fmla="*/ 13 w 33"/>
                <a:gd name="T9" fmla="*/ 0 h 33"/>
                <a:gd name="T10" fmla="*/ 6 w 33"/>
                <a:gd name="T11" fmla="*/ 1 h 33"/>
                <a:gd name="T12" fmla="*/ 2 w 33"/>
                <a:gd name="T13" fmla="*/ 6 h 33"/>
                <a:gd name="T14" fmla="*/ 0 w 33"/>
                <a:gd name="T15" fmla="*/ 13 h 33"/>
                <a:gd name="T16" fmla="*/ 0 w 33"/>
                <a:gd name="T17" fmla="*/ 19 h 33"/>
                <a:gd name="T18" fmla="*/ 2 w 33"/>
                <a:gd name="T19" fmla="*/ 26 h 33"/>
                <a:gd name="T20" fmla="*/ 6 w 33"/>
                <a:gd name="T21" fmla="*/ 29 h 33"/>
                <a:gd name="T22" fmla="*/ 13 w 33"/>
                <a:gd name="T23" fmla="*/ 33 h 33"/>
                <a:gd name="T24" fmla="*/ 20 w 33"/>
                <a:gd name="T25" fmla="*/ 33 h 33"/>
                <a:gd name="T26" fmla="*/ 26 w 33"/>
                <a:gd name="T27" fmla="*/ 29 h 33"/>
                <a:gd name="T28" fmla="*/ 30 w 33"/>
                <a:gd name="T29" fmla="*/ 26 h 33"/>
                <a:gd name="T30" fmla="*/ 33 w 33"/>
                <a:gd name="T31" fmla="*/ 19 h 33"/>
                <a:gd name="T32" fmla="*/ 28 w 33"/>
                <a:gd name="T33" fmla="*/ 16 h 33"/>
                <a:gd name="T34" fmla="*/ 28 w 33"/>
                <a:gd name="T35" fmla="*/ 21 h 33"/>
                <a:gd name="T36" fmla="*/ 25 w 33"/>
                <a:gd name="T37" fmla="*/ 24 h 33"/>
                <a:gd name="T38" fmla="*/ 21 w 33"/>
                <a:gd name="T39" fmla="*/ 28 h 33"/>
                <a:gd name="T40" fmla="*/ 16 w 33"/>
                <a:gd name="T41" fmla="*/ 28 h 33"/>
                <a:gd name="T42" fmla="*/ 11 w 33"/>
                <a:gd name="T43" fmla="*/ 28 h 33"/>
                <a:gd name="T44" fmla="*/ 8 w 33"/>
                <a:gd name="T45" fmla="*/ 24 h 33"/>
                <a:gd name="T46" fmla="*/ 5 w 33"/>
                <a:gd name="T47" fmla="*/ 21 h 33"/>
                <a:gd name="T48" fmla="*/ 5 w 33"/>
                <a:gd name="T49" fmla="*/ 16 h 33"/>
                <a:gd name="T50" fmla="*/ 5 w 33"/>
                <a:gd name="T51" fmla="*/ 11 h 33"/>
                <a:gd name="T52" fmla="*/ 8 w 33"/>
                <a:gd name="T53" fmla="*/ 8 h 33"/>
                <a:gd name="T54" fmla="*/ 11 w 33"/>
                <a:gd name="T55" fmla="*/ 5 h 33"/>
                <a:gd name="T56" fmla="*/ 16 w 33"/>
                <a:gd name="T57" fmla="*/ 5 h 33"/>
                <a:gd name="T58" fmla="*/ 21 w 33"/>
                <a:gd name="T59" fmla="*/ 5 h 33"/>
                <a:gd name="T60" fmla="*/ 25 w 33"/>
                <a:gd name="T61" fmla="*/ 8 h 33"/>
                <a:gd name="T62" fmla="*/ 28 w 33"/>
                <a:gd name="T63" fmla="*/ 11 h 33"/>
                <a:gd name="T64" fmla="*/ 28 w 33"/>
                <a:gd name="T65" fmla="*/ 16 h 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3" h="33">
                  <a:moveTo>
                    <a:pt x="33" y="16"/>
                  </a:moveTo>
                  <a:lnTo>
                    <a:pt x="33" y="13"/>
                  </a:lnTo>
                  <a:lnTo>
                    <a:pt x="31" y="10"/>
                  </a:lnTo>
                  <a:lnTo>
                    <a:pt x="30" y="6"/>
                  </a:lnTo>
                  <a:lnTo>
                    <a:pt x="28" y="5"/>
                  </a:lnTo>
                  <a:lnTo>
                    <a:pt x="26" y="1"/>
                  </a:lnTo>
                  <a:lnTo>
                    <a:pt x="23" y="1"/>
                  </a:lnTo>
                  <a:lnTo>
                    <a:pt x="20" y="0"/>
                  </a:lnTo>
                  <a:lnTo>
                    <a:pt x="16" y="0"/>
                  </a:lnTo>
                  <a:lnTo>
                    <a:pt x="13" y="0"/>
                  </a:lnTo>
                  <a:lnTo>
                    <a:pt x="10" y="1"/>
                  </a:lnTo>
                  <a:lnTo>
                    <a:pt x="6" y="1"/>
                  </a:lnTo>
                  <a:lnTo>
                    <a:pt x="5" y="5"/>
                  </a:lnTo>
                  <a:lnTo>
                    <a:pt x="2" y="6"/>
                  </a:lnTo>
                  <a:lnTo>
                    <a:pt x="2" y="10"/>
                  </a:lnTo>
                  <a:lnTo>
                    <a:pt x="0" y="13"/>
                  </a:lnTo>
                  <a:lnTo>
                    <a:pt x="0" y="16"/>
                  </a:lnTo>
                  <a:lnTo>
                    <a:pt x="0" y="19"/>
                  </a:lnTo>
                  <a:lnTo>
                    <a:pt x="2" y="23"/>
                  </a:lnTo>
                  <a:lnTo>
                    <a:pt x="2" y="26"/>
                  </a:lnTo>
                  <a:lnTo>
                    <a:pt x="5" y="28"/>
                  </a:lnTo>
                  <a:lnTo>
                    <a:pt x="6" y="29"/>
                  </a:lnTo>
                  <a:lnTo>
                    <a:pt x="10" y="31"/>
                  </a:lnTo>
                  <a:lnTo>
                    <a:pt x="13" y="33"/>
                  </a:lnTo>
                  <a:lnTo>
                    <a:pt x="16" y="33"/>
                  </a:lnTo>
                  <a:lnTo>
                    <a:pt x="20" y="33"/>
                  </a:lnTo>
                  <a:lnTo>
                    <a:pt x="23" y="31"/>
                  </a:lnTo>
                  <a:lnTo>
                    <a:pt x="26" y="29"/>
                  </a:lnTo>
                  <a:lnTo>
                    <a:pt x="28" y="28"/>
                  </a:lnTo>
                  <a:lnTo>
                    <a:pt x="30" y="26"/>
                  </a:lnTo>
                  <a:lnTo>
                    <a:pt x="31" y="23"/>
                  </a:lnTo>
                  <a:lnTo>
                    <a:pt x="33" y="19"/>
                  </a:lnTo>
                  <a:lnTo>
                    <a:pt x="33" y="16"/>
                  </a:lnTo>
                  <a:close/>
                  <a:moveTo>
                    <a:pt x="28" y="16"/>
                  </a:moveTo>
                  <a:lnTo>
                    <a:pt x="28" y="18"/>
                  </a:lnTo>
                  <a:lnTo>
                    <a:pt x="28" y="21"/>
                  </a:lnTo>
                  <a:lnTo>
                    <a:pt x="26" y="23"/>
                  </a:lnTo>
                  <a:lnTo>
                    <a:pt x="25" y="24"/>
                  </a:lnTo>
                  <a:lnTo>
                    <a:pt x="23" y="26"/>
                  </a:lnTo>
                  <a:lnTo>
                    <a:pt x="21" y="28"/>
                  </a:lnTo>
                  <a:lnTo>
                    <a:pt x="18" y="28"/>
                  </a:lnTo>
                  <a:lnTo>
                    <a:pt x="16" y="28"/>
                  </a:lnTo>
                  <a:lnTo>
                    <a:pt x="13" y="28"/>
                  </a:lnTo>
                  <a:lnTo>
                    <a:pt x="11" y="28"/>
                  </a:lnTo>
                  <a:lnTo>
                    <a:pt x="10" y="26"/>
                  </a:lnTo>
                  <a:lnTo>
                    <a:pt x="8" y="24"/>
                  </a:lnTo>
                  <a:lnTo>
                    <a:pt x="6" y="23"/>
                  </a:lnTo>
                  <a:lnTo>
                    <a:pt x="5" y="21"/>
                  </a:lnTo>
                  <a:lnTo>
                    <a:pt x="5" y="18"/>
                  </a:lnTo>
                  <a:lnTo>
                    <a:pt x="5" y="16"/>
                  </a:lnTo>
                  <a:lnTo>
                    <a:pt x="5" y="13"/>
                  </a:lnTo>
                  <a:lnTo>
                    <a:pt x="5" y="11"/>
                  </a:lnTo>
                  <a:lnTo>
                    <a:pt x="6" y="10"/>
                  </a:lnTo>
                  <a:lnTo>
                    <a:pt x="8" y="8"/>
                  </a:lnTo>
                  <a:lnTo>
                    <a:pt x="10" y="6"/>
                  </a:lnTo>
                  <a:lnTo>
                    <a:pt x="11" y="5"/>
                  </a:lnTo>
                  <a:lnTo>
                    <a:pt x="13" y="5"/>
                  </a:lnTo>
                  <a:lnTo>
                    <a:pt x="16" y="5"/>
                  </a:lnTo>
                  <a:lnTo>
                    <a:pt x="18" y="5"/>
                  </a:lnTo>
                  <a:lnTo>
                    <a:pt x="21" y="5"/>
                  </a:lnTo>
                  <a:lnTo>
                    <a:pt x="23" y="6"/>
                  </a:lnTo>
                  <a:lnTo>
                    <a:pt x="25" y="8"/>
                  </a:lnTo>
                  <a:lnTo>
                    <a:pt x="26" y="10"/>
                  </a:lnTo>
                  <a:lnTo>
                    <a:pt x="28" y="11"/>
                  </a:lnTo>
                  <a:lnTo>
                    <a:pt x="28" y="13"/>
                  </a:lnTo>
                  <a:lnTo>
                    <a:pt x="28" y="16"/>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35" name="Freeform 276">
              <a:extLst>
                <a:ext uri="{FF2B5EF4-FFF2-40B4-BE49-F238E27FC236}">
                  <a16:creationId xmlns:a16="http://schemas.microsoft.com/office/drawing/2014/main" id="{4189391C-5AA8-0C86-6834-E005537D62CC}"/>
                </a:ext>
              </a:extLst>
            </p:cNvPr>
            <p:cNvSpPr>
              <a:spLocks noEditPoints="1"/>
            </p:cNvSpPr>
            <p:nvPr/>
          </p:nvSpPr>
          <p:spPr bwMode="auto">
            <a:xfrm>
              <a:off x="1822" y="1598"/>
              <a:ext cx="29" cy="30"/>
            </a:xfrm>
            <a:custGeom>
              <a:avLst/>
              <a:gdLst>
                <a:gd name="T0" fmla="*/ 28 w 29"/>
                <a:gd name="T1" fmla="*/ 12 h 30"/>
                <a:gd name="T2" fmla="*/ 26 w 29"/>
                <a:gd name="T3" fmla="*/ 7 h 30"/>
                <a:gd name="T4" fmla="*/ 23 w 29"/>
                <a:gd name="T5" fmla="*/ 4 h 30"/>
                <a:gd name="T6" fmla="*/ 18 w 29"/>
                <a:gd name="T7" fmla="*/ 0 h 30"/>
                <a:gd name="T8" fmla="*/ 11 w 29"/>
                <a:gd name="T9" fmla="*/ 0 h 30"/>
                <a:gd name="T10" fmla="*/ 6 w 29"/>
                <a:gd name="T11" fmla="*/ 4 h 30"/>
                <a:gd name="T12" fmla="*/ 3 w 29"/>
                <a:gd name="T13" fmla="*/ 7 h 30"/>
                <a:gd name="T14" fmla="*/ 0 w 29"/>
                <a:gd name="T15" fmla="*/ 12 h 30"/>
                <a:gd name="T16" fmla="*/ 0 w 29"/>
                <a:gd name="T17" fmla="*/ 18 h 30"/>
                <a:gd name="T18" fmla="*/ 3 w 29"/>
                <a:gd name="T19" fmla="*/ 23 h 30"/>
                <a:gd name="T20" fmla="*/ 6 w 29"/>
                <a:gd name="T21" fmla="*/ 27 h 30"/>
                <a:gd name="T22" fmla="*/ 11 w 29"/>
                <a:gd name="T23" fmla="*/ 28 h 30"/>
                <a:gd name="T24" fmla="*/ 18 w 29"/>
                <a:gd name="T25" fmla="*/ 28 h 30"/>
                <a:gd name="T26" fmla="*/ 23 w 29"/>
                <a:gd name="T27" fmla="*/ 27 h 30"/>
                <a:gd name="T28" fmla="*/ 26 w 29"/>
                <a:gd name="T29" fmla="*/ 23 h 30"/>
                <a:gd name="T30" fmla="*/ 28 w 29"/>
                <a:gd name="T31" fmla="*/ 18 h 30"/>
                <a:gd name="T32" fmla="*/ 24 w 29"/>
                <a:gd name="T33" fmla="*/ 15 h 30"/>
                <a:gd name="T34" fmla="*/ 23 w 29"/>
                <a:gd name="T35" fmla="*/ 18 h 30"/>
                <a:gd name="T36" fmla="*/ 21 w 29"/>
                <a:gd name="T37" fmla="*/ 22 h 30"/>
                <a:gd name="T38" fmla="*/ 18 w 29"/>
                <a:gd name="T39" fmla="*/ 23 h 30"/>
                <a:gd name="T40" fmla="*/ 14 w 29"/>
                <a:gd name="T41" fmla="*/ 25 h 30"/>
                <a:gd name="T42" fmla="*/ 11 w 29"/>
                <a:gd name="T43" fmla="*/ 23 h 30"/>
                <a:gd name="T44" fmla="*/ 8 w 29"/>
                <a:gd name="T45" fmla="*/ 22 h 30"/>
                <a:gd name="T46" fmla="*/ 6 w 29"/>
                <a:gd name="T47" fmla="*/ 18 h 30"/>
                <a:gd name="T48" fmla="*/ 4 w 29"/>
                <a:gd name="T49" fmla="*/ 15 h 30"/>
                <a:gd name="T50" fmla="*/ 6 w 29"/>
                <a:gd name="T51" fmla="*/ 12 h 30"/>
                <a:gd name="T52" fmla="*/ 8 w 29"/>
                <a:gd name="T53" fmla="*/ 9 h 30"/>
                <a:gd name="T54" fmla="*/ 11 w 29"/>
                <a:gd name="T55" fmla="*/ 7 h 30"/>
                <a:gd name="T56" fmla="*/ 14 w 29"/>
                <a:gd name="T57" fmla="*/ 5 h 30"/>
                <a:gd name="T58" fmla="*/ 18 w 29"/>
                <a:gd name="T59" fmla="*/ 7 h 30"/>
                <a:gd name="T60" fmla="*/ 21 w 29"/>
                <a:gd name="T61" fmla="*/ 9 h 30"/>
                <a:gd name="T62" fmla="*/ 23 w 29"/>
                <a:gd name="T63" fmla="*/ 12 h 30"/>
                <a:gd name="T64" fmla="*/ 24 w 29"/>
                <a:gd name="T65" fmla="*/ 15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9" h="30">
                  <a:moveTo>
                    <a:pt x="29" y="15"/>
                  </a:moveTo>
                  <a:lnTo>
                    <a:pt x="28" y="12"/>
                  </a:lnTo>
                  <a:lnTo>
                    <a:pt x="28" y="10"/>
                  </a:lnTo>
                  <a:lnTo>
                    <a:pt x="26" y="7"/>
                  </a:lnTo>
                  <a:lnTo>
                    <a:pt x="24" y="5"/>
                  </a:lnTo>
                  <a:lnTo>
                    <a:pt x="23" y="4"/>
                  </a:lnTo>
                  <a:lnTo>
                    <a:pt x="19" y="2"/>
                  </a:lnTo>
                  <a:lnTo>
                    <a:pt x="18" y="0"/>
                  </a:lnTo>
                  <a:lnTo>
                    <a:pt x="14" y="0"/>
                  </a:lnTo>
                  <a:lnTo>
                    <a:pt x="11" y="0"/>
                  </a:lnTo>
                  <a:lnTo>
                    <a:pt x="8" y="2"/>
                  </a:lnTo>
                  <a:lnTo>
                    <a:pt x="6" y="4"/>
                  </a:lnTo>
                  <a:lnTo>
                    <a:pt x="4" y="5"/>
                  </a:lnTo>
                  <a:lnTo>
                    <a:pt x="3" y="7"/>
                  </a:lnTo>
                  <a:lnTo>
                    <a:pt x="1" y="10"/>
                  </a:lnTo>
                  <a:lnTo>
                    <a:pt x="0" y="12"/>
                  </a:lnTo>
                  <a:lnTo>
                    <a:pt x="0" y="15"/>
                  </a:lnTo>
                  <a:lnTo>
                    <a:pt x="0" y="18"/>
                  </a:lnTo>
                  <a:lnTo>
                    <a:pt x="1" y="20"/>
                  </a:lnTo>
                  <a:lnTo>
                    <a:pt x="3" y="23"/>
                  </a:lnTo>
                  <a:lnTo>
                    <a:pt x="4" y="25"/>
                  </a:lnTo>
                  <a:lnTo>
                    <a:pt x="6" y="27"/>
                  </a:lnTo>
                  <a:lnTo>
                    <a:pt x="8" y="28"/>
                  </a:lnTo>
                  <a:lnTo>
                    <a:pt x="11" y="28"/>
                  </a:lnTo>
                  <a:lnTo>
                    <a:pt x="14" y="30"/>
                  </a:lnTo>
                  <a:lnTo>
                    <a:pt x="18" y="28"/>
                  </a:lnTo>
                  <a:lnTo>
                    <a:pt x="19" y="28"/>
                  </a:lnTo>
                  <a:lnTo>
                    <a:pt x="23" y="27"/>
                  </a:lnTo>
                  <a:lnTo>
                    <a:pt x="24" y="25"/>
                  </a:lnTo>
                  <a:lnTo>
                    <a:pt x="26" y="23"/>
                  </a:lnTo>
                  <a:lnTo>
                    <a:pt x="28" y="20"/>
                  </a:lnTo>
                  <a:lnTo>
                    <a:pt x="28" y="18"/>
                  </a:lnTo>
                  <a:lnTo>
                    <a:pt x="29" y="15"/>
                  </a:lnTo>
                  <a:close/>
                  <a:moveTo>
                    <a:pt x="24" y="15"/>
                  </a:moveTo>
                  <a:lnTo>
                    <a:pt x="24" y="17"/>
                  </a:lnTo>
                  <a:lnTo>
                    <a:pt x="23" y="18"/>
                  </a:lnTo>
                  <a:lnTo>
                    <a:pt x="23" y="20"/>
                  </a:lnTo>
                  <a:lnTo>
                    <a:pt x="21" y="22"/>
                  </a:lnTo>
                  <a:lnTo>
                    <a:pt x="19" y="23"/>
                  </a:lnTo>
                  <a:lnTo>
                    <a:pt x="18" y="23"/>
                  </a:lnTo>
                  <a:lnTo>
                    <a:pt x="16" y="25"/>
                  </a:lnTo>
                  <a:lnTo>
                    <a:pt x="14" y="25"/>
                  </a:lnTo>
                  <a:lnTo>
                    <a:pt x="13" y="25"/>
                  </a:lnTo>
                  <a:lnTo>
                    <a:pt x="11" y="23"/>
                  </a:lnTo>
                  <a:lnTo>
                    <a:pt x="9" y="23"/>
                  </a:lnTo>
                  <a:lnTo>
                    <a:pt x="8" y="22"/>
                  </a:lnTo>
                  <a:lnTo>
                    <a:pt x="6" y="20"/>
                  </a:lnTo>
                  <a:lnTo>
                    <a:pt x="6" y="18"/>
                  </a:lnTo>
                  <a:lnTo>
                    <a:pt x="4" y="17"/>
                  </a:lnTo>
                  <a:lnTo>
                    <a:pt x="4" y="15"/>
                  </a:lnTo>
                  <a:lnTo>
                    <a:pt x="4" y="14"/>
                  </a:lnTo>
                  <a:lnTo>
                    <a:pt x="6" y="12"/>
                  </a:lnTo>
                  <a:lnTo>
                    <a:pt x="6" y="10"/>
                  </a:lnTo>
                  <a:lnTo>
                    <a:pt x="8" y="9"/>
                  </a:lnTo>
                  <a:lnTo>
                    <a:pt x="9" y="7"/>
                  </a:lnTo>
                  <a:lnTo>
                    <a:pt x="11" y="7"/>
                  </a:lnTo>
                  <a:lnTo>
                    <a:pt x="13" y="5"/>
                  </a:lnTo>
                  <a:lnTo>
                    <a:pt x="14" y="5"/>
                  </a:lnTo>
                  <a:lnTo>
                    <a:pt x="16" y="5"/>
                  </a:lnTo>
                  <a:lnTo>
                    <a:pt x="18" y="7"/>
                  </a:lnTo>
                  <a:lnTo>
                    <a:pt x="19" y="7"/>
                  </a:lnTo>
                  <a:lnTo>
                    <a:pt x="21" y="9"/>
                  </a:lnTo>
                  <a:lnTo>
                    <a:pt x="23" y="10"/>
                  </a:lnTo>
                  <a:lnTo>
                    <a:pt x="23" y="12"/>
                  </a:lnTo>
                  <a:lnTo>
                    <a:pt x="24" y="14"/>
                  </a:lnTo>
                  <a:lnTo>
                    <a:pt x="24" y="15"/>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36" name="Freeform 277">
              <a:extLst>
                <a:ext uri="{FF2B5EF4-FFF2-40B4-BE49-F238E27FC236}">
                  <a16:creationId xmlns:a16="http://schemas.microsoft.com/office/drawing/2014/main" id="{165435ED-50FE-0EC9-DCF8-635A06C3BDA5}"/>
                </a:ext>
              </a:extLst>
            </p:cNvPr>
            <p:cNvSpPr>
              <a:spLocks noEditPoints="1"/>
            </p:cNvSpPr>
            <p:nvPr/>
          </p:nvSpPr>
          <p:spPr bwMode="auto">
            <a:xfrm>
              <a:off x="1825" y="1602"/>
              <a:ext cx="23" cy="23"/>
            </a:xfrm>
            <a:custGeom>
              <a:avLst/>
              <a:gdLst>
                <a:gd name="T0" fmla="*/ 23 w 23"/>
                <a:gd name="T1" fmla="*/ 11 h 23"/>
                <a:gd name="T2" fmla="*/ 23 w 23"/>
                <a:gd name="T3" fmla="*/ 8 h 23"/>
                <a:gd name="T4" fmla="*/ 23 w 23"/>
                <a:gd name="T5" fmla="*/ 6 h 23"/>
                <a:gd name="T6" fmla="*/ 21 w 23"/>
                <a:gd name="T7" fmla="*/ 5 h 23"/>
                <a:gd name="T8" fmla="*/ 20 w 23"/>
                <a:gd name="T9" fmla="*/ 3 h 23"/>
                <a:gd name="T10" fmla="*/ 18 w 23"/>
                <a:gd name="T11" fmla="*/ 1 h 23"/>
                <a:gd name="T12" fmla="*/ 16 w 23"/>
                <a:gd name="T13" fmla="*/ 0 h 23"/>
                <a:gd name="T14" fmla="*/ 13 w 23"/>
                <a:gd name="T15" fmla="*/ 0 h 23"/>
                <a:gd name="T16" fmla="*/ 11 w 23"/>
                <a:gd name="T17" fmla="*/ 0 h 23"/>
                <a:gd name="T18" fmla="*/ 8 w 23"/>
                <a:gd name="T19" fmla="*/ 0 h 23"/>
                <a:gd name="T20" fmla="*/ 6 w 23"/>
                <a:gd name="T21" fmla="*/ 0 h 23"/>
                <a:gd name="T22" fmla="*/ 5 w 23"/>
                <a:gd name="T23" fmla="*/ 1 h 23"/>
                <a:gd name="T24" fmla="*/ 3 w 23"/>
                <a:gd name="T25" fmla="*/ 3 h 23"/>
                <a:gd name="T26" fmla="*/ 1 w 23"/>
                <a:gd name="T27" fmla="*/ 5 h 23"/>
                <a:gd name="T28" fmla="*/ 0 w 23"/>
                <a:gd name="T29" fmla="*/ 6 h 23"/>
                <a:gd name="T30" fmla="*/ 0 w 23"/>
                <a:gd name="T31" fmla="*/ 8 h 23"/>
                <a:gd name="T32" fmla="*/ 0 w 23"/>
                <a:gd name="T33" fmla="*/ 11 h 23"/>
                <a:gd name="T34" fmla="*/ 0 w 23"/>
                <a:gd name="T35" fmla="*/ 13 h 23"/>
                <a:gd name="T36" fmla="*/ 0 w 23"/>
                <a:gd name="T37" fmla="*/ 16 h 23"/>
                <a:gd name="T38" fmla="*/ 1 w 23"/>
                <a:gd name="T39" fmla="*/ 18 h 23"/>
                <a:gd name="T40" fmla="*/ 3 w 23"/>
                <a:gd name="T41" fmla="*/ 19 h 23"/>
                <a:gd name="T42" fmla="*/ 5 w 23"/>
                <a:gd name="T43" fmla="*/ 21 h 23"/>
                <a:gd name="T44" fmla="*/ 6 w 23"/>
                <a:gd name="T45" fmla="*/ 23 h 23"/>
                <a:gd name="T46" fmla="*/ 8 w 23"/>
                <a:gd name="T47" fmla="*/ 23 h 23"/>
                <a:gd name="T48" fmla="*/ 11 w 23"/>
                <a:gd name="T49" fmla="*/ 23 h 23"/>
                <a:gd name="T50" fmla="*/ 13 w 23"/>
                <a:gd name="T51" fmla="*/ 23 h 23"/>
                <a:gd name="T52" fmla="*/ 16 w 23"/>
                <a:gd name="T53" fmla="*/ 23 h 23"/>
                <a:gd name="T54" fmla="*/ 18 w 23"/>
                <a:gd name="T55" fmla="*/ 21 h 23"/>
                <a:gd name="T56" fmla="*/ 20 w 23"/>
                <a:gd name="T57" fmla="*/ 19 h 23"/>
                <a:gd name="T58" fmla="*/ 21 w 23"/>
                <a:gd name="T59" fmla="*/ 18 h 23"/>
                <a:gd name="T60" fmla="*/ 23 w 23"/>
                <a:gd name="T61" fmla="*/ 16 h 23"/>
                <a:gd name="T62" fmla="*/ 23 w 23"/>
                <a:gd name="T63" fmla="*/ 13 h 23"/>
                <a:gd name="T64" fmla="*/ 23 w 23"/>
                <a:gd name="T65" fmla="*/ 11 h 23"/>
                <a:gd name="T66" fmla="*/ 18 w 23"/>
                <a:gd name="T67" fmla="*/ 11 h 23"/>
                <a:gd name="T68" fmla="*/ 18 w 23"/>
                <a:gd name="T69" fmla="*/ 13 h 23"/>
                <a:gd name="T70" fmla="*/ 18 w 23"/>
                <a:gd name="T71" fmla="*/ 14 h 23"/>
                <a:gd name="T72" fmla="*/ 16 w 23"/>
                <a:gd name="T73" fmla="*/ 14 h 23"/>
                <a:gd name="T74" fmla="*/ 16 w 23"/>
                <a:gd name="T75" fmla="*/ 16 h 23"/>
                <a:gd name="T76" fmla="*/ 15 w 23"/>
                <a:gd name="T77" fmla="*/ 16 h 23"/>
                <a:gd name="T78" fmla="*/ 15 w 23"/>
                <a:gd name="T79" fmla="*/ 18 h 23"/>
                <a:gd name="T80" fmla="*/ 13 w 23"/>
                <a:gd name="T81" fmla="*/ 18 h 23"/>
                <a:gd name="T82" fmla="*/ 11 w 23"/>
                <a:gd name="T83" fmla="*/ 18 h 23"/>
                <a:gd name="T84" fmla="*/ 10 w 23"/>
                <a:gd name="T85" fmla="*/ 18 h 23"/>
                <a:gd name="T86" fmla="*/ 8 w 23"/>
                <a:gd name="T87" fmla="*/ 18 h 23"/>
                <a:gd name="T88" fmla="*/ 6 w 23"/>
                <a:gd name="T89" fmla="*/ 16 h 23"/>
                <a:gd name="T90" fmla="*/ 5 w 23"/>
                <a:gd name="T91" fmla="*/ 14 h 23"/>
                <a:gd name="T92" fmla="*/ 5 w 23"/>
                <a:gd name="T93" fmla="*/ 13 h 23"/>
                <a:gd name="T94" fmla="*/ 5 w 23"/>
                <a:gd name="T95" fmla="*/ 11 h 23"/>
                <a:gd name="T96" fmla="*/ 5 w 23"/>
                <a:gd name="T97" fmla="*/ 10 h 23"/>
                <a:gd name="T98" fmla="*/ 5 w 23"/>
                <a:gd name="T99" fmla="*/ 8 h 23"/>
                <a:gd name="T100" fmla="*/ 5 w 23"/>
                <a:gd name="T101" fmla="*/ 6 h 23"/>
                <a:gd name="T102" fmla="*/ 6 w 23"/>
                <a:gd name="T103" fmla="*/ 6 h 23"/>
                <a:gd name="T104" fmla="*/ 6 w 23"/>
                <a:gd name="T105" fmla="*/ 5 h 23"/>
                <a:gd name="T106" fmla="*/ 8 w 23"/>
                <a:gd name="T107" fmla="*/ 5 h 23"/>
                <a:gd name="T108" fmla="*/ 10 w 23"/>
                <a:gd name="T109" fmla="*/ 5 h 23"/>
                <a:gd name="T110" fmla="*/ 11 w 23"/>
                <a:gd name="T111" fmla="*/ 5 h 23"/>
                <a:gd name="T112" fmla="*/ 13 w 23"/>
                <a:gd name="T113" fmla="*/ 5 h 23"/>
                <a:gd name="T114" fmla="*/ 15 w 23"/>
                <a:gd name="T115" fmla="*/ 5 h 23"/>
                <a:gd name="T116" fmla="*/ 16 w 23"/>
                <a:gd name="T117" fmla="*/ 6 h 23"/>
                <a:gd name="T118" fmla="*/ 18 w 23"/>
                <a:gd name="T119" fmla="*/ 8 h 23"/>
                <a:gd name="T120" fmla="*/ 18 w 23"/>
                <a:gd name="T121" fmla="*/ 10 h 23"/>
                <a:gd name="T122" fmla="*/ 18 w 23"/>
                <a:gd name="T123" fmla="*/ 11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3" h="23">
                  <a:moveTo>
                    <a:pt x="23" y="11"/>
                  </a:moveTo>
                  <a:lnTo>
                    <a:pt x="23" y="8"/>
                  </a:lnTo>
                  <a:lnTo>
                    <a:pt x="23" y="6"/>
                  </a:lnTo>
                  <a:lnTo>
                    <a:pt x="21" y="5"/>
                  </a:lnTo>
                  <a:lnTo>
                    <a:pt x="20" y="3"/>
                  </a:lnTo>
                  <a:lnTo>
                    <a:pt x="18" y="1"/>
                  </a:lnTo>
                  <a:lnTo>
                    <a:pt x="16" y="0"/>
                  </a:lnTo>
                  <a:lnTo>
                    <a:pt x="13" y="0"/>
                  </a:lnTo>
                  <a:lnTo>
                    <a:pt x="11" y="0"/>
                  </a:lnTo>
                  <a:lnTo>
                    <a:pt x="8" y="0"/>
                  </a:lnTo>
                  <a:lnTo>
                    <a:pt x="6" y="0"/>
                  </a:lnTo>
                  <a:lnTo>
                    <a:pt x="5" y="1"/>
                  </a:lnTo>
                  <a:lnTo>
                    <a:pt x="3" y="3"/>
                  </a:lnTo>
                  <a:lnTo>
                    <a:pt x="1" y="5"/>
                  </a:lnTo>
                  <a:lnTo>
                    <a:pt x="0" y="6"/>
                  </a:lnTo>
                  <a:lnTo>
                    <a:pt x="0" y="8"/>
                  </a:lnTo>
                  <a:lnTo>
                    <a:pt x="0" y="11"/>
                  </a:lnTo>
                  <a:lnTo>
                    <a:pt x="0" y="13"/>
                  </a:lnTo>
                  <a:lnTo>
                    <a:pt x="0" y="16"/>
                  </a:lnTo>
                  <a:lnTo>
                    <a:pt x="1" y="18"/>
                  </a:lnTo>
                  <a:lnTo>
                    <a:pt x="3" y="19"/>
                  </a:lnTo>
                  <a:lnTo>
                    <a:pt x="5" y="21"/>
                  </a:lnTo>
                  <a:lnTo>
                    <a:pt x="6" y="23"/>
                  </a:lnTo>
                  <a:lnTo>
                    <a:pt x="8" y="23"/>
                  </a:lnTo>
                  <a:lnTo>
                    <a:pt x="11" y="23"/>
                  </a:lnTo>
                  <a:lnTo>
                    <a:pt x="13" y="23"/>
                  </a:lnTo>
                  <a:lnTo>
                    <a:pt x="16" y="23"/>
                  </a:lnTo>
                  <a:lnTo>
                    <a:pt x="18" y="21"/>
                  </a:lnTo>
                  <a:lnTo>
                    <a:pt x="20" y="19"/>
                  </a:lnTo>
                  <a:lnTo>
                    <a:pt x="21" y="18"/>
                  </a:lnTo>
                  <a:lnTo>
                    <a:pt x="23" y="16"/>
                  </a:lnTo>
                  <a:lnTo>
                    <a:pt x="23" y="13"/>
                  </a:lnTo>
                  <a:lnTo>
                    <a:pt x="23" y="11"/>
                  </a:lnTo>
                  <a:close/>
                  <a:moveTo>
                    <a:pt x="18" y="11"/>
                  </a:moveTo>
                  <a:lnTo>
                    <a:pt x="18" y="13"/>
                  </a:lnTo>
                  <a:lnTo>
                    <a:pt x="18" y="14"/>
                  </a:lnTo>
                  <a:lnTo>
                    <a:pt x="16" y="14"/>
                  </a:lnTo>
                  <a:lnTo>
                    <a:pt x="16" y="16"/>
                  </a:lnTo>
                  <a:lnTo>
                    <a:pt x="15" y="16"/>
                  </a:lnTo>
                  <a:lnTo>
                    <a:pt x="15" y="18"/>
                  </a:lnTo>
                  <a:lnTo>
                    <a:pt x="13" y="18"/>
                  </a:lnTo>
                  <a:lnTo>
                    <a:pt x="11" y="18"/>
                  </a:lnTo>
                  <a:lnTo>
                    <a:pt x="10" y="18"/>
                  </a:lnTo>
                  <a:lnTo>
                    <a:pt x="8" y="18"/>
                  </a:lnTo>
                  <a:lnTo>
                    <a:pt x="6" y="16"/>
                  </a:lnTo>
                  <a:lnTo>
                    <a:pt x="5" y="14"/>
                  </a:lnTo>
                  <a:lnTo>
                    <a:pt x="5" y="13"/>
                  </a:lnTo>
                  <a:lnTo>
                    <a:pt x="5" y="11"/>
                  </a:lnTo>
                  <a:lnTo>
                    <a:pt x="5" y="10"/>
                  </a:lnTo>
                  <a:lnTo>
                    <a:pt x="5" y="8"/>
                  </a:lnTo>
                  <a:lnTo>
                    <a:pt x="5" y="6"/>
                  </a:lnTo>
                  <a:lnTo>
                    <a:pt x="6" y="6"/>
                  </a:lnTo>
                  <a:lnTo>
                    <a:pt x="6" y="5"/>
                  </a:lnTo>
                  <a:lnTo>
                    <a:pt x="8" y="5"/>
                  </a:lnTo>
                  <a:lnTo>
                    <a:pt x="10" y="5"/>
                  </a:lnTo>
                  <a:lnTo>
                    <a:pt x="11" y="5"/>
                  </a:lnTo>
                  <a:lnTo>
                    <a:pt x="13" y="5"/>
                  </a:lnTo>
                  <a:lnTo>
                    <a:pt x="15" y="5"/>
                  </a:lnTo>
                  <a:lnTo>
                    <a:pt x="16" y="6"/>
                  </a:lnTo>
                  <a:lnTo>
                    <a:pt x="18" y="8"/>
                  </a:lnTo>
                  <a:lnTo>
                    <a:pt x="18" y="10"/>
                  </a:lnTo>
                  <a:lnTo>
                    <a:pt x="18" y="11"/>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37" name="Freeform 278">
              <a:extLst>
                <a:ext uri="{FF2B5EF4-FFF2-40B4-BE49-F238E27FC236}">
                  <a16:creationId xmlns:a16="http://schemas.microsoft.com/office/drawing/2014/main" id="{4ABE836C-EED1-4105-35F9-C0A5C024D578}"/>
                </a:ext>
              </a:extLst>
            </p:cNvPr>
            <p:cNvSpPr>
              <a:spLocks noEditPoints="1"/>
            </p:cNvSpPr>
            <p:nvPr/>
          </p:nvSpPr>
          <p:spPr bwMode="auto">
            <a:xfrm>
              <a:off x="1826" y="1603"/>
              <a:ext cx="20" cy="20"/>
            </a:xfrm>
            <a:custGeom>
              <a:avLst/>
              <a:gdLst>
                <a:gd name="T0" fmla="*/ 20 w 20"/>
                <a:gd name="T1" fmla="*/ 10 h 20"/>
                <a:gd name="T2" fmla="*/ 20 w 20"/>
                <a:gd name="T3" fmla="*/ 9 h 20"/>
                <a:gd name="T4" fmla="*/ 19 w 20"/>
                <a:gd name="T5" fmla="*/ 7 h 20"/>
                <a:gd name="T6" fmla="*/ 19 w 20"/>
                <a:gd name="T7" fmla="*/ 5 h 20"/>
                <a:gd name="T8" fmla="*/ 17 w 20"/>
                <a:gd name="T9" fmla="*/ 4 h 20"/>
                <a:gd name="T10" fmla="*/ 15 w 20"/>
                <a:gd name="T11" fmla="*/ 2 h 20"/>
                <a:gd name="T12" fmla="*/ 14 w 20"/>
                <a:gd name="T13" fmla="*/ 2 h 20"/>
                <a:gd name="T14" fmla="*/ 12 w 20"/>
                <a:gd name="T15" fmla="*/ 0 h 20"/>
                <a:gd name="T16" fmla="*/ 10 w 20"/>
                <a:gd name="T17" fmla="*/ 0 h 20"/>
                <a:gd name="T18" fmla="*/ 9 w 20"/>
                <a:gd name="T19" fmla="*/ 0 h 20"/>
                <a:gd name="T20" fmla="*/ 7 w 20"/>
                <a:gd name="T21" fmla="*/ 2 h 20"/>
                <a:gd name="T22" fmla="*/ 5 w 20"/>
                <a:gd name="T23" fmla="*/ 2 h 20"/>
                <a:gd name="T24" fmla="*/ 4 w 20"/>
                <a:gd name="T25" fmla="*/ 4 h 20"/>
                <a:gd name="T26" fmla="*/ 2 w 20"/>
                <a:gd name="T27" fmla="*/ 5 h 20"/>
                <a:gd name="T28" fmla="*/ 2 w 20"/>
                <a:gd name="T29" fmla="*/ 7 h 20"/>
                <a:gd name="T30" fmla="*/ 0 w 20"/>
                <a:gd name="T31" fmla="*/ 9 h 20"/>
                <a:gd name="T32" fmla="*/ 0 w 20"/>
                <a:gd name="T33" fmla="*/ 10 h 20"/>
                <a:gd name="T34" fmla="*/ 0 w 20"/>
                <a:gd name="T35" fmla="*/ 12 h 20"/>
                <a:gd name="T36" fmla="*/ 2 w 20"/>
                <a:gd name="T37" fmla="*/ 13 h 20"/>
                <a:gd name="T38" fmla="*/ 2 w 20"/>
                <a:gd name="T39" fmla="*/ 15 h 20"/>
                <a:gd name="T40" fmla="*/ 4 w 20"/>
                <a:gd name="T41" fmla="*/ 17 h 20"/>
                <a:gd name="T42" fmla="*/ 5 w 20"/>
                <a:gd name="T43" fmla="*/ 18 h 20"/>
                <a:gd name="T44" fmla="*/ 7 w 20"/>
                <a:gd name="T45" fmla="*/ 18 h 20"/>
                <a:gd name="T46" fmla="*/ 9 w 20"/>
                <a:gd name="T47" fmla="*/ 20 h 20"/>
                <a:gd name="T48" fmla="*/ 10 w 20"/>
                <a:gd name="T49" fmla="*/ 20 h 20"/>
                <a:gd name="T50" fmla="*/ 12 w 20"/>
                <a:gd name="T51" fmla="*/ 20 h 20"/>
                <a:gd name="T52" fmla="*/ 14 w 20"/>
                <a:gd name="T53" fmla="*/ 18 h 20"/>
                <a:gd name="T54" fmla="*/ 15 w 20"/>
                <a:gd name="T55" fmla="*/ 18 h 20"/>
                <a:gd name="T56" fmla="*/ 17 w 20"/>
                <a:gd name="T57" fmla="*/ 17 h 20"/>
                <a:gd name="T58" fmla="*/ 19 w 20"/>
                <a:gd name="T59" fmla="*/ 15 h 20"/>
                <a:gd name="T60" fmla="*/ 19 w 20"/>
                <a:gd name="T61" fmla="*/ 13 h 20"/>
                <a:gd name="T62" fmla="*/ 20 w 20"/>
                <a:gd name="T63" fmla="*/ 12 h 20"/>
                <a:gd name="T64" fmla="*/ 20 w 20"/>
                <a:gd name="T65" fmla="*/ 10 h 20"/>
                <a:gd name="T66" fmla="*/ 15 w 20"/>
                <a:gd name="T67" fmla="*/ 10 h 20"/>
                <a:gd name="T68" fmla="*/ 15 w 20"/>
                <a:gd name="T69" fmla="*/ 10 h 20"/>
                <a:gd name="T70" fmla="*/ 15 w 20"/>
                <a:gd name="T71" fmla="*/ 12 h 20"/>
                <a:gd name="T72" fmla="*/ 14 w 20"/>
                <a:gd name="T73" fmla="*/ 13 h 20"/>
                <a:gd name="T74" fmla="*/ 12 w 20"/>
                <a:gd name="T75" fmla="*/ 13 h 20"/>
                <a:gd name="T76" fmla="*/ 12 w 20"/>
                <a:gd name="T77" fmla="*/ 15 h 20"/>
                <a:gd name="T78" fmla="*/ 10 w 20"/>
                <a:gd name="T79" fmla="*/ 15 h 20"/>
                <a:gd name="T80" fmla="*/ 9 w 20"/>
                <a:gd name="T81" fmla="*/ 15 h 20"/>
                <a:gd name="T82" fmla="*/ 7 w 20"/>
                <a:gd name="T83" fmla="*/ 13 h 20"/>
                <a:gd name="T84" fmla="*/ 5 w 20"/>
                <a:gd name="T85" fmla="*/ 13 h 20"/>
                <a:gd name="T86" fmla="*/ 5 w 20"/>
                <a:gd name="T87" fmla="*/ 12 h 20"/>
                <a:gd name="T88" fmla="*/ 5 w 20"/>
                <a:gd name="T89" fmla="*/ 10 h 20"/>
                <a:gd name="T90" fmla="*/ 5 w 20"/>
                <a:gd name="T91" fmla="*/ 9 h 20"/>
                <a:gd name="T92" fmla="*/ 5 w 20"/>
                <a:gd name="T93" fmla="*/ 7 h 20"/>
                <a:gd name="T94" fmla="*/ 7 w 20"/>
                <a:gd name="T95" fmla="*/ 7 h 20"/>
                <a:gd name="T96" fmla="*/ 7 w 20"/>
                <a:gd name="T97" fmla="*/ 5 h 20"/>
                <a:gd name="T98" fmla="*/ 9 w 20"/>
                <a:gd name="T99" fmla="*/ 5 h 20"/>
                <a:gd name="T100" fmla="*/ 10 w 20"/>
                <a:gd name="T101" fmla="*/ 5 h 20"/>
                <a:gd name="T102" fmla="*/ 12 w 20"/>
                <a:gd name="T103" fmla="*/ 5 h 20"/>
                <a:gd name="T104" fmla="*/ 14 w 20"/>
                <a:gd name="T105" fmla="*/ 7 h 20"/>
                <a:gd name="T106" fmla="*/ 15 w 20"/>
                <a:gd name="T107" fmla="*/ 9 h 20"/>
                <a:gd name="T108" fmla="*/ 15 w 20"/>
                <a:gd name="T109" fmla="*/ 1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0" h="20">
                  <a:moveTo>
                    <a:pt x="20" y="10"/>
                  </a:moveTo>
                  <a:lnTo>
                    <a:pt x="20" y="9"/>
                  </a:lnTo>
                  <a:lnTo>
                    <a:pt x="19" y="7"/>
                  </a:lnTo>
                  <a:lnTo>
                    <a:pt x="19" y="5"/>
                  </a:lnTo>
                  <a:lnTo>
                    <a:pt x="17" y="4"/>
                  </a:lnTo>
                  <a:lnTo>
                    <a:pt x="15" y="2"/>
                  </a:lnTo>
                  <a:lnTo>
                    <a:pt x="14" y="2"/>
                  </a:lnTo>
                  <a:lnTo>
                    <a:pt x="12" y="0"/>
                  </a:lnTo>
                  <a:lnTo>
                    <a:pt x="10" y="0"/>
                  </a:lnTo>
                  <a:lnTo>
                    <a:pt x="9" y="0"/>
                  </a:lnTo>
                  <a:lnTo>
                    <a:pt x="7" y="2"/>
                  </a:lnTo>
                  <a:lnTo>
                    <a:pt x="5" y="2"/>
                  </a:lnTo>
                  <a:lnTo>
                    <a:pt x="4" y="4"/>
                  </a:lnTo>
                  <a:lnTo>
                    <a:pt x="2" y="5"/>
                  </a:lnTo>
                  <a:lnTo>
                    <a:pt x="2" y="7"/>
                  </a:lnTo>
                  <a:lnTo>
                    <a:pt x="0" y="9"/>
                  </a:lnTo>
                  <a:lnTo>
                    <a:pt x="0" y="10"/>
                  </a:lnTo>
                  <a:lnTo>
                    <a:pt x="0" y="12"/>
                  </a:lnTo>
                  <a:lnTo>
                    <a:pt x="2" y="13"/>
                  </a:lnTo>
                  <a:lnTo>
                    <a:pt x="2" y="15"/>
                  </a:lnTo>
                  <a:lnTo>
                    <a:pt x="4" y="17"/>
                  </a:lnTo>
                  <a:lnTo>
                    <a:pt x="5" y="18"/>
                  </a:lnTo>
                  <a:lnTo>
                    <a:pt x="7" y="18"/>
                  </a:lnTo>
                  <a:lnTo>
                    <a:pt x="9" y="20"/>
                  </a:lnTo>
                  <a:lnTo>
                    <a:pt x="10" y="20"/>
                  </a:lnTo>
                  <a:lnTo>
                    <a:pt x="12" y="20"/>
                  </a:lnTo>
                  <a:lnTo>
                    <a:pt x="14" y="18"/>
                  </a:lnTo>
                  <a:lnTo>
                    <a:pt x="15" y="18"/>
                  </a:lnTo>
                  <a:lnTo>
                    <a:pt x="17" y="17"/>
                  </a:lnTo>
                  <a:lnTo>
                    <a:pt x="19" y="15"/>
                  </a:lnTo>
                  <a:lnTo>
                    <a:pt x="19" y="13"/>
                  </a:lnTo>
                  <a:lnTo>
                    <a:pt x="20" y="12"/>
                  </a:lnTo>
                  <a:lnTo>
                    <a:pt x="20" y="10"/>
                  </a:lnTo>
                  <a:close/>
                  <a:moveTo>
                    <a:pt x="15" y="10"/>
                  </a:moveTo>
                  <a:lnTo>
                    <a:pt x="15" y="10"/>
                  </a:lnTo>
                  <a:lnTo>
                    <a:pt x="15" y="12"/>
                  </a:lnTo>
                  <a:lnTo>
                    <a:pt x="14" y="13"/>
                  </a:lnTo>
                  <a:lnTo>
                    <a:pt x="12" y="13"/>
                  </a:lnTo>
                  <a:lnTo>
                    <a:pt x="12" y="15"/>
                  </a:lnTo>
                  <a:lnTo>
                    <a:pt x="10" y="15"/>
                  </a:lnTo>
                  <a:lnTo>
                    <a:pt x="9" y="15"/>
                  </a:lnTo>
                  <a:lnTo>
                    <a:pt x="7" y="13"/>
                  </a:lnTo>
                  <a:lnTo>
                    <a:pt x="5" y="13"/>
                  </a:lnTo>
                  <a:lnTo>
                    <a:pt x="5" y="12"/>
                  </a:lnTo>
                  <a:lnTo>
                    <a:pt x="5" y="10"/>
                  </a:lnTo>
                  <a:lnTo>
                    <a:pt x="5" y="9"/>
                  </a:lnTo>
                  <a:lnTo>
                    <a:pt x="5" y="7"/>
                  </a:lnTo>
                  <a:lnTo>
                    <a:pt x="7" y="7"/>
                  </a:lnTo>
                  <a:lnTo>
                    <a:pt x="7" y="5"/>
                  </a:lnTo>
                  <a:lnTo>
                    <a:pt x="9" y="5"/>
                  </a:lnTo>
                  <a:lnTo>
                    <a:pt x="10" y="5"/>
                  </a:lnTo>
                  <a:lnTo>
                    <a:pt x="12" y="5"/>
                  </a:lnTo>
                  <a:lnTo>
                    <a:pt x="14" y="7"/>
                  </a:lnTo>
                  <a:lnTo>
                    <a:pt x="15" y="9"/>
                  </a:lnTo>
                  <a:lnTo>
                    <a:pt x="15" y="10"/>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38" name="Freeform 279">
              <a:extLst>
                <a:ext uri="{FF2B5EF4-FFF2-40B4-BE49-F238E27FC236}">
                  <a16:creationId xmlns:a16="http://schemas.microsoft.com/office/drawing/2014/main" id="{A8D024B1-1808-7AD5-BBEF-3C4A5C38AB9D}"/>
                </a:ext>
              </a:extLst>
            </p:cNvPr>
            <p:cNvSpPr>
              <a:spLocks/>
            </p:cNvSpPr>
            <p:nvPr/>
          </p:nvSpPr>
          <p:spPr bwMode="auto">
            <a:xfrm>
              <a:off x="1830" y="1607"/>
              <a:ext cx="13" cy="13"/>
            </a:xfrm>
            <a:custGeom>
              <a:avLst/>
              <a:gdLst>
                <a:gd name="T0" fmla="*/ 13 w 13"/>
                <a:gd name="T1" fmla="*/ 6 h 13"/>
                <a:gd name="T2" fmla="*/ 13 w 13"/>
                <a:gd name="T3" fmla="*/ 5 h 13"/>
                <a:gd name="T4" fmla="*/ 13 w 13"/>
                <a:gd name="T5" fmla="*/ 3 h 13"/>
                <a:gd name="T6" fmla="*/ 11 w 13"/>
                <a:gd name="T7" fmla="*/ 1 h 13"/>
                <a:gd name="T8" fmla="*/ 10 w 13"/>
                <a:gd name="T9" fmla="*/ 0 h 13"/>
                <a:gd name="T10" fmla="*/ 8 w 13"/>
                <a:gd name="T11" fmla="*/ 0 h 13"/>
                <a:gd name="T12" fmla="*/ 6 w 13"/>
                <a:gd name="T13" fmla="*/ 0 h 13"/>
                <a:gd name="T14" fmla="*/ 5 w 13"/>
                <a:gd name="T15" fmla="*/ 0 h 13"/>
                <a:gd name="T16" fmla="*/ 3 w 13"/>
                <a:gd name="T17" fmla="*/ 0 h 13"/>
                <a:gd name="T18" fmla="*/ 1 w 13"/>
                <a:gd name="T19" fmla="*/ 0 h 13"/>
                <a:gd name="T20" fmla="*/ 1 w 13"/>
                <a:gd name="T21" fmla="*/ 1 h 13"/>
                <a:gd name="T22" fmla="*/ 0 w 13"/>
                <a:gd name="T23" fmla="*/ 1 h 13"/>
                <a:gd name="T24" fmla="*/ 0 w 13"/>
                <a:gd name="T25" fmla="*/ 3 h 13"/>
                <a:gd name="T26" fmla="*/ 0 w 13"/>
                <a:gd name="T27" fmla="*/ 5 h 13"/>
                <a:gd name="T28" fmla="*/ 0 w 13"/>
                <a:gd name="T29" fmla="*/ 6 h 13"/>
                <a:gd name="T30" fmla="*/ 0 w 13"/>
                <a:gd name="T31" fmla="*/ 8 h 13"/>
                <a:gd name="T32" fmla="*/ 0 w 13"/>
                <a:gd name="T33" fmla="*/ 9 h 13"/>
                <a:gd name="T34" fmla="*/ 1 w 13"/>
                <a:gd name="T35" fmla="*/ 11 h 13"/>
                <a:gd name="T36" fmla="*/ 3 w 13"/>
                <a:gd name="T37" fmla="*/ 13 h 13"/>
                <a:gd name="T38" fmla="*/ 5 w 13"/>
                <a:gd name="T39" fmla="*/ 13 h 13"/>
                <a:gd name="T40" fmla="*/ 6 w 13"/>
                <a:gd name="T41" fmla="*/ 13 h 13"/>
                <a:gd name="T42" fmla="*/ 8 w 13"/>
                <a:gd name="T43" fmla="*/ 13 h 13"/>
                <a:gd name="T44" fmla="*/ 10 w 13"/>
                <a:gd name="T45" fmla="*/ 13 h 13"/>
                <a:gd name="T46" fmla="*/ 10 w 13"/>
                <a:gd name="T47" fmla="*/ 11 h 13"/>
                <a:gd name="T48" fmla="*/ 11 w 13"/>
                <a:gd name="T49" fmla="*/ 11 h 13"/>
                <a:gd name="T50" fmla="*/ 11 w 13"/>
                <a:gd name="T51" fmla="*/ 9 h 13"/>
                <a:gd name="T52" fmla="*/ 13 w 13"/>
                <a:gd name="T53" fmla="*/ 9 h 13"/>
                <a:gd name="T54" fmla="*/ 13 w 13"/>
                <a:gd name="T55" fmla="*/ 8 h 13"/>
                <a:gd name="T56" fmla="*/ 13 w 13"/>
                <a:gd name="T57" fmla="*/ 6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 h="13">
                  <a:moveTo>
                    <a:pt x="13" y="6"/>
                  </a:moveTo>
                  <a:lnTo>
                    <a:pt x="13" y="5"/>
                  </a:lnTo>
                  <a:lnTo>
                    <a:pt x="13" y="3"/>
                  </a:lnTo>
                  <a:lnTo>
                    <a:pt x="11" y="1"/>
                  </a:lnTo>
                  <a:lnTo>
                    <a:pt x="10" y="0"/>
                  </a:lnTo>
                  <a:lnTo>
                    <a:pt x="8" y="0"/>
                  </a:lnTo>
                  <a:lnTo>
                    <a:pt x="6" y="0"/>
                  </a:lnTo>
                  <a:lnTo>
                    <a:pt x="5" y="0"/>
                  </a:lnTo>
                  <a:lnTo>
                    <a:pt x="3" y="0"/>
                  </a:lnTo>
                  <a:lnTo>
                    <a:pt x="1" y="0"/>
                  </a:lnTo>
                  <a:lnTo>
                    <a:pt x="1" y="1"/>
                  </a:lnTo>
                  <a:lnTo>
                    <a:pt x="0" y="1"/>
                  </a:lnTo>
                  <a:lnTo>
                    <a:pt x="0" y="3"/>
                  </a:lnTo>
                  <a:lnTo>
                    <a:pt x="0" y="5"/>
                  </a:lnTo>
                  <a:lnTo>
                    <a:pt x="0" y="6"/>
                  </a:lnTo>
                  <a:lnTo>
                    <a:pt x="0" y="8"/>
                  </a:lnTo>
                  <a:lnTo>
                    <a:pt x="0" y="9"/>
                  </a:lnTo>
                  <a:lnTo>
                    <a:pt x="1" y="11"/>
                  </a:lnTo>
                  <a:lnTo>
                    <a:pt x="3" y="13"/>
                  </a:lnTo>
                  <a:lnTo>
                    <a:pt x="5" y="13"/>
                  </a:lnTo>
                  <a:lnTo>
                    <a:pt x="6" y="13"/>
                  </a:lnTo>
                  <a:lnTo>
                    <a:pt x="8" y="13"/>
                  </a:lnTo>
                  <a:lnTo>
                    <a:pt x="10" y="13"/>
                  </a:lnTo>
                  <a:lnTo>
                    <a:pt x="10" y="11"/>
                  </a:lnTo>
                  <a:lnTo>
                    <a:pt x="11" y="11"/>
                  </a:lnTo>
                  <a:lnTo>
                    <a:pt x="11" y="9"/>
                  </a:lnTo>
                  <a:lnTo>
                    <a:pt x="13" y="9"/>
                  </a:lnTo>
                  <a:lnTo>
                    <a:pt x="13" y="8"/>
                  </a:lnTo>
                  <a:lnTo>
                    <a:pt x="13" y="6"/>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39" name="Freeform 280">
              <a:extLst>
                <a:ext uri="{FF2B5EF4-FFF2-40B4-BE49-F238E27FC236}">
                  <a16:creationId xmlns:a16="http://schemas.microsoft.com/office/drawing/2014/main" id="{97E7ADEF-8705-7D91-445D-7855A8600899}"/>
                </a:ext>
              </a:extLst>
            </p:cNvPr>
            <p:cNvSpPr>
              <a:spLocks/>
            </p:cNvSpPr>
            <p:nvPr/>
          </p:nvSpPr>
          <p:spPr bwMode="auto">
            <a:xfrm>
              <a:off x="1831" y="1608"/>
              <a:ext cx="10" cy="10"/>
            </a:xfrm>
            <a:custGeom>
              <a:avLst/>
              <a:gdLst>
                <a:gd name="T0" fmla="*/ 10 w 10"/>
                <a:gd name="T1" fmla="*/ 5 h 10"/>
                <a:gd name="T2" fmla="*/ 10 w 10"/>
                <a:gd name="T3" fmla="*/ 4 h 10"/>
                <a:gd name="T4" fmla="*/ 9 w 10"/>
                <a:gd name="T5" fmla="*/ 2 h 10"/>
                <a:gd name="T6" fmla="*/ 7 w 10"/>
                <a:gd name="T7" fmla="*/ 0 h 10"/>
                <a:gd name="T8" fmla="*/ 5 w 10"/>
                <a:gd name="T9" fmla="*/ 0 h 10"/>
                <a:gd name="T10" fmla="*/ 4 w 10"/>
                <a:gd name="T11" fmla="*/ 0 h 10"/>
                <a:gd name="T12" fmla="*/ 2 w 10"/>
                <a:gd name="T13" fmla="*/ 0 h 10"/>
                <a:gd name="T14" fmla="*/ 2 w 10"/>
                <a:gd name="T15" fmla="*/ 2 h 10"/>
                <a:gd name="T16" fmla="*/ 0 w 10"/>
                <a:gd name="T17" fmla="*/ 2 h 10"/>
                <a:gd name="T18" fmla="*/ 0 w 10"/>
                <a:gd name="T19" fmla="*/ 4 h 10"/>
                <a:gd name="T20" fmla="*/ 0 w 10"/>
                <a:gd name="T21" fmla="*/ 5 h 10"/>
                <a:gd name="T22" fmla="*/ 0 w 10"/>
                <a:gd name="T23" fmla="*/ 7 h 10"/>
                <a:gd name="T24" fmla="*/ 0 w 10"/>
                <a:gd name="T25" fmla="*/ 8 h 10"/>
                <a:gd name="T26" fmla="*/ 2 w 10"/>
                <a:gd name="T27" fmla="*/ 8 h 10"/>
                <a:gd name="T28" fmla="*/ 4 w 10"/>
                <a:gd name="T29" fmla="*/ 10 h 10"/>
                <a:gd name="T30" fmla="*/ 5 w 10"/>
                <a:gd name="T31" fmla="*/ 10 h 10"/>
                <a:gd name="T32" fmla="*/ 7 w 10"/>
                <a:gd name="T33" fmla="*/ 10 h 10"/>
                <a:gd name="T34" fmla="*/ 7 w 10"/>
                <a:gd name="T35" fmla="*/ 8 h 10"/>
                <a:gd name="T36" fmla="*/ 9 w 10"/>
                <a:gd name="T37" fmla="*/ 8 h 10"/>
                <a:gd name="T38" fmla="*/ 10 w 10"/>
                <a:gd name="T39" fmla="*/ 7 h 10"/>
                <a:gd name="T40" fmla="*/ 10 w 10"/>
                <a:gd name="T41" fmla="*/ 5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0" h="10">
                  <a:moveTo>
                    <a:pt x="10" y="5"/>
                  </a:moveTo>
                  <a:lnTo>
                    <a:pt x="10" y="4"/>
                  </a:lnTo>
                  <a:lnTo>
                    <a:pt x="9" y="2"/>
                  </a:lnTo>
                  <a:lnTo>
                    <a:pt x="7" y="0"/>
                  </a:lnTo>
                  <a:lnTo>
                    <a:pt x="5" y="0"/>
                  </a:lnTo>
                  <a:lnTo>
                    <a:pt x="4" y="0"/>
                  </a:lnTo>
                  <a:lnTo>
                    <a:pt x="2" y="0"/>
                  </a:lnTo>
                  <a:lnTo>
                    <a:pt x="2" y="2"/>
                  </a:lnTo>
                  <a:lnTo>
                    <a:pt x="0" y="2"/>
                  </a:lnTo>
                  <a:lnTo>
                    <a:pt x="0" y="4"/>
                  </a:lnTo>
                  <a:lnTo>
                    <a:pt x="0" y="5"/>
                  </a:lnTo>
                  <a:lnTo>
                    <a:pt x="0" y="7"/>
                  </a:lnTo>
                  <a:lnTo>
                    <a:pt x="0" y="8"/>
                  </a:lnTo>
                  <a:lnTo>
                    <a:pt x="2" y="8"/>
                  </a:lnTo>
                  <a:lnTo>
                    <a:pt x="4" y="10"/>
                  </a:lnTo>
                  <a:lnTo>
                    <a:pt x="5" y="10"/>
                  </a:lnTo>
                  <a:lnTo>
                    <a:pt x="7" y="10"/>
                  </a:lnTo>
                  <a:lnTo>
                    <a:pt x="7" y="8"/>
                  </a:lnTo>
                  <a:lnTo>
                    <a:pt x="9" y="8"/>
                  </a:lnTo>
                  <a:lnTo>
                    <a:pt x="10" y="7"/>
                  </a:lnTo>
                  <a:lnTo>
                    <a:pt x="10" y="5"/>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40" name="Freeform 281">
              <a:extLst>
                <a:ext uri="{FF2B5EF4-FFF2-40B4-BE49-F238E27FC236}">
                  <a16:creationId xmlns:a16="http://schemas.microsoft.com/office/drawing/2014/main" id="{5A4C3E0C-2592-1061-CD38-5F9CEED89D91}"/>
                </a:ext>
              </a:extLst>
            </p:cNvPr>
            <p:cNvSpPr>
              <a:spLocks/>
            </p:cNvSpPr>
            <p:nvPr/>
          </p:nvSpPr>
          <p:spPr bwMode="auto">
            <a:xfrm>
              <a:off x="1833" y="1610"/>
              <a:ext cx="5" cy="5"/>
            </a:xfrm>
            <a:custGeom>
              <a:avLst/>
              <a:gdLst>
                <a:gd name="T0" fmla="*/ 5 w 5"/>
                <a:gd name="T1" fmla="*/ 3 h 5"/>
                <a:gd name="T2" fmla="*/ 5 w 5"/>
                <a:gd name="T3" fmla="*/ 3 h 5"/>
                <a:gd name="T4" fmla="*/ 5 w 5"/>
                <a:gd name="T5" fmla="*/ 2 h 5"/>
                <a:gd name="T6" fmla="*/ 3 w 5"/>
                <a:gd name="T7" fmla="*/ 2 h 5"/>
                <a:gd name="T8" fmla="*/ 3 w 5"/>
                <a:gd name="T9" fmla="*/ 0 h 5"/>
                <a:gd name="T10" fmla="*/ 2 w 5"/>
                <a:gd name="T11" fmla="*/ 2 h 5"/>
                <a:gd name="T12" fmla="*/ 0 w 5"/>
                <a:gd name="T13" fmla="*/ 3 h 5"/>
                <a:gd name="T14" fmla="*/ 2 w 5"/>
                <a:gd name="T15" fmla="*/ 3 h 5"/>
                <a:gd name="T16" fmla="*/ 2 w 5"/>
                <a:gd name="T17" fmla="*/ 5 h 5"/>
                <a:gd name="T18" fmla="*/ 3 w 5"/>
                <a:gd name="T19" fmla="*/ 5 h 5"/>
                <a:gd name="T20" fmla="*/ 5 w 5"/>
                <a:gd name="T21" fmla="*/ 5 h 5"/>
                <a:gd name="T22" fmla="*/ 5 w 5"/>
                <a:gd name="T23" fmla="*/ 3 h 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5" h="5">
                  <a:moveTo>
                    <a:pt x="5" y="3"/>
                  </a:moveTo>
                  <a:lnTo>
                    <a:pt x="5" y="3"/>
                  </a:lnTo>
                  <a:lnTo>
                    <a:pt x="5" y="2"/>
                  </a:lnTo>
                  <a:lnTo>
                    <a:pt x="3" y="2"/>
                  </a:lnTo>
                  <a:lnTo>
                    <a:pt x="3" y="0"/>
                  </a:lnTo>
                  <a:lnTo>
                    <a:pt x="2" y="2"/>
                  </a:lnTo>
                  <a:lnTo>
                    <a:pt x="0" y="3"/>
                  </a:lnTo>
                  <a:lnTo>
                    <a:pt x="2" y="3"/>
                  </a:lnTo>
                  <a:lnTo>
                    <a:pt x="2" y="5"/>
                  </a:lnTo>
                  <a:lnTo>
                    <a:pt x="3" y="5"/>
                  </a:lnTo>
                  <a:lnTo>
                    <a:pt x="5" y="5"/>
                  </a:lnTo>
                  <a:lnTo>
                    <a:pt x="5" y="3"/>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41" name="Freeform 282">
              <a:extLst>
                <a:ext uri="{FF2B5EF4-FFF2-40B4-BE49-F238E27FC236}">
                  <a16:creationId xmlns:a16="http://schemas.microsoft.com/office/drawing/2014/main" id="{E10D8FB1-C27D-7836-8539-01C7B83D855E}"/>
                </a:ext>
              </a:extLst>
            </p:cNvPr>
            <p:cNvSpPr>
              <a:spLocks/>
            </p:cNvSpPr>
            <p:nvPr/>
          </p:nvSpPr>
          <p:spPr bwMode="auto">
            <a:xfrm>
              <a:off x="1232" y="1514"/>
              <a:ext cx="1209" cy="199"/>
            </a:xfrm>
            <a:custGeom>
              <a:avLst/>
              <a:gdLst>
                <a:gd name="T0" fmla="*/ 422 w 1209"/>
                <a:gd name="T1" fmla="*/ 0 h 199"/>
                <a:gd name="T2" fmla="*/ 0 w 1209"/>
                <a:gd name="T3" fmla="*/ 199 h 199"/>
                <a:gd name="T4" fmla="*/ 763 w 1209"/>
                <a:gd name="T5" fmla="*/ 199 h 199"/>
                <a:gd name="T6" fmla="*/ 1209 w 1209"/>
                <a:gd name="T7" fmla="*/ 0 h 199"/>
                <a:gd name="T8" fmla="*/ 422 w 1209"/>
                <a:gd name="T9" fmla="*/ 0 h 199"/>
              </a:gdLst>
              <a:ahLst/>
              <a:cxnLst>
                <a:cxn ang="0">
                  <a:pos x="T0" y="T1"/>
                </a:cxn>
                <a:cxn ang="0">
                  <a:pos x="T2" y="T3"/>
                </a:cxn>
                <a:cxn ang="0">
                  <a:pos x="T4" y="T5"/>
                </a:cxn>
                <a:cxn ang="0">
                  <a:pos x="T6" y="T7"/>
                </a:cxn>
                <a:cxn ang="0">
                  <a:pos x="T8" y="T9"/>
                </a:cxn>
              </a:cxnLst>
              <a:rect l="0" t="0" r="r" b="b"/>
              <a:pathLst>
                <a:path w="1209" h="199">
                  <a:moveTo>
                    <a:pt x="422" y="0"/>
                  </a:moveTo>
                  <a:lnTo>
                    <a:pt x="0" y="199"/>
                  </a:lnTo>
                  <a:lnTo>
                    <a:pt x="763" y="199"/>
                  </a:lnTo>
                  <a:lnTo>
                    <a:pt x="1209" y="0"/>
                  </a:lnTo>
                  <a:lnTo>
                    <a:pt x="422"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942" name="Freeform 283">
              <a:extLst>
                <a:ext uri="{FF2B5EF4-FFF2-40B4-BE49-F238E27FC236}">
                  <a16:creationId xmlns:a16="http://schemas.microsoft.com/office/drawing/2014/main" id="{A4A32E4C-F5F7-DA87-BC8E-D05C4767AC80}"/>
                </a:ext>
              </a:extLst>
            </p:cNvPr>
            <p:cNvSpPr>
              <a:spLocks noEditPoints="1"/>
            </p:cNvSpPr>
            <p:nvPr/>
          </p:nvSpPr>
          <p:spPr bwMode="auto">
            <a:xfrm>
              <a:off x="1229" y="1713"/>
              <a:ext cx="766" cy="51"/>
            </a:xfrm>
            <a:custGeom>
              <a:avLst/>
              <a:gdLst>
                <a:gd name="T0" fmla="*/ 766 w 766"/>
                <a:gd name="T1" fmla="*/ 0 h 51"/>
                <a:gd name="T2" fmla="*/ 766 w 766"/>
                <a:gd name="T3" fmla="*/ 0 h 51"/>
                <a:gd name="T4" fmla="*/ 763 w 766"/>
                <a:gd name="T5" fmla="*/ 0 h 51"/>
                <a:gd name="T6" fmla="*/ 763 w 766"/>
                <a:gd name="T7" fmla="*/ 3 h 51"/>
                <a:gd name="T8" fmla="*/ 763 w 766"/>
                <a:gd name="T9" fmla="*/ 6 h 51"/>
                <a:gd name="T10" fmla="*/ 763 w 766"/>
                <a:gd name="T11" fmla="*/ 9 h 51"/>
                <a:gd name="T12" fmla="*/ 763 w 766"/>
                <a:gd name="T13" fmla="*/ 11 h 51"/>
                <a:gd name="T14" fmla="*/ 763 w 766"/>
                <a:gd name="T15" fmla="*/ 14 h 51"/>
                <a:gd name="T16" fmla="*/ 763 w 766"/>
                <a:gd name="T17" fmla="*/ 18 h 51"/>
                <a:gd name="T18" fmla="*/ 763 w 766"/>
                <a:gd name="T19" fmla="*/ 21 h 51"/>
                <a:gd name="T20" fmla="*/ 763 w 766"/>
                <a:gd name="T21" fmla="*/ 24 h 51"/>
                <a:gd name="T22" fmla="*/ 763 w 766"/>
                <a:gd name="T23" fmla="*/ 28 h 51"/>
                <a:gd name="T24" fmla="*/ 763 w 766"/>
                <a:gd name="T25" fmla="*/ 31 h 51"/>
                <a:gd name="T26" fmla="*/ 763 w 766"/>
                <a:gd name="T27" fmla="*/ 34 h 51"/>
                <a:gd name="T28" fmla="*/ 763 w 766"/>
                <a:gd name="T29" fmla="*/ 38 h 51"/>
                <a:gd name="T30" fmla="*/ 763 w 766"/>
                <a:gd name="T31" fmla="*/ 41 h 51"/>
                <a:gd name="T32" fmla="*/ 763 w 766"/>
                <a:gd name="T33" fmla="*/ 44 h 51"/>
                <a:gd name="T34" fmla="*/ 763 w 766"/>
                <a:gd name="T35" fmla="*/ 48 h 51"/>
                <a:gd name="T36" fmla="*/ 763 w 766"/>
                <a:gd name="T37" fmla="*/ 51 h 51"/>
                <a:gd name="T38" fmla="*/ 766 w 766"/>
                <a:gd name="T39" fmla="*/ 51 h 51"/>
                <a:gd name="T40" fmla="*/ 766 w 766"/>
                <a:gd name="T41" fmla="*/ 0 h 51"/>
                <a:gd name="T42" fmla="*/ 0 w 766"/>
                <a:gd name="T43" fmla="*/ 0 h 51"/>
                <a:gd name="T44" fmla="*/ 0 w 766"/>
                <a:gd name="T45" fmla="*/ 0 h 51"/>
                <a:gd name="T46" fmla="*/ 0 w 766"/>
                <a:gd name="T47" fmla="*/ 51 h 51"/>
                <a:gd name="T48" fmla="*/ 3 w 766"/>
                <a:gd name="T49" fmla="*/ 51 h 51"/>
                <a:gd name="T50" fmla="*/ 1 w 766"/>
                <a:gd name="T51" fmla="*/ 48 h 51"/>
                <a:gd name="T52" fmla="*/ 1 w 766"/>
                <a:gd name="T53" fmla="*/ 44 h 51"/>
                <a:gd name="T54" fmla="*/ 1 w 766"/>
                <a:gd name="T55" fmla="*/ 41 h 51"/>
                <a:gd name="T56" fmla="*/ 1 w 766"/>
                <a:gd name="T57" fmla="*/ 38 h 51"/>
                <a:gd name="T58" fmla="*/ 1 w 766"/>
                <a:gd name="T59" fmla="*/ 34 h 51"/>
                <a:gd name="T60" fmla="*/ 1 w 766"/>
                <a:gd name="T61" fmla="*/ 31 h 51"/>
                <a:gd name="T62" fmla="*/ 1 w 766"/>
                <a:gd name="T63" fmla="*/ 28 h 51"/>
                <a:gd name="T64" fmla="*/ 1 w 766"/>
                <a:gd name="T65" fmla="*/ 24 h 51"/>
                <a:gd name="T66" fmla="*/ 1 w 766"/>
                <a:gd name="T67" fmla="*/ 21 h 51"/>
                <a:gd name="T68" fmla="*/ 1 w 766"/>
                <a:gd name="T69" fmla="*/ 18 h 51"/>
                <a:gd name="T70" fmla="*/ 1 w 766"/>
                <a:gd name="T71" fmla="*/ 14 h 51"/>
                <a:gd name="T72" fmla="*/ 1 w 766"/>
                <a:gd name="T73" fmla="*/ 11 h 51"/>
                <a:gd name="T74" fmla="*/ 1 w 766"/>
                <a:gd name="T75" fmla="*/ 9 h 51"/>
                <a:gd name="T76" fmla="*/ 1 w 766"/>
                <a:gd name="T77" fmla="*/ 6 h 51"/>
                <a:gd name="T78" fmla="*/ 1 w 766"/>
                <a:gd name="T79" fmla="*/ 3 h 51"/>
                <a:gd name="T80" fmla="*/ 3 w 766"/>
                <a:gd name="T81" fmla="*/ 0 h 51"/>
                <a:gd name="T82" fmla="*/ 0 w 766"/>
                <a:gd name="T83"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66" h="51">
                  <a:moveTo>
                    <a:pt x="766" y="0"/>
                  </a:moveTo>
                  <a:lnTo>
                    <a:pt x="766" y="0"/>
                  </a:lnTo>
                  <a:lnTo>
                    <a:pt x="763" y="0"/>
                  </a:lnTo>
                  <a:lnTo>
                    <a:pt x="763" y="3"/>
                  </a:lnTo>
                  <a:lnTo>
                    <a:pt x="763" y="6"/>
                  </a:lnTo>
                  <a:lnTo>
                    <a:pt x="763" y="9"/>
                  </a:lnTo>
                  <a:lnTo>
                    <a:pt x="763" y="11"/>
                  </a:lnTo>
                  <a:lnTo>
                    <a:pt x="763" y="14"/>
                  </a:lnTo>
                  <a:lnTo>
                    <a:pt x="763" y="18"/>
                  </a:lnTo>
                  <a:lnTo>
                    <a:pt x="763" y="21"/>
                  </a:lnTo>
                  <a:lnTo>
                    <a:pt x="763" y="24"/>
                  </a:lnTo>
                  <a:lnTo>
                    <a:pt x="763" y="28"/>
                  </a:lnTo>
                  <a:lnTo>
                    <a:pt x="763" y="31"/>
                  </a:lnTo>
                  <a:lnTo>
                    <a:pt x="763" y="34"/>
                  </a:lnTo>
                  <a:lnTo>
                    <a:pt x="763" y="38"/>
                  </a:lnTo>
                  <a:lnTo>
                    <a:pt x="763" y="41"/>
                  </a:lnTo>
                  <a:lnTo>
                    <a:pt x="763" y="44"/>
                  </a:lnTo>
                  <a:lnTo>
                    <a:pt x="763" y="48"/>
                  </a:lnTo>
                  <a:lnTo>
                    <a:pt x="763" y="51"/>
                  </a:lnTo>
                  <a:lnTo>
                    <a:pt x="766" y="51"/>
                  </a:lnTo>
                  <a:lnTo>
                    <a:pt x="766" y="0"/>
                  </a:lnTo>
                  <a:close/>
                  <a:moveTo>
                    <a:pt x="0" y="0"/>
                  </a:moveTo>
                  <a:lnTo>
                    <a:pt x="0" y="0"/>
                  </a:lnTo>
                  <a:lnTo>
                    <a:pt x="0" y="51"/>
                  </a:lnTo>
                  <a:lnTo>
                    <a:pt x="3" y="51"/>
                  </a:lnTo>
                  <a:lnTo>
                    <a:pt x="1" y="48"/>
                  </a:lnTo>
                  <a:lnTo>
                    <a:pt x="1" y="44"/>
                  </a:lnTo>
                  <a:lnTo>
                    <a:pt x="1" y="41"/>
                  </a:lnTo>
                  <a:lnTo>
                    <a:pt x="1" y="38"/>
                  </a:lnTo>
                  <a:lnTo>
                    <a:pt x="1" y="34"/>
                  </a:lnTo>
                  <a:lnTo>
                    <a:pt x="1" y="31"/>
                  </a:lnTo>
                  <a:lnTo>
                    <a:pt x="1" y="28"/>
                  </a:lnTo>
                  <a:lnTo>
                    <a:pt x="1" y="24"/>
                  </a:lnTo>
                  <a:lnTo>
                    <a:pt x="1" y="21"/>
                  </a:lnTo>
                  <a:lnTo>
                    <a:pt x="1" y="18"/>
                  </a:lnTo>
                  <a:lnTo>
                    <a:pt x="1" y="14"/>
                  </a:lnTo>
                  <a:lnTo>
                    <a:pt x="1" y="11"/>
                  </a:lnTo>
                  <a:lnTo>
                    <a:pt x="1" y="9"/>
                  </a:lnTo>
                  <a:lnTo>
                    <a:pt x="1" y="6"/>
                  </a:lnTo>
                  <a:lnTo>
                    <a:pt x="1" y="3"/>
                  </a:lnTo>
                  <a:lnTo>
                    <a:pt x="3" y="0"/>
                  </a:lnTo>
                  <a:lnTo>
                    <a:pt x="0"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43" name="Freeform 284">
              <a:extLst>
                <a:ext uri="{FF2B5EF4-FFF2-40B4-BE49-F238E27FC236}">
                  <a16:creationId xmlns:a16="http://schemas.microsoft.com/office/drawing/2014/main" id="{A57FE821-DD0E-6967-A1A6-592EB544E269}"/>
                </a:ext>
              </a:extLst>
            </p:cNvPr>
            <p:cNvSpPr>
              <a:spLocks noEditPoints="1"/>
            </p:cNvSpPr>
            <p:nvPr/>
          </p:nvSpPr>
          <p:spPr bwMode="auto">
            <a:xfrm>
              <a:off x="1229" y="1713"/>
              <a:ext cx="765" cy="51"/>
            </a:xfrm>
            <a:custGeom>
              <a:avLst/>
              <a:gdLst>
                <a:gd name="T0" fmla="*/ 765 w 765"/>
                <a:gd name="T1" fmla="*/ 21 h 51"/>
                <a:gd name="T2" fmla="*/ 765 w 765"/>
                <a:gd name="T3" fmla="*/ 14 h 51"/>
                <a:gd name="T4" fmla="*/ 765 w 765"/>
                <a:gd name="T5" fmla="*/ 9 h 51"/>
                <a:gd name="T6" fmla="*/ 765 w 765"/>
                <a:gd name="T7" fmla="*/ 3 h 51"/>
                <a:gd name="T8" fmla="*/ 761 w 765"/>
                <a:gd name="T9" fmla="*/ 0 h 51"/>
                <a:gd name="T10" fmla="*/ 761 w 765"/>
                <a:gd name="T11" fmla="*/ 6 h 51"/>
                <a:gd name="T12" fmla="*/ 761 w 765"/>
                <a:gd name="T13" fmla="*/ 11 h 51"/>
                <a:gd name="T14" fmla="*/ 761 w 765"/>
                <a:gd name="T15" fmla="*/ 18 h 51"/>
                <a:gd name="T16" fmla="*/ 761 w 765"/>
                <a:gd name="T17" fmla="*/ 24 h 51"/>
                <a:gd name="T18" fmla="*/ 761 w 765"/>
                <a:gd name="T19" fmla="*/ 31 h 51"/>
                <a:gd name="T20" fmla="*/ 761 w 765"/>
                <a:gd name="T21" fmla="*/ 38 h 51"/>
                <a:gd name="T22" fmla="*/ 761 w 765"/>
                <a:gd name="T23" fmla="*/ 44 h 51"/>
                <a:gd name="T24" fmla="*/ 761 w 765"/>
                <a:gd name="T25" fmla="*/ 51 h 51"/>
                <a:gd name="T26" fmla="*/ 765 w 765"/>
                <a:gd name="T27" fmla="*/ 48 h 51"/>
                <a:gd name="T28" fmla="*/ 765 w 765"/>
                <a:gd name="T29" fmla="*/ 41 h 51"/>
                <a:gd name="T30" fmla="*/ 765 w 765"/>
                <a:gd name="T31" fmla="*/ 34 h 51"/>
                <a:gd name="T32" fmla="*/ 765 w 765"/>
                <a:gd name="T33" fmla="*/ 28 h 51"/>
                <a:gd name="T34" fmla="*/ 1 w 765"/>
                <a:gd name="T35" fmla="*/ 0 h 51"/>
                <a:gd name="T36" fmla="*/ 0 w 765"/>
                <a:gd name="T37" fmla="*/ 6 h 51"/>
                <a:gd name="T38" fmla="*/ 0 w 765"/>
                <a:gd name="T39" fmla="*/ 11 h 51"/>
                <a:gd name="T40" fmla="*/ 0 w 765"/>
                <a:gd name="T41" fmla="*/ 18 h 51"/>
                <a:gd name="T42" fmla="*/ 0 w 765"/>
                <a:gd name="T43" fmla="*/ 24 h 51"/>
                <a:gd name="T44" fmla="*/ 0 w 765"/>
                <a:gd name="T45" fmla="*/ 31 h 51"/>
                <a:gd name="T46" fmla="*/ 0 w 765"/>
                <a:gd name="T47" fmla="*/ 38 h 51"/>
                <a:gd name="T48" fmla="*/ 0 w 765"/>
                <a:gd name="T49" fmla="*/ 44 h 51"/>
                <a:gd name="T50" fmla="*/ 1 w 765"/>
                <a:gd name="T51" fmla="*/ 51 h 51"/>
                <a:gd name="T52" fmla="*/ 3 w 765"/>
                <a:gd name="T53" fmla="*/ 48 h 51"/>
                <a:gd name="T54" fmla="*/ 3 w 765"/>
                <a:gd name="T55" fmla="*/ 41 h 51"/>
                <a:gd name="T56" fmla="*/ 3 w 765"/>
                <a:gd name="T57" fmla="*/ 34 h 51"/>
                <a:gd name="T58" fmla="*/ 3 w 765"/>
                <a:gd name="T59" fmla="*/ 28 h 51"/>
                <a:gd name="T60" fmla="*/ 3 w 765"/>
                <a:gd name="T61" fmla="*/ 21 h 51"/>
                <a:gd name="T62" fmla="*/ 3 w 765"/>
                <a:gd name="T63" fmla="*/ 14 h 51"/>
                <a:gd name="T64" fmla="*/ 3 w 765"/>
                <a:gd name="T65" fmla="*/ 9 h 51"/>
                <a:gd name="T66" fmla="*/ 3 w 765"/>
                <a:gd name="T67" fmla="*/ 3 h 51"/>
                <a:gd name="T68" fmla="*/ 1 w 76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65" h="51">
                  <a:moveTo>
                    <a:pt x="765" y="24"/>
                  </a:moveTo>
                  <a:lnTo>
                    <a:pt x="765" y="21"/>
                  </a:lnTo>
                  <a:lnTo>
                    <a:pt x="765" y="18"/>
                  </a:lnTo>
                  <a:lnTo>
                    <a:pt x="765" y="14"/>
                  </a:lnTo>
                  <a:lnTo>
                    <a:pt x="765" y="11"/>
                  </a:lnTo>
                  <a:lnTo>
                    <a:pt x="765" y="9"/>
                  </a:lnTo>
                  <a:lnTo>
                    <a:pt x="765" y="6"/>
                  </a:lnTo>
                  <a:lnTo>
                    <a:pt x="765" y="3"/>
                  </a:lnTo>
                  <a:lnTo>
                    <a:pt x="765" y="0"/>
                  </a:lnTo>
                  <a:lnTo>
                    <a:pt x="761" y="0"/>
                  </a:lnTo>
                  <a:lnTo>
                    <a:pt x="761" y="3"/>
                  </a:lnTo>
                  <a:lnTo>
                    <a:pt x="761" y="6"/>
                  </a:lnTo>
                  <a:lnTo>
                    <a:pt x="761" y="9"/>
                  </a:lnTo>
                  <a:lnTo>
                    <a:pt x="761" y="11"/>
                  </a:lnTo>
                  <a:lnTo>
                    <a:pt x="761" y="14"/>
                  </a:lnTo>
                  <a:lnTo>
                    <a:pt x="761" y="18"/>
                  </a:lnTo>
                  <a:lnTo>
                    <a:pt x="761" y="21"/>
                  </a:lnTo>
                  <a:lnTo>
                    <a:pt x="761" y="24"/>
                  </a:lnTo>
                  <a:lnTo>
                    <a:pt x="761" y="28"/>
                  </a:lnTo>
                  <a:lnTo>
                    <a:pt x="761" y="31"/>
                  </a:lnTo>
                  <a:lnTo>
                    <a:pt x="761" y="34"/>
                  </a:lnTo>
                  <a:lnTo>
                    <a:pt x="761" y="38"/>
                  </a:lnTo>
                  <a:lnTo>
                    <a:pt x="761" y="41"/>
                  </a:lnTo>
                  <a:lnTo>
                    <a:pt x="761" y="44"/>
                  </a:lnTo>
                  <a:lnTo>
                    <a:pt x="761" y="48"/>
                  </a:lnTo>
                  <a:lnTo>
                    <a:pt x="761" y="51"/>
                  </a:lnTo>
                  <a:lnTo>
                    <a:pt x="765" y="51"/>
                  </a:lnTo>
                  <a:lnTo>
                    <a:pt x="765" y="48"/>
                  </a:lnTo>
                  <a:lnTo>
                    <a:pt x="765" y="44"/>
                  </a:lnTo>
                  <a:lnTo>
                    <a:pt x="765" y="41"/>
                  </a:lnTo>
                  <a:lnTo>
                    <a:pt x="765" y="38"/>
                  </a:lnTo>
                  <a:lnTo>
                    <a:pt x="765" y="34"/>
                  </a:lnTo>
                  <a:lnTo>
                    <a:pt x="765" y="31"/>
                  </a:lnTo>
                  <a:lnTo>
                    <a:pt x="765" y="28"/>
                  </a:lnTo>
                  <a:lnTo>
                    <a:pt x="76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44" name="Freeform 285">
              <a:extLst>
                <a:ext uri="{FF2B5EF4-FFF2-40B4-BE49-F238E27FC236}">
                  <a16:creationId xmlns:a16="http://schemas.microsoft.com/office/drawing/2014/main" id="{8CC60AE2-59A7-ECBD-D2CD-406974DED6EE}"/>
                </a:ext>
              </a:extLst>
            </p:cNvPr>
            <p:cNvSpPr>
              <a:spLocks noEditPoints="1"/>
            </p:cNvSpPr>
            <p:nvPr/>
          </p:nvSpPr>
          <p:spPr bwMode="auto">
            <a:xfrm>
              <a:off x="1230" y="1713"/>
              <a:ext cx="762" cy="51"/>
            </a:xfrm>
            <a:custGeom>
              <a:avLst/>
              <a:gdLst>
                <a:gd name="T0" fmla="*/ 762 w 762"/>
                <a:gd name="T1" fmla="*/ 21 h 51"/>
                <a:gd name="T2" fmla="*/ 762 w 762"/>
                <a:gd name="T3" fmla="*/ 14 h 51"/>
                <a:gd name="T4" fmla="*/ 762 w 762"/>
                <a:gd name="T5" fmla="*/ 9 h 51"/>
                <a:gd name="T6" fmla="*/ 762 w 762"/>
                <a:gd name="T7" fmla="*/ 3 h 51"/>
                <a:gd name="T8" fmla="*/ 759 w 762"/>
                <a:gd name="T9" fmla="*/ 0 h 51"/>
                <a:gd name="T10" fmla="*/ 759 w 762"/>
                <a:gd name="T11" fmla="*/ 6 h 51"/>
                <a:gd name="T12" fmla="*/ 759 w 762"/>
                <a:gd name="T13" fmla="*/ 11 h 51"/>
                <a:gd name="T14" fmla="*/ 759 w 762"/>
                <a:gd name="T15" fmla="*/ 18 h 51"/>
                <a:gd name="T16" fmla="*/ 759 w 762"/>
                <a:gd name="T17" fmla="*/ 24 h 51"/>
                <a:gd name="T18" fmla="*/ 759 w 762"/>
                <a:gd name="T19" fmla="*/ 31 h 51"/>
                <a:gd name="T20" fmla="*/ 759 w 762"/>
                <a:gd name="T21" fmla="*/ 38 h 51"/>
                <a:gd name="T22" fmla="*/ 759 w 762"/>
                <a:gd name="T23" fmla="*/ 44 h 51"/>
                <a:gd name="T24" fmla="*/ 759 w 762"/>
                <a:gd name="T25" fmla="*/ 51 h 51"/>
                <a:gd name="T26" fmla="*/ 762 w 762"/>
                <a:gd name="T27" fmla="*/ 48 h 51"/>
                <a:gd name="T28" fmla="*/ 762 w 762"/>
                <a:gd name="T29" fmla="*/ 41 h 51"/>
                <a:gd name="T30" fmla="*/ 762 w 762"/>
                <a:gd name="T31" fmla="*/ 34 h 51"/>
                <a:gd name="T32" fmla="*/ 762 w 762"/>
                <a:gd name="T33" fmla="*/ 28 h 51"/>
                <a:gd name="T34" fmla="*/ 2 w 762"/>
                <a:gd name="T35" fmla="*/ 0 h 51"/>
                <a:gd name="T36" fmla="*/ 0 w 762"/>
                <a:gd name="T37" fmla="*/ 6 h 51"/>
                <a:gd name="T38" fmla="*/ 0 w 762"/>
                <a:gd name="T39" fmla="*/ 11 h 51"/>
                <a:gd name="T40" fmla="*/ 0 w 762"/>
                <a:gd name="T41" fmla="*/ 18 h 51"/>
                <a:gd name="T42" fmla="*/ 0 w 762"/>
                <a:gd name="T43" fmla="*/ 24 h 51"/>
                <a:gd name="T44" fmla="*/ 0 w 762"/>
                <a:gd name="T45" fmla="*/ 31 h 51"/>
                <a:gd name="T46" fmla="*/ 0 w 762"/>
                <a:gd name="T47" fmla="*/ 38 h 51"/>
                <a:gd name="T48" fmla="*/ 0 w 762"/>
                <a:gd name="T49" fmla="*/ 44 h 51"/>
                <a:gd name="T50" fmla="*/ 2 w 762"/>
                <a:gd name="T51" fmla="*/ 51 h 51"/>
                <a:gd name="T52" fmla="*/ 4 w 762"/>
                <a:gd name="T53" fmla="*/ 48 h 51"/>
                <a:gd name="T54" fmla="*/ 4 w 762"/>
                <a:gd name="T55" fmla="*/ 41 h 51"/>
                <a:gd name="T56" fmla="*/ 4 w 762"/>
                <a:gd name="T57" fmla="*/ 34 h 51"/>
                <a:gd name="T58" fmla="*/ 4 w 762"/>
                <a:gd name="T59" fmla="*/ 28 h 51"/>
                <a:gd name="T60" fmla="*/ 4 w 762"/>
                <a:gd name="T61" fmla="*/ 21 h 51"/>
                <a:gd name="T62" fmla="*/ 4 w 762"/>
                <a:gd name="T63" fmla="*/ 14 h 51"/>
                <a:gd name="T64" fmla="*/ 4 w 762"/>
                <a:gd name="T65" fmla="*/ 9 h 51"/>
                <a:gd name="T66" fmla="*/ 4 w 762"/>
                <a:gd name="T67" fmla="*/ 3 h 51"/>
                <a:gd name="T68" fmla="*/ 2 w 7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62" h="51">
                  <a:moveTo>
                    <a:pt x="762" y="24"/>
                  </a:moveTo>
                  <a:lnTo>
                    <a:pt x="762" y="21"/>
                  </a:lnTo>
                  <a:lnTo>
                    <a:pt x="762" y="18"/>
                  </a:lnTo>
                  <a:lnTo>
                    <a:pt x="762" y="14"/>
                  </a:lnTo>
                  <a:lnTo>
                    <a:pt x="762" y="11"/>
                  </a:lnTo>
                  <a:lnTo>
                    <a:pt x="762" y="9"/>
                  </a:lnTo>
                  <a:lnTo>
                    <a:pt x="762" y="6"/>
                  </a:lnTo>
                  <a:lnTo>
                    <a:pt x="762" y="3"/>
                  </a:lnTo>
                  <a:lnTo>
                    <a:pt x="762" y="0"/>
                  </a:lnTo>
                  <a:lnTo>
                    <a:pt x="759" y="0"/>
                  </a:lnTo>
                  <a:lnTo>
                    <a:pt x="759" y="3"/>
                  </a:lnTo>
                  <a:lnTo>
                    <a:pt x="759" y="6"/>
                  </a:lnTo>
                  <a:lnTo>
                    <a:pt x="759" y="9"/>
                  </a:lnTo>
                  <a:lnTo>
                    <a:pt x="759" y="11"/>
                  </a:lnTo>
                  <a:lnTo>
                    <a:pt x="759" y="14"/>
                  </a:lnTo>
                  <a:lnTo>
                    <a:pt x="759" y="18"/>
                  </a:lnTo>
                  <a:lnTo>
                    <a:pt x="759" y="21"/>
                  </a:lnTo>
                  <a:lnTo>
                    <a:pt x="759" y="24"/>
                  </a:lnTo>
                  <a:lnTo>
                    <a:pt x="759" y="28"/>
                  </a:lnTo>
                  <a:lnTo>
                    <a:pt x="759" y="31"/>
                  </a:lnTo>
                  <a:lnTo>
                    <a:pt x="759" y="34"/>
                  </a:lnTo>
                  <a:lnTo>
                    <a:pt x="759" y="38"/>
                  </a:lnTo>
                  <a:lnTo>
                    <a:pt x="759" y="41"/>
                  </a:lnTo>
                  <a:lnTo>
                    <a:pt x="759" y="44"/>
                  </a:lnTo>
                  <a:lnTo>
                    <a:pt x="759" y="48"/>
                  </a:lnTo>
                  <a:lnTo>
                    <a:pt x="759" y="51"/>
                  </a:lnTo>
                  <a:lnTo>
                    <a:pt x="762" y="51"/>
                  </a:lnTo>
                  <a:lnTo>
                    <a:pt x="762" y="48"/>
                  </a:lnTo>
                  <a:lnTo>
                    <a:pt x="762" y="44"/>
                  </a:lnTo>
                  <a:lnTo>
                    <a:pt x="762" y="41"/>
                  </a:lnTo>
                  <a:lnTo>
                    <a:pt x="762" y="38"/>
                  </a:lnTo>
                  <a:lnTo>
                    <a:pt x="762" y="34"/>
                  </a:lnTo>
                  <a:lnTo>
                    <a:pt x="762" y="31"/>
                  </a:lnTo>
                  <a:lnTo>
                    <a:pt x="762" y="28"/>
                  </a:lnTo>
                  <a:lnTo>
                    <a:pt x="76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45" name="Freeform 286">
              <a:extLst>
                <a:ext uri="{FF2B5EF4-FFF2-40B4-BE49-F238E27FC236}">
                  <a16:creationId xmlns:a16="http://schemas.microsoft.com/office/drawing/2014/main" id="{91972C7D-F947-28BD-6A4D-B50F84D213B1}"/>
                </a:ext>
              </a:extLst>
            </p:cNvPr>
            <p:cNvSpPr>
              <a:spLocks noEditPoints="1"/>
            </p:cNvSpPr>
            <p:nvPr/>
          </p:nvSpPr>
          <p:spPr bwMode="auto">
            <a:xfrm>
              <a:off x="1232" y="1713"/>
              <a:ext cx="758" cy="51"/>
            </a:xfrm>
            <a:custGeom>
              <a:avLst/>
              <a:gdLst>
                <a:gd name="T0" fmla="*/ 758 w 758"/>
                <a:gd name="T1" fmla="*/ 21 h 51"/>
                <a:gd name="T2" fmla="*/ 758 w 758"/>
                <a:gd name="T3" fmla="*/ 14 h 51"/>
                <a:gd name="T4" fmla="*/ 758 w 758"/>
                <a:gd name="T5" fmla="*/ 9 h 51"/>
                <a:gd name="T6" fmla="*/ 758 w 758"/>
                <a:gd name="T7" fmla="*/ 3 h 51"/>
                <a:gd name="T8" fmla="*/ 755 w 758"/>
                <a:gd name="T9" fmla="*/ 0 h 51"/>
                <a:gd name="T10" fmla="*/ 755 w 758"/>
                <a:gd name="T11" fmla="*/ 6 h 51"/>
                <a:gd name="T12" fmla="*/ 755 w 758"/>
                <a:gd name="T13" fmla="*/ 11 h 51"/>
                <a:gd name="T14" fmla="*/ 755 w 758"/>
                <a:gd name="T15" fmla="*/ 18 h 51"/>
                <a:gd name="T16" fmla="*/ 755 w 758"/>
                <a:gd name="T17" fmla="*/ 24 h 51"/>
                <a:gd name="T18" fmla="*/ 755 w 758"/>
                <a:gd name="T19" fmla="*/ 31 h 51"/>
                <a:gd name="T20" fmla="*/ 755 w 758"/>
                <a:gd name="T21" fmla="*/ 38 h 51"/>
                <a:gd name="T22" fmla="*/ 755 w 758"/>
                <a:gd name="T23" fmla="*/ 44 h 51"/>
                <a:gd name="T24" fmla="*/ 755 w 758"/>
                <a:gd name="T25" fmla="*/ 51 h 51"/>
                <a:gd name="T26" fmla="*/ 758 w 758"/>
                <a:gd name="T27" fmla="*/ 48 h 51"/>
                <a:gd name="T28" fmla="*/ 758 w 758"/>
                <a:gd name="T29" fmla="*/ 41 h 51"/>
                <a:gd name="T30" fmla="*/ 758 w 758"/>
                <a:gd name="T31" fmla="*/ 34 h 51"/>
                <a:gd name="T32" fmla="*/ 758 w 758"/>
                <a:gd name="T33" fmla="*/ 28 h 51"/>
                <a:gd name="T34" fmla="*/ 2 w 758"/>
                <a:gd name="T35" fmla="*/ 0 h 51"/>
                <a:gd name="T36" fmla="*/ 0 w 758"/>
                <a:gd name="T37" fmla="*/ 6 h 51"/>
                <a:gd name="T38" fmla="*/ 0 w 758"/>
                <a:gd name="T39" fmla="*/ 11 h 51"/>
                <a:gd name="T40" fmla="*/ 0 w 758"/>
                <a:gd name="T41" fmla="*/ 18 h 51"/>
                <a:gd name="T42" fmla="*/ 0 w 758"/>
                <a:gd name="T43" fmla="*/ 24 h 51"/>
                <a:gd name="T44" fmla="*/ 0 w 758"/>
                <a:gd name="T45" fmla="*/ 31 h 51"/>
                <a:gd name="T46" fmla="*/ 0 w 758"/>
                <a:gd name="T47" fmla="*/ 38 h 51"/>
                <a:gd name="T48" fmla="*/ 0 w 758"/>
                <a:gd name="T49" fmla="*/ 44 h 51"/>
                <a:gd name="T50" fmla="*/ 2 w 758"/>
                <a:gd name="T51" fmla="*/ 51 h 51"/>
                <a:gd name="T52" fmla="*/ 3 w 758"/>
                <a:gd name="T53" fmla="*/ 48 h 51"/>
                <a:gd name="T54" fmla="*/ 3 w 758"/>
                <a:gd name="T55" fmla="*/ 41 h 51"/>
                <a:gd name="T56" fmla="*/ 3 w 758"/>
                <a:gd name="T57" fmla="*/ 34 h 51"/>
                <a:gd name="T58" fmla="*/ 3 w 758"/>
                <a:gd name="T59" fmla="*/ 28 h 51"/>
                <a:gd name="T60" fmla="*/ 3 w 758"/>
                <a:gd name="T61" fmla="*/ 21 h 51"/>
                <a:gd name="T62" fmla="*/ 3 w 758"/>
                <a:gd name="T63" fmla="*/ 14 h 51"/>
                <a:gd name="T64" fmla="*/ 3 w 758"/>
                <a:gd name="T65" fmla="*/ 9 h 51"/>
                <a:gd name="T66" fmla="*/ 3 w 758"/>
                <a:gd name="T67" fmla="*/ 3 h 51"/>
                <a:gd name="T68" fmla="*/ 2 w 75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58" h="51">
                  <a:moveTo>
                    <a:pt x="758" y="24"/>
                  </a:moveTo>
                  <a:lnTo>
                    <a:pt x="758" y="21"/>
                  </a:lnTo>
                  <a:lnTo>
                    <a:pt x="758" y="18"/>
                  </a:lnTo>
                  <a:lnTo>
                    <a:pt x="758" y="14"/>
                  </a:lnTo>
                  <a:lnTo>
                    <a:pt x="758" y="11"/>
                  </a:lnTo>
                  <a:lnTo>
                    <a:pt x="758" y="9"/>
                  </a:lnTo>
                  <a:lnTo>
                    <a:pt x="758" y="6"/>
                  </a:lnTo>
                  <a:lnTo>
                    <a:pt x="758" y="3"/>
                  </a:lnTo>
                  <a:lnTo>
                    <a:pt x="758" y="0"/>
                  </a:lnTo>
                  <a:lnTo>
                    <a:pt x="755" y="0"/>
                  </a:lnTo>
                  <a:lnTo>
                    <a:pt x="755" y="3"/>
                  </a:lnTo>
                  <a:lnTo>
                    <a:pt x="755" y="6"/>
                  </a:lnTo>
                  <a:lnTo>
                    <a:pt x="755" y="9"/>
                  </a:lnTo>
                  <a:lnTo>
                    <a:pt x="755" y="11"/>
                  </a:lnTo>
                  <a:lnTo>
                    <a:pt x="755" y="14"/>
                  </a:lnTo>
                  <a:lnTo>
                    <a:pt x="755" y="18"/>
                  </a:lnTo>
                  <a:lnTo>
                    <a:pt x="755" y="21"/>
                  </a:lnTo>
                  <a:lnTo>
                    <a:pt x="755" y="24"/>
                  </a:lnTo>
                  <a:lnTo>
                    <a:pt x="755" y="28"/>
                  </a:lnTo>
                  <a:lnTo>
                    <a:pt x="755" y="31"/>
                  </a:lnTo>
                  <a:lnTo>
                    <a:pt x="755" y="34"/>
                  </a:lnTo>
                  <a:lnTo>
                    <a:pt x="755" y="38"/>
                  </a:lnTo>
                  <a:lnTo>
                    <a:pt x="755" y="41"/>
                  </a:lnTo>
                  <a:lnTo>
                    <a:pt x="755" y="44"/>
                  </a:lnTo>
                  <a:lnTo>
                    <a:pt x="755" y="48"/>
                  </a:lnTo>
                  <a:lnTo>
                    <a:pt x="755" y="51"/>
                  </a:lnTo>
                  <a:lnTo>
                    <a:pt x="758" y="51"/>
                  </a:lnTo>
                  <a:lnTo>
                    <a:pt x="758" y="48"/>
                  </a:lnTo>
                  <a:lnTo>
                    <a:pt x="758" y="44"/>
                  </a:lnTo>
                  <a:lnTo>
                    <a:pt x="758" y="41"/>
                  </a:lnTo>
                  <a:lnTo>
                    <a:pt x="758" y="38"/>
                  </a:lnTo>
                  <a:lnTo>
                    <a:pt x="758" y="34"/>
                  </a:lnTo>
                  <a:lnTo>
                    <a:pt x="758" y="31"/>
                  </a:lnTo>
                  <a:lnTo>
                    <a:pt x="758" y="28"/>
                  </a:lnTo>
                  <a:lnTo>
                    <a:pt x="758"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46" name="Freeform 287">
              <a:extLst>
                <a:ext uri="{FF2B5EF4-FFF2-40B4-BE49-F238E27FC236}">
                  <a16:creationId xmlns:a16="http://schemas.microsoft.com/office/drawing/2014/main" id="{5CFFEB34-EEE4-32B7-B0FD-1D3DE05AD93A}"/>
                </a:ext>
              </a:extLst>
            </p:cNvPr>
            <p:cNvSpPr>
              <a:spLocks noEditPoints="1"/>
            </p:cNvSpPr>
            <p:nvPr/>
          </p:nvSpPr>
          <p:spPr bwMode="auto">
            <a:xfrm>
              <a:off x="1234" y="1713"/>
              <a:ext cx="755" cy="51"/>
            </a:xfrm>
            <a:custGeom>
              <a:avLst/>
              <a:gdLst>
                <a:gd name="T0" fmla="*/ 755 w 755"/>
                <a:gd name="T1" fmla="*/ 21 h 51"/>
                <a:gd name="T2" fmla="*/ 755 w 755"/>
                <a:gd name="T3" fmla="*/ 14 h 51"/>
                <a:gd name="T4" fmla="*/ 755 w 755"/>
                <a:gd name="T5" fmla="*/ 9 h 51"/>
                <a:gd name="T6" fmla="*/ 755 w 755"/>
                <a:gd name="T7" fmla="*/ 3 h 51"/>
                <a:gd name="T8" fmla="*/ 751 w 755"/>
                <a:gd name="T9" fmla="*/ 0 h 51"/>
                <a:gd name="T10" fmla="*/ 751 w 755"/>
                <a:gd name="T11" fmla="*/ 6 h 51"/>
                <a:gd name="T12" fmla="*/ 751 w 755"/>
                <a:gd name="T13" fmla="*/ 11 h 51"/>
                <a:gd name="T14" fmla="*/ 751 w 755"/>
                <a:gd name="T15" fmla="*/ 18 h 51"/>
                <a:gd name="T16" fmla="*/ 751 w 755"/>
                <a:gd name="T17" fmla="*/ 24 h 51"/>
                <a:gd name="T18" fmla="*/ 751 w 755"/>
                <a:gd name="T19" fmla="*/ 31 h 51"/>
                <a:gd name="T20" fmla="*/ 751 w 755"/>
                <a:gd name="T21" fmla="*/ 38 h 51"/>
                <a:gd name="T22" fmla="*/ 751 w 755"/>
                <a:gd name="T23" fmla="*/ 44 h 51"/>
                <a:gd name="T24" fmla="*/ 751 w 755"/>
                <a:gd name="T25" fmla="*/ 51 h 51"/>
                <a:gd name="T26" fmla="*/ 755 w 755"/>
                <a:gd name="T27" fmla="*/ 48 h 51"/>
                <a:gd name="T28" fmla="*/ 755 w 755"/>
                <a:gd name="T29" fmla="*/ 41 h 51"/>
                <a:gd name="T30" fmla="*/ 755 w 755"/>
                <a:gd name="T31" fmla="*/ 34 h 51"/>
                <a:gd name="T32" fmla="*/ 755 w 755"/>
                <a:gd name="T33" fmla="*/ 28 h 51"/>
                <a:gd name="T34" fmla="*/ 1 w 755"/>
                <a:gd name="T35" fmla="*/ 0 h 51"/>
                <a:gd name="T36" fmla="*/ 0 w 755"/>
                <a:gd name="T37" fmla="*/ 6 h 51"/>
                <a:gd name="T38" fmla="*/ 0 w 755"/>
                <a:gd name="T39" fmla="*/ 11 h 51"/>
                <a:gd name="T40" fmla="*/ 0 w 755"/>
                <a:gd name="T41" fmla="*/ 18 h 51"/>
                <a:gd name="T42" fmla="*/ 0 w 755"/>
                <a:gd name="T43" fmla="*/ 24 h 51"/>
                <a:gd name="T44" fmla="*/ 0 w 755"/>
                <a:gd name="T45" fmla="*/ 31 h 51"/>
                <a:gd name="T46" fmla="*/ 0 w 755"/>
                <a:gd name="T47" fmla="*/ 38 h 51"/>
                <a:gd name="T48" fmla="*/ 0 w 755"/>
                <a:gd name="T49" fmla="*/ 44 h 51"/>
                <a:gd name="T50" fmla="*/ 1 w 755"/>
                <a:gd name="T51" fmla="*/ 51 h 51"/>
                <a:gd name="T52" fmla="*/ 3 w 755"/>
                <a:gd name="T53" fmla="*/ 48 h 51"/>
                <a:gd name="T54" fmla="*/ 3 w 755"/>
                <a:gd name="T55" fmla="*/ 41 h 51"/>
                <a:gd name="T56" fmla="*/ 3 w 755"/>
                <a:gd name="T57" fmla="*/ 34 h 51"/>
                <a:gd name="T58" fmla="*/ 3 w 755"/>
                <a:gd name="T59" fmla="*/ 28 h 51"/>
                <a:gd name="T60" fmla="*/ 3 w 755"/>
                <a:gd name="T61" fmla="*/ 21 h 51"/>
                <a:gd name="T62" fmla="*/ 3 w 755"/>
                <a:gd name="T63" fmla="*/ 14 h 51"/>
                <a:gd name="T64" fmla="*/ 3 w 755"/>
                <a:gd name="T65" fmla="*/ 9 h 51"/>
                <a:gd name="T66" fmla="*/ 3 w 755"/>
                <a:gd name="T67" fmla="*/ 3 h 51"/>
                <a:gd name="T68" fmla="*/ 1 w 75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55" h="51">
                  <a:moveTo>
                    <a:pt x="755" y="24"/>
                  </a:moveTo>
                  <a:lnTo>
                    <a:pt x="755" y="21"/>
                  </a:lnTo>
                  <a:lnTo>
                    <a:pt x="755" y="18"/>
                  </a:lnTo>
                  <a:lnTo>
                    <a:pt x="755" y="14"/>
                  </a:lnTo>
                  <a:lnTo>
                    <a:pt x="755" y="11"/>
                  </a:lnTo>
                  <a:lnTo>
                    <a:pt x="755" y="9"/>
                  </a:lnTo>
                  <a:lnTo>
                    <a:pt x="755" y="6"/>
                  </a:lnTo>
                  <a:lnTo>
                    <a:pt x="755" y="3"/>
                  </a:lnTo>
                  <a:lnTo>
                    <a:pt x="755" y="0"/>
                  </a:lnTo>
                  <a:lnTo>
                    <a:pt x="751" y="0"/>
                  </a:lnTo>
                  <a:lnTo>
                    <a:pt x="751" y="3"/>
                  </a:lnTo>
                  <a:lnTo>
                    <a:pt x="751" y="6"/>
                  </a:lnTo>
                  <a:lnTo>
                    <a:pt x="751" y="9"/>
                  </a:lnTo>
                  <a:lnTo>
                    <a:pt x="751" y="11"/>
                  </a:lnTo>
                  <a:lnTo>
                    <a:pt x="751" y="14"/>
                  </a:lnTo>
                  <a:lnTo>
                    <a:pt x="751" y="18"/>
                  </a:lnTo>
                  <a:lnTo>
                    <a:pt x="751" y="21"/>
                  </a:lnTo>
                  <a:lnTo>
                    <a:pt x="751" y="24"/>
                  </a:lnTo>
                  <a:lnTo>
                    <a:pt x="751" y="28"/>
                  </a:lnTo>
                  <a:lnTo>
                    <a:pt x="751" y="31"/>
                  </a:lnTo>
                  <a:lnTo>
                    <a:pt x="751" y="34"/>
                  </a:lnTo>
                  <a:lnTo>
                    <a:pt x="751" y="38"/>
                  </a:lnTo>
                  <a:lnTo>
                    <a:pt x="751" y="41"/>
                  </a:lnTo>
                  <a:lnTo>
                    <a:pt x="751" y="44"/>
                  </a:lnTo>
                  <a:lnTo>
                    <a:pt x="751" y="48"/>
                  </a:lnTo>
                  <a:lnTo>
                    <a:pt x="751" y="51"/>
                  </a:lnTo>
                  <a:lnTo>
                    <a:pt x="755" y="51"/>
                  </a:lnTo>
                  <a:lnTo>
                    <a:pt x="755" y="48"/>
                  </a:lnTo>
                  <a:lnTo>
                    <a:pt x="755" y="44"/>
                  </a:lnTo>
                  <a:lnTo>
                    <a:pt x="755" y="41"/>
                  </a:lnTo>
                  <a:lnTo>
                    <a:pt x="755" y="38"/>
                  </a:lnTo>
                  <a:lnTo>
                    <a:pt x="755" y="34"/>
                  </a:lnTo>
                  <a:lnTo>
                    <a:pt x="755" y="31"/>
                  </a:lnTo>
                  <a:lnTo>
                    <a:pt x="755" y="28"/>
                  </a:lnTo>
                  <a:lnTo>
                    <a:pt x="75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47" name="Freeform 288">
              <a:extLst>
                <a:ext uri="{FF2B5EF4-FFF2-40B4-BE49-F238E27FC236}">
                  <a16:creationId xmlns:a16="http://schemas.microsoft.com/office/drawing/2014/main" id="{C29F120C-805E-E0BB-F87F-BC2BE3E923BB}"/>
                </a:ext>
              </a:extLst>
            </p:cNvPr>
            <p:cNvSpPr>
              <a:spLocks noEditPoints="1"/>
            </p:cNvSpPr>
            <p:nvPr/>
          </p:nvSpPr>
          <p:spPr bwMode="auto">
            <a:xfrm>
              <a:off x="1235" y="1713"/>
              <a:ext cx="752" cy="51"/>
            </a:xfrm>
            <a:custGeom>
              <a:avLst/>
              <a:gdLst>
                <a:gd name="T0" fmla="*/ 752 w 752"/>
                <a:gd name="T1" fmla="*/ 21 h 51"/>
                <a:gd name="T2" fmla="*/ 752 w 752"/>
                <a:gd name="T3" fmla="*/ 14 h 51"/>
                <a:gd name="T4" fmla="*/ 752 w 752"/>
                <a:gd name="T5" fmla="*/ 9 h 51"/>
                <a:gd name="T6" fmla="*/ 752 w 752"/>
                <a:gd name="T7" fmla="*/ 3 h 51"/>
                <a:gd name="T8" fmla="*/ 749 w 752"/>
                <a:gd name="T9" fmla="*/ 0 h 51"/>
                <a:gd name="T10" fmla="*/ 749 w 752"/>
                <a:gd name="T11" fmla="*/ 6 h 51"/>
                <a:gd name="T12" fmla="*/ 749 w 752"/>
                <a:gd name="T13" fmla="*/ 11 h 51"/>
                <a:gd name="T14" fmla="*/ 749 w 752"/>
                <a:gd name="T15" fmla="*/ 18 h 51"/>
                <a:gd name="T16" fmla="*/ 749 w 752"/>
                <a:gd name="T17" fmla="*/ 24 h 51"/>
                <a:gd name="T18" fmla="*/ 749 w 752"/>
                <a:gd name="T19" fmla="*/ 31 h 51"/>
                <a:gd name="T20" fmla="*/ 749 w 752"/>
                <a:gd name="T21" fmla="*/ 38 h 51"/>
                <a:gd name="T22" fmla="*/ 749 w 752"/>
                <a:gd name="T23" fmla="*/ 44 h 51"/>
                <a:gd name="T24" fmla="*/ 749 w 752"/>
                <a:gd name="T25" fmla="*/ 51 h 51"/>
                <a:gd name="T26" fmla="*/ 752 w 752"/>
                <a:gd name="T27" fmla="*/ 48 h 51"/>
                <a:gd name="T28" fmla="*/ 752 w 752"/>
                <a:gd name="T29" fmla="*/ 41 h 51"/>
                <a:gd name="T30" fmla="*/ 752 w 752"/>
                <a:gd name="T31" fmla="*/ 34 h 51"/>
                <a:gd name="T32" fmla="*/ 752 w 752"/>
                <a:gd name="T33" fmla="*/ 28 h 51"/>
                <a:gd name="T34" fmla="*/ 2 w 752"/>
                <a:gd name="T35" fmla="*/ 0 h 51"/>
                <a:gd name="T36" fmla="*/ 0 w 752"/>
                <a:gd name="T37" fmla="*/ 6 h 51"/>
                <a:gd name="T38" fmla="*/ 0 w 752"/>
                <a:gd name="T39" fmla="*/ 11 h 51"/>
                <a:gd name="T40" fmla="*/ 0 w 752"/>
                <a:gd name="T41" fmla="*/ 18 h 51"/>
                <a:gd name="T42" fmla="*/ 0 w 752"/>
                <a:gd name="T43" fmla="*/ 24 h 51"/>
                <a:gd name="T44" fmla="*/ 0 w 752"/>
                <a:gd name="T45" fmla="*/ 31 h 51"/>
                <a:gd name="T46" fmla="*/ 0 w 752"/>
                <a:gd name="T47" fmla="*/ 38 h 51"/>
                <a:gd name="T48" fmla="*/ 0 w 752"/>
                <a:gd name="T49" fmla="*/ 44 h 51"/>
                <a:gd name="T50" fmla="*/ 2 w 752"/>
                <a:gd name="T51" fmla="*/ 51 h 51"/>
                <a:gd name="T52" fmla="*/ 4 w 752"/>
                <a:gd name="T53" fmla="*/ 48 h 51"/>
                <a:gd name="T54" fmla="*/ 4 w 752"/>
                <a:gd name="T55" fmla="*/ 41 h 51"/>
                <a:gd name="T56" fmla="*/ 4 w 752"/>
                <a:gd name="T57" fmla="*/ 34 h 51"/>
                <a:gd name="T58" fmla="*/ 4 w 752"/>
                <a:gd name="T59" fmla="*/ 28 h 51"/>
                <a:gd name="T60" fmla="*/ 4 w 752"/>
                <a:gd name="T61" fmla="*/ 21 h 51"/>
                <a:gd name="T62" fmla="*/ 4 w 752"/>
                <a:gd name="T63" fmla="*/ 14 h 51"/>
                <a:gd name="T64" fmla="*/ 4 w 752"/>
                <a:gd name="T65" fmla="*/ 9 h 51"/>
                <a:gd name="T66" fmla="*/ 4 w 752"/>
                <a:gd name="T67" fmla="*/ 3 h 51"/>
                <a:gd name="T68" fmla="*/ 2 w 7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52" h="51">
                  <a:moveTo>
                    <a:pt x="752" y="24"/>
                  </a:moveTo>
                  <a:lnTo>
                    <a:pt x="752" y="21"/>
                  </a:lnTo>
                  <a:lnTo>
                    <a:pt x="752" y="18"/>
                  </a:lnTo>
                  <a:lnTo>
                    <a:pt x="752" y="14"/>
                  </a:lnTo>
                  <a:lnTo>
                    <a:pt x="752" y="11"/>
                  </a:lnTo>
                  <a:lnTo>
                    <a:pt x="752" y="9"/>
                  </a:lnTo>
                  <a:lnTo>
                    <a:pt x="752" y="6"/>
                  </a:lnTo>
                  <a:lnTo>
                    <a:pt x="752" y="3"/>
                  </a:lnTo>
                  <a:lnTo>
                    <a:pt x="752" y="0"/>
                  </a:lnTo>
                  <a:lnTo>
                    <a:pt x="749" y="0"/>
                  </a:lnTo>
                  <a:lnTo>
                    <a:pt x="749" y="3"/>
                  </a:lnTo>
                  <a:lnTo>
                    <a:pt x="749" y="6"/>
                  </a:lnTo>
                  <a:lnTo>
                    <a:pt x="749" y="9"/>
                  </a:lnTo>
                  <a:lnTo>
                    <a:pt x="749" y="11"/>
                  </a:lnTo>
                  <a:lnTo>
                    <a:pt x="749" y="14"/>
                  </a:lnTo>
                  <a:lnTo>
                    <a:pt x="749" y="18"/>
                  </a:lnTo>
                  <a:lnTo>
                    <a:pt x="749" y="21"/>
                  </a:lnTo>
                  <a:lnTo>
                    <a:pt x="749" y="24"/>
                  </a:lnTo>
                  <a:lnTo>
                    <a:pt x="749" y="28"/>
                  </a:lnTo>
                  <a:lnTo>
                    <a:pt x="749" y="31"/>
                  </a:lnTo>
                  <a:lnTo>
                    <a:pt x="749" y="34"/>
                  </a:lnTo>
                  <a:lnTo>
                    <a:pt x="749" y="38"/>
                  </a:lnTo>
                  <a:lnTo>
                    <a:pt x="749" y="41"/>
                  </a:lnTo>
                  <a:lnTo>
                    <a:pt x="749" y="44"/>
                  </a:lnTo>
                  <a:lnTo>
                    <a:pt x="749" y="48"/>
                  </a:lnTo>
                  <a:lnTo>
                    <a:pt x="749" y="51"/>
                  </a:lnTo>
                  <a:lnTo>
                    <a:pt x="752" y="51"/>
                  </a:lnTo>
                  <a:lnTo>
                    <a:pt x="752" y="48"/>
                  </a:lnTo>
                  <a:lnTo>
                    <a:pt x="752" y="44"/>
                  </a:lnTo>
                  <a:lnTo>
                    <a:pt x="752" y="41"/>
                  </a:lnTo>
                  <a:lnTo>
                    <a:pt x="752" y="38"/>
                  </a:lnTo>
                  <a:lnTo>
                    <a:pt x="752" y="34"/>
                  </a:lnTo>
                  <a:lnTo>
                    <a:pt x="752" y="31"/>
                  </a:lnTo>
                  <a:lnTo>
                    <a:pt x="752" y="28"/>
                  </a:lnTo>
                  <a:lnTo>
                    <a:pt x="75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48" name="Freeform 289">
              <a:extLst>
                <a:ext uri="{FF2B5EF4-FFF2-40B4-BE49-F238E27FC236}">
                  <a16:creationId xmlns:a16="http://schemas.microsoft.com/office/drawing/2014/main" id="{E272ED9F-904E-7ADB-DDFB-BA4A9DF74B80}"/>
                </a:ext>
              </a:extLst>
            </p:cNvPr>
            <p:cNvSpPr>
              <a:spLocks noEditPoints="1"/>
            </p:cNvSpPr>
            <p:nvPr/>
          </p:nvSpPr>
          <p:spPr bwMode="auto">
            <a:xfrm>
              <a:off x="1237" y="1713"/>
              <a:ext cx="748" cy="51"/>
            </a:xfrm>
            <a:custGeom>
              <a:avLst/>
              <a:gdLst>
                <a:gd name="T0" fmla="*/ 748 w 748"/>
                <a:gd name="T1" fmla="*/ 21 h 51"/>
                <a:gd name="T2" fmla="*/ 748 w 748"/>
                <a:gd name="T3" fmla="*/ 14 h 51"/>
                <a:gd name="T4" fmla="*/ 748 w 748"/>
                <a:gd name="T5" fmla="*/ 9 h 51"/>
                <a:gd name="T6" fmla="*/ 748 w 748"/>
                <a:gd name="T7" fmla="*/ 3 h 51"/>
                <a:gd name="T8" fmla="*/ 745 w 748"/>
                <a:gd name="T9" fmla="*/ 0 h 51"/>
                <a:gd name="T10" fmla="*/ 745 w 748"/>
                <a:gd name="T11" fmla="*/ 6 h 51"/>
                <a:gd name="T12" fmla="*/ 745 w 748"/>
                <a:gd name="T13" fmla="*/ 11 h 51"/>
                <a:gd name="T14" fmla="*/ 745 w 748"/>
                <a:gd name="T15" fmla="*/ 18 h 51"/>
                <a:gd name="T16" fmla="*/ 745 w 748"/>
                <a:gd name="T17" fmla="*/ 24 h 51"/>
                <a:gd name="T18" fmla="*/ 745 w 748"/>
                <a:gd name="T19" fmla="*/ 31 h 51"/>
                <a:gd name="T20" fmla="*/ 745 w 748"/>
                <a:gd name="T21" fmla="*/ 38 h 51"/>
                <a:gd name="T22" fmla="*/ 745 w 748"/>
                <a:gd name="T23" fmla="*/ 44 h 51"/>
                <a:gd name="T24" fmla="*/ 745 w 748"/>
                <a:gd name="T25" fmla="*/ 51 h 51"/>
                <a:gd name="T26" fmla="*/ 748 w 748"/>
                <a:gd name="T27" fmla="*/ 48 h 51"/>
                <a:gd name="T28" fmla="*/ 748 w 748"/>
                <a:gd name="T29" fmla="*/ 41 h 51"/>
                <a:gd name="T30" fmla="*/ 748 w 748"/>
                <a:gd name="T31" fmla="*/ 34 h 51"/>
                <a:gd name="T32" fmla="*/ 748 w 748"/>
                <a:gd name="T33" fmla="*/ 28 h 51"/>
                <a:gd name="T34" fmla="*/ 2 w 748"/>
                <a:gd name="T35" fmla="*/ 0 h 51"/>
                <a:gd name="T36" fmla="*/ 0 w 748"/>
                <a:gd name="T37" fmla="*/ 6 h 51"/>
                <a:gd name="T38" fmla="*/ 0 w 748"/>
                <a:gd name="T39" fmla="*/ 11 h 51"/>
                <a:gd name="T40" fmla="*/ 0 w 748"/>
                <a:gd name="T41" fmla="*/ 18 h 51"/>
                <a:gd name="T42" fmla="*/ 0 w 748"/>
                <a:gd name="T43" fmla="*/ 24 h 51"/>
                <a:gd name="T44" fmla="*/ 0 w 748"/>
                <a:gd name="T45" fmla="*/ 31 h 51"/>
                <a:gd name="T46" fmla="*/ 0 w 748"/>
                <a:gd name="T47" fmla="*/ 38 h 51"/>
                <a:gd name="T48" fmla="*/ 0 w 748"/>
                <a:gd name="T49" fmla="*/ 44 h 51"/>
                <a:gd name="T50" fmla="*/ 2 w 748"/>
                <a:gd name="T51" fmla="*/ 51 h 51"/>
                <a:gd name="T52" fmla="*/ 3 w 748"/>
                <a:gd name="T53" fmla="*/ 48 h 51"/>
                <a:gd name="T54" fmla="*/ 3 w 748"/>
                <a:gd name="T55" fmla="*/ 41 h 51"/>
                <a:gd name="T56" fmla="*/ 3 w 748"/>
                <a:gd name="T57" fmla="*/ 34 h 51"/>
                <a:gd name="T58" fmla="*/ 3 w 748"/>
                <a:gd name="T59" fmla="*/ 28 h 51"/>
                <a:gd name="T60" fmla="*/ 3 w 748"/>
                <a:gd name="T61" fmla="*/ 21 h 51"/>
                <a:gd name="T62" fmla="*/ 3 w 748"/>
                <a:gd name="T63" fmla="*/ 14 h 51"/>
                <a:gd name="T64" fmla="*/ 3 w 748"/>
                <a:gd name="T65" fmla="*/ 9 h 51"/>
                <a:gd name="T66" fmla="*/ 3 w 748"/>
                <a:gd name="T67" fmla="*/ 3 h 51"/>
                <a:gd name="T68" fmla="*/ 2 w 74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48" h="51">
                  <a:moveTo>
                    <a:pt x="748" y="24"/>
                  </a:moveTo>
                  <a:lnTo>
                    <a:pt x="748" y="21"/>
                  </a:lnTo>
                  <a:lnTo>
                    <a:pt x="748" y="18"/>
                  </a:lnTo>
                  <a:lnTo>
                    <a:pt x="748" y="14"/>
                  </a:lnTo>
                  <a:lnTo>
                    <a:pt x="748" y="11"/>
                  </a:lnTo>
                  <a:lnTo>
                    <a:pt x="748" y="9"/>
                  </a:lnTo>
                  <a:lnTo>
                    <a:pt x="748" y="6"/>
                  </a:lnTo>
                  <a:lnTo>
                    <a:pt x="748" y="3"/>
                  </a:lnTo>
                  <a:lnTo>
                    <a:pt x="748" y="0"/>
                  </a:lnTo>
                  <a:lnTo>
                    <a:pt x="745" y="0"/>
                  </a:lnTo>
                  <a:lnTo>
                    <a:pt x="745" y="3"/>
                  </a:lnTo>
                  <a:lnTo>
                    <a:pt x="745" y="6"/>
                  </a:lnTo>
                  <a:lnTo>
                    <a:pt x="745" y="9"/>
                  </a:lnTo>
                  <a:lnTo>
                    <a:pt x="745" y="11"/>
                  </a:lnTo>
                  <a:lnTo>
                    <a:pt x="745" y="14"/>
                  </a:lnTo>
                  <a:lnTo>
                    <a:pt x="745" y="18"/>
                  </a:lnTo>
                  <a:lnTo>
                    <a:pt x="745" y="21"/>
                  </a:lnTo>
                  <a:lnTo>
                    <a:pt x="745" y="24"/>
                  </a:lnTo>
                  <a:lnTo>
                    <a:pt x="745" y="28"/>
                  </a:lnTo>
                  <a:lnTo>
                    <a:pt x="745" y="31"/>
                  </a:lnTo>
                  <a:lnTo>
                    <a:pt x="745" y="34"/>
                  </a:lnTo>
                  <a:lnTo>
                    <a:pt x="745" y="38"/>
                  </a:lnTo>
                  <a:lnTo>
                    <a:pt x="745" y="41"/>
                  </a:lnTo>
                  <a:lnTo>
                    <a:pt x="745" y="44"/>
                  </a:lnTo>
                  <a:lnTo>
                    <a:pt x="745" y="48"/>
                  </a:lnTo>
                  <a:lnTo>
                    <a:pt x="745" y="51"/>
                  </a:lnTo>
                  <a:lnTo>
                    <a:pt x="748" y="51"/>
                  </a:lnTo>
                  <a:lnTo>
                    <a:pt x="748" y="48"/>
                  </a:lnTo>
                  <a:lnTo>
                    <a:pt x="748" y="44"/>
                  </a:lnTo>
                  <a:lnTo>
                    <a:pt x="748" y="41"/>
                  </a:lnTo>
                  <a:lnTo>
                    <a:pt x="748" y="38"/>
                  </a:lnTo>
                  <a:lnTo>
                    <a:pt x="748" y="34"/>
                  </a:lnTo>
                  <a:lnTo>
                    <a:pt x="748" y="31"/>
                  </a:lnTo>
                  <a:lnTo>
                    <a:pt x="748" y="28"/>
                  </a:lnTo>
                  <a:lnTo>
                    <a:pt x="748"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49" name="Freeform 290">
              <a:extLst>
                <a:ext uri="{FF2B5EF4-FFF2-40B4-BE49-F238E27FC236}">
                  <a16:creationId xmlns:a16="http://schemas.microsoft.com/office/drawing/2014/main" id="{0A31D690-CA35-8DC4-EE72-62A69802FB10}"/>
                </a:ext>
              </a:extLst>
            </p:cNvPr>
            <p:cNvSpPr>
              <a:spLocks noEditPoints="1"/>
            </p:cNvSpPr>
            <p:nvPr/>
          </p:nvSpPr>
          <p:spPr bwMode="auto">
            <a:xfrm>
              <a:off x="1239" y="1713"/>
              <a:ext cx="745" cy="51"/>
            </a:xfrm>
            <a:custGeom>
              <a:avLst/>
              <a:gdLst>
                <a:gd name="T0" fmla="*/ 745 w 745"/>
                <a:gd name="T1" fmla="*/ 21 h 51"/>
                <a:gd name="T2" fmla="*/ 745 w 745"/>
                <a:gd name="T3" fmla="*/ 14 h 51"/>
                <a:gd name="T4" fmla="*/ 745 w 745"/>
                <a:gd name="T5" fmla="*/ 9 h 51"/>
                <a:gd name="T6" fmla="*/ 745 w 745"/>
                <a:gd name="T7" fmla="*/ 3 h 51"/>
                <a:gd name="T8" fmla="*/ 741 w 745"/>
                <a:gd name="T9" fmla="*/ 0 h 51"/>
                <a:gd name="T10" fmla="*/ 741 w 745"/>
                <a:gd name="T11" fmla="*/ 6 h 51"/>
                <a:gd name="T12" fmla="*/ 741 w 745"/>
                <a:gd name="T13" fmla="*/ 11 h 51"/>
                <a:gd name="T14" fmla="*/ 741 w 745"/>
                <a:gd name="T15" fmla="*/ 18 h 51"/>
                <a:gd name="T16" fmla="*/ 741 w 745"/>
                <a:gd name="T17" fmla="*/ 24 h 51"/>
                <a:gd name="T18" fmla="*/ 741 w 745"/>
                <a:gd name="T19" fmla="*/ 31 h 51"/>
                <a:gd name="T20" fmla="*/ 741 w 745"/>
                <a:gd name="T21" fmla="*/ 38 h 51"/>
                <a:gd name="T22" fmla="*/ 741 w 745"/>
                <a:gd name="T23" fmla="*/ 44 h 51"/>
                <a:gd name="T24" fmla="*/ 741 w 745"/>
                <a:gd name="T25" fmla="*/ 51 h 51"/>
                <a:gd name="T26" fmla="*/ 745 w 745"/>
                <a:gd name="T27" fmla="*/ 48 h 51"/>
                <a:gd name="T28" fmla="*/ 745 w 745"/>
                <a:gd name="T29" fmla="*/ 41 h 51"/>
                <a:gd name="T30" fmla="*/ 745 w 745"/>
                <a:gd name="T31" fmla="*/ 34 h 51"/>
                <a:gd name="T32" fmla="*/ 745 w 745"/>
                <a:gd name="T33" fmla="*/ 28 h 51"/>
                <a:gd name="T34" fmla="*/ 1 w 745"/>
                <a:gd name="T35" fmla="*/ 0 h 51"/>
                <a:gd name="T36" fmla="*/ 0 w 745"/>
                <a:gd name="T37" fmla="*/ 6 h 51"/>
                <a:gd name="T38" fmla="*/ 0 w 745"/>
                <a:gd name="T39" fmla="*/ 11 h 51"/>
                <a:gd name="T40" fmla="*/ 0 w 745"/>
                <a:gd name="T41" fmla="*/ 18 h 51"/>
                <a:gd name="T42" fmla="*/ 0 w 745"/>
                <a:gd name="T43" fmla="*/ 24 h 51"/>
                <a:gd name="T44" fmla="*/ 0 w 745"/>
                <a:gd name="T45" fmla="*/ 31 h 51"/>
                <a:gd name="T46" fmla="*/ 0 w 745"/>
                <a:gd name="T47" fmla="*/ 38 h 51"/>
                <a:gd name="T48" fmla="*/ 0 w 745"/>
                <a:gd name="T49" fmla="*/ 44 h 51"/>
                <a:gd name="T50" fmla="*/ 1 w 745"/>
                <a:gd name="T51" fmla="*/ 51 h 51"/>
                <a:gd name="T52" fmla="*/ 3 w 745"/>
                <a:gd name="T53" fmla="*/ 48 h 51"/>
                <a:gd name="T54" fmla="*/ 3 w 745"/>
                <a:gd name="T55" fmla="*/ 41 h 51"/>
                <a:gd name="T56" fmla="*/ 3 w 745"/>
                <a:gd name="T57" fmla="*/ 34 h 51"/>
                <a:gd name="T58" fmla="*/ 3 w 745"/>
                <a:gd name="T59" fmla="*/ 28 h 51"/>
                <a:gd name="T60" fmla="*/ 3 w 745"/>
                <a:gd name="T61" fmla="*/ 21 h 51"/>
                <a:gd name="T62" fmla="*/ 3 w 745"/>
                <a:gd name="T63" fmla="*/ 14 h 51"/>
                <a:gd name="T64" fmla="*/ 3 w 745"/>
                <a:gd name="T65" fmla="*/ 9 h 51"/>
                <a:gd name="T66" fmla="*/ 3 w 745"/>
                <a:gd name="T67" fmla="*/ 3 h 51"/>
                <a:gd name="T68" fmla="*/ 1 w 74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45" h="51">
                  <a:moveTo>
                    <a:pt x="745" y="24"/>
                  </a:moveTo>
                  <a:lnTo>
                    <a:pt x="745" y="21"/>
                  </a:lnTo>
                  <a:lnTo>
                    <a:pt x="745" y="18"/>
                  </a:lnTo>
                  <a:lnTo>
                    <a:pt x="745" y="14"/>
                  </a:lnTo>
                  <a:lnTo>
                    <a:pt x="745" y="11"/>
                  </a:lnTo>
                  <a:lnTo>
                    <a:pt x="745" y="9"/>
                  </a:lnTo>
                  <a:lnTo>
                    <a:pt x="745" y="6"/>
                  </a:lnTo>
                  <a:lnTo>
                    <a:pt x="745" y="3"/>
                  </a:lnTo>
                  <a:lnTo>
                    <a:pt x="745" y="0"/>
                  </a:lnTo>
                  <a:lnTo>
                    <a:pt x="741" y="0"/>
                  </a:lnTo>
                  <a:lnTo>
                    <a:pt x="741" y="3"/>
                  </a:lnTo>
                  <a:lnTo>
                    <a:pt x="741" y="6"/>
                  </a:lnTo>
                  <a:lnTo>
                    <a:pt x="741" y="9"/>
                  </a:lnTo>
                  <a:lnTo>
                    <a:pt x="741" y="11"/>
                  </a:lnTo>
                  <a:lnTo>
                    <a:pt x="741" y="14"/>
                  </a:lnTo>
                  <a:lnTo>
                    <a:pt x="741" y="18"/>
                  </a:lnTo>
                  <a:lnTo>
                    <a:pt x="741" y="21"/>
                  </a:lnTo>
                  <a:lnTo>
                    <a:pt x="741" y="24"/>
                  </a:lnTo>
                  <a:lnTo>
                    <a:pt x="741" y="28"/>
                  </a:lnTo>
                  <a:lnTo>
                    <a:pt x="741" y="31"/>
                  </a:lnTo>
                  <a:lnTo>
                    <a:pt x="741" y="34"/>
                  </a:lnTo>
                  <a:lnTo>
                    <a:pt x="741" y="38"/>
                  </a:lnTo>
                  <a:lnTo>
                    <a:pt x="741" y="41"/>
                  </a:lnTo>
                  <a:lnTo>
                    <a:pt x="741" y="44"/>
                  </a:lnTo>
                  <a:lnTo>
                    <a:pt x="741" y="48"/>
                  </a:lnTo>
                  <a:lnTo>
                    <a:pt x="741" y="51"/>
                  </a:lnTo>
                  <a:lnTo>
                    <a:pt x="745" y="51"/>
                  </a:lnTo>
                  <a:lnTo>
                    <a:pt x="745" y="48"/>
                  </a:lnTo>
                  <a:lnTo>
                    <a:pt x="745" y="44"/>
                  </a:lnTo>
                  <a:lnTo>
                    <a:pt x="745" y="41"/>
                  </a:lnTo>
                  <a:lnTo>
                    <a:pt x="745" y="38"/>
                  </a:lnTo>
                  <a:lnTo>
                    <a:pt x="745" y="34"/>
                  </a:lnTo>
                  <a:lnTo>
                    <a:pt x="745" y="31"/>
                  </a:lnTo>
                  <a:lnTo>
                    <a:pt x="745" y="28"/>
                  </a:lnTo>
                  <a:lnTo>
                    <a:pt x="74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50" name="Freeform 291">
              <a:extLst>
                <a:ext uri="{FF2B5EF4-FFF2-40B4-BE49-F238E27FC236}">
                  <a16:creationId xmlns:a16="http://schemas.microsoft.com/office/drawing/2014/main" id="{9729DFBC-DC8F-65EF-5471-3E23B5748AE7}"/>
                </a:ext>
              </a:extLst>
            </p:cNvPr>
            <p:cNvSpPr>
              <a:spLocks noEditPoints="1"/>
            </p:cNvSpPr>
            <p:nvPr/>
          </p:nvSpPr>
          <p:spPr bwMode="auto">
            <a:xfrm>
              <a:off x="1240" y="1713"/>
              <a:ext cx="742" cy="51"/>
            </a:xfrm>
            <a:custGeom>
              <a:avLst/>
              <a:gdLst>
                <a:gd name="T0" fmla="*/ 742 w 742"/>
                <a:gd name="T1" fmla="*/ 21 h 51"/>
                <a:gd name="T2" fmla="*/ 742 w 742"/>
                <a:gd name="T3" fmla="*/ 14 h 51"/>
                <a:gd name="T4" fmla="*/ 742 w 742"/>
                <a:gd name="T5" fmla="*/ 9 h 51"/>
                <a:gd name="T6" fmla="*/ 742 w 742"/>
                <a:gd name="T7" fmla="*/ 3 h 51"/>
                <a:gd name="T8" fmla="*/ 739 w 742"/>
                <a:gd name="T9" fmla="*/ 0 h 51"/>
                <a:gd name="T10" fmla="*/ 739 w 742"/>
                <a:gd name="T11" fmla="*/ 6 h 51"/>
                <a:gd name="T12" fmla="*/ 739 w 742"/>
                <a:gd name="T13" fmla="*/ 11 h 51"/>
                <a:gd name="T14" fmla="*/ 739 w 742"/>
                <a:gd name="T15" fmla="*/ 18 h 51"/>
                <a:gd name="T16" fmla="*/ 739 w 742"/>
                <a:gd name="T17" fmla="*/ 24 h 51"/>
                <a:gd name="T18" fmla="*/ 739 w 742"/>
                <a:gd name="T19" fmla="*/ 31 h 51"/>
                <a:gd name="T20" fmla="*/ 739 w 742"/>
                <a:gd name="T21" fmla="*/ 38 h 51"/>
                <a:gd name="T22" fmla="*/ 739 w 742"/>
                <a:gd name="T23" fmla="*/ 44 h 51"/>
                <a:gd name="T24" fmla="*/ 739 w 742"/>
                <a:gd name="T25" fmla="*/ 51 h 51"/>
                <a:gd name="T26" fmla="*/ 742 w 742"/>
                <a:gd name="T27" fmla="*/ 48 h 51"/>
                <a:gd name="T28" fmla="*/ 742 w 742"/>
                <a:gd name="T29" fmla="*/ 41 h 51"/>
                <a:gd name="T30" fmla="*/ 742 w 742"/>
                <a:gd name="T31" fmla="*/ 34 h 51"/>
                <a:gd name="T32" fmla="*/ 742 w 742"/>
                <a:gd name="T33" fmla="*/ 28 h 51"/>
                <a:gd name="T34" fmla="*/ 2 w 742"/>
                <a:gd name="T35" fmla="*/ 0 h 51"/>
                <a:gd name="T36" fmla="*/ 0 w 742"/>
                <a:gd name="T37" fmla="*/ 6 h 51"/>
                <a:gd name="T38" fmla="*/ 0 w 742"/>
                <a:gd name="T39" fmla="*/ 11 h 51"/>
                <a:gd name="T40" fmla="*/ 0 w 742"/>
                <a:gd name="T41" fmla="*/ 18 h 51"/>
                <a:gd name="T42" fmla="*/ 0 w 742"/>
                <a:gd name="T43" fmla="*/ 24 h 51"/>
                <a:gd name="T44" fmla="*/ 0 w 742"/>
                <a:gd name="T45" fmla="*/ 31 h 51"/>
                <a:gd name="T46" fmla="*/ 0 w 742"/>
                <a:gd name="T47" fmla="*/ 38 h 51"/>
                <a:gd name="T48" fmla="*/ 0 w 742"/>
                <a:gd name="T49" fmla="*/ 44 h 51"/>
                <a:gd name="T50" fmla="*/ 2 w 742"/>
                <a:gd name="T51" fmla="*/ 51 h 51"/>
                <a:gd name="T52" fmla="*/ 4 w 742"/>
                <a:gd name="T53" fmla="*/ 48 h 51"/>
                <a:gd name="T54" fmla="*/ 4 w 742"/>
                <a:gd name="T55" fmla="*/ 41 h 51"/>
                <a:gd name="T56" fmla="*/ 4 w 742"/>
                <a:gd name="T57" fmla="*/ 34 h 51"/>
                <a:gd name="T58" fmla="*/ 4 w 742"/>
                <a:gd name="T59" fmla="*/ 28 h 51"/>
                <a:gd name="T60" fmla="*/ 4 w 742"/>
                <a:gd name="T61" fmla="*/ 21 h 51"/>
                <a:gd name="T62" fmla="*/ 4 w 742"/>
                <a:gd name="T63" fmla="*/ 14 h 51"/>
                <a:gd name="T64" fmla="*/ 4 w 742"/>
                <a:gd name="T65" fmla="*/ 9 h 51"/>
                <a:gd name="T66" fmla="*/ 4 w 742"/>
                <a:gd name="T67" fmla="*/ 3 h 51"/>
                <a:gd name="T68" fmla="*/ 2 w 7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42" h="51">
                  <a:moveTo>
                    <a:pt x="742" y="24"/>
                  </a:moveTo>
                  <a:lnTo>
                    <a:pt x="742" y="21"/>
                  </a:lnTo>
                  <a:lnTo>
                    <a:pt x="742" y="18"/>
                  </a:lnTo>
                  <a:lnTo>
                    <a:pt x="742" y="14"/>
                  </a:lnTo>
                  <a:lnTo>
                    <a:pt x="742" y="11"/>
                  </a:lnTo>
                  <a:lnTo>
                    <a:pt x="742" y="9"/>
                  </a:lnTo>
                  <a:lnTo>
                    <a:pt x="742" y="6"/>
                  </a:lnTo>
                  <a:lnTo>
                    <a:pt x="742" y="3"/>
                  </a:lnTo>
                  <a:lnTo>
                    <a:pt x="742" y="0"/>
                  </a:lnTo>
                  <a:lnTo>
                    <a:pt x="739" y="0"/>
                  </a:lnTo>
                  <a:lnTo>
                    <a:pt x="739" y="3"/>
                  </a:lnTo>
                  <a:lnTo>
                    <a:pt x="739" y="6"/>
                  </a:lnTo>
                  <a:lnTo>
                    <a:pt x="739" y="9"/>
                  </a:lnTo>
                  <a:lnTo>
                    <a:pt x="739" y="11"/>
                  </a:lnTo>
                  <a:lnTo>
                    <a:pt x="739" y="14"/>
                  </a:lnTo>
                  <a:lnTo>
                    <a:pt x="739" y="18"/>
                  </a:lnTo>
                  <a:lnTo>
                    <a:pt x="739" y="21"/>
                  </a:lnTo>
                  <a:lnTo>
                    <a:pt x="739" y="24"/>
                  </a:lnTo>
                  <a:lnTo>
                    <a:pt x="739" y="28"/>
                  </a:lnTo>
                  <a:lnTo>
                    <a:pt x="739" y="31"/>
                  </a:lnTo>
                  <a:lnTo>
                    <a:pt x="739" y="34"/>
                  </a:lnTo>
                  <a:lnTo>
                    <a:pt x="739" y="38"/>
                  </a:lnTo>
                  <a:lnTo>
                    <a:pt x="739" y="41"/>
                  </a:lnTo>
                  <a:lnTo>
                    <a:pt x="739" y="44"/>
                  </a:lnTo>
                  <a:lnTo>
                    <a:pt x="739" y="48"/>
                  </a:lnTo>
                  <a:lnTo>
                    <a:pt x="739" y="51"/>
                  </a:lnTo>
                  <a:lnTo>
                    <a:pt x="742" y="51"/>
                  </a:lnTo>
                  <a:lnTo>
                    <a:pt x="742" y="48"/>
                  </a:lnTo>
                  <a:lnTo>
                    <a:pt x="742" y="44"/>
                  </a:lnTo>
                  <a:lnTo>
                    <a:pt x="742" y="41"/>
                  </a:lnTo>
                  <a:lnTo>
                    <a:pt x="742" y="38"/>
                  </a:lnTo>
                  <a:lnTo>
                    <a:pt x="742" y="34"/>
                  </a:lnTo>
                  <a:lnTo>
                    <a:pt x="742" y="31"/>
                  </a:lnTo>
                  <a:lnTo>
                    <a:pt x="742" y="28"/>
                  </a:lnTo>
                  <a:lnTo>
                    <a:pt x="74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51" name="Freeform 292">
              <a:extLst>
                <a:ext uri="{FF2B5EF4-FFF2-40B4-BE49-F238E27FC236}">
                  <a16:creationId xmlns:a16="http://schemas.microsoft.com/office/drawing/2014/main" id="{08E881F9-B080-0EAB-DB43-CD202217DE05}"/>
                </a:ext>
              </a:extLst>
            </p:cNvPr>
            <p:cNvSpPr>
              <a:spLocks noEditPoints="1"/>
            </p:cNvSpPr>
            <p:nvPr/>
          </p:nvSpPr>
          <p:spPr bwMode="auto">
            <a:xfrm>
              <a:off x="1242" y="1713"/>
              <a:ext cx="738" cy="51"/>
            </a:xfrm>
            <a:custGeom>
              <a:avLst/>
              <a:gdLst>
                <a:gd name="T0" fmla="*/ 738 w 738"/>
                <a:gd name="T1" fmla="*/ 21 h 51"/>
                <a:gd name="T2" fmla="*/ 738 w 738"/>
                <a:gd name="T3" fmla="*/ 14 h 51"/>
                <a:gd name="T4" fmla="*/ 738 w 738"/>
                <a:gd name="T5" fmla="*/ 9 h 51"/>
                <a:gd name="T6" fmla="*/ 738 w 738"/>
                <a:gd name="T7" fmla="*/ 3 h 51"/>
                <a:gd name="T8" fmla="*/ 735 w 738"/>
                <a:gd name="T9" fmla="*/ 0 h 51"/>
                <a:gd name="T10" fmla="*/ 735 w 738"/>
                <a:gd name="T11" fmla="*/ 6 h 51"/>
                <a:gd name="T12" fmla="*/ 735 w 738"/>
                <a:gd name="T13" fmla="*/ 11 h 51"/>
                <a:gd name="T14" fmla="*/ 735 w 738"/>
                <a:gd name="T15" fmla="*/ 18 h 51"/>
                <a:gd name="T16" fmla="*/ 735 w 738"/>
                <a:gd name="T17" fmla="*/ 24 h 51"/>
                <a:gd name="T18" fmla="*/ 735 w 738"/>
                <a:gd name="T19" fmla="*/ 31 h 51"/>
                <a:gd name="T20" fmla="*/ 735 w 738"/>
                <a:gd name="T21" fmla="*/ 38 h 51"/>
                <a:gd name="T22" fmla="*/ 735 w 738"/>
                <a:gd name="T23" fmla="*/ 44 h 51"/>
                <a:gd name="T24" fmla="*/ 735 w 738"/>
                <a:gd name="T25" fmla="*/ 51 h 51"/>
                <a:gd name="T26" fmla="*/ 738 w 738"/>
                <a:gd name="T27" fmla="*/ 48 h 51"/>
                <a:gd name="T28" fmla="*/ 738 w 738"/>
                <a:gd name="T29" fmla="*/ 41 h 51"/>
                <a:gd name="T30" fmla="*/ 738 w 738"/>
                <a:gd name="T31" fmla="*/ 34 h 51"/>
                <a:gd name="T32" fmla="*/ 738 w 738"/>
                <a:gd name="T33" fmla="*/ 28 h 51"/>
                <a:gd name="T34" fmla="*/ 2 w 738"/>
                <a:gd name="T35" fmla="*/ 0 h 51"/>
                <a:gd name="T36" fmla="*/ 0 w 738"/>
                <a:gd name="T37" fmla="*/ 6 h 51"/>
                <a:gd name="T38" fmla="*/ 0 w 738"/>
                <a:gd name="T39" fmla="*/ 11 h 51"/>
                <a:gd name="T40" fmla="*/ 0 w 738"/>
                <a:gd name="T41" fmla="*/ 18 h 51"/>
                <a:gd name="T42" fmla="*/ 0 w 738"/>
                <a:gd name="T43" fmla="*/ 24 h 51"/>
                <a:gd name="T44" fmla="*/ 0 w 738"/>
                <a:gd name="T45" fmla="*/ 31 h 51"/>
                <a:gd name="T46" fmla="*/ 0 w 738"/>
                <a:gd name="T47" fmla="*/ 38 h 51"/>
                <a:gd name="T48" fmla="*/ 0 w 738"/>
                <a:gd name="T49" fmla="*/ 44 h 51"/>
                <a:gd name="T50" fmla="*/ 2 w 738"/>
                <a:gd name="T51" fmla="*/ 51 h 51"/>
                <a:gd name="T52" fmla="*/ 3 w 738"/>
                <a:gd name="T53" fmla="*/ 48 h 51"/>
                <a:gd name="T54" fmla="*/ 3 w 738"/>
                <a:gd name="T55" fmla="*/ 41 h 51"/>
                <a:gd name="T56" fmla="*/ 3 w 738"/>
                <a:gd name="T57" fmla="*/ 34 h 51"/>
                <a:gd name="T58" fmla="*/ 3 w 738"/>
                <a:gd name="T59" fmla="*/ 28 h 51"/>
                <a:gd name="T60" fmla="*/ 3 w 738"/>
                <a:gd name="T61" fmla="*/ 21 h 51"/>
                <a:gd name="T62" fmla="*/ 3 w 738"/>
                <a:gd name="T63" fmla="*/ 14 h 51"/>
                <a:gd name="T64" fmla="*/ 3 w 738"/>
                <a:gd name="T65" fmla="*/ 9 h 51"/>
                <a:gd name="T66" fmla="*/ 3 w 738"/>
                <a:gd name="T67" fmla="*/ 3 h 51"/>
                <a:gd name="T68" fmla="*/ 2 w 73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38" h="51">
                  <a:moveTo>
                    <a:pt x="738" y="24"/>
                  </a:moveTo>
                  <a:lnTo>
                    <a:pt x="738" y="21"/>
                  </a:lnTo>
                  <a:lnTo>
                    <a:pt x="738" y="18"/>
                  </a:lnTo>
                  <a:lnTo>
                    <a:pt x="738" y="14"/>
                  </a:lnTo>
                  <a:lnTo>
                    <a:pt x="738" y="11"/>
                  </a:lnTo>
                  <a:lnTo>
                    <a:pt x="738" y="9"/>
                  </a:lnTo>
                  <a:lnTo>
                    <a:pt x="738" y="6"/>
                  </a:lnTo>
                  <a:lnTo>
                    <a:pt x="738" y="3"/>
                  </a:lnTo>
                  <a:lnTo>
                    <a:pt x="738" y="0"/>
                  </a:lnTo>
                  <a:lnTo>
                    <a:pt x="735" y="0"/>
                  </a:lnTo>
                  <a:lnTo>
                    <a:pt x="735" y="3"/>
                  </a:lnTo>
                  <a:lnTo>
                    <a:pt x="735" y="6"/>
                  </a:lnTo>
                  <a:lnTo>
                    <a:pt x="735" y="9"/>
                  </a:lnTo>
                  <a:lnTo>
                    <a:pt x="735" y="11"/>
                  </a:lnTo>
                  <a:lnTo>
                    <a:pt x="735" y="14"/>
                  </a:lnTo>
                  <a:lnTo>
                    <a:pt x="735" y="18"/>
                  </a:lnTo>
                  <a:lnTo>
                    <a:pt x="735" y="21"/>
                  </a:lnTo>
                  <a:lnTo>
                    <a:pt x="735" y="24"/>
                  </a:lnTo>
                  <a:lnTo>
                    <a:pt x="735" y="28"/>
                  </a:lnTo>
                  <a:lnTo>
                    <a:pt x="735" y="31"/>
                  </a:lnTo>
                  <a:lnTo>
                    <a:pt x="735" y="34"/>
                  </a:lnTo>
                  <a:lnTo>
                    <a:pt x="735" y="38"/>
                  </a:lnTo>
                  <a:lnTo>
                    <a:pt x="735" y="41"/>
                  </a:lnTo>
                  <a:lnTo>
                    <a:pt x="735" y="44"/>
                  </a:lnTo>
                  <a:lnTo>
                    <a:pt x="735" y="48"/>
                  </a:lnTo>
                  <a:lnTo>
                    <a:pt x="735" y="51"/>
                  </a:lnTo>
                  <a:lnTo>
                    <a:pt x="738" y="51"/>
                  </a:lnTo>
                  <a:lnTo>
                    <a:pt x="738" y="48"/>
                  </a:lnTo>
                  <a:lnTo>
                    <a:pt x="738" y="44"/>
                  </a:lnTo>
                  <a:lnTo>
                    <a:pt x="738" y="41"/>
                  </a:lnTo>
                  <a:lnTo>
                    <a:pt x="738" y="38"/>
                  </a:lnTo>
                  <a:lnTo>
                    <a:pt x="738" y="34"/>
                  </a:lnTo>
                  <a:lnTo>
                    <a:pt x="738" y="31"/>
                  </a:lnTo>
                  <a:lnTo>
                    <a:pt x="738" y="28"/>
                  </a:lnTo>
                  <a:lnTo>
                    <a:pt x="738"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52" name="Freeform 293">
              <a:extLst>
                <a:ext uri="{FF2B5EF4-FFF2-40B4-BE49-F238E27FC236}">
                  <a16:creationId xmlns:a16="http://schemas.microsoft.com/office/drawing/2014/main" id="{A86A74B2-3942-7C47-ADA5-959C9FE68680}"/>
                </a:ext>
              </a:extLst>
            </p:cNvPr>
            <p:cNvSpPr>
              <a:spLocks noEditPoints="1"/>
            </p:cNvSpPr>
            <p:nvPr/>
          </p:nvSpPr>
          <p:spPr bwMode="auto">
            <a:xfrm>
              <a:off x="1244" y="1713"/>
              <a:ext cx="735" cy="51"/>
            </a:xfrm>
            <a:custGeom>
              <a:avLst/>
              <a:gdLst>
                <a:gd name="T0" fmla="*/ 735 w 735"/>
                <a:gd name="T1" fmla="*/ 21 h 51"/>
                <a:gd name="T2" fmla="*/ 735 w 735"/>
                <a:gd name="T3" fmla="*/ 14 h 51"/>
                <a:gd name="T4" fmla="*/ 735 w 735"/>
                <a:gd name="T5" fmla="*/ 9 h 51"/>
                <a:gd name="T6" fmla="*/ 735 w 735"/>
                <a:gd name="T7" fmla="*/ 3 h 51"/>
                <a:gd name="T8" fmla="*/ 732 w 735"/>
                <a:gd name="T9" fmla="*/ 0 h 51"/>
                <a:gd name="T10" fmla="*/ 732 w 735"/>
                <a:gd name="T11" fmla="*/ 6 h 51"/>
                <a:gd name="T12" fmla="*/ 732 w 735"/>
                <a:gd name="T13" fmla="*/ 11 h 51"/>
                <a:gd name="T14" fmla="*/ 732 w 735"/>
                <a:gd name="T15" fmla="*/ 18 h 51"/>
                <a:gd name="T16" fmla="*/ 732 w 735"/>
                <a:gd name="T17" fmla="*/ 24 h 51"/>
                <a:gd name="T18" fmla="*/ 732 w 735"/>
                <a:gd name="T19" fmla="*/ 31 h 51"/>
                <a:gd name="T20" fmla="*/ 732 w 735"/>
                <a:gd name="T21" fmla="*/ 38 h 51"/>
                <a:gd name="T22" fmla="*/ 732 w 735"/>
                <a:gd name="T23" fmla="*/ 44 h 51"/>
                <a:gd name="T24" fmla="*/ 732 w 735"/>
                <a:gd name="T25" fmla="*/ 51 h 51"/>
                <a:gd name="T26" fmla="*/ 735 w 735"/>
                <a:gd name="T27" fmla="*/ 48 h 51"/>
                <a:gd name="T28" fmla="*/ 735 w 735"/>
                <a:gd name="T29" fmla="*/ 41 h 51"/>
                <a:gd name="T30" fmla="*/ 735 w 735"/>
                <a:gd name="T31" fmla="*/ 34 h 51"/>
                <a:gd name="T32" fmla="*/ 735 w 735"/>
                <a:gd name="T33" fmla="*/ 28 h 51"/>
                <a:gd name="T34" fmla="*/ 1 w 735"/>
                <a:gd name="T35" fmla="*/ 0 h 51"/>
                <a:gd name="T36" fmla="*/ 0 w 735"/>
                <a:gd name="T37" fmla="*/ 6 h 51"/>
                <a:gd name="T38" fmla="*/ 0 w 735"/>
                <a:gd name="T39" fmla="*/ 11 h 51"/>
                <a:gd name="T40" fmla="*/ 0 w 735"/>
                <a:gd name="T41" fmla="*/ 18 h 51"/>
                <a:gd name="T42" fmla="*/ 0 w 735"/>
                <a:gd name="T43" fmla="*/ 24 h 51"/>
                <a:gd name="T44" fmla="*/ 0 w 735"/>
                <a:gd name="T45" fmla="*/ 31 h 51"/>
                <a:gd name="T46" fmla="*/ 0 w 735"/>
                <a:gd name="T47" fmla="*/ 38 h 51"/>
                <a:gd name="T48" fmla="*/ 0 w 735"/>
                <a:gd name="T49" fmla="*/ 44 h 51"/>
                <a:gd name="T50" fmla="*/ 1 w 735"/>
                <a:gd name="T51" fmla="*/ 51 h 51"/>
                <a:gd name="T52" fmla="*/ 3 w 735"/>
                <a:gd name="T53" fmla="*/ 48 h 51"/>
                <a:gd name="T54" fmla="*/ 3 w 735"/>
                <a:gd name="T55" fmla="*/ 41 h 51"/>
                <a:gd name="T56" fmla="*/ 3 w 735"/>
                <a:gd name="T57" fmla="*/ 34 h 51"/>
                <a:gd name="T58" fmla="*/ 3 w 735"/>
                <a:gd name="T59" fmla="*/ 28 h 51"/>
                <a:gd name="T60" fmla="*/ 3 w 735"/>
                <a:gd name="T61" fmla="*/ 21 h 51"/>
                <a:gd name="T62" fmla="*/ 3 w 735"/>
                <a:gd name="T63" fmla="*/ 14 h 51"/>
                <a:gd name="T64" fmla="*/ 3 w 735"/>
                <a:gd name="T65" fmla="*/ 9 h 51"/>
                <a:gd name="T66" fmla="*/ 3 w 735"/>
                <a:gd name="T67" fmla="*/ 3 h 51"/>
                <a:gd name="T68" fmla="*/ 1 w 73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35" h="51">
                  <a:moveTo>
                    <a:pt x="735" y="24"/>
                  </a:moveTo>
                  <a:lnTo>
                    <a:pt x="735" y="21"/>
                  </a:lnTo>
                  <a:lnTo>
                    <a:pt x="735" y="18"/>
                  </a:lnTo>
                  <a:lnTo>
                    <a:pt x="735" y="14"/>
                  </a:lnTo>
                  <a:lnTo>
                    <a:pt x="735" y="11"/>
                  </a:lnTo>
                  <a:lnTo>
                    <a:pt x="735" y="9"/>
                  </a:lnTo>
                  <a:lnTo>
                    <a:pt x="735" y="6"/>
                  </a:lnTo>
                  <a:lnTo>
                    <a:pt x="735" y="3"/>
                  </a:lnTo>
                  <a:lnTo>
                    <a:pt x="735" y="0"/>
                  </a:lnTo>
                  <a:lnTo>
                    <a:pt x="732" y="0"/>
                  </a:lnTo>
                  <a:lnTo>
                    <a:pt x="732" y="3"/>
                  </a:lnTo>
                  <a:lnTo>
                    <a:pt x="732" y="6"/>
                  </a:lnTo>
                  <a:lnTo>
                    <a:pt x="732" y="9"/>
                  </a:lnTo>
                  <a:lnTo>
                    <a:pt x="732" y="11"/>
                  </a:lnTo>
                  <a:lnTo>
                    <a:pt x="732" y="14"/>
                  </a:lnTo>
                  <a:lnTo>
                    <a:pt x="732" y="18"/>
                  </a:lnTo>
                  <a:lnTo>
                    <a:pt x="732" y="21"/>
                  </a:lnTo>
                  <a:lnTo>
                    <a:pt x="732" y="24"/>
                  </a:lnTo>
                  <a:lnTo>
                    <a:pt x="732" y="28"/>
                  </a:lnTo>
                  <a:lnTo>
                    <a:pt x="732" y="31"/>
                  </a:lnTo>
                  <a:lnTo>
                    <a:pt x="732" y="34"/>
                  </a:lnTo>
                  <a:lnTo>
                    <a:pt x="732" y="38"/>
                  </a:lnTo>
                  <a:lnTo>
                    <a:pt x="732" y="41"/>
                  </a:lnTo>
                  <a:lnTo>
                    <a:pt x="732" y="44"/>
                  </a:lnTo>
                  <a:lnTo>
                    <a:pt x="732" y="48"/>
                  </a:lnTo>
                  <a:lnTo>
                    <a:pt x="732" y="51"/>
                  </a:lnTo>
                  <a:lnTo>
                    <a:pt x="735" y="51"/>
                  </a:lnTo>
                  <a:lnTo>
                    <a:pt x="735" y="48"/>
                  </a:lnTo>
                  <a:lnTo>
                    <a:pt x="735" y="44"/>
                  </a:lnTo>
                  <a:lnTo>
                    <a:pt x="735" y="41"/>
                  </a:lnTo>
                  <a:lnTo>
                    <a:pt x="735" y="38"/>
                  </a:lnTo>
                  <a:lnTo>
                    <a:pt x="735" y="34"/>
                  </a:lnTo>
                  <a:lnTo>
                    <a:pt x="735" y="31"/>
                  </a:lnTo>
                  <a:lnTo>
                    <a:pt x="735" y="28"/>
                  </a:lnTo>
                  <a:lnTo>
                    <a:pt x="73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53" name="Freeform 294">
              <a:extLst>
                <a:ext uri="{FF2B5EF4-FFF2-40B4-BE49-F238E27FC236}">
                  <a16:creationId xmlns:a16="http://schemas.microsoft.com/office/drawing/2014/main" id="{7EBD2C43-FACD-CA79-DAEA-AFE8F6E93D50}"/>
                </a:ext>
              </a:extLst>
            </p:cNvPr>
            <p:cNvSpPr>
              <a:spLocks noEditPoints="1"/>
            </p:cNvSpPr>
            <p:nvPr/>
          </p:nvSpPr>
          <p:spPr bwMode="auto">
            <a:xfrm>
              <a:off x="1245" y="1713"/>
              <a:ext cx="732" cy="51"/>
            </a:xfrm>
            <a:custGeom>
              <a:avLst/>
              <a:gdLst>
                <a:gd name="T0" fmla="*/ 732 w 732"/>
                <a:gd name="T1" fmla="*/ 21 h 51"/>
                <a:gd name="T2" fmla="*/ 732 w 732"/>
                <a:gd name="T3" fmla="*/ 14 h 51"/>
                <a:gd name="T4" fmla="*/ 732 w 732"/>
                <a:gd name="T5" fmla="*/ 9 h 51"/>
                <a:gd name="T6" fmla="*/ 732 w 732"/>
                <a:gd name="T7" fmla="*/ 3 h 51"/>
                <a:gd name="T8" fmla="*/ 729 w 732"/>
                <a:gd name="T9" fmla="*/ 0 h 51"/>
                <a:gd name="T10" fmla="*/ 729 w 732"/>
                <a:gd name="T11" fmla="*/ 6 h 51"/>
                <a:gd name="T12" fmla="*/ 729 w 732"/>
                <a:gd name="T13" fmla="*/ 11 h 51"/>
                <a:gd name="T14" fmla="*/ 729 w 732"/>
                <a:gd name="T15" fmla="*/ 18 h 51"/>
                <a:gd name="T16" fmla="*/ 729 w 732"/>
                <a:gd name="T17" fmla="*/ 24 h 51"/>
                <a:gd name="T18" fmla="*/ 729 w 732"/>
                <a:gd name="T19" fmla="*/ 31 h 51"/>
                <a:gd name="T20" fmla="*/ 729 w 732"/>
                <a:gd name="T21" fmla="*/ 38 h 51"/>
                <a:gd name="T22" fmla="*/ 729 w 732"/>
                <a:gd name="T23" fmla="*/ 44 h 51"/>
                <a:gd name="T24" fmla="*/ 729 w 732"/>
                <a:gd name="T25" fmla="*/ 51 h 51"/>
                <a:gd name="T26" fmla="*/ 732 w 732"/>
                <a:gd name="T27" fmla="*/ 48 h 51"/>
                <a:gd name="T28" fmla="*/ 732 w 732"/>
                <a:gd name="T29" fmla="*/ 41 h 51"/>
                <a:gd name="T30" fmla="*/ 732 w 732"/>
                <a:gd name="T31" fmla="*/ 34 h 51"/>
                <a:gd name="T32" fmla="*/ 732 w 732"/>
                <a:gd name="T33" fmla="*/ 28 h 51"/>
                <a:gd name="T34" fmla="*/ 2 w 732"/>
                <a:gd name="T35" fmla="*/ 0 h 51"/>
                <a:gd name="T36" fmla="*/ 0 w 732"/>
                <a:gd name="T37" fmla="*/ 6 h 51"/>
                <a:gd name="T38" fmla="*/ 0 w 732"/>
                <a:gd name="T39" fmla="*/ 11 h 51"/>
                <a:gd name="T40" fmla="*/ 0 w 732"/>
                <a:gd name="T41" fmla="*/ 18 h 51"/>
                <a:gd name="T42" fmla="*/ 0 w 732"/>
                <a:gd name="T43" fmla="*/ 24 h 51"/>
                <a:gd name="T44" fmla="*/ 0 w 732"/>
                <a:gd name="T45" fmla="*/ 31 h 51"/>
                <a:gd name="T46" fmla="*/ 0 w 732"/>
                <a:gd name="T47" fmla="*/ 38 h 51"/>
                <a:gd name="T48" fmla="*/ 0 w 732"/>
                <a:gd name="T49" fmla="*/ 44 h 51"/>
                <a:gd name="T50" fmla="*/ 2 w 732"/>
                <a:gd name="T51" fmla="*/ 51 h 51"/>
                <a:gd name="T52" fmla="*/ 4 w 732"/>
                <a:gd name="T53" fmla="*/ 48 h 51"/>
                <a:gd name="T54" fmla="*/ 4 w 732"/>
                <a:gd name="T55" fmla="*/ 41 h 51"/>
                <a:gd name="T56" fmla="*/ 4 w 732"/>
                <a:gd name="T57" fmla="*/ 34 h 51"/>
                <a:gd name="T58" fmla="*/ 4 w 732"/>
                <a:gd name="T59" fmla="*/ 28 h 51"/>
                <a:gd name="T60" fmla="*/ 4 w 732"/>
                <a:gd name="T61" fmla="*/ 21 h 51"/>
                <a:gd name="T62" fmla="*/ 4 w 732"/>
                <a:gd name="T63" fmla="*/ 14 h 51"/>
                <a:gd name="T64" fmla="*/ 4 w 732"/>
                <a:gd name="T65" fmla="*/ 9 h 51"/>
                <a:gd name="T66" fmla="*/ 4 w 732"/>
                <a:gd name="T67" fmla="*/ 3 h 51"/>
                <a:gd name="T68" fmla="*/ 2 w 7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32" h="51">
                  <a:moveTo>
                    <a:pt x="732" y="24"/>
                  </a:moveTo>
                  <a:lnTo>
                    <a:pt x="732" y="21"/>
                  </a:lnTo>
                  <a:lnTo>
                    <a:pt x="732" y="18"/>
                  </a:lnTo>
                  <a:lnTo>
                    <a:pt x="732" y="14"/>
                  </a:lnTo>
                  <a:lnTo>
                    <a:pt x="732" y="11"/>
                  </a:lnTo>
                  <a:lnTo>
                    <a:pt x="732" y="9"/>
                  </a:lnTo>
                  <a:lnTo>
                    <a:pt x="732" y="6"/>
                  </a:lnTo>
                  <a:lnTo>
                    <a:pt x="732" y="3"/>
                  </a:lnTo>
                  <a:lnTo>
                    <a:pt x="732" y="0"/>
                  </a:lnTo>
                  <a:lnTo>
                    <a:pt x="729" y="0"/>
                  </a:lnTo>
                  <a:lnTo>
                    <a:pt x="729" y="3"/>
                  </a:lnTo>
                  <a:lnTo>
                    <a:pt x="729" y="6"/>
                  </a:lnTo>
                  <a:lnTo>
                    <a:pt x="729" y="9"/>
                  </a:lnTo>
                  <a:lnTo>
                    <a:pt x="729" y="11"/>
                  </a:lnTo>
                  <a:lnTo>
                    <a:pt x="729" y="14"/>
                  </a:lnTo>
                  <a:lnTo>
                    <a:pt x="729" y="18"/>
                  </a:lnTo>
                  <a:lnTo>
                    <a:pt x="729" y="21"/>
                  </a:lnTo>
                  <a:lnTo>
                    <a:pt x="729" y="24"/>
                  </a:lnTo>
                  <a:lnTo>
                    <a:pt x="729" y="28"/>
                  </a:lnTo>
                  <a:lnTo>
                    <a:pt x="729" y="31"/>
                  </a:lnTo>
                  <a:lnTo>
                    <a:pt x="729" y="34"/>
                  </a:lnTo>
                  <a:lnTo>
                    <a:pt x="729" y="38"/>
                  </a:lnTo>
                  <a:lnTo>
                    <a:pt x="729" y="41"/>
                  </a:lnTo>
                  <a:lnTo>
                    <a:pt x="729" y="44"/>
                  </a:lnTo>
                  <a:lnTo>
                    <a:pt x="729" y="48"/>
                  </a:lnTo>
                  <a:lnTo>
                    <a:pt x="729" y="51"/>
                  </a:lnTo>
                  <a:lnTo>
                    <a:pt x="732" y="51"/>
                  </a:lnTo>
                  <a:lnTo>
                    <a:pt x="732" y="48"/>
                  </a:lnTo>
                  <a:lnTo>
                    <a:pt x="732" y="44"/>
                  </a:lnTo>
                  <a:lnTo>
                    <a:pt x="732" y="41"/>
                  </a:lnTo>
                  <a:lnTo>
                    <a:pt x="732" y="38"/>
                  </a:lnTo>
                  <a:lnTo>
                    <a:pt x="732" y="34"/>
                  </a:lnTo>
                  <a:lnTo>
                    <a:pt x="732" y="31"/>
                  </a:lnTo>
                  <a:lnTo>
                    <a:pt x="732" y="28"/>
                  </a:lnTo>
                  <a:lnTo>
                    <a:pt x="73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54" name="Freeform 295">
              <a:extLst>
                <a:ext uri="{FF2B5EF4-FFF2-40B4-BE49-F238E27FC236}">
                  <a16:creationId xmlns:a16="http://schemas.microsoft.com/office/drawing/2014/main" id="{0C6BBA47-6523-FF65-0E44-CDA6B61E54B8}"/>
                </a:ext>
              </a:extLst>
            </p:cNvPr>
            <p:cNvSpPr>
              <a:spLocks noEditPoints="1"/>
            </p:cNvSpPr>
            <p:nvPr/>
          </p:nvSpPr>
          <p:spPr bwMode="auto">
            <a:xfrm>
              <a:off x="1247" y="1713"/>
              <a:ext cx="729" cy="51"/>
            </a:xfrm>
            <a:custGeom>
              <a:avLst/>
              <a:gdLst>
                <a:gd name="T0" fmla="*/ 729 w 729"/>
                <a:gd name="T1" fmla="*/ 21 h 51"/>
                <a:gd name="T2" fmla="*/ 729 w 729"/>
                <a:gd name="T3" fmla="*/ 14 h 51"/>
                <a:gd name="T4" fmla="*/ 729 w 729"/>
                <a:gd name="T5" fmla="*/ 9 h 51"/>
                <a:gd name="T6" fmla="*/ 729 w 729"/>
                <a:gd name="T7" fmla="*/ 3 h 51"/>
                <a:gd name="T8" fmla="*/ 725 w 729"/>
                <a:gd name="T9" fmla="*/ 0 h 51"/>
                <a:gd name="T10" fmla="*/ 725 w 729"/>
                <a:gd name="T11" fmla="*/ 6 h 51"/>
                <a:gd name="T12" fmla="*/ 725 w 729"/>
                <a:gd name="T13" fmla="*/ 11 h 51"/>
                <a:gd name="T14" fmla="*/ 725 w 729"/>
                <a:gd name="T15" fmla="*/ 18 h 51"/>
                <a:gd name="T16" fmla="*/ 725 w 729"/>
                <a:gd name="T17" fmla="*/ 24 h 51"/>
                <a:gd name="T18" fmla="*/ 725 w 729"/>
                <a:gd name="T19" fmla="*/ 31 h 51"/>
                <a:gd name="T20" fmla="*/ 725 w 729"/>
                <a:gd name="T21" fmla="*/ 38 h 51"/>
                <a:gd name="T22" fmla="*/ 725 w 729"/>
                <a:gd name="T23" fmla="*/ 44 h 51"/>
                <a:gd name="T24" fmla="*/ 725 w 729"/>
                <a:gd name="T25" fmla="*/ 51 h 51"/>
                <a:gd name="T26" fmla="*/ 729 w 729"/>
                <a:gd name="T27" fmla="*/ 48 h 51"/>
                <a:gd name="T28" fmla="*/ 729 w 729"/>
                <a:gd name="T29" fmla="*/ 41 h 51"/>
                <a:gd name="T30" fmla="*/ 729 w 729"/>
                <a:gd name="T31" fmla="*/ 34 h 51"/>
                <a:gd name="T32" fmla="*/ 729 w 729"/>
                <a:gd name="T33" fmla="*/ 28 h 51"/>
                <a:gd name="T34" fmla="*/ 2 w 729"/>
                <a:gd name="T35" fmla="*/ 0 h 51"/>
                <a:gd name="T36" fmla="*/ 0 w 729"/>
                <a:gd name="T37" fmla="*/ 6 h 51"/>
                <a:gd name="T38" fmla="*/ 0 w 729"/>
                <a:gd name="T39" fmla="*/ 11 h 51"/>
                <a:gd name="T40" fmla="*/ 0 w 729"/>
                <a:gd name="T41" fmla="*/ 18 h 51"/>
                <a:gd name="T42" fmla="*/ 0 w 729"/>
                <a:gd name="T43" fmla="*/ 24 h 51"/>
                <a:gd name="T44" fmla="*/ 0 w 729"/>
                <a:gd name="T45" fmla="*/ 31 h 51"/>
                <a:gd name="T46" fmla="*/ 0 w 729"/>
                <a:gd name="T47" fmla="*/ 38 h 51"/>
                <a:gd name="T48" fmla="*/ 0 w 729"/>
                <a:gd name="T49" fmla="*/ 44 h 51"/>
                <a:gd name="T50" fmla="*/ 2 w 729"/>
                <a:gd name="T51" fmla="*/ 51 h 51"/>
                <a:gd name="T52" fmla="*/ 3 w 729"/>
                <a:gd name="T53" fmla="*/ 48 h 51"/>
                <a:gd name="T54" fmla="*/ 3 w 729"/>
                <a:gd name="T55" fmla="*/ 41 h 51"/>
                <a:gd name="T56" fmla="*/ 3 w 729"/>
                <a:gd name="T57" fmla="*/ 34 h 51"/>
                <a:gd name="T58" fmla="*/ 3 w 729"/>
                <a:gd name="T59" fmla="*/ 28 h 51"/>
                <a:gd name="T60" fmla="*/ 3 w 729"/>
                <a:gd name="T61" fmla="*/ 21 h 51"/>
                <a:gd name="T62" fmla="*/ 3 w 729"/>
                <a:gd name="T63" fmla="*/ 14 h 51"/>
                <a:gd name="T64" fmla="*/ 3 w 729"/>
                <a:gd name="T65" fmla="*/ 9 h 51"/>
                <a:gd name="T66" fmla="*/ 3 w 729"/>
                <a:gd name="T67" fmla="*/ 3 h 51"/>
                <a:gd name="T68" fmla="*/ 2 w 72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29" h="51">
                  <a:moveTo>
                    <a:pt x="729" y="24"/>
                  </a:moveTo>
                  <a:lnTo>
                    <a:pt x="729" y="21"/>
                  </a:lnTo>
                  <a:lnTo>
                    <a:pt x="729" y="18"/>
                  </a:lnTo>
                  <a:lnTo>
                    <a:pt x="729" y="14"/>
                  </a:lnTo>
                  <a:lnTo>
                    <a:pt x="729" y="11"/>
                  </a:lnTo>
                  <a:lnTo>
                    <a:pt x="729" y="9"/>
                  </a:lnTo>
                  <a:lnTo>
                    <a:pt x="729" y="6"/>
                  </a:lnTo>
                  <a:lnTo>
                    <a:pt x="729" y="3"/>
                  </a:lnTo>
                  <a:lnTo>
                    <a:pt x="729" y="0"/>
                  </a:lnTo>
                  <a:lnTo>
                    <a:pt x="725" y="0"/>
                  </a:lnTo>
                  <a:lnTo>
                    <a:pt x="725" y="3"/>
                  </a:lnTo>
                  <a:lnTo>
                    <a:pt x="725" y="6"/>
                  </a:lnTo>
                  <a:lnTo>
                    <a:pt x="725" y="9"/>
                  </a:lnTo>
                  <a:lnTo>
                    <a:pt x="725" y="11"/>
                  </a:lnTo>
                  <a:lnTo>
                    <a:pt x="725" y="14"/>
                  </a:lnTo>
                  <a:lnTo>
                    <a:pt x="725" y="18"/>
                  </a:lnTo>
                  <a:lnTo>
                    <a:pt x="725" y="21"/>
                  </a:lnTo>
                  <a:lnTo>
                    <a:pt x="725" y="24"/>
                  </a:lnTo>
                  <a:lnTo>
                    <a:pt x="725" y="28"/>
                  </a:lnTo>
                  <a:lnTo>
                    <a:pt x="725" y="31"/>
                  </a:lnTo>
                  <a:lnTo>
                    <a:pt x="725" y="34"/>
                  </a:lnTo>
                  <a:lnTo>
                    <a:pt x="725" y="38"/>
                  </a:lnTo>
                  <a:lnTo>
                    <a:pt x="725" y="41"/>
                  </a:lnTo>
                  <a:lnTo>
                    <a:pt x="725" y="44"/>
                  </a:lnTo>
                  <a:lnTo>
                    <a:pt x="725" y="48"/>
                  </a:lnTo>
                  <a:lnTo>
                    <a:pt x="725" y="51"/>
                  </a:lnTo>
                  <a:lnTo>
                    <a:pt x="729" y="51"/>
                  </a:lnTo>
                  <a:lnTo>
                    <a:pt x="729" y="48"/>
                  </a:lnTo>
                  <a:lnTo>
                    <a:pt x="729" y="44"/>
                  </a:lnTo>
                  <a:lnTo>
                    <a:pt x="729" y="41"/>
                  </a:lnTo>
                  <a:lnTo>
                    <a:pt x="729" y="38"/>
                  </a:lnTo>
                  <a:lnTo>
                    <a:pt x="729" y="34"/>
                  </a:lnTo>
                  <a:lnTo>
                    <a:pt x="729" y="31"/>
                  </a:lnTo>
                  <a:lnTo>
                    <a:pt x="729" y="28"/>
                  </a:lnTo>
                  <a:lnTo>
                    <a:pt x="729"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55" name="Freeform 296">
              <a:extLst>
                <a:ext uri="{FF2B5EF4-FFF2-40B4-BE49-F238E27FC236}">
                  <a16:creationId xmlns:a16="http://schemas.microsoft.com/office/drawing/2014/main" id="{278CD857-8A3C-1059-18E8-FCF078CFDE88}"/>
                </a:ext>
              </a:extLst>
            </p:cNvPr>
            <p:cNvSpPr>
              <a:spLocks noEditPoints="1"/>
            </p:cNvSpPr>
            <p:nvPr/>
          </p:nvSpPr>
          <p:spPr bwMode="auto">
            <a:xfrm>
              <a:off x="1249" y="1713"/>
              <a:ext cx="725" cy="51"/>
            </a:xfrm>
            <a:custGeom>
              <a:avLst/>
              <a:gdLst>
                <a:gd name="T0" fmla="*/ 725 w 725"/>
                <a:gd name="T1" fmla="*/ 21 h 51"/>
                <a:gd name="T2" fmla="*/ 725 w 725"/>
                <a:gd name="T3" fmla="*/ 14 h 51"/>
                <a:gd name="T4" fmla="*/ 725 w 725"/>
                <a:gd name="T5" fmla="*/ 9 h 51"/>
                <a:gd name="T6" fmla="*/ 725 w 725"/>
                <a:gd name="T7" fmla="*/ 3 h 51"/>
                <a:gd name="T8" fmla="*/ 722 w 725"/>
                <a:gd name="T9" fmla="*/ 0 h 51"/>
                <a:gd name="T10" fmla="*/ 722 w 725"/>
                <a:gd name="T11" fmla="*/ 6 h 51"/>
                <a:gd name="T12" fmla="*/ 722 w 725"/>
                <a:gd name="T13" fmla="*/ 11 h 51"/>
                <a:gd name="T14" fmla="*/ 722 w 725"/>
                <a:gd name="T15" fmla="*/ 18 h 51"/>
                <a:gd name="T16" fmla="*/ 722 w 725"/>
                <a:gd name="T17" fmla="*/ 24 h 51"/>
                <a:gd name="T18" fmla="*/ 722 w 725"/>
                <a:gd name="T19" fmla="*/ 31 h 51"/>
                <a:gd name="T20" fmla="*/ 722 w 725"/>
                <a:gd name="T21" fmla="*/ 38 h 51"/>
                <a:gd name="T22" fmla="*/ 722 w 725"/>
                <a:gd name="T23" fmla="*/ 44 h 51"/>
                <a:gd name="T24" fmla="*/ 722 w 725"/>
                <a:gd name="T25" fmla="*/ 51 h 51"/>
                <a:gd name="T26" fmla="*/ 725 w 725"/>
                <a:gd name="T27" fmla="*/ 48 h 51"/>
                <a:gd name="T28" fmla="*/ 725 w 725"/>
                <a:gd name="T29" fmla="*/ 41 h 51"/>
                <a:gd name="T30" fmla="*/ 725 w 725"/>
                <a:gd name="T31" fmla="*/ 34 h 51"/>
                <a:gd name="T32" fmla="*/ 725 w 725"/>
                <a:gd name="T33" fmla="*/ 28 h 51"/>
                <a:gd name="T34" fmla="*/ 1 w 725"/>
                <a:gd name="T35" fmla="*/ 0 h 51"/>
                <a:gd name="T36" fmla="*/ 0 w 725"/>
                <a:gd name="T37" fmla="*/ 6 h 51"/>
                <a:gd name="T38" fmla="*/ 0 w 725"/>
                <a:gd name="T39" fmla="*/ 11 h 51"/>
                <a:gd name="T40" fmla="*/ 0 w 725"/>
                <a:gd name="T41" fmla="*/ 18 h 51"/>
                <a:gd name="T42" fmla="*/ 0 w 725"/>
                <a:gd name="T43" fmla="*/ 24 h 51"/>
                <a:gd name="T44" fmla="*/ 0 w 725"/>
                <a:gd name="T45" fmla="*/ 31 h 51"/>
                <a:gd name="T46" fmla="*/ 0 w 725"/>
                <a:gd name="T47" fmla="*/ 38 h 51"/>
                <a:gd name="T48" fmla="*/ 0 w 725"/>
                <a:gd name="T49" fmla="*/ 44 h 51"/>
                <a:gd name="T50" fmla="*/ 1 w 725"/>
                <a:gd name="T51" fmla="*/ 51 h 51"/>
                <a:gd name="T52" fmla="*/ 3 w 725"/>
                <a:gd name="T53" fmla="*/ 48 h 51"/>
                <a:gd name="T54" fmla="*/ 3 w 725"/>
                <a:gd name="T55" fmla="*/ 41 h 51"/>
                <a:gd name="T56" fmla="*/ 3 w 725"/>
                <a:gd name="T57" fmla="*/ 34 h 51"/>
                <a:gd name="T58" fmla="*/ 3 w 725"/>
                <a:gd name="T59" fmla="*/ 28 h 51"/>
                <a:gd name="T60" fmla="*/ 3 w 725"/>
                <a:gd name="T61" fmla="*/ 21 h 51"/>
                <a:gd name="T62" fmla="*/ 3 w 725"/>
                <a:gd name="T63" fmla="*/ 14 h 51"/>
                <a:gd name="T64" fmla="*/ 3 w 725"/>
                <a:gd name="T65" fmla="*/ 9 h 51"/>
                <a:gd name="T66" fmla="*/ 3 w 725"/>
                <a:gd name="T67" fmla="*/ 3 h 51"/>
                <a:gd name="T68" fmla="*/ 1 w 72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25" h="51">
                  <a:moveTo>
                    <a:pt x="725" y="24"/>
                  </a:moveTo>
                  <a:lnTo>
                    <a:pt x="725" y="21"/>
                  </a:lnTo>
                  <a:lnTo>
                    <a:pt x="725" y="18"/>
                  </a:lnTo>
                  <a:lnTo>
                    <a:pt x="725" y="14"/>
                  </a:lnTo>
                  <a:lnTo>
                    <a:pt x="725" y="11"/>
                  </a:lnTo>
                  <a:lnTo>
                    <a:pt x="725" y="9"/>
                  </a:lnTo>
                  <a:lnTo>
                    <a:pt x="725" y="6"/>
                  </a:lnTo>
                  <a:lnTo>
                    <a:pt x="725" y="3"/>
                  </a:lnTo>
                  <a:lnTo>
                    <a:pt x="725" y="0"/>
                  </a:lnTo>
                  <a:lnTo>
                    <a:pt x="722" y="0"/>
                  </a:lnTo>
                  <a:lnTo>
                    <a:pt x="722" y="3"/>
                  </a:lnTo>
                  <a:lnTo>
                    <a:pt x="722" y="6"/>
                  </a:lnTo>
                  <a:lnTo>
                    <a:pt x="722" y="9"/>
                  </a:lnTo>
                  <a:lnTo>
                    <a:pt x="722" y="11"/>
                  </a:lnTo>
                  <a:lnTo>
                    <a:pt x="722" y="14"/>
                  </a:lnTo>
                  <a:lnTo>
                    <a:pt x="722" y="18"/>
                  </a:lnTo>
                  <a:lnTo>
                    <a:pt x="722" y="21"/>
                  </a:lnTo>
                  <a:lnTo>
                    <a:pt x="722" y="24"/>
                  </a:lnTo>
                  <a:lnTo>
                    <a:pt x="722" y="28"/>
                  </a:lnTo>
                  <a:lnTo>
                    <a:pt x="722" y="31"/>
                  </a:lnTo>
                  <a:lnTo>
                    <a:pt x="722" y="34"/>
                  </a:lnTo>
                  <a:lnTo>
                    <a:pt x="722" y="38"/>
                  </a:lnTo>
                  <a:lnTo>
                    <a:pt x="722" y="41"/>
                  </a:lnTo>
                  <a:lnTo>
                    <a:pt x="722" y="44"/>
                  </a:lnTo>
                  <a:lnTo>
                    <a:pt x="722" y="48"/>
                  </a:lnTo>
                  <a:lnTo>
                    <a:pt x="722" y="51"/>
                  </a:lnTo>
                  <a:lnTo>
                    <a:pt x="725" y="51"/>
                  </a:lnTo>
                  <a:lnTo>
                    <a:pt x="725" y="48"/>
                  </a:lnTo>
                  <a:lnTo>
                    <a:pt x="725" y="44"/>
                  </a:lnTo>
                  <a:lnTo>
                    <a:pt x="725" y="41"/>
                  </a:lnTo>
                  <a:lnTo>
                    <a:pt x="725" y="38"/>
                  </a:lnTo>
                  <a:lnTo>
                    <a:pt x="725" y="34"/>
                  </a:lnTo>
                  <a:lnTo>
                    <a:pt x="725" y="31"/>
                  </a:lnTo>
                  <a:lnTo>
                    <a:pt x="725" y="28"/>
                  </a:lnTo>
                  <a:lnTo>
                    <a:pt x="72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4"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4" y="0"/>
                  </a:lnTo>
                  <a:lnTo>
                    <a:pt x="1"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56" name="Freeform 297">
              <a:extLst>
                <a:ext uri="{FF2B5EF4-FFF2-40B4-BE49-F238E27FC236}">
                  <a16:creationId xmlns:a16="http://schemas.microsoft.com/office/drawing/2014/main" id="{29DF81C3-51DE-E550-F2FB-0664D9A7982D}"/>
                </a:ext>
              </a:extLst>
            </p:cNvPr>
            <p:cNvSpPr>
              <a:spLocks noEditPoints="1"/>
            </p:cNvSpPr>
            <p:nvPr/>
          </p:nvSpPr>
          <p:spPr bwMode="auto">
            <a:xfrm>
              <a:off x="1250" y="1713"/>
              <a:ext cx="722" cy="51"/>
            </a:xfrm>
            <a:custGeom>
              <a:avLst/>
              <a:gdLst>
                <a:gd name="T0" fmla="*/ 722 w 722"/>
                <a:gd name="T1" fmla="*/ 21 h 51"/>
                <a:gd name="T2" fmla="*/ 722 w 722"/>
                <a:gd name="T3" fmla="*/ 14 h 51"/>
                <a:gd name="T4" fmla="*/ 722 w 722"/>
                <a:gd name="T5" fmla="*/ 9 h 51"/>
                <a:gd name="T6" fmla="*/ 722 w 722"/>
                <a:gd name="T7" fmla="*/ 3 h 51"/>
                <a:gd name="T8" fmla="*/ 719 w 722"/>
                <a:gd name="T9" fmla="*/ 0 h 51"/>
                <a:gd name="T10" fmla="*/ 719 w 722"/>
                <a:gd name="T11" fmla="*/ 6 h 51"/>
                <a:gd name="T12" fmla="*/ 719 w 722"/>
                <a:gd name="T13" fmla="*/ 11 h 51"/>
                <a:gd name="T14" fmla="*/ 719 w 722"/>
                <a:gd name="T15" fmla="*/ 18 h 51"/>
                <a:gd name="T16" fmla="*/ 719 w 722"/>
                <a:gd name="T17" fmla="*/ 24 h 51"/>
                <a:gd name="T18" fmla="*/ 719 w 722"/>
                <a:gd name="T19" fmla="*/ 31 h 51"/>
                <a:gd name="T20" fmla="*/ 719 w 722"/>
                <a:gd name="T21" fmla="*/ 38 h 51"/>
                <a:gd name="T22" fmla="*/ 719 w 722"/>
                <a:gd name="T23" fmla="*/ 44 h 51"/>
                <a:gd name="T24" fmla="*/ 719 w 722"/>
                <a:gd name="T25" fmla="*/ 51 h 51"/>
                <a:gd name="T26" fmla="*/ 722 w 722"/>
                <a:gd name="T27" fmla="*/ 48 h 51"/>
                <a:gd name="T28" fmla="*/ 722 w 722"/>
                <a:gd name="T29" fmla="*/ 41 h 51"/>
                <a:gd name="T30" fmla="*/ 722 w 722"/>
                <a:gd name="T31" fmla="*/ 34 h 51"/>
                <a:gd name="T32" fmla="*/ 722 w 722"/>
                <a:gd name="T33" fmla="*/ 28 h 51"/>
                <a:gd name="T34" fmla="*/ 2 w 722"/>
                <a:gd name="T35" fmla="*/ 0 h 51"/>
                <a:gd name="T36" fmla="*/ 0 w 722"/>
                <a:gd name="T37" fmla="*/ 6 h 51"/>
                <a:gd name="T38" fmla="*/ 0 w 722"/>
                <a:gd name="T39" fmla="*/ 11 h 51"/>
                <a:gd name="T40" fmla="*/ 0 w 722"/>
                <a:gd name="T41" fmla="*/ 18 h 51"/>
                <a:gd name="T42" fmla="*/ 0 w 722"/>
                <a:gd name="T43" fmla="*/ 24 h 51"/>
                <a:gd name="T44" fmla="*/ 0 w 722"/>
                <a:gd name="T45" fmla="*/ 31 h 51"/>
                <a:gd name="T46" fmla="*/ 0 w 722"/>
                <a:gd name="T47" fmla="*/ 38 h 51"/>
                <a:gd name="T48" fmla="*/ 0 w 722"/>
                <a:gd name="T49" fmla="*/ 44 h 51"/>
                <a:gd name="T50" fmla="*/ 2 w 722"/>
                <a:gd name="T51" fmla="*/ 51 h 51"/>
                <a:gd name="T52" fmla="*/ 3 w 722"/>
                <a:gd name="T53" fmla="*/ 48 h 51"/>
                <a:gd name="T54" fmla="*/ 3 w 722"/>
                <a:gd name="T55" fmla="*/ 41 h 51"/>
                <a:gd name="T56" fmla="*/ 3 w 722"/>
                <a:gd name="T57" fmla="*/ 34 h 51"/>
                <a:gd name="T58" fmla="*/ 3 w 722"/>
                <a:gd name="T59" fmla="*/ 28 h 51"/>
                <a:gd name="T60" fmla="*/ 3 w 722"/>
                <a:gd name="T61" fmla="*/ 21 h 51"/>
                <a:gd name="T62" fmla="*/ 3 w 722"/>
                <a:gd name="T63" fmla="*/ 14 h 51"/>
                <a:gd name="T64" fmla="*/ 3 w 722"/>
                <a:gd name="T65" fmla="*/ 9 h 51"/>
                <a:gd name="T66" fmla="*/ 3 w 722"/>
                <a:gd name="T67" fmla="*/ 3 h 51"/>
                <a:gd name="T68" fmla="*/ 2 w 72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22" h="51">
                  <a:moveTo>
                    <a:pt x="722" y="24"/>
                  </a:moveTo>
                  <a:lnTo>
                    <a:pt x="722" y="21"/>
                  </a:lnTo>
                  <a:lnTo>
                    <a:pt x="722" y="18"/>
                  </a:lnTo>
                  <a:lnTo>
                    <a:pt x="722" y="14"/>
                  </a:lnTo>
                  <a:lnTo>
                    <a:pt x="722" y="11"/>
                  </a:lnTo>
                  <a:lnTo>
                    <a:pt x="722" y="9"/>
                  </a:lnTo>
                  <a:lnTo>
                    <a:pt x="722" y="6"/>
                  </a:lnTo>
                  <a:lnTo>
                    <a:pt x="722" y="3"/>
                  </a:lnTo>
                  <a:lnTo>
                    <a:pt x="722" y="0"/>
                  </a:lnTo>
                  <a:lnTo>
                    <a:pt x="719" y="0"/>
                  </a:lnTo>
                  <a:lnTo>
                    <a:pt x="719" y="3"/>
                  </a:lnTo>
                  <a:lnTo>
                    <a:pt x="719" y="6"/>
                  </a:lnTo>
                  <a:lnTo>
                    <a:pt x="719" y="9"/>
                  </a:lnTo>
                  <a:lnTo>
                    <a:pt x="719" y="11"/>
                  </a:lnTo>
                  <a:lnTo>
                    <a:pt x="719" y="14"/>
                  </a:lnTo>
                  <a:lnTo>
                    <a:pt x="719" y="18"/>
                  </a:lnTo>
                  <a:lnTo>
                    <a:pt x="719" y="21"/>
                  </a:lnTo>
                  <a:lnTo>
                    <a:pt x="719" y="24"/>
                  </a:lnTo>
                  <a:lnTo>
                    <a:pt x="719" y="28"/>
                  </a:lnTo>
                  <a:lnTo>
                    <a:pt x="719" y="31"/>
                  </a:lnTo>
                  <a:lnTo>
                    <a:pt x="719" y="34"/>
                  </a:lnTo>
                  <a:lnTo>
                    <a:pt x="719" y="38"/>
                  </a:lnTo>
                  <a:lnTo>
                    <a:pt x="719" y="41"/>
                  </a:lnTo>
                  <a:lnTo>
                    <a:pt x="719" y="44"/>
                  </a:lnTo>
                  <a:lnTo>
                    <a:pt x="719" y="48"/>
                  </a:lnTo>
                  <a:lnTo>
                    <a:pt x="719" y="51"/>
                  </a:lnTo>
                  <a:lnTo>
                    <a:pt x="722" y="51"/>
                  </a:lnTo>
                  <a:lnTo>
                    <a:pt x="722" y="48"/>
                  </a:lnTo>
                  <a:lnTo>
                    <a:pt x="722" y="44"/>
                  </a:lnTo>
                  <a:lnTo>
                    <a:pt x="722" y="41"/>
                  </a:lnTo>
                  <a:lnTo>
                    <a:pt x="722" y="38"/>
                  </a:lnTo>
                  <a:lnTo>
                    <a:pt x="722" y="34"/>
                  </a:lnTo>
                  <a:lnTo>
                    <a:pt x="722" y="31"/>
                  </a:lnTo>
                  <a:lnTo>
                    <a:pt x="722" y="28"/>
                  </a:lnTo>
                  <a:lnTo>
                    <a:pt x="72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57" name="Freeform 298">
              <a:extLst>
                <a:ext uri="{FF2B5EF4-FFF2-40B4-BE49-F238E27FC236}">
                  <a16:creationId xmlns:a16="http://schemas.microsoft.com/office/drawing/2014/main" id="{CD98ED0B-712E-9546-97B2-D1BF88534279}"/>
                </a:ext>
              </a:extLst>
            </p:cNvPr>
            <p:cNvSpPr>
              <a:spLocks noEditPoints="1"/>
            </p:cNvSpPr>
            <p:nvPr/>
          </p:nvSpPr>
          <p:spPr bwMode="auto">
            <a:xfrm>
              <a:off x="1252" y="1713"/>
              <a:ext cx="719" cy="51"/>
            </a:xfrm>
            <a:custGeom>
              <a:avLst/>
              <a:gdLst>
                <a:gd name="T0" fmla="*/ 719 w 719"/>
                <a:gd name="T1" fmla="*/ 21 h 51"/>
                <a:gd name="T2" fmla="*/ 719 w 719"/>
                <a:gd name="T3" fmla="*/ 14 h 51"/>
                <a:gd name="T4" fmla="*/ 719 w 719"/>
                <a:gd name="T5" fmla="*/ 9 h 51"/>
                <a:gd name="T6" fmla="*/ 719 w 719"/>
                <a:gd name="T7" fmla="*/ 3 h 51"/>
                <a:gd name="T8" fmla="*/ 715 w 719"/>
                <a:gd name="T9" fmla="*/ 0 h 51"/>
                <a:gd name="T10" fmla="*/ 715 w 719"/>
                <a:gd name="T11" fmla="*/ 6 h 51"/>
                <a:gd name="T12" fmla="*/ 715 w 719"/>
                <a:gd name="T13" fmla="*/ 11 h 51"/>
                <a:gd name="T14" fmla="*/ 715 w 719"/>
                <a:gd name="T15" fmla="*/ 18 h 51"/>
                <a:gd name="T16" fmla="*/ 715 w 719"/>
                <a:gd name="T17" fmla="*/ 24 h 51"/>
                <a:gd name="T18" fmla="*/ 715 w 719"/>
                <a:gd name="T19" fmla="*/ 31 h 51"/>
                <a:gd name="T20" fmla="*/ 715 w 719"/>
                <a:gd name="T21" fmla="*/ 38 h 51"/>
                <a:gd name="T22" fmla="*/ 715 w 719"/>
                <a:gd name="T23" fmla="*/ 44 h 51"/>
                <a:gd name="T24" fmla="*/ 715 w 719"/>
                <a:gd name="T25" fmla="*/ 51 h 51"/>
                <a:gd name="T26" fmla="*/ 719 w 719"/>
                <a:gd name="T27" fmla="*/ 48 h 51"/>
                <a:gd name="T28" fmla="*/ 719 w 719"/>
                <a:gd name="T29" fmla="*/ 41 h 51"/>
                <a:gd name="T30" fmla="*/ 719 w 719"/>
                <a:gd name="T31" fmla="*/ 34 h 51"/>
                <a:gd name="T32" fmla="*/ 719 w 719"/>
                <a:gd name="T33" fmla="*/ 28 h 51"/>
                <a:gd name="T34" fmla="*/ 1 w 719"/>
                <a:gd name="T35" fmla="*/ 0 h 51"/>
                <a:gd name="T36" fmla="*/ 0 w 719"/>
                <a:gd name="T37" fmla="*/ 6 h 51"/>
                <a:gd name="T38" fmla="*/ 0 w 719"/>
                <a:gd name="T39" fmla="*/ 11 h 51"/>
                <a:gd name="T40" fmla="*/ 0 w 719"/>
                <a:gd name="T41" fmla="*/ 18 h 51"/>
                <a:gd name="T42" fmla="*/ 0 w 719"/>
                <a:gd name="T43" fmla="*/ 24 h 51"/>
                <a:gd name="T44" fmla="*/ 0 w 719"/>
                <a:gd name="T45" fmla="*/ 31 h 51"/>
                <a:gd name="T46" fmla="*/ 0 w 719"/>
                <a:gd name="T47" fmla="*/ 38 h 51"/>
                <a:gd name="T48" fmla="*/ 0 w 719"/>
                <a:gd name="T49" fmla="*/ 44 h 51"/>
                <a:gd name="T50" fmla="*/ 1 w 719"/>
                <a:gd name="T51" fmla="*/ 51 h 51"/>
                <a:gd name="T52" fmla="*/ 3 w 719"/>
                <a:gd name="T53" fmla="*/ 48 h 51"/>
                <a:gd name="T54" fmla="*/ 3 w 719"/>
                <a:gd name="T55" fmla="*/ 41 h 51"/>
                <a:gd name="T56" fmla="*/ 3 w 719"/>
                <a:gd name="T57" fmla="*/ 34 h 51"/>
                <a:gd name="T58" fmla="*/ 3 w 719"/>
                <a:gd name="T59" fmla="*/ 28 h 51"/>
                <a:gd name="T60" fmla="*/ 3 w 719"/>
                <a:gd name="T61" fmla="*/ 21 h 51"/>
                <a:gd name="T62" fmla="*/ 3 w 719"/>
                <a:gd name="T63" fmla="*/ 14 h 51"/>
                <a:gd name="T64" fmla="*/ 3 w 719"/>
                <a:gd name="T65" fmla="*/ 9 h 51"/>
                <a:gd name="T66" fmla="*/ 3 w 719"/>
                <a:gd name="T67" fmla="*/ 3 h 51"/>
                <a:gd name="T68" fmla="*/ 1 w 71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9" h="51">
                  <a:moveTo>
                    <a:pt x="719" y="24"/>
                  </a:moveTo>
                  <a:lnTo>
                    <a:pt x="719" y="21"/>
                  </a:lnTo>
                  <a:lnTo>
                    <a:pt x="719" y="18"/>
                  </a:lnTo>
                  <a:lnTo>
                    <a:pt x="719" y="14"/>
                  </a:lnTo>
                  <a:lnTo>
                    <a:pt x="719" y="11"/>
                  </a:lnTo>
                  <a:lnTo>
                    <a:pt x="719" y="9"/>
                  </a:lnTo>
                  <a:lnTo>
                    <a:pt x="719" y="6"/>
                  </a:lnTo>
                  <a:lnTo>
                    <a:pt x="719" y="3"/>
                  </a:lnTo>
                  <a:lnTo>
                    <a:pt x="719" y="0"/>
                  </a:lnTo>
                  <a:lnTo>
                    <a:pt x="715" y="0"/>
                  </a:lnTo>
                  <a:lnTo>
                    <a:pt x="715" y="3"/>
                  </a:lnTo>
                  <a:lnTo>
                    <a:pt x="715" y="6"/>
                  </a:lnTo>
                  <a:lnTo>
                    <a:pt x="715" y="9"/>
                  </a:lnTo>
                  <a:lnTo>
                    <a:pt x="715" y="11"/>
                  </a:lnTo>
                  <a:lnTo>
                    <a:pt x="715" y="14"/>
                  </a:lnTo>
                  <a:lnTo>
                    <a:pt x="715" y="18"/>
                  </a:lnTo>
                  <a:lnTo>
                    <a:pt x="715" y="21"/>
                  </a:lnTo>
                  <a:lnTo>
                    <a:pt x="715" y="24"/>
                  </a:lnTo>
                  <a:lnTo>
                    <a:pt x="715" y="28"/>
                  </a:lnTo>
                  <a:lnTo>
                    <a:pt x="715" y="31"/>
                  </a:lnTo>
                  <a:lnTo>
                    <a:pt x="715" y="34"/>
                  </a:lnTo>
                  <a:lnTo>
                    <a:pt x="715" y="38"/>
                  </a:lnTo>
                  <a:lnTo>
                    <a:pt x="715" y="41"/>
                  </a:lnTo>
                  <a:lnTo>
                    <a:pt x="715" y="44"/>
                  </a:lnTo>
                  <a:lnTo>
                    <a:pt x="715" y="48"/>
                  </a:lnTo>
                  <a:lnTo>
                    <a:pt x="715" y="51"/>
                  </a:lnTo>
                  <a:lnTo>
                    <a:pt x="719" y="51"/>
                  </a:lnTo>
                  <a:lnTo>
                    <a:pt x="719" y="48"/>
                  </a:lnTo>
                  <a:lnTo>
                    <a:pt x="719" y="44"/>
                  </a:lnTo>
                  <a:lnTo>
                    <a:pt x="719" y="41"/>
                  </a:lnTo>
                  <a:lnTo>
                    <a:pt x="719" y="38"/>
                  </a:lnTo>
                  <a:lnTo>
                    <a:pt x="719" y="34"/>
                  </a:lnTo>
                  <a:lnTo>
                    <a:pt x="719" y="31"/>
                  </a:lnTo>
                  <a:lnTo>
                    <a:pt x="719" y="28"/>
                  </a:lnTo>
                  <a:lnTo>
                    <a:pt x="71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58" name="Freeform 299">
              <a:extLst>
                <a:ext uri="{FF2B5EF4-FFF2-40B4-BE49-F238E27FC236}">
                  <a16:creationId xmlns:a16="http://schemas.microsoft.com/office/drawing/2014/main" id="{857CF8DA-AF37-F59D-F230-4F87B5B218E3}"/>
                </a:ext>
              </a:extLst>
            </p:cNvPr>
            <p:cNvSpPr>
              <a:spLocks noEditPoints="1"/>
            </p:cNvSpPr>
            <p:nvPr/>
          </p:nvSpPr>
          <p:spPr bwMode="auto">
            <a:xfrm>
              <a:off x="1253" y="1713"/>
              <a:ext cx="716" cy="51"/>
            </a:xfrm>
            <a:custGeom>
              <a:avLst/>
              <a:gdLst>
                <a:gd name="T0" fmla="*/ 716 w 716"/>
                <a:gd name="T1" fmla="*/ 21 h 51"/>
                <a:gd name="T2" fmla="*/ 716 w 716"/>
                <a:gd name="T3" fmla="*/ 14 h 51"/>
                <a:gd name="T4" fmla="*/ 716 w 716"/>
                <a:gd name="T5" fmla="*/ 9 h 51"/>
                <a:gd name="T6" fmla="*/ 716 w 716"/>
                <a:gd name="T7" fmla="*/ 3 h 51"/>
                <a:gd name="T8" fmla="*/ 713 w 716"/>
                <a:gd name="T9" fmla="*/ 0 h 51"/>
                <a:gd name="T10" fmla="*/ 713 w 716"/>
                <a:gd name="T11" fmla="*/ 6 h 51"/>
                <a:gd name="T12" fmla="*/ 713 w 716"/>
                <a:gd name="T13" fmla="*/ 11 h 51"/>
                <a:gd name="T14" fmla="*/ 713 w 716"/>
                <a:gd name="T15" fmla="*/ 18 h 51"/>
                <a:gd name="T16" fmla="*/ 713 w 716"/>
                <a:gd name="T17" fmla="*/ 24 h 51"/>
                <a:gd name="T18" fmla="*/ 713 w 716"/>
                <a:gd name="T19" fmla="*/ 31 h 51"/>
                <a:gd name="T20" fmla="*/ 713 w 716"/>
                <a:gd name="T21" fmla="*/ 38 h 51"/>
                <a:gd name="T22" fmla="*/ 713 w 716"/>
                <a:gd name="T23" fmla="*/ 44 h 51"/>
                <a:gd name="T24" fmla="*/ 713 w 716"/>
                <a:gd name="T25" fmla="*/ 51 h 51"/>
                <a:gd name="T26" fmla="*/ 716 w 716"/>
                <a:gd name="T27" fmla="*/ 48 h 51"/>
                <a:gd name="T28" fmla="*/ 716 w 716"/>
                <a:gd name="T29" fmla="*/ 41 h 51"/>
                <a:gd name="T30" fmla="*/ 716 w 716"/>
                <a:gd name="T31" fmla="*/ 34 h 51"/>
                <a:gd name="T32" fmla="*/ 716 w 716"/>
                <a:gd name="T33" fmla="*/ 28 h 51"/>
                <a:gd name="T34" fmla="*/ 2 w 716"/>
                <a:gd name="T35" fmla="*/ 0 h 51"/>
                <a:gd name="T36" fmla="*/ 0 w 716"/>
                <a:gd name="T37" fmla="*/ 6 h 51"/>
                <a:gd name="T38" fmla="*/ 0 w 716"/>
                <a:gd name="T39" fmla="*/ 11 h 51"/>
                <a:gd name="T40" fmla="*/ 0 w 716"/>
                <a:gd name="T41" fmla="*/ 18 h 51"/>
                <a:gd name="T42" fmla="*/ 0 w 716"/>
                <a:gd name="T43" fmla="*/ 24 h 51"/>
                <a:gd name="T44" fmla="*/ 0 w 716"/>
                <a:gd name="T45" fmla="*/ 31 h 51"/>
                <a:gd name="T46" fmla="*/ 0 w 716"/>
                <a:gd name="T47" fmla="*/ 38 h 51"/>
                <a:gd name="T48" fmla="*/ 0 w 716"/>
                <a:gd name="T49" fmla="*/ 44 h 51"/>
                <a:gd name="T50" fmla="*/ 2 w 716"/>
                <a:gd name="T51" fmla="*/ 51 h 51"/>
                <a:gd name="T52" fmla="*/ 4 w 716"/>
                <a:gd name="T53" fmla="*/ 48 h 51"/>
                <a:gd name="T54" fmla="*/ 4 w 716"/>
                <a:gd name="T55" fmla="*/ 41 h 51"/>
                <a:gd name="T56" fmla="*/ 4 w 716"/>
                <a:gd name="T57" fmla="*/ 34 h 51"/>
                <a:gd name="T58" fmla="*/ 4 w 716"/>
                <a:gd name="T59" fmla="*/ 28 h 51"/>
                <a:gd name="T60" fmla="*/ 4 w 716"/>
                <a:gd name="T61" fmla="*/ 21 h 51"/>
                <a:gd name="T62" fmla="*/ 4 w 716"/>
                <a:gd name="T63" fmla="*/ 14 h 51"/>
                <a:gd name="T64" fmla="*/ 4 w 716"/>
                <a:gd name="T65" fmla="*/ 9 h 51"/>
                <a:gd name="T66" fmla="*/ 4 w 716"/>
                <a:gd name="T67" fmla="*/ 3 h 51"/>
                <a:gd name="T68" fmla="*/ 2 w 71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6" h="51">
                  <a:moveTo>
                    <a:pt x="716" y="24"/>
                  </a:moveTo>
                  <a:lnTo>
                    <a:pt x="716" y="21"/>
                  </a:lnTo>
                  <a:lnTo>
                    <a:pt x="716" y="18"/>
                  </a:lnTo>
                  <a:lnTo>
                    <a:pt x="716" y="14"/>
                  </a:lnTo>
                  <a:lnTo>
                    <a:pt x="716" y="11"/>
                  </a:lnTo>
                  <a:lnTo>
                    <a:pt x="716" y="9"/>
                  </a:lnTo>
                  <a:lnTo>
                    <a:pt x="716" y="6"/>
                  </a:lnTo>
                  <a:lnTo>
                    <a:pt x="716" y="3"/>
                  </a:lnTo>
                  <a:lnTo>
                    <a:pt x="716" y="0"/>
                  </a:lnTo>
                  <a:lnTo>
                    <a:pt x="713" y="0"/>
                  </a:lnTo>
                  <a:lnTo>
                    <a:pt x="713" y="3"/>
                  </a:lnTo>
                  <a:lnTo>
                    <a:pt x="713" y="6"/>
                  </a:lnTo>
                  <a:lnTo>
                    <a:pt x="713" y="9"/>
                  </a:lnTo>
                  <a:lnTo>
                    <a:pt x="713" y="11"/>
                  </a:lnTo>
                  <a:lnTo>
                    <a:pt x="713" y="14"/>
                  </a:lnTo>
                  <a:lnTo>
                    <a:pt x="713" y="18"/>
                  </a:lnTo>
                  <a:lnTo>
                    <a:pt x="713" y="21"/>
                  </a:lnTo>
                  <a:lnTo>
                    <a:pt x="713" y="24"/>
                  </a:lnTo>
                  <a:lnTo>
                    <a:pt x="713" y="28"/>
                  </a:lnTo>
                  <a:lnTo>
                    <a:pt x="713" y="31"/>
                  </a:lnTo>
                  <a:lnTo>
                    <a:pt x="713" y="34"/>
                  </a:lnTo>
                  <a:lnTo>
                    <a:pt x="713" y="38"/>
                  </a:lnTo>
                  <a:lnTo>
                    <a:pt x="713" y="41"/>
                  </a:lnTo>
                  <a:lnTo>
                    <a:pt x="713" y="44"/>
                  </a:lnTo>
                  <a:lnTo>
                    <a:pt x="713" y="48"/>
                  </a:lnTo>
                  <a:lnTo>
                    <a:pt x="713" y="51"/>
                  </a:lnTo>
                  <a:lnTo>
                    <a:pt x="716" y="51"/>
                  </a:lnTo>
                  <a:lnTo>
                    <a:pt x="716" y="48"/>
                  </a:lnTo>
                  <a:lnTo>
                    <a:pt x="716" y="44"/>
                  </a:lnTo>
                  <a:lnTo>
                    <a:pt x="716" y="41"/>
                  </a:lnTo>
                  <a:lnTo>
                    <a:pt x="716" y="38"/>
                  </a:lnTo>
                  <a:lnTo>
                    <a:pt x="716" y="34"/>
                  </a:lnTo>
                  <a:lnTo>
                    <a:pt x="716" y="31"/>
                  </a:lnTo>
                  <a:lnTo>
                    <a:pt x="716" y="28"/>
                  </a:lnTo>
                  <a:lnTo>
                    <a:pt x="71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59" name="Freeform 300">
              <a:extLst>
                <a:ext uri="{FF2B5EF4-FFF2-40B4-BE49-F238E27FC236}">
                  <a16:creationId xmlns:a16="http://schemas.microsoft.com/office/drawing/2014/main" id="{7F101E57-3BFA-351D-DFBA-C1EB735026D4}"/>
                </a:ext>
              </a:extLst>
            </p:cNvPr>
            <p:cNvSpPr>
              <a:spLocks noEditPoints="1"/>
            </p:cNvSpPr>
            <p:nvPr/>
          </p:nvSpPr>
          <p:spPr bwMode="auto">
            <a:xfrm>
              <a:off x="1255" y="1713"/>
              <a:ext cx="712" cy="51"/>
            </a:xfrm>
            <a:custGeom>
              <a:avLst/>
              <a:gdLst>
                <a:gd name="T0" fmla="*/ 712 w 712"/>
                <a:gd name="T1" fmla="*/ 21 h 51"/>
                <a:gd name="T2" fmla="*/ 712 w 712"/>
                <a:gd name="T3" fmla="*/ 14 h 51"/>
                <a:gd name="T4" fmla="*/ 712 w 712"/>
                <a:gd name="T5" fmla="*/ 9 h 51"/>
                <a:gd name="T6" fmla="*/ 712 w 712"/>
                <a:gd name="T7" fmla="*/ 3 h 51"/>
                <a:gd name="T8" fmla="*/ 709 w 712"/>
                <a:gd name="T9" fmla="*/ 0 h 51"/>
                <a:gd name="T10" fmla="*/ 709 w 712"/>
                <a:gd name="T11" fmla="*/ 6 h 51"/>
                <a:gd name="T12" fmla="*/ 709 w 712"/>
                <a:gd name="T13" fmla="*/ 11 h 51"/>
                <a:gd name="T14" fmla="*/ 709 w 712"/>
                <a:gd name="T15" fmla="*/ 18 h 51"/>
                <a:gd name="T16" fmla="*/ 709 w 712"/>
                <a:gd name="T17" fmla="*/ 24 h 51"/>
                <a:gd name="T18" fmla="*/ 709 w 712"/>
                <a:gd name="T19" fmla="*/ 31 h 51"/>
                <a:gd name="T20" fmla="*/ 709 w 712"/>
                <a:gd name="T21" fmla="*/ 38 h 51"/>
                <a:gd name="T22" fmla="*/ 709 w 712"/>
                <a:gd name="T23" fmla="*/ 44 h 51"/>
                <a:gd name="T24" fmla="*/ 709 w 712"/>
                <a:gd name="T25" fmla="*/ 51 h 51"/>
                <a:gd name="T26" fmla="*/ 712 w 712"/>
                <a:gd name="T27" fmla="*/ 48 h 51"/>
                <a:gd name="T28" fmla="*/ 712 w 712"/>
                <a:gd name="T29" fmla="*/ 41 h 51"/>
                <a:gd name="T30" fmla="*/ 712 w 712"/>
                <a:gd name="T31" fmla="*/ 34 h 51"/>
                <a:gd name="T32" fmla="*/ 712 w 712"/>
                <a:gd name="T33" fmla="*/ 28 h 51"/>
                <a:gd name="T34" fmla="*/ 2 w 712"/>
                <a:gd name="T35" fmla="*/ 0 h 51"/>
                <a:gd name="T36" fmla="*/ 0 w 712"/>
                <a:gd name="T37" fmla="*/ 6 h 51"/>
                <a:gd name="T38" fmla="*/ 0 w 712"/>
                <a:gd name="T39" fmla="*/ 11 h 51"/>
                <a:gd name="T40" fmla="*/ 0 w 712"/>
                <a:gd name="T41" fmla="*/ 18 h 51"/>
                <a:gd name="T42" fmla="*/ 0 w 712"/>
                <a:gd name="T43" fmla="*/ 24 h 51"/>
                <a:gd name="T44" fmla="*/ 0 w 712"/>
                <a:gd name="T45" fmla="*/ 31 h 51"/>
                <a:gd name="T46" fmla="*/ 0 w 712"/>
                <a:gd name="T47" fmla="*/ 38 h 51"/>
                <a:gd name="T48" fmla="*/ 0 w 712"/>
                <a:gd name="T49" fmla="*/ 44 h 51"/>
                <a:gd name="T50" fmla="*/ 2 w 712"/>
                <a:gd name="T51" fmla="*/ 51 h 51"/>
                <a:gd name="T52" fmla="*/ 3 w 712"/>
                <a:gd name="T53" fmla="*/ 48 h 51"/>
                <a:gd name="T54" fmla="*/ 3 w 712"/>
                <a:gd name="T55" fmla="*/ 41 h 51"/>
                <a:gd name="T56" fmla="*/ 3 w 712"/>
                <a:gd name="T57" fmla="*/ 34 h 51"/>
                <a:gd name="T58" fmla="*/ 3 w 712"/>
                <a:gd name="T59" fmla="*/ 28 h 51"/>
                <a:gd name="T60" fmla="*/ 3 w 712"/>
                <a:gd name="T61" fmla="*/ 21 h 51"/>
                <a:gd name="T62" fmla="*/ 3 w 712"/>
                <a:gd name="T63" fmla="*/ 14 h 51"/>
                <a:gd name="T64" fmla="*/ 3 w 712"/>
                <a:gd name="T65" fmla="*/ 9 h 51"/>
                <a:gd name="T66" fmla="*/ 3 w 712"/>
                <a:gd name="T67" fmla="*/ 3 h 51"/>
                <a:gd name="T68" fmla="*/ 2 w 71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2" h="51">
                  <a:moveTo>
                    <a:pt x="712" y="24"/>
                  </a:moveTo>
                  <a:lnTo>
                    <a:pt x="712" y="21"/>
                  </a:lnTo>
                  <a:lnTo>
                    <a:pt x="712" y="18"/>
                  </a:lnTo>
                  <a:lnTo>
                    <a:pt x="712" y="14"/>
                  </a:lnTo>
                  <a:lnTo>
                    <a:pt x="712" y="11"/>
                  </a:lnTo>
                  <a:lnTo>
                    <a:pt x="712" y="9"/>
                  </a:lnTo>
                  <a:lnTo>
                    <a:pt x="712" y="6"/>
                  </a:lnTo>
                  <a:lnTo>
                    <a:pt x="712" y="3"/>
                  </a:lnTo>
                  <a:lnTo>
                    <a:pt x="712" y="0"/>
                  </a:lnTo>
                  <a:lnTo>
                    <a:pt x="709" y="0"/>
                  </a:lnTo>
                  <a:lnTo>
                    <a:pt x="709" y="3"/>
                  </a:lnTo>
                  <a:lnTo>
                    <a:pt x="709" y="6"/>
                  </a:lnTo>
                  <a:lnTo>
                    <a:pt x="709" y="9"/>
                  </a:lnTo>
                  <a:lnTo>
                    <a:pt x="709" y="11"/>
                  </a:lnTo>
                  <a:lnTo>
                    <a:pt x="709" y="14"/>
                  </a:lnTo>
                  <a:lnTo>
                    <a:pt x="709" y="18"/>
                  </a:lnTo>
                  <a:lnTo>
                    <a:pt x="709" y="21"/>
                  </a:lnTo>
                  <a:lnTo>
                    <a:pt x="709" y="24"/>
                  </a:lnTo>
                  <a:lnTo>
                    <a:pt x="709" y="28"/>
                  </a:lnTo>
                  <a:lnTo>
                    <a:pt x="709" y="31"/>
                  </a:lnTo>
                  <a:lnTo>
                    <a:pt x="709" y="34"/>
                  </a:lnTo>
                  <a:lnTo>
                    <a:pt x="709" y="38"/>
                  </a:lnTo>
                  <a:lnTo>
                    <a:pt x="709" y="41"/>
                  </a:lnTo>
                  <a:lnTo>
                    <a:pt x="709" y="44"/>
                  </a:lnTo>
                  <a:lnTo>
                    <a:pt x="709" y="48"/>
                  </a:lnTo>
                  <a:lnTo>
                    <a:pt x="709" y="51"/>
                  </a:lnTo>
                  <a:lnTo>
                    <a:pt x="712" y="51"/>
                  </a:lnTo>
                  <a:lnTo>
                    <a:pt x="712" y="48"/>
                  </a:lnTo>
                  <a:lnTo>
                    <a:pt x="712" y="44"/>
                  </a:lnTo>
                  <a:lnTo>
                    <a:pt x="712" y="41"/>
                  </a:lnTo>
                  <a:lnTo>
                    <a:pt x="712" y="38"/>
                  </a:lnTo>
                  <a:lnTo>
                    <a:pt x="712" y="34"/>
                  </a:lnTo>
                  <a:lnTo>
                    <a:pt x="712" y="31"/>
                  </a:lnTo>
                  <a:lnTo>
                    <a:pt x="712" y="28"/>
                  </a:lnTo>
                  <a:lnTo>
                    <a:pt x="71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60" name="Freeform 301">
              <a:extLst>
                <a:ext uri="{FF2B5EF4-FFF2-40B4-BE49-F238E27FC236}">
                  <a16:creationId xmlns:a16="http://schemas.microsoft.com/office/drawing/2014/main" id="{142CE9EC-412B-E518-81D3-83937560147E}"/>
                </a:ext>
              </a:extLst>
            </p:cNvPr>
            <p:cNvSpPr>
              <a:spLocks noEditPoints="1"/>
            </p:cNvSpPr>
            <p:nvPr/>
          </p:nvSpPr>
          <p:spPr bwMode="auto">
            <a:xfrm>
              <a:off x="1257" y="1713"/>
              <a:ext cx="709" cy="51"/>
            </a:xfrm>
            <a:custGeom>
              <a:avLst/>
              <a:gdLst>
                <a:gd name="T0" fmla="*/ 709 w 709"/>
                <a:gd name="T1" fmla="*/ 21 h 51"/>
                <a:gd name="T2" fmla="*/ 709 w 709"/>
                <a:gd name="T3" fmla="*/ 14 h 51"/>
                <a:gd name="T4" fmla="*/ 709 w 709"/>
                <a:gd name="T5" fmla="*/ 9 h 51"/>
                <a:gd name="T6" fmla="*/ 709 w 709"/>
                <a:gd name="T7" fmla="*/ 3 h 51"/>
                <a:gd name="T8" fmla="*/ 705 w 709"/>
                <a:gd name="T9" fmla="*/ 0 h 51"/>
                <a:gd name="T10" fmla="*/ 705 w 709"/>
                <a:gd name="T11" fmla="*/ 6 h 51"/>
                <a:gd name="T12" fmla="*/ 705 w 709"/>
                <a:gd name="T13" fmla="*/ 11 h 51"/>
                <a:gd name="T14" fmla="*/ 705 w 709"/>
                <a:gd name="T15" fmla="*/ 18 h 51"/>
                <a:gd name="T16" fmla="*/ 705 w 709"/>
                <a:gd name="T17" fmla="*/ 24 h 51"/>
                <a:gd name="T18" fmla="*/ 705 w 709"/>
                <a:gd name="T19" fmla="*/ 31 h 51"/>
                <a:gd name="T20" fmla="*/ 705 w 709"/>
                <a:gd name="T21" fmla="*/ 38 h 51"/>
                <a:gd name="T22" fmla="*/ 705 w 709"/>
                <a:gd name="T23" fmla="*/ 44 h 51"/>
                <a:gd name="T24" fmla="*/ 705 w 709"/>
                <a:gd name="T25" fmla="*/ 51 h 51"/>
                <a:gd name="T26" fmla="*/ 709 w 709"/>
                <a:gd name="T27" fmla="*/ 48 h 51"/>
                <a:gd name="T28" fmla="*/ 709 w 709"/>
                <a:gd name="T29" fmla="*/ 41 h 51"/>
                <a:gd name="T30" fmla="*/ 709 w 709"/>
                <a:gd name="T31" fmla="*/ 34 h 51"/>
                <a:gd name="T32" fmla="*/ 709 w 709"/>
                <a:gd name="T33" fmla="*/ 28 h 51"/>
                <a:gd name="T34" fmla="*/ 1 w 709"/>
                <a:gd name="T35" fmla="*/ 0 h 51"/>
                <a:gd name="T36" fmla="*/ 0 w 709"/>
                <a:gd name="T37" fmla="*/ 6 h 51"/>
                <a:gd name="T38" fmla="*/ 0 w 709"/>
                <a:gd name="T39" fmla="*/ 11 h 51"/>
                <a:gd name="T40" fmla="*/ 0 w 709"/>
                <a:gd name="T41" fmla="*/ 18 h 51"/>
                <a:gd name="T42" fmla="*/ 0 w 709"/>
                <a:gd name="T43" fmla="*/ 24 h 51"/>
                <a:gd name="T44" fmla="*/ 0 w 709"/>
                <a:gd name="T45" fmla="*/ 31 h 51"/>
                <a:gd name="T46" fmla="*/ 0 w 709"/>
                <a:gd name="T47" fmla="*/ 38 h 51"/>
                <a:gd name="T48" fmla="*/ 0 w 709"/>
                <a:gd name="T49" fmla="*/ 44 h 51"/>
                <a:gd name="T50" fmla="*/ 1 w 709"/>
                <a:gd name="T51" fmla="*/ 51 h 51"/>
                <a:gd name="T52" fmla="*/ 3 w 709"/>
                <a:gd name="T53" fmla="*/ 48 h 51"/>
                <a:gd name="T54" fmla="*/ 3 w 709"/>
                <a:gd name="T55" fmla="*/ 41 h 51"/>
                <a:gd name="T56" fmla="*/ 3 w 709"/>
                <a:gd name="T57" fmla="*/ 34 h 51"/>
                <a:gd name="T58" fmla="*/ 3 w 709"/>
                <a:gd name="T59" fmla="*/ 28 h 51"/>
                <a:gd name="T60" fmla="*/ 3 w 709"/>
                <a:gd name="T61" fmla="*/ 21 h 51"/>
                <a:gd name="T62" fmla="*/ 3 w 709"/>
                <a:gd name="T63" fmla="*/ 14 h 51"/>
                <a:gd name="T64" fmla="*/ 3 w 709"/>
                <a:gd name="T65" fmla="*/ 9 h 51"/>
                <a:gd name="T66" fmla="*/ 3 w 709"/>
                <a:gd name="T67" fmla="*/ 3 h 51"/>
                <a:gd name="T68" fmla="*/ 1 w 70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9" h="51">
                  <a:moveTo>
                    <a:pt x="709" y="24"/>
                  </a:moveTo>
                  <a:lnTo>
                    <a:pt x="709" y="21"/>
                  </a:lnTo>
                  <a:lnTo>
                    <a:pt x="709" y="18"/>
                  </a:lnTo>
                  <a:lnTo>
                    <a:pt x="709" y="14"/>
                  </a:lnTo>
                  <a:lnTo>
                    <a:pt x="709" y="11"/>
                  </a:lnTo>
                  <a:lnTo>
                    <a:pt x="709" y="9"/>
                  </a:lnTo>
                  <a:lnTo>
                    <a:pt x="709" y="6"/>
                  </a:lnTo>
                  <a:lnTo>
                    <a:pt x="709" y="3"/>
                  </a:lnTo>
                  <a:lnTo>
                    <a:pt x="709" y="0"/>
                  </a:lnTo>
                  <a:lnTo>
                    <a:pt x="705" y="0"/>
                  </a:lnTo>
                  <a:lnTo>
                    <a:pt x="705" y="3"/>
                  </a:lnTo>
                  <a:lnTo>
                    <a:pt x="705" y="6"/>
                  </a:lnTo>
                  <a:lnTo>
                    <a:pt x="705" y="9"/>
                  </a:lnTo>
                  <a:lnTo>
                    <a:pt x="705" y="11"/>
                  </a:lnTo>
                  <a:lnTo>
                    <a:pt x="705" y="14"/>
                  </a:lnTo>
                  <a:lnTo>
                    <a:pt x="705" y="18"/>
                  </a:lnTo>
                  <a:lnTo>
                    <a:pt x="705" y="21"/>
                  </a:lnTo>
                  <a:lnTo>
                    <a:pt x="705" y="24"/>
                  </a:lnTo>
                  <a:lnTo>
                    <a:pt x="705" y="28"/>
                  </a:lnTo>
                  <a:lnTo>
                    <a:pt x="705" y="31"/>
                  </a:lnTo>
                  <a:lnTo>
                    <a:pt x="705" y="34"/>
                  </a:lnTo>
                  <a:lnTo>
                    <a:pt x="705" y="38"/>
                  </a:lnTo>
                  <a:lnTo>
                    <a:pt x="705" y="41"/>
                  </a:lnTo>
                  <a:lnTo>
                    <a:pt x="705" y="44"/>
                  </a:lnTo>
                  <a:lnTo>
                    <a:pt x="705" y="48"/>
                  </a:lnTo>
                  <a:lnTo>
                    <a:pt x="705" y="51"/>
                  </a:lnTo>
                  <a:lnTo>
                    <a:pt x="709" y="51"/>
                  </a:lnTo>
                  <a:lnTo>
                    <a:pt x="709" y="48"/>
                  </a:lnTo>
                  <a:lnTo>
                    <a:pt x="709" y="44"/>
                  </a:lnTo>
                  <a:lnTo>
                    <a:pt x="709" y="41"/>
                  </a:lnTo>
                  <a:lnTo>
                    <a:pt x="709" y="38"/>
                  </a:lnTo>
                  <a:lnTo>
                    <a:pt x="709" y="34"/>
                  </a:lnTo>
                  <a:lnTo>
                    <a:pt x="709" y="31"/>
                  </a:lnTo>
                  <a:lnTo>
                    <a:pt x="709" y="28"/>
                  </a:lnTo>
                  <a:lnTo>
                    <a:pt x="70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61" name="Freeform 302">
              <a:extLst>
                <a:ext uri="{FF2B5EF4-FFF2-40B4-BE49-F238E27FC236}">
                  <a16:creationId xmlns:a16="http://schemas.microsoft.com/office/drawing/2014/main" id="{163B5B53-895B-2DF4-594C-51D179499930}"/>
                </a:ext>
              </a:extLst>
            </p:cNvPr>
            <p:cNvSpPr>
              <a:spLocks noEditPoints="1"/>
            </p:cNvSpPr>
            <p:nvPr/>
          </p:nvSpPr>
          <p:spPr bwMode="auto">
            <a:xfrm>
              <a:off x="1258" y="1713"/>
              <a:ext cx="706" cy="51"/>
            </a:xfrm>
            <a:custGeom>
              <a:avLst/>
              <a:gdLst>
                <a:gd name="T0" fmla="*/ 706 w 706"/>
                <a:gd name="T1" fmla="*/ 21 h 51"/>
                <a:gd name="T2" fmla="*/ 706 w 706"/>
                <a:gd name="T3" fmla="*/ 14 h 51"/>
                <a:gd name="T4" fmla="*/ 706 w 706"/>
                <a:gd name="T5" fmla="*/ 9 h 51"/>
                <a:gd name="T6" fmla="*/ 706 w 706"/>
                <a:gd name="T7" fmla="*/ 3 h 51"/>
                <a:gd name="T8" fmla="*/ 703 w 706"/>
                <a:gd name="T9" fmla="*/ 0 h 51"/>
                <a:gd name="T10" fmla="*/ 703 w 706"/>
                <a:gd name="T11" fmla="*/ 6 h 51"/>
                <a:gd name="T12" fmla="*/ 703 w 706"/>
                <a:gd name="T13" fmla="*/ 11 h 51"/>
                <a:gd name="T14" fmla="*/ 703 w 706"/>
                <a:gd name="T15" fmla="*/ 18 h 51"/>
                <a:gd name="T16" fmla="*/ 703 w 706"/>
                <a:gd name="T17" fmla="*/ 24 h 51"/>
                <a:gd name="T18" fmla="*/ 703 w 706"/>
                <a:gd name="T19" fmla="*/ 31 h 51"/>
                <a:gd name="T20" fmla="*/ 703 w 706"/>
                <a:gd name="T21" fmla="*/ 38 h 51"/>
                <a:gd name="T22" fmla="*/ 703 w 706"/>
                <a:gd name="T23" fmla="*/ 44 h 51"/>
                <a:gd name="T24" fmla="*/ 703 w 706"/>
                <a:gd name="T25" fmla="*/ 51 h 51"/>
                <a:gd name="T26" fmla="*/ 706 w 706"/>
                <a:gd name="T27" fmla="*/ 48 h 51"/>
                <a:gd name="T28" fmla="*/ 706 w 706"/>
                <a:gd name="T29" fmla="*/ 41 h 51"/>
                <a:gd name="T30" fmla="*/ 706 w 706"/>
                <a:gd name="T31" fmla="*/ 34 h 51"/>
                <a:gd name="T32" fmla="*/ 706 w 706"/>
                <a:gd name="T33" fmla="*/ 28 h 51"/>
                <a:gd name="T34" fmla="*/ 2 w 706"/>
                <a:gd name="T35" fmla="*/ 0 h 51"/>
                <a:gd name="T36" fmla="*/ 0 w 706"/>
                <a:gd name="T37" fmla="*/ 6 h 51"/>
                <a:gd name="T38" fmla="*/ 0 w 706"/>
                <a:gd name="T39" fmla="*/ 11 h 51"/>
                <a:gd name="T40" fmla="*/ 0 w 706"/>
                <a:gd name="T41" fmla="*/ 18 h 51"/>
                <a:gd name="T42" fmla="*/ 0 w 706"/>
                <a:gd name="T43" fmla="*/ 24 h 51"/>
                <a:gd name="T44" fmla="*/ 0 w 706"/>
                <a:gd name="T45" fmla="*/ 31 h 51"/>
                <a:gd name="T46" fmla="*/ 0 w 706"/>
                <a:gd name="T47" fmla="*/ 38 h 51"/>
                <a:gd name="T48" fmla="*/ 0 w 706"/>
                <a:gd name="T49" fmla="*/ 44 h 51"/>
                <a:gd name="T50" fmla="*/ 2 w 706"/>
                <a:gd name="T51" fmla="*/ 51 h 51"/>
                <a:gd name="T52" fmla="*/ 4 w 706"/>
                <a:gd name="T53" fmla="*/ 48 h 51"/>
                <a:gd name="T54" fmla="*/ 4 w 706"/>
                <a:gd name="T55" fmla="*/ 41 h 51"/>
                <a:gd name="T56" fmla="*/ 4 w 706"/>
                <a:gd name="T57" fmla="*/ 34 h 51"/>
                <a:gd name="T58" fmla="*/ 4 w 706"/>
                <a:gd name="T59" fmla="*/ 28 h 51"/>
                <a:gd name="T60" fmla="*/ 4 w 706"/>
                <a:gd name="T61" fmla="*/ 21 h 51"/>
                <a:gd name="T62" fmla="*/ 4 w 706"/>
                <a:gd name="T63" fmla="*/ 14 h 51"/>
                <a:gd name="T64" fmla="*/ 4 w 706"/>
                <a:gd name="T65" fmla="*/ 9 h 51"/>
                <a:gd name="T66" fmla="*/ 4 w 706"/>
                <a:gd name="T67" fmla="*/ 3 h 51"/>
                <a:gd name="T68" fmla="*/ 2 w 70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6" h="51">
                  <a:moveTo>
                    <a:pt x="706" y="24"/>
                  </a:moveTo>
                  <a:lnTo>
                    <a:pt x="706" y="21"/>
                  </a:lnTo>
                  <a:lnTo>
                    <a:pt x="706" y="18"/>
                  </a:lnTo>
                  <a:lnTo>
                    <a:pt x="706" y="14"/>
                  </a:lnTo>
                  <a:lnTo>
                    <a:pt x="706" y="11"/>
                  </a:lnTo>
                  <a:lnTo>
                    <a:pt x="706" y="9"/>
                  </a:lnTo>
                  <a:lnTo>
                    <a:pt x="706" y="6"/>
                  </a:lnTo>
                  <a:lnTo>
                    <a:pt x="706" y="3"/>
                  </a:lnTo>
                  <a:lnTo>
                    <a:pt x="706" y="0"/>
                  </a:lnTo>
                  <a:lnTo>
                    <a:pt x="703" y="0"/>
                  </a:lnTo>
                  <a:lnTo>
                    <a:pt x="703" y="3"/>
                  </a:lnTo>
                  <a:lnTo>
                    <a:pt x="703" y="6"/>
                  </a:lnTo>
                  <a:lnTo>
                    <a:pt x="703" y="9"/>
                  </a:lnTo>
                  <a:lnTo>
                    <a:pt x="703" y="11"/>
                  </a:lnTo>
                  <a:lnTo>
                    <a:pt x="703" y="14"/>
                  </a:lnTo>
                  <a:lnTo>
                    <a:pt x="703" y="18"/>
                  </a:lnTo>
                  <a:lnTo>
                    <a:pt x="703" y="21"/>
                  </a:lnTo>
                  <a:lnTo>
                    <a:pt x="703" y="24"/>
                  </a:lnTo>
                  <a:lnTo>
                    <a:pt x="703" y="28"/>
                  </a:lnTo>
                  <a:lnTo>
                    <a:pt x="703" y="31"/>
                  </a:lnTo>
                  <a:lnTo>
                    <a:pt x="703" y="34"/>
                  </a:lnTo>
                  <a:lnTo>
                    <a:pt x="703" y="38"/>
                  </a:lnTo>
                  <a:lnTo>
                    <a:pt x="703" y="41"/>
                  </a:lnTo>
                  <a:lnTo>
                    <a:pt x="703" y="44"/>
                  </a:lnTo>
                  <a:lnTo>
                    <a:pt x="703" y="48"/>
                  </a:lnTo>
                  <a:lnTo>
                    <a:pt x="703" y="51"/>
                  </a:lnTo>
                  <a:lnTo>
                    <a:pt x="706" y="51"/>
                  </a:lnTo>
                  <a:lnTo>
                    <a:pt x="706" y="48"/>
                  </a:lnTo>
                  <a:lnTo>
                    <a:pt x="706" y="44"/>
                  </a:lnTo>
                  <a:lnTo>
                    <a:pt x="706" y="41"/>
                  </a:lnTo>
                  <a:lnTo>
                    <a:pt x="706" y="38"/>
                  </a:lnTo>
                  <a:lnTo>
                    <a:pt x="706" y="34"/>
                  </a:lnTo>
                  <a:lnTo>
                    <a:pt x="706" y="31"/>
                  </a:lnTo>
                  <a:lnTo>
                    <a:pt x="706" y="28"/>
                  </a:lnTo>
                  <a:lnTo>
                    <a:pt x="70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62" name="Freeform 303">
              <a:extLst>
                <a:ext uri="{FF2B5EF4-FFF2-40B4-BE49-F238E27FC236}">
                  <a16:creationId xmlns:a16="http://schemas.microsoft.com/office/drawing/2014/main" id="{F4B7AB95-3A8F-BEC4-3424-1E33886182A4}"/>
                </a:ext>
              </a:extLst>
            </p:cNvPr>
            <p:cNvSpPr>
              <a:spLocks noEditPoints="1"/>
            </p:cNvSpPr>
            <p:nvPr/>
          </p:nvSpPr>
          <p:spPr bwMode="auto">
            <a:xfrm>
              <a:off x="1260" y="1713"/>
              <a:ext cx="702" cy="51"/>
            </a:xfrm>
            <a:custGeom>
              <a:avLst/>
              <a:gdLst>
                <a:gd name="T0" fmla="*/ 702 w 702"/>
                <a:gd name="T1" fmla="*/ 21 h 51"/>
                <a:gd name="T2" fmla="*/ 702 w 702"/>
                <a:gd name="T3" fmla="*/ 14 h 51"/>
                <a:gd name="T4" fmla="*/ 702 w 702"/>
                <a:gd name="T5" fmla="*/ 9 h 51"/>
                <a:gd name="T6" fmla="*/ 702 w 702"/>
                <a:gd name="T7" fmla="*/ 3 h 51"/>
                <a:gd name="T8" fmla="*/ 699 w 702"/>
                <a:gd name="T9" fmla="*/ 0 h 51"/>
                <a:gd name="T10" fmla="*/ 699 w 702"/>
                <a:gd name="T11" fmla="*/ 6 h 51"/>
                <a:gd name="T12" fmla="*/ 699 w 702"/>
                <a:gd name="T13" fmla="*/ 11 h 51"/>
                <a:gd name="T14" fmla="*/ 699 w 702"/>
                <a:gd name="T15" fmla="*/ 18 h 51"/>
                <a:gd name="T16" fmla="*/ 699 w 702"/>
                <a:gd name="T17" fmla="*/ 24 h 51"/>
                <a:gd name="T18" fmla="*/ 699 w 702"/>
                <a:gd name="T19" fmla="*/ 31 h 51"/>
                <a:gd name="T20" fmla="*/ 699 w 702"/>
                <a:gd name="T21" fmla="*/ 38 h 51"/>
                <a:gd name="T22" fmla="*/ 699 w 702"/>
                <a:gd name="T23" fmla="*/ 44 h 51"/>
                <a:gd name="T24" fmla="*/ 699 w 702"/>
                <a:gd name="T25" fmla="*/ 51 h 51"/>
                <a:gd name="T26" fmla="*/ 702 w 702"/>
                <a:gd name="T27" fmla="*/ 48 h 51"/>
                <a:gd name="T28" fmla="*/ 702 w 702"/>
                <a:gd name="T29" fmla="*/ 41 h 51"/>
                <a:gd name="T30" fmla="*/ 702 w 702"/>
                <a:gd name="T31" fmla="*/ 34 h 51"/>
                <a:gd name="T32" fmla="*/ 702 w 702"/>
                <a:gd name="T33" fmla="*/ 28 h 51"/>
                <a:gd name="T34" fmla="*/ 2 w 702"/>
                <a:gd name="T35" fmla="*/ 0 h 51"/>
                <a:gd name="T36" fmla="*/ 0 w 702"/>
                <a:gd name="T37" fmla="*/ 6 h 51"/>
                <a:gd name="T38" fmla="*/ 0 w 702"/>
                <a:gd name="T39" fmla="*/ 11 h 51"/>
                <a:gd name="T40" fmla="*/ 0 w 702"/>
                <a:gd name="T41" fmla="*/ 18 h 51"/>
                <a:gd name="T42" fmla="*/ 0 w 702"/>
                <a:gd name="T43" fmla="*/ 24 h 51"/>
                <a:gd name="T44" fmla="*/ 0 w 702"/>
                <a:gd name="T45" fmla="*/ 31 h 51"/>
                <a:gd name="T46" fmla="*/ 0 w 702"/>
                <a:gd name="T47" fmla="*/ 38 h 51"/>
                <a:gd name="T48" fmla="*/ 0 w 702"/>
                <a:gd name="T49" fmla="*/ 44 h 51"/>
                <a:gd name="T50" fmla="*/ 2 w 702"/>
                <a:gd name="T51" fmla="*/ 51 h 51"/>
                <a:gd name="T52" fmla="*/ 3 w 702"/>
                <a:gd name="T53" fmla="*/ 48 h 51"/>
                <a:gd name="T54" fmla="*/ 3 w 702"/>
                <a:gd name="T55" fmla="*/ 41 h 51"/>
                <a:gd name="T56" fmla="*/ 3 w 702"/>
                <a:gd name="T57" fmla="*/ 34 h 51"/>
                <a:gd name="T58" fmla="*/ 3 w 702"/>
                <a:gd name="T59" fmla="*/ 28 h 51"/>
                <a:gd name="T60" fmla="*/ 3 w 702"/>
                <a:gd name="T61" fmla="*/ 21 h 51"/>
                <a:gd name="T62" fmla="*/ 3 w 702"/>
                <a:gd name="T63" fmla="*/ 14 h 51"/>
                <a:gd name="T64" fmla="*/ 3 w 702"/>
                <a:gd name="T65" fmla="*/ 9 h 51"/>
                <a:gd name="T66" fmla="*/ 3 w 702"/>
                <a:gd name="T67" fmla="*/ 3 h 51"/>
                <a:gd name="T68" fmla="*/ 2 w 70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2" h="51">
                  <a:moveTo>
                    <a:pt x="702" y="24"/>
                  </a:moveTo>
                  <a:lnTo>
                    <a:pt x="702" y="21"/>
                  </a:lnTo>
                  <a:lnTo>
                    <a:pt x="702" y="18"/>
                  </a:lnTo>
                  <a:lnTo>
                    <a:pt x="702" y="14"/>
                  </a:lnTo>
                  <a:lnTo>
                    <a:pt x="702" y="11"/>
                  </a:lnTo>
                  <a:lnTo>
                    <a:pt x="702" y="9"/>
                  </a:lnTo>
                  <a:lnTo>
                    <a:pt x="702" y="6"/>
                  </a:lnTo>
                  <a:lnTo>
                    <a:pt x="702" y="3"/>
                  </a:lnTo>
                  <a:lnTo>
                    <a:pt x="702" y="0"/>
                  </a:lnTo>
                  <a:lnTo>
                    <a:pt x="699" y="0"/>
                  </a:lnTo>
                  <a:lnTo>
                    <a:pt x="699" y="3"/>
                  </a:lnTo>
                  <a:lnTo>
                    <a:pt x="699" y="6"/>
                  </a:lnTo>
                  <a:lnTo>
                    <a:pt x="699" y="9"/>
                  </a:lnTo>
                  <a:lnTo>
                    <a:pt x="699" y="11"/>
                  </a:lnTo>
                  <a:lnTo>
                    <a:pt x="699" y="14"/>
                  </a:lnTo>
                  <a:lnTo>
                    <a:pt x="699" y="18"/>
                  </a:lnTo>
                  <a:lnTo>
                    <a:pt x="699" y="21"/>
                  </a:lnTo>
                  <a:lnTo>
                    <a:pt x="699" y="24"/>
                  </a:lnTo>
                  <a:lnTo>
                    <a:pt x="699" y="28"/>
                  </a:lnTo>
                  <a:lnTo>
                    <a:pt x="699" y="31"/>
                  </a:lnTo>
                  <a:lnTo>
                    <a:pt x="699" y="34"/>
                  </a:lnTo>
                  <a:lnTo>
                    <a:pt x="699" y="38"/>
                  </a:lnTo>
                  <a:lnTo>
                    <a:pt x="699" y="41"/>
                  </a:lnTo>
                  <a:lnTo>
                    <a:pt x="699" y="44"/>
                  </a:lnTo>
                  <a:lnTo>
                    <a:pt x="699" y="48"/>
                  </a:lnTo>
                  <a:lnTo>
                    <a:pt x="699" y="51"/>
                  </a:lnTo>
                  <a:lnTo>
                    <a:pt x="702" y="51"/>
                  </a:lnTo>
                  <a:lnTo>
                    <a:pt x="702" y="48"/>
                  </a:lnTo>
                  <a:lnTo>
                    <a:pt x="702" y="44"/>
                  </a:lnTo>
                  <a:lnTo>
                    <a:pt x="702" y="41"/>
                  </a:lnTo>
                  <a:lnTo>
                    <a:pt x="702" y="38"/>
                  </a:lnTo>
                  <a:lnTo>
                    <a:pt x="702" y="34"/>
                  </a:lnTo>
                  <a:lnTo>
                    <a:pt x="702" y="31"/>
                  </a:lnTo>
                  <a:lnTo>
                    <a:pt x="702" y="28"/>
                  </a:lnTo>
                  <a:lnTo>
                    <a:pt x="70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63" name="Freeform 304">
              <a:extLst>
                <a:ext uri="{FF2B5EF4-FFF2-40B4-BE49-F238E27FC236}">
                  <a16:creationId xmlns:a16="http://schemas.microsoft.com/office/drawing/2014/main" id="{58316600-3647-5222-6BB1-D2F504A6D7E1}"/>
                </a:ext>
              </a:extLst>
            </p:cNvPr>
            <p:cNvSpPr>
              <a:spLocks noEditPoints="1"/>
            </p:cNvSpPr>
            <p:nvPr/>
          </p:nvSpPr>
          <p:spPr bwMode="auto">
            <a:xfrm>
              <a:off x="1262" y="1713"/>
              <a:ext cx="699" cy="51"/>
            </a:xfrm>
            <a:custGeom>
              <a:avLst/>
              <a:gdLst>
                <a:gd name="T0" fmla="*/ 699 w 699"/>
                <a:gd name="T1" fmla="*/ 21 h 51"/>
                <a:gd name="T2" fmla="*/ 699 w 699"/>
                <a:gd name="T3" fmla="*/ 14 h 51"/>
                <a:gd name="T4" fmla="*/ 699 w 699"/>
                <a:gd name="T5" fmla="*/ 9 h 51"/>
                <a:gd name="T6" fmla="*/ 699 w 699"/>
                <a:gd name="T7" fmla="*/ 3 h 51"/>
                <a:gd name="T8" fmla="*/ 695 w 699"/>
                <a:gd name="T9" fmla="*/ 0 h 51"/>
                <a:gd name="T10" fmla="*/ 695 w 699"/>
                <a:gd name="T11" fmla="*/ 6 h 51"/>
                <a:gd name="T12" fmla="*/ 695 w 699"/>
                <a:gd name="T13" fmla="*/ 11 h 51"/>
                <a:gd name="T14" fmla="*/ 695 w 699"/>
                <a:gd name="T15" fmla="*/ 18 h 51"/>
                <a:gd name="T16" fmla="*/ 695 w 699"/>
                <a:gd name="T17" fmla="*/ 24 h 51"/>
                <a:gd name="T18" fmla="*/ 695 w 699"/>
                <a:gd name="T19" fmla="*/ 31 h 51"/>
                <a:gd name="T20" fmla="*/ 695 w 699"/>
                <a:gd name="T21" fmla="*/ 38 h 51"/>
                <a:gd name="T22" fmla="*/ 695 w 699"/>
                <a:gd name="T23" fmla="*/ 44 h 51"/>
                <a:gd name="T24" fmla="*/ 695 w 699"/>
                <a:gd name="T25" fmla="*/ 51 h 51"/>
                <a:gd name="T26" fmla="*/ 699 w 699"/>
                <a:gd name="T27" fmla="*/ 48 h 51"/>
                <a:gd name="T28" fmla="*/ 699 w 699"/>
                <a:gd name="T29" fmla="*/ 41 h 51"/>
                <a:gd name="T30" fmla="*/ 699 w 699"/>
                <a:gd name="T31" fmla="*/ 34 h 51"/>
                <a:gd name="T32" fmla="*/ 699 w 699"/>
                <a:gd name="T33" fmla="*/ 28 h 51"/>
                <a:gd name="T34" fmla="*/ 1 w 699"/>
                <a:gd name="T35" fmla="*/ 0 h 51"/>
                <a:gd name="T36" fmla="*/ 0 w 699"/>
                <a:gd name="T37" fmla="*/ 6 h 51"/>
                <a:gd name="T38" fmla="*/ 0 w 699"/>
                <a:gd name="T39" fmla="*/ 11 h 51"/>
                <a:gd name="T40" fmla="*/ 0 w 699"/>
                <a:gd name="T41" fmla="*/ 18 h 51"/>
                <a:gd name="T42" fmla="*/ 0 w 699"/>
                <a:gd name="T43" fmla="*/ 24 h 51"/>
                <a:gd name="T44" fmla="*/ 0 w 699"/>
                <a:gd name="T45" fmla="*/ 31 h 51"/>
                <a:gd name="T46" fmla="*/ 0 w 699"/>
                <a:gd name="T47" fmla="*/ 38 h 51"/>
                <a:gd name="T48" fmla="*/ 0 w 699"/>
                <a:gd name="T49" fmla="*/ 44 h 51"/>
                <a:gd name="T50" fmla="*/ 1 w 699"/>
                <a:gd name="T51" fmla="*/ 51 h 51"/>
                <a:gd name="T52" fmla="*/ 3 w 699"/>
                <a:gd name="T53" fmla="*/ 48 h 51"/>
                <a:gd name="T54" fmla="*/ 3 w 699"/>
                <a:gd name="T55" fmla="*/ 41 h 51"/>
                <a:gd name="T56" fmla="*/ 3 w 699"/>
                <a:gd name="T57" fmla="*/ 34 h 51"/>
                <a:gd name="T58" fmla="*/ 3 w 699"/>
                <a:gd name="T59" fmla="*/ 28 h 51"/>
                <a:gd name="T60" fmla="*/ 3 w 699"/>
                <a:gd name="T61" fmla="*/ 21 h 51"/>
                <a:gd name="T62" fmla="*/ 3 w 699"/>
                <a:gd name="T63" fmla="*/ 14 h 51"/>
                <a:gd name="T64" fmla="*/ 3 w 699"/>
                <a:gd name="T65" fmla="*/ 9 h 51"/>
                <a:gd name="T66" fmla="*/ 3 w 699"/>
                <a:gd name="T67" fmla="*/ 3 h 51"/>
                <a:gd name="T68" fmla="*/ 1 w 69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9" h="51">
                  <a:moveTo>
                    <a:pt x="699" y="24"/>
                  </a:moveTo>
                  <a:lnTo>
                    <a:pt x="699" y="21"/>
                  </a:lnTo>
                  <a:lnTo>
                    <a:pt x="699" y="18"/>
                  </a:lnTo>
                  <a:lnTo>
                    <a:pt x="699" y="14"/>
                  </a:lnTo>
                  <a:lnTo>
                    <a:pt x="699" y="11"/>
                  </a:lnTo>
                  <a:lnTo>
                    <a:pt x="699" y="9"/>
                  </a:lnTo>
                  <a:lnTo>
                    <a:pt x="699" y="6"/>
                  </a:lnTo>
                  <a:lnTo>
                    <a:pt x="699" y="3"/>
                  </a:lnTo>
                  <a:lnTo>
                    <a:pt x="699" y="0"/>
                  </a:lnTo>
                  <a:lnTo>
                    <a:pt x="695" y="0"/>
                  </a:lnTo>
                  <a:lnTo>
                    <a:pt x="695" y="3"/>
                  </a:lnTo>
                  <a:lnTo>
                    <a:pt x="695" y="6"/>
                  </a:lnTo>
                  <a:lnTo>
                    <a:pt x="695" y="9"/>
                  </a:lnTo>
                  <a:lnTo>
                    <a:pt x="695" y="11"/>
                  </a:lnTo>
                  <a:lnTo>
                    <a:pt x="695" y="14"/>
                  </a:lnTo>
                  <a:lnTo>
                    <a:pt x="695" y="18"/>
                  </a:lnTo>
                  <a:lnTo>
                    <a:pt x="695" y="21"/>
                  </a:lnTo>
                  <a:lnTo>
                    <a:pt x="695" y="24"/>
                  </a:lnTo>
                  <a:lnTo>
                    <a:pt x="695" y="28"/>
                  </a:lnTo>
                  <a:lnTo>
                    <a:pt x="695" y="31"/>
                  </a:lnTo>
                  <a:lnTo>
                    <a:pt x="695" y="34"/>
                  </a:lnTo>
                  <a:lnTo>
                    <a:pt x="695" y="38"/>
                  </a:lnTo>
                  <a:lnTo>
                    <a:pt x="695" y="41"/>
                  </a:lnTo>
                  <a:lnTo>
                    <a:pt x="695" y="44"/>
                  </a:lnTo>
                  <a:lnTo>
                    <a:pt x="695" y="48"/>
                  </a:lnTo>
                  <a:lnTo>
                    <a:pt x="695" y="51"/>
                  </a:lnTo>
                  <a:lnTo>
                    <a:pt x="699" y="51"/>
                  </a:lnTo>
                  <a:lnTo>
                    <a:pt x="699" y="48"/>
                  </a:lnTo>
                  <a:lnTo>
                    <a:pt x="699" y="44"/>
                  </a:lnTo>
                  <a:lnTo>
                    <a:pt x="699" y="41"/>
                  </a:lnTo>
                  <a:lnTo>
                    <a:pt x="699" y="38"/>
                  </a:lnTo>
                  <a:lnTo>
                    <a:pt x="699" y="34"/>
                  </a:lnTo>
                  <a:lnTo>
                    <a:pt x="699" y="31"/>
                  </a:lnTo>
                  <a:lnTo>
                    <a:pt x="699" y="28"/>
                  </a:lnTo>
                  <a:lnTo>
                    <a:pt x="69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64" name="Freeform 305">
              <a:extLst>
                <a:ext uri="{FF2B5EF4-FFF2-40B4-BE49-F238E27FC236}">
                  <a16:creationId xmlns:a16="http://schemas.microsoft.com/office/drawing/2014/main" id="{A2B10732-4F3A-BB28-2EAA-5FCA46570767}"/>
                </a:ext>
              </a:extLst>
            </p:cNvPr>
            <p:cNvSpPr>
              <a:spLocks noEditPoints="1"/>
            </p:cNvSpPr>
            <p:nvPr/>
          </p:nvSpPr>
          <p:spPr bwMode="auto">
            <a:xfrm>
              <a:off x="1263" y="1713"/>
              <a:ext cx="696" cy="51"/>
            </a:xfrm>
            <a:custGeom>
              <a:avLst/>
              <a:gdLst>
                <a:gd name="T0" fmla="*/ 696 w 696"/>
                <a:gd name="T1" fmla="*/ 21 h 51"/>
                <a:gd name="T2" fmla="*/ 696 w 696"/>
                <a:gd name="T3" fmla="*/ 14 h 51"/>
                <a:gd name="T4" fmla="*/ 696 w 696"/>
                <a:gd name="T5" fmla="*/ 9 h 51"/>
                <a:gd name="T6" fmla="*/ 696 w 696"/>
                <a:gd name="T7" fmla="*/ 3 h 51"/>
                <a:gd name="T8" fmla="*/ 693 w 696"/>
                <a:gd name="T9" fmla="*/ 0 h 51"/>
                <a:gd name="T10" fmla="*/ 693 w 696"/>
                <a:gd name="T11" fmla="*/ 6 h 51"/>
                <a:gd name="T12" fmla="*/ 693 w 696"/>
                <a:gd name="T13" fmla="*/ 11 h 51"/>
                <a:gd name="T14" fmla="*/ 693 w 696"/>
                <a:gd name="T15" fmla="*/ 18 h 51"/>
                <a:gd name="T16" fmla="*/ 693 w 696"/>
                <a:gd name="T17" fmla="*/ 24 h 51"/>
                <a:gd name="T18" fmla="*/ 693 w 696"/>
                <a:gd name="T19" fmla="*/ 31 h 51"/>
                <a:gd name="T20" fmla="*/ 693 w 696"/>
                <a:gd name="T21" fmla="*/ 38 h 51"/>
                <a:gd name="T22" fmla="*/ 693 w 696"/>
                <a:gd name="T23" fmla="*/ 44 h 51"/>
                <a:gd name="T24" fmla="*/ 693 w 696"/>
                <a:gd name="T25" fmla="*/ 51 h 51"/>
                <a:gd name="T26" fmla="*/ 696 w 696"/>
                <a:gd name="T27" fmla="*/ 48 h 51"/>
                <a:gd name="T28" fmla="*/ 696 w 696"/>
                <a:gd name="T29" fmla="*/ 41 h 51"/>
                <a:gd name="T30" fmla="*/ 696 w 696"/>
                <a:gd name="T31" fmla="*/ 34 h 51"/>
                <a:gd name="T32" fmla="*/ 696 w 696"/>
                <a:gd name="T33" fmla="*/ 28 h 51"/>
                <a:gd name="T34" fmla="*/ 2 w 696"/>
                <a:gd name="T35" fmla="*/ 0 h 51"/>
                <a:gd name="T36" fmla="*/ 0 w 696"/>
                <a:gd name="T37" fmla="*/ 6 h 51"/>
                <a:gd name="T38" fmla="*/ 0 w 696"/>
                <a:gd name="T39" fmla="*/ 11 h 51"/>
                <a:gd name="T40" fmla="*/ 0 w 696"/>
                <a:gd name="T41" fmla="*/ 18 h 51"/>
                <a:gd name="T42" fmla="*/ 0 w 696"/>
                <a:gd name="T43" fmla="*/ 24 h 51"/>
                <a:gd name="T44" fmla="*/ 0 w 696"/>
                <a:gd name="T45" fmla="*/ 31 h 51"/>
                <a:gd name="T46" fmla="*/ 0 w 696"/>
                <a:gd name="T47" fmla="*/ 38 h 51"/>
                <a:gd name="T48" fmla="*/ 0 w 696"/>
                <a:gd name="T49" fmla="*/ 44 h 51"/>
                <a:gd name="T50" fmla="*/ 0 w 696"/>
                <a:gd name="T51" fmla="*/ 51 h 51"/>
                <a:gd name="T52" fmla="*/ 4 w 696"/>
                <a:gd name="T53" fmla="*/ 48 h 51"/>
                <a:gd name="T54" fmla="*/ 4 w 696"/>
                <a:gd name="T55" fmla="*/ 41 h 51"/>
                <a:gd name="T56" fmla="*/ 4 w 696"/>
                <a:gd name="T57" fmla="*/ 34 h 51"/>
                <a:gd name="T58" fmla="*/ 4 w 696"/>
                <a:gd name="T59" fmla="*/ 28 h 51"/>
                <a:gd name="T60" fmla="*/ 4 w 696"/>
                <a:gd name="T61" fmla="*/ 21 h 51"/>
                <a:gd name="T62" fmla="*/ 4 w 696"/>
                <a:gd name="T63" fmla="*/ 14 h 51"/>
                <a:gd name="T64" fmla="*/ 4 w 696"/>
                <a:gd name="T65" fmla="*/ 9 h 51"/>
                <a:gd name="T66" fmla="*/ 4 w 696"/>
                <a:gd name="T67" fmla="*/ 3 h 51"/>
                <a:gd name="T68" fmla="*/ 2 w 6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6" h="51">
                  <a:moveTo>
                    <a:pt x="696" y="24"/>
                  </a:moveTo>
                  <a:lnTo>
                    <a:pt x="696" y="21"/>
                  </a:lnTo>
                  <a:lnTo>
                    <a:pt x="696" y="18"/>
                  </a:lnTo>
                  <a:lnTo>
                    <a:pt x="696" y="14"/>
                  </a:lnTo>
                  <a:lnTo>
                    <a:pt x="696" y="11"/>
                  </a:lnTo>
                  <a:lnTo>
                    <a:pt x="696" y="9"/>
                  </a:lnTo>
                  <a:lnTo>
                    <a:pt x="696" y="6"/>
                  </a:lnTo>
                  <a:lnTo>
                    <a:pt x="696" y="3"/>
                  </a:lnTo>
                  <a:lnTo>
                    <a:pt x="696" y="0"/>
                  </a:lnTo>
                  <a:lnTo>
                    <a:pt x="693" y="0"/>
                  </a:lnTo>
                  <a:lnTo>
                    <a:pt x="693" y="3"/>
                  </a:lnTo>
                  <a:lnTo>
                    <a:pt x="693" y="6"/>
                  </a:lnTo>
                  <a:lnTo>
                    <a:pt x="693" y="9"/>
                  </a:lnTo>
                  <a:lnTo>
                    <a:pt x="693" y="11"/>
                  </a:lnTo>
                  <a:lnTo>
                    <a:pt x="693" y="14"/>
                  </a:lnTo>
                  <a:lnTo>
                    <a:pt x="693" y="18"/>
                  </a:lnTo>
                  <a:lnTo>
                    <a:pt x="693" y="21"/>
                  </a:lnTo>
                  <a:lnTo>
                    <a:pt x="693" y="24"/>
                  </a:lnTo>
                  <a:lnTo>
                    <a:pt x="693" y="28"/>
                  </a:lnTo>
                  <a:lnTo>
                    <a:pt x="693" y="31"/>
                  </a:lnTo>
                  <a:lnTo>
                    <a:pt x="693" y="34"/>
                  </a:lnTo>
                  <a:lnTo>
                    <a:pt x="693" y="38"/>
                  </a:lnTo>
                  <a:lnTo>
                    <a:pt x="693" y="41"/>
                  </a:lnTo>
                  <a:lnTo>
                    <a:pt x="693" y="44"/>
                  </a:lnTo>
                  <a:lnTo>
                    <a:pt x="693" y="48"/>
                  </a:lnTo>
                  <a:lnTo>
                    <a:pt x="693" y="51"/>
                  </a:lnTo>
                  <a:lnTo>
                    <a:pt x="696" y="51"/>
                  </a:lnTo>
                  <a:lnTo>
                    <a:pt x="696" y="48"/>
                  </a:lnTo>
                  <a:lnTo>
                    <a:pt x="696" y="44"/>
                  </a:lnTo>
                  <a:lnTo>
                    <a:pt x="696" y="41"/>
                  </a:lnTo>
                  <a:lnTo>
                    <a:pt x="696" y="38"/>
                  </a:lnTo>
                  <a:lnTo>
                    <a:pt x="696" y="34"/>
                  </a:lnTo>
                  <a:lnTo>
                    <a:pt x="696" y="31"/>
                  </a:lnTo>
                  <a:lnTo>
                    <a:pt x="696" y="28"/>
                  </a:lnTo>
                  <a:lnTo>
                    <a:pt x="69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65" name="Freeform 306">
              <a:extLst>
                <a:ext uri="{FF2B5EF4-FFF2-40B4-BE49-F238E27FC236}">
                  <a16:creationId xmlns:a16="http://schemas.microsoft.com/office/drawing/2014/main" id="{D8B5BCDE-CECD-1A85-4438-5B040B587CCE}"/>
                </a:ext>
              </a:extLst>
            </p:cNvPr>
            <p:cNvSpPr>
              <a:spLocks noEditPoints="1"/>
            </p:cNvSpPr>
            <p:nvPr/>
          </p:nvSpPr>
          <p:spPr bwMode="auto">
            <a:xfrm>
              <a:off x="1265" y="1713"/>
              <a:ext cx="692" cy="51"/>
            </a:xfrm>
            <a:custGeom>
              <a:avLst/>
              <a:gdLst>
                <a:gd name="T0" fmla="*/ 692 w 692"/>
                <a:gd name="T1" fmla="*/ 21 h 51"/>
                <a:gd name="T2" fmla="*/ 692 w 692"/>
                <a:gd name="T3" fmla="*/ 14 h 51"/>
                <a:gd name="T4" fmla="*/ 692 w 692"/>
                <a:gd name="T5" fmla="*/ 9 h 51"/>
                <a:gd name="T6" fmla="*/ 692 w 692"/>
                <a:gd name="T7" fmla="*/ 3 h 51"/>
                <a:gd name="T8" fmla="*/ 689 w 692"/>
                <a:gd name="T9" fmla="*/ 0 h 51"/>
                <a:gd name="T10" fmla="*/ 689 w 692"/>
                <a:gd name="T11" fmla="*/ 6 h 51"/>
                <a:gd name="T12" fmla="*/ 689 w 692"/>
                <a:gd name="T13" fmla="*/ 11 h 51"/>
                <a:gd name="T14" fmla="*/ 689 w 692"/>
                <a:gd name="T15" fmla="*/ 18 h 51"/>
                <a:gd name="T16" fmla="*/ 689 w 692"/>
                <a:gd name="T17" fmla="*/ 24 h 51"/>
                <a:gd name="T18" fmla="*/ 689 w 692"/>
                <a:gd name="T19" fmla="*/ 31 h 51"/>
                <a:gd name="T20" fmla="*/ 689 w 692"/>
                <a:gd name="T21" fmla="*/ 38 h 51"/>
                <a:gd name="T22" fmla="*/ 689 w 692"/>
                <a:gd name="T23" fmla="*/ 44 h 51"/>
                <a:gd name="T24" fmla="*/ 689 w 692"/>
                <a:gd name="T25" fmla="*/ 51 h 51"/>
                <a:gd name="T26" fmla="*/ 692 w 692"/>
                <a:gd name="T27" fmla="*/ 48 h 51"/>
                <a:gd name="T28" fmla="*/ 692 w 692"/>
                <a:gd name="T29" fmla="*/ 41 h 51"/>
                <a:gd name="T30" fmla="*/ 692 w 692"/>
                <a:gd name="T31" fmla="*/ 34 h 51"/>
                <a:gd name="T32" fmla="*/ 692 w 692"/>
                <a:gd name="T33" fmla="*/ 28 h 51"/>
                <a:gd name="T34" fmla="*/ 2 w 692"/>
                <a:gd name="T35" fmla="*/ 0 h 51"/>
                <a:gd name="T36" fmla="*/ 0 w 692"/>
                <a:gd name="T37" fmla="*/ 6 h 51"/>
                <a:gd name="T38" fmla="*/ 0 w 692"/>
                <a:gd name="T39" fmla="*/ 11 h 51"/>
                <a:gd name="T40" fmla="*/ 0 w 692"/>
                <a:gd name="T41" fmla="*/ 18 h 51"/>
                <a:gd name="T42" fmla="*/ 0 w 692"/>
                <a:gd name="T43" fmla="*/ 24 h 51"/>
                <a:gd name="T44" fmla="*/ 0 w 692"/>
                <a:gd name="T45" fmla="*/ 31 h 51"/>
                <a:gd name="T46" fmla="*/ 0 w 692"/>
                <a:gd name="T47" fmla="*/ 38 h 51"/>
                <a:gd name="T48" fmla="*/ 0 w 692"/>
                <a:gd name="T49" fmla="*/ 44 h 51"/>
                <a:gd name="T50" fmla="*/ 0 w 692"/>
                <a:gd name="T51" fmla="*/ 51 h 51"/>
                <a:gd name="T52" fmla="*/ 3 w 692"/>
                <a:gd name="T53" fmla="*/ 48 h 51"/>
                <a:gd name="T54" fmla="*/ 3 w 692"/>
                <a:gd name="T55" fmla="*/ 41 h 51"/>
                <a:gd name="T56" fmla="*/ 3 w 692"/>
                <a:gd name="T57" fmla="*/ 34 h 51"/>
                <a:gd name="T58" fmla="*/ 3 w 692"/>
                <a:gd name="T59" fmla="*/ 28 h 51"/>
                <a:gd name="T60" fmla="*/ 3 w 692"/>
                <a:gd name="T61" fmla="*/ 21 h 51"/>
                <a:gd name="T62" fmla="*/ 3 w 692"/>
                <a:gd name="T63" fmla="*/ 14 h 51"/>
                <a:gd name="T64" fmla="*/ 3 w 692"/>
                <a:gd name="T65" fmla="*/ 9 h 51"/>
                <a:gd name="T66" fmla="*/ 3 w 692"/>
                <a:gd name="T67" fmla="*/ 3 h 51"/>
                <a:gd name="T68" fmla="*/ 2 w 69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2" h="51">
                  <a:moveTo>
                    <a:pt x="692" y="24"/>
                  </a:moveTo>
                  <a:lnTo>
                    <a:pt x="692" y="21"/>
                  </a:lnTo>
                  <a:lnTo>
                    <a:pt x="692" y="18"/>
                  </a:lnTo>
                  <a:lnTo>
                    <a:pt x="692" y="14"/>
                  </a:lnTo>
                  <a:lnTo>
                    <a:pt x="692" y="11"/>
                  </a:lnTo>
                  <a:lnTo>
                    <a:pt x="692" y="9"/>
                  </a:lnTo>
                  <a:lnTo>
                    <a:pt x="692" y="6"/>
                  </a:lnTo>
                  <a:lnTo>
                    <a:pt x="692" y="3"/>
                  </a:lnTo>
                  <a:lnTo>
                    <a:pt x="692" y="0"/>
                  </a:lnTo>
                  <a:lnTo>
                    <a:pt x="689" y="0"/>
                  </a:lnTo>
                  <a:lnTo>
                    <a:pt x="689" y="3"/>
                  </a:lnTo>
                  <a:lnTo>
                    <a:pt x="689" y="6"/>
                  </a:lnTo>
                  <a:lnTo>
                    <a:pt x="689" y="9"/>
                  </a:lnTo>
                  <a:lnTo>
                    <a:pt x="689" y="11"/>
                  </a:lnTo>
                  <a:lnTo>
                    <a:pt x="689" y="14"/>
                  </a:lnTo>
                  <a:lnTo>
                    <a:pt x="689" y="18"/>
                  </a:lnTo>
                  <a:lnTo>
                    <a:pt x="689" y="21"/>
                  </a:lnTo>
                  <a:lnTo>
                    <a:pt x="689" y="24"/>
                  </a:lnTo>
                  <a:lnTo>
                    <a:pt x="689" y="28"/>
                  </a:lnTo>
                  <a:lnTo>
                    <a:pt x="689" y="31"/>
                  </a:lnTo>
                  <a:lnTo>
                    <a:pt x="689" y="34"/>
                  </a:lnTo>
                  <a:lnTo>
                    <a:pt x="689" y="38"/>
                  </a:lnTo>
                  <a:lnTo>
                    <a:pt x="689" y="41"/>
                  </a:lnTo>
                  <a:lnTo>
                    <a:pt x="689" y="44"/>
                  </a:lnTo>
                  <a:lnTo>
                    <a:pt x="689" y="48"/>
                  </a:lnTo>
                  <a:lnTo>
                    <a:pt x="689" y="51"/>
                  </a:lnTo>
                  <a:lnTo>
                    <a:pt x="692" y="51"/>
                  </a:lnTo>
                  <a:lnTo>
                    <a:pt x="692" y="48"/>
                  </a:lnTo>
                  <a:lnTo>
                    <a:pt x="692" y="44"/>
                  </a:lnTo>
                  <a:lnTo>
                    <a:pt x="692" y="41"/>
                  </a:lnTo>
                  <a:lnTo>
                    <a:pt x="692" y="38"/>
                  </a:lnTo>
                  <a:lnTo>
                    <a:pt x="692" y="34"/>
                  </a:lnTo>
                  <a:lnTo>
                    <a:pt x="692" y="31"/>
                  </a:lnTo>
                  <a:lnTo>
                    <a:pt x="692" y="28"/>
                  </a:lnTo>
                  <a:lnTo>
                    <a:pt x="69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66" name="Freeform 307">
              <a:extLst>
                <a:ext uri="{FF2B5EF4-FFF2-40B4-BE49-F238E27FC236}">
                  <a16:creationId xmlns:a16="http://schemas.microsoft.com/office/drawing/2014/main" id="{FD49B703-8734-5F39-79FB-D8AAE5B845A8}"/>
                </a:ext>
              </a:extLst>
            </p:cNvPr>
            <p:cNvSpPr>
              <a:spLocks noEditPoints="1"/>
            </p:cNvSpPr>
            <p:nvPr/>
          </p:nvSpPr>
          <p:spPr bwMode="auto">
            <a:xfrm>
              <a:off x="1267" y="1713"/>
              <a:ext cx="689" cy="51"/>
            </a:xfrm>
            <a:custGeom>
              <a:avLst/>
              <a:gdLst>
                <a:gd name="T0" fmla="*/ 689 w 689"/>
                <a:gd name="T1" fmla="*/ 21 h 51"/>
                <a:gd name="T2" fmla="*/ 689 w 689"/>
                <a:gd name="T3" fmla="*/ 14 h 51"/>
                <a:gd name="T4" fmla="*/ 689 w 689"/>
                <a:gd name="T5" fmla="*/ 9 h 51"/>
                <a:gd name="T6" fmla="*/ 689 w 689"/>
                <a:gd name="T7" fmla="*/ 3 h 51"/>
                <a:gd name="T8" fmla="*/ 685 w 689"/>
                <a:gd name="T9" fmla="*/ 0 h 51"/>
                <a:gd name="T10" fmla="*/ 685 w 689"/>
                <a:gd name="T11" fmla="*/ 6 h 51"/>
                <a:gd name="T12" fmla="*/ 685 w 689"/>
                <a:gd name="T13" fmla="*/ 11 h 51"/>
                <a:gd name="T14" fmla="*/ 685 w 689"/>
                <a:gd name="T15" fmla="*/ 18 h 51"/>
                <a:gd name="T16" fmla="*/ 685 w 689"/>
                <a:gd name="T17" fmla="*/ 24 h 51"/>
                <a:gd name="T18" fmla="*/ 685 w 689"/>
                <a:gd name="T19" fmla="*/ 31 h 51"/>
                <a:gd name="T20" fmla="*/ 685 w 689"/>
                <a:gd name="T21" fmla="*/ 38 h 51"/>
                <a:gd name="T22" fmla="*/ 685 w 689"/>
                <a:gd name="T23" fmla="*/ 44 h 51"/>
                <a:gd name="T24" fmla="*/ 685 w 689"/>
                <a:gd name="T25" fmla="*/ 51 h 51"/>
                <a:gd name="T26" fmla="*/ 689 w 689"/>
                <a:gd name="T27" fmla="*/ 48 h 51"/>
                <a:gd name="T28" fmla="*/ 689 w 689"/>
                <a:gd name="T29" fmla="*/ 41 h 51"/>
                <a:gd name="T30" fmla="*/ 689 w 689"/>
                <a:gd name="T31" fmla="*/ 34 h 51"/>
                <a:gd name="T32" fmla="*/ 689 w 689"/>
                <a:gd name="T33" fmla="*/ 28 h 51"/>
                <a:gd name="T34" fmla="*/ 1 w 689"/>
                <a:gd name="T35" fmla="*/ 0 h 51"/>
                <a:gd name="T36" fmla="*/ 0 w 689"/>
                <a:gd name="T37" fmla="*/ 6 h 51"/>
                <a:gd name="T38" fmla="*/ 0 w 689"/>
                <a:gd name="T39" fmla="*/ 11 h 51"/>
                <a:gd name="T40" fmla="*/ 0 w 689"/>
                <a:gd name="T41" fmla="*/ 18 h 51"/>
                <a:gd name="T42" fmla="*/ 0 w 689"/>
                <a:gd name="T43" fmla="*/ 24 h 51"/>
                <a:gd name="T44" fmla="*/ 0 w 689"/>
                <a:gd name="T45" fmla="*/ 31 h 51"/>
                <a:gd name="T46" fmla="*/ 0 w 689"/>
                <a:gd name="T47" fmla="*/ 38 h 51"/>
                <a:gd name="T48" fmla="*/ 0 w 689"/>
                <a:gd name="T49" fmla="*/ 44 h 51"/>
                <a:gd name="T50" fmla="*/ 0 w 689"/>
                <a:gd name="T51" fmla="*/ 51 h 51"/>
                <a:gd name="T52" fmla="*/ 3 w 689"/>
                <a:gd name="T53" fmla="*/ 48 h 51"/>
                <a:gd name="T54" fmla="*/ 3 w 689"/>
                <a:gd name="T55" fmla="*/ 41 h 51"/>
                <a:gd name="T56" fmla="*/ 3 w 689"/>
                <a:gd name="T57" fmla="*/ 34 h 51"/>
                <a:gd name="T58" fmla="*/ 3 w 689"/>
                <a:gd name="T59" fmla="*/ 28 h 51"/>
                <a:gd name="T60" fmla="*/ 3 w 689"/>
                <a:gd name="T61" fmla="*/ 21 h 51"/>
                <a:gd name="T62" fmla="*/ 3 w 689"/>
                <a:gd name="T63" fmla="*/ 14 h 51"/>
                <a:gd name="T64" fmla="*/ 3 w 689"/>
                <a:gd name="T65" fmla="*/ 9 h 51"/>
                <a:gd name="T66" fmla="*/ 3 w 689"/>
                <a:gd name="T67" fmla="*/ 3 h 51"/>
                <a:gd name="T68" fmla="*/ 1 w 68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9" h="51">
                  <a:moveTo>
                    <a:pt x="689" y="24"/>
                  </a:moveTo>
                  <a:lnTo>
                    <a:pt x="689" y="21"/>
                  </a:lnTo>
                  <a:lnTo>
                    <a:pt x="689" y="18"/>
                  </a:lnTo>
                  <a:lnTo>
                    <a:pt x="689" y="14"/>
                  </a:lnTo>
                  <a:lnTo>
                    <a:pt x="689" y="11"/>
                  </a:lnTo>
                  <a:lnTo>
                    <a:pt x="689" y="9"/>
                  </a:lnTo>
                  <a:lnTo>
                    <a:pt x="689" y="6"/>
                  </a:lnTo>
                  <a:lnTo>
                    <a:pt x="689" y="3"/>
                  </a:lnTo>
                  <a:lnTo>
                    <a:pt x="689" y="0"/>
                  </a:lnTo>
                  <a:lnTo>
                    <a:pt x="685" y="0"/>
                  </a:lnTo>
                  <a:lnTo>
                    <a:pt x="685" y="3"/>
                  </a:lnTo>
                  <a:lnTo>
                    <a:pt x="685" y="6"/>
                  </a:lnTo>
                  <a:lnTo>
                    <a:pt x="685" y="9"/>
                  </a:lnTo>
                  <a:lnTo>
                    <a:pt x="685" y="11"/>
                  </a:lnTo>
                  <a:lnTo>
                    <a:pt x="685" y="14"/>
                  </a:lnTo>
                  <a:lnTo>
                    <a:pt x="685" y="18"/>
                  </a:lnTo>
                  <a:lnTo>
                    <a:pt x="685" y="21"/>
                  </a:lnTo>
                  <a:lnTo>
                    <a:pt x="685" y="24"/>
                  </a:lnTo>
                  <a:lnTo>
                    <a:pt x="685" y="28"/>
                  </a:lnTo>
                  <a:lnTo>
                    <a:pt x="685" y="31"/>
                  </a:lnTo>
                  <a:lnTo>
                    <a:pt x="685" y="34"/>
                  </a:lnTo>
                  <a:lnTo>
                    <a:pt x="685" y="38"/>
                  </a:lnTo>
                  <a:lnTo>
                    <a:pt x="685" y="41"/>
                  </a:lnTo>
                  <a:lnTo>
                    <a:pt x="685" y="44"/>
                  </a:lnTo>
                  <a:lnTo>
                    <a:pt x="685" y="48"/>
                  </a:lnTo>
                  <a:lnTo>
                    <a:pt x="685" y="51"/>
                  </a:lnTo>
                  <a:lnTo>
                    <a:pt x="689" y="51"/>
                  </a:lnTo>
                  <a:lnTo>
                    <a:pt x="689" y="48"/>
                  </a:lnTo>
                  <a:lnTo>
                    <a:pt x="689" y="44"/>
                  </a:lnTo>
                  <a:lnTo>
                    <a:pt x="689" y="41"/>
                  </a:lnTo>
                  <a:lnTo>
                    <a:pt x="689" y="38"/>
                  </a:lnTo>
                  <a:lnTo>
                    <a:pt x="689" y="34"/>
                  </a:lnTo>
                  <a:lnTo>
                    <a:pt x="689" y="31"/>
                  </a:lnTo>
                  <a:lnTo>
                    <a:pt x="689" y="28"/>
                  </a:lnTo>
                  <a:lnTo>
                    <a:pt x="68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67" name="Freeform 308">
              <a:extLst>
                <a:ext uri="{FF2B5EF4-FFF2-40B4-BE49-F238E27FC236}">
                  <a16:creationId xmlns:a16="http://schemas.microsoft.com/office/drawing/2014/main" id="{C3826A00-5B63-AED5-E226-40BBCE316939}"/>
                </a:ext>
              </a:extLst>
            </p:cNvPr>
            <p:cNvSpPr>
              <a:spLocks noEditPoints="1"/>
            </p:cNvSpPr>
            <p:nvPr/>
          </p:nvSpPr>
          <p:spPr bwMode="auto">
            <a:xfrm>
              <a:off x="1268" y="1713"/>
              <a:ext cx="686" cy="51"/>
            </a:xfrm>
            <a:custGeom>
              <a:avLst/>
              <a:gdLst>
                <a:gd name="T0" fmla="*/ 686 w 686"/>
                <a:gd name="T1" fmla="*/ 21 h 51"/>
                <a:gd name="T2" fmla="*/ 686 w 686"/>
                <a:gd name="T3" fmla="*/ 14 h 51"/>
                <a:gd name="T4" fmla="*/ 686 w 686"/>
                <a:gd name="T5" fmla="*/ 9 h 51"/>
                <a:gd name="T6" fmla="*/ 686 w 686"/>
                <a:gd name="T7" fmla="*/ 3 h 51"/>
                <a:gd name="T8" fmla="*/ 683 w 686"/>
                <a:gd name="T9" fmla="*/ 0 h 51"/>
                <a:gd name="T10" fmla="*/ 683 w 686"/>
                <a:gd name="T11" fmla="*/ 6 h 51"/>
                <a:gd name="T12" fmla="*/ 683 w 686"/>
                <a:gd name="T13" fmla="*/ 11 h 51"/>
                <a:gd name="T14" fmla="*/ 683 w 686"/>
                <a:gd name="T15" fmla="*/ 18 h 51"/>
                <a:gd name="T16" fmla="*/ 683 w 686"/>
                <a:gd name="T17" fmla="*/ 24 h 51"/>
                <a:gd name="T18" fmla="*/ 683 w 686"/>
                <a:gd name="T19" fmla="*/ 31 h 51"/>
                <a:gd name="T20" fmla="*/ 683 w 686"/>
                <a:gd name="T21" fmla="*/ 38 h 51"/>
                <a:gd name="T22" fmla="*/ 683 w 686"/>
                <a:gd name="T23" fmla="*/ 44 h 51"/>
                <a:gd name="T24" fmla="*/ 683 w 686"/>
                <a:gd name="T25" fmla="*/ 51 h 51"/>
                <a:gd name="T26" fmla="*/ 686 w 686"/>
                <a:gd name="T27" fmla="*/ 48 h 51"/>
                <a:gd name="T28" fmla="*/ 686 w 686"/>
                <a:gd name="T29" fmla="*/ 41 h 51"/>
                <a:gd name="T30" fmla="*/ 686 w 686"/>
                <a:gd name="T31" fmla="*/ 34 h 51"/>
                <a:gd name="T32" fmla="*/ 686 w 686"/>
                <a:gd name="T33" fmla="*/ 28 h 51"/>
                <a:gd name="T34" fmla="*/ 2 w 686"/>
                <a:gd name="T35" fmla="*/ 0 h 51"/>
                <a:gd name="T36" fmla="*/ 0 w 686"/>
                <a:gd name="T37" fmla="*/ 6 h 51"/>
                <a:gd name="T38" fmla="*/ 0 w 686"/>
                <a:gd name="T39" fmla="*/ 11 h 51"/>
                <a:gd name="T40" fmla="*/ 0 w 686"/>
                <a:gd name="T41" fmla="*/ 18 h 51"/>
                <a:gd name="T42" fmla="*/ 0 w 686"/>
                <a:gd name="T43" fmla="*/ 24 h 51"/>
                <a:gd name="T44" fmla="*/ 0 w 686"/>
                <a:gd name="T45" fmla="*/ 31 h 51"/>
                <a:gd name="T46" fmla="*/ 0 w 686"/>
                <a:gd name="T47" fmla="*/ 38 h 51"/>
                <a:gd name="T48" fmla="*/ 0 w 686"/>
                <a:gd name="T49" fmla="*/ 44 h 51"/>
                <a:gd name="T50" fmla="*/ 0 w 686"/>
                <a:gd name="T51" fmla="*/ 51 h 51"/>
                <a:gd name="T52" fmla="*/ 4 w 686"/>
                <a:gd name="T53" fmla="*/ 48 h 51"/>
                <a:gd name="T54" fmla="*/ 4 w 686"/>
                <a:gd name="T55" fmla="*/ 41 h 51"/>
                <a:gd name="T56" fmla="*/ 4 w 686"/>
                <a:gd name="T57" fmla="*/ 34 h 51"/>
                <a:gd name="T58" fmla="*/ 4 w 686"/>
                <a:gd name="T59" fmla="*/ 28 h 51"/>
                <a:gd name="T60" fmla="*/ 4 w 686"/>
                <a:gd name="T61" fmla="*/ 21 h 51"/>
                <a:gd name="T62" fmla="*/ 4 w 686"/>
                <a:gd name="T63" fmla="*/ 14 h 51"/>
                <a:gd name="T64" fmla="*/ 4 w 686"/>
                <a:gd name="T65" fmla="*/ 9 h 51"/>
                <a:gd name="T66" fmla="*/ 4 w 686"/>
                <a:gd name="T67" fmla="*/ 3 h 51"/>
                <a:gd name="T68" fmla="*/ 2 w 6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6" h="51">
                  <a:moveTo>
                    <a:pt x="686" y="24"/>
                  </a:moveTo>
                  <a:lnTo>
                    <a:pt x="686" y="21"/>
                  </a:lnTo>
                  <a:lnTo>
                    <a:pt x="686" y="18"/>
                  </a:lnTo>
                  <a:lnTo>
                    <a:pt x="686" y="14"/>
                  </a:lnTo>
                  <a:lnTo>
                    <a:pt x="686" y="11"/>
                  </a:lnTo>
                  <a:lnTo>
                    <a:pt x="686" y="9"/>
                  </a:lnTo>
                  <a:lnTo>
                    <a:pt x="686" y="6"/>
                  </a:lnTo>
                  <a:lnTo>
                    <a:pt x="686" y="3"/>
                  </a:lnTo>
                  <a:lnTo>
                    <a:pt x="686" y="0"/>
                  </a:lnTo>
                  <a:lnTo>
                    <a:pt x="683" y="0"/>
                  </a:lnTo>
                  <a:lnTo>
                    <a:pt x="683" y="3"/>
                  </a:lnTo>
                  <a:lnTo>
                    <a:pt x="683" y="6"/>
                  </a:lnTo>
                  <a:lnTo>
                    <a:pt x="683" y="9"/>
                  </a:lnTo>
                  <a:lnTo>
                    <a:pt x="683" y="11"/>
                  </a:lnTo>
                  <a:lnTo>
                    <a:pt x="683" y="14"/>
                  </a:lnTo>
                  <a:lnTo>
                    <a:pt x="683" y="18"/>
                  </a:lnTo>
                  <a:lnTo>
                    <a:pt x="683" y="21"/>
                  </a:lnTo>
                  <a:lnTo>
                    <a:pt x="683" y="24"/>
                  </a:lnTo>
                  <a:lnTo>
                    <a:pt x="683" y="28"/>
                  </a:lnTo>
                  <a:lnTo>
                    <a:pt x="683" y="31"/>
                  </a:lnTo>
                  <a:lnTo>
                    <a:pt x="683" y="34"/>
                  </a:lnTo>
                  <a:lnTo>
                    <a:pt x="683" y="38"/>
                  </a:lnTo>
                  <a:lnTo>
                    <a:pt x="683" y="41"/>
                  </a:lnTo>
                  <a:lnTo>
                    <a:pt x="683" y="44"/>
                  </a:lnTo>
                  <a:lnTo>
                    <a:pt x="683" y="48"/>
                  </a:lnTo>
                  <a:lnTo>
                    <a:pt x="683" y="51"/>
                  </a:lnTo>
                  <a:lnTo>
                    <a:pt x="686" y="51"/>
                  </a:lnTo>
                  <a:lnTo>
                    <a:pt x="686" y="48"/>
                  </a:lnTo>
                  <a:lnTo>
                    <a:pt x="686" y="44"/>
                  </a:lnTo>
                  <a:lnTo>
                    <a:pt x="686" y="41"/>
                  </a:lnTo>
                  <a:lnTo>
                    <a:pt x="686" y="38"/>
                  </a:lnTo>
                  <a:lnTo>
                    <a:pt x="686" y="34"/>
                  </a:lnTo>
                  <a:lnTo>
                    <a:pt x="686" y="31"/>
                  </a:lnTo>
                  <a:lnTo>
                    <a:pt x="686" y="28"/>
                  </a:lnTo>
                  <a:lnTo>
                    <a:pt x="68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68" name="Freeform 309">
              <a:extLst>
                <a:ext uri="{FF2B5EF4-FFF2-40B4-BE49-F238E27FC236}">
                  <a16:creationId xmlns:a16="http://schemas.microsoft.com/office/drawing/2014/main" id="{64A55136-A84B-2512-2903-13BC9B0F784E}"/>
                </a:ext>
              </a:extLst>
            </p:cNvPr>
            <p:cNvSpPr>
              <a:spLocks noEditPoints="1"/>
            </p:cNvSpPr>
            <p:nvPr/>
          </p:nvSpPr>
          <p:spPr bwMode="auto">
            <a:xfrm>
              <a:off x="1270" y="1713"/>
              <a:ext cx="682" cy="51"/>
            </a:xfrm>
            <a:custGeom>
              <a:avLst/>
              <a:gdLst>
                <a:gd name="T0" fmla="*/ 682 w 682"/>
                <a:gd name="T1" fmla="*/ 21 h 51"/>
                <a:gd name="T2" fmla="*/ 682 w 682"/>
                <a:gd name="T3" fmla="*/ 14 h 51"/>
                <a:gd name="T4" fmla="*/ 682 w 682"/>
                <a:gd name="T5" fmla="*/ 9 h 51"/>
                <a:gd name="T6" fmla="*/ 682 w 682"/>
                <a:gd name="T7" fmla="*/ 3 h 51"/>
                <a:gd name="T8" fmla="*/ 679 w 682"/>
                <a:gd name="T9" fmla="*/ 0 h 51"/>
                <a:gd name="T10" fmla="*/ 679 w 682"/>
                <a:gd name="T11" fmla="*/ 6 h 51"/>
                <a:gd name="T12" fmla="*/ 679 w 682"/>
                <a:gd name="T13" fmla="*/ 11 h 51"/>
                <a:gd name="T14" fmla="*/ 679 w 682"/>
                <a:gd name="T15" fmla="*/ 18 h 51"/>
                <a:gd name="T16" fmla="*/ 679 w 682"/>
                <a:gd name="T17" fmla="*/ 24 h 51"/>
                <a:gd name="T18" fmla="*/ 679 w 682"/>
                <a:gd name="T19" fmla="*/ 31 h 51"/>
                <a:gd name="T20" fmla="*/ 679 w 682"/>
                <a:gd name="T21" fmla="*/ 38 h 51"/>
                <a:gd name="T22" fmla="*/ 679 w 682"/>
                <a:gd name="T23" fmla="*/ 44 h 51"/>
                <a:gd name="T24" fmla="*/ 679 w 682"/>
                <a:gd name="T25" fmla="*/ 51 h 51"/>
                <a:gd name="T26" fmla="*/ 682 w 682"/>
                <a:gd name="T27" fmla="*/ 48 h 51"/>
                <a:gd name="T28" fmla="*/ 682 w 682"/>
                <a:gd name="T29" fmla="*/ 41 h 51"/>
                <a:gd name="T30" fmla="*/ 682 w 682"/>
                <a:gd name="T31" fmla="*/ 34 h 51"/>
                <a:gd name="T32" fmla="*/ 682 w 682"/>
                <a:gd name="T33" fmla="*/ 28 h 51"/>
                <a:gd name="T34" fmla="*/ 2 w 682"/>
                <a:gd name="T35" fmla="*/ 0 h 51"/>
                <a:gd name="T36" fmla="*/ 0 w 682"/>
                <a:gd name="T37" fmla="*/ 6 h 51"/>
                <a:gd name="T38" fmla="*/ 0 w 682"/>
                <a:gd name="T39" fmla="*/ 11 h 51"/>
                <a:gd name="T40" fmla="*/ 0 w 682"/>
                <a:gd name="T41" fmla="*/ 18 h 51"/>
                <a:gd name="T42" fmla="*/ 0 w 682"/>
                <a:gd name="T43" fmla="*/ 24 h 51"/>
                <a:gd name="T44" fmla="*/ 0 w 682"/>
                <a:gd name="T45" fmla="*/ 31 h 51"/>
                <a:gd name="T46" fmla="*/ 0 w 682"/>
                <a:gd name="T47" fmla="*/ 38 h 51"/>
                <a:gd name="T48" fmla="*/ 0 w 682"/>
                <a:gd name="T49" fmla="*/ 44 h 51"/>
                <a:gd name="T50" fmla="*/ 0 w 682"/>
                <a:gd name="T51" fmla="*/ 51 h 51"/>
                <a:gd name="T52" fmla="*/ 3 w 682"/>
                <a:gd name="T53" fmla="*/ 48 h 51"/>
                <a:gd name="T54" fmla="*/ 3 w 682"/>
                <a:gd name="T55" fmla="*/ 41 h 51"/>
                <a:gd name="T56" fmla="*/ 3 w 682"/>
                <a:gd name="T57" fmla="*/ 34 h 51"/>
                <a:gd name="T58" fmla="*/ 3 w 682"/>
                <a:gd name="T59" fmla="*/ 28 h 51"/>
                <a:gd name="T60" fmla="*/ 3 w 682"/>
                <a:gd name="T61" fmla="*/ 21 h 51"/>
                <a:gd name="T62" fmla="*/ 3 w 682"/>
                <a:gd name="T63" fmla="*/ 14 h 51"/>
                <a:gd name="T64" fmla="*/ 3 w 682"/>
                <a:gd name="T65" fmla="*/ 9 h 51"/>
                <a:gd name="T66" fmla="*/ 3 w 682"/>
                <a:gd name="T67" fmla="*/ 3 h 51"/>
                <a:gd name="T68" fmla="*/ 2 w 68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2" h="51">
                  <a:moveTo>
                    <a:pt x="682" y="24"/>
                  </a:moveTo>
                  <a:lnTo>
                    <a:pt x="682" y="21"/>
                  </a:lnTo>
                  <a:lnTo>
                    <a:pt x="682" y="18"/>
                  </a:lnTo>
                  <a:lnTo>
                    <a:pt x="682" y="14"/>
                  </a:lnTo>
                  <a:lnTo>
                    <a:pt x="682" y="11"/>
                  </a:lnTo>
                  <a:lnTo>
                    <a:pt x="682" y="9"/>
                  </a:lnTo>
                  <a:lnTo>
                    <a:pt x="682" y="6"/>
                  </a:lnTo>
                  <a:lnTo>
                    <a:pt x="682" y="3"/>
                  </a:lnTo>
                  <a:lnTo>
                    <a:pt x="682" y="0"/>
                  </a:lnTo>
                  <a:lnTo>
                    <a:pt x="679" y="0"/>
                  </a:lnTo>
                  <a:lnTo>
                    <a:pt x="679" y="3"/>
                  </a:lnTo>
                  <a:lnTo>
                    <a:pt x="679" y="6"/>
                  </a:lnTo>
                  <a:lnTo>
                    <a:pt x="679" y="9"/>
                  </a:lnTo>
                  <a:lnTo>
                    <a:pt x="679" y="11"/>
                  </a:lnTo>
                  <a:lnTo>
                    <a:pt x="679" y="14"/>
                  </a:lnTo>
                  <a:lnTo>
                    <a:pt x="679" y="18"/>
                  </a:lnTo>
                  <a:lnTo>
                    <a:pt x="679" y="21"/>
                  </a:lnTo>
                  <a:lnTo>
                    <a:pt x="679" y="24"/>
                  </a:lnTo>
                  <a:lnTo>
                    <a:pt x="679" y="28"/>
                  </a:lnTo>
                  <a:lnTo>
                    <a:pt x="679" y="31"/>
                  </a:lnTo>
                  <a:lnTo>
                    <a:pt x="679" y="34"/>
                  </a:lnTo>
                  <a:lnTo>
                    <a:pt x="679" y="38"/>
                  </a:lnTo>
                  <a:lnTo>
                    <a:pt x="679" y="41"/>
                  </a:lnTo>
                  <a:lnTo>
                    <a:pt x="679" y="44"/>
                  </a:lnTo>
                  <a:lnTo>
                    <a:pt x="679" y="48"/>
                  </a:lnTo>
                  <a:lnTo>
                    <a:pt x="679" y="51"/>
                  </a:lnTo>
                  <a:lnTo>
                    <a:pt x="682" y="51"/>
                  </a:lnTo>
                  <a:lnTo>
                    <a:pt x="682" y="48"/>
                  </a:lnTo>
                  <a:lnTo>
                    <a:pt x="682" y="44"/>
                  </a:lnTo>
                  <a:lnTo>
                    <a:pt x="682" y="41"/>
                  </a:lnTo>
                  <a:lnTo>
                    <a:pt x="682" y="38"/>
                  </a:lnTo>
                  <a:lnTo>
                    <a:pt x="682" y="34"/>
                  </a:lnTo>
                  <a:lnTo>
                    <a:pt x="682" y="31"/>
                  </a:lnTo>
                  <a:lnTo>
                    <a:pt x="682" y="28"/>
                  </a:lnTo>
                  <a:lnTo>
                    <a:pt x="68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69" name="Freeform 310">
              <a:extLst>
                <a:ext uri="{FF2B5EF4-FFF2-40B4-BE49-F238E27FC236}">
                  <a16:creationId xmlns:a16="http://schemas.microsoft.com/office/drawing/2014/main" id="{362E6B7B-4235-14E0-5982-237EC64268E0}"/>
                </a:ext>
              </a:extLst>
            </p:cNvPr>
            <p:cNvSpPr>
              <a:spLocks noEditPoints="1"/>
            </p:cNvSpPr>
            <p:nvPr/>
          </p:nvSpPr>
          <p:spPr bwMode="auto">
            <a:xfrm>
              <a:off x="1272" y="1713"/>
              <a:ext cx="679" cy="51"/>
            </a:xfrm>
            <a:custGeom>
              <a:avLst/>
              <a:gdLst>
                <a:gd name="T0" fmla="*/ 679 w 679"/>
                <a:gd name="T1" fmla="*/ 21 h 51"/>
                <a:gd name="T2" fmla="*/ 679 w 679"/>
                <a:gd name="T3" fmla="*/ 14 h 51"/>
                <a:gd name="T4" fmla="*/ 679 w 679"/>
                <a:gd name="T5" fmla="*/ 9 h 51"/>
                <a:gd name="T6" fmla="*/ 679 w 679"/>
                <a:gd name="T7" fmla="*/ 3 h 51"/>
                <a:gd name="T8" fmla="*/ 675 w 679"/>
                <a:gd name="T9" fmla="*/ 0 h 51"/>
                <a:gd name="T10" fmla="*/ 675 w 679"/>
                <a:gd name="T11" fmla="*/ 6 h 51"/>
                <a:gd name="T12" fmla="*/ 675 w 679"/>
                <a:gd name="T13" fmla="*/ 11 h 51"/>
                <a:gd name="T14" fmla="*/ 675 w 679"/>
                <a:gd name="T15" fmla="*/ 18 h 51"/>
                <a:gd name="T16" fmla="*/ 675 w 679"/>
                <a:gd name="T17" fmla="*/ 24 h 51"/>
                <a:gd name="T18" fmla="*/ 675 w 679"/>
                <a:gd name="T19" fmla="*/ 31 h 51"/>
                <a:gd name="T20" fmla="*/ 675 w 679"/>
                <a:gd name="T21" fmla="*/ 38 h 51"/>
                <a:gd name="T22" fmla="*/ 675 w 679"/>
                <a:gd name="T23" fmla="*/ 44 h 51"/>
                <a:gd name="T24" fmla="*/ 675 w 679"/>
                <a:gd name="T25" fmla="*/ 51 h 51"/>
                <a:gd name="T26" fmla="*/ 679 w 679"/>
                <a:gd name="T27" fmla="*/ 48 h 51"/>
                <a:gd name="T28" fmla="*/ 679 w 679"/>
                <a:gd name="T29" fmla="*/ 41 h 51"/>
                <a:gd name="T30" fmla="*/ 679 w 679"/>
                <a:gd name="T31" fmla="*/ 34 h 51"/>
                <a:gd name="T32" fmla="*/ 679 w 679"/>
                <a:gd name="T33" fmla="*/ 28 h 51"/>
                <a:gd name="T34" fmla="*/ 1 w 679"/>
                <a:gd name="T35" fmla="*/ 0 h 51"/>
                <a:gd name="T36" fmla="*/ 0 w 679"/>
                <a:gd name="T37" fmla="*/ 6 h 51"/>
                <a:gd name="T38" fmla="*/ 0 w 679"/>
                <a:gd name="T39" fmla="*/ 11 h 51"/>
                <a:gd name="T40" fmla="*/ 0 w 679"/>
                <a:gd name="T41" fmla="*/ 18 h 51"/>
                <a:gd name="T42" fmla="*/ 0 w 679"/>
                <a:gd name="T43" fmla="*/ 24 h 51"/>
                <a:gd name="T44" fmla="*/ 0 w 679"/>
                <a:gd name="T45" fmla="*/ 31 h 51"/>
                <a:gd name="T46" fmla="*/ 0 w 679"/>
                <a:gd name="T47" fmla="*/ 38 h 51"/>
                <a:gd name="T48" fmla="*/ 0 w 679"/>
                <a:gd name="T49" fmla="*/ 44 h 51"/>
                <a:gd name="T50" fmla="*/ 0 w 679"/>
                <a:gd name="T51" fmla="*/ 51 h 51"/>
                <a:gd name="T52" fmla="*/ 3 w 679"/>
                <a:gd name="T53" fmla="*/ 48 h 51"/>
                <a:gd name="T54" fmla="*/ 3 w 679"/>
                <a:gd name="T55" fmla="*/ 41 h 51"/>
                <a:gd name="T56" fmla="*/ 3 w 679"/>
                <a:gd name="T57" fmla="*/ 34 h 51"/>
                <a:gd name="T58" fmla="*/ 3 w 679"/>
                <a:gd name="T59" fmla="*/ 28 h 51"/>
                <a:gd name="T60" fmla="*/ 3 w 679"/>
                <a:gd name="T61" fmla="*/ 21 h 51"/>
                <a:gd name="T62" fmla="*/ 3 w 679"/>
                <a:gd name="T63" fmla="*/ 14 h 51"/>
                <a:gd name="T64" fmla="*/ 3 w 679"/>
                <a:gd name="T65" fmla="*/ 9 h 51"/>
                <a:gd name="T66" fmla="*/ 3 w 679"/>
                <a:gd name="T67" fmla="*/ 3 h 51"/>
                <a:gd name="T68" fmla="*/ 1 w 67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9" h="51">
                  <a:moveTo>
                    <a:pt x="679" y="24"/>
                  </a:moveTo>
                  <a:lnTo>
                    <a:pt x="679" y="21"/>
                  </a:lnTo>
                  <a:lnTo>
                    <a:pt x="679" y="18"/>
                  </a:lnTo>
                  <a:lnTo>
                    <a:pt x="679" y="14"/>
                  </a:lnTo>
                  <a:lnTo>
                    <a:pt x="679" y="11"/>
                  </a:lnTo>
                  <a:lnTo>
                    <a:pt x="679" y="9"/>
                  </a:lnTo>
                  <a:lnTo>
                    <a:pt x="679" y="6"/>
                  </a:lnTo>
                  <a:lnTo>
                    <a:pt x="679" y="3"/>
                  </a:lnTo>
                  <a:lnTo>
                    <a:pt x="679" y="0"/>
                  </a:lnTo>
                  <a:lnTo>
                    <a:pt x="675" y="0"/>
                  </a:lnTo>
                  <a:lnTo>
                    <a:pt x="675" y="3"/>
                  </a:lnTo>
                  <a:lnTo>
                    <a:pt x="675" y="6"/>
                  </a:lnTo>
                  <a:lnTo>
                    <a:pt x="675" y="9"/>
                  </a:lnTo>
                  <a:lnTo>
                    <a:pt x="675" y="11"/>
                  </a:lnTo>
                  <a:lnTo>
                    <a:pt x="675" y="14"/>
                  </a:lnTo>
                  <a:lnTo>
                    <a:pt x="675" y="18"/>
                  </a:lnTo>
                  <a:lnTo>
                    <a:pt x="675" y="21"/>
                  </a:lnTo>
                  <a:lnTo>
                    <a:pt x="675" y="24"/>
                  </a:lnTo>
                  <a:lnTo>
                    <a:pt x="675" y="28"/>
                  </a:lnTo>
                  <a:lnTo>
                    <a:pt x="675" y="31"/>
                  </a:lnTo>
                  <a:lnTo>
                    <a:pt x="675" y="34"/>
                  </a:lnTo>
                  <a:lnTo>
                    <a:pt x="675" y="38"/>
                  </a:lnTo>
                  <a:lnTo>
                    <a:pt x="675" y="41"/>
                  </a:lnTo>
                  <a:lnTo>
                    <a:pt x="675" y="44"/>
                  </a:lnTo>
                  <a:lnTo>
                    <a:pt x="675" y="48"/>
                  </a:lnTo>
                  <a:lnTo>
                    <a:pt x="675" y="51"/>
                  </a:lnTo>
                  <a:lnTo>
                    <a:pt x="679" y="51"/>
                  </a:lnTo>
                  <a:lnTo>
                    <a:pt x="679" y="48"/>
                  </a:lnTo>
                  <a:lnTo>
                    <a:pt x="679" y="44"/>
                  </a:lnTo>
                  <a:lnTo>
                    <a:pt x="679" y="41"/>
                  </a:lnTo>
                  <a:lnTo>
                    <a:pt x="679" y="38"/>
                  </a:lnTo>
                  <a:lnTo>
                    <a:pt x="679" y="34"/>
                  </a:lnTo>
                  <a:lnTo>
                    <a:pt x="679" y="31"/>
                  </a:lnTo>
                  <a:lnTo>
                    <a:pt x="679" y="28"/>
                  </a:lnTo>
                  <a:lnTo>
                    <a:pt x="67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70" name="Freeform 311">
              <a:extLst>
                <a:ext uri="{FF2B5EF4-FFF2-40B4-BE49-F238E27FC236}">
                  <a16:creationId xmlns:a16="http://schemas.microsoft.com/office/drawing/2014/main" id="{5B304698-48C4-9FB0-9B32-A176733F48BC}"/>
                </a:ext>
              </a:extLst>
            </p:cNvPr>
            <p:cNvSpPr>
              <a:spLocks noEditPoints="1"/>
            </p:cNvSpPr>
            <p:nvPr/>
          </p:nvSpPr>
          <p:spPr bwMode="auto">
            <a:xfrm>
              <a:off x="1273" y="1713"/>
              <a:ext cx="676" cy="51"/>
            </a:xfrm>
            <a:custGeom>
              <a:avLst/>
              <a:gdLst>
                <a:gd name="T0" fmla="*/ 676 w 676"/>
                <a:gd name="T1" fmla="*/ 21 h 51"/>
                <a:gd name="T2" fmla="*/ 676 w 676"/>
                <a:gd name="T3" fmla="*/ 14 h 51"/>
                <a:gd name="T4" fmla="*/ 676 w 676"/>
                <a:gd name="T5" fmla="*/ 9 h 51"/>
                <a:gd name="T6" fmla="*/ 676 w 676"/>
                <a:gd name="T7" fmla="*/ 3 h 51"/>
                <a:gd name="T8" fmla="*/ 673 w 676"/>
                <a:gd name="T9" fmla="*/ 0 h 51"/>
                <a:gd name="T10" fmla="*/ 673 w 676"/>
                <a:gd name="T11" fmla="*/ 6 h 51"/>
                <a:gd name="T12" fmla="*/ 673 w 676"/>
                <a:gd name="T13" fmla="*/ 11 h 51"/>
                <a:gd name="T14" fmla="*/ 673 w 676"/>
                <a:gd name="T15" fmla="*/ 18 h 51"/>
                <a:gd name="T16" fmla="*/ 673 w 676"/>
                <a:gd name="T17" fmla="*/ 24 h 51"/>
                <a:gd name="T18" fmla="*/ 673 w 676"/>
                <a:gd name="T19" fmla="*/ 31 h 51"/>
                <a:gd name="T20" fmla="*/ 673 w 676"/>
                <a:gd name="T21" fmla="*/ 38 h 51"/>
                <a:gd name="T22" fmla="*/ 673 w 676"/>
                <a:gd name="T23" fmla="*/ 44 h 51"/>
                <a:gd name="T24" fmla="*/ 673 w 676"/>
                <a:gd name="T25" fmla="*/ 51 h 51"/>
                <a:gd name="T26" fmla="*/ 676 w 676"/>
                <a:gd name="T27" fmla="*/ 48 h 51"/>
                <a:gd name="T28" fmla="*/ 676 w 676"/>
                <a:gd name="T29" fmla="*/ 41 h 51"/>
                <a:gd name="T30" fmla="*/ 676 w 676"/>
                <a:gd name="T31" fmla="*/ 34 h 51"/>
                <a:gd name="T32" fmla="*/ 676 w 676"/>
                <a:gd name="T33" fmla="*/ 28 h 51"/>
                <a:gd name="T34" fmla="*/ 2 w 676"/>
                <a:gd name="T35" fmla="*/ 0 h 51"/>
                <a:gd name="T36" fmla="*/ 0 w 676"/>
                <a:gd name="T37" fmla="*/ 6 h 51"/>
                <a:gd name="T38" fmla="*/ 0 w 676"/>
                <a:gd name="T39" fmla="*/ 11 h 51"/>
                <a:gd name="T40" fmla="*/ 0 w 676"/>
                <a:gd name="T41" fmla="*/ 18 h 51"/>
                <a:gd name="T42" fmla="*/ 0 w 676"/>
                <a:gd name="T43" fmla="*/ 24 h 51"/>
                <a:gd name="T44" fmla="*/ 0 w 676"/>
                <a:gd name="T45" fmla="*/ 31 h 51"/>
                <a:gd name="T46" fmla="*/ 0 w 676"/>
                <a:gd name="T47" fmla="*/ 38 h 51"/>
                <a:gd name="T48" fmla="*/ 0 w 676"/>
                <a:gd name="T49" fmla="*/ 44 h 51"/>
                <a:gd name="T50" fmla="*/ 0 w 676"/>
                <a:gd name="T51" fmla="*/ 51 h 51"/>
                <a:gd name="T52" fmla="*/ 4 w 676"/>
                <a:gd name="T53" fmla="*/ 48 h 51"/>
                <a:gd name="T54" fmla="*/ 4 w 676"/>
                <a:gd name="T55" fmla="*/ 41 h 51"/>
                <a:gd name="T56" fmla="*/ 4 w 676"/>
                <a:gd name="T57" fmla="*/ 34 h 51"/>
                <a:gd name="T58" fmla="*/ 4 w 676"/>
                <a:gd name="T59" fmla="*/ 28 h 51"/>
                <a:gd name="T60" fmla="*/ 4 w 676"/>
                <a:gd name="T61" fmla="*/ 21 h 51"/>
                <a:gd name="T62" fmla="*/ 4 w 676"/>
                <a:gd name="T63" fmla="*/ 14 h 51"/>
                <a:gd name="T64" fmla="*/ 4 w 676"/>
                <a:gd name="T65" fmla="*/ 9 h 51"/>
                <a:gd name="T66" fmla="*/ 4 w 676"/>
                <a:gd name="T67" fmla="*/ 3 h 51"/>
                <a:gd name="T68" fmla="*/ 2 w 6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6" h="51">
                  <a:moveTo>
                    <a:pt x="676" y="24"/>
                  </a:moveTo>
                  <a:lnTo>
                    <a:pt x="676" y="21"/>
                  </a:lnTo>
                  <a:lnTo>
                    <a:pt x="676" y="18"/>
                  </a:lnTo>
                  <a:lnTo>
                    <a:pt x="676" y="14"/>
                  </a:lnTo>
                  <a:lnTo>
                    <a:pt x="676" y="11"/>
                  </a:lnTo>
                  <a:lnTo>
                    <a:pt x="676" y="9"/>
                  </a:lnTo>
                  <a:lnTo>
                    <a:pt x="676" y="6"/>
                  </a:lnTo>
                  <a:lnTo>
                    <a:pt x="676" y="3"/>
                  </a:lnTo>
                  <a:lnTo>
                    <a:pt x="676" y="0"/>
                  </a:lnTo>
                  <a:lnTo>
                    <a:pt x="673" y="0"/>
                  </a:lnTo>
                  <a:lnTo>
                    <a:pt x="673" y="3"/>
                  </a:lnTo>
                  <a:lnTo>
                    <a:pt x="673" y="6"/>
                  </a:lnTo>
                  <a:lnTo>
                    <a:pt x="673" y="9"/>
                  </a:lnTo>
                  <a:lnTo>
                    <a:pt x="673" y="11"/>
                  </a:lnTo>
                  <a:lnTo>
                    <a:pt x="673" y="14"/>
                  </a:lnTo>
                  <a:lnTo>
                    <a:pt x="673" y="18"/>
                  </a:lnTo>
                  <a:lnTo>
                    <a:pt x="673" y="21"/>
                  </a:lnTo>
                  <a:lnTo>
                    <a:pt x="673" y="24"/>
                  </a:lnTo>
                  <a:lnTo>
                    <a:pt x="673" y="28"/>
                  </a:lnTo>
                  <a:lnTo>
                    <a:pt x="673" y="31"/>
                  </a:lnTo>
                  <a:lnTo>
                    <a:pt x="673" y="34"/>
                  </a:lnTo>
                  <a:lnTo>
                    <a:pt x="673" y="38"/>
                  </a:lnTo>
                  <a:lnTo>
                    <a:pt x="673" y="41"/>
                  </a:lnTo>
                  <a:lnTo>
                    <a:pt x="673" y="44"/>
                  </a:lnTo>
                  <a:lnTo>
                    <a:pt x="673" y="48"/>
                  </a:lnTo>
                  <a:lnTo>
                    <a:pt x="673" y="51"/>
                  </a:lnTo>
                  <a:lnTo>
                    <a:pt x="676" y="51"/>
                  </a:lnTo>
                  <a:lnTo>
                    <a:pt x="676" y="48"/>
                  </a:lnTo>
                  <a:lnTo>
                    <a:pt x="676" y="44"/>
                  </a:lnTo>
                  <a:lnTo>
                    <a:pt x="676" y="41"/>
                  </a:lnTo>
                  <a:lnTo>
                    <a:pt x="676" y="38"/>
                  </a:lnTo>
                  <a:lnTo>
                    <a:pt x="676" y="34"/>
                  </a:lnTo>
                  <a:lnTo>
                    <a:pt x="676" y="31"/>
                  </a:lnTo>
                  <a:lnTo>
                    <a:pt x="676" y="28"/>
                  </a:lnTo>
                  <a:lnTo>
                    <a:pt x="67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71" name="Freeform 312">
              <a:extLst>
                <a:ext uri="{FF2B5EF4-FFF2-40B4-BE49-F238E27FC236}">
                  <a16:creationId xmlns:a16="http://schemas.microsoft.com/office/drawing/2014/main" id="{BC5ADCA4-DBD5-A646-74B0-F9A5BD4F0BF3}"/>
                </a:ext>
              </a:extLst>
            </p:cNvPr>
            <p:cNvSpPr>
              <a:spLocks noEditPoints="1"/>
            </p:cNvSpPr>
            <p:nvPr/>
          </p:nvSpPr>
          <p:spPr bwMode="auto">
            <a:xfrm>
              <a:off x="1275" y="1713"/>
              <a:ext cx="672" cy="51"/>
            </a:xfrm>
            <a:custGeom>
              <a:avLst/>
              <a:gdLst>
                <a:gd name="T0" fmla="*/ 672 w 672"/>
                <a:gd name="T1" fmla="*/ 21 h 51"/>
                <a:gd name="T2" fmla="*/ 672 w 672"/>
                <a:gd name="T3" fmla="*/ 14 h 51"/>
                <a:gd name="T4" fmla="*/ 672 w 672"/>
                <a:gd name="T5" fmla="*/ 9 h 51"/>
                <a:gd name="T6" fmla="*/ 672 w 672"/>
                <a:gd name="T7" fmla="*/ 3 h 51"/>
                <a:gd name="T8" fmla="*/ 669 w 672"/>
                <a:gd name="T9" fmla="*/ 0 h 51"/>
                <a:gd name="T10" fmla="*/ 669 w 672"/>
                <a:gd name="T11" fmla="*/ 6 h 51"/>
                <a:gd name="T12" fmla="*/ 669 w 672"/>
                <a:gd name="T13" fmla="*/ 11 h 51"/>
                <a:gd name="T14" fmla="*/ 669 w 672"/>
                <a:gd name="T15" fmla="*/ 18 h 51"/>
                <a:gd name="T16" fmla="*/ 669 w 672"/>
                <a:gd name="T17" fmla="*/ 24 h 51"/>
                <a:gd name="T18" fmla="*/ 669 w 672"/>
                <a:gd name="T19" fmla="*/ 31 h 51"/>
                <a:gd name="T20" fmla="*/ 669 w 672"/>
                <a:gd name="T21" fmla="*/ 38 h 51"/>
                <a:gd name="T22" fmla="*/ 669 w 672"/>
                <a:gd name="T23" fmla="*/ 44 h 51"/>
                <a:gd name="T24" fmla="*/ 669 w 672"/>
                <a:gd name="T25" fmla="*/ 51 h 51"/>
                <a:gd name="T26" fmla="*/ 672 w 672"/>
                <a:gd name="T27" fmla="*/ 48 h 51"/>
                <a:gd name="T28" fmla="*/ 672 w 672"/>
                <a:gd name="T29" fmla="*/ 41 h 51"/>
                <a:gd name="T30" fmla="*/ 672 w 672"/>
                <a:gd name="T31" fmla="*/ 34 h 51"/>
                <a:gd name="T32" fmla="*/ 672 w 672"/>
                <a:gd name="T33" fmla="*/ 28 h 51"/>
                <a:gd name="T34" fmla="*/ 2 w 672"/>
                <a:gd name="T35" fmla="*/ 0 h 51"/>
                <a:gd name="T36" fmla="*/ 0 w 672"/>
                <a:gd name="T37" fmla="*/ 6 h 51"/>
                <a:gd name="T38" fmla="*/ 0 w 672"/>
                <a:gd name="T39" fmla="*/ 11 h 51"/>
                <a:gd name="T40" fmla="*/ 0 w 672"/>
                <a:gd name="T41" fmla="*/ 18 h 51"/>
                <a:gd name="T42" fmla="*/ 0 w 672"/>
                <a:gd name="T43" fmla="*/ 24 h 51"/>
                <a:gd name="T44" fmla="*/ 0 w 672"/>
                <a:gd name="T45" fmla="*/ 31 h 51"/>
                <a:gd name="T46" fmla="*/ 0 w 672"/>
                <a:gd name="T47" fmla="*/ 38 h 51"/>
                <a:gd name="T48" fmla="*/ 0 w 672"/>
                <a:gd name="T49" fmla="*/ 44 h 51"/>
                <a:gd name="T50" fmla="*/ 0 w 672"/>
                <a:gd name="T51" fmla="*/ 51 h 51"/>
                <a:gd name="T52" fmla="*/ 3 w 672"/>
                <a:gd name="T53" fmla="*/ 48 h 51"/>
                <a:gd name="T54" fmla="*/ 3 w 672"/>
                <a:gd name="T55" fmla="*/ 41 h 51"/>
                <a:gd name="T56" fmla="*/ 3 w 672"/>
                <a:gd name="T57" fmla="*/ 34 h 51"/>
                <a:gd name="T58" fmla="*/ 3 w 672"/>
                <a:gd name="T59" fmla="*/ 28 h 51"/>
                <a:gd name="T60" fmla="*/ 3 w 672"/>
                <a:gd name="T61" fmla="*/ 21 h 51"/>
                <a:gd name="T62" fmla="*/ 3 w 672"/>
                <a:gd name="T63" fmla="*/ 14 h 51"/>
                <a:gd name="T64" fmla="*/ 3 w 672"/>
                <a:gd name="T65" fmla="*/ 9 h 51"/>
                <a:gd name="T66" fmla="*/ 3 w 672"/>
                <a:gd name="T67" fmla="*/ 3 h 51"/>
                <a:gd name="T68" fmla="*/ 2 w 6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2" h="51">
                  <a:moveTo>
                    <a:pt x="672" y="24"/>
                  </a:moveTo>
                  <a:lnTo>
                    <a:pt x="672" y="21"/>
                  </a:lnTo>
                  <a:lnTo>
                    <a:pt x="672" y="18"/>
                  </a:lnTo>
                  <a:lnTo>
                    <a:pt x="672" y="14"/>
                  </a:lnTo>
                  <a:lnTo>
                    <a:pt x="672" y="11"/>
                  </a:lnTo>
                  <a:lnTo>
                    <a:pt x="672" y="9"/>
                  </a:lnTo>
                  <a:lnTo>
                    <a:pt x="672" y="6"/>
                  </a:lnTo>
                  <a:lnTo>
                    <a:pt x="672" y="3"/>
                  </a:lnTo>
                  <a:lnTo>
                    <a:pt x="672" y="0"/>
                  </a:lnTo>
                  <a:lnTo>
                    <a:pt x="669" y="0"/>
                  </a:lnTo>
                  <a:lnTo>
                    <a:pt x="669" y="3"/>
                  </a:lnTo>
                  <a:lnTo>
                    <a:pt x="669" y="6"/>
                  </a:lnTo>
                  <a:lnTo>
                    <a:pt x="669" y="9"/>
                  </a:lnTo>
                  <a:lnTo>
                    <a:pt x="669" y="11"/>
                  </a:lnTo>
                  <a:lnTo>
                    <a:pt x="669" y="14"/>
                  </a:lnTo>
                  <a:lnTo>
                    <a:pt x="669" y="18"/>
                  </a:lnTo>
                  <a:lnTo>
                    <a:pt x="669" y="21"/>
                  </a:lnTo>
                  <a:lnTo>
                    <a:pt x="669" y="24"/>
                  </a:lnTo>
                  <a:lnTo>
                    <a:pt x="669" y="28"/>
                  </a:lnTo>
                  <a:lnTo>
                    <a:pt x="669" y="31"/>
                  </a:lnTo>
                  <a:lnTo>
                    <a:pt x="669" y="34"/>
                  </a:lnTo>
                  <a:lnTo>
                    <a:pt x="669" y="38"/>
                  </a:lnTo>
                  <a:lnTo>
                    <a:pt x="669" y="41"/>
                  </a:lnTo>
                  <a:lnTo>
                    <a:pt x="669" y="44"/>
                  </a:lnTo>
                  <a:lnTo>
                    <a:pt x="669" y="48"/>
                  </a:lnTo>
                  <a:lnTo>
                    <a:pt x="669" y="51"/>
                  </a:lnTo>
                  <a:lnTo>
                    <a:pt x="672" y="51"/>
                  </a:lnTo>
                  <a:lnTo>
                    <a:pt x="672" y="48"/>
                  </a:lnTo>
                  <a:lnTo>
                    <a:pt x="672" y="44"/>
                  </a:lnTo>
                  <a:lnTo>
                    <a:pt x="672" y="41"/>
                  </a:lnTo>
                  <a:lnTo>
                    <a:pt x="672" y="38"/>
                  </a:lnTo>
                  <a:lnTo>
                    <a:pt x="672" y="34"/>
                  </a:lnTo>
                  <a:lnTo>
                    <a:pt x="672" y="31"/>
                  </a:lnTo>
                  <a:lnTo>
                    <a:pt x="672" y="28"/>
                  </a:lnTo>
                  <a:lnTo>
                    <a:pt x="67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72" name="Freeform 313">
              <a:extLst>
                <a:ext uri="{FF2B5EF4-FFF2-40B4-BE49-F238E27FC236}">
                  <a16:creationId xmlns:a16="http://schemas.microsoft.com/office/drawing/2014/main" id="{613C39CC-1DC6-CCBC-A767-30CD2FD5063B}"/>
                </a:ext>
              </a:extLst>
            </p:cNvPr>
            <p:cNvSpPr>
              <a:spLocks noEditPoints="1"/>
            </p:cNvSpPr>
            <p:nvPr/>
          </p:nvSpPr>
          <p:spPr bwMode="auto">
            <a:xfrm>
              <a:off x="1277" y="1713"/>
              <a:ext cx="669" cy="51"/>
            </a:xfrm>
            <a:custGeom>
              <a:avLst/>
              <a:gdLst>
                <a:gd name="T0" fmla="*/ 669 w 669"/>
                <a:gd name="T1" fmla="*/ 21 h 51"/>
                <a:gd name="T2" fmla="*/ 669 w 669"/>
                <a:gd name="T3" fmla="*/ 14 h 51"/>
                <a:gd name="T4" fmla="*/ 669 w 669"/>
                <a:gd name="T5" fmla="*/ 9 h 51"/>
                <a:gd name="T6" fmla="*/ 669 w 669"/>
                <a:gd name="T7" fmla="*/ 3 h 51"/>
                <a:gd name="T8" fmla="*/ 665 w 669"/>
                <a:gd name="T9" fmla="*/ 0 h 51"/>
                <a:gd name="T10" fmla="*/ 665 w 669"/>
                <a:gd name="T11" fmla="*/ 6 h 51"/>
                <a:gd name="T12" fmla="*/ 665 w 669"/>
                <a:gd name="T13" fmla="*/ 11 h 51"/>
                <a:gd name="T14" fmla="*/ 665 w 669"/>
                <a:gd name="T15" fmla="*/ 18 h 51"/>
                <a:gd name="T16" fmla="*/ 665 w 669"/>
                <a:gd name="T17" fmla="*/ 24 h 51"/>
                <a:gd name="T18" fmla="*/ 665 w 669"/>
                <a:gd name="T19" fmla="*/ 31 h 51"/>
                <a:gd name="T20" fmla="*/ 665 w 669"/>
                <a:gd name="T21" fmla="*/ 38 h 51"/>
                <a:gd name="T22" fmla="*/ 665 w 669"/>
                <a:gd name="T23" fmla="*/ 44 h 51"/>
                <a:gd name="T24" fmla="*/ 665 w 669"/>
                <a:gd name="T25" fmla="*/ 51 h 51"/>
                <a:gd name="T26" fmla="*/ 669 w 669"/>
                <a:gd name="T27" fmla="*/ 48 h 51"/>
                <a:gd name="T28" fmla="*/ 669 w 669"/>
                <a:gd name="T29" fmla="*/ 41 h 51"/>
                <a:gd name="T30" fmla="*/ 669 w 669"/>
                <a:gd name="T31" fmla="*/ 34 h 51"/>
                <a:gd name="T32" fmla="*/ 669 w 669"/>
                <a:gd name="T33" fmla="*/ 28 h 51"/>
                <a:gd name="T34" fmla="*/ 1 w 669"/>
                <a:gd name="T35" fmla="*/ 0 h 51"/>
                <a:gd name="T36" fmla="*/ 0 w 669"/>
                <a:gd name="T37" fmla="*/ 6 h 51"/>
                <a:gd name="T38" fmla="*/ 0 w 669"/>
                <a:gd name="T39" fmla="*/ 11 h 51"/>
                <a:gd name="T40" fmla="*/ 0 w 669"/>
                <a:gd name="T41" fmla="*/ 18 h 51"/>
                <a:gd name="T42" fmla="*/ 0 w 669"/>
                <a:gd name="T43" fmla="*/ 24 h 51"/>
                <a:gd name="T44" fmla="*/ 0 w 669"/>
                <a:gd name="T45" fmla="*/ 31 h 51"/>
                <a:gd name="T46" fmla="*/ 0 w 669"/>
                <a:gd name="T47" fmla="*/ 38 h 51"/>
                <a:gd name="T48" fmla="*/ 0 w 669"/>
                <a:gd name="T49" fmla="*/ 44 h 51"/>
                <a:gd name="T50" fmla="*/ 0 w 669"/>
                <a:gd name="T51" fmla="*/ 51 h 51"/>
                <a:gd name="T52" fmla="*/ 3 w 669"/>
                <a:gd name="T53" fmla="*/ 48 h 51"/>
                <a:gd name="T54" fmla="*/ 3 w 669"/>
                <a:gd name="T55" fmla="*/ 41 h 51"/>
                <a:gd name="T56" fmla="*/ 3 w 669"/>
                <a:gd name="T57" fmla="*/ 34 h 51"/>
                <a:gd name="T58" fmla="*/ 3 w 669"/>
                <a:gd name="T59" fmla="*/ 28 h 51"/>
                <a:gd name="T60" fmla="*/ 3 w 669"/>
                <a:gd name="T61" fmla="*/ 21 h 51"/>
                <a:gd name="T62" fmla="*/ 3 w 669"/>
                <a:gd name="T63" fmla="*/ 14 h 51"/>
                <a:gd name="T64" fmla="*/ 3 w 669"/>
                <a:gd name="T65" fmla="*/ 9 h 51"/>
                <a:gd name="T66" fmla="*/ 3 w 669"/>
                <a:gd name="T67" fmla="*/ 3 h 51"/>
                <a:gd name="T68" fmla="*/ 1 w 66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9" h="51">
                  <a:moveTo>
                    <a:pt x="669" y="24"/>
                  </a:moveTo>
                  <a:lnTo>
                    <a:pt x="669" y="21"/>
                  </a:lnTo>
                  <a:lnTo>
                    <a:pt x="669" y="18"/>
                  </a:lnTo>
                  <a:lnTo>
                    <a:pt x="669" y="14"/>
                  </a:lnTo>
                  <a:lnTo>
                    <a:pt x="669" y="11"/>
                  </a:lnTo>
                  <a:lnTo>
                    <a:pt x="669" y="9"/>
                  </a:lnTo>
                  <a:lnTo>
                    <a:pt x="669" y="6"/>
                  </a:lnTo>
                  <a:lnTo>
                    <a:pt x="669" y="3"/>
                  </a:lnTo>
                  <a:lnTo>
                    <a:pt x="669" y="0"/>
                  </a:lnTo>
                  <a:lnTo>
                    <a:pt x="665" y="0"/>
                  </a:lnTo>
                  <a:lnTo>
                    <a:pt x="665" y="3"/>
                  </a:lnTo>
                  <a:lnTo>
                    <a:pt x="665" y="6"/>
                  </a:lnTo>
                  <a:lnTo>
                    <a:pt x="665" y="9"/>
                  </a:lnTo>
                  <a:lnTo>
                    <a:pt x="665" y="11"/>
                  </a:lnTo>
                  <a:lnTo>
                    <a:pt x="665" y="14"/>
                  </a:lnTo>
                  <a:lnTo>
                    <a:pt x="665" y="18"/>
                  </a:lnTo>
                  <a:lnTo>
                    <a:pt x="665" y="21"/>
                  </a:lnTo>
                  <a:lnTo>
                    <a:pt x="665" y="24"/>
                  </a:lnTo>
                  <a:lnTo>
                    <a:pt x="665" y="28"/>
                  </a:lnTo>
                  <a:lnTo>
                    <a:pt x="665" y="31"/>
                  </a:lnTo>
                  <a:lnTo>
                    <a:pt x="665" y="34"/>
                  </a:lnTo>
                  <a:lnTo>
                    <a:pt x="665" y="38"/>
                  </a:lnTo>
                  <a:lnTo>
                    <a:pt x="665" y="41"/>
                  </a:lnTo>
                  <a:lnTo>
                    <a:pt x="665" y="44"/>
                  </a:lnTo>
                  <a:lnTo>
                    <a:pt x="665" y="48"/>
                  </a:lnTo>
                  <a:lnTo>
                    <a:pt x="665" y="51"/>
                  </a:lnTo>
                  <a:lnTo>
                    <a:pt x="669" y="51"/>
                  </a:lnTo>
                  <a:lnTo>
                    <a:pt x="669" y="48"/>
                  </a:lnTo>
                  <a:lnTo>
                    <a:pt x="669" y="44"/>
                  </a:lnTo>
                  <a:lnTo>
                    <a:pt x="669" y="41"/>
                  </a:lnTo>
                  <a:lnTo>
                    <a:pt x="669" y="38"/>
                  </a:lnTo>
                  <a:lnTo>
                    <a:pt x="669" y="34"/>
                  </a:lnTo>
                  <a:lnTo>
                    <a:pt x="669" y="31"/>
                  </a:lnTo>
                  <a:lnTo>
                    <a:pt x="669" y="28"/>
                  </a:lnTo>
                  <a:lnTo>
                    <a:pt x="66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73" name="Freeform 314">
              <a:extLst>
                <a:ext uri="{FF2B5EF4-FFF2-40B4-BE49-F238E27FC236}">
                  <a16:creationId xmlns:a16="http://schemas.microsoft.com/office/drawing/2014/main" id="{E384D10E-8B63-6361-3FFE-43ECC32A44B8}"/>
                </a:ext>
              </a:extLst>
            </p:cNvPr>
            <p:cNvSpPr>
              <a:spLocks noEditPoints="1"/>
            </p:cNvSpPr>
            <p:nvPr/>
          </p:nvSpPr>
          <p:spPr bwMode="auto">
            <a:xfrm>
              <a:off x="1278" y="1713"/>
              <a:ext cx="666" cy="51"/>
            </a:xfrm>
            <a:custGeom>
              <a:avLst/>
              <a:gdLst>
                <a:gd name="T0" fmla="*/ 666 w 666"/>
                <a:gd name="T1" fmla="*/ 21 h 51"/>
                <a:gd name="T2" fmla="*/ 666 w 666"/>
                <a:gd name="T3" fmla="*/ 14 h 51"/>
                <a:gd name="T4" fmla="*/ 666 w 666"/>
                <a:gd name="T5" fmla="*/ 9 h 51"/>
                <a:gd name="T6" fmla="*/ 666 w 666"/>
                <a:gd name="T7" fmla="*/ 3 h 51"/>
                <a:gd name="T8" fmla="*/ 663 w 666"/>
                <a:gd name="T9" fmla="*/ 0 h 51"/>
                <a:gd name="T10" fmla="*/ 663 w 666"/>
                <a:gd name="T11" fmla="*/ 6 h 51"/>
                <a:gd name="T12" fmla="*/ 663 w 666"/>
                <a:gd name="T13" fmla="*/ 11 h 51"/>
                <a:gd name="T14" fmla="*/ 663 w 666"/>
                <a:gd name="T15" fmla="*/ 18 h 51"/>
                <a:gd name="T16" fmla="*/ 663 w 666"/>
                <a:gd name="T17" fmla="*/ 24 h 51"/>
                <a:gd name="T18" fmla="*/ 663 w 666"/>
                <a:gd name="T19" fmla="*/ 31 h 51"/>
                <a:gd name="T20" fmla="*/ 663 w 666"/>
                <a:gd name="T21" fmla="*/ 38 h 51"/>
                <a:gd name="T22" fmla="*/ 663 w 666"/>
                <a:gd name="T23" fmla="*/ 44 h 51"/>
                <a:gd name="T24" fmla="*/ 663 w 666"/>
                <a:gd name="T25" fmla="*/ 51 h 51"/>
                <a:gd name="T26" fmla="*/ 666 w 666"/>
                <a:gd name="T27" fmla="*/ 48 h 51"/>
                <a:gd name="T28" fmla="*/ 666 w 666"/>
                <a:gd name="T29" fmla="*/ 41 h 51"/>
                <a:gd name="T30" fmla="*/ 666 w 666"/>
                <a:gd name="T31" fmla="*/ 34 h 51"/>
                <a:gd name="T32" fmla="*/ 666 w 666"/>
                <a:gd name="T33" fmla="*/ 28 h 51"/>
                <a:gd name="T34" fmla="*/ 2 w 666"/>
                <a:gd name="T35" fmla="*/ 0 h 51"/>
                <a:gd name="T36" fmla="*/ 0 w 666"/>
                <a:gd name="T37" fmla="*/ 6 h 51"/>
                <a:gd name="T38" fmla="*/ 0 w 666"/>
                <a:gd name="T39" fmla="*/ 11 h 51"/>
                <a:gd name="T40" fmla="*/ 0 w 666"/>
                <a:gd name="T41" fmla="*/ 18 h 51"/>
                <a:gd name="T42" fmla="*/ 0 w 666"/>
                <a:gd name="T43" fmla="*/ 24 h 51"/>
                <a:gd name="T44" fmla="*/ 0 w 666"/>
                <a:gd name="T45" fmla="*/ 31 h 51"/>
                <a:gd name="T46" fmla="*/ 0 w 666"/>
                <a:gd name="T47" fmla="*/ 38 h 51"/>
                <a:gd name="T48" fmla="*/ 0 w 666"/>
                <a:gd name="T49" fmla="*/ 44 h 51"/>
                <a:gd name="T50" fmla="*/ 0 w 666"/>
                <a:gd name="T51" fmla="*/ 51 h 51"/>
                <a:gd name="T52" fmla="*/ 4 w 666"/>
                <a:gd name="T53" fmla="*/ 48 h 51"/>
                <a:gd name="T54" fmla="*/ 4 w 666"/>
                <a:gd name="T55" fmla="*/ 41 h 51"/>
                <a:gd name="T56" fmla="*/ 4 w 666"/>
                <a:gd name="T57" fmla="*/ 34 h 51"/>
                <a:gd name="T58" fmla="*/ 4 w 666"/>
                <a:gd name="T59" fmla="*/ 28 h 51"/>
                <a:gd name="T60" fmla="*/ 4 w 666"/>
                <a:gd name="T61" fmla="*/ 21 h 51"/>
                <a:gd name="T62" fmla="*/ 4 w 666"/>
                <a:gd name="T63" fmla="*/ 14 h 51"/>
                <a:gd name="T64" fmla="*/ 4 w 666"/>
                <a:gd name="T65" fmla="*/ 9 h 51"/>
                <a:gd name="T66" fmla="*/ 4 w 666"/>
                <a:gd name="T67" fmla="*/ 3 h 51"/>
                <a:gd name="T68" fmla="*/ 2 w 6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6" h="51">
                  <a:moveTo>
                    <a:pt x="666" y="24"/>
                  </a:moveTo>
                  <a:lnTo>
                    <a:pt x="666" y="21"/>
                  </a:lnTo>
                  <a:lnTo>
                    <a:pt x="666" y="18"/>
                  </a:lnTo>
                  <a:lnTo>
                    <a:pt x="666" y="14"/>
                  </a:lnTo>
                  <a:lnTo>
                    <a:pt x="666" y="11"/>
                  </a:lnTo>
                  <a:lnTo>
                    <a:pt x="666" y="9"/>
                  </a:lnTo>
                  <a:lnTo>
                    <a:pt x="666" y="6"/>
                  </a:lnTo>
                  <a:lnTo>
                    <a:pt x="666" y="3"/>
                  </a:lnTo>
                  <a:lnTo>
                    <a:pt x="666" y="0"/>
                  </a:lnTo>
                  <a:lnTo>
                    <a:pt x="663" y="0"/>
                  </a:lnTo>
                  <a:lnTo>
                    <a:pt x="663" y="3"/>
                  </a:lnTo>
                  <a:lnTo>
                    <a:pt x="663" y="6"/>
                  </a:lnTo>
                  <a:lnTo>
                    <a:pt x="663" y="9"/>
                  </a:lnTo>
                  <a:lnTo>
                    <a:pt x="663" y="11"/>
                  </a:lnTo>
                  <a:lnTo>
                    <a:pt x="663" y="14"/>
                  </a:lnTo>
                  <a:lnTo>
                    <a:pt x="663" y="18"/>
                  </a:lnTo>
                  <a:lnTo>
                    <a:pt x="663" y="21"/>
                  </a:lnTo>
                  <a:lnTo>
                    <a:pt x="663" y="24"/>
                  </a:lnTo>
                  <a:lnTo>
                    <a:pt x="663" y="28"/>
                  </a:lnTo>
                  <a:lnTo>
                    <a:pt x="663" y="31"/>
                  </a:lnTo>
                  <a:lnTo>
                    <a:pt x="663" y="34"/>
                  </a:lnTo>
                  <a:lnTo>
                    <a:pt x="663" y="38"/>
                  </a:lnTo>
                  <a:lnTo>
                    <a:pt x="663" y="41"/>
                  </a:lnTo>
                  <a:lnTo>
                    <a:pt x="663" y="44"/>
                  </a:lnTo>
                  <a:lnTo>
                    <a:pt x="663" y="48"/>
                  </a:lnTo>
                  <a:lnTo>
                    <a:pt x="663" y="51"/>
                  </a:lnTo>
                  <a:lnTo>
                    <a:pt x="666" y="51"/>
                  </a:lnTo>
                  <a:lnTo>
                    <a:pt x="666" y="48"/>
                  </a:lnTo>
                  <a:lnTo>
                    <a:pt x="666" y="44"/>
                  </a:lnTo>
                  <a:lnTo>
                    <a:pt x="666" y="41"/>
                  </a:lnTo>
                  <a:lnTo>
                    <a:pt x="666" y="38"/>
                  </a:lnTo>
                  <a:lnTo>
                    <a:pt x="666" y="34"/>
                  </a:lnTo>
                  <a:lnTo>
                    <a:pt x="666" y="31"/>
                  </a:lnTo>
                  <a:lnTo>
                    <a:pt x="666" y="28"/>
                  </a:lnTo>
                  <a:lnTo>
                    <a:pt x="66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74" name="Freeform 315">
              <a:extLst>
                <a:ext uri="{FF2B5EF4-FFF2-40B4-BE49-F238E27FC236}">
                  <a16:creationId xmlns:a16="http://schemas.microsoft.com/office/drawing/2014/main" id="{4E1E7309-EEDE-708A-079F-6B05CE939EE0}"/>
                </a:ext>
              </a:extLst>
            </p:cNvPr>
            <p:cNvSpPr>
              <a:spLocks noEditPoints="1"/>
            </p:cNvSpPr>
            <p:nvPr/>
          </p:nvSpPr>
          <p:spPr bwMode="auto">
            <a:xfrm>
              <a:off x="1280" y="1713"/>
              <a:ext cx="662" cy="51"/>
            </a:xfrm>
            <a:custGeom>
              <a:avLst/>
              <a:gdLst>
                <a:gd name="T0" fmla="*/ 662 w 662"/>
                <a:gd name="T1" fmla="*/ 21 h 51"/>
                <a:gd name="T2" fmla="*/ 662 w 662"/>
                <a:gd name="T3" fmla="*/ 14 h 51"/>
                <a:gd name="T4" fmla="*/ 662 w 662"/>
                <a:gd name="T5" fmla="*/ 9 h 51"/>
                <a:gd name="T6" fmla="*/ 662 w 662"/>
                <a:gd name="T7" fmla="*/ 3 h 51"/>
                <a:gd name="T8" fmla="*/ 659 w 662"/>
                <a:gd name="T9" fmla="*/ 0 h 51"/>
                <a:gd name="T10" fmla="*/ 659 w 662"/>
                <a:gd name="T11" fmla="*/ 6 h 51"/>
                <a:gd name="T12" fmla="*/ 659 w 662"/>
                <a:gd name="T13" fmla="*/ 11 h 51"/>
                <a:gd name="T14" fmla="*/ 659 w 662"/>
                <a:gd name="T15" fmla="*/ 18 h 51"/>
                <a:gd name="T16" fmla="*/ 659 w 662"/>
                <a:gd name="T17" fmla="*/ 24 h 51"/>
                <a:gd name="T18" fmla="*/ 659 w 662"/>
                <a:gd name="T19" fmla="*/ 31 h 51"/>
                <a:gd name="T20" fmla="*/ 659 w 662"/>
                <a:gd name="T21" fmla="*/ 38 h 51"/>
                <a:gd name="T22" fmla="*/ 659 w 662"/>
                <a:gd name="T23" fmla="*/ 44 h 51"/>
                <a:gd name="T24" fmla="*/ 659 w 662"/>
                <a:gd name="T25" fmla="*/ 51 h 51"/>
                <a:gd name="T26" fmla="*/ 662 w 662"/>
                <a:gd name="T27" fmla="*/ 48 h 51"/>
                <a:gd name="T28" fmla="*/ 662 w 662"/>
                <a:gd name="T29" fmla="*/ 41 h 51"/>
                <a:gd name="T30" fmla="*/ 662 w 662"/>
                <a:gd name="T31" fmla="*/ 34 h 51"/>
                <a:gd name="T32" fmla="*/ 662 w 662"/>
                <a:gd name="T33" fmla="*/ 28 h 51"/>
                <a:gd name="T34" fmla="*/ 2 w 662"/>
                <a:gd name="T35" fmla="*/ 0 h 51"/>
                <a:gd name="T36" fmla="*/ 0 w 662"/>
                <a:gd name="T37" fmla="*/ 6 h 51"/>
                <a:gd name="T38" fmla="*/ 0 w 662"/>
                <a:gd name="T39" fmla="*/ 11 h 51"/>
                <a:gd name="T40" fmla="*/ 0 w 662"/>
                <a:gd name="T41" fmla="*/ 18 h 51"/>
                <a:gd name="T42" fmla="*/ 0 w 662"/>
                <a:gd name="T43" fmla="*/ 24 h 51"/>
                <a:gd name="T44" fmla="*/ 0 w 662"/>
                <a:gd name="T45" fmla="*/ 31 h 51"/>
                <a:gd name="T46" fmla="*/ 0 w 662"/>
                <a:gd name="T47" fmla="*/ 38 h 51"/>
                <a:gd name="T48" fmla="*/ 0 w 662"/>
                <a:gd name="T49" fmla="*/ 44 h 51"/>
                <a:gd name="T50" fmla="*/ 0 w 662"/>
                <a:gd name="T51" fmla="*/ 51 h 51"/>
                <a:gd name="T52" fmla="*/ 3 w 662"/>
                <a:gd name="T53" fmla="*/ 48 h 51"/>
                <a:gd name="T54" fmla="*/ 3 w 662"/>
                <a:gd name="T55" fmla="*/ 41 h 51"/>
                <a:gd name="T56" fmla="*/ 3 w 662"/>
                <a:gd name="T57" fmla="*/ 34 h 51"/>
                <a:gd name="T58" fmla="*/ 3 w 662"/>
                <a:gd name="T59" fmla="*/ 28 h 51"/>
                <a:gd name="T60" fmla="*/ 3 w 662"/>
                <a:gd name="T61" fmla="*/ 21 h 51"/>
                <a:gd name="T62" fmla="*/ 3 w 662"/>
                <a:gd name="T63" fmla="*/ 14 h 51"/>
                <a:gd name="T64" fmla="*/ 3 w 662"/>
                <a:gd name="T65" fmla="*/ 9 h 51"/>
                <a:gd name="T66" fmla="*/ 3 w 662"/>
                <a:gd name="T67" fmla="*/ 3 h 51"/>
                <a:gd name="T68" fmla="*/ 2 w 6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2" h="51">
                  <a:moveTo>
                    <a:pt x="662" y="24"/>
                  </a:moveTo>
                  <a:lnTo>
                    <a:pt x="662" y="21"/>
                  </a:lnTo>
                  <a:lnTo>
                    <a:pt x="662" y="18"/>
                  </a:lnTo>
                  <a:lnTo>
                    <a:pt x="662" y="14"/>
                  </a:lnTo>
                  <a:lnTo>
                    <a:pt x="662" y="11"/>
                  </a:lnTo>
                  <a:lnTo>
                    <a:pt x="662" y="9"/>
                  </a:lnTo>
                  <a:lnTo>
                    <a:pt x="662" y="6"/>
                  </a:lnTo>
                  <a:lnTo>
                    <a:pt x="662" y="3"/>
                  </a:lnTo>
                  <a:lnTo>
                    <a:pt x="662" y="0"/>
                  </a:lnTo>
                  <a:lnTo>
                    <a:pt x="659" y="0"/>
                  </a:lnTo>
                  <a:lnTo>
                    <a:pt x="659" y="3"/>
                  </a:lnTo>
                  <a:lnTo>
                    <a:pt x="659" y="6"/>
                  </a:lnTo>
                  <a:lnTo>
                    <a:pt x="659" y="9"/>
                  </a:lnTo>
                  <a:lnTo>
                    <a:pt x="659" y="11"/>
                  </a:lnTo>
                  <a:lnTo>
                    <a:pt x="659" y="14"/>
                  </a:lnTo>
                  <a:lnTo>
                    <a:pt x="659" y="18"/>
                  </a:lnTo>
                  <a:lnTo>
                    <a:pt x="659" y="21"/>
                  </a:lnTo>
                  <a:lnTo>
                    <a:pt x="659" y="24"/>
                  </a:lnTo>
                  <a:lnTo>
                    <a:pt x="659" y="28"/>
                  </a:lnTo>
                  <a:lnTo>
                    <a:pt x="659" y="31"/>
                  </a:lnTo>
                  <a:lnTo>
                    <a:pt x="659" y="34"/>
                  </a:lnTo>
                  <a:lnTo>
                    <a:pt x="659" y="38"/>
                  </a:lnTo>
                  <a:lnTo>
                    <a:pt x="659" y="41"/>
                  </a:lnTo>
                  <a:lnTo>
                    <a:pt x="659" y="44"/>
                  </a:lnTo>
                  <a:lnTo>
                    <a:pt x="659" y="48"/>
                  </a:lnTo>
                  <a:lnTo>
                    <a:pt x="659" y="51"/>
                  </a:lnTo>
                  <a:lnTo>
                    <a:pt x="662" y="51"/>
                  </a:lnTo>
                  <a:lnTo>
                    <a:pt x="662" y="48"/>
                  </a:lnTo>
                  <a:lnTo>
                    <a:pt x="662" y="44"/>
                  </a:lnTo>
                  <a:lnTo>
                    <a:pt x="662" y="41"/>
                  </a:lnTo>
                  <a:lnTo>
                    <a:pt x="662" y="38"/>
                  </a:lnTo>
                  <a:lnTo>
                    <a:pt x="662" y="34"/>
                  </a:lnTo>
                  <a:lnTo>
                    <a:pt x="662" y="31"/>
                  </a:lnTo>
                  <a:lnTo>
                    <a:pt x="662" y="28"/>
                  </a:lnTo>
                  <a:lnTo>
                    <a:pt x="66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75" name="Freeform 316">
              <a:extLst>
                <a:ext uri="{FF2B5EF4-FFF2-40B4-BE49-F238E27FC236}">
                  <a16:creationId xmlns:a16="http://schemas.microsoft.com/office/drawing/2014/main" id="{6BFCB1F7-D15B-06E7-93E9-0DCF5F398E17}"/>
                </a:ext>
              </a:extLst>
            </p:cNvPr>
            <p:cNvSpPr>
              <a:spLocks noEditPoints="1"/>
            </p:cNvSpPr>
            <p:nvPr/>
          </p:nvSpPr>
          <p:spPr bwMode="auto">
            <a:xfrm>
              <a:off x="1282" y="1713"/>
              <a:ext cx="659" cy="51"/>
            </a:xfrm>
            <a:custGeom>
              <a:avLst/>
              <a:gdLst>
                <a:gd name="T0" fmla="*/ 659 w 659"/>
                <a:gd name="T1" fmla="*/ 21 h 51"/>
                <a:gd name="T2" fmla="*/ 659 w 659"/>
                <a:gd name="T3" fmla="*/ 14 h 51"/>
                <a:gd name="T4" fmla="*/ 659 w 659"/>
                <a:gd name="T5" fmla="*/ 9 h 51"/>
                <a:gd name="T6" fmla="*/ 659 w 659"/>
                <a:gd name="T7" fmla="*/ 3 h 51"/>
                <a:gd name="T8" fmla="*/ 655 w 659"/>
                <a:gd name="T9" fmla="*/ 0 h 51"/>
                <a:gd name="T10" fmla="*/ 655 w 659"/>
                <a:gd name="T11" fmla="*/ 6 h 51"/>
                <a:gd name="T12" fmla="*/ 655 w 659"/>
                <a:gd name="T13" fmla="*/ 11 h 51"/>
                <a:gd name="T14" fmla="*/ 655 w 659"/>
                <a:gd name="T15" fmla="*/ 18 h 51"/>
                <a:gd name="T16" fmla="*/ 655 w 659"/>
                <a:gd name="T17" fmla="*/ 24 h 51"/>
                <a:gd name="T18" fmla="*/ 655 w 659"/>
                <a:gd name="T19" fmla="*/ 31 h 51"/>
                <a:gd name="T20" fmla="*/ 655 w 659"/>
                <a:gd name="T21" fmla="*/ 38 h 51"/>
                <a:gd name="T22" fmla="*/ 655 w 659"/>
                <a:gd name="T23" fmla="*/ 44 h 51"/>
                <a:gd name="T24" fmla="*/ 655 w 659"/>
                <a:gd name="T25" fmla="*/ 51 h 51"/>
                <a:gd name="T26" fmla="*/ 659 w 659"/>
                <a:gd name="T27" fmla="*/ 48 h 51"/>
                <a:gd name="T28" fmla="*/ 659 w 659"/>
                <a:gd name="T29" fmla="*/ 41 h 51"/>
                <a:gd name="T30" fmla="*/ 659 w 659"/>
                <a:gd name="T31" fmla="*/ 34 h 51"/>
                <a:gd name="T32" fmla="*/ 659 w 659"/>
                <a:gd name="T33" fmla="*/ 28 h 51"/>
                <a:gd name="T34" fmla="*/ 1 w 659"/>
                <a:gd name="T35" fmla="*/ 0 h 51"/>
                <a:gd name="T36" fmla="*/ 0 w 659"/>
                <a:gd name="T37" fmla="*/ 6 h 51"/>
                <a:gd name="T38" fmla="*/ 0 w 659"/>
                <a:gd name="T39" fmla="*/ 11 h 51"/>
                <a:gd name="T40" fmla="*/ 0 w 659"/>
                <a:gd name="T41" fmla="*/ 18 h 51"/>
                <a:gd name="T42" fmla="*/ 0 w 659"/>
                <a:gd name="T43" fmla="*/ 24 h 51"/>
                <a:gd name="T44" fmla="*/ 0 w 659"/>
                <a:gd name="T45" fmla="*/ 31 h 51"/>
                <a:gd name="T46" fmla="*/ 0 w 659"/>
                <a:gd name="T47" fmla="*/ 38 h 51"/>
                <a:gd name="T48" fmla="*/ 0 w 659"/>
                <a:gd name="T49" fmla="*/ 44 h 51"/>
                <a:gd name="T50" fmla="*/ 0 w 659"/>
                <a:gd name="T51" fmla="*/ 51 h 51"/>
                <a:gd name="T52" fmla="*/ 3 w 659"/>
                <a:gd name="T53" fmla="*/ 48 h 51"/>
                <a:gd name="T54" fmla="*/ 3 w 659"/>
                <a:gd name="T55" fmla="*/ 41 h 51"/>
                <a:gd name="T56" fmla="*/ 3 w 659"/>
                <a:gd name="T57" fmla="*/ 34 h 51"/>
                <a:gd name="T58" fmla="*/ 3 w 659"/>
                <a:gd name="T59" fmla="*/ 28 h 51"/>
                <a:gd name="T60" fmla="*/ 3 w 659"/>
                <a:gd name="T61" fmla="*/ 21 h 51"/>
                <a:gd name="T62" fmla="*/ 3 w 659"/>
                <a:gd name="T63" fmla="*/ 14 h 51"/>
                <a:gd name="T64" fmla="*/ 3 w 659"/>
                <a:gd name="T65" fmla="*/ 9 h 51"/>
                <a:gd name="T66" fmla="*/ 3 w 659"/>
                <a:gd name="T67" fmla="*/ 3 h 51"/>
                <a:gd name="T68" fmla="*/ 1 w 65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9" h="51">
                  <a:moveTo>
                    <a:pt x="659" y="24"/>
                  </a:moveTo>
                  <a:lnTo>
                    <a:pt x="659" y="21"/>
                  </a:lnTo>
                  <a:lnTo>
                    <a:pt x="659" y="18"/>
                  </a:lnTo>
                  <a:lnTo>
                    <a:pt x="659" y="14"/>
                  </a:lnTo>
                  <a:lnTo>
                    <a:pt x="659" y="11"/>
                  </a:lnTo>
                  <a:lnTo>
                    <a:pt x="659" y="9"/>
                  </a:lnTo>
                  <a:lnTo>
                    <a:pt x="659" y="6"/>
                  </a:lnTo>
                  <a:lnTo>
                    <a:pt x="659" y="3"/>
                  </a:lnTo>
                  <a:lnTo>
                    <a:pt x="659" y="0"/>
                  </a:lnTo>
                  <a:lnTo>
                    <a:pt x="655" y="0"/>
                  </a:lnTo>
                  <a:lnTo>
                    <a:pt x="655" y="3"/>
                  </a:lnTo>
                  <a:lnTo>
                    <a:pt x="655" y="6"/>
                  </a:lnTo>
                  <a:lnTo>
                    <a:pt x="655" y="9"/>
                  </a:lnTo>
                  <a:lnTo>
                    <a:pt x="655" y="11"/>
                  </a:lnTo>
                  <a:lnTo>
                    <a:pt x="655" y="14"/>
                  </a:lnTo>
                  <a:lnTo>
                    <a:pt x="655" y="18"/>
                  </a:lnTo>
                  <a:lnTo>
                    <a:pt x="655" y="21"/>
                  </a:lnTo>
                  <a:lnTo>
                    <a:pt x="655" y="24"/>
                  </a:lnTo>
                  <a:lnTo>
                    <a:pt x="655" y="28"/>
                  </a:lnTo>
                  <a:lnTo>
                    <a:pt x="655" y="31"/>
                  </a:lnTo>
                  <a:lnTo>
                    <a:pt x="655" y="34"/>
                  </a:lnTo>
                  <a:lnTo>
                    <a:pt x="655" y="38"/>
                  </a:lnTo>
                  <a:lnTo>
                    <a:pt x="655" y="41"/>
                  </a:lnTo>
                  <a:lnTo>
                    <a:pt x="655" y="44"/>
                  </a:lnTo>
                  <a:lnTo>
                    <a:pt x="655" y="48"/>
                  </a:lnTo>
                  <a:lnTo>
                    <a:pt x="655" y="51"/>
                  </a:lnTo>
                  <a:lnTo>
                    <a:pt x="659" y="51"/>
                  </a:lnTo>
                  <a:lnTo>
                    <a:pt x="659" y="48"/>
                  </a:lnTo>
                  <a:lnTo>
                    <a:pt x="659" y="44"/>
                  </a:lnTo>
                  <a:lnTo>
                    <a:pt x="659" y="41"/>
                  </a:lnTo>
                  <a:lnTo>
                    <a:pt x="659" y="38"/>
                  </a:lnTo>
                  <a:lnTo>
                    <a:pt x="659" y="34"/>
                  </a:lnTo>
                  <a:lnTo>
                    <a:pt x="659" y="31"/>
                  </a:lnTo>
                  <a:lnTo>
                    <a:pt x="659" y="28"/>
                  </a:lnTo>
                  <a:lnTo>
                    <a:pt x="65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76" name="Freeform 317">
              <a:extLst>
                <a:ext uri="{FF2B5EF4-FFF2-40B4-BE49-F238E27FC236}">
                  <a16:creationId xmlns:a16="http://schemas.microsoft.com/office/drawing/2014/main" id="{93E28A66-F862-CB5C-0747-BDACE4EA656B}"/>
                </a:ext>
              </a:extLst>
            </p:cNvPr>
            <p:cNvSpPr>
              <a:spLocks noEditPoints="1"/>
            </p:cNvSpPr>
            <p:nvPr/>
          </p:nvSpPr>
          <p:spPr bwMode="auto">
            <a:xfrm>
              <a:off x="1283" y="1713"/>
              <a:ext cx="656" cy="51"/>
            </a:xfrm>
            <a:custGeom>
              <a:avLst/>
              <a:gdLst>
                <a:gd name="T0" fmla="*/ 656 w 656"/>
                <a:gd name="T1" fmla="*/ 21 h 51"/>
                <a:gd name="T2" fmla="*/ 656 w 656"/>
                <a:gd name="T3" fmla="*/ 14 h 51"/>
                <a:gd name="T4" fmla="*/ 656 w 656"/>
                <a:gd name="T5" fmla="*/ 9 h 51"/>
                <a:gd name="T6" fmla="*/ 656 w 656"/>
                <a:gd name="T7" fmla="*/ 3 h 51"/>
                <a:gd name="T8" fmla="*/ 653 w 656"/>
                <a:gd name="T9" fmla="*/ 0 h 51"/>
                <a:gd name="T10" fmla="*/ 653 w 656"/>
                <a:gd name="T11" fmla="*/ 6 h 51"/>
                <a:gd name="T12" fmla="*/ 653 w 656"/>
                <a:gd name="T13" fmla="*/ 11 h 51"/>
                <a:gd name="T14" fmla="*/ 653 w 656"/>
                <a:gd name="T15" fmla="*/ 18 h 51"/>
                <a:gd name="T16" fmla="*/ 653 w 656"/>
                <a:gd name="T17" fmla="*/ 24 h 51"/>
                <a:gd name="T18" fmla="*/ 653 w 656"/>
                <a:gd name="T19" fmla="*/ 31 h 51"/>
                <a:gd name="T20" fmla="*/ 653 w 656"/>
                <a:gd name="T21" fmla="*/ 38 h 51"/>
                <a:gd name="T22" fmla="*/ 653 w 656"/>
                <a:gd name="T23" fmla="*/ 44 h 51"/>
                <a:gd name="T24" fmla="*/ 653 w 656"/>
                <a:gd name="T25" fmla="*/ 51 h 51"/>
                <a:gd name="T26" fmla="*/ 656 w 656"/>
                <a:gd name="T27" fmla="*/ 48 h 51"/>
                <a:gd name="T28" fmla="*/ 656 w 656"/>
                <a:gd name="T29" fmla="*/ 41 h 51"/>
                <a:gd name="T30" fmla="*/ 656 w 656"/>
                <a:gd name="T31" fmla="*/ 34 h 51"/>
                <a:gd name="T32" fmla="*/ 656 w 656"/>
                <a:gd name="T33" fmla="*/ 28 h 51"/>
                <a:gd name="T34" fmla="*/ 2 w 656"/>
                <a:gd name="T35" fmla="*/ 0 h 51"/>
                <a:gd name="T36" fmla="*/ 0 w 656"/>
                <a:gd name="T37" fmla="*/ 6 h 51"/>
                <a:gd name="T38" fmla="*/ 0 w 656"/>
                <a:gd name="T39" fmla="*/ 11 h 51"/>
                <a:gd name="T40" fmla="*/ 0 w 656"/>
                <a:gd name="T41" fmla="*/ 18 h 51"/>
                <a:gd name="T42" fmla="*/ 0 w 656"/>
                <a:gd name="T43" fmla="*/ 24 h 51"/>
                <a:gd name="T44" fmla="*/ 0 w 656"/>
                <a:gd name="T45" fmla="*/ 31 h 51"/>
                <a:gd name="T46" fmla="*/ 0 w 656"/>
                <a:gd name="T47" fmla="*/ 38 h 51"/>
                <a:gd name="T48" fmla="*/ 0 w 656"/>
                <a:gd name="T49" fmla="*/ 44 h 51"/>
                <a:gd name="T50" fmla="*/ 0 w 656"/>
                <a:gd name="T51" fmla="*/ 51 h 51"/>
                <a:gd name="T52" fmla="*/ 4 w 656"/>
                <a:gd name="T53" fmla="*/ 48 h 51"/>
                <a:gd name="T54" fmla="*/ 4 w 656"/>
                <a:gd name="T55" fmla="*/ 41 h 51"/>
                <a:gd name="T56" fmla="*/ 4 w 656"/>
                <a:gd name="T57" fmla="*/ 34 h 51"/>
                <a:gd name="T58" fmla="*/ 4 w 656"/>
                <a:gd name="T59" fmla="*/ 28 h 51"/>
                <a:gd name="T60" fmla="*/ 4 w 656"/>
                <a:gd name="T61" fmla="*/ 21 h 51"/>
                <a:gd name="T62" fmla="*/ 4 w 656"/>
                <a:gd name="T63" fmla="*/ 14 h 51"/>
                <a:gd name="T64" fmla="*/ 4 w 656"/>
                <a:gd name="T65" fmla="*/ 9 h 51"/>
                <a:gd name="T66" fmla="*/ 4 w 656"/>
                <a:gd name="T67" fmla="*/ 3 h 51"/>
                <a:gd name="T68" fmla="*/ 2 w 6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6" h="51">
                  <a:moveTo>
                    <a:pt x="656" y="24"/>
                  </a:moveTo>
                  <a:lnTo>
                    <a:pt x="656" y="21"/>
                  </a:lnTo>
                  <a:lnTo>
                    <a:pt x="656" y="18"/>
                  </a:lnTo>
                  <a:lnTo>
                    <a:pt x="656" y="14"/>
                  </a:lnTo>
                  <a:lnTo>
                    <a:pt x="656" y="11"/>
                  </a:lnTo>
                  <a:lnTo>
                    <a:pt x="656" y="9"/>
                  </a:lnTo>
                  <a:lnTo>
                    <a:pt x="656" y="6"/>
                  </a:lnTo>
                  <a:lnTo>
                    <a:pt x="656" y="3"/>
                  </a:lnTo>
                  <a:lnTo>
                    <a:pt x="656" y="0"/>
                  </a:lnTo>
                  <a:lnTo>
                    <a:pt x="653" y="0"/>
                  </a:lnTo>
                  <a:lnTo>
                    <a:pt x="653" y="3"/>
                  </a:lnTo>
                  <a:lnTo>
                    <a:pt x="653" y="6"/>
                  </a:lnTo>
                  <a:lnTo>
                    <a:pt x="653" y="9"/>
                  </a:lnTo>
                  <a:lnTo>
                    <a:pt x="653" y="11"/>
                  </a:lnTo>
                  <a:lnTo>
                    <a:pt x="653" y="14"/>
                  </a:lnTo>
                  <a:lnTo>
                    <a:pt x="653" y="18"/>
                  </a:lnTo>
                  <a:lnTo>
                    <a:pt x="653" y="21"/>
                  </a:lnTo>
                  <a:lnTo>
                    <a:pt x="653" y="24"/>
                  </a:lnTo>
                  <a:lnTo>
                    <a:pt x="653" y="28"/>
                  </a:lnTo>
                  <a:lnTo>
                    <a:pt x="653" y="31"/>
                  </a:lnTo>
                  <a:lnTo>
                    <a:pt x="653" y="34"/>
                  </a:lnTo>
                  <a:lnTo>
                    <a:pt x="653" y="38"/>
                  </a:lnTo>
                  <a:lnTo>
                    <a:pt x="653" y="41"/>
                  </a:lnTo>
                  <a:lnTo>
                    <a:pt x="653" y="44"/>
                  </a:lnTo>
                  <a:lnTo>
                    <a:pt x="653" y="48"/>
                  </a:lnTo>
                  <a:lnTo>
                    <a:pt x="653" y="51"/>
                  </a:lnTo>
                  <a:lnTo>
                    <a:pt x="656" y="51"/>
                  </a:lnTo>
                  <a:lnTo>
                    <a:pt x="656" y="48"/>
                  </a:lnTo>
                  <a:lnTo>
                    <a:pt x="656" y="44"/>
                  </a:lnTo>
                  <a:lnTo>
                    <a:pt x="656" y="41"/>
                  </a:lnTo>
                  <a:lnTo>
                    <a:pt x="656" y="38"/>
                  </a:lnTo>
                  <a:lnTo>
                    <a:pt x="656" y="34"/>
                  </a:lnTo>
                  <a:lnTo>
                    <a:pt x="656" y="31"/>
                  </a:lnTo>
                  <a:lnTo>
                    <a:pt x="656" y="28"/>
                  </a:lnTo>
                  <a:lnTo>
                    <a:pt x="65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77" name="Freeform 318">
              <a:extLst>
                <a:ext uri="{FF2B5EF4-FFF2-40B4-BE49-F238E27FC236}">
                  <a16:creationId xmlns:a16="http://schemas.microsoft.com/office/drawing/2014/main" id="{823042D1-3A8E-46AF-59C9-48623CC71B39}"/>
                </a:ext>
              </a:extLst>
            </p:cNvPr>
            <p:cNvSpPr>
              <a:spLocks noEditPoints="1"/>
            </p:cNvSpPr>
            <p:nvPr/>
          </p:nvSpPr>
          <p:spPr bwMode="auto">
            <a:xfrm>
              <a:off x="1285" y="1713"/>
              <a:ext cx="652" cy="51"/>
            </a:xfrm>
            <a:custGeom>
              <a:avLst/>
              <a:gdLst>
                <a:gd name="T0" fmla="*/ 652 w 652"/>
                <a:gd name="T1" fmla="*/ 21 h 51"/>
                <a:gd name="T2" fmla="*/ 652 w 652"/>
                <a:gd name="T3" fmla="*/ 14 h 51"/>
                <a:gd name="T4" fmla="*/ 652 w 652"/>
                <a:gd name="T5" fmla="*/ 9 h 51"/>
                <a:gd name="T6" fmla="*/ 652 w 652"/>
                <a:gd name="T7" fmla="*/ 3 h 51"/>
                <a:gd name="T8" fmla="*/ 649 w 652"/>
                <a:gd name="T9" fmla="*/ 0 h 51"/>
                <a:gd name="T10" fmla="*/ 649 w 652"/>
                <a:gd name="T11" fmla="*/ 6 h 51"/>
                <a:gd name="T12" fmla="*/ 649 w 652"/>
                <a:gd name="T13" fmla="*/ 11 h 51"/>
                <a:gd name="T14" fmla="*/ 649 w 652"/>
                <a:gd name="T15" fmla="*/ 18 h 51"/>
                <a:gd name="T16" fmla="*/ 649 w 652"/>
                <a:gd name="T17" fmla="*/ 24 h 51"/>
                <a:gd name="T18" fmla="*/ 649 w 652"/>
                <a:gd name="T19" fmla="*/ 31 h 51"/>
                <a:gd name="T20" fmla="*/ 649 w 652"/>
                <a:gd name="T21" fmla="*/ 38 h 51"/>
                <a:gd name="T22" fmla="*/ 649 w 652"/>
                <a:gd name="T23" fmla="*/ 44 h 51"/>
                <a:gd name="T24" fmla="*/ 649 w 652"/>
                <a:gd name="T25" fmla="*/ 51 h 51"/>
                <a:gd name="T26" fmla="*/ 652 w 652"/>
                <a:gd name="T27" fmla="*/ 48 h 51"/>
                <a:gd name="T28" fmla="*/ 652 w 652"/>
                <a:gd name="T29" fmla="*/ 41 h 51"/>
                <a:gd name="T30" fmla="*/ 652 w 652"/>
                <a:gd name="T31" fmla="*/ 34 h 51"/>
                <a:gd name="T32" fmla="*/ 652 w 652"/>
                <a:gd name="T33" fmla="*/ 28 h 51"/>
                <a:gd name="T34" fmla="*/ 2 w 652"/>
                <a:gd name="T35" fmla="*/ 0 h 51"/>
                <a:gd name="T36" fmla="*/ 0 w 652"/>
                <a:gd name="T37" fmla="*/ 6 h 51"/>
                <a:gd name="T38" fmla="*/ 0 w 652"/>
                <a:gd name="T39" fmla="*/ 11 h 51"/>
                <a:gd name="T40" fmla="*/ 0 w 652"/>
                <a:gd name="T41" fmla="*/ 18 h 51"/>
                <a:gd name="T42" fmla="*/ 0 w 652"/>
                <a:gd name="T43" fmla="*/ 24 h 51"/>
                <a:gd name="T44" fmla="*/ 0 w 652"/>
                <a:gd name="T45" fmla="*/ 31 h 51"/>
                <a:gd name="T46" fmla="*/ 0 w 652"/>
                <a:gd name="T47" fmla="*/ 38 h 51"/>
                <a:gd name="T48" fmla="*/ 0 w 652"/>
                <a:gd name="T49" fmla="*/ 44 h 51"/>
                <a:gd name="T50" fmla="*/ 0 w 652"/>
                <a:gd name="T51" fmla="*/ 51 h 51"/>
                <a:gd name="T52" fmla="*/ 3 w 652"/>
                <a:gd name="T53" fmla="*/ 48 h 51"/>
                <a:gd name="T54" fmla="*/ 3 w 652"/>
                <a:gd name="T55" fmla="*/ 41 h 51"/>
                <a:gd name="T56" fmla="*/ 3 w 652"/>
                <a:gd name="T57" fmla="*/ 34 h 51"/>
                <a:gd name="T58" fmla="*/ 3 w 652"/>
                <a:gd name="T59" fmla="*/ 28 h 51"/>
                <a:gd name="T60" fmla="*/ 3 w 652"/>
                <a:gd name="T61" fmla="*/ 21 h 51"/>
                <a:gd name="T62" fmla="*/ 3 w 652"/>
                <a:gd name="T63" fmla="*/ 14 h 51"/>
                <a:gd name="T64" fmla="*/ 3 w 652"/>
                <a:gd name="T65" fmla="*/ 9 h 51"/>
                <a:gd name="T66" fmla="*/ 3 w 652"/>
                <a:gd name="T67" fmla="*/ 3 h 51"/>
                <a:gd name="T68" fmla="*/ 2 w 6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2" h="51">
                  <a:moveTo>
                    <a:pt x="652" y="24"/>
                  </a:moveTo>
                  <a:lnTo>
                    <a:pt x="652" y="21"/>
                  </a:lnTo>
                  <a:lnTo>
                    <a:pt x="652" y="18"/>
                  </a:lnTo>
                  <a:lnTo>
                    <a:pt x="652" y="14"/>
                  </a:lnTo>
                  <a:lnTo>
                    <a:pt x="652" y="11"/>
                  </a:lnTo>
                  <a:lnTo>
                    <a:pt x="652" y="9"/>
                  </a:lnTo>
                  <a:lnTo>
                    <a:pt x="652" y="6"/>
                  </a:lnTo>
                  <a:lnTo>
                    <a:pt x="652" y="3"/>
                  </a:lnTo>
                  <a:lnTo>
                    <a:pt x="652" y="0"/>
                  </a:lnTo>
                  <a:lnTo>
                    <a:pt x="649" y="0"/>
                  </a:lnTo>
                  <a:lnTo>
                    <a:pt x="649" y="3"/>
                  </a:lnTo>
                  <a:lnTo>
                    <a:pt x="649" y="6"/>
                  </a:lnTo>
                  <a:lnTo>
                    <a:pt x="649" y="9"/>
                  </a:lnTo>
                  <a:lnTo>
                    <a:pt x="649" y="11"/>
                  </a:lnTo>
                  <a:lnTo>
                    <a:pt x="649" y="14"/>
                  </a:lnTo>
                  <a:lnTo>
                    <a:pt x="649" y="18"/>
                  </a:lnTo>
                  <a:lnTo>
                    <a:pt x="649" y="21"/>
                  </a:lnTo>
                  <a:lnTo>
                    <a:pt x="649" y="24"/>
                  </a:lnTo>
                  <a:lnTo>
                    <a:pt x="649" y="28"/>
                  </a:lnTo>
                  <a:lnTo>
                    <a:pt x="649" y="31"/>
                  </a:lnTo>
                  <a:lnTo>
                    <a:pt x="649" y="34"/>
                  </a:lnTo>
                  <a:lnTo>
                    <a:pt x="649" y="38"/>
                  </a:lnTo>
                  <a:lnTo>
                    <a:pt x="649" y="41"/>
                  </a:lnTo>
                  <a:lnTo>
                    <a:pt x="649" y="44"/>
                  </a:lnTo>
                  <a:lnTo>
                    <a:pt x="649" y="48"/>
                  </a:lnTo>
                  <a:lnTo>
                    <a:pt x="649" y="51"/>
                  </a:lnTo>
                  <a:lnTo>
                    <a:pt x="652" y="51"/>
                  </a:lnTo>
                  <a:lnTo>
                    <a:pt x="652" y="48"/>
                  </a:lnTo>
                  <a:lnTo>
                    <a:pt x="652" y="44"/>
                  </a:lnTo>
                  <a:lnTo>
                    <a:pt x="652" y="41"/>
                  </a:lnTo>
                  <a:lnTo>
                    <a:pt x="652" y="38"/>
                  </a:lnTo>
                  <a:lnTo>
                    <a:pt x="652" y="34"/>
                  </a:lnTo>
                  <a:lnTo>
                    <a:pt x="652" y="31"/>
                  </a:lnTo>
                  <a:lnTo>
                    <a:pt x="652" y="28"/>
                  </a:lnTo>
                  <a:lnTo>
                    <a:pt x="65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78" name="Freeform 319">
              <a:extLst>
                <a:ext uri="{FF2B5EF4-FFF2-40B4-BE49-F238E27FC236}">
                  <a16:creationId xmlns:a16="http://schemas.microsoft.com/office/drawing/2014/main" id="{9C367616-73BC-7E63-CB5D-FB9F7A267A6F}"/>
                </a:ext>
              </a:extLst>
            </p:cNvPr>
            <p:cNvSpPr>
              <a:spLocks noEditPoints="1"/>
            </p:cNvSpPr>
            <p:nvPr/>
          </p:nvSpPr>
          <p:spPr bwMode="auto">
            <a:xfrm>
              <a:off x="1287" y="1713"/>
              <a:ext cx="649" cy="51"/>
            </a:xfrm>
            <a:custGeom>
              <a:avLst/>
              <a:gdLst>
                <a:gd name="T0" fmla="*/ 649 w 649"/>
                <a:gd name="T1" fmla="*/ 21 h 51"/>
                <a:gd name="T2" fmla="*/ 649 w 649"/>
                <a:gd name="T3" fmla="*/ 14 h 51"/>
                <a:gd name="T4" fmla="*/ 649 w 649"/>
                <a:gd name="T5" fmla="*/ 9 h 51"/>
                <a:gd name="T6" fmla="*/ 649 w 649"/>
                <a:gd name="T7" fmla="*/ 3 h 51"/>
                <a:gd name="T8" fmla="*/ 645 w 649"/>
                <a:gd name="T9" fmla="*/ 0 h 51"/>
                <a:gd name="T10" fmla="*/ 645 w 649"/>
                <a:gd name="T11" fmla="*/ 6 h 51"/>
                <a:gd name="T12" fmla="*/ 645 w 649"/>
                <a:gd name="T13" fmla="*/ 11 h 51"/>
                <a:gd name="T14" fmla="*/ 645 w 649"/>
                <a:gd name="T15" fmla="*/ 18 h 51"/>
                <a:gd name="T16" fmla="*/ 645 w 649"/>
                <a:gd name="T17" fmla="*/ 24 h 51"/>
                <a:gd name="T18" fmla="*/ 645 w 649"/>
                <a:gd name="T19" fmla="*/ 31 h 51"/>
                <a:gd name="T20" fmla="*/ 645 w 649"/>
                <a:gd name="T21" fmla="*/ 38 h 51"/>
                <a:gd name="T22" fmla="*/ 645 w 649"/>
                <a:gd name="T23" fmla="*/ 44 h 51"/>
                <a:gd name="T24" fmla="*/ 645 w 649"/>
                <a:gd name="T25" fmla="*/ 51 h 51"/>
                <a:gd name="T26" fmla="*/ 649 w 649"/>
                <a:gd name="T27" fmla="*/ 48 h 51"/>
                <a:gd name="T28" fmla="*/ 649 w 649"/>
                <a:gd name="T29" fmla="*/ 41 h 51"/>
                <a:gd name="T30" fmla="*/ 649 w 649"/>
                <a:gd name="T31" fmla="*/ 34 h 51"/>
                <a:gd name="T32" fmla="*/ 649 w 649"/>
                <a:gd name="T33" fmla="*/ 28 h 51"/>
                <a:gd name="T34" fmla="*/ 1 w 649"/>
                <a:gd name="T35" fmla="*/ 0 h 51"/>
                <a:gd name="T36" fmla="*/ 0 w 649"/>
                <a:gd name="T37" fmla="*/ 6 h 51"/>
                <a:gd name="T38" fmla="*/ 0 w 649"/>
                <a:gd name="T39" fmla="*/ 11 h 51"/>
                <a:gd name="T40" fmla="*/ 0 w 649"/>
                <a:gd name="T41" fmla="*/ 18 h 51"/>
                <a:gd name="T42" fmla="*/ 0 w 649"/>
                <a:gd name="T43" fmla="*/ 24 h 51"/>
                <a:gd name="T44" fmla="*/ 0 w 649"/>
                <a:gd name="T45" fmla="*/ 31 h 51"/>
                <a:gd name="T46" fmla="*/ 0 w 649"/>
                <a:gd name="T47" fmla="*/ 38 h 51"/>
                <a:gd name="T48" fmla="*/ 0 w 649"/>
                <a:gd name="T49" fmla="*/ 44 h 51"/>
                <a:gd name="T50" fmla="*/ 0 w 649"/>
                <a:gd name="T51" fmla="*/ 51 h 51"/>
                <a:gd name="T52" fmla="*/ 3 w 649"/>
                <a:gd name="T53" fmla="*/ 48 h 51"/>
                <a:gd name="T54" fmla="*/ 3 w 649"/>
                <a:gd name="T55" fmla="*/ 41 h 51"/>
                <a:gd name="T56" fmla="*/ 3 w 649"/>
                <a:gd name="T57" fmla="*/ 34 h 51"/>
                <a:gd name="T58" fmla="*/ 3 w 649"/>
                <a:gd name="T59" fmla="*/ 28 h 51"/>
                <a:gd name="T60" fmla="*/ 3 w 649"/>
                <a:gd name="T61" fmla="*/ 21 h 51"/>
                <a:gd name="T62" fmla="*/ 3 w 649"/>
                <a:gd name="T63" fmla="*/ 14 h 51"/>
                <a:gd name="T64" fmla="*/ 3 w 649"/>
                <a:gd name="T65" fmla="*/ 9 h 51"/>
                <a:gd name="T66" fmla="*/ 3 w 649"/>
                <a:gd name="T67" fmla="*/ 3 h 51"/>
                <a:gd name="T68" fmla="*/ 1 w 64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9" h="51">
                  <a:moveTo>
                    <a:pt x="649" y="24"/>
                  </a:moveTo>
                  <a:lnTo>
                    <a:pt x="649" y="21"/>
                  </a:lnTo>
                  <a:lnTo>
                    <a:pt x="649" y="18"/>
                  </a:lnTo>
                  <a:lnTo>
                    <a:pt x="649" y="14"/>
                  </a:lnTo>
                  <a:lnTo>
                    <a:pt x="649" y="11"/>
                  </a:lnTo>
                  <a:lnTo>
                    <a:pt x="649" y="9"/>
                  </a:lnTo>
                  <a:lnTo>
                    <a:pt x="649" y="6"/>
                  </a:lnTo>
                  <a:lnTo>
                    <a:pt x="649" y="3"/>
                  </a:lnTo>
                  <a:lnTo>
                    <a:pt x="649" y="0"/>
                  </a:lnTo>
                  <a:lnTo>
                    <a:pt x="645" y="0"/>
                  </a:lnTo>
                  <a:lnTo>
                    <a:pt x="645" y="3"/>
                  </a:lnTo>
                  <a:lnTo>
                    <a:pt x="645" y="6"/>
                  </a:lnTo>
                  <a:lnTo>
                    <a:pt x="645" y="9"/>
                  </a:lnTo>
                  <a:lnTo>
                    <a:pt x="645" y="11"/>
                  </a:lnTo>
                  <a:lnTo>
                    <a:pt x="645" y="14"/>
                  </a:lnTo>
                  <a:lnTo>
                    <a:pt x="645" y="18"/>
                  </a:lnTo>
                  <a:lnTo>
                    <a:pt x="645" y="21"/>
                  </a:lnTo>
                  <a:lnTo>
                    <a:pt x="645" y="24"/>
                  </a:lnTo>
                  <a:lnTo>
                    <a:pt x="645" y="28"/>
                  </a:lnTo>
                  <a:lnTo>
                    <a:pt x="645" y="31"/>
                  </a:lnTo>
                  <a:lnTo>
                    <a:pt x="645" y="34"/>
                  </a:lnTo>
                  <a:lnTo>
                    <a:pt x="645" y="38"/>
                  </a:lnTo>
                  <a:lnTo>
                    <a:pt x="645" y="41"/>
                  </a:lnTo>
                  <a:lnTo>
                    <a:pt x="645" y="44"/>
                  </a:lnTo>
                  <a:lnTo>
                    <a:pt x="645" y="48"/>
                  </a:lnTo>
                  <a:lnTo>
                    <a:pt x="645" y="51"/>
                  </a:lnTo>
                  <a:lnTo>
                    <a:pt x="649" y="51"/>
                  </a:lnTo>
                  <a:lnTo>
                    <a:pt x="649" y="48"/>
                  </a:lnTo>
                  <a:lnTo>
                    <a:pt x="649" y="44"/>
                  </a:lnTo>
                  <a:lnTo>
                    <a:pt x="649" y="41"/>
                  </a:lnTo>
                  <a:lnTo>
                    <a:pt x="649" y="38"/>
                  </a:lnTo>
                  <a:lnTo>
                    <a:pt x="649" y="34"/>
                  </a:lnTo>
                  <a:lnTo>
                    <a:pt x="649" y="31"/>
                  </a:lnTo>
                  <a:lnTo>
                    <a:pt x="649" y="28"/>
                  </a:lnTo>
                  <a:lnTo>
                    <a:pt x="64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79" name="Freeform 320">
              <a:extLst>
                <a:ext uri="{FF2B5EF4-FFF2-40B4-BE49-F238E27FC236}">
                  <a16:creationId xmlns:a16="http://schemas.microsoft.com/office/drawing/2014/main" id="{2C6D8CA6-294F-FC38-4664-6294144F63E0}"/>
                </a:ext>
              </a:extLst>
            </p:cNvPr>
            <p:cNvSpPr>
              <a:spLocks noEditPoints="1"/>
            </p:cNvSpPr>
            <p:nvPr/>
          </p:nvSpPr>
          <p:spPr bwMode="auto">
            <a:xfrm>
              <a:off x="1288" y="1713"/>
              <a:ext cx="646" cy="51"/>
            </a:xfrm>
            <a:custGeom>
              <a:avLst/>
              <a:gdLst>
                <a:gd name="T0" fmla="*/ 646 w 646"/>
                <a:gd name="T1" fmla="*/ 21 h 51"/>
                <a:gd name="T2" fmla="*/ 646 w 646"/>
                <a:gd name="T3" fmla="*/ 14 h 51"/>
                <a:gd name="T4" fmla="*/ 646 w 646"/>
                <a:gd name="T5" fmla="*/ 9 h 51"/>
                <a:gd name="T6" fmla="*/ 646 w 646"/>
                <a:gd name="T7" fmla="*/ 3 h 51"/>
                <a:gd name="T8" fmla="*/ 643 w 646"/>
                <a:gd name="T9" fmla="*/ 0 h 51"/>
                <a:gd name="T10" fmla="*/ 643 w 646"/>
                <a:gd name="T11" fmla="*/ 6 h 51"/>
                <a:gd name="T12" fmla="*/ 643 w 646"/>
                <a:gd name="T13" fmla="*/ 11 h 51"/>
                <a:gd name="T14" fmla="*/ 643 w 646"/>
                <a:gd name="T15" fmla="*/ 18 h 51"/>
                <a:gd name="T16" fmla="*/ 643 w 646"/>
                <a:gd name="T17" fmla="*/ 24 h 51"/>
                <a:gd name="T18" fmla="*/ 643 w 646"/>
                <a:gd name="T19" fmla="*/ 31 h 51"/>
                <a:gd name="T20" fmla="*/ 643 w 646"/>
                <a:gd name="T21" fmla="*/ 38 h 51"/>
                <a:gd name="T22" fmla="*/ 643 w 646"/>
                <a:gd name="T23" fmla="*/ 44 h 51"/>
                <a:gd name="T24" fmla="*/ 643 w 646"/>
                <a:gd name="T25" fmla="*/ 51 h 51"/>
                <a:gd name="T26" fmla="*/ 646 w 646"/>
                <a:gd name="T27" fmla="*/ 48 h 51"/>
                <a:gd name="T28" fmla="*/ 646 w 646"/>
                <a:gd name="T29" fmla="*/ 41 h 51"/>
                <a:gd name="T30" fmla="*/ 646 w 646"/>
                <a:gd name="T31" fmla="*/ 34 h 51"/>
                <a:gd name="T32" fmla="*/ 646 w 646"/>
                <a:gd name="T33" fmla="*/ 28 h 51"/>
                <a:gd name="T34" fmla="*/ 2 w 646"/>
                <a:gd name="T35" fmla="*/ 0 h 51"/>
                <a:gd name="T36" fmla="*/ 0 w 646"/>
                <a:gd name="T37" fmla="*/ 6 h 51"/>
                <a:gd name="T38" fmla="*/ 0 w 646"/>
                <a:gd name="T39" fmla="*/ 11 h 51"/>
                <a:gd name="T40" fmla="*/ 0 w 646"/>
                <a:gd name="T41" fmla="*/ 18 h 51"/>
                <a:gd name="T42" fmla="*/ 0 w 646"/>
                <a:gd name="T43" fmla="*/ 24 h 51"/>
                <a:gd name="T44" fmla="*/ 0 w 646"/>
                <a:gd name="T45" fmla="*/ 31 h 51"/>
                <a:gd name="T46" fmla="*/ 0 w 646"/>
                <a:gd name="T47" fmla="*/ 38 h 51"/>
                <a:gd name="T48" fmla="*/ 0 w 646"/>
                <a:gd name="T49" fmla="*/ 44 h 51"/>
                <a:gd name="T50" fmla="*/ 0 w 646"/>
                <a:gd name="T51" fmla="*/ 51 h 51"/>
                <a:gd name="T52" fmla="*/ 4 w 646"/>
                <a:gd name="T53" fmla="*/ 48 h 51"/>
                <a:gd name="T54" fmla="*/ 4 w 646"/>
                <a:gd name="T55" fmla="*/ 41 h 51"/>
                <a:gd name="T56" fmla="*/ 4 w 646"/>
                <a:gd name="T57" fmla="*/ 34 h 51"/>
                <a:gd name="T58" fmla="*/ 4 w 646"/>
                <a:gd name="T59" fmla="*/ 28 h 51"/>
                <a:gd name="T60" fmla="*/ 4 w 646"/>
                <a:gd name="T61" fmla="*/ 21 h 51"/>
                <a:gd name="T62" fmla="*/ 4 w 646"/>
                <a:gd name="T63" fmla="*/ 14 h 51"/>
                <a:gd name="T64" fmla="*/ 4 w 646"/>
                <a:gd name="T65" fmla="*/ 9 h 51"/>
                <a:gd name="T66" fmla="*/ 4 w 646"/>
                <a:gd name="T67" fmla="*/ 3 h 51"/>
                <a:gd name="T68" fmla="*/ 2 w 6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6" h="51">
                  <a:moveTo>
                    <a:pt x="646" y="24"/>
                  </a:moveTo>
                  <a:lnTo>
                    <a:pt x="646" y="21"/>
                  </a:lnTo>
                  <a:lnTo>
                    <a:pt x="646" y="18"/>
                  </a:lnTo>
                  <a:lnTo>
                    <a:pt x="646" y="14"/>
                  </a:lnTo>
                  <a:lnTo>
                    <a:pt x="646" y="11"/>
                  </a:lnTo>
                  <a:lnTo>
                    <a:pt x="646" y="9"/>
                  </a:lnTo>
                  <a:lnTo>
                    <a:pt x="646" y="6"/>
                  </a:lnTo>
                  <a:lnTo>
                    <a:pt x="646" y="3"/>
                  </a:lnTo>
                  <a:lnTo>
                    <a:pt x="646" y="0"/>
                  </a:lnTo>
                  <a:lnTo>
                    <a:pt x="643" y="0"/>
                  </a:lnTo>
                  <a:lnTo>
                    <a:pt x="643" y="3"/>
                  </a:lnTo>
                  <a:lnTo>
                    <a:pt x="643" y="6"/>
                  </a:lnTo>
                  <a:lnTo>
                    <a:pt x="643" y="9"/>
                  </a:lnTo>
                  <a:lnTo>
                    <a:pt x="643" y="11"/>
                  </a:lnTo>
                  <a:lnTo>
                    <a:pt x="643" y="14"/>
                  </a:lnTo>
                  <a:lnTo>
                    <a:pt x="643" y="18"/>
                  </a:lnTo>
                  <a:lnTo>
                    <a:pt x="643" y="21"/>
                  </a:lnTo>
                  <a:lnTo>
                    <a:pt x="643" y="24"/>
                  </a:lnTo>
                  <a:lnTo>
                    <a:pt x="643" y="28"/>
                  </a:lnTo>
                  <a:lnTo>
                    <a:pt x="643" y="31"/>
                  </a:lnTo>
                  <a:lnTo>
                    <a:pt x="643" y="34"/>
                  </a:lnTo>
                  <a:lnTo>
                    <a:pt x="643" y="38"/>
                  </a:lnTo>
                  <a:lnTo>
                    <a:pt x="643" y="41"/>
                  </a:lnTo>
                  <a:lnTo>
                    <a:pt x="643" y="44"/>
                  </a:lnTo>
                  <a:lnTo>
                    <a:pt x="643" y="48"/>
                  </a:lnTo>
                  <a:lnTo>
                    <a:pt x="643" y="51"/>
                  </a:lnTo>
                  <a:lnTo>
                    <a:pt x="646" y="51"/>
                  </a:lnTo>
                  <a:lnTo>
                    <a:pt x="646" y="48"/>
                  </a:lnTo>
                  <a:lnTo>
                    <a:pt x="646" y="44"/>
                  </a:lnTo>
                  <a:lnTo>
                    <a:pt x="646" y="41"/>
                  </a:lnTo>
                  <a:lnTo>
                    <a:pt x="646" y="38"/>
                  </a:lnTo>
                  <a:lnTo>
                    <a:pt x="646" y="34"/>
                  </a:lnTo>
                  <a:lnTo>
                    <a:pt x="646" y="31"/>
                  </a:lnTo>
                  <a:lnTo>
                    <a:pt x="646" y="28"/>
                  </a:lnTo>
                  <a:lnTo>
                    <a:pt x="64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80" name="Freeform 321">
              <a:extLst>
                <a:ext uri="{FF2B5EF4-FFF2-40B4-BE49-F238E27FC236}">
                  <a16:creationId xmlns:a16="http://schemas.microsoft.com/office/drawing/2014/main" id="{6695DC30-3F5E-47E2-63E0-22C6B198988F}"/>
                </a:ext>
              </a:extLst>
            </p:cNvPr>
            <p:cNvSpPr>
              <a:spLocks noEditPoints="1"/>
            </p:cNvSpPr>
            <p:nvPr/>
          </p:nvSpPr>
          <p:spPr bwMode="auto">
            <a:xfrm>
              <a:off x="1290" y="1713"/>
              <a:ext cx="642" cy="51"/>
            </a:xfrm>
            <a:custGeom>
              <a:avLst/>
              <a:gdLst>
                <a:gd name="T0" fmla="*/ 642 w 642"/>
                <a:gd name="T1" fmla="*/ 21 h 51"/>
                <a:gd name="T2" fmla="*/ 642 w 642"/>
                <a:gd name="T3" fmla="*/ 14 h 51"/>
                <a:gd name="T4" fmla="*/ 642 w 642"/>
                <a:gd name="T5" fmla="*/ 9 h 51"/>
                <a:gd name="T6" fmla="*/ 642 w 642"/>
                <a:gd name="T7" fmla="*/ 3 h 51"/>
                <a:gd name="T8" fmla="*/ 639 w 642"/>
                <a:gd name="T9" fmla="*/ 0 h 51"/>
                <a:gd name="T10" fmla="*/ 639 w 642"/>
                <a:gd name="T11" fmla="*/ 6 h 51"/>
                <a:gd name="T12" fmla="*/ 639 w 642"/>
                <a:gd name="T13" fmla="*/ 11 h 51"/>
                <a:gd name="T14" fmla="*/ 639 w 642"/>
                <a:gd name="T15" fmla="*/ 18 h 51"/>
                <a:gd name="T16" fmla="*/ 639 w 642"/>
                <a:gd name="T17" fmla="*/ 24 h 51"/>
                <a:gd name="T18" fmla="*/ 639 w 642"/>
                <a:gd name="T19" fmla="*/ 31 h 51"/>
                <a:gd name="T20" fmla="*/ 639 w 642"/>
                <a:gd name="T21" fmla="*/ 38 h 51"/>
                <a:gd name="T22" fmla="*/ 639 w 642"/>
                <a:gd name="T23" fmla="*/ 44 h 51"/>
                <a:gd name="T24" fmla="*/ 639 w 642"/>
                <a:gd name="T25" fmla="*/ 51 h 51"/>
                <a:gd name="T26" fmla="*/ 642 w 642"/>
                <a:gd name="T27" fmla="*/ 48 h 51"/>
                <a:gd name="T28" fmla="*/ 642 w 642"/>
                <a:gd name="T29" fmla="*/ 41 h 51"/>
                <a:gd name="T30" fmla="*/ 642 w 642"/>
                <a:gd name="T31" fmla="*/ 34 h 51"/>
                <a:gd name="T32" fmla="*/ 642 w 642"/>
                <a:gd name="T33" fmla="*/ 28 h 51"/>
                <a:gd name="T34" fmla="*/ 2 w 642"/>
                <a:gd name="T35" fmla="*/ 0 h 51"/>
                <a:gd name="T36" fmla="*/ 0 w 642"/>
                <a:gd name="T37" fmla="*/ 6 h 51"/>
                <a:gd name="T38" fmla="*/ 0 w 642"/>
                <a:gd name="T39" fmla="*/ 11 h 51"/>
                <a:gd name="T40" fmla="*/ 0 w 642"/>
                <a:gd name="T41" fmla="*/ 18 h 51"/>
                <a:gd name="T42" fmla="*/ 0 w 642"/>
                <a:gd name="T43" fmla="*/ 24 h 51"/>
                <a:gd name="T44" fmla="*/ 0 w 642"/>
                <a:gd name="T45" fmla="*/ 31 h 51"/>
                <a:gd name="T46" fmla="*/ 0 w 642"/>
                <a:gd name="T47" fmla="*/ 38 h 51"/>
                <a:gd name="T48" fmla="*/ 0 w 642"/>
                <a:gd name="T49" fmla="*/ 44 h 51"/>
                <a:gd name="T50" fmla="*/ 0 w 642"/>
                <a:gd name="T51" fmla="*/ 51 h 51"/>
                <a:gd name="T52" fmla="*/ 3 w 642"/>
                <a:gd name="T53" fmla="*/ 48 h 51"/>
                <a:gd name="T54" fmla="*/ 3 w 642"/>
                <a:gd name="T55" fmla="*/ 41 h 51"/>
                <a:gd name="T56" fmla="*/ 3 w 642"/>
                <a:gd name="T57" fmla="*/ 34 h 51"/>
                <a:gd name="T58" fmla="*/ 3 w 642"/>
                <a:gd name="T59" fmla="*/ 28 h 51"/>
                <a:gd name="T60" fmla="*/ 3 w 642"/>
                <a:gd name="T61" fmla="*/ 21 h 51"/>
                <a:gd name="T62" fmla="*/ 3 w 642"/>
                <a:gd name="T63" fmla="*/ 14 h 51"/>
                <a:gd name="T64" fmla="*/ 3 w 642"/>
                <a:gd name="T65" fmla="*/ 9 h 51"/>
                <a:gd name="T66" fmla="*/ 3 w 642"/>
                <a:gd name="T67" fmla="*/ 3 h 51"/>
                <a:gd name="T68" fmla="*/ 2 w 6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2" h="51">
                  <a:moveTo>
                    <a:pt x="642" y="24"/>
                  </a:moveTo>
                  <a:lnTo>
                    <a:pt x="642" y="21"/>
                  </a:lnTo>
                  <a:lnTo>
                    <a:pt x="642" y="18"/>
                  </a:lnTo>
                  <a:lnTo>
                    <a:pt x="642" y="14"/>
                  </a:lnTo>
                  <a:lnTo>
                    <a:pt x="642" y="11"/>
                  </a:lnTo>
                  <a:lnTo>
                    <a:pt x="642" y="9"/>
                  </a:lnTo>
                  <a:lnTo>
                    <a:pt x="642" y="6"/>
                  </a:lnTo>
                  <a:lnTo>
                    <a:pt x="642" y="3"/>
                  </a:lnTo>
                  <a:lnTo>
                    <a:pt x="642" y="0"/>
                  </a:lnTo>
                  <a:lnTo>
                    <a:pt x="639" y="0"/>
                  </a:lnTo>
                  <a:lnTo>
                    <a:pt x="639" y="3"/>
                  </a:lnTo>
                  <a:lnTo>
                    <a:pt x="639" y="6"/>
                  </a:lnTo>
                  <a:lnTo>
                    <a:pt x="639" y="9"/>
                  </a:lnTo>
                  <a:lnTo>
                    <a:pt x="639" y="11"/>
                  </a:lnTo>
                  <a:lnTo>
                    <a:pt x="639" y="14"/>
                  </a:lnTo>
                  <a:lnTo>
                    <a:pt x="639" y="18"/>
                  </a:lnTo>
                  <a:lnTo>
                    <a:pt x="639" y="21"/>
                  </a:lnTo>
                  <a:lnTo>
                    <a:pt x="639" y="24"/>
                  </a:lnTo>
                  <a:lnTo>
                    <a:pt x="639" y="28"/>
                  </a:lnTo>
                  <a:lnTo>
                    <a:pt x="639" y="31"/>
                  </a:lnTo>
                  <a:lnTo>
                    <a:pt x="639" y="34"/>
                  </a:lnTo>
                  <a:lnTo>
                    <a:pt x="639" y="38"/>
                  </a:lnTo>
                  <a:lnTo>
                    <a:pt x="639" y="41"/>
                  </a:lnTo>
                  <a:lnTo>
                    <a:pt x="639" y="44"/>
                  </a:lnTo>
                  <a:lnTo>
                    <a:pt x="639" y="48"/>
                  </a:lnTo>
                  <a:lnTo>
                    <a:pt x="639" y="51"/>
                  </a:lnTo>
                  <a:lnTo>
                    <a:pt x="642" y="51"/>
                  </a:lnTo>
                  <a:lnTo>
                    <a:pt x="642" y="48"/>
                  </a:lnTo>
                  <a:lnTo>
                    <a:pt x="642" y="44"/>
                  </a:lnTo>
                  <a:lnTo>
                    <a:pt x="642" y="41"/>
                  </a:lnTo>
                  <a:lnTo>
                    <a:pt x="642" y="38"/>
                  </a:lnTo>
                  <a:lnTo>
                    <a:pt x="642" y="34"/>
                  </a:lnTo>
                  <a:lnTo>
                    <a:pt x="642" y="31"/>
                  </a:lnTo>
                  <a:lnTo>
                    <a:pt x="642" y="28"/>
                  </a:lnTo>
                  <a:lnTo>
                    <a:pt x="64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81" name="Freeform 322">
              <a:extLst>
                <a:ext uri="{FF2B5EF4-FFF2-40B4-BE49-F238E27FC236}">
                  <a16:creationId xmlns:a16="http://schemas.microsoft.com/office/drawing/2014/main" id="{A6227A28-4830-797C-73C4-D8798867F13E}"/>
                </a:ext>
              </a:extLst>
            </p:cNvPr>
            <p:cNvSpPr>
              <a:spLocks noEditPoints="1"/>
            </p:cNvSpPr>
            <p:nvPr/>
          </p:nvSpPr>
          <p:spPr bwMode="auto">
            <a:xfrm>
              <a:off x="1292" y="1713"/>
              <a:ext cx="639" cy="51"/>
            </a:xfrm>
            <a:custGeom>
              <a:avLst/>
              <a:gdLst>
                <a:gd name="T0" fmla="*/ 639 w 639"/>
                <a:gd name="T1" fmla="*/ 21 h 51"/>
                <a:gd name="T2" fmla="*/ 639 w 639"/>
                <a:gd name="T3" fmla="*/ 14 h 51"/>
                <a:gd name="T4" fmla="*/ 639 w 639"/>
                <a:gd name="T5" fmla="*/ 9 h 51"/>
                <a:gd name="T6" fmla="*/ 639 w 639"/>
                <a:gd name="T7" fmla="*/ 3 h 51"/>
                <a:gd name="T8" fmla="*/ 635 w 639"/>
                <a:gd name="T9" fmla="*/ 0 h 51"/>
                <a:gd name="T10" fmla="*/ 635 w 639"/>
                <a:gd name="T11" fmla="*/ 6 h 51"/>
                <a:gd name="T12" fmla="*/ 635 w 639"/>
                <a:gd name="T13" fmla="*/ 11 h 51"/>
                <a:gd name="T14" fmla="*/ 635 w 639"/>
                <a:gd name="T15" fmla="*/ 18 h 51"/>
                <a:gd name="T16" fmla="*/ 635 w 639"/>
                <a:gd name="T17" fmla="*/ 24 h 51"/>
                <a:gd name="T18" fmla="*/ 635 w 639"/>
                <a:gd name="T19" fmla="*/ 31 h 51"/>
                <a:gd name="T20" fmla="*/ 635 w 639"/>
                <a:gd name="T21" fmla="*/ 38 h 51"/>
                <a:gd name="T22" fmla="*/ 635 w 639"/>
                <a:gd name="T23" fmla="*/ 44 h 51"/>
                <a:gd name="T24" fmla="*/ 635 w 639"/>
                <a:gd name="T25" fmla="*/ 51 h 51"/>
                <a:gd name="T26" fmla="*/ 639 w 639"/>
                <a:gd name="T27" fmla="*/ 48 h 51"/>
                <a:gd name="T28" fmla="*/ 639 w 639"/>
                <a:gd name="T29" fmla="*/ 41 h 51"/>
                <a:gd name="T30" fmla="*/ 639 w 639"/>
                <a:gd name="T31" fmla="*/ 34 h 51"/>
                <a:gd name="T32" fmla="*/ 639 w 639"/>
                <a:gd name="T33" fmla="*/ 28 h 51"/>
                <a:gd name="T34" fmla="*/ 1 w 639"/>
                <a:gd name="T35" fmla="*/ 0 h 51"/>
                <a:gd name="T36" fmla="*/ 0 w 639"/>
                <a:gd name="T37" fmla="*/ 6 h 51"/>
                <a:gd name="T38" fmla="*/ 0 w 639"/>
                <a:gd name="T39" fmla="*/ 11 h 51"/>
                <a:gd name="T40" fmla="*/ 0 w 639"/>
                <a:gd name="T41" fmla="*/ 18 h 51"/>
                <a:gd name="T42" fmla="*/ 0 w 639"/>
                <a:gd name="T43" fmla="*/ 24 h 51"/>
                <a:gd name="T44" fmla="*/ 0 w 639"/>
                <a:gd name="T45" fmla="*/ 31 h 51"/>
                <a:gd name="T46" fmla="*/ 0 w 639"/>
                <a:gd name="T47" fmla="*/ 38 h 51"/>
                <a:gd name="T48" fmla="*/ 0 w 639"/>
                <a:gd name="T49" fmla="*/ 44 h 51"/>
                <a:gd name="T50" fmla="*/ 0 w 639"/>
                <a:gd name="T51" fmla="*/ 51 h 51"/>
                <a:gd name="T52" fmla="*/ 3 w 639"/>
                <a:gd name="T53" fmla="*/ 48 h 51"/>
                <a:gd name="T54" fmla="*/ 3 w 639"/>
                <a:gd name="T55" fmla="*/ 41 h 51"/>
                <a:gd name="T56" fmla="*/ 3 w 639"/>
                <a:gd name="T57" fmla="*/ 34 h 51"/>
                <a:gd name="T58" fmla="*/ 3 w 639"/>
                <a:gd name="T59" fmla="*/ 28 h 51"/>
                <a:gd name="T60" fmla="*/ 3 w 639"/>
                <a:gd name="T61" fmla="*/ 21 h 51"/>
                <a:gd name="T62" fmla="*/ 3 w 639"/>
                <a:gd name="T63" fmla="*/ 14 h 51"/>
                <a:gd name="T64" fmla="*/ 3 w 639"/>
                <a:gd name="T65" fmla="*/ 9 h 51"/>
                <a:gd name="T66" fmla="*/ 3 w 639"/>
                <a:gd name="T67" fmla="*/ 3 h 51"/>
                <a:gd name="T68" fmla="*/ 1 w 63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9" h="51">
                  <a:moveTo>
                    <a:pt x="639" y="24"/>
                  </a:moveTo>
                  <a:lnTo>
                    <a:pt x="639" y="21"/>
                  </a:lnTo>
                  <a:lnTo>
                    <a:pt x="639" y="18"/>
                  </a:lnTo>
                  <a:lnTo>
                    <a:pt x="639" y="14"/>
                  </a:lnTo>
                  <a:lnTo>
                    <a:pt x="639" y="11"/>
                  </a:lnTo>
                  <a:lnTo>
                    <a:pt x="639" y="9"/>
                  </a:lnTo>
                  <a:lnTo>
                    <a:pt x="639" y="6"/>
                  </a:lnTo>
                  <a:lnTo>
                    <a:pt x="639" y="3"/>
                  </a:lnTo>
                  <a:lnTo>
                    <a:pt x="639" y="0"/>
                  </a:lnTo>
                  <a:lnTo>
                    <a:pt x="635" y="0"/>
                  </a:lnTo>
                  <a:lnTo>
                    <a:pt x="635" y="3"/>
                  </a:lnTo>
                  <a:lnTo>
                    <a:pt x="635" y="6"/>
                  </a:lnTo>
                  <a:lnTo>
                    <a:pt x="635" y="9"/>
                  </a:lnTo>
                  <a:lnTo>
                    <a:pt x="635" y="11"/>
                  </a:lnTo>
                  <a:lnTo>
                    <a:pt x="635" y="14"/>
                  </a:lnTo>
                  <a:lnTo>
                    <a:pt x="635" y="18"/>
                  </a:lnTo>
                  <a:lnTo>
                    <a:pt x="635" y="21"/>
                  </a:lnTo>
                  <a:lnTo>
                    <a:pt x="635" y="24"/>
                  </a:lnTo>
                  <a:lnTo>
                    <a:pt x="635" y="28"/>
                  </a:lnTo>
                  <a:lnTo>
                    <a:pt x="635" y="31"/>
                  </a:lnTo>
                  <a:lnTo>
                    <a:pt x="635" y="34"/>
                  </a:lnTo>
                  <a:lnTo>
                    <a:pt x="635" y="38"/>
                  </a:lnTo>
                  <a:lnTo>
                    <a:pt x="635" y="41"/>
                  </a:lnTo>
                  <a:lnTo>
                    <a:pt x="635" y="44"/>
                  </a:lnTo>
                  <a:lnTo>
                    <a:pt x="635" y="48"/>
                  </a:lnTo>
                  <a:lnTo>
                    <a:pt x="635" y="51"/>
                  </a:lnTo>
                  <a:lnTo>
                    <a:pt x="639" y="51"/>
                  </a:lnTo>
                  <a:lnTo>
                    <a:pt x="639" y="48"/>
                  </a:lnTo>
                  <a:lnTo>
                    <a:pt x="639" y="44"/>
                  </a:lnTo>
                  <a:lnTo>
                    <a:pt x="639" y="41"/>
                  </a:lnTo>
                  <a:lnTo>
                    <a:pt x="639" y="38"/>
                  </a:lnTo>
                  <a:lnTo>
                    <a:pt x="639" y="34"/>
                  </a:lnTo>
                  <a:lnTo>
                    <a:pt x="639" y="31"/>
                  </a:lnTo>
                  <a:lnTo>
                    <a:pt x="639" y="28"/>
                  </a:lnTo>
                  <a:lnTo>
                    <a:pt x="63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82" name="Freeform 323">
              <a:extLst>
                <a:ext uri="{FF2B5EF4-FFF2-40B4-BE49-F238E27FC236}">
                  <a16:creationId xmlns:a16="http://schemas.microsoft.com/office/drawing/2014/main" id="{2683295B-A56D-7458-1FCA-E090E365B9BE}"/>
                </a:ext>
              </a:extLst>
            </p:cNvPr>
            <p:cNvSpPr>
              <a:spLocks noEditPoints="1"/>
            </p:cNvSpPr>
            <p:nvPr/>
          </p:nvSpPr>
          <p:spPr bwMode="auto">
            <a:xfrm>
              <a:off x="1293" y="1713"/>
              <a:ext cx="636" cy="51"/>
            </a:xfrm>
            <a:custGeom>
              <a:avLst/>
              <a:gdLst>
                <a:gd name="T0" fmla="*/ 636 w 636"/>
                <a:gd name="T1" fmla="*/ 21 h 51"/>
                <a:gd name="T2" fmla="*/ 636 w 636"/>
                <a:gd name="T3" fmla="*/ 14 h 51"/>
                <a:gd name="T4" fmla="*/ 636 w 636"/>
                <a:gd name="T5" fmla="*/ 9 h 51"/>
                <a:gd name="T6" fmla="*/ 636 w 636"/>
                <a:gd name="T7" fmla="*/ 3 h 51"/>
                <a:gd name="T8" fmla="*/ 633 w 636"/>
                <a:gd name="T9" fmla="*/ 0 h 51"/>
                <a:gd name="T10" fmla="*/ 633 w 636"/>
                <a:gd name="T11" fmla="*/ 6 h 51"/>
                <a:gd name="T12" fmla="*/ 633 w 636"/>
                <a:gd name="T13" fmla="*/ 11 h 51"/>
                <a:gd name="T14" fmla="*/ 633 w 636"/>
                <a:gd name="T15" fmla="*/ 18 h 51"/>
                <a:gd name="T16" fmla="*/ 633 w 636"/>
                <a:gd name="T17" fmla="*/ 24 h 51"/>
                <a:gd name="T18" fmla="*/ 633 w 636"/>
                <a:gd name="T19" fmla="*/ 31 h 51"/>
                <a:gd name="T20" fmla="*/ 633 w 636"/>
                <a:gd name="T21" fmla="*/ 38 h 51"/>
                <a:gd name="T22" fmla="*/ 633 w 636"/>
                <a:gd name="T23" fmla="*/ 44 h 51"/>
                <a:gd name="T24" fmla="*/ 633 w 636"/>
                <a:gd name="T25" fmla="*/ 51 h 51"/>
                <a:gd name="T26" fmla="*/ 636 w 636"/>
                <a:gd name="T27" fmla="*/ 48 h 51"/>
                <a:gd name="T28" fmla="*/ 636 w 636"/>
                <a:gd name="T29" fmla="*/ 41 h 51"/>
                <a:gd name="T30" fmla="*/ 636 w 636"/>
                <a:gd name="T31" fmla="*/ 34 h 51"/>
                <a:gd name="T32" fmla="*/ 636 w 636"/>
                <a:gd name="T33" fmla="*/ 28 h 51"/>
                <a:gd name="T34" fmla="*/ 2 w 636"/>
                <a:gd name="T35" fmla="*/ 0 h 51"/>
                <a:gd name="T36" fmla="*/ 0 w 636"/>
                <a:gd name="T37" fmla="*/ 6 h 51"/>
                <a:gd name="T38" fmla="*/ 0 w 636"/>
                <a:gd name="T39" fmla="*/ 11 h 51"/>
                <a:gd name="T40" fmla="*/ 0 w 636"/>
                <a:gd name="T41" fmla="*/ 18 h 51"/>
                <a:gd name="T42" fmla="*/ 0 w 636"/>
                <a:gd name="T43" fmla="*/ 24 h 51"/>
                <a:gd name="T44" fmla="*/ 0 w 636"/>
                <a:gd name="T45" fmla="*/ 31 h 51"/>
                <a:gd name="T46" fmla="*/ 0 w 636"/>
                <a:gd name="T47" fmla="*/ 38 h 51"/>
                <a:gd name="T48" fmla="*/ 0 w 636"/>
                <a:gd name="T49" fmla="*/ 44 h 51"/>
                <a:gd name="T50" fmla="*/ 0 w 636"/>
                <a:gd name="T51" fmla="*/ 51 h 51"/>
                <a:gd name="T52" fmla="*/ 4 w 636"/>
                <a:gd name="T53" fmla="*/ 48 h 51"/>
                <a:gd name="T54" fmla="*/ 4 w 636"/>
                <a:gd name="T55" fmla="*/ 41 h 51"/>
                <a:gd name="T56" fmla="*/ 4 w 636"/>
                <a:gd name="T57" fmla="*/ 34 h 51"/>
                <a:gd name="T58" fmla="*/ 4 w 636"/>
                <a:gd name="T59" fmla="*/ 28 h 51"/>
                <a:gd name="T60" fmla="*/ 4 w 636"/>
                <a:gd name="T61" fmla="*/ 21 h 51"/>
                <a:gd name="T62" fmla="*/ 4 w 636"/>
                <a:gd name="T63" fmla="*/ 14 h 51"/>
                <a:gd name="T64" fmla="*/ 4 w 636"/>
                <a:gd name="T65" fmla="*/ 9 h 51"/>
                <a:gd name="T66" fmla="*/ 4 w 636"/>
                <a:gd name="T67" fmla="*/ 3 h 51"/>
                <a:gd name="T68" fmla="*/ 2 w 6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6" h="51">
                  <a:moveTo>
                    <a:pt x="636" y="24"/>
                  </a:moveTo>
                  <a:lnTo>
                    <a:pt x="636" y="21"/>
                  </a:lnTo>
                  <a:lnTo>
                    <a:pt x="636" y="18"/>
                  </a:lnTo>
                  <a:lnTo>
                    <a:pt x="636" y="14"/>
                  </a:lnTo>
                  <a:lnTo>
                    <a:pt x="636" y="11"/>
                  </a:lnTo>
                  <a:lnTo>
                    <a:pt x="636" y="9"/>
                  </a:lnTo>
                  <a:lnTo>
                    <a:pt x="636" y="6"/>
                  </a:lnTo>
                  <a:lnTo>
                    <a:pt x="636" y="3"/>
                  </a:lnTo>
                  <a:lnTo>
                    <a:pt x="636" y="0"/>
                  </a:lnTo>
                  <a:lnTo>
                    <a:pt x="633" y="0"/>
                  </a:lnTo>
                  <a:lnTo>
                    <a:pt x="633" y="3"/>
                  </a:lnTo>
                  <a:lnTo>
                    <a:pt x="633" y="6"/>
                  </a:lnTo>
                  <a:lnTo>
                    <a:pt x="633" y="9"/>
                  </a:lnTo>
                  <a:lnTo>
                    <a:pt x="633" y="11"/>
                  </a:lnTo>
                  <a:lnTo>
                    <a:pt x="633" y="14"/>
                  </a:lnTo>
                  <a:lnTo>
                    <a:pt x="633" y="18"/>
                  </a:lnTo>
                  <a:lnTo>
                    <a:pt x="633" y="21"/>
                  </a:lnTo>
                  <a:lnTo>
                    <a:pt x="633" y="24"/>
                  </a:lnTo>
                  <a:lnTo>
                    <a:pt x="633" y="28"/>
                  </a:lnTo>
                  <a:lnTo>
                    <a:pt x="633" y="31"/>
                  </a:lnTo>
                  <a:lnTo>
                    <a:pt x="633" y="34"/>
                  </a:lnTo>
                  <a:lnTo>
                    <a:pt x="633" y="38"/>
                  </a:lnTo>
                  <a:lnTo>
                    <a:pt x="633" y="41"/>
                  </a:lnTo>
                  <a:lnTo>
                    <a:pt x="633" y="44"/>
                  </a:lnTo>
                  <a:lnTo>
                    <a:pt x="633" y="48"/>
                  </a:lnTo>
                  <a:lnTo>
                    <a:pt x="633" y="51"/>
                  </a:lnTo>
                  <a:lnTo>
                    <a:pt x="636" y="51"/>
                  </a:lnTo>
                  <a:lnTo>
                    <a:pt x="636" y="48"/>
                  </a:lnTo>
                  <a:lnTo>
                    <a:pt x="636" y="44"/>
                  </a:lnTo>
                  <a:lnTo>
                    <a:pt x="636" y="41"/>
                  </a:lnTo>
                  <a:lnTo>
                    <a:pt x="636" y="38"/>
                  </a:lnTo>
                  <a:lnTo>
                    <a:pt x="636" y="34"/>
                  </a:lnTo>
                  <a:lnTo>
                    <a:pt x="636" y="31"/>
                  </a:lnTo>
                  <a:lnTo>
                    <a:pt x="636" y="28"/>
                  </a:lnTo>
                  <a:lnTo>
                    <a:pt x="63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83" name="Freeform 324">
              <a:extLst>
                <a:ext uri="{FF2B5EF4-FFF2-40B4-BE49-F238E27FC236}">
                  <a16:creationId xmlns:a16="http://schemas.microsoft.com/office/drawing/2014/main" id="{A463D812-F8D3-D9BC-568D-E4E6F2137E86}"/>
                </a:ext>
              </a:extLst>
            </p:cNvPr>
            <p:cNvSpPr>
              <a:spLocks noEditPoints="1"/>
            </p:cNvSpPr>
            <p:nvPr/>
          </p:nvSpPr>
          <p:spPr bwMode="auto">
            <a:xfrm>
              <a:off x="1295" y="1713"/>
              <a:ext cx="632" cy="51"/>
            </a:xfrm>
            <a:custGeom>
              <a:avLst/>
              <a:gdLst>
                <a:gd name="T0" fmla="*/ 632 w 632"/>
                <a:gd name="T1" fmla="*/ 21 h 51"/>
                <a:gd name="T2" fmla="*/ 632 w 632"/>
                <a:gd name="T3" fmla="*/ 14 h 51"/>
                <a:gd name="T4" fmla="*/ 632 w 632"/>
                <a:gd name="T5" fmla="*/ 9 h 51"/>
                <a:gd name="T6" fmla="*/ 632 w 632"/>
                <a:gd name="T7" fmla="*/ 3 h 51"/>
                <a:gd name="T8" fmla="*/ 629 w 632"/>
                <a:gd name="T9" fmla="*/ 0 h 51"/>
                <a:gd name="T10" fmla="*/ 629 w 632"/>
                <a:gd name="T11" fmla="*/ 6 h 51"/>
                <a:gd name="T12" fmla="*/ 629 w 632"/>
                <a:gd name="T13" fmla="*/ 11 h 51"/>
                <a:gd name="T14" fmla="*/ 629 w 632"/>
                <a:gd name="T15" fmla="*/ 18 h 51"/>
                <a:gd name="T16" fmla="*/ 629 w 632"/>
                <a:gd name="T17" fmla="*/ 24 h 51"/>
                <a:gd name="T18" fmla="*/ 629 w 632"/>
                <a:gd name="T19" fmla="*/ 31 h 51"/>
                <a:gd name="T20" fmla="*/ 629 w 632"/>
                <a:gd name="T21" fmla="*/ 38 h 51"/>
                <a:gd name="T22" fmla="*/ 629 w 632"/>
                <a:gd name="T23" fmla="*/ 44 h 51"/>
                <a:gd name="T24" fmla="*/ 629 w 632"/>
                <a:gd name="T25" fmla="*/ 51 h 51"/>
                <a:gd name="T26" fmla="*/ 632 w 632"/>
                <a:gd name="T27" fmla="*/ 48 h 51"/>
                <a:gd name="T28" fmla="*/ 632 w 632"/>
                <a:gd name="T29" fmla="*/ 41 h 51"/>
                <a:gd name="T30" fmla="*/ 632 w 632"/>
                <a:gd name="T31" fmla="*/ 34 h 51"/>
                <a:gd name="T32" fmla="*/ 632 w 632"/>
                <a:gd name="T33" fmla="*/ 28 h 51"/>
                <a:gd name="T34" fmla="*/ 2 w 632"/>
                <a:gd name="T35" fmla="*/ 0 h 51"/>
                <a:gd name="T36" fmla="*/ 0 w 632"/>
                <a:gd name="T37" fmla="*/ 6 h 51"/>
                <a:gd name="T38" fmla="*/ 0 w 632"/>
                <a:gd name="T39" fmla="*/ 11 h 51"/>
                <a:gd name="T40" fmla="*/ 0 w 632"/>
                <a:gd name="T41" fmla="*/ 18 h 51"/>
                <a:gd name="T42" fmla="*/ 0 w 632"/>
                <a:gd name="T43" fmla="*/ 24 h 51"/>
                <a:gd name="T44" fmla="*/ 0 w 632"/>
                <a:gd name="T45" fmla="*/ 31 h 51"/>
                <a:gd name="T46" fmla="*/ 0 w 632"/>
                <a:gd name="T47" fmla="*/ 38 h 51"/>
                <a:gd name="T48" fmla="*/ 0 w 632"/>
                <a:gd name="T49" fmla="*/ 44 h 51"/>
                <a:gd name="T50" fmla="*/ 0 w 632"/>
                <a:gd name="T51" fmla="*/ 51 h 51"/>
                <a:gd name="T52" fmla="*/ 3 w 632"/>
                <a:gd name="T53" fmla="*/ 48 h 51"/>
                <a:gd name="T54" fmla="*/ 3 w 632"/>
                <a:gd name="T55" fmla="*/ 41 h 51"/>
                <a:gd name="T56" fmla="*/ 3 w 632"/>
                <a:gd name="T57" fmla="*/ 34 h 51"/>
                <a:gd name="T58" fmla="*/ 3 w 632"/>
                <a:gd name="T59" fmla="*/ 28 h 51"/>
                <a:gd name="T60" fmla="*/ 3 w 632"/>
                <a:gd name="T61" fmla="*/ 21 h 51"/>
                <a:gd name="T62" fmla="*/ 3 w 632"/>
                <a:gd name="T63" fmla="*/ 14 h 51"/>
                <a:gd name="T64" fmla="*/ 3 w 632"/>
                <a:gd name="T65" fmla="*/ 9 h 51"/>
                <a:gd name="T66" fmla="*/ 3 w 632"/>
                <a:gd name="T67" fmla="*/ 3 h 51"/>
                <a:gd name="T68" fmla="*/ 2 w 6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2" h="51">
                  <a:moveTo>
                    <a:pt x="632" y="24"/>
                  </a:moveTo>
                  <a:lnTo>
                    <a:pt x="632" y="21"/>
                  </a:lnTo>
                  <a:lnTo>
                    <a:pt x="632" y="18"/>
                  </a:lnTo>
                  <a:lnTo>
                    <a:pt x="632" y="14"/>
                  </a:lnTo>
                  <a:lnTo>
                    <a:pt x="632" y="11"/>
                  </a:lnTo>
                  <a:lnTo>
                    <a:pt x="632" y="9"/>
                  </a:lnTo>
                  <a:lnTo>
                    <a:pt x="632" y="6"/>
                  </a:lnTo>
                  <a:lnTo>
                    <a:pt x="632" y="3"/>
                  </a:lnTo>
                  <a:lnTo>
                    <a:pt x="632" y="0"/>
                  </a:lnTo>
                  <a:lnTo>
                    <a:pt x="629" y="0"/>
                  </a:lnTo>
                  <a:lnTo>
                    <a:pt x="629" y="3"/>
                  </a:lnTo>
                  <a:lnTo>
                    <a:pt x="629" y="6"/>
                  </a:lnTo>
                  <a:lnTo>
                    <a:pt x="629" y="9"/>
                  </a:lnTo>
                  <a:lnTo>
                    <a:pt x="629" y="11"/>
                  </a:lnTo>
                  <a:lnTo>
                    <a:pt x="629" y="14"/>
                  </a:lnTo>
                  <a:lnTo>
                    <a:pt x="629" y="18"/>
                  </a:lnTo>
                  <a:lnTo>
                    <a:pt x="629" y="21"/>
                  </a:lnTo>
                  <a:lnTo>
                    <a:pt x="629" y="24"/>
                  </a:lnTo>
                  <a:lnTo>
                    <a:pt x="629" y="28"/>
                  </a:lnTo>
                  <a:lnTo>
                    <a:pt x="629" y="31"/>
                  </a:lnTo>
                  <a:lnTo>
                    <a:pt x="629" y="34"/>
                  </a:lnTo>
                  <a:lnTo>
                    <a:pt x="629" y="38"/>
                  </a:lnTo>
                  <a:lnTo>
                    <a:pt x="629" y="41"/>
                  </a:lnTo>
                  <a:lnTo>
                    <a:pt x="629" y="44"/>
                  </a:lnTo>
                  <a:lnTo>
                    <a:pt x="629" y="48"/>
                  </a:lnTo>
                  <a:lnTo>
                    <a:pt x="629" y="51"/>
                  </a:lnTo>
                  <a:lnTo>
                    <a:pt x="632" y="51"/>
                  </a:lnTo>
                  <a:lnTo>
                    <a:pt x="632" y="48"/>
                  </a:lnTo>
                  <a:lnTo>
                    <a:pt x="632" y="44"/>
                  </a:lnTo>
                  <a:lnTo>
                    <a:pt x="632" y="41"/>
                  </a:lnTo>
                  <a:lnTo>
                    <a:pt x="632" y="38"/>
                  </a:lnTo>
                  <a:lnTo>
                    <a:pt x="632" y="34"/>
                  </a:lnTo>
                  <a:lnTo>
                    <a:pt x="632" y="31"/>
                  </a:lnTo>
                  <a:lnTo>
                    <a:pt x="632" y="28"/>
                  </a:lnTo>
                  <a:lnTo>
                    <a:pt x="63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84" name="Freeform 325">
              <a:extLst>
                <a:ext uri="{FF2B5EF4-FFF2-40B4-BE49-F238E27FC236}">
                  <a16:creationId xmlns:a16="http://schemas.microsoft.com/office/drawing/2014/main" id="{E43BAE4D-A8D8-C380-5AF3-6BF8C2F348CC}"/>
                </a:ext>
              </a:extLst>
            </p:cNvPr>
            <p:cNvSpPr>
              <a:spLocks noEditPoints="1"/>
            </p:cNvSpPr>
            <p:nvPr/>
          </p:nvSpPr>
          <p:spPr bwMode="auto">
            <a:xfrm>
              <a:off x="1297" y="1713"/>
              <a:ext cx="629" cy="51"/>
            </a:xfrm>
            <a:custGeom>
              <a:avLst/>
              <a:gdLst>
                <a:gd name="T0" fmla="*/ 629 w 629"/>
                <a:gd name="T1" fmla="*/ 21 h 51"/>
                <a:gd name="T2" fmla="*/ 629 w 629"/>
                <a:gd name="T3" fmla="*/ 14 h 51"/>
                <a:gd name="T4" fmla="*/ 629 w 629"/>
                <a:gd name="T5" fmla="*/ 9 h 51"/>
                <a:gd name="T6" fmla="*/ 629 w 629"/>
                <a:gd name="T7" fmla="*/ 3 h 51"/>
                <a:gd name="T8" fmla="*/ 626 w 629"/>
                <a:gd name="T9" fmla="*/ 0 h 51"/>
                <a:gd name="T10" fmla="*/ 626 w 629"/>
                <a:gd name="T11" fmla="*/ 6 h 51"/>
                <a:gd name="T12" fmla="*/ 626 w 629"/>
                <a:gd name="T13" fmla="*/ 11 h 51"/>
                <a:gd name="T14" fmla="*/ 626 w 629"/>
                <a:gd name="T15" fmla="*/ 18 h 51"/>
                <a:gd name="T16" fmla="*/ 626 w 629"/>
                <a:gd name="T17" fmla="*/ 24 h 51"/>
                <a:gd name="T18" fmla="*/ 626 w 629"/>
                <a:gd name="T19" fmla="*/ 31 h 51"/>
                <a:gd name="T20" fmla="*/ 626 w 629"/>
                <a:gd name="T21" fmla="*/ 38 h 51"/>
                <a:gd name="T22" fmla="*/ 626 w 629"/>
                <a:gd name="T23" fmla="*/ 44 h 51"/>
                <a:gd name="T24" fmla="*/ 626 w 629"/>
                <a:gd name="T25" fmla="*/ 51 h 51"/>
                <a:gd name="T26" fmla="*/ 629 w 629"/>
                <a:gd name="T27" fmla="*/ 48 h 51"/>
                <a:gd name="T28" fmla="*/ 629 w 629"/>
                <a:gd name="T29" fmla="*/ 41 h 51"/>
                <a:gd name="T30" fmla="*/ 629 w 629"/>
                <a:gd name="T31" fmla="*/ 34 h 51"/>
                <a:gd name="T32" fmla="*/ 629 w 629"/>
                <a:gd name="T33" fmla="*/ 28 h 51"/>
                <a:gd name="T34" fmla="*/ 1 w 629"/>
                <a:gd name="T35" fmla="*/ 0 h 51"/>
                <a:gd name="T36" fmla="*/ 0 w 629"/>
                <a:gd name="T37" fmla="*/ 6 h 51"/>
                <a:gd name="T38" fmla="*/ 0 w 629"/>
                <a:gd name="T39" fmla="*/ 11 h 51"/>
                <a:gd name="T40" fmla="*/ 0 w 629"/>
                <a:gd name="T41" fmla="*/ 18 h 51"/>
                <a:gd name="T42" fmla="*/ 0 w 629"/>
                <a:gd name="T43" fmla="*/ 24 h 51"/>
                <a:gd name="T44" fmla="*/ 0 w 629"/>
                <a:gd name="T45" fmla="*/ 31 h 51"/>
                <a:gd name="T46" fmla="*/ 0 w 629"/>
                <a:gd name="T47" fmla="*/ 38 h 51"/>
                <a:gd name="T48" fmla="*/ 0 w 629"/>
                <a:gd name="T49" fmla="*/ 44 h 51"/>
                <a:gd name="T50" fmla="*/ 0 w 629"/>
                <a:gd name="T51" fmla="*/ 51 h 51"/>
                <a:gd name="T52" fmla="*/ 3 w 629"/>
                <a:gd name="T53" fmla="*/ 48 h 51"/>
                <a:gd name="T54" fmla="*/ 3 w 629"/>
                <a:gd name="T55" fmla="*/ 41 h 51"/>
                <a:gd name="T56" fmla="*/ 3 w 629"/>
                <a:gd name="T57" fmla="*/ 34 h 51"/>
                <a:gd name="T58" fmla="*/ 3 w 629"/>
                <a:gd name="T59" fmla="*/ 28 h 51"/>
                <a:gd name="T60" fmla="*/ 3 w 629"/>
                <a:gd name="T61" fmla="*/ 21 h 51"/>
                <a:gd name="T62" fmla="*/ 3 w 629"/>
                <a:gd name="T63" fmla="*/ 14 h 51"/>
                <a:gd name="T64" fmla="*/ 3 w 629"/>
                <a:gd name="T65" fmla="*/ 9 h 51"/>
                <a:gd name="T66" fmla="*/ 3 w 629"/>
                <a:gd name="T67" fmla="*/ 3 h 51"/>
                <a:gd name="T68" fmla="*/ 1 w 62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9" h="51">
                  <a:moveTo>
                    <a:pt x="629" y="24"/>
                  </a:moveTo>
                  <a:lnTo>
                    <a:pt x="629" y="21"/>
                  </a:lnTo>
                  <a:lnTo>
                    <a:pt x="629" y="18"/>
                  </a:lnTo>
                  <a:lnTo>
                    <a:pt x="629" y="14"/>
                  </a:lnTo>
                  <a:lnTo>
                    <a:pt x="629" y="11"/>
                  </a:lnTo>
                  <a:lnTo>
                    <a:pt x="629" y="9"/>
                  </a:lnTo>
                  <a:lnTo>
                    <a:pt x="629" y="6"/>
                  </a:lnTo>
                  <a:lnTo>
                    <a:pt x="629" y="3"/>
                  </a:lnTo>
                  <a:lnTo>
                    <a:pt x="629" y="0"/>
                  </a:lnTo>
                  <a:lnTo>
                    <a:pt x="626" y="0"/>
                  </a:lnTo>
                  <a:lnTo>
                    <a:pt x="626" y="3"/>
                  </a:lnTo>
                  <a:lnTo>
                    <a:pt x="626" y="6"/>
                  </a:lnTo>
                  <a:lnTo>
                    <a:pt x="626" y="9"/>
                  </a:lnTo>
                  <a:lnTo>
                    <a:pt x="626" y="11"/>
                  </a:lnTo>
                  <a:lnTo>
                    <a:pt x="626" y="14"/>
                  </a:lnTo>
                  <a:lnTo>
                    <a:pt x="626" y="18"/>
                  </a:lnTo>
                  <a:lnTo>
                    <a:pt x="626" y="21"/>
                  </a:lnTo>
                  <a:lnTo>
                    <a:pt x="626" y="24"/>
                  </a:lnTo>
                  <a:lnTo>
                    <a:pt x="626" y="28"/>
                  </a:lnTo>
                  <a:lnTo>
                    <a:pt x="626" y="31"/>
                  </a:lnTo>
                  <a:lnTo>
                    <a:pt x="626" y="34"/>
                  </a:lnTo>
                  <a:lnTo>
                    <a:pt x="626" y="38"/>
                  </a:lnTo>
                  <a:lnTo>
                    <a:pt x="626" y="41"/>
                  </a:lnTo>
                  <a:lnTo>
                    <a:pt x="626" y="44"/>
                  </a:lnTo>
                  <a:lnTo>
                    <a:pt x="626" y="48"/>
                  </a:lnTo>
                  <a:lnTo>
                    <a:pt x="626" y="51"/>
                  </a:lnTo>
                  <a:lnTo>
                    <a:pt x="629" y="51"/>
                  </a:lnTo>
                  <a:lnTo>
                    <a:pt x="629" y="48"/>
                  </a:lnTo>
                  <a:lnTo>
                    <a:pt x="629" y="44"/>
                  </a:lnTo>
                  <a:lnTo>
                    <a:pt x="629" y="41"/>
                  </a:lnTo>
                  <a:lnTo>
                    <a:pt x="629" y="38"/>
                  </a:lnTo>
                  <a:lnTo>
                    <a:pt x="629" y="34"/>
                  </a:lnTo>
                  <a:lnTo>
                    <a:pt x="629" y="31"/>
                  </a:lnTo>
                  <a:lnTo>
                    <a:pt x="629" y="28"/>
                  </a:lnTo>
                  <a:lnTo>
                    <a:pt x="62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4" y="0"/>
                  </a:lnTo>
                  <a:lnTo>
                    <a:pt x="1"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85" name="Freeform 326">
              <a:extLst>
                <a:ext uri="{FF2B5EF4-FFF2-40B4-BE49-F238E27FC236}">
                  <a16:creationId xmlns:a16="http://schemas.microsoft.com/office/drawing/2014/main" id="{FD0B57A1-0D33-7D53-FFB1-5040C67D90EB}"/>
                </a:ext>
              </a:extLst>
            </p:cNvPr>
            <p:cNvSpPr>
              <a:spLocks noEditPoints="1"/>
            </p:cNvSpPr>
            <p:nvPr/>
          </p:nvSpPr>
          <p:spPr bwMode="auto">
            <a:xfrm>
              <a:off x="1298" y="1713"/>
              <a:ext cx="626" cy="51"/>
            </a:xfrm>
            <a:custGeom>
              <a:avLst/>
              <a:gdLst>
                <a:gd name="T0" fmla="*/ 626 w 626"/>
                <a:gd name="T1" fmla="*/ 21 h 51"/>
                <a:gd name="T2" fmla="*/ 626 w 626"/>
                <a:gd name="T3" fmla="*/ 14 h 51"/>
                <a:gd name="T4" fmla="*/ 626 w 626"/>
                <a:gd name="T5" fmla="*/ 9 h 51"/>
                <a:gd name="T6" fmla="*/ 626 w 626"/>
                <a:gd name="T7" fmla="*/ 3 h 51"/>
                <a:gd name="T8" fmla="*/ 623 w 626"/>
                <a:gd name="T9" fmla="*/ 0 h 51"/>
                <a:gd name="T10" fmla="*/ 623 w 626"/>
                <a:gd name="T11" fmla="*/ 6 h 51"/>
                <a:gd name="T12" fmla="*/ 623 w 626"/>
                <a:gd name="T13" fmla="*/ 11 h 51"/>
                <a:gd name="T14" fmla="*/ 623 w 626"/>
                <a:gd name="T15" fmla="*/ 18 h 51"/>
                <a:gd name="T16" fmla="*/ 623 w 626"/>
                <a:gd name="T17" fmla="*/ 24 h 51"/>
                <a:gd name="T18" fmla="*/ 623 w 626"/>
                <a:gd name="T19" fmla="*/ 31 h 51"/>
                <a:gd name="T20" fmla="*/ 623 w 626"/>
                <a:gd name="T21" fmla="*/ 38 h 51"/>
                <a:gd name="T22" fmla="*/ 623 w 626"/>
                <a:gd name="T23" fmla="*/ 44 h 51"/>
                <a:gd name="T24" fmla="*/ 623 w 626"/>
                <a:gd name="T25" fmla="*/ 51 h 51"/>
                <a:gd name="T26" fmla="*/ 626 w 626"/>
                <a:gd name="T27" fmla="*/ 48 h 51"/>
                <a:gd name="T28" fmla="*/ 626 w 626"/>
                <a:gd name="T29" fmla="*/ 41 h 51"/>
                <a:gd name="T30" fmla="*/ 626 w 626"/>
                <a:gd name="T31" fmla="*/ 34 h 51"/>
                <a:gd name="T32" fmla="*/ 626 w 626"/>
                <a:gd name="T33" fmla="*/ 28 h 51"/>
                <a:gd name="T34" fmla="*/ 2 w 626"/>
                <a:gd name="T35" fmla="*/ 0 h 51"/>
                <a:gd name="T36" fmla="*/ 0 w 626"/>
                <a:gd name="T37" fmla="*/ 6 h 51"/>
                <a:gd name="T38" fmla="*/ 0 w 626"/>
                <a:gd name="T39" fmla="*/ 11 h 51"/>
                <a:gd name="T40" fmla="*/ 0 w 626"/>
                <a:gd name="T41" fmla="*/ 18 h 51"/>
                <a:gd name="T42" fmla="*/ 0 w 626"/>
                <a:gd name="T43" fmla="*/ 24 h 51"/>
                <a:gd name="T44" fmla="*/ 0 w 626"/>
                <a:gd name="T45" fmla="*/ 31 h 51"/>
                <a:gd name="T46" fmla="*/ 0 w 626"/>
                <a:gd name="T47" fmla="*/ 38 h 51"/>
                <a:gd name="T48" fmla="*/ 0 w 626"/>
                <a:gd name="T49" fmla="*/ 44 h 51"/>
                <a:gd name="T50" fmla="*/ 0 w 626"/>
                <a:gd name="T51" fmla="*/ 51 h 51"/>
                <a:gd name="T52" fmla="*/ 3 w 626"/>
                <a:gd name="T53" fmla="*/ 48 h 51"/>
                <a:gd name="T54" fmla="*/ 3 w 626"/>
                <a:gd name="T55" fmla="*/ 41 h 51"/>
                <a:gd name="T56" fmla="*/ 3 w 626"/>
                <a:gd name="T57" fmla="*/ 34 h 51"/>
                <a:gd name="T58" fmla="*/ 3 w 626"/>
                <a:gd name="T59" fmla="*/ 28 h 51"/>
                <a:gd name="T60" fmla="*/ 3 w 626"/>
                <a:gd name="T61" fmla="*/ 21 h 51"/>
                <a:gd name="T62" fmla="*/ 3 w 626"/>
                <a:gd name="T63" fmla="*/ 14 h 51"/>
                <a:gd name="T64" fmla="*/ 3 w 626"/>
                <a:gd name="T65" fmla="*/ 9 h 51"/>
                <a:gd name="T66" fmla="*/ 3 w 626"/>
                <a:gd name="T67" fmla="*/ 3 h 51"/>
                <a:gd name="T68" fmla="*/ 2 w 62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6" h="51">
                  <a:moveTo>
                    <a:pt x="626" y="24"/>
                  </a:moveTo>
                  <a:lnTo>
                    <a:pt x="626" y="21"/>
                  </a:lnTo>
                  <a:lnTo>
                    <a:pt x="626" y="18"/>
                  </a:lnTo>
                  <a:lnTo>
                    <a:pt x="626" y="14"/>
                  </a:lnTo>
                  <a:lnTo>
                    <a:pt x="626" y="11"/>
                  </a:lnTo>
                  <a:lnTo>
                    <a:pt x="626" y="9"/>
                  </a:lnTo>
                  <a:lnTo>
                    <a:pt x="626" y="6"/>
                  </a:lnTo>
                  <a:lnTo>
                    <a:pt x="626" y="3"/>
                  </a:lnTo>
                  <a:lnTo>
                    <a:pt x="626" y="0"/>
                  </a:lnTo>
                  <a:lnTo>
                    <a:pt x="623" y="0"/>
                  </a:lnTo>
                  <a:lnTo>
                    <a:pt x="623" y="3"/>
                  </a:lnTo>
                  <a:lnTo>
                    <a:pt x="623" y="6"/>
                  </a:lnTo>
                  <a:lnTo>
                    <a:pt x="623" y="9"/>
                  </a:lnTo>
                  <a:lnTo>
                    <a:pt x="623" y="11"/>
                  </a:lnTo>
                  <a:lnTo>
                    <a:pt x="623" y="14"/>
                  </a:lnTo>
                  <a:lnTo>
                    <a:pt x="623" y="18"/>
                  </a:lnTo>
                  <a:lnTo>
                    <a:pt x="623" y="21"/>
                  </a:lnTo>
                  <a:lnTo>
                    <a:pt x="623" y="24"/>
                  </a:lnTo>
                  <a:lnTo>
                    <a:pt x="623" y="28"/>
                  </a:lnTo>
                  <a:lnTo>
                    <a:pt x="623" y="31"/>
                  </a:lnTo>
                  <a:lnTo>
                    <a:pt x="623" y="34"/>
                  </a:lnTo>
                  <a:lnTo>
                    <a:pt x="623" y="38"/>
                  </a:lnTo>
                  <a:lnTo>
                    <a:pt x="623" y="41"/>
                  </a:lnTo>
                  <a:lnTo>
                    <a:pt x="623" y="44"/>
                  </a:lnTo>
                  <a:lnTo>
                    <a:pt x="623" y="48"/>
                  </a:lnTo>
                  <a:lnTo>
                    <a:pt x="623" y="51"/>
                  </a:lnTo>
                  <a:lnTo>
                    <a:pt x="626" y="51"/>
                  </a:lnTo>
                  <a:lnTo>
                    <a:pt x="626" y="48"/>
                  </a:lnTo>
                  <a:lnTo>
                    <a:pt x="626" y="44"/>
                  </a:lnTo>
                  <a:lnTo>
                    <a:pt x="626" y="41"/>
                  </a:lnTo>
                  <a:lnTo>
                    <a:pt x="626" y="38"/>
                  </a:lnTo>
                  <a:lnTo>
                    <a:pt x="626" y="34"/>
                  </a:lnTo>
                  <a:lnTo>
                    <a:pt x="626" y="31"/>
                  </a:lnTo>
                  <a:lnTo>
                    <a:pt x="626" y="28"/>
                  </a:lnTo>
                  <a:lnTo>
                    <a:pt x="62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86" name="Freeform 327">
              <a:extLst>
                <a:ext uri="{FF2B5EF4-FFF2-40B4-BE49-F238E27FC236}">
                  <a16:creationId xmlns:a16="http://schemas.microsoft.com/office/drawing/2014/main" id="{4F8C5EE5-6429-B6C0-766E-033AD1A13E92}"/>
                </a:ext>
              </a:extLst>
            </p:cNvPr>
            <p:cNvSpPr>
              <a:spLocks noEditPoints="1"/>
            </p:cNvSpPr>
            <p:nvPr/>
          </p:nvSpPr>
          <p:spPr bwMode="auto">
            <a:xfrm>
              <a:off x="1300" y="1713"/>
              <a:ext cx="623" cy="51"/>
            </a:xfrm>
            <a:custGeom>
              <a:avLst/>
              <a:gdLst>
                <a:gd name="T0" fmla="*/ 623 w 623"/>
                <a:gd name="T1" fmla="*/ 21 h 51"/>
                <a:gd name="T2" fmla="*/ 623 w 623"/>
                <a:gd name="T3" fmla="*/ 14 h 51"/>
                <a:gd name="T4" fmla="*/ 623 w 623"/>
                <a:gd name="T5" fmla="*/ 9 h 51"/>
                <a:gd name="T6" fmla="*/ 623 w 623"/>
                <a:gd name="T7" fmla="*/ 3 h 51"/>
                <a:gd name="T8" fmla="*/ 619 w 623"/>
                <a:gd name="T9" fmla="*/ 0 h 51"/>
                <a:gd name="T10" fmla="*/ 619 w 623"/>
                <a:gd name="T11" fmla="*/ 6 h 51"/>
                <a:gd name="T12" fmla="*/ 619 w 623"/>
                <a:gd name="T13" fmla="*/ 11 h 51"/>
                <a:gd name="T14" fmla="*/ 619 w 623"/>
                <a:gd name="T15" fmla="*/ 18 h 51"/>
                <a:gd name="T16" fmla="*/ 619 w 623"/>
                <a:gd name="T17" fmla="*/ 24 h 51"/>
                <a:gd name="T18" fmla="*/ 619 w 623"/>
                <a:gd name="T19" fmla="*/ 31 h 51"/>
                <a:gd name="T20" fmla="*/ 619 w 623"/>
                <a:gd name="T21" fmla="*/ 38 h 51"/>
                <a:gd name="T22" fmla="*/ 619 w 623"/>
                <a:gd name="T23" fmla="*/ 44 h 51"/>
                <a:gd name="T24" fmla="*/ 619 w 623"/>
                <a:gd name="T25" fmla="*/ 51 h 51"/>
                <a:gd name="T26" fmla="*/ 623 w 623"/>
                <a:gd name="T27" fmla="*/ 48 h 51"/>
                <a:gd name="T28" fmla="*/ 623 w 623"/>
                <a:gd name="T29" fmla="*/ 41 h 51"/>
                <a:gd name="T30" fmla="*/ 623 w 623"/>
                <a:gd name="T31" fmla="*/ 34 h 51"/>
                <a:gd name="T32" fmla="*/ 623 w 623"/>
                <a:gd name="T33" fmla="*/ 28 h 51"/>
                <a:gd name="T34" fmla="*/ 1 w 623"/>
                <a:gd name="T35" fmla="*/ 0 h 51"/>
                <a:gd name="T36" fmla="*/ 0 w 623"/>
                <a:gd name="T37" fmla="*/ 6 h 51"/>
                <a:gd name="T38" fmla="*/ 0 w 623"/>
                <a:gd name="T39" fmla="*/ 11 h 51"/>
                <a:gd name="T40" fmla="*/ 0 w 623"/>
                <a:gd name="T41" fmla="*/ 18 h 51"/>
                <a:gd name="T42" fmla="*/ 0 w 623"/>
                <a:gd name="T43" fmla="*/ 24 h 51"/>
                <a:gd name="T44" fmla="*/ 0 w 623"/>
                <a:gd name="T45" fmla="*/ 31 h 51"/>
                <a:gd name="T46" fmla="*/ 0 w 623"/>
                <a:gd name="T47" fmla="*/ 38 h 51"/>
                <a:gd name="T48" fmla="*/ 0 w 623"/>
                <a:gd name="T49" fmla="*/ 44 h 51"/>
                <a:gd name="T50" fmla="*/ 0 w 623"/>
                <a:gd name="T51" fmla="*/ 51 h 51"/>
                <a:gd name="T52" fmla="*/ 3 w 623"/>
                <a:gd name="T53" fmla="*/ 48 h 51"/>
                <a:gd name="T54" fmla="*/ 3 w 623"/>
                <a:gd name="T55" fmla="*/ 41 h 51"/>
                <a:gd name="T56" fmla="*/ 3 w 623"/>
                <a:gd name="T57" fmla="*/ 34 h 51"/>
                <a:gd name="T58" fmla="*/ 3 w 623"/>
                <a:gd name="T59" fmla="*/ 28 h 51"/>
                <a:gd name="T60" fmla="*/ 3 w 623"/>
                <a:gd name="T61" fmla="*/ 21 h 51"/>
                <a:gd name="T62" fmla="*/ 3 w 623"/>
                <a:gd name="T63" fmla="*/ 14 h 51"/>
                <a:gd name="T64" fmla="*/ 3 w 623"/>
                <a:gd name="T65" fmla="*/ 9 h 51"/>
                <a:gd name="T66" fmla="*/ 3 w 623"/>
                <a:gd name="T67" fmla="*/ 3 h 51"/>
                <a:gd name="T68" fmla="*/ 1 w 62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3" h="51">
                  <a:moveTo>
                    <a:pt x="623" y="24"/>
                  </a:moveTo>
                  <a:lnTo>
                    <a:pt x="623" y="21"/>
                  </a:lnTo>
                  <a:lnTo>
                    <a:pt x="623" y="18"/>
                  </a:lnTo>
                  <a:lnTo>
                    <a:pt x="623" y="14"/>
                  </a:lnTo>
                  <a:lnTo>
                    <a:pt x="623" y="11"/>
                  </a:lnTo>
                  <a:lnTo>
                    <a:pt x="623" y="9"/>
                  </a:lnTo>
                  <a:lnTo>
                    <a:pt x="623" y="6"/>
                  </a:lnTo>
                  <a:lnTo>
                    <a:pt x="623" y="3"/>
                  </a:lnTo>
                  <a:lnTo>
                    <a:pt x="623" y="0"/>
                  </a:lnTo>
                  <a:lnTo>
                    <a:pt x="619" y="0"/>
                  </a:lnTo>
                  <a:lnTo>
                    <a:pt x="619" y="3"/>
                  </a:lnTo>
                  <a:lnTo>
                    <a:pt x="619" y="6"/>
                  </a:lnTo>
                  <a:lnTo>
                    <a:pt x="619" y="9"/>
                  </a:lnTo>
                  <a:lnTo>
                    <a:pt x="619" y="11"/>
                  </a:lnTo>
                  <a:lnTo>
                    <a:pt x="619" y="14"/>
                  </a:lnTo>
                  <a:lnTo>
                    <a:pt x="619" y="18"/>
                  </a:lnTo>
                  <a:lnTo>
                    <a:pt x="619" y="21"/>
                  </a:lnTo>
                  <a:lnTo>
                    <a:pt x="619" y="24"/>
                  </a:lnTo>
                  <a:lnTo>
                    <a:pt x="619" y="28"/>
                  </a:lnTo>
                  <a:lnTo>
                    <a:pt x="619" y="31"/>
                  </a:lnTo>
                  <a:lnTo>
                    <a:pt x="619" y="34"/>
                  </a:lnTo>
                  <a:lnTo>
                    <a:pt x="619" y="38"/>
                  </a:lnTo>
                  <a:lnTo>
                    <a:pt x="619" y="41"/>
                  </a:lnTo>
                  <a:lnTo>
                    <a:pt x="619" y="44"/>
                  </a:lnTo>
                  <a:lnTo>
                    <a:pt x="619" y="48"/>
                  </a:lnTo>
                  <a:lnTo>
                    <a:pt x="619" y="51"/>
                  </a:lnTo>
                  <a:lnTo>
                    <a:pt x="623" y="51"/>
                  </a:lnTo>
                  <a:lnTo>
                    <a:pt x="623" y="48"/>
                  </a:lnTo>
                  <a:lnTo>
                    <a:pt x="623" y="44"/>
                  </a:lnTo>
                  <a:lnTo>
                    <a:pt x="623" y="41"/>
                  </a:lnTo>
                  <a:lnTo>
                    <a:pt x="623" y="38"/>
                  </a:lnTo>
                  <a:lnTo>
                    <a:pt x="623" y="34"/>
                  </a:lnTo>
                  <a:lnTo>
                    <a:pt x="623" y="31"/>
                  </a:lnTo>
                  <a:lnTo>
                    <a:pt x="623" y="28"/>
                  </a:lnTo>
                  <a:lnTo>
                    <a:pt x="62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87" name="Freeform 328">
              <a:extLst>
                <a:ext uri="{FF2B5EF4-FFF2-40B4-BE49-F238E27FC236}">
                  <a16:creationId xmlns:a16="http://schemas.microsoft.com/office/drawing/2014/main" id="{0D202233-CEBF-72D9-FFDE-E1E397927354}"/>
                </a:ext>
              </a:extLst>
            </p:cNvPr>
            <p:cNvSpPr>
              <a:spLocks noEditPoints="1"/>
            </p:cNvSpPr>
            <p:nvPr/>
          </p:nvSpPr>
          <p:spPr bwMode="auto">
            <a:xfrm>
              <a:off x="1301" y="1713"/>
              <a:ext cx="620" cy="51"/>
            </a:xfrm>
            <a:custGeom>
              <a:avLst/>
              <a:gdLst>
                <a:gd name="T0" fmla="*/ 620 w 620"/>
                <a:gd name="T1" fmla="*/ 21 h 51"/>
                <a:gd name="T2" fmla="*/ 620 w 620"/>
                <a:gd name="T3" fmla="*/ 14 h 51"/>
                <a:gd name="T4" fmla="*/ 620 w 620"/>
                <a:gd name="T5" fmla="*/ 9 h 51"/>
                <a:gd name="T6" fmla="*/ 620 w 620"/>
                <a:gd name="T7" fmla="*/ 3 h 51"/>
                <a:gd name="T8" fmla="*/ 617 w 620"/>
                <a:gd name="T9" fmla="*/ 0 h 51"/>
                <a:gd name="T10" fmla="*/ 617 w 620"/>
                <a:gd name="T11" fmla="*/ 6 h 51"/>
                <a:gd name="T12" fmla="*/ 617 w 620"/>
                <a:gd name="T13" fmla="*/ 11 h 51"/>
                <a:gd name="T14" fmla="*/ 617 w 620"/>
                <a:gd name="T15" fmla="*/ 18 h 51"/>
                <a:gd name="T16" fmla="*/ 617 w 620"/>
                <a:gd name="T17" fmla="*/ 24 h 51"/>
                <a:gd name="T18" fmla="*/ 617 w 620"/>
                <a:gd name="T19" fmla="*/ 31 h 51"/>
                <a:gd name="T20" fmla="*/ 617 w 620"/>
                <a:gd name="T21" fmla="*/ 38 h 51"/>
                <a:gd name="T22" fmla="*/ 617 w 620"/>
                <a:gd name="T23" fmla="*/ 44 h 51"/>
                <a:gd name="T24" fmla="*/ 617 w 620"/>
                <a:gd name="T25" fmla="*/ 51 h 51"/>
                <a:gd name="T26" fmla="*/ 620 w 620"/>
                <a:gd name="T27" fmla="*/ 48 h 51"/>
                <a:gd name="T28" fmla="*/ 620 w 620"/>
                <a:gd name="T29" fmla="*/ 41 h 51"/>
                <a:gd name="T30" fmla="*/ 620 w 620"/>
                <a:gd name="T31" fmla="*/ 34 h 51"/>
                <a:gd name="T32" fmla="*/ 620 w 620"/>
                <a:gd name="T33" fmla="*/ 28 h 51"/>
                <a:gd name="T34" fmla="*/ 2 w 620"/>
                <a:gd name="T35" fmla="*/ 0 h 51"/>
                <a:gd name="T36" fmla="*/ 0 w 620"/>
                <a:gd name="T37" fmla="*/ 6 h 51"/>
                <a:gd name="T38" fmla="*/ 0 w 620"/>
                <a:gd name="T39" fmla="*/ 11 h 51"/>
                <a:gd name="T40" fmla="*/ 0 w 620"/>
                <a:gd name="T41" fmla="*/ 18 h 51"/>
                <a:gd name="T42" fmla="*/ 0 w 620"/>
                <a:gd name="T43" fmla="*/ 24 h 51"/>
                <a:gd name="T44" fmla="*/ 0 w 620"/>
                <a:gd name="T45" fmla="*/ 31 h 51"/>
                <a:gd name="T46" fmla="*/ 0 w 620"/>
                <a:gd name="T47" fmla="*/ 38 h 51"/>
                <a:gd name="T48" fmla="*/ 0 w 620"/>
                <a:gd name="T49" fmla="*/ 44 h 51"/>
                <a:gd name="T50" fmla="*/ 0 w 620"/>
                <a:gd name="T51" fmla="*/ 51 h 51"/>
                <a:gd name="T52" fmla="*/ 4 w 620"/>
                <a:gd name="T53" fmla="*/ 48 h 51"/>
                <a:gd name="T54" fmla="*/ 4 w 620"/>
                <a:gd name="T55" fmla="*/ 41 h 51"/>
                <a:gd name="T56" fmla="*/ 4 w 620"/>
                <a:gd name="T57" fmla="*/ 34 h 51"/>
                <a:gd name="T58" fmla="*/ 4 w 620"/>
                <a:gd name="T59" fmla="*/ 28 h 51"/>
                <a:gd name="T60" fmla="*/ 4 w 620"/>
                <a:gd name="T61" fmla="*/ 21 h 51"/>
                <a:gd name="T62" fmla="*/ 4 w 620"/>
                <a:gd name="T63" fmla="*/ 14 h 51"/>
                <a:gd name="T64" fmla="*/ 4 w 620"/>
                <a:gd name="T65" fmla="*/ 9 h 51"/>
                <a:gd name="T66" fmla="*/ 4 w 620"/>
                <a:gd name="T67" fmla="*/ 3 h 51"/>
                <a:gd name="T68" fmla="*/ 2 w 62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0" h="51">
                  <a:moveTo>
                    <a:pt x="620" y="24"/>
                  </a:moveTo>
                  <a:lnTo>
                    <a:pt x="620" y="21"/>
                  </a:lnTo>
                  <a:lnTo>
                    <a:pt x="620" y="18"/>
                  </a:lnTo>
                  <a:lnTo>
                    <a:pt x="620" y="14"/>
                  </a:lnTo>
                  <a:lnTo>
                    <a:pt x="620" y="11"/>
                  </a:lnTo>
                  <a:lnTo>
                    <a:pt x="620" y="9"/>
                  </a:lnTo>
                  <a:lnTo>
                    <a:pt x="620" y="6"/>
                  </a:lnTo>
                  <a:lnTo>
                    <a:pt x="620" y="3"/>
                  </a:lnTo>
                  <a:lnTo>
                    <a:pt x="620" y="0"/>
                  </a:lnTo>
                  <a:lnTo>
                    <a:pt x="617" y="0"/>
                  </a:lnTo>
                  <a:lnTo>
                    <a:pt x="617" y="3"/>
                  </a:lnTo>
                  <a:lnTo>
                    <a:pt x="617" y="6"/>
                  </a:lnTo>
                  <a:lnTo>
                    <a:pt x="617" y="9"/>
                  </a:lnTo>
                  <a:lnTo>
                    <a:pt x="617" y="11"/>
                  </a:lnTo>
                  <a:lnTo>
                    <a:pt x="617" y="14"/>
                  </a:lnTo>
                  <a:lnTo>
                    <a:pt x="617" y="18"/>
                  </a:lnTo>
                  <a:lnTo>
                    <a:pt x="617" y="21"/>
                  </a:lnTo>
                  <a:lnTo>
                    <a:pt x="617" y="24"/>
                  </a:lnTo>
                  <a:lnTo>
                    <a:pt x="617" y="28"/>
                  </a:lnTo>
                  <a:lnTo>
                    <a:pt x="617" y="31"/>
                  </a:lnTo>
                  <a:lnTo>
                    <a:pt x="617" y="34"/>
                  </a:lnTo>
                  <a:lnTo>
                    <a:pt x="617" y="38"/>
                  </a:lnTo>
                  <a:lnTo>
                    <a:pt x="617" y="41"/>
                  </a:lnTo>
                  <a:lnTo>
                    <a:pt x="617" y="44"/>
                  </a:lnTo>
                  <a:lnTo>
                    <a:pt x="617" y="48"/>
                  </a:lnTo>
                  <a:lnTo>
                    <a:pt x="617" y="51"/>
                  </a:lnTo>
                  <a:lnTo>
                    <a:pt x="620" y="51"/>
                  </a:lnTo>
                  <a:lnTo>
                    <a:pt x="620" y="48"/>
                  </a:lnTo>
                  <a:lnTo>
                    <a:pt x="620" y="44"/>
                  </a:lnTo>
                  <a:lnTo>
                    <a:pt x="620" y="41"/>
                  </a:lnTo>
                  <a:lnTo>
                    <a:pt x="620" y="38"/>
                  </a:lnTo>
                  <a:lnTo>
                    <a:pt x="620" y="34"/>
                  </a:lnTo>
                  <a:lnTo>
                    <a:pt x="620" y="31"/>
                  </a:lnTo>
                  <a:lnTo>
                    <a:pt x="620" y="28"/>
                  </a:lnTo>
                  <a:lnTo>
                    <a:pt x="62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88" name="Freeform 329">
              <a:extLst>
                <a:ext uri="{FF2B5EF4-FFF2-40B4-BE49-F238E27FC236}">
                  <a16:creationId xmlns:a16="http://schemas.microsoft.com/office/drawing/2014/main" id="{DFCA83E8-6298-644C-A50B-EC7E284328B5}"/>
                </a:ext>
              </a:extLst>
            </p:cNvPr>
            <p:cNvSpPr>
              <a:spLocks noEditPoints="1"/>
            </p:cNvSpPr>
            <p:nvPr/>
          </p:nvSpPr>
          <p:spPr bwMode="auto">
            <a:xfrm>
              <a:off x="1303" y="1713"/>
              <a:ext cx="616" cy="51"/>
            </a:xfrm>
            <a:custGeom>
              <a:avLst/>
              <a:gdLst>
                <a:gd name="T0" fmla="*/ 616 w 616"/>
                <a:gd name="T1" fmla="*/ 21 h 51"/>
                <a:gd name="T2" fmla="*/ 616 w 616"/>
                <a:gd name="T3" fmla="*/ 14 h 51"/>
                <a:gd name="T4" fmla="*/ 616 w 616"/>
                <a:gd name="T5" fmla="*/ 9 h 51"/>
                <a:gd name="T6" fmla="*/ 616 w 616"/>
                <a:gd name="T7" fmla="*/ 3 h 51"/>
                <a:gd name="T8" fmla="*/ 613 w 616"/>
                <a:gd name="T9" fmla="*/ 0 h 51"/>
                <a:gd name="T10" fmla="*/ 613 w 616"/>
                <a:gd name="T11" fmla="*/ 6 h 51"/>
                <a:gd name="T12" fmla="*/ 613 w 616"/>
                <a:gd name="T13" fmla="*/ 11 h 51"/>
                <a:gd name="T14" fmla="*/ 613 w 616"/>
                <a:gd name="T15" fmla="*/ 18 h 51"/>
                <a:gd name="T16" fmla="*/ 613 w 616"/>
                <a:gd name="T17" fmla="*/ 24 h 51"/>
                <a:gd name="T18" fmla="*/ 613 w 616"/>
                <a:gd name="T19" fmla="*/ 31 h 51"/>
                <a:gd name="T20" fmla="*/ 613 w 616"/>
                <a:gd name="T21" fmla="*/ 38 h 51"/>
                <a:gd name="T22" fmla="*/ 613 w 616"/>
                <a:gd name="T23" fmla="*/ 44 h 51"/>
                <a:gd name="T24" fmla="*/ 613 w 616"/>
                <a:gd name="T25" fmla="*/ 51 h 51"/>
                <a:gd name="T26" fmla="*/ 616 w 616"/>
                <a:gd name="T27" fmla="*/ 48 h 51"/>
                <a:gd name="T28" fmla="*/ 616 w 616"/>
                <a:gd name="T29" fmla="*/ 41 h 51"/>
                <a:gd name="T30" fmla="*/ 616 w 616"/>
                <a:gd name="T31" fmla="*/ 34 h 51"/>
                <a:gd name="T32" fmla="*/ 616 w 616"/>
                <a:gd name="T33" fmla="*/ 28 h 51"/>
                <a:gd name="T34" fmla="*/ 2 w 616"/>
                <a:gd name="T35" fmla="*/ 0 h 51"/>
                <a:gd name="T36" fmla="*/ 0 w 616"/>
                <a:gd name="T37" fmla="*/ 6 h 51"/>
                <a:gd name="T38" fmla="*/ 0 w 616"/>
                <a:gd name="T39" fmla="*/ 11 h 51"/>
                <a:gd name="T40" fmla="*/ 0 w 616"/>
                <a:gd name="T41" fmla="*/ 18 h 51"/>
                <a:gd name="T42" fmla="*/ 0 w 616"/>
                <a:gd name="T43" fmla="*/ 24 h 51"/>
                <a:gd name="T44" fmla="*/ 0 w 616"/>
                <a:gd name="T45" fmla="*/ 31 h 51"/>
                <a:gd name="T46" fmla="*/ 0 w 616"/>
                <a:gd name="T47" fmla="*/ 38 h 51"/>
                <a:gd name="T48" fmla="*/ 0 w 616"/>
                <a:gd name="T49" fmla="*/ 44 h 51"/>
                <a:gd name="T50" fmla="*/ 0 w 616"/>
                <a:gd name="T51" fmla="*/ 51 h 51"/>
                <a:gd name="T52" fmla="*/ 3 w 616"/>
                <a:gd name="T53" fmla="*/ 48 h 51"/>
                <a:gd name="T54" fmla="*/ 3 w 616"/>
                <a:gd name="T55" fmla="*/ 41 h 51"/>
                <a:gd name="T56" fmla="*/ 3 w 616"/>
                <a:gd name="T57" fmla="*/ 34 h 51"/>
                <a:gd name="T58" fmla="*/ 3 w 616"/>
                <a:gd name="T59" fmla="*/ 28 h 51"/>
                <a:gd name="T60" fmla="*/ 3 w 616"/>
                <a:gd name="T61" fmla="*/ 21 h 51"/>
                <a:gd name="T62" fmla="*/ 3 w 616"/>
                <a:gd name="T63" fmla="*/ 14 h 51"/>
                <a:gd name="T64" fmla="*/ 3 w 616"/>
                <a:gd name="T65" fmla="*/ 9 h 51"/>
                <a:gd name="T66" fmla="*/ 3 w 616"/>
                <a:gd name="T67" fmla="*/ 3 h 51"/>
                <a:gd name="T68" fmla="*/ 2 w 61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6" h="51">
                  <a:moveTo>
                    <a:pt x="616" y="24"/>
                  </a:moveTo>
                  <a:lnTo>
                    <a:pt x="616" y="21"/>
                  </a:lnTo>
                  <a:lnTo>
                    <a:pt x="616" y="18"/>
                  </a:lnTo>
                  <a:lnTo>
                    <a:pt x="616" y="14"/>
                  </a:lnTo>
                  <a:lnTo>
                    <a:pt x="616" y="11"/>
                  </a:lnTo>
                  <a:lnTo>
                    <a:pt x="616" y="9"/>
                  </a:lnTo>
                  <a:lnTo>
                    <a:pt x="616" y="6"/>
                  </a:lnTo>
                  <a:lnTo>
                    <a:pt x="616" y="3"/>
                  </a:lnTo>
                  <a:lnTo>
                    <a:pt x="616" y="0"/>
                  </a:lnTo>
                  <a:lnTo>
                    <a:pt x="613" y="0"/>
                  </a:lnTo>
                  <a:lnTo>
                    <a:pt x="613" y="3"/>
                  </a:lnTo>
                  <a:lnTo>
                    <a:pt x="613" y="6"/>
                  </a:lnTo>
                  <a:lnTo>
                    <a:pt x="613" y="9"/>
                  </a:lnTo>
                  <a:lnTo>
                    <a:pt x="613" y="11"/>
                  </a:lnTo>
                  <a:lnTo>
                    <a:pt x="613" y="14"/>
                  </a:lnTo>
                  <a:lnTo>
                    <a:pt x="613" y="18"/>
                  </a:lnTo>
                  <a:lnTo>
                    <a:pt x="613" y="21"/>
                  </a:lnTo>
                  <a:lnTo>
                    <a:pt x="613" y="24"/>
                  </a:lnTo>
                  <a:lnTo>
                    <a:pt x="613" y="28"/>
                  </a:lnTo>
                  <a:lnTo>
                    <a:pt x="613" y="31"/>
                  </a:lnTo>
                  <a:lnTo>
                    <a:pt x="613" y="34"/>
                  </a:lnTo>
                  <a:lnTo>
                    <a:pt x="613" y="38"/>
                  </a:lnTo>
                  <a:lnTo>
                    <a:pt x="613" y="41"/>
                  </a:lnTo>
                  <a:lnTo>
                    <a:pt x="613" y="44"/>
                  </a:lnTo>
                  <a:lnTo>
                    <a:pt x="613" y="48"/>
                  </a:lnTo>
                  <a:lnTo>
                    <a:pt x="613" y="51"/>
                  </a:lnTo>
                  <a:lnTo>
                    <a:pt x="616" y="51"/>
                  </a:lnTo>
                  <a:lnTo>
                    <a:pt x="616" y="48"/>
                  </a:lnTo>
                  <a:lnTo>
                    <a:pt x="616" y="44"/>
                  </a:lnTo>
                  <a:lnTo>
                    <a:pt x="616" y="41"/>
                  </a:lnTo>
                  <a:lnTo>
                    <a:pt x="616" y="38"/>
                  </a:lnTo>
                  <a:lnTo>
                    <a:pt x="616" y="34"/>
                  </a:lnTo>
                  <a:lnTo>
                    <a:pt x="616" y="31"/>
                  </a:lnTo>
                  <a:lnTo>
                    <a:pt x="616" y="28"/>
                  </a:lnTo>
                  <a:lnTo>
                    <a:pt x="61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89" name="Freeform 330">
              <a:extLst>
                <a:ext uri="{FF2B5EF4-FFF2-40B4-BE49-F238E27FC236}">
                  <a16:creationId xmlns:a16="http://schemas.microsoft.com/office/drawing/2014/main" id="{4A807E4C-7170-2447-6729-0768CD2BD7BF}"/>
                </a:ext>
              </a:extLst>
            </p:cNvPr>
            <p:cNvSpPr>
              <a:spLocks noEditPoints="1"/>
            </p:cNvSpPr>
            <p:nvPr/>
          </p:nvSpPr>
          <p:spPr bwMode="auto">
            <a:xfrm>
              <a:off x="1305" y="1713"/>
              <a:ext cx="613" cy="51"/>
            </a:xfrm>
            <a:custGeom>
              <a:avLst/>
              <a:gdLst>
                <a:gd name="T0" fmla="*/ 613 w 613"/>
                <a:gd name="T1" fmla="*/ 21 h 51"/>
                <a:gd name="T2" fmla="*/ 613 w 613"/>
                <a:gd name="T3" fmla="*/ 14 h 51"/>
                <a:gd name="T4" fmla="*/ 613 w 613"/>
                <a:gd name="T5" fmla="*/ 9 h 51"/>
                <a:gd name="T6" fmla="*/ 613 w 613"/>
                <a:gd name="T7" fmla="*/ 3 h 51"/>
                <a:gd name="T8" fmla="*/ 609 w 613"/>
                <a:gd name="T9" fmla="*/ 0 h 51"/>
                <a:gd name="T10" fmla="*/ 609 w 613"/>
                <a:gd name="T11" fmla="*/ 6 h 51"/>
                <a:gd name="T12" fmla="*/ 609 w 613"/>
                <a:gd name="T13" fmla="*/ 11 h 51"/>
                <a:gd name="T14" fmla="*/ 609 w 613"/>
                <a:gd name="T15" fmla="*/ 18 h 51"/>
                <a:gd name="T16" fmla="*/ 609 w 613"/>
                <a:gd name="T17" fmla="*/ 24 h 51"/>
                <a:gd name="T18" fmla="*/ 609 w 613"/>
                <a:gd name="T19" fmla="*/ 31 h 51"/>
                <a:gd name="T20" fmla="*/ 609 w 613"/>
                <a:gd name="T21" fmla="*/ 38 h 51"/>
                <a:gd name="T22" fmla="*/ 609 w 613"/>
                <a:gd name="T23" fmla="*/ 44 h 51"/>
                <a:gd name="T24" fmla="*/ 609 w 613"/>
                <a:gd name="T25" fmla="*/ 51 h 51"/>
                <a:gd name="T26" fmla="*/ 613 w 613"/>
                <a:gd name="T27" fmla="*/ 48 h 51"/>
                <a:gd name="T28" fmla="*/ 613 w 613"/>
                <a:gd name="T29" fmla="*/ 41 h 51"/>
                <a:gd name="T30" fmla="*/ 613 w 613"/>
                <a:gd name="T31" fmla="*/ 34 h 51"/>
                <a:gd name="T32" fmla="*/ 613 w 613"/>
                <a:gd name="T33" fmla="*/ 28 h 51"/>
                <a:gd name="T34" fmla="*/ 1 w 613"/>
                <a:gd name="T35" fmla="*/ 0 h 51"/>
                <a:gd name="T36" fmla="*/ 0 w 613"/>
                <a:gd name="T37" fmla="*/ 6 h 51"/>
                <a:gd name="T38" fmla="*/ 0 w 613"/>
                <a:gd name="T39" fmla="*/ 11 h 51"/>
                <a:gd name="T40" fmla="*/ 0 w 613"/>
                <a:gd name="T41" fmla="*/ 18 h 51"/>
                <a:gd name="T42" fmla="*/ 0 w 613"/>
                <a:gd name="T43" fmla="*/ 24 h 51"/>
                <a:gd name="T44" fmla="*/ 0 w 613"/>
                <a:gd name="T45" fmla="*/ 31 h 51"/>
                <a:gd name="T46" fmla="*/ 0 w 613"/>
                <a:gd name="T47" fmla="*/ 38 h 51"/>
                <a:gd name="T48" fmla="*/ 0 w 613"/>
                <a:gd name="T49" fmla="*/ 44 h 51"/>
                <a:gd name="T50" fmla="*/ 0 w 613"/>
                <a:gd name="T51" fmla="*/ 51 h 51"/>
                <a:gd name="T52" fmla="*/ 3 w 613"/>
                <a:gd name="T53" fmla="*/ 48 h 51"/>
                <a:gd name="T54" fmla="*/ 3 w 613"/>
                <a:gd name="T55" fmla="*/ 41 h 51"/>
                <a:gd name="T56" fmla="*/ 3 w 613"/>
                <a:gd name="T57" fmla="*/ 34 h 51"/>
                <a:gd name="T58" fmla="*/ 3 w 613"/>
                <a:gd name="T59" fmla="*/ 28 h 51"/>
                <a:gd name="T60" fmla="*/ 3 w 613"/>
                <a:gd name="T61" fmla="*/ 21 h 51"/>
                <a:gd name="T62" fmla="*/ 3 w 613"/>
                <a:gd name="T63" fmla="*/ 14 h 51"/>
                <a:gd name="T64" fmla="*/ 3 w 613"/>
                <a:gd name="T65" fmla="*/ 9 h 51"/>
                <a:gd name="T66" fmla="*/ 3 w 613"/>
                <a:gd name="T67" fmla="*/ 3 h 51"/>
                <a:gd name="T68" fmla="*/ 1 w 61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3" h="51">
                  <a:moveTo>
                    <a:pt x="613" y="24"/>
                  </a:moveTo>
                  <a:lnTo>
                    <a:pt x="613" y="21"/>
                  </a:lnTo>
                  <a:lnTo>
                    <a:pt x="613" y="18"/>
                  </a:lnTo>
                  <a:lnTo>
                    <a:pt x="613" y="14"/>
                  </a:lnTo>
                  <a:lnTo>
                    <a:pt x="613" y="11"/>
                  </a:lnTo>
                  <a:lnTo>
                    <a:pt x="613" y="9"/>
                  </a:lnTo>
                  <a:lnTo>
                    <a:pt x="613" y="6"/>
                  </a:lnTo>
                  <a:lnTo>
                    <a:pt x="613" y="3"/>
                  </a:lnTo>
                  <a:lnTo>
                    <a:pt x="613" y="0"/>
                  </a:lnTo>
                  <a:lnTo>
                    <a:pt x="609" y="0"/>
                  </a:lnTo>
                  <a:lnTo>
                    <a:pt x="609" y="3"/>
                  </a:lnTo>
                  <a:lnTo>
                    <a:pt x="609" y="6"/>
                  </a:lnTo>
                  <a:lnTo>
                    <a:pt x="609" y="9"/>
                  </a:lnTo>
                  <a:lnTo>
                    <a:pt x="609" y="11"/>
                  </a:lnTo>
                  <a:lnTo>
                    <a:pt x="609" y="14"/>
                  </a:lnTo>
                  <a:lnTo>
                    <a:pt x="609" y="18"/>
                  </a:lnTo>
                  <a:lnTo>
                    <a:pt x="609" y="21"/>
                  </a:lnTo>
                  <a:lnTo>
                    <a:pt x="609" y="24"/>
                  </a:lnTo>
                  <a:lnTo>
                    <a:pt x="609" y="28"/>
                  </a:lnTo>
                  <a:lnTo>
                    <a:pt x="609" y="31"/>
                  </a:lnTo>
                  <a:lnTo>
                    <a:pt x="609" y="34"/>
                  </a:lnTo>
                  <a:lnTo>
                    <a:pt x="609" y="38"/>
                  </a:lnTo>
                  <a:lnTo>
                    <a:pt x="609" y="41"/>
                  </a:lnTo>
                  <a:lnTo>
                    <a:pt x="609" y="44"/>
                  </a:lnTo>
                  <a:lnTo>
                    <a:pt x="609" y="48"/>
                  </a:lnTo>
                  <a:lnTo>
                    <a:pt x="609" y="51"/>
                  </a:lnTo>
                  <a:lnTo>
                    <a:pt x="613" y="51"/>
                  </a:lnTo>
                  <a:lnTo>
                    <a:pt x="613" y="48"/>
                  </a:lnTo>
                  <a:lnTo>
                    <a:pt x="613" y="44"/>
                  </a:lnTo>
                  <a:lnTo>
                    <a:pt x="613" y="41"/>
                  </a:lnTo>
                  <a:lnTo>
                    <a:pt x="613" y="38"/>
                  </a:lnTo>
                  <a:lnTo>
                    <a:pt x="613" y="34"/>
                  </a:lnTo>
                  <a:lnTo>
                    <a:pt x="613" y="31"/>
                  </a:lnTo>
                  <a:lnTo>
                    <a:pt x="613" y="28"/>
                  </a:lnTo>
                  <a:lnTo>
                    <a:pt x="61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90" name="Freeform 331">
              <a:extLst>
                <a:ext uri="{FF2B5EF4-FFF2-40B4-BE49-F238E27FC236}">
                  <a16:creationId xmlns:a16="http://schemas.microsoft.com/office/drawing/2014/main" id="{33BF260C-E6E3-EB9B-F05C-C9B0A9CD36DD}"/>
                </a:ext>
              </a:extLst>
            </p:cNvPr>
            <p:cNvSpPr>
              <a:spLocks noEditPoints="1"/>
            </p:cNvSpPr>
            <p:nvPr/>
          </p:nvSpPr>
          <p:spPr bwMode="auto">
            <a:xfrm>
              <a:off x="1306" y="1713"/>
              <a:ext cx="610" cy="51"/>
            </a:xfrm>
            <a:custGeom>
              <a:avLst/>
              <a:gdLst>
                <a:gd name="T0" fmla="*/ 610 w 610"/>
                <a:gd name="T1" fmla="*/ 21 h 51"/>
                <a:gd name="T2" fmla="*/ 610 w 610"/>
                <a:gd name="T3" fmla="*/ 14 h 51"/>
                <a:gd name="T4" fmla="*/ 610 w 610"/>
                <a:gd name="T5" fmla="*/ 9 h 51"/>
                <a:gd name="T6" fmla="*/ 610 w 610"/>
                <a:gd name="T7" fmla="*/ 3 h 51"/>
                <a:gd name="T8" fmla="*/ 607 w 610"/>
                <a:gd name="T9" fmla="*/ 0 h 51"/>
                <a:gd name="T10" fmla="*/ 607 w 610"/>
                <a:gd name="T11" fmla="*/ 6 h 51"/>
                <a:gd name="T12" fmla="*/ 607 w 610"/>
                <a:gd name="T13" fmla="*/ 11 h 51"/>
                <a:gd name="T14" fmla="*/ 607 w 610"/>
                <a:gd name="T15" fmla="*/ 18 h 51"/>
                <a:gd name="T16" fmla="*/ 607 w 610"/>
                <a:gd name="T17" fmla="*/ 24 h 51"/>
                <a:gd name="T18" fmla="*/ 607 w 610"/>
                <a:gd name="T19" fmla="*/ 31 h 51"/>
                <a:gd name="T20" fmla="*/ 607 w 610"/>
                <a:gd name="T21" fmla="*/ 38 h 51"/>
                <a:gd name="T22" fmla="*/ 607 w 610"/>
                <a:gd name="T23" fmla="*/ 44 h 51"/>
                <a:gd name="T24" fmla="*/ 607 w 610"/>
                <a:gd name="T25" fmla="*/ 51 h 51"/>
                <a:gd name="T26" fmla="*/ 610 w 610"/>
                <a:gd name="T27" fmla="*/ 48 h 51"/>
                <a:gd name="T28" fmla="*/ 610 w 610"/>
                <a:gd name="T29" fmla="*/ 41 h 51"/>
                <a:gd name="T30" fmla="*/ 610 w 610"/>
                <a:gd name="T31" fmla="*/ 34 h 51"/>
                <a:gd name="T32" fmla="*/ 610 w 610"/>
                <a:gd name="T33" fmla="*/ 28 h 51"/>
                <a:gd name="T34" fmla="*/ 2 w 610"/>
                <a:gd name="T35" fmla="*/ 0 h 51"/>
                <a:gd name="T36" fmla="*/ 0 w 610"/>
                <a:gd name="T37" fmla="*/ 6 h 51"/>
                <a:gd name="T38" fmla="*/ 0 w 610"/>
                <a:gd name="T39" fmla="*/ 11 h 51"/>
                <a:gd name="T40" fmla="*/ 0 w 610"/>
                <a:gd name="T41" fmla="*/ 18 h 51"/>
                <a:gd name="T42" fmla="*/ 0 w 610"/>
                <a:gd name="T43" fmla="*/ 24 h 51"/>
                <a:gd name="T44" fmla="*/ 0 w 610"/>
                <a:gd name="T45" fmla="*/ 31 h 51"/>
                <a:gd name="T46" fmla="*/ 0 w 610"/>
                <a:gd name="T47" fmla="*/ 38 h 51"/>
                <a:gd name="T48" fmla="*/ 0 w 610"/>
                <a:gd name="T49" fmla="*/ 44 h 51"/>
                <a:gd name="T50" fmla="*/ 0 w 610"/>
                <a:gd name="T51" fmla="*/ 51 h 51"/>
                <a:gd name="T52" fmla="*/ 4 w 610"/>
                <a:gd name="T53" fmla="*/ 48 h 51"/>
                <a:gd name="T54" fmla="*/ 4 w 610"/>
                <a:gd name="T55" fmla="*/ 41 h 51"/>
                <a:gd name="T56" fmla="*/ 4 w 610"/>
                <a:gd name="T57" fmla="*/ 34 h 51"/>
                <a:gd name="T58" fmla="*/ 4 w 610"/>
                <a:gd name="T59" fmla="*/ 28 h 51"/>
                <a:gd name="T60" fmla="*/ 4 w 610"/>
                <a:gd name="T61" fmla="*/ 21 h 51"/>
                <a:gd name="T62" fmla="*/ 4 w 610"/>
                <a:gd name="T63" fmla="*/ 14 h 51"/>
                <a:gd name="T64" fmla="*/ 4 w 610"/>
                <a:gd name="T65" fmla="*/ 9 h 51"/>
                <a:gd name="T66" fmla="*/ 4 w 610"/>
                <a:gd name="T67" fmla="*/ 3 h 51"/>
                <a:gd name="T68" fmla="*/ 2 w 61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0" h="51">
                  <a:moveTo>
                    <a:pt x="610" y="24"/>
                  </a:moveTo>
                  <a:lnTo>
                    <a:pt x="610" y="21"/>
                  </a:lnTo>
                  <a:lnTo>
                    <a:pt x="610" y="18"/>
                  </a:lnTo>
                  <a:lnTo>
                    <a:pt x="610" y="14"/>
                  </a:lnTo>
                  <a:lnTo>
                    <a:pt x="610" y="11"/>
                  </a:lnTo>
                  <a:lnTo>
                    <a:pt x="610" y="9"/>
                  </a:lnTo>
                  <a:lnTo>
                    <a:pt x="610" y="6"/>
                  </a:lnTo>
                  <a:lnTo>
                    <a:pt x="610" y="3"/>
                  </a:lnTo>
                  <a:lnTo>
                    <a:pt x="610" y="0"/>
                  </a:lnTo>
                  <a:lnTo>
                    <a:pt x="607" y="0"/>
                  </a:lnTo>
                  <a:lnTo>
                    <a:pt x="607" y="3"/>
                  </a:lnTo>
                  <a:lnTo>
                    <a:pt x="607" y="6"/>
                  </a:lnTo>
                  <a:lnTo>
                    <a:pt x="607" y="9"/>
                  </a:lnTo>
                  <a:lnTo>
                    <a:pt x="607" y="11"/>
                  </a:lnTo>
                  <a:lnTo>
                    <a:pt x="607" y="14"/>
                  </a:lnTo>
                  <a:lnTo>
                    <a:pt x="607" y="18"/>
                  </a:lnTo>
                  <a:lnTo>
                    <a:pt x="607" y="21"/>
                  </a:lnTo>
                  <a:lnTo>
                    <a:pt x="607" y="24"/>
                  </a:lnTo>
                  <a:lnTo>
                    <a:pt x="607" y="28"/>
                  </a:lnTo>
                  <a:lnTo>
                    <a:pt x="607" y="31"/>
                  </a:lnTo>
                  <a:lnTo>
                    <a:pt x="607" y="34"/>
                  </a:lnTo>
                  <a:lnTo>
                    <a:pt x="607" y="38"/>
                  </a:lnTo>
                  <a:lnTo>
                    <a:pt x="607" y="41"/>
                  </a:lnTo>
                  <a:lnTo>
                    <a:pt x="607" y="44"/>
                  </a:lnTo>
                  <a:lnTo>
                    <a:pt x="607" y="48"/>
                  </a:lnTo>
                  <a:lnTo>
                    <a:pt x="607" y="51"/>
                  </a:lnTo>
                  <a:lnTo>
                    <a:pt x="610" y="51"/>
                  </a:lnTo>
                  <a:lnTo>
                    <a:pt x="610" y="48"/>
                  </a:lnTo>
                  <a:lnTo>
                    <a:pt x="610" y="44"/>
                  </a:lnTo>
                  <a:lnTo>
                    <a:pt x="610" y="41"/>
                  </a:lnTo>
                  <a:lnTo>
                    <a:pt x="610" y="38"/>
                  </a:lnTo>
                  <a:lnTo>
                    <a:pt x="610" y="34"/>
                  </a:lnTo>
                  <a:lnTo>
                    <a:pt x="610" y="31"/>
                  </a:lnTo>
                  <a:lnTo>
                    <a:pt x="610" y="28"/>
                  </a:lnTo>
                  <a:lnTo>
                    <a:pt x="61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91" name="Freeform 332">
              <a:extLst>
                <a:ext uri="{FF2B5EF4-FFF2-40B4-BE49-F238E27FC236}">
                  <a16:creationId xmlns:a16="http://schemas.microsoft.com/office/drawing/2014/main" id="{5ED28B03-EA02-08E7-6F2D-58E6D91B5E41}"/>
                </a:ext>
              </a:extLst>
            </p:cNvPr>
            <p:cNvSpPr>
              <a:spLocks noEditPoints="1"/>
            </p:cNvSpPr>
            <p:nvPr/>
          </p:nvSpPr>
          <p:spPr bwMode="auto">
            <a:xfrm>
              <a:off x="1308" y="1713"/>
              <a:ext cx="606" cy="51"/>
            </a:xfrm>
            <a:custGeom>
              <a:avLst/>
              <a:gdLst>
                <a:gd name="T0" fmla="*/ 606 w 606"/>
                <a:gd name="T1" fmla="*/ 21 h 51"/>
                <a:gd name="T2" fmla="*/ 606 w 606"/>
                <a:gd name="T3" fmla="*/ 14 h 51"/>
                <a:gd name="T4" fmla="*/ 606 w 606"/>
                <a:gd name="T5" fmla="*/ 9 h 51"/>
                <a:gd name="T6" fmla="*/ 606 w 606"/>
                <a:gd name="T7" fmla="*/ 3 h 51"/>
                <a:gd name="T8" fmla="*/ 603 w 606"/>
                <a:gd name="T9" fmla="*/ 0 h 51"/>
                <a:gd name="T10" fmla="*/ 603 w 606"/>
                <a:gd name="T11" fmla="*/ 6 h 51"/>
                <a:gd name="T12" fmla="*/ 603 w 606"/>
                <a:gd name="T13" fmla="*/ 11 h 51"/>
                <a:gd name="T14" fmla="*/ 603 w 606"/>
                <a:gd name="T15" fmla="*/ 18 h 51"/>
                <a:gd name="T16" fmla="*/ 603 w 606"/>
                <a:gd name="T17" fmla="*/ 24 h 51"/>
                <a:gd name="T18" fmla="*/ 603 w 606"/>
                <a:gd name="T19" fmla="*/ 31 h 51"/>
                <a:gd name="T20" fmla="*/ 603 w 606"/>
                <a:gd name="T21" fmla="*/ 38 h 51"/>
                <a:gd name="T22" fmla="*/ 603 w 606"/>
                <a:gd name="T23" fmla="*/ 44 h 51"/>
                <a:gd name="T24" fmla="*/ 603 w 606"/>
                <a:gd name="T25" fmla="*/ 51 h 51"/>
                <a:gd name="T26" fmla="*/ 606 w 606"/>
                <a:gd name="T27" fmla="*/ 48 h 51"/>
                <a:gd name="T28" fmla="*/ 606 w 606"/>
                <a:gd name="T29" fmla="*/ 41 h 51"/>
                <a:gd name="T30" fmla="*/ 606 w 606"/>
                <a:gd name="T31" fmla="*/ 34 h 51"/>
                <a:gd name="T32" fmla="*/ 606 w 606"/>
                <a:gd name="T33" fmla="*/ 28 h 51"/>
                <a:gd name="T34" fmla="*/ 2 w 606"/>
                <a:gd name="T35" fmla="*/ 0 h 51"/>
                <a:gd name="T36" fmla="*/ 0 w 606"/>
                <a:gd name="T37" fmla="*/ 6 h 51"/>
                <a:gd name="T38" fmla="*/ 0 w 606"/>
                <a:gd name="T39" fmla="*/ 11 h 51"/>
                <a:gd name="T40" fmla="*/ 0 w 606"/>
                <a:gd name="T41" fmla="*/ 18 h 51"/>
                <a:gd name="T42" fmla="*/ 0 w 606"/>
                <a:gd name="T43" fmla="*/ 24 h 51"/>
                <a:gd name="T44" fmla="*/ 0 w 606"/>
                <a:gd name="T45" fmla="*/ 31 h 51"/>
                <a:gd name="T46" fmla="*/ 0 w 606"/>
                <a:gd name="T47" fmla="*/ 38 h 51"/>
                <a:gd name="T48" fmla="*/ 0 w 606"/>
                <a:gd name="T49" fmla="*/ 44 h 51"/>
                <a:gd name="T50" fmla="*/ 0 w 606"/>
                <a:gd name="T51" fmla="*/ 51 h 51"/>
                <a:gd name="T52" fmla="*/ 3 w 606"/>
                <a:gd name="T53" fmla="*/ 48 h 51"/>
                <a:gd name="T54" fmla="*/ 3 w 606"/>
                <a:gd name="T55" fmla="*/ 41 h 51"/>
                <a:gd name="T56" fmla="*/ 3 w 606"/>
                <a:gd name="T57" fmla="*/ 34 h 51"/>
                <a:gd name="T58" fmla="*/ 3 w 606"/>
                <a:gd name="T59" fmla="*/ 28 h 51"/>
                <a:gd name="T60" fmla="*/ 3 w 606"/>
                <a:gd name="T61" fmla="*/ 21 h 51"/>
                <a:gd name="T62" fmla="*/ 3 w 606"/>
                <a:gd name="T63" fmla="*/ 14 h 51"/>
                <a:gd name="T64" fmla="*/ 3 w 606"/>
                <a:gd name="T65" fmla="*/ 9 h 51"/>
                <a:gd name="T66" fmla="*/ 3 w 606"/>
                <a:gd name="T67" fmla="*/ 3 h 51"/>
                <a:gd name="T68" fmla="*/ 2 w 60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6" h="51">
                  <a:moveTo>
                    <a:pt x="606" y="24"/>
                  </a:moveTo>
                  <a:lnTo>
                    <a:pt x="606" y="21"/>
                  </a:lnTo>
                  <a:lnTo>
                    <a:pt x="606" y="18"/>
                  </a:lnTo>
                  <a:lnTo>
                    <a:pt x="606" y="14"/>
                  </a:lnTo>
                  <a:lnTo>
                    <a:pt x="606" y="11"/>
                  </a:lnTo>
                  <a:lnTo>
                    <a:pt x="606" y="9"/>
                  </a:lnTo>
                  <a:lnTo>
                    <a:pt x="606" y="6"/>
                  </a:lnTo>
                  <a:lnTo>
                    <a:pt x="606" y="3"/>
                  </a:lnTo>
                  <a:lnTo>
                    <a:pt x="606" y="0"/>
                  </a:lnTo>
                  <a:lnTo>
                    <a:pt x="603" y="0"/>
                  </a:lnTo>
                  <a:lnTo>
                    <a:pt x="603" y="3"/>
                  </a:lnTo>
                  <a:lnTo>
                    <a:pt x="603" y="6"/>
                  </a:lnTo>
                  <a:lnTo>
                    <a:pt x="603" y="9"/>
                  </a:lnTo>
                  <a:lnTo>
                    <a:pt x="603" y="11"/>
                  </a:lnTo>
                  <a:lnTo>
                    <a:pt x="603" y="14"/>
                  </a:lnTo>
                  <a:lnTo>
                    <a:pt x="603" y="18"/>
                  </a:lnTo>
                  <a:lnTo>
                    <a:pt x="603" y="21"/>
                  </a:lnTo>
                  <a:lnTo>
                    <a:pt x="603" y="24"/>
                  </a:lnTo>
                  <a:lnTo>
                    <a:pt x="603" y="28"/>
                  </a:lnTo>
                  <a:lnTo>
                    <a:pt x="603" y="31"/>
                  </a:lnTo>
                  <a:lnTo>
                    <a:pt x="603" y="34"/>
                  </a:lnTo>
                  <a:lnTo>
                    <a:pt x="603" y="38"/>
                  </a:lnTo>
                  <a:lnTo>
                    <a:pt x="603" y="41"/>
                  </a:lnTo>
                  <a:lnTo>
                    <a:pt x="603" y="44"/>
                  </a:lnTo>
                  <a:lnTo>
                    <a:pt x="603" y="48"/>
                  </a:lnTo>
                  <a:lnTo>
                    <a:pt x="603" y="51"/>
                  </a:lnTo>
                  <a:lnTo>
                    <a:pt x="606" y="51"/>
                  </a:lnTo>
                  <a:lnTo>
                    <a:pt x="606" y="48"/>
                  </a:lnTo>
                  <a:lnTo>
                    <a:pt x="606" y="44"/>
                  </a:lnTo>
                  <a:lnTo>
                    <a:pt x="606" y="41"/>
                  </a:lnTo>
                  <a:lnTo>
                    <a:pt x="606" y="38"/>
                  </a:lnTo>
                  <a:lnTo>
                    <a:pt x="606" y="34"/>
                  </a:lnTo>
                  <a:lnTo>
                    <a:pt x="606" y="31"/>
                  </a:lnTo>
                  <a:lnTo>
                    <a:pt x="606" y="28"/>
                  </a:lnTo>
                  <a:lnTo>
                    <a:pt x="60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92" name="Freeform 333">
              <a:extLst>
                <a:ext uri="{FF2B5EF4-FFF2-40B4-BE49-F238E27FC236}">
                  <a16:creationId xmlns:a16="http://schemas.microsoft.com/office/drawing/2014/main" id="{30C90A75-4016-FEA9-EBA0-C7C837CCFB1D}"/>
                </a:ext>
              </a:extLst>
            </p:cNvPr>
            <p:cNvSpPr>
              <a:spLocks noEditPoints="1"/>
            </p:cNvSpPr>
            <p:nvPr/>
          </p:nvSpPr>
          <p:spPr bwMode="auto">
            <a:xfrm>
              <a:off x="1310" y="1713"/>
              <a:ext cx="603" cy="51"/>
            </a:xfrm>
            <a:custGeom>
              <a:avLst/>
              <a:gdLst>
                <a:gd name="T0" fmla="*/ 603 w 603"/>
                <a:gd name="T1" fmla="*/ 21 h 51"/>
                <a:gd name="T2" fmla="*/ 603 w 603"/>
                <a:gd name="T3" fmla="*/ 14 h 51"/>
                <a:gd name="T4" fmla="*/ 603 w 603"/>
                <a:gd name="T5" fmla="*/ 9 h 51"/>
                <a:gd name="T6" fmla="*/ 603 w 603"/>
                <a:gd name="T7" fmla="*/ 3 h 51"/>
                <a:gd name="T8" fmla="*/ 599 w 603"/>
                <a:gd name="T9" fmla="*/ 0 h 51"/>
                <a:gd name="T10" fmla="*/ 599 w 603"/>
                <a:gd name="T11" fmla="*/ 6 h 51"/>
                <a:gd name="T12" fmla="*/ 599 w 603"/>
                <a:gd name="T13" fmla="*/ 11 h 51"/>
                <a:gd name="T14" fmla="*/ 599 w 603"/>
                <a:gd name="T15" fmla="*/ 18 h 51"/>
                <a:gd name="T16" fmla="*/ 599 w 603"/>
                <a:gd name="T17" fmla="*/ 24 h 51"/>
                <a:gd name="T18" fmla="*/ 599 w 603"/>
                <a:gd name="T19" fmla="*/ 31 h 51"/>
                <a:gd name="T20" fmla="*/ 599 w 603"/>
                <a:gd name="T21" fmla="*/ 38 h 51"/>
                <a:gd name="T22" fmla="*/ 599 w 603"/>
                <a:gd name="T23" fmla="*/ 44 h 51"/>
                <a:gd name="T24" fmla="*/ 599 w 603"/>
                <a:gd name="T25" fmla="*/ 51 h 51"/>
                <a:gd name="T26" fmla="*/ 603 w 603"/>
                <a:gd name="T27" fmla="*/ 48 h 51"/>
                <a:gd name="T28" fmla="*/ 603 w 603"/>
                <a:gd name="T29" fmla="*/ 41 h 51"/>
                <a:gd name="T30" fmla="*/ 603 w 603"/>
                <a:gd name="T31" fmla="*/ 34 h 51"/>
                <a:gd name="T32" fmla="*/ 603 w 603"/>
                <a:gd name="T33" fmla="*/ 28 h 51"/>
                <a:gd name="T34" fmla="*/ 1 w 603"/>
                <a:gd name="T35" fmla="*/ 0 h 51"/>
                <a:gd name="T36" fmla="*/ 0 w 603"/>
                <a:gd name="T37" fmla="*/ 6 h 51"/>
                <a:gd name="T38" fmla="*/ 0 w 603"/>
                <a:gd name="T39" fmla="*/ 11 h 51"/>
                <a:gd name="T40" fmla="*/ 0 w 603"/>
                <a:gd name="T41" fmla="*/ 18 h 51"/>
                <a:gd name="T42" fmla="*/ 0 w 603"/>
                <a:gd name="T43" fmla="*/ 24 h 51"/>
                <a:gd name="T44" fmla="*/ 0 w 603"/>
                <a:gd name="T45" fmla="*/ 31 h 51"/>
                <a:gd name="T46" fmla="*/ 0 w 603"/>
                <a:gd name="T47" fmla="*/ 38 h 51"/>
                <a:gd name="T48" fmla="*/ 0 w 603"/>
                <a:gd name="T49" fmla="*/ 44 h 51"/>
                <a:gd name="T50" fmla="*/ 0 w 603"/>
                <a:gd name="T51" fmla="*/ 51 h 51"/>
                <a:gd name="T52" fmla="*/ 3 w 603"/>
                <a:gd name="T53" fmla="*/ 48 h 51"/>
                <a:gd name="T54" fmla="*/ 3 w 603"/>
                <a:gd name="T55" fmla="*/ 41 h 51"/>
                <a:gd name="T56" fmla="*/ 3 w 603"/>
                <a:gd name="T57" fmla="*/ 34 h 51"/>
                <a:gd name="T58" fmla="*/ 3 w 603"/>
                <a:gd name="T59" fmla="*/ 28 h 51"/>
                <a:gd name="T60" fmla="*/ 3 w 603"/>
                <a:gd name="T61" fmla="*/ 21 h 51"/>
                <a:gd name="T62" fmla="*/ 3 w 603"/>
                <a:gd name="T63" fmla="*/ 14 h 51"/>
                <a:gd name="T64" fmla="*/ 3 w 603"/>
                <a:gd name="T65" fmla="*/ 9 h 51"/>
                <a:gd name="T66" fmla="*/ 3 w 603"/>
                <a:gd name="T67" fmla="*/ 3 h 51"/>
                <a:gd name="T68" fmla="*/ 1 w 60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3" h="51">
                  <a:moveTo>
                    <a:pt x="603" y="24"/>
                  </a:moveTo>
                  <a:lnTo>
                    <a:pt x="603" y="21"/>
                  </a:lnTo>
                  <a:lnTo>
                    <a:pt x="603" y="18"/>
                  </a:lnTo>
                  <a:lnTo>
                    <a:pt x="603" y="14"/>
                  </a:lnTo>
                  <a:lnTo>
                    <a:pt x="603" y="11"/>
                  </a:lnTo>
                  <a:lnTo>
                    <a:pt x="603" y="9"/>
                  </a:lnTo>
                  <a:lnTo>
                    <a:pt x="603" y="6"/>
                  </a:lnTo>
                  <a:lnTo>
                    <a:pt x="603" y="3"/>
                  </a:lnTo>
                  <a:lnTo>
                    <a:pt x="603" y="0"/>
                  </a:lnTo>
                  <a:lnTo>
                    <a:pt x="599" y="0"/>
                  </a:lnTo>
                  <a:lnTo>
                    <a:pt x="599" y="3"/>
                  </a:lnTo>
                  <a:lnTo>
                    <a:pt x="599" y="6"/>
                  </a:lnTo>
                  <a:lnTo>
                    <a:pt x="599" y="9"/>
                  </a:lnTo>
                  <a:lnTo>
                    <a:pt x="599" y="11"/>
                  </a:lnTo>
                  <a:lnTo>
                    <a:pt x="599" y="14"/>
                  </a:lnTo>
                  <a:lnTo>
                    <a:pt x="599" y="18"/>
                  </a:lnTo>
                  <a:lnTo>
                    <a:pt x="599" y="21"/>
                  </a:lnTo>
                  <a:lnTo>
                    <a:pt x="599" y="24"/>
                  </a:lnTo>
                  <a:lnTo>
                    <a:pt x="599" y="28"/>
                  </a:lnTo>
                  <a:lnTo>
                    <a:pt x="599" y="31"/>
                  </a:lnTo>
                  <a:lnTo>
                    <a:pt x="599" y="34"/>
                  </a:lnTo>
                  <a:lnTo>
                    <a:pt x="599" y="38"/>
                  </a:lnTo>
                  <a:lnTo>
                    <a:pt x="599" y="41"/>
                  </a:lnTo>
                  <a:lnTo>
                    <a:pt x="599" y="44"/>
                  </a:lnTo>
                  <a:lnTo>
                    <a:pt x="599" y="48"/>
                  </a:lnTo>
                  <a:lnTo>
                    <a:pt x="599" y="51"/>
                  </a:lnTo>
                  <a:lnTo>
                    <a:pt x="603" y="51"/>
                  </a:lnTo>
                  <a:lnTo>
                    <a:pt x="603" y="48"/>
                  </a:lnTo>
                  <a:lnTo>
                    <a:pt x="603" y="44"/>
                  </a:lnTo>
                  <a:lnTo>
                    <a:pt x="603" y="41"/>
                  </a:lnTo>
                  <a:lnTo>
                    <a:pt x="603" y="38"/>
                  </a:lnTo>
                  <a:lnTo>
                    <a:pt x="603" y="34"/>
                  </a:lnTo>
                  <a:lnTo>
                    <a:pt x="603" y="31"/>
                  </a:lnTo>
                  <a:lnTo>
                    <a:pt x="603" y="28"/>
                  </a:lnTo>
                  <a:lnTo>
                    <a:pt x="60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93" name="Freeform 334">
              <a:extLst>
                <a:ext uri="{FF2B5EF4-FFF2-40B4-BE49-F238E27FC236}">
                  <a16:creationId xmlns:a16="http://schemas.microsoft.com/office/drawing/2014/main" id="{8F1BCB8B-BB4F-7D6A-5013-2AC5624CC68F}"/>
                </a:ext>
              </a:extLst>
            </p:cNvPr>
            <p:cNvSpPr>
              <a:spLocks noEditPoints="1"/>
            </p:cNvSpPr>
            <p:nvPr/>
          </p:nvSpPr>
          <p:spPr bwMode="auto">
            <a:xfrm>
              <a:off x="1311" y="1713"/>
              <a:ext cx="600" cy="51"/>
            </a:xfrm>
            <a:custGeom>
              <a:avLst/>
              <a:gdLst>
                <a:gd name="T0" fmla="*/ 600 w 600"/>
                <a:gd name="T1" fmla="*/ 21 h 51"/>
                <a:gd name="T2" fmla="*/ 600 w 600"/>
                <a:gd name="T3" fmla="*/ 14 h 51"/>
                <a:gd name="T4" fmla="*/ 600 w 600"/>
                <a:gd name="T5" fmla="*/ 9 h 51"/>
                <a:gd name="T6" fmla="*/ 600 w 600"/>
                <a:gd name="T7" fmla="*/ 3 h 51"/>
                <a:gd name="T8" fmla="*/ 597 w 600"/>
                <a:gd name="T9" fmla="*/ 0 h 51"/>
                <a:gd name="T10" fmla="*/ 597 w 600"/>
                <a:gd name="T11" fmla="*/ 6 h 51"/>
                <a:gd name="T12" fmla="*/ 597 w 600"/>
                <a:gd name="T13" fmla="*/ 11 h 51"/>
                <a:gd name="T14" fmla="*/ 597 w 600"/>
                <a:gd name="T15" fmla="*/ 18 h 51"/>
                <a:gd name="T16" fmla="*/ 597 w 600"/>
                <a:gd name="T17" fmla="*/ 24 h 51"/>
                <a:gd name="T18" fmla="*/ 597 w 600"/>
                <a:gd name="T19" fmla="*/ 31 h 51"/>
                <a:gd name="T20" fmla="*/ 597 w 600"/>
                <a:gd name="T21" fmla="*/ 38 h 51"/>
                <a:gd name="T22" fmla="*/ 597 w 600"/>
                <a:gd name="T23" fmla="*/ 44 h 51"/>
                <a:gd name="T24" fmla="*/ 597 w 600"/>
                <a:gd name="T25" fmla="*/ 51 h 51"/>
                <a:gd name="T26" fmla="*/ 600 w 600"/>
                <a:gd name="T27" fmla="*/ 48 h 51"/>
                <a:gd name="T28" fmla="*/ 600 w 600"/>
                <a:gd name="T29" fmla="*/ 41 h 51"/>
                <a:gd name="T30" fmla="*/ 600 w 600"/>
                <a:gd name="T31" fmla="*/ 34 h 51"/>
                <a:gd name="T32" fmla="*/ 600 w 600"/>
                <a:gd name="T33" fmla="*/ 28 h 51"/>
                <a:gd name="T34" fmla="*/ 2 w 600"/>
                <a:gd name="T35" fmla="*/ 0 h 51"/>
                <a:gd name="T36" fmla="*/ 0 w 600"/>
                <a:gd name="T37" fmla="*/ 6 h 51"/>
                <a:gd name="T38" fmla="*/ 0 w 600"/>
                <a:gd name="T39" fmla="*/ 11 h 51"/>
                <a:gd name="T40" fmla="*/ 0 w 600"/>
                <a:gd name="T41" fmla="*/ 18 h 51"/>
                <a:gd name="T42" fmla="*/ 0 w 600"/>
                <a:gd name="T43" fmla="*/ 24 h 51"/>
                <a:gd name="T44" fmla="*/ 0 w 600"/>
                <a:gd name="T45" fmla="*/ 31 h 51"/>
                <a:gd name="T46" fmla="*/ 0 w 600"/>
                <a:gd name="T47" fmla="*/ 38 h 51"/>
                <a:gd name="T48" fmla="*/ 0 w 600"/>
                <a:gd name="T49" fmla="*/ 44 h 51"/>
                <a:gd name="T50" fmla="*/ 0 w 600"/>
                <a:gd name="T51" fmla="*/ 51 h 51"/>
                <a:gd name="T52" fmla="*/ 4 w 600"/>
                <a:gd name="T53" fmla="*/ 48 h 51"/>
                <a:gd name="T54" fmla="*/ 4 w 600"/>
                <a:gd name="T55" fmla="*/ 41 h 51"/>
                <a:gd name="T56" fmla="*/ 4 w 600"/>
                <a:gd name="T57" fmla="*/ 34 h 51"/>
                <a:gd name="T58" fmla="*/ 4 w 600"/>
                <a:gd name="T59" fmla="*/ 28 h 51"/>
                <a:gd name="T60" fmla="*/ 4 w 600"/>
                <a:gd name="T61" fmla="*/ 21 h 51"/>
                <a:gd name="T62" fmla="*/ 4 w 600"/>
                <a:gd name="T63" fmla="*/ 14 h 51"/>
                <a:gd name="T64" fmla="*/ 4 w 600"/>
                <a:gd name="T65" fmla="*/ 9 h 51"/>
                <a:gd name="T66" fmla="*/ 4 w 600"/>
                <a:gd name="T67" fmla="*/ 3 h 51"/>
                <a:gd name="T68" fmla="*/ 2 w 60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0" h="51">
                  <a:moveTo>
                    <a:pt x="600" y="24"/>
                  </a:moveTo>
                  <a:lnTo>
                    <a:pt x="600" y="21"/>
                  </a:lnTo>
                  <a:lnTo>
                    <a:pt x="600" y="18"/>
                  </a:lnTo>
                  <a:lnTo>
                    <a:pt x="600" y="14"/>
                  </a:lnTo>
                  <a:lnTo>
                    <a:pt x="600" y="11"/>
                  </a:lnTo>
                  <a:lnTo>
                    <a:pt x="600" y="9"/>
                  </a:lnTo>
                  <a:lnTo>
                    <a:pt x="600" y="6"/>
                  </a:lnTo>
                  <a:lnTo>
                    <a:pt x="600" y="3"/>
                  </a:lnTo>
                  <a:lnTo>
                    <a:pt x="600" y="0"/>
                  </a:lnTo>
                  <a:lnTo>
                    <a:pt x="597" y="0"/>
                  </a:lnTo>
                  <a:lnTo>
                    <a:pt x="597" y="3"/>
                  </a:lnTo>
                  <a:lnTo>
                    <a:pt x="597" y="6"/>
                  </a:lnTo>
                  <a:lnTo>
                    <a:pt x="597" y="9"/>
                  </a:lnTo>
                  <a:lnTo>
                    <a:pt x="597" y="11"/>
                  </a:lnTo>
                  <a:lnTo>
                    <a:pt x="597" y="14"/>
                  </a:lnTo>
                  <a:lnTo>
                    <a:pt x="597" y="18"/>
                  </a:lnTo>
                  <a:lnTo>
                    <a:pt x="597" y="21"/>
                  </a:lnTo>
                  <a:lnTo>
                    <a:pt x="597" y="24"/>
                  </a:lnTo>
                  <a:lnTo>
                    <a:pt x="597" y="28"/>
                  </a:lnTo>
                  <a:lnTo>
                    <a:pt x="597" y="31"/>
                  </a:lnTo>
                  <a:lnTo>
                    <a:pt x="597" y="34"/>
                  </a:lnTo>
                  <a:lnTo>
                    <a:pt x="597" y="38"/>
                  </a:lnTo>
                  <a:lnTo>
                    <a:pt x="597" y="41"/>
                  </a:lnTo>
                  <a:lnTo>
                    <a:pt x="597" y="44"/>
                  </a:lnTo>
                  <a:lnTo>
                    <a:pt x="597" y="48"/>
                  </a:lnTo>
                  <a:lnTo>
                    <a:pt x="597" y="51"/>
                  </a:lnTo>
                  <a:lnTo>
                    <a:pt x="600" y="51"/>
                  </a:lnTo>
                  <a:lnTo>
                    <a:pt x="600" y="48"/>
                  </a:lnTo>
                  <a:lnTo>
                    <a:pt x="600" y="44"/>
                  </a:lnTo>
                  <a:lnTo>
                    <a:pt x="600" y="41"/>
                  </a:lnTo>
                  <a:lnTo>
                    <a:pt x="600" y="38"/>
                  </a:lnTo>
                  <a:lnTo>
                    <a:pt x="600" y="34"/>
                  </a:lnTo>
                  <a:lnTo>
                    <a:pt x="600" y="31"/>
                  </a:lnTo>
                  <a:lnTo>
                    <a:pt x="600" y="28"/>
                  </a:lnTo>
                  <a:lnTo>
                    <a:pt x="60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94" name="Freeform 335">
              <a:extLst>
                <a:ext uri="{FF2B5EF4-FFF2-40B4-BE49-F238E27FC236}">
                  <a16:creationId xmlns:a16="http://schemas.microsoft.com/office/drawing/2014/main" id="{7A546B9A-BD13-3C44-7477-AF75D8292CF3}"/>
                </a:ext>
              </a:extLst>
            </p:cNvPr>
            <p:cNvSpPr>
              <a:spLocks noEditPoints="1"/>
            </p:cNvSpPr>
            <p:nvPr/>
          </p:nvSpPr>
          <p:spPr bwMode="auto">
            <a:xfrm>
              <a:off x="1313" y="1713"/>
              <a:ext cx="596" cy="51"/>
            </a:xfrm>
            <a:custGeom>
              <a:avLst/>
              <a:gdLst>
                <a:gd name="T0" fmla="*/ 596 w 596"/>
                <a:gd name="T1" fmla="*/ 21 h 51"/>
                <a:gd name="T2" fmla="*/ 596 w 596"/>
                <a:gd name="T3" fmla="*/ 14 h 51"/>
                <a:gd name="T4" fmla="*/ 596 w 596"/>
                <a:gd name="T5" fmla="*/ 9 h 51"/>
                <a:gd name="T6" fmla="*/ 596 w 596"/>
                <a:gd name="T7" fmla="*/ 3 h 51"/>
                <a:gd name="T8" fmla="*/ 593 w 596"/>
                <a:gd name="T9" fmla="*/ 0 h 51"/>
                <a:gd name="T10" fmla="*/ 593 w 596"/>
                <a:gd name="T11" fmla="*/ 6 h 51"/>
                <a:gd name="T12" fmla="*/ 593 w 596"/>
                <a:gd name="T13" fmla="*/ 11 h 51"/>
                <a:gd name="T14" fmla="*/ 593 w 596"/>
                <a:gd name="T15" fmla="*/ 18 h 51"/>
                <a:gd name="T16" fmla="*/ 593 w 596"/>
                <a:gd name="T17" fmla="*/ 24 h 51"/>
                <a:gd name="T18" fmla="*/ 593 w 596"/>
                <a:gd name="T19" fmla="*/ 31 h 51"/>
                <a:gd name="T20" fmla="*/ 593 w 596"/>
                <a:gd name="T21" fmla="*/ 38 h 51"/>
                <a:gd name="T22" fmla="*/ 593 w 596"/>
                <a:gd name="T23" fmla="*/ 44 h 51"/>
                <a:gd name="T24" fmla="*/ 593 w 596"/>
                <a:gd name="T25" fmla="*/ 51 h 51"/>
                <a:gd name="T26" fmla="*/ 596 w 596"/>
                <a:gd name="T27" fmla="*/ 48 h 51"/>
                <a:gd name="T28" fmla="*/ 596 w 596"/>
                <a:gd name="T29" fmla="*/ 41 h 51"/>
                <a:gd name="T30" fmla="*/ 596 w 596"/>
                <a:gd name="T31" fmla="*/ 34 h 51"/>
                <a:gd name="T32" fmla="*/ 596 w 596"/>
                <a:gd name="T33" fmla="*/ 28 h 51"/>
                <a:gd name="T34" fmla="*/ 2 w 596"/>
                <a:gd name="T35" fmla="*/ 0 h 51"/>
                <a:gd name="T36" fmla="*/ 0 w 596"/>
                <a:gd name="T37" fmla="*/ 6 h 51"/>
                <a:gd name="T38" fmla="*/ 0 w 596"/>
                <a:gd name="T39" fmla="*/ 11 h 51"/>
                <a:gd name="T40" fmla="*/ 0 w 596"/>
                <a:gd name="T41" fmla="*/ 18 h 51"/>
                <a:gd name="T42" fmla="*/ 0 w 596"/>
                <a:gd name="T43" fmla="*/ 24 h 51"/>
                <a:gd name="T44" fmla="*/ 0 w 596"/>
                <a:gd name="T45" fmla="*/ 31 h 51"/>
                <a:gd name="T46" fmla="*/ 0 w 596"/>
                <a:gd name="T47" fmla="*/ 38 h 51"/>
                <a:gd name="T48" fmla="*/ 0 w 596"/>
                <a:gd name="T49" fmla="*/ 44 h 51"/>
                <a:gd name="T50" fmla="*/ 0 w 596"/>
                <a:gd name="T51" fmla="*/ 51 h 51"/>
                <a:gd name="T52" fmla="*/ 3 w 596"/>
                <a:gd name="T53" fmla="*/ 48 h 51"/>
                <a:gd name="T54" fmla="*/ 3 w 596"/>
                <a:gd name="T55" fmla="*/ 41 h 51"/>
                <a:gd name="T56" fmla="*/ 3 w 596"/>
                <a:gd name="T57" fmla="*/ 34 h 51"/>
                <a:gd name="T58" fmla="*/ 3 w 596"/>
                <a:gd name="T59" fmla="*/ 28 h 51"/>
                <a:gd name="T60" fmla="*/ 3 w 596"/>
                <a:gd name="T61" fmla="*/ 21 h 51"/>
                <a:gd name="T62" fmla="*/ 3 w 596"/>
                <a:gd name="T63" fmla="*/ 14 h 51"/>
                <a:gd name="T64" fmla="*/ 3 w 596"/>
                <a:gd name="T65" fmla="*/ 9 h 51"/>
                <a:gd name="T66" fmla="*/ 3 w 596"/>
                <a:gd name="T67" fmla="*/ 3 h 51"/>
                <a:gd name="T68" fmla="*/ 2 w 5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6" h="51">
                  <a:moveTo>
                    <a:pt x="596" y="24"/>
                  </a:moveTo>
                  <a:lnTo>
                    <a:pt x="596" y="21"/>
                  </a:lnTo>
                  <a:lnTo>
                    <a:pt x="596" y="18"/>
                  </a:lnTo>
                  <a:lnTo>
                    <a:pt x="596" y="14"/>
                  </a:lnTo>
                  <a:lnTo>
                    <a:pt x="596" y="11"/>
                  </a:lnTo>
                  <a:lnTo>
                    <a:pt x="596" y="9"/>
                  </a:lnTo>
                  <a:lnTo>
                    <a:pt x="596" y="6"/>
                  </a:lnTo>
                  <a:lnTo>
                    <a:pt x="596" y="3"/>
                  </a:lnTo>
                  <a:lnTo>
                    <a:pt x="596" y="0"/>
                  </a:lnTo>
                  <a:lnTo>
                    <a:pt x="593" y="0"/>
                  </a:lnTo>
                  <a:lnTo>
                    <a:pt x="593" y="3"/>
                  </a:lnTo>
                  <a:lnTo>
                    <a:pt x="593" y="6"/>
                  </a:lnTo>
                  <a:lnTo>
                    <a:pt x="593" y="9"/>
                  </a:lnTo>
                  <a:lnTo>
                    <a:pt x="593" y="11"/>
                  </a:lnTo>
                  <a:lnTo>
                    <a:pt x="593" y="14"/>
                  </a:lnTo>
                  <a:lnTo>
                    <a:pt x="593" y="18"/>
                  </a:lnTo>
                  <a:lnTo>
                    <a:pt x="593" y="21"/>
                  </a:lnTo>
                  <a:lnTo>
                    <a:pt x="593" y="24"/>
                  </a:lnTo>
                  <a:lnTo>
                    <a:pt x="593" y="28"/>
                  </a:lnTo>
                  <a:lnTo>
                    <a:pt x="593" y="31"/>
                  </a:lnTo>
                  <a:lnTo>
                    <a:pt x="593" y="34"/>
                  </a:lnTo>
                  <a:lnTo>
                    <a:pt x="593" y="38"/>
                  </a:lnTo>
                  <a:lnTo>
                    <a:pt x="593" y="41"/>
                  </a:lnTo>
                  <a:lnTo>
                    <a:pt x="593" y="44"/>
                  </a:lnTo>
                  <a:lnTo>
                    <a:pt x="593" y="48"/>
                  </a:lnTo>
                  <a:lnTo>
                    <a:pt x="593" y="51"/>
                  </a:lnTo>
                  <a:lnTo>
                    <a:pt x="596" y="51"/>
                  </a:lnTo>
                  <a:lnTo>
                    <a:pt x="596" y="48"/>
                  </a:lnTo>
                  <a:lnTo>
                    <a:pt x="596" y="44"/>
                  </a:lnTo>
                  <a:lnTo>
                    <a:pt x="596" y="41"/>
                  </a:lnTo>
                  <a:lnTo>
                    <a:pt x="596" y="38"/>
                  </a:lnTo>
                  <a:lnTo>
                    <a:pt x="596" y="34"/>
                  </a:lnTo>
                  <a:lnTo>
                    <a:pt x="596" y="31"/>
                  </a:lnTo>
                  <a:lnTo>
                    <a:pt x="596" y="28"/>
                  </a:lnTo>
                  <a:lnTo>
                    <a:pt x="59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95" name="Freeform 336">
              <a:extLst>
                <a:ext uri="{FF2B5EF4-FFF2-40B4-BE49-F238E27FC236}">
                  <a16:creationId xmlns:a16="http://schemas.microsoft.com/office/drawing/2014/main" id="{5D94A31E-6DD2-AEB4-CBB4-1BF759F5DC37}"/>
                </a:ext>
              </a:extLst>
            </p:cNvPr>
            <p:cNvSpPr>
              <a:spLocks noEditPoints="1"/>
            </p:cNvSpPr>
            <p:nvPr/>
          </p:nvSpPr>
          <p:spPr bwMode="auto">
            <a:xfrm>
              <a:off x="1315" y="1713"/>
              <a:ext cx="593" cy="51"/>
            </a:xfrm>
            <a:custGeom>
              <a:avLst/>
              <a:gdLst>
                <a:gd name="T0" fmla="*/ 593 w 593"/>
                <a:gd name="T1" fmla="*/ 21 h 51"/>
                <a:gd name="T2" fmla="*/ 593 w 593"/>
                <a:gd name="T3" fmla="*/ 14 h 51"/>
                <a:gd name="T4" fmla="*/ 593 w 593"/>
                <a:gd name="T5" fmla="*/ 9 h 51"/>
                <a:gd name="T6" fmla="*/ 593 w 593"/>
                <a:gd name="T7" fmla="*/ 3 h 51"/>
                <a:gd name="T8" fmla="*/ 589 w 593"/>
                <a:gd name="T9" fmla="*/ 0 h 51"/>
                <a:gd name="T10" fmla="*/ 589 w 593"/>
                <a:gd name="T11" fmla="*/ 6 h 51"/>
                <a:gd name="T12" fmla="*/ 589 w 593"/>
                <a:gd name="T13" fmla="*/ 11 h 51"/>
                <a:gd name="T14" fmla="*/ 589 w 593"/>
                <a:gd name="T15" fmla="*/ 18 h 51"/>
                <a:gd name="T16" fmla="*/ 589 w 593"/>
                <a:gd name="T17" fmla="*/ 24 h 51"/>
                <a:gd name="T18" fmla="*/ 589 w 593"/>
                <a:gd name="T19" fmla="*/ 31 h 51"/>
                <a:gd name="T20" fmla="*/ 589 w 593"/>
                <a:gd name="T21" fmla="*/ 38 h 51"/>
                <a:gd name="T22" fmla="*/ 589 w 593"/>
                <a:gd name="T23" fmla="*/ 44 h 51"/>
                <a:gd name="T24" fmla="*/ 589 w 593"/>
                <a:gd name="T25" fmla="*/ 51 h 51"/>
                <a:gd name="T26" fmla="*/ 593 w 593"/>
                <a:gd name="T27" fmla="*/ 48 h 51"/>
                <a:gd name="T28" fmla="*/ 593 w 593"/>
                <a:gd name="T29" fmla="*/ 41 h 51"/>
                <a:gd name="T30" fmla="*/ 593 w 593"/>
                <a:gd name="T31" fmla="*/ 34 h 51"/>
                <a:gd name="T32" fmla="*/ 593 w 593"/>
                <a:gd name="T33" fmla="*/ 28 h 51"/>
                <a:gd name="T34" fmla="*/ 1 w 593"/>
                <a:gd name="T35" fmla="*/ 0 h 51"/>
                <a:gd name="T36" fmla="*/ 0 w 593"/>
                <a:gd name="T37" fmla="*/ 6 h 51"/>
                <a:gd name="T38" fmla="*/ 0 w 593"/>
                <a:gd name="T39" fmla="*/ 11 h 51"/>
                <a:gd name="T40" fmla="*/ 0 w 593"/>
                <a:gd name="T41" fmla="*/ 18 h 51"/>
                <a:gd name="T42" fmla="*/ 0 w 593"/>
                <a:gd name="T43" fmla="*/ 24 h 51"/>
                <a:gd name="T44" fmla="*/ 0 w 593"/>
                <a:gd name="T45" fmla="*/ 31 h 51"/>
                <a:gd name="T46" fmla="*/ 0 w 593"/>
                <a:gd name="T47" fmla="*/ 38 h 51"/>
                <a:gd name="T48" fmla="*/ 0 w 593"/>
                <a:gd name="T49" fmla="*/ 44 h 51"/>
                <a:gd name="T50" fmla="*/ 0 w 593"/>
                <a:gd name="T51" fmla="*/ 51 h 51"/>
                <a:gd name="T52" fmla="*/ 3 w 593"/>
                <a:gd name="T53" fmla="*/ 48 h 51"/>
                <a:gd name="T54" fmla="*/ 3 w 593"/>
                <a:gd name="T55" fmla="*/ 41 h 51"/>
                <a:gd name="T56" fmla="*/ 3 w 593"/>
                <a:gd name="T57" fmla="*/ 34 h 51"/>
                <a:gd name="T58" fmla="*/ 3 w 593"/>
                <a:gd name="T59" fmla="*/ 28 h 51"/>
                <a:gd name="T60" fmla="*/ 3 w 593"/>
                <a:gd name="T61" fmla="*/ 21 h 51"/>
                <a:gd name="T62" fmla="*/ 3 w 593"/>
                <a:gd name="T63" fmla="*/ 14 h 51"/>
                <a:gd name="T64" fmla="*/ 3 w 593"/>
                <a:gd name="T65" fmla="*/ 9 h 51"/>
                <a:gd name="T66" fmla="*/ 3 w 593"/>
                <a:gd name="T67" fmla="*/ 3 h 51"/>
                <a:gd name="T68" fmla="*/ 1 w 59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3" h="51">
                  <a:moveTo>
                    <a:pt x="593" y="24"/>
                  </a:moveTo>
                  <a:lnTo>
                    <a:pt x="593" y="21"/>
                  </a:lnTo>
                  <a:lnTo>
                    <a:pt x="593" y="18"/>
                  </a:lnTo>
                  <a:lnTo>
                    <a:pt x="593" y="14"/>
                  </a:lnTo>
                  <a:lnTo>
                    <a:pt x="593" y="11"/>
                  </a:lnTo>
                  <a:lnTo>
                    <a:pt x="593" y="9"/>
                  </a:lnTo>
                  <a:lnTo>
                    <a:pt x="593" y="6"/>
                  </a:lnTo>
                  <a:lnTo>
                    <a:pt x="593" y="3"/>
                  </a:lnTo>
                  <a:lnTo>
                    <a:pt x="593" y="0"/>
                  </a:lnTo>
                  <a:lnTo>
                    <a:pt x="589" y="0"/>
                  </a:lnTo>
                  <a:lnTo>
                    <a:pt x="589" y="3"/>
                  </a:lnTo>
                  <a:lnTo>
                    <a:pt x="589" y="6"/>
                  </a:lnTo>
                  <a:lnTo>
                    <a:pt x="589" y="9"/>
                  </a:lnTo>
                  <a:lnTo>
                    <a:pt x="589" y="11"/>
                  </a:lnTo>
                  <a:lnTo>
                    <a:pt x="589" y="14"/>
                  </a:lnTo>
                  <a:lnTo>
                    <a:pt x="589" y="18"/>
                  </a:lnTo>
                  <a:lnTo>
                    <a:pt x="589" y="21"/>
                  </a:lnTo>
                  <a:lnTo>
                    <a:pt x="589" y="24"/>
                  </a:lnTo>
                  <a:lnTo>
                    <a:pt x="589" y="28"/>
                  </a:lnTo>
                  <a:lnTo>
                    <a:pt x="589" y="31"/>
                  </a:lnTo>
                  <a:lnTo>
                    <a:pt x="589" y="34"/>
                  </a:lnTo>
                  <a:lnTo>
                    <a:pt x="589" y="38"/>
                  </a:lnTo>
                  <a:lnTo>
                    <a:pt x="589" y="41"/>
                  </a:lnTo>
                  <a:lnTo>
                    <a:pt x="589" y="44"/>
                  </a:lnTo>
                  <a:lnTo>
                    <a:pt x="589" y="48"/>
                  </a:lnTo>
                  <a:lnTo>
                    <a:pt x="589" y="51"/>
                  </a:lnTo>
                  <a:lnTo>
                    <a:pt x="593" y="51"/>
                  </a:lnTo>
                  <a:lnTo>
                    <a:pt x="593" y="48"/>
                  </a:lnTo>
                  <a:lnTo>
                    <a:pt x="593" y="44"/>
                  </a:lnTo>
                  <a:lnTo>
                    <a:pt x="593" y="41"/>
                  </a:lnTo>
                  <a:lnTo>
                    <a:pt x="593" y="38"/>
                  </a:lnTo>
                  <a:lnTo>
                    <a:pt x="593" y="34"/>
                  </a:lnTo>
                  <a:lnTo>
                    <a:pt x="593" y="31"/>
                  </a:lnTo>
                  <a:lnTo>
                    <a:pt x="593" y="28"/>
                  </a:lnTo>
                  <a:lnTo>
                    <a:pt x="59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96" name="Freeform 337">
              <a:extLst>
                <a:ext uri="{FF2B5EF4-FFF2-40B4-BE49-F238E27FC236}">
                  <a16:creationId xmlns:a16="http://schemas.microsoft.com/office/drawing/2014/main" id="{A7DA173E-D58C-4716-D210-5E21CD53A8EE}"/>
                </a:ext>
              </a:extLst>
            </p:cNvPr>
            <p:cNvSpPr>
              <a:spLocks noEditPoints="1"/>
            </p:cNvSpPr>
            <p:nvPr/>
          </p:nvSpPr>
          <p:spPr bwMode="auto">
            <a:xfrm>
              <a:off x="1316" y="1713"/>
              <a:ext cx="590" cy="51"/>
            </a:xfrm>
            <a:custGeom>
              <a:avLst/>
              <a:gdLst>
                <a:gd name="T0" fmla="*/ 590 w 590"/>
                <a:gd name="T1" fmla="*/ 21 h 51"/>
                <a:gd name="T2" fmla="*/ 590 w 590"/>
                <a:gd name="T3" fmla="*/ 14 h 51"/>
                <a:gd name="T4" fmla="*/ 590 w 590"/>
                <a:gd name="T5" fmla="*/ 9 h 51"/>
                <a:gd name="T6" fmla="*/ 590 w 590"/>
                <a:gd name="T7" fmla="*/ 3 h 51"/>
                <a:gd name="T8" fmla="*/ 587 w 590"/>
                <a:gd name="T9" fmla="*/ 0 h 51"/>
                <a:gd name="T10" fmla="*/ 587 w 590"/>
                <a:gd name="T11" fmla="*/ 6 h 51"/>
                <a:gd name="T12" fmla="*/ 587 w 590"/>
                <a:gd name="T13" fmla="*/ 11 h 51"/>
                <a:gd name="T14" fmla="*/ 587 w 590"/>
                <a:gd name="T15" fmla="*/ 18 h 51"/>
                <a:gd name="T16" fmla="*/ 587 w 590"/>
                <a:gd name="T17" fmla="*/ 24 h 51"/>
                <a:gd name="T18" fmla="*/ 587 w 590"/>
                <a:gd name="T19" fmla="*/ 31 h 51"/>
                <a:gd name="T20" fmla="*/ 587 w 590"/>
                <a:gd name="T21" fmla="*/ 38 h 51"/>
                <a:gd name="T22" fmla="*/ 587 w 590"/>
                <a:gd name="T23" fmla="*/ 44 h 51"/>
                <a:gd name="T24" fmla="*/ 587 w 590"/>
                <a:gd name="T25" fmla="*/ 51 h 51"/>
                <a:gd name="T26" fmla="*/ 590 w 590"/>
                <a:gd name="T27" fmla="*/ 48 h 51"/>
                <a:gd name="T28" fmla="*/ 590 w 590"/>
                <a:gd name="T29" fmla="*/ 41 h 51"/>
                <a:gd name="T30" fmla="*/ 590 w 590"/>
                <a:gd name="T31" fmla="*/ 34 h 51"/>
                <a:gd name="T32" fmla="*/ 590 w 590"/>
                <a:gd name="T33" fmla="*/ 28 h 51"/>
                <a:gd name="T34" fmla="*/ 2 w 590"/>
                <a:gd name="T35" fmla="*/ 0 h 51"/>
                <a:gd name="T36" fmla="*/ 0 w 590"/>
                <a:gd name="T37" fmla="*/ 6 h 51"/>
                <a:gd name="T38" fmla="*/ 0 w 590"/>
                <a:gd name="T39" fmla="*/ 11 h 51"/>
                <a:gd name="T40" fmla="*/ 0 w 590"/>
                <a:gd name="T41" fmla="*/ 18 h 51"/>
                <a:gd name="T42" fmla="*/ 0 w 590"/>
                <a:gd name="T43" fmla="*/ 24 h 51"/>
                <a:gd name="T44" fmla="*/ 0 w 590"/>
                <a:gd name="T45" fmla="*/ 31 h 51"/>
                <a:gd name="T46" fmla="*/ 0 w 590"/>
                <a:gd name="T47" fmla="*/ 38 h 51"/>
                <a:gd name="T48" fmla="*/ 0 w 590"/>
                <a:gd name="T49" fmla="*/ 44 h 51"/>
                <a:gd name="T50" fmla="*/ 0 w 590"/>
                <a:gd name="T51" fmla="*/ 51 h 51"/>
                <a:gd name="T52" fmla="*/ 4 w 590"/>
                <a:gd name="T53" fmla="*/ 48 h 51"/>
                <a:gd name="T54" fmla="*/ 4 w 590"/>
                <a:gd name="T55" fmla="*/ 41 h 51"/>
                <a:gd name="T56" fmla="*/ 4 w 590"/>
                <a:gd name="T57" fmla="*/ 34 h 51"/>
                <a:gd name="T58" fmla="*/ 4 w 590"/>
                <a:gd name="T59" fmla="*/ 28 h 51"/>
                <a:gd name="T60" fmla="*/ 4 w 590"/>
                <a:gd name="T61" fmla="*/ 21 h 51"/>
                <a:gd name="T62" fmla="*/ 4 w 590"/>
                <a:gd name="T63" fmla="*/ 14 h 51"/>
                <a:gd name="T64" fmla="*/ 4 w 590"/>
                <a:gd name="T65" fmla="*/ 9 h 51"/>
                <a:gd name="T66" fmla="*/ 4 w 590"/>
                <a:gd name="T67" fmla="*/ 3 h 51"/>
                <a:gd name="T68" fmla="*/ 2 w 59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0" h="51">
                  <a:moveTo>
                    <a:pt x="590" y="24"/>
                  </a:moveTo>
                  <a:lnTo>
                    <a:pt x="590" y="21"/>
                  </a:lnTo>
                  <a:lnTo>
                    <a:pt x="590" y="18"/>
                  </a:lnTo>
                  <a:lnTo>
                    <a:pt x="590" y="14"/>
                  </a:lnTo>
                  <a:lnTo>
                    <a:pt x="590" y="11"/>
                  </a:lnTo>
                  <a:lnTo>
                    <a:pt x="590" y="9"/>
                  </a:lnTo>
                  <a:lnTo>
                    <a:pt x="590" y="6"/>
                  </a:lnTo>
                  <a:lnTo>
                    <a:pt x="590" y="3"/>
                  </a:lnTo>
                  <a:lnTo>
                    <a:pt x="590" y="0"/>
                  </a:lnTo>
                  <a:lnTo>
                    <a:pt x="587" y="0"/>
                  </a:lnTo>
                  <a:lnTo>
                    <a:pt x="587" y="3"/>
                  </a:lnTo>
                  <a:lnTo>
                    <a:pt x="587" y="6"/>
                  </a:lnTo>
                  <a:lnTo>
                    <a:pt x="587" y="9"/>
                  </a:lnTo>
                  <a:lnTo>
                    <a:pt x="587" y="11"/>
                  </a:lnTo>
                  <a:lnTo>
                    <a:pt x="587" y="14"/>
                  </a:lnTo>
                  <a:lnTo>
                    <a:pt x="587" y="18"/>
                  </a:lnTo>
                  <a:lnTo>
                    <a:pt x="587" y="21"/>
                  </a:lnTo>
                  <a:lnTo>
                    <a:pt x="587" y="24"/>
                  </a:lnTo>
                  <a:lnTo>
                    <a:pt x="587" y="28"/>
                  </a:lnTo>
                  <a:lnTo>
                    <a:pt x="587" y="31"/>
                  </a:lnTo>
                  <a:lnTo>
                    <a:pt x="587" y="34"/>
                  </a:lnTo>
                  <a:lnTo>
                    <a:pt x="587" y="38"/>
                  </a:lnTo>
                  <a:lnTo>
                    <a:pt x="587" y="41"/>
                  </a:lnTo>
                  <a:lnTo>
                    <a:pt x="587" y="44"/>
                  </a:lnTo>
                  <a:lnTo>
                    <a:pt x="587" y="48"/>
                  </a:lnTo>
                  <a:lnTo>
                    <a:pt x="587" y="51"/>
                  </a:lnTo>
                  <a:lnTo>
                    <a:pt x="590" y="51"/>
                  </a:lnTo>
                  <a:lnTo>
                    <a:pt x="590" y="48"/>
                  </a:lnTo>
                  <a:lnTo>
                    <a:pt x="590" y="44"/>
                  </a:lnTo>
                  <a:lnTo>
                    <a:pt x="590" y="41"/>
                  </a:lnTo>
                  <a:lnTo>
                    <a:pt x="590" y="38"/>
                  </a:lnTo>
                  <a:lnTo>
                    <a:pt x="590" y="34"/>
                  </a:lnTo>
                  <a:lnTo>
                    <a:pt x="590" y="31"/>
                  </a:lnTo>
                  <a:lnTo>
                    <a:pt x="590" y="28"/>
                  </a:lnTo>
                  <a:lnTo>
                    <a:pt x="59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97" name="Freeform 338">
              <a:extLst>
                <a:ext uri="{FF2B5EF4-FFF2-40B4-BE49-F238E27FC236}">
                  <a16:creationId xmlns:a16="http://schemas.microsoft.com/office/drawing/2014/main" id="{E5717EBA-775C-E523-361B-C2D2374AF61B}"/>
                </a:ext>
              </a:extLst>
            </p:cNvPr>
            <p:cNvSpPr>
              <a:spLocks noEditPoints="1"/>
            </p:cNvSpPr>
            <p:nvPr/>
          </p:nvSpPr>
          <p:spPr bwMode="auto">
            <a:xfrm>
              <a:off x="1318" y="1713"/>
              <a:ext cx="586" cy="51"/>
            </a:xfrm>
            <a:custGeom>
              <a:avLst/>
              <a:gdLst>
                <a:gd name="T0" fmla="*/ 586 w 586"/>
                <a:gd name="T1" fmla="*/ 21 h 51"/>
                <a:gd name="T2" fmla="*/ 586 w 586"/>
                <a:gd name="T3" fmla="*/ 14 h 51"/>
                <a:gd name="T4" fmla="*/ 586 w 586"/>
                <a:gd name="T5" fmla="*/ 9 h 51"/>
                <a:gd name="T6" fmla="*/ 586 w 586"/>
                <a:gd name="T7" fmla="*/ 3 h 51"/>
                <a:gd name="T8" fmla="*/ 583 w 586"/>
                <a:gd name="T9" fmla="*/ 0 h 51"/>
                <a:gd name="T10" fmla="*/ 583 w 586"/>
                <a:gd name="T11" fmla="*/ 6 h 51"/>
                <a:gd name="T12" fmla="*/ 583 w 586"/>
                <a:gd name="T13" fmla="*/ 11 h 51"/>
                <a:gd name="T14" fmla="*/ 583 w 586"/>
                <a:gd name="T15" fmla="*/ 18 h 51"/>
                <a:gd name="T16" fmla="*/ 583 w 586"/>
                <a:gd name="T17" fmla="*/ 24 h 51"/>
                <a:gd name="T18" fmla="*/ 583 w 586"/>
                <a:gd name="T19" fmla="*/ 31 h 51"/>
                <a:gd name="T20" fmla="*/ 583 w 586"/>
                <a:gd name="T21" fmla="*/ 38 h 51"/>
                <a:gd name="T22" fmla="*/ 583 w 586"/>
                <a:gd name="T23" fmla="*/ 44 h 51"/>
                <a:gd name="T24" fmla="*/ 583 w 586"/>
                <a:gd name="T25" fmla="*/ 51 h 51"/>
                <a:gd name="T26" fmla="*/ 586 w 586"/>
                <a:gd name="T27" fmla="*/ 48 h 51"/>
                <a:gd name="T28" fmla="*/ 586 w 586"/>
                <a:gd name="T29" fmla="*/ 41 h 51"/>
                <a:gd name="T30" fmla="*/ 586 w 586"/>
                <a:gd name="T31" fmla="*/ 34 h 51"/>
                <a:gd name="T32" fmla="*/ 586 w 586"/>
                <a:gd name="T33" fmla="*/ 28 h 51"/>
                <a:gd name="T34" fmla="*/ 2 w 586"/>
                <a:gd name="T35" fmla="*/ 0 h 51"/>
                <a:gd name="T36" fmla="*/ 0 w 586"/>
                <a:gd name="T37" fmla="*/ 6 h 51"/>
                <a:gd name="T38" fmla="*/ 0 w 586"/>
                <a:gd name="T39" fmla="*/ 11 h 51"/>
                <a:gd name="T40" fmla="*/ 0 w 586"/>
                <a:gd name="T41" fmla="*/ 18 h 51"/>
                <a:gd name="T42" fmla="*/ 0 w 586"/>
                <a:gd name="T43" fmla="*/ 24 h 51"/>
                <a:gd name="T44" fmla="*/ 0 w 586"/>
                <a:gd name="T45" fmla="*/ 31 h 51"/>
                <a:gd name="T46" fmla="*/ 0 w 586"/>
                <a:gd name="T47" fmla="*/ 38 h 51"/>
                <a:gd name="T48" fmla="*/ 0 w 586"/>
                <a:gd name="T49" fmla="*/ 44 h 51"/>
                <a:gd name="T50" fmla="*/ 0 w 586"/>
                <a:gd name="T51" fmla="*/ 51 h 51"/>
                <a:gd name="T52" fmla="*/ 3 w 586"/>
                <a:gd name="T53" fmla="*/ 48 h 51"/>
                <a:gd name="T54" fmla="*/ 3 w 586"/>
                <a:gd name="T55" fmla="*/ 41 h 51"/>
                <a:gd name="T56" fmla="*/ 3 w 586"/>
                <a:gd name="T57" fmla="*/ 34 h 51"/>
                <a:gd name="T58" fmla="*/ 3 w 586"/>
                <a:gd name="T59" fmla="*/ 28 h 51"/>
                <a:gd name="T60" fmla="*/ 3 w 586"/>
                <a:gd name="T61" fmla="*/ 21 h 51"/>
                <a:gd name="T62" fmla="*/ 3 w 586"/>
                <a:gd name="T63" fmla="*/ 14 h 51"/>
                <a:gd name="T64" fmla="*/ 3 w 586"/>
                <a:gd name="T65" fmla="*/ 9 h 51"/>
                <a:gd name="T66" fmla="*/ 3 w 586"/>
                <a:gd name="T67" fmla="*/ 3 h 51"/>
                <a:gd name="T68" fmla="*/ 2 w 5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6" h="51">
                  <a:moveTo>
                    <a:pt x="586" y="24"/>
                  </a:moveTo>
                  <a:lnTo>
                    <a:pt x="586" y="21"/>
                  </a:lnTo>
                  <a:lnTo>
                    <a:pt x="586" y="18"/>
                  </a:lnTo>
                  <a:lnTo>
                    <a:pt x="586" y="14"/>
                  </a:lnTo>
                  <a:lnTo>
                    <a:pt x="586" y="11"/>
                  </a:lnTo>
                  <a:lnTo>
                    <a:pt x="586" y="9"/>
                  </a:lnTo>
                  <a:lnTo>
                    <a:pt x="586" y="6"/>
                  </a:lnTo>
                  <a:lnTo>
                    <a:pt x="586" y="3"/>
                  </a:lnTo>
                  <a:lnTo>
                    <a:pt x="586" y="0"/>
                  </a:lnTo>
                  <a:lnTo>
                    <a:pt x="583" y="0"/>
                  </a:lnTo>
                  <a:lnTo>
                    <a:pt x="583" y="3"/>
                  </a:lnTo>
                  <a:lnTo>
                    <a:pt x="583" y="6"/>
                  </a:lnTo>
                  <a:lnTo>
                    <a:pt x="583" y="9"/>
                  </a:lnTo>
                  <a:lnTo>
                    <a:pt x="583" y="11"/>
                  </a:lnTo>
                  <a:lnTo>
                    <a:pt x="583" y="14"/>
                  </a:lnTo>
                  <a:lnTo>
                    <a:pt x="583" y="18"/>
                  </a:lnTo>
                  <a:lnTo>
                    <a:pt x="583" y="21"/>
                  </a:lnTo>
                  <a:lnTo>
                    <a:pt x="583" y="24"/>
                  </a:lnTo>
                  <a:lnTo>
                    <a:pt x="583" y="28"/>
                  </a:lnTo>
                  <a:lnTo>
                    <a:pt x="583" y="31"/>
                  </a:lnTo>
                  <a:lnTo>
                    <a:pt x="583" y="34"/>
                  </a:lnTo>
                  <a:lnTo>
                    <a:pt x="583" y="38"/>
                  </a:lnTo>
                  <a:lnTo>
                    <a:pt x="583" y="41"/>
                  </a:lnTo>
                  <a:lnTo>
                    <a:pt x="583" y="44"/>
                  </a:lnTo>
                  <a:lnTo>
                    <a:pt x="583" y="48"/>
                  </a:lnTo>
                  <a:lnTo>
                    <a:pt x="583" y="51"/>
                  </a:lnTo>
                  <a:lnTo>
                    <a:pt x="586" y="51"/>
                  </a:lnTo>
                  <a:lnTo>
                    <a:pt x="586" y="48"/>
                  </a:lnTo>
                  <a:lnTo>
                    <a:pt x="586" y="44"/>
                  </a:lnTo>
                  <a:lnTo>
                    <a:pt x="586" y="41"/>
                  </a:lnTo>
                  <a:lnTo>
                    <a:pt x="586" y="38"/>
                  </a:lnTo>
                  <a:lnTo>
                    <a:pt x="586" y="34"/>
                  </a:lnTo>
                  <a:lnTo>
                    <a:pt x="586" y="31"/>
                  </a:lnTo>
                  <a:lnTo>
                    <a:pt x="586" y="28"/>
                  </a:lnTo>
                  <a:lnTo>
                    <a:pt x="58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98" name="Freeform 339">
              <a:extLst>
                <a:ext uri="{FF2B5EF4-FFF2-40B4-BE49-F238E27FC236}">
                  <a16:creationId xmlns:a16="http://schemas.microsoft.com/office/drawing/2014/main" id="{01A25D6A-79D8-A3CB-6648-14B1E62F7289}"/>
                </a:ext>
              </a:extLst>
            </p:cNvPr>
            <p:cNvSpPr>
              <a:spLocks noEditPoints="1"/>
            </p:cNvSpPr>
            <p:nvPr/>
          </p:nvSpPr>
          <p:spPr bwMode="auto">
            <a:xfrm>
              <a:off x="1320" y="1713"/>
              <a:ext cx="583" cy="51"/>
            </a:xfrm>
            <a:custGeom>
              <a:avLst/>
              <a:gdLst>
                <a:gd name="T0" fmla="*/ 583 w 583"/>
                <a:gd name="T1" fmla="*/ 21 h 51"/>
                <a:gd name="T2" fmla="*/ 583 w 583"/>
                <a:gd name="T3" fmla="*/ 14 h 51"/>
                <a:gd name="T4" fmla="*/ 583 w 583"/>
                <a:gd name="T5" fmla="*/ 9 h 51"/>
                <a:gd name="T6" fmla="*/ 583 w 583"/>
                <a:gd name="T7" fmla="*/ 3 h 51"/>
                <a:gd name="T8" fmla="*/ 579 w 583"/>
                <a:gd name="T9" fmla="*/ 0 h 51"/>
                <a:gd name="T10" fmla="*/ 579 w 583"/>
                <a:gd name="T11" fmla="*/ 6 h 51"/>
                <a:gd name="T12" fmla="*/ 579 w 583"/>
                <a:gd name="T13" fmla="*/ 11 h 51"/>
                <a:gd name="T14" fmla="*/ 579 w 583"/>
                <a:gd name="T15" fmla="*/ 18 h 51"/>
                <a:gd name="T16" fmla="*/ 579 w 583"/>
                <a:gd name="T17" fmla="*/ 24 h 51"/>
                <a:gd name="T18" fmla="*/ 579 w 583"/>
                <a:gd name="T19" fmla="*/ 31 h 51"/>
                <a:gd name="T20" fmla="*/ 579 w 583"/>
                <a:gd name="T21" fmla="*/ 38 h 51"/>
                <a:gd name="T22" fmla="*/ 579 w 583"/>
                <a:gd name="T23" fmla="*/ 44 h 51"/>
                <a:gd name="T24" fmla="*/ 579 w 583"/>
                <a:gd name="T25" fmla="*/ 51 h 51"/>
                <a:gd name="T26" fmla="*/ 583 w 583"/>
                <a:gd name="T27" fmla="*/ 48 h 51"/>
                <a:gd name="T28" fmla="*/ 583 w 583"/>
                <a:gd name="T29" fmla="*/ 41 h 51"/>
                <a:gd name="T30" fmla="*/ 583 w 583"/>
                <a:gd name="T31" fmla="*/ 34 h 51"/>
                <a:gd name="T32" fmla="*/ 583 w 583"/>
                <a:gd name="T33" fmla="*/ 28 h 51"/>
                <a:gd name="T34" fmla="*/ 1 w 583"/>
                <a:gd name="T35" fmla="*/ 0 h 51"/>
                <a:gd name="T36" fmla="*/ 0 w 583"/>
                <a:gd name="T37" fmla="*/ 6 h 51"/>
                <a:gd name="T38" fmla="*/ 0 w 583"/>
                <a:gd name="T39" fmla="*/ 11 h 51"/>
                <a:gd name="T40" fmla="*/ 0 w 583"/>
                <a:gd name="T41" fmla="*/ 18 h 51"/>
                <a:gd name="T42" fmla="*/ 0 w 583"/>
                <a:gd name="T43" fmla="*/ 24 h 51"/>
                <a:gd name="T44" fmla="*/ 0 w 583"/>
                <a:gd name="T45" fmla="*/ 31 h 51"/>
                <a:gd name="T46" fmla="*/ 0 w 583"/>
                <a:gd name="T47" fmla="*/ 38 h 51"/>
                <a:gd name="T48" fmla="*/ 0 w 583"/>
                <a:gd name="T49" fmla="*/ 44 h 51"/>
                <a:gd name="T50" fmla="*/ 0 w 583"/>
                <a:gd name="T51" fmla="*/ 51 h 51"/>
                <a:gd name="T52" fmla="*/ 3 w 583"/>
                <a:gd name="T53" fmla="*/ 48 h 51"/>
                <a:gd name="T54" fmla="*/ 3 w 583"/>
                <a:gd name="T55" fmla="*/ 41 h 51"/>
                <a:gd name="T56" fmla="*/ 3 w 583"/>
                <a:gd name="T57" fmla="*/ 34 h 51"/>
                <a:gd name="T58" fmla="*/ 3 w 583"/>
                <a:gd name="T59" fmla="*/ 28 h 51"/>
                <a:gd name="T60" fmla="*/ 3 w 583"/>
                <a:gd name="T61" fmla="*/ 21 h 51"/>
                <a:gd name="T62" fmla="*/ 3 w 583"/>
                <a:gd name="T63" fmla="*/ 14 h 51"/>
                <a:gd name="T64" fmla="*/ 3 w 583"/>
                <a:gd name="T65" fmla="*/ 9 h 51"/>
                <a:gd name="T66" fmla="*/ 3 w 583"/>
                <a:gd name="T67" fmla="*/ 3 h 51"/>
                <a:gd name="T68" fmla="*/ 1 w 58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3" h="51">
                  <a:moveTo>
                    <a:pt x="583" y="24"/>
                  </a:moveTo>
                  <a:lnTo>
                    <a:pt x="583" y="21"/>
                  </a:lnTo>
                  <a:lnTo>
                    <a:pt x="583" y="18"/>
                  </a:lnTo>
                  <a:lnTo>
                    <a:pt x="583" y="14"/>
                  </a:lnTo>
                  <a:lnTo>
                    <a:pt x="583" y="11"/>
                  </a:lnTo>
                  <a:lnTo>
                    <a:pt x="583" y="9"/>
                  </a:lnTo>
                  <a:lnTo>
                    <a:pt x="583" y="6"/>
                  </a:lnTo>
                  <a:lnTo>
                    <a:pt x="583" y="3"/>
                  </a:lnTo>
                  <a:lnTo>
                    <a:pt x="583" y="0"/>
                  </a:lnTo>
                  <a:lnTo>
                    <a:pt x="579" y="0"/>
                  </a:lnTo>
                  <a:lnTo>
                    <a:pt x="579" y="3"/>
                  </a:lnTo>
                  <a:lnTo>
                    <a:pt x="579" y="6"/>
                  </a:lnTo>
                  <a:lnTo>
                    <a:pt x="579" y="9"/>
                  </a:lnTo>
                  <a:lnTo>
                    <a:pt x="579" y="11"/>
                  </a:lnTo>
                  <a:lnTo>
                    <a:pt x="579" y="14"/>
                  </a:lnTo>
                  <a:lnTo>
                    <a:pt x="579" y="18"/>
                  </a:lnTo>
                  <a:lnTo>
                    <a:pt x="579" y="21"/>
                  </a:lnTo>
                  <a:lnTo>
                    <a:pt x="579" y="24"/>
                  </a:lnTo>
                  <a:lnTo>
                    <a:pt x="579" y="28"/>
                  </a:lnTo>
                  <a:lnTo>
                    <a:pt x="579" y="31"/>
                  </a:lnTo>
                  <a:lnTo>
                    <a:pt x="579" y="34"/>
                  </a:lnTo>
                  <a:lnTo>
                    <a:pt x="579" y="38"/>
                  </a:lnTo>
                  <a:lnTo>
                    <a:pt x="579" y="41"/>
                  </a:lnTo>
                  <a:lnTo>
                    <a:pt x="579" y="44"/>
                  </a:lnTo>
                  <a:lnTo>
                    <a:pt x="579" y="48"/>
                  </a:lnTo>
                  <a:lnTo>
                    <a:pt x="579" y="51"/>
                  </a:lnTo>
                  <a:lnTo>
                    <a:pt x="583" y="51"/>
                  </a:lnTo>
                  <a:lnTo>
                    <a:pt x="583" y="48"/>
                  </a:lnTo>
                  <a:lnTo>
                    <a:pt x="583" y="44"/>
                  </a:lnTo>
                  <a:lnTo>
                    <a:pt x="583" y="41"/>
                  </a:lnTo>
                  <a:lnTo>
                    <a:pt x="583" y="38"/>
                  </a:lnTo>
                  <a:lnTo>
                    <a:pt x="583" y="34"/>
                  </a:lnTo>
                  <a:lnTo>
                    <a:pt x="583" y="31"/>
                  </a:lnTo>
                  <a:lnTo>
                    <a:pt x="583" y="28"/>
                  </a:lnTo>
                  <a:lnTo>
                    <a:pt x="58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999" name="Freeform 340">
              <a:extLst>
                <a:ext uri="{FF2B5EF4-FFF2-40B4-BE49-F238E27FC236}">
                  <a16:creationId xmlns:a16="http://schemas.microsoft.com/office/drawing/2014/main" id="{C0FD8667-6BFD-4225-2E29-3EB0010379C0}"/>
                </a:ext>
              </a:extLst>
            </p:cNvPr>
            <p:cNvSpPr>
              <a:spLocks noEditPoints="1"/>
            </p:cNvSpPr>
            <p:nvPr/>
          </p:nvSpPr>
          <p:spPr bwMode="auto">
            <a:xfrm>
              <a:off x="1321" y="1713"/>
              <a:ext cx="580" cy="51"/>
            </a:xfrm>
            <a:custGeom>
              <a:avLst/>
              <a:gdLst>
                <a:gd name="T0" fmla="*/ 580 w 580"/>
                <a:gd name="T1" fmla="*/ 21 h 51"/>
                <a:gd name="T2" fmla="*/ 580 w 580"/>
                <a:gd name="T3" fmla="*/ 14 h 51"/>
                <a:gd name="T4" fmla="*/ 580 w 580"/>
                <a:gd name="T5" fmla="*/ 9 h 51"/>
                <a:gd name="T6" fmla="*/ 580 w 580"/>
                <a:gd name="T7" fmla="*/ 3 h 51"/>
                <a:gd name="T8" fmla="*/ 577 w 580"/>
                <a:gd name="T9" fmla="*/ 0 h 51"/>
                <a:gd name="T10" fmla="*/ 577 w 580"/>
                <a:gd name="T11" fmla="*/ 6 h 51"/>
                <a:gd name="T12" fmla="*/ 577 w 580"/>
                <a:gd name="T13" fmla="*/ 11 h 51"/>
                <a:gd name="T14" fmla="*/ 577 w 580"/>
                <a:gd name="T15" fmla="*/ 18 h 51"/>
                <a:gd name="T16" fmla="*/ 577 w 580"/>
                <a:gd name="T17" fmla="*/ 24 h 51"/>
                <a:gd name="T18" fmla="*/ 577 w 580"/>
                <a:gd name="T19" fmla="*/ 31 h 51"/>
                <a:gd name="T20" fmla="*/ 577 w 580"/>
                <a:gd name="T21" fmla="*/ 38 h 51"/>
                <a:gd name="T22" fmla="*/ 577 w 580"/>
                <a:gd name="T23" fmla="*/ 44 h 51"/>
                <a:gd name="T24" fmla="*/ 577 w 580"/>
                <a:gd name="T25" fmla="*/ 51 h 51"/>
                <a:gd name="T26" fmla="*/ 580 w 580"/>
                <a:gd name="T27" fmla="*/ 48 h 51"/>
                <a:gd name="T28" fmla="*/ 580 w 580"/>
                <a:gd name="T29" fmla="*/ 41 h 51"/>
                <a:gd name="T30" fmla="*/ 580 w 580"/>
                <a:gd name="T31" fmla="*/ 34 h 51"/>
                <a:gd name="T32" fmla="*/ 580 w 580"/>
                <a:gd name="T33" fmla="*/ 28 h 51"/>
                <a:gd name="T34" fmla="*/ 2 w 580"/>
                <a:gd name="T35" fmla="*/ 0 h 51"/>
                <a:gd name="T36" fmla="*/ 0 w 580"/>
                <a:gd name="T37" fmla="*/ 6 h 51"/>
                <a:gd name="T38" fmla="*/ 0 w 580"/>
                <a:gd name="T39" fmla="*/ 11 h 51"/>
                <a:gd name="T40" fmla="*/ 0 w 580"/>
                <a:gd name="T41" fmla="*/ 18 h 51"/>
                <a:gd name="T42" fmla="*/ 0 w 580"/>
                <a:gd name="T43" fmla="*/ 24 h 51"/>
                <a:gd name="T44" fmla="*/ 0 w 580"/>
                <a:gd name="T45" fmla="*/ 31 h 51"/>
                <a:gd name="T46" fmla="*/ 0 w 580"/>
                <a:gd name="T47" fmla="*/ 38 h 51"/>
                <a:gd name="T48" fmla="*/ 0 w 580"/>
                <a:gd name="T49" fmla="*/ 44 h 51"/>
                <a:gd name="T50" fmla="*/ 0 w 580"/>
                <a:gd name="T51" fmla="*/ 51 h 51"/>
                <a:gd name="T52" fmla="*/ 4 w 580"/>
                <a:gd name="T53" fmla="*/ 48 h 51"/>
                <a:gd name="T54" fmla="*/ 4 w 580"/>
                <a:gd name="T55" fmla="*/ 41 h 51"/>
                <a:gd name="T56" fmla="*/ 4 w 580"/>
                <a:gd name="T57" fmla="*/ 34 h 51"/>
                <a:gd name="T58" fmla="*/ 4 w 580"/>
                <a:gd name="T59" fmla="*/ 28 h 51"/>
                <a:gd name="T60" fmla="*/ 4 w 580"/>
                <a:gd name="T61" fmla="*/ 21 h 51"/>
                <a:gd name="T62" fmla="*/ 4 w 580"/>
                <a:gd name="T63" fmla="*/ 14 h 51"/>
                <a:gd name="T64" fmla="*/ 4 w 580"/>
                <a:gd name="T65" fmla="*/ 9 h 51"/>
                <a:gd name="T66" fmla="*/ 4 w 580"/>
                <a:gd name="T67" fmla="*/ 3 h 51"/>
                <a:gd name="T68" fmla="*/ 2 w 58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0" h="51">
                  <a:moveTo>
                    <a:pt x="580" y="24"/>
                  </a:moveTo>
                  <a:lnTo>
                    <a:pt x="580" y="21"/>
                  </a:lnTo>
                  <a:lnTo>
                    <a:pt x="580" y="18"/>
                  </a:lnTo>
                  <a:lnTo>
                    <a:pt x="580" y="14"/>
                  </a:lnTo>
                  <a:lnTo>
                    <a:pt x="580" y="11"/>
                  </a:lnTo>
                  <a:lnTo>
                    <a:pt x="580" y="9"/>
                  </a:lnTo>
                  <a:lnTo>
                    <a:pt x="580" y="6"/>
                  </a:lnTo>
                  <a:lnTo>
                    <a:pt x="580" y="3"/>
                  </a:lnTo>
                  <a:lnTo>
                    <a:pt x="580" y="0"/>
                  </a:lnTo>
                  <a:lnTo>
                    <a:pt x="577" y="0"/>
                  </a:lnTo>
                  <a:lnTo>
                    <a:pt x="577" y="3"/>
                  </a:lnTo>
                  <a:lnTo>
                    <a:pt x="577" y="6"/>
                  </a:lnTo>
                  <a:lnTo>
                    <a:pt x="577" y="9"/>
                  </a:lnTo>
                  <a:lnTo>
                    <a:pt x="577" y="11"/>
                  </a:lnTo>
                  <a:lnTo>
                    <a:pt x="577" y="14"/>
                  </a:lnTo>
                  <a:lnTo>
                    <a:pt x="577" y="18"/>
                  </a:lnTo>
                  <a:lnTo>
                    <a:pt x="577" y="21"/>
                  </a:lnTo>
                  <a:lnTo>
                    <a:pt x="577" y="24"/>
                  </a:lnTo>
                  <a:lnTo>
                    <a:pt x="577" y="28"/>
                  </a:lnTo>
                  <a:lnTo>
                    <a:pt x="577" y="31"/>
                  </a:lnTo>
                  <a:lnTo>
                    <a:pt x="577" y="34"/>
                  </a:lnTo>
                  <a:lnTo>
                    <a:pt x="577" y="38"/>
                  </a:lnTo>
                  <a:lnTo>
                    <a:pt x="577" y="41"/>
                  </a:lnTo>
                  <a:lnTo>
                    <a:pt x="577" y="44"/>
                  </a:lnTo>
                  <a:lnTo>
                    <a:pt x="577" y="48"/>
                  </a:lnTo>
                  <a:lnTo>
                    <a:pt x="577" y="51"/>
                  </a:lnTo>
                  <a:lnTo>
                    <a:pt x="580" y="51"/>
                  </a:lnTo>
                  <a:lnTo>
                    <a:pt x="580" y="48"/>
                  </a:lnTo>
                  <a:lnTo>
                    <a:pt x="580" y="44"/>
                  </a:lnTo>
                  <a:lnTo>
                    <a:pt x="580" y="41"/>
                  </a:lnTo>
                  <a:lnTo>
                    <a:pt x="580" y="38"/>
                  </a:lnTo>
                  <a:lnTo>
                    <a:pt x="580" y="34"/>
                  </a:lnTo>
                  <a:lnTo>
                    <a:pt x="580" y="31"/>
                  </a:lnTo>
                  <a:lnTo>
                    <a:pt x="580" y="28"/>
                  </a:lnTo>
                  <a:lnTo>
                    <a:pt x="58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00" name="Freeform 341">
              <a:extLst>
                <a:ext uri="{FF2B5EF4-FFF2-40B4-BE49-F238E27FC236}">
                  <a16:creationId xmlns:a16="http://schemas.microsoft.com/office/drawing/2014/main" id="{14EA7E7F-5402-0AF2-22F6-1C5A03016B69}"/>
                </a:ext>
              </a:extLst>
            </p:cNvPr>
            <p:cNvSpPr>
              <a:spLocks noEditPoints="1"/>
            </p:cNvSpPr>
            <p:nvPr/>
          </p:nvSpPr>
          <p:spPr bwMode="auto">
            <a:xfrm>
              <a:off x="1323" y="1713"/>
              <a:ext cx="576" cy="51"/>
            </a:xfrm>
            <a:custGeom>
              <a:avLst/>
              <a:gdLst>
                <a:gd name="T0" fmla="*/ 576 w 576"/>
                <a:gd name="T1" fmla="*/ 21 h 51"/>
                <a:gd name="T2" fmla="*/ 576 w 576"/>
                <a:gd name="T3" fmla="*/ 14 h 51"/>
                <a:gd name="T4" fmla="*/ 576 w 576"/>
                <a:gd name="T5" fmla="*/ 9 h 51"/>
                <a:gd name="T6" fmla="*/ 576 w 576"/>
                <a:gd name="T7" fmla="*/ 3 h 51"/>
                <a:gd name="T8" fmla="*/ 573 w 576"/>
                <a:gd name="T9" fmla="*/ 0 h 51"/>
                <a:gd name="T10" fmla="*/ 573 w 576"/>
                <a:gd name="T11" fmla="*/ 6 h 51"/>
                <a:gd name="T12" fmla="*/ 573 w 576"/>
                <a:gd name="T13" fmla="*/ 11 h 51"/>
                <a:gd name="T14" fmla="*/ 573 w 576"/>
                <a:gd name="T15" fmla="*/ 18 h 51"/>
                <a:gd name="T16" fmla="*/ 573 w 576"/>
                <a:gd name="T17" fmla="*/ 24 h 51"/>
                <a:gd name="T18" fmla="*/ 573 w 576"/>
                <a:gd name="T19" fmla="*/ 31 h 51"/>
                <a:gd name="T20" fmla="*/ 573 w 576"/>
                <a:gd name="T21" fmla="*/ 38 h 51"/>
                <a:gd name="T22" fmla="*/ 573 w 576"/>
                <a:gd name="T23" fmla="*/ 44 h 51"/>
                <a:gd name="T24" fmla="*/ 573 w 576"/>
                <a:gd name="T25" fmla="*/ 51 h 51"/>
                <a:gd name="T26" fmla="*/ 576 w 576"/>
                <a:gd name="T27" fmla="*/ 48 h 51"/>
                <a:gd name="T28" fmla="*/ 576 w 576"/>
                <a:gd name="T29" fmla="*/ 41 h 51"/>
                <a:gd name="T30" fmla="*/ 576 w 576"/>
                <a:gd name="T31" fmla="*/ 34 h 51"/>
                <a:gd name="T32" fmla="*/ 576 w 576"/>
                <a:gd name="T33" fmla="*/ 28 h 51"/>
                <a:gd name="T34" fmla="*/ 2 w 576"/>
                <a:gd name="T35" fmla="*/ 0 h 51"/>
                <a:gd name="T36" fmla="*/ 0 w 576"/>
                <a:gd name="T37" fmla="*/ 6 h 51"/>
                <a:gd name="T38" fmla="*/ 0 w 576"/>
                <a:gd name="T39" fmla="*/ 11 h 51"/>
                <a:gd name="T40" fmla="*/ 0 w 576"/>
                <a:gd name="T41" fmla="*/ 18 h 51"/>
                <a:gd name="T42" fmla="*/ 0 w 576"/>
                <a:gd name="T43" fmla="*/ 24 h 51"/>
                <a:gd name="T44" fmla="*/ 0 w 576"/>
                <a:gd name="T45" fmla="*/ 31 h 51"/>
                <a:gd name="T46" fmla="*/ 0 w 576"/>
                <a:gd name="T47" fmla="*/ 38 h 51"/>
                <a:gd name="T48" fmla="*/ 0 w 576"/>
                <a:gd name="T49" fmla="*/ 44 h 51"/>
                <a:gd name="T50" fmla="*/ 0 w 576"/>
                <a:gd name="T51" fmla="*/ 51 h 51"/>
                <a:gd name="T52" fmla="*/ 3 w 576"/>
                <a:gd name="T53" fmla="*/ 48 h 51"/>
                <a:gd name="T54" fmla="*/ 3 w 576"/>
                <a:gd name="T55" fmla="*/ 41 h 51"/>
                <a:gd name="T56" fmla="*/ 3 w 576"/>
                <a:gd name="T57" fmla="*/ 34 h 51"/>
                <a:gd name="T58" fmla="*/ 3 w 576"/>
                <a:gd name="T59" fmla="*/ 28 h 51"/>
                <a:gd name="T60" fmla="*/ 3 w 576"/>
                <a:gd name="T61" fmla="*/ 21 h 51"/>
                <a:gd name="T62" fmla="*/ 3 w 576"/>
                <a:gd name="T63" fmla="*/ 14 h 51"/>
                <a:gd name="T64" fmla="*/ 3 w 576"/>
                <a:gd name="T65" fmla="*/ 9 h 51"/>
                <a:gd name="T66" fmla="*/ 3 w 576"/>
                <a:gd name="T67" fmla="*/ 3 h 51"/>
                <a:gd name="T68" fmla="*/ 2 w 5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6" h="51">
                  <a:moveTo>
                    <a:pt x="576" y="24"/>
                  </a:moveTo>
                  <a:lnTo>
                    <a:pt x="576" y="21"/>
                  </a:lnTo>
                  <a:lnTo>
                    <a:pt x="576" y="18"/>
                  </a:lnTo>
                  <a:lnTo>
                    <a:pt x="576" y="14"/>
                  </a:lnTo>
                  <a:lnTo>
                    <a:pt x="576" y="11"/>
                  </a:lnTo>
                  <a:lnTo>
                    <a:pt x="576" y="9"/>
                  </a:lnTo>
                  <a:lnTo>
                    <a:pt x="576" y="6"/>
                  </a:lnTo>
                  <a:lnTo>
                    <a:pt x="576" y="3"/>
                  </a:lnTo>
                  <a:lnTo>
                    <a:pt x="576" y="0"/>
                  </a:lnTo>
                  <a:lnTo>
                    <a:pt x="573" y="0"/>
                  </a:lnTo>
                  <a:lnTo>
                    <a:pt x="573" y="3"/>
                  </a:lnTo>
                  <a:lnTo>
                    <a:pt x="573" y="6"/>
                  </a:lnTo>
                  <a:lnTo>
                    <a:pt x="573" y="9"/>
                  </a:lnTo>
                  <a:lnTo>
                    <a:pt x="573" y="11"/>
                  </a:lnTo>
                  <a:lnTo>
                    <a:pt x="573" y="14"/>
                  </a:lnTo>
                  <a:lnTo>
                    <a:pt x="573" y="18"/>
                  </a:lnTo>
                  <a:lnTo>
                    <a:pt x="573" y="21"/>
                  </a:lnTo>
                  <a:lnTo>
                    <a:pt x="573" y="24"/>
                  </a:lnTo>
                  <a:lnTo>
                    <a:pt x="573" y="28"/>
                  </a:lnTo>
                  <a:lnTo>
                    <a:pt x="573" y="31"/>
                  </a:lnTo>
                  <a:lnTo>
                    <a:pt x="573" y="34"/>
                  </a:lnTo>
                  <a:lnTo>
                    <a:pt x="573" y="38"/>
                  </a:lnTo>
                  <a:lnTo>
                    <a:pt x="573" y="41"/>
                  </a:lnTo>
                  <a:lnTo>
                    <a:pt x="573" y="44"/>
                  </a:lnTo>
                  <a:lnTo>
                    <a:pt x="573" y="48"/>
                  </a:lnTo>
                  <a:lnTo>
                    <a:pt x="573" y="51"/>
                  </a:lnTo>
                  <a:lnTo>
                    <a:pt x="576" y="51"/>
                  </a:lnTo>
                  <a:lnTo>
                    <a:pt x="576" y="48"/>
                  </a:lnTo>
                  <a:lnTo>
                    <a:pt x="576" y="44"/>
                  </a:lnTo>
                  <a:lnTo>
                    <a:pt x="576" y="41"/>
                  </a:lnTo>
                  <a:lnTo>
                    <a:pt x="576" y="38"/>
                  </a:lnTo>
                  <a:lnTo>
                    <a:pt x="576" y="34"/>
                  </a:lnTo>
                  <a:lnTo>
                    <a:pt x="576" y="31"/>
                  </a:lnTo>
                  <a:lnTo>
                    <a:pt x="576" y="28"/>
                  </a:lnTo>
                  <a:lnTo>
                    <a:pt x="57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01" name="Freeform 342">
              <a:extLst>
                <a:ext uri="{FF2B5EF4-FFF2-40B4-BE49-F238E27FC236}">
                  <a16:creationId xmlns:a16="http://schemas.microsoft.com/office/drawing/2014/main" id="{614FB650-BF75-B156-247A-24C9BB273AE7}"/>
                </a:ext>
              </a:extLst>
            </p:cNvPr>
            <p:cNvSpPr>
              <a:spLocks noEditPoints="1"/>
            </p:cNvSpPr>
            <p:nvPr/>
          </p:nvSpPr>
          <p:spPr bwMode="auto">
            <a:xfrm>
              <a:off x="1325" y="1713"/>
              <a:ext cx="573" cy="51"/>
            </a:xfrm>
            <a:custGeom>
              <a:avLst/>
              <a:gdLst>
                <a:gd name="T0" fmla="*/ 573 w 573"/>
                <a:gd name="T1" fmla="*/ 21 h 51"/>
                <a:gd name="T2" fmla="*/ 573 w 573"/>
                <a:gd name="T3" fmla="*/ 14 h 51"/>
                <a:gd name="T4" fmla="*/ 573 w 573"/>
                <a:gd name="T5" fmla="*/ 9 h 51"/>
                <a:gd name="T6" fmla="*/ 573 w 573"/>
                <a:gd name="T7" fmla="*/ 3 h 51"/>
                <a:gd name="T8" fmla="*/ 569 w 573"/>
                <a:gd name="T9" fmla="*/ 0 h 51"/>
                <a:gd name="T10" fmla="*/ 569 w 573"/>
                <a:gd name="T11" fmla="*/ 6 h 51"/>
                <a:gd name="T12" fmla="*/ 569 w 573"/>
                <a:gd name="T13" fmla="*/ 11 h 51"/>
                <a:gd name="T14" fmla="*/ 569 w 573"/>
                <a:gd name="T15" fmla="*/ 18 h 51"/>
                <a:gd name="T16" fmla="*/ 569 w 573"/>
                <a:gd name="T17" fmla="*/ 24 h 51"/>
                <a:gd name="T18" fmla="*/ 569 w 573"/>
                <a:gd name="T19" fmla="*/ 31 h 51"/>
                <a:gd name="T20" fmla="*/ 569 w 573"/>
                <a:gd name="T21" fmla="*/ 38 h 51"/>
                <a:gd name="T22" fmla="*/ 569 w 573"/>
                <a:gd name="T23" fmla="*/ 44 h 51"/>
                <a:gd name="T24" fmla="*/ 569 w 573"/>
                <a:gd name="T25" fmla="*/ 51 h 51"/>
                <a:gd name="T26" fmla="*/ 573 w 573"/>
                <a:gd name="T27" fmla="*/ 48 h 51"/>
                <a:gd name="T28" fmla="*/ 573 w 573"/>
                <a:gd name="T29" fmla="*/ 41 h 51"/>
                <a:gd name="T30" fmla="*/ 573 w 573"/>
                <a:gd name="T31" fmla="*/ 34 h 51"/>
                <a:gd name="T32" fmla="*/ 573 w 573"/>
                <a:gd name="T33" fmla="*/ 28 h 51"/>
                <a:gd name="T34" fmla="*/ 1 w 573"/>
                <a:gd name="T35" fmla="*/ 0 h 51"/>
                <a:gd name="T36" fmla="*/ 0 w 573"/>
                <a:gd name="T37" fmla="*/ 6 h 51"/>
                <a:gd name="T38" fmla="*/ 0 w 573"/>
                <a:gd name="T39" fmla="*/ 11 h 51"/>
                <a:gd name="T40" fmla="*/ 0 w 573"/>
                <a:gd name="T41" fmla="*/ 18 h 51"/>
                <a:gd name="T42" fmla="*/ 0 w 573"/>
                <a:gd name="T43" fmla="*/ 24 h 51"/>
                <a:gd name="T44" fmla="*/ 0 w 573"/>
                <a:gd name="T45" fmla="*/ 31 h 51"/>
                <a:gd name="T46" fmla="*/ 0 w 573"/>
                <a:gd name="T47" fmla="*/ 38 h 51"/>
                <a:gd name="T48" fmla="*/ 0 w 573"/>
                <a:gd name="T49" fmla="*/ 44 h 51"/>
                <a:gd name="T50" fmla="*/ 0 w 573"/>
                <a:gd name="T51" fmla="*/ 51 h 51"/>
                <a:gd name="T52" fmla="*/ 3 w 573"/>
                <a:gd name="T53" fmla="*/ 48 h 51"/>
                <a:gd name="T54" fmla="*/ 3 w 573"/>
                <a:gd name="T55" fmla="*/ 41 h 51"/>
                <a:gd name="T56" fmla="*/ 3 w 573"/>
                <a:gd name="T57" fmla="*/ 34 h 51"/>
                <a:gd name="T58" fmla="*/ 3 w 573"/>
                <a:gd name="T59" fmla="*/ 28 h 51"/>
                <a:gd name="T60" fmla="*/ 3 w 573"/>
                <a:gd name="T61" fmla="*/ 21 h 51"/>
                <a:gd name="T62" fmla="*/ 3 w 573"/>
                <a:gd name="T63" fmla="*/ 14 h 51"/>
                <a:gd name="T64" fmla="*/ 3 w 573"/>
                <a:gd name="T65" fmla="*/ 9 h 51"/>
                <a:gd name="T66" fmla="*/ 3 w 573"/>
                <a:gd name="T67" fmla="*/ 3 h 51"/>
                <a:gd name="T68" fmla="*/ 1 w 57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3" h="51">
                  <a:moveTo>
                    <a:pt x="573" y="24"/>
                  </a:moveTo>
                  <a:lnTo>
                    <a:pt x="573" y="21"/>
                  </a:lnTo>
                  <a:lnTo>
                    <a:pt x="573" y="18"/>
                  </a:lnTo>
                  <a:lnTo>
                    <a:pt x="573" y="14"/>
                  </a:lnTo>
                  <a:lnTo>
                    <a:pt x="573" y="11"/>
                  </a:lnTo>
                  <a:lnTo>
                    <a:pt x="573" y="9"/>
                  </a:lnTo>
                  <a:lnTo>
                    <a:pt x="573" y="6"/>
                  </a:lnTo>
                  <a:lnTo>
                    <a:pt x="573" y="3"/>
                  </a:lnTo>
                  <a:lnTo>
                    <a:pt x="573" y="0"/>
                  </a:lnTo>
                  <a:lnTo>
                    <a:pt x="569" y="0"/>
                  </a:lnTo>
                  <a:lnTo>
                    <a:pt x="569" y="3"/>
                  </a:lnTo>
                  <a:lnTo>
                    <a:pt x="569" y="6"/>
                  </a:lnTo>
                  <a:lnTo>
                    <a:pt x="569" y="9"/>
                  </a:lnTo>
                  <a:lnTo>
                    <a:pt x="569" y="11"/>
                  </a:lnTo>
                  <a:lnTo>
                    <a:pt x="569" y="14"/>
                  </a:lnTo>
                  <a:lnTo>
                    <a:pt x="569" y="18"/>
                  </a:lnTo>
                  <a:lnTo>
                    <a:pt x="569" y="21"/>
                  </a:lnTo>
                  <a:lnTo>
                    <a:pt x="569" y="24"/>
                  </a:lnTo>
                  <a:lnTo>
                    <a:pt x="569" y="28"/>
                  </a:lnTo>
                  <a:lnTo>
                    <a:pt x="569" y="31"/>
                  </a:lnTo>
                  <a:lnTo>
                    <a:pt x="569" y="34"/>
                  </a:lnTo>
                  <a:lnTo>
                    <a:pt x="569" y="38"/>
                  </a:lnTo>
                  <a:lnTo>
                    <a:pt x="569" y="41"/>
                  </a:lnTo>
                  <a:lnTo>
                    <a:pt x="569" y="44"/>
                  </a:lnTo>
                  <a:lnTo>
                    <a:pt x="569" y="48"/>
                  </a:lnTo>
                  <a:lnTo>
                    <a:pt x="569" y="51"/>
                  </a:lnTo>
                  <a:lnTo>
                    <a:pt x="573" y="51"/>
                  </a:lnTo>
                  <a:lnTo>
                    <a:pt x="573" y="48"/>
                  </a:lnTo>
                  <a:lnTo>
                    <a:pt x="573" y="44"/>
                  </a:lnTo>
                  <a:lnTo>
                    <a:pt x="573" y="41"/>
                  </a:lnTo>
                  <a:lnTo>
                    <a:pt x="573" y="38"/>
                  </a:lnTo>
                  <a:lnTo>
                    <a:pt x="573" y="34"/>
                  </a:lnTo>
                  <a:lnTo>
                    <a:pt x="573" y="31"/>
                  </a:lnTo>
                  <a:lnTo>
                    <a:pt x="573" y="28"/>
                  </a:lnTo>
                  <a:lnTo>
                    <a:pt x="57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02" name="Freeform 343">
              <a:extLst>
                <a:ext uri="{FF2B5EF4-FFF2-40B4-BE49-F238E27FC236}">
                  <a16:creationId xmlns:a16="http://schemas.microsoft.com/office/drawing/2014/main" id="{4BEECEFF-0347-2228-9A90-D58C35A6EE09}"/>
                </a:ext>
              </a:extLst>
            </p:cNvPr>
            <p:cNvSpPr>
              <a:spLocks noEditPoints="1"/>
            </p:cNvSpPr>
            <p:nvPr/>
          </p:nvSpPr>
          <p:spPr bwMode="auto">
            <a:xfrm>
              <a:off x="1326" y="1713"/>
              <a:ext cx="570" cy="51"/>
            </a:xfrm>
            <a:custGeom>
              <a:avLst/>
              <a:gdLst>
                <a:gd name="T0" fmla="*/ 570 w 570"/>
                <a:gd name="T1" fmla="*/ 21 h 51"/>
                <a:gd name="T2" fmla="*/ 570 w 570"/>
                <a:gd name="T3" fmla="*/ 14 h 51"/>
                <a:gd name="T4" fmla="*/ 570 w 570"/>
                <a:gd name="T5" fmla="*/ 9 h 51"/>
                <a:gd name="T6" fmla="*/ 570 w 570"/>
                <a:gd name="T7" fmla="*/ 3 h 51"/>
                <a:gd name="T8" fmla="*/ 567 w 570"/>
                <a:gd name="T9" fmla="*/ 0 h 51"/>
                <a:gd name="T10" fmla="*/ 567 w 570"/>
                <a:gd name="T11" fmla="*/ 6 h 51"/>
                <a:gd name="T12" fmla="*/ 567 w 570"/>
                <a:gd name="T13" fmla="*/ 11 h 51"/>
                <a:gd name="T14" fmla="*/ 567 w 570"/>
                <a:gd name="T15" fmla="*/ 18 h 51"/>
                <a:gd name="T16" fmla="*/ 567 w 570"/>
                <a:gd name="T17" fmla="*/ 24 h 51"/>
                <a:gd name="T18" fmla="*/ 567 w 570"/>
                <a:gd name="T19" fmla="*/ 31 h 51"/>
                <a:gd name="T20" fmla="*/ 567 w 570"/>
                <a:gd name="T21" fmla="*/ 38 h 51"/>
                <a:gd name="T22" fmla="*/ 567 w 570"/>
                <a:gd name="T23" fmla="*/ 44 h 51"/>
                <a:gd name="T24" fmla="*/ 567 w 570"/>
                <a:gd name="T25" fmla="*/ 51 h 51"/>
                <a:gd name="T26" fmla="*/ 570 w 570"/>
                <a:gd name="T27" fmla="*/ 48 h 51"/>
                <a:gd name="T28" fmla="*/ 570 w 570"/>
                <a:gd name="T29" fmla="*/ 41 h 51"/>
                <a:gd name="T30" fmla="*/ 570 w 570"/>
                <a:gd name="T31" fmla="*/ 34 h 51"/>
                <a:gd name="T32" fmla="*/ 570 w 570"/>
                <a:gd name="T33" fmla="*/ 28 h 51"/>
                <a:gd name="T34" fmla="*/ 2 w 570"/>
                <a:gd name="T35" fmla="*/ 0 h 51"/>
                <a:gd name="T36" fmla="*/ 0 w 570"/>
                <a:gd name="T37" fmla="*/ 6 h 51"/>
                <a:gd name="T38" fmla="*/ 0 w 570"/>
                <a:gd name="T39" fmla="*/ 11 h 51"/>
                <a:gd name="T40" fmla="*/ 0 w 570"/>
                <a:gd name="T41" fmla="*/ 18 h 51"/>
                <a:gd name="T42" fmla="*/ 0 w 570"/>
                <a:gd name="T43" fmla="*/ 24 h 51"/>
                <a:gd name="T44" fmla="*/ 0 w 570"/>
                <a:gd name="T45" fmla="*/ 31 h 51"/>
                <a:gd name="T46" fmla="*/ 0 w 570"/>
                <a:gd name="T47" fmla="*/ 38 h 51"/>
                <a:gd name="T48" fmla="*/ 0 w 570"/>
                <a:gd name="T49" fmla="*/ 44 h 51"/>
                <a:gd name="T50" fmla="*/ 0 w 570"/>
                <a:gd name="T51" fmla="*/ 51 h 51"/>
                <a:gd name="T52" fmla="*/ 4 w 570"/>
                <a:gd name="T53" fmla="*/ 48 h 51"/>
                <a:gd name="T54" fmla="*/ 4 w 570"/>
                <a:gd name="T55" fmla="*/ 41 h 51"/>
                <a:gd name="T56" fmla="*/ 4 w 570"/>
                <a:gd name="T57" fmla="*/ 34 h 51"/>
                <a:gd name="T58" fmla="*/ 4 w 570"/>
                <a:gd name="T59" fmla="*/ 28 h 51"/>
                <a:gd name="T60" fmla="*/ 4 w 570"/>
                <a:gd name="T61" fmla="*/ 21 h 51"/>
                <a:gd name="T62" fmla="*/ 4 w 570"/>
                <a:gd name="T63" fmla="*/ 14 h 51"/>
                <a:gd name="T64" fmla="*/ 4 w 570"/>
                <a:gd name="T65" fmla="*/ 9 h 51"/>
                <a:gd name="T66" fmla="*/ 4 w 570"/>
                <a:gd name="T67" fmla="*/ 3 h 51"/>
                <a:gd name="T68" fmla="*/ 2 w 57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0" h="51">
                  <a:moveTo>
                    <a:pt x="570" y="24"/>
                  </a:moveTo>
                  <a:lnTo>
                    <a:pt x="570" y="21"/>
                  </a:lnTo>
                  <a:lnTo>
                    <a:pt x="570" y="18"/>
                  </a:lnTo>
                  <a:lnTo>
                    <a:pt x="570" y="14"/>
                  </a:lnTo>
                  <a:lnTo>
                    <a:pt x="570" y="11"/>
                  </a:lnTo>
                  <a:lnTo>
                    <a:pt x="570" y="9"/>
                  </a:lnTo>
                  <a:lnTo>
                    <a:pt x="570" y="6"/>
                  </a:lnTo>
                  <a:lnTo>
                    <a:pt x="570" y="3"/>
                  </a:lnTo>
                  <a:lnTo>
                    <a:pt x="570" y="0"/>
                  </a:lnTo>
                  <a:lnTo>
                    <a:pt x="567" y="0"/>
                  </a:lnTo>
                  <a:lnTo>
                    <a:pt x="567" y="3"/>
                  </a:lnTo>
                  <a:lnTo>
                    <a:pt x="567" y="6"/>
                  </a:lnTo>
                  <a:lnTo>
                    <a:pt x="567" y="9"/>
                  </a:lnTo>
                  <a:lnTo>
                    <a:pt x="567" y="11"/>
                  </a:lnTo>
                  <a:lnTo>
                    <a:pt x="567" y="14"/>
                  </a:lnTo>
                  <a:lnTo>
                    <a:pt x="567" y="18"/>
                  </a:lnTo>
                  <a:lnTo>
                    <a:pt x="567" y="21"/>
                  </a:lnTo>
                  <a:lnTo>
                    <a:pt x="567" y="24"/>
                  </a:lnTo>
                  <a:lnTo>
                    <a:pt x="567" y="28"/>
                  </a:lnTo>
                  <a:lnTo>
                    <a:pt x="567" y="31"/>
                  </a:lnTo>
                  <a:lnTo>
                    <a:pt x="567" y="34"/>
                  </a:lnTo>
                  <a:lnTo>
                    <a:pt x="567" y="38"/>
                  </a:lnTo>
                  <a:lnTo>
                    <a:pt x="567" y="41"/>
                  </a:lnTo>
                  <a:lnTo>
                    <a:pt x="567" y="44"/>
                  </a:lnTo>
                  <a:lnTo>
                    <a:pt x="567" y="48"/>
                  </a:lnTo>
                  <a:lnTo>
                    <a:pt x="567" y="51"/>
                  </a:lnTo>
                  <a:lnTo>
                    <a:pt x="570" y="51"/>
                  </a:lnTo>
                  <a:lnTo>
                    <a:pt x="570" y="48"/>
                  </a:lnTo>
                  <a:lnTo>
                    <a:pt x="570" y="44"/>
                  </a:lnTo>
                  <a:lnTo>
                    <a:pt x="570" y="41"/>
                  </a:lnTo>
                  <a:lnTo>
                    <a:pt x="570" y="38"/>
                  </a:lnTo>
                  <a:lnTo>
                    <a:pt x="570" y="34"/>
                  </a:lnTo>
                  <a:lnTo>
                    <a:pt x="570" y="31"/>
                  </a:lnTo>
                  <a:lnTo>
                    <a:pt x="570" y="28"/>
                  </a:lnTo>
                  <a:lnTo>
                    <a:pt x="57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03" name="Freeform 344">
              <a:extLst>
                <a:ext uri="{FF2B5EF4-FFF2-40B4-BE49-F238E27FC236}">
                  <a16:creationId xmlns:a16="http://schemas.microsoft.com/office/drawing/2014/main" id="{CEFC720B-E948-78BE-327A-558CE21B274F}"/>
                </a:ext>
              </a:extLst>
            </p:cNvPr>
            <p:cNvSpPr>
              <a:spLocks noEditPoints="1"/>
            </p:cNvSpPr>
            <p:nvPr/>
          </p:nvSpPr>
          <p:spPr bwMode="auto">
            <a:xfrm>
              <a:off x="1328" y="1713"/>
              <a:ext cx="566" cy="51"/>
            </a:xfrm>
            <a:custGeom>
              <a:avLst/>
              <a:gdLst>
                <a:gd name="T0" fmla="*/ 566 w 566"/>
                <a:gd name="T1" fmla="*/ 21 h 51"/>
                <a:gd name="T2" fmla="*/ 566 w 566"/>
                <a:gd name="T3" fmla="*/ 14 h 51"/>
                <a:gd name="T4" fmla="*/ 566 w 566"/>
                <a:gd name="T5" fmla="*/ 9 h 51"/>
                <a:gd name="T6" fmla="*/ 566 w 566"/>
                <a:gd name="T7" fmla="*/ 3 h 51"/>
                <a:gd name="T8" fmla="*/ 563 w 566"/>
                <a:gd name="T9" fmla="*/ 0 h 51"/>
                <a:gd name="T10" fmla="*/ 563 w 566"/>
                <a:gd name="T11" fmla="*/ 6 h 51"/>
                <a:gd name="T12" fmla="*/ 563 w 566"/>
                <a:gd name="T13" fmla="*/ 11 h 51"/>
                <a:gd name="T14" fmla="*/ 563 w 566"/>
                <a:gd name="T15" fmla="*/ 18 h 51"/>
                <a:gd name="T16" fmla="*/ 563 w 566"/>
                <a:gd name="T17" fmla="*/ 24 h 51"/>
                <a:gd name="T18" fmla="*/ 563 w 566"/>
                <a:gd name="T19" fmla="*/ 31 h 51"/>
                <a:gd name="T20" fmla="*/ 563 w 566"/>
                <a:gd name="T21" fmla="*/ 38 h 51"/>
                <a:gd name="T22" fmla="*/ 563 w 566"/>
                <a:gd name="T23" fmla="*/ 44 h 51"/>
                <a:gd name="T24" fmla="*/ 563 w 566"/>
                <a:gd name="T25" fmla="*/ 51 h 51"/>
                <a:gd name="T26" fmla="*/ 566 w 566"/>
                <a:gd name="T27" fmla="*/ 48 h 51"/>
                <a:gd name="T28" fmla="*/ 566 w 566"/>
                <a:gd name="T29" fmla="*/ 41 h 51"/>
                <a:gd name="T30" fmla="*/ 566 w 566"/>
                <a:gd name="T31" fmla="*/ 34 h 51"/>
                <a:gd name="T32" fmla="*/ 566 w 566"/>
                <a:gd name="T33" fmla="*/ 28 h 51"/>
                <a:gd name="T34" fmla="*/ 2 w 566"/>
                <a:gd name="T35" fmla="*/ 0 h 51"/>
                <a:gd name="T36" fmla="*/ 0 w 566"/>
                <a:gd name="T37" fmla="*/ 6 h 51"/>
                <a:gd name="T38" fmla="*/ 0 w 566"/>
                <a:gd name="T39" fmla="*/ 11 h 51"/>
                <a:gd name="T40" fmla="*/ 0 w 566"/>
                <a:gd name="T41" fmla="*/ 18 h 51"/>
                <a:gd name="T42" fmla="*/ 0 w 566"/>
                <a:gd name="T43" fmla="*/ 24 h 51"/>
                <a:gd name="T44" fmla="*/ 0 w 566"/>
                <a:gd name="T45" fmla="*/ 31 h 51"/>
                <a:gd name="T46" fmla="*/ 0 w 566"/>
                <a:gd name="T47" fmla="*/ 38 h 51"/>
                <a:gd name="T48" fmla="*/ 0 w 566"/>
                <a:gd name="T49" fmla="*/ 44 h 51"/>
                <a:gd name="T50" fmla="*/ 0 w 566"/>
                <a:gd name="T51" fmla="*/ 51 h 51"/>
                <a:gd name="T52" fmla="*/ 3 w 566"/>
                <a:gd name="T53" fmla="*/ 48 h 51"/>
                <a:gd name="T54" fmla="*/ 3 w 566"/>
                <a:gd name="T55" fmla="*/ 41 h 51"/>
                <a:gd name="T56" fmla="*/ 3 w 566"/>
                <a:gd name="T57" fmla="*/ 34 h 51"/>
                <a:gd name="T58" fmla="*/ 3 w 566"/>
                <a:gd name="T59" fmla="*/ 28 h 51"/>
                <a:gd name="T60" fmla="*/ 3 w 566"/>
                <a:gd name="T61" fmla="*/ 21 h 51"/>
                <a:gd name="T62" fmla="*/ 3 w 566"/>
                <a:gd name="T63" fmla="*/ 14 h 51"/>
                <a:gd name="T64" fmla="*/ 3 w 566"/>
                <a:gd name="T65" fmla="*/ 9 h 51"/>
                <a:gd name="T66" fmla="*/ 3 w 566"/>
                <a:gd name="T67" fmla="*/ 3 h 51"/>
                <a:gd name="T68" fmla="*/ 2 w 5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6" h="51">
                  <a:moveTo>
                    <a:pt x="566" y="24"/>
                  </a:moveTo>
                  <a:lnTo>
                    <a:pt x="566" y="21"/>
                  </a:lnTo>
                  <a:lnTo>
                    <a:pt x="566" y="18"/>
                  </a:lnTo>
                  <a:lnTo>
                    <a:pt x="566" y="14"/>
                  </a:lnTo>
                  <a:lnTo>
                    <a:pt x="566" y="11"/>
                  </a:lnTo>
                  <a:lnTo>
                    <a:pt x="566" y="9"/>
                  </a:lnTo>
                  <a:lnTo>
                    <a:pt x="566" y="6"/>
                  </a:lnTo>
                  <a:lnTo>
                    <a:pt x="566" y="3"/>
                  </a:lnTo>
                  <a:lnTo>
                    <a:pt x="566" y="0"/>
                  </a:lnTo>
                  <a:lnTo>
                    <a:pt x="563" y="0"/>
                  </a:lnTo>
                  <a:lnTo>
                    <a:pt x="563" y="3"/>
                  </a:lnTo>
                  <a:lnTo>
                    <a:pt x="563" y="6"/>
                  </a:lnTo>
                  <a:lnTo>
                    <a:pt x="563" y="9"/>
                  </a:lnTo>
                  <a:lnTo>
                    <a:pt x="563" y="11"/>
                  </a:lnTo>
                  <a:lnTo>
                    <a:pt x="563" y="14"/>
                  </a:lnTo>
                  <a:lnTo>
                    <a:pt x="563" y="18"/>
                  </a:lnTo>
                  <a:lnTo>
                    <a:pt x="563" y="21"/>
                  </a:lnTo>
                  <a:lnTo>
                    <a:pt x="563" y="24"/>
                  </a:lnTo>
                  <a:lnTo>
                    <a:pt x="563" y="28"/>
                  </a:lnTo>
                  <a:lnTo>
                    <a:pt x="563" y="31"/>
                  </a:lnTo>
                  <a:lnTo>
                    <a:pt x="563" y="34"/>
                  </a:lnTo>
                  <a:lnTo>
                    <a:pt x="563" y="38"/>
                  </a:lnTo>
                  <a:lnTo>
                    <a:pt x="563" y="41"/>
                  </a:lnTo>
                  <a:lnTo>
                    <a:pt x="563" y="44"/>
                  </a:lnTo>
                  <a:lnTo>
                    <a:pt x="563" y="48"/>
                  </a:lnTo>
                  <a:lnTo>
                    <a:pt x="563" y="51"/>
                  </a:lnTo>
                  <a:lnTo>
                    <a:pt x="566" y="51"/>
                  </a:lnTo>
                  <a:lnTo>
                    <a:pt x="566" y="48"/>
                  </a:lnTo>
                  <a:lnTo>
                    <a:pt x="566" y="44"/>
                  </a:lnTo>
                  <a:lnTo>
                    <a:pt x="566" y="41"/>
                  </a:lnTo>
                  <a:lnTo>
                    <a:pt x="566" y="38"/>
                  </a:lnTo>
                  <a:lnTo>
                    <a:pt x="566" y="34"/>
                  </a:lnTo>
                  <a:lnTo>
                    <a:pt x="566" y="31"/>
                  </a:lnTo>
                  <a:lnTo>
                    <a:pt x="566" y="28"/>
                  </a:lnTo>
                  <a:lnTo>
                    <a:pt x="56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04" name="Freeform 345">
              <a:extLst>
                <a:ext uri="{FF2B5EF4-FFF2-40B4-BE49-F238E27FC236}">
                  <a16:creationId xmlns:a16="http://schemas.microsoft.com/office/drawing/2014/main" id="{FBC82B59-C894-F92B-A4D7-D4C276190807}"/>
                </a:ext>
              </a:extLst>
            </p:cNvPr>
            <p:cNvSpPr>
              <a:spLocks noEditPoints="1"/>
            </p:cNvSpPr>
            <p:nvPr/>
          </p:nvSpPr>
          <p:spPr bwMode="auto">
            <a:xfrm>
              <a:off x="1330" y="1713"/>
              <a:ext cx="563" cy="51"/>
            </a:xfrm>
            <a:custGeom>
              <a:avLst/>
              <a:gdLst>
                <a:gd name="T0" fmla="*/ 563 w 563"/>
                <a:gd name="T1" fmla="*/ 21 h 51"/>
                <a:gd name="T2" fmla="*/ 563 w 563"/>
                <a:gd name="T3" fmla="*/ 14 h 51"/>
                <a:gd name="T4" fmla="*/ 563 w 563"/>
                <a:gd name="T5" fmla="*/ 9 h 51"/>
                <a:gd name="T6" fmla="*/ 563 w 563"/>
                <a:gd name="T7" fmla="*/ 3 h 51"/>
                <a:gd name="T8" fmla="*/ 559 w 563"/>
                <a:gd name="T9" fmla="*/ 0 h 51"/>
                <a:gd name="T10" fmla="*/ 559 w 563"/>
                <a:gd name="T11" fmla="*/ 6 h 51"/>
                <a:gd name="T12" fmla="*/ 559 w 563"/>
                <a:gd name="T13" fmla="*/ 11 h 51"/>
                <a:gd name="T14" fmla="*/ 559 w 563"/>
                <a:gd name="T15" fmla="*/ 18 h 51"/>
                <a:gd name="T16" fmla="*/ 559 w 563"/>
                <a:gd name="T17" fmla="*/ 24 h 51"/>
                <a:gd name="T18" fmla="*/ 559 w 563"/>
                <a:gd name="T19" fmla="*/ 31 h 51"/>
                <a:gd name="T20" fmla="*/ 559 w 563"/>
                <a:gd name="T21" fmla="*/ 38 h 51"/>
                <a:gd name="T22" fmla="*/ 559 w 563"/>
                <a:gd name="T23" fmla="*/ 44 h 51"/>
                <a:gd name="T24" fmla="*/ 559 w 563"/>
                <a:gd name="T25" fmla="*/ 51 h 51"/>
                <a:gd name="T26" fmla="*/ 563 w 563"/>
                <a:gd name="T27" fmla="*/ 48 h 51"/>
                <a:gd name="T28" fmla="*/ 563 w 563"/>
                <a:gd name="T29" fmla="*/ 41 h 51"/>
                <a:gd name="T30" fmla="*/ 563 w 563"/>
                <a:gd name="T31" fmla="*/ 34 h 51"/>
                <a:gd name="T32" fmla="*/ 563 w 563"/>
                <a:gd name="T33" fmla="*/ 28 h 51"/>
                <a:gd name="T34" fmla="*/ 1 w 563"/>
                <a:gd name="T35" fmla="*/ 0 h 51"/>
                <a:gd name="T36" fmla="*/ 0 w 563"/>
                <a:gd name="T37" fmla="*/ 6 h 51"/>
                <a:gd name="T38" fmla="*/ 0 w 563"/>
                <a:gd name="T39" fmla="*/ 11 h 51"/>
                <a:gd name="T40" fmla="*/ 0 w 563"/>
                <a:gd name="T41" fmla="*/ 18 h 51"/>
                <a:gd name="T42" fmla="*/ 0 w 563"/>
                <a:gd name="T43" fmla="*/ 24 h 51"/>
                <a:gd name="T44" fmla="*/ 0 w 563"/>
                <a:gd name="T45" fmla="*/ 31 h 51"/>
                <a:gd name="T46" fmla="*/ 0 w 563"/>
                <a:gd name="T47" fmla="*/ 38 h 51"/>
                <a:gd name="T48" fmla="*/ 0 w 563"/>
                <a:gd name="T49" fmla="*/ 44 h 51"/>
                <a:gd name="T50" fmla="*/ 0 w 563"/>
                <a:gd name="T51" fmla="*/ 51 h 51"/>
                <a:gd name="T52" fmla="*/ 3 w 563"/>
                <a:gd name="T53" fmla="*/ 48 h 51"/>
                <a:gd name="T54" fmla="*/ 3 w 563"/>
                <a:gd name="T55" fmla="*/ 41 h 51"/>
                <a:gd name="T56" fmla="*/ 3 w 563"/>
                <a:gd name="T57" fmla="*/ 34 h 51"/>
                <a:gd name="T58" fmla="*/ 3 w 563"/>
                <a:gd name="T59" fmla="*/ 28 h 51"/>
                <a:gd name="T60" fmla="*/ 3 w 563"/>
                <a:gd name="T61" fmla="*/ 21 h 51"/>
                <a:gd name="T62" fmla="*/ 3 w 563"/>
                <a:gd name="T63" fmla="*/ 14 h 51"/>
                <a:gd name="T64" fmla="*/ 3 w 563"/>
                <a:gd name="T65" fmla="*/ 9 h 51"/>
                <a:gd name="T66" fmla="*/ 3 w 563"/>
                <a:gd name="T67" fmla="*/ 3 h 51"/>
                <a:gd name="T68" fmla="*/ 1 w 56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3" h="51">
                  <a:moveTo>
                    <a:pt x="563" y="24"/>
                  </a:moveTo>
                  <a:lnTo>
                    <a:pt x="563" y="21"/>
                  </a:lnTo>
                  <a:lnTo>
                    <a:pt x="563" y="18"/>
                  </a:lnTo>
                  <a:lnTo>
                    <a:pt x="563" y="14"/>
                  </a:lnTo>
                  <a:lnTo>
                    <a:pt x="563" y="11"/>
                  </a:lnTo>
                  <a:lnTo>
                    <a:pt x="563" y="9"/>
                  </a:lnTo>
                  <a:lnTo>
                    <a:pt x="563" y="6"/>
                  </a:lnTo>
                  <a:lnTo>
                    <a:pt x="563" y="3"/>
                  </a:lnTo>
                  <a:lnTo>
                    <a:pt x="563" y="0"/>
                  </a:lnTo>
                  <a:lnTo>
                    <a:pt x="559" y="0"/>
                  </a:lnTo>
                  <a:lnTo>
                    <a:pt x="559" y="3"/>
                  </a:lnTo>
                  <a:lnTo>
                    <a:pt x="559" y="6"/>
                  </a:lnTo>
                  <a:lnTo>
                    <a:pt x="559" y="9"/>
                  </a:lnTo>
                  <a:lnTo>
                    <a:pt x="559" y="11"/>
                  </a:lnTo>
                  <a:lnTo>
                    <a:pt x="559" y="14"/>
                  </a:lnTo>
                  <a:lnTo>
                    <a:pt x="559" y="18"/>
                  </a:lnTo>
                  <a:lnTo>
                    <a:pt x="559" y="21"/>
                  </a:lnTo>
                  <a:lnTo>
                    <a:pt x="559" y="24"/>
                  </a:lnTo>
                  <a:lnTo>
                    <a:pt x="559" y="28"/>
                  </a:lnTo>
                  <a:lnTo>
                    <a:pt x="559" y="31"/>
                  </a:lnTo>
                  <a:lnTo>
                    <a:pt x="559" y="34"/>
                  </a:lnTo>
                  <a:lnTo>
                    <a:pt x="559" y="38"/>
                  </a:lnTo>
                  <a:lnTo>
                    <a:pt x="559" y="41"/>
                  </a:lnTo>
                  <a:lnTo>
                    <a:pt x="559" y="44"/>
                  </a:lnTo>
                  <a:lnTo>
                    <a:pt x="559" y="48"/>
                  </a:lnTo>
                  <a:lnTo>
                    <a:pt x="559" y="51"/>
                  </a:lnTo>
                  <a:lnTo>
                    <a:pt x="563" y="51"/>
                  </a:lnTo>
                  <a:lnTo>
                    <a:pt x="563" y="48"/>
                  </a:lnTo>
                  <a:lnTo>
                    <a:pt x="563" y="44"/>
                  </a:lnTo>
                  <a:lnTo>
                    <a:pt x="563" y="41"/>
                  </a:lnTo>
                  <a:lnTo>
                    <a:pt x="563" y="38"/>
                  </a:lnTo>
                  <a:lnTo>
                    <a:pt x="563" y="34"/>
                  </a:lnTo>
                  <a:lnTo>
                    <a:pt x="563" y="31"/>
                  </a:lnTo>
                  <a:lnTo>
                    <a:pt x="563" y="28"/>
                  </a:lnTo>
                  <a:lnTo>
                    <a:pt x="56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05" name="Freeform 346">
              <a:extLst>
                <a:ext uri="{FF2B5EF4-FFF2-40B4-BE49-F238E27FC236}">
                  <a16:creationId xmlns:a16="http://schemas.microsoft.com/office/drawing/2014/main" id="{91647DC5-875E-48B2-3C80-D1CBFF482CE7}"/>
                </a:ext>
              </a:extLst>
            </p:cNvPr>
            <p:cNvSpPr>
              <a:spLocks noEditPoints="1"/>
            </p:cNvSpPr>
            <p:nvPr/>
          </p:nvSpPr>
          <p:spPr bwMode="auto">
            <a:xfrm>
              <a:off x="1331" y="1713"/>
              <a:ext cx="560" cy="51"/>
            </a:xfrm>
            <a:custGeom>
              <a:avLst/>
              <a:gdLst>
                <a:gd name="T0" fmla="*/ 560 w 560"/>
                <a:gd name="T1" fmla="*/ 21 h 51"/>
                <a:gd name="T2" fmla="*/ 560 w 560"/>
                <a:gd name="T3" fmla="*/ 14 h 51"/>
                <a:gd name="T4" fmla="*/ 560 w 560"/>
                <a:gd name="T5" fmla="*/ 9 h 51"/>
                <a:gd name="T6" fmla="*/ 560 w 560"/>
                <a:gd name="T7" fmla="*/ 3 h 51"/>
                <a:gd name="T8" fmla="*/ 557 w 560"/>
                <a:gd name="T9" fmla="*/ 0 h 51"/>
                <a:gd name="T10" fmla="*/ 557 w 560"/>
                <a:gd name="T11" fmla="*/ 6 h 51"/>
                <a:gd name="T12" fmla="*/ 557 w 560"/>
                <a:gd name="T13" fmla="*/ 11 h 51"/>
                <a:gd name="T14" fmla="*/ 557 w 560"/>
                <a:gd name="T15" fmla="*/ 18 h 51"/>
                <a:gd name="T16" fmla="*/ 557 w 560"/>
                <a:gd name="T17" fmla="*/ 24 h 51"/>
                <a:gd name="T18" fmla="*/ 557 w 560"/>
                <a:gd name="T19" fmla="*/ 31 h 51"/>
                <a:gd name="T20" fmla="*/ 557 w 560"/>
                <a:gd name="T21" fmla="*/ 38 h 51"/>
                <a:gd name="T22" fmla="*/ 557 w 560"/>
                <a:gd name="T23" fmla="*/ 44 h 51"/>
                <a:gd name="T24" fmla="*/ 557 w 560"/>
                <a:gd name="T25" fmla="*/ 51 h 51"/>
                <a:gd name="T26" fmla="*/ 560 w 560"/>
                <a:gd name="T27" fmla="*/ 48 h 51"/>
                <a:gd name="T28" fmla="*/ 560 w 560"/>
                <a:gd name="T29" fmla="*/ 41 h 51"/>
                <a:gd name="T30" fmla="*/ 560 w 560"/>
                <a:gd name="T31" fmla="*/ 34 h 51"/>
                <a:gd name="T32" fmla="*/ 560 w 560"/>
                <a:gd name="T33" fmla="*/ 28 h 51"/>
                <a:gd name="T34" fmla="*/ 2 w 560"/>
                <a:gd name="T35" fmla="*/ 0 h 51"/>
                <a:gd name="T36" fmla="*/ 0 w 560"/>
                <a:gd name="T37" fmla="*/ 6 h 51"/>
                <a:gd name="T38" fmla="*/ 0 w 560"/>
                <a:gd name="T39" fmla="*/ 11 h 51"/>
                <a:gd name="T40" fmla="*/ 0 w 560"/>
                <a:gd name="T41" fmla="*/ 18 h 51"/>
                <a:gd name="T42" fmla="*/ 0 w 560"/>
                <a:gd name="T43" fmla="*/ 24 h 51"/>
                <a:gd name="T44" fmla="*/ 0 w 560"/>
                <a:gd name="T45" fmla="*/ 31 h 51"/>
                <a:gd name="T46" fmla="*/ 0 w 560"/>
                <a:gd name="T47" fmla="*/ 38 h 51"/>
                <a:gd name="T48" fmla="*/ 0 w 560"/>
                <a:gd name="T49" fmla="*/ 44 h 51"/>
                <a:gd name="T50" fmla="*/ 0 w 560"/>
                <a:gd name="T51" fmla="*/ 51 h 51"/>
                <a:gd name="T52" fmla="*/ 4 w 560"/>
                <a:gd name="T53" fmla="*/ 48 h 51"/>
                <a:gd name="T54" fmla="*/ 4 w 560"/>
                <a:gd name="T55" fmla="*/ 41 h 51"/>
                <a:gd name="T56" fmla="*/ 4 w 560"/>
                <a:gd name="T57" fmla="*/ 34 h 51"/>
                <a:gd name="T58" fmla="*/ 4 w 560"/>
                <a:gd name="T59" fmla="*/ 28 h 51"/>
                <a:gd name="T60" fmla="*/ 4 w 560"/>
                <a:gd name="T61" fmla="*/ 21 h 51"/>
                <a:gd name="T62" fmla="*/ 4 w 560"/>
                <a:gd name="T63" fmla="*/ 14 h 51"/>
                <a:gd name="T64" fmla="*/ 4 w 560"/>
                <a:gd name="T65" fmla="*/ 9 h 51"/>
                <a:gd name="T66" fmla="*/ 4 w 560"/>
                <a:gd name="T67" fmla="*/ 3 h 51"/>
                <a:gd name="T68" fmla="*/ 2 w 56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0" h="51">
                  <a:moveTo>
                    <a:pt x="560" y="24"/>
                  </a:moveTo>
                  <a:lnTo>
                    <a:pt x="560" y="21"/>
                  </a:lnTo>
                  <a:lnTo>
                    <a:pt x="560" y="18"/>
                  </a:lnTo>
                  <a:lnTo>
                    <a:pt x="560" y="14"/>
                  </a:lnTo>
                  <a:lnTo>
                    <a:pt x="560" y="11"/>
                  </a:lnTo>
                  <a:lnTo>
                    <a:pt x="560" y="9"/>
                  </a:lnTo>
                  <a:lnTo>
                    <a:pt x="560" y="6"/>
                  </a:lnTo>
                  <a:lnTo>
                    <a:pt x="560" y="3"/>
                  </a:lnTo>
                  <a:lnTo>
                    <a:pt x="560" y="0"/>
                  </a:lnTo>
                  <a:lnTo>
                    <a:pt x="557" y="0"/>
                  </a:lnTo>
                  <a:lnTo>
                    <a:pt x="557" y="3"/>
                  </a:lnTo>
                  <a:lnTo>
                    <a:pt x="557" y="6"/>
                  </a:lnTo>
                  <a:lnTo>
                    <a:pt x="557" y="9"/>
                  </a:lnTo>
                  <a:lnTo>
                    <a:pt x="557" y="11"/>
                  </a:lnTo>
                  <a:lnTo>
                    <a:pt x="557" y="14"/>
                  </a:lnTo>
                  <a:lnTo>
                    <a:pt x="557" y="18"/>
                  </a:lnTo>
                  <a:lnTo>
                    <a:pt x="557" y="21"/>
                  </a:lnTo>
                  <a:lnTo>
                    <a:pt x="557" y="24"/>
                  </a:lnTo>
                  <a:lnTo>
                    <a:pt x="557" y="28"/>
                  </a:lnTo>
                  <a:lnTo>
                    <a:pt x="557" y="31"/>
                  </a:lnTo>
                  <a:lnTo>
                    <a:pt x="557" y="34"/>
                  </a:lnTo>
                  <a:lnTo>
                    <a:pt x="557" y="38"/>
                  </a:lnTo>
                  <a:lnTo>
                    <a:pt x="557" y="41"/>
                  </a:lnTo>
                  <a:lnTo>
                    <a:pt x="557" y="44"/>
                  </a:lnTo>
                  <a:lnTo>
                    <a:pt x="557" y="48"/>
                  </a:lnTo>
                  <a:lnTo>
                    <a:pt x="557" y="51"/>
                  </a:lnTo>
                  <a:lnTo>
                    <a:pt x="560" y="51"/>
                  </a:lnTo>
                  <a:lnTo>
                    <a:pt x="560" y="48"/>
                  </a:lnTo>
                  <a:lnTo>
                    <a:pt x="560" y="44"/>
                  </a:lnTo>
                  <a:lnTo>
                    <a:pt x="560" y="41"/>
                  </a:lnTo>
                  <a:lnTo>
                    <a:pt x="560" y="38"/>
                  </a:lnTo>
                  <a:lnTo>
                    <a:pt x="560" y="34"/>
                  </a:lnTo>
                  <a:lnTo>
                    <a:pt x="560" y="31"/>
                  </a:lnTo>
                  <a:lnTo>
                    <a:pt x="560" y="28"/>
                  </a:lnTo>
                  <a:lnTo>
                    <a:pt x="56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06" name="Freeform 347">
              <a:extLst>
                <a:ext uri="{FF2B5EF4-FFF2-40B4-BE49-F238E27FC236}">
                  <a16:creationId xmlns:a16="http://schemas.microsoft.com/office/drawing/2014/main" id="{4DC94DA7-0330-5FCC-28CF-F6ADCD5BF1BC}"/>
                </a:ext>
              </a:extLst>
            </p:cNvPr>
            <p:cNvSpPr>
              <a:spLocks noEditPoints="1"/>
            </p:cNvSpPr>
            <p:nvPr/>
          </p:nvSpPr>
          <p:spPr bwMode="auto">
            <a:xfrm>
              <a:off x="1333" y="1713"/>
              <a:ext cx="556" cy="51"/>
            </a:xfrm>
            <a:custGeom>
              <a:avLst/>
              <a:gdLst>
                <a:gd name="T0" fmla="*/ 556 w 556"/>
                <a:gd name="T1" fmla="*/ 21 h 51"/>
                <a:gd name="T2" fmla="*/ 556 w 556"/>
                <a:gd name="T3" fmla="*/ 14 h 51"/>
                <a:gd name="T4" fmla="*/ 556 w 556"/>
                <a:gd name="T5" fmla="*/ 9 h 51"/>
                <a:gd name="T6" fmla="*/ 556 w 556"/>
                <a:gd name="T7" fmla="*/ 3 h 51"/>
                <a:gd name="T8" fmla="*/ 553 w 556"/>
                <a:gd name="T9" fmla="*/ 0 h 51"/>
                <a:gd name="T10" fmla="*/ 553 w 556"/>
                <a:gd name="T11" fmla="*/ 6 h 51"/>
                <a:gd name="T12" fmla="*/ 553 w 556"/>
                <a:gd name="T13" fmla="*/ 11 h 51"/>
                <a:gd name="T14" fmla="*/ 553 w 556"/>
                <a:gd name="T15" fmla="*/ 18 h 51"/>
                <a:gd name="T16" fmla="*/ 553 w 556"/>
                <a:gd name="T17" fmla="*/ 24 h 51"/>
                <a:gd name="T18" fmla="*/ 553 w 556"/>
                <a:gd name="T19" fmla="*/ 31 h 51"/>
                <a:gd name="T20" fmla="*/ 553 w 556"/>
                <a:gd name="T21" fmla="*/ 38 h 51"/>
                <a:gd name="T22" fmla="*/ 553 w 556"/>
                <a:gd name="T23" fmla="*/ 44 h 51"/>
                <a:gd name="T24" fmla="*/ 553 w 556"/>
                <a:gd name="T25" fmla="*/ 51 h 51"/>
                <a:gd name="T26" fmla="*/ 556 w 556"/>
                <a:gd name="T27" fmla="*/ 48 h 51"/>
                <a:gd name="T28" fmla="*/ 556 w 556"/>
                <a:gd name="T29" fmla="*/ 41 h 51"/>
                <a:gd name="T30" fmla="*/ 556 w 556"/>
                <a:gd name="T31" fmla="*/ 34 h 51"/>
                <a:gd name="T32" fmla="*/ 556 w 556"/>
                <a:gd name="T33" fmla="*/ 28 h 51"/>
                <a:gd name="T34" fmla="*/ 2 w 556"/>
                <a:gd name="T35" fmla="*/ 0 h 51"/>
                <a:gd name="T36" fmla="*/ 0 w 556"/>
                <a:gd name="T37" fmla="*/ 6 h 51"/>
                <a:gd name="T38" fmla="*/ 0 w 556"/>
                <a:gd name="T39" fmla="*/ 11 h 51"/>
                <a:gd name="T40" fmla="*/ 0 w 556"/>
                <a:gd name="T41" fmla="*/ 18 h 51"/>
                <a:gd name="T42" fmla="*/ 0 w 556"/>
                <a:gd name="T43" fmla="*/ 24 h 51"/>
                <a:gd name="T44" fmla="*/ 0 w 556"/>
                <a:gd name="T45" fmla="*/ 31 h 51"/>
                <a:gd name="T46" fmla="*/ 0 w 556"/>
                <a:gd name="T47" fmla="*/ 38 h 51"/>
                <a:gd name="T48" fmla="*/ 0 w 556"/>
                <a:gd name="T49" fmla="*/ 44 h 51"/>
                <a:gd name="T50" fmla="*/ 0 w 556"/>
                <a:gd name="T51" fmla="*/ 51 h 51"/>
                <a:gd name="T52" fmla="*/ 3 w 556"/>
                <a:gd name="T53" fmla="*/ 48 h 51"/>
                <a:gd name="T54" fmla="*/ 3 w 556"/>
                <a:gd name="T55" fmla="*/ 41 h 51"/>
                <a:gd name="T56" fmla="*/ 3 w 556"/>
                <a:gd name="T57" fmla="*/ 34 h 51"/>
                <a:gd name="T58" fmla="*/ 3 w 556"/>
                <a:gd name="T59" fmla="*/ 28 h 51"/>
                <a:gd name="T60" fmla="*/ 3 w 556"/>
                <a:gd name="T61" fmla="*/ 21 h 51"/>
                <a:gd name="T62" fmla="*/ 3 w 556"/>
                <a:gd name="T63" fmla="*/ 14 h 51"/>
                <a:gd name="T64" fmla="*/ 3 w 556"/>
                <a:gd name="T65" fmla="*/ 9 h 51"/>
                <a:gd name="T66" fmla="*/ 3 w 556"/>
                <a:gd name="T67" fmla="*/ 3 h 51"/>
                <a:gd name="T68" fmla="*/ 2 w 5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6" h="51">
                  <a:moveTo>
                    <a:pt x="556" y="24"/>
                  </a:moveTo>
                  <a:lnTo>
                    <a:pt x="556" y="21"/>
                  </a:lnTo>
                  <a:lnTo>
                    <a:pt x="556" y="18"/>
                  </a:lnTo>
                  <a:lnTo>
                    <a:pt x="556" y="14"/>
                  </a:lnTo>
                  <a:lnTo>
                    <a:pt x="556" y="11"/>
                  </a:lnTo>
                  <a:lnTo>
                    <a:pt x="556" y="9"/>
                  </a:lnTo>
                  <a:lnTo>
                    <a:pt x="556" y="6"/>
                  </a:lnTo>
                  <a:lnTo>
                    <a:pt x="556" y="3"/>
                  </a:lnTo>
                  <a:lnTo>
                    <a:pt x="556" y="0"/>
                  </a:lnTo>
                  <a:lnTo>
                    <a:pt x="553" y="0"/>
                  </a:lnTo>
                  <a:lnTo>
                    <a:pt x="553" y="3"/>
                  </a:lnTo>
                  <a:lnTo>
                    <a:pt x="553" y="6"/>
                  </a:lnTo>
                  <a:lnTo>
                    <a:pt x="553" y="9"/>
                  </a:lnTo>
                  <a:lnTo>
                    <a:pt x="553" y="11"/>
                  </a:lnTo>
                  <a:lnTo>
                    <a:pt x="553" y="14"/>
                  </a:lnTo>
                  <a:lnTo>
                    <a:pt x="553" y="18"/>
                  </a:lnTo>
                  <a:lnTo>
                    <a:pt x="553" y="21"/>
                  </a:lnTo>
                  <a:lnTo>
                    <a:pt x="553" y="24"/>
                  </a:lnTo>
                  <a:lnTo>
                    <a:pt x="553" y="28"/>
                  </a:lnTo>
                  <a:lnTo>
                    <a:pt x="553" y="31"/>
                  </a:lnTo>
                  <a:lnTo>
                    <a:pt x="553" y="34"/>
                  </a:lnTo>
                  <a:lnTo>
                    <a:pt x="553" y="38"/>
                  </a:lnTo>
                  <a:lnTo>
                    <a:pt x="553" y="41"/>
                  </a:lnTo>
                  <a:lnTo>
                    <a:pt x="553" y="44"/>
                  </a:lnTo>
                  <a:lnTo>
                    <a:pt x="553" y="48"/>
                  </a:lnTo>
                  <a:lnTo>
                    <a:pt x="553" y="51"/>
                  </a:lnTo>
                  <a:lnTo>
                    <a:pt x="556" y="51"/>
                  </a:lnTo>
                  <a:lnTo>
                    <a:pt x="556" y="48"/>
                  </a:lnTo>
                  <a:lnTo>
                    <a:pt x="556" y="44"/>
                  </a:lnTo>
                  <a:lnTo>
                    <a:pt x="556" y="41"/>
                  </a:lnTo>
                  <a:lnTo>
                    <a:pt x="556" y="38"/>
                  </a:lnTo>
                  <a:lnTo>
                    <a:pt x="556" y="34"/>
                  </a:lnTo>
                  <a:lnTo>
                    <a:pt x="556" y="31"/>
                  </a:lnTo>
                  <a:lnTo>
                    <a:pt x="556" y="28"/>
                  </a:lnTo>
                  <a:lnTo>
                    <a:pt x="55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07" name="Freeform 348">
              <a:extLst>
                <a:ext uri="{FF2B5EF4-FFF2-40B4-BE49-F238E27FC236}">
                  <a16:creationId xmlns:a16="http://schemas.microsoft.com/office/drawing/2014/main" id="{4BA99F1A-8B61-AF26-5677-D391610D259E}"/>
                </a:ext>
              </a:extLst>
            </p:cNvPr>
            <p:cNvSpPr>
              <a:spLocks noEditPoints="1"/>
            </p:cNvSpPr>
            <p:nvPr/>
          </p:nvSpPr>
          <p:spPr bwMode="auto">
            <a:xfrm>
              <a:off x="1335" y="1713"/>
              <a:ext cx="553" cy="51"/>
            </a:xfrm>
            <a:custGeom>
              <a:avLst/>
              <a:gdLst>
                <a:gd name="T0" fmla="*/ 553 w 553"/>
                <a:gd name="T1" fmla="*/ 21 h 51"/>
                <a:gd name="T2" fmla="*/ 553 w 553"/>
                <a:gd name="T3" fmla="*/ 14 h 51"/>
                <a:gd name="T4" fmla="*/ 553 w 553"/>
                <a:gd name="T5" fmla="*/ 9 h 51"/>
                <a:gd name="T6" fmla="*/ 553 w 553"/>
                <a:gd name="T7" fmla="*/ 3 h 51"/>
                <a:gd name="T8" fmla="*/ 549 w 553"/>
                <a:gd name="T9" fmla="*/ 0 h 51"/>
                <a:gd name="T10" fmla="*/ 549 w 553"/>
                <a:gd name="T11" fmla="*/ 6 h 51"/>
                <a:gd name="T12" fmla="*/ 549 w 553"/>
                <a:gd name="T13" fmla="*/ 11 h 51"/>
                <a:gd name="T14" fmla="*/ 549 w 553"/>
                <a:gd name="T15" fmla="*/ 18 h 51"/>
                <a:gd name="T16" fmla="*/ 549 w 553"/>
                <a:gd name="T17" fmla="*/ 24 h 51"/>
                <a:gd name="T18" fmla="*/ 549 w 553"/>
                <a:gd name="T19" fmla="*/ 31 h 51"/>
                <a:gd name="T20" fmla="*/ 549 w 553"/>
                <a:gd name="T21" fmla="*/ 38 h 51"/>
                <a:gd name="T22" fmla="*/ 549 w 553"/>
                <a:gd name="T23" fmla="*/ 44 h 51"/>
                <a:gd name="T24" fmla="*/ 549 w 553"/>
                <a:gd name="T25" fmla="*/ 51 h 51"/>
                <a:gd name="T26" fmla="*/ 553 w 553"/>
                <a:gd name="T27" fmla="*/ 48 h 51"/>
                <a:gd name="T28" fmla="*/ 553 w 553"/>
                <a:gd name="T29" fmla="*/ 41 h 51"/>
                <a:gd name="T30" fmla="*/ 553 w 553"/>
                <a:gd name="T31" fmla="*/ 34 h 51"/>
                <a:gd name="T32" fmla="*/ 553 w 553"/>
                <a:gd name="T33" fmla="*/ 28 h 51"/>
                <a:gd name="T34" fmla="*/ 1 w 553"/>
                <a:gd name="T35" fmla="*/ 0 h 51"/>
                <a:gd name="T36" fmla="*/ 0 w 553"/>
                <a:gd name="T37" fmla="*/ 6 h 51"/>
                <a:gd name="T38" fmla="*/ 0 w 553"/>
                <a:gd name="T39" fmla="*/ 11 h 51"/>
                <a:gd name="T40" fmla="*/ 0 w 553"/>
                <a:gd name="T41" fmla="*/ 18 h 51"/>
                <a:gd name="T42" fmla="*/ 0 w 553"/>
                <a:gd name="T43" fmla="*/ 24 h 51"/>
                <a:gd name="T44" fmla="*/ 0 w 553"/>
                <a:gd name="T45" fmla="*/ 31 h 51"/>
                <a:gd name="T46" fmla="*/ 0 w 553"/>
                <a:gd name="T47" fmla="*/ 38 h 51"/>
                <a:gd name="T48" fmla="*/ 0 w 553"/>
                <a:gd name="T49" fmla="*/ 44 h 51"/>
                <a:gd name="T50" fmla="*/ 0 w 553"/>
                <a:gd name="T51" fmla="*/ 51 h 51"/>
                <a:gd name="T52" fmla="*/ 3 w 553"/>
                <a:gd name="T53" fmla="*/ 48 h 51"/>
                <a:gd name="T54" fmla="*/ 3 w 553"/>
                <a:gd name="T55" fmla="*/ 41 h 51"/>
                <a:gd name="T56" fmla="*/ 3 w 553"/>
                <a:gd name="T57" fmla="*/ 34 h 51"/>
                <a:gd name="T58" fmla="*/ 3 w 553"/>
                <a:gd name="T59" fmla="*/ 28 h 51"/>
                <a:gd name="T60" fmla="*/ 3 w 553"/>
                <a:gd name="T61" fmla="*/ 21 h 51"/>
                <a:gd name="T62" fmla="*/ 3 w 553"/>
                <a:gd name="T63" fmla="*/ 14 h 51"/>
                <a:gd name="T64" fmla="*/ 3 w 553"/>
                <a:gd name="T65" fmla="*/ 9 h 51"/>
                <a:gd name="T66" fmla="*/ 3 w 553"/>
                <a:gd name="T67" fmla="*/ 3 h 51"/>
                <a:gd name="T68" fmla="*/ 1 w 55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3" h="51">
                  <a:moveTo>
                    <a:pt x="553" y="24"/>
                  </a:moveTo>
                  <a:lnTo>
                    <a:pt x="553" y="21"/>
                  </a:lnTo>
                  <a:lnTo>
                    <a:pt x="553" y="18"/>
                  </a:lnTo>
                  <a:lnTo>
                    <a:pt x="553" y="14"/>
                  </a:lnTo>
                  <a:lnTo>
                    <a:pt x="553" y="11"/>
                  </a:lnTo>
                  <a:lnTo>
                    <a:pt x="553" y="9"/>
                  </a:lnTo>
                  <a:lnTo>
                    <a:pt x="553" y="6"/>
                  </a:lnTo>
                  <a:lnTo>
                    <a:pt x="553" y="3"/>
                  </a:lnTo>
                  <a:lnTo>
                    <a:pt x="553" y="0"/>
                  </a:lnTo>
                  <a:lnTo>
                    <a:pt x="549" y="0"/>
                  </a:lnTo>
                  <a:lnTo>
                    <a:pt x="549" y="3"/>
                  </a:lnTo>
                  <a:lnTo>
                    <a:pt x="549" y="6"/>
                  </a:lnTo>
                  <a:lnTo>
                    <a:pt x="549" y="9"/>
                  </a:lnTo>
                  <a:lnTo>
                    <a:pt x="549" y="11"/>
                  </a:lnTo>
                  <a:lnTo>
                    <a:pt x="549" y="14"/>
                  </a:lnTo>
                  <a:lnTo>
                    <a:pt x="549" y="18"/>
                  </a:lnTo>
                  <a:lnTo>
                    <a:pt x="549" y="21"/>
                  </a:lnTo>
                  <a:lnTo>
                    <a:pt x="549" y="24"/>
                  </a:lnTo>
                  <a:lnTo>
                    <a:pt x="549" y="28"/>
                  </a:lnTo>
                  <a:lnTo>
                    <a:pt x="549" y="31"/>
                  </a:lnTo>
                  <a:lnTo>
                    <a:pt x="549" y="34"/>
                  </a:lnTo>
                  <a:lnTo>
                    <a:pt x="549" y="38"/>
                  </a:lnTo>
                  <a:lnTo>
                    <a:pt x="549" y="41"/>
                  </a:lnTo>
                  <a:lnTo>
                    <a:pt x="549" y="44"/>
                  </a:lnTo>
                  <a:lnTo>
                    <a:pt x="549" y="48"/>
                  </a:lnTo>
                  <a:lnTo>
                    <a:pt x="549" y="51"/>
                  </a:lnTo>
                  <a:lnTo>
                    <a:pt x="553" y="51"/>
                  </a:lnTo>
                  <a:lnTo>
                    <a:pt x="553" y="48"/>
                  </a:lnTo>
                  <a:lnTo>
                    <a:pt x="553" y="44"/>
                  </a:lnTo>
                  <a:lnTo>
                    <a:pt x="553" y="41"/>
                  </a:lnTo>
                  <a:lnTo>
                    <a:pt x="553" y="38"/>
                  </a:lnTo>
                  <a:lnTo>
                    <a:pt x="553" y="34"/>
                  </a:lnTo>
                  <a:lnTo>
                    <a:pt x="553" y="31"/>
                  </a:lnTo>
                  <a:lnTo>
                    <a:pt x="553" y="28"/>
                  </a:lnTo>
                  <a:lnTo>
                    <a:pt x="55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08" name="Freeform 349">
              <a:extLst>
                <a:ext uri="{FF2B5EF4-FFF2-40B4-BE49-F238E27FC236}">
                  <a16:creationId xmlns:a16="http://schemas.microsoft.com/office/drawing/2014/main" id="{7EE223F1-DEB2-B563-6A94-25C29BCF2E18}"/>
                </a:ext>
              </a:extLst>
            </p:cNvPr>
            <p:cNvSpPr>
              <a:spLocks noEditPoints="1"/>
            </p:cNvSpPr>
            <p:nvPr/>
          </p:nvSpPr>
          <p:spPr bwMode="auto">
            <a:xfrm>
              <a:off x="1336" y="1713"/>
              <a:ext cx="550" cy="51"/>
            </a:xfrm>
            <a:custGeom>
              <a:avLst/>
              <a:gdLst>
                <a:gd name="T0" fmla="*/ 550 w 550"/>
                <a:gd name="T1" fmla="*/ 21 h 51"/>
                <a:gd name="T2" fmla="*/ 550 w 550"/>
                <a:gd name="T3" fmla="*/ 14 h 51"/>
                <a:gd name="T4" fmla="*/ 550 w 550"/>
                <a:gd name="T5" fmla="*/ 9 h 51"/>
                <a:gd name="T6" fmla="*/ 550 w 550"/>
                <a:gd name="T7" fmla="*/ 3 h 51"/>
                <a:gd name="T8" fmla="*/ 547 w 550"/>
                <a:gd name="T9" fmla="*/ 0 h 51"/>
                <a:gd name="T10" fmla="*/ 547 w 550"/>
                <a:gd name="T11" fmla="*/ 6 h 51"/>
                <a:gd name="T12" fmla="*/ 547 w 550"/>
                <a:gd name="T13" fmla="*/ 11 h 51"/>
                <a:gd name="T14" fmla="*/ 547 w 550"/>
                <a:gd name="T15" fmla="*/ 18 h 51"/>
                <a:gd name="T16" fmla="*/ 547 w 550"/>
                <a:gd name="T17" fmla="*/ 24 h 51"/>
                <a:gd name="T18" fmla="*/ 547 w 550"/>
                <a:gd name="T19" fmla="*/ 31 h 51"/>
                <a:gd name="T20" fmla="*/ 547 w 550"/>
                <a:gd name="T21" fmla="*/ 38 h 51"/>
                <a:gd name="T22" fmla="*/ 547 w 550"/>
                <a:gd name="T23" fmla="*/ 44 h 51"/>
                <a:gd name="T24" fmla="*/ 547 w 550"/>
                <a:gd name="T25" fmla="*/ 51 h 51"/>
                <a:gd name="T26" fmla="*/ 550 w 550"/>
                <a:gd name="T27" fmla="*/ 48 h 51"/>
                <a:gd name="T28" fmla="*/ 550 w 550"/>
                <a:gd name="T29" fmla="*/ 41 h 51"/>
                <a:gd name="T30" fmla="*/ 550 w 550"/>
                <a:gd name="T31" fmla="*/ 34 h 51"/>
                <a:gd name="T32" fmla="*/ 550 w 550"/>
                <a:gd name="T33" fmla="*/ 28 h 51"/>
                <a:gd name="T34" fmla="*/ 2 w 550"/>
                <a:gd name="T35" fmla="*/ 0 h 51"/>
                <a:gd name="T36" fmla="*/ 0 w 550"/>
                <a:gd name="T37" fmla="*/ 6 h 51"/>
                <a:gd name="T38" fmla="*/ 0 w 550"/>
                <a:gd name="T39" fmla="*/ 11 h 51"/>
                <a:gd name="T40" fmla="*/ 0 w 550"/>
                <a:gd name="T41" fmla="*/ 18 h 51"/>
                <a:gd name="T42" fmla="*/ 0 w 550"/>
                <a:gd name="T43" fmla="*/ 24 h 51"/>
                <a:gd name="T44" fmla="*/ 0 w 550"/>
                <a:gd name="T45" fmla="*/ 31 h 51"/>
                <a:gd name="T46" fmla="*/ 0 w 550"/>
                <a:gd name="T47" fmla="*/ 38 h 51"/>
                <a:gd name="T48" fmla="*/ 0 w 550"/>
                <a:gd name="T49" fmla="*/ 44 h 51"/>
                <a:gd name="T50" fmla="*/ 0 w 550"/>
                <a:gd name="T51" fmla="*/ 51 h 51"/>
                <a:gd name="T52" fmla="*/ 4 w 550"/>
                <a:gd name="T53" fmla="*/ 48 h 51"/>
                <a:gd name="T54" fmla="*/ 4 w 550"/>
                <a:gd name="T55" fmla="*/ 41 h 51"/>
                <a:gd name="T56" fmla="*/ 4 w 550"/>
                <a:gd name="T57" fmla="*/ 34 h 51"/>
                <a:gd name="T58" fmla="*/ 4 w 550"/>
                <a:gd name="T59" fmla="*/ 28 h 51"/>
                <a:gd name="T60" fmla="*/ 4 w 550"/>
                <a:gd name="T61" fmla="*/ 21 h 51"/>
                <a:gd name="T62" fmla="*/ 4 w 550"/>
                <a:gd name="T63" fmla="*/ 14 h 51"/>
                <a:gd name="T64" fmla="*/ 4 w 550"/>
                <a:gd name="T65" fmla="*/ 9 h 51"/>
                <a:gd name="T66" fmla="*/ 4 w 550"/>
                <a:gd name="T67" fmla="*/ 3 h 51"/>
                <a:gd name="T68" fmla="*/ 2 w 55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0" h="51">
                  <a:moveTo>
                    <a:pt x="550" y="24"/>
                  </a:moveTo>
                  <a:lnTo>
                    <a:pt x="550" y="21"/>
                  </a:lnTo>
                  <a:lnTo>
                    <a:pt x="550" y="18"/>
                  </a:lnTo>
                  <a:lnTo>
                    <a:pt x="550" y="14"/>
                  </a:lnTo>
                  <a:lnTo>
                    <a:pt x="550" y="11"/>
                  </a:lnTo>
                  <a:lnTo>
                    <a:pt x="550" y="9"/>
                  </a:lnTo>
                  <a:lnTo>
                    <a:pt x="550" y="6"/>
                  </a:lnTo>
                  <a:lnTo>
                    <a:pt x="550" y="3"/>
                  </a:lnTo>
                  <a:lnTo>
                    <a:pt x="550" y="0"/>
                  </a:lnTo>
                  <a:lnTo>
                    <a:pt x="547" y="0"/>
                  </a:lnTo>
                  <a:lnTo>
                    <a:pt x="547" y="3"/>
                  </a:lnTo>
                  <a:lnTo>
                    <a:pt x="547" y="6"/>
                  </a:lnTo>
                  <a:lnTo>
                    <a:pt x="547" y="9"/>
                  </a:lnTo>
                  <a:lnTo>
                    <a:pt x="547" y="11"/>
                  </a:lnTo>
                  <a:lnTo>
                    <a:pt x="547" y="14"/>
                  </a:lnTo>
                  <a:lnTo>
                    <a:pt x="547" y="18"/>
                  </a:lnTo>
                  <a:lnTo>
                    <a:pt x="547" y="21"/>
                  </a:lnTo>
                  <a:lnTo>
                    <a:pt x="547" y="24"/>
                  </a:lnTo>
                  <a:lnTo>
                    <a:pt x="547" y="28"/>
                  </a:lnTo>
                  <a:lnTo>
                    <a:pt x="547" y="31"/>
                  </a:lnTo>
                  <a:lnTo>
                    <a:pt x="547" y="34"/>
                  </a:lnTo>
                  <a:lnTo>
                    <a:pt x="547" y="38"/>
                  </a:lnTo>
                  <a:lnTo>
                    <a:pt x="547" y="41"/>
                  </a:lnTo>
                  <a:lnTo>
                    <a:pt x="547" y="44"/>
                  </a:lnTo>
                  <a:lnTo>
                    <a:pt x="547" y="48"/>
                  </a:lnTo>
                  <a:lnTo>
                    <a:pt x="547" y="51"/>
                  </a:lnTo>
                  <a:lnTo>
                    <a:pt x="550" y="51"/>
                  </a:lnTo>
                  <a:lnTo>
                    <a:pt x="550" y="48"/>
                  </a:lnTo>
                  <a:lnTo>
                    <a:pt x="550" y="44"/>
                  </a:lnTo>
                  <a:lnTo>
                    <a:pt x="550" y="41"/>
                  </a:lnTo>
                  <a:lnTo>
                    <a:pt x="550" y="38"/>
                  </a:lnTo>
                  <a:lnTo>
                    <a:pt x="550" y="34"/>
                  </a:lnTo>
                  <a:lnTo>
                    <a:pt x="550" y="31"/>
                  </a:lnTo>
                  <a:lnTo>
                    <a:pt x="550" y="28"/>
                  </a:lnTo>
                  <a:lnTo>
                    <a:pt x="55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09" name="Freeform 350">
              <a:extLst>
                <a:ext uri="{FF2B5EF4-FFF2-40B4-BE49-F238E27FC236}">
                  <a16:creationId xmlns:a16="http://schemas.microsoft.com/office/drawing/2014/main" id="{B4ED2496-10F1-A565-0D72-F3EB8FFE53D9}"/>
                </a:ext>
              </a:extLst>
            </p:cNvPr>
            <p:cNvSpPr>
              <a:spLocks noEditPoints="1"/>
            </p:cNvSpPr>
            <p:nvPr/>
          </p:nvSpPr>
          <p:spPr bwMode="auto">
            <a:xfrm>
              <a:off x="1338" y="1713"/>
              <a:ext cx="546" cy="51"/>
            </a:xfrm>
            <a:custGeom>
              <a:avLst/>
              <a:gdLst>
                <a:gd name="T0" fmla="*/ 546 w 546"/>
                <a:gd name="T1" fmla="*/ 21 h 51"/>
                <a:gd name="T2" fmla="*/ 546 w 546"/>
                <a:gd name="T3" fmla="*/ 14 h 51"/>
                <a:gd name="T4" fmla="*/ 546 w 546"/>
                <a:gd name="T5" fmla="*/ 9 h 51"/>
                <a:gd name="T6" fmla="*/ 546 w 546"/>
                <a:gd name="T7" fmla="*/ 3 h 51"/>
                <a:gd name="T8" fmla="*/ 543 w 546"/>
                <a:gd name="T9" fmla="*/ 0 h 51"/>
                <a:gd name="T10" fmla="*/ 543 w 546"/>
                <a:gd name="T11" fmla="*/ 6 h 51"/>
                <a:gd name="T12" fmla="*/ 543 w 546"/>
                <a:gd name="T13" fmla="*/ 11 h 51"/>
                <a:gd name="T14" fmla="*/ 543 w 546"/>
                <a:gd name="T15" fmla="*/ 18 h 51"/>
                <a:gd name="T16" fmla="*/ 543 w 546"/>
                <a:gd name="T17" fmla="*/ 24 h 51"/>
                <a:gd name="T18" fmla="*/ 543 w 546"/>
                <a:gd name="T19" fmla="*/ 31 h 51"/>
                <a:gd name="T20" fmla="*/ 543 w 546"/>
                <a:gd name="T21" fmla="*/ 38 h 51"/>
                <a:gd name="T22" fmla="*/ 543 w 546"/>
                <a:gd name="T23" fmla="*/ 44 h 51"/>
                <a:gd name="T24" fmla="*/ 543 w 546"/>
                <a:gd name="T25" fmla="*/ 51 h 51"/>
                <a:gd name="T26" fmla="*/ 546 w 546"/>
                <a:gd name="T27" fmla="*/ 48 h 51"/>
                <a:gd name="T28" fmla="*/ 546 w 546"/>
                <a:gd name="T29" fmla="*/ 41 h 51"/>
                <a:gd name="T30" fmla="*/ 546 w 546"/>
                <a:gd name="T31" fmla="*/ 34 h 51"/>
                <a:gd name="T32" fmla="*/ 546 w 546"/>
                <a:gd name="T33" fmla="*/ 28 h 51"/>
                <a:gd name="T34" fmla="*/ 2 w 546"/>
                <a:gd name="T35" fmla="*/ 0 h 51"/>
                <a:gd name="T36" fmla="*/ 0 w 546"/>
                <a:gd name="T37" fmla="*/ 6 h 51"/>
                <a:gd name="T38" fmla="*/ 0 w 546"/>
                <a:gd name="T39" fmla="*/ 11 h 51"/>
                <a:gd name="T40" fmla="*/ 0 w 546"/>
                <a:gd name="T41" fmla="*/ 18 h 51"/>
                <a:gd name="T42" fmla="*/ 0 w 546"/>
                <a:gd name="T43" fmla="*/ 24 h 51"/>
                <a:gd name="T44" fmla="*/ 0 w 546"/>
                <a:gd name="T45" fmla="*/ 31 h 51"/>
                <a:gd name="T46" fmla="*/ 0 w 546"/>
                <a:gd name="T47" fmla="*/ 38 h 51"/>
                <a:gd name="T48" fmla="*/ 0 w 546"/>
                <a:gd name="T49" fmla="*/ 44 h 51"/>
                <a:gd name="T50" fmla="*/ 0 w 546"/>
                <a:gd name="T51" fmla="*/ 51 h 51"/>
                <a:gd name="T52" fmla="*/ 3 w 546"/>
                <a:gd name="T53" fmla="*/ 48 h 51"/>
                <a:gd name="T54" fmla="*/ 3 w 546"/>
                <a:gd name="T55" fmla="*/ 41 h 51"/>
                <a:gd name="T56" fmla="*/ 3 w 546"/>
                <a:gd name="T57" fmla="*/ 34 h 51"/>
                <a:gd name="T58" fmla="*/ 3 w 546"/>
                <a:gd name="T59" fmla="*/ 28 h 51"/>
                <a:gd name="T60" fmla="*/ 3 w 546"/>
                <a:gd name="T61" fmla="*/ 21 h 51"/>
                <a:gd name="T62" fmla="*/ 3 w 546"/>
                <a:gd name="T63" fmla="*/ 14 h 51"/>
                <a:gd name="T64" fmla="*/ 3 w 546"/>
                <a:gd name="T65" fmla="*/ 9 h 51"/>
                <a:gd name="T66" fmla="*/ 3 w 546"/>
                <a:gd name="T67" fmla="*/ 3 h 51"/>
                <a:gd name="T68" fmla="*/ 2 w 5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6" h="51">
                  <a:moveTo>
                    <a:pt x="546" y="24"/>
                  </a:moveTo>
                  <a:lnTo>
                    <a:pt x="546" y="21"/>
                  </a:lnTo>
                  <a:lnTo>
                    <a:pt x="546" y="18"/>
                  </a:lnTo>
                  <a:lnTo>
                    <a:pt x="546" y="14"/>
                  </a:lnTo>
                  <a:lnTo>
                    <a:pt x="546" y="11"/>
                  </a:lnTo>
                  <a:lnTo>
                    <a:pt x="546" y="9"/>
                  </a:lnTo>
                  <a:lnTo>
                    <a:pt x="546" y="6"/>
                  </a:lnTo>
                  <a:lnTo>
                    <a:pt x="546" y="3"/>
                  </a:lnTo>
                  <a:lnTo>
                    <a:pt x="546" y="0"/>
                  </a:lnTo>
                  <a:lnTo>
                    <a:pt x="543" y="0"/>
                  </a:lnTo>
                  <a:lnTo>
                    <a:pt x="543" y="3"/>
                  </a:lnTo>
                  <a:lnTo>
                    <a:pt x="543" y="6"/>
                  </a:lnTo>
                  <a:lnTo>
                    <a:pt x="543" y="9"/>
                  </a:lnTo>
                  <a:lnTo>
                    <a:pt x="543" y="11"/>
                  </a:lnTo>
                  <a:lnTo>
                    <a:pt x="543" y="14"/>
                  </a:lnTo>
                  <a:lnTo>
                    <a:pt x="543" y="18"/>
                  </a:lnTo>
                  <a:lnTo>
                    <a:pt x="543" y="21"/>
                  </a:lnTo>
                  <a:lnTo>
                    <a:pt x="543" y="24"/>
                  </a:lnTo>
                  <a:lnTo>
                    <a:pt x="543" y="28"/>
                  </a:lnTo>
                  <a:lnTo>
                    <a:pt x="543" y="31"/>
                  </a:lnTo>
                  <a:lnTo>
                    <a:pt x="543" y="34"/>
                  </a:lnTo>
                  <a:lnTo>
                    <a:pt x="543" y="38"/>
                  </a:lnTo>
                  <a:lnTo>
                    <a:pt x="543" y="41"/>
                  </a:lnTo>
                  <a:lnTo>
                    <a:pt x="543" y="44"/>
                  </a:lnTo>
                  <a:lnTo>
                    <a:pt x="543" y="48"/>
                  </a:lnTo>
                  <a:lnTo>
                    <a:pt x="543" y="51"/>
                  </a:lnTo>
                  <a:lnTo>
                    <a:pt x="546" y="51"/>
                  </a:lnTo>
                  <a:lnTo>
                    <a:pt x="546" y="48"/>
                  </a:lnTo>
                  <a:lnTo>
                    <a:pt x="546" y="44"/>
                  </a:lnTo>
                  <a:lnTo>
                    <a:pt x="546" y="41"/>
                  </a:lnTo>
                  <a:lnTo>
                    <a:pt x="546" y="38"/>
                  </a:lnTo>
                  <a:lnTo>
                    <a:pt x="546" y="34"/>
                  </a:lnTo>
                  <a:lnTo>
                    <a:pt x="546" y="31"/>
                  </a:lnTo>
                  <a:lnTo>
                    <a:pt x="546" y="28"/>
                  </a:lnTo>
                  <a:lnTo>
                    <a:pt x="54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10" name="Freeform 351">
              <a:extLst>
                <a:ext uri="{FF2B5EF4-FFF2-40B4-BE49-F238E27FC236}">
                  <a16:creationId xmlns:a16="http://schemas.microsoft.com/office/drawing/2014/main" id="{C616BBAE-A28E-C11A-D7E0-7ED49CA59B5A}"/>
                </a:ext>
              </a:extLst>
            </p:cNvPr>
            <p:cNvSpPr>
              <a:spLocks noEditPoints="1"/>
            </p:cNvSpPr>
            <p:nvPr/>
          </p:nvSpPr>
          <p:spPr bwMode="auto">
            <a:xfrm>
              <a:off x="1340" y="1713"/>
              <a:ext cx="543" cy="51"/>
            </a:xfrm>
            <a:custGeom>
              <a:avLst/>
              <a:gdLst>
                <a:gd name="T0" fmla="*/ 543 w 543"/>
                <a:gd name="T1" fmla="*/ 21 h 51"/>
                <a:gd name="T2" fmla="*/ 543 w 543"/>
                <a:gd name="T3" fmla="*/ 14 h 51"/>
                <a:gd name="T4" fmla="*/ 543 w 543"/>
                <a:gd name="T5" fmla="*/ 9 h 51"/>
                <a:gd name="T6" fmla="*/ 543 w 543"/>
                <a:gd name="T7" fmla="*/ 3 h 51"/>
                <a:gd name="T8" fmla="*/ 539 w 543"/>
                <a:gd name="T9" fmla="*/ 0 h 51"/>
                <a:gd name="T10" fmla="*/ 539 w 543"/>
                <a:gd name="T11" fmla="*/ 6 h 51"/>
                <a:gd name="T12" fmla="*/ 539 w 543"/>
                <a:gd name="T13" fmla="*/ 11 h 51"/>
                <a:gd name="T14" fmla="*/ 539 w 543"/>
                <a:gd name="T15" fmla="*/ 18 h 51"/>
                <a:gd name="T16" fmla="*/ 539 w 543"/>
                <a:gd name="T17" fmla="*/ 24 h 51"/>
                <a:gd name="T18" fmla="*/ 539 w 543"/>
                <a:gd name="T19" fmla="*/ 31 h 51"/>
                <a:gd name="T20" fmla="*/ 539 w 543"/>
                <a:gd name="T21" fmla="*/ 38 h 51"/>
                <a:gd name="T22" fmla="*/ 539 w 543"/>
                <a:gd name="T23" fmla="*/ 44 h 51"/>
                <a:gd name="T24" fmla="*/ 539 w 543"/>
                <a:gd name="T25" fmla="*/ 51 h 51"/>
                <a:gd name="T26" fmla="*/ 543 w 543"/>
                <a:gd name="T27" fmla="*/ 48 h 51"/>
                <a:gd name="T28" fmla="*/ 543 w 543"/>
                <a:gd name="T29" fmla="*/ 41 h 51"/>
                <a:gd name="T30" fmla="*/ 543 w 543"/>
                <a:gd name="T31" fmla="*/ 34 h 51"/>
                <a:gd name="T32" fmla="*/ 543 w 543"/>
                <a:gd name="T33" fmla="*/ 28 h 51"/>
                <a:gd name="T34" fmla="*/ 1 w 543"/>
                <a:gd name="T35" fmla="*/ 0 h 51"/>
                <a:gd name="T36" fmla="*/ 0 w 543"/>
                <a:gd name="T37" fmla="*/ 6 h 51"/>
                <a:gd name="T38" fmla="*/ 0 w 543"/>
                <a:gd name="T39" fmla="*/ 11 h 51"/>
                <a:gd name="T40" fmla="*/ 0 w 543"/>
                <a:gd name="T41" fmla="*/ 18 h 51"/>
                <a:gd name="T42" fmla="*/ 0 w 543"/>
                <a:gd name="T43" fmla="*/ 24 h 51"/>
                <a:gd name="T44" fmla="*/ 0 w 543"/>
                <a:gd name="T45" fmla="*/ 31 h 51"/>
                <a:gd name="T46" fmla="*/ 0 w 543"/>
                <a:gd name="T47" fmla="*/ 38 h 51"/>
                <a:gd name="T48" fmla="*/ 0 w 543"/>
                <a:gd name="T49" fmla="*/ 44 h 51"/>
                <a:gd name="T50" fmla="*/ 0 w 543"/>
                <a:gd name="T51" fmla="*/ 51 h 51"/>
                <a:gd name="T52" fmla="*/ 3 w 543"/>
                <a:gd name="T53" fmla="*/ 48 h 51"/>
                <a:gd name="T54" fmla="*/ 3 w 543"/>
                <a:gd name="T55" fmla="*/ 41 h 51"/>
                <a:gd name="T56" fmla="*/ 3 w 543"/>
                <a:gd name="T57" fmla="*/ 34 h 51"/>
                <a:gd name="T58" fmla="*/ 3 w 543"/>
                <a:gd name="T59" fmla="*/ 28 h 51"/>
                <a:gd name="T60" fmla="*/ 3 w 543"/>
                <a:gd name="T61" fmla="*/ 21 h 51"/>
                <a:gd name="T62" fmla="*/ 3 w 543"/>
                <a:gd name="T63" fmla="*/ 14 h 51"/>
                <a:gd name="T64" fmla="*/ 3 w 543"/>
                <a:gd name="T65" fmla="*/ 9 h 51"/>
                <a:gd name="T66" fmla="*/ 3 w 543"/>
                <a:gd name="T67" fmla="*/ 3 h 51"/>
                <a:gd name="T68" fmla="*/ 1 w 54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3" h="51">
                  <a:moveTo>
                    <a:pt x="543" y="24"/>
                  </a:moveTo>
                  <a:lnTo>
                    <a:pt x="543" y="21"/>
                  </a:lnTo>
                  <a:lnTo>
                    <a:pt x="543" y="18"/>
                  </a:lnTo>
                  <a:lnTo>
                    <a:pt x="543" y="14"/>
                  </a:lnTo>
                  <a:lnTo>
                    <a:pt x="543" y="11"/>
                  </a:lnTo>
                  <a:lnTo>
                    <a:pt x="543" y="9"/>
                  </a:lnTo>
                  <a:lnTo>
                    <a:pt x="543" y="6"/>
                  </a:lnTo>
                  <a:lnTo>
                    <a:pt x="543" y="3"/>
                  </a:lnTo>
                  <a:lnTo>
                    <a:pt x="543" y="0"/>
                  </a:lnTo>
                  <a:lnTo>
                    <a:pt x="539" y="0"/>
                  </a:lnTo>
                  <a:lnTo>
                    <a:pt x="539" y="3"/>
                  </a:lnTo>
                  <a:lnTo>
                    <a:pt x="539" y="6"/>
                  </a:lnTo>
                  <a:lnTo>
                    <a:pt x="539" y="9"/>
                  </a:lnTo>
                  <a:lnTo>
                    <a:pt x="539" y="11"/>
                  </a:lnTo>
                  <a:lnTo>
                    <a:pt x="539" y="14"/>
                  </a:lnTo>
                  <a:lnTo>
                    <a:pt x="539" y="18"/>
                  </a:lnTo>
                  <a:lnTo>
                    <a:pt x="539" y="21"/>
                  </a:lnTo>
                  <a:lnTo>
                    <a:pt x="539" y="24"/>
                  </a:lnTo>
                  <a:lnTo>
                    <a:pt x="539" y="28"/>
                  </a:lnTo>
                  <a:lnTo>
                    <a:pt x="539" y="31"/>
                  </a:lnTo>
                  <a:lnTo>
                    <a:pt x="539" y="34"/>
                  </a:lnTo>
                  <a:lnTo>
                    <a:pt x="539" y="38"/>
                  </a:lnTo>
                  <a:lnTo>
                    <a:pt x="539" y="41"/>
                  </a:lnTo>
                  <a:lnTo>
                    <a:pt x="539" y="44"/>
                  </a:lnTo>
                  <a:lnTo>
                    <a:pt x="539" y="48"/>
                  </a:lnTo>
                  <a:lnTo>
                    <a:pt x="539" y="51"/>
                  </a:lnTo>
                  <a:lnTo>
                    <a:pt x="543" y="51"/>
                  </a:lnTo>
                  <a:lnTo>
                    <a:pt x="543" y="48"/>
                  </a:lnTo>
                  <a:lnTo>
                    <a:pt x="543" y="44"/>
                  </a:lnTo>
                  <a:lnTo>
                    <a:pt x="543" y="41"/>
                  </a:lnTo>
                  <a:lnTo>
                    <a:pt x="543" y="38"/>
                  </a:lnTo>
                  <a:lnTo>
                    <a:pt x="543" y="34"/>
                  </a:lnTo>
                  <a:lnTo>
                    <a:pt x="543" y="31"/>
                  </a:lnTo>
                  <a:lnTo>
                    <a:pt x="543" y="28"/>
                  </a:lnTo>
                  <a:lnTo>
                    <a:pt x="54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11" name="Freeform 352">
              <a:extLst>
                <a:ext uri="{FF2B5EF4-FFF2-40B4-BE49-F238E27FC236}">
                  <a16:creationId xmlns:a16="http://schemas.microsoft.com/office/drawing/2014/main" id="{BE8E8783-EB2E-ACDA-B5AD-939F8E9800EB}"/>
                </a:ext>
              </a:extLst>
            </p:cNvPr>
            <p:cNvSpPr>
              <a:spLocks noEditPoints="1"/>
            </p:cNvSpPr>
            <p:nvPr/>
          </p:nvSpPr>
          <p:spPr bwMode="auto">
            <a:xfrm>
              <a:off x="1341" y="1713"/>
              <a:ext cx="540" cy="51"/>
            </a:xfrm>
            <a:custGeom>
              <a:avLst/>
              <a:gdLst>
                <a:gd name="T0" fmla="*/ 540 w 540"/>
                <a:gd name="T1" fmla="*/ 21 h 51"/>
                <a:gd name="T2" fmla="*/ 540 w 540"/>
                <a:gd name="T3" fmla="*/ 14 h 51"/>
                <a:gd name="T4" fmla="*/ 540 w 540"/>
                <a:gd name="T5" fmla="*/ 9 h 51"/>
                <a:gd name="T6" fmla="*/ 540 w 540"/>
                <a:gd name="T7" fmla="*/ 3 h 51"/>
                <a:gd name="T8" fmla="*/ 537 w 540"/>
                <a:gd name="T9" fmla="*/ 0 h 51"/>
                <a:gd name="T10" fmla="*/ 537 w 540"/>
                <a:gd name="T11" fmla="*/ 6 h 51"/>
                <a:gd name="T12" fmla="*/ 537 w 540"/>
                <a:gd name="T13" fmla="*/ 11 h 51"/>
                <a:gd name="T14" fmla="*/ 537 w 540"/>
                <a:gd name="T15" fmla="*/ 18 h 51"/>
                <a:gd name="T16" fmla="*/ 537 w 540"/>
                <a:gd name="T17" fmla="*/ 24 h 51"/>
                <a:gd name="T18" fmla="*/ 537 w 540"/>
                <a:gd name="T19" fmla="*/ 31 h 51"/>
                <a:gd name="T20" fmla="*/ 537 w 540"/>
                <a:gd name="T21" fmla="*/ 38 h 51"/>
                <a:gd name="T22" fmla="*/ 537 w 540"/>
                <a:gd name="T23" fmla="*/ 44 h 51"/>
                <a:gd name="T24" fmla="*/ 537 w 540"/>
                <a:gd name="T25" fmla="*/ 51 h 51"/>
                <a:gd name="T26" fmla="*/ 540 w 540"/>
                <a:gd name="T27" fmla="*/ 48 h 51"/>
                <a:gd name="T28" fmla="*/ 540 w 540"/>
                <a:gd name="T29" fmla="*/ 41 h 51"/>
                <a:gd name="T30" fmla="*/ 540 w 540"/>
                <a:gd name="T31" fmla="*/ 34 h 51"/>
                <a:gd name="T32" fmla="*/ 540 w 540"/>
                <a:gd name="T33" fmla="*/ 28 h 51"/>
                <a:gd name="T34" fmla="*/ 2 w 540"/>
                <a:gd name="T35" fmla="*/ 0 h 51"/>
                <a:gd name="T36" fmla="*/ 0 w 540"/>
                <a:gd name="T37" fmla="*/ 6 h 51"/>
                <a:gd name="T38" fmla="*/ 0 w 540"/>
                <a:gd name="T39" fmla="*/ 11 h 51"/>
                <a:gd name="T40" fmla="*/ 0 w 540"/>
                <a:gd name="T41" fmla="*/ 18 h 51"/>
                <a:gd name="T42" fmla="*/ 0 w 540"/>
                <a:gd name="T43" fmla="*/ 24 h 51"/>
                <a:gd name="T44" fmla="*/ 0 w 540"/>
                <a:gd name="T45" fmla="*/ 31 h 51"/>
                <a:gd name="T46" fmla="*/ 0 w 540"/>
                <a:gd name="T47" fmla="*/ 38 h 51"/>
                <a:gd name="T48" fmla="*/ 0 w 540"/>
                <a:gd name="T49" fmla="*/ 44 h 51"/>
                <a:gd name="T50" fmla="*/ 0 w 540"/>
                <a:gd name="T51" fmla="*/ 51 h 51"/>
                <a:gd name="T52" fmla="*/ 4 w 540"/>
                <a:gd name="T53" fmla="*/ 48 h 51"/>
                <a:gd name="T54" fmla="*/ 4 w 540"/>
                <a:gd name="T55" fmla="*/ 41 h 51"/>
                <a:gd name="T56" fmla="*/ 4 w 540"/>
                <a:gd name="T57" fmla="*/ 34 h 51"/>
                <a:gd name="T58" fmla="*/ 4 w 540"/>
                <a:gd name="T59" fmla="*/ 28 h 51"/>
                <a:gd name="T60" fmla="*/ 4 w 540"/>
                <a:gd name="T61" fmla="*/ 21 h 51"/>
                <a:gd name="T62" fmla="*/ 4 w 540"/>
                <a:gd name="T63" fmla="*/ 14 h 51"/>
                <a:gd name="T64" fmla="*/ 4 w 540"/>
                <a:gd name="T65" fmla="*/ 9 h 51"/>
                <a:gd name="T66" fmla="*/ 4 w 540"/>
                <a:gd name="T67" fmla="*/ 3 h 51"/>
                <a:gd name="T68" fmla="*/ 2 w 54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0" h="51">
                  <a:moveTo>
                    <a:pt x="540" y="24"/>
                  </a:moveTo>
                  <a:lnTo>
                    <a:pt x="540" y="21"/>
                  </a:lnTo>
                  <a:lnTo>
                    <a:pt x="540" y="18"/>
                  </a:lnTo>
                  <a:lnTo>
                    <a:pt x="540" y="14"/>
                  </a:lnTo>
                  <a:lnTo>
                    <a:pt x="540" y="11"/>
                  </a:lnTo>
                  <a:lnTo>
                    <a:pt x="540" y="9"/>
                  </a:lnTo>
                  <a:lnTo>
                    <a:pt x="540" y="6"/>
                  </a:lnTo>
                  <a:lnTo>
                    <a:pt x="540" y="3"/>
                  </a:lnTo>
                  <a:lnTo>
                    <a:pt x="540" y="0"/>
                  </a:lnTo>
                  <a:lnTo>
                    <a:pt x="537" y="0"/>
                  </a:lnTo>
                  <a:lnTo>
                    <a:pt x="537" y="3"/>
                  </a:lnTo>
                  <a:lnTo>
                    <a:pt x="537" y="6"/>
                  </a:lnTo>
                  <a:lnTo>
                    <a:pt x="537" y="9"/>
                  </a:lnTo>
                  <a:lnTo>
                    <a:pt x="537" y="11"/>
                  </a:lnTo>
                  <a:lnTo>
                    <a:pt x="537" y="14"/>
                  </a:lnTo>
                  <a:lnTo>
                    <a:pt x="537" y="18"/>
                  </a:lnTo>
                  <a:lnTo>
                    <a:pt x="537" y="21"/>
                  </a:lnTo>
                  <a:lnTo>
                    <a:pt x="537" y="24"/>
                  </a:lnTo>
                  <a:lnTo>
                    <a:pt x="537" y="28"/>
                  </a:lnTo>
                  <a:lnTo>
                    <a:pt x="537" y="31"/>
                  </a:lnTo>
                  <a:lnTo>
                    <a:pt x="537" y="34"/>
                  </a:lnTo>
                  <a:lnTo>
                    <a:pt x="537" y="38"/>
                  </a:lnTo>
                  <a:lnTo>
                    <a:pt x="537" y="41"/>
                  </a:lnTo>
                  <a:lnTo>
                    <a:pt x="537" y="44"/>
                  </a:lnTo>
                  <a:lnTo>
                    <a:pt x="537" y="48"/>
                  </a:lnTo>
                  <a:lnTo>
                    <a:pt x="537" y="51"/>
                  </a:lnTo>
                  <a:lnTo>
                    <a:pt x="540" y="51"/>
                  </a:lnTo>
                  <a:lnTo>
                    <a:pt x="540" y="48"/>
                  </a:lnTo>
                  <a:lnTo>
                    <a:pt x="540" y="44"/>
                  </a:lnTo>
                  <a:lnTo>
                    <a:pt x="540" y="41"/>
                  </a:lnTo>
                  <a:lnTo>
                    <a:pt x="540" y="38"/>
                  </a:lnTo>
                  <a:lnTo>
                    <a:pt x="540" y="34"/>
                  </a:lnTo>
                  <a:lnTo>
                    <a:pt x="540" y="31"/>
                  </a:lnTo>
                  <a:lnTo>
                    <a:pt x="540" y="28"/>
                  </a:lnTo>
                  <a:lnTo>
                    <a:pt x="54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12" name="Freeform 353">
              <a:extLst>
                <a:ext uri="{FF2B5EF4-FFF2-40B4-BE49-F238E27FC236}">
                  <a16:creationId xmlns:a16="http://schemas.microsoft.com/office/drawing/2014/main" id="{CE740CA8-D7ED-4BAA-2532-0F69D87F92A0}"/>
                </a:ext>
              </a:extLst>
            </p:cNvPr>
            <p:cNvSpPr>
              <a:spLocks noEditPoints="1"/>
            </p:cNvSpPr>
            <p:nvPr/>
          </p:nvSpPr>
          <p:spPr bwMode="auto">
            <a:xfrm>
              <a:off x="1343" y="1713"/>
              <a:ext cx="536" cy="51"/>
            </a:xfrm>
            <a:custGeom>
              <a:avLst/>
              <a:gdLst>
                <a:gd name="T0" fmla="*/ 536 w 536"/>
                <a:gd name="T1" fmla="*/ 21 h 51"/>
                <a:gd name="T2" fmla="*/ 536 w 536"/>
                <a:gd name="T3" fmla="*/ 14 h 51"/>
                <a:gd name="T4" fmla="*/ 536 w 536"/>
                <a:gd name="T5" fmla="*/ 9 h 51"/>
                <a:gd name="T6" fmla="*/ 536 w 536"/>
                <a:gd name="T7" fmla="*/ 3 h 51"/>
                <a:gd name="T8" fmla="*/ 533 w 536"/>
                <a:gd name="T9" fmla="*/ 0 h 51"/>
                <a:gd name="T10" fmla="*/ 533 w 536"/>
                <a:gd name="T11" fmla="*/ 6 h 51"/>
                <a:gd name="T12" fmla="*/ 533 w 536"/>
                <a:gd name="T13" fmla="*/ 11 h 51"/>
                <a:gd name="T14" fmla="*/ 533 w 536"/>
                <a:gd name="T15" fmla="*/ 18 h 51"/>
                <a:gd name="T16" fmla="*/ 533 w 536"/>
                <a:gd name="T17" fmla="*/ 24 h 51"/>
                <a:gd name="T18" fmla="*/ 533 w 536"/>
                <a:gd name="T19" fmla="*/ 31 h 51"/>
                <a:gd name="T20" fmla="*/ 533 w 536"/>
                <a:gd name="T21" fmla="*/ 38 h 51"/>
                <a:gd name="T22" fmla="*/ 533 w 536"/>
                <a:gd name="T23" fmla="*/ 44 h 51"/>
                <a:gd name="T24" fmla="*/ 533 w 536"/>
                <a:gd name="T25" fmla="*/ 51 h 51"/>
                <a:gd name="T26" fmla="*/ 536 w 536"/>
                <a:gd name="T27" fmla="*/ 48 h 51"/>
                <a:gd name="T28" fmla="*/ 536 w 536"/>
                <a:gd name="T29" fmla="*/ 41 h 51"/>
                <a:gd name="T30" fmla="*/ 536 w 536"/>
                <a:gd name="T31" fmla="*/ 34 h 51"/>
                <a:gd name="T32" fmla="*/ 536 w 536"/>
                <a:gd name="T33" fmla="*/ 28 h 51"/>
                <a:gd name="T34" fmla="*/ 2 w 536"/>
                <a:gd name="T35" fmla="*/ 0 h 51"/>
                <a:gd name="T36" fmla="*/ 0 w 536"/>
                <a:gd name="T37" fmla="*/ 6 h 51"/>
                <a:gd name="T38" fmla="*/ 0 w 536"/>
                <a:gd name="T39" fmla="*/ 11 h 51"/>
                <a:gd name="T40" fmla="*/ 0 w 536"/>
                <a:gd name="T41" fmla="*/ 18 h 51"/>
                <a:gd name="T42" fmla="*/ 0 w 536"/>
                <a:gd name="T43" fmla="*/ 24 h 51"/>
                <a:gd name="T44" fmla="*/ 0 w 536"/>
                <a:gd name="T45" fmla="*/ 31 h 51"/>
                <a:gd name="T46" fmla="*/ 0 w 536"/>
                <a:gd name="T47" fmla="*/ 38 h 51"/>
                <a:gd name="T48" fmla="*/ 0 w 536"/>
                <a:gd name="T49" fmla="*/ 44 h 51"/>
                <a:gd name="T50" fmla="*/ 0 w 536"/>
                <a:gd name="T51" fmla="*/ 51 h 51"/>
                <a:gd name="T52" fmla="*/ 3 w 536"/>
                <a:gd name="T53" fmla="*/ 48 h 51"/>
                <a:gd name="T54" fmla="*/ 3 w 536"/>
                <a:gd name="T55" fmla="*/ 41 h 51"/>
                <a:gd name="T56" fmla="*/ 3 w 536"/>
                <a:gd name="T57" fmla="*/ 34 h 51"/>
                <a:gd name="T58" fmla="*/ 3 w 536"/>
                <a:gd name="T59" fmla="*/ 28 h 51"/>
                <a:gd name="T60" fmla="*/ 3 w 536"/>
                <a:gd name="T61" fmla="*/ 21 h 51"/>
                <a:gd name="T62" fmla="*/ 3 w 536"/>
                <a:gd name="T63" fmla="*/ 14 h 51"/>
                <a:gd name="T64" fmla="*/ 3 w 536"/>
                <a:gd name="T65" fmla="*/ 9 h 51"/>
                <a:gd name="T66" fmla="*/ 3 w 536"/>
                <a:gd name="T67" fmla="*/ 3 h 51"/>
                <a:gd name="T68" fmla="*/ 2 w 5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6" h="51">
                  <a:moveTo>
                    <a:pt x="536" y="24"/>
                  </a:moveTo>
                  <a:lnTo>
                    <a:pt x="536" y="21"/>
                  </a:lnTo>
                  <a:lnTo>
                    <a:pt x="536" y="18"/>
                  </a:lnTo>
                  <a:lnTo>
                    <a:pt x="536" y="14"/>
                  </a:lnTo>
                  <a:lnTo>
                    <a:pt x="536" y="11"/>
                  </a:lnTo>
                  <a:lnTo>
                    <a:pt x="536" y="9"/>
                  </a:lnTo>
                  <a:lnTo>
                    <a:pt x="536" y="6"/>
                  </a:lnTo>
                  <a:lnTo>
                    <a:pt x="536" y="3"/>
                  </a:lnTo>
                  <a:lnTo>
                    <a:pt x="536" y="0"/>
                  </a:lnTo>
                  <a:lnTo>
                    <a:pt x="533" y="0"/>
                  </a:lnTo>
                  <a:lnTo>
                    <a:pt x="533" y="3"/>
                  </a:lnTo>
                  <a:lnTo>
                    <a:pt x="533" y="6"/>
                  </a:lnTo>
                  <a:lnTo>
                    <a:pt x="533" y="9"/>
                  </a:lnTo>
                  <a:lnTo>
                    <a:pt x="533" y="11"/>
                  </a:lnTo>
                  <a:lnTo>
                    <a:pt x="533" y="14"/>
                  </a:lnTo>
                  <a:lnTo>
                    <a:pt x="533" y="18"/>
                  </a:lnTo>
                  <a:lnTo>
                    <a:pt x="533" y="21"/>
                  </a:lnTo>
                  <a:lnTo>
                    <a:pt x="533" y="24"/>
                  </a:lnTo>
                  <a:lnTo>
                    <a:pt x="533" y="28"/>
                  </a:lnTo>
                  <a:lnTo>
                    <a:pt x="533" y="31"/>
                  </a:lnTo>
                  <a:lnTo>
                    <a:pt x="533" y="34"/>
                  </a:lnTo>
                  <a:lnTo>
                    <a:pt x="533" y="38"/>
                  </a:lnTo>
                  <a:lnTo>
                    <a:pt x="533" y="41"/>
                  </a:lnTo>
                  <a:lnTo>
                    <a:pt x="533" y="44"/>
                  </a:lnTo>
                  <a:lnTo>
                    <a:pt x="533" y="48"/>
                  </a:lnTo>
                  <a:lnTo>
                    <a:pt x="533" y="51"/>
                  </a:lnTo>
                  <a:lnTo>
                    <a:pt x="536" y="51"/>
                  </a:lnTo>
                  <a:lnTo>
                    <a:pt x="536" y="48"/>
                  </a:lnTo>
                  <a:lnTo>
                    <a:pt x="536" y="44"/>
                  </a:lnTo>
                  <a:lnTo>
                    <a:pt x="536" y="41"/>
                  </a:lnTo>
                  <a:lnTo>
                    <a:pt x="536" y="38"/>
                  </a:lnTo>
                  <a:lnTo>
                    <a:pt x="536" y="34"/>
                  </a:lnTo>
                  <a:lnTo>
                    <a:pt x="536" y="31"/>
                  </a:lnTo>
                  <a:lnTo>
                    <a:pt x="536" y="28"/>
                  </a:lnTo>
                  <a:lnTo>
                    <a:pt x="53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13" name="Freeform 354">
              <a:extLst>
                <a:ext uri="{FF2B5EF4-FFF2-40B4-BE49-F238E27FC236}">
                  <a16:creationId xmlns:a16="http://schemas.microsoft.com/office/drawing/2014/main" id="{BF6DB193-A806-8271-17B9-DDA038A7BFAE}"/>
                </a:ext>
              </a:extLst>
            </p:cNvPr>
            <p:cNvSpPr>
              <a:spLocks noEditPoints="1"/>
            </p:cNvSpPr>
            <p:nvPr/>
          </p:nvSpPr>
          <p:spPr bwMode="auto">
            <a:xfrm>
              <a:off x="1345" y="1713"/>
              <a:ext cx="533" cy="51"/>
            </a:xfrm>
            <a:custGeom>
              <a:avLst/>
              <a:gdLst>
                <a:gd name="T0" fmla="*/ 533 w 533"/>
                <a:gd name="T1" fmla="*/ 21 h 51"/>
                <a:gd name="T2" fmla="*/ 533 w 533"/>
                <a:gd name="T3" fmla="*/ 14 h 51"/>
                <a:gd name="T4" fmla="*/ 533 w 533"/>
                <a:gd name="T5" fmla="*/ 9 h 51"/>
                <a:gd name="T6" fmla="*/ 533 w 533"/>
                <a:gd name="T7" fmla="*/ 3 h 51"/>
                <a:gd name="T8" fmla="*/ 529 w 533"/>
                <a:gd name="T9" fmla="*/ 0 h 51"/>
                <a:gd name="T10" fmla="*/ 529 w 533"/>
                <a:gd name="T11" fmla="*/ 6 h 51"/>
                <a:gd name="T12" fmla="*/ 529 w 533"/>
                <a:gd name="T13" fmla="*/ 11 h 51"/>
                <a:gd name="T14" fmla="*/ 529 w 533"/>
                <a:gd name="T15" fmla="*/ 18 h 51"/>
                <a:gd name="T16" fmla="*/ 529 w 533"/>
                <a:gd name="T17" fmla="*/ 24 h 51"/>
                <a:gd name="T18" fmla="*/ 529 w 533"/>
                <a:gd name="T19" fmla="*/ 31 h 51"/>
                <a:gd name="T20" fmla="*/ 529 w 533"/>
                <a:gd name="T21" fmla="*/ 38 h 51"/>
                <a:gd name="T22" fmla="*/ 529 w 533"/>
                <a:gd name="T23" fmla="*/ 44 h 51"/>
                <a:gd name="T24" fmla="*/ 529 w 533"/>
                <a:gd name="T25" fmla="*/ 51 h 51"/>
                <a:gd name="T26" fmla="*/ 533 w 533"/>
                <a:gd name="T27" fmla="*/ 48 h 51"/>
                <a:gd name="T28" fmla="*/ 533 w 533"/>
                <a:gd name="T29" fmla="*/ 41 h 51"/>
                <a:gd name="T30" fmla="*/ 533 w 533"/>
                <a:gd name="T31" fmla="*/ 34 h 51"/>
                <a:gd name="T32" fmla="*/ 533 w 533"/>
                <a:gd name="T33" fmla="*/ 28 h 51"/>
                <a:gd name="T34" fmla="*/ 1 w 533"/>
                <a:gd name="T35" fmla="*/ 0 h 51"/>
                <a:gd name="T36" fmla="*/ 0 w 533"/>
                <a:gd name="T37" fmla="*/ 6 h 51"/>
                <a:gd name="T38" fmla="*/ 0 w 533"/>
                <a:gd name="T39" fmla="*/ 11 h 51"/>
                <a:gd name="T40" fmla="*/ 0 w 533"/>
                <a:gd name="T41" fmla="*/ 18 h 51"/>
                <a:gd name="T42" fmla="*/ 0 w 533"/>
                <a:gd name="T43" fmla="*/ 24 h 51"/>
                <a:gd name="T44" fmla="*/ 0 w 533"/>
                <a:gd name="T45" fmla="*/ 31 h 51"/>
                <a:gd name="T46" fmla="*/ 0 w 533"/>
                <a:gd name="T47" fmla="*/ 38 h 51"/>
                <a:gd name="T48" fmla="*/ 0 w 533"/>
                <a:gd name="T49" fmla="*/ 44 h 51"/>
                <a:gd name="T50" fmla="*/ 0 w 533"/>
                <a:gd name="T51" fmla="*/ 51 h 51"/>
                <a:gd name="T52" fmla="*/ 3 w 533"/>
                <a:gd name="T53" fmla="*/ 48 h 51"/>
                <a:gd name="T54" fmla="*/ 3 w 533"/>
                <a:gd name="T55" fmla="*/ 41 h 51"/>
                <a:gd name="T56" fmla="*/ 3 w 533"/>
                <a:gd name="T57" fmla="*/ 34 h 51"/>
                <a:gd name="T58" fmla="*/ 3 w 533"/>
                <a:gd name="T59" fmla="*/ 28 h 51"/>
                <a:gd name="T60" fmla="*/ 3 w 533"/>
                <a:gd name="T61" fmla="*/ 21 h 51"/>
                <a:gd name="T62" fmla="*/ 3 w 533"/>
                <a:gd name="T63" fmla="*/ 14 h 51"/>
                <a:gd name="T64" fmla="*/ 3 w 533"/>
                <a:gd name="T65" fmla="*/ 9 h 51"/>
                <a:gd name="T66" fmla="*/ 3 w 533"/>
                <a:gd name="T67" fmla="*/ 3 h 51"/>
                <a:gd name="T68" fmla="*/ 1 w 53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3" h="51">
                  <a:moveTo>
                    <a:pt x="533" y="24"/>
                  </a:moveTo>
                  <a:lnTo>
                    <a:pt x="533" y="21"/>
                  </a:lnTo>
                  <a:lnTo>
                    <a:pt x="533" y="18"/>
                  </a:lnTo>
                  <a:lnTo>
                    <a:pt x="533" y="14"/>
                  </a:lnTo>
                  <a:lnTo>
                    <a:pt x="533" y="11"/>
                  </a:lnTo>
                  <a:lnTo>
                    <a:pt x="533" y="9"/>
                  </a:lnTo>
                  <a:lnTo>
                    <a:pt x="533" y="6"/>
                  </a:lnTo>
                  <a:lnTo>
                    <a:pt x="533" y="3"/>
                  </a:lnTo>
                  <a:lnTo>
                    <a:pt x="533" y="0"/>
                  </a:lnTo>
                  <a:lnTo>
                    <a:pt x="529" y="0"/>
                  </a:lnTo>
                  <a:lnTo>
                    <a:pt x="529" y="3"/>
                  </a:lnTo>
                  <a:lnTo>
                    <a:pt x="529" y="6"/>
                  </a:lnTo>
                  <a:lnTo>
                    <a:pt x="529" y="9"/>
                  </a:lnTo>
                  <a:lnTo>
                    <a:pt x="529" y="11"/>
                  </a:lnTo>
                  <a:lnTo>
                    <a:pt x="529" y="14"/>
                  </a:lnTo>
                  <a:lnTo>
                    <a:pt x="529" y="18"/>
                  </a:lnTo>
                  <a:lnTo>
                    <a:pt x="529" y="21"/>
                  </a:lnTo>
                  <a:lnTo>
                    <a:pt x="529" y="24"/>
                  </a:lnTo>
                  <a:lnTo>
                    <a:pt x="529" y="28"/>
                  </a:lnTo>
                  <a:lnTo>
                    <a:pt x="529" y="31"/>
                  </a:lnTo>
                  <a:lnTo>
                    <a:pt x="529" y="34"/>
                  </a:lnTo>
                  <a:lnTo>
                    <a:pt x="529" y="38"/>
                  </a:lnTo>
                  <a:lnTo>
                    <a:pt x="529" y="41"/>
                  </a:lnTo>
                  <a:lnTo>
                    <a:pt x="529" y="44"/>
                  </a:lnTo>
                  <a:lnTo>
                    <a:pt x="529" y="48"/>
                  </a:lnTo>
                  <a:lnTo>
                    <a:pt x="529" y="51"/>
                  </a:lnTo>
                  <a:lnTo>
                    <a:pt x="533" y="51"/>
                  </a:lnTo>
                  <a:lnTo>
                    <a:pt x="533" y="48"/>
                  </a:lnTo>
                  <a:lnTo>
                    <a:pt x="533" y="44"/>
                  </a:lnTo>
                  <a:lnTo>
                    <a:pt x="533" y="41"/>
                  </a:lnTo>
                  <a:lnTo>
                    <a:pt x="533" y="38"/>
                  </a:lnTo>
                  <a:lnTo>
                    <a:pt x="533" y="34"/>
                  </a:lnTo>
                  <a:lnTo>
                    <a:pt x="533" y="31"/>
                  </a:lnTo>
                  <a:lnTo>
                    <a:pt x="533" y="28"/>
                  </a:lnTo>
                  <a:lnTo>
                    <a:pt x="53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14" name="Freeform 355">
              <a:extLst>
                <a:ext uri="{FF2B5EF4-FFF2-40B4-BE49-F238E27FC236}">
                  <a16:creationId xmlns:a16="http://schemas.microsoft.com/office/drawing/2014/main" id="{C031BF35-1047-1CB8-3089-E45E9617CBD8}"/>
                </a:ext>
              </a:extLst>
            </p:cNvPr>
            <p:cNvSpPr>
              <a:spLocks noEditPoints="1"/>
            </p:cNvSpPr>
            <p:nvPr/>
          </p:nvSpPr>
          <p:spPr bwMode="auto">
            <a:xfrm>
              <a:off x="1346" y="1713"/>
              <a:ext cx="530" cy="51"/>
            </a:xfrm>
            <a:custGeom>
              <a:avLst/>
              <a:gdLst>
                <a:gd name="T0" fmla="*/ 530 w 530"/>
                <a:gd name="T1" fmla="*/ 21 h 51"/>
                <a:gd name="T2" fmla="*/ 530 w 530"/>
                <a:gd name="T3" fmla="*/ 14 h 51"/>
                <a:gd name="T4" fmla="*/ 530 w 530"/>
                <a:gd name="T5" fmla="*/ 9 h 51"/>
                <a:gd name="T6" fmla="*/ 530 w 530"/>
                <a:gd name="T7" fmla="*/ 3 h 51"/>
                <a:gd name="T8" fmla="*/ 527 w 530"/>
                <a:gd name="T9" fmla="*/ 0 h 51"/>
                <a:gd name="T10" fmla="*/ 527 w 530"/>
                <a:gd name="T11" fmla="*/ 6 h 51"/>
                <a:gd name="T12" fmla="*/ 527 w 530"/>
                <a:gd name="T13" fmla="*/ 11 h 51"/>
                <a:gd name="T14" fmla="*/ 527 w 530"/>
                <a:gd name="T15" fmla="*/ 18 h 51"/>
                <a:gd name="T16" fmla="*/ 527 w 530"/>
                <a:gd name="T17" fmla="*/ 24 h 51"/>
                <a:gd name="T18" fmla="*/ 527 w 530"/>
                <a:gd name="T19" fmla="*/ 31 h 51"/>
                <a:gd name="T20" fmla="*/ 527 w 530"/>
                <a:gd name="T21" fmla="*/ 38 h 51"/>
                <a:gd name="T22" fmla="*/ 527 w 530"/>
                <a:gd name="T23" fmla="*/ 44 h 51"/>
                <a:gd name="T24" fmla="*/ 527 w 530"/>
                <a:gd name="T25" fmla="*/ 51 h 51"/>
                <a:gd name="T26" fmla="*/ 530 w 530"/>
                <a:gd name="T27" fmla="*/ 48 h 51"/>
                <a:gd name="T28" fmla="*/ 530 w 530"/>
                <a:gd name="T29" fmla="*/ 41 h 51"/>
                <a:gd name="T30" fmla="*/ 530 w 530"/>
                <a:gd name="T31" fmla="*/ 34 h 51"/>
                <a:gd name="T32" fmla="*/ 530 w 530"/>
                <a:gd name="T33" fmla="*/ 28 h 51"/>
                <a:gd name="T34" fmla="*/ 2 w 530"/>
                <a:gd name="T35" fmla="*/ 0 h 51"/>
                <a:gd name="T36" fmla="*/ 0 w 530"/>
                <a:gd name="T37" fmla="*/ 6 h 51"/>
                <a:gd name="T38" fmla="*/ 0 w 530"/>
                <a:gd name="T39" fmla="*/ 11 h 51"/>
                <a:gd name="T40" fmla="*/ 0 w 530"/>
                <a:gd name="T41" fmla="*/ 18 h 51"/>
                <a:gd name="T42" fmla="*/ 0 w 530"/>
                <a:gd name="T43" fmla="*/ 24 h 51"/>
                <a:gd name="T44" fmla="*/ 0 w 530"/>
                <a:gd name="T45" fmla="*/ 31 h 51"/>
                <a:gd name="T46" fmla="*/ 0 w 530"/>
                <a:gd name="T47" fmla="*/ 38 h 51"/>
                <a:gd name="T48" fmla="*/ 0 w 530"/>
                <a:gd name="T49" fmla="*/ 44 h 51"/>
                <a:gd name="T50" fmla="*/ 0 w 530"/>
                <a:gd name="T51" fmla="*/ 51 h 51"/>
                <a:gd name="T52" fmla="*/ 4 w 530"/>
                <a:gd name="T53" fmla="*/ 48 h 51"/>
                <a:gd name="T54" fmla="*/ 4 w 530"/>
                <a:gd name="T55" fmla="*/ 41 h 51"/>
                <a:gd name="T56" fmla="*/ 4 w 530"/>
                <a:gd name="T57" fmla="*/ 34 h 51"/>
                <a:gd name="T58" fmla="*/ 4 w 530"/>
                <a:gd name="T59" fmla="*/ 28 h 51"/>
                <a:gd name="T60" fmla="*/ 4 w 530"/>
                <a:gd name="T61" fmla="*/ 21 h 51"/>
                <a:gd name="T62" fmla="*/ 4 w 530"/>
                <a:gd name="T63" fmla="*/ 14 h 51"/>
                <a:gd name="T64" fmla="*/ 4 w 530"/>
                <a:gd name="T65" fmla="*/ 9 h 51"/>
                <a:gd name="T66" fmla="*/ 4 w 530"/>
                <a:gd name="T67" fmla="*/ 3 h 51"/>
                <a:gd name="T68" fmla="*/ 2 w 53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0" h="51">
                  <a:moveTo>
                    <a:pt x="530" y="24"/>
                  </a:moveTo>
                  <a:lnTo>
                    <a:pt x="530" y="21"/>
                  </a:lnTo>
                  <a:lnTo>
                    <a:pt x="530" y="18"/>
                  </a:lnTo>
                  <a:lnTo>
                    <a:pt x="530" y="14"/>
                  </a:lnTo>
                  <a:lnTo>
                    <a:pt x="530" y="11"/>
                  </a:lnTo>
                  <a:lnTo>
                    <a:pt x="530" y="9"/>
                  </a:lnTo>
                  <a:lnTo>
                    <a:pt x="530" y="6"/>
                  </a:lnTo>
                  <a:lnTo>
                    <a:pt x="530" y="3"/>
                  </a:lnTo>
                  <a:lnTo>
                    <a:pt x="530" y="0"/>
                  </a:lnTo>
                  <a:lnTo>
                    <a:pt x="527" y="0"/>
                  </a:lnTo>
                  <a:lnTo>
                    <a:pt x="527" y="3"/>
                  </a:lnTo>
                  <a:lnTo>
                    <a:pt x="527" y="6"/>
                  </a:lnTo>
                  <a:lnTo>
                    <a:pt x="527" y="9"/>
                  </a:lnTo>
                  <a:lnTo>
                    <a:pt x="527" y="11"/>
                  </a:lnTo>
                  <a:lnTo>
                    <a:pt x="527" y="14"/>
                  </a:lnTo>
                  <a:lnTo>
                    <a:pt x="527" y="18"/>
                  </a:lnTo>
                  <a:lnTo>
                    <a:pt x="527" y="21"/>
                  </a:lnTo>
                  <a:lnTo>
                    <a:pt x="527" y="24"/>
                  </a:lnTo>
                  <a:lnTo>
                    <a:pt x="527" y="28"/>
                  </a:lnTo>
                  <a:lnTo>
                    <a:pt x="527" y="31"/>
                  </a:lnTo>
                  <a:lnTo>
                    <a:pt x="527" y="34"/>
                  </a:lnTo>
                  <a:lnTo>
                    <a:pt x="527" y="38"/>
                  </a:lnTo>
                  <a:lnTo>
                    <a:pt x="527" y="41"/>
                  </a:lnTo>
                  <a:lnTo>
                    <a:pt x="527" y="44"/>
                  </a:lnTo>
                  <a:lnTo>
                    <a:pt x="527" y="48"/>
                  </a:lnTo>
                  <a:lnTo>
                    <a:pt x="527" y="51"/>
                  </a:lnTo>
                  <a:lnTo>
                    <a:pt x="530" y="51"/>
                  </a:lnTo>
                  <a:lnTo>
                    <a:pt x="530" y="48"/>
                  </a:lnTo>
                  <a:lnTo>
                    <a:pt x="530" y="44"/>
                  </a:lnTo>
                  <a:lnTo>
                    <a:pt x="530" y="41"/>
                  </a:lnTo>
                  <a:lnTo>
                    <a:pt x="530" y="38"/>
                  </a:lnTo>
                  <a:lnTo>
                    <a:pt x="530" y="34"/>
                  </a:lnTo>
                  <a:lnTo>
                    <a:pt x="530" y="31"/>
                  </a:lnTo>
                  <a:lnTo>
                    <a:pt x="530" y="28"/>
                  </a:lnTo>
                  <a:lnTo>
                    <a:pt x="53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15" name="Freeform 356">
              <a:extLst>
                <a:ext uri="{FF2B5EF4-FFF2-40B4-BE49-F238E27FC236}">
                  <a16:creationId xmlns:a16="http://schemas.microsoft.com/office/drawing/2014/main" id="{3DD3CFA0-8B5E-DB6D-E178-D6BD87E7182C}"/>
                </a:ext>
              </a:extLst>
            </p:cNvPr>
            <p:cNvSpPr>
              <a:spLocks noEditPoints="1"/>
            </p:cNvSpPr>
            <p:nvPr/>
          </p:nvSpPr>
          <p:spPr bwMode="auto">
            <a:xfrm>
              <a:off x="1348" y="1713"/>
              <a:ext cx="526" cy="51"/>
            </a:xfrm>
            <a:custGeom>
              <a:avLst/>
              <a:gdLst>
                <a:gd name="T0" fmla="*/ 526 w 526"/>
                <a:gd name="T1" fmla="*/ 21 h 51"/>
                <a:gd name="T2" fmla="*/ 526 w 526"/>
                <a:gd name="T3" fmla="*/ 14 h 51"/>
                <a:gd name="T4" fmla="*/ 526 w 526"/>
                <a:gd name="T5" fmla="*/ 9 h 51"/>
                <a:gd name="T6" fmla="*/ 526 w 526"/>
                <a:gd name="T7" fmla="*/ 3 h 51"/>
                <a:gd name="T8" fmla="*/ 523 w 526"/>
                <a:gd name="T9" fmla="*/ 0 h 51"/>
                <a:gd name="T10" fmla="*/ 523 w 526"/>
                <a:gd name="T11" fmla="*/ 6 h 51"/>
                <a:gd name="T12" fmla="*/ 523 w 526"/>
                <a:gd name="T13" fmla="*/ 11 h 51"/>
                <a:gd name="T14" fmla="*/ 523 w 526"/>
                <a:gd name="T15" fmla="*/ 18 h 51"/>
                <a:gd name="T16" fmla="*/ 523 w 526"/>
                <a:gd name="T17" fmla="*/ 24 h 51"/>
                <a:gd name="T18" fmla="*/ 523 w 526"/>
                <a:gd name="T19" fmla="*/ 31 h 51"/>
                <a:gd name="T20" fmla="*/ 523 w 526"/>
                <a:gd name="T21" fmla="*/ 38 h 51"/>
                <a:gd name="T22" fmla="*/ 523 w 526"/>
                <a:gd name="T23" fmla="*/ 44 h 51"/>
                <a:gd name="T24" fmla="*/ 523 w 526"/>
                <a:gd name="T25" fmla="*/ 51 h 51"/>
                <a:gd name="T26" fmla="*/ 526 w 526"/>
                <a:gd name="T27" fmla="*/ 48 h 51"/>
                <a:gd name="T28" fmla="*/ 526 w 526"/>
                <a:gd name="T29" fmla="*/ 41 h 51"/>
                <a:gd name="T30" fmla="*/ 526 w 526"/>
                <a:gd name="T31" fmla="*/ 34 h 51"/>
                <a:gd name="T32" fmla="*/ 526 w 526"/>
                <a:gd name="T33" fmla="*/ 28 h 51"/>
                <a:gd name="T34" fmla="*/ 2 w 526"/>
                <a:gd name="T35" fmla="*/ 0 h 51"/>
                <a:gd name="T36" fmla="*/ 0 w 526"/>
                <a:gd name="T37" fmla="*/ 6 h 51"/>
                <a:gd name="T38" fmla="*/ 0 w 526"/>
                <a:gd name="T39" fmla="*/ 11 h 51"/>
                <a:gd name="T40" fmla="*/ 0 w 526"/>
                <a:gd name="T41" fmla="*/ 18 h 51"/>
                <a:gd name="T42" fmla="*/ 0 w 526"/>
                <a:gd name="T43" fmla="*/ 24 h 51"/>
                <a:gd name="T44" fmla="*/ 0 w 526"/>
                <a:gd name="T45" fmla="*/ 31 h 51"/>
                <a:gd name="T46" fmla="*/ 0 w 526"/>
                <a:gd name="T47" fmla="*/ 38 h 51"/>
                <a:gd name="T48" fmla="*/ 0 w 526"/>
                <a:gd name="T49" fmla="*/ 44 h 51"/>
                <a:gd name="T50" fmla="*/ 0 w 526"/>
                <a:gd name="T51" fmla="*/ 51 h 51"/>
                <a:gd name="T52" fmla="*/ 3 w 526"/>
                <a:gd name="T53" fmla="*/ 48 h 51"/>
                <a:gd name="T54" fmla="*/ 3 w 526"/>
                <a:gd name="T55" fmla="*/ 41 h 51"/>
                <a:gd name="T56" fmla="*/ 3 w 526"/>
                <a:gd name="T57" fmla="*/ 34 h 51"/>
                <a:gd name="T58" fmla="*/ 3 w 526"/>
                <a:gd name="T59" fmla="*/ 28 h 51"/>
                <a:gd name="T60" fmla="*/ 3 w 526"/>
                <a:gd name="T61" fmla="*/ 21 h 51"/>
                <a:gd name="T62" fmla="*/ 3 w 526"/>
                <a:gd name="T63" fmla="*/ 14 h 51"/>
                <a:gd name="T64" fmla="*/ 3 w 526"/>
                <a:gd name="T65" fmla="*/ 9 h 51"/>
                <a:gd name="T66" fmla="*/ 3 w 526"/>
                <a:gd name="T67" fmla="*/ 3 h 51"/>
                <a:gd name="T68" fmla="*/ 2 w 52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6" h="51">
                  <a:moveTo>
                    <a:pt x="526" y="24"/>
                  </a:moveTo>
                  <a:lnTo>
                    <a:pt x="526" y="21"/>
                  </a:lnTo>
                  <a:lnTo>
                    <a:pt x="526" y="18"/>
                  </a:lnTo>
                  <a:lnTo>
                    <a:pt x="526" y="14"/>
                  </a:lnTo>
                  <a:lnTo>
                    <a:pt x="526" y="11"/>
                  </a:lnTo>
                  <a:lnTo>
                    <a:pt x="526" y="9"/>
                  </a:lnTo>
                  <a:lnTo>
                    <a:pt x="526" y="6"/>
                  </a:lnTo>
                  <a:lnTo>
                    <a:pt x="526" y="3"/>
                  </a:lnTo>
                  <a:lnTo>
                    <a:pt x="526" y="0"/>
                  </a:lnTo>
                  <a:lnTo>
                    <a:pt x="523" y="0"/>
                  </a:lnTo>
                  <a:lnTo>
                    <a:pt x="523" y="3"/>
                  </a:lnTo>
                  <a:lnTo>
                    <a:pt x="523" y="6"/>
                  </a:lnTo>
                  <a:lnTo>
                    <a:pt x="523" y="9"/>
                  </a:lnTo>
                  <a:lnTo>
                    <a:pt x="523" y="11"/>
                  </a:lnTo>
                  <a:lnTo>
                    <a:pt x="523" y="14"/>
                  </a:lnTo>
                  <a:lnTo>
                    <a:pt x="523" y="18"/>
                  </a:lnTo>
                  <a:lnTo>
                    <a:pt x="523" y="21"/>
                  </a:lnTo>
                  <a:lnTo>
                    <a:pt x="523" y="24"/>
                  </a:lnTo>
                  <a:lnTo>
                    <a:pt x="523" y="28"/>
                  </a:lnTo>
                  <a:lnTo>
                    <a:pt x="523" y="31"/>
                  </a:lnTo>
                  <a:lnTo>
                    <a:pt x="523" y="34"/>
                  </a:lnTo>
                  <a:lnTo>
                    <a:pt x="523" y="38"/>
                  </a:lnTo>
                  <a:lnTo>
                    <a:pt x="523" y="41"/>
                  </a:lnTo>
                  <a:lnTo>
                    <a:pt x="523" y="44"/>
                  </a:lnTo>
                  <a:lnTo>
                    <a:pt x="523" y="48"/>
                  </a:lnTo>
                  <a:lnTo>
                    <a:pt x="523" y="51"/>
                  </a:lnTo>
                  <a:lnTo>
                    <a:pt x="526" y="51"/>
                  </a:lnTo>
                  <a:lnTo>
                    <a:pt x="526" y="48"/>
                  </a:lnTo>
                  <a:lnTo>
                    <a:pt x="526" y="44"/>
                  </a:lnTo>
                  <a:lnTo>
                    <a:pt x="526" y="41"/>
                  </a:lnTo>
                  <a:lnTo>
                    <a:pt x="526" y="38"/>
                  </a:lnTo>
                  <a:lnTo>
                    <a:pt x="526" y="34"/>
                  </a:lnTo>
                  <a:lnTo>
                    <a:pt x="526" y="31"/>
                  </a:lnTo>
                  <a:lnTo>
                    <a:pt x="526" y="28"/>
                  </a:lnTo>
                  <a:lnTo>
                    <a:pt x="52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16" name="Freeform 357">
              <a:extLst>
                <a:ext uri="{FF2B5EF4-FFF2-40B4-BE49-F238E27FC236}">
                  <a16:creationId xmlns:a16="http://schemas.microsoft.com/office/drawing/2014/main" id="{3AF46D72-03E4-BC7B-2B6B-57DAA7A2C77D}"/>
                </a:ext>
              </a:extLst>
            </p:cNvPr>
            <p:cNvSpPr>
              <a:spLocks noEditPoints="1"/>
            </p:cNvSpPr>
            <p:nvPr/>
          </p:nvSpPr>
          <p:spPr bwMode="auto">
            <a:xfrm>
              <a:off x="1350" y="1713"/>
              <a:ext cx="523" cy="51"/>
            </a:xfrm>
            <a:custGeom>
              <a:avLst/>
              <a:gdLst>
                <a:gd name="T0" fmla="*/ 523 w 523"/>
                <a:gd name="T1" fmla="*/ 21 h 51"/>
                <a:gd name="T2" fmla="*/ 523 w 523"/>
                <a:gd name="T3" fmla="*/ 14 h 51"/>
                <a:gd name="T4" fmla="*/ 523 w 523"/>
                <a:gd name="T5" fmla="*/ 9 h 51"/>
                <a:gd name="T6" fmla="*/ 523 w 523"/>
                <a:gd name="T7" fmla="*/ 3 h 51"/>
                <a:gd name="T8" fmla="*/ 520 w 523"/>
                <a:gd name="T9" fmla="*/ 0 h 51"/>
                <a:gd name="T10" fmla="*/ 520 w 523"/>
                <a:gd name="T11" fmla="*/ 6 h 51"/>
                <a:gd name="T12" fmla="*/ 520 w 523"/>
                <a:gd name="T13" fmla="*/ 11 h 51"/>
                <a:gd name="T14" fmla="*/ 520 w 523"/>
                <a:gd name="T15" fmla="*/ 18 h 51"/>
                <a:gd name="T16" fmla="*/ 520 w 523"/>
                <a:gd name="T17" fmla="*/ 24 h 51"/>
                <a:gd name="T18" fmla="*/ 520 w 523"/>
                <a:gd name="T19" fmla="*/ 31 h 51"/>
                <a:gd name="T20" fmla="*/ 520 w 523"/>
                <a:gd name="T21" fmla="*/ 38 h 51"/>
                <a:gd name="T22" fmla="*/ 520 w 523"/>
                <a:gd name="T23" fmla="*/ 44 h 51"/>
                <a:gd name="T24" fmla="*/ 520 w 523"/>
                <a:gd name="T25" fmla="*/ 51 h 51"/>
                <a:gd name="T26" fmla="*/ 523 w 523"/>
                <a:gd name="T27" fmla="*/ 48 h 51"/>
                <a:gd name="T28" fmla="*/ 523 w 523"/>
                <a:gd name="T29" fmla="*/ 41 h 51"/>
                <a:gd name="T30" fmla="*/ 523 w 523"/>
                <a:gd name="T31" fmla="*/ 34 h 51"/>
                <a:gd name="T32" fmla="*/ 523 w 523"/>
                <a:gd name="T33" fmla="*/ 28 h 51"/>
                <a:gd name="T34" fmla="*/ 1 w 523"/>
                <a:gd name="T35" fmla="*/ 0 h 51"/>
                <a:gd name="T36" fmla="*/ 0 w 523"/>
                <a:gd name="T37" fmla="*/ 6 h 51"/>
                <a:gd name="T38" fmla="*/ 0 w 523"/>
                <a:gd name="T39" fmla="*/ 11 h 51"/>
                <a:gd name="T40" fmla="*/ 0 w 523"/>
                <a:gd name="T41" fmla="*/ 18 h 51"/>
                <a:gd name="T42" fmla="*/ 0 w 523"/>
                <a:gd name="T43" fmla="*/ 24 h 51"/>
                <a:gd name="T44" fmla="*/ 0 w 523"/>
                <a:gd name="T45" fmla="*/ 31 h 51"/>
                <a:gd name="T46" fmla="*/ 0 w 523"/>
                <a:gd name="T47" fmla="*/ 38 h 51"/>
                <a:gd name="T48" fmla="*/ 0 w 523"/>
                <a:gd name="T49" fmla="*/ 44 h 51"/>
                <a:gd name="T50" fmla="*/ 0 w 523"/>
                <a:gd name="T51" fmla="*/ 51 h 51"/>
                <a:gd name="T52" fmla="*/ 3 w 523"/>
                <a:gd name="T53" fmla="*/ 48 h 51"/>
                <a:gd name="T54" fmla="*/ 3 w 523"/>
                <a:gd name="T55" fmla="*/ 41 h 51"/>
                <a:gd name="T56" fmla="*/ 3 w 523"/>
                <a:gd name="T57" fmla="*/ 34 h 51"/>
                <a:gd name="T58" fmla="*/ 3 w 523"/>
                <a:gd name="T59" fmla="*/ 28 h 51"/>
                <a:gd name="T60" fmla="*/ 3 w 523"/>
                <a:gd name="T61" fmla="*/ 21 h 51"/>
                <a:gd name="T62" fmla="*/ 3 w 523"/>
                <a:gd name="T63" fmla="*/ 14 h 51"/>
                <a:gd name="T64" fmla="*/ 3 w 523"/>
                <a:gd name="T65" fmla="*/ 9 h 51"/>
                <a:gd name="T66" fmla="*/ 3 w 523"/>
                <a:gd name="T67" fmla="*/ 3 h 51"/>
                <a:gd name="T68" fmla="*/ 1 w 52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3" h="51">
                  <a:moveTo>
                    <a:pt x="523" y="24"/>
                  </a:moveTo>
                  <a:lnTo>
                    <a:pt x="523" y="21"/>
                  </a:lnTo>
                  <a:lnTo>
                    <a:pt x="523" y="18"/>
                  </a:lnTo>
                  <a:lnTo>
                    <a:pt x="523" y="14"/>
                  </a:lnTo>
                  <a:lnTo>
                    <a:pt x="523" y="11"/>
                  </a:lnTo>
                  <a:lnTo>
                    <a:pt x="523" y="9"/>
                  </a:lnTo>
                  <a:lnTo>
                    <a:pt x="523" y="6"/>
                  </a:lnTo>
                  <a:lnTo>
                    <a:pt x="523" y="3"/>
                  </a:lnTo>
                  <a:lnTo>
                    <a:pt x="523" y="0"/>
                  </a:lnTo>
                  <a:lnTo>
                    <a:pt x="520" y="0"/>
                  </a:lnTo>
                  <a:lnTo>
                    <a:pt x="520" y="3"/>
                  </a:lnTo>
                  <a:lnTo>
                    <a:pt x="520" y="6"/>
                  </a:lnTo>
                  <a:lnTo>
                    <a:pt x="520" y="9"/>
                  </a:lnTo>
                  <a:lnTo>
                    <a:pt x="520" y="11"/>
                  </a:lnTo>
                  <a:lnTo>
                    <a:pt x="520" y="14"/>
                  </a:lnTo>
                  <a:lnTo>
                    <a:pt x="520" y="18"/>
                  </a:lnTo>
                  <a:lnTo>
                    <a:pt x="520" y="21"/>
                  </a:lnTo>
                  <a:lnTo>
                    <a:pt x="520" y="24"/>
                  </a:lnTo>
                  <a:lnTo>
                    <a:pt x="520" y="28"/>
                  </a:lnTo>
                  <a:lnTo>
                    <a:pt x="520" y="31"/>
                  </a:lnTo>
                  <a:lnTo>
                    <a:pt x="520" y="34"/>
                  </a:lnTo>
                  <a:lnTo>
                    <a:pt x="520" y="38"/>
                  </a:lnTo>
                  <a:lnTo>
                    <a:pt x="520" y="41"/>
                  </a:lnTo>
                  <a:lnTo>
                    <a:pt x="520" y="44"/>
                  </a:lnTo>
                  <a:lnTo>
                    <a:pt x="520" y="48"/>
                  </a:lnTo>
                  <a:lnTo>
                    <a:pt x="520" y="51"/>
                  </a:lnTo>
                  <a:lnTo>
                    <a:pt x="523" y="51"/>
                  </a:lnTo>
                  <a:lnTo>
                    <a:pt x="523" y="48"/>
                  </a:lnTo>
                  <a:lnTo>
                    <a:pt x="523" y="44"/>
                  </a:lnTo>
                  <a:lnTo>
                    <a:pt x="523" y="41"/>
                  </a:lnTo>
                  <a:lnTo>
                    <a:pt x="523" y="38"/>
                  </a:lnTo>
                  <a:lnTo>
                    <a:pt x="523" y="34"/>
                  </a:lnTo>
                  <a:lnTo>
                    <a:pt x="523" y="31"/>
                  </a:lnTo>
                  <a:lnTo>
                    <a:pt x="523" y="28"/>
                  </a:lnTo>
                  <a:lnTo>
                    <a:pt x="52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4" y="0"/>
                  </a:lnTo>
                  <a:lnTo>
                    <a:pt x="1"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17" name="Freeform 358">
              <a:extLst>
                <a:ext uri="{FF2B5EF4-FFF2-40B4-BE49-F238E27FC236}">
                  <a16:creationId xmlns:a16="http://schemas.microsoft.com/office/drawing/2014/main" id="{A6164680-D790-6CC6-65E6-21793FCAB0AC}"/>
                </a:ext>
              </a:extLst>
            </p:cNvPr>
            <p:cNvSpPr>
              <a:spLocks noEditPoints="1"/>
            </p:cNvSpPr>
            <p:nvPr/>
          </p:nvSpPr>
          <p:spPr bwMode="auto">
            <a:xfrm>
              <a:off x="1351" y="1713"/>
              <a:ext cx="520" cy="51"/>
            </a:xfrm>
            <a:custGeom>
              <a:avLst/>
              <a:gdLst>
                <a:gd name="T0" fmla="*/ 520 w 520"/>
                <a:gd name="T1" fmla="*/ 21 h 51"/>
                <a:gd name="T2" fmla="*/ 520 w 520"/>
                <a:gd name="T3" fmla="*/ 14 h 51"/>
                <a:gd name="T4" fmla="*/ 520 w 520"/>
                <a:gd name="T5" fmla="*/ 9 h 51"/>
                <a:gd name="T6" fmla="*/ 520 w 520"/>
                <a:gd name="T7" fmla="*/ 3 h 51"/>
                <a:gd name="T8" fmla="*/ 517 w 520"/>
                <a:gd name="T9" fmla="*/ 0 h 51"/>
                <a:gd name="T10" fmla="*/ 517 w 520"/>
                <a:gd name="T11" fmla="*/ 6 h 51"/>
                <a:gd name="T12" fmla="*/ 517 w 520"/>
                <a:gd name="T13" fmla="*/ 11 h 51"/>
                <a:gd name="T14" fmla="*/ 517 w 520"/>
                <a:gd name="T15" fmla="*/ 18 h 51"/>
                <a:gd name="T16" fmla="*/ 517 w 520"/>
                <a:gd name="T17" fmla="*/ 24 h 51"/>
                <a:gd name="T18" fmla="*/ 517 w 520"/>
                <a:gd name="T19" fmla="*/ 31 h 51"/>
                <a:gd name="T20" fmla="*/ 517 w 520"/>
                <a:gd name="T21" fmla="*/ 38 h 51"/>
                <a:gd name="T22" fmla="*/ 517 w 520"/>
                <a:gd name="T23" fmla="*/ 44 h 51"/>
                <a:gd name="T24" fmla="*/ 517 w 520"/>
                <a:gd name="T25" fmla="*/ 51 h 51"/>
                <a:gd name="T26" fmla="*/ 520 w 520"/>
                <a:gd name="T27" fmla="*/ 48 h 51"/>
                <a:gd name="T28" fmla="*/ 520 w 520"/>
                <a:gd name="T29" fmla="*/ 41 h 51"/>
                <a:gd name="T30" fmla="*/ 520 w 520"/>
                <a:gd name="T31" fmla="*/ 34 h 51"/>
                <a:gd name="T32" fmla="*/ 520 w 520"/>
                <a:gd name="T33" fmla="*/ 28 h 51"/>
                <a:gd name="T34" fmla="*/ 2 w 520"/>
                <a:gd name="T35" fmla="*/ 0 h 51"/>
                <a:gd name="T36" fmla="*/ 0 w 520"/>
                <a:gd name="T37" fmla="*/ 6 h 51"/>
                <a:gd name="T38" fmla="*/ 0 w 520"/>
                <a:gd name="T39" fmla="*/ 11 h 51"/>
                <a:gd name="T40" fmla="*/ 0 w 520"/>
                <a:gd name="T41" fmla="*/ 18 h 51"/>
                <a:gd name="T42" fmla="*/ 0 w 520"/>
                <a:gd name="T43" fmla="*/ 24 h 51"/>
                <a:gd name="T44" fmla="*/ 0 w 520"/>
                <a:gd name="T45" fmla="*/ 31 h 51"/>
                <a:gd name="T46" fmla="*/ 0 w 520"/>
                <a:gd name="T47" fmla="*/ 38 h 51"/>
                <a:gd name="T48" fmla="*/ 0 w 520"/>
                <a:gd name="T49" fmla="*/ 44 h 51"/>
                <a:gd name="T50" fmla="*/ 0 w 520"/>
                <a:gd name="T51" fmla="*/ 51 h 51"/>
                <a:gd name="T52" fmla="*/ 3 w 520"/>
                <a:gd name="T53" fmla="*/ 48 h 51"/>
                <a:gd name="T54" fmla="*/ 3 w 520"/>
                <a:gd name="T55" fmla="*/ 41 h 51"/>
                <a:gd name="T56" fmla="*/ 3 w 520"/>
                <a:gd name="T57" fmla="*/ 34 h 51"/>
                <a:gd name="T58" fmla="*/ 3 w 520"/>
                <a:gd name="T59" fmla="*/ 28 h 51"/>
                <a:gd name="T60" fmla="*/ 3 w 520"/>
                <a:gd name="T61" fmla="*/ 21 h 51"/>
                <a:gd name="T62" fmla="*/ 3 w 520"/>
                <a:gd name="T63" fmla="*/ 14 h 51"/>
                <a:gd name="T64" fmla="*/ 3 w 520"/>
                <a:gd name="T65" fmla="*/ 9 h 51"/>
                <a:gd name="T66" fmla="*/ 3 w 520"/>
                <a:gd name="T67" fmla="*/ 3 h 51"/>
                <a:gd name="T68" fmla="*/ 2 w 52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0" h="51">
                  <a:moveTo>
                    <a:pt x="520" y="24"/>
                  </a:moveTo>
                  <a:lnTo>
                    <a:pt x="520" y="21"/>
                  </a:lnTo>
                  <a:lnTo>
                    <a:pt x="520" y="18"/>
                  </a:lnTo>
                  <a:lnTo>
                    <a:pt x="520" y="14"/>
                  </a:lnTo>
                  <a:lnTo>
                    <a:pt x="520" y="11"/>
                  </a:lnTo>
                  <a:lnTo>
                    <a:pt x="520" y="9"/>
                  </a:lnTo>
                  <a:lnTo>
                    <a:pt x="520" y="6"/>
                  </a:lnTo>
                  <a:lnTo>
                    <a:pt x="520" y="3"/>
                  </a:lnTo>
                  <a:lnTo>
                    <a:pt x="520" y="0"/>
                  </a:lnTo>
                  <a:lnTo>
                    <a:pt x="517" y="0"/>
                  </a:lnTo>
                  <a:lnTo>
                    <a:pt x="517" y="3"/>
                  </a:lnTo>
                  <a:lnTo>
                    <a:pt x="517" y="6"/>
                  </a:lnTo>
                  <a:lnTo>
                    <a:pt x="517" y="9"/>
                  </a:lnTo>
                  <a:lnTo>
                    <a:pt x="517" y="11"/>
                  </a:lnTo>
                  <a:lnTo>
                    <a:pt x="517" y="14"/>
                  </a:lnTo>
                  <a:lnTo>
                    <a:pt x="517" y="18"/>
                  </a:lnTo>
                  <a:lnTo>
                    <a:pt x="517" y="21"/>
                  </a:lnTo>
                  <a:lnTo>
                    <a:pt x="517" y="24"/>
                  </a:lnTo>
                  <a:lnTo>
                    <a:pt x="517" y="28"/>
                  </a:lnTo>
                  <a:lnTo>
                    <a:pt x="517" y="31"/>
                  </a:lnTo>
                  <a:lnTo>
                    <a:pt x="517" y="34"/>
                  </a:lnTo>
                  <a:lnTo>
                    <a:pt x="517" y="38"/>
                  </a:lnTo>
                  <a:lnTo>
                    <a:pt x="517" y="41"/>
                  </a:lnTo>
                  <a:lnTo>
                    <a:pt x="517" y="44"/>
                  </a:lnTo>
                  <a:lnTo>
                    <a:pt x="517" y="48"/>
                  </a:lnTo>
                  <a:lnTo>
                    <a:pt x="517" y="51"/>
                  </a:lnTo>
                  <a:lnTo>
                    <a:pt x="520" y="51"/>
                  </a:lnTo>
                  <a:lnTo>
                    <a:pt x="520" y="48"/>
                  </a:lnTo>
                  <a:lnTo>
                    <a:pt x="520" y="44"/>
                  </a:lnTo>
                  <a:lnTo>
                    <a:pt x="520" y="41"/>
                  </a:lnTo>
                  <a:lnTo>
                    <a:pt x="520" y="38"/>
                  </a:lnTo>
                  <a:lnTo>
                    <a:pt x="520" y="34"/>
                  </a:lnTo>
                  <a:lnTo>
                    <a:pt x="520" y="31"/>
                  </a:lnTo>
                  <a:lnTo>
                    <a:pt x="520" y="28"/>
                  </a:lnTo>
                  <a:lnTo>
                    <a:pt x="52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18" name="Freeform 359">
              <a:extLst>
                <a:ext uri="{FF2B5EF4-FFF2-40B4-BE49-F238E27FC236}">
                  <a16:creationId xmlns:a16="http://schemas.microsoft.com/office/drawing/2014/main" id="{A321ADF9-5B37-2CDE-9297-3BAB1B7CC37A}"/>
                </a:ext>
              </a:extLst>
            </p:cNvPr>
            <p:cNvSpPr>
              <a:spLocks noEditPoints="1"/>
            </p:cNvSpPr>
            <p:nvPr/>
          </p:nvSpPr>
          <p:spPr bwMode="auto">
            <a:xfrm>
              <a:off x="1353" y="1713"/>
              <a:ext cx="517" cy="51"/>
            </a:xfrm>
            <a:custGeom>
              <a:avLst/>
              <a:gdLst>
                <a:gd name="T0" fmla="*/ 517 w 517"/>
                <a:gd name="T1" fmla="*/ 21 h 51"/>
                <a:gd name="T2" fmla="*/ 517 w 517"/>
                <a:gd name="T3" fmla="*/ 14 h 51"/>
                <a:gd name="T4" fmla="*/ 517 w 517"/>
                <a:gd name="T5" fmla="*/ 9 h 51"/>
                <a:gd name="T6" fmla="*/ 517 w 517"/>
                <a:gd name="T7" fmla="*/ 3 h 51"/>
                <a:gd name="T8" fmla="*/ 513 w 517"/>
                <a:gd name="T9" fmla="*/ 0 h 51"/>
                <a:gd name="T10" fmla="*/ 513 w 517"/>
                <a:gd name="T11" fmla="*/ 6 h 51"/>
                <a:gd name="T12" fmla="*/ 513 w 517"/>
                <a:gd name="T13" fmla="*/ 11 h 51"/>
                <a:gd name="T14" fmla="*/ 513 w 517"/>
                <a:gd name="T15" fmla="*/ 18 h 51"/>
                <a:gd name="T16" fmla="*/ 513 w 517"/>
                <a:gd name="T17" fmla="*/ 24 h 51"/>
                <a:gd name="T18" fmla="*/ 513 w 517"/>
                <a:gd name="T19" fmla="*/ 31 h 51"/>
                <a:gd name="T20" fmla="*/ 513 w 517"/>
                <a:gd name="T21" fmla="*/ 38 h 51"/>
                <a:gd name="T22" fmla="*/ 513 w 517"/>
                <a:gd name="T23" fmla="*/ 44 h 51"/>
                <a:gd name="T24" fmla="*/ 513 w 517"/>
                <a:gd name="T25" fmla="*/ 51 h 51"/>
                <a:gd name="T26" fmla="*/ 517 w 517"/>
                <a:gd name="T27" fmla="*/ 48 h 51"/>
                <a:gd name="T28" fmla="*/ 517 w 517"/>
                <a:gd name="T29" fmla="*/ 41 h 51"/>
                <a:gd name="T30" fmla="*/ 517 w 517"/>
                <a:gd name="T31" fmla="*/ 34 h 51"/>
                <a:gd name="T32" fmla="*/ 517 w 517"/>
                <a:gd name="T33" fmla="*/ 28 h 51"/>
                <a:gd name="T34" fmla="*/ 1 w 517"/>
                <a:gd name="T35" fmla="*/ 0 h 51"/>
                <a:gd name="T36" fmla="*/ 0 w 517"/>
                <a:gd name="T37" fmla="*/ 6 h 51"/>
                <a:gd name="T38" fmla="*/ 0 w 517"/>
                <a:gd name="T39" fmla="*/ 11 h 51"/>
                <a:gd name="T40" fmla="*/ 0 w 517"/>
                <a:gd name="T41" fmla="*/ 18 h 51"/>
                <a:gd name="T42" fmla="*/ 0 w 517"/>
                <a:gd name="T43" fmla="*/ 24 h 51"/>
                <a:gd name="T44" fmla="*/ 0 w 517"/>
                <a:gd name="T45" fmla="*/ 31 h 51"/>
                <a:gd name="T46" fmla="*/ 0 w 517"/>
                <a:gd name="T47" fmla="*/ 38 h 51"/>
                <a:gd name="T48" fmla="*/ 0 w 517"/>
                <a:gd name="T49" fmla="*/ 44 h 51"/>
                <a:gd name="T50" fmla="*/ 0 w 517"/>
                <a:gd name="T51" fmla="*/ 51 h 51"/>
                <a:gd name="T52" fmla="*/ 3 w 517"/>
                <a:gd name="T53" fmla="*/ 48 h 51"/>
                <a:gd name="T54" fmla="*/ 3 w 517"/>
                <a:gd name="T55" fmla="*/ 41 h 51"/>
                <a:gd name="T56" fmla="*/ 3 w 517"/>
                <a:gd name="T57" fmla="*/ 34 h 51"/>
                <a:gd name="T58" fmla="*/ 3 w 517"/>
                <a:gd name="T59" fmla="*/ 28 h 51"/>
                <a:gd name="T60" fmla="*/ 3 w 517"/>
                <a:gd name="T61" fmla="*/ 21 h 51"/>
                <a:gd name="T62" fmla="*/ 3 w 517"/>
                <a:gd name="T63" fmla="*/ 14 h 51"/>
                <a:gd name="T64" fmla="*/ 3 w 517"/>
                <a:gd name="T65" fmla="*/ 9 h 51"/>
                <a:gd name="T66" fmla="*/ 3 w 517"/>
                <a:gd name="T67" fmla="*/ 3 h 51"/>
                <a:gd name="T68" fmla="*/ 1 w 51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7" h="51">
                  <a:moveTo>
                    <a:pt x="517" y="24"/>
                  </a:moveTo>
                  <a:lnTo>
                    <a:pt x="517" y="21"/>
                  </a:lnTo>
                  <a:lnTo>
                    <a:pt x="517" y="18"/>
                  </a:lnTo>
                  <a:lnTo>
                    <a:pt x="517" y="14"/>
                  </a:lnTo>
                  <a:lnTo>
                    <a:pt x="517" y="11"/>
                  </a:lnTo>
                  <a:lnTo>
                    <a:pt x="517" y="9"/>
                  </a:lnTo>
                  <a:lnTo>
                    <a:pt x="517" y="6"/>
                  </a:lnTo>
                  <a:lnTo>
                    <a:pt x="517" y="3"/>
                  </a:lnTo>
                  <a:lnTo>
                    <a:pt x="517" y="0"/>
                  </a:lnTo>
                  <a:lnTo>
                    <a:pt x="513" y="0"/>
                  </a:lnTo>
                  <a:lnTo>
                    <a:pt x="513" y="3"/>
                  </a:lnTo>
                  <a:lnTo>
                    <a:pt x="513" y="6"/>
                  </a:lnTo>
                  <a:lnTo>
                    <a:pt x="513" y="9"/>
                  </a:lnTo>
                  <a:lnTo>
                    <a:pt x="513" y="11"/>
                  </a:lnTo>
                  <a:lnTo>
                    <a:pt x="513" y="14"/>
                  </a:lnTo>
                  <a:lnTo>
                    <a:pt x="513" y="18"/>
                  </a:lnTo>
                  <a:lnTo>
                    <a:pt x="513" y="21"/>
                  </a:lnTo>
                  <a:lnTo>
                    <a:pt x="513" y="24"/>
                  </a:lnTo>
                  <a:lnTo>
                    <a:pt x="513" y="28"/>
                  </a:lnTo>
                  <a:lnTo>
                    <a:pt x="513" y="31"/>
                  </a:lnTo>
                  <a:lnTo>
                    <a:pt x="513" y="34"/>
                  </a:lnTo>
                  <a:lnTo>
                    <a:pt x="513" y="38"/>
                  </a:lnTo>
                  <a:lnTo>
                    <a:pt x="513" y="41"/>
                  </a:lnTo>
                  <a:lnTo>
                    <a:pt x="513" y="44"/>
                  </a:lnTo>
                  <a:lnTo>
                    <a:pt x="513" y="48"/>
                  </a:lnTo>
                  <a:lnTo>
                    <a:pt x="513" y="51"/>
                  </a:lnTo>
                  <a:lnTo>
                    <a:pt x="517" y="51"/>
                  </a:lnTo>
                  <a:lnTo>
                    <a:pt x="517" y="48"/>
                  </a:lnTo>
                  <a:lnTo>
                    <a:pt x="517" y="44"/>
                  </a:lnTo>
                  <a:lnTo>
                    <a:pt x="517" y="41"/>
                  </a:lnTo>
                  <a:lnTo>
                    <a:pt x="517" y="38"/>
                  </a:lnTo>
                  <a:lnTo>
                    <a:pt x="517" y="34"/>
                  </a:lnTo>
                  <a:lnTo>
                    <a:pt x="517" y="31"/>
                  </a:lnTo>
                  <a:lnTo>
                    <a:pt x="517" y="28"/>
                  </a:lnTo>
                  <a:lnTo>
                    <a:pt x="51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19" name="Freeform 360">
              <a:extLst>
                <a:ext uri="{FF2B5EF4-FFF2-40B4-BE49-F238E27FC236}">
                  <a16:creationId xmlns:a16="http://schemas.microsoft.com/office/drawing/2014/main" id="{D50428A7-1CF5-FDB3-8BBE-7719105B570C}"/>
                </a:ext>
              </a:extLst>
            </p:cNvPr>
            <p:cNvSpPr>
              <a:spLocks noEditPoints="1"/>
            </p:cNvSpPr>
            <p:nvPr/>
          </p:nvSpPr>
          <p:spPr bwMode="auto">
            <a:xfrm>
              <a:off x="1354" y="1713"/>
              <a:ext cx="514" cy="51"/>
            </a:xfrm>
            <a:custGeom>
              <a:avLst/>
              <a:gdLst>
                <a:gd name="T0" fmla="*/ 514 w 514"/>
                <a:gd name="T1" fmla="*/ 21 h 51"/>
                <a:gd name="T2" fmla="*/ 514 w 514"/>
                <a:gd name="T3" fmla="*/ 14 h 51"/>
                <a:gd name="T4" fmla="*/ 514 w 514"/>
                <a:gd name="T5" fmla="*/ 9 h 51"/>
                <a:gd name="T6" fmla="*/ 514 w 514"/>
                <a:gd name="T7" fmla="*/ 3 h 51"/>
                <a:gd name="T8" fmla="*/ 511 w 514"/>
                <a:gd name="T9" fmla="*/ 0 h 51"/>
                <a:gd name="T10" fmla="*/ 511 w 514"/>
                <a:gd name="T11" fmla="*/ 6 h 51"/>
                <a:gd name="T12" fmla="*/ 511 w 514"/>
                <a:gd name="T13" fmla="*/ 11 h 51"/>
                <a:gd name="T14" fmla="*/ 511 w 514"/>
                <a:gd name="T15" fmla="*/ 18 h 51"/>
                <a:gd name="T16" fmla="*/ 511 w 514"/>
                <a:gd name="T17" fmla="*/ 24 h 51"/>
                <a:gd name="T18" fmla="*/ 511 w 514"/>
                <a:gd name="T19" fmla="*/ 31 h 51"/>
                <a:gd name="T20" fmla="*/ 511 w 514"/>
                <a:gd name="T21" fmla="*/ 38 h 51"/>
                <a:gd name="T22" fmla="*/ 511 w 514"/>
                <a:gd name="T23" fmla="*/ 44 h 51"/>
                <a:gd name="T24" fmla="*/ 511 w 514"/>
                <a:gd name="T25" fmla="*/ 51 h 51"/>
                <a:gd name="T26" fmla="*/ 514 w 514"/>
                <a:gd name="T27" fmla="*/ 48 h 51"/>
                <a:gd name="T28" fmla="*/ 514 w 514"/>
                <a:gd name="T29" fmla="*/ 41 h 51"/>
                <a:gd name="T30" fmla="*/ 514 w 514"/>
                <a:gd name="T31" fmla="*/ 34 h 51"/>
                <a:gd name="T32" fmla="*/ 514 w 514"/>
                <a:gd name="T33" fmla="*/ 28 h 51"/>
                <a:gd name="T34" fmla="*/ 2 w 514"/>
                <a:gd name="T35" fmla="*/ 0 h 51"/>
                <a:gd name="T36" fmla="*/ 0 w 514"/>
                <a:gd name="T37" fmla="*/ 6 h 51"/>
                <a:gd name="T38" fmla="*/ 0 w 514"/>
                <a:gd name="T39" fmla="*/ 11 h 51"/>
                <a:gd name="T40" fmla="*/ 0 w 514"/>
                <a:gd name="T41" fmla="*/ 18 h 51"/>
                <a:gd name="T42" fmla="*/ 0 w 514"/>
                <a:gd name="T43" fmla="*/ 24 h 51"/>
                <a:gd name="T44" fmla="*/ 0 w 514"/>
                <a:gd name="T45" fmla="*/ 31 h 51"/>
                <a:gd name="T46" fmla="*/ 0 w 514"/>
                <a:gd name="T47" fmla="*/ 38 h 51"/>
                <a:gd name="T48" fmla="*/ 0 w 514"/>
                <a:gd name="T49" fmla="*/ 44 h 51"/>
                <a:gd name="T50" fmla="*/ 0 w 514"/>
                <a:gd name="T51" fmla="*/ 51 h 51"/>
                <a:gd name="T52" fmla="*/ 4 w 514"/>
                <a:gd name="T53" fmla="*/ 48 h 51"/>
                <a:gd name="T54" fmla="*/ 4 w 514"/>
                <a:gd name="T55" fmla="*/ 41 h 51"/>
                <a:gd name="T56" fmla="*/ 4 w 514"/>
                <a:gd name="T57" fmla="*/ 34 h 51"/>
                <a:gd name="T58" fmla="*/ 4 w 514"/>
                <a:gd name="T59" fmla="*/ 28 h 51"/>
                <a:gd name="T60" fmla="*/ 4 w 514"/>
                <a:gd name="T61" fmla="*/ 21 h 51"/>
                <a:gd name="T62" fmla="*/ 4 w 514"/>
                <a:gd name="T63" fmla="*/ 14 h 51"/>
                <a:gd name="T64" fmla="*/ 4 w 514"/>
                <a:gd name="T65" fmla="*/ 9 h 51"/>
                <a:gd name="T66" fmla="*/ 4 w 514"/>
                <a:gd name="T67" fmla="*/ 3 h 51"/>
                <a:gd name="T68" fmla="*/ 2 w 51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4" h="51">
                  <a:moveTo>
                    <a:pt x="514" y="24"/>
                  </a:moveTo>
                  <a:lnTo>
                    <a:pt x="514" y="21"/>
                  </a:lnTo>
                  <a:lnTo>
                    <a:pt x="514" y="18"/>
                  </a:lnTo>
                  <a:lnTo>
                    <a:pt x="514" y="14"/>
                  </a:lnTo>
                  <a:lnTo>
                    <a:pt x="514" y="11"/>
                  </a:lnTo>
                  <a:lnTo>
                    <a:pt x="514" y="9"/>
                  </a:lnTo>
                  <a:lnTo>
                    <a:pt x="514" y="6"/>
                  </a:lnTo>
                  <a:lnTo>
                    <a:pt x="514" y="3"/>
                  </a:lnTo>
                  <a:lnTo>
                    <a:pt x="514" y="0"/>
                  </a:lnTo>
                  <a:lnTo>
                    <a:pt x="511" y="0"/>
                  </a:lnTo>
                  <a:lnTo>
                    <a:pt x="511" y="3"/>
                  </a:lnTo>
                  <a:lnTo>
                    <a:pt x="511" y="6"/>
                  </a:lnTo>
                  <a:lnTo>
                    <a:pt x="511" y="9"/>
                  </a:lnTo>
                  <a:lnTo>
                    <a:pt x="511" y="11"/>
                  </a:lnTo>
                  <a:lnTo>
                    <a:pt x="511" y="14"/>
                  </a:lnTo>
                  <a:lnTo>
                    <a:pt x="511" y="18"/>
                  </a:lnTo>
                  <a:lnTo>
                    <a:pt x="511" y="21"/>
                  </a:lnTo>
                  <a:lnTo>
                    <a:pt x="511" y="24"/>
                  </a:lnTo>
                  <a:lnTo>
                    <a:pt x="511" y="28"/>
                  </a:lnTo>
                  <a:lnTo>
                    <a:pt x="511" y="31"/>
                  </a:lnTo>
                  <a:lnTo>
                    <a:pt x="511" y="34"/>
                  </a:lnTo>
                  <a:lnTo>
                    <a:pt x="511" y="38"/>
                  </a:lnTo>
                  <a:lnTo>
                    <a:pt x="511" y="41"/>
                  </a:lnTo>
                  <a:lnTo>
                    <a:pt x="511" y="44"/>
                  </a:lnTo>
                  <a:lnTo>
                    <a:pt x="511" y="48"/>
                  </a:lnTo>
                  <a:lnTo>
                    <a:pt x="511" y="51"/>
                  </a:lnTo>
                  <a:lnTo>
                    <a:pt x="514" y="51"/>
                  </a:lnTo>
                  <a:lnTo>
                    <a:pt x="514" y="48"/>
                  </a:lnTo>
                  <a:lnTo>
                    <a:pt x="514" y="44"/>
                  </a:lnTo>
                  <a:lnTo>
                    <a:pt x="514" y="41"/>
                  </a:lnTo>
                  <a:lnTo>
                    <a:pt x="514" y="38"/>
                  </a:lnTo>
                  <a:lnTo>
                    <a:pt x="514" y="34"/>
                  </a:lnTo>
                  <a:lnTo>
                    <a:pt x="514" y="31"/>
                  </a:lnTo>
                  <a:lnTo>
                    <a:pt x="514" y="28"/>
                  </a:lnTo>
                  <a:lnTo>
                    <a:pt x="51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20" name="Freeform 361">
              <a:extLst>
                <a:ext uri="{FF2B5EF4-FFF2-40B4-BE49-F238E27FC236}">
                  <a16:creationId xmlns:a16="http://schemas.microsoft.com/office/drawing/2014/main" id="{513EF1F4-A429-72B1-AB36-35A289EC5446}"/>
                </a:ext>
              </a:extLst>
            </p:cNvPr>
            <p:cNvSpPr>
              <a:spLocks noEditPoints="1"/>
            </p:cNvSpPr>
            <p:nvPr/>
          </p:nvSpPr>
          <p:spPr bwMode="auto">
            <a:xfrm>
              <a:off x="1356" y="1713"/>
              <a:ext cx="510" cy="51"/>
            </a:xfrm>
            <a:custGeom>
              <a:avLst/>
              <a:gdLst>
                <a:gd name="T0" fmla="*/ 510 w 510"/>
                <a:gd name="T1" fmla="*/ 21 h 51"/>
                <a:gd name="T2" fmla="*/ 510 w 510"/>
                <a:gd name="T3" fmla="*/ 14 h 51"/>
                <a:gd name="T4" fmla="*/ 510 w 510"/>
                <a:gd name="T5" fmla="*/ 9 h 51"/>
                <a:gd name="T6" fmla="*/ 510 w 510"/>
                <a:gd name="T7" fmla="*/ 3 h 51"/>
                <a:gd name="T8" fmla="*/ 507 w 510"/>
                <a:gd name="T9" fmla="*/ 0 h 51"/>
                <a:gd name="T10" fmla="*/ 507 w 510"/>
                <a:gd name="T11" fmla="*/ 6 h 51"/>
                <a:gd name="T12" fmla="*/ 507 w 510"/>
                <a:gd name="T13" fmla="*/ 11 h 51"/>
                <a:gd name="T14" fmla="*/ 507 w 510"/>
                <a:gd name="T15" fmla="*/ 18 h 51"/>
                <a:gd name="T16" fmla="*/ 507 w 510"/>
                <a:gd name="T17" fmla="*/ 24 h 51"/>
                <a:gd name="T18" fmla="*/ 507 w 510"/>
                <a:gd name="T19" fmla="*/ 31 h 51"/>
                <a:gd name="T20" fmla="*/ 507 w 510"/>
                <a:gd name="T21" fmla="*/ 38 h 51"/>
                <a:gd name="T22" fmla="*/ 507 w 510"/>
                <a:gd name="T23" fmla="*/ 44 h 51"/>
                <a:gd name="T24" fmla="*/ 507 w 510"/>
                <a:gd name="T25" fmla="*/ 51 h 51"/>
                <a:gd name="T26" fmla="*/ 510 w 510"/>
                <a:gd name="T27" fmla="*/ 48 h 51"/>
                <a:gd name="T28" fmla="*/ 510 w 510"/>
                <a:gd name="T29" fmla="*/ 41 h 51"/>
                <a:gd name="T30" fmla="*/ 510 w 510"/>
                <a:gd name="T31" fmla="*/ 34 h 51"/>
                <a:gd name="T32" fmla="*/ 510 w 510"/>
                <a:gd name="T33" fmla="*/ 28 h 51"/>
                <a:gd name="T34" fmla="*/ 2 w 510"/>
                <a:gd name="T35" fmla="*/ 0 h 51"/>
                <a:gd name="T36" fmla="*/ 0 w 510"/>
                <a:gd name="T37" fmla="*/ 6 h 51"/>
                <a:gd name="T38" fmla="*/ 0 w 510"/>
                <a:gd name="T39" fmla="*/ 11 h 51"/>
                <a:gd name="T40" fmla="*/ 0 w 510"/>
                <a:gd name="T41" fmla="*/ 18 h 51"/>
                <a:gd name="T42" fmla="*/ 0 w 510"/>
                <a:gd name="T43" fmla="*/ 24 h 51"/>
                <a:gd name="T44" fmla="*/ 0 w 510"/>
                <a:gd name="T45" fmla="*/ 31 h 51"/>
                <a:gd name="T46" fmla="*/ 0 w 510"/>
                <a:gd name="T47" fmla="*/ 38 h 51"/>
                <a:gd name="T48" fmla="*/ 0 w 510"/>
                <a:gd name="T49" fmla="*/ 44 h 51"/>
                <a:gd name="T50" fmla="*/ 0 w 510"/>
                <a:gd name="T51" fmla="*/ 51 h 51"/>
                <a:gd name="T52" fmla="*/ 3 w 510"/>
                <a:gd name="T53" fmla="*/ 48 h 51"/>
                <a:gd name="T54" fmla="*/ 3 w 510"/>
                <a:gd name="T55" fmla="*/ 41 h 51"/>
                <a:gd name="T56" fmla="*/ 3 w 510"/>
                <a:gd name="T57" fmla="*/ 34 h 51"/>
                <a:gd name="T58" fmla="*/ 3 w 510"/>
                <a:gd name="T59" fmla="*/ 28 h 51"/>
                <a:gd name="T60" fmla="*/ 3 w 510"/>
                <a:gd name="T61" fmla="*/ 21 h 51"/>
                <a:gd name="T62" fmla="*/ 3 w 510"/>
                <a:gd name="T63" fmla="*/ 14 h 51"/>
                <a:gd name="T64" fmla="*/ 3 w 510"/>
                <a:gd name="T65" fmla="*/ 9 h 51"/>
                <a:gd name="T66" fmla="*/ 3 w 510"/>
                <a:gd name="T67" fmla="*/ 3 h 51"/>
                <a:gd name="T68" fmla="*/ 2 w 51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0" h="51">
                  <a:moveTo>
                    <a:pt x="510" y="24"/>
                  </a:moveTo>
                  <a:lnTo>
                    <a:pt x="510" y="21"/>
                  </a:lnTo>
                  <a:lnTo>
                    <a:pt x="510" y="18"/>
                  </a:lnTo>
                  <a:lnTo>
                    <a:pt x="510" y="14"/>
                  </a:lnTo>
                  <a:lnTo>
                    <a:pt x="510" y="11"/>
                  </a:lnTo>
                  <a:lnTo>
                    <a:pt x="510" y="9"/>
                  </a:lnTo>
                  <a:lnTo>
                    <a:pt x="510" y="6"/>
                  </a:lnTo>
                  <a:lnTo>
                    <a:pt x="510" y="3"/>
                  </a:lnTo>
                  <a:lnTo>
                    <a:pt x="510" y="0"/>
                  </a:lnTo>
                  <a:lnTo>
                    <a:pt x="507" y="0"/>
                  </a:lnTo>
                  <a:lnTo>
                    <a:pt x="507" y="3"/>
                  </a:lnTo>
                  <a:lnTo>
                    <a:pt x="507" y="6"/>
                  </a:lnTo>
                  <a:lnTo>
                    <a:pt x="507" y="9"/>
                  </a:lnTo>
                  <a:lnTo>
                    <a:pt x="507" y="11"/>
                  </a:lnTo>
                  <a:lnTo>
                    <a:pt x="507" y="14"/>
                  </a:lnTo>
                  <a:lnTo>
                    <a:pt x="507" y="18"/>
                  </a:lnTo>
                  <a:lnTo>
                    <a:pt x="507" y="21"/>
                  </a:lnTo>
                  <a:lnTo>
                    <a:pt x="507" y="24"/>
                  </a:lnTo>
                  <a:lnTo>
                    <a:pt x="507" y="28"/>
                  </a:lnTo>
                  <a:lnTo>
                    <a:pt x="507" y="31"/>
                  </a:lnTo>
                  <a:lnTo>
                    <a:pt x="507" y="34"/>
                  </a:lnTo>
                  <a:lnTo>
                    <a:pt x="507" y="38"/>
                  </a:lnTo>
                  <a:lnTo>
                    <a:pt x="507" y="41"/>
                  </a:lnTo>
                  <a:lnTo>
                    <a:pt x="507" y="44"/>
                  </a:lnTo>
                  <a:lnTo>
                    <a:pt x="507" y="48"/>
                  </a:lnTo>
                  <a:lnTo>
                    <a:pt x="507" y="51"/>
                  </a:lnTo>
                  <a:lnTo>
                    <a:pt x="510" y="51"/>
                  </a:lnTo>
                  <a:lnTo>
                    <a:pt x="510" y="48"/>
                  </a:lnTo>
                  <a:lnTo>
                    <a:pt x="510" y="44"/>
                  </a:lnTo>
                  <a:lnTo>
                    <a:pt x="510" y="41"/>
                  </a:lnTo>
                  <a:lnTo>
                    <a:pt x="510" y="38"/>
                  </a:lnTo>
                  <a:lnTo>
                    <a:pt x="510" y="34"/>
                  </a:lnTo>
                  <a:lnTo>
                    <a:pt x="510" y="31"/>
                  </a:lnTo>
                  <a:lnTo>
                    <a:pt x="510" y="28"/>
                  </a:lnTo>
                  <a:lnTo>
                    <a:pt x="51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21" name="Freeform 362">
              <a:extLst>
                <a:ext uri="{FF2B5EF4-FFF2-40B4-BE49-F238E27FC236}">
                  <a16:creationId xmlns:a16="http://schemas.microsoft.com/office/drawing/2014/main" id="{769A3B32-393C-EE49-34D1-4ADA52C2786B}"/>
                </a:ext>
              </a:extLst>
            </p:cNvPr>
            <p:cNvSpPr>
              <a:spLocks noEditPoints="1"/>
            </p:cNvSpPr>
            <p:nvPr/>
          </p:nvSpPr>
          <p:spPr bwMode="auto">
            <a:xfrm>
              <a:off x="1358" y="1713"/>
              <a:ext cx="507" cy="51"/>
            </a:xfrm>
            <a:custGeom>
              <a:avLst/>
              <a:gdLst>
                <a:gd name="T0" fmla="*/ 507 w 507"/>
                <a:gd name="T1" fmla="*/ 21 h 51"/>
                <a:gd name="T2" fmla="*/ 507 w 507"/>
                <a:gd name="T3" fmla="*/ 14 h 51"/>
                <a:gd name="T4" fmla="*/ 507 w 507"/>
                <a:gd name="T5" fmla="*/ 9 h 51"/>
                <a:gd name="T6" fmla="*/ 507 w 507"/>
                <a:gd name="T7" fmla="*/ 3 h 51"/>
                <a:gd name="T8" fmla="*/ 503 w 507"/>
                <a:gd name="T9" fmla="*/ 0 h 51"/>
                <a:gd name="T10" fmla="*/ 503 w 507"/>
                <a:gd name="T11" fmla="*/ 6 h 51"/>
                <a:gd name="T12" fmla="*/ 503 w 507"/>
                <a:gd name="T13" fmla="*/ 11 h 51"/>
                <a:gd name="T14" fmla="*/ 503 w 507"/>
                <a:gd name="T15" fmla="*/ 18 h 51"/>
                <a:gd name="T16" fmla="*/ 503 w 507"/>
                <a:gd name="T17" fmla="*/ 24 h 51"/>
                <a:gd name="T18" fmla="*/ 503 w 507"/>
                <a:gd name="T19" fmla="*/ 31 h 51"/>
                <a:gd name="T20" fmla="*/ 503 w 507"/>
                <a:gd name="T21" fmla="*/ 38 h 51"/>
                <a:gd name="T22" fmla="*/ 503 w 507"/>
                <a:gd name="T23" fmla="*/ 44 h 51"/>
                <a:gd name="T24" fmla="*/ 503 w 507"/>
                <a:gd name="T25" fmla="*/ 51 h 51"/>
                <a:gd name="T26" fmla="*/ 507 w 507"/>
                <a:gd name="T27" fmla="*/ 48 h 51"/>
                <a:gd name="T28" fmla="*/ 507 w 507"/>
                <a:gd name="T29" fmla="*/ 41 h 51"/>
                <a:gd name="T30" fmla="*/ 507 w 507"/>
                <a:gd name="T31" fmla="*/ 34 h 51"/>
                <a:gd name="T32" fmla="*/ 507 w 507"/>
                <a:gd name="T33" fmla="*/ 28 h 51"/>
                <a:gd name="T34" fmla="*/ 1 w 507"/>
                <a:gd name="T35" fmla="*/ 0 h 51"/>
                <a:gd name="T36" fmla="*/ 0 w 507"/>
                <a:gd name="T37" fmla="*/ 6 h 51"/>
                <a:gd name="T38" fmla="*/ 0 w 507"/>
                <a:gd name="T39" fmla="*/ 11 h 51"/>
                <a:gd name="T40" fmla="*/ 0 w 507"/>
                <a:gd name="T41" fmla="*/ 18 h 51"/>
                <a:gd name="T42" fmla="*/ 0 w 507"/>
                <a:gd name="T43" fmla="*/ 24 h 51"/>
                <a:gd name="T44" fmla="*/ 0 w 507"/>
                <a:gd name="T45" fmla="*/ 31 h 51"/>
                <a:gd name="T46" fmla="*/ 0 w 507"/>
                <a:gd name="T47" fmla="*/ 38 h 51"/>
                <a:gd name="T48" fmla="*/ 0 w 507"/>
                <a:gd name="T49" fmla="*/ 44 h 51"/>
                <a:gd name="T50" fmla="*/ 0 w 507"/>
                <a:gd name="T51" fmla="*/ 51 h 51"/>
                <a:gd name="T52" fmla="*/ 3 w 507"/>
                <a:gd name="T53" fmla="*/ 48 h 51"/>
                <a:gd name="T54" fmla="*/ 3 w 507"/>
                <a:gd name="T55" fmla="*/ 41 h 51"/>
                <a:gd name="T56" fmla="*/ 3 w 507"/>
                <a:gd name="T57" fmla="*/ 34 h 51"/>
                <a:gd name="T58" fmla="*/ 3 w 507"/>
                <a:gd name="T59" fmla="*/ 28 h 51"/>
                <a:gd name="T60" fmla="*/ 3 w 507"/>
                <a:gd name="T61" fmla="*/ 21 h 51"/>
                <a:gd name="T62" fmla="*/ 3 w 507"/>
                <a:gd name="T63" fmla="*/ 14 h 51"/>
                <a:gd name="T64" fmla="*/ 3 w 507"/>
                <a:gd name="T65" fmla="*/ 9 h 51"/>
                <a:gd name="T66" fmla="*/ 3 w 507"/>
                <a:gd name="T67" fmla="*/ 3 h 51"/>
                <a:gd name="T68" fmla="*/ 1 w 50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7" h="51">
                  <a:moveTo>
                    <a:pt x="507" y="24"/>
                  </a:moveTo>
                  <a:lnTo>
                    <a:pt x="507" y="21"/>
                  </a:lnTo>
                  <a:lnTo>
                    <a:pt x="507" y="18"/>
                  </a:lnTo>
                  <a:lnTo>
                    <a:pt x="507" y="14"/>
                  </a:lnTo>
                  <a:lnTo>
                    <a:pt x="507" y="11"/>
                  </a:lnTo>
                  <a:lnTo>
                    <a:pt x="507" y="9"/>
                  </a:lnTo>
                  <a:lnTo>
                    <a:pt x="507" y="6"/>
                  </a:lnTo>
                  <a:lnTo>
                    <a:pt x="507" y="3"/>
                  </a:lnTo>
                  <a:lnTo>
                    <a:pt x="507" y="0"/>
                  </a:lnTo>
                  <a:lnTo>
                    <a:pt x="503" y="0"/>
                  </a:lnTo>
                  <a:lnTo>
                    <a:pt x="503" y="3"/>
                  </a:lnTo>
                  <a:lnTo>
                    <a:pt x="503" y="6"/>
                  </a:lnTo>
                  <a:lnTo>
                    <a:pt x="503" y="9"/>
                  </a:lnTo>
                  <a:lnTo>
                    <a:pt x="503" y="11"/>
                  </a:lnTo>
                  <a:lnTo>
                    <a:pt x="503" y="14"/>
                  </a:lnTo>
                  <a:lnTo>
                    <a:pt x="503" y="18"/>
                  </a:lnTo>
                  <a:lnTo>
                    <a:pt x="503" y="21"/>
                  </a:lnTo>
                  <a:lnTo>
                    <a:pt x="503" y="24"/>
                  </a:lnTo>
                  <a:lnTo>
                    <a:pt x="503" y="28"/>
                  </a:lnTo>
                  <a:lnTo>
                    <a:pt x="503" y="31"/>
                  </a:lnTo>
                  <a:lnTo>
                    <a:pt x="503" y="34"/>
                  </a:lnTo>
                  <a:lnTo>
                    <a:pt x="503" y="38"/>
                  </a:lnTo>
                  <a:lnTo>
                    <a:pt x="503" y="41"/>
                  </a:lnTo>
                  <a:lnTo>
                    <a:pt x="503" y="44"/>
                  </a:lnTo>
                  <a:lnTo>
                    <a:pt x="503" y="48"/>
                  </a:lnTo>
                  <a:lnTo>
                    <a:pt x="503" y="51"/>
                  </a:lnTo>
                  <a:lnTo>
                    <a:pt x="507" y="51"/>
                  </a:lnTo>
                  <a:lnTo>
                    <a:pt x="507" y="48"/>
                  </a:lnTo>
                  <a:lnTo>
                    <a:pt x="507" y="44"/>
                  </a:lnTo>
                  <a:lnTo>
                    <a:pt x="507" y="41"/>
                  </a:lnTo>
                  <a:lnTo>
                    <a:pt x="507" y="38"/>
                  </a:lnTo>
                  <a:lnTo>
                    <a:pt x="507" y="34"/>
                  </a:lnTo>
                  <a:lnTo>
                    <a:pt x="507" y="31"/>
                  </a:lnTo>
                  <a:lnTo>
                    <a:pt x="507" y="28"/>
                  </a:lnTo>
                  <a:lnTo>
                    <a:pt x="50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22" name="Freeform 363">
              <a:extLst>
                <a:ext uri="{FF2B5EF4-FFF2-40B4-BE49-F238E27FC236}">
                  <a16:creationId xmlns:a16="http://schemas.microsoft.com/office/drawing/2014/main" id="{42B157E9-E421-081E-0704-6C9EF84D0CA5}"/>
                </a:ext>
              </a:extLst>
            </p:cNvPr>
            <p:cNvSpPr>
              <a:spLocks noEditPoints="1"/>
            </p:cNvSpPr>
            <p:nvPr/>
          </p:nvSpPr>
          <p:spPr bwMode="auto">
            <a:xfrm>
              <a:off x="1359" y="1713"/>
              <a:ext cx="504" cy="51"/>
            </a:xfrm>
            <a:custGeom>
              <a:avLst/>
              <a:gdLst>
                <a:gd name="T0" fmla="*/ 504 w 504"/>
                <a:gd name="T1" fmla="*/ 21 h 51"/>
                <a:gd name="T2" fmla="*/ 504 w 504"/>
                <a:gd name="T3" fmla="*/ 14 h 51"/>
                <a:gd name="T4" fmla="*/ 504 w 504"/>
                <a:gd name="T5" fmla="*/ 9 h 51"/>
                <a:gd name="T6" fmla="*/ 504 w 504"/>
                <a:gd name="T7" fmla="*/ 3 h 51"/>
                <a:gd name="T8" fmla="*/ 501 w 504"/>
                <a:gd name="T9" fmla="*/ 0 h 51"/>
                <a:gd name="T10" fmla="*/ 501 w 504"/>
                <a:gd name="T11" fmla="*/ 6 h 51"/>
                <a:gd name="T12" fmla="*/ 501 w 504"/>
                <a:gd name="T13" fmla="*/ 11 h 51"/>
                <a:gd name="T14" fmla="*/ 501 w 504"/>
                <a:gd name="T15" fmla="*/ 18 h 51"/>
                <a:gd name="T16" fmla="*/ 501 w 504"/>
                <a:gd name="T17" fmla="*/ 24 h 51"/>
                <a:gd name="T18" fmla="*/ 501 w 504"/>
                <a:gd name="T19" fmla="*/ 31 h 51"/>
                <a:gd name="T20" fmla="*/ 501 w 504"/>
                <a:gd name="T21" fmla="*/ 38 h 51"/>
                <a:gd name="T22" fmla="*/ 501 w 504"/>
                <a:gd name="T23" fmla="*/ 44 h 51"/>
                <a:gd name="T24" fmla="*/ 501 w 504"/>
                <a:gd name="T25" fmla="*/ 51 h 51"/>
                <a:gd name="T26" fmla="*/ 504 w 504"/>
                <a:gd name="T27" fmla="*/ 48 h 51"/>
                <a:gd name="T28" fmla="*/ 504 w 504"/>
                <a:gd name="T29" fmla="*/ 41 h 51"/>
                <a:gd name="T30" fmla="*/ 504 w 504"/>
                <a:gd name="T31" fmla="*/ 34 h 51"/>
                <a:gd name="T32" fmla="*/ 504 w 504"/>
                <a:gd name="T33" fmla="*/ 28 h 51"/>
                <a:gd name="T34" fmla="*/ 2 w 504"/>
                <a:gd name="T35" fmla="*/ 0 h 51"/>
                <a:gd name="T36" fmla="*/ 0 w 504"/>
                <a:gd name="T37" fmla="*/ 6 h 51"/>
                <a:gd name="T38" fmla="*/ 0 w 504"/>
                <a:gd name="T39" fmla="*/ 11 h 51"/>
                <a:gd name="T40" fmla="*/ 0 w 504"/>
                <a:gd name="T41" fmla="*/ 18 h 51"/>
                <a:gd name="T42" fmla="*/ 0 w 504"/>
                <a:gd name="T43" fmla="*/ 24 h 51"/>
                <a:gd name="T44" fmla="*/ 0 w 504"/>
                <a:gd name="T45" fmla="*/ 31 h 51"/>
                <a:gd name="T46" fmla="*/ 0 w 504"/>
                <a:gd name="T47" fmla="*/ 38 h 51"/>
                <a:gd name="T48" fmla="*/ 0 w 504"/>
                <a:gd name="T49" fmla="*/ 44 h 51"/>
                <a:gd name="T50" fmla="*/ 0 w 504"/>
                <a:gd name="T51" fmla="*/ 51 h 51"/>
                <a:gd name="T52" fmla="*/ 4 w 504"/>
                <a:gd name="T53" fmla="*/ 48 h 51"/>
                <a:gd name="T54" fmla="*/ 4 w 504"/>
                <a:gd name="T55" fmla="*/ 41 h 51"/>
                <a:gd name="T56" fmla="*/ 4 w 504"/>
                <a:gd name="T57" fmla="*/ 34 h 51"/>
                <a:gd name="T58" fmla="*/ 4 w 504"/>
                <a:gd name="T59" fmla="*/ 28 h 51"/>
                <a:gd name="T60" fmla="*/ 4 w 504"/>
                <a:gd name="T61" fmla="*/ 21 h 51"/>
                <a:gd name="T62" fmla="*/ 4 w 504"/>
                <a:gd name="T63" fmla="*/ 14 h 51"/>
                <a:gd name="T64" fmla="*/ 4 w 504"/>
                <a:gd name="T65" fmla="*/ 9 h 51"/>
                <a:gd name="T66" fmla="*/ 4 w 504"/>
                <a:gd name="T67" fmla="*/ 3 h 51"/>
                <a:gd name="T68" fmla="*/ 2 w 50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4" h="51">
                  <a:moveTo>
                    <a:pt x="504" y="24"/>
                  </a:moveTo>
                  <a:lnTo>
                    <a:pt x="504" y="21"/>
                  </a:lnTo>
                  <a:lnTo>
                    <a:pt x="504" y="18"/>
                  </a:lnTo>
                  <a:lnTo>
                    <a:pt x="504" y="14"/>
                  </a:lnTo>
                  <a:lnTo>
                    <a:pt x="504" y="11"/>
                  </a:lnTo>
                  <a:lnTo>
                    <a:pt x="504" y="9"/>
                  </a:lnTo>
                  <a:lnTo>
                    <a:pt x="504" y="6"/>
                  </a:lnTo>
                  <a:lnTo>
                    <a:pt x="504" y="3"/>
                  </a:lnTo>
                  <a:lnTo>
                    <a:pt x="504" y="0"/>
                  </a:lnTo>
                  <a:lnTo>
                    <a:pt x="501" y="0"/>
                  </a:lnTo>
                  <a:lnTo>
                    <a:pt x="501" y="3"/>
                  </a:lnTo>
                  <a:lnTo>
                    <a:pt x="501" y="6"/>
                  </a:lnTo>
                  <a:lnTo>
                    <a:pt x="501" y="9"/>
                  </a:lnTo>
                  <a:lnTo>
                    <a:pt x="501" y="11"/>
                  </a:lnTo>
                  <a:lnTo>
                    <a:pt x="501" y="14"/>
                  </a:lnTo>
                  <a:lnTo>
                    <a:pt x="501" y="18"/>
                  </a:lnTo>
                  <a:lnTo>
                    <a:pt x="501" y="21"/>
                  </a:lnTo>
                  <a:lnTo>
                    <a:pt x="501" y="24"/>
                  </a:lnTo>
                  <a:lnTo>
                    <a:pt x="501" y="28"/>
                  </a:lnTo>
                  <a:lnTo>
                    <a:pt x="501" y="31"/>
                  </a:lnTo>
                  <a:lnTo>
                    <a:pt x="501" y="34"/>
                  </a:lnTo>
                  <a:lnTo>
                    <a:pt x="501" y="38"/>
                  </a:lnTo>
                  <a:lnTo>
                    <a:pt x="501" y="41"/>
                  </a:lnTo>
                  <a:lnTo>
                    <a:pt x="501" y="44"/>
                  </a:lnTo>
                  <a:lnTo>
                    <a:pt x="501" y="48"/>
                  </a:lnTo>
                  <a:lnTo>
                    <a:pt x="501" y="51"/>
                  </a:lnTo>
                  <a:lnTo>
                    <a:pt x="504" y="51"/>
                  </a:lnTo>
                  <a:lnTo>
                    <a:pt x="504" y="48"/>
                  </a:lnTo>
                  <a:lnTo>
                    <a:pt x="504" y="44"/>
                  </a:lnTo>
                  <a:lnTo>
                    <a:pt x="504" y="41"/>
                  </a:lnTo>
                  <a:lnTo>
                    <a:pt x="504" y="38"/>
                  </a:lnTo>
                  <a:lnTo>
                    <a:pt x="504" y="34"/>
                  </a:lnTo>
                  <a:lnTo>
                    <a:pt x="504" y="31"/>
                  </a:lnTo>
                  <a:lnTo>
                    <a:pt x="504" y="28"/>
                  </a:lnTo>
                  <a:lnTo>
                    <a:pt x="50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23" name="Freeform 364">
              <a:extLst>
                <a:ext uri="{FF2B5EF4-FFF2-40B4-BE49-F238E27FC236}">
                  <a16:creationId xmlns:a16="http://schemas.microsoft.com/office/drawing/2014/main" id="{700E6BCC-7805-D7A6-9E4B-B9E42C726926}"/>
                </a:ext>
              </a:extLst>
            </p:cNvPr>
            <p:cNvSpPr>
              <a:spLocks noEditPoints="1"/>
            </p:cNvSpPr>
            <p:nvPr/>
          </p:nvSpPr>
          <p:spPr bwMode="auto">
            <a:xfrm>
              <a:off x="1361" y="1713"/>
              <a:ext cx="500" cy="51"/>
            </a:xfrm>
            <a:custGeom>
              <a:avLst/>
              <a:gdLst>
                <a:gd name="T0" fmla="*/ 500 w 500"/>
                <a:gd name="T1" fmla="*/ 21 h 51"/>
                <a:gd name="T2" fmla="*/ 500 w 500"/>
                <a:gd name="T3" fmla="*/ 14 h 51"/>
                <a:gd name="T4" fmla="*/ 500 w 500"/>
                <a:gd name="T5" fmla="*/ 9 h 51"/>
                <a:gd name="T6" fmla="*/ 500 w 500"/>
                <a:gd name="T7" fmla="*/ 3 h 51"/>
                <a:gd name="T8" fmla="*/ 497 w 500"/>
                <a:gd name="T9" fmla="*/ 0 h 51"/>
                <a:gd name="T10" fmla="*/ 497 w 500"/>
                <a:gd name="T11" fmla="*/ 6 h 51"/>
                <a:gd name="T12" fmla="*/ 497 w 500"/>
                <a:gd name="T13" fmla="*/ 11 h 51"/>
                <a:gd name="T14" fmla="*/ 497 w 500"/>
                <a:gd name="T15" fmla="*/ 18 h 51"/>
                <a:gd name="T16" fmla="*/ 497 w 500"/>
                <a:gd name="T17" fmla="*/ 24 h 51"/>
                <a:gd name="T18" fmla="*/ 497 w 500"/>
                <a:gd name="T19" fmla="*/ 31 h 51"/>
                <a:gd name="T20" fmla="*/ 497 w 500"/>
                <a:gd name="T21" fmla="*/ 38 h 51"/>
                <a:gd name="T22" fmla="*/ 497 w 500"/>
                <a:gd name="T23" fmla="*/ 44 h 51"/>
                <a:gd name="T24" fmla="*/ 497 w 500"/>
                <a:gd name="T25" fmla="*/ 51 h 51"/>
                <a:gd name="T26" fmla="*/ 500 w 500"/>
                <a:gd name="T27" fmla="*/ 48 h 51"/>
                <a:gd name="T28" fmla="*/ 500 w 500"/>
                <a:gd name="T29" fmla="*/ 41 h 51"/>
                <a:gd name="T30" fmla="*/ 500 w 500"/>
                <a:gd name="T31" fmla="*/ 34 h 51"/>
                <a:gd name="T32" fmla="*/ 500 w 500"/>
                <a:gd name="T33" fmla="*/ 28 h 51"/>
                <a:gd name="T34" fmla="*/ 2 w 500"/>
                <a:gd name="T35" fmla="*/ 0 h 51"/>
                <a:gd name="T36" fmla="*/ 0 w 500"/>
                <a:gd name="T37" fmla="*/ 6 h 51"/>
                <a:gd name="T38" fmla="*/ 0 w 500"/>
                <a:gd name="T39" fmla="*/ 11 h 51"/>
                <a:gd name="T40" fmla="*/ 0 w 500"/>
                <a:gd name="T41" fmla="*/ 18 h 51"/>
                <a:gd name="T42" fmla="*/ 0 w 500"/>
                <a:gd name="T43" fmla="*/ 24 h 51"/>
                <a:gd name="T44" fmla="*/ 0 w 500"/>
                <a:gd name="T45" fmla="*/ 31 h 51"/>
                <a:gd name="T46" fmla="*/ 0 w 500"/>
                <a:gd name="T47" fmla="*/ 38 h 51"/>
                <a:gd name="T48" fmla="*/ 0 w 500"/>
                <a:gd name="T49" fmla="*/ 44 h 51"/>
                <a:gd name="T50" fmla="*/ 0 w 500"/>
                <a:gd name="T51" fmla="*/ 51 h 51"/>
                <a:gd name="T52" fmla="*/ 3 w 500"/>
                <a:gd name="T53" fmla="*/ 48 h 51"/>
                <a:gd name="T54" fmla="*/ 3 w 500"/>
                <a:gd name="T55" fmla="*/ 41 h 51"/>
                <a:gd name="T56" fmla="*/ 3 w 500"/>
                <a:gd name="T57" fmla="*/ 34 h 51"/>
                <a:gd name="T58" fmla="*/ 3 w 500"/>
                <a:gd name="T59" fmla="*/ 28 h 51"/>
                <a:gd name="T60" fmla="*/ 3 w 500"/>
                <a:gd name="T61" fmla="*/ 21 h 51"/>
                <a:gd name="T62" fmla="*/ 3 w 500"/>
                <a:gd name="T63" fmla="*/ 14 h 51"/>
                <a:gd name="T64" fmla="*/ 3 w 500"/>
                <a:gd name="T65" fmla="*/ 9 h 51"/>
                <a:gd name="T66" fmla="*/ 3 w 500"/>
                <a:gd name="T67" fmla="*/ 3 h 51"/>
                <a:gd name="T68" fmla="*/ 2 w 50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0" h="51">
                  <a:moveTo>
                    <a:pt x="500" y="24"/>
                  </a:moveTo>
                  <a:lnTo>
                    <a:pt x="500" y="21"/>
                  </a:lnTo>
                  <a:lnTo>
                    <a:pt x="500" y="18"/>
                  </a:lnTo>
                  <a:lnTo>
                    <a:pt x="500" y="14"/>
                  </a:lnTo>
                  <a:lnTo>
                    <a:pt x="500" y="11"/>
                  </a:lnTo>
                  <a:lnTo>
                    <a:pt x="500" y="9"/>
                  </a:lnTo>
                  <a:lnTo>
                    <a:pt x="500" y="6"/>
                  </a:lnTo>
                  <a:lnTo>
                    <a:pt x="500" y="3"/>
                  </a:lnTo>
                  <a:lnTo>
                    <a:pt x="500" y="0"/>
                  </a:lnTo>
                  <a:lnTo>
                    <a:pt x="497" y="0"/>
                  </a:lnTo>
                  <a:lnTo>
                    <a:pt x="497" y="3"/>
                  </a:lnTo>
                  <a:lnTo>
                    <a:pt x="497" y="6"/>
                  </a:lnTo>
                  <a:lnTo>
                    <a:pt x="497" y="9"/>
                  </a:lnTo>
                  <a:lnTo>
                    <a:pt x="497" y="11"/>
                  </a:lnTo>
                  <a:lnTo>
                    <a:pt x="497" y="14"/>
                  </a:lnTo>
                  <a:lnTo>
                    <a:pt x="497" y="18"/>
                  </a:lnTo>
                  <a:lnTo>
                    <a:pt x="497" y="21"/>
                  </a:lnTo>
                  <a:lnTo>
                    <a:pt x="497" y="24"/>
                  </a:lnTo>
                  <a:lnTo>
                    <a:pt x="497" y="28"/>
                  </a:lnTo>
                  <a:lnTo>
                    <a:pt x="497" y="31"/>
                  </a:lnTo>
                  <a:lnTo>
                    <a:pt x="497" y="34"/>
                  </a:lnTo>
                  <a:lnTo>
                    <a:pt x="497" y="38"/>
                  </a:lnTo>
                  <a:lnTo>
                    <a:pt x="497" y="41"/>
                  </a:lnTo>
                  <a:lnTo>
                    <a:pt x="497" y="44"/>
                  </a:lnTo>
                  <a:lnTo>
                    <a:pt x="497" y="48"/>
                  </a:lnTo>
                  <a:lnTo>
                    <a:pt x="497" y="51"/>
                  </a:lnTo>
                  <a:lnTo>
                    <a:pt x="500" y="51"/>
                  </a:lnTo>
                  <a:lnTo>
                    <a:pt x="500" y="48"/>
                  </a:lnTo>
                  <a:lnTo>
                    <a:pt x="500" y="44"/>
                  </a:lnTo>
                  <a:lnTo>
                    <a:pt x="500" y="41"/>
                  </a:lnTo>
                  <a:lnTo>
                    <a:pt x="500" y="38"/>
                  </a:lnTo>
                  <a:lnTo>
                    <a:pt x="500" y="34"/>
                  </a:lnTo>
                  <a:lnTo>
                    <a:pt x="500" y="31"/>
                  </a:lnTo>
                  <a:lnTo>
                    <a:pt x="500" y="28"/>
                  </a:lnTo>
                  <a:lnTo>
                    <a:pt x="50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24" name="Freeform 365">
              <a:extLst>
                <a:ext uri="{FF2B5EF4-FFF2-40B4-BE49-F238E27FC236}">
                  <a16:creationId xmlns:a16="http://schemas.microsoft.com/office/drawing/2014/main" id="{670123BB-8749-2EBB-F9AD-BD010846D7A8}"/>
                </a:ext>
              </a:extLst>
            </p:cNvPr>
            <p:cNvSpPr>
              <a:spLocks noEditPoints="1"/>
            </p:cNvSpPr>
            <p:nvPr/>
          </p:nvSpPr>
          <p:spPr bwMode="auto">
            <a:xfrm>
              <a:off x="1363" y="1713"/>
              <a:ext cx="497" cy="51"/>
            </a:xfrm>
            <a:custGeom>
              <a:avLst/>
              <a:gdLst>
                <a:gd name="T0" fmla="*/ 497 w 497"/>
                <a:gd name="T1" fmla="*/ 21 h 51"/>
                <a:gd name="T2" fmla="*/ 497 w 497"/>
                <a:gd name="T3" fmla="*/ 14 h 51"/>
                <a:gd name="T4" fmla="*/ 497 w 497"/>
                <a:gd name="T5" fmla="*/ 9 h 51"/>
                <a:gd name="T6" fmla="*/ 497 w 497"/>
                <a:gd name="T7" fmla="*/ 3 h 51"/>
                <a:gd name="T8" fmla="*/ 493 w 497"/>
                <a:gd name="T9" fmla="*/ 0 h 51"/>
                <a:gd name="T10" fmla="*/ 493 w 497"/>
                <a:gd name="T11" fmla="*/ 6 h 51"/>
                <a:gd name="T12" fmla="*/ 493 w 497"/>
                <a:gd name="T13" fmla="*/ 11 h 51"/>
                <a:gd name="T14" fmla="*/ 493 w 497"/>
                <a:gd name="T15" fmla="*/ 18 h 51"/>
                <a:gd name="T16" fmla="*/ 493 w 497"/>
                <a:gd name="T17" fmla="*/ 24 h 51"/>
                <a:gd name="T18" fmla="*/ 493 w 497"/>
                <a:gd name="T19" fmla="*/ 31 h 51"/>
                <a:gd name="T20" fmla="*/ 493 w 497"/>
                <a:gd name="T21" fmla="*/ 38 h 51"/>
                <a:gd name="T22" fmla="*/ 493 w 497"/>
                <a:gd name="T23" fmla="*/ 44 h 51"/>
                <a:gd name="T24" fmla="*/ 493 w 497"/>
                <a:gd name="T25" fmla="*/ 51 h 51"/>
                <a:gd name="T26" fmla="*/ 497 w 497"/>
                <a:gd name="T27" fmla="*/ 48 h 51"/>
                <a:gd name="T28" fmla="*/ 497 w 497"/>
                <a:gd name="T29" fmla="*/ 41 h 51"/>
                <a:gd name="T30" fmla="*/ 497 w 497"/>
                <a:gd name="T31" fmla="*/ 34 h 51"/>
                <a:gd name="T32" fmla="*/ 497 w 497"/>
                <a:gd name="T33" fmla="*/ 28 h 51"/>
                <a:gd name="T34" fmla="*/ 1 w 497"/>
                <a:gd name="T35" fmla="*/ 0 h 51"/>
                <a:gd name="T36" fmla="*/ 0 w 497"/>
                <a:gd name="T37" fmla="*/ 6 h 51"/>
                <a:gd name="T38" fmla="*/ 0 w 497"/>
                <a:gd name="T39" fmla="*/ 11 h 51"/>
                <a:gd name="T40" fmla="*/ 0 w 497"/>
                <a:gd name="T41" fmla="*/ 18 h 51"/>
                <a:gd name="T42" fmla="*/ 0 w 497"/>
                <a:gd name="T43" fmla="*/ 24 h 51"/>
                <a:gd name="T44" fmla="*/ 0 w 497"/>
                <a:gd name="T45" fmla="*/ 31 h 51"/>
                <a:gd name="T46" fmla="*/ 0 w 497"/>
                <a:gd name="T47" fmla="*/ 38 h 51"/>
                <a:gd name="T48" fmla="*/ 0 w 497"/>
                <a:gd name="T49" fmla="*/ 44 h 51"/>
                <a:gd name="T50" fmla="*/ 0 w 497"/>
                <a:gd name="T51" fmla="*/ 51 h 51"/>
                <a:gd name="T52" fmla="*/ 3 w 497"/>
                <a:gd name="T53" fmla="*/ 48 h 51"/>
                <a:gd name="T54" fmla="*/ 3 w 497"/>
                <a:gd name="T55" fmla="*/ 41 h 51"/>
                <a:gd name="T56" fmla="*/ 3 w 497"/>
                <a:gd name="T57" fmla="*/ 34 h 51"/>
                <a:gd name="T58" fmla="*/ 3 w 497"/>
                <a:gd name="T59" fmla="*/ 28 h 51"/>
                <a:gd name="T60" fmla="*/ 3 w 497"/>
                <a:gd name="T61" fmla="*/ 21 h 51"/>
                <a:gd name="T62" fmla="*/ 3 w 497"/>
                <a:gd name="T63" fmla="*/ 14 h 51"/>
                <a:gd name="T64" fmla="*/ 3 w 497"/>
                <a:gd name="T65" fmla="*/ 9 h 51"/>
                <a:gd name="T66" fmla="*/ 3 w 497"/>
                <a:gd name="T67" fmla="*/ 3 h 51"/>
                <a:gd name="T68" fmla="*/ 1 w 49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7" h="51">
                  <a:moveTo>
                    <a:pt x="497" y="24"/>
                  </a:moveTo>
                  <a:lnTo>
                    <a:pt x="497" y="21"/>
                  </a:lnTo>
                  <a:lnTo>
                    <a:pt x="497" y="18"/>
                  </a:lnTo>
                  <a:lnTo>
                    <a:pt x="497" y="14"/>
                  </a:lnTo>
                  <a:lnTo>
                    <a:pt x="497" y="11"/>
                  </a:lnTo>
                  <a:lnTo>
                    <a:pt x="497" y="9"/>
                  </a:lnTo>
                  <a:lnTo>
                    <a:pt x="497" y="6"/>
                  </a:lnTo>
                  <a:lnTo>
                    <a:pt x="497" y="3"/>
                  </a:lnTo>
                  <a:lnTo>
                    <a:pt x="497" y="0"/>
                  </a:lnTo>
                  <a:lnTo>
                    <a:pt x="493" y="0"/>
                  </a:lnTo>
                  <a:lnTo>
                    <a:pt x="493" y="3"/>
                  </a:lnTo>
                  <a:lnTo>
                    <a:pt x="493" y="6"/>
                  </a:lnTo>
                  <a:lnTo>
                    <a:pt x="493" y="9"/>
                  </a:lnTo>
                  <a:lnTo>
                    <a:pt x="493" y="11"/>
                  </a:lnTo>
                  <a:lnTo>
                    <a:pt x="493" y="14"/>
                  </a:lnTo>
                  <a:lnTo>
                    <a:pt x="493" y="18"/>
                  </a:lnTo>
                  <a:lnTo>
                    <a:pt x="493" y="21"/>
                  </a:lnTo>
                  <a:lnTo>
                    <a:pt x="493" y="24"/>
                  </a:lnTo>
                  <a:lnTo>
                    <a:pt x="493" y="28"/>
                  </a:lnTo>
                  <a:lnTo>
                    <a:pt x="493" y="31"/>
                  </a:lnTo>
                  <a:lnTo>
                    <a:pt x="493" y="34"/>
                  </a:lnTo>
                  <a:lnTo>
                    <a:pt x="493" y="38"/>
                  </a:lnTo>
                  <a:lnTo>
                    <a:pt x="493" y="41"/>
                  </a:lnTo>
                  <a:lnTo>
                    <a:pt x="493" y="44"/>
                  </a:lnTo>
                  <a:lnTo>
                    <a:pt x="493" y="48"/>
                  </a:lnTo>
                  <a:lnTo>
                    <a:pt x="493" y="51"/>
                  </a:lnTo>
                  <a:lnTo>
                    <a:pt x="497" y="51"/>
                  </a:lnTo>
                  <a:lnTo>
                    <a:pt x="497" y="48"/>
                  </a:lnTo>
                  <a:lnTo>
                    <a:pt x="497" y="44"/>
                  </a:lnTo>
                  <a:lnTo>
                    <a:pt x="497" y="41"/>
                  </a:lnTo>
                  <a:lnTo>
                    <a:pt x="497" y="38"/>
                  </a:lnTo>
                  <a:lnTo>
                    <a:pt x="497" y="34"/>
                  </a:lnTo>
                  <a:lnTo>
                    <a:pt x="497" y="31"/>
                  </a:lnTo>
                  <a:lnTo>
                    <a:pt x="497" y="28"/>
                  </a:lnTo>
                  <a:lnTo>
                    <a:pt x="49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25" name="Freeform 366">
              <a:extLst>
                <a:ext uri="{FF2B5EF4-FFF2-40B4-BE49-F238E27FC236}">
                  <a16:creationId xmlns:a16="http://schemas.microsoft.com/office/drawing/2014/main" id="{CE248C98-91FB-8C0B-BD30-A5DA8C26BFEE}"/>
                </a:ext>
              </a:extLst>
            </p:cNvPr>
            <p:cNvSpPr>
              <a:spLocks noEditPoints="1"/>
            </p:cNvSpPr>
            <p:nvPr/>
          </p:nvSpPr>
          <p:spPr bwMode="auto">
            <a:xfrm>
              <a:off x="1364" y="1713"/>
              <a:ext cx="494" cy="51"/>
            </a:xfrm>
            <a:custGeom>
              <a:avLst/>
              <a:gdLst>
                <a:gd name="T0" fmla="*/ 494 w 494"/>
                <a:gd name="T1" fmla="*/ 21 h 51"/>
                <a:gd name="T2" fmla="*/ 494 w 494"/>
                <a:gd name="T3" fmla="*/ 14 h 51"/>
                <a:gd name="T4" fmla="*/ 494 w 494"/>
                <a:gd name="T5" fmla="*/ 9 h 51"/>
                <a:gd name="T6" fmla="*/ 494 w 494"/>
                <a:gd name="T7" fmla="*/ 3 h 51"/>
                <a:gd name="T8" fmla="*/ 491 w 494"/>
                <a:gd name="T9" fmla="*/ 0 h 51"/>
                <a:gd name="T10" fmla="*/ 491 w 494"/>
                <a:gd name="T11" fmla="*/ 6 h 51"/>
                <a:gd name="T12" fmla="*/ 491 w 494"/>
                <a:gd name="T13" fmla="*/ 11 h 51"/>
                <a:gd name="T14" fmla="*/ 491 w 494"/>
                <a:gd name="T15" fmla="*/ 18 h 51"/>
                <a:gd name="T16" fmla="*/ 491 w 494"/>
                <a:gd name="T17" fmla="*/ 24 h 51"/>
                <a:gd name="T18" fmla="*/ 491 w 494"/>
                <a:gd name="T19" fmla="*/ 31 h 51"/>
                <a:gd name="T20" fmla="*/ 491 w 494"/>
                <a:gd name="T21" fmla="*/ 38 h 51"/>
                <a:gd name="T22" fmla="*/ 491 w 494"/>
                <a:gd name="T23" fmla="*/ 44 h 51"/>
                <a:gd name="T24" fmla="*/ 491 w 494"/>
                <a:gd name="T25" fmla="*/ 51 h 51"/>
                <a:gd name="T26" fmla="*/ 494 w 494"/>
                <a:gd name="T27" fmla="*/ 48 h 51"/>
                <a:gd name="T28" fmla="*/ 494 w 494"/>
                <a:gd name="T29" fmla="*/ 41 h 51"/>
                <a:gd name="T30" fmla="*/ 494 w 494"/>
                <a:gd name="T31" fmla="*/ 34 h 51"/>
                <a:gd name="T32" fmla="*/ 494 w 494"/>
                <a:gd name="T33" fmla="*/ 28 h 51"/>
                <a:gd name="T34" fmla="*/ 2 w 494"/>
                <a:gd name="T35" fmla="*/ 0 h 51"/>
                <a:gd name="T36" fmla="*/ 0 w 494"/>
                <a:gd name="T37" fmla="*/ 6 h 51"/>
                <a:gd name="T38" fmla="*/ 0 w 494"/>
                <a:gd name="T39" fmla="*/ 11 h 51"/>
                <a:gd name="T40" fmla="*/ 0 w 494"/>
                <a:gd name="T41" fmla="*/ 18 h 51"/>
                <a:gd name="T42" fmla="*/ 0 w 494"/>
                <a:gd name="T43" fmla="*/ 24 h 51"/>
                <a:gd name="T44" fmla="*/ 0 w 494"/>
                <a:gd name="T45" fmla="*/ 31 h 51"/>
                <a:gd name="T46" fmla="*/ 0 w 494"/>
                <a:gd name="T47" fmla="*/ 38 h 51"/>
                <a:gd name="T48" fmla="*/ 0 w 494"/>
                <a:gd name="T49" fmla="*/ 44 h 51"/>
                <a:gd name="T50" fmla="*/ 0 w 494"/>
                <a:gd name="T51" fmla="*/ 51 h 51"/>
                <a:gd name="T52" fmla="*/ 4 w 494"/>
                <a:gd name="T53" fmla="*/ 48 h 51"/>
                <a:gd name="T54" fmla="*/ 4 w 494"/>
                <a:gd name="T55" fmla="*/ 41 h 51"/>
                <a:gd name="T56" fmla="*/ 4 w 494"/>
                <a:gd name="T57" fmla="*/ 34 h 51"/>
                <a:gd name="T58" fmla="*/ 4 w 494"/>
                <a:gd name="T59" fmla="*/ 28 h 51"/>
                <a:gd name="T60" fmla="*/ 4 w 494"/>
                <a:gd name="T61" fmla="*/ 21 h 51"/>
                <a:gd name="T62" fmla="*/ 4 w 494"/>
                <a:gd name="T63" fmla="*/ 14 h 51"/>
                <a:gd name="T64" fmla="*/ 4 w 494"/>
                <a:gd name="T65" fmla="*/ 9 h 51"/>
                <a:gd name="T66" fmla="*/ 4 w 494"/>
                <a:gd name="T67" fmla="*/ 3 h 51"/>
                <a:gd name="T68" fmla="*/ 2 w 49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4" h="51">
                  <a:moveTo>
                    <a:pt x="494" y="24"/>
                  </a:moveTo>
                  <a:lnTo>
                    <a:pt x="494" y="21"/>
                  </a:lnTo>
                  <a:lnTo>
                    <a:pt x="494" y="18"/>
                  </a:lnTo>
                  <a:lnTo>
                    <a:pt x="494" y="14"/>
                  </a:lnTo>
                  <a:lnTo>
                    <a:pt x="494" y="11"/>
                  </a:lnTo>
                  <a:lnTo>
                    <a:pt x="494" y="9"/>
                  </a:lnTo>
                  <a:lnTo>
                    <a:pt x="494" y="6"/>
                  </a:lnTo>
                  <a:lnTo>
                    <a:pt x="494" y="3"/>
                  </a:lnTo>
                  <a:lnTo>
                    <a:pt x="494" y="0"/>
                  </a:lnTo>
                  <a:lnTo>
                    <a:pt x="491" y="0"/>
                  </a:lnTo>
                  <a:lnTo>
                    <a:pt x="491" y="3"/>
                  </a:lnTo>
                  <a:lnTo>
                    <a:pt x="491" y="6"/>
                  </a:lnTo>
                  <a:lnTo>
                    <a:pt x="491" y="9"/>
                  </a:lnTo>
                  <a:lnTo>
                    <a:pt x="491" y="11"/>
                  </a:lnTo>
                  <a:lnTo>
                    <a:pt x="491" y="14"/>
                  </a:lnTo>
                  <a:lnTo>
                    <a:pt x="491" y="18"/>
                  </a:lnTo>
                  <a:lnTo>
                    <a:pt x="491" y="21"/>
                  </a:lnTo>
                  <a:lnTo>
                    <a:pt x="491" y="24"/>
                  </a:lnTo>
                  <a:lnTo>
                    <a:pt x="491" y="28"/>
                  </a:lnTo>
                  <a:lnTo>
                    <a:pt x="491" y="31"/>
                  </a:lnTo>
                  <a:lnTo>
                    <a:pt x="491" y="34"/>
                  </a:lnTo>
                  <a:lnTo>
                    <a:pt x="491" y="38"/>
                  </a:lnTo>
                  <a:lnTo>
                    <a:pt x="491" y="41"/>
                  </a:lnTo>
                  <a:lnTo>
                    <a:pt x="491" y="44"/>
                  </a:lnTo>
                  <a:lnTo>
                    <a:pt x="491" y="48"/>
                  </a:lnTo>
                  <a:lnTo>
                    <a:pt x="491" y="51"/>
                  </a:lnTo>
                  <a:lnTo>
                    <a:pt x="494" y="51"/>
                  </a:lnTo>
                  <a:lnTo>
                    <a:pt x="494" y="48"/>
                  </a:lnTo>
                  <a:lnTo>
                    <a:pt x="494" y="44"/>
                  </a:lnTo>
                  <a:lnTo>
                    <a:pt x="494" y="41"/>
                  </a:lnTo>
                  <a:lnTo>
                    <a:pt x="494" y="38"/>
                  </a:lnTo>
                  <a:lnTo>
                    <a:pt x="494" y="34"/>
                  </a:lnTo>
                  <a:lnTo>
                    <a:pt x="494" y="31"/>
                  </a:lnTo>
                  <a:lnTo>
                    <a:pt x="494" y="28"/>
                  </a:lnTo>
                  <a:lnTo>
                    <a:pt x="49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26" name="Freeform 367">
              <a:extLst>
                <a:ext uri="{FF2B5EF4-FFF2-40B4-BE49-F238E27FC236}">
                  <a16:creationId xmlns:a16="http://schemas.microsoft.com/office/drawing/2014/main" id="{C60AD57D-D471-31D1-EDA0-BE4B9C9A7880}"/>
                </a:ext>
              </a:extLst>
            </p:cNvPr>
            <p:cNvSpPr>
              <a:spLocks noEditPoints="1"/>
            </p:cNvSpPr>
            <p:nvPr/>
          </p:nvSpPr>
          <p:spPr bwMode="auto">
            <a:xfrm>
              <a:off x="1366" y="1713"/>
              <a:ext cx="490" cy="51"/>
            </a:xfrm>
            <a:custGeom>
              <a:avLst/>
              <a:gdLst>
                <a:gd name="T0" fmla="*/ 490 w 490"/>
                <a:gd name="T1" fmla="*/ 21 h 51"/>
                <a:gd name="T2" fmla="*/ 490 w 490"/>
                <a:gd name="T3" fmla="*/ 14 h 51"/>
                <a:gd name="T4" fmla="*/ 490 w 490"/>
                <a:gd name="T5" fmla="*/ 9 h 51"/>
                <a:gd name="T6" fmla="*/ 490 w 490"/>
                <a:gd name="T7" fmla="*/ 3 h 51"/>
                <a:gd name="T8" fmla="*/ 487 w 490"/>
                <a:gd name="T9" fmla="*/ 0 h 51"/>
                <a:gd name="T10" fmla="*/ 487 w 490"/>
                <a:gd name="T11" fmla="*/ 6 h 51"/>
                <a:gd name="T12" fmla="*/ 487 w 490"/>
                <a:gd name="T13" fmla="*/ 11 h 51"/>
                <a:gd name="T14" fmla="*/ 487 w 490"/>
                <a:gd name="T15" fmla="*/ 18 h 51"/>
                <a:gd name="T16" fmla="*/ 487 w 490"/>
                <a:gd name="T17" fmla="*/ 24 h 51"/>
                <a:gd name="T18" fmla="*/ 487 w 490"/>
                <a:gd name="T19" fmla="*/ 31 h 51"/>
                <a:gd name="T20" fmla="*/ 487 w 490"/>
                <a:gd name="T21" fmla="*/ 38 h 51"/>
                <a:gd name="T22" fmla="*/ 487 w 490"/>
                <a:gd name="T23" fmla="*/ 44 h 51"/>
                <a:gd name="T24" fmla="*/ 487 w 490"/>
                <a:gd name="T25" fmla="*/ 51 h 51"/>
                <a:gd name="T26" fmla="*/ 490 w 490"/>
                <a:gd name="T27" fmla="*/ 48 h 51"/>
                <a:gd name="T28" fmla="*/ 490 w 490"/>
                <a:gd name="T29" fmla="*/ 41 h 51"/>
                <a:gd name="T30" fmla="*/ 490 w 490"/>
                <a:gd name="T31" fmla="*/ 34 h 51"/>
                <a:gd name="T32" fmla="*/ 490 w 490"/>
                <a:gd name="T33" fmla="*/ 28 h 51"/>
                <a:gd name="T34" fmla="*/ 2 w 490"/>
                <a:gd name="T35" fmla="*/ 0 h 51"/>
                <a:gd name="T36" fmla="*/ 0 w 490"/>
                <a:gd name="T37" fmla="*/ 6 h 51"/>
                <a:gd name="T38" fmla="*/ 0 w 490"/>
                <a:gd name="T39" fmla="*/ 11 h 51"/>
                <a:gd name="T40" fmla="*/ 0 w 490"/>
                <a:gd name="T41" fmla="*/ 18 h 51"/>
                <a:gd name="T42" fmla="*/ 0 w 490"/>
                <a:gd name="T43" fmla="*/ 24 h 51"/>
                <a:gd name="T44" fmla="*/ 0 w 490"/>
                <a:gd name="T45" fmla="*/ 31 h 51"/>
                <a:gd name="T46" fmla="*/ 0 w 490"/>
                <a:gd name="T47" fmla="*/ 38 h 51"/>
                <a:gd name="T48" fmla="*/ 0 w 490"/>
                <a:gd name="T49" fmla="*/ 44 h 51"/>
                <a:gd name="T50" fmla="*/ 0 w 490"/>
                <a:gd name="T51" fmla="*/ 51 h 51"/>
                <a:gd name="T52" fmla="*/ 3 w 490"/>
                <a:gd name="T53" fmla="*/ 48 h 51"/>
                <a:gd name="T54" fmla="*/ 3 w 490"/>
                <a:gd name="T55" fmla="*/ 41 h 51"/>
                <a:gd name="T56" fmla="*/ 3 w 490"/>
                <a:gd name="T57" fmla="*/ 34 h 51"/>
                <a:gd name="T58" fmla="*/ 3 w 490"/>
                <a:gd name="T59" fmla="*/ 28 h 51"/>
                <a:gd name="T60" fmla="*/ 3 w 490"/>
                <a:gd name="T61" fmla="*/ 21 h 51"/>
                <a:gd name="T62" fmla="*/ 3 w 490"/>
                <a:gd name="T63" fmla="*/ 14 h 51"/>
                <a:gd name="T64" fmla="*/ 3 w 490"/>
                <a:gd name="T65" fmla="*/ 9 h 51"/>
                <a:gd name="T66" fmla="*/ 3 w 490"/>
                <a:gd name="T67" fmla="*/ 3 h 51"/>
                <a:gd name="T68" fmla="*/ 2 w 49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0" h="51">
                  <a:moveTo>
                    <a:pt x="490" y="24"/>
                  </a:moveTo>
                  <a:lnTo>
                    <a:pt x="490" y="21"/>
                  </a:lnTo>
                  <a:lnTo>
                    <a:pt x="490" y="18"/>
                  </a:lnTo>
                  <a:lnTo>
                    <a:pt x="490" y="14"/>
                  </a:lnTo>
                  <a:lnTo>
                    <a:pt x="490" y="11"/>
                  </a:lnTo>
                  <a:lnTo>
                    <a:pt x="490" y="9"/>
                  </a:lnTo>
                  <a:lnTo>
                    <a:pt x="490" y="6"/>
                  </a:lnTo>
                  <a:lnTo>
                    <a:pt x="490" y="3"/>
                  </a:lnTo>
                  <a:lnTo>
                    <a:pt x="490" y="0"/>
                  </a:lnTo>
                  <a:lnTo>
                    <a:pt x="487" y="0"/>
                  </a:lnTo>
                  <a:lnTo>
                    <a:pt x="487" y="3"/>
                  </a:lnTo>
                  <a:lnTo>
                    <a:pt x="487" y="6"/>
                  </a:lnTo>
                  <a:lnTo>
                    <a:pt x="487" y="9"/>
                  </a:lnTo>
                  <a:lnTo>
                    <a:pt x="487" y="11"/>
                  </a:lnTo>
                  <a:lnTo>
                    <a:pt x="487" y="14"/>
                  </a:lnTo>
                  <a:lnTo>
                    <a:pt x="487" y="18"/>
                  </a:lnTo>
                  <a:lnTo>
                    <a:pt x="487" y="21"/>
                  </a:lnTo>
                  <a:lnTo>
                    <a:pt x="487" y="24"/>
                  </a:lnTo>
                  <a:lnTo>
                    <a:pt x="487" y="28"/>
                  </a:lnTo>
                  <a:lnTo>
                    <a:pt x="487" y="31"/>
                  </a:lnTo>
                  <a:lnTo>
                    <a:pt x="487" y="34"/>
                  </a:lnTo>
                  <a:lnTo>
                    <a:pt x="487" y="38"/>
                  </a:lnTo>
                  <a:lnTo>
                    <a:pt x="487" y="41"/>
                  </a:lnTo>
                  <a:lnTo>
                    <a:pt x="487" y="44"/>
                  </a:lnTo>
                  <a:lnTo>
                    <a:pt x="487" y="48"/>
                  </a:lnTo>
                  <a:lnTo>
                    <a:pt x="487" y="51"/>
                  </a:lnTo>
                  <a:lnTo>
                    <a:pt x="490" y="51"/>
                  </a:lnTo>
                  <a:lnTo>
                    <a:pt x="490" y="48"/>
                  </a:lnTo>
                  <a:lnTo>
                    <a:pt x="490" y="44"/>
                  </a:lnTo>
                  <a:lnTo>
                    <a:pt x="490" y="41"/>
                  </a:lnTo>
                  <a:lnTo>
                    <a:pt x="490" y="38"/>
                  </a:lnTo>
                  <a:lnTo>
                    <a:pt x="490" y="34"/>
                  </a:lnTo>
                  <a:lnTo>
                    <a:pt x="490" y="31"/>
                  </a:lnTo>
                  <a:lnTo>
                    <a:pt x="490" y="28"/>
                  </a:lnTo>
                  <a:lnTo>
                    <a:pt x="49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27" name="Freeform 368">
              <a:extLst>
                <a:ext uri="{FF2B5EF4-FFF2-40B4-BE49-F238E27FC236}">
                  <a16:creationId xmlns:a16="http://schemas.microsoft.com/office/drawing/2014/main" id="{26627E57-3A80-318F-F418-FD228A406DFE}"/>
                </a:ext>
              </a:extLst>
            </p:cNvPr>
            <p:cNvSpPr>
              <a:spLocks noEditPoints="1"/>
            </p:cNvSpPr>
            <p:nvPr/>
          </p:nvSpPr>
          <p:spPr bwMode="auto">
            <a:xfrm>
              <a:off x="1368" y="1713"/>
              <a:ext cx="487" cy="51"/>
            </a:xfrm>
            <a:custGeom>
              <a:avLst/>
              <a:gdLst>
                <a:gd name="T0" fmla="*/ 487 w 487"/>
                <a:gd name="T1" fmla="*/ 21 h 51"/>
                <a:gd name="T2" fmla="*/ 487 w 487"/>
                <a:gd name="T3" fmla="*/ 14 h 51"/>
                <a:gd name="T4" fmla="*/ 487 w 487"/>
                <a:gd name="T5" fmla="*/ 9 h 51"/>
                <a:gd name="T6" fmla="*/ 487 w 487"/>
                <a:gd name="T7" fmla="*/ 3 h 51"/>
                <a:gd name="T8" fmla="*/ 483 w 487"/>
                <a:gd name="T9" fmla="*/ 0 h 51"/>
                <a:gd name="T10" fmla="*/ 483 w 487"/>
                <a:gd name="T11" fmla="*/ 6 h 51"/>
                <a:gd name="T12" fmla="*/ 483 w 487"/>
                <a:gd name="T13" fmla="*/ 11 h 51"/>
                <a:gd name="T14" fmla="*/ 483 w 487"/>
                <a:gd name="T15" fmla="*/ 18 h 51"/>
                <a:gd name="T16" fmla="*/ 483 w 487"/>
                <a:gd name="T17" fmla="*/ 24 h 51"/>
                <a:gd name="T18" fmla="*/ 483 w 487"/>
                <a:gd name="T19" fmla="*/ 31 h 51"/>
                <a:gd name="T20" fmla="*/ 483 w 487"/>
                <a:gd name="T21" fmla="*/ 38 h 51"/>
                <a:gd name="T22" fmla="*/ 483 w 487"/>
                <a:gd name="T23" fmla="*/ 44 h 51"/>
                <a:gd name="T24" fmla="*/ 483 w 487"/>
                <a:gd name="T25" fmla="*/ 51 h 51"/>
                <a:gd name="T26" fmla="*/ 487 w 487"/>
                <a:gd name="T27" fmla="*/ 48 h 51"/>
                <a:gd name="T28" fmla="*/ 487 w 487"/>
                <a:gd name="T29" fmla="*/ 41 h 51"/>
                <a:gd name="T30" fmla="*/ 487 w 487"/>
                <a:gd name="T31" fmla="*/ 34 h 51"/>
                <a:gd name="T32" fmla="*/ 487 w 487"/>
                <a:gd name="T33" fmla="*/ 28 h 51"/>
                <a:gd name="T34" fmla="*/ 1 w 487"/>
                <a:gd name="T35" fmla="*/ 0 h 51"/>
                <a:gd name="T36" fmla="*/ 0 w 487"/>
                <a:gd name="T37" fmla="*/ 6 h 51"/>
                <a:gd name="T38" fmla="*/ 0 w 487"/>
                <a:gd name="T39" fmla="*/ 11 h 51"/>
                <a:gd name="T40" fmla="*/ 0 w 487"/>
                <a:gd name="T41" fmla="*/ 18 h 51"/>
                <a:gd name="T42" fmla="*/ 0 w 487"/>
                <a:gd name="T43" fmla="*/ 24 h 51"/>
                <a:gd name="T44" fmla="*/ 0 w 487"/>
                <a:gd name="T45" fmla="*/ 31 h 51"/>
                <a:gd name="T46" fmla="*/ 0 w 487"/>
                <a:gd name="T47" fmla="*/ 38 h 51"/>
                <a:gd name="T48" fmla="*/ 0 w 487"/>
                <a:gd name="T49" fmla="*/ 44 h 51"/>
                <a:gd name="T50" fmla="*/ 0 w 487"/>
                <a:gd name="T51" fmla="*/ 51 h 51"/>
                <a:gd name="T52" fmla="*/ 3 w 487"/>
                <a:gd name="T53" fmla="*/ 48 h 51"/>
                <a:gd name="T54" fmla="*/ 3 w 487"/>
                <a:gd name="T55" fmla="*/ 41 h 51"/>
                <a:gd name="T56" fmla="*/ 3 w 487"/>
                <a:gd name="T57" fmla="*/ 34 h 51"/>
                <a:gd name="T58" fmla="*/ 3 w 487"/>
                <a:gd name="T59" fmla="*/ 28 h 51"/>
                <a:gd name="T60" fmla="*/ 3 w 487"/>
                <a:gd name="T61" fmla="*/ 21 h 51"/>
                <a:gd name="T62" fmla="*/ 3 w 487"/>
                <a:gd name="T63" fmla="*/ 14 h 51"/>
                <a:gd name="T64" fmla="*/ 3 w 487"/>
                <a:gd name="T65" fmla="*/ 9 h 51"/>
                <a:gd name="T66" fmla="*/ 3 w 487"/>
                <a:gd name="T67" fmla="*/ 3 h 51"/>
                <a:gd name="T68" fmla="*/ 1 w 48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7" h="51">
                  <a:moveTo>
                    <a:pt x="487" y="24"/>
                  </a:moveTo>
                  <a:lnTo>
                    <a:pt x="487" y="21"/>
                  </a:lnTo>
                  <a:lnTo>
                    <a:pt x="487" y="18"/>
                  </a:lnTo>
                  <a:lnTo>
                    <a:pt x="487" y="14"/>
                  </a:lnTo>
                  <a:lnTo>
                    <a:pt x="487" y="11"/>
                  </a:lnTo>
                  <a:lnTo>
                    <a:pt x="487" y="9"/>
                  </a:lnTo>
                  <a:lnTo>
                    <a:pt x="487" y="6"/>
                  </a:lnTo>
                  <a:lnTo>
                    <a:pt x="487" y="3"/>
                  </a:lnTo>
                  <a:lnTo>
                    <a:pt x="487" y="0"/>
                  </a:lnTo>
                  <a:lnTo>
                    <a:pt x="483" y="0"/>
                  </a:lnTo>
                  <a:lnTo>
                    <a:pt x="483" y="3"/>
                  </a:lnTo>
                  <a:lnTo>
                    <a:pt x="483" y="6"/>
                  </a:lnTo>
                  <a:lnTo>
                    <a:pt x="483" y="9"/>
                  </a:lnTo>
                  <a:lnTo>
                    <a:pt x="483" y="11"/>
                  </a:lnTo>
                  <a:lnTo>
                    <a:pt x="483" y="14"/>
                  </a:lnTo>
                  <a:lnTo>
                    <a:pt x="483" y="18"/>
                  </a:lnTo>
                  <a:lnTo>
                    <a:pt x="483" y="21"/>
                  </a:lnTo>
                  <a:lnTo>
                    <a:pt x="483" y="24"/>
                  </a:lnTo>
                  <a:lnTo>
                    <a:pt x="483" y="28"/>
                  </a:lnTo>
                  <a:lnTo>
                    <a:pt x="483" y="31"/>
                  </a:lnTo>
                  <a:lnTo>
                    <a:pt x="483" y="34"/>
                  </a:lnTo>
                  <a:lnTo>
                    <a:pt x="483" y="38"/>
                  </a:lnTo>
                  <a:lnTo>
                    <a:pt x="483" y="41"/>
                  </a:lnTo>
                  <a:lnTo>
                    <a:pt x="483" y="44"/>
                  </a:lnTo>
                  <a:lnTo>
                    <a:pt x="483" y="48"/>
                  </a:lnTo>
                  <a:lnTo>
                    <a:pt x="483" y="51"/>
                  </a:lnTo>
                  <a:lnTo>
                    <a:pt x="487" y="51"/>
                  </a:lnTo>
                  <a:lnTo>
                    <a:pt x="487" y="48"/>
                  </a:lnTo>
                  <a:lnTo>
                    <a:pt x="487" y="44"/>
                  </a:lnTo>
                  <a:lnTo>
                    <a:pt x="487" y="41"/>
                  </a:lnTo>
                  <a:lnTo>
                    <a:pt x="487" y="38"/>
                  </a:lnTo>
                  <a:lnTo>
                    <a:pt x="487" y="34"/>
                  </a:lnTo>
                  <a:lnTo>
                    <a:pt x="487" y="31"/>
                  </a:lnTo>
                  <a:lnTo>
                    <a:pt x="487" y="28"/>
                  </a:lnTo>
                  <a:lnTo>
                    <a:pt x="48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28" name="Freeform 369">
              <a:extLst>
                <a:ext uri="{FF2B5EF4-FFF2-40B4-BE49-F238E27FC236}">
                  <a16:creationId xmlns:a16="http://schemas.microsoft.com/office/drawing/2014/main" id="{10A9C245-C51D-A6FC-9BD7-E6AD27E35924}"/>
                </a:ext>
              </a:extLst>
            </p:cNvPr>
            <p:cNvSpPr>
              <a:spLocks noEditPoints="1"/>
            </p:cNvSpPr>
            <p:nvPr/>
          </p:nvSpPr>
          <p:spPr bwMode="auto">
            <a:xfrm>
              <a:off x="1369" y="1713"/>
              <a:ext cx="484" cy="51"/>
            </a:xfrm>
            <a:custGeom>
              <a:avLst/>
              <a:gdLst>
                <a:gd name="T0" fmla="*/ 484 w 484"/>
                <a:gd name="T1" fmla="*/ 21 h 51"/>
                <a:gd name="T2" fmla="*/ 484 w 484"/>
                <a:gd name="T3" fmla="*/ 14 h 51"/>
                <a:gd name="T4" fmla="*/ 484 w 484"/>
                <a:gd name="T5" fmla="*/ 9 h 51"/>
                <a:gd name="T6" fmla="*/ 484 w 484"/>
                <a:gd name="T7" fmla="*/ 3 h 51"/>
                <a:gd name="T8" fmla="*/ 481 w 484"/>
                <a:gd name="T9" fmla="*/ 0 h 51"/>
                <a:gd name="T10" fmla="*/ 481 w 484"/>
                <a:gd name="T11" fmla="*/ 6 h 51"/>
                <a:gd name="T12" fmla="*/ 481 w 484"/>
                <a:gd name="T13" fmla="*/ 11 h 51"/>
                <a:gd name="T14" fmla="*/ 481 w 484"/>
                <a:gd name="T15" fmla="*/ 18 h 51"/>
                <a:gd name="T16" fmla="*/ 481 w 484"/>
                <a:gd name="T17" fmla="*/ 24 h 51"/>
                <a:gd name="T18" fmla="*/ 481 w 484"/>
                <a:gd name="T19" fmla="*/ 31 h 51"/>
                <a:gd name="T20" fmla="*/ 481 w 484"/>
                <a:gd name="T21" fmla="*/ 38 h 51"/>
                <a:gd name="T22" fmla="*/ 481 w 484"/>
                <a:gd name="T23" fmla="*/ 44 h 51"/>
                <a:gd name="T24" fmla="*/ 481 w 484"/>
                <a:gd name="T25" fmla="*/ 51 h 51"/>
                <a:gd name="T26" fmla="*/ 484 w 484"/>
                <a:gd name="T27" fmla="*/ 48 h 51"/>
                <a:gd name="T28" fmla="*/ 484 w 484"/>
                <a:gd name="T29" fmla="*/ 41 h 51"/>
                <a:gd name="T30" fmla="*/ 484 w 484"/>
                <a:gd name="T31" fmla="*/ 34 h 51"/>
                <a:gd name="T32" fmla="*/ 484 w 484"/>
                <a:gd name="T33" fmla="*/ 28 h 51"/>
                <a:gd name="T34" fmla="*/ 2 w 484"/>
                <a:gd name="T35" fmla="*/ 0 h 51"/>
                <a:gd name="T36" fmla="*/ 0 w 484"/>
                <a:gd name="T37" fmla="*/ 6 h 51"/>
                <a:gd name="T38" fmla="*/ 0 w 484"/>
                <a:gd name="T39" fmla="*/ 11 h 51"/>
                <a:gd name="T40" fmla="*/ 0 w 484"/>
                <a:gd name="T41" fmla="*/ 18 h 51"/>
                <a:gd name="T42" fmla="*/ 0 w 484"/>
                <a:gd name="T43" fmla="*/ 24 h 51"/>
                <a:gd name="T44" fmla="*/ 0 w 484"/>
                <a:gd name="T45" fmla="*/ 31 h 51"/>
                <a:gd name="T46" fmla="*/ 0 w 484"/>
                <a:gd name="T47" fmla="*/ 38 h 51"/>
                <a:gd name="T48" fmla="*/ 0 w 484"/>
                <a:gd name="T49" fmla="*/ 44 h 51"/>
                <a:gd name="T50" fmla="*/ 0 w 484"/>
                <a:gd name="T51" fmla="*/ 51 h 51"/>
                <a:gd name="T52" fmla="*/ 4 w 484"/>
                <a:gd name="T53" fmla="*/ 48 h 51"/>
                <a:gd name="T54" fmla="*/ 4 w 484"/>
                <a:gd name="T55" fmla="*/ 41 h 51"/>
                <a:gd name="T56" fmla="*/ 4 w 484"/>
                <a:gd name="T57" fmla="*/ 34 h 51"/>
                <a:gd name="T58" fmla="*/ 4 w 484"/>
                <a:gd name="T59" fmla="*/ 28 h 51"/>
                <a:gd name="T60" fmla="*/ 4 w 484"/>
                <a:gd name="T61" fmla="*/ 21 h 51"/>
                <a:gd name="T62" fmla="*/ 4 w 484"/>
                <a:gd name="T63" fmla="*/ 14 h 51"/>
                <a:gd name="T64" fmla="*/ 4 w 484"/>
                <a:gd name="T65" fmla="*/ 9 h 51"/>
                <a:gd name="T66" fmla="*/ 4 w 484"/>
                <a:gd name="T67" fmla="*/ 3 h 51"/>
                <a:gd name="T68" fmla="*/ 2 w 48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4" h="51">
                  <a:moveTo>
                    <a:pt x="484" y="24"/>
                  </a:moveTo>
                  <a:lnTo>
                    <a:pt x="484" y="21"/>
                  </a:lnTo>
                  <a:lnTo>
                    <a:pt x="484" y="18"/>
                  </a:lnTo>
                  <a:lnTo>
                    <a:pt x="484" y="14"/>
                  </a:lnTo>
                  <a:lnTo>
                    <a:pt x="484" y="11"/>
                  </a:lnTo>
                  <a:lnTo>
                    <a:pt x="484" y="9"/>
                  </a:lnTo>
                  <a:lnTo>
                    <a:pt x="484" y="6"/>
                  </a:lnTo>
                  <a:lnTo>
                    <a:pt x="484" y="3"/>
                  </a:lnTo>
                  <a:lnTo>
                    <a:pt x="484" y="0"/>
                  </a:lnTo>
                  <a:lnTo>
                    <a:pt x="481" y="0"/>
                  </a:lnTo>
                  <a:lnTo>
                    <a:pt x="481" y="3"/>
                  </a:lnTo>
                  <a:lnTo>
                    <a:pt x="481" y="6"/>
                  </a:lnTo>
                  <a:lnTo>
                    <a:pt x="481" y="9"/>
                  </a:lnTo>
                  <a:lnTo>
                    <a:pt x="481" y="11"/>
                  </a:lnTo>
                  <a:lnTo>
                    <a:pt x="481" y="14"/>
                  </a:lnTo>
                  <a:lnTo>
                    <a:pt x="481" y="18"/>
                  </a:lnTo>
                  <a:lnTo>
                    <a:pt x="481" y="21"/>
                  </a:lnTo>
                  <a:lnTo>
                    <a:pt x="481" y="24"/>
                  </a:lnTo>
                  <a:lnTo>
                    <a:pt x="481" y="28"/>
                  </a:lnTo>
                  <a:lnTo>
                    <a:pt x="481" y="31"/>
                  </a:lnTo>
                  <a:lnTo>
                    <a:pt x="481" y="34"/>
                  </a:lnTo>
                  <a:lnTo>
                    <a:pt x="481" y="38"/>
                  </a:lnTo>
                  <a:lnTo>
                    <a:pt x="481" y="41"/>
                  </a:lnTo>
                  <a:lnTo>
                    <a:pt x="481" y="44"/>
                  </a:lnTo>
                  <a:lnTo>
                    <a:pt x="481" y="48"/>
                  </a:lnTo>
                  <a:lnTo>
                    <a:pt x="481" y="51"/>
                  </a:lnTo>
                  <a:lnTo>
                    <a:pt x="484" y="51"/>
                  </a:lnTo>
                  <a:lnTo>
                    <a:pt x="484" y="48"/>
                  </a:lnTo>
                  <a:lnTo>
                    <a:pt x="484" y="44"/>
                  </a:lnTo>
                  <a:lnTo>
                    <a:pt x="484" y="41"/>
                  </a:lnTo>
                  <a:lnTo>
                    <a:pt x="484" y="38"/>
                  </a:lnTo>
                  <a:lnTo>
                    <a:pt x="484" y="34"/>
                  </a:lnTo>
                  <a:lnTo>
                    <a:pt x="484" y="31"/>
                  </a:lnTo>
                  <a:lnTo>
                    <a:pt x="484" y="28"/>
                  </a:lnTo>
                  <a:lnTo>
                    <a:pt x="48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29" name="Freeform 370">
              <a:extLst>
                <a:ext uri="{FF2B5EF4-FFF2-40B4-BE49-F238E27FC236}">
                  <a16:creationId xmlns:a16="http://schemas.microsoft.com/office/drawing/2014/main" id="{24AA33E4-4300-8AD5-1BC7-98D4D7F1A4F4}"/>
                </a:ext>
              </a:extLst>
            </p:cNvPr>
            <p:cNvSpPr>
              <a:spLocks noEditPoints="1"/>
            </p:cNvSpPr>
            <p:nvPr/>
          </p:nvSpPr>
          <p:spPr bwMode="auto">
            <a:xfrm>
              <a:off x="1371" y="1713"/>
              <a:ext cx="480" cy="51"/>
            </a:xfrm>
            <a:custGeom>
              <a:avLst/>
              <a:gdLst>
                <a:gd name="T0" fmla="*/ 480 w 480"/>
                <a:gd name="T1" fmla="*/ 21 h 51"/>
                <a:gd name="T2" fmla="*/ 480 w 480"/>
                <a:gd name="T3" fmla="*/ 14 h 51"/>
                <a:gd name="T4" fmla="*/ 480 w 480"/>
                <a:gd name="T5" fmla="*/ 9 h 51"/>
                <a:gd name="T6" fmla="*/ 480 w 480"/>
                <a:gd name="T7" fmla="*/ 3 h 51"/>
                <a:gd name="T8" fmla="*/ 477 w 480"/>
                <a:gd name="T9" fmla="*/ 0 h 51"/>
                <a:gd name="T10" fmla="*/ 477 w 480"/>
                <a:gd name="T11" fmla="*/ 6 h 51"/>
                <a:gd name="T12" fmla="*/ 477 w 480"/>
                <a:gd name="T13" fmla="*/ 11 h 51"/>
                <a:gd name="T14" fmla="*/ 477 w 480"/>
                <a:gd name="T15" fmla="*/ 18 h 51"/>
                <a:gd name="T16" fmla="*/ 477 w 480"/>
                <a:gd name="T17" fmla="*/ 24 h 51"/>
                <a:gd name="T18" fmla="*/ 477 w 480"/>
                <a:gd name="T19" fmla="*/ 31 h 51"/>
                <a:gd name="T20" fmla="*/ 477 w 480"/>
                <a:gd name="T21" fmla="*/ 38 h 51"/>
                <a:gd name="T22" fmla="*/ 477 w 480"/>
                <a:gd name="T23" fmla="*/ 44 h 51"/>
                <a:gd name="T24" fmla="*/ 477 w 480"/>
                <a:gd name="T25" fmla="*/ 51 h 51"/>
                <a:gd name="T26" fmla="*/ 480 w 480"/>
                <a:gd name="T27" fmla="*/ 48 h 51"/>
                <a:gd name="T28" fmla="*/ 480 w 480"/>
                <a:gd name="T29" fmla="*/ 41 h 51"/>
                <a:gd name="T30" fmla="*/ 480 w 480"/>
                <a:gd name="T31" fmla="*/ 34 h 51"/>
                <a:gd name="T32" fmla="*/ 480 w 480"/>
                <a:gd name="T33" fmla="*/ 28 h 51"/>
                <a:gd name="T34" fmla="*/ 2 w 480"/>
                <a:gd name="T35" fmla="*/ 0 h 51"/>
                <a:gd name="T36" fmla="*/ 0 w 480"/>
                <a:gd name="T37" fmla="*/ 6 h 51"/>
                <a:gd name="T38" fmla="*/ 0 w 480"/>
                <a:gd name="T39" fmla="*/ 11 h 51"/>
                <a:gd name="T40" fmla="*/ 0 w 480"/>
                <a:gd name="T41" fmla="*/ 18 h 51"/>
                <a:gd name="T42" fmla="*/ 0 w 480"/>
                <a:gd name="T43" fmla="*/ 24 h 51"/>
                <a:gd name="T44" fmla="*/ 0 w 480"/>
                <a:gd name="T45" fmla="*/ 31 h 51"/>
                <a:gd name="T46" fmla="*/ 0 w 480"/>
                <a:gd name="T47" fmla="*/ 38 h 51"/>
                <a:gd name="T48" fmla="*/ 0 w 480"/>
                <a:gd name="T49" fmla="*/ 44 h 51"/>
                <a:gd name="T50" fmla="*/ 0 w 480"/>
                <a:gd name="T51" fmla="*/ 51 h 51"/>
                <a:gd name="T52" fmla="*/ 3 w 480"/>
                <a:gd name="T53" fmla="*/ 48 h 51"/>
                <a:gd name="T54" fmla="*/ 3 w 480"/>
                <a:gd name="T55" fmla="*/ 41 h 51"/>
                <a:gd name="T56" fmla="*/ 3 w 480"/>
                <a:gd name="T57" fmla="*/ 34 h 51"/>
                <a:gd name="T58" fmla="*/ 3 w 480"/>
                <a:gd name="T59" fmla="*/ 28 h 51"/>
                <a:gd name="T60" fmla="*/ 3 w 480"/>
                <a:gd name="T61" fmla="*/ 21 h 51"/>
                <a:gd name="T62" fmla="*/ 3 w 480"/>
                <a:gd name="T63" fmla="*/ 14 h 51"/>
                <a:gd name="T64" fmla="*/ 3 w 480"/>
                <a:gd name="T65" fmla="*/ 9 h 51"/>
                <a:gd name="T66" fmla="*/ 3 w 480"/>
                <a:gd name="T67" fmla="*/ 3 h 51"/>
                <a:gd name="T68" fmla="*/ 2 w 48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0" h="51">
                  <a:moveTo>
                    <a:pt x="480" y="24"/>
                  </a:moveTo>
                  <a:lnTo>
                    <a:pt x="480" y="21"/>
                  </a:lnTo>
                  <a:lnTo>
                    <a:pt x="480" y="18"/>
                  </a:lnTo>
                  <a:lnTo>
                    <a:pt x="480" y="14"/>
                  </a:lnTo>
                  <a:lnTo>
                    <a:pt x="480" y="11"/>
                  </a:lnTo>
                  <a:lnTo>
                    <a:pt x="480" y="9"/>
                  </a:lnTo>
                  <a:lnTo>
                    <a:pt x="480" y="6"/>
                  </a:lnTo>
                  <a:lnTo>
                    <a:pt x="480" y="3"/>
                  </a:lnTo>
                  <a:lnTo>
                    <a:pt x="480" y="0"/>
                  </a:lnTo>
                  <a:lnTo>
                    <a:pt x="477" y="0"/>
                  </a:lnTo>
                  <a:lnTo>
                    <a:pt x="477" y="3"/>
                  </a:lnTo>
                  <a:lnTo>
                    <a:pt x="477" y="6"/>
                  </a:lnTo>
                  <a:lnTo>
                    <a:pt x="477" y="9"/>
                  </a:lnTo>
                  <a:lnTo>
                    <a:pt x="477" y="11"/>
                  </a:lnTo>
                  <a:lnTo>
                    <a:pt x="477" y="14"/>
                  </a:lnTo>
                  <a:lnTo>
                    <a:pt x="477" y="18"/>
                  </a:lnTo>
                  <a:lnTo>
                    <a:pt x="477" y="21"/>
                  </a:lnTo>
                  <a:lnTo>
                    <a:pt x="477" y="24"/>
                  </a:lnTo>
                  <a:lnTo>
                    <a:pt x="477" y="28"/>
                  </a:lnTo>
                  <a:lnTo>
                    <a:pt x="477" y="31"/>
                  </a:lnTo>
                  <a:lnTo>
                    <a:pt x="477" y="34"/>
                  </a:lnTo>
                  <a:lnTo>
                    <a:pt x="477" y="38"/>
                  </a:lnTo>
                  <a:lnTo>
                    <a:pt x="477" y="41"/>
                  </a:lnTo>
                  <a:lnTo>
                    <a:pt x="477" y="44"/>
                  </a:lnTo>
                  <a:lnTo>
                    <a:pt x="477" y="48"/>
                  </a:lnTo>
                  <a:lnTo>
                    <a:pt x="477" y="51"/>
                  </a:lnTo>
                  <a:lnTo>
                    <a:pt x="480" y="51"/>
                  </a:lnTo>
                  <a:lnTo>
                    <a:pt x="480" y="48"/>
                  </a:lnTo>
                  <a:lnTo>
                    <a:pt x="480" y="44"/>
                  </a:lnTo>
                  <a:lnTo>
                    <a:pt x="480" y="41"/>
                  </a:lnTo>
                  <a:lnTo>
                    <a:pt x="480" y="38"/>
                  </a:lnTo>
                  <a:lnTo>
                    <a:pt x="480" y="34"/>
                  </a:lnTo>
                  <a:lnTo>
                    <a:pt x="480" y="31"/>
                  </a:lnTo>
                  <a:lnTo>
                    <a:pt x="480" y="28"/>
                  </a:lnTo>
                  <a:lnTo>
                    <a:pt x="48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30" name="Freeform 371">
              <a:extLst>
                <a:ext uri="{FF2B5EF4-FFF2-40B4-BE49-F238E27FC236}">
                  <a16:creationId xmlns:a16="http://schemas.microsoft.com/office/drawing/2014/main" id="{274514CF-2B53-312B-76CE-371AB43ACEAB}"/>
                </a:ext>
              </a:extLst>
            </p:cNvPr>
            <p:cNvSpPr>
              <a:spLocks noEditPoints="1"/>
            </p:cNvSpPr>
            <p:nvPr/>
          </p:nvSpPr>
          <p:spPr bwMode="auto">
            <a:xfrm>
              <a:off x="1373" y="1713"/>
              <a:ext cx="477" cy="51"/>
            </a:xfrm>
            <a:custGeom>
              <a:avLst/>
              <a:gdLst>
                <a:gd name="T0" fmla="*/ 477 w 477"/>
                <a:gd name="T1" fmla="*/ 21 h 51"/>
                <a:gd name="T2" fmla="*/ 477 w 477"/>
                <a:gd name="T3" fmla="*/ 14 h 51"/>
                <a:gd name="T4" fmla="*/ 477 w 477"/>
                <a:gd name="T5" fmla="*/ 9 h 51"/>
                <a:gd name="T6" fmla="*/ 477 w 477"/>
                <a:gd name="T7" fmla="*/ 3 h 51"/>
                <a:gd name="T8" fmla="*/ 473 w 477"/>
                <a:gd name="T9" fmla="*/ 0 h 51"/>
                <a:gd name="T10" fmla="*/ 473 w 477"/>
                <a:gd name="T11" fmla="*/ 6 h 51"/>
                <a:gd name="T12" fmla="*/ 473 w 477"/>
                <a:gd name="T13" fmla="*/ 11 h 51"/>
                <a:gd name="T14" fmla="*/ 473 w 477"/>
                <a:gd name="T15" fmla="*/ 18 h 51"/>
                <a:gd name="T16" fmla="*/ 475 w 477"/>
                <a:gd name="T17" fmla="*/ 24 h 51"/>
                <a:gd name="T18" fmla="*/ 473 w 477"/>
                <a:gd name="T19" fmla="*/ 31 h 51"/>
                <a:gd name="T20" fmla="*/ 473 w 477"/>
                <a:gd name="T21" fmla="*/ 38 h 51"/>
                <a:gd name="T22" fmla="*/ 473 w 477"/>
                <a:gd name="T23" fmla="*/ 44 h 51"/>
                <a:gd name="T24" fmla="*/ 473 w 477"/>
                <a:gd name="T25" fmla="*/ 51 h 51"/>
                <a:gd name="T26" fmla="*/ 477 w 477"/>
                <a:gd name="T27" fmla="*/ 48 h 51"/>
                <a:gd name="T28" fmla="*/ 477 w 477"/>
                <a:gd name="T29" fmla="*/ 41 h 51"/>
                <a:gd name="T30" fmla="*/ 477 w 477"/>
                <a:gd name="T31" fmla="*/ 34 h 51"/>
                <a:gd name="T32" fmla="*/ 477 w 477"/>
                <a:gd name="T33" fmla="*/ 28 h 51"/>
                <a:gd name="T34" fmla="*/ 1 w 477"/>
                <a:gd name="T35" fmla="*/ 0 h 51"/>
                <a:gd name="T36" fmla="*/ 0 w 477"/>
                <a:gd name="T37" fmla="*/ 6 h 51"/>
                <a:gd name="T38" fmla="*/ 0 w 477"/>
                <a:gd name="T39" fmla="*/ 11 h 51"/>
                <a:gd name="T40" fmla="*/ 0 w 477"/>
                <a:gd name="T41" fmla="*/ 18 h 51"/>
                <a:gd name="T42" fmla="*/ 0 w 477"/>
                <a:gd name="T43" fmla="*/ 24 h 51"/>
                <a:gd name="T44" fmla="*/ 0 w 477"/>
                <a:gd name="T45" fmla="*/ 31 h 51"/>
                <a:gd name="T46" fmla="*/ 0 w 477"/>
                <a:gd name="T47" fmla="*/ 38 h 51"/>
                <a:gd name="T48" fmla="*/ 0 w 477"/>
                <a:gd name="T49" fmla="*/ 44 h 51"/>
                <a:gd name="T50" fmla="*/ 0 w 477"/>
                <a:gd name="T51" fmla="*/ 51 h 51"/>
                <a:gd name="T52" fmla="*/ 3 w 477"/>
                <a:gd name="T53" fmla="*/ 48 h 51"/>
                <a:gd name="T54" fmla="*/ 3 w 477"/>
                <a:gd name="T55" fmla="*/ 41 h 51"/>
                <a:gd name="T56" fmla="*/ 3 w 477"/>
                <a:gd name="T57" fmla="*/ 34 h 51"/>
                <a:gd name="T58" fmla="*/ 3 w 477"/>
                <a:gd name="T59" fmla="*/ 28 h 51"/>
                <a:gd name="T60" fmla="*/ 3 w 477"/>
                <a:gd name="T61" fmla="*/ 21 h 51"/>
                <a:gd name="T62" fmla="*/ 3 w 477"/>
                <a:gd name="T63" fmla="*/ 14 h 51"/>
                <a:gd name="T64" fmla="*/ 3 w 477"/>
                <a:gd name="T65" fmla="*/ 9 h 51"/>
                <a:gd name="T66" fmla="*/ 3 w 477"/>
                <a:gd name="T67" fmla="*/ 3 h 51"/>
                <a:gd name="T68" fmla="*/ 1 w 47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7" h="51">
                  <a:moveTo>
                    <a:pt x="477" y="24"/>
                  </a:moveTo>
                  <a:lnTo>
                    <a:pt x="477" y="21"/>
                  </a:lnTo>
                  <a:lnTo>
                    <a:pt x="477" y="18"/>
                  </a:lnTo>
                  <a:lnTo>
                    <a:pt x="477" y="14"/>
                  </a:lnTo>
                  <a:lnTo>
                    <a:pt x="477" y="11"/>
                  </a:lnTo>
                  <a:lnTo>
                    <a:pt x="477" y="9"/>
                  </a:lnTo>
                  <a:lnTo>
                    <a:pt x="477" y="6"/>
                  </a:lnTo>
                  <a:lnTo>
                    <a:pt x="477" y="3"/>
                  </a:lnTo>
                  <a:lnTo>
                    <a:pt x="477" y="0"/>
                  </a:lnTo>
                  <a:lnTo>
                    <a:pt x="473" y="0"/>
                  </a:lnTo>
                  <a:lnTo>
                    <a:pt x="473" y="3"/>
                  </a:lnTo>
                  <a:lnTo>
                    <a:pt x="473" y="6"/>
                  </a:lnTo>
                  <a:lnTo>
                    <a:pt x="473" y="9"/>
                  </a:lnTo>
                  <a:lnTo>
                    <a:pt x="473" y="11"/>
                  </a:lnTo>
                  <a:lnTo>
                    <a:pt x="473" y="14"/>
                  </a:lnTo>
                  <a:lnTo>
                    <a:pt x="473" y="18"/>
                  </a:lnTo>
                  <a:lnTo>
                    <a:pt x="473" y="21"/>
                  </a:lnTo>
                  <a:lnTo>
                    <a:pt x="475" y="24"/>
                  </a:lnTo>
                  <a:lnTo>
                    <a:pt x="473" y="28"/>
                  </a:lnTo>
                  <a:lnTo>
                    <a:pt x="473" y="31"/>
                  </a:lnTo>
                  <a:lnTo>
                    <a:pt x="473" y="34"/>
                  </a:lnTo>
                  <a:lnTo>
                    <a:pt x="473" y="38"/>
                  </a:lnTo>
                  <a:lnTo>
                    <a:pt x="473" y="41"/>
                  </a:lnTo>
                  <a:lnTo>
                    <a:pt x="473" y="44"/>
                  </a:lnTo>
                  <a:lnTo>
                    <a:pt x="473" y="48"/>
                  </a:lnTo>
                  <a:lnTo>
                    <a:pt x="473" y="51"/>
                  </a:lnTo>
                  <a:lnTo>
                    <a:pt x="477" y="51"/>
                  </a:lnTo>
                  <a:lnTo>
                    <a:pt x="477" y="48"/>
                  </a:lnTo>
                  <a:lnTo>
                    <a:pt x="477" y="44"/>
                  </a:lnTo>
                  <a:lnTo>
                    <a:pt x="477" y="41"/>
                  </a:lnTo>
                  <a:lnTo>
                    <a:pt x="477" y="38"/>
                  </a:lnTo>
                  <a:lnTo>
                    <a:pt x="477" y="34"/>
                  </a:lnTo>
                  <a:lnTo>
                    <a:pt x="477" y="31"/>
                  </a:lnTo>
                  <a:lnTo>
                    <a:pt x="477" y="28"/>
                  </a:lnTo>
                  <a:lnTo>
                    <a:pt x="47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31" name="Freeform 372">
              <a:extLst>
                <a:ext uri="{FF2B5EF4-FFF2-40B4-BE49-F238E27FC236}">
                  <a16:creationId xmlns:a16="http://schemas.microsoft.com/office/drawing/2014/main" id="{C1CF0656-6E89-BD10-4375-9CD6E5DE6777}"/>
                </a:ext>
              </a:extLst>
            </p:cNvPr>
            <p:cNvSpPr>
              <a:spLocks noEditPoints="1"/>
            </p:cNvSpPr>
            <p:nvPr/>
          </p:nvSpPr>
          <p:spPr bwMode="auto">
            <a:xfrm>
              <a:off x="1374" y="1713"/>
              <a:ext cx="474" cy="51"/>
            </a:xfrm>
            <a:custGeom>
              <a:avLst/>
              <a:gdLst>
                <a:gd name="T0" fmla="*/ 474 w 474"/>
                <a:gd name="T1" fmla="*/ 21 h 51"/>
                <a:gd name="T2" fmla="*/ 474 w 474"/>
                <a:gd name="T3" fmla="*/ 14 h 51"/>
                <a:gd name="T4" fmla="*/ 474 w 474"/>
                <a:gd name="T5" fmla="*/ 9 h 51"/>
                <a:gd name="T6" fmla="*/ 474 w 474"/>
                <a:gd name="T7" fmla="*/ 3 h 51"/>
                <a:gd name="T8" fmla="*/ 471 w 474"/>
                <a:gd name="T9" fmla="*/ 0 h 51"/>
                <a:gd name="T10" fmla="*/ 471 w 474"/>
                <a:gd name="T11" fmla="*/ 6 h 51"/>
                <a:gd name="T12" fmla="*/ 471 w 474"/>
                <a:gd name="T13" fmla="*/ 11 h 51"/>
                <a:gd name="T14" fmla="*/ 471 w 474"/>
                <a:gd name="T15" fmla="*/ 18 h 51"/>
                <a:gd name="T16" fmla="*/ 472 w 474"/>
                <a:gd name="T17" fmla="*/ 24 h 51"/>
                <a:gd name="T18" fmla="*/ 471 w 474"/>
                <a:gd name="T19" fmla="*/ 31 h 51"/>
                <a:gd name="T20" fmla="*/ 471 w 474"/>
                <a:gd name="T21" fmla="*/ 38 h 51"/>
                <a:gd name="T22" fmla="*/ 471 w 474"/>
                <a:gd name="T23" fmla="*/ 44 h 51"/>
                <a:gd name="T24" fmla="*/ 471 w 474"/>
                <a:gd name="T25" fmla="*/ 51 h 51"/>
                <a:gd name="T26" fmla="*/ 474 w 474"/>
                <a:gd name="T27" fmla="*/ 48 h 51"/>
                <a:gd name="T28" fmla="*/ 474 w 474"/>
                <a:gd name="T29" fmla="*/ 41 h 51"/>
                <a:gd name="T30" fmla="*/ 474 w 474"/>
                <a:gd name="T31" fmla="*/ 34 h 51"/>
                <a:gd name="T32" fmla="*/ 474 w 474"/>
                <a:gd name="T33" fmla="*/ 28 h 51"/>
                <a:gd name="T34" fmla="*/ 2 w 474"/>
                <a:gd name="T35" fmla="*/ 0 h 51"/>
                <a:gd name="T36" fmla="*/ 0 w 474"/>
                <a:gd name="T37" fmla="*/ 6 h 51"/>
                <a:gd name="T38" fmla="*/ 0 w 474"/>
                <a:gd name="T39" fmla="*/ 11 h 51"/>
                <a:gd name="T40" fmla="*/ 0 w 474"/>
                <a:gd name="T41" fmla="*/ 18 h 51"/>
                <a:gd name="T42" fmla="*/ 0 w 474"/>
                <a:gd name="T43" fmla="*/ 24 h 51"/>
                <a:gd name="T44" fmla="*/ 0 w 474"/>
                <a:gd name="T45" fmla="*/ 31 h 51"/>
                <a:gd name="T46" fmla="*/ 0 w 474"/>
                <a:gd name="T47" fmla="*/ 38 h 51"/>
                <a:gd name="T48" fmla="*/ 0 w 474"/>
                <a:gd name="T49" fmla="*/ 44 h 51"/>
                <a:gd name="T50" fmla="*/ 0 w 474"/>
                <a:gd name="T51" fmla="*/ 51 h 51"/>
                <a:gd name="T52" fmla="*/ 4 w 474"/>
                <a:gd name="T53" fmla="*/ 48 h 51"/>
                <a:gd name="T54" fmla="*/ 4 w 474"/>
                <a:gd name="T55" fmla="*/ 41 h 51"/>
                <a:gd name="T56" fmla="*/ 4 w 474"/>
                <a:gd name="T57" fmla="*/ 34 h 51"/>
                <a:gd name="T58" fmla="*/ 4 w 474"/>
                <a:gd name="T59" fmla="*/ 28 h 51"/>
                <a:gd name="T60" fmla="*/ 4 w 474"/>
                <a:gd name="T61" fmla="*/ 21 h 51"/>
                <a:gd name="T62" fmla="*/ 4 w 474"/>
                <a:gd name="T63" fmla="*/ 14 h 51"/>
                <a:gd name="T64" fmla="*/ 4 w 474"/>
                <a:gd name="T65" fmla="*/ 9 h 51"/>
                <a:gd name="T66" fmla="*/ 4 w 474"/>
                <a:gd name="T67" fmla="*/ 3 h 51"/>
                <a:gd name="T68" fmla="*/ 2 w 47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4" h="51">
                  <a:moveTo>
                    <a:pt x="474" y="24"/>
                  </a:moveTo>
                  <a:lnTo>
                    <a:pt x="474" y="21"/>
                  </a:lnTo>
                  <a:lnTo>
                    <a:pt x="474" y="18"/>
                  </a:lnTo>
                  <a:lnTo>
                    <a:pt x="474" y="14"/>
                  </a:lnTo>
                  <a:lnTo>
                    <a:pt x="474" y="11"/>
                  </a:lnTo>
                  <a:lnTo>
                    <a:pt x="474" y="9"/>
                  </a:lnTo>
                  <a:lnTo>
                    <a:pt x="474" y="6"/>
                  </a:lnTo>
                  <a:lnTo>
                    <a:pt x="474" y="3"/>
                  </a:lnTo>
                  <a:lnTo>
                    <a:pt x="474" y="0"/>
                  </a:lnTo>
                  <a:lnTo>
                    <a:pt x="471" y="0"/>
                  </a:lnTo>
                  <a:lnTo>
                    <a:pt x="471" y="3"/>
                  </a:lnTo>
                  <a:lnTo>
                    <a:pt x="471" y="6"/>
                  </a:lnTo>
                  <a:lnTo>
                    <a:pt x="471" y="9"/>
                  </a:lnTo>
                  <a:lnTo>
                    <a:pt x="471" y="11"/>
                  </a:lnTo>
                  <a:lnTo>
                    <a:pt x="471" y="14"/>
                  </a:lnTo>
                  <a:lnTo>
                    <a:pt x="471" y="18"/>
                  </a:lnTo>
                  <a:lnTo>
                    <a:pt x="471" y="21"/>
                  </a:lnTo>
                  <a:lnTo>
                    <a:pt x="472" y="24"/>
                  </a:lnTo>
                  <a:lnTo>
                    <a:pt x="471" y="28"/>
                  </a:lnTo>
                  <a:lnTo>
                    <a:pt x="471" y="31"/>
                  </a:lnTo>
                  <a:lnTo>
                    <a:pt x="471" y="34"/>
                  </a:lnTo>
                  <a:lnTo>
                    <a:pt x="471" y="38"/>
                  </a:lnTo>
                  <a:lnTo>
                    <a:pt x="471" y="41"/>
                  </a:lnTo>
                  <a:lnTo>
                    <a:pt x="471" y="44"/>
                  </a:lnTo>
                  <a:lnTo>
                    <a:pt x="471" y="48"/>
                  </a:lnTo>
                  <a:lnTo>
                    <a:pt x="471" y="51"/>
                  </a:lnTo>
                  <a:lnTo>
                    <a:pt x="474" y="51"/>
                  </a:lnTo>
                  <a:lnTo>
                    <a:pt x="474" y="48"/>
                  </a:lnTo>
                  <a:lnTo>
                    <a:pt x="474" y="44"/>
                  </a:lnTo>
                  <a:lnTo>
                    <a:pt x="474" y="41"/>
                  </a:lnTo>
                  <a:lnTo>
                    <a:pt x="474" y="38"/>
                  </a:lnTo>
                  <a:lnTo>
                    <a:pt x="474" y="34"/>
                  </a:lnTo>
                  <a:lnTo>
                    <a:pt x="474" y="31"/>
                  </a:lnTo>
                  <a:lnTo>
                    <a:pt x="474" y="28"/>
                  </a:lnTo>
                  <a:lnTo>
                    <a:pt x="47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32" name="Freeform 373">
              <a:extLst>
                <a:ext uri="{FF2B5EF4-FFF2-40B4-BE49-F238E27FC236}">
                  <a16:creationId xmlns:a16="http://schemas.microsoft.com/office/drawing/2014/main" id="{E57D436B-FB9D-DC37-F781-3348AE7845A8}"/>
                </a:ext>
              </a:extLst>
            </p:cNvPr>
            <p:cNvSpPr>
              <a:spLocks noEditPoints="1"/>
            </p:cNvSpPr>
            <p:nvPr/>
          </p:nvSpPr>
          <p:spPr bwMode="auto">
            <a:xfrm>
              <a:off x="1376" y="1713"/>
              <a:ext cx="472" cy="51"/>
            </a:xfrm>
            <a:custGeom>
              <a:avLst/>
              <a:gdLst>
                <a:gd name="T0" fmla="*/ 470 w 472"/>
                <a:gd name="T1" fmla="*/ 21 h 51"/>
                <a:gd name="T2" fmla="*/ 470 w 472"/>
                <a:gd name="T3" fmla="*/ 14 h 51"/>
                <a:gd name="T4" fmla="*/ 470 w 472"/>
                <a:gd name="T5" fmla="*/ 9 h 51"/>
                <a:gd name="T6" fmla="*/ 470 w 472"/>
                <a:gd name="T7" fmla="*/ 3 h 51"/>
                <a:gd name="T8" fmla="*/ 467 w 472"/>
                <a:gd name="T9" fmla="*/ 0 h 51"/>
                <a:gd name="T10" fmla="*/ 467 w 472"/>
                <a:gd name="T11" fmla="*/ 6 h 51"/>
                <a:gd name="T12" fmla="*/ 467 w 472"/>
                <a:gd name="T13" fmla="*/ 11 h 51"/>
                <a:gd name="T14" fmla="*/ 467 w 472"/>
                <a:gd name="T15" fmla="*/ 18 h 51"/>
                <a:gd name="T16" fmla="*/ 469 w 472"/>
                <a:gd name="T17" fmla="*/ 24 h 51"/>
                <a:gd name="T18" fmla="*/ 467 w 472"/>
                <a:gd name="T19" fmla="*/ 31 h 51"/>
                <a:gd name="T20" fmla="*/ 467 w 472"/>
                <a:gd name="T21" fmla="*/ 38 h 51"/>
                <a:gd name="T22" fmla="*/ 467 w 472"/>
                <a:gd name="T23" fmla="*/ 44 h 51"/>
                <a:gd name="T24" fmla="*/ 467 w 472"/>
                <a:gd name="T25" fmla="*/ 51 h 51"/>
                <a:gd name="T26" fmla="*/ 470 w 472"/>
                <a:gd name="T27" fmla="*/ 48 h 51"/>
                <a:gd name="T28" fmla="*/ 470 w 472"/>
                <a:gd name="T29" fmla="*/ 41 h 51"/>
                <a:gd name="T30" fmla="*/ 470 w 472"/>
                <a:gd name="T31" fmla="*/ 34 h 51"/>
                <a:gd name="T32" fmla="*/ 470 w 472"/>
                <a:gd name="T33" fmla="*/ 28 h 51"/>
                <a:gd name="T34" fmla="*/ 2 w 472"/>
                <a:gd name="T35" fmla="*/ 0 h 51"/>
                <a:gd name="T36" fmla="*/ 0 w 472"/>
                <a:gd name="T37" fmla="*/ 6 h 51"/>
                <a:gd name="T38" fmla="*/ 0 w 472"/>
                <a:gd name="T39" fmla="*/ 11 h 51"/>
                <a:gd name="T40" fmla="*/ 0 w 472"/>
                <a:gd name="T41" fmla="*/ 18 h 51"/>
                <a:gd name="T42" fmla="*/ 0 w 472"/>
                <a:gd name="T43" fmla="*/ 24 h 51"/>
                <a:gd name="T44" fmla="*/ 0 w 472"/>
                <a:gd name="T45" fmla="*/ 31 h 51"/>
                <a:gd name="T46" fmla="*/ 0 w 472"/>
                <a:gd name="T47" fmla="*/ 38 h 51"/>
                <a:gd name="T48" fmla="*/ 0 w 472"/>
                <a:gd name="T49" fmla="*/ 44 h 51"/>
                <a:gd name="T50" fmla="*/ 0 w 472"/>
                <a:gd name="T51" fmla="*/ 51 h 51"/>
                <a:gd name="T52" fmla="*/ 3 w 472"/>
                <a:gd name="T53" fmla="*/ 48 h 51"/>
                <a:gd name="T54" fmla="*/ 3 w 472"/>
                <a:gd name="T55" fmla="*/ 41 h 51"/>
                <a:gd name="T56" fmla="*/ 3 w 472"/>
                <a:gd name="T57" fmla="*/ 34 h 51"/>
                <a:gd name="T58" fmla="*/ 3 w 472"/>
                <a:gd name="T59" fmla="*/ 28 h 51"/>
                <a:gd name="T60" fmla="*/ 3 w 472"/>
                <a:gd name="T61" fmla="*/ 21 h 51"/>
                <a:gd name="T62" fmla="*/ 3 w 472"/>
                <a:gd name="T63" fmla="*/ 14 h 51"/>
                <a:gd name="T64" fmla="*/ 3 w 472"/>
                <a:gd name="T65" fmla="*/ 9 h 51"/>
                <a:gd name="T66" fmla="*/ 3 w 472"/>
                <a:gd name="T67" fmla="*/ 3 h 51"/>
                <a:gd name="T68" fmla="*/ 2 w 4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2" h="51">
                  <a:moveTo>
                    <a:pt x="472" y="24"/>
                  </a:moveTo>
                  <a:lnTo>
                    <a:pt x="470" y="21"/>
                  </a:lnTo>
                  <a:lnTo>
                    <a:pt x="470" y="18"/>
                  </a:lnTo>
                  <a:lnTo>
                    <a:pt x="470" y="14"/>
                  </a:lnTo>
                  <a:lnTo>
                    <a:pt x="470" y="11"/>
                  </a:lnTo>
                  <a:lnTo>
                    <a:pt x="470" y="9"/>
                  </a:lnTo>
                  <a:lnTo>
                    <a:pt x="470" y="6"/>
                  </a:lnTo>
                  <a:lnTo>
                    <a:pt x="470" y="3"/>
                  </a:lnTo>
                  <a:lnTo>
                    <a:pt x="470" y="0"/>
                  </a:lnTo>
                  <a:lnTo>
                    <a:pt x="467" y="0"/>
                  </a:lnTo>
                  <a:lnTo>
                    <a:pt x="467" y="3"/>
                  </a:lnTo>
                  <a:lnTo>
                    <a:pt x="467" y="6"/>
                  </a:lnTo>
                  <a:lnTo>
                    <a:pt x="467" y="9"/>
                  </a:lnTo>
                  <a:lnTo>
                    <a:pt x="467" y="11"/>
                  </a:lnTo>
                  <a:lnTo>
                    <a:pt x="467" y="14"/>
                  </a:lnTo>
                  <a:lnTo>
                    <a:pt x="467" y="18"/>
                  </a:lnTo>
                  <a:lnTo>
                    <a:pt x="467" y="21"/>
                  </a:lnTo>
                  <a:lnTo>
                    <a:pt x="469" y="24"/>
                  </a:lnTo>
                  <a:lnTo>
                    <a:pt x="467" y="28"/>
                  </a:lnTo>
                  <a:lnTo>
                    <a:pt x="467" y="31"/>
                  </a:lnTo>
                  <a:lnTo>
                    <a:pt x="467" y="34"/>
                  </a:lnTo>
                  <a:lnTo>
                    <a:pt x="467" y="38"/>
                  </a:lnTo>
                  <a:lnTo>
                    <a:pt x="467" y="41"/>
                  </a:lnTo>
                  <a:lnTo>
                    <a:pt x="467" y="44"/>
                  </a:lnTo>
                  <a:lnTo>
                    <a:pt x="467" y="48"/>
                  </a:lnTo>
                  <a:lnTo>
                    <a:pt x="467" y="51"/>
                  </a:lnTo>
                  <a:lnTo>
                    <a:pt x="470" y="51"/>
                  </a:lnTo>
                  <a:lnTo>
                    <a:pt x="470" y="48"/>
                  </a:lnTo>
                  <a:lnTo>
                    <a:pt x="470" y="44"/>
                  </a:lnTo>
                  <a:lnTo>
                    <a:pt x="470" y="41"/>
                  </a:lnTo>
                  <a:lnTo>
                    <a:pt x="470" y="38"/>
                  </a:lnTo>
                  <a:lnTo>
                    <a:pt x="470" y="34"/>
                  </a:lnTo>
                  <a:lnTo>
                    <a:pt x="470" y="31"/>
                  </a:lnTo>
                  <a:lnTo>
                    <a:pt x="470" y="28"/>
                  </a:lnTo>
                  <a:lnTo>
                    <a:pt x="47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33" name="Freeform 374">
              <a:extLst>
                <a:ext uri="{FF2B5EF4-FFF2-40B4-BE49-F238E27FC236}">
                  <a16:creationId xmlns:a16="http://schemas.microsoft.com/office/drawing/2014/main" id="{FF30D4A3-08F9-77D8-622A-8EF12F6280BA}"/>
                </a:ext>
              </a:extLst>
            </p:cNvPr>
            <p:cNvSpPr>
              <a:spLocks noEditPoints="1"/>
            </p:cNvSpPr>
            <p:nvPr/>
          </p:nvSpPr>
          <p:spPr bwMode="auto">
            <a:xfrm>
              <a:off x="1378" y="1713"/>
              <a:ext cx="468" cy="51"/>
            </a:xfrm>
            <a:custGeom>
              <a:avLst/>
              <a:gdLst>
                <a:gd name="T0" fmla="*/ 467 w 468"/>
                <a:gd name="T1" fmla="*/ 21 h 51"/>
                <a:gd name="T2" fmla="*/ 467 w 468"/>
                <a:gd name="T3" fmla="*/ 14 h 51"/>
                <a:gd name="T4" fmla="*/ 467 w 468"/>
                <a:gd name="T5" fmla="*/ 9 h 51"/>
                <a:gd name="T6" fmla="*/ 467 w 468"/>
                <a:gd name="T7" fmla="*/ 3 h 51"/>
                <a:gd name="T8" fmla="*/ 463 w 468"/>
                <a:gd name="T9" fmla="*/ 0 h 51"/>
                <a:gd name="T10" fmla="*/ 463 w 468"/>
                <a:gd name="T11" fmla="*/ 6 h 51"/>
                <a:gd name="T12" fmla="*/ 463 w 468"/>
                <a:gd name="T13" fmla="*/ 11 h 51"/>
                <a:gd name="T14" fmla="*/ 463 w 468"/>
                <a:gd name="T15" fmla="*/ 18 h 51"/>
                <a:gd name="T16" fmla="*/ 465 w 468"/>
                <a:gd name="T17" fmla="*/ 24 h 51"/>
                <a:gd name="T18" fmla="*/ 463 w 468"/>
                <a:gd name="T19" fmla="*/ 31 h 51"/>
                <a:gd name="T20" fmla="*/ 463 w 468"/>
                <a:gd name="T21" fmla="*/ 38 h 51"/>
                <a:gd name="T22" fmla="*/ 463 w 468"/>
                <a:gd name="T23" fmla="*/ 44 h 51"/>
                <a:gd name="T24" fmla="*/ 463 w 468"/>
                <a:gd name="T25" fmla="*/ 51 h 51"/>
                <a:gd name="T26" fmla="*/ 467 w 468"/>
                <a:gd name="T27" fmla="*/ 48 h 51"/>
                <a:gd name="T28" fmla="*/ 467 w 468"/>
                <a:gd name="T29" fmla="*/ 41 h 51"/>
                <a:gd name="T30" fmla="*/ 467 w 468"/>
                <a:gd name="T31" fmla="*/ 34 h 51"/>
                <a:gd name="T32" fmla="*/ 467 w 468"/>
                <a:gd name="T33" fmla="*/ 28 h 51"/>
                <a:gd name="T34" fmla="*/ 1 w 468"/>
                <a:gd name="T35" fmla="*/ 0 h 51"/>
                <a:gd name="T36" fmla="*/ 0 w 468"/>
                <a:gd name="T37" fmla="*/ 6 h 51"/>
                <a:gd name="T38" fmla="*/ 0 w 468"/>
                <a:gd name="T39" fmla="*/ 11 h 51"/>
                <a:gd name="T40" fmla="*/ 0 w 468"/>
                <a:gd name="T41" fmla="*/ 18 h 51"/>
                <a:gd name="T42" fmla="*/ 0 w 468"/>
                <a:gd name="T43" fmla="*/ 24 h 51"/>
                <a:gd name="T44" fmla="*/ 0 w 468"/>
                <a:gd name="T45" fmla="*/ 31 h 51"/>
                <a:gd name="T46" fmla="*/ 0 w 468"/>
                <a:gd name="T47" fmla="*/ 38 h 51"/>
                <a:gd name="T48" fmla="*/ 0 w 468"/>
                <a:gd name="T49" fmla="*/ 44 h 51"/>
                <a:gd name="T50" fmla="*/ 0 w 468"/>
                <a:gd name="T51" fmla="*/ 51 h 51"/>
                <a:gd name="T52" fmla="*/ 3 w 468"/>
                <a:gd name="T53" fmla="*/ 48 h 51"/>
                <a:gd name="T54" fmla="*/ 3 w 468"/>
                <a:gd name="T55" fmla="*/ 41 h 51"/>
                <a:gd name="T56" fmla="*/ 3 w 468"/>
                <a:gd name="T57" fmla="*/ 34 h 51"/>
                <a:gd name="T58" fmla="*/ 3 w 468"/>
                <a:gd name="T59" fmla="*/ 28 h 51"/>
                <a:gd name="T60" fmla="*/ 3 w 468"/>
                <a:gd name="T61" fmla="*/ 21 h 51"/>
                <a:gd name="T62" fmla="*/ 3 w 468"/>
                <a:gd name="T63" fmla="*/ 14 h 51"/>
                <a:gd name="T64" fmla="*/ 3 w 468"/>
                <a:gd name="T65" fmla="*/ 8 h 51"/>
                <a:gd name="T66" fmla="*/ 3 w 468"/>
                <a:gd name="T67" fmla="*/ 3 h 51"/>
                <a:gd name="T68" fmla="*/ 1 w 46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8" h="51">
                  <a:moveTo>
                    <a:pt x="468" y="24"/>
                  </a:moveTo>
                  <a:lnTo>
                    <a:pt x="467" y="21"/>
                  </a:lnTo>
                  <a:lnTo>
                    <a:pt x="467" y="18"/>
                  </a:lnTo>
                  <a:lnTo>
                    <a:pt x="467" y="14"/>
                  </a:lnTo>
                  <a:lnTo>
                    <a:pt x="467" y="11"/>
                  </a:lnTo>
                  <a:lnTo>
                    <a:pt x="467" y="9"/>
                  </a:lnTo>
                  <a:lnTo>
                    <a:pt x="467" y="6"/>
                  </a:lnTo>
                  <a:lnTo>
                    <a:pt x="467" y="3"/>
                  </a:lnTo>
                  <a:lnTo>
                    <a:pt x="467" y="0"/>
                  </a:lnTo>
                  <a:lnTo>
                    <a:pt x="463" y="0"/>
                  </a:lnTo>
                  <a:lnTo>
                    <a:pt x="463" y="3"/>
                  </a:lnTo>
                  <a:lnTo>
                    <a:pt x="463" y="6"/>
                  </a:lnTo>
                  <a:lnTo>
                    <a:pt x="463" y="8"/>
                  </a:lnTo>
                  <a:lnTo>
                    <a:pt x="463" y="11"/>
                  </a:lnTo>
                  <a:lnTo>
                    <a:pt x="463" y="14"/>
                  </a:lnTo>
                  <a:lnTo>
                    <a:pt x="463" y="18"/>
                  </a:lnTo>
                  <a:lnTo>
                    <a:pt x="463" y="21"/>
                  </a:lnTo>
                  <a:lnTo>
                    <a:pt x="465" y="24"/>
                  </a:lnTo>
                  <a:lnTo>
                    <a:pt x="463" y="28"/>
                  </a:lnTo>
                  <a:lnTo>
                    <a:pt x="463" y="31"/>
                  </a:lnTo>
                  <a:lnTo>
                    <a:pt x="463" y="34"/>
                  </a:lnTo>
                  <a:lnTo>
                    <a:pt x="463" y="38"/>
                  </a:lnTo>
                  <a:lnTo>
                    <a:pt x="463" y="41"/>
                  </a:lnTo>
                  <a:lnTo>
                    <a:pt x="463" y="44"/>
                  </a:lnTo>
                  <a:lnTo>
                    <a:pt x="463" y="48"/>
                  </a:lnTo>
                  <a:lnTo>
                    <a:pt x="463" y="51"/>
                  </a:lnTo>
                  <a:lnTo>
                    <a:pt x="467" y="51"/>
                  </a:lnTo>
                  <a:lnTo>
                    <a:pt x="467" y="48"/>
                  </a:lnTo>
                  <a:lnTo>
                    <a:pt x="467" y="44"/>
                  </a:lnTo>
                  <a:lnTo>
                    <a:pt x="467" y="41"/>
                  </a:lnTo>
                  <a:lnTo>
                    <a:pt x="467" y="38"/>
                  </a:lnTo>
                  <a:lnTo>
                    <a:pt x="467" y="34"/>
                  </a:lnTo>
                  <a:lnTo>
                    <a:pt x="467" y="31"/>
                  </a:lnTo>
                  <a:lnTo>
                    <a:pt x="467" y="28"/>
                  </a:lnTo>
                  <a:lnTo>
                    <a:pt x="468"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34" name="Freeform 375">
              <a:extLst>
                <a:ext uri="{FF2B5EF4-FFF2-40B4-BE49-F238E27FC236}">
                  <a16:creationId xmlns:a16="http://schemas.microsoft.com/office/drawing/2014/main" id="{B90205AE-33B4-67CB-DEB4-AD89E38024CA}"/>
                </a:ext>
              </a:extLst>
            </p:cNvPr>
            <p:cNvSpPr>
              <a:spLocks noEditPoints="1"/>
            </p:cNvSpPr>
            <p:nvPr/>
          </p:nvSpPr>
          <p:spPr bwMode="auto">
            <a:xfrm>
              <a:off x="1379" y="1713"/>
              <a:ext cx="466" cy="51"/>
            </a:xfrm>
            <a:custGeom>
              <a:avLst/>
              <a:gdLst>
                <a:gd name="T0" fmla="*/ 464 w 466"/>
                <a:gd name="T1" fmla="*/ 21 h 51"/>
                <a:gd name="T2" fmla="*/ 464 w 466"/>
                <a:gd name="T3" fmla="*/ 14 h 51"/>
                <a:gd name="T4" fmla="*/ 464 w 466"/>
                <a:gd name="T5" fmla="*/ 9 h 51"/>
                <a:gd name="T6" fmla="*/ 464 w 466"/>
                <a:gd name="T7" fmla="*/ 3 h 51"/>
                <a:gd name="T8" fmla="*/ 461 w 466"/>
                <a:gd name="T9" fmla="*/ 0 h 51"/>
                <a:gd name="T10" fmla="*/ 461 w 466"/>
                <a:gd name="T11" fmla="*/ 6 h 51"/>
                <a:gd name="T12" fmla="*/ 461 w 466"/>
                <a:gd name="T13" fmla="*/ 11 h 51"/>
                <a:gd name="T14" fmla="*/ 461 w 466"/>
                <a:gd name="T15" fmla="*/ 18 h 51"/>
                <a:gd name="T16" fmla="*/ 462 w 466"/>
                <a:gd name="T17" fmla="*/ 24 h 51"/>
                <a:gd name="T18" fmla="*/ 461 w 466"/>
                <a:gd name="T19" fmla="*/ 31 h 51"/>
                <a:gd name="T20" fmla="*/ 461 w 466"/>
                <a:gd name="T21" fmla="*/ 38 h 51"/>
                <a:gd name="T22" fmla="*/ 461 w 466"/>
                <a:gd name="T23" fmla="*/ 44 h 51"/>
                <a:gd name="T24" fmla="*/ 461 w 466"/>
                <a:gd name="T25" fmla="*/ 51 h 51"/>
                <a:gd name="T26" fmla="*/ 464 w 466"/>
                <a:gd name="T27" fmla="*/ 48 h 51"/>
                <a:gd name="T28" fmla="*/ 464 w 466"/>
                <a:gd name="T29" fmla="*/ 41 h 51"/>
                <a:gd name="T30" fmla="*/ 464 w 466"/>
                <a:gd name="T31" fmla="*/ 34 h 51"/>
                <a:gd name="T32" fmla="*/ 464 w 466"/>
                <a:gd name="T33" fmla="*/ 28 h 51"/>
                <a:gd name="T34" fmla="*/ 2 w 466"/>
                <a:gd name="T35" fmla="*/ 0 h 51"/>
                <a:gd name="T36" fmla="*/ 0 w 466"/>
                <a:gd name="T37" fmla="*/ 6 h 51"/>
                <a:gd name="T38" fmla="*/ 0 w 466"/>
                <a:gd name="T39" fmla="*/ 11 h 51"/>
                <a:gd name="T40" fmla="*/ 0 w 466"/>
                <a:gd name="T41" fmla="*/ 18 h 51"/>
                <a:gd name="T42" fmla="*/ 0 w 466"/>
                <a:gd name="T43" fmla="*/ 24 h 51"/>
                <a:gd name="T44" fmla="*/ 0 w 466"/>
                <a:gd name="T45" fmla="*/ 31 h 51"/>
                <a:gd name="T46" fmla="*/ 0 w 466"/>
                <a:gd name="T47" fmla="*/ 38 h 51"/>
                <a:gd name="T48" fmla="*/ 0 w 466"/>
                <a:gd name="T49" fmla="*/ 44 h 51"/>
                <a:gd name="T50" fmla="*/ 0 w 466"/>
                <a:gd name="T51" fmla="*/ 51 h 51"/>
                <a:gd name="T52" fmla="*/ 4 w 466"/>
                <a:gd name="T53" fmla="*/ 48 h 51"/>
                <a:gd name="T54" fmla="*/ 4 w 466"/>
                <a:gd name="T55" fmla="*/ 41 h 51"/>
                <a:gd name="T56" fmla="*/ 4 w 466"/>
                <a:gd name="T57" fmla="*/ 34 h 51"/>
                <a:gd name="T58" fmla="*/ 4 w 466"/>
                <a:gd name="T59" fmla="*/ 28 h 51"/>
                <a:gd name="T60" fmla="*/ 4 w 466"/>
                <a:gd name="T61" fmla="*/ 21 h 51"/>
                <a:gd name="T62" fmla="*/ 4 w 466"/>
                <a:gd name="T63" fmla="*/ 14 h 51"/>
                <a:gd name="T64" fmla="*/ 4 w 466"/>
                <a:gd name="T65" fmla="*/ 8 h 51"/>
                <a:gd name="T66" fmla="*/ 4 w 466"/>
                <a:gd name="T67" fmla="*/ 3 h 51"/>
                <a:gd name="T68" fmla="*/ 2 w 4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6" h="51">
                  <a:moveTo>
                    <a:pt x="466" y="24"/>
                  </a:moveTo>
                  <a:lnTo>
                    <a:pt x="464" y="21"/>
                  </a:lnTo>
                  <a:lnTo>
                    <a:pt x="464" y="18"/>
                  </a:lnTo>
                  <a:lnTo>
                    <a:pt x="464" y="14"/>
                  </a:lnTo>
                  <a:lnTo>
                    <a:pt x="464" y="11"/>
                  </a:lnTo>
                  <a:lnTo>
                    <a:pt x="464" y="9"/>
                  </a:lnTo>
                  <a:lnTo>
                    <a:pt x="464" y="6"/>
                  </a:lnTo>
                  <a:lnTo>
                    <a:pt x="464" y="3"/>
                  </a:lnTo>
                  <a:lnTo>
                    <a:pt x="464" y="0"/>
                  </a:lnTo>
                  <a:lnTo>
                    <a:pt x="461" y="0"/>
                  </a:lnTo>
                  <a:lnTo>
                    <a:pt x="461" y="3"/>
                  </a:lnTo>
                  <a:lnTo>
                    <a:pt x="461" y="6"/>
                  </a:lnTo>
                  <a:lnTo>
                    <a:pt x="461" y="8"/>
                  </a:lnTo>
                  <a:lnTo>
                    <a:pt x="461" y="11"/>
                  </a:lnTo>
                  <a:lnTo>
                    <a:pt x="461" y="14"/>
                  </a:lnTo>
                  <a:lnTo>
                    <a:pt x="461" y="18"/>
                  </a:lnTo>
                  <a:lnTo>
                    <a:pt x="461" y="21"/>
                  </a:lnTo>
                  <a:lnTo>
                    <a:pt x="462" y="24"/>
                  </a:lnTo>
                  <a:lnTo>
                    <a:pt x="462" y="28"/>
                  </a:lnTo>
                  <a:lnTo>
                    <a:pt x="461" y="31"/>
                  </a:lnTo>
                  <a:lnTo>
                    <a:pt x="461" y="34"/>
                  </a:lnTo>
                  <a:lnTo>
                    <a:pt x="461" y="38"/>
                  </a:lnTo>
                  <a:lnTo>
                    <a:pt x="461" y="41"/>
                  </a:lnTo>
                  <a:lnTo>
                    <a:pt x="461" y="44"/>
                  </a:lnTo>
                  <a:lnTo>
                    <a:pt x="461" y="48"/>
                  </a:lnTo>
                  <a:lnTo>
                    <a:pt x="461" y="51"/>
                  </a:lnTo>
                  <a:lnTo>
                    <a:pt x="464" y="51"/>
                  </a:lnTo>
                  <a:lnTo>
                    <a:pt x="464" y="48"/>
                  </a:lnTo>
                  <a:lnTo>
                    <a:pt x="464" y="44"/>
                  </a:lnTo>
                  <a:lnTo>
                    <a:pt x="464" y="41"/>
                  </a:lnTo>
                  <a:lnTo>
                    <a:pt x="464" y="38"/>
                  </a:lnTo>
                  <a:lnTo>
                    <a:pt x="464" y="34"/>
                  </a:lnTo>
                  <a:lnTo>
                    <a:pt x="464" y="31"/>
                  </a:lnTo>
                  <a:lnTo>
                    <a:pt x="464" y="28"/>
                  </a:lnTo>
                  <a:lnTo>
                    <a:pt x="46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35" name="Freeform 376">
              <a:extLst>
                <a:ext uri="{FF2B5EF4-FFF2-40B4-BE49-F238E27FC236}">
                  <a16:creationId xmlns:a16="http://schemas.microsoft.com/office/drawing/2014/main" id="{8202CCC9-7899-6267-7E64-C4865FA35A75}"/>
                </a:ext>
              </a:extLst>
            </p:cNvPr>
            <p:cNvSpPr>
              <a:spLocks noEditPoints="1"/>
            </p:cNvSpPr>
            <p:nvPr/>
          </p:nvSpPr>
          <p:spPr bwMode="auto">
            <a:xfrm>
              <a:off x="1381" y="1713"/>
              <a:ext cx="462" cy="51"/>
            </a:xfrm>
            <a:custGeom>
              <a:avLst/>
              <a:gdLst>
                <a:gd name="T0" fmla="*/ 460 w 462"/>
                <a:gd name="T1" fmla="*/ 21 h 51"/>
                <a:gd name="T2" fmla="*/ 460 w 462"/>
                <a:gd name="T3" fmla="*/ 14 h 51"/>
                <a:gd name="T4" fmla="*/ 460 w 462"/>
                <a:gd name="T5" fmla="*/ 8 h 51"/>
                <a:gd name="T6" fmla="*/ 460 w 462"/>
                <a:gd name="T7" fmla="*/ 3 h 51"/>
                <a:gd name="T8" fmla="*/ 457 w 462"/>
                <a:gd name="T9" fmla="*/ 0 h 51"/>
                <a:gd name="T10" fmla="*/ 457 w 462"/>
                <a:gd name="T11" fmla="*/ 6 h 51"/>
                <a:gd name="T12" fmla="*/ 457 w 462"/>
                <a:gd name="T13" fmla="*/ 11 h 51"/>
                <a:gd name="T14" fmla="*/ 457 w 462"/>
                <a:gd name="T15" fmla="*/ 18 h 51"/>
                <a:gd name="T16" fmla="*/ 459 w 462"/>
                <a:gd name="T17" fmla="*/ 24 h 51"/>
                <a:gd name="T18" fmla="*/ 457 w 462"/>
                <a:gd name="T19" fmla="*/ 31 h 51"/>
                <a:gd name="T20" fmla="*/ 457 w 462"/>
                <a:gd name="T21" fmla="*/ 38 h 51"/>
                <a:gd name="T22" fmla="*/ 457 w 462"/>
                <a:gd name="T23" fmla="*/ 44 h 51"/>
                <a:gd name="T24" fmla="*/ 457 w 462"/>
                <a:gd name="T25" fmla="*/ 51 h 51"/>
                <a:gd name="T26" fmla="*/ 460 w 462"/>
                <a:gd name="T27" fmla="*/ 48 h 51"/>
                <a:gd name="T28" fmla="*/ 460 w 462"/>
                <a:gd name="T29" fmla="*/ 41 h 51"/>
                <a:gd name="T30" fmla="*/ 460 w 462"/>
                <a:gd name="T31" fmla="*/ 34 h 51"/>
                <a:gd name="T32" fmla="*/ 460 w 462"/>
                <a:gd name="T33" fmla="*/ 28 h 51"/>
                <a:gd name="T34" fmla="*/ 2 w 462"/>
                <a:gd name="T35" fmla="*/ 0 h 51"/>
                <a:gd name="T36" fmla="*/ 0 w 462"/>
                <a:gd name="T37" fmla="*/ 6 h 51"/>
                <a:gd name="T38" fmla="*/ 0 w 462"/>
                <a:gd name="T39" fmla="*/ 11 h 51"/>
                <a:gd name="T40" fmla="*/ 0 w 462"/>
                <a:gd name="T41" fmla="*/ 18 h 51"/>
                <a:gd name="T42" fmla="*/ 0 w 462"/>
                <a:gd name="T43" fmla="*/ 24 h 51"/>
                <a:gd name="T44" fmla="*/ 0 w 462"/>
                <a:gd name="T45" fmla="*/ 31 h 51"/>
                <a:gd name="T46" fmla="*/ 0 w 462"/>
                <a:gd name="T47" fmla="*/ 38 h 51"/>
                <a:gd name="T48" fmla="*/ 0 w 462"/>
                <a:gd name="T49" fmla="*/ 44 h 51"/>
                <a:gd name="T50" fmla="*/ 0 w 462"/>
                <a:gd name="T51" fmla="*/ 51 h 51"/>
                <a:gd name="T52" fmla="*/ 3 w 462"/>
                <a:gd name="T53" fmla="*/ 48 h 51"/>
                <a:gd name="T54" fmla="*/ 3 w 462"/>
                <a:gd name="T55" fmla="*/ 41 h 51"/>
                <a:gd name="T56" fmla="*/ 3 w 462"/>
                <a:gd name="T57" fmla="*/ 34 h 51"/>
                <a:gd name="T58" fmla="*/ 3 w 462"/>
                <a:gd name="T59" fmla="*/ 28 h 51"/>
                <a:gd name="T60" fmla="*/ 3 w 462"/>
                <a:gd name="T61" fmla="*/ 21 h 51"/>
                <a:gd name="T62" fmla="*/ 3 w 462"/>
                <a:gd name="T63" fmla="*/ 14 h 51"/>
                <a:gd name="T64" fmla="*/ 3 w 462"/>
                <a:gd name="T65" fmla="*/ 8 h 51"/>
                <a:gd name="T66" fmla="*/ 3 w 462"/>
                <a:gd name="T67" fmla="*/ 3 h 51"/>
                <a:gd name="T68" fmla="*/ 2 w 4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2" h="51">
                  <a:moveTo>
                    <a:pt x="462" y="24"/>
                  </a:moveTo>
                  <a:lnTo>
                    <a:pt x="460" y="21"/>
                  </a:lnTo>
                  <a:lnTo>
                    <a:pt x="460" y="18"/>
                  </a:lnTo>
                  <a:lnTo>
                    <a:pt x="460" y="14"/>
                  </a:lnTo>
                  <a:lnTo>
                    <a:pt x="460" y="11"/>
                  </a:lnTo>
                  <a:lnTo>
                    <a:pt x="460" y="8"/>
                  </a:lnTo>
                  <a:lnTo>
                    <a:pt x="460" y="6"/>
                  </a:lnTo>
                  <a:lnTo>
                    <a:pt x="460" y="3"/>
                  </a:lnTo>
                  <a:lnTo>
                    <a:pt x="460" y="0"/>
                  </a:lnTo>
                  <a:lnTo>
                    <a:pt x="457" y="0"/>
                  </a:lnTo>
                  <a:lnTo>
                    <a:pt x="457" y="3"/>
                  </a:lnTo>
                  <a:lnTo>
                    <a:pt x="457" y="6"/>
                  </a:lnTo>
                  <a:lnTo>
                    <a:pt x="457" y="8"/>
                  </a:lnTo>
                  <a:lnTo>
                    <a:pt x="457" y="11"/>
                  </a:lnTo>
                  <a:lnTo>
                    <a:pt x="457" y="14"/>
                  </a:lnTo>
                  <a:lnTo>
                    <a:pt x="457" y="18"/>
                  </a:lnTo>
                  <a:lnTo>
                    <a:pt x="459" y="21"/>
                  </a:lnTo>
                  <a:lnTo>
                    <a:pt x="459" y="24"/>
                  </a:lnTo>
                  <a:lnTo>
                    <a:pt x="459" y="28"/>
                  </a:lnTo>
                  <a:lnTo>
                    <a:pt x="457" y="31"/>
                  </a:lnTo>
                  <a:lnTo>
                    <a:pt x="457" y="34"/>
                  </a:lnTo>
                  <a:lnTo>
                    <a:pt x="457" y="38"/>
                  </a:lnTo>
                  <a:lnTo>
                    <a:pt x="457" y="41"/>
                  </a:lnTo>
                  <a:lnTo>
                    <a:pt x="457" y="44"/>
                  </a:lnTo>
                  <a:lnTo>
                    <a:pt x="457" y="48"/>
                  </a:lnTo>
                  <a:lnTo>
                    <a:pt x="457" y="51"/>
                  </a:lnTo>
                  <a:lnTo>
                    <a:pt x="460" y="51"/>
                  </a:lnTo>
                  <a:lnTo>
                    <a:pt x="460" y="48"/>
                  </a:lnTo>
                  <a:lnTo>
                    <a:pt x="460" y="44"/>
                  </a:lnTo>
                  <a:lnTo>
                    <a:pt x="460" y="41"/>
                  </a:lnTo>
                  <a:lnTo>
                    <a:pt x="460" y="38"/>
                  </a:lnTo>
                  <a:lnTo>
                    <a:pt x="460" y="34"/>
                  </a:lnTo>
                  <a:lnTo>
                    <a:pt x="460" y="31"/>
                  </a:lnTo>
                  <a:lnTo>
                    <a:pt x="460" y="28"/>
                  </a:lnTo>
                  <a:lnTo>
                    <a:pt x="46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36" name="Freeform 377">
              <a:extLst>
                <a:ext uri="{FF2B5EF4-FFF2-40B4-BE49-F238E27FC236}">
                  <a16:creationId xmlns:a16="http://schemas.microsoft.com/office/drawing/2014/main" id="{4E9DDD27-63D0-7724-06FC-F64E89E09E5A}"/>
                </a:ext>
              </a:extLst>
            </p:cNvPr>
            <p:cNvSpPr>
              <a:spLocks noEditPoints="1"/>
            </p:cNvSpPr>
            <p:nvPr/>
          </p:nvSpPr>
          <p:spPr bwMode="auto">
            <a:xfrm>
              <a:off x="1383" y="1713"/>
              <a:ext cx="458" cy="51"/>
            </a:xfrm>
            <a:custGeom>
              <a:avLst/>
              <a:gdLst>
                <a:gd name="T0" fmla="*/ 457 w 458"/>
                <a:gd name="T1" fmla="*/ 21 h 51"/>
                <a:gd name="T2" fmla="*/ 457 w 458"/>
                <a:gd name="T3" fmla="*/ 14 h 51"/>
                <a:gd name="T4" fmla="*/ 457 w 458"/>
                <a:gd name="T5" fmla="*/ 8 h 51"/>
                <a:gd name="T6" fmla="*/ 457 w 458"/>
                <a:gd name="T7" fmla="*/ 3 h 51"/>
                <a:gd name="T8" fmla="*/ 453 w 458"/>
                <a:gd name="T9" fmla="*/ 0 h 51"/>
                <a:gd name="T10" fmla="*/ 453 w 458"/>
                <a:gd name="T11" fmla="*/ 6 h 51"/>
                <a:gd name="T12" fmla="*/ 453 w 458"/>
                <a:gd name="T13" fmla="*/ 11 h 51"/>
                <a:gd name="T14" fmla="*/ 453 w 458"/>
                <a:gd name="T15" fmla="*/ 18 h 51"/>
                <a:gd name="T16" fmla="*/ 455 w 458"/>
                <a:gd name="T17" fmla="*/ 24 h 51"/>
                <a:gd name="T18" fmla="*/ 453 w 458"/>
                <a:gd name="T19" fmla="*/ 31 h 51"/>
                <a:gd name="T20" fmla="*/ 453 w 458"/>
                <a:gd name="T21" fmla="*/ 38 h 51"/>
                <a:gd name="T22" fmla="*/ 453 w 458"/>
                <a:gd name="T23" fmla="*/ 44 h 51"/>
                <a:gd name="T24" fmla="*/ 453 w 458"/>
                <a:gd name="T25" fmla="*/ 51 h 51"/>
                <a:gd name="T26" fmla="*/ 457 w 458"/>
                <a:gd name="T27" fmla="*/ 48 h 51"/>
                <a:gd name="T28" fmla="*/ 457 w 458"/>
                <a:gd name="T29" fmla="*/ 41 h 51"/>
                <a:gd name="T30" fmla="*/ 457 w 458"/>
                <a:gd name="T31" fmla="*/ 34 h 51"/>
                <a:gd name="T32" fmla="*/ 458 w 458"/>
                <a:gd name="T33" fmla="*/ 28 h 51"/>
                <a:gd name="T34" fmla="*/ 1 w 458"/>
                <a:gd name="T35" fmla="*/ 0 h 51"/>
                <a:gd name="T36" fmla="*/ 0 w 458"/>
                <a:gd name="T37" fmla="*/ 6 h 51"/>
                <a:gd name="T38" fmla="*/ 0 w 458"/>
                <a:gd name="T39" fmla="*/ 11 h 51"/>
                <a:gd name="T40" fmla="*/ 0 w 458"/>
                <a:gd name="T41" fmla="*/ 18 h 51"/>
                <a:gd name="T42" fmla="*/ 0 w 458"/>
                <a:gd name="T43" fmla="*/ 24 h 51"/>
                <a:gd name="T44" fmla="*/ 0 w 458"/>
                <a:gd name="T45" fmla="*/ 31 h 51"/>
                <a:gd name="T46" fmla="*/ 0 w 458"/>
                <a:gd name="T47" fmla="*/ 38 h 51"/>
                <a:gd name="T48" fmla="*/ 0 w 458"/>
                <a:gd name="T49" fmla="*/ 44 h 51"/>
                <a:gd name="T50" fmla="*/ 0 w 458"/>
                <a:gd name="T51" fmla="*/ 51 h 51"/>
                <a:gd name="T52" fmla="*/ 3 w 458"/>
                <a:gd name="T53" fmla="*/ 48 h 51"/>
                <a:gd name="T54" fmla="*/ 3 w 458"/>
                <a:gd name="T55" fmla="*/ 41 h 51"/>
                <a:gd name="T56" fmla="*/ 3 w 458"/>
                <a:gd name="T57" fmla="*/ 34 h 51"/>
                <a:gd name="T58" fmla="*/ 3 w 458"/>
                <a:gd name="T59" fmla="*/ 28 h 51"/>
                <a:gd name="T60" fmla="*/ 3 w 458"/>
                <a:gd name="T61" fmla="*/ 21 h 51"/>
                <a:gd name="T62" fmla="*/ 3 w 458"/>
                <a:gd name="T63" fmla="*/ 14 h 51"/>
                <a:gd name="T64" fmla="*/ 3 w 458"/>
                <a:gd name="T65" fmla="*/ 8 h 51"/>
                <a:gd name="T66" fmla="*/ 3 w 458"/>
                <a:gd name="T67" fmla="*/ 3 h 51"/>
                <a:gd name="T68" fmla="*/ 1 w 45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8" h="51">
                  <a:moveTo>
                    <a:pt x="458" y="24"/>
                  </a:moveTo>
                  <a:lnTo>
                    <a:pt x="457" y="21"/>
                  </a:lnTo>
                  <a:lnTo>
                    <a:pt x="457" y="18"/>
                  </a:lnTo>
                  <a:lnTo>
                    <a:pt x="457" y="14"/>
                  </a:lnTo>
                  <a:lnTo>
                    <a:pt x="457" y="11"/>
                  </a:lnTo>
                  <a:lnTo>
                    <a:pt x="457" y="8"/>
                  </a:lnTo>
                  <a:lnTo>
                    <a:pt x="457" y="6"/>
                  </a:lnTo>
                  <a:lnTo>
                    <a:pt x="457" y="3"/>
                  </a:lnTo>
                  <a:lnTo>
                    <a:pt x="457" y="0"/>
                  </a:lnTo>
                  <a:lnTo>
                    <a:pt x="453" y="0"/>
                  </a:lnTo>
                  <a:lnTo>
                    <a:pt x="453" y="3"/>
                  </a:lnTo>
                  <a:lnTo>
                    <a:pt x="453" y="6"/>
                  </a:lnTo>
                  <a:lnTo>
                    <a:pt x="453" y="8"/>
                  </a:lnTo>
                  <a:lnTo>
                    <a:pt x="453" y="11"/>
                  </a:lnTo>
                  <a:lnTo>
                    <a:pt x="453" y="14"/>
                  </a:lnTo>
                  <a:lnTo>
                    <a:pt x="453" y="18"/>
                  </a:lnTo>
                  <a:lnTo>
                    <a:pt x="455" y="21"/>
                  </a:lnTo>
                  <a:lnTo>
                    <a:pt x="455" y="24"/>
                  </a:lnTo>
                  <a:lnTo>
                    <a:pt x="455" y="28"/>
                  </a:lnTo>
                  <a:lnTo>
                    <a:pt x="453" y="31"/>
                  </a:lnTo>
                  <a:lnTo>
                    <a:pt x="453" y="34"/>
                  </a:lnTo>
                  <a:lnTo>
                    <a:pt x="453" y="38"/>
                  </a:lnTo>
                  <a:lnTo>
                    <a:pt x="453" y="41"/>
                  </a:lnTo>
                  <a:lnTo>
                    <a:pt x="453" y="44"/>
                  </a:lnTo>
                  <a:lnTo>
                    <a:pt x="453" y="48"/>
                  </a:lnTo>
                  <a:lnTo>
                    <a:pt x="453" y="51"/>
                  </a:lnTo>
                  <a:lnTo>
                    <a:pt x="457" y="51"/>
                  </a:lnTo>
                  <a:lnTo>
                    <a:pt x="457" y="48"/>
                  </a:lnTo>
                  <a:lnTo>
                    <a:pt x="457" y="44"/>
                  </a:lnTo>
                  <a:lnTo>
                    <a:pt x="457" y="41"/>
                  </a:lnTo>
                  <a:lnTo>
                    <a:pt x="457" y="38"/>
                  </a:lnTo>
                  <a:lnTo>
                    <a:pt x="457" y="34"/>
                  </a:lnTo>
                  <a:lnTo>
                    <a:pt x="457" y="31"/>
                  </a:lnTo>
                  <a:lnTo>
                    <a:pt x="458" y="28"/>
                  </a:lnTo>
                  <a:lnTo>
                    <a:pt x="458"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37" name="Freeform 378">
              <a:extLst>
                <a:ext uri="{FF2B5EF4-FFF2-40B4-BE49-F238E27FC236}">
                  <a16:creationId xmlns:a16="http://schemas.microsoft.com/office/drawing/2014/main" id="{EADBCD49-A346-835E-64B4-CC0B6B2BEE57}"/>
                </a:ext>
              </a:extLst>
            </p:cNvPr>
            <p:cNvSpPr>
              <a:spLocks noEditPoints="1"/>
            </p:cNvSpPr>
            <p:nvPr/>
          </p:nvSpPr>
          <p:spPr bwMode="auto">
            <a:xfrm>
              <a:off x="1384" y="1713"/>
              <a:ext cx="456" cy="51"/>
            </a:xfrm>
            <a:custGeom>
              <a:avLst/>
              <a:gdLst>
                <a:gd name="T0" fmla="*/ 456 w 456"/>
                <a:gd name="T1" fmla="*/ 21 h 51"/>
                <a:gd name="T2" fmla="*/ 454 w 456"/>
                <a:gd name="T3" fmla="*/ 14 h 51"/>
                <a:gd name="T4" fmla="*/ 454 w 456"/>
                <a:gd name="T5" fmla="*/ 8 h 51"/>
                <a:gd name="T6" fmla="*/ 454 w 456"/>
                <a:gd name="T7" fmla="*/ 3 h 51"/>
                <a:gd name="T8" fmla="*/ 451 w 456"/>
                <a:gd name="T9" fmla="*/ 0 h 51"/>
                <a:gd name="T10" fmla="*/ 451 w 456"/>
                <a:gd name="T11" fmla="*/ 6 h 51"/>
                <a:gd name="T12" fmla="*/ 451 w 456"/>
                <a:gd name="T13" fmla="*/ 11 h 51"/>
                <a:gd name="T14" fmla="*/ 451 w 456"/>
                <a:gd name="T15" fmla="*/ 18 h 51"/>
                <a:gd name="T16" fmla="*/ 452 w 456"/>
                <a:gd name="T17" fmla="*/ 24 h 51"/>
                <a:gd name="T18" fmla="*/ 451 w 456"/>
                <a:gd name="T19" fmla="*/ 31 h 51"/>
                <a:gd name="T20" fmla="*/ 451 w 456"/>
                <a:gd name="T21" fmla="*/ 38 h 51"/>
                <a:gd name="T22" fmla="*/ 451 w 456"/>
                <a:gd name="T23" fmla="*/ 44 h 51"/>
                <a:gd name="T24" fmla="*/ 451 w 456"/>
                <a:gd name="T25" fmla="*/ 51 h 51"/>
                <a:gd name="T26" fmla="*/ 454 w 456"/>
                <a:gd name="T27" fmla="*/ 48 h 51"/>
                <a:gd name="T28" fmla="*/ 454 w 456"/>
                <a:gd name="T29" fmla="*/ 41 h 51"/>
                <a:gd name="T30" fmla="*/ 454 w 456"/>
                <a:gd name="T31" fmla="*/ 34 h 51"/>
                <a:gd name="T32" fmla="*/ 456 w 456"/>
                <a:gd name="T33" fmla="*/ 28 h 51"/>
                <a:gd name="T34" fmla="*/ 2 w 456"/>
                <a:gd name="T35" fmla="*/ 0 h 51"/>
                <a:gd name="T36" fmla="*/ 0 w 456"/>
                <a:gd name="T37" fmla="*/ 6 h 51"/>
                <a:gd name="T38" fmla="*/ 0 w 456"/>
                <a:gd name="T39" fmla="*/ 11 h 51"/>
                <a:gd name="T40" fmla="*/ 0 w 456"/>
                <a:gd name="T41" fmla="*/ 18 h 51"/>
                <a:gd name="T42" fmla="*/ 0 w 456"/>
                <a:gd name="T43" fmla="*/ 24 h 51"/>
                <a:gd name="T44" fmla="*/ 0 w 456"/>
                <a:gd name="T45" fmla="*/ 31 h 51"/>
                <a:gd name="T46" fmla="*/ 0 w 456"/>
                <a:gd name="T47" fmla="*/ 38 h 51"/>
                <a:gd name="T48" fmla="*/ 0 w 456"/>
                <a:gd name="T49" fmla="*/ 44 h 51"/>
                <a:gd name="T50" fmla="*/ 0 w 456"/>
                <a:gd name="T51" fmla="*/ 51 h 51"/>
                <a:gd name="T52" fmla="*/ 4 w 456"/>
                <a:gd name="T53" fmla="*/ 48 h 51"/>
                <a:gd name="T54" fmla="*/ 4 w 456"/>
                <a:gd name="T55" fmla="*/ 41 h 51"/>
                <a:gd name="T56" fmla="*/ 4 w 456"/>
                <a:gd name="T57" fmla="*/ 34 h 51"/>
                <a:gd name="T58" fmla="*/ 4 w 456"/>
                <a:gd name="T59" fmla="*/ 28 h 51"/>
                <a:gd name="T60" fmla="*/ 4 w 456"/>
                <a:gd name="T61" fmla="*/ 21 h 51"/>
                <a:gd name="T62" fmla="*/ 4 w 456"/>
                <a:gd name="T63" fmla="*/ 14 h 51"/>
                <a:gd name="T64" fmla="*/ 4 w 456"/>
                <a:gd name="T65" fmla="*/ 8 h 51"/>
                <a:gd name="T66" fmla="*/ 4 w 456"/>
                <a:gd name="T67" fmla="*/ 3 h 51"/>
                <a:gd name="T68" fmla="*/ 2 w 4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6" h="51">
                  <a:moveTo>
                    <a:pt x="456" y="24"/>
                  </a:moveTo>
                  <a:lnTo>
                    <a:pt x="456" y="21"/>
                  </a:lnTo>
                  <a:lnTo>
                    <a:pt x="454" y="18"/>
                  </a:lnTo>
                  <a:lnTo>
                    <a:pt x="454" y="14"/>
                  </a:lnTo>
                  <a:lnTo>
                    <a:pt x="454" y="11"/>
                  </a:lnTo>
                  <a:lnTo>
                    <a:pt x="454" y="8"/>
                  </a:lnTo>
                  <a:lnTo>
                    <a:pt x="454" y="6"/>
                  </a:lnTo>
                  <a:lnTo>
                    <a:pt x="454" y="3"/>
                  </a:lnTo>
                  <a:lnTo>
                    <a:pt x="454" y="0"/>
                  </a:lnTo>
                  <a:lnTo>
                    <a:pt x="451" y="0"/>
                  </a:lnTo>
                  <a:lnTo>
                    <a:pt x="451" y="3"/>
                  </a:lnTo>
                  <a:lnTo>
                    <a:pt x="451" y="6"/>
                  </a:lnTo>
                  <a:lnTo>
                    <a:pt x="451" y="8"/>
                  </a:lnTo>
                  <a:lnTo>
                    <a:pt x="451" y="11"/>
                  </a:lnTo>
                  <a:lnTo>
                    <a:pt x="451" y="14"/>
                  </a:lnTo>
                  <a:lnTo>
                    <a:pt x="451" y="18"/>
                  </a:lnTo>
                  <a:lnTo>
                    <a:pt x="452" y="21"/>
                  </a:lnTo>
                  <a:lnTo>
                    <a:pt x="452" y="24"/>
                  </a:lnTo>
                  <a:lnTo>
                    <a:pt x="452" y="28"/>
                  </a:lnTo>
                  <a:lnTo>
                    <a:pt x="451" y="31"/>
                  </a:lnTo>
                  <a:lnTo>
                    <a:pt x="451" y="34"/>
                  </a:lnTo>
                  <a:lnTo>
                    <a:pt x="451" y="38"/>
                  </a:lnTo>
                  <a:lnTo>
                    <a:pt x="451" y="41"/>
                  </a:lnTo>
                  <a:lnTo>
                    <a:pt x="451" y="44"/>
                  </a:lnTo>
                  <a:lnTo>
                    <a:pt x="451" y="48"/>
                  </a:lnTo>
                  <a:lnTo>
                    <a:pt x="451" y="51"/>
                  </a:lnTo>
                  <a:lnTo>
                    <a:pt x="454" y="51"/>
                  </a:lnTo>
                  <a:lnTo>
                    <a:pt x="454" y="48"/>
                  </a:lnTo>
                  <a:lnTo>
                    <a:pt x="454" y="44"/>
                  </a:lnTo>
                  <a:lnTo>
                    <a:pt x="454" y="41"/>
                  </a:lnTo>
                  <a:lnTo>
                    <a:pt x="454" y="38"/>
                  </a:lnTo>
                  <a:lnTo>
                    <a:pt x="454" y="34"/>
                  </a:lnTo>
                  <a:lnTo>
                    <a:pt x="454" y="31"/>
                  </a:lnTo>
                  <a:lnTo>
                    <a:pt x="456" y="28"/>
                  </a:lnTo>
                  <a:lnTo>
                    <a:pt x="45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38" name="Freeform 379">
              <a:extLst>
                <a:ext uri="{FF2B5EF4-FFF2-40B4-BE49-F238E27FC236}">
                  <a16:creationId xmlns:a16="http://schemas.microsoft.com/office/drawing/2014/main" id="{57DAA002-7A99-14FE-81FE-6014BB1E6F30}"/>
                </a:ext>
              </a:extLst>
            </p:cNvPr>
            <p:cNvSpPr>
              <a:spLocks noEditPoints="1"/>
            </p:cNvSpPr>
            <p:nvPr/>
          </p:nvSpPr>
          <p:spPr bwMode="auto">
            <a:xfrm>
              <a:off x="1386" y="1713"/>
              <a:ext cx="452" cy="51"/>
            </a:xfrm>
            <a:custGeom>
              <a:avLst/>
              <a:gdLst>
                <a:gd name="T0" fmla="*/ 452 w 452"/>
                <a:gd name="T1" fmla="*/ 21 h 51"/>
                <a:gd name="T2" fmla="*/ 450 w 452"/>
                <a:gd name="T3" fmla="*/ 14 h 51"/>
                <a:gd name="T4" fmla="*/ 450 w 452"/>
                <a:gd name="T5" fmla="*/ 8 h 51"/>
                <a:gd name="T6" fmla="*/ 450 w 452"/>
                <a:gd name="T7" fmla="*/ 3 h 51"/>
                <a:gd name="T8" fmla="*/ 447 w 452"/>
                <a:gd name="T9" fmla="*/ 0 h 51"/>
                <a:gd name="T10" fmla="*/ 447 w 452"/>
                <a:gd name="T11" fmla="*/ 6 h 51"/>
                <a:gd name="T12" fmla="*/ 447 w 452"/>
                <a:gd name="T13" fmla="*/ 11 h 51"/>
                <a:gd name="T14" fmla="*/ 447 w 452"/>
                <a:gd name="T15" fmla="*/ 18 h 51"/>
                <a:gd name="T16" fmla="*/ 449 w 452"/>
                <a:gd name="T17" fmla="*/ 24 h 51"/>
                <a:gd name="T18" fmla="*/ 447 w 452"/>
                <a:gd name="T19" fmla="*/ 31 h 51"/>
                <a:gd name="T20" fmla="*/ 447 w 452"/>
                <a:gd name="T21" fmla="*/ 38 h 51"/>
                <a:gd name="T22" fmla="*/ 447 w 452"/>
                <a:gd name="T23" fmla="*/ 44 h 51"/>
                <a:gd name="T24" fmla="*/ 447 w 452"/>
                <a:gd name="T25" fmla="*/ 51 h 51"/>
                <a:gd name="T26" fmla="*/ 450 w 452"/>
                <a:gd name="T27" fmla="*/ 48 h 51"/>
                <a:gd name="T28" fmla="*/ 450 w 452"/>
                <a:gd name="T29" fmla="*/ 41 h 51"/>
                <a:gd name="T30" fmla="*/ 450 w 452"/>
                <a:gd name="T31" fmla="*/ 34 h 51"/>
                <a:gd name="T32" fmla="*/ 452 w 452"/>
                <a:gd name="T33" fmla="*/ 28 h 51"/>
                <a:gd name="T34" fmla="*/ 2 w 452"/>
                <a:gd name="T35" fmla="*/ 0 h 51"/>
                <a:gd name="T36" fmla="*/ 0 w 452"/>
                <a:gd name="T37" fmla="*/ 6 h 51"/>
                <a:gd name="T38" fmla="*/ 0 w 452"/>
                <a:gd name="T39" fmla="*/ 11 h 51"/>
                <a:gd name="T40" fmla="*/ 0 w 452"/>
                <a:gd name="T41" fmla="*/ 18 h 51"/>
                <a:gd name="T42" fmla="*/ 0 w 452"/>
                <a:gd name="T43" fmla="*/ 24 h 51"/>
                <a:gd name="T44" fmla="*/ 0 w 452"/>
                <a:gd name="T45" fmla="*/ 31 h 51"/>
                <a:gd name="T46" fmla="*/ 0 w 452"/>
                <a:gd name="T47" fmla="*/ 38 h 51"/>
                <a:gd name="T48" fmla="*/ 0 w 452"/>
                <a:gd name="T49" fmla="*/ 44 h 51"/>
                <a:gd name="T50" fmla="*/ 0 w 452"/>
                <a:gd name="T51" fmla="*/ 51 h 51"/>
                <a:gd name="T52" fmla="*/ 3 w 452"/>
                <a:gd name="T53" fmla="*/ 48 h 51"/>
                <a:gd name="T54" fmla="*/ 3 w 452"/>
                <a:gd name="T55" fmla="*/ 41 h 51"/>
                <a:gd name="T56" fmla="*/ 3 w 452"/>
                <a:gd name="T57" fmla="*/ 34 h 51"/>
                <a:gd name="T58" fmla="*/ 3 w 452"/>
                <a:gd name="T59" fmla="*/ 28 h 51"/>
                <a:gd name="T60" fmla="*/ 3 w 452"/>
                <a:gd name="T61" fmla="*/ 21 h 51"/>
                <a:gd name="T62" fmla="*/ 3 w 452"/>
                <a:gd name="T63" fmla="*/ 14 h 51"/>
                <a:gd name="T64" fmla="*/ 3 w 452"/>
                <a:gd name="T65" fmla="*/ 8 h 51"/>
                <a:gd name="T66" fmla="*/ 3 w 452"/>
                <a:gd name="T67" fmla="*/ 3 h 51"/>
                <a:gd name="T68" fmla="*/ 2 w 4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2" h="51">
                  <a:moveTo>
                    <a:pt x="452" y="24"/>
                  </a:moveTo>
                  <a:lnTo>
                    <a:pt x="452" y="21"/>
                  </a:lnTo>
                  <a:lnTo>
                    <a:pt x="450" y="18"/>
                  </a:lnTo>
                  <a:lnTo>
                    <a:pt x="450" y="14"/>
                  </a:lnTo>
                  <a:lnTo>
                    <a:pt x="450" y="11"/>
                  </a:lnTo>
                  <a:lnTo>
                    <a:pt x="450" y="8"/>
                  </a:lnTo>
                  <a:lnTo>
                    <a:pt x="450" y="6"/>
                  </a:lnTo>
                  <a:lnTo>
                    <a:pt x="450" y="3"/>
                  </a:lnTo>
                  <a:lnTo>
                    <a:pt x="450" y="0"/>
                  </a:lnTo>
                  <a:lnTo>
                    <a:pt x="447" y="0"/>
                  </a:lnTo>
                  <a:lnTo>
                    <a:pt x="447" y="3"/>
                  </a:lnTo>
                  <a:lnTo>
                    <a:pt x="447" y="6"/>
                  </a:lnTo>
                  <a:lnTo>
                    <a:pt x="447" y="8"/>
                  </a:lnTo>
                  <a:lnTo>
                    <a:pt x="447" y="11"/>
                  </a:lnTo>
                  <a:lnTo>
                    <a:pt x="447" y="14"/>
                  </a:lnTo>
                  <a:lnTo>
                    <a:pt x="447" y="18"/>
                  </a:lnTo>
                  <a:lnTo>
                    <a:pt x="449" y="21"/>
                  </a:lnTo>
                  <a:lnTo>
                    <a:pt x="449" y="24"/>
                  </a:lnTo>
                  <a:lnTo>
                    <a:pt x="449" y="28"/>
                  </a:lnTo>
                  <a:lnTo>
                    <a:pt x="447" y="31"/>
                  </a:lnTo>
                  <a:lnTo>
                    <a:pt x="447" y="34"/>
                  </a:lnTo>
                  <a:lnTo>
                    <a:pt x="447" y="38"/>
                  </a:lnTo>
                  <a:lnTo>
                    <a:pt x="447" y="41"/>
                  </a:lnTo>
                  <a:lnTo>
                    <a:pt x="447" y="44"/>
                  </a:lnTo>
                  <a:lnTo>
                    <a:pt x="447" y="48"/>
                  </a:lnTo>
                  <a:lnTo>
                    <a:pt x="447" y="51"/>
                  </a:lnTo>
                  <a:lnTo>
                    <a:pt x="450" y="51"/>
                  </a:lnTo>
                  <a:lnTo>
                    <a:pt x="450" y="48"/>
                  </a:lnTo>
                  <a:lnTo>
                    <a:pt x="450" y="44"/>
                  </a:lnTo>
                  <a:lnTo>
                    <a:pt x="450" y="41"/>
                  </a:lnTo>
                  <a:lnTo>
                    <a:pt x="450" y="38"/>
                  </a:lnTo>
                  <a:lnTo>
                    <a:pt x="450" y="34"/>
                  </a:lnTo>
                  <a:lnTo>
                    <a:pt x="450" y="31"/>
                  </a:lnTo>
                  <a:lnTo>
                    <a:pt x="452" y="28"/>
                  </a:lnTo>
                  <a:lnTo>
                    <a:pt x="45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39" name="Freeform 380">
              <a:extLst>
                <a:ext uri="{FF2B5EF4-FFF2-40B4-BE49-F238E27FC236}">
                  <a16:creationId xmlns:a16="http://schemas.microsoft.com/office/drawing/2014/main" id="{4902C750-44F9-4E99-B9D8-146F3DEB2F4B}"/>
                </a:ext>
              </a:extLst>
            </p:cNvPr>
            <p:cNvSpPr>
              <a:spLocks noEditPoints="1"/>
            </p:cNvSpPr>
            <p:nvPr/>
          </p:nvSpPr>
          <p:spPr bwMode="auto">
            <a:xfrm>
              <a:off x="1388" y="1713"/>
              <a:ext cx="448" cy="51"/>
            </a:xfrm>
            <a:custGeom>
              <a:avLst/>
              <a:gdLst>
                <a:gd name="T0" fmla="*/ 448 w 448"/>
                <a:gd name="T1" fmla="*/ 21 h 51"/>
                <a:gd name="T2" fmla="*/ 447 w 448"/>
                <a:gd name="T3" fmla="*/ 14 h 51"/>
                <a:gd name="T4" fmla="*/ 447 w 448"/>
                <a:gd name="T5" fmla="*/ 8 h 51"/>
                <a:gd name="T6" fmla="*/ 447 w 448"/>
                <a:gd name="T7" fmla="*/ 3 h 51"/>
                <a:gd name="T8" fmla="*/ 443 w 448"/>
                <a:gd name="T9" fmla="*/ 0 h 51"/>
                <a:gd name="T10" fmla="*/ 443 w 448"/>
                <a:gd name="T11" fmla="*/ 6 h 51"/>
                <a:gd name="T12" fmla="*/ 443 w 448"/>
                <a:gd name="T13" fmla="*/ 11 h 51"/>
                <a:gd name="T14" fmla="*/ 443 w 448"/>
                <a:gd name="T15" fmla="*/ 18 h 51"/>
                <a:gd name="T16" fmla="*/ 445 w 448"/>
                <a:gd name="T17" fmla="*/ 24 h 51"/>
                <a:gd name="T18" fmla="*/ 443 w 448"/>
                <a:gd name="T19" fmla="*/ 31 h 51"/>
                <a:gd name="T20" fmla="*/ 443 w 448"/>
                <a:gd name="T21" fmla="*/ 38 h 51"/>
                <a:gd name="T22" fmla="*/ 443 w 448"/>
                <a:gd name="T23" fmla="*/ 44 h 51"/>
                <a:gd name="T24" fmla="*/ 443 w 448"/>
                <a:gd name="T25" fmla="*/ 51 h 51"/>
                <a:gd name="T26" fmla="*/ 447 w 448"/>
                <a:gd name="T27" fmla="*/ 48 h 51"/>
                <a:gd name="T28" fmla="*/ 447 w 448"/>
                <a:gd name="T29" fmla="*/ 41 h 51"/>
                <a:gd name="T30" fmla="*/ 447 w 448"/>
                <a:gd name="T31" fmla="*/ 34 h 51"/>
                <a:gd name="T32" fmla="*/ 448 w 448"/>
                <a:gd name="T33" fmla="*/ 28 h 51"/>
                <a:gd name="T34" fmla="*/ 1 w 448"/>
                <a:gd name="T35" fmla="*/ 0 h 51"/>
                <a:gd name="T36" fmla="*/ 0 w 448"/>
                <a:gd name="T37" fmla="*/ 6 h 51"/>
                <a:gd name="T38" fmla="*/ 0 w 448"/>
                <a:gd name="T39" fmla="*/ 11 h 51"/>
                <a:gd name="T40" fmla="*/ 0 w 448"/>
                <a:gd name="T41" fmla="*/ 18 h 51"/>
                <a:gd name="T42" fmla="*/ 0 w 448"/>
                <a:gd name="T43" fmla="*/ 24 h 51"/>
                <a:gd name="T44" fmla="*/ 0 w 448"/>
                <a:gd name="T45" fmla="*/ 31 h 51"/>
                <a:gd name="T46" fmla="*/ 0 w 448"/>
                <a:gd name="T47" fmla="*/ 38 h 51"/>
                <a:gd name="T48" fmla="*/ 0 w 448"/>
                <a:gd name="T49" fmla="*/ 44 h 51"/>
                <a:gd name="T50" fmla="*/ 0 w 448"/>
                <a:gd name="T51" fmla="*/ 51 h 51"/>
                <a:gd name="T52" fmla="*/ 3 w 448"/>
                <a:gd name="T53" fmla="*/ 48 h 51"/>
                <a:gd name="T54" fmla="*/ 3 w 448"/>
                <a:gd name="T55" fmla="*/ 41 h 51"/>
                <a:gd name="T56" fmla="*/ 3 w 448"/>
                <a:gd name="T57" fmla="*/ 34 h 51"/>
                <a:gd name="T58" fmla="*/ 3 w 448"/>
                <a:gd name="T59" fmla="*/ 28 h 51"/>
                <a:gd name="T60" fmla="*/ 3 w 448"/>
                <a:gd name="T61" fmla="*/ 21 h 51"/>
                <a:gd name="T62" fmla="*/ 3 w 448"/>
                <a:gd name="T63" fmla="*/ 14 h 51"/>
                <a:gd name="T64" fmla="*/ 3 w 448"/>
                <a:gd name="T65" fmla="*/ 8 h 51"/>
                <a:gd name="T66" fmla="*/ 3 w 448"/>
                <a:gd name="T67" fmla="*/ 3 h 51"/>
                <a:gd name="T68" fmla="*/ 1 w 44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8" h="51">
                  <a:moveTo>
                    <a:pt x="448" y="24"/>
                  </a:moveTo>
                  <a:lnTo>
                    <a:pt x="448" y="21"/>
                  </a:lnTo>
                  <a:lnTo>
                    <a:pt x="447" y="18"/>
                  </a:lnTo>
                  <a:lnTo>
                    <a:pt x="447" y="14"/>
                  </a:lnTo>
                  <a:lnTo>
                    <a:pt x="447" y="11"/>
                  </a:lnTo>
                  <a:lnTo>
                    <a:pt x="447" y="8"/>
                  </a:lnTo>
                  <a:lnTo>
                    <a:pt x="447" y="6"/>
                  </a:lnTo>
                  <a:lnTo>
                    <a:pt x="447" y="3"/>
                  </a:lnTo>
                  <a:lnTo>
                    <a:pt x="447" y="0"/>
                  </a:lnTo>
                  <a:lnTo>
                    <a:pt x="443" y="0"/>
                  </a:lnTo>
                  <a:lnTo>
                    <a:pt x="443" y="3"/>
                  </a:lnTo>
                  <a:lnTo>
                    <a:pt x="443" y="6"/>
                  </a:lnTo>
                  <a:lnTo>
                    <a:pt x="443" y="8"/>
                  </a:lnTo>
                  <a:lnTo>
                    <a:pt x="443" y="11"/>
                  </a:lnTo>
                  <a:lnTo>
                    <a:pt x="443" y="14"/>
                  </a:lnTo>
                  <a:lnTo>
                    <a:pt x="443" y="18"/>
                  </a:lnTo>
                  <a:lnTo>
                    <a:pt x="445" y="21"/>
                  </a:lnTo>
                  <a:lnTo>
                    <a:pt x="445" y="24"/>
                  </a:lnTo>
                  <a:lnTo>
                    <a:pt x="445" y="28"/>
                  </a:lnTo>
                  <a:lnTo>
                    <a:pt x="443" y="31"/>
                  </a:lnTo>
                  <a:lnTo>
                    <a:pt x="443" y="34"/>
                  </a:lnTo>
                  <a:lnTo>
                    <a:pt x="443" y="38"/>
                  </a:lnTo>
                  <a:lnTo>
                    <a:pt x="443" y="41"/>
                  </a:lnTo>
                  <a:lnTo>
                    <a:pt x="443" y="44"/>
                  </a:lnTo>
                  <a:lnTo>
                    <a:pt x="443" y="48"/>
                  </a:lnTo>
                  <a:lnTo>
                    <a:pt x="443" y="51"/>
                  </a:lnTo>
                  <a:lnTo>
                    <a:pt x="447" y="51"/>
                  </a:lnTo>
                  <a:lnTo>
                    <a:pt x="447" y="48"/>
                  </a:lnTo>
                  <a:lnTo>
                    <a:pt x="447" y="44"/>
                  </a:lnTo>
                  <a:lnTo>
                    <a:pt x="447" y="41"/>
                  </a:lnTo>
                  <a:lnTo>
                    <a:pt x="447" y="38"/>
                  </a:lnTo>
                  <a:lnTo>
                    <a:pt x="447" y="34"/>
                  </a:lnTo>
                  <a:lnTo>
                    <a:pt x="447" y="31"/>
                  </a:lnTo>
                  <a:lnTo>
                    <a:pt x="448" y="28"/>
                  </a:lnTo>
                  <a:lnTo>
                    <a:pt x="448"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40" name="Freeform 381">
              <a:extLst>
                <a:ext uri="{FF2B5EF4-FFF2-40B4-BE49-F238E27FC236}">
                  <a16:creationId xmlns:a16="http://schemas.microsoft.com/office/drawing/2014/main" id="{CA4540AE-1F24-44F9-8196-84A7C81B8EBE}"/>
                </a:ext>
              </a:extLst>
            </p:cNvPr>
            <p:cNvSpPr>
              <a:spLocks noEditPoints="1"/>
            </p:cNvSpPr>
            <p:nvPr/>
          </p:nvSpPr>
          <p:spPr bwMode="auto">
            <a:xfrm>
              <a:off x="1389" y="1713"/>
              <a:ext cx="446" cy="51"/>
            </a:xfrm>
            <a:custGeom>
              <a:avLst/>
              <a:gdLst>
                <a:gd name="T0" fmla="*/ 446 w 446"/>
                <a:gd name="T1" fmla="*/ 21 h 51"/>
                <a:gd name="T2" fmla="*/ 444 w 446"/>
                <a:gd name="T3" fmla="*/ 14 h 51"/>
                <a:gd name="T4" fmla="*/ 444 w 446"/>
                <a:gd name="T5" fmla="*/ 8 h 51"/>
                <a:gd name="T6" fmla="*/ 444 w 446"/>
                <a:gd name="T7" fmla="*/ 3 h 51"/>
                <a:gd name="T8" fmla="*/ 441 w 446"/>
                <a:gd name="T9" fmla="*/ 0 h 51"/>
                <a:gd name="T10" fmla="*/ 441 w 446"/>
                <a:gd name="T11" fmla="*/ 6 h 51"/>
                <a:gd name="T12" fmla="*/ 441 w 446"/>
                <a:gd name="T13" fmla="*/ 11 h 51"/>
                <a:gd name="T14" fmla="*/ 441 w 446"/>
                <a:gd name="T15" fmla="*/ 18 h 51"/>
                <a:gd name="T16" fmla="*/ 442 w 446"/>
                <a:gd name="T17" fmla="*/ 24 h 51"/>
                <a:gd name="T18" fmla="*/ 441 w 446"/>
                <a:gd name="T19" fmla="*/ 31 h 51"/>
                <a:gd name="T20" fmla="*/ 441 w 446"/>
                <a:gd name="T21" fmla="*/ 38 h 51"/>
                <a:gd name="T22" fmla="*/ 441 w 446"/>
                <a:gd name="T23" fmla="*/ 44 h 51"/>
                <a:gd name="T24" fmla="*/ 441 w 446"/>
                <a:gd name="T25" fmla="*/ 51 h 51"/>
                <a:gd name="T26" fmla="*/ 444 w 446"/>
                <a:gd name="T27" fmla="*/ 48 h 51"/>
                <a:gd name="T28" fmla="*/ 444 w 446"/>
                <a:gd name="T29" fmla="*/ 41 h 51"/>
                <a:gd name="T30" fmla="*/ 444 w 446"/>
                <a:gd name="T31" fmla="*/ 34 h 51"/>
                <a:gd name="T32" fmla="*/ 446 w 446"/>
                <a:gd name="T33" fmla="*/ 28 h 51"/>
                <a:gd name="T34" fmla="*/ 2 w 446"/>
                <a:gd name="T35" fmla="*/ 0 h 51"/>
                <a:gd name="T36" fmla="*/ 0 w 446"/>
                <a:gd name="T37" fmla="*/ 6 h 51"/>
                <a:gd name="T38" fmla="*/ 0 w 446"/>
                <a:gd name="T39" fmla="*/ 11 h 51"/>
                <a:gd name="T40" fmla="*/ 0 w 446"/>
                <a:gd name="T41" fmla="*/ 18 h 51"/>
                <a:gd name="T42" fmla="*/ 0 w 446"/>
                <a:gd name="T43" fmla="*/ 24 h 51"/>
                <a:gd name="T44" fmla="*/ 0 w 446"/>
                <a:gd name="T45" fmla="*/ 31 h 51"/>
                <a:gd name="T46" fmla="*/ 0 w 446"/>
                <a:gd name="T47" fmla="*/ 38 h 51"/>
                <a:gd name="T48" fmla="*/ 0 w 446"/>
                <a:gd name="T49" fmla="*/ 44 h 51"/>
                <a:gd name="T50" fmla="*/ 0 w 446"/>
                <a:gd name="T51" fmla="*/ 51 h 51"/>
                <a:gd name="T52" fmla="*/ 4 w 446"/>
                <a:gd name="T53" fmla="*/ 48 h 51"/>
                <a:gd name="T54" fmla="*/ 4 w 446"/>
                <a:gd name="T55" fmla="*/ 41 h 51"/>
                <a:gd name="T56" fmla="*/ 4 w 446"/>
                <a:gd name="T57" fmla="*/ 34 h 51"/>
                <a:gd name="T58" fmla="*/ 4 w 446"/>
                <a:gd name="T59" fmla="*/ 28 h 51"/>
                <a:gd name="T60" fmla="*/ 4 w 446"/>
                <a:gd name="T61" fmla="*/ 21 h 51"/>
                <a:gd name="T62" fmla="*/ 4 w 446"/>
                <a:gd name="T63" fmla="*/ 14 h 51"/>
                <a:gd name="T64" fmla="*/ 4 w 446"/>
                <a:gd name="T65" fmla="*/ 8 h 51"/>
                <a:gd name="T66" fmla="*/ 4 w 446"/>
                <a:gd name="T67" fmla="*/ 3 h 51"/>
                <a:gd name="T68" fmla="*/ 2 w 4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6" h="51">
                  <a:moveTo>
                    <a:pt x="446" y="24"/>
                  </a:moveTo>
                  <a:lnTo>
                    <a:pt x="446" y="21"/>
                  </a:lnTo>
                  <a:lnTo>
                    <a:pt x="444" y="18"/>
                  </a:lnTo>
                  <a:lnTo>
                    <a:pt x="444" y="14"/>
                  </a:lnTo>
                  <a:lnTo>
                    <a:pt x="444" y="11"/>
                  </a:lnTo>
                  <a:lnTo>
                    <a:pt x="444" y="8"/>
                  </a:lnTo>
                  <a:lnTo>
                    <a:pt x="444" y="6"/>
                  </a:lnTo>
                  <a:lnTo>
                    <a:pt x="444" y="3"/>
                  </a:lnTo>
                  <a:lnTo>
                    <a:pt x="444" y="0"/>
                  </a:lnTo>
                  <a:lnTo>
                    <a:pt x="441" y="0"/>
                  </a:lnTo>
                  <a:lnTo>
                    <a:pt x="441" y="3"/>
                  </a:lnTo>
                  <a:lnTo>
                    <a:pt x="441" y="6"/>
                  </a:lnTo>
                  <a:lnTo>
                    <a:pt x="441" y="8"/>
                  </a:lnTo>
                  <a:lnTo>
                    <a:pt x="441" y="11"/>
                  </a:lnTo>
                  <a:lnTo>
                    <a:pt x="441" y="14"/>
                  </a:lnTo>
                  <a:lnTo>
                    <a:pt x="441" y="18"/>
                  </a:lnTo>
                  <a:lnTo>
                    <a:pt x="442" y="21"/>
                  </a:lnTo>
                  <a:lnTo>
                    <a:pt x="442" y="24"/>
                  </a:lnTo>
                  <a:lnTo>
                    <a:pt x="442" y="28"/>
                  </a:lnTo>
                  <a:lnTo>
                    <a:pt x="441" y="31"/>
                  </a:lnTo>
                  <a:lnTo>
                    <a:pt x="441" y="34"/>
                  </a:lnTo>
                  <a:lnTo>
                    <a:pt x="441" y="38"/>
                  </a:lnTo>
                  <a:lnTo>
                    <a:pt x="441" y="41"/>
                  </a:lnTo>
                  <a:lnTo>
                    <a:pt x="441" y="44"/>
                  </a:lnTo>
                  <a:lnTo>
                    <a:pt x="441" y="48"/>
                  </a:lnTo>
                  <a:lnTo>
                    <a:pt x="441" y="51"/>
                  </a:lnTo>
                  <a:lnTo>
                    <a:pt x="444" y="51"/>
                  </a:lnTo>
                  <a:lnTo>
                    <a:pt x="444" y="48"/>
                  </a:lnTo>
                  <a:lnTo>
                    <a:pt x="444" y="44"/>
                  </a:lnTo>
                  <a:lnTo>
                    <a:pt x="444" y="41"/>
                  </a:lnTo>
                  <a:lnTo>
                    <a:pt x="444" y="38"/>
                  </a:lnTo>
                  <a:lnTo>
                    <a:pt x="444" y="34"/>
                  </a:lnTo>
                  <a:lnTo>
                    <a:pt x="444" y="31"/>
                  </a:lnTo>
                  <a:lnTo>
                    <a:pt x="446" y="28"/>
                  </a:lnTo>
                  <a:lnTo>
                    <a:pt x="44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41" name="Freeform 382">
              <a:extLst>
                <a:ext uri="{FF2B5EF4-FFF2-40B4-BE49-F238E27FC236}">
                  <a16:creationId xmlns:a16="http://schemas.microsoft.com/office/drawing/2014/main" id="{A32FA7F2-9351-C614-AE13-80B71E5ECF3C}"/>
                </a:ext>
              </a:extLst>
            </p:cNvPr>
            <p:cNvSpPr>
              <a:spLocks noEditPoints="1"/>
            </p:cNvSpPr>
            <p:nvPr/>
          </p:nvSpPr>
          <p:spPr bwMode="auto">
            <a:xfrm>
              <a:off x="1391" y="1713"/>
              <a:ext cx="442" cy="51"/>
            </a:xfrm>
            <a:custGeom>
              <a:avLst/>
              <a:gdLst>
                <a:gd name="T0" fmla="*/ 442 w 442"/>
                <a:gd name="T1" fmla="*/ 21 h 51"/>
                <a:gd name="T2" fmla="*/ 440 w 442"/>
                <a:gd name="T3" fmla="*/ 14 h 51"/>
                <a:gd name="T4" fmla="*/ 440 w 442"/>
                <a:gd name="T5" fmla="*/ 8 h 51"/>
                <a:gd name="T6" fmla="*/ 440 w 442"/>
                <a:gd name="T7" fmla="*/ 3 h 51"/>
                <a:gd name="T8" fmla="*/ 437 w 442"/>
                <a:gd name="T9" fmla="*/ 0 h 51"/>
                <a:gd name="T10" fmla="*/ 437 w 442"/>
                <a:gd name="T11" fmla="*/ 6 h 51"/>
                <a:gd name="T12" fmla="*/ 437 w 442"/>
                <a:gd name="T13" fmla="*/ 11 h 51"/>
                <a:gd name="T14" fmla="*/ 437 w 442"/>
                <a:gd name="T15" fmla="*/ 18 h 51"/>
                <a:gd name="T16" fmla="*/ 439 w 442"/>
                <a:gd name="T17" fmla="*/ 24 h 51"/>
                <a:gd name="T18" fmla="*/ 437 w 442"/>
                <a:gd name="T19" fmla="*/ 31 h 51"/>
                <a:gd name="T20" fmla="*/ 437 w 442"/>
                <a:gd name="T21" fmla="*/ 38 h 51"/>
                <a:gd name="T22" fmla="*/ 437 w 442"/>
                <a:gd name="T23" fmla="*/ 44 h 51"/>
                <a:gd name="T24" fmla="*/ 437 w 442"/>
                <a:gd name="T25" fmla="*/ 51 h 51"/>
                <a:gd name="T26" fmla="*/ 440 w 442"/>
                <a:gd name="T27" fmla="*/ 48 h 51"/>
                <a:gd name="T28" fmla="*/ 440 w 442"/>
                <a:gd name="T29" fmla="*/ 41 h 51"/>
                <a:gd name="T30" fmla="*/ 440 w 442"/>
                <a:gd name="T31" fmla="*/ 34 h 51"/>
                <a:gd name="T32" fmla="*/ 442 w 442"/>
                <a:gd name="T33" fmla="*/ 28 h 51"/>
                <a:gd name="T34" fmla="*/ 2 w 442"/>
                <a:gd name="T35" fmla="*/ 0 h 51"/>
                <a:gd name="T36" fmla="*/ 0 w 442"/>
                <a:gd name="T37" fmla="*/ 6 h 51"/>
                <a:gd name="T38" fmla="*/ 0 w 442"/>
                <a:gd name="T39" fmla="*/ 11 h 51"/>
                <a:gd name="T40" fmla="*/ 0 w 442"/>
                <a:gd name="T41" fmla="*/ 18 h 51"/>
                <a:gd name="T42" fmla="*/ 0 w 442"/>
                <a:gd name="T43" fmla="*/ 24 h 51"/>
                <a:gd name="T44" fmla="*/ 0 w 442"/>
                <a:gd name="T45" fmla="*/ 31 h 51"/>
                <a:gd name="T46" fmla="*/ 0 w 442"/>
                <a:gd name="T47" fmla="*/ 38 h 51"/>
                <a:gd name="T48" fmla="*/ 0 w 442"/>
                <a:gd name="T49" fmla="*/ 44 h 51"/>
                <a:gd name="T50" fmla="*/ 0 w 442"/>
                <a:gd name="T51" fmla="*/ 51 h 51"/>
                <a:gd name="T52" fmla="*/ 3 w 442"/>
                <a:gd name="T53" fmla="*/ 48 h 51"/>
                <a:gd name="T54" fmla="*/ 3 w 442"/>
                <a:gd name="T55" fmla="*/ 41 h 51"/>
                <a:gd name="T56" fmla="*/ 3 w 442"/>
                <a:gd name="T57" fmla="*/ 34 h 51"/>
                <a:gd name="T58" fmla="*/ 3 w 442"/>
                <a:gd name="T59" fmla="*/ 28 h 51"/>
                <a:gd name="T60" fmla="*/ 3 w 442"/>
                <a:gd name="T61" fmla="*/ 21 h 51"/>
                <a:gd name="T62" fmla="*/ 3 w 442"/>
                <a:gd name="T63" fmla="*/ 14 h 51"/>
                <a:gd name="T64" fmla="*/ 3 w 442"/>
                <a:gd name="T65" fmla="*/ 8 h 51"/>
                <a:gd name="T66" fmla="*/ 3 w 442"/>
                <a:gd name="T67" fmla="*/ 3 h 51"/>
                <a:gd name="T68" fmla="*/ 2 w 4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2" h="51">
                  <a:moveTo>
                    <a:pt x="442" y="24"/>
                  </a:moveTo>
                  <a:lnTo>
                    <a:pt x="442" y="21"/>
                  </a:lnTo>
                  <a:lnTo>
                    <a:pt x="440" y="18"/>
                  </a:lnTo>
                  <a:lnTo>
                    <a:pt x="440" y="14"/>
                  </a:lnTo>
                  <a:lnTo>
                    <a:pt x="440" y="11"/>
                  </a:lnTo>
                  <a:lnTo>
                    <a:pt x="440" y="8"/>
                  </a:lnTo>
                  <a:lnTo>
                    <a:pt x="440" y="6"/>
                  </a:lnTo>
                  <a:lnTo>
                    <a:pt x="440" y="3"/>
                  </a:lnTo>
                  <a:lnTo>
                    <a:pt x="440" y="0"/>
                  </a:lnTo>
                  <a:lnTo>
                    <a:pt x="437" y="0"/>
                  </a:lnTo>
                  <a:lnTo>
                    <a:pt x="437" y="3"/>
                  </a:lnTo>
                  <a:lnTo>
                    <a:pt x="437" y="6"/>
                  </a:lnTo>
                  <a:lnTo>
                    <a:pt x="437" y="8"/>
                  </a:lnTo>
                  <a:lnTo>
                    <a:pt x="437" y="11"/>
                  </a:lnTo>
                  <a:lnTo>
                    <a:pt x="437" y="14"/>
                  </a:lnTo>
                  <a:lnTo>
                    <a:pt x="437" y="18"/>
                  </a:lnTo>
                  <a:lnTo>
                    <a:pt x="439" y="21"/>
                  </a:lnTo>
                  <a:lnTo>
                    <a:pt x="439" y="24"/>
                  </a:lnTo>
                  <a:lnTo>
                    <a:pt x="439" y="28"/>
                  </a:lnTo>
                  <a:lnTo>
                    <a:pt x="437" y="31"/>
                  </a:lnTo>
                  <a:lnTo>
                    <a:pt x="437" y="34"/>
                  </a:lnTo>
                  <a:lnTo>
                    <a:pt x="437" y="38"/>
                  </a:lnTo>
                  <a:lnTo>
                    <a:pt x="437" y="41"/>
                  </a:lnTo>
                  <a:lnTo>
                    <a:pt x="437" y="44"/>
                  </a:lnTo>
                  <a:lnTo>
                    <a:pt x="437" y="48"/>
                  </a:lnTo>
                  <a:lnTo>
                    <a:pt x="437" y="51"/>
                  </a:lnTo>
                  <a:lnTo>
                    <a:pt x="440" y="51"/>
                  </a:lnTo>
                  <a:lnTo>
                    <a:pt x="440" y="48"/>
                  </a:lnTo>
                  <a:lnTo>
                    <a:pt x="440" y="44"/>
                  </a:lnTo>
                  <a:lnTo>
                    <a:pt x="440" y="41"/>
                  </a:lnTo>
                  <a:lnTo>
                    <a:pt x="440" y="38"/>
                  </a:lnTo>
                  <a:lnTo>
                    <a:pt x="440" y="34"/>
                  </a:lnTo>
                  <a:lnTo>
                    <a:pt x="440" y="31"/>
                  </a:lnTo>
                  <a:lnTo>
                    <a:pt x="442" y="28"/>
                  </a:lnTo>
                  <a:lnTo>
                    <a:pt x="44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42" name="Freeform 383">
              <a:extLst>
                <a:ext uri="{FF2B5EF4-FFF2-40B4-BE49-F238E27FC236}">
                  <a16:creationId xmlns:a16="http://schemas.microsoft.com/office/drawing/2014/main" id="{6DCE948F-D1E8-D974-9447-5A9C24CEA40C}"/>
                </a:ext>
              </a:extLst>
            </p:cNvPr>
            <p:cNvSpPr>
              <a:spLocks noEditPoints="1"/>
            </p:cNvSpPr>
            <p:nvPr/>
          </p:nvSpPr>
          <p:spPr bwMode="auto">
            <a:xfrm>
              <a:off x="1393" y="1713"/>
              <a:ext cx="438" cy="51"/>
            </a:xfrm>
            <a:custGeom>
              <a:avLst/>
              <a:gdLst>
                <a:gd name="T0" fmla="*/ 438 w 438"/>
                <a:gd name="T1" fmla="*/ 21 h 51"/>
                <a:gd name="T2" fmla="*/ 437 w 438"/>
                <a:gd name="T3" fmla="*/ 14 h 51"/>
                <a:gd name="T4" fmla="*/ 437 w 438"/>
                <a:gd name="T5" fmla="*/ 8 h 51"/>
                <a:gd name="T6" fmla="*/ 437 w 438"/>
                <a:gd name="T7" fmla="*/ 3 h 51"/>
                <a:gd name="T8" fmla="*/ 433 w 438"/>
                <a:gd name="T9" fmla="*/ 0 h 51"/>
                <a:gd name="T10" fmla="*/ 433 w 438"/>
                <a:gd name="T11" fmla="*/ 6 h 51"/>
                <a:gd name="T12" fmla="*/ 433 w 438"/>
                <a:gd name="T13" fmla="*/ 11 h 51"/>
                <a:gd name="T14" fmla="*/ 433 w 438"/>
                <a:gd name="T15" fmla="*/ 18 h 51"/>
                <a:gd name="T16" fmla="*/ 435 w 438"/>
                <a:gd name="T17" fmla="*/ 24 h 51"/>
                <a:gd name="T18" fmla="*/ 433 w 438"/>
                <a:gd name="T19" fmla="*/ 31 h 51"/>
                <a:gd name="T20" fmla="*/ 433 w 438"/>
                <a:gd name="T21" fmla="*/ 38 h 51"/>
                <a:gd name="T22" fmla="*/ 433 w 438"/>
                <a:gd name="T23" fmla="*/ 44 h 51"/>
                <a:gd name="T24" fmla="*/ 433 w 438"/>
                <a:gd name="T25" fmla="*/ 51 h 51"/>
                <a:gd name="T26" fmla="*/ 437 w 438"/>
                <a:gd name="T27" fmla="*/ 48 h 51"/>
                <a:gd name="T28" fmla="*/ 437 w 438"/>
                <a:gd name="T29" fmla="*/ 41 h 51"/>
                <a:gd name="T30" fmla="*/ 437 w 438"/>
                <a:gd name="T31" fmla="*/ 34 h 51"/>
                <a:gd name="T32" fmla="*/ 438 w 438"/>
                <a:gd name="T33" fmla="*/ 28 h 51"/>
                <a:gd name="T34" fmla="*/ 1 w 438"/>
                <a:gd name="T35" fmla="*/ 0 h 51"/>
                <a:gd name="T36" fmla="*/ 0 w 438"/>
                <a:gd name="T37" fmla="*/ 6 h 51"/>
                <a:gd name="T38" fmla="*/ 0 w 438"/>
                <a:gd name="T39" fmla="*/ 11 h 51"/>
                <a:gd name="T40" fmla="*/ 0 w 438"/>
                <a:gd name="T41" fmla="*/ 18 h 51"/>
                <a:gd name="T42" fmla="*/ 0 w 438"/>
                <a:gd name="T43" fmla="*/ 24 h 51"/>
                <a:gd name="T44" fmla="*/ 0 w 438"/>
                <a:gd name="T45" fmla="*/ 31 h 51"/>
                <a:gd name="T46" fmla="*/ 0 w 438"/>
                <a:gd name="T47" fmla="*/ 38 h 51"/>
                <a:gd name="T48" fmla="*/ 0 w 438"/>
                <a:gd name="T49" fmla="*/ 44 h 51"/>
                <a:gd name="T50" fmla="*/ 0 w 438"/>
                <a:gd name="T51" fmla="*/ 51 h 51"/>
                <a:gd name="T52" fmla="*/ 3 w 438"/>
                <a:gd name="T53" fmla="*/ 48 h 51"/>
                <a:gd name="T54" fmla="*/ 3 w 438"/>
                <a:gd name="T55" fmla="*/ 41 h 51"/>
                <a:gd name="T56" fmla="*/ 3 w 438"/>
                <a:gd name="T57" fmla="*/ 34 h 51"/>
                <a:gd name="T58" fmla="*/ 3 w 438"/>
                <a:gd name="T59" fmla="*/ 28 h 51"/>
                <a:gd name="T60" fmla="*/ 3 w 438"/>
                <a:gd name="T61" fmla="*/ 21 h 51"/>
                <a:gd name="T62" fmla="*/ 3 w 438"/>
                <a:gd name="T63" fmla="*/ 14 h 51"/>
                <a:gd name="T64" fmla="*/ 3 w 438"/>
                <a:gd name="T65" fmla="*/ 8 h 51"/>
                <a:gd name="T66" fmla="*/ 3 w 438"/>
                <a:gd name="T67" fmla="*/ 3 h 51"/>
                <a:gd name="T68" fmla="*/ 1 w 43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8" h="51">
                  <a:moveTo>
                    <a:pt x="438" y="24"/>
                  </a:moveTo>
                  <a:lnTo>
                    <a:pt x="438" y="21"/>
                  </a:lnTo>
                  <a:lnTo>
                    <a:pt x="437" y="18"/>
                  </a:lnTo>
                  <a:lnTo>
                    <a:pt x="437" y="14"/>
                  </a:lnTo>
                  <a:lnTo>
                    <a:pt x="437" y="11"/>
                  </a:lnTo>
                  <a:lnTo>
                    <a:pt x="437" y="8"/>
                  </a:lnTo>
                  <a:lnTo>
                    <a:pt x="437" y="6"/>
                  </a:lnTo>
                  <a:lnTo>
                    <a:pt x="437" y="3"/>
                  </a:lnTo>
                  <a:lnTo>
                    <a:pt x="437" y="0"/>
                  </a:lnTo>
                  <a:lnTo>
                    <a:pt x="433" y="0"/>
                  </a:lnTo>
                  <a:lnTo>
                    <a:pt x="433" y="3"/>
                  </a:lnTo>
                  <a:lnTo>
                    <a:pt x="433" y="6"/>
                  </a:lnTo>
                  <a:lnTo>
                    <a:pt x="433" y="8"/>
                  </a:lnTo>
                  <a:lnTo>
                    <a:pt x="433" y="11"/>
                  </a:lnTo>
                  <a:lnTo>
                    <a:pt x="433" y="14"/>
                  </a:lnTo>
                  <a:lnTo>
                    <a:pt x="433" y="18"/>
                  </a:lnTo>
                  <a:lnTo>
                    <a:pt x="435" y="21"/>
                  </a:lnTo>
                  <a:lnTo>
                    <a:pt x="435" y="24"/>
                  </a:lnTo>
                  <a:lnTo>
                    <a:pt x="435" y="28"/>
                  </a:lnTo>
                  <a:lnTo>
                    <a:pt x="433" y="31"/>
                  </a:lnTo>
                  <a:lnTo>
                    <a:pt x="433" y="34"/>
                  </a:lnTo>
                  <a:lnTo>
                    <a:pt x="433" y="38"/>
                  </a:lnTo>
                  <a:lnTo>
                    <a:pt x="433" y="41"/>
                  </a:lnTo>
                  <a:lnTo>
                    <a:pt x="433" y="44"/>
                  </a:lnTo>
                  <a:lnTo>
                    <a:pt x="433" y="48"/>
                  </a:lnTo>
                  <a:lnTo>
                    <a:pt x="433" y="51"/>
                  </a:lnTo>
                  <a:lnTo>
                    <a:pt x="437" y="51"/>
                  </a:lnTo>
                  <a:lnTo>
                    <a:pt x="437" y="48"/>
                  </a:lnTo>
                  <a:lnTo>
                    <a:pt x="437" y="44"/>
                  </a:lnTo>
                  <a:lnTo>
                    <a:pt x="437" y="41"/>
                  </a:lnTo>
                  <a:lnTo>
                    <a:pt x="437" y="38"/>
                  </a:lnTo>
                  <a:lnTo>
                    <a:pt x="437" y="34"/>
                  </a:lnTo>
                  <a:lnTo>
                    <a:pt x="437" y="31"/>
                  </a:lnTo>
                  <a:lnTo>
                    <a:pt x="438" y="28"/>
                  </a:lnTo>
                  <a:lnTo>
                    <a:pt x="438"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43" name="Freeform 384">
              <a:extLst>
                <a:ext uri="{FF2B5EF4-FFF2-40B4-BE49-F238E27FC236}">
                  <a16:creationId xmlns:a16="http://schemas.microsoft.com/office/drawing/2014/main" id="{FE40BD73-89EC-C54A-A256-018385945A20}"/>
                </a:ext>
              </a:extLst>
            </p:cNvPr>
            <p:cNvSpPr>
              <a:spLocks noEditPoints="1"/>
            </p:cNvSpPr>
            <p:nvPr/>
          </p:nvSpPr>
          <p:spPr bwMode="auto">
            <a:xfrm>
              <a:off x="1394" y="1713"/>
              <a:ext cx="436" cy="51"/>
            </a:xfrm>
            <a:custGeom>
              <a:avLst/>
              <a:gdLst>
                <a:gd name="T0" fmla="*/ 436 w 436"/>
                <a:gd name="T1" fmla="*/ 21 h 51"/>
                <a:gd name="T2" fmla="*/ 434 w 436"/>
                <a:gd name="T3" fmla="*/ 14 h 51"/>
                <a:gd name="T4" fmla="*/ 434 w 436"/>
                <a:gd name="T5" fmla="*/ 8 h 51"/>
                <a:gd name="T6" fmla="*/ 434 w 436"/>
                <a:gd name="T7" fmla="*/ 3 h 51"/>
                <a:gd name="T8" fmla="*/ 431 w 436"/>
                <a:gd name="T9" fmla="*/ 0 h 51"/>
                <a:gd name="T10" fmla="*/ 431 w 436"/>
                <a:gd name="T11" fmla="*/ 6 h 51"/>
                <a:gd name="T12" fmla="*/ 431 w 436"/>
                <a:gd name="T13" fmla="*/ 11 h 51"/>
                <a:gd name="T14" fmla="*/ 431 w 436"/>
                <a:gd name="T15" fmla="*/ 18 h 51"/>
                <a:gd name="T16" fmla="*/ 432 w 436"/>
                <a:gd name="T17" fmla="*/ 24 h 51"/>
                <a:gd name="T18" fmla="*/ 431 w 436"/>
                <a:gd name="T19" fmla="*/ 31 h 51"/>
                <a:gd name="T20" fmla="*/ 431 w 436"/>
                <a:gd name="T21" fmla="*/ 38 h 51"/>
                <a:gd name="T22" fmla="*/ 431 w 436"/>
                <a:gd name="T23" fmla="*/ 44 h 51"/>
                <a:gd name="T24" fmla="*/ 431 w 436"/>
                <a:gd name="T25" fmla="*/ 51 h 51"/>
                <a:gd name="T26" fmla="*/ 434 w 436"/>
                <a:gd name="T27" fmla="*/ 48 h 51"/>
                <a:gd name="T28" fmla="*/ 434 w 436"/>
                <a:gd name="T29" fmla="*/ 41 h 51"/>
                <a:gd name="T30" fmla="*/ 434 w 436"/>
                <a:gd name="T31" fmla="*/ 34 h 51"/>
                <a:gd name="T32" fmla="*/ 436 w 436"/>
                <a:gd name="T33" fmla="*/ 28 h 51"/>
                <a:gd name="T34" fmla="*/ 2 w 436"/>
                <a:gd name="T35" fmla="*/ 0 h 51"/>
                <a:gd name="T36" fmla="*/ 0 w 436"/>
                <a:gd name="T37" fmla="*/ 6 h 51"/>
                <a:gd name="T38" fmla="*/ 0 w 436"/>
                <a:gd name="T39" fmla="*/ 11 h 51"/>
                <a:gd name="T40" fmla="*/ 0 w 436"/>
                <a:gd name="T41" fmla="*/ 18 h 51"/>
                <a:gd name="T42" fmla="*/ 0 w 436"/>
                <a:gd name="T43" fmla="*/ 24 h 51"/>
                <a:gd name="T44" fmla="*/ 0 w 436"/>
                <a:gd name="T45" fmla="*/ 31 h 51"/>
                <a:gd name="T46" fmla="*/ 0 w 436"/>
                <a:gd name="T47" fmla="*/ 38 h 51"/>
                <a:gd name="T48" fmla="*/ 0 w 436"/>
                <a:gd name="T49" fmla="*/ 44 h 51"/>
                <a:gd name="T50" fmla="*/ 2 w 436"/>
                <a:gd name="T51" fmla="*/ 51 h 51"/>
                <a:gd name="T52" fmla="*/ 4 w 436"/>
                <a:gd name="T53" fmla="*/ 48 h 51"/>
                <a:gd name="T54" fmla="*/ 4 w 436"/>
                <a:gd name="T55" fmla="*/ 41 h 51"/>
                <a:gd name="T56" fmla="*/ 4 w 436"/>
                <a:gd name="T57" fmla="*/ 34 h 51"/>
                <a:gd name="T58" fmla="*/ 4 w 436"/>
                <a:gd name="T59" fmla="*/ 28 h 51"/>
                <a:gd name="T60" fmla="*/ 4 w 436"/>
                <a:gd name="T61" fmla="*/ 21 h 51"/>
                <a:gd name="T62" fmla="*/ 4 w 436"/>
                <a:gd name="T63" fmla="*/ 14 h 51"/>
                <a:gd name="T64" fmla="*/ 4 w 436"/>
                <a:gd name="T65" fmla="*/ 8 h 51"/>
                <a:gd name="T66" fmla="*/ 4 w 436"/>
                <a:gd name="T67" fmla="*/ 3 h 51"/>
                <a:gd name="T68" fmla="*/ 2 w 4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6" h="51">
                  <a:moveTo>
                    <a:pt x="436" y="24"/>
                  </a:moveTo>
                  <a:lnTo>
                    <a:pt x="436" y="21"/>
                  </a:lnTo>
                  <a:lnTo>
                    <a:pt x="434" y="18"/>
                  </a:lnTo>
                  <a:lnTo>
                    <a:pt x="434" y="14"/>
                  </a:lnTo>
                  <a:lnTo>
                    <a:pt x="434" y="11"/>
                  </a:lnTo>
                  <a:lnTo>
                    <a:pt x="434" y="8"/>
                  </a:lnTo>
                  <a:lnTo>
                    <a:pt x="434" y="6"/>
                  </a:lnTo>
                  <a:lnTo>
                    <a:pt x="434" y="3"/>
                  </a:lnTo>
                  <a:lnTo>
                    <a:pt x="434" y="0"/>
                  </a:lnTo>
                  <a:lnTo>
                    <a:pt x="431" y="0"/>
                  </a:lnTo>
                  <a:lnTo>
                    <a:pt x="431" y="3"/>
                  </a:lnTo>
                  <a:lnTo>
                    <a:pt x="431" y="6"/>
                  </a:lnTo>
                  <a:lnTo>
                    <a:pt x="431" y="8"/>
                  </a:lnTo>
                  <a:lnTo>
                    <a:pt x="431" y="11"/>
                  </a:lnTo>
                  <a:lnTo>
                    <a:pt x="431" y="14"/>
                  </a:lnTo>
                  <a:lnTo>
                    <a:pt x="431" y="18"/>
                  </a:lnTo>
                  <a:lnTo>
                    <a:pt x="432" y="21"/>
                  </a:lnTo>
                  <a:lnTo>
                    <a:pt x="432" y="24"/>
                  </a:lnTo>
                  <a:lnTo>
                    <a:pt x="432" y="28"/>
                  </a:lnTo>
                  <a:lnTo>
                    <a:pt x="431" y="31"/>
                  </a:lnTo>
                  <a:lnTo>
                    <a:pt x="431" y="34"/>
                  </a:lnTo>
                  <a:lnTo>
                    <a:pt x="431" y="38"/>
                  </a:lnTo>
                  <a:lnTo>
                    <a:pt x="431" y="41"/>
                  </a:lnTo>
                  <a:lnTo>
                    <a:pt x="431" y="44"/>
                  </a:lnTo>
                  <a:lnTo>
                    <a:pt x="431" y="48"/>
                  </a:lnTo>
                  <a:lnTo>
                    <a:pt x="431" y="51"/>
                  </a:lnTo>
                  <a:lnTo>
                    <a:pt x="434" y="51"/>
                  </a:lnTo>
                  <a:lnTo>
                    <a:pt x="434" y="48"/>
                  </a:lnTo>
                  <a:lnTo>
                    <a:pt x="434" y="44"/>
                  </a:lnTo>
                  <a:lnTo>
                    <a:pt x="434" y="41"/>
                  </a:lnTo>
                  <a:lnTo>
                    <a:pt x="434" y="38"/>
                  </a:lnTo>
                  <a:lnTo>
                    <a:pt x="434" y="34"/>
                  </a:lnTo>
                  <a:lnTo>
                    <a:pt x="434" y="31"/>
                  </a:lnTo>
                  <a:lnTo>
                    <a:pt x="436" y="28"/>
                  </a:lnTo>
                  <a:lnTo>
                    <a:pt x="43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44" name="Freeform 385">
              <a:extLst>
                <a:ext uri="{FF2B5EF4-FFF2-40B4-BE49-F238E27FC236}">
                  <a16:creationId xmlns:a16="http://schemas.microsoft.com/office/drawing/2014/main" id="{C2F72B41-7289-7942-ADAA-4948A19918D7}"/>
                </a:ext>
              </a:extLst>
            </p:cNvPr>
            <p:cNvSpPr>
              <a:spLocks noEditPoints="1"/>
            </p:cNvSpPr>
            <p:nvPr/>
          </p:nvSpPr>
          <p:spPr bwMode="auto">
            <a:xfrm>
              <a:off x="1396" y="1713"/>
              <a:ext cx="432" cy="51"/>
            </a:xfrm>
            <a:custGeom>
              <a:avLst/>
              <a:gdLst>
                <a:gd name="T0" fmla="*/ 432 w 432"/>
                <a:gd name="T1" fmla="*/ 21 h 51"/>
                <a:gd name="T2" fmla="*/ 430 w 432"/>
                <a:gd name="T3" fmla="*/ 14 h 51"/>
                <a:gd name="T4" fmla="*/ 430 w 432"/>
                <a:gd name="T5" fmla="*/ 8 h 51"/>
                <a:gd name="T6" fmla="*/ 430 w 432"/>
                <a:gd name="T7" fmla="*/ 3 h 51"/>
                <a:gd name="T8" fmla="*/ 427 w 432"/>
                <a:gd name="T9" fmla="*/ 0 h 51"/>
                <a:gd name="T10" fmla="*/ 427 w 432"/>
                <a:gd name="T11" fmla="*/ 6 h 51"/>
                <a:gd name="T12" fmla="*/ 427 w 432"/>
                <a:gd name="T13" fmla="*/ 11 h 51"/>
                <a:gd name="T14" fmla="*/ 427 w 432"/>
                <a:gd name="T15" fmla="*/ 18 h 51"/>
                <a:gd name="T16" fmla="*/ 429 w 432"/>
                <a:gd name="T17" fmla="*/ 24 h 51"/>
                <a:gd name="T18" fmla="*/ 427 w 432"/>
                <a:gd name="T19" fmla="*/ 31 h 51"/>
                <a:gd name="T20" fmla="*/ 427 w 432"/>
                <a:gd name="T21" fmla="*/ 38 h 51"/>
                <a:gd name="T22" fmla="*/ 427 w 432"/>
                <a:gd name="T23" fmla="*/ 44 h 51"/>
                <a:gd name="T24" fmla="*/ 427 w 432"/>
                <a:gd name="T25" fmla="*/ 51 h 51"/>
                <a:gd name="T26" fmla="*/ 430 w 432"/>
                <a:gd name="T27" fmla="*/ 48 h 51"/>
                <a:gd name="T28" fmla="*/ 430 w 432"/>
                <a:gd name="T29" fmla="*/ 41 h 51"/>
                <a:gd name="T30" fmla="*/ 430 w 432"/>
                <a:gd name="T31" fmla="*/ 34 h 51"/>
                <a:gd name="T32" fmla="*/ 432 w 432"/>
                <a:gd name="T33" fmla="*/ 28 h 51"/>
                <a:gd name="T34" fmla="*/ 2 w 432"/>
                <a:gd name="T35" fmla="*/ 0 h 51"/>
                <a:gd name="T36" fmla="*/ 0 w 432"/>
                <a:gd name="T37" fmla="*/ 6 h 51"/>
                <a:gd name="T38" fmla="*/ 0 w 432"/>
                <a:gd name="T39" fmla="*/ 11 h 51"/>
                <a:gd name="T40" fmla="*/ 0 w 432"/>
                <a:gd name="T41" fmla="*/ 18 h 51"/>
                <a:gd name="T42" fmla="*/ 0 w 432"/>
                <a:gd name="T43" fmla="*/ 24 h 51"/>
                <a:gd name="T44" fmla="*/ 0 w 432"/>
                <a:gd name="T45" fmla="*/ 31 h 51"/>
                <a:gd name="T46" fmla="*/ 0 w 432"/>
                <a:gd name="T47" fmla="*/ 38 h 51"/>
                <a:gd name="T48" fmla="*/ 0 w 432"/>
                <a:gd name="T49" fmla="*/ 44 h 51"/>
                <a:gd name="T50" fmla="*/ 2 w 432"/>
                <a:gd name="T51" fmla="*/ 51 h 51"/>
                <a:gd name="T52" fmla="*/ 3 w 432"/>
                <a:gd name="T53" fmla="*/ 48 h 51"/>
                <a:gd name="T54" fmla="*/ 3 w 432"/>
                <a:gd name="T55" fmla="*/ 41 h 51"/>
                <a:gd name="T56" fmla="*/ 3 w 432"/>
                <a:gd name="T57" fmla="*/ 34 h 51"/>
                <a:gd name="T58" fmla="*/ 3 w 432"/>
                <a:gd name="T59" fmla="*/ 28 h 51"/>
                <a:gd name="T60" fmla="*/ 3 w 432"/>
                <a:gd name="T61" fmla="*/ 21 h 51"/>
                <a:gd name="T62" fmla="*/ 3 w 432"/>
                <a:gd name="T63" fmla="*/ 14 h 51"/>
                <a:gd name="T64" fmla="*/ 3 w 432"/>
                <a:gd name="T65" fmla="*/ 8 h 51"/>
                <a:gd name="T66" fmla="*/ 3 w 432"/>
                <a:gd name="T67" fmla="*/ 3 h 51"/>
                <a:gd name="T68" fmla="*/ 2 w 4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2" h="51">
                  <a:moveTo>
                    <a:pt x="432" y="24"/>
                  </a:moveTo>
                  <a:lnTo>
                    <a:pt x="432" y="21"/>
                  </a:lnTo>
                  <a:lnTo>
                    <a:pt x="430" y="18"/>
                  </a:lnTo>
                  <a:lnTo>
                    <a:pt x="430" y="14"/>
                  </a:lnTo>
                  <a:lnTo>
                    <a:pt x="430" y="11"/>
                  </a:lnTo>
                  <a:lnTo>
                    <a:pt x="430" y="8"/>
                  </a:lnTo>
                  <a:lnTo>
                    <a:pt x="430" y="6"/>
                  </a:lnTo>
                  <a:lnTo>
                    <a:pt x="430" y="3"/>
                  </a:lnTo>
                  <a:lnTo>
                    <a:pt x="430" y="0"/>
                  </a:lnTo>
                  <a:lnTo>
                    <a:pt x="427" y="0"/>
                  </a:lnTo>
                  <a:lnTo>
                    <a:pt x="427" y="3"/>
                  </a:lnTo>
                  <a:lnTo>
                    <a:pt x="427" y="6"/>
                  </a:lnTo>
                  <a:lnTo>
                    <a:pt x="427" y="8"/>
                  </a:lnTo>
                  <a:lnTo>
                    <a:pt x="427" y="11"/>
                  </a:lnTo>
                  <a:lnTo>
                    <a:pt x="427" y="14"/>
                  </a:lnTo>
                  <a:lnTo>
                    <a:pt x="427" y="18"/>
                  </a:lnTo>
                  <a:lnTo>
                    <a:pt x="429" y="21"/>
                  </a:lnTo>
                  <a:lnTo>
                    <a:pt x="429" y="24"/>
                  </a:lnTo>
                  <a:lnTo>
                    <a:pt x="429" y="28"/>
                  </a:lnTo>
                  <a:lnTo>
                    <a:pt x="427" y="31"/>
                  </a:lnTo>
                  <a:lnTo>
                    <a:pt x="427" y="34"/>
                  </a:lnTo>
                  <a:lnTo>
                    <a:pt x="427" y="38"/>
                  </a:lnTo>
                  <a:lnTo>
                    <a:pt x="427" y="41"/>
                  </a:lnTo>
                  <a:lnTo>
                    <a:pt x="427" y="44"/>
                  </a:lnTo>
                  <a:lnTo>
                    <a:pt x="427" y="48"/>
                  </a:lnTo>
                  <a:lnTo>
                    <a:pt x="427" y="51"/>
                  </a:lnTo>
                  <a:lnTo>
                    <a:pt x="430" y="51"/>
                  </a:lnTo>
                  <a:lnTo>
                    <a:pt x="430" y="48"/>
                  </a:lnTo>
                  <a:lnTo>
                    <a:pt x="430" y="44"/>
                  </a:lnTo>
                  <a:lnTo>
                    <a:pt x="430" y="41"/>
                  </a:lnTo>
                  <a:lnTo>
                    <a:pt x="430" y="38"/>
                  </a:lnTo>
                  <a:lnTo>
                    <a:pt x="430" y="34"/>
                  </a:lnTo>
                  <a:lnTo>
                    <a:pt x="430" y="31"/>
                  </a:lnTo>
                  <a:lnTo>
                    <a:pt x="432" y="28"/>
                  </a:lnTo>
                  <a:lnTo>
                    <a:pt x="43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45" name="Freeform 386">
              <a:extLst>
                <a:ext uri="{FF2B5EF4-FFF2-40B4-BE49-F238E27FC236}">
                  <a16:creationId xmlns:a16="http://schemas.microsoft.com/office/drawing/2014/main" id="{2433E283-5BB5-0D1C-30AB-853289BA1A9C}"/>
                </a:ext>
              </a:extLst>
            </p:cNvPr>
            <p:cNvSpPr>
              <a:spLocks noEditPoints="1"/>
            </p:cNvSpPr>
            <p:nvPr/>
          </p:nvSpPr>
          <p:spPr bwMode="auto">
            <a:xfrm>
              <a:off x="1398" y="1713"/>
              <a:ext cx="428" cy="51"/>
            </a:xfrm>
            <a:custGeom>
              <a:avLst/>
              <a:gdLst>
                <a:gd name="T0" fmla="*/ 428 w 428"/>
                <a:gd name="T1" fmla="*/ 21 h 51"/>
                <a:gd name="T2" fmla="*/ 427 w 428"/>
                <a:gd name="T3" fmla="*/ 14 h 51"/>
                <a:gd name="T4" fmla="*/ 427 w 428"/>
                <a:gd name="T5" fmla="*/ 8 h 51"/>
                <a:gd name="T6" fmla="*/ 427 w 428"/>
                <a:gd name="T7" fmla="*/ 3 h 51"/>
                <a:gd name="T8" fmla="*/ 424 w 428"/>
                <a:gd name="T9" fmla="*/ 0 h 51"/>
                <a:gd name="T10" fmla="*/ 424 w 428"/>
                <a:gd name="T11" fmla="*/ 6 h 51"/>
                <a:gd name="T12" fmla="*/ 424 w 428"/>
                <a:gd name="T13" fmla="*/ 11 h 51"/>
                <a:gd name="T14" fmla="*/ 424 w 428"/>
                <a:gd name="T15" fmla="*/ 18 h 51"/>
                <a:gd name="T16" fmla="*/ 425 w 428"/>
                <a:gd name="T17" fmla="*/ 24 h 51"/>
                <a:gd name="T18" fmla="*/ 425 w 428"/>
                <a:gd name="T19" fmla="*/ 31 h 51"/>
                <a:gd name="T20" fmla="*/ 424 w 428"/>
                <a:gd name="T21" fmla="*/ 38 h 51"/>
                <a:gd name="T22" fmla="*/ 424 w 428"/>
                <a:gd name="T23" fmla="*/ 44 h 51"/>
                <a:gd name="T24" fmla="*/ 424 w 428"/>
                <a:gd name="T25" fmla="*/ 51 h 51"/>
                <a:gd name="T26" fmla="*/ 427 w 428"/>
                <a:gd name="T27" fmla="*/ 48 h 51"/>
                <a:gd name="T28" fmla="*/ 427 w 428"/>
                <a:gd name="T29" fmla="*/ 41 h 51"/>
                <a:gd name="T30" fmla="*/ 427 w 428"/>
                <a:gd name="T31" fmla="*/ 34 h 51"/>
                <a:gd name="T32" fmla="*/ 428 w 428"/>
                <a:gd name="T33" fmla="*/ 28 h 51"/>
                <a:gd name="T34" fmla="*/ 1 w 428"/>
                <a:gd name="T35" fmla="*/ 0 h 51"/>
                <a:gd name="T36" fmla="*/ 0 w 428"/>
                <a:gd name="T37" fmla="*/ 6 h 51"/>
                <a:gd name="T38" fmla="*/ 0 w 428"/>
                <a:gd name="T39" fmla="*/ 11 h 51"/>
                <a:gd name="T40" fmla="*/ 0 w 428"/>
                <a:gd name="T41" fmla="*/ 18 h 51"/>
                <a:gd name="T42" fmla="*/ 0 w 428"/>
                <a:gd name="T43" fmla="*/ 24 h 51"/>
                <a:gd name="T44" fmla="*/ 0 w 428"/>
                <a:gd name="T45" fmla="*/ 31 h 51"/>
                <a:gd name="T46" fmla="*/ 0 w 428"/>
                <a:gd name="T47" fmla="*/ 38 h 51"/>
                <a:gd name="T48" fmla="*/ 0 w 428"/>
                <a:gd name="T49" fmla="*/ 44 h 51"/>
                <a:gd name="T50" fmla="*/ 1 w 428"/>
                <a:gd name="T51" fmla="*/ 51 h 51"/>
                <a:gd name="T52" fmla="*/ 3 w 428"/>
                <a:gd name="T53" fmla="*/ 48 h 51"/>
                <a:gd name="T54" fmla="*/ 3 w 428"/>
                <a:gd name="T55" fmla="*/ 41 h 51"/>
                <a:gd name="T56" fmla="*/ 3 w 428"/>
                <a:gd name="T57" fmla="*/ 34 h 51"/>
                <a:gd name="T58" fmla="*/ 3 w 428"/>
                <a:gd name="T59" fmla="*/ 28 h 51"/>
                <a:gd name="T60" fmla="*/ 3 w 428"/>
                <a:gd name="T61" fmla="*/ 21 h 51"/>
                <a:gd name="T62" fmla="*/ 3 w 428"/>
                <a:gd name="T63" fmla="*/ 14 h 51"/>
                <a:gd name="T64" fmla="*/ 3 w 428"/>
                <a:gd name="T65" fmla="*/ 8 h 51"/>
                <a:gd name="T66" fmla="*/ 3 w 428"/>
                <a:gd name="T67" fmla="*/ 3 h 51"/>
                <a:gd name="T68" fmla="*/ 1 w 42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8" h="51">
                  <a:moveTo>
                    <a:pt x="428" y="24"/>
                  </a:moveTo>
                  <a:lnTo>
                    <a:pt x="428" y="21"/>
                  </a:lnTo>
                  <a:lnTo>
                    <a:pt x="427" y="18"/>
                  </a:lnTo>
                  <a:lnTo>
                    <a:pt x="427" y="14"/>
                  </a:lnTo>
                  <a:lnTo>
                    <a:pt x="427" y="11"/>
                  </a:lnTo>
                  <a:lnTo>
                    <a:pt x="427" y="8"/>
                  </a:lnTo>
                  <a:lnTo>
                    <a:pt x="427" y="6"/>
                  </a:lnTo>
                  <a:lnTo>
                    <a:pt x="427" y="3"/>
                  </a:lnTo>
                  <a:lnTo>
                    <a:pt x="427" y="0"/>
                  </a:lnTo>
                  <a:lnTo>
                    <a:pt x="424" y="0"/>
                  </a:lnTo>
                  <a:lnTo>
                    <a:pt x="424" y="3"/>
                  </a:lnTo>
                  <a:lnTo>
                    <a:pt x="424" y="6"/>
                  </a:lnTo>
                  <a:lnTo>
                    <a:pt x="424" y="8"/>
                  </a:lnTo>
                  <a:lnTo>
                    <a:pt x="424" y="11"/>
                  </a:lnTo>
                  <a:lnTo>
                    <a:pt x="424" y="14"/>
                  </a:lnTo>
                  <a:lnTo>
                    <a:pt x="424" y="18"/>
                  </a:lnTo>
                  <a:lnTo>
                    <a:pt x="425" y="21"/>
                  </a:lnTo>
                  <a:lnTo>
                    <a:pt x="425" y="24"/>
                  </a:lnTo>
                  <a:lnTo>
                    <a:pt x="425" y="28"/>
                  </a:lnTo>
                  <a:lnTo>
                    <a:pt x="425" y="31"/>
                  </a:lnTo>
                  <a:lnTo>
                    <a:pt x="424" y="34"/>
                  </a:lnTo>
                  <a:lnTo>
                    <a:pt x="424" y="38"/>
                  </a:lnTo>
                  <a:lnTo>
                    <a:pt x="424" y="41"/>
                  </a:lnTo>
                  <a:lnTo>
                    <a:pt x="424" y="44"/>
                  </a:lnTo>
                  <a:lnTo>
                    <a:pt x="424" y="48"/>
                  </a:lnTo>
                  <a:lnTo>
                    <a:pt x="424" y="51"/>
                  </a:lnTo>
                  <a:lnTo>
                    <a:pt x="427" y="51"/>
                  </a:lnTo>
                  <a:lnTo>
                    <a:pt x="427" y="48"/>
                  </a:lnTo>
                  <a:lnTo>
                    <a:pt x="427" y="44"/>
                  </a:lnTo>
                  <a:lnTo>
                    <a:pt x="427" y="41"/>
                  </a:lnTo>
                  <a:lnTo>
                    <a:pt x="427" y="38"/>
                  </a:lnTo>
                  <a:lnTo>
                    <a:pt x="427" y="34"/>
                  </a:lnTo>
                  <a:lnTo>
                    <a:pt x="427" y="31"/>
                  </a:lnTo>
                  <a:lnTo>
                    <a:pt x="428" y="28"/>
                  </a:lnTo>
                  <a:lnTo>
                    <a:pt x="428"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46" name="Freeform 387">
              <a:extLst>
                <a:ext uri="{FF2B5EF4-FFF2-40B4-BE49-F238E27FC236}">
                  <a16:creationId xmlns:a16="http://schemas.microsoft.com/office/drawing/2014/main" id="{7F608CAC-D549-C336-2F59-26DD8D42C153}"/>
                </a:ext>
              </a:extLst>
            </p:cNvPr>
            <p:cNvSpPr>
              <a:spLocks noEditPoints="1"/>
            </p:cNvSpPr>
            <p:nvPr/>
          </p:nvSpPr>
          <p:spPr bwMode="auto">
            <a:xfrm>
              <a:off x="1399" y="1713"/>
              <a:ext cx="426" cy="51"/>
            </a:xfrm>
            <a:custGeom>
              <a:avLst/>
              <a:gdLst>
                <a:gd name="T0" fmla="*/ 426 w 426"/>
                <a:gd name="T1" fmla="*/ 21 h 51"/>
                <a:gd name="T2" fmla="*/ 424 w 426"/>
                <a:gd name="T3" fmla="*/ 14 h 51"/>
                <a:gd name="T4" fmla="*/ 424 w 426"/>
                <a:gd name="T5" fmla="*/ 8 h 51"/>
                <a:gd name="T6" fmla="*/ 424 w 426"/>
                <a:gd name="T7" fmla="*/ 3 h 51"/>
                <a:gd name="T8" fmla="*/ 421 w 426"/>
                <a:gd name="T9" fmla="*/ 0 h 51"/>
                <a:gd name="T10" fmla="*/ 421 w 426"/>
                <a:gd name="T11" fmla="*/ 6 h 51"/>
                <a:gd name="T12" fmla="*/ 421 w 426"/>
                <a:gd name="T13" fmla="*/ 11 h 51"/>
                <a:gd name="T14" fmla="*/ 423 w 426"/>
                <a:gd name="T15" fmla="*/ 18 h 51"/>
                <a:gd name="T16" fmla="*/ 423 w 426"/>
                <a:gd name="T17" fmla="*/ 24 h 51"/>
                <a:gd name="T18" fmla="*/ 423 w 426"/>
                <a:gd name="T19" fmla="*/ 31 h 51"/>
                <a:gd name="T20" fmla="*/ 421 w 426"/>
                <a:gd name="T21" fmla="*/ 38 h 51"/>
                <a:gd name="T22" fmla="*/ 421 w 426"/>
                <a:gd name="T23" fmla="*/ 44 h 51"/>
                <a:gd name="T24" fmla="*/ 421 w 426"/>
                <a:gd name="T25" fmla="*/ 51 h 51"/>
                <a:gd name="T26" fmla="*/ 424 w 426"/>
                <a:gd name="T27" fmla="*/ 48 h 51"/>
                <a:gd name="T28" fmla="*/ 424 w 426"/>
                <a:gd name="T29" fmla="*/ 41 h 51"/>
                <a:gd name="T30" fmla="*/ 424 w 426"/>
                <a:gd name="T31" fmla="*/ 34 h 51"/>
                <a:gd name="T32" fmla="*/ 426 w 426"/>
                <a:gd name="T33" fmla="*/ 28 h 51"/>
                <a:gd name="T34" fmla="*/ 2 w 426"/>
                <a:gd name="T35" fmla="*/ 0 h 51"/>
                <a:gd name="T36" fmla="*/ 0 w 426"/>
                <a:gd name="T37" fmla="*/ 6 h 51"/>
                <a:gd name="T38" fmla="*/ 0 w 426"/>
                <a:gd name="T39" fmla="*/ 11 h 51"/>
                <a:gd name="T40" fmla="*/ 0 w 426"/>
                <a:gd name="T41" fmla="*/ 18 h 51"/>
                <a:gd name="T42" fmla="*/ 0 w 426"/>
                <a:gd name="T43" fmla="*/ 24 h 51"/>
                <a:gd name="T44" fmla="*/ 0 w 426"/>
                <a:gd name="T45" fmla="*/ 31 h 51"/>
                <a:gd name="T46" fmla="*/ 0 w 426"/>
                <a:gd name="T47" fmla="*/ 38 h 51"/>
                <a:gd name="T48" fmla="*/ 0 w 426"/>
                <a:gd name="T49" fmla="*/ 44 h 51"/>
                <a:gd name="T50" fmla="*/ 2 w 426"/>
                <a:gd name="T51" fmla="*/ 51 h 51"/>
                <a:gd name="T52" fmla="*/ 4 w 426"/>
                <a:gd name="T53" fmla="*/ 48 h 51"/>
                <a:gd name="T54" fmla="*/ 4 w 426"/>
                <a:gd name="T55" fmla="*/ 41 h 51"/>
                <a:gd name="T56" fmla="*/ 4 w 426"/>
                <a:gd name="T57" fmla="*/ 34 h 51"/>
                <a:gd name="T58" fmla="*/ 4 w 426"/>
                <a:gd name="T59" fmla="*/ 28 h 51"/>
                <a:gd name="T60" fmla="*/ 4 w 426"/>
                <a:gd name="T61" fmla="*/ 21 h 51"/>
                <a:gd name="T62" fmla="*/ 4 w 426"/>
                <a:gd name="T63" fmla="*/ 14 h 51"/>
                <a:gd name="T64" fmla="*/ 4 w 426"/>
                <a:gd name="T65" fmla="*/ 8 h 51"/>
                <a:gd name="T66" fmla="*/ 4 w 426"/>
                <a:gd name="T67" fmla="*/ 3 h 51"/>
                <a:gd name="T68" fmla="*/ 2 w 42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6" h="51">
                  <a:moveTo>
                    <a:pt x="426" y="24"/>
                  </a:moveTo>
                  <a:lnTo>
                    <a:pt x="426" y="21"/>
                  </a:lnTo>
                  <a:lnTo>
                    <a:pt x="424" y="18"/>
                  </a:lnTo>
                  <a:lnTo>
                    <a:pt x="424" y="14"/>
                  </a:lnTo>
                  <a:lnTo>
                    <a:pt x="424" y="11"/>
                  </a:lnTo>
                  <a:lnTo>
                    <a:pt x="424" y="8"/>
                  </a:lnTo>
                  <a:lnTo>
                    <a:pt x="424" y="6"/>
                  </a:lnTo>
                  <a:lnTo>
                    <a:pt x="424" y="3"/>
                  </a:lnTo>
                  <a:lnTo>
                    <a:pt x="424" y="0"/>
                  </a:lnTo>
                  <a:lnTo>
                    <a:pt x="421" y="0"/>
                  </a:lnTo>
                  <a:lnTo>
                    <a:pt x="421" y="3"/>
                  </a:lnTo>
                  <a:lnTo>
                    <a:pt x="421" y="6"/>
                  </a:lnTo>
                  <a:lnTo>
                    <a:pt x="421" y="8"/>
                  </a:lnTo>
                  <a:lnTo>
                    <a:pt x="421" y="11"/>
                  </a:lnTo>
                  <a:lnTo>
                    <a:pt x="421" y="14"/>
                  </a:lnTo>
                  <a:lnTo>
                    <a:pt x="423" y="18"/>
                  </a:lnTo>
                  <a:lnTo>
                    <a:pt x="423" y="21"/>
                  </a:lnTo>
                  <a:lnTo>
                    <a:pt x="423" y="24"/>
                  </a:lnTo>
                  <a:lnTo>
                    <a:pt x="423" y="28"/>
                  </a:lnTo>
                  <a:lnTo>
                    <a:pt x="423" y="31"/>
                  </a:lnTo>
                  <a:lnTo>
                    <a:pt x="421" y="34"/>
                  </a:lnTo>
                  <a:lnTo>
                    <a:pt x="421" y="38"/>
                  </a:lnTo>
                  <a:lnTo>
                    <a:pt x="421" y="41"/>
                  </a:lnTo>
                  <a:lnTo>
                    <a:pt x="421" y="44"/>
                  </a:lnTo>
                  <a:lnTo>
                    <a:pt x="421" y="48"/>
                  </a:lnTo>
                  <a:lnTo>
                    <a:pt x="421" y="51"/>
                  </a:lnTo>
                  <a:lnTo>
                    <a:pt x="424" y="51"/>
                  </a:lnTo>
                  <a:lnTo>
                    <a:pt x="424" y="48"/>
                  </a:lnTo>
                  <a:lnTo>
                    <a:pt x="424" y="44"/>
                  </a:lnTo>
                  <a:lnTo>
                    <a:pt x="424" y="41"/>
                  </a:lnTo>
                  <a:lnTo>
                    <a:pt x="424" y="38"/>
                  </a:lnTo>
                  <a:lnTo>
                    <a:pt x="424" y="34"/>
                  </a:lnTo>
                  <a:lnTo>
                    <a:pt x="424" y="31"/>
                  </a:lnTo>
                  <a:lnTo>
                    <a:pt x="426" y="28"/>
                  </a:lnTo>
                  <a:lnTo>
                    <a:pt x="42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47" name="Freeform 388">
              <a:extLst>
                <a:ext uri="{FF2B5EF4-FFF2-40B4-BE49-F238E27FC236}">
                  <a16:creationId xmlns:a16="http://schemas.microsoft.com/office/drawing/2014/main" id="{DB72D614-80EC-4EDB-DB51-A78EC03452B5}"/>
                </a:ext>
              </a:extLst>
            </p:cNvPr>
            <p:cNvSpPr>
              <a:spLocks noEditPoints="1"/>
            </p:cNvSpPr>
            <p:nvPr/>
          </p:nvSpPr>
          <p:spPr bwMode="auto">
            <a:xfrm>
              <a:off x="1401" y="1713"/>
              <a:ext cx="422" cy="51"/>
            </a:xfrm>
            <a:custGeom>
              <a:avLst/>
              <a:gdLst>
                <a:gd name="T0" fmla="*/ 422 w 422"/>
                <a:gd name="T1" fmla="*/ 21 h 51"/>
                <a:gd name="T2" fmla="*/ 421 w 422"/>
                <a:gd name="T3" fmla="*/ 14 h 51"/>
                <a:gd name="T4" fmla="*/ 421 w 422"/>
                <a:gd name="T5" fmla="*/ 8 h 51"/>
                <a:gd name="T6" fmla="*/ 421 w 422"/>
                <a:gd name="T7" fmla="*/ 3 h 51"/>
                <a:gd name="T8" fmla="*/ 417 w 422"/>
                <a:gd name="T9" fmla="*/ 0 h 51"/>
                <a:gd name="T10" fmla="*/ 417 w 422"/>
                <a:gd name="T11" fmla="*/ 6 h 51"/>
                <a:gd name="T12" fmla="*/ 417 w 422"/>
                <a:gd name="T13" fmla="*/ 11 h 51"/>
                <a:gd name="T14" fmla="*/ 419 w 422"/>
                <a:gd name="T15" fmla="*/ 18 h 51"/>
                <a:gd name="T16" fmla="*/ 419 w 422"/>
                <a:gd name="T17" fmla="*/ 24 h 51"/>
                <a:gd name="T18" fmla="*/ 419 w 422"/>
                <a:gd name="T19" fmla="*/ 31 h 51"/>
                <a:gd name="T20" fmla="*/ 417 w 422"/>
                <a:gd name="T21" fmla="*/ 38 h 51"/>
                <a:gd name="T22" fmla="*/ 417 w 422"/>
                <a:gd name="T23" fmla="*/ 44 h 51"/>
                <a:gd name="T24" fmla="*/ 417 w 422"/>
                <a:gd name="T25" fmla="*/ 51 h 51"/>
                <a:gd name="T26" fmla="*/ 421 w 422"/>
                <a:gd name="T27" fmla="*/ 48 h 51"/>
                <a:gd name="T28" fmla="*/ 421 w 422"/>
                <a:gd name="T29" fmla="*/ 41 h 51"/>
                <a:gd name="T30" fmla="*/ 421 w 422"/>
                <a:gd name="T31" fmla="*/ 34 h 51"/>
                <a:gd name="T32" fmla="*/ 422 w 422"/>
                <a:gd name="T33" fmla="*/ 28 h 51"/>
                <a:gd name="T34" fmla="*/ 2 w 422"/>
                <a:gd name="T35" fmla="*/ 0 h 51"/>
                <a:gd name="T36" fmla="*/ 0 w 422"/>
                <a:gd name="T37" fmla="*/ 6 h 51"/>
                <a:gd name="T38" fmla="*/ 0 w 422"/>
                <a:gd name="T39" fmla="*/ 11 h 51"/>
                <a:gd name="T40" fmla="*/ 0 w 422"/>
                <a:gd name="T41" fmla="*/ 18 h 51"/>
                <a:gd name="T42" fmla="*/ 0 w 422"/>
                <a:gd name="T43" fmla="*/ 24 h 51"/>
                <a:gd name="T44" fmla="*/ 0 w 422"/>
                <a:gd name="T45" fmla="*/ 31 h 51"/>
                <a:gd name="T46" fmla="*/ 0 w 422"/>
                <a:gd name="T47" fmla="*/ 38 h 51"/>
                <a:gd name="T48" fmla="*/ 0 w 422"/>
                <a:gd name="T49" fmla="*/ 44 h 51"/>
                <a:gd name="T50" fmla="*/ 2 w 422"/>
                <a:gd name="T51" fmla="*/ 51 h 51"/>
                <a:gd name="T52" fmla="*/ 3 w 422"/>
                <a:gd name="T53" fmla="*/ 48 h 51"/>
                <a:gd name="T54" fmla="*/ 3 w 422"/>
                <a:gd name="T55" fmla="*/ 41 h 51"/>
                <a:gd name="T56" fmla="*/ 3 w 422"/>
                <a:gd name="T57" fmla="*/ 34 h 51"/>
                <a:gd name="T58" fmla="*/ 3 w 422"/>
                <a:gd name="T59" fmla="*/ 28 h 51"/>
                <a:gd name="T60" fmla="*/ 3 w 422"/>
                <a:gd name="T61" fmla="*/ 21 h 51"/>
                <a:gd name="T62" fmla="*/ 3 w 422"/>
                <a:gd name="T63" fmla="*/ 14 h 51"/>
                <a:gd name="T64" fmla="*/ 3 w 422"/>
                <a:gd name="T65" fmla="*/ 8 h 51"/>
                <a:gd name="T66" fmla="*/ 3 w 422"/>
                <a:gd name="T67" fmla="*/ 3 h 51"/>
                <a:gd name="T68" fmla="*/ 2 w 42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2" h="51">
                  <a:moveTo>
                    <a:pt x="422" y="24"/>
                  </a:moveTo>
                  <a:lnTo>
                    <a:pt x="422" y="21"/>
                  </a:lnTo>
                  <a:lnTo>
                    <a:pt x="421" y="18"/>
                  </a:lnTo>
                  <a:lnTo>
                    <a:pt x="421" y="14"/>
                  </a:lnTo>
                  <a:lnTo>
                    <a:pt x="421" y="11"/>
                  </a:lnTo>
                  <a:lnTo>
                    <a:pt x="421" y="8"/>
                  </a:lnTo>
                  <a:lnTo>
                    <a:pt x="421" y="6"/>
                  </a:lnTo>
                  <a:lnTo>
                    <a:pt x="421" y="3"/>
                  </a:lnTo>
                  <a:lnTo>
                    <a:pt x="421" y="0"/>
                  </a:lnTo>
                  <a:lnTo>
                    <a:pt x="417" y="0"/>
                  </a:lnTo>
                  <a:lnTo>
                    <a:pt x="417" y="3"/>
                  </a:lnTo>
                  <a:lnTo>
                    <a:pt x="417" y="6"/>
                  </a:lnTo>
                  <a:lnTo>
                    <a:pt x="417" y="8"/>
                  </a:lnTo>
                  <a:lnTo>
                    <a:pt x="417" y="11"/>
                  </a:lnTo>
                  <a:lnTo>
                    <a:pt x="417" y="14"/>
                  </a:lnTo>
                  <a:lnTo>
                    <a:pt x="419" y="18"/>
                  </a:lnTo>
                  <a:lnTo>
                    <a:pt x="419" y="21"/>
                  </a:lnTo>
                  <a:lnTo>
                    <a:pt x="419" y="24"/>
                  </a:lnTo>
                  <a:lnTo>
                    <a:pt x="419" y="28"/>
                  </a:lnTo>
                  <a:lnTo>
                    <a:pt x="419" y="31"/>
                  </a:lnTo>
                  <a:lnTo>
                    <a:pt x="417" y="34"/>
                  </a:lnTo>
                  <a:lnTo>
                    <a:pt x="417" y="38"/>
                  </a:lnTo>
                  <a:lnTo>
                    <a:pt x="417" y="41"/>
                  </a:lnTo>
                  <a:lnTo>
                    <a:pt x="417" y="44"/>
                  </a:lnTo>
                  <a:lnTo>
                    <a:pt x="417" y="48"/>
                  </a:lnTo>
                  <a:lnTo>
                    <a:pt x="417" y="51"/>
                  </a:lnTo>
                  <a:lnTo>
                    <a:pt x="421" y="51"/>
                  </a:lnTo>
                  <a:lnTo>
                    <a:pt x="421" y="48"/>
                  </a:lnTo>
                  <a:lnTo>
                    <a:pt x="421" y="44"/>
                  </a:lnTo>
                  <a:lnTo>
                    <a:pt x="421" y="41"/>
                  </a:lnTo>
                  <a:lnTo>
                    <a:pt x="421" y="38"/>
                  </a:lnTo>
                  <a:lnTo>
                    <a:pt x="421" y="34"/>
                  </a:lnTo>
                  <a:lnTo>
                    <a:pt x="422" y="31"/>
                  </a:lnTo>
                  <a:lnTo>
                    <a:pt x="422" y="28"/>
                  </a:lnTo>
                  <a:lnTo>
                    <a:pt x="42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48" name="Freeform 389">
              <a:extLst>
                <a:ext uri="{FF2B5EF4-FFF2-40B4-BE49-F238E27FC236}">
                  <a16:creationId xmlns:a16="http://schemas.microsoft.com/office/drawing/2014/main" id="{2B99A5B9-BD96-DA9C-A626-C74CE10F9118}"/>
                </a:ext>
              </a:extLst>
            </p:cNvPr>
            <p:cNvSpPr>
              <a:spLocks noEditPoints="1"/>
            </p:cNvSpPr>
            <p:nvPr/>
          </p:nvSpPr>
          <p:spPr bwMode="auto">
            <a:xfrm>
              <a:off x="1403" y="1713"/>
              <a:ext cx="419" cy="51"/>
            </a:xfrm>
            <a:custGeom>
              <a:avLst/>
              <a:gdLst>
                <a:gd name="T0" fmla="*/ 419 w 419"/>
                <a:gd name="T1" fmla="*/ 21 h 51"/>
                <a:gd name="T2" fmla="*/ 417 w 419"/>
                <a:gd name="T3" fmla="*/ 14 h 51"/>
                <a:gd name="T4" fmla="*/ 417 w 419"/>
                <a:gd name="T5" fmla="*/ 8 h 51"/>
                <a:gd name="T6" fmla="*/ 417 w 419"/>
                <a:gd name="T7" fmla="*/ 3 h 51"/>
                <a:gd name="T8" fmla="*/ 414 w 419"/>
                <a:gd name="T9" fmla="*/ 0 h 51"/>
                <a:gd name="T10" fmla="*/ 414 w 419"/>
                <a:gd name="T11" fmla="*/ 6 h 51"/>
                <a:gd name="T12" fmla="*/ 414 w 419"/>
                <a:gd name="T13" fmla="*/ 11 h 51"/>
                <a:gd name="T14" fmla="*/ 415 w 419"/>
                <a:gd name="T15" fmla="*/ 18 h 51"/>
                <a:gd name="T16" fmla="*/ 415 w 419"/>
                <a:gd name="T17" fmla="*/ 24 h 51"/>
                <a:gd name="T18" fmla="*/ 415 w 419"/>
                <a:gd name="T19" fmla="*/ 31 h 51"/>
                <a:gd name="T20" fmla="*/ 414 w 419"/>
                <a:gd name="T21" fmla="*/ 38 h 51"/>
                <a:gd name="T22" fmla="*/ 414 w 419"/>
                <a:gd name="T23" fmla="*/ 44 h 51"/>
                <a:gd name="T24" fmla="*/ 414 w 419"/>
                <a:gd name="T25" fmla="*/ 51 h 51"/>
                <a:gd name="T26" fmla="*/ 417 w 419"/>
                <a:gd name="T27" fmla="*/ 48 h 51"/>
                <a:gd name="T28" fmla="*/ 417 w 419"/>
                <a:gd name="T29" fmla="*/ 41 h 51"/>
                <a:gd name="T30" fmla="*/ 417 w 419"/>
                <a:gd name="T31" fmla="*/ 34 h 51"/>
                <a:gd name="T32" fmla="*/ 419 w 419"/>
                <a:gd name="T33" fmla="*/ 28 h 51"/>
                <a:gd name="T34" fmla="*/ 1 w 419"/>
                <a:gd name="T35" fmla="*/ 0 h 51"/>
                <a:gd name="T36" fmla="*/ 0 w 419"/>
                <a:gd name="T37" fmla="*/ 6 h 51"/>
                <a:gd name="T38" fmla="*/ 0 w 419"/>
                <a:gd name="T39" fmla="*/ 11 h 51"/>
                <a:gd name="T40" fmla="*/ 0 w 419"/>
                <a:gd name="T41" fmla="*/ 18 h 51"/>
                <a:gd name="T42" fmla="*/ 0 w 419"/>
                <a:gd name="T43" fmla="*/ 24 h 51"/>
                <a:gd name="T44" fmla="*/ 0 w 419"/>
                <a:gd name="T45" fmla="*/ 31 h 51"/>
                <a:gd name="T46" fmla="*/ 0 w 419"/>
                <a:gd name="T47" fmla="*/ 38 h 51"/>
                <a:gd name="T48" fmla="*/ 0 w 419"/>
                <a:gd name="T49" fmla="*/ 44 h 51"/>
                <a:gd name="T50" fmla="*/ 1 w 419"/>
                <a:gd name="T51" fmla="*/ 51 h 51"/>
                <a:gd name="T52" fmla="*/ 3 w 419"/>
                <a:gd name="T53" fmla="*/ 48 h 51"/>
                <a:gd name="T54" fmla="*/ 3 w 419"/>
                <a:gd name="T55" fmla="*/ 41 h 51"/>
                <a:gd name="T56" fmla="*/ 3 w 419"/>
                <a:gd name="T57" fmla="*/ 34 h 51"/>
                <a:gd name="T58" fmla="*/ 3 w 419"/>
                <a:gd name="T59" fmla="*/ 28 h 51"/>
                <a:gd name="T60" fmla="*/ 3 w 419"/>
                <a:gd name="T61" fmla="*/ 21 h 51"/>
                <a:gd name="T62" fmla="*/ 3 w 419"/>
                <a:gd name="T63" fmla="*/ 14 h 51"/>
                <a:gd name="T64" fmla="*/ 3 w 419"/>
                <a:gd name="T65" fmla="*/ 8 h 51"/>
                <a:gd name="T66" fmla="*/ 3 w 419"/>
                <a:gd name="T67" fmla="*/ 3 h 51"/>
                <a:gd name="T68" fmla="*/ 1 w 41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9" h="51">
                  <a:moveTo>
                    <a:pt x="419" y="24"/>
                  </a:moveTo>
                  <a:lnTo>
                    <a:pt x="419" y="21"/>
                  </a:lnTo>
                  <a:lnTo>
                    <a:pt x="419" y="18"/>
                  </a:lnTo>
                  <a:lnTo>
                    <a:pt x="417" y="14"/>
                  </a:lnTo>
                  <a:lnTo>
                    <a:pt x="417" y="11"/>
                  </a:lnTo>
                  <a:lnTo>
                    <a:pt x="417" y="8"/>
                  </a:lnTo>
                  <a:lnTo>
                    <a:pt x="417" y="6"/>
                  </a:lnTo>
                  <a:lnTo>
                    <a:pt x="417" y="3"/>
                  </a:lnTo>
                  <a:lnTo>
                    <a:pt x="417" y="0"/>
                  </a:lnTo>
                  <a:lnTo>
                    <a:pt x="414" y="0"/>
                  </a:lnTo>
                  <a:lnTo>
                    <a:pt x="414" y="3"/>
                  </a:lnTo>
                  <a:lnTo>
                    <a:pt x="414" y="6"/>
                  </a:lnTo>
                  <a:lnTo>
                    <a:pt x="414" y="8"/>
                  </a:lnTo>
                  <a:lnTo>
                    <a:pt x="414" y="11"/>
                  </a:lnTo>
                  <a:lnTo>
                    <a:pt x="414" y="14"/>
                  </a:lnTo>
                  <a:lnTo>
                    <a:pt x="415" y="18"/>
                  </a:lnTo>
                  <a:lnTo>
                    <a:pt x="415" y="21"/>
                  </a:lnTo>
                  <a:lnTo>
                    <a:pt x="415" y="24"/>
                  </a:lnTo>
                  <a:lnTo>
                    <a:pt x="415" y="28"/>
                  </a:lnTo>
                  <a:lnTo>
                    <a:pt x="415" y="31"/>
                  </a:lnTo>
                  <a:lnTo>
                    <a:pt x="414" y="34"/>
                  </a:lnTo>
                  <a:lnTo>
                    <a:pt x="414" y="38"/>
                  </a:lnTo>
                  <a:lnTo>
                    <a:pt x="414" y="41"/>
                  </a:lnTo>
                  <a:lnTo>
                    <a:pt x="414" y="44"/>
                  </a:lnTo>
                  <a:lnTo>
                    <a:pt x="414" y="48"/>
                  </a:lnTo>
                  <a:lnTo>
                    <a:pt x="414" y="51"/>
                  </a:lnTo>
                  <a:lnTo>
                    <a:pt x="417" y="51"/>
                  </a:lnTo>
                  <a:lnTo>
                    <a:pt x="417" y="48"/>
                  </a:lnTo>
                  <a:lnTo>
                    <a:pt x="417" y="44"/>
                  </a:lnTo>
                  <a:lnTo>
                    <a:pt x="417" y="41"/>
                  </a:lnTo>
                  <a:lnTo>
                    <a:pt x="417" y="38"/>
                  </a:lnTo>
                  <a:lnTo>
                    <a:pt x="417" y="34"/>
                  </a:lnTo>
                  <a:lnTo>
                    <a:pt x="419" y="31"/>
                  </a:lnTo>
                  <a:lnTo>
                    <a:pt x="419" y="28"/>
                  </a:lnTo>
                  <a:lnTo>
                    <a:pt x="419"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4"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4" y="0"/>
                  </a:lnTo>
                  <a:lnTo>
                    <a:pt x="1"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49" name="Freeform 390">
              <a:extLst>
                <a:ext uri="{FF2B5EF4-FFF2-40B4-BE49-F238E27FC236}">
                  <a16:creationId xmlns:a16="http://schemas.microsoft.com/office/drawing/2014/main" id="{B3F5B24D-182E-EA36-0516-02394C21DF9B}"/>
                </a:ext>
              </a:extLst>
            </p:cNvPr>
            <p:cNvSpPr>
              <a:spLocks noEditPoints="1"/>
            </p:cNvSpPr>
            <p:nvPr/>
          </p:nvSpPr>
          <p:spPr bwMode="auto">
            <a:xfrm>
              <a:off x="1404" y="1713"/>
              <a:ext cx="416" cy="51"/>
            </a:xfrm>
            <a:custGeom>
              <a:avLst/>
              <a:gdLst>
                <a:gd name="T0" fmla="*/ 416 w 416"/>
                <a:gd name="T1" fmla="*/ 21 h 51"/>
                <a:gd name="T2" fmla="*/ 414 w 416"/>
                <a:gd name="T3" fmla="*/ 14 h 51"/>
                <a:gd name="T4" fmla="*/ 414 w 416"/>
                <a:gd name="T5" fmla="*/ 8 h 51"/>
                <a:gd name="T6" fmla="*/ 414 w 416"/>
                <a:gd name="T7" fmla="*/ 3 h 51"/>
                <a:gd name="T8" fmla="*/ 411 w 416"/>
                <a:gd name="T9" fmla="*/ 0 h 51"/>
                <a:gd name="T10" fmla="*/ 411 w 416"/>
                <a:gd name="T11" fmla="*/ 6 h 51"/>
                <a:gd name="T12" fmla="*/ 411 w 416"/>
                <a:gd name="T13" fmla="*/ 11 h 51"/>
                <a:gd name="T14" fmla="*/ 413 w 416"/>
                <a:gd name="T15" fmla="*/ 18 h 51"/>
                <a:gd name="T16" fmla="*/ 413 w 416"/>
                <a:gd name="T17" fmla="*/ 24 h 51"/>
                <a:gd name="T18" fmla="*/ 413 w 416"/>
                <a:gd name="T19" fmla="*/ 31 h 51"/>
                <a:gd name="T20" fmla="*/ 411 w 416"/>
                <a:gd name="T21" fmla="*/ 38 h 51"/>
                <a:gd name="T22" fmla="*/ 411 w 416"/>
                <a:gd name="T23" fmla="*/ 44 h 51"/>
                <a:gd name="T24" fmla="*/ 411 w 416"/>
                <a:gd name="T25" fmla="*/ 51 h 51"/>
                <a:gd name="T26" fmla="*/ 414 w 416"/>
                <a:gd name="T27" fmla="*/ 48 h 51"/>
                <a:gd name="T28" fmla="*/ 414 w 416"/>
                <a:gd name="T29" fmla="*/ 41 h 51"/>
                <a:gd name="T30" fmla="*/ 414 w 416"/>
                <a:gd name="T31" fmla="*/ 34 h 51"/>
                <a:gd name="T32" fmla="*/ 416 w 416"/>
                <a:gd name="T33" fmla="*/ 28 h 51"/>
                <a:gd name="T34" fmla="*/ 2 w 416"/>
                <a:gd name="T35" fmla="*/ 0 h 51"/>
                <a:gd name="T36" fmla="*/ 0 w 416"/>
                <a:gd name="T37" fmla="*/ 6 h 51"/>
                <a:gd name="T38" fmla="*/ 0 w 416"/>
                <a:gd name="T39" fmla="*/ 11 h 51"/>
                <a:gd name="T40" fmla="*/ 0 w 416"/>
                <a:gd name="T41" fmla="*/ 18 h 51"/>
                <a:gd name="T42" fmla="*/ 0 w 416"/>
                <a:gd name="T43" fmla="*/ 24 h 51"/>
                <a:gd name="T44" fmla="*/ 0 w 416"/>
                <a:gd name="T45" fmla="*/ 31 h 51"/>
                <a:gd name="T46" fmla="*/ 0 w 416"/>
                <a:gd name="T47" fmla="*/ 38 h 51"/>
                <a:gd name="T48" fmla="*/ 0 w 416"/>
                <a:gd name="T49" fmla="*/ 44 h 51"/>
                <a:gd name="T50" fmla="*/ 2 w 416"/>
                <a:gd name="T51" fmla="*/ 51 h 51"/>
                <a:gd name="T52" fmla="*/ 3 w 416"/>
                <a:gd name="T53" fmla="*/ 48 h 51"/>
                <a:gd name="T54" fmla="*/ 3 w 416"/>
                <a:gd name="T55" fmla="*/ 41 h 51"/>
                <a:gd name="T56" fmla="*/ 3 w 416"/>
                <a:gd name="T57" fmla="*/ 34 h 51"/>
                <a:gd name="T58" fmla="*/ 3 w 416"/>
                <a:gd name="T59" fmla="*/ 28 h 51"/>
                <a:gd name="T60" fmla="*/ 3 w 416"/>
                <a:gd name="T61" fmla="*/ 21 h 51"/>
                <a:gd name="T62" fmla="*/ 3 w 416"/>
                <a:gd name="T63" fmla="*/ 14 h 51"/>
                <a:gd name="T64" fmla="*/ 3 w 416"/>
                <a:gd name="T65" fmla="*/ 8 h 51"/>
                <a:gd name="T66" fmla="*/ 3 w 416"/>
                <a:gd name="T67" fmla="*/ 3 h 51"/>
                <a:gd name="T68" fmla="*/ 2 w 41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6" h="51">
                  <a:moveTo>
                    <a:pt x="416" y="24"/>
                  </a:moveTo>
                  <a:lnTo>
                    <a:pt x="416" y="21"/>
                  </a:lnTo>
                  <a:lnTo>
                    <a:pt x="416" y="18"/>
                  </a:lnTo>
                  <a:lnTo>
                    <a:pt x="414" y="14"/>
                  </a:lnTo>
                  <a:lnTo>
                    <a:pt x="414" y="11"/>
                  </a:lnTo>
                  <a:lnTo>
                    <a:pt x="414" y="8"/>
                  </a:lnTo>
                  <a:lnTo>
                    <a:pt x="414" y="6"/>
                  </a:lnTo>
                  <a:lnTo>
                    <a:pt x="414" y="3"/>
                  </a:lnTo>
                  <a:lnTo>
                    <a:pt x="414" y="0"/>
                  </a:lnTo>
                  <a:lnTo>
                    <a:pt x="411" y="0"/>
                  </a:lnTo>
                  <a:lnTo>
                    <a:pt x="411" y="3"/>
                  </a:lnTo>
                  <a:lnTo>
                    <a:pt x="411" y="6"/>
                  </a:lnTo>
                  <a:lnTo>
                    <a:pt x="411" y="8"/>
                  </a:lnTo>
                  <a:lnTo>
                    <a:pt x="411" y="11"/>
                  </a:lnTo>
                  <a:lnTo>
                    <a:pt x="411" y="14"/>
                  </a:lnTo>
                  <a:lnTo>
                    <a:pt x="413" y="18"/>
                  </a:lnTo>
                  <a:lnTo>
                    <a:pt x="413" y="21"/>
                  </a:lnTo>
                  <a:lnTo>
                    <a:pt x="413" y="24"/>
                  </a:lnTo>
                  <a:lnTo>
                    <a:pt x="413" y="28"/>
                  </a:lnTo>
                  <a:lnTo>
                    <a:pt x="413" y="31"/>
                  </a:lnTo>
                  <a:lnTo>
                    <a:pt x="411" y="34"/>
                  </a:lnTo>
                  <a:lnTo>
                    <a:pt x="411" y="38"/>
                  </a:lnTo>
                  <a:lnTo>
                    <a:pt x="411" y="41"/>
                  </a:lnTo>
                  <a:lnTo>
                    <a:pt x="411" y="44"/>
                  </a:lnTo>
                  <a:lnTo>
                    <a:pt x="411" y="48"/>
                  </a:lnTo>
                  <a:lnTo>
                    <a:pt x="411" y="51"/>
                  </a:lnTo>
                  <a:lnTo>
                    <a:pt x="414" y="51"/>
                  </a:lnTo>
                  <a:lnTo>
                    <a:pt x="414" y="48"/>
                  </a:lnTo>
                  <a:lnTo>
                    <a:pt x="414" y="44"/>
                  </a:lnTo>
                  <a:lnTo>
                    <a:pt x="414" y="41"/>
                  </a:lnTo>
                  <a:lnTo>
                    <a:pt x="414" y="38"/>
                  </a:lnTo>
                  <a:lnTo>
                    <a:pt x="414" y="34"/>
                  </a:lnTo>
                  <a:lnTo>
                    <a:pt x="416" y="31"/>
                  </a:lnTo>
                  <a:lnTo>
                    <a:pt x="416" y="28"/>
                  </a:lnTo>
                  <a:lnTo>
                    <a:pt x="41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50" name="Freeform 391">
              <a:extLst>
                <a:ext uri="{FF2B5EF4-FFF2-40B4-BE49-F238E27FC236}">
                  <a16:creationId xmlns:a16="http://schemas.microsoft.com/office/drawing/2014/main" id="{2726F46D-BEA3-1951-DCD4-1988C70C9A8C}"/>
                </a:ext>
              </a:extLst>
            </p:cNvPr>
            <p:cNvSpPr>
              <a:spLocks noEditPoints="1"/>
            </p:cNvSpPr>
            <p:nvPr/>
          </p:nvSpPr>
          <p:spPr bwMode="auto">
            <a:xfrm>
              <a:off x="1406" y="1713"/>
              <a:ext cx="412" cy="51"/>
            </a:xfrm>
            <a:custGeom>
              <a:avLst/>
              <a:gdLst>
                <a:gd name="T0" fmla="*/ 412 w 412"/>
                <a:gd name="T1" fmla="*/ 21 h 51"/>
                <a:gd name="T2" fmla="*/ 411 w 412"/>
                <a:gd name="T3" fmla="*/ 14 h 51"/>
                <a:gd name="T4" fmla="*/ 411 w 412"/>
                <a:gd name="T5" fmla="*/ 8 h 51"/>
                <a:gd name="T6" fmla="*/ 411 w 412"/>
                <a:gd name="T7" fmla="*/ 3 h 51"/>
                <a:gd name="T8" fmla="*/ 407 w 412"/>
                <a:gd name="T9" fmla="*/ 0 h 51"/>
                <a:gd name="T10" fmla="*/ 407 w 412"/>
                <a:gd name="T11" fmla="*/ 6 h 51"/>
                <a:gd name="T12" fmla="*/ 407 w 412"/>
                <a:gd name="T13" fmla="*/ 11 h 51"/>
                <a:gd name="T14" fmla="*/ 409 w 412"/>
                <a:gd name="T15" fmla="*/ 18 h 51"/>
                <a:gd name="T16" fmla="*/ 409 w 412"/>
                <a:gd name="T17" fmla="*/ 24 h 51"/>
                <a:gd name="T18" fmla="*/ 409 w 412"/>
                <a:gd name="T19" fmla="*/ 31 h 51"/>
                <a:gd name="T20" fmla="*/ 407 w 412"/>
                <a:gd name="T21" fmla="*/ 38 h 51"/>
                <a:gd name="T22" fmla="*/ 407 w 412"/>
                <a:gd name="T23" fmla="*/ 44 h 51"/>
                <a:gd name="T24" fmla="*/ 407 w 412"/>
                <a:gd name="T25" fmla="*/ 51 h 51"/>
                <a:gd name="T26" fmla="*/ 411 w 412"/>
                <a:gd name="T27" fmla="*/ 48 h 51"/>
                <a:gd name="T28" fmla="*/ 411 w 412"/>
                <a:gd name="T29" fmla="*/ 41 h 51"/>
                <a:gd name="T30" fmla="*/ 411 w 412"/>
                <a:gd name="T31" fmla="*/ 34 h 51"/>
                <a:gd name="T32" fmla="*/ 412 w 412"/>
                <a:gd name="T33" fmla="*/ 28 h 51"/>
                <a:gd name="T34" fmla="*/ 1 w 412"/>
                <a:gd name="T35" fmla="*/ 0 h 51"/>
                <a:gd name="T36" fmla="*/ 0 w 412"/>
                <a:gd name="T37" fmla="*/ 6 h 51"/>
                <a:gd name="T38" fmla="*/ 0 w 412"/>
                <a:gd name="T39" fmla="*/ 11 h 51"/>
                <a:gd name="T40" fmla="*/ 0 w 412"/>
                <a:gd name="T41" fmla="*/ 18 h 51"/>
                <a:gd name="T42" fmla="*/ 0 w 412"/>
                <a:gd name="T43" fmla="*/ 24 h 51"/>
                <a:gd name="T44" fmla="*/ 0 w 412"/>
                <a:gd name="T45" fmla="*/ 31 h 51"/>
                <a:gd name="T46" fmla="*/ 0 w 412"/>
                <a:gd name="T47" fmla="*/ 38 h 51"/>
                <a:gd name="T48" fmla="*/ 0 w 412"/>
                <a:gd name="T49" fmla="*/ 44 h 51"/>
                <a:gd name="T50" fmla="*/ 1 w 412"/>
                <a:gd name="T51" fmla="*/ 51 h 51"/>
                <a:gd name="T52" fmla="*/ 3 w 412"/>
                <a:gd name="T53" fmla="*/ 48 h 51"/>
                <a:gd name="T54" fmla="*/ 3 w 412"/>
                <a:gd name="T55" fmla="*/ 41 h 51"/>
                <a:gd name="T56" fmla="*/ 3 w 412"/>
                <a:gd name="T57" fmla="*/ 34 h 51"/>
                <a:gd name="T58" fmla="*/ 3 w 412"/>
                <a:gd name="T59" fmla="*/ 28 h 51"/>
                <a:gd name="T60" fmla="*/ 3 w 412"/>
                <a:gd name="T61" fmla="*/ 21 h 51"/>
                <a:gd name="T62" fmla="*/ 3 w 412"/>
                <a:gd name="T63" fmla="*/ 14 h 51"/>
                <a:gd name="T64" fmla="*/ 3 w 412"/>
                <a:gd name="T65" fmla="*/ 8 h 51"/>
                <a:gd name="T66" fmla="*/ 3 w 412"/>
                <a:gd name="T67" fmla="*/ 3 h 51"/>
                <a:gd name="T68" fmla="*/ 1 w 41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2" h="51">
                  <a:moveTo>
                    <a:pt x="412" y="24"/>
                  </a:moveTo>
                  <a:lnTo>
                    <a:pt x="412" y="21"/>
                  </a:lnTo>
                  <a:lnTo>
                    <a:pt x="412" y="18"/>
                  </a:lnTo>
                  <a:lnTo>
                    <a:pt x="411" y="14"/>
                  </a:lnTo>
                  <a:lnTo>
                    <a:pt x="411" y="11"/>
                  </a:lnTo>
                  <a:lnTo>
                    <a:pt x="411" y="8"/>
                  </a:lnTo>
                  <a:lnTo>
                    <a:pt x="411" y="6"/>
                  </a:lnTo>
                  <a:lnTo>
                    <a:pt x="411" y="3"/>
                  </a:lnTo>
                  <a:lnTo>
                    <a:pt x="411" y="0"/>
                  </a:lnTo>
                  <a:lnTo>
                    <a:pt x="407" y="0"/>
                  </a:lnTo>
                  <a:lnTo>
                    <a:pt x="407" y="3"/>
                  </a:lnTo>
                  <a:lnTo>
                    <a:pt x="407" y="6"/>
                  </a:lnTo>
                  <a:lnTo>
                    <a:pt x="407" y="8"/>
                  </a:lnTo>
                  <a:lnTo>
                    <a:pt x="407" y="11"/>
                  </a:lnTo>
                  <a:lnTo>
                    <a:pt x="407" y="14"/>
                  </a:lnTo>
                  <a:lnTo>
                    <a:pt x="409" y="18"/>
                  </a:lnTo>
                  <a:lnTo>
                    <a:pt x="409" y="21"/>
                  </a:lnTo>
                  <a:lnTo>
                    <a:pt x="409" y="24"/>
                  </a:lnTo>
                  <a:lnTo>
                    <a:pt x="409" y="28"/>
                  </a:lnTo>
                  <a:lnTo>
                    <a:pt x="409" y="31"/>
                  </a:lnTo>
                  <a:lnTo>
                    <a:pt x="407" y="34"/>
                  </a:lnTo>
                  <a:lnTo>
                    <a:pt x="407" y="38"/>
                  </a:lnTo>
                  <a:lnTo>
                    <a:pt x="407" y="41"/>
                  </a:lnTo>
                  <a:lnTo>
                    <a:pt x="407" y="44"/>
                  </a:lnTo>
                  <a:lnTo>
                    <a:pt x="407" y="48"/>
                  </a:lnTo>
                  <a:lnTo>
                    <a:pt x="407" y="51"/>
                  </a:lnTo>
                  <a:lnTo>
                    <a:pt x="411" y="51"/>
                  </a:lnTo>
                  <a:lnTo>
                    <a:pt x="411" y="48"/>
                  </a:lnTo>
                  <a:lnTo>
                    <a:pt x="411" y="44"/>
                  </a:lnTo>
                  <a:lnTo>
                    <a:pt x="411" y="41"/>
                  </a:lnTo>
                  <a:lnTo>
                    <a:pt x="411" y="38"/>
                  </a:lnTo>
                  <a:lnTo>
                    <a:pt x="411" y="34"/>
                  </a:lnTo>
                  <a:lnTo>
                    <a:pt x="412" y="31"/>
                  </a:lnTo>
                  <a:lnTo>
                    <a:pt x="412" y="28"/>
                  </a:lnTo>
                  <a:lnTo>
                    <a:pt x="41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51" name="Freeform 392">
              <a:extLst>
                <a:ext uri="{FF2B5EF4-FFF2-40B4-BE49-F238E27FC236}">
                  <a16:creationId xmlns:a16="http://schemas.microsoft.com/office/drawing/2014/main" id="{CB1E3A45-CDF9-CB3A-87BD-13DA9DDE5BCF}"/>
                </a:ext>
              </a:extLst>
            </p:cNvPr>
            <p:cNvSpPr>
              <a:spLocks noEditPoints="1"/>
            </p:cNvSpPr>
            <p:nvPr/>
          </p:nvSpPr>
          <p:spPr bwMode="auto">
            <a:xfrm>
              <a:off x="1407" y="1713"/>
              <a:ext cx="410" cy="51"/>
            </a:xfrm>
            <a:custGeom>
              <a:avLst/>
              <a:gdLst>
                <a:gd name="T0" fmla="*/ 410 w 410"/>
                <a:gd name="T1" fmla="*/ 21 h 51"/>
                <a:gd name="T2" fmla="*/ 408 w 410"/>
                <a:gd name="T3" fmla="*/ 14 h 51"/>
                <a:gd name="T4" fmla="*/ 408 w 410"/>
                <a:gd name="T5" fmla="*/ 8 h 51"/>
                <a:gd name="T6" fmla="*/ 408 w 410"/>
                <a:gd name="T7" fmla="*/ 3 h 51"/>
                <a:gd name="T8" fmla="*/ 405 w 410"/>
                <a:gd name="T9" fmla="*/ 0 h 51"/>
                <a:gd name="T10" fmla="*/ 405 w 410"/>
                <a:gd name="T11" fmla="*/ 6 h 51"/>
                <a:gd name="T12" fmla="*/ 405 w 410"/>
                <a:gd name="T13" fmla="*/ 11 h 51"/>
                <a:gd name="T14" fmla="*/ 406 w 410"/>
                <a:gd name="T15" fmla="*/ 18 h 51"/>
                <a:gd name="T16" fmla="*/ 406 w 410"/>
                <a:gd name="T17" fmla="*/ 24 h 51"/>
                <a:gd name="T18" fmla="*/ 406 w 410"/>
                <a:gd name="T19" fmla="*/ 31 h 51"/>
                <a:gd name="T20" fmla="*/ 405 w 410"/>
                <a:gd name="T21" fmla="*/ 38 h 51"/>
                <a:gd name="T22" fmla="*/ 405 w 410"/>
                <a:gd name="T23" fmla="*/ 44 h 51"/>
                <a:gd name="T24" fmla="*/ 405 w 410"/>
                <a:gd name="T25" fmla="*/ 51 h 51"/>
                <a:gd name="T26" fmla="*/ 408 w 410"/>
                <a:gd name="T27" fmla="*/ 48 h 51"/>
                <a:gd name="T28" fmla="*/ 408 w 410"/>
                <a:gd name="T29" fmla="*/ 41 h 51"/>
                <a:gd name="T30" fmla="*/ 408 w 410"/>
                <a:gd name="T31" fmla="*/ 34 h 51"/>
                <a:gd name="T32" fmla="*/ 410 w 410"/>
                <a:gd name="T33" fmla="*/ 28 h 51"/>
                <a:gd name="T34" fmla="*/ 2 w 410"/>
                <a:gd name="T35" fmla="*/ 0 h 51"/>
                <a:gd name="T36" fmla="*/ 0 w 410"/>
                <a:gd name="T37" fmla="*/ 6 h 51"/>
                <a:gd name="T38" fmla="*/ 0 w 410"/>
                <a:gd name="T39" fmla="*/ 11 h 51"/>
                <a:gd name="T40" fmla="*/ 0 w 410"/>
                <a:gd name="T41" fmla="*/ 18 h 51"/>
                <a:gd name="T42" fmla="*/ 0 w 410"/>
                <a:gd name="T43" fmla="*/ 24 h 51"/>
                <a:gd name="T44" fmla="*/ 0 w 410"/>
                <a:gd name="T45" fmla="*/ 31 h 51"/>
                <a:gd name="T46" fmla="*/ 0 w 410"/>
                <a:gd name="T47" fmla="*/ 38 h 51"/>
                <a:gd name="T48" fmla="*/ 0 w 410"/>
                <a:gd name="T49" fmla="*/ 44 h 51"/>
                <a:gd name="T50" fmla="*/ 2 w 410"/>
                <a:gd name="T51" fmla="*/ 51 h 51"/>
                <a:gd name="T52" fmla="*/ 4 w 410"/>
                <a:gd name="T53" fmla="*/ 48 h 51"/>
                <a:gd name="T54" fmla="*/ 4 w 410"/>
                <a:gd name="T55" fmla="*/ 41 h 51"/>
                <a:gd name="T56" fmla="*/ 4 w 410"/>
                <a:gd name="T57" fmla="*/ 34 h 51"/>
                <a:gd name="T58" fmla="*/ 4 w 410"/>
                <a:gd name="T59" fmla="*/ 28 h 51"/>
                <a:gd name="T60" fmla="*/ 4 w 410"/>
                <a:gd name="T61" fmla="*/ 21 h 51"/>
                <a:gd name="T62" fmla="*/ 4 w 410"/>
                <a:gd name="T63" fmla="*/ 14 h 51"/>
                <a:gd name="T64" fmla="*/ 4 w 410"/>
                <a:gd name="T65" fmla="*/ 8 h 51"/>
                <a:gd name="T66" fmla="*/ 4 w 410"/>
                <a:gd name="T67" fmla="*/ 3 h 51"/>
                <a:gd name="T68" fmla="*/ 2 w 41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0" h="51">
                  <a:moveTo>
                    <a:pt x="410" y="24"/>
                  </a:moveTo>
                  <a:lnTo>
                    <a:pt x="410" y="21"/>
                  </a:lnTo>
                  <a:lnTo>
                    <a:pt x="410" y="18"/>
                  </a:lnTo>
                  <a:lnTo>
                    <a:pt x="408" y="14"/>
                  </a:lnTo>
                  <a:lnTo>
                    <a:pt x="408" y="11"/>
                  </a:lnTo>
                  <a:lnTo>
                    <a:pt x="408" y="8"/>
                  </a:lnTo>
                  <a:lnTo>
                    <a:pt x="408" y="6"/>
                  </a:lnTo>
                  <a:lnTo>
                    <a:pt x="408" y="3"/>
                  </a:lnTo>
                  <a:lnTo>
                    <a:pt x="408" y="0"/>
                  </a:lnTo>
                  <a:lnTo>
                    <a:pt x="405" y="0"/>
                  </a:lnTo>
                  <a:lnTo>
                    <a:pt x="405" y="3"/>
                  </a:lnTo>
                  <a:lnTo>
                    <a:pt x="405" y="6"/>
                  </a:lnTo>
                  <a:lnTo>
                    <a:pt x="405" y="8"/>
                  </a:lnTo>
                  <a:lnTo>
                    <a:pt x="405" y="11"/>
                  </a:lnTo>
                  <a:lnTo>
                    <a:pt x="405" y="14"/>
                  </a:lnTo>
                  <a:lnTo>
                    <a:pt x="406" y="18"/>
                  </a:lnTo>
                  <a:lnTo>
                    <a:pt x="406" y="21"/>
                  </a:lnTo>
                  <a:lnTo>
                    <a:pt x="406" y="24"/>
                  </a:lnTo>
                  <a:lnTo>
                    <a:pt x="406" y="28"/>
                  </a:lnTo>
                  <a:lnTo>
                    <a:pt x="406" y="31"/>
                  </a:lnTo>
                  <a:lnTo>
                    <a:pt x="405" y="34"/>
                  </a:lnTo>
                  <a:lnTo>
                    <a:pt x="405" y="38"/>
                  </a:lnTo>
                  <a:lnTo>
                    <a:pt x="405" y="41"/>
                  </a:lnTo>
                  <a:lnTo>
                    <a:pt x="405" y="44"/>
                  </a:lnTo>
                  <a:lnTo>
                    <a:pt x="405" y="48"/>
                  </a:lnTo>
                  <a:lnTo>
                    <a:pt x="405" y="51"/>
                  </a:lnTo>
                  <a:lnTo>
                    <a:pt x="408" y="51"/>
                  </a:lnTo>
                  <a:lnTo>
                    <a:pt x="408" y="48"/>
                  </a:lnTo>
                  <a:lnTo>
                    <a:pt x="408" y="44"/>
                  </a:lnTo>
                  <a:lnTo>
                    <a:pt x="408" y="41"/>
                  </a:lnTo>
                  <a:lnTo>
                    <a:pt x="408" y="38"/>
                  </a:lnTo>
                  <a:lnTo>
                    <a:pt x="408" y="34"/>
                  </a:lnTo>
                  <a:lnTo>
                    <a:pt x="410" y="31"/>
                  </a:lnTo>
                  <a:lnTo>
                    <a:pt x="410" y="28"/>
                  </a:lnTo>
                  <a:lnTo>
                    <a:pt x="41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52" name="Freeform 393">
              <a:extLst>
                <a:ext uri="{FF2B5EF4-FFF2-40B4-BE49-F238E27FC236}">
                  <a16:creationId xmlns:a16="http://schemas.microsoft.com/office/drawing/2014/main" id="{882098CB-789B-9FE2-446E-952AC0B316B0}"/>
                </a:ext>
              </a:extLst>
            </p:cNvPr>
            <p:cNvSpPr>
              <a:spLocks noEditPoints="1"/>
            </p:cNvSpPr>
            <p:nvPr/>
          </p:nvSpPr>
          <p:spPr bwMode="auto">
            <a:xfrm>
              <a:off x="1409" y="1713"/>
              <a:ext cx="406" cy="51"/>
            </a:xfrm>
            <a:custGeom>
              <a:avLst/>
              <a:gdLst>
                <a:gd name="T0" fmla="*/ 406 w 406"/>
                <a:gd name="T1" fmla="*/ 21 h 51"/>
                <a:gd name="T2" fmla="*/ 404 w 406"/>
                <a:gd name="T3" fmla="*/ 14 h 51"/>
                <a:gd name="T4" fmla="*/ 404 w 406"/>
                <a:gd name="T5" fmla="*/ 8 h 51"/>
                <a:gd name="T6" fmla="*/ 404 w 406"/>
                <a:gd name="T7" fmla="*/ 3 h 51"/>
                <a:gd name="T8" fmla="*/ 401 w 406"/>
                <a:gd name="T9" fmla="*/ 0 h 51"/>
                <a:gd name="T10" fmla="*/ 401 w 406"/>
                <a:gd name="T11" fmla="*/ 6 h 51"/>
                <a:gd name="T12" fmla="*/ 401 w 406"/>
                <a:gd name="T13" fmla="*/ 11 h 51"/>
                <a:gd name="T14" fmla="*/ 403 w 406"/>
                <a:gd name="T15" fmla="*/ 18 h 51"/>
                <a:gd name="T16" fmla="*/ 403 w 406"/>
                <a:gd name="T17" fmla="*/ 24 h 51"/>
                <a:gd name="T18" fmla="*/ 403 w 406"/>
                <a:gd name="T19" fmla="*/ 31 h 51"/>
                <a:gd name="T20" fmla="*/ 401 w 406"/>
                <a:gd name="T21" fmla="*/ 38 h 51"/>
                <a:gd name="T22" fmla="*/ 401 w 406"/>
                <a:gd name="T23" fmla="*/ 44 h 51"/>
                <a:gd name="T24" fmla="*/ 401 w 406"/>
                <a:gd name="T25" fmla="*/ 51 h 51"/>
                <a:gd name="T26" fmla="*/ 404 w 406"/>
                <a:gd name="T27" fmla="*/ 48 h 51"/>
                <a:gd name="T28" fmla="*/ 404 w 406"/>
                <a:gd name="T29" fmla="*/ 41 h 51"/>
                <a:gd name="T30" fmla="*/ 404 w 406"/>
                <a:gd name="T31" fmla="*/ 34 h 51"/>
                <a:gd name="T32" fmla="*/ 406 w 406"/>
                <a:gd name="T33" fmla="*/ 28 h 51"/>
                <a:gd name="T34" fmla="*/ 2 w 406"/>
                <a:gd name="T35" fmla="*/ 0 h 51"/>
                <a:gd name="T36" fmla="*/ 0 w 406"/>
                <a:gd name="T37" fmla="*/ 6 h 51"/>
                <a:gd name="T38" fmla="*/ 0 w 406"/>
                <a:gd name="T39" fmla="*/ 11 h 51"/>
                <a:gd name="T40" fmla="*/ 0 w 406"/>
                <a:gd name="T41" fmla="*/ 18 h 51"/>
                <a:gd name="T42" fmla="*/ 0 w 406"/>
                <a:gd name="T43" fmla="*/ 24 h 51"/>
                <a:gd name="T44" fmla="*/ 0 w 406"/>
                <a:gd name="T45" fmla="*/ 31 h 51"/>
                <a:gd name="T46" fmla="*/ 0 w 406"/>
                <a:gd name="T47" fmla="*/ 38 h 51"/>
                <a:gd name="T48" fmla="*/ 0 w 406"/>
                <a:gd name="T49" fmla="*/ 44 h 51"/>
                <a:gd name="T50" fmla="*/ 2 w 406"/>
                <a:gd name="T51" fmla="*/ 51 h 51"/>
                <a:gd name="T52" fmla="*/ 3 w 406"/>
                <a:gd name="T53" fmla="*/ 48 h 51"/>
                <a:gd name="T54" fmla="*/ 3 w 406"/>
                <a:gd name="T55" fmla="*/ 41 h 51"/>
                <a:gd name="T56" fmla="*/ 3 w 406"/>
                <a:gd name="T57" fmla="*/ 34 h 51"/>
                <a:gd name="T58" fmla="*/ 3 w 406"/>
                <a:gd name="T59" fmla="*/ 28 h 51"/>
                <a:gd name="T60" fmla="*/ 3 w 406"/>
                <a:gd name="T61" fmla="*/ 21 h 51"/>
                <a:gd name="T62" fmla="*/ 3 w 406"/>
                <a:gd name="T63" fmla="*/ 14 h 51"/>
                <a:gd name="T64" fmla="*/ 3 w 406"/>
                <a:gd name="T65" fmla="*/ 8 h 51"/>
                <a:gd name="T66" fmla="*/ 3 w 406"/>
                <a:gd name="T67" fmla="*/ 3 h 51"/>
                <a:gd name="T68" fmla="*/ 2 w 40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6" h="51">
                  <a:moveTo>
                    <a:pt x="406" y="24"/>
                  </a:moveTo>
                  <a:lnTo>
                    <a:pt x="406" y="21"/>
                  </a:lnTo>
                  <a:lnTo>
                    <a:pt x="406" y="18"/>
                  </a:lnTo>
                  <a:lnTo>
                    <a:pt x="404" y="14"/>
                  </a:lnTo>
                  <a:lnTo>
                    <a:pt x="404" y="11"/>
                  </a:lnTo>
                  <a:lnTo>
                    <a:pt x="404" y="8"/>
                  </a:lnTo>
                  <a:lnTo>
                    <a:pt x="404" y="6"/>
                  </a:lnTo>
                  <a:lnTo>
                    <a:pt x="404" y="3"/>
                  </a:lnTo>
                  <a:lnTo>
                    <a:pt x="404" y="0"/>
                  </a:lnTo>
                  <a:lnTo>
                    <a:pt x="401" y="0"/>
                  </a:lnTo>
                  <a:lnTo>
                    <a:pt x="401" y="3"/>
                  </a:lnTo>
                  <a:lnTo>
                    <a:pt x="401" y="6"/>
                  </a:lnTo>
                  <a:lnTo>
                    <a:pt x="401" y="8"/>
                  </a:lnTo>
                  <a:lnTo>
                    <a:pt x="401" y="11"/>
                  </a:lnTo>
                  <a:lnTo>
                    <a:pt x="401" y="14"/>
                  </a:lnTo>
                  <a:lnTo>
                    <a:pt x="403" y="18"/>
                  </a:lnTo>
                  <a:lnTo>
                    <a:pt x="403" y="21"/>
                  </a:lnTo>
                  <a:lnTo>
                    <a:pt x="403" y="24"/>
                  </a:lnTo>
                  <a:lnTo>
                    <a:pt x="403" y="28"/>
                  </a:lnTo>
                  <a:lnTo>
                    <a:pt x="403" y="31"/>
                  </a:lnTo>
                  <a:lnTo>
                    <a:pt x="401" y="34"/>
                  </a:lnTo>
                  <a:lnTo>
                    <a:pt x="401" y="38"/>
                  </a:lnTo>
                  <a:lnTo>
                    <a:pt x="401" y="41"/>
                  </a:lnTo>
                  <a:lnTo>
                    <a:pt x="401" y="44"/>
                  </a:lnTo>
                  <a:lnTo>
                    <a:pt x="401" y="48"/>
                  </a:lnTo>
                  <a:lnTo>
                    <a:pt x="401" y="51"/>
                  </a:lnTo>
                  <a:lnTo>
                    <a:pt x="404" y="51"/>
                  </a:lnTo>
                  <a:lnTo>
                    <a:pt x="404" y="48"/>
                  </a:lnTo>
                  <a:lnTo>
                    <a:pt x="404" y="44"/>
                  </a:lnTo>
                  <a:lnTo>
                    <a:pt x="404" y="41"/>
                  </a:lnTo>
                  <a:lnTo>
                    <a:pt x="404" y="38"/>
                  </a:lnTo>
                  <a:lnTo>
                    <a:pt x="404" y="34"/>
                  </a:lnTo>
                  <a:lnTo>
                    <a:pt x="406" y="31"/>
                  </a:lnTo>
                  <a:lnTo>
                    <a:pt x="406" y="28"/>
                  </a:lnTo>
                  <a:lnTo>
                    <a:pt x="40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53" name="Freeform 394">
              <a:extLst>
                <a:ext uri="{FF2B5EF4-FFF2-40B4-BE49-F238E27FC236}">
                  <a16:creationId xmlns:a16="http://schemas.microsoft.com/office/drawing/2014/main" id="{3C4A68E9-C37B-F1A6-AF16-8DCB06F82924}"/>
                </a:ext>
              </a:extLst>
            </p:cNvPr>
            <p:cNvSpPr>
              <a:spLocks noEditPoints="1"/>
            </p:cNvSpPr>
            <p:nvPr/>
          </p:nvSpPr>
          <p:spPr bwMode="auto">
            <a:xfrm>
              <a:off x="1411" y="1713"/>
              <a:ext cx="402" cy="51"/>
            </a:xfrm>
            <a:custGeom>
              <a:avLst/>
              <a:gdLst>
                <a:gd name="T0" fmla="*/ 402 w 402"/>
                <a:gd name="T1" fmla="*/ 21 h 51"/>
                <a:gd name="T2" fmla="*/ 401 w 402"/>
                <a:gd name="T3" fmla="*/ 14 h 51"/>
                <a:gd name="T4" fmla="*/ 401 w 402"/>
                <a:gd name="T5" fmla="*/ 8 h 51"/>
                <a:gd name="T6" fmla="*/ 401 w 402"/>
                <a:gd name="T7" fmla="*/ 3 h 51"/>
                <a:gd name="T8" fmla="*/ 397 w 402"/>
                <a:gd name="T9" fmla="*/ 0 h 51"/>
                <a:gd name="T10" fmla="*/ 397 w 402"/>
                <a:gd name="T11" fmla="*/ 6 h 51"/>
                <a:gd name="T12" fmla="*/ 397 w 402"/>
                <a:gd name="T13" fmla="*/ 11 h 51"/>
                <a:gd name="T14" fmla="*/ 399 w 402"/>
                <a:gd name="T15" fmla="*/ 18 h 51"/>
                <a:gd name="T16" fmla="*/ 399 w 402"/>
                <a:gd name="T17" fmla="*/ 24 h 51"/>
                <a:gd name="T18" fmla="*/ 399 w 402"/>
                <a:gd name="T19" fmla="*/ 31 h 51"/>
                <a:gd name="T20" fmla="*/ 397 w 402"/>
                <a:gd name="T21" fmla="*/ 38 h 51"/>
                <a:gd name="T22" fmla="*/ 397 w 402"/>
                <a:gd name="T23" fmla="*/ 44 h 51"/>
                <a:gd name="T24" fmla="*/ 397 w 402"/>
                <a:gd name="T25" fmla="*/ 51 h 51"/>
                <a:gd name="T26" fmla="*/ 401 w 402"/>
                <a:gd name="T27" fmla="*/ 48 h 51"/>
                <a:gd name="T28" fmla="*/ 401 w 402"/>
                <a:gd name="T29" fmla="*/ 41 h 51"/>
                <a:gd name="T30" fmla="*/ 401 w 402"/>
                <a:gd name="T31" fmla="*/ 34 h 51"/>
                <a:gd name="T32" fmla="*/ 402 w 402"/>
                <a:gd name="T33" fmla="*/ 28 h 51"/>
                <a:gd name="T34" fmla="*/ 1 w 402"/>
                <a:gd name="T35" fmla="*/ 0 h 51"/>
                <a:gd name="T36" fmla="*/ 0 w 402"/>
                <a:gd name="T37" fmla="*/ 6 h 51"/>
                <a:gd name="T38" fmla="*/ 0 w 402"/>
                <a:gd name="T39" fmla="*/ 11 h 51"/>
                <a:gd name="T40" fmla="*/ 0 w 402"/>
                <a:gd name="T41" fmla="*/ 18 h 51"/>
                <a:gd name="T42" fmla="*/ 0 w 402"/>
                <a:gd name="T43" fmla="*/ 24 h 51"/>
                <a:gd name="T44" fmla="*/ 0 w 402"/>
                <a:gd name="T45" fmla="*/ 31 h 51"/>
                <a:gd name="T46" fmla="*/ 0 w 402"/>
                <a:gd name="T47" fmla="*/ 38 h 51"/>
                <a:gd name="T48" fmla="*/ 0 w 402"/>
                <a:gd name="T49" fmla="*/ 44 h 51"/>
                <a:gd name="T50" fmla="*/ 1 w 402"/>
                <a:gd name="T51" fmla="*/ 51 h 51"/>
                <a:gd name="T52" fmla="*/ 3 w 402"/>
                <a:gd name="T53" fmla="*/ 48 h 51"/>
                <a:gd name="T54" fmla="*/ 3 w 402"/>
                <a:gd name="T55" fmla="*/ 41 h 51"/>
                <a:gd name="T56" fmla="*/ 3 w 402"/>
                <a:gd name="T57" fmla="*/ 34 h 51"/>
                <a:gd name="T58" fmla="*/ 3 w 402"/>
                <a:gd name="T59" fmla="*/ 28 h 51"/>
                <a:gd name="T60" fmla="*/ 3 w 402"/>
                <a:gd name="T61" fmla="*/ 21 h 51"/>
                <a:gd name="T62" fmla="*/ 3 w 402"/>
                <a:gd name="T63" fmla="*/ 14 h 51"/>
                <a:gd name="T64" fmla="*/ 3 w 402"/>
                <a:gd name="T65" fmla="*/ 8 h 51"/>
                <a:gd name="T66" fmla="*/ 3 w 402"/>
                <a:gd name="T67" fmla="*/ 3 h 51"/>
                <a:gd name="T68" fmla="*/ 1 w 40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2" h="51">
                  <a:moveTo>
                    <a:pt x="402" y="24"/>
                  </a:moveTo>
                  <a:lnTo>
                    <a:pt x="402" y="21"/>
                  </a:lnTo>
                  <a:lnTo>
                    <a:pt x="402" y="18"/>
                  </a:lnTo>
                  <a:lnTo>
                    <a:pt x="401" y="14"/>
                  </a:lnTo>
                  <a:lnTo>
                    <a:pt x="401" y="11"/>
                  </a:lnTo>
                  <a:lnTo>
                    <a:pt x="401" y="8"/>
                  </a:lnTo>
                  <a:lnTo>
                    <a:pt x="401" y="6"/>
                  </a:lnTo>
                  <a:lnTo>
                    <a:pt x="401" y="3"/>
                  </a:lnTo>
                  <a:lnTo>
                    <a:pt x="401" y="0"/>
                  </a:lnTo>
                  <a:lnTo>
                    <a:pt x="397" y="0"/>
                  </a:lnTo>
                  <a:lnTo>
                    <a:pt x="397" y="3"/>
                  </a:lnTo>
                  <a:lnTo>
                    <a:pt x="397" y="6"/>
                  </a:lnTo>
                  <a:lnTo>
                    <a:pt x="397" y="8"/>
                  </a:lnTo>
                  <a:lnTo>
                    <a:pt x="397" y="11"/>
                  </a:lnTo>
                  <a:lnTo>
                    <a:pt x="397" y="14"/>
                  </a:lnTo>
                  <a:lnTo>
                    <a:pt x="399" y="18"/>
                  </a:lnTo>
                  <a:lnTo>
                    <a:pt x="399" y="21"/>
                  </a:lnTo>
                  <a:lnTo>
                    <a:pt x="399" y="24"/>
                  </a:lnTo>
                  <a:lnTo>
                    <a:pt x="399" y="28"/>
                  </a:lnTo>
                  <a:lnTo>
                    <a:pt x="399" y="31"/>
                  </a:lnTo>
                  <a:lnTo>
                    <a:pt x="397" y="34"/>
                  </a:lnTo>
                  <a:lnTo>
                    <a:pt x="397" y="38"/>
                  </a:lnTo>
                  <a:lnTo>
                    <a:pt x="397" y="41"/>
                  </a:lnTo>
                  <a:lnTo>
                    <a:pt x="397" y="44"/>
                  </a:lnTo>
                  <a:lnTo>
                    <a:pt x="397" y="48"/>
                  </a:lnTo>
                  <a:lnTo>
                    <a:pt x="397" y="51"/>
                  </a:lnTo>
                  <a:lnTo>
                    <a:pt x="401" y="51"/>
                  </a:lnTo>
                  <a:lnTo>
                    <a:pt x="401" y="48"/>
                  </a:lnTo>
                  <a:lnTo>
                    <a:pt x="401" y="44"/>
                  </a:lnTo>
                  <a:lnTo>
                    <a:pt x="401" y="41"/>
                  </a:lnTo>
                  <a:lnTo>
                    <a:pt x="401" y="38"/>
                  </a:lnTo>
                  <a:lnTo>
                    <a:pt x="401" y="34"/>
                  </a:lnTo>
                  <a:lnTo>
                    <a:pt x="402" y="31"/>
                  </a:lnTo>
                  <a:lnTo>
                    <a:pt x="402" y="28"/>
                  </a:lnTo>
                  <a:lnTo>
                    <a:pt x="40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54" name="Freeform 395">
              <a:extLst>
                <a:ext uri="{FF2B5EF4-FFF2-40B4-BE49-F238E27FC236}">
                  <a16:creationId xmlns:a16="http://schemas.microsoft.com/office/drawing/2014/main" id="{FD92BE12-E0FA-9F96-1530-A0A75739D082}"/>
                </a:ext>
              </a:extLst>
            </p:cNvPr>
            <p:cNvSpPr>
              <a:spLocks noEditPoints="1"/>
            </p:cNvSpPr>
            <p:nvPr/>
          </p:nvSpPr>
          <p:spPr bwMode="auto">
            <a:xfrm>
              <a:off x="1412" y="1713"/>
              <a:ext cx="400" cy="51"/>
            </a:xfrm>
            <a:custGeom>
              <a:avLst/>
              <a:gdLst>
                <a:gd name="T0" fmla="*/ 400 w 400"/>
                <a:gd name="T1" fmla="*/ 21 h 51"/>
                <a:gd name="T2" fmla="*/ 398 w 400"/>
                <a:gd name="T3" fmla="*/ 14 h 51"/>
                <a:gd name="T4" fmla="*/ 398 w 400"/>
                <a:gd name="T5" fmla="*/ 8 h 51"/>
                <a:gd name="T6" fmla="*/ 398 w 400"/>
                <a:gd name="T7" fmla="*/ 3 h 51"/>
                <a:gd name="T8" fmla="*/ 395 w 400"/>
                <a:gd name="T9" fmla="*/ 0 h 51"/>
                <a:gd name="T10" fmla="*/ 395 w 400"/>
                <a:gd name="T11" fmla="*/ 6 h 51"/>
                <a:gd name="T12" fmla="*/ 395 w 400"/>
                <a:gd name="T13" fmla="*/ 11 h 51"/>
                <a:gd name="T14" fmla="*/ 396 w 400"/>
                <a:gd name="T15" fmla="*/ 18 h 51"/>
                <a:gd name="T16" fmla="*/ 396 w 400"/>
                <a:gd name="T17" fmla="*/ 24 h 51"/>
                <a:gd name="T18" fmla="*/ 396 w 400"/>
                <a:gd name="T19" fmla="*/ 31 h 51"/>
                <a:gd name="T20" fmla="*/ 395 w 400"/>
                <a:gd name="T21" fmla="*/ 38 h 51"/>
                <a:gd name="T22" fmla="*/ 395 w 400"/>
                <a:gd name="T23" fmla="*/ 44 h 51"/>
                <a:gd name="T24" fmla="*/ 395 w 400"/>
                <a:gd name="T25" fmla="*/ 51 h 51"/>
                <a:gd name="T26" fmla="*/ 398 w 400"/>
                <a:gd name="T27" fmla="*/ 48 h 51"/>
                <a:gd name="T28" fmla="*/ 398 w 400"/>
                <a:gd name="T29" fmla="*/ 41 h 51"/>
                <a:gd name="T30" fmla="*/ 398 w 400"/>
                <a:gd name="T31" fmla="*/ 34 h 51"/>
                <a:gd name="T32" fmla="*/ 400 w 400"/>
                <a:gd name="T33" fmla="*/ 28 h 51"/>
                <a:gd name="T34" fmla="*/ 2 w 400"/>
                <a:gd name="T35" fmla="*/ 0 h 51"/>
                <a:gd name="T36" fmla="*/ 0 w 400"/>
                <a:gd name="T37" fmla="*/ 6 h 51"/>
                <a:gd name="T38" fmla="*/ 0 w 400"/>
                <a:gd name="T39" fmla="*/ 11 h 51"/>
                <a:gd name="T40" fmla="*/ 0 w 400"/>
                <a:gd name="T41" fmla="*/ 18 h 51"/>
                <a:gd name="T42" fmla="*/ 0 w 400"/>
                <a:gd name="T43" fmla="*/ 24 h 51"/>
                <a:gd name="T44" fmla="*/ 0 w 400"/>
                <a:gd name="T45" fmla="*/ 31 h 51"/>
                <a:gd name="T46" fmla="*/ 0 w 400"/>
                <a:gd name="T47" fmla="*/ 38 h 51"/>
                <a:gd name="T48" fmla="*/ 0 w 400"/>
                <a:gd name="T49" fmla="*/ 44 h 51"/>
                <a:gd name="T50" fmla="*/ 2 w 400"/>
                <a:gd name="T51" fmla="*/ 51 h 51"/>
                <a:gd name="T52" fmla="*/ 4 w 400"/>
                <a:gd name="T53" fmla="*/ 48 h 51"/>
                <a:gd name="T54" fmla="*/ 4 w 400"/>
                <a:gd name="T55" fmla="*/ 41 h 51"/>
                <a:gd name="T56" fmla="*/ 4 w 400"/>
                <a:gd name="T57" fmla="*/ 34 h 51"/>
                <a:gd name="T58" fmla="*/ 4 w 400"/>
                <a:gd name="T59" fmla="*/ 28 h 51"/>
                <a:gd name="T60" fmla="*/ 4 w 400"/>
                <a:gd name="T61" fmla="*/ 21 h 51"/>
                <a:gd name="T62" fmla="*/ 4 w 400"/>
                <a:gd name="T63" fmla="*/ 14 h 51"/>
                <a:gd name="T64" fmla="*/ 4 w 400"/>
                <a:gd name="T65" fmla="*/ 8 h 51"/>
                <a:gd name="T66" fmla="*/ 4 w 400"/>
                <a:gd name="T67" fmla="*/ 3 h 51"/>
                <a:gd name="T68" fmla="*/ 2 w 40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0" h="51">
                  <a:moveTo>
                    <a:pt x="400" y="24"/>
                  </a:moveTo>
                  <a:lnTo>
                    <a:pt x="400" y="21"/>
                  </a:lnTo>
                  <a:lnTo>
                    <a:pt x="400" y="18"/>
                  </a:lnTo>
                  <a:lnTo>
                    <a:pt x="398" y="14"/>
                  </a:lnTo>
                  <a:lnTo>
                    <a:pt x="398" y="11"/>
                  </a:lnTo>
                  <a:lnTo>
                    <a:pt x="398" y="8"/>
                  </a:lnTo>
                  <a:lnTo>
                    <a:pt x="398" y="6"/>
                  </a:lnTo>
                  <a:lnTo>
                    <a:pt x="398" y="3"/>
                  </a:lnTo>
                  <a:lnTo>
                    <a:pt x="398" y="0"/>
                  </a:lnTo>
                  <a:lnTo>
                    <a:pt x="395" y="0"/>
                  </a:lnTo>
                  <a:lnTo>
                    <a:pt x="395" y="3"/>
                  </a:lnTo>
                  <a:lnTo>
                    <a:pt x="395" y="6"/>
                  </a:lnTo>
                  <a:lnTo>
                    <a:pt x="395" y="8"/>
                  </a:lnTo>
                  <a:lnTo>
                    <a:pt x="395" y="11"/>
                  </a:lnTo>
                  <a:lnTo>
                    <a:pt x="395" y="14"/>
                  </a:lnTo>
                  <a:lnTo>
                    <a:pt x="396" y="18"/>
                  </a:lnTo>
                  <a:lnTo>
                    <a:pt x="396" y="21"/>
                  </a:lnTo>
                  <a:lnTo>
                    <a:pt x="396" y="24"/>
                  </a:lnTo>
                  <a:lnTo>
                    <a:pt x="396" y="28"/>
                  </a:lnTo>
                  <a:lnTo>
                    <a:pt x="396" y="31"/>
                  </a:lnTo>
                  <a:lnTo>
                    <a:pt x="395" y="34"/>
                  </a:lnTo>
                  <a:lnTo>
                    <a:pt x="395" y="38"/>
                  </a:lnTo>
                  <a:lnTo>
                    <a:pt x="395" y="41"/>
                  </a:lnTo>
                  <a:lnTo>
                    <a:pt x="395" y="44"/>
                  </a:lnTo>
                  <a:lnTo>
                    <a:pt x="395" y="48"/>
                  </a:lnTo>
                  <a:lnTo>
                    <a:pt x="395" y="51"/>
                  </a:lnTo>
                  <a:lnTo>
                    <a:pt x="398" y="51"/>
                  </a:lnTo>
                  <a:lnTo>
                    <a:pt x="398" y="48"/>
                  </a:lnTo>
                  <a:lnTo>
                    <a:pt x="398" y="44"/>
                  </a:lnTo>
                  <a:lnTo>
                    <a:pt x="398" y="41"/>
                  </a:lnTo>
                  <a:lnTo>
                    <a:pt x="398" y="38"/>
                  </a:lnTo>
                  <a:lnTo>
                    <a:pt x="398" y="34"/>
                  </a:lnTo>
                  <a:lnTo>
                    <a:pt x="400" y="31"/>
                  </a:lnTo>
                  <a:lnTo>
                    <a:pt x="400" y="28"/>
                  </a:lnTo>
                  <a:lnTo>
                    <a:pt x="40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55" name="Freeform 396">
              <a:extLst>
                <a:ext uri="{FF2B5EF4-FFF2-40B4-BE49-F238E27FC236}">
                  <a16:creationId xmlns:a16="http://schemas.microsoft.com/office/drawing/2014/main" id="{8AF2F741-9915-B50F-C1B4-E6AD2D9080F9}"/>
                </a:ext>
              </a:extLst>
            </p:cNvPr>
            <p:cNvSpPr>
              <a:spLocks noEditPoints="1"/>
            </p:cNvSpPr>
            <p:nvPr/>
          </p:nvSpPr>
          <p:spPr bwMode="auto">
            <a:xfrm>
              <a:off x="1414" y="1713"/>
              <a:ext cx="396" cy="51"/>
            </a:xfrm>
            <a:custGeom>
              <a:avLst/>
              <a:gdLst>
                <a:gd name="T0" fmla="*/ 396 w 396"/>
                <a:gd name="T1" fmla="*/ 21 h 51"/>
                <a:gd name="T2" fmla="*/ 394 w 396"/>
                <a:gd name="T3" fmla="*/ 14 h 51"/>
                <a:gd name="T4" fmla="*/ 394 w 396"/>
                <a:gd name="T5" fmla="*/ 8 h 51"/>
                <a:gd name="T6" fmla="*/ 394 w 396"/>
                <a:gd name="T7" fmla="*/ 3 h 51"/>
                <a:gd name="T8" fmla="*/ 391 w 396"/>
                <a:gd name="T9" fmla="*/ 0 h 51"/>
                <a:gd name="T10" fmla="*/ 391 w 396"/>
                <a:gd name="T11" fmla="*/ 6 h 51"/>
                <a:gd name="T12" fmla="*/ 391 w 396"/>
                <a:gd name="T13" fmla="*/ 11 h 51"/>
                <a:gd name="T14" fmla="*/ 393 w 396"/>
                <a:gd name="T15" fmla="*/ 18 h 51"/>
                <a:gd name="T16" fmla="*/ 393 w 396"/>
                <a:gd name="T17" fmla="*/ 24 h 51"/>
                <a:gd name="T18" fmla="*/ 393 w 396"/>
                <a:gd name="T19" fmla="*/ 31 h 51"/>
                <a:gd name="T20" fmla="*/ 391 w 396"/>
                <a:gd name="T21" fmla="*/ 38 h 51"/>
                <a:gd name="T22" fmla="*/ 391 w 396"/>
                <a:gd name="T23" fmla="*/ 44 h 51"/>
                <a:gd name="T24" fmla="*/ 391 w 396"/>
                <a:gd name="T25" fmla="*/ 51 h 51"/>
                <a:gd name="T26" fmla="*/ 394 w 396"/>
                <a:gd name="T27" fmla="*/ 48 h 51"/>
                <a:gd name="T28" fmla="*/ 394 w 396"/>
                <a:gd name="T29" fmla="*/ 41 h 51"/>
                <a:gd name="T30" fmla="*/ 394 w 396"/>
                <a:gd name="T31" fmla="*/ 34 h 51"/>
                <a:gd name="T32" fmla="*/ 396 w 396"/>
                <a:gd name="T33" fmla="*/ 28 h 51"/>
                <a:gd name="T34" fmla="*/ 2 w 396"/>
                <a:gd name="T35" fmla="*/ 0 h 51"/>
                <a:gd name="T36" fmla="*/ 0 w 396"/>
                <a:gd name="T37" fmla="*/ 6 h 51"/>
                <a:gd name="T38" fmla="*/ 0 w 396"/>
                <a:gd name="T39" fmla="*/ 11 h 51"/>
                <a:gd name="T40" fmla="*/ 0 w 396"/>
                <a:gd name="T41" fmla="*/ 18 h 51"/>
                <a:gd name="T42" fmla="*/ 0 w 396"/>
                <a:gd name="T43" fmla="*/ 24 h 51"/>
                <a:gd name="T44" fmla="*/ 0 w 396"/>
                <a:gd name="T45" fmla="*/ 31 h 51"/>
                <a:gd name="T46" fmla="*/ 0 w 396"/>
                <a:gd name="T47" fmla="*/ 38 h 51"/>
                <a:gd name="T48" fmla="*/ 0 w 396"/>
                <a:gd name="T49" fmla="*/ 44 h 51"/>
                <a:gd name="T50" fmla="*/ 2 w 396"/>
                <a:gd name="T51" fmla="*/ 51 h 51"/>
                <a:gd name="T52" fmla="*/ 3 w 396"/>
                <a:gd name="T53" fmla="*/ 48 h 51"/>
                <a:gd name="T54" fmla="*/ 3 w 396"/>
                <a:gd name="T55" fmla="*/ 41 h 51"/>
                <a:gd name="T56" fmla="*/ 3 w 396"/>
                <a:gd name="T57" fmla="*/ 34 h 51"/>
                <a:gd name="T58" fmla="*/ 3 w 396"/>
                <a:gd name="T59" fmla="*/ 28 h 51"/>
                <a:gd name="T60" fmla="*/ 3 w 396"/>
                <a:gd name="T61" fmla="*/ 21 h 51"/>
                <a:gd name="T62" fmla="*/ 3 w 396"/>
                <a:gd name="T63" fmla="*/ 14 h 51"/>
                <a:gd name="T64" fmla="*/ 3 w 396"/>
                <a:gd name="T65" fmla="*/ 8 h 51"/>
                <a:gd name="T66" fmla="*/ 3 w 396"/>
                <a:gd name="T67" fmla="*/ 3 h 51"/>
                <a:gd name="T68" fmla="*/ 2 w 3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6" h="51">
                  <a:moveTo>
                    <a:pt x="396" y="24"/>
                  </a:moveTo>
                  <a:lnTo>
                    <a:pt x="396" y="21"/>
                  </a:lnTo>
                  <a:lnTo>
                    <a:pt x="396" y="18"/>
                  </a:lnTo>
                  <a:lnTo>
                    <a:pt x="394" y="14"/>
                  </a:lnTo>
                  <a:lnTo>
                    <a:pt x="394" y="11"/>
                  </a:lnTo>
                  <a:lnTo>
                    <a:pt x="394" y="8"/>
                  </a:lnTo>
                  <a:lnTo>
                    <a:pt x="394" y="6"/>
                  </a:lnTo>
                  <a:lnTo>
                    <a:pt x="394" y="3"/>
                  </a:lnTo>
                  <a:lnTo>
                    <a:pt x="394" y="0"/>
                  </a:lnTo>
                  <a:lnTo>
                    <a:pt x="391" y="0"/>
                  </a:lnTo>
                  <a:lnTo>
                    <a:pt x="391" y="3"/>
                  </a:lnTo>
                  <a:lnTo>
                    <a:pt x="391" y="6"/>
                  </a:lnTo>
                  <a:lnTo>
                    <a:pt x="391" y="8"/>
                  </a:lnTo>
                  <a:lnTo>
                    <a:pt x="391" y="11"/>
                  </a:lnTo>
                  <a:lnTo>
                    <a:pt x="391" y="14"/>
                  </a:lnTo>
                  <a:lnTo>
                    <a:pt x="393" y="18"/>
                  </a:lnTo>
                  <a:lnTo>
                    <a:pt x="393" y="21"/>
                  </a:lnTo>
                  <a:lnTo>
                    <a:pt x="393" y="24"/>
                  </a:lnTo>
                  <a:lnTo>
                    <a:pt x="393" y="28"/>
                  </a:lnTo>
                  <a:lnTo>
                    <a:pt x="393" y="31"/>
                  </a:lnTo>
                  <a:lnTo>
                    <a:pt x="391" y="34"/>
                  </a:lnTo>
                  <a:lnTo>
                    <a:pt x="391" y="38"/>
                  </a:lnTo>
                  <a:lnTo>
                    <a:pt x="391" y="41"/>
                  </a:lnTo>
                  <a:lnTo>
                    <a:pt x="391" y="44"/>
                  </a:lnTo>
                  <a:lnTo>
                    <a:pt x="391" y="48"/>
                  </a:lnTo>
                  <a:lnTo>
                    <a:pt x="391" y="51"/>
                  </a:lnTo>
                  <a:lnTo>
                    <a:pt x="394" y="51"/>
                  </a:lnTo>
                  <a:lnTo>
                    <a:pt x="394" y="48"/>
                  </a:lnTo>
                  <a:lnTo>
                    <a:pt x="394" y="44"/>
                  </a:lnTo>
                  <a:lnTo>
                    <a:pt x="394" y="41"/>
                  </a:lnTo>
                  <a:lnTo>
                    <a:pt x="394" y="38"/>
                  </a:lnTo>
                  <a:lnTo>
                    <a:pt x="394" y="34"/>
                  </a:lnTo>
                  <a:lnTo>
                    <a:pt x="396" y="31"/>
                  </a:lnTo>
                  <a:lnTo>
                    <a:pt x="396" y="28"/>
                  </a:lnTo>
                  <a:lnTo>
                    <a:pt x="39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56" name="Freeform 397">
              <a:extLst>
                <a:ext uri="{FF2B5EF4-FFF2-40B4-BE49-F238E27FC236}">
                  <a16:creationId xmlns:a16="http://schemas.microsoft.com/office/drawing/2014/main" id="{03CE6908-75C2-4470-05F8-7354BD942873}"/>
                </a:ext>
              </a:extLst>
            </p:cNvPr>
            <p:cNvSpPr>
              <a:spLocks noEditPoints="1"/>
            </p:cNvSpPr>
            <p:nvPr/>
          </p:nvSpPr>
          <p:spPr bwMode="auto">
            <a:xfrm>
              <a:off x="1416" y="1713"/>
              <a:ext cx="392" cy="51"/>
            </a:xfrm>
            <a:custGeom>
              <a:avLst/>
              <a:gdLst>
                <a:gd name="T0" fmla="*/ 392 w 392"/>
                <a:gd name="T1" fmla="*/ 21 h 51"/>
                <a:gd name="T2" fmla="*/ 391 w 392"/>
                <a:gd name="T3" fmla="*/ 14 h 51"/>
                <a:gd name="T4" fmla="*/ 391 w 392"/>
                <a:gd name="T5" fmla="*/ 8 h 51"/>
                <a:gd name="T6" fmla="*/ 391 w 392"/>
                <a:gd name="T7" fmla="*/ 3 h 51"/>
                <a:gd name="T8" fmla="*/ 387 w 392"/>
                <a:gd name="T9" fmla="*/ 0 h 51"/>
                <a:gd name="T10" fmla="*/ 387 w 392"/>
                <a:gd name="T11" fmla="*/ 6 h 51"/>
                <a:gd name="T12" fmla="*/ 387 w 392"/>
                <a:gd name="T13" fmla="*/ 11 h 51"/>
                <a:gd name="T14" fmla="*/ 389 w 392"/>
                <a:gd name="T15" fmla="*/ 18 h 51"/>
                <a:gd name="T16" fmla="*/ 389 w 392"/>
                <a:gd name="T17" fmla="*/ 24 h 51"/>
                <a:gd name="T18" fmla="*/ 389 w 392"/>
                <a:gd name="T19" fmla="*/ 31 h 51"/>
                <a:gd name="T20" fmla="*/ 387 w 392"/>
                <a:gd name="T21" fmla="*/ 38 h 51"/>
                <a:gd name="T22" fmla="*/ 387 w 392"/>
                <a:gd name="T23" fmla="*/ 44 h 51"/>
                <a:gd name="T24" fmla="*/ 387 w 392"/>
                <a:gd name="T25" fmla="*/ 51 h 51"/>
                <a:gd name="T26" fmla="*/ 391 w 392"/>
                <a:gd name="T27" fmla="*/ 48 h 51"/>
                <a:gd name="T28" fmla="*/ 391 w 392"/>
                <a:gd name="T29" fmla="*/ 41 h 51"/>
                <a:gd name="T30" fmla="*/ 391 w 392"/>
                <a:gd name="T31" fmla="*/ 34 h 51"/>
                <a:gd name="T32" fmla="*/ 392 w 392"/>
                <a:gd name="T33" fmla="*/ 28 h 51"/>
                <a:gd name="T34" fmla="*/ 1 w 392"/>
                <a:gd name="T35" fmla="*/ 0 h 51"/>
                <a:gd name="T36" fmla="*/ 0 w 392"/>
                <a:gd name="T37" fmla="*/ 6 h 51"/>
                <a:gd name="T38" fmla="*/ 0 w 392"/>
                <a:gd name="T39" fmla="*/ 11 h 51"/>
                <a:gd name="T40" fmla="*/ 0 w 392"/>
                <a:gd name="T41" fmla="*/ 18 h 51"/>
                <a:gd name="T42" fmla="*/ 0 w 392"/>
                <a:gd name="T43" fmla="*/ 24 h 51"/>
                <a:gd name="T44" fmla="*/ 0 w 392"/>
                <a:gd name="T45" fmla="*/ 31 h 51"/>
                <a:gd name="T46" fmla="*/ 0 w 392"/>
                <a:gd name="T47" fmla="*/ 38 h 51"/>
                <a:gd name="T48" fmla="*/ 0 w 392"/>
                <a:gd name="T49" fmla="*/ 44 h 51"/>
                <a:gd name="T50" fmla="*/ 1 w 392"/>
                <a:gd name="T51" fmla="*/ 51 h 51"/>
                <a:gd name="T52" fmla="*/ 3 w 392"/>
                <a:gd name="T53" fmla="*/ 48 h 51"/>
                <a:gd name="T54" fmla="*/ 3 w 392"/>
                <a:gd name="T55" fmla="*/ 41 h 51"/>
                <a:gd name="T56" fmla="*/ 3 w 392"/>
                <a:gd name="T57" fmla="*/ 34 h 51"/>
                <a:gd name="T58" fmla="*/ 3 w 392"/>
                <a:gd name="T59" fmla="*/ 28 h 51"/>
                <a:gd name="T60" fmla="*/ 3 w 392"/>
                <a:gd name="T61" fmla="*/ 21 h 51"/>
                <a:gd name="T62" fmla="*/ 3 w 392"/>
                <a:gd name="T63" fmla="*/ 14 h 51"/>
                <a:gd name="T64" fmla="*/ 3 w 392"/>
                <a:gd name="T65" fmla="*/ 8 h 51"/>
                <a:gd name="T66" fmla="*/ 3 w 392"/>
                <a:gd name="T67" fmla="*/ 3 h 51"/>
                <a:gd name="T68" fmla="*/ 1 w 39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2" h="51">
                  <a:moveTo>
                    <a:pt x="392" y="24"/>
                  </a:moveTo>
                  <a:lnTo>
                    <a:pt x="392" y="21"/>
                  </a:lnTo>
                  <a:lnTo>
                    <a:pt x="392" y="18"/>
                  </a:lnTo>
                  <a:lnTo>
                    <a:pt x="391" y="14"/>
                  </a:lnTo>
                  <a:lnTo>
                    <a:pt x="391" y="11"/>
                  </a:lnTo>
                  <a:lnTo>
                    <a:pt x="391" y="8"/>
                  </a:lnTo>
                  <a:lnTo>
                    <a:pt x="391" y="6"/>
                  </a:lnTo>
                  <a:lnTo>
                    <a:pt x="391" y="3"/>
                  </a:lnTo>
                  <a:lnTo>
                    <a:pt x="391" y="0"/>
                  </a:lnTo>
                  <a:lnTo>
                    <a:pt x="387" y="0"/>
                  </a:lnTo>
                  <a:lnTo>
                    <a:pt x="387" y="3"/>
                  </a:lnTo>
                  <a:lnTo>
                    <a:pt x="387" y="6"/>
                  </a:lnTo>
                  <a:lnTo>
                    <a:pt x="387" y="8"/>
                  </a:lnTo>
                  <a:lnTo>
                    <a:pt x="387" y="11"/>
                  </a:lnTo>
                  <a:lnTo>
                    <a:pt x="387" y="14"/>
                  </a:lnTo>
                  <a:lnTo>
                    <a:pt x="389" y="18"/>
                  </a:lnTo>
                  <a:lnTo>
                    <a:pt x="389" y="21"/>
                  </a:lnTo>
                  <a:lnTo>
                    <a:pt x="389" y="24"/>
                  </a:lnTo>
                  <a:lnTo>
                    <a:pt x="389" y="28"/>
                  </a:lnTo>
                  <a:lnTo>
                    <a:pt x="389" y="31"/>
                  </a:lnTo>
                  <a:lnTo>
                    <a:pt x="387" y="34"/>
                  </a:lnTo>
                  <a:lnTo>
                    <a:pt x="387" y="38"/>
                  </a:lnTo>
                  <a:lnTo>
                    <a:pt x="387" y="41"/>
                  </a:lnTo>
                  <a:lnTo>
                    <a:pt x="387" y="44"/>
                  </a:lnTo>
                  <a:lnTo>
                    <a:pt x="387" y="48"/>
                  </a:lnTo>
                  <a:lnTo>
                    <a:pt x="387" y="51"/>
                  </a:lnTo>
                  <a:lnTo>
                    <a:pt x="391" y="51"/>
                  </a:lnTo>
                  <a:lnTo>
                    <a:pt x="391" y="48"/>
                  </a:lnTo>
                  <a:lnTo>
                    <a:pt x="391" y="44"/>
                  </a:lnTo>
                  <a:lnTo>
                    <a:pt x="391" y="41"/>
                  </a:lnTo>
                  <a:lnTo>
                    <a:pt x="391" y="38"/>
                  </a:lnTo>
                  <a:lnTo>
                    <a:pt x="391" y="34"/>
                  </a:lnTo>
                  <a:lnTo>
                    <a:pt x="392" y="31"/>
                  </a:lnTo>
                  <a:lnTo>
                    <a:pt x="392" y="28"/>
                  </a:lnTo>
                  <a:lnTo>
                    <a:pt x="39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57" name="Freeform 398">
              <a:extLst>
                <a:ext uri="{FF2B5EF4-FFF2-40B4-BE49-F238E27FC236}">
                  <a16:creationId xmlns:a16="http://schemas.microsoft.com/office/drawing/2014/main" id="{AC4306AC-2CCA-92D6-1C60-E69DFD78FC53}"/>
                </a:ext>
              </a:extLst>
            </p:cNvPr>
            <p:cNvSpPr>
              <a:spLocks noEditPoints="1"/>
            </p:cNvSpPr>
            <p:nvPr/>
          </p:nvSpPr>
          <p:spPr bwMode="auto">
            <a:xfrm>
              <a:off x="1417" y="1713"/>
              <a:ext cx="390" cy="51"/>
            </a:xfrm>
            <a:custGeom>
              <a:avLst/>
              <a:gdLst>
                <a:gd name="T0" fmla="*/ 390 w 390"/>
                <a:gd name="T1" fmla="*/ 21 h 51"/>
                <a:gd name="T2" fmla="*/ 388 w 390"/>
                <a:gd name="T3" fmla="*/ 14 h 51"/>
                <a:gd name="T4" fmla="*/ 388 w 390"/>
                <a:gd name="T5" fmla="*/ 8 h 51"/>
                <a:gd name="T6" fmla="*/ 388 w 390"/>
                <a:gd name="T7" fmla="*/ 3 h 51"/>
                <a:gd name="T8" fmla="*/ 385 w 390"/>
                <a:gd name="T9" fmla="*/ 0 h 51"/>
                <a:gd name="T10" fmla="*/ 385 w 390"/>
                <a:gd name="T11" fmla="*/ 6 h 51"/>
                <a:gd name="T12" fmla="*/ 385 w 390"/>
                <a:gd name="T13" fmla="*/ 11 h 51"/>
                <a:gd name="T14" fmla="*/ 386 w 390"/>
                <a:gd name="T15" fmla="*/ 18 h 51"/>
                <a:gd name="T16" fmla="*/ 386 w 390"/>
                <a:gd name="T17" fmla="*/ 24 h 51"/>
                <a:gd name="T18" fmla="*/ 386 w 390"/>
                <a:gd name="T19" fmla="*/ 31 h 51"/>
                <a:gd name="T20" fmla="*/ 385 w 390"/>
                <a:gd name="T21" fmla="*/ 38 h 51"/>
                <a:gd name="T22" fmla="*/ 385 w 390"/>
                <a:gd name="T23" fmla="*/ 44 h 51"/>
                <a:gd name="T24" fmla="*/ 385 w 390"/>
                <a:gd name="T25" fmla="*/ 51 h 51"/>
                <a:gd name="T26" fmla="*/ 388 w 390"/>
                <a:gd name="T27" fmla="*/ 48 h 51"/>
                <a:gd name="T28" fmla="*/ 388 w 390"/>
                <a:gd name="T29" fmla="*/ 41 h 51"/>
                <a:gd name="T30" fmla="*/ 388 w 390"/>
                <a:gd name="T31" fmla="*/ 34 h 51"/>
                <a:gd name="T32" fmla="*/ 390 w 390"/>
                <a:gd name="T33" fmla="*/ 28 h 51"/>
                <a:gd name="T34" fmla="*/ 2 w 390"/>
                <a:gd name="T35" fmla="*/ 0 h 51"/>
                <a:gd name="T36" fmla="*/ 0 w 390"/>
                <a:gd name="T37" fmla="*/ 6 h 51"/>
                <a:gd name="T38" fmla="*/ 0 w 390"/>
                <a:gd name="T39" fmla="*/ 11 h 51"/>
                <a:gd name="T40" fmla="*/ 0 w 390"/>
                <a:gd name="T41" fmla="*/ 18 h 51"/>
                <a:gd name="T42" fmla="*/ 0 w 390"/>
                <a:gd name="T43" fmla="*/ 24 h 51"/>
                <a:gd name="T44" fmla="*/ 0 w 390"/>
                <a:gd name="T45" fmla="*/ 31 h 51"/>
                <a:gd name="T46" fmla="*/ 0 w 390"/>
                <a:gd name="T47" fmla="*/ 38 h 51"/>
                <a:gd name="T48" fmla="*/ 0 w 390"/>
                <a:gd name="T49" fmla="*/ 44 h 51"/>
                <a:gd name="T50" fmla="*/ 2 w 390"/>
                <a:gd name="T51" fmla="*/ 51 h 51"/>
                <a:gd name="T52" fmla="*/ 4 w 390"/>
                <a:gd name="T53" fmla="*/ 48 h 51"/>
                <a:gd name="T54" fmla="*/ 4 w 390"/>
                <a:gd name="T55" fmla="*/ 41 h 51"/>
                <a:gd name="T56" fmla="*/ 4 w 390"/>
                <a:gd name="T57" fmla="*/ 34 h 51"/>
                <a:gd name="T58" fmla="*/ 4 w 390"/>
                <a:gd name="T59" fmla="*/ 28 h 51"/>
                <a:gd name="T60" fmla="*/ 4 w 390"/>
                <a:gd name="T61" fmla="*/ 21 h 51"/>
                <a:gd name="T62" fmla="*/ 4 w 390"/>
                <a:gd name="T63" fmla="*/ 14 h 51"/>
                <a:gd name="T64" fmla="*/ 4 w 390"/>
                <a:gd name="T65" fmla="*/ 8 h 51"/>
                <a:gd name="T66" fmla="*/ 4 w 390"/>
                <a:gd name="T67" fmla="*/ 3 h 51"/>
                <a:gd name="T68" fmla="*/ 2 w 39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0" h="51">
                  <a:moveTo>
                    <a:pt x="390" y="24"/>
                  </a:moveTo>
                  <a:lnTo>
                    <a:pt x="390" y="21"/>
                  </a:lnTo>
                  <a:lnTo>
                    <a:pt x="390" y="18"/>
                  </a:lnTo>
                  <a:lnTo>
                    <a:pt x="388" y="14"/>
                  </a:lnTo>
                  <a:lnTo>
                    <a:pt x="388" y="11"/>
                  </a:lnTo>
                  <a:lnTo>
                    <a:pt x="388" y="8"/>
                  </a:lnTo>
                  <a:lnTo>
                    <a:pt x="388" y="6"/>
                  </a:lnTo>
                  <a:lnTo>
                    <a:pt x="388" y="3"/>
                  </a:lnTo>
                  <a:lnTo>
                    <a:pt x="388" y="0"/>
                  </a:lnTo>
                  <a:lnTo>
                    <a:pt x="385" y="0"/>
                  </a:lnTo>
                  <a:lnTo>
                    <a:pt x="385" y="3"/>
                  </a:lnTo>
                  <a:lnTo>
                    <a:pt x="385" y="6"/>
                  </a:lnTo>
                  <a:lnTo>
                    <a:pt x="385" y="8"/>
                  </a:lnTo>
                  <a:lnTo>
                    <a:pt x="385" y="11"/>
                  </a:lnTo>
                  <a:lnTo>
                    <a:pt x="385" y="14"/>
                  </a:lnTo>
                  <a:lnTo>
                    <a:pt x="386" y="18"/>
                  </a:lnTo>
                  <a:lnTo>
                    <a:pt x="386" y="21"/>
                  </a:lnTo>
                  <a:lnTo>
                    <a:pt x="386" y="24"/>
                  </a:lnTo>
                  <a:lnTo>
                    <a:pt x="386" y="28"/>
                  </a:lnTo>
                  <a:lnTo>
                    <a:pt x="386" y="31"/>
                  </a:lnTo>
                  <a:lnTo>
                    <a:pt x="385" y="34"/>
                  </a:lnTo>
                  <a:lnTo>
                    <a:pt x="385" y="38"/>
                  </a:lnTo>
                  <a:lnTo>
                    <a:pt x="385" y="41"/>
                  </a:lnTo>
                  <a:lnTo>
                    <a:pt x="385" y="44"/>
                  </a:lnTo>
                  <a:lnTo>
                    <a:pt x="385" y="48"/>
                  </a:lnTo>
                  <a:lnTo>
                    <a:pt x="385" y="51"/>
                  </a:lnTo>
                  <a:lnTo>
                    <a:pt x="388" y="51"/>
                  </a:lnTo>
                  <a:lnTo>
                    <a:pt x="388" y="48"/>
                  </a:lnTo>
                  <a:lnTo>
                    <a:pt x="388" y="44"/>
                  </a:lnTo>
                  <a:lnTo>
                    <a:pt x="388" y="41"/>
                  </a:lnTo>
                  <a:lnTo>
                    <a:pt x="388" y="38"/>
                  </a:lnTo>
                  <a:lnTo>
                    <a:pt x="388" y="34"/>
                  </a:lnTo>
                  <a:lnTo>
                    <a:pt x="390" y="31"/>
                  </a:lnTo>
                  <a:lnTo>
                    <a:pt x="390" y="28"/>
                  </a:lnTo>
                  <a:lnTo>
                    <a:pt x="39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58" name="Freeform 399">
              <a:extLst>
                <a:ext uri="{FF2B5EF4-FFF2-40B4-BE49-F238E27FC236}">
                  <a16:creationId xmlns:a16="http://schemas.microsoft.com/office/drawing/2014/main" id="{1D7D37B2-478E-8187-B888-0A7E4F87D154}"/>
                </a:ext>
              </a:extLst>
            </p:cNvPr>
            <p:cNvSpPr>
              <a:spLocks noEditPoints="1"/>
            </p:cNvSpPr>
            <p:nvPr/>
          </p:nvSpPr>
          <p:spPr bwMode="auto">
            <a:xfrm>
              <a:off x="1419" y="1713"/>
              <a:ext cx="386" cy="51"/>
            </a:xfrm>
            <a:custGeom>
              <a:avLst/>
              <a:gdLst>
                <a:gd name="T0" fmla="*/ 386 w 386"/>
                <a:gd name="T1" fmla="*/ 21 h 51"/>
                <a:gd name="T2" fmla="*/ 384 w 386"/>
                <a:gd name="T3" fmla="*/ 14 h 51"/>
                <a:gd name="T4" fmla="*/ 384 w 386"/>
                <a:gd name="T5" fmla="*/ 8 h 51"/>
                <a:gd name="T6" fmla="*/ 384 w 386"/>
                <a:gd name="T7" fmla="*/ 3 h 51"/>
                <a:gd name="T8" fmla="*/ 381 w 386"/>
                <a:gd name="T9" fmla="*/ 0 h 51"/>
                <a:gd name="T10" fmla="*/ 381 w 386"/>
                <a:gd name="T11" fmla="*/ 6 h 51"/>
                <a:gd name="T12" fmla="*/ 381 w 386"/>
                <a:gd name="T13" fmla="*/ 11 h 51"/>
                <a:gd name="T14" fmla="*/ 383 w 386"/>
                <a:gd name="T15" fmla="*/ 18 h 51"/>
                <a:gd name="T16" fmla="*/ 383 w 386"/>
                <a:gd name="T17" fmla="*/ 24 h 51"/>
                <a:gd name="T18" fmla="*/ 383 w 386"/>
                <a:gd name="T19" fmla="*/ 31 h 51"/>
                <a:gd name="T20" fmla="*/ 381 w 386"/>
                <a:gd name="T21" fmla="*/ 38 h 51"/>
                <a:gd name="T22" fmla="*/ 381 w 386"/>
                <a:gd name="T23" fmla="*/ 44 h 51"/>
                <a:gd name="T24" fmla="*/ 381 w 386"/>
                <a:gd name="T25" fmla="*/ 51 h 51"/>
                <a:gd name="T26" fmla="*/ 384 w 386"/>
                <a:gd name="T27" fmla="*/ 48 h 51"/>
                <a:gd name="T28" fmla="*/ 384 w 386"/>
                <a:gd name="T29" fmla="*/ 41 h 51"/>
                <a:gd name="T30" fmla="*/ 384 w 386"/>
                <a:gd name="T31" fmla="*/ 34 h 51"/>
                <a:gd name="T32" fmla="*/ 386 w 386"/>
                <a:gd name="T33" fmla="*/ 28 h 51"/>
                <a:gd name="T34" fmla="*/ 2 w 386"/>
                <a:gd name="T35" fmla="*/ 0 h 51"/>
                <a:gd name="T36" fmla="*/ 0 w 386"/>
                <a:gd name="T37" fmla="*/ 6 h 51"/>
                <a:gd name="T38" fmla="*/ 0 w 386"/>
                <a:gd name="T39" fmla="*/ 11 h 51"/>
                <a:gd name="T40" fmla="*/ 0 w 386"/>
                <a:gd name="T41" fmla="*/ 18 h 51"/>
                <a:gd name="T42" fmla="*/ 0 w 386"/>
                <a:gd name="T43" fmla="*/ 24 h 51"/>
                <a:gd name="T44" fmla="*/ 0 w 386"/>
                <a:gd name="T45" fmla="*/ 31 h 51"/>
                <a:gd name="T46" fmla="*/ 0 w 386"/>
                <a:gd name="T47" fmla="*/ 38 h 51"/>
                <a:gd name="T48" fmla="*/ 0 w 386"/>
                <a:gd name="T49" fmla="*/ 44 h 51"/>
                <a:gd name="T50" fmla="*/ 2 w 386"/>
                <a:gd name="T51" fmla="*/ 51 h 51"/>
                <a:gd name="T52" fmla="*/ 3 w 386"/>
                <a:gd name="T53" fmla="*/ 48 h 51"/>
                <a:gd name="T54" fmla="*/ 3 w 386"/>
                <a:gd name="T55" fmla="*/ 41 h 51"/>
                <a:gd name="T56" fmla="*/ 3 w 386"/>
                <a:gd name="T57" fmla="*/ 34 h 51"/>
                <a:gd name="T58" fmla="*/ 3 w 386"/>
                <a:gd name="T59" fmla="*/ 28 h 51"/>
                <a:gd name="T60" fmla="*/ 3 w 386"/>
                <a:gd name="T61" fmla="*/ 21 h 51"/>
                <a:gd name="T62" fmla="*/ 3 w 386"/>
                <a:gd name="T63" fmla="*/ 14 h 51"/>
                <a:gd name="T64" fmla="*/ 3 w 386"/>
                <a:gd name="T65" fmla="*/ 8 h 51"/>
                <a:gd name="T66" fmla="*/ 3 w 386"/>
                <a:gd name="T67" fmla="*/ 3 h 51"/>
                <a:gd name="T68" fmla="*/ 2 w 3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6" h="51">
                  <a:moveTo>
                    <a:pt x="386" y="24"/>
                  </a:moveTo>
                  <a:lnTo>
                    <a:pt x="386" y="21"/>
                  </a:lnTo>
                  <a:lnTo>
                    <a:pt x="386" y="18"/>
                  </a:lnTo>
                  <a:lnTo>
                    <a:pt x="384" y="14"/>
                  </a:lnTo>
                  <a:lnTo>
                    <a:pt x="384" y="11"/>
                  </a:lnTo>
                  <a:lnTo>
                    <a:pt x="384" y="8"/>
                  </a:lnTo>
                  <a:lnTo>
                    <a:pt x="384" y="6"/>
                  </a:lnTo>
                  <a:lnTo>
                    <a:pt x="384" y="3"/>
                  </a:lnTo>
                  <a:lnTo>
                    <a:pt x="384" y="0"/>
                  </a:lnTo>
                  <a:lnTo>
                    <a:pt x="381" y="0"/>
                  </a:lnTo>
                  <a:lnTo>
                    <a:pt x="381" y="3"/>
                  </a:lnTo>
                  <a:lnTo>
                    <a:pt x="381" y="6"/>
                  </a:lnTo>
                  <a:lnTo>
                    <a:pt x="381" y="8"/>
                  </a:lnTo>
                  <a:lnTo>
                    <a:pt x="381" y="11"/>
                  </a:lnTo>
                  <a:lnTo>
                    <a:pt x="381" y="14"/>
                  </a:lnTo>
                  <a:lnTo>
                    <a:pt x="383" y="18"/>
                  </a:lnTo>
                  <a:lnTo>
                    <a:pt x="383" y="21"/>
                  </a:lnTo>
                  <a:lnTo>
                    <a:pt x="383" y="24"/>
                  </a:lnTo>
                  <a:lnTo>
                    <a:pt x="383" y="28"/>
                  </a:lnTo>
                  <a:lnTo>
                    <a:pt x="383" y="31"/>
                  </a:lnTo>
                  <a:lnTo>
                    <a:pt x="381" y="34"/>
                  </a:lnTo>
                  <a:lnTo>
                    <a:pt x="381" y="38"/>
                  </a:lnTo>
                  <a:lnTo>
                    <a:pt x="381" y="41"/>
                  </a:lnTo>
                  <a:lnTo>
                    <a:pt x="381" y="44"/>
                  </a:lnTo>
                  <a:lnTo>
                    <a:pt x="381" y="48"/>
                  </a:lnTo>
                  <a:lnTo>
                    <a:pt x="381" y="51"/>
                  </a:lnTo>
                  <a:lnTo>
                    <a:pt x="384" y="51"/>
                  </a:lnTo>
                  <a:lnTo>
                    <a:pt x="384" y="48"/>
                  </a:lnTo>
                  <a:lnTo>
                    <a:pt x="384" y="44"/>
                  </a:lnTo>
                  <a:lnTo>
                    <a:pt x="384" y="41"/>
                  </a:lnTo>
                  <a:lnTo>
                    <a:pt x="384" y="38"/>
                  </a:lnTo>
                  <a:lnTo>
                    <a:pt x="384" y="34"/>
                  </a:lnTo>
                  <a:lnTo>
                    <a:pt x="386" y="31"/>
                  </a:lnTo>
                  <a:lnTo>
                    <a:pt x="386" y="28"/>
                  </a:lnTo>
                  <a:lnTo>
                    <a:pt x="38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59" name="Freeform 400">
              <a:extLst>
                <a:ext uri="{FF2B5EF4-FFF2-40B4-BE49-F238E27FC236}">
                  <a16:creationId xmlns:a16="http://schemas.microsoft.com/office/drawing/2014/main" id="{EA4FC507-229E-D91E-8910-020E3B7360EC}"/>
                </a:ext>
              </a:extLst>
            </p:cNvPr>
            <p:cNvSpPr>
              <a:spLocks noEditPoints="1"/>
            </p:cNvSpPr>
            <p:nvPr/>
          </p:nvSpPr>
          <p:spPr bwMode="auto">
            <a:xfrm>
              <a:off x="1421" y="1713"/>
              <a:ext cx="382" cy="51"/>
            </a:xfrm>
            <a:custGeom>
              <a:avLst/>
              <a:gdLst>
                <a:gd name="T0" fmla="*/ 382 w 382"/>
                <a:gd name="T1" fmla="*/ 21 h 51"/>
                <a:gd name="T2" fmla="*/ 381 w 382"/>
                <a:gd name="T3" fmla="*/ 14 h 51"/>
                <a:gd name="T4" fmla="*/ 381 w 382"/>
                <a:gd name="T5" fmla="*/ 8 h 51"/>
                <a:gd name="T6" fmla="*/ 381 w 382"/>
                <a:gd name="T7" fmla="*/ 3 h 51"/>
                <a:gd name="T8" fmla="*/ 377 w 382"/>
                <a:gd name="T9" fmla="*/ 0 h 51"/>
                <a:gd name="T10" fmla="*/ 377 w 382"/>
                <a:gd name="T11" fmla="*/ 6 h 51"/>
                <a:gd name="T12" fmla="*/ 377 w 382"/>
                <a:gd name="T13" fmla="*/ 11 h 51"/>
                <a:gd name="T14" fmla="*/ 379 w 382"/>
                <a:gd name="T15" fmla="*/ 18 h 51"/>
                <a:gd name="T16" fmla="*/ 379 w 382"/>
                <a:gd name="T17" fmla="*/ 24 h 51"/>
                <a:gd name="T18" fmla="*/ 379 w 382"/>
                <a:gd name="T19" fmla="*/ 31 h 51"/>
                <a:gd name="T20" fmla="*/ 377 w 382"/>
                <a:gd name="T21" fmla="*/ 38 h 51"/>
                <a:gd name="T22" fmla="*/ 377 w 382"/>
                <a:gd name="T23" fmla="*/ 44 h 51"/>
                <a:gd name="T24" fmla="*/ 377 w 382"/>
                <a:gd name="T25" fmla="*/ 51 h 51"/>
                <a:gd name="T26" fmla="*/ 381 w 382"/>
                <a:gd name="T27" fmla="*/ 48 h 51"/>
                <a:gd name="T28" fmla="*/ 381 w 382"/>
                <a:gd name="T29" fmla="*/ 41 h 51"/>
                <a:gd name="T30" fmla="*/ 381 w 382"/>
                <a:gd name="T31" fmla="*/ 34 h 51"/>
                <a:gd name="T32" fmla="*/ 382 w 382"/>
                <a:gd name="T33" fmla="*/ 28 h 51"/>
                <a:gd name="T34" fmla="*/ 1 w 382"/>
                <a:gd name="T35" fmla="*/ 0 h 51"/>
                <a:gd name="T36" fmla="*/ 0 w 382"/>
                <a:gd name="T37" fmla="*/ 6 h 51"/>
                <a:gd name="T38" fmla="*/ 0 w 382"/>
                <a:gd name="T39" fmla="*/ 11 h 51"/>
                <a:gd name="T40" fmla="*/ 0 w 382"/>
                <a:gd name="T41" fmla="*/ 18 h 51"/>
                <a:gd name="T42" fmla="*/ 0 w 382"/>
                <a:gd name="T43" fmla="*/ 24 h 51"/>
                <a:gd name="T44" fmla="*/ 0 w 382"/>
                <a:gd name="T45" fmla="*/ 31 h 51"/>
                <a:gd name="T46" fmla="*/ 0 w 382"/>
                <a:gd name="T47" fmla="*/ 38 h 51"/>
                <a:gd name="T48" fmla="*/ 0 w 382"/>
                <a:gd name="T49" fmla="*/ 44 h 51"/>
                <a:gd name="T50" fmla="*/ 1 w 382"/>
                <a:gd name="T51" fmla="*/ 51 h 51"/>
                <a:gd name="T52" fmla="*/ 3 w 382"/>
                <a:gd name="T53" fmla="*/ 48 h 51"/>
                <a:gd name="T54" fmla="*/ 3 w 382"/>
                <a:gd name="T55" fmla="*/ 41 h 51"/>
                <a:gd name="T56" fmla="*/ 3 w 382"/>
                <a:gd name="T57" fmla="*/ 34 h 51"/>
                <a:gd name="T58" fmla="*/ 3 w 382"/>
                <a:gd name="T59" fmla="*/ 28 h 51"/>
                <a:gd name="T60" fmla="*/ 3 w 382"/>
                <a:gd name="T61" fmla="*/ 21 h 51"/>
                <a:gd name="T62" fmla="*/ 3 w 382"/>
                <a:gd name="T63" fmla="*/ 14 h 51"/>
                <a:gd name="T64" fmla="*/ 3 w 382"/>
                <a:gd name="T65" fmla="*/ 8 h 51"/>
                <a:gd name="T66" fmla="*/ 3 w 382"/>
                <a:gd name="T67" fmla="*/ 3 h 51"/>
                <a:gd name="T68" fmla="*/ 1 w 38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2" h="51">
                  <a:moveTo>
                    <a:pt x="382" y="24"/>
                  </a:moveTo>
                  <a:lnTo>
                    <a:pt x="382" y="21"/>
                  </a:lnTo>
                  <a:lnTo>
                    <a:pt x="382" y="18"/>
                  </a:lnTo>
                  <a:lnTo>
                    <a:pt x="381" y="14"/>
                  </a:lnTo>
                  <a:lnTo>
                    <a:pt x="381" y="11"/>
                  </a:lnTo>
                  <a:lnTo>
                    <a:pt x="381" y="8"/>
                  </a:lnTo>
                  <a:lnTo>
                    <a:pt x="381" y="6"/>
                  </a:lnTo>
                  <a:lnTo>
                    <a:pt x="381" y="3"/>
                  </a:lnTo>
                  <a:lnTo>
                    <a:pt x="381" y="0"/>
                  </a:lnTo>
                  <a:lnTo>
                    <a:pt x="377" y="0"/>
                  </a:lnTo>
                  <a:lnTo>
                    <a:pt x="377" y="3"/>
                  </a:lnTo>
                  <a:lnTo>
                    <a:pt x="377" y="6"/>
                  </a:lnTo>
                  <a:lnTo>
                    <a:pt x="377" y="8"/>
                  </a:lnTo>
                  <a:lnTo>
                    <a:pt x="377" y="11"/>
                  </a:lnTo>
                  <a:lnTo>
                    <a:pt x="377" y="14"/>
                  </a:lnTo>
                  <a:lnTo>
                    <a:pt x="379" y="18"/>
                  </a:lnTo>
                  <a:lnTo>
                    <a:pt x="379" y="21"/>
                  </a:lnTo>
                  <a:lnTo>
                    <a:pt x="379" y="24"/>
                  </a:lnTo>
                  <a:lnTo>
                    <a:pt x="379" y="28"/>
                  </a:lnTo>
                  <a:lnTo>
                    <a:pt x="379" y="31"/>
                  </a:lnTo>
                  <a:lnTo>
                    <a:pt x="377" y="34"/>
                  </a:lnTo>
                  <a:lnTo>
                    <a:pt x="377" y="38"/>
                  </a:lnTo>
                  <a:lnTo>
                    <a:pt x="377" y="41"/>
                  </a:lnTo>
                  <a:lnTo>
                    <a:pt x="377" y="44"/>
                  </a:lnTo>
                  <a:lnTo>
                    <a:pt x="377" y="48"/>
                  </a:lnTo>
                  <a:lnTo>
                    <a:pt x="377" y="51"/>
                  </a:lnTo>
                  <a:lnTo>
                    <a:pt x="381" y="51"/>
                  </a:lnTo>
                  <a:lnTo>
                    <a:pt x="381" y="48"/>
                  </a:lnTo>
                  <a:lnTo>
                    <a:pt x="381" y="44"/>
                  </a:lnTo>
                  <a:lnTo>
                    <a:pt x="381" y="41"/>
                  </a:lnTo>
                  <a:lnTo>
                    <a:pt x="381" y="38"/>
                  </a:lnTo>
                  <a:lnTo>
                    <a:pt x="381" y="34"/>
                  </a:lnTo>
                  <a:lnTo>
                    <a:pt x="382" y="31"/>
                  </a:lnTo>
                  <a:lnTo>
                    <a:pt x="382" y="28"/>
                  </a:lnTo>
                  <a:lnTo>
                    <a:pt x="38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60" name="Freeform 401">
              <a:extLst>
                <a:ext uri="{FF2B5EF4-FFF2-40B4-BE49-F238E27FC236}">
                  <a16:creationId xmlns:a16="http://schemas.microsoft.com/office/drawing/2014/main" id="{76B36D99-8254-EA71-5AA8-00F7F89704F2}"/>
                </a:ext>
              </a:extLst>
            </p:cNvPr>
            <p:cNvSpPr>
              <a:spLocks noEditPoints="1"/>
            </p:cNvSpPr>
            <p:nvPr/>
          </p:nvSpPr>
          <p:spPr bwMode="auto">
            <a:xfrm>
              <a:off x="1422" y="1713"/>
              <a:ext cx="380" cy="51"/>
            </a:xfrm>
            <a:custGeom>
              <a:avLst/>
              <a:gdLst>
                <a:gd name="T0" fmla="*/ 380 w 380"/>
                <a:gd name="T1" fmla="*/ 21 h 51"/>
                <a:gd name="T2" fmla="*/ 378 w 380"/>
                <a:gd name="T3" fmla="*/ 14 h 51"/>
                <a:gd name="T4" fmla="*/ 378 w 380"/>
                <a:gd name="T5" fmla="*/ 8 h 51"/>
                <a:gd name="T6" fmla="*/ 378 w 380"/>
                <a:gd name="T7" fmla="*/ 3 h 51"/>
                <a:gd name="T8" fmla="*/ 375 w 380"/>
                <a:gd name="T9" fmla="*/ 0 h 51"/>
                <a:gd name="T10" fmla="*/ 375 w 380"/>
                <a:gd name="T11" fmla="*/ 6 h 51"/>
                <a:gd name="T12" fmla="*/ 375 w 380"/>
                <a:gd name="T13" fmla="*/ 11 h 51"/>
                <a:gd name="T14" fmla="*/ 376 w 380"/>
                <a:gd name="T15" fmla="*/ 18 h 51"/>
                <a:gd name="T16" fmla="*/ 376 w 380"/>
                <a:gd name="T17" fmla="*/ 24 h 51"/>
                <a:gd name="T18" fmla="*/ 376 w 380"/>
                <a:gd name="T19" fmla="*/ 31 h 51"/>
                <a:gd name="T20" fmla="*/ 375 w 380"/>
                <a:gd name="T21" fmla="*/ 38 h 51"/>
                <a:gd name="T22" fmla="*/ 375 w 380"/>
                <a:gd name="T23" fmla="*/ 44 h 51"/>
                <a:gd name="T24" fmla="*/ 375 w 380"/>
                <a:gd name="T25" fmla="*/ 51 h 51"/>
                <a:gd name="T26" fmla="*/ 378 w 380"/>
                <a:gd name="T27" fmla="*/ 48 h 51"/>
                <a:gd name="T28" fmla="*/ 378 w 380"/>
                <a:gd name="T29" fmla="*/ 41 h 51"/>
                <a:gd name="T30" fmla="*/ 378 w 380"/>
                <a:gd name="T31" fmla="*/ 34 h 51"/>
                <a:gd name="T32" fmla="*/ 380 w 380"/>
                <a:gd name="T33" fmla="*/ 28 h 51"/>
                <a:gd name="T34" fmla="*/ 2 w 380"/>
                <a:gd name="T35" fmla="*/ 0 h 51"/>
                <a:gd name="T36" fmla="*/ 0 w 380"/>
                <a:gd name="T37" fmla="*/ 6 h 51"/>
                <a:gd name="T38" fmla="*/ 0 w 380"/>
                <a:gd name="T39" fmla="*/ 11 h 51"/>
                <a:gd name="T40" fmla="*/ 0 w 380"/>
                <a:gd name="T41" fmla="*/ 18 h 51"/>
                <a:gd name="T42" fmla="*/ 0 w 380"/>
                <a:gd name="T43" fmla="*/ 24 h 51"/>
                <a:gd name="T44" fmla="*/ 0 w 380"/>
                <a:gd name="T45" fmla="*/ 31 h 51"/>
                <a:gd name="T46" fmla="*/ 0 w 380"/>
                <a:gd name="T47" fmla="*/ 38 h 51"/>
                <a:gd name="T48" fmla="*/ 0 w 380"/>
                <a:gd name="T49" fmla="*/ 44 h 51"/>
                <a:gd name="T50" fmla="*/ 2 w 380"/>
                <a:gd name="T51" fmla="*/ 51 h 51"/>
                <a:gd name="T52" fmla="*/ 4 w 380"/>
                <a:gd name="T53" fmla="*/ 48 h 51"/>
                <a:gd name="T54" fmla="*/ 4 w 380"/>
                <a:gd name="T55" fmla="*/ 41 h 51"/>
                <a:gd name="T56" fmla="*/ 4 w 380"/>
                <a:gd name="T57" fmla="*/ 34 h 51"/>
                <a:gd name="T58" fmla="*/ 4 w 380"/>
                <a:gd name="T59" fmla="*/ 28 h 51"/>
                <a:gd name="T60" fmla="*/ 4 w 380"/>
                <a:gd name="T61" fmla="*/ 21 h 51"/>
                <a:gd name="T62" fmla="*/ 4 w 380"/>
                <a:gd name="T63" fmla="*/ 14 h 51"/>
                <a:gd name="T64" fmla="*/ 4 w 380"/>
                <a:gd name="T65" fmla="*/ 8 h 51"/>
                <a:gd name="T66" fmla="*/ 4 w 380"/>
                <a:gd name="T67" fmla="*/ 3 h 51"/>
                <a:gd name="T68" fmla="*/ 2 w 38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0" h="51">
                  <a:moveTo>
                    <a:pt x="380" y="24"/>
                  </a:moveTo>
                  <a:lnTo>
                    <a:pt x="380" y="21"/>
                  </a:lnTo>
                  <a:lnTo>
                    <a:pt x="380" y="18"/>
                  </a:lnTo>
                  <a:lnTo>
                    <a:pt x="378" y="14"/>
                  </a:lnTo>
                  <a:lnTo>
                    <a:pt x="378" y="11"/>
                  </a:lnTo>
                  <a:lnTo>
                    <a:pt x="378" y="8"/>
                  </a:lnTo>
                  <a:lnTo>
                    <a:pt x="378" y="6"/>
                  </a:lnTo>
                  <a:lnTo>
                    <a:pt x="378" y="3"/>
                  </a:lnTo>
                  <a:lnTo>
                    <a:pt x="378" y="0"/>
                  </a:lnTo>
                  <a:lnTo>
                    <a:pt x="375" y="0"/>
                  </a:lnTo>
                  <a:lnTo>
                    <a:pt x="375" y="3"/>
                  </a:lnTo>
                  <a:lnTo>
                    <a:pt x="375" y="6"/>
                  </a:lnTo>
                  <a:lnTo>
                    <a:pt x="375" y="8"/>
                  </a:lnTo>
                  <a:lnTo>
                    <a:pt x="375" y="11"/>
                  </a:lnTo>
                  <a:lnTo>
                    <a:pt x="375" y="14"/>
                  </a:lnTo>
                  <a:lnTo>
                    <a:pt x="376" y="18"/>
                  </a:lnTo>
                  <a:lnTo>
                    <a:pt x="376" y="21"/>
                  </a:lnTo>
                  <a:lnTo>
                    <a:pt x="376" y="24"/>
                  </a:lnTo>
                  <a:lnTo>
                    <a:pt x="376" y="28"/>
                  </a:lnTo>
                  <a:lnTo>
                    <a:pt x="376" y="31"/>
                  </a:lnTo>
                  <a:lnTo>
                    <a:pt x="375" y="34"/>
                  </a:lnTo>
                  <a:lnTo>
                    <a:pt x="375" y="38"/>
                  </a:lnTo>
                  <a:lnTo>
                    <a:pt x="375" y="41"/>
                  </a:lnTo>
                  <a:lnTo>
                    <a:pt x="375" y="44"/>
                  </a:lnTo>
                  <a:lnTo>
                    <a:pt x="375" y="48"/>
                  </a:lnTo>
                  <a:lnTo>
                    <a:pt x="375" y="51"/>
                  </a:lnTo>
                  <a:lnTo>
                    <a:pt x="378" y="51"/>
                  </a:lnTo>
                  <a:lnTo>
                    <a:pt x="378" y="48"/>
                  </a:lnTo>
                  <a:lnTo>
                    <a:pt x="378" y="44"/>
                  </a:lnTo>
                  <a:lnTo>
                    <a:pt x="378" y="41"/>
                  </a:lnTo>
                  <a:lnTo>
                    <a:pt x="378" y="38"/>
                  </a:lnTo>
                  <a:lnTo>
                    <a:pt x="378" y="34"/>
                  </a:lnTo>
                  <a:lnTo>
                    <a:pt x="380" y="31"/>
                  </a:lnTo>
                  <a:lnTo>
                    <a:pt x="380" y="28"/>
                  </a:lnTo>
                  <a:lnTo>
                    <a:pt x="38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61" name="Freeform 402">
              <a:extLst>
                <a:ext uri="{FF2B5EF4-FFF2-40B4-BE49-F238E27FC236}">
                  <a16:creationId xmlns:a16="http://schemas.microsoft.com/office/drawing/2014/main" id="{F16584A6-4B4D-F980-D517-7E3B853A92B1}"/>
                </a:ext>
              </a:extLst>
            </p:cNvPr>
            <p:cNvSpPr>
              <a:spLocks noEditPoints="1"/>
            </p:cNvSpPr>
            <p:nvPr/>
          </p:nvSpPr>
          <p:spPr bwMode="auto">
            <a:xfrm>
              <a:off x="1424" y="1713"/>
              <a:ext cx="376" cy="51"/>
            </a:xfrm>
            <a:custGeom>
              <a:avLst/>
              <a:gdLst>
                <a:gd name="T0" fmla="*/ 376 w 376"/>
                <a:gd name="T1" fmla="*/ 21 h 51"/>
                <a:gd name="T2" fmla="*/ 374 w 376"/>
                <a:gd name="T3" fmla="*/ 14 h 51"/>
                <a:gd name="T4" fmla="*/ 374 w 376"/>
                <a:gd name="T5" fmla="*/ 8 h 51"/>
                <a:gd name="T6" fmla="*/ 374 w 376"/>
                <a:gd name="T7" fmla="*/ 3 h 51"/>
                <a:gd name="T8" fmla="*/ 371 w 376"/>
                <a:gd name="T9" fmla="*/ 0 h 51"/>
                <a:gd name="T10" fmla="*/ 371 w 376"/>
                <a:gd name="T11" fmla="*/ 6 h 51"/>
                <a:gd name="T12" fmla="*/ 371 w 376"/>
                <a:gd name="T13" fmla="*/ 11 h 51"/>
                <a:gd name="T14" fmla="*/ 373 w 376"/>
                <a:gd name="T15" fmla="*/ 18 h 51"/>
                <a:gd name="T16" fmla="*/ 373 w 376"/>
                <a:gd name="T17" fmla="*/ 24 h 51"/>
                <a:gd name="T18" fmla="*/ 373 w 376"/>
                <a:gd name="T19" fmla="*/ 31 h 51"/>
                <a:gd name="T20" fmla="*/ 371 w 376"/>
                <a:gd name="T21" fmla="*/ 38 h 51"/>
                <a:gd name="T22" fmla="*/ 371 w 376"/>
                <a:gd name="T23" fmla="*/ 44 h 51"/>
                <a:gd name="T24" fmla="*/ 371 w 376"/>
                <a:gd name="T25" fmla="*/ 51 h 51"/>
                <a:gd name="T26" fmla="*/ 374 w 376"/>
                <a:gd name="T27" fmla="*/ 48 h 51"/>
                <a:gd name="T28" fmla="*/ 374 w 376"/>
                <a:gd name="T29" fmla="*/ 41 h 51"/>
                <a:gd name="T30" fmla="*/ 374 w 376"/>
                <a:gd name="T31" fmla="*/ 34 h 51"/>
                <a:gd name="T32" fmla="*/ 376 w 376"/>
                <a:gd name="T33" fmla="*/ 28 h 51"/>
                <a:gd name="T34" fmla="*/ 2 w 376"/>
                <a:gd name="T35" fmla="*/ 0 h 51"/>
                <a:gd name="T36" fmla="*/ 0 w 376"/>
                <a:gd name="T37" fmla="*/ 6 h 51"/>
                <a:gd name="T38" fmla="*/ 0 w 376"/>
                <a:gd name="T39" fmla="*/ 11 h 51"/>
                <a:gd name="T40" fmla="*/ 0 w 376"/>
                <a:gd name="T41" fmla="*/ 18 h 51"/>
                <a:gd name="T42" fmla="*/ 0 w 376"/>
                <a:gd name="T43" fmla="*/ 24 h 51"/>
                <a:gd name="T44" fmla="*/ 0 w 376"/>
                <a:gd name="T45" fmla="*/ 31 h 51"/>
                <a:gd name="T46" fmla="*/ 0 w 376"/>
                <a:gd name="T47" fmla="*/ 38 h 51"/>
                <a:gd name="T48" fmla="*/ 0 w 376"/>
                <a:gd name="T49" fmla="*/ 44 h 51"/>
                <a:gd name="T50" fmla="*/ 2 w 376"/>
                <a:gd name="T51" fmla="*/ 51 h 51"/>
                <a:gd name="T52" fmla="*/ 3 w 376"/>
                <a:gd name="T53" fmla="*/ 48 h 51"/>
                <a:gd name="T54" fmla="*/ 3 w 376"/>
                <a:gd name="T55" fmla="*/ 41 h 51"/>
                <a:gd name="T56" fmla="*/ 3 w 376"/>
                <a:gd name="T57" fmla="*/ 34 h 51"/>
                <a:gd name="T58" fmla="*/ 3 w 376"/>
                <a:gd name="T59" fmla="*/ 28 h 51"/>
                <a:gd name="T60" fmla="*/ 3 w 376"/>
                <a:gd name="T61" fmla="*/ 21 h 51"/>
                <a:gd name="T62" fmla="*/ 3 w 376"/>
                <a:gd name="T63" fmla="*/ 14 h 51"/>
                <a:gd name="T64" fmla="*/ 3 w 376"/>
                <a:gd name="T65" fmla="*/ 8 h 51"/>
                <a:gd name="T66" fmla="*/ 3 w 376"/>
                <a:gd name="T67" fmla="*/ 3 h 51"/>
                <a:gd name="T68" fmla="*/ 2 w 3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6" h="51">
                  <a:moveTo>
                    <a:pt x="376" y="24"/>
                  </a:moveTo>
                  <a:lnTo>
                    <a:pt x="376" y="21"/>
                  </a:lnTo>
                  <a:lnTo>
                    <a:pt x="376" y="18"/>
                  </a:lnTo>
                  <a:lnTo>
                    <a:pt x="374" y="14"/>
                  </a:lnTo>
                  <a:lnTo>
                    <a:pt x="374" y="11"/>
                  </a:lnTo>
                  <a:lnTo>
                    <a:pt x="374" y="8"/>
                  </a:lnTo>
                  <a:lnTo>
                    <a:pt x="374" y="6"/>
                  </a:lnTo>
                  <a:lnTo>
                    <a:pt x="374" y="3"/>
                  </a:lnTo>
                  <a:lnTo>
                    <a:pt x="374" y="0"/>
                  </a:lnTo>
                  <a:lnTo>
                    <a:pt x="371" y="0"/>
                  </a:lnTo>
                  <a:lnTo>
                    <a:pt x="371" y="3"/>
                  </a:lnTo>
                  <a:lnTo>
                    <a:pt x="371" y="6"/>
                  </a:lnTo>
                  <a:lnTo>
                    <a:pt x="371" y="8"/>
                  </a:lnTo>
                  <a:lnTo>
                    <a:pt x="371" y="11"/>
                  </a:lnTo>
                  <a:lnTo>
                    <a:pt x="371" y="14"/>
                  </a:lnTo>
                  <a:lnTo>
                    <a:pt x="373" y="18"/>
                  </a:lnTo>
                  <a:lnTo>
                    <a:pt x="373" y="21"/>
                  </a:lnTo>
                  <a:lnTo>
                    <a:pt x="373" y="24"/>
                  </a:lnTo>
                  <a:lnTo>
                    <a:pt x="373" y="28"/>
                  </a:lnTo>
                  <a:lnTo>
                    <a:pt x="373" y="31"/>
                  </a:lnTo>
                  <a:lnTo>
                    <a:pt x="371" y="34"/>
                  </a:lnTo>
                  <a:lnTo>
                    <a:pt x="371" y="38"/>
                  </a:lnTo>
                  <a:lnTo>
                    <a:pt x="371" y="41"/>
                  </a:lnTo>
                  <a:lnTo>
                    <a:pt x="371" y="44"/>
                  </a:lnTo>
                  <a:lnTo>
                    <a:pt x="371" y="48"/>
                  </a:lnTo>
                  <a:lnTo>
                    <a:pt x="371" y="51"/>
                  </a:lnTo>
                  <a:lnTo>
                    <a:pt x="374" y="51"/>
                  </a:lnTo>
                  <a:lnTo>
                    <a:pt x="374" y="48"/>
                  </a:lnTo>
                  <a:lnTo>
                    <a:pt x="374" y="44"/>
                  </a:lnTo>
                  <a:lnTo>
                    <a:pt x="374" y="41"/>
                  </a:lnTo>
                  <a:lnTo>
                    <a:pt x="374" y="38"/>
                  </a:lnTo>
                  <a:lnTo>
                    <a:pt x="374" y="34"/>
                  </a:lnTo>
                  <a:lnTo>
                    <a:pt x="376" y="31"/>
                  </a:lnTo>
                  <a:lnTo>
                    <a:pt x="376" y="28"/>
                  </a:lnTo>
                  <a:lnTo>
                    <a:pt x="37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62" name="Freeform 403">
              <a:extLst>
                <a:ext uri="{FF2B5EF4-FFF2-40B4-BE49-F238E27FC236}">
                  <a16:creationId xmlns:a16="http://schemas.microsoft.com/office/drawing/2014/main" id="{EF625696-41A1-3131-929B-0231B5BCF080}"/>
                </a:ext>
              </a:extLst>
            </p:cNvPr>
            <p:cNvSpPr>
              <a:spLocks noEditPoints="1"/>
            </p:cNvSpPr>
            <p:nvPr/>
          </p:nvSpPr>
          <p:spPr bwMode="auto">
            <a:xfrm>
              <a:off x="1426" y="1713"/>
              <a:ext cx="372" cy="51"/>
            </a:xfrm>
            <a:custGeom>
              <a:avLst/>
              <a:gdLst>
                <a:gd name="T0" fmla="*/ 372 w 372"/>
                <a:gd name="T1" fmla="*/ 21 h 51"/>
                <a:gd name="T2" fmla="*/ 371 w 372"/>
                <a:gd name="T3" fmla="*/ 14 h 51"/>
                <a:gd name="T4" fmla="*/ 371 w 372"/>
                <a:gd name="T5" fmla="*/ 8 h 51"/>
                <a:gd name="T6" fmla="*/ 371 w 372"/>
                <a:gd name="T7" fmla="*/ 3 h 51"/>
                <a:gd name="T8" fmla="*/ 367 w 372"/>
                <a:gd name="T9" fmla="*/ 0 h 51"/>
                <a:gd name="T10" fmla="*/ 367 w 372"/>
                <a:gd name="T11" fmla="*/ 6 h 51"/>
                <a:gd name="T12" fmla="*/ 367 w 372"/>
                <a:gd name="T13" fmla="*/ 11 h 51"/>
                <a:gd name="T14" fmla="*/ 369 w 372"/>
                <a:gd name="T15" fmla="*/ 18 h 51"/>
                <a:gd name="T16" fmla="*/ 369 w 372"/>
                <a:gd name="T17" fmla="*/ 24 h 51"/>
                <a:gd name="T18" fmla="*/ 369 w 372"/>
                <a:gd name="T19" fmla="*/ 31 h 51"/>
                <a:gd name="T20" fmla="*/ 367 w 372"/>
                <a:gd name="T21" fmla="*/ 38 h 51"/>
                <a:gd name="T22" fmla="*/ 367 w 372"/>
                <a:gd name="T23" fmla="*/ 44 h 51"/>
                <a:gd name="T24" fmla="*/ 367 w 372"/>
                <a:gd name="T25" fmla="*/ 51 h 51"/>
                <a:gd name="T26" fmla="*/ 371 w 372"/>
                <a:gd name="T27" fmla="*/ 48 h 51"/>
                <a:gd name="T28" fmla="*/ 371 w 372"/>
                <a:gd name="T29" fmla="*/ 41 h 51"/>
                <a:gd name="T30" fmla="*/ 371 w 372"/>
                <a:gd name="T31" fmla="*/ 34 h 51"/>
                <a:gd name="T32" fmla="*/ 372 w 372"/>
                <a:gd name="T33" fmla="*/ 28 h 51"/>
                <a:gd name="T34" fmla="*/ 1 w 372"/>
                <a:gd name="T35" fmla="*/ 0 h 51"/>
                <a:gd name="T36" fmla="*/ 0 w 372"/>
                <a:gd name="T37" fmla="*/ 6 h 51"/>
                <a:gd name="T38" fmla="*/ 0 w 372"/>
                <a:gd name="T39" fmla="*/ 11 h 51"/>
                <a:gd name="T40" fmla="*/ 0 w 372"/>
                <a:gd name="T41" fmla="*/ 18 h 51"/>
                <a:gd name="T42" fmla="*/ 0 w 372"/>
                <a:gd name="T43" fmla="*/ 24 h 51"/>
                <a:gd name="T44" fmla="*/ 0 w 372"/>
                <a:gd name="T45" fmla="*/ 31 h 51"/>
                <a:gd name="T46" fmla="*/ 0 w 372"/>
                <a:gd name="T47" fmla="*/ 38 h 51"/>
                <a:gd name="T48" fmla="*/ 0 w 372"/>
                <a:gd name="T49" fmla="*/ 44 h 51"/>
                <a:gd name="T50" fmla="*/ 1 w 372"/>
                <a:gd name="T51" fmla="*/ 51 h 51"/>
                <a:gd name="T52" fmla="*/ 3 w 372"/>
                <a:gd name="T53" fmla="*/ 48 h 51"/>
                <a:gd name="T54" fmla="*/ 3 w 372"/>
                <a:gd name="T55" fmla="*/ 41 h 51"/>
                <a:gd name="T56" fmla="*/ 3 w 372"/>
                <a:gd name="T57" fmla="*/ 34 h 51"/>
                <a:gd name="T58" fmla="*/ 3 w 372"/>
                <a:gd name="T59" fmla="*/ 28 h 51"/>
                <a:gd name="T60" fmla="*/ 3 w 372"/>
                <a:gd name="T61" fmla="*/ 21 h 51"/>
                <a:gd name="T62" fmla="*/ 3 w 372"/>
                <a:gd name="T63" fmla="*/ 14 h 51"/>
                <a:gd name="T64" fmla="*/ 3 w 372"/>
                <a:gd name="T65" fmla="*/ 8 h 51"/>
                <a:gd name="T66" fmla="*/ 3 w 372"/>
                <a:gd name="T67" fmla="*/ 3 h 51"/>
                <a:gd name="T68" fmla="*/ 1 w 3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2" h="51">
                  <a:moveTo>
                    <a:pt x="372" y="24"/>
                  </a:moveTo>
                  <a:lnTo>
                    <a:pt x="372" y="21"/>
                  </a:lnTo>
                  <a:lnTo>
                    <a:pt x="372" y="18"/>
                  </a:lnTo>
                  <a:lnTo>
                    <a:pt x="371" y="14"/>
                  </a:lnTo>
                  <a:lnTo>
                    <a:pt x="371" y="11"/>
                  </a:lnTo>
                  <a:lnTo>
                    <a:pt x="371" y="8"/>
                  </a:lnTo>
                  <a:lnTo>
                    <a:pt x="371" y="6"/>
                  </a:lnTo>
                  <a:lnTo>
                    <a:pt x="371" y="3"/>
                  </a:lnTo>
                  <a:lnTo>
                    <a:pt x="371" y="0"/>
                  </a:lnTo>
                  <a:lnTo>
                    <a:pt x="367" y="0"/>
                  </a:lnTo>
                  <a:lnTo>
                    <a:pt x="367" y="3"/>
                  </a:lnTo>
                  <a:lnTo>
                    <a:pt x="367" y="6"/>
                  </a:lnTo>
                  <a:lnTo>
                    <a:pt x="367" y="8"/>
                  </a:lnTo>
                  <a:lnTo>
                    <a:pt x="367" y="11"/>
                  </a:lnTo>
                  <a:lnTo>
                    <a:pt x="367" y="14"/>
                  </a:lnTo>
                  <a:lnTo>
                    <a:pt x="369" y="18"/>
                  </a:lnTo>
                  <a:lnTo>
                    <a:pt x="369" y="21"/>
                  </a:lnTo>
                  <a:lnTo>
                    <a:pt x="369" y="24"/>
                  </a:lnTo>
                  <a:lnTo>
                    <a:pt x="369" y="28"/>
                  </a:lnTo>
                  <a:lnTo>
                    <a:pt x="369" y="31"/>
                  </a:lnTo>
                  <a:lnTo>
                    <a:pt x="367" y="34"/>
                  </a:lnTo>
                  <a:lnTo>
                    <a:pt x="367" y="38"/>
                  </a:lnTo>
                  <a:lnTo>
                    <a:pt x="367" y="41"/>
                  </a:lnTo>
                  <a:lnTo>
                    <a:pt x="367" y="44"/>
                  </a:lnTo>
                  <a:lnTo>
                    <a:pt x="367" y="48"/>
                  </a:lnTo>
                  <a:lnTo>
                    <a:pt x="367" y="51"/>
                  </a:lnTo>
                  <a:lnTo>
                    <a:pt x="371" y="51"/>
                  </a:lnTo>
                  <a:lnTo>
                    <a:pt x="371" y="48"/>
                  </a:lnTo>
                  <a:lnTo>
                    <a:pt x="371" y="44"/>
                  </a:lnTo>
                  <a:lnTo>
                    <a:pt x="371" y="41"/>
                  </a:lnTo>
                  <a:lnTo>
                    <a:pt x="371" y="38"/>
                  </a:lnTo>
                  <a:lnTo>
                    <a:pt x="371" y="34"/>
                  </a:lnTo>
                  <a:lnTo>
                    <a:pt x="372" y="31"/>
                  </a:lnTo>
                  <a:lnTo>
                    <a:pt x="372" y="28"/>
                  </a:lnTo>
                  <a:lnTo>
                    <a:pt x="37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63" name="Freeform 404">
              <a:extLst>
                <a:ext uri="{FF2B5EF4-FFF2-40B4-BE49-F238E27FC236}">
                  <a16:creationId xmlns:a16="http://schemas.microsoft.com/office/drawing/2014/main" id="{FB797DAF-64F3-305B-6077-F3DCF34830EB}"/>
                </a:ext>
              </a:extLst>
            </p:cNvPr>
            <p:cNvSpPr>
              <a:spLocks noEditPoints="1"/>
            </p:cNvSpPr>
            <p:nvPr/>
          </p:nvSpPr>
          <p:spPr bwMode="auto">
            <a:xfrm>
              <a:off x="1427" y="1713"/>
              <a:ext cx="370" cy="51"/>
            </a:xfrm>
            <a:custGeom>
              <a:avLst/>
              <a:gdLst>
                <a:gd name="T0" fmla="*/ 370 w 370"/>
                <a:gd name="T1" fmla="*/ 21 h 51"/>
                <a:gd name="T2" fmla="*/ 368 w 370"/>
                <a:gd name="T3" fmla="*/ 14 h 51"/>
                <a:gd name="T4" fmla="*/ 368 w 370"/>
                <a:gd name="T5" fmla="*/ 8 h 51"/>
                <a:gd name="T6" fmla="*/ 368 w 370"/>
                <a:gd name="T7" fmla="*/ 3 h 51"/>
                <a:gd name="T8" fmla="*/ 365 w 370"/>
                <a:gd name="T9" fmla="*/ 0 h 51"/>
                <a:gd name="T10" fmla="*/ 365 w 370"/>
                <a:gd name="T11" fmla="*/ 6 h 51"/>
                <a:gd name="T12" fmla="*/ 365 w 370"/>
                <a:gd name="T13" fmla="*/ 11 h 51"/>
                <a:gd name="T14" fmla="*/ 366 w 370"/>
                <a:gd name="T15" fmla="*/ 18 h 51"/>
                <a:gd name="T16" fmla="*/ 366 w 370"/>
                <a:gd name="T17" fmla="*/ 24 h 51"/>
                <a:gd name="T18" fmla="*/ 366 w 370"/>
                <a:gd name="T19" fmla="*/ 31 h 51"/>
                <a:gd name="T20" fmla="*/ 365 w 370"/>
                <a:gd name="T21" fmla="*/ 38 h 51"/>
                <a:gd name="T22" fmla="*/ 365 w 370"/>
                <a:gd name="T23" fmla="*/ 44 h 51"/>
                <a:gd name="T24" fmla="*/ 365 w 370"/>
                <a:gd name="T25" fmla="*/ 51 h 51"/>
                <a:gd name="T26" fmla="*/ 368 w 370"/>
                <a:gd name="T27" fmla="*/ 48 h 51"/>
                <a:gd name="T28" fmla="*/ 368 w 370"/>
                <a:gd name="T29" fmla="*/ 41 h 51"/>
                <a:gd name="T30" fmla="*/ 368 w 370"/>
                <a:gd name="T31" fmla="*/ 34 h 51"/>
                <a:gd name="T32" fmla="*/ 370 w 370"/>
                <a:gd name="T33" fmla="*/ 28 h 51"/>
                <a:gd name="T34" fmla="*/ 2 w 370"/>
                <a:gd name="T35" fmla="*/ 0 h 51"/>
                <a:gd name="T36" fmla="*/ 0 w 370"/>
                <a:gd name="T37" fmla="*/ 6 h 51"/>
                <a:gd name="T38" fmla="*/ 0 w 370"/>
                <a:gd name="T39" fmla="*/ 11 h 51"/>
                <a:gd name="T40" fmla="*/ 0 w 370"/>
                <a:gd name="T41" fmla="*/ 18 h 51"/>
                <a:gd name="T42" fmla="*/ 0 w 370"/>
                <a:gd name="T43" fmla="*/ 24 h 51"/>
                <a:gd name="T44" fmla="*/ 0 w 370"/>
                <a:gd name="T45" fmla="*/ 31 h 51"/>
                <a:gd name="T46" fmla="*/ 0 w 370"/>
                <a:gd name="T47" fmla="*/ 38 h 51"/>
                <a:gd name="T48" fmla="*/ 0 w 370"/>
                <a:gd name="T49" fmla="*/ 44 h 51"/>
                <a:gd name="T50" fmla="*/ 2 w 370"/>
                <a:gd name="T51" fmla="*/ 51 h 51"/>
                <a:gd name="T52" fmla="*/ 4 w 370"/>
                <a:gd name="T53" fmla="*/ 48 h 51"/>
                <a:gd name="T54" fmla="*/ 4 w 370"/>
                <a:gd name="T55" fmla="*/ 41 h 51"/>
                <a:gd name="T56" fmla="*/ 4 w 370"/>
                <a:gd name="T57" fmla="*/ 34 h 51"/>
                <a:gd name="T58" fmla="*/ 4 w 370"/>
                <a:gd name="T59" fmla="*/ 28 h 51"/>
                <a:gd name="T60" fmla="*/ 4 w 370"/>
                <a:gd name="T61" fmla="*/ 21 h 51"/>
                <a:gd name="T62" fmla="*/ 4 w 370"/>
                <a:gd name="T63" fmla="*/ 14 h 51"/>
                <a:gd name="T64" fmla="*/ 4 w 370"/>
                <a:gd name="T65" fmla="*/ 8 h 51"/>
                <a:gd name="T66" fmla="*/ 4 w 370"/>
                <a:gd name="T67" fmla="*/ 3 h 51"/>
                <a:gd name="T68" fmla="*/ 2 w 37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0" h="51">
                  <a:moveTo>
                    <a:pt x="370" y="24"/>
                  </a:moveTo>
                  <a:lnTo>
                    <a:pt x="370" y="21"/>
                  </a:lnTo>
                  <a:lnTo>
                    <a:pt x="370" y="18"/>
                  </a:lnTo>
                  <a:lnTo>
                    <a:pt x="368" y="14"/>
                  </a:lnTo>
                  <a:lnTo>
                    <a:pt x="368" y="11"/>
                  </a:lnTo>
                  <a:lnTo>
                    <a:pt x="368" y="8"/>
                  </a:lnTo>
                  <a:lnTo>
                    <a:pt x="368" y="6"/>
                  </a:lnTo>
                  <a:lnTo>
                    <a:pt x="368" y="3"/>
                  </a:lnTo>
                  <a:lnTo>
                    <a:pt x="368" y="0"/>
                  </a:lnTo>
                  <a:lnTo>
                    <a:pt x="365" y="0"/>
                  </a:lnTo>
                  <a:lnTo>
                    <a:pt x="365" y="3"/>
                  </a:lnTo>
                  <a:lnTo>
                    <a:pt x="365" y="6"/>
                  </a:lnTo>
                  <a:lnTo>
                    <a:pt x="365" y="8"/>
                  </a:lnTo>
                  <a:lnTo>
                    <a:pt x="365" y="11"/>
                  </a:lnTo>
                  <a:lnTo>
                    <a:pt x="365" y="14"/>
                  </a:lnTo>
                  <a:lnTo>
                    <a:pt x="366" y="18"/>
                  </a:lnTo>
                  <a:lnTo>
                    <a:pt x="366" y="21"/>
                  </a:lnTo>
                  <a:lnTo>
                    <a:pt x="366" y="24"/>
                  </a:lnTo>
                  <a:lnTo>
                    <a:pt x="366" y="28"/>
                  </a:lnTo>
                  <a:lnTo>
                    <a:pt x="366" y="31"/>
                  </a:lnTo>
                  <a:lnTo>
                    <a:pt x="365" y="34"/>
                  </a:lnTo>
                  <a:lnTo>
                    <a:pt x="365" y="38"/>
                  </a:lnTo>
                  <a:lnTo>
                    <a:pt x="365" y="41"/>
                  </a:lnTo>
                  <a:lnTo>
                    <a:pt x="365" y="44"/>
                  </a:lnTo>
                  <a:lnTo>
                    <a:pt x="365" y="48"/>
                  </a:lnTo>
                  <a:lnTo>
                    <a:pt x="365" y="51"/>
                  </a:lnTo>
                  <a:lnTo>
                    <a:pt x="368" y="51"/>
                  </a:lnTo>
                  <a:lnTo>
                    <a:pt x="368" y="48"/>
                  </a:lnTo>
                  <a:lnTo>
                    <a:pt x="368" y="44"/>
                  </a:lnTo>
                  <a:lnTo>
                    <a:pt x="368" y="41"/>
                  </a:lnTo>
                  <a:lnTo>
                    <a:pt x="368" y="38"/>
                  </a:lnTo>
                  <a:lnTo>
                    <a:pt x="368" y="34"/>
                  </a:lnTo>
                  <a:lnTo>
                    <a:pt x="370" y="31"/>
                  </a:lnTo>
                  <a:lnTo>
                    <a:pt x="370" y="28"/>
                  </a:lnTo>
                  <a:lnTo>
                    <a:pt x="37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64" name="Freeform 405">
              <a:extLst>
                <a:ext uri="{FF2B5EF4-FFF2-40B4-BE49-F238E27FC236}">
                  <a16:creationId xmlns:a16="http://schemas.microsoft.com/office/drawing/2014/main" id="{2D5F4C4E-9507-6F99-3F1A-92F598CD087A}"/>
                </a:ext>
              </a:extLst>
            </p:cNvPr>
            <p:cNvSpPr>
              <a:spLocks noEditPoints="1"/>
            </p:cNvSpPr>
            <p:nvPr/>
          </p:nvSpPr>
          <p:spPr bwMode="auto">
            <a:xfrm>
              <a:off x="1429" y="1713"/>
              <a:ext cx="366" cy="51"/>
            </a:xfrm>
            <a:custGeom>
              <a:avLst/>
              <a:gdLst>
                <a:gd name="T0" fmla="*/ 366 w 366"/>
                <a:gd name="T1" fmla="*/ 21 h 51"/>
                <a:gd name="T2" fmla="*/ 364 w 366"/>
                <a:gd name="T3" fmla="*/ 14 h 51"/>
                <a:gd name="T4" fmla="*/ 364 w 366"/>
                <a:gd name="T5" fmla="*/ 8 h 51"/>
                <a:gd name="T6" fmla="*/ 364 w 366"/>
                <a:gd name="T7" fmla="*/ 3 h 51"/>
                <a:gd name="T8" fmla="*/ 359 w 366"/>
                <a:gd name="T9" fmla="*/ 0 h 51"/>
                <a:gd name="T10" fmla="*/ 361 w 366"/>
                <a:gd name="T11" fmla="*/ 6 h 51"/>
                <a:gd name="T12" fmla="*/ 361 w 366"/>
                <a:gd name="T13" fmla="*/ 11 h 51"/>
                <a:gd name="T14" fmla="*/ 363 w 366"/>
                <a:gd name="T15" fmla="*/ 18 h 51"/>
                <a:gd name="T16" fmla="*/ 363 w 366"/>
                <a:gd name="T17" fmla="*/ 24 h 51"/>
                <a:gd name="T18" fmla="*/ 363 w 366"/>
                <a:gd name="T19" fmla="*/ 31 h 51"/>
                <a:gd name="T20" fmla="*/ 361 w 366"/>
                <a:gd name="T21" fmla="*/ 38 h 51"/>
                <a:gd name="T22" fmla="*/ 361 w 366"/>
                <a:gd name="T23" fmla="*/ 44 h 51"/>
                <a:gd name="T24" fmla="*/ 361 w 366"/>
                <a:gd name="T25" fmla="*/ 51 h 51"/>
                <a:gd name="T26" fmla="*/ 364 w 366"/>
                <a:gd name="T27" fmla="*/ 48 h 51"/>
                <a:gd name="T28" fmla="*/ 364 w 366"/>
                <a:gd name="T29" fmla="*/ 41 h 51"/>
                <a:gd name="T30" fmla="*/ 364 w 366"/>
                <a:gd name="T31" fmla="*/ 34 h 51"/>
                <a:gd name="T32" fmla="*/ 366 w 366"/>
                <a:gd name="T33" fmla="*/ 28 h 51"/>
                <a:gd name="T34" fmla="*/ 2 w 366"/>
                <a:gd name="T35" fmla="*/ 0 h 51"/>
                <a:gd name="T36" fmla="*/ 0 w 366"/>
                <a:gd name="T37" fmla="*/ 6 h 51"/>
                <a:gd name="T38" fmla="*/ 0 w 366"/>
                <a:gd name="T39" fmla="*/ 11 h 51"/>
                <a:gd name="T40" fmla="*/ 0 w 366"/>
                <a:gd name="T41" fmla="*/ 18 h 51"/>
                <a:gd name="T42" fmla="*/ 0 w 366"/>
                <a:gd name="T43" fmla="*/ 24 h 51"/>
                <a:gd name="T44" fmla="*/ 0 w 366"/>
                <a:gd name="T45" fmla="*/ 31 h 51"/>
                <a:gd name="T46" fmla="*/ 0 w 366"/>
                <a:gd name="T47" fmla="*/ 38 h 51"/>
                <a:gd name="T48" fmla="*/ 0 w 366"/>
                <a:gd name="T49" fmla="*/ 44 h 51"/>
                <a:gd name="T50" fmla="*/ 2 w 366"/>
                <a:gd name="T51" fmla="*/ 51 h 51"/>
                <a:gd name="T52" fmla="*/ 3 w 366"/>
                <a:gd name="T53" fmla="*/ 48 h 51"/>
                <a:gd name="T54" fmla="*/ 3 w 366"/>
                <a:gd name="T55" fmla="*/ 41 h 51"/>
                <a:gd name="T56" fmla="*/ 3 w 366"/>
                <a:gd name="T57" fmla="*/ 34 h 51"/>
                <a:gd name="T58" fmla="*/ 3 w 366"/>
                <a:gd name="T59" fmla="*/ 28 h 51"/>
                <a:gd name="T60" fmla="*/ 3 w 366"/>
                <a:gd name="T61" fmla="*/ 21 h 51"/>
                <a:gd name="T62" fmla="*/ 3 w 366"/>
                <a:gd name="T63" fmla="*/ 14 h 51"/>
                <a:gd name="T64" fmla="*/ 3 w 366"/>
                <a:gd name="T65" fmla="*/ 8 h 51"/>
                <a:gd name="T66" fmla="*/ 3 w 366"/>
                <a:gd name="T67" fmla="*/ 3 h 51"/>
                <a:gd name="T68" fmla="*/ 2 w 3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6" h="51">
                  <a:moveTo>
                    <a:pt x="366" y="24"/>
                  </a:moveTo>
                  <a:lnTo>
                    <a:pt x="366" y="21"/>
                  </a:lnTo>
                  <a:lnTo>
                    <a:pt x="366" y="18"/>
                  </a:lnTo>
                  <a:lnTo>
                    <a:pt x="364" y="14"/>
                  </a:lnTo>
                  <a:lnTo>
                    <a:pt x="364" y="11"/>
                  </a:lnTo>
                  <a:lnTo>
                    <a:pt x="364" y="8"/>
                  </a:lnTo>
                  <a:lnTo>
                    <a:pt x="364" y="6"/>
                  </a:lnTo>
                  <a:lnTo>
                    <a:pt x="364" y="3"/>
                  </a:lnTo>
                  <a:lnTo>
                    <a:pt x="364" y="0"/>
                  </a:lnTo>
                  <a:lnTo>
                    <a:pt x="359" y="0"/>
                  </a:lnTo>
                  <a:lnTo>
                    <a:pt x="361" y="3"/>
                  </a:lnTo>
                  <a:lnTo>
                    <a:pt x="361" y="6"/>
                  </a:lnTo>
                  <a:lnTo>
                    <a:pt x="361" y="8"/>
                  </a:lnTo>
                  <a:lnTo>
                    <a:pt x="361" y="11"/>
                  </a:lnTo>
                  <a:lnTo>
                    <a:pt x="361" y="14"/>
                  </a:lnTo>
                  <a:lnTo>
                    <a:pt x="363" y="18"/>
                  </a:lnTo>
                  <a:lnTo>
                    <a:pt x="363" y="21"/>
                  </a:lnTo>
                  <a:lnTo>
                    <a:pt x="363" y="24"/>
                  </a:lnTo>
                  <a:lnTo>
                    <a:pt x="363" y="28"/>
                  </a:lnTo>
                  <a:lnTo>
                    <a:pt x="363" y="31"/>
                  </a:lnTo>
                  <a:lnTo>
                    <a:pt x="361" y="34"/>
                  </a:lnTo>
                  <a:lnTo>
                    <a:pt x="361" y="38"/>
                  </a:lnTo>
                  <a:lnTo>
                    <a:pt x="361" y="41"/>
                  </a:lnTo>
                  <a:lnTo>
                    <a:pt x="361" y="44"/>
                  </a:lnTo>
                  <a:lnTo>
                    <a:pt x="361" y="48"/>
                  </a:lnTo>
                  <a:lnTo>
                    <a:pt x="361" y="51"/>
                  </a:lnTo>
                  <a:lnTo>
                    <a:pt x="364" y="51"/>
                  </a:lnTo>
                  <a:lnTo>
                    <a:pt x="364" y="48"/>
                  </a:lnTo>
                  <a:lnTo>
                    <a:pt x="364" y="44"/>
                  </a:lnTo>
                  <a:lnTo>
                    <a:pt x="364" y="41"/>
                  </a:lnTo>
                  <a:lnTo>
                    <a:pt x="364" y="38"/>
                  </a:lnTo>
                  <a:lnTo>
                    <a:pt x="364" y="34"/>
                  </a:lnTo>
                  <a:lnTo>
                    <a:pt x="366" y="31"/>
                  </a:lnTo>
                  <a:lnTo>
                    <a:pt x="366" y="28"/>
                  </a:lnTo>
                  <a:lnTo>
                    <a:pt x="36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65" name="Freeform 406">
              <a:extLst>
                <a:ext uri="{FF2B5EF4-FFF2-40B4-BE49-F238E27FC236}">
                  <a16:creationId xmlns:a16="http://schemas.microsoft.com/office/drawing/2014/main" id="{E909A5FD-4144-6F48-66CA-B9AD00531120}"/>
                </a:ext>
              </a:extLst>
            </p:cNvPr>
            <p:cNvSpPr>
              <a:spLocks noEditPoints="1"/>
            </p:cNvSpPr>
            <p:nvPr/>
          </p:nvSpPr>
          <p:spPr bwMode="auto">
            <a:xfrm>
              <a:off x="1431" y="1713"/>
              <a:ext cx="362" cy="51"/>
            </a:xfrm>
            <a:custGeom>
              <a:avLst/>
              <a:gdLst>
                <a:gd name="T0" fmla="*/ 362 w 362"/>
                <a:gd name="T1" fmla="*/ 21 h 51"/>
                <a:gd name="T2" fmla="*/ 361 w 362"/>
                <a:gd name="T3" fmla="*/ 14 h 51"/>
                <a:gd name="T4" fmla="*/ 361 w 362"/>
                <a:gd name="T5" fmla="*/ 8 h 51"/>
                <a:gd name="T6" fmla="*/ 361 w 362"/>
                <a:gd name="T7" fmla="*/ 3 h 51"/>
                <a:gd name="T8" fmla="*/ 356 w 362"/>
                <a:gd name="T9" fmla="*/ 0 h 51"/>
                <a:gd name="T10" fmla="*/ 357 w 362"/>
                <a:gd name="T11" fmla="*/ 6 h 51"/>
                <a:gd name="T12" fmla="*/ 357 w 362"/>
                <a:gd name="T13" fmla="*/ 11 h 51"/>
                <a:gd name="T14" fmla="*/ 359 w 362"/>
                <a:gd name="T15" fmla="*/ 18 h 51"/>
                <a:gd name="T16" fmla="*/ 359 w 362"/>
                <a:gd name="T17" fmla="*/ 24 h 51"/>
                <a:gd name="T18" fmla="*/ 359 w 362"/>
                <a:gd name="T19" fmla="*/ 31 h 51"/>
                <a:gd name="T20" fmla="*/ 357 w 362"/>
                <a:gd name="T21" fmla="*/ 38 h 51"/>
                <a:gd name="T22" fmla="*/ 357 w 362"/>
                <a:gd name="T23" fmla="*/ 44 h 51"/>
                <a:gd name="T24" fmla="*/ 357 w 362"/>
                <a:gd name="T25" fmla="*/ 51 h 51"/>
                <a:gd name="T26" fmla="*/ 361 w 362"/>
                <a:gd name="T27" fmla="*/ 48 h 51"/>
                <a:gd name="T28" fmla="*/ 361 w 362"/>
                <a:gd name="T29" fmla="*/ 41 h 51"/>
                <a:gd name="T30" fmla="*/ 361 w 362"/>
                <a:gd name="T31" fmla="*/ 34 h 51"/>
                <a:gd name="T32" fmla="*/ 362 w 362"/>
                <a:gd name="T33" fmla="*/ 28 h 51"/>
                <a:gd name="T34" fmla="*/ 1 w 362"/>
                <a:gd name="T35" fmla="*/ 0 h 51"/>
                <a:gd name="T36" fmla="*/ 0 w 362"/>
                <a:gd name="T37" fmla="*/ 6 h 51"/>
                <a:gd name="T38" fmla="*/ 0 w 362"/>
                <a:gd name="T39" fmla="*/ 11 h 51"/>
                <a:gd name="T40" fmla="*/ 0 w 362"/>
                <a:gd name="T41" fmla="*/ 18 h 51"/>
                <a:gd name="T42" fmla="*/ 0 w 362"/>
                <a:gd name="T43" fmla="*/ 24 h 51"/>
                <a:gd name="T44" fmla="*/ 0 w 362"/>
                <a:gd name="T45" fmla="*/ 31 h 51"/>
                <a:gd name="T46" fmla="*/ 0 w 362"/>
                <a:gd name="T47" fmla="*/ 38 h 51"/>
                <a:gd name="T48" fmla="*/ 0 w 362"/>
                <a:gd name="T49" fmla="*/ 44 h 51"/>
                <a:gd name="T50" fmla="*/ 1 w 362"/>
                <a:gd name="T51" fmla="*/ 51 h 51"/>
                <a:gd name="T52" fmla="*/ 3 w 362"/>
                <a:gd name="T53" fmla="*/ 48 h 51"/>
                <a:gd name="T54" fmla="*/ 3 w 362"/>
                <a:gd name="T55" fmla="*/ 41 h 51"/>
                <a:gd name="T56" fmla="*/ 3 w 362"/>
                <a:gd name="T57" fmla="*/ 34 h 51"/>
                <a:gd name="T58" fmla="*/ 3 w 362"/>
                <a:gd name="T59" fmla="*/ 28 h 51"/>
                <a:gd name="T60" fmla="*/ 3 w 362"/>
                <a:gd name="T61" fmla="*/ 21 h 51"/>
                <a:gd name="T62" fmla="*/ 3 w 362"/>
                <a:gd name="T63" fmla="*/ 14 h 51"/>
                <a:gd name="T64" fmla="*/ 3 w 362"/>
                <a:gd name="T65" fmla="*/ 8 h 51"/>
                <a:gd name="T66" fmla="*/ 3 w 362"/>
                <a:gd name="T67" fmla="*/ 3 h 51"/>
                <a:gd name="T68" fmla="*/ 1 w 3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2" h="51">
                  <a:moveTo>
                    <a:pt x="362" y="24"/>
                  </a:moveTo>
                  <a:lnTo>
                    <a:pt x="362" y="21"/>
                  </a:lnTo>
                  <a:lnTo>
                    <a:pt x="362" y="18"/>
                  </a:lnTo>
                  <a:lnTo>
                    <a:pt x="361" y="14"/>
                  </a:lnTo>
                  <a:lnTo>
                    <a:pt x="361" y="11"/>
                  </a:lnTo>
                  <a:lnTo>
                    <a:pt x="361" y="8"/>
                  </a:lnTo>
                  <a:lnTo>
                    <a:pt x="361" y="6"/>
                  </a:lnTo>
                  <a:lnTo>
                    <a:pt x="361" y="3"/>
                  </a:lnTo>
                  <a:lnTo>
                    <a:pt x="361" y="0"/>
                  </a:lnTo>
                  <a:lnTo>
                    <a:pt x="356" y="0"/>
                  </a:lnTo>
                  <a:lnTo>
                    <a:pt x="357" y="3"/>
                  </a:lnTo>
                  <a:lnTo>
                    <a:pt x="357" y="6"/>
                  </a:lnTo>
                  <a:lnTo>
                    <a:pt x="357" y="8"/>
                  </a:lnTo>
                  <a:lnTo>
                    <a:pt x="357" y="11"/>
                  </a:lnTo>
                  <a:lnTo>
                    <a:pt x="357" y="14"/>
                  </a:lnTo>
                  <a:lnTo>
                    <a:pt x="359" y="18"/>
                  </a:lnTo>
                  <a:lnTo>
                    <a:pt x="359" y="21"/>
                  </a:lnTo>
                  <a:lnTo>
                    <a:pt x="359" y="24"/>
                  </a:lnTo>
                  <a:lnTo>
                    <a:pt x="359" y="28"/>
                  </a:lnTo>
                  <a:lnTo>
                    <a:pt x="359" y="31"/>
                  </a:lnTo>
                  <a:lnTo>
                    <a:pt x="357" y="34"/>
                  </a:lnTo>
                  <a:lnTo>
                    <a:pt x="357" y="38"/>
                  </a:lnTo>
                  <a:lnTo>
                    <a:pt x="357" y="41"/>
                  </a:lnTo>
                  <a:lnTo>
                    <a:pt x="357" y="44"/>
                  </a:lnTo>
                  <a:lnTo>
                    <a:pt x="357" y="48"/>
                  </a:lnTo>
                  <a:lnTo>
                    <a:pt x="357" y="51"/>
                  </a:lnTo>
                  <a:lnTo>
                    <a:pt x="361" y="51"/>
                  </a:lnTo>
                  <a:lnTo>
                    <a:pt x="361" y="48"/>
                  </a:lnTo>
                  <a:lnTo>
                    <a:pt x="361" y="44"/>
                  </a:lnTo>
                  <a:lnTo>
                    <a:pt x="361" y="41"/>
                  </a:lnTo>
                  <a:lnTo>
                    <a:pt x="361" y="38"/>
                  </a:lnTo>
                  <a:lnTo>
                    <a:pt x="361" y="34"/>
                  </a:lnTo>
                  <a:lnTo>
                    <a:pt x="362" y="31"/>
                  </a:lnTo>
                  <a:lnTo>
                    <a:pt x="362" y="28"/>
                  </a:lnTo>
                  <a:lnTo>
                    <a:pt x="36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66" name="Freeform 407">
              <a:extLst>
                <a:ext uri="{FF2B5EF4-FFF2-40B4-BE49-F238E27FC236}">
                  <a16:creationId xmlns:a16="http://schemas.microsoft.com/office/drawing/2014/main" id="{E89F5BB1-BA9E-30C1-BB06-6B53F67498F4}"/>
                </a:ext>
              </a:extLst>
            </p:cNvPr>
            <p:cNvSpPr>
              <a:spLocks noEditPoints="1"/>
            </p:cNvSpPr>
            <p:nvPr/>
          </p:nvSpPr>
          <p:spPr bwMode="auto">
            <a:xfrm>
              <a:off x="1432" y="1713"/>
              <a:ext cx="360" cy="51"/>
            </a:xfrm>
            <a:custGeom>
              <a:avLst/>
              <a:gdLst>
                <a:gd name="T0" fmla="*/ 360 w 360"/>
                <a:gd name="T1" fmla="*/ 21 h 51"/>
                <a:gd name="T2" fmla="*/ 358 w 360"/>
                <a:gd name="T3" fmla="*/ 14 h 51"/>
                <a:gd name="T4" fmla="*/ 358 w 360"/>
                <a:gd name="T5" fmla="*/ 8 h 51"/>
                <a:gd name="T6" fmla="*/ 358 w 360"/>
                <a:gd name="T7" fmla="*/ 3 h 51"/>
                <a:gd name="T8" fmla="*/ 353 w 360"/>
                <a:gd name="T9" fmla="*/ 0 h 51"/>
                <a:gd name="T10" fmla="*/ 355 w 360"/>
                <a:gd name="T11" fmla="*/ 6 h 51"/>
                <a:gd name="T12" fmla="*/ 355 w 360"/>
                <a:gd name="T13" fmla="*/ 11 h 51"/>
                <a:gd name="T14" fmla="*/ 356 w 360"/>
                <a:gd name="T15" fmla="*/ 18 h 51"/>
                <a:gd name="T16" fmla="*/ 356 w 360"/>
                <a:gd name="T17" fmla="*/ 24 h 51"/>
                <a:gd name="T18" fmla="*/ 356 w 360"/>
                <a:gd name="T19" fmla="*/ 31 h 51"/>
                <a:gd name="T20" fmla="*/ 355 w 360"/>
                <a:gd name="T21" fmla="*/ 38 h 51"/>
                <a:gd name="T22" fmla="*/ 355 w 360"/>
                <a:gd name="T23" fmla="*/ 44 h 51"/>
                <a:gd name="T24" fmla="*/ 355 w 360"/>
                <a:gd name="T25" fmla="*/ 51 h 51"/>
                <a:gd name="T26" fmla="*/ 358 w 360"/>
                <a:gd name="T27" fmla="*/ 48 h 51"/>
                <a:gd name="T28" fmla="*/ 358 w 360"/>
                <a:gd name="T29" fmla="*/ 41 h 51"/>
                <a:gd name="T30" fmla="*/ 358 w 360"/>
                <a:gd name="T31" fmla="*/ 34 h 51"/>
                <a:gd name="T32" fmla="*/ 360 w 360"/>
                <a:gd name="T33" fmla="*/ 28 h 51"/>
                <a:gd name="T34" fmla="*/ 2 w 360"/>
                <a:gd name="T35" fmla="*/ 0 h 51"/>
                <a:gd name="T36" fmla="*/ 0 w 360"/>
                <a:gd name="T37" fmla="*/ 6 h 51"/>
                <a:gd name="T38" fmla="*/ 0 w 360"/>
                <a:gd name="T39" fmla="*/ 11 h 51"/>
                <a:gd name="T40" fmla="*/ 0 w 360"/>
                <a:gd name="T41" fmla="*/ 18 h 51"/>
                <a:gd name="T42" fmla="*/ 0 w 360"/>
                <a:gd name="T43" fmla="*/ 24 h 51"/>
                <a:gd name="T44" fmla="*/ 0 w 360"/>
                <a:gd name="T45" fmla="*/ 31 h 51"/>
                <a:gd name="T46" fmla="*/ 0 w 360"/>
                <a:gd name="T47" fmla="*/ 38 h 51"/>
                <a:gd name="T48" fmla="*/ 0 w 360"/>
                <a:gd name="T49" fmla="*/ 44 h 51"/>
                <a:gd name="T50" fmla="*/ 2 w 360"/>
                <a:gd name="T51" fmla="*/ 51 h 51"/>
                <a:gd name="T52" fmla="*/ 4 w 360"/>
                <a:gd name="T53" fmla="*/ 48 h 51"/>
                <a:gd name="T54" fmla="*/ 4 w 360"/>
                <a:gd name="T55" fmla="*/ 41 h 51"/>
                <a:gd name="T56" fmla="*/ 4 w 360"/>
                <a:gd name="T57" fmla="*/ 34 h 51"/>
                <a:gd name="T58" fmla="*/ 4 w 360"/>
                <a:gd name="T59" fmla="*/ 28 h 51"/>
                <a:gd name="T60" fmla="*/ 4 w 360"/>
                <a:gd name="T61" fmla="*/ 21 h 51"/>
                <a:gd name="T62" fmla="*/ 4 w 360"/>
                <a:gd name="T63" fmla="*/ 14 h 51"/>
                <a:gd name="T64" fmla="*/ 4 w 360"/>
                <a:gd name="T65" fmla="*/ 8 h 51"/>
                <a:gd name="T66" fmla="*/ 4 w 360"/>
                <a:gd name="T67" fmla="*/ 3 h 51"/>
                <a:gd name="T68" fmla="*/ 2 w 36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0" h="51">
                  <a:moveTo>
                    <a:pt x="360" y="24"/>
                  </a:moveTo>
                  <a:lnTo>
                    <a:pt x="360" y="21"/>
                  </a:lnTo>
                  <a:lnTo>
                    <a:pt x="360" y="18"/>
                  </a:lnTo>
                  <a:lnTo>
                    <a:pt x="358" y="14"/>
                  </a:lnTo>
                  <a:lnTo>
                    <a:pt x="358" y="11"/>
                  </a:lnTo>
                  <a:lnTo>
                    <a:pt x="358" y="8"/>
                  </a:lnTo>
                  <a:lnTo>
                    <a:pt x="358" y="6"/>
                  </a:lnTo>
                  <a:lnTo>
                    <a:pt x="358" y="3"/>
                  </a:lnTo>
                  <a:lnTo>
                    <a:pt x="356" y="0"/>
                  </a:lnTo>
                  <a:lnTo>
                    <a:pt x="353" y="0"/>
                  </a:lnTo>
                  <a:lnTo>
                    <a:pt x="355" y="3"/>
                  </a:lnTo>
                  <a:lnTo>
                    <a:pt x="355" y="6"/>
                  </a:lnTo>
                  <a:lnTo>
                    <a:pt x="355" y="8"/>
                  </a:lnTo>
                  <a:lnTo>
                    <a:pt x="355" y="11"/>
                  </a:lnTo>
                  <a:lnTo>
                    <a:pt x="355" y="14"/>
                  </a:lnTo>
                  <a:lnTo>
                    <a:pt x="356" y="18"/>
                  </a:lnTo>
                  <a:lnTo>
                    <a:pt x="356" y="21"/>
                  </a:lnTo>
                  <a:lnTo>
                    <a:pt x="356" y="24"/>
                  </a:lnTo>
                  <a:lnTo>
                    <a:pt x="356" y="28"/>
                  </a:lnTo>
                  <a:lnTo>
                    <a:pt x="356" y="31"/>
                  </a:lnTo>
                  <a:lnTo>
                    <a:pt x="355" y="34"/>
                  </a:lnTo>
                  <a:lnTo>
                    <a:pt x="355" y="38"/>
                  </a:lnTo>
                  <a:lnTo>
                    <a:pt x="355" y="41"/>
                  </a:lnTo>
                  <a:lnTo>
                    <a:pt x="355" y="44"/>
                  </a:lnTo>
                  <a:lnTo>
                    <a:pt x="355" y="48"/>
                  </a:lnTo>
                  <a:lnTo>
                    <a:pt x="355" y="51"/>
                  </a:lnTo>
                  <a:lnTo>
                    <a:pt x="358" y="51"/>
                  </a:lnTo>
                  <a:lnTo>
                    <a:pt x="358" y="48"/>
                  </a:lnTo>
                  <a:lnTo>
                    <a:pt x="358" y="44"/>
                  </a:lnTo>
                  <a:lnTo>
                    <a:pt x="358" y="41"/>
                  </a:lnTo>
                  <a:lnTo>
                    <a:pt x="358" y="38"/>
                  </a:lnTo>
                  <a:lnTo>
                    <a:pt x="358" y="34"/>
                  </a:lnTo>
                  <a:lnTo>
                    <a:pt x="360" y="31"/>
                  </a:lnTo>
                  <a:lnTo>
                    <a:pt x="360" y="28"/>
                  </a:lnTo>
                  <a:lnTo>
                    <a:pt x="36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67" name="Freeform 408">
              <a:extLst>
                <a:ext uri="{FF2B5EF4-FFF2-40B4-BE49-F238E27FC236}">
                  <a16:creationId xmlns:a16="http://schemas.microsoft.com/office/drawing/2014/main" id="{33405FC2-A8AF-CFF3-AC35-F80B3FC9F8C3}"/>
                </a:ext>
              </a:extLst>
            </p:cNvPr>
            <p:cNvSpPr>
              <a:spLocks noEditPoints="1"/>
            </p:cNvSpPr>
            <p:nvPr/>
          </p:nvSpPr>
          <p:spPr bwMode="auto">
            <a:xfrm>
              <a:off x="1434" y="1713"/>
              <a:ext cx="356" cy="51"/>
            </a:xfrm>
            <a:custGeom>
              <a:avLst/>
              <a:gdLst>
                <a:gd name="T0" fmla="*/ 356 w 356"/>
                <a:gd name="T1" fmla="*/ 21 h 51"/>
                <a:gd name="T2" fmla="*/ 354 w 356"/>
                <a:gd name="T3" fmla="*/ 14 h 51"/>
                <a:gd name="T4" fmla="*/ 354 w 356"/>
                <a:gd name="T5" fmla="*/ 8 h 51"/>
                <a:gd name="T6" fmla="*/ 354 w 356"/>
                <a:gd name="T7" fmla="*/ 3 h 51"/>
                <a:gd name="T8" fmla="*/ 349 w 356"/>
                <a:gd name="T9" fmla="*/ 0 h 51"/>
                <a:gd name="T10" fmla="*/ 351 w 356"/>
                <a:gd name="T11" fmla="*/ 6 h 51"/>
                <a:gd name="T12" fmla="*/ 351 w 356"/>
                <a:gd name="T13" fmla="*/ 11 h 51"/>
                <a:gd name="T14" fmla="*/ 353 w 356"/>
                <a:gd name="T15" fmla="*/ 18 h 51"/>
                <a:gd name="T16" fmla="*/ 353 w 356"/>
                <a:gd name="T17" fmla="*/ 24 h 51"/>
                <a:gd name="T18" fmla="*/ 353 w 356"/>
                <a:gd name="T19" fmla="*/ 31 h 51"/>
                <a:gd name="T20" fmla="*/ 351 w 356"/>
                <a:gd name="T21" fmla="*/ 38 h 51"/>
                <a:gd name="T22" fmla="*/ 351 w 356"/>
                <a:gd name="T23" fmla="*/ 44 h 51"/>
                <a:gd name="T24" fmla="*/ 351 w 356"/>
                <a:gd name="T25" fmla="*/ 51 h 51"/>
                <a:gd name="T26" fmla="*/ 354 w 356"/>
                <a:gd name="T27" fmla="*/ 48 h 51"/>
                <a:gd name="T28" fmla="*/ 354 w 356"/>
                <a:gd name="T29" fmla="*/ 41 h 51"/>
                <a:gd name="T30" fmla="*/ 354 w 356"/>
                <a:gd name="T31" fmla="*/ 34 h 51"/>
                <a:gd name="T32" fmla="*/ 356 w 356"/>
                <a:gd name="T33" fmla="*/ 28 h 51"/>
                <a:gd name="T34" fmla="*/ 2 w 356"/>
                <a:gd name="T35" fmla="*/ 0 h 51"/>
                <a:gd name="T36" fmla="*/ 0 w 356"/>
                <a:gd name="T37" fmla="*/ 6 h 51"/>
                <a:gd name="T38" fmla="*/ 0 w 356"/>
                <a:gd name="T39" fmla="*/ 11 h 51"/>
                <a:gd name="T40" fmla="*/ 0 w 356"/>
                <a:gd name="T41" fmla="*/ 18 h 51"/>
                <a:gd name="T42" fmla="*/ 0 w 356"/>
                <a:gd name="T43" fmla="*/ 24 h 51"/>
                <a:gd name="T44" fmla="*/ 0 w 356"/>
                <a:gd name="T45" fmla="*/ 31 h 51"/>
                <a:gd name="T46" fmla="*/ 0 w 356"/>
                <a:gd name="T47" fmla="*/ 38 h 51"/>
                <a:gd name="T48" fmla="*/ 0 w 356"/>
                <a:gd name="T49" fmla="*/ 44 h 51"/>
                <a:gd name="T50" fmla="*/ 2 w 356"/>
                <a:gd name="T51" fmla="*/ 51 h 51"/>
                <a:gd name="T52" fmla="*/ 3 w 356"/>
                <a:gd name="T53" fmla="*/ 48 h 51"/>
                <a:gd name="T54" fmla="*/ 3 w 356"/>
                <a:gd name="T55" fmla="*/ 41 h 51"/>
                <a:gd name="T56" fmla="*/ 3 w 356"/>
                <a:gd name="T57" fmla="*/ 34 h 51"/>
                <a:gd name="T58" fmla="*/ 3 w 356"/>
                <a:gd name="T59" fmla="*/ 28 h 51"/>
                <a:gd name="T60" fmla="*/ 3 w 356"/>
                <a:gd name="T61" fmla="*/ 21 h 51"/>
                <a:gd name="T62" fmla="*/ 3 w 356"/>
                <a:gd name="T63" fmla="*/ 14 h 51"/>
                <a:gd name="T64" fmla="*/ 3 w 356"/>
                <a:gd name="T65" fmla="*/ 8 h 51"/>
                <a:gd name="T66" fmla="*/ 3 w 356"/>
                <a:gd name="T67" fmla="*/ 3 h 51"/>
                <a:gd name="T68" fmla="*/ 2 w 3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6" h="51">
                  <a:moveTo>
                    <a:pt x="356" y="24"/>
                  </a:moveTo>
                  <a:lnTo>
                    <a:pt x="356" y="21"/>
                  </a:lnTo>
                  <a:lnTo>
                    <a:pt x="356" y="18"/>
                  </a:lnTo>
                  <a:lnTo>
                    <a:pt x="354" y="14"/>
                  </a:lnTo>
                  <a:lnTo>
                    <a:pt x="354" y="11"/>
                  </a:lnTo>
                  <a:lnTo>
                    <a:pt x="354" y="8"/>
                  </a:lnTo>
                  <a:lnTo>
                    <a:pt x="354" y="6"/>
                  </a:lnTo>
                  <a:lnTo>
                    <a:pt x="354" y="3"/>
                  </a:lnTo>
                  <a:lnTo>
                    <a:pt x="353" y="0"/>
                  </a:lnTo>
                  <a:lnTo>
                    <a:pt x="349" y="0"/>
                  </a:lnTo>
                  <a:lnTo>
                    <a:pt x="351" y="3"/>
                  </a:lnTo>
                  <a:lnTo>
                    <a:pt x="351" y="6"/>
                  </a:lnTo>
                  <a:lnTo>
                    <a:pt x="351" y="8"/>
                  </a:lnTo>
                  <a:lnTo>
                    <a:pt x="351" y="11"/>
                  </a:lnTo>
                  <a:lnTo>
                    <a:pt x="351" y="14"/>
                  </a:lnTo>
                  <a:lnTo>
                    <a:pt x="353" y="18"/>
                  </a:lnTo>
                  <a:lnTo>
                    <a:pt x="353" y="21"/>
                  </a:lnTo>
                  <a:lnTo>
                    <a:pt x="353" y="24"/>
                  </a:lnTo>
                  <a:lnTo>
                    <a:pt x="353" y="28"/>
                  </a:lnTo>
                  <a:lnTo>
                    <a:pt x="353" y="31"/>
                  </a:lnTo>
                  <a:lnTo>
                    <a:pt x="351" y="34"/>
                  </a:lnTo>
                  <a:lnTo>
                    <a:pt x="351" y="38"/>
                  </a:lnTo>
                  <a:lnTo>
                    <a:pt x="351" y="41"/>
                  </a:lnTo>
                  <a:lnTo>
                    <a:pt x="351" y="44"/>
                  </a:lnTo>
                  <a:lnTo>
                    <a:pt x="351" y="48"/>
                  </a:lnTo>
                  <a:lnTo>
                    <a:pt x="351" y="51"/>
                  </a:lnTo>
                  <a:lnTo>
                    <a:pt x="354" y="51"/>
                  </a:lnTo>
                  <a:lnTo>
                    <a:pt x="354" y="48"/>
                  </a:lnTo>
                  <a:lnTo>
                    <a:pt x="354" y="44"/>
                  </a:lnTo>
                  <a:lnTo>
                    <a:pt x="354" y="41"/>
                  </a:lnTo>
                  <a:lnTo>
                    <a:pt x="354" y="38"/>
                  </a:lnTo>
                  <a:lnTo>
                    <a:pt x="354" y="34"/>
                  </a:lnTo>
                  <a:lnTo>
                    <a:pt x="356" y="31"/>
                  </a:lnTo>
                  <a:lnTo>
                    <a:pt x="356" y="28"/>
                  </a:lnTo>
                  <a:lnTo>
                    <a:pt x="35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68" name="Freeform 409">
              <a:extLst>
                <a:ext uri="{FF2B5EF4-FFF2-40B4-BE49-F238E27FC236}">
                  <a16:creationId xmlns:a16="http://schemas.microsoft.com/office/drawing/2014/main" id="{073B444B-E119-662B-4BEA-9590CAA56474}"/>
                </a:ext>
              </a:extLst>
            </p:cNvPr>
            <p:cNvSpPr>
              <a:spLocks noEditPoints="1"/>
            </p:cNvSpPr>
            <p:nvPr/>
          </p:nvSpPr>
          <p:spPr bwMode="auto">
            <a:xfrm>
              <a:off x="1436" y="1713"/>
              <a:ext cx="352" cy="51"/>
            </a:xfrm>
            <a:custGeom>
              <a:avLst/>
              <a:gdLst>
                <a:gd name="T0" fmla="*/ 352 w 352"/>
                <a:gd name="T1" fmla="*/ 21 h 51"/>
                <a:gd name="T2" fmla="*/ 351 w 352"/>
                <a:gd name="T3" fmla="*/ 14 h 51"/>
                <a:gd name="T4" fmla="*/ 351 w 352"/>
                <a:gd name="T5" fmla="*/ 8 h 51"/>
                <a:gd name="T6" fmla="*/ 351 w 352"/>
                <a:gd name="T7" fmla="*/ 3 h 51"/>
                <a:gd name="T8" fmla="*/ 346 w 352"/>
                <a:gd name="T9" fmla="*/ 0 h 51"/>
                <a:gd name="T10" fmla="*/ 347 w 352"/>
                <a:gd name="T11" fmla="*/ 6 h 51"/>
                <a:gd name="T12" fmla="*/ 347 w 352"/>
                <a:gd name="T13" fmla="*/ 11 h 51"/>
                <a:gd name="T14" fmla="*/ 349 w 352"/>
                <a:gd name="T15" fmla="*/ 18 h 51"/>
                <a:gd name="T16" fmla="*/ 349 w 352"/>
                <a:gd name="T17" fmla="*/ 24 h 51"/>
                <a:gd name="T18" fmla="*/ 349 w 352"/>
                <a:gd name="T19" fmla="*/ 31 h 51"/>
                <a:gd name="T20" fmla="*/ 347 w 352"/>
                <a:gd name="T21" fmla="*/ 38 h 51"/>
                <a:gd name="T22" fmla="*/ 347 w 352"/>
                <a:gd name="T23" fmla="*/ 44 h 51"/>
                <a:gd name="T24" fmla="*/ 347 w 352"/>
                <a:gd name="T25" fmla="*/ 51 h 51"/>
                <a:gd name="T26" fmla="*/ 351 w 352"/>
                <a:gd name="T27" fmla="*/ 48 h 51"/>
                <a:gd name="T28" fmla="*/ 351 w 352"/>
                <a:gd name="T29" fmla="*/ 41 h 51"/>
                <a:gd name="T30" fmla="*/ 351 w 352"/>
                <a:gd name="T31" fmla="*/ 34 h 51"/>
                <a:gd name="T32" fmla="*/ 352 w 352"/>
                <a:gd name="T33" fmla="*/ 28 h 51"/>
                <a:gd name="T34" fmla="*/ 1 w 352"/>
                <a:gd name="T35" fmla="*/ 0 h 51"/>
                <a:gd name="T36" fmla="*/ 0 w 352"/>
                <a:gd name="T37" fmla="*/ 6 h 51"/>
                <a:gd name="T38" fmla="*/ 0 w 352"/>
                <a:gd name="T39" fmla="*/ 11 h 51"/>
                <a:gd name="T40" fmla="*/ 0 w 352"/>
                <a:gd name="T41" fmla="*/ 18 h 51"/>
                <a:gd name="T42" fmla="*/ 0 w 352"/>
                <a:gd name="T43" fmla="*/ 24 h 51"/>
                <a:gd name="T44" fmla="*/ 0 w 352"/>
                <a:gd name="T45" fmla="*/ 31 h 51"/>
                <a:gd name="T46" fmla="*/ 0 w 352"/>
                <a:gd name="T47" fmla="*/ 38 h 51"/>
                <a:gd name="T48" fmla="*/ 0 w 352"/>
                <a:gd name="T49" fmla="*/ 44 h 51"/>
                <a:gd name="T50" fmla="*/ 1 w 352"/>
                <a:gd name="T51" fmla="*/ 51 h 51"/>
                <a:gd name="T52" fmla="*/ 3 w 352"/>
                <a:gd name="T53" fmla="*/ 48 h 51"/>
                <a:gd name="T54" fmla="*/ 3 w 352"/>
                <a:gd name="T55" fmla="*/ 41 h 51"/>
                <a:gd name="T56" fmla="*/ 3 w 352"/>
                <a:gd name="T57" fmla="*/ 34 h 51"/>
                <a:gd name="T58" fmla="*/ 3 w 352"/>
                <a:gd name="T59" fmla="*/ 28 h 51"/>
                <a:gd name="T60" fmla="*/ 3 w 352"/>
                <a:gd name="T61" fmla="*/ 21 h 51"/>
                <a:gd name="T62" fmla="*/ 3 w 352"/>
                <a:gd name="T63" fmla="*/ 14 h 51"/>
                <a:gd name="T64" fmla="*/ 3 w 352"/>
                <a:gd name="T65" fmla="*/ 8 h 51"/>
                <a:gd name="T66" fmla="*/ 3 w 352"/>
                <a:gd name="T67" fmla="*/ 3 h 51"/>
                <a:gd name="T68" fmla="*/ 1 w 3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2" h="51">
                  <a:moveTo>
                    <a:pt x="352" y="24"/>
                  </a:moveTo>
                  <a:lnTo>
                    <a:pt x="352" y="21"/>
                  </a:lnTo>
                  <a:lnTo>
                    <a:pt x="352" y="18"/>
                  </a:lnTo>
                  <a:lnTo>
                    <a:pt x="351" y="14"/>
                  </a:lnTo>
                  <a:lnTo>
                    <a:pt x="351" y="11"/>
                  </a:lnTo>
                  <a:lnTo>
                    <a:pt x="351" y="8"/>
                  </a:lnTo>
                  <a:lnTo>
                    <a:pt x="351" y="6"/>
                  </a:lnTo>
                  <a:lnTo>
                    <a:pt x="351" y="3"/>
                  </a:lnTo>
                  <a:lnTo>
                    <a:pt x="349" y="0"/>
                  </a:lnTo>
                  <a:lnTo>
                    <a:pt x="346" y="0"/>
                  </a:lnTo>
                  <a:lnTo>
                    <a:pt x="347" y="3"/>
                  </a:lnTo>
                  <a:lnTo>
                    <a:pt x="347" y="6"/>
                  </a:lnTo>
                  <a:lnTo>
                    <a:pt x="347" y="8"/>
                  </a:lnTo>
                  <a:lnTo>
                    <a:pt x="347" y="11"/>
                  </a:lnTo>
                  <a:lnTo>
                    <a:pt x="347" y="14"/>
                  </a:lnTo>
                  <a:lnTo>
                    <a:pt x="349" y="18"/>
                  </a:lnTo>
                  <a:lnTo>
                    <a:pt x="349" y="21"/>
                  </a:lnTo>
                  <a:lnTo>
                    <a:pt x="349" y="24"/>
                  </a:lnTo>
                  <a:lnTo>
                    <a:pt x="349" y="28"/>
                  </a:lnTo>
                  <a:lnTo>
                    <a:pt x="349" y="31"/>
                  </a:lnTo>
                  <a:lnTo>
                    <a:pt x="347" y="34"/>
                  </a:lnTo>
                  <a:lnTo>
                    <a:pt x="347" y="38"/>
                  </a:lnTo>
                  <a:lnTo>
                    <a:pt x="347" y="41"/>
                  </a:lnTo>
                  <a:lnTo>
                    <a:pt x="347" y="44"/>
                  </a:lnTo>
                  <a:lnTo>
                    <a:pt x="347" y="48"/>
                  </a:lnTo>
                  <a:lnTo>
                    <a:pt x="347" y="51"/>
                  </a:lnTo>
                  <a:lnTo>
                    <a:pt x="351" y="51"/>
                  </a:lnTo>
                  <a:lnTo>
                    <a:pt x="351" y="48"/>
                  </a:lnTo>
                  <a:lnTo>
                    <a:pt x="351" y="44"/>
                  </a:lnTo>
                  <a:lnTo>
                    <a:pt x="351" y="41"/>
                  </a:lnTo>
                  <a:lnTo>
                    <a:pt x="351" y="38"/>
                  </a:lnTo>
                  <a:lnTo>
                    <a:pt x="351" y="34"/>
                  </a:lnTo>
                  <a:lnTo>
                    <a:pt x="352" y="31"/>
                  </a:lnTo>
                  <a:lnTo>
                    <a:pt x="352" y="28"/>
                  </a:lnTo>
                  <a:lnTo>
                    <a:pt x="35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69" name="Freeform 410">
              <a:extLst>
                <a:ext uri="{FF2B5EF4-FFF2-40B4-BE49-F238E27FC236}">
                  <a16:creationId xmlns:a16="http://schemas.microsoft.com/office/drawing/2014/main" id="{4390A6EE-6DD4-A07B-5F89-72688DA397F2}"/>
                </a:ext>
              </a:extLst>
            </p:cNvPr>
            <p:cNvSpPr>
              <a:spLocks noEditPoints="1"/>
            </p:cNvSpPr>
            <p:nvPr/>
          </p:nvSpPr>
          <p:spPr bwMode="auto">
            <a:xfrm>
              <a:off x="1437" y="1713"/>
              <a:ext cx="350" cy="51"/>
            </a:xfrm>
            <a:custGeom>
              <a:avLst/>
              <a:gdLst>
                <a:gd name="T0" fmla="*/ 350 w 350"/>
                <a:gd name="T1" fmla="*/ 21 h 51"/>
                <a:gd name="T2" fmla="*/ 348 w 350"/>
                <a:gd name="T3" fmla="*/ 14 h 51"/>
                <a:gd name="T4" fmla="*/ 348 w 350"/>
                <a:gd name="T5" fmla="*/ 8 h 51"/>
                <a:gd name="T6" fmla="*/ 348 w 350"/>
                <a:gd name="T7" fmla="*/ 3 h 51"/>
                <a:gd name="T8" fmla="*/ 343 w 350"/>
                <a:gd name="T9" fmla="*/ 0 h 51"/>
                <a:gd name="T10" fmla="*/ 345 w 350"/>
                <a:gd name="T11" fmla="*/ 6 h 51"/>
                <a:gd name="T12" fmla="*/ 345 w 350"/>
                <a:gd name="T13" fmla="*/ 11 h 51"/>
                <a:gd name="T14" fmla="*/ 346 w 350"/>
                <a:gd name="T15" fmla="*/ 18 h 51"/>
                <a:gd name="T16" fmla="*/ 346 w 350"/>
                <a:gd name="T17" fmla="*/ 24 h 51"/>
                <a:gd name="T18" fmla="*/ 346 w 350"/>
                <a:gd name="T19" fmla="*/ 31 h 51"/>
                <a:gd name="T20" fmla="*/ 345 w 350"/>
                <a:gd name="T21" fmla="*/ 38 h 51"/>
                <a:gd name="T22" fmla="*/ 345 w 350"/>
                <a:gd name="T23" fmla="*/ 44 h 51"/>
                <a:gd name="T24" fmla="*/ 345 w 350"/>
                <a:gd name="T25" fmla="*/ 51 h 51"/>
                <a:gd name="T26" fmla="*/ 348 w 350"/>
                <a:gd name="T27" fmla="*/ 48 h 51"/>
                <a:gd name="T28" fmla="*/ 348 w 350"/>
                <a:gd name="T29" fmla="*/ 41 h 51"/>
                <a:gd name="T30" fmla="*/ 348 w 350"/>
                <a:gd name="T31" fmla="*/ 34 h 51"/>
                <a:gd name="T32" fmla="*/ 350 w 350"/>
                <a:gd name="T33" fmla="*/ 28 h 51"/>
                <a:gd name="T34" fmla="*/ 2 w 350"/>
                <a:gd name="T35" fmla="*/ 0 h 51"/>
                <a:gd name="T36" fmla="*/ 0 w 350"/>
                <a:gd name="T37" fmla="*/ 6 h 51"/>
                <a:gd name="T38" fmla="*/ 0 w 350"/>
                <a:gd name="T39" fmla="*/ 11 h 51"/>
                <a:gd name="T40" fmla="*/ 0 w 350"/>
                <a:gd name="T41" fmla="*/ 18 h 51"/>
                <a:gd name="T42" fmla="*/ 0 w 350"/>
                <a:gd name="T43" fmla="*/ 24 h 51"/>
                <a:gd name="T44" fmla="*/ 0 w 350"/>
                <a:gd name="T45" fmla="*/ 31 h 51"/>
                <a:gd name="T46" fmla="*/ 0 w 350"/>
                <a:gd name="T47" fmla="*/ 38 h 51"/>
                <a:gd name="T48" fmla="*/ 0 w 350"/>
                <a:gd name="T49" fmla="*/ 44 h 51"/>
                <a:gd name="T50" fmla="*/ 2 w 350"/>
                <a:gd name="T51" fmla="*/ 51 h 51"/>
                <a:gd name="T52" fmla="*/ 4 w 350"/>
                <a:gd name="T53" fmla="*/ 48 h 51"/>
                <a:gd name="T54" fmla="*/ 4 w 350"/>
                <a:gd name="T55" fmla="*/ 41 h 51"/>
                <a:gd name="T56" fmla="*/ 4 w 350"/>
                <a:gd name="T57" fmla="*/ 34 h 51"/>
                <a:gd name="T58" fmla="*/ 4 w 350"/>
                <a:gd name="T59" fmla="*/ 28 h 51"/>
                <a:gd name="T60" fmla="*/ 4 w 350"/>
                <a:gd name="T61" fmla="*/ 21 h 51"/>
                <a:gd name="T62" fmla="*/ 4 w 350"/>
                <a:gd name="T63" fmla="*/ 14 h 51"/>
                <a:gd name="T64" fmla="*/ 4 w 350"/>
                <a:gd name="T65" fmla="*/ 8 h 51"/>
                <a:gd name="T66" fmla="*/ 4 w 350"/>
                <a:gd name="T67" fmla="*/ 3 h 51"/>
                <a:gd name="T68" fmla="*/ 2 w 35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51">
                  <a:moveTo>
                    <a:pt x="350" y="24"/>
                  </a:moveTo>
                  <a:lnTo>
                    <a:pt x="350" y="21"/>
                  </a:lnTo>
                  <a:lnTo>
                    <a:pt x="350" y="18"/>
                  </a:lnTo>
                  <a:lnTo>
                    <a:pt x="348" y="14"/>
                  </a:lnTo>
                  <a:lnTo>
                    <a:pt x="348" y="11"/>
                  </a:lnTo>
                  <a:lnTo>
                    <a:pt x="348" y="8"/>
                  </a:lnTo>
                  <a:lnTo>
                    <a:pt x="348" y="6"/>
                  </a:lnTo>
                  <a:lnTo>
                    <a:pt x="348" y="3"/>
                  </a:lnTo>
                  <a:lnTo>
                    <a:pt x="346" y="0"/>
                  </a:lnTo>
                  <a:lnTo>
                    <a:pt x="343" y="0"/>
                  </a:lnTo>
                  <a:lnTo>
                    <a:pt x="345" y="3"/>
                  </a:lnTo>
                  <a:lnTo>
                    <a:pt x="345" y="6"/>
                  </a:lnTo>
                  <a:lnTo>
                    <a:pt x="345" y="8"/>
                  </a:lnTo>
                  <a:lnTo>
                    <a:pt x="345" y="11"/>
                  </a:lnTo>
                  <a:lnTo>
                    <a:pt x="345" y="14"/>
                  </a:lnTo>
                  <a:lnTo>
                    <a:pt x="346" y="18"/>
                  </a:lnTo>
                  <a:lnTo>
                    <a:pt x="346" y="21"/>
                  </a:lnTo>
                  <a:lnTo>
                    <a:pt x="346" y="24"/>
                  </a:lnTo>
                  <a:lnTo>
                    <a:pt x="346" y="28"/>
                  </a:lnTo>
                  <a:lnTo>
                    <a:pt x="346" y="31"/>
                  </a:lnTo>
                  <a:lnTo>
                    <a:pt x="346" y="34"/>
                  </a:lnTo>
                  <a:lnTo>
                    <a:pt x="345" y="38"/>
                  </a:lnTo>
                  <a:lnTo>
                    <a:pt x="345" y="41"/>
                  </a:lnTo>
                  <a:lnTo>
                    <a:pt x="345" y="44"/>
                  </a:lnTo>
                  <a:lnTo>
                    <a:pt x="345" y="48"/>
                  </a:lnTo>
                  <a:lnTo>
                    <a:pt x="345" y="51"/>
                  </a:lnTo>
                  <a:lnTo>
                    <a:pt x="348" y="51"/>
                  </a:lnTo>
                  <a:lnTo>
                    <a:pt x="348" y="48"/>
                  </a:lnTo>
                  <a:lnTo>
                    <a:pt x="348" y="44"/>
                  </a:lnTo>
                  <a:lnTo>
                    <a:pt x="348" y="41"/>
                  </a:lnTo>
                  <a:lnTo>
                    <a:pt x="348" y="38"/>
                  </a:lnTo>
                  <a:lnTo>
                    <a:pt x="348" y="34"/>
                  </a:lnTo>
                  <a:lnTo>
                    <a:pt x="350" y="31"/>
                  </a:lnTo>
                  <a:lnTo>
                    <a:pt x="350" y="28"/>
                  </a:lnTo>
                  <a:lnTo>
                    <a:pt x="35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70" name="Freeform 411">
              <a:extLst>
                <a:ext uri="{FF2B5EF4-FFF2-40B4-BE49-F238E27FC236}">
                  <a16:creationId xmlns:a16="http://schemas.microsoft.com/office/drawing/2014/main" id="{5A5D26CC-5B14-806C-32ED-B44BBE096B62}"/>
                </a:ext>
              </a:extLst>
            </p:cNvPr>
            <p:cNvSpPr>
              <a:spLocks noEditPoints="1"/>
            </p:cNvSpPr>
            <p:nvPr/>
          </p:nvSpPr>
          <p:spPr bwMode="auto">
            <a:xfrm>
              <a:off x="1439" y="1713"/>
              <a:ext cx="346" cy="51"/>
            </a:xfrm>
            <a:custGeom>
              <a:avLst/>
              <a:gdLst>
                <a:gd name="T0" fmla="*/ 346 w 346"/>
                <a:gd name="T1" fmla="*/ 21 h 51"/>
                <a:gd name="T2" fmla="*/ 344 w 346"/>
                <a:gd name="T3" fmla="*/ 14 h 51"/>
                <a:gd name="T4" fmla="*/ 344 w 346"/>
                <a:gd name="T5" fmla="*/ 8 h 51"/>
                <a:gd name="T6" fmla="*/ 344 w 346"/>
                <a:gd name="T7" fmla="*/ 3 h 51"/>
                <a:gd name="T8" fmla="*/ 339 w 346"/>
                <a:gd name="T9" fmla="*/ 0 h 51"/>
                <a:gd name="T10" fmla="*/ 341 w 346"/>
                <a:gd name="T11" fmla="*/ 6 h 51"/>
                <a:gd name="T12" fmla="*/ 341 w 346"/>
                <a:gd name="T13" fmla="*/ 11 h 51"/>
                <a:gd name="T14" fmla="*/ 343 w 346"/>
                <a:gd name="T15" fmla="*/ 18 h 51"/>
                <a:gd name="T16" fmla="*/ 343 w 346"/>
                <a:gd name="T17" fmla="*/ 24 h 51"/>
                <a:gd name="T18" fmla="*/ 343 w 346"/>
                <a:gd name="T19" fmla="*/ 31 h 51"/>
                <a:gd name="T20" fmla="*/ 341 w 346"/>
                <a:gd name="T21" fmla="*/ 38 h 51"/>
                <a:gd name="T22" fmla="*/ 341 w 346"/>
                <a:gd name="T23" fmla="*/ 44 h 51"/>
                <a:gd name="T24" fmla="*/ 341 w 346"/>
                <a:gd name="T25" fmla="*/ 51 h 51"/>
                <a:gd name="T26" fmla="*/ 344 w 346"/>
                <a:gd name="T27" fmla="*/ 48 h 51"/>
                <a:gd name="T28" fmla="*/ 344 w 346"/>
                <a:gd name="T29" fmla="*/ 41 h 51"/>
                <a:gd name="T30" fmla="*/ 344 w 346"/>
                <a:gd name="T31" fmla="*/ 34 h 51"/>
                <a:gd name="T32" fmla="*/ 346 w 346"/>
                <a:gd name="T33" fmla="*/ 28 h 51"/>
                <a:gd name="T34" fmla="*/ 2 w 346"/>
                <a:gd name="T35" fmla="*/ 0 h 51"/>
                <a:gd name="T36" fmla="*/ 0 w 346"/>
                <a:gd name="T37" fmla="*/ 6 h 51"/>
                <a:gd name="T38" fmla="*/ 0 w 346"/>
                <a:gd name="T39" fmla="*/ 11 h 51"/>
                <a:gd name="T40" fmla="*/ 0 w 346"/>
                <a:gd name="T41" fmla="*/ 18 h 51"/>
                <a:gd name="T42" fmla="*/ 0 w 346"/>
                <a:gd name="T43" fmla="*/ 24 h 51"/>
                <a:gd name="T44" fmla="*/ 0 w 346"/>
                <a:gd name="T45" fmla="*/ 31 h 51"/>
                <a:gd name="T46" fmla="*/ 0 w 346"/>
                <a:gd name="T47" fmla="*/ 38 h 51"/>
                <a:gd name="T48" fmla="*/ 0 w 346"/>
                <a:gd name="T49" fmla="*/ 44 h 51"/>
                <a:gd name="T50" fmla="*/ 2 w 346"/>
                <a:gd name="T51" fmla="*/ 51 h 51"/>
                <a:gd name="T52" fmla="*/ 3 w 346"/>
                <a:gd name="T53" fmla="*/ 48 h 51"/>
                <a:gd name="T54" fmla="*/ 3 w 346"/>
                <a:gd name="T55" fmla="*/ 41 h 51"/>
                <a:gd name="T56" fmla="*/ 3 w 346"/>
                <a:gd name="T57" fmla="*/ 34 h 51"/>
                <a:gd name="T58" fmla="*/ 3 w 346"/>
                <a:gd name="T59" fmla="*/ 28 h 51"/>
                <a:gd name="T60" fmla="*/ 3 w 346"/>
                <a:gd name="T61" fmla="*/ 21 h 51"/>
                <a:gd name="T62" fmla="*/ 3 w 346"/>
                <a:gd name="T63" fmla="*/ 14 h 51"/>
                <a:gd name="T64" fmla="*/ 3 w 346"/>
                <a:gd name="T65" fmla="*/ 8 h 51"/>
                <a:gd name="T66" fmla="*/ 3 w 346"/>
                <a:gd name="T67" fmla="*/ 3 h 51"/>
                <a:gd name="T68" fmla="*/ 2 w 3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6" h="51">
                  <a:moveTo>
                    <a:pt x="346" y="24"/>
                  </a:moveTo>
                  <a:lnTo>
                    <a:pt x="346" y="21"/>
                  </a:lnTo>
                  <a:lnTo>
                    <a:pt x="346" y="18"/>
                  </a:lnTo>
                  <a:lnTo>
                    <a:pt x="344" y="14"/>
                  </a:lnTo>
                  <a:lnTo>
                    <a:pt x="344" y="11"/>
                  </a:lnTo>
                  <a:lnTo>
                    <a:pt x="344" y="8"/>
                  </a:lnTo>
                  <a:lnTo>
                    <a:pt x="344" y="6"/>
                  </a:lnTo>
                  <a:lnTo>
                    <a:pt x="344" y="3"/>
                  </a:lnTo>
                  <a:lnTo>
                    <a:pt x="343" y="0"/>
                  </a:lnTo>
                  <a:lnTo>
                    <a:pt x="339" y="0"/>
                  </a:lnTo>
                  <a:lnTo>
                    <a:pt x="341" y="3"/>
                  </a:lnTo>
                  <a:lnTo>
                    <a:pt x="341" y="6"/>
                  </a:lnTo>
                  <a:lnTo>
                    <a:pt x="341" y="8"/>
                  </a:lnTo>
                  <a:lnTo>
                    <a:pt x="341" y="11"/>
                  </a:lnTo>
                  <a:lnTo>
                    <a:pt x="341" y="14"/>
                  </a:lnTo>
                  <a:lnTo>
                    <a:pt x="343" y="18"/>
                  </a:lnTo>
                  <a:lnTo>
                    <a:pt x="343" y="21"/>
                  </a:lnTo>
                  <a:lnTo>
                    <a:pt x="343" y="24"/>
                  </a:lnTo>
                  <a:lnTo>
                    <a:pt x="343" y="28"/>
                  </a:lnTo>
                  <a:lnTo>
                    <a:pt x="343" y="31"/>
                  </a:lnTo>
                  <a:lnTo>
                    <a:pt x="343" y="34"/>
                  </a:lnTo>
                  <a:lnTo>
                    <a:pt x="341" y="38"/>
                  </a:lnTo>
                  <a:lnTo>
                    <a:pt x="341" y="41"/>
                  </a:lnTo>
                  <a:lnTo>
                    <a:pt x="341" y="44"/>
                  </a:lnTo>
                  <a:lnTo>
                    <a:pt x="341" y="48"/>
                  </a:lnTo>
                  <a:lnTo>
                    <a:pt x="341" y="51"/>
                  </a:lnTo>
                  <a:lnTo>
                    <a:pt x="344" y="51"/>
                  </a:lnTo>
                  <a:lnTo>
                    <a:pt x="344" y="48"/>
                  </a:lnTo>
                  <a:lnTo>
                    <a:pt x="344" y="44"/>
                  </a:lnTo>
                  <a:lnTo>
                    <a:pt x="344" y="41"/>
                  </a:lnTo>
                  <a:lnTo>
                    <a:pt x="344" y="38"/>
                  </a:lnTo>
                  <a:lnTo>
                    <a:pt x="344" y="34"/>
                  </a:lnTo>
                  <a:lnTo>
                    <a:pt x="346" y="31"/>
                  </a:lnTo>
                  <a:lnTo>
                    <a:pt x="346" y="28"/>
                  </a:lnTo>
                  <a:lnTo>
                    <a:pt x="34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71" name="Freeform 412">
              <a:extLst>
                <a:ext uri="{FF2B5EF4-FFF2-40B4-BE49-F238E27FC236}">
                  <a16:creationId xmlns:a16="http://schemas.microsoft.com/office/drawing/2014/main" id="{F65991B8-2F03-EE2B-C0F8-57BF5E766A24}"/>
                </a:ext>
              </a:extLst>
            </p:cNvPr>
            <p:cNvSpPr>
              <a:spLocks noEditPoints="1"/>
            </p:cNvSpPr>
            <p:nvPr/>
          </p:nvSpPr>
          <p:spPr bwMode="auto">
            <a:xfrm>
              <a:off x="1441" y="1713"/>
              <a:ext cx="342" cy="51"/>
            </a:xfrm>
            <a:custGeom>
              <a:avLst/>
              <a:gdLst>
                <a:gd name="T0" fmla="*/ 342 w 342"/>
                <a:gd name="T1" fmla="*/ 21 h 51"/>
                <a:gd name="T2" fmla="*/ 341 w 342"/>
                <a:gd name="T3" fmla="*/ 14 h 51"/>
                <a:gd name="T4" fmla="*/ 341 w 342"/>
                <a:gd name="T5" fmla="*/ 8 h 51"/>
                <a:gd name="T6" fmla="*/ 341 w 342"/>
                <a:gd name="T7" fmla="*/ 3 h 51"/>
                <a:gd name="T8" fmla="*/ 336 w 342"/>
                <a:gd name="T9" fmla="*/ 0 h 51"/>
                <a:gd name="T10" fmla="*/ 337 w 342"/>
                <a:gd name="T11" fmla="*/ 6 h 51"/>
                <a:gd name="T12" fmla="*/ 337 w 342"/>
                <a:gd name="T13" fmla="*/ 11 h 51"/>
                <a:gd name="T14" fmla="*/ 339 w 342"/>
                <a:gd name="T15" fmla="*/ 18 h 51"/>
                <a:gd name="T16" fmla="*/ 339 w 342"/>
                <a:gd name="T17" fmla="*/ 24 h 51"/>
                <a:gd name="T18" fmla="*/ 339 w 342"/>
                <a:gd name="T19" fmla="*/ 31 h 51"/>
                <a:gd name="T20" fmla="*/ 337 w 342"/>
                <a:gd name="T21" fmla="*/ 38 h 51"/>
                <a:gd name="T22" fmla="*/ 337 w 342"/>
                <a:gd name="T23" fmla="*/ 44 h 51"/>
                <a:gd name="T24" fmla="*/ 337 w 342"/>
                <a:gd name="T25" fmla="*/ 51 h 51"/>
                <a:gd name="T26" fmla="*/ 341 w 342"/>
                <a:gd name="T27" fmla="*/ 48 h 51"/>
                <a:gd name="T28" fmla="*/ 341 w 342"/>
                <a:gd name="T29" fmla="*/ 41 h 51"/>
                <a:gd name="T30" fmla="*/ 341 w 342"/>
                <a:gd name="T31" fmla="*/ 34 h 51"/>
                <a:gd name="T32" fmla="*/ 342 w 342"/>
                <a:gd name="T33" fmla="*/ 28 h 51"/>
                <a:gd name="T34" fmla="*/ 1 w 342"/>
                <a:gd name="T35" fmla="*/ 0 h 51"/>
                <a:gd name="T36" fmla="*/ 0 w 342"/>
                <a:gd name="T37" fmla="*/ 6 h 51"/>
                <a:gd name="T38" fmla="*/ 0 w 342"/>
                <a:gd name="T39" fmla="*/ 11 h 51"/>
                <a:gd name="T40" fmla="*/ 0 w 342"/>
                <a:gd name="T41" fmla="*/ 18 h 51"/>
                <a:gd name="T42" fmla="*/ 0 w 342"/>
                <a:gd name="T43" fmla="*/ 24 h 51"/>
                <a:gd name="T44" fmla="*/ 0 w 342"/>
                <a:gd name="T45" fmla="*/ 31 h 51"/>
                <a:gd name="T46" fmla="*/ 0 w 342"/>
                <a:gd name="T47" fmla="*/ 38 h 51"/>
                <a:gd name="T48" fmla="*/ 0 w 342"/>
                <a:gd name="T49" fmla="*/ 44 h 51"/>
                <a:gd name="T50" fmla="*/ 1 w 342"/>
                <a:gd name="T51" fmla="*/ 51 h 51"/>
                <a:gd name="T52" fmla="*/ 3 w 342"/>
                <a:gd name="T53" fmla="*/ 48 h 51"/>
                <a:gd name="T54" fmla="*/ 3 w 342"/>
                <a:gd name="T55" fmla="*/ 41 h 51"/>
                <a:gd name="T56" fmla="*/ 3 w 342"/>
                <a:gd name="T57" fmla="*/ 34 h 51"/>
                <a:gd name="T58" fmla="*/ 3 w 342"/>
                <a:gd name="T59" fmla="*/ 28 h 51"/>
                <a:gd name="T60" fmla="*/ 3 w 342"/>
                <a:gd name="T61" fmla="*/ 21 h 51"/>
                <a:gd name="T62" fmla="*/ 3 w 342"/>
                <a:gd name="T63" fmla="*/ 14 h 51"/>
                <a:gd name="T64" fmla="*/ 3 w 342"/>
                <a:gd name="T65" fmla="*/ 8 h 51"/>
                <a:gd name="T66" fmla="*/ 3 w 342"/>
                <a:gd name="T67" fmla="*/ 3 h 51"/>
                <a:gd name="T68" fmla="*/ 1 w 3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2" h="51">
                  <a:moveTo>
                    <a:pt x="342" y="24"/>
                  </a:moveTo>
                  <a:lnTo>
                    <a:pt x="342" y="21"/>
                  </a:lnTo>
                  <a:lnTo>
                    <a:pt x="342" y="18"/>
                  </a:lnTo>
                  <a:lnTo>
                    <a:pt x="341" y="14"/>
                  </a:lnTo>
                  <a:lnTo>
                    <a:pt x="341" y="11"/>
                  </a:lnTo>
                  <a:lnTo>
                    <a:pt x="341" y="8"/>
                  </a:lnTo>
                  <a:lnTo>
                    <a:pt x="341" y="6"/>
                  </a:lnTo>
                  <a:lnTo>
                    <a:pt x="341" y="3"/>
                  </a:lnTo>
                  <a:lnTo>
                    <a:pt x="339" y="0"/>
                  </a:lnTo>
                  <a:lnTo>
                    <a:pt x="336" y="0"/>
                  </a:lnTo>
                  <a:lnTo>
                    <a:pt x="337" y="3"/>
                  </a:lnTo>
                  <a:lnTo>
                    <a:pt x="337" y="6"/>
                  </a:lnTo>
                  <a:lnTo>
                    <a:pt x="337" y="8"/>
                  </a:lnTo>
                  <a:lnTo>
                    <a:pt x="337" y="11"/>
                  </a:lnTo>
                  <a:lnTo>
                    <a:pt x="337" y="14"/>
                  </a:lnTo>
                  <a:lnTo>
                    <a:pt x="339" y="18"/>
                  </a:lnTo>
                  <a:lnTo>
                    <a:pt x="339" y="21"/>
                  </a:lnTo>
                  <a:lnTo>
                    <a:pt x="339" y="24"/>
                  </a:lnTo>
                  <a:lnTo>
                    <a:pt x="339" y="28"/>
                  </a:lnTo>
                  <a:lnTo>
                    <a:pt x="339" y="31"/>
                  </a:lnTo>
                  <a:lnTo>
                    <a:pt x="339" y="34"/>
                  </a:lnTo>
                  <a:lnTo>
                    <a:pt x="337" y="38"/>
                  </a:lnTo>
                  <a:lnTo>
                    <a:pt x="337" y="41"/>
                  </a:lnTo>
                  <a:lnTo>
                    <a:pt x="337" y="44"/>
                  </a:lnTo>
                  <a:lnTo>
                    <a:pt x="337" y="48"/>
                  </a:lnTo>
                  <a:lnTo>
                    <a:pt x="337" y="51"/>
                  </a:lnTo>
                  <a:lnTo>
                    <a:pt x="341" y="51"/>
                  </a:lnTo>
                  <a:lnTo>
                    <a:pt x="341" y="48"/>
                  </a:lnTo>
                  <a:lnTo>
                    <a:pt x="341" y="44"/>
                  </a:lnTo>
                  <a:lnTo>
                    <a:pt x="341" y="41"/>
                  </a:lnTo>
                  <a:lnTo>
                    <a:pt x="341" y="38"/>
                  </a:lnTo>
                  <a:lnTo>
                    <a:pt x="341" y="34"/>
                  </a:lnTo>
                  <a:lnTo>
                    <a:pt x="342" y="31"/>
                  </a:lnTo>
                  <a:lnTo>
                    <a:pt x="342" y="28"/>
                  </a:lnTo>
                  <a:lnTo>
                    <a:pt x="34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72" name="Freeform 413">
              <a:extLst>
                <a:ext uri="{FF2B5EF4-FFF2-40B4-BE49-F238E27FC236}">
                  <a16:creationId xmlns:a16="http://schemas.microsoft.com/office/drawing/2014/main" id="{FB2097B1-C2E0-8AE0-1094-F3A5FAA388E0}"/>
                </a:ext>
              </a:extLst>
            </p:cNvPr>
            <p:cNvSpPr>
              <a:spLocks noEditPoints="1"/>
            </p:cNvSpPr>
            <p:nvPr/>
          </p:nvSpPr>
          <p:spPr bwMode="auto">
            <a:xfrm>
              <a:off x="1442" y="1713"/>
              <a:ext cx="340" cy="51"/>
            </a:xfrm>
            <a:custGeom>
              <a:avLst/>
              <a:gdLst>
                <a:gd name="T0" fmla="*/ 340 w 340"/>
                <a:gd name="T1" fmla="*/ 21 h 51"/>
                <a:gd name="T2" fmla="*/ 338 w 340"/>
                <a:gd name="T3" fmla="*/ 14 h 51"/>
                <a:gd name="T4" fmla="*/ 338 w 340"/>
                <a:gd name="T5" fmla="*/ 8 h 51"/>
                <a:gd name="T6" fmla="*/ 338 w 340"/>
                <a:gd name="T7" fmla="*/ 3 h 51"/>
                <a:gd name="T8" fmla="*/ 333 w 340"/>
                <a:gd name="T9" fmla="*/ 0 h 51"/>
                <a:gd name="T10" fmla="*/ 335 w 340"/>
                <a:gd name="T11" fmla="*/ 6 h 51"/>
                <a:gd name="T12" fmla="*/ 335 w 340"/>
                <a:gd name="T13" fmla="*/ 11 h 51"/>
                <a:gd name="T14" fmla="*/ 336 w 340"/>
                <a:gd name="T15" fmla="*/ 18 h 51"/>
                <a:gd name="T16" fmla="*/ 336 w 340"/>
                <a:gd name="T17" fmla="*/ 24 h 51"/>
                <a:gd name="T18" fmla="*/ 336 w 340"/>
                <a:gd name="T19" fmla="*/ 31 h 51"/>
                <a:gd name="T20" fmla="*/ 335 w 340"/>
                <a:gd name="T21" fmla="*/ 38 h 51"/>
                <a:gd name="T22" fmla="*/ 335 w 340"/>
                <a:gd name="T23" fmla="*/ 44 h 51"/>
                <a:gd name="T24" fmla="*/ 335 w 340"/>
                <a:gd name="T25" fmla="*/ 51 h 51"/>
                <a:gd name="T26" fmla="*/ 338 w 340"/>
                <a:gd name="T27" fmla="*/ 48 h 51"/>
                <a:gd name="T28" fmla="*/ 338 w 340"/>
                <a:gd name="T29" fmla="*/ 41 h 51"/>
                <a:gd name="T30" fmla="*/ 340 w 340"/>
                <a:gd name="T31" fmla="*/ 34 h 51"/>
                <a:gd name="T32" fmla="*/ 340 w 340"/>
                <a:gd name="T33" fmla="*/ 28 h 51"/>
                <a:gd name="T34" fmla="*/ 2 w 340"/>
                <a:gd name="T35" fmla="*/ 0 h 51"/>
                <a:gd name="T36" fmla="*/ 0 w 340"/>
                <a:gd name="T37" fmla="*/ 6 h 51"/>
                <a:gd name="T38" fmla="*/ 0 w 340"/>
                <a:gd name="T39" fmla="*/ 11 h 51"/>
                <a:gd name="T40" fmla="*/ 0 w 340"/>
                <a:gd name="T41" fmla="*/ 18 h 51"/>
                <a:gd name="T42" fmla="*/ 0 w 340"/>
                <a:gd name="T43" fmla="*/ 24 h 51"/>
                <a:gd name="T44" fmla="*/ 0 w 340"/>
                <a:gd name="T45" fmla="*/ 31 h 51"/>
                <a:gd name="T46" fmla="*/ 0 w 340"/>
                <a:gd name="T47" fmla="*/ 38 h 51"/>
                <a:gd name="T48" fmla="*/ 0 w 340"/>
                <a:gd name="T49" fmla="*/ 44 h 51"/>
                <a:gd name="T50" fmla="*/ 2 w 340"/>
                <a:gd name="T51" fmla="*/ 51 h 51"/>
                <a:gd name="T52" fmla="*/ 4 w 340"/>
                <a:gd name="T53" fmla="*/ 48 h 51"/>
                <a:gd name="T54" fmla="*/ 4 w 340"/>
                <a:gd name="T55" fmla="*/ 41 h 51"/>
                <a:gd name="T56" fmla="*/ 4 w 340"/>
                <a:gd name="T57" fmla="*/ 34 h 51"/>
                <a:gd name="T58" fmla="*/ 4 w 340"/>
                <a:gd name="T59" fmla="*/ 28 h 51"/>
                <a:gd name="T60" fmla="*/ 4 w 340"/>
                <a:gd name="T61" fmla="*/ 21 h 51"/>
                <a:gd name="T62" fmla="*/ 4 w 340"/>
                <a:gd name="T63" fmla="*/ 14 h 51"/>
                <a:gd name="T64" fmla="*/ 4 w 340"/>
                <a:gd name="T65" fmla="*/ 8 h 51"/>
                <a:gd name="T66" fmla="*/ 4 w 340"/>
                <a:gd name="T67" fmla="*/ 3 h 51"/>
                <a:gd name="T68" fmla="*/ 2 w 34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0" h="51">
                  <a:moveTo>
                    <a:pt x="340" y="24"/>
                  </a:moveTo>
                  <a:lnTo>
                    <a:pt x="340" y="21"/>
                  </a:lnTo>
                  <a:lnTo>
                    <a:pt x="340" y="18"/>
                  </a:lnTo>
                  <a:lnTo>
                    <a:pt x="338" y="14"/>
                  </a:lnTo>
                  <a:lnTo>
                    <a:pt x="338" y="11"/>
                  </a:lnTo>
                  <a:lnTo>
                    <a:pt x="338" y="8"/>
                  </a:lnTo>
                  <a:lnTo>
                    <a:pt x="338" y="6"/>
                  </a:lnTo>
                  <a:lnTo>
                    <a:pt x="338" y="3"/>
                  </a:lnTo>
                  <a:lnTo>
                    <a:pt x="336" y="0"/>
                  </a:lnTo>
                  <a:lnTo>
                    <a:pt x="333" y="0"/>
                  </a:lnTo>
                  <a:lnTo>
                    <a:pt x="335" y="3"/>
                  </a:lnTo>
                  <a:lnTo>
                    <a:pt x="335" y="6"/>
                  </a:lnTo>
                  <a:lnTo>
                    <a:pt x="335" y="8"/>
                  </a:lnTo>
                  <a:lnTo>
                    <a:pt x="335" y="11"/>
                  </a:lnTo>
                  <a:lnTo>
                    <a:pt x="335" y="14"/>
                  </a:lnTo>
                  <a:lnTo>
                    <a:pt x="336" y="18"/>
                  </a:lnTo>
                  <a:lnTo>
                    <a:pt x="336" y="21"/>
                  </a:lnTo>
                  <a:lnTo>
                    <a:pt x="336" y="24"/>
                  </a:lnTo>
                  <a:lnTo>
                    <a:pt x="336" y="28"/>
                  </a:lnTo>
                  <a:lnTo>
                    <a:pt x="336" y="31"/>
                  </a:lnTo>
                  <a:lnTo>
                    <a:pt x="336" y="34"/>
                  </a:lnTo>
                  <a:lnTo>
                    <a:pt x="335" y="38"/>
                  </a:lnTo>
                  <a:lnTo>
                    <a:pt x="335" y="41"/>
                  </a:lnTo>
                  <a:lnTo>
                    <a:pt x="335" y="44"/>
                  </a:lnTo>
                  <a:lnTo>
                    <a:pt x="335" y="48"/>
                  </a:lnTo>
                  <a:lnTo>
                    <a:pt x="335" y="51"/>
                  </a:lnTo>
                  <a:lnTo>
                    <a:pt x="338" y="51"/>
                  </a:lnTo>
                  <a:lnTo>
                    <a:pt x="338" y="48"/>
                  </a:lnTo>
                  <a:lnTo>
                    <a:pt x="338" y="44"/>
                  </a:lnTo>
                  <a:lnTo>
                    <a:pt x="338" y="41"/>
                  </a:lnTo>
                  <a:lnTo>
                    <a:pt x="338" y="38"/>
                  </a:lnTo>
                  <a:lnTo>
                    <a:pt x="340" y="34"/>
                  </a:lnTo>
                  <a:lnTo>
                    <a:pt x="340" y="31"/>
                  </a:lnTo>
                  <a:lnTo>
                    <a:pt x="340" y="28"/>
                  </a:lnTo>
                  <a:lnTo>
                    <a:pt x="34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2" y="24"/>
                  </a:lnTo>
                  <a:lnTo>
                    <a:pt x="4" y="21"/>
                  </a:lnTo>
                  <a:lnTo>
                    <a:pt x="4" y="18"/>
                  </a:lnTo>
                  <a:lnTo>
                    <a:pt x="4" y="14"/>
                  </a:lnTo>
                  <a:lnTo>
                    <a:pt x="4" y="11"/>
                  </a:lnTo>
                  <a:lnTo>
                    <a:pt x="4" y="8"/>
                  </a:lnTo>
                  <a:lnTo>
                    <a:pt x="4" y="6"/>
                  </a:lnTo>
                  <a:lnTo>
                    <a:pt x="4" y="3"/>
                  </a:lnTo>
                  <a:lnTo>
                    <a:pt x="5" y="0"/>
                  </a:lnTo>
                  <a:lnTo>
                    <a:pt x="2"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73" name="Freeform 414">
              <a:extLst>
                <a:ext uri="{FF2B5EF4-FFF2-40B4-BE49-F238E27FC236}">
                  <a16:creationId xmlns:a16="http://schemas.microsoft.com/office/drawing/2014/main" id="{BDA284D7-E8F8-0FB7-886E-1B0693022EA8}"/>
                </a:ext>
              </a:extLst>
            </p:cNvPr>
            <p:cNvSpPr>
              <a:spLocks noEditPoints="1"/>
            </p:cNvSpPr>
            <p:nvPr/>
          </p:nvSpPr>
          <p:spPr bwMode="auto">
            <a:xfrm>
              <a:off x="1444" y="1713"/>
              <a:ext cx="336" cy="51"/>
            </a:xfrm>
            <a:custGeom>
              <a:avLst/>
              <a:gdLst>
                <a:gd name="T0" fmla="*/ 336 w 336"/>
                <a:gd name="T1" fmla="*/ 21 h 51"/>
                <a:gd name="T2" fmla="*/ 334 w 336"/>
                <a:gd name="T3" fmla="*/ 14 h 51"/>
                <a:gd name="T4" fmla="*/ 334 w 336"/>
                <a:gd name="T5" fmla="*/ 8 h 51"/>
                <a:gd name="T6" fmla="*/ 334 w 336"/>
                <a:gd name="T7" fmla="*/ 3 h 51"/>
                <a:gd name="T8" fmla="*/ 329 w 336"/>
                <a:gd name="T9" fmla="*/ 0 h 51"/>
                <a:gd name="T10" fmla="*/ 331 w 336"/>
                <a:gd name="T11" fmla="*/ 6 h 51"/>
                <a:gd name="T12" fmla="*/ 331 w 336"/>
                <a:gd name="T13" fmla="*/ 11 h 51"/>
                <a:gd name="T14" fmla="*/ 333 w 336"/>
                <a:gd name="T15" fmla="*/ 18 h 51"/>
                <a:gd name="T16" fmla="*/ 333 w 336"/>
                <a:gd name="T17" fmla="*/ 24 h 51"/>
                <a:gd name="T18" fmla="*/ 333 w 336"/>
                <a:gd name="T19" fmla="*/ 31 h 51"/>
                <a:gd name="T20" fmla="*/ 331 w 336"/>
                <a:gd name="T21" fmla="*/ 38 h 51"/>
                <a:gd name="T22" fmla="*/ 331 w 336"/>
                <a:gd name="T23" fmla="*/ 44 h 51"/>
                <a:gd name="T24" fmla="*/ 331 w 336"/>
                <a:gd name="T25" fmla="*/ 51 h 51"/>
                <a:gd name="T26" fmla="*/ 334 w 336"/>
                <a:gd name="T27" fmla="*/ 48 h 51"/>
                <a:gd name="T28" fmla="*/ 334 w 336"/>
                <a:gd name="T29" fmla="*/ 41 h 51"/>
                <a:gd name="T30" fmla="*/ 336 w 336"/>
                <a:gd name="T31" fmla="*/ 34 h 51"/>
                <a:gd name="T32" fmla="*/ 336 w 336"/>
                <a:gd name="T33" fmla="*/ 28 h 51"/>
                <a:gd name="T34" fmla="*/ 2 w 336"/>
                <a:gd name="T35" fmla="*/ 0 h 51"/>
                <a:gd name="T36" fmla="*/ 0 w 336"/>
                <a:gd name="T37" fmla="*/ 6 h 51"/>
                <a:gd name="T38" fmla="*/ 0 w 336"/>
                <a:gd name="T39" fmla="*/ 11 h 51"/>
                <a:gd name="T40" fmla="*/ 0 w 336"/>
                <a:gd name="T41" fmla="*/ 18 h 51"/>
                <a:gd name="T42" fmla="*/ 0 w 336"/>
                <a:gd name="T43" fmla="*/ 24 h 51"/>
                <a:gd name="T44" fmla="*/ 0 w 336"/>
                <a:gd name="T45" fmla="*/ 31 h 51"/>
                <a:gd name="T46" fmla="*/ 0 w 336"/>
                <a:gd name="T47" fmla="*/ 38 h 51"/>
                <a:gd name="T48" fmla="*/ 0 w 336"/>
                <a:gd name="T49" fmla="*/ 44 h 51"/>
                <a:gd name="T50" fmla="*/ 2 w 336"/>
                <a:gd name="T51" fmla="*/ 51 h 51"/>
                <a:gd name="T52" fmla="*/ 3 w 336"/>
                <a:gd name="T53" fmla="*/ 48 h 51"/>
                <a:gd name="T54" fmla="*/ 3 w 336"/>
                <a:gd name="T55" fmla="*/ 41 h 51"/>
                <a:gd name="T56" fmla="*/ 3 w 336"/>
                <a:gd name="T57" fmla="*/ 34 h 51"/>
                <a:gd name="T58" fmla="*/ 3 w 336"/>
                <a:gd name="T59" fmla="*/ 28 h 51"/>
                <a:gd name="T60" fmla="*/ 3 w 336"/>
                <a:gd name="T61" fmla="*/ 21 h 51"/>
                <a:gd name="T62" fmla="*/ 3 w 336"/>
                <a:gd name="T63" fmla="*/ 14 h 51"/>
                <a:gd name="T64" fmla="*/ 3 w 336"/>
                <a:gd name="T65" fmla="*/ 8 h 51"/>
                <a:gd name="T66" fmla="*/ 3 w 336"/>
                <a:gd name="T67" fmla="*/ 3 h 51"/>
                <a:gd name="T68" fmla="*/ 2 w 3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6" h="51">
                  <a:moveTo>
                    <a:pt x="336" y="24"/>
                  </a:moveTo>
                  <a:lnTo>
                    <a:pt x="336" y="21"/>
                  </a:lnTo>
                  <a:lnTo>
                    <a:pt x="336" y="18"/>
                  </a:lnTo>
                  <a:lnTo>
                    <a:pt x="334" y="14"/>
                  </a:lnTo>
                  <a:lnTo>
                    <a:pt x="334" y="11"/>
                  </a:lnTo>
                  <a:lnTo>
                    <a:pt x="334" y="8"/>
                  </a:lnTo>
                  <a:lnTo>
                    <a:pt x="334" y="6"/>
                  </a:lnTo>
                  <a:lnTo>
                    <a:pt x="334" y="3"/>
                  </a:lnTo>
                  <a:lnTo>
                    <a:pt x="333" y="0"/>
                  </a:lnTo>
                  <a:lnTo>
                    <a:pt x="329" y="0"/>
                  </a:lnTo>
                  <a:lnTo>
                    <a:pt x="331" y="3"/>
                  </a:lnTo>
                  <a:lnTo>
                    <a:pt x="331" y="6"/>
                  </a:lnTo>
                  <a:lnTo>
                    <a:pt x="331" y="8"/>
                  </a:lnTo>
                  <a:lnTo>
                    <a:pt x="331" y="11"/>
                  </a:lnTo>
                  <a:lnTo>
                    <a:pt x="331" y="14"/>
                  </a:lnTo>
                  <a:lnTo>
                    <a:pt x="333" y="18"/>
                  </a:lnTo>
                  <a:lnTo>
                    <a:pt x="333" y="21"/>
                  </a:lnTo>
                  <a:lnTo>
                    <a:pt x="333" y="24"/>
                  </a:lnTo>
                  <a:lnTo>
                    <a:pt x="333" y="28"/>
                  </a:lnTo>
                  <a:lnTo>
                    <a:pt x="333" y="31"/>
                  </a:lnTo>
                  <a:lnTo>
                    <a:pt x="333" y="34"/>
                  </a:lnTo>
                  <a:lnTo>
                    <a:pt x="331" y="38"/>
                  </a:lnTo>
                  <a:lnTo>
                    <a:pt x="331" y="41"/>
                  </a:lnTo>
                  <a:lnTo>
                    <a:pt x="331" y="44"/>
                  </a:lnTo>
                  <a:lnTo>
                    <a:pt x="331" y="48"/>
                  </a:lnTo>
                  <a:lnTo>
                    <a:pt x="331" y="51"/>
                  </a:lnTo>
                  <a:lnTo>
                    <a:pt x="334" y="51"/>
                  </a:lnTo>
                  <a:lnTo>
                    <a:pt x="334" y="48"/>
                  </a:lnTo>
                  <a:lnTo>
                    <a:pt x="334" y="44"/>
                  </a:lnTo>
                  <a:lnTo>
                    <a:pt x="334" y="41"/>
                  </a:lnTo>
                  <a:lnTo>
                    <a:pt x="334" y="38"/>
                  </a:lnTo>
                  <a:lnTo>
                    <a:pt x="336" y="34"/>
                  </a:lnTo>
                  <a:lnTo>
                    <a:pt x="336" y="31"/>
                  </a:lnTo>
                  <a:lnTo>
                    <a:pt x="336" y="28"/>
                  </a:lnTo>
                  <a:lnTo>
                    <a:pt x="33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2" y="24"/>
                  </a:lnTo>
                  <a:lnTo>
                    <a:pt x="3" y="21"/>
                  </a:lnTo>
                  <a:lnTo>
                    <a:pt x="3" y="18"/>
                  </a:lnTo>
                  <a:lnTo>
                    <a:pt x="3" y="14"/>
                  </a:lnTo>
                  <a:lnTo>
                    <a:pt x="3" y="11"/>
                  </a:lnTo>
                  <a:lnTo>
                    <a:pt x="3" y="8"/>
                  </a:lnTo>
                  <a:lnTo>
                    <a:pt x="3" y="6"/>
                  </a:lnTo>
                  <a:lnTo>
                    <a:pt x="3" y="3"/>
                  </a:lnTo>
                  <a:lnTo>
                    <a:pt x="5" y="0"/>
                  </a:lnTo>
                  <a:lnTo>
                    <a:pt x="2"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74" name="Freeform 415">
              <a:extLst>
                <a:ext uri="{FF2B5EF4-FFF2-40B4-BE49-F238E27FC236}">
                  <a16:creationId xmlns:a16="http://schemas.microsoft.com/office/drawing/2014/main" id="{11138BA2-6B57-EE23-513F-034FE087CABD}"/>
                </a:ext>
              </a:extLst>
            </p:cNvPr>
            <p:cNvSpPr>
              <a:spLocks noEditPoints="1"/>
            </p:cNvSpPr>
            <p:nvPr/>
          </p:nvSpPr>
          <p:spPr bwMode="auto">
            <a:xfrm>
              <a:off x="1444" y="1713"/>
              <a:ext cx="334" cy="51"/>
            </a:xfrm>
            <a:custGeom>
              <a:avLst/>
              <a:gdLst>
                <a:gd name="T0" fmla="*/ 334 w 334"/>
                <a:gd name="T1" fmla="*/ 21 h 51"/>
                <a:gd name="T2" fmla="*/ 333 w 334"/>
                <a:gd name="T3" fmla="*/ 14 h 51"/>
                <a:gd name="T4" fmla="*/ 333 w 334"/>
                <a:gd name="T5" fmla="*/ 8 h 51"/>
                <a:gd name="T6" fmla="*/ 333 w 334"/>
                <a:gd name="T7" fmla="*/ 3 h 51"/>
                <a:gd name="T8" fmla="*/ 328 w 334"/>
                <a:gd name="T9" fmla="*/ 0 h 51"/>
                <a:gd name="T10" fmla="*/ 329 w 334"/>
                <a:gd name="T11" fmla="*/ 6 h 51"/>
                <a:gd name="T12" fmla="*/ 329 w 334"/>
                <a:gd name="T13" fmla="*/ 11 h 51"/>
                <a:gd name="T14" fmla="*/ 331 w 334"/>
                <a:gd name="T15" fmla="*/ 18 h 51"/>
                <a:gd name="T16" fmla="*/ 331 w 334"/>
                <a:gd name="T17" fmla="*/ 24 h 51"/>
                <a:gd name="T18" fmla="*/ 331 w 334"/>
                <a:gd name="T19" fmla="*/ 31 h 51"/>
                <a:gd name="T20" fmla="*/ 329 w 334"/>
                <a:gd name="T21" fmla="*/ 38 h 51"/>
                <a:gd name="T22" fmla="*/ 329 w 334"/>
                <a:gd name="T23" fmla="*/ 44 h 51"/>
                <a:gd name="T24" fmla="*/ 329 w 334"/>
                <a:gd name="T25" fmla="*/ 51 h 51"/>
                <a:gd name="T26" fmla="*/ 333 w 334"/>
                <a:gd name="T27" fmla="*/ 48 h 51"/>
                <a:gd name="T28" fmla="*/ 333 w 334"/>
                <a:gd name="T29" fmla="*/ 41 h 51"/>
                <a:gd name="T30" fmla="*/ 334 w 334"/>
                <a:gd name="T31" fmla="*/ 34 h 51"/>
                <a:gd name="T32" fmla="*/ 334 w 334"/>
                <a:gd name="T33" fmla="*/ 28 h 51"/>
                <a:gd name="T34" fmla="*/ 3 w 334"/>
                <a:gd name="T35" fmla="*/ 0 h 51"/>
                <a:gd name="T36" fmla="*/ 2 w 334"/>
                <a:gd name="T37" fmla="*/ 6 h 51"/>
                <a:gd name="T38" fmla="*/ 2 w 334"/>
                <a:gd name="T39" fmla="*/ 11 h 51"/>
                <a:gd name="T40" fmla="*/ 2 w 334"/>
                <a:gd name="T41" fmla="*/ 18 h 51"/>
                <a:gd name="T42" fmla="*/ 0 w 334"/>
                <a:gd name="T43" fmla="*/ 24 h 51"/>
                <a:gd name="T44" fmla="*/ 2 w 334"/>
                <a:gd name="T45" fmla="*/ 31 h 51"/>
                <a:gd name="T46" fmla="*/ 2 w 334"/>
                <a:gd name="T47" fmla="*/ 38 h 51"/>
                <a:gd name="T48" fmla="*/ 2 w 334"/>
                <a:gd name="T49" fmla="*/ 44 h 51"/>
                <a:gd name="T50" fmla="*/ 3 w 334"/>
                <a:gd name="T51" fmla="*/ 51 h 51"/>
                <a:gd name="T52" fmla="*/ 5 w 334"/>
                <a:gd name="T53" fmla="*/ 48 h 51"/>
                <a:gd name="T54" fmla="*/ 5 w 334"/>
                <a:gd name="T55" fmla="*/ 41 h 51"/>
                <a:gd name="T56" fmla="*/ 5 w 334"/>
                <a:gd name="T57" fmla="*/ 34 h 51"/>
                <a:gd name="T58" fmla="*/ 5 w 334"/>
                <a:gd name="T59" fmla="*/ 28 h 51"/>
                <a:gd name="T60" fmla="*/ 5 w 334"/>
                <a:gd name="T61" fmla="*/ 21 h 51"/>
                <a:gd name="T62" fmla="*/ 5 w 334"/>
                <a:gd name="T63" fmla="*/ 14 h 51"/>
                <a:gd name="T64" fmla="*/ 5 w 334"/>
                <a:gd name="T65" fmla="*/ 8 h 51"/>
                <a:gd name="T66" fmla="*/ 5 w 334"/>
                <a:gd name="T67" fmla="*/ 3 h 51"/>
                <a:gd name="T68" fmla="*/ 3 w 33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4" h="51">
                  <a:moveTo>
                    <a:pt x="334" y="24"/>
                  </a:moveTo>
                  <a:lnTo>
                    <a:pt x="334" y="21"/>
                  </a:lnTo>
                  <a:lnTo>
                    <a:pt x="334" y="18"/>
                  </a:lnTo>
                  <a:lnTo>
                    <a:pt x="333" y="14"/>
                  </a:lnTo>
                  <a:lnTo>
                    <a:pt x="333" y="11"/>
                  </a:lnTo>
                  <a:lnTo>
                    <a:pt x="333" y="8"/>
                  </a:lnTo>
                  <a:lnTo>
                    <a:pt x="333" y="6"/>
                  </a:lnTo>
                  <a:lnTo>
                    <a:pt x="333" y="3"/>
                  </a:lnTo>
                  <a:lnTo>
                    <a:pt x="331" y="0"/>
                  </a:lnTo>
                  <a:lnTo>
                    <a:pt x="328" y="0"/>
                  </a:lnTo>
                  <a:lnTo>
                    <a:pt x="329" y="3"/>
                  </a:lnTo>
                  <a:lnTo>
                    <a:pt x="329" y="6"/>
                  </a:lnTo>
                  <a:lnTo>
                    <a:pt x="329" y="8"/>
                  </a:lnTo>
                  <a:lnTo>
                    <a:pt x="329" y="11"/>
                  </a:lnTo>
                  <a:lnTo>
                    <a:pt x="329" y="14"/>
                  </a:lnTo>
                  <a:lnTo>
                    <a:pt x="331" y="18"/>
                  </a:lnTo>
                  <a:lnTo>
                    <a:pt x="331" y="21"/>
                  </a:lnTo>
                  <a:lnTo>
                    <a:pt x="331" y="24"/>
                  </a:lnTo>
                  <a:lnTo>
                    <a:pt x="331" y="28"/>
                  </a:lnTo>
                  <a:lnTo>
                    <a:pt x="331" y="31"/>
                  </a:lnTo>
                  <a:lnTo>
                    <a:pt x="331" y="34"/>
                  </a:lnTo>
                  <a:lnTo>
                    <a:pt x="329" y="38"/>
                  </a:lnTo>
                  <a:lnTo>
                    <a:pt x="329" y="41"/>
                  </a:lnTo>
                  <a:lnTo>
                    <a:pt x="329" y="44"/>
                  </a:lnTo>
                  <a:lnTo>
                    <a:pt x="329" y="48"/>
                  </a:lnTo>
                  <a:lnTo>
                    <a:pt x="329" y="51"/>
                  </a:lnTo>
                  <a:lnTo>
                    <a:pt x="333" y="51"/>
                  </a:lnTo>
                  <a:lnTo>
                    <a:pt x="333" y="48"/>
                  </a:lnTo>
                  <a:lnTo>
                    <a:pt x="333" y="44"/>
                  </a:lnTo>
                  <a:lnTo>
                    <a:pt x="333" y="41"/>
                  </a:lnTo>
                  <a:lnTo>
                    <a:pt x="333" y="38"/>
                  </a:lnTo>
                  <a:lnTo>
                    <a:pt x="334" y="34"/>
                  </a:lnTo>
                  <a:lnTo>
                    <a:pt x="334" y="31"/>
                  </a:lnTo>
                  <a:lnTo>
                    <a:pt x="334" y="28"/>
                  </a:lnTo>
                  <a:lnTo>
                    <a:pt x="334" y="24"/>
                  </a:lnTo>
                  <a:close/>
                  <a:moveTo>
                    <a:pt x="3" y="0"/>
                  </a:moveTo>
                  <a:lnTo>
                    <a:pt x="2" y="3"/>
                  </a:lnTo>
                  <a:lnTo>
                    <a:pt x="2" y="6"/>
                  </a:lnTo>
                  <a:lnTo>
                    <a:pt x="2" y="8"/>
                  </a:lnTo>
                  <a:lnTo>
                    <a:pt x="2" y="11"/>
                  </a:lnTo>
                  <a:lnTo>
                    <a:pt x="2" y="14"/>
                  </a:lnTo>
                  <a:lnTo>
                    <a:pt x="2" y="18"/>
                  </a:lnTo>
                  <a:lnTo>
                    <a:pt x="2" y="21"/>
                  </a:lnTo>
                  <a:lnTo>
                    <a:pt x="0" y="24"/>
                  </a:lnTo>
                  <a:lnTo>
                    <a:pt x="2"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5" y="28"/>
                  </a:lnTo>
                  <a:lnTo>
                    <a:pt x="3" y="24"/>
                  </a:lnTo>
                  <a:lnTo>
                    <a:pt x="5" y="21"/>
                  </a:lnTo>
                  <a:lnTo>
                    <a:pt x="5" y="18"/>
                  </a:lnTo>
                  <a:lnTo>
                    <a:pt x="5" y="14"/>
                  </a:lnTo>
                  <a:lnTo>
                    <a:pt x="5" y="11"/>
                  </a:lnTo>
                  <a:lnTo>
                    <a:pt x="5" y="8"/>
                  </a:lnTo>
                  <a:lnTo>
                    <a:pt x="5" y="6"/>
                  </a:lnTo>
                  <a:lnTo>
                    <a:pt x="5" y="3"/>
                  </a:lnTo>
                  <a:lnTo>
                    <a:pt x="7" y="0"/>
                  </a:lnTo>
                  <a:lnTo>
                    <a:pt x="3"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75" name="Freeform 416">
              <a:extLst>
                <a:ext uri="{FF2B5EF4-FFF2-40B4-BE49-F238E27FC236}">
                  <a16:creationId xmlns:a16="http://schemas.microsoft.com/office/drawing/2014/main" id="{B694F746-E44C-AA92-22A5-D7C249421285}"/>
                </a:ext>
              </a:extLst>
            </p:cNvPr>
            <p:cNvSpPr>
              <a:spLocks noEditPoints="1"/>
            </p:cNvSpPr>
            <p:nvPr/>
          </p:nvSpPr>
          <p:spPr bwMode="auto">
            <a:xfrm>
              <a:off x="1446" y="1713"/>
              <a:ext cx="331" cy="51"/>
            </a:xfrm>
            <a:custGeom>
              <a:avLst/>
              <a:gdLst>
                <a:gd name="T0" fmla="*/ 331 w 331"/>
                <a:gd name="T1" fmla="*/ 21 h 51"/>
                <a:gd name="T2" fmla="*/ 329 w 331"/>
                <a:gd name="T3" fmla="*/ 14 h 51"/>
                <a:gd name="T4" fmla="*/ 329 w 331"/>
                <a:gd name="T5" fmla="*/ 8 h 51"/>
                <a:gd name="T6" fmla="*/ 329 w 331"/>
                <a:gd name="T7" fmla="*/ 3 h 51"/>
                <a:gd name="T8" fmla="*/ 324 w 331"/>
                <a:gd name="T9" fmla="*/ 0 h 51"/>
                <a:gd name="T10" fmla="*/ 326 w 331"/>
                <a:gd name="T11" fmla="*/ 6 h 51"/>
                <a:gd name="T12" fmla="*/ 326 w 331"/>
                <a:gd name="T13" fmla="*/ 11 h 51"/>
                <a:gd name="T14" fmla="*/ 327 w 331"/>
                <a:gd name="T15" fmla="*/ 18 h 51"/>
                <a:gd name="T16" fmla="*/ 327 w 331"/>
                <a:gd name="T17" fmla="*/ 24 h 51"/>
                <a:gd name="T18" fmla="*/ 327 w 331"/>
                <a:gd name="T19" fmla="*/ 31 h 51"/>
                <a:gd name="T20" fmla="*/ 326 w 331"/>
                <a:gd name="T21" fmla="*/ 38 h 51"/>
                <a:gd name="T22" fmla="*/ 326 w 331"/>
                <a:gd name="T23" fmla="*/ 44 h 51"/>
                <a:gd name="T24" fmla="*/ 326 w 331"/>
                <a:gd name="T25" fmla="*/ 51 h 51"/>
                <a:gd name="T26" fmla="*/ 329 w 331"/>
                <a:gd name="T27" fmla="*/ 48 h 51"/>
                <a:gd name="T28" fmla="*/ 329 w 331"/>
                <a:gd name="T29" fmla="*/ 41 h 51"/>
                <a:gd name="T30" fmla="*/ 331 w 331"/>
                <a:gd name="T31" fmla="*/ 34 h 51"/>
                <a:gd name="T32" fmla="*/ 331 w 331"/>
                <a:gd name="T33" fmla="*/ 28 h 51"/>
                <a:gd name="T34" fmla="*/ 3 w 331"/>
                <a:gd name="T35" fmla="*/ 0 h 51"/>
                <a:gd name="T36" fmla="*/ 1 w 331"/>
                <a:gd name="T37" fmla="*/ 6 h 51"/>
                <a:gd name="T38" fmla="*/ 1 w 331"/>
                <a:gd name="T39" fmla="*/ 11 h 51"/>
                <a:gd name="T40" fmla="*/ 1 w 331"/>
                <a:gd name="T41" fmla="*/ 18 h 51"/>
                <a:gd name="T42" fmla="*/ 0 w 331"/>
                <a:gd name="T43" fmla="*/ 24 h 51"/>
                <a:gd name="T44" fmla="*/ 1 w 331"/>
                <a:gd name="T45" fmla="*/ 31 h 51"/>
                <a:gd name="T46" fmla="*/ 1 w 331"/>
                <a:gd name="T47" fmla="*/ 38 h 51"/>
                <a:gd name="T48" fmla="*/ 1 w 331"/>
                <a:gd name="T49" fmla="*/ 44 h 51"/>
                <a:gd name="T50" fmla="*/ 3 w 331"/>
                <a:gd name="T51" fmla="*/ 51 h 51"/>
                <a:gd name="T52" fmla="*/ 5 w 331"/>
                <a:gd name="T53" fmla="*/ 48 h 51"/>
                <a:gd name="T54" fmla="*/ 5 w 331"/>
                <a:gd name="T55" fmla="*/ 41 h 51"/>
                <a:gd name="T56" fmla="*/ 5 w 331"/>
                <a:gd name="T57" fmla="*/ 34 h 51"/>
                <a:gd name="T58" fmla="*/ 5 w 331"/>
                <a:gd name="T59" fmla="*/ 28 h 51"/>
                <a:gd name="T60" fmla="*/ 5 w 331"/>
                <a:gd name="T61" fmla="*/ 21 h 51"/>
                <a:gd name="T62" fmla="*/ 5 w 331"/>
                <a:gd name="T63" fmla="*/ 14 h 51"/>
                <a:gd name="T64" fmla="*/ 5 w 331"/>
                <a:gd name="T65" fmla="*/ 8 h 51"/>
                <a:gd name="T66" fmla="*/ 5 w 331"/>
                <a:gd name="T67" fmla="*/ 3 h 51"/>
                <a:gd name="T68" fmla="*/ 3 w 331"/>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1" h="51">
                  <a:moveTo>
                    <a:pt x="331" y="24"/>
                  </a:moveTo>
                  <a:lnTo>
                    <a:pt x="331" y="21"/>
                  </a:lnTo>
                  <a:lnTo>
                    <a:pt x="331" y="18"/>
                  </a:lnTo>
                  <a:lnTo>
                    <a:pt x="329" y="14"/>
                  </a:lnTo>
                  <a:lnTo>
                    <a:pt x="329" y="11"/>
                  </a:lnTo>
                  <a:lnTo>
                    <a:pt x="329" y="8"/>
                  </a:lnTo>
                  <a:lnTo>
                    <a:pt x="329" y="6"/>
                  </a:lnTo>
                  <a:lnTo>
                    <a:pt x="329" y="3"/>
                  </a:lnTo>
                  <a:lnTo>
                    <a:pt x="327" y="0"/>
                  </a:lnTo>
                  <a:lnTo>
                    <a:pt x="324" y="0"/>
                  </a:lnTo>
                  <a:lnTo>
                    <a:pt x="326" y="3"/>
                  </a:lnTo>
                  <a:lnTo>
                    <a:pt x="326" y="6"/>
                  </a:lnTo>
                  <a:lnTo>
                    <a:pt x="326" y="8"/>
                  </a:lnTo>
                  <a:lnTo>
                    <a:pt x="326" y="11"/>
                  </a:lnTo>
                  <a:lnTo>
                    <a:pt x="327" y="14"/>
                  </a:lnTo>
                  <a:lnTo>
                    <a:pt x="327" y="18"/>
                  </a:lnTo>
                  <a:lnTo>
                    <a:pt x="327" y="21"/>
                  </a:lnTo>
                  <a:lnTo>
                    <a:pt x="327" y="24"/>
                  </a:lnTo>
                  <a:lnTo>
                    <a:pt x="327" y="28"/>
                  </a:lnTo>
                  <a:lnTo>
                    <a:pt x="327" y="31"/>
                  </a:lnTo>
                  <a:lnTo>
                    <a:pt x="327" y="34"/>
                  </a:lnTo>
                  <a:lnTo>
                    <a:pt x="326" y="38"/>
                  </a:lnTo>
                  <a:lnTo>
                    <a:pt x="326" y="41"/>
                  </a:lnTo>
                  <a:lnTo>
                    <a:pt x="326" y="44"/>
                  </a:lnTo>
                  <a:lnTo>
                    <a:pt x="326" y="48"/>
                  </a:lnTo>
                  <a:lnTo>
                    <a:pt x="326" y="51"/>
                  </a:lnTo>
                  <a:lnTo>
                    <a:pt x="329" y="51"/>
                  </a:lnTo>
                  <a:lnTo>
                    <a:pt x="329" y="48"/>
                  </a:lnTo>
                  <a:lnTo>
                    <a:pt x="329" y="44"/>
                  </a:lnTo>
                  <a:lnTo>
                    <a:pt x="329" y="41"/>
                  </a:lnTo>
                  <a:lnTo>
                    <a:pt x="329" y="38"/>
                  </a:lnTo>
                  <a:lnTo>
                    <a:pt x="331" y="34"/>
                  </a:lnTo>
                  <a:lnTo>
                    <a:pt x="331" y="31"/>
                  </a:lnTo>
                  <a:lnTo>
                    <a:pt x="331" y="28"/>
                  </a:lnTo>
                  <a:lnTo>
                    <a:pt x="331" y="24"/>
                  </a:lnTo>
                  <a:close/>
                  <a:moveTo>
                    <a:pt x="3" y="0"/>
                  </a:moveTo>
                  <a:lnTo>
                    <a:pt x="1" y="3"/>
                  </a:lnTo>
                  <a:lnTo>
                    <a:pt x="1" y="6"/>
                  </a:lnTo>
                  <a:lnTo>
                    <a:pt x="1" y="8"/>
                  </a:lnTo>
                  <a:lnTo>
                    <a:pt x="1" y="11"/>
                  </a:lnTo>
                  <a:lnTo>
                    <a:pt x="1" y="14"/>
                  </a:lnTo>
                  <a:lnTo>
                    <a:pt x="1" y="18"/>
                  </a:lnTo>
                  <a:lnTo>
                    <a:pt x="1" y="21"/>
                  </a:lnTo>
                  <a:lnTo>
                    <a:pt x="0" y="24"/>
                  </a:lnTo>
                  <a:lnTo>
                    <a:pt x="1"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5" y="28"/>
                  </a:lnTo>
                  <a:lnTo>
                    <a:pt x="3" y="24"/>
                  </a:lnTo>
                  <a:lnTo>
                    <a:pt x="5" y="21"/>
                  </a:lnTo>
                  <a:lnTo>
                    <a:pt x="5" y="18"/>
                  </a:lnTo>
                  <a:lnTo>
                    <a:pt x="5" y="14"/>
                  </a:lnTo>
                  <a:lnTo>
                    <a:pt x="5" y="11"/>
                  </a:lnTo>
                  <a:lnTo>
                    <a:pt x="5" y="8"/>
                  </a:lnTo>
                  <a:lnTo>
                    <a:pt x="5" y="6"/>
                  </a:lnTo>
                  <a:lnTo>
                    <a:pt x="5" y="3"/>
                  </a:lnTo>
                  <a:lnTo>
                    <a:pt x="6" y="0"/>
                  </a:lnTo>
                  <a:lnTo>
                    <a:pt x="3"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76" name="Freeform 417">
              <a:extLst>
                <a:ext uri="{FF2B5EF4-FFF2-40B4-BE49-F238E27FC236}">
                  <a16:creationId xmlns:a16="http://schemas.microsoft.com/office/drawing/2014/main" id="{825B73E9-079D-47C0-CF72-B5122F17AC97}"/>
                </a:ext>
              </a:extLst>
            </p:cNvPr>
            <p:cNvSpPr>
              <a:spLocks noEditPoints="1"/>
            </p:cNvSpPr>
            <p:nvPr/>
          </p:nvSpPr>
          <p:spPr bwMode="auto">
            <a:xfrm>
              <a:off x="1447" y="1713"/>
              <a:ext cx="328" cy="51"/>
            </a:xfrm>
            <a:custGeom>
              <a:avLst/>
              <a:gdLst>
                <a:gd name="T0" fmla="*/ 328 w 328"/>
                <a:gd name="T1" fmla="*/ 21 h 51"/>
                <a:gd name="T2" fmla="*/ 326 w 328"/>
                <a:gd name="T3" fmla="*/ 14 h 51"/>
                <a:gd name="T4" fmla="*/ 326 w 328"/>
                <a:gd name="T5" fmla="*/ 8 h 51"/>
                <a:gd name="T6" fmla="*/ 326 w 328"/>
                <a:gd name="T7" fmla="*/ 3 h 51"/>
                <a:gd name="T8" fmla="*/ 322 w 328"/>
                <a:gd name="T9" fmla="*/ 0 h 51"/>
                <a:gd name="T10" fmla="*/ 323 w 328"/>
                <a:gd name="T11" fmla="*/ 6 h 51"/>
                <a:gd name="T12" fmla="*/ 323 w 328"/>
                <a:gd name="T13" fmla="*/ 11 h 51"/>
                <a:gd name="T14" fmla="*/ 325 w 328"/>
                <a:gd name="T15" fmla="*/ 18 h 51"/>
                <a:gd name="T16" fmla="*/ 325 w 328"/>
                <a:gd name="T17" fmla="*/ 24 h 51"/>
                <a:gd name="T18" fmla="*/ 325 w 328"/>
                <a:gd name="T19" fmla="*/ 31 h 51"/>
                <a:gd name="T20" fmla="*/ 323 w 328"/>
                <a:gd name="T21" fmla="*/ 38 h 51"/>
                <a:gd name="T22" fmla="*/ 323 w 328"/>
                <a:gd name="T23" fmla="*/ 44 h 51"/>
                <a:gd name="T24" fmla="*/ 323 w 328"/>
                <a:gd name="T25" fmla="*/ 51 h 51"/>
                <a:gd name="T26" fmla="*/ 326 w 328"/>
                <a:gd name="T27" fmla="*/ 48 h 51"/>
                <a:gd name="T28" fmla="*/ 326 w 328"/>
                <a:gd name="T29" fmla="*/ 41 h 51"/>
                <a:gd name="T30" fmla="*/ 328 w 328"/>
                <a:gd name="T31" fmla="*/ 34 h 51"/>
                <a:gd name="T32" fmla="*/ 328 w 328"/>
                <a:gd name="T33" fmla="*/ 28 h 51"/>
                <a:gd name="T34" fmla="*/ 4 w 328"/>
                <a:gd name="T35" fmla="*/ 0 h 51"/>
                <a:gd name="T36" fmla="*/ 2 w 328"/>
                <a:gd name="T37" fmla="*/ 6 h 51"/>
                <a:gd name="T38" fmla="*/ 2 w 328"/>
                <a:gd name="T39" fmla="*/ 11 h 51"/>
                <a:gd name="T40" fmla="*/ 2 w 328"/>
                <a:gd name="T41" fmla="*/ 18 h 51"/>
                <a:gd name="T42" fmla="*/ 0 w 328"/>
                <a:gd name="T43" fmla="*/ 24 h 51"/>
                <a:gd name="T44" fmla="*/ 2 w 328"/>
                <a:gd name="T45" fmla="*/ 31 h 51"/>
                <a:gd name="T46" fmla="*/ 2 w 328"/>
                <a:gd name="T47" fmla="*/ 38 h 51"/>
                <a:gd name="T48" fmla="*/ 2 w 328"/>
                <a:gd name="T49" fmla="*/ 44 h 51"/>
                <a:gd name="T50" fmla="*/ 4 w 328"/>
                <a:gd name="T51" fmla="*/ 51 h 51"/>
                <a:gd name="T52" fmla="*/ 5 w 328"/>
                <a:gd name="T53" fmla="*/ 48 h 51"/>
                <a:gd name="T54" fmla="*/ 5 w 328"/>
                <a:gd name="T55" fmla="*/ 41 h 51"/>
                <a:gd name="T56" fmla="*/ 5 w 328"/>
                <a:gd name="T57" fmla="*/ 34 h 51"/>
                <a:gd name="T58" fmla="*/ 5 w 328"/>
                <a:gd name="T59" fmla="*/ 28 h 51"/>
                <a:gd name="T60" fmla="*/ 5 w 328"/>
                <a:gd name="T61" fmla="*/ 21 h 51"/>
                <a:gd name="T62" fmla="*/ 5 w 328"/>
                <a:gd name="T63" fmla="*/ 14 h 51"/>
                <a:gd name="T64" fmla="*/ 5 w 328"/>
                <a:gd name="T65" fmla="*/ 8 h 51"/>
                <a:gd name="T66" fmla="*/ 5 w 328"/>
                <a:gd name="T67" fmla="*/ 3 h 51"/>
                <a:gd name="T68" fmla="*/ 4 w 32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8" h="51">
                  <a:moveTo>
                    <a:pt x="328" y="24"/>
                  </a:moveTo>
                  <a:lnTo>
                    <a:pt x="328" y="21"/>
                  </a:lnTo>
                  <a:lnTo>
                    <a:pt x="328" y="18"/>
                  </a:lnTo>
                  <a:lnTo>
                    <a:pt x="326" y="14"/>
                  </a:lnTo>
                  <a:lnTo>
                    <a:pt x="326" y="11"/>
                  </a:lnTo>
                  <a:lnTo>
                    <a:pt x="326" y="8"/>
                  </a:lnTo>
                  <a:lnTo>
                    <a:pt x="326" y="6"/>
                  </a:lnTo>
                  <a:lnTo>
                    <a:pt x="326" y="3"/>
                  </a:lnTo>
                  <a:lnTo>
                    <a:pt x="325" y="0"/>
                  </a:lnTo>
                  <a:lnTo>
                    <a:pt x="322" y="0"/>
                  </a:lnTo>
                  <a:lnTo>
                    <a:pt x="323" y="3"/>
                  </a:lnTo>
                  <a:lnTo>
                    <a:pt x="323" y="6"/>
                  </a:lnTo>
                  <a:lnTo>
                    <a:pt x="323" y="8"/>
                  </a:lnTo>
                  <a:lnTo>
                    <a:pt x="323" y="11"/>
                  </a:lnTo>
                  <a:lnTo>
                    <a:pt x="325" y="14"/>
                  </a:lnTo>
                  <a:lnTo>
                    <a:pt x="325" y="18"/>
                  </a:lnTo>
                  <a:lnTo>
                    <a:pt x="325" y="21"/>
                  </a:lnTo>
                  <a:lnTo>
                    <a:pt x="325" y="24"/>
                  </a:lnTo>
                  <a:lnTo>
                    <a:pt x="325" y="28"/>
                  </a:lnTo>
                  <a:lnTo>
                    <a:pt x="325" y="31"/>
                  </a:lnTo>
                  <a:lnTo>
                    <a:pt x="325" y="34"/>
                  </a:lnTo>
                  <a:lnTo>
                    <a:pt x="323" y="38"/>
                  </a:lnTo>
                  <a:lnTo>
                    <a:pt x="323" y="41"/>
                  </a:lnTo>
                  <a:lnTo>
                    <a:pt x="323" y="44"/>
                  </a:lnTo>
                  <a:lnTo>
                    <a:pt x="323" y="48"/>
                  </a:lnTo>
                  <a:lnTo>
                    <a:pt x="323" y="51"/>
                  </a:lnTo>
                  <a:lnTo>
                    <a:pt x="326" y="51"/>
                  </a:lnTo>
                  <a:lnTo>
                    <a:pt x="326" y="48"/>
                  </a:lnTo>
                  <a:lnTo>
                    <a:pt x="326" y="44"/>
                  </a:lnTo>
                  <a:lnTo>
                    <a:pt x="326" y="41"/>
                  </a:lnTo>
                  <a:lnTo>
                    <a:pt x="326" y="38"/>
                  </a:lnTo>
                  <a:lnTo>
                    <a:pt x="328" y="34"/>
                  </a:lnTo>
                  <a:lnTo>
                    <a:pt x="328" y="31"/>
                  </a:lnTo>
                  <a:lnTo>
                    <a:pt x="328" y="28"/>
                  </a:lnTo>
                  <a:lnTo>
                    <a:pt x="328" y="24"/>
                  </a:lnTo>
                  <a:close/>
                  <a:moveTo>
                    <a:pt x="4" y="0"/>
                  </a:moveTo>
                  <a:lnTo>
                    <a:pt x="2" y="3"/>
                  </a:lnTo>
                  <a:lnTo>
                    <a:pt x="2" y="6"/>
                  </a:lnTo>
                  <a:lnTo>
                    <a:pt x="2" y="8"/>
                  </a:lnTo>
                  <a:lnTo>
                    <a:pt x="2" y="11"/>
                  </a:lnTo>
                  <a:lnTo>
                    <a:pt x="2" y="14"/>
                  </a:lnTo>
                  <a:lnTo>
                    <a:pt x="2" y="18"/>
                  </a:lnTo>
                  <a:lnTo>
                    <a:pt x="2" y="21"/>
                  </a:lnTo>
                  <a:lnTo>
                    <a:pt x="0" y="24"/>
                  </a:lnTo>
                  <a:lnTo>
                    <a:pt x="2"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5" y="28"/>
                  </a:lnTo>
                  <a:lnTo>
                    <a:pt x="4" y="24"/>
                  </a:lnTo>
                  <a:lnTo>
                    <a:pt x="5" y="21"/>
                  </a:lnTo>
                  <a:lnTo>
                    <a:pt x="5" y="18"/>
                  </a:lnTo>
                  <a:lnTo>
                    <a:pt x="5" y="14"/>
                  </a:lnTo>
                  <a:lnTo>
                    <a:pt x="5" y="11"/>
                  </a:lnTo>
                  <a:lnTo>
                    <a:pt x="5" y="8"/>
                  </a:lnTo>
                  <a:lnTo>
                    <a:pt x="5" y="6"/>
                  </a:lnTo>
                  <a:lnTo>
                    <a:pt x="5" y="3"/>
                  </a:lnTo>
                  <a:lnTo>
                    <a:pt x="7" y="0"/>
                  </a:lnTo>
                  <a:lnTo>
                    <a:pt x="4"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77" name="Freeform 418">
              <a:extLst>
                <a:ext uri="{FF2B5EF4-FFF2-40B4-BE49-F238E27FC236}">
                  <a16:creationId xmlns:a16="http://schemas.microsoft.com/office/drawing/2014/main" id="{C73AA79E-25E1-46F5-DC6E-15B1C66D7797}"/>
                </a:ext>
              </a:extLst>
            </p:cNvPr>
            <p:cNvSpPr>
              <a:spLocks noEditPoints="1"/>
            </p:cNvSpPr>
            <p:nvPr/>
          </p:nvSpPr>
          <p:spPr bwMode="auto">
            <a:xfrm>
              <a:off x="1449" y="1713"/>
              <a:ext cx="324" cy="51"/>
            </a:xfrm>
            <a:custGeom>
              <a:avLst/>
              <a:gdLst>
                <a:gd name="T0" fmla="*/ 324 w 324"/>
                <a:gd name="T1" fmla="*/ 21 h 51"/>
                <a:gd name="T2" fmla="*/ 323 w 324"/>
                <a:gd name="T3" fmla="*/ 14 h 51"/>
                <a:gd name="T4" fmla="*/ 323 w 324"/>
                <a:gd name="T5" fmla="*/ 8 h 51"/>
                <a:gd name="T6" fmla="*/ 323 w 324"/>
                <a:gd name="T7" fmla="*/ 3 h 51"/>
                <a:gd name="T8" fmla="*/ 318 w 324"/>
                <a:gd name="T9" fmla="*/ 0 h 51"/>
                <a:gd name="T10" fmla="*/ 320 w 324"/>
                <a:gd name="T11" fmla="*/ 6 h 51"/>
                <a:gd name="T12" fmla="*/ 320 w 324"/>
                <a:gd name="T13" fmla="*/ 11 h 51"/>
                <a:gd name="T14" fmla="*/ 321 w 324"/>
                <a:gd name="T15" fmla="*/ 18 h 51"/>
                <a:gd name="T16" fmla="*/ 321 w 324"/>
                <a:gd name="T17" fmla="*/ 24 h 51"/>
                <a:gd name="T18" fmla="*/ 321 w 324"/>
                <a:gd name="T19" fmla="*/ 31 h 51"/>
                <a:gd name="T20" fmla="*/ 320 w 324"/>
                <a:gd name="T21" fmla="*/ 38 h 51"/>
                <a:gd name="T22" fmla="*/ 320 w 324"/>
                <a:gd name="T23" fmla="*/ 44 h 51"/>
                <a:gd name="T24" fmla="*/ 318 w 324"/>
                <a:gd name="T25" fmla="*/ 51 h 51"/>
                <a:gd name="T26" fmla="*/ 323 w 324"/>
                <a:gd name="T27" fmla="*/ 48 h 51"/>
                <a:gd name="T28" fmla="*/ 323 w 324"/>
                <a:gd name="T29" fmla="*/ 41 h 51"/>
                <a:gd name="T30" fmla="*/ 324 w 324"/>
                <a:gd name="T31" fmla="*/ 34 h 51"/>
                <a:gd name="T32" fmla="*/ 324 w 324"/>
                <a:gd name="T33" fmla="*/ 28 h 51"/>
                <a:gd name="T34" fmla="*/ 3 w 324"/>
                <a:gd name="T35" fmla="*/ 0 h 51"/>
                <a:gd name="T36" fmla="*/ 2 w 324"/>
                <a:gd name="T37" fmla="*/ 6 h 51"/>
                <a:gd name="T38" fmla="*/ 2 w 324"/>
                <a:gd name="T39" fmla="*/ 11 h 51"/>
                <a:gd name="T40" fmla="*/ 2 w 324"/>
                <a:gd name="T41" fmla="*/ 18 h 51"/>
                <a:gd name="T42" fmla="*/ 0 w 324"/>
                <a:gd name="T43" fmla="*/ 24 h 51"/>
                <a:gd name="T44" fmla="*/ 2 w 324"/>
                <a:gd name="T45" fmla="*/ 31 h 51"/>
                <a:gd name="T46" fmla="*/ 2 w 324"/>
                <a:gd name="T47" fmla="*/ 38 h 51"/>
                <a:gd name="T48" fmla="*/ 2 w 324"/>
                <a:gd name="T49" fmla="*/ 44 h 51"/>
                <a:gd name="T50" fmla="*/ 3 w 324"/>
                <a:gd name="T51" fmla="*/ 51 h 51"/>
                <a:gd name="T52" fmla="*/ 5 w 324"/>
                <a:gd name="T53" fmla="*/ 48 h 51"/>
                <a:gd name="T54" fmla="*/ 5 w 324"/>
                <a:gd name="T55" fmla="*/ 41 h 51"/>
                <a:gd name="T56" fmla="*/ 5 w 324"/>
                <a:gd name="T57" fmla="*/ 34 h 51"/>
                <a:gd name="T58" fmla="*/ 3 w 324"/>
                <a:gd name="T59" fmla="*/ 28 h 51"/>
                <a:gd name="T60" fmla="*/ 3 w 324"/>
                <a:gd name="T61" fmla="*/ 21 h 51"/>
                <a:gd name="T62" fmla="*/ 5 w 324"/>
                <a:gd name="T63" fmla="*/ 14 h 51"/>
                <a:gd name="T64" fmla="*/ 5 w 324"/>
                <a:gd name="T65" fmla="*/ 8 h 51"/>
                <a:gd name="T66" fmla="*/ 5 w 324"/>
                <a:gd name="T67" fmla="*/ 3 h 51"/>
                <a:gd name="T68" fmla="*/ 3 w 32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4" h="51">
                  <a:moveTo>
                    <a:pt x="324" y="24"/>
                  </a:moveTo>
                  <a:lnTo>
                    <a:pt x="324" y="21"/>
                  </a:lnTo>
                  <a:lnTo>
                    <a:pt x="324" y="18"/>
                  </a:lnTo>
                  <a:lnTo>
                    <a:pt x="323" y="14"/>
                  </a:lnTo>
                  <a:lnTo>
                    <a:pt x="323" y="11"/>
                  </a:lnTo>
                  <a:lnTo>
                    <a:pt x="323" y="8"/>
                  </a:lnTo>
                  <a:lnTo>
                    <a:pt x="323" y="6"/>
                  </a:lnTo>
                  <a:lnTo>
                    <a:pt x="323" y="3"/>
                  </a:lnTo>
                  <a:lnTo>
                    <a:pt x="321" y="0"/>
                  </a:lnTo>
                  <a:lnTo>
                    <a:pt x="318" y="0"/>
                  </a:lnTo>
                  <a:lnTo>
                    <a:pt x="320" y="3"/>
                  </a:lnTo>
                  <a:lnTo>
                    <a:pt x="320" y="6"/>
                  </a:lnTo>
                  <a:lnTo>
                    <a:pt x="320" y="8"/>
                  </a:lnTo>
                  <a:lnTo>
                    <a:pt x="320" y="11"/>
                  </a:lnTo>
                  <a:lnTo>
                    <a:pt x="321" y="14"/>
                  </a:lnTo>
                  <a:lnTo>
                    <a:pt x="321" y="18"/>
                  </a:lnTo>
                  <a:lnTo>
                    <a:pt x="321" y="21"/>
                  </a:lnTo>
                  <a:lnTo>
                    <a:pt x="321" y="24"/>
                  </a:lnTo>
                  <a:lnTo>
                    <a:pt x="321" y="28"/>
                  </a:lnTo>
                  <a:lnTo>
                    <a:pt x="321" y="31"/>
                  </a:lnTo>
                  <a:lnTo>
                    <a:pt x="321" y="34"/>
                  </a:lnTo>
                  <a:lnTo>
                    <a:pt x="320" y="38"/>
                  </a:lnTo>
                  <a:lnTo>
                    <a:pt x="320" y="41"/>
                  </a:lnTo>
                  <a:lnTo>
                    <a:pt x="320" y="44"/>
                  </a:lnTo>
                  <a:lnTo>
                    <a:pt x="320" y="48"/>
                  </a:lnTo>
                  <a:lnTo>
                    <a:pt x="318" y="51"/>
                  </a:lnTo>
                  <a:lnTo>
                    <a:pt x="323" y="51"/>
                  </a:lnTo>
                  <a:lnTo>
                    <a:pt x="323" y="48"/>
                  </a:lnTo>
                  <a:lnTo>
                    <a:pt x="323" y="44"/>
                  </a:lnTo>
                  <a:lnTo>
                    <a:pt x="323" y="41"/>
                  </a:lnTo>
                  <a:lnTo>
                    <a:pt x="323" y="38"/>
                  </a:lnTo>
                  <a:lnTo>
                    <a:pt x="324" y="34"/>
                  </a:lnTo>
                  <a:lnTo>
                    <a:pt x="324" y="31"/>
                  </a:lnTo>
                  <a:lnTo>
                    <a:pt x="324" y="28"/>
                  </a:lnTo>
                  <a:lnTo>
                    <a:pt x="324" y="24"/>
                  </a:lnTo>
                  <a:close/>
                  <a:moveTo>
                    <a:pt x="3" y="0"/>
                  </a:moveTo>
                  <a:lnTo>
                    <a:pt x="2" y="3"/>
                  </a:lnTo>
                  <a:lnTo>
                    <a:pt x="2" y="6"/>
                  </a:lnTo>
                  <a:lnTo>
                    <a:pt x="2" y="8"/>
                  </a:lnTo>
                  <a:lnTo>
                    <a:pt x="2" y="11"/>
                  </a:lnTo>
                  <a:lnTo>
                    <a:pt x="2" y="14"/>
                  </a:lnTo>
                  <a:lnTo>
                    <a:pt x="2" y="18"/>
                  </a:lnTo>
                  <a:lnTo>
                    <a:pt x="2" y="21"/>
                  </a:lnTo>
                  <a:lnTo>
                    <a:pt x="0" y="24"/>
                  </a:lnTo>
                  <a:lnTo>
                    <a:pt x="2"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5" y="3"/>
                  </a:lnTo>
                  <a:lnTo>
                    <a:pt x="7" y="0"/>
                  </a:lnTo>
                  <a:lnTo>
                    <a:pt x="3"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78" name="Freeform 419">
              <a:extLst>
                <a:ext uri="{FF2B5EF4-FFF2-40B4-BE49-F238E27FC236}">
                  <a16:creationId xmlns:a16="http://schemas.microsoft.com/office/drawing/2014/main" id="{A0864BBE-F7CF-C61D-4A6A-51FF90CBC9E3}"/>
                </a:ext>
              </a:extLst>
            </p:cNvPr>
            <p:cNvSpPr>
              <a:spLocks noEditPoints="1"/>
            </p:cNvSpPr>
            <p:nvPr/>
          </p:nvSpPr>
          <p:spPr bwMode="auto">
            <a:xfrm>
              <a:off x="1451" y="1713"/>
              <a:ext cx="321" cy="51"/>
            </a:xfrm>
            <a:custGeom>
              <a:avLst/>
              <a:gdLst>
                <a:gd name="T0" fmla="*/ 321 w 321"/>
                <a:gd name="T1" fmla="*/ 21 h 51"/>
                <a:gd name="T2" fmla="*/ 321 w 321"/>
                <a:gd name="T3" fmla="*/ 14 h 51"/>
                <a:gd name="T4" fmla="*/ 319 w 321"/>
                <a:gd name="T5" fmla="*/ 8 h 51"/>
                <a:gd name="T6" fmla="*/ 319 w 321"/>
                <a:gd name="T7" fmla="*/ 3 h 51"/>
                <a:gd name="T8" fmla="*/ 314 w 321"/>
                <a:gd name="T9" fmla="*/ 0 h 51"/>
                <a:gd name="T10" fmla="*/ 316 w 321"/>
                <a:gd name="T11" fmla="*/ 6 h 51"/>
                <a:gd name="T12" fmla="*/ 316 w 321"/>
                <a:gd name="T13" fmla="*/ 11 h 51"/>
                <a:gd name="T14" fmla="*/ 318 w 321"/>
                <a:gd name="T15" fmla="*/ 18 h 51"/>
                <a:gd name="T16" fmla="*/ 318 w 321"/>
                <a:gd name="T17" fmla="*/ 24 h 51"/>
                <a:gd name="T18" fmla="*/ 318 w 321"/>
                <a:gd name="T19" fmla="*/ 31 h 51"/>
                <a:gd name="T20" fmla="*/ 316 w 321"/>
                <a:gd name="T21" fmla="*/ 38 h 51"/>
                <a:gd name="T22" fmla="*/ 316 w 321"/>
                <a:gd name="T23" fmla="*/ 44 h 51"/>
                <a:gd name="T24" fmla="*/ 314 w 321"/>
                <a:gd name="T25" fmla="*/ 51 h 51"/>
                <a:gd name="T26" fmla="*/ 319 w 321"/>
                <a:gd name="T27" fmla="*/ 48 h 51"/>
                <a:gd name="T28" fmla="*/ 319 w 321"/>
                <a:gd name="T29" fmla="*/ 41 h 51"/>
                <a:gd name="T30" fmla="*/ 321 w 321"/>
                <a:gd name="T31" fmla="*/ 34 h 51"/>
                <a:gd name="T32" fmla="*/ 321 w 321"/>
                <a:gd name="T33" fmla="*/ 28 h 51"/>
                <a:gd name="T34" fmla="*/ 3 w 321"/>
                <a:gd name="T35" fmla="*/ 0 h 51"/>
                <a:gd name="T36" fmla="*/ 1 w 321"/>
                <a:gd name="T37" fmla="*/ 6 h 51"/>
                <a:gd name="T38" fmla="*/ 1 w 321"/>
                <a:gd name="T39" fmla="*/ 11 h 51"/>
                <a:gd name="T40" fmla="*/ 1 w 321"/>
                <a:gd name="T41" fmla="*/ 18 h 51"/>
                <a:gd name="T42" fmla="*/ 0 w 321"/>
                <a:gd name="T43" fmla="*/ 24 h 51"/>
                <a:gd name="T44" fmla="*/ 1 w 321"/>
                <a:gd name="T45" fmla="*/ 31 h 51"/>
                <a:gd name="T46" fmla="*/ 1 w 321"/>
                <a:gd name="T47" fmla="*/ 38 h 51"/>
                <a:gd name="T48" fmla="*/ 1 w 321"/>
                <a:gd name="T49" fmla="*/ 44 h 51"/>
                <a:gd name="T50" fmla="*/ 3 w 321"/>
                <a:gd name="T51" fmla="*/ 51 h 51"/>
                <a:gd name="T52" fmla="*/ 5 w 321"/>
                <a:gd name="T53" fmla="*/ 48 h 51"/>
                <a:gd name="T54" fmla="*/ 5 w 321"/>
                <a:gd name="T55" fmla="*/ 41 h 51"/>
                <a:gd name="T56" fmla="*/ 5 w 321"/>
                <a:gd name="T57" fmla="*/ 34 h 51"/>
                <a:gd name="T58" fmla="*/ 3 w 321"/>
                <a:gd name="T59" fmla="*/ 28 h 51"/>
                <a:gd name="T60" fmla="*/ 3 w 321"/>
                <a:gd name="T61" fmla="*/ 21 h 51"/>
                <a:gd name="T62" fmla="*/ 5 w 321"/>
                <a:gd name="T63" fmla="*/ 14 h 51"/>
                <a:gd name="T64" fmla="*/ 5 w 321"/>
                <a:gd name="T65" fmla="*/ 8 h 51"/>
                <a:gd name="T66" fmla="*/ 5 w 321"/>
                <a:gd name="T67" fmla="*/ 3 h 51"/>
                <a:gd name="T68" fmla="*/ 3 w 321"/>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1" h="51">
                  <a:moveTo>
                    <a:pt x="321" y="24"/>
                  </a:moveTo>
                  <a:lnTo>
                    <a:pt x="321" y="21"/>
                  </a:lnTo>
                  <a:lnTo>
                    <a:pt x="321" y="18"/>
                  </a:lnTo>
                  <a:lnTo>
                    <a:pt x="321" y="14"/>
                  </a:lnTo>
                  <a:lnTo>
                    <a:pt x="319" y="11"/>
                  </a:lnTo>
                  <a:lnTo>
                    <a:pt x="319" y="8"/>
                  </a:lnTo>
                  <a:lnTo>
                    <a:pt x="319" y="6"/>
                  </a:lnTo>
                  <a:lnTo>
                    <a:pt x="319" y="3"/>
                  </a:lnTo>
                  <a:lnTo>
                    <a:pt x="318" y="0"/>
                  </a:lnTo>
                  <a:lnTo>
                    <a:pt x="314" y="0"/>
                  </a:lnTo>
                  <a:lnTo>
                    <a:pt x="316" y="3"/>
                  </a:lnTo>
                  <a:lnTo>
                    <a:pt x="316" y="6"/>
                  </a:lnTo>
                  <a:lnTo>
                    <a:pt x="316" y="8"/>
                  </a:lnTo>
                  <a:lnTo>
                    <a:pt x="316" y="11"/>
                  </a:lnTo>
                  <a:lnTo>
                    <a:pt x="318" y="14"/>
                  </a:lnTo>
                  <a:lnTo>
                    <a:pt x="318" y="18"/>
                  </a:lnTo>
                  <a:lnTo>
                    <a:pt x="318" y="21"/>
                  </a:lnTo>
                  <a:lnTo>
                    <a:pt x="318" y="24"/>
                  </a:lnTo>
                  <a:lnTo>
                    <a:pt x="318" y="28"/>
                  </a:lnTo>
                  <a:lnTo>
                    <a:pt x="318" y="31"/>
                  </a:lnTo>
                  <a:lnTo>
                    <a:pt x="318" y="34"/>
                  </a:lnTo>
                  <a:lnTo>
                    <a:pt x="316" y="38"/>
                  </a:lnTo>
                  <a:lnTo>
                    <a:pt x="316" y="41"/>
                  </a:lnTo>
                  <a:lnTo>
                    <a:pt x="316" y="44"/>
                  </a:lnTo>
                  <a:lnTo>
                    <a:pt x="316" y="48"/>
                  </a:lnTo>
                  <a:lnTo>
                    <a:pt x="314" y="51"/>
                  </a:lnTo>
                  <a:lnTo>
                    <a:pt x="319" y="51"/>
                  </a:lnTo>
                  <a:lnTo>
                    <a:pt x="319" y="48"/>
                  </a:lnTo>
                  <a:lnTo>
                    <a:pt x="319" y="44"/>
                  </a:lnTo>
                  <a:lnTo>
                    <a:pt x="319" y="41"/>
                  </a:lnTo>
                  <a:lnTo>
                    <a:pt x="319" y="38"/>
                  </a:lnTo>
                  <a:lnTo>
                    <a:pt x="321" y="34"/>
                  </a:lnTo>
                  <a:lnTo>
                    <a:pt x="321" y="31"/>
                  </a:lnTo>
                  <a:lnTo>
                    <a:pt x="321" y="28"/>
                  </a:lnTo>
                  <a:lnTo>
                    <a:pt x="321" y="24"/>
                  </a:lnTo>
                  <a:close/>
                  <a:moveTo>
                    <a:pt x="3" y="0"/>
                  </a:moveTo>
                  <a:lnTo>
                    <a:pt x="1" y="3"/>
                  </a:lnTo>
                  <a:lnTo>
                    <a:pt x="1" y="6"/>
                  </a:lnTo>
                  <a:lnTo>
                    <a:pt x="1" y="8"/>
                  </a:lnTo>
                  <a:lnTo>
                    <a:pt x="1" y="11"/>
                  </a:lnTo>
                  <a:lnTo>
                    <a:pt x="1" y="14"/>
                  </a:lnTo>
                  <a:lnTo>
                    <a:pt x="1" y="18"/>
                  </a:lnTo>
                  <a:lnTo>
                    <a:pt x="1" y="21"/>
                  </a:lnTo>
                  <a:lnTo>
                    <a:pt x="0" y="24"/>
                  </a:lnTo>
                  <a:lnTo>
                    <a:pt x="1"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5" y="3"/>
                  </a:lnTo>
                  <a:lnTo>
                    <a:pt x="6" y="0"/>
                  </a:lnTo>
                  <a:lnTo>
                    <a:pt x="3"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79" name="Freeform 420">
              <a:extLst>
                <a:ext uri="{FF2B5EF4-FFF2-40B4-BE49-F238E27FC236}">
                  <a16:creationId xmlns:a16="http://schemas.microsoft.com/office/drawing/2014/main" id="{3D167809-51E8-5571-9CDB-A24DA697C89E}"/>
                </a:ext>
              </a:extLst>
            </p:cNvPr>
            <p:cNvSpPr>
              <a:spLocks noEditPoints="1"/>
            </p:cNvSpPr>
            <p:nvPr/>
          </p:nvSpPr>
          <p:spPr bwMode="auto">
            <a:xfrm>
              <a:off x="1452" y="1713"/>
              <a:ext cx="318" cy="51"/>
            </a:xfrm>
            <a:custGeom>
              <a:avLst/>
              <a:gdLst>
                <a:gd name="T0" fmla="*/ 318 w 318"/>
                <a:gd name="T1" fmla="*/ 21 h 51"/>
                <a:gd name="T2" fmla="*/ 318 w 318"/>
                <a:gd name="T3" fmla="*/ 14 h 51"/>
                <a:gd name="T4" fmla="*/ 317 w 318"/>
                <a:gd name="T5" fmla="*/ 8 h 51"/>
                <a:gd name="T6" fmla="*/ 317 w 318"/>
                <a:gd name="T7" fmla="*/ 3 h 51"/>
                <a:gd name="T8" fmla="*/ 312 w 318"/>
                <a:gd name="T9" fmla="*/ 0 h 51"/>
                <a:gd name="T10" fmla="*/ 313 w 318"/>
                <a:gd name="T11" fmla="*/ 6 h 51"/>
                <a:gd name="T12" fmla="*/ 313 w 318"/>
                <a:gd name="T13" fmla="*/ 11 h 51"/>
                <a:gd name="T14" fmla="*/ 315 w 318"/>
                <a:gd name="T15" fmla="*/ 18 h 51"/>
                <a:gd name="T16" fmla="*/ 315 w 318"/>
                <a:gd name="T17" fmla="*/ 24 h 51"/>
                <a:gd name="T18" fmla="*/ 315 w 318"/>
                <a:gd name="T19" fmla="*/ 31 h 51"/>
                <a:gd name="T20" fmla="*/ 313 w 318"/>
                <a:gd name="T21" fmla="*/ 38 h 51"/>
                <a:gd name="T22" fmla="*/ 313 w 318"/>
                <a:gd name="T23" fmla="*/ 44 h 51"/>
                <a:gd name="T24" fmla="*/ 312 w 318"/>
                <a:gd name="T25" fmla="*/ 51 h 51"/>
                <a:gd name="T26" fmla="*/ 317 w 318"/>
                <a:gd name="T27" fmla="*/ 48 h 51"/>
                <a:gd name="T28" fmla="*/ 317 w 318"/>
                <a:gd name="T29" fmla="*/ 41 h 51"/>
                <a:gd name="T30" fmla="*/ 318 w 318"/>
                <a:gd name="T31" fmla="*/ 34 h 51"/>
                <a:gd name="T32" fmla="*/ 318 w 318"/>
                <a:gd name="T33" fmla="*/ 28 h 51"/>
                <a:gd name="T34" fmla="*/ 4 w 318"/>
                <a:gd name="T35" fmla="*/ 0 h 51"/>
                <a:gd name="T36" fmla="*/ 2 w 318"/>
                <a:gd name="T37" fmla="*/ 6 h 51"/>
                <a:gd name="T38" fmla="*/ 2 w 318"/>
                <a:gd name="T39" fmla="*/ 11 h 51"/>
                <a:gd name="T40" fmla="*/ 2 w 318"/>
                <a:gd name="T41" fmla="*/ 18 h 51"/>
                <a:gd name="T42" fmla="*/ 0 w 318"/>
                <a:gd name="T43" fmla="*/ 24 h 51"/>
                <a:gd name="T44" fmla="*/ 2 w 318"/>
                <a:gd name="T45" fmla="*/ 31 h 51"/>
                <a:gd name="T46" fmla="*/ 2 w 318"/>
                <a:gd name="T47" fmla="*/ 38 h 51"/>
                <a:gd name="T48" fmla="*/ 2 w 318"/>
                <a:gd name="T49" fmla="*/ 44 h 51"/>
                <a:gd name="T50" fmla="*/ 4 w 318"/>
                <a:gd name="T51" fmla="*/ 51 h 51"/>
                <a:gd name="T52" fmla="*/ 5 w 318"/>
                <a:gd name="T53" fmla="*/ 48 h 51"/>
                <a:gd name="T54" fmla="*/ 5 w 318"/>
                <a:gd name="T55" fmla="*/ 41 h 51"/>
                <a:gd name="T56" fmla="*/ 5 w 318"/>
                <a:gd name="T57" fmla="*/ 34 h 51"/>
                <a:gd name="T58" fmla="*/ 4 w 318"/>
                <a:gd name="T59" fmla="*/ 28 h 51"/>
                <a:gd name="T60" fmla="*/ 4 w 318"/>
                <a:gd name="T61" fmla="*/ 21 h 51"/>
                <a:gd name="T62" fmla="*/ 5 w 318"/>
                <a:gd name="T63" fmla="*/ 14 h 51"/>
                <a:gd name="T64" fmla="*/ 5 w 318"/>
                <a:gd name="T65" fmla="*/ 8 h 51"/>
                <a:gd name="T66" fmla="*/ 5 w 318"/>
                <a:gd name="T67" fmla="*/ 3 h 51"/>
                <a:gd name="T68" fmla="*/ 4 w 31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8" h="51">
                  <a:moveTo>
                    <a:pt x="318" y="24"/>
                  </a:moveTo>
                  <a:lnTo>
                    <a:pt x="318" y="21"/>
                  </a:lnTo>
                  <a:lnTo>
                    <a:pt x="318" y="18"/>
                  </a:lnTo>
                  <a:lnTo>
                    <a:pt x="318" y="14"/>
                  </a:lnTo>
                  <a:lnTo>
                    <a:pt x="317" y="11"/>
                  </a:lnTo>
                  <a:lnTo>
                    <a:pt x="317" y="8"/>
                  </a:lnTo>
                  <a:lnTo>
                    <a:pt x="317" y="6"/>
                  </a:lnTo>
                  <a:lnTo>
                    <a:pt x="317" y="3"/>
                  </a:lnTo>
                  <a:lnTo>
                    <a:pt x="315" y="0"/>
                  </a:lnTo>
                  <a:lnTo>
                    <a:pt x="312" y="0"/>
                  </a:lnTo>
                  <a:lnTo>
                    <a:pt x="313" y="3"/>
                  </a:lnTo>
                  <a:lnTo>
                    <a:pt x="313" y="6"/>
                  </a:lnTo>
                  <a:lnTo>
                    <a:pt x="313" y="8"/>
                  </a:lnTo>
                  <a:lnTo>
                    <a:pt x="313" y="11"/>
                  </a:lnTo>
                  <a:lnTo>
                    <a:pt x="315" y="14"/>
                  </a:lnTo>
                  <a:lnTo>
                    <a:pt x="315" y="18"/>
                  </a:lnTo>
                  <a:lnTo>
                    <a:pt x="315" y="21"/>
                  </a:lnTo>
                  <a:lnTo>
                    <a:pt x="315" y="24"/>
                  </a:lnTo>
                  <a:lnTo>
                    <a:pt x="315" y="28"/>
                  </a:lnTo>
                  <a:lnTo>
                    <a:pt x="315" y="31"/>
                  </a:lnTo>
                  <a:lnTo>
                    <a:pt x="315" y="34"/>
                  </a:lnTo>
                  <a:lnTo>
                    <a:pt x="313" y="38"/>
                  </a:lnTo>
                  <a:lnTo>
                    <a:pt x="313" y="41"/>
                  </a:lnTo>
                  <a:lnTo>
                    <a:pt x="313" y="44"/>
                  </a:lnTo>
                  <a:lnTo>
                    <a:pt x="313" y="48"/>
                  </a:lnTo>
                  <a:lnTo>
                    <a:pt x="312" y="51"/>
                  </a:lnTo>
                  <a:lnTo>
                    <a:pt x="315" y="51"/>
                  </a:lnTo>
                  <a:lnTo>
                    <a:pt x="317" y="48"/>
                  </a:lnTo>
                  <a:lnTo>
                    <a:pt x="317" y="44"/>
                  </a:lnTo>
                  <a:lnTo>
                    <a:pt x="317" y="41"/>
                  </a:lnTo>
                  <a:lnTo>
                    <a:pt x="317" y="38"/>
                  </a:lnTo>
                  <a:lnTo>
                    <a:pt x="318" y="34"/>
                  </a:lnTo>
                  <a:lnTo>
                    <a:pt x="318" y="31"/>
                  </a:lnTo>
                  <a:lnTo>
                    <a:pt x="318" y="28"/>
                  </a:lnTo>
                  <a:lnTo>
                    <a:pt x="318" y="24"/>
                  </a:lnTo>
                  <a:close/>
                  <a:moveTo>
                    <a:pt x="4" y="0"/>
                  </a:moveTo>
                  <a:lnTo>
                    <a:pt x="2"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6"/>
                  </a:lnTo>
                  <a:lnTo>
                    <a:pt x="5" y="3"/>
                  </a:lnTo>
                  <a:lnTo>
                    <a:pt x="7" y="0"/>
                  </a:lnTo>
                  <a:lnTo>
                    <a:pt x="4"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80" name="Freeform 421">
              <a:extLst>
                <a:ext uri="{FF2B5EF4-FFF2-40B4-BE49-F238E27FC236}">
                  <a16:creationId xmlns:a16="http://schemas.microsoft.com/office/drawing/2014/main" id="{DC74C8E9-F6FB-AA9C-7E9D-640FA91A9F43}"/>
                </a:ext>
              </a:extLst>
            </p:cNvPr>
            <p:cNvSpPr>
              <a:spLocks noEditPoints="1"/>
            </p:cNvSpPr>
            <p:nvPr/>
          </p:nvSpPr>
          <p:spPr bwMode="auto">
            <a:xfrm>
              <a:off x="1454" y="1713"/>
              <a:ext cx="315" cy="51"/>
            </a:xfrm>
            <a:custGeom>
              <a:avLst/>
              <a:gdLst>
                <a:gd name="T0" fmla="*/ 315 w 315"/>
                <a:gd name="T1" fmla="*/ 21 h 51"/>
                <a:gd name="T2" fmla="*/ 315 w 315"/>
                <a:gd name="T3" fmla="*/ 14 h 51"/>
                <a:gd name="T4" fmla="*/ 313 w 315"/>
                <a:gd name="T5" fmla="*/ 8 h 51"/>
                <a:gd name="T6" fmla="*/ 313 w 315"/>
                <a:gd name="T7" fmla="*/ 3 h 51"/>
                <a:gd name="T8" fmla="*/ 308 w 315"/>
                <a:gd name="T9" fmla="*/ 0 h 51"/>
                <a:gd name="T10" fmla="*/ 310 w 315"/>
                <a:gd name="T11" fmla="*/ 6 h 51"/>
                <a:gd name="T12" fmla="*/ 310 w 315"/>
                <a:gd name="T13" fmla="*/ 11 h 51"/>
                <a:gd name="T14" fmla="*/ 311 w 315"/>
                <a:gd name="T15" fmla="*/ 18 h 51"/>
                <a:gd name="T16" fmla="*/ 311 w 315"/>
                <a:gd name="T17" fmla="*/ 24 h 51"/>
                <a:gd name="T18" fmla="*/ 311 w 315"/>
                <a:gd name="T19" fmla="*/ 31 h 51"/>
                <a:gd name="T20" fmla="*/ 310 w 315"/>
                <a:gd name="T21" fmla="*/ 38 h 51"/>
                <a:gd name="T22" fmla="*/ 310 w 315"/>
                <a:gd name="T23" fmla="*/ 44 h 51"/>
                <a:gd name="T24" fmla="*/ 308 w 315"/>
                <a:gd name="T25" fmla="*/ 51 h 51"/>
                <a:gd name="T26" fmla="*/ 313 w 315"/>
                <a:gd name="T27" fmla="*/ 48 h 51"/>
                <a:gd name="T28" fmla="*/ 313 w 315"/>
                <a:gd name="T29" fmla="*/ 41 h 51"/>
                <a:gd name="T30" fmla="*/ 315 w 315"/>
                <a:gd name="T31" fmla="*/ 34 h 51"/>
                <a:gd name="T32" fmla="*/ 315 w 315"/>
                <a:gd name="T33" fmla="*/ 28 h 51"/>
                <a:gd name="T34" fmla="*/ 3 w 315"/>
                <a:gd name="T35" fmla="*/ 0 h 51"/>
                <a:gd name="T36" fmla="*/ 2 w 315"/>
                <a:gd name="T37" fmla="*/ 6 h 51"/>
                <a:gd name="T38" fmla="*/ 2 w 315"/>
                <a:gd name="T39" fmla="*/ 11 h 51"/>
                <a:gd name="T40" fmla="*/ 2 w 315"/>
                <a:gd name="T41" fmla="*/ 18 h 51"/>
                <a:gd name="T42" fmla="*/ 0 w 315"/>
                <a:gd name="T43" fmla="*/ 24 h 51"/>
                <a:gd name="T44" fmla="*/ 2 w 315"/>
                <a:gd name="T45" fmla="*/ 31 h 51"/>
                <a:gd name="T46" fmla="*/ 2 w 315"/>
                <a:gd name="T47" fmla="*/ 38 h 51"/>
                <a:gd name="T48" fmla="*/ 2 w 315"/>
                <a:gd name="T49" fmla="*/ 44 h 51"/>
                <a:gd name="T50" fmla="*/ 3 w 315"/>
                <a:gd name="T51" fmla="*/ 51 h 51"/>
                <a:gd name="T52" fmla="*/ 5 w 315"/>
                <a:gd name="T53" fmla="*/ 48 h 51"/>
                <a:gd name="T54" fmla="*/ 5 w 315"/>
                <a:gd name="T55" fmla="*/ 41 h 51"/>
                <a:gd name="T56" fmla="*/ 5 w 315"/>
                <a:gd name="T57" fmla="*/ 34 h 51"/>
                <a:gd name="T58" fmla="*/ 3 w 315"/>
                <a:gd name="T59" fmla="*/ 28 h 51"/>
                <a:gd name="T60" fmla="*/ 3 w 315"/>
                <a:gd name="T61" fmla="*/ 21 h 51"/>
                <a:gd name="T62" fmla="*/ 5 w 315"/>
                <a:gd name="T63" fmla="*/ 14 h 51"/>
                <a:gd name="T64" fmla="*/ 5 w 315"/>
                <a:gd name="T65" fmla="*/ 8 h 51"/>
                <a:gd name="T66" fmla="*/ 5 w 315"/>
                <a:gd name="T67" fmla="*/ 3 h 51"/>
                <a:gd name="T68" fmla="*/ 3 w 31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5" h="51">
                  <a:moveTo>
                    <a:pt x="315" y="24"/>
                  </a:moveTo>
                  <a:lnTo>
                    <a:pt x="315" y="21"/>
                  </a:lnTo>
                  <a:lnTo>
                    <a:pt x="315" y="18"/>
                  </a:lnTo>
                  <a:lnTo>
                    <a:pt x="315" y="14"/>
                  </a:lnTo>
                  <a:lnTo>
                    <a:pt x="313" y="11"/>
                  </a:lnTo>
                  <a:lnTo>
                    <a:pt x="313" y="8"/>
                  </a:lnTo>
                  <a:lnTo>
                    <a:pt x="313" y="6"/>
                  </a:lnTo>
                  <a:lnTo>
                    <a:pt x="313" y="3"/>
                  </a:lnTo>
                  <a:lnTo>
                    <a:pt x="311" y="0"/>
                  </a:lnTo>
                  <a:lnTo>
                    <a:pt x="308" y="0"/>
                  </a:lnTo>
                  <a:lnTo>
                    <a:pt x="310" y="3"/>
                  </a:lnTo>
                  <a:lnTo>
                    <a:pt x="310" y="6"/>
                  </a:lnTo>
                  <a:lnTo>
                    <a:pt x="310" y="8"/>
                  </a:lnTo>
                  <a:lnTo>
                    <a:pt x="310" y="11"/>
                  </a:lnTo>
                  <a:lnTo>
                    <a:pt x="311" y="14"/>
                  </a:lnTo>
                  <a:lnTo>
                    <a:pt x="311" y="18"/>
                  </a:lnTo>
                  <a:lnTo>
                    <a:pt x="311" y="21"/>
                  </a:lnTo>
                  <a:lnTo>
                    <a:pt x="311" y="24"/>
                  </a:lnTo>
                  <a:lnTo>
                    <a:pt x="311" y="28"/>
                  </a:lnTo>
                  <a:lnTo>
                    <a:pt x="311" y="31"/>
                  </a:lnTo>
                  <a:lnTo>
                    <a:pt x="311" y="34"/>
                  </a:lnTo>
                  <a:lnTo>
                    <a:pt x="310" y="38"/>
                  </a:lnTo>
                  <a:lnTo>
                    <a:pt x="310" y="41"/>
                  </a:lnTo>
                  <a:lnTo>
                    <a:pt x="310" y="44"/>
                  </a:lnTo>
                  <a:lnTo>
                    <a:pt x="310" y="48"/>
                  </a:lnTo>
                  <a:lnTo>
                    <a:pt x="308" y="51"/>
                  </a:lnTo>
                  <a:lnTo>
                    <a:pt x="311" y="51"/>
                  </a:lnTo>
                  <a:lnTo>
                    <a:pt x="313" y="48"/>
                  </a:lnTo>
                  <a:lnTo>
                    <a:pt x="313" y="44"/>
                  </a:lnTo>
                  <a:lnTo>
                    <a:pt x="313" y="41"/>
                  </a:lnTo>
                  <a:lnTo>
                    <a:pt x="313" y="38"/>
                  </a:lnTo>
                  <a:lnTo>
                    <a:pt x="315" y="34"/>
                  </a:lnTo>
                  <a:lnTo>
                    <a:pt x="315" y="31"/>
                  </a:lnTo>
                  <a:lnTo>
                    <a:pt x="315" y="28"/>
                  </a:lnTo>
                  <a:lnTo>
                    <a:pt x="315" y="24"/>
                  </a:lnTo>
                  <a:close/>
                  <a:moveTo>
                    <a:pt x="3" y="0"/>
                  </a:moveTo>
                  <a:lnTo>
                    <a:pt x="2"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5" y="3"/>
                  </a:lnTo>
                  <a:lnTo>
                    <a:pt x="6" y="0"/>
                  </a:lnTo>
                  <a:lnTo>
                    <a:pt x="3"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81" name="Freeform 422">
              <a:extLst>
                <a:ext uri="{FF2B5EF4-FFF2-40B4-BE49-F238E27FC236}">
                  <a16:creationId xmlns:a16="http://schemas.microsoft.com/office/drawing/2014/main" id="{CA3DE57C-6E97-3FAF-A371-4C830AF3A52C}"/>
                </a:ext>
              </a:extLst>
            </p:cNvPr>
            <p:cNvSpPr>
              <a:spLocks noEditPoints="1"/>
            </p:cNvSpPr>
            <p:nvPr/>
          </p:nvSpPr>
          <p:spPr bwMode="auto">
            <a:xfrm>
              <a:off x="1456" y="1713"/>
              <a:ext cx="311" cy="51"/>
            </a:xfrm>
            <a:custGeom>
              <a:avLst/>
              <a:gdLst>
                <a:gd name="T0" fmla="*/ 311 w 311"/>
                <a:gd name="T1" fmla="*/ 21 h 51"/>
                <a:gd name="T2" fmla="*/ 311 w 311"/>
                <a:gd name="T3" fmla="*/ 14 h 51"/>
                <a:gd name="T4" fmla="*/ 309 w 311"/>
                <a:gd name="T5" fmla="*/ 8 h 51"/>
                <a:gd name="T6" fmla="*/ 309 w 311"/>
                <a:gd name="T7" fmla="*/ 3 h 51"/>
                <a:gd name="T8" fmla="*/ 304 w 311"/>
                <a:gd name="T9" fmla="*/ 0 h 51"/>
                <a:gd name="T10" fmla="*/ 306 w 311"/>
                <a:gd name="T11" fmla="*/ 6 h 51"/>
                <a:gd name="T12" fmla="*/ 306 w 311"/>
                <a:gd name="T13" fmla="*/ 11 h 51"/>
                <a:gd name="T14" fmla="*/ 308 w 311"/>
                <a:gd name="T15" fmla="*/ 18 h 51"/>
                <a:gd name="T16" fmla="*/ 308 w 311"/>
                <a:gd name="T17" fmla="*/ 24 h 51"/>
                <a:gd name="T18" fmla="*/ 308 w 311"/>
                <a:gd name="T19" fmla="*/ 31 h 51"/>
                <a:gd name="T20" fmla="*/ 306 w 311"/>
                <a:gd name="T21" fmla="*/ 38 h 51"/>
                <a:gd name="T22" fmla="*/ 306 w 311"/>
                <a:gd name="T23" fmla="*/ 44 h 51"/>
                <a:gd name="T24" fmla="*/ 304 w 311"/>
                <a:gd name="T25" fmla="*/ 51 h 51"/>
                <a:gd name="T26" fmla="*/ 309 w 311"/>
                <a:gd name="T27" fmla="*/ 48 h 51"/>
                <a:gd name="T28" fmla="*/ 309 w 311"/>
                <a:gd name="T29" fmla="*/ 41 h 51"/>
                <a:gd name="T30" fmla="*/ 311 w 311"/>
                <a:gd name="T31" fmla="*/ 34 h 51"/>
                <a:gd name="T32" fmla="*/ 311 w 311"/>
                <a:gd name="T33" fmla="*/ 28 h 51"/>
                <a:gd name="T34" fmla="*/ 3 w 311"/>
                <a:gd name="T35" fmla="*/ 0 h 51"/>
                <a:gd name="T36" fmla="*/ 1 w 311"/>
                <a:gd name="T37" fmla="*/ 6 h 51"/>
                <a:gd name="T38" fmla="*/ 1 w 311"/>
                <a:gd name="T39" fmla="*/ 11 h 51"/>
                <a:gd name="T40" fmla="*/ 1 w 311"/>
                <a:gd name="T41" fmla="*/ 18 h 51"/>
                <a:gd name="T42" fmla="*/ 0 w 311"/>
                <a:gd name="T43" fmla="*/ 24 h 51"/>
                <a:gd name="T44" fmla="*/ 1 w 311"/>
                <a:gd name="T45" fmla="*/ 31 h 51"/>
                <a:gd name="T46" fmla="*/ 1 w 311"/>
                <a:gd name="T47" fmla="*/ 38 h 51"/>
                <a:gd name="T48" fmla="*/ 1 w 311"/>
                <a:gd name="T49" fmla="*/ 44 h 51"/>
                <a:gd name="T50" fmla="*/ 3 w 311"/>
                <a:gd name="T51" fmla="*/ 51 h 51"/>
                <a:gd name="T52" fmla="*/ 4 w 311"/>
                <a:gd name="T53" fmla="*/ 48 h 51"/>
                <a:gd name="T54" fmla="*/ 4 w 311"/>
                <a:gd name="T55" fmla="*/ 41 h 51"/>
                <a:gd name="T56" fmla="*/ 4 w 311"/>
                <a:gd name="T57" fmla="*/ 34 h 51"/>
                <a:gd name="T58" fmla="*/ 3 w 311"/>
                <a:gd name="T59" fmla="*/ 28 h 51"/>
                <a:gd name="T60" fmla="*/ 3 w 311"/>
                <a:gd name="T61" fmla="*/ 21 h 51"/>
                <a:gd name="T62" fmla="*/ 4 w 311"/>
                <a:gd name="T63" fmla="*/ 14 h 51"/>
                <a:gd name="T64" fmla="*/ 4 w 311"/>
                <a:gd name="T65" fmla="*/ 8 h 51"/>
                <a:gd name="T66" fmla="*/ 6 w 311"/>
                <a:gd name="T67" fmla="*/ 3 h 51"/>
                <a:gd name="T68" fmla="*/ 3 w 311"/>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1" h="51">
                  <a:moveTo>
                    <a:pt x="311" y="24"/>
                  </a:moveTo>
                  <a:lnTo>
                    <a:pt x="311" y="21"/>
                  </a:lnTo>
                  <a:lnTo>
                    <a:pt x="311" y="18"/>
                  </a:lnTo>
                  <a:lnTo>
                    <a:pt x="311" y="14"/>
                  </a:lnTo>
                  <a:lnTo>
                    <a:pt x="309" y="11"/>
                  </a:lnTo>
                  <a:lnTo>
                    <a:pt x="309" y="8"/>
                  </a:lnTo>
                  <a:lnTo>
                    <a:pt x="309" y="6"/>
                  </a:lnTo>
                  <a:lnTo>
                    <a:pt x="309" y="3"/>
                  </a:lnTo>
                  <a:lnTo>
                    <a:pt x="308" y="0"/>
                  </a:lnTo>
                  <a:lnTo>
                    <a:pt x="304" y="0"/>
                  </a:lnTo>
                  <a:lnTo>
                    <a:pt x="306" y="3"/>
                  </a:lnTo>
                  <a:lnTo>
                    <a:pt x="306" y="6"/>
                  </a:lnTo>
                  <a:lnTo>
                    <a:pt x="306" y="8"/>
                  </a:lnTo>
                  <a:lnTo>
                    <a:pt x="306" y="11"/>
                  </a:lnTo>
                  <a:lnTo>
                    <a:pt x="308" y="14"/>
                  </a:lnTo>
                  <a:lnTo>
                    <a:pt x="308" y="18"/>
                  </a:lnTo>
                  <a:lnTo>
                    <a:pt x="308" y="21"/>
                  </a:lnTo>
                  <a:lnTo>
                    <a:pt x="308" y="24"/>
                  </a:lnTo>
                  <a:lnTo>
                    <a:pt x="308" y="28"/>
                  </a:lnTo>
                  <a:lnTo>
                    <a:pt x="308" y="31"/>
                  </a:lnTo>
                  <a:lnTo>
                    <a:pt x="308" y="34"/>
                  </a:lnTo>
                  <a:lnTo>
                    <a:pt x="306" y="38"/>
                  </a:lnTo>
                  <a:lnTo>
                    <a:pt x="306" y="41"/>
                  </a:lnTo>
                  <a:lnTo>
                    <a:pt x="306" y="44"/>
                  </a:lnTo>
                  <a:lnTo>
                    <a:pt x="306" y="48"/>
                  </a:lnTo>
                  <a:lnTo>
                    <a:pt x="304" y="51"/>
                  </a:lnTo>
                  <a:lnTo>
                    <a:pt x="308" y="51"/>
                  </a:lnTo>
                  <a:lnTo>
                    <a:pt x="309" y="48"/>
                  </a:lnTo>
                  <a:lnTo>
                    <a:pt x="309" y="44"/>
                  </a:lnTo>
                  <a:lnTo>
                    <a:pt x="309" y="41"/>
                  </a:lnTo>
                  <a:lnTo>
                    <a:pt x="309" y="38"/>
                  </a:lnTo>
                  <a:lnTo>
                    <a:pt x="311" y="34"/>
                  </a:lnTo>
                  <a:lnTo>
                    <a:pt x="311" y="31"/>
                  </a:lnTo>
                  <a:lnTo>
                    <a:pt x="311" y="28"/>
                  </a:lnTo>
                  <a:lnTo>
                    <a:pt x="311" y="24"/>
                  </a:lnTo>
                  <a:close/>
                  <a:moveTo>
                    <a:pt x="3" y="0"/>
                  </a:moveTo>
                  <a:lnTo>
                    <a:pt x="1" y="3"/>
                  </a:lnTo>
                  <a:lnTo>
                    <a:pt x="1" y="6"/>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4" y="48"/>
                  </a:lnTo>
                  <a:lnTo>
                    <a:pt x="4" y="44"/>
                  </a:lnTo>
                  <a:lnTo>
                    <a:pt x="4" y="41"/>
                  </a:lnTo>
                  <a:lnTo>
                    <a:pt x="4" y="38"/>
                  </a:lnTo>
                  <a:lnTo>
                    <a:pt x="4" y="34"/>
                  </a:lnTo>
                  <a:lnTo>
                    <a:pt x="4" y="31"/>
                  </a:lnTo>
                  <a:lnTo>
                    <a:pt x="3" y="28"/>
                  </a:lnTo>
                  <a:lnTo>
                    <a:pt x="3" y="24"/>
                  </a:lnTo>
                  <a:lnTo>
                    <a:pt x="3" y="21"/>
                  </a:lnTo>
                  <a:lnTo>
                    <a:pt x="4" y="18"/>
                  </a:lnTo>
                  <a:lnTo>
                    <a:pt x="4" y="14"/>
                  </a:lnTo>
                  <a:lnTo>
                    <a:pt x="4" y="11"/>
                  </a:lnTo>
                  <a:lnTo>
                    <a:pt x="4" y="8"/>
                  </a:lnTo>
                  <a:lnTo>
                    <a:pt x="4" y="6"/>
                  </a:lnTo>
                  <a:lnTo>
                    <a:pt x="6" y="3"/>
                  </a:lnTo>
                  <a:lnTo>
                    <a:pt x="6" y="0"/>
                  </a:lnTo>
                  <a:lnTo>
                    <a:pt x="3"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82" name="Freeform 423">
              <a:extLst>
                <a:ext uri="{FF2B5EF4-FFF2-40B4-BE49-F238E27FC236}">
                  <a16:creationId xmlns:a16="http://schemas.microsoft.com/office/drawing/2014/main" id="{CCFFD819-18F5-1650-D4B6-008827343315}"/>
                </a:ext>
              </a:extLst>
            </p:cNvPr>
            <p:cNvSpPr>
              <a:spLocks noEditPoints="1"/>
            </p:cNvSpPr>
            <p:nvPr/>
          </p:nvSpPr>
          <p:spPr bwMode="auto">
            <a:xfrm>
              <a:off x="1457" y="1713"/>
              <a:ext cx="308" cy="51"/>
            </a:xfrm>
            <a:custGeom>
              <a:avLst/>
              <a:gdLst>
                <a:gd name="T0" fmla="*/ 308 w 308"/>
                <a:gd name="T1" fmla="*/ 21 h 51"/>
                <a:gd name="T2" fmla="*/ 308 w 308"/>
                <a:gd name="T3" fmla="*/ 14 h 51"/>
                <a:gd name="T4" fmla="*/ 307 w 308"/>
                <a:gd name="T5" fmla="*/ 8 h 51"/>
                <a:gd name="T6" fmla="*/ 307 w 308"/>
                <a:gd name="T7" fmla="*/ 3 h 51"/>
                <a:gd name="T8" fmla="*/ 302 w 308"/>
                <a:gd name="T9" fmla="*/ 0 h 51"/>
                <a:gd name="T10" fmla="*/ 303 w 308"/>
                <a:gd name="T11" fmla="*/ 6 h 51"/>
                <a:gd name="T12" fmla="*/ 303 w 308"/>
                <a:gd name="T13" fmla="*/ 11 h 51"/>
                <a:gd name="T14" fmla="*/ 305 w 308"/>
                <a:gd name="T15" fmla="*/ 18 h 51"/>
                <a:gd name="T16" fmla="*/ 305 w 308"/>
                <a:gd name="T17" fmla="*/ 24 h 51"/>
                <a:gd name="T18" fmla="*/ 305 w 308"/>
                <a:gd name="T19" fmla="*/ 31 h 51"/>
                <a:gd name="T20" fmla="*/ 303 w 308"/>
                <a:gd name="T21" fmla="*/ 38 h 51"/>
                <a:gd name="T22" fmla="*/ 303 w 308"/>
                <a:gd name="T23" fmla="*/ 44 h 51"/>
                <a:gd name="T24" fmla="*/ 302 w 308"/>
                <a:gd name="T25" fmla="*/ 51 h 51"/>
                <a:gd name="T26" fmla="*/ 307 w 308"/>
                <a:gd name="T27" fmla="*/ 48 h 51"/>
                <a:gd name="T28" fmla="*/ 307 w 308"/>
                <a:gd name="T29" fmla="*/ 41 h 51"/>
                <a:gd name="T30" fmla="*/ 308 w 308"/>
                <a:gd name="T31" fmla="*/ 34 h 51"/>
                <a:gd name="T32" fmla="*/ 308 w 308"/>
                <a:gd name="T33" fmla="*/ 28 h 51"/>
                <a:gd name="T34" fmla="*/ 3 w 308"/>
                <a:gd name="T35" fmla="*/ 0 h 51"/>
                <a:gd name="T36" fmla="*/ 2 w 308"/>
                <a:gd name="T37" fmla="*/ 6 h 51"/>
                <a:gd name="T38" fmla="*/ 2 w 308"/>
                <a:gd name="T39" fmla="*/ 11 h 51"/>
                <a:gd name="T40" fmla="*/ 2 w 308"/>
                <a:gd name="T41" fmla="*/ 18 h 51"/>
                <a:gd name="T42" fmla="*/ 0 w 308"/>
                <a:gd name="T43" fmla="*/ 24 h 51"/>
                <a:gd name="T44" fmla="*/ 2 w 308"/>
                <a:gd name="T45" fmla="*/ 31 h 51"/>
                <a:gd name="T46" fmla="*/ 2 w 308"/>
                <a:gd name="T47" fmla="*/ 38 h 51"/>
                <a:gd name="T48" fmla="*/ 2 w 308"/>
                <a:gd name="T49" fmla="*/ 44 h 51"/>
                <a:gd name="T50" fmla="*/ 3 w 308"/>
                <a:gd name="T51" fmla="*/ 51 h 51"/>
                <a:gd name="T52" fmla="*/ 5 w 308"/>
                <a:gd name="T53" fmla="*/ 48 h 51"/>
                <a:gd name="T54" fmla="*/ 5 w 308"/>
                <a:gd name="T55" fmla="*/ 41 h 51"/>
                <a:gd name="T56" fmla="*/ 5 w 308"/>
                <a:gd name="T57" fmla="*/ 34 h 51"/>
                <a:gd name="T58" fmla="*/ 3 w 308"/>
                <a:gd name="T59" fmla="*/ 28 h 51"/>
                <a:gd name="T60" fmla="*/ 3 w 308"/>
                <a:gd name="T61" fmla="*/ 21 h 51"/>
                <a:gd name="T62" fmla="*/ 5 w 308"/>
                <a:gd name="T63" fmla="*/ 14 h 51"/>
                <a:gd name="T64" fmla="*/ 5 w 308"/>
                <a:gd name="T65" fmla="*/ 8 h 51"/>
                <a:gd name="T66" fmla="*/ 7 w 308"/>
                <a:gd name="T67" fmla="*/ 3 h 51"/>
                <a:gd name="T68" fmla="*/ 3 w 30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8" h="51">
                  <a:moveTo>
                    <a:pt x="308" y="24"/>
                  </a:moveTo>
                  <a:lnTo>
                    <a:pt x="308" y="21"/>
                  </a:lnTo>
                  <a:lnTo>
                    <a:pt x="308" y="18"/>
                  </a:lnTo>
                  <a:lnTo>
                    <a:pt x="308" y="14"/>
                  </a:lnTo>
                  <a:lnTo>
                    <a:pt x="307" y="11"/>
                  </a:lnTo>
                  <a:lnTo>
                    <a:pt x="307" y="8"/>
                  </a:lnTo>
                  <a:lnTo>
                    <a:pt x="307" y="6"/>
                  </a:lnTo>
                  <a:lnTo>
                    <a:pt x="307" y="3"/>
                  </a:lnTo>
                  <a:lnTo>
                    <a:pt x="305" y="0"/>
                  </a:lnTo>
                  <a:lnTo>
                    <a:pt x="302" y="0"/>
                  </a:lnTo>
                  <a:lnTo>
                    <a:pt x="303" y="3"/>
                  </a:lnTo>
                  <a:lnTo>
                    <a:pt x="303" y="6"/>
                  </a:lnTo>
                  <a:lnTo>
                    <a:pt x="303" y="8"/>
                  </a:lnTo>
                  <a:lnTo>
                    <a:pt x="303" y="11"/>
                  </a:lnTo>
                  <a:lnTo>
                    <a:pt x="305" y="14"/>
                  </a:lnTo>
                  <a:lnTo>
                    <a:pt x="305" y="18"/>
                  </a:lnTo>
                  <a:lnTo>
                    <a:pt x="305" y="21"/>
                  </a:lnTo>
                  <a:lnTo>
                    <a:pt x="305" y="24"/>
                  </a:lnTo>
                  <a:lnTo>
                    <a:pt x="305" y="28"/>
                  </a:lnTo>
                  <a:lnTo>
                    <a:pt x="305" y="31"/>
                  </a:lnTo>
                  <a:lnTo>
                    <a:pt x="305" y="34"/>
                  </a:lnTo>
                  <a:lnTo>
                    <a:pt x="303" y="38"/>
                  </a:lnTo>
                  <a:lnTo>
                    <a:pt x="303" y="41"/>
                  </a:lnTo>
                  <a:lnTo>
                    <a:pt x="303" y="44"/>
                  </a:lnTo>
                  <a:lnTo>
                    <a:pt x="303" y="48"/>
                  </a:lnTo>
                  <a:lnTo>
                    <a:pt x="302" y="51"/>
                  </a:lnTo>
                  <a:lnTo>
                    <a:pt x="305" y="51"/>
                  </a:lnTo>
                  <a:lnTo>
                    <a:pt x="307" y="48"/>
                  </a:lnTo>
                  <a:lnTo>
                    <a:pt x="307" y="44"/>
                  </a:lnTo>
                  <a:lnTo>
                    <a:pt x="307" y="41"/>
                  </a:lnTo>
                  <a:lnTo>
                    <a:pt x="307" y="38"/>
                  </a:lnTo>
                  <a:lnTo>
                    <a:pt x="308" y="34"/>
                  </a:lnTo>
                  <a:lnTo>
                    <a:pt x="308" y="31"/>
                  </a:lnTo>
                  <a:lnTo>
                    <a:pt x="308" y="28"/>
                  </a:lnTo>
                  <a:lnTo>
                    <a:pt x="308" y="24"/>
                  </a:lnTo>
                  <a:close/>
                  <a:moveTo>
                    <a:pt x="3" y="0"/>
                  </a:moveTo>
                  <a:lnTo>
                    <a:pt x="2"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7" y="3"/>
                  </a:lnTo>
                  <a:lnTo>
                    <a:pt x="7" y="0"/>
                  </a:lnTo>
                  <a:lnTo>
                    <a:pt x="3"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83" name="Freeform 424">
              <a:extLst>
                <a:ext uri="{FF2B5EF4-FFF2-40B4-BE49-F238E27FC236}">
                  <a16:creationId xmlns:a16="http://schemas.microsoft.com/office/drawing/2014/main" id="{A69C84C1-AB92-E291-AB47-50FC2EDF5206}"/>
                </a:ext>
              </a:extLst>
            </p:cNvPr>
            <p:cNvSpPr>
              <a:spLocks noEditPoints="1"/>
            </p:cNvSpPr>
            <p:nvPr/>
          </p:nvSpPr>
          <p:spPr bwMode="auto">
            <a:xfrm>
              <a:off x="1459" y="1713"/>
              <a:ext cx="305" cy="51"/>
            </a:xfrm>
            <a:custGeom>
              <a:avLst/>
              <a:gdLst>
                <a:gd name="T0" fmla="*/ 305 w 305"/>
                <a:gd name="T1" fmla="*/ 21 h 51"/>
                <a:gd name="T2" fmla="*/ 305 w 305"/>
                <a:gd name="T3" fmla="*/ 14 h 51"/>
                <a:gd name="T4" fmla="*/ 303 w 305"/>
                <a:gd name="T5" fmla="*/ 8 h 51"/>
                <a:gd name="T6" fmla="*/ 303 w 305"/>
                <a:gd name="T7" fmla="*/ 3 h 51"/>
                <a:gd name="T8" fmla="*/ 298 w 305"/>
                <a:gd name="T9" fmla="*/ 0 h 51"/>
                <a:gd name="T10" fmla="*/ 300 w 305"/>
                <a:gd name="T11" fmla="*/ 6 h 51"/>
                <a:gd name="T12" fmla="*/ 300 w 305"/>
                <a:gd name="T13" fmla="*/ 11 h 51"/>
                <a:gd name="T14" fmla="*/ 301 w 305"/>
                <a:gd name="T15" fmla="*/ 18 h 51"/>
                <a:gd name="T16" fmla="*/ 301 w 305"/>
                <a:gd name="T17" fmla="*/ 24 h 51"/>
                <a:gd name="T18" fmla="*/ 301 w 305"/>
                <a:gd name="T19" fmla="*/ 31 h 51"/>
                <a:gd name="T20" fmla="*/ 300 w 305"/>
                <a:gd name="T21" fmla="*/ 38 h 51"/>
                <a:gd name="T22" fmla="*/ 300 w 305"/>
                <a:gd name="T23" fmla="*/ 44 h 51"/>
                <a:gd name="T24" fmla="*/ 298 w 305"/>
                <a:gd name="T25" fmla="*/ 51 h 51"/>
                <a:gd name="T26" fmla="*/ 303 w 305"/>
                <a:gd name="T27" fmla="*/ 48 h 51"/>
                <a:gd name="T28" fmla="*/ 303 w 305"/>
                <a:gd name="T29" fmla="*/ 41 h 51"/>
                <a:gd name="T30" fmla="*/ 305 w 305"/>
                <a:gd name="T31" fmla="*/ 34 h 51"/>
                <a:gd name="T32" fmla="*/ 305 w 305"/>
                <a:gd name="T33" fmla="*/ 28 h 51"/>
                <a:gd name="T34" fmla="*/ 3 w 305"/>
                <a:gd name="T35" fmla="*/ 0 h 51"/>
                <a:gd name="T36" fmla="*/ 1 w 305"/>
                <a:gd name="T37" fmla="*/ 6 h 51"/>
                <a:gd name="T38" fmla="*/ 1 w 305"/>
                <a:gd name="T39" fmla="*/ 11 h 51"/>
                <a:gd name="T40" fmla="*/ 1 w 305"/>
                <a:gd name="T41" fmla="*/ 18 h 51"/>
                <a:gd name="T42" fmla="*/ 0 w 305"/>
                <a:gd name="T43" fmla="*/ 24 h 51"/>
                <a:gd name="T44" fmla="*/ 1 w 305"/>
                <a:gd name="T45" fmla="*/ 31 h 51"/>
                <a:gd name="T46" fmla="*/ 1 w 305"/>
                <a:gd name="T47" fmla="*/ 38 h 51"/>
                <a:gd name="T48" fmla="*/ 1 w 305"/>
                <a:gd name="T49" fmla="*/ 44 h 51"/>
                <a:gd name="T50" fmla="*/ 3 w 305"/>
                <a:gd name="T51" fmla="*/ 51 h 51"/>
                <a:gd name="T52" fmla="*/ 5 w 305"/>
                <a:gd name="T53" fmla="*/ 48 h 51"/>
                <a:gd name="T54" fmla="*/ 5 w 305"/>
                <a:gd name="T55" fmla="*/ 41 h 51"/>
                <a:gd name="T56" fmla="*/ 5 w 305"/>
                <a:gd name="T57" fmla="*/ 34 h 51"/>
                <a:gd name="T58" fmla="*/ 3 w 305"/>
                <a:gd name="T59" fmla="*/ 28 h 51"/>
                <a:gd name="T60" fmla="*/ 3 w 305"/>
                <a:gd name="T61" fmla="*/ 21 h 51"/>
                <a:gd name="T62" fmla="*/ 5 w 305"/>
                <a:gd name="T63" fmla="*/ 14 h 51"/>
                <a:gd name="T64" fmla="*/ 5 w 305"/>
                <a:gd name="T65" fmla="*/ 8 h 51"/>
                <a:gd name="T66" fmla="*/ 6 w 305"/>
                <a:gd name="T67" fmla="*/ 3 h 51"/>
                <a:gd name="T68" fmla="*/ 3 w 30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5" h="51">
                  <a:moveTo>
                    <a:pt x="305" y="24"/>
                  </a:moveTo>
                  <a:lnTo>
                    <a:pt x="305" y="21"/>
                  </a:lnTo>
                  <a:lnTo>
                    <a:pt x="305" y="18"/>
                  </a:lnTo>
                  <a:lnTo>
                    <a:pt x="305" y="14"/>
                  </a:lnTo>
                  <a:lnTo>
                    <a:pt x="303" y="11"/>
                  </a:lnTo>
                  <a:lnTo>
                    <a:pt x="303" y="8"/>
                  </a:lnTo>
                  <a:lnTo>
                    <a:pt x="303" y="6"/>
                  </a:lnTo>
                  <a:lnTo>
                    <a:pt x="303" y="3"/>
                  </a:lnTo>
                  <a:lnTo>
                    <a:pt x="301" y="0"/>
                  </a:lnTo>
                  <a:lnTo>
                    <a:pt x="298" y="0"/>
                  </a:lnTo>
                  <a:lnTo>
                    <a:pt x="300" y="3"/>
                  </a:lnTo>
                  <a:lnTo>
                    <a:pt x="300" y="6"/>
                  </a:lnTo>
                  <a:lnTo>
                    <a:pt x="300" y="8"/>
                  </a:lnTo>
                  <a:lnTo>
                    <a:pt x="300" y="11"/>
                  </a:lnTo>
                  <a:lnTo>
                    <a:pt x="301" y="14"/>
                  </a:lnTo>
                  <a:lnTo>
                    <a:pt x="301" y="18"/>
                  </a:lnTo>
                  <a:lnTo>
                    <a:pt x="301" y="21"/>
                  </a:lnTo>
                  <a:lnTo>
                    <a:pt x="301" y="24"/>
                  </a:lnTo>
                  <a:lnTo>
                    <a:pt x="301" y="28"/>
                  </a:lnTo>
                  <a:lnTo>
                    <a:pt x="301" y="31"/>
                  </a:lnTo>
                  <a:lnTo>
                    <a:pt x="301" y="34"/>
                  </a:lnTo>
                  <a:lnTo>
                    <a:pt x="300" y="38"/>
                  </a:lnTo>
                  <a:lnTo>
                    <a:pt x="300" y="41"/>
                  </a:lnTo>
                  <a:lnTo>
                    <a:pt x="300" y="44"/>
                  </a:lnTo>
                  <a:lnTo>
                    <a:pt x="300" y="48"/>
                  </a:lnTo>
                  <a:lnTo>
                    <a:pt x="298" y="51"/>
                  </a:lnTo>
                  <a:lnTo>
                    <a:pt x="301" y="51"/>
                  </a:lnTo>
                  <a:lnTo>
                    <a:pt x="303" y="48"/>
                  </a:lnTo>
                  <a:lnTo>
                    <a:pt x="303" y="44"/>
                  </a:lnTo>
                  <a:lnTo>
                    <a:pt x="303" y="41"/>
                  </a:lnTo>
                  <a:lnTo>
                    <a:pt x="303" y="38"/>
                  </a:lnTo>
                  <a:lnTo>
                    <a:pt x="305" y="34"/>
                  </a:lnTo>
                  <a:lnTo>
                    <a:pt x="305" y="31"/>
                  </a:lnTo>
                  <a:lnTo>
                    <a:pt x="305" y="28"/>
                  </a:lnTo>
                  <a:lnTo>
                    <a:pt x="305" y="24"/>
                  </a:lnTo>
                  <a:close/>
                  <a:moveTo>
                    <a:pt x="3" y="0"/>
                  </a:moveTo>
                  <a:lnTo>
                    <a:pt x="3" y="3"/>
                  </a:lnTo>
                  <a:lnTo>
                    <a:pt x="1" y="6"/>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6" y="3"/>
                  </a:lnTo>
                  <a:lnTo>
                    <a:pt x="6" y="0"/>
                  </a:lnTo>
                  <a:lnTo>
                    <a:pt x="3"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3084" name="Freeform 425">
              <a:extLst>
                <a:ext uri="{FF2B5EF4-FFF2-40B4-BE49-F238E27FC236}">
                  <a16:creationId xmlns:a16="http://schemas.microsoft.com/office/drawing/2014/main" id="{0E8A9787-C511-11BD-A4CE-2AE78C0CBCC1}"/>
                </a:ext>
              </a:extLst>
            </p:cNvPr>
            <p:cNvSpPr>
              <a:spLocks noEditPoints="1"/>
            </p:cNvSpPr>
            <p:nvPr/>
          </p:nvSpPr>
          <p:spPr bwMode="auto">
            <a:xfrm>
              <a:off x="1460" y="1713"/>
              <a:ext cx="302" cy="51"/>
            </a:xfrm>
            <a:custGeom>
              <a:avLst/>
              <a:gdLst>
                <a:gd name="T0" fmla="*/ 302 w 302"/>
                <a:gd name="T1" fmla="*/ 21 h 51"/>
                <a:gd name="T2" fmla="*/ 302 w 302"/>
                <a:gd name="T3" fmla="*/ 14 h 51"/>
                <a:gd name="T4" fmla="*/ 300 w 302"/>
                <a:gd name="T5" fmla="*/ 8 h 51"/>
                <a:gd name="T6" fmla="*/ 300 w 302"/>
                <a:gd name="T7" fmla="*/ 3 h 51"/>
                <a:gd name="T8" fmla="*/ 295 w 302"/>
                <a:gd name="T9" fmla="*/ 0 h 51"/>
                <a:gd name="T10" fmla="*/ 297 w 302"/>
                <a:gd name="T11" fmla="*/ 6 h 51"/>
                <a:gd name="T12" fmla="*/ 297 w 302"/>
                <a:gd name="T13" fmla="*/ 11 h 51"/>
                <a:gd name="T14" fmla="*/ 299 w 302"/>
                <a:gd name="T15" fmla="*/ 18 h 51"/>
                <a:gd name="T16" fmla="*/ 299 w 302"/>
                <a:gd name="T17" fmla="*/ 24 h 51"/>
                <a:gd name="T18" fmla="*/ 299 w 302"/>
                <a:gd name="T19" fmla="*/ 31 h 51"/>
                <a:gd name="T20" fmla="*/ 297 w 302"/>
                <a:gd name="T21" fmla="*/ 38 h 51"/>
                <a:gd name="T22" fmla="*/ 297 w 302"/>
                <a:gd name="T23" fmla="*/ 44 h 51"/>
                <a:gd name="T24" fmla="*/ 295 w 302"/>
                <a:gd name="T25" fmla="*/ 51 h 51"/>
                <a:gd name="T26" fmla="*/ 300 w 302"/>
                <a:gd name="T27" fmla="*/ 48 h 51"/>
                <a:gd name="T28" fmla="*/ 300 w 302"/>
                <a:gd name="T29" fmla="*/ 41 h 51"/>
                <a:gd name="T30" fmla="*/ 302 w 302"/>
                <a:gd name="T31" fmla="*/ 34 h 51"/>
                <a:gd name="T32" fmla="*/ 302 w 302"/>
                <a:gd name="T33" fmla="*/ 28 h 51"/>
                <a:gd name="T34" fmla="*/ 4 w 302"/>
                <a:gd name="T35" fmla="*/ 0 h 51"/>
                <a:gd name="T36" fmla="*/ 2 w 302"/>
                <a:gd name="T37" fmla="*/ 6 h 51"/>
                <a:gd name="T38" fmla="*/ 2 w 302"/>
                <a:gd name="T39" fmla="*/ 11 h 51"/>
                <a:gd name="T40" fmla="*/ 2 w 302"/>
                <a:gd name="T41" fmla="*/ 18 h 51"/>
                <a:gd name="T42" fmla="*/ 0 w 302"/>
                <a:gd name="T43" fmla="*/ 24 h 51"/>
                <a:gd name="T44" fmla="*/ 2 w 302"/>
                <a:gd name="T45" fmla="*/ 31 h 51"/>
                <a:gd name="T46" fmla="*/ 2 w 302"/>
                <a:gd name="T47" fmla="*/ 38 h 51"/>
                <a:gd name="T48" fmla="*/ 2 w 302"/>
                <a:gd name="T49" fmla="*/ 44 h 51"/>
                <a:gd name="T50" fmla="*/ 4 w 302"/>
                <a:gd name="T51" fmla="*/ 51 h 51"/>
                <a:gd name="T52" fmla="*/ 5 w 302"/>
                <a:gd name="T53" fmla="*/ 48 h 51"/>
                <a:gd name="T54" fmla="*/ 5 w 302"/>
                <a:gd name="T55" fmla="*/ 41 h 51"/>
                <a:gd name="T56" fmla="*/ 5 w 302"/>
                <a:gd name="T57" fmla="*/ 34 h 51"/>
                <a:gd name="T58" fmla="*/ 4 w 302"/>
                <a:gd name="T59" fmla="*/ 28 h 51"/>
                <a:gd name="T60" fmla="*/ 4 w 302"/>
                <a:gd name="T61" fmla="*/ 21 h 51"/>
                <a:gd name="T62" fmla="*/ 5 w 302"/>
                <a:gd name="T63" fmla="*/ 14 h 51"/>
                <a:gd name="T64" fmla="*/ 5 w 302"/>
                <a:gd name="T65" fmla="*/ 8 h 51"/>
                <a:gd name="T66" fmla="*/ 7 w 302"/>
                <a:gd name="T67" fmla="*/ 3 h 51"/>
                <a:gd name="T68" fmla="*/ 4 w 30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2" h="51">
                  <a:moveTo>
                    <a:pt x="302" y="24"/>
                  </a:moveTo>
                  <a:lnTo>
                    <a:pt x="302" y="21"/>
                  </a:lnTo>
                  <a:lnTo>
                    <a:pt x="302" y="18"/>
                  </a:lnTo>
                  <a:lnTo>
                    <a:pt x="302" y="14"/>
                  </a:lnTo>
                  <a:lnTo>
                    <a:pt x="300" y="11"/>
                  </a:lnTo>
                  <a:lnTo>
                    <a:pt x="300" y="8"/>
                  </a:lnTo>
                  <a:lnTo>
                    <a:pt x="300" y="6"/>
                  </a:lnTo>
                  <a:lnTo>
                    <a:pt x="300" y="3"/>
                  </a:lnTo>
                  <a:lnTo>
                    <a:pt x="299" y="0"/>
                  </a:lnTo>
                  <a:lnTo>
                    <a:pt x="295" y="0"/>
                  </a:lnTo>
                  <a:lnTo>
                    <a:pt x="297" y="3"/>
                  </a:lnTo>
                  <a:lnTo>
                    <a:pt x="297" y="6"/>
                  </a:lnTo>
                  <a:lnTo>
                    <a:pt x="297" y="8"/>
                  </a:lnTo>
                  <a:lnTo>
                    <a:pt x="297" y="11"/>
                  </a:lnTo>
                  <a:lnTo>
                    <a:pt x="299" y="14"/>
                  </a:lnTo>
                  <a:lnTo>
                    <a:pt x="299" y="18"/>
                  </a:lnTo>
                  <a:lnTo>
                    <a:pt x="299" y="21"/>
                  </a:lnTo>
                  <a:lnTo>
                    <a:pt x="299" y="24"/>
                  </a:lnTo>
                  <a:lnTo>
                    <a:pt x="299" y="28"/>
                  </a:lnTo>
                  <a:lnTo>
                    <a:pt x="299" y="31"/>
                  </a:lnTo>
                  <a:lnTo>
                    <a:pt x="299" y="34"/>
                  </a:lnTo>
                  <a:lnTo>
                    <a:pt x="297" y="38"/>
                  </a:lnTo>
                  <a:lnTo>
                    <a:pt x="297" y="41"/>
                  </a:lnTo>
                  <a:lnTo>
                    <a:pt x="297" y="44"/>
                  </a:lnTo>
                  <a:lnTo>
                    <a:pt x="297" y="48"/>
                  </a:lnTo>
                  <a:lnTo>
                    <a:pt x="295" y="51"/>
                  </a:lnTo>
                  <a:lnTo>
                    <a:pt x="299" y="51"/>
                  </a:lnTo>
                  <a:lnTo>
                    <a:pt x="300" y="48"/>
                  </a:lnTo>
                  <a:lnTo>
                    <a:pt x="300" y="44"/>
                  </a:lnTo>
                  <a:lnTo>
                    <a:pt x="300" y="41"/>
                  </a:lnTo>
                  <a:lnTo>
                    <a:pt x="300" y="38"/>
                  </a:lnTo>
                  <a:lnTo>
                    <a:pt x="302" y="34"/>
                  </a:lnTo>
                  <a:lnTo>
                    <a:pt x="302" y="31"/>
                  </a:lnTo>
                  <a:lnTo>
                    <a:pt x="302" y="28"/>
                  </a:lnTo>
                  <a:lnTo>
                    <a:pt x="302" y="24"/>
                  </a:lnTo>
                  <a:close/>
                  <a:moveTo>
                    <a:pt x="4" y="0"/>
                  </a:moveTo>
                  <a:lnTo>
                    <a:pt x="4"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6"/>
                  </a:lnTo>
                  <a:lnTo>
                    <a:pt x="7" y="3"/>
                  </a:lnTo>
                  <a:lnTo>
                    <a:pt x="7" y="0"/>
                  </a:lnTo>
                  <a:lnTo>
                    <a:pt x="4"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grpSp>
      <p:grpSp>
        <p:nvGrpSpPr>
          <p:cNvPr id="26" name="Group 627">
            <a:extLst>
              <a:ext uri="{FF2B5EF4-FFF2-40B4-BE49-F238E27FC236}">
                <a16:creationId xmlns:a16="http://schemas.microsoft.com/office/drawing/2014/main" id="{9850AFEE-F919-0B81-ABE0-86048D9B6EFE}"/>
              </a:ext>
            </a:extLst>
          </p:cNvPr>
          <p:cNvGrpSpPr>
            <a:grpSpLocks/>
          </p:cNvGrpSpPr>
          <p:nvPr/>
        </p:nvGrpSpPr>
        <p:grpSpPr bwMode="auto">
          <a:xfrm>
            <a:off x="1951038" y="2403475"/>
            <a:ext cx="1920875" cy="396875"/>
            <a:chOff x="1229" y="1514"/>
            <a:chExt cx="1210" cy="250"/>
          </a:xfrm>
        </p:grpSpPr>
        <p:sp>
          <p:nvSpPr>
            <p:cNvPr id="72685" name="Freeform 427">
              <a:extLst>
                <a:ext uri="{FF2B5EF4-FFF2-40B4-BE49-F238E27FC236}">
                  <a16:creationId xmlns:a16="http://schemas.microsoft.com/office/drawing/2014/main" id="{4554AA13-9F29-3B06-51A9-5FC59A3A6B02}"/>
                </a:ext>
              </a:extLst>
            </p:cNvPr>
            <p:cNvSpPr>
              <a:spLocks noEditPoints="1"/>
            </p:cNvSpPr>
            <p:nvPr/>
          </p:nvSpPr>
          <p:spPr bwMode="auto">
            <a:xfrm>
              <a:off x="1462" y="1713"/>
              <a:ext cx="298" cy="51"/>
            </a:xfrm>
            <a:custGeom>
              <a:avLst/>
              <a:gdLst>
                <a:gd name="T0" fmla="*/ 298 w 298"/>
                <a:gd name="T1" fmla="*/ 21 h 51"/>
                <a:gd name="T2" fmla="*/ 298 w 298"/>
                <a:gd name="T3" fmla="*/ 14 h 51"/>
                <a:gd name="T4" fmla="*/ 297 w 298"/>
                <a:gd name="T5" fmla="*/ 8 h 51"/>
                <a:gd name="T6" fmla="*/ 297 w 298"/>
                <a:gd name="T7" fmla="*/ 3 h 51"/>
                <a:gd name="T8" fmla="*/ 292 w 298"/>
                <a:gd name="T9" fmla="*/ 0 h 51"/>
                <a:gd name="T10" fmla="*/ 293 w 298"/>
                <a:gd name="T11" fmla="*/ 6 h 51"/>
                <a:gd name="T12" fmla="*/ 293 w 298"/>
                <a:gd name="T13" fmla="*/ 11 h 51"/>
                <a:gd name="T14" fmla="*/ 295 w 298"/>
                <a:gd name="T15" fmla="*/ 18 h 51"/>
                <a:gd name="T16" fmla="*/ 295 w 298"/>
                <a:gd name="T17" fmla="*/ 24 h 51"/>
                <a:gd name="T18" fmla="*/ 295 w 298"/>
                <a:gd name="T19" fmla="*/ 31 h 51"/>
                <a:gd name="T20" fmla="*/ 293 w 298"/>
                <a:gd name="T21" fmla="*/ 38 h 51"/>
                <a:gd name="T22" fmla="*/ 293 w 298"/>
                <a:gd name="T23" fmla="*/ 44 h 51"/>
                <a:gd name="T24" fmla="*/ 292 w 298"/>
                <a:gd name="T25" fmla="*/ 51 h 51"/>
                <a:gd name="T26" fmla="*/ 297 w 298"/>
                <a:gd name="T27" fmla="*/ 48 h 51"/>
                <a:gd name="T28" fmla="*/ 297 w 298"/>
                <a:gd name="T29" fmla="*/ 41 h 51"/>
                <a:gd name="T30" fmla="*/ 298 w 298"/>
                <a:gd name="T31" fmla="*/ 34 h 51"/>
                <a:gd name="T32" fmla="*/ 298 w 298"/>
                <a:gd name="T33" fmla="*/ 28 h 51"/>
                <a:gd name="T34" fmla="*/ 3 w 298"/>
                <a:gd name="T35" fmla="*/ 0 h 51"/>
                <a:gd name="T36" fmla="*/ 2 w 298"/>
                <a:gd name="T37" fmla="*/ 6 h 51"/>
                <a:gd name="T38" fmla="*/ 2 w 298"/>
                <a:gd name="T39" fmla="*/ 11 h 51"/>
                <a:gd name="T40" fmla="*/ 2 w 298"/>
                <a:gd name="T41" fmla="*/ 18 h 51"/>
                <a:gd name="T42" fmla="*/ 0 w 298"/>
                <a:gd name="T43" fmla="*/ 24 h 51"/>
                <a:gd name="T44" fmla="*/ 2 w 298"/>
                <a:gd name="T45" fmla="*/ 31 h 51"/>
                <a:gd name="T46" fmla="*/ 2 w 298"/>
                <a:gd name="T47" fmla="*/ 38 h 51"/>
                <a:gd name="T48" fmla="*/ 2 w 298"/>
                <a:gd name="T49" fmla="*/ 44 h 51"/>
                <a:gd name="T50" fmla="*/ 3 w 298"/>
                <a:gd name="T51" fmla="*/ 51 h 51"/>
                <a:gd name="T52" fmla="*/ 5 w 298"/>
                <a:gd name="T53" fmla="*/ 48 h 51"/>
                <a:gd name="T54" fmla="*/ 5 w 298"/>
                <a:gd name="T55" fmla="*/ 41 h 51"/>
                <a:gd name="T56" fmla="*/ 5 w 298"/>
                <a:gd name="T57" fmla="*/ 34 h 51"/>
                <a:gd name="T58" fmla="*/ 3 w 298"/>
                <a:gd name="T59" fmla="*/ 28 h 51"/>
                <a:gd name="T60" fmla="*/ 3 w 298"/>
                <a:gd name="T61" fmla="*/ 21 h 51"/>
                <a:gd name="T62" fmla="*/ 5 w 298"/>
                <a:gd name="T63" fmla="*/ 14 h 51"/>
                <a:gd name="T64" fmla="*/ 5 w 298"/>
                <a:gd name="T65" fmla="*/ 8 h 51"/>
                <a:gd name="T66" fmla="*/ 7 w 298"/>
                <a:gd name="T67" fmla="*/ 3 h 51"/>
                <a:gd name="T68" fmla="*/ 3 w 29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8" h="51">
                  <a:moveTo>
                    <a:pt x="298" y="24"/>
                  </a:moveTo>
                  <a:lnTo>
                    <a:pt x="298" y="21"/>
                  </a:lnTo>
                  <a:lnTo>
                    <a:pt x="298" y="18"/>
                  </a:lnTo>
                  <a:lnTo>
                    <a:pt x="298" y="14"/>
                  </a:lnTo>
                  <a:lnTo>
                    <a:pt x="297" y="11"/>
                  </a:lnTo>
                  <a:lnTo>
                    <a:pt x="297" y="8"/>
                  </a:lnTo>
                  <a:lnTo>
                    <a:pt x="297" y="6"/>
                  </a:lnTo>
                  <a:lnTo>
                    <a:pt x="297" y="3"/>
                  </a:lnTo>
                  <a:lnTo>
                    <a:pt x="295" y="0"/>
                  </a:lnTo>
                  <a:lnTo>
                    <a:pt x="292" y="0"/>
                  </a:lnTo>
                  <a:lnTo>
                    <a:pt x="293" y="3"/>
                  </a:lnTo>
                  <a:lnTo>
                    <a:pt x="293" y="6"/>
                  </a:lnTo>
                  <a:lnTo>
                    <a:pt x="293" y="8"/>
                  </a:lnTo>
                  <a:lnTo>
                    <a:pt x="293" y="11"/>
                  </a:lnTo>
                  <a:lnTo>
                    <a:pt x="295" y="14"/>
                  </a:lnTo>
                  <a:lnTo>
                    <a:pt x="295" y="18"/>
                  </a:lnTo>
                  <a:lnTo>
                    <a:pt x="295" y="21"/>
                  </a:lnTo>
                  <a:lnTo>
                    <a:pt x="295" y="24"/>
                  </a:lnTo>
                  <a:lnTo>
                    <a:pt x="295" y="28"/>
                  </a:lnTo>
                  <a:lnTo>
                    <a:pt x="295" y="31"/>
                  </a:lnTo>
                  <a:lnTo>
                    <a:pt x="295" y="34"/>
                  </a:lnTo>
                  <a:lnTo>
                    <a:pt x="293" y="38"/>
                  </a:lnTo>
                  <a:lnTo>
                    <a:pt x="293" y="41"/>
                  </a:lnTo>
                  <a:lnTo>
                    <a:pt x="293" y="44"/>
                  </a:lnTo>
                  <a:lnTo>
                    <a:pt x="293" y="48"/>
                  </a:lnTo>
                  <a:lnTo>
                    <a:pt x="292" y="51"/>
                  </a:lnTo>
                  <a:lnTo>
                    <a:pt x="295" y="51"/>
                  </a:lnTo>
                  <a:lnTo>
                    <a:pt x="297" y="48"/>
                  </a:lnTo>
                  <a:lnTo>
                    <a:pt x="297" y="44"/>
                  </a:lnTo>
                  <a:lnTo>
                    <a:pt x="297" y="41"/>
                  </a:lnTo>
                  <a:lnTo>
                    <a:pt x="297" y="38"/>
                  </a:lnTo>
                  <a:lnTo>
                    <a:pt x="298" y="34"/>
                  </a:lnTo>
                  <a:lnTo>
                    <a:pt x="298" y="31"/>
                  </a:lnTo>
                  <a:lnTo>
                    <a:pt x="298" y="28"/>
                  </a:lnTo>
                  <a:lnTo>
                    <a:pt x="298" y="24"/>
                  </a:lnTo>
                  <a:close/>
                  <a:moveTo>
                    <a:pt x="3" y="0"/>
                  </a:moveTo>
                  <a:lnTo>
                    <a:pt x="3"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7" y="3"/>
                  </a:lnTo>
                  <a:lnTo>
                    <a:pt x="7" y="0"/>
                  </a:lnTo>
                  <a:lnTo>
                    <a:pt x="3"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86" name="Freeform 428">
              <a:extLst>
                <a:ext uri="{FF2B5EF4-FFF2-40B4-BE49-F238E27FC236}">
                  <a16:creationId xmlns:a16="http://schemas.microsoft.com/office/drawing/2014/main" id="{3117F6E7-9CA9-3D63-908D-03F5D5AF3D1D}"/>
                </a:ext>
              </a:extLst>
            </p:cNvPr>
            <p:cNvSpPr>
              <a:spLocks noEditPoints="1"/>
            </p:cNvSpPr>
            <p:nvPr/>
          </p:nvSpPr>
          <p:spPr bwMode="auto">
            <a:xfrm>
              <a:off x="1464" y="1713"/>
              <a:ext cx="295" cy="51"/>
            </a:xfrm>
            <a:custGeom>
              <a:avLst/>
              <a:gdLst>
                <a:gd name="T0" fmla="*/ 295 w 295"/>
                <a:gd name="T1" fmla="*/ 21 h 51"/>
                <a:gd name="T2" fmla="*/ 295 w 295"/>
                <a:gd name="T3" fmla="*/ 14 h 51"/>
                <a:gd name="T4" fmla="*/ 293 w 295"/>
                <a:gd name="T5" fmla="*/ 8 h 51"/>
                <a:gd name="T6" fmla="*/ 293 w 295"/>
                <a:gd name="T7" fmla="*/ 3 h 51"/>
                <a:gd name="T8" fmla="*/ 288 w 295"/>
                <a:gd name="T9" fmla="*/ 0 h 51"/>
                <a:gd name="T10" fmla="*/ 290 w 295"/>
                <a:gd name="T11" fmla="*/ 6 h 51"/>
                <a:gd name="T12" fmla="*/ 290 w 295"/>
                <a:gd name="T13" fmla="*/ 11 h 51"/>
                <a:gd name="T14" fmla="*/ 291 w 295"/>
                <a:gd name="T15" fmla="*/ 18 h 51"/>
                <a:gd name="T16" fmla="*/ 291 w 295"/>
                <a:gd name="T17" fmla="*/ 24 h 51"/>
                <a:gd name="T18" fmla="*/ 291 w 295"/>
                <a:gd name="T19" fmla="*/ 31 h 51"/>
                <a:gd name="T20" fmla="*/ 290 w 295"/>
                <a:gd name="T21" fmla="*/ 38 h 51"/>
                <a:gd name="T22" fmla="*/ 290 w 295"/>
                <a:gd name="T23" fmla="*/ 44 h 51"/>
                <a:gd name="T24" fmla="*/ 288 w 295"/>
                <a:gd name="T25" fmla="*/ 51 h 51"/>
                <a:gd name="T26" fmla="*/ 293 w 295"/>
                <a:gd name="T27" fmla="*/ 48 h 51"/>
                <a:gd name="T28" fmla="*/ 293 w 295"/>
                <a:gd name="T29" fmla="*/ 41 h 51"/>
                <a:gd name="T30" fmla="*/ 295 w 295"/>
                <a:gd name="T31" fmla="*/ 34 h 51"/>
                <a:gd name="T32" fmla="*/ 295 w 295"/>
                <a:gd name="T33" fmla="*/ 28 h 51"/>
                <a:gd name="T34" fmla="*/ 3 w 295"/>
                <a:gd name="T35" fmla="*/ 0 h 51"/>
                <a:gd name="T36" fmla="*/ 1 w 295"/>
                <a:gd name="T37" fmla="*/ 6 h 51"/>
                <a:gd name="T38" fmla="*/ 1 w 295"/>
                <a:gd name="T39" fmla="*/ 11 h 51"/>
                <a:gd name="T40" fmla="*/ 1 w 295"/>
                <a:gd name="T41" fmla="*/ 18 h 51"/>
                <a:gd name="T42" fmla="*/ 0 w 295"/>
                <a:gd name="T43" fmla="*/ 24 h 51"/>
                <a:gd name="T44" fmla="*/ 1 w 295"/>
                <a:gd name="T45" fmla="*/ 31 h 51"/>
                <a:gd name="T46" fmla="*/ 1 w 295"/>
                <a:gd name="T47" fmla="*/ 38 h 51"/>
                <a:gd name="T48" fmla="*/ 1 w 295"/>
                <a:gd name="T49" fmla="*/ 44 h 51"/>
                <a:gd name="T50" fmla="*/ 3 w 295"/>
                <a:gd name="T51" fmla="*/ 51 h 51"/>
                <a:gd name="T52" fmla="*/ 5 w 295"/>
                <a:gd name="T53" fmla="*/ 48 h 51"/>
                <a:gd name="T54" fmla="*/ 5 w 295"/>
                <a:gd name="T55" fmla="*/ 41 h 51"/>
                <a:gd name="T56" fmla="*/ 5 w 295"/>
                <a:gd name="T57" fmla="*/ 34 h 51"/>
                <a:gd name="T58" fmla="*/ 3 w 295"/>
                <a:gd name="T59" fmla="*/ 28 h 51"/>
                <a:gd name="T60" fmla="*/ 3 w 295"/>
                <a:gd name="T61" fmla="*/ 21 h 51"/>
                <a:gd name="T62" fmla="*/ 5 w 295"/>
                <a:gd name="T63" fmla="*/ 14 h 51"/>
                <a:gd name="T64" fmla="*/ 5 w 295"/>
                <a:gd name="T65" fmla="*/ 8 h 51"/>
                <a:gd name="T66" fmla="*/ 6 w 295"/>
                <a:gd name="T67" fmla="*/ 3 h 51"/>
                <a:gd name="T68" fmla="*/ 3 w 29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5" h="51">
                  <a:moveTo>
                    <a:pt x="295" y="24"/>
                  </a:moveTo>
                  <a:lnTo>
                    <a:pt x="295" y="21"/>
                  </a:lnTo>
                  <a:lnTo>
                    <a:pt x="295" y="18"/>
                  </a:lnTo>
                  <a:lnTo>
                    <a:pt x="295" y="14"/>
                  </a:lnTo>
                  <a:lnTo>
                    <a:pt x="293" y="11"/>
                  </a:lnTo>
                  <a:lnTo>
                    <a:pt x="293" y="8"/>
                  </a:lnTo>
                  <a:lnTo>
                    <a:pt x="293" y="6"/>
                  </a:lnTo>
                  <a:lnTo>
                    <a:pt x="293" y="3"/>
                  </a:lnTo>
                  <a:lnTo>
                    <a:pt x="291" y="0"/>
                  </a:lnTo>
                  <a:lnTo>
                    <a:pt x="288" y="0"/>
                  </a:lnTo>
                  <a:lnTo>
                    <a:pt x="290" y="3"/>
                  </a:lnTo>
                  <a:lnTo>
                    <a:pt x="290" y="6"/>
                  </a:lnTo>
                  <a:lnTo>
                    <a:pt x="290" y="8"/>
                  </a:lnTo>
                  <a:lnTo>
                    <a:pt x="290" y="11"/>
                  </a:lnTo>
                  <a:lnTo>
                    <a:pt x="291" y="14"/>
                  </a:lnTo>
                  <a:lnTo>
                    <a:pt x="291" y="18"/>
                  </a:lnTo>
                  <a:lnTo>
                    <a:pt x="291" y="21"/>
                  </a:lnTo>
                  <a:lnTo>
                    <a:pt x="291" y="24"/>
                  </a:lnTo>
                  <a:lnTo>
                    <a:pt x="291" y="28"/>
                  </a:lnTo>
                  <a:lnTo>
                    <a:pt x="291" y="31"/>
                  </a:lnTo>
                  <a:lnTo>
                    <a:pt x="291" y="34"/>
                  </a:lnTo>
                  <a:lnTo>
                    <a:pt x="290" y="38"/>
                  </a:lnTo>
                  <a:lnTo>
                    <a:pt x="290" y="41"/>
                  </a:lnTo>
                  <a:lnTo>
                    <a:pt x="290" y="44"/>
                  </a:lnTo>
                  <a:lnTo>
                    <a:pt x="290" y="48"/>
                  </a:lnTo>
                  <a:lnTo>
                    <a:pt x="288" y="51"/>
                  </a:lnTo>
                  <a:lnTo>
                    <a:pt x="291" y="51"/>
                  </a:lnTo>
                  <a:lnTo>
                    <a:pt x="293" y="48"/>
                  </a:lnTo>
                  <a:lnTo>
                    <a:pt x="293" y="44"/>
                  </a:lnTo>
                  <a:lnTo>
                    <a:pt x="293" y="41"/>
                  </a:lnTo>
                  <a:lnTo>
                    <a:pt x="293" y="38"/>
                  </a:lnTo>
                  <a:lnTo>
                    <a:pt x="295" y="34"/>
                  </a:lnTo>
                  <a:lnTo>
                    <a:pt x="295" y="31"/>
                  </a:lnTo>
                  <a:lnTo>
                    <a:pt x="295" y="28"/>
                  </a:lnTo>
                  <a:lnTo>
                    <a:pt x="295" y="24"/>
                  </a:lnTo>
                  <a:close/>
                  <a:moveTo>
                    <a:pt x="3" y="0"/>
                  </a:moveTo>
                  <a:lnTo>
                    <a:pt x="3" y="3"/>
                  </a:lnTo>
                  <a:lnTo>
                    <a:pt x="1" y="6"/>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6" y="3"/>
                  </a:lnTo>
                  <a:lnTo>
                    <a:pt x="6" y="0"/>
                  </a:lnTo>
                  <a:lnTo>
                    <a:pt x="3"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87" name="Freeform 429">
              <a:extLst>
                <a:ext uri="{FF2B5EF4-FFF2-40B4-BE49-F238E27FC236}">
                  <a16:creationId xmlns:a16="http://schemas.microsoft.com/office/drawing/2014/main" id="{F02C4371-0EA6-0E9C-13CC-951AD7BD88EE}"/>
                </a:ext>
              </a:extLst>
            </p:cNvPr>
            <p:cNvSpPr>
              <a:spLocks noEditPoints="1"/>
            </p:cNvSpPr>
            <p:nvPr/>
          </p:nvSpPr>
          <p:spPr bwMode="auto">
            <a:xfrm>
              <a:off x="1465" y="1713"/>
              <a:ext cx="292" cy="51"/>
            </a:xfrm>
            <a:custGeom>
              <a:avLst/>
              <a:gdLst>
                <a:gd name="T0" fmla="*/ 292 w 292"/>
                <a:gd name="T1" fmla="*/ 21 h 51"/>
                <a:gd name="T2" fmla="*/ 292 w 292"/>
                <a:gd name="T3" fmla="*/ 14 h 51"/>
                <a:gd name="T4" fmla="*/ 290 w 292"/>
                <a:gd name="T5" fmla="*/ 8 h 51"/>
                <a:gd name="T6" fmla="*/ 290 w 292"/>
                <a:gd name="T7" fmla="*/ 3 h 51"/>
                <a:gd name="T8" fmla="*/ 285 w 292"/>
                <a:gd name="T9" fmla="*/ 0 h 51"/>
                <a:gd name="T10" fmla="*/ 287 w 292"/>
                <a:gd name="T11" fmla="*/ 6 h 51"/>
                <a:gd name="T12" fmla="*/ 287 w 292"/>
                <a:gd name="T13" fmla="*/ 11 h 51"/>
                <a:gd name="T14" fmla="*/ 289 w 292"/>
                <a:gd name="T15" fmla="*/ 18 h 51"/>
                <a:gd name="T16" fmla="*/ 289 w 292"/>
                <a:gd name="T17" fmla="*/ 24 h 51"/>
                <a:gd name="T18" fmla="*/ 289 w 292"/>
                <a:gd name="T19" fmla="*/ 31 h 51"/>
                <a:gd name="T20" fmla="*/ 287 w 292"/>
                <a:gd name="T21" fmla="*/ 38 h 51"/>
                <a:gd name="T22" fmla="*/ 287 w 292"/>
                <a:gd name="T23" fmla="*/ 44 h 51"/>
                <a:gd name="T24" fmla="*/ 285 w 292"/>
                <a:gd name="T25" fmla="*/ 51 h 51"/>
                <a:gd name="T26" fmla="*/ 290 w 292"/>
                <a:gd name="T27" fmla="*/ 48 h 51"/>
                <a:gd name="T28" fmla="*/ 290 w 292"/>
                <a:gd name="T29" fmla="*/ 41 h 51"/>
                <a:gd name="T30" fmla="*/ 292 w 292"/>
                <a:gd name="T31" fmla="*/ 34 h 51"/>
                <a:gd name="T32" fmla="*/ 292 w 292"/>
                <a:gd name="T33" fmla="*/ 28 h 51"/>
                <a:gd name="T34" fmla="*/ 4 w 292"/>
                <a:gd name="T35" fmla="*/ 0 h 51"/>
                <a:gd name="T36" fmla="*/ 2 w 292"/>
                <a:gd name="T37" fmla="*/ 6 h 51"/>
                <a:gd name="T38" fmla="*/ 2 w 292"/>
                <a:gd name="T39" fmla="*/ 11 h 51"/>
                <a:gd name="T40" fmla="*/ 2 w 292"/>
                <a:gd name="T41" fmla="*/ 18 h 51"/>
                <a:gd name="T42" fmla="*/ 0 w 292"/>
                <a:gd name="T43" fmla="*/ 24 h 51"/>
                <a:gd name="T44" fmla="*/ 2 w 292"/>
                <a:gd name="T45" fmla="*/ 31 h 51"/>
                <a:gd name="T46" fmla="*/ 2 w 292"/>
                <a:gd name="T47" fmla="*/ 38 h 51"/>
                <a:gd name="T48" fmla="*/ 2 w 292"/>
                <a:gd name="T49" fmla="*/ 44 h 51"/>
                <a:gd name="T50" fmla="*/ 4 w 292"/>
                <a:gd name="T51" fmla="*/ 51 h 51"/>
                <a:gd name="T52" fmla="*/ 5 w 292"/>
                <a:gd name="T53" fmla="*/ 48 h 51"/>
                <a:gd name="T54" fmla="*/ 5 w 292"/>
                <a:gd name="T55" fmla="*/ 41 h 51"/>
                <a:gd name="T56" fmla="*/ 5 w 292"/>
                <a:gd name="T57" fmla="*/ 34 h 51"/>
                <a:gd name="T58" fmla="*/ 4 w 292"/>
                <a:gd name="T59" fmla="*/ 28 h 51"/>
                <a:gd name="T60" fmla="*/ 4 w 292"/>
                <a:gd name="T61" fmla="*/ 21 h 51"/>
                <a:gd name="T62" fmla="*/ 5 w 292"/>
                <a:gd name="T63" fmla="*/ 14 h 51"/>
                <a:gd name="T64" fmla="*/ 5 w 292"/>
                <a:gd name="T65" fmla="*/ 8 h 51"/>
                <a:gd name="T66" fmla="*/ 7 w 292"/>
                <a:gd name="T67" fmla="*/ 3 h 51"/>
                <a:gd name="T68" fmla="*/ 4 w 29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2" h="51">
                  <a:moveTo>
                    <a:pt x="292" y="24"/>
                  </a:moveTo>
                  <a:lnTo>
                    <a:pt x="292" y="21"/>
                  </a:lnTo>
                  <a:lnTo>
                    <a:pt x="292" y="18"/>
                  </a:lnTo>
                  <a:lnTo>
                    <a:pt x="292" y="14"/>
                  </a:lnTo>
                  <a:lnTo>
                    <a:pt x="290" y="11"/>
                  </a:lnTo>
                  <a:lnTo>
                    <a:pt x="290" y="8"/>
                  </a:lnTo>
                  <a:lnTo>
                    <a:pt x="290" y="6"/>
                  </a:lnTo>
                  <a:lnTo>
                    <a:pt x="290" y="3"/>
                  </a:lnTo>
                  <a:lnTo>
                    <a:pt x="289" y="0"/>
                  </a:lnTo>
                  <a:lnTo>
                    <a:pt x="285" y="0"/>
                  </a:lnTo>
                  <a:lnTo>
                    <a:pt x="287" y="3"/>
                  </a:lnTo>
                  <a:lnTo>
                    <a:pt x="287" y="6"/>
                  </a:lnTo>
                  <a:lnTo>
                    <a:pt x="287" y="8"/>
                  </a:lnTo>
                  <a:lnTo>
                    <a:pt x="287" y="11"/>
                  </a:lnTo>
                  <a:lnTo>
                    <a:pt x="289" y="14"/>
                  </a:lnTo>
                  <a:lnTo>
                    <a:pt x="289" y="18"/>
                  </a:lnTo>
                  <a:lnTo>
                    <a:pt x="289" y="21"/>
                  </a:lnTo>
                  <a:lnTo>
                    <a:pt x="289" y="24"/>
                  </a:lnTo>
                  <a:lnTo>
                    <a:pt x="289" y="28"/>
                  </a:lnTo>
                  <a:lnTo>
                    <a:pt x="289" y="31"/>
                  </a:lnTo>
                  <a:lnTo>
                    <a:pt x="289" y="34"/>
                  </a:lnTo>
                  <a:lnTo>
                    <a:pt x="287" y="38"/>
                  </a:lnTo>
                  <a:lnTo>
                    <a:pt x="287" y="41"/>
                  </a:lnTo>
                  <a:lnTo>
                    <a:pt x="287" y="44"/>
                  </a:lnTo>
                  <a:lnTo>
                    <a:pt x="287" y="48"/>
                  </a:lnTo>
                  <a:lnTo>
                    <a:pt x="285" y="51"/>
                  </a:lnTo>
                  <a:lnTo>
                    <a:pt x="289" y="51"/>
                  </a:lnTo>
                  <a:lnTo>
                    <a:pt x="290" y="48"/>
                  </a:lnTo>
                  <a:lnTo>
                    <a:pt x="290" y="44"/>
                  </a:lnTo>
                  <a:lnTo>
                    <a:pt x="290" y="41"/>
                  </a:lnTo>
                  <a:lnTo>
                    <a:pt x="290" y="38"/>
                  </a:lnTo>
                  <a:lnTo>
                    <a:pt x="292" y="34"/>
                  </a:lnTo>
                  <a:lnTo>
                    <a:pt x="292" y="31"/>
                  </a:lnTo>
                  <a:lnTo>
                    <a:pt x="292" y="28"/>
                  </a:lnTo>
                  <a:lnTo>
                    <a:pt x="292" y="24"/>
                  </a:lnTo>
                  <a:close/>
                  <a:moveTo>
                    <a:pt x="4" y="0"/>
                  </a:moveTo>
                  <a:lnTo>
                    <a:pt x="4"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6"/>
                  </a:lnTo>
                  <a:lnTo>
                    <a:pt x="7" y="3"/>
                  </a:lnTo>
                  <a:lnTo>
                    <a:pt x="7" y="0"/>
                  </a:lnTo>
                  <a:lnTo>
                    <a:pt x="4"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88" name="Freeform 430">
              <a:extLst>
                <a:ext uri="{FF2B5EF4-FFF2-40B4-BE49-F238E27FC236}">
                  <a16:creationId xmlns:a16="http://schemas.microsoft.com/office/drawing/2014/main" id="{EB07CD6B-DB29-5166-09FD-8BD0EB322025}"/>
                </a:ext>
              </a:extLst>
            </p:cNvPr>
            <p:cNvSpPr>
              <a:spLocks noEditPoints="1"/>
            </p:cNvSpPr>
            <p:nvPr/>
          </p:nvSpPr>
          <p:spPr bwMode="auto">
            <a:xfrm>
              <a:off x="1467" y="1713"/>
              <a:ext cx="288" cy="51"/>
            </a:xfrm>
            <a:custGeom>
              <a:avLst/>
              <a:gdLst>
                <a:gd name="T0" fmla="*/ 288 w 288"/>
                <a:gd name="T1" fmla="*/ 21 h 51"/>
                <a:gd name="T2" fmla="*/ 288 w 288"/>
                <a:gd name="T3" fmla="*/ 14 h 51"/>
                <a:gd name="T4" fmla="*/ 287 w 288"/>
                <a:gd name="T5" fmla="*/ 8 h 51"/>
                <a:gd name="T6" fmla="*/ 287 w 288"/>
                <a:gd name="T7" fmla="*/ 3 h 51"/>
                <a:gd name="T8" fmla="*/ 282 w 288"/>
                <a:gd name="T9" fmla="*/ 0 h 51"/>
                <a:gd name="T10" fmla="*/ 283 w 288"/>
                <a:gd name="T11" fmla="*/ 6 h 51"/>
                <a:gd name="T12" fmla="*/ 283 w 288"/>
                <a:gd name="T13" fmla="*/ 11 h 51"/>
                <a:gd name="T14" fmla="*/ 285 w 288"/>
                <a:gd name="T15" fmla="*/ 18 h 51"/>
                <a:gd name="T16" fmla="*/ 285 w 288"/>
                <a:gd name="T17" fmla="*/ 24 h 51"/>
                <a:gd name="T18" fmla="*/ 285 w 288"/>
                <a:gd name="T19" fmla="*/ 31 h 51"/>
                <a:gd name="T20" fmla="*/ 283 w 288"/>
                <a:gd name="T21" fmla="*/ 38 h 51"/>
                <a:gd name="T22" fmla="*/ 283 w 288"/>
                <a:gd name="T23" fmla="*/ 44 h 51"/>
                <a:gd name="T24" fmla="*/ 282 w 288"/>
                <a:gd name="T25" fmla="*/ 51 h 51"/>
                <a:gd name="T26" fmla="*/ 287 w 288"/>
                <a:gd name="T27" fmla="*/ 48 h 51"/>
                <a:gd name="T28" fmla="*/ 287 w 288"/>
                <a:gd name="T29" fmla="*/ 41 h 51"/>
                <a:gd name="T30" fmla="*/ 288 w 288"/>
                <a:gd name="T31" fmla="*/ 34 h 51"/>
                <a:gd name="T32" fmla="*/ 288 w 288"/>
                <a:gd name="T33" fmla="*/ 28 h 51"/>
                <a:gd name="T34" fmla="*/ 3 w 288"/>
                <a:gd name="T35" fmla="*/ 0 h 51"/>
                <a:gd name="T36" fmla="*/ 2 w 288"/>
                <a:gd name="T37" fmla="*/ 6 h 51"/>
                <a:gd name="T38" fmla="*/ 2 w 288"/>
                <a:gd name="T39" fmla="*/ 11 h 51"/>
                <a:gd name="T40" fmla="*/ 2 w 288"/>
                <a:gd name="T41" fmla="*/ 18 h 51"/>
                <a:gd name="T42" fmla="*/ 0 w 288"/>
                <a:gd name="T43" fmla="*/ 24 h 51"/>
                <a:gd name="T44" fmla="*/ 2 w 288"/>
                <a:gd name="T45" fmla="*/ 31 h 51"/>
                <a:gd name="T46" fmla="*/ 2 w 288"/>
                <a:gd name="T47" fmla="*/ 38 h 51"/>
                <a:gd name="T48" fmla="*/ 2 w 288"/>
                <a:gd name="T49" fmla="*/ 44 h 51"/>
                <a:gd name="T50" fmla="*/ 3 w 288"/>
                <a:gd name="T51" fmla="*/ 51 h 51"/>
                <a:gd name="T52" fmla="*/ 5 w 288"/>
                <a:gd name="T53" fmla="*/ 48 h 51"/>
                <a:gd name="T54" fmla="*/ 5 w 288"/>
                <a:gd name="T55" fmla="*/ 41 h 51"/>
                <a:gd name="T56" fmla="*/ 5 w 288"/>
                <a:gd name="T57" fmla="*/ 34 h 51"/>
                <a:gd name="T58" fmla="*/ 3 w 288"/>
                <a:gd name="T59" fmla="*/ 28 h 51"/>
                <a:gd name="T60" fmla="*/ 3 w 288"/>
                <a:gd name="T61" fmla="*/ 21 h 51"/>
                <a:gd name="T62" fmla="*/ 5 w 288"/>
                <a:gd name="T63" fmla="*/ 14 h 51"/>
                <a:gd name="T64" fmla="*/ 5 w 288"/>
                <a:gd name="T65" fmla="*/ 8 h 51"/>
                <a:gd name="T66" fmla="*/ 7 w 288"/>
                <a:gd name="T67" fmla="*/ 3 h 51"/>
                <a:gd name="T68" fmla="*/ 3 w 28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8" h="51">
                  <a:moveTo>
                    <a:pt x="288" y="24"/>
                  </a:moveTo>
                  <a:lnTo>
                    <a:pt x="288" y="21"/>
                  </a:lnTo>
                  <a:lnTo>
                    <a:pt x="288" y="18"/>
                  </a:lnTo>
                  <a:lnTo>
                    <a:pt x="288" y="14"/>
                  </a:lnTo>
                  <a:lnTo>
                    <a:pt x="287" y="11"/>
                  </a:lnTo>
                  <a:lnTo>
                    <a:pt x="287" y="8"/>
                  </a:lnTo>
                  <a:lnTo>
                    <a:pt x="287" y="6"/>
                  </a:lnTo>
                  <a:lnTo>
                    <a:pt x="287" y="3"/>
                  </a:lnTo>
                  <a:lnTo>
                    <a:pt x="285" y="0"/>
                  </a:lnTo>
                  <a:lnTo>
                    <a:pt x="282" y="0"/>
                  </a:lnTo>
                  <a:lnTo>
                    <a:pt x="283" y="3"/>
                  </a:lnTo>
                  <a:lnTo>
                    <a:pt x="283" y="6"/>
                  </a:lnTo>
                  <a:lnTo>
                    <a:pt x="283" y="8"/>
                  </a:lnTo>
                  <a:lnTo>
                    <a:pt x="283" y="11"/>
                  </a:lnTo>
                  <a:lnTo>
                    <a:pt x="285" y="14"/>
                  </a:lnTo>
                  <a:lnTo>
                    <a:pt x="285" y="18"/>
                  </a:lnTo>
                  <a:lnTo>
                    <a:pt x="285" y="21"/>
                  </a:lnTo>
                  <a:lnTo>
                    <a:pt x="285" y="24"/>
                  </a:lnTo>
                  <a:lnTo>
                    <a:pt x="285" y="28"/>
                  </a:lnTo>
                  <a:lnTo>
                    <a:pt x="285" y="31"/>
                  </a:lnTo>
                  <a:lnTo>
                    <a:pt x="285" y="34"/>
                  </a:lnTo>
                  <a:lnTo>
                    <a:pt x="283" y="38"/>
                  </a:lnTo>
                  <a:lnTo>
                    <a:pt x="283" y="41"/>
                  </a:lnTo>
                  <a:lnTo>
                    <a:pt x="283" y="44"/>
                  </a:lnTo>
                  <a:lnTo>
                    <a:pt x="283" y="48"/>
                  </a:lnTo>
                  <a:lnTo>
                    <a:pt x="282" y="51"/>
                  </a:lnTo>
                  <a:lnTo>
                    <a:pt x="285" y="51"/>
                  </a:lnTo>
                  <a:lnTo>
                    <a:pt x="287" y="48"/>
                  </a:lnTo>
                  <a:lnTo>
                    <a:pt x="287" y="44"/>
                  </a:lnTo>
                  <a:lnTo>
                    <a:pt x="287" y="41"/>
                  </a:lnTo>
                  <a:lnTo>
                    <a:pt x="287" y="38"/>
                  </a:lnTo>
                  <a:lnTo>
                    <a:pt x="288" y="34"/>
                  </a:lnTo>
                  <a:lnTo>
                    <a:pt x="288" y="31"/>
                  </a:lnTo>
                  <a:lnTo>
                    <a:pt x="288" y="28"/>
                  </a:lnTo>
                  <a:lnTo>
                    <a:pt x="288" y="24"/>
                  </a:lnTo>
                  <a:close/>
                  <a:moveTo>
                    <a:pt x="3" y="0"/>
                  </a:moveTo>
                  <a:lnTo>
                    <a:pt x="3"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7" y="3"/>
                  </a:lnTo>
                  <a:lnTo>
                    <a:pt x="7" y="0"/>
                  </a:lnTo>
                  <a:lnTo>
                    <a:pt x="3"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89" name="Freeform 431">
              <a:extLst>
                <a:ext uri="{FF2B5EF4-FFF2-40B4-BE49-F238E27FC236}">
                  <a16:creationId xmlns:a16="http://schemas.microsoft.com/office/drawing/2014/main" id="{F06AF54A-D690-B479-5A52-DE2CB0F11CA7}"/>
                </a:ext>
              </a:extLst>
            </p:cNvPr>
            <p:cNvSpPr>
              <a:spLocks noEditPoints="1"/>
            </p:cNvSpPr>
            <p:nvPr/>
          </p:nvSpPr>
          <p:spPr bwMode="auto">
            <a:xfrm>
              <a:off x="1469" y="1713"/>
              <a:ext cx="285" cy="51"/>
            </a:xfrm>
            <a:custGeom>
              <a:avLst/>
              <a:gdLst>
                <a:gd name="T0" fmla="*/ 285 w 285"/>
                <a:gd name="T1" fmla="*/ 21 h 51"/>
                <a:gd name="T2" fmla="*/ 285 w 285"/>
                <a:gd name="T3" fmla="*/ 14 h 51"/>
                <a:gd name="T4" fmla="*/ 283 w 285"/>
                <a:gd name="T5" fmla="*/ 8 h 51"/>
                <a:gd name="T6" fmla="*/ 283 w 285"/>
                <a:gd name="T7" fmla="*/ 3 h 51"/>
                <a:gd name="T8" fmla="*/ 278 w 285"/>
                <a:gd name="T9" fmla="*/ 0 h 51"/>
                <a:gd name="T10" fmla="*/ 280 w 285"/>
                <a:gd name="T11" fmla="*/ 4 h 51"/>
                <a:gd name="T12" fmla="*/ 280 w 285"/>
                <a:gd name="T13" fmla="*/ 11 h 51"/>
                <a:gd name="T14" fmla="*/ 281 w 285"/>
                <a:gd name="T15" fmla="*/ 18 h 51"/>
                <a:gd name="T16" fmla="*/ 281 w 285"/>
                <a:gd name="T17" fmla="*/ 24 h 51"/>
                <a:gd name="T18" fmla="*/ 281 w 285"/>
                <a:gd name="T19" fmla="*/ 31 h 51"/>
                <a:gd name="T20" fmla="*/ 280 w 285"/>
                <a:gd name="T21" fmla="*/ 38 h 51"/>
                <a:gd name="T22" fmla="*/ 280 w 285"/>
                <a:gd name="T23" fmla="*/ 44 h 51"/>
                <a:gd name="T24" fmla="*/ 278 w 285"/>
                <a:gd name="T25" fmla="*/ 51 h 51"/>
                <a:gd name="T26" fmla="*/ 283 w 285"/>
                <a:gd name="T27" fmla="*/ 48 h 51"/>
                <a:gd name="T28" fmla="*/ 283 w 285"/>
                <a:gd name="T29" fmla="*/ 41 h 51"/>
                <a:gd name="T30" fmla="*/ 285 w 285"/>
                <a:gd name="T31" fmla="*/ 34 h 51"/>
                <a:gd name="T32" fmla="*/ 285 w 285"/>
                <a:gd name="T33" fmla="*/ 28 h 51"/>
                <a:gd name="T34" fmla="*/ 3 w 285"/>
                <a:gd name="T35" fmla="*/ 0 h 51"/>
                <a:gd name="T36" fmla="*/ 1 w 285"/>
                <a:gd name="T37" fmla="*/ 6 h 51"/>
                <a:gd name="T38" fmla="*/ 1 w 285"/>
                <a:gd name="T39" fmla="*/ 11 h 51"/>
                <a:gd name="T40" fmla="*/ 1 w 285"/>
                <a:gd name="T41" fmla="*/ 18 h 51"/>
                <a:gd name="T42" fmla="*/ 0 w 285"/>
                <a:gd name="T43" fmla="*/ 24 h 51"/>
                <a:gd name="T44" fmla="*/ 1 w 285"/>
                <a:gd name="T45" fmla="*/ 31 h 51"/>
                <a:gd name="T46" fmla="*/ 1 w 285"/>
                <a:gd name="T47" fmla="*/ 38 h 51"/>
                <a:gd name="T48" fmla="*/ 1 w 285"/>
                <a:gd name="T49" fmla="*/ 44 h 51"/>
                <a:gd name="T50" fmla="*/ 3 w 285"/>
                <a:gd name="T51" fmla="*/ 51 h 51"/>
                <a:gd name="T52" fmla="*/ 5 w 285"/>
                <a:gd name="T53" fmla="*/ 48 h 51"/>
                <a:gd name="T54" fmla="*/ 5 w 285"/>
                <a:gd name="T55" fmla="*/ 41 h 51"/>
                <a:gd name="T56" fmla="*/ 5 w 285"/>
                <a:gd name="T57" fmla="*/ 34 h 51"/>
                <a:gd name="T58" fmla="*/ 3 w 285"/>
                <a:gd name="T59" fmla="*/ 28 h 51"/>
                <a:gd name="T60" fmla="*/ 3 w 285"/>
                <a:gd name="T61" fmla="*/ 21 h 51"/>
                <a:gd name="T62" fmla="*/ 5 w 285"/>
                <a:gd name="T63" fmla="*/ 14 h 51"/>
                <a:gd name="T64" fmla="*/ 5 w 285"/>
                <a:gd name="T65" fmla="*/ 8 h 51"/>
                <a:gd name="T66" fmla="*/ 6 w 285"/>
                <a:gd name="T67" fmla="*/ 3 h 51"/>
                <a:gd name="T68" fmla="*/ 3 w 28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5" h="51">
                  <a:moveTo>
                    <a:pt x="285" y="24"/>
                  </a:moveTo>
                  <a:lnTo>
                    <a:pt x="285" y="21"/>
                  </a:lnTo>
                  <a:lnTo>
                    <a:pt x="285" y="18"/>
                  </a:lnTo>
                  <a:lnTo>
                    <a:pt x="285" y="14"/>
                  </a:lnTo>
                  <a:lnTo>
                    <a:pt x="283" y="11"/>
                  </a:lnTo>
                  <a:lnTo>
                    <a:pt x="283" y="8"/>
                  </a:lnTo>
                  <a:lnTo>
                    <a:pt x="283" y="6"/>
                  </a:lnTo>
                  <a:lnTo>
                    <a:pt x="283" y="3"/>
                  </a:lnTo>
                  <a:lnTo>
                    <a:pt x="281" y="0"/>
                  </a:lnTo>
                  <a:lnTo>
                    <a:pt x="278" y="0"/>
                  </a:lnTo>
                  <a:lnTo>
                    <a:pt x="280" y="3"/>
                  </a:lnTo>
                  <a:lnTo>
                    <a:pt x="280" y="4"/>
                  </a:lnTo>
                  <a:lnTo>
                    <a:pt x="280" y="8"/>
                  </a:lnTo>
                  <a:lnTo>
                    <a:pt x="280" y="11"/>
                  </a:lnTo>
                  <a:lnTo>
                    <a:pt x="281" y="14"/>
                  </a:lnTo>
                  <a:lnTo>
                    <a:pt x="281" y="18"/>
                  </a:lnTo>
                  <a:lnTo>
                    <a:pt x="281" y="21"/>
                  </a:lnTo>
                  <a:lnTo>
                    <a:pt x="281" y="24"/>
                  </a:lnTo>
                  <a:lnTo>
                    <a:pt x="281" y="28"/>
                  </a:lnTo>
                  <a:lnTo>
                    <a:pt x="281" y="31"/>
                  </a:lnTo>
                  <a:lnTo>
                    <a:pt x="281" y="34"/>
                  </a:lnTo>
                  <a:lnTo>
                    <a:pt x="280" y="38"/>
                  </a:lnTo>
                  <a:lnTo>
                    <a:pt x="280" y="41"/>
                  </a:lnTo>
                  <a:lnTo>
                    <a:pt x="280" y="44"/>
                  </a:lnTo>
                  <a:lnTo>
                    <a:pt x="280" y="48"/>
                  </a:lnTo>
                  <a:lnTo>
                    <a:pt x="278" y="51"/>
                  </a:lnTo>
                  <a:lnTo>
                    <a:pt x="281" y="51"/>
                  </a:lnTo>
                  <a:lnTo>
                    <a:pt x="283" y="48"/>
                  </a:lnTo>
                  <a:lnTo>
                    <a:pt x="283" y="44"/>
                  </a:lnTo>
                  <a:lnTo>
                    <a:pt x="283" y="41"/>
                  </a:lnTo>
                  <a:lnTo>
                    <a:pt x="283" y="38"/>
                  </a:lnTo>
                  <a:lnTo>
                    <a:pt x="285" y="34"/>
                  </a:lnTo>
                  <a:lnTo>
                    <a:pt x="285" y="31"/>
                  </a:lnTo>
                  <a:lnTo>
                    <a:pt x="285" y="28"/>
                  </a:lnTo>
                  <a:lnTo>
                    <a:pt x="285" y="24"/>
                  </a:lnTo>
                  <a:close/>
                  <a:moveTo>
                    <a:pt x="3" y="0"/>
                  </a:moveTo>
                  <a:lnTo>
                    <a:pt x="3" y="3"/>
                  </a:lnTo>
                  <a:lnTo>
                    <a:pt x="1" y="6"/>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4"/>
                  </a:lnTo>
                  <a:lnTo>
                    <a:pt x="6" y="3"/>
                  </a:lnTo>
                  <a:lnTo>
                    <a:pt x="6" y="0"/>
                  </a:lnTo>
                  <a:lnTo>
                    <a:pt x="3"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90" name="Freeform 432">
              <a:extLst>
                <a:ext uri="{FF2B5EF4-FFF2-40B4-BE49-F238E27FC236}">
                  <a16:creationId xmlns:a16="http://schemas.microsoft.com/office/drawing/2014/main" id="{DA77EA41-B363-7532-8A3B-A9472EEEA42B}"/>
                </a:ext>
              </a:extLst>
            </p:cNvPr>
            <p:cNvSpPr>
              <a:spLocks noEditPoints="1"/>
            </p:cNvSpPr>
            <p:nvPr/>
          </p:nvSpPr>
          <p:spPr bwMode="auto">
            <a:xfrm>
              <a:off x="1470" y="1713"/>
              <a:ext cx="282" cy="51"/>
            </a:xfrm>
            <a:custGeom>
              <a:avLst/>
              <a:gdLst>
                <a:gd name="T0" fmla="*/ 282 w 282"/>
                <a:gd name="T1" fmla="*/ 21 h 51"/>
                <a:gd name="T2" fmla="*/ 282 w 282"/>
                <a:gd name="T3" fmla="*/ 14 h 51"/>
                <a:gd name="T4" fmla="*/ 280 w 282"/>
                <a:gd name="T5" fmla="*/ 8 h 51"/>
                <a:gd name="T6" fmla="*/ 280 w 282"/>
                <a:gd name="T7" fmla="*/ 3 h 51"/>
                <a:gd name="T8" fmla="*/ 275 w 282"/>
                <a:gd name="T9" fmla="*/ 0 h 51"/>
                <a:gd name="T10" fmla="*/ 277 w 282"/>
                <a:gd name="T11" fmla="*/ 4 h 51"/>
                <a:gd name="T12" fmla="*/ 277 w 282"/>
                <a:gd name="T13" fmla="*/ 11 h 51"/>
                <a:gd name="T14" fmla="*/ 279 w 282"/>
                <a:gd name="T15" fmla="*/ 18 h 51"/>
                <a:gd name="T16" fmla="*/ 279 w 282"/>
                <a:gd name="T17" fmla="*/ 24 h 51"/>
                <a:gd name="T18" fmla="*/ 279 w 282"/>
                <a:gd name="T19" fmla="*/ 31 h 51"/>
                <a:gd name="T20" fmla="*/ 277 w 282"/>
                <a:gd name="T21" fmla="*/ 38 h 51"/>
                <a:gd name="T22" fmla="*/ 277 w 282"/>
                <a:gd name="T23" fmla="*/ 44 h 51"/>
                <a:gd name="T24" fmla="*/ 275 w 282"/>
                <a:gd name="T25" fmla="*/ 51 h 51"/>
                <a:gd name="T26" fmla="*/ 280 w 282"/>
                <a:gd name="T27" fmla="*/ 48 h 51"/>
                <a:gd name="T28" fmla="*/ 280 w 282"/>
                <a:gd name="T29" fmla="*/ 41 h 51"/>
                <a:gd name="T30" fmla="*/ 282 w 282"/>
                <a:gd name="T31" fmla="*/ 34 h 51"/>
                <a:gd name="T32" fmla="*/ 282 w 282"/>
                <a:gd name="T33" fmla="*/ 28 h 51"/>
                <a:gd name="T34" fmla="*/ 4 w 282"/>
                <a:gd name="T35" fmla="*/ 0 h 51"/>
                <a:gd name="T36" fmla="*/ 2 w 282"/>
                <a:gd name="T37" fmla="*/ 6 h 51"/>
                <a:gd name="T38" fmla="*/ 2 w 282"/>
                <a:gd name="T39" fmla="*/ 11 h 51"/>
                <a:gd name="T40" fmla="*/ 2 w 282"/>
                <a:gd name="T41" fmla="*/ 18 h 51"/>
                <a:gd name="T42" fmla="*/ 0 w 282"/>
                <a:gd name="T43" fmla="*/ 24 h 51"/>
                <a:gd name="T44" fmla="*/ 2 w 282"/>
                <a:gd name="T45" fmla="*/ 31 h 51"/>
                <a:gd name="T46" fmla="*/ 2 w 282"/>
                <a:gd name="T47" fmla="*/ 38 h 51"/>
                <a:gd name="T48" fmla="*/ 2 w 282"/>
                <a:gd name="T49" fmla="*/ 44 h 51"/>
                <a:gd name="T50" fmla="*/ 4 w 282"/>
                <a:gd name="T51" fmla="*/ 51 h 51"/>
                <a:gd name="T52" fmla="*/ 5 w 282"/>
                <a:gd name="T53" fmla="*/ 48 h 51"/>
                <a:gd name="T54" fmla="*/ 5 w 282"/>
                <a:gd name="T55" fmla="*/ 41 h 51"/>
                <a:gd name="T56" fmla="*/ 5 w 282"/>
                <a:gd name="T57" fmla="*/ 34 h 51"/>
                <a:gd name="T58" fmla="*/ 4 w 282"/>
                <a:gd name="T59" fmla="*/ 28 h 51"/>
                <a:gd name="T60" fmla="*/ 4 w 282"/>
                <a:gd name="T61" fmla="*/ 21 h 51"/>
                <a:gd name="T62" fmla="*/ 5 w 282"/>
                <a:gd name="T63" fmla="*/ 14 h 51"/>
                <a:gd name="T64" fmla="*/ 5 w 282"/>
                <a:gd name="T65" fmla="*/ 8 h 51"/>
                <a:gd name="T66" fmla="*/ 7 w 282"/>
                <a:gd name="T67" fmla="*/ 3 h 51"/>
                <a:gd name="T68" fmla="*/ 4 w 28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2" h="51">
                  <a:moveTo>
                    <a:pt x="282" y="24"/>
                  </a:moveTo>
                  <a:lnTo>
                    <a:pt x="282" y="21"/>
                  </a:lnTo>
                  <a:lnTo>
                    <a:pt x="282" y="18"/>
                  </a:lnTo>
                  <a:lnTo>
                    <a:pt x="282" y="14"/>
                  </a:lnTo>
                  <a:lnTo>
                    <a:pt x="280" y="11"/>
                  </a:lnTo>
                  <a:lnTo>
                    <a:pt x="280" y="8"/>
                  </a:lnTo>
                  <a:lnTo>
                    <a:pt x="280" y="6"/>
                  </a:lnTo>
                  <a:lnTo>
                    <a:pt x="280" y="3"/>
                  </a:lnTo>
                  <a:lnTo>
                    <a:pt x="279" y="0"/>
                  </a:lnTo>
                  <a:lnTo>
                    <a:pt x="275" y="0"/>
                  </a:lnTo>
                  <a:lnTo>
                    <a:pt x="277" y="3"/>
                  </a:lnTo>
                  <a:lnTo>
                    <a:pt x="277" y="4"/>
                  </a:lnTo>
                  <a:lnTo>
                    <a:pt x="277" y="8"/>
                  </a:lnTo>
                  <a:lnTo>
                    <a:pt x="277" y="11"/>
                  </a:lnTo>
                  <a:lnTo>
                    <a:pt x="279" y="14"/>
                  </a:lnTo>
                  <a:lnTo>
                    <a:pt x="279" y="18"/>
                  </a:lnTo>
                  <a:lnTo>
                    <a:pt x="279" y="21"/>
                  </a:lnTo>
                  <a:lnTo>
                    <a:pt x="279" y="24"/>
                  </a:lnTo>
                  <a:lnTo>
                    <a:pt x="279" y="28"/>
                  </a:lnTo>
                  <a:lnTo>
                    <a:pt x="279" y="31"/>
                  </a:lnTo>
                  <a:lnTo>
                    <a:pt x="279" y="34"/>
                  </a:lnTo>
                  <a:lnTo>
                    <a:pt x="277" y="38"/>
                  </a:lnTo>
                  <a:lnTo>
                    <a:pt x="277" y="41"/>
                  </a:lnTo>
                  <a:lnTo>
                    <a:pt x="277" y="44"/>
                  </a:lnTo>
                  <a:lnTo>
                    <a:pt x="277" y="48"/>
                  </a:lnTo>
                  <a:lnTo>
                    <a:pt x="275" y="51"/>
                  </a:lnTo>
                  <a:lnTo>
                    <a:pt x="279" y="51"/>
                  </a:lnTo>
                  <a:lnTo>
                    <a:pt x="280" y="48"/>
                  </a:lnTo>
                  <a:lnTo>
                    <a:pt x="280" y="44"/>
                  </a:lnTo>
                  <a:lnTo>
                    <a:pt x="280" y="41"/>
                  </a:lnTo>
                  <a:lnTo>
                    <a:pt x="280" y="38"/>
                  </a:lnTo>
                  <a:lnTo>
                    <a:pt x="282" y="34"/>
                  </a:lnTo>
                  <a:lnTo>
                    <a:pt x="282" y="31"/>
                  </a:lnTo>
                  <a:lnTo>
                    <a:pt x="282" y="28"/>
                  </a:lnTo>
                  <a:lnTo>
                    <a:pt x="282" y="24"/>
                  </a:lnTo>
                  <a:close/>
                  <a:moveTo>
                    <a:pt x="4" y="0"/>
                  </a:moveTo>
                  <a:lnTo>
                    <a:pt x="4"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4"/>
                  </a:lnTo>
                  <a:lnTo>
                    <a:pt x="7" y="3"/>
                  </a:lnTo>
                  <a:lnTo>
                    <a:pt x="7" y="0"/>
                  </a:lnTo>
                  <a:lnTo>
                    <a:pt x="4"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91" name="Freeform 433">
              <a:extLst>
                <a:ext uri="{FF2B5EF4-FFF2-40B4-BE49-F238E27FC236}">
                  <a16:creationId xmlns:a16="http://schemas.microsoft.com/office/drawing/2014/main" id="{26566232-6C74-5FEE-96ED-ACFBEA64262B}"/>
                </a:ext>
              </a:extLst>
            </p:cNvPr>
            <p:cNvSpPr>
              <a:spLocks noEditPoints="1"/>
            </p:cNvSpPr>
            <p:nvPr/>
          </p:nvSpPr>
          <p:spPr bwMode="auto">
            <a:xfrm>
              <a:off x="1472" y="1713"/>
              <a:ext cx="278" cy="51"/>
            </a:xfrm>
            <a:custGeom>
              <a:avLst/>
              <a:gdLst>
                <a:gd name="T0" fmla="*/ 278 w 278"/>
                <a:gd name="T1" fmla="*/ 21 h 51"/>
                <a:gd name="T2" fmla="*/ 278 w 278"/>
                <a:gd name="T3" fmla="*/ 14 h 51"/>
                <a:gd name="T4" fmla="*/ 277 w 278"/>
                <a:gd name="T5" fmla="*/ 8 h 51"/>
                <a:gd name="T6" fmla="*/ 277 w 278"/>
                <a:gd name="T7" fmla="*/ 3 h 51"/>
                <a:gd name="T8" fmla="*/ 272 w 278"/>
                <a:gd name="T9" fmla="*/ 0 h 51"/>
                <a:gd name="T10" fmla="*/ 273 w 278"/>
                <a:gd name="T11" fmla="*/ 4 h 51"/>
                <a:gd name="T12" fmla="*/ 273 w 278"/>
                <a:gd name="T13" fmla="*/ 11 h 51"/>
                <a:gd name="T14" fmla="*/ 275 w 278"/>
                <a:gd name="T15" fmla="*/ 18 h 51"/>
                <a:gd name="T16" fmla="*/ 275 w 278"/>
                <a:gd name="T17" fmla="*/ 24 h 51"/>
                <a:gd name="T18" fmla="*/ 275 w 278"/>
                <a:gd name="T19" fmla="*/ 31 h 51"/>
                <a:gd name="T20" fmla="*/ 273 w 278"/>
                <a:gd name="T21" fmla="*/ 38 h 51"/>
                <a:gd name="T22" fmla="*/ 273 w 278"/>
                <a:gd name="T23" fmla="*/ 44 h 51"/>
                <a:gd name="T24" fmla="*/ 272 w 278"/>
                <a:gd name="T25" fmla="*/ 51 h 51"/>
                <a:gd name="T26" fmla="*/ 277 w 278"/>
                <a:gd name="T27" fmla="*/ 48 h 51"/>
                <a:gd name="T28" fmla="*/ 277 w 278"/>
                <a:gd name="T29" fmla="*/ 41 h 51"/>
                <a:gd name="T30" fmla="*/ 278 w 278"/>
                <a:gd name="T31" fmla="*/ 34 h 51"/>
                <a:gd name="T32" fmla="*/ 278 w 278"/>
                <a:gd name="T33" fmla="*/ 28 h 51"/>
                <a:gd name="T34" fmla="*/ 3 w 278"/>
                <a:gd name="T35" fmla="*/ 0 h 51"/>
                <a:gd name="T36" fmla="*/ 2 w 278"/>
                <a:gd name="T37" fmla="*/ 4 h 51"/>
                <a:gd name="T38" fmla="*/ 2 w 278"/>
                <a:gd name="T39" fmla="*/ 11 h 51"/>
                <a:gd name="T40" fmla="*/ 2 w 278"/>
                <a:gd name="T41" fmla="*/ 18 h 51"/>
                <a:gd name="T42" fmla="*/ 0 w 278"/>
                <a:gd name="T43" fmla="*/ 24 h 51"/>
                <a:gd name="T44" fmla="*/ 2 w 278"/>
                <a:gd name="T45" fmla="*/ 31 h 51"/>
                <a:gd name="T46" fmla="*/ 2 w 278"/>
                <a:gd name="T47" fmla="*/ 38 h 51"/>
                <a:gd name="T48" fmla="*/ 2 w 278"/>
                <a:gd name="T49" fmla="*/ 44 h 51"/>
                <a:gd name="T50" fmla="*/ 3 w 278"/>
                <a:gd name="T51" fmla="*/ 51 h 51"/>
                <a:gd name="T52" fmla="*/ 7 w 278"/>
                <a:gd name="T53" fmla="*/ 48 h 51"/>
                <a:gd name="T54" fmla="*/ 5 w 278"/>
                <a:gd name="T55" fmla="*/ 41 h 51"/>
                <a:gd name="T56" fmla="*/ 5 w 278"/>
                <a:gd name="T57" fmla="*/ 34 h 51"/>
                <a:gd name="T58" fmla="*/ 3 w 278"/>
                <a:gd name="T59" fmla="*/ 28 h 51"/>
                <a:gd name="T60" fmla="*/ 3 w 278"/>
                <a:gd name="T61" fmla="*/ 21 h 51"/>
                <a:gd name="T62" fmla="*/ 5 w 278"/>
                <a:gd name="T63" fmla="*/ 14 h 51"/>
                <a:gd name="T64" fmla="*/ 5 w 278"/>
                <a:gd name="T65" fmla="*/ 8 h 51"/>
                <a:gd name="T66" fmla="*/ 7 w 278"/>
                <a:gd name="T67" fmla="*/ 3 h 51"/>
                <a:gd name="T68" fmla="*/ 3 w 27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8" h="51">
                  <a:moveTo>
                    <a:pt x="278" y="24"/>
                  </a:moveTo>
                  <a:lnTo>
                    <a:pt x="278" y="21"/>
                  </a:lnTo>
                  <a:lnTo>
                    <a:pt x="278" y="18"/>
                  </a:lnTo>
                  <a:lnTo>
                    <a:pt x="278" y="14"/>
                  </a:lnTo>
                  <a:lnTo>
                    <a:pt x="277" y="11"/>
                  </a:lnTo>
                  <a:lnTo>
                    <a:pt x="277" y="8"/>
                  </a:lnTo>
                  <a:lnTo>
                    <a:pt x="277" y="4"/>
                  </a:lnTo>
                  <a:lnTo>
                    <a:pt x="277" y="3"/>
                  </a:lnTo>
                  <a:lnTo>
                    <a:pt x="275" y="0"/>
                  </a:lnTo>
                  <a:lnTo>
                    <a:pt x="272" y="0"/>
                  </a:lnTo>
                  <a:lnTo>
                    <a:pt x="273" y="3"/>
                  </a:lnTo>
                  <a:lnTo>
                    <a:pt x="273" y="4"/>
                  </a:lnTo>
                  <a:lnTo>
                    <a:pt x="273" y="8"/>
                  </a:lnTo>
                  <a:lnTo>
                    <a:pt x="273" y="11"/>
                  </a:lnTo>
                  <a:lnTo>
                    <a:pt x="275" y="14"/>
                  </a:lnTo>
                  <a:lnTo>
                    <a:pt x="275" y="18"/>
                  </a:lnTo>
                  <a:lnTo>
                    <a:pt x="275" y="21"/>
                  </a:lnTo>
                  <a:lnTo>
                    <a:pt x="275" y="24"/>
                  </a:lnTo>
                  <a:lnTo>
                    <a:pt x="275" y="28"/>
                  </a:lnTo>
                  <a:lnTo>
                    <a:pt x="275" y="31"/>
                  </a:lnTo>
                  <a:lnTo>
                    <a:pt x="275" y="34"/>
                  </a:lnTo>
                  <a:lnTo>
                    <a:pt x="273" y="38"/>
                  </a:lnTo>
                  <a:lnTo>
                    <a:pt x="273" y="41"/>
                  </a:lnTo>
                  <a:lnTo>
                    <a:pt x="273" y="44"/>
                  </a:lnTo>
                  <a:lnTo>
                    <a:pt x="273" y="48"/>
                  </a:lnTo>
                  <a:lnTo>
                    <a:pt x="272" y="51"/>
                  </a:lnTo>
                  <a:lnTo>
                    <a:pt x="275" y="51"/>
                  </a:lnTo>
                  <a:lnTo>
                    <a:pt x="277" y="48"/>
                  </a:lnTo>
                  <a:lnTo>
                    <a:pt x="277" y="44"/>
                  </a:lnTo>
                  <a:lnTo>
                    <a:pt x="277" y="41"/>
                  </a:lnTo>
                  <a:lnTo>
                    <a:pt x="277" y="38"/>
                  </a:lnTo>
                  <a:lnTo>
                    <a:pt x="278" y="34"/>
                  </a:lnTo>
                  <a:lnTo>
                    <a:pt x="278" y="31"/>
                  </a:lnTo>
                  <a:lnTo>
                    <a:pt x="278" y="28"/>
                  </a:lnTo>
                  <a:lnTo>
                    <a:pt x="278" y="24"/>
                  </a:lnTo>
                  <a:close/>
                  <a:moveTo>
                    <a:pt x="3" y="0"/>
                  </a:moveTo>
                  <a:lnTo>
                    <a:pt x="3" y="3"/>
                  </a:lnTo>
                  <a:lnTo>
                    <a:pt x="2" y="4"/>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7" y="51"/>
                  </a:lnTo>
                  <a:lnTo>
                    <a:pt x="7"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4"/>
                  </a:lnTo>
                  <a:lnTo>
                    <a:pt x="7" y="3"/>
                  </a:lnTo>
                  <a:lnTo>
                    <a:pt x="7" y="0"/>
                  </a:lnTo>
                  <a:lnTo>
                    <a:pt x="3"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92" name="Freeform 434">
              <a:extLst>
                <a:ext uri="{FF2B5EF4-FFF2-40B4-BE49-F238E27FC236}">
                  <a16:creationId xmlns:a16="http://schemas.microsoft.com/office/drawing/2014/main" id="{0394A45E-57D1-8C66-DEA9-D56BC252FB3C}"/>
                </a:ext>
              </a:extLst>
            </p:cNvPr>
            <p:cNvSpPr>
              <a:spLocks noEditPoints="1"/>
            </p:cNvSpPr>
            <p:nvPr/>
          </p:nvSpPr>
          <p:spPr bwMode="auto">
            <a:xfrm>
              <a:off x="1474" y="1713"/>
              <a:ext cx="275" cy="51"/>
            </a:xfrm>
            <a:custGeom>
              <a:avLst/>
              <a:gdLst>
                <a:gd name="T0" fmla="*/ 275 w 275"/>
                <a:gd name="T1" fmla="*/ 21 h 51"/>
                <a:gd name="T2" fmla="*/ 275 w 275"/>
                <a:gd name="T3" fmla="*/ 14 h 51"/>
                <a:gd name="T4" fmla="*/ 273 w 275"/>
                <a:gd name="T5" fmla="*/ 8 h 51"/>
                <a:gd name="T6" fmla="*/ 273 w 275"/>
                <a:gd name="T7" fmla="*/ 3 h 51"/>
                <a:gd name="T8" fmla="*/ 268 w 275"/>
                <a:gd name="T9" fmla="*/ 0 h 51"/>
                <a:gd name="T10" fmla="*/ 270 w 275"/>
                <a:gd name="T11" fmla="*/ 4 h 51"/>
                <a:gd name="T12" fmla="*/ 270 w 275"/>
                <a:gd name="T13" fmla="*/ 11 h 51"/>
                <a:gd name="T14" fmla="*/ 271 w 275"/>
                <a:gd name="T15" fmla="*/ 18 h 51"/>
                <a:gd name="T16" fmla="*/ 271 w 275"/>
                <a:gd name="T17" fmla="*/ 24 h 51"/>
                <a:gd name="T18" fmla="*/ 271 w 275"/>
                <a:gd name="T19" fmla="*/ 31 h 51"/>
                <a:gd name="T20" fmla="*/ 270 w 275"/>
                <a:gd name="T21" fmla="*/ 38 h 51"/>
                <a:gd name="T22" fmla="*/ 270 w 275"/>
                <a:gd name="T23" fmla="*/ 44 h 51"/>
                <a:gd name="T24" fmla="*/ 268 w 275"/>
                <a:gd name="T25" fmla="*/ 51 h 51"/>
                <a:gd name="T26" fmla="*/ 273 w 275"/>
                <a:gd name="T27" fmla="*/ 48 h 51"/>
                <a:gd name="T28" fmla="*/ 273 w 275"/>
                <a:gd name="T29" fmla="*/ 41 h 51"/>
                <a:gd name="T30" fmla="*/ 275 w 275"/>
                <a:gd name="T31" fmla="*/ 34 h 51"/>
                <a:gd name="T32" fmla="*/ 275 w 275"/>
                <a:gd name="T33" fmla="*/ 28 h 51"/>
                <a:gd name="T34" fmla="*/ 3 w 275"/>
                <a:gd name="T35" fmla="*/ 0 h 51"/>
                <a:gd name="T36" fmla="*/ 1 w 275"/>
                <a:gd name="T37" fmla="*/ 4 h 51"/>
                <a:gd name="T38" fmla="*/ 1 w 275"/>
                <a:gd name="T39" fmla="*/ 11 h 51"/>
                <a:gd name="T40" fmla="*/ 1 w 275"/>
                <a:gd name="T41" fmla="*/ 18 h 51"/>
                <a:gd name="T42" fmla="*/ 0 w 275"/>
                <a:gd name="T43" fmla="*/ 24 h 51"/>
                <a:gd name="T44" fmla="*/ 1 w 275"/>
                <a:gd name="T45" fmla="*/ 31 h 51"/>
                <a:gd name="T46" fmla="*/ 1 w 275"/>
                <a:gd name="T47" fmla="*/ 38 h 51"/>
                <a:gd name="T48" fmla="*/ 1 w 275"/>
                <a:gd name="T49" fmla="*/ 44 h 51"/>
                <a:gd name="T50" fmla="*/ 3 w 275"/>
                <a:gd name="T51" fmla="*/ 51 h 51"/>
                <a:gd name="T52" fmla="*/ 6 w 275"/>
                <a:gd name="T53" fmla="*/ 48 h 51"/>
                <a:gd name="T54" fmla="*/ 5 w 275"/>
                <a:gd name="T55" fmla="*/ 41 h 51"/>
                <a:gd name="T56" fmla="*/ 5 w 275"/>
                <a:gd name="T57" fmla="*/ 34 h 51"/>
                <a:gd name="T58" fmla="*/ 3 w 275"/>
                <a:gd name="T59" fmla="*/ 28 h 51"/>
                <a:gd name="T60" fmla="*/ 3 w 275"/>
                <a:gd name="T61" fmla="*/ 21 h 51"/>
                <a:gd name="T62" fmla="*/ 5 w 275"/>
                <a:gd name="T63" fmla="*/ 14 h 51"/>
                <a:gd name="T64" fmla="*/ 5 w 275"/>
                <a:gd name="T65" fmla="*/ 8 h 51"/>
                <a:gd name="T66" fmla="*/ 6 w 275"/>
                <a:gd name="T67" fmla="*/ 3 h 51"/>
                <a:gd name="T68" fmla="*/ 3 w 27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5" h="51">
                  <a:moveTo>
                    <a:pt x="275" y="24"/>
                  </a:moveTo>
                  <a:lnTo>
                    <a:pt x="275" y="21"/>
                  </a:lnTo>
                  <a:lnTo>
                    <a:pt x="275" y="18"/>
                  </a:lnTo>
                  <a:lnTo>
                    <a:pt x="275" y="14"/>
                  </a:lnTo>
                  <a:lnTo>
                    <a:pt x="273" y="11"/>
                  </a:lnTo>
                  <a:lnTo>
                    <a:pt x="273" y="8"/>
                  </a:lnTo>
                  <a:lnTo>
                    <a:pt x="273" y="4"/>
                  </a:lnTo>
                  <a:lnTo>
                    <a:pt x="273" y="3"/>
                  </a:lnTo>
                  <a:lnTo>
                    <a:pt x="271" y="0"/>
                  </a:lnTo>
                  <a:lnTo>
                    <a:pt x="268" y="0"/>
                  </a:lnTo>
                  <a:lnTo>
                    <a:pt x="270" y="3"/>
                  </a:lnTo>
                  <a:lnTo>
                    <a:pt x="270" y="4"/>
                  </a:lnTo>
                  <a:lnTo>
                    <a:pt x="270" y="8"/>
                  </a:lnTo>
                  <a:lnTo>
                    <a:pt x="270" y="11"/>
                  </a:lnTo>
                  <a:lnTo>
                    <a:pt x="271" y="14"/>
                  </a:lnTo>
                  <a:lnTo>
                    <a:pt x="271" y="18"/>
                  </a:lnTo>
                  <a:lnTo>
                    <a:pt x="271" y="21"/>
                  </a:lnTo>
                  <a:lnTo>
                    <a:pt x="271" y="24"/>
                  </a:lnTo>
                  <a:lnTo>
                    <a:pt x="271" y="28"/>
                  </a:lnTo>
                  <a:lnTo>
                    <a:pt x="271" y="31"/>
                  </a:lnTo>
                  <a:lnTo>
                    <a:pt x="271" y="34"/>
                  </a:lnTo>
                  <a:lnTo>
                    <a:pt x="270" y="38"/>
                  </a:lnTo>
                  <a:lnTo>
                    <a:pt x="270" y="41"/>
                  </a:lnTo>
                  <a:lnTo>
                    <a:pt x="270" y="44"/>
                  </a:lnTo>
                  <a:lnTo>
                    <a:pt x="270" y="48"/>
                  </a:lnTo>
                  <a:lnTo>
                    <a:pt x="268" y="51"/>
                  </a:lnTo>
                  <a:lnTo>
                    <a:pt x="271" y="51"/>
                  </a:lnTo>
                  <a:lnTo>
                    <a:pt x="273" y="48"/>
                  </a:lnTo>
                  <a:lnTo>
                    <a:pt x="273" y="44"/>
                  </a:lnTo>
                  <a:lnTo>
                    <a:pt x="273" y="41"/>
                  </a:lnTo>
                  <a:lnTo>
                    <a:pt x="273" y="38"/>
                  </a:lnTo>
                  <a:lnTo>
                    <a:pt x="275" y="34"/>
                  </a:lnTo>
                  <a:lnTo>
                    <a:pt x="275" y="31"/>
                  </a:lnTo>
                  <a:lnTo>
                    <a:pt x="275" y="28"/>
                  </a:lnTo>
                  <a:lnTo>
                    <a:pt x="275" y="24"/>
                  </a:lnTo>
                  <a:close/>
                  <a:moveTo>
                    <a:pt x="3" y="0"/>
                  </a:moveTo>
                  <a:lnTo>
                    <a:pt x="3" y="3"/>
                  </a:lnTo>
                  <a:lnTo>
                    <a:pt x="1" y="4"/>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6"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4"/>
                  </a:lnTo>
                  <a:lnTo>
                    <a:pt x="6" y="3"/>
                  </a:lnTo>
                  <a:lnTo>
                    <a:pt x="6" y="0"/>
                  </a:lnTo>
                  <a:lnTo>
                    <a:pt x="3"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93" name="Freeform 435">
              <a:extLst>
                <a:ext uri="{FF2B5EF4-FFF2-40B4-BE49-F238E27FC236}">
                  <a16:creationId xmlns:a16="http://schemas.microsoft.com/office/drawing/2014/main" id="{F0E934D1-0885-6926-E7E5-A27C53C0638D}"/>
                </a:ext>
              </a:extLst>
            </p:cNvPr>
            <p:cNvSpPr>
              <a:spLocks noEditPoints="1"/>
            </p:cNvSpPr>
            <p:nvPr/>
          </p:nvSpPr>
          <p:spPr bwMode="auto">
            <a:xfrm>
              <a:off x="1475" y="1713"/>
              <a:ext cx="272" cy="51"/>
            </a:xfrm>
            <a:custGeom>
              <a:avLst/>
              <a:gdLst>
                <a:gd name="T0" fmla="*/ 272 w 272"/>
                <a:gd name="T1" fmla="*/ 21 h 51"/>
                <a:gd name="T2" fmla="*/ 272 w 272"/>
                <a:gd name="T3" fmla="*/ 14 h 51"/>
                <a:gd name="T4" fmla="*/ 270 w 272"/>
                <a:gd name="T5" fmla="*/ 8 h 51"/>
                <a:gd name="T6" fmla="*/ 270 w 272"/>
                <a:gd name="T7" fmla="*/ 3 h 51"/>
                <a:gd name="T8" fmla="*/ 265 w 272"/>
                <a:gd name="T9" fmla="*/ 0 h 51"/>
                <a:gd name="T10" fmla="*/ 267 w 272"/>
                <a:gd name="T11" fmla="*/ 4 h 51"/>
                <a:gd name="T12" fmla="*/ 267 w 272"/>
                <a:gd name="T13" fmla="*/ 11 h 51"/>
                <a:gd name="T14" fmla="*/ 269 w 272"/>
                <a:gd name="T15" fmla="*/ 18 h 51"/>
                <a:gd name="T16" fmla="*/ 269 w 272"/>
                <a:gd name="T17" fmla="*/ 24 h 51"/>
                <a:gd name="T18" fmla="*/ 269 w 272"/>
                <a:gd name="T19" fmla="*/ 31 h 51"/>
                <a:gd name="T20" fmla="*/ 267 w 272"/>
                <a:gd name="T21" fmla="*/ 38 h 51"/>
                <a:gd name="T22" fmla="*/ 267 w 272"/>
                <a:gd name="T23" fmla="*/ 44 h 51"/>
                <a:gd name="T24" fmla="*/ 265 w 272"/>
                <a:gd name="T25" fmla="*/ 51 h 51"/>
                <a:gd name="T26" fmla="*/ 270 w 272"/>
                <a:gd name="T27" fmla="*/ 48 h 51"/>
                <a:gd name="T28" fmla="*/ 270 w 272"/>
                <a:gd name="T29" fmla="*/ 41 h 51"/>
                <a:gd name="T30" fmla="*/ 272 w 272"/>
                <a:gd name="T31" fmla="*/ 34 h 51"/>
                <a:gd name="T32" fmla="*/ 272 w 272"/>
                <a:gd name="T33" fmla="*/ 28 h 51"/>
                <a:gd name="T34" fmla="*/ 4 w 272"/>
                <a:gd name="T35" fmla="*/ 0 h 51"/>
                <a:gd name="T36" fmla="*/ 2 w 272"/>
                <a:gd name="T37" fmla="*/ 4 h 51"/>
                <a:gd name="T38" fmla="*/ 2 w 272"/>
                <a:gd name="T39" fmla="*/ 11 h 51"/>
                <a:gd name="T40" fmla="*/ 2 w 272"/>
                <a:gd name="T41" fmla="*/ 18 h 51"/>
                <a:gd name="T42" fmla="*/ 0 w 272"/>
                <a:gd name="T43" fmla="*/ 24 h 51"/>
                <a:gd name="T44" fmla="*/ 2 w 272"/>
                <a:gd name="T45" fmla="*/ 31 h 51"/>
                <a:gd name="T46" fmla="*/ 2 w 272"/>
                <a:gd name="T47" fmla="*/ 38 h 51"/>
                <a:gd name="T48" fmla="*/ 2 w 272"/>
                <a:gd name="T49" fmla="*/ 44 h 51"/>
                <a:gd name="T50" fmla="*/ 4 w 272"/>
                <a:gd name="T51" fmla="*/ 51 h 51"/>
                <a:gd name="T52" fmla="*/ 7 w 272"/>
                <a:gd name="T53" fmla="*/ 48 h 51"/>
                <a:gd name="T54" fmla="*/ 5 w 272"/>
                <a:gd name="T55" fmla="*/ 41 h 51"/>
                <a:gd name="T56" fmla="*/ 5 w 272"/>
                <a:gd name="T57" fmla="*/ 34 h 51"/>
                <a:gd name="T58" fmla="*/ 4 w 272"/>
                <a:gd name="T59" fmla="*/ 28 h 51"/>
                <a:gd name="T60" fmla="*/ 4 w 272"/>
                <a:gd name="T61" fmla="*/ 21 h 51"/>
                <a:gd name="T62" fmla="*/ 5 w 272"/>
                <a:gd name="T63" fmla="*/ 14 h 51"/>
                <a:gd name="T64" fmla="*/ 5 w 272"/>
                <a:gd name="T65" fmla="*/ 8 h 51"/>
                <a:gd name="T66" fmla="*/ 7 w 272"/>
                <a:gd name="T67" fmla="*/ 3 h 51"/>
                <a:gd name="T68" fmla="*/ 4 w 2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2" h="51">
                  <a:moveTo>
                    <a:pt x="272" y="24"/>
                  </a:moveTo>
                  <a:lnTo>
                    <a:pt x="272" y="21"/>
                  </a:lnTo>
                  <a:lnTo>
                    <a:pt x="272" y="18"/>
                  </a:lnTo>
                  <a:lnTo>
                    <a:pt x="272" y="14"/>
                  </a:lnTo>
                  <a:lnTo>
                    <a:pt x="270" y="11"/>
                  </a:lnTo>
                  <a:lnTo>
                    <a:pt x="270" y="8"/>
                  </a:lnTo>
                  <a:lnTo>
                    <a:pt x="270" y="4"/>
                  </a:lnTo>
                  <a:lnTo>
                    <a:pt x="270" y="3"/>
                  </a:lnTo>
                  <a:lnTo>
                    <a:pt x="269" y="0"/>
                  </a:lnTo>
                  <a:lnTo>
                    <a:pt x="265" y="0"/>
                  </a:lnTo>
                  <a:lnTo>
                    <a:pt x="267" y="3"/>
                  </a:lnTo>
                  <a:lnTo>
                    <a:pt x="267" y="4"/>
                  </a:lnTo>
                  <a:lnTo>
                    <a:pt x="267" y="8"/>
                  </a:lnTo>
                  <a:lnTo>
                    <a:pt x="267" y="11"/>
                  </a:lnTo>
                  <a:lnTo>
                    <a:pt x="269" y="14"/>
                  </a:lnTo>
                  <a:lnTo>
                    <a:pt x="269" y="18"/>
                  </a:lnTo>
                  <a:lnTo>
                    <a:pt x="269" y="21"/>
                  </a:lnTo>
                  <a:lnTo>
                    <a:pt x="269" y="24"/>
                  </a:lnTo>
                  <a:lnTo>
                    <a:pt x="269" y="28"/>
                  </a:lnTo>
                  <a:lnTo>
                    <a:pt x="269" y="31"/>
                  </a:lnTo>
                  <a:lnTo>
                    <a:pt x="269" y="34"/>
                  </a:lnTo>
                  <a:lnTo>
                    <a:pt x="267" y="38"/>
                  </a:lnTo>
                  <a:lnTo>
                    <a:pt x="267" y="41"/>
                  </a:lnTo>
                  <a:lnTo>
                    <a:pt x="267" y="44"/>
                  </a:lnTo>
                  <a:lnTo>
                    <a:pt x="267" y="48"/>
                  </a:lnTo>
                  <a:lnTo>
                    <a:pt x="265" y="51"/>
                  </a:lnTo>
                  <a:lnTo>
                    <a:pt x="269" y="51"/>
                  </a:lnTo>
                  <a:lnTo>
                    <a:pt x="270" y="48"/>
                  </a:lnTo>
                  <a:lnTo>
                    <a:pt x="270" y="44"/>
                  </a:lnTo>
                  <a:lnTo>
                    <a:pt x="270" y="41"/>
                  </a:lnTo>
                  <a:lnTo>
                    <a:pt x="270" y="38"/>
                  </a:lnTo>
                  <a:lnTo>
                    <a:pt x="272" y="34"/>
                  </a:lnTo>
                  <a:lnTo>
                    <a:pt x="272" y="31"/>
                  </a:lnTo>
                  <a:lnTo>
                    <a:pt x="272" y="28"/>
                  </a:lnTo>
                  <a:lnTo>
                    <a:pt x="272" y="24"/>
                  </a:lnTo>
                  <a:close/>
                  <a:moveTo>
                    <a:pt x="4" y="0"/>
                  </a:moveTo>
                  <a:lnTo>
                    <a:pt x="4" y="3"/>
                  </a:lnTo>
                  <a:lnTo>
                    <a:pt x="2" y="4"/>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4"/>
                  </a:lnTo>
                  <a:lnTo>
                    <a:pt x="7" y="3"/>
                  </a:lnTo>
                  <a:lnTo>
                    <a:pt x="7" y="0"/>
                  </a:lnTo>
                  <a:lnTo>
                    <a:pt x="4"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94" name="Freeform 436">
              <a:extLst>
                <a:ext uri="{FF2B5EF4-FFF2-40B4-BE49-F238E27FC236}">
                  <a16:creationId xmlns:a16="http://schemas.microsoft.com/office/drawing/2014/main" id="{45C9624B-DB1C-1A48-5885-93C3BDB82538}"/>
                </a:ext>
              </a:extLst>
            </p:cNvPr>
            <p:cNvSpPr>
              <a:spLocks noEditPoints="1"/>
            </p:cNvSpPr>
            <p:nvPr/>
          </p:nvSpPr>
          <p:spPr bwMode="auto">
            <a:xfrm>
              <a:off x="1477" y="1713"/>
              <a:ext cx="268" cy="51"/>
            </a:xfrm>
            <a:custGeom>
              <a:avLst/>
              <a:gdLst>
                <a:gd name="T0" fmla="*/ 268 w 268"/>
                <a:gd name="T1" fmla="*/ 21 h 51"/>
                <a:gd name="T2" fmla="*/ 268 w 268"/>
                <a:gd name="T3" fmla="*/ 14 h 51"/>
                <a:gd name="T4" fmla="*/ 267 w 268"/>
                <a:gd name="T5" fmla="*/ 8 h 51"/>
                <a:gd name="T6" fmla="*/ 267 w 268"/>
                <a:gd name="T7" fmla="*/ 3 h 51"/>
                <a:gd name="T8" fmla="*/ 262 w 268"/>
                <a:gd name="T9" fmla="*/ 0 h 51"/>
                <a:gd name="T10" fmla="*/ 263 w 268"/>
                <a:gd name="T11" fmla="*/ 4 h 51"/>
                <a:gd name="T12" fmla="*/ 263 w 268"/>
                <a:gd name="T13" fmla="*/ 11 h 51"/>
                <a:gd name="T14" fmla="*/ 265 w 268"/>
                <a:gd name="T15" fmla="*/ 18 h 51"/>
                <a:gd name="T16" fmla="*/ 265 w 268"/>
                <a:gd name="T17" fmla="*/ 24 h 51"/>
                <a:gd name="T18" fmla="*/ 265 w 268"/>
                <a:gd name="T19" fmla="*/ 31 h 51"/>
                <a:gd name="T20" fmla="*/ 263 w 268"/>
                <a:gd name="T21" fmla="*/ 38 h 51"/>
                <a:gd name="T22" fmla="*/ 263 w 268"/>
                <a:gd name="T23" fmla="*/ 44 h 51"/>
                <a:gd name="T24" fmla="*/ 262 w 268"/>
                <a:gd name="T25" fmla="*/ 51 h 51"/>
                <a:gd name="T26" fmla="*/ 267 w 268"/>
                <a:gd name="T27" fmla="*/ 48 h 51"/>
                <a:gd name="T28" fmla="*/ 267 w 268"/>
                <a:gd name="T29" fmla="*/ 41 h 51"/>
                <a:gd name="T30" fmla="*/ 268 w 268"/>
                <a:gd name="T31" fmla="*/ 34 h 51"/>
                <a:gd name="T32" fmla="*/ 268 w 268"/>
                <a:gd name="T33" fmla="*/ 28 h 51"/>
                <a:gd name="T34" fmla="*/ 3 w 268"/>
                <a:gd name="T35" fmla="*/ 0 h 51"/>
                <a:gd name="T36" fmla="*/ 2 w 268"/>
                <a:gd name="T37" fmla="*/ 4 h 51"/>
                <a:gd name="T38" fmla="*/ 2 w 268"/>
                <a:gd name="T39" fmla="*/ 11 h 51"/>
                <a:gd name="T40" fmla="*/ 2 w 268"/>
                <a:gd name="T41" fmla="*/ 18 h 51"/>
                <a:gd name="T42" fmla="*/ 0 w 268"/>
                <a:gd name="T43" fmla="*/ 24 h 51"/>
                <a:gd name="T44" fmla="*/ 2 w 268"/>
                <a:gd name="T45" fmla="*/ 31 h 51"/>
                <a:gd name="T46" fmla="*/ 2 w 268"/>
                <a:gd name="T47" fmla="*/ 38 h 51"/>
                <a:gd name="T48" fmla="*/ 2 w 268"/>
                <a:gd name="T49" fmla="*/ 44 h 51"/>
                <a:gd name="T50" fmla="*/ 3 w 268"/>
                <a:gd name="T51" fmla="*/ 51 h 51"/>
                <a:gd name="T52" fmla="*/ 7 w 268"/>
                <a:gd name="T53" fmla="*/ 48 h 51"/>
                <a:gd name="T54" fmla="*/ 5 w 268"/>
                <a:gd name="T55" fmla="*/ 41 h 51"/>
                <a:gd name="T56" fmla="*/ 5 w 268"/>
                <a:gd name="T57" fmla="*/ 34 h 51"/>
                <a:gd name="T58" fmla="*/ 3 w 268"/>
                <a:gd name="T59" fmla="*/ 28 h 51"/>
                <a:gd name="T60" fmla="*/ 3 w 268"/>
                <a:gd name="T61" fmla="*/ 21 h 51"/>
                <a:gd name="T62" fmla="*/ 5 w 268"/>
                <a:gd name="T63" fmla="*/ 14 h 51"/>
                <a:gd name="T64" fmla="*/ 5 w 268"/>
                <a:gd name="T65" fmla="*/ 8 h 51"/>
                <a:gd name="T66" fmla="*/ 7 w 268"/>
                <a:gd name="T67" fmla="*/ 3 h 51"/>
                <a:gd name="T68" fmla="*/ 3 w 26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8" h="51">
                  <a:moveTo>
                    <a:pt x="268" y="24"/>
                  </a:moveTo>
                  <a:lnTo>
                    <a:pt x="268" y="21"/>
                  </a:lnTo>
                  <a:lnTo>
                    <a:pt x="268" y="18"/>
                  </a:lnTo>
                  <a:lnTo>
                    <a:pt x="268" y="14"/>
                  </a:lnTo>
                  <a:lnTo>
                    <a:pt x="267" y="11"/>
                  </a:lnTo>
                  <a:lnTo>
                    <a:pt x="267" y="8"/>
                  </a:lnTo>
                  <a:lnTo>
                    <a:pt x="267" y="4"/>
                  </a:lnTo>
                  <a:lnTo>
                    <a:pt x="267" y="3"/>
                  </a:lnTo>
                  <a:lnTo>
                    <a:pt x="265" y="0"/>
                  </a:lnTo>
                  <a:lnTo>
                    <a:pt x="262" y="0"/>
                  </a:lnTo>
                  <a:lnTo>
                    <a:pt x="263" y="3"/>
                  </a:lnTo>
                  <a:lnTo>
                    <a:pt x="263" y="4"/>
                  </a:lnTo>
                  <a:lnTo>
                    <a:pt x="263" y="8"/>
                  </a:lnTo>
                  <a:lnTo>
                    <a:pt x="263" y="11"/>
                  </a:lnTo>
                  <a:lnTo>
                    <a:pt x="265" y="14"/>
                  </a:lnTo>
                  <a:lnTo>
                    <a:pt x="265" y="18"/>
                  </a:lnTo>
                  <a:lnTo>
                    <a:pt x="265" y="21"/>
                  </a:lnTo>
                  <a:lnTo>
                    <a:pt x="265" y="24"/>
                  </a:lnTo>
                  <a:lnTo>
                    <a:pt x="265" y="28"/>
                  </a:lnTo>
                  <a:lnTo>
                    <a:pt x="265" y="31"/>
                  </a:lnTo>
                  <a:lnTo>
                    <a:pt x="265" y="34"/>
                  </a:lnTo>
                  <a:lnTo>
                    <a:pt x="263" y="38"/>
                  </a:lnTo>
                  <a:lnTo>
                    <a:pt x="263" y="41"/>
                  </a:lnTo>
                  <a:lnTo>
                    <a:pt x="263" y="44"/>
                  </a:lnTo>
                  <a:lnTo>
                    <a:pt x="263" y="48"/>
                  </a:lnTo>
                  <a:lnTo>
                    <a:pt x="262" y="51"/>
                  </a:lnTo>
                  <a:lnTo>
                    <a:pt x="265" y="51"/>
                  </a:lnTo>
                  <a:lnTo>
                    <a:pt x="267" y="48"/>
                  </a:lnTo>
                  <a:lnTo>
                    <a:pt x="267" y="44"/>
                  </a:lnTo>
                  <a:lnTo>
                    <a:pt x="267" y="41"/>
                  </a:lnTo>
                  <a:lnTo>
                    <a:pt x="267" y="38"/>
                  </a:lnTo>
                  <a:lnTo>
                    <a:pt x="268" y="34"/>
                  </a:lnTo>
                  <a:lnTo>
                    <a:pt x="268" y="31"/>
                  </a:lnTo>
                  <a:lnTo>
                    <a:pt x="268" y="28"/>
                  </a:lnTo>
                  <a:lnTo>
                    <a:pt x="268" y="24"/>
                  </a:lnTo>
                  <a:close/>
                  <a:moveTo>
                    <a:pt x="3" y="0"/>
                  </a:moveTo>
                  <a:lnTo>
                    <a:pt x="3" y="3"/>
                  </a:lnTo>
                  <a:lnTo>
                    <a:pt x="2" y="4"/>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4"/>
                  </a:lnTo>
                  <a:lnTo>
                    <a:pt x="7" y="3"/>
                  </a:lnTo>
                  <a:lnTo>
                    <a:pt x="7" y="0"/>
                  </a:lnTo>
                  <a:lnTo>
                    <a:pt x="3"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95" name="Freeform 437">
              <a:extLst>
                <a:ext uri="{FF2B5EF4-FFF2-40B4-BE49-F238E27FC236}">
                  <a16:creationId xmlns:a16="http://schemas.microsoft.com/office/drawing/2014/main" id="{994128A4-6BFD-10EE-B588-E8E61CF190D9}"/>
                </a:ext>
              </a:extLst>
            </p:cNvPr>
            <p:cNvSpPr>
              <a:spLocks noEditPoints="1"/>
            </p:cNvSpPr>
            <p:nvPr/>
          </p:nvSpPr>
          <p:spPr bwMode="auto">
            <a:xfrm>
              <a:off x="1479" y="1713"/>
              <a:ext cx="265" cy="51"/>
            </a:xfrm>
            <a:custGeom>
              <a:avLst/>
              <a:gdLst>
                <a:gd name="T0" fmla="*/ 265 w 265"/>
                <a:gd name="T1" fmla="*/ 21 h 51"/>
                <a:gd name="T2" fmla="*/ 265 w 265"/>
                <a:gd name="T3" fmla="*/ 14 h 51"/>
                <a:gd name="T4" fmla="*/ 263 w 265"/>
                <a:gd name="T5" fmla="*/ 8 h 51"/>
                <a:gd name="T6" fmla="*/ 263 w 265"/>
                <a:gd name="T7" fmla="*/ 3 h 51"/>
                <a:gd name="T8" fmla="*/ 258 w 265"/>
                <a:gd name="T9" fmla="*/ 0 h 51"/>
                <a:gd name="T10" fmla="*/ 260 w 265"/>
                <a:gd name="T11" fmla="*/ 4 h 51"/>
                <a:gd name="T12" fmla="*/ 260 w 265"/>
                <a:gd name="T13" fmla="*/ 11 h 51"/>
                <a:gd name="T14" fmla="*/ 261 w 265"/>
                <a:gd name="T15" fmla="*/ 18 h 51"/>
                <a:gd name="T16" fmla="*/ 261 w 265"/>
                <a:gd name="T17" fmla="*/ 24 h 51"/>
                <a:gd name="T18" fmla="*/ 261 w 265"/>
                <a:gd name="T19" fmla="*/ 31 h 51"/>
                <a:gd name="T20" fmla="*/ 260 w 265"/>
                <a:gd name="T21" fmla="*/ 38 h 51"/>
                <a:gd name="T22" fmla="*/ 260 w 265"/>
                <a:gd name="T23" fmla="*/ 44 h 51"/>
                <a:gd name="T24" fmla="*/ 258 w 265"/>
                <a:gd name="T25" fmla="*/ 51 h 51"/>
                <a:gd name="T26" fmla="*/ 263 w 265"/>
                <a:gd name="T27" fmla="*/ 48 h 51"/>
                <a:gd name="T28" fmla="*/ 263 w 265"/>
                <a:gd name="T29" fmla="*/ 41 h 51"/>
                <a:gd name="T30" fmla="*/ 265 w 265"/>
                <a:gd name="T31" fmla="*/ 34 h 51"/>
                <a:gd name="T32" fmla="*/ 265 w 265"/>
                <a:gd name="T33" fmla="*/ 28 h 51"/>
                <a:gd name="T34" fmla="*/ 3 w 265"/>
                <a:gd name="T35" fmla="*/ 0 h 51"/>
                <a:gd name="T36" fmla="*/ 1 w 265"/>
                <a:gd name="T37" fmla="*/ 4 h 51"/>
                <a:gd name="T38" fmla="*/ 1 w 265"/>
                <a:gd name="T39" fmla="*/ 11 h 51"/>
                <a:gd name="T40" fmla="*/ 1 w 265"/>
                <a:gd name="T41" fmla="*/ 18 h 51"/>
                <a:gd name="T42" fmla="*/ 0 w 265"/>
                <a:gd name="T43" fmla="*/ 24 h 51"/>
                <a:gd name="T44" fmla="*/ 1 w 265"/>
                <a:gd name="T45" fmla="*/ 31 h 51"/>
                <a:gd name="T46" fmla="*/ 1 w 265"/>
                <a:gd name="T47" fmla="*/ 38 h 51"/>
                <a:gd name="T48" fmla="*/ 1 w 265"/>
                <a:gd name="T49" fmla="*/ 44 h 51"/>
                <a:gd name="T50" fmla="*/ 3 w 265"/>
                <a:gd name="T51" fmla="*/ 51 h 51"/>
                <a:gd name="T52" fmla="*/ 6 w 265"/>
                <a:gd name="T53" fmla="*/ 48 h 51"/>
                <a:gd name="T54" fmla="*/ 5 w 265"/>
                <a:gd name="T55" fmla="*/ 41 h 51"/>
                <a:gd name="T56" fmla="*/ 5 w 265"/>
                <a:gd name="T57" fmla="*/ 34 h 51"/>
                <a:gd name="T58" fmla="*/ 3 w 265"/>
                <a:gd name="T59" fmla="*/ 28 h 51"/>
                <a:gd name="T60" fmla="*/ 3 w 265"/>
                <a:gd name="T61" fmla="*/ 21 h 51"/>
                <a:gd name="T62" fmla="*/ 5 w 265"/>
                <a:gd name="T63" fmla="*/ 14 h 51"/>
                <a:gd name="T64" fmla="*/ 5 w 265"/>
                <a:gd name="T65" fmla="*/ 8 h 51"/>
                <a:gd name="T66" fmla="*/ 6 w 265"/>
                <a:gd name="T67" fmla="*/ 3 h 51"/>
                <a:gd name="T68" fmla="*/ 3 w 26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5" h="51">
                  <a:moveTo>
                    <a:pt x="265" y="24"/>
                  </a:moveTo>
                  <a:lnTo>
                    <a:pt x="265" y="21"/>
                  </a:lnTo>
                  <a:lnTo>
                    <a:pt x="265" y="18"/>
                  </a:lnTo>
                  <a:lnTo>
                    <a:pt x="265" y="14"/>
                  </a:lnTo>
                  <a:lnTo>
                    <a:pt x="263" y="11"/>
                  </a:lnTo>
                  <a:lnTo>
                    <a:pt x="263" y="8"/>
                  </a:lnTo>
                  <a:lnTo>
                    <a:pt x="263" y="4"/>
                  </a:lnTo>
                  <a:lnTo>
                    <a:pt x="263" y="3"/>
                  </a:lnTo>
                  <a:lnTo>
                    <a:pt x="261" y="0"/>
                  </a:lnTo>
                  <a:lnTo>
                    <a:pt x="258" y="0"/>
                  </a:lnTo>
                  <a:lnTo>
                    <a:pt x="260" y="3"/>
                  </a:lnTo>
                  <a:lnTo>
                    <a:pt x="260" y="4"/>
                  </a:lnTo>
                  <a:lnTo>
                    <a:pt x="260" y="8"/>
                  </a:lnTo>
                  <a:lnTo>
                    <a:pt x="260" y="11"/>
                  </a:lnTo>
                  <a:lnTo>
                    <a:pt x="261" y="14"/>
                  </a:lnTo>
                  <a:lnTo>
                    <a:pt x="261" y="18"/>
                  </a:lnTo>
                  <a:lnTo>
                    <a:pt x="261" y="21"/>
                  </a:lnTo>
                  <a:lnTo>
                    <a:pt x="261" y="24"/>
                  </a:lnTo>
                  <a:lnTo>
                    <a:pt x="261" y="28"/>
                  </a:lnTo>
                  <a:lnTo>
                    <a:pt x="261" y="31"/>
                  </a:lnTo>
                  <a:lnTo>
                    <a:pt x="261" y="34"/>
                  </a:lnTo>
                  <a:lnTo>
                    <a:pt x="260" y="38"/>
                  </a:lnTo>
                  <a:lnTo>
                    <a:pt x="260" y="41"/>
                  </a:lnTo>
                  <a:lnTo>
                    <a:pt x="260" y="44"/>
                  </a:lnTo>
                  <a:lnTo>
                    <a:pt x="260" y="48"/>
                  </a:lnTo>
                  <a:lnTo>
                    <a:pt x="258" y="51"/>
                  </a:lnTo>
                  <a:lnTo>
                    <a:pt x="261" y="51"/>
                  </a:lnTo>
                  <a:lnTo>
                    <a:pt x="263" y="48"/>
                  </a:lnTo>
                  <a:lnTo>
                    <a:pt x="263" y="44"/>
                  </a:lnTo>
                  <a:lnTo>
                    <a:pt x="263" y="41"/>
                  </a:lnTo>
                  <a:lnTo>
                    <a:pt x="263" y="38"/>
                  </a:lnTo>
                  <a:lnTo>
                    <a:pt x="265" y="34"/>
                  </a:lnTo>
                  <a:lnTo>
                    <a:pt x="265" y="31"/>
                  </a:lnTo>
                  <a:lnTo>
                    <a:pt x="265" y="28"/>
                  </a:lnTo>
                  <a:lnTo>
                    <a:pt x="265" y="24"/>
                  </a:lnTo>
                  <a:close/>
                  <a:moveTo>
                    <a:pt x="3" y="0"/>
                  </a:moveTo>
                  <a:lnTo>
                    <a:pt x="3" y="3"/>
                  </a:lnTo>
                  <a:lnTo>
                    <a:pt x="1" y="4"/>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5" y="18"/>
                  </a:lnTo>
                  <a:lnTo>
                    <a:pt x="5" y="14"/>
                  </a:lnTo>
                  <a:lnTo>
                    <a:pt x="5" y="11"/>
                  </a:lnTo>
                  <a:lnTo>
                    <a:pt x="5" y="8"/>
                  </a:lnTo>
                  <a:lnTo>
                    <a:pt x="5" y="4"/>
                  </a:lnTo>
                  <a:lnTo>
                    <a:pt x="6" y="3"/>
                  </a:lnTo>
                  <a:lnTo>
                    <a:pt x="6" y="0"/>
                  </a:lnTo>
                  <a:lnTo>
                    <a:pt x="3"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96" name="Freeform 438">
              <a:extLst>
                <a:ext uri="{FF2B5EF4-FFF2-40B4-BE49-F238E27FC236}">
                  <a16:creationId xmlns:a16="http://schemas.microsoft.com/office/drawing/2014/main" id="{C54CF5B7-F655-1F3A-545D-9CF0D33C7BC6}"/>
                </a:ext>
              </a:extLst>
            </p:cNvPr>
            <p:cNvSpPr>
              <a:spLocks noEditPoints="1"/>
            </p:cNvSpPr>
            <p:nvPr/>
          </p:nvSpPr>
          <p:spPr bwMode="auto">
            <a:xfrm>
              <a:off x="1480" y="1713"/>
              <a:ext cx="262" cy="51"/>
            </a:xfrm>
            <a:custGeom>
              <a:avLst/>
              <a:gdLst>
                <a:gd name="T0" fmla="*/ 262 w 262"/>
                <a:gd name="T1" fmla="*/ 21 h 51"/>
                <a:gd name="T2" fmla="*/ 262 w 262"/>
                <a:gd name="T3" fmla="*/ 14 h 51"/>
                <a:gd name="T4" fmla="*/ 260 w 262"/>
                <a:gd name="T5" fmla="*/ 8 h 51"/>
                <a:gd name="T6" fmla="*/ 260 w 262"/>
                <a:gd name="T7" fmla="*/ 3 h 51"/>
                <a:gd name="T8" fmla="*/ 255 w 262"/>
                <a:gd name="T9" fmla="*/ 0 h 51"/>
                <a:gd name="T10" fmla="*/ 257 w 262"/>
                <a:gd name="T11" fmla="*/ 4 h 51"/>
                <a:gd name="T12" fmla="*/ 257 w 262"/>
                <a:gd name="T13" fmla="*/ 11 h 51"/>
                <a:gd name="T14" fmla="*/ 259 w 262"/>
                <a:gd name="T15" fmla="*/ 18 h 51"/>
                <a:gd name="T16" fmla="*/ 259 w 262"/>
                <a:gd name="T17" fmla="*/ 24 h 51"/>
                <a:gd name="T18" fmla="*/ 259 w 262"/>
                <a:gd name="T19" fmla="*/ 31 h 51"/>
                <a:gd name="T20" fmla="*/ 257 w 262"/>
                <a:gd name="T21" fmla="*/ 38 h 51"/>
                <a:gd name="T22" fmla="*/ 257 w 262"/>
                <a:gd name="T23" fmla="*/ 44 h 51"/>
                <a:gd name="T24" fmla="*/ 255 w 262"/>
                <a:gd name="T25" fmla="*/ 51 h 51"/>
                <a:gd name="T26" fmla="*/ 260 w 262"/>
                <a:gd name="T27" fmla="*/ 48 h 51"/>
                <a:gd name="T28" fmla="*/ 260 w 262"/>
                <a:gd name="T29" fmla="*/ 41 h 51"/>
                <a:gd name="T30" fmla="*/ 262 w 262"/>
                <a:gd name="T31" fmla="*/ 34 h 51"/>
                <a:gd name="T32" fmla="*/ 262 w 262"/>
                <a:gd name="T33" fmla="*/ 28 h 51"/>
                <a:gd name="T34" fmla="*/ 4 w 262"/>
                <a:gd name="T35" fmla="*/ 0 h 51"/>
                <a:gd name="T36" fmla="*/ 2 w 262"/>
                <a:gd name="T37" fmla="*/ 4 h 51"/>
                <a:gd name="T38" fmla="*/ 2 w 262"/>
                <a:gd name="T39" fmla="*/ 11 h 51"/>
                <a:gd name="T40" fmla="*/ 2 w 262"/>
                <a:gd name="T41" fmla="*/ 18 h 51"/>
                <a:gd name="T42" fmla="*/ 0 w 262"/>
                <a:gd name="T43" fmla="*/ 24 h 51"/>
                <a:gd name="T44" fmla="*/ 2 w 262"/>
                <a:gd name="T45" fmla="*/ 31 h 51"/>
                <a:gd name="T46" fmla="*/ 2 w 262"/>
                <a:gd name="T47" fmla="*/ 38 h 51"/>
                <a:gd name="T48" fmla="*/ 2 w 262"/>
                <a:gd name="T49" fmla="*/ 44 h 51"/>
                <a:gd name="T50" fmla="*/ 4 w 262"/>
                <a:gd name="T51" fmla="*/ 51 h 51"/>
                <a:gd name="T52" fmla="*/ 7 w 262"/>
                <a:gd name="T53" fmla="*/ 48 h 51"/>
                <a:gd name="T54" fmla="*/ 5 w 262"/>
                <a:gd name="T55" fmla="*/ 41 h 51"/>
                <a:gd name="T56" fmla="*/ 5 w 262"/>
                <a:gd name="T57" fmla="*/ 34 h 51"/>
                <a:gd name="T58" fmla="*/ 4 w 262"/>
                <a:gd name="T59" fmla="*/ 28 h 51"/>
                <a:gd name="T60" fmla="*/ 4 w 262"/>
                <a:gd name="T61" fmla="*/ 21 h 51"/>
                <a:gd name="T62" fmla="*/ 5 w 262"/>
                <a:gd name="T63" fmla="*/ 14 h 51"/>
                <a:gd name="T64" fmla="*/ 5 w 262"/>
                <a:gd name="T65" fmla="*/ 8 h 51"/>
                <a:gd name="T66" fmla="*/ 7 w 262"/>
                <a:gd name="T67" fmla="*/ 3 h 51"/>
                <a:gd name="T68" fmla="*/ 4 w 2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2" h="51">
                  <a:moveTo>
                    <a:pt x="262" y="24"/>
                  </a:moveTo>
                  <a:lnTo>
                    <a:pt x="262" y="21"/>
                  </a:lnTo>
                  <a:lnTo>
                    <a:pt x="262" y="18"/>
                  </a:lnTo>
                  <a:lnTo>
                    <a:pt x="262" y="14"/>
                  </a:lnTo>
                  <a:lnTo>
                    <a:pt x="260" y="11"/>
                  </a:lnTo>
                  <a:lnTo>
                    <a:pt x="260" y="8"/>
                  </a:lnTo>
                  <a:lnTo>
                    <a:pt x="260" y="4"/>
                  </a:lnTo>
                  <a:lnTo>
                    <a:pt x="260" y="3"/>
                  </a:lnTo>
                  <a:lnTo>
                    <a:pt x="259" y="0"/>
                  </a:lnTo>
                  <a:lnTo>
                    <a:pt x="255" y="0"/>
                  </a:lnTo>
                  <a:lnTo>
                    <a:pt x="257" y="3"/>
                  </a:lnTo>
                  <a:lnTo>
                    <a:pt x="257" y="4"/>
                  </a:lnTo>
                  <a:lnTo>
                    <a:pt x="257" y="8"/>
                  </a:lnTo>
                  <a:lnTo>
                    <a:pt x="257" y="11"/>
                  </a:lnTo>
                  <a:lnTo>
                    <a:pt x="259" y="14"/>
                  </a:lnTo>
                  <a:lnTo>
                    <a:pt x="259" y="18"/>
                  </a:lnTo>
                  <a:lnTo>
                    <a:pt x="259" y="21"/>
                  </a:lnTo>
                  <a:lnTo>
                    <a:pt x="259" y="24"/>
                  </a:lnTo>
                  <a:lnTo>
                    <a:pt x="259" y="28"/>
                  </a:lnTo>
                  <a:lnTo>
                    <a:pt x="259" y="31"/>
                  </a:lnTo>
                  <a:lnTo>
                    <a:pt x="259" y="34"/>
                  </a:lnTo>
                  <a:lnTo>
                    <a:pt x="257" y="38"/>
                  </a:lnTo>
                  <a:lnTo>
                    <a:pt x="257" y="41"/>
                  </a:lnTo>
                  <a:lnTo>
                    <a:pt x="257" y="44"/>
                  </a:lnTo>
                  <a:lnTo>
                    <a:pt x="257" y="48"/>
                  </a:lnTo>
                  <a:lnTo>
                    <a:pt x="255" y="51"/>
                  </a:lnTo>
                  <a:lnTo>
                    <a:pt x="259" y="51"/>
                  </a:lnTo>
                  <a:lnTo>
                    <a:pt x="260" y="48"/>
                  </a:lnTo>
                  <a:lnTo>
                    <a:pt x="260" y="44"/>
                  </a:lnTo>
                  <a:lnTo>
                    <a:pt x="260" y="41"/>
                  </a:lnTo>
                  <a:lnTo>
                    <a:pt x="260" y="38"/>
                  </a:lnTo>
                  <a:lnTo>
                    <a:pt x="262" y="34"/>
                  </a:lnTo>
                  <a:lnTo>
                    <a:pt x="262" y="31"/>
                  </a:lnTo>
                  <a:lnTo>
                    <a:pt x="262" y="28"/>
                  </a:lnTo>
                  <a:lnTo>
                    <a:pt x="262" y="24"/>
                  </a:lnTo>
                  <a:close/>
                  <a:moveTo>
                    <a:pt x="4" y="0"/>
                  </a:moveTo>
                  <a:lnTo>
                    <a:pt x="4" y="3"/>
                  </a:lnTo>
                  <a:lnTo>
                    <a:pt x="2" y="4"/>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5" y="18"/>
                  </a:lnTo>
                  <a:lnTo>
                    <a:pt x="5" y="14"/>
                  </a:lnTo>
                  <a:lnTo>
                    <a:pt x="5" y="11"/>
                  </a:lnTo>
                  <a:lnTo>
                    <a:pt x="5" y="8"/>
                  </a:lnTo>
                  <a:lnTo>
                    <a:pt x="5" y="4"/>
                  </a:lnTo>
                  <a:lnTo>
                    <a:pt x="7" y="3"/>
                  </a:lnTo>
                  <a:lnTo>
                    <a:pt x="7" y="0"/>
                  </a:lnTo>
                  <a:lnTo>
                    <a:pt x="4"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97" name="Freeform 439">
              <a:extLst>
                <a:ext uri="{FF2B5EF4-FFF2-40B4-BE49-F238E27FC236}">
                  <a16:creationId xmlns:a16="http://schemas.microsoft.com/office/drawing/2014/main" id="{B5F3E6C4-15B9-C137-F8B6-97194975D4FD}"/>
                </a:ext>
              </a:extLst>
            </p:cNvPr>
            <p:cNvSpPr>
              <a:spLocks noEditPoints="1"/>
            </p:cNvSpPr>
            <p:nvPr/>
          </p:nvSpPr>
          <p:spPr bwMode="auto">
            <a:xfrm>
              <a:off x="1482" y="1713"/>
              <a:ext cx="258" cy="51"/>
            </a:xfrm>
            <a:custGeom>
              <a:avLst/>
              <a:gdLst>
                <a:gd name="T0" fmla="*/ 258 w 258"/>
                <a:gd name="T1" fmla="*/ 21 h 51"/>
                <a:gd name="T2" fmla="*/ 258 w 258"/>
                <a:gd name="T3" fmla="*/ 14 h 51"/>
                <a:gd name="T4" fmla="*/ 257 w 258"/>
                <a:gd name="T5" fmla="*/ 8 h 51"/>
                <a:gd name="T6" fmla="*/ 257 w 258"/>
                <a:gd name="T7" fmla="*/ 3 h 51"/>
                <a:gd name="T8" fmla="*/ 252 w 258"/>
                <a:gd name="T9" fmla="*/ 0 h 51"/>
                <a:gd name="T10" fmla="*/ 253 w 258"/>
                <a:gd name="T11" fmla="*/ 4 h 51"/>
                <a:gd name="T12" fmla="*/ 253 w 258"/>
                <a:gd name="T13" fmla="*/ 11 h 51"/>
                <a:gd name="T14" fmla="*/ 255 w 258"/>
                <a:gd name="T15" fmla="*/ 18 h 51"/>
                <a:gd name="T16" fmla="*/ 255 w 258"/>
                <a:gd name="T17" fmla="*/ 24 h 51"/>
                <a:gd name="T18" fmla="*/ 255 w 258"/>
                <a:gd name="T19" fmla="*/ 31 h 51"/>
                <a:gd name="T20" fmla="*/ 253 w 258"/>
                <a:gd name="T21" fmla="*/ 38 h 51"/>
                <a:gd name="T22" fmla="*/ 253 w 258"/>
                <a:gd name="T23" fmla="*/ 44 h 51"/>
                <a:gd name="T24" fmla="*/ 252 w 258"/>
                <a:gd name="T25" fmla="*/ 51 h 51"/>
                <a:gd name="T26" fmla="*/ 257 w 258"/>
                <a:gd name="T27" fmla="*/ 48 h 51"/>
                <a:gd name="T28" fmla="*/ 257 w 258"/>
                <a:gd name="T29" fmla="*/ 41 h 51"/>
                <a:gd name="T30" fmla="*/ 258 w 258"/>
                <a:gd name="T31" fmla="*/ 34 h 51"/>
                <a:gd name="T32" fmla="*/ 258 w 258"/>
                <a:gd name="T33" fmla="*/ 28 h 51"/>
                <a:gd name="T34" fmla="*/ 3 w 258"/>
                <a:gd name="T35" fmla="*/ 0 h 51"/>
                <a:gd name="T36" fmla="*/ 2 w 258"/>
                <a:gd name="T37" fmla="*/ 4 h 51"/>
                <a:gd name="T38" fmla="*/ 2 w 258"/>
                <a:gd name="T39" fmla="*/ 11 h 51"/>
                <a:gd name="T40" fmla="*/ 2 w 258"/>
                <a:gd name="T41" fmla="*/ 18 h 51"/>
                <a:gd name="T42" fmla="*/ 0 w 258"/>
                <a:gd name="T43" fmla="*/ 24 h 51"/>
                <a:gd name="T44" fmla="*/ 0 w 258"/>
                <a:gd name="T45" fmla="*/ 31 h 51"/>
                <a:gd name="T46" fmla="*/ 2 w 258"/>
                <a:gd name="T47" fmla="*/ 38 h 51"/>
                <a:gd name="T48" fmla="*/ 2 w 258"/>
                <a:gd name="T49" fmla="*/ 44 h 51"/>
                <a:gd name="T50" fmla="*/ 3 w 258"/>
                <a:gd name="T51" fmla="*/ 51 h 51"/>
                <a:gd name="T52" fmla="*/ 7 w 258"/>
                <a:gd name="T53" fmla="*/ 48 h 51"/>
                <a:gd name="T54" fmla="*/ 5 w 258"/>
                <a:gd name="T55" fmla="*/ 41 h 51"/>
                <a:gd name="T56" fmla="*/ 5 w 258"/>
                <a:gd name="T57" fmla="*/ 34 h 51"/>
                <a:gd name="T58" fmla="*/ 3 w 258"/>
                <a:gd name="T59" fmla="*/ 28 h 51"/>
                <a:gd name="T60" fmla="*/ 3 w 258"/>
                <a:gd name="T61" fmla="*/ 21 h 51"/>
                <a:gd name="T62" fmla="*/ 5 w 258"/>
                <a:gd name="T63" fmla="*/ 14 h 51"/>
                <a:gd name="T64" fmla="*/ 5 w 258"/>
                <a:gd name="T65" fmla="*/ 8 h 51"/>
                <a:gd name="T66" fmla="*/ 7 w 258"/>
                <a:gd name="T67" fmla="*/ 3 h 51"/>
                <a:gd name="T68" fmla="*/ 3 w 25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8" h="51">
                  <a:moveTo>
                    <a:pt x="258" y="24"/>
                  </a:moveTo>
                  <a:lnTo>
                    <a:pt x="258" y="21"/>
                  </a:lnTo>
                  <a:lnTo>
                    <a:pt x="258" y="18"/>
                  </a:lnTo>
                  <a:lnTo>
                    <a:pt x="258" y="14"/>
                  </a:lnTo>
                  <a:lnTo>
                    <a:pt x="257" y="11"/>
                  </a:lnTo>
                  <a:lnTo>
                    <a:pt x="257" y="8"/>
                  </a:lnTo>
                  <a:lnTo>
                    <a:pt x="257" y="4"/>
                  </a:lnTo>
                  <a:lnTo>
                    <a:pt x="257" y="3"/>
                  </a:lnTo>
                  <a:lnTo>
                    <a:pt x="255" y="0"/>
                  </a:lnTo>
                  <a:lnTo>
                    <a:pt x="252" y="0"/>
                  </a:lnTo>
                  <a:lnTo>
                    <a:pt x="253" y="3"/>
                  </a:lnTo>
                  <a:lnTo>
                    <a:pt x="253" y="4"/>
                  </a:lnTo>
                  <a:lnTo>
                    <a:pt x="253" y="8"/>
                  </a:lnTo>
                  <a:lnTo>
                    <a:pt x="253" y="11"/>
                  </a:lnTo>
                  <a:lnTo>
                    <a:pt x="255" y="14"/>
                  </a:lnTo>
                  <a:lnTo>
                    <a:pt x="255" y="18"/>
                  </a:lnTo>
                  <a:lnTo>
                    <a:pt x="255" y="21"/>
                  </a:lnTo>
                  <a:lnTo>
                    <a:pt x="255" y="24"/>
                  </a:lnTo>
                  <a:lnTo>
                    <a:pt x="255" y="28"/>
                  </a:lnTo>
                  <a:lnTo>
                    <a:pt x="255" y="31"/>
                  </a:lnTo>
                  <a:lnTo>
                    <a:pt x="255" y="34"/>
                  </a:lnTo>
                  <a:lnTo>
                    <a:pt x="253" y="38"/>
                  </a:lnTo>
                  <a:lnTo>
                    <a:pt x="253" y="41"/>
                  </a:lnTo>
                  <a:lnTo>
                    <a:pt x="253" y="44"/>
                  </a:lnTo>
                  <a:lnTo>
                    <a:pt x="253" y="48"/>
                  </a:lnTo>
                  <a:lnTo>
                    <a:pt x="252" y="51"/>
                  </a:lnTo>
                  <a:lnTo>
                    <a:pt x="255" y="51"/>
                  </a:lnTo>
                  <a:lnTo>
                    <a:pt x="257" y="48"/>
                  </a:lnTo>
                  <a:lnTo>
                    <a:pt x="257" y="44"/>
                  </a:lnTo>
                  <a:lnTo>
                    <a:pt x="257" y="41"/>
                  </a:lnTo>
                  <a:lnTo>
                    <a:pt x="257" y="38"/>
                  </a:lnTo>
                  <a:lnTo>
                    <a:pt x="258" y="34"/>
                  </a:lnTo>
                  <a:lnTo>
                    <a:pt x="258" y="31"/>
                  </a:lnTo>
                  <a:lnTo>
                    <a:pt x="258" y="28"/>
                  </a:lnTo>
                  <a:lnTo>
                    <a:pt x="258" y="24"/>
                  </a:lnTo>
                  <a:close/>
                  <a:moveTo>
                    <a:pt x="3" y="0"/>
                  </a:moveTo>
                  <a:lnTo>
                    <a:pt x="3" y="3"/>
                  </a:lnTo>
                  <a:lnTo>
                    <a:pt x="2" y="4"/>
                  </a:lnTo>
                  <a:lnTo>
                    <a:pt x="2" y="8"/>
                  </a:lnTo>
                  <a:lnTo>
                    <a:pt x="2" y="11"/>
                  </a:lnTo>
                  <a:lnTo>
                    <a:pt x="2" y="14"/>
                  </a:lnTo>
                  <a:lnTo>
                    <a:pt x="2"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5" y="18"/>
                  </a:lnTo>
                  <a:lnTo>
                    <a:pt x="5" y="14"/>
                  </a:lnTo>
                  <a:lnTo>
                    <a:pt x="5" y="11"/>
                  </a:lnTo>
                  <a:lnTo>
                    <a:pt x="5" y="8"/>
                  </a:lnTo>
                  <a:lnTo>
                    <a:pt x="5" y="4"/>
                  </a:lnTo>
                  <a:lnTo>
                    <a:pt x="7" y="3"/>
                  </a:lnTo>
                  <a:lnTo>
                    <a:pt x="7" y="0"/>
                  </a:lnTo>
                  <a:lnTo>
                    <a:pt x="3"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98" name="Freeform 440">
              <a:extLst>
                <a:ext uri="{FF2B5EF4-FFF2-40B4-BE49-F238E27FC236}">
                  <a16:creationId xmlns:a16="http://schemas.microsoft.com/office/drawing/2014/main" id="{EADD1EFB-0813-7848-BD13-A5517B37FA9D}"/>
                </a:ext>
              </a:extLst>
            </p:cNvPr>
            <p:cNvSpPr>
              <a:spLocks noEditPoints="1"/>
            </p:cNvSpPr>
            <p:nvPr/>
          </p:nvSpPr>
          <p:spPr bwMode="auto">
            <a:xfrm>
              <a:off x="1484" y="1713"/>
              <a:ext cx="255" cy="51"/>
            </a:xfrm>
            <a:custGeom>
              <a:avLst/>
              <a:gdLst>
                <a:gd name="T0" fmla="*/ 255 w 255"/>
                <a:gd name="T1" fmla="*/ 21 h 51"/>
                <a:gd name="T2" fmla="*/ 255 w 255"/>
                <a:gd name="T3" fmla="*/ 14 h 51"/>
                <a:gd name="T4" fmla="*/ 253 w 255"/>
                <a:gd name="T5" fmla="*/ 8 h 51"/>
                <a:gd name="T6" fmla="*/ 253 w 255"/>
                <a:gd name="T7" fmla="*/ 3 h 51"/>
                <a:gd name="T8" fmla="*/ 248 w 255"/>
                <a:gd name="T9" fmla="*/ 0 h 51"/>
                <a:gd name="T10" fmla="*/ 250 w 255"/>
                <a:gd name="T11" fmla="*/ 4 h 51"/>
                <a:gd name="T12" fmla="*/ 250 w 255"/>
                <a:gd name="T13" fmla="*/ 11 h 51"/>
                <a:gd name="T14" fmla="*/ 251 w 255"/>
                <a:gd name="T15" fmla="*/ 18 h 51"/>
                <a:gd name="T16" fmla="*/ 251 w 255"/>
                <a:gd name="T17" fmla="*/ 24 h 51"/>
                <a:gd name="T18" fmla="*/ 251 w 255"/>
                <a:gd name="T19" fmla="*/ 31 h 51"/>
                <a:gd name="T20" fmla="*/ 250 w 255"/>
                <a:gd name="T21" fmla="*/ 38 h 51"/>
                <a:gd name="T22" fmla="*/ 250 w 255"/>
                <a:gd name="T23" fmla="*/ 44 h 51"/>
                <a:gd name="T24" fmla="*/ 248 w 255"/>
                <a:gd name="T25" fmla="*/ 51 h 51"/>
                <a:gd name="T26" fmla="*/ 253 w 255"/>
                <a:gd name="T27" fmla="*/ 48 h 51"/>
                <a:gd name="T28" fmla="*/ 253 w 255"/>
                <a:gd name="T29" fmla="*/ 41 h 51"/>
                <a:gd name="T30" fmla="*/ 255 w 255"/>
                <a:gd name="T31" fmla="*/ 34 h 51"/>
                <a:gd name="T32" fmla="*/ 255 w 255"/>
                <a:gd name="T33" fmla="*/ 28 h 51"/>
                <a:gd name="T34" fmla="*/ 3 w 255"/>
                <a:gd name="T35" fmla="*/ 0 h 51"/>
                <a:gd name="T36" fmla="*/ 1 w 255"/>
                <a:gd name="T37" fmla="*/ 4 h 51"/>
                <a:gd name="T38" fmla="*/ 1 w 255"/>
                <a:gd name="T39" fmla="*/ 11 h 51"/>
                <a:gd name="T40" fmla="*/ 1 w 255"/>
                <a:gd name="T41" fmla="*/ 18 h 51"/>
                <a:gd name="T42" fmla="*/ 0 w 255"/>
                <a:gd name="T43" fmla="*/ 24 h 51"/>
                <a:gd name="T44" fmla="*/ 0 w 255"/>
                <a:gd name="T45" fmla="*/ 31 h 51"/>
                <a:gd name="T46" fmla="*/ 1 w 255"/>
                <a:gd name="T47" fmla="*/ 38 h 51"/>
                <a:gd name="T48" fmla="*/ 1 w 255"/>
                <a:gd name="T49" fmla="*/ 44 h 51"/>
                <a:gd name="T50" fmla="*/ 3 w 255"/>
                <a:gd name="T51" fmla="*/ 51 h 51"/>
                <a:gd name="T52" fmla="*/ 6 w 255"/>
                <a:gd name="T53" fmla="*/ 48 h 51"/>
                <a:gd name="T54" fmla="*/ 5 w 255"/>
                <a:gd name="T55" fmla="*/ 41 h 51"/>
                <a:gd name="T56" fmla="*/ 5 w 255"/>
                <a:gd name="T57" fmla="*/ 34 h 51"/>
                <a:gd name="T58" fmla="*/ 3 w 255"/>
                <a:gd name="T59" fmla="*/ 28 h 51"/>
                <a:gd name="T60" fmla="*/ 3 w 255"/>
                <a:gd name="T61" fmla="*/ 21 h 51"/>
                <a:gd name="T62" fmla="*/ 5 w 255"/>
                <a:gd name="T63" fmla="*/ 14 h 51"/>
                <a:gd name="T64" fmla="*/ 5 w 255"/>
                <a:gd name="T65" fmla="*/ 8 h 51"/>
                <a:gd name="T66" fmla="*/ 6 w 255"/>
                <a:gd name="T67" fmla="*/ 3 h 51"/>
                <a:gd name="T68" fmla="*/ 3 w 25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5" h="51">
                  <a:moveTo>
                    <a:pt x="255" y="24"/>
                  </a:moveTo>
                  <a:lnTo>
                    <a:pt x="255" y="21"/>
                  </a:lnTo>
                  <a:lnTo>
                    <a:pt x="255" y="18"/>
                  </a:lnTo>
                  <a:lnTo>
                    <a:pt x="255" y="14"/>
                  </a:lnTo>
                  <a:lnTo>
                    <a:pt x="253" y="11"/>
                  </a:lnTo>
                  <a:lnTo>
                    <a:pt x="253" y="8"/>
                  </a:lnTo>
                  <a:lnTo>
                    <a:pt x="253" y="4"/>
                  </a:lnTo>
                  <a:lnTo>
                    <a:pt x="253" y="3"/>
                  </a:lnTo>
                  <a:lnTo>
                    <a:pt x="251" y="0"/>
                  </a:lnTo>
                  <a:lnTo>
                    <a:pt x="248" y="0"/>
                  </a:lnTo>
                  <a:lnTo>
                    <a:pt x="248" y="3"/>
                  </a:lnTo>
                  <a:lnTo>
                    <a:pt x="250" y="4"/>
                  </a:lnTo>
                  <a:lnTo>
                    <a:pt x="250" y="8"/>
                  </a:lnTo>
                  <a:lnTo>
                    <a:pt x="250" y="11"/>
                  </a:lnTo>
                  <a:lnTo>
                    <a:pt x="251" y="14"/>
                  </a:lnTo>
                  <a:lnTo>
                    <a:pt x="251" y="18"/>
                  </a:lnTo>
                  <a:lnTo>
                    <a:pt x="251" y="21"/>
                  </a:lnTo>
                  <a:lnTo>
                    <a:pt x="251" y="24"/>
                  </a:lnTo>
                  <a:lnTo>
                    <a:pt x="251" y="28"/>
                  </a:lnTo>
                  <a:lnTo>
                    <a:pt x="251" y="31"/>
                  </a:lnTo>
                  <a:lnTo>
                    <a:pt x="251" y="34"/>
                  </a:lnTo>
                  <a:lnTo>
                    <a:pt x="250" y="38"/>
                  </a:lnTo>
                  <a:lnTo>
                    <a:pt x="250" y="41"/>
                  </a:lnTo>
                  <a:lnTo>
                    <a:pt x="250" y="44"/>
                  </a:lnTo>
                  <a:lnTo>
                    <a:pt x="250" y="48"/>
                  </a:lnTo>
                  <a:lnTo>
                    <a:pt x="248" y="51"/>
                  </a:lnTo>
                  <a:lnTo>
                    <a:pt x="251" y="51"/>
                  </a:lnTo>
                  <a:lnTo>
                    <a:pt x="253" y="48"/>
                  </a:lnTo>
                  <a:lnTo>
                    <a:pt x="253" y="44"/>
                  </a:lnTo>
                  <a:lnTo>
                    <a:pt x="253" y="41"/>
                  </a:lnTo>
                  <a:lnTo>
                    <a:pt x="253" y="38"/>
                  </a:lnTo>
                  <a:lnTo>
                    <a:pt x="255" y="34"/>
                  </a:lnTo>
                  <a:lnTo>
                    <a:pt x="255" y="31"/>
                  </a:lnTo>
                  <a:lnTo>
                    <a:pt x="255" y="28"/>
                  </a:lnTo>
                  <a:lnTo>
                    <a:pt x="255" y="24"/>
                  </a:lnTo>
                  <a:close/>
                  <a:moveTo>
                    <a:pt x="3" y="0"/>
                  </a:moveTo>
                  <a:lnTo>
                    <a:pt x="3" y="3"/>
                  </a:lnTo>
                  <a:lnTo>
                    <a:pt x="1" y="4"/>
                  </a:lnTo>
                  <a:lnTo>
                    <a:pt x="1" y="8"/>
                  </a:lnTo>
                  <a:lnTo>
                    <a:pt x="1" y="11"/>
                  </a:lnTo>
                  <a:lnTo>
                    <a:pt x="1" y="14"/>
                  </a:lnTo>
                  <a:lnTo>
                    <a:pt x="1"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99" name="Freeform 441">
              <a:extLst>
                <a:ext uri="{FF2B5EF4-FFF2-40B4-BE49-F238E27FC236}">
                  <a16:creationId xmlns:a16="http://schemas.microsoft.com/office/drawing/2014/main" id="{F5A5317D-8985-B6BC-FE62-88FF8A97AC2B}"/>
                </a:ext>
              </a:extLst>
            </p:cNvPr>
            <p:cNvSpPr>
              <a:spLocks noEditPoints="1"/>
            </p:cNvSpPr>
            <p:nvPr/>
          </p:nvSpPr>
          <p:spPr bwMode="auto">
            <a:xfrm>
              <a:off x="1485" y="1713"/>
              <a:ext cx="252" cy="51"/>
            </a:xfrm>
            <a:custGeom>
              <a:avLst/>
              <a:gdLst>
                <a:gd name="T0" fmla="*/ 252 w 252"/>
                <a:gd name="T1" fmla="*/ 21 h 51"/>
                <a:gd name="T2" fmla="*/ 252 w 252"/>
                <a:gd name="T3" fmla="*/ 14 h 51"/>
                <a:gd name="T4" fmla="*/ 250 w 252"/>
                <a:gd name="T5" fmla="*/ 8 h 51"/>
                <a:gd name="T6" fmla="*/ 250 w 252"/>
                <a:gd name="T7" fmla="*/ 3 h 51"/>
                <a:gd name="T8" fmla="*/ 245 w 252"/>
                <a:gd name="T9" fmla="*/ 0 h 51"/>
                <a:gd name="T10" fmla="*/ 247 w 252"/>
                <a:gd name="T11" fmla="*/ 4 h 51"/>
                <a:gd name="T12" fmla="*/ 247 w 252"/>
                <a:gd name="T13" fmla="*/ 11 h 51"/>
                <a:gd name="T14" fmla="*/ 249 w 252"/>
                <a:gd name="T15" fmla="*/ 18 h 51"/>
                <a:gd name="T16" fmla="*/ 249 w 252"/>
                <a:gd name="T17" fmla="*/ 24 h 51"/>
                <a:gd name="T18" fmla="*/ 249 w 252"/>
                <a:gd name="T19" fmla="*/ 31 h 51"/>
                <a:gd name="T20" fmla="*/ 247 w 252"/>
                <a:gd name="T21" fmla="*/ 38 h 51"/>
                <a:gd name="T22" fmla="*/ 247 w 252"/>
                <a:gd name="T23" fmla="*/ 44 h 51"/>
                <a:gd name="T24" fmla="*/ 245 w 252"/>
                <a:gd name="T25" fmla="*/ 51 h 51"/>
                <a:gd name="T26" fmla="*/ 250 w 252"/>
                <a:gd name="T27" fmla="*/ 48 h 51"/>
                <a:gd name="T28" fmla="*/ 250 w 252"/>
                <a:gd name="T29" fmla="*/ 41 h 51"/>
                <a:gd name="T30" fmla="*/ 252 w 252"/>
                <a:gd name="T31" fmla="*/ 34 h 51"/>
                <a:gd name="T32" fmla="*/ 252 w 252"/>
                <a:gd name="T33" fmla="*/ 28 h 51"/>
                <a:gd name="T34" fmla="*/ 4 w 252"/>
                <a:gd name="T35" fmla="*/ 0 h 51"/>
                <a:gd name="T36" fmla="*/ 2 w 252"/>
                <a:gd name="T37" fmla="*/ 4 h 51"/>
                <a:gd name="T38" fmla="*/ 2 w 252"/>
                <a:gd name="T39" fmla="*/ 11 h 51"/>
                <a:gd name="T40" fmla="*/ 2 w 252"/>
                <a:gd name="T41" fmla="*/ 18 h 51"/>
                <a:gd name="T42" fmla="*/ 0 w 252"/>
                <a:gd name="T43" fmla="*/ 24 h 51"/>
                <a:gd name="T44" fmla="*/ 0 w 252"/>
                <a:gd name="T45" fmla="*/ 31 h 51"/>
                <a:gd name="T46" fmla="*/ 2 w 252"/>
                <a:gd name="T47" fmla="*/ 38 h 51"/>
                <a:gd name="T48" fmla="*/ 2 w 252"/>
                <a:gd name="T49" fmla="*/ 44 h 51"/>
                <a:gd name="T50" fmla="*/ 4 w 252"/>
                <a:gd name="T51" fmla="*/ 51 h 51"/>
                <a:gd name="T52" fmla="*/ 7 w 252"/>
                <a:gd name="T53" fmla="*/ 48 h 51"/>
                <a:gd name="T54" fmla="*/ 5 w 252"/>
                <a:gd name="T55" fmla="*/ 41 h 51"/>
                <a:gd name="T56" fmla="*/ 5 w 252"/>
                <a:gd name="T57" fmla="*/ 34 h 51"/>
                <a:gd name="T58" fmla="*/ 4 w 252"/>
                <a:gd name="T59" fmla="*/ 28 h 51"/>
                <a:gd name="T60" fmla="*/ 4 w 252"/>
                <a:gd name="T61" fmla="*/ 21 h 51"/>
                <a:gd name="T62" fmla="*/ 5 w 252"/>
                <a:gd name="T63" fmla="*/ 14 h 51"/>
                <a:gd name="T64" fmla="*/ 5 w 252"/>
                <a:gd name="T65" fmla="*/ 8 h 51"/>
                <a:gd name="T66" fmla="*/ 7 w 252"/>
                <a:gd name="T67" fmla="*/ 3 h 51"/>
                <a:gd name="T68" fmla="*/ 4 w 2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2" h="51">
                  <a:moveTo>
                    <a:pt x="252" y="24"/>
                  </a:moveTo>
                  <a:lnTo>
                    <a:pt x="252" y="21"/>
                  </a:lnTo>
                  <a:lnTo>
                    <a:pt x="252" y="18"/>
                  </a:lnTo>
                  <a:lnTo>
                    <a:pt x="252" y="14"/>
                  </a:lnTo>
                  <a:lnTo>
                    <a:pt x="250" y="11"/>
                  </a:lnTo>
                  <a:lnTo>
                    <a:pt x="250" y="8"/>
                  </a:lnTo>
                  <a:lnTo>
                    <a:pt x="250" y="4"/>
                  </a:lnTo>
                  <a:lnTo>
                    <a:pt x="250" y="3"/>
                  </a:lnTo>
                  <a:lnTo>
                    <a:pt x="249" y="0"/>
                  </a:lnTo>
                  <a:lnTo>
                    <a:pt x="245" y="0"/>
                  </a:lnTo>
                  <a:lnTo>
                    <a:pt x="245" y="3"/>
                  </a:lnTo>
                  <a:lnTo>
                    <a:pt x="247" y="4"/>
                  </a:lnTo>
                  <a:lnTo>
                    <a:pt x="247" y="8"/>
                  </a:lnTo>
                  <a:lnTo>
                    <a:pt x="247" y="11"/>
                  </a:lnTo>
                  <a:lnTo>
                    <a:pt x="249" y="14"/>
                  </a:lnTo>
                  <a:lnTo>
                    <a:pt x="249" y="18"/>
                  </a:lnTo>
                  <a:lnTo>
                    <a:pt x="249" y="21"/>
                  </a:lnTo>
                  <a:lnTo>
                    <a:pt x="249" y="24"/>
                  </a:lnTo>
                  <a:lnTo>
                    <a:pt x="249" y="28"/>
                  </a:lnTo>
                  <a:lnTo>
                    <a:pt x="249" y="31"/>
                  </a:lnTo>
                  <a:lnTo>
                    <a:pt x="249" y="34"/>
                  </a:lnTo>
                  <a:lnTo>
                    <a:pt x="247" y="38"/>
                  </a:lnTo>
                  <a:lnTo>
                    <a:pt x="247" y="41"/>
                  </a:lnTo>
                  <a:lnTo>
                    <a:pt x="247" y="44"/>
                  </a:lnTo>
                  <a:lnTo>
                    <a:pt x="247" y="48"/>
                  </a:lnTo>
                  <a:lnTo>
                    <a:pt x="245" y="51"/>
                  </a:lnTo>
                  <a:lnTo>
                    <a:pt x="249" y="51"/>
                  </a:lnTo>
                  <a:lnTo>
                    <a:pt x="250" y="48"/>
                  </a:lnTo>
                  <a:lnTo>
                    <a:pt x="250" y="44"/>
                  </a:lnTo>
                  <a:lnTo>
                    <a:pt x="250" y="41"/>
                  </a:lnTo>
                  <a:lnTo>
                    <a:pt x="250" y="38"/>
                  </a:lnTo>
                  <a:lnTo>
                    <a:pt x="252" y="34"/>
                  </a:lnTo>
                  <a:lnTo>
                    <a:pt x="252" y="31"/>
                  </a:lnTo>
                  <a:lnTo>
                    <a:pt x="252" y="28"/>
                  </a:lnTo>
                  <a:lnTo>
                    <a:pt x="252" y="24"/>
                  </a:lnTo>
                  <a:close/>
                  <a:moveTo>
                    <a:pt x="4" y="0"/>
                  </a:moveTo>
                  <a:lnTo>
                    <a:pt x="4" y="3"/>
                  </a:lnTo>
                  <a:lnTo>
                    <a:pt x="2" y="4"/>
                  </a:lnTo>
                  <a:lnTo>
                    <a:pt x="2" y="8"/>
                  </a:lnTo>
                  <a:lnTo>
                    <a:pt x="2" y="11"/>
                  </a:lnTo>
                  <a:lnTo>
                    <a:pt x="2" y="14"/>
                  </a:lnTo>
                  <a:lnTo>
                    <a:pt x="2"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5" y="4"/>
                  </a:lnTo>
                  <a:lnTo>
                    <a:pt x="7" y="3"/>
                  </a:lnTo>
                  <a:lnTo>
                    <a:pt x="7" y="0"/>
                  </a:lnTo>
                  <a:lnTo>
                    <a:pt x="4"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00" name="Freeform 442">
              <a:extLst>
                <a:ext uri="{FF2B5EF4-FFF2-40B4-BE49-F238E27FC236}">
                  <a16:creationId xmlns:a16="http://schemas.microsoft.com/office/drawing/2014/main" id="{7A442C8F-29AC-6497-6E9F-6C69AE02D4D5}"/>
                </a:ext>
              </a:extLst>
            </p:cNvPr>
            <p:cNvSpPr>
              <a:spLocks noEditPoints="1"/>
            </p:cNvSpPr>
            <p:nvPr/>
          </p:nvSpPr>
          <p:spPr bwMode="auto">
            <a:xfrm>
              <a:off x="1487" y="1713"/>
              <a:ext cx="248" cy="51"/>
            </a:xfrm>
            <a:custGeom>
              <a:avLst/>
              <a:gdLst>
                <a:gd name="T0" fmla="*/ 248 w 248"/>
                <a:gd name="T1" fmla="*/ 21 h 51"/>
                <a:gd name="T2" fmla="*/ 248 w 248"/>
                <a:gd name="T3" fmla="*/ 14 h 51"/>
                <a:gd name="T4" fmla="*/ 247 w 248"/>
                <a:gd name="T5" fmla="*/ 8 h 51"/>
                <a:gd name="T6" fmla="*/ 245 w 248"/>
                <a:gd name="T7" fmla="*/ 3 h 51"/>
                <a:gd name="T8" fmla="*/ 242 w 248"/>
                <a:gd name="T9" fmla="*/ 0 h 51"/>
                <a:gd name="T10" fmla="*/ 243 w 248"/>
                <a:gd name="T11" fmla="*/ 4 h 51"/>
                <a:gd name="T12" fmla="*/ 243 w 248"/>
                <a:gd name="T13" fmla="*/ 11 h 51"/>
                <a:gd name="T14" fmla="*/ 245 w 248"/>
                <a:gd name="T15" fmla="*/ 18 h 51"/>
                <a:gd name="T16" fmla="*/ 245 w 248"/>
                <a:gd name="T17" fmla="*/ 24 h 51"/>
                <a:gd name="T18" fmla="*/ 245 w 248"/>
                <a:gd name="T19" fmla="*/ 31 h 51"/>
                <a:gd name="T20" fmla="*/ 243 w 248"/>
                <a:gd name="T21" fmla="*/ 38 h 51"/>
                <a:gd name="T22" fmla="*/ 243 w 248"/>
                <a:gd name="T23" fmla="*/ 44 h 51"/>
                <a:gd name="T24" fmla="*/ 242 w 248"/>
                <a:gd name="T25" fmla="*/ 51 h 51"/>
                <a:gd name="T26" fmla="*/ 247 w 248"/>
                <a:gd name="T27" fmla="*/ 48 h 51"/>
                <a:gd name="T28" fmla="*/ 247 w 248"/>
                <a:gd name="T29" fmla="*/ 41 h 51"/>
                <a:gd name="T30" fmla="*/ 248 w 248"/>
                <a:gd name="T31" fmla="*/ 34 h 51"/>
                <a:gd name="T32" fmla="*/ 248 w 248"/>
                <a:gd name="T33" fmla="*/ 28 h 51"/>
                <a:gd name="T34" fmla="*/ 3 w 248"/>
                <a:gd name="T35" fmla="*/ 0 h 51"/>
                <a:gd name="T36" fmla="*/ 2 w 248"/>
                <a:gd name="T37" fmla="*/ 4 h 51"/>
                <a:gd name="T38" fmla="*/ 2 w 248"/>
                <a:gd name="T39" fmla="*/ 11 h 51"/>
                <a:gd name="T40" fmla="*/ 0 w 248"/>
                <a:gd name="T41" fmla="*/ 18 h 51"/>
                <a:gd name="T42" fmla="*/ 0 w 248"/>
                <a:gd name="T43" fmla="*/ 24 h 51"/>
                <a:gd name="T44" fmla="*/ 0 w 248"/>
                <a:gd name="T45" fmla="*/ 31 h 51"/>
                <a:gd name="T46" fmla="*/ 2 w 248"/>
                <a:gd name="T47" fmla="*/ 38 h 51"/>
                <a:gd name="T48" fmla="*/ 2 w 248"/>
                <a:gd name="T49" fmla="*/ 44 h 51"/>
                <a:gd name="T50" fmla="*/ 3 w 248"/>
                <a:gd name="T51" fmla="*/ 51 h 51"/>
                <a:gd name="T52" fmla="*/ 7 w 248"/>
                <a:gd name="T53" fmla="*/ 48 h 51"/>
                <a:gd name="T54" fmla="*/ 5 w 248"/>
                <a:gd name="T55" fmla="*/ 41 h 51"/>
                <a:gd name="T56" fmla="*/ 5 w 248"/>
                <a:gd name="T57" fmla="*/ 34 h 51"/>
                <a:gd name="T58" fmla="*/ 3 w 248"/>
                <a:gd name="T59" fmla="*/ 28 h 51"/>
                <a:gd name="T60" fmla="*/ 3 w 248"/>
                <a:gd name="T61" fmla="*/ 21 h 51"/>
                <a:gd name="T62" fmla="*/ 5 w 248"/>
                <a:gd name="T63" fmla="*/ 14 h 51"/>
                <a:gd name="T64" fmla="*/ 5 w 248"/>
                <a:gd name="T65" fmla="*/ 8 h 51"/>
                <a:gd name="T66" fmla="*/ 7 w 248"/>
                <a:gd name="T67" fmla="*/ 3 h 51"/>
                <a:gd name="T68" fmla="*/ 3 w 24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8" h="51">
                  <a:moveTo>
                    <a:pt x="248" y="24"/>
                  </a:moveTo>
                  <a:lnTo>
                    <a:pt x="248" y="21"/>
                  </a:lnTo>
                  <a:lnTo>
                    <a:pt x="248" y="18"/>
                  </a:lnTo>
                  <a:lnTo>
                    <a:pt x="248" y="14"/>
                  </a:lnTo>
                  <a:lnTo>
                    <a:pt x="247" y="11"/>
                  </a:lnTo>
                  <a:lnTo>
                    <a:pt x="247" y="8"/>
                  </a:lnTo>
                  <a:lnTo>
                    <a:pt x="247" y="4"/>
                  </a:lnTo>
                  <a:lnTo>
                    <a:pt x="245" y="3"/>
                  </a:lnTo>
                  <a:lnTo>
                    <a:pt x="245" y="0"/>
                  </a:lnTo>
                  <a:lnTo>
                    <a:pt x="242" y="0"/>
                  </a:lnTo>
                  <a:lnTo>
                    <a:pt x="242" y="3"/>
                  </a:lnTo>
                  <a:lnTo>
                    <a:pt x="243" y="4"/>
                  </a:lnTo>
                  <a:lnTo>
                    <a:pt x="243" y="8"/>
                  </a:lnTo>
                  <a:lnTo>
                    <a:pt x="243" y="11"/>
                  </a:lnTo>
                  <a:lnTo>
                    <a:pt x="245" y="14"/>
                  </a:lnTo>
                  <a:lnTo>
                    <a:pt x="245" y="18"/>
                  </a:lnTo>
                  <a:lnTo>
                    <a:pt x="245" y="21"/>
                  </a:lnTo>
                  <a:lnTo>
                    <a:pt x="245" y="24"/>
                  </a:lnTo>
                  <a:lnTo>
                    <a:pt x="245" y="28"/>
                  </a:lnTo>
                  <a:lnTo>
                    <a:pt x="245" y="31"/>
                  </a:lnTo>
                  <a:lnTo>
                    <a:pt x="245" y="34"/>
                  </a:lnTo>
                  <a:lnTo>
                    <a:pt x="243" y="38"/>
                  </a:lnTo>
                  <a:lnTo>
                    <a:pt x="243" y="41"/>
                  </a:lnTo>
                  <a:lnTo>
                    <a:pt x="243" y="44"/>
                  </a:lnTo>
                  <a:lnTo>
                    <a:pt x="243" y="48"/>
                  </a:lnTo>
                  <a:lnTo>
                    <a:pt x="242" y="51"/>
                  </a:lnTo>
                  <a:lnTo>
                    <a:pt x="245" y="51"/>
                  </a:lnTo>
                  <a:lnTo>
                    <a:pt x="247" y="48"/>
                  </a:lnTo>
                  <a:lnTo>
                    <a:pt x="247" y="44"/>
                  </a:lnTo>
                  <a:lnTo>
                    <a:pt x="247" y="41"/>
                  </a:lnTo>
                  <a:lnTo>
                    <a:pt x="247" y="38"/>
                  </a:lnTo>
                  <a:lnTo>
                    <a:pt x="248" y="34"/>
                  </a:lnTo>
                  <a:lnTo>
                    <a:pt x="248" y="31"/>
                  </a:lnTo>
                  <a:lnTo>
                    <a:pt x="248" y="28"/>
                  </a:lnTo>
                  <a:lnTo>
                    <a:pt x="248"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7" y="3"/>
                  </a:lnTo>
                  <a:lnTo>
                    <a:pt x="7" y="0"/>
                  </a:lnTo>
                  <a:lnTo>
                    <a:pt x="3"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01" name="Freeform 443">
              <a:extLst>
                <a:ext uri="{FF2B5EF4-FFF2-40B4-BE49-F238E27FC236}">
                  <a16:creationId xmlns:a16="http://schemas.microsoft.com/office/drawing/2014/main" id="{2228A8CE-AA83-DA4D-09CD-B2C0FBB5A205}"/>
                </a:ext>
              </a:extLst>
            </p:cNvPr>
            <p:cNvSpPr>
              <a:spLocks noEditPoints="1"/>
            </p:cNvSpPr>
            <p:nvPr/>
          </p:nvSpPr>
          <p:spPr bwMode="auto">
            <a:xfrm>
              <a:off x="1489" y="1713"/>
              <a:ext cx="245" cy="51"/>
            </a:xfrm>
            <a:custGeom>
              <a:avLst/>
              <a:gdLst>
                <a:gd name="T0" fmla="*/ 245 w 245"/>
                <a:gd name="T1" fmla="*/ 21 h 51"/>
                <a:gd name="T2" fmla="*/ 245 w 245"/>
                <a:gd name="T3" fmla="*/ 14 h 51"/>
                <a:gd name="T4" fmla="*/ 243 w 245"/>
                <a:gd name="T5" fmla="*/ 8 h 51"/>
                <a:gd name="T6" fmla="*/ 241 w 245"/>
                <a:gd name="T7" fmla="*/ 3 h 51"/>
                <a:gd name="T8" fmla="*/ 238 w 245"/>
                <a:gd name="T9" fmla="*/ 0 h 51"/>
                <a:gd name="T10" fmla="*/ 240 w 245"/>
                <a:gd name="T11" fmla="*/ 4 h 51"/>
                <a:gd name="T12" fmla="*/ 240 w 245"/>
                <a:gd name="T13" fmla="*/ 11 h 51"/>
                <a:gd name="T14" fmla="*/ 241 w 245"/>
                <a:gd name="T15" fmla="*/ 18 h 51"/>
                <a:gd name="T16" fmla="*/ 241 w 245"/>
                <a:gd name="T17" fmla="*/ 24 h 51"/>
                <a:gd name="T18" fmla="*/ 241 w 245"/>
                <a:gd name="T19" fmla="*/ 31 h 51"/>
                <a:gd name="T20" fmla="*/ 240 w 245"/>
                <a:gd name="T21" fmla="*/ 38 h 51"/>
                <a:gd name="T22" fmla="*/ 240 w 245"/>
                <a:gd name="T23" fmla="*/ 44 h 51"/>
                <a:gd name="T24" fmla="*/ 238 w 245"/>
                <a:gd name="T25" fmla="*/ 51 h 51"/>
                <a:gd name="T26" fmla="*/ 243 w 245"/>
                <a:gd name="T27" fmla="*/ 48 h 51"/>
                <a:gd name="T28" fmla="*/ 243 w 245"/>
                <a:gd name="T29" fmla="*/ 41 h 51"/>
                <a:gd name="T30" fmla="*/ 245 w 245"/>
                <a:gd name="T31" fmla="*/ 34 h 51"/>
                <a:gd name="T32" fmla="*/ 245 w 245"/>
                <a:gd name="T33" fmla="*/ 28 h 51"/>
                <a:gd name="T34" fmla="*/ 3 w 245"/>
                <a:gd name="T35" fmla="*/ 0 h 51"/>
                <a:gd name="T36" fmla="*/ 1 w 245"/>
                <a:gd name="T37" fmla="*/ 4 h 51"/>
                <a:gd name="T38" fmla="*/ 1 w 245"/>
                <a:gd name="T39" fmla="*/ 11 h 51"/>
                <a:gd name="T40" fmla="*/ 0 w 245"/>
                <a:gd name="T41" fmla="*/ 18 h 51"/>
                <a:gd name="T42" fmla="*/ 0 w 245"/>
                <a:gd name="T43" fmla="*/ 24 h 51"/>
                <a:gd name="T44" fmla="*/ 0 w 245"/>
                <a:gd name="T45" fmla="*/ 31 h 51"/>
                <a:gd name="T46" fmla="*/ 1 w 245"/>
                <a:gd name="T47" fmla="*/ 38 h 51"/>
                <a:gd name="T48" fmla="*/ 1 w 245"/>
                <a:gd name="T49" fmla="*/ 44 h 51"/>
                <a:gd name="T50" fmla="*/ 3 w 245"/>
                <a:gd name="T51" fmla="*/ 51 h 51"/>
                <a:gd name="T52" fmla="*/ 6 w 245"/>
                <a:gd name="T53" fmla="*/ 48 h 51"/>
                <a:gd name="T54" fmla="*/ 5 w 245"/>
                <a:gd name="T55" fmla="*/ 41 h 51"/>
                <a:gd name="T56" fmla="*/ 5 w 245"/>
                <a:gd name="T57" fmla="*/ 34 h 51"/>
                <a:gd name="T58" fmla="*/ 3 w 245"/>
                <a:gd name="T59" fmla="*/ 28 h 51"/>
                <a:gd name="T60" fmla="*/ 3 w 245"/>
                <a:gd name="T61" fmla="*/ 21 h 51"/>
                <a:gd name="T62" fmla="*/ 5 w 245"/>
                <a:gd name="T63" fmla="*/ 14 h 51"/>
                <a:gd name="T64" fmla="*/ 5 w 245"/>
                <a:gd name="T65" fmla="*/ 8 h 51"/>
                <a:gd name="T66" fmla="*/ 6 w 245"/>
                <a:gd name="T67" fmla="*/ 3 h 51"/>
                <a:gd name="T68" fmla="*/ 3 w 24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5" h="51">
                  <a:moveTo>
                    <a:pt x="245" y="24"/>
                  </a:moveTo>
                  <a:lnTo>
                    <a:pt x="245" y="21"/>
                  </a:lnTo>
                  <a:lnTo>
                    <a:pt x="245" y="18"/>
                  </a:lnTo>
                  <a:lnTo>
                    <a:pt x="245" y="14"/>
                  </a:lnTo>
                  <a:lnTo>
                    <a:pt x="243" y="11"/>
                  </a:lnTo>
                  <a:lnTo>
                    <a:pt x="243" y="8"/>
                  </a:lnTo>
                  <a:lnTo>
                    <a:pt x="243" y="4"/>
                  </a:lnTo>
                  <a:lnTo>
                    <a:pt x="241" y="3"/>
                  </a:lnTo>
                  <a:lnTo>
                    <a:pt x="241" y="0"/>
                  </a:lnTo>
                  <a:lnTo>
                    <a:pt x="238" y="0"/>
                  </a:lnTo>
                  <a:lnTo>
                    <a:pt x="238" y="3"/>
                  </a:lnTo>
                  <a:lnTo>
                    <a:pt x="240" y="4"/>
                  </a:lnTo>
                  <a:lnTo>
                    <a:pt x="240" y="8"/>
                  </a:lnTo>
                  <a:lnTo>
                    <a:pt x="240" y="11"/>
                  </a:lnTo>
                  <a:lnTo>
                    <a:pt x="241" y="14"/>
                  </a:lnTo>
                  <a:lnTo>
                    <a:pt x="241" y="18"/>
                  </a:lnTo>
                  <a:lnTo>
                    <a:pt x="241" y="21"/>
                  </a:lnTo>
                  <a:lnTo>
                    <a:pt x="241" y="24"/>
                  </a:lnTo>
                  <a:lnTo>
                    <a:pt x="241" y="28"/>
                  </a:lnTo>
                  <a:lnTo>
                    <a:pt x="241" y="31"/>
                  </a:lnTo>
                  <a:lnTo>
                    <a:pt x="241" y="34"/>
                  </a:lnTo>
                  <a:lnTo>
                    <a:pt x="240" y="38"/>
                  </a:lnTo>
                  <a:lnTo>
                    <a:pt x="240" y="41"/>
                  </a:lnTo>
                  <a:lnTo>
                    <a:pt x="240" y="44"/>
                  </a:lnTo>
                  <a:lnTo>
                    <a:pt x="240" y="48"/>
                  </a:lnTo>
                  <a:lnTo>
                    <a:pt x="238" y="51"/>
                  </a:lnTo>
                  <a:lnTo>
                    <a:pt x="241" y="51"/>
                  </a:lnTo>
                  <a:lnTo>
                    <a:pt x="243" y="48"/>
                  </a:lnTo>
                  <a:lnTo>
                    <a:pt x="243" y="44"/>
                  </a:lnTo>
                  <a:lnTo>
                    <a:pt x="243" y="41"/>
                  </a:lnTo>
                  <a:lnTo>
                    <a:pt x="243" y="38"/>
                  </a:lnTo>
                  <a:lnTo>
                    <a:pt x="245" y="34"/>
                  </a:lnTo>
                  <a:lnTo>
                    <a:pt x="245" y="31"/>
                  </a:lnTo>
                  <a:lnTo>
                    <a:pt x="245" y="28"/>
                  </a:lnTo>
                  <a:lnTo>
                    <a:pt x="245" y="24"/>
                  </a:lnTo>
                  <a:close/>
                  <a:moveTo>
                    <a:pt x="3" y="0"/>
                  </a:moveTo>
                  <a:lnTo>
                    <a:pt x="3" y="3"/>
                  </a:lnTo>
                  <a:lnTo>
                    <a:pt x="1"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02" name="Freeform 444">
              <a:extLst>
                <a:ext uri="{FF2B5EF4-FFF2-40B4-BE49-F238E27FC236}">
                  <a16:creationId xmlns:a16="http://schemas.microsoft.com/office/drawing/2014/main" id="{F39E6D26-07E3-6239-880E-71EA56587A6F}"/>
                </a:ext>
              </a:extLst>
            </p:cNvPr>
            <p:cNvSpPr>
              <a:spLocks noEditPoints="1"/>
            </p:cNvSpPr>
            <p:nvPr/>
          </p:nvSpPr>
          <p:spPr bwMode="auto">
            <a:xfrm>
              <a:off x="1490" y="1713"/>
              <a:ext cx="242" cy="51"/>
            </a:xfrm>
            <a:custGeom>
              <a:avLst/>
              <a:gdLst>
                <a:gd name="T0" fmla="*/ 242 w 242"/>
                <a:gd name="T1" fmla="*/ 21 h 51"/>
                <a:gd name="T2" fmla="*/ 242 w 242"/>
                <a:gd name="T3" fmla="*/ 14 h 51"/>
                <a:gd name="T4" fmla="*/ 240 w 242"/>
                <a:gd name="T5" fmla="*/ 8 h 51"/>
                <a:gd name="T6" fmla="*/ 239 w 242"/>
                <a:gd name="T7" fmla="*/ 3 h 51"/>
                <a:gd name="T8" fmla="*/ 235 w 242"/>
                <a:gd name="T9" fmla="*/ 0 h 51"/>
                <a:gd name="T10" fmla="*/ 237 w 242"/>
                <a:gd name="T11" fmla="*/ 4 h 51"/>
                <a:gd name="T12" fmla="*/ 237 w 242"/>
                <a:gd name="T13" fmla="*/ 11 h 51"/>
                <a:gd name="T14" fmla="*/ 239 w 242"/>
                <a:gd name="T15" fmla="*/ 18 h 51"/>
                <a:gd name="T16" fmla="*/ 239 w 242"/>
                <a:gd name="T17" fmla="*/ 24 h 51"/>
                <a:gd name="T18" fmla="*/ 239 w 242"/>
                <a:gd name="T19" fmla="*/ 31 h 51"/>
                <a:gd name="T20" fmla="*/ 237 w 242"/>
                <a:gd name="T21" fmla="*/ 38 h 51"/>
                <a:gd name="T22" fmla="*/ 237 w 242"/>
                <a:gd name="T23" fmla="*/ 44 h 51"/>
                <a:gd name="T24" fmla="*/ 235 w 242"/>
                <a:gd name="T25" fmla="*/ 51 h 51"/>
                <a:gd name="T26" fmla="*/ 240 w 242"/>
                <a:gd name="T27" fmla="*/ 48 h 51"/>
                <a:gd name="T28" fmla="*/ 240 w 242"/>
                <a:gd name="T29" fmla="*/ 41 h 51"/>
                <a:gd name="T30" fmla="*/ 242 w 242"/>
                <a:gd name="T31" fmla="*/ 34 h 51"/>
                <a:gd name="T32" fmla="*/ 242 w 242"/>
                <a:gd name="T33" fmla="*/ 28 h 51"/>
                <a:gd name="T34" fmla="*/ 4 w 242"/>
                <a:gd name="T35" fmla="*/ 0 h 51"/>
                <a:gd name="T36" fmla="*/ 2 w 242"/>
                <a:gd name="T37" fmla="*/ 4 h 51"/>
                <a:gd name="T38" fmla="*/ 2 w 242"/>
                <a:gd name="T39" fmla="*/ 11 h 51"/>
                <a:gd name="T40" fmla="*/ 0 w 242"/>
                <a:gd name="T41" fmla="*/ 18 h 51"/>
                <a:gd name="T42" fmla="*/ 0 w 242"/>
                <a:gd name="T43" fmla="*/ 24 h 51"/>
                <a:gd name="T44" fmla="*/ 0 w 242"/>
                <a:gd name="T45" fmla="*/ 31 h 51"/>
                <a:gd name="T46" fmla="*/ 2 w 242"/>
                <a:gd name="T47" fmla="*/ 38 h 51"/>
                <a:gd name="T48" fmla="*/ 2 w 242"/>
                <a:gd name="T49" fmla="*/ 44 h 51"/>
                <a:gd name="T50" fmla="*/ 4 w 242"/>
                <a:gd name="T51" fmla="*/ 51 h 51"/>
                <a:gd name="T52" fmla="*/ 7 w 242"/>
                <a:gd name="T53" fmla="*/ 48 h 51"/>
                <a:gd name="T54" fmla="*/ 5 w 242"/>
                <a:gd name="T55" fmla="*/ 41 h 51"/>
                <a:gd name="T56" fmla="*/ 5 w 242"/>
                <a:gd name="T57" fmla="*/ 34 h 51"/>
                <a:gd name="T58" fmla="*/ 4 w 242"/>
                <a:gd name="T59" fmla="*/ 28 h 51"/>
                <a:gd name="T60" fmla="*/ 4 w 242"/>
                <a:gd name="T61" fmla="*/ 21 h 51"/>
                <a:gd name="T62" fmla="*/ 5 w 242"/>
                <a:gd name="T63" fmla="*/ 14 h 51"/>
                <a:gd name="T64" fmla="*/ 5 w 242"/>
                <a:gd name="T65" fmla="*/ 8 h 51"/>
                <a:gd name="T66" fmla="*/ 7 w 242"/>
                <a:gd name="T67" fmla="*/ 3 h 51"/>
                <a:gd name="T68" fmla="*/ 4 w 2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2" h="51">
                  <a:moveTo>
                    <a:pt x="242" y="24"/>
                  </a:moveTo>
                  <a:lnTo>
                    <a:pt x="242" y="21"/>
                  </a:lnTo>
                  <a:lnTo>
                    <a:pt x="242" y="18"/>
                  </a:lnTo>
                  <a:lnTo>
                    <a:pt x="242" y="14"/>
                  </a:lnTo>
                  <a:lnTo>
                    <a:pt x="240" y="11"/>
                  </a:lnTo>
                  <a:lnTo>
                    <a:pt x="240" y="8"/>
                  </a:lnTo>
                  <a:lnTo>
                    <a:pt x="240" y="4"/>
                  </a:lnTo>
                  <a:lnTo>
                    <a:pt x="239" y="3"/>
                  </a:lnTo>
                  <a:lnTo>
                    <a:pt x="239" y="0"/>
                  </a:lnTo>
                  <a:lnTo>
                    <a:pt x="235" y="0"/>
                  </a:lnTo>
                  <a:lnTo>
                    <a:pt x="235" y="3"/>
                  </a:lnTo>
                  <a:lnTo>
                    <a:pt x="237" y="4"/>
                  </a:lnTo>
                  <a:lnTo>
                    <a:pt x="237" y="8"/>
                  </a:lnTo>
                  <a:lnTo>
                    <a:pt x="237" y="11"/>
                  </a:lnTo>
                  <a:lnTo>
                    <a:pt x="239" y="14"/>
                  </a:lnTo>
                  <a:lnTo>
                    <a:pt x="239" y="18"/>
                  </a:lnTo>
                  <a:lnTo>
                    <a:pt x="239" y="21"/>
                  </a:lnTo>
                  <a:lnTo>
                    <a:pt x="239" y="24"/>
                  </a:lnTo>
                  <a:lnTo>
                    <a:pt x="239" y="28"/>
                  </a:lnTo>
                  <a:lnTo>
                    <a:pt x="239" y="31"/>
                  </a:lnTo>
                  <a:lnTo>
                    <a:pt x="239" y="34"/>
                  </a:lnTo>
                  <a:lnTo>
                    <a:pt x="237" y="38"/>
                  </a:lnTo>
                  <a:lnTo>
                    <a:pt x="237" y="41"/>
                  </a:lnTo>
                  <a:lnTo>
                    <a:pt x="237" y="44"/>
                  </a:lnTo>
                  <a:lnTo>
                    <a:pt x="237" y="48"/>
                  </a:lnTo>
                  <a:lnTo>
                    <a:pt x="235" y="51"/>
                  </a:lnTo>
                  <a:lnTo>
                    <a:pt x="239" y="51"/>
                  </a:lnTo>
                  <a:lnTo>
                    <a:pt x="240" y="48"/>
                  </a:lnTo>
                  <a:lnTo>
                    <a:pt x="240" y="44"/>
                  </a:lnTo>
                  <a:lnTo>
                    <a:pt x="240" y="41"/>
                  </a:lnTo>
                  <a:lnTo>
                    <a:pt x="240" y="38"/>
                  </a:lnTo>
                  <a:lnTo>
                    <a:pt x="242" y="34"/>
                  </a:lnTo>
                  <a:lnTo>
                    <a:pt x="242" y="31"/>
                  </a:lnTo>
                  <a:lnTo>
                    <a:pt x="242" y="28"/>
                  </a:lnTo>
                  <a:lnTo>
                    <a:pt x="242" y="24"/>
                  </a:lnTo>
                  <a:close/>
                  <a:moveTo>
                    <a:pt x="4" y="0"/>
                  </a:moveTo>
                  <a:lnTo>
                    <a:pt x="4"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5" y="4"/>
                  </a:lnTo>
                  <a:lnTo>
                    <a:pt x="7" y="3"/>
                  </a:lnTo>
                  <a:lnTo>
                    <a:pt x="7" y="0"/>
                  </a:lnTo>
                  <a:lnTo>
                    <a:pt x="4"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03" name="Freeform 445">
              <a:extLst>
                <a:ext uri="{FF2B5EF4-FFF2-40B4-BE49-F238E27FC236}">
                  <a16:creationId xmlns:a16="http://schemas.microsoft.com/office/drawing/2014/main" id="{57EEA529-F50C-2932-45B1-6A8A7F059F31}"/>
                </a:ext>
              </a:extLst>
            </p:cNvPr>
            <p:cNvSpPr>
              <a:spLocks noEditPoints="1"/>
            </p:cNvSpPr>
            <p:nvPr/>
          </p:nvSpPr>
          <p:spPr bwMode="auto">
            <a:xfrm>
              <a:off x="1492" y="1713"/>
              <a:ext cx="238" cy="51"/>
            </a:xfrm>
            <a:custGeom>
              <a:avLst/>
              <a:gdLst>
                <a:gd name="T0" fmla="*/ 238 w 238"/>
                <a:gd name="T1" fmla="*/ 21 h 51"/>
                <a:gd name="T2" fmla="*/ 238 w 238"/>
                <a:gd name="T3" fmla="*/ 14 h 51"/>
                <a:gd name="T4" fmla="*/ 237 w 238"/>
                <a:gd name="T5" fmla="*/ 8 h 51"/>
                <a:gd name="T6" fmla="*/ 235 w 238"/>
                <a:gd name="T7" fmla="*/ 3 h 51"/>
                <a:gd name="T8" fmla="*/ 232 w 238"/>
                <a:gd name="T9" fmla="*/ 0 h 51"/>
                <a:gd name="T10" fmla="*/ 233 w 238"/>
                <a:gd name="T11" fmla="*/ 4 h 51"/>
                <a:gd name="T12" fmla="*/ 233 w 238"/>
                <a:gd name="T13" fmla="*/ 11 h 51"/>
                <a:gd name="T14" fmla="*/ 235 w 238"/>
                <a:gd name="T15" fmla="*/ 18 h 51"/>
                <a:gd name="T16" fmla="*/ 235 w 238"/>
                <a:gd name="T17" fmla="*/ 24 h 51"/>
                <a:gd name="T18" fmla="*/ 235 w 238"/>
                <a:gd name="T19" fmla="*/ 31 h 51"/>
                <a:gd name="T20" fmla="*/ 233 w 238"/>
                <a:gd name="T21" fmla="*/ 38 h 51"/>
                <a:gd name="T22" fmla="*/ 233 w 238"/>
                <a:gd name="T23" fmla="*/ 44 h 51"/>
                <a:gd name="T24" fmla="*/ 232 w 238"/>
                <a:gd name="T25" fmla="*/ 51 h 51"/>
                <a:gd name="T26" fmla="*/ 237 w 238"/>
                <a:gd name="T27" fmla="*/ 48 h 51"/>
                <a:gd name="T28" fmla="*/ 237 w 238"/>
                <a:gd name="T29" fmla="*/ 41 h 51"/>
                <a:gd name="T30" fmla="*/ 238 w 238"/>
                <a:gd name="T31" fmla="*/ 34 h 51"/>
                <a:gd name="T32" fmla="*/ 238 w 238"/>
                <a:gd name="T33" fmla="*/ 28 h 51"/>
                <a:gd name="T34" fmla="*/ 3 w 238"/>
                <a:gd name="T35" fmla="*/ 0 h 51"/>
                <a:gd name="T36" fmla="*/ 2 w 238"/>
                <a:gd name="T37" fmla="*/ 4 h 51"/>
                <a:gd name="T38" fmla="*/ 2 w 238"/>
                <a:gd name="T39" fmla="*/ 11 h 51"/>
                <a:gd name="T40" fmla="*/ 0 w 238"/>
                <a:gd name="T41" fmla="*/ 18 h 51"/>
                <a:gd name="T42" fmla="*/ 0 w 238"/>
                <a:gd name="T43" fmla="*/ 24 h 51"/>
                <a:gd name="T44" fmla="*/ 0 w 238"/>
                <a:gd name="T45" fmla="*/ 31 h 51"/>
                <a:gd name="T46" fmla="*/ 2 w 238"/>
                <a:gd name="T47" fmla="*/ 38 h 51"/>
                <a:gd name="T48" fmla="*/ 2 w 238"/>
                <a:gd name="T49" fmla="*/ 44 h 51"/>
                <a:gd name="T50" fmla="*/ 3 w 238"/>
                <a:gd name="T51" fmla="*/ 51 h 51"/>
                <a:gd name="T52" fmla="*/ 7 w 238"/>
                <a:gd name="T53" fmla="*/ 48 h 51"/>
                <a:gd name="T54" fmla="*/ 5 w 238"/>
                <a:gd name="T55" fmla="*/ 41 h 51"/>
                <a:gd name="T56" fmla="*/ 5 w 238"/>
                <a:gd name="T57" fmla="*/ 34 h 51"/>
                <a:gd name="T58" fmla="*/ 3 w 238"/>
                <a:gd name="T59" fmla="*/ 28 h 51"/>
                <a:gd name="T60" fmla="*/ 3 w 238"/>
                <a:gd name="T61" fmla="*/ 21 h 51"/>
                <a:gd name="T62" fmla="*/ 5 w 238"/>
                <a:gd name="T63" fmla="*/ 14 h 51"/>
                <a:gd name="T64" fmla="*/ 5 w 238"/>
                <a:gd name="T65" fmla="*/ 8 h 51"/>
                <a:gd name="T66" fmla="*/ 7 w 238"/>
                <a:gd name="T67" fmla="*/ 3 h 51"/>
                <a:gd name="T68" fmla="*/ 3 w 23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8" h="51">
                  <a:moveTo>
                    <a:pt x="238" y="24"/>
                  </a:moveTo>
                  <a:lnTo>
                    <a:pt x="238" y="21"/>
                  </a:lnTo>
                  <a:lnTo>
                    <a:pt x="238" y="18"/>
                  </a:lnTo>
                  <a:lnTo>
                    <a:pt x="238" y="14"/>
                  </a:lnTo>
                  <a:lnTo>
                    <a:pt x="237" y="11"/>
                  </a:lnTo>
                  <a:lnTo>
                    <a:pt x="237" y="8"/>
                  </a:lnTo>
                  <a:lnTo>
                    <a:pt x="237" y="4"/>
                  </a:lnTo>
                  <a:lnTo>
                    <a:pt x="235" y="3"/>
                  </a:lnTo>
                  <a:lnTo>
                    <a:pt x="235" y="0"/>
                  </a:lnTo>
                  <a:lnTo>
                    <a:pt x="232" y="0"/>
                  </a:lnTo>
                  <a:lnTo>
                    <a:pt x="232" y="3"/>
                  </a:lnTo>
                  <a:lnTo>
                    <a:pt x="233" y="4"/>
                  </a:lnTo>
                  <a:lnTo>
                    <a:pt x="233" y="8"/>
                  </a:lnTo>
                  <a:lnTo>
                    <a:pt x="233" y="11"/>
                  </a:lnTo>
                  <a:lnTo>
                    <a:pt x="235" y="14"/>
                  </a:lnTo>
                  <a:lnTo>
                    <a:pt x="235" y="18"/>
                  </a:lnTo>
                  <a:lnTo>
                    <a:pt x="235" y="21"/>
                  </a:lnTo>
                  <a:lnTo>
                    <a:pt x="235" y="24"/>
                  </a:lnTo>
                  <a:lnTo>
                    <a:pt x="235" y="28"/>
                  </a:lnTo>
                  <a:lnTo>
                    <a:pt x="235" y="31"/>
                  </a:lnTo>
                  <a:lnTo>
                    <a:pt x="235" y="34"/>
                  </a:lnTo>
                  <a:lnTo>
                    <a:pt x="233" y="38"/>
                  </a:lnTo>
                  <a:lnTo>
                    <a:pt x="233" y="41"/>
                  </a:lnTo>
                  <a:lnTo>
                    <a:pt x="233" y="44"/>
                  </a:lnTo>
                  <a:lnTo>
                    <a:pt x="233" y="48"/>
                  </a:lnTo>
                  <a:lnTo>
                    <a:pt x="232" y="51"/>
                  </a:lnTo>
                  <a:lnTo>
                    <a:pt x="235" y="51"/>
                  </a:lnTo>
                  <a:lnTo>
                    <a:pt x="237" y="48"/>
                  </a:lnTo>
                  <a:lnTo>
                    <a:pt x="237" y="44"/>
                  </a:lnTo>
                  <a:lnTo>
                    <a:pt x="237" y="41"/>
                  </a:lnTo>
                  <a:lnTo>
                    <a:pt x="237" y="38"/>
                  </a:lnTo>
                  <a:lnTo>
                    <a:pt x="238" y="34"/>
                  </a:lnTo>
                  <a:lnTo>
                    <a:pt x="238" y="31"/>
                  </a:lnTo>
                  <a:lnTo>
                    <a:pt x="238" y="28"/>
                  </a:lnTo>
                  <a:lnTo>
                    <a:pt x="238"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7" y="3"/>
                  </a:lnTo>
                  <a:lnTo>
                    <a:pt x="7" y="0"/>
                  </a:lnTo>
                  <a:lnTo>
                    <a:pt x="3"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04" name="Freeform 446">
              <a:extLst>
                <a:ext uri="{FF2B5EF4-FFF2-40B4-BE49-F238E27FC236}">
                  <a16:creationId xmlns:a16="http://schemas.microsoft.com/office/drawing/2014/main" id="{B6F54F35-633B-1842-D418-8413BC3BAEB6}"/>
                </a:ext>
              </a:extLst>
            </p:cNvPr>
            <p:cNvSpPr>
              <a:spLocks noEditPoints="1"/>
            </p:cNvSpPr>
            <p:nvPr/>
          </p:nvSpPr>
          <p:spPr bwMode="auto">
            <a:xfrm>
              <a:off x="1494" y="1713"/>
              <a:ext cx="235" cy="51"/>
            </a:xfrm>
            <a:custGeom>
              <a:avLst/>
              <a:gdLst>
                <a:gd name="T0" fmla="*/ 235 w 235"/>
                <a:gd name="T1" fmla="*/ 21 h 51"/>
                <a:gd name="T2" fmla="*/ 235 w 235"/>
                <a:gd name="T3" fmla="*/ 14 h 51"/>
                <a:gd name="T4" fmla="*/ 233 w 235"/>
                <a:gd name="T5" fmla="*/ 8 h 51"/>
                <a:gd name="T6" fmla="*/ 231 w 235"/>
                <a:gd name="T7" fmla="*/ 3 h 51"/>
                <a:gd name="T8" fmla="*/ 228 w 235"/>
                <a:gd name="T9" fmla="*/ 0 h 51"/>
                <a:gd name="T10" fmla="*/ 230 w 235"/>
                <a:gd name="T11" fmla="*/ 4 h 51"/>
                <a:gd name="T12" fmla="*/ 230 w 235"/>
                <a:gd name="T13" fmla="*/ 11 h 51"/>
                <a:gd name="T14" fmla="*/ 231 w 235"/>
                <a:gd name="T15" fmla="*/ 18 h 51"/>
                <a:gd name="T16" fmla="*/ 231 w 235"/>
                <a:gd name="T17" fmla="*/ 24 h 51"/>
                <a:gd name="T18" fmla="*/ 231 w 235"/>
                <a:gd name="T19" fmla="*/ 31 h 51"/>
                <a:gd name="T20" fmla="*/ 230 w 235"/>
                <a:gd name="T21" fmla="*/ 38 h 51"/>
                <a:gd name="T22" fmla="*/ 230 w 235"/>
                <a:gd name="T23" fmla="*/ 44 h 51"/>
                <a:gd name="T24" fmla="*/ 228 w 235"/>
                <a:gd name="T25" fmla="*/ 51 h 51"/>
                <a:gd name="T26" fmla="*/ 233 w 235"/>
                <a:gd name="T27" fmla="*/ 48 h 51"/>
                <a:gd name="T28" fmla="*/ 233 w 235"/>
                <a:gd name="T29" fmla="*/ 41 h 51"/>
                <a:gd name="T30" fmla="*/ 235 w 235"/>
                <a:gd name="T31" fmla="*/ 34 h 51"/>
                <a:gd name="T32" fmla="*/ 235 w 235"/>
                <a:gd name="T33" fmla="*/ 28 h 51"/>
                <a:gd name="T34" fmla="*/ 3 w 235"/>
                <a:gd name="T35" fmla="*/ 0 h 51"/>
                <a:gd name="T36" fmla="*/ 1 w 235"/>
                <a:gd name="T37" fmla="*/ 4 h 51"/>
                <a:gd name="T38" fmla="*/ 1 w 235"/>
                <a:gd name="T39" fmla="*/ 11 h 51"/>
                <a:gd name="T40" fmla="*/ 0 w 235"/>
                <a:gd name="T41" fmla="*/ 18 h 51"/>
                <a:gd name="T42" fmla="*/ 0 w 235"/>
                <a:gd name="T43" fmla="*/ 24 h 51"/>
                <a:gd name="T44" fmla="*/ 0 w 235"/>
                <a:gd name="T45" fmla="*/ 31 h 51"/>
                <a:gd name="T46" fmla="*/ 1 w 235"/>
                <a:gd name="T47" fmla="*/ 38 h 51"/>
                <a:gd name="T48" fmla="*/ 1 w 235"/>
                <a:gd name="T49" fmla="*/ 44 h 51"/>
                <a:gd name="T50" fmla="*/ 3 w 235"/>
                <a:gd name="T51" fmla="*/ 51 h 51"/>
                <a:gd name="T52" fmla="*/ 6 w 235"/>
                <a:gd name="T53" fmla="*/ 48 h 51"/>
                <a:gd name="T54" fmla="*/ 5 w 235"/>
                <a:gd name="T55" fmla="*/ 41 h 51"/>
                <a:gd name="T56" fmla="*/ 5 w 235"/>
                <a:gd name="T57" fmla="*/ 34 h 51"/>
                <a:gd name="T58" fmla="*/ 3 w 235"/>
                <a:gd name="T59" fmla="*/ 28 h 51"/>
                <a:gd name="T60" fmla="*/ 3 w 235"/>
                <a:gd name="T61" fmla="*/ 21 h 51"/>
                <a:gd name="T62" fmla="*/ 5 w 235"/>
                <a:gd name="T63" fmla="*/ 14 h 51"/>
                <a:gd name="T64" fmla="*/ 5 w 235"/>
                <a:gd name="T65" fmla="*/ 8 h 51"/>
                <a:gd name="T66" fmla="*/ 6 w 235"/>
                <a:gd name="T67" fmla="*/ 3 h 51"/>
                <a:gd name="T68" fmla="*/ 3 w 23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5" h="51">
                  <a:moveTo>
                    <a:pt x="235" y="24"/>
                  </a:moveTo>
                  <a:lnTo>
                    <a:pt x="235" y="21"/>
                  </a:lnTo>
                  <a:lnTo>
                    <a:pt x="235" y="18"/>
                  </a:lnTo>
                  <a:lnTo>
                    <a:pt x="235" y="14"/>
                  </a:lnTo>
                  <a:lnTo>
                    <a:pt x="233" y="11"/>
                  </a:lnTo>
                  <a:lnTo>
                    <a:pt x="233" y="8"/>
                  </a:lnTo>
                  <a:lnTo>
                    <a:pt x="233" y="4"/>
                  </a:lnTo>
                  <a:lnTo>
                    <a:pt x="231" y="3"/>
                  </a:lnTo>
                  <a:lnTo>
                    <a:pt x="231" y="0"/>
                  </a:lnTo>
                  <a:lnTo>
                    <a:pt x="228" y="0"/>
                  </a:lnTo>
                  <a:lnTo>
                    <a:pt x="228" y="3"/>
                  </a:lnTo>
                  <a:lnTo>
                    <a:pt x="230" y="4"/>
                  </a:lnTo>
                  <a:lnTo>
                    <a:pt x="230" y="8"/>
                  </a:lnTo>
                  <a:lnTo>
                    <a:pt x="230" y="11"/>
                  </a:lnTo>
                  <a:lnTo>
                    <a:pt x="231" y="14"/>
                  </a:lnTo>
                  <a:lnTo>
                    <a:pt x="231" y="18"/>
                  </a:lnTo>
                  <a:lnTo>
                    <a:pt x="231" y="21"/>
                  </a:lnTo>
                  <a:lnTo>
                    <a:pt x="231" y="24"/>
                  </a:lnTo>
                  <a:lnTo>
                    <a:pt x="231" y="28"/>
                  </a:lnTo>
                  <a:lnTo>
                    <a:pt x="231" y="31"/>
                  </a:lnTo>
                  <a:lnTo>
                    <a:pt x="231" y="34"/>
                  </a:lnTo>
                  <a:lnTo>
                    <a:pt x="230" y="38"/>
                  </a:lnTo>
                  <a:lnTo>
                    <a:pt x="230" y="41"/>
                  </a:lnTo>
                  <a:lnTo>
                    <a:pt x="230" y="44"/>
                  </a:lnTo>
                  <a:lnTo>
                    <a:pt x="230" y="48"/>
                  </a:lnTo>
                  <a:lnTo>
                    <a:pt x="228" y="51"/>
                  </a:lnTo>
                  <a:lnTo>
                    <a:pt x="231" y="51"/>
                  </a:lnTo>
                  <a:lnTo>
                    <a:pt x="233" y="48"/>
                  </a:lnTo>
                  <a:lnTo>
                    <a:pt x="233" y="44"/>
                  </a:lnTo>
                  <a:lnTo>
                    <a:pt x="233" y="41"/>
                  </a:lnTo>
                  <a:lnTo>
                    <a:pt x="233" y="38"/>
                  </a:lnTo>
                  <a:lnTo>
                    <a:pt x="235" y="34"/>
                  </a:lnTo>
                  <a:lnTo>
                    <a:pt x="235" y="31"/>
                  </a:lnTo>
                  <a:lnTo>
                    <a:pt x="235" y="28"/>
                  </a:lnTo>
                  <a:lnTo>
                    <a:pt x="235" y="24"/>
                  </a:lnTo>
                  <a:close/>
                  <a:moveTo>
                    <a:pt x="3" y="0"/>
                  </a:moveTo>
                  <a:lnTo>
                    <a:pt x="3" y="3"/>
                  </a:lnTo>
                  <a:lnTo>
                    <a:pt x="1"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05" name="Freeform 447">
              <a:extLst>
                <a:ext uri="{FF2B5EF4-FFF2-40B4-BE49-F238E27FC236}">
                  <a16:creationId xmlns:a16="http://schemas.microsoft.com/office/drawing/2014/main" id="{AD036B47-EB91-6F0E-68C3-C6C4F2FB7900}"/>
                </a:ext>
              </a:extLst>
            </p:cNvPr>
            <p:cNvSpPr>
              <a:spLocks noEditPoints="1"/>
            </p:cNvSpPr>
            <p:nvPr/>
          </p:nvSpPr>
          <p:spPr bwMode="auto">
            <a:xfrm>
              <a:off x="1495" y="1713"/>
              <a:ext cx="232" cy="51"/>
            </a:xfrm>
            <a:custGeom>
              <a:avLst/>
              <a:gdLst>
                <a:gd name="T0" fmla="*/ 232 w 232"/>
                <a:gd name="T1" fmla="*/ 21 h 51"/>
                <a:gd name="T2" fmla="*/ 232 w 232"/>
                <a:gd name="T3" fmla="*/ 14 h 51"/>
                <a:gd name="T4" fmla="*/ 230 w 232"/>
                <a:gd name="T5" fmla="*/ 8 h 51"/>
                <a:gd name="T6" fmla="*/ 229 w 232"/>
                <a:gd name="T7" fmla="*/ 3 h 51"/>
                <a:gd name="T8" fmla="*/ 225 w 232"/>
                <a:gd name="T9" fmla="*/ 0 h 51"/>
                <a:gd name="T10" fmla="*/ 227 w 232"/>
                <a:gd name="T11" fmla="*/ 4 h 51"/>
                <a:gd name="T12" fmla="*/ 227 w 232"/>
                <a:gd name="T13" fmla="*/ 11 h 51"/>
                <a:gd name="T14" fmla="*/ 229 w 232"/>
                <a:gd name="T15" fmla="*/ 18 h 51"/>
                <a:gd name="T16" fmla="*/ 229 w 232"/>
                <a:gd name="T17" fmla="*/ 24 h 51"/>
                <a:gd name="T18" fmla="*/ 229 w 232"/>
                <a:gd name="T19" fmla="*/ 31 h 51"/>
                <a:gd name="T20" fmla="*/ 227 w 232"/>
                <a:gd name="T21" fmla="*/ 38 h 51"/>
                <a:gd name="T22" fmla="*/ 227 w 232"/>
                <a:gd name="T23" fmla="*/ 44 h 51"/>
                <a:gd name="T24" fmla="*/ 225 w 232"/>
                <a:gd name="T25" fmla="*/ 51 h 51"/>
                <a:gd name="T26" fmla="*/ 230 w 232"/>
                <a:gd name="T27" fmla="*/ 48 h 51"/>
                <a:gd name="T28" fmla="*/ 230 w 232"/>
                <a:gd name="T29" fmla="*/ 41 h 51"/>
                <a:gd name="T30" fmla="*/ 232 w 232"/>
                <a:gd name="T31" fmla="*/ 34 h 51"/>
                <a:gd name="T32" fmla="*/ 232 w 232"/>
                <a:gd name="T33" fmla="*/ 28 h 51"/>
                <a:gd name="T34" fmla="*/ 4 w 232"/>
                <a:gd name="T35" fmla="*/ 0 h 51"/>
                <a:gd name="T36" fmla="*/ 2 w 232"/>
                <a:gd name="T37" fmla="*/ 4 h 51"/>
                <a:gd name="T38" fmla="*/ 2 w 232"/>
                <a:gd name="T39" fmla="*/ 11 h 51"/>
                <a:gd name="T40" fmla="*/ 0 w 232"/>
                <a:gd name="T41" fmla="*/ 18 h 51"/>
                <a:gd name="T42" fmla="*/ 0 w 232"/>
                <a:gd name="T43" fmla="*/ 24 h 51"/>
                <a:gd name="T44" fmla="*/ 0 w 232"/>
                <a:gd name="T45" fmla="*/ 31 h 51"/>
                <a:gd name="T46" fmla="*/ 2 w 232"/>
                <a:gd name="T47" fmla="*/ 38 h 51"/>
                <a:gd name="T48" fmla="*/ 2 w 232"/>
                <a:gd name="T49" fmla="*/ 44 h 51"/>
                <a:gd name="T50" fmla="*/ 4 w 232"/>
                <a:gd name="T51" fmla="*/ 51 h 51"/>
                <a:gd name="T52" fmla="*/ 7 w 232"/>
                <a:gd name="T53" fmla="*/ 48 h 51"/>
                <a:gd name="T54" fmla="*/ 5 w 232"/>
                <a:gd name="T55" fmla="*/ 41 h 51"/>
                <a:gd name="T56" fmla="*/ 5 w 232"/>
                <a:gd name="T57" fmla="*/ 34 h 51"/>
                <a:gd name="T58" fmla="*/ 4 w 232"/>
                <a:gd name="T59" fmla="*/ 28 h 51"/>
                <a:gd name="T60" fmla="*/ 4 w 232"/>
                <a:gd name="T61" fmla="*/ 21 h 51"/>
                <a:gd name="T62" fmla="*/ 5 w 232"/>
                <a:gd name="T63" fmla="*/ 14 h 51"/>
                <a:gd name="T64" fmla="*/ 5 w 232"/>
                <a:gd name="T65" fmla="*/ 8 h 51"/>
                <a:gd name="T66" fmla="*/ 7 w 232"/>
                <a:gd name="T67" fmla="*/ 3 h 51"/>
                <a:gd name="T68" fmla="*/ 4 w 2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2" h="51">
                  <a:moveTo>
                    <a:pt x="232" y="24"/>
                  </a:moveTo>
                  <a:lnTo>
                    <a:pt x="232" y="21"/>
                  </a:lnTo>
                  <a:lnTo>
                    <a:pt x="232" y="18"/>
                  </a:lnTo>
                  <a:lnTo>
                    <a:pt x="232" y="14"/>
                  </a:lnTo>
                  <a:lnTo>
                    <a:pt x="230" y="11"/>
                  </a:lnTo>
                  <a:lnTo>
                    <a:pt x="230" y="8"/>
                  </a:lnTo>
                  <a:lnTo>
                    <a:pt x="230" y="4"/>
                  </a:lnTo>
                  <a:lnTo>
                    <a:pt x="229" y="3"/>
                  </a:lnTo>
                  <a:lnTo>
                    <a:pt x="229" y="0"/>
                  </a:lnTo>
                  <a:lnTo>
                    <a:pt x="225" y="0"/>
                  </a:lnTo>
                  <a:lnTo>
                    <a:pt x="225" y="3"/>
                  </a:lnTo>
                  <a:lnTo>
                    <a:pt x="227" y="4"/>
                  </a:lnTo>
                  <a:lnTo>
                    <a:pt x="227" y="8"/>
                  </a:lnTo>
                  <a:lnTo>
                    <a:pt x="227" y="11"/>
                  </a:lnTo>
                  <a:lnTo>
                    <a:pt x="229" y="14"/>
                  </a:lnTo>
                  <a:lnTo>
                    <a:pt x="229" y="18"/>
                  </a:lnTo>
                  <a:lnTo>
                    <a:pt x="229" y="21"/>
                  </a:lnTo>
                  <a:lnTo>
                    <a:pt x="229" y="24"/>
                  </a:lnTo>
                  <a:lnTo>
                    <a:pt x="229" y="28"/>
                  </a:lnTo>
                  <a:lnTo>
                    <a:pt x="229" y="31"/>
                  </a:lnTo>
                  <a:lnTo>
                    <a:pt x="229" y="34"/>
                  </a:lnTo>
                  <a:lnTo>
                    <a:pt x="227" y="38"/>
                  </a:lnTo>
                  <a:lnTo>
                    <a:pt x="227" y="41"/>
                  </a:lnTo>
                  <a:lnTo>
                    <a:pt x="227" y="44"/>
                  </a:lnTo>
                  <a:lnTo>
                    <a:pt x="225" y="48"/>
                  </a:lnTo>
                  <a:lnTo>
                    <a:pt x="225" y="51"/>
                  </a:lnTo>
                  <a:lnTo>
                    <a:pt x="229" y="51"/>
                  </a:lnTo>
                  <a:lnTo>
                    <a:pt x="230" y="48"/>
                  </a:lnTo>
                  <a:lnTo>
                    <a:pt x="230" y="44"/>
                  </a:lnTo>
                  <a:lnTo>
                    <a:pt x="230" y="41"/>
                  </a:lnTo>
                  <a:lnTo>
                    <a:pt x="230" y="38"/>
                  </a:lnTo>
                  <a:lnTo>
                    <a:pt x="232" y="34"/>
                  </a:lnTo>
                  <a:lnTo>
                    <a:pt x="232" y="31"/>
                  </a:lnTo>
                  <a:lnTo>
                    <a:pt x="232" y="28"/>
                  </a:lnTo>
                  <a:lnTo>
                    <a:pt x="232" y="24"/>
                  </a:lnTo>
                  <a:close/>
                  <a:moveTo>
                    <a:pt x="4" y="0"/>
                  </a:moveTo>
                  <a:lnTo>
                    <a:pt x="4"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5" y="4"/>
                  </a:lnTo>
                  <a:lnTo>
                    <a:pt x="7" y="3"/>
                  </a:lnTo>
                  <a:lnTo>
                    <a:pt x="7" y="0"/>
                  </a:lnTo>
                  <a:lnTo>
                    <a:pt x="4"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06" name="Freeform 448">
              <a:extLst>
                <a:ext uri="{FF2B5EF4-FFF2-40B4-BE49-F238E27FC236}">
                  <a16:creationId xmlns:a16="http://schemas.microsoft.com/office/drawing/2014/main" id="{4A546083-3222-B528-8D58-B2DAD3853F2D}"/>
                </a:ext>
              </a:extLst>
            </p:cNvPr>
            <p:cNvSpPr>
              <a:spLocks noEditPoints="1"/>
            </p:cNvSpPr>
            <p:nvPr/>
          </p:nvSpPr>
          <p:spPr bwMode="auto">
            <a:xfrm>
              <a:off x="1497" y="1713"/>
              <a:ext cx="228" cy="51"/>
            </a:xfrm>
            <a:custGeom>
              <a:avLst/>
              <a:gdLst>
                <a:gd name="T0" fmla="*/ 228 w 228"/>
                <a:gd name="T1" fmla="*/ 21 h 51"/>
                <a:gd name="T2" fmla="*/ 228 w 228"/>
                <a:gd name="T3" fmla="*/ 14 h 51"/>
                <a:gd name="T4" fmla="*/ 227 w 228"/>
                <a:gd name="T5" fmla="*/ 8 h 51"/>
                <a:gd name="T6" fmla="*/ 225 w 228"/>
                <a:gd name="T7" fmla="*/ 3 h 51"/>
                <a:gd name="T8" fmla="*/ 222 w 228"/>
                <a:gd name="T9" fmla="*/ 0 h 51"/>
                <a:gd name="T10" fmla="*/ 223 w 228"/>
                <a:gd name="T11" fmla="*/ 4 h 51"/>
                <a:gd name="T12" fmla="*/ 223 w 228"/>
                <a:gd name="T13" fmla="*/ 11 h 51"/>
                <a:gd name="T14" fmla="*/ 225 w 228"/>
                <a:gd name="T15" fmla="*/ 18 h 51"/>
                <a:gd name="T16" fmla="*/ 225 w 228"/>
                <a:gd name="T17" fmla="*/ 24 h 51"/>
                <a:gd name="T18" fmla="*/ 225 w 228"/>
                <a:gd name="T19" fmla="*/ 31 h 51"/>
                <a:gd name="T20" fmla="*/ 223 w 228"/>
                <a:gd name="T21" fmla="*/ 38 h 51"/>
                <a:gd name="T22" fmla="*/ 223 w 228"/>
                <a:gd name="T23" fmla="*/ 44 h 51"/>
                <a:gd name="T24" fmla="*/ 222 w 228"/>
                <a:gd name="T25" fmla="*/ 51 h 51"/>
                <a:gd name="T26" fmla="*/ 227 w 228"/>
                <a:gd name="T27" fmla="*/ 48 h 51"/>
                <a:gd name="T28" fmla="*/ 227 w 228"/>
                <a:gd name="T29" fmla="*/ 41 h 51"/>
                <a:gd name="T30" fmla="*/ 228 w 228"/>
                <a:gd name="T31" fmla="*/ 34 h 51"/>
                <a:gd name="T32" fmla="*/ 228 w 228"/>
                <a:gd name="T33" fmla="*/ 28 h 51"/>
                <a:gd name="T34" fmla="*/ 3 w 228"/>
                <a:gd name="T35" fmla="*/ 0 h 51"/>
                <a:gd name="T36" fmla="*/ 2 w 228"/>
                <a:gd name="T37" fmla="*/ 4 h 51"/>
                <a:gd name="T38" fmla="*/ 2 w 228"/>
                <a:gd name="T39" fmla="*/ 11 h 51"/>
                <a:gd name="T40" fmla="*/ 0 w 228"/>
                <a:gd name="T41" fmla="*/ 18 h 51"/>
                <a:gd name="T42" fmla="*/ 0 w 228"/>
                <a:gd name="T43" fmla="*/ 24 h 51"/>
                <a:gd name="T44" fmla="*/ 0 w 228"/>
                <a:gd name="T45" fmla="*/ 31 h 51"/>
                <a:gd name="T46" fmla="*/ 2 w 228"/>
                <a:gd name="T47" fmla="*/ 38 h 51"/>
                <a:gd name="T48" fmla="*/ 2 w 228"/>
                <a:gd name="T49" fmla="*/ 44 h 51"/>
                <a:gd name="T50" fmla="*/ 3 w 228"/>
                <a:gd name="T51" fmla="*/ 51 h 51"/>
                <a:gd name="T52" fmla="*/ 7 w 228"/>
                <a:gd name="T53" fmla="*/ 48 h 51"/>
                <a:gd name="T54" fmla="*/ 5 w 228"/>
                <a:gd name="T55" fmla="*/ 41 h 51"/>
                <a:gd name="T56" fmla="*/ 5 w 228"/>
                <a:gd name="T57" fmla="*/ 34 h 51"/>
                <a:gd name="T58" fmla="*/ 3 w 228"/>
                <a:gd name="T59" fmla="*/ 28 h 51"/>
                <a:gd name="T60" fmla="*/ 3 w 228"/>
                <a:gd name="T61" fmla="*/ 21 h 51"/>
                <a:gd name="T62" fmla="*/ 5 w 228"/>
                <a:gd name="T63" fmla="*/ 14 h 51"/>
                <a:gd name="T64" fmla="*/ 5 w 228"/>
                <a:gd name="T65" fmla="*/ 8 h 51"/>
                <a:gd name="T66" fmla="*/ 7 w 228"/>
                <a:gd name="T67" fmla="*/ 3 h 51"/>
                <a:gd name="T68" fmla="*/ 3 w 22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8" h="51">
                  <a:moveTo>
                    <a:pt x="228" y="24"/>
                  </a:moveTo>
                  <a:lnTo>
                    <a:pt x="228" y="21"/>
                  </a:lnTo>
                  <a:lnTo>
                    <a:pt x="228" y="18"/>
                  </a:lnTo>
                  <a:lnTo>
                    <a:pt x="228" y="14"/>
                  </a:lnTo>
                  <a:lnTo>
                    <a:pt x="227" y="11"/>
                  </a:lnTo>
                  <a:lnTo>
                    <a:pt x="227" y="8"/>
                  </a:lnTo>
                  <a:lnTo>
                    <a:pt x="227" y="4"/>
                  </a:lnTo>
                  <a:lnTo>
                    <a:pt x="225" y="3"/>
                  </a:lnTo>
                  <a:lnTo>
                    <a:pt x="225" y="0"/>
                  </a:lnTo>
                  <a:lnTo>
                    <a:pt x="222" y="0"/>
                  </a:lnTo>
                  <a:lnTo>
                    <a:pt x="222" y="3"/>
                  </a:lnTo>
                  <a:lnTo>
                    <a:pt x="223" y="4"/>
                  </a:lnTo>
                  <a:lnTo>
                    <a:pt x="223" y="8"/>
                  </a:lnTo>
                  <a:lnTo>
                    <a:pt x="223" y="11"/>
                  </a:lnTo>
                  <a:lnTo>
                    <a:pt x="225" y="14"/>
                  </a:lnTo>
                  <a:lnTo>
                    <a:pt x="225" y="18"/>
                  </a:lnTo>
                  <a:lnTo>
                    <a:pt x="225" y="21"/>
                  </a:lnTo>
                  <a:lnTo>
                    <a:pt x="225" y="24"/>
                  </a:lnTo>
                  <a:lnTo>
                    <a:pt x="225" y="28"/>
                  </a:lnTo>
                  <a:lnTo>
                    <a:pt x="225" y="31"/>
                  </a:lnTo>
                  <a:lnTo>
                    <a:pt x="225" y="34"/>
                  </a:lnTo>
                  <a:lnTo>
                    <a:pt x="223" y="38"/>
                  </a:lnTo>
                  <a:lnTo>
                    <a:pt x="223" y="41"/>
                  </a:lnTo>
                  <a:lnTo>
                    <a:pt x="223" y="44"/>
                  </a:lnTo>
                  <a:lnTo>
                    <a:pt x="222" y="48"/>
                  </a:lnTo>
                  <a:lnTo>
                    <a:pt x="222" y="51"/>
                  </a:lnTo>
                  <a:lnTo>
                    <a:pt x="225" y="51"/>
                  </a:lnTo>
                  <a:lnTo>
                    <a:pt x="227" y="48"/>
                  </a:lnTo>
                  <a:lnTo>
                    <a:pt x="227" y="44"/>
                  </a:lnTo>
                  <a:lnTo>
                    <a:pt x="227" y="41"/>
                  </a:lnTo>
                  <a:lnTo>
                    <a:pt x="227" y="38"/>
                  </a:lnTo>
                  <a:lnTo>
                    <a:pt x="228" y="34"/>
                  </a:lnTo>
                  <a:lnTo>
                    <a:pt x="228" y="31"/>
                  </a:lnTo>
                  <a:lnTo>
                    <a:pt x="228" y="28"/>
                  </a:lnTo>
                  <a:lnTo>
                    <a:pt x="228"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7" y="3"/>
                  </a:lnTo>
                  <a:lnTo>
                    <a:pt x="7" y="0"/>
                  </a:lnTo>
                  <a:lnTo>
                    <a:pt x="3"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07" name="Freeform 449">
              <a:extLst>
                <a:ext uri="{FF2B5EF4-FFF2-40B4-BE49-F238E27FC236}">
                  <a16:creationId xmlns:a16="http://schemas.microsoft.com/office/drawing/2014/main" id="{AE28856A-4975-63CC-174E-05CED4A4AD97}"/>
                </a:ext>
              </a:extLst>
            </p:cNvPr>
            <p:cNvSpPr>
              <a:spLocks noEditPoints="1"/>
            </p:cNvSpPr>
            <p:nvPr/>
          </p:nvSpPr>
          <p:spPr bwMode="auto">
            <a:xfrm>
              <a:off x="1499" y="1713"/>
              <a:ext cx="225" cy="51"/>
            </a:xfrm>
            <a:custGeom>
              <a:avLst/>
              <a:gdLst>
                <a:gd name="T0" fmla="*/ 225 w 225"/>
                <a:gd name="T1" fmla="*/ 21 h 51"/>
                <a:gd name="T2" fmla="*/ 225 w 225"/>
                <a:gd name="T3" fmla="*/ 14 h 51"/>
                <a:gd name="T4" fmla="*/ 223 w 225"/>
                <a:gd name="T5" fmla="*/ 8 h 51"/>
                <a:gd name="T6" fmla="*/ 221 w 225"/>
                <a:gd name="T7" fmla="*/ 3 h 51"/>
                <a:gd name="T8" fmla="*/ 218 w 225"/>
                <a:gd name="T9" fmla="*/ 0 h 51"/>
                <a:gd name="T10" fmla="*/ 220 w 225"/>
                <a:gd name="T11" fmla="*/ 4 h 51"/>
                <a:gd name="T12" fmla="*/ 220 w 225"/>
                <a:gd name="T13" fmla="*/ 11 h 51"/>
                <a:gd name="T14" fmla="*/ 221 w 225"/>
                <a:gd name="T15" fmla="*/ 18 h 51"/>
                <a:gd name="T16" fmla="*/ 221 w 225"/>
                <a:gd name="T17" fmla="*/ 24 h 51"/>
                <a:gd name="T18" fmla="*/ 221 w 225"/>
                <a:gd name="T19" fmla="*/ 31 h 51"/>
                <a:gd name="T20" fmla="*/ 220 w 225"/>
                <a:gd name="T21" fmla="*/ 38 h 51"/>
                <a:gd name="T22" fmla="*/ 220 w 225"/>
                <a:gd name="T23" fmla="*/ 44 h 51"/>
                <a:gd name="T24" fmla="*/ 218 w 225"/>
                <a:gd name="T25" fmla="*/ 51 h 51"/>
                <a:gd name="T26" fmla="*/ 221 w 225"/>
                <a:gd name="T27" fmla="*/ 48 h 51"/>
                <a:gd name="T28" fmla="*/ 223 w 225"/>
                <a:gd name="T29" fmla="*/ 41 h 51"/>
                <a:gd name="T30" fmla="*/ 225 w 225"/>
                <a:gd name="T31" fmla="*/ 34 h 51"/>
                <a:gd name="T32" fmla="*/ 225 w 225"/>
                <a:gd name="T33" fmla="*/ 28 h 51"/>
                <a:gd name="T34" fmla="*/ 3 w 225"/>
                <a:gd name="T35" fmla="*/ 0 h 51"/>
                <a:gd name="T36" fmla="*/ 1 w 225"/>
                <a:gd name="T37" fmla="*/ 4 h 51"/>
                <a:gd name="T38" fmla="*/ 1 w 225"/>
                <a:gd name="T39" fmla="*/ 11 h 51"/>
                <a:gd name="T40" fmla="*/ 0 w 225"/>
                <a:gd name="T41" fmla="*/ 18 h 51"/>
                <a:gd name="T42" fmla="*/ 0 w 225"/>
                <a:gd name="T43" fmla="*/ 24 h 51"/>
                <a:gd name="T44" fmla="*/ 0 w 225"/>
                <a:gd name="T45" fmla="*/ 31 h 51"/>
                <a:gd name="T46" fmla="*/ 1 w 225"/>
                <a:gd name="T47" fmla="*/ 38 h 51"/>
                <a:gd name="T48" fmla="*/ 1 w 225"/>
                <a:gd name="T49" fmla="*/ 44 h 51"/>
                <a:gd name="T50" fmla="*/ 3 w 225"/>
                <a:gd name="T51" fmla="*/ 51 h 51"/>
                <a:gd name="T52" fmla="*/ 6 w 225"/>
                <a:gd name="T53" fmla="*/ 48 h 51"/>
                <a:gd name="T54" fmla="*/ 5 w 225"/>
                <a:gd name="T55" fmla="*/ 41 h 51"/>
                <a:gd name="T56" fmla="*/ 5 w 225"/>
                <a:gd name="T57" fmla="*/ 34 h 51"/>
                <a:gd name="T58" fmla="*/ 3 w 225"/>
                <a:gd name="T59" fmla="*/ 28 h 51"/>
                <a:gd name="T60" fmla="*/ 3 w 225"/>
                <a:gd name="T61" fmla="*/ 21 h 51"/>
                <a:gd name="T62" fmla="*/ 5 w 225"/>
                <a:gd name="T63" fmla="*/ 14 h 51"/>
                <a:gd name="T64" fmla="*/ 5 w 225"/>
                <a:gd name="T65" fmla="*/ 8 h 51"/>
                <a:gd name="T66" fmla="*/ 6 w 225"/>
                <a:gd name="T67" fmla="*/ 3 h 51"/>
                <a:gd name="T68" fmla="*/ 3 w 22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5" h="51">
                  <a:moveTo>
                    <a:pt x="225" y="24"/>
                  </a:moveTo>
                  <a:lnTo>
                    <a:pt x="225" y="21"/>
                  </a:lnTo>
                  <a:lnTo>
                    <a:pt x="225" y="18"/>
                  </a:lnTo>
                  <a:lnTo>
                    <a:pt x="225" y="14"/>
                  </a:lnTo>
                  <a:lnTo>
                    <a:pt x="223" y="11"/>
                  </a:lnTo>
                  <a:lnTo>
                    <a:pt x="223" y="8"/>
                  </a:lnTo>
                  <a:lnTo>
                    <a:pt x="223" y="4"/>
                  </a:lnTo>
                  <a:lnTo>
                    <a:pt x="221" y="3"/>
                  </a:lnTo>
                  <a:lnTo>
                    <a:pt x="221" y="0"/>
                  </a:lnTo>
                  <a:lnTo>
                    <a:pt x="218" y="0"/>
                  </a:lnTo>
                  <a:lnTo>
                    <a:pt x="218" y="3"/>
                  </a:lnTo>
                  <a:lnTo>
                    <a:pt x="220" y="4"/>
                  </a:lnTo>
                  <a:lnTo>
                    <a:pt x="220" y="8"/>
                  </a:lnTo>
                  <a:lnTo>
                    <a:pt x="220" y="11"/>
                  </a:lnTo>
                  <a:lnTo>
                    <a:pt x="221" y="14"/>
                  </a:lnTo>
                  <a:lnTo>
                    <a:pt x="221" y="18"/>
                  </a:lnTo>
                  <a:lnTo>
                    <a:pt x="221" y="21"/>
                  </a:lnTo>
                  <a:lnTo>
                    <a:pt x="221" y="24"/>
                  </a:lnTo>
                  <a:lnTo>
                    <a:pt x="221" y="28"/>
                  </a:lnTo>
                  <a:lnTo>
                    <a:pt x="221" y="31"/>
                  </a:lnTo>
                  <a:lnTo>
                    <a:pt x="221" y="34"/>
                  </a:lnTo>
                  <a:lnTo>
                    <a:pt x="220" y="38"/>
                  </a:lnTo>
                  <a:lnTo>
                    <a:pt x="220" y="41"/>
                  </a:lnTo>
                  <a:lnTo>
                    <a:pt x="220" y="44"/>
                  </a:lnTo>
                  <a:lnTo>
                    <a:pt x="218" y="48"/>
                  </a:lnTo>
                  <a:lnTo>
                    <a:pt x="218" y="51"/>
                  </a:lnTo>
                  <a:lnTo>
                    <a:pt x="221" y="51"/>
                  </a:lnTo>
                  <a:lnTo>
                    <a:pt x="221" y="48"/>
                  </a:lnTo>
                  <a:lnTo>
                    <a:pt x="223" y="44"/>
                  </a:lnTo>
                  <a:lnTo>
                    <a:pt x="223" y="41"/>
                  </a:lnTo>
                  <a:lnTo>
                    <a:pt x="223" y="38"/>
                  </a:lnTo>
                  <a:lnTo>
                    <a:pt x="225" y="34"/>
                  </a:lnTo>
                  <a:lnTo>
                    <a:pt x="225" y="31"/>
                  </a:lnTo>
                  <a:lnTo>
                    <a:pt x="225" y="28"/>
                  </a:lnTo>
                  <a:lnTo>
                    <a:pt x="225" y="24"/>
                  </a:lnTo>
                  <a:close/>
                  <a:moveTo>
                    <a:pt x="3" y="0"/>
                  </a:moveTo>
                  <a:lnTo>
                    <a:pt x="3" y="3"/>
                  </a:lnTo>
                  <a:lnTo>
                    <a:pt x="1"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08" name="Freeform 450">
              <a:extLst>
                <a:ext uri="{FF2B5EF4-FFF2-40B4-BE49-F238E27FC236}">
                  <a16:creationId xmlns:a16="http://schemas.microsoft.com/office/drawing/2014/main" id="{2D83F521-351C-70E8-C566-2C01CBD43700}"/>
                </a:ext>
              </a:extLst>
            </p:cNvPr>
            <p:cNvSpPr>
              <a:spLocks noEditPoints="1"/>
            </p:cNvSpPr>
            <p:nvPr/>
          </p:nvSpPr>
          <p:spPr bwMode="auto">
            <a:xfrm>
              <a:off x="1500" y="1713"/>
              <a:ext cx="222" cy="51"/>
            </a:xfrm>
            <a:custGeom>
              <a:avLst/>
              <a:gdLst>
                <a:gd name="T0" fmla="*/ 222 w 222"/>
                <a:gd name="T1" fmla="*/ 21 h 51"/>
                <a:gd name="T2" fmla="*/ 222 w 222"/>
                <a:gd name="T3" fmla="*/ 14 h 51"/>
                <a:gd name="T4" fmla="*/ 220 w 222"/>
                <a:gd name="T5" fmla="*/ 8 h 51"/>
                <a:gd name="T6" fmla="*/ 219 w 222"/>
                <a:gd name="T7" fmla="*/ 3 h 51"/>
                <a:gd name="T8" fmla="*/ 216 w 222"/>
                <a:gd name="T9" fmla="*/ 0 h 51"/>
                <a:gd name="T10" fmla="*/ 217 w 222"/>
                <a:gd name="T11" fmla="*/ 4 h 51"/>
                <a:gd name="T12" fmla="*/ 217 w 222"/>
                <a:gd name="T13" fmla="*/ 11 h 51"/>
                <a:gd name="T14" fmla="*/ 219 w 222"/>
                <a:gd name="T15" fmla="*/ 18 h 51"/>
                <a:gd name="T16" fmla="*/ 219 w 222"/>
                <a:gd name="T17" fmla="*/ 24 h 51"/>
                <a:gd name="T18" fmla="*/ 219 w 222"/>
                <a:gd name="T19" fmla="*/ 31 h 51"/>
                <a:gd name="T20" fmla="*/ 217 w 222"/>
                <a:gd name="T21" fmla="*/ 38 h 51"/>
                <a:gd name="T22" fmla="*/ 217 w 222"/>
                <a:gd name="T23" fmla="*/ 44 h 51"/>
                <a:gd name="T24" fmla="*/ 216 w 222"/>
                <a:gd name="T25" fmla="*/ 51 h 51"/>
                <a:gd name="T26" fmla="*/ 219 w 222"/>
                <a:gd name="T27" fmla="*/ 48 h 51"/>
                <a:gd name="T28" fmla="*/ 220 w 222"/>
                <a:gd name="T29" fmla="*/ 41 h 51"/>
                <a:gd name="T30" fmla="*/ 222 w 222"/>
                <a:gd name="T31" fmla="*/ 34 h 51"/>
                <a:gd name="T32" fmla="*/ 222 w 222"/>
                <a:gd name="T33" fmla="*/ 28 h 51"/>
                <a:gd name="T34" fmla="*/ 4 w 222"/>
                <a:gd name="T35" fmla="*/ 0 h 51"/>
                <a:gd name="T36" fmla="*/ 2 w 222"/>
                <a:gd name="T37" fmla="*/ 4 h 51"/>
                <a:gd name="T38" fmla="*/ 2 w 222"/>
                <a:gd name="T39" fmla="*/ 11 h 51"/>
                <a:gd name="T40" fmla="*/ 0 w 222"/>
                <a:gd name="T41" fmla="*/ 18 h 51"/>
                <a:gd name="T42" fmla="*/ 0 w 222"/>
                <a:gd name="T43" fmla="*/ 24 h 51"/>
                <a:gd name="T44" fmla="*/ 0 w 222"/>
                <a:gd name="T45" fmla="*/ 31 h 51"/>
                <a:gd name="T46" fmla="*/ 2 w 222"/>
                <a:gd name="T47" fmla="*/ 38 h 51"/>
                <a:gd name="T48" fmla="*/ 2 w 222"/>
                <a:gd name="T49" fmla="*/ 44 h 51"/>
                <a:gd name="T50" fmla="*/ 4 w 222"/>
                <a:gd name="T51" fmla="*/ 51 h 51"/>
                <a:gd name="T52" fmla="*/ 7 w 222"/>
                <a:gd name="T53" fmla="*/ 48 h 51"/>
                <a:gd name="T54" fmla="*/ 5 w 222"/>
                <a:gd name="T55" fmla="*/ 41 h 51"/>
                <a:gd name="T56" fmla="*/ 5 w 222"/>
                <a:gd name="T57" fmla="*/ 34 h 51"/>
                <a:gd name="T58" fmla="*/ 4 w 222"/>
                <a:gd name="T59" fmla="*/ 28 h 51"/>
                <a:gd name="T60" fmla="*/ 4 w 222"/>
                <a:gd name="T61" fmla="*/ 21 h 51"/>
                <a:gd name="T62" fmla="*/ 5 w 222"/>
                <a:gd name="T63" fmla="*/ 14 h 51"/>
                <a:gd name="T64" fmla="*/ 5 w 222"/>
                <a:gd name="T65" fmla="*/ 8 h 51"/>
                <a:gd name="T66" fmla="*/ 7 w 222"/>
                <a:gd name="T67" fmla="*/ 3 h 51"/>
                <a:gd name="T68" fmla="*/ 4 w 22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2" h="51">
                  <a:moveTo>
                    <a:pt x="222" y="24"/>
                  </a:moveTo>
                  <a:lnTo>
                    <a:pt x="222" y="21"/>
                  </a:lnTo>
                  <a:lnTo>
                    <a:pt x="222" y="18"/>
                  </a:lnTo>
                  <a:lnTo>
                    <a:pt x="222" y="14"/>
                  </a:lnTo>
                  <a:lnTo>
                    <a:pt x="220" y="11"/>
                  </a:lnTo>
                  <a:lnTo>
                    <a:pt x="220" y="8"/>
                  </a:lnTo>
                  <a:lnTo>
                    <a:pt x="220" y="4"/>
                  </a:lnTo>
                  <a:lnTo>
                    <a:pt x="219" y="3"/>
                  </a:lnTo>
                  <a:lnTo>
                    <a:pt x="219" y="0"/>
                  </a:lnTo>
                  <a:lnTo>
                    <a:pt x="216" y="0"/>
                  </a:lnTo>
                  <a:lnTo>
                    <a:pt x="216" y="3"/>
                  </a:lnTo>
                  <a:lnTo>
                    <a:pt x="217" y="4"/>
                  </a:lnTo>
                  <a:lnTo>
                    <a:pt x="217" y="8"/>
                  </a:lnTo>
                  <a:lnTo>
                    <a:pt x="217" y="11"/>
                  </a:lnTo>
                  <a:lnTo>
                    <a:pt x="219" y="14"/>
                  </a:lnTo>
                  <a:lnTo>
                    <a:pt x="219" y="18"/>
                  </a:lnTo>
                  <a:lnTo>
                    <a:pt x="219" y="21"/>
                  </a:lnTo>
                  <a:lnTo>
                    <a:pt x="219" y="24"/>
                  </a:lnTo>
                  <a:lnTo>
                    <a:pt x="219" y="28"/>
                  </a:lnTo>
                  <a:lnTo>
                    <a:pt x="219" y="31"/>
                  </a:lnTo>
                  <a:lnTo>
                    <a:pt x="219" y="34"/>
                  </a:lnTo>
                  <a:lnTo>
                    <a:pt x="217" y="38"/>
                  </a:lnTo>
                  <a:lnTo>
                    <a:pt x="217" y="41"/>
                  </a:lnTo>
                  <a:lnTo>
                    <a:pt x="217" y="44"/>
                  </a:lnTo>
                  <a:lnTo>
                    <a:pt x="216" y="48"/>
                  </a:lnTo>
                  <a:lnTo>
                    <a:pt x="216" y="51"/>
                  </a:lnTo>
                  <a:lnTo>
                    <a:pt x="219" y="51"/>
                  </a:lnTo>
                  <a:lnTo>
                    <a:pt x="219" y="48"/>
                  </a:lnTo>
                  <a:lnTo>
                    <a:pt x="220" y="44"/>
                  </a:lnTo>
                  <a:lnTo>
                    <a:pt x="220" y="41"/>
                  </a:lnTo>
                  <a:lnTo>
                    <a:pt x="220" y="38"/>
                  </a:lnTo>
                  <a:lnTo>
                    <a:pt x="222" y="34"/>
                  </a:lnTo>
                  <a:lnTo>
                    <a:pt x="222" y="31"/>
                  </a:lnTo>
                  <a:lnTo>
                    <a:pt x="222" y="28"/>
                  </a:lnTo>
                  <a:lnTo>
                    <a:pt x="222" y="24"/>
                  </a:lnTo>
                  <a:close/>
                  <a:moveTo>
                    <a:pt x="4" y="0"/>
                  </a:moveTo>
                  <a:lnTo>
                    <a:pt x="4"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5" y="4"/>
                  </a:lnTo>
                  <a:lnTo>
                    <a:pt x="7" y="3"/>
                  </a:lnTo>
                  <a:lnTo>
                    <a:pt x="7" y="0"/>
                  </a:lnTo>
                  <a:lnTo>
                    <a:pt x="4"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09" name="Freeform 451">
              <a:extLst>
                <a:ext uri="{FF2B5EF4-FFF2-40B4-BE49-F238E27FC236}">
                  <a16:creationId xmlns:a16="http://schemas.microsoft.com/office/drawing/2014/main" id="{C47CCEC4-FF0A-F32A-BFC1-1C857D19CC0C}"/>
                </a:ext>
              </a:extLst>
            </p:cNvPr>
            <p:cNvSpPr>
              <a:spLocks noEditPoints="1"/>
            </p:cNvSpPr>
            <p:nvPr/>
          </p:nvSpPr>
          <p:spPr bwMode="auto">
            <a:xfrm>
              <a:off x="1502" y="1713"/>
              <a:ext cx="218" cy="51"/>
            </a:xfrm>
            <a:custGeom>
              <a:avLst/>
              <a:gdLst>
                <a:gd name="T0" fmla="*/ 218 w 218"/>
                <a:gd name="T1" fmla="*/ 21 h 51"/>
                <a:gd name="T2" fmla="*/ 218 w 218"/>
                <a:gd name="T3" fmla="*/ 14 h 51"/>
                <a:gd name="T4" fmla="*/ 217 w 218"/>
                <a:gd name="T5" fmla="*/ 8 h 51"/>
                <a:gd name="T6" fmla="*/ 215 w 218"/>
                <a:gd name="T7" fmla="*/ 3 h 51"/>
                <a:gd name="T8" fmla="*/ 212 w 218"/>
                <a:gd name="T9" fmla="*/ 0 h 51"/>
                <a:gd name="T10" fmla="*/ 214 w 218"/>
                <a:gd name="T11" fmla="*/ 4 h 51"/>
                <a:gd name="T12" fmla="*/ 214 w 218"/>
                <a:gd name="T13" fmla="*/ 11 h 51"/>
                <a:gd name="T14" fmla="*/ 215 w 218"/>
                <a:gd name="T15" fmla="*/ 18 h 51"/>
                <a:gd name="T16" fmla="*/ 215 w 218"/>
                <a:gd name="T17" fmla="*/ 24 h 51"/>
                <a:gd name="T18" fmla="*/ 215 w 218"/>
                <a:gd name="T19" fmla="*/ 31 h 51"/>
                <a:gd name="T20" fmla="*/ 214 w 218"/>
                <a:gd name="T21" fmla="*/ 38 h 51"/>
                <a:gd name="T22" fmla="*/ 214 w 218"/>
                <a:gd name="T23" fmla="*/ 44 h 51"/>
                <a:gd name="T24" fmla="*/ 212 w 218"/>
                <a:gd name="T25" fmla="*/ 51 h 51"/>
                <a:gd name="T26" fmla="*/ 215 w 218"/>
                <a:gd name="T27" fmla="*/ 48 h 51"/>
                <a:gd name="T28" fmla="*/ 217 w 218"/>
                <a:gd name="T29" fmla="*/ 41 h 51"/>
                <a:gd name="T30" fmla="*/ 218 w 218"/>
                <a:gd name="T31" fmla="*/ 34 h 51"/>
                <a:gd name="T32" fmla="*/ 218 w 218"/>
                <a:gd name="T33" fmla="*/ 28 h 51"/>
                <a:gd name="T34" fmla="*/ 3 w 218"/>
                <a:gd name="T35" fmla="*/ 0 h 51"/>
                <a:gd name="T36" fmla="*/ 2 w 218"/>
                <a:gd name="T37" fmla="*/ 4 h 51"/>
                <a:gd name="T38" fmla="*/ 2 w 218"/>
                <a:gd name="T39" fmla="*/ 11 h 51"/>
                <a:gd name="T40" fmla="*/ 0 w 218"/>
                <a:gd name="T41" fmla="*/ 18 h 51"/>
                <a:gd name="T42" fmla="*/ 0 w 218"/>
                <a:gd name="T43" fmla="*/ 24 h 51"/>
                <a:gd name="T44" fmla="*/ 0 w 218"/>
                <a:gd name="T45" fmla="*/ 31 h 51"/>
                <a:gd name="T46" fmla="*/ 2 w 218"/>
                <a:gd name="T47" fmla="*/ 38 h 51"/>
                <a:gd name="T48" fmla="*/ 2 w 218"/>
                <a:gd name="T49" fmla="*/ 44 h 51"/>
                <a:gd name="T50" fmla="*/ 3 w 218"/>
                <a:gd name="T51" fmla="*/ 51 h 51"/>
                <a:gd name="T52" fmla="*/ 7 w 218"/>
                <a:gd name="T53" fmla="*/ 48 h 51"/>
                <a:gd name="T54" fmla="*/ 5 w 218"/>
                <a:gd name="T55" fmla="*/ 41 h 51"/>
                <a:gd name="T56" fmla="*/ 5 w 218"/>
                <a:gd name="T57" fmla="*/ 34 h 51"/>
                <a:gd name="T58" fmla="*/ 3 w 218"/>
                <a:gd name="T59" fmla="*/ 28 h 51"/>
                <a:gd name="T60" fmla="*/ 3 w 218"/>
                <a:gd name="T61" fmla="*/ 21 h 51"/>
                <a:gd name="T62" fmla="*/ 5 w 218"/>
                <a:gd name="T63" fmla="*/ 14 h 51"/>
                <a:gd name="T64" fmla="*/ 5 w 218"/>
                <a:gd name="T65" fmla="*/ 8 h 51"/>
                <a:gd name="T66" fmla="*/ 7 w 218"/>
                <a:gd name="T67" fmla="*/ 3 h 51"/>
                <a:gd name="T68" fmla="*/ 3 w 21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8" h="51">
                  <a:moveTo>
                    <a:pt x="218" y="24"/>
                  </a:moveTo>
                  <a:lnTo>
                    <a:pt x="218" y="21"/>
                  </a:lnTo>
                  <a:lnTo>
                    <a:pt x="218" y="18"/>
                  </a:lnTo>
                  <a:lnTo>
                    <a:pt x="218" y="14"/>
                  </a:lnTo>
                  <a:lnTo>
                    <a:pt x="217" y="11"/>
                  </a:lnTo>
                  <a:lnTo>
                    <a:pt x="217" y="8"/>
                  </a:lnTo>
                  <a:lnTo>
                    <a:pt x="217" y="4"/>
                  </a:lnTo>
                  <a:lnTo>
                    <a:pt x="215" y="3"/>
                  </a:lnTo>
                  <a:lnTo>
                    <a:pt x="215" y="0"/>
                  </a:lnTo>
                  <a:lnTo>
                    <a:pt x="212" y="0"/>
                  </a:lnTo>
                  <a:lnTo>
                    <a:pt x="212" y="3"/>
                  </a:lnTo>
                  <a:lnTo>
                    <a:pt x="214" y="4"/>
                  </a:lnTo>
                  <a:lnTo>
                    <a:pt x="214" y="8"/>
                  </a:lnTo>
                  <a:lnTo>
                    <a:pt x="214" y="11"/>
                  </a:lnTo>
                  <a:lnTo>
                    <a:pt x="215" y="14"/>
                  </a:lnTo>
                  <a:lnTo>
                    <a:pt x="215" y="18"/>
                  </a:lnTo>
                  <a:lnTo>
                    <a:pt x="215" y="21"/>
                  </a:lnTo>
                  <a:lnTo>
                    <a:pt x="215" y="24"/>
                  </a:lnTo>
                  <a:lnTo>
                    <a:pt x="215" y="28"/>
                  </a:lnTo>
                  <a:lnTo>
                    <a:pt x="215" y="31"/>
                  </a:lnTo>
                  <a:lnTo>
                    <a:pt x="215" y="34"/>
                  </a:lnTo>
                  <a:lnTo>
                    <a:pt x="214" y="38"/>
                  </a:lnTo>
                  <a:lnTo>
                    <a:pt x="214" y="41"/>
                  </a:lnTo>
                  <a:lnTo>
                    <a:pt x="214" y="44"/>
                  </a:lnTo>
                  <a:lnTo>
                    <a:pt x="212" y="48"/>
                  </a:lnTo>
                  <a:lnTo>
                    <a:pt x="212" y="51"/>
                  </a:lnTo>
                  <a:lnTo>
                    <a:pt x="215" y="51"/>
                  </a:lnTo>
                  <a:lnTo>
                    <a:pt x="215" y="48"/>
                  </a:lnTo>
                  <a:lnTo>
                    <a:pt x="217" y="44"/>
                  </a:lnTo>
                  <a:lnTo>
                    <a:pt x="217" y="41"/>
                  </a:lnTo>
                  <a:lnTo>
                    <a:pt x="217" y="38"/>
                  </a:lnTo>
                  <a:lnTo>
                    <a:pt x="218" y="34"/>
                  </a:lnTo>
                  <a:lnTo>
                    <a:pt x="218" y="31"/>
                  </a:lnTo>
                  <a:lnTo>
                    <a:pt x="218" y="28"/>
                  </a:lnTo>
                  <a:lnTo>
                    <a:pt x="218"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7" y="3"/>
                  </a:lnTo>
                  <a:lnTo>
                    <a:pt x="7" y="0"/>
                  </a:lnTo>
                  <a:lnTo>
                    <a:pt x="3"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0" name="Freeform 452">
              <a:extLst>
                <a:ext uri="{FF2B5EF4-FFF2-40B4-BE49-F238E27FC236}">
                  <a16:creationId xmlns:a16="http://schemas.microsoft.com/office/drawing/2014/main" id="{34552ACE-074E-6206-7964-5450C944FB5C}"/>
                </a:ext>
              </a:extLst>
            </p:cNvPr>
            <p:cNvSpPr>
              <a:spLocks noEditPoints="1"/>
            </p:cNvSpPr>
            <p:nvPr/>
          </p:nvSpPr>
          <p:spPr bwMode="auto">
            <a:xfrm>
              <a:off x="1504" y="1713"/>
              <a:ext cx="215" cy="51"/>
            </a:xfrm>
            <a:custGeom>
              <a:avLst/>
              <a:gdLst>
                <a:gd name="T0" fmla="*/ 215 w 215"/>
                <a:gd name="T1" fmla="*/ 21 h 51"/>
                <a:gd name="T2" fmla="*/ 215 w 215"/>
                <a:gd name="T3" fmla="*/ 14 h 51"/>
                <a:gd name="T4" fmla="*/ 213 w 215"/>
                <a:gd name="T5" fmla="*/ 8 h 51"/>
                <a:gd name="T6" fmla="*/ 212 w 215"/>
                <a:gd name="T7" fmla="*/ 3 h 51"/>
                <a:gd name="T8" fmla="*/ 208 w 215"/>
                <a:gd name="T9" fmla="*/ 0 h 51"/>
                <a:gd name="T10" fmla="*/ 210 w 215"/>
                <a:gd name="T11" fmla="*/ 4 h 51"/>
                <a:gd name="T12" fmla="*/ 210 w 215"/>
                <a:gd name="T13" fmla="*/ 11 h 51"/>
                <a:gd name="T14" fmla="*/ 212 w 215"/>
                <a:gd name="T15" fmla="*/ 18 h 51"/>
                <a:gd name="T16" fmla="*/ 212 w 215"/>
                <a:gd name="T17" fmla="*/ 24 h 51"/>
                <a:gd name="T18" fmla="*/ 212 w 215"/>
                <a:gd name="T19" fmla="*/ 31 h 51"/>
                <a:gd name="T20" fmla="*/ 210 w 215"/>
                <a:gd name="T21" fmla="*/ 38 h 51"/>
                <a:gd name="T22" fmla="*/ 210 w 215"/>
                <a:gd name="T23" fmla="*/ 44 h 51"/>
                <a:gd name="T24" fmla="*/ 208 w 215"/>
                <a:gd name="T25" fmla="*/ 51 h 51"/>
                <a:gd name="T26" fmla="*/ 212 w 215"/>
                <a:gd name="T27" fmla="*/ 48 h 51"/>
                <a:gd name="T28" fmla="*/ 213 w 215"/>
                <a:gd name="T29" fmla="*/ 41 h 51"/>
                <a:gd name="T30" fmla="*/ 215 w 215"/>
                <a:gd name="T31" fmla="*/ 34 h 51"/>
                <a:gd name="T32" fmla="*/ 215 w 215"/>
                <a:gd name="T33" fmla="*/ 28 h 51"/>
                <a:gd name="T34" fmla="*/ 3 w 215"/>
                <a:gd name="T35" fmla="*/ 0 h 51"/>
                <a:gd name="T36" fmla="*/ 1 w 215"/>
                <a:gd name="T37" fmla="*/ 4 h 51"/>
                <a:gd name="T38" fmla="*/ 1 w 215"/>
                <a:gd name="T39" fmla="*/ 11 h 51"/>
                <a:gd name="T40" fmla="*/ 0 w 215"/>
                <a:gd name="T41" fmla="*/ 18 h 51"/>
                <a:gd name="T42" fmla="*/ 0 w 215"/>
                <a:gd name="T43" fmla="*/ 24 h 51"/>
                <a:gd name="T44" fmla="*/ 0 w 215"/>
                <a:gd name="T45" fmla="*/ 31 h 51"/>
                <a:gd name="T46" fmla="*/ 1 w 215"/>
                <a:gd name="T47" fmla="*/ 38 h 51"/>
                <a:gd name="T48" fmla="*/ 1 w 215"/>
                <a:gd name="T49" fmla="*/ 44 h 51"/>
                <a:gd name="T50" fmla="*/ 3 w 215"/>
                <a:gd name="T51" fmla="*/ 51 h 51"/>
                <a:gd name="T52" fmla="*/ 6 w 215"/>
                <a:gd name="T53" fmla="*/ 48 h 51"/>
                <a:gd name="T54" fmla="*/ 5 w 215"/>
                <a:gd name="T55" fmla="*/ 41 h 51"/>
                <a:gd name="T56" fmla="*/ 5 w 215"/>
                <a:gd name="T57" fmla="*/ 34 h 51"/>
                <a:gd name="T58" fmla="*/ 3 w 215"/>
                <a:gd name="T59" fmla="*/ 28 h 51"/>
                <a:gd name="T60" fmla="*/ 3 w 215"/>
                <a:gd name="T61" fmla="*/ 21 h 51"/>
                <a:gd name="T62" fmla="*/ 5 w 215"/>
                <a:gd name="T63" fmla="*/ 14 h 51"/>
                <a:gd name="T64" fmla="*/ 5 w 215"/>
                <a:gd name="T65" fmla="*/ 8 h 51"/>
                <a:gd name="T66" fmla="*/ 6 w 215"/>
                <a:gd name="T67" fmla="*/ 3 h 51"/>
                <a:gd name="T68" fmla="*/ 3 w 21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5" h="51">
                  <a:moveTo>
                    <a:pt x="215" y="24"/>
                  </a:moveTo>
                  <a:lnTo>
                    <a:pt x="215" y="21"/>
                  </a:lnTo>
                  <a:lnTo>
                    <a:pt x="215" y="18"/>
                  </a:lnTo>
                  <a:lnTo>
                    <a:pt x="215" y="14"/>
                  </a:lnTo>
                  <a:lnTo>
                    <a:pt x="213" y="11"/>
                  </a:lnTo>
                  <a:lnTo>
                    <a:pt x="213" y="8"/>
                  </a:lnTo>
                  <a:lnTo>
                    <a:pt x="213" y="4"/>
                  </a:lnTo>
                  <a:lnTo>
                    <a:pt x="212" y="3"/>
                  </a:lnTo>
                  <a:lnTo>
                    <a:pt x="212" y="0"/>
                  </a:lnTo>
                  <a:lnTo>
                    <a:pt x="208" y="0"/>
                  </a:lnTo>
                  <a:lnTo>
                    <a:pt x="208" y="3"/>
                  </a:lnTo>
                  <a:lnTo>
                    <a:pt x="210" y="4"/>
                  </a:lnTo>
                  <a:lnTo>
                    <a:pt x="210" y="8"/>
                  </a:lnTo>
                  <a:lnTo>
                    <a:pt x="210" y="11"/>
                  </a:lnTo>
                  <a:lnTo>
                    <a:pt x="212" y="14"/>
                  </a:lnTo>
                  <a:lnTo>
                    <a:pt x="212" y="18"/>
                  </a:lnTo>
                  <a:lnTo>
                    <a:pt x="212" y="21"/>
                  </a:lnTo>
                  <a:lnTo>
                    <a:pt x="212" y="24"/>
                  </a:lnTo>
                  <a:lnTo>
                    <a:pt x="212" y="28"/>
                  </a:lnTo>
                  <a:lnTo>
                    <a:pt x="212" y="31"/>
                  </a:lnTo>
                  <a:lnTo>
                    <a:pt x="212" y="34"/>
                  </a:lnTo>
                  <a:lnTo>
                    <a:pt x="210" y="38"/>
                  </a:lnTo>
                  <a:lnTo>
                    <a:pt x="210" y="41"/>
                  </a:lnTo>
                  <a:lnTo>
                    <a:pt x="210" y="44"/>
                  </a:lnTo>
                  <a:lnTo>
                    <a:pt x="208" y="48"/>
                  </a:lnTo>
                  <a:lnTo>
                    <a:pt x="208" y="51"/>
                  </a:lnTo>
                  <a:lnTo>
                    <a:pt x="212" y="51"/>
                  </a:lnTo>
                  <a:lnTo>
                    <a:pt x="212" y="48"/>
                  </a:lnTo>
                  <a:lnTo>
                    <a:pt x="213" y="44"/>
                  </a:lnTo>
                  <a:lnTo>
                    <a:pt x="213" y="41"/>
                  </a:lnTo>
                  <a:lnTo>
                    <a:pt x="213" y="38"/>
                  </a:lnTo>
                  <a:lnTo>
                    <a:pt x="215" y="34"/>
                  </a:lnTo>
                  <a:lnTo>
                    <a:pt x="215" y="31"/>
                  </a:lnTo>
                  <a:lnTo>
                    <a:pt x="215" y="28"/>
                  </a:lnTo>
                  <a:lnTo>
                    <a:pt x="215" y="24"/>
                  </a:lnTo>
                  <a:close/>
                  <a:moveTo>
                    <a:pt x="3" y="0"/>
                  </a:moveTo>
                  <a:lnTo>
                    <a:pt x="3" y="3"/>
                  </a:lnTo>
                  <a:lnTo>
                    <a:pt x="1"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1" name="Freeform 453">
              <a:extLst>
                <a:ext uri="{FF2B5EF4-FFF2-40B4-BE49-F238E27FC236}">
                  <a16:creationId xmlns:a16="http://schemas.microsoft.com/office/drawing/2014/main" id="{CA1F2748-7E55-029F-624E-A901F4172D37}"/>
                </a:ext>
              </a:extLst>
            </p:cNvPr>
            <p:cNvSpPr>
              <a:spLocks noEditPoints="1"/>
            </p:cNvSpPr>
            <p:nvPr/>
          </p:nvSpPr>
          <p:spPr bwMode="auto">
            <a:xfrm>
              <a:off x="1505" y="1713"/>
              <a:ext cx="212" cy="51"/>
            </a:xfrm>
            <a:custGeom>
              <a:avLst/>
              <a:gdLst>
                <a:gd name="T0" fmla="*/ 212 w 212"/>
                <a:gd name="T1" fmla="*/ 21 h 51"/>
                <a:gd name="T2" fmla="*/ 212 w 212"/>
                <a:gd name="T3" fmla="*/ 14 h 51"/>
                <a:gd name="T4" fmla="*/ 211 w 212"/>
                <a:gd name="T5" fmla="*/ 8 h 51"/>
                <a:gd name="T6" fmla="*/ 209 w 212"/>
                <a:gd name="T7" fmla="*/ 3 h 51"/>
                <a:gd name="T8" fmla="*/ 206 w 212"/>
                <a:gd name="T9" fmla="*/ 0 h 51"/>
                <a:gd name="T10" fmla="*/ 207 w 212"/>
                <a:gd name="T11" fmla="*/ 4 h 51"/>
                <a:gd name="T12" fmla="*/ 207 w 212"/>
                <a:gd name="T13" fmla="*/ 11 h 51"/>
                <a:gd name="T14" fmla="*/ 209 w 212"/>
                <a:gd name="T15" fmla="*/ 18 h 51"/>
                <a:gd name="T16" fmla="*/ 209 w 212"/>
                <a:gd name="T17" fmla="*/ 24 h 51"/>
                <a:gd name="T18" fmla="*/ 209 w 212"/>
                <a:gd name="T19" fmla="*/ 31 h 51"/>
                <a:gd name="T20" fmla="*/ 207 w 212"/>
                <a:gd name="T21" fmla="*/ 38 h 51"/>
                <a:gd name="T22" fmla="*/ 207 w 212"/>
                <a:gd name="T23" fmla="*/ 44 h 51"/>
                <a:gd name="T24" fmla="*/ 206 w 212"/>
                <a:gd name="T25" fmla="*/ 51 h 51"/>
                <a:gd name="T26" fmla="*/ 209 w 212"/>
                <a:gd name="T27" fmla="*/ 48 h 51"/>
                <a:gd name="T28" fmla="*/ 211 w 212"/>
                <a:gd name="T29" fmla="*/ 41 h 51"/>
                <a:gd name="T30" fmla="*/ 212 w 212"/>
                <a:gd name="T31" fmla="*/ 34 h 51"/>
                <a:gd name="T32" fmla="*/ 212 w 212"/>
                <a:gd name="T33" fmla="*/ 28 h 51"/>
                <a:gd name="T34" fmla="*/ 4 w 212"/>
                <a:gd name="T35" fmla="*/ 0 h 51"/>
                <a:gd name="T36" fmla="*/ 2 w 212"/>
                <a:gd name="T37" fmla="*/ 4 h 51"/>
                <a:gd name="T38" fmla="*/ 2 w 212"/>
                <a:gd name="T39" fmla="*/ 11 h 51"/>
                <a:gd name="T40" fmla="*/ 0 w 212"/>
                <a:gd name="T41" fmla="*/ 18 h 51"/>
                <a:gd name="T42" fmla="*/ 0 w 212"/>
                <a:gd name="T43" fmla="*/ 24 h 51"/>
                <a:gd name="T44" fmla="*/ 0 w 212"/>
                <a:gd name="T45" fmla="*/ 31 h 51"/>
                <a:gd name="T46" fmla="*/ 2 w 212"/>
                <a:gd name="T47" fmla="*/ 38 h 51"/>
                <a:gd name="T48" fmla="*/ 2 w 212"/>
                <a:gd name="T49" fmla="*/ 44 h 51"/>
                <a:gd name="T50" fmla="*/ 4 w 212"/>
                <a:gd name="T51" fmla="*/ 51 h 51"/>
                <a:gd name="T52" fmla="*/ 7 w 212"/>
                <a:gd name="T53" fmla="*/ 48 h 51"/>
                <a:gd name="T54" fmla="*/ 5 w 212"/>
                <a:gd name="T55" fmla="*/ 41 h 51"/>
                <a:gd name="T56" fmla="*/ 5 w 212"/>
                <a:gd name="T57" fmla="*/ 34 h 51"/>
                <a:gd name="T58" fmla="*/ 4 w 212"/>
                <a:gd name="T59" fmla="*/ 28 h 51"/>
                <a:gd name="T60" fmla="*/ 4 w 212"/>
                <a:gd name="T61" fmla="*/ 21 h 51"/>
                <a:gd name="T62" fmla="*/ 5 w 212"/>
                <a:gd name="T63" fmla="*/ 14 h 51"/>
                <a:gd name="T64" fmla="*/ 5 w 212"/>
                <a:gd name="T65" fmla="*/ 8 h 51"/>
                <a:gd name="T66" fmla="*/ 7 w 212"/>
                <a:gd name="T67" fmla="*/ 3 h 51"/>
                <a:gd name="T68" fmla="*/ 4 w 21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2" h="51">
                  <a:moveTo>
                    <a:pt x="212" y="24"/>
                  </a:moveTo>
                  <a:lnTo>
                    <a:pt x="212" y="21"/>
                  </a:lnTo>
                  <a:lnTo>
                    <a:pt x="212" y="18"/>
                  </a:lnTo>
                  <a:lnTo>
                    <a:pt x="212" y="14"/>
                  </a:lnTo>
                  <a:lnTo>
                    <a:pt x="211" y="11"/>
                  </a:lnTo>
                  <a:lnTo>
                    <a:pt x="211" y="8"/>
                  </a:lnTo>
                  <a:lnTo>
                    <a:pt x="211" y="4"/>
                  </a:lnTo>
                  <a:lnTo>
                    <a:pt x="209" y="3"/>
                  </a:lnTo>
                  <a:lnTo>
                    <a:pt x="209" y="0"/>
                  </a:lnTo>
                  <a:lnTo>
                    <a:pt x="206" y="0"/>
                  </a:lnTo>
                  <a:lnTo>
                    <a:pt x="206" y="3"/>
                  </a:lnTo>
                  <a:lnTo>
                    <a:pt x="207" y="4"/>
                  </a:lnTo>
                  <a:lnTo>
                    <a:pt x="207" y="8"/>
                  </a:lnTo>
                  <a:lnTo>
                    <a:pt x="207" y="11"/>
                  </a:lnTo>
                  <a:lnTo>
                    <a:pt x="209" y="14"/>
                  </a:lnTo>
                  <a:lnTo>
                    <a:pt x="209" y="18"/>
                  </a:lnTo>
                  <a:lnTo>
                    <a:pt x="209" y="21"/>
                  </a:lnTo>
                  <a:lnTo>
                    <a:pt x="209" y="24"/>
                  </a:lnTo>
                  <a:lnTo>
                    <a:pt x="209" y="28"/>
                  </a:lnTo>
                  <a:lnTo>
                    <a:pt x="209" y="31"/>
                  </a:lnTo>
                  <a:lnTo>
                    <a:pt x="209" y="34"/>
                  </a:lnTo>
                  <a:lnTo>
                    <a:pt x="207" y="38"/>
                  </a:lnTo>
                  <a:lnTo>
                    <a:pt x="207" y="41"/>
                  </a:lnTo>
                  <a:lnTo>
                    <a:pt x="207" y="44"/>
                  </a:lnTo>
                  <a:lnTo>
                    <a:pt x="206" y="48"/>
                  </a:lnTo>
                  <a:lnTo>
                    <a:pt x="206" y="51"/>
                  </a:lnTo>
                  <a:lnTo>
                    <a:pt x="209" y="51"/>
                  </a:lnTo>
                  <a:lnTo>
                    <a:pt x="209" y="48"/>
                  </a:lnTo>
                  <a:lnTo>
                    <a:pt x="211" y="44"/>
                  </a:lnTo>
                  <a:lnTo>
                    <a:pt x="211" y="41"/>
                  </a:lnTo>
                  <a:lnTo>
                    <a:pt x="211" y="38"/>
                  </a:lnTo>
                  <a:lnTo>
                    <a:pt x="212" y="34"/>
                  </a:lnTo>
                  <a:lnTo>
                    <a:pt x="212" y="31"/>
                  </a:lnTo>
                  <a:lnTo>
                    <a:pt x="212" y="28"/>
                  </a:lnTo>
                  <a:lnTo>
                    <a:pt x="212" y="24"/>
                  </a:lnTo>
                  <a:close/>
                  <a:moveTo>
                    <a:pt x="4" y="0"/>
                  </a:moveTo>
                  <a:lnTo>
                    <a:pt x="4"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7" y="0"/>
                  </a:lnTo>
                  <a:lnTo>
                    <a:pt x="4"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2" name="Freeform 454">
              <a:extLst>
                <a:ext uri="{FF2B5EF4-FFF2-40B4-BE49-F238E27FC236}">
                  <a16:creationId xmlns:a16="http://schemas.microsoft.com/office/drawing/2014/main" id="{3BA4A2AF-80FC-1B5B-39B8-F91D128EAEBD}"/>
                </a:ext>
              </a:extLst>
            </p:cNvPr>
            <p:cNvSpPr>
              <a:spLocks noEditPoints="1"/>
            </p:cNvSpPr>
            <p:nvPr/>
          </p:nvSpPr>
          <p:spPr bwMode="auto">
            <a:xfrm>
              <a:off x="1507" y="1713"/>
              <a:ext cx="209" cy="51"/>
            </a:xfrm>
            <a:custGeom>
              <a:avLst/>
              <a:gdLst>
                <a:gd name="T0" fmla="*/ 209 w 209"/>
                <a:gd name="T1" fmla="*/ 21 h 51"/>
                <a:gd name="T2" fmla="*/ 209 w 209"/>
                <a:gd name="T3" fmla="*/ 14 h 51"/>
                <a:gd name="T4" fmla="*/ 207 w 209"/>
                <a:gd name="T5" fmla="*/ 8 h 51"/>
                <a:gd name="T6" fmla="*/ 205 w 209"/>
                <a:gd name="T7" fmla="*/ 3 h 51"/>
                <a:gd name="T8" fmla="*/ 202 w 209"/>
                <a:gd name="T9" fmla="*/ 0 h 51"/>
                <a:gd name="T10" fmla="*/ 204 w 209"/>
                <a:gd name="T11" fmla="*/ 4 h 51"/>
                <a:gd name="T12" fmla="*/ 204 w 209"/>
                <a:gd name="T13" fmla="*/ 11 h 51"/>
                <a:gd name="T14" fmla="*/ 205 w 209"/>
                <a:gd name="T15" fmla="*/ 18 h 51"/>
                <a:gd name="T16" fmla="*/ 205 w 209"/>
                <a:gd name="T17" fmla="*/ 24 h 51"/>
                <a:gd name="T18" fmla="*/ 205 w 209"/>
                <a:gd name="T19" fmla="*/ 31 h 51"/>
                <a:gd name="T20" fmla="*/ 204 w 209"/>
                <a:gd name="T21" fmla="*/ 38 h 51"/>
                <a:gd name="T22" fmla="*/ 204 w 209"/>
                <a:gd name="T23" fmla="*/ 44 h 51"/>
                <a:gd name="T24" fmla="*/ 202 w 209"/>
                <a:gd name="T25" fmla="*/ 51 h 51"/>
                <a:gd name="T26" fmla="*/ 205 w 209"/>
                <a:gd name="T27" fmla="*/ 48 h 51"/>
                <a:gd name="T28" fmla="*/ 207 w 209"/>
                <a:gd name="T29" fmla="*/ 41 h 51"/>
                <a:gd name="T30" fmla="*/ 209 w 209"/>
                <a:gd name="T31" fmla="*/ 34 h 51"/>
                <a:gd name="T32" fmla="*/ 209 w 209"/>
                <a:gd name="T33" fmla="*/ 28 h 51"/>
                <a:gd name="T34" fmla="*/ 3 w 209"/>
                <a:gd name="T35" fmla="*/ 0 h 51"/>
                <a:gd name="T36" fmla="*/ 2 w 209"/>
                <a:gd name="T37" fmla="*/ 4 h 51"/>
                <a:gd name="T38" fmla="*/ 2 w 209"/>
                <a:gd name="T39" fmla="*/ 11 h 51"/>
                <a:gd name="T40" fmla="*/ 0 w 209"/>
                <a:gd name="T41" fmla="*/ 18 h 51"/>
                <a:gd name="T42" fmla="*/ 0 w 209"/>
                <a:gd name="T43" fmla="*/ 24 h 51"/>
                <a:gd name="T44" fmla="*/ 0 w 209"/>
                <a:gd name="T45" fmla="*/ 31 h 51"/>
                <a:gd name="T46" fmla="*/ 2 w 209"/>
                <a:gd name="T47" fmla="*/ 38 h 51"/>
                <a:gd name="T48" fmla="*/ 2 w 209"/>
                <a:gd name="T49" fmla="*/ 44 h 51"/>
                <a:gd name="T50" fmla="*/ 3 w 209"/>
                <a:gd name="T51" fmla="*/ 51 h 51"/>
                <a:gd name="T52" fmla="*/ 6 w 209"/>
                <a:gd name="T53" fmla="*/ 48 h 51"/>
                <a:gd name="T54" fmla="*/ 5 w 209"/>
                <a:gd name="T55" fmla="*/ 41 h 51"/>
                <a:gd name="T56" fmla="*/ 5 w 209"/>
                <a:gd name="T57" fmla="*/ 34 h 51"/>
                <a:gd name="T58" fmla="*/ 3 w 209"/>
                <a:gd name="T59" fmla="*/ 28 h 51"/>
                <a:gd name="T60" fmla="*/ 3 w 209"/>
                <a:gd name="T61" fmla="*/ 21 h 51"/>
                <a:gd name="T62" fmla="*/ 5 w 209"/>
                <a:gd name="T63" fmla="*/ 14 h 51"/>
                <a:gd name="T64" fmla="*/ 5 w 209"/>
                <a:gd name="T65" fmla="*/ 8 h 51"/>
                <a:gd name="T66" fmla="*/ 6 w 209"/>
                <a:gd name="T67" fmla="*/ 3 h 51"/>
                <a:gd name="T68" fmla="*/ 3 w 20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09" h="51">
                  <a:moveTo>
                    <a:pt x="209" y="24"/>
                  </a:moveTo>
                  <a:lnTo>
                    <a:pt x="209" y="21"/>
                  </a:lnTo>
                  <a:lnTo>
                    <a:pt x="209" y="18"/>
                  </a:lnTo>
                  <a:lnTo>
                    <a:pt x="209" y="14"/>
                  </a:lnTo>
                  <a:lnTo>
                    <a:pt x="207" y="11"/>
                  </a:lnTo>
                  <a:lnTo>
                    <a:pt x="207" y="8"/>
                  </a:lnTo>
                  <a:lnTo>
                    <a:pt x="207" y="4"/>
                  </a:lnTo>
                  <a:lnTo>
                    <a:pt x="205" y="3"/>
                  </a:lnTo>
                  <a:lnTo>
                    <a:pt x="205" y="0"/>
                  </a:lnTo>
                  <a:lnTo>
                    <a:pt x="202" y="0"/>
                  </a:lnTo>
                  <a:lnTo>
                    <a:pt x="202" y="3"/>
                  </a:lnTo>
                  <a:lnTo>
                    <a:pt x="204" y="4"/>
                  </a:lnTo>
                  <a:lnTo>
                    <a:pt x="204" y="8"/>
                  </a:lnTo>
                  <a:lnTo>
                    <a:pt x="204" y="11"/>
                  </a:lnTo>
                  <a:lnTo>
                    <a:pt x="205" y="14"/>
                  </a:lnTo>
                  <a:lnTo>
                    <a:pt x="205" y="18"/>
                  </a:lnTo>
                  <a:lnTo>
                    <a:pt x="205" y="21"/>
                  </a:lnTo>
                  <a:lnTo>
                    <a:pt x="205" y="24"/>
                  </a:lnTo>
                  <a:lnTo>
                    <a:pt x="205" y="28"/>
                  </a:lnTo>
                  <a:lnTo>
                    <a:pt x="205" y="31"/>
                  </a:lnTo>
                  <a:lnTo>
                    <a:pt x="205" y="34"/>
                  </a:lnTo>
                  <a:lnTo>
                    <a:pt x="204" y="38"/>
                  </a:lnTo>
                  <a:lnTo>
                    <a:pt x="204" y="41"/>
                  </a:lnTo>
                  <a:lnTo>
                    <a:pt x="204" y="44"/>
                  </a:lnTo>
                  <a:lnTo>
                    <a:pt x="202" y="48"/>
                  </a:lnTo>
                  <a:lnTo>
                    <a:pt x="202" y="51"/>
                  </a:lnTo>
                  <a:lnTo>
                    <a:pt x="205" y="51"/>
                  </a:lnTo>
                  <a:lnTo>
                    <a:pt x="205" y="48"/>
                  </a:lnTo>
                  <a:lnTo>
                    <a:pt x="207" y="44"/>
                  </a:lnTo>
                  <a:lnTo>
                    <a:pt x="207" y="41"/>
                  </a:lnTo>
                  <a:lnTo>
                    <a:pt x="207" y="38"/>
                  </a:lnTo>
                  <a:lnTo>
                    <a:pt x="209" y="34"/>
                  </a:lnTo>
                  <a:lnTo>
                    <a:pt x="209" y="31"/>
                  </a:lnTo>
                  <a:lnTo>
                    <a:pt x="209" y="28"/>
                  </a:lnTo>
                  <a:lnTo>
                    <a:pt x="209"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6" y="0"/>
                  </a:lnTo>
                  <a:lnTo>
                    <a:pt x="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3" name="Freeform 455">
              <a:extLst>
                <a:ext uri="{FF2B5EF4-FFF2-40B4-BE49-F238E27FC236}">
                  <a16:creationId xmlns:a16="http://schemas.microsoft.com/office/drawing/2014/main" id="{D1F65D3E-EFF9-7D05-5823-AAC9B37E555B}"/>
                </a:ext>
              </a:extLst>
            </p:cNvPr>
            <p:cNvSpPr>
              <a:spLocks noEditPoints="1"/>
            </p:cNvSpPr>
            <p:nvPr/>
          </p:nvSpPr>
          <p:spPr bwMode="auto">
            <a:xfrm>
              <a:off x="1509" y="1713"/>
              <a:ext cx="205" cy="51"/>
            </a:xfrm>
            <a:custGeom>
              <a:avLst/>
              <a:gdLst>
                <a:gd name="T0" fmla="*/ 205 w 205"/>
                <a:gd name="T1" fmla="*/ 21 h 51"/>
                <a:gd name="T2" fmla="*/ 205 w 205"/>
                <a:gd name="T3" fmla="*/ 14 h 51"/>
                <a:gd name="T4" fmla="*/ 203 w 205"/>
                <a:gd name="T5" fmla="*/ 8 h 51"/>
                <a:gd name="T6" fmla="*/ 202 w 205"/>
                <a:gd name="T7" fmla="*/ 3 h 51"/>
                <a:gd name="T8" fmla="*/ 198 w 205"/>
                <a:gd name="T9" fmla="*/ 0 h 51"/>
                <a:gd name="T10" fmla="*/ 200 w 205"/>
                <a:gd name="T11" fmla="*/ 4 h 51"/>
                <a:gd name="T12" fmla="*/ 200 w 205"/>
                <a:gd name="T13" fmla="*/ 11 h 51"/>
                <a:gd name="T14" fmla="*/ 202 w 205"/>
                <a:gd name="T15" fmla="*/ 18 h 51"/>
                <a:gd name="T16" fmla="*/ 202 w 205"/>
                <a:gd name="T17" fmla="*/ 24 h 51"/>
                <a:gd name="T18" fmla="*/ 202 w 205"/>
                <a:gd name="T19" fmla="*/ 31 h 51"/>
                <a:gd name="T20" fmla="*/ 200 w 205"/>
                <a:gd name="T21" fmla="*/ 38 h 51"/>
                <a:gd name="T22" fmla="*/ 200 w 205"/>
                <a:gd name="T23" fmla="*/ 44 h 51"/>
                <a:gd name="T24" fmla="*/ 198 w 205"/>
                <a:gd name="T25" fmla="*/ 51 h 51"/>
                <a:gd name="T26" fmla="*/ 202 w 205"/>
                <a:gd name="T27" fmla="*/ 48 h 51"/>
                <a:gd name="T28" fmla="*/ 203 w 205"/>
                <a:gd name="T29" fmla="*/ 41 h 51"/>
                <a:gd name="T30" fmla="*/ 205 w 205"/>
                <a:gd name="T31" fmla="*/ 34 h 51"/>
                <a:gd name="T32" fmla="*/ 205 w 205"/>
                <a:gd name="T33" fmla="*/ 28 h 51"/>
                <a:gd name="T34" fmla="*/ 3 w 205"/>
                <a:gd name="T35" fmla="*/ 0 h 51"/>
                <a:gd name="T36" fmla="*/ 3 w 205"/>
                <a:gd name="T37" fmla="*/ 4 h 51"/>
                <a:gd name="T38" fmla="*/ 1 w 205"/>
                <a:gd name="T39" fmla="*/ 11 h 51"/>
                <a:gd name="T40" fmla="*/ 0 w 205"/>
                <a:gd name="T41" fmla="*/ 18 h 51"/>
                <a:gd name="T42" fmla="*/ 0 w 205"/>
                <a:gd name="T43" fmla="*/ 24 h 51"/>
                <a:gd name="T44" fmla="*/ 0 w 205"/>
                <a:gd name="T45" fmla="*/ 31 h 51"/>
                <a:gd name="T46" fmla="*/ 1 w 205"/>
                <a:gd name="T47" fmla="*/ 38 h 51"/>
                <a:gd name="T48" fmla="*/ 1 w 205"/>
                <a:gd name="T49" fmla="*/ 44 h 51"/>
                <a:gd name="T50" fmla="*/ 3 w 205"/>
                <a:gd name="T51" fmla="*/ 51 h 51"/>
                <a:gd name="T52" fmla="*/ 6 w 205"/>
                <a:gd name="T53" fmla="*/ 48 h 51"/>
                <a:gd name="T54" fmla="*/ 4 w 205"/>
                <a:gd name="T55" fmla="*/ 41 h 51"/>
                <a:gd name="T56" fmla="*/ 4 w 205"/>
                <a:gd name="T57" fmla="*/ 34 h 51"/>
                <a:gd name="T58" fmla="*/ 3 w 205"/>
                <a:gd name="T59" fmla="*/ 28 h 51"/>
                <a:gd name="T60" fmla="*/ 3 w 205"/>
                <a:gd name="T61" fmla="*/ 21 h 51"/>
                <a:gd name="T62" fmla="*/ 4 w 205"/>
                <a:gd name="T63" fmla="*/ 14 h 51"/>
                <a:gd name="T64" fmla="*/ 4 w 205"/>
                <a:gd name="T65" fmla="*/ 8 h 51"/>
                <a:gd name="T66" fmla="*/ 6 w 205"/>
                <a:gd name="T67" fmla="*/ 3 h 51"/>
                <a:gd name="T68" fmla="*/ 3 w 20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05" h="51">
                  <a:moveTo>
                    <a:pt x="205" y="24"/>
                  </a:moveTo>
                  <a:lnTo>
                    <a:pt x="205" y="21"/>
                  </a:lnTo>
                  <a:lnTo>
                    <a:pt x="205" y="18"/>
                  </a:lnTo>
                  <a:lnTo>
                    <a:pt x="205" y="14"/>
                  </a:lnTo>
                  <a:lnTo>
                    <a:pt x="203" y="11"/>
                  </a:lnTo>
                  <a:lnTo>
                    <a:pt x="203" y="8"/>
                  </a:lnTo>
                  <a:lnTo>
                    <a:pt x="203" y="4"/>
                  </a:lnTo>
                  <a:lnTo>
                    <a:pt x="202" y="3"/>
                  </a:lnTo>
                  <a:lnTo>
                    <a:pt x="202" y="0"/>
                  </a:lnTo>
                  <a:lnTo>
                    <a:pt x="198" y="0"/>
                  </a:lnTo>
                  <a:lnTo>
                    <a:pt x="198" y="3"/>
                  </a:lnTo>
                  <a:lnTo>
                    <a:pt x="200" y="4"/>
                  </a:lnTo>
                  <a:lnTo>
                    <a:pt x="200" y="8"/>
                  </a:lnTo>
                  <a:lnTo>
                    <a:pt x="200" y="11"/>
                  </a:lnTo>
                  <a:lnTo>
                    <a:pt x="202" y="14"/>
                  </a:lnTo>
                  <a:lnTo>
                    <a:pt x="202" y="18"/>
                  </a:lnTo>
                  <a:lnTo>
                    <a:pt x="202" y="21"/>
                  </a:lnTo>
                  <a:lnTo>
                    <a:pt x="202" y="24"/>
                  </a:lnTo>
                  <a:lnTo>
                    <a:pt x="202" y="28"/>
                  </a:lnTo>
                  <a:lnTo>
                    <a:pt x="202" y="31"/>
                  </a:lnTo>
                  <a:lnTo>
                    <a:pt x="202" y="34"/>
                  </a:lnTo>
                  <a:lnTo>
                    <a:pt x="200" y="38"/>
                  </a:lnTo>
                  <a:lnTo>
                    <a:pt x="200" y="41"/>
                  </a:lnTo>
                  <a:lnTo>
                    <a:pt x="200" y="44"/>
                  </a:lnTo>
                  <a:lnTo>
                    <a:pt x="198" y="48"/>
                  </a:lnTo>
                  <a:lnTo>
                    <a:pt x="198" y="51"/>
                  </a:lnTo>
                  <a:lnTo>
                    <a:pt x="202" y="51"/>
                  </a:lnTo>
                  <a:lnTo>
                    <a:pt x="202" y="48"/>
                  </a:lnTo>
                  <a:lnTo>
                    <a:pt x="203" y="44"/>
                  </a:lnTo>
                  <a:lnTo>
                    <a:pt x="203" y="41"/>
                  </a:lnTo>
                  <a:lnTo>
                    <a:pt x="203" y="38"/>
                  </a:lnTo>
                  <a:lnTo>
                    <a:pt x="205" y="34"/>
                  </a:lnTo>
                  <a:lnTo>
                    <a:pt x="205" y="31"/>
                  </a:lnTo>
                  <a:lnTo>
                    <a:pt x="205" y="28"/>
                  </a:lnTo>
                  <a:lnTo>
                    <a:pt x="205" y="24"/>
                  </a:lnTo>
                  <a:close/>
                  <a:moveTo>
                    <a:pt x="3"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4" y="44"/>
                  </a:lnTo>
                  <a:lnTo>
                    <a:pt x="4" y="41"/>
                  </a:lnTo>
                  <a:lnTo>
                    <a:pt x="4" y="38"/>
                  </a:lnTo>
                  <a:lnTo>
                    <a:pt x="4" y="34"/>
                  </a:lnTo>
                  <a:lnTo>
                    <a:pt x="3" y="31"/>
                  </a:lnTo>
                  <a:lnTo>
                    <a:pt x="3" y="28"/>
                  </a:lnTo>
                  <a:lnTo>
                    <a:pt x="3" y="24"/>
                  </a:lnTo>
                  <a:lnTo>
                    <a:pt x="3" y="21"/>
                  </a:lnTo>
                  <a:lnTo>
                    <a:pt x="3" y="18"/>
                  </a:lnTo>
                  <a:lnTo>
                    <a:pt x="4" y="14"/>
                  </a:lnTo>
                  <a:lnTo>
                    <a:pt x="4" y="11"/>
                  </a:lnTo>
                  <a:lnTo>
                    <a:pt x="4" y="8"/>
                  </a:lnTo>
                  <a:lnTo>
                    <a:pt x="6" y="4"/>
                  </a:lnTo>
                  <a:lnTo>
                    <a:pt x="6" y="3"/>
                  </a:lnTo>
                  <a:lnTo>
                    <a:pt x="6" y="0"/>
                  </a:lnTo>
                  <a:lnTo>
                    <a:pt x="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4" name="Freeform 456">
              <a:extLst>
                <a:ext uri="{FF2B5EF4-FFF2-40B4-BE49-F238E27FC236}">
                  <a16:creationId xmlns:a16="http://schemas.microsoft.com/office/drawing/2014/main" id="{A4A4648E-807F-6DB1-DF32-FA2595964CAF}"/>
                </a:ext>
              </a:extLst>
            </p:cNvPr>
            <p:cNvSpPr>
              <a:spLocks noEditPoints="1"/>
            </p:cNvSpPr>
            <p:nvPr/>
          </p:nvSpPr>
          <p:spPr bwMode="auto">
            <a:xfrm>
              <a:off x="1510" y="1713"/>
              <a:ext cx="202" cy="51"/>
            </a:xfrm>
            <a:custGeom>
              <a:avLst/>
              <a:gdLst>
                <a:gd name="T0" fmla="*/ 202 w 202"/>
                <a:gd name="T1" fmla="*/ 21 h 51"/>
                <a:gd name="T2" fmla="*/ 202 w 202"/>
                <a:gd name="T3" fmla="*/ 14 h 51"/>
                <a:gd name="T4" fmla="*/ 201 w 202"/>
                <a:gd name="T5" fmla="*/ 8 h 51"/>
                <a:gd name="T6" fmla="*/ 199 w 202"/>
                <a:gd name="T7" fmla="*/ 3 h 51"/>
                <a:gd name="T8" fmla="*/ 196 w 202"/>
                <a:gd name="T9" fmla="*/ 0 h 51"/>
                <a:gd name="T10" fmla="*/ 197 w 202"/>
                <a:gd name="T11" fmla="*/ 4 h 51"/>
                <a:gd name="T12" fmla="*/ 197 w 202"/>
                <a:gd name="T13" fmla="*/ 11 h 51"/>
                <a:gd name="T14" fmla="*/ 199 w 202"/>
                <a:gd name="T15" fmla="*/ 18 h 51"/>
                <a:gd name="T16" fmla="*/ 199 w 202"/>
                <a:gd name="T17" fmla="*/ 24 h 51"/>
                <a:gd name="T18" fmla="*/ 199 w 202"/>
                <a:gd name="T19" fmla="*/ 31 h 51"/>
                <a:gd name="T20" fmla="*/ 197 w 202"/>
                <a:gd name="T21" fmla="*/ 38 h 51"/>
                <a:gd name="T22" fmla="*/ 197 w 202"/>
                <a:gd name="T23" fmla="*/ 44 h 51"/>
                <a:gd name="T24" fmla="*/ 196 w 202"/>
                <a:gd name="T25" fmla="*/ 51 h 51"/>
                <a:gd name="T26" fmla="*/ 199 w 202"/>
                <a:gd name="T27" fmla="*/ 48 h 51"/>
                <a:gd name="T28" fmla="*/ 201 w 202"/>
                <a:gd name="T29" fmla="*/ 41 h 51"/>
                <a:gd name="T30" fmla="*/ 202 w 202"/>
                <a:gd name="T31" fmla="*/ 34 h 51"/>
                <a:gd name="T32" fmla="*/ 202 w 202"/>
                <a:gd name="T33" fmla="*/ 28 h 51"/>
                <a:gd name="T34" fmla="*/ 3 w 202"/>
                <a:gd name="T35" fmla="*/ 0 h 51"/>
                <a:gd name="T36" fmla="*/ 3 w 202"/>
                <a:gd name="T37" fmla="*/ 4 h 51"/>
                <a:gd name="T38" fmla="*/ 2 w 202"/>
                <a:gd name="T39" fmla="*/ 11 h 51"/>
                <a:gd name="T40" fmla="*/ 0 w 202"/>
                <a:gd name="T41" fmla="*/ 18 h 51"/>
                <a:gd name="T42" fmla="*/ 0 w 202"/>
                <a:gd name="T43" fmla="*/ 24 h 51"/>
                <a:gd name="T44" fmla="*/ 0 w 202"/>
                <a:gd name="T45" fmla="*/ 31 h 51"/>
                <a:gd name="T46" fmla="*/ 2 w 202"/>
                <a:gd name="T47" fmla="*/ 38 h 51"/>
                <a:gd name="T48" fmla="*/ 2 w 202"/>
                <a:gd name="T49" fmla="*/ 44 h 51"/>
                <a:gd name="T50" fmla="*/ 3 w 202"/>
                <a:gd name="T51" fmla="*/ 51 h 51"/>
                <a:gd name="T52" fmla="*/ 7 w 202"/>
                <a:gd name="T53" fmla="*/ 48 h 51"/>
                <a:gd name="T54" fmla="*/ 5 w 202"/>
                <a:gd name="T55" fmla="*/ 41 h 51"/>
                <a:gd name="T56" fmla="*/ 5 w 202"/>
                <a:gd name="T57" fmla="*/ 34 h 51"/>
                <a:gd name="T58" fmla="*/ 3 w 202"/>
                <a:gd name="T59" fmla="*/ 28 h 51"/>
                <a:gd name="T60" fmla="*/ 3 w 202"/>
                <a:gd name="T61" fmla="*/ 21 h 51"/>
                <a:gd name="T62" fmla="*/ 5 w 202"/>
                <a:gd name="T63" fmla="*/ 14 h 51"/>
                <a:gd name="T64" fmla="*/ 5 w 202"/>
                <a:gd name="T65" fmla="*/ 8 h 51"/>
                <a:gd name="T66" fmla="*/ 7 w 202"/>
                <a:gd name="T67" fmla="*/ 3 h 51"/>
                <a:gd name="T68" fmla="*/ 3 w 20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02" h="51">
                  <a:moveTo>
                    <a:pt x="202" y="24"/>
                  </a:moveTo>
                  <a:lnTo>
                    <a:pt x="202" y="21"/>
                  </a:lnTo>
                  <a:lnTo>
                    <a:pt x="202" y="18"/>
                  </a:lnTo>
                  <a:lnTo>
                    <a:pt x="202" y="14"/>
                  </a:lnTo>
                  <a:lnTo>
                    <a:pt x="201" y="11"/>
                  </a:lnTo>
                  <a:lnTo>
                    <a:pt x="201" y="8"/>
                  </a:lnTo>
                  <a:lnTo>
                    <a:pt x="201" y="4"/>
                  </a:lnTo>
                  <a:lnTo>
                    <a:pt x="199" y="3"/>
                  </a:lnTo>
                  <a:lnTo>
                    <a:pt x="199" y="0"/>
                  </a:lnTo>
                  <a:lnTo>
                    <a:pt x="196" y="0"/>
                  </a:lnTo>
                  <a:lnTo>
                    <a:pt x="196" y="3"/>
                  </a:lnTo>
                  <a:lnTo>
                    <a:pt x="197" y="4"/>
                  </a:lnTo>
                  <a:lnTo>
                    <a:pt x="197" y="8"/>
                  </a:lnTo>
                  <a:lnTo>
                    <a:pt x="197" y="11"/>
                  </a:lnTo>
                  <a:lnTo>
                    <a:pt x="199" y="14"/>
                  </a:lnTo>
                  <a:lnTo>
                    <a:pt x="199" y="18"/>
                  </a:lnTo>
                  <a:lnTo>
                    <a:pt x="199" y="21"/>
                  </a:lnTo>
                  <a:lnTo>
                    <a:pt x="199" y="24"/>
                  </a:lnTo>
                  <a:lnTo>
                    <a:pt x="199" y="28"/>
                  </a:lnTo>
                  <a:lnTo>
                    <a:pt x="199" y="31"/>
                  </a:lnTo>
                  <a:lnTo>
                    <a:pt x="199" y="34"/>
                  </a:lnTo>
                  <a:lnTo>
                    <a:pt x="197" y="38"/>
                  </a:lnTo>
                  <a:lnTo>
                    <a:pt x="197" y="41"/>
                  </a:lnTo>
                  <a:lnTo>
                    <a:pt x="197" y="44"/>
                  </a:lnTo>
                  <a:lnTo>
                    <a:pt x="196" y="48"/>
                  </a:lnTo>
                  <a:lnTo>
                    <a:pt x="196" y="51"/>
                  </a:lnTo>
                  <a:lnTo>
                    <a:pt x="199" y="51"/>
                  </a:lnTo>
                  <a:lnTo>
                    <a:pt x="199" y="48"/>
                  </a:lnTo>
                  <a:lnTo>
                    <a:pt x="201" y="44"/>
                  </a:lnTo>
                  <a:lnTo>
                    <a:pt x="201" y="41"/>
                  </a:lnTo>
                  <a:lnTo>
                    <a:pt x="201" y="38"/>
                  </a:lnTo>
                  <a:lnTo>
                    <a:pt x="202" y="34"/>
                  </a:lnTo>
                  <a:lnTo>
                    <a:pt x="202" y="31"/>
                  </a:lnTo>
                  <a:lnTo>
                    <a:pt x="202" y="28"/>
                  </a:lnTo>
                  <a:lnTo>
                    <a:pt x="202" y="24"/>
                  </a:lnTo>
                  <a:close/>
                  <a:moveTo>
                    <a:pt x="3"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7" y="0"/>
                  </a:lnTo>
                  <a:lnTo>
                    <a:pt x="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5" name="Freeform 457">
              <a:extLst>
                <a:ext uri="{FF2B5EF4-FFF2-40B4-BE49-F238E27FC236}">
                  <a16:creationId xmlns:a16="http://schemas.microsoft.com/office/drawing/2014/main" id="{24FE2234-122A-149B-7B7F-E2D828D4253A}"/>
                </a:ext>
              </a:extLst>
            </p:cNvPr>
            <p:cNvSpPr>
              <a:spLocks noEditPoints="1"/>
            </p:cNvSpPr>
            <p:nvPr/>
          </p:nvSpPr>
          <p:spPr bwMode="auto">
            <a:xfrm>
              <a:off x="1512" y="1713"/>
              <a:ext cx="199" cy="51"/>
            </a:xfrm>
            <a:custGeom>
              <a:avLst/>
              <a:gdLst>
                <a:gd name="T0" fmla="*/ 199 w 199"/>
                <a:gd name="T1" fmla="*/ 21 h 51"/>
                <a:gd name="T2" fmla="*/ 199 w 199"/>
                <a:gd name="T3" fmla="*/ 14 h 51"/>
                <a:gd name="T4" fmla="*/ 197 w 199"/>
                <a:gd name="T5" fmla="*/ 8 h 51"/>
                <a:gd name="T6" fmla="*/ 195 w 199"/>
                <a:gd name="T7" fmla="*/ 3 h 51"/>
                <a:gd name="T8" fmla="*/ 192 w 199"/>
                <a:gd name="T9" fmla="*/ 0 h 51"/>
                <a:gd name="T10" fmla="*/ 194 w 199"/>
                <a:gd name="T11" fmla="*/ 4 h 51"/>
                <a:gd name="T12" fmla="*/ 194 w 199"/>
                <a:gd name="T13" fmla="*/ 11 h 51"/>
                <a:gd name="T14" fmla="*/ 195 w 199"/>
                <a:gd name="T15" fmla="*/ 18 h 51"/>
                <a:gd name="T16" fmla="*/ 195 w 199"/>
                <a:gd name="T17" fmla="*/ 24 h 51"/>
                <a:gd name="T18" fmla="*/ 195 w 199"/>
                <a:gd name="T19" fmla="*/ 31 h 51"/>
                <a:gd name="T20" fmla="*/ 194 w 199"/>
                <a:gd name="T21" fmla="*/ 38 h 51"/>
                <a:gd name="T22" fmla="*/ 194 w 199"/>
                <a:gd name="T23" fmla="*/ 44 h 51"/>
                <a:gd name="T24" fmla="*/ 192 w 199"/>
                <a:gd name="T25" fmla="*/ 51 h 51"/>
                <a:gd name="T26" fmla="*/ 195 w 199"/>
                <a:gd name="T27" fmla="*/ 48 h 51"/>
                <a:gd name="T28" fmla="*/ 197 w 199"/>
                <a:gd name="T29" fmla="*/ 41 h 51"/>
                <a:gd name="T30" fmla="*/ 199 w 199"/>
                <a:gd name="T31" fmla="*/ 34 h 51"/>
                <a:gd name="T32" fmla="*/ 199 w 199"/>
                <a:gd name="T33" fmla="*/ 28 h 51"/>
                <a:gd name="T34" fmla="*/ 3 w 199"/>
                <a:gd name="T35" fmla="*/ 0 h 51"/>
                <a:gd name="T36" fmla="*/ 3 w 199"/>
                <a:gd name="T37" fmla="*/ 4 h 51"/>
                <a:gd name="T38" fmla="*/ 1 w 199"/>
                <a:gd name="T39" fmla="*/ 11 h 51"/>
                <a:gd name="T40" fmla="*/ 0 w 199"/>
                <a:gd name="T41" fmla="*/ 18 h 51"/>
                <a:gd name="T42" fmla="*/ 0 w 199"/>
                <a:gd name="T43" fmla="*/ 24 h 51"/>
                <a:gd name="T44" fmla="*/ 0 w 199"/>
                <a:gd name="T45" fmla="*/ 31 h 51"/>
                <a:gd name="T46" fmla="*/ 1 w 199"/>
                <a:gd name="T47" fmla="*/ 38 h 51"/>
                <a:gd name="T48" fmla="*/ 1 w 199"/>
                <a:gd name="T49" fmla="*/ 44 h 51"/>
                <a:gd name="T50" fmla="*/ 3 w 199"/>
                <a:gd name="T51" fmla="*/ 51 h 51"/>
                <a:gd name="T52" fmla="*/ 6 w 199"/>
                <a:gd name="T53" fmla="*/ 48 h 51"/>
                <a:gd name="T54" fmla="*/ 5 w 199"/>
                <a:gd name="T55" fmla="*/ 41 h 51"/>
                <a:gd name="T56" fmla="*/ 5 w 199"/>
                <a:gd name="T57" fmla="*/ 34 h 51"/>
                <a:gd name="T58" fmla="*/ 3 w 199"/>
                <a:gd name="T59" fmla="*/ 28 h 51"/>
                <a:gd name="T60" fmla="*/ 3 w 199"/>
                <a:gd name="T61" fmla="*/ 21 h 51"/>
                <a:gd name="T62" fmla="*/ 5 w 199"/>
                <a:gd name="T63" fmla="*/ 14 h 51"/>
                <a:gd name="T64" fmla="*/ 5 w 199"/>
                <a:gd name="T65" fmla="*/ 8 h 51"/>
                <a:gd name="T66" fmla="*/ 6 w 199"/>
                <a:gd name="T67" fmla="*/ 3 h 51"/>
                <a:gd name="T68" fmla="*/ 3 w 19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9" h="51">
                  <a:moveTo>
                    <a:pt x="199" y="24"/>
                  </a:moveTo>
                  <a:lnTo>
                    <a:pt x="199" y="21"/>
                  </a:lnTo>
                  <a:lnTo>
                    <a:pt x="199" y="18"/>
                  </a:lnTo>
                  <a:lnTo>
                    <a:pt x="199" y="14"/>
                  </a:lnTo>
                  <a:lnTo>
                    <a:pt x="197" y="11"/>
                  </a:lnTo>
                  <a:lnTo>
                    <a:pt x="197" y="8"/>
                  </a:lnTo>
                  <a:lnTo>
                    <a:pt x="197" y="4"/>
                  </a:lnTo>
                  <a:lnTo>
                    <a:pt x="195" y="3"/>
                  </a:lnTo>
                  <a:lnTo>
                    <a:pt x="195" y="0"/>
                  </a:lnTo>
                  <a:lnTo>
                    <a:pt x="192" y="0"/>
                  </a:lnTo>
                  <a:lnTo>
                    <a:pt x="192" y="3"/>
                  </a:lnTo>
                  <a:lnTo>
                    <a:pt x="194" y="4"/>
                  </a:lnTo>
                  <a:lnTo>
                    <a:pt x="194" y="8"/>
                  </a:lnTo>
                  <a:lnTo>
                    <a:pt x="194" y="11"/>
                  </a:lnTo>
                  <a:lnTo>
                    <a:pt x="195" y="14"/>
                  </a:lnTo>
                  <a:lnTo>
                    <a:pt x="195" y="18"/>
                  </a:lnTo>
                  <a:lnTo>
                    <a:pt x="195" y="21"/>
                  </a:lnTo>
                  <a:lnTo>
                    <a:pt x="195" y="24"/>
                  </a:lnTo>
                  <a:lnTo>
                    <a:pt x="195" y="28"/>
                  </a:lnTo>
                  <a:lnTo>
                    <a:pt x="195" y="31"/>
                  </a:lnTo>
                  <a:lnTo>
                    <a:pt x="195" y="34"/>
                  </a:lnTo>
                  <a:lnTo>
                    <a:pt x="194" y="38"/>
                  </a:lnTo>
                  <a:lnTo>
                    <a:pt x="194" y="41"/>
                  </a:lnTo>
                  <a:lnTo>
                    <a:pt x="194" y="44"/>
                  </a:lnTo>
                  <a:lnTo>
                    <a:pt x="192" y="48"/>
                  </a:lnTo>
                  <a:lnTo>
                    <a:pt x="192" y="51"/>
                  </a:lnTo>
                  <a:lnTo>
                    <a:pt x="195" y="51"/>
                  </a:lnTo>
                  <a:lnTo>
                    <a:pt x="195" y="48"/>
                  </a:lnTo>
                  <a:lnTo>
                    <a:pt x="197" y="44"/>
                  </a:lnTo>
                  <a:lnTo>
                    <a:pt x="197" y="41"/>
                  </a:lnTo>
                  <a:lnTo>
                    <a:pt x="197" y="38"/>
                  </a:lnTo>
                  <a:lnTo>
                    <a:pt x="199" y="34"/>
                  </a:lnTo>
                  <a:lnTo>
                    <a:pt x="199" y="31"/>
                  </a:lnTo>
                  <a:lnTo>
                    <a:pt x="199" y="28"/>
                  </a:lnTo>
                  <a:lnTo>
                    <a:pt x="199" y="24"/>
                  </a:lnTo>
                  <a:close/>
                  <a:moveTo>
                    <a:pt x="3"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6" name="Freeform 458">
              <a:extLst>
                <a:ext uri="{FF2B5EF4-FFF2-40B4-BE49-F238E27FC236}">
                  <a16:creationId xmlns:a16="http://schemas.microsoft.com/office/drawing/2014/main" id="{6BFEA15C-8799-58F7-5E67-F8AD17BF0D43}"/>
                </a:ext>
              </a:extLst>
            </p:cNvPr>
            <p:cNvSpPr>
              <a:spLocks noEditPoints="1"/>
            </p:cNvSpPr>
            <p:nvPr/>
          </p:nvSpPr>
          <p:spPr bwMode="auto">
            <a:xfrm>
              <a:off x="1513" y="1713"/>
              <a:ext cx="196" cy="51"/>
            </a:xfrm>
            <a:custGeom>
              <a:avLst/>
              <a:gdLst>
                <a:gd name="T0" fmla="*/ 196 w 196"/>
                <a:gd name="T1" fmla="*/ 21 h 51"/>
                <a:gd name="T2" fmla="*/ 196 w 196"/>
                <a:gd name="T3" fmla="*/ 14 h 51"/>
                <a:gd name="T4" fmla="*/ 194 w 196"/>
                <a:gd name="T5" fmla="*/ 8 h 51"/>
                <a:gd name="T6" fmla="*/ 193 w 196"/>
                <a:gd name="T7" fmla="*/ 3 h 51"/>
                <a:gd name="T8" fmla="*/ 189 w 196"/>
                <a:gd name="T9" fmla="*/ 0 h 51"/>
                <a:gd name="T10" fmla="*/ 191 w 196"/>
                <a:gd name="T11" fmla="*/ 4 h 51"/>
                <a:gd name="T12" fmla="*/ 191 w 196"/>
                <a:gd name="T13" fmla="*/ 11 h 51"/>
                <a:gd name="T14" fmla="*/ 193 w 196"/>
                <a:gd name="T15" fmla="*/ 18 h 51"/>
                <a:gd name="T16" fmla="*/ 193 w 196"/>
                <a:gd name="T17" fmla="*/ 24 h 51"/>
                <a:gd name="T18" fmla="*/ 193 w 196"/>
                <a:gd name="T19" fmla="*/ 31 h 51"/>
                <a:gd name="T20" fmla="*/ 191 w 196"/>
                <a:gd name="T21" fmla="*/ 38 h 51"/>
                <a:gd name="T22" fmla="*/ 191 w 196"/>
                <a:gd name="T23" fmla="*/ 44 h 51"/>
                <a:gd name="T24" fmla="*/ 189 w 196"/>
                <a:gd name="T25" fmla="*/ 51 h 51"/>
                <a:gd name="T26" fmla="*/ 193 w 196"/>
                <a:gd name="T27" fmla="*/ 48 h 51"/>
                <a:gd name="T28" fmla="*/ 194 w 196"/>
                <a:gd name="T29" fmla="*/ 41 h 51"/>
                <a:gd name="T30" fmla="*/ 196 w 196"/>
                <a:gd name="T31" fmla="*/ 34 h 51"/>
                <a:gd name="T32" fmla="*/ 196 w 196"/>
                <a:gd name="T33" fmla="*/ 28 h 51"/>
                <a:gd name="T34" fmla="*/ 4 w 196"/>
                <a:gd name="T35" fmla="*/ 0 h 51"/>
                <a:gd name="T36" fmla="*/ 4 w 196"/>
                <a:gd name="T37" fmla="*/ 4 h 51"/>
                <a:gd name="T38" fmla="*/ 2 w 196"/>
                <a:gd name="T39" fmla="*/ 11 h 51"/>
                <a:gd name="T40" fmla="*/ 0 w 196"/>
                <a:gd name="T41" fmla="*/ 18 h 51"/>
                <a:gd name="T42" fmla="*/ 0 w 196"/>
                <a:gd name="T43" fmla="*/ 24 h 51"/>
                <a:gd name="T44" fmla="*/ 0 w 196"/>
                <a:gd name="T45" fmla="*/ 31 h 51"/>
                <a:gd name="T46" fmla="*/ 2 w 196"/>
                <a:gd name="T47" fmla="*/ 38 h 51"/>
                <a:gd name="T48" fmla="*/ 2 w 196"/>
                <a:gd name="T49" fmla="*/ 44 h 51"/>
                <a:gd name="T50" fmla="*/ 4 w 196"/>
                <a:gd name="T51" fmla="*/ 51 h 51"/>
                <a:gd name="T52" fmla="*/ 7 w 196"/>
                <a:gd name="T53" fmla="*/ 48 h 51"/>
                <a:gd name="T54" fmla="*/ 5 w 196"/>
                <a:gd name="T55" fmla="*/ 41 h 51"/>
                <a:gd name="T56" fmla="*/ 5 w 196"/>
                <a:gd name="T57" fmla="*/ 34 h 51"/>
                <a:gd name="T58" fmla="*/ 4 w 196"/>
                <a:gd name="T59" fmla="*/ 28 h 51"/>
                <a:gd name="T60" fmla="*/ 4 w 196"/>
                <a:gd name="T61" fmla="*/ 21 h 51"/>
                <a:gd name="T62" fmla="*/ 5 w 196"/>
                <a:gd name="T63" fmla="*/ 14 h 51"/>
                <a:gd name="T64" fmla="*/ 5 w 196"/>
                <a:gd name="T65" fmla="*/ 8 h 51"/>
                <a:gd name="T66" fmla="*/ 7 w 196"/>
                <a:gd name="T67" fmla="*/ 3 h 51"/>
                <a:gd name="T68" fmla="*/ 4 w 1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6" h="51">
                  <a:moveTo>
                    <a:pt x="196" y="24"/>
                  </a:moveTo>
                  <a:lnTo>
                    <a:pt x="196" y="21"/>
                  </a:lnTo>
                  <a:lnTo>
                    <a:pt x="196" y="18"/>
                  </a:lnTo>
                  <a:lnTo>
                    <a:pt x="196" y="14"/>
                  </a:lnTo>
                  <a:lnTo>
                    <a:pt x="194" y="11"/>
                  </a:lnTo>
                  <a:lnTo>
                    <a:pt x="194" y="8"/>
                  </a:lnTo>
                  <a:lnTo>
                    <a:pt x="194" y="4"/>
                  </a:lnTo>
                  <a:lnTo>
                    <a:pt x="193" y="3"/>
                  </a:lnTo>
                  <a:lnTo>
                    <a:pt x="193" y="0"/>
                  </a:lnTo>
                  <a:lnTo>
                    <a:pt x="189" y="0"/>
                  </a:lnTo>
                  <a:lnTo>
                    <a:pt x="189" y="3"/>
                  </a:lnTo>
                  <a:lnTo>
                    <a:pt x="191" y="4"/>
                  </a:lnTo>
                  <a:lnTo>
                    <a:pt x="191" y="8"/>
                  </a:lnTo>
                  <a:lnTo>
                    <a:pt x="191" y="11"/>
                  </a:lnTo>
                  <a:lnTo>
                    <a:pt x="193" y="14"/>
                  </a:lnTo>
                  <a:lnTo>
                    <a:pt x="193" y="18"/>
                  </a:lnTo>
                  <a:lnTo>
                    <a:pt x="193" y="21"/>
                  </a:lnTo>
                  <a:lnTo>
                    <a:pt x="193" y="24"/>
                  </a:lnTo>
                  <a:lnTo>
                    <a:pt x="193" y="28"/>
                  </a:lnTo>
                  <a:lnTo>
                    <a:pt x="193" y="31"/>
                  </a:lnTo>
                  <a:lnTo>
                    <a:pt x="193" y="34"/>
                  </a:lnTo>
                  <a:lnTo>
                    <a:pt x="191" y="38"/>
                  </a:lnTo>
                  <a:lnTo>
                    <a:pt x="191" y="41"/>
                  </a:lnTo>
                  <a:lnTo>
                    <a:pt x="191" y="44"/>
                  </a:lnTo>
                  <a:lnTo>
                    <a:pt x="189" y="48"/>
                  </a:lnTo>
                  <a:lnTo>
                    <a:pt x="189" y="51"/>
                  </a:lnTo>
                  <a:lnTo>
                    <a:pt x="193" y="51"/>
                  </a:lnTo>
                  <a:lnTo>
                    <a:pt x="193" y="48"/>
                  </a:lnTo>
                  <a:lnTo>
                    <a:pt x="194" y="44"/>
                  </a:lnTo>
                  <a:lnTo>
                    <a:pt x="194" y="41"/>
                  </a:lnTo>
                  <a:lnTo>
                    <a:pt x="194" y="38"/>
                  </a:lnTo>
                  <a:lnTo>
                    <a:pt x="196" y="34"/>
                  </a:lnTo>
                  <a:lnTo>
                    <a:pt x="196" y="31"/>
                  </a:lnTo>
                  <a:lnTo>
                    <a:pt x="196" y="28"/>
                  </a:lnTo>
                  <a:lnTo>
                    <a:pt x="196" y="24"/>
                  </a:lnTo>
                  <a:close/>
                  <a:moveTo>
                    <a:pt x="4"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9" y="0"/>
                  </a:lnTo>
                  <a:lnTo>
                    <a:pt x="4"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7" name="Freeform 459">
              <a:extLst>
                <a:ext uri="{FF2B5EF4-FFF2-40B4-BE49-F238E27FC236}">
                  <a16:creationId xmlns:a16="http://schemas.microsoft.com/office/drawing/2014/main" id="{76814115-6D36-F900-AB5D-CF1798A0DEB2}"/>
                </a:ext>
              </a:extLst>
            </p:cNvPr>
            <p:cNvSpPr>
              <a:spLocks noEditPoints="1"/>
            </p:cNvSpPr>
            <p:nvPr/>
          </p:nvSpPr>
          <p:spPr bwMode="auto">
            <a:xfrm>
              <a:off x="1515" y="1713"/>
              <a:ext cx="192" cy="51"/>
            </a:xfrm>
            <a:custGeom>
              <a:avLst/>
              <a:gdLst>
                <a:gd name="T0" fmla="*/ 192 w 192"/>
                <a:gd name="T1" fmla="*/ 21 h 51"/>
                <a:gd name="T2" fmla="*/ 192 w 192"/>
                <a:gd name="T3" fmla="*/ 14 h 51"/>
                <a:gd name="T4" fmla="*/ 191 w 192"/>
                <a:gd name="T5" fmla="*/ 8 h 51"/>
                <a:gd name="T6" fmla="*/ 189 w 192"/>
                <a:gd name="T7" fmla="*/ 3 h 51"/>
                <a:gd name="T8" fmla="*/ 186 w 192"/>
                <a:gd name="T9" fmla="*/ 0 h 51"/>
                <a:gd name="T10" fmla="*/ 187 w 192"/>
                <a:gd name="T11" fmla="*/ 4 h 51"/>
                <a:gd name="T12" fmla="*/ 187 w 192"/>
                <a:gd name="T13" fmla="*/ 11 h 51"/>
                <a:gd name="T14" fmla="*/ 189 w 192"/>
                <a:gd name="T15" fmla="*/ 18 h 51"/>
                <a:gd name="T16" fmla="*/ 189 w 192"/>
                <a:gd name="T17" fmla="*/ 24 h 51"/>
                <a:gd name="T18" fmla="*/ 189 w 192"/>
                <a:gd name="T19" fmla="*/ 31 h 51"/>
                <a:gd name="T20" fmla="*/ 187 w 192"/>
                <a:gd name="T21" fmla="*/ 38 h 51"/>
                <a:gd name="T22" fmla="*/ 187 w 192"/>
                <a:gd name="T23" fmla="*/ 44 h 51"/>
                <a:gd name="T24" fmla="*/ 186 w 192"/>
                <a:gd name="T25" fmla="*/ 51 h 51"/>
                <a:gd name="T26" fmla="*/ 189 w 192"/>
                <a:gd name="T27" fmla="*/ 48 h 51"/>
                <a:gd name="T28" fmla="*/ 191 w 192"/>
                <a:gd name="T29" fmla="*/ 41 h 51"/>
                <a:gd name="T30" fmla="*/ 192 w 192"/>
                <a:gd name="T31" fmla="*/ 34 h 51"/>
                <a:gd name="T32" fmla="*/ 192 w 192"/>
                <a:gd name="T33" fmla="*/ 28 h 51"/>
                <a:gd name="T34" fmla="*/ 5 w 192"/>
                <a:gd name="T35" fmla="*/ 0 h 51"/>
                <a:gd name="T36" fmla="*/ 3 w 192"/>
                <a:gd name="T37" fmla="*/ 4 h 51"/>
                <a:gd name="T38" fmla="*/ 2 w 192"/>
                <a:gd name="T39" fmla="*/ 11 h 51"/>
                <a:gd name="T40" fmla="*/ 0 w 192"/>
                <a:gd name="T41" fmla="*/ 18 h 51"/>
                <a:gd name="T42" fmla="*/ 0 w 192"/>
                <a:gd name="T43" fmla="*/ 24 h 51"/>
                <a:gd name="T44" fmla="*/ 0 w 192"/>
                <a:gd name="T45" fmla="*/ 31 h 51"/>
                <a:gd name="T46" fmla="*/ 2 w 192"/>
                <a:gd name="T47" fmla="*/ 38 h 51"/>
                <a:gd name="T48" fmla="*/ 2 w 192"/>
                <a:gd name="T49" fmla="*/ 44 h 51"/>
                <a:gd name="T50" fmla="*/ 3 w 192"/>
                <a:gd name="T51" fmla="*/ 51 h 51"/>
                <a:gd name="T52" fmla="*/ 7 w 192"/>
                <a:gd name="T53" fmla="*/ 48 h 51"/>
                <a:gd name="T54" fmla="*/ 5 w 192"/>
                <a:gd name="T55" fmla="*/ 41 h 51"/>
                <a:gd name="T56" fmla="*/ 5 w 192"/>
                <a:gd name="T57" fmla="*/ 34 h 51"/>
                <a:gd name="T58" fmla="*/ 3 w 192"/>
                <a:gd name="T59" fmla="*/ 28 h 51"/>
                <a:gd name="T60" fmla="*/ 3 w 192"/>
                <a:gd name="T61" fmla="*/ 21 h 51"/>
                <a:gd name="T62" fmla="*/ 5 w 192"/>
                <a:gd name="T63" fmla="*/ 14 h 51"/>
                <a:gd name="T64" fmla="*/ 5 w 192"/>
                <a:gd name="T65" fmla="*/ 8 h 51"/>
                <a:gd name="T66" fmla="*/ 7 w 192"/>
                <a:gd name="T67" fmla="*/ 3 h 51"/>
                <a:gd name="T68" fmla="*/ 5 w 19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2" h="51">
                  <a:moveTo>
                    <a:pt x="192" y="24"/>
                  </a:moveTo>
                  <a:lnTo>
                    <a:pt x="192" y="21"/>
                  </a:lnTo>
                  <a:lnTo>
                    <a:pt x="192" y="18"/>
                  </a:lnTo>
                  <a:lnTo>
                    <a:pt x="192" y="14"/>
                  </a:lnTo>
                  <a:lnTo>
                    <a:pt x="191" y="11"/>
                  </a:lnTo>
                  <a:lnTo>
                    <a:pt x="191" y="8"/>
                  </a:lnTo>
                  <a:lnTo>
                    <a:pt x="191" y="4"/>
                  </a:lnTo>
                  <a:lnTo>
                    <a:pt x="189" y="3"/>
                  </a:lnTo>
                  <a:lnTo>
                    <a:pt x="189" y="0"/>
                  </a:lnTo>
                  <a:lnTo>
                    <a:pt x="186" y="0"/>
                  </a:lnTo>
                  <a:lnTo>
                    <a:pt x="186" y="3"/>
                  </a:lnTo>
                  <a:lnTo>
                    <a:pt x="187" y="4"/>
                  </a:lnTo>
                  <a:lnTo>
                    <a:pt x="187" y="8"/>
                  </a:lnTo>
                  <a:lnTo>
                    <a:pt x="187" y="11"/>
                  </a:lnTo>
                  <a:lnTo>
                    <a:pt x="189" y="14"/>
                  </a:lnTo>
                  <a:lnTo>
                    <a:pt x="189" y="18"/>
                  </a:lnTo>
                  <a:lnTo>
                    <a:pt x="189" y="21"/>
                  </a:lnTo>
                  <a:lnTo>
                    <a:pt x="189" y="24"/>
                  </a:lnTo>
                  <a:lnTo>
                    <a:pt x="189" y="28"/>
                  </a:lnTo>
                  <a:lnTo>
                    <a:pt x="189" y="31"/>
                  </a:lnTo>
                  <a:lnTo>
                    <a:pt x="189" y="34"/>
                  </a:lnTo>
                  <a:lnTo>
                    <a:pt x="187" y="38"/>
                  </a:lnTo>
                  <a:lnTo>
                    <a:pt x="187" y="41"/>
                  </a:lnTo>
                  <a:lnTo>
                    <a:pt x="187" y="44"/>
                  </a:lnTo>
                  <a:lnTo>
                    <a:pt x="186" y="48"/>
                  </a:lnTo>
                  <a:lnTo>
                    <a:pt x="186" y="51"/>
                  </a:lnTo>
                  <a:lnTo>
                    <a:pt x="189" y="51"/>
                  </a:lnTo>
                  <a:lnTo>
                    <a:pt x="189" y="48"/>
                  </a:lnTo>
                  <a:lnTo>
                    <a:pt x="191" y="44"/>
                  </a:lnTo>
                  <a:lnTo>
                    <a:pt x="191" y="41"/>
                  </a:lnTo>
                  <a:lnTo>
                    <a:pt x="191" y="38"/>
                  </a:lnTo>
                  <a:lnTo>
                    <a:pt x="192" y="34"/>
                  </a:lnTo>
                  <a:lnTo>
                    <a:pt x="192" y="31"/>
                  </a:lnTo>
                  <a:lnTo>
                    <a:pt x="192" y="28"/>
                  </a:lnTo>
                  <a:lnTo>
                    <a:pt x="19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8"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8" name="Freeform 460">
              <a:extLst>
                <a:ext uri="{FF2B5EF4-FFF2-40B4-BE49-F238E27FC236}">
                  <a16:creationId xmlns:a16="http://schemas.microsoft.com/office/drawing/2014/main" id="{34B84C85-94D4-A52C-97D9-4E450DCA6D48}"/>
                </a:ext>
              </a:extLst>
            </p:cNvPr>
            <p:cNvSpPr>
              <a:spLocks noEditPoints="1"/>
            </p:cNvSpPr>
            <p:nvPr/>
          </p:nvSpPr>
          <p:spPr bwMode="auto">
            <a:xfrm>
              <a:off x="1517" y="1713"/>
              <a:ext cx="189" cy="51"/>
            </a:xfrm>
            <a:custGeom>
              <a:avLst/>
              <a:gdLst>
                <a:gd name="T0" fmla="*/ 189 w 189"/>
                <a:gd name="T1" fmla="*/ 21 h 51"/>
                <a:gd name="T2" fmla="*/ 189 w 189"/>
                <a:gd name="T3" fmla="*/ 14 h 51"/>
                <a:gd name="T4" fmla="*/ 187 w 189"/>
                <a:gd name="T5" fmla="*/ 8 h 51"/>
                <a:gd name="T6" fmla="*/ 185 w 189"/>
                <a:gd name="T7" fmla="*/ 3 h 51"/>
                <a:gd name="T8" fmla="*/ 182 w 189"/>
                <a:gd name="T9" fmla="*/ 0 h 51"/>
                <a:gd name="T10" fmla="*/ 184 w 189"/>
                <a:gd name="T11" fmla="*/ 4 h 51"/>
                <a:gd name="T12" fmla="*/ 184 w 189"/>
                <a:gd name="T13" fmla="*/ 11 h 51"/>
                <a:gd name="T14" fmla="*/ 185 w 189"/>
                <a:gd name="T15" fmla="*/ 18 h 51"/>
                <a:gd name="T16" fmla="*/ 185 w 189"/>
                <a:gd name="T17" fmla="*/ 24 h 51"/>
                <a:gd name="T18" fmla="*/ 185 w 189"/>
                <a:gd name="T19" fmla="*/ 31 h 51"/>
                <a:gd name="T20" fmla="*/ 184 w 189"/>
                <a:gd name="T21" fmla="*/ 38 h 51"/>
                <a:gd name="T22" fmla="*/ 184 w 189"/>
                <a:gd name="T23" fmla="*/ 44 h 51"/>
                <a:gd name="T24" fmla="*/ 182 w 189"/>
                <a:gd name="T25" fmla="*/ 51 h 51"/>
                <a:gd name="T26" fmla="*/ 185 w 189"/>
                <a:gd name="T27" fmla="*/ 48 h 51"/>
                <a:gd name="T28" fmla="*/ 187 w 189"/>
                <a:gd name="T29" fmla="*/ 41 h 51"/>
                <a:gd name="T30" fmla="*/ 189 w 189"/>
                <a:gd name="T31" fmla="*/ 34 h 51"/>
                <a:gd name="T32" fmla="*/ 189 w 189"/>
                <a:gd name="T33" fmla="*/ 28 h 51"/>
                <a:gd name="T34" fmla="*/ 5 w 189"/>
                <a:gd name="T35" fmla="*/ 0 h 51"/>
                <a:gd name="T36" fmla="*/ 3 w 189"/>
                <a:gd name="T37" fmla="*/ 4 h 51"/>
                <a:gd name="T38" fmla="*/ 1 w 189"/>
                <a:gd name="T39" fmla="*/ 11 h 51"/>
                <a:gd name="T40" fmla="*/ 0 w 189"/>
                <a:gd name="T41" fmla="*/ 18 h 51"/>
                <a:gd name="T42" fmla="*/ 0 w 189"/>
                <a:gd name="T43" fmla="*/ 24 h 51"/>
                <a:gd name="T44" fmla="*/ 0 w 189"/>
                <a:gd name="T45" fmla="*/ 31 h 51"/>
                <a:gd name="T46" fmla="*/ 1 w 189"/>
                <a:gd name="T47" fmla="*/ 38 h 51"/>
                <a:gd name="T48" fmla="*/ 1 w 189"/>
                <a:gd name="T49" fmla="*/ 44 h 51"/>
                <a:gd name="T50" fmla="*/ 3 w 189"/>
                <a:gd name="T51" fmla="*/ 51 h 51"/>
                <a:gd name="T52" fmla="*/ 6 w 189"/>
                <a:gd name="T53" fmla="*/ 48 h 51"/>
                <a:gd name="T54" fmla="*/ 5 w 189"/>
                <a:gd name="T55" fmla="*/ 41 h 51"/>
                <a:gd name="T56" fmla="*/ 5 w 189"/>
                <a:gd name="T57" fmla="*/ 34 h 51"/>
                <a:gd name="T58" fmla="*/ 3 w 189"/>
                <a:gd name="T59" fmla="*/ 28 h 51"/>
                <a:gd name="T60" fmla="*/ 3 w 189"/>
                <a:gd name="T61" fmla="*/ 21 h 51"/>
                <a:gd name="T62" fmla="*/ 5 w 189"/>
                <a:gd name="T63" fmla="*/ 14 h 51"/>
                <a:gd name="T64" fmla="*/ 5 w 189"/>
                <a:gd name="T65" fmla="*/ 8 h 51"/>
                <a:gd name="T66" fmla="*/ 6 w 189"/>
                <a:gd name="T67" fmla="*/ 3 h 51"/>
                <a:gd name="T68" fmla="*/ 5 w 18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9" h="51">
                  <a:moveTo>
                    <a:pt x="189" y="24"/>
                  </a:moveTo>
                  <a:lnTo>
                    <a:pt x="189" y="21"/>
                  </a:lnTo>
                  <a:lnTo>
                    <a:pt x="189" y="18"/>
                  </a:lnTo>
                  <a:lnTo>
                    <a:pt x="189" y="14"/>
                  </a:lnTo>
                  <a:lnTo>
                    <a:pt x="187" y="11"/>
                  </a:lnTo>
                  <a:lnTo>
                    <a:pt x="187" y="8"/>
                  </a:lnTo>
                  <a:lnTo>
                    <a:pt x="187" y="4"/>
                  </a:lnTo>
                  <a:lnTo>
                    <a:pt x="185" y="3"/>
                  </a:lnTo>
                  <a:lnTo>
                    <a:pt x="185" y="0"/>
                  </a:lnTo>
                  <a:lnTo>
                    <a:pt x="182" y="0"/>
                  </a:lnTo>
                  <a:lnTo>
                    <a:pt x="182" y="3"/>
                  </a:lnTo>
                  <a:lnTo>
                    <a:pt x="184" y="4"/>
                  </a:lnTo>
                  <a:lnTo>
                    <a:pt x="184" y="8"/>
                  </a:lnTo>
                  <a:lnTo>
                    <a:pt x="184" y="11"/>
                  </a:lnTo>
                  <a:lnTo>
                    <a:pt x="185" y="14"/>
                  </a:lnTo>
                  <a:lnTo>
                    <a:pt x="185" y="18"/>
                  </a:lnTo>
                  <a:lnTo>
                    <a:pt x="185" y="21"/>
                  </a:lnTo>
                  <a:lnTo>
                    <a:pt x="185" y="24"/>
                  </a:lnTo>
                  <a:lnTo>
                    <a:pt x="185" y="28"/>
                  </a:lnTo>
                  <a:lnTo>
                    <a:pt x="185" y="31"/>
                  </a:lnTo>
                  <a:lnTo>
                    <a:pt x="185" y="34"/>
                  </a:lnTo>
                  <a:lnTo>
                    <a:pt x="184" y="38"/>
                  </a:lnTo>
                  <a:lnTo>
                    <a:pt x="184" y="41"/>
                  </a:lnTo>
                  <a:lnTo>
                    <a:pt x="184" y="44"/>
                  </a:lnTo>
                  <a:lnTo>
                    <a:pt x="182" y="48"/>
                  </a:lnTo>
                  <a:lnTo>
                    <a:pt x="182" y="51"/>
                  </a:lnTo>
                  <a:lnTo>
                    <a:pt x="185" y="51"/>
                  </a:lnTo>
                  <a:lnTo>
                    <a:pt x="185" y="48"/>
                  </a:lnTo>
                  <a:lnTo>
                    <a:pt x="187" y="44"/>
                  </a:lnTo>
                  <a:lnTo>
                    <a:pt x="187" y="41"/>
                  </a:lnTo>
                  <a:lnTo>
                    <a:pt x="187" y="38"/>
                  </a:lnTo>
                  <a:lnTo>
                    <a:pt x="189" y="34"/>
                  </a:lnTo>
                  <a:lnTo>
                    <a:pt x="189" y="31"/>
                  </a:lnTo>
                  <a:lnTo>
                    <a:pt x="189" y="28"/>
                  </a:lnTo>
                  <a:lnTo>
                    <a:pt x="189" y="24"/>
                  </a:lnTo>
                  <a:close/>
                  <a:moveTo>
                    <a:pt x="5"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9" name="Freeform 461">
              <a:extLst>
                <a:ext uri="{FF2B5EF4-FFF2-40B4-BE49-F238E27FC236}">
                  <a16:creationId xmlns:a16="http://schemas.microsoft.com/office/drawing/2014/main" id="{E6E7BF48-8B48-EE69-9B2E-9FDDA7C79447}"/>
                </a:ext>
              </a:extLst>
            </p:cNvPr>
            <p:cNvSpPr>
              <a:spLocks noEditPoints="1"/>
            </p:cNvSpPr>
            <p:nvPr/>
          </p:nvSpPr>
          <p:spPr bwMode="auto">
            <a:xfrm>
              <a:off x="1518" y="1713"/>
              <a:ext cx="186" cy="51"/>
            </a:xfrm>
            <a:custGeom>
              <a:avLst/>
              <a:gdLst>
                <a:gd name="T0" fmla="*/ 186 w 186"/>
                <a:gd name="T1" fmla="*/ 21 h 51"/>
                <a:gd name="T2" fmla="*/ 186 w 186"/>
                <a:gd name="T3" fmla="*/ 14 h 51"/>
                <a:gd name="T4" fmla="*/ 184 w 186"/>
                <a:gd name="T5" fmla="*/ 8 h 51"/>
                <a:gd name="T6" fmla="*/ 183 w 186"/>
                <a:gd name="T7" fmla="*/ 3 h 51"/>
                <a:gd name="T8" fmla="*/ 179 w 186"/>
                <a:gd name="T9" fmla="*/ 0 h 51"/>
                <a:gd name="T10" fmla="*/ 181 w 186"/>
                <a:gd name="T11" fmla="*/ 4 h 51"/>
                <a:gd name="T12" fmla="*/ 181 w 186"/>
                <a:gd name="T13" fmla="*/ 11 h 51"/>
                <a:gd name="T14" fmla="*/ 183 w 186"/>
                <a:gd name="T15" fmla="*/ 18 h 51"/>
                <a:gd name="T16" fmla="*/ 183 w 186"/>
                <a:gd name="T17" fmla="*/ 24 h 51"/>
                <a:gd name="T18" fmla="*/ 183 w 186"/>
                <a:gd name="T19" fmla="*/ 31 h 51"/>
                <a:gd name="T20" fmla="*/ 181 w 186"/>
                <a:gd name="T21" fmla="*/ 38 h 51"/>
                <a:gd name="T22" fmla="*/ 181 w 186"/>
                <a:gd name="T23" fmla="*/ 44 h 51"/>
                <a:gd name="T24" fmla="*/ 179 w 186"/>
                <a:gd name="T25" fmla="*/ 51 h 51"/>
                <a:gd name="T26" fmla="*/ 183 w 186"/>
                <a:gd name="T27" fmla="*/ 48 h 51"/>
                <a:gd name="T28" fmla="*/ 184 w 186"/>
                <a:gd name="T29" fmla="*/ 41 h 51"/>
                <a:gd name="T30" fmla="*/ 186 w 186"/>
                <a:gd name="T31" fmla="*/ 34 h 51"/>
                <a:gd name="T32" fmla="*/ 186 w 186"/>
                <a:gd name="T33" fmla="*/ 28 h 51"/>
                <a:gd name="T34" fmla="*/ 5 w 186"/>
                <a:gd name="T35" fmla="*/ 0 h 51"/>
                <a:gd name="T36" fmla="*/ 4 w 186"/>
                <a:gd name="T37" fmla="*/ 4 h 51"/>
                <a:gd name="T38" fmla="*/ 2 w 186"/>
                <a:gd name="T39" fmla="*/ 11 h 51"/>
                <a:gd name="T40" fmla="*/ 0 w 186"/>
                <a:gd name="T41" fmla="*/ 18 h 51"/>
                <a:gd name="T42" fmla="*/ 0 w 186"/>
                <a:gd name="T43" fmla="*/ 24 h 51"/>
                <a:gd name="T44" fmla="*/ 0 w 186"/>
                <a:gd name="T45" fmla="*/ 31 h 51"/>
                <a:gd name="T46" fmla="*/ 2 w 186"/>
                <a:gd name="T47" fmla="*/ 38 h 51"/>
                <a:gd name="T48" fmla="*/ 4 w 186"/>
                <a:gd name="T49" fmla="*/ 44 h 51"/>
                <a:gd name="T50" fmla="*/ 4 w 186"/>
                <a:gd name="T51" fmla="*/ 51 h 51"/>
                <a:gd name="T52" fmla="*/ 7 w 186"/>
                <a:gd name="T53" fmla="*/ 48 h 51"/>
                <a:gd name="T54" fmla="*/ 5 w 186"/>
                <a:gd name="T55" fmla="*/ 41 h 51"/>
                <a:gd name="T56" fmla="*/ 5 w 186"/>
                <a:gd name="T57" fmla="*/ 34 h 51"/>
                <a:gd name="T58" fmla="*/ 4 w 186"/>
                <a:gd name="T59" fmla="*/ 28 h 51"/>
                <a:gd name="T60" fmla="*/ 4 w 186"/>
                <a:gd name="T61" fmla="*/ 21 h 51"/>
                <a:gd name="T62" fmla="*/ 5 w 186"/>
                <a:gd name="T63" fmla="*/ 14 h 51"/>
                <a:gd name="T64" fmla="*/ 5 w 186"/>
                <a:gd name="T65" fmla="*/ 8 h 51"/>
                <a:gd name="T66" fmla="*/ 7 w 186"/>
                <a:gd name="T67" fmla="*/ 3 h 51"/>
                <a:gd name="T68" fmla="*/ 5 w 1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6" h="51">
                  <a:moveTo>
                    <a:pt x="186" y="24"/>
                  </a:moveTo>
                  <a:lnTo>
                    <a:pt x="186" y="21"/>
                  </a:lnTo>
                  <a:lnTo>
                    <a:pt x="186" y="18"/>
                  </a:lnTo>
                  <a:lnTo>
                    <a:pt x="186" y="14"/>
                  </a:lnTo>
                  <a:lnTo>
                    <a:pt x="184" y="11"/>
                  </a:lnTo>
                  <a:lnTo>
                    <a:pt x="184" y="8"/>
                  </a:lnTo>
                  <a:lnTo>
                    <a:pt x="184" y="4"/>
                  </a:lnTo>
                  <a:lnTo>
                    <a:pt x="183" y="3"/>
                  </a:lnTo>
                  <a:lnTo>
                    <a:pt x="183" y="0"/>
                  </a:lnTo>
                  <a:lnTo>
                    <a:pt x="179" y="0"/>
                  </a:lnTo>
                  <a:lnTo>
                    <a:pt x="179" y="3"/>
                  </a:lnTo>
                  <a:lnTo>
                    <a:pt x="181" y="4"/>
                  </a:lnTo>
                  <a:lnTo>
                    <a:pt x="181" y="8"/>
                  </a:lnTo>
                  <a:lnTo>
                    <a:pt x="181" y="11"/>
                  </a:lnTo>
                  <a:lnTo>
                    <a:pt x="183" y="14"/>
                  </a:lnTo>
                  <a:lnTo>
                    <a:pt x="183" y="18"/>
                  </a:lnTo>
                  <a:lnTo>
                    <a:pt x="183" y="21"/>
                  </a:lnTo>
                  <a:lnTo>
                    <a:pt x="183" y="24"/>
                  </a:lnTo>
                  <a:lnTo>
                    <a:pt x="183" y="28"/>
                  </a:lnTo>
                  <a:lnTo>
                    <a:pt x="183" y="31"/>
                  </a:lnTo>
                  <a:lnTo>
                    <a:pt x="183" y="34"/>
                  </a:lnTo>
                  <a:lnTo>
                    <a:pt x="181" y="38"/>
                  </a:lnTo>
                  <a:lnTo>
                    <a:pt x="181" y="41"/>
                  </a:lnTo>
                  <a:lnTo>
                    <a:pt x="181" y="44"/>
                  </a:lnTo>
                  <a:lnTo>
                    <a:pt x="179" y="48"/>
                  </a:lnTo>
                  <a:lnTo>
                    <a:pt x="179" y="51"/>
                  </a:lnTo>
                  <a:lnTo>
                    <a:pt x="183" y="51"/>
                  </a:lnTo>
                  <a:lnTo>
                    <a:pt x="183" y="48"/>
                  </a:lnTo>
                  <a:lnTo>
                    <a:pt x="184" y="44"/>
                  </a:lnTo>
                  <a:lnTo>
                    <a:pt x="184" y="41"/>
                  </a:lnTo>
                  <a:lnTo>
                    <a:pt x="184" y="38"/>
                  </a:lnTo>
                  <a:lnTo>
                    <a:pt x="186" y="34"/>
                  </a:lnTo>
                  <a:lnTo>
                    <a:pt x="186" y="31"/>
                  </a:lnTo>
                  <a:lnTo>
                    <a:pt x="186" y="28"/>
                  </a:lnTo>
                  <a:lnTo>
                    <a:pt x="186" y="24"/>
                  </a:lnTo>
                  <a:close/>
                  <a:moveTo>
                    <a:pt x="5"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4" y="51"/>
                  </a:lnTo>
                  <a:lnTo>
                    <a:pt x="7"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9"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0" name="Freeform 462">
              <a:extLst>
                <a:ext uri="{FF2B5EF4-FFF2-40B4-BE49-F238E27FC236}">
                  <a16:creationId xmlns:a16="http://schemas.microsoft.com/office/drawing/2014/main" id="{B50BDFFD-1C22-14D9-F7A0-E2522C9D4212}"/>
                </a:ext>
              </a:extLst>
            </p:cNvPr>
            <p:cNvSpPr>
              <a:spLocks noEditPoints="1"/>
            </p:cNvSpPr>
            <p:nvPr/>
          </p:nvSpPr>
          <p:spPr bwMode="auto">
            <a:xfrm>
              <a:off x="1520" y="1713"/>
              <a:ext cx="182" cy="51"/>
            </a:xfrm>
            <a:custGeom>
              <a:avLst/>
              <a:gdLst>
                <a:gd name="T0" fmla="*/ 182 w 182"/>
                <a:gd name="T1" fmla="*/ 21 h 51"/>
                <a:gd name="T2" fmla="*/ 182 w 182"/>
                <a:gd name="T3" fmla="*/ 14 h 51"/>
                <a:gd name="T4" fmla="*/ 181 w 182"/>
                <a:gd name="T5" fmla="*/ 8 h 51"/>
                <a:gd name="T6" fmla="*/ 179 w 182"/>
                <a:gd name="T7" fmla="*/ 3 h 51"/>
                <a:gd name="T8" fmla="*/ 174 w 182"/>
                <a:gd name="T9" fmla="*/ 0 h 51"/>
                <a:gd name="T10" fmla="*/ 177 w 182"/>
                <a:gd name="T11" fmla="*/ 4 h 51"/>
                <a:gd name="T12" fmla="*/ 177 w 182"/>
                <a:gd name="T13" fmla="*/ 11 h 51"/>
                <a:gd name="T14" fmla="*/ 179 w 182"/>
                <a:gd name="T15" fmla="*/ 18 h 51"/>
                <a:gd name="T16" fmla="*/ 179 w 182"/>
                <a:gd name="T17" fmla="*/ 24 h 51"/>
                <a:gd name="T18" fmla="*/ 179 w 182"/>
                <a:gd name="T19" fmla="*/ 31 h 51"/>
                <a:gd name="T20" fmla="*/ 177 w 182"/>
                <a:gd name="T21" fmla="*/ 38 h 51"/>
                <a:gd name="T22" fmla="*/ 177 w 182"/>
                <a:gd name="T23" fmla="*/ 44 h 51"/>
                <a:gd name="T24" fmla="*/ 176 w 182"/>
                <a:gd name="T25" fmla="*/ 51 h 51"/>
                <a:gd name="T26" fmla="*/ 179 w 182"/>
                <a:gd name="T27" fmla="*/ 48 h 51"/>
                <a:gd name="T28" fmla="*/ 181 w 182"/>
                <a:gd name="T29" fmla="*/ 41 h 51"/>
                <a:gd name="T30" fmla="*/ 182 w 182"/>
                <a:gd name="T31" fmla="*/ 34 h 51"/>
                <a:gd name="T32" fmla="*/ 182 w 182"/>
                <a:gd name="T33" fmla="*/ 28 h 51"/>
                <a:gd name="T34" fmla="*/ 5 w 182"/>
                <a:gd name="T35" fmla="*/ 0 h 51"/>
                <a:gd name="T36" fmla="*/ 3 w 182"/>
                <a:gd name="T37" fmla="*/ 4 h 51"/>
                <a:gd name="T38" fmla="*/ 2 w 182"/>
                <a:gd name="T39" fmla="*/ 11 h 51"/>
                <a:gd name="T40" fmla="*/ 0 w 182"/>
                <a:gd name="T41" fmla="*/ 18 h 51"/>
                <a:gd name="T42" fmla="*/ 0 w 182"/>
                <a:gd name="T43" fmla="*/ 24 h 51"/>
                <a:gd name="T44" fmla="*/ 0 w 182"/>
                <a:gd name="T45" fmla="*/ 31 h 51"/>
                <a:gd name="T46" fmla="*/ 2 w 182"/>
                <a:gd name="T47" fmla="*/ 38 h 51"/>
                <a:gd name="T48" fmla="*/ 3 w 182"/>
                <a:gd name="T49" fmla="*/ 44 h 51"/>
                <a:gd name="T50" fmla="*/ 3 w 182"/>
                <a:gd name="T51" fmla="*/ 51 h 51"/>
                <a:gd name="T52" fmla="*/ 7 w 182"/>
                <a:gd name="T53" fmla="*/ 48 h 51"/>
                <a:gd name="T54" fmla="*/ 5 w 182"/>
                <a:gd name="T55" fmla="*/ 41 h 51"/>
                <a:gd name="T56" fmla="*/ 5 w 182"/>
                <a:gd name="T57" fmla="*/ 34 h 51"/>
                <a:gd name="T58" fmla="*/ 3 w 182"/>
                <a:gd name="T59" fmla="*/ 28 h 51"/>
                <a:gd name="T60" fmla="*/ 3 w 182"/>
                <a:gd name="T61" fmla="*/ 21 h 51"/>
                <a:gd name="T62" fmla="*/ 5 w 182"/>
                <a:gd name="T63" fmla="*/ 14 h 51"/>
                <a:gd name="T64" fmla="*/ 5 w 182"/>
                <a:gd name="T65" fmla="*/ 8 h 51"/>
                <a:gd name="T66" fmla="*/ 7 w 182"/>
                <a:gd name="T67" fmla="*/ 3 h 51"/>
                <a:gd name="T68" fmla="*/ 5 w 18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2" h="51">
                  <a:moveTo>
                    <a:pt x="182" y="24"/>
                  </a:moveTo>
                  <a:lnTo>
                    <a:pt x="182" y="21"/>
                  </a:lnTo>
                  <a:lnTo>
                    <a:pt x="182" y="18"/>
                  </a:lnTo>
                  <a:lnTo>
                    <a:pt x="182" y="14"/>
                  </a:lnTo>
                  <a:lnTo>
                    <a:pt x="181" y="11"/>
                  </a:lnTo>
                  <a:lnTo>
                    <a:pt x="181" y="8"/>
                  </a:lnTo>
                  <a:lnTo>
                    <a:pt x="181" y="4"/>
                  </a:lnTo>
                  <a:lnTo>
                    <a:pt x="179" y="3"/>
                  </a:lnTo>
                  <a:lnTo>
                    <a:pt x="179" y="0"/>
                  </a:lnTo>
                  <a:lnTo>
                    <a:pt x="174" y="0"/>
                  </a:lnTo>
                  <a:lnTo>
                    <a:pt x="176" y="3"/>
                  </a:lnTo>
                  <a:lnTo>
                    <a:pt x="177" y="4"/>
                  </a:lnTo>
                  <a:lnTo>
                    <a:pt x="177" y="8"/>
                  </a:lnTo>
                  <a:lnTo>
                    <a:pt x="177" y="11"/>
                  </a:lnTo>
                  <a:lnTo>
                    <a:pt x="179" y="14"/>
                  </a:lnTo>
                  <a:lnTo>
                    <a:pt x="179" y="18"/>
                  </a:lnTo>
                  <a:lnTo>
                    <a:pt x="179" y="21"/>
                  </a:lnTo>
                  <a:lnTo>
                    <a:pt x="179" y="24"/>
                  </a:lnTo>
                  <a:lnTo>
                    <a:pt x="179" y="28"/>
                  </a:lnTo>
                  <a:lnTo>
                    <a:pt x="179" y="31"/>
                  </a:lnTo>
                  <a:lnTo>
                    <a:pt x="179" y="34"/>
                  </a:lnTo>
                  <a:lnTo>
                    <a:pt x="177" y="38"/>
                  </a:lnTo>
                  <a:lnTo>
                    <a:pt x="177" y="41"/>
                  </a:lnTo>
                  <a:lnTo>
                    <a:pt x="177" y="44"/>
                  </a:lnTo>
                  <a:lnTo>
                    <a:pt x="176" y="48"/>
                  </a:lnTo>
                  <a:lnTo>
                    <a:pt x="176" y="51"/>
                  </a:lnTo>
                  <a:lnTo>
                    <a:pt x="179" y="51"/>
                  </a:lnTo>
                  <a:lnTo>
                    <a:pt x="179" y="48"/>
                  </a:lnTo>
                  <a:lnTo>
                    <a:pt x="181" y="44"/>
                  </a:lnTo>
                  <a:lnTo>
                    <a:pt x="181" y="41"/>
                  </a:lnTo>
                  <a:lnTo>
                    <a:pt x="181" y="38"/>
                  </a:lnTo>
                  <a:lnTo>
                    <a:pt x="182" y="34"/>
                  </a:lnTo>
                  <a:lnTo>
                    <a:pt x="182" y="31"/>
                  </a:lnTo>
                  <a:lnTo>
                    <a:pt x="182" y="28"/>
                  </a:lnTo>
                  <a:lnTo>
                    <a:pt x="18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3" y="51"/>
                  </a:lnTo>
                  <a:lnTo>
                    <a:pt x="8"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8"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1" name="Freeform 463">
              <a:extLst>
                <a:ext uri="{FF2B5EF4-FFF2-40B4-BE49-F238E27FC236}">
                  <a16:creationId xmlns:a16="http://schemas.microsoft.com/office/drawing/2014/main" id="{2053839F-96B3-8626-EE9D-41E3FFB54CFF}"/>
                </a:ext>
              </a:extLst>
            </p:cNvPr>
            <p:cNvSpPr>
              <a:spLocks noEditPoints="1"/>
            </p:cNvSpPr>
            <p:nvPr/>
          </p:nvSpPr>
          <p:spPr bwMode="auto">
            <a:xfrm>
              <a:off x="1522" y="1713"/>
              <a:ext cx="179" cy="51"/>
            </a:xfrm>
            <a:custGeom>
              <a:avLst/>
              <a:gdLst>
                <a:gd name="T0" fmla="*/ 179 w 179"/>
                <a:gd name="T1" fmla="*/ 21 h 51"/>
                <a:gd name="T2" fmla="*/ 179 w 179"/>
                <a:gd name="T3" fmla="*/ 14 h 51"/>
                <a:gd name="T4" fmla="*/ 177 w 179"/>
                <a:gd name="T5" fmla="*/ 8 h 51"/>
                <a:gd name="T6" fmla="*/ 175 w 179"/>
                <a:gd name="T7" fmla="*/ 3 h 51"/>
                <a:gd name="T8" fmla="*/ 170 w 179"/>
                <a:gd name="T9" fmla="*/ 0 h 51"/>
                <a:gd name="T10" fmla="*/ 172 w 179"/>
                <a:gd name="T11" fmla="*/ 4 h 51"/>
                <a:gd name="T12" fmla="*/ 174 w 179"/>
                <a:gd name="T13" fmla="*/ 11 h 51"/>
                <a:gd name="T14" fmla="*/ 175 w 179"/>
                <a:gd name="T15" fmla="*/ 18 h 51"/>
                <a:gd name="T16" fmla="*/ 175 w 179"/>
                <a:gd name="T17" fmla="*/ 24 h 51"/>
                <a:gd name="T18" fmla="*/ 175 w 179"/>
                <a:gd name="T19" fmla="*/ 31 h 51"/>
                <a:gd name="T20" fmla="*/ 174 w 179"/>
                <a:gd name="T21" fmla="*/ 38 h 51"/>
                <a:gd name="T22" fmla="*/ 174 w 179"/>
                <a:gd name="T23" fmla="*/ 44 h 51"/>
                <a:gd name="T24" fmla="*/ 172 w 179"/>
                <a:gd name="T25" fmla="*/ 51 h 51"/>
                <a:gd name="T26" fmla="*/ 175 w 179"/>
                <a:gd name="T27" fmla="*/ 48 h 51"/>
                <a:gd name="T28" fmla="*/ 177 w 179"/>
                <a:gd name="T29" fmla="*/ 41 h 51"/>
                <a:gd name="T30" fmla="*/ 179 w 179"/>
                <a:gd name="T31" fmla="*/ 34 h 51"/>
                <a:gd name="T32" fmla="*/ 179 w 179"/>
                <a:gd name="T33" fmla="*/ 28 h 51"/>
                <a:gd name="T34" fmla="*/ 5 w 179"/>
                <a:gd name="T35" fmla="*/ 0 h 51"/>
                <a:gd name="T36" fmla="*/ 3 w 179"/>
                <a:gd name="T37" fmla="*/ 4 h 51"/>
                <a:gd name="T38" fmla="*/ 1 w 179"/>
                <a:gd name="T39" fmla="*/ 11 h 51"/>
                <a:gd name="T40" fmla="*/ 0 w 179"/>
                <a:gd name="T41" fmla="*/ 18 h 51"/>
                <a:gd name="T42" fmla="*/ 0 w 179"/>
                <a:gd name="T43" fmla="*/ 24 h 51"/>
                <a:gd name="T44" fmla="*/ 0 w 179"/>
                <a:gd name="T45" fmla="*/ 31 h 51"/>
                <a:gd name="T46" fmla="*/ 1 w 179"/>
                <a:gd name="T47" fmla="*/ 38 h 51"/>
                <a:gd name="T48" fmla="*/ 3 w 179"/>
                <a:gd name="T49" fmla="*/ 44 h 51"/>
                <a:gd name="T50" fmla="*/ 3 w 179"/>
                <a:gd name="T51" fmla="*/ 51 h 51"/>
                <a:gd name="T52" fmla="*/ 6 w 179"/>
                <a:gd name="T53" fmla="*/ 48 h 51"/>
                <a:gd name="T54" fmla="*/ 5 w 179"/>
                <a:gd name="T55" fmla="*/ 41 h 51"/>
                <a:gd name="T56" fmla="*/ 5 w 179"/>
                <a:gd name="T57" fmla="*/ 34 h 51"/>
                <a:gd name="T58" fmla="*/ 3 w 179"/>
                <a:gd name="T59" fmla="*/ 28 h 51"/>
                <a:gd name="T60" fmla="*/ 3 w 179"/>
                <a:gd name="T61" fmla="*/ 21 h 51"/>
                <a:gd name="T62" fmla="*/ 5 w 179"/>
                <a:gd name="T63" fmla="*/ 14 h 51"/>
                <a:gd name="T64" fmla="*/ 5 w 179"/>
                <a:gd name="T65" fmla="*/ 8 h 51"/>
                <a:gd name="T66" fmla="*/ 6 w 179"/>
                <a:gd name="T67" fmla="*/ 3 h 51"/>
                <a:gd name="T68" fmla="*/ 5 w 17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9" h="51">
                  <a:moveTo>
                    <a:pt x="179" y="24"/>
                  </a:moveTo>
                  <a:lnTo>
                    <a:pt x="179" y="21"/>
                  </a:lnTo>
                  <a:lnTo>
                    <a:pt x="179" y="18"/>
                  </a:lnTo>
                  <a:lnTo>
                    <a:pt x="179" y="14"/>
                  </a:lnTo>
                  <a:lnTo>
                    <a:pt x="177" y="11"/>
                  </a:lnTo>
                  <a:lnTo>
                    <a:pt x="177" y="8"/>
                  </a:lnTo>
                  <a:lnTo>
                    <a:pt x="177" y="4"/>
                  </a:lnTo>
                  <a:lnTo>
                    <a:pt x="175" y="3"/>
                  </a:lnTo>
                  <a:lnTo>
                    <a:pt x="175" y="0"/>
                  </a:lnTo>
                  <a:lnTo>
                    <a:pt x="170" y="0"/>
                  </a:lnTo>
                  <a:lnTo>
                    <a:pt x="172" y="3"/>
                  </a:lnTo>
                  <a:lnTo>
                    <a:pt x="172" y="4"/>
                  </a:lnTo>
                  <a:lnTo>
                    <a:pt x="174" y="8"/>
                  </a:lnTo>
                  <a:lnTo>
                    <a:pt x="174" y="11"/>
                  </a:lnTo>
                  <a:lnTo>
                    <a:pt x="175" y="14"/>
                  </a:lnTo>
                  <a:lnTo>
                    <a:pt x="175" y="18"/>
                  </a:lnTo>
                  <a:lnTo>
                    <a:pt x="175" y="21"/>
                  </a:lnTo>
                  <a:lnTo>
                    <a:pt x="175" y="24"/>
                  </a:lnTo>
                  <a:lnTo>
                    <a:pt x="175" y="28"/>
                  </a:lnTo>
                  <a:lnTo>
                    <a:pt x="175" y="31"/>
                  </a:lnTo>
                  <a:lnTo>
                    <a:pt x="175" y="34"/>
                  </a:lnTo>
                  <a:lnTo>
                    <a:pt x="174" y="38"/>
                  </a:lnTo>
                  <a:lnTo>
                    <a:pt x="174" y="41"/>
                  </a:lnTo>
                  <a:lnTo>
                    <a:pt x="174" y="44"/>
                  </a:lnTo>
                  <a:lnTo>
                    <a:pt x="172" y="48"/>
                  </a:lnTo>
                  <a:lnTo>
                    <a:pt x="172" y="51"/>
                  </a:lnTo>
                  <a:lnTo>
                    <a:pt x="175" y="51"/>
                  </a:lnTo>
                  <a:lnTo>
                    <a:pt x="175" y="48"/>
                  </a:lnTo>
                  <a:lnTo>
                    <a:pt x="177" y="44"/>
                  </a:lnTo>
                  <a:lnTo>
                    <a:pt x="177" y="41"/>
                  </a:lnTo>
                  <a:lnTo>
                    <a:pt x="177" y="38"/>
                  </a:lnTo>
                  <a:lnTo>
                    <a:pt x="179" y="34"/>
                  </a:lnTo>
                  <a:lnTo>
                    <a:pt x="179" y="31"/>
                  </a:lnTo>
                  <a:lnTo>
                    <a:pt x="179" y="28"/>
                  </a:lnTo>
                  <a:lnTo>
                    <a:pt x="179" y="24"/>
                  </a:lnTo>
                  <a:close/>
                  <a:moveTo>
                    <a:pt x="5"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3" y="51"/>
                  </a:lnTo>
                  <a:lnTo>
                    <a:pt x="8"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2" name="Freeform 464">
              <a:extLst>
                <a:ext uri="{FF2B5EF4-FFF2-40B4-BE49-F238E27FC236}">
                  <a16:creationId xmlns:a16="http://schemas.microsoft.com/office/drawing/2014/main" id="{A818209B-FDC7-0499-651B-68B2D2BEAA78}"/>
                </a:ext>
              </a:extLst>
            </p:cNvPr>
            <p:cNvSpPr>
              <a:spLocks noEditPoints="1"/>
            </p:cNvSpPr>
            <p:nvPr/>
          </p:nvSpPr>
          <p:spPr bwMode="auto">
            <a:xfrm>
              <a:off x="1523" y="1713"/>
              <a:ext cx="176" cy="51"/>
            </a:xfrm>
            <a:custGeom>
              <a:avLst/>
              <a:gdLst>
                <a:gd name="T0" fmla="*/ 176 w 176"/>
                <a:gd name="T1" fmla="*/ 21 h 51"/>
                <a:gd name="T2" fmla="*/ 176 w 176"/>
                <a:gd name="T3" fmla="*/ 14 h 51"/>
                <a:gd name="T4" fmla="*/ 174 w 176"/>
                <a:gd name="T5" fmla="*/ 8 h 51"/>
                <a:gd name="T6" fmla="*/ 173 w 176"/>
                <a:gd name="T7" fmla="*/ 3 h 51"/>
                <a:gd name="T8" fmla="*/ 168 w 176"/>
                <a:gd name="T9" fmla="*/ 0 h 51"/>
                <a:gd name="T10" fmla="*/ 169 w 176"/>
                <a:gd name="T11" fmla="*/ 4 h 51"/>
                <a:gd name="T12" fmla="*/ 171 w 176"/>
                <a:gd name="T13" fmla="*/ 11 h 51"/>
                <a:gd name="T14" fmla="*/ 173 w 176"/>
                <a:gd name="T15" fmla="*/ 18 h 51"/>
                <a:gd name="T16" fmla="*/ 173 w 176"/>
                <a:gd name="T17" fmla="*/ 24 h 51"/>
                <a:gd name="T18" fmla="*/ 173 w 176"/>
                <a:gd name="T19" fmla="*/ 31 h 51"/>
                <a:gd name="T20" fmla="*/ 171 w 176"/>
                <a:gd name="T21" fmla="*/ 38 h 51"/>
                <a:gd name="T22" fmla="*/ 171 w 176"/>
                <a:gd name="T23" fmla="*/ 44 h 51"/>
                <a:gd name="T24" fmla="*/ 169 w 176"/>
                <a:gd name="T25" fmla="*/ 51 h 51"/>
                <a:gd name="T26" fmla="*/ 173 w 176"/>
                <a:gd name="T27" fmla="*/ 48 h 51"/>
                <a:gd name="T28" fmla="*/ 174 w 176"/>
                <a:gd name="T29" fmla="*/ 41 h 51"/>
                <a:gd name="T30" fmla="*/ 176 w 176"/>
                <a:gd name="T31" fmla="*/ 34 h 51"/>
                <a:gd name="T32" fmla="*/ 176 w 176"/>
                <a:gd name="T33" fmla="*/ 28 h 51"/>
                <a:gd name="T34" fmla="*/ 5 w 176"/>
                <a:gd name="T35" fmla="*/ 0 h 51"/>
                <a:gd name="T36" fmla="*/ 4 w 176"/>
                <a:gd name="T37" fmla="*/ 4 h 51"/>
                <a:gd name="T38" fmla="*/ 2 w 176"/>
                <a:gd name="T39" fmla="*/ 11 h 51"/>
                <a:gd name="T40" fmla="*/ 0 w 176"/>
                <a:gd name="T41" fmla="*/ 18 h 51"/>
                <a:gd name="T42" fmla="*/ 0 w 176"/>
                <a:gd name="T43" fmla="*/ 24 h 51"/>
                <a:gd name="T44" fmla="*/ 0 w 176"/>
                <a:gd name="T45" fmla="*/ 31 h 51"/>
                <a:gd name="T46" fmla="*/ 2 w 176"/>
                <a:gd name="T47" fmla="*/ 38 h 51"/>
                <a:gd name="T48" fmla="*/ 4 w 176"/>
                <a:gd name="T49" fmla="*/ 44 h 51"/>
                <a:gd name="T50" fmla="*/ 5 w 176"/>
                <a:gd name="T51" fmla="*/ 51 h 51"/>
                <a:gd name="T52" fmla="*/ 7 w 176"/>
                <a:gd name="T53" fmla="*/ 48 h 51"/>
                <a:gd name="T54" fmla="*/ 5 w 176"/>
                <a:gd name="T55" fmla="*/ 41 h 51"/>
                <a:gd name="T56" fmla="*/ 5 w 176"/>
                <a:gd name="T57" fmla="*/ 34 h 51"/>
                <a:gd name="T58" fmla="*/ 4 w 176"/>
                <a:gd name="T59" fmla="*/ 28 h 51"/>
                <a:gd name="T60" fmla="*/ 4 w 176"/>
                <a:gd name="T61" fmla="*/ 21 h 51"/>
                <a:gd name="T62" fmla="*/ 5 w 176"/>
                <a:gd name="T63" fmla="*/ 14 h 51"/>
                <a:gd name="T64" fmla="*/ 5 w 176"/>
                <a:gd name="T65" fmla="*/ 8 h 51"/>
                <a:gd name="T66" fmla="*/ 7 w 176"/>
                <a:gd name="T67" fmla="*/ 3 h 51"/>
                <a:gd name="T68" fmla="*/ 5 w 1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6" h="51">
                  <a:moveTo>
                    <a:pt x="176" y="24"/>
                  </a:moveTo>
                  <a:lnTo>
                    <a:pt x="176" y="21"/>
                  </a:lnTo>
                  <a:lnTo>
                    <a:pt x="176" y="18"/>
                  </a:lnTo>
                  <a:lnTo>
                    <a:pt x="176" y="14"/>
                  </a:lnTo>
                  <a:lnTo>
                    <a:pt x="174" y="11"/>
                  </a:lnTo>
                  <a:lnTo>
                    <a:pt x="174" y="8"/>
                  </a:lnTo>
                  <a:lnTo>
                    <a:pt x="174" y="4"/>
                  </a:lnTo>
                  <a:lnTo>
                    <a:pt x="173" y="3"/>
                  </a:lnTo>
                  <a:lnTo>
                    <a:pt x="171" y="0"/>
                  </a:lnTo>
                  <a:lnTo>
                    <a:pt x="168" y="0"/>
                  </a:lnTo>
                  <a:lnTo>
                    <a:pt x="169" y="3"/>
                  </a:lnTo>
                  <a:lnTo>
                    <a:pt x="169" y="4"/>
                  </a:lnTo>
                  <a:lnTo>
                    <a:pt x="171" y="8"/>
                  </a:lnTo>
                  <a:lnTo>
                    <a:pt x="171" y="11"/>
                  </a:lnTo>
                  <a:lnTo>
                    <a:pt x="173" y="14"/>
                  </a:lnTo>
                  <a:lnTo>
                    <a:pt x="173" y="18"/>
                  </a:lnTo>
                  <a:lnTo>
                    <a:pt x="173" y="21"/>
                  </a:lnTo>
                  <a:lnTo>
                    <a:pt x="173" y="24"/>
                  </a:lnTo>
                  <a:lnTo>
                    <a:pt x="173" y="28"/>
                  </a:lnTo>
                  <a:lnTo>
                    <a:pt x="173" y="31"/>
                  </a:lnTo>
                  <a:lnTo>
                    <a:pt x="173" y="34"/>
                  </a:lnTo>
                  <a:lnTo>
                    <a:pt x="171" y="38"/>
                  </a:lnTo>
                  <a:lnTo>
                    <a:pt x="171" y="41"/>
                  </a:lnTo>
                  <a:lnTo>
                    <a:pt x="171" y="44"/>
                  </a:lnTo>
                  <a:lnTo>
                    <a:pt x="169" y="48"/>
                  </a:lnTo>
                  <a:lnTo>
                    <a:pt x="169" y="51"/>
                  </a:lnTo>
                  <a:lnTo>
                    <a:pt x="173" y="51"/>
                  </a:lnTo>
                  <a:lnTo>
                    <a:pt x="173" y="48"/>
                  </a:lnTo>
                  <a:lnTo>
                    <a:pt x="174" y="44"/>
                  </a:lnTo>
                  <a:lnTo>
                    <a:pt x="174" y="41"/>
                  </a:lnTo>
                  <a:lnTo>
                    <a:pt x="174" y="38"/>
                  </a:lnTo>
                  <a:lnTo>
                    <a:pt x="176" y="34"/>
                  </a:lnTo>
                  <a:lnTo>
                    <a:pt x="176" y="31"/>
                  </a:lnTo>
                  <a:lnTo>
                    <a:pt x="176" y="28"/>
                  </a:lnTo>
                  <a:lnTo>
                    <a:pt x="176" y="24"/>
                  </a:lnTo>
                  <a:close/>
                  <a:moveTo>
                    <a:pt x="5"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5" y="51"/>
                  </a:lnTo>
                  <a:lnTo>
                    <a:pt x="9"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9"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3" name="Freeform 465">
              <a:extLst>
                <a:ext uri="{FF2B5EF4-FFF2-40B4-BE49-F238E27FC236}">
                  <a16:creationId xmlns:a16="http://schemas.microsoft.com/office/drawing/2014/main" id="{CE7895FC-1300-66E6-6248-A830C14B11DB}"/>
                </a:ext>
              </a:extLst>
            </p:cNvPr>
            <p:cNvSpPr>
              <a:spLocks noEditPoints="1"/>
            </p:cNvSpPr>
            <p:nvPr/>
          </p:nvSpPr>
          <p:spPr bwMode="auto">
            <a:xfrm>
              <a:off x="1525" y="1713"/>
              <a:ext cx="172" cy="51"/>
            </a:xfrm>
            <a:custGeom>
              <a:avLst/>
              <a:gdLst>
                <a:gd name="T0" fmla="*/ 172 w 172"/>
                <a:gd name="T1" fmla="*/ 21 h 51"/>
                <a:gd name="T2" fmla="*/ 172 w 172"/>
                <a:gd name="T3" fmla="*/ 14 h 51"/>
                <a:gd name="T4" fmla="*/ 171 w 172"/>
                <a:gd name="T5" fmla="*/ 8 h 51"/>
                <a:gd name="T6" fmla="*/ 169 w 172"/>
                <a:gd name="T7" fmla="*/ 3 h 51"/>
                <a:gd name="T8" fmla="*/ 164 w 172"/>
                <a:gd name="T9" fmla="*/ 0 h 51"/>
                <a:gd name="T10" fmla="*/ 166 w 172"/>
                <a:gd name="T11" fmla="*/ 4 h 51"/>
                <a:gd name="T12" fmla="*/ 167 w 172"/>
                <a:gd name="T13" fmla="*/ 11 h 51"/>
                <a:gd name="T14" fmla="*/ 169 w 172"/>
                <a:gd name="T15" fmla="*/ 18 h 51"/>
                <a:gd name="T16" fmla="*/ 169 w 172"/>
                <a:gd name="T17" fmla="*/ 24 h 51"/>
                <a:gd name="T18" fmla="*/ 169 w 172"/>
                <a:gd name="T19" fmla="*/ 31 h 51"/>
                <a:gd name="T20" fmla="*/ 167 w 172"/>
                <a:gd name="T21" fmla="*/ 38 h 51"/>
                <a:gd name="T22" fmla="*/ 167 w 172"/>
                <a:gd name="T23" fmla="*/ 44 h 51"/>
                <a:gd name="T24" fmla="*/ 166 w 172"/>
                <a:gd name="T25" fmla="*/ 51 h 51"/>
                <a:gd name="T26" fmla="*/ 169 w 172"/>
                <a:gd name="T27" fmla="*/ 48 h 51"/>
                <a:gd name="T28" fmla="*/ 171 w 172"/>
                <a:gd name="T29" fmla="*/ 41 h 51"/>
                <a:gd name="T30" fmla="*/ 172 w 172"/>
                <a:gd name="T31" fmla="*/ 34 h 51"/>
                <a:gd name="T32" fmla="*/ 172 w 172"/>
                <a:gd name="T33" fmla="*/ 28 h 51"/>
                <a:gd name="T34" fmla="*/ 5 w 172"/>
                <a:gd name="T35" fmla="*/ 0 h 51"/>
                <a:gd name="T36" fmla="*/ 3 w 172"/>
                <a:gd name="T37" fmla="*/ 4 h 51"/>
                <a:gd name="T38" fmla="*/ 2 w 172"/>
                <a:gd name="T39" fmla="*/ 11 h 51"/>
                <a:gd name="T40" fmla="*/ 0 w 172"/>
                <a:gd name="T41" fmla="*/ 18 h 51"/>
                <a:gd name="T42" fmla="*/ 0 w 172"/>
                <a:gd name="T43" fmla="*/ 24 h 51"/>
                <a:gd name="T44" fmla="*/ 0 w 172"/>
                <a:gd name="T45" fmla="*/ 31 h 51"/>
                <a:gd name="T46" fmla="*/ 2 w 172"/>
                <a:gd name="T47" fmla="*/ 38 h 51"/>
                <a:gd name="T48" fmla="*/ 3 w 172"/>
                <a:gd name="T49" fmla="*/ 44 h 51"/>
                <a:gd name="T50" fmla="*/ 5 w 172"/>
                <a:gd name="T51" fmla="*/ 51 h 51"/>
                <a:gd name="T52" fmla="*/ 7 w 172"/>
                <a:gd name="T53" fmla="*/ 48 h 51"/>
                <a:gd name="T54" fmla="*/ 5 w 172"/>
                <a:gd name="T55" fmla="*/ 41 h 51"/>
                <a:gd name="T56" fmla="*/ 5 w 172"/>
                <a:gd name="T57" fmla="*/ 34 h 51"/>
                <a:gd name="T58" fmla="*/ 3 w 172"/>
                <a:gd name="T59" fmla="*/ 28 h 51"/>
                <a:gd name="T60" fmla="*/ 3 w 172"/>
                <a:gd name="T61" fmla="*/ 21 h 51"/>
                <a:gd name="T62" fmla="*/ 5 w 172"/>
                <a:gd name="T63" fmla="*/ 14 h 51"/>
                <a:gd name="T64" fmla="*/ 5 w 172"/>
                <a:gd name="T65" fmla="*/ 8 h 51"/>
                <a:gd name="T66" fmla="*/ 7 w 172"/>
                <a:gd name="T67" fmla="*/ 3 h 51"/>
                <a:gd name="T68" fmla="*/ 5 w 1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2" h="51">
                  <a:moveTo>
                    <a:pt x="172" y="24"/>
                  </a:moveTo>
                  <a:lnTo>
                    <a:pt x="172" y="21"/>
                  </a:lnTo>
                  <a:lnTo>
                    <a:pt x="172" y="18"/>
                  </a:lnTo>
                  <a:lnTo>
                    <a:pt x="172" y="14"/>
                  </a:lnTo>
                  <a:lnTo>
                    <a:pt x="171" y="11"/>
                  </a:lnTo>
                  <a:lnTo>
                    <a:pt x="171" y="8"/>
                  </a:lnTo>
                  <a:lnTo>
                    <a:pt x="169" y="4"/>
                  </a:lnTo>
                  <a:lnTo>
                    <a:pt x="169" y="3"/>
                  </a:lnTo>
                  <a:lnTo>
                    <a:pt x="167" y="0"/>
                  </a:lnTo>
                  <a:lnTo>
                    <a:pt x="164" y="0"/>
                  </a:lnTo>
                  <a:lnTo>
                    <a:pt x="166" y="3"/>
                  </a:lnTo>
                  <a:lnTo>
                    <a:pt x="166" y="4"/>
                  </a:lnTo>
                  <a:lnTo>
                    <a:pt x="167" y="8"/>
                  </a:lnTo>
                  <a:lnTo>
                    <a:pt x="167" y="11"/>
                  </a:lnTo>
                  <a:lnTo>
                    <a:pt x="169" y="14"/>
                  </a:lnTo>
                  <a:lnTo>
                    <a:pt x="169" y="18"/>
                  </a:lnTo>
                  <a:lnTo>
                    <a:pt x="169" y="21"/>
                  </a:lnTo>
                  <a:lnTo>
                    <a:pt x="169" y="24"/>
                  </a:lnTo>
                  <a:lnTo>
                    <a:pt x="169" y="28"/>
                  </a:lnTo>
                  <a:lnTo>
                    <a:pt x="169" y="31"/>
                  </a:lnTo>
                  <a:lnTo>
                    <a:pt x="169" y="34"/>
                  </a:lnTo>
                  <a:lnTo>
                    <a:pt x="167" y="38"/>
                  </a:lnTo>
                  <a:lnTo>
                    <a:pt x="167" y="41"/>
                  </a:lnTo>
                  <a:lnTo>
                    <a:pt x="167" y="44"/>
                  </a:lnTo>
                  <a:lnTo>
                    <a:pt x="166" y="48"/>
                  </a:lnTo>
                  <a:lnTo>
                    <a:pt x="166" y="51"/>
                  </a:lnTo>
                  <a:lnTo>
                    <a:pt x="169" y="51"/>
                  </a:lnTo>
                  <a:lnTo>
                    <a:pt x="169" y="48"/>
                  </a:lnTo>
                  <a:lnTo>
                    <a:pt x="171" y="44"/>
                  </a:lnTo>
                  <a:lnTo>
                    <a:pt x="171" y="41"/>
                  </a:lnTo>
                  <a:lnTo>
                    <a:pt x="171" y="38"/>
                  </a:lnTo>
                  <a:lnTo>
                    <a:pt x="172" y="34"/>
                  </a:lnTo>
                  <a:lnTo>
                    <a:pt x="172" y="31"/>
                  </a:lnTo>
                  <a:lnTo>
                    <a:pt x="172" y="28"/>
                  </a:lnTo>
                  <a:lnTo>
                    <a:pt x="17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5" y="51"/>
                  </a:lnTo>
                  <a:lnTo>
                    <a:pt x="8"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8"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4" name="Freeform 466">
              <a:extLst>
                <a:ext uri="{FF2B5EF4-FFF2-40B4-BE49-F238E27FC236}">
                  <a16:creationId xmlns:a16="http://schemas.microsoft.com/office/drawing/2014/main" id="{B97D228C-0D95-E48C-FD47-460BDAB0B299}"/>
                </a:ext>
              </a:extLst>
            </p:cNvPr>
            <p:cNvSpPr>
              <a:spLocks noEditPoints="1"/>
            </p:cNvSpPr>
            <p:nvPr/>
          </p:nvSpPr>
          <p:spPr bwMode="auto">
            <a:xfrm>
              <a:off x="1527" y="1713"/>
              <a:ext cx="169" cy="51"/>
            </a:xfrm>
            <a:custGeom>
              <a:avLst/>
              <a:gdLst>
                <a:gd name="T0" fmla="*/ 169 w 169"/>
                <a:gd name="T1" fmla="*/ 21 h 51"/>
                <a:gd name="T2" fmla="*/ 169 w 169"/>
                <a:gd name="T3" fmla="*/ 14 h 51"/>
                <a:gd name="T4" fmla="*/ 167 w 169"/>
                <a:gd name="T5" fmla="*/ 8 h 51"/>
                <a:gd name="T6" fmla="*/ 165 w 169"/>
                <a:gd name="T7" fmla="*/ 3 h 51"/>
                <a:gd name="T8" fmla="*/ 160 w 169"/>
                <a:gd name="T9" fmla="*/ 0 h 51"/>
                <a:gd name="T10" fmla="*/ 162 w 169"/>
                <a:gd name="T11" fmla="*/ 4 h 51"/>
                <a:gd name="T12" fmla="*/ 164 w 169"/>
                <a:gd name="T13" fmla="*/ 11 h 51"/>
                <a:gd name="T14" fmla="*/ 165 w 169"/>
                <a:gd name="T15" fmla="*/ 18 h 51"/>
                <a:gd name="T16" fmla="*/ 165 w 169"/>
                <a:gd name="T17" fmla="*/ 24 h 51"/>
                <a:gd name="T18" fmla="*/ 165 w 169"/>
                <a:gd name="T19" fmla="*/ 31 h 51"/>
                <a:gd name="T20" fmla="*/ 164 w 169"/>
                <a:gd name="T21" fmla="*/ 38 h 51"/>
                <a:gd name="T22" fmla="*/ 164 w 169"/>
                <a:gd name="T23" fmla="*/ 44 h 51"/>
                <a:gd name="T24" fmla="*/ 160 w 169"/>
                <a:gd name="T25" fmla="*/ 51 h 51"/>
                <a:gd name="T26" fmla="*/ 165 w 169"/>
                <a:gd name="T27" fmla="*/ 48 h 51"/>
                <a:gd name="T28" fmla="*/ 167 w 169"/>
                <a:gd name="T29" fmla="*/ 41 h 51"/>
                <a:gd name="T30" fmla="*/ 169 w 169"/>
                <a:gd name="T31" fmla="*/ 34 h 51"/>
                <a:gd name="T32" fmla="*/ 169 w 169"/>
                <a:gd name="T33" fmla="*/ 28 h 51"/>
                <a:gd name="T34" fmla="*/ 5 w 169"/>
                <a:gd name="T35" fmla="*/ 0 h 51"/>
                <a:gd name="T36" fmla="*/ 3 w 169"/>
                <a:gd name="T37" fmla="*/ 4 h 51"/>
                <a:gd name="T38" fmla="*/ 1 w 169"/>
                <a:gd name="T39" fmla="*/ 11 h 51"/>
                <a:gd name="T40" fmla="*/ 0 w 169"/>
                <a:gd name="T41" fmla="*/ 18 h 51"/>
                <a:gd name="T42" fmla="*/ 0 w 169"/>
                <a:gd name="T43" fmla="*/ 24 h 51"/>
                <a:gd name="T44" fmla="*/ 0 w 169"/>
                <a:gd name="T45" fmla="*/ 31 h 51"/>
                <a:gd name="T46" fmla="*/ 1 w 169"/>
                <a:gd name="T47" fmla="*/ 38 h 51"/>
                <a:gd name="T48" fmla="*/ 3 w 169"/>
                <a:gd name="T49" fmla="*/ 44 h 51"/>
                <a:gd name="T50" fmla="*/ 5 w 169"/>
                <a:gd name="T51" fmla="*/ 51 h 51"/>
                <a:gd name="T52" fmla="*/ 6 w 169"/>
                <a:gd name="T53" fmla="*/ 48 h 51"/>
                <a:gd name="T54" fmla="*/ 5 w 169"/>
                <a:gd name="T55" fmla="*/ 41 h 51"/>
                <a:gd name="T56" fmla="*/ 5 w 169"/>
                <a:gd name="T57" fmla="*/ 34 h 51"/>
                <a:gd name="T58" fmla="*/ 3 w 169"/>
                <a:gd name="T59" fmla="*/ 28 h 51"/>
                <a:gd name="T60" fmla="*/ 3 w 169"/>
                <a:gd name="T61" fmla="*/ 21 h 51"/>
                <a:gd name="T62" fmla="*/ 5 w 169"/>
                <a:gd name="T63" fmla="*/ 14 h 51"/>
                <a:gd name="T64" fmla="*/ 5 w 169"/>
                <a:gd name="T65" fmla="*/ 8 h 51"/>
                <a:gd name="T66" fmla="*/ 6 w 169"/>
                <a:gd name="T67" fmla="*/ 3 h 51"/>
                <a:gd name="T68" fmla="*/ 5 w 16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69" h="51">
                  <a:moveTo>
                    <a:pt x="169" y="24"/>
                  </a:moveTo>
                  <a:lnTo>
                    <a:pt x="169" y="21"/>
                  </a:lnTo>
                  <a:lnTo>
                    <a:pt x="169" y="18"/>
                  </a:lnTo>
                  <a:lnTo>
                    <a:pt x="169" y="14"/>
                  </a:lnTo>
                  <a:lnTo>
                    <a:pt x="167" y="11"/>
                  </a:lnTo>
                  <a:lnTo>
                    <a:pt x="167" y="8"/>
                  </a:lnTo>
                  <a:lnTo>
                    <a:pt x="165" y="4"/>
                  </a:lnTo>
                  <a:lnTo>
                    <a:pt x="165" y="3"/>
                  </a:lnTo>
                  <a:lnTo>
                    <a:pt x="164" y="0"/>
                  </a:lnTo>
                  <a:lnTo>
                    <a:pt x="160" y="0"/>
                  </a:lnTo>
                  <a:lnTo>
                    <a:pt x="162" y="3"/>
                  </a:lnTo>
                  <a:lnTo>
                    <a:pt x="162" y="4"/>
                  </a:lnTo>
                  <a:lnTo>
                    <a:pt x="164" y="8"/>
                  </a:lnTo>
                  <a:lnTo>
                    <a:pt x="164" y="11"/>
                  </a:lnTo>
                  <a:lnTo>
                    <a:pt x="165" y="14"/>
                  </a:lnTo>
                  <a:lnTo>
                    <a:pt x="165" y="18"/>
                  </a:lnTo>
                  <a:lnTo>
                    <a:pt x="165" y="21"/>
                  </a:lnTo>
                  <a:lnTo>
                    <a:pt x="165" y="24"/>
                  </a:lnTo>
                  <a:lnTo>
                    <a:pt x="165" y="28"/>
                  </a:lnTo>
                  <a:lnTo>
                    <a:pt x="165" y="31"/>
                  </a:lnTo>
                  <a:lnTo>
                    <a:pt x="165" y="34"/>
                  </a:lnTo>
                  <a:lnTo>
                    <a:pt x="164" y="38"/>
                  </a:lnTo>
                  <a:lnTo>
                    <a:pt x="164" y="41"/>
                  </a:lnTo>
                  <a:lnTo>
                    <a:pt x="164" y="44"/>
                  </a:lnTo>
                  <a:lnTo>
                    <a:pt x="162" y="48"/>
                  </a:lnTo>
                  <a:lnTo>
                    <a:pt x="160" y="51"/>
                  </a:lnTo>
                  <a:lnTo>
                    <a:pt x="165" y="51"/>
                  </a:lnTo>
                  <a:lnTo>
                    <a:pt x="165" y="48"/>
                  </a:lnTo>
                  <a:lnTo>
                    <a:pt x="167" y="44"/>
                  </a:lnTo>
                  <a:lnTo>
                    <a:pt x="167" y="41"/>
                  </a:lnTo>
                  <a:lnTo>
                    <a:pt x="167" y="38"/>
                  </a:lnTo>
                  <a:lnTo>
                    <a:pt x="169" y="34"/>
                  </a:lnTo>
                  <a:lnTo>
                    <a:pt x="169" y="31"/>
                  </a:lnTo>
                  <a:lnTo>
                    <a:pt x="169" y="28"/>
                  </a:lnTo>
                  <a:lnTo>
                    <a:pt x="169" y="24"/>
                  </a:lnTo>
                  <a:close/>
                  <a:moveTo>
                    <a:pt x="5"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5" y="51"/>
                  </a:lnTo>
                  <a:lnTo>
                    <a:pt x="8"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5" name="Freeform 467">
              <a:extLst>
                <a:ext uri="{FF2B5EF4-FFF2-40B4-BE49-F238E27FC236}">
                  <a16:creationId xmlns:a16="http://schemas.microsoft.com/office/drawing/2014/main" id="{D6FC6AB8-A346-A5BB-67A2-3EBB3D1CA854}"/>
                </a:ext>
              </a:extLst>
            </p:cNvPr>
            <p:cNvSpPr>
              <a:spLocks noEditPoints="1"/>
            </p:cNvSpPr>
            <p:nvPr/>
          </p:nvSpPr>
          <p:spPr bwMode="auto">
            <a:xfrm>
              <a:off x="1528" y="1713"/>
              <a:ext cx="166" cy="51"/>
            </a:xfrm>
            <a:custGeom>
              <a:avLst/>
              <a:gdLst>
                <a:gd name="T0" fmla="*/ 166 w 166"/>
                <a:gd name="T1" fmla="*/ 21 h 51"/>
                <a:gd name="T2" fmla="*/ 166 w 166"/>
                <a:gd name="T3" fmla="*/ 14 h 51"/>
                <a:gd name="T4" fmla="*/ 164 w 166"/>
                <a:gd name="T5" fmla="*/ 8 h 51"/>
                <a:gd name="T6" fmla="*/ 163 w 166"/>
                <a:gd name="T7" fmla="*/ 3 h 51"/>
                <a:gd name="T8" fmla="*/ 158 w 166"/>
                <a:gd name="T9" fmla="*/ 0 h 51"/>
                <a:gd name="T10" fmla="*/ 159 w 166"/>
                <a:gd name="T11" fmla="*/ 4 h 51"/>
                <a:gd name="T12" fmla="*/ 161 w 166"/>
                <a:gd name="T13" fmla="*/ 11 h 51"/>
                <a:gd name="T14" fmla="*/ 163 w 166"/>
                <a:gd name="T15" fmla="*/ 18 h 51"/>
                <a:gd name="T16" fmla="*/ 163 w 166"/>
                <a:gd name="T17" fmla="*/ 24 h 51"/>
                <a:gd name="T18" fmla="*/ 163 w 166"/>
                <a:gd name="T19" fmla="*/ 31 h 51"/>
                <a:gd name="T20" fmla="*/ 161 w 166"/>
                <a:gd name="T21" fmla="*/ 38 h 51"/>
                <a:gd name="T22" fmla="*/ 159 w 166"/>
                <a:gd name="T23" fmla="*/ 44 h 51"/>
                <a:gd name="T24" fmla="*/ 158 w 166"/>
                <a:gd name="T25" fmla="*/ 51 h 51"/>
                <a:gd name="T26" fmla="*/ 163 w 166"/>
                <a:gd name="T27" fmla="*/ 48 h 51"/>
                <a:gd name="T28" fmla="*/ 164 w 166"/>
                <a:gd name="T29" fmla="*/ 41 h 51"/>
                <a:gd name="T30" fmla="*/ 166 w 166"/>
                <a:gd name="T31" fmla="*/ 34 h 51"/>
                <a:gd name="T32" fmla="*/ 166 w 166"/>
                <a:gd name="T33" fmla="*/ 28 h 51"/>
                <a:gd name="T34" fmla="*/ 5 w 166"/>
                <a:gd name="T35" fmla="*/ 0 h 51"/>
                <a:gd name="T36" fmla="*/ 4 w 166"/>
                <a:gd name="T37" fmla="*/ 4 h 51"/>
                <a:gd name="T38" fmla="*/ 2 w 166"/>
                <a:gd name="T39" fmla="*/ 11 h 51"/>
                <a:gd name="T40" fmla="*/ 0 w 166"/>
                <a:gd name="T41" fmla="*/ 18 h 51"/>
                <a:gd name="T42" fmla="*/ 0 w 166"/>
                <a:gd name="T43" fmla="*/ 24 h 51"/>
                <a:gd name="T44" fmla="*/ 0 w 166"/>
                <a:gd name="T45" fmla="*/ 31 h 51"/>
                <a:gd name="T46" fmla="*/ 2 w 166"/>
                <a:gd name="T47" fmla="*/ 38 h 51"/>
                <a:gd name="T48" fmla="*/ 4 w 166"/>
                <a:gd name="T49" fmla="*/ 44 h 51"/>
                <a:gd name="T50" fmla="*/ 5 w 166"/>
                <a:gd name="T51" fmla="*/ 51 h 51"/>
                <a:gd name="T52" fmla="*/ 7 w 166"/>
                <a:gd name="T53" fmla="*/ 48 h 51"/>
                <a:gd name="T54" fmla="*/ 5 w 166"/>
                <a:gd name="T55" fmla="*/ 41 h 51"/>
                <a:gd name="T56" fmla="*/ 5 w 166"/>
                <a:gd name="T57" fmla="*/ 34 h 51"/>
                <a:gd name="T58" fmla="*/ 4 w 166"/>
                <a:gd name="T59" fmla="*/ 28 h 51"/>
                <a:gd name="T60" fmla="*/ 4 w 166"/>
                <a:gd name="T61" fmla="*/ 21 h 51"/>
                <a:gd name="T62" fmla="*/ 5 w 166"/>
                <a:gd name="T63" fmla="*/ 14 h 51"/>
                <a:gd name="T64" fmla="*/ 5 w 166"/>
                <a:gd name="T65" fmla="*/ 8 h 51"/>
                <a:gd name="T66" fmla="*/ 7 w 166"/>
                <a:gd name="T67" fmla="*/ 3 h 51"/>
                <a:gd name="T68" fmla="*/ 5 w 1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66" h="51">
                  <a:moveTo>
                    <a:pt x="166" y="24"/>
                  </a:moveTo>
                  <a:lnTo>
                    <a:pt x="166" y="21"/>
                  </a:lnTo>
                  <a:lnTo>
                    <a:pt x="166" y="18"/>
                  </a:lnTo>
                  <a:lnTo>
                    <a:pt x="166" y="14"/>
                  </a:lnTo>
                  <a:lnTo>
                    <a:pt x="164" y="11"/>
                  </a:lnTo>
                  <a:lnTo>
                    <a:pt x="164" y="8"/>
                  </a:lnTo>
                  <a:lnTo>
                    <a:pt x="163" y="4"/>
                  </a:lnTo>
                  <a:lnTo>
                    <a:pt x="163" y="3"/>
                  </a:lnTo>
                  <a:lnTo>
                    <a:pt x="161" y="0"/>
                  </a:lnTo>
                  <a:lnTo>
                    <a:pt x="158" y="0"/>
                  </a:lnTo>
                  <a:lnTo>
                    <a:pt x="159" y="3"/>
                  </a:lnTo>
                  <a:lnTo>
                    <a:pt x="159" y="4"/>
                  </a:lnTo>
                  <a:lnTo>
                    <a:pt x="161" y="8"/>
                  </a:lnTo>
                  <a:lnTo>
                    <a:pt x="161" y="11"/>
                  </a:lnTo>
                  <a:lnTo>
                    <a:pt x="161" y="14"/>
                  </a:lnTo>
                  <a:lnTo>
                    <a:pt x="163" y="18"/>
                  </a:lnTo>
                  <a:lnTo>
                    <a:pt x="163" y="21"/>
                  </a:lnTo>
                  <a:lnTo>
                    <a:pt x="163" y="24"/>
                  </a:lnTo>
                  <a:lnTo>
                    <a:pt x="163" y="28"/>
                  </a:lnTo>
                  <a:lnTo>
                    <a:pt x="163" y="31"/>
                  </a:lnTo>
                  <a:lnTo>
                    <a:pt x="163" y="34"/>
                  </a:lnTo>
                  <a:lnTo>
                    <a:pt x="161" y="38"/>
                  </a:lnTo>
                  <a:lnTo>
                    <a:pt x="161" y="41"/>
                  </a:lnTo>
                  <a:lnTo>
                    <a:pt x="159" y="44"/>
                  </a:lnTo>
                  <a:lnTo>
                    <a:pt x="159" y="48"/>
                  </a:lnTo>
                  <a:lnTo>
                    <a:pt x="158" y="51"/>
                  </a:lnTo>
                  <a:lnTo>
                    <a:pt x="163" y="51"/>
                  </a:lnTo>
                  <a:lnTo>
                    <a:pt x="163" y="48"/>
                  </a:lnTo>
                  <a:lnTo>
                    <a:pt x="164" y="44"/>
                  </a:lnTo>
                  <a:lnTo>
                    <a:pt x="164" y="41"/>
                  </a:lnTo>
                  <a:lnTo>
                    <a:pt x="164" y="38"/>
                  </a:lnTo>
                  <a:lnTo>
                    <a:pt x="166" y="34"/>
                  </a:lnTo>
                  <a:lnTo>
                    <a:pt x="166" y="31"/>
                  </a:lnTo>
                  <a:lnTo>
                    <a:pt x="166" y="28"/>
                  </a:lnTo>
                  <a:lnTo>
                    <a:pt x="166" y="24"/>
                  </a:lnTo>
                  <a:close/>
                  <a:moveTo>
                    <a:pt x="5"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5" y="51"/>
                  </a:lnTo>
                  <a:lnTo>
                    <a:pt x="9"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9"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6" name="Freeform 468">
              <a:extLst>
                <a:ext uri="{FF2B5EF4-FFF2-40B4-BE49-F238E27FC236}">
                  <a16:creationId xmlns:a16="http://schemas.microsoft.com/office/drawing/2014/main" id="{D1E2F88B-9921-174D-7278-659D1EE013DD}"/>
                </a:ext>
              </a:extLst>
            </p:cNvPr>
            <p:cNvSpPr>
              <a:spLocks noEditPoints="1"/>
            </p:cNvSpPr>
            <p:nvPr/>
          </p:nvSpPr>
          <p:spPr bwMode="auto">
            <a:xfrm>
              <a:off x="1530" y="1713"/>
              <a:ext cx="162" cy="51"/>
            </a:xfrm>
            <a:custGeom>
              <a:avLst/>
              <a:gdLst>
                <a:gd name="T0" fmla="*/ 162 w 162"/>
                <a:gd name="T1" fmla="*/ 21 h 51"/>
                <a:gd name="T2" fmla="*/ 162 w 162"/>
                <a:gd name="T3" fmla="*/ 14 h 51"/>
                <a:gd name="T4" fmla="*/ 161 w 162"/>
                <a:gd name="T5" fmla="*/ 8 h 51"/>
                <a:gd name="T6" fmla="*/ 159 w 162"/>
                <a:gd name="T7" fmla="*/ 3 h 51"/>
                <a:gd name="T8" fmla="*/ 154 w 162"/>
                <a:gd name="T9" fmla="*/ 0 h 51"/>
                <a:gd name="T10" fmla="*/ 156 w 162"/>
                <a:gd name="T11" fmla="*/ 4 h 51"/>
                <a:gd name="T12" fmla="*/ 157 w 162"/>
                <a:gd name="T13" fmla="*/ 11 h 51"/>
                <a:gd name="T14" fmla="*/ 159 w 162"/>
                <a:gd name="T15" fmla="*/ 18 h 51"/>
                <a:gd name="T16" fmla="*/ 159 w 162"/>
                <a:gd name="T17" fmla="*/ 24 h 51"/>
                <a:gd name="T18" fmla="*/ 159 w 162"/>
                <a:gd name="T19" fmla="*/ 31 h 51"/>
                <a:gd name="T20" fmla="*/ 157 w 162"/>
                <a:gd name="T21" fmla="*/ 38 h 51"/>
                <a:gd name="T22" fmla="*/ 156 w 162"/>
                <a:gd name="T23" fmla="*/ 44 h 51"/>
                <a:gd name="T24" fmla="*/ 154 w 162"/>
                <a:gd name="T25" fmla="*/ 51 h 51"/>
                <a:gd name="T26" fmla="*/ 159 w 162"/>
                <a:gd name="T27" fmla="*/ 48 h 51"/>
                <a:gd name="T28" fmla="*/ 161 w 162"/>
                <a:gd name="T29" fmla="*/ 41 h 51"/>
                <a:gd name="T30" fmla="*/ 162 w 162"/>
                <a:gd name="T31" fmla="*/ 34 h 51"/>
                <a:gd name="T32" fmla="*/ 162 w 162"/>
                <a:gd name="T33" fmla="*/ 28 h 51"/>
                <a:gd name="T34" fmla="*/ 5 w 162"/>
                <a:gd name="T35" fmla="*/ 0 h 51"/>
                <a:gd name="T36" fmla="*/ 3 w 162"/>
                <a:gd name="T37" fmla="*/ 4 h 51"/>
                <a:gd name="T38" fmla="*/ 2 w 162"/>
                <a:gd name="T39" fmla="*/ 11 h 51"/>
                <a:gd name="T40" fmla="*/ 0 w 162"/>
                <a:gd name="T41" fmla="*/ 18 h 51"/>
                <a:gd name="T42" fmla="*/ 0 w 162"/>
                <a:gd name="T43" fmla="*/ 24 h 51"/>
                <a:gd name="T44" fmla="*/ 0 w 162"/>
                <a:gd name="T45" fmla="*/ 31 h 51"/>
                <a:gd name="T46" fmla="*/ 2 w 162"/>
                <a:gd name="T47" fmla="*/ 38 h 51"/>
                <a:gd name="T48" fmla="*/ 3 w 162"/>
                <a:gd name="T49" fmla="*/ 44 h 51"/>
                <a:gd name="T50" fmla="*/ 5 w 162"/>
                <a:gd name="T51" fmla="*/ 51 h 51"/>
                <a:gd name="T52" fmla="*/ 7 w 162"/>
                <a:gd name="T53" fmla="*/ 48 h 51"/>
                <a:gd name="T54" fmla="*/ 5 w 162"/>
                <a:gd name="T55" fmla="*/ 41 h 51"/>
                <a:gd name="T56" fmla="*/ 5 w 162"/>
                <a:gd name="T57" fmla="*/ 34 h 51"/>
                <a:gd name="T58" fmla="*/ 3 w 162"/>
                <a:gd name="T59" fmla="*/ 28 h 51"/>
                <a:gd name="T60" fmla="*/ 3 w 162"/>
                <a:gd name="T61" fmla="*/ 21 h 51"/>
                <a:gd name="T62" fmla="*/ 5 w 162"/>
                <a:gd name="T63" fmla="*/ 14 h 51"/>
                <a:gd name="T64" fmla="*/ 5 w 162"/>
                <a:gd name="T65" fmla="*/ 8 h 51"/>
                <a:gd name="T66" fmla="*/ 7 w 162"/>
                <a:gd name="T67" fmla="*/ 3 h 51"/>
                <a:gd name="T68" fmla="*/ 5 w 1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62" h="51">
                  <a:moveTo>
                    <a:pt x="162" y="24"/>
                  </a:moveTo>
                  <a:lnTo>
                    <a:pt x="162" y="21"/>
                  </a:lnTo>
                  <a:lnTo>
                    <a:pt x="162" y="18"/>
                  </a:lnTo>
                  <a:lnTo>
                    <a:pt x="162" y="14"/>
                  </a:lnTo>
                  <a:lnTo>
                    <a:pt x="161" y="11"/>
                  </a:lnTo>
                  <a:lnTo>
                    <a:pt x="161" y="8"/>
                  </a:lnTo>
                  <a:lnTo>
                    <a:pt x="159" y="4"/>
                  </a:lnTo>
                  <a:lnTo>
                    <a:pt x="159" y="3"/>
                  </a:lnTo>
                  <a:lnTo>
                    <a:pt x="157" y="0"/>
                  </a:lnTo>
                  <a:lnTo>
                    <a:pt x="154" y="0"/>
                  </a:lnTo>
                  <a:lnTo>
                    <a:pt x="156" y="3"/>
                  </a:lnTo>
                  <a:lnTo>
                    <a:pt x="156" y="4"/>
                  </a:lnTo>
                  <a:lnTo>
                    <a:pt x="157" y="8"/>
                  </a:lnTo>
                  <a:lnTo>
                    <a:pt x="157" y="11"/>
                  </a:lnTo>
                  <a:lnTo>
                    <a:pt x="157" y="14"/>
                  </a:lnTo>
                  <a:lnTo>
                    <a:pt x="159" y="18"/>
                  </a:lnTo>
                  <a:lnTo>
                    <a:pt x="159" y="21"/>
                  </a:lnTo>
                  <a:lnTo>
                    <a:pt x="159" y="24"/>
                  </a:lnTo>
                  <a:lnTo>
                    <a:pt x="159" y="28"/>
                  </a:lnTo>
                  <a:lnTo>
                    <a:pt x="159" y="31"/>
                  </a:lnTo>
                  <a:lnTo>
                    <a:pt x="159" y="34"/>
                  </a:lnTo>
                  <a:lnTo>
                    <a:pt x="157" y="38"/>
                  </a:lnTo>
                  <a:lnTo>
                    <a:pt x="157" y="41"/>
                  </a:lnTo>
                  <a:lnTo>
                    <a:pt x="156" y="44"/>
                  </a:lnTo>
                  <a:lnTo>
                    <a:pt x="156" y="48"/>
                  </a:lnTo>
                  <a:lnTo>
                    <a:pt x="154" y="51"/>
                  </a:lnTo>
                  <a:lnTo>
                    <a:pt x="157" y="51"/>
                  </a:lnTo>
                  <a:lnTo>
                    <a:pt x="159" y="48"/>
                  </a:lnTo>
                  <a:lnTo>
                    <a:pt x="161" y="44"/>
                  </a:lnTo>
                  <a:lnTo>
                    <a:pt x="161" y="41"/>
                  </a:lnTo>
                  <a:lnTo>
                    <a:pt x="161" y="38"/>
                  </a:lnTo>
                  <a:lnTo>
                    <a:pt x="162" y="34"/>
                  </a:lnTo>
                  <a:lnTo>
                    <a:pt x="162" y="31"/>
                  </a:lnTo>
                  <a:lnTo>
                    <a:pt x="162" y="28"/>
                  </a:lnTo>
                  <a:lnTo>
                    <a:pt x="16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5" y="51"/>
                  </a:lnTo>
                  <a:lnTo>
                    <a:pt x="8"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8"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7" name="Freeform 469">
              <a:extLst>
                <a:ext uri="{FF2B5EF4-FFF2-40B4-BE49-F238E27FC236}">
                  <a16:creationId xmlns:a16="http://schemas.microsoft.com/office/drawing/2014/main" id="{6385F3B6-E23B-18C4-D3D6-4C36152D43E2}"/>
                </a:ext>
              </a:extLst>
            </p:cNvPr>
            <p:cNvSpPr>
              <a:spLocks noEditPoints="1"/>
            </p:cNvSpPr>
            <p:nvPr/>
          </p:nvSpPr>
          <p:spPr bwMode="auto">
            <a:xfrm>
              <a:off x="1532" y="1713"/>
              <a:ext cx="159" cy="51"/>
            </a:xfrm>
            <a:custGeom>
              <a:avLst/>
              <a:gdLst>
                <a:gd name="T0" fmla="*/ 159 w 159"/>
                <a:gd name="T1" fmla="*/ 21 h 51"/>
                <a:gd name="T2" fmla="*/ 157 w 159"/>
                <a:gd name="T3" fmla="*/ 14 h 51"/>
                <a:gd name="T4" fmla="*/ 157 w 159"/>
                <a:gd name="T5" fmla="*/ 8 h 51"/>
                <a:gd name="T6" fmla="*/ 155 w 159"/>
                <a:gd name="T7" fmla="*/ 3 h 51"/>
                <a:gd name="T8" fmla="*/ 150 w 159"/>
                <a:gd name="T9" fmla="*/ 0 h 51"/>
                <a:gd name="T10" fmla="*/ 152 w 159"/>
                <a:gd name="T11" fmla="*/ 4 h 51"/>
                <a:gd name="T12" fmla="*/ 154 w 159"/>
                <a:gd name="T13" fmla="*/ 11 h 51"/>
                <a:gd name="T14" fmla="*/ 155 w 159"/>
                <a:gd name="T15" fmla="*/ 18 h 51"/>
                <a:gd name="T16" fmla="*/ 155 w 159"/>
                <a:gd name="T17" fmla="*/ 24 h 51"/>
                <a:gd name="T18" fmla="*/ 155 w 159"/>
                <a:gd name="T19" fmla="*/ 31 h 51"/>
                <a:gd name="T20" fmla="*/ 154 w 159"/>
                <a:gd name="T21" fmla="*/ 38 h 51"/>
                <a:gd name="T22" fmla="*/ 152 w 159"/>
                <a:gd name="T23" fmla="*/ 44 h 51"/>
                <a:gd name="T24" fmla="*/ 150 w 159"/>
                <a:gd name="T25" fmla="*/ 51 h 51"/>
                <a:gd name="T26" fmla="*/ 155 w 159"/>
                <a:gd name="T27" fmla="*/ 48 h 51"/>
                <a:gd name="T28" fmla="*/ 157 w 159"/>
                <a:gd name="T29" fmla="*/ 41 h 51"/>
                <a:gd name="T30" fmla="*/ 159 w 159"/>
                <a:gd name="T31" fmla="*/ 34 h 51"/>
                <a:gd name="T32" fmla="*/ 159 w 159"/>
                <a:gd name="T33" fmla="*/ 28 h 51"/>
                <a:gd name="T34" fmla="*/ 5 w 159"/>
                <a:gd name="T35" fmla="*/ 0 h 51"/>
                <a:gd name="T36" fmla="*/ 3 w 159"/>
                <a:gd name="T37" fmla="*/ 4 h 51"/>
                <a:gd name="T38" fmla="*/ 1 w 159"/>
                <a:gd name="T39" fmla="*/ 11 h 51"/>
                <a:gd name="T40" fmla="*/ 0 w 159"/>
                <a:gd name="T41" fmla="*/ 18 h 51"/>
                <a:gd name="T42" fmla="*/ 0 w 159"/>
                <a:gd name="T43" fmla="*/ 24 h 51"/>
                <a:gd name="T44" fmla="*/ 0 w 159"/>
                <a:gd name="T45" fmla="*/ 31 h 51"/>
                <a:gd name="T46" fmla="*/ 1 w 159"/>
                <a:gd name="T47" fmla="*/ 38 h 51"/>
                <a:gd name="T48" fmla="*/ 3 w 159"/>
                <a:gd name="T49" fmla="*/ 44 h 51"/>
                <a:gd name="T50" fmla="*/ 5 w 159"/>
                <a:gd name="T51" fmla="*/ 51 h 51"/>
                <a:gd name="T52" fmla="*/ 6 w 159"/>
                <a:gd name="T53" fmla="*/ 48 h 51"/>
                <a:gd name="T54" fmla="*/ 5 w 159"/>
                <a:gd name="T55" fmla="*/ 41 h 51"/>
                <a:gd name="T56" fmla="*/ 5 w 159"/>
                <a:gd name="T57" fmla="*/ 34 h 51"/>
                <a:gd name="T58" fmla="*/ 3 w 159"/>
                <a:gd name="T59" fmla="*/ 28 h 51"/>
                <a:gd name="T60" fmla="*/ 3 w 159"/>
                <a:gd name="T61" fmla="*/ 21 h 51"/>
                <a:gd name="T62" fmla="*/ 5 w 159"/>
                <a:gd name="T63" fmla="*/ 14 h 51"/>
                <a:gd name="T64" fmla="*/ 5 w 159"/>
                <a:gd name="T65" fmla="*/ 8 h 51"/>
                <a:gd name="T66" fmla="*/ 6 w 159"/>
                <a:gd name="T67" fmla="*/ 3 h 51"/>
                <a:gd name="T68" fmla="*/ 5 w 15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59" h="51">
                  <a:moveTo>
                    <a:pt x="159" y="24"/>
                  </a:moveTo>
                  <a:lnTo>
                    <a:pt x="159" y="21"/>
                  </a:lnTo>
                  <a:lnTo>
                    <a:pt x="159" y="18"/>
                  </a:lnTo>
                  <a:lnTo>
                    <a:pt x="157" y="14"/>
                  </a:lnTo>
                  <a:lnTo>
                    <a:pt x="157" y="11"/>
                  </a:lnTo>
                  <a:lnTo>
                    <a:pt x="157" y="8"/>
                  </a:lnTo>
                  <a:lnTo>
                    <a:pt x="155" y="4"/>
                  </a:lnTo>
                  <a:lnTo>
                    <a:pt x="155" y="3"/>
                  </a:lnTo>
                  <a:lnTo>
                    <a:pt x="154" y="0"/>
                  </a:lnTo>
                  <a:lnTo>
                    <a:pt x="150" y="0"/>
                  </a:lnTo>
                  <a:lnTo>
                    <a:pt x="152" y="3"/>
                  </a:lnTo>
                  <a:lnTo>
                    <a:pt x="152" y="4"/>
                  </a:lnTo>
                  <a:lnTo>
                    <a:pt x="154" y="8"/>
                  </a:lnTo>
                  <a:lnTo>
                    <a:pt x="154" y="11"/>
                  </a:lnTo>
                  <a:lnTo>
                    <a:pt x="154" y="14"/>
                  </a:lnTo>
                  <a:lnTo>
                    <a:pt x="155" y="18"/>
                  </a:lnTo>
                  <a:lnTo>
                    <a:pt x="155" y="21"/>
                  </a:lnTo>
                  <a:lnTo>
                    <a:pt x="155" y="24"/>
                  </a:lnTo>
                  <a:lnTo>
                    <a:pt x="155" y="28"/>
                  </a:lnTo>
                  <a:lnTo>
                    <a:pt x="155" y="31"/>
                  </a:lnTo>
                  <a:lnTo>
                    <a:pt x="155" y="34"/>
                  </a:lnTo>
                  <a:lnTo>
                    <a:pt x="154" y="38"/>
                  </a:lnTo>
                  <a:lnTo>
                    <a:pt x="154" y="41"/>
                  </a:lnTo>
                  <a:lnTo>
                    <a:pt x="152" y="44"/>
                  </a:lnTo>
                  <a:lnTo>
                    <a:pt x="152" y="48"/>
                  </a:lnTo>
                  <a:lnTo>
                    <a:pt x="150" y="51"/>
                  </a:lnTo>
                  <a:lnTo>
                    <a:pt x="154" y="51"/>
                  </a:lnTo>
                  <a:lnTo>
                    <a:pt x="155" y="48"/>
                  </a:lnTo>
                  <a:lnTo>
                    <a:pt x="155" y="44"/>
                  </a:lnTo>
                  <a:lnTo>
                    <a:pt x="157" y="41"/>
                  </a:lnTo>
                  <a:lnTo>
                    <a:pt x="157" y="38"/>
                  </a:lnTo>
                  <a:lnTo>
                    <a:pt x="159" y="34"/>
                  </a:lnTo>
                  <a:lnTo>
                    <a:pt x="159" y="31"/>
                  </a:lnTo>
                  <a:lnTo>
                    <a:pt x="159" y="28"/>
                  </a:lnTo>
                  <a:lnTo>
                    <a:pt x="159" y="24"/>
                  </a:lnTo>
                  <a:close/>
                  <a:moveTo>
                    <a:pt x="5"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5" y="51"/>
                  </a:lnTo>
                  <a:lnTo>
                    <a:pt x="8"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8" name="Freeform 470">
              <a:extLst>
                <a:ext uri="{FF2B5EF4-FFF2-40B4-BE49-F238E27FC236}">
                  <a16:creationId xmlns:a16="http://schemas.microsoft.com/office/drawing/2014/main" id="{256BAD4B-CA6B-FBCD-04B1-7F3652C57115}"/>
                </a:ext>
              </a:extLst>
            </p:cNvPr>
            <p:cNvSpPr>
              <a:spLocks noEditPoints="1"/>
            </p:cNvSpPr>
            <p:nvPr/>
          </p:nvSpPr>
          <p:spPr bwMode="auto">
            <a:xfrm>
              <a:off x="1533" y="1713"/>
              <a:ext cx="156" cy="51"/>
            </a:xfrm>
            <a:custGeom>
              <a:avLst/>
              <a:gdLst>
                <a:gd name="T0" fmla="*/ 156 w 156"/>
                <a:gd name="T1" fmla="*/ 21 h 51"/>
                <a:gd name="T2" fmla="*/ 154 w 156"/>
                <a:gd name="T3" fmla="*/ 14 h 51"/>
                <a:gd name="T4" fmla="*/ 154 w 156"/>
                <a:gd name="T5" fmla="*/ 8 h 51"/>
                <a:gd name="T6" fmla="*/ 153 w 156"/>
                <a:gd name="T7" fmla="*/ 3 h 51"/>
                <a:gd name="T8" fmla="*/ 148 w 156"/>
                <a:gd name="T9" fmla="*/ 0 h 51"/>
                <a:gd name="T10" fmla="*/ 149 w 156"/>
                <a:gd name="T11" fmla="*/ 4 h 51"/>
                <a:gd name="T12" fmla="*/ 151 w 156"/>
                <a:gd name="T13" fmla="*/ 11 h 51"/>
                <a:gd name="T14" fmla="*/ 153 w 156"/>
                <a:gd name="T15" fmla="*/ 18 h 51"/>
                <a:gd name="T16" fmla="*/ 153 w 156"/>
                <a:gd name="T17" fmla="*/ 24 h 51"/>
                <a:gd name="T18" fmla="*/ 153 w 156"/>
                <a:gd name="T19" fmla="*/ 31 h 51"/>
                <a:gd name="T20" fmla="*/ 151 w 156"/>
                <a:gd name="T21" fmla="*/ 38 h 51"/>
                <a:gd name="T22" fmla="*/ 149 w 156"/>
                <a:gd name="T23" fmla="*/ 44 h 51"/>
                <a:gd name="T24" fmla="*/ 148 w 156"/>
                <a:gd name="T25" fmla="*/ 51 h 51"/>
                <a:gd name="T26" fmla="*/ 153 w 156"/>
                <a:gd name="T27" fmla="*/ 48 h 51"/>
                <a:gd name="T28" fmla="*/ 154 w 156"/>
                <a:gd name="T29" fmla="*/ 41 h 51"/>
                <a:gd name="T30" fmla="*/ 156 w 156"/>
                <a:gd name="T31" fmla="*/ 34 h 51"/>
                <a:gd name="T32" fmla="*/ 156 w 156"/>
                <a:gd name="T33" fmla="*/ 28 h 51"/>
                <a:gd name="T34" fmla="*/ 5 w 156"/>
                <a:gd name="T35" fmla="*/ 0 h 51"/>
                <a:gd name="T36" fmla="*/ 4 w 156"/>
                <a:gd name="T37" fmla="*/ 4 h 51"/>
                <a:gd name="T38" fmla="*/ 2 w 156"/>
                <a:gd name="T39" fmla="*/ 11 h 51"/>
                <a:gd name="T40" fmla="*/ 0 w 156"/>
                <a:gd name="T41" fmla="*/ 18 h 51"/>
                <a:gd name="T42" fmla="*/ 0 w 156"/>
                <a:gd name="T43" fmla="*/ 24 h 51"/>
                <a:gd name="T44" fmla="*/ 0 w 156"/>
                <a:gd name="T45" fmla="*/ 31 h 51"/>
                <a:gd name="T46" fmla="*/ 2 w 156"/>
                <a:gd name="T47" fmla="*/ 38 h 51"/>
                <a:gd name="T48" fmla="*/ 4 w 156"/>
                <a:gd name="T49" fmla="*/ 44 h 51"/>
                <a:gd name="T50" fmla="*/ 5 w 156"/>
                <a:gd name="T51" fmla="*/ 51 h 51"/>
                <a:gd name="T52" fmla="*/ 7 w 156"/>
                <a:gd name="T53" fmla="*/ 48 h 51"/>
                <a:gd name="T54" fmla="*/ 5 w 156"/>
                <a:gd name="T55" fmla="*/ 41 h 51"/>
                <a:gd name="T56" fmla="*/ 5 w 156"/>
                <a:gd name="T57" fmla="*/ 34 h 51"/>
                <a:gd name="T58" fmla="*/ 4 w 156"/>
                <a:gd name="T59" fmla="*/ 28 h 51"/>
                <a:gd name="T60" fmla="*/ 4 w 156"/>
                <a:gd name="T61" fmla="*/ 21 h 51"/>
                <a:gd name="T62" fmla="*/ 5 w 156"/>
                <a:gd name="T63" fmla="*/ 14 h 51"/>
                <a:gd name="T64" fmla="*/ 5 w 156"/>
                <a:gd name="T65" fmla="*/ 8 h 51"/>
                <a:gd name="T66" fmla="*/ 7 w 156"/>
                <a:gd name="T67" fmla="*/ 1 h 51"/>
                <a:gd name="T68" fmla="*/ 5 w 1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56" h="51">
                  <a:moveTo>
                    <a:pt x="156" y="24"/>
                  </a:moveTo>
                  <a:lnTo>
                    <a:pt x="156" y="21"/>
                  </a:lnTo>
                  <a:lnTo>
                    <a:pt x="156" y="18"/>
                  </a:lnTo>
                  <a:lnTo>
                    <a:pt x="154" y="14"/>
                  </a:lnTo>
                  <a:lnTo>
                    <a:pt x="154" y="11"/>
                  </a:lnTo>
                  <a:lnTo>
                    <a:pt x="154" y="8"/>
                  </a:lnTo>
                  <a:lnTo>
                    <a:pt x="153" y="4"/>
                  </a:lnTo>
                  <a:lnTo>
                    <a:pt x="153" y="3"/>
                  </a:lnTo>
                  <a:lnTo>
                    <a:pt x="151" y="0"/>
                  </a:lnTo>
                  <a:lnTo>
                    <a:pt x="148" y="0"/>
                  </a:lnTo>
                  <a:lnTo>
                    <a:pt x="149" y="1"/>
                  </a:lnTo>
                  <a:lnTo>
                    <a:pt x="149" y="4"/>
                  </a:lnTo>
                  <a:lnTo>
                    <a:pt x="151" y="8"/>
                  </a:lnTo>
                  <a:lnTo>
                    <a:pt x="151" y="11"/>
                  </a:lnTo>
                  <a:lnTo>
                    <a:pt x="151" y="14"/>
                  </a:lnTo>
                  <a:lnTo>
                    <a:pt x="153" y="18"/>
                  </a:lnTo>
                  <a:lnTo>
                    <a:pt x="153" y="21"/>
                  </a:lnTo>
                  <a:lnTo>
                    <a:pt x="153" y="24"/>
                  </a:lnTo>
                  <a:lnTo>
                    <a:pt x="153" y="28"/>
                  </a:lnTo>
                  <a:lnTo>
                    <a:pt x="153" y="31"/>
                  </a:lnTo>
                  <a:lnTo>
                    <a:pt x="153" y="34"/>
                  </a:lnTo>
                  <a:lnTo>
                    <a:pt x="151" y="38"/>
                  </a:lnTo>
                  <a:lnTo>
                    <a:pt x="151" y="41"/>
                  </a:lnTo>
                  <a:lnTo>
                    <a:pt x="149" y="44"/>
                  </a:lnTo>
                  <a:lnTo>
                    <a:pt x="149" y="48"/>
                  </a:lnTo>
                  <a:lnTo>
                    <a:pt x="148" y="51"/>
                  </a:lnTo>
                  <a:lnTo>
                    <a:pt x="151" y="51"/>
                  </a:lnTo>
                  <a:lnTo>
                    <a:pt x="153" y="48"/>
                  </a:lnTo>
                  <a:lnTo>
                    <a:pt x="153" y="44"/>
                  </a:lnTo>
                  <a:lnTo>
                    <a:pt x="154" y="41"/>
                  </a:lnTo>
                  <a:lnTo>
                    <a:pt x="154" y="38"/>
                  </a:lnTo>
                  <a:lnTo>
                    <a:pt x="156" y="34"/>
                  </a:lnTo>
                  <a:lnTo>
                    <a:pt x="156" y="31"/>
                  </a:lnTo>
                  <a:lnTo>
                    <a:pt x="156" y="28"/>
                  </a:lnTo>
                  <a:lnTo>
                    <a:pt x="156" y="24"/>
                  </a:lnTo>
                  <a:close/>
                  <a:moveTo>
                    <a:pt x="5"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5" y="51"/>
                  </a:lnTo>
                  <a:lnTo>
                    <a:pt x="9"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1"/>
                  </a:lnTo>
                  <a:lnTo>
                    <a:pt x="9"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9" name="Freeform 471">
              <a:extLst>
                <a:ext uri="{FF2B5EF4-FFF2-40B4-BE49-F238E27FC236}">
                  <a16:creationId xmlns:a16="http://schemas.microsoft.com/office/drawing/2014/main" id="{3BD87346-33F1-E599-58F0-22917EDE840A}"/>
                </a:ext>
              </a:extLst>
            </p:cNvPr>
            <p:cNvSpPr>
              <a:spLocks noEditPoints="1"/>
            </p:cNvSpPr>
            <p:nvPr/>
          </p:nvSpPr>
          <p:spPr bwMode="auto">
            <a:xfrm>
              <a:off x="1535" y="1713"/>
              <a:ext cx="152" cy="51"/>
            </a:xfrm>
            <a:custGeom>
              <a:avLst/>
              <a:gdLst>
                <a:gd name="T0" fmla="*/ 152 w 152"/>
                <a:gd name="T1" fmla="*/ 21 h 51"/>
                <a:gd name="T2" fmla="*/ 151 w 152"/>
                <a:gd name="T3" fmla="*/ 14 h 51"/>
                <a:gd name="T4" fmla="*/ 151 w 152"/>
                <a:gd name="T5" fmla="*/ 8 h 51"/>
                <a:gd name="T6" fmla="*/ 149 w 152"/>
                <a:gd name="T7" fmla="*/ 3 h 51"/>
                <a:gd name="T8" fmla="*/ 144 w 152"/>
                <a:gd name="T9" fmla="*/ 0 h 51"/>
                <a:gd name="T10" fmla="*/ 146 w 152"/>
                <a:gd name="T11" fmla="*/ 4 h 51"/>
                <a:gd name="T12" fmla="*/ 147 w 152"/>
                <a:gd name="T13" fmla="*/ 11 h 51"/>
                <a:gd name="T14" fmla="*/ 149 w 152"/>
                <a:gd name="T15" fmla="*/ 18 h 51"/>
                <a:gd name="T16" fmla="*/ 149 w 152"/>
                <a:gd name="T17" fmla="*/ 24 h 51"/>
                <a:gd name="T18" fmla="*/ 149 w 152"/>
                <a:gd name="T19" fmla="*/ 31 h 51"/>
                <a:gd name="T20" fmla="*/ 147 w 152"/>
                <a:gd name="T21" fmla="*/ 38 h 51"/>
                <a:gd name="T22" fmla="*/ 146 w 152"/>
                <a:gd name="T23" fmla="*/ 44 h 51"/>
                <a:gd name="T24" fmla="*/ 144 w 152"/>
                <a:gd name="T25" fmla="*/ 51 h 51"/>
                <a:gd name="T26" fmla="*/ 149 w 152"/>
                <a:gd name="T27" fmla="*/ 48 h 51"/>
                <a:gd name="T28" fmla="*/ 151 w 152"/>
                <a:gd name="T29" fmla="*/ 41 h 51"/>
                <a:gd name="T30" fmla="*/ 152 w 152"/>
                <a:gd name="T31" fmla="*/ 34 h 51"/>
                <a:gd name="T32" fmla="*/ 152 w 152"/>
                <a:gd name="T33" fmla="*/ 28 h 51"/>
                <a:gd name="T34" fmla="*/ 5 w 152"/>
                <a:gd name="T35" fmla="*/ 0 h 51"/>
                <a:gd name="T36" fmla="*/ 3 w 152"/>
                <a:gd name="T37" fmla="*/ 4 h 51"/>
                <a:gd name="T38" fmla="*/ 2 w 152"/>
                <a:gd name="T39" fmla="*/ 11 h 51"/>
                <a:gd name="T40" fmla="*/ 0 w 152"/>
                <a:gd name="T41" fmla="*/ 18 h 51"/>
                <a:gd name="T42" fmla="*/ 0 w 152"/>
                <a:gd name="T43" fmla="*/ 24 h 51"/>
                <a:gd name="T44" fmla="*/ 0 w 152"/>
                <a:gd name="T45" fmla="*/ 31 h 51"/>
                <a:gd name="T46" fmla="*/ 2 w 152"/>
                <a:gd name="T47" fmla="*/ 38 h 51"/>
                <a:gd name="T48" fmla="*/ 3 w 152"/>
                <a:gd name="T49" fmla="*/ 44 h 51"/>
                <a:gd name="T50" fmla="*/ 5 w 152"/>
                <a:gd name="T51" fmla="*/ 51 h 51"/>
                <a:gd name="T52" fmla="*/ 7 w 152"/>
                <a:gd name="T53" fmla="*/ 48 h 51"/>
                <a:gd name="T54" fmla="*/ 5 w 152"/>
                <a:gd name="T55" fmla="*/ 41 h 51"/>
                <a:gd name="T56" fmla="*/ 5 w 152"/>
                <a:gd name="T57" fmla="*/ 34 h 51"/>
                <a:gd name="T58" fmla="*/ 3 w 152"/>
                <a:gd name="T59" fmla="*/ 28 h 51"/>
                <a:gd name="T60" fmla="*/ 3 w 152"/>
                <a:gd name="T61" fmla="*/ 21 h 51"/>
                <a:gd name="T62" fmla="*/ 5 w 152"/>
                <a:gd name="T63" fmla="*/ 14 h 51"/>
                <a:gd name="T64" fmla="*/ 5 w 152"/>
                <a:gd name="T65" fmla="*/ 8 h 51"/>
                <a:gd name="T66" fmla="*/ 8 w 152"/>
                <a:gd name="T67" fmla="*/ 1 h 51"/>
                <a:gd name="T68" fmla="*/ 5 w 1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52" h="51">
                  <a:moveTo>
                    <a:pt x="152" y="24"/>
                  </a:moveTo>
                  <a:lnTo>
                    <a:pt x="152" y="21"/>
                  </a:lnTo>
                  <a:lnTo>
                    <a:pt x="152" y="18"/>
                  </a:lnTo>
                  <a:lnTo>
                    <a:pt x="151" y="14"/>
                  </a:lnTo>
                  <a:lnTo>
                    <a:pt x="151" y="11"/>
                  </a:lnTo>
                  <a:lnTo>
                    <a:pt x="151" y="8"/>
                  </a:lnTo>
                  <a:lnTo>
                    <a:pt x="149" y="4"/>
                  </a:lnTo>
                  <a:lnTo>
                    <a:pt x="149" y="3"/>
                  </a:lnTo>
                  <a:lnTo>
                    <a:pt x="147" y="0"/>
                  </a:lnTo>
                  <a:lnTo>
                    <a:pt x="144" y="0"/>
                  </a:lnTo>
                  <a:lnTo>
                    <a:pt x="146" y="1"/>
                  </a:lnTo>
                  <a:lnTo>
                    <a:pt x="146" y="4"/>
                  </a:lnTo>
                  <a:lnTo>
                    <a:pt x="147" y="8"/>
                  </a:lnTo>
                  <a:lnTo>
                    <a:pt x="147" y="11"/>
                  </a:lnTo>
                  <a:lnTo>
                    <a:pt x="147" y="14"/>
                  </a:lnTo>
                  <a:lnTo>
                    <a:pt x="149" y="18"/>
                  </a:lnTo>
                  <a:lnTo>
                    <a:pt x="149" y="21"/>
                  </a:lnTo>
                  <a:lnTo>
                    <a:pt x="149" y="24"/>
                  </a:lnTo>
                  <a:lnTo>
                    <a:pt x="149" y="28"/>
                  </a:lnTo>
                  <a:lnTo>
                    <a:pt x="149" y="31"/>
                  </a:lnTo>
                  <a:lnTo>
                    <a:pt x="149" y="34"/>
                  </a:lnTo>
                  <a:lnTo>
                    <a:pt x="147" y="38"/>
                  </a:lnTo>
                  <a:lnTo>
                    <a:pt x="147" y="41"/>
                  </a:lnTo>
                  <a:lnTo>
                    <a:pt x="146" y="44"/>
                  </a:lnTo>
                  <a:lnTo>
                    <a:pt x="146" y="48"/>
                  </a:lnTo>
                  <a:lnTo>
                    <a:pt x="144" y="51"/>
                  </a:lnTo>
                  <a:lnTo>
                    <a:pt x="147" y="51"/>
                  </a:lnTo>
                  <a:lnTo>
                    <a:pt x="149" y="48"/>
                  </a:lnTo>
                  <a:lnTo>
                    <a:pt x="149" y="44"/>
                  </a:lnTo>
                  <a:lnTo>
                    <a:pt x="151" y="41"/>
                  </a:lnTo>
                  <a:lnTo>
                    <a:pt x="151" y="38"/>
                  </a:lnTo>
                  <a:lnTo>
                    <a:pt x="152" y="34"/>
                  </a:lnTo>
                  <a:lnTo>
                    <a:pt x="152" y="31"/>
                  </a:lnTo>
                  <a:lnTo>
                    <a:pt x="152" y="28"/>
                  </a:lnTo>
                  <a:lnTo>
                    <a:pt x="15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5" y="51"/>
                  </a:lnTo>
                  <a:lnTo>
                    <a:pt x="8"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8" y="1"/>
                  </a:lnTo>
                  <a:lnTo>
                    <a:pt x="8"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0" name="Freeform 472">
              <a:extLst>
                <a:ext uri="{FF2B5EF4-FFF2-40B4-BE49-F238E27FC236}">
                  <a16:creationId xmlns:a16="http://schemas.microsoft.com/office/drawing/2014/main" id="{3C025F5C-AFE2-5F62-2885-4A700CED26CC}"/>
                </a:ext>
              </a:extLst>
            </p:cNvPr>
            <p:cNvSpPr>
              <a:spLocks noEditPoints="1"/>
            </p:cNvSpPr>
            <p:nvPr/>
          </p:nvSpPr>
          <p:spPr bwMode="auto">
            <a:xfrm>
              <a:off x="1537" y="1713"/>
              <a:ext cx="149" cy="51"/>
            </a:xfrm>
            <a:custGeom>
              <a:avLst/>
              <a:gdLst>
                <a:gd name="T0" fmla="*/ 149 w 149"/>
                <a:gd name="T1" fmla="*/ 21 h 51"/>
                <a:gd name="T2" fmla="*/ 147 w 149"/>
                <a:gd name="T3" fmla="*/ 14 h 51"/>
                <a:gd name="T4" fmla="*/ 147 w 149"/>
                <a:gd name="T5" fmla="*/ 8 h 51"/>
                <a:gd name="T6" fmla="*/ 145 w 149"/>
                <a:gd name="T7" fmla="*/ 1 h 51"/>
                <a:gd name="T8" fmla="*/ 140 w 149"/>
                <a:gd name="T9" fmla="*/ 0 h 51"/>
                <a:gd name="T10" fmla="*/ 142 w 149"/>
                <a:gd name="T11" fmla="*/ 4 h 51"/>
                <a:gd name="T12" fmla="*/ 144 w 149"/>
                <a:gd name="T13" fmla="*/ 11 h 51"/>
                <a:gd name="T14" fmla="*/ 145 w 149"/>
                <a:gd name="T15" fmla="*/ 18 h 51"/>
                <a:gd name="T16" fmla="*/ 145 w 149"/>
                <a:gd name="T17" fmla="*/ 24 h 51"/>
                <a:gd name="T18" fmla="*/ 145 w 149"/>
                <a:gd name="T19" fmla="*/ 31 h 51"/>
                <a:gd name="T20" fmla="*/ 144 w 149"/>
                <a:gd name="T21" fmla="*/ 38 h 51"/>
                <a:gd name="T22" fmla="*/ 142 w 149"/>
                <a:gd name="T23" fmla="*/ 44 h 51"/>
                <a:gd name="T24" fmla="*/ 140 w 149"/>
                <a:gd name="T25" fmla="*/ 51 h 51"/>
                <a:gd name="T26" fmla="*/ 145 w 149"/>
                <a:gd name="T27" fmla="*/ 48 h 51"/>
                <a:gd name="T28" fmla="*/ 147 w 149"/>
                <a:gd name="T29" fmla="*/ 41 h 51"/>
                <a:gd name="T30" fmla="*/ 149 w 149"/>
                <a:gd name="T31" fmla="*/ 34 h 51"/>
                <a:gd name="T32" fmla="*/ 149 w 149"/>
                <a:gd name="T33" fmla="*/ 28 h 51"/>
                <a:gd name="T34" fmla="*/ 5 w 149"/>
                <a:gd name="T35" fmla="*/ 0 h 51"/>
                <a:gd name="T36" fmla="*/ 3 w 149"/>
                <a:gd name="T37" fmla="*/ 4 h 51"/>
                <a:gd name="T38" fmla="*/ 1 w 149"/>
                <a:gd name="T39" fmla="*/ 11 h 51"/>
                <a:gd name="T40" fmla="*/ 0 w 149"/>
                <a:gd name="T41" fmla="*/ 18 h 51"/>
                <a:gd name="T42" fmla="*/ 0 w 149"/>
                <a:gd name="T43" fmla="*/ 24 h 51"/>
                <a:gd name="T44" fmla="*/ 0 w 149"/>
                <a:gd name="T45" fmla="*/ 31 h 51"/>
                <a:gd name="T46" fmla="*/ 1 w 149"/>
                <a:gd name="T47" fmla="*/ 38 h 51"/>
                <a:gd name="T48" fmla="*/ 3 w 149"/>
                <a:gd name="T49" fmla="*/ 44 h 51"/>
                <a:gd name="T50" fmla="*/ 5 w 149"/>
                <a:gd name="T51" fmla="*/ 51 h 51"/>
                <a:gd name="T52" fmla="*/ 6 w 149"/>
                <a:gd name="T53" fmla="*/ 48 h 51"/>
                <a:gd name="T54" fmla="*/ 5 w 149"/>
                <a:gd name="T55" fmla="*/ 41 h 51"/>
                <a:gd name="T56" fmla="*/ 5 w 149"/>
                <a:gd name="T57" fmla="*/ 34 h 51"/>
                <a:gd name="T58" fmla="*/ 3 w 149"/>
                <a:gd name="T59" fmla="*/ 28 h 51"/>
                <a:gd name="T60" fmla="*/ 3 w 149"/>
                <a:gd name="T61" fmla="*/ 21 h 51"/>
                <a:gd name="T62" fmla="*/ 5 w 149"/>
                <a:gd name="T63" fmla="*/ 14 h 51"/>
                <a:gd name="T64" fmla="*/ 5 w 149"/>
                <a:gd name="T65" fmla="*/ 8 h 51"/>
                <a:gd name="T66" fmla="*/ 8 w 149"/>
                <a:gd name="T67" fmla="*/ 1 h 51"/>
                <a:gd name="T68" fmla="*/ 5 w 14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49" h="51">
                  <a:moveTo>
                    <a:pt x="149" y="24"/>
                  </a:moveTo>
                  <a:lnTo>
                    <a:pt x="149" y="21"/>
                  </a:lnTo>
                  <a:lnTo>
                    <a:pt x="149" y="18"/>
                  </a:lnTo>
                  <a:lnTo>
                    <a:pt x="147" y="14"/>
                  </a:lnTo>
                  <a:lnTo>
                    <a:pt x="147" y="11"/>
                  </a:lnTo>
                  <a:lnTo>
                    <a:pt x="147" y="8"/>
                  </a:lnTo>
                  <a:lnTo>
                    <a:pt x="145" y="4"/>
                  </a:lnTo>
                  <a:lnTo>
                    <a:pt x="145" y="1"/>
                  </a:lnTo>
                  <a:lnTo>
                    <a:pt x="144" y="0"/>
                  </a:lnTo>
                  <a:lnTo>
                    <a:pt x="140" y="0"/>
                  </a:lnTo>
                  <a:lnTo>
                    <a:pt x="142" y="1"/>
                  </a:lnTo>
                  <a:lnTo>
                    <a:pt x="142" y="4"/>
                  </a:lnTo>
                  <a:lnTo>
                    <a:pt x="144" y="8"/>
                  </a:lnTo>
                  <a:lnTo>
                    <a:pt x="144" y="11"/>
                  </a:lnTo>
                  <a:lnTo>
                    <a:pt x="144" y="14"/>
                  </a:lnTo>
                  <a:lnTo>
                    <a:pt x="145" y="18"/>
                  </a:lnTo>
                  <a:lnTo>
                    <a:pt x="145" y="21"/>
                  </a:lnTo>
                  <a:lnTo>
                    <a:pt x="145" y="24"/>
                  </a:lnTo>
                  <a:lnTo>
                    <a:pt x="145" y="28"/>
                  </a:lnTo>
                  <a:lnTo>
                    <a:pt x="145" y="31"/>
                  </a:lnTo>
                  <a:lnTo>
                    <a:pt x="145" y="34"/>
                  </a:lnTo>
                  <a:lnTo>
                    <a:pt x="144" y="38"/>
                  </a:lnTo>
                  <a:lnTo>
                    <a:pt x="144" y="41"/>
                  </a:lnTo>
                  <a:lnTo>
                    <a:pt x="142" y="44"/>
                  </a:lnTo>
                  <a:lnTo>
                    <a:pt x="142" y="48"/>
                  </a:lnTo>
                  <a:lnTo>
                    <a:pt x="140" y="51"/>
                  </a:lnTo>
                  <a:lnTo>
                    <a:pt x="144" y="51"/>
                  </a:lnTo>
                  <a:lnTo>
                    <a:pt x="145" y="48"/>
                  </a:lnTo>
                  <a:lnTo>
                    <a:pt x="145" y="44"/>
                  </a:lnTo>
                  <a:lnTo>
                    <a:pt x="147" y="41"/>
                  </a:lnTo>
                  <a:lnTo>
                    <a:pt x="147" y="38"/>
                  </a:lnTo>
                  <a:lnTo>
                    <a:pt x="149" y="34"/>
                  </a:lnTo>
                  <a:lnTo>
                    <a:pt x="149" y="31"/>
                  </a:lnTo>
                  <a:lnTo>
                    <a:pt x="149" y="28"/>
                  </a:lnTo>
                  <a:lnTo>
                    <a:pt x="149" y="24"/>
                  </a:lnTo>
                  <a:close/>
                  <a:moveTo>
                    <a:pt x="5" y="0"/>
                  </a:moveTo>
                  <a:lnTo>
                    <a:pt x="3" y="1"/>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5" y="51"/>
                  </a:lnTo>
                  <a:lnTo>
                    <a:pt x="8"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8" y="1"/>
                  </a:lnTo>
                  <a:lnTo>
                    <a:pt x="8"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1" name="Freeform 473">
              <a:extLst>
                <a:ext uri="{FF2B5EF4-FFF2-40B4-BE49-F238E27FC236}">
                  <a16:creationId xmlns:a16="http://schemas.microsoft.com/office/drawing/2014/main" id="{63139B51-D71D-BA7E-B9F7-630F1B3AFFC8}"/>
                </a:ext>
              </a:extLst>
            </p:cNvPr>
            <p:cNvSpPr>
              <a:spLocks noEditPoints="1"/>
            </p:cNvSpPr>
            <p:nvPr/>
          </p:nvSpPr>
          <p:spPr bwMode="auto">
            <a:xfrm>
              <a:off x="1538" y="1713"/>
              <a:ext cx="146" cy="51"/>
            </a:xfrm>
            <a:custGeom>
              <a:avLst/>
              <a:gdLst>
                <a:gd name="T0" fmla="*/ 146 w 146"/>
                <a:gd name="T1" fmla="*/ 21 h 51"/>
                <a:gd name="T2" fmla="*/ 144 w 146"/>
                <a:gd name="T3" fmla="*/ 14 h 51"/>
                <a:gd name="T4" fmla="*/ 144 w 146"/>
                <a:gd name="T5" fmla="*/ 8 h 51"/>
                <a:gd name="T6" fmla="*/ 143 w 146"/>
                <a:gd name="T7" fmla="*/ 1 h 51"/>
                <a:gd name="T8" fmla="*/ 138 w 146"/>
                <a:gd name="T9" fmla="*/ 0 h 51"/>
                <a:gd name="T10" fmla="*/ 139 w 146"/>
                <a:gd name="T11" fmla="*/ 4 h 51"/>
                <a:gd name="T12" fmla="*/ 141 w 146"/>
                <a:gd name="T13" fmla="*/ 11 h 51"/>
                <a:gd name="T14" fmla="*/ 143 w 146"/>
                <a:gd name="T15" fmla="*/ 18 h 51"/>
                <a:gd name="T16" fmla="*/ 143 w 146"/>
                <a:gd name="T17" fmla="*/ 24 h 51"/>
                <a:gd name="T18" fmla="*/ 143 w 146"/>
                <a:gd name="T19" fmla="*/ 31 h 51"/>
                <a:gd name="T20" fmla="*/ 141 w 146"/>
                <a:gd name="T21" fmla="*/ 38 h 51"/>
                <a:gd name="T22" fmla="*/ 139 w 146"/>
                <a:gd name="T23" fmla="*/ 44 h 51"/>
                <a:gd name="T24" fmla="*/ 138 w 146"/>
                <a:gd name="T25" fmla="*/ 51 h 51"/>
                <a:gd name="T26" fmla="*/ 143 w 146"/>
                <a:gd name="T27" fmla="*/ 48 h 51"/>
                <a:gd name="T28" fmla="*/ 144 w 146"/>
                <a:gd name="T29" fmla="*/ 41 h 51"/>
                <a:gd name="T30" fmla="*/ 146 w 146"/>
                <a:gd name="T31" fmla="*/ 34 h 51"/>
                <a:gd name="T32" fmla="*/ 146 w 146"/>
                <a:gd name="T33" fmla="*/ 28 h 51"/>
                <a:gd name="T34" fmla="*/ 5 w 146"/>
                <a:gd name="T35" fmla="*/ 0 h 51"/>
                <a:gd name="T36" fmla="*/ 4 w 146"/>
                <a:gd name="T37" fmla="*/ 4 h 51"/>
                <a:gd name="T38" fmla="*/ 2 w 146"/>
                <a:gd name="T39" fmla="*/ 11 h 51"/>
                <a:gd name="T40" fmla="*/ 0 w 146"/>
                <a:gd name="T41" fmla="*/ 18 h 51"/>
                <a:gd name="T42" fmla="*/ 0 w 146"/>
                <a:gd name="T43" fmla="*/ 24 h 51"/>
                <a:gd name="T44" fmla="*/ 0 w 146"/>
                <a:gd name="T45" fmla="*/ 31 h 51"/>
                <a:gd name="T46" fmla="*/ 2 w 146"/>
                <a:gd name="T47" fmla="*/ 38 h 51"/>
                <a:gd name="T48" fmla="*/ 4 w 146"/>
                <a:gd name="T49" fmla="*/ 44 h 51"/>
                <a:gd name="T50" fmla="*/ 5 w 146"/>
                <a:gd name="T51" fmla="*/ 51 h 51"/>
                <a:gd name="T52" fmla="*/ 7 w 146"/>
                <a:gd name="T53" fmla="*/ 48 h 51"/>
                <a:gd name="T54" fmla="*/ 5 w 146"/>
                <a:gd name="T55" fmla="*/ 41 h 51"/>
                <a:gd name="T56" fmla="*/ 5 w 146"/>
                <a:gd name="T57" fmla="*/ 34 h 51"/>
                <a:gd name="T58" fmla="*/ 4 w 146"/>
                <a:gd name="T59" fmla="*/ 28 h 51"/>
                <a:gd name="T60" fmla="*/ 4 w 146"/>
                <a:gd name="T61" fmla="*/ 21 h 51"/>
                <a:gd name="T62" fmla="*/ 5 w 146"/>
                <a:gd name="T63" fmla="*/ 14 h 51"/>
                <a:gd name="T64" fmla="*/ 5 w 146"/>
                <a:gd name="T65" fmla="*/ 8 h 51"/>
                <a:gd name="T66" fmla="*/ 9 w 146"/>
                <a:gd name="T67" fmla="*/ 1 h 51"/>
                <a:gd name="T68" fmla="*/ 5 w 1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46" h="51">
                  <a:moveTo>
                    <a:pt x="146" y="24"/>
                  </a:moveTo>
                  <a:lnTo>
                    <a:pt x="146" y="21"/>
                  </a:lnTo>
                  <a:lnTo>
                    <a:pt x="146" y="18"/>
                  </a:lnTo>
                  <a:lnTo>
                    <a:pt x="144" y="14"/>
                  </a:lnTo>
                  <a:lnTo>
                    <a:pt x="144" y="11"/>
                  </a:lnTo>
                  <a:lnTo>
                    <a:pt x="144" y="8"/>
                  </a:lnTo>
                  <a:lnTo>
                    <a:pt x="143" y="4"/>
                  </a:lnTo>
                  <a:lnTo>
                    <a:pt x="143" y="1"/>
                  </a:lnTo>
                  <a:lnTo>
                    <a:pt x="141" y="0"/>
                  </a:lnTo>
                  <a:lnTo>
                    <a:pt x="138" y="0"/>
                  </a:lnTo>
                  <a:lnTo>
                    <a:pt x="139" y="1"/>
                  </a:lnTo>
                  <a:lnTo>
                    <a:pt x="139" y="4"/>
                  </a:lnTo>
                  <a:lnTo>
                    <a:pt x="141" y="8"/>
                  </a:lnTo>
                  <a:lnTo>
                    <a:pt x="141" y="11"/>
                  </a:lnTo>
                  <a:lnTo>
                    <a:pt x="141" y="14"/>
                  </a:lnTo>
                  <a:lnTo>
                    <a:pt x="143" y="18"/>
                  </a:lnTo>
                  <a:lnTo>
                    <a:pt x="143" y="21"/>
                  </a:lnTo>
                  <a:lnTo>
                    <a:pt x="143" y="24"/>
                  </a:lnTo>
                  <a:lnTo>
                    <a:pt x="143" y="28"/>
                  </a:lnTo>
                  <a:lnTo>
                    <a:pt x="143" y="31"/>
                  </a:lnTo>
                  <a:lnTo>
                    <a:pt x="141" y="34"/>
                  </a:lnTo>
                  <a:lnTo>
                    <a:pt x="141" y="38"/>
                  </a:lnTo>
                  <a:lnTo>
                    <a:pt x="141" y="41"/>
                  </a:lnTo>
                  <a:lnTo>
                    <a:pt x="139" y="44"/>
                  </a:lnTo>
                  <a:lnTo>
                    <a:pt x="139" y="48"/>
                  </a:lnTo>
                  <a:lnTo>
                    <a:pt x="138" y="51"/>
                  </a:lnTo>
                  <a:lnTo>
                    <a:pt x="141" y="51"/>
                  </a:lnTo>
                  <a:lnTo>
                    <a:pt x="143" y="48"/>
                  </a:lnTo>
                  <a:lnTo>
                    <a:pt x="143" y="44"/>
                  </a:lnTo>
                  <a:lnTo>
                    <a:pt x="144" y="41"/>
                  </a:lnTo>
                  <a:lnTo>
                    <a:pt x="144" y="38"/>
                  </a:lnTo>
                  <a:lnTo>
                    <a:pt x="146" y="34"/>
                  </a:lnTo>
                  <a:lnTo>
                    <a:pt x="146" y="31"/>
                  </a:lnTo>
                  <a:lnTo>
                    <a:pt x="146" y="28"/>
                  </a:lnTo>
                  <a:lnTo>
                    <a:pt x="146" y="24"/>
                  </a:lnTo>
                  <a:close/>
                  <a:moveTo>
                    <a:pt x="5" y="0"/>
                  </a:moveTo>
                  <a:lnTo>
                    <a:pt x="5" y="1"/>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5" y="51"/>
                  </a:lnTo>
                  <a:lnTo>
                    <a:pt x="9"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9" y="1"/>
                  </a:lnTo>
                  <a:lnTo>
                    <a:pt x="9"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2" name="Freeform 474">
              <a:extLst>
                <a:ext uri="{FF2B5EF4-FFF2-40B4-BE49-F238E27FC236}">
                  <a16:creationId xmlns:a16="http://schemas.microsoft.com/office/drawing/2014/main" id="{306850AF-E5AB-4DD3-B660-54B48FBBE4DE}"/>
                </a:ext>
              </a:extLst>
            </p:cNvPr>
            <p:cNvSpPr>
              <a:spLocks noEditPoints="1"/>
            </p:cNvSpPr>
            <p:nvPr/>
          </p:nvSpPr>
          <p:spPr bwMode="auto">
            <a:xfrm>
              <a:off x="1540" y="1713"/>
              <a:ext cx="142" cy="51"/>
            </a:xfrm>
            <a:custGeom>
              <a:avLst/>
              <a:gdLst>
                <a:gd name="T0" fmla="*/ 142 w 142"/>
                <a:gd name="T1" fmla="*/ 21 h 51"/>
                <a:gd name="T2" fmla="*/ 141 w 142"/>
                <a:gd name="T3" fmla="*/ 14 h 51"/>
                <a:gd name="T4" fmla="*/ 141 w 142"/>
                <a:gd name="T5" fmla="*/ 8 h 51"/>
                <a:gd name="T6" fmla="*/ 139 w 142"/>
                <a:gd name="T7" fmla="*/ 1 h 51"/>
                <a:gd name="T8" fmla="*/ 134 w 142"/>
                <a:gd name="T9" fmla="*/ 0 h 51"/>
                <a:gd name="T10" fmla="*/ 136 w 142"/>
                <a:gd name="T11" fmla="*/ 4 h 51"/>
                <a:gd name="T12" fmla="*/ 137 w 142"/>
                <a:gd name="T13" fmla="*/ 11 h 51"/>
                <a:gd name="T14" fmla="*/ 139 w 142"/>
                <a:gd name="T15" fmla="*/ 18 h 51"/>
                <a:gd name="T16" fmla="*/ 139 w 142"/>
                <a:gd name="T17" fmla="*/ 24 h 51"/>
                <a:gd name="T18" fmla="*/ 139 w 142"/>
                <a:gd name="T19" fmla="*/ 31 h 51"/>
                <a:gd name="T20" fmla="*/ 137 w 142"/>
                <a:gd name="T21" fmla="*/ 38 h 51"/>
                <a:gd name="T22" fmla="*/ 136 w 142"/>
                <a:gd name="T23" fmla="*/ 44 h 51"/>
                <a:gd name="T24" fmla="*/ 134 w 142"/>
                <a:gd name="T25" fmla="*/ 51 h 51"/>
                <a:gd name="T26" fmla="*/ 139 w 142"/>
                <a:gd name="T27" fmla="*/ 48 h 51"/>
                <a:gd name="T28" fmla="*/ 141 w 142"/>
                <a:gd name="T29" fmla="*/ 41 h 51"/>
                <a:gd name="T30" fmla="*/ 142 w 142"/>
                <a:gd name="T31" fmla="*/ 34 h 51"/>
                <a:gd name="T32" fmla="*/ 142 w 142"/>
                <a:gd name="T33" fmla="*/ 28 h 51"/>
                <a:gd name="T34" fmla="*/ 5 w 142"/>
                <a:gd name="T35" fmla="*/ 0 h 51"/>
                <a:gd name="T36" fmla="*/ 3 w 142"/>
                <a:gd name="T37" fmla="*/ 4 h 51"/>
                <a:gd name="T38" fmla="*/ 2 w 142"/>
                <a:gd name="T39" fmla="*/ 11 h 51"/>
                <a:gd name="T40" fmla="*/ 0 w 142"/>
                <a:gd name="T41" fmla="*/ 18 h 51"/>
                <a:gd name="T42" fmla="*/ 0 w 142"/>
                <a:gd name="T43" fmla="*/ 24 h 51"/>
                <a:gd name="T44" fmla="*/ 0 w 142"/>
                <a:gd name="T45" fmla="*/ 31 h 51"/>
                <a:gd name="T46" fmla="*/ 2 w 142"/>
                <a:gd name="T47" fmla="*/ 38 h 51"/>
                <a:gd name="T48" fmla="*/ 3 w 142"/>
                <a:gd name="T49" fmla="*/ 44 h 51"/>
                <a:gd name="T50" fmla="*/ 5 w 142"/>
                <a:gd name="T51" fmla="*/ 51 h 51"/>
                <a:gd name="T52" fmla="*/ 8 w 142"/>
                <a:gd name="T53" fmla="*/ 48 h 51"/>
                <a:gd name="T54" fmla="*/ 5 w 142"/>
                <a:gd name="T55" fmla="*/ 41 h 51"/>
                <a:gd name="T56" fmla="*/ 5 w 142"/>
                <a:gd name="T57" fmla="*/ 34 h 51"/>
                <a:gd name="T58" fmla="*/ 3 w 142"/>
                <a:gd name="T59" fmla="*/ 28 h 51"/>
                <a:gd name="T60" fmla="*/ 3 w 142"/>
                <a:gd name="T61" fmla="*/ 21 h 51"/>
                <a:gd name="T62" fmla="*/ 5 w 142"/>
                <a:gd name="T63" fmla="*/ 14 h 51"/>
                <a:gd name="T64" fmla="*/ 7 w 142"/>
                <a:gd name="T65" fmla="*/ 8 h 51"/>
                <a:gd name="T66" fmla="*/ 8 w 142"/>
                <a:gd name="T67" fmla="*/ 1 h 51"/>
                <a:gd name="T68" fmla="*/ 5 w 1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42" h="51">
                  <a:moveTo>
                    <a:pt x="142" y="24"/>
                  </a:moveTo>
                  <a:lnTo>
                    <a:pt x="142" y="21"/>
                  </a:lnTo>
                  <a:lnTo>
                    <a:pt x="142" y="18"/>
                  </a:lnTo>
                  <a:lnTo>
                    <a:pt x="141" y="14"/>
                  </a:lnTo>
                  <a:lnTo>
                    <a:pt x="141" y="11"/>
                  </a:lnTo>
                  <a:lnTo>
                    <a:pt x="141" y="8"/>
                  </a:lnTo>
                  <a:lnTo>
                    <a:pt x="139" y="4"/>
                  </a:lnTo>
                  <a:lnTo>
                    <a:pt x="139" y="1"/>
                  </a:lnTo>
                  <a:lnTo>
                    <a:pt x="137" y="0"/>
                  </a:lnTo>
                  <a:lnTo>
                    <a:pt x="134" y="0"/>
                  </a:lnTo>
                  <a:lnTo>
                    <a:pt x="134" y="1"/>
                  </a:lnTo>
                  <a:lnTo>
                    <a:pt x="136" y="4"/>
                  </a:lnTo>
                  <a:lnTo>
                    <a:pt x="137" y="8"/>
                  </a:lnTo>
                  <a:lnTo>
                    <a:pt x="137" y="11"/>
                  </a:lnTo>
                  <a:lnTo>
                    <a:pt x="137" y="14"/>
                  </a:lnTo>
                  <a:lnTo>
                    <a:pt x="139" y="18"/>
                  </a:lnTo>
                  <a:lnTo>
                    <a:pt x="139" y="21"/>
                  </a:lnTo>
                  <a:lnTo>
                    <a:pt x="139" y="24"/>
                  </a:lnTo>
                  <a:lnTo>
                    <a:pt x="139" y="28"/>
                  </a:lnTo>
                  <a:lnTo>
                    <a:pt x="139" y="31"/>
                  </a:lnTo>
                  <a:lnTo>
                    <a:pt x="137" y="34"/>
                  </a:lnTo>
                  <a:lnTo>
                    <a:pt x="137" y="38"/>
                  </a:lnTo>
                  <a:lnTo>
                    <a:pt x="137" y="41"/>
                  </a:lnTo>
                  <a:lnTo>
                    <a:pt x="136" y="44"/>
                  </a:lnTo>
                  <a:lnTo>
                    <a:pt x="136" y="48"/>
                  </a:lnTo>
                  <a:lnTo>
                    <a:pt x="134" y="51"/>
                  </a:lnTo>
                  <a:lnTo>
                    <a:pt x="137" y="51"/>
                  </a:lnTo>
                  <a:lnTo>
                    <a:pt x="139" y="48"/>
                  </a:lnTo>
                  <a:lnTo>
                    <a:pt x="139" y="44"/>
                  </a:lnTo>
                  <a:lnTo>
                    <a:pt x="141" y="41"/>
                  </a:lnTo>
                  <a:lnTo>
                    <a:pt x="141" y="38"/>
                  </a:lnTo>
                  <a:lnTo>
                    <a:pt x="142" y="34"/>
                  </a:lnTo>
                  <a:lnTo>
                    <a:pt x="142" y="31"/>
                  </a:lnTo>
                  <a:lnTo>
                    <a:pt x="142" y="28"/>
                  </a:lnTo>
                  <a:lnTo>
                    <a:pt x="142" y="24"/>
                  </a:lnTo>
                  <a:close/>
                  <a:moveTo>
                    <a:pt x="5" y="0"/>
                  </a:moveTo>
                  <a:lnTo>
                    <a:pt x="5" y="1"/>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5" y="51"/>
                  </a:lnTo>
                  <a:lnTo>
                    <a:pt x="8" y="51"/>
                  </a:lnTo>
                  <a:lnTo>
                    <a:pt x="8" y="48"/>
                  </a:lnTo>
                  <a:lnTo>
                    <a:pt x="7" y="44"/>
                  </a:lnTo>
                  <a:lnTo>
                    <a:pt x="5" y="41"/>
                  </a:lnTo>
                  <a:lnTo>
                    <a:pt x="5" y="38"/>
                  </a:lnTo>
                  <a:lnTo>
                    <a:pt x="5" y="34"/>
                  </a:lnTo>
                  <a:lnTo>
                    <a:pt x="3" y="31"/>
                  </a:lnTo>
                  <a:lnTo>
                    <a:pt x="3" y="28"/>
                  </a:lnTo>
                  <a:lnTo>
                    <a:pt x="3" y="24"/>
                  </a:lnTo>
                  <a:lnTo>
                    <a:pt x="3" y="21"/>
                  </a:lnTo>
                  <a:lnTo>
                    <a:pt x="3" y="18"/>
                  </a:lnTo>
                  <a:lnTo>
                    <a:pt x="5" y="14"/>
                  </a:lnTo>
                  <a:lnTo>
                    <a:pt x="5" y="11"/>
                  </a:lnTo>
                  <a:lnTo>
                    <a:pt x="7" y="8"/>
                  </a:lnTo>
                  <a:lnTo>
                    <a:pt x="7" y="4"/>
                  </a:lnTo>
                  <a:lnTo>
                    <a:pt x="8" y="1"/>
                  </a:lnTo>
                  <a:lnTo>
                    <a:pt x="8"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3" name="Freeform 475">
              <a:extLst>
                <a:ext uri="{FF2B5EF4-FFF2-40B4-BE49-F238E27FC236}">
                  <a16:creationId xmlns:a16="http://schemas.microsoft.com/office/drawing/2014/main" id="{3261A9D1-AD55-DA74-749D-1CD20469031C}"/>
                </a:ext>
              </a:extLst>
            </p:cNvPr>
            <p:cNvSpPr>
              <a:spLocks noEditPoints="1"/>
            </p:cNvSpPr>
            <p:nvPr/>
          </p:nvSpPr>
          <p:spPr bwMode="auto">
            <a:xfrm>
              <a:off x="1542" y="1713"/>
              <a:ext cx="139" cy="51"/>
            </a:xfrm>
            <a:custGeom>
              <a:avLst/>
              <a:gdLst>
                <a:gd name="T0" fmla="*/ 139 w 139"/>
                <a:gd name="T1" fmla="*/ 21 h 51"/>
                <a:gd name="T2" fmla="*/ 137 w 139"/>
                <a:gd name="T3" fmla="*/ 14 h 51"/>
                <a:gd name="T4" fmla="*/ 137 w 139"/>
                <a:gd name="T5" fmla="*/ 8 h 51"/>
                <a:gd name="T6" fmla="*/ 135 w 139"/>
                <a:gd name="T7" fmla="*/ 1 h 51"/>
                <a:gd name="T8" fmla="*/ 130 w 139"/>
                <a:gd name="T9" fmla="*/ 0 h 51"/>
                <a:gd name="T10" fmla="*/ 132 w 139"/>
                <a:gd name="T11" fmla="*/ 4 h 51"/>
                <a:gd name="T12" fmla="*/ 134 w 139"/>
                <a:gd name="T13" fmla="*/ 11 h 51"/>
                <a:gd name="T14" fmla="*/ 135 w 139"/>
                <a:gd name="T15" fmla="*/ 18 h 51"/>
                <a:gd name="T16" fmla="*/ 135 w 139"/>
                <a:gd name="T17" fmla="*/ 24 h 51"/>
                <a:gd name="T18" fmla="*/ 135 w 139"/>
                <a:gd name="T19" fmla="*/ 31 h 51"/>
                <a:gd name="T20" fmla="*/ 134 w 139"/>
                <a:gd name="T21" fmla="*/ 38 h 51"/>
                <a:gd name="T22" fmla="*/ 132 w 139"/>
                <a:gd name="T23" fmla="*/ 44 h 51"/>
                <a:gd name="T24" fmla="*/ 130 w 139"/>
                <a:gd name="T25" fmla="*/ 51 h 51"/>
                <a:gd name="T26" fmla="*/ 135 w 139"/>
                <a:gd name="T27" fmla="*/ 48 h 51"/>
                <a:gd name="T28" fmla="*/ 137 w 139"/>
                <a:gd name="T29" fmla="*/ 41 h 51"/>
                <a:gd name="T30" fmla="*/ 137 w 139"/>
                <a:gd name="T31" fmla="*/ 34 h 51"/>
                <a:gd name="T32" fmla="*/ 139 w 139"/>
                <a:gd name="T33" fmla="*/ 28 h 51"/>
                <a:gd name="T34" fmla="*/ 5 w 139"/>
                <a:gd name="T35" fmla="*/ 0 h 51"/>
                <a:gd name="T36" fmla="*/ 3 w 139"/>
                <a:gd name="T37" fmla="*/ 4 h 51"/>
                <a:gd name="T38" fmla="*/ 1 w 139"/>
                <a:gd name="T39" fmla="*/ 11 h 51"/>
                <a:gd name="T40" fmla="*/ 0 w 139"/>
                <a:gd name="T41" fmla="*/ 18 h 51"/>
                <a:gd name="T42" fmla="*/ 0 w 139"/>
                <a:gd name="T43" fmla="*/ 24 h 51"/>
                <a:gd name="T44" fmla="*/ 0 w 139"/>
                <a:gd name="T45" fmla="*/ 31 h 51"/>
                <a:gd name="T46" fmla="*/ 1 w 139"/>
                <a:gd name="T47" fmla="*/ 38 h 51"/>
                <a:gd name="T48" fmla="*/ 3 w 139"/>
                <a:gd name="T49" fmla="*/ 44 h 51"/>
                <a:gd name="T50" fmla="*/ 5 w 139"/>
                <a:gd name="T51" fmla="*/ 51 h 51"/>
                <a:gd name="T52" fmla="*/ 8 w 139"/>
                <a:gd name="T53" fmla="*/ 48 h 51"/>
                <a:gd name="T54" fmla="*/ 5 w 139"/>
                <a:gd name="T55" fmla="*/ 41 h 51"/>
                <a:gd name="T56" fmla="*/ 5 w 139"/>
                <a:gd name="T57" fmla="*/ 34 h 51"/>
                <a:gd name="T58" fmla="*/ 3 w 139"/>
                <a:gd name="T59" fmla="*/ 28 h 51"/>
                <a:gd name="T60" fmla="*/ 3 w 139"/>
                <a:gd name="T61" fmla="*/ 21 h 51"/>
                <a:gd name="T62" fmla="*/ 5 w 139"/>
                <a:gd name="T63" fmla="*/ 14 h 51"/>
                <a:gd name="T64" fmla="*/ 6 w 139"/>
                <a:gd name="T65" fmla="*/ 8 h 51"/>
                <a:gd name="T66" fmla="*/ 8 w 139"/>
                <a:gd name="T67" fmla="*/ 1 h 51"/>
                <a:gd name="T68" fmla="*/ 5 w 13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9" h="51">
                  <a:moveTo>
                    <a:pt x="139" y="24"/>
                  </a:moveTo>
                  <a:lnTo>
                    <a:pt x="139" y="21"/>
                  </a:lnTo>
                  <a:lnTo>
                    <a:pt x="139" y="18"/>
                  </a:lnTo>
                  <a:lnTo>
                    <a:pt x="137" y="14"/>
                  </a:lnTo>
                  <a:lnTo>
                    <a:pt x="137" y="11"/>
                  </a:lnTo>
                  <a:lnTo>
                    <a:pt x="137" y="8"/>
                  </a:lnTo>
                  <a:lnTo>
                    <a:pt x="135" y="4"/>
                  </a:lnTo>
                  <a:lnTo>
                    <a:pt x="135" y="1"/>
                  </a:lnTo>
                  <a:lnTo>
                    <a:pt x="134" y="0"/>
                  </a:lnTo>
                  <a:lnTo>
                    <a:pt x="130" y="0"/>
                  </a:lnTo>
                  <a:lnTo>
                    <a:pt x="130" y="1"/>
                  </a:lnTo>
                  <a:lnTo>
                    <a:pt x="132" y="4"/>
                  </a:lnTo>
                  <a:lnTo>
                    <a:pt x="134" y="8"/>
                  </a:lnTo>
                  <a:lnTo>
                    <a:pt x="134" y="11"/>
                  </a:lnTo>
                  <a:lnTo>
                    <a:pt x="134" y="14"/>
                  </a:lnTo>
                  <a:lnTo>
                    <a:pt x="135" y="18"/>
                  </a:lnTo>
                  <a:lnTo>
                    <a:pt x="135" y="21"/>
                  </a:lnTo>
                  <a:lnTo>
                    <a:pt x="135" y="24"/>
                  </a:lnTo>
                  <a:lnTo>
                    <a:pt x="135" y="28"/>
                  </a:lnTo>
                  <a:lnTo>
                    <a:pt x="135" y="31"/>
                  </a:lnTo>
                  <a:lnTo>
                    <a:pt x="134" y="34"/>
                  </a:lnTo>
                  <a:lnTo>
                    <a:pt x="134" y="38"/>
                  </a:lnTo>
                  <a:lnTo>
                    <a:pt x="134" y="41"/>
                  </a:lnTo>
                  <a:lnTo>
                    <a:pt x="132" y="44"/>
                  </a:lnTo>
                  <a:lnTo>
                    <a:pt x="132" y="48"/>
                  </a:lnTo>
                  <a:lnTo>
                    <a:pt x="130" y="51"/>
                  </a:lnTo>
                  <a:lnTo>
                    <a:pt x="134" y="51"/>
                  </a:lnTo>
                  <a:lnTo>
                    <a:pt x="135" y="48"/>
                  </a:lnTo>
                  <a:lnTo>
                    <a:pt x="135" y="44"/>
                  </a:lnTo>
                  <a:lnTo>
                    <a:pt x="137" y="41"/>
                  </a:lnTo>
                  <a:lnTo>
                    <a:pt x="137" y="38"/>
                  </a:lnTo>
                  <a:lnTo>
                    <a:pt x="137" y="34"/>
                  </a:lnTo>
                  <a:lnTo>
                    <a:pt x="139" y="31"/>
                  </a:lnTo>
                  <a:lnTo>
                    <a:pt x="139" y="28"/>
                  </a:lnTo>
                  <a:lnTo>
                    <a:pt x="139" y="24"/>
                  </a:lnTo>
                  <a:close/>
                  <a:moveTo>
                    <a:pt x="5" y="0"/>
                  </a:moveTo>
                  <a:lnTo>
                    <a:pt x="5" y="1"/>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5" y="51"/>
                  </a:lnTo>
                  <a:lnTo>
                    <a:pt x="8" y="51"/>
                  </a:lnTo>
                  <a:lnTo>
                    <a:pt x="8" y="48"/>
                  </a:lnTo>
                  <a:lnTo>
                    <a:pt x="6" y="44"/>
                  </a:lnTo>
                  <a:lnTo>
                    <a:pt x="5" y="41"/>
                  </a:lnTo>
                  <a:lnTo>
                    <a:pt x="5" y="38"/>
                  </a:lnTo>
                  <a:lnTo>
                    <a:pt x="5" y="34"/>
                  </a:lnTo>
                  <a:lnTo>
                    <a:pt x="3" y="31"/>
                  </a:lnTo>
                  <a:lnTo>
                    <a:pt x="3" y="28"/>
                  </a:lnTo>
                  <a:lnTo>
                    <a:pt x="3" y="24"/>
                  </a:lnTo>
                  <a:lnTo>
                    <a:pt x="3" y="21"/>
                  </a:lnTo>
                  <a:lnTo>
                    <a:pt x="3" y="18"/>
                  </a:lnTo>
                  <a:lnTo>
                    <a:pt x="5" y="14"/>
                  </a:lnTo>
                  <a:lnTo>
                    <a:pt x="5" y="11"/>
                  </a:lnTo>
                  <a:lnTo>
                    <a:pt x="6" y="8"/>
                  </a:lnTo>
                  <a:lnTo>
                    <a:pt x="6" y="4"/>
                  </a:lnTo>
                  <a:lnTo>
                    <a:pt x="8" y="1"/>
                  </a:lnTo>
                  <a:lnTo>
                    <a:pt x="10"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4" name="Freeform 476">
              <a:extLst>
                <a:ext uri="{FF2B5EF4-FFF2-40B4-BE49-F238E27FC236}">
                  <a16:creationId xmlns:a16="http://schemas.microsoft.com/office/drawing/2014/main" id="{CE367FE6-9374-D79B-EF8D-2B01DEF282BC}"/>
                </a:ext>
              </a:extLst>
            </p:cNvPr>
            <p:cNvSpPr>
              <a:spLocks noEditPoints="1"/>
            </p:cNvSpPr>
            <p:nvPr/>
          </p:nvSpPr>
          <p:spPr bwMode="auto">
            <a:xfrm>
              <a:off x="1543" y="1713"/>
              <a:ext cx="136" cy="51"/>
            </a:xfrm>
            <a:custGeom>
              <a:avLst/>
              <a:gdLst>
                <a:gd name="T0" fmla="*/ 136 w 136"/>
                <a:gd name="T1" fmla="*/ 21 h 51"/>
                <a:gd name="T2" fmla="*/ 134 w 136"/>
                <a:gd name="T3" fmla="*/ 14 h 51"/>
                <a:gd name="T4" fmla="*/ 134 w 136"/>
                <a:gd name="T5" fmla="*/ 8 h 51"/>
                <a:gd name="T6" fmla="*/ 131 w 136"/>
                <a:gd name="T7" fmla="*/ 1 h 51"/>
                <a:gd name="T8" fmla="*/ 128 w 136"/>
                <a:gd name="T9" fmla="*/ 0 h 51"/>
                <a:gd name="T10" fmla="*/ 129 w 136"/>
                <a:gd name="T11" fmla="*/ 4 h 51"/>
                <a:gd name="T12" fmla="*/ 131 w 136"/>
                <a:gd name="T13" fmla="*/ 11 h 51"/>
                <a:gd name="T14" fmla="*/ 133 w 136"/>
                <a:gd name="T15" fmla="*/ 18 h 51"/>
                <a:gd name="T16" fmla="*/ 133 w 136"/>
                <a:gd name="T17" fmla="*/ 24 h 51"/>
                <a:gd name="T18" fmla="*/ 133 w 136"/>
                <a:gd name="T19" fmla="*/ 31 h 51"/>
                <a:gd name="T20" fmla="*/ 131 w 136"/>
                <a:gd name="T21" fmla="*/ 38 h 51"/>
                <a:gd name="T22" fmla="*/ 129 w 136"/>
                <a:gd name="T23" fmla="*/ 44 h 51"/>
                <a:gd name="T24" fmla="*/ 128 w 136"/>
                <a:gd name="T25" fmla="*/ 51 h 51"/>
                <a:gd name="T26" fmla="*/ 133 w 136"/>
                <a:gd name="T27" fmla="*/ 48 h 51"/>
                <a:gd name="T28" fmla="*/ 134 w 136"/>
                <a:gd name="T29" fmla="*/ 41 h 51"/>
                <a:gd name="T30" fmla="*/ 134 w 136"/>
                <a:gd name="T31" fmla="*/ 34 h 51"/>
                <a:gd name="T32" fmla="*/ 136 w 136"/>
                <a:gd name="T33" fmla="*/ 28 h 51"/>
                <a:gd name="T34" fmla="*/ 5 w 136"/>
                <a:gd name="T35" fmla="*/ 0 h 51"/>
                <a:gd name="T36" fmla="*/ 4 w 136"/>
                <a:gd name="T37" fmla="*/ 4 h 51"/>
                <a:gd name="T38" fmla="*/ 2 w 136"/>
                <a:gd name="T39" fmla="*/ 11 h 51"/>
                <a:gd name="T40" fmla="*/ 0 w 136"/>
                <a:gd name="T41" fmla="*/ 18 h 51"/>
                <a:gd name="T42" fmla="*/ 0 w 136"/>
                <a:gd name="T43" fmla="*/ 24 h 51"/>
                <a:gd name="T44" fmla="*/ 0 w 136"/>
                <a:gd name="T45" fmla="*/ 31 h 51"/>
                <a:gd name="T46" fmla="*/ 2 w 136"/>
                <a:gd name="T47" fmla="*/ 38 h 51"/>
                <a:gd name="T48" fmla="*/ 4 w 136"/>
                <a:gd name="T49" fmla="*/ 44 h 51"/>
                <a:gd name="T50" fmla="*/ 5 w 136"/>
                <a:gd name="T51" fmla="*/ 51 h 51"/>
                <a:gd name="T52" fmla="*/ 9 w 136"/>
                <a:gd name="T53" fmla="*/ 48 h 51"/>
                <a:gd name="T54" fmla="*/ 5 w 136"/>
                <a:gd name="T55" fmla="*/ 41 h 51"/>
                <a:gd name="T56" fmla="*/ 5 w 136"/>
                <a:gd name="T57" fmla="*/ 34 h 51"/>
                <a:gd name="T58" fmla="*/ 4 w 136"/>
                <a:gd name="T59" fmla="*/ 28 h 51"/>
                <a:gd name="T60" fmla="*/ 4 w 136"/>
                <a:gd name="T61" fmla="*/ 21 h 51"/>
                <a:gd name="T62" fmla="*/ 5 w 136"/>
                <a:gd name="T63" fmla="*/ 14 h 51"/>
                <a:gd name="T64" fmla="*/ 7 w 136"/>
                <a:gd name="T65" fmla="*/ 8 h 51"/>
                <a:gd name="T66" fmla="*/ 9 w 136"/>
                <a:gd name="T67" fmla="*/ 1 h 51"/>
                <a:gd name="T68" fmla="*/ 5 w 1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6" h="51">
                  <a:moveTo>
                    <a:pt x="136" y="24"/>
                  </a:moveTo>
                  <a:lnTo>
                    <a:pt x="136" y="21"/>
                  </a:lnTo>
                  <a:lnTo>
                    <a:pt x="136" y="18"/>
                  </a:lnTo>
                  <a:lnTo>
                    <a:pt x="134" y="14"/>
                  </a:lnTo>
                  <a:lnTo>
                    <a:pt x="134" y="11"/>
                  </a:lnTo>
                  <a:lnTo>
                    <a:pt x="134" y="8"/>
                  </a:lnTo>
                  <a:lnTo>
                    <a:pt x="133" y="4"/>
                  </a:lnTo>
                  <a:lnTo>
                    <a:pt x="131" y="1"/>
                  </a:lnTo>
                  <a:lnTo>
                    <a:pt x="131" y="0"/>
                  </a:lnTo>
                  <a:lnTo>
                    <a:pt x="128" y="0"/>
                  </a:lnTo>
                  <a:lnTo>
                    <a:pt x="128" y="1"/>
                  </a:lnTo>
                  <a:lnTo>
                    <a:pt x="129" y="4"/>
                  </a:lnTo>
                  <a:lnTo>
                    <a:pt x="131" y="8"/>
                  </a:lnTo>
                  <a:lnTo>
                    <a:pt x="131" y="11"/>
                  </a:lnTo>
                  <a:lnTo>
                    <a:pt x="131" y="14"/>
                  </a:lnTo>
                  <a:lnTo>
                    <a:pt x="133" y="18"/>
                  </a:lnTo>
                  <a:lnTo>
                    <a:pt x="133" y="21"/>
                  </a:lnTo>
                  <a:lnTo>
                    <a:pt x="133" y="24"/>
                  </a:lnTo>
                  <a:lnTo>
                    <a:pt x="133" y="28"/>
                  </a:lnTo>
                  <a:lnTo>
                    <a:pt x="133" y="31"/>
                  </a:lnTo>
                  <a:lnTo>
                    <a:pt x="131" y="34"/>
                  </a:lnTo>
                  <a:lnTo>
                    <a:pt x="131" y="38"/>
                  </a:lnTo>
                  <a:lnTo>
                    <a:pt x="131" y="41"/>
                  </a:lnTo>
                  <a:lnTo>
                    <a:pt x="129" y="44"/>
                  </a:lnTo>
                  <a:lnTo>
                    <a:pt x="129" y="48"/>
                  </a:lnTo>
                  <a:lnTo>
                    <a:pt x="128" y="51"/>
                  </a:lnTo>
                  <a:lnTo>
                    <a:pt x="131" y="51"/>
                  </a:lnTo>
                  <a:lnTo>
                    <a:pt x="133" y="48"/>
                  </a:lnTo>
                  <a:lnTo>
                    <a:pt x="133" y="44"/>
                  </a:lnTo>
                  <a:lnTo>
                    <a:pt x="134" y="41"/>
                  </a:lnTo>
                  <a:lnTo>
                    <a:pt x="134" y="38"/>
                  </a:lnTo>
                  <a:lnTo>
                    <a:pt x="134" y="34"/>
                  </a:lnTo>
                  <a:lnTo>
                    <a:pt x="136" y="31"/>
                  </a:lnTo>
                  <a:lnTo>
                    <a:pt x="136" y="28"/>
                  </a:lnTo>
                  <a:lnTo>
                    <a:pt x="136" y="24"/>
                  </a:lnTo>
                  <a:close/>
                  <a:moveTo>
                    <a:pt x="5" y="0"/>
                  </a:moveTo>
                  <a:lnTo>
                    <a:pt x="5" y="1"/>
                  </a:lnTo>
                  <a:lnTo>
                    <a:pt x="4" y="4"/>
                  </a:lnTo>
                  <a:lnTo>
                    <a:pt x="4" y="8"/>
                  </a:lnTo>
                  <a:lnTo>
                    <a:pt x="2" y="11"/>
                  </a:lnTo>
                  <a:lnTo>
                    <a:pt x="2" y="14"/>
                  </a:lnTo>
                  <a:lnTo>
                    <a:pt x="0" y="18"/>
                  </a:lnTo>
                  <a:lnTo>
                    <a:pt x="0" y="21"/>
                  </a:lnTo>
                  <a:lnTo>
                    <a:pt x="0" y="24"/>
                  </a:lnTo>
                  <a:lnTo>
                    <a:pt x="0" y="28"/>
                  </a:lnTo>
                  <a:lnTo>
                    <a:pt x="0" y="31"/>
                  </a:lnTo>
                  <a:lnTo>
                    <a:pt x="2" y="34"/>
                  </a:lnTo>
                  <a:lnTo>
                    <a:pt x="2" y="38"/>
                  </a:lnTo>
                  <a:lnTo>
                    <a:pt x="2" y="41"/>
                  </a:lnTo>
                  <a:lnTo>
                    <a:pt x="4" y="44"/>
                  </a:lnTo>
                  <a:lnTo>
                    <a:pt x="5" y="48"/>
                  </a:lnTo>
                  <a:lnTo>
                    <a:pt x="5" y="51"/>
                  </a:lnTo>
                  <a:lnTo>
                    <a:pt x="9" y="51"/>
                  </a:lnTo>
                  <a:lnTo>
                    <a:pt x="9" y="48"/>
                  </a:lnTo>
                  <a:lnTo>
                    <a:pt x="7" y="44"/>
                  </a:lnTo>
                  <a:lnTo>
                    <a:pt x="5" y="41"/>
                  </a:lnTo>
                  <a:lnTo>
                    <a:pt x="5" y="38"/>
                  </a:lnTo>
                  <a:lnTo>
                    <a:pt x="5" y="34"/>
                  </a:lnTo>
                  <a:lnTo>
                    <a:pt x="4" y="31"/>
                  </a:lnTo>
                  <a:lnTo>
                    <a:pt x="4" y="28"/>
                  </a:lnTo>
                  <a:lnTo>
                    <a:pt x="4" y="24"/>
                  </a:lnTo>
                  <a:lnTo>
                    <a:pt x="4" y="21"/>
                  </a:lnTo>
                  <a:lnTo>
                    <a:pt x="4" y="18"/>
                  </a:lnTo>
                  <a:lnTo>
                    <a:pt x="5" y="14"/>
                  </a:lnTo>
                  <a:lnTo>
                    <a:pt x="5" y="11"/>
                  </a:lnTo>
                  <a:lnTo>
                    <a:pt x="7" y="8"/>
                  </a:lnTo>
                  <a:lnTo>
                    <a:pt x="7" y="4"/>
                  </a:lnTo>
                  <a:lnTo>
                    <a:pt x="9" y="1"/>
                  </a:lnTo>
                  <a:lnTo>
                    <a:pt x="10" y="0"/>
                  </a:lnTo>
                  <a:lnTo>
                    <a:pt x="5"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5" name="Freeform 477">
              <a:extLst>
                <a:ext uri="{FF2B5EF4-FFF2-40B4-BE49-F238E27FC236}">
                  <a16:creationId xmlns:a16="http://schemas.microsoft.com/office/drawing/2014/main" id="{63B0D96F-7CC2-C3F3-C279-CE57A7CECA1E}"/>
                </a:ext>
              </a:extLst>
            </p:cNvPr>
            <p:cNvSpPr>
              <a:spLocks noEditPoints="1"/>
            </p:cNvSpPr>
            <p:nvPr/>
          </p:nvSpPr>
          <p:spPr bwMode="auto">
            <a:xfrm>
              <a:off x="1545" y="1713"/>
              <a:ext cx="132" cy="51"/>
            </a:xfrm>
            <a:custGeom>
              <a:avLst/>
              <a:gdLst>
                <a:gd name="T0" fmla="*/ 132 w 132"/>
                <a:gd name="T1" fmla="*/ 21 h 51"/>
                <a:gd name="T2" fmla="*/ 131 w 132"/>
                <a:gd name="T3" fmla="*/ 14 h 51"/>
                <a:gd name="T4" fmla="*/ 131 w 132"/>
                <a:gd name="T5" fmla="*/ 8 h 51"/>
                <a:gd name="T6" fmla="*/ 127 w 132"/>
                <a:gd name="T7" fmla="*/ 1 h 51"/>
                <a:gd name="T8" fmla="*/ 122 w 132"/>
                <a:gd name="T9" fmla="*/ 0 h 51"/>
                <a:gd name="T10" fmla="*/ 126 w 132"/>
                <a:gd name="T11" fmla="*/ 4 h 51"/>
                <a:gd name="T12" fmla="*/ 127 w 132"/>
                <a:gd name="T13" fmla="*/ 11 h 51"/>
                <a:gd name="T14" fmla="*/ 129 w 132"/>
                <a:gd name="T15" fmla="*/ 18 h 51"/>
                <a:gd name="T16" fmla="*/ 129 w 132"/>
                <a:gd name="T17" fmla="*/ 24 h 51"/>
                <a:gd name="T18" fmla="*/ 129 w 132"/>
                <a:gd name="T19" fmla="*/ 31 h 51"/>
                <a:gd name="T20" fmla="*/ 127 w 132"/>
                <a:gd name="T21" fmla="*/ 38 h 51"/>
                <a:gd name="T22" fmla="*/ 126 w 132"/>
                <a:gd name="T23" fmla="*/ 44 h 51"/>
                <a:gd name="T24" fmla="*/ 124 w 132"/>
                <a:gd name="T25" fmla="*/ 51 h 51"/>
                <a:gd name="T26" fmla="*/ 129 w 132"/>
                <a:gd name="T27" fmla="*/ 48 h 51"/>
                <a:gd name="T28" fmla="*/ 131 w 132"/>
                <a:gd name="T29" fmla="*/ 41 h 51"/>
                <a:gd name="T30" fmla="*/ 131 w 132"/>
                <a:gd name="T31" fmla="*/ 34 h 51"/>
                <a:gd name="T32" fmla="*/ 132 w 132"/>
                <a:gd name="T33" fmla="*/ 28 h 51"/>
                <a:gd name="T34" fmla="*/ 7 w 132"/>
                <a:gd name="T35" fmla="*/ 0 h 51"/>
                <a:gd name="T36" fmla="*/ 3 w 132"/>
                <a:gd name="T37" fmla="*/ 4 h 51"/>
                <a:gd name="T38" fmla="*/ 2 w 132"/>
                <a:gd name="T39" fmla="*/ 11 h 51"/>
                <a:gd name="T40" fmla="*/ 0 w 132"/>
                <a:gd name="T41" fmla="*/ 18 h 51"/>
                <a:gd name="T42" fmla="*/ 0 w 132"/>
                <a:gd name="T43" fmla="*/ 24 h 51"/>
                <a:gd name="T44" fmla="*/ 0 w 132"/>
                <a:gd name="T45" fmla="*/ 31 h 51"/>
                <a:gd name="T46" fmla="*/ 2 w 132"/>
                <a:gd name="T47" fmla="*/ 38 h 51"/>
                <a:gd name="T48" fmla="*/ 3 w 132"/>
                <a:gd name="T49" fmla="*/ 44 h 51"/>
                <a:gd name="T50" fmla="*/ 5 w 132"/>
                <a:gd name="T51" fmla="*/ 51 h 51"/>
                <a:gd name="T52" fmla="*/ 8 w 132"/>
                <a:gd name="T53" fmla="*/ 48 h 51"/>
                <a:gd name="T54" fmla="*/ 7 w 132"/>
                <a:gd name="T55" fmla="*/ 41 h 51"/>
                <a:gd name="T56" fmla="*/ 5 w 132"/>
                <a:gd name="T57" fmla="*/ 34 h 51"/>
                <a:gd name="T58" fmla="*/ 3 w 132"/>
                <a:gd name="T59" fmla="*/ 28 h 51"/>
                <a:gd name="T60" fmla="*/ 3 w 132"/>
                <a:gd name="T61" fmla="*/ 21 h 51"/>
                <a:gd name="T62" fmla="*/ 5 w 132"/>
                <a:gd name="T63" fmla="*/ 14 h 51"/>
                <a:gd name="T64" fmla="*/ 7 w 132"/>
                <a:gd name="T65" fmla="*/ 8 h 51"/>
                <a:gd name="T66" fmla="*/ 8 w 132"/>
                <a:gd name="T67" fmla="*/ 1 h 51"/>
                <a:gd name="T68" fmla="*/ 7 w 1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2" h="51">
                  <a:moveTo>
                    <a:pt x="132" y="24"/>
                  </a:moveTo>
                  <a:lnTo>
                    <a:pt x="132" y="21"/>
                  </a:lnTo>
                  <a:lnTo>
                    <a:pt x="132" y="18"/>
                  </a:lnTo>
                  <a:lnTo>
                    <a:pt x="131" y="14"/>
                  </a:lnTo>
                  <a:lnTo>
                    <a:pt x="131" y="11"/>
                  </a:lnTo>
                  <a:lnTo>
                    <a:pt x="131" y="8"/>
                  </a:lnTo>
                  <a:lnTo>
                    <a:pt x="129" y="4"/>
                  </a:lnTo>
                  <a:lnTo>
                    <a:pt x="127" y="1"/>
                  </a:lnTo>
                  <a:lnTo>
                    <a:pt x="127" y="0"/>
                  </a:lnTo>
                  <a:lnTo>
                    <a:pt x="122" y="0"/>
                  </a:lnTo>
                  <a:lnTo>
                    <a:pt x="124" y="1"/>
                  </a:lnTo>
                  <a:lnTo>
                    <a:pt x="126" y="4"/>
                  </a:lnTo>
                  <a:lnTo>
                    <a:pt x="127" y="8"/>
                  </a:lnTo>
                  <a:lnTo>
                    <a:pt x="127" y="11"/>
                  </a:lnTo>
                  <a:lnTo>
                    <a:pt x="127" y="14"/>
                  </a:lnTo>
                  <a:lnTo>
                    <a:pt x="129" y="18"/>
                  </a:lnTo>
                  <a:lnTo>
                    <a:pt x="129" y="21"/>
                  </a:lnTo>
                  <a:lnTo>
                    <a:pt x="129" y="24"/>
                  </a:lnTo>
                  <a:lnTo>
                    <a:pt x="129" y="28"/>
                  </a:lnTo>
                  <a:lnTo>
                    <a:pt x="129" y="31"/>
                  </a:lnTo>
                  <a:lnTo>
                    <a:pt x="127" y="34"/>
                  </a:lnTo>
                  <a:lnTo>
                    <a:pt x="127" y="38"/>
                  </a:lnTo>
                  <a:lnTo>
                    <a:pt x="127" y="41"/>
                  </a:lnTo>
                  <a:lnTo>
                    <a:pt x="126" y="44"/>
                  </a:lnTo>
                  <a:lnTo>
                    <a:pt x="124" y="48"/>
                  </a:lnTo>
                  <a:lnTo>
                    <a:pt x="124" y="51"/>
                  </a:lnTo>
                  <a:lnTo>
                    <a:pt x="127" y="51"/>
                  </a:lnTo>
                  <a:lnTo>
                    <a:pt x="129" y="48"/>
                  </a:lnTo>
                  <a:lnTo>
                    <a:pt x="129" y="44"/>
                  </a:lnTo>
                  <a:lnTo>
                    <a:pt x="131" y="41"/>
                  </a:lnTo>
                  <a:lnTo>
                    <a:pt x="131" y="38"/>
                  </a:lnTo>
                  <a:lnTo>
                    <a:pt x="131" y="34"/>
                  </a:lnTo>
                  <a:lnTo>
                    <a:pt x="132" y="31"/>
                  </a:lnTo>
                  <a:lnTo>
                    <a:pt x="132" y="28"/>
                  </a:lnTo>
                  <a:lnTo>
                    <a:pt x="132" y="24"/>
                  </a:lnTo>
                  <a:close/>
                  <a:moveTo>
                    <a:pt x="7" y="0"/>
                  </a:moveTo>
                  <a:lnTo>
                    <a:pt x="5" y="1"/>
                  </a:lnTo>
                  <a:lnTo>
                    <a:pt x="3" y="4"/>
                  </a:lnTo>
                  <a:lnTo>
                    <a:pt x="3" y="8"/>
                  </a:lnTo>
                  <a:lnTo>
                    <a:pt x="2" y="11"/>
                  </a:lnTo>
                  <a:lnTo>
                    <a:pt x="2" y="14"/>
                  </a:lnTo>
                  <a:lnTo>
                    <a:pt x="0" y="18"/>
                  </a:lnTo>
                  <a:lnTo>
                    <a:pt x="0" y="21"/>
                  </a:lnTo>
                  <a:lnTo>
                    <a:pt x="0" y="24"/>
                  </a:lnTo>
                  <a:lnTo>
                    <a:pt x="0" y="28"/>
                  </a:lnTo>
                  <a:lnTo>
                    <a:pt x="0" y="31"/>
                  </a:lnTo>
                  <a:lnTo>
                    <a:pt x="2" y="34"/>
                  </a:lnTo>
                  <a:lnTo>
                    <a:pt x="2" y="38"/>
                  </a:lnTo>
                  <a:lnTo>
                    <a:pt x="2" y="41"/>
                  </a:lnTo>
                  <a:lnTo>
                    <a:pt x="3" y="44"/>
                  </a:lnTo>
                  <a:lnTo>
                    <a:pt x="5" y="48"/>
                  </a:lnTo>
                  <a:lnTo>
                    <a:pt x="5" y="51"/>
                  </a:lnTo>
                  <a:lnTo>
                    <a:pt x="8" y="51"/>
                  </a:lnTo>
                  <a:lnTo>
                    <a:pt x="8" y="48"/>
                  </a:lnTo>
                  <a:lnTo>
                    <a:pt x="7" y="44"/>
                  </a:lnTo>
                  <a:lnTo>
                    <a:pt x="7" y="41"/>
                  </a:lnTo>
                  <a:lnTo>
                    <a:pt x="5" y="38"/>
                  </a:lnTo>
                  <a:lnTo>
                    <a:pt x="5" y="34"/>
                  </a:lnTo>
                  <a:lnTo>
                    <a:pt x="3" y="31"/>
                  </a:lnTo>
                  <a:lnTo>
                    <a:pt x="3" y="28"/>
                  </a:lnTo>
                  <a:lnTo>
                    <a:pt x="3" y="24"/>
                  </a:lnTo>
                  <a:lnTo>
                    <a:pt x="3" y="21"/>
                  </a:lnTo>
                  <a:lnTo>
                    <a:pt x="3" y="18"/>
                  </a:lnTo>
                  <a:lnTo>
                    <a:pt x="5" y="14"/>
                  </a:lnTo>
                  <a:lnTo>
                    <a:pt x="5" y="11"/>
                  </a:lnTo>
                  <a:lnTo>
                    <a:pt x="7" y="8"/>
                  </a:lnTo>
                  <a:lnTo>
                    <a:pt x="7" y="4"/>
                  </a:lnTo>
                  <a:lnTo>
                    <a:pt x="8" y="1"/>
                  </a:lnTo>
                  <a:lnTo>
                    <a:pt x="10" y="0"/>
                  </a:lnTo>
                  <a:lnTo>
                    <a:pt x="7"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6" name="Freeform 478">
              <a:extLst>
                <a:ext uri="{FF2B5EF4-FFF2-40B4-BE49-F238E27FC236}">
                  <a16:creationId xmlns:a16="http://schemas.microsoft.com/office/drawing/2014/main" id="{92BABD34-0311-1AF8-CE01-FACFC4832C18}"/>
                </a:ext>
              </a:extLst>
            </p:cNvPr>
            <p:cNvSpPr>
              <a:spLocks noEditPoints="1"/>
            </p:cNvSpPr>
            <p:nvPr/>
          </p:nvSpPr>
          <p:spPr bwMode="auto">
            <a:xfrm>
              <a:off x="1547" y="1713"/>
              <a:ext cx="129" cy="51"/>
            </a:xfrm>
            <a:custGeom>
              <a:avLst/>
              <a:gdLst>
                <a:gd name="T0" fmla="*/ 129 w 129"/>
                <a:gd name="T1" fmla="*/ 21 h 51"/>
                <a:gd name="T2" fmla="*/ 127 w 129"/>
                <a:gd name="T3" fmla="*/ 14 h 51"/>
                <a:gd name="T4" fmla="*/ 127 w 129"/>
                <a:gd name="T5" fmla="*/ 8 h 51"/>
                <a:gd name="T6" fmla="*/ 124 w 129"/>
                <a:gd name="T7" fmla="*/ 1 h 51"/>
                <a:gd name="T8" fmla="*/ 119 w 129"/>
                <a:gd name="T9" fmla="*/ 0 h 51"/>
                <a:gd name="T10" fmla="*/ 122 w 129"/>
                <a:gd name="T11" fmla="*/ 4 h 51"/>
                <a:gd name="T12" fmla="*/ 124 w 129"/>
                <a:gd name="T13" fmla="*/ 11 h 51"/>
                <a:gd name="T14" fmla="*/ 125 w 129"/>
                <a:gd name="T15" fmla="*/ 18 h 51"/>
                <a:gd name="T16" fmla="*/ 125 w 129"/>
                <a:gd name="T17" fmla="*/ 24 h 51"/>
                <a:gd name="T18" fmla="*/ 125 w 129"/>
                <a:gd name="T19" fmla="*/ 31 h 51"/>
                <a:gd name="T20" fmla="*/ 124 w 129"/>
                <a:gd name="T21" fmla="*/ 38 h 51"/>
                <a:gd name="T22" fmla="*/ 122 w 129"/>
                <a:gd name="T23" fmla="*/ 44 h 51"/>
                <a:gd name="T24" fmla="*/ 120 w 129"/>
                <a:gd name="T25" fmla="*/ 51 h 51"/>
                <a:gd name="T26" fmla="*/ 125 w 129"/>
                <a:gd name="T27" fmla="*/ 48 h 51"/>
                <a:gd name="T28" fmla="*/ 127 w 129"/>
                <a:gd name="T29" fmla="*/ 41 h 51"/>
                <a:gd name="T30" fmla="*/ 127 w 129"/>
                <a:gd name="T31" fmla="*/ 34 h 51"/>
                <a:gd name="T32" fmla="*/ 129 w 129"/>
                <a:gd name="T33" fmla="*/ 28 h 51"/>
                <a:gd name="T34" fmla="*/ 6 w 129"/>
                <a:gd name="T35" fmla="*/ 0 h 51"/>
                <a:gd name="T36" fmla="*/ 3 w 129"/>
                <a:gd name="T37" fmla="*/ 4 h 51"/>
                <a:gd name="T38" fmla="*/ 1 w 129"/>
                <a:gd name="T39" fmla="*/ 11 h 51"/>
                <a:gd name="T40" fmla="*/ 0 w 129"/>
                <a:gd name="T41" fmla="*/ 18 h 51"/>
                <a:gd name="T42" fmla="*/ 0 w 129"/>
                <a:gd name="T43" fmla="*/ 24 h 51"/>
                <a:gd name="T44" fmla="*/ 0 w 129"/>
                <a:gd name="T45" fmla="*/ 31 h 51"/>
                <a:gd name="T46" fmla="*/ 1 w 129"/>
                <a:gd name="T47" fmla="*/ 38 h 51"/>
                <a:gd name="T48" fmla="*/ 3 w 129"/>
                <a:gd name="T49" fmla="*/ 44 h 51"/>
                <a:gd name="T50" fmla="*/ 5 w 129"/>
                <a:gd name="T51" fmla="*/ 51 h 51"/>
                <a:gd name="T52" fmla="*/ 8 w 129"/>
                <a:gd name="T53" fmla="*/ 48 h 51"/>
                <a:gd name="T54" fmla="*/ 6 w 129"/>
                <a:gd name="T55" fmla="*/ 41 h 51"/>
                <a:gd name="T56" fmla="*/ 5 w 129"/>
                <a:gd name="T57" fmla="*/ 34 h 51"/>
                <a:gd name="T58" fmla="*/ 3 w 129"/>
                <a:gd name="T59" fmla="*/ 28 h 51"/>
                <a:gd name="T60" fmla="*/ 3 w 129"/>
                <a:gd name="T61" fmla="*/ 21 h 51"/>
                <a:gd name="T62" fmla="*/ 5 w 129"/>
                <a:gd name="T63" fmla="*/ 14 h 51"/>
                <a:gd name="T64" fmla="*/ 6 w 129"/>
                <a:gd name="T65" fmla="*/ 8 h 51"/>
                <a:gd name="T66" fmla="*/ 8 w 129"/>
                <a:gd name="T67" fmla="*/ 1 h 51"/>
                <a:gd name="T68" fmla="*/ 6 w 12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9" h="51">
                  <a:moveTo>
                    <a:pt x="129" y="24"/>
                  </a:moveTo>
                  <a:lnTo>
                    <a:pt x="129" y="21"/>
                  </a:lnTo>
                  <a:lnTo>
                    <a:pt x="129" y="18"/>
                  </a:lnTo>
                  <a:lnTo>
                    <a:pt x="127" y="14"/>
                  </a:lnTo>
                  <a:lnTo>
                    <a:pt x="127" y="11"/>
                  </a:lnTo>
                  <a:lnTo>
                    <a:pt x="127" y="8"/>
                  </a:lnTo>
                  <a:lnTo>
                    <a:pt x="125" y="4"/>
                  </a:lnTo>
                  <a:lnTo>
                    <a:pt x="124" y="1"/>
                  </a:lnTo>
                  <a:lnTo>
                    <a:pt x="124" y="0"/>
                  </a:lnTo>
                  <a:lnTo>
                    <a:pt x="119" y="0"/>
                  </a:lnTo>
                  <a:lnTo>
                    <a:pt x="120" y="1"/>
                  </a:lnTo>
                  <a:lnTo>
                    <a:pt x="122" y="4"/>
                  </a:lnTo>
                  <a:lnTo>
                    <a:pt x="124" y="8"/>
                  </a:lnTo>
                  <a:lnTo>
                    <a:pt x="124" y="11"/>
                  </a:lnTo>
                  <a:lnTo>
                    <a:pt x="124" y="14"/>
                  </a:lnTo>
                  <a:lnTo>
                    <a:pt x="125" y="18"/>
                  </a:lnTo>
                  <a:lnTo>
                    <a:pt x="125" y="21"/>
                  </a:lnTo>
                  <a:lnTo>
                    <a:pt x="125" y="24"/>
                  </a:lnTo>
                  <a:lnTo>
                    <a:pt x="125" y="28"/>
                  </a:lnTo>
                  <a:lnTo>
                    <a:pt x="125" y="31"/>
                  </a:lnTo>
                  <a:lnTo>
                    <a:pt x="124" y="34"/>
                  </a:lnTo>
                  <a:lnTo>
                    <a:pt x="124" y="38"/>
                  </a:lnTo>
                  <a:lnTo>
                    <a:pt x="124" y="41"/>
                  </a:lnTo>
                  <a:lnTo>
                    <a:pt x="122" y="44"/>
                  </a:lnTo>
                  <a:lnTo>
                    <a:pt x="120" y="48"/>
                  </a:lnTo>
                  <a:lnTo>
                    <a:pt x="120" y="51"/>
                  </a:lnTo>
                  <a:lnTo>
                    <a:pt x="124" y="51"/>
                  </a:lnTo>
                  <a:lnTo>
                    <a:pt x="125" y="48"/>
                  </a:lnTo>
                  <a:lnTo>
                    <a:pt x="125" y="44"/>
                  </a:lnTo>
                  <a:lnTo>
                    <a:pt x="127" y="41"/>
                  </a:lnTo>
                  <a:lnTo>
                    <a:pt x="127" y="38"/>
                  </a:lnTo>
                  <a:lnTo>
                    <a:pt x="127" y="34"/>
                  </a:lnTo>
                  <a:lnTo>
                    <a:pt x="129" y="31"/>
                  </a:lnTo>
                  <a:lnTo>
                    <a:pt x="129" y="28"/>
                  </a:lnTo>
                  <a:lnTo>
                    <a:pt x="129" y="24"/>
                  </a:lnTo>
                  <a:close/>
                  <a:moveTo>
                    <a:pt x="6" y="0"/>
                  </a:moveTo>
                  <a:lnTo>
                    <a:pt x="5" y="1"/>
                  </a:lnTo>
                  <a:lnTo>
                    <a:pt x="3" y="4"/>
                  </a:lnTo>
                  <a:lnTo>
                    <a:pt x="3" y="8"/>
                  </a:lnTo>
                  <a:lnTo>
                    <a:pt x="1" y="11"/>
                  </a:lnTo>
                  <a:lnTo>
                    <a:pt x="1" y="14"/>
                  </a:lnTo>
                  <a:lnTo>
                    <a:pt x="0" y="18"/>
                  </a:lnTo>
                  <a:lnTo>
                    <a:pt x="0" y="21"/>
                  </a:lnTo>
                  <a:lnTo>
                    <a:pt x="0" y="24"/>
                  </a:lnTo>
                  <a:lnTo>
                    <a:pt x="0" y="28"/>
                  </a:lnTo>
                  <a:lnTo>
                    <a:pt x="0" y="31"/>
                  </a:lnTo>
                  <a:lnTo>
                    <a:pt x="1" y="34"/>
                  </a:lnTo>
                  <a:lnTo>
                    <a:pt x="1" y="38"/>
                  </a:lnTo>
                  <a:lnTo>
                    <a:pt x="1" y="41"/>
                  </a:lnTo>
                  <a:lnTo>
                    <a:pt x="3" y="44"/>
                  </a:lnTo>
                  <a:lnTo>
                    <a:pt x="5" y="48"/>
                  </a:lnTo>
                  <a:lnTo>
                    <a:pt x="5" y="51"/>
                  </a:lnTo>
                  <a:lnTo>
                    <a:pt x="8" y="51"/>
                  </a:lnTo>
                  <a:lnTo>
                    <a:pt x="8" y="48"/>
                  </a:lnTo>
                  <a:lnTo>
                    <a:pt x="6" y="44"/>
                  </a:lnTo>
                  <a:lnTo>
                    <a:pt x="6" y="41"/>
                  </a:lnTo>
                  <a:lnTo>
                    <a:pt x="5" y="38"/>
                  </a:lnTo>
                  <a:lnTo>
                    <a:pt x="5" y="34"/>
                  </a:lnTo>
                  <a:lnTo>
                    <a:pt x="3" y="31"/>
                  </a:lnTo>
                  <a:lnTo>
                    <a:pt x="3" y="28"/>
                  </a:lnTo>
                  <a:lnTo>
                    <a:pt x="3" y="24"/>
                  </a:lnTo>
                  <a:lnTo>
                    <a:pt x="3" y="21"/>
                  </a:lnTo>
                  <a:lnTo>
                    <a:pt x="3" y="18"/>
                  </a:lnTo>
                  <a:lnTo>
                    <a:pt x="5" y="14"/>
                  </a:lnTo>
                  <a:lnTo>
                    <a:pt x="5" y="11"/>
                  </a:lnTo>
                  <a:lnTo>
                    <a:pt x="6" y="8"/>
                  </a:lnTo>
                  <a:lnTo>
                    <a:pt x="6" y="4"/>
                  </a:lnTo>
                  <a:lnTo>
                    <a:pt x="8" y="1"/>
                  </a:lnTo>
                  <a:lnTo>
                    <a:pt x="10" y="0"/>
                  </a:lnTo>
                  <a:lnTo>
                    <a:pt x="6"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7" name="Freeform 479">
              <a:extLst>
                <a:ext uri="{FF2B5EF4-FFF2-40B4-BE49-F238E27FC236}">
                  <a16:creationId xmlns:a16="http://schemas.microsoft.com/office/drawing/2014/main" id="{05786DD4-86EE-D288-B824-6FED61558B08}"/>
                </a:ext>
              </a:extLst>
            </p:cNvPr>
            <p:cNvSpPr>
              <a:spLocks noEditPoints="1"/>
            </p:cNvSpPr>
            <p:nvPr/>
          </p:nvSpPr>
          <p:spPr bwMode="auto">
            <a:xfrm>
              <a:off x="1548" y="1713"/>
              <a:ext cx="126" cy="51"/>
            </a:xfrm>
            <a:custGeom>
              <a:avLst/>
              <a:gdLst>
                <a:gd name="T0" fmla="*/ 126 w 126"/>
                <a:gd name="T1" fmla="*/ 21 h 51"/>
                <a:gd name="T2" fmla="*/ 124 w 126"/>
                <a:gd name="T3" fmla="*/ 14 h 51"/>
                <a:gd name="T4" fmla="*/ 124 w 126"/>
                <a:gd name="T5" fmla="*/ 8 h 51"/>
                <a:gd name="T6" fmla="*/ 121 w 126"/>
                <a:gd name="T7" fmla="*/ 1 h 51"/>
                <a:gd name="T8" fmla="*/ 116 w 126"/>
                <a:gd name="T9" fmla="*/ 0 h 51"/>
                <a:gd name="T10" fmla="*/ 119 w 126"/>
                <a:gd name="T11" fmla="*/ 4 h 51"/>
                <a:gd name="T12" fmla="*/ 121 w 126"/>
                <a:gd name="T13" fmla="*/ 11 h 51"/>
                <a:gd name="T14" fmla="*/ 123 w 126"/>
                <a:gd name="T15" fmla="*/ 18 h 51"/>
                <a:gd name="T16" fmla="*/ 123 w 126"/>
                <a:gd name="T17" fmla="*/ 24 h 51"/>
                <a:gd name="T18" fmla="*/ 123 w 126"/>
                <a:gd name="T19" fmla="*/ 31 h 51"/>
                <a:gd name="T20" fmla="*/ 121 w 126"/>
                <a:gd name="T21" fmla="*/ 38 h 51"/>
                <a:gd name="T22" fmla="*/ 119 w 126"/>
                <a:gd name="T23" fmla="*/ 44 h 51"/>
                <a:gd name="T24" fmla="*/ 118 w 126"/>
                <a:gd name="T25" fmla="*/ 51 h 51"/>
                <a:gd name="T26" fmla="*/ 121 w 126"/>
                <a:gd name="T27" fmla="*/ 48 h 51"/>
                <a:gd name="T28" fmla="*/ 124 w 126"/>
                <a:gd name="T29" fmla="*/ 41 h 51"/>
                <a:gd name="T30" fmla="*/ 124 w 126"/>
                <a:gd name="T31" fmla="*/ 34 h 51"/>
                <a:gd name="T32" fmla="*/ 126 w 126"/>
                <a:gd name="T33" fmla="*/ 28 h 51"/>
                <a:gd name="T34" fmla="*/ 7 w 126"/>
                <a:gd name="T35" fmla="*/ 0 h 51"/>
                <a:gd name="T36" fmla="*/ 4 w 126"/>
                <a:gd name="T37" fmla="*/ 4 h 51"/>
                <a:gd name="T38" fmla="*/ 2 w 126"/>
                <a:gd name="T39" fmla="*/ 11 h 51"/>
                <a:gd name="T40" fmla="*/ 0 w 126"/>
                <a:gd name="T41" fmla="*/ 18 h 51"/>
                <a:gd name="T42" fmla="*/ 0 w 126"/>
                <a:gd name="T43" fmla="*/ 24 h 51"/>
                <a:gd name="T44" fmla="*/ 0 w 126"/>
                <a:gd name="T45" fmla="*/ 31 h 51"/>
                <a:gd name="T46" fmla="*/ 2 w 126"/>
                <a:gd name="T47" fmla="*/ 38 h 51"/>
                <a:gd name="T48" fmla="*/ 4 w 126"/>
                <a:gd name="T49" fmla="*/ 44 h 51"/>
                <a:gd name="T50" fmla="*/ 5 w 126"/>
                <a:gd name="T51" fmla="*/ 51 h 51"/>
                <a:gd name="T52" fmla="*/ 9 w 126"/>
                <a:gd name="T53" fmla="*/ 48 h 51"/>
                <a:gd name="T54" fmla="*/ 7 w 126"/>
                <a:gd name="T55" fmla="*/ 41 h 51"/>
                <a:gd name="T56" fmla="*/ 5 w 126"/>
                <a:gd name="T57" fmla="*/ 34 h 51"/>
                <a:gd name="T58" fmla="*/ 4 w 126"/>
                <a:gd name="T59" fmla="*/ 28 h 51"/>
                <a:gd name="T60" fmla="*/ 4 w 126"/>
                <a:gd name="T61" fmla="*/ 21 h 51"/>
                <a:gd name="T62" fmla="*/ 5 w 126"/>
                <a:gd name="T63" fmla="*/ 14 h 51"/>
                <a:gd name="T64" fmla="*/ 7 w 126"/>
                <a:gd name="T65" fmla="*/ 8 h 51"/>
                <a:gd name="T66" fmla="*/ 9 w 126"/>
                <a:gd name="T67" fmla="*/ 1 h 51"/>
                <a:gd name="T68" fmla="*/ 7 w 12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51">
                  <a:moveTo>
                    <a:pt x="126" y="24"/>
                  </a:moveTo>
                  <a:lnTo>
                    <a:pt x="126" y="21"/>
                  </a:lnTo>
                  <a:lnTo>
                    <a:pt x="126" y="18"/>
                  </a:lnTo>
                  <a:lnTo>
                    <a:pt x="124" y="14"/>
                  </a:lnTo>
                  <a:lnTo>
                    <a:pt x="124" y="11"/>
                  </a:lnTo>
                  <a:lnTo>
                    <a:pt x="124" y="8"/>
                  </a:lnTo>
                  <a:lnTo>
                    <a:pt x="123" y="4"/>
                  </a:lnTo>
                  <a:lnTo>
                    <a:pt x="121" y="1"/>
                  </a:lnTo>
                  <a:lnTo>
                    <a:pt x="119" y="0"/>
                  </a:lnTo>
                  <a:lnTo>
                    <a:pt x="116" y="0"/>
                  </a:lnTo>
                  <a:lnTo>
                    <a:pt x="118" y="1"/>
                  </a:lnTo>
                  <a:lnTo>
                    <a:pt x="119" y="4"/>
                  </a:lnTo>
                  <a:lnTo>
                    <a:pt x="119" y="8"/>
                  </a:lnTo>
                  <a:lnTo>
                    <a:pt x="121" y="11"/>
                  </a:lnTo>
                  <a:lnTo>
                    <a:pt x="121" y="14"/>
                  </a:lnTo>
                  <a:lnTo>
                    <a:pt x="123" y="18"/>
                  </a:lnTo>
                  <a:lnTo>
                    <a:pt x="123" y="21"/>
                  </a:lnTo>
                  <a:lnTo>
                    <a:pt x="123" y="24"/>
                  </a:lnTo>
                  <a:lnTo>
                    <a:pt x="123" y="28"/>
                  </a:lnTo>
                  <a:lnTo>
                    <a:pt x="123" y="31"/>
                  </a:lnTo>
                  <a:lnTo>
                    <a:pt x="121" y="34"/>
                  </a:lnTo>
                  <a:lnTo>
                    <a:pt x="121" y="38"/>
                  </a:lnTo>
                  <a:lnTo>
                    <a:pt x="121" y="41"/>
                  </a:lnTo>
                  <a:lnTo>
                    <a:pt x="119" y="44"/>
                  </a:lnTo>
                  <a:lnTo>
                    <a:pt x="118" y="48"/>
                  </a:lnTo>
                  <a:lnTo>
                    <a:pt x="118" y="51"/>
                  </a:lnTo>
                  <a:lnTo>
                    <a:pt x="121" y="51"/>
                  </a:lnTo>
                  <a:lnTo>
                    <a:pt x="121" y="48"/>
                  </a:lnTo>
                  <a:lnTo>
                    <a:pt x="123" y="44"/>
                  </a:lnTo>
                  <a:lnTo>
                    <a:pt x="124" y="41"/>
                  </a:lnTo>
                  <a:lnTo>
                    <a:pt x="124" y="38"/>
                  </a:lnTo>
                  <a:lnTo>
                    <a:pt x="124" y="34"/>
                  </a:lnTo>
                  <a:lnTo>
                    <a:pt x="126" y="31"/>
                  </a:lnTo>
                  <a:lnTo>
                    <a:pt x="126" y="28"/>
                  </a:lnTo>
                  <a:lnTo>
                    <a:pt x="126" y="24"/>
                  </a:lnTo>
                  <a:close/>
                  <a:moveTo>
                    <a:pt x="7" y="0"/>
                  </a:moveTo>
                  <a:lnTo>
                    <a:pt x="5" y="1"/>
                  </a:lnTo>
                  <a:lnTo>
                    <a:pt x="4" y="4"/>
                  </a:lnTo>
                  <a:lnTo>
                    <a:pt x="4" y="8"/>
                  </a:lnTo>
                  <a:lnTo>
                    <a:pt x="2" y="11"/>
                  </a:lnTo>
                  <a:lnTo>
                    <a:pt x="2" y="14"/>
                  </a:lnTo>
                  <a:lnTo>
                    <a:pt x="0" y="18"/>
                  </a:lnTo>
                  <a:lnTo>
                    <a:pt x="0" y="21"/>
                  </a:lnTo>
                  <a:lnTo>
                    <a:pt x="0" y="24"/>
                  </a:lnTo>
                  <a:lnTo>
                    <a:pt x="0" y="28"/>
                  </a:lnTo>
                  <a:lnTo>
                    <a:pt x="0" y="31"/>
                  </a:lnTo>
                  <a:lnTo>
                    <a:pt x="2" y="34"/>
                  </a:lnTo>
                  <a:lnTo>
                    <a:pt x="2" y="38"/>
                  </a:lnTo>
                  <a:lnTo>
                    <a:pt x="4" y="41"/>
                  </a:lnTo>
                  <a:lnTo>
                    <a:pt x="4" y="44"/>
                  </a:lnTo>
                  <a:lnTo>
                    <a:pt x="5" y="48"/>
                  </a:lnTo>
                  <a:lnTo>
                    <a:pt x="5" y="51"/>
                  </a:lnTo>
                  <a:lnTo>
                    <a:pt x="10" y="51"/>
                  </a:lnTo>
                  <a:lnTo>
                    <a:pt x="9" y="48"/>
                  </a:lnTo>
                  <a:lnTo>
                    <a:pt x="7" y="44"/>
                  </a:lnTo>
                  <a:lnTo>
                    <a:pt x="7" y="41"/>
                  </a:lnTo>
                  <a:lnTo>
                    <a:pt x="5" y="38"/>
                  </a:lnTo>
                  <a:lnTo>
                    <a:pt x="5" y="34"/>
                  </a:lnTo>
                  <a:lnTo>
                    <a:pt x="4" y="31"/>
                  </a:lnTo>
                  <a:lnTo>
                    <a:pt x="4" y="28"/>
                  </a:lnTo>
                  <a:lnTo>
                    <a:pt x="4" y="24"/>
                  </a:lnTo>
                  <a:lnTo>
                    <a:pt x="4" y="21"/>
                  </a:lnTo>
                  <a:lnTo>
                    <a:pt x="4" y="18"/>
                  </a:lnTo>
                  <a:lnTo>
                    <a:pt x="5" y="14"/>
                  </a:lnTo>
                  <a:lnTo>
                    <a:pt x="5" y="11"/>
                  </a:lnTo>
                  <a:lnTo>
                    <a:pt x="7" y="8"/>
                  </a:lnTo>
                  <a:lnTo>
                    <a:pt x="7" y="4"/>
                  </a:lnTo>
                  <a:lnTo>
                    <a:pt x="9" y="1"/>
                  </a:lnTo>
                  <a:lnTo>
                    <a:pt x="10" y="0"/>
                  </a:lnTo>
                  <a:lnTo>
                    <a:pt x="7"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8" name="Freeform 480">
              <a:extLst>
                <a:ext uri="{FF2B5EF4-FFF2-40B4-BE49-F238E27FC236}">
                  <a16:creationId xmlns:a16="http://schemas.microsoft.com/office/drawing/2014/main" id="{171EB1D3-8530-7B2C-AEBE-9F2A66BD5FAA}"/>
                </a:ext>
              </a:extLst>
            </p:cNvPr>
            <p:cNvSpPr>
              <a:spLocks noEditPoints="1"/>
            </p:cNvSpPr>
            <p:nvPr/>
          </p:nvSpPr>
          <p:spPr bwMode="auto">
            <a:xfrm>
              <a:off x="1550" y="1713"/>
              <a:ext cx="122" cy="51"/>
            </a:xfrm>
            <a:custGeom>
              <a:avLst/>
              <a:gdLst>
                <a:gd name="T0" fmla="*/ 122 w 122"/>
                <a:gd name="T1" fmla="*/ 21 h 51"/>
                <a:gd name="T2" fmla="*/ 121 w 122"/>
                <a:gd name="T3" fmla="*/ 14 h 51"/>
                <a:gd name="T4" fmla="*/ 121 w 122"/>
                <a:gd name="T5" fmla="*/ 8 h 51"/>
                <a:gd name="T6" fmla="*/ 117 w 122"/>
                <a:gd name="T7" fmla="*/ 1 h 51"/>
                <a:gd name="T8" fmla="*/ 113 w 122"/>
                <a:gd name="T9" fmla="*/ 0 h 51"/>
                <a:gd name="T10" fmla="*/ 116 w 122"/>
                <a:gd name="T11" fmla="*/ 4 h 51"/>
                <a:gd name="T12" fmla="*/ 117 w 122"/>
                <a:gd name="T13" fmla="*/ 11 h 51"/>
                <a:gd name="T14" fmla="*/ 119 w 122"/>
                <a:gd name="T15" fmla="*/ 18 h 51"/>
                <a:gd name="T16" fmla="*/ 119 w 122"/>
                <a:gd name="T17" fmla="*/ 24 h 51"/>
                <a:gd name="T18" fmla="*/ 119 w 122"/>
                <a:gd name="T19" fmla="*/ 31 h 51"/>
                <a:gd name="T20" fmla="*/ 117 w 122"/>
                <a:gd name="T21" fmla="*/ 38 h 51"/>
                <a:gd name="T22" fmla="*/ 116 w 122"/>
                <a:gd name="T23" fmla="*/ 44 h 51"/>
                <a:gd name="T24" fmla="*/ 113 w 122"/>
                <a:gd name="T25" fmla="*/ 51 h 51"/>
                <a:gd name="T26" fmla="*/ 117 w 122"/>
                <a:gd name="T27" fmla="*/ 48 h 51"/>
                <a:gd name="T28" fmla="*/ 121 w 122"/>
                <a:gd name="T29" fmla="*/ 41 h 51"/>
                <a:gd name="T30" fmla="*/ 121 w 122"/>
                <a:gd name="T31" fmla="*/ 34 h 51"/>
                <a:gd name="T32" fmla="*/ 122 w 122"/>
                <a:gd name="T33" fmla="*/ 28 h 51"/>
                <a:gd name="T34" fmla="*/ 7 w 122"/>
                <a:gd name="T35" fmla="*/ 0 h 51"/>
                <a:gd name="T36" fmla="*/ 3 w 122"/>
                <a:gd name="T37" fmla="*/ 4 h 51"/>
                <a:gd name="T38" fmla="*/ 2 w 122"/>
                <a:gd name="T39" fmla="*/ 11 h 51"/>
                <a:gd name="T40" fmla="*/ 0 w 122"/>
                <a:gd name="T41" fmla="*/ 18 h 51"/>
                <a:gd name="T42" fmla="*/ 0 w 122"/>
                <a:gd name="T43" fmla="*/ 24 h 51"/>
                <a:gd name="T44" fmla="*/ 0 w 122"/>
                <a:gd name="T45" fmla="*/ 31 h 51"/>
                <a:gd name="T46" fmla="*/ 2 w 122"/>
                <a:gd name="T47" fmla="*/ 38 h 51"/>
                <a:gd name="T48" fmla="*/ 3 w 122"/>
                <a:gd name="T49" fmla="*/ 44 h 51"/>
                <a:gd name="T50" fmla="*/ 5 w 122"/>
                <a:gd name="T51" fmla="*/ 51 h 51"/>
                <a:gd name="T52" fmla="*/ 8 w 122"/>
                <a:gd name="T53" fmla="*/ 48 h 51"/>
                <a:gd name="T54" fmla="*/ 7 w 122"/>
                <a:gd name="T55" fmla="*/ 41 h 51"/>
                <a:gd name="T56" fmla="*/ 5 w 122"/>
                <a:gd name="T57" fmla="*/ 34 h 51"/>
                <a:gd name="T58" fmla="*/ 3 w 122"/>
                <a:gd name="T59" fmla="*/ 28 h 51"/>
                <a:gd name="T60" fmla="*/ 3 w 122"/>
                <a:gd name="T61" fmla="*/ 21 h 51"/>
                <a:gd name="T62" fmla="*/ 5 w 122"/>
                <a:gd name="T63" fmla="*/ 14 h 51"/>
                <a:gd name="T64" fmla="*/ 7 w 122"/>
                <a:gd name="T65" fmla="*/ 8 h 51"/>
                <a:gd name="T66" fmla="*/ 8 w 122"/>
                <a:gd name="T67" fmla="*/ 1 h 51"/>
                <a:gd name="T68" fmla="*/ 7 w 12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2" h="51">
                  <a:moveTo>
                    <a:pt x="122" y="24"/>
                  </a:moveTo>
                  <a:lnTo>
                    <a:pt x="122" y="21"/>
                  </a:lnTo>
                  <a:lnTo>
                    <a:pt x="122" y="18"/>
                  </a:lnTo>
                  <a:lnTo>
                    <a:pt x="121" y="14"/>
                  </a:lnTo>
                  <a:lnTo>
                    <a:pt x="121" y="11"/>
                  </a:lnTo>
                  <a:lnTo>
                    <a:pt x="121" y="8"/>
                  </a:lnTo>
                  <a:lnTo>
                    <a:pt x="119" y="4"/>
                  </a:lnTo>
                  <a:lnTo>
                    <a:pt x="117" y="1"/>
                  </a:lnTo>
                  <a:lnTo>
                    <a:pt x="116" y="0"/>
                  </a:lnTo>
                  <a:lnTo>
                    <a:pt x="113" y="0"/>
                  </a:lnTo>
                  <a:lnTo>
                    <a:pt x="114" y="1"/>
                  </a:lnTo>
                  <a:lnTo>
                    <a:pt x="116" y="4"/>
                  </a:lnTo>
                  <a:lnTo>
                    <a:pt x="116" y="8"/>
                  </a:lnTo>
                  <a:lnTo>
                    <a:pt x="117" y="11"/>
                  </a:lnTo>
                  <a:lnTo>
                    <a:pt x="117" y="14"/>
                  </a:lnTo>
                  <a:lnTo>
                    <a:pt x="119" y="18"/>
                  </a:lnTo>
                  <a:lnTo>
                    <a:pt x="119" y="21"/>
                  </a:lnTo>
                  <a:lnTo>
                    <a:pt x="119" y="24"/>
                  </a:lnTo>
                  <a:lnTo>
                    <a:pt x="119" y="28"/>
                  </a:lnTo>
                  <a:lnTo>
                    <a:pt x="119" y="31"/>
                  </a:lnTo>
                  <a:lnTo>
                    <a:pt x="117" y="34"/>
                  </a:lnTo>
                  <a:lnTo>
                    <a:pt x="117" y="38"/>
                  </a:lnTo>
                  <a:lnTo>
                    <a:pt x="117" y="41"/>
                  </a:lnTo>
                  <a:lnTo>
                    <a:pt x="116" y="44"/>
                  </a:lnTo>
                  <a:lnTo>
                    <a:pt x="114" y="48"/>
                  </a:lnTo>
                  <a:lnTo>
                    <a:pt x="113" y="51"/>
                  </a:lnTo>
                  <a:lnTo>
                    <a:pt x="117" y="51"/>
                  </a:lnTo>
                  <a:lnTo>
                    <a:pt x="117" y="48"/>
                  </a:lnTo>
                  <a:lnTo>
                    <a:pt x="119" y="44"/>
                  </a:lnTo>
                  <a:lnTo>
                    <a:pt x="121" y="41"/>
                  </a:lnTo>
                  <a:lnTo>
                    <a:pt x="121" y="38"/>
                  </a:lnTo>
                  <a:lnTo>
                    <a:pt x="121" y="34"/>
                  </a:lnTo>
                  <a:lnTo>
                    <a:pt x="122" y="31"/>
                  </a:lnTo>
                  <a:lnTo>
                    <a:pt x="122" y="28"/>
                  </a:lnTo>
                  <a:lnTo>
                    <a:pt x="122" y="24"/>
                  </a:lnTo>
                  <a:close/>
                  <a:moveTo>
                    <a:pt x="7" y="0"/>
                  </a:moveTo>
                  <a:lnTo>
                    <a:pt x="5" y="1"/>
                  </a:lnTo>
                  <a:lnTo>
                    <a:pt x="3" y="4"/>
                  </a:lnTo>
                  <a:lnTo>
                    <a:pt x="3" y="8"/>
                  </a:lnTo>
                  <a:lnTo>
                    <a:pt x="2" y="11"/>
                  </a:lnTo>
                  <a:lnTo>
                    <a:pt x="2" y="14"/>
                  </a:lnTo>
                  <a:lnTo>
                    <a:pt x="0" y="18"/>
                  </a:lnTo>
                  <a:lnTo>
                    <a:pt x="0" y="21"/>
                  </a:lnTo>
                  <a:lnTo>
                    <a:pt x="0" y="24"/>
                  </a:lnTo>
                  <a:lnTo>
                    <a:pt x="0" y="28"/>
                  </a:lnTo>
                  <a:lnTo>
                    <a:pt x="0" y="31"/>
                  </a:lnTo>
                  <a:lnTo>
                    <a:pt x="2" y="34"/>
                  </a:lnTo>
                  <a:lnTo>
                    <a:pt x="2" y="38"/>
                  </a:lnTo>
                  <a:lnTo>
                    <a:pt x="3" y="41"/>
                  </a:lnTo>
                  <a:lnTo>
                    <a:pt x="3" y="44"/>
                  </a:lnTo>
                  <a:lnTo>
                    <a:pt x="5" y="48"/>
                  </a:lnTo>
                  <a:lnTo>
                    <a:pt x="5" y="51"/>
                  </a:lnTo>
                  <a:lnTo>
                    <a:pt x="10" y="51"/>
                  </a:lnTo>
                  <a:lnTo>
                    <a:pt x="8" y="48"/>
                  </a:lnTo>
                  <a:lnTo>
                    <a:pt x="7" y="44"/>
                  </a:lnTo>
                  <a:lnTo>
                    <a:pt x="7" y="41"/>
                  </a:lnTo>
                  <a:lnTo>
                    <a:pt x="5" y="38"/>
                  </a:lnTo>
                  <a:lnTo>
                    <a:pt x="5" y="34"/>
                  </a:lnTo>
                  <a:lnTo>
                    <a:pt x="3" y="31"/>
                  </a:lnTo>
                  <a:lnTo>
                    <a:pt x="3" y="28"/>
                  </a:lnTo>
                  <a:lnTo>
                    <a:pt x="3" y="24"/>
                  </a:lnTo>
                  <a:lnTo>
                    <a:pt x="3" y="21"/>
                  </a:lnTo>
                  <a:lnTo>
                    <a:pt x="3" y="18"/>
                  </a:lnTo>
                  <a:lnTo>
                    <a:pt x="5" y="14"/>
                  </a:lnTo>
                  <a:lnTo>
                    <a:pt x="5" y="11"/>
                  </a:lnTo>
                  <a:lnTo>
                    <a:pt x="7" y="8"/>
                  </a:lnTo>
                  <a:lnTo>
                    <a:pt x="7" y="4"/>
                  </a:lnTo>
                  <a:lnTo>
                    <a:pt x="8" y="1"/>
                  </a:lnTo>
                  <a:lnTo>
                    <a:pt x="10" y="0"/>
                  </a:lnTo>
                  <a:lnTo>
                    <a:pt x="7"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9" name="Freeform 481">
              <a:extLst>
                <a:ext uri="{FF2B5EF4-FFF2-40B4-BE49-F238E27FC236}">
                  <a16:creationId xmlns:a16="http://schemas.microsoft.com/office/drawing/2014/main" id="{B9A4A57F-414F-9823-7C9A-44DC5CA33452}"/>
                </a:ext>
              </a:extLst>
            </p:cNvPr>
            <p:cNvSpPr>
              <a:spLocks noEditPoints="1"/>
            </p:cNvSpPr>
            <p:nvPr/>
          </p:nvSpPr>
          <p:spPr bwMode="auto">
            <a:xfrm>
              <a:off x="1552" y="1713"/>
              <a:ext cx="119" cy="51"/>
            </a:xfrm>
            <a:custGeom>
              <a:avLst/>
              <a:gdLst>
                <a:gd name="T0" fmla="*/ 119 w 119"/>
                <a:gd name="T1" fmla="*/ 21 h 51"/>
                <a:gd name="T2" fmla="*/ 117 w 119"/>
                <a:gd name="T3" fmla="*/ 14 h 51"/>
                <a:gd name="T4" fmla="*/ 115 w 119"/>
                <a:gd name="T5" fmla="*/ 8 h 51"/>
                <a:gd name="T6" fmla="*/ 114 w 119"/>
                <a:gd name="T7" fmla="*/ 1 h 51"/>
                <a:gd name="T8" fmla="*/ 109 w 119"/>
                <a:gd name="T9" fmla="*/ 0 h 51"/>
                <a:gd name="T10" fmla="*/ 112 w 119"/>
                <a:gd name="T11" fmla="*/ 4 h 51"/>
                <a:gd name="T12" fmla="*/ 114 w 119"/>
                <a:gd name="T13" fmla="*/ 11 h 51"/>
                <a:gd name="T14" fmla="*/ 115 w 119"/>
                <a:gd name="T15" fmla="*/ 18 h 51"/>
                <a:gd name="T16" fmla="*/ 115 w 119"/>
                <a:gd name="T17" fmla="*/ 24 h 51"/>
                <a:gd name="T18" fmla="*/ 115 w 119"/>
                <a:gd name="T19" fmla="*/ 31 h 51"/>
                <a:gd name="T20" fmla="*/ 114 w 119"/>
                <a:gd name="T21" fmla="*/ 38 h 51"/>
                <a:gd name="T22" fmla="*/ 112 w 119"/>
                <a:gd name="T23" fmla="*/ 44 h 51"/>
                <a:gd name="T24" fmla="*/ 109 w 119"/>
                <a:gd name="T25" fmla="*/ 51 h 51"/>
                <a:gd name="T26" fmla="*/ 114 w 119"/>
                <a:gd name="T27" fmla="*/ 48 h 51"/>
                <a:gd name="T28" fmla="*/ 117 w 119"/>
                <a:gd name="T29" fmla="*/ 41 h 51"/>
                <a:gd name="T30" fmla="*/ 117 w 119"/>
                <a:gd name="T31" fmla="*/ 34 h 51"/>
                <a:gd name="T32" fmla="*/ 119 w 119"/>
                <a:gd name="T33" fmla="*/ 28 h 51"/>
                <a:gd name="T34" fmla="*/ 6 w 119"/>
                <a:gd name="T35" fmla="*/ 0 h 51"/>
                <a:gd name="T36" fmla="*/ 3 w 119"/>
                <a:gd name="T37" fmla="*/ 4 h 51"/>
                <a:gd name="T38" fmla="*/ 1 w 119"/>
                <a:gd name="T39" fmla="*/ 11 h 51"/>
                <a:gd name="T40" fmla="*/ 0 w 119"/>
                <a:gd name="T41" fmla="*/ 18 h 51"/>
                <a:gd name="T42" fmla="*/ 0 w 119"/>
                <a:gd name="T43" fmla="*/ 24 h 51"/>
                <a:gd name="T44" fmla="*/ 0 w 119"/>
                <a:gd name="T45" fmla="*/ 31 h 51"/>
                <a:gd name="T46" fmla="*/ 1 w 119"/>
                <a:gd name="T47" fmla="*/ 38 h 51"/>
                <a:gd name="T48" fmla="*/ 3 w 119"/>
                <a:gd name="T49" fmla="*/ 44 h 51"/>
                <a:gd name="T50" fmla="*/ 6 w 119"/>
                <a:gd name="T51" fmla="*/ 51 h 51"/>
                <a:gd name="T52" fmla="*/ 8 w 119"/>
                <a:gd name="T53" fmla="*/ 48 h 51"/>
                <a:gd name="T54" fmla="*/ 6 w 119"/>
                <a:gd name="T55" fmla="*/ 41 h 51"/>
                <a:gd name="T56" fmla="*/ 5 w 119"/>
                <a:gd name="T57" fmla="*/ 34 h 51"/>
                <a:gd name="T58" fmla="*/ 3 w 119"/>
                <a:gd name="T59" fmla="*/ 28 h 51"/>
                <a:gd name="T60" fmla="*/ 3 w 119"/>
                <a:gd name="T61" fmla="*/ 21 h 51"/>
                <a:gd name="T62" fmla="*/ 5 w 119"/>
                <a:gd name="T63" fmla="*/ 14 h 51"/>
                <a:gd name="T64" fmla="*/ 6 w 119"/>
                <a:gd name="T65" fmla="*/ 8 h 51"/>
                <a:gd name="T66" fmla="*/ 8 w 119"/>
                <a:gd name="T67" fmla="*/ 1 h 51"/>
                <a:gd name="T68" fmla="*/ 6 w 11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19" h="51">
                  <a:moveTo>
                    <a:pt x="119" y="24"/>
                  </a:moveTo>
                  <a:lnTo>
                    <a:pt x="119" y="21"/>
                  </a:lnTo>
                  <a:lnTo>
                    <a:pt x="119" y="18"/>
                  </a:lnTo>
                  <a:lnTo>
                    <a:pt x="117" y="14"/>
                  </a:lnTo>
                  <a:lnTo>
                    <a:pt x="117" y="11"/>
                  </a:lnTo>
                  <a:lnTo>
                    <a:pt x="115" y="8"/>
                  </a:lnTo>
                  <a:lnTo>
                    <a:pt x="115" y="4"/>
                  </a:lnTo>
                  <a:lnTo>
                    <a:pt x="114" y="1"/>
                  </a:lnTo>
                  <a:lnTo>
                    <a:pt x="112" y="0"/>
                  </a:lnTo>
                  <a:lnTo>
                    <a:pt x="109" y="0"/>
                  </a:lnTo>
                  <a:lnTo>
                    <a:pt x="111" y="1"/>
                  </a:lnTo>
                  <a:lnTo>
                    <a:pt x="112" y="4"/>
                  </a:lnTo>
                  <a:lnTo>
                    <a:pt x="112" y="8"/>
                  </a:lnTo>
                  <a:lnTo>
                    <a:pt x="114" y="11"/>
                  </a:lnTo>
                  <a:lnTo>
                    <a:pt x="114" y="14"/>
                  </a:lnTo>
                  <a:lnTo>
                    <a:pt x="115" y="18"/>
                  </a:lnTo>
                  <a:lnTo>
                    <a:pt x="115" y="21"/>
                  </a:lnTo>
                  <a:lnTo>
                    <a:pt x="115" y="24"/>
                  </a:lnTo>
                  <a:lnTo>
                    <a:pt x="115" y="28"/>
                  </a:lnTo>
                  <a:lnTo>
                    <a:pt x="115" y="31"/>
                  </a:lnTo>
                  <a:lnTo>
                    <a:pt x="114" y="34"/>
                  </a:lnTo>
                  <a:lnTo>
                    <a:pt x="114" y="38"/>
                  </a:lnTo>
                  <a:lnTo>
                    <a:pt x="114" y="41"/>
                  </a:lnTo>
                  <a:lnTo>
                    <a:pt x="112" y="44"/>
                  </a:lnTo>
                  <a:lnTo>
                    <a:pt x="111" y="48"/>
                  </a:lnTo>
                  <a:lnTo>
                    <a:pt x="109" y="51"/>
                  </a:lnTo>
                  <a:lnTo>
                    <a:pt x="114" y="51"/>
                  </a:lnTo>
                  <a:lnTo>
                    <a:pt x="114" y="48"/>
                  </a:lnTo>
                  <a:lnTo>
                    <a:pt x="115" y="44"/>
                  </a:lnTo>
                  <a:lnTo>
                    <a:pt x="117" y="41"/>
                  </a:lnTo>
                  <a:lnTo>
                    <a:pt x="117" y="38"/>
                  </a:lnTo>
                  <a:lnTo>
                    <a:pt x="117" y="34"/>
                  </a:lnTo>
                  <a:lnTo>
                    <a:pt x="119" y="31"/>
                  </a:lnTo>
                  <a:lnTo>
                    <a:pt x="119" y="28"/>
                  </a:lnTo>
                  <a:lnTo>
                    <a:pt x="119" y="24"/>
                  </a:lnTo>
                  <a:close/>
                  <a:moveTo>
                    <a:pt x="6" y="0"/>
                  </a:moveTo>
                  <a:lnTo>
                    <a:pt x="5" y="1"/>
                  </a:lnTo>
                  <a:lnTo>
                    <a:pt x="3" y="4"/>
                  </a:lnTo>
                  <a:lnTo>
                    <a:pt x="3" y="8"/>
                  </a:lnTo>
                  <a:lnTo>
                    <a:pt x="1" y="11"/>
                  </a:lnTo>
                  <a:lnTo>
                    <a:pt x="1" y="14"/>
                  </a:lnTo>
                  <a:lnTo>
                    <a:pt x="0" y="18"/>
                  </a:lnTo>
                  <a:lnTo>
                    <a:pt x="0" y="21"/>
                  </a:lnTo>
                  <a:lnTo>
                    <a:pt x="0" y="24"/>
                  </a:lnTo>
                  <a:lnTo>
                    <a:pt x="0" y="28"/>
                  </a:lnTo>
                  <a:lnTo>
                    <a:pt x="0" y="31"/>
                  </a:lnTo>
                  <a:lnTo>
                    <a:pt x="1" y="34"/>
                  </a:lnTo>
                  <a:lnTo>
                    <a:pt x="1" y="38"/>
                  </a:lnTo>
                  <a:lnTo>
                    <a:pt x="3" y="41"/>
                  </a:lnTo>
                  <a:lnTo>
                    <a:pt x="3" y="44"/>
                  </a:lnTo>
                  <a:lnTo>
                    <a:pt x="5" y="48"/>
                  </a:lnTo>
                  <a:lnTo>
                    <a:pt x="6" y="51"/>
                  </a:lnTo>
                  <a:lnTo>
                    <a:pt x="10" y="51"/>
                  </a:lnTo>
                  <a:lnTo>
                    <a:pt x="8" y="48"/>
                  </a:lnTo>
                  <a:lnTo>
                    <a:pt x="6" y="44"/>
                  </a:lnTo>
                  <a:lnTo>
                    <a:pt x="6" y="41"/>
                  </a:lnTo>
                  <a:lnTo>
                    <a:pt x="5" y="38"/>
                  </a:lnTo>
                  <a:lnTo>
                    <a:pt x="5" y="34"/>
                  </a:lnTo>
                  <a:lnTo>
                    <a:pt x="3" y="31"/>
                  </a:lnTo>
                  <a:lnTo>
                    <a:pt x="3" y="28"/>
                  </a:lnTo>
                  <a:lnTo>
                    <a:pt x="3" y="24"/>
                  </a:lnTo>
                  <a:lnTo>
                    <a:pt x="3" y="21"/>
                  </a:lnTo>
                  <a:lnTo>
                    <a:pt x="3" y="18"/>
                  </a:lnTo>
                  <a:lnTo>
                    <a:pt x="5" y="14"/>
                  </a:lnTo>
                  <a:lnTo>
                    <a:pt x="5" y="11"/>
                  </a:lnTo>
                  <a:lnTo>
                    <a:pt x="6" y="8"/>
                  </a:lnTo>
                  <a:lnTo>
                    <a:pt x="6" y="4"/>
                  </a:lnTo>
                  <a:lnTo>
                    <a:pt x="8" y="1"/>
                  </a:lnTo>
                  <a:lnTo>
                    <a:pt x="10" y="0"/>
                  </a:lnTo>
                  <a:lnTo>
                    <a:pt x="6"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0" name="Freeform 482">
              <a:extLst>
                <a:ext uri="{FF2B5EF4-FFF2-40B4-BE49-F238E27FC236}">
                  <a16:creationId xmlns:a16="http://schemas.microsoft.com/office/drawing/2014/main" id="{064C7F56-4997-842D-7B91-031520A2C302}"/>
                </a:ext>
              </a:extLst>
            </p:cNvPr>
            <p:cNvSpPr>
              <a:spLocks noEditPoints="1"/>
            </p:cNvSpPr>
            <p:nvPr/>
          </p:nvSpPr>
          <p:spPr bwMode="auto">
            <a:xfrm>
              <a:off x="1553" y="1713"/>
              <a:ext cx="116" cy="51"/>
            </a:xfrm>
            <a:custGeom>
              <a:avLst/>
              <a:gdLst>
                <a:gd name="T0" fmla="*/ 116 w 116"/>
                <a:gd name="T1" fmla="*/ 21 h 51"/>
                <a:gd name="T2" fmla="*/ 114 w 116"/>
                <a:gd name="T3" fmla="*/ 14 h 51"/>
                <a:gd name="T4" fmla="*/ 113 w 116"/>
                <a:gd name="T5" fmla="*/ 8 h 51"/>
                <a:gd name="T6" fmla="*/ 111 w 116"/>
                <a:gd name="T7" fmla="*/ 1 h 51"/>
                <a:gd name="T8" fmla="*/ 106 w 116"/>
                <a:gd name="T9" fmla="*/ 0 h 51"/>
                <a:gd name="T10" fmla="*/ 110 w 116"/>
                <a:gd name="T11" fmla="*/ 4 h 51"/>
                <a:gd name="T12" fmla="*/ 111 w 116"/>
                <a:gd name="T13" fmla="*/ 11 h 51"/>
                <a:gd name="T14" fmla="*/ 113 w 116"/>
                <a:gd name="T15" fmla="*/ 18 h 51"/>
                <a:gd name="T16" fmla="*/ 113 w 116"/>
                <a:gd name="T17" fmla="*/ 24 h 51"/>
                <a:gd name="T18" fmla="*/ 113 w 116"/>
                <a:gd name="T19" fmla="*/ 31 h 51"/>
                <a:gd name="T20" fmla="*/ 111 w 116"/>
                <a:gd name="T21" fmla="*/ 38 h 51"/>
                <a:gd name="T22" fmla="*/ 110 w 116"/>
                <a:gd name="T23" fmla="*/ 44 h 51"/>
                <a:gd name="T24" fmla="*/ 106 w 116"/>
                <a:gd name="T25" fmla="*/ 51 h 51"/>
                <a:gd name="T26" fmla="*/ 111 w 116"/>
                <a:gd name="T27" fmla="*/ 48 h 51"/>
                <a:gd name="T28" fmla="*/ 114 w 116"/>
                <a:gd name="T29" fmla="*/ 41 h 51"/>
                <a:gd name="T30" fmla="*/ 114 w 116"/>
                <a:gd name="T31" fmla="*/ 34 h 51"/>
                <a:gd name="T32" fmla="*/ 116 w 116"/>
                <a:gd name="T33" fmla="*/ 28 h 51"/>
                <a:gd name="T34" fmla="*/ 7 w 116"/>
                <a:gd name="T35" fmla="*/ 0 h 51"/>
                <a:gd name="T36" fmla="*/ 4 w 116"/>
                <a:gd name="T37" fmla="*/ 4 h 51"/>
                <a:gd name="T38" fmla="*/ 2 w 116"/>
                <a:gd name="T39" fmla="*/ 11 h 51"/>
                <a:gd name="T40" fmla="*/ 0 w 116"/>
                <a:gd name="T41" fmla="*/ 18 h 51"/>
                <a:gd name="T42" fmla="*/ 0 w 116"/>
                <a:gd name="T43" fmla="*/ 24 h 51"/>
                <a:gd name="T44" fmla="*/ 0 w 116"/>
                <a:gd name="T45" fmla="*/ 31 h 51"/>
                <a:gd name="T46" fmla="*/ 2 w 116"/>
                <a:gd name="T47" fmla="*/ 38 h 51"/>
                <a:gd name="T48" fmla="*/ 4 w 116"/>
                <a:gd name="T49" fmla="*/ 44 h 51"/>
                <a:gd name="T50" fmla="*/ 7 w 116"/>
                <a:gd name="T51" fmla="*/ 51 h 51"/>
                <a:gd name="T52" fmla="*/ 9 w 116"/>
                <a:gd name="T53" fmla="*/ 48 h 51"/>
                <a:gd name="T54" fmla="*/ 7 w 116"/>
                <a:gd name="T55" fmla="*/ 41 h 51"/>
                <a:gd name="T56" fmla="*/ 5 w 116"/>
                <a:gd name="T57" fmla="*/ 34 h 51"/>
                <a:gd name="T58" fmla="*/ 4 w 116"/>
                <a:gd name="T59" fmla="*/ 28 h 51"/>
                <a:gd name="T60" fmla="*/ 4 w 116"/>
                <a:gd name="T61" fmla="*/ 21 h 51"/>
                <a:gd name="T62" fmla="*/ 5 w 116"/>
                <a:gd name="T63" fmla="*/ 14 h 51"/>
                <a:gd name="T64" fmla="*/ 7 w 116"/>
                <a:gd name="T65" fmla="*/ 8 h 51"/>
                <a:gd name="T66" fmla="*/ 9 w 116"/>
                <a:gd name="T67" fmla="*/ 1 h 51"/>
                <a:gd name="T68" fmla="*/ 7 w 11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16" h="51">
                  <a:moveTo>
                    <a:pt x="116" y="24"/>
                  </a:moveTo>
                  <a:lnTo>
                    <a:pt x="116" y="21"/>
                  </a:lnTo>
                  <a:lnTo>
                    <a:pt x="116" y="18"/>
                  </a:lnTo>
                  <a:lnTo>
                    <a:pt x="114" y="14"/>
                  </a:lnTo>
                  <a:lnTo>
                    <a:pt x="114" y="11"/>
                  </a:lnTo>
                  <a:lnTo>
                    <a:pt x="113" y="8"/>
                  </a:lnTo>
                  <a:lnTo>
                    <a:pt x="113" y="4"/>
                  </a:lnTo>
                  <a:lnTo>
                    <a:pt x="111" y="1"/>
                  </a:lnTo>
                  <a:lnTo>
                    <a:pt x="110" y="0"/>
                  </a:lnTo>
                  <a:lnTo>
                    <a:pt x="106" y="0"/>
                  </a:lnTo>
                  <a:lnTo>
                    <a:pt x="108" y="1"/>
                  </a:lnTo>
                  <a:lnTo>
                    <a:pt x="110" y="4"/>
                  </a:lnTo>
                  <a:lnTo>
                    <a:pt x="110" y="8"/>
                  </a:lnTo>
                  <a:lnTo>
                    <a:pt x="111" y="11"/>
                  </a:lnTo>
                  <a:lnTo>
                    <a:pt x="111" y="14"/>
                  </a:lnTo>
                  <a:lnTo>
                    <a:pt x="113" y="18"/>
                  </a:lnTo>
                  <a:lnTo>
                    <a:pt x="113" y="21"/>
                  </a:lnTo>
                  <a:lnTo>
                    <a:pt x="113" y="24"/>
                  </a:lnTo>
                  <a:lnTo>
                    <a:pt x="113" y="28"/>
                  </a:lnTo>
                  <a:lnTo>
                    <a:pt x="113" y="31"/>
                  </a:lnTo>
                  <a:lnTo>
                    <a:pt x="111" y="34"/>
                  </a:lnTo>
                  <a:lnTo>
                    <a:pt x="111" y="38"/>
                  </a:lnTo>
                  <a:lnTo>
                    <a:pt x="110" y="41"/>
                  </a:lnTo>
                  <a:lnTo>
                    <a:pt x="110" y="44"/>
                  </a:lnTo>
                  <a:lnTo>
                    <a:pt x="108" y="48"/>
                  </a:lnTo>
                  <a:lnTo>
                    <a:pt x="106" y="51"/>
                  </a:lnTo>
                  <a:lnTo>
                    <a:pt x="110" y="51"/>
                  </a:lnTo>
                  <a:lnTo>
                    <a:pt x="111" y="48"/>
                  </a:lnTo>
                  <a:lnTo>
                    <a:pt x="113" y="44"/>
                  </a:lnTo>
                  <a:lnTo>
                    <a:pt x="114" y="41"/>
                  </a:lnTo>
                  <a:lnTo>
                    <a:pt x="114" y="38"/>
                  </a:lnTo>
                  <a:lnTo>
                    <a:pt x="114" y="34"/>
                  </a:lnTo>
                  <a:lnTo>
                    <a:pt x="116" y="31"/>
                  </a:lnTo>
                  <a:lnTo>
                    <a:pt x="116" y="28"/>
                  </a:lnTo>
                  <a:lnTo>
                    <a:pt x="116" y="24"/>
                  </a:lnTo>
                  <a:close/>
                  <a:moveTo>
                    <a:pt x="7" y="0"/>
                  </a:moveTo>
                  <a:lnTo>
                    <a:pt x="5" y="1"/>
                  </a:lnTo>
                  <a:lnTo>
                    <a:pt x="4" y="4"/>
                  </a:lnTo>
                  <a:lnTo>
                    <a:pt x="4" y="8"/>
                  </a:lnTo>
                  <a:lnTo>
                    <a:pt x="2" y="11"/>
                  </a:lnTo>
                  <a:lnTo>
                    <a:pt x="2" y="14"/>
                  </a:lnTo>
                  <a:lnTo>
                    <a:pt x="0" y="18"/>
                  </a:lnTo>
                  <a:lnTo>
                    <a:pt x="0" y="21"/>
                  </a:lnTo>
                  <a:lnTo>
                    <a:pt x="0" y="24"/>
                  </a:lnTo>
                  <a:lnTo>
                    <a:pt x="0" y="28"/>
                  </a:lnTo>
                  <a:lnTo>
                    <a:pt x="0" y="31"/>
                  </a:lnTo>
                  <a:lnTo>
                    <a:pt x="2" y="34"/>
                  </a:lnTo>
                  <a:lnTo>
                    <a:pt x="2" y="38"/>
                  </a:lnTo>
                  <a:lnTo>
                    <a:pt x="4" y="41"/>
                  </a:lnTo>
                  <a:lnTo>
                    <a:pt x="4" y="44"/>
                  </a:lnTo>
                  <a:lnTo>
                    <a:pt x="5" y="48"/>
                  </a:lnTo>
                  <a:lnTo>
                    <a:pt x="7" y="51"/>
                  </a:lnTo>
                  <a:lnTo>
                    <a:pt x="10" y="51"/>
                  </a:lnTo>
                  <a:lnTo>
                    <a:pt x="9" y="48"/>
                  </a:lnTo>
                  <a:lnTo>
                    <a:pt x="7" y="44"/>
                  </a:lnTo>
                  <a:lnTo>
                    <a:pt x="7" y="41"/>
                  </a:lnTo>
                  <a:lnTo>
                    <a:pt x="5" y="38"/>
                  </a:lnTo>
                  <a:lnTo>
                    <a:pt x="5" y="34"/>
                  </a:lnTo>
                  <a:lnTo>
                    <a:pt x="4" y="31"/>
                  </a:lnTo>
                  <a:lnTo>
                    <a:pt x="4" y="28"/>
                  </a:lnTo>
                  <a:lnTo>
                    <a:pt x="4" y="24"/>
                  </a:lnTo>
                  <a:lnTo>
                    <a:pt x="4" y="21"/>
                  </a:lnTo>
                  <a:lnTo>
                    <a:pt x="4" y="18"/>
                  </a:lnTo>
                  <a:lnTo>
                    <a:pt x="5" y="14"/>
                  </a:lnTo>
                  <a:lnTo>
                    <a:pt x="5" y="11"/>
                  </a:lnTo>
                  <a:lnTo>
                    <a:pt x="7" y="8"/>
                  </a:lnTo>
                  <a:lnTo>
                    <a:pt x="9" y="4"/>
                  </a:lnTo>
                  <a:lnTo>
                    <a:pt x="9" y="1"/>
                  </a:lnTo>
                  <a:lnTo>
                    <a:pt x="10" y="0"/>
                  </a:lnTo>
                  <a:lnTo>
                    <a:pt x="7"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1" name="Freeform 483">
              <a:extLst>
                <a:ext uri="{FF2B5EF4-FFF2-40B4-BE49-F238E27FC236}">
                  <a16:creationId xmlns:a16="http://schemas.microsoft.com/office/drawing/2014/main" id="{D39C9728-2BE5-6137-9088-8991831F352F}"/>
                </a:ext>
              </a:extLst>
            </p:cNvPr>
            <p:cNvSpPr>
              <a:spLocks noEditPoints="1"/>
            </p:cNvSpPr>
            <p:nvPr/>
          </p:nvSpPr>
          <p:spPr bwMode="auto">
            <a:xfrm>
              <a:off x="1555" y="1713"/>
              <a:ext cx="112" cy="51"/>
            </a:xfrm>
            <a:custGeom>
              <a:avLst/>
              <a:gdLst>
                <a:gd name="T0" fmla="*/ 112 w 112"/>
                <a:gd name="T1" fmla="*/ 21 h 51"/>
                <a:gd name="T2" fmla="*/ 111 w 112"/>
                <a:gd name="T3" fmla="*/ 14 h 51"/>
                <a:gd name="T4" fmla="*/ 109 w 112"/>
                <a:gd name="T5" fmla="*/ 8 h 51"/>
                <a:gd name="T6" fmla="*/ 108 w 112"/>
                <a:gd name="T7" fmla="*/ 1 h 51"/>
                <a:gd name="T8" fmla="*/ 103 w 112"/>
                <a:gd name="T9" fmla="*/ 0 h 51"/>
                <a:gd name="T10" fmla="*/ 106 w 112"/>
                <a:gd name="T11" fmla="*/ 4 h 51"/>
                <a:gd name="T12" fmla="*/ 108 w 112"/>
                <a:gd name="T13" fmla="*/ 11 h 51"/>
                <a:gd name="T14" fmla="*/ 109 w 112"/>
                <a:gd name="T15" fmla="*/ 18 h 51"/>
                <a:gd name="T16" fmla="*/ 109 w 112"/>
                <a:gd name="T17" fmla="*/ 24 h 51"/>
                <a:gd name="T18" fmla="*/ 109 w 112"/>
                <a:gd name="T19" fmla="*/ 31 h 51"/>
                <a:gd name="T20" fmla="*/ 108 w 112"/>
                <a:gd name="T21" fmla="*/ 38 h 51"/>
                <a:gd name="T22" fmla="*/ 106 w 112"/>
                <a:gd name="T23" fmla="*/ 44 h 51"/>
                <a:gd name="T24" fmla="*/ 103 w 112"/>
                <a:gd name="T25" fmla="*/ 51 h 51"/>
                <a:gd name="T26" fmla="*/ 108 w 112"/>
                <a:gd name="T27" fmla="*/ 48 h 51"/>
                <a:gd name="T28" fmla="*/ 111 w 112"/>
                <a:gd name="T29" fmla="*/ 41 h 51"/>
                <a:gd name="T30" fmla="*/ 111 w 112"/>
                <a:gd name="T31" fmla="*/ 34 h 51"/>
                <a:gd name="T32" fmla="*/ 112 w 112"/>
                <a:gd name="T33" fmla="*/ 28 h 51"/>
                <a:gd name="T34" fmla="*/ 7 w 112"/>
                <a:gd name="T35" fmla="*/ 0 h 51"/>
                <a:gd name="T36" fmla="*/ 3 w 112"/>
                <a:gd name="T37" fmla="*/ 4 h 51"/>
                <a:gd name="T38" fmla="*/ 2 w 112"/>
                <a:gd name="T39" fmla="*/ 11 h 51"/>
                <a:gd name="T40" fmla="*/ 0 w 112"/>
                <a:gd name="T41" fmla="*/ 18 h 51"/>
                <a:gd name="T42" fmla="*/ 0 w 112"/>
                <a:gd name="T43" fmla="*/ 24 h 51"/>
                <a:gd name="T44" fmla="*/ 0 w 112"/>
                <a:gd name="T45" fmla="*/ 31 h 51"/>
                <a:gd name="T46" fmla="*/ 2 w 112"/>
                <a:gd name="T47" fmla="*/ 38 h 51"/>
                <a:gd name="T48" fmla="*/ 3 w 112"/>
                <a:gd name="T49" fmla="*/ 44 h 51"/>
                <a:gd name="T50" fmla="*/ 7 w 112"/>
                <a:gd name="T51" fmla="*/ 51 h 51"/>
                <a:gd name="T52" fmla="*/ 8 w 112"/>
                <a:gd name="T53" fmla="*/ 48 h 51"/>
                <a:gd name="T54" fmla="*/ 7 w 112"/>
                <a:gd name="T55" fmla="*/ 41 h 51"/>
                <a:gd name="T56" fmla="*/ 5 w 112"/>
                <a:gd name="T57" fmla="*/ 34 h 51"/>
                <a:gd name="T58" fmla="*/ 3 w 112"/>
                <a:gd name="T59" fmla="*/ 28 h 51"/>
                <a:gd name="T60" fmla="*/ 3 w 112"/>
                <a:gd name="T61" fmla="*/ 21 h 51"/>
                <a:gd name="T62" fmla="*/ 5 w 112"/>
                <a:gd name="T63" fmla="*/ 14 h 51"/>
                <a:gd name="T64" fmla="*/ 7 w 112"/>
                <a:gd name="T65" fmla="*/ 8 h 51"/>
                <a:gd name="T66" fmla="*/ 8 w 112"/>
                <a:gd name="T67" fmla="*/ 1 h 51"/>
                <a:gd name="T68" fmla="*/ 7 w 11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12" h="51">
                  <a:moveTo>
                    <a:pt x="112" y="24"/>
                  </a:moveTo>
                  <a:lnTo>
                    <a:pt x="112" y="21"/>
                  </a:lnTo>
                  <a:lnTo>
                    <a:pt x="112" y="18"/>
                  </a:lnTo>
                  <a:lnTo>
                    <a:pt x="111" y="14"/>
                  </a:lnTo>
                  <a:lnTo>
                    <a:pt x="111" y="11"/>
                  </a:lnTo>
                  <a:lnTo>
                    <a:pt x="109" y="8"/>
                  </a:lnTo>
                  <a:lnTo>
                    <a:pt x="109" y="4"/>
                  </a:lnTo>
                  <a:lnTo>
                    <a:pt x="108" y="1"/>
                  </a:lnTo>
                  <a:lnTo>
                    <a:pt x="106" y="0"/>
                  </a:lnTo>
                  <a:lnTo>
                    <a:pt x="103" y="0"/>
                  </a:lnTo>
                  <a:lnTo>
                    <a:pt x="104" y="1"/>
                  </a:lnTo>
                  <a:lnTo>
                    <a:pt x="106" y="4"/>
                  </a:lnTo>
                  <a:lnTo>
                    <a:pt x="106" y="8"/>
                  </a:lnTo>
                  <a:lnTo>
                    <a:pt x="108" y="11"/>
                  </a:lnTo>
                  <a:lnTo>
                    <a:pt x="108" y="14"/>
                  </a:lnTo>
                  <a:lnTo>
                    <a:pt x="109" y="18"/>
                  </a:lnTo>
                  <a:lnTo>
                    <a:pt x="109" y="21"/>
                  </a:lnTo>
                  <a:lnTo>
                    <a:pt x="109" y="24"/>
                  </a:lnTo>
                  <a:lnTo>
                    <a:pt x="109" y="28"/>
                  </a:lnTo>
                  <a:lnTo>
                    <a:pt x="109" y="31"/>
                  </a:lnTo>
                  <a:lnTo>
                    <a:pt x="108" y="34"/>
                  </a:lnTo>
                  <a:lnTo>
                    <a:pt x="108" y="38"/>
                  </a:lnTo>
                  <a:lnTo>
                    <a:pt x="106" y="41"/>
                  </a:lnTo>
                  <a:lnTo>
                    <a:pt x="106" y="44"/>
                  </a:lnTo>
                  <a:lnTo>
                    <a:pt x="104" y="48"/>
                  </a:lnTo>
                  <a:lnTo>
                    <a:pt x="103" y="51"/>
                  </a:lnTo>
                  <a:lnTo>
                    <a:pt x="106" y="51"/>
                  </a:lnTo>
                  <a:lnTo>
                    <a:pt x="108" y="48"/>
                  </a:lnTo>
                  <a:lnTo>
                    <a:pt x="109" y="44"/>
                  </a:lnTo>
                  <a:lnTo>
                    <a:pt x="111" y="41"/>
                  </a:lnTo>
                  <a:lnTo>
                    <a:pt x="111" y="38"/>
                  </a:lnTo>
                  <a:lnTo>
                    <a:pt x="111" y="34"/>
                  </a:lnTo>
                  <a:lnTo>
                    <a:pt x="112" y="31"/>
                  </a:lnTo>
                  <a:lnTo>
                    <a:pt x="112" y="28"/>
                  </a:lnTo>
                  <a:lnTo>
                    <a:pt x="112" y="24"/>
                  </a:lnTo>
                  <a:close/>
                  <a:moveTo>
                    <a:pt x="7" y="0"/>
                  </a:moveTo>
                  <a:lnTo>
                    <a:pt x="5" y="1"/>
                  </a:lnTo>
                  <a:lnTo>
                    <a:pt x="3" y="4"/>
                  </a:lnTo>
                  <a:lnTo>
                    <a:pt x="3" y="8"/>
                  </a:lnTo>
                  <a:lnTo>
                    <a:pt x="2" y="11"/>
                  </a:lnTo>
                  <a:lnTo>
                    <a:pt x="2" y="14"/>
                  </a:lnTo>
                  <a:lnTo>
                    <a:pt x="0" y="18"/>
                  </a:lnTo>
                  <a:lnTo>
                    <a:pt x="0" y="21"/>
                  </a:lnTo>
                  <a:lnTo>
                    <a:pt x="0" y="24"/>
                  </a:lnTo>
                  <a:lnTo>
                    <a:pt x="0" y="28"/>
                  </a:lnTo>
                  <a:lnTo>
                    <a:pt x="0" y="31"/>
                  </a:lnTo>
                  <a:lnTo>
                    <a:pt x="2" y="34"/>
                  </a:lnTo>
                  <a:lnTo>
                    <a:pt x="2" y="38"/>
                  </a:lnTo>
                  <a:lnTo>
                    <a:pt x="3" y="41"/>
                  </a:lnTo>
                  <a:lnTo>
                    <a:pt x="3" y="44"/>
                  </a:lnTo>
                  <a:lnTo>
                    <a:pt x="5" y="48"/>
                  </a:lnTo>
                  <a:lnTo>
                    <a:pt x="7" y="51"/>
                  </a:lnTo>
                  <a:lnTo>
                    <a:pt x="10" y="51"/>
                  </a:lnTo>
                  <a:lnTo>
                    <a:pt x="8" y="48"/>
                  </a:lnTo>
                  <a:lnTo>
                    <a:pt x="7" y="44"/>
                  </a:lnTo>
                  <a:lnTo>
                    <a:pt x="7" y="41"/>
                  </a:lnTo>
                  <a:lnTo>
                    <a:pt x="5" y="38"/>
                  </a:lnTo>
                  <a:lnTo>
                    <a:pt x="5" y="34"/>
                  </a:lnTo>
                  <a:lnTo>
                    <a:pt x="3" y="31"/>
                  </a:lnTo>
                  <a:lnTo>
                    <a:pt x="3" y="28"/>
                  </a:lnTo>
                  <a:lnTo>
                    <a:pt x="3" y="24"/>
                  </a:lnTo>
                  <a:lnTo>
                    <a:pt x="3" y="21"/>
                  </a:lnTo>
                  <a:lnTo>
                    <a:pt x="3" y="18"/>
                  </a:lnTo>
                  <a:lnTo>
                    <a:pt x="5" y="14"/>
                  </a:lnTo>
                  <a:lnTo>
                    <a:pt x="5" y="11"/>
                  </a:lnTo>
                  <a:lnTo>
                    <a:pt x="7" y="8"/>
                  </a:lnTo>
                  <a:lnTo>
                    <a:pt x="8" y="4"/>
                  </a:lnTo>
                  <a:lnTo>
                    <a:pt x="8" y="1"/>
                  </a:lnTo>
                  <a:lnTo>
                    <a:pt x="10" y="0"/>
                  </a:lnTo>
                  <a:lnTo>
                    <a:pt x="7"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2" name="Freeform 484">
              <a:extLst>
                <a:ext uri="{FF2B5EF4-FFF2-40B4-BE49-F238E27FC236}">
                  <a16:creationId xmlns:a16="http://schemas.microsoft.com/office/drawing/2014/main" id="{EAEA5B91-206F-D012-4D8D-732C810D0BD0}"/>
                </a:ext>
              </a:extLst>
            </p:cNvPr>
            <p:cNvSpPr>
              <a:spLocks noEditPoints="1"/>
            </p:cNvSpPr>
            <p:nvPr/>
          </p:nvSpPr>
          <p:spPr bwMode="auto">
            <a:xfrm>
              <a:off x="1557" y="1713"/>
              <a:ext cx="109" cy="51"/>
            </a:xfrm>
            <a:custGeom>
              <a:avLst/>
              <a:gdLst>
                <a:gd name="T0" fmla="*/ 109 w 109"/>
                <a:gd name="T1" fmla="*/ 21 h 51"/>
                <a:gd name="T2" fmla="*/ 107 w 109"/>
                <a:gd name="T3" fmla="*/ 14 h 51"/>
                <a:gd name="T4" fmla="*/ 106 w 109"/>
                <a:gd name="T5" fmla="*/ 8 h 51"/>
                <a:gd name="T6" fmla="*/ 104 w 109"/>
                <a:gd name="T7" fmla="*/ 1 h 51"/>
                <a:gd name="T8" fmla="*/ 99 w 109"/>
                <a:gd name="T9" fmla="*/ 0 h 51"/>
                <a:gd name="T10" fmla="*/ 101 w 109"/>
                <a:gd name="T11" fmla="*/ 4 h 51"/>
                <a:gd name="T12" fmla="*/ 104 w 109"/>
                <a:gd name="T13" fmla="*/ 11 h 51"/>
                <a:gd name="T14" fmla="*/ 106 w 109"/>
                <a:gd name="T15" fmla="*/ 18 h 51"/>
                <a:gd name="T16" fmla="*/ 106 w 109"/>
                <a:gd name="T17" fmla="*/ 24 h 51"/>
                <a:gd name="T18" fmla="*/ 106 w 109"/>
                <a:gd name="T19" fmla="*/ 31 h 51"/>
                <a:gd name="T20" fmla="*/ 104 w 109"/>
                <a:gd name="T21" fmla="*/ 38 h 51"/>
                <a:gd name="T22" fmla="*/ 102 w 109"/>
                <a:gd name="T23" fmla="*/ 44 h 51"/>
                <a:gd name="T24" fmla="*/ 99 w 109"/>
                <a:gd name="T25" fmla="*/ 51 h 51"/>
                <a:gd name="T26" fmla="*/ 104 w 109"/>
                <a:gd name="T27" fmla="*/ 48 h 51"/>
                <a:gd name="T28" fmla="*/ 106 w 109"/>
                <a:gd name="T29" fmla="*/ 41 h 51"/>
                <a:gd name="T30" fmla="*/ 107 w 109"/>
                <a:gd name="T31" fmla="*/ 34 h 51"/>
                <a:gd name="T32" fmla="*/ 109 w 109"/>
                <a:gd name="T33" fmla="*/ 28 h 51"/>
                <a:gd name="T34" fmla="*/ 6 w 109"/>
                <a:gd name="T35" fmla="*/ 0 h 51"/>
                <a:gd name="T36" fmla="*/ 5 w 109"/>
                <a:gd name="T37" fmla="*/ 4 h 51"/>
                <a:gd name="T38" fmla="*/ 1 w 109"/>
                <a:gd name="T39" fmla="*/ 11 h 51"/>
                <a:gd name="T40" fmla="*/ 0 w 109"/>
                <a:gd name="T41" fmla="*/ 18 h 51"/>
                <a:gd name="T42" fmla="*/ 0 w 109"/>
                <a:gd name="T43" fmla="*/ 24 h 51"/>
                <a:gd name="T44" fmla="*/ 0 w 109"/>
                <a:gd name="T45" fmla="*/ 31 h 51"/>
                <a:gd name="T46" fmla="*/ 1 w 109"/>
                <a:gd name="T47" fmla="*/ 38 h 51"/>
                <a:gd name="T48" fmla="*/ 3 w 109"/>
                <a:gd name="T49" fmla="*/ 44 h 51"/>
                <a:gd name="T50" fmla="*/ 6 w 109"/>
                <a:gd name="T51" fmla="*/ 51 h 51"/>
                <a:gd name="T52" fmla="*/ 8 w 109"/>
                <a:gd name="T53" fmla="*/ 48 h 51"/>
                <a:gd name="T54" fmla="*/ 6 w 109"/>
                <a:gd name="T55" fmla="*/ 41 h 51"/>
                <a:gd name="T56" fmla="*/ 5 w 109"/>
                <a:gd name="T57" fmla="*/ 34 h 51"/>
                <a:gd name="T58" fmla="*/ 3 w 109"/>
                <a:gd name="T59" fmla="*/ 28 h 51"/>
                <a:gd name="T60" fmla="*/ 3 w 109"/>
                <a:gd name="T61" fmla="*/ 21 h 51"/>
                <a:gd name="T62" fmla="*/ 5 w 109"/>
                <a:gd name="T63" fmla="*/ 14 h 51"/>
                <a:gd name="T64" fmla="*/ 6 w 109"/>
                <a:gd name="T65" fmla="*/ 8 h 51"/>
                <a:gd name="T66" fmla="*/ 9 w 109"/>
                <a:gd name="T67" fmla="*/ 1 h 51"/>
                <a:gd name="T68" fmla="*/ 6 w 10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9" h="51">
                  <a:moveTo>
                    <a:pt x="109" y="24"/>
                  </a:moveTo>
                  <a:lnTo>
                    <a:pt x="109" y="21"/>
                  </a:lnTo>
                  <a:lnTo>
                    <a:pt x="109" y="18"/>
                  </a:lnTo>
                  <a:lnTo>
                    <a:pt x="107" y="14"/>
                  </a:lnTo>
                  <a:lnTo>
                    <a:pt x="107" y="11"/>
                  </a:lnTo>
                  <a:lnTo>
                    <a:pt x="106" y="8"/>
                  </a:lnTo>
                  <a:lnTo>
                    <a:pt x="106" y="4"/>
                  </a:lnTo>
                  <a:lnTo>
                    <a:pt x="104" y="1"/>
                  </a:lnTo>
                  <a:lnTo>
                    <a:pt x="102" y="0"/>
                  </a:lnTo>
                  <a:lnTo>
                    <a:pt x="99" y="0"/>
                  </a:lnTo>
                  <a:lnTo>
                    <a:pt x="101" y="1"/>
                  </a:lnTo>
                  <a:lnTo>
                    <a:pt x="101" y="4"/>
                  </a:lnTo>
                  <a:lnTo>
                    <a:pt x="102" y="8"/>
                  </a:lnTo>
                  <a:lnTo>
                    <a:pt x="104" y="11"/>
                  </a:lnTo>
                  <a:lnTo>
                    <a:pt x="104" y="14"/>
                  </a:lnTo>
                  <a:lnTo>
                    <a:pt x="106" y="18"/>
                  </a:lnTo>
                  <a:lnTo>
                    <a:pt x="106" y="21"/>
                  </a:lnTo>
                  <a:lnTo>
                    <a:pt x="106" y="24"/>
                  </a:lnTo>
                  <a:lnTo>
                    <a:pt x="106" y="28"/>
                  </a:lnTo>
                  <a:lnTo>
                    <a:pt x="106" y="31"/>
                  </a:lnTo>
                  <a:lnTo>
                    <a:pt x="104" y="34"/>
                  </a:lnTo>
                  <a:lnTo>
                    <a:pt x="104" y="38"/>
                  </a:lnTo>
                  <a:lnTo>
                    <a:pt x="102" y="41"/>
                  </a:lnTo>
                  <a:lnTo>
                    <a:pt x="102" y="44"/>
                  </a:lnTo>
                  <a:lnTo>
                    <a:pt x="101" y="48"/>
                  </a:lnTo>
                  <a:lnTo>
                    <a:pt x="99" y="51"/>
                  </a:lnTo>
                  <a:lnTo>
                    <a:pt x="102" y="51"/>
                  </a:lnTo>
                  <a:lnTo>
                    <a:pt x="104" y="48"/>
                  </a:lnTo>
                  <a:lnTo>
                    <a:pt x="106" y="44"/>
                  </a:lnTo>
                  <a:lnTo>
                    <a:pt x="106" y="41"/>
                  </a:lnTo>
                  <a:lnTo>
                    <a:pt x="107" y="38"/>
                  </a:lnTo>
                  <a:lnTo>
                    <a:pt x="107" y="34"/>
                  </a:lnTo>
                  <a:lnTo>
                    <a:pt x="109" y="31"/>
                  </a:lnTo>
                  <a:lnTo>
                    <a:pt x="109" y="28"/>
                  </a:lnTo>
                  <a:lnTo>
                    <a:pt x="109" y="24"/>
                  </a:lnTo>
                  <a:close/>
                  <a:moveTo>
                    <a:pt x="6" y="0"/>
                  </a:moveTo>
                  <a:lnTo>
                    <a:pt x="5" y="1"/>
                  </a:lnTo>
                  <a:lnTo>
                    <a:pt x="5" y="4"/>
                  </a:lnTo>
                  <a:lnTo>
                    <a:pt x="3" y="8"/>
                  </a:lnTo>
                  <a:lnTo>
                    <a:pt x="1" y="11"/>
                  </a:lnTo>
                  <a:lnTo>
                    <a:pt x="1" y="14"/>
                  </a:lnTo>
                  <a:lnTo>
                    <a:pt x="0" y="18"/>
                  </a:lnTo>
                  <a:lnTo>
                    <a:pt x="0" y="21"/>
                  </a:lnTo>
                  <a:lnTo>
                    <a:pt x="0" y="24"/>
                  </a:lnTo>
                  <a:lnTo>
                    <a:pt x="0" y="28"/>
                  </a:lnTo>
                  <a:lnTo>
                    <a:pt x="0" y="31"/>
                  </a:lnTo>
                  <a:lnTo>
                    <a:pt x="1" y="34"/>
                  </a:lnTo>
                  <a:lnTo>
                    <a:pt x="1" y="38"/>
                  </a:lnTo>
                  <a:lnTo>
                    <a:pt x="3" y="41"/>
                  </a:lnTo>
                  <a:lnTo>
                    <a:pt x="3" y="44"/>
                  </a:lnTo>
                  <a:lnTo>
                    <a:pt x="5" y="48"/>
                  </a:lnTo>
                  <a:lnTo>
                    <a:pt x="6" y="51"/>
                  </a:lnTo>
                  <a:lnTo>
                    <a:pt x="9" y="51"/>
                  </a:lnTo>
                  <a:lnTo>
                    <a:pt x="8" y="48"/>
                  </a:lnTo>
                  <a:lnTo>
                    <a:pt x="8" y="44"/>
                  </a:lnTo>
                  <a:lnTo>
                    <a:pt x="6" y="41"/>
                  </a:lnTo>
                  <a:lnTo>
                    <a:pt x="5" y="38"/>
                  </a:lnTo>
                  <a:lnTo>
                    <a:pt x="5" y="34"/>
                  </a:lnTo>
                  <a:lnTo>
                    <a:pt x="3" y="31"/>
                  </a:lnTo>
                  <a:lnTo>
                    <a:pt x="3" y="28"/>
                  </a:lnTo>
                  <a:lnTo>
                    <a:pt x="3" y="24"/>
                  </a:lnTo>
                  <a:lnTo>
                    <a:pt x="3" y="21"/>
                  </a:lnTo>
                  <a:lnTo>
                    <a:pt x="5" y="18"/>
                  </a:lnTo>
                  <a:lnTo>
                    <a:pt x="5" y="14"/>
                  </a:lnTo>
                  <a:lnTo>
                    <a:pt x="5" y="11"/>
                  </a:lnTo>
                  <a:lnTo>
                    <a:pt x="6" y="8"/>
                  </a:lnTo>
                  <a:lnTo>
                    <a:pt x="8" y="4"/>
                  </a:lnTo>
                  <a:lnTo>
                    <a:pt x="9" y="1"/>
                  </a:lnTo>
                  <a:lnTo>
                    <a:pt x="11" y="0"/>
                  </a:lnTo>
                  <a:lnTo>
                    <a:pt x="6"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3" name="Freeform 485">
              <a:extLst>
                <a:ext uri="{FF2B5EF4-FFF2-40B4-BE49-F238E27FC236}">
                  <a16:creationId xmlns:a16="http://schemas.microsoft.com/office/drawing/2014/main" id="{2A3A39DE-CA87-6741-45DA-71580459471A}"/>
                </a:ext>
              </a:extLst>
            </p:cNvPr>
            <p:cNvSpPr>
              <a:spLocks noEditPoints="1"/>
            </p:cNvSpPr>
            <p:nvPr/>
          </p:nvSpPr>
          <p:spPr bwMode="auto">
            <a:xfrm>
              <a:off x="1558" y="1713"/>
              <a:ext cx="106" cy="51"/>
            </a:xfrm>
            <a:custGeom>
              <a:avLst/>
              <a:gdLst>
                <a:gd name="T0" fmla="*/ 106 w 106"/>
                <a:gd name="T1" fmla="*/ 21 h 51"/>
                <a:gd name="T2" fmla="*/ 105 w 106"/>
                <a:gd name="T3" fmla="*/ 14 h 51"/>
                <a:gd name="T4" fmla="*/ 103 w 106"/>
                <a:gd name="T5" fmla="*/ 8 h 51"/>
                <a:gd name="T6" fmla="*/ 101 w 106"/>
                <a:gd name="T7" fmla="*/ 1 h 51"/>
                <a:gd name="T8" fmla="*/ 95 w 106"/>
                <a:gd name="T9" fmla="*/ 0 h 51"/>
                <a:gd name="T10" fmla="*/ 98 w 106"/>
                <a:gd name="T11" fmla="*/ 4 h 51"/>
                <a:gd name="T12" fmla="*/ 101 w 106"/>
                <a:gd name="T13" fmla="*/ 11 h 51"/>
                <a:gd name="T14" fmla="*/ 103 w 106"/>
                <a:gd name="T15" fmla="*/ 18 h 51"/>
                <a:gd name="T16" fmla="*/ 103 w 106"/>
                <a:gd name="T17" fmla="*/ 24 h 51"/>
                <a:gd name="T18" fmla="*/ 103 w 106"/>
                <a:gd name="T19" fmla="*/ 31 h 51"/>
                <a:gd name="T20" fmla="*/ 101 w 106"/>
                <a:gd name="T21" fmla="*/ 38 h 51"/>
                <a:gd name="T22" fmla="*/ 100 w 106"/>
                <a:gd name="T23" fmla="*/ 44 h 51"/>
                <a:gd name="T24" fmla="*/ 96 w 106"/>
                <a:gd name="T25" fmla="*/ 51 h 51"/>
                <a:gd name="T26" fmla="*/ 101 w 106"/>
                <a:gd name="T27" fmla="*/ 48 h 51"/>
                <a:gd name="T28" fmla="*/ 103 w 106"/>
                <a:gd name="T29" fmla="*/ 41 h 51"/>
                <a:gd name="T30" fmla="*/ 105 w 106"/>
                <a:gd name="T31" fmla="*/ 34 h 51"/>
                <a:gd name="T32" fmla="*/ 106 w 106"/>
                <a:gd name="T33" fmla="*/ 28 h 51"/>
                <a:gd name="T34" fmla="*/ 7 w 106"/>
                <a:gd name="T35" fmla="*/ 0 h 51"/>
                <a:gd name="T36" fmla="*/ 5 w 106"/>
                <a:gd name="T37" fmla="*/ 4 h 51"/>
                <a:gd name="T38" fmla="*/ 2 w 106"/>
                <a:gd name="T39" fmla="*/ 11 h 51"/>
                <a:gd name="T40" fmla="*/ 0 w 106"/>
                <a:gd name="T41" fmla="*/ 18 h 51"/>
                <a:gd name="T42" fmla="*/ 0 w 106"/>
                <a:gd name="T43" fmla="*/ 24 h 51"/>
                <a:gd name="T44" fmla="*/ 0 w 106"/>
                <a:gd name="T45" fmla="*/ 31 h 51"/>
                <a:gd name="T46" fmla="*/ 2 w 106"/>
                <a:gd name="T47" fmla="*/ 38 h 51"/>
                <a:gd name="T48" fmla="*/ 4 w 106"/>
                <a:gd name="T49" fmla="*/ 44 h 51"/>
                <a:gd name="T50" fmla="*/ 7 w 106"/>
                <a:gd name="T51" fmla="*/ 51 h 51"/>
                <a:gd name="T52" fmla="*/ 8 w 106"/>
                <a:gd name="T53" fmla="*/ 48 h 51"/>
                <a:gd name="T54" fmla="*/ 7 w 106"/>
                <a:gd name="T55" fmla="*/ 41 h 51"/>
                <a:gd name="T56" fmla="*/ 5 w 106"/>
                <a:gd name="T57" fmla="*/ 34 h 51"/>
                <a:gd name="T58" fmla="*/ 4 w 106"/>
                <a:gd name="T59" fmla="*/ 28 h 51"/>
                <a:gd name="T60" fmla="*/ 4 w 106"/>
                <a:gd name="T61" fmla="*/ 21 h 51"/>
                <a:gd name="T62" fmla="*/ 5 w 106"/>
                <a:gd name="T63" fmla="*/ 14 h 51"/>
                <a:gd name="T64" fmla="*/ 7 w 106"/>
                <a:gd name="T65" fmla="*/ 8 h 51"/>
                <a:gd name="T66" fmla="*/ 10 w 106"/>
                <a:gd name="T67" fmla="*/ 1 h 51"/>
                <a:gd name="T68" fmla="*/ 7 w 10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6" h="51">
                  <a:moveTo>
                    <a:pt x="106" y="24"/>
                  </a:moveTo>
                  <a:lnTo>
                    <a:pt x="106" y="21"/>
                  </a:lnTo>
                  <a:lnTo>
                    <a:pt x="106" y="18"/>
                  </a:lnTo>
                  <a:lnTo>
                    <a:pt x="105" y="14"/>
                  </a:lnTo>
                  <a:lnTo>
                    <a:pt x="105" y="11"/>
                  </a:lnTo>
                  <a:lnTo>
                    <a:pt x="103" y="8"/>
                  </a:lnTo>
                  <a:lnTo>
                    <a:pt x="103" y="4"/>
                  </a:lnTo>
                  <a:lnTo>
                    <a:pt x="101" y="1"/>
                  </a:lnTo>
                  <a:lnTo>
                    <a:pt x="100" y="0"/>
                  </a:lnTo>
                  <a:lnTo>
                    <a:pt x="95" y="0"/>
                  </a:lnTo>
                  <a:lnTo>
                    <a:pt x="96" y="1"/>
                  </a:lnTo>
                  <a:lnTo>
                    <a:pt x="98" y="4"/>
                  </a:lnTo>
                  <a:lnTo>
                    <a:pt x="100" y="8"/>
                  </a:lnTo>
                  <a:lnTo>
                    <a:pt x="101" y="11"/>
                  </a:lnTo>
                  <a:lnTo>
                    <a:pt x="101" y="14"/>
                  </a:lnTo>
                  <a:lnTo>
                    <a:pt x="103" y="18"/>
                  </a:lnTo>
                  <a:lnTo>
                    <a:pt x="103" y="21"/>
                  </a:lnTo>
                  <a:lnTo>
                    <a:pt x="103" y="24"/>
                  </a:lnTo>
                  <a:lnTo>
                    <a:pt x="103" y="28"/>
                  </a:lnTo>
                  <a:lnTo>
                    <a:pt x="103" y="31"/>
                  </a:lnTo>
                  <a:lnTo>
                    <a:pt x="101" y="34"/>
                  </a:lnTo>
                  <a:lnTo>
                    <a:pt x="101" y="38"/>
                  </a:lnTo>
                  <a:lnTo>
                    <a:pt x="100" y="41"/>
                  </a:lnTo>
                  <a:lnTo>
                    <a:pt x="100" y="44"/>
                  </a:lnTo>
                  <a:lnTo>
                    <a:pt x="98" y="48"/>
                  </a:lnTo>
                  <a:lnTo>
                    <a:pt x="96" y="51"/>
                  </a:lnTo>
                  <a:lnTo>
                    <a:pt x="100" y="51"/>
                  </a:lnTo>
                  <a:lnTo>
                    <a:pt x="101" y="48"/>
                  </a:lnTo>
                  <a:lnTo>
                    <a:pt x="103" y="44"/>
                  </a:lnTo>
                  <a:lnTo>
                    <a:pt x="103" y="41"/>
                  </a:lnTo>
                  <a:lnTo>
                    <a:pt x="105" y="38"/>
                  </a:lnTo>
                  <a:lnTo>
                    <a:pt x="105" y="34"/>
                  </a:lnTo>
                  <a:lnTo>
                    <a:pt x="106" y="31"/>
                  </a:lnTo>
                  <a:lnTo>
                    <a:pt x="106" y="28"/>
                  </a:lnTo>
                  <a:lnTo>
                    <a:pt x="106" y="24"/>
                  </a:lnTo>
                  <a:close/>
                  <a:moveTo>
                    <a:pt x="7" y="0"/>
                  </a:moveTo>
                  <a:lnTo>
                    <a:pt x="5" y="1"/>
                  </a:lnTo>
                  <a:lnTo>
                    <a:pt x="5" y="4"/>
                  </a:lnTo>
                  <a:lnTo>
                    <a:pt x="4" y="8"/>
                  </a:lnTo>
                  <a:lnTo>
                    <a:pt x="2" y="11"/>
                  </a:lnTo>
                  <a:lnTo>
                    <a:pt x="2" y="14"/>
                  </a:lnTo>
                  <a:lnTo>
                    <a:pt x="0" y="18"/>
                  </a:lnTo>
                  <a:lnTo>
                    <a:pt x="0" y="21"/>
                  </a:lnTo>
                  <a:lnTo>
                    <a:pt x="0" y="24"/>
                  </a:lnTo>
                  <a:lnTo>
                    <a:pt x="0" y="28"/>
                  </a:lnTo>
                  <a:lnTo>
                    <a:pt x="0" y="31"/>
                  </a:lnTo>
                  <a:lnTo>
                    <a:pt x="2" y="34"/>
                  </a:lnTo>
                  <a:lnTo>
                    <a:pt x="2" y="38"/>
                  </a:lnTo>
                  <a:lnTo>
                    <a:pt x="4" y="41"/>
                  </a:lnTo>
                  <a:lnTo>
                    <a:pt x="4" y="44"/>
                  </a:lnTo>
                  <a:lnTo>
                    <a:pt x="5" y="48"/>
                  </a:lnTo>
                  <a:lnTo>
                    <a:pt x="7" y="51"/>
                  </a:lnTo>
                  <a:lnTo>
                    <a:pt x="10" y="51"/>
                  </a:lnTo>
                  <a:lnTo>
                    <a:pt x="8" y="48"/>
                  </a:lnTo>
                  <a:lnTo>
                    <a:pt x="8" y="44"/>
                  </a:lnTo>
                  <a:lnTo>
                    <a:pt x="7" y="41"/>
                  </a:lnTo>
                  <a:lnTo>
                    <a:pt x="5" y="38"/>
                  </a:lnTo>
                  <a:lnTo>
                    <a:pt x="5" y="34"/>
                  </a:lnTo>
                  <a:lnTo>
                    <a:pt x="4" y="31"/>
                  </a:lnTo>
                  <a:lnTo>
                    <a:pt x="4" y="28"/>
                  </a:lnTo>
                  <a:lnTo>
                    <a:pt x="4" y="24"/>
                  </a:lnTo>
                  <a:lnTo>
                    <a:pt x="4" y="21"/>
                  </a:lnTo>
                  <a:lnTo>
                    <a:pt x="5" y="18"/>
                  </a:lnTo>
                  <a:lnTo>
                    <a:pt x="5" y="14"/>
                  </a:lnTo>
                  <a:lnTo>
                    <a:pt x="5" y="11"/>
                  </a:lnTo>
                  <a:lnTo>
                    <a:pt x="7" y="8"/>
                  </a:lnTo>
                  <a:lnTo>
                    <a:pt x="8" y="4"/>
                  </a:lnTo>
                  <a:lnTo>
                    <a:pt x="10" y="1"/>
                  </a:lnTo>
                  <a:lnTo>
                    <a:pt x="12" y="0"/>
                  </a:lnTo>
                  <a:lnTo>
                    <a:pt x="7"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4" name="Freeform 486">
              <a:extLst>
                <a:ext uri="{FF2B5EF4-FFF2-40B4-BE49-F238E27FC236}">
                  <a16:creationId xmlns:a16="http://schemas.microsoft.com/office/drawing/2014/main" id="{3CF4A686-C6EE-DBAB-0E5B-7837324A5ABE}"/>
                </a:ext>
              </a:extLst>
            </p:cNvPr>
            <p:cNvSpPr>
              <a:spLocks noEditPoints="1"/>
            </p:cNvSpPr>
            <p:nvPr/>
          </p:nvSpPr>
          <p:spPr bwMode="auto">
            <a:xfrm>
              <a:off x="1560" y="1713"/>
              <a:ext cx="103" cy="51"/>
            </a:xfrm>
            <a:custGeom>
              <a:avLst/>
              <a:gdLst>
                <a:gd name="T0" fmla="*/ 103 w 103"/>
                <a:gd name="T1" fmla="*/ 21 h 51"/>
                <a:gd name="T2" fmla="*/ 101 w 103"/>
                <a:gd name="T3" fmla="*/ 14 h 51"/>
                <a:gd name="T4" fmla="*/ 99 w 103"/>
                <a:gd name="T5" fmla="*/ 8 h 51"/>
                <a:gd name="T6" fmla="*/ 98 w 103"/>
                <a:gd name="T7" fmla="*/ 1 h 51"/>
                <a:gd name="T8" fmla="*/ 91 w 103"/>
                <a:gd name="T9" fmla="*/ 0 h 51"/>
                <a:gd name="T10" fmla="*/ 94 w 103"/>
                <a:gd name="T11" fmla="*/ 4 h 51"/>
                <a:gd name="T12" fmla="*/ 98 w 103"/>
                <a:gd name="T13" fmla="*/ 11 h 51"/>
                <a:gd name="T14" fmla="*/ 99 w 103"/>
                <a:gd name="T15" fmla="*/ 18 h 51"/>
                <a:gd name="T16" fmla="*/ 99 w 103"/>
                <a:gd name="T17" fmla="*/ 24 h 51"/>
                <a:gd name="T18" fmla="*/ 99 w 103"/>
                <a:gd name="T19" fmla="*/ 33 h 51"/>
                <a:gd name="T20" fmla="*/ 98 w 103"/>
                <a:gd name="T21" fmla="*/ 38 h 51"/>
                <a:gd name="T22" fmla="*/ 94 w 103"/>
                <a:gd name="T23" fmla="*/ 44 h 51"/>
                <a:gd name="T24" fmla="*/ 93 w 103"/>
                <a:gd name="T25" fmla="*/ 51 h 51"/>
                <a:gd name="T26" fmla="*/ 98 w 103"/>
                <a:gd name="T27" fmla="*/ 48 h 51"/>
                <a:gd name="T28" fmla="*/ 99 w 103"/>
                <a:gd name="T29" fmla="*/ 41 h 51"/>
                <a:gd name="T30" fmla="*/ 101 w 103"/>
                <a:gd name="T31" fmla="*/ 34 h 51"/>
                <a:gd name="T32" fmla="*/ 103 w 103"/>
                <a:gd name="T33" fmla="*/ 28 h 51"/>
                <a:gd name="T34" fmla="*/ 8 w 103"/>
                <a:gd name="T35" fmla="*/ 0 h 51"/>
                <a:gd name="T36" fmla="*/ 5 w 103"/>
                <a:gd name="T37" fmla="*/ 4 h 51"/>
                <a:gd name="T38" fmla="*/ 2 w 103"/>
                <a:gd name="T39" fmla="*/ 11 h 51"/>
                <a:gd name="T40" fmla="*/ 2 w 103"/>
                <a:gd name="T41" fmla="*/ 18 h 51"/>
                <a:gd name="T42" fmla="*/ 0 w 103"/>
                <a:gd name="T43" fmla="*/ 24 h 51"/>
                <a:gd name="T44" fmla="*/ 0 w 103"/>
                <a:gd name="T45" fmla="*/ 31 h 51"/>
                <a:gd name="T46" fmla="*/ 2 w 103"/>
                <a:gd name="T47" fmla="*/ 38 h 51"/>
                <a:gd name="T48" fmla="*/ 5 w 103"/>
                <a:gd name="T49" fmla="*/ 44 h 51"/>
                <a:gd name="T50" fmla="*/ 6 w 103"/>
                <a:gd name="T51" fmla="*/ 51 h 51"/>
                <a:gd name="T52" fmla="*/ 10 w 103"/>
                <a:gd name="T53" fmla="*/ 48 h 51"/>
                <a:gd name="T54" fmla="*/ 6 w 103"/>
                <a:gd name="T55" fmla="*/ 41 h 51"/>
                <a:gd name="T56" fmla="*/ 5 w 103"/>
                <a:gd name="T57" fmla="*/ 34 h 51"/>
                <a:gd name="T58" fmla="*/ 3 w 103"/>
                <a:gd name="T59" fmla="*/ 28 h 51"/>
                <a:gd name="T60" fmla="*/ 3 w 103"/>
                <a:gd name="T61" fmla="*/ 21 h 51"/>
                <a:gd name="T62" fmla="*/ 5 w 103"/>
                <a:gd name="T63" fmla="*/ 14 h 51"/>
                <a:gd name="T64" fmla="*/ 6 w 103"/>
                <a:gd name="T65" fmla="*/ 8 h 51"/>
                <a:gd name="T66" fmla="*/ 10 w 103"/>
                <a:gd name="T67" fmla="*/ 1 h 51"/>
                <a:gd name="T68" fmla="*/ 8 w 10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3" h="51">
                  <a:moveTo>
                    <a:pt x="103" y="24"/>
                  </a:moveTo>
                  <a:lnTo>
                    <a:pt x="103" y="21"/>
                  </a:lnTo>
                  <a:lnTo>
                    <a:pt x="103" y="18"/>
                  </a:lnTo>
                  <a:lnTo>
                    <a:pt x="101" y="14"/>
                  </a:lnTo>
                  <a:lnTo>
                    <a:pt x="101" y="11"/>
                  </a:lnTo>
                  <a:lnTo>
                    <a:pt x="99" y="8"/>
                  </a:lnTo>
                  <a:lnTo>
                    <a:pt x="98" y="4"/>
                  </a:lnTo>
                  <a:lnTo>
                    <a:pt x="98" y="1"/>
                  </a:lnTo>
                  <a:lnTo>
                    <a:pt x="96" y="0"/>
                  </a:lnTo>
                  <a:lnTo>
                    <a:pt x="91" y="0"/>
                  </a:lnTo>
                  <a:lnTo>
                    <a:pt x="93" y="1"/>
                  </a:lnTo>
                  <a:lnTo>
                    <a:pt x="94" y="4"/>
                  </a:lnTo>
                  <a:lnTo>
                    <a:pt x="96" y="8"/>
                  </a:lnTo>
                  <a:lnTo>
                    <a:pt x="98" y="11"/>
                  </a:lnTo>
                  <a:lnTo>
                    <a:pt x="98" y="14"/>
                  </a:lnTo>
                  <a:lnTo>
                    <a:pt x="99" y="18"/>
                  </a:lnTo>
                  <a:lnTo>
                    <a:pt x="99" y="21"/>
                  </a:lnTo>
                  <a:lnTo>
                    <a:pt x="99" y="24"/>
                  </a:lnTo>
                  <a:lnTo>
                    <a:pt x="99" y="28"/>
                  </a:lnTo>
                  <a:lnTo>
                    <a:pt x="99" y="33"/>
                  </a:lnTo>
                  <a:lnTo>
                    <a:pt x="98" y="34"/>
                  </a:lnTo>
                  <a:lnTo>
                    <a:pt x="98" y="38"/>
                  </a:lnTo>
                  <a:lnTo>
                    <a:pt x="96" y="41"/>
                  </a:lnTo>
                  <a:lnTo>
                    <a:pt x="94" y="44"/>
                  </a:lnTo>
                  <a:lnTo>
                    <a:pt x="94" y="48"/>
                  </a:lnTo>
                  <a:lnTo>
                    <a:pt x="93" y="51"/>
                  </a:lnTo>
                  <a:lnTo>
                    <a:pt x="96" y="51"/>
                  </a:lnTo>
                  <a:lnTo>
                    <a:pt x="98" y="48"/>
                  </a:lnTo>
                  <a:lnTo>
                    <a:pt x="99" y="44"/>
                  </a:lnTo>
                  <a:lnTo>
                    <a:pt x="99" y="41"/>
                  </a:lnTo>
                  <a:lnTo>
                    <a:pt x="101" y="38"/>
                  </a:lnTo>
                  <a:lnTo>
                    <a:pt x="101" y="34"/>
                  </a:lnTo>
                  <a:lnTo>
                    <a:pt x="103" y="31"/>
                  </a:lnTo>
                  <a:lnTo>
                    <a:pt x="103" y="28"/>
                  </a:lnTo>
                  <a:lnTo>
                    <a:pt x="103" y="24"/>
                  </a:lnTo>
                  <a:close/>
                  <a:moveTo>
                    <a:pt x="8" y="0"/>
                  </a:moveTo>
                  <a:lnTo>
                    <a:pt x="6" y="1"/>
                  </a:lnTo>
                  <a:lnTo>
                    <a:pt x="5" y="4"/>
                  </a:lnTo>
                  <a:lnTo>
                    <a:pt x="3" y="8"/>
                  </a:lnTo>
                  <a:lnTo>
                    <a:pt x="2" y="11"/>
                  </a:lnTo>
                  <a:lnTo>
                    <a:pt x="2" y="14"/>
                  </a:lnTo>
                  <a:lnTo>
                    <a:pt x="2" y="18"/>
                  </a:lnTo>
                  <a:lnTo>
                    <a:pt x="0" y="21"/>
                  </a:lnTo>
                  <a:lnTo>
                    <a:pt x="0" y="24"/>
                  </a:lnTo>
                  <a:lnTo>
                    <a:pt x="0" y="28"/>
                  </a:lnTo>
                  <a:lnTo>
                    <a:pt x="0" y="31"/>
                  </a:lnTo>
                  <a:lnTo>
                    <a:pt x="2" y="34"/>
                  </a:lnTo>
                  <a:lnTo>
                    <a:pt x="2" y="38"/>
                  </a:lnTo>
                  <a:lnTo>
                    <a:pt x="3" y="41"/>
                  </a:lnTo>
                  <a:lnTo>
                    <a:pt x="5" y="44"/>
                  </a:lnTo>
                  <a:lnTo>
                    <a:pt x="5" y="48"/>
                  </a:lnTo>
                  <a:lnTo>
                    <a:pt x="6" y="51"/>
                  </a:lnTo>
                  <a:lnTo>
                    <a:pt x="11" y="51"/>
                  </a:lnTo>
                  <a:lnTo>
                    <a:pt x="10" y="48"/>
                  </a:lnTo>
                  <a:lnTo>
                    <a:pt x="8" y="44"/>
                  </a:lnTo>
                  <a:lnTo>
                    <a:pt x="6" y="41"/>
                  </a:lnTo>
                  <a:lnTo>
                    <a:pt x="5" y="38"/>
                  </a:lnTo>
                  <a:lnTo>
                    <a:pt x="5" y="34"/>
                  </a:lnTo>
                  <a:lnTo>
                    <a:pt x="3" y="33"/>
                  </a:lnTo>
                  <a:lnTo>
                    <a:pt x="3" y="28"/>
                  </a:lnTo>
                  <a:lnTo>
                    <a:pt x="3" y="24"/>
                  </a:lnTo>
                  <a:lnTo>
                    <a:pt x="3" y="21"/>
                  </a:lnTo>
                  <a:lnTo>
                    <a:pt x="5" y="18"/>
                  </a:lnTo>
                  <a:lnTo>
                    <a:pt x="5" y="14"/>
                  </a:lnTo>
                  <a:lnTo>
                    <a:pt x="5" y="11"/>
                  </a:lnTo>
                  <a:lnTo>
                    <a:pt x="6" y="8"/>
                  </a:lnTo>
                  <a:lnTo>
                    <a:pt x="8" y="4"/>
                  </a:lnTo>
                  <a:lnTo>
                    <a:pt x="10" y="1"/>
                  </a:lnTo>
                  <a:lnTo>
                    <a:pt x="11" y="0"/>
                  </a:lnTo>
                  <a:lnTo>
                    <a:pt x="8"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5" name="Freeform 487">
              <a:extLst>
                <a:ext uri="{FF2B5EF4-FFF2-40B4-BE49-F238E27FC236}">
                  <a16:creationId xmlns:a16="http://schemas.microsoft.com/office/drawing/2014/main" id="{0DB7C5E4-7AD3-A895-3D14-78F2A777DE9E}"/>
                </a:ext>
              </a:extLst>
            </p:cNvPr>
            <p:cNvSpPr>
              <a:spLocks noEditPoints="1"/>
            </p:cNvSpPr>
            <p:nvPr/>
          </p:nvSpPr>
          <p:spPr bwMode="auto">
            <a:xfrm>
              <a:off x="1562" y="1713"/>
              <a:ext cx="99" cy="51"/>
            </a:xfrm>
            <a:custGeom>
              <a:avLst/>
              <a:gdLst>
                <a:gd name="T0" fmla="*/ 99 w 99"/>
                <a:gd name="T1" fmla="*/ 21 h 51"/>
                <a:gd name="T2" fmla="*/ 97 w 99"/>
                <a:gd name="T3" fmla="*/ 14 h 51"/>
                <a:gd name="T4" fmla="*/ 96 w 99"/>
                <a:gd name="T5" fmla="*/ 8 h 51"/>
                <a:gd name="T6" fmla="*/ 92 w 99"/>
                <a:gd name="T7" fmla="*/ 1 h 51"/>
                <a:gd name="T8" fmla="*/ 87 w 99"/>
                <a:gd name="T9" fmla="*/ 0 h 51"/>
                <a:gd name="T10" fmla="*/ 91 w 99"/>
                <a:gd name="T11" fmla="*/ 4 h 51"/>
                <a:gd name="T12" fmla="*/ 94 w 99"/>
                <a:gd name="T13" fmla="*/ 11 h 51"/>
                <a:gd name="T14" fmla="*/ 96 w 99"/>
                <a:gd name="T15" fmla="*/ 18 h 51"/>
                <a:gd name="T16" fmla="*/ 96 w 99"/>
                <a:gd name="T17" fmla="*/ 24 h 51"/>
                <a:gd name="T18" fmla="*/ 96 w 99"/>
                <a:gd name="T19" fmla="*/ 33 h 51"/>
                <a:gd name="T20" fmla="*/ 94 w 99"/>
                <a:gd name="T21" fmla="*/ 38 h 51"/>
                <a:gd name="T22" fmla="*/ 91 w 99"/>
                <a:gd name="T23" fmla="*/ 44 h 51"/>
                <a:gd name="T24" fmla="*/ 87 w 99"/>
                <a:gd name="T25" fmla="*/ 51 h 51"/>
                <a:gd name="T26" fmla="*/ 94 w 99"/>
                <a:gd name="T27" fmla="*/ 48 h 51"/>
                <a:gd name="T28" fmla="*/ 96 w 99"/>
                <a:gd name="T29" fmla="*/ 41 h 51"/>
                <a:gd name="T30" fmla="*/ 97 w 99"/>
                <a:gd name="T31" fmla="*/ 34 h 51"/>
                <a:gd name="T32" fmla="*/ 99 w 99"/>
                <a:gd name="T33" fmla="*/ 28 h 51"/>
                <a:gd name="T34" fmla="*/ 8 w 99"/>
                <a:gd name="T35" fmla="*/ 0 h 51"/>
                <a:gd name="T36" fmla="*/ 4 w 99"/>
                <a:gd name="T37" fmla="*/ 4 h 51"/>
                <a:gd name="T38" fmla="*/ 1 w 99"/>
                <a:gd name="T39" fmla="*/ 11 h 51"/>
                <a:gd name="T40" fmla="*/ 1 w 99"/>
                <a:gd name="T41" fmla="*/ 18 h 51"/>
                <a:gd name="T42" fmla="*/ 0 w 99"/>
                <a:gd name="T43" fmla="*/ 24 h 51"/>
                <a:gd name="T44" fmla="*/ 0 w 99"/>
                <a:gd name="T45" fmla="*/ 31 h 51"/>
                <a:gd name="T46" fmla="*/ 1 w 99"/>
                <a:gd name="T47" fmla="*/ 38 h 51"/>
                <a:gd name="T48" fmla="*/ 4 w 99"/>
                <a:gd name="T49" fmla="*/ 44 h 51"/>
                <a:gd name="T50" fmla="*/ 6 w 99"/>
                <a:gd name="T51" fmla="*/ 51 h 51"/>
                <a:gd name="T52" fmla="*/ 9 w 99"/>
                <a:gd name="T53" fmla="*/ 48 h 51"/>
                <a:gd name="T54" fmla="*/ 6 w 99"/>
                <a:gd name="T55" fmla="*/ 41 h 51"/>
                <a:gd name="T56" fmla="*/ 4 w 99"/>
                <a:gd name="T57" fmla="*/ 36 h 51"/>
                <a:gd name="T58" fmla="*/ 3 w 99"/>
                <a:gd name="T59" fmla="*/ 28 h 51"/>
                <a:gd name="T60" fmla="*/ 3 w 99"/>
                <a:gd name="T61" fmla="*/ 21 h 51"/>
                <a:gd name="T62" fmla="*/ 4 w 99"/>
                <a:gd name="T63" fmla="*/ 14 h 51"/>
                <a:gd name="T64" fmla="*/ 6 w 99"/>
                <a:gd name="T65" fmla="*/ 8 h 51"/>
                <a:gd name="T66" fmla="*/ 9 w 99"/>
                <a:gd name="T67" fmla="*/ 1 h 51"/>
                <a:gd name="T68" fmla="*/ 8 w 9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9" h="51">
                  <a:moveTo>
                    <a:pt x="99" y="24"/>
                  </a:moveTo>
                  <a:lnTo>
                    <a:pt x="99" y="21"/>
                  </a:lnTo>
                  <a:lnTo>
                    <a:pt x="99" y="18"/>
                  </a:lnTo>
                  <a:lnTo>
                    <a:pt x="97" y="14"/>
                  </a:lnTo>
                  <a:lnTo>
                    <a:pt x="97" y="11"/>
                  </a:lnTo>
                  <a:lnTo>
                    <a:pt x="96" y="8"/>
                  </a:lnTo>
                  <a:lnTo>
                    <a:pt x="94" y="4"/>
                  </a:lnTo>
                  <a:lnTo>
                    <a:pt x="92" y="1"/>
                  </a:lnTo>
                  <a:lnTo>
                    <a:pt x="91" y="0"/>
                  </a:lnTo>
                  <a:lnTo>
                    <a:pt x="87" y="0"/>
                  </a:lnTo>
                  <a:lnTo>
                    <a:pt x="89" y="1"/>
                  </a:lnTo>
                  <a:lnTo>
                    <a:pt x="91" y="4"/>
                  </a:lnTo>
                  <a:lnTo>
                    <a:pt x="92" y="8"/>
                  </a:lnTo>
                  <a:lnTo>
                    <a:pt x="94" y="11"/>
                  </a:lnTo>
                  <a:lnTo>
                    <a:pt x="94" y="14"/>
                  </a:lnTo>
                  <a:lnTo>
                    <a:pt x="96" y="18"/>
                  </a:lnTo>
                  <a:lnTo>
                    <a:pt x="96" y="21"/>
                  </a:lnTo>
                  <a:lnTo>
                    <a:pt x="96" y="24"/>
                  </a:lnTo>
                  <a:lnTo>
                    <a:pt x="96" y="28"/>
                  </a:lnTo>
                  <a:lnTo>
                    <a:pt x="96" y="33"/>
                  </a:lnTo>
                  <a:lnTo>
                    <a:pt x="94" y="36"/>
                  </a:lnTo>
                  <a:lnTo>
                    <a:pt x="94" y="38"/>
                  </a:lnTo>
                  <a:lnTo>
                    <a:pt x="92" y="41"/>
                  </a:lnTo>
                  <a:lnTo>
                    <a:pt x="91" y="44"/>
                  </a:lnTo>
                  <a:lnTo>
                    <a:pt x="89" y="48"/>
                  </a:lnTo>
                  <a:lnTo>
                    <a:pt x="87" y="51"/>
                  </a:lnTo>
                  <a:lnTo>
                    <a:pt x="92" y="51"/>
                  </a:lnTo>
                  <a:lnTo>
                    <a:pt x="94" y="48"/>
                  </a:lnTo>
                  <a:lnTo>
                    <a:pt x="96" y="44"/>
                  </a:lnTo>
                  <a:lnTo>
                    <a:pt x="96" y="41"/>
                  </a:lnTo>
                  <a:lnTo>
                    <a:pt x="97" y="38"/>
                  </a:lnTo>
                  <a:lnTo>
                    <a:pt x="97" y="34"/>
                  </a:lnTo>
                  <a:lnTo>
                    <a:pt x="99" y="31"/>
                  </a:lnTo>
                  <a:lnTo>
                    <a:pt x="99" y="28"/>
                  </a:lnTo>
                  <a:lnTo>
                    <a:pt x="99" y="24"/>
                  </a:lnTo>
                  <a:close/>
                  <a:moveTo>
                    <a:pt x="8" y="0"/>
                  </a:moveTo>
                  <a:lnTo>
                    <a:pt x="6" y="1"/>
                  </a:lnTo>
                  <a:lnTo>
                    <a:pt x="4" y="4"/>
                  </a:lnTo>
                  <a:lnTo>
                    <a:pt x="3" y="8"/>
                  </a:lnTo>
                  <a:lnTo>
                    <a:pt x="1" y="11"/>
                  </a:lnTo>
                  <a:lnTo>
                    <a:pt x="1" y="14"/>
                  </a:lnTo>
                  <a:lnTo>
                    <a:pt x="1" y="18"/>
                  </a:lnTo>
                  <a:lnTo>
                    <a:pt x="0" y="21"/>
                  </a:lnTo>
                  <a:lnTo>
                    <a:pt x="0" y="24"/>
                  </a:lnTo>
                  <a:lnTo>
                    <a:pt x="0" y="28"/>
                  </a:lnTo>
                  <a:lnTo>
                    <a:pt x="0" y="31"/>
                  </a:lnTo>
                  <a:lnTo>
                    <a:pt x="1" y="34"/>
                  </a:lnTo>
                  <a:lnTo>
                    <a:pt x="1" y="38"/>
                  </a:lnTo>
                  <a:lnTo>
                    <a:pt x="3" y="41"/>
                  </a:lnTo>
                  <a:lnTo>
                    <a:pt x="4" y="44"/>
                  </a:lnTo>
                  <a:lnTo>
                    <a:pt x="4" y="48"/>
                  </a:lnTo>
                  <a:lnTo>
                    <a:pt x="6" y="51"/>
                  </a:lnTo>
                  <a:lnTo>
                    <a:pt x="11" y="51"/>
                  </a:lnTo>
                  <a:lnTo>
                    <a:pt x="9" y="48"/>
                  </a:lnTo>
                  <a:lnTo>
                    <a:pt x="8" y="44"/>
                  </a:lnTo>
                  <a:lnTo>
                    <a:pt x="6" y="41"/>
                  </a:lnTo>
                  <a:lnTo>
                    <a:pt x="4" y="38"/>
                  </a:lnTo>
                  <a:lnTo>
                    <a:pt x="4" y="36"/>
                  </a:lnTo>
                  <a:lnTo>
                    <a:pt x="4" y="33"/>
                  </a:lnTo>
                  <a:lnTo>
                    <a:pt x="3" y="28"/>
                  </a:lnTo>
                  <a:lnTo>
                    <a:pt x="3" y="24"/>
                  </a:lnTo>
                  <a:lnTo>
                    <a:pt x="3" y="21"/>
                  </a:lnTo>
                  <a:lnTo>
                    <a:pt x="4" y="18"/>
                  </a:lnTo>
                  <a:lnTo>
                    <a:pt x="4" y="14"/>
                  </a:lnTo>
                  <a:lnTo>
                    <a:pt x="4" y="11"/>
                  </a:lnTo>
                  <a:lnTo>
                    <a:pt x="6" y="8"/>
                  </a:lnTo>
                  <a:lnTo>
                    <a:pt x="8" y="4"/>
                  </a:lnTo>
                  <a:lnTo>
                    <a:pt x="9" y="1"/>
                  </a:lnTo>
                  <a:lnTo>
                    <a:pt x="11" y="0"/>
                  </a:lnTo>
                  <a:lnTo>
                    <a:pt x="8"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6" name="Freeform 488">
              <a:extLst>
                <a:ext uri="{FF2B5EF4-FFF2-40B4-BE49-F238E27FC236}">
                  <a16:creationId xmlns:a16="http://schemas.microsoft.com/office/drawing/2014/main" id="{D8C5C304-9BFB-7257-3273-2ACE5E18D0D7}"/>
                </a:ext>
              </a:extLst>
            </p:cNvPr>
            <p:cNvSpPr>
              <a:spLocks noEditPoints="1"/>
            </p:cNvSpPr>
            <p:nvPr/>
          </p:nvSpPr>
          <p:spPr bwMode="auto">
            <a:xfrm>
              <a:off x="1563" y="1713"/>
              <a:ext cx="96" cy="51"/>
            </a:xfrm>
            <a:custGeom>
              <a:avLst/>
              <a:gdLst>
                <a:gd name="T0" fmla="*/ 96 w 96"/>
                <a:gd name="T1" fmla="*/ 21 h 51"/>
                <a:gd name="T2" fmla="*/ 95 w 96"/>
                <a:gd name="T3" fmla="*/ 14 h 51"/>
                <a:gd name="T4" fmla="*/ 93 w 96"/>
                <a:gd name="T5" fmla="*/ 8 h 51"/>
                <a:gd name="T6" fmla="*/ 90 w 96"/>
                <a:gd name="T7" fmla="*/ 1 h 51"/>
                <a:gd name="T8" fmla="*/ 85 w 96"/>
                <a:gd name="T9" fmla="*/ 0 h 51"/>
                <a:gd name="T10" fmla="*/ 88 w 96"/>
                <a:gd name="T11" fmla="*/ 4 h 51"/>
                <a:gd name="T12" fmla="*/ 91 w 96"/>
                <a:gd name="T13" fmla="*/ 11 h 51"/>
                <a:gd name="T14" fmla="*/ 93 w 96"/>
                <a:gd name="T15" fmla="*/ 18 h 51"/>
                <a:gd name="T16" fmla="*/ 93 w 96"/>
                <a:gd name="T17" fmla="*/ 24 h 51"/>
                <a:gd name="T18" fmla="*/ 93 w 96"/>
                <a:gd name="T19" fmla="*/ 33 h 51"/>
                <a:gd name="T20" fmla="*/ 91 w 96"/>
                <a:gd name="T21" fmla="*/ 38 h 51"/>
                <a:gd name="T22" fmla="*/ 88 w 96"/>
                <a:gd name="T23" fmla="*/ 44 h 51"/>
                <a:gd name="T24" fmla="*/ 85 w 96"/>
                <a:gd name="T25" fmla="*/ 51 h 51"/>
                <a:gd name="T26" fmla="*/ 91 w 96"/>
                <a:gd name="T27" fmla="*/ 48 h 51"/>
                <a:gd name="T28" fmla="*/ 93 w 96"/>
                <a:gd name="T29" fmla="*/ 41 h 51"/>
                <a:gd name="T30" fmla="*/ 95 w 96"/>
                <a:gd name="T31" fmla="*/ 34 h 51"/>
                <a:gd name="T32" fmla="*/ 96 w 96"/>
                <a:gd name="T33" fmla="*/ 28 h 51"/>
                <a:gd name="T34" fmla="*/ 8 w 96"/>
                <a:gd name="T35" fmla="*/ 0 h 51"/>
                <a:gd name="T36" fmla="*/ 5 w 96"/>
                <a:gd name="T37" fmla="*/ 4 h 51"/>
                <a:gd name="T38" fmla="*/ 2 w 96"/>
                <a:gd name="T39" fmla="*/ 11 h 51"/>
                <a:gd name="T40" fmla="*/ 2 w 96"/>
                <a:gd name="T41" fmla="*/ 18 h 51"/>
                <a:gd name="T42" fmla="*/ 0 w 96"/>
                <a:gd name="T43" fmla="*/ 24 h 51"/>
                <a:gd name="T44" fmla="*/ 0 w 96"/>
                <a:gd name="T45" fmla="*/ 33 h 51"/>
                <a:gd name="T46" fmla="*/ 2 w 96"/>
                <a:gd name="T47" fmla="*/ 38 h 51"/>
                <a:gd name="T48" fmla="*/ 5 w 96"/>
                <a:gd name="T49" fmla="*/ 44 h 51"/>
                <a:gd name="T50" fmla="*/ 8 w 96"/>
                <a:gd name="T51" fmla="*/ 51 h 51"/>
                <a:gd name="T52" fmla="*/ 10 w 96"/>
                <a:gd name="T53" fmla="*/ 48 h 51"/>
                <a:gd name="T54" fmla="*/ 7 w 96"/>
                <a:gd name="T55" fmla="*/ 41 h 51"/>
                <a:gd name="T56" fmla="*/ 5 w 96"/>
                <a:gd name="T57" fmla="*/ 36 h 51"/>
                <a:gd name="T58" fmla="*/ 3 w 96"/>
                <a:gd name="T59" fmla="*/ 29 h 51"/>
                <a:gd name="T60" fmla="*/ 3 w 96"/>
                <a:gd name="T61" fmla="*/ 21 h 51"/>
                <a:gd name="T62" fmla="*/ 5 w 96"/>
                <a:gd name="T63" fmla="*/ 14 h 51"/>
                <a:gd name="T64" fmla="*/ 7 w 96"/>
                <a:gd name="T65" fmla="*/ 8 h 51"/>
                <a:gd name="T66" fmla="*/ 10 w 96"/>
                <a:gd name="T67" fmla="*/ 1 h 51"/>
                <a:gd name="T68" fmla="*/ 8 w 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6" h="51">
                  <a:moveTo>
                    <a:pt x="96" y="24"/>
                  </a:moveTo>
                  <a:lnTo>
                    <a:pt x="96" y="21"/>
                  </a:lnTo>
                  <a:lnTo>
                    <a:pt x="96" y="18"/>
                  </a:lnTo>
                  <a:lnTo>
                    <a:pt x="95" y="14"/>
                  </a:lnTo>
                  <a:lnTo>
                    <a:pt x="95" y="11"/>
                  </a:lnTo>
                  <a:lnTo>
                    <a:pt x="93" y="8"/>
                  </a:lnTo>
                  <a:lnTo>
                    <a:pt x="91" y="4"/>
                  </a:lnTo>
                  <a:lnTo>
                    <a:pt x="90" y="1"/>
                  </a:lnTo>
                  <a:lnTo>
                    <a:pt x="88" y="0"/>
                  </a:lnTo>
                  <a:lnTo>
                    <a:pt x="85" y="0"/>
                  </a:lnTo>
                  <a:lnTo>
                    <a:pt x="86" y="1"/>
                  </a:lnTo>
                  <a:lnTo>
                    <a:pt x="88" y="4"/>
                  </a:lnTo>
                  <a:lnTo>
                    <a:pt x="90" y="8"/>
                  </a:lnTo>
                  <a:lnTo>
                    <a:pt x="91" y="11"/>
                  </a:lnTo>
                  <a:lnTo>
                    <a:pt x="91" y="14"/>
                  </a:lnTo>
                  <a:lnTo>
                    <a:pt x="93" y="18"/>
                  </a:lnTo>
                  <a:lnTo>
                    <a:pt x="93" y="21"/>
                  </a:lnTo>
                  <a:lnTo>
                    <a:pt x="93" y="24"/>
                  </a:lnTo>
                  <a:lnTo>
                    <a:pt x="93" y="29"/>
                  </a:lnTo>
                  <a:lnTo>
                    <a:pt x="93" y="33"/>
                  </a:lnTo>
                  <a:lnTo>
                    <a:pt x="91" y="36"/>
                  </a:lnTo>
                  <a:lnTo>
                    <a:pt x="91" y="38"/>
                  </a:lnTo>
                  <a:lnTo>
                    <a:pt x="90" y="41"/>
                  </a:lnTo>
                  <a:lnTo>
                    <a:pt x="88" y="44"/>
                  </a:lnTo>
                  <a:lnTo>
                    <a:pt x="86" y="48"/>
                  </a:lnTo>
                  <a:lnTo>
                    <a:pt x="85" y="51"/>
                  </a:lnTo>
                  <a:lnTo>
                    <a:pt x="90" y="51"/>
                  </a:lnTo>
                  <a:lnTo>
                    <a:pt x="91" y="48"/>
                  </a:lnTo>
                  <a:lnTo>
                    <a:pt x="91" y="44"/>
                  </a:lnTo>
                  <a:lnTo>
                    <a:pt x="93" y="41"/>
                  </a:lnTo>
                  <a:lnTo>
                    <a:pt x="95" y="38"/>
                  </a:lnTo>
                  <a:lnTo>
                    <a:pt x="95" y="34"/>
                  </a:lnTo>
                  <a:lnTo>
                    <a:pt x="96" y="33"/>
                  </a:lnTo>
                  <a:lnTo>
                    <a:pt x="96" y="28"/>
                  </a:lnTo>
                  <a:lnTo>
                    <a:pt x="96" y="24"/>
                  </a:lnTo>
                  <a:close/>
                  <a:moveTo>
                    <a:pt x="8" y="0"/>
                  </a:moveTo>
                  <a:lnTo>
                    <a:pt x="7" y="1"/>
                  </a:lnTo>
                  <a:lnTo>
                    <a:pt x="5" y="4"/>
                  </a:lnTo>
                  <a:lnTo>
                    <a:pt x="3" y="8"/>
                  </a:lnTo>
                  <a:lnTo>
                    <a:pt x="2" y="11"/>
                  </a:lnTo>
                  <a:lnTo>
                    <a:pt x="2" y="14"/>
                  </a:lnTo>
                  <a:lnTo>
                    <a:pt x="2" y="18"/>
                  </a:lnTo>
                  <a:lnTo>
                    <a:pt x="0" y="21"/>
                  </a:lnTo>
                  <a:lnTo>
                    <a:pt x="0" y="24"/>
                  </a:lnTo>
                  <a:lnTo>
                    <a:pt x="0" y="28"/>
                  </a:lnTo>
                  <a:lnTo>
                    <a:pt x="0" y="33"/>
                  </a:lnTo>
                  <a:lnTo>
                    <a:pt x="2" y="34"/>
                  </a:lnTo>
                  <a:lnTo>
                    <a:pt x="2" y="38"/>
                  </a:lnTo>
                  <a:lnTo>
                    <a:pt x="3" y="41"/>
                  </a:lnTo>
                  <a:lnTo>
                    <a:pt x="5" y="44"/>
                  </a:lnTo>
                  <a:lnTo>
                    <a:pt x="7" y="48"/>
                  </a:lnTo>
                  <a:lnTo>
                    <a:pt x="8" y="51"/>
                  </a:lnTo>
                  <a:lnTo>
                    <a:pt x="12" y="51"/>
                  </a:lnTo>
                  <a:lnTo>
                    <a:pt x="10" y="48"/>
                  </a:lnTo>
                  <a:lnTo>
                    <a:pt x="8" y="44"/>
                  </a:lnTo>
                  <a:lnTo>
                    <a:pt x="7" y="41"/>
                  </a:lnTo>
                  <a:lnTo>
                    <a:pt x="5" y="38"/>
                  </a:lnTo>
                  <a:lnTo>
                    <a:pt x="5" y="36"/>
                  </a:lnTo>
                  <a:lnTo>
                    <a:pt x="5" y="33"/>
                  </a:lnTo>
                  <a:lnTo>
                    <a:pt x="3" y="29"/>
                  </a:lnTo>
                  <a:lnTo>
                    <a:pt x="3" y="24"/>
                  </a:lnTo>
                  <a:lnTo>
                    <a:pt x="3" y="21"/>
                  </a:lnTo>
                  <a:lnTo>
                    <a:pt x="5" y="18"/>
                  </a:lnTo>
                  <a:lnTo>
                    <a:pt x="5" y="14"/>
                  </a:lnTo>
                  <a:lnTo>
                    <a:pt x="7" y="11"/>
                  </a:lnTo>
                  <a:lnTo>
                    <a:pt x="7" y="8"/>
                  </a:lnTo>
                  <a:lnTo>
                    <a:pt x="8" y="4"/>
                  </a:lnTo>
                  <a:lnTo>
                    <a:pt x="10" y="1"/>
                  </a:lnTo>
                  <a:lnTo>
                    <a:pt x="12" y="0"/>
                  </a:lnTo>
                  <a:lnTo>
                    <a:pt x="8"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7" name="Freeform 489">
              <a:extLst>
                <a:ext uri="{FF2B5EF4-FFF2-40B4-BE49-F238E27FC236}">
                  <a16:creationId xmlns:a16="http://schemas.microsoft.com/office/drawing/2014/main" id="{ED85CE47-38CA-409F-F8A7-2728E836B6BF}"/>
                </a:ext>
              </a:extLst>
            </p:cNvPr>
            <p:cNvSpPr>
              <a:spLocks noEditPoints="1"/>
            </p:cNvSpPr>
            <p:nvPr/>
          </p:nvSpPr>
          <p:spPr bwMode="auto">
            <a:xfrm>
              <a:off x="1565" y="1713"/>
              <a:ext cx="93" cy="51"/>
            </a:xfrm>
            <a:custGeom>
              <a:avLst/>
              <a:gdLst>
                <a:gd name="T0" fmla="*/ 93 w 93"/>
                <a:gd name="T1" fmla="*/ 21 h 51"/>
                <a:gd name="T2" fmla="*/ 91 w 93"/>
                <a:gd name="T3" fmla="*/ 14 h 51"/>
                <a:gd name="T4" fmla="*/ 89 w 93"/>
                <a:gd name="T5" fmla="*/ 8 h 51"/>
                <a:gd name="T6" fmla="*/ 86 w 93"/>
                <a:gd name="T7" fmla="*/ 1 h 51"/>
                <a:gd name="T8" fmla="*/ 81 w 93"/>
                <a:gd name="T9" fmla="*/ 0 h 51"/>
                <a:gd name="T10" fmla="*/ 84 w 93"/>
                <a:gd name="T11" fmla="*/ 4 h 51"/>
                <a:gd name="T12" fmla="*/ 88 w 93"/>
                <a:gd name="T13" fmla="*/ 11 h 51"/>
                <a:gd name="T14" fmla="*/ 89 w 93"/>
                <a:gd name="T15" fmla="*/ 18 h 51"/>
                <a:gd name="T16" fmla="*/ 89 w 93"/>
                <a:gd name="T17" fmla="*/ 24 h 51"/>
                <a:gd name="T18" fmla="*/ 89 w 93"/>
                <a:gd name="T19" fmla="*/ 33 h 51"/>
                <a:gd name="T20" fmla="*/ 88 w 93"/>
                <a:gd name="T21" fmla="*/ 39 h 51"/>
                <a:gd name="T22" fmla="*/ 84 w 93"/>
                <a:gd name="T23" fmla="*/ 44 h 51"/>
                <a:gd name="T24" fmla="*/ 81 w 93"/>
                <a:gd name="T25" fmla="*/ 51 h 51"/>
                <a:gd name="T26" fmla="*/ 86 w 93"/>
                <a:gd name="T27" fmla="*/ 48 h 51"/>
                <a:gd name="T28" fmla="*/ 89 w 93"/>
                <a:gd name="T29" fmla="*/ 41 h 51"/>
                <a:gd name="T30" fmla="*/ 91 w 93"/>
                <a:gd name="T31" fmla="*/ 36 h 51"/>
                <a:gd name="T32" fmla="*/ 93 w 93"/>
                <a:gd name="T33" fmla="*/ 28 h 51"/>
                <a:gd name="T34" fmla="*/ 8 w 93"/>
                <a:gd name="T35" fmla="*/ 0 h 51"/>
                <a:gd name="T36" fmla="*/ 5 w 93"/>
                <a:gd name="T37" fmla="*/ 4 h 51"/>
                <a:gd name="T38" fmla="*/ 1 w 93"/>
                <a:gd name="T39" fmla="*/ 11 h 51"/>
                <a:gd name="T40" fmla="*/ 1 w 93"/>
                <a:gd name="T41" fmla="*/ 18 h 51"/>
                <a:gd name="T42" fmla="*/ 0 w 93"/>
                <a:gd name="T43" fmla="*/ 24 h 51"/>
                <a:gd name="T44" fmla="*/ 1 w 93"/>
                <a:gd name="T45" fmla="*/ 33 h 51"/>
                <a:gd name="T46" fmla="*/ 1 w 93"/>
                <a:gd name="T47" fmla="*/ 38 h 51"/>
                <a:gd name="T48" fmla="*/ 5 w 93"/>
                <a:gd name="T49" fmla="*/ 44 h 51"/>
                <a:gd name="T50" fmla="*/ 8 w 93"/>
                <a:gd name="T51" fmla="*/ 51 h 51"/>
                <a:gd name="T52" fmla="*/ 10 w 93"/>
                <a:gd name="T53" fmla="*/ 48 h 51"/>
                <a:gd name="T54" fmla="*/ 6 w 93"/>
                <a:gd name="T55" fmla="*/ 41 h 51"/>
                <a:gd name="T56" fmla="*/ 5 w 93"/>
                <a:gd name="T57" fmla="*/ 36 h 51"/>
                <a:gd name="T58" fmla="*/ 3 w 93"/>
                <a:gd name="T59" fmla="*/ 29 h 51"/>
                <a:gd name="T60" fmla="*/ 3 w 93"/>
                <a:gd name="T61" fmla="*/ 21 h 51"/>
                <a:gd name="T62" fmla="*/ 5 w 93"/>
                <a:gd name="T63" fmla="*/ 14 h 51"/>
                <a:gd name="T64" fmla="*/ 6 w 93"/>
                <a:gd name="T65" fmla="*/ 8 h 51"/>
                <a:gd name="T66" fmla="*/ 10 w 93"/>
                <a:gd name="T67" fmla="*/ 1 h 51"/>
                <a:gd name="T68" fmla="*/ 8 w 9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3" h="51">
                  <a:moveTo>
                    <a:pt x="93" y="24"/>
                  </a:moveTo>
                  <a:lnTo>
                    <a:pt x="93" y="21"/>
                  </a:lnTo>
                  <a:lnTo>
                    <a:pt x="93" y="18"/>
                  </a:lnTo>
                  <a:lnTo>
                    <a:pt x="91" y="14"/>
                  </a:lnTo>
                  <a:lnTo>
                    <a:pt x="91" y="11"/>
                  </a:lnTo>
                  <a:lnTo>
                    <a:pt x="89" y="8"/>
                  </a:lnTo>
                  <a:lnTo>
                    <a:pt x="88" y="4"/>
                  </a:lnTo>
                  <a:lnTo>
                    <a:pt x="86" y="1"/>
                  </a:lnTo>
                  <a:lnTo>
                    <a:pt x="84" y="0"/>
                  </a:lnTo>
                  <a:lnTo>
                    <a:pt x="81" y="0"/>
                  </a:lnTo>
                  <a:lnTo>
                    <a:pt x="83" y="1"/>
                  </a:lnTo>
                  <a:lnTo>
                    <a:pt x="84" y="4"/>
                  </a:lnTo>
                  <a:lnTo>
                    <a:pt x="86" y="8"/>
                  </a:lnTo>
                  <a:lnTo>
                    <a:pt x="88" y="11"/>
                  </a:lnTo>
                  <a:lnTo>
                    <a:pt x="88" y="14"/>
                  </a:lnTo>
                  <a:lnTo>
                    <a:pt x="89" y="18"/>
                  </a:lnTo>
                  <a:lnTo>
                    <a:pt x="89" y="21"/>
                  </a:lnTo>
                  <a:lnTo>
                    <a:pt x="89" y="24"/>
                  </a:lnTo>
                  <a:lnTo>
                    <a:pt x="89" y="29"/>
                  </a:lnTo>
                  <a:lnTo>
                    <a:pt x="89" y="33"/>
                  </a:lnTo>
                  <a:lnTo>
                    <a:pt x="88" y="36"/>
                  </a:lnTo>
                  <a:lnTo>
                    <a:pt x="88" y="39"/>
                  </a:lnTo>
                  <a:lnTo>
                    <a:pt x="86" y="41"/>
                  </a:lnTo>
                  <a:lnTo>
                    <a:pt x="84" y="44"/>
                  </a:lnTo>
                  <a:lnTo>
                    <a:pt x="83" y="48"/>
                  </a:lnTo>
                  <a:lnTo>
                    <a:pt x="81" y="51"/>
                  </a:lnTo>
                  <a:lnTo>
                    <a:pt x="84" y="51"/>
                  </a:lnTo>
                  <a:lnTo>
                    <a:pt x="86" y="48"/>
                  </a:lnTo>
                  <a:lnTo>
                    <a:pt x="88" y="44"/>
                  </a:lnTo>
                  <a:lnTo>
                    <a:pt x="89" y="41"/>
                  </a:lnTo>
                  <a:lnTo>
                    <a:pt x="91" y="38"/>
                  </a:lnTo>
                  <a:lnTo>
                    <a:pt x="91" y="36"/>
                  </a:lnTo>
                  <a:lnTo>
                    <a:pt x="93" y="33"/>
                  </a:lnTo>
                  <a:lnTo>
                    <a:pt x="93" y="28"/>
                  </a:lnTo>
                  <a:lnTo>
                    <a:pt x="93" y="24"/>
                  </a:lnTo>
                  <a:close/>
                  <a:moveTo>
                    <a:pt x="8" y="0"/>
                  </a:moveTo>
                  <a:lnTo>
                    <a:pt x="6" y="1"/>
                  </a:lnTo>
                  <a:lnTo>
                    <a:pt x="5" y="4"/>
                  </a:lnTo>
                  <a:lnTo>
                    <a:pt x="3" y="8"/>
                  </a:lnTo>
                  <a:lnTo>
                    <a:pt x="1" y="11"/>
                  </a:lnTo>
                  <a:lnTo>
                    <a:pt x="1" y="14"/>
                  </a:lnTo>
                  <a:lnTo>
                    <a:pt x="1" y="18"/>
                  </a:lnTo>
                  <a:lnTo>
                    <a:pt x="0" y="21"/>
                  </a:lnTo>
                  <a:lnTo>
                    <a:pt x="0" y="24"/>
                  </a:lnTo>
                  <a:lnTo>
                    <a:pt x="0" y="28"/>
                  </a:lnTo>
                  <a:lnTo>
                    <a:pt x="1" y="33"/>
                  </a:lnTo>
                  <a:lnTo>
                    <a:pt x="1" y="36"/>
                  </a:lnTo>
                  <a:lnTo>
                    <a:pt x="1" y="38"/>
                  </a:lnTo>
                  <a:lnTo>
                    <a:pt x="3" y="41"/>
                  </a:lnTo>
                  <a:lnTo>
                    <a:pt x="5" y="44"/>
                  </a:lnTo>
                  <a:lnTo>
                    <a:pt x="6" y="48"/>
                  </a:lnTo>
                  <a:lnTo>
                    <a:pt x="8" y="51"/>
                  </a:lnTo>
                  <a:lnTo>
                    <a:pt x="11" y="51"/>
                  </a:lnTo>
                  <a:lnTo>
                    <a:pt x="10" y="48"/>
                  </a:lnTo>
                  <a:lnTo>
                    <a:pt x="8" y="44"/>
                  </a:lnTo>
                  <a:lnTo>
                    <a:pt x="6" y="41"/>
                  </a:lnTo>
                  <a:lnTo>
                    <a:pt x="5" y="39"/>
                  </a:lnTo>
                  <a:lnTo>
                    <a:pt x="5" y="36"/>
                  </a:lnTo>
                  <a:lnTo>
                    <a:pt x="5" y="33"/>
                  </a:lnTo>
                  <a:lnTo>
                    <a:pt x="3" y="29"/>
                  </a:lnTo>
                  <a:lnTo>
                    <a:pt x="3" y="24"/>
                  </a:lnTo>
                  <a:lnTo>
                    <a:pt x="3" y="21"/>
                  </a:lnTo>
                  <a:lnTo>
                    <a:pt x="5" y="18"/>
                  </a:lnTo>
                  <a:lnTo>
                    <a:pt x="5" y="14"/>
                  </a:lnTo>
                  <a:lnTo>
                    <a:pt x="6" y="11"/>
                  </a:lnTo>
                  <a:lnTo>
                    <a:pt x="6" y="8"/>
                  </a:lnTo>
                  <a:lnTo>
                    <a:pt x="8" y="4"/>
                  </a:lnTo>
                  <a:lnTo>
                    <a:pt x="10" y="1"/>
                  </a:lnTo>
                  <a:lnTo>
                    <a:pt x="13" y="0"/>
                  </a:lnTo>
                  <a:lnTo>
                    <a:pt x="8"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8" name="Freeform 490">
              <a:extLst>
                <a:ext uri="{FF2B5EF4-FFF2-40B4-BE49-F238E27FC236}">
                  <a16:creationId xmlns:a16="http://schemas.microsoft.com/office/drawing/2014/main" id="{C1C1105F-EC43-B8EC-7A67-14861E8518F9}"/>
                </a:ext>
              </a:extLst>
            </p:cNvPr>
            <p:cNvSpPr>
              <a:spLocks noEditPoints="1"/>
            </p:cNvSpPr>
            <p:nvPr/>
          </p:nvSpPr>
          <p:spPr bwMode="auto">
            <a:xfrm>
              <a:off x="1566" y="1713"/>
              <a:ext cx="90" cy="51"/>
            </a:xfrm>
            <a:custGeom>
              <a:avLst/>
              <a:gdLst>
                <a:gd name="T0" fmla="*/ 90 w 90"/>
                <a:gd name="T1" fmla="*/ 21 h 51"/>
                <a:gd name="T2" fmla="*/ 88 w 90"/>
                <a:gd name="T3" fmla="*/ 14 h 51"/>
                <a:gd name="T4" fmla="*/ 87 w 90"/>
                <a:gd name="T5" fmla="*/ 8 h 51"/>
                <a:gd name="T6" fmla="*/ 83 w 90"/>
                <a:gd name="T7" fmla="*/ 1 h 51"/>
                <a:gd name="T8" fmla="*/ 77 w 90"/>
                <a:gd name="T9" fmla="*/ 0 h 51"/>
                <a:gd name="T10" fmla="*/ 82 w 90"/>
                <a:gd name="T11" fmla="*/ 4 h 51"/>
                <a:gd name="T12" fmla="*/ 83 w 90"/>
                <a:gd name="T13" fmla="*/ 11 h 51"/>
                <a:gd name="T14" fmla="*/ 87 w 90"/>
                <a:gd name="T15" fmla="*/ 18 h 51"/>
                <a:gd name="T16" fmla="*/ 87 w 90"/>
                <a:gd name="T17" fmla="*/ 24 h 51"/>
                <a:gd name="T18" fmla="*/ 87 w 90"/>
                <a:gd name="T19" fmla="*/ 33 h 51"/>
                <a:gd name="T20" fmla="*/ 85 w 90"/>
                <a:gd name="T21" fmla="*/ 39 h 51"/>
                <a:gd name="T22" fmla="*/ 82 w 90"/>
                <a:gd name="T23" fmla="*/ 44 h 51"/>
                <a:gd name="T24" fmla="*/ 78 w 90"/>
                <a:gd name="T25" fmla="*/ 51 h 51"/>
                <a:gd name="T26" fmla="*/ 83 w 90"/>
                <a:gd name="T27" fmla="*/ 48 h 51"/>
                <a:gd name="T28" fmla="*/ 87 w 90"/>
                <a:gd name="T29" fmla="*/ 41 h 51"/>
                <a:gd name="T30" fmla="*/ 88 w 90"/>
                <a:gd name="T31" fmla="*/ 36 h 51"/>
                <a:gd name="T32" fmla="*/ 90 w 90"/>
                <a:gd name="T33" fmla="*/ 29 h 51"/>
                <a:gd name="T34" fmla="*/ 9 w 90"/>
                <a:gd name="T35" fmla="*/ 0 h 51"/>
                <a:gd name="T36" fmla="*/ 5 w 90"/>
                <a:gd name="T37" fmla="*/ 4 h 51"/>
                <a:gd name="T38" fmla="*/ 4 w 90"/>
                <a:gd name="T39" fmla="*/ 11 h 51"/>
                <a:gd name="T40" fmla="*/ 2 w 90"/>
                <a:gd name="T41" fmla="*/ 18 h 51"/>
                <a:gd name="T42" fmla="*/ 0 w 90"/>
                <a:gd name="T43" fmla="*/ 24 h 51"/>
                <a:gd name="T44" fmla="*/ 2 w 90"/>
                <a:gd name="T45" fmla="*/ 33 h 51"/>
                <a:gd name="T46" fmla="*/ 2 w 90"/>
                <a:gd name="T47" fmla="*/ 38 h 51"/>
                <a:gd name="T48" fmla="*/ 5 w 90"/>
                <a:gd name="T49" fmla="*/ 44 h 51"/>
                <a:gd name="T50" fmla="*/ 9 w 90"/>
                <a:gd name="T51" fmla="*/ 51 h 51"/>
                <a:gd name="T52" fmla="*/ 10 w 90"/>
                <a:gd name="T53" fmla="*/ 48 h 51"/>
                <a:gd name="T54" fmla="*/ 7 w 90"/>
                <a:gd name="T55" fmla="*/ 41 h 51"/>
                <a:gd name="T56" fmla="*/ 5 w 90"/>
                <a:gd name="T57" fmla="*/ 36 h 51"/>
                <a:gd name="T58" fmla="*/ 4 w 90"/>
                <a:gd name="T59" fmla="*/ 29 h 51"/>
                <a:gd name="T60" fmla="*/ 4 w 90"/>
                <a:gd name="T61" fmla="*/ 21 h 51"/>
                <a:gd name="T62" fmla="*/ 5 w 90"/>
                <a:gd name="T63" fmla="*/ 14 h 51"/>
                <a:gd name="T64" fmla="*/ 7 w 90"/>
                <a:gd name="T65" fmla="*/ 8 h 51"/>
                <a:gd name="T66" fmla="*/ 12 w 90"/>
                <a:gd name="T67" fmla="*/ 1 h 51"/>
                <a:gd name="T68" fmla="*/ 9 w 9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0" h="51">
                  <a:moveTo>
                    <a:pt x="90" y="24"/>
                  </a:moveTo>
                  <a:lnTo>
                    <a:pt x="90" y="21"/>
                  </a:lnTo>
                  <a:lnTo>
                    <a:pt x="90" y="18"/>
                  </a:lnTo>
                  <a:lnTo>
                    <a:pt x="88" y="14"/>
                  </a:lnTo>
                  <a:lnTo>
                    <a:pt x="88" y="11"/>
                  </a:lnTo>
                  <a:lnTo>
                    <a:pt x="87" y="8"/>
                  </a:lnTo>
                  <a:lnTo>
                    <a:pt x="85" y="4"/>
                  </a:lnTo>
                  <a:lnTo>
                    <a:pt x="83" y="1"/>
                  </a:lnTo>
                  <a:lnTo>
                    <a:pt x="82" y="0"/>
                  </a:lnTo>
                  <a:lnTo>
                    <a:pt x="77" y="0"/>
                  </a:lnTo>
                  <a:lnTo>
                    <a:pt x="80" y="1"/>
                  </a:lnTo>
                  <a:lnTo>
                    <a:pt x="82" y="4"/>
                  </a:lnTo>
                  <a:lnTo>
                    <a:pt x="83" y="8"/>
                  </a:lnTo>
                  <a:lnTo>
                    <a:pt x="83" y="11"/>
                  </a:lnTo>
                  <a:lnTo>
                    <a:pt x="85" y="14"/>
                  </a:lnTo>
                  <a:lnTo>
                    <a:pt x="87" y="18"/>
                  </a:lnTo>
                  <a:lnTo>
                    <a:pt x="87" y="21"/>
                  </a:lnTo>
                  <a:lnTo>
                    <a:pt x="87" y="24"/>
                  </a:lnTo>
                  <a:lnTo>
                    <a:pt x="87" y="29"/>
                  </a:lnTo>
                  <a:lnTo>
                    <a:pt x="87" y="33"/>
                  </a:lnTo>
                  <a:lnTo>
                    <a:pt x="85" y="36"/>
                  </a:lnTo>
                  <a:lnTo>
                    <a:pt x="85" y="39"/>
                  </a:lnTo>
                  <a:lnTo>
                    <a:pt x="83" y="41"/>
                  </a:lnTo>
                  <a:lnTo>
                    <a:pt x="82" y="44"/>
                  </a:lnTo>
                  <a:lnTo>
                    <a:pt x="80" y="48"/>
                  </a:lnTo>
                  <a:lnTo>
                    <a:pt x="78" y="51"/>
                  </a:lnTo>
                  <a:lnTo>
                    <a:pt x="82" y="51"/>
                  </a:lnTo>
                  <a:lnTo>
                    <a:pt x="83" y="48"/>
                  </a:lnTo>
                  <a:lnTo>
                    <a:pt x="85" y="44"/>
                  </a:lnTo>
                  <a:lnTo>
                    <a:pt x="87" y="41"/>
                  </a:lnTo>
                  <a:lnTo>
                    <a:pt x="88" y="38"/>
                  </a:lnTo>
                  <a:lnTo>
                    <a:pt x="88" y="36"/>
                  </a:lnTo>
                  <a:lnTo>
                    <a:pt x="90" y="33"/>
                  </a:lnTo>
                  <a:lnTo>
                    <a:pt x="90" y="29"/>
                  </a:lnTo>
                  <a:lnTo>
                    <a:pt x="90" y="24"/>
                  </a:lnTo>
                  <a:close/>
                  <a:moveTo>
                    <a:pt x="9" y="0"/>
                  </a:moveTo>
                  <a:lnTo>
                    <a:pt x="7" y="1"/>
                  </a:lnTo>
                  <a:lnTo>
                    <a:pt x="5" y="4"/>
                  </a:lnTo>
                  <a:lnTo>
                    <a:pt x="4" y="8"/>
                  </a:lnTo>
                  <a:lnTo>
                    <a:pt x="4" y="11"/>
                  </a:lnTo>
                  <a:lnTo>
                    <a:pt x="2" y="14"/>
                  </a:lnTo>
                  <a:lnTo>
                    <a:pt x="2" y="18"/>
                  </a:lnTo>
                  <a:lnTo>
                    <a:pt x="0" y="21"/>
                  </a:lnTo>
                  <a:lnTo>
                    <a:pt x="0" y="24"/>
                  </a:lnTo>
                  <a:lnTo>
                    <a:pt x="0" y="29"/>
                  </a:lnTo>
                  <a:lnTo>
                    <a:pt x="2" y="33"/>
                  </a:lnTo>
                  <a:lnTo>
                    <a:pt x="2" y="36"/>
                  </a:lnTo>
                  <a:lnTo>
                    <a:pt x="2" y="38"/>
                  </a:lnTo>
                  <a:lnTo>
                    <a:pt x="4" y="41"/>
                  </a:lnTo>
                  <a:lnTo>
                    <a:pt x="5" y="44"/>
                  </a:lnTo>
                  <a:lnTo>
                    <a:pt x="7" y="48"/>
                  </a:lnTo>
                  <a:lnTo>
                    <a:pt x="9" y="51"/>
                  </a:lnTo>
                  <a:lnTo>
                    <a:pt x="12" y="51"/>
                  </a:lnTo>
                  <a:lnTo>
                    <a:pt x="10" y="48"/>
                  </a:lnTo>
                  <a:lnTo>
                    <a:pt x="9" y="44"/>
                  </a:lnTo>
                  <a:lnTo>
                    <a:pt x="7" y="41"/>
                  </a:lnTo>
                  <a:lnTo>
                    <a:pt x="7" y="39"/>
                  </a:lnTo>
                  <a:lnTo>
                    <a:pt x="5" y="36"/>
                  </a:lnTo>
                  <a:lnTo>
                    <a:pt x="5" y="33"/>
                  </a:lnTo>
                  <a:lnTo>
                    <a:pt x="4" y="29"/>
                  </a:lnTo>
                  <a:lnTo>
                    <a:pt x="4" y="24"/>
                  </a:lnTo>
                  <a:lnTo>
                    <a:pt x="4" y="21"/>
                  </a:lnTo>
                  <a:lnTo>
                    <a:pt x="5" y="18"/>
                  </a:lnTo>
                  <a:lnTo>
                    <a:pt x="5" y="14"/>
                  </a:lnTo>
                  <a:lnTo>
                    <a:pt x="7" y="11"/>
                  </a:lnTo>
                  <a:lnTo>
                    <a:pt x="7" y="8"/>
                  </a:lnTo>
                  <a:lnTo>
                    <a:pt x="9" y="4"/>
                  </a:lnTo>
                  <a:lnTo>
                    <a:pt x="12" y="1"/>
                  </a:lnTo>
                  <a:lnTo>
                    <a:pt x="14" y="0"/>
                  </a:lnTo>
                  <a:lnTo>
                    <a:pt x="9"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9" name="Freeform 491">
              <a:extLst>
                <a:ext uri="{FF2B5EF4-FFF2-40B4-BE49-F238E27FC236}">
                  <a16:creationId xmlns:a16="http://schemas.microsoft.com/office/drawing/2014/main" id="{7B4FD78A-682B-4653-1DCD-0256CAA6C478}"/>
                </a:ext>
              </a:extLst>
            </p:cNvPr>
            <p:cNvSpPr>
              <a:spLocks noEditPoints="1"/>
            </p:cNvSpPr>
            <p:nvPr/>
          </p:nvSpPr>
          <p:spPr bwMode="auto">
            <a:xfrm>
              <a:off x="1568" y="1713"/>
              <a:ext cx="86" cy="51"/>
            </a:xfrm>
            <a:custGeom>
              <a:avLst/>
              <a:gdLst>
                <a:gd name="T0" fmla="*/ 86 w 86"/>
                <a:gd name="T1" fmla="*/ 21 h 51"/>
                <a:gd name="T2" fmla="*/ 85 w 86"/>
                <a:gd name="T3" fmla="*/ 14 h 51"/>
                <a:gd name="T4" fmla="*/ 83 w 86"/>
                <a:gd name="T5" fmla="*/ 8 h 51"/>
                <a:gd name="T6" fmla="*/ 80 w 86"/>
                <a:gd name="T7" fmla="*/ 1 h 51"/>
                <a:gd name="T8" fmla="*/ 73 w 86"/>
                <a:gd name="T9" fmla="*/ 0 h 51"/>
                <a:gd name="T10" fmla="*/ 78 w 86"/>
                <a:gd name="T11" fmla="*/ 4 h 51"/>
                <a:gd name="T12" fmla="*/ 80 w 86"/>
                <a:gd name="T13" fmla="*/ 11 h 51"/>
                <a:gd name="T14" fmla="*/ 83 w 86"/>
                <a:gd name="T15" fmla="*/ 18 h 51"/>
                <a:gd name="T16" fmla="*/ 83 w 86"/>
                <a:gd name="T17" fmla="*/ 24 h 51"/>
                <a:gd name="T18" fmla="*/ 83 w 86"/>
                <a:gd name="T19" fmla="*/ 33 h 51"/>
                <a:gd name="T20" fmla="*/ 81 w 86"/>
                <a:gd name="T21" fmla="*/ 39 h 51"/>
                <a:gd name="T22" fmla="*/ 78 w 86"/>
                <a:gd name="T23" fmla="*/ 44 h 51"/>
                <a:gd name="T24" fmla="*/ 75 w 86"/>
                <a:gd name="T25" fmla="*/ 51 h 51"/>
                <a:gd name="T26" fmla="*/ 80 w 86"/>
                <a:gd name="T27" fmla="*/ 48 h 51"/>
                <a:gd name="T28" fmla="*/ 83 w 86"/>
                <a:gd name="T29" fmla="*/ 41 h 51"/>
                <a:gd name="T30" fmla="*/ 85 w 86"/>
                <a:gd name="T31" fmla="*/ 36 h 51"/>
                <a:gd name="T32" fmla="*/ 86 w 86"/>
                <a:gd name="T33" fmla="*/ 29 h 51"/>
                <a:gd name="T34" fmla="*/ 10 w 86"/>
                <a:gd name="T35" fmla="*/ 0 h 51"/>
                <a:gd name="T36" fmla="*/ 5 w 86"/>
                <a:gd name="T37" fmla="*/ 4 h 51"/>
                <a:gd name="T38" fmla="*/ 3 w 86"/>
                <a:gd name="T39" fmla="*/ 11 h 51"/>
                <a:gd name="T40" fmla="*/ 2 w 86"/>
                <a:gd name="T41" fmla="*/ 18 h 51"/>
                <a:gd name="T42" fmla="*/ 0 w 86"/>
                <a:gd name="T43" fmla="*/ 24 h 51"/>
                <a:gd name="T44" fmla="*/ 2 w 86"/>
                <a:gd name="T45" fmla="*/ 33 h 51"/>
                <a:gd name="T46" fmla="*/ 2 w 86"/>
                <a:gd name="T47" fmla="*/ 39 h 51"/>
                <a:gd name="T48" fmla="*/ 5 w 86"/>
                <a:gd name="T49" fmla="*/ 44 h 51"/>
                <a:gd name="T50" fmla="*/ 8 w 86"/>
                <a:gd name="T51" fmla="*/ 51 h 51"/>
                <a:gd name="T52" fmla="*/ 10 w 86"/>
                <a:gd name="T53" fmla="*/ 48 h 51"/>
                <a:gd name="T54" fmla="*/ 7 w 86"/>
                <a:gd name="T55" fmla="*/ 41 h 51"/>
                <a:gd name="T56" fmla="*/ 5 w 86"/>
                <a:gd name="T57" fmla="*/ 36 h 51"/>
                <a:gd name="T58" fmla="*/ 3 w 86"/>
                <a:gd name="T59" fmla="*/ 29 h 51"/>
                <a:gd name="T60" fmla="*/ 3 w 86"/>
                <a:gd name="T61" fmla="*/ 21 h 51"/>
                <a:gd name="T62" fmla="*/ 5 w 86"/>
                <a:gd name="T63" fmla="*/ 14 h 51"/>
                <a:gd name="T64" fmla="*/ 8 w 86"/>
                <a:gd name="T65" fmla="*/ 8 h 51"/>
                <a:gd name="T66" fmla="*/ 12 w 86"/>
                <a:gd name="T67" fmla="*/ 1 h 51"/>
                <a:gd name="T68" fmla="*/ 10 w 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86" h="51">
                  <a:moveTo>
                    <a:pt x="86" y="24"/>
                  </a:moveTo>
                  <a:lnTo>
                    <a:pt x="86" y="21"/>
                  </a:lnTo>
                  <a:lnTo>
                    <a:pt x="86" y="18"/>
                  </a:lnTo>
                  <a:lnTo>
                    <a:pt x="85" y="14"/>
                  </a:lnTo>
                  <a:lnTo>
                    <a:pt x="85" y="11"/>
                  </a:lnTo>
                  <a:lnTo>
                    <a:pt x="83" y="8"/>
                  </a:lnTo>
                  <a:lnTo>
                    <a:pt x="81" y="4"/>
                  </a:lnTo>
                  <a:lnTo>
                    <a:pt x="80" y="1"/>
                  </a:lnTo>
                  <a:lnTo>
                    <a:pt x="78" y="0"/>
                  </a:lnTo>
                  <a:lnTo>
                    <a:pt x="73" y="0"/>
                  </a:lnTo>
                  <a:lnTo>
                    <a:pt x="75" y="1"/>
                  </a:lnTo>
                  <a:lnTo>
                    <a:pt x="78" y="4"/>
                  </a:lnTo>
                  <a:lnTo>
                    <a:pt x="80" y="8"/>
                  </a:lnTo>
                  <a:lnTo>
                    <a:pt x="80" y="11"/>
                  </a:lnTo>
                  <a:lnTo>
                    <a:pt x="81" y="14"/>
                  </a:lnTo>
                  <a:lnTo>
                    <a:pt x="83" y="18"/>
                  </a:lnTo>
                  <a:lnTo>
                    <a:pt x="83" y="21"/>
                  </a:lnTo>
                  <a:lnTo>
                    <a:pt x="83" y="24"/>
                  </a:lnTo>
                  <a:lnTo>
                    <a:pt x="83" y="29"/>
                  </a:lnTo>
                  <a:lnTo>
                    <a:pt x="83" y="33"/>
                  </a:lnTo>
                  <a:lnTo>
                    <a:pt x="81" y="36"/>
                  </a:lnTo>
                  <a:lnTo>
                    <a:pt x="81" y="39"/>
                  </a:lnTo>
                  <a:lnTo>
                    <a:pt x="80" y="41"/>
                  </a:lnTo>
                  <a:lnTo>
                    <a:pt x="78" y="44"/>
                  </a:lnTo>
                  <a:lnTo>
                    <a:pt x="76" y="48"/>
                  </a:lnTo>
                  <a:lnTo>
                    <a:pt x="75" y="51"/>
                  </a:lnTo>
                  <a:lnTo>
                    <a:pt x="78" y="51"/>
                  </a:lnTo>
                  <a:lnTo>
                    <a:pt x="80" y="48"/>
                  </a:lnTo>
                  <a:lnTo>
                    <a:pt x="81" y="44"/>
                  </a:lnTo>
                  <a:lnTo>
                    <a:pt x="83" y="41"/>
                  </a:lnTo>
                  <a:lnTo>
                    <a:pt x="85" y="39"/>
                  </a:lnTo>
                  <a:lnTo>
                    <a:pt x="85" y="36"/>
                  </a:lnTo>
                  <a:lnTo>
                    <a:pt x="86" y="33"/>
                  </a:lnTo>
                  <a:lnTo>
                    <a:pt x="86" y="29"/>
                  </a:lnTo>
                  <a:lnTo>
                    <a:pt x="86" y="24"/>
                  </a:lnTo>
                  <a:close/>
                  <a:moveTo>
                    <a:pt x="10" y="0"/>
                  </a:moveTo>
                  <a:lnTo>
                    <a:pt x="7" y="1"/>
                  </a:lnTo>
                  <a:lnTo>
                    <a:pt x="5" y="4"/>
                  </a:lnTo>
                  <a:lnTo>
                    <a:pt x="3" y="8"/>
                  </a:lnTo>
                  <a:lnTo>
                    <a:pt x="3" y="11"/>
                  </a:lnTo>
                  <a:lnTo>
                    <a:pt x="2" y="14"/>
                  </a:lnTo>
                  <a:lnTo>
                    <a:pt x="2" y="18"/>
                  </a:lnTo>
                  <a:lnTo>
                    <a:pt x="0" y="21"/>
                  </a:lnTo>
                  <a:lnTo>
                    <a:pt x="0" y="24"/>
                  </a:lnTo>
                  <a:lnTo>
                    <a:pt x="0" y="29"/>
                  </a:lnTo>
                  <a:lnTo>
                    <a:pt x="2" y="33"/>
                  </a:lnTo>
                  <a:lnTo>
                    <a:pt x="2" y="36"/>
                  </a:lnTo>
                  <a:lnTo>
                    <a:pt x="2" y="39"/>
                  </a:lnTo>
                  <a:lnTo>
                    <a:pt x="3" y="41"/>
                  </a:lnTo>
                  <a:lnTo>
                    <a:pt x="5" y="44"/>
                  </a:lnTo>
                  <a:lnTo>
                    <a:pt x="7" y="48"/>
                  </a:lnTo>
                  <a:lnTo>
                    <a:pt x="8" y="51"/>
                  </a:lnTo>
                  <a:lnTo>
                    <a:pt x="13" y="51"/>
                  </a:lnTo>
                  <a:lnTo>
                    <a:pt x="10" y="48"/>
                  </a:lnTo>
                  <a:lnTo>
                    <a:pt x="8" y="44"/>
                  </a:lnTo>
                  <a:lnTo>
                    <a:pt x="7" y="41"/>
                  </a:lnTo>
                  <a:lnTo>
                    <a:pt x="7" y="39"/>
                  </a:lnTo>
                  <a:lnTo>
                    <a:pt x="5" y="36"/>
                  </a:lnTo>
                  <a:lnTo>
                    <a:pt x="5" y="33"/>
                  </a:lnTo>
                  <a:lnTo>
                    <a:pt x="3" y="29"/>
                  </a:lnTo>
                  <a:lnTo>
                    <a:pt x="3" y="24"/>
                  </a:lnTo>
                  <a:lnTo>
                    <a:pt x="3" y="21"/>
                  </a:lnTo>
                  <a:lnTo>
                    <a:pt x="5" y="18"/>
                  </a:lnTo>
                  <a:lnTo>
                    <a:pt x="5" y="14"/>
                  </a:lnTo>
                  <a:lnTo>
                    <a:pt x="7" y="11"/>
                  </a:lnTo>
                  <a:lnTo>
                    <a:pt x="8" y="8"/>
                  </a:lnTo>
                  <a:lnTo>
                    <a:pt x="10" y="4"/>
                  </a:lnTo>
                  <a:lnTo>
                    <a:pt x="12" y="1"/>
                  </a:lnTo>
                  <a:lnTo>
                    <a:pt x="13" y="0"/>
                  </a:lnTo>
                  <a:lnTo>
                    <a:pt x="10"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0" name="Freeform 492">
              <a:extLst>
                <a:ext uri="{FF2B5EF4-FFF2-40B4-BE49-F238E27FC236}">
                  <a16:creationId xmlns:a16="http://schemas.microsoft.com/office/drawing/2014/main" id="{91BE3386-3B40-901C-9DE4-367CD0FE2549}"/>
                </a:ext>
              </a:extLst>
            </p:cNvPr>
            <p:cNvSpPr>
              <a:spLocks noEditPoints="1"/>
            </p:cNvSpPr>
            <p:nvPr/>
          </p:nvSpPr>
          <p:spPr bwMode="auto">
            <a:xfrm>
              <a:off x="1570" y="1713"/>
              <a:ext cx="83" cy="51"/>
            </a:xfrm>
            <a:custGeom>
              <a:avLst/>
              <a:gdLst>
                <a:gd name="T0" fmla="*/ 83 w 83"/>
                <a:gd name="T1" fmla="*/ 21 h 51"/>
                <a:gd name="T2" fmla="*/ 81 w 83"/>
                <a:gd name="T3" fmla="*/ 14 h 51"/>
                <a:gd name="T4" fmla="*/ 79 w 83"/>
                <a:gd name="T5" fmla="*/ 8 h 51"/>
                <a:gd name="T6" fmla="*/ 76 w 83"/>
                <a:gd name="T7" fmla="*/ 1 h 51"/>
                <a:gd name="T8" fmla="*/ 69 w 83"/>
                <a:gd name="T9" fmla="*/ 0 h 51"/>
                <a:gd name="T10" fmla="*/ 73 w 83"/>
                <a:gd name="T11" fmla="*/ 4 h 51"/>
                <a:gd name="T12" fmla="*/ 76 w 83"/>
                <a:gd name="T13" fmla="*/ 11 h 51"/>
                <a:gd name="T14" fmla="*/ 79 w 83"/>
                <a:gd name="T15" fmla="*/ 18 h 51"/>
                <a:gd name="T16" fmla="*/ 79 w 83"/>
                <a:gd name="T17" fmla="*/ 24 h 51"/>
                <a:gd name="T18" fmla="*/ 79 w 83"/>
                <a:gd name="T19" fmla="*/ 33 h 51"/>
                <a:gd name="T20" fmla="*/ 76 w 83"/>
                <a:gd name="T21" fmla="*/ 39 h 51"/>
                <a:gd name="T22" fmla="*/ 74 w 83"/>
                <a:gd name="T23" fmla="*/ 44 h 51"/>
                <a:gd name="T24" fmla="*/ 69 w 83"/>
                <a:gd name="T25" fmla="*/ 51 h 51"/>
                <a:gd name="T26" fmla="*/ 76 w 83"/>
                <a:gd name="T27" fmla="*/ 48 h 51"/>
                <a:gd name="T28" fmla="*/ 79 w 83"/>
                <a:gd name="T29" fmla="*/ 41 h 51"/>
                <a:gd name="T30" fmla="*/ 81 w 83"/>
                <a:gd name="T31" fmla="*/ 36 h 51"/>
                <a:gd name="T32" fmla="*/ 83 w 83"/>
                <a:gd name="T33" fmla="*/ 29 h 51"/>
                <a:gd name="T34" fmla="*/ 10 w 83"/>
                <a:gd name="T35" fmla="*/ 0 h 51"/>
                <a:gd name="T36" fmla="*/ 5 w 83"/>
                <a:gd name="T37" fmla="*/ 4 h 51"/>
                <a:gd name="T38" fmla="*/ 3 w 83"/>
                <a:gd name="T39" fmla="*/ 11 h 51"/>
                <a:gd name="T40" fmla="*/ 1 w 83"/>
                <a:gd name="T41" fmla="*/ 18 h 51"/>
                <a:gd name="T42" fmla="*/ 0 w 83"/>
                <a:gd name="T43" fmla="*/ 24 h 51"/>
                <a:gd name="T44" fmla="*/ 1 w 83"/>
                <a:gd name="T45" fmla="*/ 33 h 51"/>
                <a:gd name="T46" fmla="*/ 3 w 83"/>
                <a:gd name="T47" fmla="*/ 39 h 51"/>
                <a:gd name="T48" fmla="*/ 5 w 83"/>
                <a:gd name="T49" fmla="*/ 44 h 51"/>
                <a:gd name="T50" fmla="*/ 8 w 83"/>
                <a:gd name="T51" fmla="*/ 51 h 51"/>
                <a:gd name="T52" fmla="*/ 11 w 83"/>
                <a:gd name="T53" fmla="*/ 48 h 51"/>
                <a:gd name="T54" fmla="*/ 8 w 83"/>
                <a:gd name="T55" fmla="*/ 43 h 51"/>
                <a:gd name="T56" fmla="*/ 5 w 83"/>
                <a:gd name="T57" fmla="*/ 36 h 51"/>
                <a:gd name="T58" fmla="*/ 3 w 83"/>
                <a:gd name="T59" fmla="*/ 29 h 51"/>
                <a:gd name="T60" fmla="*/ 3 w 83"/>
                <a:gd name="T61" fmla="*/ 21 h 51"/>
                <a:gd name="T62" fmla="*/ 5 w 83"/>
                <a:gd name="T63" fmla="*/ 14 h 51"/>
                <a:gd name="T64" fmla="*/ 8 w 83"/>
                <a:gd name="T65" fmla="*/ 8 h 51"/>
                <a:gd name="T66" fmla="*/ 11 w 83"/>
                <a:gd name="T67" fmla="*/ 1 h 51"/>
                <a:gd name="T68" fmla="*/ 10 w 8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83" h="51">
                  <a:moveTo>
                    <a:pt x="83" y="24"/>
                  </a:moveTo>
                  <a:lnTo>
                    <a:pt x="83" y="21"/>
                  </a:lnTo>
                  <a:lnTo>
                    <a:pt x="83" y="18"/>
                  </a:lnTo>
                  <a:lnTo>
                    <a:pt x="81" y="14"/>
                  </a:lnTo>
                  <a:lnTo>
                    <a:pt x="79" y="11"/>
                  </a:lnTo>
                  <a:lnTo>
                    <a:pt x="79" y="8"/>
                  </a:lnTo>
                  <a:lnTo>
                    <a:pt x="78" y="4"/>
                  </a:lnTo>
                  <a:lnTo>
                    <a:pt x="76" y="1"/>
                  </a:lnTo>
                  <a:lnTo>
                    <a:pt x="73" y="0"/>
                  </a:lnTo>
                  <a:lnTo>
                    <a:pt x="69" y="0"/>
                  </a:lnTo>
                  <a:lnTo>
                    <a:pt x="71" y="1"/>
                  </a:lnTo>
                  <a:lnTo>
                    <a:pt x="73" y="4"/>
                  </a:lnTo>
                  <a:lnTo>
                    <a:pt x="74" y="8"/>
                  </a:lnTo>
                  <a:lnTo>
                    <a:pt x="76" y="11"/>
                  </a:lnTo>
                  <a:lnTo>
                    <a:pt x="78" y="14"/>
                  </a:lnTo>
                  <a:lnTo>
                    <a:pt x="79" y="18"/>
                  </a:lnTo>
                  <a:lnTo>
                    <a:pt x="79" y="21"/>
                  </a:lnTo>
                  <a:lnTo>
                    <a:pt x="79" y="24"/>
                  </a:lnTo>
                  <a:lnTo>
                    <a:pt x="79" y="29"/>
                  </a:lnTo>
                  <a:lnTo>
                    <a:pt x="79" y="33"/>
                  </a:lnTo>
                  <a:lnTo>
                    <a:pt x="78" y="36"/>
                  </a:lnTo>
                  <a:lnTo>
                    <a:pt x="76" y="39"/>
                  </a:lnTo>
                  <a:lnTo>
                    <a:pt x="76" y="43"/>
                  </a:lnTo>
                  <a:lnTo>
                    <a:pt x="74" y="44"/>
                  </a:lnTo>
                  <a:lnTo>
                    <a:pt x="73" y="48"/>
                  </a:lnTo>
                  <a:lnTo>
                    <a:pt x="69" y="51"/>
                  </a:lnTo>
                  <a:lnTo>
                    <a:pt x="74" y="51"/>
                  </a:lnTo>
                  <a:lnTo>
                    <a:pt x="76" y="48"/>
                  </a:lnTo>
                  <a:lnTo>
                    <a:pt x="78" y="44"/>
                  </a:lnTo>
                  <a:lnTo>
                    <a:pt x="79" y="41"/>
                  </a:lnTo>
                  <a:lnTo>
                    <a:pt x="81" y="39"/>
                  </a:lnTo>
                  <a:lnTo>
                    <a:pt x="81" y="36"/>
                  </a:lnTo>
                  <a:lnTo>
                    <a:pt x="83" y="33"/>
                  </a:lnTo>
                  <a:lnTo>
                    <a:pt x="83" y="29"/>
                  </a:lnTo>
                  <a:lnTo>
                    <a:pt x="83" y="24"/>
                  </a:lnTo>
                  <a:close/>
                  <a:moveTo>
                    <a:pt x="10" y="0"/>
                  </a:moveTo>
                  <a:lnTo>
                    <a:pt x="8" y="1"/>
                  </a:lnTo>
                  <a:lnTo>
                    <a:pt x="5" y="4"/>
                  </a:lnTo>
                  <a:lnTo>
                    <a:pt x="3" y="8"/>
                  </a:lnTo>
                  <a:lnTo>
                    <a:pt x="3" y="11"/>
                  </a:lnTo>
                  <a:lnTo>
                    <a:pt x="1" y="14"/>
                  </a:lnTo>
                  <a:lnTo>
                    <a:pt x="1" y="18"/>
                  </a:lnTo>
                  <a:lnTo>
                    <a:pt x="0" y="21"/>
                  </a:lnTo>
                  <a:lnTo>
                    <a:pt x="0" y="24"/>
                  </a:lnTo>
                  <a:lnTo>
                    <a:pt x="0" y="29"/>
                  </a:lnTo>
                  <a:lnTo>
                    <a:pt x="1" y="33"/>
                  </a:lnTo>
                  <a:lnTo>
                    <a:pt x="1" y="36"/>
                  </a:lnTo>
                  <a:lnTo>
                    <a:pt x="3" y="39"/>
                  </a:lnTo>
                  <a:lnTo>
                    <a:pt x="3" y="41"/>
                  </a:lnTo>
                  <a:lnTo>
                    <a:pt x="5" y="44"/>
                  </a:lnTo>
                  <a:lnTo>
                    <a:pt x="6" y="48"/>
                  </a:lnTo>
                  <a:lnTo>
                    <a:pt x="8" y="51"/>
                  </a:lnTo>
                  <a:lnTo>
                    <a:pt x="13" y="51"/>
                  </a:lnTo>
                  <a:lnTo>
                    <a:pt x="11" y="48"/>
                  </a:lnTo>
                  <a:lnTo>
                    <a:pt x="10" y="44"/>
                  </a:lnTo>
                  <a:lnTo>
                    <a:pt x="8" y="43"/>
                  </a:lnTo>
                  <a:lnTo>
                    <a:pt x="6" y="39"/>
                  </a:lnTo>
                  <a:lnTo>
                    <a:pt x="5" y="36"/>
                  </a:lnTo>
                  <a:lnTo>
                    <a:pt x="5" y="33"/>
                  </a:lnTo>
                  <a:lnTo>
                    <a:pt x="3" y="29"/>
                  </a:lnTo>
                  <a:lnTo>
                    <a:pt x="3" y="24"/>
                  </a:lnTo>
                  <a:lnTo>
                    <a:pt x="3" y="21"/>
                  </a:lnTo>
                  <a:lnTo>
                    <a:pt x="5" y="18"/>
                  </a:lnTo>
                  <a:lnTo>
                    <a:pt x="5" y="14"/>
                  </a:lnTo>
                  <a:lnTo>
                    <a:pt x="6" y="11"/>
                  </a:lnTo>
                  <a:lnTo>
                    <a:pt x="8" y="8"/>
                  </a:lnTo>
                  <a:lnTo>
                    <a:pt x="10" y="4"/>
                  </a:lnTo>
                  <a:lnTo>
                    <a:pt x="11" y="1"/>
                  </a:lnTo>
                  <a:lnTo>
                    <a:pt x="13" y="0"/>
                  </a:lnTo>
                  <a:lnTo>
                    <a:pt x="10"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1" name="Freeform 493">
              <a:extLst>
                <a:ext uri="{FF2B5EF4-FFF2-40B4-BE49-F238E27FC236}">
                  <a16:creationId xmlns:a16="http://schemas.microsoft.com/office/drawing/2014/main" id="{BF0A2A8D-0A9E-A0B0-D4A2-3C356243296C}"/>
                </a:ext>
              </a:extLst>
            </p:cNvPr>
            <p:cNvSpPr>
              <a:spLocks noEditPoints="1"/>
            </p:cNvSpPr>
            <p:nvPr/>
          </p:nvSpPr>
          <p:spPr bwMode="auto">
            <a:xfrm>
              <a:off x="1571" y="1713"/>
              <a:ext cx="80" cy="51"/>
            </a:xfrm>
            <a:custGeom>
              <a:avLst/>
              <a:gdLst>
                <a:gd name="T0" fmla="*/ 80 w 80"/>
                <a:gd name="T1" fmla="*/ 21 h 51"/>
                <a:gd name="T2" fmla="*/ 78 w 80"/>
                <a:gd name="T3" fmla="*/ 14 h 51"/>
                <a:gd name="T4" fmla="*/ 77 w 80"/>
                <a:gd name="T5" fmla="*/ 8 h 51"/>
                <a:gd name="T6" fmla="*/ 72 w 80"/>
                <a:gd name="T7" fmla="*/ 1 h 51"/>
                <a:gd name="T8" fmla="*/ 65 w 80"/>
                <a:gd name="T9" fmla="*/ 0 h 51"/>
                <a:gd name="T10" fmla="*/ 70 w 80"/>
                <a:gd name="T11" fmla="*/ 4 h 51"/>
                <a:gd name="T12" fmla="*/ 73 w 80"/>
                <a:gd name="T13" fmla="*/ 11 h 51"/>
                <a:gd name="T14" fmla="*/ 77 w 80"/>
                <a:gd name="T15" fmla="*/ 18 h 51"/>
                <a:gd name="T16" fmla="*/ 77 w 80"/>
                <a:gd name="T17" fmla="*/ 24 h 51"/>
                <a:gd name="T18" fmla="*/ 77 w 80"/>
                <a:gd name="T19" fmla="*/ 33 h 51"/>
                <a:gd name="T20" fmla="*/ 73 w 80"/>
                <a:gd name="T21" fmla="*/ 39 h 51"/>
                <a:gd name="T22" fmla="*/ 70 w 80"/>
                <a:gd name="T23" fmla="*/ 44 h 51"/>
                <a:gd name="T24" fmla="*/ 67 w 80"/>
                <a:gd name="T25" fmla="*/ 51 h 51"/>
                <a:gd name="T26" fmla="*/ 73 w 80"/>
                <a:gd name="T27" fmla="*/ 48 h 51"/>
                <a:gd name="T28" fmla="*/ 77 w 80"/>
                <a:gd name="T29" fmla="*/ 41 h 51"/>
                <a:gd name="T30" fmla="*/ 78 w 80"/>
                <a:gd name="T31" fmla="*/ 36 h 51"/>
                <a:gd name="T32" fmla="*/ 80 w 80"/>
                <a:gd name="T33" fmla="*/ 29 h 51"/>
                <a:gd name="T34" fmla="*/ 10 w 80"/>
                <a:gd name="T35" fmla="*/ 0 h 51"/>
                <a:gd name="T36" fmla="*/ 7 w 80"/>
                <a:gd name="T37" fmla="*/ 4 h 51"/>
                <a:gd name="T38" fmla="*/ 4 w 80"/>
                <a:gd name="T39" fmla="*/ 11 h 51"/>
                <a:gd name="T40" fmla="*/ 2 w 80"/>
                <a:gd name="T41" fmla="*/ 18 h 51"/>
                <a:gd name="T42" fmla="*/ 0 w 80"/>
                <a:gd name="T43" fmla="*/ 24 h 51"/>
                <a:gd name="T44" fmla="*/ 2 w 80"/>
                <a:gd name="T45" fmla="*/ 33 h 51"/>
                <a:gd name="T46" fmla="*/ 4 w 80"/>
                <a:gd name="T47" fmla="*/ 39 h 51"/>
                <a:gd name="T48" fmla="*/ 5 w 80"/>
                <a:gd name="T49" fmla="*/ 44 h 51"/>
                <a:gd name="T50" fmla="*/ 10 w 80"/>
                <a:gd name="T51" fmla="*/ 51 h 51"/>
                <a:gd name="T52" fmla="*/ 12 w 80"/>
                <a:gd name="T53" fmla="*/ 48 h 51"/>
                <a:gd name="T54" fmla="*/ 9 w 80"/>
                <a:gd name="T55" fmla="*/ 43 h 51"/>
                <a:gd name="T56" fmla="*/ 5 w 80"/>
                <a:gd name="T57" fmla="*/ 36 h 51"/>
                <a:gd name="T58" fmla="*/ 4 w 80"/>
                <a:gd name="T59" fmla="*/ 29 h 51"/>
                <a:gd name="T60" fmla="*/ 4 w 80"/>
                <a:gd name="T61" fmla="*/ 21 h 51"/>
                <a:gd name="T62" fmla="*/ 5 w 80"/>
                <a:gd name="T63" fmla="*/ 14 h 51"/>
                <a:gd name="T64" fmla="*/ 9 w 80"/>
                <a:gd name="T65" fmla="*/ 8 h 51"/>
                <a:gd name="T66" fmla="*/ 12 w 80"/>
                <a:gd name="T67" fmla="*/ 1 h 51"/>
                <a:gd name="T68" fmla="*/ 10 w 8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80" h="51">
                  <a:moveTo>
                    <a:pt x="80" y="24"/>
                  </a:moveTo>
                  <a:lnTo>
                    <a:pt x="80" y="21"/>
                  </a:lnTo>
                  <a:lnTo>
                    <a:pt x="80" y="18"/>
                  </a:lnTo>
                  <a:lnTo>
                    <a:pt x="78" y="14"/>
                  </a:lnTo>
                  <a:lnTo>
                    <a:pt x="77" y="11"/>
                  </a:lnTo>
                  <a:lnTo>
                    <a:pt x="77" y="8"/>
                  </a:lnTo>
                  <a:lnTo>
                    <a:pt x="75" y="4"/>
                  </a:lnTo>
                  <a:lnTo>
                    <a:pt x="72" y="1"/>
                  </a:lnTo>
                  <a:lnTo>
                    <a:pt x="70" y="0"/>
                  </a:lnTo>
                  <a:lnTo>
                    <a:pt x="65" y="0"/>
                  </a:lnTo>
                  <a:lnTo>
                    <a:pt x="68" y="1"/>
                  </a:lnTo>
                  <a:lnTo>
                    <a:pt x="70" y="4"/>
                  </a:lnTo>
                  <a:lnTo>
                    <a:pt x="72" y="8"/>
                  </a:lnTo>
                  <a:lnTo>
                    <a:pt x="73" y="11"/>
                  </a:lnTo>
                  <a:lnTo>
                    <a:pt x="75" y="14"/>
                  </a:lnTo>
                  <a:lnTo>
                    <a:pt x="77" y="18"/>
                  </a:lnTo>
                  <a:lnTo>
                    <a:pt x="77" y="21"/>
                  </a:lnTo>
                  <a:lnTo>
                    <a:pt x="77" y="24"/>
                  </a:lnTo>
                  <a:lnTo>
                    <a:pt x="77" y="29"/>
                  </a:lnTo>
                  <a:lnTo>
                    <a:pt x="77" y="33"/>
                  </a:lnTo>
                  <a:lnTo>
                    <a:pt x="75" y="36"/>
                  </a:lnTo>
                  <a:lnTo>
                    <a:pt x="73" y="39"/>
                  </a:lnTo>
                  <a:lnTo>
                    <a:pt x="72" y="43"/>
                  </a:lnTo>
                  <a:lnTo>
                    <a:pt x="70" y="44"/>
                  </a:lnTo>
                  <a:lnTo>
                    <a:pt x="68" y="48"/>
                  </a:lnTo>
                  <a:lnTo>
                    <a:pt x="67" y="51"/>
                  </a:lnTo>
                  <a:lnTo>
                    <a:pt x="72" y="51"/>
                  </a:lnTo>
                  <a:lnTo>
                    <a:pt x="73" y="48"/>
                  </a:lnTo>
                  <a:lnTo>
                    <a:pt x="75" y="44"/>
                  </a:lnTo>
                  <a:lnTo>
                    <a:pt x="77" y="41"/>
                  </a:lnTo>
                  <a:lnTo>
                    <a:pt x="78" y="39"/>
                  </a:lnTo>
                  <a:lnTo>
                    <a:pt x="78" y="36"/>
                  </a:lnTo>
                  <a:lnTo>
                    <a:pt x="80" y="33"/>
                  </a:lnTo>
                  <a:lnTo>
                    <a:pt x="80" y="29"/>
                  </a:lnTo>
                  <a:lnTo>
                    <a:pt x="80" y="24"/>
                  </a:lnTo>
                  <a:close/>
                  <a:moveTo>
                    <a:pt x="10" y="0"/>
                  </a:moveTo>
                  <a:lnTo>
                    <a:pt x="9" y="1"/>
                  </a:lnTo>
                  <a:lnTo>
                    <a:pt x="7" y="4"/>
                  </a:lnTo>
                  <a:lnTo>
                    <a:pt x="5" y="8"/>
                  </a:lnTo>
                  <a:lnTo>
                    <a:pt x="4" y="11"/>
                  </a:lnTo>
                  <a:lnTo>
                    <a:pt x="2" y="14"/>
                  </a:lnTo>
                  <a:lnTo>
                    <a:pt x="2" y="18"/>
                  </a:lnTo>
                  <a:lnTo>
                    <a:pt x="0" y="21"/>
                  </a:lnTo>
                  <a:lnTo>
                    <a:pt x="0" y="24"/>
                  </a:lnTo>
                  <a:lnTo>
                    <a:pt x="0" y="29"/>
                  </a:lnTo>
                  <a:lnTo>
                    <a:pt x="2" y="33"/>
                  </a:lnTo>
                  <a:lnTo>
                    <a:pt x="2" y="36"/>
                  </a:lnTo>
                  <a:lnTo>
                    <a:pt x="4" y="39"/>
                  </a:lnTo>
                  <a:lnTo>
                    <a:pt x="4" y="41"/>
                  </a:lnTo>
                  <a:lnTo>
                    <a:pt x="5" y="44"/>
                  </a:lnTo>
                  <a:lnTo>
                    <a:pt x="7" y="48"/>
                  </a:lnTo>
                  <a:lnTo>
                    <a:pt x="10" y="51"/>
                  </a:lnTo>
                  <a:lnTo>
                    <a:pt x="14" y="51"/>
                  </a:lnTo>
                  <a:lnTo>
                    <a:pt x="12" y="48"/>
                  </a:lnTo>
                  <a:lnTo>
                    <a:pt x="10" y="44"/>
                  </a:lnTo>
                  <a:lnTo>
                    <a:pt x="9" y="43"/>
                  </a:lnTo>
                  <a:lnTo>
                    <a:pt x="7" y="39"/>
                  </a:lnTo>
                  <a:lnTo>
                    <a:pt x="5" y="36"/>
                  </a:lnTo>
                  <a:lnTo>
                    <a:pt x="5" y="33"/>
                  </a:lnTo>
                  <a:lnTo>
                    <a:pt x="4" y="29"/>
                  </a:lnTo>
                  <a:lnTo>
                    <a:pt x="4" y="24"/>
                  </a:lnTo>
                  <a:lnTo>
                    <a:pt x="4" y="21"/>
                  </a:lnTo>
                  <a:lnTo>
                    <a:pt x="5" y="18"/>
                  </a:lnTo>
                  <a:lnTo>
                    <a:pt x="5" y="14"/>
                  </a:lnTo>
                  <a:lnTo>
                    <a:pt x="7" y="11"/>
                  </a:lnTo>
                  <a:lnTo>
                    <a:pt x="9" y="8"/>
                  </a:lnTo>
                  <a:lnTo>
                    <a:pt x="10" y="4"/>
                  </a:lnTo>
                  <a:lnTo>
                    <a:pt x="12" y="1"/>
                  </a:lnTo>
                  <a:lnTo>
                    <a:pt x="15" y="0"/>
                  </a:lnTo>
                  <a:lnTo>
                    <a:pt x="10"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2" name="Freeform 494">
              <a:extLst>
                <a:ext uri="{FF2B5EF4-FFF2-40B4-BE49-F238E27FC236}">
                  <a16:creationId xmlns:a16="http://schemas.microsoft.com/office/drawing/2014/main" id="{4D7B09A0-0776-FC88-F8BE-BDF9B96571EB}"/>
                </a:ext>
              </a:extLst>
            </p:cNvPr>
            <p:cNvSpPr>
              <a:spLocks noEditPoints="1"/>
            </p:cNvSpPr>
            <p:nvPr/>
          </p:nvSpPr>
          <p:spPr bwMode="auto">
            <a:xfrm>
              <a:off x="1573" y="1713"/>
              <a:ext cx="76" cy="51"/>
            </a:xfrm>
            <a:custGeom>
              <a:avLst/>
              <a:gdLst>
                <a:gd name="T0" fmla="*/ 76 w 76"/>
                <a:gd name="T1" fmla="*/ 21 h 51"/>
                <a:gd name="T2" fmla="*/ 75 w 76"/>
                <a:gd name="T3" fmla="*/ 14 h 51"/>
                <a:gd name="T4" fmla="*/ 71 w 76"/>
                <a:gd name="T5" fmla="*/ 8 h 51"/>
                <a:gd name="T6" fmla="*/ 68 w 76"/>
                <a:gd name="T7" fmla="*/ 1 h 51"/>
                <a:gd name="T8" fmla="*/ 61 w 76"/>
                <a:gd name="T9" fmla="*/ 0 h 51"/>
                <a:gd name="T10" fmla="*/ 66 w 76"/>
                <a:gd name="T11" fmla="*/ 4 h 51"/>
                <a:gd name="T12" fmla="*/ 70 w 76"/>
                <a:gd name="T13" fmla="*/ 11 h 51"/>
                <a:gd name="T14" fmla="*/ 71 w 76"/>
                <a:gd name="T15" fmla="*/ 18 h 51"/>
                <a:gd name="T16" fmla="*/ 73 w 76"/>
                <a:gd name="T17" fmla="*/ 24 h 51"/>
                <a:gd name="T18" fmla="*/ 73 w 76"/>
                <a:gd name="T19" fmla="*/ 33 h 51"/>
                <a:gd name="T20" fmla="*/ 70 w 76"/>
                <a:gd name="T21" fmla="*/ 39 h 51"/>
                <a:gd name="T22" fmla="*/ 66 w 76"/>
                <a:gd name="T23" fmla="*/ 44 h 51"/>
                <a:gd name="T24" fmla="*/ 61 w 76"/>
                <a:gd name="T25" fmla="*/ 51 h 51"/>
                <a:gd name="T26" fmla="*/ 70 w 76"/>
                <a:gd name="T27" fmla="*/ 48 h 51"/>
                <a:gd name="T28" fmla="*/ 73 w 76"/>
                <a:gd name="T29" fmla="*/ 43 h 51"/>
                <a:gd name="T30" fmla="*/ 75 w 76"/>
                <a:gd name="T31" fmla="*/ 36 h 51"/>
                <a:gd name="T32" fmla="*/ 76 w 76"/>
                <a:gd name="T33" fmla="*/ 29 h 51"/>
                <a:gd name="T34" fmla="*/ 10 w 76"/>
                <a:gd name="T35" fmla="*/ 0 h 51"/>
                <a:gd name="T36" fmla="*/ 7 w 76"/>
                <a:gd name="T37" fmla="*/ 4 h 51"/>
                <a:gd name="T38" fmla="*/ 3 w 76"/>
                <a:gd name="T39" fmla="*/ 11 h 51"/>
                <a:gd name="T40" fmla="*/ 2 w 76"/>
                <a:gd name="T41" fmla="*/ 18 h 51"/>
                <a:gd name="T42" fmla="*/ 0 w 76"/>
                <a:gd name="T43" fmla="*/ 24 h 51"/>
                <a:gd name="T44" fmla="*/ 2 w 76"/>
                <a:gd name="T45" fmla="*/ 33 h 51"/>
                <a:gd name="T46" fmla="*/ 3 w 76"/>
                <a:gd name="T47" fmla="*/ 39 h 51"/>
                <a:gd name="T48" fmla="*/ 7 w 76"/>
                <a:gd name="T49" fmla="*/ 44 h 51"/>
                <a:gd name="T50" fmla="*/ 10 w 76"/>
                <a:gd name="T51" fmla="*/ 51 h 51"/>
                <a:gd name="T52" fmla="*/ 12 w 76"/>
                <a:gd name="T53" fmla="*/ 48 h 51"/>
                <a:gd name="T54" fmla="*/ 8 w 76"/>
                <a:gd name="T55" fmla="*/ 43 h 51"/>
                <a:gd name="T56" fmla="*/ 5 w 76"/>
                <a:gd name="T57" fmla="*/ 36 h 51"/>
                <a:gd name="T58" fmla="*/ 3 w 76"/>
                <a:gd name="T59" fmla="*/ 29 h 51"/>
                <a:gd name="T60" fmla="*/ 3 w 76"/>
                <a:gd name="T61" fmla="*/ 21 h 51"/>
                <a:gd name="T62" fmla="*/ 5 w 76"/>
                <a:gd name="T63" fmla="*/ 14 h 51"/>
                <a:gd name="T64" fmla="*/ 8 w 76"/>
                <a:gd name="T65" fmla="*/ 8 h 51"/>
                <a:gd name="T66" fmla="*/ 13 w 76"/>
                <a:gd name="T67" fmla="*/ 1 h 51"/>
                <a:gd name="T68" fmla="*/ 10 w 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6" h="51">
                  <a:moveTo>
                    <a:pt x="76" y="24"/>
                  </a:moveTo>
                  <a:lnTo>
                    <a:pt x="76" y="21"/>
                  </a:lnTo>
                  <a:lnTo>
                    <a:pt x="76" y="18"/>
                  </a:lnTo>
                  <a:lnTo>
                    <a:pt x="75" y="14"/>
                  </a:lnTo>
                  <a:lnTo>
                    <a:pt x="73" y="11"/>
                  </a:lnTo>
                  <a:lnTo>
                    <a:pt x="71" y="8"/>
                  </a:lnTo>
                  <a:lnTo>
                    <a:pt x="70" y="4"/>
                  </a:lnTo>
                  <a:lnTo>
                    <a:pt x="68" y="1"/>
                  </a:lnTo>
                  <a:lnTo>
                    <a:pt x="66" y="0"/>
                  </a:lnTo>
                  <a:lnTo>
                    <a:pt x="61" y="0"/>
                  </a:lnTo>
                  <a:lnTo>
                    <a:pt x="63" y="1"/>
                  </a:lnTo>
                  <a:lnTo>
                    <a:pt x="66" y="4"/>
                  </a:lnTo>
                  <a:lnTo>
                    <a:pt x="68" y="8"/>
                  </a:lnTo>
                  <a:lnTo>
                    <a:pt x="70" y="11"/>
                  </a:lnTo>
                  <a:lnTo>
                    <a:pt x="71" y="14"/>
                  </a:lnTo>
                  <a:lnTo>
                    <a:pt x="71" y="18"/>
                  </a:lnTo>
                  <a:lnTo>
                    <a:pt x="73" y="21"/>
                  </a:lnTo>
                  <a:lnTo>
                    <a:pt x="73" y="24"/>
                  </a:lnTo>
                  <a:lnTo>
                    <a:pt x="73" y="29"/>
                  </a:lnTo>
                  <a:lnTo>
                    <a:pt x="73" y="33"/>
                  </a:lnTo>
                  <a:lnTo>
                    <a:pt x="71" y="36"/>
                  </a:lnTo>
                  <a:lnTo>
                    <a:pt x="70" y="39"/>
                  </a:lnTo>
                  <a:lnTo>
                    <a:pt x="68" y="43"/>
                  </a:lnTo>
                  <a:lnTo>
                    <a:pt x="66" y="44"/>
                  </a:lnTo>
                  <a:lnTo>
                    <a:pt x="65" y="48"/>
                  </a:lnTo>
                  <a:lnTo>
                    <a:pt x="61" y="51"/>
                  </a:lnTo>
                  <a:lnTo>
                    <a:pt x="66" y="51"/>
                  </a:lnTo>
                  <a:lnTo>
                    <a:pt x="70" y="48"/>
                  </a:lnTo>
                  <a:lnTo>
                    <a:pt x="71" y="44"/>
                  </a:lnTo>
                  <a:lnTo>
                    <a:pt x="73" y="43"/>
                  </a:lnTo>
                  <a:lnTo>
                    <a:pt x="73" y="39"/>
                  </a:lnTo>
                  <a:lnTo>
                    <a:pt x="75" y="36"/>
                  </a:lnTo>
                  <a:lnTo>
                    <a:pt x="76" y="33"/>
                  </a:lnTo>
                  <a:lnTo>
                    <a:pt x="76" y="29"/>
                  </a:lnTo>
                  <a:lnTo>
                    <a:pt x="76" y="24"/>
                  </a:lnTo>
                  <a:close/>
                  <a:moveTo>
                    <a:pt x="10" y="0"/>
                  </a:moveTo>
                  <a:lnTo>
                    <a:pt x="8" y="1"/>
                  </a:lnTo>
                  <a:lnTo>
                    <a:pt x="7" y="4"/>
                  </a:lnTo>
                  <a:lnTo>
                    <a:pt x="5" y="8"/>
                  </a:lnTo>
                  <a:lnTo>
                    <a:pt x="3" y="11"/>
                  </a:lnTo>
                  <a:lnTo>
                    <a:pt x="2" y="14"/>
                  </a:lnTo>
                  <a:lnTo>
                    <a:pt x="2" y="18"/>
                  </a:lnTo>
                  <a:lnTo>
                    <a:pt x="0" y="21"/>
                  </a:lnTo>
                  <a:lnTo>
                    <a:pt x="0" y="24"/>
                  </a:lnTo>
                  <a:lnTo>
                    <a:pt x="0" y="29"/>
                  </a:lnTo>
                  <a:lnTo>
                    <a:pt x="2" y="33"/>
                  </a:lnTo>
                  <a:lnTo>
                    <a:pt x="2" y="36"/>
                  </a:lnTo>
                  <a:lnTo>
                    <a:pt x="3" y="39"/>
                  </a:lnTo>
                  <a:lnTo>
                    <a:pt x="5" y="43"/>
                  </a:lnTo>
                  <a:lnTo>
                    <a:pt x="7" y="44"/>
                  </a:lnTo>
                  <a:lnTo>
                    <a:pt x="8" y="48"/>
                  </a:lnTo>
                  <a:lnTo>
                    <a:pt x="10" y="51"/>
                  </a:lnTo>
                  <a:lnTo>
                    <a:pt x="15" y="51"/>
                  </a:lnTo>
                  <a:lnTo>
                    <a:pt x="12" y="48"/>
                  </a:lnTo>
                  <a:lnTo>
                    <a:pt x="10" y="44"/>
                  </a:lnTo>
                  <a:lnTo>
                    <a:pt x="8" y="43"/>
                  </a:lnTo>
                  <a:lnTo>
                    <a:pt x="7" y="39"/>
                  </a:lnTo>
                  <a:lnTo>
                    <a:pt x="5" y="36"/>
                  </a:lnTo>
                  <a:lnTo>
                    <a:pt x="5" y="33"/>
                  </a:lnTo>
                  <a:lnTo>
                    <a:pt x="3" y="29"/>
                  </a:lnTo>
                  <a:lnTo>
                    <a:pt x="3" y="24"/>
                  </a:lnTo>
                  <a:lnTo>
                    <a:pt x="3" y="21"/>
                  </a:lnTo>
                  <a:lnTo>
                    <a:pt x="5" y="18"/>
                  </a:lnTo>
                  <a:lnTo>
                    <a:pt x="5" y="14"/>
                  </a:lnTo>
                  <a:lnTo>
                    <a:pt x="7" y="11"/>
                  </a:lnTo>
                  <a:lnTo>
                    <a:pt x="8" y="8"/>
                  </a:lnTo>
                  <a:lnTo>
                    <a:pt x="10" y="4"/>
                  </a:lnTo>
                  <a:lnTo>
                    <a:pt x="13" y="1"/>
                  </a:lnTo>
                  <a:lnTo>
                    <a:pt x="15" y="0"/>
                  </a:lnTo>
                  <a:lnTo>
                    <a:pt x="10"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3" name="Freeform 495">
              <a:extLst>
                <a:ext uri="{FF2B5EF4-FFF2-40B4-BE49-F238E27FC236}">
                  <a16:creationId xmlns:a16="http://schemas.microsoft.com/office/drawing/2014/main" id="{1DC1621E-7649-5571-CDB3-35DAAD81BD47}"/>
                </a:ext>
              </a:extLst>
            </p:cNvPr>
            <p:cNvSpPr>
              <a:spLocks noEditPoints="1"/>
            </p:cNvSpPr>
            <p:nvPr/>
          </p:nvSpPr>
          <p:spPr bwMode="auto">
            <a:xfrm>
              <a:off x="1575" y="1713"/>
              <a:ext cx="73" cy="51"/>
            </a:xfrm>
            <a:custGeom>
              <a:avLst/>
              <a:gdLst>
                <a:gd name="T0" fmla="*/ 73 w 73"/>
                <a:gd name="T1" fmla="*/ 21 h 51"/>
                <a:gd name="T2" fmla="*/ 71 w 73"/>
                <a:gd name="T3" fmla="*/ 14 h 51"/>
                <a:gd name="T4" fmla="*/ 68 w 73"/>
                <a:gd name="T5" fmla="*/ 8 h 51"/>
                <a:gd name="T6" fmla="*/ 64 w 73"/>
                <a:gd name="T7" fmla="*/ 1 h 51"/>
                <a:gd name="T8" fmla="*/ 56 w 73"/>
                <a:gd name="T9" fmla="*/ 0 h 51"/>
                <a:gd name="T10" fmla="*/ 61 w 73"/>
                <a:gd name="T11" fmla="*/ 4 h 51"/>
                <a:gd name="T12" fmla="*/ 66 w 73"/>
                <a:gd name="T13" fmla="*/ 9 h 51"/>
                <a:gd name="T14" fmla="*/ 68 w 73"/>
                <a:gd name="T15" fmla="*/ 18 h 51"/>
                <a:gd name="T16" fmla="*/ 69 w 73"/>
                <a:gd name="T17" fmla="*/ 24 h 51"/>
                <a:gd name="T18" fmla="*/ 69 w 73"/>
                <a:gd name="T19" fmla="*/ 33 h 51"/>
                <a:gd name="T20" fmla="*/ 66 w 73"/>
                <a:gd name="T21" fmla="*/ 39 h 51"/>
                <a:gd name="T22" fmla="*/ 63 w 73"/>
                <a:gd name="T23" fmla="*/ 46 h 51"/>
                <a:gd name="T24" fmla="*/ 58 w 73"/>
                <a:gd name="T25" fmla="*/ 51 h 51"/>
                <a:gd name="T26" fmla="*/ 64 w 73"/>
                <a:gd name="T27" fmla="*/ 48 h 51"/>
                <a:gd name="T28" fmla="*/ 68 w 73"/>
                <a:gd name="T29" fmla="*/ 43 h 51"/>
                <a:gd name="T30" fmla="*/ 71 w 73"/>
                <a:gd name="T31" fmla="*/ 36 h 51"/>
                <a:gd name="T32" fmla="*/ 73 w 73"/>
                <a:gd name="T33" fmla="*/ 29 h 51"/>
                <a:gd name="T34" fmla="*/ 11 w 73"/>
                <a:gd name="T35" fmla="*/ 0 h 51"/>
                <a:gd name="T36" fmla="*/ 6 w 73"/>
                <a:gd name="T37" fmla="*/ 4 h 51"/>
                <a:gd name="T38" fmla="*/ 3 w 73"/>
                <a:gd name="T39" fmla="*/ 11 h 51"/>
                <a:gd name="T40" fmla="*/ 1 w 73"/>
                <a:gd name="T41" fmla="*/ 18 h 51"/>
                <a:gd name="T42" fmla="*/ 0 w 73"/>
                <a:gd name="T43" fmla="*/ 24 h 51"/>
                <a:gd name="T44" fmla="*/ 1 w 73"/>
                <a:gd name="T45" fmla="*/ 33 h 51"/>
                <a:gd name="T46" fmla="*/ 3 w 73"/>
                <a:gd name="T47" fmla="*/ 39 h 51"/>
                <a:gd name="T48" fmla="*/ 6 w 73"/>
                <a:gd name="T49" fmla="*/ 44 h 51"/>
                <a:gd name="T50" fmla="*/ 10 w 73"/>
                <a:gd name="T51" fmla="*/ 51 h 51"/>
                <a:gd name="T52" fmla="*/ 13 w 73"/>
                <a:gd name="T53" fmla="*/ 48 h 51"/>
                <a:gd name="T54" fmla="*/ 8 w 73"/>
                <a:gd name="T55" fmla="*/ 43 h 51"/>
                <a:gd name="T56" fmla="*/ 5 w 73"/>
                <a:gd name="T57" fmla="*/ 36 h 51"/>
                <a:gd name="T58" fmla="*/ 3 w 73"/>
                <a:gd name="T59" fmla="*/ 29 h 51"/>
                <a:gd name="T60" fmla="*/ 3 w 73"/>
                <a:gd name="T61" fmla="*/ 21 h 51"/>
                <a:gd name="T62" fmla="*/ 5 w 73"/>
                <a:gd name="T63" fmla="*/ 14 h 51"/>
                <a:gd name="T64" fmla="*/ 8 w 73"/>
                <a:gd name="T65" fmla="*/ 8 h 51"/>
                <a:gd name="T66" fmla="*/ 13 w 73"/>
                <a:gd name="T67" fmla="*/ 1 h 51"/>
                <a:gd name="T68" fmla="*/ 11 w 7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3" h="51">
                  <a:moveTo>
                    <a:pt x="73" y="24"/>
                  </a:moveTo>
                  <a:lnTo>
                    <a:pt x="73" y="21"/>
                  </a:lnTo>
                  <a:lnTo>
                    <a:pt x="73" y="18"/>
                  </a:lnTo>
                  <a:lnTo>
                    <a:pt x="71" y="14"/>
                  </a:lnTo>
                  <a:lnTo>
                    <a:pt x="69" y="11"/>
                  </a:lnTo>
                  <a:lnTo>
                    <a:pt x="68" y="8"/>
                  </a:lnTo>
                  <a:lnTo>
                    <a:pt x="66" y="4"/>
                  </a:lnTo>
                  <a:lnTo>
                    <a:pt x="64" y="1"/>
                  </a:lnTo>
                  <a:lnTo>
                    <a:pt x="61" y="0"/>
                  </a:lnTo>
                  <a:lnTo>
                    <a:pt x="56" y="0"/>
                  </a:lnTo>
                  <a:lnTo>
                    <a:pt x="59" y="1"/>
                  </a:lnTo>
                  <a:lnTo>
                    <a:pt x="61" y="4"/>
                  </a:lnTo>
                  <a:lnTo>
                    <a:pt x="64" y="8"/>
                  </a:lnTo>
                  <a:lnTo>
                    <a:pt x="66" y="9"/>
                  </a:lnTo>
                  <a:lnTo>
                    <a:pt x="68" y="14"/>
                  </a:lnTo>
                  <a:lnTo>
                    <a:pt x="68" y="18"/>
                  </a:lnTo>
                  <a:lnTo>
                    <a:pt x="69" y="21"/>
                  </a:lnTo>
                  <a:lnTo>
                    <a:pt x="69" y="24"/>
                  </a:lnTo>
                  <a:lnTo>
                    <a:pt x="69" y="29"/>
                  </a:lnTo>
                  <a:lnTo>
                    <a:pt x="69" y="33"/>
                  </a:lnTo>
                  <a:lnTo>
                    <a:pt x="68" y="36"/>
                  </a:lnTo>
                  <a:lnTo>
                    <a:pt x="66" y="39"/>
                  </a:lnTo>
                  <a:lnTo>
                    <a:pt x="64" y="43"/>
                  </a:lnTo>
                  <a:lnTo>
                    <a:pt x="63" y="46"/>
                  </a:lnTo>
                  <a:lnTo>
                    <a:pt x="61" y="48"/>
                  </a:lnTo>
                  <a:lnTo>
                    <a:pt x="58" y="51"/>
                  </a:lnTo>
                  <a:lnTo>
                    <a:pt x="63" y="51"/>
                  </a:lnTo>
                  <a:lnTo>
                    <a:pt x="64" y="48"/>
                  </a:lnTo>
                  <a:lnTo>
                    <a:pt x="66" y="44"/>
                  </a:lnTo>
                  <a:lnTo>
                    <a:pt x="68" y="43"/>
                  </a:lnTo>
                  <a:lnTo>
                    <a:pt x="69" y="39"/>
                  </a:lnTo>
                  <a:lnTo>
                    <a:pt x="71" y="36"/>
                  </a:lnTo>
                  <a:lnTo>
                    <a:pt x="73" y="33"/>
                  </a:lnTo>
                  <a:lnTo>
                    <a:pt x="73" y="29"/>
                  </a:lnTo>
                  <a:lnTo>
                    <a:pt x="73" y="24"/>
                  </a:lnTo>
                  <a:close/>
                  <a:moveTo>
                    <a:pt x="11" y="0"/>
                  </a:moveTo>
                  <a:lnTo>
                    <a:pt x="8" y="1"/>
                  </a:lnTo>
                  <a:lnTo>
                    <a:pt x="6" y="4"/>
                  </a:lnTo>
                  <a:lnTo>
                    <a:pt x="5" y="8"/>
                  </a:lnTo>
                  <a:lnTo>
                    <a:pt x="3" y="11"/>
                  </a:lnTo>
                  <a:lnTo>
                    <a:pt x="1" y="14"/>
                  </a:lnTo>
                  <a:lnTo>
                    <a:pt x="1" y="18"/>
                  </a:lnTo>
                  <a:lnTo>
                    <a:pt x="0" y="21"/>
                  </a:lnTo>
                  <a:lnTo>
                    <a:pt x="0" y="24"/>
                  </a:lnTo>
                  <a:lnTo>
                    <a:pt x="0" y="29"/>
                  </a:lnTo>
                  <a:lnTo>
                    <a:pt x="1" y="33"/>
                  </a:lnTo>
                  <a:lnTo>
                    <a:pt x="1" y="36"/>
                  </a:lnTo>
                  <a:lnTo>
                    <a:pt x="3" y="39"/>
                  </a:lnTo>
                  <a:lnTo>
                    <a:pt x="5" y="43"/>
                  </a:lnTo>
                  <a:lnTo>
                    <a:pt x="6" y="44"/>
                  </a:lnTo>
                  <a:lnTo>
                    <a:pt x="8" y="48"/>
                  </a:lnTo>
                  <a:lnTo>
                    <a:pt x="10" y="51"/>
                  </a:lnTo>
                  <a:lnTo>
                    <a:pt x="15" y="51"/>
                  </a:lnTo>
                  <a:lnTo>
                    <a:pt x="13" y="48"/>
                  </a:lnTo>
                  <a:lnTo>
                    <a:pt x="10" y="46"/>
                  </a:lnTo>
                  <a:lnTo>
                    <a:pt x="8" y="43"/>
                  </a:lnTo>
                  <a:lnTo>
                    <a:pt x="6" y="39"/>
                  </a:lnTo>
                  <a:lnTo>
                    <a:pt x="5" y="36"/>
                  </a:lnTo>
                  <a:lnTo>
                    <a:pt x="5" y="33"/>
                  </a:lnTo>
                  <a:lnTo>
                    <a:pt x="3" y="29"/>
                  </a:lnTo>
                  <a:lnTo>
                    <a:pt x="3" y="24"/>
                  </a:lnTo>
                  <a:lnTo>
                    <a:pt x="3" y="21"/>
                  </a:lnTo>
                  <a:lnTo>
                    <a:pt x="5" y="18"/>
                  </a:lnTo>
                  <a:lnTo>
                    <a:pt x="5" y="14"/>
                  </a:lnTo>
                  <a:lnTo>
                    <a:pt x="6" y="9"/>
                  </a:lnTo>
                  <a:lnTo>
                    <a:pt x="8" y="8"/>
                  </a:lnTo>
                  <a:lnTo>
                    <a:pt x="11" y="4"/>
                  </a:lnTo>
                  <a:lnTo>
                    <a:pt x="13" y="1"/>
                  </a:lnTo>
                  <a:lnTo>
                    <a:pt x="16" y="0"/>
                  </a:lnTo>
                  <a:lnTo>
                    <a:pt x="11"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4" name="Freeform 496">
              <a:extLst>
                <a:ext uri="{FF2B5EF4-FFF2-40B4-BE49-F238E27FC236}">
                  <a16:creationId xmlns:a16="http://schemas.microsoft.com/office/drawing/2014/main" id="{64FBE060-DD75-088C-056E-BBE3136048F6}"/>
                </a:ext>
              </a:extLst>
            </p:cNvPr>
            <p:cNvSpPr>
              <a:spLocks noEditPoints="1"/>
            </p:cNvSpPr>
            <p:nvPr/>
          </p:nvSpPr>
          <p:spPr bwMode="auto">
            <a:xfrm>
              <a:off x="1576" y="1713"/>
              <a:ext cx="70" cy="51"/>
            </a:xfrm>
            <a:custGeom>
              <a:avLst/>
              <a:gdLst>
                <a:gd name="T0" fmla="*/ 70 w 70"/>
                <a:gd name="T1" fmla="*/ 21 h 51"/>
                <a:gd name="T2" fmla="*/ 68 w 70"/>
                <a:gd name="T3" fmla="*/ 14 h 51"/>
                <a:gd name="T4" fmla="*/ 65 w 70"/>
                <a:gd name="T5" fmla="*/ 8 h 51"/>
                <a:gd name="T6" fmla="*/ 60 w 70"/>
                <a:gd name="T7" fmla="*/ 1 h 51"/>
                <a:gd name="T8" fmla="*/ 53 w 70"/>
                <a:gd name="T9" fmla="*/ 0 h 51"/>
                <a:gd name="T10" fmla="*/ 58 w 70"/>
                <a:gd name="T11" fmla="*/ 4 h 51"/>
                <a:gd name="T12" fmla="*/ 63 w 70"/>
                <a:gd name="T13" fmla="*/ 9 h 51"/>
                <a:gd name="T14" fmla="*/ 65 w 70"/>
                <a:gd name="T15" fmla="*/ 18 h 51"/>
                <a:gd name="T16" fmla="*/ 67 w 70"/>
                <a:gd name="T17" fmla="*/ 24 h 51"/>
                <a:gd name="T18" fmla="*/ 65 w 70"/>
                <a:gd name="T19" fmla="*/ 33 h 51"/>
                <a:gd name="T20" fmla="*/ 63 w 70"/>
                <a:gd name="T21" fmla="*/ 39 h 51"/>
                <a:gd name="T22" fmla="*/ 60 w 70"/>
                <a:gd name="T23" fmla="*/ 46 h 51"/>
                <a:gd name="T24" fmla="*/ 53 w 70"/>
                <a:gd name="T25" fmla="*/ 51 h 51"/>
                <a:gd name="T26" fmla="*/ 62 w 70"/>
                <a:gd name="T27" fmla="*/ 48 h 51"/>
                <a:gd name="T28" fmla="*/ 65 w 70"/>
                <a:gd name="T29" fmla="*/ 43 h 51"/>
                <a:gd name="T30" fmla="*/ 68 w 70"/>
                <a:gd name="T31" fmla="*/ 36 h 51"/>
                <a:gd name="T32" fmla="*/ 70 w 70"/>
                <a:gd name="T33" fmla="*/ 29 h 51"/>
                <a:gd name="T34" fmla="*/ 12 w 70"/>
                <a:gd name="T35" fmla="*/ 0 h 51"/>
                <a:gd name="T36" fmla="*/ 7 w 70"/>
                <a:gd name="T37" fmla="*/ 4 h 51"/>
                <a:gd name="T38" fmla="*/ 4 w 70"/>
                <a:gd name="T39" fmla="*/ 11 h 51"/>
                <a:gd name="T40" fmla="*/ 2 w 70"/>
                <a:gd name="T41" fmla="*/ 18 h 51"/>
                <a:gd name="T42" fmla="*/ 0 w 70"/>
                <a:gd name="T43" fmla="*/ 24 h 51"/>
                <a:gd name="T44" fmla="*/ 2 w 70"/>
                <a:gd name="T45" fmla="*/ 33 h 51"/>
                <a:gd name="T46" fmla="*/ 4 w 70"/>
                <a:gd name="T47" fmla="*/ 39 h 51"/>
                <a:gd name="T48" fmla="*/ 7 w 70"/>
                <a:gd name="T49" fmla="*/ 44 h 51"/>
                <a:gd name="T50" fmla="*/ 12 w 70"/>
                <a:gd name="T51" fmla="*/ 51 h 51"/>
                <a:gd name="T52" fmla="*/ 14 w 70"/>
                <a:gd name="T53" fmla="*/ 48 h 51"/>
                <a:gd name="T54" fmla="*/ 9 w 70"/>
                <a:gd name="T55" fmla="*/ 43 h 51"/>
                <a:gd name="T56" fmla="*/ 5 w 70"/>
                <a:gd name="T57" fmla="*/ 36 h 51"/>
                <a:gd name="T58" fmla="*/ 4 w 70"/>
                <a:gd name="T59" fmla="*/ 29 h 51"/>
                <a:gd name="T60" fmla="*/ 4 w 70"/>
                <a:gd name="T61" fmla="*/ 21 h 51"/>
                <a:gd name="T62" fmla="*/ 5 w 70"/>
                <a:gd name="T63" fmla="*/ 13 h 51"/>
                <a:gd name="T64" fmla="*/ 10 w 70"/>
                <a:gd name="T65" fmla="*/ 6 h 51"/>
                <a:gd name="T66" fmla="*/ 15 w 70"/>
                <a:gd name="T67" fmla="*/ 1 h 51"/>
                <a:gd name="T68" fmla="*/ 12 w 7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 h="51">
                  <a:moveTo>
                    <a:pt x="70" y="24"/>
                  </a:moveTo>
                  <a:lnTo>
                    <a:pt x="70" y="21"/>
                  </a:lnTo>
                  <a:lnTo>
                    <a:pt x="68" y="18"/>
                  </a:lnTo>
                  <a:lnTo>
                    <a:pt x="68" y="14"/>
                  </a:lnTo>
                  <a:lnTo>
                    <a:pt x="67" y="11"/>
                  </a:lnTo>
                  <a:lnTo>
                    <a:pt x="65" y="8"/>
                  </a:lnTo>
                  <a:lnTo>
                    <a:pt x="63" y="4"/>
                  </a:lnTo>
                  <a:lnTo>
                    <a:pt x="60" y="1"/>
                  </a:lnTo>
                  <a:lnTo>
                    <a:pt x="58" y="0"/>
                  </a:lnTo>
                  <a:lnTo>
                    <a:pt x="53" y="0"/>
                  </a:lnTo>
                  <a:lnTo>
                    <a:pt x="55" y="1"/>
                  </a:lnTo>
                  <a:lnTo>
                    <a:pt x="58" y="4"/>
                  </a:lnTo>
                  <a:lnTo>
                    <a:pt x="60" y="6"/>
                  </a:lnTo>
                  <a:lnTo>
                    <a:pt x="63" y="9"/>
                  </a:lnTo>
                  <a:lnTo>
                    <a:pt x="65" y="13"/>
                  </a:lnTo>
                  <a:lnTo>
                    <a:pt x="65" y="18"/>
                  </a:lnTo>
                  <a:lnTo>
                    <a:pt x="67" y="21"/>
                  </a:lnTo>
                  <a:lnTo>
                    <a:pt x="67" y="24"/>
                  </a:lnTo>
                  <a:lnTo>
                    <a:pt x="67" y="29"/>
                  </a:lnTo>
                  <a:lnTo>
                    <a:pt x="65" y="33"/>
                  </a:lnTo>
                  <a:lnTo>
                    <a:pt x="65" y="36"/>
                  </a:lnTo>
                  <a:lnTo>
                    <a:pt x="63" y="39"/>
                  </a:lnTo>
                  <a:lnTo>
                    <a:pt x="62" y="43"/>
                  </a:lnTo>
                  <a:lnTo>
                    <a:pt x="60" y="46"/>
                  </a:lnTo>
                  <a:lnTo>
                    <a:pt x="57" y="48"/>
                  </a:lnTo>
                  <a:lnTo>
                    <a:pt x="53" y="51"/>
                  </a:lnTo>
                  <a:lnTo>
                    <a:pt x="58" y="51"/>
                  </a:lnTo>
                  <a:lnTo>
                    <a:pt x="62" y="48"/>
                  </a:lnTo>
                  <a:lnTo>
                    <a:pt x="63" y="44"/>
                  </a:lnTo>
                  <a:lnTo>
                    <a:pt x="65" y="43"/>
                  </a:lnTo>
                  <a:lnTo>
                    <a:pt x="67" y="39"/>
                  </a:lnTo>
                  <a:lnTo>
                    <a:pt x="68" y="36"/>
                  </a:lnTo>
                  <a:lnTo>
                    <a:pt x="70" y="33"/>
                  </a:lnTo>
                  <a:lnTo>
                    <a:pt x="70" y="29"/>
                  </a:lnTo>
                  <a:lnTo>
                    <a:pt x="70" y="24"/>
                  </a:lnTo>
                  <a:close/>
                  <a:moveTo>
                    <a:pt x="12" y="0"/>
                  </a:moveTo>
                  <a:lnTo>
                    <a:pt x="10" y="1"/>
                  </a:lnTo>
                  <a:lnTo>
                    <a:pt x="7" y="4"/>
                  </a:lnTo>
                  <a:lnTo>
                    <a:pt x="5" y="8"/>
                  </a:lnTo>
                  <a:lnTo>
                    <a:pt x="4" y="11"/>
                  </a:lnTo>
                  <a:lnTo>
                    <a:pt x="2" y="14"/>
                  </a:lnTo>
                  <a:lnTo>
                    <a:pt x="2" y="18"/>
                  </a:lnTo>
                  <a:lnTo>
                    <a:pt x="0" y="21"/>
                  </a:lnTo>
                  <a:lnTo>
                    <a:pt x="0" y="24"/>
                  </a:lnTo>
                  <a:lnTo>
                    <a:pt x="0" y="29"/>
                  </a:lnTo>
                  <a:lnTo>
                    <a:pt x="2" y="33"/>
                  </a:lnTo>
                  <a:lnTo>
                    <a:pt x="2" y="36"/>
                  </a:lnTo>
                  <a:lnTo>
                    <a:pt x="4" y="39"/>
                  </a:lnTo>
                  <a:lnTo>
                    <a:pt x="5" y="43"/>
                  </a:lnTo>
                  <a:lnTo>
                    <a:pt x="7" y="44"/>
                  </a:lnTo>
                  <a:lnTo>
                    <a:pt x="9" y="48"/>
                  </a:lnTo>
                  <a:lnTo>
                    <a:pt x="12" y="51"/>
                  </a:lnTo>
                  <a:lnTo>
                    <a:pt x="17" y="51"/>
                  </a:lnTo>
                  <a:lnTo>
                    <a:pt x="14" y="48"/>
                  </a:lnTo>
                  <a:lnTo>
                    <a:pt x="12" y="46"/>
                  </a:lnTo>
                  <a:lnTo>
                    <a:pt x="9" y="43"/>
                  </a:lnTo>
                  <a:lnTo>
                    <a:pt x="7" y="39"/>
                  </a:lnTo>
                  <a:lnTo>
                    <a:pt x="5" y="36"/>
                  </a:lnTo>
                  <a:lnTo>
                    <a:pt x="5" y="33"/>
                  </a:lnTo>
                  <a:lnTo>
                    <a:pt x="4" y="29"/>
                  </a:lnTo>
                  <a:lnTo>
                    <a:pt x="4" y="24"/>
                  </a:lnTo>
                  <a:lnTo>
                    <a:pt x="4" y="21"/>
                  </a:lnTo>
                  <a:lnTo>
                    <a:pt x="5" y="18"/>
                  </a:lnTo>
                  <a:lnTo>
                    <a:pt x="5" y="13"/>
                  </a:lnTo>
                  <a:lnTo>
                    <a:pt x="7" y="9"/>
                  </a:lnTo>
                  <a:lnTo>
                    <a:pt x="10" y="6"/>
                  </a:lnTo>
                  <a:lnTo>
                    <a:pt x="12" y="4"/>
                  </a:lnTo>
                  <a:lnTo>
                    <a:pt x="15" y="1"/>
                  </a:lnTo>
                  <a:lnTo>
                    <a:pt x="19" y="0"/>
                  </a:lnTo>
                  <a:lnTo>
                    <a:pt x="12"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5" name="Freeform 497">
              <a:extLst>
                <a:ext uri="{FF2B5EF4-FFF2-40B4-BE49-F238E27FC236}">
                  <a16:creationId xmlns:a16="http://schemas.microsoft.com/office/drawing/2014/main" id="{6AD520CA-C4C3-29ED-357C-5D8D01130921}"/>
                </a:ext>
              </a:extLst>
            </p:cNvPr>
            <p:cNvSpPr>
              <a:spLocks noEditPoints="1"/>
            </p:cNvSpPr>
            <p:nvPr/>
          </p:nvSpPr>
          <p:spPr bwMode="auto">
            <a:xfrm>
              <a:off x="1578" y="1713"/>
              <a:ext cx="66" cy="51"/>
            </a:xfrm>
            <a:custGeom>
              <a:avLst/>
              <a:gdLst>
                <a:gd name="T0" fmla="*/ 66 w 66"/>
                <a:gd name="T1" fmla="*/ 21 h 51"/>
                <a:gd name="T2" fmla="*/ 65 w 66"/>
                <a:gd name="T3" fmla="*/ 14 h 51"/>
                <a:gd name="T4" fmla="*/ 61 w 66"/>
                <a:gd name="T5" fmla="*/ 8 h 51"/>
                <a:gd name="T6" fmla="*/ 56 w 66"/>
                <a:gd name="T7" fmla="*/ 1 h 51"/>
                <a:gd name="T8" fmla="*/ 48 w 66"/>
                <a:gd name="T9" fmla="*/ 0 h 51"/>
                <a:gd name="T10" fmla="*/ 53 w 66"/>
                <a:gd name="T11" fmla="*/ 3 h 51"/>
                <a:gd name="T12" fmla="*/ 58 w 66"/>
                <a:gd name="T13" fmla="*/ 9 h 51"/>
                <a:gd name="T14" fmla="*/ 61 w 66"/>
                <a:gd name="T15" fmla="*/ 16 h 51"/>
                <a:gd name="T16" fmla="*/ 63 w 66"/>
                <a:gd name="T17" fmla="*/ 24 h 51"/>
                <a:gd name="T18" fmla="*/ 61 w 66"/>
                <a:gd name="T19" fmla="*/ 33 h 51"/>
                <a:gd name="T20" fmla="*/ 60 w 66"/>
                <a:gd name="T21" fmla="*/ 39 h 51"/>
                <a:gd name="T22" fmla="*/ 55 w 66"/>
                <a:gd name="T23" fmla="*/ 46 h 51"/>
                <a:gd name="T24" fmla="*/ 50 w 66"/>
                <a:gd name="T25" fmla="*/ 51 h 51"/>
                <a:gd name="T26" fmla="*/ 58 w 66"/>
                <a:gd name="T27" fmla="*/ 48 h 51"/>
                <a:gd name="T28" fmla="*/ 61 w 66"/>
                <a:gd name="T29" fmla="*/ 43 h 51"/>
                <a:gd name="T30" fmla="*/ 65 w 66"/>
                <a:gd name="T31" fmla="*/ 36 h 51"/>
                <a:gd name="T32" fmla="*/ 66 w 66"/>
                <a:gd name="T33" fmla="*/ 29 h 51"/>
                <a:gd name="T34" fmla="*/ 13 w 66"/>
                <a:gd name="T35" fmla="*/ 0 h 51"/>
                <a:gd name="T36" fmla="*/ 8 w 66"/>
                <a:gd name="T37" fmla="*/ 4 h 51"/>
                <a:gd name="T38" fmla="*/ 3 w 66"/>
                <a:gd name="T39" fmla="*/ 9 h 51"/>
                <a:gd name="T40" fmla="*/ 2 w 66"/>
                <a:gd name="T41" fmla="*/ 18 h 51"/>
                <a:gd name="T42" fmla="*/ 0 w 66"/>
                <a:gd name="T43" fmla="*/ 24 h 51"/>
                <a:gd name="T44" fmla="*/ 2 w 66"/>
                <a:gd name="T45" fmla="*/ 33 h 51"/>
                <a:gd name="T46" fmla="*/ 3 w 66"/>
                <a:gd name="T47" fmla="*/ 39 h 51"/>
                <a:gd name="T48" fmla="*/ 7 w 66"/>
                <a:gd name="T49" fmla="*/ 46 h 51"/>
                <a:gd name="T50" fmla="*/ 12 w 66"/>
                <a:gd name="T51" fmla="*/ 51 h 51"/>
                <a:gd name="T52" fmla="*/ 15 w 66"/>
                <a:gd name="T53" fmla="*/ 48 h 51"/>
                <a:gd name="T54" fmla="*/ 10 w 66"/>
                <a:gd name="T55" fmla="*/ 43 h 51"/>
                <a:gd name="T56" fmla="*/ 5 w 66"/>
                <a:gd name="T57" fmla="*/ 36 h 51"/>
                <a:gd name="T58" fmla="*/ 3 w 66"/>
                <a:gd name="T59" fmla="*/ 29 h 51"/>
                <a:gd name="T60" fmla="*/ 3 w 66"/>
                <a:gd name="T61" fmla="*/ 21 h 51"/>
                <a:gd name="T62" fmla="*/ 7 w 66"/>
                <a:gd name="T63" fmla="*/ 13 h 51"/>
                <a:gd name="T64" fmla="*/ 10 w 66"/>
                <a:gd name="T65" fmla="*/ 6 h 51"/>
                <a:gd name="T66" fmla="*/ 17 w 66"/>
                <a:gd name="T67" fmla="*/ 1 h 51"/>
                <a:gd name="T68" fmla="*/ 13 w 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 h="51">
                  <a:moveTo>
                    <a:pt x="66" y="24"/>
                  </a:moveTo>
                  <a:lnTo>
                    <a:pt x="66" y="21"/>
                  </a:lnTo>
                  <a:lnTo>
                    <a:pt x="65" y="18"/>
                  </a:lnTo>
                  <a:lnTo>
                    <a:pt x="65" y="14"/>
                  </a:lnTo>
                  <a:lnTo>
                    <a:pt x="63" y="9"/>
                  </a:lnTo>
                  <a:lnTo>
                    <a:pt x="61" y="8"/>
                  </a:lnTo>
                  <a:lnTo>
                    <a:pt x="58" y="4"/>
                  </a:lnTo>
                  <a:lnTo>
                    <a:pt x="56" y="1"/>
                  </a:lnTo>
                  <a:lnTo>
                    <a:pt x="53" y="0"/>
                  </a:lnTo>
                  <a:lnTo>
                    <a:pt x="48" y="0"/>
                  </a:lnTo>
                  <a:lnTo>
                    <a:pt x="51" y="1"/>
                  </a:lnTo>
                  <a:lnTo>
                    <a:pt x="53" y="3"/>
                  </a:lnTo>
                  <a:lnTo>
                    <a:pt x="56" y="6"/>
                  </a:lnTo>
                  <a:lnTo>
                    <a:pt x="58" y="9"/>
                  </a:lnTo>
                  <a:lnTo>
                    <a:pt x="61" y="13"/>
                  </a:lnTo>
                  <a:lnTo>
                    <a:pt x="61" y="16"/>
                  </a:lnTo>
                  <a:lnTo>
                    <a:pt x="63" y="21"/>
                  </a:lnTo>
                  <a:lnTo>
                    <a:pt x="63" y="24"/>
                  </a:lnTo>
                  <a:lnTo>
                    <a:pt x="63" y="29"/>
                  </a:lnTo>
                  <a:lnTo>
                    <a:pt x="61" y="33"/>
                  </a:lnTo>
                  <a:lnTo>
                    <a:pt x="61" y="36"/>
                  </a:lnTo>
                  <a:lnTo>
                    <a:pt x="60" y="39"/>
                  </a:lnTo>
                  <a:lnTo>
                    <a:pt x="58" y="43"/>
                  </a:lnTo>
                  <a:lnTo>
                    <a:pt x="55" y="46"/>
                  </a:lnTo>
                  <a:lnTo>
                    <a:pt x="51" y="48"/>
                  </a:lnTo>
                  <a:lnTo>
                    <a:pt x="50" y="51"/>
                  </a:lnTo>
                  <a:lnTo>
                    <a:pt x="55" y="51"/>
                  </a:lnTo>
                  <a:lnTo>
                    <a:pt x="58" y="48"/>
                  </a:lnTo>
                  <a:lnTo>
                    <a:pt x="60" y="46"/>
                  </a:lnTo>
                  <a:lnTo>
                    <a:pt x="61" y="43"/>
                  </a:lnTo>
                  <a:lnTo>
                    <a:pt x="63" y="39"/>
                  </a:lnTo>
                  <a:lnTo>
                    <a:pt x="65" y="36"/>
                  </a:lnTo>
                  <a:lnTo>
                    <a:pt x="66" y="33"/>
                  </a:lnTo>
                  <a:lnTo>
                    <a:pt x="66" y="29"/>
                  </a:lnTo>
                  <a:lnTo>
                    <a:pt x="66" y="24"/>
                  </a:lnTo>
                  <a:close/>
                  <a:moveTo>
                    <a:pt x="13" y="0"/>
                  </a:moveTo>
                  <a:lnTo>
                    <a:pt x="10" y="1"/>
                  </a:lnTo>
                  <a:lnTo>
                    <a:pt x="8" y="4"/>
                  </a:lnTo>
                  <a:lnTo>
                    <a:pt x="5" y="8"/>
                  </a:lnTo>
                  <a:lnTo>
                    <a:pt x="3" y="9"/>
                  </a:lnTo>
                  <a:lnTo>
                    <a:pt x="2" y="14"/>
                  </a:lnTo>
                  <a:lnTo>
                    <a:pt x="2" y="18"/>
                  </a:lnTo>
                  <a:lnTo>
                    <a:pt x="0" y="21"/>
                  </a:lnTo>
                  <a:lnTo>
                    <a:pt x="0" y="24"/>
                  </a:lnTo>
                  <a:lnTo>
                    <a:pt x="0" y="29"/>
                  </a:lnTo>
                  <a:lnTo>
                    <a:pt x="2" y="33"/>
                  </a:lnTo>
                  <a:lnTo>
                    <a:pt x="2" y="36"/>
                  </a:lnTo>
                  <a:lnTo>
                    <a:pt x="3" y="39"/>
                  </a:lnTo>
                  <a:lnTo>
                    <a:pt x="5" y="43"/>
                  </a:lnTo>
                  <a:lnTo>
                    <a:pt x="7" y="46"/>
                  </a:lnTo>
                  <a:lnTo>
                    <a:pt x="10" y="48"/>
                  </a:lnTo>
                  <a:lnTo>
                    <a:pt x="12" y="51"/>
                  </a:lnTo>
                  <a:lnTo>
                    <a:pt x="18" y="51"/>
                  </a:lnTo>
                  <a:lnTo>
                    <a:pt x="15" y="48"/>
                  </a:lnTo>
                  <a:lnTo>
                    <a:pt x="12" y="46"/>
                  </a:lnTo>
                  <a:lnTo>
                    <a:pt x="10" y="43"/>
                  </a:lnTo>
                  <a:lnTo>
                    <a:pt x="7" y="39"/>
                  </a:lnTo>
                  <a:lnTo>
                    <a:pt x="5" y="36"/>
                  </a:lnTo>
                  <a:lnTo>
                    <a:pt x="5" y="33"/>
                  </a:lnTo>
                  <a:lnTo>
                    <a:pt x="3" y="29"/>
                  </a:lnTo>
                  <a:lnTo>
                    <a:pt x="3" y="24"/>
                  </a:lnTo>
                  <a:lnTo>
                    <a:pt x="3" y="21"/>
                  </a:lnTo>
                  <a:lnTo>
                    <a:pt x="5" y="16"/>
                  </a:lnTo>
                  <a:lnTo>
                    <a:pt x="7" y="13"/>
                  </a:lnTo>
                  <a:lnTo>
                    <a:pt x="8" y="9"/>
                  </a:lnTo>
                  <a:lnTo>
                    <a:pt x="10" y="6"/>
                  </a:lnTo>
                  <a:lnTo>
                    <a:pt x="13" y="3"/>
                  </a:lnTo>
                  <a:lnTo>
                    <a:pt x="17" y="1"/>
                  </a:lnTo>
                  <a:lnTo>
                    <a:pt x="20" y="0"/>
                  </a:lnTo>
                  <a:lnTo>
                    <a:pt x="13"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6" name="Freeform 498">
              <a:extLst>
                <a:ext uri="{FF2B5EF4-FFF2-40B4-BE49-F238E27FC236}">
                  <a16:creationId xmlns:a16="http://schemas.microsoft.com/office/drawing/2014/main" id="{8566EE2B-FE23-07DC-DD96-C746646DD8C5}"/>
                </a:ext>
              </a:extLst>
            </p:cNvPr>
            <p:cNvSpPr>
              <a:spLocks noEditPoints="1"/>
            </p:cNvSpPr>
            <p:nvPr/>
          </p:nvSpPr>
          <p:spPr bwMode="auto">
            <a:xfrm>
              <a:off x="1580" y="1713"/>
              <a:ext cx="63" cy="51"/>
            </a:xfrm>
            <a:custGeom>
              <a:avLst/>
              <a:gdLst>
                <a:gd name="T0" fmla="*/ 63 w 63"/>
                <a:gd name="T1" fmla="*/ 21 h 51"/>
                <a:gd name="T2" fmla="*/ 61 w 63"/>
                <a:gd name="T3" fmla="*/ 13 h 51"/>
                <a:gd name="T4" fmla="*/ 56 w 63"/>
                <a:gd name="T5" fmla="*/ 6 h 51"/>
                <a:gd name="T6" fmla="*/ 51 w 63"/>
                <a:gd name="T7" fmla="*/ 1 h 51"/>
                <a:gd name="T8" fmla="*/ 41 w 63"/>
                <a:gd name="T9" fmla="*/ 0 h 51"/>
                <a:gd name="T10" fmla="*/ 49 w 63"/>
                <a:gd name="T11" fmla="*/ 3 h 51"/>
                <a:gd name="T12" fmla="*/ 54 w 63"/>
                <a:gd name="T13" fmla="*/ 9 h 51"/>
                <a:gd name="T14" fmla="*/ 58 w 63"/>
                <a:gd name="T15" fmla="*/ 16 h 51"/>
                <a:gd name="T16" fmla="*/ 59 w 63"/>
                <a:gd name="T17" fmla="*/ 24 h 51"/>
                <a:gd name="T18" fmla="*/ 58 w 63"/>
                <a:gd name="T19" fmla="*/ 33 h 51"/>
                <a:gd name="T20" fmla="*/ 54 w 63"/>
                <a:gd name="T21" fmla="*/ 39 h 51"/>
                <a:gd name="T22" fmla="*/ 49 w 63"/>
                <a:gd name="T23" fmla="*/ 46 h 51"/>
                <a:gd name="T24" fmla="*/ 44 w 63"/>
                <a:gd name="T25" fmla="*/ 51 h 51"/>
                <a:gd name="T26" fmla="*/ 53 w 63"/>
                <a:gd name="T27" fmla="*/ 48 h 51"/>
                <a:gd name="T28" fmla="*/ 58 w 63"/>
                <a:gd name="T29" fmla="*/ 43 h 51"/>
                <a:gd name="T30" fmla="*/ 61 w 63"/>
                <a:gd name="T31" fmla="*/ 36 h 51"/>
                <a:gd name="T32" fmla="*/ 63 w 63"/>
                <a:gd name="T33" fmla="*/ 29 h 51"/>
                <a:gd name="T34" fmla="*/ 15 w 63"/>
                <a:gd name="T35" fmla="*/ 0 h 51"/>
                <a:gd name="T36" fmla="*/ 8 w 63"/>
                <a:gd name="T37" fmla="*/ 4 h 51"/>
                <a:gd name="T38" fmla="*/ 3 w 63"/>
                <a:gd name="T39" fmla="*/ 9 h 51"/>
                <a:gd name="T40" fmla="*/ 1 w 63"/>
                <a:gd name="T41" fmla="*/ 18 h 51"/>
                <a:gd name="T42" fmla="*/ 0 w 63"/>
                <a:gd name="T43" fmla="*/ 24 h 51"/>
                <a:gd name="T44" fmla="*/ 1 w 63"/>
                <a:gd name="T45" fmla="*/ 33 h 51"/>
                <a:gd name="T46" fmla="*/ 3 w 63"/>
                <a:gd name="T47" fmla="*/ 39 h 51"/>
                <a:gd name="T48" fmla="*/ 8 w 63"/>
                <a:gd name="T49" fmla="*/ 46 h 51"/>
                <a:gd name="T50" fmla="*/ 13 w 63"/>
                <a:gd name="T51" fmla="*/ 51 h 51"/>
                <a:gd name="T52" fmla="*/ 16 w 63"/>
                <a:gd name="T53" fmla="*/ 48 h 51"/>
                <a:gd name="T54" fmla="*/ 10 w 63"/>
                <a:gd name="T55" fmla="*/ 43 h 51"/>
                <a:gd name="T56" fmla="*/ 6 w 63"/>
                <a:gd name="T57" fmla="*/ 36 h 51"/>
                <a:gd name="T58" fmla="*/ 3 w 63"/>
                <a:gd name="T59" fmla="*/ 29 h 51"/>
                <a:gd name="T60" fmla="*/ 3 w 63"/>
                <a:gd name="T61" fmla="*/ 21 h 51"/>
                <a:gd name="T62" fmla="*/ 6 w 63"/>
                <a:gd name="T63" fmla="*/ 13 h 51"/>
                <a:gd name="T64" fmla="*/ 11 w 63"/>
                <a:gd name="T65" fmla="*/ 6 h 51"/>
                <a:gd name="T66" fmla="*/ 18 w 63"/>
                <a:gd name="T67" fmla="*/ 1 h 51"/>
                <a:gd name="T68" fmla="*/ 15 w 6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 h="51">
                  <a:moveTo>
                    <a:pt x="63" y="24"/>
                  </a:moveTo>
                  <a:lnTo>
                    <a:pt x="63" y="21"/>
                  </a:lnTo>
                  <a:lnTo>
                    <a:pt x="61" y="18"/>
                  </a:lnTo>
                  <a:lnTo>
                    <a:pt x="61" y="13"/>
                  </a:lnTo>
                  <a:lnTo>
                    <a:pt x="59" y="9"/>
                  </a:lnTo>
                  <a:lnTo>
                    <a:pt x="56" y="6"/>
                  </a:lnTo>
                  <a:lnTo>
                    <a:pt x="54" y="4"/>
                  </a:lnTo>
                  <a:lnTo>
                    <a:pt x="51" y="1"/>
                  </a:lnTo>
                  <a:lnTo>
                    <a:pt x="49" y="0"/>
                  </a:lnTo>
                  <a:lnTo>
                    <a:pt x="41" y="0"/>
                  </a:lnTo>
                  <a:lnTo>
                    <a:pt x="46" y="1"/>
                  </a:lnTo>
                  <a:lnTo>
                    <a:pt x="49" y="3"/>
                  </a:lnTo>
                  <a:lnTo>
                    <a:pt x="51" y="6"/>
                  </a:lnTo>
                  <a:lnTo>
                    <a:pt x="54" y="9"/>
                  </a:lnTo>
                  <a:lnTo>
                    <a:pt x="56" y="13"/>
                  </a:lnTo>
                  <a:lnTo>
                    <a:pt x="58" y="16"/>
                  </a:lnTo>
                  <a:lnTo>
                    <a:pt x="59" y="21"/>
                  </a:lnTo>
                  <a:lnTo>
                    <a:pt x="59" y="24"/>
                  </a:lnTo>
                  <a:lnTo>
                    <a:pt x="59" y="29"/>
                  </a:lnTo>
                  <a:lnTo>
                    <a:pt x="58" y="33"/>
                  </a:lnTo>
                  <a:lnTo>
                    <a:pt x="58" y="36"/>
                  </a:lnTo>
                  <a:lnTo>
                    <a:pt x="54" y="39"/>
                  </a:lnTo>
                  <a:lnTo>
                    <a:pt x="53" y="43"/>
                  </a:lnTo>
                  <a:lnTo>
                    <a:pt x="49" y="46"/>
                  </a:lnTo>
                  <a:lnTo>
                    <a:pt x="48" y="48"/>
                  </a:lnTo>
                  <a:lnTo>
                    <a:pt x="44" y="51"/>
                  </a:lnTo>
                  <a:lnTo>
                    <a:pt x="49" y="51"/>
                  </a:lnTo>
                  <a:lnTo>
                    <a:pt x="53" y="48"/>
                  </a:lnTo>
                  <a:lnTo>
                    <a:pt x="56" y="46"/>
                  </a:lnTo>
                  <a:lnTo>
                    <a:pt x="58" y="43"/>
                  </a:lnTo>
                  <a:lnTo>
                    <a:pt x="59" y="39"/>
                  </a:lnTo>
                  <a:lnTo>
                    <a:pt x="61" y="36"/>
                  </a:lnTo>
                  <a:lnTo>
                    <a:pt x="61" y="33"/>
                  </a:lnTo>
                  <a:lnTo>
                    <a:pt x="63" y="29"/>
                  </a:lnTo>
                  <a:lnTo>
                    <a:pt x="63" y="24"/>
                  </a:lnTo>
                  <a:close/>
                  <a:moveTo>
                    <a:pt x="15" y="0"/>
                  </a:moveTo>
                  <a:lnTo>
                    <a:pt x="11" y="1"/>
                  </a:lnTo>
                  <a:lnTo>
                    <a:pt x="8" y="4"/>
                  </a:lnTo>
                  <a:lnTo>
                    <a:pt x="6" y="6"/>
                  </a:lnTo>
                  <a:lnTo>
                    <a:pt x="3" y="9"/>
                  </a:lnTo>
                  <a:lnTo>
                    <a:pt x="1" y="13"/>
                  </a:lnTo>
                  <a:lnTo>
                    <a:pt x="1" y="18"/>
                  </a:lnTo>
                  <a:lnTo>
                    <a:pt x="0" y="21"/>
                  </a:lnTo>
                  <a:lnTo>
                    <a:pt x="0" y="24"/>
                  </a:lnTo>
                  <a:lnTo>
                    <a:pt x="0" y="29"/>
                  </a:lnTo>
                  <a:lnTo>
                    <a:pt x="1" y="33"/>
                  </a:lnTo>
                  <a:lnTo>
                    <a:pt x="1" y="36"/>
                  </a:lnTo>
                  <a:lnTo>
                    <a:pt x="3" y="39"/>
                  </a:lnTo>
                  <a:lnTo>
                    <a:pt x="5" y="43"/>
                  </a:lnTo>
                  <a:lnTo>
                    <a:pt x="8" y="46"/>
                  </a:lnTo>
                  <a:lnTo>
                    <a:pt x="10" y="48"/>
                  </a:lnTo>
                  <a:lnTo>
                    <a:pt x="13" y="51"/>
                  </a:lnTo>
                  <a:lnTo>
                    <a:pt x="20" y="51"/>
                  </a:lnTo>
                  <a:lnTo>
                    <a:pt x="16" y="48"/>
                  </a:lnTo>
                  <a:lnTo>
                    <a:pt x="13" y="46"/>
                  </a:lnTo>
                  <a:lnTo>
                    <a:pt x="10" y="43"/>
                  </a:lnTo>
                  <a:lnTo>
                    <a:pt x="8" y="39"/>
                  </a:lnTo>
                  <a:lnTo>
                    <a:pt x="6" y="36"/>
                  </a:lnTo>
                  <a:lnTo>
                    <a:pt x="5" y="33"/>
                  </a:lnTo>
                  <a:lnTo>
                    <a:pt x="3" y="29"/>
                  </a:lnTo>
                  <a:lnTo>
                    <a:pt x="3" y="24"/>
                  </a:lnTo>
                  <a:lnTo>
                    <a:pt x="3" y="21"/>
                  </a:lnTo>
                  <a:lnTo>
                    <a:pt x="5" y="16"/>
                  </a:lnTo>
                  <a:lnTo>
                    <a:pt x="6" y="13"/>
                  </a:lnTo>
                  <a:lnTo>
                    <a:pt x="8" y="9"/>
                  </a:lnTo>
                  <a:lnTo>
                    <a:pt x="11" y="6"/>
                  </a:lnTo>
                  <a:lnTo>
                    <a:pt x="15" y="3"/>
                  </a:lnTo>
                  <a:lnTo>
                    <a:pt x="18" y="1"/>
                  </a:lnTo>
                  <a:lnTo>
                    <a:pt x="21" y="0"/>
                  </a:lnTo>
                  <a:lnTo>
                    <a:pt x="15"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7" name="Freeform 499">
              <a:extLst>
                <a:ext uri="{FF2B5EF4-FFF2-40B4-BE49-F238E27FC236}">
                  <a16:creationId xmlns:a16="http://schemas.microsoft.com/office/drawing/2014/main" id="{48A5256A-5520-B4A5-9088-93D4A874F4F5}"/>
                </a:ext>
              </a:extLst>
            </p:cNvPr>
            <p:cNvSpPr>
              <a:spLocks noEditPoints="1"/>
            </p:cNvSpPr>
            <p:nvPr/>
          </p:nvSpPr>
          <p:spPr bwMode="auto">
            <a:xfrm>
              <a:off x="1581" y="1713"/>
              <a:ext cx="60" cy="51"/>
            </a:xfrm>
            <a:custGeom>
              <a:avLst/>
              <a:gdLst>
                <a:gd name="T0" fmla="*/ 60 w 60"/>
                <a:gd name="T1" fmla="*/ 21 h 51"/>
                <a:gd name="T2" fmla="*/ 58 w 60"/>
                <a:gd name="T3" fmla="*/ 13 h 51"/>
                <a:gd name="T4" fmla="*/ 53 w 60"/>
                <a:gd name="T5" fmla="*/ 6 h 51"/>
                <a:gd name="T6" fmla="*/ 48 w 60"/>
                <a:gd name="T7" fmla="*/ 1 h 51"/>
                <a:gd name="T8" fmla="*/ 33 w 60"/>
                <a:gd name="T9" fmla="*/ 0 h 51"/>
                <a:gd name="T10" fmla="*/ 43 w 60"/>
                <a:gd name="T11" fmla="*/ 1 h 51"/>
                <a:gd name="T12" fmla="*/ 50 w 60"/>
                <a:gd name="T13" fmla="*/ 8 h 51"/>
                <a:gd name="T14" fmla="*/ 55 w 60"/>
                <a:gd name="T15" fmla="*/ 16 h 51"/>
                <a:gd name="T16" fmla="*/ 57 w 60"/>
                <a:gd name="T17" fmla="*/ 24 h 51"/>
                <a:gd name="T18" fmla="*/ 55 w 60"/>
                <a:gd name="T19" fmla="*/ 33 h 51"/>
                <a:gd name="T20" fmla="*/ 52 w 60"/>
                <a:gd name="T21" fmla="*/ 41 h 51"/>
                <a:gd name="T22" fmla="*/ 45 w 60"/>
                <a:gd name="T23" fmla="*/ 46 h 51"/>
                <a:gd name="T24" fmla="*/ 38 w 60"/>
                <a:gd name="T25" fmla="*/ 51 h 51"/>
                <a:gd name="T26" fmla="*/ 48 w 60"/>
                <a:gd name="T27" fmla="*/ 48 h 51"/>
                <a:gd name="T28" fmla="*/ 55 w 60"/>
                <a:gd name="T29" fmla="*/ 43 h 51"/>
                <a:gd name="T30" fmla="*/ 58 w 60"/>
                <a:gd name="T31" fmla="*/ 36 h 51"/>
                <a:gd name="T32" fmla="*/ 60 w 60"/>
                <a:gd name="T33" fmla="*/ 29 h 51"/>
                <a:gd name="T34" fmla="*/ 17 w 60"/>
                <a:gd name="T35" fmla="*/ 0 h 51"/>
                <a:gd name="T36" fmla="*/ 10 w 60"/>
                <a:gd name="T37" fmla="*/ 3 h 51"/>
                <a:gd name="T38" fmla="*/ 5 w 60"/>
                <a:gd name="T39" fmla="*/ 9 h 51"/>
                <a:gd name="T40" fmla="*/ 2 w 60"/>
                <a:gd name="T41" fmla="*/ 16 h 51"/>
                <a:gd name="T42" fmla="*/ 0 w 60"/>
                <a:gd name="T43" fmla="*/ 24 h 51"/>
                <a:gd name="T44" fmla="*/ 2 w 60"/>
                <a:gd name="T45" fmla="*/ 33 h 51"/>
                <a:gd name="T46" fmla="*/ 4 w 60"/>
                <a:gd name="T47" fmla="*/ 39 h 51"/>
                <a:gd name="T48" fmla="*/ 9 w 60"/>
                <a:gd name="T49" fmla="*/ 46 h 51"/>
                <a:gd name="T50" fmla="*/ 15 w 60"/>
                <a:gd name="T51" fmla="*/ 51 h 51"/>
                <a:gd name="T52" fmla="*/ 19 w 60"/>
                <a:gd name="T53" fmla="*/ 49 h 51"/>
                <a:gd name="T54" fmla="*/ 12 w 60"/>
                <a:gd name="T55" fmla="*/ 44 h 51"/>
                <a:gd name="T56" fmla="*/ 7 w 60"/>
                <a:gd name="T57" fmla="*/ 38 h 51"/>
                <a:gd name="T58" fmla="*/ 4 w 60"/>
                <a:gd name="T59" fmla="*/ 29 h 51"/>
                <a:gd name="T60" fmla="*/ 4 w 60"/>
                <a:gd name="T61" fmla="*/ 19 h 51"/>
                <a:gd name="T62" fmla="*/ 7 w 60"/>
                <a:gd name="T63" fmla="*/ 11 h 51"/>
                <a:gd name="T64" fmla="*/ 14 w 60"/>
                <a:gd name="T65" fmla="*/ 4 h 51"/>
                <a:gd name="T66" fmla="*/ 22 w 60"/>
                <a:gd name="T67" fmla="*/ 0 h 51"/>
                <a:gd name="T68" fmla="*/ 17 w 6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 h="51">
                  <a:moveTo>
                    <a:pt x="60" y="24"/>
                  </a:moveTo>
                  <a:lnTo>
                    <a:pt x="60" y="21"/>
                  </a:lnTo>
                  <a:lnTo>
                    <a:pt x="58" y="16"/>
                  </a:lnTo>
                  <a:lnTo>
                    <a:pt x="58" y="13"/>
                  </a:lnTo>
                  <a:lnTo>
                    <a:pt x="55" y="9"/>
                  </a:lnTo>
                  <a:lnTo>
                    <a:pt x="53" y="6"/>
                  </a:lnTo>
                  <a:lnTo>
                    <a:pt x="50" y="3"/>
                  </a:lnTo>
                  <a:lnTo>
                    <a:pt x="48" y="1"/>
                  </a:lnTo>
                  <a:lnTo>
                    <a:pt x="45" y="0"/>
                  </a:lnTo>
                  <a:lnTo>
                    <a:pt x="33" y="0"/>
                  </a:lnTo>
                  <a:lnTo>
                    <a:pt x="38" y="0"/>
                  </a:lnTo>
                  <a:lnTo>
                    <a:pt x="43" y="1"/>
                  </a:lnTo>
                  <a:lnTo>
                    <a:pt x="47" y="4"/>
                  </a:lnTo>
                  <a:lnTo>
                    <a:pt x="50" y="8"/>
                  </a:lnTo>
                  <a:lnTo>
                    <a:pt x="53" y="11"/>
                  </a:lnTo>
                  <a:lnTo>
                    <a:pt x="55" y="16"/>
                  </a:lnTo>
                  <a:lnTo>
                    <a:pt x="57" y="19"/>
                  </a:lnTo>
                  <a:lnTo>
                    <a:pt x="57" y="24"/>
                  </a:lnTo>
                  <a:lnTo>
                    <a:pt x="57" y="29"/>
                  </a:lnTo>
                  <a:lnTo>
                    <a:pt x="55" y="33"/>
                  </a:lnTo>
                  <a:lnTo>
                    <a:pt x="53" y="38"/>
                  </a:lnTo>
                  <a:lnTo>
                    <a:pt x="52" y="41"/>
                  </a:lnTo>
                  <a:lnTo>
                    <a:pt x="48" y="44"/>
                  </a:lnTo>
                  <a:lnTo>
                    <a:pt x="45" y="46"/>
                  </a:lnTo>
                  <a:lnTo>
                    <a:pt x="42" y="49"/>
                  </a:lnTo>
                  <a:lnTo>
                    <a:pt x="38" y="51"/>
                  </a:lnTo>
                  <a:lnTo>
                    <a:pt x="47" y="51"/>
                  </a:lnTo>
                  <a:lnTo>
                    <a:pt x="48" y="48"/>
                  </a:lnTo>
                  <a:lnTo>
                    <a:pt x="52" y="46"/>
                  </a:lnTo>
                  <a:lnTo>
                    <a:pt x="55" y="43"/>
                  </a:lnTo>
                  <a:lnTo>
                    <a:pt x="57" y="39"/>
                  </a:lnTo>
                  <a:lnTo>
                    <a:pt x="58" y="36"/>
                  </a:lnTo>
                  <a:lnTo>
                    <a:pt x="58" y="33"/>
                  </a:lnTo>
                  <a:lnTo>
                    <a:pt x="60" y="29"/>
                  </a:lnTo>
                  <a:lnTo>
                    <a:pt x="60" y="24"/>
                  </a:lnTo>
                  <a:close/>
                  <a:moveTo>
                    <a:pt x="17" y="0"/>
                  </a:moveTo>
                  <a:lnTo>
                    <a:pt x="14" y="1"/>
                  </a:lnTo>
                  <a:lnTo>
                    <a:pt x="10" y="3"/>
                  </a:lnTo>
                  <a:lnTo>
                    <a:pt x="7" y="6"/>
                  </a:lnTo>
                  <a:lnTo>
                    <a:pt x="5" y="9"/>
                  </a:lnTo>
                  <a:lnTo>
                    <a:pt x="4" y="13"/>
                  </a:lnTo>
                  <a:lnTo>
                    <a:pt x="2" y="16"/>
                  </a:lnTo>
                  <a:lnTo>
                    <a:pt x="0" y="21"/>
                  </a:lnTo>
                  <a:lnTo>
                    <a:pt x="0" y="24"/>
                  </a:lnTo>
                  <a:lnTo>
                    <a:pt x="0" y="29"/>
                  </a:lnTo>
                  <a:lnTo>
                    <a:pt x="2" y="33"/>
                  </a:lnTo>
                  <a:lnTo>
                    <a:pt x="2" y="36"/>
                  </a:lnTo>
                  <a:lnTo>
                    <a:pt x="4" y="39"/>
                  </a:lnTo>
                  <a:lnTo>
                    <a:pt x="7" y="43"/>
                  </a:lnTo>
                  <a:lnTo>
                    <a:pt x="9" y="46"/>
                  </a:lnTo>
                  <a:lnTo>
                    <a:pt x="12" y="48"/>
                  </a:lnTo>
                  <a:lnTo>
                    <a:pt x="15" y="51"/>
                  </a:lnTo>
                  <a:lnTo>
                    <a:pt x="22" y="51"/>
                  </a:lnTo>
                  <a:lnTo>
                    <a:pt x="19" y="49"/>
                  </a:lnTo>
                  <a:lnTo>
                    <a:pt x="15" y="46"/>
                  </a:lnTo>
                  <a:lnTo>
                    <a:pt x="12" y="44"/>
                  </a:lnTo>
                  <a:lnTo>
                    <a:pt x="9" y="41"/>
                  </a:lnTo>
                  <a:lnTo>
                    <a:pt x="7" y="38"/>
                  </a:lnTo>
                  <a:lnTo>
                    <a:pt x="5" y="33"/>
                  </a:lnTo>
                  <a:lnTo>
                    <a:pt x="4" y="29"/>
                  </a:lnTo>
                  <a:lnTo>
                    <a:pt x="4" y="24"/>
                  </a:lnTo>
                  <a:lnTo>
                    <a:pt x="4" y="19"/>
                  </a:lnTo>
                  <a:lnTo>
                    <a:pt x="5" y="16"/>
                  </a:lnTo>
                  <a:lnTo>
                    <a:pt x="7" y="11"/>
                  </a:lnTo>
                  <a:lnTo>
                    <a:pt x="10" y="8"/>
                  </a:lnTo>
                  <a:lnTo>
                    <a:pt x="14" y="4"/>
                  </a:lnTo>
                  <a:lnTo>
                    <a:pt x="17" y="1"/>
                  </a:lnTo>
                  <a:lnTo>
                    <a:pt x="22" y="0"/>
                  </a:lnTo>
                  <a:lnTo>
                    <a:pt x="27" y="0"/>
                  </a:lnTo>
                  <a:lnTo>
                    <a:pt x="17" y="0"/>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8" name="Freeform 500">
              <a:extLst>
                <a:ext uri="{FF2B5EF4-FFF2-40B4-BE49-F238E27FC236}">
                  <a16:creationId xmlns:a16="http://schemas.microsoft.com/office/drawing/2014/main" id="{B6190F3B-1F0C-4156-459E-D9B91553D44E}"/>
                </a:ext>
              </a:extLst>
            </p:cNvPr>
            <p:cNvSpPr>
              <a:spLocks noEditPoints="1"/>
            </p:cNvSpPr>
            <p:nvPr/>
          </p:nvSpPr>
          <p:spPr bwMode="auto">
            <a:xfrm>
              <a:off x="1583" y="1713"/>
              <a:ext cx="56" cy="51"/>
            </a:xfrm>
            <a:custGeom>
              <a:avLst/>
              <a:gdLst>
                <a:gd name="T0" fmla="*/ 56 w 56"/>
                <a:gd name="T1" fmla="*/ 21 h 51"/>
                <a:gd name="T2" fmla="*/ 53 w 56"/>
                <a:gd name="T3" fmla="*/ 13 h 51"/>
                <a:gd name="T4" fmla="*/ 48 w 56"/>
                <a:gd name="T5" fmla="*/ 6 h 51"/>
                <a:gd name="T6" fmla="*/ 43 w 56"/>
                <a:gd name="T7" fmla="*/ 1 h 51"/>
                <a:gd name="T8" fmla="*/ 18 w 56"/>
                <a:gd name="T9" fmla="*/ 0 h 51"/>
                <a:gd name="T10" fmla="*/ 12 w 56"/>
                <a:gd name="T11" fmla="*/ 3 h 51"/>
                <a:gd name="T12" fmla="*/ 5 w 56"/>
                <a:gd name="T13" fmla="*/ 9 h 51"/>
                <a:gd name="T14" fmla="*/ 2 w 56"/>
                <a:gd name="T15" fmla="*/ 16 h 51"/>
                <a:gd name="T16" fmla="*/ 0 w 56"/>
                <a:gd name="T17" fmla="*/ 24 h 51"/>
                <a:gd name="T18" fmla="*/ 2 w 56"/>
                <a:gd name="T19" fmla="*/ 33 h 51"/>
                <a:gd name="T20" fmla="*/ 5 w 56"/>
                <a:gd name="T21" fmla="*/ 39 h 51"/>
                <a:gd name="T22" fmla="*/ 10 w 56"/>
                <a:gd name="T23" fmla="*/ 46 h 51"/>
                <a:gd name="T24" fmla="*/ 17 w 56"/>
                <a:gd name="T25" fmla="*/ 51 h 51"/>
                <a:gd name="T26" fmla="*/ 45 w 56"/>
                <a:gd name="T27" fmla="*/ 48 h 51"/>
                <a:gd name="T28" fmla="*/ 50 w 56"/>
                <a:gd name="T29" fmla="*/ 43 h 51"/>
                <a:gd name="T30" fmla="*/ 55 w 56"/>
                <a:gd name="T31" fmla="*/ 36 h 51"/>
                <a:gd name="T32" fmla="*/ 56 w 56"/>
                <a:gd name="T33" fmla="*/ 29 h 51"/>
                <a:gd name="T34" fmla="*/ 53 w 56"/>
                <a:gd name="T35" fmla="*/ 24 h 51"/>
                <a:gd name="T36" fmla="*/ 51 w 56"/>
                <a:gd name="T37" fmla="*/ 34 h 51"/>
                <a:gd name="T38" fmla="*/ 46 w 56"/>
                <a:gd name="T39" fmla="*/ 43 h 51"/>
                <a:gd name="T40" fmla="*/ 38 w 56"/>
                <a:gd name="T41" fmla="*/ 48 h 51"/>
                <a:gd name="T42" fmla="*/ 28 w 56"/>
                <a:gd name="T43" fmla="*/ 49 h 51"/>
                <a:gd name="T44" fmla="*/ 18 w 56"/>
                <a:gd name="T45" fmla="*/ 48 h 51"/>
                <a:gd name="T46" fmla="*/ 12 w 56"/>
                <a:gd name="T47" fmla="*/ 43 h 51"/>
                <a:gd name="T48" fmla="*/ 5 w 56"/>
                <a:gd name="T49" fmla="*/ 34 h 51"/>
                <a:gd name="T50" fmla="*/ 3 w 56"/>
                <a:gd name="T51" fmla="*/ 24 h 51"/>
                <a:gd name="T52" fmla="*/ 5 w 56"/>
                <a:gd name="T53" fmla="*/ 16 h 51"/>
                <a:gd name="T54" fmla="*/ 12 w 56"/>
                <a:gd name="T55" fmla="*/ 8 h 51"/>
                <a:gd name="T56" fmla="*/ 18 w 56"/>
                <a:gd name="T57" fmla="*/ 3 h 51"/>
                <a:gd name="T58" fmla="*/ 28 w 56"/>
                <a:gd name="T59" fmla="*/ 0 h 51"/>
                <a:gd name="T60" fmla="*/ 38 w 56"/>
                <a:gd name="T61" fmla="*/ 3 h 51"/>
                <a:gd name="T62" fmla="*/ 46 w 56"/>
                <a:gd name="T63" fmla="*/ 8 h 51"/>
                <a:gd name="T64" fmla="*/ 51 w 56"/>
                <a:gd name="T65" fmla="*/ 16 h 51"/>
                <a:gd name="T66" fmla="*/ 53 w 56"/>
                <a:gd name="T67" fmla="*/ 2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6" h="51">
                  <a:moveTo>
                    <a:pt x="56" y="24"/>
                  </a:moveTo>
                  <a:lnTo>
                    <a:pt x="56" y="21"/>
                  </a:lnTo>
                  <a:lnTo>
                    <a:pt x="55" y="16"/>
                  </a:lnTo>
                  <a:lnTo>
                    <a:pt x="53" y="13"/>
                  </a:lnTo>
                  <a:lnTo>
                    <a:pt x="51" y="9"/>
                  </a:lnTo>
                  <a:lnTo>
                    <a:pt x="48" y="6"/>
                  </a:lnTo>
                  <a:lnTo>
                    <a:pt x="46" y="3"/>
                  </a:lnTo>
                  <a:lnTo>
                    <a:pt x="43" y="1"/>
                  </a:lnTo>
                  <a:lnTo>
                    <a:pt x="38" y="0"/>
                  </a:lnTo>
                  <a:lnTo>
                    <a:pt x="18" y="0"/>
                  </a:lnTo>
                  <a:lnTo>
                    <a:pt x="15" y="1"/>
                  </a:lnTo>
                  <a:lnTo>
                    <a:pt x="12" y="3"/>
                  </a:lnTo>
                  <a:lnTo>
                    <a:pt x="8" y="6"/>
                  </a:lnTo>
                  <a:lnTo>
                    <a:pt x="5" y="9"/>
                  </a:lnTo>
                  <a:lnTo>
                    <a:pt x="3" y="13"/>
                  </a:lnTo>
                  <a:lnTo>
                    <a:pt x="2" y="16"/>
                  </a:lnTo>
                  <a:lnTo>
                    <a:pt x="0" y="21"/>
                  </a:lnTo>
                  <a:lnTo>
                    <a:pt x="0" y="24"/>
                  </a:lnTo>
                  <a:lnTo>
                    <a:pt x="0" y="29"/>
                  </a:lnTo>
                  <a:lnTo>
                    <a:pt x="2" y="33"/>
                  </a:lnTo>
                  <a:lnTo>
                    <a:pt x="3" y="36"/>
                  </a:lnTo>
                  <a:lnTo>
                    <a:pt x="5" y="39"/>
                  </a:lnTo>
                  <a:lnTo>
                    <a:pt x="7" y="43"/>
                  </a:lnTo>
                  <a:lnTo>
                    <a:pt x="10" y="46"/>
                  </a:lnTo>
                  <a:lnTo>
                    <a:pt x="13" y="48"/>
                  </a:lnTo>
                  <a:lnTo>
                    <a:pt x="17" y="51"/>
                  </a:lnTo>
                  <a:lnTo>
                    <a:pt x="41" y="51"/>
                  </a:lnTo>
                  <a:lnTo>
                    <a:pt x="45" y="48"/>
                  </a:lnTo>
                  <a:lnTo>
                    <a:pt x="46" y="46"/>
                  </a:lnTo>
                  <a:lnTo>
                    <a:pt x="50" y="43"/>
                  </a:lnTo>
                  <a:lnTo>
                    <a:pt x="51" y="39"/>
                  </a:lnTo>
                  <a:lnTo>
                    <a:pt x="55" y="36"/>
                  </a:lnTo>
                  <a:lnTo>
                    <a:pt x="55" y="33"/>
                  </a:lnTo>
                  <a:lnTo>
                    <a:pt x="56" y="29"/>
                  </a:lnTo>
                  <a:lnTo>
                    <a:pt x="56" y="24"/>
                  </a:lnTo>
                  <a:close/>
                  <a:moveTo>
                    <a:pt x="53" y="24"/>
                  </a:moveTo>
                  <a:lnTo>
                    <a:pt x="53" y="29"/>
                  </a:lnTo>
                  <a:lnTo>
                    <a:pt x="51" y="34"/>
                  </a:lnTo>
                  <a:lnTo>
                    <a:pt x="48" y="39"/>
                  </a:lnTo>
                  <a:lnTo>
                    <a:pt x="46" y="43"/>
                  </a:lnTo>
                  <a:lnTo>
                    <a:pt x="41" y="46"/>
                  </a:lnTo>
                  <a:lnTo>
                    <a:pt x="38" y="48"/>
                  </a:lnTo>
                  <a:lnTo>
                    <a:pt x="33" y="49"/>
                  </a:lnTo>
                  <a:lnTo>
                    <a:pt x="28" y="49"/>
                  </a:lnTo>
                  <a:lnTo>
                    <a:pt x="23" y="49"/>
                  </a:lnTo>
                  <a:lnTo>
                    <a:pt x="18" y="48"/>
                  </a:lnTo>
                  <a:lnTo>
                    <a:pt x="15" y="46"/>
                  </a:lnTo>
                  <a:lnTo>
                    <a:pt x="12" y="43"/>
                  </a:lnTo>
                  <a:lnTo>
                    <a:pt x="8" y="39"/>
                  </a:lnTo>
                  <a:lnTo>
                    <a:pt x="5" y="34"/>
                  </a:lnTo>
                  <a:lnTo>
                    <a:pt x="3" y="29"/>
                  </a:lnTo>
                  <a:lnTo>
                    <a:pt x="3" y="24"/>
                  </a:lnTo>
                  <a:lnTo>
                    <a:pt x="3" y="19"/>
                  </a:lnTo>
                  <a:lnTo>
                    <a:pt x="5" y="16"/>
                  </a:lnTo>
                  <a:lnTo>
                    <a:pt x="8" y="11"/>
                  </a:lnTo>
                  <a:lnTo>
                    <a:pt x="12" y="8"/>
                  </a:lnTo>
                  <a:lnTo>
                    <a:pt x="15" y="4"/>
                  </a:lnTo>
                  <a:lnTo>
                    <a:pt x="18" y="3"/>
                  </a:lnTo>
                  <a:lnTo>
                    <a:pt x="23" y="1"/>
                  </a:lnTo>
                  <a:lnTo>
                    <a:pt x="28" y="0"/>
                  </a:lnTo>
                  <a:lnTo>
                    <a:pt x="33" y="1"/>
                  </a:lnTo>
                  <a:lnTo>
                    <a:pt x="38" y="3"/>
                  </a:lnTo>
                  <a:lnTo>
                    <a:pt x="41" y="4"/>
                  </a:lnTo>
                  <a:lnTo>
                    <a:pt x="46" y="8"/>
                  </a:lnTo>
                  <a:lnTo>
                    <a:pt x="48" y="11"/>
                  </a:lnTo>
                  <a:lnTo>
                    <a:pt x="51" y="16"/>
                  </a:lnTo>
                  <a:lnTo>
                    <a:pt x="53" y="19"/>
                  </a:lnTo>
                  <a:lnTo>
                    <a:pt x="53" y="24"/>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9" name="Freeform 501">
              <a:extLst>
                <a:ext uri="{FF2B5EF4-FFF2-40B4-BE49-F238E27FC236}">
                  <a16:creationId xmlns:a16="http://schemas.microsoft.com/office/drawing/2014/main" id="{7BC4608C-AB59-203D-528D-657076ECE74B}"/>
                </a:ext>
              </a:extLst>
            </p:cNvPr>
            <p:cNvSpPr>
              <a:spLocks noEditPoints="1"/>
            </p:cNvSpPr>
            <p:nvPr/>
          </p:nvSpPr>
          <p:spPr bwMode="auto">
            <a:xfrm>
              <a:off x="1585" y="1713"/>
              <a:ext cx="53" cy="51"/>
            </a:xfrm>
            <a:custGeom>
              <a:avLst/>
              <a:gdLst>
                <a:gd name="T0" fmla="*/ 53 w 53"/>
                <a:gd name="T1" fmla="*/ 19 h 51"/>
                <a:gd name="T2" fmla="*/ 49 w 53"/>
                <a:gd name="T3" fmla="*/ 11 h 51"/>
                <a:gd name="T4" fmla="*/ 43 w 53"/>
                <a:gd name="T5" fmla="*/ 4 h 51"/>
                <a:gd name="T6" fmla="*/ 34 w 53"/>
                <a:gd name="T7" fmla="*/ 0 h 51"/>
                <a:gd name="T8" fmla="*/ 23 w 53"/>
                <a:gd name="T9" fmla="*/ 0 h 51"/>
                <a:gd name="T10" fmla="*/ 13 w 53"/>
                <a:gd name="T11" fmla="*/ 1 h 51"/>
                <a:gd name="T12" fmla="*/ 6 w 53"/>
                <a:gd name="T13" fmla="*/ 8 h 51"/>
                <a:gd name="T14" fmla="*/ 1 w 53"/>
                <a:gd name="T15" fmla="*/ 16 h 51"/>
                <a:gd name="T16" fmla="*/ 0 w 53"/>
                <a:gd name="T17" fmla="*/ 24 h 51"/>
                <a:gd name="T18" fmla="*/ 1 w 53"/>
                <a:gd name="T19" fmla="*/ 33 h 51"/>
                <a:gd name="T20" fmla="*/ 5 w 53"/>
                <a:gd name="T21" fmla="*/ 41 h 51"/>
                <a:gd name="T22" fmla="*/ 11 w 53"/>
                <a:gd name="T23" fmla="*/ 46 h 51"/>
                <a:gd name="T24" fmla="*/ 18 w 53"/>
                <a:gd name="T25" fmla="*/ 51 h 51"/>
                <a:gd name="T26" fmla="*/ 38 w 53"/>
                <a:gd name="T27" fmla="*/ 49 h 51"/>
                <a:gd name="T28" fmla="*/ 44 w 53"/>
                <a:gd name="T29" fmla="*/ 44 h 51"/>
                <a:gd name="T30" fmla="*/ 49 w 53"/>
                <a:gd name="T31" fmla="*/ 38 h 51"/>
                <a:gd name="T32" fmla="*/ 53 w 53"/>
                <a:gd name="T33" fmla="*/ 29 h 51"/>
                <a:gd name="T34" fmla="*/ 49 w 53"/>
                <a:gd name="T35" fmla="*/ 24 h 51"/>
                <a:gd name="T36" fmla="*/ 48 w 53"/>
                <a:gd name="T37" fmla="*/ 34 h 51"/>
                <a:gd name="T38" fmla="*/ 43 w 53"/>
                <a:gd name="T39" fmla="*/ 41 h 51"/>
                <a:gd name="T40" fmla="*/ 36 w 53"/>
                <a:gd name="T41" fmla="*/ 46 h 51"/>
                <a:gd name="T42" fmla="*/ 26 w 53"/>
                <a:gd name="T43" fmla="*/ 48 h 51"/>
                <a:gd name="T44" fmla="*/ 18 w 53"/>
                <a:gd name="T45" fmla="*/ 46 h 51"/>
                <a:gd name="T46" fmla="*/ 10 w 53"/>
                <a:gd name="T47" fmla="*/ 41 h 51"/>
                <a:gd name="T48" fmla="*/ 5 w 53"/>
                <a:gd name="T49" fmla="*/ 34 h 51"/>
                <a:gd name="T50" fmla="*/ 3 w 53"/>
                <a:gd name="T51" fmla="*/ 24 h 51"/>
                <a:gd name="T52" fmla="*/ 5 w 53"/>
                <a:gd name="T53" fmla="*/ 16 h 51"/>
                <a:gd name="T54" fmla="*/ 10 w 53"/>
                <a:gd name="T55" fmla="*/ 9 h 51"/>
                <a:gd name="T56" fmla="*/ 18 w 53"/>
                <a:gd name="T57" fmla="*/ 4 h 51"/>
                <a:gd name="T58" fmla="*/ 26 w 53"/>
                <a:gd name="T59" fmla="*/ 1 h 51"/>
                <a:gd name="T60" fmla="*/ 36 w 53"/>
                <a:gd name="T61" fmla="*/ 4 h 51"/>
                <a:gd name="T62" fmla="*/ 43 w 53"/>
                <a:gd name="T63" fmla="*/ 9 h 51"/>
                <a:gd name="T64" fmla="*/ 48 w 53"/>
                <a:gd name="T65" fmla="*/ 16 h 51"/>
                <a:gd name="T66" fmla="*/ 49 w 53"/>
                <a:gd name="T67" fmla="*/ 2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3" h="51">
                  <a:moveTo>
                    <a:pt x="53" y="24"/>
                  </a:moveTo>
                  <a:lnTo>
                    <a:pt x="53" y="19"/>
                  </a:lnTo>
                  <a:lnTo>
                    <a:pt x="51" y="16"/>
                  </a:lnTo>
                  <a:lnTo>
                    <a:pt x="49" y="11"/>
                  </a:lnTo>
                  <a:lnTo>
                    <a:pt x="46" y="8"/>
                  </a:lnTo>
                  <a:lnTo>
                    <a:pt x="43" y="4"/>
                  </a:lnTo>
                  <a:lnTo>
                    <a:pt x="39" y="1"/>
                  </a:lnTo>
                  <a:lnTo>
                    <a:pt x="34" y="0"/>
                  </a:lnTo>
                  <a:lnTo>
                    <a:pt x="29" y="0"/>
                  </a:lnTo>
                  <a:lnTo>
                    <a:pt x="23" y="0"/>
                  </a:lnTo>
                  <a:lnTo>
                    <a:pt x="18" y="0"/>
                  </a:lnTo>
                  <a:lnTo>
                    <a:pt x="13" y="1"/>
                  </a:lnTo>
                  <a:lnTo>
                    <a:pt x="10" y="4"/>
                  </a:lnTo>
                  <a:lnTo>
                    <a:pt x="6" y="8"/>
                  </a:lnTo>
                  <a:lnTo>
                    <a:pt x="3" y="11"/>
                  </a:lnTo>
                  <a:lnTo>
                    <a:pt x="1" y="16"/>
                  </a:lnTo>
                  <a:lnTo>
                    <a:pt x="0" y="19"/>
                  </a:lnTo>
                  <a:lnTo>
                    <a:pt x="0" y="24"/>
                  </a:lnTo>
                  <a:lnTo>
                    <a:pt x="0" y="29"/>
                  </a:lnTo>
                  <a:lnTo>
                    <a:pt x="1" y="33"/>
                  </a:lnTo>
                  <a:lnTo>
                    <a:pt x="3" y="38"/>
                  </a:lnTo>
                  <a:lnTo>
                    <a:pt x="5" y="41"/>
                  </a:lnTo>
                  <a:lnTo>
                    <a:pt x="8" y="44"/>
                  </a:lnTo>
                  <a:lnTo>
                    <a:pt x="11" y="46"/>
                  </a:lnTo>
                  <a:lnTo>
                    <a:pt x="15" y="49"/>
                  </a:lnTo>
                  <a:lnTo>
                    <a:pt x="18" y="51"/>
                  </a:lnTo>
                  <a:lnTo>
                    <a:pt x="34" y="51"/>
                  </a:lnTo>
                  <a:lnTo>
                    <a:pt x="38" y="49"/>
                  </a:lnTo>
                  <a:lnTo>
                    <a:pt x="41" y="46"/>
                  </a:lnTo>
                  <a:lnTo>
                    <a:pt x="44" y="44"/>
                  </a:lnTo>
                  <a:lnTo>
                    <a:pt x="48" y="41"/>
                  </a:lnTo>
                  <a:lnTo>
                    <a:pt x="49" y="38"/>
                  </a:lnTo>
                  <a:lnTo>
                    <a:pt x="51" y="33"/>
                  </a:lnTo>
                  <a:lnTo>
                    <a:pt x="53" y="29"/>
                  </a:lnTo>
                  <a:lnTo>
                    <a:pt x="53" y="24"/>
                  </a:lnTo>
                  <a:close/>
                  <a:moveTo>
                    <a:pt x="49" y="24"/>
                  </a:moveTo>
                  <a:lnTo>
                    <a:pt x="49" y="29"/>
                  </a:lnTo>
                  <a:lnTo>
                    <a:pt x="48" y="34"/>
                  </a:lnTo>
                  <a:lnTo>
                    <a:pt x="46" y="38"/>
                  </a:lnTo>
                  <a:lnTo>
                    <a:pt x="43" y="41"/>
                  </a:lnTo>
                  <a:lnTo>
                    <a:pt x="39" y="44"/>
                  </a:lnTo>
                  <a:lnTo>
                    <a:pt x="36" y="46"/>
                  </a:lnTo>
                  <a:lnTo>
                    <a:pt x="31" y="48"/>
                  </a:lnTo>
                  <a:lnTo>
                    <a:pt x="26" y="48"/>
                  </a:lnTo>
                  <a:lnTo>
                    <a:pt x="21" y="48"/>
                  </a:lnTo>
                  <a:lnTo>
                    <a:pt x="18" y="46"/>
                  </a:lnTo>
                  <a:lnTo>
                    <a:pt x="13" y="44"/>
                  </a:lnTo>
                  <a:lnTo>
                    <a:pt x="10" y="41"/>
                  </a:lnTo>
                  <a:lnTo>
                    <a:pt x="8" y="38"/>
                  </a:lnTo>
                  <a:lnTo>
                    <a:pt x="5" y="34"/>
                  </a:lnTo>
                  <a:lnTo>
                    <a:pt x="3" y="29"/>
                  </a:lnTo>
                  <a:lnTo>
                    <a:pt x="3" y="24"/>
                  </a:lnTo>
                  <a:lnTo>
                    <a:pt x="3" y="21"/>
                  </a:lnTo>
                  <a:lnTo>
                    <a:pt x="5" y="16"/>
                  </a:lnTo>
                  <a:lnTo>
                    <a:pt x="8" y="13"/>
                  </a:lnTo>
                  <a:lnTo>
                    <a:pt x="10" y="9"/>
                  </a:lnTo>
                  <a:lnTo>
                    <a:pt x="13" y="6"/>
                  </a:lnTo>
                  <a:lnTo>
                    <a:pt x="18" y="4"/>
                  </a:lnTo>
                  <a:lnTo>
                    <a:pt x="21" y="3"/>
                  </a:lnTo>
                  <a:lnTo>
                    <a:pt x="26" y="1"/>
                  </a:lnTo>
                  <a:lnTo>
                    <a:pt x="31" y="3"/>
                  </a:lnTo>
                  <a:lnTo>
                    <a:pt x="36" y="4"/>
                  </a:lnTo>
                  <a:lnTo>
                    <a:pt x="39" y="6"/>
                  </a:lnTo>
                  <a:lnTo>
                    <a:pt x="43" y="9"/>
                  </a:lnTo>
                  <a:lnTo>
                    <a:pt x="46" y="13"/>
                  </a:lnTo>
                  <a:lnTo>
                    <a:pt x="48" y="16"/>
                  </a:lnTo>
                  <a:lnTo>
                    <a:pt x="49" y="21"/>
                  </a:lnTo>
                  <a:lnTo>
                    <a:pt x="49" y="24"/>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0" name="Freeform 502">
              <a:extLst>
                <a:ext uri="{FF2B5EF4-FFF2-40B4-BE49-F238E27FC236}">
                  <a16:creationId xmlns:a16="http://schemas.microsoft.com/office/drawing/2014/main" id="{03C2F2E6-5F0D-2753-4EC8-38773C23F785}"/>
                </a:ext>
              </a:extLst>
            </p:cNvPr>
            <p:cNvSpPr>
              <a:spLocks noEditPoints="1"/>
            </p:cNvSpPr>
            <p:nvPr/>
          </p:nvSpPr>
          <p:spPr bwMode="auto">
            <a:xfrm>
              <a:off x="1586" y="1713"/>
              <a:ext cx="50" cy="49"/>
            </a:xfrm>
            <a:custGeom>
              <a:avLst/>
              <a:gdLst>
                <a:gd name="T0" fmla="*/ 50 w 50"/>
                <a:gd name="T1" fmla="*/ 19 h 49"/>
                <a:gd name="T2" fmla="*/ 45 w 50"/>
                <a:gd name="T3" fmla="*/ 11 h 49"/>
                <a:gd name="T4" fmla="*/ 38 w 50"/>
                <a:gd name="T5" fmla="*/ 4 h 49"/>
                <a:gd name="T6" fmla="*/ 30 w 50"/>
                <a:gd name="T7" fmla="*/ 1 h 49"/>
                <a:gd name="T8" fmla="*/ 20 w 50"/>
                <a:gd name="T9" fmla="*/ 1 h 49"/>
                <a:gd name="T10" fmla="*/ 12 w 50"/>
                <a:gd name="T11" fmla="*/ 4 h 49"/>
                <a:gd name="T12" fmla="*/ 5 w 50"/>
                <a:gd name="T13" fmla="*/ 11 h 49"/>
                <a:gd name="T14" fmla="*/ 0 w 50"/>
                <a:gd name="T15" fmla="*/ 19 h 49"/>
                <a:gd name="T16" fmla="*/ 0 w 50"/>
                <a:gd name="T17" fmla="*/ 29 h 49"/>
                <a:gd name="T18" fmla="*/ 5 w 50"/>
                <a:gd name="T19" fmla="*/ 39 h 49"/>
                <a:gd name="T20" fmla="*/ 12 w 50"/>
                <a:gd name="T21" fmla="*/ 46 h 49"/>
                <a:gd name="T22" fmla="*/ 20 w 50"/>
                <a:gd name="T23" fmla="*/ 49 h 49"/>
                <a:gd name="T24" fmla="*/ 30 w 50"/>
                <a:gd name="T25" fmla="*/ 49 h 49"/>
                <a:gd name="T26" fmla="*/ 38 w 50"/>
                <a:gd name="T27" fmla="*/ 46 h 49"/>
                <a:gd name="T28" fmla="*/ 45 w 50"/>
                <a:gd name="T29" fmla="*/ 39 h 49"/>
                <a:gd name="T30" fmla="*/ 50 w 50"/>
                <a:gd name="T31" fmla="*/ 29 h 49"/>
                <a:gd name="T32" fmla="*/ 47 w 50"/>
                <a:gd name="T33" fmla="*/ 24 h 49"/>
                <a:gd name="T34" fmla="*/ 45 w 50"/>
                <a:gd name="T35" fmla="*/ 33 h 49"/>
                <a:gd name="T36" fmla="*/ 40 w 50"/>
                <a:gd name="T37" fmla="*/ 41 h 49"/>
                <a:gd name="T38" fmla="*/ 33 w 50"/>
                <a:gd name="T39" fmla="*/ 44 h 49"/>
                <a:gd name="T40" fmla="*/ 25 w 50"/>
                <a:gd name="T41" fmla="*/ 46 h 49"/>
                <a:gd name="T42" fmla="*/ 17 w 50"/>
                <a:gd name="T43" fmla="*/ 44 h 49"/>
                <a:gd name="T44" fmla="*/ 10 w 50"/>
                <a:gd name="T45" fmla="*/ 41 h 49"/>
                <a:gd name="T46" fmla="*/ 5 w 50"/>
                <a:gd name="T47" fmla="*/ 33 h 49"/>
                <a:gd name="T48" fmla="*/ 4 w 50"/>
                <a:gd name="T49" fmla="*/ 24 h 49"/>
                <a:gd name="T50" fmla="*/ 5 w 50"/>
                <a:gd name="T51" fmla="*/ 16 h 49"/>
                <a:gd name="T52" fmla="*/ 10 w 50"/>
                <a:gd name="T53" fmla="*/ 9 h 49"/>
                <a:gd name="T54" fmla="*/ 17 w 50"/>
                <a:gd name="T55" fmla="*/ 4 h 49"/>
                <a:gd name="T56" fmla="*/ 25 w 50"/>
                <a:gd name="T57" fmla="*/ 3 h 49"/>
                <a:gd name="T58" fmla="*/ 33 w 50"/>
                <a:gd name="T59" fmla="*/ 4 h 49"/>
                <a:gd name="T60" fmla="*/ 40 w 50"/>
                <a:gd name="T61" fmla="*/ 9 h 49"/>
                <a:gd name="T62" fmla="*/ 45 w 50"/>
                <a:gd name="T63" fmla="*/ 16 h 49"/>
                <a:gd name="T64" fmla="*/ 47 w 50"/>
                <a:gd name="T65" fmla="*/ 24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0" h="49">
                  <a:moveTo>
                    <a:pt x="50" y="24"/>
                  </a:moveTo>
                  <a:lnTo>
                    <a:pt x="50" y="19"/>
                  </a:lnTo>
                  <a:lnTo>
                    <a:pt x="48" y="16"/>
                  </a:lnTo>
                  <a:lnTo>
                    <a:pt x="45" y="11"/>
                  </a:lnTo>
                  <a:lnTo>
                    <a:pt x="43" y="8"/>
                  </a:lnTo>
                  <a:lnTo>
                    <a:pt x="38" y="4"/>
                  </a:lnTo>
                  <a:lnTo>
                    <a:pt x="35" y="3"/>
                  </a:lnTo>
                  <a:lnTo>
                    <a:pt x="30" y="1"/>
                  </a:lnTo>
                  <a:lnTo>
                    <a:pt x="25" y="0"/>
                  </a:lnTo>
                  <a:lnTo>
                    <a:pt x="20" y="1"/>
                  </a:lnTo>
                  <a:lnTo>
                    <a:pt x="15" y="3"/>
                  </a:lnTo>
                  <a:lnTo>
                    <a:pt x="12" y="4"/>
                  </a:lnTo>
                  <a:lnTo>
                    <a:pt x="9" y="8"/>
                  </a:lnTo>
                  <a:lnTo>
                    <a:pt x="5" y="11"/>
                  </a:lnTo>
                  <a:lnTo>
                    <a:pt x="2" y="16"/>
                  </a:lnTo>
                  <a:lnTo>
                    <a:pt x="0" y="19"/>
                  </a:lnTo>
                  <a:lnTo>
                    <a:pt x="0" y="24"/>
                  </a:lnTo>
                  <a:lnTo>
                    <a:pt x="0" y="29"/>
                  </a:lnTo>
                  <a:lnTo>
                    <a:pt x="2" y="34"/>
                  </a:lnTo>
                  <a:lnTo>
                    <a:pt x="5" y="39"/>
                  </a:lnTo>
                  <a:lnTo>
                    <a:pt x="9" y="43"/>
                  </a:lnTo>
                  <a:lnTo>
                    <a:pt x="12" y="46"/>
                  </a:lnTo>
                  <a:lnTo>
                    <a:pt x="15" y="48"/>
                  </a:lnTo>
                  <a:lnTo>
                    <a:pt x="20" y="49"/>
                  </a:lnTo>
                  <a:lnTo>
                    <a:pt x="25" y="49"/>
                  </a:lnTo>
                  <a:lnTo>
                    <a:pt x="30" y="49"/>
                  </a:lnTo>
                  <a:lnTo>
                    <a:pt x="35" y="48"/>
                  </a:lnTo>
                  <a:lnTo>
                    <a:pt x="38" y="46"/>
                  </a:lnTo>
                  <a:lnTo>
                    <a:pt x="43" y="43"/>
                  </a:lnTo>
                  <a:lnTo>
                    <a:pt x="45" y="39"/>
                  </a:lnTo>
                  <a:lnTo>
                    <a:pt x="48" y="34"/>
                  </a:lnTo>
                  <a:lnTo>
                    <a:pt x="50" y="29"/>
                  </a:lnTo>
                  <a:lnTo>
                    <a:pt x="50" y="24"/>
                  </a:lnTo>
                  <a:close/>
                  <a:moveTo>
                    <a:pt x="47" y="24"/>
                  </a:moveTo>
                  <a:lnTo>
                    <a:pt x="47" y="29"/>
                  </a:lnTo>
                  <a:lnTo>
                    <a:pt x="45" y="33"/>
                  </a:lnTo>
                  <a:lnTo>
                    <a:pt x="43" y="38"/>
                  </a:lnTo>
                  <a:lnTo>
                    <a:pt x="40" y="41"/>
                  </a:lnTo>
                  <a:lnTo>
                    <a:pt x="37" y="43"/>
                  </a:lnTo>
                  <a:lnTo>
                    <a:pt x="33" y="44"/>
                  </a:lnTo>
                  <a:lnTo>
                    <a:pt x="30" y="46"/>
                  </a:lnTo>
                  <a:lnTo>
                    <a:pt x="25" y="46"/>
                  </a:lnTo>
                  <a:lnTo>
                    <a:pt x="20" y="46"/>
                  </a:lnTo>
                  <a:lnTo>
                    <a:pt x="17" y="44"/>
                  </a:lnTo>
                  <a:lnTo>
                    <a:pt x="14" y="43"/>
                  </a:lnTo>
                  <a:lnTo>
                    <a:pt x="10" y="41"/>
                  </a:lnTo>
                  <a:lnTo>
                    <a:pt x="7" y="38"/>
                  </a:lnTo>
                  <a:lnTo>
                    <a:pt x="5" y="33"/>
                  </a:lnTo>
                  <a:lnTo>
                    <a:pt x="4" y="29"/>
                  </a:lnTo>
                  <a:lnTo>
                    <a:pt x="4" y="24"/>
                  </a:lnTo>
                  <a:lnTo>
                    <a:pt x="4" y="21"/>
                  </a:lnTo>
                  <a:lnTo>
                    <a:pt x="5" y="16"/>
                  </a:lnTo>
                  <a:lnTo>
                    <a:pt x="7" y="13"/>
                  </a:lnTo>
                  <a:lnTo>
                    <a:pt x="10" y="9"/>
                  </a:lnTo>
                  <a:lnTo>
                    <a:pt x="14" y="8"/>
                  </a:lnTo>
                  <a:lnTo>
                    <a:pt x="17" y="4"/>
                  </a:lnTo>
                  <a:lnTo>
                    <a:pt x="20" y="4"/>
                  </a:lnTo>
                  <a:lnTo>
                    <a:pt x="25" y="3"/>
                  </a:lnTo>
                  <a:lnTo>
                    <a:pt x="30" y="4"/>
                  </a:lnTo>
                  <a:lnTo>
                    <a:pt x="33" y="4"/>
                  </a:lnTo>
                  <a:lnTo>
                    <a:pt x="37" y="8"/>
                  </a:lnTo>
                  <a:lnTo>
                    <a:pt x="40" y="9"/>
                  </a:lnTo>
                  <a:lnTo>
                    <a:pt x="43" y="13"/>
                  </a:lnTo>
                  <a:lnTo>
                    <a:pt x="45" y="16"/>
                  </a:lnTo>
                  <a:lnTo>
                    <a:pt x="47" y="21"/>
                  </a:lnTo>
                  <a:lnTo>
                    <a:pt x="47" y="24"/>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1" name="Freeform 503">
              <a:extLst>
                <a:ext uri="{FF2B5EF4-FFF2-40B4-BE49-F238E27FC236}">
                  <a16:creationId xmlns:a16="http://schemas.microsoft.com/office/drawing/2014/main" id="{151A1404-BF08-39FB-0AF4-FC358B8E5085}"/>
                </a:ext>
              </a:extLst>
            </p:cNvPr>
            <p:cNvSpPr>
              <a:spLocks noEditPoints="1"/>
            </p:cNvSpPr>
            <p:nvPr/>
          </p:nvSpPr>
          <p:spPr bwMode="auto">
            <a:xfrm>
              <a:off x="1588" y="1714"/>
              <a:ext cx="46" cy="47"/>
            </a:xfrm>
            <a:custGeom>
              <a:avLst/>
              <a:gdLst>
                <a:gd name="T0" fmla="*/ 46 w 46"/>
                <a:gd name="T1" fmla="*/ 20 h 47"/>
                <a:gd name="T2" fmla="*/ 43 w 46"/>
                <a:gd name="T3" fmla="*/ 12 h 47"/>
                <a:gd name="T4" fmla="*/ 36 w 46"/>
                <a:gd name="T5" fmla="*/ 5 h 47"/>
                <a:gd name="T6" fmla="*/ 28 w 46"/>
                <a:gd name="T7" fmla="*/ 2 h 47"/>
                <a:gd name="T8" fmla="*/ 18 w 46"/>
                <a:gd name="T9" fmla="*/ 2 h 47"/>
                <a:gd name="T10" fmla="*/ 10 w 46"/>
                <a:gd name="T11" fmla="*/ 5 h 47"/>
                <a:gd name="T12" fmla="*/ 5 w 46"/>
                <a:gd name="T13" fmla="*/ 12 h 47"/>
                <a:gd name="T14" fmla="*/ 0 w 46"/>
                <a:gd name="T15" fmla="*/ 20 h 47"/>
                <a:gd name="T16" fmla="*/ 0 w 46"/>
                <a:gd name="T17" fmla="*/ 28 h 47"/>
                <a:gd name="T18" fmla="*/ 5 w 46"/>
                <a:gd name="T19" fmla="*/ 37 h 47"/>
                <a:gd name="T20" fmla="*/ 10 w 46"/>
                <a:gd name="T21" fmla="*/ 43 h 47"/>
                <a:gd name="T22" fmla="*/ 18 w 46"/>
                <a:gd name="T23" fmla="*/ 47 h 47"/>
                <a:gd name="T24" fmla="*/ 28 w 46"/>
                <a:gd name="T25" fmla="*/ 47 h 47"/>
                <a:gd name="T26" fmla="*/ 36 w 46"/>
                <a:gd name="T27" fmla="*/ 43 h 47"/>
                <a:gd name="T28" fmla="*/ 43 w 46"/>
                <a:gd name="T29" fmla="*/ 37 h 47"/>
                <a:gd name="T30" fmla="*/ 46 w 46"/>
                <a:gd name="T31" fmla="*/ 28 h 47"/>
                <a:gd name="T32" fmla="*/ 43 w 46"/>
                <a:gd name="T33" fmla="*/ 23 h 47"/>
                <a:gd name="T34" fmla="*/ 41 w 46"/>
                <a:gd name="T35" fmla="*/ 32 h 47"/>
                <a:gd name="T36" fmla="*/ 38 w 46"/>
                <a:gd name="T37" fmla="*/ 38 h 47"/>
                <a:gd name="T38" fmla="*/ 31 w 46"/>
                <a:gd name="T39" fmla="*/ 42 h 47"/>
                <a:gd name="T40" fmla="*/ 23 w 46"/>
                <a:gd name="T41" fmla="*/ 43 h 47"/>
                <a:gd name="T42" fmla="*/ 15 w 46"/>
                <a:gd name="T43" fmla="*/ 42 h 47"/>
                <a:gd name="T44" fmla="*/ 10 w 46"/>
                <a:gd name="T45" fmla="*/ 38 h 47"/>
                <a:gd name="T46" fmla="*/ 5 w 46"/>
                <a:gd name="T47" fmla="*/ 32 h 47"/>
                <a:gd name="T48" fmla="*/ 3 w 46"/>
                <a:gd name="T49" fmla="*/ 23 h 47"/>
                <a:gd name="T50" fmla="*/ 5 w 46"/>
                <a:gd name="T51" fmla="*/ 17 h 47"/>
                <a:gd name="T52" fmla="*/ 10 w 46"/>
                <a:gd name="T53" fmla="*/ 10 h 47"/>
                <a:gd name="T54" fmla="*/ 15 w 46"/>
                <a:gd name="T55" fmla="*/ 5 h 47"/>
                <a:gd name="T56" fmla="*/ 23 w 46"/>
                <a:gd name="T57" fmla="*/ 3 h 47"/>
                <a:gd name="T58" fmla="*/ 31 w 46"/>
                <a:gd name="T59" fmla="*/ 5 h 47"/>
                <a:gd name="T60" fmla="*/ 38 w 46"/>
                <a:gd name="T61" fmla="*/ 10 h 47"/>
                <a:gd name="T62" fmla="*/ 41 w 46"/>
                <a:gd name="T63" fmla="*/ 17 h 47"/>
                <a:gd name="T64" fmla="*/ 43 w 46"/>
                <a:gd name="T65" fmla="*/ 23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6" h="47">
                  <a:moveTo>
                    <a:pt x="46" y="23"/>
                  </a:moveTo>
                  <a:lnTo>
                    <a:pt x="46" y="20"/>
                  </a:lnTo>
                  <a:lnTo>
                    <a:pt x="45" y="15"/>
                  </a:lnTo>
                  <a:lnTo>
                    <a:pt x="43" y="12"/>
                  </a:lnTo>
                  <a:lnTo>
                    <a:pt x="40" y="8"/>
                  </a:lnTo>
                  <a:lnTo>
                    <a:pt x="36" y="5"/>
                  </a:lnTo>
                  <a:lnTo>
                    <a:pt x="33" y="3"/>
                  </a:lnTo>
                  <a:lnTo>
                    <a:pt x="28" y="2"/>
                  </a:lnTo>
                  <a:lnTo>
                    <a:pt x="23" y="0"/>
                  </a:lnTo>
                  <a:lnTo>
                    <a:pt x="18" y="2"/>
                  </a:lnTo>
                  <a:lnTo>
                    <a:pt x="15" y="3"/>
                  </a:lnTo>
                  <a:lnTo>
                    <a:pt x="10" y="5"/>
                  </a:lnTo>
                  <a:lnTo>
                    <a:pt x="7" y="8"/>
                  </a:lnTo>
                  <a:lnTo>
                    <a:pt x="5" y="12"/>
                  </a:lnTo>
                  <a:lnTo>
                    <a:pt x="2" y="15"/>
                  </a:lnTo>
                  <a:lnTo>
                    <a:pt x="0" y="20"/>
                  </a:lnTo>
                  <a:lnTo>
                    <a:pt x="0" y="23"/>
                  </a:lnTo>
                  <a:lnTo>
                    <a:pt x="0" y="28"/>
                  </a:lnTo>
                  <a:lnTo>
                    <a:pt x="2" y="33"/>
                  </a:lnTo>
                  <a:lnTo>
                    <a:pt x="5" y="37"/>
                  </a:lnTo>
                  <a:lnTo>
                    <a:pt x="7" y="40"/>
                  </a:lnTo>
                  <a:lnTo>
                    <a:pt x="10" y="43"/>
                  </a:lnTo>
                  <a:lnTo>
                    <a:pt x="15" y="45"/>
                  </a:lnTo>
                  <a:lnTo>
                    <a:pt x="18" y="47"/>
                  </a:lnTo>
                  <a:lnTo>
                    <a:pt x="23" y="47"/>
                  </a:lnTo>
                  <a:lnTo>
                    <a:pt x="28" y="47"/>
                  </a:lnTo>
                  <a:lnTo>
                    <a:pt x="33" y="45"/>
                  </a:lnTo>
                  <a:lnTo>
                    <a:pt x="36" y="43"/>
                  </a:lnTo>
                  <a:lnTo>
                    <a:pt x="40" y="40"/>
                  </a:lnTo>
                  <a:lnTo>
                    <a:pt x="43" y="37"/>
                  </a:lnTo>
                  <a:lnTo>
                    <a:pt x="45" y="33"/>
                  </a:lnTo>
                  <a:lnTo>
                    <a:pt x="46" y="28"/>
                  </a:lnTo>
                  <a:lnTo>
                    <a:pt x="46" y="23"/>
                  </a:lnTo>
                  <a:close/>
                  <a:moveTo>
                    <a:pt x="43" y="23"/>
                  </a:moveTo>
                  <a:lnTo>
                    <a:pt x="43" y="28"/>
                  </a:lnTo>
                  <a:lnTo>
                    <a:pt x="41" y="32"/>
                  </a:lnTo>
                  <a:lnTo>
                    <a:pt x="40" y="35"/>
                  </a:lnTo>
                  <a:lnTo>
                    <a:pt x="38" y="38"/>
                  </a:lnTo>
                  <a:lnTo>
                    <a:pt x="35" y="40"/>
                  </a:lnTo>
                  <a:lnTo>
                    <a:pt x="31" y="42"/>
                  </a:lnTo>
                  <a:lnTo>
                    <a:pt x="26" y="43"/>
                  </a:lnTo>
                  <a:lnTo>
                    <a:pt x="23" y="43"/>
                  </a:lnTo>
                  <a:lnTo>
                    <a:pt x="20" y="43"/>
                  </a:lnTo>
                  <a:lnTo>
                    <a:pt x="15" y="42"/>
                  </a:lnTo>
                  <a:lnTo>
                    <a:pt x="12" y="40"/>
                  </a:lnTo>
                  <a:lnTo>
                    <a:pt x="10" y="38"/>
                  </a:lnTo>
                  <a:lnTo>
                    <a:pt x="7" y="35"/>
                  </a:lnTo>
                  <a:lnTo>
                    <a:pt x="5" y="32"/>
                  </a:lnTo>
                  <a:lnTo>
                    <a:pt x="3" y="28"/>
                  </a:lnTo>
                  <a:lnTo>
                    <a:pt x="3" y="23"/>
                  </a:lnTo>
                  <a:lnTo>
                    <a:pt x="3" y="20"/>
                  </a:lnTo>
                  <a:lnTo>
                    <a:pt x="5" y="17"/>
                  </a:lnTo>
                  <a:lnTo>
                    <a:pt x="7" y="13"/>
                  </a:lnTo>
                  <a:lnTo>
                    <a:pt x="10" y="10"/>
                  </a:lnTo>
                  <a:lnTo>
                    <a:pt x="12" y="8"/>
                  </a:lnTo>
                  <a:lnTo>
                    <a:pt x="15" y="5"/>
                  </a:lnTo>
                  <a:lnTo>
                    <a:pt x="20" y="5"/>
                  </a:lnTo>
                  <a:lnTo>
                    <a:pt x="23" y="3"/>
                  </a:lnTo>
                  <a:lnTo>
                    <a:pt x="26" y="5"/>
                  </a:lnTo>
                  <a:lnTo>
                    <a:pt x="31" y="5"/>
                  </a:lnTo>
                  <a:lnTo>
                    <a:pt x="35" y="8"/>
                  </a:lnTo>
                  <a:lnTo>
                    <a:pt x="38" y="10"/>
                  </a:lnTo>
                  <a:lnTo>
                    <a:pt x="40" y="13"/>
                  </a:lnTo>
                  <a:lnTo>
                    <a:pt x="41" y="17"/>
                  </a:lnTo>
                  <a:lnTo>
                    <a:pt x="43" y="20"/>
                  </a:lnTo>
                  <a:lnTo>
                    <a:pt x="43" y="23"/>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2" name="Freeform 504">
              <a:extLst>
                <a:ext uri="{FF2B5EF4-FFF2-40B4-BE49-F238E27FC236}">
                  <a16:creationId xmlns:a16="http://schemas.microsoft.com/office/drawing/2014/main" id="{4D36F97B-A1A5-2959-FCBF-A79A5260BE66}"/>
                </a:ext>
              </a:extLst>
            </p:cNvPr>
            <p:cNvSpPr>
              <a:spLocks noEditPoints="1"/>
            </p:cNvSpPr>
            <p:nvPr/>
          </p:nvSpPr>
          <p:spPr bwMode="auto">
            <a:xfrm>
              <a:off x="1590" y="1716"/>
              <a:ext cx="43" cy="43"/>
            </a:xfrm>
            <a:custGeom>
              <a:avLst/>
              <a:gdLst>
                <a:gd name="T0" fmla="*/ 43 w 43"/>
                <a:gd name="T1" fmla="*/ 18 h 43"/>
                <a:gd name="T2" fmla="*/ 39 w 43"/>
                <a:gd name="T3" fmla="*/ 10 h 43"/>
                <a:gd name="T4" fmla="*/ 33 w 43"/>
                <a:gd name="T5" fmla="*/ 5 h 43"/>
                <a:gd name="T6" fmla="*/ 26 w 43"/>
                <a:gd name="T7" fmla="*/ 1 h 43"/>
                <a:gd name="T8" fmla="*/ 16 w 43"/>
                <a:gd name="T9" fmla="*/ 1 h 43"/>
                <a:gd name="T10" fmla="*/ 10 w 43"/>
                <a:gd name="T11" fmla="*/ 5 h 43"/>
                <a:gd name="T12" fmla="*/ 3 w 43"/>
                <a:gd name="T13" fmla="*/ 10 h 43"/>
                <a:gd name="T14" fmla="*/ 0 w 43"/>
                <a:gd name="T15" fmla="*/ 18 h 43"/>
                <a:gd name="T16" fmla="*/ 0 w 43"/>
                <a:gd name="T17" fmla="*/ 26 h 43"/>
                <a:gd name="T18" fmla="*/ 3 w 43"/>
                <a:gd name="T19" fmla="*/ 35 h 43"/>
                <a:gd name="T20" fmla="*/ 10 w 43"/>
                <a:gd name="T21" fmla="*/ 40 h 43"/>
                <a:gd name="T22" fmla="*/ 16 w 43"/>
                <a:gd name="T23" fmla="*/ 43 h 43"/>
                <a:gd name="T24" fmla="*/ 26 w 43"/>
                <a:gd name="T25" fmla="*/ 43 h 43"/>
                <a:gd name="T26" fmla="*/ 33 w 43"/>
                <a:gd name="T27" fmla="*/ 40 h 43"/>
                <a:gd name="T28" fmla="*/ 39 w 43"/>
                <a:gd name="T29" fmla="*/ 35 h 43"/>
                <a:gd name="T30" fmla="*/ 43 w 43"/>
                <a:gd name="T31" fmla="*/ 26 h 43"/>
                <a:gd name="T32" fmla="*/ 39 w 43"/>
                <a:gd name="T33" fmla="*/ 21 h 43"/>
                <a:gd name="T34" fmla="*/ 38 w 43"/>
                <a:gd name="T35" fmla="*/ 30 h 43"/>
                <a:gd name="T36" fmla="*/ 34 w 43"/>
                <a:gd name="T37" fmla="*/ 35 h 43"/>
                <a:gd name="T38" fmla="*/ 28 w 43"/>
                <a:gd name="T39" fmla="*/ 40 h 43"/>
                <a:gd name="T40" fmla="*/ 21 w 43"/>
                <a:gd name="T41" fmla="*/ 40 h 43"/>
                <a:gd name="T42" fmla="*/ 15 w 43"/>
                <a:gd name="T43" fmla="*/ 40 h 43"/>
                <a:gd name="T44" fmla="*/ 8 w 43"/>
                <a:gd name="T45" fmla="*/ 35 h 43"/>
                <a:gd name="T46" fmla="*/ 5 w 43"/>
                <a:gd name="T47" fmla="*/ 30 h 43"/>
                <a:gd name="T48" fmla="*/ 3 w 43"/>
                <a:gd name="T49" fmla="*/ 21 h 43"/>
                <a:gd name="T50" fmla="*/ 5 w 43"/>
                <a:gd name="T51" fmla="*/ 15 h 43"/>
                <a:gd name="T52" fmla="*/ 8 w 43"/>
                <a:gd name="T53" fmla="*/ 10 h 43"/>
                <a:gd name="T54" fmla="*/ 15 w 43"/>
                <a:gd name="T55" fmla="*/ 5 h 43"/>
                <a:gd name="T56" fmla="*/ 21 w 43"/>
                <a:gd name="T57" fmla="*/ 3 h 43"/>
                <a:gd name="T58" fmla="*/ 28 w 43"/>
                <a:gd name="T59" fmla="*/ 5 h 43"/>
                <a:gd name="T60" fmla="*/ 34 w 43"/>
                <a:gd name="T61" fmla="*/ 10 h 43"/>
                <a:gd name="T62" fmla="*/ 38 w 43"/>
                <a:gd name="T63" fmla="*/ 15 h 43"/>
                <a:gd name="T64" fmla="*/ 39 w 43"/>
                <a:gd name="T65" fmla="*/ 21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3" h="43">
                  <a:moveTo>
                    <a:pt x="43" y="21"/>
                  </a:moveTo>
                  <a:lnTo>
                    <a:pt x="43" y="18"/>
                  </a:lnTo>
                  <a:lnTo>
                    <a:pt x="41" y="13"/>
                  </a:lnTo>
                  <a:lnTo>
                    <a:pt x="39" y="10"/>
                  </a:lnTo>
                  <a:lnTo>
                    <a:pt x="36" y="6"/>
                  </a:lnTo>
                  <a:lnTo>
                    <a:pt x="33" y="5"/>
                  </a:lnTo>
                  <a:lnTo>
                    <a:pt x="29" y="1"/>
                  </a:lnTo>
                  <a:lnTo>
                    <a:pt x="26" y="1"/>
                  </a:lnTo>
                  <a:lnTo>
                    <a:pt x="21" y="0"/>
                  </a:lnTo>
                  <a:lnTo>
                    <a:pt x="16" y="1"/>
                  </a:lnTo>
                  <a:lnTo>
                    <a:pt x="13" y="1"/>
                  </a:lnTo>
                  <a:lnTo>
                    <a:pt x="10" y="5"/>
                  </a:lnTo>
                  <a:lnTo>
                    <a:pt x="6" y="6"/>
                  </a:lnTo>
                  <a:lnTo>
                    <a:pt x="3" y="10"/>
                  </a:lnTo>
                  <a:lnTo>
                    <a:pt x="1" y="13"/>
                  </a:lnTo>
                  <a:lnTo>
                    <a:pt x="0" y="18"/>
                  </a:lnTo>
                  <a:lnTo>
                    <a:pt x="0" y="21"/>
                  </a:lnTo>
                  <a:lnTo>
                    <a:pt x="0" y="26"/>
                  </a:lnTo>
                  <a:lnTo>
                    <a:pt x="1" y="30"/>
                  </a:lnTo>
                  <a:lnTo>
                    <a:pt x="3" y="35"/>
                  </a:lnTo>
                  <a:lnTo>
                    <a:pt x="6" y="38"/>
                  </a:lnTo>
                  <a:lnTo>
                    <a:pt x="10" y="40"/>
                  </a:lnTo>
                  <a:lnTo>
                    <a:pt x="13" y="41"/>
                  </a:lnTo>
                  <a:lnTo>
                    <a:pt x="16" y="43"/>
                  </a:lnTo>
                  <a:lnTo>
                    <a:pt x="21" y="43"/>
                  </a:lnTo>
                  <a:lnTo>
                    <a:pt x="26" y="43"/>
                  </a:lnTo>
                  <a:lnTo>
                    <a:pt x="29" y="41"/>
                  </a:lnTo>
                  <a:lnTo>
                    <a:pt x="33" y="40"/>
                  </a:lnTo>
                  <a:lnTo>
                    <a:pt x="36" y="38"/>
                  </a:lnTo>
                  <a:lnTo>
                    <a:pt x="39" y="35"/>
                  </a:lnTo>
                  <a:lnTo>
                    <a:pt x="41" y="30"/>
                  </a:lnTo>
                  <a:lnTo>
                    <a:pt x="43" y="26"/>
                  </a:lnTo>
                  <a:lnTo>
                    <a:pt x="43" y="21"/>
                  </a:lnTo>
                  <a:close/>
                  <a:moveTo>
                    <a:pt x="39" y="21"/>
                  </a:moveTo>
                  <a:lnTo>
                    <a:pt x="39" y="26"/>
                  </a:lnTo>
                  <a:lnTo>
                    <a:pt x="38" y="30"/>
                  </a:lnTo>
                  <a:lnTo>
                    <a:pt x="36" y="33"/>
                  </a:lnTo>
                  <a:lnTo>
                    <a:pt x="34" y="35"/>
                  </a:lnTo>
                  <a:lnTo>
                    <a:pt x="31" y="38"/>
                  </a:lnTo>
                  <a:lnTo>
                    <a:pt x="28" y="40"/>
                  </a:lnTo>
                  <a:lnTo>
                    <a:pt x="24" y="40"/>
                  </a:lnTo>
                  <a:lnTo>
                    <a:pt x="21" y="40"/>
                  </a:lnTo>
                  <a:lnTo>
                    <a:pt x="18" y="40"/>
                  </a:lnTo>
                  <a:lnTo>
                    <a:pt x="15" y="40"/>
                  </a:lnTo>
                  <a:lnTo>
                    <a:pt x="11" y="38"/>
                  </a:lnTo>
                  <a:lnTo>
                    <a:pt x="8" y="35"/>
                  </a:lnTo>
                  <a:lnTo>
                    <a:pt x="6" y="33"/>
                  </a:lnTo>
                  <a:lnTo>
                    <a:pt x="5" y="30"/>
                  </a:lnTo>
                  <a:lnTo>
                    <a:pt x="3" y="26"/>
                  </a:lnTo>
                  <a:lnTo>
                    <a:pt x="3" y="21"/>
                  </a:lnTo>
                  <a:lnTo>
                    <a:pt x="3" y="18"/>
                  </a:lnTo>
                  <a:lnTo>
                    <a:pt x="5" y="15"/>
                  </a:lnTo>
                  <a:lnTo>
                    <a:pt x="6" y="11"/>
                  </a:lnTo>
                  <a:lnTo>
                    <a:pt x="8" y="10"/>
                  </a:lnTo>
                  <a:lnTo>
                    <a:pt x="11" y="6"/>
                  </a:lnTo>
                  <a:lnTo>
                    <a:pt x="15" y="5"/>
                  </a:lnTo>
                  <a:lnTo>
                    <a:pt x="18" y="5"/>
                  </a:lnTo>
                  <a:lnTo>
                    <a:pt x="21" y="3"/>
                  </a:lnTo>
                  <a:lnTo>
                    <a:pt x="24" y="5"/>
                  </a:lnTo>
                  <a:lnTo>
                    <a:pt x="28" y="5"/>
                  </a:lnTo>
                  <a:lnTo>
                    <a:pt x="31" y="6"/>
                  </a:lnTo>
                  <a:lnTo>
                    <a:pt x="34" y="10"/>
                  </a:lnTo>
                  <a:lnTo>
                    <a:pt x="36" y="11"/>
                  </a:lnTo>
                  <a:lnTo>
                    <a:pt x="38" y="15"/>
                  </a:lnTo>
                  <a:lnTo>
                    <a:pt x="39" y="18"/>
                  </a:lnTo>
                  <a:lnTo>
                    <a:pt x="39" y="21"/>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3" name="Freeform 505">
              <a:extLst>
                <a:ext uri="{FF2B5EF4-FFF2-40B4-BE49-F238E27FC236}">
                  <a16:creationId xmlns:a16="http://schemas.microsoft.com/office/drawing/2014/main" id="{D208B345-C598-783B-9E26-2D7685A26E7D}"/>
                </a:ext>
              </a:extLst>
            </p:cNvPr>
            <p:cNvSpPr>
              <a:spLocks noEditPoints="1"/>
            </p:cNvSpPr>
            <p:nvPr/>
          </p:nvSpPr>
          <p:spPr bwMode="auto">
            <a:xfrm>
              <a:off x="1591" y="1717"/>
              <a:ext cx="40" cy="40"/>
            </a:xfrm>
            <a:custGeom>
              <a:avLst/>
              <a:gdLst>
                <a:gd name="T0" fmla="*/ 40 w 40"/>
                <a:gd name="T1" fmla="*/ 17 h 40"/>
                <a:gd name="T2" fmla="*/ 37 w 40"/>
                <a:gd name="T3" fmla="*/ 10 h 40"/>
                <a:gd name="T4" fmla="*/ 32 w 40"/>
                <a:gd name="T5" fmla="*/ 5 h 40"/>
                <a:gd name="T6" fmla="*/ 23 w 40"/>
                <a:gd name="T7" fmla="*/ 2 h 40"/>
                <a:gd name="T8" fmla="*/ 17 w 40"/>
                <a:gd name="T9" fmla="*/ 2 h 40"/>
                <a:gd name="T10" fmla="*/ 9 w 40"/>
                <a:gd name="T11" fmla="*/ 5 h 40"/>
                <a:gd name="T12" fmla="*/ 4 w 40"/>
                <a:gd name="T13" fmla="*/ 10 h 40"/>
                <a:gd name="T14" fmla="*/ 0 w 40"/>
                <a:gd name="T15" fmla="*/ 17 h 40"/>
                <a:gd name="T16" fmla="*/ 0 w 40"/>
                <a:gd name="T17" fmla="*/ 25 h 40"/>
                <a:gd name="T18" fmla="*/ 4 w 40"/>
                <a:gd name="T19" fmla="*/ 32 h 40"/>
                <a:gd name="T20" fmla="*/ 9 w 40"/>
                <a:gd name="T21" fmla="*/ 37 h 40"/>
                <a:gd name="T22" fmla="*/ 17 w 40"/>
                <a:gd name="T23" fmla="*/ 40 h 40"/>
                <a:gd name="T24" fmla="*/ 23 w 40"/>
                <a:gd name="T25" fmla="*/ 40 h 40"/>
                <a:gd name="T26" fmla="*/ 32 w 40"/>
                <a:gd name="T27" fmla="*/ 37 h 40"/>
                <a:gd name="T28" fmla="*/ 37 w 40"/>
                <a:gd name="T29" fmla="*/ 32 h 40"/>
                <a:gd name="T30" fmla="*/ 40 w 40"/>
                <a:gd name="T31" fmla="*/ 25 h 40"/>
                <a:gd name="T32" fmla="*/ 37 w 40"/>
                <a:gd name="T33" fmla="*/ 20 h 40"/>
                <a:gd name="T34" fmla="*/ 35 w 40"/>
                <a:gd name="T35" fmla="*/ 27 h 40"/>
                <a:gd name="T36" fmla="*/ 32 w 40"/>
                <a:gd name="T37" fmla="*/ 32 h 40"/>
                <a:gd name="T38" fmla="*/ 27 w 40"/>
                <a:gd name="T39" fmla="*/ 37 h 40"/>
                <a:gd name="T40" fmla="*/ 20 w 40"/>
                <a:gd name="T41" fmla="*/ 37 h 40"/>
                <a:gd name="T42" fmla="*/ 14 w 40"/>
                <a:gd name="T43" fmla="*/ 37 h 40"/>
                <a:gd name="T44" fmla="*/ 9 w 40"/>
                <a:gd name="T45" fmla="*/ 32 h 40"/>
                <a:gd name="T46" fmla="*/ 5 w 40"/>
                <a:gd name="T47" fmla="*/ 27 h 40"/>
                <a:gd name="T48" fmla="*/ 4 w 40"/>
                <a:gd name="T49" fmla="*/ 20 h 40"/>
                <a:gd name="T50" fmla="*/ 5 w 40"/>
                <a:gd name="T51" fmla="*/ 15 h 40"/>
                <a:gd name="T52" fmla="*/ 9 w 40"/>
                <a:gd name="T53" fmla="*/ 9 h 40"/>
                <a:gd name="T54" fmla="*/ 14 w 40"/>
                <a:gd name="T55" fmla="*/ 5 h 40"/>
                <a:gd name="T56" fmla="*/ 20 w 40"/>
                <a:gd name="T57" fmla="*/ 4 h 40"/>
                <a:gd name="T58" fmla="*/ 27 w 40"/>
                <a:gd name="T59" fmla="*/ 5 h 40"/>
                <a:gd name="T60" fmla="*/ 32 w 40"/>
                <a:gd name="T61" fmla="*/ 9 h 40"/>
                <a:gd name="T62" fmla="*/ 35 w 40"/>
                <a:gd name="T63" fmla="*/ 15 h 40"/>
                <a:gd name="T64" fmla="*/ 37 w 40"/>
                <a:gd name="T65" fmla="*/ 2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0" h="40">
                  <a:moveTo>
                    <a:pt x="40" y="20"/>
                  </a:moveTo>
                  <a:lnTo>
                    <a:pt x="40" y="17"/>
                  </a:lnTo>
                  <a:lnTo>
                    <a:pt x="38" y="14"/>
                  </a:lnTo>
                  <a:lnTo>
                    <a:pt x="37" y="10"/>
                  </a:lnTo>
                  <a:lnTo>
                    <a:pt x="35" y="7"/>
                  </a:lnTo>
                  <a:lnTo>
                    <a:pt x="32" y="5"/>
                  </a:lnTo>
                  <a:lnTo>
                    <a:pt x="28" y="2"/>
                  </a:lnTo>
                  <a:lnTo>
                    <a:pt x="23" y="2"/>
                  </a:lnTo>
                  <a:lnTo>
                    <a:pt x="20" y="0"/>
                  </a:lnTo>
                  <a:lnTo>
                    <a:pt x="17" y="2"/>
                  </a:lnTo>
                  <a:lnTo>
                    <a:pt x="12" y="2"/>
                  </a:lnTo>
                  <a:lnTo>
                    <a:pt x="9" y="5"/>
                  </a:lnTo>
                  <a:lnTo>
                    <a:pt x="7" y="7"/>
                  </a:lnTo>
                  <a:lnTo>
                    <a:pt x="4" y="10"/>
                  </a:lnTo>
                  <a:lnTo>
                    <a:pt x="2" y="14"/>
                  </a:lnTo>
                  <a:lnTo>
                    <a:pt x="0" y="17"/>
                  </a:lnTo>
                  <a:lnTo>
                    <a:pt x="0" y="20"/>
                  </a:lnTo>
                  <a:lnTo>
                    <a:pt x="0" y="25"/>
                  </a:lnTo>
                  <a:lnTo>
                    <a:pt x="2" y="29"/>
                  </a:lnTo>
                  <a:lnTo>
                    <a:pt x="4" y="32"/>
                  </a:lnTo>
                  <a:lnTo>
                    <a:pt x="7" y="35"/>
                  </a:lnTo>
                  <a:lnTo>
                    <a:pt x="9" y="37"/>
                  </a:lnTo>
                  <a:lnTo>
                    <a:pt x="12" y="39"/>
                  </a:lnTo>
                  <a:lnTo>
                    <a:pt x="17" y="40"/>
                  </a:lnTo>
                  <a:lnTo>
                    <a:pt x="20" y="40"/>
                  </a:lnTo>
                  <a:lnTo>
                    <a:pt x="23" y="40"/>
                  </a:lnTo>
                  <a:lnTo>
                    <a:pt x="28" y="39"/>
                  </a:lnTo>
                  <a:lnTo>
                    <a:pt x="32" y="37"/>
                  </a:lnTo>
                  <a:lnTo>
                    <a:pt x="35" y="35"/>
                  </a:lnTo>
                  <a:lnTo>
                    <a:pt x="37" y="32"/>
                  </a:lnTo>
                  <a:lnTo>
                    <a:pt x="38" y="29"/>
                  </a:lnTo>
                  <a:lnTo>
                    <a:pt x="40" y="25"/>
                  </a:lnTo>
                  <a:lnTo>
                    <a:pt x="40" y="20"/>
                  </a:lnTo>
                  <a:close/>
                  <a:moveTo>
                    <a:pt x="37" y="20"/>
                  </a:moveTo>
                  <a:lnTo>
                    <a:pt x="37" y="24"/>
                  </a:lnTo>
                  <a:lnTo>
                    <a:pt x="35" y="27"/>
                  </a:lnTo>
                  <a:lnTo>
                    <a:pt x="33" y="30"/>
                  </a:lnTo>
                  <a:lnTo>
                    <a:pt x="32" y="32"/>
                  </a:lnTo>
                  <a:lnTo>
                    <a:pt x="30" y="35"/>
                  </a:lnTo>
                  <a:lnTo>
                    <a:pt x="27" y="37"/>
                  </a:lnTo>
                  <a:lnTo>
                    <a:pt x="23" y="37"/>
                  </a:lnTo>
                  <a:lnTo>
                    <a:pt x="20" y="37"/>
                  </a:lnTo>
                  <a:lnTo>
                    <a:pt x="17" y="37"/>
                  </a:lnTo>
                  <a:lnTo>
                    <a:pt x="14" y="37"/>
                  </a:lnTo>
                  <a:lnTo>
                    <a:pt x="12" y="35"/>
                  </a:lnTo>
                  <a:lnTo>
                    <a:pt x="9" y="32"/>
                  </a:lnTo>
                  <a:lnTo>
                    <a:pt x="7" y="30"/>
                  </a:lnTo>
                  <a:lnTo>
                    <a:pt x="5" y="27"/>
                  </a:lnTo>
                  <a:lnTo>
                    <a:pt x="4" y="24"/>
                  </a:lnTo>
                  <a:lnTo>
                    <a:pt x="4" y="20"/>
                  </a:lnTo>
                  <a:lnTo>
                    <a:pt x="4" y="17"/>
                  </a:lnTo>
                  <a:lnTo>
                    <a:pt x="5" y="15"/>
                  </a:lnTo>
                  <a:lnTo>
                    <a:pt x="7" y="12"/>
                  </a:lnTo>
                  <a:lnTo>
                    <a:pt x="9" y="9"/>
                  </a:lnTo>
                  <a:lnTo>
                    <a:pt x="12" y="7"/>
                  </a:lnTo>
                  <a:lnTo>
                    <a:pt x="14" y="5"/>
                  </a:lnTo>
                  <a:lnTo>
                    <a:pt x="17" y="5"/>
                  </a:lnTo>
                  <a:lnTo>
                    <a:pt x="20" y="4"/>
                  </a:lnTo>
                  <a:lnTo>
                    <a:pt x="23" y="5"/>
                  </a:lnTo>
                  <a:lnTo>
                    <a:pt x="27" y="5"/>
                  </a:lnTo>
                  <a:lnTo>
                    <a:pt x="30" y="7"/>
                  </a:lnTo>
                  <a:lnTo>
                    <a:pt x="32" y="9"/>
                  </a:lnTo>
                  <a:lnTo>
                    <a:pt x="33" y="12"/>
                  </a:lnTo>
                  <a:lnTo>
                    <a:pt x="35" y="15"/>
                  </a:lnTo>
                  <a:lnTo>
                    <a:pt x="37" y="17"/>
                  </a:lnTo>
                  <a:lnTo>
                    <a:pt x="37" y="20"/>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4" name="Freeform 506">
              <a:extLst>
                <a:ext uri="{FF2B5EF4-FFF2-40B4-BE49-F238E27FC236}">
                  <a16:creationId xmlns:a16="http://schemas.microsoft.com/office/drawing/2014/main" id="{509FF2E2-9884-6D7A-4272-9FA78DF42847}"/>
                </a:ext>
              </a:extLst>
            </p:cNvPr>
            <p:cNvSpPr>
              <a:spLocks noEditPoints="1"/>
            </p:cNvSpPr>
            <p:nvPr/>
          </p:nvSpPr>
          <p:spPr bwMode="auto">
            <a:xfrm>
              <a:off x="1593" y="1719"/>
              <a:ext cx="36" cy="37"/>
            </a:xfrm>
            <a:custGeom>
              <a:avLst/>
              <a:gdLst>
                <a:gd name="T0" fmla="*/ 36 w 36"/>
                <a:gd name="T1" fmla="*/ 15 h 37"/>
                <a:gd name="T2" fmla="*/ 33 w 36"/>
                <a:gd name="T3" fmla="*/ 8 h 37"/>
                <a:gd name="T4" fmla="*/ 28 w 36"/>
                <a:gd name="T5" fmla="*/ 3 h 37"/>
                <a:gd name="T6" fmla="*/ 21 w 36"/>
                <a:gd name="T7" fmla="*/ 2 h 37"/>
                <a:gd name="T8" fmla="*/ 15 w 36"/>
                <a:gd name="T9" fmla="*/ 2 h 37"/>
                <a:gd name="T10" fmla="*/ 8 w 36"/>
                <a:gd name="T11" fmla="*/ 3 h 37"/>
                <a:gd name="T12" fmla="*/ 3 w 36"/>
                <a:gd name="T13" fmla="*/ 8 h 37"/>
                <a:gd name="T14" fmla="*/ 0 w 36"/>
                <a:gd name="T15" fmla="*/ 15 h 37"/>
                <a:gd name="T16" fmla="*/ 0 w 36"/>
                <a:gd name="T17" fmla="*/ 23 h 37"/>
                <a:gd name="T18" fmla="*/ 3 w 36"/>
                <a:gd name="T19" fmla="*/ 30 h 37"/>
                <a:gd name="T20" fmla="*/ 8 w 36"/>
                <a:gd name="T21" fmla="*/ 35 h 37"/>
                <a:gd name="T22" fmla="*/ 15 w 36"/>
                <a:gd name="T23" fmla="*/ 37 h 37"/>
                <a:gd name="T24" fmla="*/ 21 w 36"/>
                <a:gd name="T25" fmla="*/ 37 h 37"/>
                <a:gd name="T26" fmla="*/ 28 w 36"/>
                <a:gd name="T27" fmla="*/ 35 h 37"/>
                <a:gd name="T28" fmla="*/ 33 w 36"/>
                <a:gd name="T29" fmla="*/ 30 h 37"/>
                <a:gd name="T30" fmla="*/ 36 w 36"/>
                <a:gd name="T31" fmla="*/ 23 h 37"/>
                <a:gd name="T32" fmla="*/ 33 w 36"/>
                <a:gd name="T33" fmla="*/ 18 h 37"/>
                <a:gd name="T34" fmla="*/ 31 w 36"/>
                <a:gd name="T35" fmla="*/ 25 h 37"/>
                <a:gd name="T36" fmla="*/ 28 w 36"/>
                <a:gd name="T37" fmla="*/ 30 h 37"/>
                <a:gd name="T38" fmla="*/ 25 w 36"/>
                <a:gd name="T39" fmla="*/ 33 h 37"/>
                <a:gd name="T40" fmla="*/ 18 w 36"/>
                <a:gd name="T41" fmla="*/ 33 h 37"/>
                <a:gd name="T42" fmla="*/ 13 w 36"/>
                <a:gd name="T43" fmla="*/ 33 h 37"/>
                <a:gd name="T44" fmla="*/ 8 w 36"/>
                <a:gd name="T45" fmla="*/ 30 h 37"/>
                <a:gd name="T46" fmla="*/ 5 w 36"/>
                <a:gd name="T47" fmla="*/ 25 h 37"/>
                <a:gd name="T48" fmla="*/ 3 w 36"/>
                <a:gd name="T49" fmla="*/ 18 h 37"/>
                <a:gd name="T50" fmla="*/ 5 w 36"/>
                <a:gd name="T51" fmla="*/ 13 h 37"/>
                <a:gd name="T52" fmla="*/ 8 w 36"/>
                <a:gd name="T53" fmla="*/ 8 h 37"/>
                <a:gd name="T54" fmla="*/ 13 w 36"/>
                <a:gd name="T55" fmla="*/ 5 h 37"/>
                <a:gd name="T56" fmla="*/ 18 w 36"/>
                <a:gd name="T57" fmla="*/ 3 h 37"/>
                <a:gd name="T58" fmla="*/ 25 w 36"/>
                <a:gd name="T59" fmla="*/ 5 h 37"/>
                <a:gd name="T60" fmla="*/ 28 w 36"/>
                <a:gd name="T61" fmla="*/ 8 h 37"/>
                <a:gd name="T62" fmla="*/ 31 w 36"/>
                <a:gd name="T63" fmla="*/ 13 h 37"/>
                <a:gd name="T64" fmla="*/ 33 w 36"/>
                <a:gd name="T65" fmla="*/ 18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6" h="37">
                  <a:moveTo>
                    <a:pt x="36" y="18"/>
                  </a:moveTo>
                  <a:lnTo>
                    <a:pt x="36" y="15"/>
                  </a:lnTo>
                  <a:lnTo>
                    <a:pt x="35" y="12"/>
                  </a:lnTo>
                  <a:lnTo>
                    <a:pt x="33" y="8"/>
                  </a:lnTo>
                  <a:lnTo>
                    <a:pt x="31" y="7"/>
                  </a:lnTo>
                  <a:lnTo>
                    <a:pt x="28" y="3"/>
                  </a:lnTo>
                  <a:lnTo>
                    <a:pt x="25" y="2"/>
                  </a:lnTo>
                  <a:lnTo>
                    <a:pt x="21" y="2"/>
                  </a:lnTo>
                  <a:lnTo>
                    <a:pt x="18" y="0"/>
                  </a:lnTo>
                  <a:lnTo>
                    <a:pt x="15" y="2"/>
                  </a:lnTo>
                  <a:lnTo>
                    <a:pt x="12" y="2"/>
                  </a:lnTo>
                  <a:lnTo>
                    <a:pt x="8" y="3"/>
                  </a:lnTo>
                  <a:lnTo>
                    <a:pt x="5" y="7"/>
                  </a:lnTo>
                  <a:lnTo>
                    <a:pt x="3" y="8"/>
                  </a:lnTo>
                  <a:lnTo>
                    <a:pt x="2" y="12"/>
                  </a:lnTo>
                  <a:lnTo>
                    <a:pt x="0" y="15"/>
                  </a:lnTo>
                  <a:lnTo>
                    <a:pt x="0" y="18"/>
                  </a:lnTo>
                  <a:lnTo>
                    <a:pt x="0" y="23"/>
                  </a:lnTo>
                  <a:lnTo>
                    <a:pt x="2" y="27"/>
                  </a:lnTo>
                  <a:lnTo>
                    <a:pt x="3" y="30"/>
                  </a:lnTo>
                  <a:lnTo>
                    <a:pt x="5" y="32"/>
                  </a:lnTo>
                  <a:lnTo>
                    <a:pt x="8" y="35"/>
                  </a:lnTo>
                  <a:lnTo>
                    <a:pt x="12" y="37"/>
                  </a:lnTo>
                  <a:lnTo>
                    <a:pt x="15" y="37"/>
                  </a:lnTo>
                  <a:lnTo>
                    <a:pt x="18" y="37"/>
                  </a:lnTo>
                  <a:lnTo>
                    <a:pt x="21" y="37"/>
                  </a:lnTo>
                  <a:lnTo>
                    <a:pt x="25" y="37"/>
                  </a:lnTo>
                  <a:lnTo>
                    <a:pt x="28" y="35"/>
                  </a:lnTo>
                  <a:lnTo>
                    <a:pt x="31" y="32"/>
                  </a:lnTo>
                  <a:lnTo>
                    <a:pt x="33" y="30"/>
                  </a:lnTo>
                  <a:lnTo>
                    <a:pt x="35" y="27"/>
                  </a:lnTo>
                  <a:lnTo>
                    <a:pt x="36" y="23"/>
                  </a:lnTo>
                  <a:lnTo>
                    <a:pt x="36" y="18"/>
                  </a:lnTo>
                  <a:close/>
                  <a:moveTo>
                    <a:pt x="33" y="18"/>
                  </a:moveTo>
                  <a:lnTo>
                    <a:pt x="33" y="22"/>
                  </a:lnTo>
                  <a:lnTo>
                    <a:pt x="31" y="25"/>
                  </a:lnTo>
                  <a:lnTo>
                    <a:pt x="31" y="27"/>
                  </a:lnTo>
                  <a:lnTo>
                    <a:pt x="28" y="30"/>
                  </a:lnTo>
                  <a:lnTo>
                    <a:pt x="26" y="32"/>
                  </a:lnTo>
                  <a:lnTo>
                    <a:pt x="25" y="33"/>
                  </a:lnTo>
                  <a:lnTo>
                    <a:pt x="21" y="33"/>
                  </a:lnTo>
                  <a:lnTo>
                    <a:pt x="18" y="33"/>
                  </a:lnTo>
                  <a:lnTo>
                    <a:pt x="15" y="33"/>
                  </a:lnTo>
                  <a:lnTo>
                    <a:pt x="13" y="33"/>
                  </a:lnTo>
                  <a:lnTo>
                    <a:pt x="10" y="32"/>
                  </a:lnTo>
                  <a:lnTo>
                    <a:pt x="8" y="30"/>
                  </a:lnTo>
                  <a:lnTo>
                    <a:pt x="7" y="27"/>
                  </a:lnTo>
                  <a:lnTo>
                    <a:pt x="5" y="25"/>
                  </a:lnTo>
                  <a:lnTo>
                    <a:pt x="3" y="22"/>
                  </a:lnTo>
                  <a:lnTo>
                    <a:pt x="3" y="18"/>
                  </a:lnTo>
                  <a:lnTo>
                    <a:pt x="3" y="17"/>
                  </a:lnTo>
                  <a:lnTo>
                    <a:pt x="5" y="13"/>
                  </a:lnTo>
                  <a:lnTo>
                    <a:pt x="7" y="10"/>
                  </a:lnTo>
                  <a:lnTo>
                    <a:pt x="8" y="8"/>
                  </a:lnTo>
                  <a:lnTo>
                    <a:pt x="10" y="7"/>
                  </a:lnTo>
                  <a:lnTo>
                    <a:pt x="13" y="5"/>
                  </a:lnTo>
                  <a:lnTo>
                    <a:pt x="15" y="5"/>
                  </a:lnTo>
                  <a:lnTo>
                    <a:pt x="18" y="3"/>
                  </a:lnTo>
                  <a:lnTo>
                    <a:pt x="21" y="5"/>
                  </a:lnTo>
                  <a:lnTo>
                    <a:pt x="25" y="5"/>
                  </a:lnTo>
                  <a:lnTo>
                    <a:pt x="26" y="7"/>
                  </a:lnTo>
                  <a:lnTo>
                    <a:pt x="28" y="8"/>
                  </a:lnTo>
                  <a:lnTo>
                    <a:pt x="31" y="10"/>
                  </a:lnTo>
                  <a:lnTo>
                    <a:pt x="31" y="13"/>
                  </a:lnTo>
                  <a:lnTo>
                    <a:pt x="33" y="17"/>
                  </a:lnTo>
                  <a:lnTo>
                    <a:pt x="33" y="18"/>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5" name="Freeform 507">
              <a:extLst>
                <a:ext uri="{FF2B5EF4-FFF2-40B4-BE49-F238E27FC236}">
                  <a16:creationId xmlns:a16="http://schemas.microsoft.com/office/drawing/2014/main" id="{B582EE27-2BEA-5408-6DC4-FE4A8EBD8E98}"/>
                </a:ext>
              </a:extLst>
            </p:cNvPr>
            <p:cNvSpPr>
              <a:spLocks noEditPoints="1"/>
            </p:cNvSpPr>
            <p:nvPr/>
          </p:nvSpPr>
          <p:spPr bwMode="auto">
            <a:xfrm>
              <a:off x="1595" y="1721"/>
              <a:ext cx="33" cy="33"/>
            </a:xfrm>
            <a:custGeom>
              <a:avLst/>
              <a:gdLst>
                <a:gd name="T0" fmla="*/ 33 w 33"/>
                <a:gd name="T1" fmla="*/ 13 h 33"/>
                <a:gd name="T2" fmla="*/ 29 w 33"/>
                <a:gd name="T3" fmla="*/ 8 h 33"/>
                <a:gd name="T4" fmla="*/ 26 w 33"/>
                <a:gd name="T5" fmla="*/ 3 h 33"/>
                <a:gd name="T6" fmla="*/ 19 w 33"/>
                <a:gd name="T7" fmla="*/ 1 h 33"/>
                <a:gd name="T8" fmla="*/ 13 w 33"/>
                <a:gd name="T9" fmla="*/ 1 h 33"/>
                <a:gd name="T10" fmla="*/ 8 w 33"/>
                <a:gd name="T11" fmla="*/ 3 h 33"/>
                <a:gd name="T12" fmla="*/ 3 w 33"/>
                <a:gd name="T13" fmla="*/ 8 h 33"/>
                <a:gd name="T14" fmla="*/ 0 w 33"/>
                <a:gd name="T15" fmla="*/ 13 h 33"/>
                <a:gd name="T16" fmla="*/ 0 w 33"/>
                <a:gd name="T17" fmla="*/ 20 h 33"/>
                <a:gd name="T18" fmla="*/ 3 w 33"/>
                <a:gd name="T19" fmla="*/ 26 h 33"/>
                <a:gd name="T20" fmla="*/ 8 w 33"/>
                <a:gd name="T21" fmla="*/ 31 h 33"/>
                <a:gd name="T22" fmla="*/ 13 w 33"/>
                <a:gd name="T23" fmla="*/ 33 h 33"/>
                <a:gd name="T24" fmla="*/ 19 w 33"/>
                <a:gd name="T25" fmla="*/ 33 h 33"/>
                <a:gd name="T26" fmla="*/ 26 w 33"/>
                <a:gd name="T27" fmla="*/ 31 h 33"/>
                <a:gd name="T28" fmla="*/ 29 w 33"/>
                <a:gd name="T29" fmla="*/ 26 h 33"/>
                <a:gd name="T30" fmla="*/ 33 w 33"/>
                <a:gd name="T31" fmla="*/ 20 h 33"/>
                <a:gd name="T32" fmla="*/ 29 w 33"/>
                <a:gd name="T33" fmla="*/ 16 h 33"/>
                <a:gd name="T34" fmla="*/ 28 w 33"/>
                <a:gd name="T35" fmla="*/ 23 h 33"/>
                <a:gd name="T36" fmla="*/ 26 w 33"/>
                <a:gd name="T37" fmla="*/ 26 h 33"/>
                <a:gd name="T38" fmla="*/ 21 w 33"/>
                <a:gd name="T39" fmla="*/ 30 h 33"/>
                <a:gd name="T40" fmla="*/ 16 w 33"/>
                <a:gd name="T41" fmla="*/ 30 h 33"/>
                <a:gd name="T42" fmla="*/ 11 w 33"/>
                <a:gd name="T43" fmla="*/ 30 h 33"/>
                <a:gd name="T44" fmla="*/ 6 w 33"/>
                <a:gd name="T45" fmla="*/ 26 h 33"/>
                <a:gd name="T46" fmla="*/ 5 w 33"/>
                <a:gd name="T47" fmla="*/ 23 h 33"/>
                <a:gd name="T48" fmla="*/ 3 w 33"/>
                <a:gd name="T49" fmla="*/ 16 h 33"/>
                <a:gd name="T50" fmla="*/ 5 w 33"/>
                <a:gd name="T51" fmla="*/ 11 h 33"/>
                <a:gd name="T52" fmla="*/ 6 w 33"/>
                <a:gd name="T53" fmla="*/ 8 h 33"/>
                <a:gd name="T54" fmla="*/ 11 w 33"/>
                <a:gd name="T55" fmla="*/ 5 h 33"/>
                <a:gd name="T56" fmla="*/ 16 w 33"/>
                <a:gd name="T57" fmla="*/ 3 h 33"/>
                <a:gd name="T58" fmla="*/ 21 w 33"/>
                <a:gd name="T59" fmla="*/ 5 h 33"/>
                <a:gd name="T60" fmla="*/ 26 w 33"/>
                <a:gd name="T61" fmla="*/ 8 h 33"/>
                <a:gd name="T62" fmla="*/ 28 w 33"/>
                <a:gd name="T63" fmla="*/ 11 h 33"/>
                <a:gd name="T64" fmla="*/ 29 w 33"/>
                <a:gd name="T65" fmla="*/ 16 h 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3" h="33">
                  <a:moveTo>
                    <a:pt x="33" y="16"/>
                  </a:moveTo>
                  <a:lnTo>
                    <a:pt x="33" y="13"/>
                  </a:lnTo>
                  <a:lnTo>
                    <a:pt x="31" y="11"/>
                  </a:lnTo>
                  <a:lnTo>
                    <a:pt x="29" y="8"/>
                  </a:lnTo>
                  <a:lnTo>
                    <a:pt x="28" y="5"/>
                  </a:lnTo>
                  <a:lnTo>
                    <a:pt x="26" y="3"/>
                  </a:lnTo>
                  <a:lnTo>
                    <a:pt x="23" y="1"/>
                  </a:lnTo>
                  <a:lnTo>
                    <a:pt x="19" y="1"/>
                  </a:lnTo>
                  <a:lnTo>
                    <a:pt x="16" y="0"/>
                  </a:lnTo>
                  <a:lnTo>
                    <a:pt x="13" y="1"/>
                  </a:lnTo>
                  <a:lnTo>
                    <a:pt x="10" y="1"/>
                  </a:lnTo>
                  <a:lnTo>
                    <a:pt x="8" y="3"/>
                  </a:lnTo>
                  <a:lnTo>
                    <a:pt x="5" y="5"/>
                  </a:lnTo>
                  <a:lnTo>
                    <a:pt x="3" y="8"/>
                  </a:lnTo>
                  <a:lnTo>
                    <a:pt x="1" y="11"/>
                  </a:lnTo>
                  <a:lnTo>
                    <a:pt x="0" y="13"/>
                  </a:lnTo>
                  <a:lnTo>
                    <a:pt x="0" y="16"/>
                  </a:lnTo>
                  <a:lnTo>
                    <a:pt x="0" y="20"/>
                  </a:lnTo>
                  <a:lnTo>
                    <a:pt x="1" y="23"/>
                  </a:lnTo>
                  <a:lnTo>
                    <a:pt x="3" y="26"/>
                  </a:lnTo>
                  <a:lnTo>
                    <a:pt x="5" y="28"/>
                  </a:lnTo>
                  <a:lnTo>
                    <a:pt x="8" y="31"/>
                  </a:lnTo>
                  <a:lnTo>
                    <a:pt x="10" y="33"/>
                  </a:lnTo>
                  <a:lnTo>
                    <a:pt x="13" y="33"/>
                  </a:lnTo>
                  <a:lnTo>
                    <a:pt x="16" y="33"/>
                  </a:lnTo>
                  <a:lnTo>
                    <a:pt x="19" y="33"/>
                  </a:lnTo>
                  <a:lnTo>
                    <a:pt x="23" y="33"/>
                  </a:lnTo>
                  <a:lnTo>
                    <a:pt x="26" y="31"/>
                  </a:lnTo>
                  <a:lnTo>
                    <a:pt x="28" y="28"/>
                  </a:lnTo>
                  <a:lnTo>
                    <a:pt x="29" y="26"/>
                  </a:lnTo>
                  <a:lnTo>
                    <a:pt x="31" y="23"/>
                  </a:lnTo>
                  <a:lnTo>
                    <a:pt x="33" y="20"/>
                  </a:lnTo>
                  <a:lnTo>
                    <a:pt x="33" y="16"/>
                  </a:lnTo>
                  <a:close/>
                  <a:moveTo>
                    <a:pt x="29" y="16"/>
                  </a:moveTo>
                  <a:lnTo>
                    <a:pt x="29" y="20"/>
                  </a:lnTo>
                  <a:lnTo>
                    <a:pt x="28" y="23"/>
                  </a:lnTo>
                  <a:lnTo>
                    <a:pt x="28" y="25"/>
                  </a:lnTo>
                  <a:lnTo>
                    <a:pt x="26" y="26"/>
                  </a:lnTo>
                  <a:lnTo>
                    <a:pt x="24" y="28"/>
                  </a:lnTo>
                  <a:lnTo>
                    <a:pt x="21" y="30"/>
                  </a:lnTo>
                  <a:lnTo>
                    <a:pt x="19" y="30"/>
                  </a:lnTo>
                  <a:lnTo>
                    <a:pt x="16" y="30"/>
                  </a:lnTo>
                  <a:lnTo>
                    <a:pt x="13" y="30"/>
                  </a:lnTo>
                  <a:lnTo>
                    <a:pt x="11" y="30"/>
                  </a:lnTo>
                  <a:lnTo>
                    <a:pt x="10" y="28"/>
                  </a:lnTo>
                  <a:lnTo>
                    <a:pt x="6" y="26"/>
                  </a:lnTo>
                  <a:lnTo>
                    <a:pt x="5" y="25"/>
                  </a:lnTo>
                  <a:lnTo>
                    <a:pt x="5" y="23"/>
                  </a:lnTo>
                  <a:lnTo>
                    <a:pt x="3" y="20"/>
                  </a:lnTo>
                  <a:lnTo>
                    <a:pt x="3" y="16"/>
                  </a:lnTo>
                  <a:lnTo>
                    <a:pt x="3" y="15"/>
                  </a:lnTo>
                  <a:lnTo>
                    <a:pt x="5" y="11"/>
                  </a:lnTo>
                  <a:lnTo>
                    <a:pt x="5" y="10"/>
                  </a:lnTo>
                  <a:lnTo>
                    <a:pt x="6" y="8"/>
                  </a:lnTo>
                  <a:lnTo>
                    <a:pt x="10" y="6"/>
                  </a:lnTo>
                  <a:lnTo>
                    <a:pt x="11" y="5"/>
                  </a:lnTo>
                  <a:lnTo>
                    <a:pt x="13" y="5"/>
                  </a:lnTo>
                  <a:lnTo>
                    <a:pt x="16" y="3"/>
                  </a:lnTo>
                  <a:lnTo>
                    <a:pt x="19" y="5"/>
                  </a:lnTo>
                  <a:lnTo>
                    <a:pt x="21" y="5"/>
                  </a:lnTo>
                  <a:lnTo>
                    <a:pt x="24" y="6"/>
                  </a:lnTo>
                  <a:lnTo>
                    <a:pt x="26" y="8"/>
                  </a:lnTo>
                  <a:lnTo>
                    <a:pt x="28" y="10"/>
                  </a:lnTo>
                  <a:lnTo>
                    <a:pt x="28" y="11"/>
                  </a:lnTo>
                  <a:lnTo>
                    <a:pt x="29" y="15"/>
                  </a:lnTo>
                  <a:lnTo>
                    <a:pt x="29" y="16"/>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6" name="Freeform 508">
              <a:extLst>
                <a:ext uri="{FF2B5EF4-FFF2-40B4-BE49-F238E27FC236}">
                  <a16:creationId xmlns:a16="http://schemas.microsoft.com/office/drawing/2014/main" id="{CFAA35F0-4849-2EA9-5AE9-7EA814F6E163}"/>
                </a:ext>
              </a:extLst>
            </p:cNvPr>
            <p:cNvSpPr>
              <a:spLocks noEditPoints="1"/>
            </p:cNvSpPr>
            <p:nvPr/>
          </p:nvSpPr>
          <p:spPr bwMode="auto">
            <a:xfrm>
              <a:off x="1596" y="1722"/>
              <a:ext cx="30" cy="30"/>
            </a:xfrm>
            <a:custGeom>
              <a:avLst/>
              <a:gdLst>
                <a:gd name="T0" fmla="*/ 30 w 30"/>
                <a:gd name="T1" fmla="*/ 14 h 30"/>
                <a:gd name="T2" fmla="*/ 28 w 30"/>
                <a:gd name="T3" fmla="*/ 7 h 30"/>
                <a:gd name="T4" fmla="*/ 23 w 30"/>
                <a:gd name="T5" fmla="*/ 4 h 30"/>
                <a:gd name="T6" fmla="*/ 18 w 30"/>
                <a:gd name="T7" fmla="*/ 2 h 30"/>
                <a:gd name="T8" fmla="*/ 12 w 30"/>
                <a:gd name="T9" fmla="*/ 2 h 30"/>
                <a:gd name="T10" fmla="*/ 7 w 30"/>
                <a:gd name="T11" fmla="*/ 4 h 30"/>
                <a:gd name="T12" fmla="*/ 4 w 30"/>
                <a:gd name="T13" fmla="*/ 7 h 30"/>
                <a:gd name="T14" fmla="*/ 0 w 30"/>
                <a:gd name="T15" fmla="*/ 14 h 30"/>
                <a:gd name="T16" fmla="*/ 0 w 30"/>
                <a:gd name="T17" fmla="*/ 19 h 30"/>
                <a:gd name="T18" fmla="*/ 4 w 30"/>
                <a:gd name="T19" fmla="*/ 24 h 30"/>
                <a:gd name="T20" fmla="*/ 7 w 30"/>
                <a:gd name="T21" fmla="*/ 29 h 30"/>
                <a:gd name="T22" fmla="*/ 12 w 30"/>
                <a:gd name="T23" fmla="*/ 30 h 30"/>
                <a:gd name="T24" fmla="*/ 18 w 30"/>
                <a:gd name="T25" fmla="*/ 30 h 30"/>
                <a:gd name="T26" fmla="*/ 23 w 30"/>
                <a:gd name="T27" fmla="*/ 29 h 30"/>
                <a:gd name="T28" fmla="*/ 28 w 30"/>
                <a:gd name="T29" fmla="*/ 24 h 30"/>
                <a:gd name="T30" fmla="*/ 30 w 30"/>
                <a:gd name="T31" fmla="*/ 19 h 30"/>
                <a:gd name="T32" fmla="*/ 27 w 30"/>
                <a:gd name="T33" fmla="*/ 15 h 30"/>
                <a:gd name="T34" fmla="*/ 27 w 30"/>
                <a:gd name="T35" fmla="*/ 20 h 30"/>
                <a:gd name="T36" fmla="*/ 23 w 30"/>
                <a:gd name="T37" fmla="*/ 24 h 30"/>
                <a:gd name="T38" fmla="*/ 20 w 30"/>
                <a:gd name="T39" fmla="*/ 27 h 30"/>
                <a:gd name="T40" fmla="*/ 15 w 30"/>
                <a:gd name="T41" fmla="*/ 27 h 30"/>
                <a:gd name="T42" fmla="*/ 10 w 30"/>
                <a:gd name="T43" fmla="*/ 27 h 30"/>
                <a:gd name="T44" fmla="*/ 7 w 30"/>
                <a:gd name="T45" fmla="*/ 24 h 30"/>
                <a:gd name="T46" fmla="*/ 5 w 30"/>
                <a:gd name="T47" fmla="*/ 20 h 30"/>
                <a:gd name="T48" fmla="*/ 4 w 30"/>
                <a:gd name="T49" fmla="*/ 15 h 30"/>
                <a:gd name="T50" fmla="*/ 5 w 30"/>
                <a:gd name="T51" fmla="*/ 12 h 30"/>
                <a:gd name="T52" fmla="*/ 7 w 30"/>
                <a:gd name="T53" fmla="*/ 7 h 30"/>
                <a:gd name="T54" fmla="*/ 10 w 30"/>
                <a:gd name="T55" fmla="*/ 5 h 30"/>
                <a:gd name="T56" fmla="*/ 15 w 30"/>
                <a:gd name="T57" fmla="*/ 4 h 30"/>
                <a:gd name="T58" fmla="*/ 20 w 30"/>
                <a:gd name="T59" fmla="*/ 5 h 30"/>
                <a:gd name="T60" fmla="*/ 23 w 30"/>
                <a:gd name="T61" fmla="*/ 7 h 30"/>
                <a:gd name="T62" fmla="*/ 27 w 30"/>
                <a:gd name="T63" fmla="*/ 12 h 30"/>
                <a:gd name="T64" fmla="*/ 27 w 30"/>
                <a:gd name="T65" fmla="*/ 15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0" h="30">
                  <a:moveTo>
                    <a:pt x="30" y="15"/>
                  </a:moveTo>
                  <a:lnTo>
                    <a:pt x="30" y="14"/>
                  </a:lnTo>
                  <a:lnTo>
                    <a:pt x="28" y="10"/>
                  </a:lnTo>
                  <a:lnTo>
                    <a:pt x="28" y="7"/>
                  </a:lnTo>
                  <a:lnTo>
                    <a:pt x="25" y="5"/>
                  </a:lnTo>
                  <a:lnTo>
                    <a:pt x="23" y="4"/>
                  </a:lnTo>
                  <a:lnTo>
                    <a:pt x="22" y="2"/>
                  </a:lnTo>
                  <a:lnTo>
                    <a:pt x="18" y="2"/>
                  </a:lnTo>
                  <a:lnTo>
                    <a:pt x="15" y="0"/>
                  </a:lnTo>
                  <a:lnTo>
                    <a:pt x="12" y="2"/>
                  </a:lnTo>
                  <a:lnTo>
                    <a:pt x="10" y="2"/>
                  </a:lnTo>
                  <a:lnTo>
                    <a:pt x="7" y="4"/>
                  </a:lnTo>
                  <a:lnTo>
                    <a:pt x="5" y="5"/>
                  </a:lnTo>
                  <a:lnTo>
                    <a:pt x="4" y="7"/>
                  </a:lnTo>
                  <a:lnTo>
                    <a:pt x="2" y="10"/>
                  </a:lnTo>
                  <a:lnTo>
                    <a:pt x="0" y="14"/>
                  </a:lnTo>
                  <a:lnTo>
                    <a:pt x="0" y="15"/>
                  </a:lnTo>
                  <a:lnTo>
                    <a:pt x="0" y="19"/>
                  </a:lnTo>
                  <a:lnTo>
                    <a:pt x="2" y="22"/>
                  </a:lnTo>
                  <a:lnTo>
                    <a:pt x="4" y="24"/>
                  </a:lnTo>
                  <a:lnTo>
                    <a:pt x="5" y="27"/>
                  </a:lnTo>
                  <a:lnTo>
                    <a:pt x="7" y="29"/>
                  </a:lnTo>
                  <a:lnTo>
                    <a:pt x="10" y="30"/>
                  </a:lnTo>
                  <a:lnTo>
                    <a:pt x="12" y="30"/>
                  </a:lnTo>
                  <a:lnTo>
                    <a:pt x="15" y="30"/>
                  </a:lnTo>
                  <a:lnTo>
                    <a:pt x="18" y="30"/>
                  </a:lnTo>
                  <a:lnTo>
                    <a:pt x="22" y="30"/>
                  </a:lnTo>
                  <a:lnTo>
                    <a:pt x="23" y="29"/>
                  </a:lnTo>
                  <a:lnTo>
                    <a:pt x="25" y="27"/>
                  </a:lnTo>
                  <a:lnTo>
                    <a:pt x="28" y="24"/>
                  </a:lnTo>
                  <a:lnTo>
                    <a:pt x="28" y="22"/>
                  </a:lnTo>
                  <a:lnTo>
                    <a:pt x="30" y="19"/>
                  </a:lnTo>
                  <a:lnTo>
                    <a:pt x="30" y="15"/>
                  </a:lnTo>
                  <a:close/>
                  <a:moveTo>
                    <a:pt x="27" y="15"/>
                  </a:moveTo>
                  <a:lnTo>
                    <a:pt x="27" y="19"/>
                  </a:lnTo>
                  <a:lnTo>
                    <a:pt x="27" y="20"/>
                  </a:lnTo>
                  <a:lnTo>
                    <a:pt x="25" y="22"/>
                  </a:lnTo>
                  <a:lnTo>
                    <a:pt x="23" y="24"/>
                  </a:lnTo>
                  <a:lnTo>
                    <a:pt x="22" y="25"/>
                  </a:lnTo>
                  <a:lnTo>
                    <a:pt x="20" y="27"/>
                  </a:lnTo>
                  <a:lnTo>
                    <a:pt x="17" y="27"/>
                  </a:lnTo>
                  <a:lnTo>
                    <a:pt x="15" y="27"/>
                  </a:lnTo>
                  <a:lnTo>
                    <a:pt x="14" y="27"/>
                  </a:lnTo>
                  <a:lnTo>
                    <a:pt x="10" y="27"/>
                  </a:lnTo>
                  <a:lnTo>
                    <a:pt x="9" y="25"/>
                  </a:lnTo>
                  <a:lnTo>
                    <a:pt x="7" y="24"/>
                  </a:lnTo>
                  <a:lnTo>
                    <a:pt x="5" y="22"/>
                  </a:lnTo>
                  <a:lnTo>
                    <a:pt x="5" y="20"/>
                  </a:lnTo>
                  <a:lnTo>
                    <a:pt x="4" y="19"/>
                  </a:lnTo>
                  <a:lnTo>
                    <a:pt x="4" y="15"/>
                  </a:lnTo>
                  <a:lnTo>
                    <a:pt x="4" y="14"/>
                  </a:lnTo>
                  <a:lnTo>
                    <a:pt x="5" y="12"/>
                  </a:lnTo>
                  <a:lnTo>
                    <a:pt x="5" y="10"/>
                  </a:lnTo>
                  <a:lnTo>
                    <a:pt x="7" y="7"/>
                  </a:lnTo>
                  <a:lnTo>
                    <a:pt x="9" y="7"/>
                  </a:lnTo>
                  <a:lnTo>
                    <a:pt x="10" y="5"/>
                  </a:lnTo>
                  <a:lnTo>
                    <a:pt x="14" y="5"/>
                  </a:lnTo>
                  <a:lnTo>
                    <a:pt x="15" y="4"/>
                  </a:lnTo>
                  <a:lnTo>
                    <a:pt x="17" y="5"/>
                  </a:lnTo>
                  <a:lnTo>
                    <a:pt x="20" y="5"/>
                  </a:lnTo>
                  <a:lnTo>
                    <a:pt x="22" y="7"/>
                  </a:lnTo>
                  <a:lnTo>
                    <a:pt x="23" y="7"/>
                  </a:lnTo>
                  <a:lnTo>
                    <a:pt x="25" y="10"/>
                  </a:lnTo>
                  <a:lnTo>
                    <a:pt x="27" y="12"/>
                  </a:lnTo>
                  <a:lnTo>
                    <a:pt x="27" y="14"/>
                  </a:lnTo>
                  <a:lnTo>
                    <a:pt x="27" y="15"/>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7" name="Freeform 509">
              <a:extLst>
                <a:ext uri="{FF2B5EF4-FFF2-40B4-BE49-F238E27FC236}">
                  <a16:creationId xmlns:a16="http://schemas.microsoft.com/office/drawing/2014/main" id="{0B3EAC66-7B7C-76AB-01AD-69C79D1170F0}"/>
                </a:ext>
              </a:extLst>
            </p:cNvPr>
            <p:cNvSpPr>
              <a:spLocks noEditPoints="1"/>
            </p:cNvSpPr>
            <p:nvPr/>
          </p:nvSpPr>
          <p:spPr bwMode="auto">
            <a:xfrm>
              <a:off x="1598" y="1724"/>
              <a:ext cx="26" cy="27"/>
            </a:xfrm>
            <a:custGeom>
              <a:avLst/>
              <a:gdLst>
                <a:gd name="T0" fmla="*/ 26 w 26"/>
                <a:gd name="T1" fmla="*/ 12 h 27"/>
                <a:gd name="T2" fmla="*/ 25 w 26"/>
                <a:gd name="T3" fmla="*/ 7 h 27"/>
                <a:gd name="T4" fmla="*/ 21 w 26"/>
                <a:gd name="T5" fmla="*/ 3 h 27"/>
                <a:gd name="T6" fmla="*/ 16 w 26"/>
                <a:gd name="T7" fmla="*/ 2 h 27"/>
                <a:gd name="T8" fmla="*/ 10 w 26"/>
                <a:gd name="T9" fmla="*/ 2 h 27"/>
                <a:gd name="T10" fmla="*/ 7 w 26"/>
                <a:gd name="T11" fmla="*/ 3 h 27"/>
                <a:gd name="T12" fmla="*/ 2 w 26"/>
                <a:gd name="T13" fmla="*/ 7 h 27"/>
                <a:gd name="T14" fmla="*/ 0 w 26"/>
                <a:gd name="T15" fmla="*/ 12 h 27"/>
                <a:gd name="T16" fmla="*/ 0 w 26"/>
                <a:gd name="T17" fmla="*/ 17 h 27"/>
                <a:gd name="T18" fmla="*/ 2 w 26"/>
                <a:gd name="T19" fmla="*/ 22 h 27"/>
                <a:gd name="T20" fmla="*/ 7 w 26"/>
                <a:gd name="T21" fmla="*/ 25 h 27"/>
                <a:gd name="T22" fmla="*/ 10 w 26"/>
                <a:gd name="T23" fmla="*/ 27 h 27"/>
                <a:gd name="T24" fmla="*/ 16 w 26"/>
                <a:gd name="T25" fmla="*/ 27 h 27"/>
                <a:gd name="T26" fmla="*/ 21 w 26"/>
                <a:gd name="T27" fmla="*/ 25 h 27"/>
                <a:gd name="T28" fmla="*/ 25 w 26"/>
                <a:gd name="T29" fmla="*/ 22 h 27"/>
                <a:gd name="T30" fmla="*/ 26 w 26"/>
                <a:gd name="T31" fmla="*/ 17 h 27"/>
                <a:gd name="T32" fmla="*/ 23 w 26"/>
                <a:gd name="T33" fmla="*/ 13 h 27"/>
                <a:gd name="T34" fmla="*/ 23 w 26"/>
                <a:gd name="T35" fmla="*/ 18 h 27"/>
                <a:gd name="T36" fmla="*/ 20 w 26"/>
                <a:gd name="T37" fmla="*/ 22 h 27"/>
                <a:gd name="T38" fmla="*/ 16 w 26"/>
                <a:gd name="T39" fmla="*/ 23 h 27"/>
                <a:gd name="T40" fmla="*/ 13 w 26"/>
                <a:gd name="T41" fmla="*/ 23 h 27"/>
                <a:gd name="T42" fmla="*/ 10 w 26"/>
                <a:gd name="T43" fmla="*/ 23 h 27"/>
                <a:gd name="T44" fmla="*/ 7 w 26"/>
                <a:gd name="T45" fmla="*/ 22 h 27"/>
                <a:gd name="T46" fmla="*/ 5 w 26"/>
                <a:gd name="T47" fmla="*/ 18 h 27"/>
                <a:gd name="T48" fmla="*/ 3 w 26"/>
                <a:gd name="T49" fmla="*/ 13 h 27"/>
                <a:gd name="T50" fmla="*/ 5 w 26"/>
                <a:gd name="T51" fmla="*/ 10 h 27"/>
                <a:gd name="T52" fmla="*/ 7 w 26"/>
                <a:gd name="T53" fmla="*/ 7 h 27"/>
                <a:gd name="T54" fmla="*/ 10 w 26"/>
                <a:gd name="T55" fmla="*/ 5 h 27"/>
                <a:gd name="T56" fmla="*/ 13 w 26"/>
                <a:gd name="T57" fmla="*/ 3 h 27"/>
                <a:gd name="T58" fmla="*/ 16 w 26"/>
                <a:gd name="T59" fmla="*/ 5 h 27"/>
                <a:gd name="T60" fmla="*/ 20 w 26"/>
                <a:gd name="T61" fmla="*/ 7 h 27"/>
                <a:gd name="T62" fmla="*/ 23 w 26"/>
                <a:gd name="T63" fmla="*/ 10 h 27"/>
                <a:gd name="T64" fmla="*/ 23 w 26"/>
                <a:gd name="T65" fmla="*/ 13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6" h="27">
                  <a:moveTo>
                    <a:pt x="26" y="13"/>
                  </a:moveTo>
                  <a:lnTo>
                    <a:pt x="26" y="12"/>
                  </a:lnTo>
                  <a:lnTo>
                    <a:pt x="25" y="8"/>
                  </a:lnTo>
                  <a:lnTo>
                    <a:pt x="25" y="7"/>
                  </a:lnTo>
                  <a:lnTo>
                    <a:pt x="23" y="5"/>
                  </a:lnTo>
                  <a:lnTo>
                    <a:pt x="21" y="3"/>
                  </a:lnTo>
                  <a:lnTo>
                    <a:pt x="18" y="2"/>
                  </a:lnTo>
                  <a:lnTo>
                    <a:pt x="16" y="2"/>
                  </a:lnTo>
                  <a:lnTo>
                    <a:pt x="13" y="0"/>
                  </a:lnTo>
                  <a:lnTo>
                    <a:pt x="10" y="2"/>
                  </a:lnTo>
                  <a:lnTo>
                    <a:pt x="8" y="2"/>
                  </a:lnTo>
                  <a:lnTo>
                    <a:pt x="7" y="3"/>
                  </a:lnTo>
                  <a:lnTo>
                    <a:pt x="3" y="5"/>
                  </a:lnTo>
                  <a:lnTo>
                    <a:pt x="2" y="7"/>
                  </a:lnTo>
                  <a:lnTo>
                    <a:pt x="2" y="8"/>
                  </a:lnTo>
                  <a:lnTo>
                    <a:pt x="0" y="12"/>
                  </a:lnTo>
                  <a:lnTo>
                    <a:pt x="0" y="13"/>
                  </a:lnTo>
                  <a:lnTo>
                    <a:pt x="0" y="17"/>
                  </a:lnTo>
                  <a:lnTo>
                    <a:pt x="2" y="20"/>
                  </a:lnTo>
                  <a:lnTo>
                    <a:pt x="2" y="22"/>
                  </a:lnTo>
                  <a:lnTo>
                    <a:pt x="3" y="23"/>
                  </a:lnTo>
                  <a:lnTo>
                    <a:pt x="7" y="25"/>
                  </a:lnTo>
                  <a:lnTo>
                    <a:pt x="8" y="27"/>
                  </a:lnTo>
                  <a:lnTo>
                    <a:pt x="10" y="27"/>
                  </a:lnTo>
                  <a:lnTo>
                    <a:pt x="13" y="27"/>
                  </a:lnTo>
                  <a:lnTo>
                    <a:pt x="16" y="27"/>
                  </a:lnTo>
                  <a:lnTo>
                    <a:pt x="18" y="27"/>
                  </a:lnTo>
                  <a:lnTo>
                    <a:pt x="21" y="25"/>
                  </a:lnTo>
                  <a:lnTo>
                    <a:pt x="23" y="23"/>
                  </a:lnTo>
                  <a:lnTo>
                    <a:pt x="25" y="22"/>
                  </a:lnTo>
                  <a:lnTo>
                    <a:pt x="25" y="20"/>
                  </a:lnTo>
                  <a:lnTo>
                    <a:pt x="26" y="17"/>
                  </a:lnTo>
                  <a:lnTo>
                    <a:pt x="26" y="13"/>
                  </a:lnTo>
                  <a:close/>
                  <a:moveTo>
                    <a:pt x="23" y="13"/>
                  </a:moveTo>
                  <a:lnTo>
                    <a:pt x="23" y="17"/>
                  </a:lnTo>
                  <a:lnTo>
                    <a:pt x="23" y="18"/>
                  </a:lnTo>
                  <a:lnTo>
                    <a:pt x="21" y="20"/>
                  </a:lnTo>
                  <a:lnTo>
                    <a:pt x="20" y="22"/>
                  </a:lnTo>
                  <a:lnTo>
                    <a:pt x="18" y="22"/>
                  </a:lnTo>
                  <a:lnTo>
                    <a:pt x="16" y="23"/>
                  </a:lnTo>
                  <a:lnTo>
                    <a:pt x="15" y="23"/>
                  </a:lnTo>
                  <a:lnTo>
                    <a:pt x="13" y="23"/>
                  </a:lnTo>
                  <a:lnTo>
                    <a:pt x="12" y="23"/>
                  </a:lnTo>
                  <a:lnTo>
                    <a:pt x="10" y="23"/>
                  </a:lnTo>
                  <a:lnTo>
                    <a:pt x="8" y="22"/>
                  </a:lnTo>
                  <a:lnTo>
                    <a:pt x="7" y="22"/>
                  </a:lnTo>
                  <a:lnTo>
                    <a:pt x="5" y="20"/>
                  </a:lnTo>
                  <a:lnTo>
                    <a:pt x="5" y="18"/>
                  </a:lnTo>
                  <a:lnTo>
                    <a:pt x="3" y="17"/>
                  </a:lnTo>
                  <a:lnTo>
                    <a:pt x="3" y="13"/>
                  </a:lnTo>
                  <a:lnTo>
                    <a:pt x="3" y="12"/>
                  </a:lnTo>
                  <a:lnTo>
                    <a:pt x="5" y="10"/>
                  </a:lnTo>
                  <a:lnTo>
                    <a:pt x="5" y="8"/>
                  </a:lnTo>
                  <a:lnTo>
                    <a:pt x="7" y="7"/>
                  </a:lnTo>
                  <a:lnTo>
                    <a:pt x="8" y="5"/>
                  </a:lnTo>
                  <a:lnTo>
                    <a:pt x="10" y="5"/>
                  </a:lnTo>
                  <a:lnTo>
                    <a:pt x="12" y="5"/>
                  </a:lnTo>
                  <a:lnTo>
                    <a:pt x="13" y="3"/>
                  </a:lnTo>
                  <a:lnTo>
                    <a:pt x="15" y="5"/>
                  </a:lnTo>
                  <a:lnTo>
                    <a:pt x="16" y="5"/>
                  </a:lnTo>
                  <a:lnTo>
                    <a:pt x="18" y="5"/>
                  </a:lnTo>
                  <a:lnTo>
                    <a:pt x="20" y="7"/>
                  </a:lnTo>
                  <a:lnTo>
                    <a:pt x="21" y="8"/>
                  </a:lnTo>
                  <a:lnTo>
                    <a:pt x="23" y="10"/>
                  </a:lnTo>
                  <a:lnTo>
                    <a:pt x="23" y="12"/>
                  </a:lnTo>
                  <a:lnTo>
                    <a:pt x="23" y="13"/>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8" name="Freeform 510">
              <a:extLst>
                <a:ext uri="{FF2B5EF4-FFF2-40B4-BE49-F238E27FC236}">
                  <a16:creationId xmlns:a16="http://schemas.microsoft.com/office/drawing/2014/main" id="{F6A11B92-B960-D92A-2CB0-16E809390EFA}"/>
                </a:ext>
              </a:extLst>
            </p:cNvPr>
            <p:cNvSpPr>
              <a:spLocks noEditPoints="1"/>
            </p:cNvSpPr>
            <p:nvPr/>
          </p:nvSpPr>
          <p:spPr bwMode="auto">
            <a:xfrm>
              <a:off x="1600" y="1726"/>
              <a:ext cx="23" cy="23"/>
            </a:xfrm>
            <a:custGeom>
              <a:avLst/>
              <a:gdLst>
                <a:gd name="T0" fmla="*/ 23 w 23"/>
                <a:gd name="T1" fmla="*/ 10 h 23"/>
                <a:gd name="T2" fmla="*/ 21 w 23"/>
                <a:gd name="T3" fmla="*/ 6 h 23"/>
                <a:gd name="T4" fmla="*/ 18 w 23"/>
                <a:gd name="T5" fmla="*/ 3 h 23"/>
                <a:gd name="T6" fmla="*/ 13 w 23"/>
                <a:gd name="T7" fmla="*/ 1 h 23"/>
                <a:gd name="T8" fmla="*/ 10 w 23"/>
                <a:gd name="T9" fmla="*/ 1 h 23"/>
                <a:gd name="T10" fmla="*/ 5 w 23"/>
                <a:gd name="T11" fmla="*/ 3 h 23"/>
                <a:gd name="T12" fmla="*/ 1 w 23"/>
                <a:gd name="T13" fmla="*/ 6 h 23"/>
                <a:gd name="T14" fmla="*/ 0 w 23"/>
                <a:gd name="T15" fmla="*/ 10 h 23"/>
                <a:gd name="T16" fmla="*/ 0 w 23"/>
                <a:gd name="T17" fmla="*/ 15 h 23"/>
                <a:gd name="T18" fmla="*/ 1 w 23"/>
                <a:gd name="T19" fmla="*/ 18 h 23"/>
                <a:gd name="T20" fmla="*/ 5 w 23"/>
                <a:gd name="T21" fmla="*/ 21 h 23"/>
                <a:gd name="T22" fmla="*/ 10 w 23"/>
                <a:gd name="T23" fmla="*/ 23 h 23"/>
                <a:gd name="T24" fmla="*/ 13 w 23"/>
                <a:gd name="T25" fmla="*/ 23 h 23"/>
                <a:gd name="T26" fmla="*/ 18 w 23"/>
                <a:gd name="T27" fmla="*/ 21 h 23"/>
                <a:gd name="T28" fmla="*/ 21 w 23"/>
                <a:gd name="T29" fmla="*/ 18 h 23"/>
                <a:gd name="T30" fmla="*/ 23 w 23"/>
                <a:gd name="T31" fmla="*/ 15 h 23"/>
                <a:gd name="T32" fmla="*/ 19 w 23"/>
                <a:gd name="T33" fmla="*/ 11 h 23"/>
                <a:gd name="T34" fmla="*/ 19 w 23"/>
                <a:gd name="T35" fmla="*/ 15 h 23"/>
                <a:gd name="T36" fmla="*/ 18 w 23"/>
                <a:gd name="T37" fmla="*/ 18 h 23"/>
                <a:gd name="T38" fmla="*/ 14 w 23"/>
                <a:gd name="T39" fmla="*/ 20 h 23"/>
                <a:gd name="T40" fmla="*/ 11 w 23"/>
                <a:gd name="T41" fmla="*/ 20 h 23"/>
                <a:gd name="T42" fmla="*/ 8 w 23"/>
                <a:gd name="T43" fmla="*/ 20 h 23"/>
                <a:gd name="T44" fmla="*/ 6 w 23"/>
                <a:gd name="T45" fmla="*/ 18 h 23"/>
                <a:gd name="T46" fmla="*/ 3 w 23"/>
                <a:gd name="T47" fmla="*/ 15 h 23"/>
                <a:gd name="T48" fmla="*/ 3 w 23"/>
                <a:gd name="T49" fmla="*/ 11 h 23"/>
                <a:gd name="T50" fmla="*/ 3 w 23"/>
                <a:gd name="T51" fmla="*/ 8 h 23"/>
                <a:gd name="T52" fmla="*/ 6 w 23"/>
                <a:gd name="T53" fmla="*/ 6 h 23"/>
                <a:gd name="T54" fmla="*/ 8 w 23"/>
                <a:gd name="T55" fmla="*/ 5 h 23"/>
                <a:gd name="T56" fmla="*/ 11 w 23"/>
                <a:gd name="T57" fmla="*/ 3 h 23"/>
                <a:gd name="T58" fmla="*/ 14 w 23"/>
                <a:gd name="T59" fmla="*/ 5 h 23"/>
                <a:gd name="T60" fmla="*/ 18 w 23"/>
                <a:gd name="T61" fmla="*/ 6 h 23"/>
                <a:gd name="T62" fmla="*/ 19 w 23"/>
                <a:gd name="T63" fmla="*/ 8 h 23"/>
                <a:gd name="T64" fmla="*/ 19 w 23"/>
                <a:gd name="T65" fmla="*/ 11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3" h="23">
                  <a:moveTo>
                    <a:pt x="23" y="11"/>
                  </a:moveTo>
                  <a:lnTo>
                    <a:pt x="23" y="10"/>
                  </a:lnTo>
                  <a:lnTo>
                    <a:pt x="23" y="8"/>
                  </a:lnTo>
                  <a:lnTo>
                    <a:pt x="21" y="6"/>
                  </a:lnTo>
                  <a:lnTo>
                    <a:pt x="19" y="3"/>
                  </a:lnTo>
                  <a:lnTo>
                    <a:pt x="18" y="3"/>
                  </a:lnTo>
                  <a:lnTo>
                    <a:pt x="16" y="1"/>
                  </a:lnTo>
                  <a:lnTo>
                    <a:pt x="13" y="1"/>
                  </a:lnTo>
                  <a:lnTo>
                    <a:pt x="11" y="0"/>
                  </a:lnTo>
                  <a:lnTo>
                    <a:pt x="10" y="1"/>
                  </a:lnTo>
                  <a:lnTo>
                    <a:pt x="6" y="1"/>
                  </a:lnTo>
                  <a:lnTo>
                    <a:pt x="5" y="3"/>
                  </a:lnTo>
                  <a:lnTo>
                    <a:pt x="3" y="3"/>
                  </a:lnTo>
                  <a:lnTo>
                    <a:pt x="1" y="6"/>
                  </a:lnTo>
                  <a:lnTo>
                    <a:pt x="1" y="8"/>
                  </a:lnTo>
                  <a:lnTo>
                    <a:pt x="0" y="10"/>
                  </a:lnTo>
                  <a:lnTo>
                    <a:pt x="0" y="11"/>
                  </a:lnTo>
                  <a:lnTo>
                    <a:pt x="0" y="15"/>
                  </a:lnTo>
                  <a:lnTo>
                    <a:pt x="1" y="16"/>
                  </a:lnTo>
                  <a:lnTo>
                    <a:pt x="1" y="18"/>
                  </a:lnTo>
                  <a:lnTo>
                    <a:pt x="3" y="20"/>
                  </a:lnTo>
                  <a:lnTo>
                    <a:pt x="5" y="21"/>
                  </a:lnTo>
                  <a:lnTo>
                    <a:pt x="6" y="23"/>
                  </a:lnTo>
                  <a:lnTo>
                    <a:pt x="10" y="23"/>
                  </a:lnTo>
                  <a:lnTo>
                    <a:pt x="11" y="23"/>
                  </a:lnTo>
                  <a:lnTo>
                    <a:pt x="13" y="23"/>
                  </a:lnTo>
                  <a:lnTo>
                    <a:pt x="16" y="23"/>
                  </a:lnTo>
                  <a:lnTo>
                    <a:pt x="18" y="21"/>
                  </a:lnTo>
                  <a:lnTo>
                    <a:pt x="19" y="20"/>
                  </a:lnTo>
                  <a:lnTo>
                    <a:pt x="21" y="18"/>
                  </a:lnTo>
                  <a:lnTo>
                    <a:pt x="23" y="16"/>
                  </a:lnTo>
                  <a:lnTo>
                    <a:pt x="23" y="15"/>
                  </a:lnTo>
                  <a:lnTo>
                    <a:pt x="23" y="11"/>
                  </a:lnTo>
                  <a:close/>
                  <a:moveTo>
                    <a:pt x="19" y="11"/>
                  </a:moveTo>
                  <a:lnTo>
                    <a:pt x="19" y="13"/>
                  </a:lnTo>
                  <a:lnTo>
                    <a:pt x="19" y="15"/>
                  </a:lnTo>
                  <a:lnTo>
                    <a:pt x="18" y="16"/>
                  </a:lnTo>
                  <a:lnTo>
                    <a:pt x="18" y="18"/>
                  </a:lnTo>
                  <a:lnTo>
                    <a:pt x="16" y="20"/>
                  </a:lnTo>
                  <a:lnTo>
                    <a:pt x="14" y="20"/>
                  </a:lnTo>
                  <a:lnTo>
                    <a:pt x="13" y="20"/>
                  </a:lnTo>
                  <a:lnTo>
                    <a:pt x="11" y="20"/>
                  </a:lnTo>
                  <a:lnTo>
                    <a:pt x="10" y="20"/>
                  </a:lnTo>
                  <a:lnTo>
                    <a:pt x="8" y="20"/>
                  </a:lnTo>
                  <a:lnTo>
                    <a:pt x="6" y="20"/>
                  </a:lnTo>
                  <a:lnTo>
                    <a:pt x="6" y="18"/>
                  </a:lnTo>
                  <a:lnTo>
                    <a:pt x="5" y="16"/>
                  </a:lnTo>
                  <a:lnTo>
                    <a:pt x="3" y="15"/>
                  </a:lnTo>
                  <a:lnTo>
                    <a:pt x="3" y="13"/>
                  </a:lnTo>
                  <a:lnTo>
                    <a:pt x="3" y="11"/>
                  </a:lnTo>
                  <a:lnTo>
                    <a:pt x="3" y="10"/>
                  </a:lnTo>
                  <a:lnTo>
                    <a:pt x="3" y="8"/>
                  </a:lnTo>
                  <a:lnTo>
                    <a:pt x="5" y="8"/>
                  </a:lnTo>
                  <a:lnTo>
                    <a:pt x="6" y="6"/>
                  </a:lnTo>
                  <a:lnTo>
                    <a:pt x="6" y="5"/>
                  </a:lnTo>
                  <a:lnTo>
                    <a:pt x="8" y="5"/>
                  </a:lnTo>
                  <a:lnTo>
                    <a:pt x="10" y="5"/>
                  </a:lnTo>
                  <a:lnTo>
                    <a:pt x="11" y="3"/>
                  </a:lnTo>
                  <a:lnTo>
                    <a:pt x="13" y="5"/>
                  </a:lnTo>
                  <a:lnTo>
                    <a:pt x="14" y="5"/>
                  </a:lnTo>
                  <a:lnTo>
                    <a:pt x="16" y="5"/>
                  </a:lnTo>
                  <a:lnTo>
                    <a:pt x="18" y="6"/>
                  </a:lnTo>
                  <a:lnTo>
                    <a:pt x="18" y="8"/>
                  </a:lnTo>
                  <a:lnTo>
                    <a:pt x="19" y="8"/>
                  </a:lnTo>
                  <a:lnTo>
                    <a:pt x="19" y="10"/>
                  </a:lnTo>
                  <a:lnTo>
                    <a:pt x="19" y="11"/>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9" name="Freeform 511">
              <a:extLst>
                <a:ext uri="{FF2B5EF4-FFF2-40B4-BE49-F238E27FC236}">
                  <a16:creationId xmlns:a16="http://schemas.microsoft.com/office/drawing/2014/main" id="{338EEDED-F197-64BB-DC5C-2C5B36E5E78E}"/>
                </a:ext>
              </a:extLst>
            </p:cNvPr>
            <p:cNvSpPr>
              <a:spLocks noEditPoints="1"/>
            </p:cNvSpPr>
            <p:nvPr/>
          </p:nvSpPr>
          <p:spPr bwMode="auto">
            <a:xfrm>
              <a:off x="1601" y="1727"/>
              <a:ext cx="20" cy="20"/>
            </a:xfrm>
            <a:custGeom>
              <a:avLst/>
              <a:gdLst>
                <a:gd name="T0" fmla="*/ 20 w 20"/>
                <a:gd name="T1" fmla="*/ 10 h 20"/>
                <a:gd name="T2" fmla="*/ 20 w 20"/>
                <a:gd name="T3" fmla="*/ 9 h 20"/>
                <a:gd name="T4" fmla="*/ 20 w 20"/>
                <a:gd name="T5" fmla="*/ 7 h 20"/>
                <a:gd name="T6" fmla="*/ 18 w 20"/>
                <a:gd name="T7" fmla="*/ 5 h 20"/>
                <a:gd name="T8" fmla="*/ 17 w 20"/>
                <a:gd name="T9" fmla="*/ 4 h 20"/>
                <a:gd name="T10" fmla="*/ 15 w 20"/>
                <a:gd name="T11" fmla="*/ 2 h 20"/>
                <a:gd name="T12" fmla="*/ 13 w 20"/>
                <a:gd name="T13" fmla="*/ 2 h 20"/>
                <a:gd name="T14" fmla="*/ 12 w 20"/>
                <a:gd name="T15" fmla="*/ 2 h 20"/>
                <a:gd name="T16" fmla="*/ 10 w 20"/>
                <a:gd name="T17" fmla="*/ 0 h 20"/>
                <a:gd name="T18" fmla="*/ 9 w 20"/>
                <a:gd name="T19" fmla="*/ 2 h 20"/>
                <a:gd name="T20" fmla="*/ 7 w 20"/>
                <a:gd name="T21" fmla="*/ 2 h 20"/>
                <a:gd name="T22" fmla="*/ 5 w 20"/>
                <a:gd name="T23" fmla="*/ 2 h 20"/>
                <a:gd name="T24" fmla="*/ 4 w 20"/>
                <a:gd name="T25" fmla="*/ 4 h 20"/>
                <a:gd name="T26" fmla="*/ 2 w 20"/>
                <a:gd name="T27" fmla="*/ 5 h 20"/>
                <a:gd name="T28" fmla="*/ 2 w 20"/>
                <a:gd name="T29" fmla="*/ 7 h 20"/>
                <a:gd name="T30" fmla="*/ 0 w 20"/>
                <a:gd name="T31" fmla="*/ 9 h 20"/>
                <a:gd name="T32" fmla="*/ 0 w 20"/>
                <a:gd name="T33" fmla="*/ 10 h 20"/>
                <a:gd name="T34" fmla="*/ 0 w 20"/>
                <a:gd name="T35" fmla="*/ 14 h 20"/>
                <a:gd name="T36" fmla="*/ 2 w 20"/>
                <a:gd name="T37" fmla="*/ 15 h 20"/>
                <a:gd name="T38" fmla="*/ 2 w 20"/>
                <a:gd name="T39" fmla="*/ 17 h 20"/>
                <a:gd name="T40" fmla="*/ 4 w 20"/>
                <a:gd name="T41" fmla="*/ 19 h 20"/>
                <a:gd name="T42" fmla="*/ 5 w 20"/>
                <a:gd name="T43" fmla="*/ 19 h 20"/>
                <a:gd name="T44" fmla="*/ 7 w 20"/>
                <a:gd name="T45" fmla="*/ 20 h 20"/>
                <a:gd name="T46" fmla="*/ 9 w 20"/>
                <a:gd name="T47" fmla="*/ 20 h 20"/>
                <a:gd name="T48" fmla="*/ 10 w 20"/>
                <a:gd name="T49" fmla="*/ 20 h 20"/>
                <a:gd name="T50" fmla="*/ 12 w 20"/>
                <a:gd name="T51" fmla="*/ 20 h 20"/>
                <a:gd name="T52" fmla="*/ 13 w 20"/>
                <a:gd name="T53" fmla="*/ 20 h 20"/>
                <a:gd name="T54" fmla="*/ 15 w 20"/>
                <a:gd name="T55" fmla="*/ 19 h 20"/>
                <a:gd name="T56" fmla="*/ 17 w 20"/>
                <a:gd name="T57" fmla="*/ 19 h 20"/>
                <a:gd name="T58" fmla="*/ 18 w 20"/>
                <a:gd name="T59" fmla="*/ 17 h 20"/>
                <a:gd name="T60" fmla="*/ 20 w 20"/>
                <a:gd name="T61" fmla="*/ 15 h 20"/>
                <a:gd name="T62" fmla="*/ 20 w 20"/>
                <a:gd name="T63" fmla="*/ 14 h 20"/>
                <a:gd name="T64" fmla="*/ 20 w 20"/>
                <a:gd name="T65" fmla="*/ 10 h 20"/>
                <a:gd name="T66" fmla="*/ 17 w 20"/>
                <a:gd name="T67" fmla="*/ 10 h 20"/>
                <a:gd name="T68" fmla="*/ 17 w 20"/>
                <a:gd name="T69" fmla="*/ 12 h 20"/>
                <a:gd name="T70" fmla="*/ 17 w 20"/>
                <a:gd name="T71" fmla="*/ 14 h 20"/>
                <a:gd name="T72" fmla="*/ 15 w 20"/>
                <a:gd name="T73" fmla="*/ 15 h 20"/>
                <a:gd name="T74" fmla="*/ 13 w 20"/>
                <a:gd name="T75" fmla="*/ 17 h 20"/>
                <a:gd name="T76" fmla="*/ 12 w 20"/>
                <a:gd name="T77" fmla="*/ 17 h 20"/>
                <a:gd name="T78" fmla="*/ 10 w 20"/>
                <a:gd name="T79" fmla="*/ 17 h 20"/>
                <a:gd name="T80" fmla="*/ 9 w 20"/>
                <a:gd name="T81" fmla="*/ 17 h 20"/>
                <a:gd name="T82" fmla="*/ 7 w 20"/>
                <a:gd name="T83" fmla="*/ 17 h 20"/>
                <a:gd name="T84" fmla="*/ 5 w 20"/>
                <a:gd name="T85" fmla="*/ 15 h 20"/>
                <a:gd name="T86" fmla="*/ 4 w 20"/>
                <a:gd name="T87" fmla="*/ 14 h 20"/>
                <a:gd name="T88" fmla="*/ 4 w 20"/>
                <a:gd name="T89" fmla="*/ 12 h 20"/>
                <a:gd name="T90" fmla="*/ 4 w 20"/>
                <a:gd name="T91" fmla="*/ 10 h 20"/>
                <a:gd name="T92" fmla="*/ 4 w 20"/>
                <a:gd name="T93" fmla="*/ 9 h 20"/>
                <a:gd name="T94" fmla="*/ 5 w 20"/>
                <a:gd name="T95" fmla="*/ 7 h 20"/>
                <a:gd name="T96" fmla="*/ 7 w 20"/>
                <a:gd name="T97" fmla="*/ 5 h 20"/>
                <a:gd name="T98" fmla="*/ 9 w 20"/>
                <a:gd name="T99" fmla="*/ 5 h 20"/>
                <a:gd name="T100" fmla="*/ 10 w 20"/>
                <a:gd name="T101" fmla="*/ 4 h 20"/>
                <a:gd name="T102" fmla="*/ 12 w 20"/>
                <a:gd name="T103" fmla="*/ 5 h 20"/>
                <a:gd name="T104" fmla="*/ 13 w 20"/>
                <a:gd name="T105" fmla="*/ 5 h 20"/>
                <a:gd name="T106" fmla="*/ 15 w 20"/>
                <a:gd name="T107" fmla="*/ 7 h 20"/>
                <a:gd name="T108" fmla="*/ 17 w 20"/>
                <a:gd name="T109" fmla="*/ 9 h 20"/>
                <a:gd name="T110" fmla="*/ 17 w 20"/>
                <a:gd name="T111" fmla="*/ 1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0" h="20">
                  <a:moveTo>
                    <a:pt x="20" y="10"/>
                  </a:moveTo>
                  <a:lnTo>
                    <a:pt x="20" y="9"/>
                  </a:lnTo>
                  <a:lnTo>
                    <a:pt x="20" y="7"/>
                  </a:lnTo>
                  <a:lnTo>
                    <a:pt x="18" y="5"/>
                  </a:lnTo>
                  <a:lnTo>
                    <a:pt x="17" y="4"/>
                  </a:lnTo>
                  <a:lnTo>
                    <a:pt x="15" y="2"/>
                  </a:lnTo>
                  <a:lnTo>
                    <a:pt x="13" y="2"/>
                  </a:lnTo>
                  <a:lnTo>
                    <a:pt x="12" y="2"/>
                  </a:lnTo>
                  <a:lnTo>
                    <a:pt x="10" y="0"/>
                  </a:lnTo>
                  <a:lnTo>
                    <a:pt x="9" y="2"/>
                  </a:lnTo>
                  <a:lnTo>
                    <a:pt x="7" y="2"/>
                  </a:lnTo>
                  <a:lnTo>
                    <a:pt x="5" y="2"/>
                  </a:lnTo>
                  <a:lnTo>
                    <a:pt x="4" y="4"/>
                  </a:lnTo>
                  <a:lnTo>
                    <a:pt x="2" y="5"/>
                  </a:lnTo>
                  <a:lnTo>
                    <a:pt x="2" y="7"/>
                  </a:lnTo>
                  <a:lnTo>
                    <a:pt x="0" y="9"/>
                  </a:lnTo>
                  <a:lnTo>
                    <a:pt x="0" y="10"/>
                  </a:lnTo>
                  <a:lnTo>
                    <a:pt x="0" y="14"/>
                  </a:lnTo>
                  <a:lnTo>
                    <a:pt x="2" y="15"/>
                  </a:lnTo>
                  <a:lnTo>
                    <a:pt x="2" y="17"/>
                  </a:lnTo>
                  <a:lnTo>
                    <a:pt x="4" y="19"/>
                  </a:lnTo>
                  <a:lnTo>
                    <a:pt x="5" y="19"/>
                  </a:lnTo>
                  <a:lnTo>
                    <a:pt x="7" y="20"/>
                  </a:lnTo>
                  <a:lnTo>
                    <a:pt x="9" y="20"/>
                  </a:lnTo>
                  <a:lnTo>
                    <a:pt x="10" y="20"/>
                  </a:lnTo>
                  <a:lnTo>
                    <a:pt x="12" y="20"/>
                  </a:lnTo>
                  <a:lnTo>
                    <a:pt x="13" y="20"/>
                  </a:lnTo>
                  <a:lnTo>
                    <a:pt x="15" y="19"/>
                  </a:lnTo>
                  <a:lnTo>
                    <a:pt x="17" y="19"/>
                  </a:lnTo>
                  <a:lnTo>
                    <a:pt x="18" y="17"/>
                  </a:lnTo>
                  <a:lnTo>
                    <a:pt x="20" y="15"/>
                  </a:lnTo>
                  <a:lnTo>
                    <a:pt x="20" y="14"/>
                  </a:lnTo>
                  <a:lnTo>
                    <a:pt x="20" y="10"/>
                  </a:lnTo>
                  <a:close/>
                  <a:moveTo>
                    <a:pt x="17" y="10"/>
                  </a:moveTo>
                  <a:lnTo>
                    <a:pt x="17" y="12"/>
                  </a:lnTo>
                  <a:lnTo>
                    <a:pt x="17" y="14"/>
                  </a:lnTo>
                  <a:lnTo>
                    <a:pt x="15" y="15"/>
                  </a:lnTo>
                  <a:lnTo>
                    <a:pt x="13" y="17"/>
                  </a:lnTo>
                  <a:lnTo>
                    <a:pt x="12" y="17"/>
                  </a:lnTo>
                  <a:lnTo>
                    <a:pt x="10" y="17"/>
                  </a:lnTo>
                  <a:lnTo>
                    <a:pt x="9" y="17"/>
                  </a:lnTo>
                  <a:lnTo>
                    <a:pt x="7" y="17"/>
                  </a:lnTo>
                  <a:lnTo>
                    <a:pt x="5" y="15"/>
                  </a:lnTo>
                  <a:lnTo>
                    <a:pt x="4" y="14"/>
                  </a:lnTo>
                  <a:lnTo>
                    <a:pt x="4" y="12"/>
                  </a:lnTo>
                  <a:lnTo>
                    <a:pt x="4" y="10"/>
                  </a:lnTo>
                  <a:lnTo>
                    <a:pt x="4" y="9"/>
                  </a:lnTo>
                  <a:lnTo>
                    <a:pt x="5" y="7"/>
                  </a:lnTo>
                  <a:lnTo>
                    <a:pt x="7" y="5"/>
                  </a:lnTo>
                  <a:lnTo>
                    <a:pt x="9" y="5"/>
                  </a:lnTo>
                  <a:lnTo>
                    <a:pt x="10" y="4"/>
                  </a:lnTo>
                  <a:lnTo>
                    <a:pt x="12" y="5"/>
                  </a:lnTo>
                  <a:lnTo>
                    <a:pt x="13" y="5"/>
                  </a:lnTo>
                  <a:lnTo>
                    <a:pt x="15" y="7"/>
                  </a:lnTo>
                  <a:lnTo>
                    <a:pt x="17" y="9"/>
                  </a:lnTo>
                  <a:lnTo>
                    <a:pt x="17" y="10"/>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0" name="Freeform 512">
              <a:extLst>
                <a:ext uri="{FF2B5EF4-FFF2-40B4-BE49-F238E27FC236}">
                  <a16:creationId xmlns:a16="http://schemas.microsoft.com/office/drawing/2014/main" id="{2E1D193E-58D9-D7E2-58BB-B26DBD7015EC}"/>
                </a:ext>
              </a:extLst>
            </p:cNvPr>
            <p:cNvSpPr>
              <a:spLocks noEditPoints="1"/>
            </p:cNvSpPr>
            <p:nvPr/>
          </p:nvSpPr>
          <p:spPr bwMode="auto">
            <a:xfrm>
              <a:off x="1603" y="1729"/>
              <a:ext cx="16" cy="17"/>
            </a:xfrm>
            <a:custGeom>
              <a:avLst/>
              <a:gdLst>
                <a:gd name="T0" fmla="*/ 16 w 16"/>
                <a:gd name="T1" fmla="*/ 8 h 17"/>
                <a:gd name="T2" fmla="*/ 16 w 16"/>
                <a:gd name="T3" fmla="*/ 7 h 17"/>
                <a:gd name="T4" fmla="*/ 16 w 16"/>
                <a:gd name="T5" fmla="*/ 5 h 17"/>
                <a:gd name="T6" fmla="*/ 15 w 16"/>
                <a:gd name="T7" fmla="*/ 5 h 17"/>
                <a:gd name="T8" fmla="*/ 15 w 16"/>
                <a:gd name="T9" fmla="*/ 3 h 17"/>
                <a:gd name="T10" fmla="*/ 13 w 16"/>
                <a:gd name="T11" fmla="*/ 2 h 17"/>
                <a:gd name="T12" fmla="*/ 11 w 16"/>
                <a:gd name="T13" fmla="*/ 2 h 17"/>
                <a:gd name="T14" fmla="*/ 10 w 16"/>
                <a:gd name="T15" fmla="*/ 2 h 17"/>
                <a:gd name="T16" fmla="*/ 8 w 16"/>
                <a:gd name="T17" fmla="*/ 0 h 17"/>
                <a:gd name="T18" fmla="*/ 7 w 16"/>
                <a:gd name="T19" fmla="*/ 2 h 17"/>
                <a:gd name="T20" fmla="*/ 5 w 16"/>
                <a:gd name="T21" fmla="*/ 2 h 17"/>
                <a:gd name="T22" fmla="*/ 3 w 16"/>
                <a:gd name="T23" fmla="*/ 2 h 17"/>
                <a:gd name="T24" fmla="*/ 3 w 16"/>
                <a:gd name="T25" fmla="*/ 3 h 17"/>
                <a:gd name="T26" fmla="*/ 2 w 16"/>
                <a:gd name="T27" fmla="*/ 5 h 17"/>
                <a:gd name="T28" fmla="*/ 0 w 16"/>
                <a:gd name="T29" fmla="*/ 5 h 17"/>
                <a:gd name="T30" fmla="*/ 0 w 16"/>
                <a:gd name="T31" fmla="*/ 7 h 17"/>
                <a:gd name="T32" fmla="*/ 0 w 16"/>
                <a:gd name="T33" fmla="*/ 8 h 17"/>
                <a:gd name="T34" fmla="*/ 0 w 16"/>
                <a:gd name="T35" fmla="*/ 10 h 17"/>
                <a:gd name="T36" fmla="*/ 0 w 16"/>
                <a:gd name="T37" fmla="*/ 12 h 17"/>
                <a:gd name="T38" fmla="*/ 2 w 16"/>
                <a:gd name="T39" fmla="*/ 13 h 17"/>
                <a:gd name="T40" fmla="*/ 3 w 16"/>
                <a:gd name="T41" fmla="*/ 15 h 17"/>
                <a:gd name="T42" fmla="*/ 3 w 16"/>
                <a:gd name="T43" fmla="*/ 17 h 17"/>
                <a:gd name="T44" fmla="*/ 5 w 16"/>
                <a:gd name="T45" fmla="*/ 17 h 17"/>
                <a:gd name="T46" fmla="*/ 7 w 16"/>
                <a:gd name="T47" fmla="*/ 17 h 17"/>
                <a:gd name="T48" fmla="*/ 8 w 16"/>
                <a:gd name="T49" fmla="*/ 17 h 17"/>
                <a:gd name="T50" fmla="*/ 10 w 16"/>
                <a:gd name="T51" fmla="*/ 17 h 17"/>
                <a:gd name="T52" fmla="*/ 11 w 16"/>
                <a:gd name="T53" fmla="*/ 17 h 17"/>
                <a:gd name="T54" fmla="*/ 13 w 16"/>
                <a:gd name="T55" fmla="*/ 17 h 17"/>
                <a:gd name="T56" fmla="*/ 15 w 16"/>
                <a:gd name="T57" fmla="*/ 15 h 17"/>
                <a:gd name="T58" fmla="*/ 15 w 16"/>
                <a:gd name="T59" fmla="*/ 13 h 17"/>
                <a:gd name="T60" fmla="*/ 16 w 16"/>
                <a:gd name="T61" fmla="*/ 12 h 17"/>
                <a:gd name="T62" fmla="*/ 16 w 16"/>
                <a:gd name="T63" fmla="*/ 10 h 17"/>
                <a:gd name="T64" fmla="*/ 16 w 16"/>
                <a:gd name="T65" fmla="*/ 8 h 17"/>
                <a:gd name="T66" fmla="*/ 13 w 16"/>
                <a:gd name="T67" fmla="*/ 8 h 17"/>
                <a:gd name="T68" fmla="*/ 13 w 16"/>
                <a:gd name="T69" fmla="*/ 10 h 17"/>
                <a:gd name="T70" fmla="*/ 13 w 16"/>
                <a:gd name="T71" fmla="*/ 12 h 17"/>
                <a:gd name="T72" fmla="*/ 11 w 16"/>
                <a:gd name="T73" fmla="*/ 13 h 17"/>
                <a:gd name="T74" fmla="*/ 10 w 16"/>
                <a:gd name="T75" fmla="*/ 13 h 17"/>
                <a:gd name="T76" fmla="*/ 8 w 16"/>
                <a:gd name="T77" fmla="*/ 13 h 17"/>
                <a:gd name="T78" fmla="*/ 7 w 16"/>
                <a:gd name="T79" fmla="*/ 13 h 17"/>
                <a:gd name="T80" fmla="*/ 5 w 16"/>
                <a:gd name="T81" fmla="*/ 13 h 17"/>
                <a:gd name="T82" fmla="*/ 5 w 16"/>
                <a:gd name="T83" fmla="*/ 12 h 17"/>
                <a:gd name="T84" fmla="*/ 3 w 16"/>
                <a:gd name="T85" fmla="*/ 12 h 17"/>
                <a:gd name="T86" fmla="*/ 3 w 16"/>
                <a:gd name="T87" fmla="*/ 10 h 17"/>
                <a:gd name="T88" fmla="*/ 3 w 16"/>
                <a:gd name="T89" fmla="*/ 8 h 17"/>
                <a:gd name="T90" fmla="*/ 3 w 16"/>
                <a:gd name="T91" fmla="*/ 7 h 17"/>
                <a:gd name="T92" fmla="*/ 5 w 16"/>
                <a:gd name="T93" fmla="*/ 7 h 17"/>
                <a:gd name="T94" fmla="*/ 5 w 16"/>
                <a:gd name="T95" fmla="*/ 5 h 17"/>
                <a:gd name="T96" fmla="*/ 7 w 16"/>
                <a:gd name="T97" fmla="*/ 5 h 17"/>
                <a:gd name="T98" fmla="*/ 7 w 16"/>
                <a:gd name="T99" fmla="*/ 3 h 17"/>
                <a:gd name="T100" fmla="*/ 8 w 16"/>
                <a:gd name="T101" fmla="*/ 3 h 17"/>
                <a:gd name="T102" fmla="*/ 10 w 16"/>
                <a:gd name="T103" fmla="*/ 3 h 17"/>
                <a:gd name="T104" fmla="*/ 10 w 16"/>
                <a:gd name="T105" fmla="*/ 5 h 17"/>
                <a:gd name="T106" fmla="*/ 11 w 16"/>
                <a:gd name="T107" fmla="*/ 5 h 17"/>
                <a:gd name="T108" fmla="*/ 13 w 16"/>
                <a:gd name="T109" fmla="*/ 7 h 17"/>
                <a:gd name="T110" fmla="*/ 13 w 16"/>
                <a:gd name="T11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6" h="17">
                  <a:moveTo>
                    <a:pt x="16" y="8"/>
                  </a:moveTo>
                  <a:lnTo>
                    <a:pt x="16" y="7"/>
                  </a:lnTo>
                  <a:lnTo>
                    <a:pt x="16" y="5"/>
                  </a:lnTo>
                  <a:lnTo>
                    <a:pt x="15" y="5"/>
                  </a:lnTo>
                  <a:lnTo>
                    <a:pt x="15" y="3"/>
                  </a:lnTo>
                  <a:lnTo>
                    <a:pt x="13" y="2"/>
                  </a:lnTo>
                  <a:lnTo>
                    <a:pt x="11" y="2"/>
                  </a:lnTo>
                  <a:lnTo>
                    <a:pt x="10" y="2"/>
                  </a:lnTo>
                  <a:lnTo>
                    <a:pt x="8" y="0"/>
                  </a:lnTo>
                  <a:lnTo>
                    <a:pt x="7" y="2"/>
                  </a:lnTo>
                  <a:lnTo>
                    <a:pt x="5" y="2"/>
                  </a:lnTo>
                  <a:lnTo>
                    <a:pt x="3" y="2"/>
                  </a:lnTo>
                  <a:lnTo>
                    <a:pt x="3" y="3"/>
                  </a:lnTo>
                  <a:lnTo>
                    <a:pt x="2" y="5"/>
                  </a:lnTo>
                  <a:lnTo>
                    <a:pt x="0" y="5"/>
                  </a:lnTo>
                  <a:lnTo>
                    <a:pt x="0" y="7"/>
                  </a:lnTo>
                  <a:lnTo>
                    <a:pt x="0" y="8"/>
                  </a:lnTo>
                  <a:lnTo>
                    <a:pt x="0" y="10"/>
                  </a:lnTo>
                  <a:lnTo>
                    <a:pt x="0" y="12"/>
                  </a:lnTo>
                  <a:lnTo>
                    <a:pt x="2" y="13"/>
                  </a:lnTo>
                  <a:lnTo>
                    <a:pt x="3" y="15"/>
                  </a:lnTo>
                  <a:lnTo>
                    <a:pt x="3" y="17"/>
                  </a:lnTo>
                  <a:lnTo>
                    <a:pt x="5" y="17"/>
                  </a:lnTo>
                  <a:lnTo>
                    <a:pt x="7" y="17"/>
                  </a:lnTo>
                  <a:lnTo>
                    <a:pt x="8" y="17"/>
                  </a:lnTo>
                  <a:lnTo>
                    <a:pt x="10" y="17"/>
                  </a:lnTo>
                  <a:lnTo>
                    <a:pt x="11" y="17"/>
                  </a:lnTo>
                  <a:lnTo>
                    <a:pt x="13" y="17"/>
                  </a:lnTo>
                  <a:lnTo>
                    <a:pt x="15" y="15"/>
                  </a:lnTo>
                  <a:lnTo>
                    <a:pt x="15" y="13"/>
                  </a:lnTo>
                  <a:lnTo>
                    <a:pt x="16" y="12"/>
                  </a:lnTo>
                  <a:lnTo>
                    <a:pt x="16" y="10"/>
                  </a:lnTo>
                  <a:lnTo>
                    <a:pt x="16" y="8"/>
                  </a:lnTo>
                  <a:close/>
                  <a:moveTo>
                    <a:pt x="13" y="8"/>
                  </a:moveTo>
                  <a:lnTo>
                    <a:pt x="13" y="10"/>
                  </a:lnTo>
                  <a:lnTo>
                    <a:pt x="13" y="12"/>
                  </a:lnTo>
                  <a:lnTo>
                    <a:pt x="11" y="13"/>
                  </a:lnTo>
                  <a:lnTo>
                    <a:pt x="10" y="13"/>
                  </a:lnTo>
                  <a:lnTo>
                    <a:pt x="8" y="13"/>
                  </a:lnTo>
                  <a:lnTo>
                    <a:pt x="7" y="13"/>
                  </a:lnTo>
                  <a:lnTo>
                    <a:pt x="5" y="13"/>
                  </a:lnTo>
                  <a:lnTo>
                    <a:pt x="5" y="12"/>
                  </a:lnTo>
                  <a:lnTo>
                    <a:pt x="3" y="12"/>
                  </a:lnTo>
                  <a:lnTo>
                    <a:pt x="3" y="10"/>
                  </a:lnTo>
                  <a:lnTo>
                    <a:pt x="3" y="8"/>
                  </a:lnTo>
                  <a:lnTo>
                    <a:pt x="3" y="7"/>
                  </a:lnTo>
                  <a:lnTo>
                    <a:pt x="5" y="7"/>
                  </a:lnTo>
                  <a:lnTo>
                    <a:pt x="5" y="5"/>
                  </a:lnTo>
                  <a:lnTo>
                    <a:pt x="7" y="5"/>
                  </a:lnTo>
                  <a:lnTo>
                    <a:pt x="7" y="3"/>
                  </a:lnTo>
                  <a:lnTo>
                    <a:pt x="8" y="3"/>
                  </a:lnTo>
                  <a:lnTo>
                    <a:pt x="10" y="3"/>
                  </a:lnTo>
                  <a:lnTo>
                    <a:pt x="10" y="5"/>
                  </a:lnTo>
                  <a:lnTo>
                    <a:pt x="11" y="5"/>
                  </a:lnTo>
                  <a:lnTo>
                    <a:pt x="13" y="7"/>
                  </a:lnTo>
                  <a:lnTo>
                    <a:pt x="13" y="8"/>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1" name="Freeform 513">
              <a:extLst>
                <a:ext uri="{FF2B5EF4-FFF2-40B4-BE49-F238E27FC236}">
                  <a16:creationId xmlns:a16="http://schemas.microsoft.com/office/drawing/2014/main" id="{67EF89B6-933E-1EF8-A749-06DFD2755707}"/>
                </a:ext>
              </a:extLst>
            </p:cNvPr>
            <p:cNvSpPr>
              <a:spLocks noEditPoints="1"/>
            </p:cNvSpPr>
            <p:nvPr/>
          </p:nvSpPr>
          <p:spPr bwMode="auto">
            <a:xfrm>
              <a:off x="1605" y="1731"/>
              <a:ext cx="13" cy="13"/>
            </a:xfrm>
            <a:custGeom>
              <a:avLst/>
              <a:gdLst>
                <a:gd name="T0" fmla="*/ 13 w 13"/>
                <a:gd name="T1" fmla="*/ 6 h 13"/>
                <a:gd name="T2" fmla="*/ 13 w 13"/>
                <a:gd name="T3" fmla="*/ 6 h 13"/>
                <a:gd name="T4" fmla="*/ 13 w 13"/>
                <a:gd name="T5" fmla="*/ 5 h 13"/>
                <a:gd name="T6" fmla="*/ 11 w 13"/>
                <a:gd name="T7" fmla="*/ 3 h 13"/>
                <a:gd name="T8" fmla="*/ 9 w 13"/>
                <a:gd name="T9" fmla="*/ 1 h 13"/>
                <a:gd name="T10" fmla="*/ 8 w 13"/>
                <a:gd name="T11" fmla="*/ 1 h 13"/>
                <a:gd name="T12" fmla="*/ 6 w 13"/>
                <a:gd name="T13" fmla="*/ 0 h 13"/>
                <a:gd name="T14" fmla="*/ 5 w 13"/>
                <a:gd name="T15" fmla="*/ 1 h 13"/>
                <a:gd name="T16" fmla="*/ 3 w 13"/>
                <a:gd name="T17" fmla="*/ 1 h 13"/>
                <a:gd name="T18" fmla="*/ 1 w 13"/>
                <a:gd name="T19" fmla="*/ 3 h 13"/>
                <a:gd name="T20" fmla="*/ 0 w 13"/>
                <a:gd name="T21" fmla="*/ 5 h 13"/>
                <a:gd name="T22" fmla="*/ 0 w 13"/>
                <a:gd name="T23" fmla="*/ 6 h 13"/>
                <a:gd name="T24" fmla="*/ 0 w 13"/>
                <a:gd name="T25" fmla="*/ 8 h 13"/>
                <a:gd name="T26" fmla="*/ 0 w 13"/>
                <a:gd name="T27" fmla="*/ 10 h 13"/>
                <a:gd name="T28" fmla="*/ 1 w 13"/>
                <a:gd name="T29" fmla="*/ 11 h 13"/>
                <a:gd name="T30" fmla="*/ 3 w 13"/>
                <a:gd name="T31" fmla="*/ 13 h 13"/>
                <a:gd name="T32" fmla="*/ 5 w 13"/>
                <a:gd name="T33" fmla="*/ 13 h 13"/>
                <a:gd name="T34" fmla="*/ 6 w 13"/>
                <a:gd name="T35" fmla="*/ 13 h 13"/>
                <a:gd name="T36" fmla="*/ 8 w 13"/>
                <a:gd name="T37" fmla="*/ 13 h 13"/>
                <a:gd name="T38" fmla="*/ 9 w 13"/>
                <a:gd name="T39" fmla="*/ 13 h 13"/>
                <a:gd name="T40" fmla="*/ 11 w 13"/>
                <a:gd name="T41" fmla="*/ 11 h 13"/>
                <a:gd name="T42" fmla="*/ 13 w 13"/>
                <a:gd name="T43" fmla="*/ 10 h 13"/>
                <a:gd name="T44" fmla="*/ 13 w 13"/>
                <a:gd name="T45" fmla="*/ 8 h 13"/>
                <a:gd name="T46" fmla="*/ 13 w 13"/>
                <a:gd name="T47" fmla="*/ 6 h 13"/>
                <a:gd name="T48" fmla="*/ 9 w 13"/>
                <a:gd name="T49" fmla="*/ 6 h 13"/>
                <a:gd name="T50" fmla="*/ 9 w 13"/>
                <a:gd name="T51" fmla="*/ 8 h 13"/>
                <a:gd name="T52" fmla="*/ 9 w 13"/>
                <a:gd name="T53" fmla="*/ 10 h 13"/>
                <a:gd name="T54" fmla="*/ 8 w 13"/>
                <a:gd name="T55" fmla="*/ 10 h 13"/>
                <a:gd name="T56" fmla="*/ 6 w 13"/>
                <a:gd name="T57" fmla="*/ 10 h 13"/>
                <a:gd name="T58" fmla="*/ 5 w 13"/>
                <a:gd name="T59" fmla="*/ 10 h 13"/>
                <a:gd name="T60" fmla="*/ 3 w 13"/>
                <a:gd name="T61" fmla="*/ 10 h 13"/>
                <a:gd name="T62" fmla="*/ 3 w 13"/>
                <a:gd name="T63" fmla="*/ 8 h 13"/>
                <a:gd name="T64" fmla="*/ 3 w 13"/>
                <a:gd name="T65" fmla="*/ 6 h 13"/>
                <a:gd name="T66" fmla="*/ 3 w 13"/>
                <a:gd name="T67" fmla="*/ 5 h 13"/>
                <a:gd name="T68" fmla="*/ 5 w 13"/>
                <a:gd name="T69" fmla="*/ 5 h 13"/>
                <a:gd name="T70" fmla="*/ 6 w 13"/>
                <a:gd name="T71" fmla="*/ 3 h 13"/>
                <a:gd name="T72" fmla="*/ 8 w 13"/>
                <a:gd name="T73" fmla="*/ 5 h 13"/>
                <a:gd name="T74" fmla="*/ 9 w 13"/>
                <a:gd name="T75" fmla="*/ 5 h 13"/>
                <a:gd name="T76" fmla="*/ 9 w 13"/>
                <a:gd name="T77" fmla="*/ 6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3" h="13">
                  <a:moveTo>
                    <a:pt x="13" y="6"/>
                  </a:moveTo>
                  <a:lnTo>
                    <a:pt x="13" y="6"/>
                  </a:lnTo>
                  <a:lnTo>
                    <a:pt x="13" y="5"/>
                  </a:lnTo>
                  <a:lnTo>
                    <a:pt x="11" y="3"/>
                  </a:lnTo>
                  <a:lnTo>
                    <a:pt x="9" y="1"/>
                  </a:lnTo>
                  <a:lnTo>
                    <a:pt x="8" y="1"/>
                  </a:lnTo>
                  <a:lnTo>
                    <a:pt x="6" y="0"/>
                  </a:lnTo>
                  <a:lnTo>
                    <a:pt x="5" y="1"/>
                  </a:lnTo>
                  <a:lnTo>
                    <a:pt x="3" y="1"/>
                  </a:lnTo>
                  <a:lnTo>
                    <a:pt x="1" y="3"/>
                  </a:lnTo>
                  <a:lnTo>
                    <a:pt x="0" y="5"/>
                  </a:lnTo>
                  <a:lnTo>
                    <a:pt x="0" y="6"/>
                  </a:lnTo>
                  <a:lnTo>
                    <a:pt x="0" y="8"/>
                  </a:lnTo>
                  <a:lnTo>
                    <a:pt x="0" y="10"/>
                  </a:lnTo>
                  <a:lnTo>
                    <a:pt x="1" y="11"/>
                  </a:lnTo>
                  <a:lnTo>
                    <a:pt x="3" y="13"/>
                  </a:lnTo>
                  <a:lnTo>
                    <a:pt x="5" y="13"/>
                  </a:lnTo>
                  <a:lnTo>
                    <a:pt x="6" y="13"/>
                  </a:lnTo>
                  <a:lnTo>
                    <a:pt x="8" y="13"/>
                  </a:lnTo>
                  <a:lnTo>
                    <a:pt x="9" y="13"/>
                  </a:lnTo>
                  <a:lnTo>
                    <a:pt x="11" y="11"/>
                  </a:lnTo>
                  <a:lnTo>
                    <a:pt x="13" y="10"/>
                  </a:lnTo>
                  <a:lnTo>
                    <a:pt x="13" y="8"/>
                  </a:lnTo>
                  <a:lnTo>
                    <a:pt x="13" y="6"/>
                  </a:lnTo>
                  <a:close/>
                  <a:moveTo>
                    <a:pt x="9" y="6"/>
                  </a:moveTo>
                  <a:lnTo>
                    <a:pt x="9" y="8"/>
                  </a:lnTo>
                  <a:lnTo>
                    <a:pt x="9" y="10"/>
                  </a:lnTo>
                  <a:lnTo>
                    <a:pt x="8" y="10"/>
                  </a:lnTo>
                  <a:lnTo>
                    <a:pt x="6" y="10"/>
                  </a:lnTo>
                  <a:lnTo>
                    <a:pt x="5" y="10"/>
                  </a:lnTo>
                  <a:lnTo>
                    <a:pt x="3" y="10"/>
                  </a:lnTo>
                  <a:lnTo>
                    <a:pt x="3" y="8"/>
                  </a:lnTo>
                  <a:lnTo>
                    <a:pt x="3" y="6"/>
                  </a:lnTo>
                  <a:lnTo>
                    <a:pt x="3" y="5"/>
                  </a:lnTo>
                  <a:lnTo>
                    <a:pt x="5" y="5"/>
                  </a:lnTo>
                  <a:lnTo>
                    <a:pt x="6" y="3"/>
                  </a:lnTo>
                  <a:lnTo>
                    <a:pt x="8" y="5"/>
                  </a:lnTo>
                  <a:lnTo>
                    <a:pt x="9" y="5"/>
                  </a:lnTo>
                  <a:lnTo>
                    <a:pt x="9" y="6"/>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2" name="Freeform 514">
              <a:extLst>
                <a:ext uri="{FF2B5EF4-FFF2-40B4-BE49-F238E27FC236}">
                  <a16:creationId xmlns:a16="http://schemas.microsoft.com/office/drawing/2014/main" id="{2E2F367D-35F0-B8DE-3970-0DCAC1589501}"/>
                </a:ext>
              </a:extLst>
            </p:cNvPr>
            <p:cNvSpPr>
              <a:spLocks/>
            </p:cNvSpPr>
            <p:nvPr/>
          </p:nvSpPr>
          <p:spPr bwMode="auto">
            <a:xfrm>
              <a:off x="1606" y="1732"/>
              <a:ext cx="10" cy="10"/>
            </a:xfrm>
            <a:custGeom>
              <a:avLst/>
              <a:gdLst>
                <a:gd name="T0" fmla="*/ 10 w 10"/>
                <a:gd name="T1" fmla="*/ 5 h 10"/>
                <a:gd name="T2" fmla="*/ 10 w 10"/>
                <a:gd name="T3" fmla="*/ 5 h 10"/>
                <a:gd name="T4" fmla="*/ 10 w 10"/>
                <a:gd name="T5" fmla="*/ 4 h 10"/>
                <a:gd name="T6" fmla="*/ 8 w 10"/>
                <a:gd name="T7" fmla="*/ 2 h 10"/>
                <a:gd name="T8" fmla="*/ 7 w 10"/>
                <a:gd name="T9" fmla="*/ 2 h 10"/>
                <a:gd name="T10" fmla="*/ 7 w 10"/>
                <a:gd name="T11" fmla="*/ 0 h 10"/>
                <a:gd name="T12" fmla="*/ 5 w 10"/>
                <a:gd name="T13" fmla="*/ 0 h 10"/>
                <a:gd name="T14" fmla="*/ 4 w 10"/>
                <a:gd name="T15" fmla="*/ 0 h 10"/>
                <a:gd name="T16" fmla="*/ 4 w 10"/>
                <a:gd name="T17" fmla="*/ 2 h 10"/>
                <a:gd name="T18" fmla="*/ 2 w 10"/>
                <a:gd name="T19" fmla="*/ 2 h 10"/>
                <a:gd name="T20" fmla="*/ 2 w 10"/>
                <a:gd name="T21" fmla="*/ 4 h 10"/>
                <a:gd name="T22" fmla="*/ 0 w 10"/>
                <a:gd name="T23" fmla="*/ 4 h 10"/>
                <a:gd name="T24" fmla="*/ 0 w 10"/>
                <a:gd name="T25" fmla="*/ 5 h 10"/>
                <a:gd name="T26" fmla="*/ 0 w 10"/>
                <a:gd name="T27" fmla="*/ 7 h 10"/>
                <a:gd name="T28" fmla="*/ 0 w 10"/>
                <a:gd name="T29" fmla="*/ 9 h 10"/>
                <a:gd name="T30" fmla="*/ 2 w 10"/>
                <a:gd name="T31" fmla="*/ 9 h 10"/>
                <a:gd name="T32" fmla="*/ 2 w 10"/>
                <a:gd name="T33" fmla="*/ 10 h 10"/>
                <a:gd name="T34" fmla="*/ 4 w 10"/>
                <a:gd name="T35" fmla="*/ 10 h 10"/>
                <a:gd name="T36" fmla="*/ 5 w 10"/>
                <a:gd name="T37" fmla="*/ 10 h 10"/>
                <a:gd name="T38" fmla="*/ 7 w 10"/>
                <a:gd name="T39" fmla="*/ 10 h 10"/>
                <a:gd name="T40" fmla="*/ 8 w 10"/>
                <a:gd name="T41" fmla="*/ 10 h 10"/>
                <a:gd name="T42" fmla="*/ 10 w 10"/>
                <a:gd name="T43" fmla="*/ 9 h 10"/>
                <a:gd name="T44" fmla="*/ 10 w 10"/>
                <a:gd name="T45" fmla="*/ 7 h 10"/>
                <a:gd name="T46" fmla="*/ 10 w 10"/>
                <a:gd name="T47" fmla="*/ 5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0" h="10">
                  <a:moveTo>
                    <a:pt x="10" y="5"/>
                  </a:moveTo>
                  <a:lnTo>
                    <a:pt x="10" y="5"/>
                  </a:lnTo>
                  <a:lnTo>
                    <a:pt x="10" y="4"/>
                  </a:lnTo>
                  <a:lnTo>
                    <a:pt x="8" y="2"/>
                  </a:lnTo>
                  <a:lnTo>
                    <a:pt x="7" y="2"/>
                  </a:lnTo>
                  <a:lnTo>
                    <a:pt x="7" y="0"/>
                  </a:lnTo>
                  <a:lnTo>
                    <a:pt x="5" y="0"/>
                  </a:lnTo>
                  <a:lnTo>
                    <a:pt x="4" y="0"/>
                  </a:lnTo>
                  <a:lnTo>
                    <a:pt x="4" y="2"/>
                  </a:lnTo>
                  <a:lnTo>
                    <a:pt x="2" y="2"/>
                  </a:lnTo>
                  <a:lnTo>
                    <a:pt x="2" y="4"/>
                  </a:lnTo>
                  <a:lnTo>
                    <a:pt x="0" y="4"/>
                  </a:lnTo>
                  <a:lnTo>
                    <a:pt x="0" y="5"/>
                  </a:lnTo>
                  <a:lnTo>
                    <a:pt x="0" y="7"/>
                  </a:lnTo>
                  <a:lnTo>
                    <a:pt x="0" y="9"/>
                  </a:lnTo>
                  <a:lnTo>
                    <a:pt x="2" y="9"/>
                  </a:lnTo>
                  <a:lnTo>
                    <a:pt x="2" y="10"/>
                  </a:lnTo>
                  <a:lnTo>
                    <a:pt x="4" y="10"/>
                  </a:lnTo>
                  <a:lnTo>
                    <a:pt x="5" y="10"/>
                  </a:lnTo>
                  <a:lnTo>
                    <a:pt x="7" y="10"/>
                  </a:lnTo>
                  <a:lnTo>
                    <a:pt x="8" y="10"/>
                  </a:lnTo>
                  <a:lnTo>
                    <a:pt x="10" y="9"/>
                  </a:lnTo>
                  <a:lnTo>
                    <a:pt x="10" y="7"/>
                  </a:lnTo>
                  <a:lnTo>
                    <a:pt x="10" y="5"/>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3" name="Freeform 515">
              <a:extLst>
                <a:ext uri="{FF2B5EF4-FFF2-40B4-BE49-F238E27FC236}">
                  <a16:creationId xmlns:a16="http://schemas.microsoft.com/office/drawing/2014/main" id="{1B7A4262-89C8-B321-0D08-D51C97C2710A}"/>
                </a:ext>
              </a:extLst>
            </p:cNvPr>
            <p:cNvSpPr>
              <a:spLocks/>
            </p:cNvSpPr>
            <p:nvPr/>
          </p:nvSpPr>
          <p:spPr bwMode="auto">
            <a:xfrm>
              <a:off x="1608" y="1734"/>
              <a:ext cx="6" cy="7"/>
            </a:xfrm>
            <a:custGeom>
              <a:avLst/>
              <a:gdLst>
                <a:gd name="T0" fmla="*/ 6 w 6"/>
                <a:gd name="T1" fmla="*/ 3 h 7"/>
                <a:gd name="T2" fmla="*/ 6 w 6"/>
                <a:gd name="T3" fmla="*/ 3 h 7"/>
                <a:gd name="T4" fmla="*/ 6 w 6"/>
                <a:gd name="T5" fmla="*/ 2 h 7"/>
                <a:gd name="T6" fmla="*/ 5 w 6"/>
                <a:gd name="T7" fmla="*/ 2 h 7"/>
                <a:gd name="T8" fmla="*/ 3 w 6"/>
                <a:gd name="T9" fmla="*/ 0 h 7"/>
                <a:gd name="T10" fmla="*/ 2 w 6"/>
                <a:gd name="T11" fmla="*/ 2 h 7"/>
                <a:gd name="T12" fmla="*/ 0 w 6"/>
                <a:gd name="T13" fmla="*/ 2 h 7"/>
                <a:gd name="T14" fmla="*/ 0 w 6"/>
                <a:gd name="T15" fmla="*/ 3 h 7"/>
                <a:gd name="T16" fmla="*/ 0 w 6"/>
                <a:gd name="T17" fmla="*/ 5 h 7"/>
                <a:gd name="T18" fmla="*/ 0 w 6"/>
                <a:gd name="T19" fmla="*/ 7 h 7"/>
                <a:gd name="T20" fmla="*/ 2 w 6"/>
                <a:gd name="T21" fmla="*/ 7 h 7"/>
                <a:gd name="T22" fmla="*/ 3 w 6"/>
                <a:gd name="T23" fmla="*/ 7 h 7"/>
                <a:gd name="T24" fmla="*/ 5 w 6"/>
                <a:gd name="T25" fmla="*/ 7 h 7"/>
                <a:gd name="T26" fmla="*/ 6 w 6"/>
                <a:gd name="T27" fmla="*/ 7 h 7"/>
                <a:gd name="T28" fmla="*/ 6 w 6"/>
                <a:gd name="T29" fmla="*/ 5 h 7"/>
                <a:gd name="T30" fmla="*/ 6 w 6"/>
                <a:gd name="T31" fmla="*/ 3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 h="7">
                  <a:moveTo>
                    <a:pt x="6" y="3"/>
                  </a:moveTo>
                  <a:lnTo>
                    <a:pt x="6" y="3"/>
                  </a:lnTo>
                  <a:lnTo>
                    <a:pt x="6" y="2"/>
                  </a:lnTo>
                  <a:lnTo>
                    <a:pt x="5" y="2"/>
                  </a:lnTo>
                  <a:lnTo>
                    <a:pt x="3" y="0"/>
                  </a:lnTo>
                  <a:lnTo>
                    <a:pt x="2" y="2"/>
                  </a:lnTo>
                  <a:lnTo>
                    <a:pt x="0" y="2"/>
                  </a:lnTo>
                  <a:lnTo>
                    <a:pt x="0" y="3"/>
                  </a:lnTo>
                  <a:lnTo>
                    <a:pt x="0" y="5"/>
                  </a:lnTo>
                  <a:lnTo>
                    <a:pt x="0" y="7"/>
                  </a:lnTo>
                  <a:lnTo>
                    <a:pt x="2" y="7"/>
                  </a:lnTo>
                  <a:lnTo>
                    <a:pt x="3" y="7"/>
                  </a:lnTo>
                  <a:lnTo>
                    <a:pt x="5" y="7"/>
                  </a:lnTo>
                  <a:lnTo>
                    <a:pt x="6" y="7"/>
                  </a:lnTo>
                  <a:lnTo>
                    <a:pt x="6" y="5"/>
                  </a:lnTo>
                  <a:lnTo>
                    <a:pt x="6" y="3"/>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4" name="Freeform 516">
              <a:extLst>
                <a:ext uri="{FF2B5EF4-FFF2-40B4-BE49-F238E27FC236}">
                  <a16:creationId xmlns:a16="http://schemas.microsoft.com/office/drawing/2014/main" id="{0CFD3716-D6C0-3F01-57DF-A3363D973DC1}"/>
                </a:ext>
              </a:extLst>
            </p:cNvPr>
            <p:cNvSpPr>
              <a:spLocks/>
            </p:cNvSpPr>
            <p:nvPr/>
          </p:nvSpPr>
          <p:spPr bwMode="auto">
            <a:xfrm>
              <a:off x="1610" y="1736"/>
              <a:ext cx="3" cy="3"/>
            </a:xfrm>
            <a:custGeom>
              <a:avLst/>
              <a:gdLst>
                <a:gd name="T0" fmla="*/ 3 w 3"/>
                <a:gd name="T1" fmla="*/ 1 h 3"/>
                <a:gd name="T2" fmla="*/ 3 w 3"/>
                <a:gd name="T3" fmla="*/ 1 h 3"/>
                <a:gd name="T4" fmla="*/ 1 w 3"/>
                <a:gd name="T5" fmla="*/ 0 h 3"/>
                <a:gd name="T6" fmla="*/ 1 w 3"/>
                <a:gd name="T7" fmla="*/ 1 h 3"/>
                <a:gd name="T8" fmla="*/ 0 w 3"/>
                <a:gd name="T9" fmla="*/ 1 h 3"/>
                <a:gd name="T10" fmla="*/ 0 w 3"/>
                <a:gd name="T11" fmla="*/ 3 h 3"/>
                <a:gd name="T12" fmla="*/ 1 w 3"/>
                <a:gd name="T13" fmla="*/ 3 h 3"/>
                <a:gd name="T14" fmla="*/ 3 w 3"/>
                <a:gd name="T15" fmla="*/ 3 h 3"/>
                <a:gd name="T16" fmla="*/ 3 w 3"/>
                <a:gd name="T17" fmla="*/ 1 h 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 h="3">
                  <a:moveTo>
                    <a:pt x="3" y="1"/>
                  </a:moveTo>
                  <a:lnTo>
                    <a:pt x="3" y="1"/>
                  </a:lnTo>
                  <a:lnTo>
                    <a:pt x="1" y="0"/>
                  </a:lnTo>
                  <a:lnTo>
                    <a:pt x="1" y="1"/>
                  </a:lnTo>
                  <a:lnTo>
                    <a:pt x="0" y="1"/>
                  </a:lnTo>
                  <a:lnTo>
                    <a:pt x="0" y="3"/>
                  </a:lnTo>
                  <a:lnTo>
                    <a:pt x="1" y="3"/>
                  </a:lnTo>
                  <a:lnTo>
                    <a:pt x="3" y="3"/>
                  </a:lnTo>
                  <a:lnTo>
                    <a:pt x="3"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5" name="Rectangle 517">
              <a:extLst>
                <a:ext uri="{FF2B5EF4-FFF2-40B4-BE49-F238E27FC236}">
                  <a16:creationId xmlns:a16="http://schemas.microsoft.com/office/drawing/2014/main" id="{38D8E56E-A3C5-5D05-B465-F3806A25262E}"/>
                </a:ext>
              </a:extLst>
            </p:cNvPr>
            <p:cNvSpPr>
              <a:spLocks noChangeArrowheads="1"/>
            </p:cNvSpPr>
            <p:nvPr/>
          </p:nvSpPr>
          <p:spPr bwMode="auto">
            <a:xfrm>
              <a:off x="1229" y="1713"/>
              <a:ext cx="766" cy="51"/>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776" name="Freeform 518">
              <a:extLst>
                <a:ext uri="{FF2B5EF4-FFF2-40B4-BE49-F238E27FC236}">
                  <a16:creationId xmlns:a16="http://schemas.microsoft.com/office/drawing/2014/main" id="{7BE8DB93-FA6C-E16E-1147-3EF4661FA8FE}"/>
                </a:ext>
              </a:extLst>
            </p:cNvPr>
            <p:cNvSpPr>
              <a:spLocks noEditPoints="1"/>
            </p:cNvSpPr>
            <p:nvPr/>
          </p:nvSpPr>
          <p:spPr bwMode="auto">
            <a:xfrm>
              <a:off x="1995" y="1514"/>
              <a:ext cx="444" cy="250"/>
            </a:xfrm>
            <a:custGeom>
              <a:avLst/>
              <a:gdLst>
                <a:gd name="T0" fmla="*/ 441 w 444"/>
                <a:gd name="T1" fmla="*/ 0 h 250"/>
                <a:gd name="T2" fmla="*/ 444 w 444"/>
                <a:gd name="T3" fmla="*/ 0 h 250"/>
                <a:gd name="T4" fmla="*/ 444 w 444"/>
                <a:gd name="T5" fmla="*/ 6 h 250"/>
                <a:gd name="T6" fmla="*/ 444 w 444"/>
                <a:gd name="T7" fmla="*/ 5 h 250"/>
                <a:gd name="T8" fmla="*/ 443 w 444"/>
                <a:gd name="T9" fmla="*/ 5 h 250"/>
                <a:gd name="T10" fmla="*/ 443 w 444"/>
                <a:gd name="T11" fmla="*/ 3 h 250"/>
                <a:gd name="T12" fmla="*/ 441 w 444"/>
                <a:gd name="T13" fmla="*/ 1 h 250"/>
                <a:gd name="T14" fmla="*/ 441 w 444"/>
                <a:gd name="T15" fmla="*/ 0 h 250"/>
                <a:gd name="T16" fmla="*/ 4 w 444"/>
                <a:gd name="T17" fmla="*/ 248 h 250"/>
                <a:gd name="T18" fmla="*/ 0 w 444"/>
                <a:gd name="T19" fmla="*/ 250 h 250"/>
                <a:gd name="T20" fmla="*/ 0 w 444"/>
                <a:gd name="T21" fmla="*/ 243 h 250"/>
                <a:gd name="T22" fmla="*/ 0 w 444"/>
                <a:gd name="T23" fmla="*/ 245 h 250"/>
                <a:gd name="T24" fmla="*/ 2 w 444"/>
                <a:gd name="T25" fmla="*/ 245 h 250"/>
                <a:gd name="T26" fmla="*/ 2 w 444"/>
                <a:gd name="T27" fmla="*/ 247 h 250"/>
                <a:gd name="T28" fmla="*/ 2 w 444"/>
                <a:gd name="T29" fmla="*/ 248 h 250"/>
                <a:gd name="T30" fmla="*/ 4 w 444"/>
                <a:gd name="T31" fmla="*/ 248 h 2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44" h="250">
                  <a:moveTo>
                    <a:pt x="441" y="0"/>
                  </a:moveTo>
                  <a:lnTo>
                    <a:pt x="444" y="0"/>
                  </a:lnTo>
                  <a:lnTo>
                    <a:pt x="444" y="6"/>
                  </a:lnTo>
                  <a:lnTo>
                    <a:pt x="444" y="5"/>
                  </a:lnTo>
                  <a:lnTo>
                    <a:pt x="443" y="5"/>
                  </a:lnTo>
                  <a:lnTo>
                    <a:pt x="443" y="3"/>
                  </a:lnTo>
                  <a:lnTo>
                    <a:pt x="441" y="1"/>
                  </a:lnTo>
                  <a:lnTo>
                    <a:pt x="441" y="0"/>
                  </a:lnTo>
                  <a:close/>
                  <a:moveTo>
                    <a:pt x="4" y="248"/>
                  </a:moveTo>
                  <a:lnTo>
                    <a:pt x="0" y="250"/>
                  </a:lnTo>
                  <a:lnTo>
                    <a:pt x="0" y="243"/>
                  </a:lnTo>
                  <a:lnTo>
                    <a:pt x="0" y="245"/>
                  </a:lnTo>
                  <a:lnTo>
                    <a:pt x="2" y="245"/>
                  </a:lnTo>
                  <a:lnTo>
                    <a:pt x="2" y="247"/>
                  </a:lnTo>
                  <a:lnTo>
                    <a:pt x="2" y="248"/>
                  </a:lnTo>
                  <a:lnTo>
                    <a:pt x="4" y="248"/>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7" name="Freeform 519">
              <a:extLst>
                <a:ext uri="{FF2B5EF4-FFF2-40B4-BE49-F238E27FC236}">
                  <a16:creationId xmlns:a16="http://schemas.microsoft.com/office/drawing/2014/main" id="{A2D3D506-3B0E-99DA-EC4E-CCCDA643C11C}"/>
                </a:ext>
              </a:extLst>
            </p:cNvPr>
            <p:cNvSpPr>
              <a:spLocks noEditPoints="1"/>
            </p:cNvSpPr>
            <p:nvPr/>
          </p:nvSpPr>
          <p:spPr bwMode="auto">
            <a:xfrm>
              <a:off x="1995" y="1514"/>
              <a:ext cx="444" cy="248"/>
            </a:xfrm>
            <a:custGeom>
              <a:avLst/>
              <a:gdLst>
                <a:gd name="T0" fmla="*/ 444 w 444"/>
                <a:gd name="T1" fmla="*/ 3 h 248"/>
                <a:gd name="T2" fmla="*/ 444 w 444"/>
                <a:gd name="T3" fmla="*/ 1 h 248"/>
                <a:gd name="T4" fmla="*/ 443 w 444"/>
                <a:gd name="T5" fmla="*/ 1 h 248"/>
                <a:gd name="T6" fmla="*/ 443 w 444"/>
                <a:gd name="T7" fmla="*/ 0 h 248"/>
                <a:gd name="T8" fmla="*/ 439 w 444"/>
                <a:gd name="T9" fmla="*/ 1 h 248"/>
                <a:gd name="T10" fmla="*/ 441 w 444"/>
                <a:gd name="T11" fmla="*/ 3 h 248"/>
                <a:gd name="T12" fmla="*/ 441 w 444"/>
                <a:gd name="T13" fmla="*/ 5 h 248"/>
                <a:gd name="T14" fmla="*/ 443 w 444"/>
                <a:gd name="T15" fmla="*/ 6 h 248"/>
                <a:gd name="T16" fmla="*/ 443 w 444"/>
                <a:gd name="T17" fmla="*/ 8 h 248"/>
                <a:gd name="T18" fmla="*/ 444 w 444"/>
                <a:gd name="T19" fmla="*/ 10 h 248"/>
                <a:gd name="T20" fmla="*/ 444 w 444"/>
                <a:gd name="T21" fmla="*/ 3 h 248"/>
                <a:gd name="T22" fmla="*/ 0 w 444"/>
                <a:gd name="T23" fmla="*/ 247 h 248"/>
                <a:gd name="T24" fmla="*/ 0 w 444"/>
                <a:gd name="T25" fmla="*/ 247 h 248"/>
                <a:gd name="T26" fmla="*/ 0 w 444"/>
                <a:gd name="T27" fmla="*/ 248 h 248"/>
                <a:gd name="T28" fmla="*/ 2 w 444"/>
                <a:gd name="T29" fmla="*/ 248 h 248"/>
                <a:gd name="T30" fmla="*/ 4 w 444"/>
                <a:gd name="T31" fmla="*/ 248 h 248"/>
                <a:gd name="T32" fmla="*/ 4 w 444"/>
                <a:gd name="T33" fmla="*/ 247 h 248"/>
                <a:gd name="T34" fmla="*/ 4 w 444"/>
                <a:gd name="T35" fmla="*/ 245 h 248"/>
                <a:gd name="T36" fmla="*/ 2 w 444"/>
                <a:gd name="T37" fmla="*/ 245 h 248"/>
                <a:gd name="T38" fmla="*/ 2 w 444"/>
                <a:gd name="T39" fmla="*/ 243 h 248"/>
                <a:gd name="T40" fmla="*/ 2 w 444"/>
                <a:gd name="T41" fmla="*/ 242 h 248"/>
                <a:gd name="T42" fmla="*/ 0 w 444"/>
                <a:gd name="T43" fmla="*/ 242 h 248"/>
                <a:gd name="T44" fmla="*/ 0 w 444"/>
                <a:gd name="T45" fmla="*/ 240 h 248"/>
                <a:gd name="T46" fmla="*/ 0 w 444"/>
                <a:gd name="T47" fmla="*/ 247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44" h="248">
                  <a:moveTo>
                    <a:pt x="444" y="3"/>
                  </a:moveTo>
                  <a:lnTo>
                    <a:pt x="444" y="1"/>
                  </a:lnTo>
                  <a:lnTo>
                    <a:pt x="443" y="1"/>
                  </a:lnTo>
                  <a:lnTo>
                    <a:pt x="443" y="0"/>
                  </a:lnTo>
                  <a:lnTo>
                    <a:pt x="439" y="1"/>
                  </a:lnTo>
                  <a:lnTo>
                    <a:pt x="441" y="3"/>
                  </a:lnTo>
                  <a:lnTo>
                    <a:pt x="441" y="5"/>
                  </a:lnTo>
                  <a:lnTo>
                    <a:pt x="443" y="6"/>
                  </a:lnTo>
                  <a:lnTo>
                    <a:pt x="443" y="8"/>
                  </a:lnTo>
                  <a:lnTo>
                    <a:pt x="444" y="10"/>
                  </a:lnTo>
                  <a:lnTo>
                    <a:pt x="444" y="3"/>
                  </a:lnTo>
                  <a:close/>
                  <a:moveTo>
                    <a:pt x="0" y="247"/>
                  </a:moveTo>
                  <a:lnTo>
                    <a:pt x="0" y="247"/>
                  </a:lnTo>
                  <a:lnTo>
                    <a:pt x="0" y="248"/>
                  </a:lnTo>
                  <a:lnTo>
                    <a:pt x="2" y="248"/>
                  </a:lnTo>
                  <a:lnTo>
                    <a:pt x="4" y="248"/>
                  </a:lnTo>
                  <a:lnTo>
                    <a:pt x="4" y="247"/>
                  </a:lnTo>
                  <a:lnTo>
                    <a:pt x="4" y="245"/>
                  </a:lnTo>
                  <a:lnTo>
                    <a:pt x="2" y="245"/>
                  </a:lnTo>
                  <a:lnTo>
                    <a:pt x="2" y="243"/>
                  </a:lnTo>
                  <a:lnTo>
                    <a:pt x="2" y="242"/>
                  </a:lnTo>
                  <a:lnTo>
                    <a:pt x="0" y="242"/>
                  </a:lnTo>
                  <a:lnTo>
                    <a:pt x="0" y="240"/>
                  </a:lnTo>
                  <a:lnTo>
                    <a:pt x="0" y="247"/>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8" name="Freeform 520">
              <a:extLst>
                <a:ext uri="{FF2B5EF4-FFF2-40B4-BE49-F238E27FC236}">
                  <a16:creationId xmlns:a16="http://schemas.microsoft.com/office/drawing/2014/main" id="{54B84FA0-90B7-4652-4559-D008207908AE}"/>
                </a:ext>
              </a:extLst>
            </p:cNvPr>
            <p:cNvSpPr>
              <a:spLocks noEditPoints="1"/>
            </p:cNvSpPr>
            <p:nvPr/>
          </p:nvSpPr>
          <p:spPr bwMode="auto">
            <a:xfrm>
              <a:off x="1995" y="1514"/>
              <a:ext cx="444" cy="248"/>
            </a:xfrm>
            <a:custGeom>
              <a:avLst/>
              <a:gdLst>
                <a:gd name="T0" fmla="*/ 444 w 444"/>
                <a:gd name="T1" fmla="*/ 6 h 248"/>
                <a:gd name="T2" fmla="*/ 444 w 444"/>
                <a:gd name="T3" fmla="*/ 5 h 248"/>
                <a:gd name="T4" fmla="*/ 443 w 444"/>
                <a:gd name="T5" fmla="*/ 5 h 248"/>
                <a:gd name="T6" fmla="*/ 443 w 444"/>
                <a:gd name="T7" fmla="*/ 3 h 248"/>
                <a:gd name="T8" fmla="*/ 441 w 444"/>
                <a:gd name="T9" fmla="*/ 1 h 248"/>
                <a:gd name="T10" fmla="*/ 441 w 444"/>
                <a:gd name="T11" fmla="*/ 0 h 248"/>
                <a:gd name="T12" fmla="*/ 438 w 444"/>
                <a:gd name="T13" fmla="*/ 1 h 248"/>
                <a:gd name="T14" fmla="*/ 439 w 444"/>
                <a:gd name="T15" fmla="*/ 3 h 248"/>
                <a:gd name="T16" fmla="*/ 439 w 444"/>
                <a:gd name="T17" fmla="*/ 5 h 248"/>
                <a:gd name="T18" fmla="*/ 441 w 444"/>
                <a:gd name="T19" fmla="*/ 6 h 248"/>
                <a:gd name="T20" fmla="*/ 441 w 444"/>
                <a:gd name="T21" fmla="*/ 8 h 248"/>
                <a:gd name="T22" fmla="*/ 443 w 444"/>
                <a:gd name="T23" fmla="*/ 10 h 248"/>
                <a:gd name="T24" fmla="*/ 443 w 444"/>
                <a:gd name="T25" fmla="*/ 11 h 248"/>
                <a:gd name="T26" fmla="*/ 444 w 444"/>
                <a:gd name="T27" fmla="*/ 13 h 248"/>
                <a:gd name="T28" fmla="*/ 444 w 444"/>
                <a:gd name="T29" fmla="*/ 6 h 248"/>
                <a:gd name="T30" fmla="*/ 0 w 444"/>
                <a:gd name="T31" fmla="*/ 243 h 248"/>
                <a:gd name="T32" fmla="*/ 0 w 444"/>
                <a:gd name="T33" fmla="*/ 243 h 248"/>
                <a:gd name="T34" fmla="*/ 0 w 444"/>
                <a:gd name="T35" fmla="*/ 245 h 248"/>
                <a:gd name="T36" fmla="*/ 2 w 444"/>
                <a:gd name="T37" fmla="*/ 245 h 248"/>
                <a:gd name="T38" fmla="*/ 2 w 444"/>
                <a:gd name="T39" fmla="*/ 247 h 248"/>
                <a:gd name="T40" fmla="*/ 2 w 444"/>
                <a:gd name="T41" fmla="*/ 248 h 248"/>
                <a:gd name="T42" fmla="*/ 4 w 444"/>
                <a:gd name="T43" fmla="*/ 248 h 248"/>
                <a:gd name="T44" fmla="*/ 5 w 444"/>
                <a:gd name="T45" fmla="*/ 247 h 248"/>
                <a:gd name="T46" fmla="*/ 5 w 444"/>
                <a:gd name="T47" fmla="*/ 245 h 248"/>
                <a:gd name="T48" fmla="*/ 4 w 444"/>
                <a:gd name="T49" fmla="*/ 243 h 248"/>
                <a:gd name="T50" fmla="*/ 2 w 444"/>
                <a:gd name="T51" fmla="*/ 242 h 248"/>
                <a:gd name="T52" fmla="*/ 2 w 444"/>
                <a:gd name="T53" fmla="*/ 240 h 248"/>
                <a:gd name="T54" fmla="*/ 2 w 444"/>
                <a:gd name="T55" fmla="*/ 238 h 248"/>
                <a:gd name="T56" fmla="*/ 0 w 444"/>
                <a:gd name="T57" fmla="*/ 237 h 248"/>
                <a:gd name="T58" fmla="*/ 0 w 444"/>
                <a:gd name="T59" fmla="*/ 235 h 248"/>
                <a:gd name="T60" fmla="*/ 0 w 444"/>
                <a:gd name="T61" fmla="*/ 243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44" h="248">
                  <a:moveTo>
                    <a:pt x="444" y="6"/>
                  </a:moveTo>
                  <a:lnTo>
                    <a:pt x="444" y="5"/>
                  </a:lnTo>
                  <a:lnTo>
                    <a:pt x="443" y="5"/>
                  </a:lnTo>
                  <a:lnTo>
                    <a:pt x="443" y="3"/>
                  </a:lnTo>
                  <a:lnTo>
                    <a:pt x="441" y="1"/>
                  </a:lnTo>
                  <a:lnTo>
                    <a:pt x="441" y="0"/>
                  </a:lnTo>
                  <a:lnTo>
                    <a:pt x="438" y="1"/>
                  </a:lnTo>
                  <a:lnTo>
                    <a:pt x="439" y="3"/>
                  </a:lnTo>
                  <a:lnTo>
                    <a:pt x="439" y="5"/>
                  </a:lnTo>
                  <a:lnTo>
                    <a:pt x="441" y="6"/>
                  </a:lnTo>
                  <a:lnTo>
                    <a:pt x="441" y="8"/>
                  </a:lnTo>
                  <a:lnTo>
                    <a:pt x="443" y="10"/>
                  </a:lnTo>
                  <a:lnTo>
                    <a:pt x="443" y="11"/>
                  </a:lnTo>
                  <a:lnTo>
                    <a:pt x="444" y="13"/>
                  </a:lnTo>
                  <a:lnTo>
                    <a:pt x="444" y="6"/>
                  </a:lnTo>
                  <a:close/>
                  <a:moveTo>
                    <a:pt x="0" y="243"/>
                  </a:moveTo>
                  <a:lnTo>
                    <a:pt x="0" y="243"/>
                  </a:lnTo>
                  <a:lnTo>
                    <a:pt x="0" y="245"/>
                  </a:lnTo>
                  <a:lnTo>
                    <a:pt x="2" y="245"/>
                  </a:lnTo>
                  <a:lnTo>
                    <a:pt x="2" y="247"/>
                  </a:lnTo>
                  <a:lnTo>
                    <a:pt x="2" y="248"/>
                  </a:lnTo>
                  <a:lnTo>
                    <a:pt x="4" y="248"/>
                  </a:lnTo>
                  <a:lnTo>
                    <a:pt x="5" y="247"/>
                  </a:lnTo>
                  <a:lnTo>
                    <a:pt x="5" y="245"/>
                  </a:lnTo>
                  <a:lnTo>
                    <a:pt x="4" y="243"/>
                  </a:lnTo>
                  <a:lnTo>
                    <a:pt x="2" y="242"/>
                  </a:lnTo>
                  <a:lnTo>
                    <a:pt x="2" y="240"/>
                  </a:lnTo>
                  <a:lnTo>
                    <a:pt x="2" y="238"/>
                  </a:lnTo>
                  <a:lnTo>
                    <a:pt x="0" y="237"/>
                  </a:lnTo>
                  <a:lnTo>
                    <a:pt x="0" y="235"/>
                  </a:lnTo>
                  <a:lnTo>
                    <a:pt x="0" y="243"/>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9" name="Freeform 521">
              <a:extLst>
                <a:ext uri="{FF2B5EF4-FFF2-40B4-BE49-F238E27FC236}">
                  <a16:creationId xmlns:a16="http://schemas.microsoft.com/office/drawing/2014/main" id="{18F14C7B-7984-9713-E5C5-7A33EE7796DD}"/>
                </a:ext>
              </a:extLst>
            </p:cNvPr>
            <p:cNvSpPr>
              <a:spLocks noEditPoints="1"/>
            </p:cNvSpPr>
            <p:nvPr/>
          </p:nvSpPr>
          <p:spPr bwMode="auto">
            <a:xfrm>
              <a:off x="1995" y="1515"/>
              <a:ext cx="444" cy="247"/>
            </a:xfrm>
            <a:custGeom>
              <a:avLst/>
              <a:gdLst>
                <a:gd name="T0" fmla="*/ 444 w 444"/>
                <a:gd name="T1" fmla="*/ 9 h 247"/>
                <a:gd name="T2" fmla="*/ 443 w 444"/>
                <a:gd name="T3" fmla="*/ 7 h 247"/>
                <a:gd name="T4" fmla="*/ 443 w 444"/>
                <a:gd name="T5" fmla="*/ 5 h 247"/>
                <a:gd name="T6" fmla="*/ 441 w 444"/>
                <a:gd name="T7" fmla="*/ 4 h 247"/>
                <a:gd name="T8" fmla="*/ 441 w 444"/>
                <a:gd name="T9" fmla="*/ 2 h 247"/>
                <a:gd name="T10" fmla="*/ 439 w 444"/>
                <a:gd name="T11" fmla="*/ 0 h 247"/>
                <a:gd name="T12" fmla="*/ 436 w 444"/>
                <a:gd name="T13" fmla="*/ 2 h 247"/>
                <a:gd name="T14" fmla="*/ 438 w 444"/>
                <a:gd name="T15" fmla="*/ 4 h 247"/>
                <a:gd name="T16" fmla="*/ 438 w 444"/>
                <a:gd name="T17" fmla="*/ 5 h 247"/>
                <a:gd name="T18" fmla="*/ 439 w 444"/>
                <a:gd name="T19" fmla="*/ 7 h 247"/>
                <a:gd name="T20" fmla="*/ 441 w 444"/>
                <a:gd name="T21" fmla="*/ 9 h 247"/>
                <a:gd name="T22" fmla="*/ 441 w 444"/>
                <a:gd name="T23" fmla="*/ 10 h 247"/>
                <a:gd name="T24" fmla="*/ 443 w 444"/>
                <a:gd name="T25" fmla="*/ 12 h 247"/>
                <a:gd name="T26" fmla="*/ 443 w 444"/>
                <a:gd name="T27" fmla="*/ 14 h 247"/>
                <a:gd name="T28" fmla="*/ 444 w 444"/>
                <a:gd name="T29" fmla="*/ 15 h 247"/>
                <a:gd name="T30" fmla="*/ 444 w 444"/>
                <a:gd name="T31" fmla="*/ 9 h 247"/>
                <a:gd name="T32" fmla="*/ 0 w 444"/>
                <a:gd name="T33" fmla="*/ 239 h 247"/>
                <a:gd name="T34" fmla="*/ 0 w 444"/>
                <a:gd name="T35" fmla="*/ 239 h 247"/>
                <a:gd name="T36" fmla="*/ 0 w 444"/>
                <a:gd name="T37" fmla="*/ 241 h 247"/>
                <a:gd name="T38" fmla="*/ 2 w 444"/>
                <a:gd name="T39" fmla="*/ 241 h 247"/>
                <a:gd name="T40" fmla="*/ 2 w 444"/>
                <a:gd name="T41" fmla="*/ 242 h 247"/>
                <a:gd name="T42" fmla="*/ 2 w 444"/>
                <a:gd name="T43" fmla="*/ 244 h 247"/>
                <a:gd name="T44" fmla="*/ 4 w 444"/>
                <a:gd name="T45" fmla="*/ 244 h 247"/>
                <a:gd name="T46" fmla="*/ 4 w 444"/>
                <a:gd name="T47" fmla="*/ 246 h 247"/>
                <a:gd name="T48" fmla="*/ 4 w 444"/>
                <a:gd name="T49" fmla="*/ 247 h 247"/>
                <a:gd name="T50" fmla="*/ 7 w 444"/>
                <a:gd name="T51" fmla="*/ 246 h 247"/>
                <a:gd name="T52" fmla="*/ 7 w 444"/>
                <a:gd name="T53" fmla="*/ 244 h 247"/>
                <a:gd name="T54" fmla="*/ 5 w 444"/>
                <a:gd name="T55" fmla="*/ 242 h 247"/>
                <a:gd name="T56" fmla="*/ 4 w 444"/>
                <a:gd name="T57" fmla="*/ 241 h 247"/>
                <a:gd name="T58" fmla="*/ 4 w 444"/>
                <a:gd name="T59" fmla="*/ 237 h 247"/>
                <a:gd name="T60" fmla="*/ 2 w 444"/>
                <a:gd name="T61" fmla="*/ 236 h 247"/>
                <a:gd name="T62" fmla="*/ 2 w 444"/>
                <a:gd name="T63" fmla="*/ 234 h 247"/>
                <a:gd name="T64" fmla="*/ 0 w 444"/>
                <a:gd name="T65" fmla="*/ 232 h 247"/>
                <a:gd name="T66" fmla="*/ 0 w 444"/>
                <a:gd name="T67" fmla="*/ 231 h 247"/>
                <a:gd name="T68" fmla="*/ 0 w 444"/>
                <a:gd name="T69" fmla="*/ 239 h 2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4" h="247">
                  <a:moveTo>
                    <a:pt x="444" y="9"/>
                  </a:moveTo>
                  <a:lnTo>
                    <a:pt x="443" y="7"/>
                  </a:lnTo>
                  <a:lnTo>
                    <a:pt x="443" y="5"/>
                  </a:lnTo>
                  <a:lnTo>
                    <a:pt x="441" y="4"/>
                  </a:lnTo>
                  <a:lnTo>
                    <a:pt x="441" y="2"/>
                  </a:lnTo>
                  <a:lnTo>
                    <a:pt x="439" y="0"/>
                  </a:lnTo>
                  <a:lnTo>
                    <a:pt x="436" y="2"/>
                  </a:lnTo>
                  <a:lnTo>
                    <a:pt x="438" y="4"/>
                  </a:lnTo>
                  <a:lnTo>
                    <a:pt x="438" y="5"/>
                  </a:lnTo>
                  <a:lnTo>
                    <a:pt x="439" y="7"/>
                  </a:lnTo>
                  <a:lnTo>
                    <a:pt x="441" y="9"/>
                  </a:lnTo>
                  <a:lnTo>
                    <a:pt x="441" y="10"/>
                  </a:lnTo>
                  <a:lnTo>
                    <a:pt x="443" y="12"/>
                  </a:lnTo>
                  <a:lnTo>
                    <a:pt x="443" y="14"/>
                  </a:lnTo>
                  <a:lnTo>
                    <a:pt x="444" y="15"/>
                  </a:lnTo>
                  <a:lnTo>
                    <a:pt x="444" y="9"/>
                  </a:lnTo>
                  <a:close/>
                  <a:moveTo>
                    <a:pt x="0" y="239"/>
                  </a:moveTo>
                  <a:lnTo>
                    <a:pt x="0" y="239"/>
                  </a:lnTo>
                  <a:lnTo>
                    <a:pt x="0" y="241"/>
                  </a:lnTo>
                  <a:lnTo>
                    <a:pt x="2" y="241"/>
                  </a:lnTo>
                  <a:lnTo>
                    <a:pt x="2" y="242"/>
                  </a:lnTo>
                  <a:lnTo>
                    <a:pt x="2" y="244"/>
                  </a:lnTo>
                  <a:lnTo>
                    <a:pt x="4" y="244"/>
                  </a:lnTo>
                  <a:lnTo>
                    <a:pt x="4" y="246"/>
                  </a:lnTo>
                  <a:lnTo>
                    <a:pt x="4" y="247"/>
                  </a:lnTo>
                  <a:lnTo>
                    <a:pt x="7" y="246"/>
                  </a:lnTo>
                  <a:lnTo>
                    <a:pt x="7" y="244"/>
                  </a:lnTo>
                  <a:lnTo>
                    <a:pt x="5" y="242"/>
                  </a:lnTo>
                  <a:lnTo>
                    <a:pt x="4" y="241"/>
                  </a:lnTo>
                  <a:lnTo>
                    <a:pt x="4" y="237"/>
                  </a:lnTo>
                  <a:lnTo>
                    <a:pt x="2" y="236"/>
                  </a:lnTo>
                  <a:lnTo>
                    <a:pt x="2" y="234"/>
                  </a:lnTo>
                  <a:lnTo>
                    <a:pt x="0" y="232"/>
                  </a:lnTo>
                  <a:lnTo>
                    <a:pt x="0" y="231"/>
                  </a:lnTo>
                  <a:lnTo>
                    <a:pt x="0" y="239"/>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0" name="Freeform 522">
              <a:extLst>
                <a:ext uri="{FF2B5EF4-FFF2-40B4-BE49-F238E27FC236}">
                  <a16:creationId xmlns:a16="http://schemas.microsoft.com/office/drawing/2014/main" id="{A2A20249-3F3E-EC94-C94A-738E79962145}"/>
                </a:ext>
              </a:extLst>
            </p:cNvPr>
            <p:cNvSpPr>
              <a:spLocks noEditPoints="1"/>
            </p:cNvSpPr>
            <p:nvPr/>
          </p:nvSpPr>
          <p:spPr bwMode="auto">
            <a:xfrm>
              <a:off x="1995" y="1515"/>
              <a:ext cx="444" cy="246"/>
            </a:xfrm>
            <a:custGeom>
              <a:avLst/>
              <a:gdLst>
                <a:gd name="T0" fmla="*/ 444 w 444"/>
                <a:gd name="T1" fmla="*/ 12 h 246"/>
                <a:gd name="T2" fmla="*/ 443 w 444"/>
                <a:gd name="T3" fmla="*/ 10 h 246"/>
                <a:gd name="T4" fmla="*/ 443 w 444"/>
                <a:gd name="T5" fmla="*/ 9 h 246"/>
                <a:gd name="T6" fmla="*/ 441 w 444"/>
                <a:gd name="T7" fmla="*/ 7 h 246"/>
                <a:gd name="T8" fmla="*/ 441 w 444"/>
                <a:gd name="T9" fmla="*/ 5 h 246"/>
                <a:gd name="T10" fmla="*/ 439 w 444"/>
                <a:gd name="T11" fmla="*/ 4 h 246"/>
                <a:gd name="T12" fmla="*/ 439 w 444"/>
                <a:gd name="T13" fmla="*/ 2 h 246"/>
                <a:gd name="T14" fmla="*/ 438 w 444"/>
                <a:gd name="T15" fmla="*/ 0 h 246"/>
                <a:gd name="T16" fmla="*/ 434 w 444"/>
                <a:gd name="T17" fmla="*/ 2 h 246"/>
                <a:gd name="T18" fmla="*/ 436 w 444"/>
                <a:gd name="T19" fmla="*/ 4 h 246"/>
                <a:gd name="T20" fmla="*/ 438 w 444"/>
                <a:gd name="T21" fmla="*/ 7 h 246"/>
                <a:gd name="T22" fmla="*/ 438 w 444"/>
                <a:gd name="T23" fmla="*/ 9 h 246"/>
                <a:gd name="T24" fmla="*/ 439 w 444"/>
                <a:gd name="T25" fmla="*/ 10 h 246"/>
                <a:gd name="T26" fmla="*/ 441 w 444"/>
                <a:gd name="T27" fmla="*/ 14 h 246"/>
                <a:gd name="T28" fmla="*/ 441 w 444"/>
                <a:gd name="T29" fmla="*/ 15 h 246"/>
                <a:gd name="T30" fmla="*/ 443 w 444"/>
                <a:gd name="T31" fmla="*/ 17 h 246"/>
                <a:gd name="T32" fmla="*/ 444 w 444"/>
                <a:gd name="T33" fmla="*/ 20 h 246"/>
                <a:gd name="T34" fmla="*/ 444 w 444"/>
                <a:gd name="T35" fmla="*/ 12 h 246"/>
                <a:gd name="T36" fmla="*/ 0 w 444"/>
                <a:gd name="T37" fmla="*/ 234 h 246"/>
                <a:gd name="T38" fmla="*/ 0 w 444"/>
                <a:gd name="T39" fmla="*/ 236 h 246"/>
                <a:gd name="T40" fmla="*/ 2 w 444"/>
                <a:gd name="T41" fmla="*/ 237 h 246"/>
                <a:gd name="T42" fmla="*/ 2 w 444"/>
                <a:gd name="T43" fmla="*/ 239 h 246"/>
                <a:gd name="T44" fmla="*/ 2 w 444"/>
                <a:gd name="T45" fmla="*/ 241 h 246"/>
                <a:gd name="T46" fmla="*/ 4 w 444"/>
                <a:gd name="T47" fmla="*/ 242 h 246"/>
                <a:gd name="T48" fmla="*/ 5 w 444"/>
                <a:gd name="T49" fmla="*/ 244 h 246"/>
                <a:gd name="T50" fmla="*/ 5 w 444"/>
                <a:gd name="T51" fmla="*/ 246 h 246"/>
                <a:gd name="T52" fmla="*/ 9 w 444"/>
                <a:gd name="T53" fmla="*/ 244 h 246"/>
                <a:gd name="T54" fmla="*/ 7 w 444"/>
                <a:gd name="T55" fmla="*/ 242 h 246"/>
                <a:gd name="T56" fmla="*/ 7 w 444"/>
                <a:gd name="T57" fmla="*/ 241 h 246"/>
                <a:gd name="T58" fmla="*/ 5 w 444"/>
                <a:gd name="T59" fmla="*/ 237 h 246"/>
                <a:gd name="T60" fmla="*/ 4 w 444"/>
                <a:gd name="T61" fmla="*/ 236 h 246"/>
                <a:gd name="T62" fmla="*/ 4 w 444"/>
                <a:gd name="T63" fmla="*/ 234 h 246"/>
                <a:gd name="T64" fmla="*/ 2 w 444"/>
                <a:gd name="T65" fmla="*/ 231 h 246"/>
                <a:gd name="T66" fmla="*/ 0 w 444"/>
                <a:gd name="T67" fmla="*/ 229 h 246"/>
                <a:gd name="T68" fmla="*/ 0 w 444"/>
                <a:gd name="T69" fmla="*/ 227 h 246"/>
                <a:gd name="T70" fmla="*/ 0 w 444"/>
                <a:gd name="T71" fmla="*/ 234 h 2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44" h="246">
                  <a:moveTo>
                    <a:pt x="444" y="12"/>
                  </a:moveTo>
                  <a:lnTo>
                    <a:pt x="443" y="10"/>
                  </a:lnTo>
                  <a:lnTo>
                    <a:pt x="443" y="9"/>
                  </a:lnTo>
                  <a:lnTo>
                    <a:pt x="441" y="7"/>
                  </a:lnTo>
                  <a:lnTo>
                    <a:pt x="441" y="5"/>
                  </a:lnTo>
                  <a:lnTo>
                    <a:pt x="439" y="4"/>
                  </a:lnTo>
                  <a:lnTo>
                    <a:pt x="439" y="2"/>
                  </a:lnTo>
                  <a:lnTo>
                    <a:pt x="438" y="0"/>
                  </a:lnTo>
                  <a:lnTo>
                    <a:pt x="434" y="2"/>
                  </a:lnTo>
                  <a:lnTo>
                    <a:pt x="436" y="4"/>
                  </a:lnTo>
                  <a:lnTo>
                    <a:pt x="438" y="7"/>
                  </a:lnTo>
                  <a:lnTo>
                    <a:pt x="438" y="9"/>
                  </a:lnTo>
                  <a:lnTo>
                    <a:pt x="439" y="10"/>
                  </a:lnTo>
                  <a:lnTo>
                    <a:pt x="441" y="14"/>
                  </a:lnTo>
                  <a:lnTo>
                    <a:pt x="441" y="15"/>
                  </a:lnTo>
                  <a:lnTo>
                    <a:pt x="443" y="17"/>
                  </a:lnTo>
                  <a:lnTo>
                    <a:pt x="444" y="20"/>
                  </a:lnTo>
                  <a:lnTo>
                    <a:pt x="444" y="12"/>
                  </a:lnTo>
                  <a:close/>
                  <a:moveTo>
                    <a:pt x="0" y="234"/>
                  </a:moveTo>
                  <a:lnTo>
                    <a:pt x="0" y="236"/>
                  </a:lnTo>
                  <a:lnTo>
                    <a:pt x="2" y="237"/>
                  </a:lnTo>
                  <a:lnTo>
                    <a:pt x="2" y="239"/>
                  </a:lnTo>
                  <a:lnTo>
                    <a:pt x="2" y="241"/>
                  </a:lnTo>
                  <a:lnTo>
                    <a:pt x="4" y="242"/>
                  </a:lnTo>
                  <a:lnTo>
                    <a:pt x="5" y="244"/>
                  </a:lnTo>
                  <a:lnTo>
                    <a:pt x="5" y="246"/>
                  </a:lnTo>
                  <a:lnTo>
                    <a:pt x="9" y="244"/>
                  </a:lnTo>
                  <a:lnTo>
                    <a:pt x="7" y="242"/>
                  </a:lnTo>
                  <a:lnTo>
                    <a:pt x="7" y="241"/>
                  </a:lnTo>
                  <a:lnTo>
                    <a:pt x="5" y="237"/>
                  </a:lnTo>
                  <a:lnTo>
                    <a:pt x="4" y="236"/>
                  </a:lnTo>
                  <a:lnTo>
                    <a:pt x="4" y="234"/>
                  </a:lnTo>
                  <a:lnTo>
                    <a:pt x="2" y="231"/>
                  </a:lnTo>
                  <a:lnTo>
                    <a:pt x="0" y="229"/>
                  </a:lnTo>
                  <a:lnTo>
                    <a:pt x="0" y="227"/>
                  </a:lnTo>
                  <a:lnTo>
                    <a:pt x="0" y="234"/>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1" name="Freeform 523">
              <a:extLst>
                <a:ext uri="{FF2B5EF4-FFF2-40B4-BE49-F238E27FC236}">
                  <a16:creationId xmlns:a16="http://schemas.microsoft.com/office/drawing/2014/main" id="{25FB54E5-C948-8BC3-F07F-10863E545CDD}"/>
                </a:ext>
              </a:extLst>
            </p:cNvPr>
            <p:cNvSpPr>
              <a:spLocks noEditPoints="1"/>
            </p:cNvSpPr>
            <p:nvPr/>
          </p:nvSpPr>
          <p:spPr bwMode="auto">
            <a:xfrm>
              <a:off x="1995" y="1517"/>
              <a:ext cx="444" cy="244"/>
            </a:xfrm>
            <a:custGeom>
              <a:avLst/>
              <a:gdLst>
                <a:gd name="T0" fmla="*/ 444 w 444"/>
                <a:gd name="T1" fmla="*/ 13 h 244"/>
                <a:gd name="T2" fmla="*/ 443 w 444"/>
                <a:gd name="T3" fmla="*/ 12 h 244"/>
                <a:gd name="T4" fmla="*/ 443 w 444"/>
                <a:gd name="T5" fmla="*/ 10 h 244"/>
                <a:gd name="T6" fmla="*/ 441 w 444"/>
                <a:gd name="T7" fmla="*/ 8 h 244"/>
                <a:gd name="T8" fmla="*/ 441 w 444"/>
                <a:gd name="T9" fmla="*/ 7 h 244"/>
                <a:gd name="T10" fmla="*/ 439 w 444"/>
                <a:gd name="T11" fmla="*/ 5 h 244"/>
                <a:gd name="T12" fmla="*/ 438 w 444"/>
                <a:gd name="T13" fmla="*/ 3 h 244"/>
                <a:gd name="T14" fmla="*/ 438 w 444"/>
                <a:gd name="T15" fmla="*/ 2 h 244"/>
                <a:gd name="T16" fmla="*/ 436 w 444"/>
                <a:gd name="T17" fmla="*/ 0 h 244"/>
                <a:gd name="T18" fmla="*/ 433 w 444"/>
                <a:gd name="T19" fmla="*/ 0 h 244"/>
                <a:gd name="T20" fmla="*/ 434 w 444"/>
                <a:gd name="T21" fmla="*/ 3 h 244"/>
                <a:gd name="T22" fmla="*/ 436 w 444"/>
                <a:gd name="T23" fmla="*/ 7 h 244"/>
                <a:gd name="T24" fmla="*/ 438 w 444"/>
                <a:gd name="T25" fmla="*/ 8 h 244"/>
                <a:gd name="T26" fmla="*/ 439 w 444"/>
                <a:gd name="T27" fmla="*/ 12 h 244"/>
                <a:gd name="T28" fmla="*/ 439 w 444"/>
                <a:gd name="T29" fmla="*/ 13 h 244"/>
                <a:gd name="T30" fmla="*/ 441 w 444"/>
                <a:gd name="T31" fmla="*/ 17 h 244"/>
                <a:gd name="T32" fmla="*/ 443 w 444"/>
                <a:gd name="T33" fmla="*/ 18 h 244"/>
                <a:gd name="T34" fmla="*/ 444 w 444"/>
                <a:gd name="T35" fmla="*/ 22 h 244"/>
                <a:gd name="T36" fmla="*/ 444 w 444"/>
                <a:gd name="T37" fmla="*/ 13 h 244"/>
                <a:gd name="T38" fmla="*/ 0 w 444"/>
                <a:gd name="T39" fmla="*/ 229 h 244"/>
                <a:gd name="T40" fmla="*/ 0 w 444"/>
                <a:gd name="T41" fmla="*/ 230 h 244"/>
                <a:gd name="T42" fmla="*/ 2 w 444"/>
                <a:gd name="T43" fmla="*/ 232 h 244"/>
                <a:gd name="T44" fmla="*/ 2 w 444"/>
                <a:gd name="T45" fmla="*/ 234 h 244"/>
                <a:gd name="T46" fmla="*/ 4 w 444"/>
                <a:gd name="T47" fmla="*/ 235 h 244"/>
                <a:gd name="T48" fmla="*/ 4 w 444"/>
                <a:gd name="T49" fmla="*/ 239 h 244"/>
                <a:gd name="T50" fmla="*/ 5 w 444"/>
                <a:gd name="T51" fmla="*/ 240 h 244"/>
                <a:gd name="T52" fmla="*/ 7 w 444"/>
                <a:gd name="T53" fmla="*/ 242 h 244"/>
                <a:gd name="T54" fmla="*/ 7 w 444"/>
                <a:gd name="T55" fmla="*/ 244 h 244"/>
                <a:gd name="T56" fmla="*/ 10 w 444"/>
                <a:gd name="T57" fmla="*/ 242 h 244"/>
                <a:gd name="T58" fmla="*/ 9 w 444"/>
                <a:gd name="T59" fmla="*/ 239 h 244"/>
                <a:gd name="T60" fmla="*/ 7 w 444"/>
                <a:gd name="T61" fmla="*/ 237 h 244"/>
                <a:gd name="T62" fmla="*/ 7 w 444"/>
                <a:gd name="T63" fmla="*/ 234 h 244"/>
                <a:gd name="T64" fmla="*/ 5 w 444"/>
                <a:gd name="T65" fmla="*/ 232 h 244"/>
                <a:gd name="T66" fmla="*/ 4 w 444"/>
                <a:gd name="T67" fmla="*/ 229 h 244"/>
                <a:gd name="T68" fmla="*/ 2 w 444"/>
                <a:gd name="T69" fmla="*/ 227 h 244"/>
                <a:gd name="T70" fmla="*/ 0 w 444"/>
                <a:gd name="T71" fmla="*/ 224 h 244"/>
                <a:gd name="T72" fmla="*/ 0 w 444"/>
                <a:gd name="T73" fmla="*/ 220 h 244"/>
                <a:gd name="T74" fmla="*/ 0 w 444"/>
                <a:gd name="T75" fmla="*/ 229 h 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44">
                  <a:moveTo>
                    <a:pt x="444" y="13"/>
                  </a:moveTo>
                  <a:lnTo>
                    <a:pt x="443" y="12"/>
                  </a:lnTo>
                  <a:lnTo>
                    <a:pt x="443" y="10"/>
                  </a:lnTo>
                  <a:lnTo>
                    <a:pt x="441" y="8"/>
                  </a:lnTo>
                  <a:lnTo>
                    <a:pt x="441" y="7"/>
                  </a:lnTo>
                  <a:lnTo>
                    <a:pt x="439" y="5"/>
                  </a:lnTo>
                  <a:lnTo>
                    <a:pt x="438" y="3"/>
                  </a:lnTo>
                  <a:lnTo>
                    <a:pt x="438" y="2"/>
                  </a:lnTo>
                  <a:lnTo>
                    <a:pt x="436" y="0"/>
                  </a:lnTo>
                  <a:lnTo>
                    <a:pt x="433" y="0"/>
                  </a:lnTo>
                  <a:lnTo>
                    <a:pt x="434" y="3"/>
                  </a:lnTo>
                  <a:lnTo>
                    <a:pt x="436" y="7"/>
                  </a:lnTo>
                  <a:lnTo>
                    <a:pt x="438" y="8"/>
                  </a:lnTo>
                  <a:lnTo>
                    <a:pt x="439" y="12"/>
                  </a:lnTo>
                  <a:lnTo>
                    <a:pt x="439" y="13"/>
                  </a:lnTo>
                  <a:lnTo>
                    <a:pt x="441" y="17"/>
                  </a:lnTo>
                  <a:lnTo>
                    <a:pt x="443" y="18"/>
                  </a:lnTo>
                  <a:lnTo>
                    <a:pt x="444" y="22"/>
                  </a:lnTo>
                  <a:lnTo>
                    <a:pt x="444" y="13"/>
                  </a:lnTo>
                  <a:close/>
                  <a:moveTo>
                    <a:pt x="0" y="229"/>
                  </a:moveTo>
                  <a:lnTo>
                    <a:pt x="0" y="230"/>
                  </a:lnTo>
                  <a:lnTo>
                    <a:pt x="2" y="232"/>
                  </a:lnTo>
                  <a:lnTo>
                    <a:pt x="2" y="234"/>
                  </a:lnTo>
                  <a:lnTo>
                    <a:pt x="4" y="235"/>
                  </a:lnTo>
                  <a:lnTo>
                    <a:pt x="4" y="239"/>
                  </a:lnTo>
                  <a:lnTo>
                    <a:pt x="5" y="240"/>
                  </a:lnTo>
                  <a:lnTo>
                    <a:pt x="7" y="242"/>
                  </a:lnTo>
                  <a:lnTo>
                    <a:pt x="7" y="244"/>
                  </a:lnTo>
                  <a:lnTo>
                    <a:pt x="10" y="242"/>
                  </a:lnTo>
                  <a:lnTo>
                    <a:pt x="9" y="239"/>
                  </a:lnTo>
                  <a:lnTo>
                    <a:pt x="7" y="237"/>
                  </a:lnTo>
                  <a:lnTo>
                    <a:pt x="7" y="234"/>
                  </a:lnTo>
                  <a:lnTo>
                    <a:pt x="5" y="232"/>
                  </a:lnTo>
                  <a:lnTo>
                    <a:pt x="4" y="229"/>
                  </a:lnTo>
                  <a:lnTo>
                    <a:pt x="2" y="227"/>
                  </a:lnTo>
                  <a:lnTo>
                    <a:pt x="0" y="224"/>
                  </a:lnTo>
                  <a:lnTo>
                    <a:pt x="0" y="220"/>
                  </a:lnTo>
                  <a:lnTo>
                    <a:pt x="0" y="229"/>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2" name="Freeform 524">
              <a:extLst>
                <a:ext uri="{FF2B5EF4-FFF2-40B4-BE49-F238E27FC236}">
                  <a16:creationId xmlns:a16="http://schemas.microsoft.com/office/drawing/2014/main" id="{B72E3B11-8034-ECC9-4486-3A5A197A6D42}"/>
                </a:ext>
              </a:extLst>
            </p:cNvPr>
            <p:cNvSpPr>
              <a:spLocks noEditPoints="1"/>
            </p:cNvSpPr>
            <p:nvPr/>
          </p:nvSpPr>
          <p:spPr bwMode="auto">
            <a:xfrm>
              <a:off x="1995" y="1517"/>
              <a:ext cx="444" cy="242"/>
            </a:xfrm>
            <a:custGeom>
              <a:avLst/>
              <a:gdLst>
                <a:gd name="T0" fmla="*/ 444 w 444"/>
                <a:gd name="T1" fmla="*/ 18 h 242"/>
                <a:gd name="T2" fmla="*/ 443 w 444"/>
                <a:gd name="T3" fmla="*/ 15 h 242"/>
                <a:gd name="T4" fmla="*/ 441 w 444"/>
                <a:gd name="T5" fmla="*/ 13 h 242"/>
                <a:gd name="T6" fmla="*/ 441 w 444"/>
                <a:gd name="T7" fmla="*/ 12 h 242"/>
                <a:gd name="T8" fmla="*/ 439 w 444"/>
                <a:gd name="T9" fmla="*/ 8 h 242"/>
                <a:gd name="T10" fmla="*/ 438 w 444"/>
                <a:gd name="T11" fmla="*/ 7 h 242"/>
                <a:gd name="T12" fmla="*/ 438 w 444"/>
                <a:gd name="T13" fmla="*/ 5 h 242"/>
                <a:gd name="T14" fmla="*/ 436 w 444"/>
                <a:gd name="T15" fmla="*/ 2 h 242"/>
                <a:gd name="T16" fmla="*/ 434 w 444"/>
                <a:gd name="T17" fmla="*/ 0 h 242"/>
                <a:gd name="T18" fmla="*/ 431 w 444"/>
                <a:gd name="T19" fmla="*/ 2 h 242"/>
                <a:gd name="T20" fmla="*/ 433 w 444"/>
                <a:gd name="T21" fmla="*/ 5 h 242"/>
                <a:gd name="T22" fmla="*/ 434 w 444"/>
                <a:gd name="T23" fmla="*/ 7 h 242"/>
                <a:gd name="T24" fmla="*/ 436 w 444"/>
                <a:gd name="T25" fmla="*/ 10 h 242"/>
                <a:gd name="T26" fmla="*/ 438 w 444"/>
                <a:gd name="T27" fmla="*/ 13 h 242"/>
                <a:gd name="T28" fmla="*/ 439 w 444"/>
                <a:gd name="T29" fmla="*/ 17 h 242"/>
                <a:gd name="T30" fmla="*/ 441 w 444"/>
                <a:gd name="T31" fmla="*/ 20 h 242"/>
                <a:gd name="T32" fmla="*/ 443 w 444"/>
                <a:gd name="T33" fmla="*/ 23 h 242"/>
                <a:gd name="T34" fmla="*/ 444 w 444"/>
                <a:gd name="T35" fmla="*/ 25 h 242"/>
                <a:gd name="T36" fmla="*/ 444 w 444"/>
                <a:gd name="T37" fmla="*/ 18 h 242"/>
                <a:gd name="T38" fmla="*/ 0 w 444"/>
                <a:gd name="T39" fmla="*/ 225 h 242"/>
                <a:gd name="T40" fmla="*/ 0 w 444"/>
                <a:gd name="T41" fmla="*/ 227 h 242"/>
                <a:gd name="T42" fmla="*/ 2 w 444"/>
                <a:gd name="T43" fmla="*/ 229 h 242"/>
                <a:gd name="T44" fmla="*/ 4 w 444"/>
                <a:gd name="T45" fmla="*/ 232 h 242"/>
                <a:gd name="T46" fmla="*/ 4 w 444"/>
                <a:gd name="T47" fmla="*/ 234 h 242"/>
                <a:gd name="T48" fmla="*/ 5 w 444"/>
                <a:gd name="T49" fmla="*/ 235 h 242"/>
                <a:gd name="T50" fmla="*/ 7 w 444"/>
                <a:gd name="T51" fmla="*/ 239 h 242"/>
                <a:gd name="T52" fmla="*/ 7 w 444"/>
                <a:gd name="T53" fmla="*/ 240 h 242"/>
                <a:gd name="T54" fmla="*/ 9 w 444"/>
                <a:gd name="T55" fmla="*/ 242 h 242"/>
                <a:gd name="T56" fmla="*/ 12 w 444"/>
                <a:gd name="T57" fmla="*/ 240 h 242"/>
                <a:gd name="T58" fmla="*/ 10 w 444"/>
                <a:gd name="T59" fmla="*/ 239 h 242"/>
                <a:gd name="T60" fmla="*/ 9 w 444"/>
                <a:gd name="T61" fmla="*/ 235 h 242"/>
                <a:gd name="T62" fmla="*/ 7 w 444"/>
                <a:gd name="T63" fmla="*/ 232 h 242"/>
                <a:gd name="T64" fmla="*/ 5 w 444"/>
                <a:gd name="T65" fmla="*/ 229 h 242"/>
                <a:gd name="T66" fmla="*/ 4 w 444"/>
                <a:gd name="T67" fmla="*/ 225 h 242"/>
                <a:gd name="T68" fmla="*/ 2 w 444"/>
                <a:gd name="T69" fmla="*/ 224 h 242"/>
                <a:gd name="T70" fmla="*/ 2 w 444"/>
                <a:gd name="T71" fmla="*/ 220 h 242"/>
                <a:gd name="T72" fmla="*/ 0 w 444"/>
                <a:gd name="T73" fmla="*/ 217 h 242"/>
                <a:gd name="T74" fmla="*/ 0 w 444"/>
                <a:gd name="T75" fmla="*/ 225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42">
                  <a:moveTo>
                    <a:pt x="444" y="18"/>
                  </a:moveTo>
                  <a:lnTo>
                    <a:pt x="443" y="15"/>
                  </a:lnTo>
                  <a:lnTo>
                    <a:pt x="441" y="13"/>
                  </a:lnTo>
                  <a:lnTo>
                    <a:pt x="441" y="12"/>
                  </a:lnTo>
                  <a:lnTo>
                    <a:pt x="439" y="8"/>
                  </a:lnTo>
                  <a:lnTo>
                    <a:pt x="438" y="7"/>
                  </a:lnTo>
                  <a:lnTo>
                    <a:pt x="438" y="5"/>
                  </a:lnTo>
                  <a:lnTo>
                    <a:pt x="436" y="2"/>
                  </a:lnTo>
                  <a:lnTo>
                    <a:pt x="434" y="0"/>
                  </a:lnTo>
                  <a:lnTo>
                    <a:pt x="431" y="2"/>
                  </a:lnTo>
                  <a:lnTo>
                    <a:pt x="433" y="5"/>
                  </a:lnTo>
                  <a:lnTo>
                    <a:pt x="434" y="7"/>
                  </a:lnTo>
                  <a:lnTo>
                    <a:pt x="436" y="10"/>
                  </a:lnTo>
                  <a:lnTo>
                    <a:pt x="438" y="13"/>
                  </a:lnTo>
                  <a:lnTo>
                    <a:pt x="439" y="17"/>
                  </a:lnTo>
                  <a:lnTo>
                    <a:pt x="441" y="20"/>
                  </a:lnTo>
                  <a:lnTo>
                    <a:pt x="443" y="23"/>
                  </a:lnTo>
                  <a:lnTo>
                    <a:pt x="444" y="25"/>
                  </a:lnTo>
                  <a:lnTo>
                    <a:pt x="444" y="18"/>
                  </a:lnTo>
                  <a:close/>
                  <a:moveTo>
                    <a:pt x="0" y="225"/>
                  </a:moveTo>
                  <a:lnTo>
                    <a:pt x="0" y="227"/>
                  </a:lnTo>
                  <a:lnTo>
                    <a:pt x="2" y="229"/>
                  </a:lnTo>
                  <a:lnTo>
                    <a:pt x="4" y="232"/>
                  </a:lnTo>
                  <a:lnTo>
                    <a:pt x="4" y="234"/>
                  </a:lnTo>
                  <a:lnTo>
                    <a:pt x="5" y="235"/>
                  </a:lnTo>
                  <a:lnTo>
                    <a:pt x="7" y="239"/>
                  </a:lnTo>
                  <a:lnTo>
                    <a:pt x="7" y="240"/>
                  </a:lnTo>
                  <a:lnTo>
                    <a:pt x="9" y="242"/>
                  </a:lnTo>
                  <a:lnTo>
                    <a:pt x="12" y="240"/>
                  </a:lnTo>
                  <a:lnTo>
                    <a:pt x="10" y="239"/>
                  </a:lnTo>
                  <a:lnTo>
                    <a:pt x="9" y="235"/>
                  </a:lnTo>
                  <a:lnTo>
                    <a:pt x="7" y="232"/>
                  </a:lnTo>
                  <a:lnTo>
                    <a:pt x="5" y="229"/>
                  </a:lnTo>
                  <a:lnTo>
                    <a:pt x="4" y="225"/>
                  </a:lnTo>
                  <a:lnTo>
                    <a:pt x="2" y="224"/>
                  </a:lnTo>
                  <a:lnTo>
                    <a:pt x="2" y="220"/>
                  </a:lnTo>
                  <a:lnTo>
                    <a:pt x="0" y="217"/>
                  </a:lnTo>
                  <a:lnTo>
                    <a:pt x="0" y="225"/>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3" name="Freeform 525">
              <a:extLst>
                <a:ext uri="{FF2B5EF4-FFF2-40B4-BE49-F238E27FC236}">
                  <a16:creationId xmlns:a16="http://schemas.microsoft.com/office/drawing/2014/main" id="{1370E093-B26C-6B4D-5133-F40636554358}"/>
                </a:ext>
              </a:extLst>
            </p:cNvPr>
            <p:cNvSpPr>
              <a:spLocks noEditPoints="1"/>
            </p:cNvSpPr>
            <p:nvPr/>
          </p:nvSpPr>
          <p:spPr bwMode="auto">
            <a:xfrm>
              <a:off x="1995" y="1517"/>
              <a:ext cx="444" cy="242"/>
            </a:xfrm>
            <a:custGeom>
              <a:avLst/>
              <a:gdLst>
                <a:gd name="T0" fmla="*/ 444 w 444"/>
                <a:gd name="T1" fmla="*/ 22 h 242"/>
                <a:gd name="T2" fmla="*/ 443 w 444"/>
                <a:gd name="T3" fmla="*/ 18 h 242"/>
                <a:gd name="T4" fmla="*/ 441 w 444"/>
                <a:gd name="T5" fmla="*/ 17 h 242"/>
                <a:gd name="T6" fmla="*/ 439 w 444"/>
                <a:gd name="T7" fmla="*/ 13 h 242"/>
                <a:gd name="T8" fmla="*/ 439 w 444"/>
                <a:gd name="T9" fmla="*/ 12 h 242"/>
                <a:gd name="T10" fmla="*/ 438 w 444"/>
                <a:gd name="T11" fmla="*/ 8 h 242"/>
                <a:gd name="T12" fmla="*/ 436 w 444"/>
                <a:gd name="T13" fmla="*/ 7 h 242"/>
                <a:gd name="T14" fmla="*/ 434 w 444"/>
                <a:gd name="T15" fmla="*/ 3 h 242"/>
                <a:gd name="T16" fmla="*/ 433 w 444"/>
                <a:gd name="T17" fmla="*/ 0 h 242"/>
                <a:gd name="T18" fmla="*/ 431 w 444"/>
                <a:gd name="T19" fmla="*/ 2 h 242"/>
                <a:gd name="T20" fmla="*/ 433 w 444"/>
                <a:gd name="T21" fmla="*/ 5 h 242"/>
                <a:gd name="T22" fmla="*/ 434 w 444"/>
                <a:gd name="T23" fmla="*/ 8 h 242"/>
                <a:gd name="T24" fmla="*/ 436 w 444"/>
                <a:gd name="T25" fmla="*/ 12 h 242"/>
                <a:gd name="T26" fmla="*/ 438 w 444"/>
                <a:gd name="T27" fmla="*/ 17 h 242"/>
                <a:gd name="T28" fmla="*/ 439 w 444"/>
                <a:gd name="T29" fmla="*/ 20 h 242"/>
                <a:gd name="T30" fmla="*/ 441 w 444"/>
                <a:gd name="T31" fmla="*/ 23 h 242"/>
                <a:gd name="T32" fmla="*/ 443 w 444"/>
                <a:gd name="T33" fmla="*/ 27 h 242"/>
                <a:gd name="T34" fmla="*/ 444 w 444"/>
                <a:gd name="T35" fmla="*/ 30 h 242"/>
                <a:gd name="T36" fmla="*/ 444 w 444"/>
                <a:gd name="T37" fmla="*/ 22 h 242"/>
                <a:gd name="T38" fmla="*/ 0 w 444"/>
                <a:gd name="T39" fmla="*/ 220 h 242"/>
                <a:gd name="T40" fmla="*/ 0 w 444"/>
                <a:gd name="T41" fmla="*/ 224 h 242"/>
                <a:gd name="T42" fmla="*/ 2 w 444"/>
                <a:gd name="T43" fmla="*/ 227 h 242"/>
                <a:gd name="T44" fmla="*/ 4 w 444"/>
                <a:gd name="T45" fmla="*/ 229 h 242"/>
                <a:gd name="T46" fmla="*/ 5 w 444"/>
                <a:gd name="T47" fmla="*/ 232 h 242"/>
                <a:gd name="T48" fmla="*/ 7 w 444"/>
                <a:gd name="T49" fmla="*/ 234 h 242"/>
                <a:gd name="T50" fmla="*/ 7 w 444"/>
                <a:gd name="T51" fmla="*/ 237 h 242"/>
                <a:gd name="T52" fmla="*/ 9 w 444"/>
                <a:gd name="T53" fmla="*/ 239 h 242"/>
                <a:gd name="T54" fmla="*/ 10 w 444"/>
                <a:gd name="T55" fmla="*/ 242 h 242"/>
                <a:gd name="T56" fmla="*/ 14 w 444"/>
                <a:gd name="T57" fmla="*/ 240 h 242"/>
                <a:gd name="T58" fmla="*/ 12 w 444"/>
                <a:gd name="T59" fmla="*/ 237 h 242"/>
                <a:gd name="T60" fmla="*/ 10 w 444"/>
                <a:gd name="T61" fmla="*/ 234 h 242"/>
                <a:gd name="T62" fmla="*/ 9 w 444"/>
                <a:gd name="T63" fmla="*/ 230 h 242"/>
                <a:gd name="T64" fmla="*/ 7 w 444"/>
                <a:gd name="T65" fmla="*/ 227 h 242"/>
                <a:gd name="T66" fmla="*/ 5 w 444"/>
                <a:gd name="T67" fmla="*/ 224 h 242"/>
                <a:gd name="T68" fmla="*/ 4 w 444"/>
                <a:gd name="T69" fmla="*/ 220 h 242"/>
                <a:gd name="T70" fmla="*/ 2 w 444"/>
                <a:gd name="T71" fmla="*/ 215 h 242"/>
                <a:gd name="T72" fmla="*/ 0 w 444"/>
                <a:gd name="T73" fmla="*/ 212 h 242"/>
                <a:gd name="T74" fmla="*/ 0 w 444"/>
                <a:gd name="T75" fmla="*/ 220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42">
                  <a:moveTo>
                    <a:pt x="444" y="22"/>
                  </a:moveTo>
                  <a:lnTo>
                    <a:pt x="443" y="18"/>
                  </a:lnTo>
                  <a:lnTo>
                    <a:pt x="441" y="17"/>
                  </a:lnTo>
                  <a:lnTo>
                    <a:pt x="439" y="13"/>
                  </a:lnTo>
                  <a:lnTo>
                    <a:pt x="439" y="12"/>
                  </a:lnTo>
                  <a:lnTo>
                    <a:pt x="438" y="8"/>
                  </a:lnTo>
                  <a:lnTo>
                    <a:pt x="436" y="7"/>
                  </a:lnTo>
                  <a:lnTo>
                    <a:pt x="434" y="3"/>
                  </a:lnTo>
                  <a:lnTo>
                    <a:pt x="433" y="0"/>
                  </a:lnTo>
                  <a:lnTo>
                    <a:pt x="431" y="2"/>
                  </a:lnTo>
                  <a:lnTo>
                    <a:pt x="433" y="5"/>
                  </a:lnTo>
                  <a:lnTo>
                    <a:pt x="434" y="8"/>
                  </a:lnTo>
                  <a:lnTo>
                    <a:pt x="436" y="12"/>
                  </a:lnTo>
                  <a:lnTo>
                    <a:pt x="438" y="17"/>
                  </a:lnTo>
                  <a:lnTo>
                    <a:pt x="439" y="20"/>
                  </a:lnTo>
                  <a:lnTo>
                    <a:pt x="441" y="23"/>
                  </a:lnTo>
                  <a:lnTo>
                    <a:pt x="443" y="27"/>
                  </a:lnTo>
                  <a:lnTo>
                    <a:pt x="444" y="30"/>
                  </a:lnTo>
                  <a:lnTo>
                    <a:pt x="444" y="22"/>
                  </a:lnTo>
                  <a:close/>
                  <a:moveTo>
                    <a:pt x="0" y="220"/>
                  </a:moveTo>
                  <a:lnTo>
                    <a:pt x="0" y="224"/>
                  </a:lnTo>
                  <a:lnTo>
                    <a:pt x="2" y="227"/>
                  </a:lnTo>
                  <a:lnTo>
                    <a:pt x="4" y="229"/>
                  </a:lnTo>
                  <a:lnTo>
                    <a:pt x="5" y="232"/>
                  </a:lnTo>
                  <a:lnTo>
                    <a:pt x="7" y="234"/>
                  </a:lnTo>
                  <a:lnTo>
                    <a:pt x="7" y="237"/>
                  </a:lnTo>
                  <a:lnTo>
                    <a:pt x="9" y="239"/>
                  </a:lnTo>
                  <a:lnTo>
                    <a:pt x="10" y="242"/>
                  </a:lnTo>
                  <a:lnTo>
                    <a:pt x="14" y="240"/>
                  </a:lnTo>
                  <a:lnTo>
                    <a:pt x="12" y="237"/>
                  </a:lnTo>
                  <a:lnTo>
                    <a:pt x="10" y="234"/>
                  </a:lnTo>
                  <a:lnTo>
                    <a:pt x="9" y="230"/>
                  </a:lnTo>
                  <a:lnTo>
                    <a:pt x="7" y="227"/>
                  </a:lnTo>
                  <a:lnTo>
                    <a:pt x="5" y="224"/>
                  </a:lnTo>
                  <a:lnTo>
                    <a:pt x="4" y="220"/>
                  </a:lnTo>
                  <a:lnTo>
                    <a:pt x="2" y="215"/>
                  </a:lnTo>
                  <a:lnTo>
                    <a:pt x="0" y="212"/>
                  </a:lnTo>
                  <a:lnTo>
                    <a:pt x="0" y="22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4" name="Freeform 526">
              <a:extLst>
                <a:ext uri="{FF2B5EF4-FFF2-40B4-BE49-F238E27FC236}">
                  <a16:creationId xmlns:a16="http://schemas.microsoft.com/office/drawing/2014/main" id="{29CFEA29-E31C-3CFD-E552-A0B476621F99}"/>
                </a:ext>
              </a:extLst>
            </p:cNvPr>
            <p:cNvSpPr>
              <a:spLocks noEditPoints="1"/>
            </p:cNvSpPr>
            <p:nvPr/>
          </p:nvSpPr>
          <p:spPr bwMode="auto">
            <a:xfrm>
              <a:off x="1995" y="1519"/>
              <a:ext cx="444" cy="238"/>
            </a:xfrm>
            <a:custGeom>
              <a:avLst/>
              <a:gdLst>
                <a:gd name="T0" fmla="*/ 444 w 444"/>
                <a:gd name="T1" fmla="*/ 23 h 238"/>
                <a:gd name="T2" fmla="*/ 443 w 444"/>
                <a:gd name="T3" fmla="*/ 21 h 238"/>
                <a:gd name="T4" fmla="*/ 441 w 444"/>
                <a:gd name="T5" fmla="*/ 18 h 238"/>
                <a:gd name="T6" fmla="*/ 439 w 444"/>
                <a:gd name="T7" fmla="*/ 15 h 238"/>
                <a:gd name="T8" fmla="*/ 438 w 444"/>
                <a:gd name="T9" fmla="*/ 11 h 238"/>
                <a:gd name="T10" fmla="*/ 436 w 444"/>
                <a:gd name="T11" fmla="*/ 8 h 238"/>
                <a:gd name="T12" fmla="*/ 434 w 444"/>
                <a:gd name="T13" fmla="*/ 5 h 238"/>
                <a:gd name="T14" fmla="*/ 433 w 444"/>
                <a:gd name="T15" fmla="*/ 3 h 238"/>
                <a:gd name="T16" fmla="*/ 431 w 444"/>
                <a:gd name="T17" fmla="*/ 0 h 238"/>
                <a:gd name="T18" fmla="*/ 429 w 444"/>
                <a:gd name="T19" fmla="*/ 1 h 238"/>
                <a:gd name="T20" fmla="*/ 431 w 444"/>
                <a:gd name="T21" fmla="*/ 5 h 238"/>
                <a:gd name="T22" fmla="*/ 433 w 444"/>
                <a:gd name="T23" fmla="*/ 8 h 238"/>
                <a:gd name="T24" fmla="*/ 434 w 444"/>
                <a:gd name="T25" fmla="*/ 13 h 238"/>
                <a:gd name="T26" fmla="*/ 438 w 444"/>
                <a:gd name="T27" fmla="*/ 16 h 238"/>
                <a:gd name="T28" fmla="*/ 439 w 444"/>
                <a:gd name="T29" fmla="*/ 20 h 238"/>
                <a:gd name="T30" fmla="*/ 441 w 444"/>
                <a:gd name="T31" fmla="*/ 25 h 238"/>
                <a:gd name="T32" fmla="*/ 443 w 444"/>
                <a:gd name="T33" fmla="*/ 28 h 238"/>
                <a:gd name="T34" fmla="*/ 444 w 444"/>
                <a:gd name="T35" fmla="*/ 33 h 238"/>
                <a:gd name="T36" fmla="*/ 444 w 444"/>
                <a:gd name="T37" fmla="*/ 23 h 238"/>
                <a:gd name="T38" fmla="*/ 0 w 444"/>
                <a:gd name="T39" fmla="*/ 215 h 238"/>
                <a:gd name="T40" fmla="*/ 2 w 444"/>
                <a:gd name="T41" fmla="*/ 218 h 238"/>
                <a:gd name="T42" fmla="*/ 2 w 444"/>
                <a:gd name="T43" fmla="*/ 222 h 238"/>
                <a:gd name="T44" fmla="*/ 4 w 444"/>
                <a:gd name="T45" fmla="*/ 223 h 238"/>
                <a:gd name="T46" fmla="*/ 5 w 444"/>
                <a:gd name="T47" fmla="*/ 227 h 238"/>
                <a:gd name="T48" fmla="*/ 7 w 444"/>
                <a:gd name="T49" fmla="*/ 230 h 238"/>
                <a:gd name="T50" fmla="*/ 9 w 444"/>
                <a:gd name="T51" fmla="*/ 233 h 238"/>
                <a:gd name="T52" fmla="*/ 10 w 444"/>
                <a:gd name="T53" fmla="*/ 237 h 238"/>
                <a:gd name="T54" fmla="*/ 12 w 444"/>
                <a:gd name="T55" fmla="*/ 238 h 238"/>
                <a:gd name="T56" fmla="*/ 15 w 444"/>
                <a:gd name="T57" fmla="*/ 238 h 238"/>
                <a:gd name="T58" fmla="*/ 14 w 444"/>
                <a:gd name="T59" fmla="*/ 233 h 238"/>
                <a:gd name="T60" fmla="*/ 10 w 444"/>
                <a:gd name="T61" fmla="*/ 230 h 238"/>
                <a:gd name="T62" fmla="*/ 9 w 444"/>
                <a:gd name="T63" fmla="*/ 227 h 238"/>
                <a:gd name="T64" fmla="*/ 7 w 444"/>
                <a:gd name="T65" fmla="*/ 222 h 238"/>
                <a:gd name="T66" fmla="*/ 5 w 444"/>
                <a:gd name="T67" fmla="*/ 218 h 238"/>
                <a:gd name="T68" fmla="*/ 4 w 444"/>
                <a:gd name="T69" fmla="*/ 215 h 238"/>
                <a:gd name="T70" fmla="*/ 2 w 444"/>
                <a:gd name="T71" fmla="*/ 210 h 238"/>
                <a:gd name="T72" fmla="*/ 0 w 444"/>
                <a:gd name="T73" fmla="*/ 207 h 238"/>
                <a:gd name="T74" fmla="*/ 0 w 444"/>
                <a:gd name="T75" fmla="*/ 215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38">
                  <a:moveTo>
                    <a:pt x="444" y="23"/>
                  </a:moveTo>
                  <a:lnTo>
                    <a:pt x="443" y="21"/>
                  </a:lnTo>
                  <a:lnTo>
                    <a:pt x="441" y="18"/>
                  </a:lnTo>
                  <a:lnTo>
                    <a:pt x="439" y="15"/>
                  </a:lnTo>
                  <a:lnTo>
                    <a:pt x="438" y="11"/>
                  </a:lnTo>
                  <a:lnTo>
                    <a:pt x="436" y="8"/>
                  </a:lnTo>
                  <a:lnTo>
                    <a:pt x="434" y="5"/>
                  </a:lnTo>
                  <a:lnTo>
                    <a:pt x="433" y="3"/>
                  </a:lnTo>
                  <a:lnTo>
                    <a:pt x="431" y="0"/>
                  </a:lnTo>
                  <a:lnTo>
                    <a:pt x="429" y="1"/>
                  </a:lnTo>
                  <a:lnTo>
                    <a:pt x="431" y="5"/>
                  </a:lnTo>
                  <a:lnTo>
                    <a:pt x="433" y="8"/>
                  </a:lnTo>
                  <a:lnTo>
                    <a:pt x="434" y="13"/>
                  </a:lnTo>
                  <a:lnTo>
                    <a:pt x="438" y="16"/>
                  </a:lnTo>
                  <a:lnTo>
                    <a:pt x="439" y="20"/>
                  </a:lnTo>
                  <a:lnTo>
                    <a:pt x="441" y="25"/>
                  </a:lnTo>
                  <a:lnTo>
                    <a:pt x="443" y="28"/>
                  </a:lnTo>
                  <a:lnTo>
                    <a:pt x="444" y="33"/>
                  </a:lnTo>
                  <a:lnTo>
                    <a:pt x="444" y="23"/>
                  </a:lnTo>
                  <a:close/>
                  <a:moveTo>
                    <a:pt x="0" y="215"/>
                  </a:moveTo>
                  <a:lnTo>
                    <a:pt x="2" y="218"/>
                  </a:lnTo>
                  <a:lnTo>
                    <a:pt x="2" y="222"/>
                  </a:lnTo>
                  <a:lnTo>
                    <a:pt x="4" y="223"/>
                  </a:lnTo>
                  <a:lnTo>
                    <a:pt x="5" y="227"/>
                  </a:lnTo>
                  <a:lnTo>
                    <a:pt x="7" y="230"/>
                  </a:lnTo>
                  <a:lnTo>
                    <a:pt x="9" y="233"/>
                  </a:lnTo>
                  <a:lnTo>
                    <a:pt x="10" y="237"/>
                  </a:lnTo>
                  <a:lnTo>
                    <a:pt x="12" y="238"/>
                  </a:lnTo>
                  <a:lnTo>
                    <a:pt x="15" y="238"/>
                  </a:lnTo>
                  <a:lnTo>
                    <a:pt x="14" y="233"/>
                  </a:lnTo>
                  <a:lnTo>
                    <a:pt x="10" y="230"/>
                  </a:lnTo>
                  <a:lnTo>
                    <a:pt x="9" y="227"/>
                  </a:lnTo>
                  <a:lnTo>
                    <a:pt x="7" y="222"/>
                  </a:lnTo>
                  <a:lnTo>
                    <a:pt x="5" y="218"/>
                  </a:lnTo>
                  <a:lnTo>
                    <a:pt x="4" y="215"/>
                  </a:lnTo>
                  <a:lnTo>
                    <a:pt x="2" y="210"/>
                  </a:lnTo>
                  <a:lnTo>
                    <a:pt x="0" y="207"/>
                  </a:lnTo>
                  <a:lnTo>
                    <a:pt x="0" y="215"/>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5" name="Freeform 527">
              <a:extLst>
                <a:ext uri="{FF2B5EF4-FFF2-40B4-BE49-F238E27FC236}">
                  <a16:creationId xmlns:a16="http://schemas.microsoft.com/office/drawing/2014/main" id="{D03A50FC-A2C0-3688-6805-755D784918C1}"/>
                </a:ext>
              </a:extLst>
            </p:cNvPr>
            <p:cNvSpPr>
              <a:spLocks noEditPoints="1"/>
            </p:cNvSpPr>
            <p:nvPr/>
          </p:nvSpPr>
          <p:spPr bwMode="auto">
            <a:xfrm>
              <a:off x="1995" y="1519"/>
              <a:ext cx="444" cy="238"/>
            </a:xfrm>
            <a:custGeom>
              <a:avLst/>
              <a:gdLst>
                <a:gd name="T0" fmla="*/ 444 w 444"/>
                <a:gd name="T1" fmla="*/ 28 h 238"/>
                <a:gd name="T2" fmla="*/ 443 w 444"/>
                <a:gd name="T3" fmla="*/ 25 h 238"/>
                <a:gd name="T4" fmla="*/ 441 w 444"/>
                <a:gd name="T5" fmla="*/ 21 h 238"/>
                <a:gd name="T6" fmla="*/ 439 w 444"/>
                <a:gd name="T7" fmla="*/ 18 h 238"/>
                <a:gd name="T8" fmla="*/ 438 w 444"/>
                <a:gd name="T9" fmla="*/ 13 h 238"/>
                <a:gd name="T10" fmla="*/ 436 w 444"/>
                <a:gd name="T11" fmla="*/ 10 h 238"/>
                <a:gd name="T12" fmla="*/ 434 w 444"/>
                <a:gd name="T13" fmla="*/ 6 h 238"/>
                <a:gd name="T14" fmla="*/ 433 w 444"/>
                <a:gd name="T15" fmla="*/ 3 h 238"/>
                <a:gd name="T16" fmla="*/ 431 w 444"/>
                <a:gd name="T17" fmla="*/ 0 h 238"/>
                <a:gd name="T18" fmla="*/ 428 w 444"/>
                <a:gd name="T19" fmla="*/ 1 h 238"/>
                <a:gd name="T20" fmla="*/ 429 w 444"/>
                <a:gd name="T21" fmla="*/ 6 h 238"/>
                <a:gd name="T22" fmla="*/ 433 w 444"/>
                <a:gd name="T23" fmla="*/ 10 h 238"/>
                <a:gd name="T24" fmla="*/ 434 w 444"/>
                <a:gd name="T25" fmla="*/ 15 h 238"/>
                <a:gd name="T26" fmla="*/ 436 w 444"/>
                <a:gd name="T27" fmla="*/ 20 h 238"/>
                <a:gd name="T28" fmla="*/ 438 w 444"/>
                <a:gd name="T29" fmla="*/ 23 h 238"/>
                <a:gd name="T30" fmla="*/ 441 w 444"/>
                <a:gd name="T31" fmla="*/ 28 h 238"/>
                <a:gd name="T32" fmla="*/ 443 w 444"/>
                <a:gd name="T33" fmla="*/ 33 h 238"/>
                <a:gd name="T34" fmla="*/ 444 w 444"/>
                <a:gd name="T35" fmla="*/ 38 h 238"/>
                <a:gd name="T36" fmla="*/ 444 w 444"/>
                <a:gd name="T37" fmla="*/ 28 h 238"/>
                <a:gd name="T38" fmla="*/ 0 w 444"/>
                <a:gd name="T39" fmla="*/ 210 h 238"/>
                <a:gd name="T40" fmla="*/ 2 w 444"/>
                <a:gd name="T41" fmla="*/ 213 h 238"/>
                <a:gd name="T42" fmla="*/ 4 w 444"/>
                <a:gd name="T43" fmla="*/ 218 h 238"/>
                <a:gd name="T44" fmla="*/ 5 w 444"/>
                <a:gd name="T45" fmla="*/ 222 h 238"/>
                <a:gd name="T46" fmla="*/ 7 w 444"/>
                <a:gd name="T47" fmla="*/ 225 h 238"/>
                <a:gd name="T48" fmla="*/ 9 w 444"/>
                <a:gd name="T49" fmla="*/ 228 h 238"/>
                <a:gd name="T50" fmla="*/ 10 w 444"/>
                <a:gd name="T51" fmla="*/ 232 h 238"/>
                <a:gd name="T52" fmla="*/ 12 w 444"/>
                <a:gd name="T53" fmla="*/ 235 h 238"/>
                <a:gd name="T54" fmla="*/ 14 w 444"/>
                <a:gd name="T55" fmla="*/ 238 h 238"/>
                <a:gd name="T56" fmla="*/ 17 w 444"/>
                <a:gd name="T57" fmla="*/ 237 h 238"/>
                <a:gd name="T58" fmla="*/ 14 w 444"/>
                <a:gd name="T59" fmla="*/ 233 h 238"/>
                <a:gd name="T60" fmla="*/ 12 w 444"/>
                <a:gd name="T61" fmla="*/ 228 h 238"/>
                <a:gd name="T62" fmla="*/ 10 w 444"/>
                <a:gd name="T63" fmla="*/ 223 h 238"/>
                <a:gd name="T64" fmla="*/ 7 w 444"/>
                <a:gd name="T65" fmla="*/ 220 h 238"/>
                <a:gd name="T66" fmla="*/ 5 w 444"/>
                <a:gd name="T67" fmla="*/ 215 h 238"/>
                <a:gd name="T68" fmla="*/ 4 w 444"/>
                <a:gd name="T69" fmla="*/ 210 h 238"/>
                <a:gd name="T70" fmla="*/ 2 w 444"/>
                <a:gd name="T71" fmla="*/ 207 h 238"/>
                <a:gd name="T72" fmla="*/ 0 w 444"/>
                <a:gd name="T73" fmla="*/ 202 h 238"/>
                <a:gd name="T74" fmla="*/ 0 w 444"/>
                <a:gd name="T75" fmla="*/ 210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38">
                  <a:moveTo>
                    <a:pt x="444" y="28"/>
                  </a:moveTo>
                  <a:lnTo>
                    <a:pt x="443" y="25"/>
                  </a:lnTo>
                  <a:lnTo>
                    <a:pt x="441" y="21"/>
                  </a:lnTo>
                  <a:lnTo>
                    <a:pt x="439" y="18"/>
                  </a:lnTo>
                  <a:lnTo>
                    <a:pt x="438" y="13"/>
                  </a:lnTo>
                  <a:lnTo>
                    <a:pt x="436" y="10"/>
                  </a:lnTo>
                  <a:lnTo>
                    <a:pt x="434" y="6"/>
                  </a:lnTo>
                  <a:lnTo>
                    <a:pt x="433" y="3"/>
                  </a:lnTo>
                  <a:lnTo>
                    <a:pt x="431" y="0"/>
                  </a:lnTo>
                  <a:lnTo>
                    <a:pt x="428" y="1"/>
                  </a:lnTo>
                  <a:lnTo>
                    <a:pt x="429" y="6"/>
                  </a:lnTo>
                  <a:lnTo>
                    <a:pt x="433" y="10"/>
                  </a:lnTo>
                  <a:lnTo>
                    <a:pt x="434" y="15"/>
                  </a:lnTo>
                  <a:lnTo>
                    <a:pt x="436" y="20"/>
                  </a:lnTo>
                  <a:lnTo>
                    <a:pt x="438" y="23"/>
                  </a:lnTo>
                  <a:lnTo>
                    <a:pt x="441" y="28"/>
                  </a:lnTo>
                  <a:lnTo>
                    <a:pt x="443" y="33"/>
                  </a:lnTo>
                  <a:lnTo>
                    <a:pt x="444" y="38"/>
                  </a:lnTo>
                  <a:lnTo>
                    <a:pt x="444" y="28"/>
                  </a:lnTo>
                  <a:close/>
                  <a:moveTo>
                    <a:pt x="0" y="210"/>
                  </a:moveTo>
                  <a:lnTo>
                    <a:pt x="2" y="213"/>
                  </a:lnTo>
                  <a:lnTo>
                    <a:pt x="4" y="218"/>
                  </a:lnTo>
                  <a:lnTo>
                    <a:pt x="5" y="222"/>
                  </a:lnTo>
                  <a:lnTo>
                    <a:pt x="7" y="225"/>
                  </a:lnTo>
                  <a:lnTo>
                    <a:pt x="9" y="228"/>
                  </a:lnTo>
                  <a:lnTo>
                    <a:pt x="10" y="232"/>
                  </a:lnTo>
                  <a:lnTo>
                    <a:pt x="12" y="235"/>
                  </a:lnTo>
                  <a:lnTo>
                    <a:pt x="14" y="238"/>
                  </a:lnTo>
                  <a:lnTo>
                    <a:pt x="17" y="237"/>
                  </a:lnTo>
                  <a:lnTo>
                    <a:pt x="14" y="233"/>
                  </a:lnTo>
                  <a:lnTo>
                    <a:pt x="12" y="228"/>
                  </a:lnTo>
                  <a:lnTo>
                    <a:pt x="10" y="223"/>
                  </a:lnTo>
                  <a:lnTo>
                    <a:pt x="7" y="220"/>
                  </a:lnTo>
                  <a:lnTo>
                    <a:pt x="5" y="215"/>
                  </a:lnTo>
                  <a:lnTo>
                    <a:pt x="4" y="210"/>
                  </a:lnTo>
                  <a:lnTo>
                    <a:pt x="2" y="207"/>
                  </a:lnTo>
                  <a:lnTo>
                    <a:pt x="0" y="202"/>
                  </a:lnTo>
                  <a:lnTo>
                    <a:pt x="0" y="21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6" name="Freeform 528">
              <a:extLst>
                <a:ext uri="{FF2B5EF4-FFF2-40B4-BE49-F238E27FC236}">
                  <a16:creationId xmlns:a16="http://schemas.microsoft.com/office/drawing/2014/main" id="{D990387B-C133-EACF-8A5D-41E1D4E4191C}"/>
                </a:ext>
              </a:extLst>
            </p:cNvPr>
            <p:cNvSpPr>
              <a:spLocks noEditPoints="1"/>
            </p:cNvSpPr>
            <p:nvPr/>
          </p:nvSpPr>
          <p:spPr bwMode="auto">
            <a:xfrm>
              <a:off x="1995" y="1520"/>
              <a:ext cx="444" cy="237"/>
            </a:xfrm>
            <a:custGeom>
              <a:avLst/>
              <a:gdLst>
                <a:gd name="T0" fmla="*/ 444 w 444"/>
                <a:gd name="T1" fmla="*/ 32 h 237"/>
                <a:gd name="T2" fmla="*/ 443 w 444"/>
                <a:gd name="T3" fmla="*/ 27 h 237"/>
                <a:gd name="T4" fmla="*/ 441 w 444"/>
                <a:gd name="T5" fmla="*/ 24 h 237"/>
                <a:gd name="T6" fmla="*/ 439 w 444"/>
                <a:gd name="T7" fmla="*/ 19 h 237"/>
                <a:gd name="T8" fmla="*/ 438 w 444"/>
                <a:gd name="T9" fmla="*/ 15 h 237"/>
                <a:gd name="T10" fmla="*/ 434 w 444"/>
                <a:gd name="T11" fmla="*/ 12 h 237"/>
                <a:gd name="T12" fmla="*/ 433 w 444"/>
                <a:gd name="T13" fmla="*/ 7 h 237"/>
                <a:gd name="T14" fmla="*/ 431 w 444"/>
                <a:gd name="T15" fmla="*/ 4 h 237"/>
                <a:gd name="T16" fmla="*/ 429 w 444"/>
                <a:gd name="T17" fmla="*/ 0 h 237"/>
                <a:gd name="T18" fmla="*/ 426 w 444"/>
                <a:gd name="T19" fmla="*/ 2 h 237"/>
                <a:gd name="T20" fmla="*/ 428 w 444"/>
                <a:gd name="T21" fmla="*/ 5 h 237"/>
                <a:gd name="T22" fmla="*/ 431 w 444"/>
                <a:gd name="T23" fmla="*/ 10 h 237"/>
                <a:gd name="T24" fmla="*/ 433 w 444"/>
                <a:gd name="T25" fmla="*/ 15 h 237"/>
                <a:gd name="T26" fmla="*/ 436 w 444"/>
                <a:gd name="T27" fmla="*/ 20 h 237"/>
                <a:gd name="T28" fmla="*/ 438 w 444"/>
                <a:gd name="T29" fmla="*/ 25 h 237"/>
                <a:gd name="T30" fmla="*/ 439 w 444"/>
                <a:gd name="T31" fmla="*/ 30 h 237"/>
                <a:gd name="T32" fmla="*/ 443 w 444"/>
                <a:gd name="T33" fmla="*/ 35 h 237"/>
                <a:gd name="T34" fmla="*/ 444 w 444"/>
                <a:gd name="T35" fmla="*/ 40 h 237"/>
                <a:gd name="T36" fmla="*/ 444 w 444"/>
                <a:gd name="T37" fmla="*/ 32 h 237"/>
                <a:gd name="T38" fmla="*/ 0 w 444"/>
                <a:gd name="T39" fmla="*/ 206 h 237"/>
                <a:gd name="T40" fmla="*/ 2 w 444"/>
                <a:gd name="T41" fmla="*/ 209 h 237"/>
                <a:gd name="T42" fmla="*/ 4 w 444"/>
                <a:gd name="T43" fmla="*/ 214 h 237"/>
                <a:gd name="T44" fmla="*/ 5 w 444"/>
                <a:gd name="T45" fmla="*/ 217 h 237"/>
                <a:gd name="T46" fmla="*/ 7 w 444"/>
                <a:gd name="T47" fmla="*/ 221 h 237"/>
                <a:gd name="T48" fmla="*/ 9 w 444"/>
                <a:gd name="T49" fmla="*/ 226 h 237"/>
                <a:gd name="T50" fmla="*/ 10 w 444"/>
                <a:gd name="T51" fmla="*/ 229 h 237"/>
                <a:gd name="T52" fmla="*/ 14 w 444"/>
                <a:gd name="T53" fmla="*/ 232 h 237"/>
                <a:gd name="T54" fmla="*/ 15 w 444"/>
                <a:gd name="T55" fmla="*/ 237 h 237"/>
                <a:gd name="T56" fmla="*/ 19 w 444"/>
                <a:gd name="T57" fmla="*/ 236 h 237"/>
                <a:gd name="T58" fmla="*/ 15 w 444"/>
                <a:gd name="T59" fmla="*/ 231 h 237"/>
                <a:gd name="T60" fmla="*/ 14 w 444"/>
                <a:gd name="T61" fmla="*/ 226 h 237"/>
                <a:gd name="T62" fmla="*/ 10 w 444"/>
                <a:gd name="T63" fmla="*/ 221 h 237"/>
                <a:gd name="T64" fmla="*/ 9 w 444"/>
                <a:gd name="T65" fmla="*/ 216 h 237"/>
                <a:gd name="T66" fmla="*/ 5 w 444"/>
                <a:gd name="T67" fmla="*/ 211 h 237"/>
                <a:gd name="T68" fmla="*/ 4 w 444"/>
                <a:gd name="T69" fmla="*/ 206 h 237"/>
                <a:gd name="T70" fmla="*/ 2 w 444"/>
                <a:gd name="T71" fmla="*/ 201 h 237"/>
                <a:gd name="T72" fmla="*/ 0 w 444"/>
                <a:gd name="T73" fmla="*/ 196 h 237"/>
                <a:gd name="T74" fmla="*/ 0 w 444"/>
                <a:gd name="T75" fmla="*/ 206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37">
                  <a:moveTo>
                    <a:pt x="444" y="32"/>
                  </a:moveTo>
                  <a:lnTo>
                    <a:pt x="443" y="27"/>
                  </a:lnTo>
                  <a:lnTo>
                    <a:pt x="441" y="24"/>
                  </a:lnTo>
                  <a:lnTo>
                    <a:pt x="439" y="19"/>
                  </a:lnTo>
                  <a:lnTo>
                    <a:pt x="438" y="15"/>
                  </a:lnTo>
                  <a:lnTo>
                    <a:pt x="434" y="12"/>
                  </a:lnTo>
                  <a:lnTo>
                    <a:pt x="433" y="7"/>
                  </a:lnTo>
                  <a:lnTo>
                    <a:pt x="431" y="4"/>
                  </a:lnTo>
                  <a:lnTo>
                    <a:pt x="429" y="0"/>
                  </a:lnTo>
                  <a:lnTo>
                    <a:pt x="426" y="2"/>
                  </a:lnTo>
                  <a:lnTo>
                    <a:pt x="428" y="5"/>
                  </a:lnTo>
                  <a:lnTo>
                    <a:pt x="431" y="10"/>
                  </a:lnTo>
                  <a:lnTo>
                    <a:pt x="433" y="15"/>
                  </a:lnTo>
                  <a:lnTo>
                    <a:pt x="436" y="20"/>
                  </a:lnTo>
                  <a:lnTo>
                    <a:pt x="438" y="25"/>
                  </a:lnTo>
                  <a:lnTo>
                    <a:pt x="439" y="30"/>
                  </a:lnTo>
                  <a:lnTo>
                    <a:pt x="443" y="35"/>
                  </a:lnTo>
                  <a:lnTo>
                    <a:pt x="444" y="40"/>
                  </a:lnTo>
                  <a:lnTo>
                    <a:pt x="444" y="32"/>
                  </a:lnTo>
                  <a:close/>
                  <a:moveTo>
                    <a:pt x="0" y="206"/>
                  </a:moveTo>
                  <a:lnTo>
                    <a:pt x="2" y="209"/>
                  </a:lnTo>
                  <a:lnTo>
                    <a:pt x="4" y="214"/>
                  </a:lnTo>
                  <a:lnTo>
                    <a:pt x="5" y="217"/>
                  </a:lnTo>
                  <a:lnTo>
                    <a:pt x="7" y="221"/>
                  </a:lnTo>
                  <a:lnTo>
                    <a:pt x="9" y="226"/>
                  </a:lnTo>
                  <a:lnTo>
                    <a:pt x="10" y="229"/>
                  </a:lnTo>
                  <a:lnTo>
                    <a:pt x="14" y="232"/>
                  </a:lnTo>
                  <a:lnTo>
                    <a:pt x="15" y="237"/>
                  </a:lnTo>
                  <a:lnTo>
                    <a:pt x="19" y="236"/>
                  </a:lnTo>
                  <a:lnTo>
                    <a:pt x="15" y="231"/>
                  </a:lnTo>
                  <a:lnTo>
                    <a:pt x="14" y="226"/>
                  </a:lnTo>
                  <a:lnTo>
                    <a:pt x="10" y="221"/>
                  </a:lnTo>
                  <a:lnTo>
                    <a:pt x="9" y="216"/>
                  </a:lnTo>
                  <a:lnTo>
                    <a:pt x="5" y="211"/>
                  </a:lnTo>
                  <a:lnTo>
                    <a:pt x="4" y="206"/>
                  </a:lnTo>
                  <a:lnTo>
                    <a:pt x="2" y="201"/>
                  </a:lnTo>
                  <a:lnTo>
                    <a:pt x="0" y="196"/>
                  </a:lnTo>
                  <a:lnTo>
                    <a:pt x="0" y="206"/>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7" name="Freeform 529">
              <a:extLst>
                <a:ext uri="{FF2B5EF4-FFF2-40B4-BE49-F238E27FC236}">
                  <a16:creationId xmlns:a16="http://schemas.microsoft.com/office/drawing/2014/main" id="{98A50197-A960-B596-4615-2CBEB39690EB}"/>
                </a:ext>
              </a:extLst>
            </p:cNvPr>
            <p:cNvSpPr>
              <a:spLocks noEditPoints="1"/>
            </p:cNvSpPr>
            <p:nvPr/>
          </p:nvSpPr>
          <p:spPr bwMode="auto">
            <a:xfrm>
              <a:off x="1995" y="1520"/>
              <a:ext cx="444" cy="236"/>
            </a:xfrm>
            <a:custGeom>
              <a:avLst/>
              <a:gdLst>
                <a:gd name="T0" fmla="*/ 444 w 444"/>
                <a:gd name="T1" fmla="*/ 37 h 236"/>
                <a:gd name="T2" fmla="*/ 443 w 444"/>
                <a:gd name="T3" fmla="*/ 32 h 236"/>
                <a:gd name="T4" fmla="*/ 441 w 444"/>
                <a:gd name="T5" fmla="*/ 27 h 236"/>
                <a:gd name="T6" fmla="*/ 438 w 444"/>
                <a:gd name="T7" fmla="*/ 22 h 236"/>
                <a:gd name="T8" fmla="*/ 436 w 444"/>
                <a:gd name="T9" fmla="*/ 19 h 236"/>
                <a:gd name="T10" fmla="*/ 434 w 444"/>
                <a:gd name="T11" fmla="*/ 14 h 236"/>
                <a:gd name="T12" fmla="*/ 433 w 444"/>
                <a:gd name="T13" fmla="*/ 9 h 236"/>
                <a:gd name="T14" fmla="*/ 429 w 444"/>
                <a:gd name="T15" fmla="*/ 5 h 236"/>
                <a:gd name="T16" fmla="*/ 428 w 444"/>
                <a:gd name="T17" fmla="*/ 0 h 236"/>
                <a:gd name="T18" fmla="*/ 424 w 444"/>
                <a:gd name="T19" fmla="*/ 2 h 236"/>
                <a:gd name="T20" fmla="*/ 428 w 444"/>
                <a:gd name="T21" fmla="*/ 7 h 236"/>
                <a:gd name="T22" fmla="*/ 429 w 444"/>
                <a:gd name="T23" fmla="*/ 12 h 236"/>
                <a:gd name="T24" fmla="*/ 433 w 444"/>
                <a:gd name="T25" fmla="*/ 17 h 236"/>
                <a:gd name="T26" fmla="*/ 434 w 444"/>
                <a:gd name="T27" fmla="*/ 22 h 236"/>
                <a:gd name="T28" fmla="*/ 438 w 444"/>
                <a:gd name="T29" fmla="*/ 29 h 236"/>
                <a:gd name="T30" fmla="*/ 439 w 444"/>
                <a:gd name="T31" fmla="*/ 34 h 236"/>
                <a:gd name="T32" fmla="*/ 441 w 444"/>
                <a:gd name="T33" fmla="*/ 39 h 236"/>
                <a:gd name="T34" fmla="*/ 443 w 444"/>
                <a:gd name="T35" fmla="*/ 45 h 236"/>
                <a:gd name="T36" fmla="*/ 444 w 444"/>
                <a:gd name="T37" fmla="*/ 44 h 236"/>
                <a:gd name="T38" fmla="*/ 444 w 444"/>
                <a:gd name="T39" fmla="*/ 37 h 236"/>
                <a:gd name="T40" fmla="*/ 0 w 444"/>
                <a:gd name="T41" fmla="*/ 201 h 236"/>
                <a:gd name="T42" fmla="*/ 2 w 444"/>
                <a:gd name="T43" fmla="*/ 206 h 236"/>
                <a:gd name="T44" fmla="*/ 4 w 444"/>
                <a:gd name="T45" fmla="*/ 209 h 236"/>
                <a:gd name="T46" fmla="*/ 5 w 444"/>
                <a:gd name="T47" fmla="*/ 214 h 236"/>
                <a:gd name="T48" fmla="*/ 7 w 444"/>
                <a:gd name="T49" fmla="*/ 219 h 236"/>
                <a:gd name="T50" fmla="*/ 10 w 444"/>
                <a:gd name="T51" fmla="*/ 222 h 236"/>
                <a:gd name="T52" fmla="*/ 12 w 444"/>
                <a:gd name="T53" fmla="*/ 227 h 236"/>
                <a:gd name="T54" fmla="*/ 14 w 444"/>
                <a:gd name="T55" fmla="*/ 232 h 236"/>
                <a:gd name="T56" fmla="*/ 17 w 444"/>
                <a:gd name="T57" fmla="*/ 236 h 236"/>
                <a:gd name="T58" fmla="*/ 20 w 444"/>
                <a:gd name="T59" fmla="*/ 234 h 236"/>
                <a:gd name="T60" fmla="*/ 17 w 444"/>
                <a:gd name="T61" fmla="*/ 231 h 236"/>
                <a:gd name="T62" fmla="*/ 14 w 444"/>
                <a:gd name="T63" fmla="*/ 226 h 236"/>
                <a:gd name="T64" fmla="*/ 12 w 444"/>
                <a:gd name="T65" fmla="*/ 221 h 236"/>
                <a:gd name="T66" fmla="*/ 9 w 444"/>
                <a:gd name="T67" fmla="*/ 216 h 236"/>
                <a:gd name="T68" fmla="*/ 7 w 444"/>
                <a:gd name="T69" fmla="*/ 211 h 236"/>
                <a:gd name="T70" fmla="*/ 5 w 444"/>
                <a:gd name="T71" fmla="*/ 204 h 236"/>
                <a:gd name="T72" fmla="*/ 4 w 444"/>
                <a:gd name="T73" fmla="*/ 199 h 236"/>
                <a:gd name="T74" fmla="*/ 0 w 444"/>
                <a:gd name="T75" fmla="*/ 194 h 236"/>
                <a:gd name="T76" fmla="*/ 0 w 444"/>
                <a:gd name="T77" fmla="*/ 201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4" h="236">
                  <a:moveTo>
                    <a:pt x="444" y="37"/>
                  </a:moveTo>
                  <a:lnTo>
                    <a:pt x="443" y="32"/>
                  </a:lnTo>
                  <a:lnTo>
                    <a:pt x="441" y="27"/>
                  </a:lnTo>
                  <a:lnTo>
                    <a:pt x="438" y="22"/>
                  </a:lnTo>
                  <a:lnTo>
                    <a:pt x="436" y="19"/>
                  </a:lnTo>
                  <a:lnTo>
                    <a:pt x="434" y="14"/>
                  </a:lnTo>
                  <a:lnTo>
                    <a:pt x="433" y="9"/>
                  </a:lnTo>
                  <a:lnTo>
                    <a:pt x="429" y="5"/>
                  </a:lnTo>
                  <a:lnTo>
                    <a:pt x="428" y="0"/>
                  </a:lnTo>
                  <a:lnTo>
                    <a:pt x="424" y="2"/>
                  </a:lnTo>
                  <a:lnTo>
                    <a:pt x="428" y="7"/>
                  </a:lnTo>
                  <a:lnTo>
                    <a:pt x="429" y="12"/>
                  </a:lnTo>
                  <a:lnTo>
                    <a:pt x="433" y="17"/>
                  </a:lnTo>
                  <a:lnTo>
                    <a:pt x="434" y="22"/>
                  </a:lnTo>
                  <a:lnTo>
                    <a:pt x="438" y="29"/>
                  </a:lnTo>
                  <a:lnTo>
                    <a:pt x="439" y="34"/>
                  </a:lnTo>
                  <a:lnTo>
                    <a:pt x="441" y="39"/>
                  </a:lnTo>
                  <a:lnTo>
                    <a:pt x="443" y="45"/>
                  </a:lnTo>
                  <a:lnTo>
                    <a:pt x="444" y="44"/>
                  </a:lnTo>
                  <a:lnTo>
                    <a:pt x="444" y="37"/>
                  </a:lnTo>
                  <a:close/>
                  <a:moveTo>
                    <a:pt x="0" y="201"/>
                  </a:moveTo>
                  <a:lnTo>
                    <a:pt x="2" y="206"/>
                  </a:lnTo>
                  <a:lnTo>
                    <a:pt x="4" y="209"/>
                  </a:lnTo>
                  <a:lnTo>
                    <a:pt x="5" y="214"/>
                  </a:lnTo>
                  <a:lnTo>
                    <a:pt x="7" y="219"/>
                  </a:lnTo>
                  <a:lnTo>
                    <a:pt x="10" y="222"/>
                  </a:lnTo>
                  <a:lnTo>
                    <a:pt x="12" y="227"/>
                  </a:lnTo>
                  <a:lnTo>
                    <a:pt x="14" y="232"/>
                  </a:lnTo>
                  <a:lnTo>
                    <a:pt x="17" y="236"/>
                  </a:lnTo>
                  <a:lnTo>
                    <a:pt x="20" y="234"/>
                  </a:lnTo>
                  <a:lnTo>
                    <a:pt x="17" y="231"/>
                  </a:lnTo>
                  <a:lnTo>
                    <a:pt x="14" y="226"/>
                  </a:lnTo>
                  <a:lnTo>
                    <a:pt x="12" y="221"/>
                  </a:lnTo>
                  <a:lnTo>
                    <a:pt x="9" y="216"/>
                  </a:lnTo>
                  <a:lnTo>
                    <a:pt x="7" y="211"/>
                  </a:lnTo>
                  <a:lnTo>
                    <a:pt x="5" y="204"/>
                  </a:lnTo>
                  <a:lnTo>
                    <a:pt x="4" y="199"/>
                  </a:lnTo>
                  <a:lnTo>
                    <a:pt x="0" y="194"/>
                  </a:lnTo>
                  <a:lnTo>
                    <a:pt x="0" y="201"/>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8" name="Freeform 530">
              <a:extLst>
                <a:ext uri="{FF2B5EF4-FFF2-40B4-BE49-F238E27FC236}">
                  <a16:creationId xmlns:a16="http://schemas.microsoft.com/office/drawing/2014/main" id="{0A5CDCB4-4EE4-E6BC-A1FF-46275D2A1A40}"/>
                </a:ext>
              </a:extLst>
            </p:cNvPr>
            <p:cNvSpPr>
              <a:spLocks noEditPoints="1"/>
            </p:cNvSpPr>
            <p:nvPr/>
          </p:nvSpPr>
          <p:spPr bwMode="auto">
            <a:xfrm>
              <a:off x="1995" y="1522"/>
              <a:ext cx="444" cy="234"/>
            </a:xfrm>
            <a:custGeom>
              <a:avLst/>
              <a:gdLst>
                <a:gd name="T0" fmla="*/ 444 w 444"/>
                <a:gd name="T1" fmla="*/ 38 h 234"/>
                <a:gd name="T2" fmla="*/ 443 w 444"/>
                <a:gd name="T3" fmla="*/ 33 h 234"/>
                <a:gd name="T4" fmla="*/ 439 w 444"/>
                <a:gd name="T5" fmla="*/ 28 h 234"/>
                <a:gd name="T6" fmla="*/ 438 w 444"/>
                <a:gd name="T7" fmla="*/ 23 h 234"/>
                <a:gd name="T8" fmla="*/ 436 w 444"/>
                <a:gd name="T9" fmla="*/ 18 h 234"/>
                <a:gd name="T10" fmla="*/ 433 w 444"/>
                <a:gd name="T11" fmla="*/ 13 h 234"/>
                <a:gd name="T12" fmla="*/ 431 w 444"/>
                <a:gd name="T13" fmla="*/ 8 h 234"/>
                <a:gd name="T14" fmla="*/ 428 w 444"/>
                <a:gd name="T15" fmla="*/ 3 h 234"/>
                <a:gd name="T16" fmla="*/ 426 w 444"/>
                <a:gd name="T17" fmla="*/ 0 h 234"/>
                <a:gd name="T18" fmla="*/ 423 w 444"/>
                <a:gd name="T19" fmla="*/ 0 h 234"/>
                <a:gd name="T20" fmla="*/ 426 w 444"/>
                <a:gd name="T21" fmla="*/ 5 h 234"/>
                <a:gd name="T22" fmla="*/ 428 w 444"/>
                <a:gd name="T23" fmla="*/ 12 h 234"/>
                <a:gd name="T24" fmla="*/ 431 w 444"/>
                <a:gd name="T25" fmla="*/ 17 h 234"/>
                <a:gd name="T26" fmla="*/ 433 w 444"/>
                <a:gd name="T27" fmla="*/ 22 h 234"/>
                <a:gd name="T28" fmla="*/ 436 w 444"/>
                <a:gd name="T29" fmla="*/ 27 h 234"/>
                <a:gd name="T30" fmla="*/ 438 w 444"/>
                <a:gd name="T31" fmla="*/ 32 h 234"/>
                <a:gd name="T32" fmla="*/ 439 w 444"/>
                <a:gd name="T33" fmla="*/ 38 h 234"/>
                <a:gd name="T34" fmla="*/ 441 w 444"/>
                <a:gd name="T35" fmla="*/ 43 h 234"/>
                <a:gd name="T36" fmla="*/ 444 w 444"/>
                <a:gd name="T37" fmla="*/ 42 h 234"/>
                <a:gd name="T38" fmla="*/ 444 w 444"/>
                <a:gd name="T39" fmla="*/ 38 h 234"/>
                <a:gd name="T40" fmla="*/ 0 w 444"/>
                <a:gd name="T41" fmla="*/ 194 h 234"/>
                <a:gd name="T42" fmla="*/ 2 w 444"/>
                <a:gd name="T43" fmla="*/ 199 h 234"/>
                <a:gd name="T44" fmla="*/ 4 w 444"/>
                <a:gd name="T45" fmla="*/ 204 h 234"/>
                <a:gd name="T46" fmla="*/ 5 w 444"/>
                <a:gd name="T47" fmla="*/ 209 h 234"/>
                <a:gd name="T48" fmla="*/ 9 w 444"/>
                <a:gd name="T49" fmla="*/ 214 h 234"/>
                <a:gd name="T50" fmla="*/ 10 w 444"/>
                <a:gd name="T51" fmla="*/ 219 h 234"/>
                <a:gd name="T52" fmla="*/ 14 w 444"/>
                <a:gd name="T53" fmla="*/ 224 h 234"/>
                <a:gd name="T54" fmla="*/ 15 w 444"/>
                <a:gd name="T55" fmla="*/ 229 h 234"/>
                <a:gd name="T56" fmla="*/ 19 w 444"/>
                <a:gd name="T57" fmla="*/ 234 h 234"/>
                <a:gd name="T58" fmla="*/ 20 w 444"/>
                <a:gd name="T59" fmla="*/ 232 h 234"/>
                <a:gd name="T60" fmla="*/ 19 w 444"/>
                <a:gd name="T61" fmla="*/ 227 h 234"/>
                <a:gd name="T62" fmla="*/ 15 w 444"/>
                <a:gd name="T63" fmla="*/ 222 h 234"/>
                <a:gd name="T64" fmla="*/ 14 w 444"/>
                <a:gd name="T65" fmla="*/ 217 h 234"/>
                <a:gd name="T66" fmla="*/ 10 w 444"/>
                <a:gd name="T67" fmla="*/ 212 h 234"/>
                <a:gd name="T68" fmla="*/ 9 w 444"/>
                <a:gd name="T69" fmla="*/ 207 h 234"/>
                <a:gd name="T70" fmla="*/ 7 w 444"/>
                <a:gd name="T71" fmla="*/ 202 h 234"/>
                <a:gd name="T72" fmla="*/ 5 w 444"/>
                <a:gd name="T73" fmla="*/ 197 h 234"/>
                <a:gd name="T74" fmla="*/ 2 w 444"/>
                <a:gd name="T75" fmla="*/ 192 h 234"/>
                <a:gd name="T76" fmla="*/ 0 w 444"/>
                <a:gd name="T77" fmla="*/ 192 h 234"/>
                <a:gd name="T78" fmla="*/ 0 w 444"/>
                <a:gd name="T79" fmla="*/ 194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44" h="234">
                  <a:moveTo>
                    <a:pt x="444" y="38"/>
                  </a:moveTo>
                  <a:lnTo>
                    <a:pt x="443" y="33"/>
                  </a:lnTo>
                  <a:lnTo>
                    <a:pt x="439" y="28"/>
                  </a:lnTo>
                  <a:lnTo>
                    <a:pt x="438" y="23"/>
                  </a:lnTo>
                  <a:lnTo>
                    <a:pt x="436" y="18"/>
                  </a:lnTo>
                  <a:lnTo>
                    <a:pt x="433" y="13"/>
                  </a:lnTo>
                  <a:lnTo>
                    <a:pt x="431" y="8"/>
                  </a:lnTo>
                  <a:lnTo>
                    <a:pt x="428" y="3"/>
                  </a:lnTo>
                  <a:lnTo>
                    <a:pt x="426" y="0"/>
                  </a:lnTo>
                  <a:lnTo>
                    <a:pt x="423" y="0"/>
                  </a:lnTo>
                  <a:lnTo>
                    <a:pt x="426" y="5"/>
                  </a:lnTo>
                  <a:lnTo>
                    <a:pt x="428" y="12"/>
                  </a:lnTo>
                  <a:lnTo>
                    <a:pt x="431" y="17"/>
                  </a:lnTo>
                  <a:lnTo>
                    <a:pt x="433" y="22"/>
                  </a:lnTo>
                  <a:lnTo>
                    <a:pt x="436" y="27"/>
                  </a:lnTo>
                  <a:lnTo>
                    <a:pt x="438" y="32"/>
                  </a:lnTo>
                  <a:lnTo>
                    <a:pt x="439" y="38"/>
                  </a:lnTo>
                  <a:lnTo>
                    <a:pt x="441" y="43"/>
                  </a:lnTo>
                  <a:lnTo>
                    <a:pt x="444" y="42"/>
                  </a:lnTo>
                  <a:lnTo>
                    <a:pt x="444" y="38"/>
                  </a:lnTo>
                  <a:close/>
                  <a:moveTo>
                    <a:pt x="0" y="194"/>
                  </a:moveTo>
                  <a:lnTo>
                    <a:pt x="2" y="199"/>
                  </a:lnTo>
                  <a:lnTo>
                    <a:pt x="4" y="204"/>
                  </a:lnTo>
                  <a:lnTo>
                    <a:pt x="5" y="209"/>
                  </a:lnTo>
                  <a:lnTo>
                    <a:pt x="9" y="214"/>
                  </a:lnTo>
                  <a:lnTo>
                    <a:pt x="10" y="219"/>
                  </a:lnTo>
                  <a:lnTo>
                    <a:pt x="14" y="224"/>
                  </a:lnTo>
                  <a:lnTo>
                    <a:pt x="15" y="229"/>
                  </a:lnTo>
                  <a:lnTo>
                    <a:pt x="19" y="234"/>
                  </a:lnTo>
                  <a:lnTo>
                    <a:pt x="20" y="232"/>
                  </a:lnTo>
                  <a:lnTo>
                    <a:pt x="19" y="227"/>
                  </a:lnTo>
                  <a:lnTo>
                    <a:pt x="15" y="222"/>
                  </a:lnTo>
                  <a:lnTo>
                    <a:pt x="14" y="217"/>
                  </a:lnTo>
                  <a:lnTo>
                    <a:pt x="10" y="212"/>
                  </a:lnTo>
                  <a:lnTo>
                    <a:pt x="9" y="207"/>
                  </a:lnTo>
                  <a:lnTo>
                    <a:pt x="7" y="202"/>
                  </a:lnTo>
                  <a:lnTo>
                    <a:pt x="5" y="197"/>
                  </a:lnTo>
                  <a:lnTo>
                    <a:pt x="2" y="192"/>
                  </a:lnTo>
                  <a:lnTo>
                    <a:pt x="0" y="192"/>
                  </a:lnTo>
                  <a:lnTo>
                    <a:pt x="0" y="194"/>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9" name="Freeform 531">
              <a:extLst>
                <a:ext uri="{FF2B5EF4-FFF2-40B4-BE49-F238E27FC236}">
                  <a16:creationId xmlns:a16="http://schemas.microsoft.com/office/drawing/2014/main" id="{C6F508D9-81DF-FB52-2004-F8F2689DE4DE}"/>
                </a:ext>
              </a:extLst>
            </p:cNvPr>
            <p:cNvSpPr>
              <a:spLocks noEditPoints="1"/>
            </p:cNvSpPr>
            <p:nvPr/>
          </p:nvSpPr>
          <p:spPr bwMode="auto">
            <a:xfrm>
              <a:off x="1995" y="1522"/>
              <a:ext cx="443" cy="232"/>
            </a:xfrm>
            <a:custGeom>
              <a:avLst/>
              <a:gdLst>
                <a:gd name="T0" fmla="*/ 443 w 443"/>
                <a:gd name="T1" fmla="*/ 43 h 232"/>
                <a:gd name="T2" fmla="*/ 441 w 443"/>
                <a:gd name="T3" fmla="*/ 37 h 232"/>
                <a:gd name="T4" fmla="*/ 439 w 443"/>
                <a:gd name="T5" fmla="*/ 32 h 232"/>
                <a:gd name="T6" fmla="*/ 438 w 443"/>
                <a:gd name="T7" fmla="*/ 27 h 232"/>
                <a:gd name="T8" fmla="*/ 434 w 443"/>
                <a:gd name="T9" fmla="*/ 20 h 232"/>
                <a:gd name="T10" fmla="*/ 433 w 443"/>
                <a:gd name="T11" fmla="*/ 15 h 232"/>
                <a:gd name="T12" fmla="*/ 429 w 443"/>
                <a:gd name="T13" fmla="*/ 10 h 232"/>
                <a:gd name="T14" fmla="*/ 428 w 443"/>
                <a:gd name="T15" fmla="*/ 5 h 232"/>
                <a:gd name="T16" fmla="*/ 424 w 443"/>
                <a:gd name="T17" fmla="*/ 0 h 232"/>
                <a:gd name="T18" fmla="*/ 421 w 443"/>
                <a:gd name="T19" fmla="*/ 2 h 232"/>
                <a:gd name="T20" fmla="*/ 424 w 443"/>
                <a:gd name="T21" fmla="*/ 7 h 232"/>
                <a:gd name="T22" fmla="*/ 426 w 443"/>
                <a:gd name="T23" fmla="*/ 12 h 232"/>
                <a:gd name="T24" fmla="*/ 429 w 443"/>
                <a:gd name="T25" fmla="*/ 17 h 232"/>
                <a:gd name="T26" fmla="*/ 431 w 443"/>
                <a:gd name="T27" fmla="*/ 22 h 232"/>
                <a:gd name="T28" fmla="*/ 434 w 443"/>
                <a:gd name="T29" fmla="*/ 27 h 232"/>
                <a:gd name="T30" fmla="*/ 436 w 443"/>
                <a:gd name="T31" fmla="*/ 33 h 232"/>
                <a:gd name="T32" fmla="*/ 438 w 443"/>
                <a:gd name="T33" fmla="*/ 38 h 232"/>
                <a:gd name="T34" fmla="*/ 441 w 443"/>
                <a:gd name="T35" fmla="*/ 43 h 232"/>
                <a:gd name="T36" fmla="*/ 443 w 443"/>
                <a:gd name="T37" fmla="*/ 43 h 232"/>
                <a:gd name="T38" fmla="*/ 0 w 443"/>
                <a:gd name="T39" fmla="*/ 192 h 232"/>
                <a:gd name="T40" fmla="*/ 4 w 443"/>
                <a:gd name="T41" fmla="*/ 197 h 232"/>
                <a:gd name="T42" fmla="*/ 5 w 443"/>
                <a:gd name="T43" fmla="*/ 202 h 232"/>
                <a:gd name="T44" fmla="*/ 7 w 443"/>
                <a:gd name="T45" fmla="*/ 209 h 232"/>
                <a:gd name="T46" fmla="*/ 9 w 443"/>
                <a:gd name="T47" fmla="*/ 214 h 232"/>
                <a:gd name="T48" fmla="*/ 12 w 443"/>
                <a:gd name="T49" fmla="*/ 219 h 232"/>
                <a:gd name="T50" fmla="*/ 14 w 443"/>
                <a:gd name="T51" fmla="*/ 224 h 232"/>
                <a:gd name="T52" fmla="*/ 17 w 443"/>
                <a:gd name="T53" fmla="*/ 229 h 232"/>
                <a:gd name="T54" fmla="*/ 20 w 443"/>
                <a:gd name="T55" fmla="*/ 232 h 232"/>
                <a:gd name="T56" fmla="*/ 22 w 443"/>
                <a:gd name="T57" fmla="*/ 232 h 232"/>
                <a:gd name="T58" fmla="*/ 20 w 443"/>
                <a:gd name="T59" fmla="*/ 227 h 232"/>
                <a:gd name="T60" fmla="*/ 17 w 443"/>
                <a:gd name="T61" fmla="*/ 222 h 232"/>
                <a:gd name="T62" fmla="*/ 15 w 443"/>
                <a:gd name="T63" fmla="*/ 217 h 232"/>
                <a:gd name="T64" fmla="*/ 12 w 443"/>
                <a:gd name="T65" fmla="*/ 212 h 232"/>
                <a:gd name="T66" fmla="*/ 10 w 443"/>
                <a:gd name="T67" fmla="*/ 207 h 232"/>
                <a:gd name="T68" fmla="*/ 9 w 443"/>
                <a:gd name="T69" fmla="*/ 202 h 232"/>
                <a:gd name="T70" fmla="*/ 5 w 443"/>
                <a:gd name="T71" fmla="*/ 195 h 232"/>
                <a:gd name="T72" fmla="*/ 4 w 443"/>
                <a:gd name="T73" fmla="*/ 191 h 232"/>
                <a:gd name="T74" fmla="*/ 0 w 443"/>
                <a:gd name="T75" fmla="*/ 192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3" h="232">
                  <a:moveTo>
                    <a:pt x="443" y="43"/>
                  </a:moveTo>
                  <a:lnTo>
                    <a:pt x="441" y="37"/>
                  </a:lnTo>
                  <a:lnTo>
                    <a:pt x="439" y="32"/>
                  </a:lnTo>
                  <a:lnTo>
                    <a:pt x="438" y="27"/>
                  </a:lnTo>
                  <a:lnTo>
                    <a:pt x="434" y="20"/>
                  </a:lnTo>
                  <a:lnTo>
                    <a:pt x="433" y="15"/>
                  </a:lnTo>
                  <a:lnTo>
                    <a:pt x="429" y="10"/>
                  </a:lnTo>
                  <a:lnTo>
                    <a:pt x="428" y="5"/>
                  </a:lnTo>
                  <a:lnTo>
                    <a:pt x="424" y="0"/>
                  </a:lnTo>
                  <a:lnTo>
                    <a:pt x="421" y="2"/>
                  </a:lnTo>
                  <a:lnTo>
                    <a:pt x="424" y="7"/>
                  </a:lnTo>
                  <a:lnTo>
                    <a:pt x="426" y="12"/>
                  </a:lnTo>
                  <a:lnTo>
                    <a:pt x="429" y="17"/>
                  </a:lnTo>
                  <a:lnTo>
                    <a:pt x="431" y="22"/>
                  </a:lnTo>
                  <a:lnTo>
                    <a:pt x="434" y="27"/>
                  </a:lnTo>
                  <a:lnTo>
                    <a:pt x="436" y="33"/>
                  </a:lnTo>
                  <a:lnTo>
                    <a:pt x="438" y="38"/>
                  </a:lnTo>
                  <a:lnTo>
                    <a:pt x="441" y="43"/>
                  </a:lnTo>
                  <a:lnTo>
                    <a:pt x="443" y="43"/>
                  </a:lnTo>
                  <a:close/>
                  <a:moveTo>
                    <a:pt x="0" y="192"/>
                  </a:moveTo>
                  <a:lnTo>
                    <a:pt x="4" y="197"/>
                  </a:lnTo>
                  <a:lnTo>
                    <a:pt x="5" y="202"/>
                  </a:lnTo>
                  <a:lnTo>
                    <a:pt x="7" y="209"/>
                  </a:lnTo>
                  <a:lnTo>
                    <a:pt x="9" y="214"/>
                  </a:lnTo>
                  <a:lnTo>
                    <a:pt x="12" y="219"/>
                  </a:lnTo>
                  <a:lnTo>
                    <a:pt x="14" y="224"/>
                  </a:lnTo>
                  <a:lnTo>
                    <a:pt x="17" y="229"/>
                  </a:lnTo>
                  <a:lnTo>
                    <a:pt x="20" y="232"/>
                  </a:lnTo>
                  <a:lnTo>
                    <a:pt x="22" y="232"/>
                  </a:lnTo>
                  <a:lnTo>
                    <a:pt x="20" y="227"/>
                  </a:lnTo>
                  <a:lnTo>
                    <a:pt x="17" y="222"/>
                  </a:lnTo>
                  <a:lnTo>
                    <a:pt x="15" y="217"/>
                  </a:lnTo>
                  <a:lnTo>
                    <a:pt x="12" y="212"/>
                  </a:lnTo>
                  <a:lnTo>
                    <a:pt x="10" y="207"/>
                  </a:lnTo>
                  <a:lnTo>
                    <a:pt x="9" y="202"/>
                  </a:lnTo>
                  <a:lnTo>
                    <a:pt x="5" y="195"/>
                  </a:lnTo>
                  <a:lnTo>
                    <a:pt x="4" y="191"/>
                  </a:lnTo>
                  <a:lnTo>
                    <a:pt x="0" y="192"/>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0" name="Freeform 532">
              <a:extLst>
                <a:ext uri="{FF2B5EF4-FFF2-40B4-BE49-F238E27FC236}">
                  <a16:creationId xmlns:a16="http://schemas.microsoft.com/office/drawing/2014/main" id="{30A92D6B-042F-C6EB-D0D9-2C8B99E1ED87}"/>
                </a:ext>
              </a:extLst>
            </p:cNvPr>
            <p:cNvSpPr>
              <a:spLocks noEditPoints="1"/>
            </p:cNvSpPr>
            <p:nvPr/>
          </p:nvSpPr>
          <p:spPr bwMode="auto">
            <a:xfrm>
              <a:off x="1997" y="1522"/>
              <a:ext cx="439" cy="232"/>
            </a:xfrm>
            <a:custGeom>
              <a:avLst/>
              <a:gdLst>
                <a:gd name="T0" fmla="*/ 439 w 439"/>
                <a:gd name="T1" fmla="*/ 43 h 232"/>
                <a:gd name="T2" fmla="*/ 437 w 439"/>
                <a:gd name="T3" fmla="*/ 38 h 232"/>
                <a:gd name="T4" fmla="*/ 436 w 439"/>
                <a:gd name="T5" fmla="*/ 32 h 232"/>
                <a:gd name="T6" fmla="*/ 434 w 439"/>
                <a:gd name="T7" fmla="*/ 27 h 232"/>
                <a:gd name="T8" fmla="*/ 431 w 439"/>
                <a:gd name="T9" fmla="*/ 22 h 232"/>
                <a:gd name="T10" fmla="*/ 429 w 439"/>
                <a:gd name="T11" fmla="*/ 17 h 232"/>
                <a:gd name="T12" fmla="*/ 426 w 439"/>
                <a:gd name="T13" fmla="*/ 12 h 232"/>
                <a:gd name="T14" fmla="*/ 424 w 439"/>
                <a:gd name="T15" fmla="*/ 5 h 232"/>
                <a:gd name="T16" fmla="*/ 421 w 439"/>
                <a:gd name="T17" fmla="*/ 0 h 232"/>
                <a:gd name="T18" fmla="*/ 417 w 439"/>
                <a:gd name="T19" fmla="*/ 2 h 232"/>
                <a:gd name="T20" fmla="*/ 421 w 439"/>
                <a:gd name="T21" fmla="*/ 7 h 232"/>
                <a:gd name="T22" fmla="*/ 422 w 439"/>
                <a:gd name="T23" fmla="*/ 12 h 232"/>
                <a:gd name="T24" fmla="*/ 426 w 439"/>
                <a:gd name="T25" fmla="*/ 17 h 232"/>
                <a:gd name="T26" fmla="*/ 429 w 439"/>
                <a:gd name="T27" fmla="*/ 23 h 232"/>
                <a:gd name="T28" fmla="*/ 431 w 439"/>
                <a:gd name="T29" fmla="*/ 28 h 232"/>
                <a:gd name="T30" fmla="*/ 432 w 439"/>
                <a:gd name="T31" fmla="*/ 33 h 232"/>
                <a:gd name="T32" fmla="*/ 436 w 439"/>
                <a:gd name="T33" fmla="*/ 38 h 232"/>
                <a:gd name="T34" fmla="*/ 437 w 439"/>
                <a:gd name="T35" fmla="*/ 45 h 232"/>
                <a:gd name="T36" fmla="*/ 439 w 439"/>
                <a:gd name="T37" fmla="*/ 43 h 232"/>
                <a:gd name="T38" fmla="*/ 0 w 439"/>
                <a:gd name="T39" fmla="*/ 192 h 232"/>
                <a:gd name="T40" fmla="*/ 3 w 439"/>
                <a:gd name="T41" fmla="*/ 197 h 232"/>
                <a:gd name="T42" fmla="*/ 5 w 439"/>
                <a:gd name="T43" fmla="*/ 202 h 232"/>
                <a:gd name="T44" fmla="*/ 7 w 439"/>
                <a:gd name="T45" fmla="*/ 207 h 232"/>
                <a:gd name="T46" fmla="*/ 8 w 439"/>
                <a:gd name="T47" fmla="*/ 212 h 232"/>
                <a:gd name="T48" fmla="*/ 12 w 439"/>
                <a:gd name="T49" fmla="*/ 217 h 232"/>
                <a:gd name="T50" fmla="*/ 13 w 439"/>
                <a:gd name="T51" fmla="*/ 222 h 232"/>
                <a:gd name="T52" fmla="*/ 17 w 439"/>
                <a:gd name="T53" fmla="*/ 227 h 232"/>
                <a:gd name="T54" fmla="*/ 18 w 439"/>
                <a:gd name="T55" fmla="*/ 232 h 232"/>
                <a:gd name="T56" fmla="*/ 22 w 439"/>
                <a:gd name="T57" fmla="*/ 230 h 232"/>
                <a:gd name="T58" fmla="*/ 20 w 439"/>
                <a:gd name="T59" fmla="*/ 225 h 232"/>
                <a:gd name="T60" fmla="*/ 17 w 439"/>
                <a:gd name="T61" fmla="*/ 220 h 232"/>
                <a:gd name="T62" fmla="*/ 15 w 439"/>
                <a:gd name="T63" fmla="*/ 215 h 232"/>
                <a:gd name="T64" fmla="*/ 12 w 439"/>
                <a:gd name="T65" fmla="*/ 210 h 232"/>
                <a:gd name="T66" fmla="*/ 10 w 439"/>
                <a:gd name="T67" fmla="*/ 205 h 232"/>
                <a:gd name="T68" fmla="*/ 8 w 439"/>
                <a:gd name="T69" fmla="*/ 200 h 232"/>
                <a:gd name="T70" fmla="*/ 5 w 439"/>
                <a:gd name="T71" fmla="*/ 195 h 232"/>
                <a:gd name="T72" fmla="*/ 3 w 439"/>
                <a:gd name="T73" fmla="*/ 191 h 232"/>
                <a:gd name="T74" fmla="*/ 0 w 439"/>
                <a:gd name="T75" fmla="*/ 192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39" h="232">
                  <a:moveTo>
                    <a:pt x="439" y="43"/>
                  </a:moveTo>
                  <a:lnTo>
                    <a:pt x="437" y="38"/>
                  </a:lnTo>
                  <a:lnTo>
                    <a:pt x="436" y="32"/>
                  </a:lnTo>
                  <a:lnTo>
                    <a:pt x="434" y="27"/>
                  </a:lnTo>
                  <a:lnTo>
                    <a:pt x="431" y="22"/>
                  </a:lnTo>
                  <a:lnTo>
                    <a:pt x="429" y="17"/>
                  </a:lnTo>
                  <a:lnTo>
                    <a:pt x="426" y="12"/>
                  </a:lnTo>
                  <a:lnTo>
                    <a:pt x="424" y="5"/>
                  </a:lnTo>
                  <a:lnTo>
                    <a:pt x="421" y="0"/>
                  </a:lnTo>
                  <a:lnTo>
                    <a:pt x="417" y="2"/>
                  </a:lnTo>
                  <a:lnTo>
                    <a:pt x="421" y="7"/>
                  </a:lnTo>
                  <a:lnTo>
                    <a:pt x="422" y="12"/>
                  </a:lnTo>
                  <a:lnTo>
                    <a:pt x="426" y="17"/>
                  </a:lnTo>
                  <a:lnTo>
                    <a:pt x="429" y="23"/>
                  </a:lnTo>
                  <a:lnTo>
                    <a:pt x="431" y="28"/>
                  </a:lnTo>
                  <a:lnTo>
                    <a:pt x="432" y="33"/>
                  </a:lnTo>
                  <a:lnTo>
                    <a:pt x="436" y="38"/>
                  </a:lnTo>
                  <a:lnTo>
                    <a:pt x="437" y="45"/>
                  </a:lnTo>
                  <a:lnTo>
                    <a:pt x="439" y="43"/>
                  </a:lnTo>
                  <a:close/>
                  <a:moveTo>
                    <a:pt x="0" y="192"/>
                  </a:moveTo>
                  <a:lnTo>
                    <a:pt x="3" y="197"/>
                  </a:lnTo>
                  <a:lnTo>
                    <a:pt x="5" y="202"/>
                  </a:lnTo>
                  <a:lnTo>
                    <a:pt x="7" y="207"/>
                  </a:lnTo>
                  <a:lnTo>
                    <a:pt x="8" y="212"/>
                  </a:lnTo>
                  <a:lnTo>
                    <a:pt x="12" y="217"/>
                  </a:lnTo>
                  <a:lnTo>
                    <a:pt x="13" y="222"/>
                  </a:lnTo>
                  <a:lnTo>
                    <a:pt x="17" y="227"/>
                  </a:lnTo>
                  <a:lnTo>
                    <a:pt x="18" y="232"/>
                  </a:lnTo>
                  <a:lnTo>
                    <a:pt x="22" y="230"/>
                  </a:lnTo>
                  <a:lnTo>
                    <a:pt x="20" y="225"/>
                  </a:lnTo>
                  <a:lnTo>
                    <a:pt x="17" y="220"/>
                  </a:lnTo>
                  <a:lnTo>
                    <a:pt x="15" y="215"/>
                  </a:lnTo>
                  <a:lnTo>
                    <a:pt x="12" y="210"/>
                  </a:lnTo>
                  <a:lnTo>
                    <a:pt x="10" y="205"/>
                  </a:lnTo>
                  <a:lnTo>
                    <a:pt x="8" y="200"/>
                  </a:lnTo>
                  <a:lnTo>
                    <a:pt x="5" y="195"/>
                  </a:lnTo>
                  <a:lnTo>
                    <a:pt x="3" y="191"/>
                  </a:lnTo>
                  <a:lnTo>
                    <a:pt x="0" y="192"/>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1" name="Freeform 533">
              <a:extLst>
                <a:ext uri="{FF2B5EF4-FFF2-40B4-BE49-F238E27FC236}">
                  <a16:creationId xmlns:a16="http://schemas.microsoft.com/office/drawing/2014/main" id="{53675D6E-B9A2-6FA5-AA79-A1E70FA79083}"/>
                </a:ext>
              </a:extLst>
            </p:cNvPr>
            <p:cNvSpPr>
              <a:spLocks noEditPoints="1"/>
            </p:cNvSpPr>
            <p:nvPr/>
          </p:nvSpPr>
          <p:spPr bwMode="auto">
            <a:xfrm>
              <a:off x="1999" y="1524"/>
              <a:ext cx="437" cy="230"/>
            </a:xfrm>
            <a:custGeom>
              <a:avLst/>
              <a:gdLst>
                <a:gd name="T0" fmla="*/ 437 w 437"/>
                <a:gd name="T1" fmla="*/ 41 h 230"/>
                <a:gd name="T2" fmla="*/ 434 w 437"/>
                <a:gd name="T3" fmla="*/ 36 h 230"/>
                <a:gd name="T4" fmla="*/ 432 w 437"/>
                <a:gd name="T5" fmla="*/ 31 h 230"/>
                <a:gd name="T6" fmla="*/ 430 w 437"/>
                <a:gd name="T7" fmla="*/ 25 h 230"/>
                <a:gd name="T8" fmla="*/ 427 w 437"/>
                <a:gd name="T9" fmla="*/ 20 h 230"/>
                <a:gd name="T10" fmla="*/ 425 w 437"/>
                <a:gd name="T11" fmla="*/ 15 h 230"/>
                <a:gd name="T12" fmla="*/ 422 w 437"/>
                <a:gd name="T13" fmla="*/ 10 h 230"/>
                <a:gd name="T14" fmla="*/ 420 w 437"/>
                <a:gd name="T15" fmla="*/ 5 h 230"/>
                <a:gd name="T16" fmla="*/ 417 w 437"/>
                <a:gd name="T17" fmla="*/ 0 h 230"/>
                <a:gd name="T18" fmla="*/ 414 w 437"/>
                <a:gd name="T19" fmla="*/ 1 h 230"/>
                <a:gd name="T20" fmla="*/ 417 w 437"/>
                <a:gd name="T21" fmla="*/ 6 h 230"/>
                <a:gd name="T22" fmla="*/ 420 w 437"/>
                <a:gd name="T23" fmla="*/ 11 h 230"/>
                <a:gd name="T24" fmla="*/ 422 w 437"/>
                <a:gd name="T25" fmla="*/ 16 h 230"/>
                <a:gd name="T26" fmla="*/ 425 w 437"/>
                <a:gd name="T27" fmla="*/ 21 h 230"/>
                <a:gd name="T28" fmla="*/ 427 w 437"/>
                <a:gd name="T29" fmla="*/ 26 h 230"/>
                <a:gd name="T30" fmla="*/ 429 w 437"/>
                <a:gd name="T31" fmla="*/ 33 h 230"/>
                <a:gd name="T32" fmla="*/ 432 w 437"/>
                <a:gd name="T33" fmla="*/ 38 h 230"/>
                <a:gd name="T34" fmla="*/ 434 w 437"/>
                <a:gd name="T35" fmla="*/ 43 h 230"/>
                <a:gd name="T36" fmla="*/ 437 w 437"/>
                <a:gd name="T37" fmla="*/ 41 h 230"/>
                <a:gd name="T38" fmla="*/ 0 w 437"/>
                <a:gd name="T39" fmla="*/ 189 h 230"/>
                <a:gd name="T40" fmla="*/ 1 w 437"/>
                <a:gd name="T41" fmla="*/ 193 h 230"/>
                <a:gd name="T42" fmla="*/ 5 w 437"/>
                <a:gd name="T43" fmla="*/ 200 h 230"/>
                <a:gd name="T44" fmla="*/ 6 w 437"/>
                <a:gd name="T45" fmla="*/ 205 h 230"/>
                <a:gd name="T46" fmla="*/ 8 w 437"/>
                <a:gd name="T47" fmla="*/ 210 h 230"/>
                <a:gd name="T48" fmla="*/ 11 w 437"/>
                <a:gd name="T49" fmla="*/ 215 h 230"/>
                <a:gd name="T50" fmla="*/ 13 w 437"/>
                <a:gd name="T51" fmla="*/ 220 h 230"/>
                <a:gd name="T52" fmla="*/ 16 w 437"/>
                <a:gd name="T53" fmla="*/ 225 h 230"/>
                <a:gd name="T54" fmla="*/ 18 w 437"/>
                <a:gd name="T55" fmla="*/ 230 h 230"/>
                <a:gd name="T56" fmla="*/ 21 w 437"/>
                <a:gd name="T57" fmla="*/ 228 h 230"/>
                <a:gd name="T58" fmla="*/ 20 w 437"/>
                <a:gd name="T59" fmla="*/ 223 h 230"/>
                <a:gd name="T60" fmla="*/ 16 w 437"/>
                <a:gd name="T61" fmla="*/ 218 h 230"/>
                <a:gd name="T62" fmla="*/ 15 w 437"/>
                <a:gd name="T63" fmla="*/ 213 h 230"/>
                <a:gd name="T64" fmla="*/ 11 w 437"/>
                <a:gd name="T65" fmla="*/ 208 h 230"/>
                <a:gd name="T66" fmla="*/ 10 w 437"/>
                <a:gd name="T67" fmla="*/ 203 h 230"/>
                <a:gd name="T68" fmla="*/ 6 w 437"/>
                <a:gd name="T69" fmla="*/ 198 h 230"/>
                <a:gd name="T70" fmla="*/ 5 w 437"/>
                <a:gd name="T71" fmla="*/ 193 h 230"/>
                <a:gd name="T72" fmla="*/ 3 w 437"/>
                <a:gd name="T73" fmla="*/ 187 h 230"/>
                <a:gd name="T74" fmla="*/ 0 w 437"/>
                <a:gd name="T75" fmla="*/ 189 h 2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37" h="230">
                  <a:moveTo>
                    <a:pt x="437" y="41"/>
                  </a:moveTo>
                  <a:lnTo>
                    <a:pt x="434" y="36"/>
                  </a:lnTo>
                  <a:lnTo>
                    <a:pt x="432" y="31"/>
                  </a:lnTo>
                  <a:lnTo>
                    <a:pt x="430" y="25"/>
                  </a:lnTo>
                  <a:lnTo>
                    <a:pt x="427" y="20"/>
                  </a:lnTo>
                  <a:lnTo>
                    <a:pt x="425" y="15"/>
                  </a:lnTo>
                  <a:lnTo>
                    <a:pt x="422" y="10"/>
                  </a:lnTo>
                  <a:lnTo>
                    <a:pt x="420" y="5"/>
                  </a:lnTo>
                  <a:lnTo>
                    <a:pt x="417" y="0"/>
                  </a:lnTo>
                  <a:lnTo>
                    <a:pt x="414" y="1"/>
                  </a:lnTo>
                  <a:lnTo>
                    <a:pt x="417" y="6"/>
                  </a:lnTo>
                  <a:lnTo>
                    <a:pt x="420" y="11"/>
                  </a:lnTo>
                  <a:lnTo>
                    <a:pt x="422" y="16"/>
                  </a:lnTo>
                  <a:lnTo>
                    <a:pt x="425" y="21"/>
                  </a:lnTo>
                  <a:lnTo>
                    <a:pt x="427" y="26"/>
                  </a:lnTo>
                  <a:lnTo>
                    <a:pt x="429" y="33"/>
                  </a:lnTo>
                  <a:lnTo>
                    <a:pt x="432" y="38"/>
                  </a:lnTo>
                  <a:lnTo>
                    <a:pt x="434" y="43"/>
                  </a:lnTo>
                  <a:lnTo>
                    <a:pt x="437" y="41"/>
                  </a:lnTo>
                  <a:close/>
                  <a:moveTo>
                    <a:pt x="0" y="189"/>
                  </a:moveTo>
                  <a:lnTo>
                    <a:pt x="1" y="193"/>
                  </a:lnTo>
                  <a:lnTo>
                    <a:pt x="5" y="200"/>
                  </a:lnTo>
                  <a:lnTo>
                    <a:pt x="6" y="205"/>
                  </a:lnTo>
                  <a:lnTo>
                    <a:pt x="8" y="210"/>
                  </a:lnTo>
                  <a:lnTo>
                    <a:pt x="11" y="215"/>
                  </a:lnTo>
                  <a:lnTo>
                    <a:pt x="13" y="220"/>
                  </a:lnTo>
                  <a:lnTo>
                    <a:pt x="16" y="225"/>
                  </a:lnTo>
                  <a:lnTo>
                    <a:pt x="18" y="230"/>
                  </a:lnTo>
                  <a:lnTo>
                    <a:pt x="21" y="228"/>
                  </a:lnTo>
                  <a:lnTo>
                    <a:pt x="20" y="223"/>
                  </a:lnTo>
                  <a:lnTo>
                    <a:pt x="16" y="218"/>
                  </a:lnTo>
                  <a:lnTo>
                    <a:pt x="15" y="213"/>
                  </a:lnTo>
                  <a:lnTo>
                    <a:pt x="11" y="208"/>
                  </a:lnTo>
                  <a:lnTo>
                    <a:pt x="10" y="203"/>
                  </a:lnTo>
                  <a:lnTo>
                    <a:pt x="6" y="198"/>
                  </a:lnTo>
                  <a:lnTo>
                    <a:pt x="5" y="193"/>
                  </a:lnTo>
                  <a:lnTo>
                    <a:pt x="3" y="187"/>
                  </a:lnTo>
                  <a:lnTo>
                    <a:pt x="0" y="189"/>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2" name="Freeform 534">
              <a:extLst>
                <a:ext uri="{FF2B5EF4-FFF2-40B4-BE49-F238E27FC236}">
                  <a16:creationId xmlns:a16="http://schemas.microsoft.com/office/drawing/2014/main" id="{D915E6FB-EA29-55B2-16F7-9EB1A7BD118C}"/>
                </a:ext>
              </a:extLst>
            </p:cNvPr>
            <p:cNvSpPr>
              <a:spLocks noEditPoints="1"/>
            </p:cNvSpPr>
            <p:nvPr/>
          </p:nvSpPr>
          <p:spPr bwMode="auto">
            <a:xfrm>
              <a:off x="2000" y="1524"/>
              <a:ext cx="434" cy="228"/>
            </a:xfrm>
            <a:custGeom>
              <a:avLst/>
              <a:gdLst>
                <a:gd name="T0" fmla="*/ 434 w 434"/>
                <a:gd name="T1" fmla="*/ 43 h 228"/>
                <a:gd name="T2" fmla="*/ 433 w 434"/>
                <a:gd name="T3" fmla="*/ 36 h 228"/>
                <a:gd name="T4" fmla="*/ 429 w 434"/>
                <a:gd name="T5" fmla="*/ 31 h 228"/>
                <a:gd name="T6" fmla="*/ 428 w 434"/>
                <a:gd name="T7" fmla="*/ 26 h 228"/>
                <a:gd name="T8" fmla="*/ 426 w 434"/>
                <a:gd name="T9" fmla="*/ 21 h 228"/>
                <a:gd name="T10" fmla="*/ 423 w 434"/>
                <a:gd name="T11" fmla="*/ 15 h 228"/>
                <a:gd name="T12" fmla="*/ 419 w 434"/>
                <a:gd name="T13" fmla="*/ 10 h 228"/>
                <a:gd name="T14" fmla="*/ 418 w 434"/>
                <a:gd name="T15" fmla="*/ 5 h 228"/>
                <a:gd name="T16" fmla="*/ 414 w 434"/>
                <a:gd name="T17" fmla="*/ 0 h 228"/>
                <a:gd name="T18" fmla="*/ 411 w 434"/>
                <a:gd name="T19" fmla="*/ 1 h 228"/>
                <a:gd name="T20" fmla="*/ 414 w 434"/>
                <a:gd name="T21" fmla="*/ 6 h 228"/>
                <a:gd name="T22" fmla="*/ 418 w 434"/>
                <a:gd name="T23" fmla="*/ 11 h 228"/>
                <a:gd name="T24" fmla="*/ 419 w 434"/>
                <a:gd name="T25" fmla="*/ 16 h 228"/>
                <a:gd name="T26" fmla="*/ 423 w 434"/>
                <a:gd name="T27" fmla="*/ 21 h 228"/>
                <a:gd name="T28" fmla="*/ 424 w 434"/>
                <a:gd name="T29" fmla="*/ 28 h 228"/>
                <a:gd name="T30" fmla="*/ 426 w 434"/>
                <a:gd name="T31" fmla="*/ 33 h 228"/>
                <a:gd name="T32" fmla="*/ 429 w 434"/>
                <a:gd name="T33" fmla="*/ 38 h 228"/>
                <a:gd name="T34" fmla="*/ 431 w 434"/>
                <a:gd name="T35" fmla="*/ 44 h 228"/>
                <a:gd name="T36" fmla="*/ 434 w 434"/>
                <a:gd name="T37" fmla="*/ 43 h 228"/>
                <a:gd name="T38" fmla="*/ 0 w 434"/>
                <a:gd name="T39" fmla="*/ 189 h 228"/>
                <a:gd name="T40" fmla="*/ 2 w 434"/>
                <a:gd name="T41" fmla="*/ 193 h 228"/>
                <a:gd name="T42" fmla="*/ 5 w 434"/>
                <a:gd name="T43" fmla="*/ 198 h 228"/>
                <a:gd name="T44" fmla="*/ 7 w 434"/>
                <a:gd name="T45" fmla="*/ 203 h 228"/>
                <a:gd name="T46" fmla="*/ 9 w 434"/>
                <a:gd name="T47" fmla="*/ 208 h 228"/>
                <a:gd name="T48" fmla="*/ 12 w 434"/>
                <a:gd name="T49" fmla="*/ 213 h 228"/>
                <a:gd name="T50" fmla="*/ 14 w 434"/>
                <a:gd name="T51" fmla="*/ 218 h 228"/>
                <a:gd name="T52" fmla="*/ 17 w 434"/>
                <a:gd name="T53" fmla="*/ 223 h 228"/>
                <a:gd name="T54" fmla="*/ 19 w 434"/>
                <a:gd name="T55" fmla="*/ 228 h 228"/>
                <a:gd name="T56" fmla="*/ 22 w 434"/>
                <a:gd name="T57" fmla="*/ 227 h 228"/>
                <a:gd name="T58" fmla="*/ 20 w 434"/>
                <a:gd name="T59" fmla="*/ 222 h 228"/>
                <a:gd name="T60" fmla="*/ 17 w 434"/>
                <a:gd name="T61" fmla="*/ 218 h 228"/>
                <a:gd name="T62" fmla="*/ 14 w 434"/>
                <a:gd name="T63" fmla="*/ 213 h 228"/>
                <a:gd name="T64" fmla="*/ 12 w 434"/>
                <a:gd name="T65" fmla="*/ 208 h 228"/>
                <a:gd name="T66" fmla="*/ 10 w 434"/>
                <a:gd name="T67" fmla="*/ 202 h 228"/>
                <a:gd name="T68" fmla="*/ 7 w 434"/>
                <a:gd name="T69" fmla="*/ 197 h 228"/>
                <a:gd name="T70" fmla="*/ 5 w 434"/>
                <a:gd name="T71" fmla="*/ 192 h 228"/>
                <a:gd name="T72" fmla="*/ 4 w 434"/>
                <a:gd name="T73" fmla="*/ 187 h 228"/>
                <a:gd name="T74" fmla="*/ 0 w 434"/>
                <a:gd name="T75" fmla="*/ 189 h 2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34" h="228">
                  <a:moveTo>
                    <a:pt x="434" y="43"/>
                  </a:moveTo>
                  <a:lnTo>
                    <a:pt x="433" y="36"/>
                  </a:lnTo>
                  <a:lnTo>
                    <a:pt x="429" y="31"/>
                  </a:lnTo>
                  <a:lnTo>
                    <a:pt x="428" y="26"/>
                  </a:lnTo>
                  <a:lnTo>
                    <a:pt x="426" y="21"/>
                  </a:lnTo>
                  <a:lnTo>
                    <a:pt x="423" y="15"/>
                  </a:lnTo>
                  <a:lnTo>
                    <a:pt x="419" y="10"/>
                  </a:lnTo>
                  <a:lnTo>
                    <a:pt x="418" y="5"/>
                  </a:lnTo>
                  <a:lnTo>
                    <a:pt x="414" y="0"/>
                  </a:lnTo>
                  <a:lnTo>
                    <a:pt x="411" y="1"/>
                  </a:lnTo>
                  <a:lnTo>
                    <a:pt x="414" y="6"/>
                  </a:lnTo>
                  <a:lnTo>
                    <a:pt x="418" y="11"/>
                  </a:lnTo>
                  <a:lnTo>
                    <a:pt x="419" y="16"/>
                  </a:lnTo>
                  <a:lnTo>
                    <a:pt x="423" y="21"/>
                  </a:lnTo>
                  <a:lnTo>
                    <a:pt x="424" y="28"/>
                  </a:lnTo>
                  <a:lnTo>
                    <a:pt x="426" y="33"/>
                  </a:lnTo>
                  <a:lnTo>
                    <a:pt x="429" y="38"/>
                  </a:lnTo>
                  <a:lnTo>
                    <a:pt x="431" y="44"/>
                  </a:lnTo>
                  <a:lnTo>
                    <a:pt x="434" y="43"/>
                  </a:lnTo>
                  <a:close/>
                  <a:moveTo>
                    <a:pt x="0" y="189"/>
                  </a:moveTo>
                  <a:lnTo>
                    <a:pt x="2" y="193"/>
                  </a:lnTo>
                  <a:lnTo>
                    <a:pt x="5" y="198"/>
                  </a:lnTo>
                  <a:lnTo>
                    <a:pt x="7" y="203"/>
                  </a:lnTo>
                  <a:lnTo>
                    <a:pt x="9" y="208"/>
                  </a:lnTo>
                  <a:lnTo>
                    <a:pt x="12" y="213"/>
                  </a:lnTo>
                  <a:lnTo>
                    <a:pt x="14" y="218"/>
                  </a:lnTo>
                  <a:lnTo>
                    <a:pt x="17" y="223"/>
                  </a:lnTo>
                  <a:lnTo>
                    <a:pt x="19" y="228"/>
                  </a:lnTo>
                  <a:lnTo>
                    <a:pt x="22" y="227"/>
                  </a:lnTo>
                  <a:lnTo>
                    <a:pt x="20" y="222"/>
                  </a:lnTo>
                  <a:lnTo>
                    <a:pt x="17" y="218"/>
                  </a:lnTo>
                  <a:lnTo>
                    <a:pt x="14" y="213"/>
                  </a:lnTo>
                  <a:lnTo>
                    <a:pt x="12" y="208"/>
                  </a:lnTo>
                  <a:lnTo>
                    <a:pt x="10" y="202"/>
                  </a:lnTo>
                  <a:lnTo>
                    <a:pt x="7" y="197"/>
                  </a:lnTo>
                  <a:lnTo>
                    <a:pt x="5" y="192"/>
                  </a:lnTo>
                  <a:lnTo>
                    <a:pt x="4" y="187"/>
                  </a:lnTo>
                  <a:lnTo>
                    <a:pt x="0" y="189"/>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3" name="Freeform 535">
              <a:extLst>
                <a:ext uri="{FF2B5EF4-FFF2-40B4-BE49-F238E27FC236}">
                  <a16:creationId xmlns:a16="http://schemas.microsoft.com/office/drawing/2014/main" id="{266C89A0-6763-F361-BA2D-A7E71DA7D5BE}"/>
                </a:ext>
              </a:extLst>
            </p:cNvPr>
            <p:cNvSpPr>
              <a:spLocks noEditPoints="1"/>
            </p:cNvSpPr>
            <p:nvPr/>
          </p:nvSpPr>
          <p:spPr bwMode="auto">
            <a:xfrm>
              <a:off x="2002" y="1525"/>
              <a:ext cx="431" cy="227"/>
            </a:xfrm>
            <a:custGeom>
              <a:avLst/>
              <a:gdLst>
                <a:gd name="T0" fmla="*/ 431 w 431"/>
                <a:gd name="T1" fmla="*/ 42 h 227"/>
                <a:gd name="T2" fmla="*/ 429 w 431"/>
                <a:gd name="T3" fmla="*/ 37 h 227"/>
                <a:gd name="T4" fmla="*/ 426 w 431"/>
                <a:gd name="T5" fmla="*/ 32 h 227"/>
                <a:gd name="T6" fmla="*/ 424 w 431"/>
                <a:gd name="T7" fmla="*/ 25 h 227"/>
                <a:gd name="T8" fmla="*/ 422 w 431"/>
                <a:gd name="T9" fmla="*/ 20 h 227"/>
                <a:gd name="T10" fmla="*/ 419 w 431"/>
                <a:gd name="T11" fmla="*/ 15 h 227"/>
                <a:gd name="T12" fmla="*/ 417 w 431"/>
                <a:gd name="T13" fmla="*/ 10 h 227"/>
                <a:gd name="T14" fmla="*/ 414 w 431"/>
                <a:gd name="T15" fmla="*/ 5 h 227"/>
                <a:gd name="T16" fmla="*/ 411 w 431"/>
                <a:gd name="T17" fmla="*/ 0 h 227"/>
                <a:gd name="T18" fmla="*/ 407 w 431"/>
                <a:gd name="T19" fmla="*/ 0 h 227"/>
                <a:gd name="T20" fmla="*/ 411 w 431"/>
                <a:gd name="T21" fmla="*/ 5 h 227"/>
                <a:gd name="T22" fmla="*/ 414 w 431"/>
                <a:gd name="T23" fmla="*/ 12 h 227"/>
                <a:gd name="T24" fmla="*/ 416 w 431"/>
                <a:gd name="T25" fmla="*/ 17 h 227"/>
                <a:gd name="T26" fmla="*/ 419 w 431"/>
                <a:gd name="T27" fmla="*/ 22 h 227"/>
                <a:gd name="T28" fmla="*/ 421 w 431"/>
                <a:gd name="T29" fmla="*/ 27 h 227"/>
                <a:gd name="T30" fmla="*/ 424 w 431"/>
                <a:gd name="T31" fmla="*/ 32 h 227"/>
                <a:gd name="T32" fmla="*/ 426 w 431"/>
                <a:gd name="T33" fmla="*/ 39 h 227"/>
                <a:gd name="T34" fmla="*/ 427 w 431"/>
                <a:gd name="T35" fmla="*/ 43 h 227"/>
                <a:gd name="T36" fmla="*/ 431 w 431"/>
                <a:gd name="T37" fmla="*/ 42 h 227"/>
                <a:gd name="T38" fmla="*/ 0 w 431"/>
                <a:gd name="T39" fmla="*/ 186 h 227"/>
                <a:gd name="T40" fmla="*/ 2 w 431"/>
                <a:gd name="T41" fmla="*/ 192 h 227"/>
                <a:gd name="T42" fmla="*/ 3 w 431"/>
                <a:gd name="T43" fmla="*/ 197 h 227"/>
                <a:gd name="T44" fmla="*/ 7 w 431"/>
                <a:gd name="T45" fmla="*/ 202 h 227"/>
                <a:gd name="T46" fmla="*/ 8 w 431"/>
                <a:gd name="T47" fmla="*/ 207 h 227"/>
                <a:gd name="T48" fmla="*/ 12 w 431"/>
                <a:gd name="T49" fmla="*/ 212 h 227"/>
                <a:gd name="T50" fmla="*/ 13 w 431"/>
                <a:gd name="T51" fmla="*/ 217 h 227"/>
                <a:gd name="T52" fmla="*/ 17 w 431"/>
                <a:gd name="T53" fmla="*/ 222 h 227"/>
                <a:gd name="T54" fmla="*/ 18 w 431"/>
                <a:gd name="T55" fmla="*/ 227 h 227"/>
                <a:gd name="T56" fmla="*/ 22 w 431"/>
                <a:gd name="T57" fmla="*/ 226 h 227"/>
                <a:gd name="T58" fmla="*/ 18 w 431"/>
                <a:gd name="T59" fmla="*/ 221 h 227"/>
                <a:gd name="T60" fmla="*/ 17 w 431"/>
                <a:gd name="T61" fmla="*/ 216 h 227"/>
                <a:gd name="T62" fmla="*/ 13 w 431"/>
                <a:gd name="T63" fmla="*/ 211 h 227"/>
                <a:gd name="T64" fmla="*/ 12 w 431"/>
                <a:gd name="T65" fmla="*/ 206 h 227"/>
                <a:gd name="T66" fmla="*/ 10 w 431"/>
                <a:gd name="T67" fmla="*/ 201 h 227"/>
                <a:gd name="T68" fmla="*/ 7 w 431"/>
                <a:gd name="T69" fmla="*/ 196 h 227"/>
                <a:gd name="T70" fmla="*/ 5 w 431"/>
                <a:gd name="T71" fmla="*/ 191 h 227"/>
                <a:gd name="T72" fmla="*/ 3 w 431"/>
                <a:gd name="T73" fmla="*/ 186 h 227"/>
                <a:gd name="T74" fmla="*/ 0 w 431"/>
                <a:gd name="T75" fmla="*/ 186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31" h="227">
                  <a:moveTo>
                    <a:pt x="431" y="42"/>
                  </a:moveTo>
                  <a:lnTo>
                    <a:pt x="429" y="37"/>
                  </a:lnTo>
                  <a:lnTo>
                    <a:pt x="426" y="32"/>
                  </a:lnTo>
                  <a:lnTo>
                    <a:pt x="424" y="25"/>
                  </a:lnTo>
                  <a:lnTo>
                    <a:pt x="422" y="20"/>
                  </a:lnTo>
                  <a:lnTo>
                    <a:pt x="419" y="15"/>
                  </a:lnTo>
                  <a:lnTo>
                    <a:pt x="417" y="10"/>
                  </a:lnTo>
                  <a:lnTo>
                    <a:pt x="414" y="5"/>
                  </a:lnTo>
                  <a:lnTo>
                    <a:pt x="411" y="0"/>
                  </a:lnTo>
                  <a:lnTo>
                    <a:pt x="407" y="0"/>
                  </a:lnTo>
                  <a:lnTo>
                    <a:pt x="411" y="5"/>
                  </a:lnTo>
                  <a:lnTo>
                    <a:pt x="414" y="12"/>
                  </a:lnTo>
                  <a:lnTo>
                    <a:pt x="416" y="17"/>
                  </a:lnTo>
                  <a:lnTo>
                    <a:pt x="419" y="22"/>
                  </a:lnTo>
                  <a:lnTo>
                    <a:pt x="421" y="27"/>
                  </a:lnTo>
                  <a:lnTo>
                    <a:pt x="424" y="32"/>
                  </a:lnTo>
                  <a:lnTo>
                    <a:pt x="426" y="39"/>
                  </a:lnTo>
                  <a:lnTo>
                    <a:pt x="427" y="43"/>
                  </a:lnTo>
                  <a:lnTo>
                    <a:pt x="431" y="42"/>
                  </a:lnTo>
                  <a:close/>
                  <a:moveTo>
                    <a:pt x="0" y="186"/>
                  </a:moveTo>
                  <a:lnTo>
                    <a:pt x="2" y="192"/>
                  </a:lnTo>
                  <a:lnTo>
                    <a:pt x="3" y="197"/>
                  </a:lnTo>
                  <a:lnTo>
                    <a:pt x="7" y="202"/>
                  </a:lnTo>
                  <a:lnTo>
                    <a:pt x="8" y="207"/>
                  </a:lnTo>
                  <a:lnTo>
                    <a:pt x="12" y="212"/>
                  </a:lnTo>
                  <a:lnTo>
                    <a:pt x="13" y="217"/>
                  </a:lnTo>
                  <a:lnTo>
                    <a:pt x="17" y="222"/>
                  </a:lnTo>
                  <a:lnTo>
                    <a:pt x="18" y="227"/>
                  </a:lnTo>
                  <a:lnTo>
                    <a:pt x="22" y="226"/>
                  </a:lnTo>
                  <a:lnTo>
                    <a:pt x="18" y="221"/>
                  </a:lnTo>
                  <a:lnTo>
                    <a:pt x="17" y="216"/>
                  </a:lnTo>
                  <a:lnTo>
                    <a:pt x="13" y="211"/>
                  </a:lnTo>
                  <a:lnTo>
                    <a:pt x="12" y="206"/>
                  </a:lnTo>
                  <a:lnTo>
                    <a:pt x="10" y="201"/>
                  </a:lnTo>
                  <a:lnTo>
                    <a:pt x="7" y="196"/>
                  </a:lnTo>
                  <a:lnTo>
                    <a:pt x="5" y="191"/>
                  </a:lnTo>
                  <a:lnTo>
                    <a:pt x="3" y="186"/>
                  </a:lnTo>
                  <a:lnTo>
                    <a:pt x="0" y="186"/>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4" name="Freeform 536">
              <a:extLst>
                <a:ext uri="{FF2B5EF4-FFF2-40B4-BE49-F238E27FC236}">
                  <a16:creationId xmlns:a16="http://schemas.microsoft.com/office/drawing/2014/main" id="{63D1FD05-0A11-9A08-37F7-D67682E58EA5}"/>
                </a:ext>
              </a:extLst>
            </p:cNvPr>
            <p:cNvSpPr>
              <a:spLocks noEditPoints="1"/>
            </p:cNvSpPr>
            <p:nvPr/>
          </p:nvSpPr>
          <p:spPr bwMode="auto">
            <a:xfrm>
              <a:off x="2004" y="1525"/>
              <a:ext cx="427" cy="226"/>
            </a:xfrm>
            <a:custGeom>
              <a:avLst/>
              <a:gdLst>
                <a:gd name="T0" fmla="*/ 427 w 427"/>
                <a:gd name="T1" fmla="*/ 43 h 226"/>
                <a:gd name="T2" fmla="*/ 425 w 427"/>
                <a:gd name="T3" fmla="*/ 37 h 226"/>
                <a:gd name="T4" fmla="*/ 422 w 427"/>
                <a:gd name="T5" fmla="*/ 32 h 226"/>
                <a:gd name="T6" fmla="*/ 420 w 427"/>
                <a:gd name="T7" fmla="*/ 27 h 226"/>
                <a:gd name="T8" fmla="*/ 419 w 427"/>
                <a:gd name="T9" fmla="*/ 20 h 226"/>
                <a:gd name="T10" fmla="*/ 415 w 427"/>
                <a:gd name="T11" fmla="*/ 15 h 226"/>
                <a:gd name="T12" fmla="*/ 414 w 427"/>
                <a:gd name="T13" fmla="*/ 10 h 226"/>
                <a:gd name="T14" fmla="*/ 410 w 427"/>
                <a:gd name="T15" fmla="*/ 5 h 226"/>
                <a:gd name="T16" fmla="*/ 407 w 427"/>
                <a:gd name="T17" fmla="*/ 0 h 226"/>
                <a:gd name="T18" fmla="*/ 404 w 427"/>
                <a:gd name="T19" fmla="*/ 2 h 226"/>
                <a:gd name="T20" fmla="*/ 407 w 427"/>
                <a:gd name="T21" fmla="*/ 7 h 226"/>
                <a:gd name="T22" fmla="*/ 410 w 427"/>
                <a:gd name="T23" fmla="*/ 12 h 226"/>
                <a:gd name="T24" fmla="*/ 412 w 427"/>
                <a:gd name="T25" fmla="*/ 17 h 226"/>
                <a:gd name="T26" fmla="*/ 415 w 427"/>
                <a:gd name="T27" fmla="*/ 22 h 226"/>
                <a:gd name="T28" fmla="*/ 417 w 427"/>
                <a:gd name="T29" fmla="*/ 29 h 226"/>
                <a:gd name="T30" fmla="*/ 420 w 427"/>
                <a:gd name="T31" fmla="*/ 34 h 226"/>
                <a:gd name="T32" fmla="*/ 422 w 427"/>
                <a:gd name="T33" fmla="*/ 39 h 226"/>
                <a:gd name="T34" fmla="*/ 424 w 427"/>
                <a:gd name="T35" fmla="*/ 45 h 226"/>
                <a:gd name="T36" fmla="*/ 427 w 427"/>
                <a:gd name="T37" fmla="*/ 43 h 226"/>
                <a:gd name="T38" fmla="*/ 0 w 427"/>
                <a:gd name="T39" fmla="*/ 186 h 226"/>
                <a:gd name="T40" fmla="*/ 1 w 427"/>
                <a:gd name="T41" fmla="*/ 191 h 226"/>
                <a:gd name="T42" fmla="*/ 3 w 427"/>
                <a:gd name="T43" fmla="*/ 196 h 226"/>
                <a:gd name="T44" fmla="*/ 6 w 427"/>
                <a:gd name="T45" fmla="*/ 201 h 226"/>
                <a:gd name="T46" fmla="*/ 8 w 427"/>
                <a:gd name="T47" fmla="*/ 207 h 226"/>
                <a:gd name="T48" fmla="*/ 10 w 427"/>
                <a:gd name="T49" fmla="*/ 212 h 226"/>
                <a:gd name="T50" fmla="*/ 13 w 427"/>
                <a:gd name="T51" fmla="*/ 217 h 226"/>
                <a:gd name="T52" fmla="*/ 16 w 427"/>
                <a:gd name="T53" fmla="*/ 221 h 226"/>
                <a:gd name="T54" fmla="*/ 18 w 427"/>
                <a:gd name="T55" fmla="*/ 226 h 226"/>
                <a:gd name="T56" fmla="*/ 21 w 427"/>
                <a:gd name="T57" fmla="*/ 226 h 226"/>
                <a:gd name="T58" fmla="*/ 18 w 427"/>
                <a:gd name="T59" fmla="*/ 221 h 226"/>
                <a:gd name="T60" fmla="*/ 16 w 427"/>
                <a:gd name="T61" fmla="*/ 216 h 226"/>
                <a:gd name="T62" fmla="*/ 13 w 427"/>
                <a:gd name="T63" fmla="*/ 211 h 226"/>
                <a:gd name="T64" fmla="*/ 11 w 427"/>
                <a:gd name="T65" fmla="*/ 206 h 226"/>
                <a:gd name="T66" fmla="*/ 8 w 427"/>
                <a:gd name="T67" fmla="*/ 201 h 226"/>
                <a:gd name="T68" fmla="*/ 6 w 427"/>
                <a:gd name="T69" fmla="*/ 196 h 226"/>
                <a:gd name="T70" fmla="*/ 5 w 427"/>
                <a:gd name="T71" fmla="*/ 189 h 226"/>
                <a:gd name="T72" fmla="*/ 3 w 427"/>
                <a:gd name="T73" fmla="*/ 184 h 226"/>
                <a:gd name="T74" fmla="*/ 0 w 427"/>
                <a:gd name="T75" fmla="*/ 186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27" h="226">
                  <a:moveTo>
                    <a:pt x="427" y="43"/>
                  </a:moveTo>
                  <a:lnTo>
                    <a:pt x="425" y="37"/>
                  </a:lnTo>
                  <a:lnTo>
                    <a:pt x="422" y="32"/>
                  </a:lnTo>
                  <a:lnTo>
                    <a:pt x="420" y="27"/>
                  </a:lnTo>
                  <a:lnTo>
                    <a:pt x="419" y="20"/>
                  </a:lnTo>
                  <a:lnTo>
                    <a:pt x="415" y="15"/>
                  </a:lnTo>
                  <a:lnTo>
                    <a:pt x="414" y="10"/>
                  </a:lnTo>
                  <a:lnTo>
                    <a:pt x="410" y="5"/>
                  </a:lnTo>
                  <a:lnTo>
                    <a:pt x="407" y="0"/>
                  </a:lnTo>
                  <a:lnTo>
                    <a:pt x="404" y="2"/>
                  </a:lnTo>
                  <a:lnTo>
                    <a:pt x="407" y="7"/>
                  </a:lnTo>
                  <a:lnTo>
                    <a:pt x="410" y="12"/>
                  </a:lnTo>
                  <a:lnTo>
                    <a:pt x="412" y="17"/>
                  </a:lnTo>
                  <a:lnTo>
                    <a:pt x="415" y="22"/>
                  </a:lnTo>
                  <a:lnTo>
                    <a:pt x="417" y="29"/>
                  </a:lnTo>
                  <a:lnTo>
                    <a:pt x="420" y="34"/>
                  </a:lnTo>
                  <a:lnTo>
                    <a:pt x="422" y="39"/>
                  </a:lnTo>
                  <a:lnTo>
                    <a:pt x="424" y="45"/>
                  </a:lnTo>
                  <a:lnTo>
                    <a:pt x="427" y="43"/>
                  </a:lnTo>
                  <a:close/>
                  <a:moveTo>
                    <a:pt x="0" y="186"/>
                  </a:moveTo>
                  <a:lnTo>
                    <a:pt x="1" y="191"/>
                  </a:lnTo>
                  <a:lnTo>
                    <a:pt x="3" y="196"/>
                  </a:lnTo>
                  <a:lnTo>
                    <a:pt x="6" y="201"/>
                  </a:lnTo>
                  <a:lnTo>
                    <a:pt x="8" y="207"/>
                  </a:lnTo>
                  <a:lnTo>
                    <a:pt x="10" y="212"/>
                  </a:lnTo>
                  <a:lnTo>
                    <a:pt x="13" y="217"/>
                  </a:lnTo>
                  <a:lnTo>
                    <a:pt x="16" y="221"/>
                  </a:lnTo>
                  <a:lnTo>
                    <a:pt x="18" y="226"/>
                  </a:lnTo>
                  <a:lnTo>
                    <a:pt x="21" y="226"/>
                  </a:lnTo>
                  <a:lnTo>
                    <a:pt x="18" y="221"/>
                  </a:lnTo>
                  <a:lnTo>
                    <a:pt x="16" y="216"/>
                  </a:lnTo>
                  <a:lnTo>
                    <a:pt x="13" y="211"/>
                  </a:lnTo>
                  <a:lnTo>
                    <a:pt x="11" y="206"/>
                  </a:lnTo>
                  <a:lnTo>
                    <a:pt x="8" y="201"/>
                  </a:lnTo>
                  <a:lnTo>
                    <a:pt x="6" y="196"/>
                  </a:lnTo>
                  <a:lnTo>
                    <a:pt x="5" y="189"/>
                  </a:lnTo>
                  <a:lnTo>
                    <a:pt x="3" y="184"/>
                  </a:lnTo>
                  <a:lnTo>
                    <a:pt x="0" y="186"/>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5" name="Freeform 537">
              <a:extLst>
                <a:ext uri="{FF2B5EF4-FFF2-40B4-BE49-F238E27FC236}">
                  <a16:creationId xmlns:a16="http://schemas.microsoft.com/office/drawing/2014/main" id="{84E9EA1D-A123-E07A-B751-6990A8C88113}"/>
                </a:ext>
              </a:extLst>
            </p:cNvPr>
            <p:cNvSpPr>
              <a:spLocks noEditPoints="1"/>
            </p:cNvSpPr>
            <p:nvPr/>
          </p:nvSpPr>
          <p:spPr bwMode="auto">
            <a:xfrm>
              <a:off x="2005" y="1525"/>
              <a:ext cx="424" cy="226"/>
            </a:xfrm>
            <a:custGeom>
              <a:avLst/>
              <a:gdLst>
                <a:gd name="T0" fmla="*/ 424 w 424"/>
                <a:gd name="T1" fmla="*/ 43 h 226"/>
                <a:gd name="T2" fmla="*/ 423 w 424"/>
                <a:gd name="T3" fmla="*/ 39 h 226"/>
                <a:gd name="T4" fmla="*/ 421 w 424"/>
                <a:gd name="T5" fmla="*/ 32 h 226"/>
                <a:gd name="T6" fmla="*/ 418 w 424"/>
                <a:gd name="T7" fmla="*/ 27 h 226"/>
                <a:gd name="T8" fmla="*/ 416 w 424"/>
                <a:gd name="T9" fmla="*/ 22 h 226"/>
                <a:gd name="T10" fmla="*/ 413 w 424"/>
                <a:gd name="T11" fmla="*/ 17 h 226"/>
                <a:gd name="T12" fmla="*/ 411 w 424"/>
                <a:gd name="T13" fmla="*/ 12 h 226"/>
                <a:gd name="T14" fmla="*/ 408 w 424"/>
                <a:gd name="T15" fmla="*/ 5 h 226"/>
                <a:gd name="T16" fmla="*/ 404 w 424"/>
                <a:gd name="T17" fmla="*/ 0 h 226"/>
                <a:gd name="T18" fmla="*/ 403 w 424"/>
                <a:gd name="T19" fmla="*/ 2 h 226"/>
                <a:gd name="T20" fmla="*/ 404 w 424"/>
                <a:gd name="T21" fmla="*/ 7 h 226"/>
                <a:gd name="T22" fmla="*/ 408 w 424"/>
                <a:gd name="T23" fmla="*/ 12 h 226"/>
                <a:gd name="T24" fmla="*/ 409 w 424"/>
                <a:gd name="T25" fmla="*/ 19 h 226"/>
                <a:gd name="T26" fmla="*/ 413 w 424"/>
                <a:gd name="T27" fmla="*/ 24 h 226"/>
                <a:gd name="T28" fmla="*/ 414 w 424"/>
                <a:gd name="T29" fmla="*/ 29 h 226"/>
                <a:gd name="T30" fmla="*/ 418 w 424"/>
                <a:gd name="T31" fmla="*/ 34 h 226"/>
                <a:gd name="T32" fmla="*/ 419 w 424"/>
                <a:gd name="T33" fmla="*/ 40 h 226"/>
                <a:gd name="T34" fmla="*/ 421 w 424"/>
                <a:gd name="T35" fmla="*/ 45 h 226"/>
                <a:gd name="T36" fmla="*/ 424 w 424"/>
                <a:gd name="T37" fmla="*/ 43 h 226"/>
                <a:gd name="T38" fmla="*/ 0 w 424"/>
                <a:gd name="T39" fmla="*/ 186 h 226"/>
                <a:gd name="T40" fmla="*/ 2 w 424"/>
                <a:gd name="T41" fmla="*/ 191 h 226"/>
                <a:gd name="T42" fmla="*/ 4 w 424"/>
                <a:gd name="T43" fmla="*/ 196 h 226"/>
                <a:gd name="T44" fmla="*/ 7 w 424"/>
                <a:gd name="T45" fmla="*/ 201 h 226"/>
                <a:gd name="T46" fmla="*/ 9 w 424"/>
                <a:gd name="T47" fmla="*/ 206 h 226"/>
                <a:gd name="T48" fmla="*/ 10 w 424"/>
                <a:gd name="T49" fmla="*/ 211 h 226"/>
                <a:gd name="T50" fmla="*/ 14 w 424"/>
                <a:gd name="T51" fmla="*/ 216 h 226"/>
                <a:gd name="T52" fmla="*/ 15 w 424"/>
                <a:gd name="T53" fmla="*/ 221 h 226"/>
                <a:gd name="T54" fmla="*/ 19 w 424"/>
                <a:gd name="T55" fmla="*/ 226 h 226"/>
                <a:gd name="T56" fmla="*/ 22 w 424"/>
                <a:gd name="T57" fmla="*/ 224 h 226"/>
                <a:gd name="T58" fmla="*/ 19 w 424"/>
                <a:gd name="T59" fmla="*/ 219 h 226"/>
                <a:gd name="T60" fmla="*/ 17 w 424"/>
                <a:gd name="T61" fmla="*/ 214 h 226"/>
                <a:gd name="T62" fmla="*/ 14 w 424"/>
                <a:gd name="T63" fmla="*/ 209 h 226"/>
                <a:gd name="T64" fmla="*/ 12 w 424"/>
                <a:gd name="T65" fmla="*/ 204 h 226"/>
                <a:gd name="T66" fmla="*/ 9 w 424"/>
                <a:gd name="T67" fmla="*/ 199 h 226"/>
                <a:gd name="T68" fmla="*/ 7 w 424"/>
                <a:gd name="T69" fmla="*/ 194 h 226"/>
                <a:gd name="T70" fmla="*/ 5 w 424"/>
                <a:gd name="T71" fmla="*/ 189 h 226"/>
                <a:gd name="T72" fmla="*/ 4 w 424"/>
                <a:gd name="T73" fmla="*/ 184 h 226"/>
                <a:gd name="T74" fmla="*/ 0 w 424"/>
                <a:gd name="T75" fmla="*/ 186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24" h="226">
                  <a:moveTo>
                    <a:pt x="424" y="43"/>
                  </a:moveTo>
                  <a:lnTo>
                    <a:pt x="423" y="39"/>
                  </a:lnTo>
                  <a:lnTo>
                    <a:pt x="421" y="32"/>
                  </a:lnTo>
                  <a:lnTo>
                    <a:pt x="418" y="27"/>
                  </a:lnTo>
                  <a:lnTo>
                    <a:pt x="416" y="22"/>
                  </a:lnTo>
                  <a:lnTo>
                    <a:pt x="413" y="17"/>
                  </a:lnTo>
                  <a:lnTo>
                    <a:pt x="411" y="12"/>
                  </a:lnTo>
                  <a:lnTo>
                    <a:pt x="408" y="5"/>
                  </a:lnTo>
                  <a:lnTo>
                    <a:pt x="404" y="0"/>
                  </a:lnTo>
                  <a:lnTo>
                    <a:pt x="403" y="2"/>
                  </a:lnTo>
                  <a:lnTo>
                    <a:pt x="404" y="7"/>
                  </a:lnTo>
                  <a:lnTo>
                    <a:pt x="408" y="12"/>
                  </a:lnTo>
                  <a:lnTo>
                    <a:pt x="409" y="19"/>
                  </a:lnTo>
                  <a:lnTo>
                    <a:pt x="413" y="24"/>
                  </a:lnTo>
                  <a:lnTo>
                    <a:pt x="414" y="29"/>
                  </a:lnTo>
                  <a:lnTo>
                    <a:pt x="418" y="34"/>
                  </a:lnTo>
                  <a:lnTo>
                    <a:pt x="419" y="40"/>
                  </a:lnTo>
                  <a:lnTo>
                    <a:pt x="421" y="45"/>
                  </a:lnTo>
                  <a:lnTo>
                    <a:pt x="424" y="43"/>
                  </a:lnTo>
                  <a:close/>
                  <a:moveTo>
                    <a:pt x="0" y="186"/>
                  </a:moveTo>
                  <a:lnTo>
                    <a:pt x="2" y="191"/>
                  </a:lnTo>
                  <a:lnTo>
                    <a:pt x="4" y="196"/>
                  </a:lnTo>
                  <a:lnTo>
                    <a:pt x="7" y="201"/>
                  </a:lnTo>
                  <a:lnTo>
                    <a:pt x="9" y="206"/>
                  </a:lnTo>
                  <a:lnTo>
                    <a:pt x="10" y="211"/>
                  </a:lnTo>
                  <a:lnTo>
                    <a:pt x="14" y="216"/>
                  </a:lnTo>
                  <a:lnTo>
                    <a:pt x="15" y="221"/>
                  </a:lnTo>
                  <a:lnTo>
                    <a:pt x="19" y="226"/>
                  </a:lnTo>
                  <a:lnTo>
                    <a:pt x="22" y="224"/>
                  </a:lnTo>
                  <a:lnTo>
                    <a:pt x="19" y="219"/>
                  </a:lnTo>
                  <a:lnTo>
                    <a:pt x="17" y="214"/>
                  </a:lnTo>
                  <a:lnTo>
                    <a:pt x="14" y="209"/>
                  </a:lnTo>
                  <a:lnTo>
                    <a:pt x="12" y="204"/>
                  </a:lnTo>
                  <a:lnTo>
                    <a:pt x="9" y="199"/>
                  </a:lnTo>
                  <a:lnTo>
                    <a:pt x="7" y="194"/>
                  </a:lnTo>
                  <a:lnTo>
                    <a:pt x="5" y="189"/>
                  </a:lnTo>
                  <a:lnTo>
                    <a:pt x="4" y="184"/>
                  </a:lnTo>
                  <a:lnTo>
                    <a:pt x="0" y="186"/>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6" name="Freeform 538">
              <a:extLst>
                <a:ext uri="{FF2B5EF4-FFF2-40B4-BE49-F238E27FC236}">
                  <a16:creationId xmlns:a16="http://schemas.microsoft.com/office/drawing/2014/main" id="{658B6D9C-D7F8-D079-3564-8FF196A63450}"/>
                </a:ext>
              </a:extLst>
            </p:cNvPr>
            <p:cNvSpPr>
              <a:spLocks noEditPoints="1"/>
            </p:cNvSpPr>
            <p:nvPr/>
          </p:nvSpPr>
          <p:spPr bwMode="auto">
            <a:xfrm>
              <a:off x="2007" y="1527"/>
              <a:ext cx="421" cy="224"/>
            </a:xfrm>
            <a:custGeom>
              <a:avLst/>
              <a:gdLst>
                <a:gd name="T0" fmla="*/ 421 w 421"/>
                <a:gd name="T1" fmla="*/ 43 h 224"/>
                <a:gd name="T2" fmla="*/ 419 w 421"/>
                <a:gd name="T3" fmla="*/ 37 h 224"/>
                <a:gd name="T4" fmla="*/ 417 w 421"/>
                <a:gd name="T5" fmla="*/ 32 h 224"/>
                <a:gd name="T6" fmla="*/ 414 w 421"/>
                <a:gd name="T7" fmla="*/ 27 h 224"/>
                <a:gd name="T8" fmla="*/ 412 w 421"/>
                <a:gd name="T9" fmla="*/ 20 h 224"/>
                <a:gd name="T10" fmla="*/ 409 w 421"/>
                <a:gd name="T11" fmla="*/ 15 h 224"/>
                <a:gd name="T12" fmla="*/ 407 w 421"/>
                <a:gd name="T13" fmla="*/ 10 h 224"/>
                <a:gd name="T14" fmla="*/ 404 w 421"/>
                <a:gd name="T15" fmla="*/ 5 h 224"/>
                <a:gd name="T16" fmla="*/ 401 w 421"/>
                <a:gd name="T17" fmla="*/ 0 h 224"/>
                <a:gd name="T18" fmla="*/ 399 w 421"/>
                <a:gd name="T19" fmla="*/ 2 h 224"/>
                <a:gd name="T20" fmla="*/ 401 w 421"/>
                <a:gd name="T21" fmla="*/ 7 h 224"/>
                <a:gd name="T22" fmla="*/ 404 w 421"/>
                <a:gd name="T23" fmla="*/ 12 h 224"/>
                <a:gd name="T24" fmla="*/ 407 w 421"/>
                <a:gd name="T25" fmla="*/ 17 h 224"/>
                <a:gd name="T26" fmla="*/ 409 w 421"/>
                <a:gd name="T27" fmla="*/ 22 h 224"/>
                <a:gd name="T28" fmla="*/ 411 w 421"/>
                <a:gd name="T29" fmla="*/ 27 h 224"/>
                <a:gd name="T30" fmla="*/ 414 w 421"/>
                <a:gd name="T31" fmla="*/ 33 h 224"/>
                <a:gd name="T32" fmla="*/ 416 w 421"/>
                <a:gd name="T33" fmla="*/ 38 h 224"/>
                <a:gd name="T34" fmla="*/ 417 w 421"/>
                <a:gd name="T35" fmla="*/ 43 h 224"/>
                <a:gd name="T36" fmla="*/ 421 w 421"/>
                <a:gd name="T37" fmla="*/ 43 h 224"/>
                <a:gd name="T38" fmla="*/ 0 w 421"/>
                <a:gd name="T39" fmla="*/ 182 h 224"/>
                <a:gd name="T40" fmla="*/ 2 w 421"/>
                <a:gd name="T41" fmla="*/ 187 h 224"/>
                <a:gd name="T42" fmla="*/ 3 w 421"/>
                <a:gd name="T43" fmla="*/ 194 h 224"/>
                <a:gd name="T44" fmla="*/ 5 w 421"/>
                <a:gd name="T45" fmla="*/ 199 h 224"/>
                <a:gd name="T46" fmla="*/ 8 w 421"/>
                <a:gd name="T47" fmla="*/ 204 h 224"/>
                <a:gd name="T48" fmla="*/ 10 w 421"/>
                <a:gd name="T49" fmla="*/ 209 h 224"/>
                <a:gd name="T50" fmla="*/ 13 w 421"/>
                <a:gd name="T51" fmla="*/ 214 h 224"/>
                <a:gd name="T52" fmla="*/ 15 w 421"/>
                <a:gd name="T53" fmla="*/ 219 h 224"/>
                <a:gd name="T54" fmla="*/ 18 w 421"/>
                <a:gd name="T55" fmla="*/ 224 h 224"/>
                <a:gd name="T56" fmla="*/ 22 w 421"/>
                <a:gd name="T57" fmla="*/ 222 h 224"/>
                <a:gd name="T58" fmla="*/ 18 w 421"/>
                <a:gd name="T59" fmla="*/ 217 h 224"/>
                <a:gd name="T60" fmla="*/ 17 w 421"/>
                <a:gd name="T61" fmla="*/ 212 h 224"/>
                <a:gd name="T62" fmla="*/ 13 w 421"/>
                <a:gd name="T63" fmla="*/ 207 h 224"/>
                <a:gd name="T64" fmla="*/ 12 w 421"/>
                <a:gd name="T65" fmla="*/ 202 h 224"/>
                <a:gd name="T66" fmla="*/ 8 w 421"/>
                <a:gd name="T67" fmla="*/ 197 h 224"/>
                <a:gd name="T68" fmla="*/ 7 w 421"/>
                <a:gd name="T69" fmla="*/ 192 h 224"/>
                <a:gd name="T70" fmla="*/ 5 w 421"/>
                <a:gd name="T71" fmla="*/ 187 h 224"/>
                <a:gd name="T72" fmla="*/ 3 w 421"/>
                <a:gd name="T73" fmla="*/ 181 h 224"/>
                <a:gd name="T74" fmla="*/ 0 w 421"/>
                <a:gd name="T75" fmla="*/ 18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21" h="224">
                  <a:moveTo>
                    <a:pt x="421" y="43"/>
                  </a:moveTo>
                  <a:lnTo>
                    <a:pt x="419" y="37"/>
                  </a:lnTo>
                  <a:lnTo>
                    <a:pt x="417" y="32"/>
                  </a:lnTo>
                  <a:lnTo>
                    <a:pt x="414" y="27"/>
                  </a:lnTo>
                  <a:lnTo>
                    <a:pt x="412" y="20"/>
                  </a:lnTo>
                  <a:lnTo>
                    <a:pt x="409" y="15"/>
                  </a:lnTo>
                  <a:lnTo>
                    <a:pt x="407" y="10"/>
                  </a:lnTo>
                  <a:lnTo>
                    <a:pt x="404" y="5"/>
                  </a:lnTo>
                  <a:lnTo>
                    <a:pt x="401" y="0"/>
                  </a:lnTo>
                  <a:lnTo>
                    <a:pt x="399" y="2"/>
                  </a:lnTo>
                  <a:lnTo>
                    <a:pt x="401" y="7"/>
                  </a:lnTo>
                  <a:lnTo>
                    <a:pt x="404" y="12"/>
                  </a:lnTo>
                  <a:lnTo>
                    <a:pt x="407" y="17"/>
                  </a:lnTo>
                  <a:lnTo>
                    <a:pt x="409" y="22"/>
                  </a:lnTo>
                  <a:lnTo>
                    <a:pt x="411" y="27"/>
                  </a:lnTo>
                  <a:lnTo>
                    <a:pt x="414" y="33"/>
                  </a:lnTo>
                  <a:lnTo>
                    <a:pt x="416" y="38"/>
                  </a:lnTo>
                  <a:lnTo>
                    <a:pt x="417" y="43"/>
                  </a:lnTo>
                  <a:lnTo>
                    <a:pt x="421" y="43"/>
                  </a:lnTo>
                  <a:close/>
                  <a:moveTo>
                    <a:pt x="0" y="182"/>
                  </a:moveTo>
                  <a:lnTo>
                    <a:pt x="2" y="187"/>
                  </a:lnTo>
                  <a:lnTo>
                    <a:pt x="3" y="194"/>
                  </a:lnTo>
                  <a:lnTo>
                    <a:pt x="5" y="199"/>
                  </a:lnTo>
                  <a:lnTo>
                    <a:pt x="8" y="204"/>
                  </a:lnTo>
                  <a:lnTo>
                    <a:pt x="10" y="209"/>
                  </a:lnTo>
                  <a:lnTo>
                    <a:pt x="13" y="214"/>
                  </a:lnTo>
                  <a:lnTo>
                    <a:pt x="15" y="219"/>
                  </a:lnTo>
                  <a:lnTo>
                    <a:pt x="18" y="224"/>
                  </a:lnTo>
                  <a:lnTo>
                    <a:pt x="22" y="222"/>
                  </a:lnTo>
                  <a:lnTo>
                    <a:pt x="18" y="217"/>
                  </a:lnTo>
                  <a:lnTo>
                    <a:pt x="17" y="212"/>
                  </a:lnTo>
                  <a:lnTo>
                    <a:pt x="13" y="207"/>
                  </a:lnTo>
                  <a:lnTo>
                    <a:pt x="12" y="202"/>
                  </a:lnTo>
                  <a:lnTo>
                    <a:pt x="8" y="197"/>
                  </a:lnTo>
                  <a:lnTo>
                    <a:pt x="7" y="192"/>
                  </a:lnTo>
                  <a:lnTo>
                    <a:pt x="5" y="187"/>
                  </a:lnTo>
                  <a:lnTo>
                    <a:pt x="3" y="181"/>
                  </a:lnTo>
                  <a:lnTo>
                    <a:pt x="0" y="182"/>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7" name="Freeform 539">
              <a:extLst>
                <a:ext uri="{FF2B5EF4-FFF2-40B4-BE49-F238E27FC236}">
                  <a16:creationId xmlns:a16="http://schemas.microsoft.com/office/drawing/2014/main" id="{49126D7E-DBFD-DDFE-2B67-827AA4CCD9D0}"/>
                </a:ext>
              </a:extLst>
            </p:cNvPr>
            <p:cNvSpPr>
              <a:spLocks noEditPoints="1"/>
            </p:cNvSpPr>
            <p:nvPr/>
          </p:nvSpPr>
          <p:spPr bwMode="auto">
            <a:xfrm>
              <a:off x="2009" y="1527"/>
              <a:ext cx="417" cy="222"/>
            </a:xfrm>
            <a:custGeom>
              <a:avLst/>
              <a:gdLst>
                <a:gd name="T0" fmla="*/ 417 w 417"/>
                <a:gd name="T1" fmla="*/ 43 h 222"/>
                <a:gd name="T2" fmla="*/ 415 w 417"/>
                <a:gd name="T3" fmla="*/ 38 h 222"/>
                <a:gd name="T4" fmla="*/ 414 w 417"/>
                <a:gd name="T5" fmla="*/ 32 h 222"/>
                <a:gd name="T6" fmla="*/ 410 w 417"/>
                <a:gd name="T7" fmla="*/ 27 h 222"/>
                <a:gd name="T8" fmla="*/ 409 w 417"/>
                <a:gd name="T9" fmla="*/ 22 h 222"/>
                <a:gd name="T10" fmla="*/ 405 w 417"/>
                <a:gd name="T11" fmla="*/ 17 h 222"/>
                <a:gd name="T12" fmla="*/ 404 w 417"/>
                <a:gd name="T13" fmla="*/ 10 h 222"/>
                <a:gd name="T14" fmla="*/ 400 w 417"/>
                <a:gd name="T15" fmla="*/ 5 h 222"/>
                <a:gd name="T16" fmla="*/ 399 w 417"/>
                <a:gd name="T17" fmla="*/ 0 h 222"/>
                <a:gd name="T18" fmla="*/ 395 w 417"/>
                <a:gd name="T19" fmla="*/ 2 h 222"/>
                <a:gd name="T20" fmla="*/ 397 w 417"/>
                <a:gd name="T21" fmla="*/ 7 h 222"/>
                <a:gd name="T22" fmla="*/ 400 w 417"/>
                <a:gd name="T23" fmla="*/ 12 h 222"/>
                <a:gd name="T24" fmla="*/ 404 w 417"/>
                <a:gd name="T25" fmla="*/ 17 h 222"/>
                <a:gd name="T26" fmla="*/ 405 w 417"/>
                <a:gd name="T27" fmla="*/ 23 h 222"/>
                <a:gd name="T28" fmla="*/ 409 w 417"/>
                <a:gd name="T29" fmla="*/ 28 h 222"/>
                <a:gd name="T30" fmla="*/ 410 w 417"/>
                <a:gd name="T31" fmla="*/ 33 h 222"/>
                <a:gd name="T32" fmla="*/ 412 w 417"/>
                <a:gd name="T33" fmla="*/ 38 h 222"/>
                <a:gd name="T34" fmla="*/ 414 w 417"/>
                <a:gd name="T35" fmla="*/ 45 h 222"/>
                <a:gd name="T36" fmla="*/ 417 w 417"/>
                <a:gd name="T37" fmla="*/ 43 h 222"/>
                <a:gd name="T38" fmla="*/ 0 w 417"/>
                <a:gd name="T39" fmla="*/ 182 h 222"/>
                <a:gd name="T40" fmla="*/ 1 w 417"/>
                <a:gd name="T41" fmla="*/ 187 h 222"/>
                <a:gd name="T42" fmla="*/ 3 w 417"/>
                <a:gd name="T43" fmla="*/ 192 h 222"/>
                <a:gd name="T44" fmla="*/ 5 w 417"/>
                <a:gd name="T45" fmla="*/ 197 h 222"/>
                <a:gd name="T46" fmla="*/ 8 w 417"/>
                <a:gd name="T47" fmla="*/ 202 h 222"/>
                <a:gd name="T48" fmla="*/ 10 w 417"/>
                <a:gd name="T49" fmla="*/ 207 h 222"/>
                <a:gd name="T50" fmla="*/ 13 w 417"/>
                <a:gd name="T51" fmla="*/ 212 h 222"/>
                <a:gd name="T52" fmla="*/ 15 w 417"/>
                <a:gd name="T53" fmla="*/ 217 h 222"/>
                <a:gd name="T54" fmla="*/ 18 w 417"/>
                <a:gd name="T55" fmla="*/ 222 h 222"/>
                <a:gd name="T56" fmla="*/ 21 w 417"/>
                <a:gd name="T57" fmla="*/ 220 h 222"/>
                <a:gd name="T58" fmla="*/ 18 w 417"/>
                <a:gd name="T59" fmla="*/ 215 h 222"/>
                <a:gd name="T60" fmla="*/ 16 w 417"/>
                <a:gd name="T61" fmla="*/ 210 h 222"/>
                <a:gd name="T62" fmla="*/ 13 w 417"/>
                <a:gd name="T63" fmla="*/ 205 h 222"/>
                <a:gd name="T64" fmla="*/ 11 w 417"/>
                <a:gd name="T65" fmla="*/ 200 h 222"/>
                <a:gd name="T66" fmla="*/ 8 w 417"/>
                <a:gd name="T67" fmla="*/ 195 h 222"/>
                <a:gd name="T68" fmla="*/ 6 w 417"/>
                <a:gd name="T69" fmla="*/ 190 h 222"/>
                <a:gd name="T70" fmla="*/ 5 w 417"/>
                <a:gd name="T71" fmla="*/ 186 h 222"/>
                <a:gd name="T72" fmla="*/ 3 w 417"/>
                <a:gd name="T73" fmla="*/ 181 h 222"/>
                <a:gd name="T74" fmla="*/ 0 w 417"/>
                <a:gd name="T75" fmla="*/ 182 h 2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17" h="222">
                  <a:moveTo>
                    <a:pt x="417" y="43"/>
                  </a:moveTo>
                  <a:lnTo>
                    <a:pt x="415" y="38"/>
                  </a:lnTo>
                  <a:lnTo>
                    <a:pt x="414" y="32"/>
                  </a:lnTo>
                  <a:lnTo>
                    <a:pt x="410" y="27"/>
                  </a:lnTo>
                  <a:lnTo>
                    <a:pt x="409" y="22"/>
                  </a:lnTo>
                  <a:lnTo>
                    <a:pt x="405" y="17"/>
                  </a:lnTo>
                  <a:lnTo>
                    <a:pt x="404" y="10"/>
                  </a:lnTo>
                  <a:lnTo>
                    <a:pt x="400" y="5"/>
                  </a:lnTo>
                  <a:lnTo>
                    <a:pt x="399" y="0"/>
                  </a:lnTo>
                  <a:lnTo>
                    <a:pt x="395" y="2"/>
                  </a:lnTo>
                  <a:lnTo>
                    <a:pt x="397" y="7"/>
                  </a:lnTo>
                  <a:lnTo>
                    <a:pt x="400" y="12"/>
                  </a:lnTo>
                  <a:lnTo>
                    <a:pt x="404" y="17"/>
                  </a:lnTo>
                  <a:lnTo>
                    <a:pt x="405" y="23"/>
                  </a:lnTo>
                  <a:lnTo>
                    <a:pt x="409" y="28"/>
                  </a:lnTo>
                  <a:lnTo>
                    <a:pt x="410" y="33"/>
                  </a:lnTo>
                  <a:lnTo>
                    <a:pt x="412" y="38"/>
                  </a:lnTo>
                  <a:lnTo>
                    <a:pt x="414" y="45"/>
                  </a:lnTo>
                  <a:lnTo>
                    <a:pt x="417" y="43"/>
                  </a:lnTo>
                  <a:close/>
                  <a:moveTo>
                    <a:pt x="0" y="182"/>
                  </a:moveTo>
                  <a:lnTo>
                    <a:pt x="1" y="187"/>
                  </a:lnTo>
                  <a:lnTo>
                    <a:pt x="3" y="192"/>
                  </a:lnTo>
                  <a:lnTo>
                    <a:pt x="5" y="197"/>
                  </a:lnTo>
                  <a:lnTo>
                    <a:pt x="8" y="202"/>
                  </a:lnTo>
                  <a:lnTo>
                    <a:pt x="10" y="207"/>
                  </a:lnTo>
                  <a:lnTo>
                    <a:pt x="13" y="212"/>
                  </a:lnTo>
                  <a:lnTo>
                    <a:pt x="15" y="217"/>
                  </a:lnTo>
                  <a:lnTo>
                    <a:pt x="18" y="222"/>
                  </a:lnTo>
                  <a:lnTo>
                    <a:pt x="21" y="220"/>
                  </a:lnTo>
                  <a:lnTo>
                    <a:pt x="18" y="215"/>
                  </a:lnTo>
                  <a:lnTo>
                    <a:pt x="16" y="210"/>
                  </a:lnTo>
                  <a:lnTo>
                    <a:pt x="13" y="205"/>
                  </a:lnTo>
                  <a:lnTo>
                    <a:pt x="11" y="200"/>
                  </a:lnTo>
                  <a:lnTo>
                    <a:pt x="8" y="195"/>
                  </a:lnTo>
                  <a:lnTo>
                    <a:pt x="6" y="190"/>
                  </a:lnTo>
                  <a:lnTo>
                    <a:pt x="5" y="186"/>
                  </a:lnTo>
                  <a:lnTo>
                    <a:pt x="3" y="181"/>
                  </a:lnTo>
                  <a:lnTo>
                    <a:pt x="0" y="182"/>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8" name="Freeform 540">
              <a:extLst>
                <a:ext uri="{FF2B5EF4-FFF2-40B4-BE49-F238E27FC236}">
                  <a16:creationId xmlns:a16="http://schemas.microsoft.com/office/drawing/2014/main" id="{DA3B2ED8-6E90-F100-B519-2494D4987CE8}"/>
                </a:ext>
              </a:extLst>
            </p:cNvPr>
            <p:cNvSpPr>
              <a:spLocks noEditPoints="1"/>
            </p:cNvSpPr>
            <p:nvPr/>
          </p:nvSpPr>
          <p:spPr bwMode="auto">
            <a:xfrm>
              <a:off x="2010" y="1529"/>
              <a:ext cx="414" cy="220"/>
            </a:xfrm>
            <a:custGeom>
              <a:avLst/>
              <a:gdLst>
                <a:gd name="T0" fmla="*/ 414 w 414"/>
                <a:gd name="T1" fmla="*/ 41 h 220"/>
                <a:gd name="T2" fmla="*/ 413 w 414"/>
                <a:gd name="T3" fmla="*/ 36 h 220"/>
                <a:gd name="T4" fmla="*/ 411 w 414"/>
                <a:gd name="T5" fmla="*/ 31 h 220"/>
                <a:gd name="T6" fmla="*/ 408 w 414"/>
                <a:gd name="T7" fmla="*/ 25 h 220"/>
                <a:gd name="T8" fmla="*/ 406 w 414"/>
                <a:gd name="T9" fmla="*/ 20 h 220"/>
                <a:gd name="T10" fmla="*/ 404 w 414"/>
                <a:gd name="T11" fmla="*/ 15 h 220"/>
                <a:gd name="T12" fmla="*/ 401 w 414"/>
                <a:gd name="T13" fmla="*/ 10 h 220"/>
                <a:gd name="T14" fmla="*/ 398 w 414"/>
                <a:gd name="T15" fmla="*/ 5 h 220"/>
                <a:gd name="T16" fmla="*/ 396 w 414"/>
                <a:gd name="T17" fmla="*/ 0 h 220"/>
                <a:gd name="T18" fmla="*/ 393 w 414"/>
                <a:gd name="T19" fmla="*/ 1 h 220"/>
                <a:gd name="T20" fmla="*/ 396 w 414"/>
                <a:gd name="T21" fmla="*/ 6 h 220"/>
                <a:gd name="T22" fmla="*/ 398 w 414"/>
                <a:gd name="T23" fmla="*/ 11 h 220"/>
                <a:gd name="T24" fmla="*/ 401 w 414"/>
                <a:gd name="T25" fmla="*/ 16 h 220"/>
                <a:gd name="T26" fmla="*/ 403 w 414"/>
                <a:gd name="T27" fmla="*/ 21 h 220"/>
                <a:gd name="T28" fmla="*/ 406 w 414"/>
                <a:gd name="T29" fmla="*/ 26 h 220"/>
                <a:gd name="T30" fmla="*/ 408 w 414"/>
                <a:gd name="T31" fmla="*/ 31 h 220"/>
                <a:gd name="T32" fmla="*/ 409 w 414"/>
                <a:gd name="T33" fmla="*/ 38 h 220"/>
                <a:gd name="T34" fmla="*/ 411 w 414"/>
                <a:gd name="T35" fmla="*/ 43 h 220"/>
                <a:gd name="T36" fmla="*/ 414 w 414"/>
                <a:gd name="T37" fmla="*/ 41 h 220"/>
                <a:gd name="T38" fmla="*/ 0 w 414"/>
                <a:gd name="T39" fmla="*/ 179 h 220"/>
                <a:gd name="T40" fmla="*/ 2 w 414"/>
                <a:gd name="T41" fmla="*/ 185 h 220"/>
                <a:gd name="T42" fmla="*/ 4 w 414"/>
                <a:gd name="T43" fmla="*/ 190 h 220"/>
                <a:gd name="T44" fmla="*/ 5 w 414"/>
                <a:gd name="T45" fmla="*/ 195 h 220"/>
                <a:gd name="T46" fmla="*/ 9 w 414"/>
                <a:gd name="T47" fmla="*/ 200 h 220"/>
                <a:gd name="T48" fmla="*/ 10 w 414"/>
                <a:gd name="T49" fmla="*/ 205 h 220"/>
                <a:gd name="T50" fmla="*/ 14 w 414"/>
                <a:gd name="T51" fmla="*/ 210 h 220"/>
                <a:gd name="T52" fmla="*/ 15 w 414"/>
                <a:gd name="T53" fmla="*/ 215 h 220"/>
                <a:gd name="T54" fmla="*/ 19 w 414"/>
                <a:gd name="T55" fmla="*/ 220 h 220"/>
                <a:gd name="T56" fmla="*/ 22 w 414"/>
                <a:gd name="T57" fmla="*/ 218 h 220"/>
                <a:gd name="T58" fmla="*/ 19 w 414"/>
                <a:gd name="T59" fmla="*/ 213 h 220"/>
                <a:gd name="T60" fmla="*/ 15 w 414"/>
                <a:gd name="T61" fmla="*/ 208 h 220"/>
                <a:gd name="T62" fmla="*/ 14 w 414"/>
                <a:gd name="T63" fmla="*/ 203 h 220"/>
                <a:gd name="T64" fmla="*/ 10 w 414"/>
                <a:gd name="T65" fmla="*/ 198 h 220"/>
                <a:gd name="T66" fmla="*/ 9 w 414"/>
                <a:gd name="T67" fmla="*/ 193 h 220"/>
                <a:gd name="T68" fmla="*/ 7 w 414"/>
                <a:gd name="T69" fmla="*/ 188 h 220"/>
                <a:gd name="T70" fmla="*/ 5 w 414"/>
                <a:gd name="T71" fmla="*/ 184 h 220"/>
                <a:gd name="T72" fmla="*/ 4 w 414"/>
                <a:gd name="T73" fmla="*/ 179 h 220"/>
                <a:gd name="T74" fmla="*/ 0 w 414"/>
                <a:gd name="T75" fmla="*/ 179 h 2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14" h="220">
                  <a:moveTo>
                    <a:pt x="414" y="41"/>
                  </a:moveTo>
                  <a:lnTo>
                    <a:pt x="413" y="36"/>
                  </a:lnTo>
                  <a:lnTo>
                    <a:pt x="411" y="31"/>
                  </a:lnTo>
                  <a:lnTo>
                    <a:pt x="408" y="25"/>
                  </a:lnTo>
                  <a:lnTo>
                    <a:pt x="406" y="20"/>
                  </a:lnTo>
                  <a:lnTo>
                    <a:pt x="404" y="15"/>
                  </a:lnTo>
                  <a:lnTo>
                    <a:pt x="401" y="10"/>
                  </a:lnTo>
                  <a:lnTo>
                    <a:pt x="398" y="5"/>
                  </a:lnTo>
                  <a:lnTo>
                    <a:pt x="396" y="0"/>
                  </a:lnTo>
                  <a:lnTo>
                    <a:pt x="393" y="1"/>
                  </a:lnTo>
                  <a:lnTo>
                    <a:pt x="396" y="6"/>
                  </a:lnTo>
                  <a:lnTo>
                    <a:pt x="398" y="11"/>
                  </a:lnTo>
                  <a:lnTo>
                    <a:pt x="401" y="16"/>
                  </a:lnTo>
                  <a:lnTo>
                    <a:pt x="403" y="21"/>
                  </a:lnTo>
                  <a:lnTo>
                    <a:pt x="406" y="26"/>
                  </a:lnTo>
                  <a:lnTo>
                    <a:pt x="408" y="31"/>
                  </a:lnTo>
                  <a:lnTo>
                    <a:pt x="409" y="38"/>
                  </a:lnTo>
                  <a:lnTo>
                    <a:pt x="411" y="43"/>
                  </a:lnTo>
                  <a:lnTo>
                    <a:pt x="414" y="41"/>
                  </a:lnTo>
                  <a:close/>
                  <a:moveTo>
                    <a:pt x="0" y="179"/>
                  </a:moveTo>
                  <a:lnTo>
                    <a:pt x="2" y="185"/>
                  </a:lnTo>
                  <a:lnTo>
                    <a:pt x="4" y="190"/>
                  </a:lnTo>
                  <a:lnTo>
                    <a:pt x="5" y="195"/>
                  </a:lnTo>
                  <a:lnTo>
                    <a:pt x="9" y="200"/>
                  </a:lnTo>
                  <a:lnTo>
                    <a:pt x="10" y="205"/>
                  </a:lnTo>
                  <a:lnTo>
                    <a:pt x="14" y="210"/>
                  </a:lnTo>
                  <a:lnTo>
                    <a:pt x="15" y="215"/>
                  </a:lnTo>
                  <a:lnTo>
                    <a:pt x="19" y="220"/>
                  </a:lnTo>
                  <a:lnTo>
                    <a:pt x="22" y="218"/>
                  </a:lnTo>
                  <a:lnTo>
                    <a:pt x="19" y="213"/>
                  </a:lnTo>
                  <a:lnTo>
                    <a:pt x="15" y="208"/>
                  </a:lnTo>
                  <a:lnTo>
                    <a:pt x="14" y="203"/>
                  </a:lnTo>
                  <a:lnTo>
                    <a:pt x="10" y="198"/>
                  </a:lnTo>
                  <a:lnTo>
                    <a:pt x="9" y="193"/>
                  </a:lnTo>
                  <a:lnTo>
                    <a:pt x="7" y="188"/>
                  </a:lnTo>
                  <a:lnTo>
                    <a:pt x="5" y="184"/>
                  </a:lnTo>
                  <a:lnTo>
                    <a:pt x="4" y="179"/>
                  </a:lnTo>
                  <a:lnTo>
                    <a:pt x="0" y="179"/>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9" name="Freeform 541">
              <a:extLst>
                <a:ext uri="{FF2B5EF4-FFF2-40B4-BE49-F238E27FC236}">
                  <a16:creationId xmlns:a16="http://schemas.microsoft.com/office/drawing/2014/main" id="{2DE15EC1-F667-666E-04FE-C9D06AE56577}"/>
                </a:ext>
              </a:extLst>
            </p:cNvPr>
            <p:cNvSpPr>
              <a:spLocks noEditPoints="1"/>
            </p:cNvSpPr>
            <p:nvPr/>
          </p:nvSpPr>
          <p:spPr bwMode="auto">
            <a:xfrm>
              <a:off x="2012" y="1529"/>
              <a:ext cx="411" cy="218"/>
            </a:xfrm>
            <a:custGeom>
              <a:avLst/>
              <a:gdLst>
                <a:gd name="T0" fmla="*/ 411 w 411"/>
                <a:gd name="T1" fmla="*/ 43 h 218"/>
                <a:gd name="T2" fmla="*/ 409 w 411"/>
                <a:gd name="T3" fmla="*/ 36 h 218"/>
                <a:gd name="T4" fmla="*/ 407 w 411"/>
                <a:gd name="T5" fmla="*/ 31 h 218"/>
                <a:gd name="T6" fmla="*/ 406 w 411"/>
                <a:gd name="T7" fmla="*/ 26 h 218"/>
                <a:gd name="T8" fmla="*/ 402 w 411"/>
                <a:gd name="T9" fmla="*/ 21 h 218"/>
                <a:gd name="T10" fmla="*/ 401 w 411"/>
                <a:gd name="T11" fmla="*/ 15 h 218"/>
                <a:gd name="T12" fmla="*/ 397 w 411"/>
                <a:gd name="T13" fmla="*/ 10 h 218"/>
                <a:gd name="T14" fmla="*/ 394 w 411"/>
                <a:gd name="T15" fmla="*/ 5 h 218"/>
                <a:gd name="T16" fmla="*/ 392 w 411"/>
                <a:gd name="T17" fmla="*/ 0 h 218"/>
                <a:gd name="T18" fmla="*/ 389 w 411"/>
                <a:gd name="T19" fmla="*/ 1 h 218"/>
                <a:gd name="T20" fmla="*/ 392 w 411"/>
                <a:gd name="T21" fmla="*/ 6 h 218"/>
                <a:gd name="T22" fmla="*/ 394 w 411"/>
                <a:gd name="T23" fmla="*/ 11 h 218"/>
                <a:gd name="T24" fmla="*/ 397 w 411"/>
                <a:gd name="T25" fmla="*/ 16 h 218"/>
                <a:gd name="T26" fmla="*/ 399 w 411"/>
                <a:gd name="T27" fmla="*/ 21 h 218"/>
                <a:gd name="T28" fmla="*/ 402 w 411"/>
                <a:gd name="T29" fmla="*/ 28 h 218"/>
                <a:gd name="T30" fmla="*/ 404 w 411"/>
                <a:gd name="T31" fmla="*/ 33 h 218"/>
                <a:gd name="T32" fmla="*/ 406 w 411"/>
                <a:gd name="T33" fmla="*/ 38 h 218"/>
                <a:gd name="T34" fmla="*/ 407 w 411"/>
                <a:gd name="T35" fmla="*/ 44 h 218"/>
                <a:gd name="T36" fmla="*/ 411 w 411"/>
                <a:gd name="T37" fmla="*/ 43 h 218"/>
                <a:gd name="T38" fmla="*/ 0 w 411"/>
                <a:gd name="T39" fmla="*/ 179 h 218"/>
                <a:gd name="T40" fmla="*/ 2 w 411"/>
                <a:gd name="T41" fmla="*/ 184 h 218"/>
                <a:gd name="T42" fmla="*/ 3 w 411"/>
                <a:gd name="T43" fmla="*/ 188 h 218"/>
                <a:gd name="T44" fmla="*/ 5 w 411"/>
                <a:gd name="T45" fmla="*/ 193 h 218"/>
                <a:gd name="T46" fmla="*/ 8 w 411"/>
                <a:gd name="T47" fmla="*/ 198 h 218"/>
                <a:gd name="T48" fmla="*/ 10 w 411"/>
                <a:gd name="T49" fmla="*/ 203 h 218"/>
                <a:gd name="T50" fmla="*/ 13 w 411"/>
                <a:gd name="T51" fmla="*/ 208 h 218"/>
                <a:gd name="T52" fmla="*/ 15 w 411"/>
                <a:gd name="T53" fmla="*/ 213 h 218"/>
                <a:gd name="T54" fmla="*/ 18 w 411"/>
                <a:gd name="T55" fmla="*/ 218 h 218"/>
                <a:gd name="T56" fmla="*/ 21 w 411"/>
                <a:gd name="T57" fmla="*/ 217 h 218"/>
                <a:gd name="T58" fmla="*/ 18 w 411"/>
                <a:gd name="T59" fmla="*/ 213 h 218"/>
                <a:gd name="T60" fmla="*/ 15 w 411"/>
                <a:gd name="T61" fmla="*/ 208 h 218"/>
                <a:gd name="T62" fmla="*/ 13 w 411"/>
                <a:gd name="T63" fmla="*/ 203 h 218"/>
                <a:gd name="T64" fmla="*/ 10 w 411"/>
                <a:gd name="T65" fmla="*/ 198 h 218"/>
                <a:gd name="T66" fmla="*/ 8 w 411"/>
                <a:gd name="T67" fmla="*/ 193 h 218"/>
                <a:gd name="T68" fmla="*/ 7 w 411"/>
                <a:gd name="T69" fmla="*/ 187 h 218"/>
                <a:gd name="T70" fmla="*/ 5 w 411"/>
                <a:gd name="T71" fmla="*/ 182 h 218"/>
                <a:gd name="T72" fmla="*/ 2 w 411"/>
                <a:gd name="T73" fmla="*/ 177 h 218"/>
                <a:gd name="T74" fmla="*/ 0 w 411"/>
                <a:gd name="T75" fmla="*/ 179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11" h="218">
                  <a:moveTo>
                    <a:pt x="411" y="43"/>
                  </a:moveTo>
                  <a:lnTo>
                    <a:pt x="409" y="36"/>
                  </a:lnTo>
                  <a:lnTo>
                    <a:pt x="407" y="31"/>
                  </a:lnTo>
                  <a:lnTo>
                    <a:pt x="406" y="26"/>
                  </a:lnTo>
                  <a:lnTo>
                    <a:pt x="402" y="21"/>
                  </a:lnTo>
                  <a:lnTo>
                    <a:pt x="401" y="15"/>
                  </a:lnTo>
                  <a:lnTo>
                    <a:pt x="397" y="10"/>
                  </a:lnTo>
                  <a:lnTo>
                    <a:pt x="394" y="5"/>
                  </a:lnTo>
                  <a:lnTo>
                    <a:pt x="392" y="0"/>
                  </a:lnTo>
                  <a:lnTo>
                    <a:pt x="389" y="1"/>
                  </a:lnTo>
                  <a:lnTo>
                    <a:pt x="392" y="6"/>
                  </a:lnTo>
                  <a:lnTo>
                    <a:pt x="394" y="11"/>
                  </a:lnTo>
                  <a:lnTo>
                    <a:pt x="397" y="16"/>
                  </a:lnTo>
                  <a:lnTo>
                    <a:pt x="399" y="21"/>
                  </a:lnTo>
                  <a:lnTo>
                    <a:pt x="402" y="28"/>
                  </a:lnTo>
                  <a:lnTo>
                    <a:pt x="404" y="33"/>
                  </a:lnTo>
                  <a:lnTo>
                    <a:pt x="406" y="38"/>
                  </a:lnTo>
                  <a:lnTo>
                    <a:pt x="407" y="44"/>
                  </a:lnTo>
                  <a:lnTo>
                    <a:pt x="411" y="43"/>
                  </a:lnTo>
                  <a:close/>
                  <a:moveTo>
                    <a:pt x="0" y="179"/>
                  </a:moveTo>
                  <a:lnTo>
                    <a:pt x="2" y="184"/>
                  </a:lnTo>
                  <a:lnTo>
                    <a:pt x="3" y="188"/>
                  </a:lnTo>
                  <a:lnTo>
                    <a:pt x="5" y="193"/>
                  </a:lnTo>
                  <a:lnTo>
                    <a:pt x="8" y="198"/>
                  </a:lnTo>
                  <a:lnTo>
                    <a:pt x="10" y="203"/>
                  </a:lnTo>
                  <a:lnTo>
                    <a:pt x="13" y="208"/>
                  </a:lnTo>
                  <a:lnTo>
                    <a:pt x="15" y="213"/>
                  </a:lnTo>
                  <a:lnTo>
                    <a:pt x="18" y="218"/>
                  </a:lnTo>
                  <a:lnTo>
                    <a:pt x="21" y="217"/>
                  </a:lnTo>
                  <a:lnTo>
                    <a:pt x="18" y="213"/>
                  </a:lnTo>
                  <a:lnTo>
                    <a:pt x="15" y="208"/>
                  </a:lnTo>
                  <a:lnTo>
                    <a:pt x="13" y="203"/>
                  </a:lnTo>
                  <a:lnTo>
                    <a:pt x="10" y="198"/>
                  </a:lnTo>
                  <a:lnTo>
                    <a:pt x="8" y="193"/>
                  </a:lnTo>
                  <a:lnTo>
                    <a:pt x="7" y="187"/>
                  </a:lnTo>
                  <a:lnTo>
                    <a:pt x="5" y="182"/>
                  </a:lnTo>
                  <a:lnTo>
                    <a:pt x="2" y="177"/>
                  </a:lnTo>
                  <a:lnTo>
                    <a:pt x="0" y="179"/>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0" name="Freeform 542">
              <a:extLst>
                <a:ext uri="{FF2B5EF4-FFF2-40B4-BE49-F238E27FC236}">
                  <a16:creationId xmlns:a16="http://schemas.microsoft.com/office/drawing/2014/main" id="{13669430-77D4-D9C7-279F-30928BC64D39}"/>
                </a:ext>
              </a:extLst>
            </p:cNvPr>
            <p:cNvSpPr>
              <a:spLocks noEditPoints="1"/>
            </p:cNvSpPr>
            <p:nvPr/>
          </p:nvSpPr>
          <p:spPr bwMode="auto">
            <a:xfrm>
              <a:off x="2014" y="1530"/>
              <a:ext cx="407" cy="217"/>
            </a:xfrm>
            <a:custGeom>
              <a:avLst/>
              <a:gdLst>
                <a:gd name="T0" fmla="*/ 407 w 407"/>
                <a:gd name="T1" fmla="*/ 42 h 217"/>
                <a:gd name="T2" fmla="*/ 405 w 407"/>
                <a:gd name="T3" fmla="*/ 37 h 217"/>
                <a:gd name="T4" fmla="*/ 404 w 407"/>
                <a:gd name="T5" fmla="*/ 30 h 217"/>
                <a:gd name="T6" fmla="*/ 402 w 407"/>
                <a:gd name="T7" fmla="*/ 25 h 217"/>
                <a:gd name="T8" fmla="*/ 399 w 407"/>
                <a:gd name="T9" fmla="*/ 20 h 217"/>
                <a:gd name="T10" fmla="*/ 397 w 407"/>
                <a:gd name="T11" fmla="*/ 15 h 217"/>
                <a:gd name="T12" fmla="*/ 394 w 407"/>
                <a:gd name="T13" fmla="*/ 10 h 217"/>
                <a:gd name="T14" fmla="*/ 392 w 407"/>
                <a:gd name="T15" fmla="*/ 5 h 217"/>
                <a:gd name="T16" fmla="*/ 389 w 407"/>
                <a:gd name="T17" fmla="*/ 0 h 217"/>
                <a:gd name="T18" fmla="*/ 385 w 407"/>
                <a:gd name="T19" fmla="*/ 0 h 217"/>
                <a:gd name="T20" fmla="*/ 389 w 407"/>
                <a:gd name="T21" fmla="*/ 5 h 217"/>
                <a:gd name="T22" fmla="*/ 390 w 407"/>
                <a:gd name="T23" fmla="*/ 10 h 217"/>
                <a:gd name="T24" fmla="*/ 394 w 407"/>
                <a:gd name="T25" fmla="*/ 17 h 217"/>
                <a:gd name="T26" fmla="*/ 395 w 407"/>
                <a:gd name="T27" fmla="*/ 22 h 217"/>
                <a:gd name="T28" fmla="*/ 399 w 407"/>
                <a:gd name="T29" fmla="*/ 27 h 217"/>
                <a:gd name="T30" fmla="*/ 400 w 407"/>
                <a:gd name="T31" fmla="*/ 32 h 217"/>
                <a:gd name="T32" fmla="*/ 402 w 407"/>
                <a:gd name="T33" fmla="*/ 38 h 217"/>
                <a:gd name="T34" fmla="*/ 404 w 407"/>
                <a:gd name="T35" fmla="*/ 43 h 217"/>
                <a:gd name="T36" fmla="*/ 407 w 407"/>
                <a:gd name="T37" fmla="*/ 42 h 217"/>
                <a:gd name="T38" fmla="*/ 0 w 407"/>
                <a:gd name="T39" fmla="*/ 178 h 217"/>
                <a:gd name="T40" fmla="*/ 1 w 407"/>
                <a:gd name="T41" fmla="*/ 183 h 217"/>
                <a:gd name="T42" fmla="*/ 3 w 407"/>
                <a:gd name="T43" fmla="*/ 187 h 217"/>
                <a:gd name="T44" fmla="*/ 5 w 407"/>
                <a:gd name="T45" fmla="*/ 192 h 217"/>
                <a:gd name="T46" fmla="*/ 6 w 407"/>
                <a:gd name="T47" fmla="*/ 197 h 217"/>
                <a:gd name="T48" fmla="*/ 10 w 407"/>
                <a:gd name="T49" fmla="*/ 202 h 217"/>
                <a:gd name="T50" fmla="*/ 11 w 407"/>
                <a:gd name="T51" fmla="*/ 207 h 217"/>
                <a:gd name="T52" fmla="*/ 15 w 407"/>
                <a:gd name="T53" fmla="*/ 212 h 217"/>
                <a:gd name="T54" fmla="*/ 18 w 407"/>
                <a:gd name="T55" fmla="*/ 217 h 217"/>
                <a:gd name="T56" fmla="*/ 21 w 407"/>
                <a:gd name="T57" fmla="*/ 216 h 217"/>
                <a:gd name="T58" fmla="*/ 18 w 407"/>
                <a:gd name="T59" fmla="*/ 211 h 217"/>
                <a:gd name="T60" fmla="*/ 15 w 407"/>
                <a:gd name="T61" fmla="*/ 206 h 217"/>
                <a:gd name="T62" fmla="*/ 13 w 407"/>
                <a:gd name="T63" fmla="*/ 201 h 217"/>
                <a:gd name="T64" fmla="*/ 10 w 407"/>
                <a:gd name="T65" fmla="*/ 196 h 217"/>
                <a:gd name="T66" fmla="*/ 8 w 407"/>
                <a:gd name="T67" fmla="*/ 191 h 217"/>
                <a:gd name="T68" fmla="*/ 6 w 407"/>
                <a:gd name="T69" fmla="*/ 186 h 217"/>
                <a:gd name="T70" fmla="*/ 3 w 407"/>
                <a:gd name="T71" fmla="*/ 181 h 217"/>
                <a:gd name="T72" fmla="*/ 1 w 407"/>
                <a:gd name="T73" fmla="*/ 176 h 217"/>
                <a:gd name="T74" fmla="*/ 0 w 407"/>
                <a:gd name="T75" fmla="*/ 178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07" h="217">
                  <a:moveTo>
                    <a:pt x="407" y="42"/>
                  </a:moveTo>
                  <a:lnTo>
                    <a:pt x="405" y="37"/>
                  </a:lnTo>
                  <a:lnTo>
                    <a:pt x="404" y="30"/>
                  </a:lnTo>
                  <a:lnTo>
                    <a:pt x="402" y="25"/>
                  </a:lnTo>
                  <a:lnTo>
                    <a:pt x="399" y="20"/>
                  </a:lnTo>
                  <a:lnTo>
                    <a:pt x="397" y="15"/>
                  </a:lnTo>
                  <a:lnTo>
                    <a:pt x="394" y="10"/>
                  </a:lnTo>
                  <a:lnTo>
                    <a:pt x="392" y="5"/>
                  </a:lnTo>
                  <a:lnTo>
                    <a:pt x="389" y="0"/>
                  </a:lnTo>
                  <a:lnTo>
                    <a:pt x="385" y="0"/>
                  </a:lnTo>
                  <a:lnTo>
                    <a:pt x="389" y="5"/>
                  </a:lnTo>
                  <a:lnTo>
                    <a:pt x="390" y="10"/>
                  </a:lnTo>
                  <a:lnTo>
                    <a:pt x="394" y="17"/>
                  </a:lnTo>
                  <a:lnTo>
                    <a:pt x="395" y="22"/>
                  </a:lnTo>
                  <a:lnTo>
                    <a:pt x="399" y="27"/>
                  </a:lnTo>
                  <a:lnTo>
                    <a:pt x="400" y="32"/>
                  </a:lnTo>
                  <a:lnTo>
                    <a:pt x="402" y="38"/>
                  </a:lnTo>
                  <a:lnTo>
                    <a:pt x="404" y="43"/>
                  </a:lnTo>
                  <a:lnTo>
                    <a:pt x="407" y="42"/>
                  </a:lnTo>
                  <a:close/>
                  <a:moveTo>
                    <a:pt x="0" y="178"/>
                  </a:moveTo>
                  <a:lnTo>
                    <a:pt x="1" y="183"/>
                  </a:lnTo>
                  <a:lnTo>
                    <a:pt x="3" y="187"/>
                  </a:lnTo>
                  <a:lnTo>
                    <a:pt x="5" y="192"/>
                  </a:lnTo>
                  <a:lnTo>
                    <a:pt x="6" y="197"/>
                  </a:lnTo>
                  <a:lnTo>
                    <a:pt x="10" y="202"/>
                  </a:lnTo>
                  <a:lnTo>
                    <a:pt x="11" y="207"/>
                  </a:lnTo>
                  <a:lnTo>
                    <a:pt x="15" y="212"/>
                  </a:lnTo>
                  <a:lnTo>
                    <a:pt x="18" y="217"/>
                  </a:lnTo>
                  <a:lnTo>
                    <a:pt x="21" y="216"/>
                  </a:lnTo>
                  <a:lnTo>
                    <a:pt x="18" y="211"/>
                  </a:lnTo>
                  <a:lnTo>
                    <a:pt x="15" y="206"/>
                  </a:lnTo>
                  <a:lnTo>
                    <a:pt x="13" y="201"/>
                  </a:lnTo>
                  <a:lnTo>
                    <a:pt x="10" y="196"/>
                  </a:lnTo>
                  <a:lnTo>
                    <a:pt x="8" y="191"/>
                  </a:lnTo>
                  <a:lnTo>
                    <a:pt x="6" y="186"/>
                  </a:lnTo>
                  <a:lnTo>
                    <a:pt x="3" y="181"/>
                  </a:lnTo>
                  <a:lnTo>
                    <a:pt x="1" y="176"/>
                  </a:lnTo>
                  <a:lnTo>
                    <a:pt x="0" y="178"/>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1" name="Freeform 543">
              <a:extLst>
                <a:ext uri="{FF2B5EF4-FFF2-40B4-BE49-F238E27FC236}">
                  <a16:creationId xmlns:a16="http://schemas.microsoft.com/office/drawing/2014/main" id="{73AB8127-6623-765A-A4A2-6E2847576E64}"/>
                </a:ext>
              </a:extLst>
            </p:cNvPr>
            <p:cNvSpPr>
              <a:spLocks noEditPoints="1"/>
            </p:cNvSpPr>
            <p:nvPr/>
          </p:nvSpPr>
          <p:spPr bwMode="auto">
            <a:xfrm>
              <a:off x="2014" y="1530"/>
              <a:ext cx="405" cy="216"/>
            </a:xfrm>
            <a:custGeom>
              <a:avLst/>
              <a:gdLst>
                <a:gd name="T0" fmla="*/ 405 w 405"/>
                <a:gd name="T1" fmla="*/ 43 h 216"/>
                <a:gd name="T2" fmla="*/ 404 w 405"/>
                <a:gd name="T3" fmla="*/ 37 h 216"/>
                <a:gd name="T4" fmla="*/ 402 w 405"/>
                <a:gd name="T5" fmla="*/ 32 h 216"/>
                <a:gd name="T6" fmla="*/ 400 w 405"/>
                <a:gd name="T7" fmla="*/ 27 h 216"/>
                <a:gd name="T8" fmla="*/ 397 w 405"/>
                <a:gd name="T9" fmla="*/ 20 h 216"/>
                <a:gd name="T10" fmla="*/ 395 w 405"/>
                <a:gd name="T11" fmla="*/ 15 h 216"/>
                <a:gd name="T12" fmla="*/ 392 w 405"/>
                <a:gd name="T13" fmla="*/ 10 h 216"/>
                <a:gd name="T14" fmla="*/ 390 w 405"/>
                <a:gd name="T15" fmla="*/ 5 h 216"/>
                <a:gd name="T16" fmla="*/ 387 w 405"/>
                <a:gd name="T17" fmla="*/ 0 h 216"/>
                <a:gd name="T18" fmla="*/ 384 w 405"/>
                <a:gd name="T19" fmla="*/ 2 h 216"/>
                <a:gd name="T20" fmla="*/ 387 w 405"/>
                <a:gd name="T21" fmla="*/ 7 h 216"/>
                <a:gd name="T22" fmla="*/ 389 w 405"/>
                <a:gd name="T23" fmla="*/ 12 h 216"/>
                <a:gd name="T24" fmla="*/ 392 w 405"/>
                <a:gd name="T25" fmla="*/ 17 h 216"/>
                <a:gd name="T26" fmla="*/ 395 w 405"/>
                <a:gd name="T27" fmla="*/ 22 h 216"/>
                <a:gd name="T28" fmla="*/ 397 w 405"/>
                <a:gd name="T29" fmla="*/ 27 h 216"/>
                <a:gd name="T30" fmla="*/ 399 w 405"/>
                <a:gd name="T31" fmla="*/ 34 h 216"/>
                <a:gd name="T32" fmla="*/ 400 w 405"/>
                <a:gd name="T33" fmla="*/ 38 h 216"/>
                <a:gd name="T34" fmla="*/ 404 w 405"/>
                <a:gd name="T35" fmla="*/ 43 h 216"/>
                <a:gd name="T36" fmla="*/ 405 w 405"/>
                <a:gd name="T37" fmla="*/ 43 h 216"/>
                <a:gd name="T38" fmla="*/ 0 w 405"/>
                <a:gd name="T39" fmla="*/ 176 h 216"/>
                <a:gd name="T40" fmla="*/ 3 w 405"/>
                <a:gd name="T41" fmla="*/ 181 h 216"/>
                <a:gd name="T42" fmla="*/ 5 w 405"/>
                <a:gd name="T43" fmla="*/ 186 h 216"/>
                <a:gd name="T44" fmla="*/ 6 w 405"/>
                <a:gd name="T45" fmla="*/ 192 h 216"/>
                <a:gd name="T46" fmla="*/ 8 w 405"/>
                <a:gd name="T47" fmla="*/ 197 h 216"/>
                <a:gd name="T48" fmla="*/ 11 w 405"/>
                <a:gd name="T49" fmla="*/ 202 h 216"/>
                <a:gd name="T50" fmla="*/ 13 w 405"/>
                <a:gd name="T51" fmla="*/ 207 h 216"/>
                <a:gd name="T52" fmla="*/ 16 w 405"/>
                <a:gd name="T53" fmla="*/ 212 h 216"/>
                <a:gd name="T54" fmla="*/ 19 w 405"/>
                <a:gd name="T55" fmla="*/ 216 h 216"/>
                <a:gd name="T56" fmla="*/ 21 w 405"/>
                <a:gd name="T57" fmla="*/ 216 h 216"/>
                <a:gd name="T58" fmla="*/ 19 w 405"/>
                <a:gd name="T59" fmla="*/ 211 h 216"/>
                <a:gd name="T60" fmla="*/ 16 w 405"/>
                <a:gd name="T61" fmla="*/ 206 h 216"/>
                <a:gd name="T62" fmla="*/ 15 w 405"/>
                <a:gd name="T63" fmla="*/ 201 h 216"/>
                <a:gd name="T64" fmla="*/ 11 w 405"/>
                <a:gd name="T65" fmla="*/ 196 h 216"/>
                <a:gd name="T66" fmla="*/ 10 w 405"/>
                <a:gd name="T67" fmla="*/ 191 h 216"/>
                <a:gd name="T68" fmla="*/ 8 w 405"/>
                <a:gd name="T69" fmla="*/ 186 h 216"/>
                <a:gd name="T70" fmla="*/ 5 w 405"/>
                <a:gd name="T71" fmla="*/ 179 h 216"/>
                <a:gd name="T72" fmla="*/ 3 w 405"/>
                <a:gd name="T73" fmla="*/ 174 h 216"/>
                <a:gd name="T74" fmla="*/ 0 w 405"/>
                <a:gd name="T75" fmla="*/ 176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05" h="216">
                  <a:moveTo>
                    <a:pt x="405" y="43"/>
                  </a:moveTo>
                  <a:lnTo>
                    <a:pt x="404" y="37"/>
                  </a:lnTo>
                  <a:lnTo>
                    <a:pt x="402" y="32"/>
                  </a:lnTo>
                  <a:lnTo>
                    <a:pt x="400" y="27"/>
                  </a:lnTo>
                  <a:lnTo>
                    <a:pt x="397" y="20"/>
                  </a:lnTo>
                  <a:lnTo>
                    <a:pt x="395" y="15"/>
                  </a:lnTo>
                  <a:lnTo>
                    <a:pt x="392" y="10"/>
                  </a:lnTo>
                  <a:lnTo>
                    <a:pt x="390" y="5"/>
                  </a:lnTo>
                  <a:lnTo>
                    <a:pt x="387" y="0"/>
                  </a:lnTo>
                  <a:lnTo>
                    <a:pt x="384" y="2"/>
                  </a:lnTo>
                  <a:lnTo>
                    <a:pt x="387" y="7"/>
                  </a:lnTo>
                  <a:lnTo>
                    <a:pt x="389" y="12"/>
                  </a:lnTo>
                  <a:lnTo>
                    <a:pt x="392" y="17"/>
                  </a:lnTo>
                  <a:lnTo>
                    <a:pt x="395" y="22"/>
                  </a:lnTo>
                  <a:lnTo>
                    <a:pt x="397" y="27"/>
                  </a:lnTo>
                  <a:lnTo>
                    <a:pt x="399" y="34"/>
                  </a:lnTo>
                  <a:lnTo>
                    <a:pt x="400" y="38"/>
                  </a:lnTo>
                  <a:lnTo>
                    <a:pt x="404" y="43"/>
                  </a:lnTo>
                  <a:lnTo>
                    <a:pt x="405" y="43"/>
                  </a:lnTo>
                  <a:close/>
                  <a:moveTo>
                    <a:pt x="0" y="176"/>
                  </a:moveTo>
                  <a:lnTo>
                    <a:pt x="3" y="181"/>
                  </a:lnTo>
                  <a:lnTo>
                    <a:pt x="5" y="186"/>
                  </a:lnTo>
                  <a:lnTo>
                    <a:pt x="6" y="192"/>
                  </a:lnTo>
                  <a:lnTo>
                    <a:pt x="8" y="197"/>
                  </a:lnTo>
                  <a:lnTo>
                    <a:pt x="11" y="202"/>
                  </a:lnTo>
                  <a:lnTo>
                    <a:pt x="13" y="207"/>
                  </a:lnTo>
                  <a:lnTo>
                    <a:pt x="16" y="212"/>
                  </a:lnTo>
                  <a:lnTo>
                    <a:pt x="19" y="216"/>
                  </a:lnTo>
                  <a:lnTo>
                    <a:pt x="21" y="216"/>
                  </a:lnTo>
                  <a:lnTo>
                    <a:pt x="19" y="211"/>
                  </a:lnTo>
                  <a:lnTo>
                    <a:pt x="16" y="206"/>
                  </a:lnTo>
                  <a:lnTo>
                    <a:pt x="15" y="201"/>
                  </a:lnTo>
                  <a:lnTo>
                    <a:pt x="11" y="196"/>
                  </a:lnTo>
                  <a:lnTo>
                    <a:pt x="10" y="191"/>
                  </a:lnTo>
                  <a:lnTo>
                    <a:pt x="8" y="186"/>
                  </a:lnTo>
                  <a:lnTo>
                    <a:pt x="5" y="179"/>
                  </a:lnTo>
                  <a:lnTo>
                    <a:pt x="3" y="174"/>
                  </a:lnTo>
                  <a:lnTo>
                    <a:pt x="0" y="176"/>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2" name="Freeform 544">
              <a:extLst>
                <a:ext uri="{FF2B5EF4-FFF2-40B4-BE49-F238E27FC236}">
                  <a16:creationId xmlns:a16="http://schemas.microsoft.com/office/drawing/2014/main" id="{414DB38D-FDBD-DDC0-1166-1C1C9561CFFB}"/>
                </a:ext>
              </a:extLst>
            </p:cNvPr>
            <p:cNvSpPr>
              <a:spLocks noEditPoints="1"/>
            </p:cNvSpPr>
            <p:nvPr/>
          </p:nvSpPr>
          <p:spPr bwMode="auto">
            <a:xfrm>
              <a:off x="2015" y="1530"/>
              <a:ext cx="403" cy="216"/>
            </a:xfrm>
            <a:custGeom>
              <a:avLst/>
              <a:gdLst>
                <a:gd name="T0" fmla="*/ 403 w 403"/>
                <a:gd name="T1" fmla="*/ 43 h 216"/>
                <a:gd name="T2" fmla="*/ 401 w 403"/>
                <a:gd name="T3" fmla="*/ 38 h 216"/>
                <a:gd name="T4" fmla="*/ 399 w 403"/>
                <a:gd name="T5" fmla="*/ 32 h 216"/>
                <a:gd name="T6" fmla="*/ 398 w 403"/>
                <a:gd name="T7" fmla="*/ 27 h 216"/>
                <a:gd name="T8" fmla="*/ 394 w 403"/>
                <a:gd name="T9" fmla="*/ 22 h 216"/>
                <a:gd name="T10" fmla="*/ 393 w 403"/>
                <a:gd name="T11" fmla="*/ 17 h 216"/>
                <a:gd name="T12" fmla="*/ 389 w 403"/>
                <a:gd name="T13" fmla="*/ 10 h 216"/>
                <a:gd name="T14" fmla="*/ 388 w 403"/>
                <a:gd name="T15" fmla="*/ 5 h 216"/>
                <a:gd name="T16" fmla="*/ 384 w 403"/>
                <a:gd name="T17" fmla="*/ 0 h 216"/>
                <a:gd name="T18" fmla="*/ 381 w 403"/>
                <a:gd name="T19" fmla="*/ 2 h 216"/>
                <a:gd name="T20" fmla="*/ 384 w 403"/>
                <a:gd name="T21" fmla="*/ 7 h 216"/>
                <a:gd name="T22" fmla="*/ 388 w 403"/>
                <a:gd name="T23" fmla="*/ 12 h 216"/>
                <a:gd name="T24" fmla="*/ 389 w 403"/>
                <a:gd name="T25" fmla="*/ 17 h 216"/>
                <a:gd name="T26" fmla="*/ 393 w 403"/>
                <a:gd name="T27" fmla="*/ 24 h 216"/>
                <a:gd name="T28" fmla="*/ 394 w 403"/>
                <a:gd name="T29" fmla="*/ 29 h 216"/>
                <a:gd name="T30" fmla="*/ 396 w 403"/>
                <a:gd name="T31" fmla="*/ 34 h 216"/>
                <a:gd name="T32" fmla="*/ 399 w 403"/>
                <a:gd name="T33" fmla="*/ 38 h 216"/>
                <a:gd name="T34" fmla="*/ 401 w 403"/>
                <a:gd name="T35" fmla="*/ 45 h 216"/>
                <a:gd name="T36" fmla="*/ 403 w 403"/>
                <a:gd name="T37" fmla="*/ 43 h 216"/>
                <a:gd name="T38" fmla="*/ 0 w 403"/>
                <a:gd name="T39" fmla="*/ 176 h 216"/>
                <a:gd name="T40" fmla="*/ 2 w 403"/>
                <a:gd name="T41" fmla="*/ 181 h 216"/>
                <a:gd name="T42" fmla="*/ 5 w 403"/>
                <a:gd name="T43" fmla="*/ 186 h 216"/>
                <a:gd name="T44" fmla="*/ 7 w 403"/>
                <a:gd name="T45" fmla="*/ 191 h 216"/>
                <a:gd name="T46" fmla="*/ 9 w 403"/>
                <a:gd name="T47" fmla="*/ 196 h 216"/>
                <a:gd name="T48" fmla="*/ 12 w 403"/>
                <a:gd name="T49" fmla="*/ 201 h 216"/>
                <a:gd name="T50" fmla="*/ 14 w 403"/>
                <a:gd name="T51" fmla="*/ 206 h 216"/>
                <a:gd name="T52" fmla="*/ 17 w 403"/>
                <a:gd name="T53" fmla="*/ 211 h 216"/>
                <a:gd name="T54" fmla="*/ 20 w 403"/>
                <a:gd name="T55" fmla="*/ 216 h 216"/>
                <a:gd name="T56" fmla="*/ 22 w 403"/>
                <a:gd name="T57" fmla="*/ 214 h 216"/>
                <a:gd name="T58" fmla="*/ 20 w 403"/>
                <a:gd name="T59" fmla="*/ 209 h 216"/>
                <a:gd name="T60" fmla="*/ 17 w 403"/>
                <a:gd name="T61" fmla="*/ 204 h 216"/>
                <a:gd name="T62" fmla="*/ 15 w 403"/>
                <a:gd name="T63" fmla="*/ 199 h 216"/>
                <a:gd name="T64" fmla="*/ 12 w 403"/>
                <a:gd name="T65" fmla="*/ 194 h 216"/>
                <a:gd name="T66" fmla="*/ 10 w 403"/>
                <a:gd name="T67" fmla="*/ 189 h 216"/>
                <a:gd name="T68" fmla="*/ 9 w 403"/>
                <a:gd name="T69" fmla="*/ 184 h 216"/>
                <a:gd name="T70" fmla="*/ 5 w 403"/>
                <a:gd name="T71" fmla="*/ 179 h 216"/>
                <a:gd name="T72" fmla="*/ 4 w 403"/>
                <a:gd name="T73" fmla="*/ 174 h 216"/>
                <a:gd name="T74" fmla="*/ 0 w 403"/>
                <a:gd name="T75" fmla="*/ 176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03" h="216">
                  <a:moveTo>
                    <a:pt x="403" y="43"/>
                  </a:moveTo>
                  <a:lnTo>
                    <a:pt x="401" y="38"/>
                  </a:lnTo>
                  <a:lnTo>
                    <a:pt x="399" y="32"/>
                  </a:lnTo>
                  <a:lnTo>
                    <a:pt x="398" y="27"/>
                  </a:lnTo>
                  <a:lnTo>
                    <a:pt x="394" y="22"/>
                  </a:lnTo>
                  <a:lnTo>
                    <a:pt x="393" y="17"/>
                  </a:lnTo>
                  <a:lnTo>
                    <a:pt x="389" y="10"/>
                  </a:lnTo>
                  <a:lnTo>
                    <a:pt x="388" y="5"/>
                  </a:lnTo>
                  <a:lnTo>
                    <a:pt x="384" y="0"/>
                  </a:lnTo>
                  <a:lnTo>
                    <a:pt x="381" y="2"/>
                  </a:lnTo>
                  <a:lnTo>
                    <a:pt x="384" y="7"/>
                  </a:lnTo>
                  <a:lnTo>
                    <a:pt x="388" y="12"/>
                  </a:lnTo>
                  <a:lnTo>
                    <a:pt x="389" y="17"/>
                  </a:lnTo>
                  <a:lnTo>
                    <a:pt x="393" y="24"/>
                  </a:lnTo>
                  <a:lnTo>
                    <a:pt x="394" y="29"/>
                  </a:lnTo>
                  <a:lnTo>
                    <a:pt x="396" y="34"/>
                  </a:lnTo>
                  <a:lnTo>
                    <a:pt x="399" y="38"/>
                  </a:lnTo>
                  <a:lnTo>
                    <a:pt x="401" y="45"/>
                  </a:lnTo>
                  <a:lnTo>
                    <a:pt x="403" y="43"/>
                  </a:lnTo>
                  <a:close/>
                  <a:moveTo>
                    <a:pt x="0" y="176"/>
                  </a:moveTo>
                  <a:lnTo>
                    <a:pt x="2" y="181"/>
                  </a:lnTo>
                  <a:lnTo>
                    <a:pt x="5" y="186"/>
                  </a:lnTo>
                  <a:lnTo>
                    <a:pt x="7" y="191"/>
                  </a:lnTo>
                  <a:lnTo>
                    <a:pt x="9" y="196"/>
                  </a:lnTo>
                  <a:lnTo>
                    <a:pt x="12" y="201"/>
                  </a:lnTo>
                  <a:lnTo>
                    <a:pt x="14" y="206"/>
                  </a:lnTo>
                  <a:lnTo>
                    <a:pt x="17" y="211"/>
                  </a:lnTo>
                  <a:lnTo>
                    <a:pt x="20" y="216"/>
                  </a:lnTo>
                  <a:lnTo>
                    <a:pt x="22" y="214"/>
                  </a:lnTo>
                  <a:lnTo>
                    <a:pt x="20" y="209"/>
                  </a:lnTo>
                  <a:lnTo>
                    <a:pt x="17" y="204"/>
                  </a:lnTo>
                  <a:lnTo>
                    <a:pt x="15" y="199"/>
                  </a:lnTo>
                  <a:lnTo>
                    <a:pt x="12" y="194"/>
                  </a:lnTo>
                  <a:lnTo>
                    <a:pt x="10" y="189"/>
                  </a:lnTo>
                  <a:lnTo>
                    <a:pt x="9" y="184"/>
                  </a:lnTo>
                  <a:lnTo>
                    <a:pt x="5" y="179"/>
                  </a:lnTo>
                  <a:lnTo>
                    <a:pt x="4" y="174"/>
                  </a:lnTo>
                  <a:lnTo>
                    <a:pt x="0" y="176"/>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3" name="Freeform 545">
              <a:extLst>
                <a:ext uri="{FF2B5EF4-FFF2-40B4-BE49-F238E27FC236}">
                  <a16:creationId xmlns:a16="http://schemas.microsoft.com/office/drawing/2014/main" id="{5C1C6F38-AB04-FF6B-BB2B-8B425F346773}"/>
                </a:ext>
              </a:extLst>
            </p:cNvPr>
            <p:cNvSpPr>
              <a:spLocks noEditPoints="1"/>
            </p:cNvSpPr>
            <p:nvPr/>
          </p:nvSpPr>
          <p:spPr bwMode="auto">
            <a:xfrm>
              <a:off x="2017" y="1532"/>
              <a:ext cx="401" cy="214"/>
            </a:xfrm>
            <a:custGeom>
              <a:avLst/>
              <a:gdLst>
                <a:gd name="T0" fmla="*/ 401 w 401"/>
                <a:gd name="T1" fmla="*/ 41 h 214"/>
                <a:gd name="T2" fmla="*/ 397 w 401"/>
                <a:gd name="T3" fmla="*/ 36 h 214"/>
                <a:gd name="T4" fmla="*/ 396 w 401"/>
                <a:gd name="T5" fmla="*/ 32 h 214"/>
                <a:gd name="T6" fmla="*/ 394 w 401"/>
                <a:gd name="T7" fmla="*/ 25 h 214"/>
                <a:gd name="T8" fmla="*/ 392 w 401"/>
                <a:gd name="T9" fmla="*/ 20 h 214"/>
                <a:gd name="T10" fmla="*/ 389 w 401"/>
                <a:gd name="T11" fmla="*/ 15 h 214"/>
                <a:gd name="T12" fmla="*/ 386 w 401"/>
                <a:gd name="T13" fmla="*/ 10 h 214"/>
                <a:gd name="T14" fmla="*/ 384 w 401"/>
                <a:gd name="T15" fmla="*/ 5 h 214"/>
                <a:gd name="T16" fmla="*/ 381 w 401"/>
                <a:gd name="T17" fmla="*/ 0 h 214"/>
                <a:gd name="T18" fmla="*/ 378 w 401"/>
                <a:gd name="T19" fmla="*/ 2 h 214"/>
                <a:gd name="T20" fmla="*/ 381 w 401"/>
                <a:gd name="T21" fmla="*/ 7 h 214"/>
                <a:gd name="T22" fmla="*/ 384 w 401"/>
                <a:gd name="T23" fmla="*/ 12 h 214"/>
                <a:gd name="T24" fmla="*/ 386 w 401"/>
                <a:gd name="T25" fmla="*/ 17 h 214"/>
                <a:gd name="T26" fmla="*/ 389 w 401"/>
                <a:gd name="T27" fmla="*/ 22 h 214"/>
                <a:gd name="T28" fmla="*/ 391 w 401"/>
                <a:gd name="T29" fmla="*/ 27 h 214"/>
                <a:gd name="T30" fmla="*/ 392 w 401"/>
                <a:gd name="T31" fmla="*/ 33 h 214"/>
                <a:gd name="T32" fmla="*/ 396 w 401"/>
                <a:gd name="T33" fmla="*/ 38 h 214"/>
                <a:gd name="T34" fmla="*/ 397 w 401"/>
                <a:gd name="T35" fmla="*/ 43 h 214"/>
                <a:gd name="T36" fmla="*/ 401 w 401"/>
                <a:gd name="T37" fmla="*/ 41 h 214"/>
                <a:gd name="T38" fmla="*/ 0 w 401"/>
                <a:gd name="T39" fmla="*/ 172 h 214"/>
                <a:gd name="T40" fmla="*/ 2 w 401"/>
                <a:gd name="T41" fmla="*/ 177 h 214"/>
                <a:gd name="T42" fmla="*/ 5 w 401"/>
                <a:gd name="T43" fmla="*/ 184 h 214"/>
                <a:gd name="T44" fmla="*/ 7 w 401"/>
                <a:gd name="T45" fmla="*/ 189 h 214"/>
                <a:gd name="T46" fmla="*/ 8 w 401"/>
                <a:gd name="T47" fmla="*/ 194 h 214"/>
                <a:gd name="T48" fmla="*/ 12 w 401"/>
                <a:gd name="T49" fmla="*/ 199 h 214"/>
                <a:gd name="T50" fmla="*/ 13 w 401"/>
                <a:gd name="T51" fmla="*/ 204 h 214"/>
                <a:gd name="T52" fmla="*/ 16 w 401"/>
                <a:gd name="T53" fmla="*/ 209 h 214"/>
                <a:gd name="T54" fmla="*/ 18 w 401"/>
                <a:gd name="T55" fmla="*/ 214 h 214"/>
                <a:gd name="T56" fmla="*/ 21 w 401"/>
                <a:gd name="T57" fmla="*/ 212 h 214"/>
                <a:gd name="T58" fmla="*/ 20 w 401"/>
                <a:gd name="T59" fmla="*/ 207 h 214"/>
                <a:gd name="T60" fmla="*/ 16 w 401"/>
                <a:gd name="T61" fmla="*/ 202 h 214"/>
                <a:gd name="T62" fmla="*/ 13 w 401"/>
                <a:gd name="T63" fmla="*/ 197 h 214"/>
                <a:gd name="T64" fmla="*/ 12 w 401"/>
                <a:gd name="T65" fmla="*/ 192 h 214"/>
                <a:gd name="T66" fmla="*/ 10 w 401"/>
                <a:gd name="T67" fmla="*/ 187 h 214"/>
                <a:gd name="T68" fmla="*/ 7 w 401"/>
                <a:gd name="T69" fmla="*/ 182 h 214"/>
                <a:gd name="T70" fmla="*/ 5 w 401"/>
                <a:gd name="T71" fmla="*/ 177 h 214"/>
                <a:gd name="T72" fmla="*/ 3 w 401"/>
                <a:gd name="T73" fmla="*/ 171 h 214"/>
                <a:gd name="T74" fmla="*/ 0 w 401"/>
                <a:gd name="T75" fmla="*/ 172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01" h="214">
                  <a:moveTo>
                    <a:pt x="401" y="41"/>
                  </a:moveTo>
                  <a:lnTo>
                    <a:pt x="397" y="36"/>
                  </a:lnTo>
                  <a:lnTo>
                    <a:pt x="396" y="32"/>
                  </a:lnTo>
                  <a:lnTo>
                    <a:pt x="394" y="25"/>
                  </a:lnTo>
                  <a:lnTo>
                    <a:pt x="392" y="20"/>
                  </a:lnTo>
                  <a:lnTo>
                    <a:pt x="389" y="15"/>
                  </a:lnTo>
                  <a:lnTo>
                    <a:pt x="386" y="10"/>
                  </a:lnTo>
                  <a:lnTo>
                    <a:pt x="384" y="5"/>
                  </a:lnTo>
                  <a:lnTo>
                    <a:pt x="381" y="0"/>
                  </a:lnTo>
                  <a:lnTo>
                    <a:pt x="378" y="2"/>
                  </a:lnTo>
                  <a:lnTo>
                    <a:pt x="381" y="7"/>
                  </a:lnTo>
                  <a:lnTo>
                    <a:pt x="384" y="12"/>
                  </a:lnTo>
                  <a:lnTo>
                    <a:pt x="386" y="17"/>
                  </a:lnTo>
                  <a:lnTo>
                    <a:pt x="389" y="22"/>
                  </a:lnTo>
                  <a:lnTo>
                    <a:pt x="391" y="27"/>
                  </a:lnTo>
                  <a:lnTo>
                    <a:pt x="392" y="33"/>
                  </a:lnTo>
                  <a:lnTo>
                    <a:pt x="396" y="38"/>
                  </a:lnTo>
                  <a:lnTo>
                    <a:pt x="397" y="43"/>
                  </a:lnTo>
                  <a:lnTo>
                    <a:pt x="401" y="41"/>
                  </a:lnTo>
                  <a:close/>
                  <a:moveTo>
                    <a:pt x="0" y="172"/>
                  </a:moveTo>
                  <a:lnTo>
                    <a:pt x="2" y="177"/>
                  </a:lnTo>
                  <a:lnTo>
                    <a:pt x="5" y="184"/>
                  </a:lnTo>
                  <a:lnTo>
                    <a:pt x="7" y="189"/>
                  </a:lnTo>
                  <a:lnTo>
                    <a:pt x="8" y="194"/>
                  </a:lnTo>
                  <a:lnTo>
                    <a:pt x="12" y="199"/>
                  </a:lnTo>
                  <a:lnTo>
                    <a:pt x="13" y="204"/>
                  </a:lnTo>
                  <a:lnTo>
                    <a:pt x="16" y="209"/>
                  </a:lnTo>
                  <a:lnTo>
                    <a:pt x="18" y="214"/>
                  </a:lnTo>
                  <a:lnTo>
                    <a:pt x="21" y="212"/>
                  </a:lnTo>
                  <a:lnTo>
                    <a:pt x="20" y="207"/>
                  </a:lnTo>
                  <a:lnTo>
                    <a:pt x="16" y="202"/>
                  </a:lnTo>
                  <a:lnTo>
                    <a:pt x="13" y="197"/>
                  </a:lnTo>
                  <a:lnTo>
                    <a:pt x="12" y="192"/>
                  </a:lnTo>
                  <a:lnTo>
                    <a:pt x="10" y="187"/>
                  </a:lnTo>
                  <a:lnTo>
                    <a:pt x="7" y="182"/>
                  </a:lnTo>
                  <a:lnTo>
                    <a:pt x="5" y="177"/>
                  </a:lnTo>
                  <a:lnTo>
                    <a:pt x="3" y="171"/>
                  </a:lnTo>
                  <a:lnTo>
                    <a:pt x="0" y="172"/>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4" name="Freeform 546">
              <a:extLst>
                <a:ext uri="{FF2B5EF4-FFF2-40B4-BE49-F238E27FC236}">
                  <a16:creationId xmlns:a16="http://schemas.microsoft.com/office/drawing/2014/main" id="{B0881B1C-B007-6387-D559-C7B07A8246E7}"/>
                </a:ext>
              </a:extLst>
            </p:cNvPr>
            <p:cNvSpPr>
              <a:spLocks noEditPoints="1"/>
            </p:cNvSpPr>
            <p:nvPr/>
          </p:nvSpPr>
          <p:spPr bwMode="auto">
            <a:xfrm>
              <a:off x="2019" y="1532"/>
              <a:ext cx="397" cy="212"/>
            </a:xfrm>
            <a:custGeom>
              <a:avLst/>
              <a:gdLst>
                <a:gd name="T0" fmla="*/ 397 w 397"/>
                <a:gd name="T1" fmla="*/ 43 h 212"/>
                <a:gd name="T2" fmla="*/ 395 w 397"/>
                <a:gd name="T3" fmla="*/ 36 h 212"/>
                <a:gd name="T4" fmla="*/ 392 w 397"/>
                <a:gd name="T5" fmla="*/ 32 h 212"/>
                <a:gd name="T6" fmla="*/ 390 w 397"/>
                <a:gd name="T7" fmla="*/ 27 h 212"/>
                <a:gd name="T8" fmla="*/ 389 w 397"/>
                <a:gd name="T9" fmla="*/ 22 h 212"/>
                <a:gd name="T10" fmla="*/ 385 w 397"/>
                <a:gd name="T11" fmla="*/ 15 h 212"/>
                <a:gd name="T12" fmla="*/ 384 w 397"/>
                <a:gd name="T13" fmla="*/ 10 h 212"/>
                <a:gd name="T14" fmla="*/ 380 w 397"/>
                <a:gd name="T15" fmla="*/ 5 h 212"/>
                <a:gd name="T16" fmla="*/ 377 w 397"/>
                <a:gd name="T17" fmla="*/ 0 h 212"/>
                <a:gd name="T18" fmla="*/ 374 w 397"/>
                <a:gd name="T19" fmla="*/ 2 h 212"/>
                <a:gd name="T20" fmla="*/ 377 w 397"/>
                <a:gd name="T21" fmla="*/ 7 h 212"/>
                <a:gd name="T22" fmla="*/ 380 w 397"/>
                <a:gd name="T23" fmla="*/ 12 h 212"/>
                <a:gd name="T24" fmla="*/ 382 w 397"/>
                <a:gd name="T25" fmla="*/ 17 h 212"/>
                <a:gd name="T26" fmla="*/ 385 w 397"/>
                <a:gd name="T27" fmla="*/ 22 h 212"/>
                <a:gd name="T28" fmla="*/ 387 w 397"/>
                <a:gd name="T29" fmla="*/ 28 h 212"/>
                <a:gd name="T30" fmla="*/ 389 w 397"/>
                <a:gd name="T31" fmla="*/ 33 h 212"/>
                <a:gd name="T32" fmla="*/ 392 w 397"/>
                <a:gd name="T33" fmla="*/ 38 h 212"/>
                <a:gd name="T34" fmla="*/ 394 w 397"/>
                <a:gd name="T35" fmla="*/ 45 h 212"/>
                <a:gd name="T36" fmla="*/ 397 w 397"/>
                <a:gd name="T37" fmla="*/ 43 h 212"/>
                <a:gd name="T38" fmla="*/ 0 w 397"/>
                <a:gd name="T39" fmla="*/ 172 h 212"/>
                <a:gd name="T40" fmla="*/ 1 w 397"/>
                <a:gd name="T41" fmla="*/ 177 h 212"/>
                <a:gd name="T42" fmla="*/ 3 w 397"/>
                <a:gd name="T43" fmla="*/ 182 h 212"/>
                <a:gd name="T44" fmla="*/ 6 w 397"/>
                <a:gd name="T45" fmla="*/ 187 h 212"/>
                <a:gd name="T46" fmla="*/ 8 w 397"/>
                <a:gd name="T47" fmla="*/ 192 h 212"/>
                <a:gd name="T48" fmla="*/ 11 w 397"/>
                <a:gd name="T49" fmla="*/ 197 h 212"/>
                <a:gd name="T50" fmla="*/ 13 w 397"/>
                <a:gd name="T51" fmla="*/ 202 h 212"/>
                <a:gd name="T52" fmla="*/ 16 w 397"/>
                <a:gd name="T53" fmla="*/ 207 h 212"/>
                <a:gd name="T54" fmla="*/ 18 w 397"/>
                <a:gd name="T55" fmla="*/ 212 h 212"/>
                <a:gd name="T56" fmla="*/ 21 w 397"/>
                <a:gd name="T57" fmla="*/ 210 h 212"/>
                <a:gd name="T58" fmla="*/ 19 w 397"/>
                <a:gd name="T59" fmla="*/ 207 h 212"/>
                <a:gd name="T60" fmla="*/ 16 w 397"/>
                <a:gd name="T61" fmla="*/ 202 h 212"/>
                <a:gd name="T62" fmla="*/ 13 w 397"/>
                <a:gd name="T63" fmla="*/ 197 h 212"/>
                <a:gd name="T64" fmla="*/ 11 w 397"/>
                <a:gd name="T65" fmla="*/ 192 h 212"/>
                <a:gd name="T66" fmla="*/ 10 w 397"/>
                <a:gd name="T67" fmla="*/ 185 h 212"/>
                <a:gd name="T68" fmla="*/ 6 w 397"/>
                <a:gd name="T69" fmla="*/ 181 h 212"/>
                <a:gd name="T70" fmla="*/ 5 w 397"/>
                <a:gd name="T71" fmla="*/ 176 h 212"/>
                <a:gd name="T72" fmla="*/ 3 w 397"/>
                <a:gd name="T73" fmla="*/ 171 h 212"/>
                <a:gd name="T74" fmla="*/ 0 w 397"/>
                <a:gd name="T75" fmla="*/ 172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97" h="212">
                  <a:moveTo>
                    <a:pt x="397" y="43"/>
                  </a:moveTo>
                  <a:lnTo>
                    <a:pt x="395" y="36"/>
                  </a:lnTo>
                  <a:lnTo>
                    <a:pt x="392" y="32"/>
                  </a:lnTo>
                  <a:lnTo>
                    <a:pt x="390" y="27"/>
                  </a:lnTo>
                  <a:lnTo>
                    <a:pt x="389" y="22"/>
                  </a:lnTo>
                  <a:lnTo>
                    <a:pt x="385" y="15"/>
                  </a:lnTo>
                  <a:lnTo>
                    <a:pt x="384" y="10"/>
                  </a:lnTo>
                  <a:lnTo>
                    <a:pt x="380" y="5"/>
                  </a:lnTo>
                  <a:lnTo>
                    <a:pt x="377" y="0"/>
                  </a:lnTo>
                  <a:lnTo>
                    <a:pt x="374" y="2"/>
                  </a:lnTo>
                  <a:lnTo>
                    <a:pt x="377" y="7"/>
                  </a:lnTo>
                  <a:lnTo>
                    <a:pt x="380" y="12"/>
                  </a:lnTo>
                  <a:lnTo>
                    <a:pt x="382" y="17"/>
                  </a:lnTo>
                  <a:lnTo>
                    <a:pt x="385" y="22"/>
                  </a:lnTo>
                  <a:lnTo>
                    <a:pt x="387" y="28"/>
                  </a:lnTo>
                  <a:lnTo>
                    <a:pt x="389" y="33"/>
                  </a:lnTo>
                  <a:lnTo>
                    <a:pt x="392" y="38"/>
                  </a:lnTo>
                  <a:lnTo>
                    <a:pt x="394" y="45"/>
                  </a:lnTo>
                  <a:lnTo>
                    <a:pt x="397" y="43"/>
                  </a:lnTo>
                  <a:close/>
                  <a:moveTo>
                    <a:pt x="0" y="172"/>
                  </a:moveTo>
                  <a:lnTo>
                    <a:pt x="1" y="177"/>
                  </a:lnTo>
                  <a:lnTo>
                    <a:pt x="3" y="182"/>
                  </a:lnTo>
                  <a:lnTo>
                    <a:pt x="6" y="187"/>
                  </a:lnTo>
                  <a:lnTo>
                    <a:pt x="8" y="192"/>
                  </a:lnTo>
                  <a:lnTo>
                    <a:pt x="11" y="197"/>
                  </a:lnTo>
                  <a:lnTo>
                    <a:pt x="13" y="202"/>
                  </a:lnTo>
                  <a:lnTo>
                    <a:pt x="16" y="207"/>
                  </a:lnTo>
                  <a:lnTo>
                    <a:pt x="18" y="212"/>
                  </a:lnTo>
                  <a:lnTo>
                    <a:pt x="21" y="210"/>
                  </a:lnTo>
                  <a:lnTo>
                    <a:pt x="19" y="207"/>
                  </a:lnTo>
                  <a:lnTo>
                    <a:pt x="16" y="202"/>
                  </a:lnTo>
                  <a:lnTo>
                    <a:pt x="13" y="197"/>
                  </a:lnTo>
                  <a:lnTo>
                    <a:pt x="11" y="192"/>
                  </a:lnTo>
                  <a:lnTo>
                    <a:pt x="10" y="185"/>
                  </a:lnTo>
                  <a:lnTo>
                    <a:pt x="6" y="181"/>
                  </a:lnTo>
                  <a:lnTo>
                    <a:pt x="5" y="176"/>
                  </a:lnTo>
                  <a:lnTo>
                    <a:pt x="3" y="171"/>
                  </a:lnTo>
                  <a:lnTo>
                    <a:pt x="0" y="172"/>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5" name="Freeform 547">
              <a:extLst>
                <a:ext uri="{FF2B5EF4-FFF2-40B4-BE49-F238E27FC236}">
                  <a16:creationId xmlns:a16="http://schemas.microsoft.com/office/drawing/2014/main" id="{EB93F639-09B4-B61B-C129-5F72C6F6D368}"/>
                </a:ext>
              </a:extLst>
            </p:cNvPr>
            <p:cNvSpPr>
              <a:spLocks noEditPoints="1"/>
            </p:cNvSpPr>
            <p:nvPr/>
          </p:nvSpPr>
          <p:spPr bwMode="auto">
            <a:xfrm>
              <a:off x="2020" y="1534"/>
              <a:ext cx="394" cy="210"/>
            </a:xfrm>
            <a:custGeom>
              <a:avLst/>
              <a:gdLst>
                <a:gd name="T0" fmla="*/ 394 w 394"/>
                <a:gd name="T1" fmla="*/ 41 h 210"/>
                <a:gd name="T2" fmla="*/ 393 w 394"/>
                <a:gd name="T3" fmla="*/ 36 h 210"/>
                <a:gd name="T4" fmla="*/ 389 w 394"/>
                <a:gd name="T5" fmla="*/ 31 h 210"/>
                <a:gd name="T6" fmla="*/ 388 w 394"/>
                <a:gd name="T7" fmla="*/ 25 h 210"/>
                <a:gd name="T8" fmla="*/ 386 w 394"/>
                <a:gd name="T9" fmla="*/ 20 h 210"/>
                <a:gd name="T10" fmla="*/ 383 w 394"/>
                <a:gd name="T11" fmla="*/ 15 h 210"/>
                <a:gd name="T12" fmla="*/ 381 w 394"/>
                <a:gd name="T13" fmla="*/ 10 h 210"/>
                <a:gd name="T14" fmla="*/ 378 w 394"/>
                <a:gd name="T15" fmla="*/ 5 h 210"/>
                <a:gd name="T16" fmla="*/ 375 w 394"/>
                <a:gd name="T17" fmla="*/ 0 h 210"/>
                <a:gd name="T18" fmla="*/ 371 w 394"/>
                <a:gd name="T19" fmla="*/ 0 h 210"/>
                <a:gd name="T20" fmla="*/ 375 w 394"/>
                <a:gd name="T21" fmla="*/ 5 h 210"/>
                <a:gd name="T22" fmla="*/ 378 w 394"/>
                <a:gd name="T23" fmla="*/ 11 h 210"/>
                <a:gd name="T24" fmla="*/ 379 w 394"/>
                <a:gd name="T25" fmla="*/ 16 h 210"/>
                <a:gd name="T26" fmla="*/ 383 w 394"/>
                <a:gd name="T27" fmla="*/ 21 h 210"/>
                <a:gd name="T28" fmla="*/ 384 w 394"/>
                <a:gd name="T29" fmla="*/ 26 h 210"/>
                <a:gd name="T30" fmla="*/ 388 w 394"/>
                <a:gd name="T31" fmla="*/ 31 h 210"/>
                <a:gd name="T32" fmla="*/ 389 w 394"/>
                <a:gd name="T33" fmla="*/ 38 h 210"/>
                <a:gd name="T34" fmla="*/ 391 w 394"/>
                <a:gd name="T35" fmla="*/ 43 h 210"/>
                <a:gd name="T36" fmla="*/ 394 w 394"/>
                <a:gd name="T37" fmla="*/ 41 h 210"/>
                <a:gd name="T38" fmla="*/ 0 w 394"/>
                <a:gd name="T39" fmla="*/ 169 h 210"/>
                <a:gd name="T40" fmla="*/ 2 w 394"/>
                <a:gd name="T41" fmla="*/ 175 h 210"/>
                <a:gd name="T42" fmla="*/ 4 w 394"/>
                <a:gd name="T43" fmla="*/ 180 h 210"/>
                <a:gd name="T44" fmla="*/ 7 w 394"/>
                <a:gd name="T45" fmla="*/ 185 h 210"/>
                <a:gd name="T46" fmla="*/ 9 w 394"/>
                <a:gd name="T47" fmla="*/ 190 h 210"/>
                <a:gd name="T48" fmla="*/ 10 w 394"/>
                <a:gd name="T49" fmla="*/ 195 h 210"/>
                <a:gd name="T50" fmla="*/ 13 w 394"/>
                <a:gd name="T51" fmla="*/ 200 h 210"/>
                <a:gd name="T52" fmla="*/ 17 w 394"/>
                <a:gd name="T53" fmla="*/ 205 h 210"/>
                <a:gd name="T54" fmla="*/ 18 w 394"/>
                <a:gd name="T55" fmla="*/ 210 h 210"/>
                <a:gd name="T56" fmla="*/ 22 w 394"/>
                <a:gd name="T57" fmla="*/ 208 h 210"/>
                <a:gd name="T58" fmla="*/ 18 w 394"/>
                <a:gd name="T59" fmla="*/ 203 h 210"/>
                <a:gd name="T60" fmla="*/ 17 w 394"/>
                <a:gd name="T61" fmla="*/ 198 h 210"/>
                <a:gd name="T62" fmla="*/ 13 w 394"/>
                <a:gd name="T63" fmla="*/ 193 h 210"/>
                <a:gd name="T64" fmla="*/ 12 w 394"/>
                <a:gd name="T65" fmla="*/ 188 h 210"/>
                <a:gd name="T66" fmla="*/ 10 w 394"/>
                <a:gd name="T67" fmla="*/ 183 h 210"/>
                <a:gd name="T68" fmla="*/ 7 w 394"/>
                <a:gd name="T69" fmla="*/ 179 h 210"/>
                <a:gd name="T70" fmla="*/ 5 w 394"/>
                <a:gd name="T71" fmla="*/ 174 h 210"/>
                <a:gd name="T72" fmla="*/ 4 w 394"/>
                <a:gd name="T73" fmla="*/ 169 h 210"/>
                <a:gd name="T74" fmla="*/ 0 w 394"/>
                <a:gd name="T75" fmla="*/ 169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94" h="210">
                  <a:moveTo>
                    <a:pt x="394" y="41"/>
                  </a:moveTo>
                  <a:lnTo>
                    <a:pt x="393" y="36"/>
                  </a:lnTo>
                  <a:lnTo>
                    <a:pt x="389" y="31"/>
                  </a:lnTo>
                  <a:lnTo>
                    <a:pt x="388" y="25"/>
                  </a:lnTo>
                  <a:lnTo>
                    <a:pt x="386" y="20"/>
                  </a:lnTo>
                  <a:lnTo>
                    <a:pt x="383" y="15"/>
                  </a:lnTo>
                  <a:lnTo>
                    <a:pt x="381" y="10"/>
                  </a:lnTo>
                  <a:lnTo>
                    <a:pt x="378" y="5"/>
                  </a:lnTo>
                  <a:lnTo>
                    <a:pt x="375" y="0"/>
                  </a:lnTo>
                  <a:lnTo>
                    <a:pt x="371" y="0"/>
                  </a:lnTo>
                  <a:lnTo>
                    <a:pt x="375" y="5"/>
                  </a:lnTo>
                  <a:lnTo>
                    <a:pt x="378" y="11"/>
                  </a:lnTo>
                  <a:lnTo>
                    <a:pt x="379" y="16"/>
                  </a:lnTo>
                  <a:lnTo>
                    <a:pt x="383" y="21"/>
                  </a:lnTo>
                  <a:lnTo>
                    <a:pt x="384" y="26"/>
                  </a:lnTo>
                  <a:lnTo>
                    <a:pt x="388" y="31"/>
                  </a:lnTo>
                  <a:lnTo>
                    <a:pt x="389" y="38"/>
                  </a:lnTo>
                  <a:lnTo>
                    <a:pt x="391" y="43"/>
                  </a:lnTo>
                  <a:lnTo>
                    <a:pt x="394" y="41"/>
                  </a:lnTo>
                  <a:close/>
                  <a:moveTo>
                    <a:pt x="0" y="169"/>
                  </a:moveTo>
                  <a:lnTo>
                    <a:pt x="2" y="175"/>
                  </a:lnTo>
                  <a:lnTo>
                    <a:pt x="4" y="180"/>
                  </a:lnTo>
                  <a:lnTo>
                    <a:pt x="7" y="185"/>
                  </a:lnTo>
                  <a:lnTo>
                    <a:pt x="9" y="190"/>
                  </a:lnTo>
                  <a:lnTo>
                    <a:pt x="10" y="195"/>
                  </a:lnTo>
                  <a:lnTo>
                    <a:pt x="13" y="200"/>
                  </a:lnTo>
                  <a:lnTo>
                    <a:pt x="17" y="205"/>
                  </a:lnTo>
                  <a:lnTo>
                    <a:pt x="18" y="210"/>
                  </a:lnTo>
                  <a:lnTo>
                    <a:pt x="22" y="208"/>
                  </a:lnTo>
                  <a:lnTo>
                    <a:pt x="18" y="203"/>
                  </a:lnTo>
                  <a:lnTo>
                    <a:pt x="17" y="198"/>
                  </a:lnTo>
                  <a:lnTo>
                    <a:pt x="13" y="193"/>
                  </a:lnTo>
                  <a:lnTo>
                    <a:pt x="12" y="188"/>
                  </a:lnTo>
                  <a:lnTo>
                    <a:pt x="10" y="183"/>
                  </a:lnTo>
                  <a:lnTo>
                    <a:pt x="7" y="179"/>
                  </a:lnTo>
                  <a:lnTo>
                    <a:pt x="5" y="174"/>
                  </a:lnTo>
                  <a:lnTo>
                    <a:pt x="4" y="169"/>
                  </a:lnTo>
                  <a:lnTo>
                    <a:pt x="0" y="169"/>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6" name="Freeform 548">
              <a:extLst>
                <a:ext uri="{FF2B5EF4-FFF2-40B4-BE49-F238E27FC236}">
                  <a16:creationId xmlns:a16="http://schemas.microsoft.com/office/drawing/2014/main" id="{7ABBD491-9450-D38B-BC69-F023E4BE2B3C}"/>
                </a:ext>
              </a:extLst>
            </p:cNvPr>
            <p:cNvSpPr>
              <a:spLocks noEditPoints="1"/>
            </p:cNvSpPr>
            <p:nvPr/>
          </p:nvSpPr>
          <p:spPr bwMode="auto">
            <a:xfrm>
              <a:off x="2022" y="1534"/>
              <a:ext cx="391" cy="208"/>
            </a:xfrm>
            <a:custGeom>
              <a:avLst/>
              <a:gdLst>
                <a:gd name="T0" fmla="*/ 391 w 391"/>
                <a:gd name="T1" fmla="*/ 43 h 208"/>
                <a:gd name="T2" fmla="*/ 389 w 391"/>
                <a:gd name="T3" fmla="*/ 36 h 208"/>
                <a:gd name="T4" fmla="*/ 386 w 391"/>
                <a:gd name="T5" fmla="*/ 31 h 208"/>
                <a:gd name="T6" fmla="*/ 384 w 391"/>
                <a:gd name="T7" fmla="*/ 26 h 208"/>
                <a:gd name="T8" fmla="*/ 382 w 391"/>
                <a:gd name="T9" fmla="*/ 20 h 208"/>
                <a:gd name="T10" fmla="*/ 379 w 391"/>
                <a:gd name="T11" fmla="*/ 15 h 208"/>
                <a:gd name="T12" fmla="*/ 377 w 391"/>
                <a:gd name="T13" fmla="*/ 10 h 208"/>
                <a:gd name="T14" fmla="*/ 374 w 391"/>
                <a:gd name="T15" fmla="*/ 5 h 208"/>
                <a:gd name="T16" fmla="*/ 371 w 391"/>
                <a:gd name="T17" fmla="*/ 0 h 208"/>
                <a:gd name="T18" fmla="*/ 368 w 391"/>
                <a:gd name="T19" fmla="*/ 1 h 208"/>
                <a:gd name="T20" fmla="*/ 371 w 391"/>
                <a:gd name="T21" fmla="*/ 6 h 208"/>
                <a:gd name="T22" fmla="*/ 374 w 391"/>
                <a:gd name="T23" fmla="*/ 11 h 208"/>
                <a:gd name="T24" fmla="*/ 376 w 391"/>
                <a:gd name="T25" fmla="*/ 16 h 208"/>
                <a:gd name="T26" fmla="*/ 379 w 391"/>
                <a:gd name="T27" fmla="*/ 21 h 208"/>
                <a:gd name="T28" fmla="*/ 381 w 391"/>
                <a:gd name="T29" fmla="*/ 26 h 208"/>
                <a:gd name="T30" fmla="*/ 384 w 391"/>
                <a:gd name="T31" fmla="*/ 33 h 208"/>
                <a:gd name="T32" fmla="*/ 386 w 391"/>
                <a:gd name="T33" fmla="*/ 38 h 208"/>
                <a:gd name="T34" fmla="*/ 387 w 391"/>
                <a:gd name="T35" fmla="*/ 43 h 208"/>
                <a:gd name="T36" fmla="*/ 391 w 391"/>
                <a:gd name="T37" fmla="*/ 43 h 208"/>
                <a:gd name="T38" fmla="*/ 0 w 391"/>
                <a:gd name="T39" fmla="*/ 169 h 208"/>
                <a:gd name="T40" fmla="*/ 2 w 391"/>
                <a:gd name="T41" fmla="*/ 174 h 208"/>
                <a:gd name="T42" fmla="*/ 3 w 391"/>
                <a:gd name="T43" fmla="*/ 179 h 208"/>
                <a:gd name="T44" fmla="*/ 7 w 391"/>
                <a:gd name="T45" fmla="*/ 183 h 208"/>
                <a:gd name="T46" fmla="*/ 8 w 391"/>
                <a:gd name="T47" fmla="*/ 190 h 208"/>
                <a:gd name="T48" fmla="*/ 10 w 391"/>
                <a:gd name="T49" fmla="*/ 195 h 208"/>
                <a:gd name="T50" fmla="*/ 13 w 391"/>
                <a:gd name="T51" fmla="*/ 200 h 208"/>
                <a:gd name="T52" fmla="*/ 16 w 391"/>
                <a:gd name="T53" fmla="*/ 205 h 208"/>
                <a:gd name="T54" fmla="*/ 18 w 391"/>
                <a:gd name="T55" fmla="*/ 208 h 208"/>
                <a:gd name="T56" fmla="*/ 21 w 391"/>
                <a:gd name="T57" fmla="*/ 208 h 208"/>
                <a:gd name="T58" fmla="*/ 18 w 391"/>
                <a:gd name="T59" fmla="*/ 203 h 208"/>
                <a:gd name="T60" fmla="*/ 16 w 391"/>
                <a:gd name="T61" fmla="*/ 198 h 208"/>
                <a:gd name="T62" fmla="*/ 13 w 391"/>
                <a:gd name="T63" fmla="*/ 193 h 208"/>
                <a:gd name="T64" fmla="*/ 11 w 391"/>
                <a:gd name="T65" fmla="*/ 188 h 208"/>
                <a:gd name="T66" fmla="*/ 8 w 391"/>
                <a:gd name="T67" fmla="*/ 183 h 208"/>
                <a:gd name="T68" fmla="*/ 7 w 391"/>
                <a:gd name="T69" fmla="*/ 179 h 208"/>
                <a:gd name="T70" fmla="*/ 5 w 391"/>
                <a:gd name="T71" fmla="*/ 172 h 208"/>
                <a:gd name="T72" fmla="*/ 3 w 391"/>
                <a:gd name="T73" fmla="*/ 167 h 208"/>
                <a:gd name="T74" fmla="*/ 0 w 391"/>
                <a:gd name="T75" fmla="*/ 169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91" h="208">
                  <a:moveTo>
                    <a:pt x="391" y="43"/>
                  </a:moveTo>
                  <a:lnTo>
                    <a:pt x="389" y="36"/>
                  </a:lnTo>
                  <a:lnTo>
                    <a:pt x="386" y="31"/>
                  </a:lnTo>
                  <a:lnTo>
                    <a:pt x="384" y="26"/>
                  </a:lnTo>
                  <a:lnTo>
                    <a:pt x="382" y="20"/>
                  </a:lnTo>
                  <a:lnTo>
                    <a:pt x="379" y="15"/>
                  </a:lnTo>
                  <a:lnTo>
                    <a:pt x="377" y="10"/>
                  </a:lnTo>
                  <a:lnTo>
                    <a:pt x="374" y="5"/>
                  </a:lnTo>
                  <a:lnTo>
                    <a:pt x="371" y="0"/>
                  </a:lnTo>
                  <a:lnTo>
                    <a:pt x="368" y="1"/>
                  </a:lnTo>
                  <a:lnTo>
                    <a:pt x="371" y="6"/>
                  </a:lnTo>
                  <a:lnTo>
                    <a:pt x="374" y="11"/>
                  </a:lnTo>
                  <a:lnTo>
                    <a:pt x="376" y="16"/>
                  </a:lnTo>
                  <a:lnTo>
                    <a:pt x="379" y="21"/>
                  </a:lnTo>
                  <a:lnTo>
                    <a:pt x="381" y="26"/>
                  </a:lnTo>
                  <a:lnTo>
                    <a:pt x="384" y="33"/>
                  </a:lnTo>
                  <a:lnTo>
                    <a:pt x="386" y="38"/>
                  </a:lnTo>
                  <a:lnTo>
                    <a:pt x="387" y="43"/>
                  </a:lnTo>
                  <a:lnTo>
                    <a:pt x="391" y="43"/>
                  </a:lnTo>
                  <a:close/>
                  <a:moveTo>
                    <a:pt x="0" y="169"/>
                  </a:moveTo>
                  <a:lnTo>
                    <a:pt x="2" y="174"/>
                  </a:lnTo>
                  <a:lnTo>
                    <a:pt x="3" y="179"/>
                  </a:lnTo>
                  <a:lnTo>
                    <a:pt x="7" y="183"/>
                  </a:lnTo>
                  <a:lnTo>
                    <a:pt x="8" y="190"/>
                  </a:lnTo>
                  <a:lnTo>
                    <a:pt x="10" y="195"/>
                  </a:lnTo>
                  <a:lnTo>
                    <a:pt x="13" y="200"/>
                  </a:lnTo>
                  <a:lnTo>
                    <a:pt x="16" y="205"/>
                  </a:lnTo>
                  <a:lnTo>
                    <a:pt x="18" y="208"/>
                  </a:lnTo>
                  <a:lnTo>
                    <a:pt x="21" y="208"/>
                  </a:lnTo>
                  <a:lnTo>
                    <a:pt x="18" y="203"/>
                  </a:lnTo>
                  <a:lnTo>
                    <a:pt x="16" y="198"/>
                  </a:lnTo>
                  <a:lnTo>
                    <a:pt x="13" y="193"/>
                  </a:lnTo>
                  <a:lnTo>
                    <a:pt x="11" y="188"/>
                  </a:lnTo>
                  <a:lnTo>
                    <a:pt x="8" y="183"/>
                  </a:lnTo>
                  <a:lnTo>
                    <a:pt x="7" y="179"/>
                  </a:lnTo>
                  <a:lnTo>
                    <a:pt x="5" y="172"/>
                  </a:lnTo>
                  <a:lnTo>
                    <a:pt x="3" y="167"/>
                  </a:lnTo>
                  <a:lnTo>
                    <a:pt x="0" y="169"/>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7" name="Freeform 549">
              <a:extLst>
                <a:ext uri="{FF2B5EF4-FFF2-40B4-BE49-F238E27FC236}">
                  <a16:creationId xmlns:a16="http://schemas.microsoft.com/office/drawing/2014/main" id="{D6D7DC2F-A925-4FE3-4CEB-71ED6041DCD7}"/>
                </a:ext>
              </a:extLst>
            </p:cNvPr>
            <p:cNvSpPr>
              <a:spLocks noEditPoints="1"/>
            </p:cNvSpPr>
            <p:nvPr/>
          </p:nvSpPr>
          <p:spPr bwMode="auto">
            <a:xfrm>
              <a:off x="2024" y="1534"/>
              <a:ext cx="387" cy="208"/>
            </a:xfrm>
            <a:custGeom>
              <a:avLst/>
              <a:gdLst>
                <a:gd name="T0" fmla="*/ 387 w 387"/>
                <a:gd name="T1" fmla="*/ 43 h 208"/>
                <a:gd name="T2" fmla="*/ 385 w 387"/>
                <a:gd name="T3" fmla="*/ 38 h 208"/>
                <a:gd name="T4" fmla="*/ 384 w 387"/>
                <a:gd name="T5" fmla="*/ 31 h 208"/>
                <a:gd name="T6" fmla="*/ 380 w 387"/>
                <a:gd name="T7" fmla="*/ 26 h 208"/>
                <a:gd name="T8" fmla="*/ 379 w 387"/>
                <a:gd name="T9" fmla="*/ 21 h 208"/>
                <a:gd name="T10" fmla="*/ 375 w 387"/>
                <a:gd name="T11" fmla="*/ 16 h 208"/>
                <a:gd name="T12" fmla="*/ 374 w 387"/>
                <a:gd name="T13" fmla="*/ 11 h 208"/>
                <a:gd name="T14" fmla="*/ 371 w 387"/>
                <a:gd name="T15" fmla="*/ 5 h 208"/>
                <a:gd name="T16" fmla="*/ 367 w 387"/>
                <a:gd name="T17" fmla="*/ 0 h 208"/>
                <a:gd name="T18" fmla="*/ 366 w 387"/>
                <a:gd name="T19" fmla="*/ 1 h 208"/>
                <a:gd name="T20" fmla="*/ 367 w 387"/>
                <a:gd name="T21" fmla="*/ 6 h 208"/>
                <a:gd name="T22" fmla="*/ 371 w 387"/>
                <a:gd name="T23" fmla="*/ 11 h 208"/>
                <a:gd name="T24" fmla="*/ 374 w 387"/>
                <a:gd name="T25" fmla="*/ 16 h 208"/>
                <a:gd name="T26" fmla="*/ 375 w 387"/>
                <a:gd name="T27" fmla="*/ 23 h 208"/>
                <a:gd name="T28" fmla="*/ 377 w 387"/>
                <a:gd name="T29" fmla="*/ 28 h 208"/>
                <a:gd name="T30" fmla="*/ 380 w 387"/>
                <a:gd name="T31" fmla="*/ 33 h 208"/>
                <a:gd name="T32" fmla="*/ 382 w 387"/>
                <a:gd name="T33" fmla="*/ 38 h 208"/>
                <a:gd name="T34" fmla="*/ 384 w 387"/>
                <a:gd name="T35" fmla="*/ 44 h 208"/>
                <a:gd name="T36" fmla="*/ 387 w 387"/>
                <a:gd name="T37" fmla="*/ 43 h 208"/>
                <a:gd name="T38" fmla="*/ 0 w 387"/>
                <a:gd name="T39" fmla="*/ 169 h 208"/>
                <a:gd name="T40" fmla="*/ 1 w 387"/>
                <a:gd name="T41" fmla="*/ 174 h 208"/>
                <a:gd name="T42" fmla="*/ 3 w 387"/>
                <a:gd name="T43" fmla="*/ 179 h 208"/>
                <a:gd name="T44" fmla="*/ 6 w 387"/>
                <a:gd name="T45" fmla="*/ 183 h 208"/>
                <a:gd name="T46" fmla="*/ 8 w 387"/>
                <a:gd name="T47" fmla="*/ 188 h 208"/>
                <a:gd name="T48" fmla="*/ 9 w 387"/>
                <a:gd name="T49" fmla="*/ 193 h 208"/>
                <a:gd name="T50" fmla="*/ 13 w 387"/>
                <a:gd name="T51" fmla="*/ 198 h 208"/>
                <a:gd name="T52" fmla="*/ 14 w 387"/>
                <a:gd name="T53" fmla="*/ 203 h 208"/>
                <a:gd name="T54" fmla="*/ 18 w 387"/>
                <a:gd name="T55" fmla="*/ 208 h 208"/>
                <a:gd name="T56" fmla="*/ 21 w 387"/>
                <a:gd name="T57" fmla="*/ 207 h 208"/>
                <a:gd name="T58" fmla="*/ 18 w 387"/>
                <a:gd name="T59" fmla="*/ 202 h 208"/>
                <a:gd name="T60" fmla="*/ 16 w 387"/>
                <a:gd name="T61" fmla="*/ 197 h 208"/>
                <a:gd name="T62" fmla="*/ 13 w 387"/>
                <a:gd name="T63" fmla="*/ 192 h 208"/>
                <a:gd name="T64" fmla="*/ 11 w 387"/>
                <a:gd name="T65" fmla="*/ 187 h 208"/>
                <a:gd name="T66" fmla="*/ 8 w 387"/>
                <a:gd name="T67" fmla="*/ 182 h 208"/>
                <a:gd name="T68" fmla="*/ 6 w 387"/>
                <a:gd name="T69" fmla="*/ 177 h 208"/>
                <a:gd name="T70" fmla="*/ 5 w 387"/>
                <a:gd name="T71" fmla="*/ 172 h 208"/>
                <a:gd name="T72" fmla="*/ 3 w 387"/>
                <a:gd name="T73" fmla="*/ 167 h 208"/>
                <a:gd name="T74" fmla="*/ 0 w 387"/>
                <a:gd name="T75" fmla="*/ 169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7" h="208">
                  <a:moveTo>
                    <a:pt x="387" y="43"/>
                  </a:moveTo>
                  <a:lnTo>
                    <a:pt x="385" y="38"/>
                  </a:lnTo>
                  <a:lnTo>
                    <a:pt x="384" y="31"/>
                  </a:lnTo>
                  <a:lnTo>
                    <a:pt x="380" y="26"/>
                  </a:lnTo>
                  <a:lnTo>
                    <a:pt x="379" y="21"/>
                  </a:lnTo>
                  <a:lnTo>
                    <a:pt x="375" y="16"/>
                  </a:lnTo>
                  <a:lnTo>
                    <a:pt x="374" y="11"/>
                  </a:lnTo>
                  <a:lnTo>
                    <a:pt x="371" y="5"/>
                  </a:lnTo>
                  <a:lnTo>
                    <a:pt x="367" y="0"/>
                  </a:lnTo>
                  <a:lnTo>
                    <a:pt x="366" y="1"/>
                  </a:lnTo>
                  <a:lnTo>
                    <a:pt x="367" y="6"/>
                  </a:lnTo>
                  <a:lnTo>
                    <a:pt x="371" y="11"/>
                  </a:lnTo>
                  <a:lnTo>
                    <a:pt x="374" y="16"/>
                  </a:lnTo>
                  <a:lnTo>
                    <a:pt x="375" y="23"/>
                  </a:lnTo>
                  <a:lnTo>
                    <a:pt x="377" y="28"/>
                  </a:lnTo>
                  <a:lnTo>
                    <a:pt x="380" y="33"/>
                  </a:lnTo>
                  <a:lnTo>
                    <a:pt x="382" y="38"/>
                  </a:lnTo>
                  <a:lnTo>
                    <a:pt x="384" y="44"/>
                  </a:lnTo>
                  <a:lnTo>
                    <a:pt x="387" y="43"/>
                  </a:lnTo>
                  <a:close/>
                  <a:moveTo>
                    <a:pt x="0" y="169"/>
                  </a:moveTo>
                  <a:lnTo>
                    <a:pt x="1" y="174"/>
                  </a:lnTo>
                  <a:lnTo>
                    <a:pt x="3" y="179"/>
                  </a:lnTo>
                  <a:lnTo>
                    <a:pt x="6" y="183"/>
                  </a:lnTo>
                  <a:lnTo>
                    <a:pt x="8" y="188"/>
                  </a:lnTo>
                  <a:lnTo>
                    <a:pt x="9" y="193"/>
                  </a:lnTo>
                  <a:lnTo>
                    <a:pt x="13" y="198"/>
                  </a:lnTo>
                  <a:lnTo>
                    <a:pt x="14" y="203"/>
                  </a:lnTo>
                  <a:lnTo>
                    <a:pt x="18" y="208"/>
                  </a:lnTo>
                  <a:lnTo>
                    <a:pt x="21" y="207"/>
                  </a:lnTo>
                  <a:lnTo>
                    <a:pt x="18" y="202"/>
                  </a:lnTo>
                  <a:lnTo>
                    <a:pt x="16" y="197"/>
                  </a:lnTo>
                  <a:lnTo>
                    <a:pt x="13" y="192"/>
                  </a:lnTo>
                  <a:lnTo>
                    <a:pt x="11" y="187"/>
                  </a:lnTo>
                  <a:lnTo>
                    <a:pt x="8" y="182"/>
                  </a:lnTo>
                  <a:lnTo>
                    <a:pt x="6" y="177"/>
                  </a:lnTo>
                  <a:lnTo>
                    <a:pt x="5" y="172"/>
                  </a:lnTo>
                  <a:lnTo>
                    <a:pt x="3" y="167"/>
                  </a:lnTo>
                  <a:lnTo>
                    <a:pt x="0" y="169"/>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8" name="Freeform 550">
              <a:extLst>
                <a:ext uri="{FF2B5EF4-FFF2-40B4-BE49-F238E27FC236}">
                  <a16:creationId xmlns:a16="http://schemas.microsoft.com/office/drawing/2014/main" id="{DAFD7A26-0ABE-7651-7E4F-C605665DCB48}"/>
                </a:ext>
              </a:extLst>
            </p:cNvPr>
            <p:cNvSpPr>
              <a:spLocks noEditPoints="1"/>
            </p:cNvSpPr>
            <p:nvPr/>
          </p:nvSpPr>
          <p:spPr bwMode="auto">
            <a:xfrm>
              <a:off x="2025" y="1535"/>
              <a:ext cx="384" cy="207"/>
            </a:xfrm>
            <a:custGeom>
              <a:avLst/>
              <a:gdLst>
                <a:gd name="T0" fmla="*/ 384 w 384"/>
                <a:gd name="T1" fmla="*/ 42 h 207"/>
                <a:gd name="T2" fmla="*/ 383 w 384"/>
                <a:gd name="T3" fmla="*/ 37 h 207"/>
                <a:gd name="T4" fmla="*/ 381 w 384"/>
                <a:gd name="T5" fmla="*/ 32 h 207"/>
                <a:gd name="T6" fmla="*/ 378 w 384"/>
                <a:gd name="T7" fmla="*/ 25 h 207"/>
                <a:gd name="T8" fmla="*/ 376 w 384"/>
                <a:gd name="T9" fmla="*/ 20 h 207"/>
                <a:gd name="T10" fmla="*/ 373 w 384"/>
                <a:gd name="T11" fmla="*/ 15 h 207"/>
                <a:gd name="T12" fmla="*/ 371 w 384"/>
                <a:gd name="T13" fmla="*/ 10 h 207"/>
                <a:gd name="T14" fmla="*/ 368 w 384"/>
                <a:gd name="T15" fmla="*/ 5 h 207"/>
                <a:gd name="T16" fmla="*/ 365 w 384"/>
                <a:gd name="T17" fmla="*/ 0 h 207"/>
                <a:gd name="T18" fmla="*/ 363 w 384"/>
                <a:gd name="T19" fmla="*/ 2 h 207"/>
                <a:gd name="T20" fmla="*/ 365 w 384"/>
                <a:gd name="T21" fmla="*/ 7 h 207"/>
                <a:gd name="T22" fmla="*/ 368 w 384"/>
                <a:gd name="T23" fmla="*/ 12 h 207"/>
                <a:gd name="T24" fmla="*/ 371 w 384"/>
                <a:gd name="T25" fmla="*/ 17 h 207"/>
                <a:gd name="T26" fmla="*/ 373 w 384"/>
                <a:gd name="T27" fmla="*/ 22 h 207"/>
                <a:gd name="T28" fmla="*/ 376 w 384"/>
                <a:gd name="T29" fmla="*/ 27 h 207"/>
                <a:gd name="T30" fmla="*/ 378 w 384"/>
                <a:gd name="T31" fmla="*/ 33 h 207"/>
                <a:gd name="T32" fmla="*/ 379 w 384"/>
                <a:gd name="T33" fmla="*/ 38 h 207"/>
                <a:gd name="T34" fmla="*/ 381 w 384"/>
                <a:gd name="T35" fmla="*/ 43 h 207"/>
                <a:gd name="T36" fmla="*/ 384 w 384"/>
                <a:gd name="T37" fmla="*/ 42 h 207"/>
                <a:gd name="T38" fmla="*/ 0 w 384"/>
                <a:gd name="T39" fmla="*/ 166 h 207"/>
                <a:gd name="T40" fmla="*/ 2 w 384"/>
                <a:gd name="T41" fmla="*/ 171 h 207"/>
                <a:gd name="T42" fmla="*/ 4 w 384"/>
                <a:gd name="T43" fmla="*/ 178 h 207"/>
                <a:gd name="T44" fmla="*/ 5 w 384"/>
                <a:gd name="T45" fmla="*/ 182 h 207"/>
                <a:gd name="T46" fmla="*/ 8 w 384"/>
                <a:gd name="T47" fmla="*/ 187 h 207"/>
                <a:gd name="T48" fmla="*/ 10 w 384"/>
                <a:gd name="T49" fmla="*/ 192 h 207"/>
                <a:gd name="T50" fmla="*/ 13 w 384"/>
                <a:gd name="T51" fmla="*/ 197 h 207"/>
                <a:gd name="T52" fmla="*/ 15 w 384"/>
                <a:gd name="T53" fmla="*/ 202 h 207"/>
                <a:gd name="T54" fmla="*/ 18 w 384"/>
                <a:gd name="T55" fmla="*/ 207 h 207"/>
                <a:gd name="T56" fmla="*/ 22 w 384"/>
                <a:gd name="T57" fmla="*/ 206 h 207"/>
                <a:gd name="T58" fmla="*/ 18 w 384"/>
                <a:gd name="T59" fmla="*/ 201 h 207"/>
                <a:gd name="T60" fmla="*/ 17 w 384"/>
                <a:gd name="T61" fmla="*/ 196 h 207"/>
                <a:gd name="T62" fmla="*/ 13 w 384"/>
                <a:gd name="T63" fmla="*/ 191 h 207"/>
                <a:gd name="T64" fmla="*/ 12 w 384"/>
                <a:gd name="T65" fmla="*/ 186 h 207"/>
                <a:gd name="T66" fmla="*/ 8 w 384"/>
                <a:gd name="T67" fmla="*/ 181 h 207"/>
                <a:gd name="T68" fmla="*/ 7 w 384"/>
                <a:gd name="T69" fmla="*/ 176 h 207"/>
                <a:gd name="T70" fmla="*/ 5 w 384"/>
                <a:gd name="T71" fmla="*/ 171 h 207"/>
                <a:gd name="T72" fmla="*/ 4 w 384"/>
                <a:gd name="T73" fmla="*/ 164 h 207"/>
                <a:gd name="T74" fmla="*/ 0 w 384"/>
                <a:gd name="T75" fmla="*/ 166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4" h="207">
                  <a:moveTo>
                    <a:pt x="384" y="42"/>
                  </a:moveTo>
                  <a:lnTo>
                    <a:pt x="383" y="37"/>
                  </a:lnTo>
                  <a:lnTo>
                    <a:pt x="381" y="32"/>
                  </a:lnTo>
                  <a:lnTo>
                    <a:pt x="378" y="25"/>
                  </a:lnTo>
                  <a:lnTo>
                    <a:pt x="376" y="20"/>
                  </a:lnTo>
                  <a:lnTo>
                    <a:pt x="373" y="15"/>
                  </a:lnTo>
                  <a:lnTo>
                    <a:pt x="371" y="10"/>
                  </a:lnTo>
                  <a:lnTo>
                    <a:pt x="368" y="5"/>
                  </a:lnTo>
                  <a:lnTo>
                    <a:pt x="365" y="0"/>
                  </a:lnTo>
                  <a:lnTo>
                    <a:pt x="363" y="2"/>
                  </a:lnTo>
                  <a:lnTo>
                    <a:pt x="365" y="7"/>
                  </a:lnTo>
                  <a:lnTo>
                    <a:pt x="368" y="12"/>
                  </a:lnTo>
                  <a:lnTo>
                    <a:pt x="371" y="17"/>
                  </a:lnTo>
                  <a:lnTo>
                    <a:pt x="373" y="22"/>
                  </a:lnTo>
                  <a:lnTo>
                    <a:pt x="376" y="27"/>
                  </a:lnTo>
                  <a:lnTo>
                    <a:pt x="378" y="33"/>
                  </a:lnTo>
                  <a:lnTo>
                    <a:pt x="379" y="38"/>
                  </a:lnTo>
                  <a:lnTo>
                    <a:pt x="381" y="43"/>
                  </a:lnTo>
                  <a:lnTo>
                    <a:pt x="384" y="42"/>
                  </a:lnTo>
                  <a:close/>
                  <a:moveTo>
                    <a:pt x="0" y="166"/>
                  </a:moveTo>
                  <a:lnTo>
                    <a:pt x="2" y="171"/>
                  </a:lnTo>
                  <a:lnTo>
                    <a:pt x="4" y="178"/>
                  </a:lnTo>
                  <a:lnTo>
                    <a:pt x="5" y="182"/>
                  </a:lnTo>
                  <a:lnTo>
                    <a:pt x="8" y="187"/>
                  </a:lnTo>
                  <a:lnTo>
                    <a:pt x="10" y="192"/>
                  </a:lnTo>
                  <a:lnTo>
                    <a:pt x="13" y="197"/>
                  </a:lnTo>
                  <a:lnTo>
                    <a:pt x="15" y="202"/>
                  </a:lnTo>
                  <a:lnTo>
                    <a:pt x="18" y="207"/>
                  </a:lnTo>
                  <a:lnTo>
                    <a:pt x="22" y="206"/>
                  </a:lnTo>
                  <a:lnTo>
                    <a:pt x="18" y="201"/>
                  </a:lnTo>
                  <a:lnTo>
                    <a:pt x="17" y="196"/>
                  </a:lnTo>
                  <a:lnTo>
                    <a:pt x="13" y="191"/>
                  </a:lnTo>
                  <a:lnTo>
                    <a:pt x="12" y="186"/>
                  </a:lnTo>
                  <a:lnTo>
                    <a:pt x="8" y="181"/>
                  </a:lnTo>
                  <a:lnTo>
                    <a:pt x="7" y="176"/>
                  </a:lnTo>
                  <a:lnTo>
                    <a:pt x="5" y="171"/>
                  </a:lnTo>
                  <a:lnTo>
                    <a:pt x="4" y="164"/>
                  </a:lnTo>
                  <a:lnTo>
                    <a:pt x="0" y="166"/>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9" name="Freeform 551">
              <a:extLst>
                <a:ext uri="{FF2B5EF4-FFF2-40B4-BE49-F238E27FC236}">
                  <a16:creationId xmlns:a16="http://schemas.microsoft.com/office/drawing/2014/main" id="{BAB173B2-EDF4-ECD1-9932-3DBACF4D8508}"/>
                </a:ext>
              </a:extLst>
            </p:cNvPr>
            <p:cNvSpPr>
              <a:spLocks noEditPoints="1"/>
            </p:cNvSpPr>
            <p:nvPr/>
          </p:nvSpPr>
          <p:spPr bwMode="auto">
            <a:xfrm>
              <a:off x="2027" y="1535"/>
              <a:ext cx="381" cy="206"/>
            </a:xfrm>
            <a:custGeom>
              <a:avLst/>
              <a:gdLst>
                <a:gd name="T0" fmla="*/ 381 w 381"/>
                <a:gd name="T1" fmla="*/ 43 h 206"/>
                <a:gd name="T2" fmla="*/ 379 w 381"/>
                <a:gd name="T3" fmla="*/ 37 h 206"/>
                <a:gd name="T4" fmla="*/ 377 w 381"/>
                <a:gd name="T5" fmla="*/ 32 h 206"/>
                <a:gd name="T6" fmla="*/ 374 w 381"/>
                <a:gd name="T7" fmla="*/ 27 h 206"/>
                <a:gd name="T8" fmla="*/ 372 w 381"/>
                <a:gd name="T9" fmla="*/ 22 h 206"/>
                <a:gd name="T10" fmla="*/ 371 w 381"/>
                <a:gd name="T11" fmla="*/ 15 h 206"/>
                <a:gd name="T12" fmla="*/ 368 w 381"/>
                <a:gd name="T13" fmla="*/ 10 h 206"/>
                <a:gd name="T14" fmla="*/ 364 w 381"/>
                <a:gd name="T15" fmla="*/ 5 h 206"/>
                <a:gd name="T16" fmla="*/ 363 w 381"/>
                <a:gd name="T17" fmla="*/ 0 h 206"/>
                <a:gd name="T18" fmla="*/ 359 w 381"/>
                <a:gd name="T19" fmla="*/ 2 h 206"/>
                <a:gd name="T20" fmla="*/ 363 w 381"/>
                <a:gd name="T21" fmla="*/ 7 h 206"/>
                <a:gd name="T22" fmla="*/ 364 w 381"/>
                <a:gd name="T23" fmla="*/ 12 h 206"/>
                <a:gd name="T24" fmla="*/ 368 w 381"/>
                <a:gd name="T25" fmla="*/ 17 h 206"/>
                <a:gd name="T26" fmla="*/ 369 w 381"/>
                <a:gd name="T27" fmla="*/ 22 h 206"/>
                <a:gd name="T28" fmla="*/ 372 w 381"/>
                <a:gd name="T29" fmla="*/ 29 h 206"/>
                <a:gd name="T30" fmla="*/ 374 w 381"/>
                <a:gd name="T31" fmla="*/ 33 h 206"/>
                <a:gd name="T32" fmla="*/ 376 w 381"/>
                <a:gd name="T33" fmla="*/ 38 h 206"/>
                <a:gd name="T34" fmla="*/ 377 w 381"/>
                <a:gd name="T35" fmla="*/ 45 h 206"/>
                <a:gd name="T36" fmla="*/ 381 w 381"/>
                <a:gd name="T37" fmla="*/ 43 h 206"/>
                <a:gd name="T38" fmla="*/ 0 w 381"/>
                <a:gd name="T39" fmla="*/ 166 h 206"/>
                <a:gd name="T40" fmla="*/ 2 w 381"/>
                <a:gd name="T41" fmla="*/ 171 h 206"/>
                <a:gd name="T42" fmla="*/ 3 w 381"/>
                <a:gd name="T43" fmla="*/ 176 h 206"/>
                <a:gd name="T44" fmla="*/ 5 w 381"/>
                <a:gd name="T45" fmla="*/ 181 h 206"/>
                <a:gd name="T46" fmla="*/ 8 w 381"/>
                <a:gd name="T47" fmla="*/ 186 h 206"/>
                <a:gd name="T48" fmla="*/ 10 w 381"/>
                <a:gd name="T49" fmla="*/ 191 h 206"/>
                <a:gd name="T50" fmla="*/ 13 w 381"/>
                <a:gd name="T51" fmla="*/ 196 h 206"/>
                <a:gd name="T52" fmla="*/ 15 w 381"/>
                <a:gd name="T53" fmla="*/ 201 h 206"/>
                <a:gd name="T54" fmla="*/ 18 w 381"/>
                <a:gd name="T55" fmla="*/ 206 h 206"/>
                <a:gd name="T56" fmla="*/ 21 w 381"/>
                <a:gd name="T57" fmla="*/ 204 h 206"/>
                <a:gd name="T58" fmla="*/ 18 w 381"/>
                <a:gd name="T59" fmla="*/ 199 h 206"/>
                <a:gd name="T60" fmla="*/ 15 w 381"/>
                <a:gd name="T61" fmla="*/ 196 h 206"/>
                <a:gd name="T62" fmla="*/ 13 w 381"/>
                <a:gd name="T63" fmla="*/ 191 h 206"/>
                <a:gd name="T64" fmla="*/ 11 w 381"/>
                <a:gd name="T65" fmla="*/ 186 h 206"/>
                <a:gd name="T66" fmla="*/ 8 w 381"/>
                <a:gd name="T67" fmla="*/ 179 h 206"/>
                <a:gd name="T68" fmla="*/ 6 w 381"/>
                <a:gd name="T69" fmla="*/ 174 h 206"/>
                <a:gd name="T70" fmla="*/ 5 w 381"/>
                <a:gd name="T71" fmla="*/ 169 h 206"/>
                <a:gd name="T72" fmla="*/ 3 w 381"/>
                <a:gd name="T73" fmla="*/ 164 h 206"/>
                <a:gd name="T74" fmla="*/ 0 w 381"/>
                <a:gd name="T75" fmla="*/ 166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1" h="206">
                  <a:moveTo>
                    <a:pt x="381" y="43"/>
                  </a:moveTo>
                  <a:lnTo>
                    <a:pt x="379" y="37"/>
                  </a:lnTo>
                  <a:lnTo>
                    <a:pt x="377" y="32"/>
                  </a:lnTo>
                  <a:lnTo>
                    <a:pt x="374" y="27"/>
                  </a:lnTo>
                  <a:lnTo>
                    <a:pt x="372" y="22"/>
                  </a:lnTo>
                  <a:lnTo>
                    <a:pt x="371" y="15"/>
                  </a:lnTo>
                  <a:lnTo>
                    <a:pt x="368" y="10"/>
                  </a:lnTo>
                  <a:lnTo>
                    <a:pt x="364" y="5"/>
                  </a:lnTo>
                  <a:lnTo>
                    <a:pt x="363" y="0"/>
                  </a:lnTo>
                  <a:lnTo>
                    <a:pt x="359" y="2"/>
                  </a:lnTo>
                  <a:lnTo>
                    <a:pt x="363" y="7"/>
                  </a:lnTo>
                  <a:lnTo>
                    <a:pt x="364" y="12"/>
                  </a:lnTo>
                  <a:lnTo>
                    <a:pt x="368" y="17"/>
                  </a:lnTo>
                  <a:lnTo>
                    <a:pt x="369" y="22"/>
                  </a:lnTo>
                  <a:lnTo>
                    <a:pt x="372" y="29"/>
                  </a:lnTo>
                  <a:lnTo>
                    <a:pt x="374" y="33"/>
                  </a:lnTo>
                  <a:lnTo>
                    <a:pt x="376" y="38"/>
                  </a:lnTo>
                  <a:lnTo>
                    <a:pt x="377" y="45"/>
                  </a:lnTo>
                  <a:lnTo>
                    <a:pt x="381" y="43"/>
                  </a:lnTo>
                  <a:close/>
                  <a:moveTo>
                    <a:pt x="0" y="166"/>
                  </a:moveTo>
                  <a:lnTo>
                    <a:pt x="2" y="171"/>
                  </a:lnTo>
                  <a:lnTo>
                    <a:pt x="3" y="176"/>
                  </a:lnTo>
                  <a:lnTo>
                    <a:pt x="5" y="181"/>
                  </a:lnTo>
                  <a:lnTo>
                    <a:pt x="8" y="186"/>
                  </a:lnTo>
                  <a:lnTo>
                    <a:pt x="10" y="191"/>
                  </a:lnTo>
                  <a:lnTo>
                    <a:pt x="13" y="196"/>
                  </a:lnTo>
                  <a:lnTo>
                    <a:pt x="15" y="201"/>
                  </a:lnTo>
                  <a:lnTo>
                    <a:pt x="18" y="206"/>
                  </a:lnTo>
                  <a:lnTo>
                    <a:pt x="21" y="204"/>
                  </a:lnTo>
                  <a:lnTo>
                    <a:pt x="18" y="199"/>
                  </a:lnTo>
                  <a:lnTo>
                    <a:pt x="15" y="196"/>
                  </a:lnTo>
                  <a:lnTo>
                    <a:pt x="13" y="191"/>
                  </a:lnTo>
                  <a:lnTo>
                    <a:pt x="11" y="186"/>
                  </a:lnTo>
                  <a:lnTo>
                    <a:pt x="8" y="179"/>
                  </a:lnTo>
                  <a:lnTo>
                    <a:pt x="6" y="174"/>
                  </a:lnTo>
                  <a:lnTo>
                    <a:pt x="5" y="169"/>
                  </a:lnTo>
                  <a:lnTo>
                    <a:pt x="3" y="164"/>
                  </a:lnTo>
                  <a:lnTo>
                    <a:pt x="0" y="166"/>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0" name="Freeform 552">
              <a:extLst>
                <a:ext uri="{FF2B5EF4-FFF2-40B4-BE49-F238E27FC236}">
                  <a16:creationId xmlns:a16="http://schemas.microsoft.com/office/drawing/2014/main" id="{9FEFBA30-5572-C3C3-15BF-46C7B7DCD046}"/>
                </a:ext>
              </a:extLst>
            </p:cNvPr>
            <p:cNvSpPr>
              <a:spLocks noEditPoints="1"/>
            </p:cNvSpPr>
            <p:nvPr/>
          </p:nvSpPr>
          <p:spPr bwMode="auto">
            <a:xfrm>
              <a:off x="2029" y="1537"/>
              <a:ext cx="377" cy="204"/>
            </a:xfrm>
            <a:custGeom>
              <a:avLst/>
              <a:gdLst>
                <a:gd name="T0" fmla="*/ 377 w 377"/>
                <a:gd name="T1" fmla="*/ 41 h 204"/>
                <a:gd name="T2" fmla="*/ 375 w 377"/>
                <a:gd name="T3" fmla="*/ 36 h 204"/>
                <a:gd name="T4" fmla="*/ 374 w 377"/>
                <a:gd name="T5" fmla="*/ 31 h 204"/>
                <a:gd name="T6" fmla="*/ 372 w 377"/>
                <a:gd name="T7" fmla="*/ 25 h 204"/>
                <a:gd name="T8" fmla="*/ 369 w 377"/>
                <a:gd name="T9" fmla="*/ 20 h 204"/>
                <a:gd name="T10" fmla="*/ 367 w 377"/>
                <a:gd name="T11" fmla="*/ 15 h 204"/>
                <a:gd name="T12" fmla="*/ 364 w 377"/>
                <a:gd name="T13" fmla="*/ 10 h 204"/>
                <a:gd name="T14" fmla="*/ 361 w 377"/>
                <a:gd name="T15" fmla="*/ 5 h 204"/>
                <a:gd name="T16" fmla="*/ 359 w 377"/>
                <a:gd name="T17" fmla="*/ 0 h 204"/>
                <a:gd name="T18" fmla="*/ 356 w 377"/>
                <a:gd name="T19" fmla="*/ 0 h 204"/>
                <a:gd name="T20" fmla="*/ 359 w 377"/>
                <a:gd name="T21" fmla="*/ 7 h 204"/>
                <a:gd name="T22" fmla="*/ 361 w 377"/>
                <a:gd name="T23" fmla="*/ 12 h 204"/>
                <a:gd name="T24" fmla="*/ 364 w 377"/>
                <a:gd name="T25" fmla="*/ 17 h 204"/>
                <a:gd name="T26" fmla="*/ 366 w 377"/>
                <a:gd name="T27" fmla="*/ 22 h 204"/>
                <a:gd name="T28" fmla="*/ 369 w 377"/>
                <a:gd name="T29" fmla="*/ 27 h 204"/>
                <a:gd name="T30" fmla="*/ 370 w 377"/>
                <a:gd name="T31" fmla="*/ 31 h 204"/>
                <a:gd name="T32" fmla="*/ 372 w 377"/>
                <a:gd name="T33" fmla="*/ 38 h 204"/>
                <a:gd name="T34" fmla="*/ 374 w 377"/>
                <a:gd name="T35" fmla="*/ 43 h 204"/>
                <a:gd name="T36" fmla="*/ 377 w 377"/>
                <a:gd name="T37" fmla="*/ 41 h 204"/>
                <a:gd name="T38" fmla="*/ 0 w 377"/>
                <a:gd name="T39" fmla="*/ 162 h 204"/>
                <a:gd name="T40" fmla="*/ 1 w 377"/>
                <a:gd name="T41" fmla="*/ 169 h 204"/>
                <a:gd name="T42" fmla="*/ 3 w 377"/>
                <a:gd name="T43" fmla="*/ 174 h 204"/>
                <a:gd name="T44" fmla="*/ 4 w 377"/>
                <a:gd name="T45" fmla="*/ 179 h 204"/>
                <a:gd name="T46" fmla="*/ 8 w 377"/>
                <a:gd name="T47" fmla="*/ 184 h 204"/>
                <a:gd name="T48" fmla="*/ 9 w 377"/>
                <a:gd name="T49" fmla="*/ 189 h 204"/>
                <a:gd name="T50" fmla="*/ 13 w 377"/>
                <a:gd name="T51" fmla="*/ 194 h 204"/>
                <a:gd name="T52" fmla="*/ 14 w 377"/>
                <a:gd name="T53" fmla="*/ 199 h 204"/>
                <a:gd name="T54" fmla="*/ 18 w 377"/>
                <a:gd name="T55" fmla="*/ 204 h 204"/>
                <a:gd name="T56" fmla="*/ 21 w 377"/>
                <a:gd name="T57" fmla="*/ 202 h 204"/>
                <a:gd name="T58" fmla="*/ 18 w 377"/>
                <a:gd name="T59" fmla="*/ 197 h 204"/>
                <a:gd name="T60" fmla="*/ 14 w 377"/>
                <a:gd name="T61" fmla="*/ 192 h 204"/>
                <a:gd name="T62" fmla="*/ 13 w 377"/>
                <a:gd name="T63" fmla="*/ 187 h 204"/>
                <a:gd name="T64" fmla="*/ 9 w 377"/>
                <a:gd name="T65" fmla="*/ 182 h 204"/>
                <a:gd name="T66" fmla="*/ 8 w 377"/>
                <a:gd name="T67" fmla="*/ 177 h 204"/>
                <a:gd name="T68" fmla="*/ 6 w 377"/>
                <a:gd name="T69" fmla="*/ 172 h 204"/>
                <a:gd name="T70" fmla="*/ 4 w 377"/>
                <a:gd name="T71" fmla="*/ 167 h 204"/>
                <a:gd name="T72" fmla="*/ 3 w 377"/>
                <a:gd name="T73" fmla="*/ 162 h 204"/>
                <a:gd name="T74" fmla="*/ 0 w 377"/>
                <a:gd name="T75" fmla="*/ 162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77" h="204">
                  <a:moveTo>
                    <a:pt x="377" y="41"/>
                  </a:moveTo>
                  <a:lnTo>
                    <a:pt x="375" y="36"/>
                  </a:lnTo>
                  <a:lnTo>
                    <a:pt x="374" y="31"/>
                  </a:lnTo>
                  <a:lnTo>
                    <a:pt x="372" y="25"/>
                  </a:lnTo>
                  <a:lnTo>
                    <a:pt x="369" y="20"/>
                  </a:lnTo>
                  <a:lnTo>
                    <a:pt x="367" y="15"/>
                  </a:lnTo>
                  <a:lnTo>
                    <a:pt x="364" y="10"/>
                  </a:lnTo>
                  <a:lnTo>
                    <a:pt x="361" y="5"/>
                  </a:lnTo>
                  <a:lnTo>
                    <a:pt x="359" y="0"/>
                  </a:lnTo>
                  <a:lnTo>
                    <a:pt x="356" y="0"/>
                  </a:lnTo>
                  <a:lnTo>
                    <a:pt x="359" y="7"/>
                  </a:lnTo>
                  <a:lnTo>
                    <a:pt x="361" y="12"/>
                  </a:lnTo>
                  <a:lnTo>
                    <a:pt x="364" y="17"/>
                  </a:lnTo>
                  <a:lnTo>
                    <a:pt x="366" y="22"/>
                  </a:lnTo>
                  <a:lnTo>
                    <a:pt x="369" y="27"/>
                  </a:lnTo>
                  <a:lnTo>
                    <a:pt x="370" y="31"/>
                  </a:lnTo>
                  <a:lnTo>
                    <a:pt x="372" y="38"/>
                  </a:lnTo>
                  <a:lnTo>
                    <a:pt x="374" y="43"/>
                  </a:lnTo>
                  <a:lnTo>
                    <a:pt x="377" y="41"/>
                  </a:lnTo>
                  <a:close/>
                  <a:moveTo>
                    <a:pt x="0" y="162"/>
                  </a:moveTo>
                  <a:lnTo>
                    <a:pt x="1" y="169"/>
                  </a:lnTo>
                  <a:lnTo>
                    <a:pt x="3" y="174"/>
                  </a:lnTo>
                  <a:lnTo>
                    <a:pt x="4" y="179"/>
                  </a:lnTo>
                  <a:lnTo>
                    <a:pt x="8" y="184"/>
                  </a:lnTo>
                  <a:lnTo>
                    <a:pt x="9" y="189"/>
                  </a:lnTo>
                  <a:lnTo>
                    <a:pt x="13" y="194"/>
                  </a:lnTo>
                  <a:lnTo>
                    <a:pt x="14" y="199"/>
                  </a:lnTo>
                  <a:lnTo>
                    <a:pt x="18" y="204"/>
                  </a:lnTo>
                  <a:lnTo>
                    <a:pt x="21" y="202"/>
                  </a:lnTo>
                  <a:lnTo>
                    <a:pt x="18" y="197"/>
                  </a:lnTo>
                  <a:lnTo>
                    <a:pt x="14" y="192"/>
                  </a:lnTo>
                  <a:lnTo>
                    <a:pt x="13" y="187"/>
                  </a:lnTo>
                  <a:lnTo>
                    <a:pt x="9" y="182"/>
                  </a:lnTo>
                  <a:lnTo>
                    <a:pt x="8" y="177"/>
                  </a:lnTo>
                  <a:lnTo>
                    <a:pt x="6" y="172"/>
                  </a:lnTo>
                  <a:lnTo>
                    <a:pt x="4" y="167"/>
                  </a:lnTo>
                  <a:lnTo>
                    <a:pt x="3" y="162"/>
                  </a:lnTo>
                  <a:lnTo>
                    <a:pt x="0" y="162"/>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1" name="Freeform 553">
              <a:extLst>
                <a:ext uri="{FF2B5EF4-FFF2-40B4-BE49-F238E27FC236}">
                  <a16:creationId xmlns:a16="http://schemas.microsoft.com/office/drawing/2014/main" id="{CE0EE09A-2C96-B65A-9229-0BE4AE1D5884}"/>
                </a:ext>
              </a:extLst>
            </p:cNvPr>
            <p:cNvSpPr>
              <a:spLocks noEditPoints="1"/>
            </p:cNvSpPr>
            <p:nvPr/>
          </p:nvSpPr>
          <p:spPr bwMode="auto">
            <a:xfrm>
              <a:off x="2030" y="1537"/>
              <a:ext cx="374" cy="202"/>
            </a:xfrm>
            <a:custGeom>
              <a:avLst/>
              <a:gdLst>
                <a:gd name="T0" fmla="*/ 374 w 374"/>
                <a:gd name="T1" fmla="*/ 43 h 202"/>
                <a:gd name="T2" fmla="*/ 373 w 374"/>
                <a:gd name="T3" fmla="*/ 36 h 202"/>
                <a:gd name="T4" fmla="*/ 371 w 374"/>
                <a:gd name="T5" fmla="*/ 31 h 202"/>
                <a:gd name="T6" fmla="*/ 369 w 374"/>
                <a:gd name="T7" fmla="*/ 27 h 202"/>
                <a:gd name="T8" fmla="*/ 366 w 374"/>
                <a:gd name="T9" fmla="*/ 20 h 202"/>
                <a:gd name="T10" fmla="*/ 365 w 374"/>
                <a:gd name="T11" fmla="*/ 15 h 202"/>
                <a:gd name="T12" fmla="*/ 361 w 374"/>
                <a:gd name="T13" fmla="*/ 10 h 202"/>
                <a:gd name="T14" fmla="*/ 360 w 374"/>
                <a:gd name="T15" fmla="*/ 5 h 202"/>
                <a:gd name="T16" fmla="*/ 356 w 374"/>
                <a:gd name="T17" fmla="*/ 0 h 202"/>
                <a:gd name="T18" fmla="*/ 353 w 374"/>
                <a:gd name="T19" fmla="*/ 2 h 202"/>
                <a:gd name="T20" fmla="*/ 356 w 374"/>
                <a:gd name="T21" fmla="*/ 7 h 202"/>
                <a:gd name="T22" fmla="*/ 358 w 374"/>
                <a:gd name="T23" fmla="*/ 12 h 202"/>
                <a:gd name="T24" fmla="*/ 361 w 374"/>
                <a:gd name="T25" fmla="*/ 17 h 202"/>
                <a:gd name="T26" fmla="*/ 363 w 374"/>
                <a:gd name="T27" fmla="*/ 22 h 202"/>
                <a:gd name="T28" fmla="*/ 366 w 374"/>
                <a:gd name="T29" fmla="*/ 28 h 202"/>
                <a:gd name="T30" fmla="*/ 368 w 374"/>
                <a:gd name="T31" fmla="*/ 33 h 202"/>
                <a:gd name="T32" fmla="*/ 369 w 374"/>
                <a:gd name="T33" fmla="*/ 38 h 202"/>
                <a:gd name="T34" fmla="*/ 371 w 374"/>
                <a:gd name="T35" fmla="*/ 45 h 202"/>
                <a:gd name="T36" fmla="*/ 374 w 374"/>
                <a:gd name="T37" fmla="*/ 43 h 202"/>
                <a:gd name="T38" fmla="*/ 0 w 374"/>
                <a:gd name="T39" fmla="*/ 162 h 202"/>
                <a:gd name="T40" fmla="*/ 2 w 374"/>
                <a:gd name="T41" fmla="*/ 167 h 202"/>
                <a:gd name="T42" fmla="*/ 3 w 374"/>
                <a:gd name="T43" fmla="*/ 172 h 202"/>
                <a:gd name="T44" fmla="*/ 5 w 374"/>
                <a:gd name="T45" fmla="*/ 177 h 202"/>
                <a:gd name="T46" fmla="*/ 8 w 374"/>
                <a:gd name="T47" fmla="*/ 184 h 202"/>
                <a:gd name="T48" fmla="*/ 10 w 374"/>
                <a:gd name="T49" fmla="*/ 189 h 202"/>
                <a:gd name="T50" fmla="*/ 12 w 374"/>
                <a:gd name="T51" fmla="*/ 194 h 202"/>
                <a:gd name="T52" fmla="*/ 15 w 374"/>
                <a:gd name="T53" fmla="*/ 197 h 202"/>
                <a:gd name="T54" fmla="*/ 18 w 374"/>
                <a:gd name="T55" fmla="*/ 202 h 202"/>
                <a:gd name="T56" fmla="*/ 22 w 374"/>
                <a:gd name="T57" fmla="*/ 202 h 202"/>
                <a:gd name="T58" fmla="*/ 18 w 374"/>
                <a:gd name="T59" fmla="*/ 197 h 202"/>
                <a:gd name="T60" fmla="*/ 15 w 374"/>
                <a:gd name="T61" fmla="*/ 192 h 202"/>
                <a:gd name="T62" fmla="*/ 13 w 374"/>
                <a:gd name="T63" fmla="*/ 187 h 202"/>
                <a:gd name="T64" fmla="*/ 10 w 374"/>
                <a:gd name="T65" fmla="*/ 182 h 202"/>
                <a:gd name="T66" fmla="*/ 8 w 374"/>
                <a:gd name="T67" fmla="*/ 177 h 202"/>
                <a:gd name="T68" fmla="*/ 7 w 374"/>
                <a:gd name="T69" fmla="*/ 171 h 202"/>
                <a:gd name="T70" fmla="*/ 5 w 374"/>
                <a:gd name="T71" fmla="*/ 166 h 202"/>
                <a:gd name="T72" fmla="*/ 2 w 374"/>
                <a:gd name="T73" fmla="*/ 161 h 202"/>
                <a:gd name="T74" fmla="*/ 0 w 374"/>
                <a:gd name="T75" fmla="*/ 162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74" h="202">
                  <a:moveTo>
                    <a:pt x="374" y="43"/>
                  </a:moveTo>
                  <a:lnTo>
                    <a:pt x="373" y="36"/>
                  </a:lnTo>
                  <a:lnTo>
                    <a:pt x="371" y="31"/>
                  </a:lnTo>
                  <a:lnTo>
                    <a:pt x="369" y="27"/>
                  </a:lnTo>
                  <a:lnTo>
                    <a:pt x="366" y="20"/>
                  </a:lnTo>
                  <a:lnTo>
                    <a:pt x="365" y="15"/>
                  </a:lnTo>
                  <a:lnTo>
                    <a:pt x="361" y="10"/>
                  </a:lnTo>
                  <a:lnTo>
                    <a:pt x="360" y="5"/>
                  </a:lnTo>
                  <a:lnTo>
                    <a:pt x="356" y="0"/>
                  </a:lnTo>
                  <a:lnTo>
                    <a:pt x="353" y="2"/>
                  </a:lnTo>
                  <a:lnTo>
                    <a:pt x="356" y="7"/>
                  </a:lnTo>
                  <a:lnTo>
                    <a:pt x="358" y="12"/>
                  </a:lnTo>
                  <a:lnTo>
                    <a:pt x="361" y="17"/>
                  </a:lnTo>
                  <a:lnTo>
                    <a:pt x="363" y="22"/>
                  </a:lnTo>
                  <a:lnTo>
                    <a:pt x="366" y="28"/>
                  </a:lnTo>
                  <a:lnTo>
                    <a:pt x="368" y="33"/>
                  </a:lnTo>
                  <a:lnTo>
                    <a:pt x="369" y="38"/>
                  </a:lnTo>
                  <a:lnTo>
                    <a:pt x="371" y="45"/>
                  </a:lnTo>
                  <a:lnTo>
                    <a:pt x="374" y="43"/>
                  </a:lnTo>
                  <a:close/>
                  <a:moveTo>
                    <a:pt x="0" y="162"/>
                  </a:moveTo>
                  <a:lnTo>
                    <a:pt x="2" y="167"/>
                  </a:lnTo>
                  <a:lnTo>
                    <a:pt x="3" y="172"/>
                  </a:lnTo>
                  <a:lnTo>
                    <a:pt x="5" y="177"/>
                  </a:lnTo>
                  <a:lnTo>
                    <a:pt x="8" y="184"/>
                  </a:lnTo>
                  <a:lnTo>
                    <a:pt x="10" y="189"/>
                  </a:lnTo>
                  <a:lnTo>
                    <a:pt x="12" y="194"/>
                  </a:lnTo>
                  <a:lnTo>
                    <a:pt x="15" y="197"/>
                  </a:lnTo>
                  <a:lnTo>
                    <a:pt x="18" y="202"/>
                  </a:lnTo>
                  <a:lnTo>
                    <a:pt x="22" y="202"/>
                  </a:lnTo>
                  <a:lnTo>
                    <a:pt x="18" y="197"/>
                  </a:lnTo>
                  <a:lnTo>
                    <a:pt x="15" y="192"/>
                  </a:lnTo>
                  <a:lnTo>
                    <a:pt x="13" y="187"/>
                  </a:lnTo>
                  <a:lnTo>
                    <a:pt x="10" y="182"/>
                  </a:lnTo>
                  <a:lnTo>
                    <a:pt x="8" y="177"/>
                  </a:lnTo>
                  <a:lnTo>
                    <a:pt x="7" y="171"/>
                  </a:lnTo>
                  <a:lnTo>
                    <a:pt x="5" y="166"/>
                  </a:lnTo>
                  <a:lnTo>
                    <a:pt x="2" y="161"/>
                  </a:lnTo>
                  <a:lnTo>
                    <a:pt x="0" y="162"/>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2" name="Freeform 554">
              <a:extLst>
                <a:ext uri="{FF2B5EF4-FFF2-40B4-BE49-F238E27FC236}">
                  <a16:creationId xmlns:a16="http://schemas.microsoft.com/office/drawing/2014/main" id="{25D159BC-3A6B-7ACC-D61B-B2210CE286FD}"/>
                </a:ext>
              </a:extLst>
            </p:cNvPr>
            <p:cNvSpPr>
              <a:spLocks noEditPoints="1"/>
            </p:cNvSpPr>
            <p:nvPr/>
          </p:nvSpPr>
          <p:spPr bwMode="auto">
            <a:xfrm>
              <a:off x="2032" y="1537"/>
              <a:ext cx="371" cy="202"/>
            </a:xfrm>
            <a:custGeom>
              <a:avLst/>
              <a:gdLst>
                <a:gd name="T0" fmla="*/ 371 w 371"/>
                <a:gd name="T1" fmla="*/ 43 h 202"/>
                <a:gd name="T2" fmla="*/ 369 w 371"/>
                <a:gd name="T3" fmla="*/ 38 h 202"/>
                <a:gd name="T4" fmla="*/ 367 w 371"/>
                <a:gd name="T5" fmla="*/ 31 h 202"/>
                <a:gd name="T6" fmla="*/ 366 w 371"/>
                <a:gd name="T7" fmla="*/ 27 h 202"/>
                <a:gd name="T8" fmla="*/ 363 w 371"/>
                <a:gd name="T9" fmla="*/ 22 h 202"/>
                <a:gd name="T10" fmla="*/ 361 w 371"/>
                <a:gd name="T11" fmla="*/ 17 h 202"/>
                <a:gd name="T12" fmla="*/ 358 w 371"/>
                <a:gd name="T13" fmla="*/ 12 h 202"/>
                <a:gd name="T14" fmla="*/ 356 w 371"/>
                <a:gd name="T15" fmla="*/ 7 h 202"/>
                <a:gd name="T16" fmla="*/ 353 w 371"/>
                <a:gd name="T17" fmla="*/ 0 h 202"/>
                <a:gd name="T18" fmla="*/ 349 w 371"/>
                <a:gd name="T19" fmla="*/ 2 h 202"/>
                <a:gd name="T20" fmla="*/ 353 w 371"/>
                <a:gd name="T21" fmla="*/ 7 h 202"/>
                <a:gd name="T22" fmla="*/ 354 w 371"/>
                <a:gd name="T23" fmla="*/ 12 h 202"/>
                <a:gd name="T24" fmla="*/ 358 w 371"/>
                <a:gd name="T25" fmla="*/ 18 h 202"/>
                <a:gd name="T26" fmla="*/ 359 w 371"/>
                <a:gd name="T27" fmla="*/ 23 h 202"/>
                <a:gd name="T28" fmla="*/ 363 w 371"/>
                <a:gd name="T29" fmla="*/ 28 h 202"/>
                <a:gd name="T30" fmla="*/ 364 w 371"/>
                <a:gd name="T31" fmla="*/ 33 h 202"/>
                <a:gd name="T32" fmla="*/ 366 w 371"/>
                <a:gd name="T33" fmla="*/ 40 h 202"/>
                <a:gd name="T34" fmla="*/ 367 w 371"/>
                <a:gd name="T35" fmla="*/ 45 h 202"/>
                <a:gd name="T36" fmla="*/ 371 w 371"/>
                <a:gd name="T37" fmla="*/ 43 h 202"/>
                <a:gd name="T38" fmla="*/ 0 w 371"/>
                <a:gd name="T39" fmla="*/ 162 h 202"/>
                <a:gd name="T40" fmla="*/ 1 w 371"/>
                <a:gd name="T41" fmla="*/ 167 h 202"/>
                <a:gd name="T42" fmla="*/ 3 w 371"/>
                <a:gd name="T43" fmla="*/ 172 h 202"/>
                <a:gd name="T44" fmla="*/ 5 w 371"/>
                <a:gd name="T45" fmla="*/ 177 h 202"/>
                <a:gd name="T46" fmla="*/ 6 w 371"/>
                <a:gd name="T47" fmla="*/ 182 h 202"/>
                <a:gd name="T48" fmla="*/ 10 w 371"/>
                <a:gd name="T49" fmla="*/ 187 h 202"/>
                <a:gd name="T50" fmla="*/ 11 w 371"/>
                <a:gd name="T51" fmla="*/ 192 h 202"/>
                <a:gd name="T52" fmla="*/ 15 w 371"/>
                <a:gd name="T53" fmla="*/ 197 h 202"/>
                <a:gd name="T54" fmla="*/ 18 w 371"/>
                <a:gd name="T55" fmla="*/ 202 h 202"/>
                <a:gd name="T56" fmla="*/ 21 w 371"/>
                <a:gd name="T57" fmla="*/ 200 h 202"/>
                <a:gd name="T58" fmla="*/ 18 w 371"/>
                <a:gd name="T59" fmla="*/ 195 h 202"/>
                <a:gd name="T60" fmla="*/ 15 w 371"/>
                <a:gd name="T61" fmla="*/ 190 h 202"/>
                <a:gd name="T62" fmla="*/ 13 w 371"/>
                <a:gd name="T63" fmla="*/ 185 h 202"/>
                <a:gd name="T64" fmla="*/ 10 w 371"/>
                <a:gd name="T65" fmla="*/ 180 h 202"/>
                <a:gd name="T66" fmla="*/ 8 w 371"/>
                <a:gd name="T67" fmla="*/ 176 h 202"/>
                <a:gd name="T68" fmla="*/ 6 w 371"/>
                <a:gd name="T69" fmla="*/ 171 h 202"/>
                <a:gd name="T70" fmla="*/ 3 w 371"/>
                <a:gd name="T71" fmla="*/ 166 h 202"/>
                <a:gd name="T72" fmla="*/ 1 w 371"/>
                <a:gd name="T73" fmla="*/ 161 h 202"/>
                <a:gd name="T74" fmla="*/ 0 w 371"/>
                <a:gd name="T75" fmla="*/ 162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71" h="202">
                  <a:moveTo>
                    <a:pt x="371" y="43"/>
                  </a:moveTo>
                  <a:lnTo>
                    <a:pt x="369" y="38"/>
                  </a:lnTo>
                  <a:lnTo>
                    <a:pt x="367" y="31"/>
                  </a:lnTo>
                  <a:lnTo>
                    <a:pt x="366" y="27"/>
                  </a:lnTo>
                  <a:lnTo>
                    <a:pt x="363" y="22"/>
                  </a:lnTo>
                  <a:lnTo>
                    <a:pt x="361" y="17"/>
                  </a:lnTo>
                  <a:lnTo>
                    <a:pt x="358" y="12"/>
                  </a:lnTo>
                  <a:lnTo>
                    <a:pt x="356" y="7"/>
                  </a:lnTo>
                  <a:lnTo>
                    <a:pt x="353" y="0"/>
                  </a:lnTo>
                  <a:lnTo>
                    <a:pt x="349" y="2"/>
                  </a:lnTo>
                  <a:lnTo>
                    <a:pt x="353" y="7"/>
                  </a:lnTo>
                  <a:lnTo>
                    <a:pt x="354" y="12"/>
                  </a:lnTo>
                  <a:lnTo>
                    <a:pt x="358" y="18"/>
                  </a:lnTo>
                  <a:lnTo>
                    <a:pt x="359" y="23"/>
                  </a:lnTo>
                  <a:lnTo>
                    <a:pt x="363" y="28"/>
                  </a:lnTo>
                  <a:lnTo>
                    <a:pt x="364" y="33"/>
                  </a:lnTo>
                  <a:lnTo>
                    <a:pt x="366" y="40"/>
                  </a:lnTo>
                  <a:lnTo>
                    <a:pt x="367" y="45"/>
                  </a:lnTo>
                  <a:lnTo>
                    <a:pt x="371" y="43"/>
                  </a:lnTo>
                  <a:close/>
                  <a:moveTo>
                    <a:pt x="0" y="162"/>
                  </a:moveTo>
                  <a:lnTo>
                    <a:pt x="1" y="167"/>
                  </a:lnTo>
                  <a:lnTo>
                    <a:pt x="3" y="172"/>
                  </a:lnTo>
                  <a:lnTo>
                    <a:pt x="5" y="177"/>
                  </a:lnTo>
                  <a:lnTo>
                    <a:pt x="6" y="182"/>
                  </a:lnTo>
                  <a:lnTo>
                    <a:pt x="10" y="187"/>
                  </a:lnTo>
                  <a:lnTo>
                    <a:pt x="11" y="192"/>
                  </a:lnTo>
                  <a:lnTo>
                    <a:pt x="15" y="197"/>
                  </a:lnTo>
                  <a:lnTo>
                    <a:pt x="18" y="202"/>
                  </a:lnTo>
                  <a:lnTo>
                    <a:pt x="21" y="200"/>
                  </a:lnTo>
                  <a:lnTo>
                    <a:pt x="18" y="195"/>
                  </a:lnTo>
                  <a:lnTo>
                    <a:pt x="15" y="190"/>
                  </a:lnTo>
                  <a:lnTo>
                    <a:pt x="13" y="185"/>
                  </a:lnTo>
                  <a:lnTo>
                    <a:pt x="10" y="180"/>
                  </a:lnTo>
                  <a:lnTo>
                    <a:pt x="8" y="176"/>
                  </a:lnTo>
                  <a:lnTo>
                    <a:pt x="6" y="171"/>
                  </a:lnTo>
                  <a:lnTo>
                    <a:pt x="3" y="166"/>
                  </a:lnTo>
                  <a:lnTo>
                    <a:pt x="1" y="161"/>
                  </a:lnTo>
                  <a:lnTo>
                    <a:pt x="0" y="162"/>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3" name="Freeform 555">
              <a:extLst>
                <a:ext uri="{FF2B5EF4-FFF2-40B4-BE49-F238E27FC236}">
                  <a16:creationId xmlns:a16="http://schemas.microsoft.com/office/drawing/2014/main" id="{079E5D83-38AE-9950-6D1F-656BE30C9BC7}"/>
                </a:ext>
              </a:extLst>
            </p:cNvPr>
            <p:cNvSpPr>
              <a:spLocks noEditPoints="1"/>
            </p:cNvSpPr>
            <p:nvPr/>
          </p:nvSpPr>
          <p:spPr bwMode="auto">
            <a:xfrm>
              <a:off x="2032" y="1539"/>
              <a:ext cx="369" cy="200"/>
            </a:xfrm>
            <a:custGeom>
              <a:avLst/>
              <a:gdLst>
                <a:gd name="T0" fmla="*/ 369 w 369"/>
                <a:gd name="T1" fmla="*/ 43 h 200"/>
                <a:gd name="T2" fmla="*/ 367 w 369"/>
                <a:gd name="T3" fmla="*/ 36 h 200"/>
                <a:gd name="T4" fmla="*/ 366 w 369"/>
                <a:gd name="T5" fmla="*/ 31 h 200"/>
                <a:gd name="T6" fmla="*/ 364 w 369"/>
                <a:gd name="T7" fmla="*/ 26 h 200"/>
                <a:gd name="T8" fmla="*/ 361 w 369"/>
                <a:gd name="T9" fmla="*/ 20 h 200"/>
                <a:gd name="T10" fmla="*/ 359 w 369"/>
                <a:gd name="T11" fmla="*/ 15 h 200"/>
                <a:gd name="T12" fmla="*/ 356 w 369"/>
                <a:gd name="T13" fmla="*/ 10 h 200"/>
                <a:gd name="T14" fmla="*/ 354 w 369"/>
                <a:gd name="T15" fmla="*/ 5 h 200"/>
                <a:gd name="T16" fmla="*/ 351 w 369"/>
                <a:gd name="T17" fmla="*/ 0 h 200"/>
                <a:gd name="T18" fmla="*/ 348 w 369"/>
                <a:gd name="T19" fmla="*/ 1 h 200"/>
                <a:gd name="T20" fmla="*/ 351 w 369"/>
                <a:gd name="T21" fmla="*/ 6 h 200"/>
                <a:gd name="T22" fmla="*/ 354 w 369"/>
                <a:gd name="T23" fmla="*/ 11 h 200"/>
                <a:gd name="T24" fmla="*/ 356 w 369"/>
                <a:gd name="T25" fmla="*/ 16 h 200"/>
                <a:gd name="T26" fmla="*/ 359 w 369"/>
                <a:gd name="T27" fmla="*/ 21 h 200"/>
                <a:gd name="T28" fmla="*/ 361 w 369"/>
                <a:gd name="T29" fmla="*/ 26 h 200"/>
                <a:gd name="T30" fmla="*/ 363 w 369"/>
                <a:gd name="T31" fmla="*/ 33 h 200"/>
                <a:gd name="T32" fmla="*/ 364 w 369"/>
                <a:gd name="T33" fmla="*/ 38 h 200"/>
                <a:gd name="T34" fmla="*/ 367 w 369"/>
                <a:gd name="T35" fmla="*/ 43 h 200"/>
                <a:gd name="T36" fmla="*/ 369 w 369"/>
                <a:gd name="T37" fmla="*/ 43 h 200"/>
                <a:gd name="T38" fmla="*/ 0 w 369"/>
                <a:gd name="T39" fmla="*/ 159 h 200"/>
                <a:gd name="T40" fmla="*/ 3 w 369"/>
                <a:gd name="T41" fmla="*/ 164 h 200"/>
                <a:gd name="T42" fmla="*/ 5 w 369"/>
                <a:gd name="T43" fmla="*/ 169 h 200"/>
                <a:gd name="T44" fmla="*/ 6 w 369"/>
                <a:gd name="T45" fmla="*/ 175 h 200"/>
                <a:gd name="T46" fmla="*/ 8 w 369"/>
                <a:gd name="T47" fmla="*/ 180 h 200"/>
                <a:gd name="T48" fmla="*/ 11 w 369"/>
                <a:gd name="T49" fmla="*/ 185 h 200"/>
                <a:gd name="T50" fmla="*/ 13 w 369"/>
                <a:gd name="T51" fmla="*/ 190 h 200"/>
                <a:gd name="T52" fmla="*/ 16 w 369"/>
                <a:gd name="T53" fmla="*/ 195 h 200"/>
                <a:gd name="T54" fmla="*/ 20 w 369"/>
                <a:gd name="T55" fmla="*/ 200 h 200"/>
                <a:gd name="T56" fmla="*/ 21 w 369"/>
                <a:gd name="T57" fmla="*/ 198 h 200"/>
                <a:gd name="T58" fmla="*/ 20 w 369"/>
                <a:gd name="T59" fmla="*/ 193 h 200"/>
                <a:gd name="T60" fmla="*/ 16 w 369"/>
                <a:gd name="T61" fmla="*/ 188 h 200"/>
                <a:gd name="T62" fmla="*/ 15 w 369"/>
                <a:gd name="T63" fmla="*/ 183 h 200"/>
                <a:gd name="T64" fmla="*/ 11 w 369"/>
                <a:gd name="T65" fmla="*/ 178 h 200"/>
                <a:gd name="T66" fmla="*/ 10 w 369"/>
                <a:gd name="T67" fmla="*/ 174 h 200"/>
                <a:gd name="T68" fmla="*/ 8 w 369"/>
                <a:gd name="T69" fmla="*/ 169 h 200"/>
                <a:gd name="T70" fmla="*/ 5 w 369"/>
                <a:gd name="T71" fmla="*/ 162 h 200"/>
                <a:gd name="T72" fmla="*/ 3 w 369"/>
                <a:gd name="T73" fmla="*/ 157 h 200"/>
                <a:gd name="T74" fmla="*/ 0 w 369"/>
                <a:gd name="T75" fmla="*/ 15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69" h="200">
                  <a:moveTo>
                    <a:pt x="369" y="43"/>
                  </a:moveTo>
                  <a:lnTo>
                    <a:pt x="367" y="36"/>
                  </a:lnTo>
                  <a:lnTo>
                    <a:pt x="366" y="31"/>
                  </a:lnTo>
                  <a:lnTo>
                    <a:pt x="364" y="26"/>
                  </a:lnTo>
                  <a:lnTo>
                    <a:pt x="361" y="20"/>
                  </a:lnTo>
                  <a:lnTo>
                    <a:pt x="359" y="15"/>
                  </a:lnTo>
                  <a:lnTo>
                    <a:pt x="356" y="10"/>
                  </a:lnTo>
                  <a:lnTo>
                    <a:pt x="354" y="5"/>
                  </a:lnTo>
                  <a:lnTo>
                    <a:pt x="351" y="0"/>
                  </a:lnTo>
                  <a:lnTo>
                    <a:pt x="348" y="1"/>
                  </a:lnTo>
                  <a:lnTo>
                    <a:pt x="351" y="6"/>
                  </a:lnTo>
                  <a:lnTo>
                    <a:pt x="354" y="11"/>
                  </a:lnTo>
                  <a:lnTo>
                    <a:pt x="356" y="16"/>
                  </a:lnTo>
                  <a:lnTo>
                    <a:pt x="359" y="21"/>
                  </a:lnTo>
                  <a:lnTo>
                    <a:pt x="361" y="26"/>
                  </a:lnTo>
                  <a:lnTo>
                    <a:pt x="363" y="33"/>
                  </a:lnTo>
                  <a:lnTo>
                    <a:pt x="364" y="38"/>
                  </a:lnTo>
                  <a:lnTo>
                    <a:pt x="367" y="43"/>
                  </a:lnTo>
                  <a:lnTo>
                    <a:pt x="369" y="43"/>
                  </a:lnTo>
                  <a:close/>
                  <a:moveTo>
                    <a:pt x="0" y="159"/>
                  </a:moveTo>
                  <a:lnTo>
                    <a:pt x="3" y="164"/>
                  </a:lnTo>
                  <a:lnTo>
                    <a:pt x="5" y="169"/>
                  </a:lnTo>
                  <a:lnTo>
                    <a:pt x="6" y="175"/>
                  </a:lnTo>
                  <a:lnTo>
                    <a:pt x="8" y="180"/>
                  </a:lnTo>
                  <a:lnTo>
                    <a:pt x="11" y="185"/>
                  </a:lnTo>
                  <a:lnTo>
                    <a:pt x="13" y="190"/>
                  </a:lnTo>
                  <a:lnTo>
                    <a:pt x="16" y="195"/>
                  </a:lnTo>
                  <a:lnTo>
                    <a:pt x="20" y="200"/>
                  </a:lnTo>
                  <a:lnTo>
                    <a:pt x="21" y="198"/>
                  </a:lnTo>
                  <a:lnTo>
                    <a:pt x="20" y="193"/>
                  </a:lnTo>
                  <a:lnTo>
                    <a:pt x="16" y="188"/>
                  </a:lnTo>
                  <a:lnTo>
                    <a:pt x="15" y="183"/>
                  </a:lnTo>
                  <a:lnTo>
                    <a:pt x="11" y="178"/>
                  </a:lnTo>
                  <a:lnTo>
                    <a:pt x="10" y="174"/>
                  </a:lnTo>
                  <a:lnTo>
                    <a:pt x="8" y="169"/>
                  </a:lnTo>
                  <a:lnTo>
                    <a:pt x="5" y="162"/>
                  </a:lnTo>
                  <a:lnTo>
                    <a:pt x="3" y="157"/>
                  </a:lnTo>
                  <a:lnTo>
                    <a:pt x="0" y="159"/>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4" name="Freeform 556">
              <a:extLst>
                <a:ext uri="{FF2B5EF4-FFF2-40B4-BE49-F238E27FC236}">
                  <a16:creationId xmlns:a16="http://schemas.microsoft.com/office/drawing/2014/main" id="{3D8B5703-0BD8-D0E6-A3EA-F4561EC6200A}"/>
                </a:ext>
              </a:extLst>
            </p:cNvPr>
            <p:cNvSpPr>
              <a:spLocks noEditPoints="1"/>
            </p:cNvSpPr>
            <p:nvPr/>
          </p:nvSpPr>
          <p:spPr bwMode="auto">
            <a:xfrm>
              <a:off x="2033" y="1539"/>
              <a:ext cx="366" cy="198"/>
            </a:xfrm>
            <a:custGeom>
              <a:avLst/>
              <a:gdLst>
                <a:gd name="T0" fmla="*/ 366 w 366"/>
                <a:gd name="T1" fmla="*/ 43 h 198"/>
                <a:gd name="T2" fmla="*/ 365 w 366"/>
                <a:gd name="T3" fmla="*/ 38 h 198"/>
                <a:gd name="T4" fmla="*/ 363 w 366"/>
                <a:gd name="T5" fmla="*/ 31 h 198"/>
                <a:gd name="T6" fmla="*/ 362 w 366"/>
                <a:gd name="T7" fmla="*/ 26 h 198"/>
                <a:gd name="T8" fmla="*/ 358 w 366"/>
                <a:gd name="T9" fmla="*/ 21 h 198"/>
                <a:gd name="T10" fmla="*/ 357 w 366"/>
                <a:gd name="T11" fmla="*/ 16 h 198"/>
                <a:gd name="T12" fmla="*/ 353 w 366"/>
                <a:gd name="T13" fmla="*/ 10 h 198"/>
                <a:gd name="T14" fmla="*/ 352 w 366"/>
                <a:gd name="T15" fmla="*/ 5 h 198"/>
                <a:gd name="T16" fmla="*/ 348 w 366"/>
                <a:gd name="T17" fmla="*/ 0 h 198"/>
                <a:gd name="T18" fmla="*/ 345 w 366"/>
                <a:gd name="T19" fmla="*/ 1 h 198"/>
                <a:gd name="T20" fmla="*/ 348 w 366"/>
                <a:gd name="T21" fmla="*/ 6 h 198"/>
                <a:gd name="T22" fmla="*/ 352 w 366"/>
                <a:gd name="T23" fmla="*/ 11 h 198"/>
                <a:gd name="T24" fmla="*/ 353 w 366"/>
                <a:gd name="T25" fmla="*/ 16 h 198"/>
                <a:gd name="T26" fmla="*/ 357 w 366"/>
                <a:gd name="T27" fmla="*/ 23 h 198"/>
                <a:gd name="T28" fmla="*/ 358 w 366"/>
                <a:gd name="T29" fmla="*/ 28 h 198"/>
                <a:gd name="T30" fmla="*/ 360 w 366"/>
                <a:gd name="T31" fmla="*/ 33 h 198"/>
                <a:gd name="T32" fmla="*/ 363 w 366"/>
                <a:gd name="T33" fmla="*/ 38 h 198"/>
                <a:gd name="T34" fmla="*/ 365 w 366"/>
                <a:gd name="T35" fmla="*/ 44 h 198"/>
                <a:gd name="T36" fmla="*/ 366 w 366"/>
                <a:gd name="T37" fmla="*/ 43 h 198"/>
                <a:gd name="T38" fmla="*/ 0 w 366"/>
                <a:gd name="T39" fmla="*/ 159 h 198"/>
                <a:gd name="T40" fmla="*/ 2 w 366"/>
                <a:gd name="T41" fmla="*/ 164 h 198"/>
                <a:gd name="T42" fmla="*/ 5 w 366"/>
                <a:gd name="T43" fmla="*/ 169 h 198"/>
                <a:gd name="T44" fmla="*/ 7 w 366"/>
                <a:gd name="T45" fmla="*/ 174 h 198"/>
                <a:gd name="T46" fmla="*/ 9 w 366"/>
                <a:gd name="T47" fmla="*/ 178 h 198"/>
                <a:gd name="T48" fmla="*/ 12 w 366"/>
                <a:gd name="T49" fmla="*/ 183 h 198"/>
                <a:gd name="T50" fmla="*/ 14 w 366"/>
                <a:gd name="T51" fmla="*/ 188 h 198"/>
                <a:gd name="T52" fmla="*/ 17 w 366"/>
                <a:gd name="T53" fmla="*/ 193 h 198"/>
                <a:gd name="T54" fmla="*/ 20 w 366"/>
                <a:gd name="T55" fmla="*/ 198 h 198"/>
                <a:gd name="T56" fmla="*/ 22 w 366"/>
                <a:gd name="T57" fmla="*/ 197 h 198"/>
                <a:gd name="T58" fmla="*/ 20 w 366"/>
                <a:gd name="T59" fmla="*/ 192 h 198"/>
                <a:gd name="T60" fmla="*/ 17 w 366"/>
                <a:gd name="T61" fmla="*/ 187 h 198"/>
                <a:gd name="T62" fmla="*/ 15 w 366"/>
                <a:gd name="T63" fmla="*/ 183 h 198"/>
                <a:gd name="T64" fmla="*/ 12 w 366"/>
                <a:gd name="T65" fmla="*/ 177 h 198"/>
                <a:gd name="T66" fmla="*/ 10 w 366"/>
                <a:gd name="T67" fmla="*/ 172 h 198"/>
                <a:gd name="T68" fmla="*/ 7 w 366"/>
                <a:gd name="T69" fmla="*/ 167 h 198"/>
                <a:gd name="T70" fmla="*/ 5 w 366"/>
                <a:gd name="T71" fmla="*/ 162 h 198"/>
                <a:gd name="T72" fmla="*/ 4 w 366"/>
                <a:gd name="T73" fmla="*/ 157 h 198"/>
                <a:gd name="T74" fmla="*/ 0 w 366"/>
                <a:gd name="T75" fmla="*/ 159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66" h="198">
                  <a:moveTo>
                    <a:pt x="366" y="43"/>
                  </a:moveTo>
                  <a:lnTo>
                    <a:pt x="365" y="38"/>
                  </a:lnTo>
                  <a:lnTo>
                    <a:pt x="363" y="31"/>
                  </a:lnTo>
                  <a:lnTo>
                    <a:pt x="362" y="26"/>
                  </a:lnTo>
                  <a:lnTo>
                    <a:pt x="358" y="21"/>
                  </a:lnTo>
                  <a:lnTo>
                    <a:pt x="357" y="16"/>
                  </a:lnTo>
                  <a:lnTo>
                    <a:pt x="353" y="10"/>
                  </a:lnTo>
                  <a:lnTo>
                    <a:pt x="352" y="5"/>
                  </a:lnTo>
                  <a:lnTo>
                    <a:pt x="348" y="0"/>
                  </a:lnTo>
                  <a:lnTo>
                    <a:pt x="345" y="1"/>
                  </a:lnTo>
                  <a:lnTo>
                    <a:pt x="348" y="6"/>
                  </a:lnTo>
                  <a:lnTo>
                    <a:pt x="352" y="11"/>
                  </a:lnTo>
                  <a:lnTo>
                    <a:pt x="353" y="16"/>
                  </a:lnTo>
                  <a:lnTo>
                    <a:pt x="357" y="23"/>
                  </a:lnTo>
                  <a:lnTo>
                    <a:pt x="358" y="28"/>
                  </a:lnTo>
                  <a:lnTo>
                    <a:pt x="360" y="33"/>
                  </a:lnTo>
                  <a:lnTo>
                    <a:pt x="363" y="38"/>
                  </a:lnTo>
                  <a:lnTo>
                    <a:pt x="365" y="44"/>
                  </a:lnTo>
                  <a:lnTo>
                    <a:pt x="366" y="43"/>
                  </a:lnTo>
                  <a:close/>
                  <a:moveTo>
                    <a:pt x="0" y="159"/>
                  </a:moveTo>
                  <a:lnTo>
                    <a:pt x="2" y="164"/>
                  </a:lnTo>
                  <a:lnTo>
                    <a:pt x="5" y="169"/>
                  </a:lnTo>
                  <a:lnTo>
                    <a:pt x="7" y="174"/>
                  </a:lnTo>
                  <a:lnTo>
                    <a:pt x="9" y="178"/>
                  </a:lnTo>
                  <a:lnTo>
                    <a:pt x="12" y="183"/>
                  </a:lnTo>
                  <a:lnTo>
                    <a:pt x="14" y="188"/>
                  </a:lnTo>
                  <a:lnTo>
                    <a:pt x="17" y="193"/>
                  </a:lnTo>
                  <a:lnTo>
                    <a:pt x="20" y="198"/>
                  </a:lnTo>
                  <a:lnTo>
                    <a:pt x="22" y="197"/>
                  </a:lnTo>
                  <a:lnTo>
                    <a:pt x="20" y="192"/>
                  </a:lnTo>
                  <a:lnTo>
                    <a:pt x="17" y="187"/>
                  </a:lnTo>
                  <a:lnTo>
                    <a:pt x="15" y="183"/>
                  </a:lnTo>
                  <a:lnTo>
                    <a:pt x="12" y="177"/>
                  </a:lnTo>
                  <a:lnTo>
                    <a:pt x="10" y="172"/>
                  </a:lnTo>
                  <a:lnTo>
                    <a:pt x="7" y="167"/>
                  </a:lnTo>
                  <a:lnTo>
                    <a:pt x="5" y="162"/>
                  </a:lnTo>
                  <a:lnTo>
                    <a:pt x="4" y="157"/>
                  </a:lnTo>
                  <a:lnTo>
                    <a:pt x="0" y="159"/>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5" name="Freeform 557">
              <a:extLst>
                <a:ext uri="{FF2B5EF4-FFF2-40B4-BE49-F238E27FC236}">
                  <a16:creationId xmlns:a16="http://schemas.microsoft.com/office/drawing/2014/main" id="{32FF1B3F-2D6B-3C23-AE8B-3089C1AD25B2}"/>
                </a:ext>
              </a:extLst>
            </p:cNvPr>
            <p:cNvSpPr>
              <a:spLocks noEditPoints="1"/>
            </p:cNvSpPr>
            <p:nvPr/>
          </p:nvSpPr>
          <p:spPr bwMode="auto">
            <a:xfrm>
              <a:off x="2035" y="1540"/>
              <a:ext cx="364" cy="197"/>
            </a:xfrm>
            <a:custGeom>
              <a:avLst/>
              <a:gdLst>
                <a:gd name="T0" fmla="*/ 364 w 364"/>
                <a:gd name="T1" fmla="*/ 42 h 197"/>
                <a:gd name="T2" fmla="*/ 361 w 364"/>
                <a:gd name="T3" fmla="*/ 37 h 197"/>
                <a:gd name="T4" fmla="*/ 360 w 364"/>
                <a:gd name="T5" fmla="*/ 32 h 197"/>
                <a:gd name="T6" fmla="*/ 358 w 364"/>
                <a:gd name="T7" fmla="*/ 25 h 197"/>
                <a:gd name="T8" fmla="*/ 356 w 364"/>
                <a:gd name="T9" fmla="*/ 20 h 197"/>
                <a:gd name="T10" fmla="*/ 353 w 364"/>
                <a:gd name="T11" fmla="*/ 15 h 197"/>
                <a:gd name="T12" fmla="*/ 351 w 364"/>
                <a:gd name="T13" fmla="*/ 10 h 197"/>
                <a:gd name="T14" fmla="*/ 348 w 364"/>
                <a:gd name="T15" fmla="*/ 5 h 197"/>
                <a:gd name="T16" fmla="*/ 345 w 364"/>
                <a:gd name="T17" fmla="*/ 0 h 197"/>
                <a:gd name="T18" fmla="*/ 341 w 364"/>
                <a:gd name="T19" fmla="*/ 2 h 197"/>
                <a:gd name="T20" fmla="*/ 345 w 364"/>
                <a:gd name="T21" fmla="*/ 7 h 197"/>
                <a:gd name="T22" fmla="*/ 348 w 364"/>
                <a:gd name="T23" fmla="*/ 12 h 197"/>
                <a:gd name="T24" fmla="*/ 350 w 364"/>
                <a:gd name="T25" fmla="*/ 17 h 197"/>
                <a:gd name="T26" fmla="*/ 353 w 364"/>
                <a:gd name="T27" fmla="*/ 22 h 197"/>
                <a:gd name="T28" fmla="*/ 355 w 364"/>
                <a:gd name="T29" fmla="*/ 27 h 197"/>
                <a:gd name="T30" fmla="*/ 356 w 364"/>
                <a:gd name="T31" fmla="*/ 32 h 197"/>
                <a:gd name="T32" fmla="*/ 360 w 364"/>
                <a:gd name="T33" fmla="*/ 38 h 197"/>
                <a:gd name="T34" fmla="*/ 361 w 364"/>
                <a:gd name="T35" fmla="*/ 43 h 197"/>
                <a:gd name="T36" fmla="*/ 364 w 364"/>
                <a:gd name="T37" fmla="*/ 42 h 197"/>
                <a:gd name="T38" fmla="*/ 0 w 364"/>
                <a:gd name="T39" fmla="*/ 156 h 197"/>
                <a:gd name="T40" fmla="*/ 2 w 364"/>
                <a:gd name="T41" fmla="*/ 161 h 197"/>
                <a:gd name="T42" fmla="*/ 5 w 364"/>
                <a:gd name="T43" fmla="*/ 168 h 197"/>
                <a:gd name="T44" fmla="*/ 7 w 364"/>
                <a:gd name="T45" fmla="*/ 173 h 197"/>
                <a:gd name="T46" fmla="*/ 8 w 364"/>
                <a:gd name="T47" fmla="*/ 177 h 197"/>
                <a:gd name="T48" fmla="*/ 12 w 364"/>
                <a:gd name="T49" fmla="*/ 182 h 197"/>
                <a:gd name="T50" fmla="*/ 13 w 364"/>
                <a:gd name="T51" fmla="*/ 187 h 197"/>
                <a:gd name="T52" fmla="*/ 17 w 364"/>
                <a:gd name="T53" fmla="*/ 192 h 197"/>
                <a:gd name="T54" fmla="*/ 18 w 364"/>
                <a:gd name="T55" fmla="*/ 197 h 197"/>
                <a:gd name="T56" fmla="*/ 22 w 364"/>
                <a:gd name="T57" fmla="*/ 196 h 197"/>
                <a:gd name="T58" fmla="*/ 20 w 364"/>
                <a:gd name="T59" fmla="*/ 191 h 197"/>
                <a:gd name="T60" fmla="*/ 17 w 364"/>
                <a:gd name="T61" fmla="*/ 186 h 197"/>
                <a:gd name="T62" fmla="*/ 13 w 364"/>
                <a:gd name="T63" fmla="*/ 181 h 197"/>
                <a:gd name="T64" fmla="*/ 12 w 364"/>
                <a:gd name="T65" fmla="*/ 176 h 197"/>
                <a:gd name="T66" fmla="*/ 10 w 364"/>
                <a:gd name="T67" fmla="*/ 171 h 197"/>
                <a:gd name="T68" fmla="*/ 7 w 364"/>
                <a:gd name="T69" fmla="*/ 166 h 197"/>
                <a:gd name="T70" fmla="*/ 5 w 364"/>
                <a:gd name="T71" fmla="*/ 161 h 197"/>
                <a:gd name="T72" fmla="*/ 3 w 364"/>
                <a:gd name="T73" fmla="*/ 154 h 197"/>
                <a:gd name="T74" fmla="*/ 0 w 364"/>
                <a:gd name="T75" fmla="*/ 156 h 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64" h="197">
                  <a:moveTo>
                    <a:pt x="364" y="42"/>
                  </a:moveTo>
                  <a:lnTo>
                    <a:pt x="361" y="37"/>
                  </a:lnTo>
                  <a:lnTo>
                    <a:pt x="360" y="32"/>
                  </a:lnTo>
                  <a:lnTo>
                    <a:pt x="358" y="25"/>
                  </a:lnTo>
                  <a:lnTo>
                    <a:pt x="356" y="20"/>
                  </a:lnTo>
                  <a:lnTo>
                    <a:pt x="353" y="15"/>
                  </a:lnTo>
                  <a:lnTo>
                    <a:pt x="351" y="10"/>
                  </a:lnTo>
                  <a:lnTo>
                    <a:pt x="348" y="5"/>
                  </a:lnTo>
                  <a:lnTo>
                    <a:pt x="345" y="0"/>
                  </a:lnTo>
                  <a:lnTo>
                    <a:pt x="341" y="2"/>
                  </a:lnTo>
                  <a:lnTo>
                    <a:pt x="345" y="7"/>
                  </a:lnTo>
                  <a:lnTo>
                    <a:pt x="348" y="12"/>
                  </a:lnTo>
                  <a:lnTo>
                    <a:pt x="350" y="17"/>
                  </a:lnTo>
                  <a:lnTo>
                    <a:pt x="353" y="22"/>
                  </a:lnTo>
                  <a:lnTo>
                    <a:pt x="355" y="27"/>
                  </a:lnTo>
                  <a:lnTo>
                    <a:pt x="356" y="32"/>
                  </a:lnTo>
                  <a:lnTo>
                    <a:pt x="360" y="38"/>
                  </a:lnTo>
                  <a:lnTo>
                    <a:pt x="361" y="43"/>
                  </a:lnTo>
                  <a:lnTo>
                    <a:pt x="364" y="42"/>
                  </a:lnTo>
                  <a:close/>
                  <a:moveTo>
                    <a:pt x="0" y="156"/>
                  </a:moveTo>
                  <a:lnTo>
                    <a:pt x="2" y="161"/>
                  </a:lnTo>
                  <a:lnTo>
                    <a:pt x="5" y="168"/>
                  </a:lnTo>
                  <a:lnTo>
                    <a:pt x="7" y="173"/>
                  </a:lnTo>
                  <a:lnTo>
                    <a:pt x="8" y="177"/>
                  </a:lnTo>
                  <a:lnTo>
                    <a:pt x="12" y="182"/>
                  </a:lnTo>
                  <a:lnTo>
                    <a:pt x="13" y="187"/>
                  </a:lnTo>
                  <a:lnTo>
                    <a:pt x="17" y="192"/>
                  </a:lnTo>
                  <a:lnTo>
                    <a:pt x="18" y="197"/>
                  </a:lnTo>
                  <a:lnTo>
                    <a:pt x="22" y="196"/>
                  </a:lnTo>
                  <a:lnTo>
                    <a:pt x="20" y="191"/>
                  </a:lnTo>
                  <a:lnTo>
                    <a:pt x="17" y="186"/>
                  </a:lnTo>
                  <a:lnTo>
                    <a:pt x="13" y="181"/>
                  </a:lnTo>
                  <a:lnTo>
                    <a:pt x="12" y="176"/>
                  </a:lnTo>
                  <a:lnTo>
                    <a:pt x="10" y="171"/>
                  </a:lnTo>
                  <a:lnTo>
                    <a:pt x="7" y="166"/>
                  </a:lnTo>
                  <a:lnTo>
                    <a:pt x="5" y="161"/>
                  </a:lnTo>
                  <a:lnTo>
                    <a:pt x="3" y="154"/>
                  </a:lnTo>
                  <a:lnTo>
                    <a:pt x="0" y="156"/>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6" name="Freeform 558">
              <a:extLst>
                <a:ext uri="{FF2B5EF4-FFF2-40B4-BE49-F238E27FC236}">
                  <a16:creationId xmlns:a16="http://schemas.microsoft.com/office/drawing/2014/main" id="{F082A13D-E765-8D8D-5BA4-F03A900E8BCF}"/>
                </a:ext>
              </a:extLst>
            </p:cNvPr>
            <p:cNvSpPr>
              <a:spLocks noEditPoints="1"/>
            </p:cNvSpPr>
            <p:nvPr/>
          </p:nvSpPr>
          <p:spPr bwMode="auto">
            <a:xfrm>
              <a:off x="2037" y="1540"/>
              <a:ext cx="361" cy="196"/>
            </a:xfrm>
            <a:custGeom>
              <a:avLst/>
              <a:gdLst>
                <a:gd name="T0" fmla="*/ 361 w 361"/>
                <a:gd name="T1" fmla="*/ 43 h 196"/>
                <a:gd name="T2" fmla="*/ 359 w 361"/>
                <a:gd name="T3" fmla="*/ 37 h 196"/>
                <a:gd name="T4" fmla="*/ 356 w 361"/>
                <a:gd name="T5" fmla="*/ 32 h 196"/>
                <a:gd name="T6" fmla="*/ 354 w 361"/>
                <a:gd name="T7" fmla="*/ 27 h 196"/>
                <a:gd name="T8" fmla="*/ 353 w 361"/>
                <a:gd name="T9" fmla="*/ 22 h 196"/>
                <a:gd name="T10" fmla="*/ 349 w 361"/>
                <a:gd name="T11" fmla="*/ 15 h 196"/>
                <a:gd name="T12" fmla="*/ 348 w 361"/>
                <a:gd name="T13" fmla="*/ 10 h 196"/>
                <a:gd name="T14" fmla="*/ 344 w 361"/>
                <a:gd name="T15" fmla="*/ 5 h 196"/>
                <a:gd name="T16" fmla="*/ 341 w 361"/>
                <a:gd name="T17" fmla="*/ 0 h 196"/>
                <a:gd name="T18" fmla="*/ 338 w 361"/>
                <a:gd name="T19" fmla="*/ 2 h 196"/>
                <a:gd name="T20" fmla="*/ 341 w 361"/>
                <a:gd name="T21" fmla="*/ 7 h 196"/>
                <a:gd name="T22" fmla="*/ 344 w 361"/>
                <a:gd name="T23" fmla="*/ 12 h 196"/>
                <a:gd name="T24" fmla="*/ 346 w 361"/>
                <a:gd name="T25" fmla="*/ 17 h 196"/>
                <a:gd name="T26" fmla="*/ 349 w 361"/>
                <a:gd name="T27" fmla="*/ 22 h 196"/>
                <a:gd name="T28" fmla="*/ 351 w 361"/>
                <a:gd name="T29" fmla="*/ 28 h 196"/>
                <a:gd name="T30" fmla="*/ 354 w 361"/>
                <a:gd name="T31" fmla="*/ 33 h 196"/>
                <a:gd name="T32" fmla="*/ 356 w 361"/>
                <a:gd name="T33" fmla="*/ 38 h 196"/>
                <a:gd name="T34" fmla="*/ 358 w 361"/>
                <a:gd name="T35" fmla="*/ 45 h 196"/>
                <a:gd name="T36" fmla="*/ 361 w 361"/>
                <a:gd name="T37" fmla="*/ 43 h 196"/>
                <a:gd name="T38" fmla="*/ 0 w 361"/>
                <a:gd name="T39" fmla="*/ 156 h 196"/>
                <a:gd name="T40" fmla="*/ 1 w 361"/>
                <a:gd name="T41" fmla="*/ 161 h 196"/>
                <a:gd name="T42" fmla="*/ 3 w 361"/>
                <a:gd name="T43" fmla="*/ 166 h 196"/>
                <a:gd name="T44" fmla="*/ 6 w 361"/>
                <a:gd name="T45" fmla="*/ 171 h 196"/>
                <a:gd name="T46" fmla="*/ 8 w 361"/>
                <a:gd name="T47" fmla="*/ 176 h 196"/>
                <a:gd name="T48" fmla="*/ 11 w 361"/>
                <a:gd name="T49" fmla="*/ 182 h 196"/>
                <a:gd name="T50" fmla="*/ 13 w 361"/>
                <a:gd name="T51" fmla="*/ 187 h 196"/>
                <a:gd name="T52" fmla="*/ 16 w 361"/>
                <a:gd name="T53" fmla="*/ 191 h 196"/>
                <a:gd name="T54" fmla="*/ 18 w 361"/>
                <a:gd name="T55" fmla="*/ 196 h 196"/>
                <a:gd name="T56" fmla="*/ 21 w 361"/>
                <a:gd name="T57" fmla="*/ 194 h 196"/>
                <a:gd name="T58" fmla="*/ 18 w 361"/>
                <a:gd name="T59" fmla="*/ 191 h 196"/>
                <a:gd name="T60" fmla="*/ 16 w 361"/>
                <a:gd name="T61" fmla="*/ 186 h 196"/>
                <a:gd name="T62" fmla="*/ 13 w 361"/>
                <a:gd name="T63" fmla="*/ 181 h 196"/>
                <a:gd name="T64" fmla="*/ 11 w 361"/>
                <a:gd name="T65" fmla="*/ 176 h 196"/>
                <a:gd name="T66" fmla="*/ 10 w 361"/>
                <a:gd name="T67" fmla="*/ 171 h 196"/>
                <a:gd name="T68" fmla="*/ 6 w 361"/>
                <a:gd name="T69" fmla="*/ 164 h 196"/>
                <a:gd name="T70" fmla="*/ 5 w 361"/>
                <a:gd name="T71" fmla="*/ 159 h 196"/>
                <a:gd name="T72" fmla="*/ 3 w 361"/>
                <a:gd name="T73" fmla="*/ 154 h 196"/>
                <a:gd name="T74" fmla="*/ 0 w 361"/>
                <a:gd name="T75" fmla="*/ 156 h 1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61" h="196">
                  <a:moveTo>
                    <a:pt x="361" y="43"/>
                  </a:moveTo>
                  <a:lnTo>
                    <a:pt x="359" y="37"/>
                  </a:lnTo>
                  <a:lnTo>
                    <a:pt x="356" y="32"/>
                  </a:lnTo>
                  <a:lnTo>
                    <a:pt x="354" y="27"/>
                  </a:lnTo>
                  <a:lnTo>
                    <a:pt x="353" y="22"/>
                  </a:lnTo>
                  <a:lnTo>
                    <a:pt x="349" y="15"/>
                  </a:lnTo>
                  <a:lnTo>
                    <a:pt x="348" y="10"/>
                  </a:lnTo>
                  <a:lnTo>
                    <a:pt x="344" y="5"/>
                  </a:lnTo>
                  <a:lnTo>
                    <a:pt x="341" y="0"/>
                  </a:lnTo>
                  <a:lnTo>
                    <a:pt x="338" y="2"/>
                  </a:lnTo>
                  <a:lnTo>
                    <a:pt x="341" y="7"/>
                  </a:lnTo>
                  <a:lnTo>
                    <a:pt x="344" y="12"/>
                  </a:lnTo>
                  <a:lnTo>
                    <a:pt x="346" y="17"/>
                  </a:lnTo>
                  <a:lnTo>
                    <a:pt x="349" y="22"/>
                  </a:lnTo>
                  <a:lnTo>
                    <a:pt x="351" y="28"/>
                  </a:lnTo>
                  <a:lnTo>
                    <a:pt x="354" y="33"/>
                  </a:lnTo>
                  <a:lnTo>
                    <a:pt x="356" y="38"/>
                  </a:lnTo>
                  <a:lnTo>
                    <a:pt x="358" y="45"/>
                  </a:lnTo>
                  <a:lnTo>
                    <a:pt x="361" y="43"/>
                  </a:lnTo>
                  <a:close/>
                  <a:moveTo>
                    <a:pt x="0" y="156"/>
                  </a:moveTo>
                  <a:lnTo>
                    <a:pt x="1" y="161"/>
                  </a:lnTo>
                  <a:lnTo>
                    <a:pt x="3" y="166"/>
                  </a:lnTo>
                  <a:lnTo>
                    <a:pt x="6" y="171"/>
                  </a:lnTo>
                  <a:lnTo>
                    <a:pt x="8" y="176"/>
                  </a:lnTo>
                  <a:lnTo>
                    <a:pt x="11" y="182"/>
                  </a:lnTo>
                  <a:lnTo>
                    <a:pt x="13" y="187"/>
                  </a:lnTo>
                  <a:lnTo>
                    <a:pt x="16" y="191"/>
                  </a:lnTo>
                  <a:lnTo>
                    <a:pt x="18" y="196"/>
                  </a:lnTo>
                  <a:lnTo>
                    <a:pt x="21" y="194"/>
                  </a:lnTo>
                  <a:lnTo>
                    <a:pt x="18" y="191"/>
                  </a:lnTo>
                  <a:lnTo>
                    <a:pt x="16" y="186"/>
                  </a:lnTo>
                  <a:lnTo>
                    <a:pt x="13" y="181"/>
                  </a:lnTo>
                  <a:lnTo>
                    <a:pt x="11" y="176"/>
                  </a:lnTo>
                  <a:lnTo>
                    <a:pt x="10" y="171"/>
                  </a:lnTo>
                  <a:lnTo>
                    <a:pt x="6" y="164"/>
                  </a:lnTo>
                  <a:lnTo>
                    <a:pt x="5" y="159"/>
                  </a:lnTo>
                  <a:lnTo>
                    <a:pt x="3" y="154"/>
                  </a:lnTo>
                  <a:lnTo>
                    <a:pt x="0" y="156"/>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7" name="Freeform 559">
              <a:extLst>
                <a:ext uri="{FF2B5EF4-FFF2-40B4-BE49-F238E27FC236}">
                  <a16:creationId xmlns:a16="http://schemas.microsoft.com/office/drawing/2014/main" id="{3B4E1BAA-BAAD-F194-523C-325D661842D9}"/>
                </a:ext>
              </a:extLst>
            </p:cNvPr>
            <p:cNvSpPr>
              <a:spLocks noEditPoints="1"/>
            </p:cNvSpPr>
            <p:nvPr/>
          </p:nvSpPr>
          <p:spPr bwMode="auto">
            <a:xfrm>
              <a:off x="2038" y="1542"/>
              <a:ext cx="358" cy="194"/>
            </a:xfrm>
            <a:custGeom>
              <a:avLst/>
              <a:gdLst>
                <a:gd name="T0" fmla="*/ 358 w 358"/>
                <a:gd name="T1" fmla="*/ 41 h 194"/>
                <a:gd name="T2" fmla="*/ 357 w 358"/>
                <a:gd name="T3" fmla="*/ 36 h 194"/>
                <a:gd name="T4" fmla="*/ 353 w 358"/>
                <a:gd name="T5" fmla="*/ 30 h 194"/>
                <a:gd name="T6" fmla="*/ 352 w 358"/>
                <a:gd name="T7" fmla="*/ 25 h 194"/>
                <a:gd name="T8" fmla="*/ 350 w 358"/>
                <a:gd name="T9" fmla="*/ 20 h 194"/>
                <a:gd name="T10" fmla="*/ 347 w 358"/>
                <a:gd name="T11" fmla="*/ 15 h 194"/>
                <a:gd name="T12" fmla="*/ 345 w 358"/>
                <a:gd name="T13" fmla="*/ 10 h 194"/>
                <a:gd name="T14" fmla="*/ 342 w 358"/>
                <a:gd name="T15" fmla="*/ 5 h 194"/>
                <a:gd name="T16" fmla="*/ 338 w 358"/>
                <a:gd name="T17" fmla="*/ 0 h 194"/>
                <a:gd name="T18" fmla="*/ 335 w 358"/>
                <a:gd name="T19" fmla="*/ 0 h 194"/>
                <a:gd name="T20" fmla="*/ 338 w 358"/>
                <a:gd name="T21" fmla="*/ 5 h 194"/>
                <a:gd name="T22" fmla="*/ 342 w 358"/>
                <a:gd name="T23" fmla="*/ 10 h 194"/>
                <a:gd name="T24" fmla="*/ 343 w 358"/>
                <a:gd name="T25" fmla="*/ 17 h 194"/>
                <a:gd name="T26" fmla="*/ 347 w 358"/>
                <a:gd name="T27" fmla="*/ 22 h 194"/>
                <a:gd name="T28" fmla="*/ 348 w 358"/>
                <a:gd name="T29" fmla="*/ 26 h 194"/>
                <a:gd name="T30" fmla="*/ 352 w 358"/>
                <a:gd name="T31" fmla="*/ 31 h 194"/>
                <a:gd name="T32" fmla="*/ 353 w 358"/>
                <a:gd name="T33" fmla="*/ 38 h 194"/>
                <a:gd name="T34" fmla="*/ 355 w 358"/>
                <a:gd name="T35" fmla="*/ 43 h 194"/>
                <a:gd name="T36" fmla="*/ 358 w 358"/>
                <a:gd name="T37" fmla="*/ 41 h 194"/>
                <a:gd name="T38" fmla="*/ 0 w 358"/>
                <a:gd name="T39" fmla="*/ 152 h 194"/>
                <a:gd name="T40" fmla="*/ 2 w 358"/>
                <a:gd name="T41" fmla="*/ 159 h 194"/>
                <a:gd name="T42" fmla="*/ 4 w 358"/>
                <a:gd name="T43" fmla="*/ 164 h 194"/>
                <a:gd name="T44" fmla="*/ 7 w 358"/>
                <a:gd name="T45" fmla="*/ 169 h 194"/>
                <a:gd name="T46" fmla="*/ 9 w 358"/>
                <a:gd name="T47" fmla="*/ 174 h 194"/>
                <a:gd name="T48" fmla="*/ 10 w 358"/>
                <a:gd name="T49" fmla="*/ 179 h 194"/>
                <a:gd name="T50" fmla="*/ 14 w 358"/>
                <a:gd name="T51" fmla="*/ 184 h 194"/>
                <a:gd name="T52" fmla="*/ 17 w 358"/>
                <a:gd name="T53" fmla="*/ 189 h 194"/>
                <a:gd name="T54" fmla="*/ 19 w 358"/>
                <a:gd name="T55" fmla="*/ 194 h 194"/>
                <a:gd name="T56" fmla="*/ 22 w 358"/>
                <a:gd name="T57" fmla="*/ 192 h 194"/>
                <a:gd name="T58" fmla="*/ 19 w 358"/>
                <a:gd name="T59" fmla="*/ 187 h 194"/>
                <a:gd name="T60" fmla="*/ 17 w 358"/>
                <a:gd name="T61" fmla="*/ 182 h 194"/>
                <a:gd name="T62" fmla="*/ 14 w 358"/>
                <a:gd name="T63" fmla="*/ 177 h 194"/>
                <a:gd name="T64" fmla="*/ 12 w 358"/>
                <a:gd name="T65" fmla="*/ 172 h 194"/>
                <a:gd name="T66" fmla="*/ 9 w 358"/>
                <a:gd name="T67" fmla="*/ 167 h 194"/>
                <a:gd name="T68" fmla="*/ 7 w 358"/>
                <a:gd name="T69" fmla="*/ 162 h 194"/>
                <a:gd name="T70" fmla="*/ 5 w 358"/>
                <a:gd name="T71" fmla="*/ 157 h 194"/>
                <a:gd name="T72" fmla="*/ 4 w 358"/>
                <a:gd name="T73" fmla="*/ 152 h 194"/>
                <a:gd name="T74" fmla="*/ 0 w 358"/>
                <a:gd name="T75" fmla="*/ 152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58" h="194">
                  <a:moveTo>
                    <a:pt x="358" y="41"/>
                  </a:moveTo>
                  <a:lnTo>
                    <a:pt x="357" y="36"/>
                  </a:lnTo>
                  <a:lnTo>
                    <a:pt x="353" y="30"/>
                  </a:lnTo>
                  <a:lnTo>
                    <a:pt x="352" y="25"/>
                  </a:lnTo>
                  <a:lnTo>
                    <a:pt x="350" y="20"/>
                  </a:lnTo>
                  <a:lnTo>
                    <a:pt x="347" y="15"/>
                  </a:lnTo>
                  <a:lnTo>
                    <a:pt x="345" y="10"/>
                  </a:lnTo>
                  <a:lnTo>
                    <a:pt x="342" y="5"/>
                  </a:lnTo>
                  <a:lnTo>
                    <a:pt x="338" y="0"/>
                  </a:lnTo>
                  <a:lnTo>
                    <a:pt x="335" y="0"/>
                  </a:lnTo>
                  <a:lnTo>
                    <a:pt x="338" y="5"/>
                  </a:lnTo>
                  <a:lnTo>
                    <a:pt x="342" y="10"/>
                  </a:lnTo>
                  <a:lnTo>
                    <a:pt x="343" y="17"/>
                  </a:lnTo>
                  <a:lnTo>
                    <a:pt x="347" y="22"/>
                  </a:lnTo>
                  <a:lnTo>
                    <a:pt x="348" y="26"/>
                  </a:lnTo>
                  <a:lnTo>
                    <a:pt x="352" y="31"/>
                  </a:lnTo>
                  <a:lnTo>
                    <a:pt x="353" y="38"/>
                  </a:lnTo>
                  <a:lnTo>
                    <a:pt x="355" y="43"/>
                  </a:lnTo>
                  <a:lnTo>
                    <a:pt x="358" y="41"/>
                  </a:lnTo>
                  <a:close/>
                  <a:moveTo>
                    <a:pt x="0" y="152"/>
                  </a:moveTo>
                  <a:lnTo>
                    <a:pt x="2" y="159"/>
                  </a:lnTo>
                  <a:lnTo>
                    <a:pt x="4" y="164"/>
                  </a:lnTo>
                  <a:lnTo>
                    <a:pt x="7" y="169"/>
                  </a:lnTo>
                  <a:lnTo>
                    <a:pt x="9" y="174"/>
                  </a:lnTo>
                  <a:lnTo>
                    <a:pt x="10" y="179"/>
                  </a:lnTo>
                  <a:lnTo>
                    <a:pt x="14" y="184"/>
                  </a:lnTo>
                  <a:lnTo>
                    <a:pt x="17" y="189"/>
                  </a:lnTo>
                  <a:lnTo>
                    <a:pt x="19" y="194"/>
                  </a:lnTo>
                  <a:lnTo>
                    <a:pt x="22" y="192"/>
                  </a:lnTo>
                  <a:lnTo>
                    <a:pt x="19" y="187"/>
                  </a:lnTo>
                  <a:lnTo>
                    <a:pt x="17" y="182"/>
                  </a:lnTo>
                  <a:lnTo>
                    <a:pt x="14" y="177"/>
                  </a:lnTo>
                  <a:lnTo>
                    <a:pt x="12" y="172"/>
                  </a:lnTo>
                  <a:lnTo>
                    <a:pt x="9" y="167"/>
                  </a:lnTo>
                  <a:lnTo>
                    <a:pt x="7" y="162"/>
                  </a:lnTo>
                  <a:lnTo>
                    <a:pt x="5" y="157"/>
                  </a:lnTo>
                  <a:lnTo>
                    <a:pt x="4" y="152"/>
                  </a:lnTo>
                  <a:lnTo>
                    <a:pt x="0" y="152"/>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8" name="Freeform 560">
              <a:extLst>
                <a:ext uri="{FF2B5EF4-FFF2-40B4-BE49-F238E27FC236}">
                  <a16:creationId xmlns:a16="http://schemas.microsoft.com/office/drawing/2014/main" id="{23DC3EE5-37A3-417A-9A67-60B68C3F9819}"/>
                </a:ext>
              </a:extLst>
            </p:cNvPr>
            <p:cNvSpPr>
              <a:spLocks noEditPoints="1"/>
            </p:cNvSpPr>
            <p:nvPr/>
          </p:nvSpPr>
          <p:spPr bwMode="auto">
            <a:xfrm>
              <a:off x="2040" y="1542"/>
              <a:ext cx="355" cy="192"/>
            </a:xfrm>
            <a:custGeom>
              <a:avLst/>
              <a:gdLst>
                <a:gd name="T0" fmla="*/ 355 w 355"/>
                <a:gd name="T1" fmla="*/ 43 h 192"/>
                <a:gd name="T2" fmla="*/ 353 w 355"/>
                <a:gd name="T3" fmla="*/ 36 h 192"/>
                <a:gd name="T4" fmla="*/ 351 w 355"/>
                <a:gd name="T5" fmla="*/ 31 h 192"/>
                <a:gd name="T6" fmla="*/ 348 w 355"/>
                <a:gd name="T7" fmla="*/ 26 h 192"/>
                <a:gd name="T8" fmla="*/ 346 w 355"/>
                <a:gd name="T9" fmla="*/ 20 h 192"/>
                <a:gd name="T10" fmla="*/ 343 w 355"/>
                <a:gd name="T11" fmla="*/ 15 h 192"/>
                <a:gd name="T12" fmla="*/ 341 w 355"/>
                <a:gd name="T13" fmla="*/ 10 h 192"/>
                <a:gd name="T14" fmla="*/ 338 w 355"/>
                <a:gd name="T15" fmla="*/ 5 h 192"/>
                <a:gd name="T16" fmla="*/ 335 w 355"/>
                <a:gd name="T17" fmla="*/ 0 h 192"/>
                <a:gd name="T18" fmla="*/ 333 w 355"/>
                <a:gd name="T19" fmla="*/ 2 h 192"/>
                <a:gd name="T20" fmla="*/ 335 w 355"/>
                <a:gd name="T21" fmla="*/ 7 h 192"/>
                <a:gd name="T22" fmla="*/ 338 w 355"/>
                <a:gd name="T23" fmla="*/ 12 h 192"/>
                <a:gd name="T24" fmla="*/ 341 w 355"/>
                <a:gd name="T25" fmla="*/ 17 h 192"/>
                <a:gd name="T26" fmla="*/ 343 w 355"/>
                <a:gd name="T27" fmla="*/ 22 h 192"/>
                <a:gd name="T28" fmla="*/ 345 w 355"/>
                <a:gd name="T29" fmla="*/ 26 h 192"/>
                <a:gd name="T30" fmla="*/ 348 w 355"/>
                <a:gd name="T31" fmla="*/ 33 h 192"/>
                <a:gd name="T32" fmla="*/ 350 w 355"/>
                <a:gd name="T33" fmla="*/ 38 h 192"/>
                <a:gd name="T34" fmla="*/ 351 w 355"/>
                <a:gd name="T35" fmla="*/ 43 h 192"/>
                <a:gd name="T36" fmla="*/ 355 w 355"/>
                <a:gd name="T37" fmla="*/ 43 h 192"/>
                <a:gd name="T38" fmla="*/ 0 w 355"/>
                <a:gd name="T39" fmla="*/ 152 h 192"/>
                <a:gd name="T40" fmla="*/ 2 w 355"/>
                <a:gd name="T41" fmla="*/ 157 h 192"/>
                <a:gd name="T42" fmla="*/ 3 w 355"/>
                <a:gd name="T43" fmla="*/ 162 h 192"/>
                <a:gd name="T44" fmla="*/ 7 w 355"/>
                <a:gd name="T45" fmla="*/ 169 h 192"/>
                <a:gd name="T46" fmla="*/ 8 w 355"/>
                <a:gd name="T47" fmla="*/ 174 h 192"/>
                <a:gd name="T48" fmla="*/ 10 w 355"/>
                <a:gd name="T49" fmla="*/ 179 h 192"/>
                <a:gd name="T50" fmla="*/ 13 w 355"/>
                <a:gd name="T51" fmla="*/ 184 h 192"/>
                <a:gd name="T52" fmla="*/ 15 w 355"/>
                <a:gd name="T53" fmla="*/ 189 h 192"/>
                <a:gd name="T54" fmla="*/ 18 w 355"/>
                <a:gd name="T55" fmla="*/ 192 h 192"/>
                <a:gd name="T56" fmla="*/ 22 w 355"/>
                <a:gd name="T57" fmla="*/ 192 h 192"/>
                <a:gd name="T58" fmla="*/ 18 w 355"/>
                <a:gd name="T59" fmla="*/ 187 h 192"/>
                <a:gd name="T60" fmla="*/ 17 w 355"/>
                <a:gd name="T61" fmla="*/ 182 h 192"/>
                <a:gd name="T62" fmla="*/ 13 w 355"/>
                <a:gd name="T63" fmla="*/ 177 h 192"/>
                <a:gd name="T64" fmla="*/ 12 w 355"/>
                <a:gd name="T65" fmla="*/ 172 h 192"/>
                <a:gd name="T66" fmla="*/ 8 w 355"/>
                <a:gd name="T67" fmla="*/ 167 h 192"/>
                <a:gd name="T68" fmla="*/ 7 w 355"/>
                <a:gd name="T69" fmla="*/ 162 h 192"/>
                <a:gd name="T70" fmla="*/ 5 w 355"/>
                <a:gd name="T71" fmla="*/ 156 h 192"/>
                <a:gd name="T72" fmla="*/ 3 w 355"/>
                <a:gd name="T73" fmla="*/ 151 h 192"/>
                <a:gd name="T74" fmla="*/ 0 w 355"/>
                <a:gd name="T75" fmla="*/ 152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55" h="192">
                  <a:moveTo>
                    <a:pt x="355" y="43"/>
                  </a:moveTo>
                  <a:lnTo>
                    <a:pt x="353" y="36"/>
                  </a:lnTo>
                  <a:lnTo>
                    <a:pt x="351" y="31"/>
                  </a:lnTo>
                  <a:lnTo>
                    <a:pt x="348" y="26"/>
                  </a:lnTo>
                  <a:lnTo>
                    <a:pt x="346" y="20"/>
                  </a:lnTo>
                  <a:lnTo>
                    <a:pt x="343" y="15"/>
                  </a:lnTo>
                  <a:lnTo>
                    <a:pt x="341" y="10"/>
                  </a:lnTo>
                  <a:lnTo>
                    <a:pt x="338" y="5"/>
                  </a:lnTo>
                  <a:lnTo>
                    <a:pt x="335" y="0"/>
                  </a:lnTo>
                  <a:lnTo>
                    <a:pt x="333" y="2"/>
                  </a:lnTo>
                  <a:lnTo>
                    <a:pt x="335" y="7"/>
                  </a:lnTo>
                  <a:lnTo>
                    <a:pt x="338" y="12"/>
                  </a:lnTo>
                  <a:lnTo>
                    <a:pt x="341" y="17"/>
                  </a:lnTo>
                  <a:lnTo>
                    <a:pt x="343" y="22"/>
                  </a:lnTo>
                  <a:lnTo>
                    <a:pt x="345" y="26"/>
                  </a:lnTo>
                  <a:lnTo>
                    <a:pt x="348" y="33"/>
                  </a:lnTo>
                  <a:lnTo>
                    <a:pt x="350" y="38"/>
                  </a:lnTo>
                  <a:lnTo>
                    <a:pt x="351" y="43"/>
                  </a:lnTo>
                  <a:lnTo>
                    <a:pt x="355" y="43"/>
                  </a:lnTo>
                  <a:close/>
                  <a:moveTo>
                    <a:pt x="0" y="152"/>
                  </a:moveTo>
                  <a:lnTo>
                    <a:pt x="2" y="157"/>
                  </a:lnTo>
                  <a:lnTo>
                    <a:pt x="3" y="162"/>
                  </a:lnTo>
                  <a:lnTo>
                    <a:pt x="7" y="169"/>
                  </a:lnTo>
                  <a:lnTo>
                    <a:pt x="8" y="174"/>
                  </a:lnTo>
                  <a:lnTo>
                    <a:pt x="10" y="179"/>
                  </a:lnTo>
                  <a:lnTo>
                    <a:pt x="13" y="184"/>
                  </a:lnTo>
                  <a:lnTo>
                    <a:pt x="15" y="189"/>
                  </a:lnTo>
                  <a:lnTo>
                    <a:pt x="18" y="192"/>
                  </a:lnTo>
                  <a:lnTo>
                    <a:pt x="22" y="192"/>
                  </a:lnTo>
                  <a:lnTo>
                    <a:pt x="18" y="187"/>
                  </a:lnTo>
                  <a:lnTo>
                    <a:pt x="17" y="182"/>
                  </a:lnTo>
                  <a:lnTo>
                    <a:pt x="13" y="177"/>
                  </a:lnTo>
                  <a:lnTo>
                    <a:pt x="12" y="172"/>
                  </a:lnTo>
                  <a:lnTo>
                    <a:pt x="8" y="167"/>
                  </a:lnTo>
                  <a:lnTo>
                    <a:pt x="7" y="162"/>
                  </a:lnTo>
                  <a:lnTo>
                    <a:pt x="5" y="156"/>
                  </a:lnTo>
                  <a:lnTo>
                    <a:pt x="3" y="151"/>
                  </a:lnTo>
                  <a:lnTo>
                    <a:pt x="0" y="152"/>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9" name="Freeform 561">
              <a:extLst>
                <a:ext uri="{FF2B5EF4-FFF2-40B4-BE49-F238E27FC236}">
                  <a16:creationId xmlns:a16="http://schemas.microsoft.com/office/drawing/2014/main" id="{5BF0E8ED-1CEA-CE60-03A7-D1568A2306C6}"/>
                </a:ext>
              </a:extLst>
            </p:cNvPr>
            <p:cNvSpPr>
              <a:spLocks noEditPoints="1"/>
            </p:cNvSpPr>
            <p:nvPr/>
          </p:nvSpPr>
          <p:spPr bwMode="auto">
            <a:xfrm>
              <a:off x="2042" y="1542"/>
              <a:ext cx="351" cy="192"/>
            </a:xfrm>
            <a:custGeom>
              <a:avLst/>
              <a:gdLst>
                <a:gd name="T0" fmla="*/ 351 w 351"/>
                <a:gd name="T1" fmla="*/ 43 h 192"/>
                <a:gd name="T2" fmla="*/ 349 w 351"/>
                <a:gd name="T3" fmla="*/ 38 h 192"/>
                <a:gd name="T4" fmla="*/ 348 w 351"/>
                <a:gd name="T5" fmla="*/ 31 h 192"/>
                <a:gd name="T6" fmla="*/ 344 w 351"/>
                <a:gd name="T7" fmla="*/ 26 h 192"/>
                <a:gd name="T8" fmla="*/ 343 w 351"/>
                <a:gd name="T9" fmla="*/ 22 h 192"/>
                <a:gd name="T10" fmla="*/ 339 w 351"/>
                <a:gd name="T11" fmla="*/ 17 h 192"/>
                <a:gd name="T12" fmla="*/ 338 w 351"/>
                <a:gd name="T13" fmla="*/ 10 h 192"/>
                <a:gd name="T14" fmla="*/ 334 w 351"/>
                <a:gd name="T15" fmla="*/ 5 h 192"/>
                <a:gd name="T16" fmla="*/ 331 w 351"/>
                <a:gd name="T17" fmla="*/ 0 h 192"/>
                <a:gd name="T18" fmla="*/ 329 w 351"/>
                <a:gd name="T19" fmla="*/ 2 h 192"/>
                <a:gd name="T20" fmla="*/ 331 w 351"/>
                <a:gd name="T21" fmla="*/ 7 h 192"/>
                <a:gd name="T22" fmla="*/ 334 w 351"/>
                <a:gd name="T23" fmla="*/ 12 h 192"/>
                <a:gd name="T24" fmla="*/ 338 w 351"/>
                <a:gd name="T25" fmla="*/ 17 h 192"/>
                <a:gd name="T26" fmla="*/ 339 w 351"/>
                <a:gd name="T27" fmla="*/ 23 h 192"/>
                <a:gd name="T28" fmla="*/ 341 w 351"/>
                <a:gd name="T29" fmla="*/ 28 h 192"/>
                <a:gd name="T30" fmla="*/ 344 w 351"/>
                <a:gd name="T31" fmla="*/ 33 h 192"/>
                <a:gd name="T32" fmla="*/ 346 w 351"/>
                <a:gd name="T33" fmla="*/ 38 h 192"/>
                <a:gd name="T34" fmla="*/ 348 w 351"/>
                <a:gd name="T35" fmla="*/ 45 h 192"/>
                <a:gd name="T36" fmla="*/ 351 w 351"/>
                <a:gd name="T37" fmla="*/ 43 h 192"/>
                <a:gd name="T38" fmla="*/ 0 w 351"/>
                <a:gd name="T39" fmla="*/ 152 h 192"/>
                <a:gd name="T40" fmla="*/ 1 w 351"/>
                <a:gd name="T41" fmla="*/ 157 h 192"/>
                <a:gd name="T42" fmla="*/ 3 w 351"/>
                <a:gd name="T43" fmla="*/ 162 h 192"/>
                <a:gd name="T44" fmla="*/ 5 w 351"/>
                <a:gd name="T45" fmla="*/ 167 h 192"/>
                <a:gd name="T46" fmla="*/ 8 w 351"/>
                <a:gd name="T47" fmla="*/ 172 h 192"/>
                <a:gd name="T48" fmla="*/ 10 w 351"/>
                <a:gd name="T49" fmla="*/ 177 h 192"/>
                <a:gd name="T50" fmla="*/ 13 w 351"/>
                <a:gd name="T51" fmla="*/ 182 h 192"/>
                <a:gd name="T52" fmla="*/ 15 w 351"/>
                <a:gd name="T53" fmla="*/ 187 h 192"/>
                <a:gd name="T54" fmla="*/ 18 w 351"/>
                <a:gd name="T55" fmla="*/ 192 h 192"/>
                <a:gd name="T56" fmla="*/ 21 w 351"/>
                <a:gd name="T57" fmla="*/ 190 h 192"/>
                <a:gd name="T58" fmla="*/ 18 w 351"/>
                <a:gd name="T59" fmla="*/ 185 h 192"/>
                <a:gd name="T60" fmla="*/ 16 w 351"/>
                <a:gd name="T61" fmla="*/ 180 h 192"/>
                <a:gd name="T62" fmla="*/ 13 w 351"/>
                <a:gd name="T63" fmla="*/ 175 h 192"/>
                <a:gd name="T64" fmla="*/ 11 w 351"/>
                <a:gd name="T65" fmla="*/ 171 h 192"/>
                <a:gd name="T66" fmla="*/ 8 w 351"/>
                <a:gd name="T67" fmla="*/ 166 h 192"/>
                <a:gd name="T68" fmla="*/ 6 w 351"/>
                <a:gd name="T69" fmla="*/ 161 h 192"/>
                <a:gd name="T70" fmla="*/ 5 w 351"/>
                <a:gd name="T71" fmla="*/ 156 h 192"/>
                <a:gd name="T72" fmla="*/ 3 w 351"/>
                <a:gd name="T73" fmla="*/ 151 h 192"/>
                <a:gd name="T74" fmla="*/ 0 w 351"/>
                <a:gd name="T75" fmla="*/ 152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51" h="192">
                  <a:moveTo>
                    <a:pt x="351" y="43"/>
                  </a:moveTo>
                  <a:lnTo>
                    <a:pt x="349" y="38"/>
                  </a:lnTo>
                  <a:lnTo>
                    <a:pt x="348" y="31"/>
                  </a:lnTo>
                  <a:lnTo>
                    <a:pt x="344" y="26"/>
                  </a:lnTo>
                  <a:lnTo>
                    <a:pt x="343" y="22"/>
                  </a:lnTo>
                  <a:lnTo>
                    <a:pt x="339" y="17"/>
                  </a:lnTo>
                  <a:lnTo>
                    <a:pt x="338" y="10"/>
                  </a:lnTo>
                  <a:lnTo>
                    <a:pt x="334" y="5"/>
                  </a:lnTo>
                  <a:lnTo>
                    <a:pt x="331" y="0"/>
                  </a:lnTo>
                  <a:lnTo>
                    <a:pt x="329" y="2"/>
                  </a:lnTo>
                  <a:lnTo>
                    <a:pt x="331" y="7"/>
                  </a:lnTo>
                  <a:lnTo>
                    <a:pt x="334" y="12"/>
                  </a:lnTo>
                  <a:lnTo>
                    <a:pt x="338" y="17"/>
                  </a:lnTo>
                  <a:lnTo>
                    <a:pt x="339" y="23"/>
                  </a:lnTo>
                  <a:lnTo>
                    <a:pt x="341" y="28"/>
                  </a:lnTo>
                  <a:lnTo>
                    <a:pt x="344" y="33"/>
                  </a:lnTo>
                  <a:lnTo>
                    <a:pt x="346" y="38"/>
                  </a:lnTo>
                  <a:lnTo>
                    <a:pt x="348" y="45"/>
                  </a:lnTo>
                  <a:lnTo>
                    <a:pt x="351" y="43"/>
                  </a:lnTo>
                  <a:close/>
                  <a:moveTo>
                    <a:pt x="0" y="152"/>
                  </a:moveTo>
                  <a:lnTo>
                    <a:pt x="1" y="157"/>
                  </a:lnTo>
                  <a:lnTo>
                    <a:pt x="3" y="162"/>
                  </a:lnTo>
                  <a:lnTo>
                    <a:pt x="5" y="167"/>
                  </a:lnTo>
                  <a:lnTo>
                    <a:pt x="8" y="172"/>
                  </a:lnTo>
                  <a:lnTo>
                    <a:pt x="10" y="177"/>
                  </a:lnTo>
                  <a:lnTo>
                    <a:pt x="13" y="182"/>
                  </a:lnTo>
                  <a:lnTo>
                    <a:pt x="15" y="187"/>
                  </a:lnTo>
                  <a:lnTo>
                    <a:pt x="18" y="192"/>
                  </a:lnTo>
                  <a:lnTo>
                    <a:pt x="21" y="190"/>
                  </a:lnTo>
                  <a:lnTo>
                    <a:pt x="18" y="185"/>
                  </a:lnTo>
                  <a:lnTo>
                    <a:pt x="16" y="180"/>
                  </a:lnTo>
                  <a:lnTo>
                    <a:pt x="13" y="175"/>
                  </a:lnTo>
                  <a:lnTo>
                    <a:pt x="11" y="171"/>
                  </a:lnTo>
                  <a:lnTo>
                    <a:pt x="8" y="166"/>
                  </a:lnTo>
                  <a:lnTo>
                    <a:pt x="6" y="161"/>
                  </a:lnTo>
                  <a:lnTo>
                    <a:pt x="5" y="156"/>
                  </a:lnTo>
                  <a:lnTo>
                    <a:pt x="3" y="151"/>
                  </a:lnTo>
                  <a:lnTo>
                    <a:pt x="0" y="152"/>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20" name="Freeform 562">
              <a:extLst>
                <a:ext uri="{FF2B5EF4-FFF2-40B4-BE49-F238E27FC236}">
                  <a16:creationId xmlns:a16="http://schemas.microsoft.com/office/drawing/2014/main" id="{EE7A199B-9524-249A-4BCE-A853B1B3F970}"/>
                </a:ext>
              </a:extLst>
            </p:cNvPr>
            <p:cNvSpPr>
              <a:spLocks noEditPoints="1"/>
            </p:cNvSpPr>
            <p:nvPr/>
          </p:nvSpPr>
          <p:spPr bwMode="auto">
            <a:xfrm>
              <a:off x="2043" y="1544"/>
              <a:ext cx="348" cy="190"/>
            </a:xfrm>
            <a:custGeom>
              <a:avLst/>
              <a:gdLst>
                <a:gd name="T0" fmla="*/ 348 w 348"/>
                <a:gd name="T1" fmla="*/ 41 h 190"/>
                <a:gd name="T2" fmla="*/ 347 w 348"/>
                <a:gd name="T3" fmla="*/ 36 h 190"/>
                <a:gd name="T4" fmla="*/ 345 w 348"/>
                <a:gd name="T5" fmla="*/ 31 h 190"/>
                <a:gd name="T6" fmla="*/ 342 w 348"/>
                <a:gd name="T7" fmla="*/ 24 h 190"/>
                <a:gd name="T8" fmla="*/ 340 w 348"/>
                <a:gd name="T9" fmla="*/ 20 h 190"/>
                <a:gd name="T10" fmla="*/ 338 w 348"/>
                <a:gd name="T11" fmla="*/ 15 h 190"/>
                <a:gd name="T12" fmla="*/ 335 w 348"/>
                <a:gd name="T13" fmla="*/ 10 h 190"/>
                <a:gd name="T14" fmla="*/ 332 w 348"/>
                <a:gd name="T15" fmla="*/ 5 h 190"/>
                <a:gd name="T16" fmla="*/ 330 w 348"/>
                <a:gd name="T17" fmla="*/ 0 h 190"/>
                <a:gd name="T18" fmla="*/ 327 w 348"/>
                <a:gd name="T19" fmla="*/ 1 h 190"/>
                <a:gd name="T20" fmla="*/ 328 w 348"/>
                <a:gd name="T21" fmla="*/ 6 h 190"/>
                <a:gd name="T22" fmla="*/ 332 w 348"/>
                <a:gd name="T23" fmla="*/ 11 h 190"/>
                <a:gd name="T24" fmla="*/ 335 w 348"/>
                <a:gd name="T25" fmla="*/ 16 h 190"/>
                <a:gd name="T26" fmla="*/ 337 w 348"/>
                <a:gd name="T27" fmla="*/ 21 h 190"/>
                <a:gd name="T28" fmla="*/ 340 w 348"/>
                <a:gd name="T29" fmla="*/ 26 h 190"/>
                <a:gd name="T30" fmla="*/ 342 w 348"/>
                <a:gd name="T31" fmla="*/ 33 h 190"/>
                <a:gd name="T32" fmla="*/ 343 w 348"/>
                <a:gd name="T33" fmla="*/ 38 h 190"/>
                <a:gd name="T34" fmla="*/ 345 w 348"/>
                <a:gd name="T35" fmla="*/ 43 h 190"/>
                <a:gd name="T36" fmla="*/ 348 w 348"/>
                <a:gd name="T37" fmla="*/ 41 h 190"/>
                <a:gd name="T38" fmla="*/ 0 w 348"/>
                <a:gd name="T39" fmla="*/ 149 h 190"/>
                <a:gd name="T40" fmla="*/ 2 w 348"/>
                <a:gd name="T41" fmla="*/ 154 h 190"/>
                <a:gd name="T42" fmla="*/ 4 w 348"/>
                <a:gd name="T43" fmla="*/ 160 h 190"/>
                <a:gd name="T44" fmla="*/ 5 w 348"/>
                <a:gd name="T45" fmla="*/ 165 h 190"/>
                <a:gd name="T46" fmla="*/ 9 w 348"/>
                <a:gd name="T47" fmla="*/ 170 h 190"/>
                <a:gd name="T48" fmla="*/ 10 w 348"/>
                <a:gd name="T49" fmla="*/ 175 h 190"/>
                <a:gd name="T50" fmla="*/ 14 w 348"/>
                <a:gd name="T51" fmla="*/ 180 h 190"/>
                <a:gd name="T52" fmla="*/ 15 w 348"/>
                <a:gd name="T53" fmla="*/ 185 h 190"/>
                <a:gd name="T54" fmla="*/ 19 w 348"/>
                <a:gd name="T55" fmla="*/ 190 h 190"/>
                <a:gd name="T56" fmla="*/ 22 w 348"/>
                <a:gd name="T57" fmla="*/ 188 h 190"/>
                <a:gd name="T58" fmla="*/ 19 w 348"/>
                <a:gd name="T59" fmla="*/ 183 h 190"/>
                <a:gd name="T60" fmla="*/ 17 w 348"/>
                <a:gd name="T61" fmla="*/ 178 h 190"/>
                <a:gd name="T62" fmla="*/ 14 w 348"/>
                <a:gd name="T63" fmla="*/ 173 h 190"/>
                <a:gd name="T64" fmla="*/ 12 w 348"/>
                <a:gd name="T65" fmla="*/ 169 h 190"/>
                <a:gd name="T66" fmla="*/ 9 w 348"/>
                <a:gd name="T67" fmla="*/ 164 h 190"/>
                <a:gd name="T68" fmla="*/ 7 w 348"/>
                <a:gd name="T69" fmla="*/ 159 h 190"/>
                <a:gd name="T70" fmla="*/ 5 w 348"/>
                <a:gd name="T71" fmla="*/ 154 h 190"/>
                <a:gd name="T72" fmla="*/ 4 w 348"/>
                <a:gd name="T73" fmla="*/ 147 h 190"/>
                <a:gd name="T74" fmla="*/ 0 w 348"/>
                <a:gd name="T75"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48" h="190">
                  <a:moveTo>
                    <a:pt x="348" y="41"/>
                  </a:moveTo>
                  <a:lnTo>
                    <a:pt x="347" y="36"/>
                  </a:lnTo>
                  <a:lnTo>
                    <a:pt x="345" y="31"/>
                  </a:lnTo>
                  <a:lnTo>
                    <a:pt x="342" y="24"/>
                  </a:lnTo>
                  <a:lnTo>
                    <a:pt x="340" y="20"/>
                  </a:lnTo>
                  <a:lnTo>
                    <a:pt x="338" y="15"/>
                  </a:lnTo>
                  <a:lnTo>
                    <a:pt x="335" y="10"/>
                  </a:lnTo>
                  <a:lnTo>
                    <a:pt x="332" y="5"/>
                  </a:lnTo>
                  <a:lnTo>
                    <a:pt x="330" y="0"/>
                  </a:lnTo>
                  <a:lnTo>
                    <a:pt x="327" y="1"/>
                  </a:lnTo>
                  <a:lnTo>
                    <a:pt x="328" y="6"/>
                  </a:lnTo>
                  <a:lnTo>
                    <a:pt x="332" y="11"/>
                  </a:lnTo>
                  <a:lnTo>
                    <a:pt x="335" y="16"/>
                  </a:lnTo>
                  <a:lnTo>
                    <a:pt x="337" y="21"/>
                  </a:lnTo>
                  <a:lnTo>
                    <a:pt x="340" y="26"/>
                  </a:lnTo>
                  <a:lnTo>
                    <a:pt x="342" y="33"/>
                  </a:lnTo>
                  <a:lnTo>
                    <a:pt x="343" y="38"/>
                  </a:lnTo>
                  <a:lnTo>
                    <a:pt x="345" y="43"/>
                  </a:lnTo>
                  <a:lnTo>
                    <a:pt x="348" y="41"/>
                  </a:lnTo>
                  <a:close/>
                  <a:moveTo>
                    <a:pt x="0" y="149"/>
                  </a:moveTo>
                  <a:lnTo>
                    <a:pt x="2" y="154"/>
                  </a:lnTo>
                  <a:lnTo>
                    <a:pt x="4" y="160"/>
                  </a:lnTo>
                  <a:lnTo>
                    <a:pt x="5" y="165"/>
                  </a:lnTo>
                  <a:lnTo>
                    <a:pt x="9" y="170"/>
                  </a:lnTo>
                  <a:lnTo>
                    <a:pt x="10" y="175"/>
                  </a:lnTo>
                  <a:lnTo>
                    <a:pt x="14" y="180"/>
                  </a:lnTo>
                  <a:lnTo>
                    <a:pt x="15" y="185"/>
                  </a:lnTo>
                  <a:lnTo>
                    <a:pt x="19" y="190"/>
                  </a:lnTo>
                  <a:lnTo>
                    <a:pt x="22" y="188"/>
                  </a:lnTo>
                  <a:lnTo>
                    <a:pt x="19" y="183"/>
                  </a:lnTo>
                  <a:lnTo>
                    <a:pt x="17" y="178"/>
                  </a:lnTo>
                  <a:lnTo>
                    <a:pt x="14" y="173"/>
                  </a:lnTo>
                  <a:lnTo>
                    <a:pt x="12" y="169"/>
                  </a:lnTo>
                  <a:lnTo>
                    <a:pt x="9" y="164"/>
                  </a:lnTo>
                  <a:lnTo>
                    <a:pt x="7" y="159"/>
                  </a:lnTo>
                  <a:lnTo>
                    <a:pt x="5" y="154"/>
                  </a:lnTo>
                  <a:lnTo>
                    <a:pt x="4" y="147"/>
                  </a:lnTo>
                  <a:lnTo>
                    <a:pt x="0" y="149"/>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21" name="Freeform 563">
              <a:extLst>
                <a:ext uri="{FF2B5EF4-FFF2-40B4-BE49-F238E27FC236}">
                  <a16:creationId xmlns:a16="http://schemas.microsoft.com/office/drawing/2014/main" id="{7A1AD98F-A015-016B-75BE-F44875EF3CCE}"/>
                </a:ext>
              </a:extLst>
            </p:cNvPr>
            <p:cNvSpPr>
              <a:spLocks noEditPoints="1"/>
            </p:cNvSpPr>
            <p:nvPr/>
          </p:nvSpPr>
          <p:spPr bwMode="auto">
            <a:xfrm>
              <a:off x="2045" y="1544"/>
              <a:ext cx="345" cy="188"/>
            </a:xfrm>
            <a:custGeom>
              <a:avLst/>
              <a:gdLst>
                <a:gd name="T0" fmla="*/ 345 w 345"/>
                <a:gd name="T1" fmla="*/ 43 h 188"/>
                <a:gd name="T2" fmla="*/ 343 w 345"/>
                <a:gd name="T3" fmla="*/ 36 h 188"/>
                <a:gd name="T4" fmla="*/ 341 w 345"/>
                <a:gd name="T5" fmla="*/ 31 h 188"/>
                <a:gd name="T6" fmla="*/ 340 w 345"/>
                <a:gd name="T7" fmla="*/ 26 h 188"/>
                <a:gd name="T8" fmla="*/ 336 w 345"/>
                <a:gd name="T9" fmla="*/ 21 h 188"/>
                <a:gd name="T10" fmla="*/ 335 w 345"/>
                <a:gd name="T11" fmla="*/ 15 h 188"/>
                <a:gd name="T12" fmla="*/ 331 w 345"/>
                <a:gd name="T13" fmla="*/ 10 h 188"/>
                <a:gd name="T14" fmla="*/ 328 w 345"/>
                <a:gd name="T15" fmla="*/ 5 h 188"/>
                <a:gd name="T16" fmla="*/ 326 w 345"/>
                <a:gd name="T17" fmla="*/ 0 h 188"/>
                <a:gd name="T18" fmla="*/ 323 w 345"/>
                <a:gd name="T19" fmla="*/ 1 h 188"/>
                <a:gd name="T20" fmla="*/ 326 w 345"/>
                <a:gd name="T21" fmla="*/ 6 h 188"/>
                <a:gd name="T22" fmla="*/ 328 w 345"/>
                <a:gd name="T23" fmla="*/ 11 h 188"/>
                <a:gd name="T24" fmla="*/ 331 w 345"/>
                <a:gd name="T25" fmla="*/ 16 h 188"/>
                <a:gd name="T26" fmla="*/ 333 w 345"/>
                <a:gd name="T27" fmla="*/ 21 h 188"/>
                <a:gd name="T28" fmla="*/ 336 w 345"/>
                <a:gd name="T29" fmla="*/ 28 h 188"/>
                <a:gd name="T30" fmla="*/ 338 w 345"/>
                <a:gd name="T31" fmla="*/ 33 h 188"/>
                <a:gd name="T32" fmla="*/ 340 w 345"/>
                <a:gd name="T33" fmla="*/ 38 h 188"/>
                <a:gd name="T34" fmla="*/ 341 w 345"/>
                <a:gd name="T35" fmla="*/ 44 h 188"/>
                <a:gd name="T36" fmla="*/ 345 w 345"/>
                <a:gd name="T37" fmla="*/ 43 h 188"/>
                <a:gd name="T38" fmla="*/ 0 w 345"/>
                <a:gd name="T39" fmla="*/ 149 h 188"/>
                <a:gd name="T40" fmla="*/ 2 w 345"/>
                <a:gd name="T41" fmla="*/ 154 h 188"/>
                <a:gd name="T42" fmla="*/ 3 w 345"/>
                <a:gd name="T43" fmla="*/ 159 h 188"/>
                <a:gd name="T44" fmla="*/ 5 w 345"/>
                <a:gd name="T45" fmla="*/ 164 h 188"/>
                <a:gd name="T46" fmla="*/ 8 w 345"/>
                <a:gd name="T47" fmla="*/ 169 h 188"/>
                <a:gd name="T48" fmla="*/ 10 w 345"/>
                <a:gd name="T49" fmla="*/ 173 h 188"/>
                <a:gd name="T50" fmla="*/ 13 w 345"/>
                <a:gd name="T51" fmla="*/ 178 h 188"/>
                <a:gd name="T52" fmla="*/ 15 w 345"/>
                <a:gd name="T53" fmla="*/ 183 h 188"/>
                <a:gd name="T54" fmla="*/ 18 w 345"/>
                <a:gd name="T55" fmla="*/ 188 h 188"/>
                <a:gd name="T56" fmla="*/ 22 w 345"/>
                <a:gd name="T57" fmla="*/ 187 h 188"/>
                <a:gd name="T58" fmla="*/ 18 w 345"/>
                <a:gd name="T59" fmla="*/ 183 h 188"/>
                <a:gd name="T60" fmla="*/ 15 w 345"/>
                <a:gd name="T61" fmla="*/ 178 h 188"/>
                <a:gd name="T62" fmla="*/ 13 w 345"/>
                <a:gd name="T63" fmla="*/ 173 h 188"/>
                <a:gd name="T64" fmla="*/ 10 w 345"/>
                <a:gd name="T65" fmla="*/ 169 h 188"/>
                <a:gd name="T66" fmla="*/ 8 w 345"/>
                <a:gd name="T67" fmla="*/ 164 h 188"/>
                <a:gd name="T68" fmla="*/ 7 w 345"/>
                <a:gd name="T69" fmla="*/ 157 h 188"/>
                <a:gd name="T70" fmla="*/ 5 w 345"/>
                <a:gd name="T71" fmla="*/ 152 h 188"/>
                <a:gd name="T72" fmla="*/ 3 w 345"/>
                <a:gd name="T73" fmla="*/ 147 h 188"/>
                <a:gd name="T74" fmla="*/ 0 w 345"/>
                <a:gd name="T75" fmla="*/ 149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45" h="188">
                  <a:moveTo>
                    <a:pt x="345" y="43"/>
                  </a:moveTo>
                  <a:lnTo>
                    <a:pt x="343" y="36"/>
                  </a:lnTo>
                  <a:lnTo>
                    <a:pt x="341" y="31"/>
                  </a:lnTo>
                  <a:lnTo>
                    <a:pt x="340" y="26"/>
                  </a:lnTo>
                  <a:lnTo>
                    <a:pt x="336" y="21"/>
                  </a:lnTo>
                  <a:lnTo>
                    <a:pt x="335" y="15"/>
                  </a:lnTo>
                  <a:lnTo>
                    <a:pt x="331" y="10"/>
                  </a:lnTo>
                  <a:lnTo>
                    <a:pt x="328" y="5"/>
                  </a:lnTo>
                  <a:lnTo>
                    <a:pt x="326" y="0"/>
                  </a:lnTo>
                  <a:lnTo>
                    <a:pt x="323" y="1"/>
                  </a:lnTo>
                  <a:lnTo>
                    <a:pt x="326" y="6"/>
                  </a:lnTo>
                  <a:lnTo>
                    <a:pt x="328" y="11"/>
                  </a:lnTo>
                  <a:lnTo>
                    <a:pt x="331" y="16"/>
                  </a:lnTo>
                  <a:lnTo>
                    <a:pt x="333" y="21"/>
                  </a:lnTo>
                  <a:lnTo>
                    <a:pt x="336" y="28"/>
                  </a:lnTo>
                  <a:lnTo>
                    <a:pt x="338" y="33"/>
                  </a:lnTo>
                  <a:lnTo>
                    <a:pt x="340" y="38"/>
                  </a:lnTo>
                  <a:lnTo>
                    <a:pt x="341" y="44"/>
                  </a:lnTo>
                  <a:lnTo>
                    <a:pt x="345" y="43"/>
                  </a:lnTo>
                  <a:close/>
                  <a:moveTo>
                    <a:pt x="0" y="149"/>
                  </a:moveTo>
                  <a:lnTo>
                    <a:pt x="2" y="154"/>
                  </a:lnTo>
                  <a:lnTo>
                    <a:pt x="3" y="159"/>
                  </a:lnTo>
                  <a:lnTo>
                    <a:pt x="5" y="164"/>
                  </a:lnTo>
                  <a:lnTo>
                    <a:pt x="8" y="169"/>
                  </a:lnTo>
                  <a:lnTo>
                    <a:pt x="10" y="173"/>
                  </a:lnTo>
                  <a:lnTo>
                    <a:pt x="13" y="178"/>
                  </a:lnTo>
                  <a:lnTo>
                    <a:pt x="15" y="183"/>
                  </a:lnTo>
                  <a:lnTo>
                    <a:pt x="18" y="188"/>
                  </a:lnTo>
                  <a:lnTo>
                    <a:pt x="22" y="187"/>
                  </a:lnTo>
                  <a:lnTo>
                    <a:pt x="18" y="183"/>
                  </a:lnTo>
                  <a:lnTo>
                    <a:pt x="15" y="178"/>
                  </a:lnTo>
                  <a:lnTo>
                    <a:pt x="13" y="173"/>
                  </a:lnTo>
                  <a:lnTo>
                    <a:pt x="10" y="169"/>
                  </a:lnTo>
                  <a:lnTo>
                    <a:pt x="8" y="164"/>
                  </a:lnTo>
                  <a:lnTo>
                    <a:pt x="7" y="157"/>
                  </a:lnTo>
                  <a:lnTo>
                    <a:pt x="5" y="152"/>
                  </a:lnTo>
                  <a:lnTo>
                    <a:pt x="3" y="147"/>
                  </a:lnTo>
                  <a:lnTo>
                    <a:pt x="0" y="149"/>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22" name="Freeform 564">
              <a:extLst>
                <a:ext uri="{FF2B5EF4-FFF2-40B4-BE49-F238E27FC236}">
                  <a16:creationId xmlns:a16="http://schemas.microsoft.com/office/drawing/2014/main" id="{AD8DF1AA-6418-E3E9-1BDB-0A1C90A3D81E}"/>
                </a:ext>
              </a:extLst>
            </p:cNvPr>
            <p:cNvSpPr>
              <a:spLocks noEditPoints="1"/>
            </p:cNvSpPr>
            <p:nvPr/>
          </p:nvSpPr>
          <p:spPr bwMode="auto">
            <a:xfrm>
              <a:off x="2047" y="1545"/>
              <a:ext cx="341" cy="187"/>
            </a:xfrm>
            <a:custGeom>
              <a:avLst/>
              <a:gdLst>
                <a:gd name="T0" fmla="*/ 341 w 341"/>
                <a:gd name="T1" fmla="*/ 42 h 187"/>
                <a:gd name="T2" fmla="*/ 339 w 341"/>
                <a:gd name="T3" fmla="*/ 37 h 187"/>
                <a:gd name="T4" fmla="*/ 338 w 341"/>
                <a:gd name="T5" fmla="*/ 32 h 187"/>
                <a:gd name="T6" fmla="*/ 336 w 341"/>
                <a:gd name="T7" fmla="*/ 25 h 187"/>
                <a:gd name="T8" fmla="*/ 333 w 341"/>
                <a:gd name="T9" fmla="*/ 20 h 187"/>
                <a:gd name="T10" fmla="*/ 331 w 341"/>
                <a:gd name="T11" fmla="*/ 15 h 187"/>
                <a:gd name="T12" fmla="*/ 328 w 341"/>
                <a:gd name="T13" fmla="*/ 10 h 187"/>
                <a:gd name="T14" fmla="*/ 324 w 341"/>
                <a:gd name="T15" fmla="*/ 5 h 187"/>
                <a:gd name="T16" fmla="*/ 323 w 341"/>
                <a:gd name="T17" fmla="*/ 0 h 187"/>
                <a:gd name="T18" fmla="*/ 319 w 341"/>
                <a:gd name="T19" fmla="*/ 0 h 187"/>
                <a:gd name="T20" fmla="*/ 323 w 341"/>
                <a:gd name="T21" fmla="*/ 5 h 187"/>
                <a:gd name="T22" fmla="*/ 324 w 341"/>
                <a:gd name="T23" fmla="*/ 12 h 187"/>
                <a:gd name="T24" fmla="*/ 328 w 341"/>
                <a:gd name="T25" fmla="*/ 17 h 187"/>
                <a:gd name="T26" fmla="*/ 329 w 341"/>
                <a:gd name="T27" fmla="*/ 22 h 187"/>
                <a:gd name="T28" fmla="*/ 333 w 341"/>
                <a:gd name="T29" fmla="*/ 27 h 187"/>
                <a:gd name="T30" fmla="*/ 334 w 341"/>
                <a:gd name="T31" fmla="*/ 32 h 187"/>
                <a:gd name="T32" fmla="*/ 336 w 341"/>
                <a:gd name="T33" fmla="*/ 38 h 187"/>
                <a:gd name="T34" fmla="*/ 338 w 341"/>
                <a:gd name="T35" fmla="*/ 43 h 187"/>
                <a:gd name="T36" fmla="*/ 341 w 341"/>
                <a:gd name="T37" fmla="*/ 42 h 187"/>
                <a:gd name="T38" fmla="*/ 0 w 341"/>
                <a:gd name="T39" fmla="*/ 146 h 187"/>
                <a:gd name="T40" fmla="*/ 1 w 341"/>
                <a:gd name="T41" fmla="*/ 153 h 187"/>
                <a:gd name="T42" fmla="*/ 3 w 341"/>
                <a:gd name="T43" fmla="*/ 158 h 187"/>
                <a:gd name="T44" fmla="*/ 5 w 341"/>
                <a:gd name="T45" fmla="*/ 163 h 187"/>
                <a:gd name="T46" fmla="*/ 8 w 341"/>
                <a:gd name="T47" fmla="*/ 168 h 187"/>
                <a:gd name="T48" fmla="*/ 10 w 341"/>
                <a:gd name="T49" fmla="*/ 172 h 187"/>
                <a:gd name="T50" fmla="*/ 13 w 341"/>
                <a:gd name="T51" fmla="*/ 177 h 187"/>
                <a:gd name="T52" fmla="*/ 15 w 341"/>
                <a:gd name="T53" fmla="*/ 182 h 187"/>
                <a:gd name="T54" fmla="*/ 18 w 341"/>
                <a:gd name="T55" fmla="*/ 187 h 187"/>
                <a:gd name="T56" fmla="*/ 21 w 341"/>
                <a:gd name="T57" fmla="*/ 186 h 187"/>
                <a:gd name="T58" fmla="*/ 18 w 341"/>
                <a:gd name="T59" fmla="*/ 181 h 187"/>
                <a:gd name="T60" fmla="*/ 15 w 341"/>
                <a:gd name="T61" fmla="*/ 176 h 187"/>
                <a:gd name="T62" fmla="*/ 13 w 341"/>
                <a:gd name="T63" fmla="*/ 171 h 187"/>
                <a:gd name="T64" fmla="*/ 10 w 341"/>
                <a:gd name="T65" fmla="*/ 166 h 187"/>
                <a:gd name="T66" fmla="*/ 8 w 341"/>
                <a:gd name="T67" fmla="*/ 161 h 187"/>
                <a:gd name="T68" fmla="*/ 6 w 341"/>
                <a:gd name="T69" fmla="*/ 156 h 187"/>
                <a:gd name="T70" fmla="*/ 5 w 341"/>
                <a:gd name="T71" fmla="*/ 151 h 187"/>
                <a:gd name="T72" fmla="*/ 3 w 341"/>
                <a:gd name="T73" fmla="*/ 146 h 187"/>
                <a:gd name="T74" fmla="*/ 0 w 341"/>
                <a:gd name="T75" fmla="*/ 146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41" h="187">
                  <a:moveTo>
                    <a:pt x="341" y="42"/>
                  </a:moveTo>
                  <a:lnTo>
                    <a:pt x="339" y="37"/>
                  </a:lnTo>
                  <a:lnTo>
                    <a:pt x="338" y="32"/>
                  </a:lnTo>
                  <a:lnTo>
                    <a:pt x="336" y="25"/>
                  </a:lnTo>
                  <a:lnTo>
                    <a:pt x="333" y="20"/>
                  </a:lnTo>
                  <a:lnTo>
                    <a:pt x="331" y="15"/>
                  </a:lnTo>
                  <a:lnTo>
                    <a:pt x="328" y="10"/>
                  </a:lnTo>
                  <a:lnTo>
                    <a:pt x="324" y="5"/>
                  </a:lnTo>
                  <a:lnTo>
                    <a:pt x="323" y="0"/>
                  </a:lnTo>
                  <a:lnTo>
                    <a:pt x="319" y="0"/>
                  </a:lnTo>
                  <a:lnTo>
                    <a:pt x="323" y="5"/>
                  </a:lnTo>
                  <a:lnTo>
                    <a:pt x="324" y="12"/>
                  </a:lnTo>
                  <a:lnTo>
                    <a:pt x="328" y="17"/>
                  </a:lnTo>
                  <a:lnTo>
                    <a:pt x="329" y="22"/>
                  </a:lnTo>
                  <a:lnTo>
                    <a:pt x="333" y="27"/>
                  </a:lnTo>
                  <a:lnTo>
                    <a:pt x="334" y="32"/>
                  </a:lnTo>
                  <a:lnTo>
                    <a:pt x="336" y="38"/>
                  </a:lnTo>
                  <a:lnTo>
                    <a:pt x="338" y="43"/>
                  </a:lnTo>
                  <a:lnTo>
                    <a:pt x="341" y="42"/>
                  </a:lnTo>
                  <a:close/>
                  <a:moveTo>
                    <a:pt x="0" y="146"/>
                  </a:moveTo>
                  <a:lnTo>
                    <a:pt x="1" y="153"/>
                  </a:lnTo>
                  <a:lnTo>
                    <a:pt x="3" y="158"/>
                  </a:lnTo>
                  <a:lnTo>
                    <a:pt x="5" y="163"/>
                  </a:lnTo>
                  <a:lnTo>
                    <a:pt x="8" y="168"/>
                  </a:lnTo>
                  <a:lnTo>
                    <a:pt x="10" y="172"/>
                  </a:lnTo>
                  <a:lnTo>
                    <a:pt x="13" y="177"/>
                  </a:lnTo>
                  <a:lnTo>
                    <a:pt x="15" y="182"/>
                  </a:lnTo>
                  <a:lnTo>
                    <a:pt x="18" y="187"/>
                  </a:lnTo>
                  <a:lnTo>
                    <a:pt x="21" y="186"/>
                  </a:lnTo>
                  <a:lnTo>
                    <a:pt x="18" y="181"/>
                  </a:lnTo>
                  <a:lnTo>
                    <a:pt x="15" y="176"/>
                  </a:lnTo>
                  <a:lnTo>
                    <a:pt x="13" y="171"/>
                  </a:lnTo>
                  <a:lnTo>
                    <a:pt x="10" y="166"/>
                  </a:lnTo>
                  <a:lnTo>
                    <a:pt x="8" y="161"/>
                  </a:lnTo>
                  <a:lnTo>
                    <a:pt x="6" y="156"/>
                  </a:lnTo>
                  <a:lnTo>
                    <a:pt x="5" y="151"/>
                  </a:lnTo>
                  <a:lnTo>
                    <a:pt x="3" y="146"/>
                  </a:lnTo>
                  <a:lnTo>
                    <a:pt x="0" y="146"/>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23" name="Freeform 565">
              <a:extLst>
                <a:ext uri="{FF2B5EF4-FFF2-40B4-BE49-F238E27FC236}">
                  <a16:creationId xmlns:a16="http://schemas.microsoft.com/office/drawing/2014/main" id="{D1923A85-EEBD-54E5-DBB1-379DA8111E43}"/>
                </a:ext>
              </a:extLst>
            </p:cNvPr>
            <p:cNvSpPr>
              <a:spLocks noEditPoints="1"/>
            </p:cNvSpPr>
            <p:nvPr/>
          </p:nvSpPr>
          <p:spPr bwMode="auto">
            <a:xfrm>
              <a:off x="2048" y="1545"/>
              <a:ext cx="338" cy="186"/>
            </a:xfrm>
            <a:custGeom>
              <a:avLst/>
              <a:gdLst>
                <a:gd name="T0" fmla="*/ 338 w 338"/>
                <a:gd name="T1" fmla="*/ 43 h 186"/>
                <a:gd name="T2" fmla="*/ 337 w 338"/>
                <a:gd name="T3" fmla="*/ 37 h 186"/>
                <a:gd name="T4" fmla="*/ 335 w 338"/>
                <a:gd name="T5" fmla="*/ 32 h 186"/>
                <a:gd name="T6" fmla="*/ 333 w 338"/>
                <a:gd name="T7" fmla="*/ 27 h 186"/>
                <a:gd name="T8" fmla="*/ 330 w 338"/>
                <a:gd name="T9" fmla="*/ 20 h 186"/>
                <a:gd name="T10" fmla="*/ 328 w 338"/>
                <a:gd name="T11" fmla="*/ 15 h 186"/>
                <a:gd name="T12" fmla="*/ 325 w 338"/>
                <a:gd name="T13" fmla="*/ 10 h 186"/>
                <a:gd name="T14" fmla="*/ 323 w 338"/>
                <a:gd name="T15" fmla="*/ 5 h 186"/>
                <a:gd name="T16" fmla="*/ 320 w 338"/>
                <a:gd name="T17" fmla="*/ 0 h 186"/>
                <a:gd name="T18" fmla="*/ 317 w 338"/>
                <a:gd name="T19" fmla="*/ 2 h 186"/>
                <a:gd name="T20" fmla="*/ 320 w 338"/>
                <a:gd name="T21" fmla="*/ 7 h 186"/>
                <a:gd name="T22" fmla="*/ 322 w 338"/>
                <a:gd name="T23" fmla="*/ 12 h 186"/>
                <a:gd name="T24" fmla="*/ 325 w 338"/>
                <a:gd name="T25" fmla="*/ 17 h 186"/>
                <a:gd name="T26" fmla="*/ 327 w 338"/>
                <a:gd name="T27" fmla="*/ 22 h 186"/>
                <a:gd name="T28" fmla="*/ 330 w 338"/>
                <a:gd name="T29" fmla="*/ 27 h 186"/>
                <a:gd name="T30" fmla="*/ 332 w 338"/>
                <a:gd name="T31" fmla="*/ 33 h 186"/>
                <a:gd name="T32" fmla="*/ 333 w 338"/>
                <a:gd name="T33" fmla="*/ 38 h 186"/>
                <a:gd name="T34" fmla="*/ 335 w 338"/>
                <a:gd name="T35" fmla="*/ 43 h 186"/>
                <a:gd name="T36" fmla="*/ 338 w 338"/>
                <a:gd name="T37" fmla="*/ 43 h 186"/>
                <a:gd name="T38" fmla="*/ 0 w 338"/>
                <a:gd name="T39" fmla="*/ 146 h 186"/>
                <a:gd name="T40" fmla="*/ 2 w 338"/>
                <a:gd name="T41" fmla="*/ 151 h 186"/>
                <a:gd name="T42" fmla="*/ 4 w 338"/>
                <a:gd name="T43" fmla="*/ 156 h 186"/>
                <a:gd name="T44" fmla="*/ 5 w 338"/>
                <a:gd name="T45" fmla="*/ 163 h 186"/>
                <a:gd name="T46" fmla="*/ 7 w 338"/>
                <a:gd name="T47" fmla="*/ 168 h 186"/>
                <a:gd name="T48" fmla="*/ 10 w 338"/>
                <a:gd name="T49" fmla="*/ 172 h 186"/>
                <a:gd name="T50" fmla="*/ 12 w 338"/>
                <a:gd name="T51" fmla="*/ 177 h 186"/>
                <a:gd name="T52" fmla="*/ 15 w 338"/>
                <a:gd name="T53" fmla="*/ 182 h 186"/>
                <a:gd name="T54" fmla="*/ 19 w 338"/>
                <a:gd name="T55" fmla="*/ 186 h 186"/>
                <a:gd name="T56" fmla="*/ 22 w 338"/>
                <a:gd name="T57" fmla="*/ 186 h 186"/>
                <a:gd name="T58" fmla="*/ 19 w 338"/>
                <a:gd name="T59" fmla="*/ 181 h 186"/>
                <a:gd name="T60" fmla="*/ 15 w 338"/>
                <a:gd name="T61" fmla="*/ 176 h 186"/>
                <a:gd name="T62" fmla="*/ 14 w 338"/>
                <a:gd name="T63" fmla="*/ 171 h 186"/>
                <a:gd name="T64" fmla="*/ 10 w 338"/>
                <a:gd name="T65" fmla="*/ 166 h 186"/>
                <a:gd name="T66" fmla="*/ 9 w 338"/>
                <a:gd name="T67" fmla="*/ 161 h 186"/>
                <a:gd name="T68" fmla="*/ 7 w 338"/>
                <a:gd name="T69" fmla="*/ 156 h 186"/>
                <a:gd name="T70" fmla="*/ 4 w 338"/>
                <a:gd name="T71" fmla="*/ 149 h 186"/>
                <a:gd name="T72" fmla="*/ 2 w 338"/>
                <a:gd name="T73" fmla="*/ 144 h 186"/>
                <a:gd name="T74" fmla="*/ 0 w 338"/>
                <a:gd name="T75" fmla="*/ 146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38" h="186">
                  <a:moveTo>
                    <a:pt x="338" y="43"/>
                  </a:moveTo>
                  <a:lnTo>
                    <a:pt x="337" y="37"/>
                  </a:lnTo>
                  <a:lnTo>
                    <a:pt x="335" y="32"/>
                  </a:lnTo>
                  <a:lnTo>
                    <a:pt x="333" y="27"/>
                  </a:lnTo>
                  <a:lnTo>
                    <a:pt x="330" y="20"/>
                  </a:lnTo>
                  <a:lnTo>
                    <a:pt x="328" y="15"/>
                  </a:lnTo>
                  <a:lnTo>
                    <a:pt x="325" y="10"/>
                  </a:lnTo>
                  <a:lnTo>
                    <a:pt x="323" y="5"/>
                  </a:lnTo>
                  <a:lnTo>
                    <a:pt x="320" y="0"/>
                  </a:lnTo>
                  <a:lnTo>
                    <a:pt x="317" y="2"/>
                  </a:lnTo>
                  <a:lnTo>
                    <a:pt x="320" y="7"/>
                  </a:lnTo>
                  <a:lnTo>
                    <a:pt x="322" y="12"/>
                  </a:lnTo>
                  <a:lnTo>
                    <a:pt x="325" y="17"/>
                  </a:lnTo>
                  <a:lnTo>
                    <a:pt x="327" y="22"/>
                  </a:lnTo>
                  <a:lnTo>
                    <a:pt x="330" y="27"/>
                  </a:lnTo>
                  <a:lnTo>
                    <a:pt x="332" y="33"/>
                  </a:lnTo>
                  <a:lnTo>
                    <a:pt x="333" y="38"/>
                  </a:lnTo>
                  <a:lnTo>
                    <a:pt x="335" y="43"/>
                  </a:lnTo>
                  <a:lnTo>
                    <a:pt x="338" y="43"/>
                  </a:lnTo>
                  <a:close/>
                  <a:moveTo>
                    <a:pt x="0" y="146"/>
                  </a:moveTo>
                  <a:lnTo>
                    <a:pt x="2" y="151"/>
                  </a:lnTo>
                  <a:lnTo>
                    <a:pt x="4" y="156"/>
                  </a:lnTo>
                  <a:lnTo>
                    <a:pt x="5" y="163"/>
                  </a:lnTo>
                  <a:lnTo>
                    <a:pt x="7" y="168"/>
                  </a:lnTo>
                  <a:lnTo>
                    <a:pt x="10" y="172"/>
                  </a:lnTo>
                  <a:lnTo>
                    <a:pt x="12" y="177"/>
                  </a:lnTo>
                  <a:lnTo>
                    <a:pt x="15" y="182"/>
                  </a:lnTo>
                  <a:lnTo>
                    <a:pt x="19" y="186"/>
                  </a:lnTo>
                  <a:lnTo>
                    <a:pt x="22" y="186"/>
                  </a:lnTo>
                  <a:lnTo>
                    <a:pt x="19" y="181"/>
                  </a:lnTo>
                  <a:lnTo>
                    <a:pt x="15" y="176"/>
                  </a:lnTo>
                  <a:lnTo>
                    <a:pt x="14" y="171"/>
                  </a:lnTo>
                  <a:lnTo>
                    <a:pt x="10" y="166"/>
                  </a:lnTo>
                  <a:lnTo>
                    <a:pt x="9" y="161"/>
                  </a:lnTo>
                  <a:lnTo>
                    <a:pt x="7" y="156"/>
                  </a:lnTo>
                  <a:lnTo>
                    <a:pt x="4" y="149"/>
                  </a:lnTo>
                  <a:lnTo>
                    <a:pt x="2" y="144"/>
                  </a:lnTo>
                  <a:lnTo>
                    <a:pt x="0" y="146"/>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24" name="Freeform 566">
              <a:extLst>
                <a:ext uri="{FF2B5EF4-FFF2-40B4-BE49-F238E27FC236}">
                  <a16:creationId xmlns:a16="http://schemas.microsoft.com/office/drawing/2014/main" id="{CDF9058F-520E-8BE2-CCD9-122DD2EBB46D}"/>
                </a:ext>
              </a:extLst>
            </p:cNvPr>
            <p:cNvSpPr>
              <a:spLocks noEditPoints="1"/>
            </p:cNvSpPr>
            <p:nvPr/>
          </p:nvSpPr>
          <p:spPr bwMode="auto">
            <a:xfrm>
              <a:off x="2050" y="1545"/>
              <a:ext cx="335" cy="186"/>
            </a:xfrm>
            <a:custGeom>
              <a:avLst/>
              <a:gdLst>
                <a:gd name="T0" fmla="*/ 335 w 335"/>
                <a:gd name="T1" fmla="*/ 43 h 186"/>
                <a:gd name="T2" fmla="*/ 333 w 335"/>
                <a:gd name="T3" fmla="*/ 38 h 186"/>
                <a:gd name="T4" fmla="*/ 331 w 335"/>
                <a:gd name="T5" fmla="*/ 32 h 186"/>
                <a:gd name="T6" fmla="*/ 330 w 335"/>
                <a:gd name="T7" fmla="*/ 27 h 186"/>
                <a:gd name="T8" fmla="*/ 326 w 335"/>
                <a:gd name="T9" fmla="*/ 22 h 186"/>
                <a:gd name="T10" fmla="*/ 325 w 335"/>
                <a:gd name="T11" fmla="*/ 17 h 186"/>
                <a:gd name="T12" fmla="*/ 321 w 335"/>
                <a:gd name="T13" fmla="*/ 12 h 186"/>
                <a:gd name="T14" fmla="*/ 320 w 335"/>
                <a:gd name="T15" fmla="*/ 5 h 186"/>
                <a:gd name="T16" fmla="*/ 316 w 335"/>
                <a:gd name="T17" fmla="*/ 0 h 186"/>
                <a:gd name="T18" fmla="*/ 313 w 335"/>
                <a:gd name="T19" fmla="*/ 2 h 186"/>
                <a:gd name="T20" fmla="*/ 316 w 335"/>
                <a:gd name="T21" fmla="*/ 7 h 186"/>
                <a:gd name="T22" fmla="*/ 318 w 335"/>
                <a:gd name="T23" fmla="*/ 12 h 186"/>
                <a:gd name="T24" fmla="*/ 321 w 335"/>
                <a:gd name="T25" fmla="*/ 17 h 186"/>
                <a:gd name="T26" fmla="*/ 325 w 335"/>
                <a:gd name="T27" fmla="*/ 23 h 186"/>
                <a:gd name="T28" fmla="*/ 326 w 335"/>
                <a:gd name="T29" fmla="*/ 28 h 186"/>
                <a:gd name="T30" fmla="*/ 328 w 335"/>
                <a:gd name="T31" fmla="*/ 33 h 186"/>
                <a:gd name="T32" fmla="*/ 330 w 335"/>
                <a:gd name="T33" fmla="*/ 38 h 186"/>
                <a:gd name="T34" fmla="*/ 331 w 335"/>
                <a:gd name="T35" fmla="*/ 45 h 186"/>
                <a:gd name="T36" fmla="*/ 335 w 335"/>
                <a:gd name="T37" fmla="*/ 43 h 186"/>
                <a:gd name="T38" fmla="*/ 0 w 335"/>
                <a:gd name="T39" fmla="*/ 146 h 186"/>
                <a:gd name="T40" fmla="*/ 2 w 335"/>
                <a:gd name="T41" fmla="*/ 151 h 186"/>
                <a:gd name="T42" fmla="*/ 3 w 335"/>
                <a:gd name="T43" fmla="*/ 156 h 186"/>
                <a:gd name="T44" fmla="*/ 5 w 335"/>
                <a:gd name="T45" fmla="*/ 161 h 186"/>
                <a:gd name="T46" fmla="*/ 7 w 335"/>
                <a:gd name="T47" fmla="*/ 166 h 186"/>
                <a:gd name="T48" fmla="*/ 10 w 335"/>
                <a:gd name="T49" fmla="*/ 171 h 186"/>
                <a:gd name="T50" fmla="*/ 12 w 335"/>
                <a:gd name="T51" fmla="*/ 176 h 186"/>
                <a:gd name="T52" fmla="*/ 15 w 335"/>
                <a:gd name="T53" fmla="*/ 181 h 186"/>
                <a:gd name="T54" fmla="*/ 18 w 335"/>
                <a:gd name="T55" fmla="*/ 186 h 186"/>
                <a:gd name="T56" fmla="*/ 22 w 335"/>
                <a:gd name="T57" fmla="*/ 184 h 186"/>
                <a:gd name="T58" fmla="*/ 18 w 335"/>
                <a:gd name="T59" fmla="*/ 179 h 186"/>
                <a:gd name="T60" fmla="*/ 15 w 335"/>
                <a:gd name="T61" fmla="*/ 174 h 186"/>
                <a:gd name="T62" fmla="*/ 13 w 335"/>
                <a:gd name="T63" fmla="*/ 169 h 186"/>
                <a:gd name="T64" fmla="*/ 10 w 335"/>
                <a:gd name="T65" fmla="*/ 164 h 186"/>
                <a:gd name="T66" fmla="*/ 8 w 335"/>
                <a:gd name="T67" fmla="*/ 159 h 186"/>
                <a:gd name="T68" fmla="*/ 7 w 335"/>
                <a:gd name="T69" fmla="*/ 154 h 186"/>
                <a:gd name="T70" fmla="*/ 3 w 335"/>
                <a:gd name="T71" fmla="*/ 149 h 186"/>
                <a:gd name="T72" fmla="*/ 2 w 335"/>
                <a:gd name="T73" fmla="*/ 144 h 186"/>
                <a:gd name="T74" fmla="*/ 0 w 335"/>
                <a:gd name="T75" fmla="*/ 146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35" h="186">
                  <a:moveTo>
                    <a:pt x="335" y="43"/>
                  </a:moveTo>
                  <a:lnTo>
                    <a:pt x="333" y="38"/>
                  </a:lnTo>
                  <a:lnTo>
                    <a:pt x="331" y="32"/>
                  </a:lnTo>
                  <a:lnTo>
                    <a:pt x="330" y="27"/>
                  </a:lnTo>
                  <a:lnTo>
                    <a:pt x="326" y="22"/>
                  </a:lnTo>
                  <a:lnTo>
                    <a:pt x="325" y="17"/>
                  </a:lnTo>
                  <a:lnTo>
                    <a:pt x="321" y="12"/>
                  </a:lnTo>
                  <a:lnTo>
                    <a:pt x="320" y="5"/>
                  </a:lnTo>
                  <a:lnTo>
                    <a:pt x="316" y="0"/>
                  </a:lnTo>
                  <a:lnTo>
                    <a:pt x="313" y="2"/>
                  </a:lnTo>
                  <a:lnTo>
                    <a:pt x="316" y="7"/>
                  </a:lnTo>
                  <a:lnTo>
                    <a:pt x="318" y="12"/>
                  </a:lnTo>
                  <a:lnTo>
                    <a:pt x="321" y="17"/>
                  </a:lnTo>
                  <a:lnTo>
                    <a:pt x="325" y="23"/>
                  </a:lnTo>
                  <a:lnTo>
                    <a:pt x="326" y="28"/>
                  </a:lnTo>
                  <a:lnTo>
                    <a:pt x="328" y="33"/>
                  </a:lnTo>
                  <a:lnTo>
                    <a:pt x="330" y="38"/>
                  </a:lnTo>
                  <a:lnTo>
                    <a:pt x="331" y="45"/>
                  </a:lnTo>
                  <a:lnTo>
                    <a:pt x="335" y="43"/>
                  </a:lnTo>
                  <a:close/>
                  <a:moveTo>
                    <a:pt x="0" y="146"/>
                  </a:moveTo>
                  <a:lnTo>
                    <a:pt x="2" y="151"/>
                  </a:lnTo>
                  <a:lnTo>
                    <a:pt x="3" y="156"/>
                  </a:lnTo>
                  <a:lnTo>
                    <a:pt x="5" y="161"/>
                  </a:lnTo>
                  <a:lnTo>
                    <a:pt x="7" y="166"/>
                  </a:lnTo>
                  <a:lnTo>
                    <a:pt x="10" y="171"/>
                  </a:lnTo>
                  <a:lnTo>
                    <a:pt x="12" y="176"/>
                  </a:lnTo>
                  <a:lnTo>
                    <a:pt x="15" y="181"/>
                  </a:lnTo>
                  <a:lnTo>
                    <a:pt x="18" y="186"/>
                  </a:lnTo>
                  <a:lnTo>
                    <a:pt x="22" y="184"/>
                  </a:lnTo>
                  <a:lnTo>
                    <a:pt x="18" y="179"/>
                  </a:lnTo>
                  <a:lnTo>
                    <a:pt x="15" y="174"/>
                  </a:lnTo>
                  <a:lnTo>
                    <a:pt x="13" y="169"/>
                  </a:lnTo>
                  <a:lnTo>
                    <a:pt x="10" y="164"/>
                  </a:lnTo>
                  <a:lnTo>
                    <a:pt x="8" y="159"/>
                  </a:lnTo>
                  <a:lnTo>
                    <a:pt x="7" y="154"/>
                  </a:lnTo>
                  <a:lnTo>
                    <a:pt x="3" y="149"/>
                  </a:lnTo>
                  <a:lnTo>
                    <a:pt x="2" y="144"/>
                  </a:lnTo>
                  <a:lnTo>
                    <a:pt x="0" y="146"/>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25" name="Freeform 567">
              <a:extLst>
                <a:ext uri="{FF2B5EF4-FFF2-40B4-BE49-F238E27FC236}">
                  <a16:creationId xmlns:a16="http://schemas.microsoft.com/office/drawing/2014/main" id="{25209143-4868-0F84-134D-1DBA1DF002E7}"/>
                </a:ext>
              </a:extLst>
            </p:cNvPr>
            <p:cNvSpPr>
              <a:spLocks noEditPoints="1"/>
            </p:cNvSpPr>
            <p:nvPr/>
          </p:nvSpPr>
          <p:spPr bwMode="auto">
            <a:xfrm>
              <a:off x="2050" y="1547"/>
              <a:ext cx="333" cy="184"/>
            </a:xfrm>
            <a:custGeom>
              <a:avLst/>
              <a:gdLst>
                <a:gd name="T0" fmla="*/ 333 w 333"/>
                <a:gd name="T1" fmla="*/ 41 h 184"/>
                <a:gd name="T2" fmla="*/ 331 w 333"/>
                <a:gd name="T3" fmla="*/ 36 h 184"/>
                <a:gd name="T4" fmla="*/ 330 w 333"/>
                <a:gd name="T5" fmla="*/ 31 h 184"/>
                <a:gd name="T6" fmla="*/ 328 w 333"/>
                <a:gd name="T7" fmla="*/ 25 h 184"/>
                <a:gd name="T8" fmla="*/ 325 w 333"/>
                <a:gd name="T9" fmla="*/ 20 h 184"/>
                <a:gd name="T10" fmla="*/ 323 w 333"/>
                <a:gd name="T11" fmla="*/ 15 h 184"/>
                <a:gd name="T12" fmla="*/ 320 w 333"/>
                <a:gd name="T13" fmla="*/ 10 h 184"/>
                <a:gd name="T14" fmla="*/ 318 w 333"/>
                <a:gd name="T15" fmla="*/ 5 h 184"/>
                <a:gd name="T16" fmla="*/ 315 w 333"/>
                <a:gd name="T17" fmla="*/ 0 h 184"/>
                <a:gd name="T18" fmla="*/ 311 w 333"/>
                <a:gd name="T19" fmla="*/ 2 h 184"/>
                <a:gd name="T20" fmla="*/ 315 w 333"/>
                <a:gd name="T21" fmla="*/ 7 h 184"/>
                <a:gd name="T22" fmla="*/ 318 w 333"/>
                <a:gd name="T23" fmla="*/ 12 h 184"/>
                <a:gd name="T24" fmla="*/ 320 w 333"/>
                <a:gd name="T25" fmla="*/ 17 h 184"/>
                <a:gd name="T26" fmla="*/ 323 w 333"/>
                <a:gd name="T27" fmla="*/ 21 h 184"/>
                <a:gd name="T28" fmla="*/ 325 w 333"/>
                <a:gd name="T29" fmla="*/ 26 h 184"/>
                <a:gd name="T30" fmla="*/ 326 w 333"/>
                <a:gd name="T31" fmla="*/ 33 h 184"/>
                <a:gd name="T32" fmla="*/ 328 w 333"/>
                <a:gd name="T33" fmla="*/ 38 h 184"/>
                <a:gd name="T34" fmla="*/ 331 w 333"/>
                <a:gd name="T35" fmla="*/ 43 h 184"/>
                <a:gd name="T36" fmla="*/ 333 w 333"/>
                <a:gd name="T37" fmla="*/ 41 h 184"/>
                <a:gd name="T38" fmla="*/ 0 w 333"/>
                <a:gd name="T39" fmla="*/ 142 h 184"/>
                <a:gd name="T40" fmla="*/ 2 w 333"/>
                <a:gd name="T41" fmla="*/ 147 h 184"/>
                <a:gd name="T42" fmla="*/ 5 w 333"/>
                <a:gd name="T43" fmla="*/ 154 h 184"/>
                <a:gd name="T44" fmla="*/ 7 w 333"/>
                <a:gd name="T45" fmla="*/ 159 h 184"/>
                <a:gd name="T46" fmla="*/ 8 w 333"/>
                <a:gd name="T47" fmla="*/ 164 h 184"/>
                <a:gd name="T48" fmla="*/ 12 w 333"/>
                <a:gd name="T49" fmla="*/ 169 h 184"/>
                <a:gd name="T50" fmla="*/ 13 w 333"/>
                <a:gd name="T51" fmla="*/ 174 h 184"/>
                <a:gd name="T52" fmla="*/ 17 w 333"/>
                <a:gd name="T53" fmla="*/ 179 h 184"/>
                <a:gd name="T54" fmla="*/ 20 w 333"/>
                <a:gd name="T55" fmla="*/ 184 h 184"/>
                <a:gd name="T56" fmla="*/ 22 w 333"/>
                <a:gd name="T57" fmla="*/ 182 h 184"/>
                <a:gd name="T58" fmla="*/ 20 w 333"/>
                <a:gd name="T59" fmla="*/ 177 h 184"/>
                <a:gd name="T60" fmla="*/ 17 w 333"/>
                <a:gd name="T61" fmla="*/ 172 h 184"/>
                <a:gd name="T62" fmla="*/ 15 w 333"/>
                <a:gd name="T63" fmla="*/ 167 h 184"/>
                <a:gd name="T64" fmla="*/ 12 w 333"/>
                <a:gd name="T65" fmla="*/ 162 h 184"/>
                <a:gd name="T66" fmla="*/ 10 w 333"/>
                <a:gd name="T67" fmla="*/ 157 h 184"/>
                <a:gd name="T68" fmla="*/ 7 w 333"/>
                <a:gd name="T69" fmla="*/ 152 h 184"/>
                <a:gd name="T70" fmla="*/ 5 w 333"/>
                <a:gd name="T71" fmla="*/ 147 h 184"/>
                <a:gd name="T72" fmla="*/ 3 w 333"/>
                <a:gd name="T73" fmla="*/ 141 h 184"/>
                <a:gd name="T74" fmla="*/ 0 w 333"/>
                <a:gd name="T75" fmla="*/ 142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33" h="184">
                  <a:moveTo>
                    <a:pt x="333" y="41"/>
                  </a:moveTo>
                  <a:lnTo>
                    <a:pt x="331" y="36"/>
                  </a:lnTo>
                  <a:lnTo>
                    <a:pt x="330" y="31"/>
                  </a:lnTo>
                  <a:lnTo>
                    <a:pt x="328" y="25"/>
                  </a:lnTo>
                  <a:lnTo>
                    <a:pt x="325" y="20"/>
                  </a:lnTo>
                  <a:lnTo>
                    <a:pt x="323" y="15"/>
                  </a:lnTo>
                  <a:lnTo>
                    <a:pt x="320" y="10"/>
                  </a:lnTo>
                  <a:lnTo>
                    <a:pt x="318" y="5"/>
                  </a:lnTo>
                  <a:lnTo>
                    <a:pt x="315" y="0"/>
                  </a:lnTo>
                  <a:lnTo>
                    <a:pt x="311" y="2"/>
                  </a:lnTo>
                  <a:lnTo>
                    <a:pt x="315" y="7"/>
                  </a:lnTo>
                  <a:lnTo>
                    <a:pt x="318" y="12"/>
                  </a:lnTo>
                  <a:lnTo>
                    <a:pt x="320" y="17"/>
                  </a:lnTo>
                  <a:lnTo>
                    <a:pt x="323" y="21"/>
                  </a:lnTo>
                  <a:lnTo>
                    <a:pt x="325" y="26"/>
                  </a:lnTo>
                  <a:lnTo>
                    <a:pt x="326" y="33"/>
                  </a:lnTo>
                  <a:lnTo>
                    <a:pt x="328" y="38"/>
                  </a:lnTo>
                  <a:lnTo>
                    <a:pt x="331" y="43"/>
                  </a:lnTo>
                  <a:lnTo>
                    <a:pt x="333" y="41"/>
                  </a:lnTo>
                  <a:close/>
                  <a:moveTo>
                    <a:pt x="0" y="142"/>
                  </a:moveTo>
                  <a:lnTo>
                    <a:pt x="2" y="147"/>
                  </a:lnTo>
                  <a:lnTo>
                    <a:pt x="5" y="154"/>
                  </a:lnTo>
                  <a:lnTo>
                    <a:pt x="7" y="159"/>
                  </a:lnTo>
                  <a:lnTo>
                    <a:pt x="8" y="164"/>
                  </a:lnTo>
                  <a:lnTo>
                    <a:pt x="12" y="169"/>
                  </a:lnTo>
                  <a:lnTo>
                    <a:pt x="13" y="174"/>
                  </a:lnTo>
                  <a:lnTo>
                    <a:pt x="17" y="179"/>
                  </a:lnTo>
                  <a:lnTo>
                    <a:pt x="20" y="184"/>
                  </a:lnTo>
                  <a:lnTo>
                    <a:pt x="22" y="182"/>
                  </a:lnTo>
                  <a:lnTo>
                    <a:pt x="20" y="177"/>
                  </a:lnTo>
                  <a:lnTo>
                    <a:pt x="17" y="172"/>
                  </a:lnTo>
                  <a:lnTo>
                    <a:pt x="15" y="167"/>
                  </a:lnTo>
                  <a:lnTo>
                    <a:pt x="12" y="162"/>
                  </a:lnTo>
                  <a:lnTo>
                    <a:pt x="10" y="157"/>
                  </a:lnTo>
                  <a:lnTo>
                    <a:pt x="7" y="152"/>
                  </a:lnTo>
                  <a:lnTo>
                    <a:pt x="5" y="147"/>
                  </a:lnTo>
                  <a:lnTo>
                    <a:pt x="3" y="141"/>
                  </a:lnTo>
                  <a:lnTo>
                    <a:pt x="0" y="142"/>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26" name="Freeform 568">
              <a:extLst>
                <a:ext uri="{FF2B5EF4-FFF2-40B4-BE49-F238E27FC236}">
                  <a16:creationId xmlns:a16="http://schemas.microsoft.com/office/drawing/2014/main" id="{27688217-6C92-B1AD-4CCF-0DDCB236090E}"/>
                </a:ext>
              </a:extLst>
            </p:cNvPr>
            <p:cNvSpPr>
              <a:spLocks noEditPoints="1"/>
            </p:cNvSpPr>
            <p:nvPr/>
          </p:nvSpPr>
          <p:spPr bwMode="auto">
            <a:xfrm>
              <a:off x="2052" y="1547"/>
              <a:ext cx="329" cy="182"/>
            </a:xfrm>
            <a:custGeom>
              <a:avLst/>
              <a:gdLst>
                <a:gd name="T0" fmla="*/ 329 w 329"/>
                <a:gd name="T1" fmla="*/ 43 h 182"/>
                <a:gd name="T2" fmla="*/ 328 w 329"/>
                <a:gd name="T3" fmla="*/ 36 h 182"/>
                <a:gd name="T4" fmla="*/ 326 w 329"/>
                <a:gd name="T5" fmla="*/ 31 h 182"/>
                <a:gd name="T6" fmla="*/ 324 w 329"/>
                <a:gd name="T7" fmla="*/ 26 h 182"/>
                <a:gd name="T8" fmla="*/ 323 w 329"/>
                <a:gd name="T9" fmla="*/ 21 h 182"/>
                <a:gd name="T10" fmla="*/ 319 w 329"/>
                <a:gd name="T11" fmla="*/ 15 h 182"/>
                <a:gd name="T12" fmla="*/ 316 w 329"/>
                <a:gd name="T13" fmla="*/ 10 h 182"/>
                <a:gd name="T14" fmla="*/ 314 w 329"/>
                <a:gd name="T15" fmla="*/ 5 h 182"/>
                <a:gd name="T16" fmla="*/ 311 w 329"/>
                <a:gd name="T17" fmla="*/ 0 h 182"/>
                <a:gd name="T18" fmla="*/ 308 w 329"/>
                <a:gd name="T19" fmla="*/ 2 h 182"/>
                <a:gd name="T20" fmla="*/ 311 w 329"/>
                <a:gd name="T21" fmla="*/ 7 h 182"/>
                <a:gd name="T22" fmla="*/ 314 w 329"/>
                <a:gd name="T23" fmla="*/ 12 h 182"/>
                <a:gd name="T24" fmla="*/ 316 w 329"/>
                <a:gd name="T25" fmla="*/ 17 h 182"/>
                <a:gd name="T26" fmla="*/ 319 w 329"/>
                <a:gd name="T27" fmla="*/ 21 h 182"/>
                <a:gd name="T28" fmla="*/ 321 w 329"/>
                <a:gd name="T29" fmla="*/ 28 h 182"/>
                <a:gd name="T30" fmla="*/ 323 w 329"/>
                <a:gd name="T31" fmla="*/ 33 h 182"/>
                <a:gd name="T32" fmla="*/ 326 w 329"/>
                <a:gd name="T33" fmla="*/ 38 h 182"/>
                <a:gd name="T34" fmla="*/ 328 w 329"/>
                <a:gd name="T35" fmla="*/ 45 h 182"/>
                <a:gd name="T36" fmla="*/ 329 w 329"/>
                <a:gd name="T37" fmla="*/ 43 h 182"/>
                <a:gd name="T38" fmla="*/ 0 w 329"/>
                <a:gd name="T39" fmla="*/ 142 h 182"/>
                <a:gd name="T40" fmla="*/ 1 w 329"/>
                <a:gd name="T41" fmla="*/ 147 h 182"/>
                <a:gd name="T42" fmla="*/ 5 w 329"/>
                <a:gd name="T43" fmla="*/ 152 h 182"/>
                <a:gd name="T44" fmla="*/ 6 w 329"/>
                <a:gd name="T45" fmla="*/ 157 h 182"/>
                <a:gd name="T46" fmla="*/ 8 w 329"/>
                <a:gd name="T47" fmla="*/ 162 h 182"/>
                <a:gd name="T48" fmla="*/ 11 w 329"/>
                <a:gd name="T49" fmla="*/ 167 h 182"/>
                <a:gd name="T50" fmla="*/ 13 w 329"/>
                <a:gd name="T51" fmla="*/ 172 h 182"/>
                <a:gd name="T52" fmla="*/ 16 w 329"/>
                <a:gd name="T53" fmla="*/ 177 h 182"/>
                <a:gd name="T54" fmla="*/ 20 w 329"/>
                <a:gd name="T55" fmla="*/ 182 h 182"/>
                <a:gd name="T56" fmla="*/ 21 w 329"/>
                <a:gd name="T57" fmla="*/ 180 h 182"/>
                <a:gd name="T58" fmla="*/ 20 w 329"/>
                <a:gd name="T59" fmla="*/ 177 h 182"/>
                <a:gd name="T60" fmla="*/ 16 w 329"/>
                <a:gd name="T61" fmla="*/ 172 h 182"/>
                <a:gd name="T62" fmla="*/ 13 w 329"/>
                <a:gd name="T63" fmla="*/ 167 h 182"/>
                <a:gd name="T64" fmla="*/ 11 w 329"/>
                <a:gd name="T65" fmla="*/ 162 h 182"/>
                <a:gd name="T66" fmla="*/ 10 w 329"/>
                <a:gd name="T67" fmla="*/ 156 h 182"/>
                <a:gd name="T68" fmla="*/ 6 w 329"/>
                <a:gd name="T69" fmla="*/ 151 h 182"/>
                <a:gd name="T70" fmla="*/ 5 w 329"/>
                <a:gd name="T71" fmla="*/ 146 h 182"/>
                <a:gd name="T72" fmla="*/ 3 w 329"/>
                <a:gd name="T73" fmla="*/ 141 h 182"/>
                <a:gd name="T74" fmla="*/ 0 w 329"/>
                <a:gd name="T75" fmla="*/ 142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9" h="182">
                  <a:moveTo>
                    <a:pt x="329" y="43"/>
                  </a:moveTo>
                  <a:lnTo>
                    <a:pt x="328" y="36"/>
                  </a:lnTo>
                  <a:lnTo>
                    <a:pt x="326" y="31"/>
                  </a:lnTo>
                  <a:lnTo>
                    <a:pt x="324" y="26"/>
                  </a:lnTo>
                  <a:lnTo>
                    <a:pt x="323" y="21"/>
                  </a:lnTo>
                  <a:lnTo>
                    <a:pt x="319" y="15"/>
                  </a:lnTo>
                  <a:lnTo>
                    <a:pt x="316" y="10"/>
                  </a:lnTo>
                  <a:lnTo>
                    <a:pt x="314" y="5"/>
                  </a:lnTo>
                  <a:lnTo>
                    <a:pt x="311" y="0"/>
                  </a:lnTo>
                  <a:lnTo>
                    <a:pt x="308" y="2"/>
                  </a:lnTo>
                  <a:lnTo>
                    <a:pt x="311" y="7"/>
                  </a:lnTo>
                  <a:lnTo>
                    <a:pt x="314" y="12"/>
                  </a:lnTo>
                  <a:lnTo>
                    <a:pt x="316" y="17"/>
                  </a:lnTo>
                  <a:lnTo>
                    <a:pt x="319" y="21"/>
                  </a:lnTo>
                  <a:lnTo>
                    <a:pt x="321" y="28"/>
                  </a:lnTo>
                  <a:lnTo>
                    <a:pt x="323" y="33"/>
                  </a:lnTo>
                  <a:lnTo>
                    <a:pt x="326" y="38"/>
                  </a:lnTo>
                  <a:lnTo>
                    <a:pt x="328" y="45"/>
                  </a:lnTo>
                  <a:lnTo>
                    <a:pt x="329" y="43"/>
                  </a:lnTo>
                  <a:close/>
                  <a:moveTo>
                    <a:pt x="0" y="142"/>
                  </a:moveTo>
                  <a:lnTo>
                    <a:pt x="1" y="147"/>
                  </a:lnTo>
                  <a:lnTo>
                    <a:pt x="5" y="152"/>
                  </a:lnTo>
                  <a:lnTo>
                    <a:pt x="6" y="157"/>
                  </a:lnTo>
                  <a:lnTo>
                    <a:pt x="8" y="162"/>
                  </a:lnTo>
                  <a:lnTo>
                    <a:pt x="11" y="167"/>
                  </a:lnTo>
                  <a:lnTo>
                    <a:pt x="13" y="172"/>
                  </a:lnTo>
                  <a:lnTo>
                    <a:pt x="16" y="177"/>
                  </a:lnTo>
                  <a:lnTo>
                    <a:pt x="20" y="182"/>
                  </a:lnTo>
                  <a:lnTo>
                    <a:pt x="21" y="180"/>
                  </a:lnTo>
                  <a:lnTo>
                    <a:pt x="20" y="177"/>
                  </a:lnTo>
                  <a:lnTo>
                    <a:pt x="16" y="172"/>
                  </a:lnTo>
                  <a:lnTo>
                    <a:pt x="13" y="167"/>
                  </a:lnTo>
                  <a:lnTo>
                    <a:pt x="11" y="162"/>
                  </a:lnTo>
                  <a:lnTo>
                    <a:pt x="10" y="156"/>
                  </a:lnTo>
                  <a:lnTo>
                    <a:pt x="6" y="151"/>
                  </a:lnTo>
                  <a:lnTo>
                    <a:pt x="5" y="146"/>
                  </a:lnTo>
                  <a:lnTo>
                    <a:pt x="3" y="141"/>
                  </a:lnTo>
                  <a:lnTo>
                    <a:pt x="0" y="142"/>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27" name="Freeform 569">
              <a:extLst>
                <a:ext uri="{FF2B5EF4-FFF2-40B4-BE49-F238E27FC236}">
                  <a16:creationId xmlns:a16="http://schemas.microsoft.com/office/drawing/2014/main" id="{D848D9CE-8692-4640-4396-4AA99AEF302B}"/>
                </a:ext>
              </a:extLst>
            </p:cNvPr>
            <p:cNvSpPr>
              <a:spLocks noEditPoints="1"/>
            </p:cNvSpPr>
            <p:nvPr/>
          </p:nvSpPr>
          <p:spPr bwMode="auto">
            <a:xfrm>
              <a:off x="2053" y="1549"/>
              <a:ext cx="328" cy="180"/>
            </a:xfrm>
            <a:custGeom>
              <a:avLst/>
              <a:gdLst>
                <a:gd name="T0" fmla="*/ 328 w 328"/>
                <a:gd name="T1" fmla="*/ 41 h 180"/>
                <a:gd name="T2" fmla="*/ 325 w 328"/>
                <a:gd name="T3" fmla="*/ 36 h 180"/>
                <a:gd name="T4" fmla="*/ 323 w 328"/>
                <a:gd name="T5" fmla="*/ 31 h 180"/>
                <a:gd name="T6" fmla="*/ 322 w 328"/>
                <a:gd name="T7" fmla="*/ 24 h 180"/>
                <a:gd name="T8" fmla="*/ 320 w 328"/>
                <a:gd name="T9" fmla="*/ 19 h 180"/>
                <a:gd name="T10" fmla="*/ 317 w 328"/>
                <a:gd name="T11" fmla="*/ 15 h 180"/>
                <a:gd name="T12" fmla="*/ 315 w 328"/>
                <a:gd name="T13" fmla="*/ 10 h 180"/>
                <a:gd name="T14" fmla="*/ 312 w 328"/>
                <a:gd name="T15" fmla="*/ 5 h 180"/>
                <a:gd name="T16" fmla="*/ 308 w 328"/>
                <a:gd name="T17" fmla="*/ 0 h 180"/>
                <a:gd name="T18" fmla="*/ 305 w 328"/>
                <a:gd name="T19" fmla="*/ 1 h 180"/>
                <a:gd name="T20" fmla="*/ 308 w 328"/>
                <a:gd name="T21" fmla="*/ 6 h 180"/>
                <a:gd name="T22" fmla="*/ 312 w 328"/>
                <a:gd name="T23" fmla="*/ 11 h 180"/>
                <a:gd name="T24" fmla="*/ 313 w 328"/>
                <a:gd name="T25" fmla="*/ 16 h 180"/>
                <a:gd name="T26" fmla="*/ 317 w 328"/>
                <a:gd name="T27" fmla="*/ 21 h 180"/>
                <a:gd name="T28" fmla="*/ 318 w 328"/>
                <a:gd name="T29" fmla="*/ 26 h 180"/>
                <a:gd name="T30" fmla="*/ 320 w 328"/>
                <a:gd name="T31" fmla="*/ 31 h 180"/>
                <a:gd name="T32" fmla="*/ 323 w 328"/>
                <a:gd name="T33" fmla="*/ 38 h 180"/>
                <a:gd name="T34" fmla="*/ 325 w 328"/>
                <a:gd name="T35" fmla="*/ 43 h 180"/>
                <a:gd name="T36" fmla="*/ 328 w 328"/>
                <a:gd name="T37" fmla="*/ 41 h 180"/>
                <a:gd name="T38" fmla="*/ 0 w 328"/>
                <a:gd name="T39" fmla="*/ 139 h 180"/>
                <a:gd name="T40" fmla="*/ 2 w 328"/>
                <a:gd name="T41" fmla="*/ 145 h 180"/>
                <a:gd name="T42" fmla="*/ 4 w 328"/>
                <a:gd name="T43" fmla="*/ 150 h 180"/>
                <a:gd name="T44" fmla="*/ 7 w 328"/>
                <a:gd name="T45" fmla="*/ 155 h 180"/>
                <a:gd name="T46" fmla="*/ 9 w 328"/>
                <a:gd name="T47" fmla="*/ 160 h 180"/>
                <a:gd name="T48" fmla="*/ 12 w 328"/>
                <a:gd name="T49" fmla="*/ 165 h 180"/>
                <a:gd name="T50" fmla="*/ 14 w 328"/>
                <a:gd name="T51" fmla="*/ 170 h 180"/>
                <a:gd name="T52" fmla="*/ 17 w 328"/>
                <a:gd name="T53" fmla="*/ 175 h 180"/>
                <a:gd name="T54" fmla="*/ 19 w 328"/>
                <a:gd name="T55" fmla="*/ 180 h 180"/>
                <a:gd name="T56" fmla="*/ 22 w 328"/>
                <a:gd name="T57" fmla="*/ 178 h 180"/>
                <a:gd name="T58" fmla="*/ 20 w 328"/>
                <a:gd name="T59" fmla="*/ 173 h 180"/>
                <a:gd name="T60" fmla="*/ 17 w 328"/>
                <a:gd name="T61" fmla="*/ 168 h 180"/>
                <a:gd name="T62" fmla="*/ 14 w 328"/>
                <a:gd name="T63" fmla="*/ 164 h 180"/>
                <a:gd name="T64" fmla="*/ 12 w 328"/>
                <a:gd name="T65" fmla="*/ 159 h 180"/>
                <a:gd name="T66" fmla="*/ 10 w 328"/>
                <a:gd name="T67" fmla="*/ 154 h 180"/>
                <a:gd name="T68" fmla="*/ 7 w 328"/>
                <a:gd name="T69" fmla="*/ 149 h 180"/>
                <a:gd name="T70" fmla="*/ 5 w 328"/>
                <a:gd name="T71" fmla="*/ 144 h 180"/>
                <a:gd name="T72" fmla="*/ 4 w 328"/>
                <a:gd name="T73" fmla="*/ 137 h 180"/>
                <a:gd name="T74" fmla="*/ 0 w 328"/>
                <a:gd name="T75" fmla="*/ 139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8" h="180">
                  <a:moveTo>
                    <a:pt x="328" y="41"/>
                  </a:moveTo>
                  <a:lnTo>
                    <a:pt x="325" y="36"/>
                  </a:lnTo>
                  <a:lnTo>
                    <a:pt x="323" y="31"/>
                  </a:lnTo>
                  <a:lnTo>
                    <a:pt x="322" y="24"/>
                  </a:lnTo>
                  <a:lnTo>
                    <a:pt x="320" y="19"/>
                  </a:lnTo>
                  <a:lnTo>
                    <a:pt x="317" y="15"/>
                  </a:lnTo>
                  <a:lnTo>
                    <a:pt x="315" y="10"/>
                  </a:lnTo>
                  <a:lnTo>
                    <a:pt x="312" y="5"/>
                  </a:lnTo>
                  <a:lnTo>
                    <a:pt x="308" y="0"/>
                  </a:lnTo>
                  <a:lnTo>
                    <a:pt x="305" y="1"/>
                  </a:lnTo>
                  <a:lnTo>
                    <a:pt x="308" y="6"/>
                  </a:lnTo>
                  <a:lnTo>
                    <a:pt x="312" y="11"/>
                  </a:lnTo>
                  <a:lnTo>
                    <a:pt x="313" y="16"/>
                  </a:lnTo>
                  <a:lnTo>
                    <a:pt x="317" y="21"/>
                  </a:lnTo>
                  <a:lnTo>
                    <a:pt x="318" y="26"/>
                  </a:lnTo>
                  <a:lnTo>
                    <a:pt x="320" y="31"/>
                  </a:lnTo>
                  <a:lnTo>
                    <a:pt x="323" y="38"/>
                  </a:lnTo>
                  <a:lnTo>
                    <a:pt x="325" y="43"/>
                  </a:lnTo>
                  <a:lnTo>
                    <a:pt x="328" y="41"/>
                  </a:lnTo>
                  <a:close/>
                  <a:moveTo>
                    <a:pt x="0" y="139"/>
                  </a:moveTo>
                  <a:lnTo>
                    <a:pt x="2" y="145"/>
                  </a:lnTo>
                  <a:lnTo>
                    <a:pt x="4" y="150"/>
                  </a:lnTo>
                  <a:lnTo>
                    <a:pt x="7" y="155"/>
                  </a:lnTo>
                  <a:lnTo>
                    <a:pt x="9" y="160"/>
                  </a:lnTo>
                  <a:lnTo>
                    <a:pt x="12" y="165"/>
                  </a:lnTo>
                  <a:lnTo>
                    <a:pt x="14" y="170"/>
                  </a:lnTo>
                  <a:lnTo>
                    <a:pt x="17" y="175"/>
                  </a:lnTo>
                  <a:lnTo>
                    <a:pt x="19" y="180"/>
                  </a:lnTo>
                  <a:lnTo>
                    <a:pt x="22" y="178"/>
                  </a:lnTo>
                  <a:lnTo>
                    <a:pt x="20" y="173"/>
                  </a:lnTo>
                  <a:lnTo>
                    <a:pt x="17" y="168"/>
                  </a:lnTo>
                  <a:lnTo>
                    <a:pt x="14" y="164"/>
                  </a:lnTo>
                  <a:lnTo>
                    <a:pt x="12" y="159"/>
                  </a:lnTo>
                  <a:lnTo>
                    <a:pt x="10" y="154"/>
                  </a:lnTo>
                  <a:lnTo>
                    <a:pt x="7" y="149"/>
                  </a:lnTo>
                  <a:lnTo>
                    <a:pt x="5" y="144"/>
                  </a:lnTo>
                  <a:lnTo>
                    <a:pt x="4" y="137"/>
                  </a:lnTo>
                  <a:lnTo>
                    <a:pt x="0" y="139"/>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28" name="Freeform 570">
              <a:extLst>
                <a:ext uri="{FF2B5EF4-FFF2-40B4-BE49-F238E27FC236}">
                  <a16:creationId xmlns:a16="http://schemas.microsoft.com/office/drawing/2014/main" id="{5A6C2198-D0CC-B551-BC0C-B07CD750734A}"/>
                </a:ext>
              </a:extLst>
            </p:cNvPr>
            <p:cNvSpPr>
              <a:spLocks noEditPoints="1"/>
            </p:cNvSpPr>
            <p:nvPr/>
          </p:nvSpPr>
          <p:spPr bwMode="auto">
            <a:xfrm>
              <a:off x="2055" y="1549"/>
              <a:ext cx="325" cy="178"/>
            </a:xfrm>
            <a:custGeom>
              <a:avLst/>
              <a:gdLst>
                <a:gd name="T0" fmla="*/ 325 w 325"/>
                <a:gd name="T1" fmla="*/ 43 h 178"/>
                <a:gd name="T2" fmla="*/ 323 w 325"/>
                <a:gd name="T3" fmla="*/ 36 h 178"/>
                <a:gd name="T4" fmla="*/ 320 w 325"/>
                <a:gd name="T5" fmla="*/ 31 h 178"/>
                <a:gd name="T6" fmla="*/ 318 w 325"/>
                <a:gd name="T7" fmla="*/ 26 h 178"/>
                <a:gd name="T8" fmla="*/ 316 w 325"/>
                <a:gd name="T9" fmla="*/ 19 h 178"/>
                <a:gd name="T10" fmla="*/ 313 w 325"/>
                <a:gd name="T11" fmla="*/ 15 h 178"/>
                <a:gd name="T12" fmla="*/ 311 w 325"/>
                <a:gd name="T13" fmla="*/ 10 h 178"/>
                <a:gd name="T14" fmla="*/ 308 w 325"/>
                <a:gd name="T15" fmla="*/ 5 h 178"/>
                <a:gd name="T16" fmla="*/ 305 w 325"/>
                <a:gd name="T17" fmla="*/ 0 h 178"/>
                <a:gd name="T18" fmla="*/ 301 w 325"/>
                <a:gd name="T19" fmla="*/ 1 h 178"/>
                <a:gd name="T20" fmla="*/ 305 w 325"/>
                <a:gd name="T21" fmla="*/ 6 h 178"/>
                <a:gd name="T22" fmla="*/ 308 w 325"/>
                <a:gd name="T23" fmla="*/ 11 h 178"/>
                <a:gd name="T24" fmla="*/ 310 w 325"/>
                <a:gd name="T25" fmla="*/ 16 h 178"/>
                <a:gd name="T26" fmla="*/ 313 w 325"/>
                <a:gd name="T27" fmla="*/ 21 h 178"/>
                <a:gd name="T28" fmla="*/ 315 w 325"/>
                <a:gd name="T29" fmla="*/ 28 h 178"/>
                <a:gd name="T30" fmla="*/ 318 w 325"/>
                <a:gd name="T31" fmla="*/ 33 h 178"/>
                <a:gd name="T32" fmla="*/ 320 w 325"/>
                <a:gd name="T33" fmla="*/ 38 h 178"/>
                <a:gd name="T34" fmla="*/ 321 w 325"/>
                <a:gd name="T35" fmla="*/ 44 h 178"/>
                <a:gd name="T36" fmla="*/ 325 w 325"/>
                <a:gd name="T37" fmla="*/ 43 h 178"/>
                <a:gd name="T38" fmla="*/ 0 w 325"/>
                <a:gd name="T39" fmla="*/ 139 h 178"/>
                <a:gd name="T40" fmla="*/ 2 w 325"/>
                <a:gd name="T41" fmla="*/ 144 h 178"/>
                <a:gd name="T42" fmla="*/ 3 w 325"/>
                <a:gd name="T43" fmla="*/ 149 h 178"/>
                <a:gd name="T44" fmla="*/ 7 w 325"/>
                <a:gd name="T45" fmla="*/ 154 h 178"/>
                <a:gd name="T46" fmla="*/ 8 w 325"/>
                <a:gd name="T47" fmla="*/ 160 h 178"/>
                <a:gd name="T48" fmla="*/ 10 w 325"/>
                <a:gd name="T49" fmla="*/ 165 h 178"/>
                <a:gd name="T50" fmla="*/ 13 w 325"/>
                <a:gd name="T51" fmla="*/ 170 h 178"/>
                <a:gd name="T52" fmla="*/ 17 w 325"/>
                <a:gd name="T53" fmla="*/ 173 h 178"/>
                <a:gd name="T54" fmla="*/ 18 w 325"/>
                <a:gd name="T55" fmla="*/ 178 h 178"/>
                <a:gd name="T56" fmla="*/ 22 w 325"/>
                <a:gd name="T57" fmla="*/ 178 h 178"/>
                <a:gd name="T58" fmla="*/ 18 w 325"/>
                <a:gd name="T59" fmla="*/ 173 h 178"/>
                <a:gd name="T60" fmla="*/ 17 w 325"/>
                <a:gd name="T61" fmla="*/ 168 h 178"/>
                <a:gd name="T62" fmla="*/ 13 w 325"/>
                <a:gd name="T63" fmla="*/ 164 h 178"/>
                <a:gd name="T64" fmla="*/ 12 w 325"/>
                <a:gd name="T65" fmla="*/ 159 h 178"/>
                <a:gd name="T66" fmla="*/ 8 w 325"/>
                <a:gd name="T67" fmla="*/ 154 h 178"/>
                <a:gd name="T68" fmla="*/ 7 w 325"/>
                <a:gd name="T69" fmla="*/ 147 h 178"/>
                <a:gd name="T70" fmla="*/ 5 w 325"/>
                <a:gd name="T71" fmla="*/ 142 h 178"/>
                <a:gd name="T72" fmla="*/ 3 w 325"/>
                <a:gd name="T73" fmla="*/ 137 h 178"/>
                <a:gd name="T74" fmla="*/ 0 w 325"/>
                <a:gd name="T75" fmla="*/ 13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5" h="178">
                  <a:moveTo>
                    <a:pt x="325" y="43"/>
                  </a:moveTo>
                  <a:lnTo>
                    <a:pt x="323" y="36"/>
                  </a:lnTo>
                  <a:lnTo>
                    <a:pt x="320" y="31"/>
                  </a:lnTo>
                  <a:lnTo>
                    <a:pt x="318" y="26"/>
                  </a:lnTo>
                  <a:lnTo>
                    <a:pt x="316" y="19"/>
                  </a:lnTo>
                  <a:lnTo>
                    <a:pt x="313" y="15"/>
                  </a:lnTo>
                  <a:lnTo>
                    <a:pt x="311" y="10"/>
                  </a:lnTo>
                  <a:lnTo>
                    <a:pt x="308" y="5"/>
                  </a:lnTo>
                  <a:lnTo>
                    <a:pt x="305" y="0"/>
                  </a:lnTo>
                  <a:lnTo>
                    <a:pt x="301" y="1"/>
                  </a:lnTo>
                  <a:lnTo>
                    <a:pt x="305" y="6"/>
                  </a:lnTo>
                  <a:lnTo>
                    <a:pt x="308" y="11"/>
                  </a:lnTo>
                  <a:lnTo>
                    <a:pt x="310" y="16"/>
                  </a:lnTo>
                  <a:lnTo>
                    <a:pt x="313" y="21"/>
                  </a:lnTo>
                  <a:lnTo>
                    <a:pt x="315" y="28"/>
                  </a:lnTo>
                  <a:lnTo>
                    <a:pt x="318" y="33"/>
                  </a:lnTo>
                  <a:lnTo>
                    <a:pt x="320" y="38"/>
                  </a:lnTo>
                  <a:lnTo>
                    <a:pt x="321" y="44"/>
                  </a:lnTo>
                  <a:lnTo>
                    <a:pt x="325" y="43"/>
                  </a:lnTo>
                  <a:close/>
                  <a:moveTo>
                    <a:pt x="0" y="139"/>
                  </a:moveTo>
                  <a:lnTo>
                    <a:pt x="2" y="144"/>
                  </a:lnTo>
                  <a:lnTo>
                    <a:pt x="3" y="149"/>
                  </a:lnTo>
                  <a:lnTo>
                    <a:pt x="7" y="154"/>
                  </a:lnTo>
                  <a:lnTo>
                    <a:pt x="8" y="160"/>
                  </a:lnTo>
                  <a:lnTo>
                    <a:pt x="10" y="165"/>
                  </a:lnTo>
                  <a:lnTo>
                    <a:pt x="13" y="170"/>
                  </a:lnTo>
                  <a:lnTo>
                    <a:pt x="17" y="173"/>
                  </a:lnTo>
                  <a:lnTo>
                    <a:pt x="18" y="178"/>
                  </a:lnTo>
                  <a:lnTo>
                    <a:pt x="22" y="178"/>
                  </a:lnTo>
                  <a:lnTo>
                    <a:pt x="18" y="173"/>
                  </a:lnTo>
                  <a:lnTo>
                    <a:pt x="17" y="168"/>
                  </a:lnTo>
                  <a:lnTo>
                    <a:pt x="13" y="164"/>
                  </a:lnTo>
                  <a:lnTo>
                    <a:pt x="12" y="159"/>
                  </a:lnTo>
                  <a:lnTo>
                    <a:pt x="8" y="154"/>
                  </a:lnTo>
                  <a:lnTo>
                    <a:pt x="7" y="147"/>
                  </a:lnTo>
                  <a:lnTo>
                    <a:pt x="5" y="142"/>
                  </a:lnTo>
                  <a:lnTo>
                    <a:pt x="3" y="137"/>
                  </a:lnTo>
                  <a:lnTo>
                    <a:pt x="0" y="139"/>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29" name="Freeform 571">
              <a:extLst>
                <a:ext uri="{FF2B5EF4-FFF2-40B4-BE49-F238E27FC236}">
                  <a16:creationId xmlns:a16="http://schemas.microsoft.com/office/drawing/2014/main" id="{56CA63C6-6F0E-15AD-7AA1-F5950DE87F7A}"/>
                </a:ext>
              </a:extLst>
            </p:cNvPr>
            <p:cNvSpPr>
              <a:spLocks noEditPoints="1"/>
            </p:cNvSpPr>
            <p:nvPr/>
          </p:nvSpPr>
          <p:spPr bwMode="auto">
            <a:xfrm>
              <a:off x="2057" y="1550"/>
              <a:ext cx="321" cy="177"/>
            </a:xfrm>
            <a:custGeom>
              <a:avLst/>
              <a:gdLst>
                <a:gd name="T0" fmla="*/ 321 w 321"/>
                <a:gd name="T1" fmla="*/ 42 h 177"/>
                <a:gd name="T2" fmla="*/ 319 w 321"/>
                <a:gd name="T3" fmla="*/ 37 h 177"/>
                <a:gd name="T4" fmla="*/ 316 w 321"/>
                <a:gd name="T5" fmla="*/ 30 h 177"/>
                <a:gd name="T6" fmla="*/ 314 w 321"/>
                <a:gd name="T7" fmla="*/ 25 h 177"/>
                <a:gd name="T8" fmla="*/ 313 w 321"/>
                <a:gd name="T9" fmla="*/ 20 h 177"/>
                <a:gd name="T10" fmla="*/ 309 w 321"/>
                <a:gd name="T11" fmla="*/ 15 h 177"/>
                <a:gd name="T12" fmla="*/ 308 w 321"/>
                <a:gd name="T13" fmla="*/ 10 h 177"/>
                <a:gd name="T14" fmla="*/ 304 w 321"/>
                <a:gd name="T15" fmla="*/ 5 h 177"/>
                <a:gd name="T16" fmla="*/ 301 w 321"/>
                <a:gd name="T17" fmla="*/ 0 h 177"/>
                <a:gd name="T18" fmla="*/ 298 w 321"/>
                <a:gd name="T19" fmla="*/ 0 h 177"/>
                <a:gd name="T20" fmla="*/ 301 w 321"/>
                <a:gd name="T21" fmla="*/ 5 h 177"/>
                <a:gd name="T22" fmla="*/ 304 w 321"/>
                <a:gd name="T23" fmla="*/ 10 h 177"/>
                <a:gd name="T24" fmla="*/ 308 w 321"/>
                <a:gd name="T25" fmla="*/ 17 h 177"/>
                <a:gd name="T26" fmla="*/ 309 w 321"/>
                <a:gd name="T27" fmla="*/ 22 h 177"/>
                <a:gd name="T28" fmla="*/ 311 w 321"/>
                <a:gd name="T29" fmla="*/ 27 h 177"/>
                <a:gd name="T30" fmla="*/ 314 w 321"/>
                <a:gd name="T31" fmla="*/ 32 h 177"/>
                <a:gd name="T32" fmla="*/ 316 w 321"/>
                <a:gd name="T33" fmla="*/ 38 h 177"/>
                <a:gd name="T34" fmla="*/ 318 w 321"/>
                <a:gd name="T35" fmla="*/ 43 h 177"/>
                <a:gd name="T36" fmla="*/ 321 w 321"/>
                <a:gd name="T37" fmla="*/ 42 h 177"/>
                <a:gd name="T38" fmla="*/ 0 w 321"/>
                <a:gd name="T39" fmla="*/ 136 h 177"/>
                <a:gd name="T40" fmla="*/ 1 w 321"/>
                <a:gd name="T41" fmla="*/ 143 h 177"/>
                <a:gd name="T42" fmla="*/ 3 w 321"/>
                <a:gd name="T43" fmla="*/ 148 h 177"/>
                <a:gd name="T44" fmla="*/ 6 w 321"/>
                <a:gd name="T45" fmla="*/ 153 h 177"/>
                <a:gd name="T46" fmla="*/ 8 w 321"/>
                <a:gd name="T47" fmla="*/ 158 h 177"/>
                <a:gd name="T48" fmla="*/ 10 w 321"/>
                <a:gd name="T49" fmla="*/ 163 h 177"/>
                <a:gd name="T50" fmla="*/ 13 w 321"/>
                <a:gd name="T51" fmla="*/ 167 h 177"/>
                <a:gd name="T52" fmla="*/ 16 w 321"/>
                <a:gd name="T53" fmla="*/ 172 h 177"/>
                <a:gd name="T54" fmla="*/ 18 w 321"/>
                <a:gd name="T55" fmla="*/ 177 h 177"/>
                <a:gd name="T56" fmla="*/ 21 w 321"/>
                <a:gd name="T57" fmla="*/ 176 h 177"/>
                <a:gd name="T58" fmla="*/ 18 w 321"/>
                <a:gd name="T59" fmla="*/ 171 h 177"/>
                <a:gd name="T60" fmla="*/ 16 w 321"/>
                <a:gd name="T61" fmla="*/ 166 h 177"/>
                <a:gd name="T62" fmla="*/ 13 w 321"/>
                <a:gd name="T63" fmla="*/ 161 h 177"/>
                <a:gd name="T64" fmla="*/ 11 w 321"/>
                <a:gd name="T65" fmla="*/ 156 h 177"/>
                <a:gd name="T66" fmla="*/ 8 w 321"/>
                <a:gd name="T67" fmla="*/ 151 h 177"/>
                <a:gd name="T68" fmla="*/ 6 w 321"/>
                <a:gd name="T69" fmla="*/ 146 h 177"/>
                <a:gd name="T70" fmla="*/ 5 w 321"/>
                <a:gd name="T71" fmla="*/ 141 h 177"/>
                <a:gd name="T72" fmla="*/ 3 w 321"/>
                <a:gd name="T73" fmla="*/ 136 h 177"/>
                <a:gd name="T74" fmla="*/ 0 w 321"/>
                <a:gd name="T75" fmla="*/ 136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1" h="177">
                  <a:moveTo>
                    <a:pt x="321" y="42"/>
                  </a:moveTo>
                  <a:lnTo>
                    <a:pt x="319" y="37"/>
                  </a:lnTo>
                  <a:lnTo>
                    <a:pt x="316" y="30"/>
                  </a:lnTo>
                  <a:lnTo>
                    <a:pt x="314" y="25"/>
                  </a:lnTo>
                  <a:lnTo>
                    <a:pt x="313" y="20"/>
                  </a:lnTo>
                  <a:lnTo>
                    <a:pt x="309" y="15"/>
                  </a:lnTo>
                  <a:lnTo>
                    <a:pt x="308" y="10"/>
                  </a:lnTo>
                  <a:lnTo>
                    <a:pt x="304" y="5"/>
                  </a:lnTo>
                  <a:lnTo>
                    <a:pt x="301" y="0"/>
                  </a:lnTo>
                  <a:lnTo>
                    <a:pt x="298" y="0"/>
                  </a:lnTo>
                  <a:lnTo>
                    <a:pt x="301" y="5"/>
                  </a:lnTo>
                  <a:lnTo>
                    <a:pt x="304" y="10"/>
                  </a:lnTo>
                  <a:lnTo>
                    <a:pt x="308" y="17"/>
                  </a:lnTo>
                  <a:lnTo>
                    <a:pt x="309" y="22"/>
                  </a:lnTo>
                  <a:lnTo>
                    <a:pt x="311" y="27"/>
                  </a:lnTo>
                  <a:lnTo>
                    <a:pt x="314" y="32"/>
                  </a:lnTo>
                  <a:lnTo>
                    <a:pt x="316" y="38"/>
                  </a:lnTo>
                  <a:lnTo>
                    <a:pt x="318" y="43"/>
                  </a:lnTo>
                  <a:lnTo>
                    <a:pt x="321" y="42"/>
                  </a:lnTo>
                  <a:close/>
                  <a:moveTo>
                    <a:pt x="0" y="136"/>
                  </a:moveTo>
                  <a:lnTo>
                    <a:pt x="1" y="143"/>
                  </a:lnTo>
                  <a:lnTo>
                    <a:pt x="3" y="148"/>
                  </a:lnTo>
                  <a:lnTo>
                    <a:pt x="6" y="153"/>
                  </a:lnTo>
                  <a:lnTo>
                    <a:pt x="8" y="158"/>
                  </a:lnTo>
                  <a:lnTo>
                    <a:pt x="10" y="163"/>
                  </a:lnTo>
                  <a:lnTo>
                    <a:pt x="13" y="167"/>
                  </a:lnTo>
                  <a:lnTo>
                    <a:pt x="16" y="172"/>
                  </a:lnTo>
                  <a:lnTo>
                    <a:pt x="18" y="177"/>
                  </a:lnTo>
                  <a:lnTo>
                    <a:pt x="21" y="176"/>
                  </a:lnTo>
                  <a:lnTo>
                    <a:pt x="18" y="171"/>
                  </a:lnTo>
                  <a:lnTo>
                    <a:pt x="16" y="166"/>
                  </a:lnTo>
                  <a:lnTo>
                    <a:pt x="13" y="161"/>
                  </a:lnTo>
                  <a:lnTo>
                    <a:pt x="11" y="156"/>
                  </a:lnTo>
                  <a:lnTo>
                    <a:pt x="8" y="151"/>
                  </a:lnTo>
                  <a:lnTo>
                    <a:pt x="6" y="146"/>
                  </a:lnTo>
                  <a:lnTo>
                    <a:pt x="5" y="141"/>
                  </a:lnTo>
                  <a:lnTo>
                    <a:pt x="3" y="136"/>
                  </a:lnTo>
                  <a:lnTo>
                    <a:pt x="0" y="136"/>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30" name="Freeform 572">
              <a:extLst>
                <a:ext uri="{FF2B5EF4-FFF2-40B4-BE49-F238E27FC236}">
                  <a16:creationId xmlns:a16="http://schemas.microsoft.com/office/drawing/2014/main" id="{F0C70918-1026-0D02-4149-B9BA4A435F36}"/>
                </a:ext>
              </a:extLst>
            </p:cNvPr>
            <p:cNvSpPr>
              <a:spLocks noEditPoints="1"/>
            </p:cNvSpPr>
            <p:nvPr/>
          </p:nvSpPr>
          <p:spPr bwMode="auto">
            <a:xfrm>
              <a:off x="2058" y="1550"/>
              <a:ext cx="318" cy="177"/>
            </a:xfrm>
            <a:custGeom>
              <a:avLst/>
              <a:gdLst>
                <a:gd name="T0" fmla="*/ 318 w 318"/>
                <a:gd name="T1" fmla="*/ 43 h 177"/>
                <a:gd name="T2" fmla="*/ 317 w 318"/>
                <a:gd name="T3" fmla="*/ 37 h 177"/>
                <a:gd name="T4" fmla="*/ 315 w 318"/>
                <a:gd name="T5" fmla="*/ 32 h 177"/>
                <a:gd name="T6" fmla="*/ 312 w 318"/>
                <a:gd name="T7" fmla="*/ 27 h 177"/>
                <a:gd name="T8" fmla="*/ 310 w 318"/>
                <a:gd name="T9" fmla="*/ 20 h 177"/>
                <a:gd name="T10" fmla="*/ 307 w 318"/>
                <a:gd name="T11" fmla="*/ 15 h 177"/>
                <a:gd name="T12" fmla="*/ 305 w 318"/>
                <a:gd name="T13" fmla="*/ 10 h 177"/>
                <a:gd name="T14" fmla="*/ 302 w 318"/>
                <a:gd name="T15" fmla="*/ 5 h 177"/>
                <a:gd name="T16" fmla="*/ 298 w 318"/>
                <a:gd name="T17" fmla="*/ 0 h 177"/>
                <a:gd name="T18" fmla="*/ 295 w 318"/>
                <a:gd name="T19" fmla="*/ 2 h 177"/>
                <a:gd name="T20" fmla="*/ 298 w 318"/>
                <a:gd name="T21" fmla="*/ 7 h 177"/>
                <a:gd name="T22" fmla="*/ 302 w 318"/>
                <a:gd name="T23" fmla="*/ 12 h 177"/>
                <a:gd name="T24" fmla="*/ 305 w 318"/>
                <a:gd name="T25" fmla="*/ 17 h 177"/>
                <a:gd name="T26" fmla="*/ 307 w 318"/>
                <a:gd name="T27" fmla="*/ 22 h 177"/>
                <a:gd name="T28" fmla="*/ 308 w 318"/>
                <a:gd name="T29" fmla="*/ 27 h 177"/>
                <a:gd name="T30" fmla="*/ 312 w 318"/>
                <a:gd name="T31" fmla="*/ 33 h 177"/>
                <a:gd name="T32" fmla="*/ 313 w 318"/>
                <a:gd name="T33" fmla="*/ 38 h 177"/>
                <a:gd name="T34" fmla="*/ 315 w 318"/>
                <a:gd name="T35" fmla="*/ 43 h 177"/>
                <a:gd name="T36" fmla="*/ 318 w 318"/>
                <a:gd name="T37" fmla="*/ 43 h 177"/>
                <a:gd name="T38" fmla="*/ 0 w 318"/>
                <a:gd name="T39" fmla="*/ 136 h 177"/>
                <a:gd name="T40" fmla="*/ 2 w 318"/>
                <a:gd name="T41" fmla="*/ 141 h 177"/>
                <a:gd name="T42" fmla="*/ 4 w 318"/>
                <a:gd name="T43" fmla="*/ 146 h 177"/>
                <a:gd name="T44" fmla="*/ 5 w 318"/>
                <a:gd name="T45" fmla="*/ 153 h 177"/>
                <a:gd name="T46" fmla="*/ 9 w 318"/>
                <a:gd name="T47" fmla="*/ 158 h 177"/>
                <a:gd name="T48" fmla="*/ 10 w 318"/>
                <a:gd name="T49" fmla="*/ 163 h 177"/>
                <a:gd name="T50" fmla="*/ 14 w 318"/>
                <a:gd name="T51" fmla="*/ 167 h 177"/>
                <a:gd name="T52" fmla="*/ 15 w 318"/>
                <a:gd name="T53" fmla="*/ 172 h 177"/>
                <a:gd name="T54" fmla="*/ 19 w 318"/>
                <a:gd name="T55" fmla="*/ 177 h 177"/>
                <a:gd name="T56" fmla="*/ 22 w 318"/>
                <a:gd name="T57" fmla="*/ 176 h 177"/>
                <a:gd name="T58" fmla="*/ 19 w 318"/>
                <a:gd name="T59" fmla="*/ 171 h 177"/>
                <a:gd name="T60" fmla="*/ 17 w 318"/>
                <a:gd name="T61" fmla="*/ 166 h 177"/>
                <a:gd name="T62" fmla="*/ 14 w 318"/>
                <a:gd name="T63" fmla="*/ 161 h 177"/>
                <a:gd name="T64" fmla="*/ 12 w 318"/>
                <a:gd name="T65" fmla="*/ 156 h 177"/>
                <a:gd name="T66" fmla="*/ 9 w 318"/>
                <a:gd name="T67" fmla="*/ 151 h 177"/>
                <a:gd name="T68" fmla="*/ 7 w 318"/>
                <a:gd name="T69" fmla="*/ 146 h 177"/>
                <a:gd name="T70" fmla="*/ 5 w 318"/>
                <a:gd name="T71" fmla="*/ 139 h 177"/>
                <a:gd name="T72" fmla="*/ 4 w 318"/>
                <a:gd name="T73" fmla="*/ 134 h 177"/>
                <a:gd name="T74" fmla="*/ 0 w 318"/>
                <a:gd name="T75" fmla="*/ 136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18" h="177">
                  <a:moveTo>
                    <a:pt x="318" y="43"/>
                  </a:moveTo>
                  <a:lnTo>
                    <a:pt x="317" y="37"/>
                  </a:lnTo>
                  <a:lnTo>
                    <a:pt x="315" y="32"/>
                  </a:lnTo>
                  <a:lnTo>
                    <a:pt x="312" y="27"/>
                  </a:lnTo>
                  <a:lnTo>
                    <a:pt x="310" y="20"/>
                  </a:lnTo>
                  <a:lnTo>
                    <a:pt x="307" y="15"/>
                  </a:lnTo>
                  <a:lnTo>
                    <a:pt x="305" y="10"/>
                  </a:lnTo>
                  <a:lnTo>
                    <a:pt x="302" y="5"/>
                  </a:lnTo>
                  <a:lnTo>
                    <a:pt x="298" y="0"/>
                  </a:lnTo>
                  <a:lnTo>
                    <a:pt x="295" y="2"/>
                  </a:lnTo>
                  <a:lnTo>
                    <a:pt x="298" y="7"/>
                  </a:lnTo>
                  <a:lnTo>
                    <a:pt x="302" y="12"/>
                  </a:lnTo>
                  <a:lnTo>
                    <a:pt x="305" y="17"/>
                  </a:lnTo>
                  <a:lnTo>
                    <a:pt x="307" y="22"/>
                  </a:lnTo>
                  <a:lnTo>
                    <a:pt x="308" y="27"/>
                  </a:lnTo>
                  <a:lnTo>
                    <a:pt x="312" y="33"/>
                  </a:lnTo>
                  <a:lnTo>
                    <a:pt x="313" y="38"/>
                  </a:lnTo>
                  <a:lnTo>
                    <a:pt x="315" y="43"/>
                  </a:lnTo>
                  <a:lnTo>
                    <a:pt x="318" y="43"/>
                  </a:lnTo>
                  <a:close/>
                  <a:moveTo>
                    <a:pt x="0" y="136"/>
                  </a:moveTo>
                  <a:lnTo>
                    <a:pt x="2" y="141"/>
                  </a:lnTo>
                  <a:lnTo>
                    <a:pt x="4" y="146"/>
                  </a:lnTo>
                  <a:lnTo>
                    <a:pt x="5" y="153"/>
                  </a:lnTo>
                  <a:lnTo>
                    <a:pt x="9" y="158"/>
                  </a:lnTo>
                  <a:lnTo>
                    <a:pt x="10" y="163"/>
                  </a:lnTo>
                  <a:lnTo>
                    <a:pt x="14" y="167"/>
                  </a:lnTo>
                  <a:lnTo>
                    <a:pt x="15" y="172"/>
                  </a:lnTo>
                  <a:lnTo>
                    <a:pt x="19" y="177"/>
                  </a:lnTo>
                  <a:lnTo>
                    <a:pt x="22" y="176"/>
                  </a:lnTo>
                  <a:lnTo>
                    <a:pt x="19" y="171"/>
                  </a:lnTo>
                  <a:lnTo>
                    <a:pt x="17" y="166"/>
                  </a:lnTo>
                  <a:lnTo>
                    <a:pt x="14" y="161"/>
                  </a:lnTo>
                  <a:lnTo>
                    <a:pt x="12" y="156"/>
                  </a:lnTo>
                  <a:lnTo>
                    <a:pt x="9" y="151"/>
                  </a:lnTo>
                  <a:lnTo>
                    <a:pt x="7" y="146"/>
                  </a:lnTo>
                  <a:lnTo>
                    <a:pt x="5" y="139"/>
                  </a:lnTo>
                  <a:lnTo>
                    <a:pt x="4" y="134"/>
                  </a:lnTo>
                  <a:lnTo>
                    <a:pt x="0" y="136"/>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31" name="Freeform 573">
              <a:extLst>
                <a:ext uri="{FF2B5EF4-FFF2-40B4-BE49-F238E27FC236}">
                  <a16:creationId xmlns:a16="http://schemas.microsoft.com/office/drawing/2014/main" id="{336796FB-EF54-253E-3014-ABF4D5916D53}"/>
                </a:ext>
              </a:extLst>
            </p:cNvPr>
            <p:cNvSpPr>
              <a:spLocks noEditPoints="1"/>
            </p:cNvSpPr>
            <p:nvPr/>
          </p:nvSpPr>
          <p:spPr bwMode="auto">
            <a:xfrm>
              <a:off x="2060" y="1550"/>
              <a:ext cx="315" cy="176"/>
            </a:xfrm>
            <a:custGeom>
              <a:avLst/>
              <a:gdLst>
                <a:gd name="T0" fmla="*/ 315 w 315"/>
                <a:gd name="T1" fmla="*/ 43 h 176"/>
                <a:gd name="T2" fmla="*/ 313 w 315"/>
                <a:gd name="T3" fmla="*/ 38 h 176"/>
                <a:gd name="T4" fmla="*/ 311 w 315"/>
                <a:gd name="T5" fmla="*/ 32 h 176"/>
                <a:gd name="T6" fmla="*/ 308 w 315"/>
                <a:gd name="T7" fmla="*/ 27 h 176"/>
                <a:gd name="T8" fmla="*/ 306 w 315"/>
                <a:gd name="T9" fmla="*/ 22 h 176"/>
                <a:gd name="T10" fmla="*/ 305 w 315"/>
                <a:gd name="T11" fmla="*/ 17 h 176"/>
                <a:gd name="T12" fmla="*/ 301 w 315"/>
                <a:gd name="T13" fmla="*/ 10 h 176"/>
                <a:gd name="T14" fmla="*/ 298 w 315"/>
                <a:gd name="T15" fmla="*/ 5 h 176"/>
                <a:gd name="T16" fmla="*/ 295 w 315"/>
                <a:gd name="T17" fmla="*/ 0 h 176"/>
                <a:gd name="T18" fmla="*/ 293 w 315"/>
                <a:gd name="T19" fmla="*/ 2 h 176"/>
                <a:gd name="T20" fmla="*/ 295 w 315"/>
                <a:gd name="T21" fmla="*/ 7 h 176"/>
                <a:gd name="T22" fmla="*/ 298 w 315"/>
                <a:gd name="T23" fmla="*/ 12 h 176"/>
                <a:gd name="T24" fmla="*/ 301 w 315"/>
                <a:gd name="T25" fmla="*/ 17 h 176"/>
                <a:gd name="T26" fmla="*/ 303 w 315"/>
                <a:gd name="T27" fmla="*/ 23 h 176"/>
                <a:gd name="T28" fmla="*/ 306 w 315"/>
                <a:gd name="T29" fmla="*/ 28 h 176"/>
                <a:gd name="T30" fmla="*/ 308 w 315"/>
                <a:gd name="T31" fmla="*/ 33 h 176"/>
                <a:gd name="T32" fmla="*/ 310 w 315"/>
                <a:gd name="T33" fmla="*/ 38 h 176"/>
                <a:gd name="T34" fmla="*/ 311 w 315"/>
                <a:gd name="T35" fmla="*/ 45 h 176"/>
                <a:gd name="T36" fmla="*/ 315 w 315"/>
                <a:gd name="T37" fmla="*/ 43 h 176"/>
                <a:gd name="T38" fmla="*/ 0 w 315"/>
                <a:gd name="T39" fmla="*/ 136 h 176"/>
                <a:gd name="T40" fmla="*/ 2 w 315"/>
                <a:gd name="T41" fmla="*/ 141 h 176"/>
                <a:gd name="T42" fmla="*/ 3 w 315"/>
                <a:gd name="T43" fmla="*/ 146 h 176"/>
                <a:gd name="T44" fmla="*/ 5 w 315"/>
                <a:gd name="T45" fmla="*/ 151 h 176"/>
                <a:gd name="T46" fmla="*/ 8 w 315"/>
                <a:gd name="T47" fmla="*/ 156 h 176"/>
                <a:gd name="T48" fmla="*/ 10 w 315"/>
                <a:gd name="T49" fmla="*/ 161 h 176"/>
                <a:gd name="T50" fmla="*/ 13 w 315"/>
                <a:gd name="T51" fmla="*/ 166 h 176"/>
                <a:gd name="T52" fmla="*/ 15 w 315"/>
                <a:gd name="T53" fmla="*/ 171 h 176"/>
                <a:gd name="T54" fmla="*/ 18 w 315"/>
                <a:gd name="T55" fmla="*/ 176 h 176"/>
                <a:gd name="T56" fmla="*/ 22 w 315"/>
                <a:gd name="T57" fmla="*/ 174 h 176"/>
                <a:gd name="T58" fmla="*/ 18 w 315"/>
                <a:gd name="T59" fmla="*/ 169 h 176"/>
                <a:gd name="T60" fmla="*/ 17 w 315"/>
                <a:gd name="T61" fmla="*/ 166 h 176"/>
                <a:gd name="T62" fmla="*/ 13 w 315"/>
                <a:gd name="T63" fmla="*/ 161 h 176"/>
                <a:gd name="T64" fmla="*/ 12 w 315"/>
                <a:gd name="T65" fmla="*/ 154 h 176"/>
                <a:gd name="T66" fmla="*/ 8 w 315"/>
                <a:gd name="T67" fmla="*/ 149 h 176"/>
                <a:gd name="T68" fmla="*/ 7 w 315"/>
                <a:gd name="T69" fmla="*/ 144 h 176"/>
                <a:gd name="T70" fmla="*/ 5 w 315"/>
                <a:gd name="T71" fmla="*/ 139 h 176"/>
                <a:gd name="T72" fmla="*/ 3 w 315"/>
                <a:gd name="T73" fmla="*/ 134 h 176"/>
                <a:gd name="T74" fmla="*/ 0 w 315"/>
                <a:gd name="T75" fmla="*/ 136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15" h="176">
                  <a:moveTo>
                    <a:pt x="315" y="43"/>
                  </a:moveTo>
                  <a:lnTo>
                    <a:pt x="313" y="38"/>
                  </a:lnTo>
                  <a:lnTo>
                    <a:pt x="311" y="32"/>
                  </a:lnTo>
                  <a:lnTo>
                    <a:pt x="308" y="27"/>
                  </a:lnTo>
                  <a:lnTo>
                    <a:pt x="306" y="22"/>
                  </a:lnTo>
                  <a:lnTo>
                    <a:pt x="305" y="17"/>
                  </a:lnTo>
                  <a:lnTo>
                    <a:pt x="301" y="10"/>
                  </a:lnTo>
                  <a:lnTo>
                    <a:pt x="298" y="5"/>
                  </a:lnTo>
                  <a:lnTo>
                    <a:pt x="295" y="0"/>
                  </a:lnTo>
                  <a:lnTo>
                    <a:pt x="293" y="2"/>
                  </a:lnTo>
                  <a:lnTo>
                    <a:pt x="295" y="7"/>
                  </a:lnTo>
                  <a:lnTo>
                    <a:pt x="298" y="12"/>
                  </a:lnTo>
                  <a:lnTo>
                    <a:pt x="301" y="17"/>
                  </a:lnTo>
                  <a:lnTo>
                    <a:pt x="303" y="23"/>
                  </a:lnTo>
                  <a:lnTo>
                    <a:pt x="306" y="28"/>
                  </a:lnTo>
                  <a:lnTo>
                    <a:pt x="308" y="33"/>
                  </a:lnTo>
                  <a:lnTo>
                    <a:pt x="310" y="38"/>
                  </a:lnTo>
                  <a:lnTo>
                    <a:pt x="311" y="45"/>
                  </a:lnTo>
                  <a:lnTo>
                    <a:pt x="315" y="43"/>
                  </a:lnTo>
                  <a:close/>
                  <a:moveTo>
                    <a:pt x="0" y="136"/>
                  </a:moveTo>
                  <a:lnTo>
                    <a:pt x="2" y="141"/>
                  </a:lnTo>
                  <a:lnTo>
                    <a:pt x="3" y="146"/>
                  </a:lnTo>
                  <a:lnTo>
                    <a:pt x="5" y="151"/>
                  </a:lnTo>
                  <a:lnTo>
                    <a:pt x="8" y="156"/>
                  </a:lnTo>
                  <a:lnTo>
                    <a:pt x="10" y="161"/>
                  </a:lnTo>
                  <a:lnTo>
                    <a:pt x="13" y="166"/>
                  </a:lnTo>
                  <a:lnTo>
                    <a:pt x="15" y="171"/>
                  </a:lnTo>
                  <a:lnTo>
                    <a:pt x="18" y="176"/>
                  </a:lnTo>
                  <a:lnTo>
                    <a:pt x="22" y="174"/>
                  </a:lnTo>
                  <a:lnTo>
                    <a:pt x="18" y="169"/>
                  </a:lnTo>
                  <a:lnTo>
                    <a:pt x="17" y="166"/>
                  </a:lnTo>
                  <a:lnTo>
                    <a:pt x="13" y="161"/>
                  </a:lnTo>
                  <a:lnTo>
                    <a:pt x="12" y="154"/>
                  </a:lnTo>
                  <a:lnTo>
                    <a:pt x="8" y="149"/>
                  </a:lnTo>
                  <a:lnTo>
                    <a:pt x="7" y="144"/>
                  </a:lnTo>
                  <a:lnTo>
                    <a:pt x="5" y="139"/>
                  </a:lnTo>
                  <a:lnTo>
                    <a:pt x="3" y="134"/>
                  </a:lnTo>
                  <a:lnTo>
                    <a:pt x="0" y="136"/>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32" name="Freeform 574">
              <a:extLst>
                <a:ext uri="{FF2B5EF4-FFF2-40B4-BE49-F238E27FC236}">
                  <a16:creationId xmlns:a16="http://schemas.microsoft.com/office/drawing/2014/main" id="{7A9E84E1-CD94-70E3-830E-93EE5D9B230E}"/>
                </a:ext>
              </a:extLst>
            </p:cNvPr>
            <p:cNvSpPr>
              <a:spLocks noEditPoints="1"/>
            </p:cNvSpPr>
            <p:nvPr/>
          </p:nvSpPr>
          <p:spPr bwMode="auto">
            <a:xfrm>
              <a:off x="2062" y="1552"/>
              <a:ext cx="311" cy="174"/>
            </a:xfrm>
            <a:custGeom>
              <a:avLst/>
              <a:gdLst>
                <a:gd name="T0" fmla="*/ 311 w 311"/>
                <a:gd name="T1" fmla="*/ 41 h 174"/>
                <a:gd name="T2" fmla="*/ 309 w 311"/>
                <a:gd name="T3" fmla="*/ 36 h 174"/>
                <a:gd name="T4" fmla="*/ 308 w 311"/>
                <a:gd name="T5" fmla="*/ 31 h 174"/>
                <a:gd name="T6" fmla="*/ 304 w 311"/>
                <a:gd name="T7" fmla="*/ 25 h 174"/>
                <a:gd name="T8" fmla="*/ 303 w 311"/>
                <a:gd name="T9" fmla="*/ 20 h 174"/>
                <a:gd name="T10" fmla="*/ 301 w 311"/>
                <a:gd name="T11" fmla="*/ 15 h 174"/>
                <a:gd name="T12" fmla="*/ 298 w 311"/>
                <a:gd name="T13" fmla="*/ 10 h 174"/>
                <a:gd name="T14" fmla="*/ 294 w 311"/>
                <a:gd name="T15" fmla="*/ 5 h 174"/>
                <a:gd name="T16" fmla="*/ 291 w 311"/>
                <a:gd name="T17" fmla="*/ 0 h 174"/>
                <a:gd name="T18" fmla="*/ 289 w 311"/>
                <a:gd name="T19" fmla="*/ 2 h 174"/>
                <a:gd name="T20" fmla="*/ 291 w 311"/>
                <a:gd name="T21" fmla="*/ 7 h 174"/>
                <a:gd name="T22" fmla="*/ 294 w 311"/>
                <a:gd name="T23" fmla="*/ 12 h 174"/>
                <a:gd name="T24" fmla="*/ 298 w 311"/>
                <a:gd name="T25" fmla="*/ 16 h 174"/>
                <a:gd name="T26" fmla="*/ 299 w 311"/>
                <a:gd name="T27" fmla="*/ 21 h 174"/>
                <a:gd name="T28" fmla="*/ 303 w 311"/>
                <a:gd name="T29" fmla="*/ 26 h 174"/>
                <a:gd name="T30" fmla="*/ 304 w 311"/>
                <a:gd name="T31" fmla="*/ 31 h 174"/>
                <a:gd name="T32" fmla="*/ 306 w 311"/>
                <a:gd name="T33" fmla="*/ 38 h 174"/>
                <a:gd name="T34" fmla="*/ 308 w 311"/>
                <a:gd name="T35" fmla="*/ 43 h 174"/>
                <a:gd name="T36" fmla="*/ 311 w 311"/>
                <a:gd name="T37" fmla="*/ 41 h 174"/>
                <a:gd name="T38" fmla="*/ 0 w 311"/>
                <a:gd name="T39" fmla="*/ 132 h 174"/>
                <a:gd name="T40" fmla="*/ 1 w 311"/>
                <a:gd name="T41" fmla="*/ 137 h 174"/>
                <a:gd name="T42" fmla="*/ 3 w 311"/>
                <a:gd name="T43" fmla="*/ 144 h 174"/>
                <a:gd name="T44" fmla="*/ 5 w 311"/>
                <a:gd name="T45" fmla="*/ 149 h 174"/>
                <a:gd name="T46" fmla="*/ 8 w 311"/>
                <a:gd name="T47" fmla="*/ 154 h 174"/>
                <a:gd name="T48" fmla="*/ 10 w 311"/>
                <a:gd name="T49" fmla="*/ 159 h 174"/>
                <a:gd name="T50" fmla="*/ 13 w 311"/>
                <a:gd name="T51" fmla="*/ 164 h 174"/>
                <a:gd name="T52" fmla="*/ 15 w 311"/>
                <a:gd name="T53" fmla="*/ 169 h 174"/>
                <a:gd name="T54" fmla="*/ 18 w 311"/>
                <a:gd name="T55" fmla="*/ 174 h 174"/>
                <a:gd name="T56" fmla="*/ 21 w 311"/>
                <a:gd name="T57" fmla="*/ 172 h 174"/>
                <a:gd name="T58" fmla="*/ 18 w 311"/>
                <a:gd name="T59" fmla="*/ 167 h 174"/>
                <a:gd name="T60" fmla="*/ 15 w 311"/>
                <a:gd name="T61" fmla="*/ 162 h 174"/>
                <a:gd name="T62" fmla="*/ 13 w 311"/>
                <a:gd name="T63" fmla="*/ 157 h 174"/>
                <a:gd name="T64" fmla="*/ 10 w 311"/>
                <a:gd name="T65" fmla="*/ 152 h 174"/>
                <a:gd name="T66" fmla="*/ 8 w 311"/>
                <a:gd name="T67" fmla="*/ 147 h 174"/>
                <a:gd name="T68" fmla="*/ 6 w 311"/>
                <a:gd name="T69" fmla="*/ 142 h 174"/>
                <a:gd name="T70" fmla="*/ 5 w 311"/>
                <a:gd name="T71" fmla="*/ 137 h 174"/>
                <a:gd name="T72" fmla="*/ 3 w 311"/>
                <a:gd name="T73" fmla="*/ 131 h 174"/>
                <a:gd name="T74" fmla="*/ 0 w 311"/>
                <a:gd name="T75" fmla="*/ 132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11" h="174">
                  <a:moveTo>
                    <a:pt x="311" y="41"/>
                  </a:moveTo>
                  <a:lnTo>
                    <a:pt x="309" y="36"/>
                  </a:lnTo>
                  <a:lnTo>
                    <a:pt x="308" y="31"/>
                  </a:lnTo>
                  <a:lnTo>
                    <a:pt x="304" y="25"/>
                  </a:lnTo>
                  <a:lnTo>
                    <a:pt x="303" y="20"/>
                  </a:lnTo>
                  <a:lnTo>
                    <a:pt x="301" y="15"/>
                  </a:lnTo>
                  <a:lnTo>
                    <a:pt x="298" y="10"/>
                  </a:lnTo>
                  <a:lnTo>
                    <a:pt x="294" y="5"/>
                  </a:lnTo>
                  <a:lnTo>
                    <a:pt x="291" y="0"/>
                  </a:lnTo>
                  <a:lnTo>
                    <a:pt x="289" y="2"/>
                  </a:lnTo>
                  <a:lnTo>
                    <a:pt x="291" y="7"/>
                  </a:lnTo>
                  <a:lnTo>
                    <a:pt x="294" y="12"/>
                  </a:lnTo>
                  <a:lnTo>
                    <a:pt x="298" y="16"/>
                  </a:lnTo>
                  <a:lnTo>
                    <a:pt x="299" y="21"/>
                  </a:lnTo>
                  <a:lnTo>
                    <a:pt x="303" y="26"/>
                  </a:lnTo>
                  <a:lnTo>
                    <a:pt x="304" y="31"/>
                  </a:lnTo>
                  <a:lnTo>
                    <a:pt x="306" y="38"/>
                  </a:lnTo>
                  <a:lnTo>
                    <a:pt x="308" y="43"/>
                  </a:lnTo>
                  <a:lnTo>
                    <a:pt x="311" y="41"/>
                  </a:lnTo>
                  <a:close/>
                  <a:moveTo>
                    <a:pt x="0" y="132"/>
                  </a:moveTo>
                  <a:lnTo>
                    <a:pt x="1" y="137"/>
                  </a:lnTo>
                  <a:lnTo>
                    <a:pt x="3" y="144"/>
                  </a:lnTo>
                  <a:lnTo>
                    <a:pt x="5" y="149"/>
                  </a:lnTo>
                  <a:lnTo>
                    <a:pt x="8" y="154"/>
                  </a:lnTo>
                  <a:lnTo>
                    <a:pt x="10" y="159"/>
                  </a:lnTo>
                  <a:lnTo>
                    <a:pt x="13" y="164"/>
                  </a:lnTo>
                  <a:lnTo>
                    <a:pt x="15" y="169"/>
                  </a:lnTo>
                  <a:lnTo>
                    <a:pt x="18" y="174"/>
                  </a:lnTo>
                  <a:lnTo>
                    <a:pt x="21" y="172"/>
                  </a:lnTo>
                  <a:lnTo>
                    <a:pt x="18" y="167"/>
                  </a:lnTo>
                  <a:lnTo>
                    <a:pt x="15" y="162"/>
                  </a:lnTo>
                  <a:lnTo>
                    <a:pt x="13" y="157"/>
                  </a:lnTo>
                  <a:lnTo>
                    <a:pt x="10" y="152"/>
                  </a:lnTo>
                  <a:lnTo>
                    <a:pt x="8" y="147"/>
                  </a:lnTo>
                  <a:lnTo>
                    <a:pt x="6" y="142"/>
                  </a:lnTo>
                  <a:lnTo>
                    <a:pt x="5" y="137"/>
                  </a:lnTo>
                  <a:lnTo>
                    <a:pt x="3" y="131"/>
                  </a:lnTo>
                  <a:lnTo>
                    <a:pt x="0" y="132"/>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33" name="Freeform 575">
              <a:extLst>
                <a:ext uri="{FF2B5EF4-FFF2-40B4-BE49-F238E27FC236}">
                  <a16:creationId xmlns:a16="http://schemas.microsoft.com/office/drawing/2014/main" id="{E8F588FE-224C-F2CA-AB03-D1587D8EBC82}"/>
                </a:ext>
              </a:extLst>
            </p:cNvPr>
            <p:cNvSpPr>
              <a:spLocks noEditPoints="1"/>
            </p:cNvSpPr>
            <p:nvPr/>
          </p:nvSpPr>
          <p:spPr bwMode="auto">
            <a:xfrm>
              <a:off x="2063" y="1552"/>
              <a:ext cx="308" cy="172"/>
            </a:xfrm>
            <a:custGeom>
              <a:avLst/>
              <a:gdLst>
                <a:gd name="T0" fmla="*/ 308 w 308"/>
                <a:gd name="T1" fmla="*/ 43 h 172"/>
                <a:gd name="T2" fmla="*/ 307 w 308"/>
                <a:gd name="T3" fmla="*/ 36 h 172"/>
                <a:gd name="T4" fmla="*/ 305 w 308"/>
                <a:gd name="T5" fmla="*/ 31 h 172"/>
                <a:gd name="T6" fmla="*/ 303 w 308"/>
                <a:gd name="T7" fmla="*/ 26 h 172"/>
                <a:gd name="T8" fmla="*/ 300 w 308"/>
                <a:gd name="T9" fmla="*/ 21 h 172"/>
                <a:gd name="T10" fmla="*/ 298 w 308"/>
                <a:gd name="T11" fmla="*/ 15 h 172"/>
                <a:gd name="T12" fmla="*/ 295 w 308"/>
                <a:gd name="T13" fmla="*/ 10 h 172"/>
                <a:gd name="T14" fmla="*/ 292 w 308"/>
                <a:gd name="T15" fmla="*/ 5 h 172"/>
                <a:gd name="T16" fmla="*/ 290 w 308"/>
                <a:gd name="T17" fmla="*/ 0 h 172"/>
                <a:gd name="T18" fmla="*/ 287 w 308"/>
                <a:gd name="T19" fmla="*/ 2 h 172"/>
                <a:gd name="T20" fmla="*/ 290 w 308"/>
                <a:gd name="T21" fmla="*/ 7 h 172"/>
                <a:gd name="T22" fmla="*/ 292 w 308"/>
                <a:gd name="T23" fmla="*/ 12 h 172"/>
                <a:gd name="T24" fmla="*/ 295 w 308"/>
                <a:gd name="T25" fmla="*/ 16 h 172"/>
                <a:gd name="T26" fmla="*/ 297 w 308"/>
                <a:gd name="T27" fmla="*/ 21 h 172"/>
                <a:gd name="T28" fmla="*/ 300 w 308"/>
                <a:gd name="T29" fmla="*/ 28 h 172"/>
                <a:gd name="T30" fmla="*/ 302 w 308"/>
                <a:gd name="T31" fmla="*/ 33 h 172"/>
                <a:gd name="T32" fmla="*/ 303 w 308"/>
                <a:gd name="T33" fmla="*/ 38 h 172"/>
                <a:gd name="T34" fmla="*/ 305 w 308"/>
                <a:gd name="T35" fmla="*/ 45 h 172"/>
                <a:gd name="T36" fmla="*/ 308 w 308"/>
                <a:gd name="T37" fmla="*/ 43 h 172"/>
                <a:gd name="T38" fmla="*/ 0 w 308"/>
                <a:gd name="T39" fmla="*/ 132 h 172"/>
                <a:gd name="T40" fmla="*/ 2 w 308"/>
                <a:gd name="T41" fmla="*/ 137 h 172"/>
                <a:gd name="T42" fmla="*/ 4 w 308"/>
                <a:gd name="T43" fmla="*/ 142 h 172"/>
                <a:gd name="T44" fmla="*/ 5 w 308"/>
                <a:gd name="T45" fmla="*/ 147 h 172"/>
                <a:gd name="T46" fmla="*/ 9 w 308"/>
                <a:gd name="T47" fmla="*/ 152 h 172"/>
                <a:gd name="T48" fmla="*/ 10 w 308"/>
                <a:gd name="T49" fmla="*/ 159 h 172"/>
                <a:gd name="T50" fmla="*/ 14 w 308"/>
                <a:gd name="T51" fmla="*/ 164 h 172"/>
                <a:gd name="T52" fmla="*/ 15 w 308"/>
                <a:gd name="T53" fmla="*/ 167 h 172"/>
                <a:gd name="T54" fmla="*/ 19 w 308"/>
                <a:gd name="T55" fmla="*/ 172 h 172"/>
                <a:gd name="T56" fmla="*/ 22 w 308"/>
                <a:gd name="T57" fmla="*/ 170 h 172"/>
                <a:gd name="T58" fmla="*/ 19 w 308"/>
                <a:gd name="T59" fmla="*/ 167 h 172"/>
                <a:gd name="T60" fmla="*/ 15 w 308"/>
                <a:gd name="T61" fmla="*/ 162 h 172"/>
                <a:gd name="T62" fmla="*/ 14 w 308"/>
                <a:gd name="T63" fmla="*/ 157 h 172"/>
                <a:gd name="T64" fmla="*/ 10 w 308"/>
                <a:gd name="T65" fmla="*/ 152 h 172"/>
                <a:gd name="T66" fmla="*/ 9 w 308"/>
                <a:gd name="T67" fmla="*/ 147 h 172"/>
                <a:gd name="T68" fmla="*/ 7 w 308"/>
                <a:gd name="T69" fmla="*/ 141 h 172"/>
                <a:gd name="T70" fmla="*/ 5 w 308"/>
                <a:gd name="T71" fmla="*/ 136 h 172"/>
                <a:gd name="T72" fmla="*/ 4 w 308"/>
                <a:gd name="T73" fmla="*/ 131 h 172"/>
                <a:gd name="T74" fmla="*/ 0 w 308"/>
                <a:gd name="T75" fmla="*/ 132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08" h="172">
                  <a:moveTo>
                    <a:pt x="308" y="43"/>
                  </a:moveTo>
                  <a:lnTo>
                    <a:pt x="307" y="36"/>
                  </a:lnTo>
                  <a:lnTo>
                    <a:pt x="305" y="31"/>
                  </a:lnTo>
                  <a:lnTo>
                    <a:pt x="303" y="26"/>
                  </a:lnTo>
                  <a:lnTo>
                    <a:pt x="300" y="21"/>
                  </a:lnTo>
                  <a:lnTo>
                    <a:pt x="298" y="15"/>
                  </a:lnTo>
                  <a:lnTo>
                    <a:pt x="295" y="10"/>
                  </a:lnTo>
                  <a:lnTo>
                    <a:pt x="292" y="5"/>
                  </a:lnTo>
                  <a:lnTo>
                    <a:pt x="290" y="0"/>
                  </a:lnTo>
                  <a:lnTo>
                    <a:pt x="287" y="2"/>
                  </a:lnTo>
                  <a:lnTo>
                    <a:pt x="290" y="7"/>
                  </a:lnTo>
                  <a:lnTo>
                    <a:pt x="292" y="12"/>
                  </a:lnTo>
                  <a:lnTo>
                    <a:pt x="295" y="16"/>
                  </a:lnTo>
                  <a:lnTo>
                    <a:pt x="297" y="21"/>
                  </a:lnTo>
                  <a:lnTo>
                    <a:pt x="300" y="28"/>
                  </a:lnTo>
                  <a:lnTo>
                    <a:pt x="302" y="33"/>
                  </a:lnTo>
                  <a:lnTo>
                    <a:pt x="303" y="38"/>
                  </a:lnTo>
                  <a:lnTo>
                    <a:pt x="305" y="45"/>
                  </a:lnTo>
                  <a:lnTo>
                    <a:pt x="308" y="43"/>
                  </a:lnTo>
                  <a:close/>
                  <a:moveTo>
                    <a:pt x="0" y="132"/>
                  </a:moveTo>
                  <a:lnTo>
                    <a:pt x="2" y="137"/>
                  </a:lnTo>
                  <a:lnTo>
                    <a:pt x="4" y="142"/>
                  </a:lnTo>
                  <a:lnTo>
                    <a:pt x="5" y="147"/>
                  </a:lnTo>
                  <a:lnTo>
                    <a:pt x="9" y="152"/>
                  </a:lnTo>
                  <a:lnTo>
                    <a:pt x="10" y="159"/>
                  </a:lnTo>
                  <a:lnTo>
                    <a:pt x="14" y="164"/>
                  </a:lnTo>
                  <a:lnTo>
                    <a:pt x="15" y="167"/>
                  </a:lnTo>
                  <a:lnTo>
                    <a:pt x="19" y="172"/>
                  </a:lnTo>
                  <a:lnTo>
                    <a:pt x="22" y="170"/>
                  </a:lnTo>
                  <a:lnTo>
                    <a:pt x="19" y="167"/>
                  </a:lnTo>
                  <a:lnTo>
                    <a:pt x="15" y="162"/>
                  </a:lnTo>
                  <a:lnTo>
                    <a:pt x="14" y="157"/>
                  </a:lnTo>
                  <a:lnTo>
                    <a:pt x="10" y="152"/>
                  </a:lnTo>
                  <a:lnTo>
                    <a:pt x="9" y="147"/>
                  </a:lnTo>
                  <a:lnTo>
                    <a:pt x="7" y="141"/>
                  </a:lnTo>
                  <a:lnTo>
                    <a:pt x="5" y="136"/>
                  </a:lnTo>
                  <a:lnTo>
                    <a:pt x="4" y="131"/>
                  </a:lnTo>
                  <a:lnTo>
                    <a:pt x="0" y="132"/>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34" name="Freeform 576">
              <a:extLst>
                <a:ext uri="{FF2B5EF4-FFF2-40B4-BE49-F238E27FC236}">
                  <a16:creationId xmlns:a16="http://schemas.microsoft.com/office/drawing/2014/main" id="{626E664F-C13E-1BBA-A9DA-B8CC7DA4B2B0}"/>
                </a:ext>
              </a:extLst>
            </p:cNvPr>
            <p:cNvSpPr>
              <a:spLocks noEditPoints="1"/>
            </p:cNvSpPr>
            <p:nvPr/>
          </p:nvSpPr>
          <p:spPr bwMode="auto">
            <a:xfrm>
              <a:off x="2065" y="1554"/>
              <a:ext cx="305" cy="170"/>
            </a:xfrm>
            <a:custGeom>
              <a:avLst/>
              <a:gdLst>
                <a:gd name="T0" fmla="*/ 305 w 305"/>
                <a:gd name="T1" fmla="*/ 41 h 170"/>
                <a:gd name="T2" fmla="*/ 303 w 305"/>
                <a:gd name="T3" fmla="*/ 36 h 170"/>
                <a:gd name="T4" fmla="*/ 301 w 305"/>
                <a:gd name="T5" fmla="*/ 29 h 170"/>
                <a:gd name="T6" fmla="*/ 300 w 305"/>
                <a:gd name="T7" fmla="*/ 24 h 170"/>
                <a:gd name="T8" fmla="*/ 296 w 305"/>
                <a:gd name="T9" fmla="*/ 19 h 170"/>
                <a:gd name="T10" fmla="*/ 295 w 305"/>
                <a:gd name="T11" fmla="*/ 14 h 170"/>
                <a:gd name="T12" fmla="*/ 291 w 305"/>
                <a:gd name="T13" fmla="*/ 10 h 170"/>
                <a:gd name="T14" fmla="*/ 288 w 305"/>
                <a:gd name="T15" fmla="*/ 5 h 170"/>
                <a:gd name="T16" fmla="*/ 286 w 305"/>
                <a:gd name="T17" fmla="*/ 0 h 170"/>
                <a:gd name="T18" fmla="*/ 283 w 305"/>
                <a:gd name="T19" fmla="*/ 1 h 170"/>
                <a:gd name="T20" fmla="*/ 286 w 305"/>
                <a:gd name="T21" fmla="*/ 5 h 170"/>
                <a:gd name="T22" fmla="*/ 288 w 305"/>
                <a:gd name="T23" fmla="*/ 10 h 170"/>
                <a:gd name="T24" fmla="*/ 291 w 305"/>
                <a:gd name="T25" fmla="*/ 16 h 170"/>
                <a:gd name="T26" fmla="*/ 293 w 305"/>
                <a:gd name="T27" fmla="*/ 21 h 170"/>
                <a:gd name="T28" fmla="*/ 296 w 305"/>
                <a:gd name="T29" fmla="*/ 26 h 170"/>
                <a:gd name="T30" fmla="*/ 298 w 305"/>
                <a:gd name="T31" fmla="*/ 31 h 170"/>
                <a:gd name="T32" fmla="*/ 300 w 305"/>
                <a:gd name="T33" fmla="*/ 38 h 170"/>
                <a:gd name="T34" fmla="*/ 301 w 305"/>
                <a:gd name="T35" fmla="*/ 43 h 170"/>
                <a:gd name="T36" fmla="*/ 305 w 305"/>
                <a:gd name="T37" fmla="*/ 41 h 170"/>
                <a:gd name="T38" fmla="*/ 0 w 305"/>
                <a:gd name="T39" fmla="*/ 129 h 170"/>
                <a:gd name="T40" fmla="*/ 2 w 305"/>
                <a:gd name="T41" fmla="*/ 135 h 170"/>
                <a:gd name="T42" fmla="*/ 3 w 305"/>
                <a:gd name="T43" fmla="*/ 140 h 170"/>
                <a:gd name="T44" fmla="*/ 5 w 305"/>
                <a:gd name="T45" fmla="*/ 145 h 170"/>
                <a:gd name="T46" fmla="*/ 7 w 305"/>
                <a:gd name="T47" fmla="*/ 150 h 170"/>
                <a:gd name="T48" fmla="*/ 10 w 305"/>
                <a:gd name="T49" fmla="*/ 155 h 170"/>
                <a:gd name="T50" fmla="*/ 12 w 305"/>
                <a:gd name="T51" fmla="*/ 160 h 170"/>
                <a:gd name="T52" fmla="*/ 15 w 305"/>
                <a:gd name="T53" fmla="*/ 165 h 170"/>
                <a:gd name="T54" fmla="*/ 18 w 305"/>
                <a:gd name="T55" fmla="*/ 170 h 170"/>
                <a:gd name="T56" fmla="*/ 21 w 305"/>
                <a:gd name="T57" fmla="*/ 168 h 170"/>
                <a:gd name="T58" fmla="*/ 18 w 305"/>
                <a:gd name="T59" fmla="*/ 163 h 170"/>
                <a:gd name="T60" fmla="*/ 15 w 305"/>
                <a:gd name="T61" fmla="*/ 159 h 170"/>
                <a:gd name="T62" fmla="*/ 13 w 305"/>
                <a:gd name="T63" fmla="*/ 154 h 170"/>
                <a:gd name="T64" fmla="*/ 10 w 305"/>
                <a:gd name="T65" fmla="*/ 149 h 170"/>
                <a:gd name="T66" fmla="*/ 8 w 305"/>
                <a:gd name="T67" fmla="*/ 144 h 170"/>
                <a:gd name="T68" fmla="*/ 7 w 305"/>
                <a:gd name="T69" fmla="*/ 139 h 170"/>
                <a:gd name="T70" fmla="*/ 5 w 305"/>
                <a:gd name="T71" fmla="*/ 134 h 170"/>
                <a:gd name="T72" fmla="*/ 3 w 305"/>
                <a:gd name="T73" fmla="*/ 127 h 170"/>
                <a:gd name="T74" fmla="*/ 0 w 305"/>
                <a:gd name="T75" fmla="*/ 12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05" h="170">
                  <a:moveTo>
                    <a:pt x="305" y="41"/>
                  </a:moveTo>
                  <a:lnTo>
                    <a:pt x="303" y="36"/>
                  </a:lnTo>
                  <a:lnTo>
                    <a:pt x="301" y="29"/>
                  </a:lnTo>
                  <a:lnTo>
                    <a:pt x="300" y="24"/>
                  </a:lnTo>
                  <a:lnTo>
                    <a:pt x="296" y="19"/>
                  </a:lnTo>
                  <a:lnTo>
                    <a:pt x="295" y="14"/>
                  </a:lnTo>
                  <a:lnTo>
                    <a:pt x="291" y="10"/>
                  </a:lnTo>
                  <a:lnTo>
                    <a:pt x="288" y="5"/>
                  </a:lnTo>
                  <a:lnTo>
                    <a:pt x="286" y="0"/>
                  </a:lnTo>
                  <a:lnTo>
                    <a:pt x="283" y="1"/>
                  </a:lnTo>
                  <a:lnTo>
                    <a:pt x="286" y="5"/>
                  </a:lnTo>
                  <a:lnTo>
                    <a:pt x="288" y="10"/>
                  </a:lnTo>
                  <a:lnTo>
                    <a:pt x="291" y="16"/>
                  </a:lnTo>
                  <a:lnTo>
                    <a:pt x="293" y="21"/>
                  </a:lnTo>
                  <a:lnTo>
                    <a:pt x="296" y="26"/>
                  </a:lnTo>
                  <a:lnTo>
                    <a:pt x="298" y="31"/>
                  </a:lnTo>
                  <a:lnTo>
                    <a:pt x="300" y="38"/>
                  </a:lnTo>
                  <a:lnTo>
                    <a:pt x="301" y="43"/>
                  </a:lnTo>
                  <a:lnTo>
                    <a:pt x="305" y="41"/>
                  </a:lnTo>
                  <a:close/>
                  <a:moveTo>
                    <a:pt x="0" y="129"/>
                  </a:moveTo>
                  <a:lnTo>
                    <a:pt x="2" y="135"/>
                  </a:lnTo>
                  <a:lnTo>
                    <a:pt x="3" y="140"/>
                  </a:lnTo>
                  <a:lnTo>
                    <a:pt x="5" y="145"/>
                  </a:lnTo>
                  <a:lnTo>
                    <a:pt x="7" y="150"/>
                  </a:lnTo>
                  <a:lnTo>
                    <a:pt x="10" y="155"/>
                  </a:lnTo>
                  <a:lnTo>
                    <a:pt x="12" y="160"/>
                  </a:lnTo>
                  <a:lnTo>
                    <a:pt x="15" y="165"/>
                  </a:lnTo>
                  <a:lnTo>
                    <a:pt x="18" y="170"/>
                  </a:lnTo>
                  <a:lnTo>
                    <a:pt x="21" y="168"/>
                  </a:lnTo>
                  <a:lnTo>
                    <a:pt x="18" y="163"/>
                  </a:lnTo>
                  <a:lnTo>
                    <a:pt x="15" y="159"/>
                  </a:lnTo>
                  <a:lnTo>
                    <a:pt x="13" y="154"/>
                  </a:lnTo>
                  <a:lnTo>
                    <a:pt x="10" y="149"/>
                  </a:lnTo>
                  <a:lnTo>
                    <a:pt x="8" y="144"/>
                  </a:lnTo>
                  <a:lnTo>
                    <a:pt x="7" y="139"/>
                  </a:lnTo>
                  <a:lnTo>
                    <a:pt x="5" y="134"/>
                  </a:lnTo>
                  <a:lnTo>
                    <a:pt x="3" y="127"/>
                  </a:lnTo>
                  <a:lnTo>
                    <a:pt x="0" y="129"/>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35" name="Freeform 577">
              <a:extLst>
                <a:ext uri="{FF2B5EF4-FFF2-40B4-BE49-F238E27FC236}">
                  <a16:creationId xmlns:a16="http://schemas.microsoft.com/office/drawing/2014/main" id="{E735D0D6-5E1B-AA98-1A89-BA75A8323C7C}"/>
                </a:ext>
              </a:extLst>
            </p:cNvPr>
            <p:cNvSpPr>
              <a:spLocks noEditPoints="1"/>
            </p:cNvSpPr>
            <p:nvPr/>
          </p:nvSpPr>
          <p:spPr bwMode="auto">
            <a:xfrm>
              <a:off x="2067" y="1554"/>
              <a:ext cx="301" cy="168"/>
            </a:xfrm>
            <a:custGeom>
              <a:avLst/>
              <a:gdLst>
                <a:gd name="T0" fmla="*/ 301 w 301"/>
                <a:gd name="T1" fmla="*/ 43 h 168"/>
                <a:gd name="T2" fmla="*/ 299 w 301"/>
                <a:gd name="T3" fmla="*/ 36 h 168"/>
                <a:gd name="T4" fmla="*/ 298 w 301"/>
                <a:gd name="T5" fmla="*/ 31 h 168"/>
                <a:gd name="T6" fmla="*/ 296 w 301"/>
                <a:gd name="T7" fmla="*/ 26 h 168"/>
                <a:gd name="T8" fmla="*/ 293 w 301"/>
                <a:gd name="T9" fmla="*/ 19 h 168"/>
                <a:gd name="T10" fmla="*/ 291 w 301"/>
                <a:gd name="T11" fmla="*/ 14 h 168"/>
                <a:gd name="T12" fmla="*/ 288 w 301"/>
                <a:gd name="T13" fmla="*/ 10 h 168"/>
                <a:gd name="T14" fmla="*/ 286 w 301"/>
                <a:gd name="T15" fmla="*/ 5 h 168"/>
                <a:gd name="T16" fmla="*/ 283 w 301"/>
                <a:gd name="T17" fmla="*/ 0 h 168"/>
                <a:gd name="T18" fmla="*/ 279 w 301"/>
                <a:gd name="T19" fmla="*/ 1 h 168"/>
                <a:gd name="T20" fmla="*/ 283 w 301"/>
                <a:gd name="T21" fmla="*/ 6 h 168"/>
                <a:gd name="T22" fmla="*/ 284 w 301"/>
                <a:gd name="T23" fmla="*/ 11 h 168"/>
                <a:gd name="T24" fmla="*/ 288 w 301"/>
                <a:gd name="T25" fmla="*/ 16 h 168"/>
                <a:gd name="T26" fmla="*/ 291 w 301"/>
                <a:gd name="T27" fmla="*/ 21 h 168"/>
                <a:gd name="T28" fmla="*/ 293 w 301"/>
                <a:gd name="T29" fmla="*/ 26 h 168"/>
                <a:gd name="T30" fmla="*/ 294 w 301"/>
                <a:gd name="T31" fmla="*/ 33 h 168"/>
                <a:gd name="T32" fmla="*/ 296 w 301"/>
                <a:gd name="T33" fmla="*/ 38 h 168"/>
                <a:gd name="T34" fmla="*/ 298 w 301"/>
                <a:gd name="T35" fmla="*/ 43 h 168"/>
                <a:gd name="T36" fmla="*/ 301 w 301"/>
                <a:gd name="T37" fmla="*/ 43 h 168"/>
                <a:gd name="T38" fmla="*/ 0 w 301"/>
                <a:gd name="T39" fmla="*/ 129 h 168"/>
                <a:gd name="T40" fmla="*/ 1 w 301"/>
                <a:gd name="T41" fmla="*/ 134 h 168"/>
                <a:gd name="T42" fmla="*/ 3 w 301"/>
                <a:gd name="T43" fmla="*/ 139 h 168"/>
                <a:gd name="T44" fmla="*/ 5 w 301"/>
                <a:gd name="T45" fmla="*/ 145 h 168"/>
                <a:gd name="T46" fmla="*/ 6 w 301"/>
                <a:gd name="T47" fmla="*/ 150 h 168"/>
                <a:gd name="T48" fmla="*/ 10 w 301"/>
                <a:gd name="T49" fmla="*/ 155 h 168"/>
                <a:gd name="T50" fmla="*/ 11 w 301"/>
                <a:gd name="T51" fmla="*/ 160 h 168"/>
                <a:gd name="T52" fmla="*/ 15 w 301"/>
                <a:gd name="T53" fmla="*/ 165 h 168"/>
                <a:gd name="T54" fmla="*/ 18 w 301"/>
                <a:gd name="T55" fmla="*/ 168 h 168"/>
                <a:gd name="T56" fmla="*/ 21 w 301"/>
                <a:gd name="T57" fmla="*/ 168 h 168"/>
                <a:gd name="T58" fmla="*/ 18 w 301"/>
                <a:gd name="T59" fmla="*/ 163 h 168"/>
                <a:gd name="T60" fmla="*/ 15 w 301"/>
                <a:gd name="T61" fmla="*/ 159 h 168"/>
                <a:gd name="T62" fmla="*/ 13 w 301"/>
                <a:gd name="T63" fmla="*/ 154 h 168"/>
                <a:gd name="T64" fmla="*/ 10 w 301"/>
                <a:gd name="T65" fmla="*/ 149 h 168"/>
                <a:gd name="T66" fmla="*/ 8 w 301"/>
                <a:gd name="T67" fmla="*/ 144 h 168"/>
                <a:gd name="T68" fmla="*/ 6 w 301"/>
                <a:gd name="T69" fmla="*/ 139 h 168"/>
                <a:gd name="T70" fmla="*/ 3 w 301"/>
                <a:gd name="T71" fmla="*/ 132 h 168"/>
                <a:gd name="T72" fmla="*/ 1 w 301"/>
                <a:gd name="T73" fmla="*/ 127 h 168"/>
                <a:gd name="T74" fmla="*/ 0 w 301"/>
                <a:gd name="T75" fmla="*/ 129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01" h="168">
                  <a:moveTo>
                    <a:pt x="301" y="43"/>
                  </a:moveTo>
                  <a:lnTo>
                    <a:pt x="299" y="36"/>
                  </a:lnTo>
                  <a:lnTo>
                    <a:pt x="298" y="31"/>
                  </a:lnTo>
                  <a:lnTo>
                    <a:pt x="296" y="26"/>
                  </a:lnTo>
                  <a:lnTo>
                    <a:pt x="293" y="19"/>
                  </a:lnTo>
                  <a:lnTo>
                    <a:pt x="291" y="14"/>
                  </a:lnTo>
                  <a:lnTo>
                    <a:pt x="288" y="10"/>
                  </a:lnTo>
                  <a:lnTo>
                    <a:pt x="286" y="5"/>
                  </a:lnTo>
                  <a:lnTo>
                    <a:pt x="283" y="0"/>
                  </a:lnTo>
                  <a:lnTo>
                    <a:pt x="279" y="1"/>
                  </a:lnTo>
                  <a:lnTo>
                    <a:pt x="283" y="6"/>
                  </a:lnTo>
                  <a:lnTo>
                    <a:pt x="284" y="11"/>
                  </a:lnTo>
                  <a:lnTo>
                    <a:pt x="288" y="16"/>
                  </a:lnTo>
                  <a:lnTo>
                    <a:pt x="291" y="21"/>
                  </a:lnTo>
                  <a:lnTo>
                    <a:pt x="293" y="26"/>
                  </a:lnTo>
                  <a:lnTo>
                    <a:pt x="294" y="33"/>
                  </a:lnTo>
                  <a:lnTo>
                    <a:pt x="296" y="38"/>
                  </a:lnTo>
                  <a:lnTo>
                    <a:pt x="298" y="43"/>
                  </a:lnTo>
                  <a:lnTo>
                    <a:pt x="301" y="43"/>
                  </a:lnTo>
                  <a:close/>
                  <a:moveTo>
                    <a:pt x="0" y="129"/>
                  </a:moveTo>
                  <a:lnTo>
                    <a:pt x="1" y="134"/>
                  </a:lnTo>
                  <a:lnTo>
                    <a:pt x="3" y="139"/>
                  </a:lnTo>
                  <a:lnTo>
                    <a:pt x="5" y="145"/>
                  </a:lnTo>
                  <a:lnTo>
                    <a:pt x="6" y="150"/>
                  </a:lnTo>
                  <a:lnTo>
                    <a:pt x="10" y="155"/>
                  </a:lnTo>
                  <a:lnTo>
                    <a:pt x="11" y="160"/>
                  </a:lnTo>
                  <a:lnTo>
                    <a:pt x="15" y="165"/>
                  </a:lnTo>
                  <a:lnTo>
                    <a:pt x="18" y="168"/>
                  </a:lnTo>
                  <a:lnTo>
                    <a:pt x="21" y="168"/>
                  </a:lnTo>
                  <a:lnTo>
                    <a:pt x="18" y="163"/>
                  </a:lnTo>
                  <a:lnTo>
                    <a:pt x="15" y="159"/>
                  </a:lnTo>
                  <a:lnTo>
                    <a:pt x="13" y="154"/>
                  </a:lnTo>
                  <a:lnTo>
                    <a:pt x="10" y="149"/>
                  </a:lnTo>
                  <a:lnTo>
                    <a:pt x="8" y="144"/>
                  </a:lnTo>
                  <a:lnTo>
                    <a:pt x="6" y="139"/>
                  </a:lnTo>
                  <a:lnTo>
                    <a:pt x="3" y="132"/>
                  </a:lnTo>
                  <a:lnTo>
                    <a:pt x="1" y="127"/>
                  </a:lnTo>
                  <a:lnTo>
                    <a:pt x="0" y="129"/>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36" name="Freeform 578">
              <a:extLst>
                <a:ext uri="{FF2B5EF4-FFF2-40B4-BE49-F238E27FC236}">
                  <a16:creationId xmlns:a16="http://schemas.microsoft.com/office/drawing/2014/main" id="{E55C15AB-31BD-551C-8EB6-931125BBA547}"/>
                </a:ext>
              </a:extLst>
            </p:cNvPr>
            <p:cNvSpPr>
              <a:spLocks noEditPoints="1"/>
            </p:cNvSpPr>
            <p:nvPr/>
          </p:nvSpPr>
          <p:spPr bwMode="auto">
            <a:xfrm>
              <a:off x="2068" y="1555"/>
              <a:ext cx="298" cy="167"/>
            </a:xfrm>
            <a:custGeom>
              <a:avLst/>
              <a:gdLst>
                <a:gd name="T0" fmla="*/ 298 w 298"/>
                <a:gd name="T1" fmla="*/ 42 h 167"/>
                <a:gd name="T2" fmla="*/ 297 w 298"/>
                <a:gd name="T3" fmla="*/ 37 h 167"/>
                <a:gd name="T4" fmla="*/ 295 w 298"/>
                <a:gd name="T5" fmla="*/ 30 h 167"/>
                <a:gd name="T6" fmla="*/ 293 w 298"/>
                <a:gd name="T7" fmla="*/ 25 h 167"/>
                <a:gd name="T8" fmla="*/ 290 w 298"/>
                <a:gd name="T9" fmla="*/ 20 h 167"/>
                <a:gd name="T10" fmla="*/ 288 w 298"/>
                <a:gd name="T11" fmla="*/ 15 h 167"/>
                <a:gd name="T12" fmla="*/ 285 w 298"/>
                <a:gd name="T13" fmla="*/ 9 h 167"/>
                <a:gd name="T14" fmla="*/ 283 w 298"/>
                <a:gd name="T15" fmla="*/ 4 h 167"/>
                <a:gd name="T16" fmla="*/ 280 w 298"/>
                <a:gd name="T17" fmla="*/ 0 h 167"/>
                <a:gd name="T18" fmla="*/ 277 w 298"/>
                <a:gd name="T19" fmla="*/ 0 h 167"/>
                <a:gd name="T20" fmla="*/ 280 w 298"/>
                <a:gd name="T21" fmla="*/ 5 h 167"/>
                <a:gd name="T22" fmla="*/ 283 w 298"/>
                <a:gd name="T23" fmla="*/ 10 h 167"/>
                <a:gd name="T24" fmla="*/ 285 w 298"/>
                <a:gd name="T25" fmla="*/ 15 h 167"/>
                <a:gd name="T26" fmla="*/ 288 w 298"/>
                <a:gd name="T27" fmla="*/ 22 h 167"/>
                <a:gd name="T28" fmla="*/ 290 w 298"/>
                <a:gd name="T29" fmla="*/ 27 h 167"/>
                <a:gd name="T30" fmla="*/ 292 w 298"/>
                <a:gd name="T31" fmla="*/ 32 h 167"/>
                <a:gd name="T32" fmla="*/ 293 w 298"/>
                <a:gd name="T33" fmla="*/ 37 h 167"/>
                <a:gd name="T34" fmla="*/ 295 w 298"/>
                <a:gd name="T35" fmla="*/ 43 h 167"/>
                <a:gd name="T36" fmla="*/ 298 w 298"/>
                <a:gd name="T37" fmla="*/ 42 h 167"/>
                <a:gd name="T38" fmla="*/ 0 w 298"/>
                <a:gd name="T39" fmla="*/ 126 h 167"/>
                <a:gd name="T40" fmla="*/ 2 w 298"/>
                <a:gd name="T41" fmla="*/ 133 h 167"/>
                <a:gd name="T42" fmla="*/ 4 w 298"/>
                <a:gd name="T43" fmla="*/ 138 h 167"/>
                <a:gd name="T44" fmla="*/ 5 w 298"/>
                <a:gd name="T45" fmla="*/ 143 h 167"/>
                <a:gd name="T46" fmla="*/ 7 w 298"/>
                <a:gd name="T47" fmla="*/ 148 h 167"/>
                <a:gd name="T48" fmla="*/ 10 w 298"/>
                <a:gd name="T49" fmla="*/ 153 h 167"/>
                <a:gd name="T50" fmla="*/ 12 w 298"/>
                <a:gd name="T51" fmla="*/ 158 h 167"/>
                <a:gd name="T52" fmla="*/ 15 w 298"/>
                <a:gd name="T53" fmla="*/ 162 h 167"/>
                <a:gd name="T54" fmla="*/ 18 w 298"/>
                <a:gd name="T55" fmla="*/ 167 h 167"/>
                <a:gd name="T56" fmla="*/ 22 w 298"/>
                <a:gd name="T57" fmla="*/ 166 h 167"/>
                <a:gd name="T58" fmla="*/ 18 w 298"/>
                <a:gd name="T59" fmla="*/ 161 h 167"/>
                <a:gd name="T60" fmla="*/ 15 w 298"/>
                <a:gd name="T61" fmla="*/ 156 h 167"/>
                <a:gd name="T62" fmla="*/ 14 w 298"/>
                <a:gd name="T63" fmla="*/ 151 h 167"/>
                <a:gd name="T64" fmla="*/ 10 w 298"/>
                <a:gd name="T65" fmla="*/ 146 h 167"/>
                <a:gd name="T66" fmla="*/ 9 w 298"/>
                <a:gd name="T67" fmla="*/ 141 h 167"/>
                <a:gd name="T68" fmla="*/ 7 w 298"/>
                <a:gd name="T69" fmla="*/ 136 h 167"/>
                <a:gd name="T70" fmla="*/ 4 w 298"/>
                <a:gd name="T71" fmla="*/ 131 h 167"/>
                <a:gd name="T72" fmla="*/ 2 w 298"/>
                <a:gd name="T73" fmla="*/ 126 h 167"/>
                <a:gd name="T74" fmla="*/ 0 w 298"/>
                <a:gd name="T75" fmla="*/ 126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98" h="167">
                  <a:moveTo>
                    <a:pt x="298" y="42"/>
                  </a:moveTo>
                  <a:lnTo>
                    <a:pt x="297" y="37"/>
                  </a:lnTo>
                  <a:lnTo>
                    <a:pt x="295" y="30"/>
                  </a:lnTo>
                  <a:lnTo>
                    <a:pt x="293" y="25"/>
                  </a:lnTo>
                  <a:lnTo>
                    <a:pt x="290" y="20"/>
                  </a:lnTo>
                  <a:lnTo>
                    <a:pt x="288" y="15"/>
                  </a:lnTo>
                  <a:lnTo>
                    <a:pt x="285" y="9"/>
                  </a:lnTo>
                  <a:lnTo>
                    <a:pt x="283" y="4"/>
                  </a:lnTo>
                  <a:lnTo>
                    <a:pt x="280" y="0"/>
                  </a:lnTo>
                  <a:lnTo>
                    <a:pt x="277" y="0"/>
                  </a:lnTo>
                  <a:lnTo>
                    <a:pt x="280" y="5"/>
                  </a:lnTo>
                  <a:lnTo>
                    <a:pt x="283" y="10"/>
                  </a:lnTo>
                  <a:lnTo>
                    <a:pt x="285" y="15"/>
                  </a:lnTo>
                  <a:lnTo>
                    <a:pt x="288" y="22"/>
                  </a:lnTo>
                  <a:lnTo>
                    <a:pt x="290" y="27"/>
                  </a:lnTo>
                  <a:lnTo>
                    <a:pt x="292" y="32"/>
                  </a:lnTo>
                  <a:lnTo>
                    <a:pt x="293" y="37"/>
                  </a:lnTo>
                  <a:lnTo>
                    <a:pt x="295" y="43"/>
                  </a:lnTo>
                  <a:lnTo>
                    <a:pt x="298" y="42"/>
                  </a:lnTo>
                  <a:close/>
                  <a:moveTo>
                    <a:pt x="0" y="126"/>
                  </a:moveTo>
                  <a:lnTo>
                    <a:pt x="2" y="133"/>
                  </a:lnTo>
                  <a:lnTo>
                    <a:pt x="4" y="138"/>
                  </a:lnTo>
                  <a:lnTo>
                    <a:pt x="5" y="143"/>
                  </a:lnTo>
                  <a:lnTo>
                    <a:pt x="7" y="148"/>
                  </a:lnTo>
                  <a:lnTo>
                    <a:pt x="10" y="153"/>
                  </a:lnTo>
                  <a:lnTo>
                    <a:pt x="12" y="158"/>
                  </a:lnTo>
                  <a:lnTo>
                    <a:pt x="15" y="162"/>
                  </a:lnTo>
                  <a:lnTo>
                    <a:pt x="18" y="167"/>
                  </a:lnTo>
                  <a:lnTo>
                    <a:pt x="22" y="166"/>
                  </a:lnTo>
                  <a:lnTo>
                    <a:pt x="18" y="161"/>
                  </a:lnTo>
                  <a:lnTo>
                    <a:pt x="15" y="156"/>
                  </a:lnTo>
                  <a:lnTo>
                    <a:pt x="14" y="151"/>
                  </a:lnTo>
                  <a:lnTo>
                    <a:pt x="10" y="146"/>
                  </a:lnTo>
                  <a:lnTo>
                    <a:pt x="9" y="141"/>
                  </a:lnTo>
                  <a:lnTo>
                    <a:pt x="7" y="136"/>
                  </a:lnTo>
                  <a:lnTo>
                    <a:pt x="4" y="131"/>
                  </a:lnTo>
                  <a:lnTo>
                    <a:pt x="2" y="126"/>
                  </a:lnTo>
                  <a:lnTo>
                    <a:pt x="0" y="126"/>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37" name="Freeform 579">
              <a:extLst>
                <a:ext uri="{FF2B5EF4-FFF2-40B4-BE49-F238E27FC236}">
                  <a16:creationId xmlns:a16="http://schemas.microsoft.com/office/drawing/2014/main" id="{C5BCAD77-BDB1-B5F0-51E1-540CE42507F4}"/>
                </a:ext>
              </a:extLst>
            </p:cNvPr>
            <p:cNvSpPr>
              <a:spLocks noEditPoints="1"/>
            </p:cNvSpPr>
            <p:nvPr/>
          </p:nvSpPr>
          <p:spPr bwMode="auto">
            <a:xfrm>
              <a:off x="2068" y="1555"/>
              <a:ext cx="297" cy="167"/>
            </a:xfrm>
            <a:custGeom>
              <a:avLst/>
              <a:gdLst>
                <a:gd name="T0" fmla="*/ 297 w 297"/>
                <a:gd name="T1" fmla="*/ 42 h 167"/>
                <a:gd name="T2" fmla="*/ 295 w 297"/>
                <a:gd name="T3" fmla="*/ 37 h 167"/>
                <a:gd name="T4" fmla="*/ 293 w 297"/>
                <a:gd name="T5" fmla="*/ 32 h 167"/>
                <a:gd name="T6" fmla="*/ 292 w 297"/>
                <a:gd name="T7" fmla="*/ 25 h 167"/>
                <a:gd name="T8" fmla="*/ 290 w 297"/>
                <a:gd name="T9" fmla="*/ 20 h 167"/>
                <a:gd name="T10" fmla="*/ 287 w 297"/>
                <a:gd name="T11" fmla="*/ 15 h 167"/>
                <a:gd name="T12" fmla="*/ 283 w 297"/>
                <a:gd name="T13" fmla="*/ 10 h 167"/>
                <a:gd name="T14" fmla="*/ 282 w 297"/>
                <a:gd name="T15" fmla="*/ 5 h 167"/>
                <a:gd name="T16" fmla="*/ 278 w 297"/>
                <a:gd name="T17" fmla="*/ 0 h 167"/>
                <a:gd name="T18" fmla="*/ 275 w 297"/>
                <a:gd name="T19" fmla="*/ 2 h 167"/>
                <a:gd name="T20" fmla="*/ 278 w 297"/>
                <a:gd name="T21" fmla="*/ 7 h 167"/>
                <a:gd name="T22" fmla="*/ 282 w 297"/>
                <a:gd name="T23" fmla="*/ 12 h 167"/>
                <a:gd name="T24" fmla="*/ 283 w 297"/>
                <a:gd name="T25" fmla="*/ 17 h 167"/>
                <a:gd name="T26" fmla="*/ 287 w 297"/>
                <a:gd name="T27" fmla="*/ 22 h 167"/>
                <a:gd name="T28" fmla="*/ 288 w 297"/>
                <a:gd name="T29" fmla="*/ 27 h 167"/>
                <a:gd name="T30" fmla="*/ 290 w 297"/>
                <a:gd name="T31" fmla="*/ 32 h 167"/>
                <a:gd name="T32" fmla="*/ 292 w 297"/>
                <a:gd name="T33" fmla="*/ 38 h 167"/>
                <a:gd name="T34" fmla="*/ 293 w 297"/>
                <a:gd name="T35" fmla="*/ 43 h 167"/>
                <a:gd name="T36" fmla="*/ 297 w 297"/>
                <a:gd name="T37" fmla="*/ 42 h 167"/>
                <a:gd name="T38" fmla="*/ 0 w 297"/>
                <a:gd name="T39" fmla="*/ 126 h 167"/>
                <a:gd name="T40" fmla="*/ 2 w 297"/>
                <a:gd name="T41" fmla="*/ 131 h 167"/>
                <a:gd name="T42" fmla="*/ 5 w 297"/>
                <a:gd name="T43" fmla="*/ 138 h 167"/>
                <a:gd name="T44" fmla="*/ 7 w 297"/>
                <a:gd name="T45" fmla="*/ 143 h 167"/>
                <a:gd name="T46" fmla="*/ 9 w 297"/>
                <a:gd name="T47" fmla="*/ 148 h 167"/>
                <a:gd name="T48" fmla="*/ 12 w 297"/>
                <a:gd name="T49" fmla="*/ 153 h 167"/>
                <a:gd name="T50" fmla="*/ 14 w 297"/>
                <a:gd name="T51" fmla="*/ 158 h 167"/>
                <a:gd name="T52" fmla="*/ 17 w 297"/>
                <a:gd name="T53" fmla="*/ 162 h 167"/>
                <a:gd name="T54" fmla="*/ 20 w 297"/>
                <a:gd name="T55" fmla="*/ 167 h 167"/>
                <a:gd name="T56" fmla="*/ 23 w 297"/>
                <a:gd name="T57" fmla="*/ 166 h 167"/>
                <a:gd name="T58" fmla="*/ 20 w 297"/>
                <a:gd name="T59" fmla="*/ 161 h 167"/>
                <a:gd name="T60" fmla="*/ 17 w 297"/>
                <a:gd name="T61" fmla="*/ 156 h 167"/>
                <a:gd name="T62" fmla="*/ 14 w 297"/>
                <a:gd name="T63" fmla="*/ 151 h 167"/>
                <a:gd name="T64" fmla="*/ 12 w 297"/>
                <a:gd name="T65" fmla="*/ 146 h 167"/>
                <a:gd name="T66" fmla="*/ 10 w 297"/>
                <a:gd name="T67" fmla="*/ 141 h 167"/>
                <a:gd name="T68" fmla="*/ 7 w 297"/>
                <a:gd name="T69" fmla="*/ 136 h 167"/>
                <a:gd name="T70" fmla="*/ 5 w 297"/>
                <a:gd name="T71" fmla="*/ 131 h 167"/>
                <a:gd name="T72" fmla="*/ 4 w 297"/>
                <a:gd name="T73" fmla="*/ 124 h 167"/>
                <a:gd name="T74" fmla="*/ 0 w 297"/>
                <a:gd name="T75" fmla="*/ 126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97" h="167">
                  <a:moveTo>
                    <a:pt x="297" y="42"/>
                  </a:moveTo>
                  <a:lnTo>
                    <a:pt x="295" y="37"/>
                  </a:lnTo>
                  <a:lnTo>
                    <a:pt x="293" y="32"/>
                  </a:lnTo>
                  <a:lnTo>
                    <a:pt x="292" y="25"/>
                  </a:lnTo>
                  <a:lnTo>
                    <a:pt x="290" y="20"/>
                  </a:lnTo>
                  <a:lnTo>
                    <a:pt x="287" y="15"/>
                  </a:lnTo>
                  <a:lnTo>
                    <a:pt x="283" y="10"/>
                  </a:lnTo>
                  <a:lnTo>
                    <a:pt x="282" y="5"/>
                  </a:lnTo>
                  <a:lnTo>
                    <a:pt x="278" y="0"/>
                  </a:lnTo>
                  <a:lnTo>
                    <a:pt x="275" y="2"/>
                  </a:lnTo>
                  <a:lnTo>
                    <a:pt x="278" y="7"/>
                  </a:lnTo>
                  <a:lnTo>
                    <a:pt x="282" y="12"/>
                  </a:lnTo>
                  <a:lnTo>
                    <a:pt x="283" y="17"/>
                  </a:lnTo>
                  <a:lnTo>
                    <a:pt x="287" y="22"/>
                  </a:lnTo>
                  <a:lnTo>
                    <a:pt x="288" y="27"/>
                  </a:lnTo>
                  <a:lnTo>
                    <a:pt x="290" y="32"/>
                  </a:lnTo>
                  <a:lnTo>
                    <a:pt x="292" y="38"/>
                  </a:lnTo>
                  <a:lnTo>
                    <a:pt x="293" y="43"/>
                  </a:lnTo>
                  <a:lnTo>
                    <a:pt x="297" y="42"/>
                  </a:lnTo>
                  <a:close/>
                  <a:moveTo>
                    <a:pt x="0" y="126"/>
                  </a:moveTo>
                  <a:lnTo>
                    <a:pt x="2" y="131"/>
                  </a:lnTo>
                  <a:lnTo>
                    <a:pt x="5" y="138"/>
                  </a:lnTo>
                  <a:lnTo>
                    <a:pt x="7" y="143"/>
                  </a:lnTo>
                  <a:lnTo>
                    <a:pt x="9" y="148"/>
                  </a:lnTo>
                  <a:lnTo>
                    <a:pt x="12" y="153"/>
                  </a:lnTo>
                  <a:lnTo>
                    <a:pt x="14" y="158"/>
                  </a:lnTo>
                  <a:lnTo>
                    <a:pt x="17" y="162"/>
                  </a:lnTo>
                  <a:lnTo>
                    <a:pt x="20" y="167"/>
                  </a:lnTo>
                  <a:lnTo>
                    <a:pt x="23" y="166"/>
                  </a:lnTo>
                  <a:lnTo>
                    <a:pt x="20" y="161"/>
                  </a:lnTo>
                  <a:lnTo>
                    <a:pt x="17" y="156"/>
                  </a:lnTo>
                  <a:lnTo>
                    <a:pt x="14" y="151"/>
                  </a:lnTo>
                  <a:lnTo>
                    <a:pt x="12" y="146"/>
                  </a:lnTo>
                  <a:lnTo>
                    <a:pt x="10" y="141"/>
                  </a:lnTo>
                  <a:lnTo>
                    <a:pt x="7" y="136"/>
                  </a:lnTo>
                  <a:lnTo>
                    <a:pt x="5" y="131"/>
                  </a:lnTo>
                  <a:lnTo>
                    <a:pt x="4" y="124"/>
                  </a:lnTo>
                  <a:lnTo>
                    <a:pt x="0" y="126"/>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38" name="Freeform 580">
              <a:extLst>
                <a:ext uri="{FF2B5EF4-FFF2-40B4-BE49-F238E27FC236}">
                  <a16:creationId xmlns:a16="http://schemas.microsoft.com/office/drawing/2014/main" id="{2EB918AC-517E-ED20-BB60-3308224331E3}"/>
                </a:ext>
              </a:extLst>
            </p:cNvPr>
            <p:cNvSpPr>
              <a:spLocks noEditPoints="1"/>
            </p:cNvSpPr>
            <p:nvPr/>
          </p:nvSpPr>
          <p:spPr bwMode="auto">
            <a:xfrm>
              <a:off x="2070" y="1555"/>
              <a:ext cx="293" cy="166"/>
            </a:xfrm>
            <a:custGeom>
              <a:avLst/>
              <a:gdLst>
                <a:gd name="T0" fmla="*/ 293 w 293"/>
                <a:gd name="T1" fmla="*/ 43 h 166"/>
                <a:gd name="T2" fmla="*/ 291 w 293"/>
                <a:gd name="T3" fmla="*/ 37 h 166"/>
                <a:gd name="T4" fmla="*/ 290 w 293"/>
                <a:gd name="T5" fmla="*/ 32 h 166"/>
                <a:gd name="T6" fmla="*/ 288 w 293"/>
                <a:gd name="T7" fmla="*/ 27 h 166"/>
                <a:gd name="T8" fmla="*/ 286 w 293"/>
                <a:gd name="T9" fmla="*/ 22 h 166"/>
                <a:gd name="T10" fmla="*/ 283 w 293"/>
                <a:gd name="T11" fmla="*/ 15 h 166"/>
                <a:gd name="T12" fmla="*/ 281 w 293"/>
                <a:gd name="T13" fmla="*/ 10 h 166"/>
                <a:gd name="T14" fmla="*/ 278 w 293"/>
                <a:gd name="T15" fmla="*/ 5 h 166"/>
                <a:gd name="T16" fmla="*/ 275 w 293"/>
                <a:gd name="T17" fmla="*/ 0 h 166"/>
                <a:gd name="T18" fmla="*/ 272 w 293"/>
                <a:gd name="T19" fmla="*/ 2 h 166"/>
                <a:gd name="T20" fmla="*/ 275 w 293"/>
                <a:gd name="T21" fmla="*/ 7 h 166"/>
                <a:gd name="T22" fmla="*/ 278 w 293"/>
                <a:gd name="T23" fmla="*/ 12 h 166"/>
                <a:gd name="T24" fmla="*/ 280 w 293"/>
                <a:gd name="T25" fmla="*/ 17 h 166"/>
                <a:gd name="T26" fmla="*/ 283 w 293"/>
                <a:gd name="T27" fmla="*/ 22 h 166"/>
                <a:gd name="T28" fmla="*/ 285 w 293"/>
                <a:gd name="T29" fmla="*/ 28 h 166"/>
                <a:gd name="T30" fmla="*/ 286 w 293"/>
                <a:gd name="T31" fmla="*/ 33 h 166"/>
                <a:gd name="T32" fmla="*/ 290 w 293"/>
                <a:gd name="T33" fmla="*/ 38 h 166"/>
                <a:gd name="T34" fmla="*/ 291 w 293"/>
                <a:gd name="T35" fmla="*/ 45 h 166"/>
                <a:gd name="T36" fmla="*/ 293 w 293"/>
                <a:gd name="T37" fmla="*/ 43 h 166"/>
                <a:gd name="T38" fmla="*/ 0 w 293"/>
                <a:gd name="T39" fmla="*/ 126 h 166"/>
                <a:gd name="T40" fmla="*/ 2 w 293"/>
                <a:gd name="T41" fmla="*/ 131 h 166"/>
                <a:gd name="T42" fmla="*/ 5 w 293"/>
                <a:gd name="T43" fmla="*/ 136 h 166"/>
                <a:gd name="T44" fmla="*/ 7 w 293"/>
                <a:gd name="T45" fmla="*/ 141 h 166"/>
                <a:gd name="T46" fmla="*/ 8 w 293"/>
                <a:gd name="T47" fmla="*/ 146 h 166"/>
                <a:gd name="T48" fmla="*/ 12 w 293"/>
                <a:gd name="T49" fmla="*/ 151 h 166"/>
                <a:gd name="T50" fmla="*/ 13 w 293"/>
                <a:gd name="T51" fmla="*/ 156 h 166"/>
                <a:gd name="T52" fmla="*/ 16 w 293"/>
                <a:gd name="T53" fmla="*/ 161 h 166"/>
                <a:gd name="T54" fmla="*/ 20 w 293"/>
                <a:gd name="T55" fmla="*/ 166 h 166"/>
                <a:gd name="T56" fmla="*/ 21 w 293"/>
                <a:gd name="T57" fmla="*/ 164 h 166"/>
                <a:gd name="T58" fmla="*/ 20 w 293"/>
                <a:gd name="T59" fmla="*/ 161 h 166"/>
                <a:gd name="T60" fmla="*/ 16 w 293"/>
                <a:gd name="T61" fmla="*/ 156 h 166"/>
                <a:gd name="T62" fmla="*/ 13 w 293"/>
                <a:gd name="T63" fmla="*/ 151 h 166"/>
                <a:gd name="T64" fmla="*/ 12 w 293"/>
                <a:gd name="T65" fmla="*/ 146 h 166"/>
                <a:gd name="T66" fmla="*/ 10 w 293"/>
                <a:gd name="T67" fmla="*/ 141 h 166"/>
                <a:gd name="T68" fmla="*/ 7 w 293"/>
                <a:gd name="T69" fmla="*/ 134 h 166"/>
                <a:gd name="T70" fmla="*/ 5 w 293"/>
                <a:gd name="T71" fmla="*/ 129 h 166"/>
                <a:gd name="T72" fmla="*/ 3 w 293"/>
                <a:gd name="T73" fmla="*/ 124 h 166"/>
                <a:gd name="T74" fmla="*/ 0 w 293"/>
                <a:gd name="T75" fmla="*/ 126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93" h="166">
                  <a:moveTo>
                    <a:pt x="293" y="43"/>
                  </a:moveTo>
                  <a:lnTo>
                    <a:pt x="291" y="37"/>
                  </a:lnTo>
                  <a:lnTo>
                    <a:pt x="290" y="32"/>
                  </a:lnTo>
                  <a:lnTo>
                    <a:pt x="288" y="27"/>
                  </a:lnTo>
                  <a:lnTo>
                    <a:pt x="286" y="22"/>
                  </a:lnTo>
                  <a:lnTo>
                    <a:pt x="283" y="15"/>
                  </a:lnTo>
                  <a:lnTo>
                    <a:pt x="281" y="10"/>
                  </a:lnTo>
                  <a:lnTo>
                    <a:pt x="278" y="5"/>
                  </a:lnTo>
                  <a:lnTo>
                    <a:pt x="275" y="0"/>
                  </a:lnTo>
                  <a:lnTo>
                    <a:pt x="272" y="2"/>
                  </a:lnTo>
                  <a:lnTo>
                    <a:pt x="275" y="7"/>
                  </a:lnTo>
                  <a:lnTo>
                    <a:pt x="278" y="12"/>
                  </a:lnTo>
                  <a:lnTo>
                    <a:pt x="280" y="17"/>
                  </a:lnTo>
                  <a:lnTo>
                    <a:pt x="283" y="22"/>
                  </a:lnTo>
                  <a:lnTo>
                    <a:pt x="285" y="28"/>
                  </a:lnTo>
                  <a:lnTo>
                    <a:pt x="286" y="33"/>
                  </a:lnTo>
                  <a:lnTo>
                    <a:pt x="290" y="38"/>
                  </a:lnTo>
                  <a:lnTo>
                    <a:pt x="291" y="45"/>
                  </a:lnTo>
                  <a:lnTo>
                    <a:pt x="293" y="43"/>
                  </a:lnTo>
                  <a:close/>
                  <a:moveTo>
                    <a:pt x="0" y="126"/>
                  </a:moveTo>
                  <a:lnTo>
                    <a:pt x="2" y="131"/>
                  </a:lnTo>
                  <a:lnTo>
                    <a:pt x="5" y="136"/>
                  </a:lnTo>
                  <a:lnTo>
                    <a:pt x="7" y="141"/>
                  </a:lnTo>
                  <a:lnTo>
                    <a:pt x="8" y="146"/>
                  </a:lnTo>
                  <a:lnTo>
                    <a:pt x="12" y="151"/>
                  </a:lnTo>
                  <a:lnTo>
                    <a:pt x="13" y="156"/>
                  </a:lnTo>
                  <a:lnTo>
                    <a:pt x="16" y="161"/>
                  </a:lnTo>
                  <a:lnTo>
                    <a:pt x="20" y="166"/>
                  </a:lnTo>
                  <a:lnTo>
                    <a:pt x="21" y="164"/>
                  </a:lnTo>
                  <a:lnTo>
                    <a:pt x="20" y="161"/>
                  </a:lnTo>
                  <a:lnTo>
                    <a:pt x="16" y="156"/>
                  </a:lnTo>
                  <a:lnTo>
                    <a:pt x="13" y="151"/>
                  </a:lnTo>
                  <a:lnTo>
                    <a:pt x="12" y="146"/>
                  </a:lnTo>
                  <a:lnTo>
                    <a:pt x="10" y="141"/>
                  </a:lnTo>
                  <a:lnTo>
                    <a:pt x="7" y="134"/>
                  </a:lnTo>
                  <a:lnTo>
                    <a:pt x="5" y="129"/>
                  </a:lnTo>
                  <a:lnTo>
                    <a:pt x="3" y="124"/>
                  </a:lnTo>
                  <a:lnTo>
                    <a:pt x="0" y="126"/>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39" name="Freeform 581">
              <a:extLst>
                <a:ext uri="{FF2B5EF4-FFF2-40B4-BE49-F238E27FC236}">
                  <a16:creationId xmlns:a16="http://schemas.microsoft.com/office/drawing/2014/main" id="{032630E5-8888-1148-1DE6-03B0605E5450}"/>
                </a:ext>
              </a:extLst>
            </p:cNvPr>
            <p:cNvSpPr>
              <a:spLocks noEditPoints="1"/>
            </p:cNvSpPr>
            <p:nvPr/>
          </p:nvSpPr>
          <p:spPr bwMode="auto">
            <a:xfrm>
              <a:off x="2072" y="1557"/>
              <a:ext cx="289" cy="164"/>
            </a:xfrm>
            <a:custGeom>
              <a:avLst/>
              <a:gdLst>
                <a:gd name="T0" fmla="*/ 289 w 289"/>
                <a:gd name="T1" fmla="*/ 41 h 164"/>
                <a:gd name="T2" fmla="*/ 288 w 289"/>
                <a:gd name="T3" fmla="*/ 36 h 164"/>
                <a:gd name="T4" fmla="*/ 286 w 289"/>
                <a:gd name="T5" fmla="*/ 30 h 164"/>
                <a:gd name="T6" fmla="*/ 284 w 289"/>
                <a:gd name="T7" fmla="*/ 25 h 164"/>
                <a:gd name="T8" fmla="*/ 283 w 289"/>
                <a:gd name="T9" fmla="*/ 20 h 164"/>
                <a:gd name="T10" fmla="*/ 279 w 289"/>
                <a:gd name="T11" fmla="*/ 15 h 164"/>
                <a:gd name="T12" fmla="*/ 278 w 289"/>
                <a:gd name="T13" fmla="*/ 10 h 164"/>
                <a:gd name="T14" fmla="*/ 274 w 289"/>
                <a:gd name="T15" fmla="*/ 5 h 164"/>
                <a:gd name="T16" fmla="*/ 271 w 289"/>
                <a:gd name="T17" fmla="*/ 0 h 164"/>
                <a:gd name="T18" fmla="*/ 268 w 289"/>
                <a:gd name="T19" fmla="*/ 2 h 164"/>
                <a:gd name="T20" fmla="*/ 271 w 289"/>
                <a:gd name="T21" fmla="*/ 7 h 164"/>
                <a:gd name="T22" fmla="*/ 274 w 289"/>
                <a:gd name="T23" fmla="*/ 11 h 164"/>
                <a:gd name="T24" fmla="*/ 276 w 289"/>
                <a:gd name="T25" fmla="*/ 16 h 164"/>
                <a:gd name="T26" fmla="*/ 279 w 289"/>
                <a:gd name="T27" fmla="*/ 21 h 164"/>
                <a:gd name="T28" fmla="*/ 281 w 289"/>
                <a:gd name="T29" fmla="*/ 26 h 164"/>
                <a:gd name="T30" fmla="*/ 284 w 289"/>
                <a:gd name="T31" fmla="*/ 31 h 164"/>
                <a:gd name="T32" fmla="*/ 286 w 289"/>
                <a:gd name="T33" fmla="*/ 38 h 164"/>
                <a:gd name="T34" fmla="*/ 288 w 289"/>
                <a:gd name="T35" fmla="*/ 43 h 164"/>
                <a:gd name="T36" fmla="*/ 289 w 289"/>
                <a:gd name="T37" fmla="*/ 41 h 164"/>
                <a:gd name="T38" fmla="*/ 0 w 289"/>
                <a:gd name="T39" fmla="*/ 122 h 164"/>
                <a:gd name="T40" fmla="*/ 1 w 289"/>
                <a:gd name="T41" fmla="*/ 129 h 164"/>
                <a:gd name="T42" fmla="*/ 3 w 289"/>
                <a:gd name="T43" fmla="*/ 134 h 164"/>
                <a:gd name="T44" fmla="*/ 6 w 289"/>
                <a:gd name="T45" fmla="*/ 139 h 164"/>
                <a:gd name="T46" fmla="*/ 8 w 289"/>
                <a:gd name="T47" fmla="*/ 144 h 164"/>
                <a:gd name="T48" fmla="*/ 10 w 289"/>
                <a:gd name="T49" fmla="*/ 149 h 164"/>
                <a:gd name="T50" fmla="*/ 13 w 289"/>
                <a:gd name="T51" fmla="*/ 154 h 164"/>
                <a:gd name="T52" fmla="*/ 16 w 289"/>
                <a:gd name="T53" fmla="*/ 159 h 164"/>
                <a:gd name="T54" fmla="*/ 19 w 289"/>
                <a:gd name="T55" fmla="*/ 164 h 164"/>
                <a:gd name="T56" fmla="*/ 21 w 289"/>
                <a:gd name="T57" fmla="*/ 162 h 164"/>
                <a:gd name="T58" fmla="*/ 19 w 289"/>
                <a:gd name="T59" fmla="*/ 157 h 164"/>
                <a:gd name="T60" fmla="*/ 16 w 289"/>
                <a:gd name="T61" fmla="*/ 152 h 164"/>
                <a:gd name="T62" fmla="*/ 13 w 289"/>
                <a:gd name="T63" fmla="*/ 147 h 164"/>
                <a:gd name="T64" fmla="*/ 11 w 289"/>
                <a:gd name="T65" fmla="*/ 142 h 164"/>
                <a:gd name="T66" fmla="*/ 8 w 289"/>
                <a:gd name="T67" fmla="*/ 137 h 164"/>
                <a:gd name="T68" fmla="*/ 6 w 289"/>
                <a:gd name="T69" fmla="*/ 132 h 164"/>
                <a:gd name="T70" fmla="*/ 5 w 289"/>
                <a:gd name="T71" fmla="*/ 127 h 164"/>
                <a:gd name="T72" fmla="*/ 3 w 289"/>
                <a:gd name="T73" fmla="*/ 121 h 164"/>
                <a:gd name="T74" fmla="*/ 0 w 289"/>
                <a:gd name="T75" fmla="*/ 122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9" h="164">
                  <a:moveTo>
                    <a:pt x="289" y="41"/>
                  </a:moveTo>
                  <a:lnTo>
                    <a:pt x="288" y="36"/>
                  </a:lnTo>
                  <a:lnTo>
                    <a:pt x="286" y="30"/>
                  </a:lnTo>
                  <a:lnTo>
                    <a:pt x="284" y="25"/>
                  </a:lnTo>
                  <a:lnTo>
                    <a:pt x="283" y="20"/>
                  </a:lnTo>
                  <a:lnTo>
                    <a:pt x="279" y="15"/>
                  </a:lnTo>
                  <a:lnTo>
                    <a:pt x="278" y="10"/>
                  </a:lnTo>
                  <a:lnTo>
                    <a:pt x="274" y="5"/>
                  </a:lnTo>
                  <a:lnTo>
                    <a:pt x="271" y="0"/>
                  </a:lnTo>
                  <a:lnTo>
                    <a:pt x="268" y="2"/>
                  </a:lnTo>
                  <a:lnTo>
                    <a:pt x="271" y="7"/>
                  </a:lnTo>
                  <a:lnTo>
                    <a:pt x="274" y="11"/>
                  </a:lnTo>
                  <a:lnTo>
                    <a:pt x="276" y="16"/>
                  </a:lnTo>
                  <a:lnTo>
                    <a:pt x="279" y="21"/>
                  </a:lnTo>
                  <a:lnTo>
                    <a:pt x="281" y="26"/>
                  </a:lnTo>
                  <a:lnTo>
                    <a:pt x="284" y="31"/>
                  </a:lnTo>
                  <a:lnTo>
                    <a:pt x="286" y="38"/>
                  </a:lnTo>
                  <a:lnTo>
                    <a:pt x="288" y="43"/>
                  </a:lnTo>
                  <a:lnTo>
                    <a:pt x="289" y="41"/>
                  </a:lnTo>
                  <a:close/>
                  <a:moveTo>
                    <a:pt x="0" y="122"/>
                  </a:moveTo>
                  <a:lnTo>
                    <a:pt x="1" y="129"/>
                  </a:lnTo>
                  <a:lnTo>
                    <a:pt x="3" y="134"/>
                  </a:lnTo>
                  <a:lnTo>
                    <a:pt x="6" y="139"/>
                  </a:lnTo>
                  <a:lnTo>
                    <a:pt x="8" y="144"/>
                  </a:lnTo>
                  <a:lnTo>
                    <a:pt x="10" y="149"/>
                  </a:lnTo>
                  <a:lnTo>
                    <a:pt x="13" y="154"/>
                  </a:lnTo>
                  <a:lnTo>
                    <a:pt x="16" y="159"/>
                  </a:lnTo>
                  <a:lnTo>
                    <a:pt x="19" y="164"/>
                  </a:lnTo>
                  <a:lnTo>
                    <a:pt x="21" y="162"/>
                  </a:lnTo>
                  <a:lnTo>
                    <a:pt x="19" y="157"/>
                  </a:lnTo>
                  <a:lnTo>
                    <a:pt x="16" y="152"/>
                  </a:lnTo>
                  <a:lnTo>
                    <a:pt x="13" y="147"/>
                  </a:lnTo>
                  <a:lnTo>
                    <a:pt x="11" y="142"/>
                  </a:lnTo>
                  <a:lnTo>
                    <a:pt x="8" y="137"/>
                  </a:lnTo>
                  <a:lnTo>
                    <a:pt x="6" y="132"/>
                  </a:lnTo>
                  <a:lnTo>
                    <a:pt x="5" y="127"/>
                  </a:lnTo>
                  <a:lnTo>
                    <a:pt x="3" y="121"/>
                  </a:lnTo>
                  <a:lnTo>
                    <a:pt x="0" y="122"/>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40" name="Freeform 582">
              <a:extLst>
                <a:ext uri="{FF2B5EF4-FFF2-40B4-BE49-F238E27FC236}">
                  <a16:creationId xmlns:a16="http://schemas.microsoft.com/office/drawing/2014/main" id="{114392E6-43D5-6A09-B863-F6E5AEE88CFC}"/>
                </a:ext>
              </a:extLst>
            </p:cNvPr>
            <p:cNvSpPr>
              <a:spLocks noEditPoints="1"/>
            </p:cNvSpPr>
            <p:nvPr/>
          </p:nvSpPr>
          <p:spPr bwMode="auto">
            <a:xfrm>
              <a:off x="2073" y="1557"/>
              <a:ext cx="288" cy="162"/>
            </a:xfrm>
            <a:custGeom>
              <a:avLst/>
              <a:gdLst>
                <a:gd name="T0" fmla="*/ 288 w 288"/>
                <a:gd name="T1" fmla="*/ 43 h 162"/>
                <a:gd name="T2" fmla="*/ 287 w 288"/>
                <a:gd name="T3" fmla="*/ 36 h 162"/>
                <a:gd name="T4" fmla="*/ 283 w 288"/>
                <a:gd name="T5" fmla="*/ 31 h 162"/>
                <a:gd name="T6" fmla="*/ 282 w 288"/>
                <a:gd name="T7" fmla="*/ 26 h 162"/>
                <a:gd name="T8" fmla="*/ 280 w 288"/>
                <a:gd name="T9" fmla="*/ 20 h 162"/>
                <a:gd name="T10" fmla="*/ 277 w 288"/>
                <a:gd name="T11" fmla="*/ 15 h 162"/>
                <a:gd name="T12" fmla="*/ 275 w 288"/>
                <a:gd name="T13" fmla="*/ 10 h 162"/>
                <a:gd name="T14" fmla="*/ 272 w 288"/>
                <a:gd name="T15" fmla="*/ 5 h 162"/>
                <a:gd name="T16" fmla="*/ 269 w 288"/>
                <a:gd name="T17" fmla="*/ 0 h 162"/>
                <a:gd name="T18" fmla="*/ 265 w 288"/>
                <a:gd name="T19" fmla="*/ 2 h 162"/>
                <a:gd name="T20" fmla="*/ 269 w 288"/>
                <a:gd name="T21" fmla="*/ 7 h 162"/>
                <a:gd name="T22" fmla="*/ 272 w 288"/>
                <a:gd name="T23" fmla="*/ 11 h 162"/>
                <a:gd name="T24" fmla="*/ 273 w 288"/>
                <a:gd name="T25" fmla="*/ 16 h 162"/>
                <a:gd name="T26" fmla="*/ 277 w 288"/>
                <a:gd name="T27" fmla="*/ 21 h 162"/>
                <a:gd name="T28" fmla="*/ 278 w 288"/>
                <a:gd name="T29" fmla="*/ 26 h 162"/>
                <a:gd name="T30" fmla="*/ 282 w 288"/>
                <a:gd name="T31" fmla="*/ 33 h 162"/>
                <a:gd name="T32" fmla="*/ 283 w 288"/>
                <a:gd name="T33" fmla="*/ 38 h 162"/>
                <a:gd name="T34" fmla="*/ 285 w 288"/>
                <a:gd name="T35" fmla="*/ 43 h 162"/>
                <a:gd name="T36" fmla="*/ 288 w 288"/>
                <a:gd name="T37" fmla="*/ 43 h 162"/>
                <a:gd name="T38" fmla="*/ 0 w 288"/>
                <a:gd name="T39" fmla="*/ 122 h 162"/>
                <a:gd name="T40" fmla="*/ 2 w 288"/>
                <a:gd name="T41" fmla="*/ 127 h 162"/>
                <a:gd name="T42" fmla="*/ 4 w 288"/>
                <a:gd name="T43" fmla="*/ 132 h 162"/>
                <a:gd name="T44" fmla="*/ 7 w 288"/>
                <a:gd name="T45" fmla="*/ 139 h 162"/>
                <a:gd name="T46" fmla="*/ 9 w 288"/>
                <a:gd name="T47" fmla="*/ 144 h 162"/>
                <a:gd name="T48" fmla="*/ 10 w 288"/>
                <a:gd name="T49" fmla="*/ 149 h 162"/>
                <a:gd name="T50" fmla="*/ 13 w 288"/>
                <a:gd name="T51" fmla="*/ 154 h 162"/>
                <a:gd name="T52" fmla="*/ 17 w 288"/>
                <a:gd name="T53" fmla="*/ 159 h 162"/>
                <a:gd name="T54" fmla="*/ 18 w 288"/>
                <a:gd name="T55" fmla="*/ 162 h 162"/>
                <a:gd name="T56" fmla="*/ 22 w 288"/>
                <a:gd name="T57" fmla="*/ 162 h 162"/>
                <a:gd name="T58" fmla="*/ 20 w 288"/>
                <a:gd name="T59" fmla="*/ 157 h 162"/>
                <a:gd name="T60" fmla="*/ 17 w 288"/>
                <a:gd name="T61" fmla="*/ 152 h 162"/>
                <a:gd name="T62" fmla="*/ 13 w 288"/>
                <a:gd name="T63" fmla="*/ 147 h 162"/>
                <a:gd name="T64" fmla="*/ 12 w 288"/>
                <a:gd name="T65" fmla="*/ 142 h 162"/>
                <a:gd name="T66" fmla="*/ 9 w 288"/>
                <a:gd name="T67" fmla="*/ 137 h 162"/>
                <a:gd name="T68" fmla="*/ 7 w 288"/>
                <a:gd name="T69" fmla="*/ 132 h 162"/>
                <a:gd name="T70" fmla="*/ 5 w 288"/>
                <a:gd name="T71" fmla="*/ 126 h 162"/>
                <a:gd name="T72" fmla="*/ 4 w 288"/>
                <a:gd name="T73" fmla="*/ 121 h 162"/>
                <a:gd name="T74" fmla="*/ 0 w 288"/>
                <a:gd name="T75" fmla="*/ 122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8" h="162">
                  <a:moveTo>
                    <a:pt x="288" y="43"/>
                  </a:moveTo>
                  <a:lnTo>
                    <a:pt x="287" y="36"/>
                  </a:lnTo>
                  <a:lnTo>
                    <a:pt x="283" y="31"/>
                  </a:lnTo>
                  <a:lnTo>
                    <a:pt x="282" y="26"/>
                  </a:lnTo>
                  <a:lnTo>
                    <a:pt x="280" y="20"/>
                  </a:lnTo>
                  <a:lnTo>
                    <a:pt x="277" y="15"/>
                  </a:lnTo>
                  <a:lnTo>
                    <a:pt x="275" y="10"/>
                  </a:lnTo>
                  <a:lnTo>
                    <a:pt x="272" y="5"/>
                  </a:lnTo>
                  <a:lnTo>
                    <a:pt x="269" y="0"/>
                  </a:lnTo>
                  <a:lnTo>
                    <a:pt x="265" y="2"/>
                  </a:lnTo>
                  <a:lnTo>
                    <a:pt x="269" y="7"/>
                  </a:lnTo>
                  <a:lnTo>
                    <a:pt x="272" y="11"/>
                  </a:lnTo>
                  <a:lnTo>
                    <a:pt x="273" y="16"/>
                  </a:lnTo>
                  <a:lnTo>
                    <a:pt x="277" y="21"/>
                  </a:lnTo>
                  <a:lnTo>
                    <a:pt x="278" y="26"/>
                  </a:lnTo>
                  <a:lnTo>
                    <a:pt x="282" y="33"/>
                  </a:lnTo>
                  <a:lnTo>
                    <a:pt x="283" y="38"/>
                  </a:lnTo>
                  <a:lnTo>
                    <a:pt x="285" y="43"/>
                  </a:lnTo>
                  <a:lnTo>
                    <a:pt x="288" y="43"/>
                  </a:lnTo>
                  <a:close/>
                  <a:moveTo>
                    <a:pt x="0" y="122"/>
                  </a:moveTo>
                  <a:lnTo>
                    <a:pt x="2" y="127"/>
                  </a:lnTo>
                  <a:lnTo>
                    <a:pt x="4" y="132"/>
                  </a:lnTo>
                  <a:lnTo>
                    <a:pt x="7" y="139"/>
                  </a:lnTo>
                  <a:lnTo>
                    <a:pt x="9" y="144"/>
                  </a:lnTo>
                  <a:lnTo>
                    <a:pt x="10" y="149"/>
                  </a:lnTo>
                  <a:lnTo>
                    <a:pt x="13" y="154"/>
                  </a:lnTo>
                  <a:lnTo>
                    <a:pt x="17" y="159"/>
                  </a:lnTo>
                  <a:lnTo>
                    <a:pt x="18" y="162"/>
                  </a:lnTo>
                  <a:lnTo>
                    <a:pt x="22" y="162"/>
                  </a:lnTo>
                  <a:lnTo>
                    <a:pt x="20" y="157"/>
                  </a:lnTo>
                  <a:lnTo>
                    <a:pt x="17" y="152"/>
                  </a:lnTo>
                  <a:lnTo>
                    <a:pt x="13" y="147"/>
                  </a:lnTo>
                  <a:lnTo>
                    <a:pt x="12" y="142"/>
                  </a:lnTo>
                  <a:lnTo>
                    <a:pt x="9" y="137"/>
                  </a:lnTo>
                  <a:lnTo>
                    <a:pt x="7" y="132"/>
                  </a:lnTo>
                  <a:lnTo>
                    <a:pt x="5" y="126"/>
                  </a:lnTo>
                  <a:lnTo>
                    <a:pt x="4" y="121"/>
                  </a:lnTo>
                  <a:lnTo>
                    <a:pt x="0" y="122"/>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41" name="Freeform 583">
              <a:extLst>
                <a:ext uri="{FF2B5EF4-FFF2-40B4-BE49-F238E27FC236}">
                  <a16:creationId xmlns:a16="http://schemas.microsoft.com/office/drawing/2014/main" id="{30026FF9-7F07-E45B-F409-4978BCDB89B5}"/>
                </a:ext>
              </a:extLst>
            </p:cNvPr>
            <p:cNvSpPr>
              <a:spLocks noEditPoints="1"/>
            </p:cNvSpPr>
            <p:nvPr/>
          </p:nvSpPr>
          <p:spPr bwMode="auto">
            <a:xfrm>
              <a:off x="2075" y="1559"/>
              <a:ext cx="285" cy="160"/>
            </a:xfrm>
            <a:custGeom>
              <a:avLst/>
              <a:gdLst>
                <a:gd name="T0" fmla="*/ 285 w 285"/>
                <a:gd name="T1" fmla="*/ 41 h 160"/>
                <a:gd name="T2" fmla="*/ 283 w 285"/>
                <a:gd name="T3" fmla="*/ 36 h 160"/>
                <a:gd name="T4" fmla="*/ 281 w 285"/>
                <a:gd name="T5" fmla="*/ 29 h 160"/>
                <a:gd name="T6" fmla="*/ 278 w 285"/>
                <a:gd name="T7" fmla="*/ 24 h 160"/>
                <a:gd name="T8" fmla="*/ 276 w 285"/>
                <a:gd name="T9" fmla="*/ 19 h 160"/>
                <a:gd name="T10" fmla="*/ 273 w 285"/>
                <a:gd name="T11" fmla="*/ 14 h 160"/>
                <a:gd name="T12" fmla="*/ 271 w 285"/>
                <a:gd name="T13" fmla="*/ 9 h 160"/>
                <a:gd name="T14" fmla="*/ 268 w 285"/>
                <a:gd name="T15" fmla="*/ 5 h 160"/>
                <a:gd name="T16" fmla="*/ 265 w 285"/>
                <a:gd name="T17" fmla="*/ 0 h 160"/>
                <a:gd name="T18" fmla="*/ 262 w 285"/>
                <a:gd name="T19" fmla="*/ 0 h 160"/>
                <a:gd name="T20" fmla="*/ 265 w 285"/>
                <a:gd name="T21" fmla="*/ 5 h 160"/>
                <a:gd name="T22" fmla="*/ 268 w 285"/>
                <a:gd name="T23" fmla="*/ 9 h 160"/>
                <a:gd name="T24" fmla="*/ 271 w 285"/>
                <a:gd name="T25" fmla="*/ 14 h 160"/>
                <a:gd name="T26" fmla="*/ 273 w 285"/>
                <a:gd name="T27" fmla="*/ 21 h 160"/>
                <a:gd name="T28" fmla="*/ 275 w 285"/>
                <a:gd name="T29" fmla="*/ 26 h 160"/>
                <a:gd name="T30" fmla="*/ 278 w 285"/>
                <a:gd name="T31" fmla="*/ 31 h 160"/>
                <a:gd name="T32" fmla="*/ 280 w 285"/>
                <a:gd name="T33" fmla="*/ 36 h 160"/>
                <a:gd name="T34" fmla="*/ 281 w 285"/>
                <a:gd name="T35" fmla="*/ 43 h 160"/>
                <a:gd name="T36" fmla="*/ 285 w 285"/>
                <a:gd name="T37" fmla="*/ 41 h 160"/>
                <a:gd name="T38" fmla="*/ 0 w 285"/>
                <a:gd name="T39" fmla="*/ 119 h 160"/>
                <a:gd name="T40" fmla="*/ 2 w 285"/>
                <a:gd name="T41" fmla="*/ 125 h 160"/>
                <a:gd name="T42" fmla="*/ 3 w 285"/>
                <a:gd name="T43" fmla="*/ 130 h 160"/>
                <a:gd name="T44" fmla="*/ 5 w 285"/>
                <a:gd name="T45" fmla="*/ 135 h 160"/>
                <a:gd name="T46" fmla="*/ 8 w 285"/>
                <a:gd name="T47" fmla="*/ 140 h 160"/>
                <a:gd name="T48" fmla="*/ 10 w 285"/>
                <a:gd name="T49" fmla="*/ 145 h 160"/>
                <a:gd name="T50" fmla="*/ 13 w 285"/>
                <a:gd name="T51" fmla="*/ 150 h 160"/>
                <a:gd name="T52" fmla="*/ 16 w 285"/>
                <a:gd name="T53" fmla="*/ 155 h 160"/>
                <a:gd name="T54" fmla="*/ 18 w 285"/>
                <a:gd name="T55" fmla="*/ 160 h 160"/>
                <a:gd name="T56" fmla="*/ 21 w 285"/>
                <a:gd name="T57" fmla="*/ 158 h 160"/>
                <a:gd name="T58" fmla="*/ 18 w 285"/>
                <a:gd name="T59" fmla="*/ 154 h 160"/>
                <a:gd name="T60" fmla="*/ 16 w 285"/>
                <a:gd name="T61" fmla="*/ 149 h 160"/>
                <a:gd name="T62" fmla="*/ 13 w 285"/>
                <a:gd name="T63" fmla="*/ 144 h 160"/>
                <a:gd name="T64" fmla="*/ 11 w 285"/>
                <a:gd name="T65" fmla="*/ 139 h 160"/>
                <a:gd name="T66" fmla="*/ 8 w 285"/>
                <a:gd name="T67" fmla="*/ 134 h 160"/>
                <a:gd name="T68" fmla="*/ 7 w 285"/>
                <a:gd name="T69" fmla="*/ 129 h 160"/>
                <a:gd name="T70" fmla="*/ 5 w 285"/>
                <a:gd name="T71" fmla="*/ 124 h 160"/>
                <a:gd name="T72" fmla="*/ 3 w 285"/>
                <a:gd name="T73" fmla="*/ 119 h 160"/>
                <a:gd name="T74" fmla="*/ 0 w 285"/>
                <a:gd name="T75" fmla="*/ 11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5" h="160">
                  <a:moveTo>
                    <a:pt x="285" y="41"/>
                  </a:moveTo>
                  <a:lnTo>
                    <a:pt x="283" y="36"/>
                  </a:lnTo>
                  <a:lnTo>
                    <a:pt x="281" y="29"/>
                  </a:lnTo>
                  <a:lnTo>
                    <a:pt x="278" y="24"/>
                  </a:lnTo>
                  <a:lnTo>
                    <a:pt x="276" y="19"/>
                  </a:lnTo>
                  <a:lnTo>
                    <a:pt x="273" y="14"/>
                  </a:lnTo>
                  <a:lnTo>
                    <a:pt x="271" y="9"/>
                  </a:lnTo>
                  <a:lnTo>
                    <a:pt x="268" y="5"/>
                  </a:lnTo>
                  <a:lnTo>
                    <a:pt x="265" y="0"/>
                  </a:lnTo>
                  <a:lnTo>
                    <a:pt x="262" y="0"/>
                  </a:lnTo>
                  <a:lnTo>
                    <a:pt x="265" y="5"/>
                  </a:lnTo>
                  <a:lnTo>
                    <a:pt x="268" y="9"/>
                  </a:lnTo>
                  <a:lnTo>
                    <a:pt x="271" y="14"/>
                  </a:lnTo>
                  <a:lnTo>
                    <a:pt x="273" y="21"/>
                  </a:lnTo>
                  <a:lnTo>
                    <a:pt x="275" y="26"/>
                  </a:lnTo>
                  <a:lnTo>
                    <a:pt x="278" y="31"/>
                  </a:lnTo>
                  <a:lnTo>
                    <a:pt x="280" y="36"/>
                  </a:lnTo>
                  <a:lnTo>
                    <a:pt x="281" y="43"/>
                  </a:lnTo>
                  <a:lnTo>
                    <a:pt x="285" y="41"/>
                  </a:lnTo>
                  <a:close/>
                  <a:moveTo>
                    <a:pt x="0" y="119"/>
                  </a:moveTo>
                  <a:lnTo>
                    <a:pt x="2" y="125"/>
                  </a:lnTo>
                  <a:lnTo>
                    <a:pt x="3" y="130"/>
                  </a:lnTo>
                  <a:lnTo>
                    <a:pt x="5" y="135"/>
                  </a:lnTo>
                  <a:lnTo>
                    <a:pt x="8" y="140"/>
                  </a:lnTo>
                  <a:lnTo>
                    <a:pt x="10" y="145"/>
                  </a:lnTo>
                  <a:lnTo>
                    <a:pt x="13" y="150"/>
                  </a:lnTo>
                  <a:lnTo>
                    <a:pt x="16" y="155"/>
                  </a:lnTo>
                  <a:lnTo>
                    <a:pt x="18" y="160"/>
                  </a:lnTo>
                  <a:lnTo>
                    <a:pt x="21" y="158"/>
                  </a:lnTo>
                  <a:lnTo>
                    <a:pt x="18" y="154"/>
                  </a:lnTo>
                  <a:lnTo>
                    <a:pt x="16" y="149"/>
                  </a:lnTo>
                  <a:lnTo>
                    <a:pt x="13" y="144"/>
                  </a:lnTo>
                  <a:lnTo>
                    <a:pt x="11" y="139"/>
                  </a:lnTo>
                  <a:lnTo>
                    <a:pt x="8" y="134"/>
                  </a:lnTo>
                  <a:lnTo>
                    <a:pt x="7" y="129"/>
                  </a:lnTo>
                  <a:lnTo>
                    <a:pt x="5" y="124"/>
                  </a:lnTo>
                  <a:lnTo>
                    <a:pt x="3" y="119"/>
                  </a:lnTo>
                  <a:lnTo>
                    <a:pt x="0" y="119"/>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42" name="Freeform 584">
              <a:extLst>
                <a:ext uri="{FF2B5EF4-FFF2-40B4-BE49-F238E27FC236}">
                  <a16:creationId xmlns:a16="http://schemas.microsoft.com/office/drawing/2014/main" id="{AF77A815-0D4A-0B7C-2E77-935A14F8E202}"/>
                </a:ext>
              </a:extLst>
            </p:cNvPr>
            <p:cNvSpPr>
              <a:spLocks noEditPoints="1"/>
            </p:cNvSpPr>
            <p:nvPr/>
          </p:nvSpPr>
          <p:spPr bwMode="auto">
            <a:xfrm>
              <a:off x="2077" y="1559"/>
              <a:ext cx="281" cy="160"/>
            </a:xfrm>
            <a:custGeom>
              <a:avLst/>
              <a:gdLst>
                <a:gd name="T0" fmla="*/ 281 w 281"/>
                <a:gd name="T1" fmla="*/ 41 h 160"/>
                <a:gd name="T2" fmla="*/ 279 w 281"/>
                <a:gd name="T3" fmla="*/ 36 h 160"/>
                <a:gd name="T4" fmla="*/ 278 w 281"/>
                <a:gd name="T5" fmla="*/ 31 h 160"/>
                <a:gd name="T6" fmla="*/ 274 w 281"/>
                <a:gd name="T7" fmla="*/ 24 h 160"/>
                <a:gd name="T8" fmla="*/ 273 w 281"/>
                <a:gd name="T9" fmla="*/ 19 h 160"/>
                <a:gd name="T10" fmla="*/ 269 w 281"/>
                <a:gd name="T11" fmla="*/ 14 h 160"/>
                <a:gd name="T12" fmla="*/ 268 w 281"/>
                <a:gd name="T13" fmla="*/ 9 h 160"/>
                <a:gd name="T14" fmla="*/ 265 w 281"/>
                <a:gd name="T15" fmla="*/ 5 h 160"/>
                <a:gd name="T16" fmla="*/ 261 w 281"/>
                <a:gd name="T17" fmla="*/ 0 h 160"/>
                <a:gd name="T18" fmla="*/ 258 w 281"/>
                <a:gd name="T19" fmla="*/ 1 h 160"/>
                <a:gd name="T20" fmla="*/ 261 w 281"/>
                <a:gd name="T21" fmla="*/ 6 h 160"/>
                <a:gd name="T22" fmla="*/ 265 w 281"/>
                <a:gd name="T23" fmla="*/ 11 h 160"/>
                <a:gd name="T24" fmla="*/ 268 w 281"/>
                <a:gd name="T25" fmla="*/ 16 h 160"/>
                <a:gd name="T26" fmla="*/ 269 w 281"/>
                <a:gd name="T27" fmla="*/ 21 h 160"/>
                <a:gd name="T28" fmla="*/ 273 w 281"/>
                <a:gd name="T29" fmla="*/ 26 h 160"/>
                <a:gd name="T30" fmla="*/ 274 w 281"/>
                <a:gd name="T31" fmla="*/ 33 h 160"/>
                <a:gd name="T32" fmla="*/ 276 w 281"/>
                <a:gd name="T33" fmla="*/ 38 h 160"/>
                <a:gd name="T34" fmla="*/ 278 w 281"/>
                <a:gd name="T35" fmla="*/ 43 h 160"/>
                <a:gd name="T36" fmla="*/ 281 w 281"/>
                <a:gd name="T37" fmla="*/ 41 h 160"/>
                <a:gd name="T38" fmla="*/ 0 w 281"/>
                <a:gd name="T39" fmla="*/ 119 h 160"/>
                <a:gd name="T40" fmla="*/ 1 w 281"/>
                <a:gd name="T41" fmla="*/ 124 h 160"/>
                <a:gd name="T42" fmla="*/ 3 w 281"/>
                <a:gd name="T43" fmla="*/ 130 h 160"/>
                <a:gd name="T44" fmla="*/ 5 w 281"/>
                <a:gd name="T45" fmla="*/ 135 h 160"/>
                <a:gd name="T46" fmla="*/ 8 w 281"/>
                <a:gd name="T47" fmla="*/ 140 h 160"/>
                <a:gd name="T48" fmla="*/ 9 w 281"/>
                <a:gd name="T49" fmla="*/ 145 h 160"/>
                <a:gd name="T50" fmla="*/ 13 w 281"/>
                <a:gd name="T51" fmla="*/ 150 h 160"/>
                <a:gd name="T52" fmla="*/ 16 w 281"/>
                <a:gd name="T53" fmla="*/ 155 h 160"/>
                <a:gd name="T54" fmla="*/ 18 w 281"/>
                <a:gd name="T55" fmla="*/ 160 h 160"/>
                <a:gd name="T56" fmla="*/ 21 w 281"/>
                <a:gd name="T57" fmla="*/ 158 h 160"/>
                <a:gd name="T58" fmla="*/ 18 w 281"/>
                <a:gd name="T59" fmla="*/ 154 h 160"/>
                <a:gd name="T60" fmla="*/ 16 w 281"/>
                <a:gd name="T61" fmla="*/ 149 h 160"/>
                <a:gd name="T62" fmla="*/ 13 w 281"/>
                <a:gd name="T63" fmla="*/ 144 h 160"/>
                <a:gd name="T64" fmla="*/ 11 w 281"/>
                <a:gd name="T65" fmla="*/ 139 h 160"/>
                <a:gd name="T66" fmla="*/ 8 w 281"/>
                <a:gd name="T67" fmla="*/ 134 h 160"/>
                <a:gd name="T68" fmla="*/ 6 w 281"/>
                <a:gd name="T69" fmla="*/ 129 h 160"/>
                <a:gd name="T70" fmla="*/ 5 w 281"/>
                <a:gd name="T71" fmla="*/ 122 h 160"/>
                <a:gd name="T72" fmla="*/ 3 w 281"/>
                <a:gd name="T73" fmla="*/ 117 h 160"/>
                <a:gd name="T74" fmla="*/ 0 w 281"/>
                <a:gd name="T75" fmla="*/ 11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1" h="160">
                  <a:moveTo>
                    <a:pt x="281" y="41"/>
                  </a:moveTo>
                  <a:lnTo>
                    <a:pt x="279" y="36"/>
                  </a:lnTo>
                  <a:lnTo>
                    <a:pt x="278" y="31"/>
                  </a:lnTo>
                  <a:lnTo>
                    <a:pt x="274" y="24"/>
                  </a:lnTo>
                  <a:lnTo>
                    <a:pt x="273" y="19"/>
                  </a:lnTo>
                  <a:lnTo>
                    <a:pt x="269" y="14"/>
                  </a:lnTo>
                  <a:lnTo>
                    <a:pt x="268" y="9"/>
                  </a:lnTo>
                  <a:lnTo>
                    <a:pt x="265" y="5"/>
                  </a:lnTo>
                  <a:lnTo>
                    <a:pt x="261" y="0"/>
                  </a:lnTo>
                  <a:lnTo>
                    <a:pt x="258" y="1"/>
                  </a:lnTo>
                  <a:lnTo>
                    <a:pt x="261" y="6"/>
                  </a:lnTo>
                  <a:lnTo>
                    <a:pt x="265" y="11"/>
                  </a:lnTo>
                  <a:lnTo>
                    <a:pt x="268" y="16"/>
                  </a:lnTo>
                  <a:lnTo>
                    <a:pt x="269" y="21"/>
                  </a:lnTo>
                  <a:lnTo>
                    <a:pt x="273" y="26"/>
                  </a:lnTo>
                  <a:lnTo>
                    <a:pt x="274" y="33"/>
                  </a:lnTo>
                  <a:lnTo>
                    <a:pt x="276" y="38"/>
                  </a:lnTo>
                  <a:lnTo>
                    <a:pt x="278" y="43"/>
                  </a:lnTo>
                  <a:lnTo>
                    <a:pt x="281" y="41"/>
                  </a:lnTo>
                  <a:close/>
                  <a:moveTo>
                    <a:pt x="0" y="119"/>
                  </a:moveTo>
                  <a:lnTo>
                    <a:pt x="1" y="124"/>
                  </a:lnTo>
                  <a:lnTo>
                    <a:pt x="3" y="130"/>
                  </a:lnTo>
                  <a:lnTo>
                    <a:pt x="5" y="135"/>
                  </a:lnTo>
                  <a:lnTo>
                    <a:pt x="8" y="140"/>
                  </a:lnTo>
                  <a:lnTo>
                    <a:pt x="9" y="145"/>
                  </a:lnTo>
                  <a:lnTo>
                    <a:pt x="13" y="150"/>
                  </a:lnTo>
                  <a:lnTo>
                    <a:pt x="16" y="155"/>
                  </a:lnTo>
                  <a:lnTo>
                    <a:pt x="18" y="160"/>
                  </a:lnTo>
                  <a:lnTo>
                    <a:pt x="21" y="158"/>
                  </a:lnTo>
                  <a:lnTo>
                    <a:pt x="18" y="154"/>
                  </a:lnTo>
                  <a:lnTo>
                    <a:pt x="16" y="149"/>
                  </a:lnTo>
                  <a:lnTo>
                    <a:pt x="13" y="144"/>
                  </a:lnTo>
                  <a:lnTo>
                    <a:pt x="11" y="139"/>
                  </a:lnTo>
                  <a:lnTo>
                    <a:pt x="8" y="134"/>
                  </a:lnTo>
                  <a:lnTo>
                    <a:pt x="6" y="129"/>
                  </a:lnTo>
                  <a:lnTo>
                    <a:pt x="5" y="122"/>
                  </a:lnTo>
                  <a:lnTo>
                    <a:pt x="3" y="117"/>
                  </a:lnTo>
                  <a:lnTo>
                    <a:pt x="0" y="119"/>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43" name="Freeform 585">
              <a:extLst>
                <a:ext uri="{FF2B5EF4-FFF2-40B4-BE49-F238E27FC236}">
                  <a16:creationId xmlns:a16="http://schemas.microsoft.com/office/drawing/2014/main" id="{80EED05B-C7B6-98AD-E66B-36A240B04770}"/>
                </a:ext>
              </a:extLst>
            </p:cNvPr>
            <p:cNvSpPr>
              <a:spLocks noEditPoints="1"/>
            </p:cNvSpPr>
            <p:nvPr/>
          </p:nvSpPr>
          <p:spPr bwMode="auto">
            <a:xfrm>
              <a:off x="2078" y="1559"/>
              <a:ext cx="278" cy="158"/>
            </a:xfrm>
            <a:custGeom>
              <a:avLst/>
              <a:gdLst>
                <a:gd name="T0" fmla="*/ 278 w 278"/>
                <a:gd name="T1" fmla="*/ 43 h 158"/>
                <a:gd name="T2" fmla="*/ 277 w 278"/>
                <a:gd name="T3" fmla="*/ 36 h 158"/>
                <a:gd name="T4" fmla="*/ 275 w 278"/>
                <a:gd name="T5" fmla="*/ 31 h 158"/>
                <a:gd name="T6" fmla="*/ 272 w 278"/>
                <a:gd name="T7" fmla="*/ 26 h 158"/>
                <a:gd name="T8" fmla="*/ 270 w 278"/>
                <a:gd name="T9" fmla="*/ 21 h 158"/>
                <a:gd name="T10" fmla="*/ 268 w 278"/>
                <a:gd name="T11" fmla="*/ 14 h 158"/>
                <a:gd name="T12" fmla="*/ 265 w 278"/>
                <a:gd name="T13" fmla="*/ 9 h 158"/>
                <a:gd name="T14" fmla="*/ 262 w 278"/>
                <a:gd name="T15" fmla="*/ 5 h 158"/>
                <a:gd name="T16" fmla="*/ 259 w 278"/>
                <a:gd name="T17" fmla="*/ 0 h 158"/>
                <a:gd name="T18" fmla="*/ 257 w 278"/>
                <a:gd name="T19" fmla="*/ 1 h 158"/>
                <a:gd name="T20" fmla="*/ 259 w 278"/>
                <a:gd name="T21" fmla="*/ 6 h 158"/>
                <a:gd name="T22" fmla="*/ 262 w 278"/>
                <a:gd name="T23" fmla="*/ 11 h 158"/>
                <a:gd name="T24" fmla="*/ 265 w 278"/>
                <a:gd name="T25" fmla="*/ 16 h 158"/>
                <a:gd name="T26" fmla="*/ 267 w 278"/>
                <a:gd name="T27" fmla="*/ 21 h 158"/>
                <a:gd name="T28" fmla="*/ 270 w 278"/>
                <a:gd name="T29" fmla="*/ 28 h 158"/>
                <a:gd name="T30" fmla="*/ 272 w 278"/>
                <a:gd name="T31" fmla="*/ 33 h 158"/>
                <a:gd name="T32" fmla="*/ 273 w 278"/>
                <a:gd name="T33" fmla="*/ 38 h 158"/>
                <a:gd name="T34" fmla="*/ 275 w 278"/>
                <a:gd name="T35" fmla="*/ 44 h 158"/>
                <a:gd name="T36" fmla="*/ 278 w 278"/>
                <a:gd name="T37" fmla="*/ 43 h 158"/>
                <a:gd name="T38" fmla="*/ 0 w 278"/>
                <a:gd name="T39" fmla="*/ 119 h 158"/>
                <a:gd name="T40" fmla="*/ 2 w 278"/>
                <a:gd name="T41" fmla="*/ 124 h 158"/>
                <a:gd name="T42" fmla="*/ 4 w 278"/>
                <a:gd name="T43" fmla="*/ 129 h 158"/>
                <a:gd name="T44" fmla="*/ 5 w 278"/>
                <a:gd name="T45" fmla="*/ 134 h 158"/>
                <a:gd name="T46" fmla="*/ 8 w 278"/>
                <a:gd name="T47" fmla="*/ 139 h 158"/>
                <a:gd name="T48" fmla="*/ 10 w 278"/>
                <a:gd name="T49" fmla="*/ 144 h 158"/>
                <a:gd name="T50" fmla="*/ 13 w 278"/>
                <a:gd name="T51" fmla="*/ 149 h 158"/>
                <a:gd name="T52" fmla="*/ 15 w 278"/>
                <a:gd name="T53" fmla="*/ 154 h 158"/>
                <a:gd name="T54" fmla="*/ 18 w 278"/>
                <a:gd name="T55" fmla="*/ 158 h 158"/>
                <a:gd name="T56" fmla="*/ 22 w 278"/>
                <a:gd name="T57" fmla="*/ 157 h 158"/>
                <a:gd name="T58" fmla="*/ 18 w 278"/>
                <a:gd name="T59" fmla="*/ 152 h 158"/>
                <a:gd name="T60" fmla="*/ 17 w 278"/>
                <a:gd name="T61" fmla="*/ 149 h 158"/>
                <a:gd name="T62" fmla="*/ 13 w 278"/>
                <a:gd name="T63" fmla="*/ 144 h 158"/>
                <a:gd name="T64" fmla="*/ 10 w 278"/>
                <a:gd name="T65" fmla="*/ 139 h 158"/>
                <a:gd name="T66" fmla="*/ 8 w 278"/>
                <a:gd name="T67" fmla="*/ 132 h 158"/>
                <a:gd name="T68" fmla="*/ 7 w 278"/>
                <a:gd name="T69" fmla="*/ 127 h 158"/>
                <a:gd name="T70" fmla="*/ 5 w 278"/>
                <a:gd name="T71" fmla="*/ 122 h 158"/>
                <a:gd name="T72" fmla="*/ 4 w 278"/>
                <a:gd name="T73" fmla="*/ 117 h 158"/>
                <a:gd name="T74" fmla="*/ 0 w 278"/>
                <a:gd name="T75" fmla="*/ 119 h 1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78" h="158">
                  <a:moveTo>
                    <a:pt x="278" y="43"/>
                  </a:moveTo>
                  <a:lnTo>
                    <a:pt x="277" y="36"/>
                  </a:lnTo>
                  <a:lnTo>
                    <a:pt x="275" y="31"/>
                  </a:lnTo>
                  <a:lnTo>
                    <a:pt x="272" y="26"/>
                  </a:lnTo>
                  <a:lnTo>
                    <a:pt x="270" y="21"/>
                  </a:lnTo>
                  <a:lnTo>
                    <a:pt x="268" y="14"/>
                  </a:lnTo>
                  <a:lnTo>
                    <a:pt x="265" y="9"/>
                  </a:lnTo>
                  <a:lnTo>
                    <a:pt x="262" y="5"/>
                  </a:lnTo>
                  <a:lnTo>
                    <a:pt x="259" y="0"/>
                  </a:lnTo>
                  <a:lnTo>
                    <a:pt x="257" y="1"/>
                  </a:lnTo>
                  <a:lnTo>
                    <a:pt x="259" y="6"/>
                  </a:lnTo>
                  <a:lnTo>
                    <a:pt x="262" y="11"/>
                  </a:lnTo>
                  <a:lnTo>
                    <a:pt x="265" y="16"/>
                  </a:lnTo>
                  <a:lnTo>
                    <a:pt x="267" y="21"/>
                  </a:lnTo>
                  <a:lnTo>
                    <a:pt x="270" y="28"/>
                  </a:lnTo>
                  <a:lnTo>
                    <a:pt x="272" y="33"/>
                  </a:lnTo>
                  <a:lnTo>
                    <a:pt x="273" y="38"/>
                  </a:lnTo>
                  <a:lnTo>
                    <a:pt x="275" y="44"/>
                  </a:lnTo>
                  <a:lnTo>
                    <a:pt x="278" y="43"/>
                  </a:lnTo>
                  <a:close/>
                  <a:moveTo>
                    <a:pt x="0" y="119"/>
                  </a:moveTo>
                  <a:lnTo>
                    <a:pt x="2" y="124"/>
                  </a:lnTo>
                  <a:lnTo>
                    <a:pt x="4" y="129"/>
                  </a:lnTo>
                  <a:lnTo>
                    <a:pt x="5" y="134"/>
                  </a:lnTo>
                  <a:lnTo>
                    <a:pt x="8" y="139"/>
                  </a:lnTo>
                  <a:lnTo>
                    <a:pt x="10" y="144"/>
                  </a:lnTo>
                  <a:lnTo>
                    <a:pt x="13" y="149"/>
                  </a:lnTo>
                  <a:lnTo>
                    <a:pt x="15" y="154"/>
                  </a:lnTo>
                  <a:lnTo>
                    <a:pt x="18" y="158"/>
                  </a:lnTo>
                  <a:lnTo>
                    <a:pt x="22" y="157"/>
                  </a:lnTo>
                  <a:lnTo>
                    <a:pt x="18" y="152"/>
                  </a:lnTo>
                  <a:lnTo>
                    <a:pt x="17" y="149"/>
                  </a:lnTo>
                  <a:lnTo>
                    <a:pt x="13" y="144"/>
                  </a:lnTo>
                  <a:lnTo>
                    <a:pt x="10" y="139"/>
                  </a:lnTo>
                  <a:lnTo>
                    <a:pt x="8" y="132"/>
                  </a:lnTo>
                  <a:lnTo>
                    <a:pt x="7" y="127"/>
                  </a:lnTo>
                  <a:lnTo>
                    <a:pt x="5" y="122"/>
                  </a:lnTo>
                  <a:lnTo>
                    <a:pt x="4" y="117"/>
                  </a:lnTo>
                  <a:lnTo>
                    <a:pt x="0" y="119"/>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44" name="Freeform 586">
              <a:extLst>
                <a:ext uri="{FF2B5EF4-FFF2-40B4-BE49-F238E27FC236}">
                  <a16:creationId xmlns:a16="http://schemas.microsoft.com/office/drawing/2014/main" id="{25BB19E7-CB0F-D11A-29A0-57BBF3F942D2}"/>
                </a:ext>
              </a:extLst>
            </p:cNvPr>
            <p:cNvSpPr>
              <a:spLocks noEditPoints="1"/>
            </p:cNvSpPr>
            <p:nvPr/>
          </p:nvSpPr>
          <p:spPr bwMode="auto">
            <a:xfrm>
              <a:off x="2080" y="1560"/>
              <a:ext cx="275" cy="157"/>
            </a:xfrm>
            <a:custGeom>
              <a:avLst/>
              <a:gdLst>
                <a:gd name="T0" fmla="*/ 275 w 275"/>
                <a:gd name="T1" fmla="*/ 42 h 157"/>
                <a:gd name="T2" fmla="*/ 273 w 275"/>
                <a:gd name="T3" fmla="*/ 37 h 157"/>
                <a:gd name="T4" fmla="*/ 271 w 275"/>
                <a:gd name="T5" fmla="*/ 32 h 157"/>
                <a:gd name="T6" fmla="*/ 270 w 275"/>
                <a:gd name="T7" fmla="*/ 25 h 157"/>
                <a:gd name="T8" fmla="*/ 266 w 275"/>
                <a:gd name="T9" fmla="*/ 20 h 157"/>
                <a:gd name="T10" fmla="*/ 265 w 275"/>
                <a:gd name="T11" fmla="*/ 15 h 157"/>
                <a:gd name="T12" fmla="*/ 262 w 275"/>
                <a:gd name="T13" fmla="*/ 10 h 157"/>
                <a:gd name="T14" fmla="*/ 258 w 275"/>
                <a:gd name="T15" fmla="*/ 5 h 157"/>
                <a:gd name="T16" fmla="*/ 255 w 275"/>
                <a:gd name="T17" fmla="*/ 0 h 157"/>
                <a:gd name="T18" fmla="*/ 253 w 275"/>
                <a:gd name="T19" fmla="*/ 2 h 157"/>
                <a:gd name="T20" fmla="*/ 255 w 275"/>
                <a:gd name="T21" fmla="*/ 7 h 157"/>
                <a:gd name="T22" fmla="*/ 258 w 275"/>
                <a:gd name="T23" fmla="*/ 12 h 157"/>
                <a:gd name="T24" fmla="*/ 262 w 275"/>
                <a:gd name="T25" fmla="*/ 17 h 157"/>
                <a:gd name="T26" fmla="*/ 263 w 275"/>
                <a:gd name="T27" fmla="*/ 22 h 157"/>
                <a:gd name="T28" fmla="*/ 266 w 275"/>
                <a:gd name="T29" fmla="*/ 27 h 157"/>
                <a:gd name="T30" fmla="*/ 268 w 275"/>
                <a:gd name="T31" fmla="*/ 32 h 157"/>
                <a:gd name="T32" fmla="*/ 270 w 275"/>
                <a:gd name="T33" fmla="*/ 38 h 157"/>
                <a:gd name="T34" fmla="*/ 271 w 275"/>
                <a:gd name="T35" fmla="*/ 43 h 157"/>
                <a:gd name="T36" fmla="*/ 275 w 275"/>
                <a:gd name="T37" fmla="*/ 42 h 157"/>
                <a:gd name="T38" fmla="*/ 0 w 275"/>
                <a:gd name="T39" fmla="*/ 116 h 157"/>
                <a:gd name="T40" fmla="*/ 2 w 275"/>
                <a:gd name="T41" fmla="*/ 121 h 157"/>
                <a:gd name="T42" fmla="*/ 3 w 275"/>
                <a:gd name="T43" fmla="*/ 128 h 157"/>
                <a:gd name="T44" fmla="*/ 5 w 275"/>
                <a:gd name="T45" fmla="*/ 133 h 157"/>
                <a:gd name="T46" fmla="*/ 8 w 275"/>
                <a:gd name="T47" fmla="*/ 138 h 157"/>
                <a:gd name="T48" fmla="*/ 10 w 275"/>
                <a:gd name="T49" fmla="*/ 143 h 157"/>
                <a:gd name="T50" fmla="*/ 13 w 275"/>
                <a:gd name="T51" fmla="*/ 148 h 157"/>
                <a:gd name="T52" fmla="*/ 15 w 275"/>
                <a:gd name="T53" fmla="*/ 153 h 157"/>
                <a:gd name="T54" fmla="*/ 18 w 275"/>
                <a:gd name="T55" fmla="*/ 157 h 157"/>
                <a:gd name="T56" fmla="*/ 21 w 275"/>
                <a:gd name="T57" fmla="*/ 156 h 157"/>
                <a:gd name="T58" fmla="*/ 18 w 275"/>
                <a:gd name="T59" fmla="*/ 151 h 157"/>
                <a:gd name="T60" fmla="*/ 15 w 275"/>
                <a:gd name="T61" fmla="*/ 146 h 157"/>
                <a:gd name="T62" fmla="*/ 13 w 275"/>
                <a:gd name="T63" fmla="*/ 141 h 157"/>
                <a:gd name="T64" fmla="*/ 10 w 275"/>
                <a:gd name="T65" fmla="*/ 136 h 157"/>
                <a:gd name="T66" fmla="*/ 8 w 275"/>
                <a:gd name="T67" fmla="*/ 131 h 157"/>
                <a:gd name="T68" fmla="*/ 6 w 275"/>
                <a:gd name="T69" fmla="*/ 126 h 157"/>
                <a:gd name="T70" fmla="*/ 5 w 275"/>
                <a:gd name="T71" fmla="*/ 121 h 157"/>
                <a:gd name="T72" fmla="*/ 3 w 275"/>
                <a:gd name="T73" fmla="*/ 114 h 157"/>
                <a:gd name="T74" fmla="*/ 0 w 275"/>
                <a:gd name="T75" fmla="*/ 116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75" h="157">
                  <a:moveTo>
                    <a:pt x="275" y="42"/>
                  </a:moveTo>
                  <a:lnTo>
                    <a:pt x="273" y="37"/>
                  </a:lnTo>
                  <a:lnTo>
                    <a:pt x="271" y="32"/>
                  </a:lnTo>
                  <a:lnTo>
                    <a:pt x="270" y="25"/>
                  </a:lnTo>
                  <a:lnTo>
                    <a:pt x="266" y="20"/>
                  </a:lnTo>
                  <a:lnTo>
                    <a:pt x="265" y="15"/>
                  </a:lnTo>
                  <a:lnTo>
                    <a:pt x="262" y="10"/>
                  </a:lnTo>
                  <a:lnTo>
                    <a:pt x="258" y="5"/>
                  </a:lnTo>
                  <a:lnTo>
                    <a:pt x="255" y="0"/>
                  </a:lnTo>
                  <a:lnTo>
                    <a:pt x="253" y="2"/>
                  </a:lnTo>
                  <a:lnTo>
                    <a:pt x="255" y="7"/>
                  </a:lnTo>
                  <a:lnTo>
                    <a:pt x="258" y="12"/>
                  </a:lnTo>
                  <a:lnTo>
                    <a:pt x="262" y="17"/>
                  </a:lnTo>
                  <a:lnTo>
                    <a:pt x="263" y="22"/>
                  </a:lnTo>
                  <a:lnTo>
                    <a:pt x="266" y="27"/>
                  </a:lnTo>
                  <a:lnTo>
                    <a:pt x="268" y="32"/>
                  </a:lnTo>
                  <a:lnTo>
                    <a:pt x="270" y="38"/>
                  </a:lnTo>
                  <a:lnTo>
                    <a:pt x="271" y="43"/>
                  </a:lnTo>
                  <a:lnTo>
                    <a:pt x="275" y="42"/>
                  </a:lnTo>
                  <a:close/>
                  <a:moveTo>
                    <a:pt x="0" y="116"/>
                  </a:moveTo>
                  <a:lnTo>
                    <a:pt x="2" y="121"/>
                  </a:lnTo>
                  <a:lnTo>
                    <a:pt x="3" y="128"/>
                  </a:lnTo>
                  <a:lnTo>
                    <a:pt x="5" y="133"/>
                  </a:lnTo>
                  <a:lnTo>
                    <a:pt x="8" y="138"/>
                  </a:lnTo>
                  <a:lnTo>
                    <a:pt x="10" y="143"/>
                  </a:lnTo>
                  <a:lnTo>
                    <a:pt x="13" y="148"/>
                  </a:lnTo>
                  <a:lnTo>
                    <a:pt x="15" y="153"/>
                  </a:lnTo>
                  <a:lnTo>
                    <a:pt x="18" y="157"/>
                  </a:lnTo>
                  <a:lnTo>
                    <a:pt x="21" y="156"/>
                  </a:lnTo>
                  <a:lnTo>
                    <a:pt x="18" y="151"/>
                  </a:lnTo>
                  <a:lnTo>
                    <a:pt x="15" y="146"/>
                  </a:lnTo>
                  <a:lnTo>
                    <a:pt x="13" y="141"/>
                  </a:lnTo>
                  <a:lnTo>
                    <a:pt x="10" y="136"/>
                  </a:lnTo>
                  <a:lnTo>
                    <a:pt x="8" y="131"/>
                  </a:lnTo>
                  <a:lnTo>
                    <a:pt x="6" y="126"/>
                  </a:lnTo>
                  <a:lnTo>
                    <a:pt x="5" y="121"/>
                  </a:lnTo>
                  <a:lnTo>
                    <a:pt x="3" y="114"/>
                  </a:lnTo>
                  <a:lnTo>
                    <a:pt x="0" y="116"/>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45" name="Freeform 587">
              <a:extLst>
                <a:ext uri="{FF2B5EF4-FFF2-40B4-BE49-F238E27FC236}">
                  <a16:creationId xmlns:a16="http://schemas.microsoft.com/office/drawing/2014/main" id="{56E6B5BC-16E3-BF26-B22A-EC1ACB5B0AE1}"/>
                </a:ext>
              </a:extLst>
            </p:cNvPr>
            <p:cNvSpPr>
              <a:spLocks noEditPoints="1"/>
            </p:cNvSpPr>
            <p:nvPr/>
          </p:nvSpPr>
          <p:spPr bwMode="auto">
            <a:xfrm>
              <a:off x="2082" y="1560"/>
              <a:ext cx="271" cy="156"/>
            </a:xfrm>
            <a:custGeom>
              <a:avLst/>
              <a:gdLst>
                <a:gd name="T0" fmla="*/ 271 w 271"/>
                <a:gd name="T1" fmla="*/ 43 h 156"/>
                <a:gd name="T2" fmla="*/ 269 w 271"/>
                <a:gd name="T3" fmla="*/ 37 h 156"/>
                <a:gd name="T4" fmla="*/ 268 w 271"/>
                <a:gd name="T5" fmla="*/ 32 h 156"/>
                <a:gd name="T6" fmla="*/ 266 w 271"/>
                <a:gd name="T7" fmla="*/ 27 h 156"/>
                <a:gd name="T8" fmla="*/ 263 w 271"/>
                <a:gd name="T9" fmla="*/ 20 h 156"/>
                <a:gd name="T10" fmla="*/ 261 w 271"/>
                <a:gd name="T11" fmla="*/ 15 h 156"/>
                <a:gd name="T12" fmla="*/ 258 w 271"/>
                <a:gd name="T13" fmla="*/ 10 h 156"/>
                <a:gd name="T14" fmla="*/ 255 w 271"/>
                <a:gd name="T15" fmla="*/ 5 h 156"/>
                <a:gd name="T16" fmla="*/ 253 w 271"/>
                <a:gd name="T17" fmla="*/ 0 h 156"/>
                <a:gd name="T18" fmla="*/ 250 w 271"/>
                <a:gd name="T19" fmla="*/ 2 h 156"/>
                <a:gd name="T20" fmla="*/ 253 w 271"/>
                <a:gd name="T21" fmla="*/ 7 h 156"/>
                <a:gd name="T22" fmla="*/ 255 w 271"/>
                <a:gd name="T23" fmla="*/ 12 h 156"/>
                <a:gd name="T24" fmla="*/ 258 w 271"/>
                <a:gd name="T25" fmla="*/ 17 h 156"/>
                <a:gd name="T26" fmla="*/ 260 w 271"/>
                <a:gd name="T27" fmla="*/ 22 h 156"/>
                <a:gd name="T28" fmla="*/ 263 w 271"/>
                <a:gd name="T29" fmla="*/ 27 h 156"/>
                <a:gd name="T30" fmla="*/ 264 w 271"/>
                <a:gd name="T31" fmla="*/ 33 h 156"/>
                <a:gd name="T32" fmla="*/ 266 w 271"/>
                <a:gd name="T33" fmla="*/ 38 h 156"/>
                <a:gd name="T34" fmla="*/ 268 w 271"/>
                <a:gd name="T35" fmla="*/ 45 h 156"/>
                <a:gd name="T36" fmla="*/ 271 w 271"/>
                <a:gd name="T37" fmla="*/ 43 h 156"/>
                <a:gd name="T38" fmla="*/ 0 w 271"/>
                <a:gd name="T39" fmla="*/ 116 h 156"/>
                <a:gd name="T40" fmla="*/ 1 w 271"/>
                <a:gd name="T41" fmla="*/ 121 h 156"/>
                <a:gd name="T42" fmla="*/ 3 w 271"/>
                <a:gd name="T43" fmla="*/ 126 h 156"/>
                <a:gd name="T44" fmla="*/ 4 w 271"/>
                <a:gd name="T45" fmla="*/ 131 h 156"/>
                <a:gd name="T46" fmla="*/ 6 w 271"/>
                <a:gd name="T47" fmla="*/ 138 h 156"/>
                <a:gd name="T48" fmla="*/ 9 w 271"/>
                <a:gd name="T49" fmla="*/ 143 h 156"/>
                <a:gd name="T50" fmla="*/ 13 w 271"/>
                <a:gd name="T51" fmla="*/ 148 h 156"/>
                <a:gd name="T52" fmla="*/ 14 w 271"/>
                <a:gd name="T53" fmla="*/ 151 h 156"/>
                <a:gd name="T54" fmla="*/ 18 w 271"/>
                <a:gd name="T55" fmla="*/ 156 h 156"/>
                <a:gd name="T56" fmla="*/ 21 w 271"/>
                <a:gd name="T57" fmla="*/ 156 h 156"/>
                <a:gd name="T58" fmla="*/ 18 w 271"/>
                <a:gd name="T59" fmla="*/ 151 h 156"/>
                <a:gd name="T60" fmla="*/ 14 w 271"/>
                <a:gd name="T61" fmla="*/ 146 h 156"/>
                <a:gd name="T62" fmla="*/ 13 w 271"/>
                <a:gd name="T63" fmla="*/ 141 h 156"/>
                <a:gd name="T64" fmla="*/ 9 w 271"/>
                <a:gd name="T65" fmla="*/ 136 h 156"/>
                <a:gd name="T66" fmla="*/ 8 w 271"/>
                <a:gd name="T67" fmla="*/ 131 h 156"/>
                <a:gd name="T68" fmla="*/ 6 w 271"/>
                <a:gd name="T69" fmla="*/ 124 h 156"/>
                <a:gd name="T70" fmla="*/ 4 w 271"/>
                <a:gd name="T71" fmla="*/ 119 h 156"/>
                <a:gd name="T72" fmla="*/ 3 w 271"/>
                <a:gd name="T73" fmla="*/ 114 h 156"/>
                <a:gd name="T74" fmla="*/ 0 w 271"/>
                <a:gd name="T75" fmla="*/ 116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71" h="156">
                  <a:moveTo>
                    <a:pt x="271" y="43"/>
                  </a:moveTo>
                  <a:lnTo>
                    <a:pt x="269" y="37"/>
                  </a:lnTo>
                  <a:lnTo>
                    <a:pt x="268" y="32"/>
                  </a:lnTo>
                  <a:lnTo>
                    <a:pt x="266" y="27"/>
                  </a:lnTo>
                  <a:lnTo>
                    <a:pt x="263" y="20"/>
                  </a:lnTo>
                  <a:lnTo>
                    <a:pt x="261" y="15"/>
                  </a:lnTo>
                  <a:lnTo>
                    <a:pt x="258" y="10"/>
                  </a:lnTo>
                  <a:lnTo>
                    <a:pt x="255" y="5"/>
                  </a:lnTo>
                  <a:lnTo>
                    <a:pt x="253" y="0"/>
                  </a:lnTo>
                  <a:lnTo>
                    <a:pt x="250" y="2"/>
                  </a:lnTo>
                  <a:lnTo>
                    <a:pt x="253" y="7"/>
                  </a:lnTo>
                  <a:lnTo>
                    <a:pt x="255" y="12"/>
                  </a:lnTo>
                  <a:lnTo>
                    <a:pt x="258" y="17"/>
                  </a:lnTo>
                  <a:lnTo>
                    <a:pt x="260" y="22"/>
                  </a:lnTo>
                  <a:lnTo>
                    <a:pt x="263" y="27"/>
                  </a:lnTo>
                  <a:lnTo>
                    <a:pt x="264" y="33"/>
                  </a:lnTo>
                  <a:lnTo>
                    <a:pt x="266" y="38"/>
                  </a:lnTo>
                  <a:lnTo>
                    <a:pt x="268" y="45"/>
                  </a:lnTo>
                  <a:lnTo>
                    <a:pt x="271" y="43"/>
                  </a:lnTo>
                  <a:close/>
                  <a:moveTo>
                    <a:pt x="0" y="116"/>
                  </a:moveTo>
                  <a:lnTo>
                    <a:pt x="1" y="121"/>
                  </a:lnTo>
                  <a:lnTo>
                    <a:pt x="3" y="126"/>
                  </a:lnTo>
                  <a:lnTo>
                    <a:pt x="4" y="131"/>
                  </a:lnTo>
                  <a:lnTo>
                    <a:pt x="6" y="138"/>
                  </a:lnTo>
                  <a:lnTo>
                    <a:pt x="9" y="143"/>
                  </a:lnTo>
                  <a:lnTo>
                    <a:pt x="13" y="148"/>
                  </a:lnTo>
                  <a:lnTo>
                    <a:pt x="14" y="151"/>
                  </a:lnTo>
                  <a:lnTo>
                    <a:pt x="18" y="156"/>
                  </a:lnTo>
                  <a:lnTo>
                    <a:pt x="21" y="156"/>
                  </a:lnTo>
                  <a:lnTo>
                    <a:pt x="18" y="151"/>
                  </a:lnTo>
                  <a:lnTo>
                    <a:pt x="14" y="146"/>
                  </a:lnTo>
                  <a:lnTo>
                    <a:pt x="13" y="141"/>
                  </a:lnTo>
                  <a:lnTo>
                    <a:pt x="9" y="136"/>
                  </a:lnTo>
                  <a:lnTo>
                    <a:pt x="8" y="131"/>
                  </a:lnTo>
                  <a:lnTo>
                    <a:pt x="6" y="124"/>
                  </a:lnTo>
                  <a:lnTo>
                    <a:pt x="4" y="119"/>
                  </a:lnTo>
                  <a:lnTo>
                    <a:pt x="3" y="114"/>
                  </a:lnTo>
                  <a:lnTo>
                    <a:pt x="0" y="116"/>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46" name="Freeform 588">
              <a:extLst>
                <a:ext uri="{FF2B5EF4-FFF2-40B4-BE49-F238E27FC236}">
                  <a16:creationId xmlns:a16="http://schemas.microsoft.com/office/drawing/2014/main" id="{8E86A5E9-A9CD-BDD7-8F7C-68D1FAF6695F}"/>
                </a:ext>
              </a:extLst>
            </p:cNvPr>
            <p:cNvSpPr>
              <a:spLocks noEditPoints="1"/>
            </p:cNvSpPr>
            <p:nvPr/>
          </p:nvSpPr>
          <p:spPr bwMode="auto">
            <a:xfrm>
              <a:off x="2083" y="1562"/>
              <a:ext cx="268" cy="154"/>
            </a:xfrm>
            <a:custGeom>
              <a:avLst/>
              <a:gdLst>
                <a:gd name="T0" fmla="*/ 268 w 268"/>
                <a:gd name="T1" fmla="*/ 41 h 154"/>
                <a:gd name="T2" fmla="*/ 267 w 268"/>
                <a:gd name="T3" fmla="*/ 36 h 154"/>
                <a:gd name="T4" fmla="*/ 265 w 268"/>
                <a:gd name="T5" fmla="*/ 30 h 154"/>
                <a:gd name="T6" fmla="*/ 263 w 268"/>
                <a:gd name="T7" fmla="*/ 25 h 154"/>
                <a:gd name="T8" fmla="*/ 260 w 268"/>
                <a:gd name="T9" fmla="*/ 20 h 154"/>
                <a:gd name="T10" fmla="*/ 259 w 268"/>
                <a:gd name="T11" fmla="*/ 15 h 154"/>
                <a:gd name="T12" fmla="*/ 255 w 268"/>
                <a:gd name="T13" fmla="*/ 10 h 154"/>
                <a:gd name="T14" fmla="*/ 252 w 268"/>
                <a:gd name="T15" fmla="*/ 5 h 154"/>
                <a:gd name="T16" fmla="*/ 250 w 268"/>
                <a:gd name="T17" fmla="*/ 0 h 154"/>
                <a:gd name="T18" fmla="*/ 247 w 268"/>
                <a:gd name="T19" fmla="*/ 2 h 154"/>
                <a:gd name="T20" fmla="*/ 250 w 268"/>
                <a:gd name="T21" fmla="*/ 5 h 154"/>
                <a:gd name="T22" fmla="*/ 252 w 268"/>
                <a:gd name="T23" fmla="*/ 10 h 154"/>
                <a:gd name="T24" fmla="*/ 255 w 268"/>
                <a:gd name="T25" fmla="*/ 16 h 154"/>
                <a:gd name="T26" fmla="*/ 259 w 268"/>
                <a:gd name="T27" fmla="*/ 21 h 154"/>
                <a:gd name="T28" fmla="*/ 260 w 268"/>
                <a:gd name="T29" fmla="*/ 26 h 154"/>
                <a:gd name="T30" fmla="*/ 262 w 268"/>
                <a:gd name="T31" fmla="*/ 31 h 154"/>
                <a:gd name="T32" fmla="*/ 263 w 268"/>
                <a:gd name="T33" fmla="*/ 38 h 154"/>
                <a:gd name="T34" fmla="*/ 265 w 268"/>
                <a:gd name="T35" fmla="*/ 43 h 154"/>
                <a:gd name="T36" fmla="*/ 268 w 268"/>
                <a:gd name="T37" fmla="*/ 41 h 154"/>
                <a:gd name="T38" fmla="*/ 0 w 268"/>
                <a:gd name="T39" fmla="*/ 112 h 154"/>
                <a:gd name="T40" fmla="*/ 2 w 268"/>
                <a:gd name="T41" fmla="*/ 119 h 154"/>
                <a:gd name="T42" fmla="*/ 3 w 268"/>
                <a:gd name="T43" fmla="*/ 124 h 154"/>
                <a:gd name="T44" fmla="*/ 5 w 268"/>
                <a:gd name="T45" fmla="*/ 129 h 154"/>
                <a:gd name="T46" fmla="*/ 7 w 268"/>
                <a:gd name="T47" fmla="*/ 134 h 154"/>
                <a:gd name="T48" fmla="*/ 10 w 268"/>
                <a:gd name="T49" fmla="*/ 139 h 154"/>
                <a:gd name="T50" fmla="*/ 12 w 268"/>
                <a:gd name="T51" fmla="*/ 144 h 154"/>
                <a:gd name="T52" fmla="*/ 15 w 268"/>
                <a:gd name="T53" fmla="*/ 149 h 154"/>
                <a:gd name="T54" fmla="*/ 18 w 268"/>
                <a:gd name="T55" fmla="*/ 154 h 154"/>
                <a:gd name="T56" fmla="*/ 22 w 268"/>
                <a:gd name="T57" fmla="*/ 152 h 154"/>
                <a:gd name="T58" fmla="*/ 18 w 268"/>
                <a:gd name="T59" fmla="*/ 147 h 154"/>
                <a:gd name="T60" fmla="*/ 15 w 268"/>
                <a:gd name="T61" fmla="*/ 142 h 154"/>
                <a:gd name="T62" fmla="*/ 13 w 268"/>
                <a:gd name="T63" fmla="*/ 137 h 154"/>
                <a:gd name="T64" fmla="*/ 10 w 268"/>
                <a:gd name="T65" fmla="*/ 132 h 154"/>
                <a:gd name="T66" fmla="*/ 8 w 268"/>
                <a:gd name="T67" fmla="*/ 127 h 154"/>
                <a:gd name="T68" fmla="*/ 7 w 268"/>
                <a:gd name="T69" fmla="*/ 122 h 154"/>
                <a:gd name="T70" fmla="*/ 5 w 268"/>
                <a:gd name="T71" fmla="*/ 117 h 154"/>
                <a:gd name="T72" fmla="*/ 3 w 268"/>
                <a:gd name="T73" fmla="*/ 111 h 154"/>
                <a:gd name="T74" fmla="*/ 0 w 268"/>
                <a:gd name="T75" fmla="*/ 112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68" h="154">
                  <a:moveTo>
                    <a:pt x="268" y="41"/>
                  </a:moveTo>
                  <a:lnTo>
                    <a:pt x="267" y="36"/>
                  </a:lnTo>
                  <a:lnTo>
                    <a:pt x="265" y="30"/>
                  </a:lnTo>
                  <a:lnTo>
                    <a:pt x="263" y="25"/>
                  </a:lnTo>
                  <a:lnTo>
                    <a:pt x="260" y="20"/>
                  </a:lnTo>
                  <a:lnTo>
                    <a:pt x="259" y="15"/>
                  </a:lnTo>
                  <a:lnTo>
                    <a:pt x="255" y="10"/>
                  </a:lnTo>
                  <a:lnTo>
                    <a:pt x="252" y="5"/>
                  </a:lnTo>
                  <a:lnTo>
                    <a:pt x="250" y="0"/>
                  </a:lnTo>
                  <a:lnTo>
                    <a:pt x="247" y="2"/>
                  </a:lnTo>
                  <a:lnTo>
                    <a:pt x="250" y="5"/>
                  </a:lnTo>
                  <a:lnTo>
                    <a:pt x="252" y="10"/>
                  </a:lnTo>
                  <a:lnTo>
                    <a:pt x="255" y="16"/>
                  </a:lnTo>
                  <a:lnTo>
                    <a:pt x="259" y="21"/>
                  </a:lnTo>
                  <a:lnTo>
                    <a:pt x="260" y="26"/>
                  </a:lnTo>
                  <a:lnTo>
                    <a:pt x="262" y="31"/>
                  </a:lnTo>
                  <a:lnTo>
                    <a:pt x="263" y="38"/>
                  </a:lnTo>
                  <a:lnTo>
                    <a:pt x="265" y="43"/>
                  </a:lnTo>
                  <a:lnTo>
                    <a:pt x="268" y="41"/>
                  </a:lnTo>
                  <a:close/>
                  <a:moveTo>
                    <a:pt x="0" y="112"/>
                  </a:moveTo>
                  <a:lnTo>
                    <a:pt x="2" y="119"/>
                  </a:lnTo>
                  <a:lnTo>
                    <a:pt x="3" y="124"/>
                  </a:lnTo>
                  <a:lnTo>
                    <a:pt x="5" y="129"/>
                  </a:lnTo>
                  <a:lnTo>
                    <a:pt x="7" y="134"/>
                  </a:lnTo>
                  <a:lnTo>
                    <a:pt x="10" y="139"/>
                  </a:lnTo>
                  <a:lnTo>
                    <a:pt x="12" y="144"/>
                  </a:lnTo>
                  <a:lnTo>
                    <a:pt x="15" y="149"/>
                  </a:lnTo>
                  <a:lnTo>
                    <a:pt x="18" y="154"/>
                  </a:lnTo>
                  <a:lnTo>
                    <a:pt x="22" y="152"/>
                  </a:lnTo>
                  <a:lnTo>
                    <a:pt x="18" y="147"/>
                  </a:lnTo>
                  <a:lnTo>
                    <a:pt x="15" y="142"/>
                  </a:lnTo>
                  <a:lnTo>
                    <a:pt x="13" y="137"/>
                  </a:lnTo>
                  <a:lnTo>
                    <a:pt x="10" y="132"/>
                  </a:lnTo>
                  <a:lnTo>
                    <a:pt x="8" y="127"/>
                  </a:lnTo>
                  <a:lnTo>
                    <a:pt x="7" y="122"/>
                  </a:lnTo>
                  <a:lnTo>
                    <a:pt x="5" y="117"/>
                  </a:lnTo>
                  <a:lnTo>
                    <a:pt x="3" y="111"/>
                  </a:lnTo>
                  <a:lnTo>
                    <a:pt x="0" y="112"/>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47" name="Freeform 589">
              <a:extLst>
                <a:ext uri="{FF2B5EF4-FFF2-40B4-BE49-F238E27FC236}">
                  <a16:creationId xmlns:a16="http://schemas.microsoft.com/office/drawing/2014/main" id="{6878C8E0-A34F-F91F-667A-A40B851BCC3A}"/>
                </a:ext>
              </a:extLst>
            </p:cNvPr>
            <p:cNvSpPr>
              <a:spLocks noEditPoints="1"/>
            </p:cNvSpPr>
            <p:nvPr/>
          </p:nvSpPr>
          <p:spPr bwMode="auto">
            <a:xfrm>
              <a:off x="2085" y="1562"/>
              <a:ext cx="265" cy="154"/>
            </a:xfrm>
            <a:custGeom>
              <a:avLst/>
              <a:gdLst>
                <a:gd name="T0" fmla="*/ 265 w 265"/>
                <a:gd name="T1" fmla="*/ 43 h 154"/>
                <a:gd name="T2" fmla="*/ 263 w 265"/>
                <a:gd name="T3" fmla="*/ 36 h 154"/>
                <a:gd name="T4" fmla="*/ 261 w 265"/>
                <a:gd name="T5" fmla="*/ 31 h 154"/>
                <a:gd name="T6" fmla="*/ 260 w 265"/>
                <a:gd name="T7" fmla="*/ 25 h 154"/>
                <a:gd name="T8" fmla="*/ 257 w 265"/>
                <a:gd name="T9" fmla="*/ 20 h 154"/>
                <a:gd name="T10" fmla="*/ 255 w 265"/>
                <a:gd name="T11" fmla="*/ 15 h 154"/>
                <a:gd name="T12" fmla="*/ 252 w 265"/>
                <a:gd name="T13" fmla="*/ 10 h 154"/>
                <a:gd name="T14" fmla="*/ 250 w 265"/>
                <a:gd name="T15" fmla="*/ 5 h 154"/>
                <a:gd name="T16" fmla="*/ 247 w 265"/>
                <a:gd name="T17" fmla="*/ 0 h 154"/>
                <a:gd name="T18" fmla="*/ 243 w 265"/>
                <a:gd name="T19" fmla="*/ 2 h 154"/>
                <a:gd name="T20" fmla="*/ 247 w 265"/>
                <a:gd name="T21" fmla="*/ 6 h 154"/>
                <a:gd name="T22" fmla="*/ 248 w 265"/>
                <a:gd name="T23" fmla="*/ 11 h 154"/>
                <a:gd name="T24" fmla="*/ 252 w 265"/>
                <a:gd name="T25" fmla="*/ 16 h 154"/>
                <a:gd name="T26" fmla="*/ 255 w 265"/>
                <a:gd name="T27" fmla="*/ 21 h 154"/>
                <a:gd name="T28" fmla="*/ 257 w 265"/>
                <a:gd name="T29" fmla="*/ 26 h 154"/>
                <a:gd name="T30" fmla="*/ 258 w 265"/>
                <a:gd name="T31" fmla="*/ 33 h 154"/>
                <a:gd name="T32" fmla="*/ 260 w 265"/>
                <a:gd name="T33" fmla="*/ 38 h 154"/>
                <a:gd name="T34" fmla="*/ 261 w 265"/>
                <a:gd name="T35" fmla="*/ 43 h 154"/>
                <a:gd name="T36" fmla="*/ 265 w 265"/>
                <a:gd name="T37" fmla="*/ 43 h 154"/>
                <a:gd name="T38" fmla="*/ 0 w 265"/>
                <a:gd name="T39" fmla="*/ 112 h 154"/>
                <a:gd name="T40" fmla="*/ 1 w 265"/>
                <a:gd name="T41" fmla="*/ 117 h 154"/>
                <a:gd name="T42" fmla="*/ 3 w 265"/>
                <a:gd name="T43" fmla="*/ 122 h 154"/>
                <a:gd name="T44" fmla="*/ 5 w 265"/>
                <a:gd name="T45" fmla="*/ 129 h 154"/>
                <a:gd name="T46" fmla="*/ 6 w 265"/>
                <a:gd name="T47" fmla="*/ 134 h 154"/>
                <a:gd name="T48" fmla="*/ 10 w 265"/>
                <a:gd name="T49" fmla="*/ 139 h 154"/>
                <a:gd name="T50" fmla="*/ 11 w 265"/>
                <a:gd name="T51" fmla="*/ 144 h 154"/>
                <a:gd name="T52" fmla="*/ 15 w 265"/>
                <a:gd name="T53" fmla="*/ 149 h 154"/>
                <a:gd name="T54" fmla="*/ 18 w 265"/>
                <a:gd name="T55" fmla="*/ 154 h 154"/>
                <a:gd name="T56" fmla="*/ 21 w 265"/>
                <a:gd name="T57" fmla="*/ 152 h 154"/>
                <a:gd name="T58" fmla="*/ 18 w 265"/>
                <a:gd name="T59" fmla="*/ 147 h 154"/>
                <a:gd name="T60" fmla="*/ 15 w 265"/>
                <a:gd name="T61" fmla="*/ 142 h 154"/>
                <a:gd name="T62" fmla="*/ 13 w 265"/>
                <a:gd name="T63" fmla="*/ 137 h 154"/>
                <a:gd name="T64" fmla="*/ 10 w 265"/>
                <a:gd name="T65" fmla="*/ 132 h 154"/>
                <a:gd name="T66" fmla="*/ 8 w 265"/>
                <a:gd name="T67" fmla="*/ 127 h 154"/>
                <a:gd name="T68" fmla="*/ 6 w 265"/>
                <a:gd name="T69" fmla="*/ 122 h 154"/>
                <a:gd name="T70" fmla="*/ 3 w 265"/>
                <a:gd name="T71" fmla="*/ 116 h 154"/>
                <a:gd name="T72" fmla="*/ 3 w 265"/>
                <a:gd name="T73" fmla="*/ 111 h 154"/>
                <a:gd name="T74" fmla="*/ 0 w 265"/>
                <a:gd name="T75" fmla="*/ 112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65" h="154">
                  <a:moveTo>
                    <a:pt x="265" y="43"/>
                  </a:moveTo>
                  <a:lnTo>
                    <a:pt x="263" y="36"/>
                  </a:lnTo>
                  <a:lnTo>
                    <a:pt x="261" y="31"/>
                  </a:lnTo>
                  <a:lnTo>
                    <a:pt x="260" y="25"/>
                  </a:lnTo>
                  <a:lnTo>
                    <a:pt x="257" y="20"/>
                  </a:lnTo>
                  <a:lnTo>
                    <a:pt x="255" y="15"/>
                  </a:lnTo>
                  <a:lnTo>
                    <a:pt x="252" y="10"/>
                  </a:lnTo>
                  <a:lnTo>
                    <a:pt x="250" y="5"/>
                  </a:lnTo>
                  <a:lnTo>
                    <a:pt x="247" y="0"/>
                  </a:lnTo>
                  <a:lnTo>
                    <a:pt x="243" y="2"/>
                  </a:lnTo>
                  <a:lnTo>
                    <a:pt x="247" y="6"/>
                  </a:lnTo>
                  <a:lnTo>
                    <a:pt x="248" y="11"/>
                  </a:lnTo>
                  <a:lnTo>
                    <a:pt x="252" y="16"/>
                  </a:lnTo>
                  <a:lnTo>
                    <a:pt x="255" y="21"/>
                  </a:lnTo>
                  <a:lnTo>
                    <a:pt x="257" y="26"/>
                  </a:lnTo>
                  <a:lnTo>
                    <a:pt x="258" y="33"/>
                  </a:lnTo>
                  <a:lnTo>
                    <a:pt x="260" y="38"/>
                  </a:lnTo>
                  <a:lnTo>
                    <a:pt x="261" y="43"/>
                  </a:lnTo>
                  <a:lnTo>
                    <a:pt x="265" y="43"/>
                  </a:lnTo>
                  <a:close/>
                  <a:moveTo>
                    <a:pt x="0" y="112"/>
                  </a:moveTo>
                  <a:lnTo>
                    <a:pt x="1" y="117"/>
                  </a:lnTo>
                  <a:lnTo>
                    <a:pt x="3" y="122"/>
                  </a:lnTo>
                  <a:lnTo>
                    <a:pt x="5" y="129"/>
                  </a:lnTo>
                  <a:lnTo>
                    <a:pt x="6" y="134"/>
                  </a:lnTo>
                  <a:lnTo>
                    <a:pt x="10" y="139"/>
                  </a:lnTo>
                  <a:lnTo>
                    <a:pt x="11" y="144"/>
                  </a:lnTo>
                  <a:lnTo>
                    <a:pt x="15" y="149"/>
                  </a:lnTo>
                  <a:lnTo>
                    <a:pt x="18" y="154"/>
                  </a:lnTo>
                  <a:lnTo>
                    <a:pt x="21" y="152"/>
                  </a:lnTo>
                  <a:lnTo>
                    <a:pt x="18" y="147"/>
                  </a:lnTo>
                  <a:lnTo>
                    <a:pt x="15" y="142"/>
                  </a:lnTo>
                  <a:lnTo>
                    <a:pt x="13" y="137"/>
                  </a:lnTo>
                  <a:lnTo>
                    <a:pt x="10" y="132"/>
                  </a:lnTo>
                  <a:lnTo>
                    <a:pt x="8" y="127"/>
                  </a:lnTo>
                  <a:lnTo>
                    <a:pt x="6" y="122"/>
                  </a:lnTo>
                  <a:lnTo>
                    <a:pt x="3" y="116"/>
                  </a:lnTo>
                  <a:lnTo>
                    <a:pt x="3" y="111"/>
                  </a:lnTo>
                  <a:lnTo>
                    <a:pt x="0" y="112"/>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48" name="Freeform 590">
              <a:extLst>
                <a:ext uri="{FF2B5EF4-FFF2-40B4-BE49-F238E27FC236}">
                  <a16:creationId xmlns:a16="http://schemas.microsoft.com/office/drawing/2014/main" id="{D1A21C78-876C-40F4-2B0C-6E7CD6031F87}"/>
                </a:ext>
              </a:extLst>
            </p:cNvPr>
            <p:cNvSpPr>
              <a:spLocks noEditPoints="1"/>
            </p:cNvSpPr>
            <p:nvPr/>
          </p:nvSpPr>
          <p:spPr bwMode="auto">
            <a:xfrm>
              <a:off x="2086" y="1564"/>
              <a:ext cx="262" cy="150"/>
            </a:xfrm>
            <a:custGeom>
              <a:avLst/>
              <a:gdLst>
                <a:gd name="T0" fmla="*/ 262 w 262"/>
                <a:gd name="T1" fmla="*/ 41 h 150"/>
                <a:gd name="T2" fmla="*/ 260 w 262"/>
                <a:gd name="T3" fmla="*/ 36 h 150"/>
                <a:gd name="T4" fmla="*/ 259 w 262"/>
                <a:gd name="T5" fmla="*/ 29 h 150"/>
                <a:gd name="T6" fmla="*/ 257 w 262"/>
                <a:gd name="T7" fmla="*/ 24 h 150"/>
                <a:gd name="T8" fmla="*/ 256 w 262"/>
                <a:gd name="T9" fmla="*/ 19 h 150"/>
                <a:gd name="T10" fmla="*/ 252 w 262"/>
                <a:gd name="T11" fmla="*/ 14 h 150"/>
                <a:gd name="T12" fmla="*/ 249 w 262"/>
                <a:gd name="T13" fmla="*/ 8 h 150"/>
                <a:gd name="T14" fmla="*/ 247 w 262"/>
                <a:gd name="T15" fmla="*/ 3 h 150"/>
                <a:gd name="T16" fmla="*/ 244 w 262"/>
                <a:gd name="T17" fmla="*/ 0 h 150"/>
                <a:gd name="T18" fmla="*/ 241 w 262"/>
                <a:gd name="T19" fmla="*/ 0 h 150"/>
                <a:gd name="T20" fmla="*/ 244 w 262"/>
                <a:gd name="T21" fmla="*/ 4 h 150"/>
                <a:gd name="T22" fmla="*/ 247 w 262"/>
                <a:gd name="T23" fmla="*/ 9 h 150"/>
                <a:gd name="T24" fmla="*/ 249 w 262"/>
                <a:gd name="T25" fmla="*/ 14 h 150"/>
                <a:gd name="T26" fmla="*/ 252 w 262"/>
                <a:gd name="T27" fmla="*/ 21 h 150"/>
                <a:gd name="T28" fmla="*/ 254 w 262"/>
                <a:gd name="T29" fmla="*/ 26 h 150"/>
                <a:gd name="T30" fmla="*/ 256 w 262"/>
                <a:gd name="T31" fmla="*/ 31 h 150"/>
                <a:gd name="T32" fmla="*/ 257 w 262"/>
                <a:gd name="T33" fmla="*/ 36 h 150"/>
                <a:gd name="T34" fmla="*/ 259 w 262"/>
                <a:gd name="T35" fmla="*/ 43 h 150"/>
                <a:gd name="T36" fmla="*/ 262 w 262"/>
                <a:gd name="T37" fmla="*/ 41 h 150"/>
                <a:gd name="T38" fmla="*/ 0 w 262"/>
                <a:gd name="T39" fmla="*/ 109 h 150"/>
                <a:gd name="T40" fmla="*/ 2 w 262"/>
                <a:gd name="T41" fmla="*/ 115 h 150"/>
                <a:gd name="T42" fmla="*/ 4 w 262"/>
                <a:gd name="T43" fmla="*/ 120 h 150"/>
                <a:gd name="T44" fmla="*/ 5 w 262"/>
                <a:gd name="T45" fmla="*/ 125 h 150"/>
                <a:gd name="T46" fmla="*/ 7 w 262"/>
                <a:gd name="T47" fmla="*/ 130 h 150"/>
                <a:gd name="T48" fmla="*/ 10 w 262"/>
                <a:gd name="T49" fmla="*/ 135 h 150"/>
                <a:gd name="T50" fmla="*/ 12 w 262"/>
                <a:gd name="T51" fmla="*/ 140 h 150"/>
                <a:gd name="T52" fmla="*/ 15 w 262"/>
                <a:gd name="T53" fmla="*/ 145 h 150"/>
                <a:gd name="T54" fmla="*/ 19 w 262"/>
                <a:gd name="T55" fmla="*/ 150 h 150"/>
                <a:gd name="T56" fmla="*/ 22 w 262"/>
                <a:gd name="T57" fmla="*/ 149 h 150"/>
                <a:gd name="T58" fmla="*/ 19 w 262"/>
                <a:gd name="T59" fmla="*/ 144 h 150"/>
                <a:gd name="T60" fmla="*/ 15 w 262"/>
                <a:gd name="T61" fmla="*/ 140 h 150"/>
                <a:gd name="T62" fmla="*/ 14 w 262"/>
                <a:gd name="T63" fmla="*/ 135 h 150"/>
                <a:gd name="T64" fmla="*/ 10 w 262"/>
                <a:gd name="T65" fmla="*/ 130 h 150"/>
                <a:gd name="T66" fmla="*/ 9 w 262"/>
                <a:gd name="T67" fmla="*/ 124 h 150"/>
                <a:gd name="T68" fmla="*/ 5 w 262"/>
                <a:gd name="T69" fmla="*/ 119 h 150"/>
                <a:gd name="T70" fmla="*/ 4 w 262"/>
                <a:gd name="T71" fmla="*/ 114 h 150"/>
                <a:gd name="T72" fmla="*/ 2 w 262"/>
                <a:gd name="T73" fmla="*/ 109 h 150"/>
                <a:gd name="T74" fmla="*/ 0 w 262"/>
                <a:gd name="T75" fmla="*/ 109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62" h="150">
                  <a:moveTo>
                    <a:pt x="262" y="41"/>
                  </a:moveTo>
                  <a:lnTo>
                    <a:pt x="260" y="36"/>
                  </a:lnTo>
                  <a:lnTo>
                    <a:pt x="259" y="29"/>
                  </a:lnTo>
                  <a:lnTo>
                    <a:pt x="257" y="24"/>
                  </a:lnTo>
                  <a:lnTo>
                    <a:pt x="256" y="19"/>
                  </a:lnTo>
                  <a:lnTo>
                    <a:pt x="252" y="14"/>
                  </a:lnTo>
                  <a:lnTo>
                    <a:pt x="249" y="8"/>
                  </a:lnTo>
                  <a:lnTo>
                    <a:pt x="247" y="3"/>
                  </a:lnTo>
                  <a:lnTo>
                    <a:pt x="244" y="0"/>
                  </a:lnTo>
                  <a:lnTo>
                    <a:pt x="241" y="0"/>
                  </a:lnTo>
                  <a:lnTo>
                    <a:pt x="244" y="4"/>
                  </a:lnTo>
                  <a:lnTo>
                    <a:pt x="247" y="9"/>
                  </a:lnTo>
                  <a:lnTo>
                    <a:pt x="249" y="14"/>
                  </a:lnTo>
                  <a:lnTo>
                    <a:pt x="252" y="21"/>
                  </a:lnTo>
                  <a:lnTo>
                    <a:pt x="254" y="26"/>
                  </a:lnTo>
                  <a:lnTo>
                    <a:pt x="256" y="31"/>
                  </a:lnTo>
                  <a:lnTo>
                    <a:pt x="257" y="36"/>
                  </a:lnTo>
                  <a:lnTo>
                    <a:pt x="259" y="43"/>
                  </a:lnTo>
                  <a:lnTo>
                    <a:pt x="262" y="41"/>
                  </a:lnTo>
                  <a:close/>
                  <a:moveTo>
                    <a:pt x="0" y="109"/>
                  </a:moveTo>
                  <a:lnTo>
                    <a:pt x="2" y="115"/>
                  </a:lnTo>
                  <a:lnTo>
                    <a:pt x="4" y="120"/>
                  </a:lnTo>
                  <a:lnTo>
                    <a:pt x="5" y="125"/>
                  </a:lnTo>
                  <a:lnTo>
                    <a:pt x="7" y="130"/>
                  </a:lnTo>
                  <a:lnTo>
                    <a:pt x="10" y="135"/>
                  </a:lnTo>
                  <a:lnTo>
                    <a:pt x="12" y="140"/>
                  </a:lnTo>
                  <a:lnTo>
                    <a:pt x="15" y="145"/>
                  </a:lnTo>
                  <a:lnTo>
                    <a:pt x="19" y="150"/>
                  </a:lnTo>
                  <a:lnTo>
                    <a:pt x="22" y="149"/>
                  </a:lnTo>
                  <a:lnTo>
                    <a:pt x="19" y="144"/>
                  </a:lnTo>
                  <a:lnTo>
                    <a:pt x="15" y="140"/>
                  </a:lnTo>
                  <a:lnTo>
                    <a:pt x="14" y="135"/>
                  </a:lnTo>
                  <a:lnTo>
                    <a:pt x="10" y="130"/>
                  </a:lnTo>
                  <a:lnTo>
                    <a:pt x="9" y="124"/>
                  </a:lnTo>
                  <a:lnTo>
                    <a:pt x="5" y="119"/>
                  </a:lnTo>
                  <a:lnTo>
                    <a:pt x="4" y="114"/>
                  </a:lnTo>
                  <a:lnTo>
                    <a:pt x="2" y="109"/>
                  </a:lnTo>
                  <a:lnTo>
                    <a:pt x="0" y="109"/>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49" name="Freeform 591">
              <a:extLst>
                <a:ext uri="{FF2B5EF4-FFF2-40B4-BE49-F238E27FC236}">
                  <a16:creationId xmlns:a16="http://schemas.microsoft.com/office/drawing/2014/main" id="{A1670C99-561B-80E3-822B-869D49872363}"/>
                </a:ext>
              </a:extLst>
            </p:cNvPr>
            <p:cNvSpPr>
              <a:spLocks noEditPoints="1"/>
            </p:cNvSpPr>
            <p:nvPr/>
          </p:nvSpPr>
          <p:spPr bwMode="auto">
            <a:xfrm>
              <a:off x="2088" y="1564"/>
              <a:ext cx="258" cy="150"/>
            </a:xfrm>
            <a:custGeom>
              <a:avLst/>
              <a:gdLst>
                <a:gd name="T0" fmla="*/ 258 w 258"/>
                <a:gd name="T1" fmla="*/ 41 h 150"/>
                <a:gd name="T2" fmla="*/ 257 w 258"/>
                <a:gd name="T3" fmla="*/ 36 h 150"/>
                <a:gd name="T4" fmla="*/ 255 w 258"/>
                <a:gd name="T5" fmla="*/ 31 h 150"/>
                <a:gd name="T6" fmla="*/ 254 w 258"/>
                <a:gd name="T7" fmla="*/ 24 h 150"/>
                <a:gd name="T8" fmla="*/ 252 w 258"/>
                <a:gd name="T9" fmla="*/ 19 h 150"/>
                <a:gd name="T10" fmla="*/ 249 w 258"/>
                <a:gd name="T11" fmla="*/ 14 h 150"/>
                <a:gd name="T12" fmla="*/ 245 w 258"/>
                <a:gd name="T13" fmla="*/ 9 h 150"/>
                <a:gd name="T14" fmla="*/ 244 w 258"/>
                <a:gd name="T15" fmla="*/ 4 h 150"/>
                <a:gd name="T16" fmla="*/ 240 w 258"/>
                <a:gd name="T17" fmla="*/ 0 h 150"/>
                <a:gd name="T18" fmla="*/ 237 w 258"/>
                <a:gd name="T19" fmla="*/ 1 h 150"/>
                <a:gd name="T20" fmla="*/ 240 w 258"/>
                <a:gd name="T21" fmla="*/ 6 h 150"/>
                <a:gd name="T22" fmla="*/ 244 w 258"/>
                <a:gd name="T23" fmla="*/ 11 h 150"/>
                <a:gd name="T24" fmla="*/ 245 w 258"/>
                <a:gd name="T25" fmla="*/ 16 h 150"/>
                <a:gd name="T26" fmla="*/ 249 w 258"/>
                <a:gd name="T27" fmla="*/ 21 h 150"/>
                <a:gd name="T28" fmla="*/ 250 w 258"/>
                <a:gd name="T29" fmla="*/ 26 h 150"/>
                <a:gd name="T30" fmla="*/ 252 w 258"/>
                <a:gd name="T31" fmla="*/ 31 h 150"/>
                <a:gd name="T32" fmla="*/ 254 w 258"/>
                <a:gd name="T33" fmla="*/ 38 h 150"/>
                <a:gd name="T34" fmla="*/ 255 w 258"/>
                <a:gd name="T35" fmla="*/ 43 h 150"/>
                <a:gd name="T36" fmla="*/ 258 w 258"/>
                <a:gd name="T37" fmla="*/ 41 h 150"/>
                <a:gd name="T38" fmla="*/ 0 w 258"/>
                <a:gd name="T39" fmla="*/ 109 h 150"/>
                <a:gd name="T40" fmla="*/ 0 w 258"/>
                <a:gd name="T41" fmla="*/ 114 h 150"/>
                <a:gd name="T42" fmla="*/ 3 w 258"/>
                <a:gd name="T43" fmla="*/ 120 h 150"/>
                <a:gd name="T44" fmla="*/ 5 w 258"/>
                <a:gd name="T45" fmla="*/ 125 h 150"/>
                <a:gd name="T46" fmla="*/ 7 w 258"/>
                <a:gd name="T47" fmla="*/ 130 h 150"/>
                <a:gd name="T48" fmla="*/ 10 w 258"/>
                <a:gd name="T49" fmla="*/ 135 h 150"/>
                <a:gd name="T50" fmla="*/ 12 w 258"/>
                <a:gd name="T51" fmla="*/ 140 h 150"/>
                <a:gd name="T52" fmla="*/ 15 w 258"/>
                <a:gd name="T53" fmla="*/ 145 h 150"/>
                <a:gd name="T54" fmla="*/ 18 w 258"/>
                <a:gd name="T55" fmla="*/ 150 h 150"/>
                <a:gd name="T56" fmla="*/ 22 w 258"/>
                <a:gd name="T57" fmla="*/ 149 h 150"/>
                <a:gd name="T58" fmla="*/ 18 w 258"/>
                <a:gd name="T59" fmla="*/ 144 h 150"/>
                <a:gd name="T60" fmla="*/ 15 w 258"/>
                <a:gd name="T61" fmla="*/ 139 h 150"/>
                <a:gd name="T62" fmla="*/ 12 w 258"/>
                <a:gd name="T63" fmla="*/ 134 h 150"/>
                <a:gd name="T64" fmla="*/ 10 w 258"/>
                <a:gd name="T65" fmla="*/ 129 h 150"/>
                <a:gd name="T66" fmla="*/ 8 w 258"/>
                <a:gd name="T67" fmla="*/ 124 h 150"/>
                <a:gd name="T68" fmla="*/ 5 w 258"/>
                <a:gd name="T69" fmla="*/ 119 h 150"/>
                <a:gd name="T70" fmla="*/ 3 w 258"/>
                <a:gd name="T71" fmla="*/ 114 h 150"/>
                <a:gd name="T72" fmla="*/ 2 w 258"/>
                <a:gd name="T73" fmla="*/ 107 h 150"/>
                <a:gd name="T74" fmla="*/ 0 w 258"/>
                <a:gd name="T75" fmla="*/ 109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8" h="150">
                  <a:moveTo>
                    <a:pt x="258" y="41"/>
                  </a:moveTo>
                  <a:lnTo>
                    <a:pt x="257" y="36"/>
                  </a:lnTo>
                  <a:lnTo>
                    <a:pt x="255" y="31"/>
                  </a:lnTo>
                  <a:lnTo>
                    <a:pt x="254" y="24"/>
                  </a:lnTo>
                  <a:lnTo>
                    <a:pt x="252" y="19"/>
                  </a:lnTo>
                  <a:lnTo>
                    <a:pt x="249" y="14"/>
                  </a:lnTo>
                  <a:lnTo>
                    <a:pt x="245" y="9"/>
                  </a:lnTo>
                  <a:lnTo>
                    <a:pt x="244" y="4"/>
                  </a:lnTo>
                  <a:lnTo>
                    <a:pt x="240" y="0"/>
                  </a:lnTo>
                  <a:lnTo>
                    <a:pt x="237" y="1"/>
                  </a:lnTo>
                  <a:lnTo>
                    <a:pt x="240" y="6"/>
                  </a:lnTo>
                  <a:lnTo>
                    <a:pt x="244" y="11"/>
                  </a:lnTo>
                  <a:lnTo>
                    <a:pt x="245" y="16"/>
                  </a:lnTo>
                  <a:lnTo>
                    <a:pt x="249" y="21"/>
                  </a:lnTo>
                  <a:lnTo>
                    <a:pt x="250" y="26"/>
                  </a:lnTo>
                  <a:lnTo>
                    <a:pt x="252" y="31"/>
                  </a:lnTo>
                  <a:lnTo>
                    <a:pt x="254" y="38"/>
                  </a:lnTo>
                  <a:lnTo>
                    <a:pt x="255" y="43"/>
                  </a:lnTo>
                  <a:lnTo>
                    <a:pt x="258" y="41"/>
                  </a:lnTo>
                  <a:close/>
                  <a:moveTo>
                    <a:pt x="0" y="109"/>
                  </a:moveTo>
                  <a:lnTo>
                    <a:pt x="0" y="114"/>
                  </a:lnTo>
                  <a:lnTo>
                    <a:pt x="3" y="120"/>
                  </a:lnTo>
                  <a:lnTo>
                    <a:pt x="5" y="125"/>
                  </a:lnTo>
                  <a:lnTo>
                    <a:pt x="7" y="130"/>
                  </a:lnTo>
                  <a:lnTo>
                    <a:pt x="10" y="135"/>
                  </a:lnTo>
                  <a:lnTo>
                    <a:pt x="12" y="140"/>
                  </a:lnTo>
                  <a:lnTo>
                    <a:pt x="15" y="145"/>
                  </a:lnTo>
                  <a:lnTo>
                    <a:pt x="18" y="150"/>
                  </a:lnTo>
                  <a:lnTo>
                    <a:pt x="22" y="149"/>
                  </a:lnTo>
                  <a:lnTo>
                    <a:pt x="18" y="144"/>
                  </a:lnTo>
                  <a:lnTo>
                    <a:pt x="15" y="139"/>
                  </a:lnTo>
                  <a:lnTo>
                    <a:pt x="12" y="134"/>
                  </a:lnTo>
                  <a:lnTo>
                    <a:pt x="10" y="129"/>
                  </a:lnTo>
                  <a:lnTo>
                    <a:pt x="8" y="124"/>
                  </a:lnTo>
                  <a:lnTo>
                    <a:pt x="5" y="119"/>
                  </a:lnTo>
                  <a:lnTo>
                    <a:pt x="3" y="114"/>
                  </a:lnTo>
                  <a:lnTo>
                    <a:pt x="2" y="107"/>
                  </a:lnTo>
                  <a:lnTo>
                    <a:pt x="0" y="109"/>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50" name="Freeform 592">
              <a:extLst>
                <a:ext uri="{FF2B5EF4-FFF2-40B4-BE49-F238E27FC236}">
                  <a16:creationId xmlns:a16="http://schemas.microsoft.com/office/drawing/2014/main" id="{EBE6FE95-8A92-5BB0-0B41-0E46F2D209B7}"/>
                </a:ext>
              </a:extLst>
            </p:cNvPr>
            <p:cNvSpPr>
              <a:spLocks noEditPoints="1"/>
            </p:cNvSpPr>
            <p:nvPr/>
          </p:nvSpPr>
          <p:spPr bwMode="auto">
            <a:xfrm>
              <a:off x="2088" y="1564"/>
              <a:ext cx="257" cy="149"/>
            </a:xfrm>
            <a:custGeom>
              <a:avLst/>
              <a:gdLst>
                <a:gd name="T0" fmla="*/ 257 w 257"/>
                <a:gd name="T1" fmla="*/ 43 h 149"/>
                <a:gd name="T2" fmla="*/ 255 w 257"/>
                <a:gd name="T3" fmla="*/ 36 h 149"/>
                <a:gd name="T4" fmla="*/ 254 w 257"/>
                <a:gd name="T5" fmla="*/ 31 h 149"/>
                <a:gd name="T6" fmla="*/ 252 w 257"/>
                <a:gd name="T7" fmla="*/ 26 h 149"/>
                <a:gd name="T8" fmla="*/ 250 w 257"/>
                <a:gd name="T9" fmla="*/ 21 h 149"/>
                <a:gd name="T10" fmla="*/ 247 w 257"/>
                <a:gd name="T11" fmla="*/ 14 h 149"/>
                <a:gd name="T12" fmla="*/ 245 w 257"/>
                <a:gd name="T13" fmla="*/ 9 h 149"/>
                <a:gd name="T14" fmla="*/ 242 w 257"/>
                <a:gd name="T15" fmla="*/ 4 h 149"/>
                <a:gd name="T16" fmla="*/ 239 w 257"/>
                <a:gd name="T17" fmla="*/ 0 h 149"/>
                <a:gd name="T18" fmla="*/ 235 w 257"/>
                <a:gd name="T19" fmla="*/ 1 h 149"/>
                <a:gd name="T20" fmla="*/ 239 w 257"/>
                <a:gd name="T21" fmla="*/ 6 h 149"/>
                <a:gd name="T22" fmla="*/ 242 w 257"/>
                <a:gd name="T23" fmla="*/ 11 h 149"/>
                <a:gd name="T24" fmla="*/ 244 w 257"/>
                <a:gd name="T25" fmla="*/ 16 h 149"/>
                <a:gd name="T26" fmla="*/ 247 w 257"/>
                <a:gd name="T27" fmla="*/ 21 h 149"/>
                <a:gd name="T28" fmla="*/ 249 w 257"/>
                <a:gd name="T29" fmla="*/ 28 h 149"/>
                <a:gd name="T30" fmla="*/ 250 w 257"/>
                <a:gd name="T31" fmla="*/ 33 h 149"/>
                <a:gd name="T32" fmla="*/ 254 w 257"/>
                <a:gd name="T33" fmla="*/ 38 h 149"/>
                <a:gd name="T34" fmla="*/ 254 w 257"/>
                <a:gd name="T35" fmla="*/ 44 h 149"/>
                <a:gd name="T36" fmla="*/ 257 w 257"/>
                <a:gd name="T37" fmla="*/ 43 h 149"/>
                <a:gd name="T38" fmla="*/ 0 w 257"/>
                <a:gd name="T39" fmla="*/ 109 h 149"/>
                <a:gd name="T40" fmla="*/ 2 w 257"/>
                <a:gd name="T41" fmla="*/ 114 h 149"/>
                <a:gd name="T42" fmla="*/ 3 w 257"/>
                <a:gd name="T43" fmla="*/ 119 h 149"/>
                <a:gd name="T44" fmla="*/ 7 w 257"/>
                <a:gd name="T45" fmla="*/ 124 h 149"/>
                <a:gd name="T46" fmla="*/ 8 w 257"/>
                <a:gd name="T47" fmla="*/ 130 h 149"/>
                <a:gd name="T48" fmla="*/ 12 w 257"/>
                <a:gd name="T49" fmla="*/ 135 h 149"/>
                <a:gd name="T50" fmla="*/ 13 w 257"/>
                <a:gd name="T51" fmla="*/ 140 h 149"/>
                <a:gd name="T52" fmla="*/ 17 w 257"/>
                <a:gd name="T53" fmla="*/ 144 h 149"/>
                <a:gd name="T54" fmla="*/ 20 w 257"/>
                <a:gd name="T55" fmla="*/ 149 h 149"/>
                <a:gd name="T56" fmla="*/ 23 w 257"/>
                <a:gd name="T57" fmla="*/ 147 h 149"/>
                <a:gd name="T58" fmla="*/ 20 w 257"/>
                <a:gd name="T59" fmla="*/ 144 h 149"/>
                <a:gd name="T60" fmla="*/ 17 w 257"/>
                <a:gd name="T61" fmla="*/ 139 h 149"/>
                <a:gd name="T62" fmla="*/ 13 w 257"/>
                <a:gd name="T63" fmla="*/ 134 h 149"/>
                <a:gd name="T64" fmla="*/ 12 w 257"/>
                <a:gd name="T65" fmla="*/ 129 h 149"/>
                <a:gd name="T66" fmla="*/ 10 w 257"/>
                <a:gd name="T67" fmla="*/ 124 h 149"/>
                <a:gd name="T68" fmla="*/ 7 w 257"/>
                <a:gd name="T69" fmla="*/ 117 h 149"/>
                <a:gd name="T70" fmla="*/ 5 w 257"/>
                <a:gd name="T71" fmla="*/ 112 h 149"/>
                <a:gd name="T72" fmla="*/ 3 w 257"/>
                <a:gd name="T73" fmla="*/ 107 h 149"/>
                <a:gd name="T74" fmla="*/ 0 w 257"/>
                <a:gd name="T75" fmla="*/ 10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7" h="149">
                  <a:moveTo>
                    <a:pt x="257" y="43"/>
                  </a:moveTo>
                  <a:lnTo>
                    <a:pt x="255" y="36"/>
                  </a:lnTo>
                  <a:lnTo>
                    <a:pt x="254" y="31"/>
                  </a:lnTo>
                  <a:lnTo>
                    <a:pt x="252" y="26"/>
                  </a:lnTo>
                  <a:lnTo>
                    <a:pt x="250" y="21"/>
                  </a:lnTo>
                  <a:lnTo>
                    <a:pt x="247" y="14"/>
                  </a:lnTo>
                  <a:lnTo>
                    <a:pt x="245" y="9"/>
                  </a:lnTo>
                  <a:lnTo>
                    <a:pt x="242" y="4"/>
                  </a:lnTo>
                  <a:lnTo>
                    <a:pt x="239" y="0"/>
                  </a:lnTo>
                  <a:lnTo>
                    <a:pt x="235" y="1"/>
                  </a:lnTo>
                  <a:lnTo>
                    <a:pt x="239" y="6"/>
                  </a:lnTo>
                  <a:lnTo>
                    <a:pt x="242" y="11"/>
                  </a:lnTo>
                  <a:lnTo>
                    <a:pt x="244" y="16"/>
                  </a:lnTo>
                  <a:lnTo>
                    <a:pt x="247" y="21"/>
                  </a:lnTo>
                  <a:lnTo>
                    <a:pt x="249" y="28"/>
                  </a:lnTo>
                  <a:lnTo>
                    <a:pt x="250" y="33"/>
                  </a:lnTo>
                  <a:lnTo>
                    <a:pt x="254" y="38"/>
                  </a:lnTo>
                  <a:lnTo>
                    <a:pt x="254" y="44"/>
                  </a:lnTo>
                  <a:lnTo>
                    <a:pt x="257" y="43"/>
                  </a:lnTo>
                  <a:close/>
                  <a:moveTo>
                    <a:pt x="0" y="109"/>
                  </a:moveTo>
                  <a:lnTo>
                    <a:pt x="2" y="114"/>
                  </a:lnTo>
                  <a:lnTo>
                    <a:pt x="3" y="119"/>
                  </a:lnTo>
                  <a:lnTo>
                    <a:pt x="7" y="124"/>
                  </a:lnTo>
                  <a:lnTo>
                    <a:pt x="8" y="130"/>
                  </a:lnTo>
                  <a:lnTo>
                    <a:pt x="12" y="135"/>
                  </a:lnTo>
                  <a:lnTo>
                    <a:pt x="13" y="140"/>
                  </a:lnTo>
                  <a:lnTo>
                    <a:pt x="17" y="144"/>
                  </a:lnTo>
                  <a:lnTo>
                    <a:pt x="20" y="149"/>
                  </a:lnTo>
                  <a:lnTo>
                    <a:pt x="23" y="147"/>
                  </a:lnTo>
                  <a:lnTo>
                    <a:pt x="20" y="144"/>
                  </a:lnTo>
                  <a:lnTo>
                    <a:pt x="17" y="139"/>
                  </a:lnTo>
                  <a:lnTo>
                    <a:pt x="13" y="134"/>
                  </a:lnTo>
                  <a:lnTo>
                    <a:pt x="12" y="129"/>
                  </a:lnTo>
                  <a:lnTo>
                    <a:pt x="10" y="124"/>
                  </a:lnTo>
                  <a:lnTo>
                    <a:pt x="7" y="117"/>
                  </a:lnTo>
                  <a:lnTo>
                    <a:pt x="5" y="112"/>
                  </a:lnTo>
                  <a:lnTo>
                    <a:pt x="3" y="107"/>
                  </a:lnTo>
                  <a:lnTo>
                    <a:pt x="0" y="109"/>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51" name="Freeform 593">
              <a:extLst>
                <a:ext uri="{FF2B5EF4-FFF2-40B4-BE49-F238E27FC236}">
                  <a16:creationId xmlns:a16="http://schemas.microsoft.com/office/drawing/2014/main" id="{85210886-645A-B59B-3286-D0B31061DBBB}"/>
                </a:ext>
              </a:extLst>
            </p:cNvPr>
            <p:cNvSpPr>
              <a:spLocks noEditPoints="1"/>
            </p:cNvSpPr>
            <p:nvPr/>
          </p:nvSpPr>
          <p:spPr bwMode="auto">
            <a:xfrm>
              <a:off x="2090" y="1565"/>
              <a:ext cx="253" cy="148"/>
            </a:xfrm>
            <a:custGeom>
              <a:avLst/>
              <a:gdLst>
                <a:gd name="T0" fmla="*/ 253 w 253"/>
                <a:gd name="T1" fmla="*/ 42 h 148"/>
                <a:gd name="T2" fmla="*/ 252 w 253"/>
                <a:gd name="T3" fmla="*/ 37 h 148"/>
                <a:gd name="T4" fmla="*/ 250 w 253"/>
                <a:gd name="T5" fmla="*/ 30 h 148"/>
                <a:gd name="T6" fmla="*/ 248 w 253"/>
                <a:gd name="T7" fmla="*/ 25 h 148"/>
                <a:gd name="T8" fmla="*/ 247 w 253"/>
                <a:gd name="T9" fmla="*/ 20 h 148"/>
                <a:gd name="T10" fmla="*/ 243 w 253"/>
                <a:gd name="T11" fmla="*/ 15 h 148"/>
                <a:gd name="T12" fmla="*/ 242 w 253"/>
                <a:gd name="T13" fmla="*/ 10 h 148"/>
                <a:gd name="T14" fmla="*/ 238 w 253"/>
                <a:gd name="T15" fmla="*/ 5 h 148"/>
                <a:gd name="T16" fmla="*/ 235 w 253"/>
                <a:gd name="T17" fmla="*/ 0 h 148"/>
                <a:gd name="T18" fmla="*/ 232 w 253"/>
                <a:gd name="T19" fmla="*/ 2 h 148"/>
                <a:gd name="T20" fmla="*/ 235 w 253"/>
                <a:gd name="T21" fmla="*/ 7 h 148"/>
                <a:gd name="T22" fmla="*/ 238 w 253"/>
                <a:gd name="T23" fmla="*/ 12 h 148"/>
                <a:gd name="T24" fmla="*/ 240 w 253"/>
                <a:gd name="T25" fmla="*/ 17 h 148"/>
                <a:gd name="T26" fmla="*/ 243 w 253"/>
                <a:gd name="T27" fmla="*/ 22 h 148"/>
                <a:gd name="T28" fmla="*/ 245 w 253"/>
                <a:gd name="T29" fmla="*/ 27 h 148"/>
                <a:gd name="T30" fmla="*/ 248 w 253"/>
                <a:gd name="T31" fmla="*/ 32 h 148"/>
                <a:gd name="T32" fmla="*/ 250 w 253"/>
                <a:gd name="T33" fmla="*/ 38 h 148"/>
                <a:gd name="T34" fmla="*/ 252 w 253"/>
                <a:gd name="T35" fmla="*/ 43 h 148"/>
                <a:gd name="T36" fmla="*/ 253 w 253"/>
                <a:gd name="T37" fmla="*/ 42 h 148"/>
                <a:gd name="T38" fmla="*/ 0 w 253"/>
                <a:gd name="T39" fmla="*/ 106 h 148"/>
                <a:gd name="T40" fmla="*/ 1 w 253"/>
                <a:gd name="T41" fmla="*/ 113 h 148"/>
                <a:gd name="T42" fmla="*/ 3 w 253"/>
                <a:gd name="T43" fmla="*/ 118 h 148"/>
                <a:gd name="T44" fmla="*/ 6 w 253"/>
                <a:gd name="T45" fmla="*/ 123 h 148"/>
                <a:gd name="T46" fmla="*/ 8 w 253"/>
                <a:gd name="T47" fmla="*/ 128 h 148"/>
                <a:gd name="T48" fmla="*/ 10 w 253"/>
                <a:gd name="T49" fmla="*/ 133 h 148"/>
                <a:gd name="T50" fmla="*/ 13 w 253"/>
                <a:gd name="T51" fmla="*/ 138 h 148"/>
                <a:gd name="T52" fmla="*/ 16 w 253"/>
                <a:gd name="T53" fmla="*/ 143 h 148"/>
                <a:gd name="T54" fmla="*/ 20 w 253"/>
                <a:gd name="T55" fmla="*/ 148 h 148"/>
                <a:gd name="T56" fmla="*/ 21 w 253"/>
                <a:gd name="T57" fmla="*/ 146 h 148"/>
                <a:gd name="T58" fmla="*/ 20 w 253"/>
                <a:gd name="T59" fmla="*/ 141 h 148"/>
                <a:gd name="T60" fmla="*/ 16 w 253"/>
                <a:gd name="T61" fmla="*/ 136 h 148"/>
                <a:gd name="T62" fmla="*/ 13 w 253"/>
                <a:gd name="T63" fmla="*/ 131 h 148"/>
                <a:gd name="T64" fmla="*/ 11 w 253"/>
                <a:gd name="T65" fmla="*/ 126 h 148"/>
                <a:gd name="T66" fmla="*/ 8 w 253"/>
                <a:gd name="T67" fmla="*/ 121 h 148"/>
                <a:gd name="T68" fmla="*/ 6 w 253"/>
                <a:gd name="T69" fmla="*/ 116 h 148"/>
                <a:gd name="T70" fmla="*/ 5 w 253"/>
                <a:gd name="T71" fmla="*/ 111 h 148"/>
                <a:gd name="T72" fmla="*/ 3 w 253"/>
                <a:gd name="T73" fmla="*/ 104 h 148"/>
                <a:gd name="T74" fmla="*/ 0 w 253"/>
                <a:gd name="T75" fmla="*/ 106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3" h="148">
                  <a:moveTo>
                    <a:pt x="253" y="42"/>
                  </a:moveTo>
                  <a:lnTo>
                    <a:pt x="252" y="37"/>
                  </a:lnTo>
                  <a:lnTo>
                    <a:pt x="250" y="30"/>
                  </a:lnTo>
                  <a:lnTo>
                    <a:pt x="248" y="25"/>
                  </a:lnTo>
                  <a:lnTo>
                    <a:pt x="247" y="20"/>
                  </a:lnTo>
                  <a:lnTo>
                    <a:pt x="243" y="15"/>
                  </a:lnTo>
                  <a:lnTo>
                    <a:pt x="242" y="10"/>
                  </a:lnTo>
                  <a:lnTo>
                    <a:pt x="238" y="5"/>
                  </a:lnTo>
                  <a:lnTo>
                    <a:pt x="235" y="0"/>
                  </a:lnTo>
                  <a:lnTo>
                    <a:pt x="232" y="2"/>
                  </a:lnTo>
                  <a:lnTo>
                    <a:pt x="235" y="7"/>
                  </a:lnTo>
                  <a:lnTo>
                    <a:pt x="238" y="12"/>
                  </a:lnTo>
                  <a:lnTo>
                    <a:pt x="240" y="17"/>
                  </a:lnTo>
                  <a:lnTo>
                    <a:pt x="243" y="22"/>
                  </a:lnTo>
                  <a:lnTo>
                    <a:pt x="245" y="27"/>
                  </a:lnTo>
                  <a:lnTo>
                    <a:pt x="248" y="32"/>
                  </a:lnTo>
                  <a:lnTo>
                    <a:pt x="250" y="38"/>
                  </a:lnTo>
                  <a:lnTo>
                    <a:pt x="252" y="43"/>
                  </a:lnTo>
                  <a:lnTo>
                    <a:pt x="253" y="42"/>
                  </a:lnTo>
                  <a:close/>
                  <a:moveTo>
                    <a:pt x="0" y="106"/>
                  </a:moveTo>
                  <a:lnTo>
                    <a:pt x="1" y="113"/>
                  </a:lnTo>
                  <a:lnTo>
                    <a:pt x="3" y="118"/>
                  </a:lnTo>
                  <a:lnTo>
                    <a:pt x="6" y="123"/>
                  </a:lnTo>
                  <a:lnTo>
                    <a:pt x="8" y="128"/>
                  </a:lnTo>
                  <a:lnTo>
                    <a:pt x="10" y="133"/>
                  </a:lnTo>
                  <a:lnTo>
                    <a:pt x="13" y="138"/>
                  </a:lnTo>
                  <a:lnTo>
                    <a:pt x="16" y="143"/>
                  </a:lnTo>
                  <a:lnTo>
                    <a:pt x="20" y="148"/>
                  </a:lnTo>
                  <a:lnTo>
                    <a:pt x="21" y="146"/>
                  </a:lnTo>
                  <a:lnTo>
                    <a:pt x="20" y="141"/>
                  </a:lnTo>
                  <a:lnTo>
                    <a:pt x="16" y="136"/>
                  </a:lnTo>
                  <a:lnTo>
                    <a:pt x="13" y="131"/>
                  </a:lnTo>
                  <a:lnTo>
                    <a:pt x="11" y="126"/>
                  </a:lnTo>
                  <a:lnTo>
                    <a:pt x="8" y="121"/>
                  </a:lnTo>
                  <a:lnTo>
                    <a:pt x="6" y="116"/>
                  </a:lnTo>
                  <a:lnTo>
                    <a:pt x="5" y="111"/>
                  </a:lnTo>
                  <a:lnTo>
                    <a:pt x="3" y="104"/>
                  </a:lnTo>
                  <a:lnTo>
                    <a:pt x="0" y="106"/>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52" name="Freeform 594">
              <a:extLst>
                <a:ext uri="{FF2B5EF4-FFF2-40B4-BE49-F238E27FC236}">
                  <a16:creationId xmlns:a16="http://schemas.microsoft.com/office/drawing/2014/main" id="{75236208-8E8C-52A5-7B33-D7EB1C6DC563}"/>
                </a:ext>
              </a:extLst>
            </p:cNvPr>
            <p:cNvSpPr>
              <a:spLocks noEditPoints="1"/>
            </p:cNvSpPr>
            <p:nvPr/>
          </p:nvSpPr>
          <p:spPr bwMode="auto">
            <a:xfrm>
              <a:off x="2091" y="1565"/>
              <a:ext cx="251" cy="146"/>
            </a:xfrm>
            <a:custGeom>
              <a:avLst/>
              <a:gdLst>
                <a:gd name="T0" fmla="*/ 251 w 251"/>
                <a:gd name="T1" fmla="*/ 43 h 146"/>
                <a:gd name="T2" fmla="*/ 251 w 251"/>
                <a:gd name="T3" fmla="*/ 37 h 146"/>
                <a:gd name="T4" fmla="*/ 247 w 251"/>
                <a:gd name="T5" fmla="*/ 32 h 146"/>
                <a:gd name="T6" fmla="*/ 246 w 251"/>
                <a:gd name="T7" fmla="*/ 27 h 146"/>
                <a:gd name="T8" fmla="*/ 244 w 251"/>
                <a:gd name="T9" fmla="*/ 20 h 146"/>
                <a:gd name="T10" fmla="*/ 241 w 251"/>
                <a:gd name="T11" fmla="*/ 15 h 146"/>
                <a:gd name="T12" fmla="*/ 239 w 251"/>
                <a:gd name="T13" fmla="*/ 10 h 146"/>
                <a:gd name="T14" fmla="*/ 236 w 251"/>
                <a:gd name="T15" fmla="*/ 5 h 146"/>
                <a:gd name="T16" fmla="*/ 232 w 251"/>
                <a:gd name="T17" fmla="*/ 0 h 146"/>
                <a:gd name="T18" fmla="*/ 229 w 251"/>
                <a:gd name="T19" fmla="*/ 2 h 146"/>
                <a:gd name="T20" fmla="*/ 232 w 251"/>
                <a:gd name="T21" fmla="*/ 7 h 146"/>
                <a:gd name="T22" fmla="*/ 236 w 251"/>
                <a:gd name="T23" fmla="*/ 12 h 146"/>
                <a:gd name="T24" fmla="*/ 239 w 251"/>
                <a:gd name="T25" fmla="*/ 17 h 146"/>
                <a:gd name="T26" fmla="*/ 241 w 251"/>
                <a:gd name="T27" fmla="*/ 22 h 146"/>
                <a:gd name="T28" fmla="*/ 242 w 251"/>
                <a:gd name="T29" fmla="*/ 27 h 146"/>
                <a:gd name="T30" fmla="*/ 246 w 251"/>
                <a:gd name="T31" fmla="*/ 33 h 146"/>
                <a:gd name="T32" fmla="*/ 247 w 251"/>
                <a:gd name="T33" fmla="*/ 38 h 146"/>
                <a:gd name="T34" fmla="*/ 249 w 251"/>
                <a:gd name="T35" fmla="*/ 43 h 146"/>
                <a:gd name="T36" fmla="*/ 251 w 251"/>
                <a:gd name="T37" fmla="*/ 43 h 146"/>
                <a:gd name="T38" fmla="*/ 0 w 251"/>
                <a:gd name="T39" fmla="*/ 106 h 146"/>
                <a:gd name="T40" fmla="*/ 2 w 251"/>
                <a:gd name="T41" fmla="*/ 111 h 146"/>
                <a:gd name="T42" fmla="*/ 4 w 251"/>
                <a:gd name="T43" fmla="*/ 116 h 146"/>
                <a:gd name="T44" fmla="*/ 7 w 251"/>
                <a:gd name="T45" fmla="*/ 123 h 146"/>
                <a:gd name="T46" fmla="*/ 9 w 251"/>
                <a:gd name="T47" fmla="*/ 128 h 146"/>
                <a:gd name="T48" fmla="*/ 10 w 251"/>
                <a:gd name="T49" fmla="*/ 133 h 146"/>
                <a:gd name="T50" fmla="*/ 14 w 251"/>
                <a:gd name="T51" fmla="*/ 138 h 146"/>
                <a:gd name="T52" fmla="*/ 17 w 251"/>
                <a:gd name="T53" fmla="*/ 143 h 146"/>
                <a:gd name="T54" fmla="*/ 20 w 251"/>
                <a:gd name="T55" fmla="*/ 146 h 146"/>
                <a:gd name="T56" fmla="*/ 22 w 251"/>
                <a:gd name="T57" fmla="*/ 146 h 146"/>
                <a:gd name="T58" fmla="*/ 20 w 251"/>
                <a:gd name="T59" fmla="*/ 141 h 146"/>
                <a:gd name="T60" fmla="*/ 17 w 251"/>
                <a:gd name="T61" fmla="*/ 136 h 146"/>
                <a:gd name="T62" fmla="*/ 14 w 251"/>
                <a:gd name="T63" fmla="*/ 131 h 146"/>
                <a:gd name="T64" fmla="*/ 12 w 251"/>
                <a:gd name="T65" fmla="*/ 126 h 146"/>
                <a:gd name="T66" fmla="*/ 9 w 251"/>
                <a:gd name="T67" fmla="*/ 121 h 146"/>
                <a:gd name="T68" fmla="*/ 7 w 251"/>
                <a:gd name="T69" fmla="*/ 116 h 146"/>
                <a:gd name="T70" fmla="*/ 5 w 251"/>
                <a:gd name="T71" fmla="*/ 109 h 146"/>
                <a:gd name="T72" fmla="*/ 4 w 251"/>
                <a:gd name="T73" fmla="*/ 104 h 146"/>
                <a:gd name="T74" fmla="*/ 0 w 251"/>
                <a:gd name="T75" fmla="*/ 106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1" h="146">
                  <a:moveTo>
                    <a:pt x="251" y="43"/>
                  </a:moveTo>
                  <a:lnTo>
                    <a:pt x="251" y="37"/>
                  </a:lnTo>
                  <a:lnTo>
                    <a:pt x="247" y="32"/>
                  </a:lnTo>
                  <a:lnTo>
                    <a:pt x="246" y="27"/>
                  </a:lnTo>
                  <a:lnTo>
                    <a:pt x="244" y="20"/>
                  </a:lnTo>
                  <a:lnTo>
                    <a:pt x="241" y="15"/>
                  </a:lnTo>
                  <a:lnTo>
                    <a:pt x="239" y="10"/>
                  </a:lnTo>
                  <a:lnTo>
                    <a:pt x="236" y="5"/>
                  </a:lnTo>
                  <a:lnTo>
                    <a:pt x="232" y="0"/>
                  </a:lnTo>
                  <a:lnTo>
                    <a:pt x="229" y="2"/>
                  </a:lnTo>
                  <a:lnTo>
                    <a:pt x="232" y="7"/>
                  </a:lnTo>
                  <a:lnTo>
                    <a:pt x="236" y="12"/>
                  </a:lnTo>
                  <a:lnTo>
                    <a:pt x="239" y="17"/>
                  </a:lnTo>
                  <a:lnTo>
                    <a:pt x="241" y="22"/>
                  </a:lnTo>
                  <a:lnTo>
                    <a:pt x="242" y="27"/>
                  </a:lnTo>
                  <a:lnTo>
                    <a:pt x="246" y="33"/>
                  </a:lnTo>
                  <a:lnTo>
                    <a:pt x="247" y="38"/>
                  </a:lnTo>
                  <a:lnTo>
                    <a:pt x="249" y="43"/>
                  </a:lnTo>
                  <a:lnTo>
                    <a:pt x="251" y="43"/>
                  </a:lnTo>
                  <a:close/>
                  <a:moveTo>
                    <a:pt x="0" y="106"/>
                  </a:moveTo>
                  <a:lnTo>
                    <a:pt x="2" y="111"/>
                  </a:lnTo>
                  <a:lnTo>
                    <a:pt x="4" y="116"/>
                  </a:lnTo>
                  <a:lnTo>
                    <a:pt x="7" y="123"/>
                  </a:lnTo>
                  <a:lnTo>
                    <a:pt x="9" y="128"/>
                  </a:lnTo>
                  <a:lnTo>
                    <a:pt x="10" y="133"/>
                  </a:lnTo>
                  <a:lnTo>
                    <a:pt x="14" y="138"/>
                  </a:lnTo>
                  <a:lnTo>
                    <a:pt x="17" y="143"/>
                  </a:lnTo>
                  <a:lnTo>
                    <a:pt x="20" y="146"/>
                  </a:lnTo>
                  <a:lnTo>
                    <a:pt x="22" y="146"/>
                  </a:lnTo>
                  <a:lnTo>
                    <a:pt x="20" y="141"/>
                  </a:lnTo>
                  <a:lnTo>
                    <a:pt x="17" y="136"/>
                  </a:lnTo>
                  <a:lnTo>
                    <a:pt x="14" y="131"/>
                  </a:lnTo>
                  <a:lnTo>
                    <a:pt x="12" y="126"/>
                  </a:lnTo>
                  <a:lnTo>
                    <a:pt x="9" y="121"/>
                  </a:lnTo>
                  <a:lnTo>
                    <a:pt x="7" y="116"/>
                  </a:lnTo>
                  <a:lnTo>
                    <a:pt x="5" y="109"/>
                  </a:lnTo>
                  <a:lnTo>
                    <a:pt x="4" y="104"/>
                  </a:lnTo>
                  <a:lnTo>
                    <a:pt x="0" y="106"/>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53" name="Freeform 595">
              <a:extLst>
                <a:ext uri="{FF2B5EF4-FFF2-40B4-BE49-F238E27FC236}">
                  <a16:creationId xmlns:a16="http://schemas.microsoft.com/office/drawing/2014/main" id="{4B3365F9-D344-FAA9-19C0-60815F594227}"/>
                </a:ext>
              </a:extLst>
            </p:cNvPr>
            <p:cNvSpPr>
              <a:spLocks noEditPoints="1"/>
            </p:cNvSpPr>
            <p:nvPr/>
          </p:nvSpPr>
          <p:spPr bwMode="auto">
            <a:xfrm>
              <a:off x="2093" y="1567"/>
              <a:ext cx="249" cy="144"/>
            </a:xfrm>
            <a:custGeom>
              <a:avLst/>
              <a:gdLst>
                <a:gd name="T0" fmla="*/ 249 w 249"/>
                <a:gd name="T1" fmla="*/ 41 h 144"/>
                <a:gd name="T2" fmla="*/ 247 w 249"/>
                <a:gd name="T3" fmla="*/ 36 h 144"/>
                <a:gd name="T4" fmla="*/ 245 w 249"/>
                <a:gd name="T5" fmla="*/ 30 h 144"/>
                <a:gd name="T6" fmla="*/ 242 w 249"/>
                <a:gd name="T7" fmla="*/ 25 h 144"/>
                <a:gd name="T8" fmla="*/ 240 w 249"/>
                <a:gd name="T9" fmla="*/ 20 h 144"/>
                <a:gd name="T10" fmla="*/ 237 w 249"/>
                <a:gd name="T11" fmla="*/ 15 h 144"/>
                <a:gd name="T12" fmla="*/ 235 w 249"/>
                <a:gd name="T13" fmla="*/ 10 h 144"/>
                <a:gd name="T14" fmla="*/ 232 w 249"/>
                <a:gd name="T15" fmla="*/ 5 h 144"/>
                <a:gd name="T16" fmla="*/ 229 w 249"/>
                <a:gd name="T17" fmla="*/ 0 h 144"/>
                <a:gd name="T18" fmla="*/ 225 w 249"/>
                <a:gd name="T19" fmla="*/ 0 h 144"/>
                <a:gd name="T20" fmla="*/ 229 w 249"/>
                <a:gd name="T21" fmla="*/ 5 h 144"/>
                <a:gd name="T22" fmla="*/ 232 w 249"/>
                <a:gd name="T23" fmla="*/ 10 h 144"/>
                <a:gd name="T24" fmla="*/ 235 w 249"/>
                <a:gd name="T25" fmla="*/ 15 h 144"/>
                <a:gd name="T26" fmla="*/ 237 w 249"/>
                <a:gd name="T27" fmla="*/ 21 h 144"/>
                <a:gd name="T28" fmla="*/ 239 w 249"/>
                <a:gd name="T29" fmla="*/ 26 h 144"/>
                <a:gd name="T30" fmla="*/ 242 w 249"/>
                <a:gd name="T31" fmla="*/ 31 h 144"/>
                <a:gd name="T32" fmla="*/ 244 w 249"/>
                <a:gd name="T33" fmla="*/ 36 h 144"/>
                <a:gd name="T34" fmla="*/ 245 w 249"/>
                <a:gd name="T35" fmla="*/ 43 h 144"/>
                <a:gd name="T36" fmla="*/ 249 w 249"/>
                <a:gd name="T37" fmla="*/ 41 h 144"/>
                <a:gd name="T38" fmla="*/ 0 w 249"/>
                <a:gd name="T39" fmla="*/ 102 h 144"/>
                <a:gd name="T40" fmla="*/ 2 w 249"/>
                <a:gd name="T41" fmla="*/ 109 h 144"/>
                <a:gd name="T42" fmla="*/ 3 w 249"/>
                <a:gd name="T43" fmla="*/ 114 h 144"/>
                <a:gd name="T44" fmla="*/ 5 w 249"/>
                <a:gd name="T45" fmla="*/ 119 h 144"/>
                <a:gd name="T46" fmla="*/ 8 w 249"/>
                <a:gd name="T47" fmla="*/ 124 h 144"/>
                <a:gd name="T48" fmla="*/ 10 w 249"/>
                <a:gd name="T49" fmla="*/ 129 h 144"/>
                <a:gd name="T50" fmla="*/ 13 w 249"/>
                <a:gd name="T51" fmla="*/ 134 h 144"/>
                <a:gd name="T52" fmla="*/ 17 w 249"/>
                <a:gd name="T53" fmla="*/ 139 h 144"/>
                <a:gd name="T54" fmla="*/ 18 w 249"/>
                <a:gd name="T55" fmla="*/ 144 h 144"/>
                <a:gd name="T56" fmla="*/ 22 w 249"/>
                <a:gd name="T57" fmla="*/ 142 h 144"/>
                <a:gd name="T58" fmla="*/ 18 w 249"/>
                <a:gd name="T59" fmla="*/ 137 h 144"/>
                <a:gd name="T60" fmla="*/ 17 w 249"/>
                <a:gd name="T61" fmla="*/ 132 h 144"/>
                <a:gd name="T62" fmla="*/ 13 w 249"/>
                <a:gd name="T63" fmla="*/ 129 h 144"/>
                <a:gd name="T64" fmla="*/ 12 w 249"/>
                <a:gd name="T65" fmla="*/ 122 h 144"/>
                <a:gd name="T66" fmla="*/ 8 w 249"/>
                <a:gd name="T67" fmla="*/ 117 h 144"/>
                <a:gd name="T68" fmla="*/ 7 w 249"/>
                <a:gd name="T69" fmla="*/ 112 h 144"/>
                <a:gd name="T70" fmla="*/ 5 w 249"/>
                <a:gd name="T71" fmla="*/ 107 h 144"/>
                <a:gd name="T72" fmla="*/ 3 w 249"/>
                <a:gd name="T73" fmla="*/ 102 h 144"/>
                <a:gd name="T74" fmla="*/ 0 w 249"/>
                <a:gd name="T75" fmla="*/ 102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9" h="144">
                  <a:moveTo>
                    <a:pt x="249" y="41"/>
                  </a:moveTo>
                  <a:lnTo>
                    <a:pt x="247" y="36"/>
                  </a:lnTo>
                  <a:lnTo>
                    <a:pt x="245" y="30"/>
                  </a:lnTo>
                  <a:lnTo>
                    <a:pt x="242" y="25"/>
                  </a:lnTo>
                  <a:lnTo>
                    <a:pt x="240" y="20"/>
                  </a:lnTo>
                  <a:lnTo>
                    <a:pt x="237" y="15"/>
                  </a:lnTo>
                  <a:lnTo>
                    <a:pt x="235" y="10"/>
                  </a:lnTo>
                  <a:lnTo>
                    <a:pt x="232" y="5"/>
                  </a:lnTo>
                  <a:lnTo>
                    <a:pt x="229" y="0"/>
                  </a:lnTo>
                  <a:lnTo>
                    <a:pt x="225" y="0"/>
                  </a:lnTo>
                  <a:lnTo>
                    <a:pt x="229" y="5"/>
                  </a:lnTo>
                  <a:lnTo>
                    <a:pt x="232" y="10"/>
                  </a:lnTo>
                  <a:lnTo>
                    <a:pt x="235" y="15"/>
                  </a:lnTo>
                  <a:lnTo>
                    <a:pt x="237" y="21"/>
                  </a:lnTo>
                  <a:lnTo>
                    <a:pt x="239" y="26"/>
                  </a:lnTo>
                  <a:lnTo>
                    <a:pt x="242" y="31"/>
                  </a:lnTo>
                  <a:lnTo>
                    <a:pt x="244" y="36"/>
                  </a:lnTo>
                  <a:lnTo>
                    <a:pt x="245" y="43"/>
                  </a:lnTo>
                  <a:lnTo>
                    <a:pt x="249" y="41"/>
                  </a:lnTo>
                  <a:close/>
                  <a:moveTo>
                    <a:pt x="0" y="102"/>
                  </a:moveTo>
                  <a:lnTo>
                    <a:pt x="2" y="109"/>
                  </a:lnTo>
                  <a:lnTo>
                    <a:pt x="3" y="114"/>
                  </a:lnTo>
                  <a:lnTo>
                    <a:pt x="5" y="119"/>
                  </a:lnTo>
                  <a:lnTo>
                    <a:pt x="8" y="124"/>
                  </a:lnTo>
                  <a:lnTo>
                    <a:pt x="10" y="129"/>
                  </a:lnTo>
                  <a:lnTo>
                    <a:pt x="13" y="134"/>
                  </a:lnTo>
                  <a:lnTo>
                    <a:pt x="17" y="139"/>
                  </a:lnTo>
                  <a:lnTo>
                    <a:pt x="18" y="144"/>
                  </a:lnTo>
                  <a:lnTo>
                    <a:pt x="22" y="142"/>
                  </a:lnTo>
                  <a:lnTo>
                    <a:pt x="18" y="137"/>
                  </a:lnTo>
                  <a:lnTo>
                    <a:pt x="17" y="132"/>
                  </a:lnTo>
                  <a:lnTo>
                    <a:pt x="13" y="129"/>
                  </a:lnTo>
                  <a:lnTo>
                    <a:pt x="12" y="122"/>
                  </a:lnTo>
                  <a:lnTo>
                    <a:pt x="8" y="117"/>
                  </a:lnTo>
                  <a:lnTo>
                    <a:pt x="7" y="112"/>
                  </a:lnTo>
                  <a:lnTo>
                    <a:pt x="5" y="107"/>
                  </a:lnTo>
                  <a:lnTo>
                    <a:pt x="3" y="102"/>
                  </a:lnTo>
                  <a:lnTo>
                    <a:pt x="0" y="102"/>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54" name="Freeform 596">
              <a:extLst>
                <a:ext uri="{FF2B5EF4-FFF2-40B4-BE49-F238E27FC236}">
                  <a16:creationId xmlns:a16="http://schemas.microsoft.com/office/drawing/2014/main" id="{A217494F-506E-6D46-DCCA-168B73AF25AE}"/>
                </a:ext>
              </a:extLst>
            </p:cNvPr>
            <p:cNvSpPr>
              <a:spLocks noEditPoints="1"/>
            </p:cNvSpPr>
            <p:nvPr/>
          </p:nvSpPr>
          <p:spPr bwMode="auto">
            <a:xfrm>
              <a:off x="2095" y="1567"/>
              <a:ext cx="245" cy="144"/>
            </a:xfrm>
            <a:custGeom>
              <a:avLst/>
              <a:gdLst>
                <a:gd name="T0" fmla="*/ 245 w 245"/>
                <a:gd name="T1" fmla="*/ 41 h 144"/>
                <a:gd name="T2" fmla="*/ 243 w 245"/>
                <a:gd name="T3" fmla="*/ 36 h 144"/>
                <a:gd name="T4" fmla="*/ 242 w 245"/>
                <a:gd name="T5" fmla="*/ 31 h 144"/>
                <a:gd name="T6" fmla="*/ 238 w 245"/>
                <a:gd name="T7" fmla="*/ 25 h 144"/>
                <a:gd name="T8" fmla="*/ 237 w 245"/>
                <a:gd name="T9" fmla="*/ 20 h 144"/>
                <a:gd name="T10" fmla="*/ 235 w 245"/>
                <a:gd name="T11" fmla="*/ 15 h 144"/>
                <a:gd name="T12" fmla="*/ 232 w 245"/>
                <a:gd name="T13" fmla="*/ 10 h 144"/>
                <a:gd name="T14" fmla="*/ 228 w 245"/>
                <a:gd name="T15" fmla="*/ 5 h 144"/>
                <a:gd name="T16" fmla="*/ 225 w 245"/>
                <a:gd name="T17" fmla="*/ 0 h 144"/>
                <a:gd name="T18" fmla="*/ 222 w 245"/>
                <a:gd name="T19" fmla="*/ 1 h 144"/>
                <a:gd name="T20" fmla="*/ 225 w 245"/>
                <a:gd name="T21" fmla="*/ 6 h 144"/>
                <a:gd name="T22" fmla="*/ 228 w 245"/>
                <a:gd name="T23" fmla="*/ 11 h 144"/>
                <a:gd name="T24" fmla="*/ 232 w 245"/>
                <a:gd name="T25" fmla="*/ 16 h 144"/>
                <a:gd name="T26" fmla="*/ 233 w 245"/>
                <a:gd name="T27" fmla="*/ 21 h 144"/>
                <a:gd name="T28" fmla="*/ 237 w 245"/>
                <a:gd name="T29" fmla="*/ 26 h 144"/>
                <a:gd name="T30" fmla="*/ 238 w 245"/>
                <a:gd name="T31" fmla="*/ 31 h 144"/>
                <a:gd name="T32" fmla="*/ 240 w 245"/>
                <a:gd name="T33" fmla="*/ 38 h 144"/>
                <a:gd name="T34" fmla="*/ 242 w 245"/>
                <a:gd name="T35" fmla="*/ 43 h 144"/>
                <a:gd name="T36" fmla="*/ 245 w 245"/>
                <a:gd name="T37" fmla="*/ 41 h 144"/>
                <a:gd name="T38" fmla="*/ 0 w 245"/>
                <a:gd name="T39" fmla="*/ 102 h 144"/>
                <a:gd name="T40" fmla="*/ 1 w 245"/>
                <a:gd name="T41" fmla="*/ 107 h 144"/>
                <a:gd name="T42" fmla="*/ 3 w 245"/>
                <a:gd name="T43" fmla="*/ 114 h 144"/>
                <a:gd name="T44" fmla="*/ 5 w 245"/>
                <a:gd name="T45" fmla="*/ 119 h 144"/>
                <a:gd name="T46" fmla="*/ 8 w 245"/>
                <a:gd name="T47" fmla="*/ 124 h 144"/>
                <a:gd name="T48" fmla="*/ 10 w 245"/>
                <a:gd name="T49" fmla="*/ 129 h 144"/>
                <a:gd name="T50" fmla="*/ 13 w 245"/>
                <a:gd name="T51" fmla="*/ 134 h 144"/>
                <a:gd name="T52" fmla="*/ 16 w 245"/>
                <a:gd name="T53" fmla="*/ 139 h 144"/>
                <a:gd name="T54" fmla="*/ 18 w 245"/>
                <a:gd name="T55" fmla="*/ 144 h 144"/>
                <a:gd name="T56" fmla="*/ 21 w 245"/>
                <a:gd name="T57" fmla="*/ 142 h 144"/>
                <a:gd name="T58" fmla="*/ 18 w 245"/>
                <a:gd name="T59" fmla="*/ 137 h 144"/>
                <a:gd name="T60" fmla="*/ 16 w 245"/>
                <a:gd name="T61" fmla="*/ 132 h 144"/>
                <a:gd name="T62" fmla="*/ 13 w 245"/>
                <a:gd name="T63" fmla="*/ 127 h 144"/>
                <a:gd name="T64" fmla="*/ 11 w 245"/>
                <a:gd name="T65" fmla="*/ 122 h 144"/>
                <a:gd name="T66" fmla="*/ 8 w 245"/>
                <a:gd name="T67" fmla="*/ 117 h 144"/>
                <a:gd name="T68" fmla="*/ 6 w 245"/>
                <a:gd name="T69" fmla="*/ 112 h 144"/>
                <a:gd name="T70" fmla="*/ 5 w 245"/>
                <a:gd name="T71" fmla="*/ 106 h 144"/>
                <a:gd name="T72" fmla="*/ 3 w 245"/>
                <a:gd name="T73" fmla="*/ 101 h 144"/>
                <a:gd name="T74" fmla="*/ 0 w 245"/>
                <a:gd name="T75" fmla="*/ 102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5" h="144">
                  <a:moveTo>
                    <a:pt x="245" y="41"/>
                  </a:moveTo>
                  <a:lnTo>
                    <a:pt x="243" y="36"/>
                  </a:lnTo>
                  <a:lnTo>
                    <a:pt x="242" y="31"/>
                  </a:lnTo>
                  <a:lnTo>
                    <a:pt x="238" y="25"/>
                  </a:lnTo>
                  <a:lnTo>
                    <a:pt x="237" y="20"/>
                  </a:lnTo>
                  <a:lnTo>
                    <a:pt x="235" y="15"/>
                  </a:lnTo>
                  <a:lnTo>
                    <a:pt x="232" y="10"/>
                  </a:lnTo>
                  <a:lnTo>
                    <a:pt x="228" y="5"/>
                  </a:lnTo>
                  <a:lnTo>
                    <a:pt x="225" y="0"/>
                  </a:lnTo>
                  <a:lnTo>
                    <a:pt x="222" y="1"/>
                  </a:lnTo>
                  <a:lnTo>
                    <a:pt x="225" y="6"/>
                  </a:lnTo>
                  <a:lnTo>
                    <a:pt x="228" y="11"/>
                  </a:lnTo>
                  <a:lnTo>
                    <a:pt x="232" y="16"/>
                  </a:lnTo>
                  <a:lnTo>
                    <a:pt x="233" y="21"/>
                  </a:lnTo>
                  <a:lnTo>
                    <a:pt x="237" y="26"/>
                  </a:lnTo>
                  <a:lnTo>
                    <a:pt x="238" y="31"/>
                  </a:lnTo>
                  <a:lnTo>
                    <a:pt x="240" y="38"/>
                  </a:lnTo>
                  <a:lnTo>
                    <a:pt x="242" y="43"/>
                  </a:lnTo>
                  <a:lnTo>
                    <a:pt x="245" y="41"/>
                  </a:lnTo>
                  <a:close/>
                  <a:moveTo>
                    <a:pt x="0" y="102"/>
                  </a:moveTo>
                  <a:lnTo>
                    <a:pt x="1" y="107"/>
                  </a:lnTo>
                  <a:lnTo>
                    <a:pt x="3" y="114"/>
                  </a:lnTo>
                  <a:lnTo>
                    <a:pt x="5" y="119"/>
                  </a:lnTo>
                  <a:lnTo>
                    <a:pt x="8" y="124"/>
                  </a:lnTo>
                  <a:lnTo>
                    <a:pt x="10" y="129"/>
                  </a:lnTo>
                  <a:lnTo>
                    <a:pt x="13" y="134"/>
                  </a:lnTo>
                  <a:lnTo>
                    <a:pt x="16" y="139"/>
                  </a:lnTo>
                  <a:lnTo>
                    <a:pt x="18" y="144"/>
                  </a:lnTo>
                  <a:lnTo>
                    <a:pt x="21" y="142"/>
                  </a:lnTo>
                  <a:lnTo>
                    <a:pt x="18" y="137"/>
                  </a:lnTo>
                  <a:lnTo>
                    <a:pt x="16" y="132"/>
                  </a:lnTo>
                  <a:lnTo>
                    <a:pt x="13" y="127"/>
                  </a:lnTo>
                  <a:lnTo>
                    <a:pt x="11" y="122"/>
                  </a:lnTo>
                  <a:lnTo>
                    <a:pt x="8" y="117"/>
                  </a:lnTo>
                  <a:lnTo>
                    <a:pt x="6" y="112"/>
                  </a:lnTo>
                  <a:lnTo>
                    <a:pt x="5" y="106"/>
                  </a:lnTo>
                  <a:lnTo>
                    <a:pt x="3" y="101"/>
                  </a:lnTo>
                  <a:lnTo>
                    <a:pt x="0" y="102"/>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55" name="Freeform 597">
              <a:extLst>
                <a:ext uri="{FF2B5EF4-FFF2-40B4-BE49-F238E27FC236}">
                  <a16:creationId xmlns:a16="http://schemas.microsoft.com/office/drawing/2014/main" id="{8384615E-1FB0-A453-308C-957AC1B7D3FF}"/>
                </a:ext>
              </a:extLst>
            </p:cNvPr>
            <p:cNvSpPr>
              <a:spLocks noEditPoints="1"/>
            </p:cNvSpPr>
            <p:nvPr/>
          </p:nvSpPr>
          <p:spPr bwMode="auto">
            <a:xfrm>
              <a:off x="2096" y="1567"/>
              <a:ext cx="242" cy="142"/>
            </a:xfrm>
            <a:custGeom>
              <a:avLst/>
              <a:gdLst>
                <a:gd name="T0" fmla="*/ 242 w 242"/>
                <a:gd name="T1" fmla="*/ 43 h 142"/>
                <a:gd name="T2" fmla="*/ 241 w 242"/>
                <a:gd name="T3" fmla="*/ 36 h 142"/>
                <a:gd name="T4" fmla="*/ 239 w 242"/>
                <a:gd name="T5" fmla="*/ 31 h 142"/>
                <a:gd name="T6" fmla="*/ 236 w 242"/>
                <a:gd name="T7" fmla="*/ 26 h 142"/>
                <a:gd name="T8" fmla="*/ 234 w 242"/>
                <a:gd name="T9" fmla="*/ 21 h 142"/>
                <a:gd name="T10" fmla="*/ 232 w 242"/>
                <a:gd name="T11" fmla="*/ 15 h 142"/>
                <a:gd name="T12" fmla="*/ 229 w 242"/>
                <a:gd name="T13" fmla="*/ 10 h 142"/>
                <a:gd name="T14" fmla="*/ 226 w 242"/>
                <a:gd name="T15" fmla="*/ 5 h 142"/>
                <a:gd name="T16" fmla="*/ 222 w 242"/>
                <a:gd name="T17" fmla="*/ 0 h 142"/>
                <a:gd name="T18" fmla="*/ 219 w 242"/>
                <a:gd name="T19" fmla="*/ 1 h 142"/>
                <a:gd name="T20" fmla="*/ 222 w 242"/>
                <a:gd name="T21" fmla="*/ 6 h 142"/>
                <a:gd name="T22" fmla="*/ 226 w 242"/>
                <a:gd name="T23" fmla="*/ 11 h 142"/>
                <a:gd name="T24" fmla="*/ 229 w 242"/>
                <a:gd name="T25" fmla="*/ 16 h 142"/>
                <a:gd name="T26" fmla="*/ 231 w 242"/>
                <a:gd name="T27" fmla="*/ 21 h 142"/>
                <a:gd name="T28" fmla="*/ 234 w 242"/>
                <a:gd name="T29" fmla="*/ 28 h 142"/>
                <a:gd name="T30" fmla="*/ 236 w 242"/>
                <a:gd name="T31" fmla="*/ 33 h 142"/>
                <a:gd name="T32" fmla="*/ 237 w 242"/>
                <a:gd name="T33" fmla="*/ 38 h 142"/>
                <a:gd name="T34" fmla="*/ 239 w 242"/>
                <a:gd name="T35" fmla="*/ 45 h 142"/>
                <a:gd name="T36" fmla="*/ 242 w 242"/>
                <a:gd name="T37" fmla="*/ 43 h 142"/>
                <a:gd name="T38" fmla="*/ 0 w 242"/>
                <a:gd name="T39" fmla="*/ 102 h 142"/>
                <a:gd name="T40" fmla="*/ 2 w 242"/>
                <a:gd name="T41" fmla="*/ 107 h 142"/>
                <a:gd name="T42" fmla="*/ 4 w 242"/>
                <a:gd name="T43" fmla="*/ 112 h 142"/>
                <a:gd name="T44" fmla="*/ 5 w 242"/>
                <a:gd name="T45" fmla="*/ 117 h 142"/>
                <a:gd name="T46" fmla="*/ 9 w 242"/>
                <a:gd name="T47" fmla="*/ 122 h 142"/>
                <a:gd name="T48" fmla="*/ 10 w 242"/>
                <a:gd name="T49" fmla="*/ 129 h 142"/>
                <a:gd name="T50" fmla="*/ 14 w 242"/>
                <a:gd name="T51" fmla="*/ 132 h 142"/>
                <a:gd name="T52" fmla="*/ 15 w 242"/>
                <a:gd name="T53" fmla="*/ 137 h 142"/>
                <a:gd name="T54" fmla="*/ 19 w 242"/>
                <a:gd name="T55" fmla="*/ 142 h 142"/>
                <a:gd name="T56" fmla="*/ 22 w 242"/>
                <a:gd name="T57" fmla="*/ 141 h 142"/>
                <a:gd name="T58" fmla="*/ 19 w 242"/>
                <a:gd name="T59" fmla="*/ 137 h 142"/>
                <a:gd name="T60" fmla="*/ 17 w 242"/>
                <a:gd name="T61" fmla="*/ 132 h 142"/>
                <a:gd name="T62" fmla="*/ 14 w 242"/>
                <a:gd name="T63" fmla="*/ 127 h 142"/>
                <a:gd name="T64" fmla="*/ 10 w 242"/>
                <a:gd name="T65" fmla="*/ 122 h 142"/>
                <a:gd name="T66" fmla="*/ 9 w 242"/>
                <a:gd name="T67" fmla="*/ 117 h 142"/>
                <a:gd name="T68" fmla="*/ 7 w 242"/>
                <a:gd name="T69" fmla="*/ 111 h 142"/>
                <a:gd name="T70" fmla="*/ 5 w 242"/>
                <a:gd name="T71" fmla="*/ 106 h 142"/>
                <a:gd name="T72" fmla="*/ 4 w 242"/>
                <a:gd name="T73" fmla="*/ 101 h 142"/>
                <a:gd name="T74" fmla="*/ 0 w 242"/>
                <a:gd name="T75" fmla="*/ 102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2" h="142">
                  <a:moveTo>
                    <a:pt x="242" y="43"/>
                  </a:moveTo>
                  <a:lnTo>
                    <a:pt x="241" y="36"/>
                  </a:lnTo>
                  <a:lnTo>
                    <a:pt x="239" y="31"/>
                  </a:lnTo>
                  <a:lnTo>
                    <a:pt x="236" y="26"/>
                  </a:lnTo>
                  <a:lnTo>
                    <a:pt x="234" y="21"/>
                  </a:lnTo>
                  <a:lnTo>
                    <a:pt x="232" y="15"/>
                  </a:lnTo>
                  <a:lnTo>
                    <a:pt x="229" y="10"/>
                  </a:lnTo>
                  <a:lnTo>
                    <a:pt x="226" y="5"/>
                  </a:lnTo>
                  <a:lnTo>
                    <a:pt x="222" y="0"/>
                  </a:lnTo>
                  <a:lnTo>
                    <a:pt x="219" y="1"/>
                  </a:lnTo>
                  <a:lnTo>
                    <a:pt x="222" y="6"/>
                  </a:lnTo>
                  <a:lnTo>
                    <a:pt x="226" y="11"/>
                  </a:lnTo>
                  <a:lnTo>
                    <a:pt x="229" y="16"/>
                  </a:lnTo>
                  <a:lnTo>
                    <a:pt x="231" y="21"/>
                  </a:lnTo>
                  <a:lnTo>
                    <a:pt x="234" y="28"/>
                  </a:lnTo>
                  <a:lnTo>
                    <a:pt x="236" y="33"/>
                  </a:lnTo>
                  <a:lnTo>
                    <a:pt x="237" y="38"/>
                  </a:lnTo>
                  <a:lnTo>
                    <a:pt x="239" y="45"/>
                  </a:lnTo>
                  <a:lnTo>
                    <a:pt x="242" y="43"/>
                  </a:lnTo>
                  <a:close/>
                  <a:moveTo>
                    <a:pt x="0" y="102"/>
                  </a:moveTo>
                  <a:lnTo>
                    <a:pt x="2" y="107"/>
                  </a:lnTo>
                  <a:lnTo>
                    <a:pt x="4" y="112"/>
                  </a:lnTo>
                  <a:lnTo>
                    <a:pt x="5" y="117"/>
                  </a:lnTo>
                  <a:lnTo>
                    <a:pt x="9" y="122"/>
                  </a:lnTo>
                  <a:lnTo>
                    <a:pt x="10" y="129"/>
                  </a:lnTo>
                  <a:lnTo>
                    <a:pt x="14" y="132"/>
                  </a:lnTo>
                  <a:lnTo>
                    <a:pt x="15" y="137"/>
                  </a:lnTo>
                  <a:lnTo>
                    <a:pt x="19" y="142"/>
                  </a:lnTo>
                  <a:lnTo>
                    <a:pt x="22" y="141"/>
                  </a:lnTo>
                  <a:lnTo>
                    <a:pt x="19" y="137"/>
                  </a:lnTo>
                  <a:lnTo>
                    <a:pt x="17" y="132"/>
                  </a:lnTo>
                  <a:lnTo>
                    <a:pt x="14" y="127"/>
                  </a:lnTo>
                  <a:lnTo>
                    <a:pt x="10" y="122"/>
                  </a:lnTo>
                  <a:lnTo>
                    <a:pt x="9" y="117"/>
                  </a:lnTo>
                  <a:lnTo>
                    <a:pt x="7" y="111"/>
                  </a:lnTo>
                  <a:lnTo>
                    <a:pt x="5" y="106"/>
                  </a:lnTo>
                  <a:lnTo>
                    <a:pt x="4" y="101"/>
                  </a:lnTo>
                  <a:lnTo>
                    <a:pt x="0" y="102"/>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56" name="Freeform 598">
              <a:extLst>
                <a:ext uri="{FF2B5EF4-FFF2-40B4-BE49-F238E27FC236}">
                  <a16:creationId xmlns:a16="http://schemas.microsoft.com/office/drawing/2014/main" id="{7C9F28B7-EE7C-BFF9-67C3-C5575C3A2EF8}"/>
                </a:ext>
              </a:extLst>
            </p:cNvPr>
            <p:cNvSpPr>
              <a:spLocks noEditPoints="1"/>
            </p:cNvSpPr>
            <p:nvPr/>
          </p:nvSpPr>
          <p:spPr bwMode="auto">
            <a:xfrm>
              <a:off x="2098" y="1568"/>
              <a:ext cx="239" cy="141"/>
            </a:xfrm>
            <a:custGeom>
              <a:avLst/>
              <a:gdLst>
                <a:gd name="T0" fmla="*/ 239 w 239"/>
                <a:gd name="T1" fmla="*/ 42 h 141"/>
                <a:gd name="T2" fmla="*/ 237 w 239"/>
                <a:gd name="T3" fmla="*/ 37 h 141"/>
                <a:gd name="T4" fmla="*/ 235 w 239"/>
                <a:gd name="T5" fmla="*/ 30 h 141"/>
                <a:gd name="T6" fmla="*/ 234 w 239"/>
                <a:gd name="T7" fmla="*/ 25 h 141"/>
                <a:gd name="T8" fmla="*/ 230 w 239"/>
                <a:gd name="T9" fmla="*/ 20 h 141"/>
                <a:gd name="T10" fmla="*/ 229 w 239"/>
                <a:gd name="T11" fmla="*/ 15 h 141"/>
                <a:gd name="T12" fmla="*/ 225 w 239"/>
                <a:gd name="T13" fmla="*/ 10 h 141"/>
                <a:gd name="T14" fmla="*/ 222 w 239"/>
                <a:gd name="T15" fmla="*/ 5 h 141"/>
                <a:gd name="T16" fmla="*/ 219 w 239"/>
                <a:gd name="T17" fmla="*/ 0 h 141"/>
                <a:gd name="T18" fmla="*/ 217 w 239"/>
                <a:gd name="T19" fmla="*/ 2 h 141"/>
                <a:gd name="T20" fmla="*/ 219 w 239"/>
                <a:gd name="T21" fmla="*/ 7 h 141"/>
                <a:gd name="T22" fmla="*/ 222 w 239"/>
                <a:gd name="T23" fmla="*/ 12 h 141"/>
                <a:gd name="T24" fmla="*/ 225 w 239"/>
                <a:gd name="T25" fmla="*/ 17 h 141"/>
                <a:gd name="T26" fmla="*/ 227 w 239"/>
                <a:gd name="T27" fmla="*/ 22 h 141"/>
                <a:gd name="T28" fmla="*/ 230 w 239"/>
                <a:gd name="T29" fmla="*/ 27 h 141"/>
                <a:gd name="T30" fmla="*/ 232 w 239"/>
                <a:gd name="T31" fmla="*/ 32 h 141"/>
                <a:gd name="T32" fmla="*/ 234 w 239"/>
                <a:gd name="T33" fmla="*/ 39 h 141"/>
                <a:gd name="T34" fmla="*/ 235 w 239"/>
                <a:gd name="T35" fmla="*/ 44 h 141"/>
                <a:gd name="T36" fmla="*/ 239 w 239"/>
                <a:gd name="T37" fmla="*/ 42 h 141"/>
                <a:gd name="T38" fmla="*/ 0 w 239"/>
                <a:gd name="T39" fmla="*/ 100 h 141"/>
                <a:gd name="T40" fmla="*/ 2 w 239"/>
                <a:gd name="T41" fmla="*/ 105 h 141"/>
                <a:gd name="T42" fmla="*/ 3 w 239"/>
                <a:gd name="T43" fmla="*/ 111 h 141"/>
                <a:gd name="T44" fmla="*/ 5 w 239"/>
                <a:gd name="T45" fmla="*/ 116 h 141"/>
                <a:gd name="T46" fmla="*/ 8 w 239"/>
                <a:gd name="T47" fmla="*/ 121 h 141"/>
                <a:gd name="T48" fmla="*/ 10 w 239"/>
                <a:gd name="T49" fmla="*/ 126 h 141"/>
                <a:gd name="T50" fmla="*/ 13 w 239"/>
                <a:gd name="T51" fmla="*/ 131 h 141"/>
                <a:gd name="T52" fmla="*/ 15 w 239"/>
                <a:gd name="T53" fmla="*/ 136 h 141"/>
                <a:gd name="T54" fmla="*/ 18 w 239"/>
                <a:gd name="T55" fmla="*/ 141 h 141"/>
                <a:gd name="T56" fmla="*/ 22 w 239"/>
                <a:gd name="T57" fmla="*/ 140 h 141"/>
                <a:gd name="T58" fmla="*/ 18 w 239"/>
                <a:gd name="T59" fmla="*/ 135 h 141"/>
                <a:gd name="T60" fmla="*/ 15 w 239"/>
                <a:gd name="T61" fmla="*/ 130 h 141"/>
                <a:gd name="T62" fmla="*/ 13 w 239"/>
                <a:gd name="T63" fmla="*/ 125 h 141"/>
                <a:gd name="T64" fmla="*/ 10 w 239"/>
                <a:gd name="T65" fmla="*/ 120 h 141"/>
                <a:gd name="T66" fmla="*/ 8 w 239"/>
                <a:gd name="T67" fmla="*/ 115 h 141"/>
                <a:gd name="T68" fmla="*/ 7 w 239"/>
                <a:gd name="T69" fmla="*/ 110 h 141"/>
                <a:gd name="T70" fmla="*/ 5 w 239"/>
                <a:gd name="T71" fmla="*/ 105 h 141"/>
                <a:gd name="T72" fmla="*/ 3 w 239"/>
                <a:gd name="T73" fmla="*/ 98 h 141"/>
                <a:gd name="T74" fmla="*/ 0 w 239"/>
                <a:gd name="T75" fmla="*/ 100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39" h="141">
                  <a:moveTo>
                    <a:pt x="239" y="42"/>
                  </a:moveTo>
                  <a:lnTo>
                    <a:pt x="237" y="37"/>
                  </a:lnTo>
                  <a:lnTo>
                    <a:pt x="235" y="30"/>
                  </a:lnTo>
                  <a:lnTo>
                    <a:pt x="234" y="25"/>
                  </a:lnTo>
                  <a:lnTo>
                    <a:pt x="230" y="20"/>
                  </a:lnTo>
                  <a:lnTo>
                    <a:pt x="229" y="15"/>
                  </a:lnTo>
                  <a:lnTo>
                    <a:pt x="225" y="10"/>
                  </a:lnTo>
                  <a:lnTo>
                    <a:pt x="222" y="5"/>
                  </a:lnTo>
                  <a:lnTo>
                    <a:pt x="219" y="0"/>
                  </a:lnTo>
                  <a:lnTo>
                    <a:pt x="217" y="2"/>
                  </a:lnTo>
                  <a:lnTo>
                    <a:pt x="219" y="7"/>
                  </a:lnTo>
                  <a:lnTo>
                    <a:pt x="222" y="12"/>
                  </a:lnTo>
                  <a:lnTo>
                    <a:pt x="225" y="17"/>
                  </a:lnTo>
                  <a:lnTo>
                    <a:pt x="227" y="22"/>
                  </a:lnTo>
                  <a:lnTo>
                    <a:pt x="230" y="27"/>
                  </a:lnTo>
                  <a:lnTo>
                    <a:pt x="232" y="32"/>
                  </a:lnTo>
                  <a:lnTo>
                    <a:pt x="234" y="39"/>
                  </a:lnTo>
                  <a:lnTo>
                    <a:pt x="235" y="44"/>
                  </a:lnTo>
                  <a:lnTo>
                    <a:pt x="239" y="42"/>
                  </a:lnTo>
                  <a:close/>
                  <a:moveTo>
                    <a:pt x="0" y="100"/>
                  </a:moveTo>
                  <a:lnTo>
                    <a:pt x="2" y="105"/>
                  </a:lnTo>
                  <a:lnTo>
                    <a:pt x="3" y="111"/>
                  </a:lnTo>
                  <a:lnTo>
                    <a:pt x="5" y="116"/>
                  </a:lnTo>
                  <a:lnTo>
                    <a:pt x="8" y="121"/>
                  </a:lnTo>
                  <a:lnTo>
                    <a:pt x="10" y="126"/>
                  </a:lnTo>
                  <a:lnTo>
                    <a:pt x="13" y="131"/>
                  </a:lnTo>
                  <a:lnTo>
                    <a:pt x="15" y="136"/>
                  </a:lnTo>
                  <a:lnTo>
                    <a:pt x="18" y="141"/>
                  </a:lnTo>
                  <a:lnTo>
                    <a:pt x="22" y="140"/>
                  </a:lnTo>
                  <a:lnTo>
                    <a:pt x="18" y="135"/>
                  </a:lnTo>
                  <a:lnTo>
                    <a:pt x="15" y="130"/>
                  </a:lnTo>
                  <a:lnTo>
                    <a:pt x="13" y="125"/>
                  </a:lnTo>
                  <a:lnTo>
                    <a:pt x="10" y="120"/>
                  </a:lnTo>
                  <a:lnTo>
                    <a:pt x="8" y="115"/>
                  </a:lnTo>
                  <a:lnTo>
                    <a:pt x="7" y="110"/>
                  </a:lnTo>
                  <a:lnTo>
                    <a:pt x="5" y="105"/>
                  </a:lnTo>
                  <a:lnTo>
                    <a:pt x="3" y="98"/>
                  </a:lnTo>
                  <a:lnTo>
                    <a:pt x="0" y="10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57" name="Freeform 599">
              <a:extLst>
                <a:ext uri="{FF2B5EF4-FFF2-40B4-BE49-F238E27FC236}">
                  <a16:creationId xmlns:a16="http://schemas.microsoft.com/office/drawing/2014/main" id="{7C38A9F7-9B37-6CCC-88EB-652FAEC5203C}"/>
                </a:ext>
              </a:extLst>
            </p:cNvPr>
            <p:cNvSpPr>
              <a:spLocks noEditPoints="1"/>
            </p:cNvSpPr>
            <p:nvPr/>
          </p:nvSpPr>
          <p:spPr bwMode="auto">
            <a:xfrm>
              <a:off x="2100" y="1568"/>
              <a:ext cx="235" cy="140"/>
            </a:xfrm>
            <a:custGeom>
              <a:avLst/>
              <a:gdLst>
                <a:gd name="T0" fmla="*/ 235 w 235"/>
                <a:gd name="T1" fmla="*/ 44 h 140"/>
                <a:gd name="T2" fmla="*/ 233 w 235"/>
                <a:gd name="T3" fmla="*/ 37 h 140"/>
                <a:gd name="T4" fmla="*/ 232 w 235"/>
                <a:gd name="T5" fmla="*/ 32 h 140"/>
                <a:gd name="T6" fmla="*/ 230 w 235"/>
                <a:gd name="T7" fmla="*/ 27 h 140"/>
                <a:gd name="T8" fmla="*/ 227 w 235"/>
                <a:gd name="T9" fmla="*/ 20 h 140"/>
                <a:gd name="T10" fmla="*/ 225 w 235"/>
                <a:gd name="T11" fmla="*/ 15 h 140"/>
                <a:gd name="T12" fmla="*/ 222 w 235"/>
                <a:gd name="T13" fmla="*/ 10 h 140"/>
                <a:gd name="T14" fmla="*/ 218 w 235"/>
                <a:gd name="T15" fmla="*/ 5 h 140"/>
                <a:gd name="T16" fmla="*/ 215 w 235"/>
                <a:gd name="T17" fmla="*/ 0 h 140"/>
                <a:gd name="T18" fmla="*/ 213 w 235"/>
                <a:gd name="T19" fmla="*/ 2 h 140"/>
                <a:gd name="T20" fmla="*/ 217 w 235"/>
                <a:gd name="T21" fmla="*/ 7 h 140"/>
                <a:gd name="T22" fmla="*/ 218 w 235"/>
                <a:gd name="T23" fmla="*/ 12 h 140"/>
                <a:gd name="T24" fmla="*/ 222 w 235"/>
                <a:gd name="T25" fmla="*/ 17 h 140"/>
                <a:gd name="T26" fmla="*/ 223 w 235"/>
                <a:gd name="T27" fmla="*/ 22 h 140"/>
                <a:gd name="T28" fmla="*/ 227 w 235"/>
                <a:gd name="T29" fmla="*/ 27 h 140"/>
                <a:gd name="T30" fmla="*/ 228 w 235"/>
                <a:gd name="T31" fmla="*/ 34 h 140"/>
                <a:gd name="T32" fmla="*/ 230 w 235"/>
                <a:gd name="T33" fmla="*/ 39 h 140"/>
                <a:gd name="T34" fmla="*/ 232 w 235"/>
                <a:gd name="T35" fmla="*/ 45 h 140"/>
                <a:gd name="T36" fmla="*/ 235 w 235"/>
                <a:gd name="T37" fmla="*/ 44 h 140"/>
                <a:gd name="T38" fmla="*/ 0 w 235"/>
                <a:gd name="T39" fmla="*/ 100 h 140"/>
                <a:gd name="T40" fmla="*/ 1 w 235"/>
                <a:gd name="T41" fmla="*/ 105 h 140"/>
                <a:gd name="T42" fmla="*/ 3 w 235"/>
                <a:gd name="T43" fmla="*/ 110 h 140"/>
                <a:gd name="T44" fmla="*/ 5 w 235"/>
                <a:gd name="T45" fmla="*/ 116 h 140"/>
                <a:gd name="T46" fmla="*/ 6 w 235"/>
                <a:gd name="T47" fmla="*/ 121 h 140"/>
                <a:gd name="T48" fmla="*/ 10 w 235"/>
                <a:gd name="T49" fmla="*/ 126 h 140"/>
                <a:gd name="T50" fmla="*/ 13 w 235"/>
                <a:gd name="T51" fmla="*/ 131 h 140"/>
                <a:gd name="T52" fmla="*/ 15 w 235"/>
                <a:gd name="T53" fmla="*/ 136 h 140"/>
                <a:gd name="T54" fmla="*/ 18 w 235"/>
                <a:gd name="T55" fmla="*/ 140 h 140"/>
                <a:gd name="T56" fmla="*/ 21 w 235"/>
                <a:gd name="T57" fmla="*/ 140 h 140"/>
                <a:gd name="T58" fmla="*/ 18 w 235"/>
                <a:gd name="T59" fmla="*/ 135 h 140"/>
                <a:gd name="T60" fmla="*/ 15 w 235"/>
                <a:gd name="T61" fmla="*/ 130 h 140"/>
                <a:gd name="T62" fmla="*/ 13 w 235"/>
                <a:gd name="T63" fmla="*/ 125 h 140"/>
                <a:gd name="T64" fmla="*/ 10 w 235"/>
                <a:gd name="T65" fmla="*/ 120 h 140"/>
                <a:gd name="T66" fmla="*/ 8 w 235"/>
                <a:gd name="T67" fmla="*/ 115 h 140"/>
                <a:gd name="T68" fmla="*/ 6 w 235"/>
                <a:gd name="T69" fmla="*/ 108 h 140"/>
                <a:gd name="T70" fmla="*/ 5 w 235"/>
                <a:gd name="T71" fmla="*/ 103 h 140"/>
                <a:gd name="T72" fmla="*/ 3 w 235"/>
                <a:gd name="T73" fmla="*/ 98 h 140"/>
                <a:gd name="T74" fmla="*/ 0 w 235"/>
                <a:gd name="T75" fmla="*/ 10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35" h="140">
                  <a:moveTo>
                    <a:pt x="235" y="44"/>
                  </a:moveTo>
                  <a:lnTo>
                    <a:pt x="233" y="37"/>
                  </a:lnTo>
                  <a:lnTo>
                    <a:pt x="232" y="32"/>
                  </a:lnTo>
                  <a:lnTo>
                    <a:pt x="230" y="27"/>
                  </a:lnTo>
                  <a:lnTo>
                    <a:pt x="227" y="20"/>
                  </a:lnTo>
                  <a:lnTo>
                    <a:pt x="225" y="15"/>
                  </a:lnTo>
                  <a:lnTo>
                    <a:pt x="222" y="10"/>
                  </a:lnTo>
                  <a:lnTo>
                    <a:pt x="218" y="5"/>
                  </a:lnTo>
                  <a:lnTo>
                    <a:pt x="215" y="0"/>
                  </a:lnTo>
                  <a:lnTo>
                    <a:pt x="213" y="2"/>
                  </a:lnTo>
                  <a:lnTo>
                    <a:pt x="217" y="7"/>
                  </a:lnTo>
                  <a:lnTo>
                    <a:pt x="218" y="12"/>
                  </a:lnTo>
                  <a:lnTo>
                    <a:pt x="222" y="17"/>
                  </a:lnTo>
                  <a:lnTo>
                    <a:pt x="223" y="22"/>
                  </a:lnTo>
                  <a:lnTo>
                    <a:pt x="227" y="27"/>
                  </a:lnTo>
                  <a:lnTo>
                    <a:pt x="228" y="34"/>
                  </a:lnTo>
                  <a:lnTo>
                    <a:pt x="230" y="39"/>
                  </a:lnTo>
                  <a:lnTo>
                    <a:pt x="232" y="45"/>
                  </a:lnTo>
                  <a:lnTo>
                    <a:pt x="235" y="44"/>
                  </a:lnTo>
                  <a:close/>
                  <a:moveTo>
                    <a:pt x="0" y="100"/>
                  </a:moveTo>
                  <a:lnTo>
                    <a:pt x="1" y="105"/>
                  </a:lnTo>
                  <a:lnTo>
                    <a:pt x="3" y="110"/>
                  </a:lnTo>
                  <a:lnTo>
                    <a:pt x="5" y="116"/>
                  </a:lnTo>
                  <a:lnTo>
                    <a:pt x="6" y="121"/>
                  </a:lnTo>
                  <a:lnTo>
                    <a:pt x="10" y="126"/>
                  </a:lnTo>
                  <a:lnTo>
                    <a:pt x="13" y="131"/>
                  </a:lnTo>
                  <a:lnTo>
                    <a:pt x="15" y="136"/>
                  </a:lnTo>
                  <a:lnTo>
                    <a:pt x="18" y="140"/>
                  </a:lnTo>
                  <a:lnTo>
                    <a:pt x="21" y="140"/>
                  </a:lnTo>
                  <a:lnTo>
                    <a:pt x="18" y="135"/>
                  </a:lnTo>
                  <a:lnTo>
                    <a:pt x="15" y="130"/>
                  </a:lnTo>
                  <a:lnTo>
                    <a:pt x="13" y="125"/>
                  </a:lnTo>
                  <a:lnTo>
                    <a:pt x="10" y="120"/>
                  </a:lnTo>
                  <a:lnTo>
                    <a:pt x="8" y="115"/>
                  </a:lnTo>
                  <a:lnTo>
                    <a:pt x="6" y="108"/>
                  </a:lnTo>
                  <a:lnTo>
                    <a:pt x="5" y="103"/>
                  </a:lnTo>
                  <a:lnTo>
                    <a:pt x="3" y="98"/>
                  </a:lnTo>
                  <a:lnTo>
                    <a:pt x="0" y="10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58" name="Freeform 600">
              <a:extLst>
                <a:ext uri="{FF2B5EF4-FFF2-40B4-BE49-F238E27FC236}">
                  <a16:creationId xmlns:a16="http://schemas.microsoft.com/office/drawing/2014/main" id="{3353FE0C-3E49-69B1-00BC-0EA0665362E8}"/>
                </a:ext>
              </a:extLst>
            </p:cNvPr>
            <p:cNvSpPr>
              <a:spLocks noEditPoints="1"/>
            </p:cNvSpPr>
            <p:nvPr/>
          </p:nvSpPr>
          <p:spPr bwMode="auto">
            <a:xfrm>
              <a:off x="2101" y="1570"/>
              <a:ext cx="232" cy="138"/>
            </a:xfrm>
            <a:custGeom>
              <a:avLst/>
              <a:gdLst>
                <a:gd name="T0" fmla="*/ 232 w 232"/>
                <a:gd name="T1" fmla="*/ 42 h 138"/>
                <a:gd name="T2" fmla="*/ 231 w 232"/>
                <a:gd name="T3" fmla="*/ 37 h 138"/>
                <a:gd name="T4" fmla="*/ 229 w 232"/>
                <a:gd name="T5" fmla="*/ 30 h 138"/>
                <a:gd name="T6" fmla="*/ 227 w 232"/>
                <a:gd name="T7" fmla="*/ 25 h 138"/>
                <a:gd name="T8" fmla="*/ 224 w 232"/>
                <a:gd name="T9" fmla="*/ 20 h 138"/>
                <a:gd name="T10" fmla="*/ 222 w 232"/>
                <a:gd name="T11" fmla="*/ 15 h 138"/>
                <a:gd name="T12" fmla="*/ 219 w 232"/>
                <a:gd name="T13" fmla="*/ 10 h 138"/>
                <a:gd name="T14" fmla="*/ 216 w 232"/>
                <a:gd name="T15" fmla="*/ 5 h 138"/>
                <a:gd name="T16" fmla="*/ 214 w 232"/>
                <a:gd name="T17" fmla="*/ 0 h 138"/>
                <a:gd name="T18" fmla="*/ 211 w 232"/>
                <a:gd name="T19" fmla="*/ 2 h 138"/>
                <a:gd name="T20" fmla="*/ 214 w 232"/>
                <a:gd name="T21" fmla="*/ 5 h 138"/>
                <a:gd name="T22" fmla="*/ 216 w 232"/>
                <a:gd name="T23" fmla="*/ 10 h 138"/>
                <a:gd name="T24" fmla="*/ 219 w 232"/>
                <a:gd name="T25" fmla="*/ 15 h 138"/>
                <a:gd name="T26" fmla="*/ 222 w 232"/>
                <a:gd name="T27" fmla="*/ 22 h 138"/>
                <a:gd name="T28" fmla="*/ 224 w 232"/>
                <a:gd name="T29" fmla="*/ 27 h 138"/>
                <a:gd name="T30" fmla="*/ 226 w 232"/>
                <a:gd name="T31" fmla="*/ 32 h 138"/>
                <a:gd name="T32" fmla="*/ 227 w 232"/>
                <a:gd name="T33" fmla="*/ 38 h 138"/>
                <a:gd name="T34" fmla="*/ 229 w 232"/>
                <a:gd name="T35" fmla="*/ 43 h 138"/>
                <a:gd name="T36" fmla="*/ 232 w 232"/>
                <a:gd name="T37" fmla="*/ 42 h 138"/>
                <a:gd name="T38" fmla="*/ 0 w 232"/>
                <a:gd name="T39" fmla="*/ 96 h 138"/>
                <a:gd name="T40" fmla="*/ 2 w 232"/>
                <a:gd name="T41" fmla="*/ 103 h 138"/>
                <a:gd name="T42" fmla="*/ 4 w 232"/>
                <a:gd name="T43" fmla="*/ 108 h 138"/>
                <a:gd name="T44" fmla="*/ 5 w 232"/>
                <a:gd name="T45" fmla="*/ 113 h 138"/>
                <a:gd name="T46" fmla="*/ 7 w 232"/>
                <a:gd name="T47" fmla="*/ 118 h 138"/>
                <a:gd name="T48" fmla="*/ 10 w 232"/>
                <a:gd name="T49" fmla="*/ 123 h 138"/>
                <a:gd name="T50" fmla="*/ 12 w 232"/>
                <a:gd name="T51" fmla="*/ 128 h 138"/>
                <a:gd name="T52" fmla="*/ 15 w 232"/>
                <a:gd name="T53" fmla="*/ 133 h 138"/>
                <a:gd name="T54" fmla="*/ 19 w 232"/>
                <a:gd name="T55" fmla="*/ 138 h 138"/>
                <a:gd name="T56" fmla="*/ 22 w 232"/>
                <a:gd name="T57" fmla="*/ 136 h 138"/>
                <a:gd name="T58" fmla="*/ 19 w 232"/>
                <a:gd name="T59" fmla="*/ 131 h 138"/>
                <a:gd name="T60" fmla="*/ 15 w 232"/>
                <a:gd name="T61" fmla="*/ 126 h 138"/>
                <a:gd name="T62" fmla="*/ 14 w 232"/>
                <a:gd name="T63" fmla="*/ 121 h 138"/>
                <a:gd name="T64" fmla="*/ 10 w 232"/>
                <a:gd name="T65" fmla="*/ 116 h 138"/>
                <a:gd name="T66" fmla="*/ 9 w 232"/>
                <a:gd name="T67" fmla="*/ 111 h 138"/>
                <a:gd name="T68" fmla="*/ 7 w 232"/>
                <a:gd name="T69" fmla="*/ 106 h 138"/>
                <a:gd name="T70" fmla="*/ 5 w 232"/>
                <a:gd name="T71" fmla="*/ 101 h 138"/>
                <a:gd name="T72" fmla="*/ 4 w 232"/>
                <a:gd name="T73" fmla="*/ 95 h 138"/>
                <a:gd name="T74" fmla="*/ 0 w 232"/>
                <a:gd name="T75" fmla="*/ 96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32" h="138">
                  <a:moveTo>
                    <a:pt x="232" y="42"/>
                  </a:moveTo>
                  <a:lnTo>
                    <a:pt x="231" y="37"/>
                  </a:lnTo>
                  <a:lnTo>
                    <a:pt x="229" y="30"/>
                  </a:lnTo>
                  <a:lnTo>
                    <a:pt x="227" y="25"/>
                  </a:lnTo>
                  <a:lnTo>
                    <a:pt x="224" y="20"/>
                  </a:lnTo>
                  <a:lnTo>
                    <a:pt x="222" y="15"/>
                  </a:lnTo>
                  <a:lnTo>
                    <a:pt x="219" y="10"/>
                  </a:lnTo>
                  <a:lnTo>
                    <a:pt x="216" y="5"/>
                  </a:lnTo>
                  <a:lnTo>
                    <a:pt x="214" y="0"/>
                  </a:lnTo>
                  <a:lnTo>
                    <a:pt x="211" y="2"/>
                  </a:lnTo>
                  <a:lnTo>
                    <a:pt x="214" y="5"/>
                  </a:lnTo>
                  <a:lnTo>
                    <a:pt x="216" y="10"/>
                  </a:lnTo>
                  <a:lnTo>
                    <a:pt x="219" y="15"/>
                  </a:lnTo>
                  <a:lnTo>
                    <a:pt x="222" y="22"/>
                  </a:lnTo>
                  <a:lnTo>
                    <a:pt x="224" y="27"/>
                  </a:lnTo>
                  <a:lnTo>
                    <a:pt x="226" y="32"/>
                  </a:lnTo>
                  <a:lnTo>
                    <a:pt x="227" y="38"/>
                  </a:lnTo>
                  <a:lnTo>
                    <a:pt x="229" y="43"/>
                  </a:lnTo>
                  <a:lnTo>
                    <a:pt x="232" y="42"/>
                  </a:lnTo>
                  <a:close/>
                  <a:moveTo>
                    <a:pt x="0" y="96"/>
                  </a:moveTo>
                  <a:lnTo>
                    <a:pt x="2" y="103"/>
                  </a:lnTo>
                  <a:lnTo>
                    <a:pt x="4" y="108"/>
                  </a:lnTo>
                  <a:lnTo>
                    <a:pt x="5" y="113"/>
                  </a:lnTo>
                  <a:lnTo>
                    <a:pt x="7" y="118"/>
                  </a:lnTo>
                  <a:lnTo>
                    <a:pt x="10" y="123"/>
                  </a:lnTo>
                  <a:lnTo>
                    <a:pt x="12" y="128"/>
                  </a:lnTo>
                  <a:lnTo>
                    <a:pt x="15" y="133"/>
                  </a:lnTo>
                  <a:lnTo>
                    <a:pt x="19" y="138"/>
                  </a:lnTo>
                  <a:lnTo>
                    <a:pt x="22" y="136"/>
                  </a:lnTo>
                  <a:lnTo>
                    <a:pt x="19" y="131"/>
                  </a:lnTo>
                  <a:lnTo>
                    <a:pt x="15" y="126"/>
                  </a:lnTo>
                  <a:lnTo>
                    <a:pt x="14" y="121"/>
                  </a:lnTo>
                  <a:lnTo>
                    <a:pt x="10" y="116"/>
                  </a:lnTo>
                  <a:lnTo>
                    <a:pt x="9" y="111"/>
                  </a:lnTo>
                  <a:lnTo>
                    <a:pt x="7" y="106"/>
                  </a:lnTo>
                  <a:lnTo>
                    <a:pt x="5" y="101"/>
                  </a:lnTo>
                  <a:lnTo>
                    <a:pt x="4" y="95"/>
                  </a:lnTo>
                  <a:lnTo>
                    <a:pt x="0" y="96"/>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59" name="Freeform 601">
              <a:extLst>
                <a:ext uri="{FF2B5EF4-FFF2-40B4-BE49-F238E27FC236}">
                  <a16:creationId xmlns:a16="http://schemas.microsoft.com/office/drawing/2014/main" id="{F4D43005-D2BC-504C-4AF8-4E1EC285ECCB}"/>
                </a:ext>
              </a:extLst>
            </p:cNvPr>
            <p:cNvSpPr>
              <a:spLocks noEditPoints="1"/>
            </p:cNvSpPr>
            <p:nvPr/>
          </p:nvSpPr>
          <p:spPr bwMode="auto">
            <a:xfrm>
              <a:off x="2103" y="1570"/>
              <a:ext cx="229" cy="138"/>
            </a:xfrm>
            <a:custGeom>
              <a:avLst/>
              <a:gdLst>
                <a:gd name="T0" fmla="*/ 229 w 229"/>
                <a:gd name="T1" fmla="*/ 43 h 138"/>
                <a:gd name="T2" fmla="*/ 227 w 229"/>
                <a:gd name="T3" fmla="*/ 37 h 138"/>
                <a:gd name="T4" fmla="*/ 225 w 229"/>
                <a:gd name="T5" fmla="*/ 32 h 138"/>
                <a:gd name="T6" fmla="*/ 224 w 229"/>
                <a:gd name="T7" fmla="*/ 25 h 138"/>
                <a:gd name="T8" fmla="*/ 220 w 229"/>
                <a:gd name="T9" fmla="*/ 20 h 138"/>
                <a:gd name="T10" fmla="*/ 219 w 229"/>
                <a:gd name="T11" fmla="*/ 15 h 138"/>
                <a:gd name="T12" fmla="*/ 215 w 229"/>
                <a:gd name="T13" fmla="*/ 10 h 138"/>
                <a:gd name="T14" fmla="*/ 214 w 229"/>
                <a:gd name="T15" fmla="*/ 5 h 138"/>
                <a:gd name="T16" fmla="*/ 210 w 229"/>
                <a:gd name="T17" fmla="*/ 0 h 138"/>
                <a:gd name="T18" fmla="*/ 207 w 229"/>
                <a:gd name="T19" fmla="*/ 2 h 138"/>
                <a:gd name="T20" fmla="*/ 210 w 229"/>
                <a:gd name="T21" fmla="*/ 7 h 138"/>
                <a:gd name="T22" fmla="*/ 214 w 229"/>
                <a:gd name="T23" fmla="*/ 12 h 138"/>
                <a:gd name="T24" fmla="*/ 215 w 229"/>
                <a:gd name="T25" fmla="*/ 17 h 138"/>
                <a:gd name="T26" fmla="*/ 219 w 229"/>
                <a:gd name="T27" fmla="*/ 22 h 138"/>
                <a:gd name="T28" fmla="*/ 220 w 229"/>
                <a:gd name="T29" fmla="*/ 27 h 138"/>
                <a:gd name="T30" fmla="*/ 222 w 229"/>
                <a:gd name="T31" fmla="*/ 33 h 138"/>
                <a:gd name="T32" fmla="*/ 224 w 229"/>
                <a:gd name="T33" fmla="*/ 38 h 138"/>
                <a:gd name="T34" fmla="*/ 225 w 229"/>
                <a:gd name="T35" fmla="*/ 43 h 138"/>
                <a:gd name="T36" fmla="*/ 229 w 229"/>
                <a:gd name="T37" fmla="*/ 43 h 138"/>
                <a:gd name="T38" fmla="*/ 0 w 229"/>
                <a:gd name="T39" fmla="*/ 96 h 138"/>
                <a:gd name="T40" fmla="*/ 2 w 229"/>
                <a:gd name="T41" fmla="*/ 101 h 138"/>
                <a:gd name="T42" fmla="*/ 3 w 229"/>
                <a:gd name="T43" fmla="*/ 106 h 138"/>
                <a:gd name="T44" fmla="*/ 5 w 229"/>
                <a:gd name="T45" fmla="*/ 113 h 138"/>
                <a:gd name="T46" fmla="*/ 7 w 229"/>
                <a:gd name="T47" fmla="*/ 118 h 138"/>
                <a:gd name="T48" fmla="*/ 10 w 229"/>
                <a:gd name="T49" fmla="*/ 123 h 138"/>
                <a:gd name="T50" fmla="*/ 12 w 229"/>
                <a:gd name="T51" fmla="*/ 128 h 138"/>
                <a:gd name="T52" fmla="*/ 15 w 229"/>
                <a:gd name="T53" fmla="*/ 133 h 138"/>
                <a:gd name="T54" fmla="*/ 18 w 229"/>
                <a:gd name="T55" fmla="*/ 138 h 138"/>
                <a:gd name="T56" fmla="*/ 22 w 229"/>
                <a:gd name="T57" fmla="*/ 136 h 138"/>
                <a:gd name="T58" fmla="*/ 18 w 229"/>
                <a:gd name="T59" fmla="*/ 131 h 138"/>
                <a:gd name="T60" fmla="*/ 15 w 229"/>
                <a:gd name="T61" fmla="*/ 126 h 138"/>
                <a:gd name="T62" fmla="*/ 13 w 229"/>
                <a:gd name="T63" fmla="*/ 121 h 138"/>
                <a:gd name="T64" fmla="*/ 10 w 229"/>
                <a:gd name="T65" fmla="*/ 116 h 138"/>
                <a:gd name="T66" fmla="*/ 8 w 229"/>
                <a:gd name="T67" fmla="*/ 111 h 138"/>
                <a:gd name="T68" fmla="*/ 7 w 229"/>
                <a:gd name="T69" fmla="*/ 106 h 138"/>
                <a:gd name="T70" fmla="*/ 3 w 229"/>
                <a:gd name="T71" fmla="*/ 99 h 138"/>
                <a:gd name="T72" fmla="*/ 3 w 229"/>
                <a:gd name="T73" fmla="*/ 95 h 138"/>
                <a:gd name="T74" fmla="*/ 0 w 229"/>
                <a:gd name="T75" fmla="*/ 96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9" h="138">
                  <a:moveTo>
                    <a:pt x="229" y="43"/>
                  </a:moveTo>
                  <a:lnTo>
                    <a:pt x="227" y="37"/>
                  </a:lnTo>
                  <a:lnTo>
                    <a:pt x="225" y="32"/>
                  </a:lnTo>
                  <a:lnTo>
                    <a:pt x="224" y="25"/>
                  </a:lnTo>
                  <a:lnTo>
                    <a:pt x="220" y="20"/>
                  </a:lnTo>
                  <a:lnTo>
                    <a:pt x="219" y="15"/>
                  </a:lnTo>
                  <a:lnTo>
                    <a:pt x="215" y="10"/>
                  </a:lnTo>
                  <a:lnTo>
                    <a:pt x="214" y="5"/>
                  </a:lnTo>
                  <a:lnTo>
                    <a:pt x="210" y="0"/>
                  </a:lnTo>
                  <a:lnTo>
                    <a:pt x="207" y="2"/>
                  </a:lnTo>
                  <a:lnTo>
                    <a:pt x="210" y="7"/>
                  </a:lnTo>
                  <a:lnTo>
                    <a:pt x="214" y="12"/>
                  </a:lnTo>
                  <a:lnTo>
                    <a:pt x="215" y="17"/>
                  </a:lnTo>
                  <a:lnTo>
                    <a:pt x="219" y="22"/>
                  </a:lnTo>
                  <a:lnTo>
                    <a:pt x="220" y="27"/>
                  </a:lnTo>
                  <a:lnTo>
                    <a:pt x="222" y="33"/>
                  </a:lnTo>
                  <a:lnTo>
                    <a:pt x="224" y="38"/>
                  </a:lnTo>
                  <a:lnTo>
                    <a:pt x="225" y="43"/>
                  </a:lnTo>
                  <a:lnTo>
                    <a:pt x="229" y="43"/>
                  </a:lnTo>
                  <a:close/>
                  <a:moveTo>
                    <a:pt x="0" y="96"/>
                  </a:moveTo>
                  <a:lnTo>
                    <a:pt x="2" y="101"/>
                  </a:lnTo>
                  <a:lnTo>
                    <a:pt x="3" y="106"/>
                  </a:lnTo>
                  <a:lnTo>
                    <a:pt x="5" y="113"/>
                  </a:lnTo>
                  <a:lnTo>
                    <a:pt x="7" y="118"/>
                  </a:lnTo>
                  <a:lnTo>
                    <a:pt x="10" y="123"/>
                  </a:lnTo>
                  <a:lnTo>
                    <a:pt x="12" y="128"/>
                  </a:lnTo>
                  <a:lnTo>
                    <a:pt x="15" y="133"/>
                  </a:lnTo>
                  <a:lnTo>
                    <a:pt x="18" y="138"/>
                  </a:lnTo>
                  <a:lnTo>
                    <a:pt x="22" y="136"/>
                  </a:lnTo>
                  <a:lnTo>
                    <a:pt x="18" y="131"/>
                  </a:lnTo>
                  <a:lnTo>
                    <a:pt x="15" y="126"/>
                  </a:lnTo>
                  <a:lnTo>
                    <a:pt x="13" y="121"/>
                  </a:lnTo>
                  <a:lnTo>
                    <a:pt x="10" y="116"/>
                  </a:lnTo>
                  <a:lnTo>
                    <a:pt x="8" y="111"/>
                  </a:lnTo>
                  <a:lnTo>
                    <a:pt x="7" y="106"/>
                  </a:lnTo>
                  <a:lnTo>
                    <a:pt x="3" y="99"/>
                  </a:lnTo>
                  <a:lnTo>
                    <a:pt x="3" y="95"/>
                  </a:lnTo>
                  <a:lnTo>
                    <a:pt x="0" y="96"/>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60" name="Freeform 602">
              <a:extLst>
                <a:ext uri="{FF2B5EF4-FFF2-40B4-BE49-F238E27FC236}">
                  <a16:creationId xmlns:a16="http://schemas.microsoft.com/office/drawing/2014/main" id="{A10659B0-40B7-4E76-3270-1364495B60EE}"/>
                </a:ext>
              </a:extLst>
            </p:cNvPr>
            <p:cNvSpPr>
              <a:spLocks noEditPoints="1"/>
            </p:cNvSpPr>
            <p:nvPr/>
          </p:nvSpPr>
          <p:spPr bwMode="auto">
            <a:xfrm>
              <a:off x="2105" y="1572"/>
              <a:ext cx="225" cy="134"/>
            </a:xfrm>
            <a:custGeom>
              <a:avLst/>
              <a:gdLst>
                <a:gd name="T0" fmla="*/ 225 w 225"/>
                <a:gd name="T1" fmla="*/ 41 h 134"/>
                <a:gd name="T2" fmla="*/ 223 w 225"/>
                <a:gd name="T3" fmla="*/ 36 h 134"/>
                <a:gd name="T4" fmla="*/ 222 w 225"/>
                <a:gd name="T5" fmla="*/ 30 h 134"/>
                <a:gd name="T6" fmla="*/ 220 w 225"/>
                <a:gd name="T7" fmla="*/ 25 h 134"/>
                <a:gd name="T8" fmla="*/ 218 w 225"/>
                <a:gd name="T9" fmla="*/ 20 h 134"/>
                <a:gd name="T10" fmla="*/ 215 w 225"/>
                <a:gd name="T11" fmla="*/ 13 h 134"/>
                <a:gd name="T12" fmla="*/ 212 w 225"/>
                <a:gd name="T13" fmla="*/ 8 h 134"/>
                <a:gd name="T14" fmla="*/ 210 w 225"/>
                <a:gd name="T15" fmla="*/ 3 h 134"/>
                <a:gd name="T16" fmla="*/ 207 w 225"/>
                <a:gd name="T17" fmla="*/ 0 h 134"/>
                <a:gd name="T18" fmla="*/ 203 w 225"/>
                <a:gd name="T19" fmla="*/ 0 h 134"/>
                <a:gd name="T20" fmla="*/ 207 w 225"/>
                <a:gd name="T21" fmla="*/ 5 h 134"/>
                <a:gd name="T22" fmla="*/ 210 w 225"/>
                <a:gd name="T23" fmla="*/ 10 h 134"/>
                <a:gd name="T24" fmla="*/ 212 w 225"/>
                <a:gd name="T25" fmla="*/ 15 h 134"/>
                <a:gd name="T26" fmla="*/ 215 w 225"/>
                <a:gd name="T27" fmla="*/ 20 h 134"/>
                <a:gd name="T28" fmla="*/ 217 w 225"/>
                <a:gd name="T29" fmla="*/ 26 h 134"/>
                <a:gd name="T30" fmla="*/ 218 w 225"/>
                <a:gd name="T31" fmla="*/ 31 h 134"/>
                <a:gd name="T32" fmla="*/ 220 w 225"/>
                <a:gd name="T33" fmla="*/ 36 h 134"/>
                <a:gd name="T34" fmla="*/ 222 w 225"/>
                <a:gd name="T35" fmla="*/ 43 h 134"/>
                <a:gd name="T36" fmla="*/ 225 w 225"/>
                <a:gd name="T37" fmla="*/ 41 h 134"/>
                <a:gd name="T38" fmla="*/ 0 w 225"/>
                <a:gd name="T39" fmla="*/ 93 h 134"/>
                <a:gd name="T40" fmla="*/ 1 w 225"/>
                <a:gd name="T41" fmla="*/ 99 h 134"/>
                <a:gd name="T42" fmla="*/ 3 w 225"/>
                <a:gd name="T43" fmla="*/ 104 h 134"/>
                <a:gd name="T44" fmla="*/ 5 w 225"/>
                <a:gd name="T45" fmla="*/ 109 h 134"/>
                <a:gd name="T46" fmla="*/ 6 w 225"/>
                <a:gd name="T47" fmla="*/ 114 h 134"/>
                <a:gd name="T48" fmla="*/ 10 w 225"/>
                <a:gd name="T49" fmla="*/ 119 h 134"/>
                <a:gd name="T50" fmla="*/ 11 w 225"/>
                <a:gd name="T51" fmla="*/ 124 h 134"/>
                <a:gd name="T52" fmla="*/ 15 w 225"/>
                <a:gd name="T53" fmla="*/ 129 h 134"/>
                <a:gd name="T54" fmla="*/ 18 w 225"/>
                <a:gd name="T55" fmla="*/ 134 h 134"/>
                <a:gd name="T56" fmla="*/ 21 w 225"/>
                <a:gd name="T57" fmla="*/ 132 h 134"/>
                <a:gd name="T58" fmla="*/ 18 w 225"/>
                <a:gd name="T59" fmla="*/ 127 h 134"/>
                <a:gd name="T60" fmla="*/ 15 w 225"/>
                <a:gd name="T61" fmla="*/ 124 h 134"/>
                <a:gd name="T62" fmla="*/ 11 w 225"/>
                <a:gd name="T63" fmla="*/ 119 h 134"/>
                <a:gd name="T64" fmla="*/ 10 w 225"/>
                <a:gd name="T65" fmla="*/ 114 h 134"/>
                <a:gd name="T66" fmla="*/ 8 w 225"/>
                <a:gd name="T67" fmla="*/ 107 h 134"/>
                <a:gd name="T68" fmla="*/ 5 w 225"/>
                <a:gd name="T69" fmla="*/ 102 h 134"/>
                <a:gd name="T70" fmla="*/ 3 w 225"/>
                <a:gd name="T71" fmla="*/ 97 h 134"/>
                <a:gd name="T72" fmla="*/ 3 w 225"/>
                <a:gd name="T73" fmla="*/ 93 h 134"/>
                <a:gd name="T74" fmla="*/ 0 w 225"/>
                <a:gd name="T75" fmla="*/ 9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5" h="134">
                  <a:moveTo>
                    <a:pt x="225" y="41"/>
                  </a:moveTo>
                  <a:lnTo>
                    <a:pt x="223" y="36"/>
                  </a:lnTo>
                  <a:lnTo>
                    <a:pt x="222" y="30"/>
                  </a:lnTo>
                  <a:lnTo>
                    <a:pt x="220" y="25"/>
                  </a:lnTo>
                  <a:lnTo>
                    <a:pt x="218" y="20"/>
                  </a:lnTo>
                  <a:lnTo>
                    <a:pt x="215" y="13"/>
                  </a:lnTo>
                  <a:lnTo>
                    <a:pt x="212" y="8"/>
                  </a:lnTo>
                  <a:lnTo>
                    <a:pt x="210" y="3"/>
                  </a:lnTo>
                  <a:lnTo>
                    <a:pt x="207" y="0"/>
                  </a:lnTo>
                  <a:lnTo>
                    <a:pt x="203" y="0"/>
                  </a:lnTo>
                  <a:lnTo>
                    <a:pt x="207" y="5"/>
                  </a:lnTo>
                  <a:lnTo>
                    <a:pt x="210" y="10"/>
                  </a:lnTo>
                  <a:lnTo>
                    <a:pt x="212" y="15"/>
                  </a:lnTo>
                  <a:lnTo>
                    <a:pt x="215" y="20"/>
                  </a:lnTo>
                  <a:lnTo>
                    <a:pt x="217" y="26"/>
                  </a:lnTo>
                  <a:lnTo>
                    <a:pt x="218" y="31"/>
                  </a:lnTo>
                  <a:lnTo>
                    <a:pt x="220" y="36"/>
                  </a:lnTo>
                  <a:lnTo>
                    <a:pt x="222" y="43"/>
                  </a:lnTo>
                  <a:lnTo>
                    <a:pt x="225" y="41"/>
                  </a:lnTo>
                  <a:close/>
                  <a:moveTo>
                    <a:pt x="0" y="93"/>
                  </a:moveTo>
                  <a:lnTo>
                    <a:pt x="1" y="99"/>
                  </a:lnTo>
                  <a:lnTo>
                    <a:pt x="3" y="104"/>
                  </a:lnTo>
                  <a:lnTo>
                    <a:pt x="5" y="109"/>
                  </a:lnTo>
                  <a:lnTo>
                    <a:pt x="6" y="114"/>
                  </a:lnTo>
                  <a:lnTo>
                    <a:pt x="10" y="119"/>
                  </a:lnTo>
                  <a:lnTo>
                    <a:pt x="11" y="124"/>
                  </a:lnTo>
                  <a:lnTo>
                    <a:pt x="15" y="129"/>
                  </a:lnTo>
                  <a:lnTo>
                    <a:pt x="18" y="134"/>
                  </a:lnTo>
                  <a:lnTo>
                    <a:pt x="21" y="132"/>
                  </a:lnTo>
                  <a:lnTo>
                    <a:pt x="18" y="127"/>
                  </a:lnTo>
                  <a:lnTo>
                    <a:pt x="15" y="124"/>
                  </a:lnTo>
                  <a:lnTo>
                    <a:pt x="11" y="119"/>
                  </a:lnTo>
                  <a:lnTo>
                    <a:pt x="10" y="114"/>
                  </a:lnTo>
                  <a:lnTo>
                    <a:pt x="8" y="107"/>
                  </a:lnTo>
                  <a:lnTo>
                    <a:pt x="5" y="102"/>
                  </a:lnTo>
                  <a:lnTo>
                    <a:pt x="3" y="97"/>
                  </a:lnTo>
                  <a:lnTo>
                    <a:pt x="3" y="93"/>
                  </a:lnTo>
                  <a:lnTo>
                    <a:pt x="0" y="93"/>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61" name="Freeform 603">
              <a:extLst>
                <a:ext uri="{FF2B5EF4-FFF2-40B4-BE49-F238E27FC236}">
                  <a16:creationId xmlns:a16="http://schemas.microsoft.com/office/drawing/2014/main" id="{BB8D1B28-4621-1650-70C7-F1AB18C2AFFF}"/>
                </a:ext>
              </a:extLst>
            </p:cNvPr>
            <p:cNvSpPr>
              <a:spLocks noEditPoints="1"/>
            </p:cNvSpPr>
            <p:nvPr/>
          </p:nvSpPr>
          <p:spPr bwMode="auto">
            <a:xfrm>
              <a:off x="2106" y="1572"/>
              <a:ext cx="222" cy="134"/>
            </a:xfrm>
            <a:custGeom>
              <a:avLst/>
              <a:gdLst>
                <a:gd name="T0" fmla="*/ 222 w 222"/>
                <a:gd name="T1" fmla="*/ 41 h 134"/>
                <a:gd name="T2" fmla="*/ 221 w 222"/>
                <a:gd name="T3" fmla="*/ 36 h 134"/>
                <a:gd name="T4" fmla="*/ 219 w 222"/>
                <a:gd name="T5" fmla="*/ 31 h 134"/>
                <a:gd name="T6" fmla="*/ 217 w 222"/>
                <a:gd name="T7" fmla="*/ 25 h 134"/>
                <a:gd name="T8" fmla="*/ 216 w 222"/>
                <a:gd name="T9" fmla="*/ 20 h 134"/>
                <a:gd name="T10" fmla="*/ 212 w 222"/>
                <a:gd name="T11" fmla="*/ 15 h 134"/>
                <a:gd name="T12" fmla="*/ 211 w 222"/>
                <a:gd name="T13" fmla="*/ 10 h 134"/>
                <a:gd name="T14" fmla="*/ 207 w 222"/>
                <a:gd name="T15" fmla="*/ 5 h 134"/>
                <a:gd name="T16" fmla="*/ 204 w 222"/>
                <a:gd name="T17" fmla="*/ 0 h 134"/>
                <a:gd name="T18" fmla="*/ 201 w 222"/>
                <a:gd name="T19" fmla="*/ 1 h 134"/>
                <a:gd name="T20" fmla="*/ 204 w 222"/>
                <a:gd name="T21" fmla="*/ 6 h 134"/>
                <a:gd name="T22" fmla="*/ 207 w 222"/>
                <a:gd name="T23" fmla="*/ 11 h 134"/>
                <a:gd name="T24" fmla="*/ 209 w 222"/>
                <a:gd name="T25" fmla="*/ 16 h 134"/>
                <a:gd name="T26" fmla="*/ 212 w 222"/>
                <a:gd name="T27" fmla="*/ 21 h 134"/>
                <a:gd name="T28" fmla="*/ 214 w 222"/>
                <a:gd name="T29" fmla="*/ 26 h 134"/>
                <a:gd name="T30" fmla="*/ 216 w 222"/>
                <a:gd name="T31" fmla="*/ 31 h 134"/>
                <a:gd name="T32" fmla="*/ 217 w 222"/>
                <a:gd name="T33" fmla="*/ 38 h 134"/>
                <a:gd name="T34" fmla="*/ 219 w 222"/>
                <a:gd name="T35" fmla="*/ 43 h 134"/>
                <a:gd name="T36" fmla="*/ 222 w 222"/>
                <a:gd name="T37" fmla="*/ 41 h 134"/>
                <a:gd name="T38" fmla="*/ 0 w 222"/>
                <a:gd name="T39" fmla="*/ 93 h 134"/>
                <a:gd name="T40" fmla="*/ 0 w 222"/>
                <a:gd name="T41" fmla="*/ 97 h 134"/>
                <a:gd name="T42" fmla="*/ 4 w 222"/>
                <a:gd name="T43" fmla="*/ 104 h 134"/>
                <a:gd name="T44" fmla="*/ 5 w 222"/>
                <a:gd name="T45" fmla="*/ 109 h 134"/>
                <a:gd name="T46" fmla="*/ 7 w 222"/>
                <a:gd name="T47" fmla="*/ 114 h 134"/>
                <a:gd name="T48" fmla="*/ 10 w 222"/>
                <a:gd name="T49" fmla="*/ 119 h 134"/>
                <a:gd name="T50" fmla="*/ 12 w 222"/>
                <a:gd name="T51" fmla="*/ 124 h 134"/>
                <a:gd name="T52" fmla="*/ 15 w 222"/>
                <a:gd name="T53" fmla="*/ 129 h 134"/>
                <a:gd name="T54" fmla="*/ 19 w 222"/>
                <a:gd name="T55" fmla="*/ 134 h 134"/>
                <a:gd name="T56" fmla="*/ 22 w 222"/>
                <a:gd name="T57" fmla="*/ 132 h 134"/>
                <a:gd name="T58" fmla="*/ 19 w 222"/>
                <a:gd name="T59" fmla="*/ 127 h 134"/>
                <a:gd name="T60" fmla="*/ 15 w 222"/>
                <a:gd name="T61" fmla="*/ 122 h 134"/>
                <a:gd name="T62" fmla="*/ 12 w 222"/>
                <a:gd name="T63" fmla="*/ 117 h 134"/>
                <a:gd name="T64" fmla="*/ 10 w 222"/>
                <a:gd name="T65" fmla="*/ 112 h 134"/>
                <a:gd name="T66" fmla="*/ 9 w 222"/>
                <a:gd name="T67" fmla="*/ 107 h 134"/>
                <a:gd name="T68" fmla="*/ 5 w 222"/>
                <a:gd name="T69" fmla="*/ 102 h 134"/>
                <a:gd name="T70" fmla="*/ 4 w 222"/>
                <a:gd name="T71" fmla="*/ 97 h 134"/>
                <a:gd name="T72" fmla="*/ 2 w 222"/>
                <a:gd name="T73" fmla="*/ 91 h 134"/>
                <a:gd name="T74" fmla="*/ 0 w 222"/>
                <a:gd name="T75" fmla="*/ 9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2" h="134">
                  <a:moveTo>
                    <a:pt x="222" y="41"/>
                  </a:moveTo>
                  <a:lnTo>
                    <a:pt x="221" y="36"/>
                  </a:lnTo>
                  <a:lnTo>
                    <a:pt x="219" y="31"/>
                  </a:lnTo>
                  <a:lnTo>
                    <a:pt x="217" y="25"/>
                  </a:lnTo>
                  <a:lnTo>
                    <a:pt x="216" y="20"/>
                  </a:lnTo>
                  <a:lnTo>
                    <a:pt x="212" y="15"/>
                  </a:lnTo>
                  <a:lnTo>
                    <a:pt x="211" y="10"/>
                  </a:lnTo>
                  <a:lnTo>
                    <a:pt x="207" y="5"/>
                  </a:lnTo>
                  <a:lnTo>
                    <a:pt x="204" y="0"/>
                  </a:lnTo>
                  <a:lnTo>
                    <a:pt x="201" y="1"/>
                  </a:lnTo>
                  <a:lnTo>
                    <a:pt x="204" y="6"/>
                  </a:lnTo>
                  <a:lnTo>
                    <a:pt x="207" y="11"/>
                  </a:lnTo>
                  <a:lnTo>
                    <a:pt x="209" y="16"/>
                  </a:lnTo>
                  <a:lnTo>
                    <a:pt x="212" y="21"/>
                  </a:lnTo>
                  <a:lnTo>
                    <a:pt x="214" y="26"/>
                  </a:lnTo>
                  <a:lnTo>
                    <a:pt x="216" y="31"/>
                  </a:lnTo>
                  <a:lnTo>
                    <a:pt x="217" y="38"/>
                  </a:lnTo>
                  <a:lnTo>
                    <a:pt x="219" y="43"/>
                  </a:lnTo>
                  <a:lnTo>
                    <a:pt x="222" y="41"/>
                  </a:lnTo>
                  <a:close/>
                  <a:moveTo>
                    <a:pt x="0" y="93"/>
                  </a:moveTo>
                  <a:lnTo>
                    <a:pt x="0" y="97"/>
                  </a:lnTo>
                  <a:lnTo>
                    <a:pt x="4" y="104"/>
                  </a:lnTo>
                  <a:lnTo>
                    <a:pt x="5" y="109"/>
                  </a:lnTo>
                  <a:lnTo>
                    <a:pt x="7" y="114"/>
                  </a:lnTo>
                  <a:lnTo>
                    <a:pt x="10" y="119"/>
                  </a:lnTo>
                  <a:lnTo>
                    <a:pt x="12" y="124"/>
                  </a:lnTo>
                  <a:lnTo>
                    <a:pt x="15" y="129"/>
                  </a:lnTo>
                  <a:lnTo>
                    <a:pt x="19" y="134"/>
                  </a:lnTo>
                  <a:lnTo>
                    <a:pt x="22" y="132"/>
                  </a:lnTo>
                  <a:lnTo>
                    <a:pt x="19" y="127"/>
                  </a:lnTo>
                  <a:lnTo>
                    <a:pt x="15" y="122"/>
                  </a:lnTo>
                  <a:lnTo>
                    <a:pt x="12" y="117"/>
                  </a:lnTo>
                  <a:lnTo>
                    <a:pt x="10" y="112"/>
                  </a:lnTo>
                  <a:lnTo>
                    <a:pt x="9" y="107"/>
                  </a:lnTo>
                  <a:lnTo>
                    <a:pt x="5" y="102"/>
                  </a:lnTo>
                  <a:lnTo>
                    <a:pt x="4" y="97"/>
                  </a:lnTo>
                  <a:lnTo>
                    <a:pt x="2" y="91"/>
                  </a:lnTo>
                  <a:lnTo>
                    <a:pt x="0" y="93"/>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62" name="Freeform 604">
              <a:extLst>
                <a:ext uri="{FF2B5EF4-FFF2-40B4-BE49-F238E27FC236}">
                  <a16:creationId xmlns:a16="http://schemas.microsoft.com/office/drawing/2014/main" id="{F0D3AAB1-EC70-D5A6-A039-7DAF71BF5093}"/>
                </a:ext>
              </a:extLst>
            </p:cNvPr>
            <p:cNvSpPr>
              <a:spLocks noEditPoints="1"/>
            </p:cNvSpPr>
            <p:nvPr/>
          </p:nvSpPr>
          <p:spPr bwMode="auto">
            <a:xfrm>
              <a:off x="2108" y="1572"/>
              <a:ext cx="219" cy="132"/>
            </a:xfrm>
            <a:custGeom>
              <a:avLst/>
              <a:gdLst>
                <a:gd name="T0" fmla="*/ 219 w 219"/>
                <a:gd name="T1" fmla="*/ 43 h 132"/>
                <a:gd name="T2" fmla="*/ 217 w 219"/>
                <a:gd name="T3" fmla="*/ 36 h 132"/>
                <a:gd name="T4" fmla="*/ 215 w 219"/>
                <a:gd name="T5" fmla="*/ 31 h 132"/>
                <a:gd name="T6" fmla="*/ 214 w 219"/>
                <a:gd name="T7" fmla="*/ 26 h 132"/>
                <a:gd name="T8" fmla="*/ 212 w 219"/>
                <a:gd name="T9" fmla="*/ 20 h 132"/>
                <a:gd name="T10" fmla="*/ 209 w 219"/>
                <a:gd name="T11" fmla="*/ 15 h 132"/>
                <a:gd name="T12" fmla="*/ 207 w 219"/>
                <a:gd name="T13" fmla="*/ 10 h 132"/>
                <a:gd name="T14" fmla="*/ 204 w 219"/>
                <a:gd name="T15" fmla="*/ 5 h 132"/>
                <a:gd name="T16" fmla="*/ 200 w 219"/>
                <a:gd name="T17" fmla="*/ 0 h 132"/>
                <a:gd name="T18" fmla="*/ 197 w 219"/>
                <a:gd name="T19" fmla="*/ 1 h 132"/>
                <a:gd name="T20" fmla="*/ 200 w 219"/>
                <a:gd name="T21" fmla="*/ 6 h 132"/>
                <a:gd name="T22" fmla="*/ 204 w 219"/>
                <a:gd name="T23" fmla="*/ 11 h 132"/>
                <a:gd name="T24" fmla="*/ 205 w 219"/>
                <a:gd name="T25" fmla="*/ 16 h 132"/>
                <a:gd name="T26" fmla="*/ 209 w 219"/>
                <a:gd name="T27" fmla="*/ 21 h 132"/>
                <a:gd name="T28" fmla="*/ 210 w 219"/>
                <a:gd name="T29" fmla="*/ 26 h 132"/>
                <a:gd name="T30" fmla="*/ 212 w 219"/>
                <a:gd name="T31" fmla="*/ 33 h 132"/>
                <a:gd name="T32" fmla="*/ 214 w 219"/>
                <a:gd name="T33" fmla="*/ 38 h 132"/>
                <a:gd name="T34" fmla="*/ 215 w 219"/>
                <a:gd name="T35" fmla="*/ 44 h 132"/>
                <a:gd name="T36" fmla="*/ 219 w 219"/>
                <a:gd name="T37" fmla="*/ 43 h 132"/>
                <a:gd name="T38" fmla="*/ 0 w 219"/>
                <a:gd name="T39" fmla="*/ 93 h 132"/>
                <a:gd name="T40" fmla="*/ 0 w 219"/>
                <a:gd name="T41" fmla="*/ 97 h 132"/>
                <a:gd name="T42" fmla="*/ 2 w 219"/>
                <a:gd name="T43" fmla="*/ 102 h 132"/>
                <a:gd name="T44" fmla="*/ 5 w 219"/>
                <a:gd name="T45" fmla="*/ 107 h 132"/>
                <a:gd name="T46" fmla="*/ 7 w 219"/>
                <a:gd name="T47" fmla="*/ 114 h 132"/>
                <a:gd name="T48" fmla="*/ 8 w 219"/>
                <a:gd name="T49" fmla="*/ 119 h 132"/>
                <a:gd name="T50" fmla="*/ 12 w 219"/>
                <a:gd name="T51" fmla="*/ 124 h 132"/>
                <a:gd name="T52" fmla="*/ 15 w 219"/>
                <a:gd name="T53" fmla="*/ 127 h 132"/>
                <a:gd name="T54" fmla="*/ 18 w 219"/>
                <a:gd name="T55" fmla="*/ 132 h 132"/>
                <a:gd name="T56" fmla="*/ 22 w 219"/>
                <a:gd name="T57" fmla="*/ 131 h 132"/>
                <a:gd name="T58" fmla="*/ 18 w 219"/>
                <a:gd name="T59" fmla="*/ 127 h 132"/>
                <a:gd name="T60" fmla="*/ 15 w 219"/>
                <a:gd name="T61" fmla="*/ 122 h 132"/>
                <a:gd name="T62" fmla="*/ 12 w 219"/>
                <a:gd name="T63" fmla="*/ 117 h 132"/>
                <a:gd name="T64" fmla="*/ 10 w 219"/>
                <a:gd name="T65" fmla="*/ 112 h 132"/>
                <a:gd name="T66" fmla="*/ 7 w 219"/>
                <a:gd name="T67" fmla="*/ 107 h 132"/>
                <a:gd name="T68" fmla="*/ 5 w 219"/>
                <a:gd name="T69" fmla="*/ 101 h 132"/>
                <a:gd name="T70" fmla="*/ 3 w 219"/>
                <a:gd name="T71" fmla="*/ 96 h 132"/>
                <a:gd name="T72" fmla="*/ 2 w 219"/>
                <a:gd name="T73" fmla="*/ 91 h 132"/>
                <a:gd name="T74" fmla="*/ 0 w 219"/>
                <a:gd name="T75" fmla="*/ 93 h 1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9" h="132">
                  <a:moveTo>
                    <a:pt x="219" y="43"/>
                  </a:moveTo>
                  <a:lnTo>
                    <a:pt x="217" y="36"/>
                  </a:lnTo>
                  <a:lnTo>
                    <a:pt x="215" y="31"/>
                  </a:lnTo>
                  <a:lnTo>
                    <a:pt x="214" y="26"/>
                  </a:lnTo>
                  <a:lnTo>
                    <a:pt x="212" y="20"/>
                  </a:lnTo>
                  <a:lnTo>
                    <a:pt x="209" y="15"/>
                  </a:lnTo>
                  <a:lnTo>
                    <a:pt x="207" y="10"/>
                  </a:lnTo>
                  <a:lnTo>
                    <a:pt x="204" y="5"/>
                  </a:lnTo>
                  <a:lnTo>
                    <a:pt x="200" y="0"/>
                  </a:lnTo>
                  <a:lnTo>
                    <a:pt x="197" y="1"/>
                  </a:lnTo>
                  <a:lnTo>
                    <a:pt x="200" y="6"/>
                  </a:lnTo>
                  <a:lnTo>
                    <a:pt x="204" y="11"/>
                  </a:lnTo>
                  <a:lnTo>
                    <a:pt x="205" y="16"/>
                  </a:lnTo>
                  <a:lnTo>
                    <a:pt x="209" y="21"/>
                  </a:lnTo>
                  <a:lnTo>
                    <a:pt x="210" y="26"/>
                  </a:lnTo>
                  <a:lnTo>
                    <a:pt x="212" y="33"/>
                  </a:lnTo>
                  <a:lnTo>
                    <a:pt x="214" y="38"/>
                  </a:lnTo>
                  <a:lnTo>
                    <a:pt x="215" y="44"/>
                  </a:lnTo>
                  <a:lnTo>
                    <a:pt x="219" y="43"/>
                  </a:lnTo>
                  <a:close/>
                  <a:moveTo>
                    <a:pt x="0" y="93"/>
                  </a:moveTo>
                  <a:lnTo>
                    <a:pt x="0" y="97"/>
                  </a:lnTo>
                  <a:lnTo>
                    <a:pt x="2" y="102"/>
                  </a:lnTo>
                  <a:lnTo>
                    <a:pt x="5" y="107"/>
                  </a:lnTo>
                  <a:lnTo>
                    <a:pt x="7" y="114"/>
                  </a:lnTo>
                  <a:lnTo>
                    <a:pt x="8" y="119"/>
                  </a:lnTo>
                  <a:lnTo>
                    <a:pt x="12" y="124"/>
                  </a:lnTo>
                  <a:lnTo>
                    <a:pt x="15" y="127"/>
                  </a:lnTo>
                  <a:lnTo>
                    <a:pt x="18" y="132"/>
                  </a:lnTo>
                  <a:lnTo>
                    <a:pt x="22" y="131"/>
                  </a:lnTo>
                  <a:lnTo>
                    <a:pt x="18" y="127"/>
                  </a:lnTo>
                  <a:lnTo>
                    <a:pt x="15" y="122"/>
                  </a:lnTo>
                  <a:lnTo>
                    <a:pt x="12" y="117"/>
                  </a:lnTo>
                  <a:lnTo>
                    <a:pt x="10" y="112"/>
                  </a:lnTo>
                  <a:lnTo>
                    <a:pt x="7" y="107"/>
                  </a:lnTo>
                  <a:lnTo>
                    <a:pt x="5" y="101"/>
                  </a:lnTo>
                  <a:lnTo>
                    <a:pt x="3" y="96"/>
                  </a:lnTo>
                  <a:lnTo>
                    <a:pt x="2" y="91"/>
                  </a:lnTo>
                  <a:lnTo>
                    <a:pt x="0" y="93"/>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63" name="Freeform 605">
              <a:extLst>
                <a:ext uri="{FF2B5EF4-FFF2-40B4-BE49-F238E27FC236}">
                  <a16:creationId xmlns:a16="http://schemas.microsoft.com/office/drawing/2014/main" id="{24CDD4EB-9599-1857-7055-7DE11204EF15}"/>
                </a:ext>
              </a:extLst>
            </p:cNvPr>
            <p:cNvSpPr>
              <a:spLocks noEditPoints="1"/>
            </p:cNvSpPr>
            <p:nvPr/>
          </p:nvSpPr>
          <p:spPr bwMode="auto">
            <a:xfrm>
              <a:off x="2108" y="1573"/>
              <a:ext cx="217" cy="131"/>
            </a:xfrm>
            <a:custGeom>
              <a:avLst/>
              <a:gdLst>
                <a:gd name="T0" fmla="*/ 217 w 217"/>
                <a:gd name="T1" fmla="*/ 42 h 131"/>
                <a:gd name="T2" fmla="*/ 215 w 217"/>
                <a:gd name="T3" fmla="*/ 37 h 131"/>
                <a:gd name="T4" fmla="*/ 214 w 217"/>
                <a:gd name="T5" fmla="*/ 30 h 131"/>
                <a:gd name="T6" fmla="*/ 212 w 217"/>
                <a:gd name="T7" fmla="*/ 25 h 131"/>
                <a:gd name="T8" fmla="*/ 210 w 217"/>
                <a:gd name="T9" fmla="*/ 20 h 131"/>
                <a:gd name="T10" fmla="*/ 207 w 217"/>
                <a:gd name="T11" fmla="*/ 15 h 131"/>
                <a:gd name="T12" fmla="*/ 205 w 217"/>
                <a:gd name="T13" fmla="*/ 10 h 131"/>
                <a:gd name="T14" fmla="*/ 202 w 217"/>
                <a:gd name="T15" fmla="*/ 5 h 131"/>
                <a:gd name="T16" fmla="*/ 199 w 217"/>
                <a:gd name="T17" fmla="*/ 0 h 131"/>
                <a:gd name="T18" fmla="*/ 195 w 217"/>
                <a:gd name="T19" fmla="*/ 2 h 131"/>
                <a:gd name="T20" fmla="*/ 199 w 217"/>
                <a:gd name="T21" fmla="*/ 7 h 131"/>
                <a:gd name="T22" fmla="*/ 202 w 217"/>
                <a:gd name="T23" fmla="*/ 10 h 131"/>
                <a:gd name="T24" fmla="*/ 205 w 217"/>
                <a:gd name="T25" fmla="*/ 17 h 131"/>
                <a:gd name="T26" fmla="*/ 207 w 217"/>
                <a:gd name="T27" fmla="*/ 22 h 131"/>
                <a:gd name="T28" fmla="*/ 209 w 217"/>
                <a:gd name="T29" fmla="*/ 27 h 131"/>
                <a:gd name="T30" fmla="*/ 212 w 217"/>
                <a:gd name="T31" fmla="*/ 32 h 131"/>
                <a:gd name="T32" fmla="*/ 214 w 217"/>
                <a:gd name="T33" fmla="*/ 39 h 131"/>
                <a:gd name="T34" fmla="*/ 214 w 217"/>
                <a:gd name="T35" fmla="*/ 43 h 131"/>
                <a:gd name="T36" fmla="*/ 217 w 217"/>
                <a:gd name="T37" fmla="*/ 42 h 131"/>
                <a:gd name="T38" fmla="*/ 0 w 217"/>
                <a:gd name="T39" fmla="*/ 90 h 131"/>
                <a:gd name="T40" fmla="*/ 2 w 217"/>
                <a:gd name="T41" fmla="*/ 96 h 131"/>
                <a:gd name="T42" fmla="*/ 3 w 217"/>
                <a:gd name="T43" fmla="*/ 101 h 131"/>
                <a:gd name="T44" fmla="*/ 7 w 217"/>
                <a:gd name="T45" fmla="*/ 106 h 131"/>
                <a:gd name="T46" fmla="*/ 8 w 217"/>
                <a:gd name="T47" fmla="*/ 111 h 131"/>
                <a:gd name="T48" fmla="*/ 10 w 217"/>
                <a:gd name="T49" fmla="*/ 116 h 131"/>
                <a:gd name="T50" fmla="*/ 13 w 217"/>
                <a:gd name="T51" fmla="*/ 121 h 131"/>
                <a:gd name="T52" fmla="*/ 17 w 217"/>
                <a:gd name="T53" fmla="*/ 126 h 131"/>
                <a:gd name="T54" fmla="*/ 20 w 217"/>
                <a:gd name="T55" fmla="*/ 131 h 131"/>
                <a:gd name="T56" fmla="*/ 23 w 217"/>
                <a:gd name="T57" fmla="*/ 130 h 131"/>
                <a:gd name="T58" fmla="*/ 20 w 217"/>
                <a:gd name="T59" fmla="*/ 125 h 131"/>
                <a:gd name="T60" fmla="*/ 17 w 217"/>
                <a:gd name="T61" fmla="*/ 120 h 131"/>
                <a:gd name="T62" fmla="*/ 13 w 217"/>
                <a:gd name="T63" fmla="*/ 115 h 131"/>
                <a:gd name="T64" fmla="*/ 12 w 217"/>
                <a:gd name="T65" fmla="*/ 110 h 131"/>
                <a:gd name="T66" fmla="*/ 8 w 217"/>
                <a:gd name="T67" fmla="*/ 105 h 131"/>
                <a:gd name="T68" fmla="*/ 7 w 217"/>
                <a:gd name="T69" fmla="*/ 100 h 131"/>
                <a:gd name="T70" fmla="*/ 5 w 217"/>
                <a:gd name="T71" fmla="*/ 95 h 131"/>
                <a:gd name="T72" fmla="*/ 3 w 217"/>
                <a:gd name="T73" fmla="*/ 88 h 131"/>
                <a:gd name="T74" fmla="*/ 0 w 217"/>
                <a:gd name="T75" fmla="*/ 90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7" h="131">
                  <a:moveTo>
                    <a:pt x="217" y="42"/>
                  </a:moveTo>
                  <a:lnTo>
                    <a:pt x="215" y="37"/>
                  </a:lnTo>
                  <a:lnTo>
                    <a:pt x="214" y="30"/>
                  </a:lnTo>
                  <a:lnTo>
                    <a:pt x="212" y="25"/>
                  </a:lnTo>
                  <a:lnTo>
                    <a:pt x="210" y="20"/>
                  </a:lnTo>
                  <a:lnTo>
                    <a:pt x="207" y="15"/>
                  </a:lnTo>
                  <a:lnTo>
                    <a:pt x="205" y="10"/>
                  </a:lnTo>
                  <a:lnTo>
                    <a:pt x="202" y="5"/>
                  </a:lnTo>
                  <a:lnTo>
                    <a:pt x="199" y="0"/>
                  </a:lnTo>
                  <a:lnTo>
                    <a:pt x="195" y="2"/>
                  </a:lnTo>
                  <a:lnTo>
                    <a:pt x="199" y="7"/>
                  </a:lnTo>
                  <a:lnTo>
                    <a:pt x="202" y="10"/>
                  </a:lnTo>
                  <a:lnTo>
                    <a:pt x="205" y="17"/>
                  </a:lnTo>
                  <a:lnTo>
                    <a:pt x="207" y="22"/>
                  </a:lnTo>
                  <a:lnTo>
                    <a:pt x="209" y="27"/>
                  </a:lnTo>
                  <a:lnTo>
                    <a:pt x="212" y="32"/>
                  </a:lnTo>
                  <a:lnTo>
                    <a:pt x="214" y="39"/>
                  </a:lnTo>
                  <a:lnTo>
                    <a:pt x="214" y="43"/>
                  </a:lnTo>
                  <a:lnTo>
                    <a:pt x="217" y="42"/>
                  </a:lnTo>
                  <a:close/>
                  <a:moveTo>
                    <a:pt x="0" y="90"/>
                  </a:moveTo>
                  <a:lnTo>
                    <a:pt x="2" y="96"/>
                  </a:lnTo>
                  <a:lnTo>
                    <a:pt x="3" y="101"/>
                  </a:lnTo>
                  <a:lnTo>
                    <a:pt x="7" y="106"/>
                  </a:lnTo>
                  <a:lnTo>
                    <a:pt x="8" y="111"/>
                  </a:lnTo>
                  <a:lnTo>
                    <a:pt x="10" y="116"/>
                  </a:lnTo>
                  <a:lnTo>
                    <a:pt x="13" y="121"/>
                  </a:lnTo>
                  <a:lnTo>
                    <a:pt x="17" y="126"/>
                  </a:lnTo>
                  <a:lnTo>
                    <a:pt x="20" y="131"/>
                  </a:lnTo>
                  <a:lnTo>
                    <a:pt x="23" y="130"/>
                  </a:lnTo>
                  <a:lnTo>
                    <a:pt x="20" y="125"/>
                  </a:lnTo>
                  <a:lnTo>
                    <a:pt x="17" y="120"/>
                  </a:lnTo>
                  <a:lnTo>
                    <a:pt x="13" y="115"/>
                  </a:lnTo>
                  <a:lnTo>
                    <a:pt x="12" y="110"/>
                  </a:lnTo>
                  <a:lnTo>
                    <a:pt x="8" y="105"/>
                  </a:lnTo>
                  <a:lnTo>
                    <a:pt x="7" y="100"/>
                  </a:lnTo>
                  <a:lnTo>
                    <a:pt x="5" y="95"/>
                  </a:lnTo>
                  <a:lnTo>
                    <a:pt x="3" y="88"/>
                  </a:lnTo>
                  <a:lnTo>
                    <a:pt x="0" y="9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64" name="Freeform 606">
              <a:extLst>
                <a:ext uri="{FF2B5EF4-FFF2-40B4-BE49-F238E27FC236}">
                  <a16:creationId xmlns:a16="http://schemas.microsoft.com/office/drawing/2014/main" id="{EAEC30F9-B581-DECB-C69F-3FA40F44BC64}"/>
                </a:ext>
              </a:extLst>
            </p:cNvPr>
            <p:cNvSpPr>
              <a:spLocks noEditPoints="1"/>
            </p:cNvSpPr>
            <p:nvPr/>
          </p:nvSpPr>
          <p:spPr bwMode="auto">
            <a:xfrm>
              <a:off x="2110" y="1573"/>
              <a:ext cx="213" cy="130"/>
            </a:xfrm>
            <a:custGeom>
              <a:avLst/>
              <a:gdLst>
                <a:gd name="T0" fmla="*/ 213 w 213"/>
                <a:gd name="T1" fmla="*/ 43 h 130"/>
                <a:gd name="T2" fmla="*/ 212 w 213"/>
                <a:gd name="T3" fmla="*/ 37 h 130"/>
                <a:gd name="T4" fmla="*/ 210 w 213"/>
                <a:gd name="T5" fmla="*/ 32 h 130"/>
                <a:gd name="T6" fmla="*/ 208 w 213"/>
                <a:gd name="T7" fmla="*/ 25 h 130"/>
                <a:gd name="T8" fmla="*/ 207 w 213"/>
                <a:gd name="T9" fmla="*/ 20 h 130"/>
                <a:gd name="T10" fmla="*/ 203 w 213"/>
                <a:gd name="T11" fmla="*/ 15 h 130"/>
                <a:gd name="T12" fmla="*/ 202 w 213"/>
                <a:gd name="T13" fmla="*/ 10 h 130"/>
                <a:gd name="T14" fmla="*/ 198 w 213"/>
                <a:gd name="T15" fmla="*/ 5 h 130"/>
                <a:gd name="T16" fmla="*/ 195 w 213"/>
                <a:gd name="T17" fmla="*/ 0 h 130"/>
                <a:gd name="T18" fmla="*/ 192 w 213"/>
                <a:gd name="T19" fmla="*/ 2 h 130"/>
                <a:gd name="T20" fmla="*/ 195 w 213"/>
                <a:gd name="T21" fmla="*/ 7 h 130"/>
                <a:gd name="T22" fmla="*/ 198 w 213"/>
                <a:gd name="T23" fmla="*/ 12 h 130"/>
                <a:gd name="T24" fmla="*/ 202 w 213"/>
                <a:gd name="T25" fmla="*/ 17 h 130"/>
                <a:gd name="T26" fmla="*/ 203 w 213"/>
                <a:gd name="T27" fmla="*/ 22 h 130"/>
                <a:gd name="T28" fmla="*/ 205 w 213"/>
                <a:gd name="T29" fmla="*/ 27 h 130"/>
                <a:gd name="T30" fmla="*/ 208 w 213"/>
                <a:gd name="T31" fmla="*/ 34 h 130"/>
                <a:gd name="T32" fmla="*/ 210 w 213"/>
                <a:gd name="T33" fmla="*/ 39 h 130"/>
                <a:gd name="T34" fmla="*/ 210 w 213"/>
                <a:gd name="T35" fmla="*/ 43 h 130"/>
                <a:gd name="T36" fmla="*/ 213 w 213"/>
                <a:gd name="T37" fmla="*/ 43 h 130"/>
                <a:gd name="T38" fmla="*/ 0 w 213"/>
                <a:gd name="T39" fmla="*/ 90 h 130"/>
                <a:gd name="T40" fmla="*/ 1 w 213"/>
                <a:gd name="T41" fmla="*/ 95 h 130"/>
                <a:gd name="T42" fmla="*/ 3 w 213"/>
                <a:gd name="T43" fmla="*/ 100 h 130"/>
                <a:gd name="T44" fmla="*/ 5 w 213"/>
                <a:gd name="T45" fmla="*/ 106 h 130"/>
                <a:gd name="T46" fmla="*/ 8 w 213"/>
                <a:gd name="T47" fmla="*/ 111 h 130"/>
                <a:gd name="T48" fmla="*/ 10 w 213"/>
                <a:gd name="T49" fmla="*/ 116 h 130"/>
                <a:gd name="T50" fmla="*/ 13 w 213"/>
                <a:gd name="T51" fmla="*/ 121 h 130"/>
                <a:gd name="T52" fmla="*/ 16 w 213"/>
                <a:gd name="T53" fmla="*/ 126 h 130"/>
                <a:gd name="T54" fmla="*/ 20 w 213"/>
                <a:gd name="T55" fmla="*/ 130 h 130"/>
                <a:gd name="T56" fmla="*/ 23 w 213"/>
                <a:gd name="T57" fmla="*/ 130 h 130"/>
                <a:gd name="T58" fmla="*/ 20 w 213"/>
                <a:gd name="T59" fmla="*/ 125 h 130"/>
                <a:gd name="T60" fmla="*/ 16 w 213"/>
                <a:gd name="T61" fmla="*/ 120 h 130"/>
                <a:gd name="T62" fmla="*/ 13 w 213"/>
                <a:gd name="T63" fmla="*/ 115 h 130"/>
                <a:gd name="T64" fmla="*/ 11 w 213"/>
                <a:gd name="T65" fmla="*/ 110 h 130"/>
                <a:gd name="T66" fmla="*/ 8 w 213"/>
                <a:gd name="T67" fmla="*/ 105 h 130"/>
                <a:gd name="T68" fmla="*/ 6 w 213"/>
                <a:gd name="T69" fmla="*/ 100 h 130"/>
                <a:gd name="T70" fmla="*/ 5 w 213"/>
                <a:gd name="T71" fmla="*/ 93 h 130"/>
                <a:gd name="T72" fmla="*/ 3 w 213"/>
                <a:gd name="T73" fmla="*/ 88 h 130"/>
                <a:gd name="T74" fmla="*/ 0 w 213"/>
                <a:gd name="T75" fmla="*/ 90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3" h="130">
                  <a:moveTo>
                    <a:pt x="213" y="43"/>
                  </a:moveTo>
                  <a:lnTo>
                    <a:pt x="212" y="37"/>
                  </a:lnTo>
                  <a:lnTo>
                    <a:pt x="210" y="32"/>
                  </a:lnTo>
                  <a:lnTo>
                    <a:pt x="208" y="25"/>
                  </a:lnTo>
                  <a:lnTo>
                    <a:pt x="207" y="20"/>
                  </a:lnTo>
                  <a:lnTo>
                    <a:pt x="203" y="15"/>
                  </a:lnTo>
                  <a:lnTo>
                    <a:pt x="202" y="10"/>
                  </a:lnTo>
                  <a:lnTo>
                    <a:pt x="198" y="5"/>
                  </a:lnTo>
                  <a:lnTo>
                    <a:pt x="195" y="0"/>
                  </a:lnTo>
                  <a:lnTo>
                    <a:pt x="192" y="2"/>
                  </a:lnTo>
                  <a:lnTo>
                    <a:pt x="195" y="7"/>
                  </a:lnTo>
                  <a:lnTo>
                    <a:pt x="198" y="12"/>
                  </a:lnTo>
                  <a:lnTo>
                    <a:pt x="202" y="17"/>
                  </a:lnTo>
                  <a:lnTo>
                    <a:pt x="203" y="22"/>
                  </a:lnTo>
                  <a:lnTo>
                    <a:pt x="205" y="27"/>
                  </a:lnTo>
                  <a:lnTo>
                    <a:pt x="208" y="34"/>
                  </a:lnTo>
                  <a:lnTo>
                    <a:pt x="210" y="39"/>
                  </a:lnTo>
                  <a:lnTo>
                    <a:pt x="210" y="43"/>
                  </a:lnTo>
                  <a:lnTo>
                    <a:pt x="213" y="43"/>
                  </a:lnTo>
                  <a:close/>
                  <a:moveTo>
                    <a:pt x="0" y="90"/>
                  </a:moveTo>
                  <a:lnTo>
                    <a:pt x="1" y="95"/>
                  </a:lnTo>
                  <a:lnTo>
                    <a:pt x="3" y="100"/>
                  </a:lnTo>
                  <a:lnTo>
                    <a:pt x="5" y="106"/>
                  </a:lnTo>
                  <a:lnTo>
                    <a:pt x="8" y="111"/>
                  </a:lnTo>
                  <a:lnTo>
                    <a:pt x="10" y="116"/>
                  </a:lnTo>
                  <a:lnTo>
                    <a:pt x="13" y="121"/>
                  </a:lnTo>
                  <a:lnTo>
                    <a:pt x="16" y="126"/>
                  </a:lnTo>
                  <a:lnTo>
                    <a:pt x="20" y="130"/>
                  </a:lnTo>
                  <a:lnTo>
                    <a:pt x="23" y="130"/>
                  </a:lnTo>
                  <a:lnTo>
                    <a:pt x="20" y="125"/>
                  </a:lnTo>
                  <a:lnTo>
                    <a:pt x="16" y="120"/>
                  </a:lnTo>
                  <a:lnTo>
                    <a:pt x="13" y="115"/>
                  </a:lnTo>
                  <a:lnTo>
                    <a:pt x="11" y="110"/>
                  </a:lnTo>
                  <a:lnTo>
                    <a:pt x="8" y="105"/>
                  </a:lnTo>
                  <a:lnTo>
                    <a:pt x="6" y="100"/>
                  </a:lnTo>
                  <a:lnTo>
                    <a:pt x="5" y="93"/>
                  </a:lnTo>
                  <a:lnTo>
                    <a:pt x="3" y="88"/>
                  </a:lnTo>
                  <a:lnTo>
                    <a:pt x="0" y="9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65" name="Freeform 607">
              <a:extLst>
                <a:ext uri="{FF2B5EF4-FFF2-40B4-BE49-F238E27FC236}">
                  <a16:creationId xmlns:a16="http://schemas.microsoft.com/office/drawing/2014/main" id="{A51CAC86-567A-5C36-62E8-87191536411E}"/>
                </a:ext>
              </a:extLst>
            </p:cNvPr>
            <p:cNvSpPr>
              <a:spLocks noEditPoints="1"/>
            </p:cNvSpPr>
            <p:nvPr/>
          </p:nvSpPr>
          <p:spPr bwMode="auto">
            <a:xfrm>
              <a:off x="2111" y="1575"/>
              <a:ext cx="211" cy="128"/>
            </a:xfrm>
            <a:custGeom>
              <a:avLst/>
              <a:gdLst>
                <a:gd name="T0" fmla="*/ 211 w 211"/>
                <a:gd name="T1" fmla="*/ 41 h 128"/>
                <a:gd name="T2" fmla="*/ 211 w 211"/>
                <a:gd name="T3" fmla="*/ 37 h 128"/>
                <a:gd name="T4" fmla="*/ 209 w 211"/>
                <a:gd name="T5" fmla="*/ 30 h 128"/>
                <a:gd name="T6" fmla="*/ 206 w 211"/>
                <a:gd name="T7" fmla="*/ 25 h 128"/>
                <a:gd name="T8" fmla="*/ 204 w 211"/>
                <a:gd name="T9" fmla="*/ 20 h 128"/>
                <a:gd name="T10" fmla="*/ 202 w 211"/>
                <a:gd name="T11" fmla="*/ 15 h 128"/>
                <a:gd name="T12" fmla="*/ 199 w 211"/>
                <a:gd name="T13" fmla="*/ 8 h 128"/>
                <a:gd name="T14" fmla="*/ 196 w 211"/>
                <a:gd name="T15" fmla="*/ 5 h 128"/>
                <a:gd name="T16" fmla="*/ 192 w 211"/>
                <a:gd name="T17" fmla="*/ 0 h 128"/>
                <a:gd name="T18" fmla="*/ 189 w 211"/>
                <a:gd name="T19" fmla="*/ 2 h 128"/>
                <a:gd name="T20" fmla="*/ 192 w 211"/>
                <a:gd name="T21" fmla="*/ 5 h 128"/>
                <a:gd name="T22" fmla="*/ 196 w 211"/>
                <a:gd name="T23" fmla="*/ 10 h 128"/>
                <a:gd name="T24" fmla="*/ 199 w 211"/>
                <a:gd name="T25" fmla="*/ 15 h 128"/>
                <a:gd name="T26" fmla="*/ 201 w 211"/>
                <a:gd name="T27" fmla="*/ 20 h 128"/>
                <a:gd name="T28" fmla="*/ 204 w 211"/>
                <a:gd name="T29" fmla="*/ 27 h 128"/>
                <a:gd name="T30" fmla="*/ 206 w 211"/>
                <a:gd name="T31" fmla="*/ 32 h 128"/>
                <a:gd name="T32" fmla="*/ 207 w 211"/>
                <a:gd name="T33" fmla="*/ 37 h 128"/>
                <a:gd name="T34" fmla="*/ 207 w 211"/>
                <a:gd name="T35" fmla="*/ 43 h 128"/>
                <a:gd name="T36" fmla="*/ 211 w 211"/>
                <a:gd name="T37" fmla="*/ 41 h 128"/>
                <a:gd name="T38" fmla="*/ 0 w 211"/>
                <a:gd name="T39" fmla="*/ 86 h 128"/>
                <a:gd name="T40" fmla="*/ 2 w 211"/>
                <a:gd name="T41" fmla="*/ 93 h 128"/>
                <a:gd name="T42" fmla="*/ 4 w 211"/>
                <a:gd name="T43" fmla="*/ 98 h 128"/>
                <a:gd name="T44" fmla="*/ 5 w 211"/>
                <a:gd name="T45" fmla="*/ 103 h 128"/>
                <a:gd name="T46" fmla="*/ 9 w 211"/>
                <a:gd name="T47" fmla="*/ 108 h 128"/>
                <a:gd name="T48" fmla="*/ 10 w 211"/>
                <a:gd name="T49" fmla="*/ 113 h 128"/>
                <a:gd name="T50" fmla="*/ 14 w 211"/>
                <a:gd name="T51" fmla="*/ 118 h 128"/>
                <a:gd name="T52" fmla="*/ 17 w 211"/>
                <a:gd name="T53" fmla="*/ 123 h 128"/>
                <a:gd name="T54" fmla="*/ 20 w 211"/>
                <a:gd name="T55" fmla="*/ 128 h 128"/>
                <a:gd name="T56" fmla="*/ 24 w 211"/>
                <a:gd name="T57" fmla="*/ 126 h 128"/>
                <a:gd name="T58" fmla="*/ 20 w 211"/>
                <a:gd name="T59" fmla="*/ 121 h 128"/>
                <a:gd name="T60" fmla="*/ 17 w 211"/>
                <a:gd name="T61" fmla="*/ 118 h 128"/>
                <a:gd name="T62" fmla="*/ 14 w 211"/>
                <a:gd name="T63" fmla="*/ 113 h 128"/>
                <a:gd name="T64" fmla="*/ 12 w 211"/>
                <a:gd name="T65" fmla="*/ 108 h 128"/>
                <a:gd name="T66" fmla="*/ 9 w 211"/>
                <a:gd name="T67" fmla="*/ 101 h 128"/>
                <a:gd name="T68" fmla="*/ 7 w 211"/>
                <a:gd name="T69" fmla="*/ 96 h 128"/>
                <a:gd name="T70" fmla="*/ 5 w 211"/>
                <a:gd name="T71" fmla="*/ 91 h 128"/>
                <a:gd name="T72" fmla="*/ 4 w 211"/>
                <a:gd name="T73" fmla="*/ 85 h 128"/>
                <a:gd name="T74" fmla="*/ 0 w 211"/>
                <a:gd name="T75" fmla="*/ 86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1" h="128">
                  <a:moveTo>
                    <a:pt x="211" y="41"/>
                  </a:moveTo>
                  <a:lnTo>
                    <a:pt x="211" y="37"/>
                  </a:lnTo>
                  <a:lnTo>
                    <a:pt x="209" y="30"/>
                  </a:lnTo>
                  <a:lnTo>
                    <a:pt x="206" y="25"/>
                  </a:lnTo>
                  <a:lnTo>
                    <a:pt x="204" y="20"/>
                  </a:lnTo>
                  <a:lnTo>
                    <a:pt x="202" y="15"/>
                  </a:lnTo>
                  <a:lnTo>
                    <a:pt x="199" y="8"/>
                  </a:lnTo>
                  <a:lnTo>
                    <a:pt x="196" y="5"/>
                  </a:lnTo>
                  <a:lnTo>
                    <a:pt x="192" y="0"/>
                  </a:lnTo>
                  <a:lnTo>
                    <a:pt x="189" y="2"/>
                  </a:lnTo>
                  <a:lnTo>
                    <a:pt x="192" y="5"/>
                  </a:lnTo>
                  <a:lnTo>
                    <a:pt x="196" y="10"/>
                  </a:lnTo>
                  <a:lnTo>
                    <a:pt x="199" y="15"/>
                  </a:lnTo>
                  <a:lnTo>
                    <a:pt x="201" y="20"/>
                  </a:lnTo>
                  <a:lnTo>
                    <a:pt x="204" y="27"/>
                  </a:lnTo>
                  <a:lnTo>
                    <a:pt x="206" y="32"/>
                  </a:lnTo>
                  <a:lnTo>
                    <a:pt x="207" y="37"/>
                  </a:lnTo>
                  <a:lnTo>
                    <a:pt x="207" y="43"/>
                  </a:lnTo>
                  <a:lnTo>
                    <a:pt x="211" y="41"/>
                  </a:lnTo>
                  <a:close/>
                  <a:moveTo>
                    <a:pt x="0" y="86"/>
                  </a:moveTo>
                  <a:lnTo>
                    <a:pt x="2" y="93"/>
                  </a:lnTo>
                  <a:lnTo>
                    <a:pt x="4" y="98"/>
                  </a:lnTo>
                  <a:lnTo>
                    <a:pt x="5" y="103"/>
                  </a:lnTo>
                  <a:lnTo>
                    <a:pt x="9" y="108"/>
                  </a:lnTo>
                  <a:lnTo>
                    <a:pt x="10" y="113"/>
                  </a:lnTo>
                  <a:lnTo>
                    <a:pt x="14" y="118"/>
                  </a:lnTo>
                  <a:lnTo>
                    <a:pt x="17" y="123"/>
                  </a:lnTo>
                  <a:lnTo>
                    <a:pt x="20" y="128"/>
                  </a:lnTo>
                  <a:lnTo>
                    <a:pt x="24" y="126"/>
                  </a:lnTo>
                  <a:lnTo>
                    <a:pt x="20" y="121"/>
                  </a:lnTo>
                  <a:lnTo>
                    <a:pt x="17" y="118"/>
                  </a:lnTo>
                  <a:lnTo>
                    <a:pt x="14" y="113"/>
                  </a:lnTo>
                  <a:lnTo>
                    <a:pt x="12" y="108"/>
                  </a:lnTo>
                  <a:lnTo>
                    <a:pt x="9" y="101"/>
                  </a:lnTo>
                  <a:lnTo>
                    <a:pt x="7" y="96"/>
                  </a:lnTo>
                  <a:lnTo>
                    <a:pt x="5" y="91"/>
                  </a:lnTo>
                  <a:lnTo>
                    <a:pt x="4" y="85"/>
                  </a:lnTo>
                  <a:lnTo>
                    <a:pt x="0" y="86"/>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66" name="Freeform 608">
              <a:extLst>
                <a:ext uri="{FF2B5EF4-FFF2-40B4-BE49-F238E27FC236}">
                  <a16:creationId xmlns:a16="http://schemas.microsoft.com/office/drawing/2014/main" id="{9F68A200-894D-29A1-8708-056CC57B9CB5}"/>
                </a:ext>
              </a:extLst>
            </p:cNvPr>
            <p:cNvSpPr>
              <a:spLocks noEditPoints="1"/>
            </p:cNvSpPr>
            <p:nvPr/>
          </p:nvSpPr>
          <p:spPr bwMode="auto">
            <a:xfrm>
              <a:off x="2113" y="1575"/>
              <a:ext cx="207" cy="128"/>
            </a:xfrm>
            <a:custGeom>
              <a:avLst/>
              <a:gdLst>
                <a:gd name="T0" fmla="*/ 207 w 207"/>
                <a:gd name="T1" fmla="*/ 41 h 128"/>
                <a:gd name="T2" fmla="*/ 207 w 207"/>
                <a:gd name="T3" fmla="*/ 37 h 128"/>
                <a:gd name="T4" fmla="*/ 205 w 207"/>
                <a:gd name="T5" fmla="*/ 32 h 128"/>
                <a:gd name="T6" fmla="*/ 202 w 207"/>
                <a:gd name="T7" fmla="*/ 25 h 128"/>
                <a:gd name="T8" fmla="*/ 200 w 207"/>
                <a:gd name="T9" fmla="*/ 20 h 128"/>
                <a:gd name="T10" fmla="*/ 199 w 207"/>
                <a:gd name="T11" fmla="*/ 15 h 128"/>
                <a:gd name="T12" fmla="*/ 195 w 207"/>
                <a:gd name="T13" fmla="*/ 10 h 128"/>
                <a:gd name="T14" fmla="*/ 192 w 207"/>
                <a:gd name="T15" fmla="*/ 5 h 128"/>
                <a:gd name="T16" fmla="*/ 189 w 207"/>
                <a:gd name="T17" fmla="*/ 0 h 128"/>
                <a:gd name="T18" fmla="*/ 185 w 207"/>
                <a:gd name="T19" fmla="*/ 2 h 128"/>
                <a:gd name="T20" fmla="*/ 189 w 207"/>
                <a:gd name="T21" fmla="*/ 7 h 128"/>
                <a:gd name="T22" fmla="*/ 192 w 207"/>
                <a:gd name="T23" fmla="*/ 12 h 128"/>
                <a:gd name="T24" fmla="*/ 195 w 207"/>
                <a:gd name="T25" fmla="*/ 17 h 128"/>
                <a:gd name="T26" fmla="*/ 197 w 207"/>
                <a:gd name="T27" fmla="*/ 22 h 128"/>
                <a:gd name="T28" fmla="*/ 200 w 207"/>
                <a:gd name="T29" fmla="*/ 27 h 128"/>
                <a:gd name="T30" fmla="*/ 202 w 207"/>
                <a:gd name="T31" fmla="*/ 32 h 128"/>
                <a:gd name="T32" fmla="*/ 204 w 207"/>
                <a:gd name="T33" fmla="*/ 38 h 128"/>
                <a:gd name="T34" fmla="*/ 205 w 207"/>
                <a:gd name="T35" fmla="*/ 43 h 128"/>
                <a:gd name="T36" fmla="*/ 207 w 207"/>
                <a:gd name="T37" fmla="*/ 41 h 128"/>
                <a:gd name="T38" fmla="*/ 0 w 207"/>
                <a:gd name="T39" fmla="*/ 86 h 128"/>
                <a:gd name="T40" fmla="*/ 2 w 207"/>
                <a:gd name="T41" fmla="*/ 91 h 128"/>
                <a:gd name="T42" fmla="*/ 3 w 207"/>
                <a:gd name="T43" fmla="*/ 98 h 128"/>
                <a:gd name="T44" fmla="*/ 5 w 207"/>
                <a:gd name="T45" fmla="*/ 103 h 128"/>
                <a:gd name="T46" fmla="*/ 8 w 207"/>
                <a:gd name="T47" fmla="*/ 108 h 128"/>
                <a:gd name="T48" fmla="*/ 10 w 207"/>
                <a:gd name="T49" fmla="*/ 113 h 128"/>
                <a:gd name="T50" fmla="*/ 13 w 207"/>
                <a:gd name="T51" fmla="*/ 118 h 128"/>
                <a:gd name="T52" fmla="*/ 17 w 207"/>
                <a:gd name="T53" fmla="*/ 123 h 128"/>
                <a:gd name="T54" fmla="*/ 20 w 207"/>
                <a:gd name="T55" fmla="*/ 128 h 128"/>
                <a:gd name="T56" fmla="*/ 22 w 207"/>
                <a:gd name="T57" fmla="*/ 126 h 128"/>
                <a:gd name="T58" fmla="*/ 18 w 207"/>
                <a:gd name="T59" fmla="*/ 121 h 128"/>
                <a:gd name="T60" fmla="*/ 17 w 207"/>
                <a:gd name="T61" fmla="*/ 116 h 128"/>
                <a:gd name="T62" fmla="*/ 13 w 207"/>
                <a:gd name="T63" fmla="*/ 111 h 128"/>
                <a:gd name="T64" fmla="*/ 10 w 207"/>
                <a:gd name="T65" fmla="*/ 106 h 128"/>
                <a:gd name="T66" fmla="*/ 8 w 207"/>
                <a:gd name="T67" fmla="*/ 101 h 128"/>
                <a:gd name="T68" fmla="*/ 7 w 207"/>
                <a:gd name="T69" fmla="*/ 96 h 128"/>
                <a:gd name="T70" fmla="*/ 5 w 207"/>
                <a:gd name="T71" fmla="*/ 90 h 128"/>
                <a:gd name="T72" fmla="*/ 3 w 207"/>
                <a:gd name="T73" fmla="*/ 85 h 128"/>
                <a:gd name="T74" fmla="*/ 0 w 207"/>
                <a:gd name="T75" fmla="*/ 86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07" h="128">
                  <a:moveTo>
                    <a:pt x="207" y="41"/>
                  </a:moveTo>
                  <a:lnTo>
                    <a:pt x="207" y="37"/>
                  </a:lnTo>
                  <a:lnTo>
                    <a:pt x="205" y="32"/>
                  </a:lnTo>
                  <a:lnTo>
                    <a:pt x="202" y="25"/>
                  </a:lnTo>
                  <a:lnTo>
                    <a:pt x="200" y="20"/>
                  </a:lnTo>
                  <a:lnTo>
                    <a:pt x="199" y="15"/>
                  </a:lnTo>
                  <a:lnTo>
                    <a:pt x="195" y="10"/>
                  </a:lnTo>
                  <a:lnTo>
                    <a:pt x="192" y="5"/>
                  </a:lnTo>
                  <a:lnTo>
                    <a:pt x="189" y="0"/>
                  </a:lnTo>
                  <a:lnTo>
                    <a:pt x="185" y="2"/>
                  </a:lnTo>
                  <a:lnTo>
                    <a:pt x="189" y="7"/>
                  </a:lnTo>
                  <a:lnTo>
                    <a:pt x="192" y="12"/>
                  </a:lnTo>
                  <a:lnTo>
                    <a:pt x="195" y="17"/>
                  </a:lnTo>
                  <a:lnTo>
                    <a:pt x="197" y="22"/>
                  </a:lnTo>
                  <a:lnTo>
                    <a:pt x="200" y="27"/>
                  </a:lnTo>
                  <a:lnTo>
                    <a:pt x="202" y="32"/>
                  </a:lnTo>
                  <a:lnTo>
                    <a:pt x="204" y="38"/>
                  </a:lnTo>
                  <a:lnTo>
                    <a:pt x="205" y="43"/>
                  </a:lnTo>
                  <a:lnTo>
                    <a:pt x="207" y="41"/>
                  </a:lnTo>
                  <a:close/>
                  <a:moveTo>
                    <a:pt x="0" y="86"/>
                  </a:moveTo>
                  <a:lnTo>
                    <a:pt x="2" y="91"/>
                  </a:lnTo>
                  <a:lnTo>
                    <a:pt x="3" y="98"/>
                  </a:lnTo>
                  <a:lnTo>
                    <a:pt x="5" y="103"/>
                  </a:lnTo>
                  <a:lnTo>
                    <a:pt x="8" y="108"/>
                  </a:lnTo>
                  <a:lnTo>
                    <a:pt x="10" y="113"/>
                  </a:lnTo>
                  <a:lnTo>
                    <a:pt x="13" y="118"/>
                  </a:lnTo>
                  <a:lnTo>
                    <a:pt x="17" y="123"/>
                  </a:lnTo>
                  <a:lnTo>
                    <a:pt x="20" y="128"/>
                  </a:lnTo>
                  <a:lnTo>
                    <a:pt x="22" y="126"/>
                  </a:lnTo>
                  <a:lnTo>
                    <a:pt x="18" y="121"/>
                  </a:lnTo>
                  <a:lnTo>
                    <a:pt x="17" y="116"/>
                  </a:lnTo>
                  <a:lnTo>
                    <a:pt x="13" y="111"/>
                  </a:lnTo>
                  <a:lnTo>
                    <a:pt x="10" y="106"/>
                  </a:lnTo>
                  <a:lnTo>
                    <a:pt x="8" y="101"/>
                  </a:lnTo>
                  <a:lnTo>
                    <a:pt x="7" y="96"/>
                  </a:lnTo>
                  <a:lnTo>
                    <a:pt x="5" y="90"/>
                  </a:lnTo>
                  <a:lnTo>
                    <a:pt x="3" y="85"/>
                  </a:lnTo>
                  <a:lnTo>
                    <a:pt x="0" y="86"/>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67" name="Freeform 609">
              <a:extLst>
                <a:ext uri="{FF2B5EF4-FFF2-40B4-BE49-F238E27FC236}">
                  <a16:creationId xmlns:a16="http://schemas.microsoft.com/office/drawing/2014/main" id="{97B62295-6C17-C485-125B-1335DB84E595}"/>
                </a:ext>
              </a:extLst>
            </p:cNvPr>
            <p:cNvSpPr>
              <a:spLocks noEditPoints="1"/>
            </p:cNvSpPr>
            <p:nvPr/>
          </p:nvSpPr>
          <p:spPr bwMode="auto">
            <a:xfrm>
              <a:off x="2115" y="1577"/>
              <a:ext cx="203" cy="124"/>
            </a:xfrm>
            <a:custGeom>
              <a:avLst/>
              <a:gdLst>
                <a:gd name="T0" fmla="*/ 203 w 203"/>
                <a:gd name="T1" fmla="*/ 41 h 124"/>
                <a:gd name="T2" fmla="*/ 203 w 203"/>
                <a:gd name="T3" fmla="*/ 35 h 124"/>
                <a:gd name="T4" fmla="*/ 202 w 203"/>
                <a:gd name="T5" fmla="*/ 30 h 124"/>
                <a:gd name="T6" fmla="*/ 200 w 203"/>
                <a:gd name="T7" fmla="*/ 25 h 124"/>
                <a:gd name="T8" fmla="*/ 197 w 203"/>
                <a:gd name="T9" fmla="*/ 18 h 124"/>
                <a:gd name="T10" fmla="*/ 195 w 203"/>
                <a:gd name="T11" fmla="*/ 13 h 124"/>
                <a:gd name="T12" fmla="*/ 192 w 203"/>
                <a:gd name="T13" fmla="*/ 8 h 124"/>
                <a:gd name="T14" fmla="*/ 188 w 203"/>
                <a:gd name="T15" fmla="*/ 3 h 124"/>
                <a:gd name="T16" fmla="*/ 185 w 203"/>
                <a:gd name="T17" fmla="*/ 0 h 124"/>
                <a:gd name="T18" fmla="*/ 182 w 203"/>
                <a:gd name="T19" fmla="*/ 0 h 124"/>
                <a:gd name="T20" fmla="*/ 185 w 203"/>
                <a:gd name="T21" fmla="*/ 5 h 124"/>
                <a:gd name="T22" fmla="*/ 188 w 203"/>
                <a:gd name="T23" fmla="*/ 10 h 124"/>
                <a:gd name="T24" fmla="*/ 192 w 203"/>
                <a:gd name="T25" fmla="*/ 15 h 124"/>
                <a:gd name="T26" fmla="*/ 193 w 203"/>
                <a:gd name="T27" fmla="*/ 20 h 124"/>
                <a:gd name="T28" fmla="*/ 197 w 203"/>
                <a:gd name="T29" fmla="*/ 26 h 124"/>
                <a:gd name="T30" fmla="*/ 198 w 203"/>
                <a:gd name="T31" fmla="*/ 31 h 124"/>
                <a:gd name="T32" fmla="*/ 200 w 203"/>
                <a:gd name="T33" fmla="*/ 36 h 124"/>
                <a:gd name="T34" fmla="*/ 202 w 203"/>
                <a:gd name="T35" fmla="*/ 43 h 124"/>
                <a:gd name="T36" fmla="*/ 203 w 203"/>
                <a:gd name="T37" fmla="*/ 41 h 124"/>
                <a:gd name="T38" fmla="*/ 0 w 203"/>
                <a:gd name="T39" fmla="*/ 83 h 124"/>
                <a:gd name="T40" fmla="*/ 1 w 203"/>
                <a:gd name="T41" fmla="*/ 89 h 124"/>
                <a:gd name="T42" fmla="*/ 3 w 203"/>
                <a:gd name="T43" fmla="*/ 94 h 124"/>
                <a:gd name="T44" fmla="*/ 5 w 203"/>
                <a:gd name="T45" fmla="*/ 99 h 124"/>
                <a:gd name="T46" fmla="*/ 8 w 203"/>
                <a:gd name="T47" fmla="*/ 106 h 124"/>
                <a:gd name="T48" fmla="*/ 10 w 203"/>
                <a:gd name="T49" fmla="*/ 111 h 124"/>
                <a:gd name="T50" fmla="*/ 13 w 203"/>
                <a:gd name="T51" fmla="*/ 116 h 124"/>
                <a:gd name="T52" fmla="*/ 16 w 203"/>
                <a:gd name="T53" fmla="*/ 119 h 124"/>
                <a:gd name="T54" fmla="*/ 20 w 203"/>
                <a:gd name="T55" fmla="*/ 124 h 124"/>
                <a:gd name="T56" fmla="*/ 21 w 203"/>
                <a:gd name="T57" fmla="*/ 122 h 124"/>
                <a:gd name="T58" fmla="*/ 18 w 203"/>
                <a:gd name="T59" fmla="*/ 119 h 124"/>
                <a:gd name="T60" fmla="*/ 16 w 203"/>
                <a:gd name="T61" fmla="*/ 114 h 124"/>
                <a:gd name="T62" fmla="*/ 13 w 203"/>
                <a:gd name="T63" fmla="*/ 109 h 124"/>
                <a:gd name="T64" fmla="*/ 10 w 203"/>
                <a:gd name="T65" fmla="*/ 104 h 124"/>
                <a:gd name="T66" fmla="*/ 8 w 203"/>
                <a:gd name="T67" fmla="*/ 99 h 124"/>
                <a:gd name="T68" fmla="*/ 6 w 203"/>
                <a:gd name="T69" fmla="*/ 92 h 124"/>
                <a:gd name="T70" fmla="*/ 5 w 203"/>
                <a:gd name="T71" fmla="*/ 88 h 124"/>
                <a:gd name="T72" fmla="*/ 3 w 203"/>
                <a:gd name="T73" fmla="*/ 83 h 124"/>
                <a:gd name="T74" fmla="*/ 0 w 203"/>
                <a:gd name="T75" fmla="*/ 83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03" h="124">
                  <a:moveTo>
                    <a:pt x="203" y="41"/>
                  </a:moveTo>
                  <a:lnTo>
                    <a:pt x="203" y="35"/>
                  </a:lnTo>
                  <a:lnTo>
                    <a:pt x="202" y="30"/>
                  </a:lnTo>
                  <a:lnTo>
                    <a:pt x="200" y="25"/>
                  </a:lnTo>
                  <a:lnTo>
                    <a:pt x="197" y="18"/>
                  </a:lnTo>
                  <a:lnTo>
                    <a:pt x="195" y="13"/>
                  </a:lnTo>
                  <a:lnTo>
                    <a:pt x="192" y="8"/>
                  </a:lnTo>
                  <a:lnTo>
                    <a:pt x="188" y="3"/>
                  </a:lnTo>
                  <a:lnTo>
                    <a:pt x="185" y="0"/>
                  </a:lnTo>
                  <a:lnTo>
                    <a:pt x="182" y="0"/>
                  </a:lnTo>
                  <a:lnTo>
                    <a:pt x="185" y="5"/>
                  </a:lnTo>
                  <a:lnTo>
                    <a:pt x="188" y="10"/>
                  </a:lnTo>
                  <a:lnTo>
                    <a:pt x="192" y="15"/>
                  </a:lnTo>
                  <a:lnTo>
                    <a:pt x="193" y="20"/>
                  </a:lnTo>
                  <a:lnTo>
                    <a:pt x="197" y="26"/>
                  </a:lnTo>
                  <a:lnTo>
                    <a:pt x="198" y="31"/>
                  </a:lnTo>
                  <a:lnTo>
                    <a:pt x="200" y="36"/>
                  </a:lnTo>
                  <a:lnTo>
                    <a:pt x="202" y="43"/>
                  </a:lnTo>
                  <a:lnTo>
                    <a:pt x="203" y="41"/>
                  </a:lnTo>
                  <a:close/>
                  <a:moveTo>
                    <a:pt x="0" y="83"/>
                  </a:moveTo>
                  <a:lnTo>
                    <a:pt x="1" y="89"/>
                  </a:lnTo>
                  <a:lnTo>
                    <a:pt x="3" y="94"/>
                  </a:lnTo>
                  <a:lnTo>
                    <a:pt x="5" y="99"/>
                  </a:lnTo>
                  <a:lnTo>
                    <a:pt x="8" y="106"/>
                  </a:lnTo>
                  <a:lnTo>
                    <a:pt x="10" y="111"/>
                  </a:lnTo>
                  <a:lnTo>
                    <a:pt x="13" y="116"/>
                  </a:lnTo>
                  <a:lnTo>
                    <a:pt x="16" y="119"/>
                  </a:lnTo>
                  <a:lnTo>
                    <a:pt x="20" y="124"/>
                  </a:lnTo>
                  <a:lnTo>
                    <a:pt x="21" y="122"/>
                  </a:lnTo>
                  <a:lnTo>
                    <a:pt x="18" y="119"/>
                  </a:lnTo>
                  <a:lnTo>
                    <a:pt x="16" y="114"/>
                  </a:lnTo>
                  <a:lnTo>
                    <a:pt x="13" y="109"/>
                  </a:lnTo>
                  <a:lnTo>
                    <a:pt x="10" y="104"/>
                  </a:lnTo>
                  <a:lnTo>
                    <a:pt x="8" y="99"/>
                  </a:lnTo>
                  <a:lnTo>
                    <a:pt x="6" y="92"/>
                  </a:lnTo>
                  <a:lnTo>
                    <a:pt x="5" y="88"/>
                  </a:lnTo>
                  <a:lnTo>
                    <a:pt x="3" y="83"/>
                  </a:lnTo>
                  <a:lnTo>
                    <a:pt x="0" y="83"/>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68" name="Freeform 610">
              <a:extLst>
                <a:ext uri="{FF2B5EF4-FFF2-40B4-BE49-F238E27FC236}">
                  <a16:creationId xmlns:a16="http://schemas.microsoft.com/office/drawing/2014/main" id="{4E8DDB1F-6A66-F316-D059-A3626AB48F0A}"/>
                </a:ext>
              </a:extLst>
            </p:cNvPr>
            <p:cNvSpPr>
              <a:spLocks noEditPoints="1"/>
            </p:cNvSpPr>
            <p:nvPr/>
          </p:nvSpPr>
          <p:spPr bwMode="auto">
            <a:xfrm>
              <a:off x="2116" y="1577"/>
              <a:ext cx="202" cy="124"/>
            </a:xfrm>
            <a:custGeom>
              <a:avLst/>
              <a:gdLst>
                <a:gd name="T0" fmla="*/ 202 w 202"/>
                <a:gd name="T1" fmla="*/ 41 h 124"/>
                <a:gd name="T2" fmla="*/ 201 w 202"/>
                <a:gd name="T3" fmla="*/ 36 h 124"/>
                <a:gd name="T4" fmla="*/ 199 w 202"/>
                <a:gd name="T5" fmla="*/ 30 h 124"/>
                <a:gd name="T6" fmla="*/ 197 w 202"/>
                <a:gd name="T7" fmla="*/ 25 h 124"/>
                <a:gd name="T8" fmla="*/ 194 w 202"/>
                <a:gd name="T9" fmla="*/ 20 h 124"/>
                <a:gd name="T10" fmla="*/ 192 w 202"/>
                <a:gd name="T11" fmla="*/ 15 h 124"/>
                <a:gd name="T12" fmla="*/ 189 w 202"/>
                <a:gd name="T13" fmla="*/ 10 h 124"/>
                <a:gd name="T14" fmla="*/ 186 w 202"/>
                <a:gd name="T15" fmla="*/ 5 h 124"/>
                <a:gd name="T16" fmla="*/ 182 w 202"/>
                <a:gd name="T17" fmla="*/ 0 h 124"/>
                <a:gd name="T18" fmla="*/ 179 w 202"/>
                <a:gd name="T19" fmla="*/ 1 h 124"/>
                <a:gd name="T20" fmla="*/ 182 w 202"/>
                <a:gd name="T21" fmla="*/ 6 h 124"/>
                <a:gd name="T22" fmla="*/ 186 w 202"/>
                <a:gd name="T23" fmla="*/ 11 h 124"/>
                <a:gd name="T24" fmla="*/ 189 w 202"/>
                <a:gd name="T25" fmla="*/ 16 h 124"/>
                <a:gd name="T26" fmla="*/ 191 w 202"/>
                <a:gd name="T27" fmla="*/ 21 h 124"/>
                <a:gd name="T28" fmla="*/ 194 w 202"/>
                <a:gd name="T29" fmla="*/ 26 h 124"/>
                <a:gd name="T30" fmla="*/ 196 w 202"/>
                <a:gd name="T31" fmla="*/ 31 h 124"/>
                <a:gd name="T32" fmla="*/ 197 w 202"/>
                <a:gd name="T33" fmla="*/ 38 h 124"/>
                <a:gd name="T34" fmla="*/ 199 w 202"/>
                <a:gd name="T35" fmla="*/ 43 h 124"/>
                <a:gd name="T36" fmla="*/ 202 w 202"/>
                <a:gd name="T37" fmla="*/ 41 h 124"/>
                <a:gd name="T38" fmla="*/ 0 w 202"/>
                <a:gd name="T39" fmla="*/ 83 h 124"/>
                <a:gd name="T40" fmla="*/ 2 w 202"/>
                <a:gd name="T41" fmla="*/ 88 h 124"/>
                <a:gd name="T42" fmla="*/ 4 w 202"/>
                <a:gd name="T43" fmla="*/ 94 h 124"/>
                <a:gd name="T44" fmla="*/ 5 w 202"/>
                <a:gd name="T45" fmla="*/ 99 h 124"/>
                <a:gd name="T46" fmla="*/ 7 w 202"/>
                <a:gd name="T47" fmla="*/ 104 h 124"/>
                <a:gd name="T48" fmla="*/ 10 w 202"/>
                <a:gd name="T49" fmla="*/ 109 h 124"/>
                <a:gd name="T50" fmla="*/ 14 w 202"/>
                <a:gd name="T51" fmla="*/ 114 h 124"/>
                <a:gd name="T52" fmla="*/ 15 w 202"/>
                <a:gd name="T53" fmla="*/ 119 h 124"/>
                <a:gd name="T54" fmla="*/ 19 w 202"/>
                <a:gd name="T55" fmla="*/ 124 h 124"/>
                <a:gd name="T56" fmla="*/ 22 w 202"/>
                <a:gd name="T57" fmla="*/ 122 h 124"/>
                <a:gd name="T58" fmla="*/ 19 w 202"/>
                <a:gd name="T59" fmla="*/ 117 h 124"/>
                <a:gd name="T60" fmla="*/ 15 w 202"/>
                <a:gd name="T61" fmla="*/ 112 h 124"/>
                <a:gd name="T62" fmla="*/ 14 w 202"/>
                <a:gd name="T63" fmla="*/ 107 h 124"/>
                <a:gd name="T64" fmla="*/ 10 w 202"/>
                <a:gd name="T65" fmla="*/ 102 h 124"/>
                <a:gd name="T66" fmla="*/ 9 w 202"/>
                <a:gd name="T67" fmla="*/ 97 h 124"/>
                <a:gd name="T68" fmla="*/ 7 w 202"/>
                <a:gd name="T69" fmla="*/ 92 h 124"/>
                <a:gd name="T70" fmla="*/ 5 w 202"/>
                <a:gd name="T71" fmla="*/ 88 h 124"/>
                <a:gd name="T72" fmla="*/ 4 w 202"/>
                <a:gd name="T73" fmla="*/ 81 h 124"/>
                <a:gd name="T74" fmla="*/ 0 w 202"/>
                <a:gd name="T75" fmla="*/ 83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02" h="124">
                  <a:moveTo>
                    <a:pt x="202" y="41"/>
                  </a:moveTo>
                  <a:lnTo>
                    <a:pt x="201" y="36"/>
                  </a:lnTo>
                  <a:lnTo>
                    <a:pt x="199" y="30"/>
                  </a:lnTo>
                  <a:lnTo>
                    <a:pt x="197" y="25"/>
                  </a:lnTo>
                  <a:lnTo>
                    <a:pt x="194" y="20"/>
                  </a:lnTo>
                  <a:lnTo>
                    <a:pt x="192" y="15"/>
                  </a:lnTo>
                  <a:lnTo>
                    <a:pt x="189" y="10"/>
                  </a:lnTo>
                  <a:lnTo>
                    <a:pt x="186" y="5"/>
                  </a:lnTo>
                  <a:lnTo>
                    <a:pt x="182" y="0"/>
                  </a:lnTo>
                  <a:lnTo>
                    <a:pt x="179" y="1"/>
                  </a:lnTo>
                  <a:lnTo>
                    <a:pt x="182" y="6"/>
                  </a:lnTo>
                  <a:lnTo>
                    <a:pt x="186" y="11"/>
                  </a:lnTo>
                  <a:lnTo>
                    <a:pt x="189" y="16"/>
                  </a:lnTo>
                  <a:lnTo>
                    <a:pt x="191" y="21"/>
                  </a:lnTo>
                  <a:lnTo>
                    <a:pt x="194" y="26"/>
                  </a:lnTo>
                  <a:lnTo>
                    <a:pt x="196" y="31"/>
                  </a:lnTo>
                  <a:lnTo>
                    <a:pt x="197" y="38"/>
                  </a:lnTo>
                  <a:lnTo>
                    <a:pt x="199" y="43"/>
                  </a:lnTo>
                  <a:lnTo>
                    <a:pt x="202" y="41"/>
                  </a:lnTo>
                  <a:close/>
                  <a:moveTo>
                    <a:pt x="0" y="83"/>
                  </a:moveTo>
                  <a:lnTo>
                    <a:pt x="2" y="88"/>
                  </a:lnTo>
                  <a:lnTo>
                    <a:pt x="4" y="94"/>
                  </a:lnTo>
                  <a:lnTo>
                    <a:pt x="5" y="99"/>
                  </a:lnTo>
                  <a:lnTo>
                    <a:pt x="7" y="104"/>
                  </a:lnTo>
                  <a:lnTo>
                    <a:pt x="10" y="109"/>
                  </a:lnTo>
                  <a:lnTo>
                    <a:pt x="14" y="114"/>
                  </a:lnTo>
                  <a:lnTo>
                    <a:pt x="15" y="119"/>
                  </a:lnTo>
                  <a:lnTo>
                    <a:pt x="19" y="124"/>
                  </a:lnTo>
                  <a:lnTo>
                    <a:pt x="22" y="122"/>
                  </a:lnTo>
                  <a:lnTo>
                    <a:pt x="19" y="117"/>
                  </a:lnTo>
                  <a:lnTo>
                    <a:pt x="15" y="112"/>
                  </a:lnTo>
                  <a:lnTo>
                    <a:pt x="14" y="107"/>
                  </a:lnTo>
                  <a:lnTo>
                    <a:pt x="10" y="102"/>
                  </a:lnTo>
                  <a:lnTo>
                    <a:pt x="9" y="97"/>
                  </a:lnTo>
                  <a:lnTo>
                    <a:pt x="7" y="92"/>
                  </a:lnTo>
                  <a:lnTo>
                    <a:pt x="5" y="88"/>
                  </a:lnTo>
                  <a:lnTo>
                    <a:pt x="4" y="81"/>
                  </a:lnTo>
                  <a:lnTo>
                    <a:pt x="0" y="83"/>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69" name="Freeform 611">
              <a:extLst>
                <a:ext uri="{FF2B5EF4-FFF2-40B4-BE49-F238E27FC236}">
                  <a16:creationId xmlns:a16="http://schemas.microsoft.com/office/drawing/2014/main" id="{079F2F46-19CB-6EC3-8473-5E503EC1F593}"/>
                </a:ext>
              </a:extLst>
            </p:cNvPr>
            <p:cNvSpPr>
              <a:spLocks noEditPoints="1"/>
            </p:cNvSpPr>
            <p:nvPr/>
          </p:nvSpPr>
          <p:spPr bwMode="auto">
            <a:xfrm>
              <a:off x="2118" y="1577"/>
              <a:ext cx="199" cy="122"/>
            </a:xfrm>
            <a:custGeom>
              <a:avLst/>
              <a:gdLst>
                <a:gd name="T0" fmla="*/ 199 w 199"/>
                <a:gd name="T1" fmla="*/ 43 h 122"/>
                <a:gd name="T2" fmla="*/ 197 w 199"/>
                <a:gd name="T3" fmla="*/ 36 h 122"/>
                <a:gd name="T4" fmla="*/ 195 w 199"/>
                <a:gd name="T5" fmla="*/ 31 h 122"/>
                <a:gd name="T6" fmla="*/ 194 w 199"/>
                <a:gd name="T7" fmla="*/ 26 h 122"/>
                <a:gd name="T8" fmla="*/ 190 w 199"/>
                <a:gd name="T9" fmla="*/ 20 h 122"/>
                <a:gd name="T10" fmla="*/ 189 w 199"/>
                <a:gd name="T11" fmla="*/ 15 h 122"/>
                <a:gd name="T12" fmla="*/ 185 w 199"/>
                <a:gd name="T13" fmla="*/ 10 h 122"/>
                <a:gd name="T14" fmla="*/ 182 w 199"/>
                <a:gd name="T15" fmla="*/ 5 h 122"/>
                <a:gd name="T16" fmla="*/ 179 w 199"/>
                <a:gd name="T17" fmla="*/ 0 h 122"/>
                <a:gd name="T18" fmla="*/ 175 w 199"/>
                <a:gd name="T19" fmla="*/ 1 h 122"/>
                <a:gd name="T20" fmla="*/ 179 w 199"/>
                <a:gd name="T21" fmla="*/ 6 h 122"/>
                <a:gd name="T22" fmla="*/ 182 w 199"/>
                <a:gd name="T23" fmla="*/ 11 h 122"/>
                <a:gd name="T24" fmla="*/ 185 w 199"/>
                <a:gd name="T25" fmla="*/ 16 h 122"/>
                <a:gd name="T26" fmla="*/ 189 w 199"/>
                <a:gd name="T27" fmla="*/ 21 h 122"/>
                <a:gd name="T28" fmla="*/ 190 w 199"/>
                <a:gd name="T29" fmla="*/ 26 h 122"/>
                <a:gd name="T30" fmla="*/ 192 w 199"/>
                <a:gd name="T31" fmla="*/ 33 h 122"/>
                <a:gd name="T32" fmla="*/ 194 w 199"/>
                <a:gd name="T33" fmla="*/ 38 h 122"/>
                <a:gd name="T34" fmla="*/ 195 w 199"/>
                <a:gd name="T35" fmla="*/ 44 h 122"/>
                <a:gd name="T36" fmla="*/ 199 w 199"/>
                <a:gd name="T37" fmla="*/ 43 h 122"/>
                <a:gd name="T38" fmla="*/ 0 w 199"/>
                <a:gd name="T39" fmla="*/ 83 h 122"/>
                <a:gd name="T40" fmla="*/ 2 w 199"/>
                <a:gd name="T41" fmla="*/ 88 h 122"/>
                <a:gd name="T42" fmla="*/ 3 w 199"/>
                <a:gd name="T43" fmla="*/ 92 h 122"/>
                <a:gd name="T44" fmla="*/ 5 w 199"/>
                <a:gd name="T45" fmla="*/ 99 h 122"/>
                <a:gd name="T46" fmla="*/ 7 w 199"/>
                <a:gd name="T47" fmla="*/ 104 h 122"/>
                <a:gd name="T48" fmla="*/ 10 w 199"/>
                <a:gd name="T49" fmla="*/ 109 h 122"/>
                <a:gd name="T50" fmla="*/ 13 w 199"/>
                <a:gd name="T51" fmla="*/ 114 h 122"/>
                <a:gd name="T52" fmla="*/ 15 w 199"/>
                <a:gd name="T53" fmla="*/ 119 h 122"/>
                <a:gd name="T54" fmla="*/ 18 w 199"/>
                <a:gd name="T55" fmla="*/ 122 h 122"/>
                <a:gd name="T56" fmla="*/ 21 w 199"/>
                <a:gd name="T57" fmla="*/ 121 h 122"/>
                <a:gd name="T58" fmla="*/ 18 w 199"/>
                <a:gd name="T59" fmla="*/ 117 h 122"/>
                <a:gd name="T60" fmla="*/ 15 w 199"/>
                <a:gd name="T61" fmla="*/ 112 h 122"/>
                <a:gd name="T62" fmla="*/ 13 w 199"/>
                <a:gd name="T63" fmla="*/ 107 h 122"/>
                <a:gd name="T64" fmla="*/ 10 w 199"/>
                <a:gd name="T65" fmla="*/ 102 h 122"/>
                <a:gd name="T66" fmla="*/ 8 w 199"/>
                <a:gd name="T67" fmla="*/ 97 h 122"/>
                <a:gd name="T68" fmla="*/ 7 w 199"/>
                <a:gd name="T69" fmla="*/ 92 h 122"/>
                <a:gd name="T70" fmla="*/ 5 w 199"/>
                <a:gd name="T71" fmla="*/ 86 h 122"/>
                <a:gd name="T72" fmla="*/ 3 w 199"/>
                <a:gd name="T73" fmla="*/ 81 h 122"/>
                <a:gd name="T74" fmla="*/ 0 w 199"/>
                <a:gd name="T75" fmla="*/ 8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9" h="122">
                  <a:moveTo>
                    <a:pt x="199" y="43"/>
                  </a:moveTo>
                  <a:lnTo>
                    <a:pt x="197" y="36"/>
                  </a:lnTo>
                  <a:lnTo>
                    <a:pt x="195" y="31"/>
                  </a:lnTo>
                  <a:lnTo>
                    <a:pt x="194" y="26"/>
                  </a:lnTo>
                  <a:lnTo>
                    <a:pt x="190" y="20"/>
                  </a:lnTo>
                  <a:lnTo>
                    <a:pt x="189" y="15"/>
                  </a:lnTo>
                  <a:lnTo>
                    <a:pt x="185" y="10"/>
                  </a:lnTo>
                  <a:lnTo>
                    <a:pt x="182" y="5"/>
                  </a:lnTo>
                  <a:lnTo>
                    <a:pt x="179" y="0"/>
                  </a:lnTo>
                  <a:lnTo>
                    <a:pt x="175" y="1"/>
                  </a:lnTo>
                  <a:lnTo>
                    <a:pt x="179" y="6"/>
                  </a:lnTo>
                  <a:lnTo>
                    <a:pt x="182" y="11"/>
                  </a:lnTo>
                  <a:lnTo>
                    <a:pt x="185" y="16"/>
                  </a:lnTo>
                  <a:lnTo>
                    <a:pt x="189" y="21"/>
                  </a:lnTo>
                  <a:lnTo>
                    <a:pt x="190" y="26"/>
                  </a:lnTo>
                  <a:lnTo>
                    <a:pt x="192" y="33"/>
                  </a:lnTo>
                  <a:lnTo>
                    <a:pt x="194" y="38"/>
                  </a:lnTo>
                  <a:lnTo>
                    <a:pt x="195" y="44"/>
                  </a:lnTo>
                  <a:lnTo>
                    <a:pt x="199" y="43"/>
                  </a:lnTo>
                  <a:close/>
                  <a:moveTo>
                    <a:pt x="0" y="83"/>
                  </a:moveTo>
                  <a:lnTo>
                    <a:pt x="2" y="88"/>
                  </a:lnTo>
                  <a:lnTo>
                    <a:pt x="3" y="92"/>
                  </a:lnTo>
                  <a:lnTo>
                    <a:pt x="5" y="99"/>
                  </a:lnTo>
                  <a:lnTo>
                    <a:pt x="7" y="104"/>
                  </a:lnTo>
                  <a:lnTo>
                    <a:pt x="10" y="109"/>
                  </a:lnTo>
                  <a:lnTo>
                    <a:pt x="13" y="114"/>
                  </a:lnTo>
                  <a:lnTo>
                    <a:pt x="15" y="119"/>
                  </a:lnTo>
                  <a:lnTo>
                    <a:pt x="18" y="122"/>
                  </a:lnTo>
                  <a:lnTo>
                    <a:pt x="21" y="121"/>
                  </a:lnTo>
                  <a:lnTo>
                    <a:pt x="18" y="117"/>
                  </a:lnTo>
                  <a:lnTo>
                    <a:pt x="15" y="112"/>
                  </a:lnTo>
                  <a:lnTo>
                    <a:pt x="13" y="107"/>
                  </a:lnTo>
                  <a:lnTo>
                    <a:pt x="10" y="102"/>
                  </a:lnTo>
                  <a:lnTo>
                    <a:pt x="8" y="97"/>
                  </a:lnTo>
                  <a:lnTo>
                    <a:pt x="7" y="92"/>
                  </a:lnTo>
                  <a:lnTo>
                    <a:pt x="5" y="86"/>
                  </a:lnTo>
                  <a:lnTo>
                    <a:pt x="3" y="81"/>
                  </a:lnTo>
                  <a:lnTo>
                    <a:pt x="0" y="83"/>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70" name="Freeform 612">
              <a:extLst>
                <a:ext uri="{FF2B5EF4-FFF2-40B4-BE49-F238E27FC236}">
                  <a16:creationId xmlns:a16="http://schemas.microsoft.com/office/drawing/2014/main" id="{22549969-B993-B6B3-C13B-F100C48D002D}"/>
                </a:ext>
              </a:extLst>
            </p:cNvPr>
            <p:cNvSpPr>
              <a:spLocks noEditPoints="1"/>
            </p:cNvSpPr>
            <p:nvPr/>
          </p:nvSpPr>
          <p:spPr bwMode="auto">
            <a:xfrm>
              <a:off x="2120" y="1578"/>
              <a:ext cx="195" cy="121"/>
            </a:xfrm>
            <a:custGeom>
              <a:avLst/>
              <a:gdLst>
                <a:gd name="T0" fmla="*/ 195 w 195"/>
                <a:gd name="T1" fmla="*/ 42 h 121"/>
                <a:gd name="T2" fmla="*/ 193 w 195"/>
                <a:gd name="T3" fmla="*/ 37 h 121"/>
                <a:gd name="T4" fmla="*/ 192 w 195"/>
                <a:gd name="T5" fmla="*/ 30 h 121"/>
                <a:gd name="T6" fmla="*/ 190 w 195"/>
                <a:gd name="T7" fmla="*/ 25 h 121"/>
                <a:gd name="T8" fmla="*/ 187 w 195"/>
                <a:gd name="T9" fmla="*/ 20 h 121"/>
                <a:gd name="T10" fmla="*/ 185 w 195"/>
                <a:gd name="T11" fmla="*/ 15 h 121"/>
                <a:gd name="T12" fmla="*/ 182 w 195"/>
                <a:gd name="T13" fmla="*/ 10 h 121"/>
                <a:gd name="T14" fmla="*/ 178 w 195"/>
                <a:gd name="T15" fmla="*/ 5 h 121"/>
                <a:gd name="T16" fmla="*/ 175 w 195"/>
                <a:gd name="T17" fmla="*/ 0 h 121"/>
                <a:gd name="T18" fmla="*/ 173 w 195"/>
                <a:gd name="T19" fmla="*/ 2 h 121"/>
                <a:gd name="T20" fmla="*/ 177 w 195"/>
                <a:gd name="T21" fmla="*/ 5 h 121"/>
                <a:gd name="T22" fmla="*/ 178 w 195"/>
                <a:gd name="T23" fmla="*/ 10 h 121"/>
                <a:gd name="T24" fmla="*/ 182 w 195"/>
                <a:gd name="T25" fmla="*/ 15 h 121"/>
                <a:gd name="T26" fmla="*/ 185 w 195"/>
                <a:gd name="T27" fmla="*/ 22 h 121"/>
                <a:gd name="T28" fmla="*/ 187 w 195"/>
                <a:gd name="T29" fmla="*/ 27 h 121"/>
                <a:gd name="T30" fmla="*/ 188 w 195"/>
                <a:gd name="T31" fmla="*/ 32 h 121"/>
                <a:gd name="T32" fmla="*/ 190 w 195"/>
                <a:gd name="T33" fmla="*/ 38 h 121"/>
                <a:gd name="T34" fmla="*/ 192 w 195"/>
                <a:gd name="T35" fmla="*/ 43 h 121"/>
                <a:gd name="T36" fmla="*/ 195 w 195"/>
                <a:gd name="T37" fmla="*/ 42 h 121"/>
                <a:gd name="T38" fmla="*/ 0 w 195"/>
                <a:gd name="T39" fmla="*/ 80 h 121"/>
                <a:gd name="T40" fmla="*/ 1 w 195"/>
                <a:gd name="T41" fmla="*/ 87 h 121"/>
                <a:gd name="T42" fmla="*/ 3 w 195"/>
                <a:gd name="T43" fmla="*/ 91 h 121"/>
                <a:gd name="T44" fmla="*/ 5 w 195"/>
                <a:gd name="T45" fmla="*/ 96 h 121"/>
                <a:gd name="T46" fmla="*/ 6 w 195"/>
                <a:gd name="T47" fmla="*/ 101 h 121"/>
                <a:gd name="T48" fmla="*/ 10 w 195"/>
                <a:gd name="T49" fmla="*/ 106 h 121"/>
                <a:gd name="T50" fmla="*/ 11 w 195"/>
                <a:gd name="T51" fmla="*/ 111 h 121"/>
                <a:gd name="T52" fmla="*/ 15 w 195"/>
                <a:gd name="T53" fmla="*/ 116 h 121"/>
                <a:gd name="T54" fmla="*/ 18 w 195"/>
                <a:gd name="T55" fmla="*/ 121 h 121"/>
                <a:gd name="T56" fmla="*/ 21 w 195"/>
                <a:gd name="T57" fmla="*/ 120 h 121"/>
                <a:gd name="T58" fmla="*/ 18 w 195"/>
                <a:gd name="T59" fmla="*/ 115 h 121"/>
                <a:gd name="T60" fmla="*/ 15 w 195"/>
                <a:gd name="T61" fmla="*/ 110 h 121"/>
                <a:gd name="T62" fmla="*/ 13 w 195"/>
                <a:gd name="T63" fmla="*/ 106 h 121"/>
                <a:gd name="T64" fmla="*/ 10 w 195"/>
                <a:gd name="T65" fmla="*/ 100 h 121"/>
                <a:gd name="T66" fmla="*/ 8 w 195"/>
                <a:gd name="T67" fmla="*/ 95 h 121"/>
                <a:gd name="T68" fmla="*/ 6 w 195"/>
                <a:gd name="T69" fmla="*/ 90 h 121"/>
                <a:gd name="T70" fmla="*/ 5 w 195"/>
                <a:gd name="T71" fmla="*/ 85 h 121"/>
                <a:gd name="T72" fmla="*/ 3 w 195"/>
                <a:gd name="T73" fmla="*/ 78 h 121"/>
                <a:gd name="T74" fmla="*/ 0 w 195"/>
                <a:gd name="T75" fmla="*/ 8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5" h="121">
                  <a:moveTo>
                    <a:pt x="195" y="42"/>
                  </a:moveTo>
                  <a:lnTo>
                    <a:pt x="193" y="37"/>
                  </a:lnTo>
                  <a:lnTo>
                    <a:pt x="192" y="30"/>
                  </a:lnTo>
                  <a:lnTo>
                    <a:pt x="190" y="25"/>
                  </a:lnTo>
                  <a:lnTo>
                    <a:pt x="187" y="20"/>
                  </a:lnTo>
                  <a:lnTo>
                    <a:pt x="185" y="15"/>
                  </a:lnTo>
                  <a:lnTo>
                    <a:pt x="182" y="10"/>
                  </a:lnTo>
                  <a:lnTo>
                    <a:pt x="178" y="5"/>
                  </a:lnTo>
                  <a:lnTo>
                    <a:pt x="175" y="0"/>
                  </a:lnTo>
                  <a:lnTo>
                    <a:pt x="173" y="2"/>
                  </a:lnTo>
                  <a:lnTo>
                    <a:pt x="177" y="5"/>
                  </a:lnTo>
                  <a:lnTo>
                    <a:pt x="178" y="10"/>
                  </a:lnTo>
                  <a:lnTo>
                    <a:pt x="182" y="15"/>
                  </a:lnTo>
                  <a:lnTo>
                    <a:pt x="185" y="22"/>
                  </a:lnTo>
                  <a:lnTo>
                    <a:pt x="187" y="27"/>
                  </a:lnTo>
                  <a:lnTo>
                    <a:pt x="188" y="32"/>
                  </a:lnTo>
                  <a:lnTo>
                    <a:pt x="190" y="38"/>
                  </a:lnTo>
                  <a:lnTo>
                    <a:pt x="192" y="43"/>
                  </a:lnTo>
                  <a:lnTo>
                    <a:pt x="195" y="42"/>
                  </a:lnTo>
                  <a:close/>
                  <a:moveTo>
                    <a:pt x="0" y="80"/>
                  </a:moveTo>
                  <a:lnTo>
                    <a:pt x="1" y="87"/>
                  </a:lnTo>
                  <a:lnTo>
                    <a:pt x="3" y="91"/>
                  </a:lnTo>
                  <a:lnTo>
                    <a:pt x="5" y="96"/>
                  </a:lnTo>
                  <a:lnTo>
                    <a:pt x="6" y="101"/>
                  </a:lnTo>
                  <a:lnTo>
                    <a:pt x="10" y="106"/>
                  </a:lnTo>
                  <a:lnTo>
                    <a:pt x="11" y="111"/>
                  </a:lnTo>
                  <a:lnTo>
                    <a:pt x="15" y="116"/>
                  </a:lnTo>
                  <a:lnTo>
                    <a:pt x="18" y="121"/>
                  </a:lnTo>
                  <a:lnTo>
                    <a:pt x="21" y="120"/>
                  </a:lnTo>
                  <a:lnTo>
                    <a:pt x="18" y="115"/>
                  </a:lnTo>
                  <a:lnTo>
                    <a:pt x="15" y="110"/>
                  </a:lnTo>
                  <a:lnTo>
                    <a:pt x="13" y="106"/>
                  </a:lnTo>
                  <a:lnTo>
                    <a:pt x="10" y="100"/>
                  </a:lnTo>
                  <a:lnTo>
                    <a:pt x="8" y="95"/>
                  </a:lnTo>
                  <a:lnTo>
                    <a:pt x="6" y="90"/>
                  </a:lnTo>
                  <a:lnTo>
                    <a:pt x="5" y="85"/>
                  </a:lnTo>
                  <a:lnTo>
                    <a:pt x="3" y="78"/>
                  </a:lnTo>
                  <a:lnTo>
                    <a:pt x="0" y="8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71" name="Freeform 613">
              <a:extLst>
                <a:ext uri="{FF2B5EF4-FFF2-40B4-BE49-F238E27FC236}">
                  <a16:creationId xmlns:a16="http://schemas.microsoft.com/office/drawing/2014/main" id="{689C9317-858F-59D5-A37D-2AB62BE674F4}"/>
                </a:ext>
              </a:extLst>
            </p:cNvPr>
            <p:cNvSpPr>
              <a:spLocks noEditPoints="1"/>
            </p:cNvSpPr>
            <p:nvPr/>
          </p:nvSpPr>
          <p:spPr bwMode="auto">
            <a:xfrm>
              <a:off x="2121" y="1578"/>
              <a:ext cx="192" cy="120"/>
            </a:xfrm>
            <a:custGeom>
              <a:avLst/>
              <a:gdLst>
                <a:gd name="T0" fmla="*/ 192 w 192"/>
                <a:gd name="T1" fmla="*/ 43 h 120"/>
                <a:gd name="T2" fmla="*/ 191 w 192"/>
                <a:gd name="T3" fmla="*/ 37 h 120"/>
                <a:gd name="T4" fmla="*/ 189 w 192"/>
                <a:gd name="T5" fmla="*/ 32 h 120"/>
                <a:gd name="T6" fmla="*/ 187 w 192"/>
                <a:gd name="T7" fmla="*/ 25 h 120"/>
                <a:gd name="T8" fmla="*/ 186 w 192"/>
                <a:gd name="T9" fmla="*/ 20 h 120"/>
                <a:gd name="T10" fmla="*/ 182 w 192"/>
                <a:gd name="T11" fmla="*/ 15 h 120"/>
                <a:gd name="T12" fmla="*/ 179 w 192"/>
                <a:gd name="T13" fmla="*/ 10 h 120"/>
                <a:gd name="T14" fmla="*/ 176 w 192"/>
                <a:gd name="T15" fmla="*/ 5 h 120"/>
                <a:gd name="T16" fmla="*/ 172 w 192"/>
                <a:gd name="T17" fmla="*/ 0 h 120"/>
                <a:gd name="T18" fmla="*/ 171 w 192"/>
                <a:gd name="T19" fmla="*/ 2 h 120"/>
                <a:gd name="T20" fmla="*/ 174 w 192"/>
                <a:gd name="T21" fmla="*/ 7 h 120"/>
                <a:gd name="T22" fmla="*/ 177 w 192"/>
                <a:gd name="T23" fmla="*/ 12 h 120"/>
                <a:gd name="T24" fmla="*/ 179 w 192"/>
                <a:gd name="T25" fmla="*/ 17 h 120"/>
                <a:gd name="T26" fmla="*/ 182 w 192"/>
                <a:gd name="T27" fmla="*/ 22 h 120"/>
                <a:gd name="T28" fmla="*/ 184 w 192"/>
                <a:gd name="T29" fmla="*/ 27 h 120"/>
                <a:gd name="T30" fmla="*/ 186 w 192"/>
                <a:gd name="T31" fmla="*/ 34 h 120"/>
                <a:gd name="T32" fmla="*/ 187 w 192"/>
                <a:gd name="T33" fmla="*/ 38 h 120"/>
                <a:gd name="T34" fmla="*/ 189 w 192"/>
                <a:gd name="T35" fmla="*/ 43 h 120"/>
                <a:gd name="T36" fmla="*/ 192 w 192"/>
                <a:gd name="T37" fmla="*/ 43 h 120"/>
                <a:gd name="T38" fmla="*/ 0 w 192"/>
                <a:gd name="T39" fmla="*/ 80 h 120"/>
                <a:gd name="T40" fmla="*/ 2 w 192"/>
                <a:gd name="T41" fmla="*/ 85 h 120"/>
                <a:gd name="T42" fmla="*/ 4 w 192"/>
                <a:gd name="T43" fmla="*/ 91 h 120"/>
                <a:gd name="T44" fmla="*/ 5 w 192"/>
                <a:gd name="T45" fmla="*/ 96 h 120"/>
                <a:gd name="T46" fmla="*/ 7 w 192"/>
                <a:gd name="T47" fmla="*/ 101 h 120"/>
                <a:gd name="T48" fmla="*/ 10 w 192"/>
                <a:gd name="T49" fmla="*/ 106 h 120"/>
                <a:gd name="T50" fmla="*/ 12 w 192"/>
                <a:gd name="T51" fmla="*/ 111 h 120"/>
                <a:gd name="T52" fmla="*/ 15 w 192"/>
                <a:gd name="T53" fmla="*/ 116 h 120"/>
                <a:gd name="T54" fmla="*/ 18 w 192"/>
                <a:gd name="T55" fmla="*/ 120 h 120"/>
                <a:gd name="T56" fmla="*/ 22 w 192"/>
                <a:gd name="T57" fmla="*/ 120 h 120"/>
                <a:gd name="T58" fmla="*/ 18 w 192"/>
                <a:gd name="T59" fmla="*/ 115 h 120"/>
                <a:gd name="T60" fmla="*/ 15 w 192"/>
                <a:gd name="T61" fmla="*/ 110 h 120"/>
                <a:gd name="T62" fmla="*/ 14 w 192"/>
                <a:gd name="T63" fmla="*/ 105 h 120"/>
                <a:gd name="T64" fmla="*/ 10 w 192"/>
                <a:gd name="T65" fmla="*/ 100 h 120"/>
                <a:gd name="T66" fmla="*/ 9 w 192"/>
                <a:gd name="T67" fmla="*/ 95 h 120"/>
                <a:gd name="T68" fmla="*/ 7 w 192"/>
                <a:gd name="T69" fmla="*/ 90 h 120"/>
                <a:gd name="T70" fmla="*/ 5 w 192"/>
                <a:gd name="T71" fmla="*/ 83 h 120"/>
                <a:gd name="T72" fmla="*/ 4 w 192"/>
                <a:gd name="T73" fmla="*/ 78 h 120"/>
                <a:gd name="T74" fmla="*/ 0 w 192"/>
                <a:gd name="T75" fmla="*/ 8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2" h="120">
                  <a:moveTo>
                    <a:pt x="192" y="43"/>
                  </a:moveTo>
                  <a:lnTo>
                    <a:pt x="191" y="37"/>
                  </a:lnTo>
                  <a:lnTo>
                    <a:pt x="189" y="32"/>
                  </a:lnTo>
                  <a:lnTo>
                    <a:pt x="187" y="25"/>
                  </a:lnTo>
                  <a:lnTo>
                    <a:pt x="186" y="20"/>
                  </a:lnTo>
                  <a:lnTo>
                    <a:pt x="182" y="15"/>
                  </a:lnTo>
                  <a:lnTo>
                    <a:pt x="179" y="10"/>
                  </a:lnTo>
                  <a:lnTo>
                    <a:pt x="176" y="5"/>
                  </a:lnTo>
                  <a:lnTo>
                    <a:pt x="172" y="0"/>
                  </a:lnTo>
                  <a:lnTo>
                    <a:pt x="171" y="2"/>
                  </a:lnTo>
                  <a:lnTo>
                    <a:pt x="174" y="7"/>
                  </a:lnTo>
                  <a:lnTo>
                    <a:pt x="177" y="12"/>
                  </a:lnTo>
                  <a:lnTo>
                    <a:pt x="179" y="17"/>
                  </a:lnTo>
                  <a:lnTo>
                    <a:pt x="182" y="22"/>
                  </a:lnTo>
                  <a:lnTo>
                    <a:pt x="184" y="27"/>
                  </a:lnTo>
                  <a:lnTo>
                    <a:pt x="186" y="34"/>
                  </a:lnTo>
                  <a:lnTo>
                    <a:pt x="187" y="38"/>
                  </a:lnTo>
                  <a:lnTo>
                    <a:pt x="189" y="43"/>
                  </a:lnTo>
                  <a:lnTo>
                    <a:pt x="192" y="43"/>
                  </a:lnTo>
                  <a:close/>
                  <a:moveTo>
                    <a:pt x="0" y="80"/>
                  </a:moveTo>
                  <a:lnTo>
                    <a:pt x="2" y="85"/>
                  </a:lnTo>
                  <a:lnTo>
                    <a:pt x="4" y="91"/>
                  </a:lnTo>
                  <a:lnTo>
                    <a:pt x="5" y="96"/>
                  </a:lnTo>
                  <a:lnTo>
                    <a:pt x="7" y="101"/>
                  </a:lnTo>
                  <a:lnTo>
                    <a:pt x="10" y="106"/>
                  </a:lnTo>
                  <a:lnTo>
                    <a:pt x="12" y="111"/>
                  </a:lnTo>
                  <a:lnTo>
                    <a:pt x="15" y="116"/>
                  </a:lnTo>
                  <a:lnTo>
                    <a:pt x="18" y="120"/>
                  </a:lnTo>
                  <a:lnTo>
                    <a:pt x="22" y="120"/>
                  </a:lnTo>
                  <a:lnTo>
                    <a:pt x="18" y="115"/>
                  </a:lnTo>
                  <a:lnTo>
                    <a:pt x="15" y="110"/>
                  </a:lnTo>
                  <a:lnTo>
                    <a:pt x="14" y="105"/>
                  </a:lnTo>
                  <a:lnTo>
                    <a:pt x="10" y="100"/>
                  </a:lnTo>
                  <a:lnTo>
                    <a:pt x="9" y="95"/>
                  </a:lnTo>
                  <a:lnTo>
                    <a:pt x="7" y="90"/>
                  </a:lnTo>
                  <a:lnTo>
                    <a:pt x="5" y="83"/>
                  </a:lnTo>
                  <a:lnTo>
                    <a:pt x="4" y="78"/>
                  </a:lnTo>
                  <a:lnTo>
                    <a:pt x="0" y="8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72" name="Freeform 614">
              <a:extLst>
                <a:ext uri="{FF2B5EF4-FFF2-40B4-BE49-F238E27FC236}">
                  <a16:creationId xmlns:a16="http://schemas.microsoft.com/office/drawing/2014/main" id="{88CD0CB6-1EC2-798B-5637-2C63AED3D5F3}"/>
                </a:ext>
              </a:extLst>
            </p:cNvPr>
            <p:cNvSpPr>
              <a:spLocks noEditPoints="1"/>
            </p:cNvSpPr>
            <p:nvPr/>
          </p:nvSpPr>
          <p:spPr bwMode="auto">
            <a:xfrm>
              <a:off x="2123" y="1580"/>
              <a:ext cx="189" cy="118"/>
            </a:xfrm>
            <a:custGeom>
              <a:avLst/>
              <a:gdLst>
                <a:gd name="T0" fmla="*/ 189 w 189"/>
                <a:gd name="T1" fmla="*/ 41 h 118"/>
                <a:gd name="T2" fmla="*/ 187 w 189"/>
                <a:gd name="T3" fmla="*/ 36 h 118"/>
                <a:gd name="T4" fmla="*/ 185 w 189"/>
                <a:gd name="T5" fmla="*/ 30 h 118"/>
                <a:gd name="T6" fmla="*/ 184 w 189"/>
                <a:gd name="T7" fmla="*/ 25 h 118"/>
                <a:gd name="T8" fmla="*/ 182 w 189"/>
                <a:gd name="T9" fmla="*/ 20 h 118"/>
                <a:gd name="T10" fmla="*/ 179 w 189"/>
                <a:gd name="T11" fmla="*/ 13 h 118"/>
                <a:gd name="T12" fmla="*/ 175 w 189"/>
                <a:gd name="T13" fmla="*/ 8 h 118"/>
                <a:gd name="T14" fmla="*/ 174 w 189"/>
                <a:gd name="T15" fmla="*/ 3 h 118"/>
                <a:gd name="T16" fmla="*/ 170 w 189"/>
                <a:gd name="T17" fmla="*/ 0 h 118"/>
                <a:gd name="T18" fmla="*/ 167 w 189"/>
                <a:gd name="T19" fmla="*/ 2 h 118"/>
                <a:gd name="T20" fmla="*/ 170 w 189"/>
                <a:gd name="T21" fmla="*/ 5 h 118"/>
                <a:gd name="T22" fmla="*/ 174 w 189"/>
                <a:gd name="T23" fmla="*/ 10 h 118"/>
                <a:gd name="T24" fmla="*/ 175 w 189"/>
                <a:gd name="T25" fmla="*/ 15 h 118"/>
                <a:gd name="T26" fmla="*/ 179 w 189"/>
                <a:gd name="T27" fmla="*/ 20 h 118"/>
                <a:gd name="T28" fmla="*/ 180 w 189"/>
                <a:gd name="T29" fmla="*/ 27 h 118"/>
                <a:gd name="T30" fmla="*/ 182 w 189"/>
                <a:gd name="T31" fmla="*/ 32 h 118"/>
                <a:gd name="T32" fmla="*/ 184 w 189"/>
                <a:gd name="T33" fmla="*/ 36 h 118"/>
                <a:gd name="T34" fmla="*/ 185 w 189"/>
                <a:gd name="T35" fmla="*/ 43 h 118"/>
                <a:gd name="T36" fmla="*/ 189 w 189"/>
                <a:gd name="T37" fmla="*/ 41 h 118"/>
                <a:gd name="T38" fmla="*/ 0 w 189"/>
                <a:gd name="T39" fmla="*/ 76 h 118"/>
                <a:gd name="T40" fmla="*/ 2 w 189"/>
                <a:gd name="T41" fmla="*/ 83 h 118"/>
                <a:gd name="T42" fmla="*/ 3 w 189"/>
                <a:gd name="T43" fmla="*/ 88 h 118"/>
                <a:gd name="T44" fmla="*/ 5 w 189"/>
                <a:gd name="T45" fmla="*/ 93 h 118"/>
                <a:gd name="T46" fmla="*/ 7 w 189"/>
                <a:gd name="T47" fmla="*/ 98 h 118"/>
                <a:gd name="T48" fmla="*/ 10 w 189"/>
                <a:gd name="T49" fmla="*/ 104 h 118"/>
                <a:gd name="T50" fmla="*/ 12 w 189"/>
                <a:gd name="T51" fmla="*/ 108 h 118"/>
                <a:gd name="T52" fmla="*/ 15 w 189"/>
                <a:gd name="T53" fmla="*/ 113 h 118"/>
                <a:gd name="T54" fmla="*/ 18 w 189"/>
                <a:gd name="T55" fmla="*/ 118 h 118"/>
                <a:gd name="T56" fmla="*/ 21 w 189"/>
                <a:gd name="T57" fmla="*/ 116 h 118"/>
                <a:gd name="T58" fmla="*/ 18 w 189"/>
                <a:gd name="T59" fmla="*/ 113 h 118"/>
                <a:gd name="T60" fmla="*/ 15 w 189"/>
                <a:gd name="T61" fmla="*/ 108 h 118"/>
                <a:gd name="T62" fmla="*/ 12 w 189"/>
                <a:gd name="T63" fmla="*/ 103 h 118"/>
                <a:gd name="T64" fmla="*/ 10 w 189"/>
                <a:gd name="T65" fmla="*/ 98 h 118"/>
                <a:gd name="T66" fmla="*/ 8 w 189"/>
                <a:gd name="T67" fmla="*/ 93 h 118"/>
                <a:gd name="T68" fmla="*/ 5 w 189"/>
                <a:gd name="T69" fmla="*/ 86 h 118"/>
                <a:gd name="T70" fmla="*/ 3 w 189"/>
                <a:gd name="T71" fmla="*/ 81 h 118"/>
                <a:gd name="T72" fmla="*/ 3 w 189"/>
                <a:gd name="T73" fmla="*/ 75 h 118"/>
                <a:gd name="T74" fmla="*/ 0 w 189"/>
                <a:gd name="T75" fmla="*/ 7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89" h="118">
                  <a:moveTo>
                    <a:pt x="189" y="41"/>
                  </a:moveTo>
                  <a:lnTo>
                    <a:pt x="187" y="36"/>
                  </a:lnTo>
                  <a:lnTo>
                    <a:pt x="185" y="30"/>
                  </a:lnTo>
                  <a:lnTo>
                    <a:pt x="184" y="25"/>
                  </a:lnTo>
                  <a:lnTo>
                    <a:pt x="182" y="20"/>
                  </a:lnTo>
                  <a:lnTo>
                    <a:pt x="179" y="13"/>
                  </a:lnTo>
                  <a:lnTo>
                    <a:pt x="175" y="8"/>
                  </a:lnTo>
                  <a:lnTo>
                    <a:pt x="174" y="3"/>
                  </a:lnTo>
                  <a:lnTo>
                    <a:pt x="170" y="0"/>
                  </a:lnTo>
                  <a:lnTo>
                    <a:pt x="167" y="2"/>
                  </a:lnTo>
                  <a:lnTo>
                    <a:pt x="170" y="5"/>
                  </a:lnTo>
                  <a:lnTo>
                    <a:pt x="174" y="10"/>
                  </a:lnTo>
                  <a:lnTo>
                    <a:pt x="175" y="15"/>
                  </a:lnTo>
                  <a:lnTo>
                    <a:pt x="179" y="20"/>
                  </a:lnTo>
                  <a:lnTo>
                    <a:pt x="180" y="27"/>
                  </a:lnTo>
                  <a:lnTo>
                    <a:pt x="182" y="32"/>
                  </a:lnTo>
                  <a:lnTo>
                    <a:pt x="184" y="36"/>
                  </a:lnTo>
                  <a:lnTo>
                    <a:pt x="185" y="43"/>
                  </a:lnTo>
                  <a:lnTo>
                    <a:pt x="189" y="41"/>
                  </a:lnTo>
                  <a:close/>
                  <a:moveTo>
                    <a:pt x="0" y="76"/>
                  </a:moveTo>
                  <a:lnTo>
                    <a:pt x="2" y="83"/>
                  </a:lnTo>
                  <a:lnTo>
                    <a:pt x="3" y="88"/>
                  </a:lnTo>
                  <a:lnTo>
                    <a:pt x="5" y="93"/>
                  </a:lnTo>
                  <a:lnTo>
                    <a:pt x="7" y="98"/>
                  </a:lnTo>
                  <a:lnTo>
                    <a:pt x="10" y="104"/>
                  </a:lnTo>
                  <a:lnTo>
                    <a:pt x="12" y="108"/>
                  </a:lnTo>
                  <a:lnTo>
                    <a:pt x="15" y="113"/>
                  </a:lnTo>
                  <a:lnTo>
                    <a:pt x="18" y="118"/>
                  </a:lnTo>
                  <a:lnTo>
                    <a:pt x="21" y="116"/>
                  </a:lnTo>
                  <a:lnTo>
                    <a:pt x="18" y="113"/>
                  </a:lnTo>
                  <a:lnTo>
                    <a:pt x="15" y="108"/>
                  </a:lnTo>
                  <a:lnTo>
                    <a:pt x="12" y="103"/>
                  </a:lnTo>
                  <a:lnTo>
                    <a:pt x="10" y="98"/>
                  </a:lnTo>
                  <a:lnTo>
                    <a:pt x="8" y="93"/>
                  </a:lnTo>
                  <a:lnTo>
                    <a:pt x="5" y="86"/>
                  </a:lnTo>
                  <a:lnTo>
                    <a:pt x="3" y="81"/>
                  </a:lnTo>
                  <a:lnTo>
                    <a:pt x="3" y="75"/>
                  </a:lnTo>
                  <a:lnTo>
                    <a:pt x="0" y="76"/>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73" name="Freeform 615">
              <a:extLst>
                <a:ext uri="{FF2B5EF4-FFF2-40B4-BE49-F238E27FC236}">
                  <a16:creationId xmlns:a16="http://schemas.microsoft.com/office/drawing/2014/main" id="{B51C21A5-4B76-FEFC-E659-32901984FA94}"/>
                </a:ext>
              </a:extLst>
            </p:cNvPr>
            <p:cNvSpPr>
              <a:spLocks noEditPoints="1"/>
            </p:cNvSpPr>
            <p:nvPr/>
          </p:nvSpPr>
          <p:spPr bwMode="auto">
            <a:xfrm>
              <a:off x="2125" y="1580"/>
              <a:ext cx="185" cy="118"/>
            </a:xfrm>
            <a:custGeom>
              <a:avLst/>
              <a:gdLst>
                <a:gd name="T0" fmla="*/ 185 w 185"/>
                <a:gd name="T1" fmla="*/ 41 h 118"/>
                <a:gd name="T2" fmla="*/ 183 w 185"/>
                <a:gd name="T3" fmla="*/ 36 h 118"/>
                <a:gd name="T4" fmla="*/ 182 w 185"/>
                <a:gd name="T5" fmla="*/ 32 h 118"/>
                <a:gd name="T6" fmla="*/ 180 w 185"/>
                <a:gd name="T7" fmla="*/ 25 h 118"/>
                <a:gd name="T8" fmla="*/ 178 w 185"/>
                <a:gd name="T9" fmla="*/ 20 h 118"/>
                <a:gd name="T10" fmla="*/ 175 w 185"/>
                <a:gd name="T11" fmla="*/ 15 h 118"/>
                <a:gd name="T12" fmla="*/ 173 w 185"/>
                <a:gd name="T13" fmla="*/ 10 h 118"/>
                <a:gd name="T14" fmla="*/ 170 w 185"/>
                <a:gd name="T15" fmla="*/ 5 h 118"/>
                <a:gd name="T16" fmla="*/ 167 w 185"/>
                <a:gd name="T17" fmla="*/ 0 h 118"/>
                <a:gd name="T18" fmla="*/ 164 w 185"/>
                <a:gd name="T19" fmla="*/ 2 h 118"/>
                <a:gd name="T20" fmla="*/ 167 w 185"/>
                <a:gd name="T21" fmla="*/ 7 h 118"/>
                <a:gd name="T22" fmla="*/ 170 w 185"/>
                <a:gd name="T23" fmla="*/ 12 h 118"/>
                <a:gd name="T24" fmla="*/ 172 w 185"/>
                <a:gd name="T25" fmla="*/ 17 h 118"/>
                <a:gd name="T26" fmla="*/ 175 w 185"/>
                <a:gd name="T27" fmla="*/ 22 h 118"/>
                <a:gd name="T28" fmla="*/ 177 w 185"/>
                <a:gd name="T29" fmla="*/ 27 h 118"/>
                <a:gd name="T30" fmla="*/ 178 w 185"/>
                <a:gd name="T31" fmla="*/ 32 h 118"/>
                <a:gd name="T32" fmla="*/ 180 w 185"/>
                <a:gd name="T33" fmla="*/ 38 h 118"/>
                <a:gd name="T34" fmla="*/ 182 w 185"/>
                <a:gd name="T35" fmla="*/ 43 h 118"/>
                <a:gd name="T36" fmla="*/ 185 w 185"/>
                <a:gd name="T37" fmla="*/ 41 h 118"/>
                <a:gd name="T38" fmla="*/ 0 w 185"/>
                <a:gd name="T39" fmla="*/ 76 h 118"/>
                <a:gd name="T40" fmla="*/ 1 w 185"/>
                <a:gd name="T41" fmla="*/ 81 h 118"/>
                <a:gd name="T42" fmla="*/ 3 w 185"/>
                <a:gd name="T43" fmla="*/ 88 h 118"/>
                <a:gd name="T44" fmla="*/ 5 w 185"/>
                <a:gd name="T45" fmla="*/ 93 h 118"/>
                <a:gd name="T46" fmla="*/ 6 w 185"/>
                <a:gd name="T47" fmla="*/ 98 h 118"/>
                <a:gd name="T48" fmla="*/ 10 w 185"/>
                <a:gd name="T49" fmla="*/ 103 h 118"/>
                <a:gd name="T50" fmla="*/ 11 w 185"/>
                <a:gd name="T51" fmla="*/ 108 h 118"/>
                <a:gd name="T52" fmla="*/ 14 w 185"/>
                <a:gd name="T53" fmla="*/ 113 h 118"/>
                <a:gd name="T54" fmla="*/ 18 w 185"/>
                <a:gd name="T55" fmla="*/ 118 h 118"/>
                <a:gd name="T56" fmla="*/ 21 w 185"/>
                <a:gd name="T57" fmla="*/ 116 h 118"/>
                <a:gd name="T58" fmla="*/ 18 w 185"/>
                <a:gd name="T59" fmla="*/ 111 h 118"/>
                <a:gd name="T60" fmla="*/ 14 w 185"/>
                <a:gd name="T61" fmla="*/ 106 h 118"/>
                <a:gd name="T62" fmla="*/ 11 w 185"/>
                <a:gd name="T63" fmla="*/ 101 h 118"/>
                <a:gd name="T64" fmla="*/ 10 w 185"/>
                <a:gd name="T65" fmla="*/ 96 h 118"/>
                <a:gd name="T66" fmla="*/ 6 w 185"/>
                <a:gd name="T67" fmla="*/ 91 h 118"/>
                <a:gd name="T68" fmla="*/ 5 w 185"/>
                <a:gd name="T69" fmla="*/ 86 h 118"/>
                <a:gd name="T70" fmla="*/ 3 w 185"/>
                <a:gd name="T71" fmla="*/ 81 h 118"/>
                <a:gd name="T72" fmla="*/ 3 w 185"/>
                <a:gd name="T73" fmla="*/ 75 h 118"/>
                <a:gd name="T74" fmla="*/ 0 w 185"/>
                <a:gd name="T75" fmla="*/ 7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85" h="118">
                  <a:moveTo>
                    <a:pt x="185" y="41"/>
                  </a:moveTo>
                  <a:lnTo>
                    <a:pt x="183" y="36"/>
                  </a:lnTo>
                  <a:lnTo>
                    <a:pt x="182" y="32"/>
                  </a:lnTo>
                  <a:lnTo>
                    <a:pt x="180" y="25"/>
                  </a:lnTo>
                  <a:lnTo>
                    <a:pt x="178" y="20"/>
                  </a:lnTo>
                  <a:lnTo>
                    <a:pt x="175" y="15"/>
                  </a:lnTo>
                  <a:lnTo>
                    <a:pt x="173" y="10"/>
                  </a:lnTo>
                  <a:lnTo>
                    <a:pt x="170" y="5"/>
                  </a:lnTo>
                  <a:lnTo>
                    <a:pt x="167" y="0"/>
                  </a:lnTo>
                  <a:lnTo>
                    <a:pt x="164" y="2"/>
                  </a:lnTo>
                  <a:lnTo>
                    <a:pt x="167" y="7"/>
                  </a:lnTo>
                  <a:lnTo>
                    <a:pt x="170" y="12"/>
                  </a:lnTo>
                  <a:lnTo>
                    <a:pt x="172" y="17"/>
                  </a:lnTo>
                  <a:lnTo>
                    <a:pt x="175" y="22"/>
                  </a:lnTo>
                  <a:lnTo>
                    <a:pt x="177" y="27"/>
                  </a:lnTo>
                  <a:lnTo>
                    <a:pt x="178" y="32"/>
                  </a:lnTo>
                  <a:lnTo>
                    <a:pt x="180" y="38"/>
                  </a:lnTo>
                  <a:lnTo>
                    <a:pt x="182" y="43"/>
                  </a:lnTo>
                  <a:lnTo>
                    <a:pt x="185" y="41"/>
                  </a:lnTo>
                  <a:close/>
                  <a:moveTo>
                    <a:pt x="0" y="76"/>
                  </a:moveTo>
                  <a:lnTo>
                    <a:pt x="1" y="81"/>
                  </a:lnTo>
                  <a:lnTo>
                    <a:pt x="3" y="88"/>
                  </a:lnTo>
                  <a:lnTo>
                    <a:pt x="5" y="93"/>
                  </a:lnTo>
                  <a:lnTo>
                    <a:pt x="6" y="98"/>
                  </a:lnTo>
                  <a:lnTo>
                    <a:pt x="10" y="103"/>
                  </a:lnTo>
                  <a:lnTo>
                    <a:pt x="11" y="108"/>
                  </a:lnTo>
                  <a:lnTo>
                    <a:pt x="14" y="113"/>
                  </a:lnTo>
                  <a:lnTo>
                    <a:pt x="18" y="118"/>
                  </a:lnTo>
                  <a:lnTo>
                    <a:pt x="21" y="116"/>
                  </a:lnTo>
                  <a:lnTo>
                    <a:pt x="18" y="111"/>
                  </a:lnTo>
                  <a:lnTo>
                    <a:pt x="14" y="106"/>
                  </a:lnTo>
                  <a:lnTo>
                    <a:pt x="11" y="101"/>
                  </a:lnTo>
                  <a:lnTo>
                    <a:pt x="10" y="96"/>
                  </a:lnTo>
                  <a:lnTo>
                    <a:pt x="6" y="91"/>
                  </a:lnTo>
                  <a:lnTo>
                    <a:pt x="5" y="86"/>
                  </a:lnTo>
                  <a:lnTo>
                    <a:pt x="3" y="81"/>
                  </a:lnTo>
                  <a:lnTo>
                    <a:pt x="3" y="75"/>
                  </a:lnTo>
                  <a:lnTo>
                    <a:pt x="0" y="76"/>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74" name="Freeform 616">
              <a:extLst>
                <a:ext uri="{FF2B5EF4-FFF2-40B4-BE49-F238E27FC236}">
                  <a16:creationId xmlns:a16="http://schemas.microsoft.com/office/drawing/2014/main" id="{311777AA-4785-3409-9211-813D05C93169}"/>
                </a:ext>
              </a:extLst>
            </p:cNvPr>
            <p:cNvSpPr>
              <a:spLocks noEditPoints="1"/>
            </p:cNvSpPr>
            <p:nvPr/>
          </p:nvSpPr>
          <p:spPr bwMode="auto">
            <a:xfrm>
              <a:off x="2126" y="1582"/>
              <a:ext cx="182" cy="114"/>
            </a:xfrm>
            <a:custGeom>
              <a:avLst/>
              <a:gdLst>
                <a:gd name="T0" fmla="*/ 182 w 182"/>
                <a:gd name="T1" fmla="*/ 41 h 114"/>
                <a:gd name="T2" fmla="*/ 181 w 182"/>
                <a:gd name="T3" fmla="*/ 34 h 114"/>
                <a:gd name="T4" fmla="*/ 179 w 182"/>
                <a:gd name="T5" fmla="*/ 30 h 114"/>
                <a:gd name="T6" fmla="*/ 177 w 182"/>
                <a:gd name="T7" fmla="*/ 25 h 114"/>
                <a:gd name="T8" fmla="*/ 176 w 182"/>
                <a:gd name="T9" fmla="*/ 18 h 114"/>
                <a:gd name="T10" fmla="*/ 172 w 182"/>
                <a:gd name="T11" fmla="*/ 13 h 114"/>
                <a:gd name="T12" fmla="*/ 171 w 182"/>
                <a:gd name="T13" fmla="*/ 8 h 114"/>
                <a:gd name="T14" fmla="*/ 167 w 182"/>
                <a:gd name="T15" fmla="*/ 3 h 114"/>
                <a:gd name="T16" fmla="*/ 164 w 182"/>
                <a:gd name="T17" fmla="*/ 0 h 114"/>
                <a:gd name="T18" fmla="*/ 161 w 182"/>
                <a:gd name="T19" fmla="*/ 0 h 114"/>
                <a:gd name="T20" fmla="*/ 164 w 182"/>
                <a:gd name="T21" fmla="*/ 5 h 114"/>
                <a:gd name="T22" fmla="*/ 167 w 182"/>
                <a:gd name="T23" fmla="*/ 10 h 114"/>
                <a:gd name="T24" fmla="*/ 169 w 182"/>
                <a:gd name="T25" fmla="*/ 15 h 114"/>
                <a:gd name="T26" fmla="*/ 172 w 182"/>
                <a:gd name="T27" fmla="*/ 20 h 114"/>
                <a:gd name="T28" fmla="*/ 174 w 182"/>
                <a:gd name="T29" fmla="*/ 25 h 114"/>
                <a:gd name="T30" fmla="*/ 176 w 182"/>
                <a:gd name="T31" fmla="*/ 31 h 114"/>
                <a:gd name="T32" fmla="*/ 177 w 182"/>
                <a:gd name="T33" fmla="*/ 36 h 114"/>
                <a:gd name="T34" fmla="*/ 179 w 182"/>
                <a:gd name="T35" fmla="*/ 43 h 114"/>
                <a:gd name="T36" fmla="*/ 182 w 182"/>
                <a:gd name="T37" fmla="*/ 41 h 114"/>
                <a:gd name="T38" fmla="*/ 0 w 182"/>
                <a:gd name="T39" fmla="*/ 73 h 114"/>
                <a:gd name="T40" fmla="*/ 0 w 182"/>
                <a:gd name="T41" fmla="*/ 79 h 114"/>
                <a:gd name="T42" fmla="*/ 2 w 182"/>
                <a:gd name="T43" fmla="*/ 84 h 114"/>
                <a:gd name="T44" fmla="*/ 5 w 182"/>
                <a:gd name="T45" fmla="*/ 91 h 114"/>
                <a:gd name="T46" fmla="*/ 7 w 182"/>
                <a:gd name="T47" fmla="*/ 96 h 114"/>
                <a:gd name="T48" fmla="*/ 9 w 182"/>
                <a:gd name="T49" fmla="*/ 101 h 114"/>
                <a:gd name="T50" fmla="*/ 12 w 182"/>
                <a:gd name="T51" fmla="*/ 106 h 114"/>
                <a:gd name="T52" fmla="*/ 15 w 182"/>
                <a:gd name="T53" fmla="*/ 111 h 114"/>
                <a:gd name="T54" fmla="*/ 18 w 182"/>
                <a:gd name="T55" fmla="*/ 114 h 114"/>
                <a:gd name="T56" fmla="*/ 22 w 182"/>
                <a:gd name="T57" fmla="*/ 112 h 114"/>
                <a:gd name="T58" fmla="*/ 18 w 182"/>
                <a:gd name="T59" fmla="*/ 109 h 114"/>
                <a:gd name="T60" fmla="*/ 15 w 182"/>
                <a:gd name="T61" fmla="*/ 104 h 114"/>
                <a:gd name="T62" fmla="*/ 12 w 182"/>
                <a:gd name="T63" fmla="*/ 99 h 114"/>
                <a:gd name="T64" fmla="*/ 10 w 182"/>
                <a:gd name="T65" fmla="*/ 94 h 114"/>
                <a:gd name="T66" fmla="*/ 7 w 182"/>
                <a:gd name="T67" fmla="*/ 89 h 114"/>
                <a:gd name="T68" fmla="*/ 5 w 182"/>
                <a:gd name="T69" fmla="*/ 83 h 114"/>
                <a:gd name="T70" fmla="*/ 4 w 182"/>
                <a:gd name="T71" fmla="*/ 78 h 114"/>
                <a:gd name="T72" fmla="*/ 4 w 182"/>
                <a:gd name="T73" fmla="*/ 73 h 114"/>
                <a:gd name="T74" fmla="*/ 0 w 182"/>
                <a:gd name="T75" fmla="*/ 73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82" h="114">
                  <a:moveTo>
                    <a:pt x="182" y="41"/>
                  </a:moveTo>
                  <a:lnTo>
                    <a:pt x="181" y="34"/>
                  </a:lnTo>
                  <a:lnTo>
                    <a:pt x="179" y="30"/>
                  </a:lnTo>
                  <a:lnTo>
                    <a:pt x="177" y="25"/>
                  </a:lnTo>
                  <a:lnTo>
                    <a:pt x="176" y="18"/>
                  </a:lnTo>
                  <a:lnTo>
                    <a:pt x="172" y="13"/>
                  </a:lnTo>
                  <a:lnTo>
                    <a:pt x="171" y="8"/>
                  </a:lnTo>
                  <a:lnTo>
                    <a:pt x="167" y="3"/>
                  </a:lnTo>
                  <a:lnTo>
                    <a:pt x="164" y="0"/>
                  </a:lnTo>
                  <a:lnTo>
                    <a:pt x="161" y="0"/>
                  </a:lnTo>
                  <a:lnTo>
                    <a:pt x="164" y="5"/>
                  </a:lnTo>
                  <a:lnTo>
                    <a:pt x="167" y="10"/>
                  </a:lnTo>
                  <a:lnTo>
                    <a:pt x="169" y="15"/>
                  </a:lnTo>
                  <a:lnTo>
                    <a:pt x="172" y="20"/>
                  </a:lnTo>
                  <a:lnTo>
                    <a:pt x="174" y="25"/>
                  </a:lnTo>
                  <a:lnTo>
                    <a:pt x="176" y="31"/>
                  </a:lnTo>
                  <a:lnTo>
                    <a:pt x="177" y="36"/>
                  </a:lnTo>
                  <a:lnTo>
                    <a:pt x="179" y="43"/>
                  </a:lnTo>
                  <a:lnTo>
                    <a:pt x="182" y="41"/>
                  </a:lnTo>
                  <a:close/>
                  <a:moveTo>
                    <a:pt x="0" y="73"/>
                  </a:moveTo>
                  <a:lnTo>
                    <a:pt x="0" y="79"/>
                  </a:lnTo>
                  <a:lnTo>
                    <a:pt x="2" y="84"/>
                  </a:lnTo>
                  <a:lnTo>
                    <a:pt x="5" y="91"/>
                  </a:lnTo>
                  <a:lnTo>
                    <a:pt x="7" y="96"/>
                  </a:lnTo>
                  <a:lnTo>
                    <a:pt x="9" y="101"/>
                  </a:lnTo>
                  <a:lnTo>
                    <a:pt x="12" y="106"/>
                  </a:lnTo>
                  <a:lnTo>
                    <a:pt x="15" y="111"/>
                  </a:lnTo>
                  <a:lnTo>
                    <a:pt x="18" y="114"/>
                  </a:lnTo>
                  <a:lnTo>
                    <a:pt x="22" y="112"/>
                  </a:lnTo>
                  <a:lnTo>
                    <a:pt x="18" y="109"/>
                  </a:lnTo>
                  <a:lnTo>
                    <a:pt x="15" y="104"/>
                  </a:lnTo>
                  <a:lnTo>
                    <a:pt x="12" y="99"/>
                  </a:lnTo>
                  <a:lnTo>
                    <a:pt x="10" y="94"/>
                  </a:lnTo>
                  <a:lnTo>
                    <a:pt x="7" y="89"/>
                  </a:lnTo>
                  <a:lnTo>
                    <a:pt x="5" y="83"/>
                  </a:lnTo>
                  <a:lnTo>
                    <a:pt x="4" y="78"/>
                  </a:lnTo>
                  <a:lnTo>
                    <a:pt x="4" y="73"/>
                  </a:lnTo>
                  <a:lnTo>
                    <a:pt x="0" y="73"/>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75" name="Freeform 617">
              <a:extLst>
                <a:ext uri="{FF2B5EF4-FFF2-40B4-BE49-F238E27FC236}">
                  <a16:creationId xmlns:a16="http://schemas.microsoft.com/office/drawing/2014/main" id="{02689030-3A64-247E-E18E-DF82D22D6F29}"/>
                </a:ext>
              </a:extLst>
            </p:cNvPr>
            <p:cNvSpPr>
              <a:spLocks noEditPoints="1"/>
            </p:cNvSpPr>
            <p:nvPr/>
          </p:nvSpPr>
          <p:spPr bwMode="auto">
            <a:xfrm>
              <a:off x="2128" y="1582"/>
              <a:ext cx="179" cy="114"/>
            </a:xfrm>
            <a:custGeom>
              <a:avLst/>
              <a:gdLst>
                <a:gd name="T0" fmla="*/ 179 w 179"/>
                <a:gd name="T1" fmla="*/ 41 h 114"/>
                <a:gd name="T2" fmla="*/ 177 w 179"/>
                <a:gd name="T3" fmla="*/ 36 h 114"/>
                <a:gd name="T4" fmla="*/ 175 w 179"/>
                <a:gd name="T5" fmla="*/ 30 h 114"/>
                <a:gd name="T6" fmla="*/ 174 w 179"/>
                <a:gd name="T7" fmla="*/ 25 h 114"/>
                <a:gd name="T8" fmla="*/ 172 w 179"/>
                <a:gd name="T9" fmla="*/ 20 h 114"/>
                <a:gd name="T10" fmla="*/ 169 w 179"/>
                <a:gd name="T11" fmla="*/ 15 h 114"/>
                <a:gd name="T12" fmla="*/ 167 w 179"/>
                <a:gd name="T13" fmla="*/ 10 h 114"/>
                <a:gd name="T14" fmla="*/ 164 w 179"/>
                <a:gd name="T15" fmla="*/ 5 h 114"/>
                <a:gd name="T16" fmla="*/ 161 w 179"/>
                <a:gd name="T17" fmla="*/ 0 h 114"/>
                <a:gd name="T18" fmla="*/ 157 w 179"/>
                <a:gd name="T19" fmla="*/ 1 h 114"/>
                <a:gd name="T20" fmla="*/ 161 w 179"/>
                <a:gd name="T21" fmla="*/ 6 h 114"/>
                <a:gd name="T22" fmla="*/ 164 w 179"/>
                <a:gd name="T23" fmla="*/ 10 h 114"/>
                <a:gd name="T24" fmla="*/ 167 w 179"/>
                <a:gd name="T25" fmla="*/ 15 h 114"/>
                <a:gd name="T26" fmla="*/ 169 w 179"/>
                <a:gd name="T27" fmla="*/ 21 h 114"/>
                <a:gd name="T28" fmla="*/ 170 w 179"/>
                <a:gd name="T29" fmla="*/ 26 h 114"/>
                <a:gd name="T30" fmla="*/ 174 w 179"/>
                <a:gd name="T31" fmla="*/ 31 h 114"/>
                <a:gd name="T32" fmla="*/ 174 w 179"/>
                <a:gd name="T33" fmla="*/ 38 h 114"/>
                <a:gd name="T34" fmla="*/ 175 w 179"/>
                <a:gd name="T35" fmla="*/ 43 h 114"/>
                <a:gd name="T36" fmla="*/ 179 w 179"/>
                <a:gd name="T37" fmla="*/ 41 h 114"/>
                <a:gd name="T38" fmla="*/ 0 w 179"/>
                <a:gd name="T39" fmla="*/ 73 h 114"/>
                <a:gd name="T40" fmla="*/ 0 w 179"/>
                <a:gd name="T41" fmla="*/ 79 h 114"/>
                <a:gd name="T42" fmla="*/ 2 w 179"/>
                <a:gd name="T43" fmla="*/ 84 h 114"/>
                <a:gd name="T44" fmla="*/ 3 w 179"/>
                <a:gd name="T45" fmla="*/ 89 h 114"/>
                <a:gd name="T46" fmla="*/ 7 w 179"/>
                <a:gd name="T47" fmla="*/ 94 h 114"/>
                <a:gd name="T48" fmla="*/ 8 w 179"/>
                <a:gd name="T49" fmla="*/ 99 h 114"/>
                <a:gd name="T50" fmla="*/ 11 w 179"/>
                <a:gd name="T51" fmla="*/ 104 h 114"/>
                <a:gd name="T52" fmla="*/ 15 w 179"/>
                <a:gd name="T53" fmla="*/ 109 h 114"/>
                <a:gd name="T54" fmla="*/ 18 w 179"/>
                <a:gd name="T55" fmla="*/ 114 h 114"/>
                <a:gd name="T56" fmla="*/ 21 w 179"/>
                <a:gd name="T57" fmla="*/ 112 h 114"/>
                <a:gd name="T58" fmla="*/ 18 w 179"/>
                <a:gd name="T59" fmla="*/ 107 h 114"/>
                <a:gd name="T60" fmla="*/ 15 w 179"/>
                <a:gd name="T61" fmla="*/ 102 h 114"/>
                <a:gd name="T62" fmla="*/ 11 w 179"/>
                <a:gd name="T63" fmla="*/ 99 h 114"/>
                <a:gd name="T64" fmla="*/ 10 w 179"/>
                <a:gd name="T65" fmla="*/ 92 h 114"/>
                <a:gd name="T66" fmla="*/ 7 w 179"/>
                <a:gd name="T67" fmla="*/ 87 h 114"/>
                <a:gd name="T68" fmla="*/ 5 w 179"/>
                <a:gd name="T69" fmla="*/ 83 h 114"/>
                <a:gd name="T70" fmla="*/ 3 w 179"/>
                <a:gd name="T71" fmla="*/ 78 h 114"/>
                <a:gd name="T72" fmla="*/ 3 w 179"/>
                <a:gd name="T73" fmla="*/ 71 h 114"/>
                <a:gd name="T74" fmla="*/ 0 w 179"/>
                <a:gd name="T75" fmla="*/ 73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79" h="114">
                  <a:moveTo>
                    <a:pt x="179" y="41"/>
                  </a:moveTo>
                  <a:lnTo>
                    <a:pt x="177" y="36"/>
                  </a:lnTo>
                  <a:lnTo>
                    <a:pt x="175" y="30"/>
                  </a:lnTo>
                  <a:lnTo>
                    <a:pt x="174" y="25"/>
                  </a:lnTo>
                  <a:lnTo>
                    <a:pt x="172" y="20"/>
                  </a:lnTo>
                  <a:lnTo>
                    <a:pt x="169" y="15"/>
                  </a:lnTo>
                  <a:lnTo>
                    <a:pt x="167" y="10"/>
                  </a:lnTo>
                  <a:lnTo>
                    <a:pt x="164" y="5"/>
                  </a:lnTo>
                  <a:lnTo>
                    <a:pt x="161" y="0"/>
                  </a:lnTo>
                  <a:lnTo>
                    <a:pt x="157" y="1"/>
                  </a:lnTo>
                  <a:lnTo>
                    <a:pt x="161" y="6"/>
                  </a:lnTo>
                  <a:lnTo>
                    <a:pt x="164" y="10"/>
                  </a:lnTo>
                  <a:lnTo>
                    <a:pt x="167" y="15"/>
                  </a:lnTo>
                  <a:lnTo>
                    <a:pt x="169" y="21"/>
                  </a:lnTo>
                  <a:lnTo>
                    <a:pt x="170" y="26"/>
                  </a:lnTo>
                  <a:lnTo>
                    <a:pt x="174" y="31"/>
                  </a:lnTo>
                  <a:lnTo>
                    <a:pt x="174" y="38"/>
                  </a:lnTo>
                  <a:lnTo>
                    <a:pt x="175" y="43"/>
                  </a:lnTo>
                  <a:lnTo>
                    <a:pt x="179" y="41"/>
                  </a:lnTo>
                  <a:close/>
                  <a:moveTo>
                    <a:pt x="0" y="73"/>
                  </a:moveTo>
                  <a:lnTo>
                    <a:pt x="0" y="79"/>
                  </a:lnTo>
                  <a:lnTo>
                    <a:pt x="2" y="84"/>
                  </a:lnTo>
                  <a:lnTo>
                    <a:pt x="3" y="89"/>
                  </a:lnTo>
                  <a:lnTo>
                    <a:pt x="7" y="94"/>
                  </a:lnTo>
                  <a:lnTo>
                    <a:pt x="8" y="99"/>
                  </a:lnTo>
                  <a:lnTo>
                    <a:pt x="11" y="104"/>
                  </a:lnTo>
                  <a:lnTo>
                    <a:pt x="15" y="109"/>
                  </a:lnTo>
                  <a:lnTo>
                    <a:pt x="18" y="114"/>
                  </a:lnTo>
                  <a:lnTo>
                    <a:pt x="21" y="112"/>
                  </a:lnTo>
                  <a:lnTo>
                    <a:pt x="18" y="107"/>
                  </a:lnTo>
                  <a:lnTo>
                    <a:pt x="15" y="102"/>
                  </a:lnTo>
                  <a:lnTo>
                    <a:pt x="11" y="99"/>
                  </a:lnTo>
                  <a:lnTo>
                    <a:pt x="10" y="92"/>
                  </a:lnTo>
                  <a:lnTo>
                    <a:pt x="7" y="87"/>
                  </a:lnTo>
                  <a:lnTo>
                    <a:pt x="5" y="83"/>
                  </a:lnTo>
                  <a:lnTo>
                    <a:pt x="3" y="78"/>
                  </a:lnTo>
                  <a:lnTo>
                    <a:pt x="3" y="71"/>
                  </a:lnTo>
                  <a:lnTo>
                    <a:pt x="0" y="73"/>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76" name="Freeform 618">
              <a:extLst>
                <a:ext uri="{FF2B5EF4-FFF2-40B4-BE49-F238E27FC236}">
                  <a16:creationId xmlns:a16="http://schemas.microsoft.com/office/drawing/2014/main" id="{BDFB7B3B-3411-2D68-0B9B-6D9E2B5C6363}"/>
                </a:ext>
              </a:extLst>
            </p:cNvPr>
            <p:cNvSpPr>
              <a:spLocks noEditPoints="1"/>
            </p:cNvSpPr>
            <p:nvPr/>
          </p:nvSpPr>
          <p:spPr bwMode="auto">
            <a:xfrm>
              <a:off x="2130" y="1582"/>
              <a:ext cx="175" cy="112"/>
            </a:xfrm>
            <a:custGeom>
              <a:avLst/>
              <a:gdLst>
                <a:gd name="T0" fmla="*/ 175 w 175"/>
                <a:gd name="T1" fmla="*/ 43 h 112"/>
                <a:gd name="T2" fmla="*/ 173 w 175"/>
                <a:gd name="T3" fmla="*/ 36 h 112"/>
                <a:gd name="T4" fmla="*/ 172 w 175"/>
                <a:gd name="T5" fmla="*/ 31 h 112"/>
                <a:gd name="T6" fmla="*/ 170 w 175"/>
                <a:gd name="T7" fmla="*/ 25 h 112"/>
                <a:gd name="T8" fmla="*/ 168 w 175"/>
                <a:gd name="T9" fmla="*/ 20 h 112"/>
                <a:gd name="T10" fmla="*/ 165 w 175"/>
                <a:gd name="T11" fmla="*/ 15 h 112"/>
                <a:gd name="T12" fmla="*/ 163 w 175"/>
                <a:gd name="T13" fmla="*/ 10 h 112"/>
                <a:gd name="T14" fmla="*/ 160 w 175"/>
                <a:gd name="T15" fmla="*/ 5 h 112"/>
                <a:gd name="T16" fmla="*/ 157 w 175"/>
                <a:gd name="T17" fmla="*/ 0 h 112"/>
                <a:gd name="T18" fmla="*/ 154 w 175"/>
                <a:gd name="T19" fmla="*/ 1 h 112"/>
                <a:gd name="T20" fmla="*/ 157 w 175"/>
                <a:gd name="T21" fmla="*/ 6 h 112"/>
                <a:gd name="T22" fmla="*/ 160 w 175"/>
                <a:gd name="T23" fmla="*/ 11 h 112"/>
                <a:gd name="T24" fmla="*/ 163 w 175"/>
                <a:gd name="T25" fmla="*/ 16 h 112"/>
                <a:gd name="T26" fmla="*/ 165 w 175"/>
                <a:gd name="T27" fmla="*/ 21 h 112"/>
                <a:gd name="T28" fmla="*/ 167 w 175"/>
                <a:gd name="T29" fmla="*/ 26 h 112"/>
                <a:gd name="T30" fmla="*/ 170 w 175"/>
                <a:gd name="T31" fmla="*/ 33 h 112"/>
                <a:gd name="T32" fmla="*/ 170 w 175"/>
                <a:gd name="T33" fmla="*/ 38 h 112"/>
                <a:gd name="T34" fmla="*/ 172 w 175"/>
                <a:gd name="T35" fmla="*/ 44 h 112"/>
                <a:gd name="T36" fmla="*/ 175 w 175"/>
                <a:gd name="T37" fmla="*/ 43 h 112"/>
                <a:gd name="T38" fmla="*/ 0 w 175"/>
                <a:gd name="T39" fmla="*/ 73 h 112"/>
                <a:gd name="T40" fmla="*/ 0 w 175"/>
                <a:gd name="T41" fmla="*/ 78 h 112"/>
                <a:gd name="T42" fmla="*/ 1 w 175"/>
                <a:gd name="T43" fmla="*/ 83 h 112"/>
                <a:gd name="T44" fmla="*/ 3 w 175"/>
                <a:gd name="T45" fmla="*/ 89 h 112"/>
                <a:gd name="T46" fmla="*/ 6 w 175"/>
                <a:gd name="T47" fmla="*/ 94 h 112"/>
                <a:gd name="T48" fmla="*/ 8 w 175"/>
                <a:gd name="T49" fmla="*/ 99 h 112"/>
                <a:gd name="T50" fmla="*/ 11 w 175"/>
                <a:gd name="T51" fmla="*/ 104 h 112"/>
                <a:gd name="T52" fmla="*/ 14 w 175"/>
                <a:gd name="T53" fmla="*/ 109 h 112"/>
                <a:gd name="T54" fmla="*/ 18 w 175"/>
                <a:gd name="T55" fmla="*/ 112 h 112"/>
                <a:gd name="T56" fmla="*/ 21 w 175"/>
                <a:gd name="T57" fmla="*/ 112 h 112"/>
                <a:gd name="T58" fmla="*/ 18 w 175"/>
                <a:gd name="T59" fmla="*/ 107 h 112"/>
                <a:gd name="T60" fmla="*/ 14 w 175"/>
                <a:gd name="T61" fmla="*/ 102 h 112"/>
                <a:gd name="T62" fmla="*/ 11 w 175"/>
                <a:gd name="T63" fmla="*/ 97 h 112"/>
                <a:gd name="T64" fmla="*/ 9 w 175"/>
                <a:gd name="T65" fmla="*/ 92 h 112"/>
                <a:gd name="T66" fmla="*/ 6 w 175"/>
                <a:gd name="T67" fmla="*/ 87 h 112"/>
                <a:gd name="T68" fmla="*/ 5 w 175"/>
                <a:gd name="T69" fmla="*/ 83 h 112"/>
                <a:gd name="T70" fmla="*/ 3 w 175"/>
                <a:gd name="T71" fmla="*/ 76 h 112"/>
                <a:gd name="T72" fmla="*/ 1 w 175"/>
                <a:gd name="T73" fmla="*/ 71 h 112"/>
                <a:gd name="T74" fmla="*/ 0 w 175"/>
                <a:gd name="T75"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75" h="112">
                  <a:moveTo>
                    <a:pt x="175" y="43"/>
                  </a:moveTo>
                  <a:lnTo>
                    <a:pt x="173" y="36"/>
                  </a:lnTo>
                  <a:lnTo>
                    <a:pt x="172" y="31"/>
                  </a:lnTo>
                  <a:lnTo>
                    <a:pt x="170" y="25"/>
                  </a:lnTo>
                  <a:lnTo>
                    <a:pt x="168" y="20"/>
                  </a:lnTo>
                  <a:lnTo>
                    <a:pt x="165" y="15"/>
                  </a:lnTo>
                  <a:lnTo>
                    <a:pt x="163" y="10"/>
                  </a:lnTo>
                  <a:lnTo>
                    <a:pt x="160" y="5"/>
                  </a:lnTo>
                  <a:lnTo>
                    <a:pt x="157" y="0"/>
                  </a:lnTo>
                  <a:lnTo>
                    <a:pt x="154" y="1"/>
                  </a:lnTo>
                  <a:lnTo>
                    <a:pt x="157" y="6"/>
                  </a:lnTo>
                  <a:lnTo>
                    <a:pt x="160" y="11"/>
                  </a:lnTo>
                  <a:lnTo>
                    <a:pt x="163" y="16"/>
                  </a:lnTo>
                  <a:lnTo>
                    <a:pt x="165" y="21"/>
                  </a:lnTo>
                  <a:lnTo>
                    <a:pt x="167" y="26"/>
                  </a:lnTo>
                  <a:lnTo>
                    <a:pt x="170" y="33"/>
                  </a:lnTo>
                  <a:lnTo>
                    <a:pt x="170" y="38"/>
                  </a:lnTo>
                  <a:lnTo>
                    <a:pt x="172" y="44"/>
                  </a:lnTo>
                  <a:lnTo>
                    <a:pt x="175" y="43"/>
                  </a:lnTo>
                  <a:close/>
                  <a:moveTo>
                    <a:pt x="0" y="73"/>
                  </a:moveTo>
                  <a:lnTo>
                    <a:pt x="0" y="78"/>
                  </a:lnTo>
                  <a:lnTo>
                    <a:pt x="1" y="83"/>
                  </a:lnTo>
                  <a:lnTo>
                    <a:pt x="3" y="89"/>
                  </a:lnTo>
                  <a:lnTo>
                    <a:pt x="6" y="94"/>
                  </a:lnTo>
                  <a:lnTo>
                    <a:pt x="8" y="99"/>
                  </a:lnTo>
                  <a:lnTo>
                    <a:pt x="11" y="104"/>
                  </a:lnTo>
                  <a:lnTo>
                    <a:pt x="14" y="109"/>
                  </a:lnTo>
                  <a:lnTo>
                    <a:pt x="18" y="112"/>
                  </a:lnTo>
                  <a:lnTo>
                    <a:pt x="21" y="112"/>
                  </a:lnTo>
                  <a:lnTo>
                    <a:pt x="18" y="107"/>
                  </a:lnTo>
                  <a:lnTo>
                    <a:pt x="14" y="102"/>
                  </a:lnTo>
                  <a:lnTo>
                    <a:pt x="11" y="97"/>
                  </a:lnTo>
                  <a:lnTo>
                    <a:pt x="9" y="92"/>
                  </a:lnTo>
                  <a:lnTo>
                    <a:pt x="6" y="87"/>
                  </a:lnTo>
                  <a:lnTo>
                    <a:pt x="5" y="83"/>
                  </a:lnTo>
                  <a:lnTo>
                    <a:pt x="3" y="76"/>
                  </a:lnTo>
                  <a:lnTo>
                    <a:pt x="1" y="71"/>
                  </a:lnTo>
                  <a:lnTo>
                    <a:pt x="0" y="73"/>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77" name="Freeform 619">
              <a:extLst>
                <a:ext uri="{FF2B5EF4-FFF2-40B4-BE49-F238E27FC236}">
                  <a16:creationId xmlns:a16="http://schemas.microsoft.com/office/drawing/2014/main" id="{645D77BE-FF14-4AD6-7656-9A507BFB9063}"/>
                </a:ext>
              </a:extLst>
            </p:cNvPr>
            <p:cNvSpPr>
              <a:spLocks noEditPoints="1"/>
            </p:cNvSpPr>
            <p:nvPr/>
          </p:nvSpPr>
          <p:spPr bwMode="auto">
            <a:xfrm>
              <a:off x="2131" y="1583"/>
              <a:ext cx="172" cy="111"/>
            </a:xfrm>
            <a:custGeom>
              <a:avLst/>
              <a:gdLst>
                <a:gd name="T0" fmla="*/ 172 w 172"/>
                <a:gd name="T1" fmla="*/ 42 h 111"/>
                <a:gd name="T2" fmla="*/ 171 w 172"/>
                <a:gd name="T3" fmla="*/ 37 h 111"/>
                <a:gd name="T4" fmla="*/ 171 w 172"/>
                <a:gd name="T5" fmla="*/ 30 h 111"/>
                <a:gd name="T6" fmla="*/ 167 w 172"/>
                <a:gd name="T7" fmla="*/ 25 h 111"/>
                <a:gd name="T8" fmla="*/ 166 w 172"/>
                <a:gd name="T9" fmla="*/ 20 h 111"/>
                <a:gd name="T10" fmla="*/ 164 w 172"/>
                <a:gd name="T11" fmla="*/ 14 h 111"/>
                <a:gd name="T12" fmla="*/ 161 w 172"/>
                <a:gd name="T13" fmla="*/ 9 h 111"/>
                <a:gd name="T14" fmla="*/ 158 w 172"/>
                <a:gd name="T15" fmla="*/ 5 h 111"/>
                <a:gd name="T16" fmla="*/ 154 w 172"/>
                <a:gd name="T17" fmla="*/ 0 h 111"/>
                <a:gd name="T18" fmla="*/ 151 w 172"/>
                <a:gd name="T19" fmla="*/ 2 h 111"/>
                <a:gd name="T20" fmla="*/ 154 w 172"/>
                <a:gd name="T21" fmla="*/ 5 h 111"/>
                <a:gd name="T22" fmla="*/ 158 w 172"/>
                <a:gd name="T23" fmla="*/ 10 h 111"/>
                <a:gd name="T24" fmla="*/ 161 w 172"/>
                <a:gd name="T25" fmla="*/ 15 h 111"/>
                <a:gd name="T26" fmla="*/ 162 w 172"/>
                <a:gd name="T27" fmla="*/ 20 h 111"/>
                <a:gd name="T28" fmla="*/ 166 w 172"/>
                <a:gd name="T29" fmla="*/ 27 h 111"/>
                <a:gd name="T30" fmla="*/ 167 w 172"/>
                <a:gd name="T31" fmla="*/ 32 h 111"/>
                <a:gd name="T32" fmla="*/ 169 w 172"/>
                <a:gd name="T33" fmla="*/ 37 h 111"/>
                <a:gd name="T34" fmla="*/ 169 w 172"/>
                <a:gd name="T35" fmla="*/ 43 h 111"/>
                <a:gd name="T36" fmla="*/ 172 w 172"/>
                <a:gd name="T37" fmla="*/ 42 h 111"/>
                <a:gd name="T38" fmla="*/ 0 w 172"/>
                <a:gd name="T39" fmla="*/ 70 h 111"/>
                <a:gd name="T40" fmla="*/ 0 w 172"/>
                <a:gd name="T41" fmla="*/ 77 h 111"/>
                <a:gd name="T42" fmla="*/ 2 w 172"/>
                <a:gd name="T43" fmla="*/ 82 h 111"/>
                <a:gd name="T44" fmla="*/ 4 w 172"/>
                <a:gd name="T45" fmla="*/ 86 h 111"/>
                <a:gd name="T46" fmla="*/ 7 w 172"/>
                <a:gd name="T47" fmla="*/ 91 h 111"/>
                <a:gd name="T48" fmla="*/ 8 w 172"/>
                <a:gd name="T49" fmla="*/ 98 h 111"/>
                <a:gd name="T50" fmla="*/ 12 w 172"/>
                <a:gd name="T51" fmla="*/ 101 h 111"/>
                <a:gd name="T52" fmla="*/ 15 w 172"/>
                <a:gd name="T53" fmla="*/ 106 h 111"/>
                <a:gd name="T54" fmla="*/ 18 w 172"/>
                <a:gd name="T55" fmla="*/ 111 h 111"/>
                <a:gd name="T56" fmla="*/ 22 w 172"/>
                <a:gd name="T57" fmla="*/ 110 h 111"/>
                <a:gd name="T58" fmla="*/ 18 w 172"/>
                <a:gd name="T59" fmla="*/ 105 h 111"/>
                <a:gd name="T60" fmla="*/ 15 w 172"/>
                <a:gd name="T61" fmla="*/ 101 h 111"/>
                <a:gd name="T62" fmla="*/ 12 w 172"/>
                <a:gd name="T63" fmla="*/ 96 h 111"/>
                <a:gd name="T64" fmla="*/ 8 w 172"/>
                <a:gd name="T65" fmla="*/ 91 h 111"/>
                <a:gd name="T66" fmla="*/ 7 w 172"/>
                <a:gd name="T67" fmla="*/ 85 h 111"/>
                <a:gd name="T68" fmla="*/ 5 w 172"/>
                <a:gd name="T69" fmla="*/ 80 h 111"/>
                <a:gd name="T70" fmla="*/ 4 w 172"/>
                <a:gd name="T71" fmla="*/ 75 h 111"/>
                <a:gd name="T72" fmla="*/ 2 w 172"/>
                <a:gd name="T73" fmla="*/ 68 h 111"/>
                <a:gd name="T74" fmla="*/ 0 w 172"/>
                <a:gd name="T75" fmla="*/ 70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72" h="111">
                  <a:moveTo>
                    <a:pt x="172" y="42"/>
                  </a:moveTo>
                  <a:lnTo>
                    <a:pt x="171" y="37"/>
                  </a:lnTo>
                  <a:lnTo>
                    <a:pt x="171" y="30"/>
                  </a:lnTo>
                  <a:lnTo>
                    <a:pt x="167" y="25"/>
                  </a:lnTo>
                  <a:lnTo>
                    <a:pt x="166" y="20"/>
                  </a:lnTo>
                  <a:lnTo>
                    <a:pt x="164" y="14"/>
                  </a:lnTo>
                  <a:lnTo>
                    <a:pt x="161" y="9"/>
                  </a:lnTo>
                  <a:lnTo>
                    <a:pt x="158" y="5"/>
                  </a:lnTo>
                  <a:lnTo>
                    <a:pt x="154" y="0"/>
                  </a:lnTo>
                  <a:lnTo>
                    <a:pt x="151" y="2"/>
                  </a:lnTo>
                  <a:lnTo>
                    <a:pt x="154" y="5"/>
                  </a:lnTo>
                  <a:lnTo>
                    <a:pt x="158" y="10"/>
                  </a:lnTo>
                  <a:lnTo>
                    <a:pt x="161" y="15"/>
                  </a:lnTo>
                  <a:lnTo>
                    <a:pt x="162" y="20"/>
                  </a:lnTo>
                  <a:lnTo>
                    <a:pt x="166" y="27"/>
                  </a:lnTo>
                  <a:lnTo>
                    <a:pt x="167" y="32"/>
                  </a:lnTo>
                  <a:lnTo>
                    <a:pt x="169" y="37"/>
                  </a:lnTo>
                  <a:lnTo>
                    <a:pt x="169" y="43"/>
                  </a:lnTo>
                  <a:lnTo>
                    <a:pt x="172" y="42"/>
                  </a:lnTo>
                  <a:close/>
                  <a:moveTo>
                    <a:pt x="0" y="70"/>
                  </a:moveTo>
                  <a:lnTo>
                    <a:pt x="0" y="77"/>
                  </a:lnTo>
                  <a:lnTo>
                    <a:pt x="2" y="82"/>
                  </a:lnTo>
                  <a:lnTo>
                    <a:pt x="4" y="86"/>
                  </a:lnTo>
                  <a:lnTo>
                    <a:pt x="7" y="91"/>
                  </a:lnTo>
                  <a:lnTo>
                    <a:pt x="8" y="98"/>
                  </a:lnTo>
                  <a:lnTo>
                    <a:pt x="12" y="101"/>
                  </a:lnTo>
                  <a:lnTo>
                    <a:pt x="15" y="106"/>
                  </a:lnTo>
                  <a:lnTo>
                    <a:pt x="18" y="111"/>
                  </a:lnTo>
                  <a:lnTo>
                    <a:pt x="22" y="110"/>
                  </a:lnTo>
                  <a:lnTo>
                    <a:pt x="18" y="105"/>
                  </a:lnTo>
                  <a:lnTo>
                    <a:pt x="15" y="101"/>
                  </a:lnTo>
                  <a:lnTo>
                    <a:pt x="12" y="96"/>
                  </a:lnTo>
                  <a:lnTo>
                    <a:pt x="8" y="91"/>
                  </a:lnTo>
                  <a:lnTo>
                    <a:pt x="7" y="85"/>
                  </a:lnTo>
                  <a:lnTo>
                    <a:pt x="5" y="80"/>
                  </a:lnTo>
                  <a:lnTo>
                    <a:pt x="4" y="75"/>
                  </a:lnTo>
                  <a:lnTo>
                    <a:pt x="2" y="68"/>
                  </a:lnTo>
                  <a:lnTo>
                    <a:pt x="0" y="7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78" name="Freeform 620">
              <a:extLst>
                <a:ext uri="{FF2B5EF4-FFF2-40B4-BE49-F238E27FC236}">
                  <a16:creationId xmlns:a16="http://schemas.microsoft.com/office/drawing/2014/main" id="{74939500-F500-AC69-993F-80F4D65202CD}"/>
                </a:ext>
              </a:extLst>
            </p:cNvPr>
            <p:cNvSpPr>
              <a:spLocks noEditPoints="1"/>
            </p:cNvSpPr>
            <p:nvPr/>
          </p:nvSpPr>
          <p:spPr bwMode="auto">
            <a:xfrm>
              <a:off x="2131" y="1583"/>
              <a:ext cx="171" cy="111"/>
            </a:xfrm>
            <a:custGeom>
              <a:avLst/>
              <a:gdLst>
                <a:gd name="T0" fmla="*/ 171 w 171"/>
                <a:gd name="T1" fmla="*/ 43 h 111"/>
                <a:gd name="T2" fmla="*/ 169 w 171"/>
                <a:gd name="T3" fmla="*/ 37 h 111"/>
                <a:gd name="T4" fmla="*/ 169 w 171"/>
                <a:gd name="T5" fmla="*/ 32 h 111"/>
                <a:gd name="T6" fmla="*/ 166 w 171"/>
                <a:gd name="T7" fmla="*/ 25 h 111"/>
                <a:gd name="T8" fmla="*/ 164 w 171"/>
                <a:gd name="T9" fmla="*/ 20 h 111"/>
                <a:gd name="T10" fmla="*/ 162 w 171"/>
                <a:gd name="T11" fmla="*/ 15 h 111"/>
                <a:gd name="T12" fmla="*/ 159 w 171"/>
                <a:gd name="T13" fmla="*/ 10 h 111"/>
                <a:gd name="T14" fmla="*/ 156 w 171"/>
                <a:gd name="T15" fmla="*/ 5 h 111"/>
                <a:gd name="T16" fmla="*/ 153 w 171"/>
                <a:gd name="T17" fmla="*/ 0 h 111"/>
                <a:gd name="T18" fmla="*/ 149 w 171"/>
                <a:gd name="T19" fmla="*/ 2 h 111"/>
                <a:gd name="T20" fmla="*/ 153 w 171"/>
                <a:gd name="T21" fmla="*/ 7 h 111"/>
                <a:gd name="T22" fmla="*/ 156 w 171"/>
                <a:gd name="T23" fmla="*/ 12 h 111"/>
                <a:gd name="T24" fmla="*/ 159 w 171"/>
                <a:gd name="T25" fmla="*/ 17 h 111"/>
                <a:gd name="T26" fmla="*/ 161 w 171"/>
                <a:gd name="T27" fmla="*/ 22 h 111"/>
                <a:gd name="T28" fmla="*/ 164 w 171"/>
                <a:gd name="T29" fmla="*/ 27 h 111"/>
                <a:gd name="T30" fmla="*/ 166 w 171"/>
                <a:gd name="T31" fmla="*/ 32 h 111"/>
                <a:gd name="T32" fmla="*/ 167 w 171"/>
                <a:gd name="T33" fmla="*/ 38 h 111"/>
                <a:gd name="T34" fmla="*/ 167 w 171"/>
                <a:gd name="T35" fmla="*/ 43 h 111"/>
                <a:gd name="T36" fmla="*/ 171 w 171"/>
                <a:gd name="T37" fmla="*/ 43 h 111"/>
                <a:gd name="T38" fmla="*/ 0 w 171"/>
                <a:gd name="T39" fmla="*/ 70 h 111"/>
                <a:gd name="T40" fmla="*/ 2 w 171"/>
                <a:gd name="T41" fmla="*/ 75 h 111"/>
                <a:gd name="T42" fmla="*/ 4 w 171"/>
                <a:gd name="T43" fmla="*/ 82 h 111"/>
                <a:gd name="T44" fmla="*/ 5 w 171"/>
                <a:gd name="T45" fmla="*/ 86 h 111"/>
                <a:gd name="T46" fmla="*/ 8 w 171"/>
                <a:gd name="T47" fmla="*/ 91 h 111"/>
                <a:gd name="T48" fmla="*/ 10 w 171"/>
                <a:gd name="T49" fmla="*/ 96 h 111"/>
                <a:gd name="T50" fmla="*/ 13 w 171"/>
                <a:gd name="T51" fmla="*/ 101 h 111"/>
                <a:gd name="T52" fmla="*/ 17 w 171"/>
                <a:gd name="T53" fmla="*/ 106 h 111"/>
                <a:gd name="T54" fmla="*/ 20 w 171"/>
                <a:gd name="T55" fmla="*/ 111 h 111"/>
                <a:gd name="T56" fmla="*/ 23 w 171"/>
                <a:gd name="T57" fmla="*/ 110 h 111"/>
                <a:gd name="T58" fmla="*/ 20 w 171"/>
                <a:gd name="T59" fmla="*/ 105 h 111"/>
                <a:gd name="T60" fmla="*/ 17 w 171"/>
                <a:gd name="T61" fmla="*/ 100 h 111"/>
                <a:gd name="T62" fmla="*/ 13 w 171"/>
                <a:gd name="T63" fmla="*/ 95 h 111"/>
                <a:gd name="T64" fmla="*/ 10 w 171"/>
                <a:gd name="T65" fmla="*/ 90 h 111"/>
                <a:gd name="T66" fmla="*/ 8 w 171"/>
                <a:gd name="T67" fmla="*/ 85 h 111"/>
                <a:gd name="T68" fmla="*/ 7 w 171"/>
                <a:gd name="T69" fmla="*/ 80 h 111"/>
                <a:gd name="T70" fmla="*/ 5 w 171"/>
                <a:gd name="T71" fmla="*/ 73 h 111"/>
                <a:gd name="T72" fmla="*/ 4 w 171"/>
                <a:gd name="T73" fmla="*/ 68 h 111"/>
                <a:gd name="T74" fmla="*/ 0 w 171"/>
                <a:gd name="T75" fmla="*/ 70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71" h="111">
                  <a:moveTo>
                    <a:pt x="171" y="43"/>
                  </a:moveTo>
                  <a:lnTo>
                    <a:pt x="169" y="37"/>
                  </a:lnTo>
                  <a:lnTo>
                    <a:pt x="169" y="32"/>
                  </a:lnTo>
                  <a:lnTo>
                    <a:pt x="166" y="25"/>
                  </a:lnTo>
                  <a:lnTo>
                    <a:pt x="164" y="20"/>
                  </a:lnTo>
                  <a:lnTo>
                    <a:pt x="162" y="15"/>
                  </a:lnTo>
                  <a:lnTo>
                    <a:pt x="159" y="10"/>
                  </a:lnTo>
                  <a:lnTo>
                    <a:pt x="156" y="5"/>
                  </a:lnTo>
                  <a:lnTo>
                    <a:pt x="153" y="0"/>
                  </a:lnTo>
                  <a:lnTo>
                    <a:pt x="149" y="2"/>
                  </a:lnTo>
                  <a:lnTo>
                    <a:pt x="153" y="7"/>
                  </a:lnTo>
                  <a:lnTo>
                    <a:pt x="156" y="12"/>
                  </a:lnTo>
                  <a:lnTo>
                    <a:pt x="159" y="17"/>
                  </a:lnTo>
                  <a:lnTo>
                    <a:pt x="161" y="22"/>
                  </a:lnTo>
                  <a:lnTo>
                    <a:pt x="164" y="27"/>
                  </a:lnTo>
                  <a:lnTo>
                    <a:pt x="166" y="32"/>
                  </a:lnTo>
                  <a:lnTo>
                    <a:pt x="167" y="38"/>
                  </a:lnTo>
                  <a:lnTo>
                    <a:pt x="167" y="43"/>
                  </a:lnTo>
                  <a:lnTo>
                    <a:pt x="171" y="43"/>
                  </a:lnTo>
                  <a:close/>
                  <a:moveTo>
                    <a:pt x="0" y="70"/>
                  </a:moveTo>
                  <a:lnTo>
                    <a:pt x="2" y="75"/>
                  </a:lnTo>
                  <a:lnTo>
                    <a:pt x="4" y="82"/>
                  </a:lnTo>
                  <a:lnTo>
                    <a:pt x="5" y="86"/>
                  </a:lnTo>
                  <a:lnTo>
                    <a:pt x="8" y="91"/>
                  </a:lnTo>
                  <a:lnTo>
                    <a:pt x="10" y="96"/>
                  </a:lnTo>
                  <a:lnTo>
                    <a:pt x="13" y="101"/>
                  </a:lnTo>
                  <a:lnTo>
                    <a:pt x="17" y="106"/>
                  </a:lnTo>
                  <a:lnTo>
                    <a:pt x="20" y="111"/>
                  </a:lnTo>
                  <a:lnTo>
                    <a:pt x="23" y="110"/>
                  </a:lnTo>
                  <a:lnTo>
                    <a:pt x="20" y="105"/>
                  </a:lnTo>
                  <a:lnTo>
                    <a:pt x="17" y="100"/>
                  </a:lnTo>
                  <a:lnTo>
                    <a:pt x="13" y="95"/>
                  </a:lnTo>
                  <a:lnTo>
                    <a:pt x="10" y="90"/>
                  </a:lnTo>
                  <a:lnTo>
                    <a:pt x="8" y="85"/>
                  </a:lnTo>
                  <a:lnTo>
                    <a:pt x="7" y="80"/>
                  </a:lnTo>
                  <a:lnTo>
                    <a:pt x="5" y="73"/>
                  </a:lnTo>
                  <a:lnTo>
                    <a:pt x="4" y="68"/>
                  </a:lnTo>
                  <a:lnTo>
                    <a:pt x="0" y="7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79" name="Freeform 621">
              <a:extLst>
                <a:ext uri="{FF2B5EF4-FFF2-40B4-BE49-F238E27FC236}">
                  <a16:creationId xmlns:a16="http://schemas.microsoft.com/office/drawing/2014/main" id="{BCCB2CDB-B0AD-5A0D-DF47-15B17DF13400}"/>
                </a:ext>
              </a:extLst>
            </p:cNvPr>
            <p:cNvSpPr>
              <a:spLocks noEditPoints="1"/>
            </p:cNvSpPr>
            <p:nvPr/>
          </p:nvSpPr>
          <p:spPr bwMode="auto">
            <a:xfrm>
              <a:off x="2133" y="1585"/>
              <a:ext cx="167" cy="108"/>
            </a:xfrm>
            <a:custGeom>
              <a:avLst/>
              <a:gdLst>
                <a:gd name="T0" fmla="*/ 167 w 167"/>
                <a:gd name="T1" fmla="*/ 41 h 108"/>
                <a:gd name="T2" fmla="*/ 167 w 167"/>
                <a:gd name="T3" fmla="*/ 35 h 108"/>
                <a:gd name="T4" fmla="*/ 165 w 167"/>
                <a:gd name="T5" fmla="*/ 30 h 108"/>
                <a:gd name="T6" fmla="*/ 164 w 167"/>
                <a:gd name="T7" fmla="*/ 25 h 108"/>
                <a:gd name="T8" fmla="*/ 160 w 167"/>
                <a:gd name="T9" fmla="*/ 18 h 108"/>
                <a:gd name="T10" fmla="*/ 159 w 167"/>
                <a:gd name="T11" fmla="*/ 13 h 108"/>
                <a:gd name="T12" fmla="*/ 156 w 167"/>
                <a:gd name="T13" fmla="*/ 8 h 108"/>
                <a:gd name="T14" fmla="*/ 152 w 167"/>
                <a:gd name="T15" fmla="*/ 3 h 108"/>
                <a:gd name="T16" fmla="*/ 149 w 167"/>
                <a:gd name="T17" fmla="*/ 0 h 108"/>
                <a:gd name="T18" fmla="*/ 146 w 167"/>
                <a:gd name="T19" fmla="*/ 0 h 108"/>
                <a:gd name="T20" fmla="*/ 149 w 167"/>
                <a:gd name="T21" fmla="*/ 5 h 108"/>
                <a:gd name="T22" fmla="*/ 152 w 167"/>
                <a:gd name="T23" fmla="*/ 10 h 108"/>
                <a:gd name="T24" fmla="*/ 156 w 167"/>
                <a:gd name="T25" fmla="*/ 15 h 108"/>
                <a:gd name="T26" fmla="*/ 157 w 167"/>
                <a:gd name="T27" fmla="*/ 20 h 108"/>
                <a:gd name="T28" fmla="*/ 160 w 167"/>
                <a:gd name="T29" fmla="*/ 25 h 108"/>
                <a:gd name="T30" fmla="*/ 162 w 167"/>
                <a:gd name="T31" fmla="*/ 31 h 108"/>
                <a:gd name="T32" fmla="*/ 164 w 167"/>
                <a:gd name="T33" fmla="*/ 36 h 108"/>
                <a:gd name="T34" fmla="*/ 164 w 167"/>
                <a:gd name="T35" fmla="*/ 43 h 108"/>
                <a:gd name="T36" fmla="*/ 167 w 167"/>
                <a:gd name="T37" fmla="*/ 41 h 108"/>
                <a:gd name="T38" fmla="*/ 0 w 167"/>
                <a:gd name="T39" fmla="*/ 66 h 108"/>
                <a:gd name="T40" fmla="*/ 2 w 167"/>
                <a:gd name="T41" fmla="*/ 73 h 108"/>
                <a:gd name="T42" fmla="*/ 3 w 167"/>
                <a:gd name="T43" fmla="*/ 78 h 108"/>
                <a:gd name="T44" fmla="*/ 5 w 167"/>
                <a:gd name="T45" fmla="*/ 83 h 108"/>
                <a:gd name="T46" fmla="*/ 6 w 167"/>
                <a:gd name="T47" fmla="*/ 89 h 108"/>
                <a:gd name="T48" fmla="*/ 10 w 167"/>
                <a:gd name="T49" fmla="*/ 94 h 108"/>
                <a:gd name="T50" fmla="*/ 13 w 167"/>
                <a:gd name="T51" fmla="*/ 99 h 108"/>
                <a:gd name="T52" fmla="*/ 16 w 167"/>
                <a:gd name="T53" fmla="*/ 103 h 108"/>
                <a:gd name="T54" fmla="*/ 20 w 167"/>
                <a:gd name="T55" fmla="*/ 108 h 108"/>
                <a:gd name="T56" fmla="*/ 23 w 167"/>
                <a:gd name="T57" fmla="*/ 106 h 108"/>
                <a:gd name="T58" fmla="*/ 20 w 167"/>
                <a:gd name="T59" fmla="*/ 103 h 108"/>
                <a:gd name="T60" fmla="*/ 16 w 167"/>
                <a:gd name="T61" fmla="*/ 98 h 108"/>
                <a:gd name="T62" fmla="*/ 13 w 167"/>
                <a:gd name="T63" fmla="*/ 93 h 108"/>
                <a:gd name="T64" fmla="*/ 10 w 167"/>
                <a:gd name="T65" fmla="*/ 88 h 108"/>
                <a:gd name="T66" fmla="*/ 8 w 167"/>
                <a:gd name="T67" fmla="*/ 83 h 108"/>
                <a:gd name="T68" fmla="*/ 6 w 167"/>
                <a:gd name="T69" fmla="*/ 76 h 108"/>
                <a:gd name="T70" fmla="*/ 5 w 167"/>
                <a:gd name="T71" fmla="*/ 71 h 108"/>
                <a:gd name="T72" fmla="*/ 3 w 167"/>
                <a:gd name="T73" fmla="*/ 66 h 108"/>
                <a:gd name="T74" fmla="*/ 0 w 167"/>
                <a:gd name="T75" fmla="*/ 66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67" h="108">
                  <a:moveTo>
                    <a:pt x="167" y="41"/>
                  </a:moveTo>
                  <a:lnTo>
                    <a:pt x="167" y="35"/>
                  </a:lnTo>
                  <a:lnTo>
                    <a:pt x="165" y="30"/>
                  </a:lnTo>
                  <a:lnTo>
                    <a:pt x="164" y="25"/>
                  </a:lnTo>
                  <a:lnTo>
                    <a:pt x="160" y="18"/>
                  </a:lnTo>
                  <a:lnTo>
                    <a:pt x="159" y="13"/>
                  </a:lnTo>
                  <a:lnTo>
                    <a:pt x="156" y="8"/>
                  </a:lnTo>
                  <a:lnTo>
                    <a:pt x="152" y="3"/>
                  </a:lnTo>
                  <a:lnTo>
                    <a:pt x="149" y="0"/>
                  </a:lnTo>
                  <a:lnTo>
                    <a:pt x="146" y="0"/>
                  </a:lnTo>
                  <a:lnTo>
                    <a:pt x="149" y="5"/>
                  </a:lnTo>
                  <a:lnTo>
                    <a:pt x="152" y="10"/>
                  </a:lnTo>
                  <a:lnTo>
                    <a:pt x="156" y="15"/>
                  </a:lnTo>
                  <a:lnTo>
                    <a:pt x="157" y="20"/>
                  </a:lnTo>
                  <a:lnTo>
                    <a:pt x="160" y="25"/>
                  </a:lnTo>
                  <a:lnTo>
                    <a:pt x="162" y="31"/>
                  </a:lnTo>
                  <a:lnTo>
                    <a:pt x="164" y="36"/>
                  </a:lnTo>
                  <a:lnTo>
                    <a:pt x="164" y="43"/>
                  </a:lnTo>
                  <a:lnTo>
                    <a:pt x="167" y="41"/>
                  </a:lnTo>
                  <a:close/>
                  <a:moveTo>
                    <a:pt x="0" y="66"/>
                  </a:moveTo>
                  <a:lnTo>
                    <a:pt x="2" y="73"/>
                  </a:lnTo>
                  <a:lnTo>
                    <a:pt x="3" y="78"/>
                  </a:lnTo>
                  <a:lnTo>
                    <a:pt x="5" y="83"/>
                  </a:lnTo>
                  <a:lnTo>
                    <a:pt x="6" y="89"/>
                  </a:lnTo>
                  <a:lnTo>
                    <a:pt x="10" y="94"/>
                  </a:lnTo>
                  <a:lnTo>
                    <a:pt x="13" y="99"/>
                  </a:lnTo>
                  <a:lnTo>
                    <a:pt x="16" y="103"/>
                  </a:lnTo>
                  <a:lnTo>
                    <a:pt x="20" y="108"/>
                  </a:lnTo>
                  <a:lnTo>
                    <a:pt x="23" y="106"/>
                  </a:lnTo>
                  <a:lnTo>
                    <a:pt x="20" y="103"/>
                  </a:lnTo>
                  <a:lnTo>
                    <a:pt x="16" y="98"/>
                  </a:lnTo>
                  <a:lnTo>
                    <a:pt x="13" y="93"/>
                  </a:lnTo>
                  <a:lnTo>
                    <a:pt x="10" y="88"/>
                  </a:lnTo>
                  <a:lnTo>
                    <a:pt x="8" y="83"/>
                  </a:lnTo>
                  <a:lnTo>
                    <a:pt x="6" y="76"/>
                  </a:lnTo>
                  <a:lnTo>
                    <a:pt x="5" y="71"/>
                  </a:lnTo>
                  <a:lnTo>
                    <a:pt x="3" y="66"/>
                  </a:lnTo>
                  <a:lnTo>
                    <a:pt x="0" y="66"/>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80" name="Freeform 622">
              <a:extLst>
                <a:ext uri="{FF2B5EF4-FFF2-40B4-BE49-F238E27FC236}">
                  <a16:creationId xmlns:a16="http://schemas.microsoft.com/office/drawing/2014/main" id="{FA6F85F3-B0C0-A6A2-3CCC-6D759F048317}"/>
                </a:ext>
              </a:extLst>
            </p:cNvPr>
            <p:cNvSpPr>
              <a:spLocks noEditPoints="1"/>
            </p:cNvSpPr>
            <p:nvPr/>
          </p:nvSpPr>
          <p:spPr bwMode="auto">
            <a:xfrm>
              <a:off x="2135" y="1585"/>
              <a:ext cx="163" cy="108"/>
            </a:xfrm>
            <a:custGeom>
              <a:avLst/>
              <a:gdLst>
                <a:gd name="T0" fmla="*/ 163 w 163"/>
                <a:gd name="T1" fmla="*/ 41 h 108"/>
                <a:gd name="T2" fmla="*/ 163 w 163"/>
                <a:gd name="T3" fmla="*/ 36 h 108"/>
                <a:gd name="T4" fmla="*/ 162 w 163"/>
                <a:gd name="T5" fmla="*/ 30 h 108"/>
                <a:gd name="T6" fmla="*/ 160 w 163"/>
                <a:gd name="T7" fmla="*/ 25 h 108"/>
                <a:gd name="T8" fmla="*/ 157 w 163"/>
                <a:gd name="T9" fmla="*/ 20 h 108"/>
                <a:gd name="T10" fmla="*/ 155 w 163"/>
                <a:gd name="T11" fmla="*/ 15 h 108"/>
                <a:gd name="T12" fmla="*/ 152 w 163"/>
                <a:gd name="T13" fmla="*/ 10 h 108"/>
                <a:gd name="T14" fmla="*/ 149 w 163"/>
                <a:gd name="T15" fmla="*/ 5 h 108"/>
                <a:gd name="T16" fmla="*/ 145 w 163"/>
                <a:gd name="T17" fmla="*/ 0 h 108"/>
                <a:gd name="T18" fmla="*/ 142 w 163"/>
                <a:gd name="T19" fmla="*/ 2 h 108"/>
                <a:gd name="T20" fmla="*/ 145 w 163"/>
                <a:gd name="T21" fmla="*/ 7 h 108"/>
                <a:gd name="T22" fmla="*/ 149 w 163"/>
                <a:gd name="T23" fmla="*/ 10 h 108"/>
                <a:gd name="T24" fmla="*/ 152 w 163"/>
                <a:gd name="T25" fmla="*/ 15 h 108"/>
                <a:gd name="T26" fmla="*/ 155 w 163"/>
                <a:gd name="T27" fmla="*/ 22 h 108"/>
                <a:gd name="T28" fmla="*/ 157 w 163"/>
                <a:gd name="T29" fmla="*/ 27 h 108"/>
                <a:gd name="T30" fmla="*/ 158 w 163"/>
                <a:gd name="T31" fmla="*/ 31 h 108"/>
                <a:gd name="T32" fmla="*/ 160 w 163"/>
                <a:gd name="T33" fmla="*/ 38 h 108"/>
                <a:gd name="T34" fmla="*/ 160 w 163"/>
                <a:gd name="T35" fmla="*/ 43 h 108"/>
                <a:gd name="T36" fmla="*/ 163 w 163"/>
                <a:gd name="T37" fmla="*/ 41 h 108"/>
                <a:gd name="T38" fmla="*/ 0 w 163"/>
                <a:gd name="T39" fmla="*/ 66 h 108"/>
                <a:gd name="T40" fmla="*/ 1 w 163"/>
                <a:gd name="T41" fmla="*/ 71 h 108"/>
                <a:gd name="T42" fmla="*/ 3 w 163"/>
                <a:gd name="T43" fmla="*/ 78 h 108"/>
                <a:gd name="T44" fmla="*/ 4 w 163"/>
                <a:gd name="T45" fmla="*/ 83 h 108"/>
                <a:gd name="T46" fmla="*/ 6 w 163"/>
                <a:gd name="T47" fmla="*/ 88 h 108"/>
                <a:gd name="T48" fmla="*/ 9 w 163"/>
                <a:gd name="T49" fmla="*/ 93 h 108"/>
                <a:gd name="T50" fmla="*/ 13 w 163"/>
                <a:gd name="T51" fmla="*/ 98 h 108"/>
                <a:gd name="T52" fmla="*/ 16 w 163"/>
                <a:gd name="T53" fmla="*/ 103 h 108"/>
                <a:gd name="T54" fmla="*/ 19 w 163"/>
                <a:gd name="T55" fmla="*/ 108 h 108"/>
                <a:gd name="T56" fmla="*/ 23 w 163"/>
                <a:gd name="T57" fmla="*/ 106 h 108"/>
                <a:gd name="T58" fmla="*/ 19 w 163"/>
                <a:gd name="T59" fmla="*/ 101 h 108"/>
                <a:gd name="T60" fmla="*/ 16 w 163"/>
                <a:gd name="T61" fmla="*/ 96 h 108"/>
                <a:gd name="T62" fmla="*/ 13 w 163"/>
                <a:gd name="T63" fmla="*/ 91 h 108"/>
                <a:gd name="T64" fmla="*/ 9 w 163"/>
                <a:gd name="T65" fmla="*/ 86 h 108"/>
                <a:gd name="T66" fmla="*/ 8 w 163"/>
                <a:gd name="T67" fmla="*/ 81 h 108"/>
                <a:gd name="T68" fmla="*/ 6 w 163"/>
                <a:gd name="T69" fmla="*/ 76 h 108"/>
                <a:gd name="T70" fmla="*/ 4 w 163"/>
                <a:gd name="T71" fmla="*/ 71 h 108"/>
                <a:gd name="T72" fmla="*/ 3 w 163"/>
                <a:gd name="T73" fmla="*/ 65 h 108"/>
                <a:gd name="T74" fmla="*/ 0 w 163"/>
                <a:gd name="T75" fmla="*/ 66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63" h="108">
                  <a:moveTo>
                    <a:pt x="163" y="41"/>
                  </a:moveTo>
                  <a:lnTo>
                    <a:pt x="163" y="36"/>
                  </a:lnTo>
                  <a:lnTo>
                    <a:pt x="162" y="30"/>
                  </a:lnTo>
                  <a:lnTo>
                    <a:pt x="160" y="25"/>
                  </a:lnTo>
                  <a:lnTo>
                    <a:pt x="157" y="20"/>
                  </a:lnTo>
                  <a:lnTo>
                    <a:pt x="155" y="15"/>
                  </a:lnTo>
                  <a:lnTo>
                    <a:pt x="152" y="10"/>
                  </a:lnTo>
                  <a:lnTo>
                    <a:pt x="149" y="5"/>
                  </a:lnTo>
                  <a:lnTo>
                    <a:pt x="145" y="0"/>
                  </a:lnTo>
                  <a:lnTo>
                    <a:pt x="142" y="2"/>
                  </a:lnTo>
                  <a:lnTo>
                    <a:pt x="145" y="7"/>
                  </a:lnTo>
                  <a:lnTo>
                    <a:pt x="149" y="10"/>
                  </a:lnTo>
                  <a:lnTo>
                    <a:pt x="152" y="15"/>
                  </a:lnTo>
                  <a:lnTo>
                    <a:pt x="155" y="22"/>
                  </a:lnTo>
                  <a:lnTo>
                    <a:pt x="157" y="27"/>
                  </a:lnTo>
                  <a:lnTo>
                    <a:pt x="158" y="31"/>
                  </a:lnTo>
                  <a:lnTo>
                    <a:pt x="160" y="38"/>
                  </a:lnTo>
                  <a:lnTo>
                    <a:pt x="160" y="43"/>
                  </a:lnTo>
                  <a:lnTo>
                    <a:pt x="163" y="41"/>
                  </a:lnTo>
                  <a:close/>
                  <a:moveTo>
                    <a:pt x="0" y="66"/>
                  </a:moveTo>
                  <a:lnTo>
                    <a:pt x="1" y="71"/>
                  </a:lnTo>
                  <a:lnTo>
                    <a:pt x="3" y="78"/>
                  </a:lnTo>
                  <a:lnTo>
                    <a:pt x="4" y="83"/>
                  </a:lnTo>
                  <a:lnTo>
                    <a:pt x="6" y="88"/>
                  </a:lnTo>
                  <a:lnTo>
                    <a:pt x="9" y="93"/>
                  </a:lnTo>
                  <a:lnTo>
                    <a:pt x="13" y="98"/>
                  </a:lnTo>
                  <a:lnTo>
                    <a:pt x="16" y="103"/>
                  </a:lnTo>
                  <a:lnTo>
                    <a:pt x="19" y="108"/>
                  </a:lnTo>
                  <a:lnTo>
                    <a:pt x="23" y="106"/>
                  </a:lnTo>
                  <a:lnTo>
                    <a:pt x="19" y="101"/>
                  </a:lnTo>
                  <a:lnTo>
                    <a:pt x="16" y="96"/>
                  </a:lnTo>
                  <a:lnTo>
                    <a:pt x="13" y="91"/>
                  </a:lnTo>
                  <a:lnTo>
                    <a:pt x="9" y="86"/>
                  </a:lnTo>
                  <a:lnTo>
                    <a:pt x="8" y="81"/>
                  </a:lnTo>
                  <a:lnTo>
                    <a:pt x="6" y="76"/>
                  </a:lnTo>
                  <a:lnTo>
                    <a:pt x="4" y="71"/>
                  </a:lnTo>
                  <a:lnTo>
                    <a:pt x="3" y="65"/>
                  </a:lnTo>
                  <a:lnTo>
                    <a:pt x="0" y="66"/>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81" name="Freeform 623">
              <a:extLst>
                <a:ext uri="{FF2B5EF4-FFF2-40B4-BE49-F238E27FC236}">
                  <a16:creationId xmlns:a16="http://schemas.microsoft.com/office/drawing/2014/main" id="{8E93AD7B-E870-1D3A-A211-70141234137C}"/>
                </a:ext>
              </a:extLst>
            </p:cNvPr>
            <p:cNvSpPr>
              <a:spLocks noEditPoints="1"/>
            </p:cNvSpPr>
            <p:nvPr/>
          </p:nvSpPr>
          <p:spPr bwMode="auto">
            <a:xfrm>
              <a:off x="2136" y="1585"/>
              <a:ext cx="161" cy="106"/>
            </a:xfrm>
            <a:custGeom>
              <a:avLst/>
              <a:gdLst>
                <a:gd name="T0" fmla="*/ 161 w 161"/>
                <a:gd name="T1" fmla="*/ 43 h 106"/>
                <a:gd name="T2" fmla="*/ 161 w 161"/>
                <a:gd name="T3" fmla="*/ 36 h 106"/>
                <a:gd name="T4" fmla="*/ 159 w 161"/>
                <a:gd name="T5" fmla="*/ 31 h 106"/>
                <a:gd name="T6" fmla="*/ 157 w 161"/>
                <a:gd name="T7" fmla="*/ 25 h 106"/>
                <a:gd name="T8" fmla="*/ 154 w 161"/>
                <a:gd name="T9" fmla="*/ 20 h 106"/>
                <a:gd name="T10" fmla="*/ 153 w 161"/>
                <a:gd name="T11" fmla="*/ 15 h 106"/>
                <a:gd name="T12" fmla="*/ 149 w 161"/>
                <a:gd name="T13" fmla="*/ 10 h 106"/>
                <a:gd name="T14" fmla="*/ 146 w 161"/>
                <a:gd name="T15" fmla="*/ 5 h 106"/>
                <a:gd name="T16" fmla="*/ 143 w 161"/>
                <a:gd name="T17" fmla="*/ 0 h 106"/>
                <a:gd name="T18" fmla="*/ 139 w 161"/>
                <a:gd name="T19" fmla="*/ 2 h 106"/>
                <a:gd name="T20" fmla="*/ 143 w 161"/>
                <a:gd name="T21" fmla="*/ 7 h 106"/>
                <a:gd name="T22" fmla="*/ 146 w 161"/>
                <a:gd name="T23" fmla="*/ 12 h 106"/>
                <a:gd name="T24" fmla="*/ 149 w 161"/>
                <a:gd name="T25" fmla="*/ 17 h 106"/>
                <a:gd name="T26" fmla="*/ 153 w 161"/>
                <a:gd name="T27" fmla="*/ 22 h 106"/>
                <a:gd name="T28" fmla="*/ 154 w 161"/>
                <a:gd name="T29" fmla="*/ 27 h 106"/>
                <a:gd name="T30" fmla="*/ 156 w 161"/>
                <a:gd name="T31" fmla="*/ 33 h 106"/>
                <a:gd name="T32" fmla="*/ 157 w 161"/>
                <a:gd name="T33" fmla="*/ 38 h 106"/>
                <a:gd name="T34" fmla="*/ 157 w 161"/>
                <a:gd name="T35" fmla="*/ 45 h 106"/>
                <a:gd name="T36" fmla="*/ 161 w 161"/>
                <a:gd name="T37" fmla="*/ 43 h 106"/>
                <a:gd name="T38" fmla="*/ 0 w 161"/>
                <a:gd name="T39" fmla="*/ 66 h 106"/>
                <a:gd name="T40" fmla="*/ 2 w 161"/>
                <a:gd name="T41" fmla="*/ 71 h 106"/>
                <a:gd name="T42" fmla="*/ 3 w 161"/>
                <a:gd name="T43" fmla="*/ 76 h 106"/>
                <a:gd name="T44" fmla="*/ 5 w 161"/>
                <a:gd name="T45" fmla="*/ 83 h 106"/>
                <a:gd name="T46" fmla="*/ 7 w 161"/>
                <a:gd name="T47" fmla="*/ 88 h 106"/>
                <a:gd name="T48" fmla="*/ 10 w 161"/>
                <a:gd name="T49" fmla="*/ 93 h 106"/>
                <a:gd name="T50" fmla="*/ 13 w 161"/>
                <a:gd name="T51" fmla="*/ 98 h 106"/>
                <a:gd name="T52" fmla="*/ 17 w 161"/>
                <a:gd name="T53" fmla="*/ 103 h 106"/>
                <a:gd name="T54" fmla="*/ 20 w 161"/>
                <a:gd name="T55" fmla="*/ 106 h 106"/>
                <a:gd name="T56" fmla="*/ 23 w 161"/>
                <a:gd name="T57" fmla="*/ 104 h 106"/>
                <a:gd name="T58" fmla="*/ 18 w 161"/>
                <a:gd name="T59" fmla="*/ 101 h 106"/>
                <a:gd name="T60" fmla="*/ 15 w 161"/>
                <a:gd name="T61" fmla="*/ 96 h 106"/>
                <a:gd name="T62" fmla="*/ 13 w 161"/>
                <a:gd name="T63" fmla="*/ 91 h 106"/>
                <a:gd name="T64" fmla="*/ 10 w 161"/>
                <a:gd name="T65" fmla="*/ 86 h 106"/>
                <a:gd name="T66" fmla="*/ 8 w 161"/>
                <a:gd name="T67" fmla="*/ 81 h 106"/>
                <a:gd name="T68" fmla="*/ 7 w 161"/>
                <a:gd name="T69" fmla="*/ 76 h 106"/>
                <a:gd name="T70" fmla="*/ 5 w 161"/>
                <a:gd name="T71" fmla="*/ 70 h 106"/>
                <a:gd name="T72" fmla="*/ 3 w 161"/>
                <a:gd name="T73" fmla="*/ 65 h 106"/>
                <a:gd name="T74" fmla="*/ 0 w 161"/>
                <a:gd name="T75" fmla="*/ 66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61" h="106">
                  <a:moveTo>
                    <a:pt x="161" y="43"/>
                  </a:moveTo>
                  <a:lnTo>
                    <a:pt x="161" y="36"/>
                  </a:lnTo>
                  <a:lnTo>
                    <a:pt x="159" y="31"/>
                  </a:lnTo>
                  <a:lnTo>
                    <a:pt x="157" y="25"/>
                  </a:lnTo>
                  <a:lnTo>
                    <a:pt x="154" y="20"/>
                  </a:lnTo>
                  <a:lnTo>
                    <a:pt x="153" y="15"/>
                  </a:lnTo>
                  <a:lnTo>
                    <a:pt x="149" y="10"/>
                  </a:lnTo>
                  <a:lnTo>
                    <a:pt x="146" y="5"/>
                  </a:lnTo>
                  <a:lnTo>
                    <a:pt x="143" y="0"/>
                  </a:lnTo>
                  <a:lnTo>
                    <a:pt x="139" y="2"/>
                  </a:lnTo>
                  <a:lnTo>
                    <a:pt x="143" y="7"/>
                  </a:lnTo>
                  <a:lnTo>
                    <a:pt x="146" y="12"/>
                  </a:lnTo>
                  <a:lnTo>
                    <a:pt x="149" y="17"/>
                  </a:lnTo>
                  <a:lnTo>
                    <a:pt x="153" y="22"/>
                  </a:lnTo>
                  <a:lnTo>
                    <a:pt x="154" y="27"/>
                  </a:lnTo>
                  <a:lnTo>
                    <a:pt x="156" y="33"/>
                  </a:lnTo>
                  <a:lnTo>
                    <a:pt x="157" y="38"/>
                  </a:lnTo>
                  <a:lnTo>
                    <a:pt x="157" y="45"/>
                  </a:lnTo>
                  <a:lnTo>
                    <a:pt x="161" y="43"/>
                  </a:lnTo>
                  <a:close/>
                  <a:moveTo>
                    <a:pt x="0" y="66"/>
                  </a:moveTo>
                  <a:lnTo>
                    <a:pt x="2" y="71"/>
                  </a:lnTo>
                  <a:lnTo>
                    <a:pt x="3" y="76"/>
                  </a:lnTo>
                  <a:lnTo>
                    <a:pt x="5" y="83"/>
                  </a:lnTo>
                  <a:lnTo>
                    <a:pt x="7" y="88"/>
                  </a:lnTo>
                  <a:lnTo>
                    <a:pt x="10" y="93"/>
                  </a:lnTo>
                  <a:lnTo>
                    <a:pt x="13" y="98"/>
                  </a:lnTo>
                  <a:lnTo>
                    <a:pt x="17" y="103"/>
                  </a:lnTo>
                  <a:lnTo>
                    <a:pt x="20" y="106"/>
                  </a:lnTo>
                  <a:lnTo>
                    <a:pt x="23" y="104"/>
                  </a:lnTo>
                  <a:lnTo>
                    <a:pt x="18" y="101"/>
                  </a:lnTo>
                  <a:lnTo>
                    <a:pt x="15" y="96"/>
                  </a:lnTo>
                  <a:lnTo>
                    <a:pt x="13" y="91"/>
                  </a:lnTo>
                  <a:lnTo>
                    <a:pt x="10" y="86"/>
                  </a:lnTo>
                  <a:lnTo>
                    <a:pt x="8" y="81"/>
                  </a:lnTo>
                  <a:lnTo>
                    <a:pt x="7" y="76"/>
                  </a:lnTo>
                  <a:lnTo>
                    <a:pt x="5" y="70"/>
                  </a:lnTo>
                  <a:lnTo>
                    <a:pt x="3" y="65"/>
                  </a:lnTo>
                  <a:lnTo>
                    <a:pt x="0" y="66"/>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82" name="Freeform 624">
              <a:extLst>
                <a:ext uri="{FF2B5EF4-FFF2-40B4-BE49-F238E27FC236}">
                  <a16:creationId xmlns:a16="http://schemas.microsoft.com/office/drawing/2014/main" id="{F2B327D5-EEC8-0866-C20A-1C257F3333F1}"/>
                </a:ext>
              </a:extLst>
            </p:cNvPr>
            <p:cNvSpPr>
              <a:spLocks noEditPoints="1"/>
            </p:cNvSpPr>
            <p:nvPr/>
          </p:nvSpPr>
          <p:spPr bwMode="auto">
            <a:xfrm>
              <a:off x="2138" y="1587"/>
              <a:ext cx="157" cy="104"/>
            </a:xfrm>
            <a:custGeom>
              <a:avLst/>
              <a:gdLst>
                <a:gd name="T0" fmla="*/ 157 w 157"/>
                <a:gd name="T1" fmla="*/ 41 h 104"/>
                <a:gd name="T2" fmla="*/ 157 w 157"/>
                <a:gd name="T3" fmla="*/ 36 h 104"/>
                <a:gd name="T4" fmla="*/ 155 w 157"/>
                <a:gd name="T5" fmla="*/ 29 h 104"/>
                <a:gd name="T6" fmla="*/ 154 w 157"/>
                <a:gd name="T7" fmla="*/ 25 h 104"/>
                <a:gd name="T8" fmla="*/ 152 w 157"/>
                <a:gd name="T9" fmla="*/ 20 h 104"/>
                <a:gd name="T10" fmla="*/ 149 w 157"/>
                <a:gd name="T11" fmla="*/ 13 h 104"/>
                <a:gd name="T12" fmla="*/ 146 w 157"/>
                <a:gd name="T13" fmla="*/ 8 h 104"/>
                <a:gd name="T14" fmla="*/ 142 w 157"/>
                <a:gd name="T15" fmla="*/ 5 h 104"/>
                <a:gd name="T16" fmla="*/ 139 w 157"/>
                <a:gd name="T17" fmla="*/ 0 h 104"/>
                <a:gd name="T18" fmla="*/ 136 w 157"/>
                <a:gd name="T19" fmla="*/ 1 h 104"/>
                <a:gd name="T20" fmla="*/ 139 w 157"/>
                <a:gd name="T21" fmla="*/ 5 h 104"/>
                <a:gd name="T22" fmla="*/ 142 w 157"/>
                <a:gd name="T23" fmla="*/ 10 h 104"/>
                <a:gd name="T24" fmla="*/ 146 w 157"/>
                <a:gd name="T25" fmla="*/ 15 h 104"/>
                <a:gd name="T26" fmla="*/ 149 w 157"/>
                <a:gd name="T27" fmla="*/ 20 h 104"/>
                <a:gd name="T28" fmla="*/ 151 w 157"/>
                <a:gd name="T29" fmla="*/ 26 h 104"/>
                <a:gd name="T30" fmla="*/ 152 w 157"/>
                <a:gd name="T31" fmla="*/ 31 h 104"/>
                <a:gd name="T32" fmla="*/ 154 w 157"/>
                <a:gd name="T33" fmla="*/ 38 h 104"/>
                <a:gd name="T34" fmla="*/ 154 w 157"/>
                <a:gd name="T35" fmla="*/ 43 h 104"/>
                <a:gd name="T36" fmla="*/ 157 w 157"/>
                <a:gd name="T37" fmla="*/ 41 h 104"/>
                <a:gd name="T38" fmla="*/ 0 w 157"/>
                <a:gd name="T39" fmla="*/ 63 h 104"/>
                <a:gd name="T40" fmla="*/ 1 w 157"/>
                <a:gd name="T41" fmla="*/ 69 h 104"/>
                <a:gd name="T42" fmla="*/ 3 w 157"/>
                <a:gd name="T43" fmla="*/ 74 h 104"/>
                <a:gd name="T44" fmla="*/ 5 w 157"/>
                <a:gd name="T45" fmla="*/ 79 h 104"/>
                <a:gd name="T46" fmla="*/ 6 w 157"/>
                <a:gd name="T47" fmla="*/ 84 h 104"/>
                <a:gd name="T48" fmla="*/ 10 w 157"/>
                <a:gd name="T49" fmla="*/ 89 h 104"/>
                <a:gd name="T50" fmla="*/ 13 w 157"/>
                <a:gd name="T51" fmla="*/ 94 h 104"/>
                <a:gd name="T52" fmla="*/ 16 w 157"/>
                <a:gd name="T53" fmla="*/ 99 h 104"/>
                <a:gd name="T54" fmla="*/ 20 w 157"/>
                <a:gd name="T55" fmla="*/ 104 h 104"/>
                <a:gd name="T56" fmla="*/ 23 w 157"/>
                <a:gd name="T57" fmla="*/ 102 h 104"/>
                <a:gd name="T58" fmla="*/ 18 w 157"/>
                <a:gd name="T59" fmla="*/ 97 h 104"/>
                <a:gd name="T60" fmla="*/ 15 w 157"/>
                <a:gd name="T61" fmla="*/ 94 h 104"/>
                <a:gd name="T62" fmla="*/ 13 w 157"/>
                <a:gd name="T63" fmla="*/ 89 h 104"/>
                <a:gd name="T64" fmla="*/ 10 w 157"/>
                <a:gd name="T65" fmla="*/ 84 h 104"/>
                <a:gd name="T66" fmla="*/ 8 w 157"/>
                <a:gd name="T67" fmla="*/ 78 h 104"/>
                <a:gd name="T68" fmla="*/ 6 w 157"/>
                <a:gd name="T69" fmla="*/ 73 h 104"/>
                <a:gd name="T70" fmla="*/ 5 w 157"/>
                <a:gd name="T71" fmla="*/ 68 h 104"/>
                <a:gd name="T72" fmla="*/ 3 w 157"/>
                <a:gd name="T73" fmla="*/ 61 h 104"/>
                <a:gd name="T74" fmla="*/ 0 w 157"/>
                <a:gd name="T75" fmla="*/ 63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57" h="104">
                  <a:moveTo>
                    <a:pt x="157" y="41"/>
                  </a:moveTo>
                  <a:lnTo>
                    <a:pt x="157" y="36"/>
                  </a:lnTo>
                  <a:lnTo>
                    <a:pt x="155" y="29"/>
                  </a:lnTo>
                  <a:lnTo>
                    <a:pt x="154" y="25"/>
                  </a:lnTo>
                  <a:lnTo>
                    <a:pt x="152" y="20"/>
                  </a:lnTo>
                  <a:lnTo>
                    <a:pt x="149" y="13"/>
                  </a:lnTo>
                  <a:lnTo>
                    <a:pt x="146" y="8"/>
                  </a:lnTo>
                  <a:lnTo>
                    <a:pt x="142" y="5"/>
                  </a:lnTo>
                  <a:lnTo>
                    <a:pt x="139" y="0"/>
                  </a:lnTo>
                  <a:lnTo>
                    <a:pt x="136" y="1"/>
                  </a:lnTo>
                  <a:lnTo>
                    <a:pt x="139" y="5"/>
                  </a:lnTo>
                  <a:lnTo>
                    <a:pt x="142" y="10"/>
                  </a:lnTo>
                  <a:lnTo>
                    <a:pt x="146" y="15"/>
                  </a:lnTo>
                  <a:lnTo>
                    <a:pt x="149" y="20"/>
                  </a:lnTo>
                  <a:lnTo>
                    <a:pt x="151" y="26"/>
                  </a:lnTo>
                  <a:lnTo>
                    <a:pt x="152" y="31"/>
                  </a:lnTo>
                  <a:lnTo>
                    <a:pt x="154" y="38"/>
                  </a:lnTo>
                  <a:lnTo>
                    <a:pt x="154" y="43"/>
                  </a:lnTo>
                  <a:lnTo>
                    <a:pt x="157" y="41"/>
                  </a:lnTo>
                  <a:close/>
                  <a:moveTo>
                    <a:pt x="0" y="63"/>
                  </a:moveTo>
                  <a:lnTo>
                    <a:pt x="1" y="69"/>
                  </a:lnTo>
                  <a:lnTo>
                    <a:pt x="3" y="74"/>
                  </a:lnTo>
                  <a:lnTo>
                    <a:pt x="5" y="79"/>
                  </a:lnTo>
                  <a:lnTo>
                    <a:pt x="6" y="84"/>
                  </a:lnTo>
                  <a:lnTo>
                    <a:pt x="10" y="89"/>
                  </a:lnTo>
                  <a:lnTo>
                    <a:pt x="13" y="94"/>
                  </a:lnTo>
                  <a:lnTo>
                    <a:pt x="16" y="99"/>
                  </a:lnTo>
                  <a:lnTo>
                    <a:pt x="20" y="104"/>
                  </a:lnTo>
                  <a:lnTo>
                    <a:pt x="23" y="102"/>
                  </a:lnTo>
                  <a:lnTo>
                    <a:pt x="18" y="97"/>
                  </a:lnTo>
                  <a:lnTo>
                    <a:pt x="15" y="94"/>
                  </a:lnTo>
                  <a:lnTo>
                    <a:pt x="13" y="89"/>
                  </a:lnTo>
                  <a:lnTo>
                    <a:pt x="10" y="84"/>
                  </a:lnTo>
                  <a:lnTo>
                    <a:pt x="8" y="78"/>
                  </a:lnTo>
                  <a:lnTo>
                    <a:pt x="6" y="73"/>
                  </a:lnTo>
                  <a:lnTo>
                    <a:pt x="5" y="68"/>
                  </a:lnTo>
                  <a:lnTo>
                    <a:pt x="3" y="61"/>
                  </a:lnTo>
                  <a:lnTo>
                    <a:pt x="0" y="63"/>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83" name="Freeform 625">
              <a:extLst>
                <a:ext uri="{FF2B5EF4-FFF2-40B4-BE49-F238E27FC236}">
                  <a16:creationId xmlns:a16="http://schemas.microsoft.com/office/drawing/2014/main" id="{1292B67E-A474-E715-0137-3C43E1EEA587}"/>
                </a:ext>
              </a:extLst>
            </p:cNvPr>
            <p:cNvSpPr>
              <a:spLocks noEditPoints="1"/>
            </p:cNvSpPr>
            <p:nvPr/>
          </p:nvSpPr>
          <p:spPr bwMode="auto">
            <a:xfrm>
              <a:off x="2139" y="1587"/>
              <a:ext cx="154" cy="102"/>
            </a:xfrm>
            <a:custGeom>
              <a:avLst/>
              <a:gdLst>
                <a:gd name="T0" fmla="*/ 154 w 154"/>
                <a:gd name="T1" fmla="*/ 43 h 102"/>
                <a:gd name="T2" fmla="*/ 154 w 154"/>
                <a:gd name="T3" fmla="*/ 36 h 102"/>
                <a:gd name="T4" fmla="*/ 153 w 154"/>
                <a:gd name="T5" fmla="*/ 31 h 102"/>
                <a:gd name="T6" fmla="*/ 151 w 154"/>
                <a:gd name="T7" fmla="*/ 25 h 102"/>
                <a:gd name="T8" fmla="*/ 150 w 154"/>
                <a:gd name="T9" fmla="*/ 20 h 102"/>
                <a:gd name="T10" fmla="*/ 146 w 154"/>
                <a:gd name="T11" fmla="*/ 15 h 102"/>
                <a:gd name="T12" fmla="*/ 143 w 154"/>
                <a:gd name="T13" fmla="*/ 10 h 102"/>
                <a:gd name="T14" fmla="*/ 140 w 154"/>
                <a:gd name="T15" fmla="*/ 5 h 102"/>
                <a:gd name="T16" fmla="*/ 136 w 154"/>
                <a:gd name="T17" fmla="*/ 0 h 102"/>
                <a:gd name="T18" fmla="*/ 133 w 154"/>
                <a:gd name="T19" fmla="*/ 1 h 102"/>
                <a:gd name="T20" fmla="*/ 136 w 154"/>
                <a:gd name="T21" fmla="*/ 6 h 102"/>
                <a:gd name="T22" fmla="*/ 140 w 154"/>
                <a:gd name="T23" fmla="*/ 11 h 102"/>
                <a:gd name="T24" fmla="*/ 143 w 154"/>
                <a:gd name="T25" fmla="*/ 16 h 102"/>
                <a:gd name="T26" fmla="*/ 146 w 154"/>
                <a:gd name="T27" fmla="*/ 21 h 102"/>
                <a:gd name="T28" fmla="*/ 148 w 154"/>
                <a:gd name="T29" fmla="*/ 26 h 102"/>
                <a:gd name="T30" fmla="*/ 150 w 154"/>
                <a:gd name="T31" fmla="*/ 31 h 102"/>
                <a:gd name="T32" fmla="*/ 151 w 154"/>
                <a:gd name="T33" fmla="*/ 38 h 102"/>
                <a:gd name="T34" fmla="*/ 151 w 154"/>
                <a:gd name="T35" fmla="*/ 44 h 102"/>
                <a:gd name="T36" fmla="*/ 154 w 154"/>
                <a:gd name="T37" fmla="*/ 43 h 102"/>
                <a:gd name="T38" fmla="*/ 0 w 154"/>
                <a:gd name="T39" fmla="*/ 63 h 102"/>
                <a:gd name="T40" fmla="*/ 2 w 154"/>
                <a:gd name="T41" fmla="*/ 68 h 102"/>
                <a:gd name="T42" fmla="*/ 4 w 154"/>
                <a:gd name="T43" fmla="*/ 74 h 102"/>
                <a:gd name="T44" fmla="*/ 5 w 154"/>
                <a:gd name="T45" fmla="*/ 79 h 102"/>
                <a:gd name="T46" fmla="*/ 7 w 154"/>
                <a:gd name="T47" fmla="*/ 84 h 102"/>
                <a:gd name="T48" fmla="*/ 10 w 154"/>
                <a:gd name="T49" fmla="*/ 89 h 102"/>
                <a:gd name="T50" fmla="*/ 12 w 154"/>
                <a:gd name="T51" fmla="*/ 94 h 102"/>
                <a:gd name="T52" fmla="*/ 15 w 154"/>
                <a:gd name="T53" fmla="*/ 99 h 102"/>
                <a:gd name="T54" fmla="*/ 20 w 154"/>
                <a:gd name="T55" fmla="*/ 102 h 102"/>
                <a:gd name="T56" fmla="*/ 24 w 154"/>
                <a:gd name="T57" fmla="*/ 102 h 102"/>
                <a:gd name="T58" fmla="*/ 19 w 154"/>
                <a:gd name="T59" fmla="*/ 97 h 102"/>
                <a:gd name="T60" fmla="*/ 15 w 154"/>
                <a:gd name="T61" fmla="*/ 92 h 102"/>
                <a:gd name="T62" fmla="*/ 14 w 154"/>
                <a:gd name="T63" fmla="*/ 87 h 102"/>
                <a:gd name="T64" fmla="*/ 10 w 154"/>
                <a:gd name="T65" fmla="*/ 82 h 102"/>
                <a:gd name="T66" fmla="*/ 9 w 154"/>
                <a:gd name="T67" fmla="*/ 78 h 102"/>
                <a:gd name="T68" fmla="*/ 7 w 154"/>
                <a:gd name="T69" fmla="*/ 73 h 102"/>
                <a:gd name="T70" fmla="*/ 5 w 154"/>
                <a:gd name="T71" fmla="*/ 66 h 102"/>
                <a:gd name="T72" fmla="*/ 4 w 154"/>
                <a:gd name="T73" fmla="*/ 61 h 102"/>
                <a:gd name="T74" fmla="*/ 0 w 154"/>
                <a:gd name="T75" fmla="*/ 63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54" h="102">
                  <a:moveTo>
                    <a:pt x="154" y="43"/>
                  </a:moveTo>
                  <a:lnTo>
                    <a:pt x="154" y="36"/>
                  </a:lnTo>
                  <a:lnTo>
                    <a:pt x="153" y="31"/>
                  </a:lnTo>
                  <a:lnTo>
                    <a:pt x="151" y="25"/>
                  </a:lnTo>
                  <a:lnTo>
                    <a:pt x="150" y="20"/>
                  </a:lnTo>
                  <a:lnTo>
                    <a:pt x="146" y="15"/>
                  </a:lnTo>
                  <a:lnTo>
                    <a:pt x="143" y="10"/>
                  </a:lnTo>
                  <a:lnTo>
                    <a:pt x="140" y="5"/>
                  </a:lnTo>
                  <a:lnTo>
                    <a:pt x="136" y="0"/>
                  </a:lnTo>
                  <a:lnTo>
                    <a:pt x="133" y="1"/>
                  </a:lnTo>
                  <a:lnTo>
                    <a:pt x="136" y="6"/>
                  </a:lnTo>
                  <a:lnTo>
                    <a:pt x="140" y="11"/>
                  </a:lnTo>
                  <a:lnTo>
                    <a:pt x="143" y="16"/>
                  </a:lnTo>
                  <a:lnTo>
                    <a:pt x="146" y="21"/>
                  </a:lnTo>
                  <a:lnTo>
                    <a:pt x="148" y="26"/>
                  </a:lnTo>
                  <a:lnTo>
                    <a:pt x="150" y="31"/>
                  </a:lnTo>
                  <a:lnTo>
                    <a:pt x="151" y="38"/>
                  </a:lnTo>
                  <a:lnTo>
                    <a:pt x="151" y="44"/>
                  </a:lnTo>
                  <a:lnTo>
                    <a:pt x="154" y="43"/>
                  </a:lnTo>
                  <a:close/>
                  <a:moveTo>
                    <a:pt x="0" y="63"/>
                  </a:moveTo>
                  <a:lnTo>
                    <a:pt x="2" y="68"/>
                  </a:lnTo>
                  <a:lnTo>
                    <a:pt x="4" y="74"/>
                  </a:lnTo>
                  <a:lnTo>
                    <a:pt x="5" y="79"/>
                  </a:lnTo>
                  <a:lnTo>
                    <a:pt x="7" y="84"/>
                  </a:lnTo>
                  <a:lnTo>
                    <a:pt x="10" y="89"/>
                  </a:lnTo>
                  <a:lnTo>
                    <a:pt x="12" y="94"/>
                  </a:lnTo>
                  <a:lnTo>
                    <a:pt x="15" y="99"/>
                  </a:lnTo>
                  <a:lnTo>
                    <a:pt x="20" y="102"/>
                  </a:lnTo>
                  <a:lnTo>
                    <a:pt x="24" y="102"/>
                  </a:lnTo>
                  <a:lnTo>
                    <a:pt x="19" y="97"/>
                  </a:lnTo>
                  <a:lnTo>
                    <a:pt x="15" y="92"/>
                  </a:lnTo>
                  <a:lnTo>
                    <a:pt x="14" y="87"/>
                  </a:lnTo>
                  <a:lnTo>
                    <a:pt x="10" y="82"/>
                  </a:lnTo>
                  <a:lnTo>
                    <a:pt x="9" y="78"/>
                  </a:lnTo>
                  <a:lnTo>
                    <a:pt x="7" y="73"/>
                  </a:lnTo>
                  <a:lnTo>
                    <a:pt x="5" y="66"/>
                  </a:lnTo>
                  <a:lnTo>
                    <a:pt x="4" y="61"/>
                  </a:lnTo>
                  <a:lnTo>
                    <a:pt x="0" y="63"/>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84" name="Freeform 626">
              <a:extLst>
                <a:ext uri="{FF2B5EF4-FFF2-40B4-BE49-F238E27FC236}">
                  <a16:creationId xmlns:a16="http://schemas.microsoft.com/office/drawing/2014/main" id="{D5E9E1DB-507A-CA5A-2B60-5F00ED75B91C}"/>
                </a:ext>
              </a:extLst>
            </p:cNvPr>
            <p:cNvSpPr>
              <a:spLocks noEditPoints="1"/>
            </p:cNvSpPr>
            <p:nvPr/>
          </p:nvSpPr>
          <p:spPr bwMode="auto">
            <a:xfrm>
              <a:off x="2141" y="1588"/>
              <a:ext cx="151" cy="101"/>
            </a:xfrm>
            <a:custGeom>
              <a:avLst/>
              <a:gdLst>
                <a:gd name="T0" fmla="*/ 151 w 151"/>
                <a:gd name="T1" fmla="*/ 42 h 101"/>
                <a:gd name="T2" fmla="*/ 151 w 151"/>
                <a:gd name="T3" fmla="*/ 37 h 101"/>
                <a:gd name="T4" fmla="*/ 149 w 151"/>
                <a:gd name="T5" fmla="*/ 30 h 101"/>
                <a:gd name="T6" fmla="*/ 148 w 151"/>
                <a:gd name="T7" fmla="*/ 25 h 101"/>
                <a:gd name="T8" fmla="*/ 146 w 151"/>
                <a:gd name="T9" fmla="*/ 19 h 101"/>
                <a:gd name="T10" fmla="*/ 143 w 151"/>
                <a:gd name="T11" fmla="*/ 14 h 101"/>
                <a:gd name="T12" fmla="*/ 139 w 151"/>
                <a:gd name="T13" fmla="*/ 9 h 101"/>
                <a:gd name="T14" fmla="*/ 136 w 151"/>
                <a:gd name="T15" fmla="*/ 4 h 101"/>
                <a:gd name="T16" fmla="*/ 133 w 151"/>
                <a:gd name="T17" fmla="*/ 0 h 101"/>
                <a:gd name="T18" fmla="*/ 129 w 151"/>
                <a:gd name="T19" fmla="*/ 2 h 101"/>
                <a:gd name="T20" fmla="*/ 134 w 151"/>
                <a:gd name="T21" fmla="*/ 5 h 101"/>
                <a:gd name="T22" fmla="*/ 138 w 151"/>
                <a:gd name="T23" fmla="*/ 10 h 101"/>
                <a:gd name="T24" fmla="*/ 139 w 151"/>
                <a:gd name="T25" fmla="*/ 15 h 101"/>
                <a:gd name="T26" fmla="*/ 143 w 151"/>
                <a:gd name="T27" fmla="*/ 20 h 101"/>
                <a:gd name="T28" fmla="*/ 144 w 151"/>
                <a:gd name="T29" fmla="*/ 27 h 101"/>
                <a:gd name="T30" fmla="*/ 146 w 151"/>
                <a:gd name="T31" fmla="*/ 32 h 101"/>
                <a:gd name="T32" fmla="*/ 148 w 151"/>
                <a:gd name="T33" fmla="*/ 37 h 101"/>
                <a:gd name="T34" fmla="*/ 148 w 151"/>
                <a:gd name="T35" fmla="*/ 43 h 101"/>
                <a:gd name="T36" fmla="*/ 151 w 151"/>
                <a:gd name="T37" fmla="*/ 42 h 101"/>
                <a:gd name="T38" fmla="*/ 0 w 151"/>
                <a:gd name="T39" fmla="*/ 60 h 101"/>
                <a:gd name="T40" fmla="*/ 2 w 151"/>
                <a:gd name="T41" fmla="*/ 67 h 101"/>
                <a:gd name="T42" fmla="*/ 3 w 151"/>
                <a:gd name="T43" fmla="*/ 72 h 101"/>
                <a:gd name="T44" fmla="*/ 5 w 151"/>
                <a:gd name="T45" fmla="*/ 77 h 101"/>
                <a:gd name="T46" fmla="*/ 7 w 151"/>
                <a:gd name="T47" fmla="*/ 83 h 101"/>
                <a:gd name="T48" fmla="*/ 10 w 151"/>
                <a:gd name="T49" fmla="*/ 88 h 101"/>
                <a:gd name="T50" fmla="*/ 12 w 151"/>
                <a:gd name="T51" fmla="*/ 93 h 101"/>
                <a:gd name="T52" fmla="*/ 15 w 151"/>
                <a:gd name="T53" fmla="*/ 96 h 101"/>
                <a:gd name="T54" fmla="*/ 20 w 151"/>
                <a:gd name="T55" fmla="*/ 101 h 101"/>
                <a:gd name="T56" fmla="*/ 23 w 151"/>
                <a:gd name="T57" fmla="*/ 100 h 101"/>
                <a:gd name="T58" fmla="*/ 18 w 151"/>
                <a:gd name="T59" fmla="*/ 95 h 101"/>
                <a:gd name="T60" fmla="*/ 15 w 151"/>
                <a:gd name="T61" fmla="*/ 91 h 101"/>
                <a:gd name="T62" fmla="*/ 12 w 151"/>
                <a:gd name="T63" fmla="*/ 86 h 101"/>
                <a:gd name="T64" fmla="*/ 10 w 151"/>
                <a:gd name="T65" fmla="*/ 81 h 101"/>
                <a:gd name="T66" fmla="*/ 8 w 151"/>
                <a:gd name="T67" fmla="*/ 77 h 101"/>
                <a:gd name="T68" fmla="*/ 5 w 151"/>
                <a:gd name="T69" fmla="*/ 70 h 101"/>
                <a:gd name="T70" fmla="*/ 5 w 151"/>
                <a:gd name="T71" fmla="*/ 65 h 101"/>
                <a:gd name="T72" fmla="*/ 3 w 151"/>
                <a:gd name="T73" fmla="*/ 58 h 101"/>
                <a:gd name="T74" fmla="*/ 0 w 151"/>
                <a:gd name="T75" fmla="*/ 60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51" h="101">
                  <a:moveTo>
                    <a:pt x="151" y="42"/>
                  </a:moveTo>
                  <a:lnTo>
                    <a:pt x="151" y="37"/>
                  </a:lnTo>
                  <a:lnTo>
                    <a:pt x="149" y="30"/>
                  </a:lnTo>
                  <a:lnTo>
                    <a:pt x="148" y="25"/>
                  </a:lnTo>
                  <a:lnTo>
                    <a:pt x="146" y="19"/>
                  </a:lnTo>
                  <a:lnTo>
                    <a:pt x="143" y="14"/>
                  </a:lnTo>
                  <a:lnTo>
                    <a:pt x="139" y="9"/>
                  </a:lnTo>
                  <a:lnTo>
                    <a:pt x="136" y="4"/>
                  </a:lnTo>
                  <a:lnTo>
                    <a:pt x="133" y="0"/>
                  </a:lnTo>
                  <a:lnTo>
                    <a:pt x="129" y="2"/>
                  </a:lnTo>
                  <a:lnTo>
                    <a:pt x="134" y="5"/>
                  </a:lnTo>
                  <a:lnTo>
                    <a:pt x="138" y="10"/>
                  </a:lnTo>
                  <a:lnTo>
                    <a:pt x="139" y="15"/>
                  </a:lnTo>
                  <a:lnTo>
                    <a:pt x="143" y="20"/>
                  </a:lnTo>
                  <a:lnTo>
                    <a:pt x="144" y="27"/>
                  </a:lnTo>
                  <a:lnTo>
                    <a:pt x="146" y="32"/>
                  </a:lnTo>
                  <a:lnTo>
                    <a:pt x="148" y="37"/>
                  </a:lnTo>
                  <a:lnTo>
                    <a:pt x="148" y="43"/>
                  </a:lnTo>
                  <a:lnTo>
                    <a:pt x="151" y="42"/>
                  </a:lnTo>
                  <a:close/>
                  <a:moveTo>
                    <a:pt x="0" y="60"/>
                  </a:moveTo>
                  <a:lnTo>
                    <a:pt x="2" y="67"/>
                  </a:lnTo>
                  <a:lnTo>
                    <a:pt x="3" y="72"/>
                  </a:lnTo>
                  <a:lnTo>
                    <a:pt x="5" y="77"/>
                  </a:lnTo>
                  <a:lnTo>
                    <a:pt x="7" y="83"/>
                  </a:lnTo>
                  <a:lnTo>
                    <a:pt x="10" y="88"/>
                  </a:lnTo>
                  <a:lnTo>
                    <a:pt x="12" y="93"/>
                  </a:lnTo>
                  <a:lnTo>
                    <a:pt x="15" y="96"/>
                  </a:lnTo>
                  <a:lnTo>
                    <a:pt x="20" y="101"/>
                  </a:lnTo>
                  <a:lnTo>
                    <a:pt x="23" y="100"/>
                  </a:lnTo>
                  <a:lnTo>
                    <a:pt x="18" y="95"/>
                  </a:lnTo>
                  <a:lnTo>
                    <a:pt x="15" y="91"/>
                  </a:lnTo>
                  <a:lnTo>
                    <a:pt x="12" y="86"/>
                  </a:lnTo>
                  <a:lnTo>
                    <a:pt x="10" y="81"/>
                  </a:lnTo>
                  <a:lnTo>
                    <a:pt x="8" y="77"/>
                  </a:lnTo>
                  <a:lnTo>
                    <a:pt x="5" y="70"/>
                  </a:lnTo>
                  <a:lnTo>
                    <a:pt x="5" y="65"/>
                  </a:lnTo>
                  <a:lnTo>
                    <a:pt x="3" y="58"/>
                  </a:lnTo>
                  <a:lnTo>
                    <a:pt x="0" y="6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grpSp>
      <p:grpSp>
        <p:nvGrpSpPr>
          <p:cNvPr id="27" name="Group 829">
            <a:extLst>
              <a:ext uri="{FF2B5EF4-FFF2-40B4-BE49-F238E27FC236}">
                <a16:creationId xmlns:a16="http://schemas.microsoft.com/office/drawing/2014/main" id="{A8BBB74B-7259-A017-6F1F-155A94BDDB22}"/>
              </a:ext>
            </a:extLst>
          </p:cNvPr>
          <p:cNvGrpSpPr>
            <a:grpSpLocks/>
          </p:cNvGrpSpPr>
          <p:nvPr/>
        </p:nvGrpSpPr>
        <p:grpSpPr bwMode="auto">
          <a:xfrm>
            <a:off x="1997075" y="1690688"/>
            <a:ext cx="4699000" cy="4552950"/>
            <a:chOff x="1258" y="1065"/>
            <a:chExt cx="2960" cy="2868"/>
          </a:xfrm>
        </p:grpSpPr>
        <p:sp>
          <p:nvSpPr>
            <p:cNvPr id="72484" name="Freeform 628">
              <a:extLst>
                <a:ext uri="{FF2B5EF4-FFF2-40B4-BE49-F238E27FC236}">
                  <a16:creationId xmlns:a16="http://schemas.microsoft.com/office/drawing/2014/main" id="{92D4A043-976C-62DF-8982-DABD3538CB26}"/>
                </a:ext>
              </a:extLst>
            </p:cNvPr>
            <p:cNvSpPr>
              <a:spLocks noEditPoints="1"/>
            </p:cNvSpPr>
            <p:nvPr/>
          </p:nvSpPr>
          <p:spPr bwMode="auto">
            <a:xfrm>
              <a:off x="2143" y="1588"/>
              <a:ext cx="147" cy="101"/>
            </a:xfrm>
            <a:custGeom>
              <a:avLst/>
              <a:gdLst>
                <a:gd name="T0" fmla="*/ 147 w 147"/>
                <a:gd name="T1" fmla="*/ 43 h 101"/>
                <a:gd name="T2" fmla="*/ 147 w 147"/>
                <a:gd name="T3" fmla="*/ 37 h 101"/>
                <a:gd name="T4" fmla="*/ 146 w 147"/>
                <a:gd name="T5" fmla="*/ 30 h 101"/>
                <a:gd name="T6" fmla="*/ 144 w 147"/>
                <a:gd name="T7" fmla="*/ 25 h 101"/>
                <a:gd name="T8" fmla="*/ 142 w 147"/>
                <a:gd name="T9" fmla="*/ 20 h 101"/>
                <a:gd name="T10" fmla="*/ 139 w 147"/>
                <a:gd name="T11" fmla="*/ 15 h 101"/>
                <a:gd name="T12" fmla="*/ 136 w 147"/>
                <a:gd name="T13" fmla="*/ 10 h 101"/>
                <a:gd name="T14" fmla="*/ 132 w 147"/>
                <a:gd name="T15" fmla="*/ 5 h 101"/>
                <a:gd name="T16" fmla="*/ 129 w 147"/>
                <a:gd name="T17" fmla="*/ 0 h 101"/>
                <a:gd name="T18" fmla="*/ 126 w 147"/>
                <a:gd name="T19" fmla="*/ 2 h 101"/>
                <a:gd name="T20" fmla="*/ 131 w 147"/>
                <a:gd name="T21" fmla="*/ 7 h 101"/>
                <a:gd name="T22" fmla="*/ 134 w 147"/>
                <a:gd name="T23" fmla="*/ 12 h 101"/>
                <a:gd name="T24" fmla="*/ 136 w 147"/>
                <a:gd name="T25" fmla="*/ 17 h 101"/>
                <a:gd name="T26" fmla="*/ 139 w 147"/>
                <a:gd name="T27" fmla="*/ 22 h 101"/>
                <a:gd name="T28" fmla="*/ 141 w 147"/>
                <a:gd name="T29" fmla="*/ 27 h 101"/>
                <a:gd name="T30" fmla="*/ 142 w 147"/>
                <a:gd name="T31" fmla="*/ 32 h 101"/>
                <a:gd name="T32" fmla="*/ 144 w 147"/>
                <a:gd name="T33" fmla="*/ 38 h 101"/>
                <a:gd name="T34" fmla="*/ 146 w 147"/>
                <a:gd name="T35" fmla="*/ 43 h 101"/>
                <a:gd name="T36" fmla="*/ 147 w 147"/>
                <a:gd name="T37" fmla="*/ 43 h 101"/>
                <a:gd name="T38" fmla="*/ 0 w 147"/>
                <a:gd name="T39" fmla="*/ 60 h 101"/>
                <a:gd name="T40" fmla="*/ 1 w 147"/>
                <a:gd name="T41" fmla="*/ 65 h 101"/>
                <a:gd name="T42" fmla="*/ 3 w 147"/>
                <a:gd name="T43" fmla="*/ 72 h 101"/>
                <a:gd name="T44" fmla="*/ 5 w 147"/>
                <a:gd name="T45" fmla="*/ 77 h 101"/>
                <a:gd name="T46" fmla="*/ 6 w 147"/>
                <a:gd name="T47" fmla="*/ 81 h 101"/>
                <a:gd name="T48" fmla="*/ 10 w 147"/>
                <a:gd name="T49" fmla="*/ 86 h 101"/>
                <a:gd name="T50" fmla="*/ 11 w 147"/>
                <a:gd name="T51" fmla="*/ 91 h 101"/>
                <a:gd name="T52" fmla="*/ 15 w 147"/>
                <a:gd name="T53" fmla="*/ 96 h 101"/>
                <a:gd name="T54" fmla="*/ 20 w 147"/>
                <a:gd name="T55" fmla="*/ 101 h 101"/>
                <a:gd name="T56" fmla="*/ 21 w 147"/>
                <a:gd name="T57" fmla="*/ 100 h 101"/>
                <a:gd name="T58" fmla="*/ 18 w 147"/>
                <a:gd name="T59" fmla="*/ 95 h 101"/>
                <a:gd name="T60" fmla="*/ 15 w 147"/>
                <a:gd name="T61" fmla="*/ 90 h 101"/>
                <a:gd name="T62" fmla="*/ 11 w 147"/>
                <a:gd name="T63" fmla="*/ 85 h 101"/>
                <a:gd name="T64" fmla="*/ 10 w 147"/>
                <a:gd name="T65" fmla="*/ 80 h 101"/>
                <a:gd name="T66" fmla="*/ 6 w 147"/>
                <a:gd name="T67" fmla="*/ 75 h 101"/>
                <a:gd name="T68" fmla="*/ 5 w 147"/>
                <a:gd name="T69" fmla="*/ 70 h 101"/>
                <a:gd name="T70" fmla="*/ 5 w 147"/>
                <a:gd name="T71" fmla="*/ 63 h 101"/>
                <a:gd name="T72" fmla="*/ 3 w 147"/>
                <a:gd name="T73" fmla="*/ 58 h 101"/>
                <a:gd name="T74" fmla="*/ 0 w 147"/>
                <a:gd name="T75" fmla="*/ 60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47" h="101">
                  <a:moveTo>
                    <a:pt x="147" y="43"/>
                  </a:moveTo>
                  <a:lnTo>
                    <a:pt x="147" y="37"/>
                  </a:lnTo>
                  <a:lnTo>
                    <a:pt x="146" y="30"/>
                  </a:lnTo>
                  <a:lnTo>
                    <a:pt x="144" y="25"/>
                  </a:lnTo>
                  <a:lnTo>
                    <a:pt x="142" y="20"/>
                  </a:lnTo>
                  <a:lnTo>
                    <a:pt x="139" y="15"/>
                  </a:lnTo>
                  <a:lnTo>
                    <a:pt x="136" y="10"/>
                  </a:lnTo>
                  <a:lnTo>
                    <a:pt x="132" y="5"/>
                  </a:lnTo>
                  <a:lnTo>
                    <a:pt x="129" y="0"/>
                  </a:lnTo>
                  <a:lnTo>
                    <a:pt x="126" y="2"/>
                  </a:lnTo>
                  <a:lnTo>
                    <a:pt x="131" y="7"/>
                  </a:lnTo>
                  <a:lnTo>
                    <a:pt x="134" y="12"/>
                  </a:lnTo>
                  <a:lnTo>
                    <a:pt x="136" y="17"/>
                  </a:lnTo>
                  <a:lnTo>
                    <a:pt x="139" y="22"/>
                  </a:lnTo>
                  <a:lnTo>
                    <a:pt x="141" y="27"/>
                  </a:lnTo>
                  <a:lnTo>
                    <a:pt x="142" y="32"/>
                  </a:lnTo>
                  <a:lnTo>
                    <a:pt x="144" y="38"/>
                  </a:lnTo>
                  <a:lnTo>
                    <a:pt x="146" y="43"/>
                  </a:lnTo>
                  <a:lnTo>
                    <a:pt x="147" y="43"/>
                  </a:lnTo>
                  <a:close/>
                  <a:moveTo>
                    <a:pt x="0" y="60"/>
                  </a:moveTo>
                  <a:lnTo>
                    <a:pt x="1" y="65"/>
                  </a:lnTo>
                  <a:lnTo>
                    <a:pt x="3" y="72"/>
                  </a:lnTo>
                  <a:lnTo>
                    <a:pt x="5" y="77"/>
                  </a:lnTo>
                  <a:lnTo>
                    <a:pt x="6" y="81"/>
                  </a:lnTo>
                  <a:lnTo>
                    <a:pt x="10" y="86"/>
                  </a:lnTo>
                  <a:lnTo>
                    <a:pt x="11" y="91"/>
                  </a:lnTo>
                  <a:lnTo>
                    <a:pt x="15" y="96"/>
                  </a:lnTo>
                  <a:lnTo>
                    <a:pt x="20" y="101"/>
                  </a:lnTo>
                  <a:lnTo>
                    <a:pt x="21" y="100"/>
                  </a:lnTo>
                  <a:lnTo>
                    <a:pt x="18" y="95"/>
                  </a:lnTo>
                  <a:lnTo>
                    <a:pt x="15" y="90"/>
                  </a:lnTo>
                  <a:lnTo>
                    <a:pt x="11" y="85"/>
                  </a:lnTo>
                  <a:lnTo>
                    <a:pt x="10" y="80"/>
                  </a:lnTo>
                  <a:lnTo>
                    <a:pt x="6" y="75"/>
                  </a:lnTo>
                  <a:lnTo>
                    <a:pt x="5" y="70"/>
                  </a:lnTo>
                  <a:lnTo>
                    <a:pt x="5" y="63"/>
                  </a:lnTo>
                  <a:lnTo>
                    <a:pt x="3" y="58"/>
                  </a:lnTo>
                  <a:lnTo>
                    <a:pt x="0" y="6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85" name="Freeform 629">
              <a:extLst>
                <a:ext uri="{FF2B5EF4-FFF2-40B4-BE49-F238E27FC236}">
                  <a16:creationId xmlns:a16="http://schemas.microsoft.com/office/drawing/2014/main" id="{738A61E2-BA92-179A-100D-31C1E21CAB22}"/>
                </a:ext>
              </a:extLst>
            </p:cNvPr>
            <p:cNvSpPr>
              <a:spLocks noEditPoints="1"/>
            </p:cNvSpPr>
            <p:nvPr/>
          </p:nvSpPr>
          <p:spPr bwMode="auto">
            <a:xfrm>
              <a:off x="2144" y="1590"/>
              <a:ext cx="145" cy="98"/>
            </a:xfrm>
            <a:custGeom>
              <a:avLst/>
              <a:gdLst>
                <a:gd name="T0" fmla="*/ 145 w 145"/>
                <a:gd name="T1" fmla="*/ 41 h 98"/>
                <a:gd name="T2" fmla="*/ 145 w 145"/>
                <a:gd name="T3" fmla="*/ 35 h 98"/>
                <a:gd name="T4" fmla="*/ 143 w 145"/>
                <a:gd name="T5" fmla="*/ 30 h 98"/>
                <a:gd name="T6" fmla="*/ 141 w 145"/>
                <a:gd name="T7" fmla="*/ 25 h 98"/>
                <a:gd name="T8" fmla="*/ 140 w 145"/>
                <a:gd name="T9" fmla="*/ 18 h 98"/>
                <a:gd name="T10" fmla="*/ 136 w 145"/>
                <a:gd name="T11" fmla="*/ 13 h 98"/>
                <a:gd name="T12" fmla="*/ 135 w 145"/>
                <a:gd name="T13" fmla="*/ 8 h 98"/>
                <a:gd name="T14" fmla="*/ 131 w 145"/>
                <a:gd name="T15" fmla="*/ 3 h 98"/>
                <a:gd name="T16" fmla="*/ 126 w 145"/>
                <a:gd name="T17" fmla="*/ 0 h 98"/>
                <a:gd name="T18" fmla="*/ 123 w 145"/>
                <a:gd name="T19" fmla="*/ 2 h 98"/>
                <a:gd name="T20" fmla="*/ 128 w 145"/>
                <a:gd name="T21" fmla="*/ 5 h 98"/>
                <a:gd name="T22" fmla="*/ 131 w 145"/>
                <a:gd name="T23" fmla="*/ 10 h 98"/>
                <a:gd name="T24" fmla="*/ 133 w 145"/>
                <a:gd name="T25" fmla="*/ 15 h 98"/>
                <a:gd name="T26" fmla="*/ 136 w 145"/>
                <a:gd name="T27" fmla="*/ 20 h 98"/>
                <a:gd name="T28" fmla="*/ 138 w 145"/>
                <a:gd name="T29" fmla="*/ 25 h 98"/>
                <a:gd name="T30" fmla="*/ 140 w 145"/>
                <a:gd name="T31" fmla="*/ 31 h 98"/>
                <a:gd name="T32" fmla="*/ 141 w 145"/>
                <a:gd name="T33" fmla="*/ 36 h 98"/>
                <a:gd name="T34" fmla="*/ 143 w 145"/>
                <a:gd name="T35" fmla="*/ 43 h 98"/>
                <a:gd name="T36" fmla="*/ 145 w 145"/>
                <a:gd name="T37" fmla="*/ 41 h 98"/>
                <a:gd name="T38" fmla="*/ 0 w 145"/>
                <a:gd name="T39" fmla="*/ 56 h 98"/>
                <a:gd name="T40" fmla="*/ 2 w 145"/>
                <a:gd name="T41" fmla="*/ 63 h 98"/>
                <a:gd name="T42" fmla="*/ 2 w 145"/>
                <a:gd name="T43" fmla="*/ 68 h 98"/>
                <a:gd name="T44" fmla="*/ 5 w 145"/>
                <a:gd name="T45" fmla="*/ 75 h 98"/>
                <a:gd name="T46" fmla="*/ 7 w 145"/>
                <a:gd name="T47" fmla="*/ 79 h 98"/>
                <a:gd name="T48" fmla="*/ 9 w 145"/>
                <a:gd name="T49" fmla="*/ 84 h 98"/>
                <a:gd name="T50" fmla="*/ 12 w 145"/>
                <a:gd name="T51" fmla="*/ 89 h 98"/>
                <a:gd name="T52" fmla="*/ 15 w 145"/>
                <a:gd name="T53" fmla="*/ 93 h 98"/>
                <a:gd name="T54" fmla="*/ 20 w 145"/>
                <a:gd name="T55" fmla="*/ 98 h 98"/>
                <a:gd name="T56" fmla="*/ 22 w 145"/>
                <a:gd name="T57" fmla="*/ 96 h 98"/>
                <a:gd name="T58" fmla="*/ 19 w 145"/>
                <a:gd name="T59" fmla="*/ 93 h 98"/>
                <a:gd name="T60" fmla="*/ 15 w 145"/>
                <a:gd name="T61" fmla="*/ 88 h 98"/>
                <a:gd name="T62" fmla="*/ 12 w 145"/>
                <a:gd name="T63" fmla="*/ 83 h 98"/>
                <a:gd name="T64" fmla="*/ 10 w 145"/>
                <a:gd name="T65" fmla="*/ 78 h 98"/>
                <a:gd name="T66" fmla="*/ 7 w 145"/>
                <a:gd name="T67" fmla="*/ 73 h 98"/>
                <a:gd name="T68" fmla="*/ 5 w 145"/>
                <a:gd name="T69" fmla="*/ 66 h 98"/>
                <a:gd name="T70" fmla="*/ 4 w 145"/>
                <a:gd name="T71" fmla="*/ 61 h 98"/>
                <a:gd name="T72" fmla="*/ 4 w 145"/>
                <a:gd name="T73" fmla="*/ 55 h 98"/>
                <a:gd name="T74" fmla="*/ 0 w 145"/>
                <a:gd name="T75" fmla="*/ 56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45" h="98">
                  <a:moveTo>
                    <a:pt x="145" y="41"/>
                  </a:moveTo>
                  <a:lnTo>
                    <a:pt x="145" y="35"/>
                  </a:lnTo>
                  <a:lnTo>
                    <a:pt x="143" y="30"/>
                  </a:lnTo>
                  <a:lnTo>
                    <a:pt x="141" y="25"/>
                  </a:lnTo>
                  <a:lnTo>
                    <a:pt x="140" y="18"/>
                  </a:lnTo>
                  <a:lnTo>
                    <a:pt x="136" y="13"/>
                  </a:lnTo>
                  <a:lnTo>
                    <a:pt x="135" y="8"/>
                  </a:lnTo>
                  <a:lnTo>
                    <a:pt x="131" y="3"/>
                  </a:lnTo>
                  <a:lnTo>
                    <a:pt x="126" y="0"/>
                  </a:lnTo>
                  <a:lnTo>
                    <a:pt x="123" y="2"/>
                  </a:lnTo>
                  <a:lnTo>
                    <a:pt x="128" y="5"/>
                  </a:lnTo>
                  <a:lnTo>
                    <a:pt x="131" y="10"/>
                  </a:lnTo>
                  <a:lnTo>
                    <a:pt x="133" y="15"/>
                  </a:lnTo>
                  <a:lnTo>
                    <a:pt x="136" y="20"/>
                  </a:lnTo>
                  <a:lnTo>
                    <a:pt x="138" y="25"/>
                  </a:lnTo>
                  <a:lnTo>
                    <a:pt x="140" y="31"/>
                  </a:lnTo>
                  <a:lnTo>
                    <a:pt x="141" y="36"/>
                  </a:lnTo>
                  <a:lnTo>
                    <a:pt x="143" y="43"/>
                  </a:lnTo>
                  <a:lnTo>
                    <a:pt x="145" y="41"/>
                  </a:lnTo>
                  <a:close/>
                  <a:moveTo>
                    <a:pt x="0" y="56"/>
                  </a:moveTo>
                  <a:lnTo>
                    <a:pt x="2" y="63"/>
                  </a:lnTo>
                  <a:lnTo>
                    <a:pt x="2" y="68"/>
                  </a:lnTo>
                  <a:lnTo>
                    <a:pt x="5" y="75"/>
                  </a:lnTo>
                  <a:lnTo>
                    <a:pt x="7" y="79"/>
                  </a:lnTo>
                  <a:lnTo>
                    <a:pt x="9" y="84"/>
                  </a:lnTo>
                  <a:lnTo>
                    <a:pt x="12" y="89"/>
                  </a:lnTo>
                  <a:lnTo>
                    <a:pt x="15" y="93"/>
                  </a:lnTo>
                  <a:lnTo>
                    <a:pt x="20" y="98"/>
                  </a:lnTo>
                  <a:lnTo>
                    <a:pt x="22" y="96"/>
                  </a:lnTo>
                  <a:lnTo>
                    <a:pt x="19" y="93"/>
                  </a:lnTo>
                  <a:lnTo>
                    <a:pt x="15" y="88"/>
                  </a:lnTo>
                  <a:lnTo>
                    <a:pt x="12" y="83"/>
                  </a:lnTo>
                  <a:lnTo>
                    <a:pt x="10" y="78"/>
                  </a:lnTo>
                  <a:lnTo>
                    <a:pt x="7" y="73"/>
                  </a:lnTo>
                  <a:lnTo>
                    <a:pt x="5" y="66"/>
                  </a:lnTo>
                  <a:lnTo>
                    <a:pt x="4" y="61"/>
                  </a:lnTo>
                  <a:lnTo>
                    <a:pt x="4" y="55"/>
                  </a:lnTo>
                  <a:lnTo>
                    <a:pt x="0" y="56"/>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86" name="Freeform 630">
              <a:extLst>
                <a:ext uri="{FF2B5EF4-FFF2-40B4-BE49-F238E27FC236}">
                  <a16:creationId xmlns:a16="http://schemas.microsoft.com/office/drawing/2014/main" id="{F1DEE10A-796E-0029-5AF1-FDE8C73CA3A0}"/>
                </a:ext>
              </a:extLst>
            </p:cNvPr>
            <p:cNvSpPr>
              <a:spLocks noEditPoints="1"/>
            </p:cNvSpPr>
            <p:nvPr/>
          </p:nvSpPr>
          <p:spPr bwMode="auto">
            <a:xfrm>
              <a:off x="2146" y="1590"/>
              <a:ext cx="143" cy="98"/>
            </a:xfrm>
            <a:custGeom>
              <a:avLst/>
              <a:gdLst>
                <a:gd name="T0" fmla="*/ 143 w 143"/>
                <a:gd name="T1" fmla="*/ 41 h 98"/>
                <a:gd name="T2" fmla="*/ 141 w 143"/>
                <a:gd name="T3" fmla="*/ 36 h 98"/>
                <a:gd name="T4" fmla="*/ 139 w 143"/>
                <a:gd name="T5" fmla="*/ 30 h 98"/>
                <a:gd name="T6" fmla="*/ 138 w 143"/>
                <a:gd name="T7" fmla="*/ 25 h 98"/>
                <a:gd name="T8" fmla="*/ 136 w 143"/>
                <a:gd name="T9" fmla="*/ 20 h 98"/>
                <a:gd name="T10" fmla="*/ 133 w 143"/>
                <a:gd name="T11" fmla="*/ 15 h 98"/>
                <a:gd name="T12" fmla="*/ 131 w 143"/>
                <a:gd name="T13" fmla="*/ 10 h 98"/>
                <a:gd name="T14" fmla="*/ 128 w 143"/>
                <a:gd name="T15" fmla="*/ 5 h 98"/>
                <a:gd name="T16" fmla="*/ 123 w 143"/>
                <a:gd name="T17" fmla="*/ 0 h 98"/>
                <a:gd name="T18" fmla="*/ 119 w 143"/>
                <a:gd name="T19" fmla="*/ 2 h 98"/>
                <a:gd name="T20" fmla="*/ 124 w 143"/>
                <a:gd name="T21" fmla="*/ 7 h 98"/>
                <a:gd name="T22" fmla="*/ 128 w 143"/>
                <a:gd name="T23" fmla="*/ 10 h 98"/>
                <a:gd name="T24" fmla="*/ 131 w 143"/>
                <a:gd name="T25" fmla="*/ 15 h 98"/>
                <a:gd name="T26" fmla="*/ 133 w 143"/>
                <a:gd name="T27" fmla="*/ 20 h 98"/>
                <a:gd name="T28" fmla="*/ 134 w 143"/>
                <a:gd name="T29" fmla="*/ 26 h 98"/>
                <a:gd name="T30" fmla="*/ 136 w 143"/>
                <a:gd name="T31" fmla="*/ 31 h 98"/>
                <a:gd name="T32" fmla="*/ 138 w 143"/>
                <a:gd name="T33" fmla="*/ 38 h 98"/>
                <a:gd name="T34" fmla="*/ 139 w 143"/>
                <a:gd name="T35" fmla="*/ 43 h 98"/>
                <a:gd name="T36" fmla="*/ 143 w 143"/>
                <a:gd name="T37" fmla="*/ 41 h 98"/>
                <a:gd name="T38" fmla="*/ 0 w 143"/>
                <a:gd name="T39" fmla="*/ 56 h 98"/>
                <a:gd name="T40" fmla="*/ 2 w 143"/>
                <a:gd name="T41" fmla="*/ 61 h 98"/>
                <a:gd name="T42" fmla="*/ 2 w 143"/>
                <a:gd name="T43" fmla="*/ 68 h 98"/>
                <a:gd name="T44" fmla="*/ 3 w 143"/>
                <a:gd name="T45" fmla="*/ 73 h 98"/>
                <a:gd name="T46" fmla="*/ 7 w 143"/>
                <a:gd name="T47" fmla="*/ 78 h 98"/>
                <a:gd name="T48" fmla="*/ 8 w 143"/>
                <a:gd name="T49" fmla="*/ 83 h 98"/>
                <a:gd name="T50" fmla="*/ 12 w 143"/>
                <a:gd name="T51" fmla="*/ 88 h 98"/>
                <a:gd name="T52" fmla="*/ 15 w 143"/>
                <a:gd name="T53" fmla="*/ 93 h 98"/>
                <a:gd name="T54" fmla="*/ 18 w 143"/>
                <a:gd name="T55" fmla="*/ 98 h 98"/>
                <a:gd name="T56" fmla="*/ 22 w 143"/>
                <a:gd name="T57" fmla="*/ 96 h 98"/>
                <a:gd name="T58" fmla="*/ 18 w 143"/>
                <a:gd name="T59" fmla="*/ 91 h 98"/>
                <a:gd name="T60" fmla="*/ 15 w 143"/>
                <a:gd name="T61" fmla="*/ 88 h 98"/>
                <a:gd name="T62" fmla="*/ 12 w 143"/>
                <a:gd name="T63" fmla="*/ 83 h 98"/>
                <a:gd name="T64" fmla="*/ 10 w 143"/>
                <a:gd name="T65" fmla="*/ 78 h 98"/>
                <a:gd name="T66" fmla="*/ 7 w 143"/>
                <a:gd name="T67" fmla="*/ 71 h 98"/>
                <a:gd name="T68" fmla="*/ 5 w 143"/>
                <a:gd name="T69" fmla="*/ 66 h 98"/>
                <a:gd name="T70" fmla="*/ 3 w 143"/>
                <a:gd name="T71" fmla="*/ 61 h 98"/>
                <a:gd name="T72" fmla="*/ 3 w 143"/>
                <a:gd name="T73" fmla="*/ 55 h 98"/>
                <a:gd name="T74" fmla="*/ 0 w 143"/>
                <a:gd name="T75" fmla="*/ 56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43" h="98">
                  <a:moveTo>
                    <a:pt x="143" y="41"/>
                  </a:moveTo>
                  <a:lnTo>
                    <a:pt x="141" y="36"/>
                  </a:lnTo>
                  <a:lnTo>
                    <a:pt x="139" y="30"/>
                  </a:lnTo>
                  <a:lnTo>
                    <a:pt x="138" y="25"/>
                  </a:lnTo>
                  <a:lnTo>
                    <a:pt x="136" y="20"/>
                  </a:lnTo>
                  <a:lnTo>
                    <a:pt x="133" y="15"/>
                  </a:lnTo>
                  <a:lnTo>
                    <a:pt x="131" y="10"/>
                  </a:lnTo>
                  <a:lnTo>
                    <a:pt x="128" y="5"/>
                  </a:lnTo>
                  <a:lnTo>
                    <a:pt x="123" y="0"/>
                  </a:lnTo>
                  <a:lnTo>
                    <a:pt x="119" y="2"/>
                  </a:lnTo>
                  <a:lnTo>
                    <a:pt x="124" y="7"/>
                  </a:lnTo>
                  <a:lnTo>
                    <a:pt x="128" y="10"/>
                  </a:lnTo>
                  <a:lnTo>
                    <a:pt x="131" y="15"/>
                  </a:lnTo>
                  <a:lnTo>
                    <a:pt x="133" y="20"/>
                  </a:lnTo>
                  <a:lnTo>
                    <a:pt x="134" y="26"/>
                  </a:lnTo>
                  <a:lnTo>
                    <a:pt x="136" y="31"/>
                  </a:lnTo>
                  <a:lnTo>
                    <a:pt x="138" y="38"/>
                  </a:lnTo>
                  <a:lnTo>
                    <a:pt x="139" y="43"/>
                  </a:lnTo>
                  <a:lnTo>
                    <a:pt x="143" y="41"/>
                  </a:lnTo>
                  <a:close/>
                  <a:moveTo>
                    <a:pt x="0" y="56"/>
                  </a:moveTo>
                  <a:lnTo>
                    <a:pt x="2" y="61"/>
                  </a:lnTo>
                  <a:lnTo>
                    <a:pt x="2" y="68"/>
                  </a:lnTo>
                  <a:lnTo>
                    <a:pt x="3" y="73"/>
                  </a:lnTo>
                  <a:lnTo>
                    <a:pt x="7" y="78"/>
                  </a:lnTo>
                  <a:lnTo>
                    <a:pt x="8" y="83"/>
                  </a:lnTo>
                  <a:lnTo>
                    <a:pt x="12" y="88"/>
                  </a:lnTo>
                  <a:lnTo>
                    <a:pt x="15" y="93"/>
                  </a:lnTo>
                  <a:lnTo>
                    <a:pt x="18" y="98"/>
                  </a:lnTo>
                  <a:lnTo>
                    <a:pt x="22" y="96"/>
                  </a:lnTo>
                  <a:lnTo>
                    <a:pt x="18" y="91"/>
                  </a:lnTo>
                  <a:lnTo>
                    <a:pt x="15" y="88"/>
                  </a:lnTo>
                  <a:lnTo>
                    <a:pt x="12" y="83"/>
                  </a:lnTo>
                  <a:lnTo>
                    <a:pt x="10" y="78"/>
                  </a:lnTo>
                  <a:lnTo>
                    <a:pt x="7" y="71"/>
                  </a:lnTo>
                  <a:lnTo>
                    <a:pt x="5" y="66"/>
                  </a:lnTo>
                  <a:lnTo>
                    <a:pt x="3" y="61"/>
                  </a:lnTo>
                  <a:lnTo>
                    <a:pt x="3" y="55"/>
                  </a:lnTo>
                  <a:lnTo>
                    <a:pt x="0" y="56"/>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87" name="Freeform 631">
              <a:extLst>
                <a:ext uri="{FF2B5EF4-FFF2-40B4-BE49-F238E27FC236}">
                  <a16:creationId xmlns:a16="http://schemas.microsoft.com/office/drawing/2014/main" id="{95539648-FE12-691D-C1C9-395DD5160AEA}"/>
                </a:ext>
              </a:extLst>
            </p:cNvPr>
            <p:cNvSpPr>
              <a:spLocks noEditPoints="1"/>
            </p:cNvSpPr>
            <p:nvPr/>
          </p:nvSpPr>
          <p:spPr bwMode="auto">
            <a:xfrm>
              <a:off x="2148" y="1592"/>
              <a:ext cx="139" cy="94"/>
            </a:xfrm>
            <a:custGeom>
              <a:avLst/>
              <a:gdLst>
                <a:gd name="T0" fmla="*/ 139 w 139"/>
                <a:gd name="T1" fmla="*/ 41 h 94"/>
                <a:gd name="T2" fmla="*/ 137 w 139"/>
                <a:gd name="T3" fmla="*/ 34 h 94"/>
                <a:gd name="T4" fmla="*/ 136 w 139"/>
                <a:gd name="T5" fmla="*/ 29 h 94"/>
                <a:gd name="T6" fmla="*/ 134 w 139"/>
                <a:gd name="T7" fmla="*/ 23 h 94"/>
                <a:gd name="T8" fmla="*/ 132 w 139"/>
                <a:gd name="T9" fmla="*/ 18 h 94"/>
                <a:gd name="T10" fmla="*/ 129 w 139"/>
                <a:gd name="T11" fmla="*/ 13 h 94"/>
                <a:gd name="T12" fmla="*/ 127 w 139"/>
                <a:gd name="T13" fmla="*/ 8 h 94"/>
                <a:gd name="T14" fmla="*/ 124 w 139"/>
                <a:gd name="T15" fmla="*/ 3 h 94"/>
                <a:gd name="T16" fmla="*/ 119 w 139"/>
                <a:gd name="T17" fmla="*/ 0 h 94"/>
                <a:gd name="T18" fmla="*/ 116 w 139"/>
                <a:gd name="T19" fmla="*/ 0 h 94"/>
                <a:gd name="T20" fmla="*/ 121 w 139"/>
                <a:gd name="T21" fmla="*/ 5 h 94"/>
                <a:gd name="T22" fmla="*/ 124 w 139"/>
                <a:gd name="T23" fmla="*/ 10 h 94"/>
                <a:gd name="T24" fmla="*/ 127 w 139"/>
                <a:gd name="T25" fmla="*/ 15 h 94"/>
                <a:gd name="T26" fmla="*/ 129 w 139"/>
                <a:gd name="T27" fmla="*/ 20 h 94"/>
                <a:gd name="T28" fmla="*/ 132 w 139"/>
                <a:gd name="T29" fmla="*/ 24 h 94"/>
                <a:gd name="T30" fmla="*/ 134 w 139"/>
                <a:gd name="T31" fmla="*/ 31 h 94"/>
                <a:gd name="T32" fmla="*/ 134 w 139"/>
                <a:gd name="T33" fmla="*/ 36 h 94"/>
                <a:gd name="T34" fmla="*/ 136 w 139"/>
                <a:gd name="T35" fmla="*/ 43 h 94"/>
                <a:gd name="T36" fmla="*/ 139 w 139"/>
                <a:gd name="T37" fmla="*/ 41 h 94"/>
                <a:gd name="T38" fmla="*/ 0 w 139"/>
                <a:gd name="T39" fmla="*/ 53 h 94"/>
                <a:gd name="T40" fmla="*/ 0 w 139"/>
                <a:gd name="T41" fmla="*/ 59 h 94"/>
                <a:gd name="T42" fmla="*/ 1 w 139"/>
                <a:gd name="T43" fmla="*/ 64 h 94"/>
                <a:gd name="T44" fmla="*/ 3 w 139"/>
                <a:gd name="T45" fmla="*/ 71 h 94"/>
                <a:gd name="T46" fmla="*/ 6 w 139"/>
                <a:gd name="T47" fmla="*/ 76 h 94"/>
                <a:gd name="T48" fmla="*/ 8 w 139"/>
                <a:gd name="T49" fmla="*/ 81 h 94"/>
                <a:gd name="T50" fmla="*/ 11 w 139"/>
                <a:gd name="T51" fmla="*/ 86 h 94"/>
                <a:gd name="T52" fmla="*/ 15 w 139"/>
                <a:gd name="T53" fmla="*/ 91 h 94"/>
                <a:gd name="T54" fmla="*/ 18 w 139"/>
                <a:gd name="T55" fmla="*/ 94 h 94"/>
                <a:gd name="T56" fmla="*/ 21 w 139"/>
                <a:gd name="T57" fmla="*/ 92 h 94"/>
                <a:gd name="T58" fmla="*/ 18 w 139"/>
                <a:gd name="T59" fmla="*/ 89 h 94"/>
                <a:gd name="T60" fmla="*/ 15 w 139"/>
                <a:gd name="T61" fmla="*/ 84 h 94"/>
                <a:gd name="T62" fmla="*/ 11 w 139"/>
                <a:gd name="T63" fmla="*/ 79 h 94"/>
                <a:gd name="T64" fmla="*/ 10 w 139"/>
                <a:gd name="T65" fmla="*/ 74 h 94"/>
                <a:gd name="T66" fmla="*/ 6 w 139"/>
                <a:gd name="T67" fmla="*/ 69 h 94"/>
                <a:gd name="T68" fmla="*/ 5 w 139"/>
                <a:gd name="T69" fmla="*/ 64 h 94"/>
                <a:gd name="T70" fmla="*/ 3 w 139"/>
                <a:gd name="T71" fmla="*/ 58 h 94"/>
                <a:gd name="T72" fmla="*/ 3 w 139"/>
                <a:gd name="T73" fmla="*/ 53 h 94"/>
                <a:gd name="T74" fmla="*/ 0 w 139"/>
                <a:gd name="T75" fmla="*/ 53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39" h="94">
                  <a:moveTo>
                    <a:pt x="139" y="41"/>
                  </a:moveTo>
                  <a:lnTo>
                    <a:pt x="137" y="34"/>
                  </a:lnTo>
                  <a:lnTo>
                    <a:pt x="136" y="29"/>
                  </a:lnTo>
                  <a:lnTo>
                    <a:pt x="134" y="23"/>
                  </a:lnTo>
                  <a:lnTo>
                    <a:pt x="132" y="18"/>
                  </a:lnTo>
                  <a:lnTo>
                    <a:pt x="129" y="13"/>
                  </a:lnTo>
                  <a:lnTo>
                    <a:pt x="127" y="8"/>
                  </a:lnTo>
                  <a:lnTo>
                    <a:pt x="124" y="3"/>
                  </a:lnTo>
                  <a:lnTo>
                    <a:pt x="119" y="0"/>
                  </a:lnTo>
                  <a:lnTo>
                    <a:pt x="116" y="0"/>
                  </a:lnTo>
                  <a:lnTo>
                    <a:pt x="121" y="5"/>
                  </a:lnTo>
                  <a:lnTo>
                    <a:pt x="124" y="10"/>
                  </a:lnTo>
                  <a:lnTo>
                    <a:pt x="127" y="15"/>
                  </a:lnTo>
                  <a:lnTo>
                    <a:pt x="129" y="20"/>
                  </a:lnTo>
                  <a:lnTo>
                    <a:pt x="132" y="24"/>
                  </a:lnTo>
                  <a:lnTo>
                    <a:pt x="134" y="31"/>
                  </a:lnTo>
                  <a:lnTo>
                    <a:pt x="134" y="36"/>
                  </a:lnTo>
                  <a:lnTo>
                    <a:pt x="136" y="43"/>
                  </a:lnTo>
                  <a:lnTo>
                    <a:pt x="139" y="41"/>
                  </a:lnTo>
                  <a:close/>
                  <a:moveTo>
                    <a:pt x="0" y="53"/>
                  </a:moveTo>
                  <a:lnTo>
                    <a:pt x="0" y="59"/>
                  </a:lnTo>
                  <a:lnTo>
                    <a:pt x="1" y="64"/>
                  </a:lnTo>
                  <a:lnTo>
                    <a:pt x="3" y="71"/>
                  </a:lnTo>
                  <a:lnTo>
                    <a:pt x="6" y="76"/>
                  </a:lnTo>
                  <a:lnTo>
                    <a:pt x="8" y="81"/>
                  </a:lnTo>
                  <a:lnTo>
                    <a:pt x="11" y="86"/>
                  </a:lnTo>
                  <a:lnTo>
                    <a:pt x="15" y="91"/>
                  </a:lnTo>
                  <a:lnTo>
                    <a:pt x="18" y="94"/>
                  </a:lnTo>
                  <a:lnTo>
                    <a:pt x="21" y="92"/>
                  </a:lnTo>
                  <a:lnTo>
                    <a:pt x="18" y="89"/>
                  </a:lnTo>
                  <a:lnTo>
                    <a:pt x="15" y="84"/>
                  </a:lnTo>
                  <a:lnTo>
                    <a:pt x="11" y="79"/>
                  </a:lnTo>
                  <a:lnTo>
                    <a:pt x="10" y="74"/>
                  </a:lnTo>
                  <a:lnTo>
                    <a:pt x="6" y="69"/>
                  </a:lnTo>
                  <a:lnTo>
                    <a:pt x="5" y="64"/>
                  </a:lnTo>
                  <a:lnTo>
                    <a:pt x="3" y="58"/>
                  </a:lnTo>
                  <a:lnTo>
                    <a:pt x="3" y="53"/>
                  </a:lnTo>
                  <a:lnTo>
                    <a:pt x="0" y="53"/>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88" name="Freeform 632">
              <a:extLst>
                <a:ext uri="{FF2B5EF4-FFF2-40B4-BE49-F238E27FC236}">
                  <a16:creationId xmlns:a16="http://schemas.microsoft.com/office/drawing/2014/main" id="{8E593B7E-E075-AC50-4334-BC07C16CB89E}"/>
                </a:ext>
              </a:extLst>
            </p:cNvPr>
            <p:cNvSpPr>
              <a:spLocks noEditPoints="1"/>
            </p:cNvSpPr>
            <p:nvPr/>
          </p:nvSpPr>
          <p:spPr bwMode="auto">
            <a:xfrm>
              <a:off x="2149" y="1592"/>
              <a:ext cx="136" cy="94"/>
            </a:xfrm>
            <a:custGeom>
              <a:avLst/>
              <a:gdLst>
                <a:gd name="T0" fmla="*/ 136 w 136"/>
                <a:gd name="T1" fmla="*/ 41 h 94"/>
                <a:gd name="T2" fmla="*/ 135 w 136"/>
                <a:gd name="T3" fmla="*/ 36 h 94"/>
                <a:gd name="T4" fmla="*/ 133 w 136"/>
                <a:gd name="T5" fmla="*/ 29 h 94"/>
                <a:gd name="T6" fmla="*/ 131 w 136"/>
                <a:gd name="T7" fmla="*/ 24 h 94"/>
                <a:gd name="T8" fmla="*/ 130 w 136"/>
                <a:gd name="T9" fmla="*/ 18 h 94"/>
                <a:gd name="T10" fmla="*/ 128 w 136"/>
                <a:gd name="T11" fmla="*/ 13 h 94"/>
                <a:gd name="T12" fmla="*/ 125 w 136"/>
                <a:gd name="T13" fmla="*/ 8 h 94"/>
                <a:gd name="T14" fmla="*/ 121 w 136"/>
                <a:gd name="T15" fmla="*/ 5 h 94"/>
                <a:gd name="T16" fmla="*/ 116 w 136"/>
                <a:gd name="T17" fmla="*/ 0 h 94"/>
                <a:gd name="T18" fmla="*/ 115 w 136"/>
                <a:gd name="T19" fmla="*/ 1 h 94"/>
                <a:gd name="T20" fmla="*/ 118 w 136"/>
                <a:gd name="T21" fmla="*/ 5 h 94"/>
                <a:gd name="T22" fmla="*/ 121 w 136"/>
                <a:gd name="T23" fmla="*/ 10 h 94"/>
                <a:gd name="T24" fmla="*/ 125 w 136"/>
                <a:gd name="T25" fmla="*/ 15 h 94"/>
                <a:gd name="T26" fmla="*/ 126 w 136"/>
                <a:gd name="T27" fmla="*/ 20 h 94"/>
                <a:gd name="T28" fmla="*/ 130 w 136"/>
                <a:gd name="T29" fmla="*/ 26 h 94"/>
                <a:gd name="T30" fmla="*/ 131 w 136"/>
                <a:gd name="T31" fmla="*/ 31 h 94"/>
                <a:gd name="T32" fmla="*/ 131 w 136"/>
                <a:gd name="T33" fmla="*/ 38 h 94"/>
                <a:gd name="T34" fmla="*/ 133 w 136"/>
                <a:gd name="T35" fmla="*/ 43 h 94"/>
                <a:gd name="T36" fmla="*/ 136 w 136"/>
                <a:gd name="T37" fmla="*/ 41 h 94"/>
                <a:gd name="T38" fmla="*/ 0 w 136"/>
                <a:gd name="T39" fmla="*/ 53 h 94"/>
                <a:gd name="T40" fmla="*/ 0 w 136"/>
                <a:gd name="T41" fmla="*/ 59 h 94"/>
                <a:gd name="T42" fmla="*/ 2 w 136"/>
                <a:gd name="T43" fmla="*/ 64 h 94"/>
                <a:gd name="T44" fmla="*/ 4 w 136"/>
                <a:gd name="T45" fmla="*/ 69 h 94"/>
                <a:gd name="T46" fmla="*/ 7 w 136"/>
                <a:gd name="T47" fmla="*/ 76 h 94"/>
                <a:gd name="T48" fmla="*/ 9 w 136"/>
                <a:gd name="T49" fmla="*/ 81 h 94"/>
                <a:gd name="T50" fmla="*/ 12 w 136"/>
                <a:gd name="T51" fmla="*/ 86 h 94"/>
                <a:gd name="T52" fmla="*/ 15 w 136"/>
                <a:gd name="T53" fmla="*/ 89 h 94"/>
                <a:gd name="T54" fmla="*/ 19 w 136"/>
                <a:gd name="T55" fmla="*/ 94 h 94"/>
                <a:gd name="T56" fmla="*/ 22 w 136"/>
                <a:gd name="T57" fmla="*/ 92 h 94"/>
                <a:gd name="T58" fmla="*/ 19 w 136"/>
                <a:gd name="T59" fmla="*/ 87 h 94"/>
                <a:gd name="T60" fmla="*/ 15 w 136"/>
                <a:gd name="T61" fmla="*/ 84 h 94"/>
                <a:gd name="T62" fmla="*/ 12 w 136"/>
                <a:gd name="T63" fmla="*/ 79 h 94"/>
                <a:gd name="T64" fmla="*/ 9 w 136"/>
                <a:gd name="T65" fmla="*/ 74 h 94"/>
                <a:gd name="T66" fmla="*/ 7 w 136"/>
                <a:gd name="T67" fmla="*/ 69 h 94"/>
                <a:gd name="T68" fmla="*/ 5 w 136"/>
                <a:gd name="T69" fmla="*/ 63 h 94"/>
                <a:gd name="T70" fmla="*/ 4 w 136"/>
                <a:gd name="T71" fmla="*/ 58 h 94"/>
                <a:gd name="T72" fmla="*/ 4 w 136"/>
                <a:gd name="T73" fmla="*/ 51 h 94"/>
                <a:gd name="T74" fmla="*/ 0 w 136"/>
                <a:gd name="T75" fmla="*/ 53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36" h="94">
                  <a:moveTo>
                    <a:pt x="136" y="41"/>
                  </a:moveTo>
                  <a:lnTo>
                    <a:pt x="135" y="36"/>
                  </a:lnTo>
                  <a:lnTo>
                    <a:pt x="133" y="29"/>
                  </a:lnTo>
                  <a:lnTo>
                    <a:pt x="131" y="24"/>
                  </a:lnTo>
                  <a:lnTo>
                    <a:pt x="130" y="18"/>
                  </a:lnTo>
                  <a:lnTo>
                    <a:pt x="128" y="13"/>
                  </a:lnTo>
                  <a:lnTo>
                    <a:pt x="125" y="8"/>
                  </a:lnTo>
                  <a:lnTo>
                    <a:pt x="121" y="5"/>
                  </a:lnTo>
                  <a:lnTo>
                    <a:pt x="116" y="0"/>
                  </a:lnTo>
                  <a:lnTo>
                    <a:pt x="115" y="1"/>
                  </a:lnTo>
                  <a:lnTo>
                    <a:pt x="118" y="5"/>
                  </a:lnTo>
                  <a:lnTo>
                    <a:pt x="121" y="10"/>
                  </a:lnTo>
                  <a:lnTo>
                    <a:pt x="125" y="15"/>
                  </a:lnTo>
                  <a:lnTo>
                    <a:pt x="126" y="20"/>
                  </a:lnTo>
                  <a:lnTo>
                    <a:pt x="130" y="26"/>
                  </a:lnTo>
                  <a:lnTo>
                    <a:pt x="131" y="31"/>
                  </a:lnTo>
                  <a:lnTo>
                    <a:pt x="131" y="38"/>
                  </a:lnTo>
                  <a:lnTo>
                    <a:pt x="133" y="43"/>
                  </a:lnTo>
                  <a:lnTo>
                    <a:pt x="136" y="41"/>
                  </a:lnTo>
                  <a:close/>
                  <a:moveTo>
                    <a:pt x="0" y="53"/>
                  </a:moveTo>
                  <a:lnTo>
                    <a:pt x="0" y="59"/>
                  </a:lnTo>
                  <a:lnTo>
                    <a:pt x="2" y="64"/>
                  </a:lnTo>
                  <a:lnTo>
                    <a:pt x="4" y="69"/>
                  </a:lnTo>
                  <a:lnTo>
                    <a:pt x="7" y="76"/>
                  </a:lnTo>
                  <a:lnTo>
                    <a:pt x="9" y="81"/>
                  </a:lnTo>
                  <a:lnTo>
                    <a:pt x="12" y="86"/>
                  </a:lnTo>
                  <a:lnTo>
                    <a:pt x="15" y="89"/>
                  </a:lnTo>
                  <a:lnTo>
                    <a:pt x="19" y="94"/>
                  </a:lnTo>
                  <a:lnTo>
                    <a:pt x="22" y="92"/>
                  </a:lnTo>
                  <a:lnTo>
                    <a:pt x="19" y="87"/>
                  </a:lnTo>
                  <a:lnTo>
                    <a:pt x="15" y="84"/>
                  </a:lnTo>
                  <a:lnTo>
                    <a:pt x="12" y="79"/>
                  </a:lnTo>
                  <a:lnTo>
                    <a:pt x="9" y="74"/>
                  </a:lnTo>
                  <a:lnTo>
                    <a:pt x="7" y="69"/>
                  </a:lnTo>
                  <a:lnTo>
                    <a:pt x="5" y="63"/>
                  </a:lnTo>
                  <a:lnTo>
                    <a:pt x="4" y="58"/>
                  </a:lnTo>
                  <a:lnTo>
                    <a:pt x="4" y="51"/>
                  </a:lnTo>
                  <a:lnTo>
                    <a:pt x="0" y="53"/>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89" name="Freeform 633">
              <a:extLst>
                <a:ext uri="{FF2B5EF4-FFF2-40B4-BE49-F238E27FC236}">
                  <a16:creationId xmlns:a16="http://schemas.microsoft.com/office/drawing/2014/main" id="{399F27BA-C28E-5552-6992-A69047A30545}"/>
                </a:ext>
              </a:extLst>
            </p:cNvPr>
            <p:cNvSpPr>
              <a:spLocks noEditPoints="1"/>
            </p:cNvSpPr>
            <p:nvPr/>
          </p:nvSpPr>
          <p:spPr bwMode="auto">
            <a:xfrm>
              <a:off x="2151" y="1592"/>
              <a:ext cx="133" cy="92"/>
            </a:xfrm>
            <a:custGeom>
              <a:avLst/>
              <a:gdLst>
                <a:gd name="T0" fmla="*/ 133 w 133"/>
                <a:gd name="T1" fmla="*/ 43 h 92"/>
                <a:gd name="T2" fmla="*/ 131 w 133"/>
                <a:gd name="T3" fmla="*/ 36 h 92"/>
                <a:gd name="T4" fmla="*/ 131 w 133"/>
                <a:gd name="T5" fmla="*/ 31 h 92"/>
                <a:gd name="T6" fmla="*/ 129 w 133"/>
                <a:gd name="T7" fmla="*/ 24 h 92"/>
                <a:gd name="T8" fmla="*/ 126 w 133"/>
                <a:gd name="T9" fmla="*/ 20 h 92"/>
                <a:gd name="T10" fmla="*/ 124 w 133"/>
                <a:gd name="T11" fmla="*/ 15 h 92"/>
                <a:gd name="T12" fmla="*/ 121 w 133"/>
                <a:gd name="T13" fmla="*/ 10 h 92"/>
                <a:gd name="T14" fmla="*/ 118 w 133"/>
                <a:gd name="T15" fmla="*/ 5 h 92"/>
                <a:gd name="T16" fmla="*/ 113 w 133"/>
                <a:gd name="T17" fmla="*/ 0 h 92"/>
                <a:gd name="T18" fmla="*/ 111 w 133"/>
                <a:gd name="T19" fmla="*/ 1 h 92"/>
                <a:gd name="T20" fmla="*/ 114 w 133"/>
                <a:gd name="T21" fmla="*/ 6 h 92"/>
                <a:gd name="T22" fmla="*/ 118 w 133"/>
                <a:gd name="T23" fmla="*/ 11 h 92"/>
                <a:gd name="T24" fmla="*/ 121 w 133"/>
                <a:gd name="T25" fmla="*/ 16 h 92"/>
                <a:gd name="T26" fmla="*/ 123 w 133"/>
                <a:gd name="T27" fmla="*/ 21 h 92"/>
                <a:gd name="T28" fmla="*/ 126 w 133"/>
                <a:gd name="T29" fmla="*/ 26 h 92"/>
                <a:gd name="T30" fmla="*/ 128 w 133"/>
                <a:gd name="T31" fmla="*/ 31 h 92"/>
                <a:gd name="T32" fmla="*/ 128 w 133"/>
                <a:gd name="T33" fmla="*/ 38 h 92"/>
                <a:gd name="T34" fmla="*/ 129 w 133"/>
                <a:gd name="T35" fmla="*/ 44 h 92"/>
                <a:gd name="T36" fmla="*/ 133 w 133"/>
                <a:gd name="T37" fmla="*/ 43 h 92"/>
                <a:gd name="T38" fmla="*/ 0 w 133"/>
                <a:gd name="T39" fmla="*/ 53 h 92"/>
                <a:gd name="T40" fmla="*/ 0 w 133"/>
                <a:gd name="T41" fmla="*/ 58 h 92"/>
                <a:gd name="T42" fmla="*/ 2 w 133"/>
                <a:gd name="T43" fmla="*/ 64 h 92"/>
                <a:gd name="T44" fmla="*/ 3 w 133"/>
                <a:gd name="T45" fmla="*/ 69 h 92"/>
                <a:gd name="T46" fmla="*/ 7 w 133"/>
                <a:gd name="T47" fmla="*/ 74 h 92"/>
                <a:gd name="T48" fmla="*/ 8 w 133"/>
                <a:gd name="T49" fmla="*/ 79 h 92"/>
                <a:gd name="T50" fmla="*/ 12 w 133"/>
                <a:gd name="T51" fmla="*/ 84 h 92"/>
                <a:gd name="T52" fmla="*/ 15 w 133"/>
                <a:gd name="T53" fmla="*/ 89 h 92"/>
                <a:gd name="T54" fmla="*/ 18 w 133"/>
                <a:gd name="T55" fmla="*/ 92 h 92"/>
                <a:gd name="T56" fmla="*/ 22 w 133"/>
                <a:gd name="T57" fmla="*/ 91 h 92"/>
                <a:gd name="T58" fmla="*/ 18 w 133"/>
                <a:gd name="T59" fmla="*/ 87 h 92"/>
                <a:gd name="T60" fmla="*/ 15 w 133"/>
                <a:gd name="T61" fmla="*/ 82 h 92"/>
                <a:gd name="T62" fmla="*/ 12 w 133"/>
                <a:gd name="T63" fmla="*/ 77 h 92"/>
                <a:gd name="T64" fmla="*/ 8 w 133"/>
                <a:gd name="T65" fmla="*/ 73 h 92"/>
                <a:gd name="T66" fmla="*/ 7 w 133"/>
                <a:gd name="T67" fmla="*/ 68 h 92"/>
                <a:gd name="T68" fmla="*/ 5 w 133"/>
                <a:gd name="T69" fmla="*/ 63 h 92"/>
                <a:gd name="T70" fmla="*/ 3 w 133"/>
                <a:gd name="T71" fmla="*/ 56 h 92"/>
                <a:gd name="T72" fmla="*/ 3 w 133"/>
                <a:gd name="T73" fmla="*/ 51 h 92"/>
                <a:gd name="T74" fmla="*/ 0 w 133"/>
                <a:gd name="T75" fmla="*/ 53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33" h="92">
                  <a:moveTo>
                    <a:pt x="133" y="43"/>
                  </a:moveTo>
                  <a:lnTo>
                    <a:pt x="131" y="36"/>
                  </a:lnTo>
                  <a:lnTo>
                    <a:pt x="131" y="31"/>
                  </a:lnTo>
                  <a:lnTo>
                    <a:pt x="129" y="24"/>
                  </a:lnTo>
                  <a:lnTo>
                    <a:pt x="126" y="20"/>
                  </a:lnTo>
                  <a:lnTo>
                    <a:pt x="124" y="15"/>
                  </a:lnTo>
                  <a:lnTo>
                    <a:pt x="121" y="10"/>
                  </a:lnTo>
                  <a:lnTo>
                    <a:pt x="118" y="5"/>
                  </a:lnTo>
                  <a:lnTo>
                    <a:pt x="113" y="0"/>
                  </a:lnTo>
                  <a:lnTo>
                    <a:pt x="111" y="1"/>
                  </a:lnTo>
                  <a:lnTo>
                    <a:pt x="114" y="6"/>
                  </a:lnTo>
                  <a:lnTo>
                    <a:pt x="118" y="11"/>
                  </a:lnTo>
                  <a:lnTo>
                    <a:pt x="121" y="16"/>
                  </a:lnTo>
                  <a:lnTo>
                    <a:pt x="123" y="21"/>
                  </a:lnTo>
                  <a:lnTo>
                    <a:pt x="126" y="26"/>
                  </a:lnTo>
                  <a:lnTo>
                    <a:pt x="128" y="31"/>
                  </a:lnTo>
                  <a:lnTo>
                    <a:pt x="128" y="38"/>
                  </a:lnTo>
                  <a:lnTo>
                    <a:pt x="129" y="44"/>
                  </a:lnTo>
                  <a:lnTo>
                    <a:pt x="133" y="43"/>
                  </a:lnTo>
                  <a:close/>
                  <a:moveTo>
                    <a:pt x="0" y="53"/>
                  </a:moveTo>
                  <a:lnTo>
                    <a:pt x="0" y="58"/>
                  </a:lnTo>
                  <a:lnTo>
                    <a:pt x="2" y="64"/>
                  </a:lnTo>
                  <a:lnTo>
                    <a:pt x="3" y="69"/>
                  </a:lnTo>
                  <a:lnTo>
                    <a:pt x="7" y="74"/>
                  </a:lnTo>
                  <a:lnTo>
                    <a:pt x="8" y="79"/>
                  </a:lnTo>
                  <a:lnTo>
                    <a:pt x="12" y="84"/>
                  </a:lnTo>
                  <a:lnTo>
                    <a:pt x="15" y="89"/>
                  </a:lnTo>
                  <a:lnTo>
                    <a:pt x="18" y="92"/>
                  </a:lnTo>
                  <a:lnTo>
                    <a:pt x="22" y="91"/>
                  </a:lnTo>
                  <a:lnTo>
                    <a:pt x="18" y="87"/>
                  </a:lnTo>
                  <a:lnTo>
                    <a:pt x="15" y="82"/>
                  </a:lnTo>
                  <a:lnTo>
                    <a:pt x="12" y="77"/>
                  </a:lnTo>
                  <a:lnTo>
                    <a:pt x="8" y="73"/>
                  </a:lnTo>
                  <a:lnTo>
                    <a:pt x="7" y="68"/>
                  </a:lnTo>
                  <a:lnTo>
                    <a:pt x="5" y="63"/>
                  </a:lnTo>
                  <a:lnTo>
                    <a:pt x="3" y="56"/>
                  </a:lnTo>
                  <a:lnTo>
                    <a:pt x="3" y="51"/>
                  </a:lnTo>
                  <a:lnTo>
                    <a:pt x="0" y="53"/>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90" name="Freeform 634">
              <a:extLst>
                <a:ext uri="{FF2B5EF4-FFF2-40B4-BE49-F238E27FC236}">
                  <a16:creationId xmlns:a16="http://schemas.microsoft.com/office/drawing/2014/main" id="{8A935087-4C20-A63C-12AC-4E5211DA423C}"/>
                </a:ext>
              </a:extLst>
            </p:cNvPr>
            <p:cNvSpPr>
              <a:spLocks noEditPoints="1"/>
            </p:cNvSpPr>
            <p:nvPr/>
          </p:nvSpPr>
          <p:spPr bwMode="auto">
            <a:xfrm>
              <a:off x="2153" y="1593"/>
              <a:ext cx="129" cy="91"/>
            </a:xfrm>
            <a:custGeom>
              <a:avLst/>
              <a:gdLst>
                <a:gd name="T0" fmla="*/ 129 w 129"/>
                <a:gd name="T1" fmla="*/ 42 h 91"/>
                <a:gd name="T2" fmla="*/ 127 w 129"/>
                <a:gd name="T3" fmla="*/ 37 h 91"/>
                <a:gd name="T4" fmla="*/ 127 w 129"/>
                <a:gd name="T5" fmla="*/ 30 h 91"/>
                <a:gd name="T6" fmla="*/ 126 w 129"/>
                <a:gd name="T7" fmla="*/ 25 h 91"/>
                <a:gd name="T8" fmla="*/ 122 w 129"/>
                <a:gd name="T9" fmla="*/ 19 h 91"/>
                <a:gd name="T10" fmla="*/ 121 w 129"/>
                <a:gd name="T11" fmla="*/ 14 h 91"/>
                <a:gd name="T12" fmla="*/ 117 w 129"/>
                <a:gd name="T13" fmla="*/ 9 h 91"/>
                <a:gd name="T14" fmla="*/ 114 w 129"/>
                <a:gd name="T15" fmla="*/ 4 h 91"/>
                <a:gd name="T16" fmla="*/ 111 w 129"/>
                <a:gd name="T17" fmla="*/ 0 h 91"/>
                <a:gd name="T18" fmla="*/ 107 w 129"/>
                <a:gd name="T19" fmla="*/ 2 h 91"/>
                <a:gd name="T20" fmla="*/ 111 w 129"/>
                <a:gd name="T21" fmla="*/ 5 h 91"/>
                <a:gd name="T22" fmla="*/ 114 w 129"/>
                <a:gd name="T23" fmla="*/ 10 h 91"/>
                <a:gd name="T24" fmla="*/ 117 w 129"/>
                <a:gd name="T25" fmla="*/ 15 h 91"/>
                <a:gd name="T26" fmla="*/ 119 w 129"/>
                <a:gd name="T27" fmla="*/ 20 h 91"/>
                <a:gd name="T28" fmla="*/ 122 w 129"/>
                <a:gd name="T29" fmla="*/ 25 h 91"/>
                <a:gd name="T30" fmla="*/ 124 w 129"/>
                <a:gd name="T31" fmla="*/ 32 h 91"/>
                <a:gd name="T32" fmla="*/ 124 w 129"/>
                <a:gd name="T33" fmla="*/ 37 h 91"/>
                <a:gd name="T34" fmla="*/ 126 w 129"/>
                <a:gd name="T35" fmla="*/ 43 h 91"/>
                <a:gd name="T36" fmla="*/ 129 w 129"/>
                <a:gd name="T37" fmla="*/ 42 h 91"/>
                <a:gd name="T38" fmla="*/ 0 w 129"/>
                <a:gd name="T39" fmla="*/ 50 h 91"/>
                <a:gd name="T40" fmla="*/ 0 w 129"/>
                <a:gd name="T41" fmla="*/ 57 h 91"/>
                <a:gd name="T42" fmla="*/ 1 w 129"/>
                <a:gd name="T43" fmla="*/ 62 h 91"/>
                <a:gd name="T44" fmla="*/ 3 w 129"/>
                <a:gd name="T45" fmla="*/ 68 h 91"/>
                <a:gd name="T46" fmla="*/ 5 w 129"/>
                <a:gd name="T47" fmla="*/ 73 h 91"/>
                <a:gd name="T48" fmla="*/ 8 w 129"/>
                <a:gd name="T49" fmla="*/ 78 h 91"/>
                <a:gd name="T50" fmla="*/ 11 w 129"/>
                <a:gd name="T51" fmla="*/ 83 h 91"/>
                <a:gd name="T52" fmla="*/ 15 w 129"/>
                <a:gd name="T53" fmla="*/ 86 h 91"/>
                <a:gd name="T54" fmla="*/ 18 w 129"/>
                <a:gd name="T55" fmla="*/ 91 h 91"/>
                <a:gd name="T56" fmla="*/ 21 w 129"/>
                <a:gd name="T57" fmla="*/ 90 h 91"/>
                <a:gd name="T58" fmla="*/ 18 w 129"/>
                <a:gd name="T59" fmla="*/ 86 h 91"/>
                <a:gd name="T60" fmla="*/ 15 w 129"/>
                <a:gd name="T61" fmla="*/ 81 h 91"/>
                <a:gd name="T62" fmla="*/ 11 w 129"/>
                <a:gd name="T63" fmla="*/ 76 h 91"/>
                <a:gd name="T64" fmla="*/ 8 w 129"/>
                <a:gd name="T65" fmla="*/ 72 h 91"/>
                <a:gd name="T66" fmla="*/ 6 w 129"/>
                <a:gd name="T67" fmla="*/ 67 h 91"/>
                <a:gd name="T68" fmla="*/ 5 w 129"/>
                <a:gd name="T69" fmla="*/ 60 h 91"/>
                <a:gd name="T70" fmla="*/ 3 w 129"/>
                <a:gd name="T71" fmla="*/ 55 h 91"/>
                <a:gd name="T72" fmla="*/ 3 w 129"/>
                <a:gd name="T73" fmla="*/ 48 h 91"/>
                <a:gd name="T74" fmla="*/ 0 w 129"/>
                <a:gd name="T75" fmla="*/ 5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9" h="91">
                  <a:moveTo>
                    <a:pt x="129" y="42"/>
                  </a:moveTo>
                  <a:lnTo>
                    <a:pt x="127" y="37"/>
                  </a:lnTo>
                  <a:lnTo>
                    <a:pt x="127" y="30"/>
                  </a:lnTo>
                  <a:lnTo>
                    <a:pt x="126" y="25"/>
                  </a:lnTo>
                  <a:lnTo>
                    <a:pt x="122" y="19"/>
                  </a:lnTo>
                  <a:lnTo>
                    <a:pt x="121" y="14"/>
                  </a:lnTo>
                  <a:lnTo>
                    <a:pt x="117" y="9"/>
                  </a:lnTo>
                  <a:lnTo>
                    <a:pt x="114" y="4"/>
                  </a:lnTo>
                  <a:lnTo>
                    <a:pt x="111" y="0"/>
                  </a:lnTo>
                  <a:lnTo>
                    <a:pt x="107" y="2"/>
                  </a:lnTo>
                  <a:lnTo>
                    <a:pt x="111" y="5"/>
                  </a:lnTo>
                  <a:lnTo>
                    <a:pt x="114" y="10"/>
                  </a:lnTo>
                  <a:lnTo>
                    <a:pt x="117" y="15"/>
                  </a:lnTo>
                  <a:lnTo>
                    <a:pt x="119" y="20"/>
                  </a:lnTo>
                  <a:lnTo>
                    <a:pt x="122" y="25"/>
                  </a:lnTo>
                  <a:lnTo>
                    <a:pt x="124" y="32"/>
                  </a:lnTo>
                  <a:lnTo>
                    <a:pt x="124" y="37"/>
                  </a:lnTo>
                  <a:lnTo>
                    <a:pt x="126" y="43"/>
                  </a:lnTo>
                  <a:lnTo>
                    <a:pt x="129" y="42"/>
                  </a:lnTo>
                  <a:close/>
                  <a:moveTo>
                    <a:pt x="0" y="50"/>
                  </a:moveTo>
                  <a:lnTo>
                    <a:pt x="0" y="57"/>
                  </a:lnTo>
                  <a:lnTo>
                    <a:pt x="1" y="62"/>
                  </a:lnTo>
                  <a:lnTo>
                    <a:pt x="3" y="68"/>
                  </a:lnTo>
                  <a:lnTo>
                    <a:pt x="5" y="73"/>
                  </a:lnTo>
                  <a:lnTo>
                    <a:pt x="8" y="78"/>
                  </a:lnTo>
                  <a:lnTo>
                    <a:pt x="11" y="83"/>
                  </a:lnTo>
                  <a:lnTo>
                    <a:pt x="15" y="86"/>
                  </a:lnTo>
                  <a:lnTo>
                    <a:pt x="18" y="91"/>
                  </a:lnTo>
                  <a:lnTo>
                    <a:pt x="21" y="90"/>
                  </a:lnTo>
                  <a:lnTo>
                    <a:pt x="18" y="86"/>
                  </a:lnTo>
                  <a:lnTo>
                    <a:pt x="15" y="81"/>
                  </a:lnTo>
                  <a:lnTo>
                    <a:pt x="11" y="76"/>
                  </a:lnTo>
                  <a:lnTo>
                    <a:pt x="8" y="72"/>
                  </a:lnTo>
                  <a:lnTo>
                    <a:pt x="6" y="67"/>
                  </a:lnTo>
                  <a:lnTo>
                    <a:pt x="5" y="60"/>
                  </a:lnTo>
                  <a:lnTo>
                    <a:pt x="3" y="55"/>
                  </a:lnTo>
                  <a:lnTo>
                    <a:pt x="3" y="48"/>
                  </a:lnTo>
                  <a:lnTo>
                    <a:pt x="0" y="5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91" name="Freeform 635">
              <a:extLst>
                <a:ext uri="{FF2B5EF4-FFF2-40B4-BE49-F238E27FC236}">
                  <a16:creationId xmlns:a16="http://schemas.microsoft.com/office/drawing/2014/main" id="{F58D81D4-A391-38D9-6DF9-FC0E96AC84C3}"/>
                </a:ext>
              </a:extLst>
            </p:cNvPr>
            <p:cNvSpPr>
              <a:spLocks noEditPoints="1"/>
            </p:cNvSpPr>
            <p:nvPr/>
          </p:nvSpPr>
          <p:spPr bwMode="auto">
            <a:xfrm>
              <a:off x="2154" y="1593"/>
              <a:ext cx="126" cy="90"/>
            </a:xfrm>
            <a:custGeom>
              <a:avLst/>
              <a:gdLst>
                <a:gd name="T0" fmla="*/ 126 w 126"/>
                <a:gd name="T1" fmla="*/ 43 h 90"/>
                <a:gd name="T2" fmla="*/ 125 w 126"/>
                <a:gd name="T3" fmla="*/ 37 h 90"/>
                <a:gd name="T4" fmla="*/ 125 w 126"/>
                <a:gd name="T5" fmla="*/ 30 h 90"/>
                <a:gd name="T6" fmla="*/ 123 w 126"/>
                <a:gd name="T7" fmla="*/ 25 h 90"/>
                <a:gd name="T8" fmla="*/ 120 w 126"/>
                <a:gd name="T9" fmla="*/ 20 h 90"/>
                <a:gd name="T10" fmla="*/ 118 w 126"/>
                <a:gd name="T11" fmla="*/ 15 h 90"/>
                <a:gd name="T12" fmla="*/ 115 w 126"/>
                <a:gd name="T13" fmla="*/ 10 h 90"/>
                <a:gd name="T14" fmla="*/ 111 w 126"/>
                <a:gd name="T15" fmla="*/ 5 h 90"/>
                <a:gd name="T16" fmla="*/ 108 w 126"/>
                <a:gd name="T17" fmla="*/ 0 h 90"/>
                <a:gd name="T18" fmla="*/ 105 w 126"/>
                <a:gd name="T19" fmla="*/ 2 h 90"/>
                <a:gd name="T20" fmla="*/ 108 w 126"/>
                <a:gd name="T21" fmla="*/ 7 h 90"/>
                <a:gd name="T22" fmla="*/ 111 w 126"/>
                <a:gd name="T23" fmla="*/ 10 h 90"/>
                <a:gd name="T24" fmla="*/ 115 w 126"/>
                <a:gd name="T25" fmla="*/ 15 h 90"/>
                <a:gd name="T26" fmla="*/ 118 w 126"/>
                <a:gd name="T27" fmla="*/ 22 h 90"/>
                <a:gd name="T28" fmla="*/ 120 w 126"/>
                <a:gd name="T29" fmla="*/ 27 h 90"/>
                <a:gd name="T30" fmla="*/ 121 w 126"/>
                <a:gd name="T31" fmla="*/ 32 h 90"/>
                <a:gd name="T32" fmla="*/ 121 w 126"/>
                <a:gd name="T33" fmla="*/ 38 h 90"/>
                <a:gd name="T34" fmla="*/ 123 w 126"/>
                <a:gd name="T35" fmla="*/ 43 h 90"/>
                <a:gd name="T36" fmla="*/ 126 w 126"/>
                <a:gd name="T37" fmla="*/ 43 h 90"/>
                <a:gd name="T38" fmla="*/ 0 w 126"/>
                <a:gd name="T39" fmla="*/ 50 h 90"/>
                <a:gd name="T40" fmla="*/ 0 w 126"/>
                <a:gd name="T41" fmla="*/ 55 h 90"/>
                <a:gd name="T42" fmla="*/ 2 w 126"/>
                <a:gd name="T43" fmla="*/ 62 h 90"/>
                <a:gd name="T44" fmla="*/ 4 w 126"/>
                <a:gd name="T45" fmla="*/ 67 h 90"/>
                <a:gd name="T46" fmla="*/ 5 w 126"/>
                <a:gd name="T47" fmla="*/ 72 h 90"/>
                <a:gd name="T48" fmla="*/ 9 w 126"/>
                <a:gd name="T49" fmla="*/ 76 h 90"/>
                <a:gd name="T50" fmla="*/ 12 w 126"/>
                <a:gd name="T51" fmla="*/ 81 h 90"/>
                <a:gd name="T52" fmla="*/ 15 w 126"/>
                <a:gd name="T53" fmla="*/ 86 h 90"/>
                <a:gd name="T54" fmla="*/ 19 w 126"/>
                <a:gd name="T55" fmla="*/ 90 h 90"/>
                <a:gd name="T56" fmla="*/ 22 w 126"/>
                <a:gd name="T57" fmla="*/ 90 h 90"/>
                <a:gd name="T58" fmla="*/ 19 w 126"/>
                <a:gd name="T59" fmla="*/ 85 h 90"/>
                <a:gd name="T60" fmla="*/ 15 w 126"/>
                <a:gd name="T61" fmla="*/ 80 h 90"/>
                <a:gd name="T62" fmla="*/ 12 w 126"/>
                <a:gd name="T63" fmla="*/ 76 h 90"/>
                <a:gd name="T64" fmla="*/ 9 w 126"/>
                <a:gd name="T65" fmla="*/ 72 h 90"/>
                <a:gd name="T66" fmla="*/ 7 w 126"/>
                <a:gd name="T67" fmla="*/ 65 h 90"/>
                <a:gd name="T68" fmla="*/ 5 w 126"/>
                <a:gd name="T69" fmla="*/ 60 h 90"/>
                <a:gd name="T70" fmla="*/ 4 w 126"/>
                <a:gd name="T71" fmla="*/ 53 h 90"/>
                <a:gd name="T72" fmla="*/ 4 w 126"/>
                <a:gd name="T73" fmla="*/ 48 h 90"/>
                <a:gd name="T74" fmla="*/ 0 w 126"/>
                <a:gd name="T75" fmla="*/ 5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6" h="90">
                  <a:moveTo>
                    <a:pt x="126" y="43"/>
                  </a:moveTo>
                  <a:lnTo>
                    <a:pt x="125" y="37"/>
                  </a:lnTo>
                  <a:lnTo>
                    <a:pt x="125" y="30"/>
                  </a:lnTo>
                  <a:lnTo>
                    <a:pt x="123" y="25"/>
                  </a:lnTo>
                  <a:lnTo>
                    <a:pt x="120" y="20"/>
                  </a:lnTo>
                  <a:lnTo>
                    <a:pt x="118" y="15"/>
                  </a:lnTo>
                  <a:lnTo>
                    <a:pt x="115" y="10"/>
                  </a:lnTo>
                  <a:lnTo>
                    <a:pt x="111" y="5"/>
                  </a:lnTo>
                  <a:lnTo>
                    <a:pt x="108" y="0"/>
                  </a:lnTo>
                  <a:lnTo>
                    <a:pt x="105" y="2"/>
                  </a:lnTo>
                  <a:lnTo>
                    <a:pt x="108" y="7"/>
                  </a:lnTo>
                  <a:lnTo>
                    <a:pt x="111" y="10"/>
                  </a:lnTo>
                  <a:lnTo>
                    <a:pt x="115" y="15"/>
                  </a:lnTo>
                  <a:lnTo>
                    <a:pt x="118" y="22"/>
                  </a:lnTo>
                  <a:lnTo>
                    <a:pt x="120" y="27"/>
                  </a:lnTo>
                  <a:lnTo>
                    <a:pt x="121" y="32"/>
                  </a:lnTo>
                  <a:lnTo>
                    <a:pt x="121" y="38"/>
                  </a:lnTo>
                  <a:lnTo>
                    <a:pt x="123" y="43"/>
                  </a:lnTo>
                  <a:lnTo>
                    <a:pt x="126" y="43"/>
                  </a:lnTo>
                  <a:close/>
                  <a:moveTo>
                    <a:pt x="0" y="50"/>
                  </a:moveTo>
                  <a:lnTo>
                    <a:pt x="0" y="55"/>
                  </a:lnTo>
                  <a:lnTo>
                    <a:pt x="2" y="62"/>
                  </a:lnTo>
                  <a:lnTo>
                    <a:pt x="4" y="67"/>
                  </a:lnTo>
                  <a:lnTo>
                    <a:pt x="5" y="72"/>
                  </a:lnTo>
                  <a:lnTo>
                    <a:pt x="9" y="76"/>
                  </a:lnTo>
                  <a:lnTo>
                    <a:pt x="12" y="81"/>
                  </a:lnTo>
                  <a:lnTo>
                    <a:pt x="15" y="86"/>
                  </a:lnTo>
                  <a:lnTo>
                    <a:pt x="19" y="90"/>
                  </a:lnTo>
                  <a:lnTo>
                    <a:pt x="22" y="90"/>
                  </a:lnTo>
                  <a:lnTo>
                    <a:pt x="19" y="85"/>
                  </a:lnTo>
                  <a:lnTo>
                    <a:pt x="15" y="80"/>
                  </a:lnTo>
                  <a:lnTo>
                    <a:pt x="12" y="76"/>
                  </a:lnTo>
                  <a:lnTo>
                    <a:pt x="9" y="72"/>
                  </a:lnTo>
                  <a:lnTo>
                    <a:pt x="7" y="65"/>
                  </a:lnTo>
                  <a:lnTo>
                    <a:pt x="5" y="60"/>
                  </a:lnTo>
                  <a:lnTo>
                    <a:pt x="4" y="53"/>
                  </a:lnTo>
                  <a:lnTo>
                    <a:pt x="4" y="48"/>
                  </a:lnTo>
                  <a:lnTo>
                    <a:pt x="0" y="5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92" name="Freeform 636">
              <a:extLst>
                <a:ext uri="{FF2B5EF4-FFF2-40B4-BE49-F238E27FC236}">
                  <a16:creationId xmlns:a16="http://schemas.microsoft.com/office/drawing/2014/main" id="{B5387030-6039-099E-484B-194EBBD3F401}"/>
                </a:ext>
              </a:extLst>
            </p:cNvPr>
            <p:cNvSpPr>
              <a:spLocks noEditPoints="1"/>
            </p:cNvSpPr>
            <p:nvPr/>
          </p:nvSpPr>
          <p:spPr bwMode="auto">
            <a:xfrm>
              <a:off x="2156" y="1595"/>
              <a:ext cx="123" cy="88"/>
            </a:xfrm>
            <a:custGeom>
              <a:avLst/>
              <a:gdLst>
                <a:gd name="T0" fmla="*/ 123 w 123"/>
                <a:gd name="T1" fmla="*/ 41 h 88"/>
                <a:gd name="T2" fmla="*/ 121 w 123"/>
                <a:gd name="T3" fmla="*/ 35 h 88"/>
                <a:gd name="T4" fmla="*/ 121 w 123"/>
                <a:gd name="T5" fmla="*/ 30 h 88"/>
                <a:gd name="T6" fmla="*/ 119 w 123"/>
                <a:gd name="T7" fmla="*/ 23 h 88"/>
                <a:gd name="T8" fmla="*/ 116 w 123"/>
                <a:gd name="T9" fmla="*/ 18 h 88"/>
                <a:gd name="T10" fmla="*/ 114 w 123"/>
                <a:gd name="T11" fmla="*/ 13 h 88"/>
                <a:gd name="T12" fmla="*/ 111 w 123"/>
                <a:gd name="T13" fmla="*/ 8 h 88"/>
                <a:gd name="T14" fmla="*/ 108 w 123"/>
                <a:gd name="T15" fmla="*/ 3 h 88"/>
                <a:gd name="T16" fmla="*/ 104 w 123"/>
                <a:gd name="T17" fmla="*/ 0 h 88"/>
                <a:gd name="T18" fmla="*/ 101 w 123"/>
                <a:gd name="T19" fmla="*/ 2 h 88"/>
                <a:gd name="T20" fmla="*/ 104 w 123"/>
                <a:gd name="T21" fmla="*/ 5 h 88"/>
                <a:gd name="T22" fmla="*/ 108 w 123"/>
                <a:gd name="T23" fmla="*/ 10 h 88"/>
                <a:gd name="T24" fmla="*/ 111 w 123"/>
                <a:gd name="T25" fmla="*/ 15 h 88"/>
                <a:gd name="T26" fmla="*/ 114 w 123"/>
                <a:gd name="T27" fmla="*/ 20 h 88"/>
                <a:gd name="T28" fmla="*/ 116 w 123"/>
                <a:gd name="T29" fmla="*/ 25 h 88"/>
                <a:gd name="T30" fmla="*/ 118 w 123"/>
                <a:gd name="T31" fmla="*/ 31 h 88"/>
                <a:gd name="T32" fmla="*/ 118 w 123"/>
                <a:gd name="T33" fmla="*/ 36 h 88"/>
                <a:gd name="T34" fmla="*/ 119 w 123"/>
                <a:gd name="T35" fmla="*/ 43 h 88"/>
                <a:gd name="T36" fmla="*/ 123 w 123"/>
                <a:gd name="T37" fmla="*/ 41 h 88"/>
                <a:gd name="T38" fmla="*/ 0 w 123"/>
                <a:gd name="T39" fmla="*/ 46 h 88"/>
                <a:gd name="T40" fmla="*/ 0 w 123"/>
                <a:gd name="T41" fmla="*/ 53 h 88"/>
                <a:gd name="T42" fmla="*/ 2 w 123"/>
                <a:gd name="T43" fmla="*/ 58 h 88"/>
                <a:gd name="T44" fmla="*/ 3 w 123"/>
                <a:gd name="T45" fmla="*/ 65 h 88"/>
                <a:gd name="T46" fmla="*/ 5 w 123"/>
                <a:gd name="T47" fmla="*/ 70 h 88"/>
                <a:gd name="T48" fmla="*/ 8 w 123"/>
                <a:gd name="T49" fmla="*/ 74 h 88"/>
                <a:gd name="T50" fmla="*/ 12 w 123"/>
                <a:gd name="T51" fmla="*/ 79 h 88"/>
                <a:gd name="T52" fmla="*/ 15 w 123"/>
                <a:gd name="T53" fmla="*/ 84 h 88"/>
                <a:gd name="T54" fmla="*/ 18 w 123"/>
                <a:gd name="T55" fmla="*/ 88 h 88"/>
                <a:gd name="T56" fmla="*/ 22 w 123"/>
                <a:gd name="T57" fmla="*/ 86 h 88"/>
                <a:gd name="T58" fmla="*/ 18 w 123"/>
                <a:gd name="T59" fmla="*/ 83 h 88"/>
                <a:gd name="T60" fmla="*/ 15 w 123"/>
                <a:gd name="T61" fmla="*/ 78 h 88"/>
                <a:gd name="T62" fmla="*/ 12 w 123"/>
                <a:gd name="T63" fmla="*/ 73 h 88"/>
                <a:gd name="T64" fmla="*/ 8 w 123"/>
                <a:gd name="T65" fmla="*/ 68 h 88"/>
                <a:gd name="T66" fmla="*/ 7 w 123"/>
                <a:gd name="T67" fmla="*/ 63 h 88"/>
                <a:gd name="T68" fmla="*/ 5 w 123"/>
                <a:gd name="T69" fmla="*/ 58 h 88"/>
                <a:gd name="T70" fmla="*/ 3 w 123"/>
                <a:gd name="T71" fmla="*/ 51 h 88"/>
                <a:gd name="T72" fmla="*/ 3 w 123"/>
                <a:gd name="T73" fmla="*/ 45 h 88"/>
                <a:gd name="T74" fmla="*/ 0 w 123"/>
                <a:gd name="T75" fmla="*/ 4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88">
                  <a:moveTo>
                    <a:pt x="123" y="41"/>
                  </a:moveTo>
                  <a:lnTo>
                    <a:pt x="121" y="35"/>
                  </a:lnTo>
                  <a:lnTo>
                    <a:pt x="121" y="30"/>
                  </a:lnTo>
                  <a:lnTo>
                    <a:pt x="119" y="23"/>
                  </a:lnTo>
                  <a:lnTo>
                    <a:pt x="116" y="18"/>
                  </a:lnTo>
                  <a:lnTo>
                    <a:pt x="114" y="13"/>
                  </a:lnTo>
                  <a:lnTo>
                    <a:pt x="111" y="8"/>
                  </a:lnTo>
                  <a:lnTo>
                    <a:pt x="108" y="3"/>
                  </a:lnTo>
                  <a:lnTo>
                    <a:pt x="104" y="0"/>
                  </a:lnTo>
                  <a:lnTo>
                    <a:pt x="101" y="2"/>
                  </a:lnTo>
                  <a:lnTo>
                    <a:pt x="104" y="5"/>
                  </a:lnTo>
                  <a:lnTo>
                    <a:pt x="108" y="10"/>
                  </a:lnTo>
                  <a:lnTo>
                    <a:pt x="111" y="15"/>
                  </a:lnTo>
                  <a:lnTo>
                    <a:pt x="114" y="20"/>
                  </a:lnTo>
                  <a:lnTo>
                    <a:pt x="116" y="25"/>
                  </a:lnTo>
                  <a:lnTo>
                    <a:pt x="118" y="31"/>
                  </a:lnTo>
                  <a:lnTo>
                    <a:pt x="118" y="36"/>
                  </a:lnTo>
                  <a:lnTo>
                    <a:pt x="119" y="43"/>
                  </a:lnTo>
                  <a:lnTo>
                    <a:pt x="123" y="41"/>
                  </a:lnTo>
                  <a:close/>
                  <a:moveTo>
                    <a:pt x="0" y="46"/>
                  </a:moveTo>
                  <a:lnTo>
                    <a:pt x="0" y="53"/>
                  </a:lnTo>
                  <a:lnTo>
                    <a:pt x="2" y="58"/>
                  </a:lnTo>
                  <a:lnTo>
                    <a:pt x="3" y="65"/>
                  </a:lnTo>
                  <a:lnTo>
                    <a:pt x="5" y="70"/>
                  </a:lnTo>
                  <a:lnTo>
                    <a:pt x="8" y="74"/>
                  </a:lnTo>
                  <a:lnTo>
                    <a:pt x="12" y="79"/>
                  </a:lnTo>
                  <a:lnTo>
                    <a:pt x="15" y="84"/>
                  </a:lnTo>
                  <a:lnTo>
                    <a:pt x="18" y="88"/>
                  </a:lnTo>
                  <a:lnTo>
                    <a:pt x="22" y="86"/>
                  </a:lnTo>
                  <a:lnTo>
                    <a:pt x="18" y="83"/>
                  </a:lnTo>
                  <a:lnTo>
                    <a:pt x="15" y="78"/>
                  </a:lnTo>
                  <a:lnTo>
                    <a:pt x="12" y="73"/>
                  </a:lnTo>
                  <a:lnTo>
                    <a:pt x="8" y="68"/>
                  </a:lnTo>
                  <a:lnTo>
                    <a:pt x="7" y="63"/>
                  </a:lnTo>
                  <a:lnTo>
                    <a:pt x="5" y="58"/>
                  </a:lnTo>
                  <a:lnTo>
                    <a:pt x="3" y="51"/>
                  </a:lnTo>
                  <a:lnTo>
                    <a:pt x="3" y="45"/>
                  </a:lnTo>
                  <a:lnTo>
                    <a:pt x="0" y="46"/>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93" name="Freeform 637">
              <a:extLst>
                <a:ext uri="{FF2B5EF4-FFF2-40B4-BE49-F238E27FC236}">
                  <a16:creationId xmlns:a16="http://schemas.microsoft.com/office/drawing/2014/main" id="{5DD81A30-C7D2-99D0-D612-1A62B39F1813}"/>
                </a:ext>
              </a:extLst>
            </p:cNvPr>
            <p:cNvSpPr>
              <a:spLocks noEditPoints="1"/>
            </p:cNvSpPr>
            <p:nvPr/>
          </p:nvSpPr>
          <p:spPr bwMode="auto">
            <a:xfrm>
              <a:off x="2158" y="1595"/>
              <a:ext cx="119" cy="88"/>
            </a:xfrm>
            <a:custGeom>
              <a:avLst/>
              <a:gdLst>
                <a:gd name="T0" fmla="*/ 119 w 119"/>
                <a:gd name="T1" fmla="*/ 41 h 88"/>
                <a:gd name="T2" fmla="*/ 117 w 119"/>
                <a:gd name="T3" fmla="*/ 36 h 88"/>
                <a:gd name="T4" fmla="*/ 117 w 119"/>
                <a:gd name="T5" fmla="*/ 30 h 88"/>
                <a:gd name="T6" fmla="*/ 116 w 119"/>
                <a:gd name="T7" fmla="*/ 25 h 88"/>
                <a:gd name="T8" fmla="*/ 114 w 119"/>
                <a:gd name="T9" fmla="*/ 20 h 88"/>
                <a:gd name="T10" fmla="*/ 111 w 119"/>
                <a:gd name="T11" fmla="*/ 13 h 88"/>
                <a:gd name="T12" fmla="*/ 107 w 119"/>
                <a:gd name="T13" fmla="*/ 8 h 88"/>
                <a:gd name="T14" fmla="*/ 104 w 119"/>
                <a:gd name="T15" fmla="*/ 5 h 88"/>
                <a:gd name="T16" fmla="*/ 101 w 119"/>
                <a:gd name="T17" fmla="*/ 0 h 88"/>
                <a:gd name="T18" fmla="*/ 97 w 119"/>
                <a:gd name="T19" fmla="*/ 2 h 88"/>
                <a:gd name="T20" fmla="*/ 101 w 119"/>
                <a:gd name="T21" fmla="*/ 7 h 88"/>
                <a:gd name="T22" fmla="*/ 104 w 119"/>
                <a:gd name="T23" fmla="*/ 10 h 88"/>
                <a:gd name="T24" fmla="*/ 107 w 119"/>
                <a:gd name="T25" fmla="*/ 15 h 88"/>
                <a:gd name="T26" fmla="*/ 111 w 119"/>
                <a:gd name="T27" fmla="*/ 20 h 88"/>
                <a:gd name="T28" fmla="*/ 112 w 119"/>
                <a:gd name="T29" fmla="*/ 25 h 88"/>
                <a:gd name="T30" fmla="*/ 114 w 119"/>
                <a:gd name="T31" fmla="*/ 31 h 88"/>
                <a:gd name="T32" fmla="*/ 114 w 119"/>
                <a:gd name="T33" fmla="*/ 36 h 88"/>
                <a:gd name="T34" fmla="*/ 116 w 119"/>
                <a:gd name="T35" fmla="*/ 43 h 88"/>
                <a:gd name="T36" fmla="*/ 119 w 119"/>
                <a:gd name="T37" fmla="*/ 41 h 88"/>
                <a:gd name="T38" fmla="*/ 0 w 119"/>
                <a:gd name="T39" fmla="*/ 46 h 88"/>
                <a:gd name="T40" fmla="*/ 0 w 119"/>
                <a:gd name="T41" fmla="*/ 51 h 88"/>
                <a:gd name="T42" fmla="*/ 1 w 119"/>
                <a:gd name="T43" fmla="*/ 58 h 88"/>
                <a:gd name="T44" fmla="*/ 3 w 119"/>
                <a:gd name="T45" fmla="*/ 63 h 88"/>
                <a:gd name="T46" fmla="*/ 5 w 119"/>
                <a:gd name="T47" fmla="*/ 70 h 88"/>
                <a:gd name="T48" fmla="*/ 8 w 119"/>
                <a:gd name="T49" fmla="*/ 74 h 88"/>
                <a:gd name="T50" fmla="*/ 11 w 119"/>
                <a:gd name="T51" fmla="*/ 78 h 88"/>
                <a:gd name="T52" fmla="*/ 15 w 119"/>
                <a:gd name="T53" fmla="*/ 83 h 88"/>
                <a:gd name="T54" fmla="*/ 18 w 119"/>
                <a:gd name="T55" fmla="*/ 88 h 88"/>
                <a:gd name="T56" fmla="*/ 21 w 119"/>
                <a:gd name="T57" fmla="*/ 86 h 88"/>
                <a:gd name="T58" fmla="*/ 18 w 119"/>
                <a:gd name="T59" fmla="*/ 81 h 88"/>
                <a:gd name="T60" fmla="*/ 15 w 119"/>
                <a:gd name="T61" fmla="*/ 78 h 88"/>
                <a:gd name="T62" fmla="*/ 11 w 119"/>
                <a:gd name="T63" fmla="*/ 73 h 88"/>
                <a:gd name="T64" fmla="*/ 8 w 119"/>
                <a:gd name="T65" fmla="*/ 68 h 88"/>
                <a:gd name="T66" fmla="*/ 6 w 119"/>
                <a:gd name="T67" fmla="*/ 61 h 88"/>
                <a:gd name="T68" fmla="*/ 5 w 119"/>
                <a:gd name="T69" fmla="*/ 56 h 88"/>
                <a:gd name="T70" fmla="*/ 3 w 119"/>
                <a:gd name="T71" fmla="*/ 51 h 88"/>
                <a:gd name="T72" fmla="*/ 3 w 119"/>
                <a:gd name="T73" fmla="*/ 45 h 88"/>
                <a:gd name="T74" fmla="*/ 0 w 119"/>
                <a:gd name="T75" fmla="*/ 4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9" h="88">
                  <a:moveTo>
                    <a:pt x="119" y="41"/>
                  </a:moveTo>
                  <a:lnTo>
                    <a:pt x="117" y="36"/>
                  </a:lnTo>
                  <a:lnTo>
                    <a:pt x="117" y="30"/>
                  </a:lnTo>
                  <a:lnTo>
                    <a:pt x="116" y="25"/>
                  </a:lnTo>
                  <a:lnTo>
                    <a:pt x="114" y="20"/>
                  </a:lnTo>
                  <a:lnTo>
                    <a:pt x="111" y="13"/>
                  </a:lnTo>
                  <a:lnTo>
                    <a:pt x="107" y="8"/>
                  </a:lnTo>
                  <a:lnTo>
                    <a:pt x="104" y="5"/>
                  </a:lnTo>
                  <a:lnTo>
                    <a:pt x="101" y="0"/>
                  </a:lnTo>
                  <a:lnTo>
                    <a:pt x="97" y="2"/>
                  </a:lnTo>
                  <a:lnTo>
                    <a:pt x="101" y="7"/>
                  </a:lnTo>
                  <a:lnTo>
                    <a:pt x="104" y="10"/>
                  </a:lnTo>
                  <a:lnTo>
                    <a:pt x="107" y="15"/>
                  </a:lnTo>
                  <a:lnTo>
                    <a:pt x="111" y="20"/>
                  </a:lnTo>
                  <a:lnTo>
                    <a:pt x="112" y="25"/>
                  </a:lnTo>
                  <a:lnTo>
                    <a:pt x="114" y="31"/>
                  </a:lnTo>
                  <a:lnTo>
                    <a:pt x="114" y="36"/>
                  </a:lnTo>
                  <a:lnTo>
                    <a:pt x="116" y="43"/>
                  </a:lnTo>
                  <a:lnTo>
                    <a:pt x="119" y="41"/>
                  </a:lnTo>
                  <a:close/>
                  <a:moveTo>
                    <a:pt x="0" y="46"/>
                  </a:moveTo>
                  <a:lnTo>
                    <a:pt x="0" y="51"/>
                  </a:lnTo>
                  <a:lnTo>
                    <a:pt x="1" y="58"/>
                  </a:lnTo>
                  <a:lnTo>
                    <a:pt x="3" y="63"/>
                  </a:lnTo>
                  <a:lnTo>
                    <a:pt x="5" y="70"/>
                  </a:lnTo>
                  <a:lnTo>
                    <a:pt x="8" y="74"/>
                  </a:lnTo>
                  <a:lnTo>
                    <a:pt x="11" y="78"/>
                  </a:lnTo>
                  <a:lnTo>
                    <a:pt x="15" y="83"/>
                  </a:lnTo>
                  <a:lnTo>
                    <a:pt x="18" y="88"/>
                  </a:lnTo>
                  <a:lnTo>
                    <a:pt x="21" y="86"/>
                  </a:lnTo>
                  <a:lnTo>
                    <a:pt x="18" y="81"/>
                  </a:lnTo>
                  <a:lnTo>
                    <a:pt x="15" y="78"/>
                  </a:lnTo>
                  <a:lnTo>
                    <a:pt x="11" y="73"/>
                  </a:lnTo>
                  <a:lnTo>
                    <a:pt x="8" y="68"/>
                  </a:lnTo>
                  <a:lnTo>
                    <a:pt x="6" y="61"/>
                  </a:lnTo>
                  <a:lnTo>
                    <a:pt x="5" y="56"/>
                  </a:lnTo>
                  <a:lnTo>
                    <a:pt x="3" y="51"/>
                  </a:lnTo>
                  <a:lnTo>
                    <a:pt x="3" y="45"/>
                  </a:lnTo>
                  <a:lnTo>
                    <a:pt x="0" y="46"/>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94" name="Freeform 638">
              <a:extLst>
                <a:ext uri="{FF2B5EF4-FFF2-40B4-BE49-F238E27FC236}">
                  <a16:creationId xmlns:a16="http://schemas.microsoft.com/office/drawing/2014/main" id="{285D09D7-415F-6F18-777D-2A9F82CEB394}"/>
                </a:ext>
              </a:extLst>
            </p:cNvPr>
            <p:cNvSpPr>
              <a:spLocks noEditPoints="1"/>
            </p:cNvSpPr>
            <p:nvPr/>
          </p:nvSpPr>
          <p:spPr bwMode="auto">
            <a:xfrm>
              <a:off x="2159" y="1597"/>
              <a:ext cx="116" cy="84"/>
            </a:xfrm>
            <a:custGeom>
              <a:avLst/>
              <a:gdLst>
                <a:gd name="T0" fmla="*/ 116 w 116"/>
                <a:gd name="T1" fmla="*/ 41 h 84"/>
                <a:gd name="T2" fmla="*/ 115 w 116"/>
                <a:gd name="T3" fmla="*/ 34 h 84"/>
                <a:gd name="T4" fmla="*/ 115 w 116"/>
                <a:gd name="T5" fmla="*/ 29 h 84"/>
                <a:gd name="T6" fmla="*/ 113 w 116"/>
                <a:gd name="T7" fmla="*/ 23 h 84"/>
                <a:gd name="T8" fmla="*/ 111 w 116"/>
                <a:gd name="T9" fmla="*/ 18 h 84"/>
                <a:gd name="T10" fmla="*/ 108 w 116"/>
                <a:gd name="T11" fmla="*/ 13 h 84"/>
                <a:gd name="T12" fmla="*/ 105 w 116"/>
                <a:gd name="T13" fmla="*/ 8 h 84"/>
                <a:gd name="T14" fmla="*/ 101 w 116"/>
                <a:gd name="T15" fmla="*/ 3 h 84"/>
                <a:gd name="T16" fmla="*/ 98 w 116"/>
                <a:gd name="T17" fmla="*/ 0 h 84"/>
                <a:gd name="T18" fmla="*/ 95 w 116"/>
                <a:gd name="T19" fmla="*/ 1 h 84"/>
                <a:gd name="T20" fmla="*/ 98 w 116"/>
                <a:gd name="T21" fmla="*/ 5 h 84"/>
                <a:gd name="T22" fmla="*/ 101 w 116"/>
                <a:gd name="T23" fmla="*/ 10 h 84"/>
                <a:gd name="T24" fmla="*/ 105 w 116"/>
                <a:gd name="T25" fmla="*/ 13 h 84"/>
                <a:gd name="T26" fmla="*/ 108 w 116"/>
                <a:gd name="T27" fmla="*/ 18 h 84"/>
                <a:gd name="T28" fmla="*/ 110 w 116"/>
                <a:gd name="T29" fmla="*/ 24 h 84"/>
                <a:gd name="T30" fmla="*/ 111 w 116"/>
                <a:gd name="T31" fmla="*/ 29 h 84"/>
                <a:gd name="T32" fmla="*/ 111 w 116"/>
                <a:gd name="T33" fmla="*/ 36 h 84"/>
                <a:gd name="T34" fmla="*/ 113 w 116"/>
                <a:gd name="T35" fmla="*/ 41 h 84"/>
                <a:gd name="T36" fmla="*/ 113 w 116"/>
                <a:gd name="T37" fmla="*/ 43 h 84"/>
                <a:gd name="T38" fmla="*/ 116 w 116"/>
                <a:gd name="T39" fmla="*/ 41 h 84"/>
                <a:gd name="T40" fmla="*/ 0 w 116"/>
                <a:gd name="T41" fmla="*/ 43 h 84"/>
                <a:gd name="T42" fmla="*/ 0 w 116"/>
                <a:gd name="T43" fmla="*/ 49 h 84"/>
                <a:gd name="T44" fmla="*/ 2 w 116"/>
                <a:gd name="T45" fmla="*/ 56 h 84"/>
                <a:gd name="T46" fmla="*/ 4 w 116"/>
                <a:gd name="T47" fmla="*/ 61 h 84"/>
                <a:gd name="T48" fmla="*/ 5 w 116"/>
                <a:gd name="T49" fmla="*/ 66 h 84"/>
                <a:gd name="T50" fmla="*/ 9 w 116"/>
                <a:gd name="T51" fmla="*/ 71 h 84"/>
                <a:gd name="T52" fmla="*/ 12 w 116"/>
                <a:gd name="T53" fmla="*/ 76 h 84"/>
                <a:gd name="T54" fmla="*/ 15 w 116"/>
                <a:gd name="T55" fmla="*/ 81 h 84"/>
                <a:gd name="T56" fmla="*/ 19 w 116"/>
                <a:gd name="T57" fmla="*/ 84 h 84"/>
                <a:gd name="T58" fmla="*/ 22 w 116"/>
                <a:gd name="T59" fmla="*/ 82 h 84"/>
                <a:gd name="T60" fmla="*/ 19 w 116"/>
                <a:gd name="T61" fmla="*/ 79 h 84"/>
                <a:gd name="T62" fmla="*/ 15 w 116"/>
                <a:gd name="T63" fmla="*/ 74 h 84"/>
                <a:gd name="T64" fmla="*/ 12 w 116"/>
                <a:gd name="T65" fmla="*/ 69 h 84"/>
                <a:gd name="T66" fmla="*/ 9 w 116"/>
                <a:gd name="T67" fmla="*/ 64 h 84"/>
                <a:gd name="T68" fmla="*/ 7 w 116"/>
                <a:gd name="T69" fmla="*/ 59 h 84"/>
                <a:gd name="T70" fmla="*/ 5 w 116"/>
                <a:gd name="T71" fmla="*/ 54 h 84"/>
                <a:gd name="T72" fmla="*/ 4 w 116"/>
                <a:gd name="T73" fmla="*/ 48 h 84"/>
                <a:gd name="T74" fmla="*/ 4 w 116"/>
                <a:gd name="T75" fmla="*/ 41 h 84"/>
                <a:gd name="T76" fmla="*/ 0 w 116"/>
                <a:gd name="T77" fmla="*/ 43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16" h="84">
                  <a:moveTo>
                    <a:pt x="116" y="41"/>
                  </a:moveTo>
                  <a:lnTo>
                    <a:pt x="115" y="34"/>
                  </a:lnTo>
                  <a:lnTo>
                    <a:pt x="115" y="29"/>
                  </a:lnTo>
                  <a:lnTo>
                    <a:pt x="113" y="23"/>
                  </a:lnTo>
                  <a:lnTo>
                    <a:pt x="111" y="18"/>
                  </a:lnTo>
                  <a:lnTo>
                    <a:pt x="108" y="13"/>
                  </a:lnTo>
                  <a:lnTo>
                    <a:pt x="105" y="8"/>
                  </a:lnTo>
                  <a:lnTo>
                    <a:pt x="101" y="3"/>
                  </a:lnTo>
                  <a:lnTo>
                    <a:pt x="98" y="0"/>
                  </a:lnTo>
                  <a:lnTo>
                    <a:pt x="95" y="1"/>
                  </a:lnTo>
                  <a:lnTo>
                    <a:pt x="98" y="5"/>
                  </a:lnTo>
                  <a:lnTo>
                    <a:pt x="101" y="10"/>
                  </a:lnTo>
                  <a:lnTo>
                    <a:pt x="105" y="13"/>
                  </a:lnTo>
                  <a:lnTo>
                    <a:pt x="108" y="18"/>
                  </a:lnTo>
                  <a:lnTo>
                    <a:pt x="110" y="24"/>
                  </a:lnTo>
                  <a:lnTo>
                    <a:pt x="111" y="29"/>
                  </a:lnTo>
                  <a:lnTo>
                    <a:pt x="111" y="36"/>
                  </a:lnTo>
                  <a:lnTo>
                    <a:pt x="113" y="41"/>
                  </a:lnTo>
                  <a:lnTo>
                    <a:pt x="113" y="43"/>
                  </a:lnTo>
                  <a:lnTo>
                    <a:pt x="116" y="41"/>
                  </a:lnTo>
                  <a:close/>
                  <a:moveTo>
                    <a:pt x="0" y="43"/>
                  </a:moveTo>
                  <a:lnTo>
                    <a:pt x="0" y="49"/>
                  </a:lnTo>
                  <a:lnTo>
                    <a:pt x="2" y="56"/>
                  </a:lnTo>
                  <a:lnTo>
                    <a:pt x="4" y="61"/>
                  </a:lnTo>
                  <a:lnTo>
                    <a:pt x="5" y="66"/>
                  </a:lnTo>
                  <a:lnTo>
                    <a:pt x="9" y="71"/>
                  </a:lnTo>
                  <a:lnTo>
                    <a:pt x="12" y="76"/>
                  </a:lnTo>
                  <a:lnTo>
                    <a:pt x="15" y="81"/>
                  </a:lnTo>
                  <a:lnTo>
                    <a:pt x="19" y="84"/>
                  </a:lnTo>
                  <a:lnTo>
                    <a:pt x="22" y="82"/>
                  </a:lnTo>
                  <a:lnTo>
                    <a:pt x="19" y="79"/>
                  </a:lnTo>
                  <a:lnTo>
                    <a:pt x="15" y="74"/>
                  </a:lnTo>
                  <a:lnTo>
                    <a:pt x="12" y="69"/>
                  </a:lnTo>
                  <a:lnTo>
                    <a:pt x="9" y="64"/>
                  </a:lnTo>
                  <a:lnTo>
                    <a:pt x="7" y="59"/>
                  </a:lnTo>
                  <a:lnTo>
                    <a:pt x="5" y="54"/>
                  </a:lnTo>
                  <a:lnTo>
                    <a:pt x="4" y="48"/>
                  </a:lnTo>
                  <a:lnTo>
                    <a:pt x="4" y="41"/>
                  </a:lnTo>
                  <a:lnTo>
                    <a:pt x="0" y="43"/>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95" name="Freeform 639">
              <a:extLst>
                <a:ext uri="{FF2B5EF4-FFF2-40B4-BE49-F238E27FC236}">
                  <a16:creationId xmlns:a16="http://schemas.microsoft.com/office/drawing/2014/main" id="{DC4A5C1E-DCD9-4157-0D84-5DBED9FEC69F}"/>
                </a:ext>
              </a:extLst>
            </p:cNvPr>
            <p:cNvSpPr>
              <a:spLocks noEditPoints="1"/>
            </p:cNvSpPr>
            <p:nvPr/>
          </p:nvSpPr>
          <p:spPr bwMode="auto">
            <a:xfrm>
              <a:off x="2161" y="1597"/>
              <a:ext cx="113" cy="84"/>
            </a:xfrm>
            <a:custGeom>
              <a:avLst/>
              <a:gdLst>
                <a:gd name="T0" fmla="*/ 113 w 113"/>
                <a:gd name="T1" fmla="*/ 41 h 84"/>
                <a:gd name="T2" fmla="*/ 111 w 113"/>
                <a:gd name="T3" fmla="*/ 34 h 84"/>
                <a:gd name="T4" fmla="*/ 111 w 113"/>
                <a:gd name="T5" fmla="*/ 29 h 84"/>
                <a:gd name="T6" fmla="*/ 109 w 113"/>
                <a:gd name="T7" fmla="*/ 23 h 84"/>
                <a:gd name="T8" fmla="*/ 108 w 113"/>
                <a:gd name="T9" fmla="*/ 18 h 84"/>
                <a:gd name="T10" fmla="*/ 104 w 113"/>
                <a:gd name="T11" fmla="*/ 13 h 84"/>
                <a:gd name="T12" fmla="*/ 101 w 113"/>
                <a:gd name="T13" fmla="*/ 8 h 84"/>
                <a:gd name="T14" fmla="*/ 98 w 113"/>
                <a:gd name="T15" fmla="*/ 5 h 84"/>
                <a:gd name="T16" fmla="*/ 94 w 113"/>
                <a:gd name="T17" fmla="*/ 0 h 84"/>
                <a:gd name="T18" fmla="*/ 91 w 113"/>
                <a:gd name="T19" fmla="*/ 1 h 84"/>
                <a:gd name="T20" fmla="*/ 94 w 113"/>
                <a:gd name="T21" fmla="*/ 5 h 84"/>
                <a:gd name="T22" fmla="*/ 98 w 113"/>
                <a:gd name="T23" fmla="*/ 10 h 84"/>
                <a:gd name="T24" fmla="*/ 101 w 113"/>
                <a:gd name="T25" fmla="*/ 15 h 84"/>
                <a:gd name="T26" fmla="*/ 104 w 113"/>
                <a:gd name="T27" fmla="*/ 19 h 84"/>
                <a:gd name="T28" fmla="*/ 106 w 113"/>
                <a:gd name="T29" fmla="*/ 24 h 84"/>
                <a:gd name="T30" fmla="*/ 108 w 113"/>
                <a:gd name="T31" fmla="*/ 29 h 84"/>
                <a:gd name="T32" fmla="*/ 108 w 113"/>
                <a:gd name="T33" fmla="*/ 36 h 84"/>
                <a:gd name="T34" fmla="*/ 109 w 113"/>
                <a:gd name="T35" fmla="*/ 41 h 84"/>
                <a:gd name="T36" fmla="*/ 109 w 113"/>
                <a:gd name="T37" fmla="*/ 43 h 84"/>
                <a:gd name="T38" fmla="*/ 113 w 113"/>
                <a:gd name="T39" fmla="*/ 41 h 84"/>
                <a:gd name="T40" fmla="*/ 0 w 113"/>
                <a:gd name="T41" fmla="*/ 43 h 84"/>
                <a:gd name="T42" fmla="*/ 0 w 113"/>
                <a:gd name="T43" fmla="*/ 49 h 84"/>
                <a:gd name="T44" fmla="*/ 2 w 113"/>
                <a:gd name="T45" fmla="*/ 54 h 84"/>
                <a:gd name="T46" fmla="*/ 3 w 113"/>
                <a:gd name="T47" fmla="*/ 59 h 84"/>
                <a:gd name="T48" fmla="*/ 5 w 113"/>
                <a:gd name="T49" fmla="*/ 66 h 84"/>
                <a:gd name="T50" fmla="*/ 8 w 113"/>
                <a:gd name="T51" fmla="*/ 71 h 84"/>
                <a:gd name="T52" fmla="*/ 12 w 113"/>
                <a:gd name="T53" fmla="*/ 76 h 84"/>
                <a:gd name="T54" fmla="*/ 15 w 113"/>
                <a:gd name="T55" fmla="*/ 79 h 84"/>
                <a:gd name="T56" fmla="*/ 18 w 113"/>
                <a:gd name="T57" fmla="*/ 84 h 84"/>
                <a:gd name="T58" fmla="*/ 22 w 113"/>
                <a:gd name="T59" fmla="*/ 82 h 84"/>
                <a:gd name="T60" fmla="*/ 18 w 113"/>
                <a:gd name="T61" fmla="*/ 77 h 84"/>
                <a:gd name="T62" fmla="*/ 15 w 113"/>
                <a:gd name="T63" fmla="*/ 74 h 84"/>
                <a:gd name="T64" fmla="*/ 12 w 113"/>
                <a:gd name="T65" fmla="*/ 69 h 84"/>
                <a:gd name="T66" fmla="*/ 8 w 113"/>
                <a:gd name="T67" fmla="*/ 64 h 84"/>
                <a:gd name="T68" fmla="*/ 7 w 113"/>
                <a:gd name="T69" fmla="*/ 59 h 84"/>
                <a:gd name="T70" fmla="*/ 5 w 113"/>
                <a:gd name="T71" fmla="*/ 53 h 84"/>
                <a:gd name="T72" fmla="*/ 3 w 113"/>
                <a:gd name="T73" fmla="*/ 48 h 84"/>
                <a:gd name="T74" fmla="*/ 3 w 113"/>
                <a:gd name="T75" fmla="*/ 41 h 84"/>
                <a:gd name="T76" fmla="*/ 0 w 113"/>
                <a:gd name="T77" fmla="*/ 43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13" h="84">
                  <a:moveTo>
                    <a:pt x="113" y="41"/>
                  </a:moveTo>
                  <a:lnTo>
                    <a:pt x="111" y="34"/>
                  </a:lnTo>
                  <a:lnTo>
                    <a:pt x="111" y="29"/>
                  </a:lnTo>
                  <a:lnTo>
                    <a:pt x="109" y="23"/>
                  </a:lnTo>
                  <a:lnTo>
                    <a:pt x="108" y="18"/>
                  </a:lnTo>
                  <a:lnTo>
                    <a:pt x="104" y="13"/>
                  </a:lnTo>
                  <a:lnTo>
                    <a:pt x="101" y="8"/>
                  </a:lnTo>
                  <a:lnTo>
                    <a:pt x="98" y="5"/>
                  </a:lnTo>
                  <a:lnTo>
                    <a:pt x="94" y="0"/>
                  </a:lnTo>
                  <a:lnTo>
                    <a:pt x="91" y="1"/>
                  </a:lnTo>
                  <a:lnTo>
                    <a:pt x="94" y="5"/>
                  </a:lnTo>
                  <a:lnTo>
                    <a:pt x="98" y="10"/>
                  </a:lnTo>
                  <a:lnTo>
                    <a:pt x="101" y="15"/>
                  </a:lnTo>
                  <a:lnTo>
                    <a:pt x="104" y="19"/>
                  </a:lnTo>
                  <a:lnTo>
                    <a:pt x="106" y="24"/>
                  </a:lnTo>
                  <a:lnTo>
                    <a:pt x="108" y="29"/>
                  </a:lnTo>
                  <a:lnTo>
                    <a:pt x="108" y="36"/>
                  </a:lnTo>
                  <a:lnTo>
                    <a:pt x="109" y="41"/>
                  </a:lnTo>
                  <a:lnTo>
                    <a:pt x="109" y="43"/>
                  </a:lnTo>
                  <a:lnTo>
                    <a:pt x="113" y="41"/>
                  </a:lnTo>
                  <a:close/>
                  <a:moveTo>
                    <a:pt x="0" y="43"/>
                  </a:moveTo>
                  <a:lnTo>
                    <a:pt x="0" y="49"/>
                  </a:lnTo>
                  <a:lnTo>
                    <a:pt x="2" y="54"/>
                  </a:lnTo>
                  <a:lnTo>
                    <a:pt x="3" y="59"/>
                  </a:lnTo>
                  <a:lnTo>
                    <a:pt x="5" y="66"/>
                  </a:lnTo>
                  <a:lnTo>
                    <a:pt x="8" y="71"/>
                  </a:lnTo>
                  <a:lnTo>
                    <a:pt x="12" y="76"/>
                  </a:lnTo>
                  <a:lnTo>
                    <a:pt x="15" y="79"/>
                  </a:lnTo>
                  <a:lnTo>
                    <a:pt x="18" y="84"/>
                  </a:lnTo>
                  <a:lnTo>
                    <a:pt x="22" y="82"/>
                  </a:lnTo>
                  <a:lnTo>
                    <a:pt x="18" y="77"/>
                  </a:lnTo>
                  <a:lnTo>
                    <a:pt x="15" y="74"/>
                  </a:lnTo>
                  <a:lnTo>
                    <a:pt x="12" y="69"/>
                  </a:lnTo>
                  <a:lnTo>
                    <a:pt x="8" y="64"/>
                  </a:lnTo>
                  <a:lnTo>
                    <a:pt x="7" y="59"/>
                  </a:lnTo>
                  <a:lnTo>
                    <a:pt x="5" y="53"/>
                  </a:lnTo>
                  <a:lnTo>
                    <a:pt x="3" y="48"/>
                  </a:lnTo>
                  <a:lnTo>
                    <a:pt x="3" y="41"/>
                  </a:lnTo>
                  <a:lnTo>
                    <a:pt x="0" y="43"/>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96" name="Freeform 640">
              <a:extLst>
                <a:ext uri="{FF2B5EF4-FFF2-40B4-BE49-F238E27FC236}">
                  <a16:creationId xmlns:a16="http://schemas.microsoft.com/office/drawing/2014/main" id="{47F381A7-48D7-12F5-2F90-80540DC3823A}"/>
                </a:ext>
              </a:extLst>
            </p:cNvPr>
            <p:cNvSpPr>
              <a:spLocks noEditPoints="1"/>
            </p:cNvSpPr>
            <p:nvPr/>
          </p:nvSpPr>
          <p:spPr bwMode="auto">
            <a:xfrm>
              <a:off x="2163" y="1598"/>
              <a:ext cx="109" cy="81"/>
            </a:xfrm>
            <a:custGeom>
              <a:avLst/>
              <a:gdLst>
                <a:gd name="T0" fmla="*/ 109 w 109"/>
                <a:gd name="T1" fmla="*/ 40 h 81"/>
                <a:gd name="T2" fmla="*/ 107 w 109"/>
                <a:gd name="T3" fmla="*/ 35 h 81"/>
                <a:gd name="T4" fmla="*/ 107 w 109"/>
                <a:gd name="T5" fmla="*/ 28 h 81"/>
                <a:gd name="T6" fmla="*/ 106 w 109"/>
                <a:gd name="T7" fmla="*/ 23 h 81"/>
                <a:gd name="T8" fmla="*/ 104 w 109"/>
                <a:gd name="T9" fmla="*/ 17 h 81"/>
                <a:gd name="T10" fmla="*/ 101 w 109"/>
                <a:gd name="T11" fmla="*/ 12 h 81"/>
                <a:gd name="T12" fmla="*/ 97 w 109"/>
                <a:gd name="T13" fmla="*/ 9 h 81"/>
                <a:gd name="T14" fmla="*/ 94 w 109"/>
                <a:gd name="T15" fmla="*/ 4 h 81"/>
                <a:gd name="T16" fmla="*/ 91 w 109"/>
                <a:gd name="T17" fmla="*/ 0 h 81"/>
                <a:gd name="T18" fmla="*/ 87 w 109"/>
                <a:gd name="T19" fmla="*/ 0 h 81"/>
                <a:gd name="T20" fmla="*/ 91 w 109"/>
                <a:gd name="T21" fmla="*/ 5 h 81"/>
                <a:gd name="T22" fmla="*/ 94 w 109"/>
                <a:gd name="T23" fmla="*/ 9 h 81"/>
                <a:gd name="T24" fmla="*/ 97 w 109"/>
                <a:gd name="T25" fmla="*/ 14 h 81"/>
                <a:gd name="T26" fmla="*/ 101 w 109"/>
                <a:gd name="T27" fmla="*/ 18 h 81"/>
                <a:gd name="T28" fmla="*/ 102 w 109"/>
                <a:gd name="T29" fmla="*/ 23 h 81"/>
                <a:gd name="T30" fmla="*/ 104 w 109"/>
                <a:gd name="T31" fmla="*/ 28 h 81"/>
                <a:gd name="T32" fmla="*/ 104 w 109"/>
                <a:gd name="T33" fmla="*/ 35 h 81"/>
                <a:gd name="T34" fmla="*/ 106 w 109"/>
                <a:gd name="T35" fmla="*/ 40 h 81"/>
                <a:gd name="T36" fmla="*/ 106 w 109"/>
                <a:gd name="T37" fmla="*/ 42 h 81"/>
                <a:gd name="T38" fmla="*/ 106 w 109"/>
                <a:gd name="T39" fmla="*/ 43 h 81"/>
                <a:gd name="T40" fmla="*/ 109 w 109"/>
                <a:gd name="T41" fmla="*/ 42 h 81"/>
                <a:gd name="T42" fmla="*/ 109 w 109"/>
                <a:gd name="T43" fmla="*/ 40 h 81"/>
                <a:gd name="T44" fmla="*/ 0 w 109"/>
                <a:gd name="T45" fmla="*/ 40 h 81"/>
                <a:gd name="T46" fmla="*/ 0 w 109"/>
                <a:gd name="T47" fmla="*/ 47 h 81"/>
                <a:gd name="T48" fmla="*/ 1 w 109"/>
                <a:gd name="T49" fmla="*/ 53 h 81"/>
                <a:gd name="T50" fmla="*/ 3 w 109"/>
                <a:gd name="T51" fmla="*/ 58 h 81"/>
                <a:gd name="T52" fmla="*/ 5 w 109"/>
                <a:gd name="T53" fmla="*/ 63 h 81"/>
                <a:gd name="T54" fmla="*/ 8 w 109"/>
                <a:gd name="T55" fmla="*/ 68 h 81"/>
                <a:gd name="T56" fmla="*/ 11 w 109"/>
                <a:gd name="T57" fmla="*/ 73 h 81"/>
                <a:gd name="T58" fmla="*/ 15 w 109"/>
                <a:gd name="T59" fmla="*/ 78 h 81"/>
                <a:gd name="T60" fmla="*/ 18 w 109"/>
                <a:gd name="T61" fmla="*/ 81 h 81"/>
                <a:gd name="T62" fmla="*/ 21 w 109"/>
                <a:gd name="T63" fmla="*/ 80 h 81"/>
                <a:gd name="T64" fmla="*/ 18 w 109"/>
                <a:gd name="T65" fmla="*/ 76 h 81"/>
                <a:gd name="T66" fmla="*/ 15 w 109"/>
                <a:gd name="T67" fmla="*/ 73 h 81"/>
                <a:gd name="T68" fmla="*/ 11 w 109"/>
                <a:gd name="T69" fmla="*/ 68 h 81"/>
                <a:gd name="T70" fmla="*/ 8 w 109"/>
                <a:gd name="T71" fmla="*/ 63 h 81"/>
                <a:gd name="T72" fmla="*/ 6 w 109"/>
                <a:gd name="T73" fmla="*/ 58 h 81"/>
                <a:gd name="T74" fmla="*/ 5 w 109"/>
                <a:gd name="T75" fmla="*/ 52 h 81"/>
                <a:gd name="T76" fmla="*/ 3 w 109"/>
                <a:gd name="T77" fmla="*/ 47 h 81"/>
                <a:gd name="T78" fmla="*/ 3 w 109"/>
                <a:gd name="T79" fmla="*/ 40 h 81"/>
                <a:gd name="T80" fmla="*/ 0 w 109"/>
                <a:gd name="T81" fmla="*/ 40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09" h="81">
                  <a:moveTo>
                    <a:pt x="109" y="40"/>
                  </a:moveTo>
                  <a:lnTo>
                    <a:pt x="107" y="35"/>
                  </a:lnTo>
                  <a:lnTo>
                    <a:pt x="107" y="28"/>
                  </a:lnTo>
                  <a:lnTo>
                    <a:pt x="106" y="23"/>
                  </a:lnTo>
                  <a:lnTo>
                    <a:pt x="104" y="17"/>
                  </a:lnTo>
                  <a:lnTo>
                    <a:pt x="101" y="12"/>
                  </a:lnTo>
                  <a:lnTo>
                    <a:pt x="97" y="9"/>
                  </a:lnTo>
                  <a:lnTo>
                    <a:pt x="94" y="4"/>
                  </a:lnTo>
                  <a:lnTo>
                    <a:pt x="91" y="0"/>
                  </a:lnTo>
                  <a:lnTo>
                    <a:pt x="87" y="0"/>
                  </a:lnTo>
                  <a:lnTo>
                    <a:pt x="91" y="5"/>
                  </a:lnTo>
                  <a:lnTo>
                    <a:pt x="94" y="9"/>
                  </a:lnTo>
                  <a:lnTo>
                    <a:pt x="97" y="14"/>
                  </a:lnTo>
                  <a:lnTo>
                    <a:pt x="101" y="18"/>
                  </a:lnTo>
                  <a:lnTo>
                    <a:pt x="102" y="23"/>
                  </a:lnTo>
                  <a:lnTo>
                    <a:pt x="104" y="28"/>
                  </a:lnTo>
                  <a:lnTo>
                    <a:pt x="104" y="35"/>
                  </a:lnTo>
                  <a:lnTo>
                    <a:pt x="106" y="40"/>
                  </a:lnTo>
                  <a:lnTo>
                    <a:pt x="106" y="42"/>
                  </a:lnTo>
                  <a:lnTo>
                    <a:pt x="106" y="43"/>
                  </a:lnTo>
                  <a:lnTo>
                    <a:pt x="109" y="42"/>
                  </a:lnTo>
                  <a:lnTo>
                    <a:pt x="109" y="40"/>
                  </a:lnTo>
                  <a:close/>
                  <a:moveTo>
                    <a:pt x="0" y="40"/>
                  </a:moveTo>
                  <a:lnTo>
                    <a:pt x="0" y="47"/>
                  </a:lnTo>
                  <a:lnTo>
                    <a:pt x="1" y="53"/>
                  </a:lnTo>
                  <a:lnTo>
                    <a:pt x="3" y="58"/>
                  </a:lnTo>
                  <a:lnTo>
                    <a:pt x="5" y="63"/>
                  </a:lnTo>
                  <a:lnTo>
                    <a:pt x="8" y="68"/>
                  </a:lnTo>
                  <a:lnTo>
                    <a:pt x="11" y="73"/>
                  </a:lnTo>
                  <a:lnTo>
                    <a:pt x="15" y="78"/>
                  </a:lnTo>
                  <a:lnTo>
                    <a:pt x="18" y="81"/>
                  </a:lnTo>
                  <a:lnTo>
                    <a:pt x="21" y="80"/>
                  </a:lnTo>
                  <a:lnTo>
                    <a:pt x="18" y="76"/>
                  </a:lnTo>
                  <a:lnTo>
                    <a:pt x="15" y="73"/>
                  </a:lnTo>
                  <a:lnTo>
                    <a:pt x="11" y="68"/>
                  </a:lnTo>
                  <a:lnTo>
                    <a:pt x="8" y="63"/>
                  </a:lnTo>
                  <a:lnTo>
                    <a:pt x="6" y="58"/>
                  </a:lnTo>
                  <a:lnTo>
                    <a:pt x="5" y="52"/>
                  </a:lnTo>
                  <a:lnTo>
                    <a:pt x="3" y="47"/>
                  </a:lnTo>
                  <a:lnTo>
                    <a:pt x="3" y="40"/>
                  </a:lnTo>
                  <a:lnTo>
                    <a:pt x="0" y="4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97" name="Freeform 641">
              <a:extLst>
                <a:ext uri="{FF2B5EF4-FFF2-40B4-BE49-F238E27FC236}">
                  <a16:creationId xmlns:a16="http://schemas.microsoft.com/office/drawing/2014/main" id="{4EE8CC1E-5E7D-E38B-81D3-7B524CFA0D4F}"/>
                </a:ext>
              </a:extLst>
            </p:cNvPr>
            <p:cNvSpPr>
              <a:spLocks noEditPoints="1"/>
            </p:cNvSpPr>
            <p:nvPr/>
          </p:nvSpPr>
          <p:spPr bwMode="auto">
            <a:xfrm>
              <a:off x="2164" y="1598"/>
              <a:ext cx="106" cy="81"/>
            </a:xfrm>
            <a:custGeom>
              <a:avLst/>
              <a:gdLst>
                <a:gd name="T0" fmla="*/ 106 w 106"/>
                <a:gd name="T1" fmla="*/ 40 h 81"/>
                <a:gd name="T2" fmla="*/ 105 w 106"/>
                <a:gd name="T3" fmla="*/ 35 h 81"/>
                <a:gd name="T4" fmla="*/ 105 w 106"/>
                <a:gd name="T5" fmla="*/ 28 h 81"/>
                <a:gd name="T6" fmla="*/ 103 w 106"/>
                <a:gd name="T7" fmla="*/ 23 h 81"/>
                <a:gd name="T8" fmla="*/ 101 w 106"/>
                <a:gd name="T9" fmla="*/ 18 h 81"/>
                <a:gd name="T10" fmla="*/ 98 w 106"/>
                <a:gd name="T11" fmla="*/ 14 h 81"/>
                <a:gd name="T12" fmla="*/ 95 w 106"/>
                <a:gd name="T13" fmla="*/ 9 h 81"/>
                <a:gd name="T14" fmla="*/ 91 w 106"/>
                <a:gd name="T15" fmla="*/ 4 h 81"/>
                <a:gd name="T16" fmla="*/ 88 w 106"/>
                <a:gd name="T17" fmla="*/ 0 h 81"/>
                <a:gd name="T18" fmla="*/ 85 w 106"/>
                <a:gd name="T19" fmla="*/ 2 h 81"/>
                <a:gd name="T20" fmla="*/ 88 w 106"/>
                <a:gd name="T21" fmla="*/ 5 h 81"/>
                <a:gd name="T22" fmla="*/ 91 w 106"/>
                <a:gd name="T23" fmla="*/ 10 h 81"/>
                <a:gd name="T24" fmla="*/ 95 w 106"/>
                <a:gd name="T25" fmla="*/ 14 h 81"/>
                <a:gd name="T26" fmla="*/ 98 w 106"/>
                <a:gd name="T27" fmla="*/ 18 h 81"/>
                <a:gd name="T28" fmla="*/ 100 w 106"/>
                <a:gd name="T29" fmla="*/ 23 h 81"/>
                <a:gd name="T30" fmla="*/ 101 w 106"/>
                <a:gd name="T31" fmla="*/ 28 h 81"/>
                <a:gd name="T32" fmla="*/ 101 w 106"/>
                <a:gd name="T33" fmla="*/ 35 h 81"/>
                <a:gd name="T34" fmla="*/ 103 w 106"/>
                <a:gd name="T35" fmla="*/ 40 h 81"/>
                <a:gd name="T36" fmla="*/ 103 w 106"/>
                <a:gd name="T37" fmla="*/ 42 h 81"/>
                <a:gd name="T38" fmla="*/ 103 w 106"/>
                <a:gd name="T39" fmla="*/ 43 h 81"/>
                <a:gd name="T40" fmla="*/ 106 w 106"/>
                <a:gd name="T41" fmla="*/ 42 h 81"/>
                <a:gd name="T42" fmla="*/ 106 w 106"/>
                <a:gd name="T43" fmla="*/ 40 h 81"/>
                <a:gd name="T44" fmla="*/ 0 w 106"/>
                <a:gd name="T45" fmla="*/ 40 h 81"/>
                <a:gd name="T46" fmla="*/ 0 w 106"/>
                <a:gd name="T47" fmla="*/ 40 h 81"/>
                <a:gd name="T48" fmla="*/ 0 w 106"/>
                <a:gd name="T49" fmla="*/ 47 h 81"/>
                <a:gd name="T50" fmla="*/ 2 w 106"/>
                <a:gd name="T51" fmla="*/ 52 h 81"/>
                <a:gd name="T52" fmla="*/ 4 w 106"/>
                <a:gd name="T53" fmla="*/ 58 h 81"/>
                <a:gd name="T54" fmla="*/ 5 w 106"/>
                <a:gd name="T55" fmla="*/ 63 h 81"/>
                <a:gd name="T56" fmla="*/ 9 w 106"/>
                <a:gd name="T57" fmla="*/ 68 h 81"/>
                <a:gd name="T58" fmla="*/ 12 w 106"/>
                <a:gd name="T59" fmla="*/ 73 h 81"/>
                <a:gd name="T60" fmla="*/ 15 w 106"/>
                <a:gd name="T61" fmla="*/ 76 h 81"/>
                <a:gd name="T62" fmla="*/ 19 w 106"/>
                <a:gd name="T63" fmla="*/ 81 h 81"/>
                <a:gd name="T64" fmla="*/ 22 w 106"/>
                <a:gd name="T65" fmla="*/ 80 h 81"/>
                <a:gd name="T66" fmla="*/ 19 w 106"/>
                <a:gd name="T67" fmla="*/ 76 h 81"/>
                <a:gd name="T68" fmla="*/ 15 w 106"/>
                <a:gd name="T69" fmla="*/ 71 h 81"/>
                <a:gd name="T70" fmla="*/ 12 w 106"/>
                <a:gd name="T71" fmla="*/ 67 h 81"/>
                <a:gd name="T72" fmla="*/ 9 w 106"/>
                <a:gd name="T73" fmla="*/ 63 h 81"/>
                <a:gd name="T74" fmla="*/ 7 w 106"/>
                <a:gd name="T75" fmla="*/ 57 h 81"/>
                <a:gd name="T76" fmla="*/ 5 w 106"/>
                <a:gd name="T77" fmla="*/ 52 h 81"/>
                <a:gd name="T78" fmla="*/ 4 w 106"/>
                <a:gd name="T79" fmla="*/ 47 h 81"/>
                <a:gd name="T80" fmla="*/ 4 w 106"/>
                <a:gd name="T81" fmla="*/ 40 h 81"/>
                <a:gd name="T82" fmla="*/ 4 w 106"/>
                <a:gd name="T83" fmla="*/ 38 h 81"/>
                <a:gd name="T84" fmla="*/ 0 w 106"/>
                <a:gd name="T85" fmla="*/ 40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06" h="81">
                  <a:moveTo>
                    <a:pt x="106" y="40"/>
                  </a:moveTo>
                  <a:lnTo>
                    <a:pt x="105" y="35"/>
                  </a:lnTo>
                  <a:lnTo>
                    <a:pt x="105" y="28"/>
                  </a:lnTo>
                  <a:lnTo>
                    <a:pt x="103" y="23"/>
                  </a:lnTo>
                  <a:lnTo>
                    <a:pt x="101" y="18"/>
                  </a:lnTo>
                  <a:lnTo>
                    <a:pt x="98" y="14"/>
                  </a:lnTo>
                  <a:lnTo>
                    <a:pt x="95" y="9"/>
                  </a:lnTo>
                  <a:lnTo>
                    <a:pt x="91" y="4"/>
                  </a:lnTo>
                  <a:lnTo>
                    <a:pt x="88" y="0"/>
                  </a:lnTo>
                  <a:lnTo>
                    <a:pt x="85" y="2"/>
                  </a:lnTo>
                  <a:lnTo>
                    <a:pt x="88" y="5"/>
                  </a:lnTo>
                  <a:lnTo>
                    <a:pt x="91" y="10"/>
                  </a:lnTo>
                  <a:lnTo>
                    <a:pt x="95" y="14"/>
                  </a:lnTo>
                  <a:lnTo>
                    <a:pt x="98" y="18"/>
                  </a:lnTo>
                  <a:lnTo>
                    <a:pt x="100" y="23"/>
                  </a:lnTo>
                  <a:lnTo>
                    <a:pt x="101" y="28"/>
                  </a:lnTo>
                  <a:lnTo>
                    <a:pt x="101" y="35"/>
                  </a:lnTo>
                  <a:lnTo>
                    <a:pt x="103" y="40"/>
                  </a:lnTo>
                  <a:lnTo>
                    <a:pt x="103" y="42"/>
                  </a:lnTo>
                  <a:lnTo>
                    <a:pt x="103" y="43"/>
                  </a:lnTo>
                  <a:lnTo>
                    <a:pt x="106" y="42"/>
                  </a:lnTo>
                  <a:lnTo>
                    <a:pt x="106" y="40"/>
                  </a:lnTo>
                  <a:close/>
                  <a:moveTo>
                    <a:pt x="0" y="40"/>
                  </a:moveTo>
                  <a:lnTo>
                    <a:pt x="0" y="40"/>
                  </a:lnTo>
                  <a:lnTo>
                    <a:pt x="0" y="47"/>
                  </a:lnTo>
                  <a:lnTo>
                    <a:pt x="2" y="52"/>
                  </a:lnTo>
                  <a:lnTo>
                    <a:pt x="4" y="58"/>
                  </a:lnTo>
                  <a:lnTo>
                    <a:pt x="5" y="63"/>
                  </a:lnTo>
                  <a:lnTo>
                    <a:pt x="9" y="68"/>
                  </a:lnTo>
                  <a:lnTo>
                    <a:pt x="12" y="73"/>
                  </a:lnTo>
                  <a:lnTo>
                    <a:pt x="15" y="76"/>
                  </a:lnTo>
                  <a:lnTo>
                    <a:pt x="19" y="81"/>
                  </a:lnTo>
                  <a:lnTo>
                    <a:pt x="22" y="80"/>
                  </a:lnTo>
                  <a:lnTo>
                    <a:pt x="19" y="76"/>
                  </a:lnTo>
                  <a:lnTo>
                    <a:pt x="15" y="71"/>
                  </a:lnTo>
                  <a:lnTo>
                    <a:pt x="12" y="67"/>
                  </a:lnTo>
                  <a:lnTo>
                    <a:pt x="9" y="63"/>
                  </a:lnTo>
                  <a:lnTo>
                    <a:pt x="7" y="57"/>
                  </a:lnTo>
                  <a:lnTo>
                    <a:pt x="5" y="52"/>
                  </a:lnTo>
                  <a:lnTo>
                    <a:pt x="4" y="47"/>
                  </a:lnTo>
                  <a:lnTo>
                    <a:pt x="4" y="40"/>
                  </a:lnTo>
                  <a:lnTo>
                    <a:pt x="4" y="38"/>
                  </a:lnTo>
                  <a:lnTo>
                    <a:pt x="0" y="4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98" name="Freeform 642">
              <a:extLst>
                <a:ext uri="{FF2B5EF4-FFF2-40B4-BE49-F238E27FC236}">
                  <a16:creationId xmlns:a16="http://schemas.microsoft.com/office/drawing/2014/main" id="{8B3EC678-BFE0-F31C-D2EF-BB721FBC2916}"/>
                </a:ext>
              </a:extLst>
            </p:cNvPr>
            <p:cNvSpPr>
              <a:spLocks noEditPoints="1"/>
            </p:cNvSpPr>
            <p:nvPr/>
          </p:nvSpPr>
          <p:spPr bwMode="auto">
            <a:xfrm>
              <a:off x="2166" y="1598"/>
              <a:ext cx="103" cy="80"/>
            </a:xfrm>
            <a:custGeom>
              <a:avLst/>
              <a:gdLst>
                <a:gd name="T0" fmla="*/ 103 w 103"/>
                <a:gd name="T1" fmla="*/ 40 h 80"/>
                <a:gd name="T2" fmla="*/ 101 w 103"/>
                <a:gd name="T3" fmla="*/ 35 h 80"/>
                <a:gd name="T4" fmla="*/ 101 w 103"/>
                <a:gd name="T5" fmla="*/ 28 h 80"/>
                <a:gd name="T6" fmla="*/ 99 w 103"/>
                <a:gd name="T7" fmla="*/ 23 h 80"/>
                <a:gd name="T8" fmla="*/ 98 w 103"/>
                <a:gd name="T9" fmla="*/ 18 h 80"/>
                <a:gd name="T10" fmla="*/ 94 w 103"/>
                <a:gd name="T11" fmla="*/ 14 h 80"/>
                <a:gd name="T12" fmla="*/ 91 w 103"/>
                <a:gd name="T13" fmla="*/ 9 h 80"/>
                <a:gd name="T14" fmla="*/ 88 w 103"/>
                <a:gd name="T15" fmla="*/ 5 h 80"/>
                <a:gd name="T16" fmla="*/ 84 w 103"/>
                <a:gd name="T17" fmla="*/ 0 h 80"/>
                <a:gd name="T18" fmla="*/ 81 w 103"/>
                <a:gd name="T19" fmla="*/ 2 h 80"/>
                <a:gd name="T20" fmla="*/ 84 w 103"/>
                <a:gd name="T21" fmla="*/ 5 h 80"/>
                <a:gd name="T22" fmla="*/ 88 w 103"/>
                <a:gd name="T23" fmla="*/ 10 h 80"/>
                <a:gd name="T24" fmla="*/ 91 w 103"/>
                <a:gd name="T25" fmla="*/ 14 h 80"/>
                <a:gd name="T26" fmla="*/ 94 w 103"/>
                <a:gd name="T27" fmla="*/ 18 h 80"/>
                <a:gd name="T28" fmla="*/ 96 w 103"/>
                <a:gd name="T29" fmla="*/ 23 h 80"/>
                <a:gd name="T30" fmla="*/ 98 w 103"/>
                <a:gd name="T31" fmla="*/ 28 h 80"/>
                <a:gd name="T32" fmla="*/ 98 w 103"/>
                <a:gd name="T33" fmla="*/ 35 h 80"/>
                <a:gd name="T34" fmla="*/ 99 w 103"/>
                <a:gd name="T35" fmla="*/ 40 h 80"/>
                <a:gd name="T36" fmla="*/ 99 w 103"/>
                <a:gd name="T37" fmla="*/ 42 h 80"/>
                <a:gd name="T38" fmla="*/ 99 w 103"/>
                <a:gd name="T39" fmla="*/ 43 h 80"/>
                <a:gd name="T40" fmla="*/ 99 w 103"/>
                <a:gd name="T41" fmla="*/ 45 h 80"/>
                <a:gd name="T42" fmla="*/ 103 w 103"/>
                <a:gd name="T43" fmla="*/ 43 h 80"/>
                <a:gd name="T44" fmla="*/ 103 w 103"/>
                <a:gd name="T45" fmla="*/ 42 h 80"/>
                <a:gd name="T46" fmla="*/ 103 w 103"/>
                <a:gd name="T47" fmla="*/ 40 h 80"/>
                <a:gd name="T48" fmla="*/ 0 w 103"/>
                <a:gd name="T49" fmla="*/ 40 h 80"/>
                <a:gd name="T50" fmla="*/ 0 w 103"/>
                <a:gd name="T51" fmla="*/ 40 h 80"/>
                <a:gd name="T52" fmla="*/ 0 w 103"/>
                <a:gd name="T53" fmla="*/ 47 h 80"/>
                <a:gd name="T54" fmla="*/ 2 w 103"/>
                <a:gd name="T55" fmla="*/ 52 h 80"/>
                <a:gd name="T56" fmla="*/ 3 w 103"/>
                <a:gd name="T57" fmla="*/ 58 h 80"/>
                <a:gd name="T58" fmla="*/ 5 w 103"/>
                <a:gd name="T59" fmla="*/ 63 h 80"/>
                <a:gd name="T60" fmla="*/ 8 w 103"/>
                <a:gd name="T61" fmla="*/ 68 h 80"/>
                <a:gd name="T62" fmla="*/ 12 w 103"/>
                <a:gd name="T63" fmla="*/ 73 h 80"/>
                <a:gd name="T64" fmla="*/ 15 w 103"/>
                <a:gd name="T65" fmla="*/ 76 h 80"/>
                <a:gd name="T66" fmla="*/ 18 w 103"/>
                <a:gd name="T67" fmla="*/ 80 h 80"/>
                <a:gd name="T68" fmla="*/ 21 w 103"/>
                <a:gd name="T69" fmla="*/ 78 h 80"/>
                <a:gd name="T70" fmla="*/ 18 w 103"/>
                <a:gd name="T71" fmla="*/ 75 h 80"/>
                <a:gd name="T72" fmla="*/ 15 w 103"/>
                <a:gd name="T73" fmla="*/ 71 h 80"/>
                <a:gd name="T74" fmla="*/ 12 w 103"/>
                <a:gd name="T75" fmla="*/ 67 h 80"/>
                <a:gd name="T76" fmla="*/ 8 w 103"/>
                <a:gd name="T77" fmla="*/ 62 h 80"/>
                <a:gd name="T78" fmla="*/ 7 w 103"/>
                <a:gd name="T79" fmla="*/ 57 h 80"/>
                <a:gd name="T80" fmla="*/ 5 w 103"/>
                <a:gd name="T81" fmla="*/ 52 h 80"/>
                <a:gd name="T82" fmla="*/ 3 w 103"/>
                <a:gd name="T83" fmla="*/ 47 h 80"/>
                <a:gd name="T84" fmla="*/ 3 w 103"/>
                <a:gd name="T85" fmla="*/ 40 h 80"/>
                <a:gd name="T86" fmla="*/ 3 w 103"/>
                <a:gd name="T87" fmla="*/ 38 h 80"/>
                <a:gd name="T88" fmla="*/ 0 w 103"/>
                <a:gd name="T89" fmla="*/ 4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03" h="80">
                  <a:moveTo>
                    <a:pt x="103" y="40"/>
                  </a:moveTo>
                  <a:lnTo>
                    <a:pt x="101" y="35"/>
                  </a:lnTo>
                  <a:lnTo>
                    <a:pt x="101" y="28"/>
                  </a:lnTo>
                  <a:lnTo>
                    <a:pt x="99" y="23"/>
                  </a:lnTo>
                  <a:lnTo>
                    <a:pt x="98" y="18"/>
                  </a:lnTo>
                  <a:lnTo>
                    <a:pt x="94" y="14"/>
                  </a:lnTo>
                  <a:lnTo>
                    <a:pt x="91" y="9"/>
                  </a:lnTo>
                  <a:lnTo>
                    <a:pt x="88" y="5"/>
                  </a:lnTo>
                  <a:lnTo>
                    <a:pt x="84" y="0"/>
                  </a:lnTo>
                  <a:lnTo>
                    <a:pt x="81" y="2"/>
                  </a:lnTo>
                  <a:lnTo>
                    <a:pt x="84" y="5"/>
                  </a:lnTo>
                  <a:lnTo>
                    <a:pt x="88" y="10"/>
                  </a:lnTo>
                  <a:lnTo>
                    <a:pt x="91" y="14"/>
                  </a:lnTo>
                  <a:lnTo>
                    <a:pt x="94" y="18"/>
                  </a:lnTo>
                  <a:lnTo>
                    <a:pt x="96" y="23"/>
                  </a:lnTo>
                  <a:lnTo>
                    <a:pt x="98" y="28"/>
                  </a:lnTo>
                  <a:lnTo>
                    <a:pt x="98" y="35"/>
                  </a:lnTo>
                  <a:lnTo>
                    <a:pt x="99" y="40"/>
                  </a:lnTo>
                  <a:lnTo>
                    <a:pt x="99" y="42"/>
                  </a:lnTo>
                  <a:lnTo>
                    <a:pt x="99" y="43"/>
                  </a:lnTo>
                  <a:lnTo>
                    <a:pt x="99" y="45"/>
                  </a:lnTo>
                  <a:lnTo>
                    <a:pt x="103" y="43"/>
                  </a:lnTo>
                  <a:lnTo>
                    <a:pt x="103" y="42"/>
                  </a:lnTo>
                  <a:lnTo>
                    <a:pt x="103" y="40"/>
                  </a:lnTo>
                  <a:close/>
                  <a:moveTo>
                    <a:pt x="0" y="40"/>
                  </a:moveTo>
                  <a:lnTo>
                    <a:pt x="0" y="40"/>
                  </a:lnTo>
                  <a:lnTo>
                    <a:pt x="0" y="47"/>
                  </a:lnTo>
                  <a:lnTo>
                    <a:pt x="2" y="52"/>
                  </a:lnTo>
                  <a:lnTo>
                    <a:pt x="3" y="58"/>
                  </a:lnTo>
                  <a:lnTo>
                    <a:pt x="5" y="63"/>
                  </a:lnTo>
                  <a:lnTo>
                    <a:pt x="8" y="68"/>
                  </a:lnTo>
                  <a:lnTo>
                    <a:pt x="12" y="73"/>
                  </a:lnTo>
                  <a:lnTo>
                    <a:pt x="15" y="76"/>
                  </a:lnTo>
                  <a:lnTo>
                    <a:pt x="18" y="80"/>
                  </a:lnTo>
                  <a:lnTo>
                    <a:pt x="21" y="78"/>
                  </a:lnTo>
                  <a:lnTo>
                    <a:pt x="18" y="75"/>
                  </a:lnTo>
                  <a:lnTo>
                    <a:pt x="15" y="71"/>
                  </a:lnTo>
                  <a:lnTo>
                    <a:pt x="12" y="67"/>
                  </a:lnTo>
                  <a:lnTo>
                    <a:pt x="8" y="62"/>
                  </a:lnTo>
                  <a:lnTo>
                    <a:pt x="7" y="57"/>
                  </a:lnTo>
                  <a:lnTo>
                    <a:pt x="5" y="52"/>
                  </a:lnTo>
                  <a:lnTo>
                    <a:pt x="3" y="47"/>
                  </a:lnTo>
                  <a:lnTo>
                    <a:pt x="3" y="40"/>
                  </a:lnTo>
                  <a:lnTo>
                    <a:pt x="3" y="38"/>
                  </a:lnTo>
                  <a:lnTo>
                    <a:pt x="0" y="4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99" name="Freeform 643">
              <a:extLst>
                <a:ext uri="{FF2B5EF4-FFF2-40B4-BE49-F238E27FC236}">
                  <a16:creationId xmlns:a16="http://schemas.microsoft.com/office/drawing/2014/main" id="{82C5B49D-4583-5444-69BD-E5EB0E72CB4E}"/>
                </a:ext>
              </a:extLst>
            </p:cNvPr>
            <p:cNvSpPr>
              <a:spLocks noEditPoints="1"/>
            </p:cNvSpPr>
            <p:nvPr/>
          </p:nvSpPr>
          <p:spPr bwMode="auto">
            <a:xfrm>
              <a:off x="2168" y="1600"/>
              <a:ext cx="99" cy="78"/>
            </a:xfrm>
            <a:custGeom>
              <a:avLst/>
              <a:gdLst>
                <a:gd name="T0" fmla="*/ 99 w 99"/>
                <a:gd name="T1" fmla="*/ 38 h 78"/>
                <a:gd name="T2" fmla="*/ 97 w 99"/>
                <a:gd name="T3" fmla="*/ 33 h 78"/>
                <a:gd name="T4" fmla="*/ 97 w 99"/>
                <a:gd name="T5" fmla="*/ 26 h 78"/>
                <a:gd name="T6" fmla="*/ 96 w 99"/>
                <a:gd name="T7" fmla="*/ 21 h 78"/>
                <a:gd name="T8" fmla="*/ 94 w 99"/>
                <a:gd name="T9" fmla="*/ 16 h 78"/>
                <a:gd name="T10" fmla="*/ 91 w 99"/>
                <a:gd name="T11" fmla="*/ 12 h 78"/>
                <a:gd name="T12" fmla="*/ 87 w 99"/>
                <a:gd name="T13" fmla="*/ 8 h 78"/>
                <a:gd name="T14" fmla="*/ 84 w 99"/>
                <a:gd name="T15" fmla="*/ 3 h 78"/>
                <a:gd name="T16" fmla="*/ 81 w 99"/>
                <a:gd name="T17" fmla="*/ 0 h 78"/>
                <a:gd name="T18" fmla="*/ 77 w 99"/>
                <a:gd name="T19" fmla="*/ 2 h 78"/>
                <a:gd name="T20" fmla="*/ 81 w 99"/>
                <a:gd name="T21" fmla="*/ 5 h 78"/>
                <a:gd name="T22" fmla="*/ 84 w 99"/>
                <a:gd name="T23" fmla="*/ 8 h 78"/>
                <a:gd name="T24" fmla="*/ 87 w 99"/>
                <a:gd name="T25" fmla="*/ 13 h 78"/>
                <a:gd name="T26" fmla="*/ 91 w 99"/>
                <a:gd name="T27" fmla="*/ 16 h 78"/>
                <a:gd name="T28" fmla="*/ 92 w 99"/>
                <a:gd name="T29" fmla="*/ 21 h 78"/>
                <a:gd name="T30" fmla="*/ 94 w 99"/>
                <a:gd name="T31" fmla="*/ 28 h 78"/>
                <a:gd name="T32" fmla="*/ 94 w 99"/>
                <a:gd name="T33" fmla="*/ 33 h 78"/>
                <a:gd name="T34" fmla="*/ 96 w 99"/>
                <a:gd name="T35" fmla="*/ 38 h 78"/>
                <a:gd name="T36" fmla="*/ 96 w 99"/>
                <a:gd name="T37" fmla="*/ 40 h 78"/>
                <a:gd name="T38" fmla="*/ 96 w 99"/>
                <a:gd name="T39" fmla="*/ 41 h 78"/>
                <a:gd name="T40" fmla="*/ 96 w 99"/>
                <a:gd name="T41" fmla="*/ 43 h 78"/>
                <a:gd name="T42" fmla="*/ 99 w 99"/>
                <a:gd name="T43" fmla="*/ 41 h 78"/>
                <a:gd name="T44" fmla="*/ 99 w 99"/>
                <a:gd name="T45" fmla="*/ 40 h 78"/>
                <a:gd name="T46" fmla="*/ 99 w 99"/>
                <a:gd name="T47" fmla="*/ 38 h 78"/>
                <a:gd name="T48" fmla="*/ 0 w 99"/>
                <a:gd name="T49" fmla="*/ 36 h 78"/>
                <a:gd name="T50" fmla="*/ 0 w 99"/>
                <a:gd name="T51" fmla="*/ 36 h 78"/>
                <a:gd name="T52" fmla="*/ 0 w 99"/>
                <a:gd name="T53" fmla="*/ 38 h 78"/>
                <a:gd name="T54" fmla="*/ 0 w 99"/>
                <a:gd name="T55" fmla="*/ 45 h 78"/>
                <a:gd name="T56" fmla="*/ 1 w 99"/>
                <a:gd name="T57" fmla="*/ 50 h 78"/>
                <a:gd name="T58" fmla="*/ 3 w 99"/>
                <a:gd name="T59" fmla="*/ 55 h 78"/>
                <a:gd name="T60" fmla="*/ 5 w 99"/>
                <a:gd name="T61" fmla="*/ 61 h 78"/>
                <a:gd name="T62" fmla="*/ 8 w 99"/>
                <a:gd name="T63" fmla="*/ 65 h 78"/>
                <a:gd name="T64" fmla="*/ 11 w 99"/>
                <a:gd name="T65" fmla="*/ 69 h 78"/>
                <a:gd name="T66" fmla="*/ 15 w 99"/>
                <a:gd name="T67" fmla="*/ 74 h 78"/>
                <a:gd name="T68" fmla="*/ 18 w 99"/>
                <a:gd name="T69" fmla="*/ 78 h 78"/>
                <a:gd name="T70" fmla="*/ 21 w 99"/>
                <a:gd name="T71" fmla="*/ 76 h 78"/>
                <a:gd name="T72" fmla="*/ 18 w 99"/>
                <a:gd name="T73" fmla="*/ 73 h 78"/>
                <a:gd name="T74" fmla="*/ 15 w 99"/>
                <a:gd name="T75" fmla="*/ 69 h 78"/>
                <a:gd name="T76" fmla="*/ 11 w 99"/>
                <a:gd name="T77" fmla="*/ 65 h 78"/>
                <a:gd name="T78" fmla="*/ 8 w 99"/>
                <a:gd name="T79" fmla="*/ 60 h 78"/>
                <a:gd name="T80" fmla="*/ 6 w 99"/>
                <a:gd name="T81" fmla="*/ 55 h 78"/>
                <a:gd name="T82" fmla="*/ 5 w 99"/>
                <a:gd name="T83" fmla="*/ 50 h 78"/>
                <a:gd name="T84" fmla="*/ 3 w 99"/>
                <a:gd name="T85" fmla="*/ 45 h 78"/>
                <a:gd name="T86" fmla="*/ 3 w 99"/>
                <a:gd name="T87" fmla="*/ 38 h 78"/>
                <a:gd name="T88" fmla="*/ 3 w 99"/>
                <a:gd name="T89" fmla="*/ 36 h 78"/>
                <a:gd name="T90" fmla="*/ 3 w 99"/>
                <a:gd name="T91" fmla="*/ 35 h 78"/>
                <a:gd name="T92" fmla="*/ 0 w 99"/>
                <a:gd name="T93" fmla="*/ 36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9" h="78">
                  <a:moveTo>
                    <a:pt x="99" y="38"/>
                  </a:moveTo>
                  <a:lnTo>
                    <a:pt x="97" y="33"/>
                  </a:lnTo>
                  <a:lnTo>
                    <a:pt x="97" y="26"/>
                  </a:lnTo>
                  <a:lnTo>
                    <a:pt x="96" y="21"/>
                  </a:lnTo>
                  <a:lnTo>
                    <a:pt x="94" y="16"/>
                  </a:lnTo>
                  <a:lnTo>
                    <a:pt x="91" y="12"/>
                  </a:lnTo>
                  <a:lnTo>
                    <a:pt x="87" y="8"/>
                  </a:lnTo>
                  <a:lnTo>
                    <a:pt x="84" y="3"/>
                  </a:lnTo>
                  <a:lnTo>
                    <a:pt x="81" y="0"/>
                  </a:lnTo>
                  <a:lnTo>
                    <a:pt x="77" y="2"/>
                  </a:lnTo>
                  <a:lnTo>
                    <a:pt x="81" y="5"/>
                  </a:lnTo>
                  <a:lnTo>
                    <a:pt x="84" y="8"/>
                  </a:lnTo>
                  <a:lnTo>
                    <a:pt x="87" y="13"/>
                  </a:lnTo>
                  <a:lnTo>
                    <a:pt x="91" y="16"/>
                  </a:lnTo>
                  <a:lnTo>
                    <a:pt x="92" y="21"/>
                  </a:lnTo>
                  <a:lnTo>
                    <a:pt x="94" y="28"/>
                  </a:lnTo>
                  <a:lnTo>
                    <a:pt x="94" y="33"/>
                  </a:lnTo>
                  <a:lnTo>
                    <a:pt x="96" y="38"/>
                  </a:lnTo>
                  <a:lnTo>
                    <a:pt x="96" y="40"/>
                  </a:lnTo>
                  <a:lnTo>
                    <a:pt x="96" y="41"/>
                  </a:lnTo>
                  <a:lnTo>
                    <a:pt x="96" y="43"/>
                  </a:lnTo>
                  <a:lnTo>
                    <a:pt x="99" y="41"/>
                  </a:lnTo>
                  <a:lnTo>
                    <a:pt x="99" y="40"/>
                  </a:lnTo>
                  <a:lnTo>
                    <a:pt x="99" y="38"/>
                  </a:lnTo>
                  <a:close/>
                  <a:moveTo>
                    <a:pt x="0" y="36"/>
                  </a:moveTo>
                  <a:lnTo>
                    <a:pt x="0" y="36"/>
                  </a:lnTo>
                  <a:lnTo>
                    <a:pt x="0" y="38"/>
                  </a:lnTo>
                  <a:lnTo>
                    <a:pt x="0" y="45"/>
                  </a:lnTo>
                  <a:lnTo>
                    <a:pt x="1" y="50"/>
                  </a:lnTo>
                  <a:lnTo>
                    <a:pt x="3" y="55"/>
                  </a:lnTo>
                  <a:lnTo>
                    <a:pt x="5" y="61"/>
                  </a:lnTo>
                  <a:lnTo>
                    <a:pt x="8" y="65"/>
                  </a:lnTo>
                  <a:lnTo>
                    <a:pt x="11" y="69"/>
                  </a:lnTo>
                  <a:lnTo>
                    <a:pt x="15" y="74"/>
                  </a:lnTo>
                  <a:lnTo>
                    <a:pt x="18" y="78"/>
                  </a:lnTo>
                  <a:lnTo>
                    <a:pt x="21" y="76"/>
                  </a:lnTo>
                  <a:lnTo>
                    <a:pt x="18" y="73"/>
                  </a:lnTo>
                  <a:lnTo>
                    <a:pt x="15" y="69"/>
                  </a:lnTo>
                  <a:lnTo>
                    <a:pt x="11" y="65"/>
                  </a:lnTo>
                  <a:lnTo>
                    <a:pt x="8" y="60"/>
                  </a:lnTo>
                  <a:lnTo>
                    <a:pt x="6" y="55"/>
                  </a:lnTo>
                  <a:lnTo>
                    <a:pt x="5" y="50"/>
                  </a:lnTo>
                  <a:lnTo>
                    <a:pt x="3" y="45"/>
                  </a:lnTo>
                  <a:lnTo>
                    <a:pt x="3" y="38"/>
                  </a:lnTo>
                  <a:lnTo>
                    <a:pt x="3" y="36"/>
                  </a:lnTo>
                  <a:lnTo>
                    <a:pt x="3" y="35"/>
                  </a:lnTo>
                  <a:lnTo>
                    <a:pt x="0" y="36"/>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00" name="Freeform 644">
              <a:extLst>
                <a:ext uri="{FF2B5EF4-FFF2-40B4-BE49-F238E27FC236}">
                  <a16:creationId xmlns:a16="http://schemas.microsoft.com/office/drawing/2014/main" id="{FB3D092B-950E-A2F9-4777-23B973D55353}"/>
                </a:ext>
              </a:extLst>
            </p:cNvPr>
            <p:cNvSpPr>
              <a:spLocks noEditPoints="1"/>
            </p:cNvSpPr>
            <p:nvPr/>
          </p:nvSpPr>
          <p:spPr bwMode="auto">
            <a:xfrm>
              <a:off x="2169" y="1600"/>
              <a:ext cx="96" cy="76"/>
            </a:xfrm>
            <a:custGeom>
              <a:avLst/>
              <a:gdLst>
                <a:gd name="T0" fmla="*/ 96 w 96"/>
                <a:gd name="T1" fmla="*/ 38 h 76"/>
                <a:gd name="T2" fmla="*/ 95 w 96"/>
                <a:gd name="T3" fmla="*/ 33 h 76"/>
                <a:gd name="T4" fmla="*/ 95 w 96"/>
                <a:gd name="T5" fmla="*/ 26 h 76"/>
                <a:gd name="T6" fmla="*/ 93 w 96"/>
                <a:gd name="T7" fmla="*/ 21 h 76"/>
                <a:gd name="T8" fmla="*/ 91 w 96"/>
                <a:gd name="T9" fmla="*/ 16 h 76"/>
                <a:gd name="T10" fmla="*/ 88 w 96"/>
                <a:gd name="T11" fmla="*/ 12 h 76"/>
                <a:gd name="T12" fmla="*/ 85 w 96"/>
                <a:gd name="T13" fmla="*/ 8 h 76"/>
                <a:gd name="T14" fmla="*/ 81 w 96"/>
                <a:gd name="T15" fmla="*/ 3 h 76"/>
                <a:gd name="T16" fmla="*/ 78 w 96"/>
                <a:gd name="T17" fmla="*/ 0 h 76"/>
                <a:gd name="T18" fmla="*/ 75 w 96"/>
                <a:gd name="T19" fmla="*/ 2 h 76"/>
                <a:gd name="T20" fmla="*/ 78 w 96"/>
                <a:gd name="T21" fmla="*/ 5 h 76"/>
                <a:gd name="T22" fmla="*/ 81 w 96"/>
                <a:gd name="T23" fmla="*/ 10 h 76"/>
                <a:gd name="T24" fmla="*/ 85 w 96"/>
                <a:gd name="T25" fmla="*/ 13 h 76"/>
                <a:gd name="T26" fmla="*/ 88 w 96"/>
                <a:gd name="T27" fmla="*/ 18 h 76"/>
                <a:gd name="T28" fmla="*/ 90 w 96"/>
                <a:gd name="T29" fmla="*/ 23 h 76"/>
                <a:gd name="T30" fmla="*/ 91 w 96"/>
                <a:gd name="T31" fmla="*/ 28 h 76"/>
                <a:gd name="T32" fmla="*/ 91 w 96"/>
                <a:gd name="T33" fmla="*/ 33 h 76"/>
                <a:gd name="T34" fmla="*/ 93 w 96"/>
                <a:gd name="T35" fmla="*/ 38 h 76"/>
                <a:gd name="T36" fmla="*/ 93 w 96"/>
                <a:gd name="T37" fmla="*/ 40 h 76"/>
                <a:gd name="T38" fmla="*/ 93 w 96"/>
                <a:gd name="T39" fmla="*/ 41 h 76"/>
                <a:gd name="T40" fmla="*/ 93 w 96"/>
                <a:gd name="T41" fmla="*/ 43 h 76"/>
                <a:gd name="T42" fmla="*/ 91 w 96"/>
                <a:gd name="T43" fmla="*/ 45 h 76"/>
                <a:gd name="T44" fmla="*/ 96 w 96"/>
                <a:gd name="T45" fmla="*/ 43 h 76"/>
                <a:gd name="T46" fmla="*/ 96 w 96"/>
                <a:gd name="T47" fmla="*/ 41 h 76"/>
                <a:gd name="T48" fmla="*/ 96 w 96"/>
                <a:gd name="T49" fmla="*/ 40 h 76"/>
                <a:gd name="T50" fmla="*/ 96 w 96"/>
                <a:gd name="T51" fmla="*/ 38 h 76"/>
                <a:gd name="T52" fmla="*/ 0 w 96"/>
                <a:gd name="T53" fmla="*/ 36 h 76"/>
                <a:gd name="T54" fmla="*/ 0 w 96"/>
                <a:gd name="T55" fmla="*/ 36 h 76"/>
                <a:gd name="T56" fmla="*/ 0 w 96"/>
                <a:gd name="T57" fmla="*/ 38 h 76"/>
                <a:gd name="T58" fmla="*/ 0 w 96"/>
                <a:gd name="T59" fmla="*/ 45 h 76"/>
                <a:gd name="T60" fmla="*/ 2 w 96"/>
                <a:gd name="T61" fmla="*/ 50 h 76"/>
                <a:gd name="T62" fmla="*/ 4 w 96"/>
                <a:gd name="T63" fmla="*/ 55 h 76"/>
                <a:gd name="T64" fmla="*/ 5 w 96"/>
                <a:gd name="T65" fmla="*/ 60 h 76"/>
                <a:gd name="T66" fmla="*/ 9 w 96"/>
                <a:gd name="T67" fmla="*/ 65 h 76"/>
                <a:gd name="T68" fmla="*/ 12 w 96"/>
                <a:gd name="T69" fmla="*/ 69 h 76"/>
                <a:gd name="T70" fmla="*/ 15 w 96"/>
                <a:gd name="T71" fmla="*/ 73 h 76"/>
                <a:gd name="T72" fmla="*/ 18 w 96"/>
                <a:gd name="T73" fmla="*/ 76 h 76"/>
                <a:gd name="T74" fmla="*/ 23 w 96"/>
                <a:gd name="T75" fmla="*/ 74 h 76"/>
                <a:gd name="T76" fmla="*/ 18 w 96"/>
                <a:gd name="T77" fmla="*/ 71 h 76"/>
                <a:gd name="T78" fmla="*/ 15 w 96"/>
                <a:gd name="T79" fmla="*/ 68 h 76"/>
                <a:gd name="T80" fmla="*/ 12 w 96"/>
                <a:gd name="T81" fmla="*/ 65 h 76"/>
                <a:gd name="T82" fmla="*/ 9 w 96"/>
                <a:gd name="T83" fmla="*/ 60 h 76"/>
                <a:gd name="T84" fmla="*/ 7 w 96"/>
                <a:gd name="T85" fmla="*/ 55 h 76"/>
                <a:gd name="T86" fmla="*/ 5 w 96"/>
                <a:gd name="T87" fmla="*/ 50 h 76"/>
                <a:gd name="T88" fmla="*/ 4 w 96"/>
                <a:gd name="T89" fmla="*/ 45 h 76"/>
                <a:gd name="T90" fmla="*/ 4 w 96"/>
                <a:gd name="T91" fmla="*/ 38 h 76"/>
                <a:gd name="T92" fmla="*/ 4 w 96"/>
                <a:gd name="T93" fmla="*/ 36 h 76"/>
                <a:gd name="T94" fmla="*/ 4 w 96"/>
                <a:gd name="T95" fmla="*/ 35 h 76"/>
                <a:gd name="T96" fmla="*/ 0 w 96"/>
                <a:gd name="T97" fmla="*/ 36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96" h="76">
                  <a:moveTo>
                    <a:pt x="96" y="38"/>
                  </a:moveTo>
                  <a:lnTo>
                    <a:pt x="95" y="33"/>
                  </a:lnTo>
                  <a:lnTo>
                    <a:pt x="95" y="26"/>
                  </a:lnTo>
                  <a:lnTo>
                    <a:pt x="93" y="21"/>
                  </a:lnTo>
                  <a:lnTo>
                    <a:pt x="91" y="16"/>
                  </a:lnTo>
                  <a:lnTo>
                    <a:pt x="88" y="12"/>
                  </a:lnTo>
                  <a:lnTo>
                    <a:pt x="85" y="8"/>
                  </a:lnTo>
                  <a:lnTo>
                    <a:pt x="81" y="3"/>
                  </a:lnTo>
                  <a:lnTo>
                    <a:pt x="78" y="0"/>
                  </a:lnTo>
                  <a:lnTo>
                    <a:pt x="75" y="2"/>
                  </a:lnTo>
                  <a:lnTo>
                    <a:pt x="78" y="5"/>
                  </a:lnTo>
                  <a:lnTo>
                    <a:pt x="81" y="10"/>
                  </a:lnTo>
                  <a:lnTo>
                    <a:pt x="85" y="13"/>
                  </a:lnTo>
                  <a:lnTo>
                    <a:pt x="88" y="18"/>
                  </a:lnTo>
                  <a:lnTo>
                    <a:pt x="90" y="23"/>
                  </a:lnTo>
                  <a:lnTo>
                    <a:pt x="91" y="28"/>
                  </a:lnTo>
                  <a:lnTo>
                    <a:pt x="91" y="33"/>
                  </a:lnTo>
                  <a:lnTo>
                    <a:pt x="93" y="38"/>
                  </a:lnTo>
                  <a:lnTo>
                    <a:pt x="93" y="40"/>
                  </a:lnTo>
                  <a:lnTo>
                    <a:pt x="93" y="41"/>
                  </a:lnTo>
                  <a:lnTo>
                    <a:pt x="93" y="43"/>
                  </a:lnTo>
                  <a:lnTo>
                    <a:pt x="91" y="45"/>
                  </a:lnTo>
                  <a:lnTo>
                    <a:pt x="96" y="43"/>
                  </a:lnTo>
                  <a:lnTo>
                    <a:pt x="96" y="41"/>
                  </a:lnTo>
                  <a:lnTo>
                    <a:pt x="96" y="40"/>
                  </a:lnTo>
                  <a:lnTo>
                    <a:pt x="96" y="38"/>
                  </a:lnTo>
                  <a:close/>
                  <a:moveTo>
                    <a:pt x="0" y="36"/>
                  </a:moveTo>
                  <a:lnTo>
                    <a:pt x="0" y="36"/>
                  </a:lnTo>
                  <a:lnTo>
                    <a:pt x="0" y="38"/>
                  </a:lnTo>
                  <a:lnTo>
                    <a:pt x="0" y="45"/>
                  </a:lnTo>
                  <a:lnTo>
                    <a:pt x="2" y="50"/>
                  </a:lnTo>
                  <a:lnTo>
                    <a:pt x="4" y="55"/>
                  </a:lnTo>
                  <a:lnTo>
                    <a:pt x="5" y="60"/>
                  </a:lnTo>
                  <a:lnTo>
                    <a:pt x="9" y="65"/>
                  </a:lnTo>
                  <a:lnTo>
                    <a:pt x="12" y="69"/>
                  </a:lnTo>
                  <a:lnTo>
                    <a:pt x="15" y="73"/>
                  </a:lnTo>
                  <a:lnTo>
                    <a:pt x="18" y="76"/>
                  </a:lnTo>
                  <a:lnTo>
                    <a:pt x="23" y="74"/>
                  </a:lnTo>
                  <a:lnTo>
                    <a:pt x="18" y="71"/>
                  </a:lnTo>
                  <a:lnTo>
                    <a:pt x="15" y="68"/>
                  </a:lnTo>
                  <a:lnTo>
                    <a:pt x="12" y="65"/>
                  </a:lnTo>
                  <a:lnTo>
                    <a:pt x="9" y="60"/>
                  </a:lnTo>
                  <a:lnTo>
                    <a:pt x="7" y="55"/>
                  </a:lnTo>
                  <a:lnTo>
                    <a:pt x="5" y="50"/>
                  </a:lnTo>
                  <a:lnTo>
                    <a:pt x="4" y="45"/>
                  </a:lnTo>
                  <a:lnTo>
                    <a:pt x="4" y="38"/>
                  </a:lnTo>
                  <a:lnTo>
                    <a:pt x="4" y="36"/>
                  </a:lnTo>
                  <a:lnTo>
                    <a:pt x="4" y="35"/>
                  </a:lnTo>
                  <a:lnTo>
                    <a:pt x="0" y="36"/>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01" name="Freeform 645">
              <a:extLst>
                <a:ext uri="{FF2B5EF4-FFF2-40B4-BE49-F238E27FC236}">
                  <a16:creationId xmlns:a16="http://schemas.microsoft.com/office/drawing/2014/main" id="{86F38A73-49C6-5FC4-530F-09170573C0A5}"/>
                </a:ext>
              </a:extLst>
            </p:cNvPr>
            <p:cNvSpPr>
              <a:spLocks noEditPoints="1"/>
            </p:cNvSpPr>
            <p:nvPr/>
          </p:nvSpPr>
          <p:spPr bwMode="auto">
            <a:xfrm>
              <a:off x="2171" y="1602"/>
              <a:ext cx="93" cy="74"/>
            </a:xfrm>
            <a:custGeom>
              <a:avLst/>
              <a:gdLst>
                <a:gd name="T0" fmla="*/ 93 w 93"/>
                <a:gd name="T1" fmla="*/ 36 h 74"/>
                <a:gd name="T2" fmla="*/ 91 w 93"/>
                <a:gd name="T3" fmla="*/ 31 h 74"/>
                <a:gd name="T4" fmla="*/ 91 w 93"/>
                <a:gd name="T5" fmla="*/ 26 h 74"/>
                <a:gd name="T6" fmla="*/ 89 w 93"/>
                <a:gd name="T7" fmla="*/ 19 h 74"/>
                <a:gd name="T8" fmla="*/ 88 w 93"/>
                <a:gd name="T9" fmla="*/ 14 h 74"/>
                <a:gd name="T10" fmla="*/ 84 w 93"/>
                <a:gd name="T11" fmla="*/ 11 h 74"/>
                <a:gd name="T12" fmla="*/ 81 w 93"/>
                <a:gd name="T13" fmla="*/ 6 h 74"/>
                <a:gd name="T14" fmla="*/ 78 w 93"/>
                <a:gd name="T15" fmla="*/ 3 h 74"/>
                <a:gd name="T16" fmla="*/ 74 w 93"/>
                <a:gd name="T17" fmla="*/ 0 h 74"/>
                <a:gd name="T18" fmla="*/ 69 w 93"/>
                <a:gd name="T19" fmla="*/ 1 h 74"/>
                <a:gd name="T20" fmla="*/ 74 w 93"/>
                <a:gd name="T21" fmla="*/ 5 h 74"/>
                <a:gd name="T22" fmla="*/ 78 w 93"/>
                <a:gd name="T23" fmla="*/ 8 h 74"/>
                <a:gd name="T24" fmla="*/ 81 w 93"/>
                <a:gd name="T25" fmla="*/ 11 h 74"/>
                <a:gd name="T26" fmla="*/ 84 w 93"/>
                <a:gd name="T27" fmla="*/ 16 h 74"/>
                <a:gd name="T28" fmla="*/ 86 w 93"/>
                <a:gd name="T29" fmla="*/ 21 h 74"/>
                <a:gd name="T30" fmla="*/ 88 w 93"/>
                <a:gd name="T31" fmla="*/ 26 h 74"/>
                <a:gd name="T32" fmla="*/ 88 w 93"/>
                <a:gd name="T33" fmla="*/ 31 h 74"/>
                <a:gd name="T34" fmla="*/ 89 w 93"/>
                <a:gd name="T35" fmla="*/ 36 h 74"/>
                <a:gd name="T36" fmla="*/ 89 w 93"/>
                <a:gd name="T37" fmla="*/ 38 h 74"/>
                <a:gd name="T38" fmla="*/ 89 w 93"/>
                <a:gd name="T39" fmla="*/ 39 h 74"/>
                <a:gd name="T40" fmla="*/ 89 w 93"/>
                <a:gd name="T41" fmla="*/ 41 h 74"/>
                <a:gd name="T42" fmla="*/ 88 w 93"/>
                <a:gd name="T43" fmla="*/ 43 h 74"/>
                <a:gd name="T44" fmla="*/ 93 w 93"/>
                <a:gd name="T45" fmla="*/ 41 h 74"/>
                <a:gd name="T46" fmla="*/ 93 w 93"/>
                <a:gd name="T47" fmla="*/ 39 h 74"/>
                <a:gd name="T48" fmla="*/ 93 w 93"/>
                <a:gd name="T49" fmla="*/ 38 h 74"/>
                <a:gd name="T50" fmla="*/ 93 w 93"/>
                <a:gd name="T51" fmla="*/ 36 h 74"/>
                <a:gd name="T52" fmla="*/ 0 w 93"/>
                <a:gd name="T53" fmla="*/ 33 h 74"/>
                <a:gd name="T54" fmla="*/ 0 w 93"/>
                <a:gd name="T55" fmla="*/ 33 h 74"/>
                <a:gd name="T56" fmla="*/ 0 w 93"/>
                <a:gd name="T57" fmla="*/ 34 h 74"/>
                <a:gd name="T58" fmla="*/ 0 w 93"/>
                <a:gd name="T59" fmla="*/ 36 h 74"/>
                <a:gd name="T60" fmla="*/ 0 w 93"/>
                <a:gd name="T61" fmla="*/ 43 h 74"/>
                <a:gd name="T62" fmla="*/ 2 w 93"/>
                <a:gd name="T63" fmla="*/ 48 h 74"/>
                <a:gd name="T64" fmla="*/ 3 w 93"/>
                <a:gd name="T65" fmla="*/ 53 h 74"/>
                <a:gd name="T66" fmla="*/ 5 w 93"/>
                <a:gd name="T67" fmla="*/ 58 h 74"/>
                <a:gd name="T68" fmla="*/ 8 w 93"/>
                <a:gd name="T69" fmla="*/ 63 h 74"/>
                <a:gd name="T70" fmla="*/ 12 w 93"/>
                <a:gd name="T71" fmla="*/ 67 h 74"/>
                <a:gd name="T72" fmla="*/ 15 w 93"/>
                <a:gd name="T73" fmla="*/ 71 h 74"/>
                <a:gd name="T74" fmla="*/ 18 w 93"/>
                <a:gd name="T75" fmla="*/ 74 h 74"/>
                <a:gd name="T76" fmla="*/ 23 w 93"/>
                <a:gd name="T77" fmla="*/ 72 h 74"/>
                <a:gd name="T78" fmla="*/ 18 w 93"/>
                <a:gd name="T79" fmla="*/ 69 h 74"/>
                <a:gd name="T80" fmla="*/ 15 w 93"/>
                <a:gd name="T81" fmla="*/ 66 h 74"/>
                <a:gd name="T82" fmla="*/ 12 w 93"/>
                <a:gd name="T83" fmla="*/ 61 h 74"/>
                <a:gd name="T84" fmla="*/ 8 w 93"/>
                <a:gd name="T85" fmla="*/ 58 h 74"/>
                <a:gd name="T86" fmla="*/ 7 w 93"/>
                <a:gd name="T87" fmla="*/ 53 h 74"/>
                <a:gd name="T88" fmla="*/ 5 w 93"/>
                <a:gd name="T89" fmla="*/ 48 h 74"/>
                <a:gd name="T90" fmla="*/ 3 w 93"/>
                <a:gd name="T91" fmla="*/ 43 h 74"/>
                <a:gd name="T92" fmla="*/ 3 w 93"/>
                <a:gd name="T93" fmla="*/ 36 h 74"/>
                <a:gd name="T94" fmla="*/ 3 w 93"/>
                <a:gd name="T95" fmla="*/ 34 h 74"/>
                <a:gd name="T96" fmla="*/ 3 w 93"/>
                <a:gd name="T97" fmla="*/ 33 h 74"/>
                <a:gd name="T98" fmla="*/ 3 w 93"/>
                <a:gd name="T99" fmla="*/ 31 h 74"/>
                <a:gd name="T100" fmla="*/ 0 w 93"/>
                <a:gd name="T101" fmla="*/ 33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3" h="74">
                  <a:moveTo>
                    <a:pt x="93" y="36"/>
                  </a:moveTo>
                  <a:lnTo>
                    <a:pt x="91" y="31"/>
                  </a:lnTo>
                  <a:lnTo>
                    <a:pt x="91" y="26"/>
                  </a:lnTo>
                  <a:lnTo>
                    <a:pt x="89" y="19"/>
                  </a:lnTo>
                  <a:lnTo>
                    <a:pt x="88" y="14"/>
                  </a:lnTo>
                  <a:lnTo>
                    <a:pt x="84" y="11"/>
                  </a:lnTo>
                  <a:lnTo>
                    <a:pt x="81" y="6"/>
                  </a:lnTo>
                  <a:lnTo>
                    <a:pt x="78" y="3"/>
                  </a:lnTo>
                  <a:lnTo>
                    <a:pt x="74" y="0"/>
                  </a:lnTo>
                  <a:lnTo>
                    <a:pt x="69" y="1"/>
                  </a:lnTo>
                  <a:lnTo>
                    <a:pt x="74" y="5"/>
                  </a:lnTo>
                  <a:lnTo>
                    <a:pt x="78" y="8"/>
                  </a:lnTo>
                  <a:lnTo>
                    <a:pt x="81" y="11"/>
                  </a:lnTo>
                  <a:lnTo>
                    <a:pt x="84" y="16"/>
                  </a:lnTo>
                  <a:lnTo>
                    <a:pt x="86" y="21"/>
                  </a:lnTo>
                  <a:lnTo>
                    <a:pt x="88" y="26"/>
                  </a:lnTo>
                  <a:lnTo>
                    <a:pt x="88" y="31"/>
                  </a:lnTo>
                  <a:lnTo>
                    <a:pt x="89" y="36"/>
                  </a:lnTo>
                  <a:lnTo>
                    <a:pt x="89" y="38"/>
                  </a:lnTo>
                  <a:lnTo>
                    <a:pt x="89" y="39"/>
                  </a:lnTo>
                  <a:lnTo>
                    <a:pt x="89" y="41"/>
                  </a:lnTo>
                  <a:lnTo>
                    <a:pt x="88" y="43"/>
                  </a:lnTo>
                  <a:lnTo>
                    <a:pt x="93" y="41"/>
                  </a:lnTo>
                  <a:lnTo>
                    <a:pt x="93" y="39"/>
                  </a:lnTo>
                  <a:lnTo>
                    <a:pt x="93" y="38"/>
                  </a:lnTo>
                  <a:lnTo>
                    <a:pt x="93" y="36"/>
                  </a:lnTo>
                  <a:close/>
                  <a:moveTo>
                    <a:pt x="0" y="33"/>
                  </a:moveTo>
                  <a:lnTo>
                    <a:pt x="0" y="33"/>
                  </a:lnTo>
                  <a:lnTo>
                    <a:pt x="0" y="34"/>
                  </a:lnTo>
                  <a:lnTo>
                    <a:pt x="0" y="36"/>
                  </a:lnTo>
                  <a:lnTo>
                    <a:pt x="0" y="43"/>
                  </a:lnTo>
                  <a:lnTo>
                    <a:pt x="2" y="48"/>
                  </a:lnTo>
                  <a:lnTo>
                    <a:pt x="3" y="53"/>
                  </a:lnTo>
                  <a:lnTo>
                    <a:pt x="5" y="58"/>
                  </a:lnTo>
                  <a:lnTo>
                    <a:pt x="8" y="63"/>
                  </a:lnTo>
                  <a:lnTo>
                    <a:pt x="12" y="67"/>
                  </a:lnTo>
                  <a:lnTo>
                    <a:pt x="15" y="71"/>
                  </a:lnTo>
                  <a:lnTo>
                    <a:pt x="18" y="74"/>
                  </a:lnTo>
                  <a:lnTo>
                    <a:pt x="23" y="72"/>
                  </a:lnTo>
                  <a:lnTo>
                    <a:pt x="18" y="69"/>
                  </a:lnTo>
                  <a:lnTo>
                    <a:pt x="15" y="66"/>
                  </a:lnTo>
                  <a:lnTo>
                    <a:pt x="12" y="61"/>
                  </a:lnTo>
                  <a:lnTo>
                    <a:pt x="8" y="58"/>
                  </a:lnTo>
                  <a:lnTo>
                    <a:pt x="7" y="53"/>
                  </a:lnTo>
                  <a:lnTo>
                    <a:pt x="5" y="48"/>
                  </a:lnTo>
                  <a:lnTo>
                    <a:pt x="3" y="43"/>
                  </a:lnTo>
                  <a:lnTo>
                    <a:pt x="3" y="36"/>
                  </a:lnTo>
                  <a:lnTo>
                    <a:pt x="3" y="34"/>
                  </a:lnTo>
                  <a:lnTo>
                    <a:pt x="3" y="33"/>
                  </a:lnTo>
                  <a:lnTo>
                    <a:pt x="3" y="31"/>
                  </a:lnTo>
                  <a:lnTo>
                    <a:pt x="0" y="33"/>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02" name="Freeform 646">
              <a:extLst>
                <a:ext uri="{FF2B5EF4-FFF2-40B4-BE49-F238E27FC236}">
                  <a16:creationId xmlns:a16="http://schemas.microsoft.com/office/drawing/2014/main" id="{06C3DE78-C00F-2CE5-EF20-D6692531012A}"/>
                </a:ext>
              </a:extLst>
            </p:cNvPr>
            <p:cNvSpPr>
              <a:spLocks noEditPoints="1"/>
            </p:cNvSpPr>
            <p:nvPr/>
          </p:nvSpPr>
          <p:spPr bwMode="auto">
            <a:xfrm>
              <a:off x="2173" y="1602"/>
              <a:ext cx="89" cy="72"/>
            </a:xfrm>
            <a:custGeom>
              <a:avLst/>
              <a:gdLst>
                <a:gd name="T0" fmla="*/ 89 w 89"/>
                <a:gd name="T1" fmla="*/ 36 h 72"/>
                <a:gd name="T2" fmla="*/ 87 w 89"/>
                <a:gd name="T3" fmla="*/ 31 h 72"/>
                <a:gd name="T4" fmla="*/ 87 w 89"/>
                <a:gd name="T5" fmla="*/ 26 h 72"/>
                <a:gd name="T6" fmla="*/ 86 w 89"/>
                <a:gd name="T7" fmla="*/ 21 h 72"/>
                <a:gd name="T8" fmla="*/ 84 w 89"/>
                <a:gd name="T9" fmla="*/ 16 h 72"/>
                <a:gd name="T10" fmla="*/ 81 w 89"/>
                <a:gd name="T11" fmla="*/ 11 h 72"/>
                <a:gd name="T12" fmla="*/ 77 w 89"/>
                <a:gd name="T13" fmla="*/ 8 h 72"/>
                <a:gd name="T14" fmla="*/ 74 w 89"/>
                <a:gd name="T15" fmla="*/ 3 h 72"/>
                <a:gd name="T16" fmla="*/ 71 w 89"/>
                <a:gd name="T17" fmla="*/ 0 h 72"/>
                <a:gd name="T18" fmla="*/ 66 w 89"/>
                <a:gd name="T19" fmla="*/ 1 h 72"/>
                <a:gd name="T20" fmla="*/ 71 w 89"/>
                <a:gd name="T21" fmla="*/ 5 h 72"/>
                <a:gd name="T22" fmla="*/ 74 w 89"/>
                <a:gd name="T23" fmla="*/ 8 h 72"/>
                <a:gd name="T24" fmla="*/ 77 w 89"/>
                <a:gd name="T25" fmla="*/ 13 h 72"/>
                <a:gd name="T26" fmla="*/ 81 w 89"/>
                <a:gd name="T27" fmla="*/ 16 h 72"/>
                <a:gd name="T28" fmla="*/ 82 w 89"/>
                <a:gd name="T29" fmla="*/ 21 h 72"/>
                <a:gd name="T30" fmla="*/ 84 w 89"/>
                <a:gd name="T31" fmla="*/ 26 h 72"/>
                <a:gd name="T32" fmla="*/ 84 w 89"/>
                <a:gd name="T33" fmla="*/ 31 h 72"/>
                <a:gd name="T34" fmla="*/ 86 w 89"/>
                <a:gd name="T35" fmla="*/ 36 h 72"/>
                <a:gd name="T36" fmla="*/ 86 w 89"/>
                <a:gd name="T37" fmla="*/ 38 h 72"/>
                <a:gd name="T38" fmla="*/ 86 w 89"/>
                <a:gd name="T39" fmla="*/ 39 h 72"/>
                <a:gd name="T40" fmla="*/ 86 w 89"/>
                <a:gd name="T41" fmla="*/ 41 h 72"/>
                <a:gd name="T42" fmla="*/ 84 w 89"/>
                <a:gd name="T43" fmla="*/ 43 h 72"/>
                <a:gd name="T44" fmla="*/ 84 w 89"/>
                <a:gd name="T45" fmla="*/ 44 h 72"/>
                <a:gd name="T46" fmla="*/ 87 w 89"/>
                <a:gd name="T47" fmla="*/ 43 h 72"/>
                <a:gd name="T48" fmla="*/ 89 w 89"/>
                <a:gd name="T49" fmla="*/ 41 h 72"/>
                <a:gd name="T50" fmla="*/ 89 w 89"/>
                <a:gd name="T51" fmla="*/ 39 h 72"/>
                <a:gd name="T52" fmla="*/ 89 w 89"/>
                <a:gd name="T53" fmla="*/ 38 h 72"/>
                <a:gd name="T54" fmla="*/ 89 w 89"/>
                <a:gd name="T55" fmla="*/ 36 h 72"/>
                <a:gd name="T56" fmla="*/ 0 w 89"/>
                <a:gd name="T57" fmla="*/ 33 h 72"/>
                <a:gd name="T58" fmla="*/ 0 w 89"/>
                <a:gd name="T59" fmla="*/ 33 h 72"/>
                <a:gd name="T60" fmla="*/ 0 w 89"/>
                <a:gd name="T61" fmla="*/ 34 h 72"/>
                <a:gd name="T62" fmla="*/ 0 w 89"/>
                <a:gd name="T63" fmla="*/ 36 h 72"/>
                <a:gd name="T64" fmla="*/ 0 w 89"/>
                <a:gd name="T65" fmla="*/ 43 h 72"/>
                <a:gd name="T66" fmla="*/ 1 w 89"/>
                <a:gd name="T67" fmla="*/ 48 h 72"/>
                <a:gd name="T68" fmla="*/ 3 w 89"/>
                <a:gd name="T69" fmla="*/ 53 h 72"/>
                <a:gd name="T70" fmla="*/ 5 w 89"/>
                <a:gd name="T71" fmla="*/ 58 h 72"/>
                <a:gd name="T72" fmla="*/ 8 w 89"/>
                <a:gd name="T73" fmla="*/ 63 h 72"/>
                <a:gd name="T74" fmla="*/ 11 w 89"/>
                <a:gd name="T75" fmla="*/ 66 h 72"/>
                <a:gd name="T76" fmla="*/ 14 w 89"/>
                <a:gd name="T77" fmla="*/ 69 h 72"/>
                <a:gd name="T78" fmla="*/ 19 w 89"/>
                <a:gd name="T79" fmla="*/ 72 h 72"/>
                <a:gd name="T80" fmla="*/ 23 w 89"/>
                <a:gd name="T81" fmla="*/ 71 h 72"/>
                <a:gd name="T82" fmla="*/ 18 w 89"/>
                <a:gd name="T83" fmla="*/ 69 h 72"/>
                <a:gd name="T84" fmla="*/ 14 w 89"/>
                <a:gd name="T85" fmla="*/ 66 h 72"/>
                <a:gd name="T86" fmla="*/ 11 w 89"/>
                <a:gd name="T87" fmla="*/ 61 h 72"/>
                <a:gd name="T88" fmla="*/ 8 w 89"/>
                <a:gd name="T89" fmla="*/ 58 h 72"/>
                <a:gd name="T90" fmla="*/ 6 w 89"/>
                <a:gd name="T91" fmla="*/ 53 h 72"/>
                <a:gd name="T92" fmla="*/ 5 w 89"/>
                <a:gd name="T93" fmla="*/ 48 h 72"/>
                <a:gd name="T94" fmla="*/ 3 w 89"/>
                <a:gd name="T95" fmla="*/ 41 h 72"/>
                <a:gd name="T96" fmla="*/ 3 w 89"/>
                <a:gd name="T97" fmla="*/ 36 h 72"/>
                <a:gd name="T98" fmla="*/ 3 w 89"/>
                <a:gd name="T99" fmla="*/ 34 h 72"/>
                <a:gd name="T100" fmla="*/ 3 w 89"/>
                <a:gd name="T101" fmla="*/ 33 h 72"/>
                <a:gd name="T102" fmla="*/ 3 w 89"/>
                <a:gd name="T103" fmla="*/ 31 h 72"/>
                <a:gd name="T104" fmla="*/ 0 w 89"/>
                <a:gd name="T105" fmla="*/ 33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89" h="72">
                  <a:moveTo>
                    <a:pt x="89" y="36"/>
                  </a:moveTo>
                  <a:lnTo>
                    <a:pt x="87" y="31"/>
                  </a:lnTo>
                  <a:lnTo>
                    <a:pt x="87" y="26"/>
                  </a:lnTo>
                  <a:lnTo>
                    <a:pt x="86" y="21"/>
                  </a:lnTo>
                  <a:lnTo>
                    <a:pt x="84" y="16"/>
                  </a:lnTo>
                  <a:lnTo>
                    <a:pt x="81" y="11"/>
                  </a:lnTo>
                  <a:lnTo>
                    <a:pt x="77" y="8"/>
                  </a:lnTo>
                  <a:lnTo>
                    <a:pt x="74" y="3"/>
                  </a:lnTo>
                  <a:lnTo>
                    <a:pt x="71" y="0"/>
                  </a:lnTo>
                  <a:lnTo>
                    <a:pt x="66" y="1"/>
                  </a:lnTo>
                  <a:lnTo>
                    <a:pt x="71" y="5"/>
                  </a:lnTo>
                  <a:lnTo>
                    <a:pt x="74" y="8"/>
                  </a:lnTo>
                  <a:lnTo>
                    <a:pt x="77" y="13"/>
                  </a:lnTo>
                  <a:lnTo>
                    <a:pt x="81" y="16"/>
                  </a:lnTo>
                  <a:lnTo>
                    <a:pt x="82" y="21"/>
                  </a:lnTo>
                  <a:lnTo>
                    <a:pt x="84" y="26"/>
                  </a:lnTo>
                  <a:lnTo>
                    <a:pt x="84" y="31"/>
                  </a:lnTo>
                  <a:lnTo>
                    <a:pt x="86" y="36"/>
                  </a:lnTo>
                  <a:lnTo>
                    <a:pt x="86" y="38"/>
                  </a:lnTo>
                  <a:lnTo>
                    <a:pt x="86" y="39"/>
                  </a:lnTo>
                  <a:lnTo>
                    <a:pt x="86" y="41"/>
                  </a:lnTo>
                  <a:lnTo>
                    <a:pt x="84" y="43"/>
                  </a:lnTo>
                  <a:lnTo>
                    <a:pt x="84" y="44"/>
                  </a:lnTo>
                  <a:lnTo>
                    <a:pt x="87" y="43"/>
                  </a:lnTo>
                  <a:lnTo>
                    <a:pt x="89" y="41"/>
                  </a:lnTo>
                  <a:lnTo>
                    <a:pt x="89" y="39"/>
                  </a:lnTo>
                  <a:lnTo>
                    <a:pt x="89" y="38"/>
                  </a:lnTo>
                  <a:lnTo>
                    <a:pt x="89" y="36"/>
                  </a:lnTo>
                  <a:close/>
                  <a:moveTo>
                    <a:pt x="0" y="33"/>
                  </a:moveTo>
                  <a:lnTo>
                    <a:pt x="0" y="33"/>
                  </a:lnTo>
                  <a:lnTo>
                    <a:pt x="0" y="34"/>
                  </a:lnTo>
                  <a:lnTo>
                    <a:pt x="0" y="36"/>
                  </a:lnTo>
                  <a:lnTo>
                    <a:pt x="0" y="43"/>
                  </a:lnTo>
                  <a:lnTo>
                    <a:pt x="1" y="48"/>
                  </a:lnTo>
                  <a:lnTo>
                    <a:pt x="3" y="53"/>
                  </a:lnTo>
                  <a:lnTo>
                    <a:pt x="5" y="58"/>
                  </a:lnTo>
                  <a:lnTo>
                    <a:pt x="8" y="63"/>
                  </a:lnTo>
                  <a:lnTo>
                    <a:pt x="11" y="66"/>
                  </a:lnTo>
                  <a:lnTo>
                    <a:pt x="14" y="69"/>
                  </a:lnTo>
                  <a:lnTo>
                    <a:pt x="19" y="72"/>
                  </a:lnTo>
                  <a:lnTo>
                    <a:pt x="23" y="71"/>
                  </a:lnTo>
                  <a:lnTo>
                    <a:pt x="18" y="69"/>
                  </a:lnTo>
                  <a:lnTo>
                    <a:pt x="14" y="66"/>
                  </a:lnTo>
                  <a:lnTo>
                    <a:pt x="11" y="61"/>
                  </a:lnTo>
                  <a:lnTo>
                    <a:pt x="8" y="58"/>
                  </a:lnTo>
                  <a:lnTo>
                    <a:pt x="6" y="53"/>
                  </a:lnTo>
                  <a:lnTo>
                    <a:pt x="5" y="48"/>
                  </a:lnTo>
                  <a:lnTo>
                    <a:pt x="3" y="41"/>
                  </a:lnTo>
                  <a:lnTo>
                    <a:pt x="3" y="36"/>
                  </a:lnTo>
                  <a:lnTo>
                    <a:pt x="3" y="34"/>
                  </a:lnTo>
                  <a:lnTo>
                    <a:pt x="3" y="33"/>
                  </a:lnTo>
                  <a:lnTo>
                    <a:pt x="3" y="31"/>
                  </a:lnTo>
                  <a:lnTo>
                    <a:pt x="0" y="33"/>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03" name="Freeform 647">
              <a:extLst>
                <a:ext uri="{FF2B5EF4-FFF2-40B4-BE49-F238E27FC236}">
                  <a16:creationId xmlns:a16="http://schemas.microsoft.com/office/drawing/2014/main" id="{F6B27E8E-F5BE-AE33-F3D3-195BE541A7C5}"/>
                </a:ext>
              </a:extLst>
            </p:cNvPr>
            <p:cNvSpPr>
              <a:spLocks noEditPoints="1"/>
            </p:cNvSpPr>
            <p:nvPr/>
          </p:nvSpPr>
          <p:spPr bwMode="auto">
            <a:xfrm>
              <a:off x="2174" y="1603"/>
              <a:ext cx="86" cy="71"/>
            </a:xfrm>
            <a:custGeom>
              <a:avLst/>
              <a:gdLst>
                <a:gd name="T0" fmla="*/ 86 w 86"/>
                <a:gd name="T1" fmla="*/ 35 h 71"/>
                <a:gd name="T2" fmla="*/ 85 w 86"/>
                <a:gd name="T3" fmla="*/ 30 h 71"/>
                <a:gd name="T4" fmla="*/ 85 w 86"/>
                <a:gd name="T5" fmla="*/ 25 h 71"/>
                <a:gd name="T6" fmla="*/ 83 w 86"/>
                <a:gd name="T7" fmla="*/ 20 h 71"/>
                <a:gd name="T8" fmla="*/ 81 w 86"/>
                <a:gd name="T9" fmla="*/ 15 h 71"/>
                <a:gd name="T10" fmla="*/ 78 w 86"/>
                <a:gd name="T11" fmla="*/ 10 h 71"/>
                <a:gd name="T12" fmla="*/ 75 w 86"/>
                <a:gd name="T13" fmla="*/ 7 h 71"/>
                <a:gd name="T14" fmla="*/ 71 w 86"/>
                <a:gd name="T15" fmla="*/ 4 h 71"/>
                <a:gd name="T16" fmla="*/ 66 w 86"/>
                <a:gd name="T17" fmla="*/ 0 h 71"/>
                <a:gd name="T18" fmla="*/ 63 w 86"/>
                <a:gd name="T19" fmla="*/ 2 h 71"/>
                <a:gd name="T20" fmla="*/ 68 w 86"/>
                <a:gd name="T21" fmla="*/ 4 h 71"/>
                <a:gd name="T22" fmla="*/ 71 w 86"/>
                <a:gd name="T23" fmla="*/ 9 h 71"/>
                <a:gd name="T24" fmla="*/ 75 w 86"/>
                <a:gd name="T25" fmla="*/ 12 h 71"/>
                <a:gd name="T26" fmla="*/ 78 w 86"/>
                <a:gd name="T27" fmla="*/ 15 h 71"/>
                <a:gd name="T28" fmla="*/ 80 w 86"/>
                <a:gd name="T29" fmla="*/ 20 h 71"/>
                <a:gd name="T30" fmla="*/ 81 w 86"/>
                <a:gd name="T31" fmla="*/ 25 h 71"/>
                <a:gd name="T32" fmla="*/ 81 w 86"/>
                <a:gd name="T33" fmla="*/ 30 h 71"/>
                <a:gd name="T34" fmla="*/ 83 w 86"/>
                <a:gd name="T35" fmla="*/ 35 h 71"/>
                <a:gd name="T36" fmla="*/ 83 w 86"/>
                <a:gd name="T37" fmla="*/ 37 h 71"/>
                <a:gd name="T38" fmla="*/ 83 w 86"/>
                <a:gd name="T39" fmla="*/ 38 h 71"/>
                <a:gd name="T40" fmla="*/ 83 w 86"/>
                <a:gd name="T41" fmla="*/ 40 h 71"/>
                <a:gd name="T42" fmla="*/ 81 w 86"/>
                <a:gd name="T43" fmla="*/ 40 h 71"/>
                <a:gd name="T44" fmla="*/ 81 w 86"/>
                <a:gd name="T45" fmla="*/ 42 h 71"/>
                <a:gd name="T46" fmla="*/ 81 w 86"/>
                <a:gd name="T47" fmla="*/ 43 h 71"/>
                <a:gd name="T48" fmla="*/ 85 w 86"/>
                <a:gd name="T49" fmla="*/ 42 h 71"/>
                <a:gd name="T50" fmla="*/ 86 w 86"/>
                <a:gd name="T51" fmla="*/ 40 h 71"/>
                <a:gd name="T52" fmla="*/ 86 w 86"/>
                <a:gd name="T53" fmla="*/ 38 h 71"/>
                <a:gd name="T54" fmla="*/ 86 w 86"/>
                <a:gd name="T55" fmla="*/ 37 h 71"/>
                <a:gd name="T56" fmla="*/ 86 w 86"/>
                <a:gd name="T57" fmla="*/ 35 h 71"/>
                <a:gd name="T58" fmla="*/ 0 w 86"/>
                <a:gd name="T59" fmla="*/ 30 h 71"/>
                <a:gd name="T60" fmla="*/ 0 w 86"/>
                <a:gd name="T61" fmla="*/ 32 h 71"/>
                <a:gd name="T62" fmla="*/ 0 w 86"/>
                <a:gd name="T63" fmla="*/ 33 h 71"/>
                <a:gd name="T64" fmla="*/ 0 w 86"/>
                <a:gd name="T65" fmla="*/ 35 h 71"/>
                <a:gd name="T66" fmla="*/ 0 w 86"/>
                <a:gd name="T67" fmla="*/ 42 h 71"/>
                <a:gd name="T68" fmla="*/ 2 w 86"/>
                <a:gd name="T69" fmla="*/ 47 h 71"/>
                <a:gd name="T70" fmla="*/ 4 w 86"/>
                <a:gd name="T71" fmla="*/ 52 h 71"/>
                <a:gd name="T72" fmla="*/ 5 w 86"/>
                <a:gd name="T73" fmla="*/ 57 h 71"/>
                <a:gd name="T74" fmla="*/ 9 w 86"/>
                <a:gd name="T75" fmla="*/ 60 h 71"/>
                <a:gd name="T76" fmla="*/ 12 w 86"/>
                <a:gd name="T77" fmla="*/ 65 h 71"/>
                <a:gd name="T78" fmla="*/ 15 w 86"/>
                <a:gd name="T79" fmla="*/ 68 h 71"/>
                <a:gd name="T80" fmla="*/ 20 w 86"/>
                <a:gd name="T81" fmla="*/ 71 h 71"/>
                <a:gd name="T82" fmla="*/ 23 w 86"/>
                <a:gd name="T83" fmla="*/ 70 h 71"/>
                <a:gd name="T84" fmla="*/ 18 w 86"/>
                <a:gd name="T85" fmla="*/ 66 h 71"/>
                <a:gd name="T86" fmla="*/ 15 w 86"/>
                <a:gd name="T87" fmla="*/ 63 h 71"/>
                <a:gd name="T88" fmla="*/ 12 w 86"/>
                <a:gd name="T89" fmla="*/ 60 h 71"/>
                <a:gd name="T90" fmla="*/ 9 w 86"/>
                <a:gd name="T91" fmla="*/ 55 h 71"/>
                <a:gd name="T92" fmla="*/ 7 w 86"/>
                <a:gd name="T93" fmla="*/ 52 h 71"/>
                <a:gd name="T94" fmla="*/ 5 w 86"/>
                <a:gd name="T95" fmla="*/ 47 h 71"/>
                <a:gd name="T96" fmla="*/ 4 w 86"/>
                <a:gd name="T97" fmla="*/ 40 h 71"/>
                <a:gd name="T98" fmla="*/ 4 w 86"/>
                <a:gd name="T99" fmla="*/ 35 h 71"/>
                <a:gd name="T100" fmla="*/ 4 w 86"/>
                <a:gd name="T101" fmla="*/ 33 h 71"/>
                <a:gd name="T102" fmla="*/ 4 w 86"/>
                <a:gd name="T103" fmla="*/ 32 h 71"/>
                <a:gd name="T104" fmla="*/ 4 w 86"/>
                <a:gd name="T105" fmla="*/ 30 h 71"/>
                <a:gd name="T106" fmla="*/ 4 w 86"/>
                <a:gd name="T107" fmla="*/ 28 h 71"/>
                <a:gd name="T108" fmla="*/ 0 w 86"/>
                <a:gd name="T109" fmla="*/ 30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6" h="71">
                  <a:moveTo>
                    <a:pt x="86" y="35"/>
                  </a:moveTo>
                  <a:lnTo>
                    <a:pt x="85" y="30"/>
                  </a:lnTo>
                  <a:lnTo>
                    <a:pt x="85" y="25"/>
                  </a:lnTo>
                  <a:lnTo>
                    <a:pt x="83" y="20"/>
                  </a:lnTo>
                  <a:lnTo>
                    <a:pt x="81" y="15"/>
                  </a:lnTo>
                  <a:lnTo>
                    <a:pt x="78" y="10"/>
                  </a:lnTo>
                  <a:lnTo>
                    <a:pt x="75" y="7"/>
                  </a:lnTo>
                  <a:lnTo>
                    <a:pt x="71" y="4"/>
                  </a:lnTo>
                  <a:lnTo>
                    <a:pt x="66" y="0"/>
                  </a:lnTo>
                  <a:lnTo>
                    <a:pt x="63" y="2"/>
                  </a:lnTo>
                  <a:lnTo>
                    <a:pt x="68" y="4"/>
                  </a:lnTo>
                  <a:lnTo>
                    <a:pt x="71" y="9"/>
                  </a:lnTo>
                  <a:lnTo>
                    <a:pt x="75" y="12"/>
                  </a:lnTo>
                  <a:lnTo>
                    <a:pt x="78" y="15"/>
                  </a:lnTo>
                  <a:lnTo>
                    <a:pt x="80" y="20"/>
                  </a:lnTo>
                  <a:lnTo>
                    <a:pt x="81" y="25"/>
                  </a:lnTo>
                  <a:lnTo>
                    <a:pt x="81" y="30"/>
                  </a:lnTo>
                  <a:lnTo>
                    <a:pt x="83" y="35"/>
                  </a:lnTo>
                  <a:lnTo>
                    <a:pt x="83" y="37"/>
                  </a:lnTo>
                  <a:lnTo>
                    <a:pt x="83" y="38"/>
                  </a:lnTo>
                  <a:lnTo>
                    <a:pt x="83" y="40"/>
                  </a:lnTo>
                  <a:lnTo>
                    <a:pt x="81" y="40"/>
                  </a:lnTo>
                  <a:lnTo>
                    <a:pt x="81" y="42"/>
                  </a:lnTo>
                  <a:lnTo>
                    <a:pt x="81" y="43"/>
                  </a:lnTo>
                  <a:lnTo>
                    <a:pt x="85" y="42"/>
                  </a:lnTo>
                  <a:lnTo>
                    <a:pt x="86" y="40"/>
                  </a:lnTo>
                  <a:lnTo>
                    <a:pt x="86" y="38"/>
                  </a:lnTo>
                  <a:lnTo>
                    <a:pt x="86" y="37"/>
                  </a:lnTo>
                  <a:lnTo>
                    <a:pt x="86" y="35"/>
                  </a:lnTo>
                  <a:close/>
                  <a:moveTo>
                    <a:pt x="0" y="30"/>
                  </a:moveTo>
                  <a:lnTo>
                    <a:pt x="0" y="32"/>
                  </a:lnTo>
                  <a:lnTo>
                    <a:pt x="0" y="33"/>
                  </a:lnTo>
                  <a:lnTo>
                    <a:pt x="0" y="35"/>
                  </a:lnTo>
                  <a:lnTo>
                    <a:pt x="0" y="42"/>
                  </a:lnTo>
                  <a:lnTo>
                    <a:pt x="2" y="47"/>
                  </a:lnTo>
                  <a:lnTo>
                    <a:pt x="4" y="52"/>
                  </a:lnTo>
                  <a:lnTo>
                    <a:pt x="5" y="57"/>
                  </a:lnTo>
                  <a:lnTo>
                    <a:pt x="9" y="60"/>
                  </a:lnTo>
                  <a:lnTo>
                    <a:pt x="12" y="65"/>
                  </a:lnTo>
                  <a:lnTo>
                    <a:pt x="15" y="68"/>
                  </a:lnTo>
                  <a:lnTo>
                    <a:pt x="20" y="71"/>
                  </a:lnTo>
                  <a:lnTo>
                    <a:pt x="23" y="70"/>
                  </a:lnTo>
                  <a:lnTo>
                    <a:pt x="18" y="66"/>
                  </a:lnTo>
                  <a:lnTo>
                    <a:pt x="15" y="63"/>
                  </a:lnTo>
                  <a:lnTo>
                    <a:pt x="12" y="60"/>
                  </a:lnTo>
                  <a:lnTo>
                    <a:pt x="9" y="55"/>
                  </a:lnTo>
                  <a:lnTo>
                    <a:pt x="7" y="52"/>
                  </a:lnTo>
                  <a:lnTo>
                    <a:pt x="5" y="47"/>
                  </a:lnTo>
                  <a:lnTo>
                    <a:pt x="4" y="40"/>
                  </a:lnTo>
                  <a:lnTo>
                    <a:pt x="4" y="35"/>
                  </a:lnTo>
                  <a:lnTo>
                    <a:pt x="4" y="33"/>
                  </a:lnTo>
                  <a:lnTo>
                    <a:pt x="4" y="32"/>
                  </a:lnTo>
                  <a:lnTo>
                    <a:pt x="4" y="30"/>
                  </a:lnTo>
                  <a:lnTo>
                    <a:pt x="4" y="28"/>
                  </a:lnTo>
                  <a:lnTo>
                    <a:pt x="0" y="3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04" name="Freeform 648">
              <a:extLst>
                <a:ext uri="{FF2B5EF4-FFF2-40B4-BE49-F238E27FC236}">
                  <a16:creationId xmlns:a16="http://schemas.microsoft.com/office/drawing/2014/main" id="{D158649E-A2F0-E93C-1F44-D0FFC9D739DE}"/>
                </a:ext>
              </a:extLst>
            </p:cNvPr>
            <p:cNvSpPr>
              <a:spLocks noEditPoints="1"/>
            </p:cNvSpPr>
            <p:nvPr/>
          </p:nvSpPr>
          <p:spPr bwMode="auto">
            <a:xfrm>
              <a:off x="2176" y="1603"/>
              <a:ext cx="83" cy="70"/>
            </a:xfrm>
            <a:custGeom>
              <a:avLst/>
              <a:gdLst>
                <a:gd name="T0" fmla="*/ 83 w 83"/>
                <a:gd name="T1" fmla="*/ 35 h 70"/>
                <a:gd name="T2" fmla="*/ 81 w 83"/>
                <a:gd name="T3" fmla="*/ 30 h 70"/>
                <a:gd name="T4" fmla="*/ 81 w 83"/>
                <a:gd name="T5" fmla="*/ 25 h 70"/>
                <a:gd name="T6" fmla="*/ 79 w 83"/>
                <a:gd name="T7" fmla="*/ 20 h 70"/>
                <a:gd name="T8" fmla="*/ 78 w 83"/>
                <a:gd name="T9" fmla="*/ 15 h 70"/>
                <a:gd name="T10" fmla="*/ 74 w 83"/>
                <a:gd name="T11" fmla="*/ 12 h 70"/>
                <a:gd name="T12" fmla="*/ 71 w 83"/>
                <a:gd name="T13" fmla="*/ 7 h 70"/>
                <a:gd name="T14" fmla="*/ 68 w 83"/>
                <a:gd name="T15" fmla="*/ 4 h 70"/>
                <a:gd name="T16" fmla="*/ 63 w 83"/>
                <a:gd name="T17" fmla="*/ 0 h 70"/>
                <a:gd name="T18" fmla="*/ 60 w 83"/>
                <a:gd name="T19" fmla="*/ 2 h 70"/>
                <a:gd name="T20" fmla="*/ 64 w 83"/>
                <a:gd name="T21" fmla="*/ 5 h 70"/>
                <a:gd name="T22" fmla="*/ 68 w 83"/>
                <a:gd name="T23" fmla="*/ 9 h 70"/>
                <a:gd name="T24" fmla="*/ 71 w 83"/>
                <a:gd name="T25" fmla="*/ 12 h 70"/>
                <a:gd name="T26" fmla="*/ 74 w 83"/>
                <a:gd name="T27" fmla="*/ 17 h 70"/>
                <a:gd name="T28" fmla="*/ 76 w 83"/>
                <a:gd name="T29" fmla="*/ 20 h 70"/>
                <a:gd name="T30" fmla="*/ 78 w 83"/>
                <a:gd name="T31" fmla="*/ 25 h 70"/>
                <a:gd name="T32" fmla="*/ 78 w 83"/>
                <a:gd name="T33" fmla="*/ 30 h 70"/>
                <a:gd name="T34" fmla="*/ 79 w 83"/>
                <a:gd name="T35" fmla="*/ 35 h 70"/>
                <a:gd name="T36" fmla="*/ 79 w 83"/>
                <a:gd name="T37" fmla="*/ 37 h 70"/>
                <a:gd name="T38" fmla="*/ 79 w 83"/>
                <a:gd name="T39" fmla="*/ 38 h 70"/>
                <a:gd name="T40" fmla="*/ 79 w 83"/>
                <a:gd name="T41" fmla="*/ 40 h 70"/>
                <a:gd name="T42" fmla="*/ 78 w 83"/>
                <a:gd name="T43" fmla="*/ 42 h 70"/>
                <a:gd name="T44" fmla="*/ 78 w 83"/>
                <a:gd name="T45" fmla="*/ 43 h 70"/>
                <a:gd name="T46" fmla="*/ 78 w 83"/>
                <a:gd name="T47" fmla="*/ 45 h 70"/>
                <a:gd name="T48" fmla="*/ 81 w 83"/>
                <a:gd name="T49" fmla="*/ 43 h 70"/>
                <a:gd name="T50" fmla="*/ 81 w 83"/>
                <a:gd name="T51" fmla="*/ 42 h 70"/>
                <a:gd name="T52" fmla="*/ 83 w 83"/>
                <a:gd name="T53" fmla="*/ 40 h 70"/>
                <a:gd name="T54" fmla="*/ 83 w 83"/>
                <a:gd name="T55" fmla="*/ 38 h 70"/>
                <a:gd name="T56" fmla="*/ 83 w 83"/>
                <a:gd name="T57" fmla="*/ 37 h 70"/>
                <a:gd name="T58" fmla="*/ 83 w 83"/>
                <a:gd name="T59" fmla="*/ 35 h 70"/>
                <a:gd name="T60" fmla="*/ 0 w 83"/>
                <a:gd name="T61" fmla="*/ 30 h 70"/>
                <a:gd name="T62" fmla="*/ 0 w 83"/>
                <a:gd name="T63" fmla="*/ 30 h 70"/>
                <a:gd name="T64" fmla="*/ 0 w 83"/>
                <a:gd name="T65" fmla="*/ 32 h 70"/>
                <a:gd name="T66" fmla="*/ 0 w 83"/>
                <a:gd name="T67" fmla="*/ 33 h 70"/>
                <a:gd name="T68" fmla="*/ 0 w 83"/>
                <a:gd name="T69" fmla="*/ 35 h 70"/>
                <a:gd name="T70" fmla="*/ 0 w 83"/>
                <a:gd name="T71" fmla="*/ 40 h 70"/>
                <a:gd name="T72" fmla="*/ 2 w 83"/>
                <a:gd name="T73" fmla="*/ 47 h 70"/>
                <a:gd name="T74" fmla="*/ 3 w 83"/>
                <a:gd name="T75" fmla="*/ 52 h 70"/>
                <a:gd name="T76" fmla="*/ 5 w 83"/>
                <a:gd name="T77" fmla="*/ 57 h 70"/>
                <a:gd name="T78" fmla="*/ 8 w 83"/>
                <a:gd name="T79" fmla="*/ 60 h 70"/>
                <a:gd name="T80" fmla="*/ 11 w 83"/>
                <a:gd name="T81" fmla="*/ 65 h 70"/>
                <a:gd name="T82" fmla="*/ 15 w 83"/>
                <a:gd name="T83" fmla="*/ 68 h 70"/>
                <a:gd name="T84" fmla="*/ 20 w 83"/>
                <a:gd name="T85" fmla="*/ 70 h 70"/>
                <a:gd name="T86" fmla="*/ 23 w 83"/>
                <a:gd name="T87" fmla="*/ 68 h 70"/>
                <a:gd name="T88" fmla="*/ 18 w 83"/>
                <a:gd name="T89" fmla="*/ 66 h 70"/>
                <a:gd name="T90" fmla="*/ 15 w 83"/>
                <a:gd name="T91" fmla="*/ 63 h 70"/>
                <a:gd name="T92" fmla="*/ 11 w 83"/>
                <a:gd name="T93" fmla="*/ 60 h 70"/>
                <a:gd name="T94" fmla="*/ 8 w 83"/>
                <a:gd name="T95" fmla="*/ 55 h 70"/>
                <a:gd name="T96" fmla="*/ 7 w 83"/>
                <a:gd name="T97" fmla="*/ 50 h 70"/>
                <a:gd name="T98" fmla="*/ 5 w 83"/>
                <a:gd name="T99" fmla="*/ 45 h 70"/>
                <a:gd name="T100" fmla="*/ 3 w 83"/>
                <a:gd name="T101" fmla="*/ 40 h 70"/>
                <a:gd name="T102" fmla="*/ 3 w 83"/>
                <a:gd name="T103" fmla="*/ 35 h 70"/>
                <a:gd name="T104" fmla="*/ 3 w 83"/>
                <a:gd name="T105" fmla="*/ 33 h 70"/>
                <a:gd name="T106" fmla="*/ 3 w 83"/>
                <a:gd name="T107" fmla="*/ 32 h 70"/>
                <a:gd name="T108" fmla="*/ 3 w 83"/>
                <a:gd name="T109" fmla="*/ 30 h 70"/>
                <a:gd name="T110" fmla="*/ 3 w 83"/>
                <a:gd name="T111" fmla="*/ 28 h 70"/>
                <a:gd name="T112" fmla="*/ 0 w 83"/>
                <a:gd name="T113" fmla="*/ 3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83" h="70">
                  <a:moveTo>
                    <a:pt x="83" y="35"/>
                  </a:moveTo>
                  <a:lnTo>
                    <a:pt x="81" y="30"/>
                  </a:lnTo>
                  <a:lnTo>
                    <a:pt x="81" y="25"/>
                  </a:lnTo>
                  <a:lnTo>
                    <a:pt x="79" y="20"/>
                  </a:lnTo>
                  <a:lnTo>
                    <a:pt x="78" y="15"/>
                  </a:lnTo>
                  <a:lnTo>
                    <a:pt x="74" y="12"/>
                  </a:lnTo>
                  <a:lnTo>
                    <a:pt x="71" y="7"/>
                  </a:lnTo>
                  <a:lnTo>
                    <a:pt x="68" y="4"/>
                  </a:lnTo>
                  <a:lnTo>
                    <a:pt x="63" y="0"/>
                  </a:lnTo>
                  <a:lnTo>
                    <a:pt x="60" y="2"/>
                  </a:lnTo>
                  <a:lnTo>
                    <a:pt x="64" y="5"/>
                  </a:lnTo>
                  <a:lnTo>
                    <a:pt x="68" y="9"/>
                  </a:lnTo>
                  <a:lnTo>
                    <a:pt x="71" y="12"/>
                  </a:lnTo>
                  <a:lnTo>
                    <a:pt x="74" y="17"/>
                  </a:lnTo>
                  <a:lnTo>
                    <a:pt x="76" y="20"/>
                  </a:lnTo>
                  <a:lnTo>
                    <a:pt x="78" y="25"/>
                  </a:lnTo>
                  <a:lnTo>
                    <a:pt x="78" y="30"/>
                  </a:lnTo>
                  <a:lnTo>
                    <a:pt x="79" y="35"/>
                  </a:lnTo>
                  <a:lnTo>
                    <a:pt x="79" y="37"/>
                  </a:lnTo>
                  <a:lnTo>
                    <a:pt x="79" y="38"/>
                  </a:lnTo>
                  <a:lnTo>
                    <a:pt x="79" y="40"/>
                  </a:lnTo>
                  <a:lnTo>
                    <a:pt x="78" y="42"/>
                  </a:lnTo>
                  <a:lnTo>
                    <a:pt x="78" y="43"/>
                  </a:lnTo>
                  <a:lnTo>
                    <a:pt x="78" y="45"/>
                  </a:lnTo>
                  <a:lnTo>
                    <a:pt x="81" y="43"/>
                  </a:lnTo>
                  <a:lnTo>
                    <a:pt x="81" y="42"/>
                  </a:lnTo>
                  <a:lnTo>
                    <a:pt x="83" y="40"/>
                  </a:lnTo>
                  <a:lnTo>
                    <a:pt x="83" y="38"/>
                  </a:lnTo>
                  <a:lnTo>
                    <a:pt x="83" y="37"/>
                  </a:lnTo>
                  <a:lnTo>
                    <a:pt x="83" y="35"/>
                  </a:lnTo>
                  <a:close/>
                  <a:moveTo>
                    <a:pt x="0" y="30"/>
                  </a:moveTo>
                  <a:lnTo>
                    <a:pt x="0" y="30"/>
                  </a:lnTo>
                  <a:lnTo>
                    <a:pt x="0" y="32"/>
                  </a:lnTo>
                  <a:lnTo>
                    <a:pt x="0" y="33"/>
                  </a:lnTo>
                  <a:lnTo>
                    <a:pt x="0" y="35"/>
                  </a:lnTo>
                  <a:lnTo>
                    <a:pt x="0" y="40"/>
                  </a:lnTo>
                  <a:lnTo>
                    <a:pt x="2" y="47"/>
                  </a:lnTo>
                  <a:lnTo>
                    <a:pt x="3" y="52"/>
                  </a:lnTo>
                  <a:lnTo>
                    <a:pt x="5" y="57"/>
                  </a:lnTo>
                  <a:lnTo>
                    <a:pt x="8" y="60"/>
                  </a:lnTo>
                  <a:lnTo>
                    <a:pt x="11" y="65"/>
                  </a:lnTo>
                  <a:lnTo>
                    <a:pt x="15" y="68"/>
                  </a:lnTo>
                  <a:lnTo>
                    <a:pt x="20" y="70"/>
                  </a:lnTo>
                  <a:lnTo>
                    <a:pt x="23" y="68"/>
                  </a:lnTo>
                  <a:lnTo>
                    <a:pt x="18" y="66"/>
                  </a:lnTo>
                  <a:lnTo>
                    <a:pt x="15" y="63"/>
                  </a:lnTo>
                  <a:lnTo>
                    <a:pt x="11" y="60"/>
                  </a:lnTo>
                  <a:lnTo>
                    <a:pt x="8" y="55"/>
                  </a:lnTo>
                  <a:lnTo>
                    <a:pt x="7" y="50"/>
                  </a:lnTo>
                  <a:lnTo>
                    <a:pt x="5" y="45"/>
                  </a:lnTo>
                  <a:lnTo>
                    <a:pt x="3" y="40"/>
                  </a:lnTo>
                  <a:lnTo>
                    <a:pt x="3" y="35"/>
                  </a:lnTo>
                  <a:lnTo>
                    <a:pt x="3" y="33"/>
                  </a:lnTo>
                  <a:lnTo>
                    <a:pt x="3" y="32"/>
                  </a:lnTo>
                  <a:lnTo>
                    <a:pt x="3" y="30"/>
                  </a:lnTo>
                  <a:lnTo>
                    <a:pt x="3" y="28"/>
                  </a:lnTo>
                  <a:lnTo>
                    <a:pt x="0" y="3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05" name="Freeform 649">
              <a:extLst>
                <a:ext uri="{FF2B5EF4-FFF2-40B4-BE49-F238E27FC236}">
                  <a16:creationId xmlns:a16="http://schemas.microsoft.com/office/drawing/2014/main" id="{D01D6631-4523-1B85-152E-D17AA457EA00}"/>
                </a:ext>
              </a:extLst>
            </p:cNvPr>
            <p:cNvSpPr>
              <a:spLocks noEditPoints="1"/>
            </p:cNvSpPr>
            <p:nvPr/>
          </p:nvSpPr>
          <p:spPr bwMode="auto">
            <a:xfrm>
              <a:off x="2178" y="1605"/>
              <a:ext cx="79" cy="68"/>
            </a:xfrm>
            <a:custGeom>
              <a:avLst/>
              <a:gdLst>
                <a:gd name="T0" fmla="*/ 79 w 79"/>
                <a:gd name="T1" fmla="*/ 33 h 68"/>
                <a:gd name="T2" fmla="*/ 77 w 79"/>
                <a:gd name="T3" fmla="*/ 28 h 68"/>
                <a:gd name="T4" fmla="*/ 77 w 79"/>
                <a:gd name="T5" fmla="*/ 23 h 68"/>
                <a:gd name="T6" fmla="*/ 76 w 79"/>
                <a:gd name="T7" fmla="*/ 18 h 68"/>
                <a:gd name="T8" fmla="*/ 74 w 79"/>
                <a:gd name="T9" fmla="*/ 13 h 68"/>
                <a:gd name="T10" fmla="*/ 71 w 79"/>
                <a:gd name="T11" fmla="*/ 10 h 68"/>
                <a:gd name="T12" fmla="*/ 67 w 79"/>
                <a:gd name="T13" fmla="*/ 7 h 68"/>
                <a:gd name="T14" fmla="*/ 64 w 79"/>
                <a:gd name="T15" fmla="*/ 2 h 68"/>
                <a:gd name="T16" fmla="*/ 59 w 79"/>
                <a:gd name="T17" fmla="*/ 0 h 68"/>
                <a:gd name="T18" fmla="*/ 56 w 79"/>
                <a:gd name="T19" fmla="*/ 2 h 68"/>
                <a:gd name="T20" fmla="*/ 61 w 79"/>
                <a:gd name="T21" fmla="*/ 3 h 68"/>
                <a:gd name="T22" fmla="*/ 64 w 79"/>
                <a:gd name="T23" fmla="*/ 7 h 68"/>
                <a:gd name="T24" fmla="*/ 67 w 79"/>
                <a:gd name="T25" fmla="*/ 10 h 68"/>
                <a:gd name="T26" fmla="*/ 69 w 79"/>
                <a:gd name="T27" fmla="*/ 15 h 68"/>
                <a:gd name="T28" fmla="*/ 72 w 79"/>
                <a:gd name="T29" fmla="*/ 18 h 68"/>
                <a:gd name="T30" fmla="*/ 74 w 79"/>
                <a:gd name="T31" fmla="*/ 23 h 68"/>
                <a:gd name="T32" fmla="*/ 74 w 79"/>
                <a:gd name="T33" fmla="*/ 28 h 68"/>
                <a:gd name="T34" fmla="*/ 76 w 79"/>
                <a:gd name="T35" fmla="*/ 33 h 68"/>
                <a:gd name="T36" fmla="*/ 76 w 79"/>
                <a:gd name="T37" fmla="*/ 35 h 68"/>
                <a:gd name="T38" fmla="*/ 76 w 79"/>
                <a:gd name="T39" fmla="*/ 36 h 68"/>
                <a:gd name="T40" fmla="*/ 74 w 79"/>
                <a:gd name="T41" fmla="*/ 38 h 68"/>
                <a:gd name="T42" fmla="*/ 74 w 79"/>
                <a:gd name="T43" fmla="*/ 40 h 68"/>
                <a:gd name="T44" fmla="*/ 74 w 79"/>
                <a:gd name="T45" fmla="*/ 41 h 68"/>
                <a:gd name="T46" fmla="*/ 74 w 79"/>
                <a:gd name="T47" fmla="*/ 43 h 68"/>
                <a:gd name="T48" fmla="*/ 77 w 79"/>
                <a:gd name="T49" fmla="*/ 41 h 68"/>
                <a:gd name="T50" fmla="*/ 77 w 79"/>
                <a:gd name="T51" fmla="*/ 40 h 68"/>
                <a:gd name="T52" fmla="*/ 77 w 79"/>
                <a:gd name="T53" fmla="*/ 38 h 68"/>
                <a:gd name="T54" fmla="*/ 79 w 79"/>
                <a:gd name="T55" fmla="*/ 38 h 68"/>
                <a:gd name="T56" fmla="*/ 79 w 79"/>
                <a:gd name="T57" fmla="*/ 36 h 68"/>
                <a:gd name="T58" fmla="*/ 79 w 79"/>
                <a:gd name="T59" fmla="*/ 35 h 68"/>
                <a:gd name="T60" fmla="*/ 79 w 79"/>
                <a:gd name="T61" fmla="*/ 33 h 68"/>
                <a:gd name="T62" fmla="*/ 0 w 79"/>
                <a:gd name="T63" fmla="*/ 26 h 68"/>
                <a:gd name="T64" fmla="*/ 0 w 79"/>
                <a:gd name="T65" fmla="*/ 28 h 68"/>
                <a:gd name="T66" fmla="*/ 0 w 79"/>
                <a:gd name="T67" fmla="*/ 30 h 68"/>
                <a:gd name="T68" fmla="*/ 0 w 79"/>
                <a:gd name="T69" fmla="*/ 31 h 68"/>
                <a:gd name="T70" fmla="*/ 0 w 79"/>
                <a:gd name="T71" fmla="*/ 33 h 68"/>
                <a:gd name="T72" fmla="*/ 0 w 79"/>
                <a:gd name="T73" fmla="*/ 38 h 68"/>
                <a:gd name="T74" fmla="*/ 1 w 79"/>
                <a:gd name="T75" fmla="*/ 45 h 68"/>
                <a:gd name="T76" fmla="*/ 3 w 79"/>
                <a:gd name="T77" fmla="*/ 50 h 68"/>
                <a:gd name="T78" fmla="*/ 5 w 79"/>
                <a:gd name="T79" fmla="*/ 53 h 68"/>
                <a:gd name="T80" fmla="*/ 8 w 79"/>
                <a:gd name="T81" fmla="*/ 58 h 68"/>
                <a:gd name="T82" fmla="*/ 11 w 79"/>
                <a:gd name="T83" fmla="*/ 61 h 68"/>
                <a:gd name="T84" fmla="*/ 14 w 79"/>
                <a:gd name="T85" fmla="*/ 64 h 68"/>
                <a:gd name="T86" fmla="*/ 19 w 79"/>
                <a:gd name="T87" fmla="*/ 68 h 68"/>
                <a:gd name="T88" fmla="*/ 23 w 79"/>
                <a:gd name="T89" fmla="*/ 66 h 68"/>
                <a:gd name="T90" fmla="*/ 18 w 79"/>
                <a:gd name="T91" fmla="*/ 63 h 68"/>
                <a:gd name="T92" fmla="*/ 14 w 79"/>
                <a:gd name="T93" fmla="*/ 61 h 68"/>
                <a:gd name="T94" fmla="*/ 11 w 79"/>
                <a:gd name="T95" fmla="*/ 56 h 68"/>
                <a:gd name="T96" fmla="*/ 8 w 79"/>
                <a:gd name="T97" fmla="*/ 53 h 68"/>
                <a:gd name="T98" fmla="*/ 6 w 79"/>
                <a:gd name="T99" fmla="*/ 48 h 68"/>
                <a:gd name="T100" fmla="*/ 5 w 79"/>
                <a:gd name="T101" fmla="*/ 43 h 68"/>
                <a:gd name="T102" fmla="*/ 3 w 79"/>
                <a:gd name="T103" fmla="*/ 38 h 68"/>
                <a:gd name="T104" fmla="*/ 3 w 79"/>
                <a:gd name="T105" fmla="*/ 33 h 68"/>
                <a:gd name="T106" fmla="*/ 3 w 79"/>
                <a:gd name="T107" fmla="*/ 31 h 68"/>
                <a:gd name="T108" fmla="*/ 3 w 79"/>
                <a:gd name="T109" fmla="*/ 30 h 68"/>
                <a:gd name="T110" fmla="*/ 3 w 79"/>
                <a:gd name="T111" fmla="*/ 28 h 68"/>
                <a:gd name="T112" fmla="*/ 3 w 79"/>
                <a:gd name="T113" fmla="*/ 26 h 68"/>
                <a:gd name="T114" fmla="*/ 3 w 79"/>
                <a:gd name="T115" fmla="*/ 25 h 68"/>
                <a:gd name="T116" fmla="*/ 0 w 79"/>
                <a:gd name="T117" fmla="*/ 26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9" h="68">
                  <a:moveTo>
                    <a:pt x="79" y="33"/>
                  </a:moveTo>
                  <a:lnTo>
                    <a:pt x="77" y="28"/>
                  </a:lnTo>
                  <a:lnTo>
                    <a:pt x="77" y="23"/>
                  </a:lnTo>
                  <a:lnTo>
                    <a:pt x="76" y="18"/>
                  </a:lnTo>
                  <a:lnTo>
                    <a:pt x="74" y="13"/>
                  </a:lnTo>
                  <a:lnTo>
                    <a:pt x="71" y="10"/>
                  </a:lnTo>
                  <a:lnTo>
                    <a:pt x="67" y="7"/>
                  </a:lnTo>
                  <a:lnTo>
                    <a:pt x="64" y="2"/>
                  </a:lnTo>
                  <a:lnTo>
                    <a:pt x="59" y="0"/>
                  </a:lnTo>
                  <a:lnTo>
                    <a:pt x="56" y="2"/>
                  </a:lnTo>
                  <a:lnTo>
                    <a:pt x="61" y="3"/>
                  </a:lnTo>
                  <a:lnTo>
                    <a:pt x="64" y="7"/>
                  </a:lnTo>
                  <a:lnTo>
                    <a:pt x="67" y="10"/>
                  </a:lnTo>
                  <a:lnTo>
                    <a:pt x="69" y="15"/>
                  </a:lnTo>
                  <a:lnTo>
                    <a:pt x="72" y="18"/>
                  </a:lnTo>
                  <a:lnTo>
                    <a:pt x="74" y="23"/>
                  </a:lnTo>
                  <a:lnTo>
                    <a:pt x="74" y="28"/>
                  </a:lnTo>
                  <a:lnTo>
                    <a:pt x="76" y="33"/>
                  </a:lnTo>
                  <a:lnTo>
                    <a:pt x="76" y="35"/>
                  </a:lnTo>
                  <a:lnTo>
                    <a:pt x="76" y="36"/>
                  </a:lnTo>
                  <a:lnTo>
                    <a:pt x="74" y="38"/>
                  </a:lnTo>
                  <a:lnTo>
                    <a:pt x="74" y="40"/>
                  </a:lnTo>
                  <a:lnTo>
                    <a:pt x="74" y="41"/>
                  </a:lnTo>
                  <a:lnTo>
                    <a:pt x="74" y="43"/>
                  </a:lnTo>
                  <a:lnTo>
                    <a:pt x="77" y="41"/>
                  </a:lnTo>
                  <a:lnTo>
                    <a:pt x="77" y="40"/>
                  </a:lnTo>
                  <a:lnTo>
                    <a:pt x="77" y="38"/>
                  </a:lnTo>
                  <a:lnTo>
                    <a:pt x="79" y="38"/>
                  </a:lnTo>
                  <a:lnTo>
                    <a:pt x="79" y="36"/>
                  </a:lnTo>
                  <a:lnTo>
                    <a:pt x="79" y="35"/>
                  </a:lnTo>
                  <a:lnTo>
                    <a:pt x="79" y="33"/>
                  </a:lnTo>
                  <a:close/>
                  <a:moveTo>
                    <a:pt x="0" y="26"/>
                  </a:moveTo>
                  <a:lnTo>
                    <a:pt x="0" y="28"/>
                  </a:lnTo>
                  <a:lnTo>
                    <a:pt x="0" y="30"/>
                  </a:lnTo>
                  <a:lnTo>
                    <a:pt x="0" y="31"/>
                  </a:lnTo>
                  <a:lnTo>
                    <a:pt x="0" y="33"/>
                  </a:lnTo>
                  <a:lnTo>
                    <a:pt x="0" y="38"/>
                  </a:lnTo>
                  <a:lnTo>
                    <a:pt x="1" y="45"/>
                  </a:lnTo>
                  <a:lnTo>
                    <a:pt x="3" y="50"/>
                  </a:lnTo>
                  <a:lnTo>
                    <a:pt x="5" y="53"/>
                  </a:lnTo>
                  <a:lnTo>
                    <a:pt x="8" y="58"/>
                  </a:lnTo>
                  <a:lnTo>
                    <a:pt x="11" y="61"/>
                  </a:lnTo>
                  <a:lnTo>
                    <a:pt x="14" y="64"/>
                  </a:lnTo>
                  <a:lnTo>
                    <a:pt x="19" y="68"/>
                  </a:lnTo>
                  <a:lnTo>
                    <a:pt x="23" y="66"/>
                  </a:lnTo>
                  <a:lnTo>
                    <a:pt x="18" y="63"/>
                  </a:lnTo>
                  <a:lnTo>
                    <a:pt x="14" y="61"/>
                  </a:lnTo>
                  <a:lnTo>
                    <a:pt x="11" y="56"/>
                  </a:lnTo>
                  <a:lnTo>
                    <a:pt x="8" y="53"/>
                  </a:lnTo>
                  <a:lnTo>
                    <a:pt x="6" y="48"/>
                  </a:lnTo>
                  <a:lnTo>
                    <a:pt x="5" y="43"/>
                  </a:lnTo>
                  <a:lnTo>
                    <a:pt x="3" y="38"/>
                  </a:lnTo>
                  <a:lnTo>
                    <a:pt x="3" y="33"/>
                  </a:lnTo>
                  <a:lnTo>
                    <a:pt x="3" y="31"/>
                  </a:lnTo>
                  <a:lnTo>
                    <a:pt x="3" y="30"/>
                  </a:lnTo>
                  <a:lnTo>
                    <a:pt x="3" y="28"/>
                  </a:lnTo>
                  <a:lnTo>
                    <a:pt x="3" y="26"/>
                  </a:lnTo>
                  <a:lnTo>
                    <a:pt x="3" y="25"/>
                  </a:lnTo>
                  <a:lnTo>
                    <a:pt x="0" y="26"/>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06" name="Freeform 650">
              <a:extLst>
                <a:ext uri="{FF2B5EF4-FFF2-40B4-BE49-F238E27FC236}">
                  <a16:creationId xmlns:a16="http://schemas.microsoft.com/office/drawing/2014/main" id="{4A261B64-CCDA-C834-AA81-36FE8C8353D0}"/>
                </a:ext>
              </a:extLst>
            </p:cNvPr>
            <p:cNvSpPr>
              <a:spLocks noEditPoints="1"/>
            </p:cNvSpPr>
            <p:nvPr/>
          </p:nvSpPr>
          <p:spPr bwMode="auto">
            <a:xfrm>
              <a:off x="2179" y="1605"/>
              <a:ext cx="76" cy="66"/>
            </a:xfrm>
            <a:custGeom>
              <a:avLst/>
              <a:gdLst>
                <a:gd name="T0" fmla="*/ 76 w 76"/>
                <a:gd name="T1" fmla="*/ 33 h 66"/>
                <a:gd name="T2" fmla="*/ 75 w 76"/>
                <a:gd name="T3" fmla="*/ 28 h 66"/>
                <a:gd name="T4" fmla="*/ 75 w 76"/>
                <a:gd name="T5" fmla="*/ 23 h 66"/>
                <a:gd name="T6" fmla="*/ 73 w 76"/>
                <a:gd name="T7" fmla="*/ 18 h 66"/>
                <a:gd name="T8" fmla="*/ 71 w 76"/>
                <a:gd name="T9" fmla="*/ 15 h 66"/>
                <a:gd name="T10" fmla="*/ 68 w 76"/>
                <a:gd name="T11" fmla="*/ 10 h 66"/>
                <a:gd name="T12" fmla="*/ 65 w 76"/>
                <a:gd name="T13" fmla="*/ 7 h 66"/>
                <a:gd name="T14" fmla="*/ 61 w 76"/>
                <a:gd name="T15" fmla="*/ 3 h 66"/>
                <a:gd name="T16" fmla="*/ 57 w 76"/>
                <a:gd name="T17" fmla="*/ 0 h 66"/>
                <a:gd name="T18" fmla="*/ 53 w 76"/>
                <a:gd name="T19" fmla="*/ 2 h 66"/>
                <a:gd name="T20" fmla="*/ 57 w 76"/>
                <a:gd name="T21" fmla="*/ 5 h 66"/>
                <a:gd name="T22" fmla="*/ 61 w 76"/>
                <a:gd name="T23" fmla="*/ 8 h 66"/>
                <a:gd name="T24" fmla="*/ 65 w 76"/>
                <a:gd name="T25" fmla="*/ 11 h 66"/>
                <a:gd name="T26" fmla="*/ 66 w 76"/>
                <a:gd name="T27" fmla="*/ 15 h 66"/>
                <a:gd name="T28" fmla="*/ 70 w 76"/>
                <a:gd name="T29" fmla="*/ 18 h 66"/>
                <a:gd name="T30" fmla="*/ 71 w 76"/>
                <a:gd name="T31" fmla="*/ 23 h 66"/>
                <a:gd name="T32" fmla="*/ 71 w 76"/>
                <a:gd name="T33" fmla="*/ 28 h 66"/>
                <a:gd name="T34" fmla="*/ 73 w 76"/>
                <a:gd name="T35" fmla="*/ 33 h 66"/>
                <a:gd name="T36" fmla="*/ 73 w 76"/>
                <a:gd name="T37" fmla="*/ 35 h 66"/>
                <a:gd name="T38" fmla="*/ 73 w 76"/>
                <a:gd name="T39" fmla="*/ 36 h 66"/>
                <a:gd name="T40" fmla="*/ 73 w 76"/>
                <a:gd name="T41" fmla="*/ 38 h 66"/>
                <a:gd name="T42" fmla="*/ 71 w 76"/>
                <a:gd name="T43" fmla="*/ 38 h 66"/>
                <a:gd name="T44" fmla="*/ 71 w 76"/>
                <a:gd name="T45" fmla="*/ 40 h 66"/>
                <a:gd name="T46" fmla="*/ 71 w 76"/>
                <a:gd name="T47" fmla="*/ 41 h 66"/>
                <a:gd name="T48" fmla="*/ 71 w 76"/>
                <a:gd name="T49" fmla="*/ 43 h 66"/>
                <a:gd name="T50" fmla="*/ 71 w 76"/>
                <a:gd name="T51" fmla="*/ 45 h 66"/>
                <a:gd name="T52" fmla="*/ 75 w 76"/>
                <a:gd name="T53" fmla="*/ 43 h 66"/>
                <a:gd name="T54" fmla="*/ 75 w 76"/>
                <a:gd name="T55" fmla="*/ 41 h 66"/>
                <a:gd name="T56" fmla="*/ 75 w 76"/>
                <a:gd name="T57" fmla="*/ 40 h 66"/>
                <a:gd name="T58" fmla="*/ 76 w 76"/>
                <a:gd name="T59" fmla="*/ 38 h 66"/>
                <a:gd name="T60" fmla="*/ 76 w 76"/>
                <a:gd name="T61" fmla="*/ 36 h 66"/>
                <a:gd name="T62" fmla="*/ 76 w 76"/>
                <a:gd name="T63" fmla="*/ 35 h 66"/>
                <a:gd name="T64" fmla="*/ 76 w 76"/>
                <a:gd name="T65" fmla="*/ 33 h 66"/>
                <a:gd name="T66" fmla="*/ 0 w 76"/>
                <a:gd name="T67" fmla="*/ 26 h 66"/>
                <a:gd name="T68" fmla="*/ 0 w 76"/>
                <a:gd name="T69" fmla="*/ 26 h 66"/>
                <a:gd name="T70" fmla="*/ 0 w 76"/>
                <a:gd name="T71" fmla="*/ 28 h 66"/>
                <a:gd name="T72" fmla="*/ 0 w 76"/>
                <a:gd name="T73" fmla="*/ 30 h 66"/>
                <a:gd name="T74" fmla="*/ 0 w 76"/>
                <a:gd name="T75" fmla="*/ 31 h 66"/>
                <a:gd name="T76" fmla="*/ 0 w 76"/>
                <a:gd name="T77" fmla="*/ 33 h 66"/>
                <a:gd name="T78" fmla="*/ 0 w 76"/>
                <a:gd name="T79" fmla="*/ 38 h 66"/>
                <a:gd name="T80" fmla="*/ 2 w 76"/>
                <a:gd name="T81" fmla="*/ 43 h 66"/>
                <a:gd name="T82" fmla="*/ 4 w 76"/>
                <a:gd name="T83" fmla="*/ 48 h 66"/>
                <a:gd name="T84" fmla="*/ 5 w 76"/>
                <a:gd name="T85" fmla="*/ 53 h 66"/>
                <a:gd name="T86" fmla="*/ 8 w 76"/>
                <a:gd name="T87" fmla="*/ 58 h 66"/>
                <a:gd name="T88" fmla="*/ 12 w 76"/>
                <a:gd name="T89" fmla="*/ 61 h 66"/>
                <a:gd name="T90" fmla="*/ 15 w 76"/>
                <a:gd name="T91" fmla="*/ 64 h 66"/>
                <a:gd name="T92" fmla="*/ 20 w 76"/>
                <a:gd name="T93" fmla="*/ 66 h 66"/>
                <a:gd name="T94" fmla="*/ 23 w 76"/>
                <a:gd name="T95" fmla="*/ 64 h 66"/>
                <a:gd name="T96" fmla="*/ 20 w 76"/>
                <a:gd name="T97" fmla="*/ 63 h 66"/>
                <a:gd name="T98" fmla="*/ 15 w 76"/>
                <a:gd name="T99" fmla="*/ 60 h 66"/>
                <a:gd name="T100" fmla="*/ 12 w 76"/>
                <a:gd name="T101" fmla="*/ 56 h 66"/>
                <a:gd name="T102" fmla="*/ 8 w 76"/>
                <a:gd name="T103" fmla="*/ 53 h 66"/>
                <a:gd name="T104" fmla="*/ 7 w 76"/>
                <a:gd name="T105" fmla="*/ 48 h 66"/>
                <a:gd name="T106" fmla="*/ 5 w 76"/>
                <a:gd name="T107" fmla="*/ 43 h 66"/>
                <a:gd name="T108" fmla="*/ 4 w 76"/>
                <a:gd name="T109" fmla="*/ 38 h 66"/>
                <a:gd name="T110" fmla="*/ 4 w 76"/>
                <a:gd name="T111" fmla="*/ 33 h 66"/>
                <a:gd name="T112" fmla="*/ 4 w 76"/>
                <a:gd name="T113" fmla="*/ 31 h 66"/>
                <a:gd name="T114" fmla="*/ 4 w 76"/>
                <a:gd name="T115" fmla="*/ 30 h 66"/>
                <a:gd name="T116" fmla="*/ 4 w 76"/>
                <a:gd name="T117" fmla="*/ 28 h 66"/>
                <a:gd name="T118" fmla="*/ 4 w 76"/>
                <a:gd name="T119" fmla="*/ 26 h 66"/>
                <a:gd name="T120" fmla="*/ 4 w 76"/>
                <a:gd name="T121" fmla="*/ 25 h 66"/>
                <a:gd name="T122" fmla="*/ 0 w 76"/>
                <a:gd name="T123" fmla="*/ 2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6" h="66">
                  <a:moveTo>
                    <a:pt x="76" y="33"/>
                  </a:moveTo>
                  <a:lnTo>
                    <a:pt x="75" y="28"/>
                  </a:lnTo>
                  <a:lnTo>
                    <a:pt x="75" y="23"/>
                  </a:lnTo>
                  <a:lnTo>
                    <a:pt x="73" y="18"/>
                  </a:lnTo>
                  <a:lnTo>
                    <a:pt x="71" y="15"/>
                  </a:lnTo>
                  <a:lnTo>
                    <a:pt x="68" y="10"/>
                  </a:lnTo>
                  <a:lnTo>
                    <a:pt x="65" y="7"/>
                  </a:lnTo>
                  <a:lnTo>
                    <a:pt x="61" y="3"/>
                  </a:lnTo>
                  <a:lnTo>
                    <a:pt x="57" y="0"/>
                  </a:lnTo>
                  <a:lnTo>
                    <a:pt x="53" y="2"/>
                  </a:lnTo>
                  <a:lnTo>
                    <a:pt x="57" y="5"/>
                  </a:lnTo>
                  <a:lnTo>
                    <a:pt x="61" y="8"/>
                  </a:lnTo>
                  <a:lnTo>
                    <a:pt x="65" y="11"/>
                  </a:lnTo>
                  <a:lnTo>
                    <a:pt x="66" y="15"/>
                  </a:lnTo>
                  <a:lnTo>
                    <a:pt x="70" y="18"/>
                  </a:lnTo>
                  <a:lnTo>
                    <a:pt x="71" y="23"/>
                  </a:lnTo>
                  <a:lnTo>
                    <a:pt x="71" y="28"/>
                  </a:lnTo>
                  <a:lnTo>
                    <a:pt x="73" y="33"/>
                  </a:lnTo>
                  <a:lnTo>
                    <a:pt x="73" y="35"/>
                  </a:lnTo>
                  <a:lnTo>
                    <a:pt x="73" y="36"/>
                  </a:lnTo>
                  <a:lnTo>
                    <a:pt x="73" y="38"/>
                  </a:lnTo>
                  <a:lnTo>
                    <a:pt x="71" y="38"/>
                  </a:lnTo>
                  <a:lnTo>
                    <a:pt x="71" y="40"/>
                  </a:lnTo>
                  <a:lnTo>
                    <a:pt x="71" y="41"/>
                  </a:lnTo>
                  <a:lnTo>
                    <a:pt x="71" y="43"/>
                  </a:lnTo>
                  <a:lnTo>
                    <a:pt x="71" y="45"/>
                  </a:lnTo>
                  <a:lnTo>
                    <a:pt x="75" y="43"/>
                  </a:lnTo>
                  <a:lnTo>
                    <a:pt x="75" y="41"/>
                  </a:lnTo>
                  <a:lnTo>
                    <a:pt x="75" y="40"/>
                  </a:lnTo>
                  <a:lnTo>
                    <a:pt x="76" y="38"/>
                  </a:lnTo>
                  <a:lnTo>
                    <a:pt x="76" y="36"/>
                  </a:lnTo>
                  <a:lnTo>
                    <a:pt x="76" y="35"/>
                  </a:lnTo>
                  <a:lnTo>
                    <a:pt x="76" y="33"/>
                  </a:lnTo>
                  <a:close/>
                  <a:moveTo>
                    <a:pt x="0" y="26"/>
                  </a:moveTo>
                  <a:lnTo>
                    <a:pt x="0" y="26"/>
                  </a:lnTo>
                  <a:lnTo>
                    <a:pt x="0" y="28"/>
                  </a:lnTo>
                  <a:lnTo>
                    <a:pt x="0" y="30"/>
                  </a:lnTo>
                  <a:lnTo>
                    <a:pt x="0" y="31"/>
                  </a:lnTo>
                  <a:lnTo>
                    <a:pt x="0" y="33"/>
                  </a:lnTo>
                  <a:lnTo>
                    <a:pt x="0" y="38"/>
                  </a:lnTo>
                  <a:lnTo>
                    <a:pt x="2" y="43"/>
                  </a:lnTo>
                  <a:lnTo>
                    <a:pt x="4" y="48"/>
                  </a:lnTo>
                  <a:lnTo>
                    <a:pt x="5" y="53"/>
                  </a:lnTo>
                  <a:lnTo>
                    <a:pt x="8" y="58"/>
                  </a:lnTo>
                  <a:lnTo>
                    <a:pt x="12" y="61"/>
                  </a:lnTo>
                  <a:lnTo>
                    <a:pt x="15" y="64"/>
                  </a:lnTo>
                  <a:lnTo>
                    <a:pt x="20" y="66"/>
                  </a:lnTo>
                  <a:lnTo>
                    <a:pt x="23" y="64"/>
                  </a:lnTo>
                  <a:lnTo>
                    <a:pt x="20" y="63"/>
                  </a:lnTo>
                  <a:lnTo>
                    <a:pt x="15" y="60"/>
                  </a:lnTo>
                  <a:lnTo>
                    <a:pt x="12" y="56"/>
                  </a:lnTo>
                  <a:lnTo>
                    <a:pt x="8" y="53"/>
                  </a:lnTo>
                  <a:lnTo>
                    <a:pt x="7" y="48"/>
                  </a:lnTo>
                  <a:lnTo>
                    <a:pt x="5" y="43"/>
                  </a:lnTo>
                  <a:lnTo>
                    <a:pt x="4" y="38"/>
                  </a:lnTo>
                  <a:lnTo>
                    <a:pt x="4" y="33"/>
                  </a:lnTo>
                  <a:lnTo>
                    <a:pt x="4" y="31"/>
                  </a:lnTo>
                  <a:lnTo>
                    <a:pt x="4" y="30"/>
                  </a:lnTo>
                  <a:lnTo>
                    <a:pt x="4" y="28"/>
                  </a:lnTo>
                  <a:lnTo>
                    <a:pt x="4" y="26"/>
                  </a:lnTo>
                  <a:lnTo>
                    <a:pt x="4" y="25"/>
                  </a:lnTo>
                  <a:lnTo>
                    <a:pt x="0" y="26"/>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07" name="Freeform 651">
              <a:extLst>
                <a:ext uri="{FF2B5EF4-FFF2-40B4-BE49-F238E27FC236}">
                  <a16:creationId xmlns:a16="http://schemas.microsoft.com/office/drawing/2014/main" id="{5D04C94B-2B03-40DA-E7BB-6C21CC63FC6E}"/>
                </a:ext>
              </a:extLst>
            </p:cNvPr>
            <p:cNvSpPr>
              <a:spLocks noEditPoints="1"/>
            </p:cNvSpPr>
            <p:nvPr/>
          </p:nvSpPr>
          <p:spPr bwMode="auto">
            <a:xfrm>
              <a:off x="2181" y="1607"/>
              <a:ext cx="73" cy="64"/>
            </a:xfrm>
            <a:custGeom>
              <a:avLst/>
              <a:gdLst>
                <a:gd name="T0" fmla="*/ 73 w 73"/>
                <a:gd name="T1" fmla="*/ 31 h 64"/>
                <a:gd name="T2" fmla="*/ 71 w 73"/>
                <a:gd name="T3" fmla="*/ 26 h 64"/>
                <a:gd name="T4" fmla="*/ 71 w 73"/>
                <a:gd name="T5" fmla="*/ 21 h 64"/>
                <a:gd name="T6" fmla="*/ 69 w 73"/>
                <a:gd name="T7" fmla="*/ 16 h 64"/>
                <a:gd name="T8" fmla="*/ 66 w 73"/>
                <a:gd name="T9" fmla="*/ 13 h 64"/>
                <a:gd name="T10" fmla="*/ 64 w 73"/>
                <a:gd name="T11" fmla="*/ 8 h 64"/>
                <a:gd name="T12" fmla="*/ 61 w 73"/>
                <a:gd name="T13" fmla="*/ 5 h 64"/>
                <a:gd name="T14" fmla="*/ 58 w 73"/>
                <a:gd name="T15" fmla="*/ 1 h 64"/>
                <a:gd name="T16" fmla="*/ 53 w 73"/>
                <a:gd name="T17" fmla="*/ 0 h 64"/>
                <a:gd name="T18" fmla="*/ 50 w 73"/>
                <a:gd name="T19" fmla="*/ 1 h 64"/>
                <a:gd name="T20" fmla="*/ 53 w 73"/>
                <a:gd name="T21" fmla="*/ 3 h 64"/>
                <a:gd name="T22" fmla="*/ 58 w 73"/>
                <a:gd name="T23" fmla="*/ 6 h 64"/>
                <a:gd name="T24" fmla="*/ 61 w 73"/>
                <a:gd name="T25" fmla="*/ 9 h 64"/>
                <a:gd name="T26" fmla="*/ 63 w 73"/>
                <a:gd name="T27" fmla="*/ 13 h 64"/>
                <a:gd name="T28" fmla="*/ 66 w 73"/>
                <a:gd name="T29" fmla="*/ 18 h 64"/>
                <a:gd name="T30" fmla="*/ 68 w 73"/>
                <a:gd name="T31" fmla="*/ 21 h 64"/>
                <a:gd name="T32" fmla="*/ 68 w 73"/>
                <a:gd name="T33" fmla="*/ 26 h 64"/>
                <a:gd name="T34" fmla="*/ 69 w 73"/>
                <a:gd name="T35" fmla="*/ 31 h 64"/>
                <a:gd name="T36" fmla="*/ 69 w 73"/>
                <a:gd name="T37" fmla="*/ 33 h 64"/>
                <a:gd name="T38" fmla="*/ 69 w 73"/>
                <a:gd name="T39" fmla="*/ 34 h 64"/>
                <a:gd name="T40" fmla="*/ 69 w 73"/>
                <a:gd name="T41" fmla="*/ 36 h 64"/>
                <a:gd name="T42" fmla="*/ 68 w 73"/>
                <a:gd name="T43" fmla="*/ 38 h 64"/>
                <a:gd name="T44" fmla="*/ 68 w 73"/>
                <a:gd name="T45" fmla="*/ 39 h 64"/>
                <a:gd name="T46" fmla="*/ 68 w 73"/>
                <a:gd name="T47" fmla="*/ 41 h 64"/>
                <a:gd name="T48" fmla="*/ 66 w 73"/>
                <a:gd name="T49" fmla="*/ 43 h 64"/>
                <a:gd name="T50" fmla="*/ 71 w 73"/>
                <a:gd name="T51" fmla="*/ 41 h 64"/>
                <a:gd name="T52" fmla="*/ 71 w 73"/>
                <a:gd name="T53" fmla="*/ 39 h 64"/>
                <a:gd name="T54" fmla="*/ 71 w 73"/>
                <a:gd name="T55" fmla="*/ 38 h 64"/>
                <a:gd name="T56" fmla="*/ 71 w 73"/>
                <a:gd name="T57" fmla="*/ 36 h 64"/>
                <a:gd name="T58" fmla="*/ 73 w 73"/>
                <a:gd name="T59" fmla="*/ 34 h 64"/>
                <a:gd name="T60" fmla="*/ 73 w 73"/>
                <a:gd name="T61" fmla="*/ 33 h 64"/>
                <a:gd name="T62" fmla="*/ 73 w 73"/>
                <a:gd name="T63" fmla="*/ 31 h 64"/>
                <a:gd name="T64" fmla="*/ 0 w 73"/>
                <a:gd name="T65" fmla="*/ 23 h 64"/>
                <a:gd name="T66" fmla="*/ 0 w 73"/>
                <a:gd name="T67" fmla="*/ 24 h 64"/>
                <a:gd name="T68" fmla="*/ 0 w 73"/>
                <a:gd name="T69" fmla="*/ 26 h 64"/>
                <a:gd name="T70" fmla="*/ 0 w 73"/>
                <a:gd name="T71" fmla="*/ 28 h 64"/>
                <a:gd name="T72" fmla="*/ 0 w 73"/>
                <a:gd name="T73" fmla="*/ 29 h 64"/>
                <a:gd name="T74" fmla="*/ 0 w 73"/>
                <a:gd name="T75" fmla="*/ 31 h 64"/>
                <a:gd name="T76" fmla="*/ 0 w 73"/>
                <a:gd name="T77" fmla="*/ 36 h 64"/>
                <a:gd name="T78" fmla="*/ 2 w 73"/>
                <a:gd name="T79" fmla="*/ 41 h 64"/>
                <a:gd name="T80" fmla="*/ 3 w 73"/>
                <a:gd name="T81" fmla="*/ 46 h 64"/>
                <a:gd name="T82" fmla="*/ 5 w 73"/>
                <a:gd name="T83" fmla="*/ 51 h 64"/>
                <a:gd name="T84" fmla="*/ 8 w 73"/>
                <a:gd name="T85" fmla="*/ 54 h 64"/>
                <a:gd name="T86" fmla="*/ 11 w 73"/>
                <a:gd name="T87" fmla="*/ 59 h 64"/>
                <a:gd name="T88" fmla="*/ 15 w 73"/>
                <a:gd name="T89" fmla="*/ 61 h 64"/>
                <a:gd name="T90" fmla="*/ 20 w 73"/>
                <a:gd name="T91" fmla="*/ 64 h 64"/>
                <a:gd name="T92" fmla="*/ 25 w 73"/>
                <a:gd name="T93" fmla="*/ 62 h 64"/>
                <a:gd name="T94" fmla="*/ 20 w 73"/>
                <a:gd name="T95" fmla="*/ 61 h 64"/>
                <a:gd name="T96" fmla="*/ 15 w 73"/>
                <a:gd name="T97" fmla="*/ 58 h 64"/>
                <a:gd name="T98" fmla="*/ 11 w 73"/>
                <a:gd name="T99" fmla="*/ 54 h 64"/>
                <a:gd name="T100" fmla="*/ 8 w 73"/>
                <a:gd name="T101" fmla="*/ 51 h 64"/>
                <a:gd name="T102" fmla="*/ 6 w 73"/>
                <a:gd name="T103" fmla="*/ 46 h 64"/>
                <a:gd name="T104" fmla="*/ 5 w 73"/>
                <a:gd name="T105" fmla="*/ 41 h 64"/>
                <a:gd name="T106" fmla="*/ 3 w 73"/>
                <a:gd name="T107" fmla="*/ 36 h 64"/>
                <a:gd name="T108" fmla="*/ 3 w 73"/>
                <a:gd name="T109" fmla="*/ 31 h 64"/>
                <a:gd name="T110" fmla="*/ 3 w 73"/>
                <a:gd name="T111" fmla="*/ 29 h 64"/>
                <a:gd name="T112" fmla="*/ 3 w 73"/>
                <a:gd name="T113" fmla="*/ 28 h 64"/>
                <a:gd name="T114" fmla="*/ 3 w 73"/>
                <a:gd name="T115" fmla="*/ 26 h 64"/>
                <a:gd name="T116" fmla="*/ 3 w 73"/>
                <a:gd name="T117" fmla="*/ 24 h 64"/>
                <a:gd name="T118" fmla="*/ 3 w 73"/>
                <a:gd name="T119" fmla="*/ 23 h 64"/>
                <a:gd name="T120" fmla="*/ 5 w 73"/>
                <a:gd name="T121" fmla="*/ 21 h 64"/>
                <a:gd name="T122" fmla="*/ 0 w 73"/>
                <a:gd name="T123" fmla="*/ 23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3" h="64">
                  <a:moveTo>
                    <a:pt x="73" y="31"/>
                  </a:moveTo>
                  <a:lnTo>
                    <a:pt x="71" y="26"/>
                  </a:lnTo>
                  <a:lnTo>
                    <a:pt x="71" y="21"/>
                  </a:lnTo>
                  <a:lnTo>
                    <a:pt x="69" y="16"/>
                  </a:lnTo>
                  <a:lnTo>
                    <a:pt x="66" y="13"/>
                  </a:lnTo>
                  <a:lnTo>
                    <a:pt x="64" y="8"/>
                  </a:lnTo>
                  <a:lnTo>
                    <a:pt x="61" y="5"/>
                  </a:lnTo>
                  <a:lnTo>
                    <a:pt x="58" y="1"/>
                  </a:lnTo>
                  <a:lnTo>
                    <a:pt x="53" y="0"/>
                  </a:lnTo>
                  <a:lnTo>
                    <a:pt x="50" y="1"/>
                  </a:lnTo>
                  <a:lnTo>
                    <a:pt x="53" y="3"/>
                  </a:lnTo>
                  <a:lnTo>
                    <a:pt x="58" y="6"/>
                  </a:lnTo>
                  <a:lnTo>
                    <a:pt x="61" y="9"/>
                  </a:lnTo>
                  <a:lnTo>
                    <a:pt x="63" y="13"/>
                  </a:lnTo>
                  <a:lnTo>
                    <a:pt x="66" y="18"/>
                  </a:lnTo>
                  <a:lnTo>
                    <a:pt x="68" y="21"/>
                  </a:lnTo>
                  <a:lnTo>
                    <a:pt x="68" y="26"/>
                  </a:lnTo>
                  <a:lnTo>
                    <a:pt x="69" y="31"/>
                  </a:lnTo>
                  <a:lnTo>
                    <a:pt x="69" y="33"/>
                  </a:lnTo>
                  <a:lnTo>
                    <a:pt x="69" y="34"/>
                  </a:lnTo>
                  <a:lnTo>
                    <a:pt x="69" y="36"/>
                  </a:lnTo>
                  <a:lnTo>
                    <a:pt x="68" y="38"/>
                  </a:lnTo>
                  <a:lnTo>
                    <a:pt x="68" y="39"/>
                  </a:lnTo>
                  <a:lnTo>
                    <a:pt x="68" y="41"/>
                  </a:lnTo>
                  <a:lnTo>
                    <a:pt x="66" y="43"/>
                  </a:lnTo>
                  <a:lnTo>
                    <a:pt x="71" y="41"/>
                  </a:lnTo>
                  <a:lnTo>
                    <a:pt x="71" y="39"/>
                  </a:lnTo>
                  <a:lnTo>
                    <a:pt x="71" y="38"/>
                  </a:lnTo>
                  <a:lnTo>
                    <a:pt x="71" y="36"/>
                  </a:lnTo>
                  <a:lnTo>
                    <a:pt x="73" y="34"/>
                  </a:lnTo>
                  <a:lnTo>
                    <a:pt x="73" y="33"/>
                  </a:lnTo>
                  <a:lnTo>
                    <a:pt x="73" y="31"/>
                  </a:lnTo>
                  <a:close/>
                  <a:moveTo>
                    <a:pt x="0" y="23"/>
                  </a:moveTo>
                  <a:lnTo>
                    <a:pt x="0" y="24"/>
                  </a:lnTo>
                  <a:lnTo>
                    <a:pt x="0" y="26"/>
                  </a:lnTo>
                  <a:lnTo>
                    <a:pt x="0" y="28"/>
                  </a:lnTo>
                  <a:lnTo>
                    <a:pt x="0" y="29"/>
                  </a:lnTo>
                  <a:lnTo>
                    <a:pt x="0" y="31"/>
                  </a:lnTo>
                  <a:lnTo>
                    <a:pt x="0" y="36"/>
                  </a:lnTo>
                  <a:lnTo>
                    <a:pt x="2" y="41"/>
                  </a:lnTo>
                  <a:lnTo>
                    <a:pt x="3" y="46"/>
                  </a:lnTo>
                  <a:lnTo>
                    <a:pt x="5" y="51"/>
                  </a:lnTo>
                  <a:lnTo>
                    <a:pt x="8" y="54"/>
                  </a:lnTo>
                  <a:lnTo>
                    <a:pt x="11" y="59"/>
                  </a:lnTo>
                  <a:lnTo>
                    <a:pt x="15" y="61"/>
                  </a:lnTo>
                  <a:lnTo>
                    <a:pt x="20" y="64"/>
                  </a:lnTo>
                  <a:lnTo>
                    <a:pt x="25" y="62"/>
                  </a:lnTo>
                  <a:lnTo>
                    <a:pt x="20" y="61"/>
                  </a:lnTo>
                  <a:lnTo>
                    <a:pt x="15" y="58"/>
                  </a:lnTo>
                  <a:lnTo>
                    <a:pt x="11" y="54"/>
                  </a:lnTo>
                  <a:lnTo>
                    <a:pt x="8" y="51"/>
                  </a:lnTo>
                  <a:lnTo>
                    <a:pt x="6" y="46"/>
                  </a:lnTo>
                  <a:lnTo>
                    <a:pt x="5" y="41"/>
                  </a:lnTo>
                  <a:lnTo>
                    <a:pt x="3" y="36"/>
                  </a:lnTo>
                  <a:lnTo>
                    <a:pt x="3" y="31"/>
                  </a:lnTo>
                  <a:lnTo>
                    <a:pt x="3" y="29"/>
                  </a:lnTo>
                  <a:lnTo>
                    <a:pt x="3" y="28"/>
                  </a:lnTo>
                  <a:lnTo>
                    <a:pt x="3" y="26"/>
                  </a:lnTo>
                  <a:lnTo>
                    <a:pt x="3" y="24"/>
                  </a:lnTo>
                  <a:lnTo>
                    <a:pt x="3" y="23"/>
                  </a:lnTo>
                  <a:lnTo>
                    <a:pt x="5" y="21"/>
                  </a:lnTo>
                  <a:lnTo>
                    <a:pt x="0" y="23"/>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08" name="Freeform 652">
              <a:extLst>
                <a:ext uri="{FF2B5EF4-FFF2-40B4-BE49-F238E27FC236}">
                  <a16:creationId xmlns:a16="http://schemas.microsoft.com/office/drawing/2014/main" id="{2B7C5A99-00DE-2540-5E61-8C0091312C5E}"/>
                </a:ext>
              </a:extLst>
            </p:cNvPr>
            <p:cNvSpPr>
              <a:spLocks noEditPoints="1"/>
            </p:cNvSpPr>
            <p:nvPr/>
          </p:nvSpPr>
          <p:spPr bwMode="auto">
            <a:xfrm>
              <a:off x="2183" y="1607"/>
              <a:ext cx="69" cy="62"/>
            </a:xfrm>
            <a:custGeom>
              <a:avLst/>
              <a:gdLst>
                <a:gd name="T0" fmla="*/ 67 w 69"/>
                <a:gd name="T1" fmla="*/ 26 h 62"/>
                <a:gd name="T2" fmla="*/ 66 w 69"/>
                <a:gd name="T3" fmla="*/ 16 h 62"/>
                <a:gd name="T4" fmla="*/ 61 w 69"/>
                <a:gd name="T5" fmla="*/ 9 h 62"/>
                <a:gd name="T6" fmla="*/ 53 w 69"/>
                <a:gd name="T7" fmla="*/ 3 h 62"/>
                <a:gd name="T8" fmla="*/ 44 w 69"/>
                <a:gd name="T9" fmla="*/ 1 h 62"/>
                <a:gd name="T10" fmla="*/ 53 w 69"/>
                <a:gd name="T11" fmla="*/ 6 h 62"/>
                <a:gd name="T12" fmla="*/ 59 w 69"/>
                <a:gd name="T13" fmla="*/ 13 h 62"/>
                <a:gd name="T14" fmla="*/ 64 w 69"/>
                <a:gd name="T15" fmla="*/ 21 h 62"/>
                <a:gd name="T16" fmla="*/ 66 w 69"/>
                <a:gd name="T17" fmla="*/ 31 h 62"/>
                <a:gd name="T18" fmla="*/ 66 w 69"/>
                <a:gd name="T19" fmla="*/ 34 h 62"/>
                <a:gd name="T20" fmla="*/ 64 w 69"/>
                <a:gd name="T21" fmla="*/ 38 h 62"/>
                <a:gd name="T22" fmla="*/ 64 w 69"/>
                <a:gd name="T23" fmla="*/ 41 h 62"/>
                <a:gd name="T24" fmla="*/ 62 w 69"/>
                <a:gd name="T25" fmla="*/ 44 h 62"/>
                <a:gd name="T26" fmla="*/ 67 w 69"/>
                <a:gd name="T27" fmla="*/ 41 h 62"/>
                <a:gd name="T28" fmla="*/ 67 w 69"/>
                <a:gd name="T29" fmla="*/ 38 h 62"/>
                <a:gd name="T30" fmla="*/ 69 w 69"/>
                <a:gd name="T31" fmla="*/ 36 h 62"/>
                <a:gd name="T32" fmla="*/ 69 w 69"/>
                <a:gd name="T33" fmla="*/ 33 h 62"/>
                <a:gd name="T34" fmla="*/ 0 w 69"/>
                <a:gd name="T35" fmla="*/ 23 h 62"/>
                <a:gd name="T36" fmla="*/ 0 w 69"/>
                <a:gd name="T37" fmla="*/ 24 h 62"/>
                <a:gd name="T38" fmla="*/ 0 w 69"/>
                <a:gd name="T39" fmla="*/ 28 h 62"/>
                <a:gd name="T40" fmla="*/ 0 w 69"/>
                <a:gd name="T41" fmla="*/ 31 h 62"/>
                <a:gd name="T42" fmla="*/ 1 w 69"/>
                <a:gd name="T43" fmla="*/ 41 h 62"/>
                <a:gd name="T44" fmla="*/ 4 w 69"/>
                <a:gd name="T45" fmla="*/ 51 h 62"/>
                <a:gd name="T46" fmla="*/ 11 w 69"/>
                <a:gd name="T47" fmla="*/ 58 h 62"/>
                <a:gd name="T48" fmla="*/ 19 w 69"/>
                <a:gd name="T49" fmla="*/ 62 h 62"/>
                <a:gd name="T50" fmla="*/ 19 w 69"/>
                <a:gd name="T51" fmla="*/ 59 h 62"/>
                <a:gd name="T52" fmla="*/ 11 w 69"/>
                <a:gd name="T53" fmla="*/ 54 h 62"/>
                <a:gd name="T54" fmla="*/ 6 w 69"/>
                <a:gd name="T55" fmla="*/ 46 h 62"/>
                <a:gd name="T56" fmla="*/ 3 w 69"/>
                <a:gd name="T57" fmla="*/ 36 h 62"/>
                <a:gd name="T58" fmla="*/ 3 w 69"/>
                <a:gd name="T59" fmla="*/ 29 h 62"/>
                <a:gd name="T60" fmla="*/ 3 w 69"/>
                <a:gd name="T61" fmla="*/ 26 h 62"/>
                <a:gd name="T62" fmla="*/ 3 w 69"/>
                <a:gd name="T63" fmla="*/ 23 h 62"/>
                <a:gd name="T64" fmla="*/ 0 w 69"/>
                <a:gd name="T65" fmla="*/ 23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9" h="62">
                  <a:moveTo>
                    <a:pt x="69" y="31"/>
                  </a:moveTo>
                  <a:lnTo>
                    <a:pt x="67" y="26"/>
                  </a:lnTo>
                  <a:lnTo>
                    <a:pt x="67" y="21"/>
                  </a:lnTo>
                  <a:lnTo>
                    <a:pt x="66" y="16"/>
                  </a:lnTo>
                  <a:lnTo>
                    <a:pt x="62" y="13"/>
                  </a:lnTo>
                  <a:lnTo>
                    <a:pt x="61" y="9"/>
                  </a:lnTo>
                  <a:lnTo>
                    <a:pt x="57" y="6"/>
                  </a:lnTo>
                  <a:lnTo>
                    <a:pt x="53" y="3"/>
                  </a:lnTo>
                  <a:lnTo>
                    <a:pt x="49" y="0"/>
                  </a:lnTo>
                  <a:lnTo>
                    <a:pt x="44" y="1"/>
                  </a:lnTo>
                  <a:lnTo>
                    <a:pt x="49" y="5"/>
                  </a:lnTo>
                  <a:lnTo>
                    <a:pt x="53" y="6"/>
                  </a:lnTo>
                  <a:lnTo>
                    <a:pt x="56" y="9"/>
                  </a:lnTo>
                  <a:lnTo>
                    <a:pt x="59" y="13"/>
                  </a:lnTo>
                  <a:lnTo>
                    <a:pt x="62" y="18"/>
                  </a:lnTo>
                  <a:lnTo>
                    <a:pt x="64" y="21"/>
                  </a:lnTo>
                  <a:lnTo>
                    <a:pt x="64" y="26"/>
                  </a:lnTo>
                  <a:lnTo>
                    <a:pt x="66" y="31"/>
                  </a:lnTo>
                  <a:lnTo>
                    <a:pt x="66" y="33"/>
                  </a:lnTo>
                  <a:lnTo>
                    <a:pt x="66" y="34"/>
                  </a:lnTo>
                  <a:lnTo>
                    <a:pt x="64" y="36"/>
                  </a:lnTo>
                  <a:lnTo>
                    <a:pt x="64" y="38"/>
                  </a:lnTo>
                  <a:lnTo>
                    <a:pt x="64" y="39"/>
                  </a:lnTo>
                  <a:lnTo>
                    <a:pt x="64" y="41"/>
                  </a:lnTo>
                  <a:lnTo>
                    <a:pt x="62" y="43"/>
                  </a:lnTo>
                  <a:lnTo>
                    <a:pt x="62" y="44"/>
                  </a:lnTo>
                  <a:lnTo>
                    <a:pt x="67" y="43"/>
                  </a:lnTo>
                  <a:lnTo>
                    <a:pt x="67" y="41"/>
                  </a:lnTo>
                  <a:lnTo>
                    <a:pt x="67" y="39"/>
                  </a:lnTo>
                  <a:lnTo>
                    <a:pt x="67" y="38"/>
                  </a:lnTo>
                  <a:lnTo>
                    <a:pt x="67" y="36"/>
                  </a:lnTo>
                  <a:lnTo>
                    <a:pt x="69" y="36"/>
                  </a:lnTo>
                  <a:lnTo>
                    <a:pt x="69" y="34"/>
                  </a:lnTo>
                  <a:lnTo>
                    <a:pt x="69" y="33"/>
                  </a:lnTo>
                  <a:lnTo>
                    <a:pt x="69" y="31"/>
                  </a:lnTo>
                  <a:close/>
                  <a:moveTo>
                    <a:pt x="0" y="23"/>
                  </a:moveTo>
                  <a:lnTo>
                    <a:pt x="0" y="23"/>
                  </a:lnTo>
                  <a:lnTo>
                    <a:pt x="0" y="24"/>
                  </a:lnTo>
                  <a:lnTo>
                    <a:pt x="0" y="26"/>
                  </a:lnTo>
                  <a:lnTo>
                    <a:pt x="0" y="28"/>
                  </a:lnTo>
                  <a:lnTo>
                    <a:pt x="0" y="29"/>
                  </a:lnTo>
                  <a:lnTo>
                    <a:pt x="0" y="31"/>
                  </a:lnTo>
                  <a:lnTo>
                    <a:pt x="0" y="36"/>
                  </a:lnTo>
                  <a:lnTo>
                    <a:pt x="1" y="41"/>
                  </a:lnTo>
                  <a:lnTo>
                    <a:pt x="3" y="46"/>
                  </a:lnTo>
                  <a:lnTo>
                    <a:pt x="4" y="51"/>
                  </a:lnTo>
                  <a:lnTo>
                    <a:pt x="8" y="54"/>
                  </a:lnTo>
                  <a:lnTo>
                    <a:pt x="11" y="58"/>
                  </a:lnTo>
                  <a:lnTo>
                    <a:pt x="16" y="61"/>
                  </a:lnTo>
                  <a:lnTo>
                    <a:pt x="19" y="62"/>
                  </a:lnTo>
                  <a:lnTo>
                    <a:pt x="24" y="61"/>
                  </a:lnTo>
                  <a:lnTo>
                    <a:pt x="19" y="59"/>
                  </a:lnTo>
                  <a:lnTo>
                    <a:pt x="16" y="58"/>
                  </a:lnTo>
                  <a:lnTo>
                    <a:pt x="11" y="54"/>
                  </a:lnTo>
                  <a:lnTo>
                    <a:pt x="8" y="49"/>
                  </a:lnTo>
                  <a:lnTo>
                    <a:pt x="6" y="46"/>
                  </a:lnTo>
                  <a:lnTo>
                    <a:pt x="4" y="41"/>
                  </a:lnTo>
                  <a:lnTo>
                    <a:pt x="3" y="36"/>
                  </a:lnTo>
                  <a:lnTo>
                    <a:pt x="3" y="31"/>
                  </a:lnTo>
                  <a:lnTo>
                    <a:pt x="3" y="29"/>
                  </a:lnTo>
                  <a:lnTo>
                    <a:pt x="3" y="28"/>
                  </a:lnTo>
                  <a:lnTo>
                    <a:pt x="3" y="26"/>
                  </a:lnTo>
                  <a:lnTo>
                    <a:pt x="3" y="24"/>
                  </a:lnTo>
                  <a:lnTo>
                    <a:pt x="3" y="23"/>
                  </a:lnTo>
                  <a:lnTo>
                    <a:pt x="4" y="21"/>
                  </a:lnTo>
                  <a:lnTo>
                    <a:pt x="0" y="23"/>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09" name="Freeform 653">
              <a:extLst>
                <a:ext uri="{FF2B5EF4-FFF2-40B4-BE49-F238E27FC236}">
                  <a16:creationId xmlns:a16="http://schemas.microsoft.com/office/drawing/2014/main" id="{A56B029E-5947-BEA0-1D0D-C130718C9783}"/>
                </a:ext>
              </a:extLst>
            </p:cNvPr>
            <p:cNvSpPr>
              <a:spLocks noEditPoints="1"/>
            </p:cNvSpPr>
            <p:nvPr/>
          </p:nvSpPr>
          <p:spPr bwMode="auto">
            <a:xfrm>
              <a:off x="2184" y="1608"/>
              <a:ext cx="66" cy="61"/>
            </a:xfrm>
            <a:custGeom>
              <a:avLst/>
              <a:gdLst>
                <a:gd name="T0" fmla="*/ 65 w 66"/>
                <a:gd name="T1" fmla="*/ 25 h 61"/>
                <a:gd name="T2" fmla="*/ 63 w 66"/>
                <a:gd name="T3" fmla="*/ 17 h 61"/>
                <a:gd name="T4" fmla="*/ 58 w 66"/>
                <a:gd name="T5" fmla="*/ 8 h 61"/>
                <a:gd name="T6" fmla="*/ 50 w 66"/>
                <a:gd name="T7" fmla="*/ 2 h 61"/>
                <a:gd name="T8" fmla="*/ 42 w 66"/>
                <a:gd name="T9" fmla="*/ 2 h 61"/>
                <a:gd name="T10" fmla="*/ 50 w 66"/>
                <a:gd name="T11" fmla="*/ 7 h 61"/>
                <a:gd name="T12" fmla="*/ 56 w 66"/>
                <a:gd name="T13" fmla="*/ 12 h 61"/>
                <a:gd name="T14" fmla="*/ 61 w 66"/>
                <a:gd name="T15" fmla="*/ 20 h 61"/>
                <a:gd name="T16" fmla="*/ 63 w 66"/>
                <a:gd name="T17" fmla="*/ 30 h 61"/>
                <a:gd name="T18" fmla="*/ 63 w 66"/>
                <a:gd name="T19" fmla="*/ 33 h 61"/>
                <a:gd name="T20" fmla="*/ 61 w 66"/>
                <a:gd name="T21" fmla="*/ 38 h 61"/>
                <a:gd name="T22" fmla="*/ 61 w 66"/>
                <a:gd name="T23" fmla="*/ 42 h 61"/>
                <a:gd name="T24" fmla="*/ 63 w 66"/>
                <a:gd name="T25" fmla="*/ 42 h 61"/>
                <a:gd name="T26" fmla="*/ 65 w 66"/>
                <a:gd name="T27" fmla="*/ 38 h 61"/>
                <a:gd name="T28" fmla="*/ 66 w 66"/>
                <a:gd name="T29" fmla="*/ 35 h 61"/>
                <a:gd name="T30" fmla="*/ 66 w 66"/>
                <a:gd name="T31" fmla="*/ 32 h 61"/>
                <a:gd name="T32" fmla="*/ 2 w 66"/>
                <a:gd name="T33" fmla="*/ 20 h 61"/>
                <a:gd name="T34" fmla="*/ 0 w 66"/>
                <a:gd name="T35" fmla="*/ 23 h 61"/>
                <a:gd name="T36" fmla="*/ 0 w 66"/>
                <a:gd name="T37" fmla="*/ 27 h 61"/>
                <a:gd name="T38" fmla="*/ 0 w 66"/>
                <a:gd name="T39" fmla="*/ 30 h 61"/>
                <a:gd name="T40" fmla="*/ 2 w 66"/>
                <a:gd name="T41" fmla="*/ 40 h 61"/>
                <a:gd name="T42" fmla="*/ 5 w 66"/>
                <a:gd name="T43" fmla="*/ 50 h 61"/>
                <a:gd name="T44" fmla="*/ 12 w 66"/>
                <a:gd name="T45" fmla="*/ 57 h 61"/>
                <a:gd name="T46" fmla="*/ 22 w 66"/>
                <a:gd name="T47" fmla="*/ 61 h 61"/>
                <a:gd name="T48" fmla="*/ 20 w 66"/>
                <a:gd name="T49" fmla="*/ 58 h 61"/>
                <a:gd name="T50" fmla="*/ 13 w 66"/>
                <a:gd name="T51" fmla="*/ 52 h 61"/>
                <a:gd name="T52" fmla="*/ 7 w 66"/>
                <a:gd name="T53" fmla="*/ 45 h 61"/>
                <a:gd name="T54" fmla="*/ 3 w 66"/>
                <a:gd name="T55" fmla="*/ 35 h 61"/>
                <a:gd name="T56" fmla="*/ 3 w 66"/>
                <a:gd name="T57" fmla="*/ 28 h 61"/>
                <a:gd name="T58" fmla="*/ 3 w 66"/>
                <a:gd name="T59" fmla="*/ 25 h 61"/>
                <a:gd name="T60" fmla="*/ 5 w 66"/>
                <a:gd name="T61" fmla="*/ 22 h 61"/>
                <a:gd name="T62" fmla="*/ 5 w 66"/>
                <a:gd name="T63" fmla="*/ 18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6" h="61">
                  <a:moveTo>
                    <a:pt x="66" y="30"/>
                  </a:moveTo>
                  <a:lnTo>
                    <a:pt x="65" y="25"/>
                  </a:lnTo>
                  <a:lnTo>
                    <a:pt x="65" y="20"/>
                  </a:lnTo>
                  <a:lnTo>
                    <a:pt x="63" y="17"/>
                  </a:lnTo>
                  <a:lnTo>
                    <a:pt x="60" y="12"/>
                  </a:lnTo>
                  <a:lnTo>
                    <a:pt x="58" y="8"/>
                  </a:lnTo>
                  <a:lnTo>
                    <a:pt x="55" y="5"/>
                  </a:lnTo>
                  <a:lnTo>
                    <a:pt x="50" y="2"/>
                  </a:lnTo>
                  <a:lnTo>
                    <a:pt x="47" y="0"/>
                  </a:lnTo>
                  <a:lnTo>
                    <a:pt x="42" y="2"/>
                  </a:lnTo>
                  <a:lnTo>
                    <a:pt x="47" y="4"/>
                  </a:lnTo>
                  <a:lnTo>
                    <a:pt x="50" y="7"/>
                  </a:lnTo>
                  <a:lnTo>
                    <a:pt x="53" y="8"/>
                  </a:lnTo>
                  <a:lnTo>
                    <a:pt x="56" y="12"/>
                  </a:lnTo>
                  <a:lnTo>
                    <a:pt x="60" y="17"/>
                  </a:lnTo>
                  <a:lnTo>
                    <a:pt x="61" y="20"/>
                  </a:lnTo>
                  <a:lnTo>
                    <a:pt x="61" y="25"/>
                  </a:lnTo>
                  <a:lnTo>
                    <a:pt x="63" y="30"/>
                  </a:lnTo>
                  <a:lnTo>
                    <a:pt x="63" y="32"/>
                  </a:lnTo>
                  <a:lnTo>
                    <a:pt x="63" y="33"/>
                  </a:lnTo>
                  <a:lnTo>
                    <a:pt x="61" y="35"/>
                  </a:lnTo>
                  <a:lnTo>
                    <a:pt x="61" y="38"/>
                  </a:lnTo>
                  <a:lnTo>
                    <a:pt x="61" y="40"/>
                  </a:lnTo>
                  <a:lnTo>
                    <a:pt x="61" y="42"/>
                  </a:lnTo>
                  <a:lnTo>
                    <a:pt x="60" y="43"/>
                  </a:lnTo>
                  <a:lnTo>
                    <a:pt x="63" y="42"/>
                  </a:lnTo>
                  <a:lnTo>
                    <a:pt x="65" y="40"/>
                  </a:lnTo>
                  <a:lnTo>
                    <a:pt x="65" y="38"/>
                  </a:lnTo>
                  <a:lnTo>
                    <a:pt x="65" y="37"/>
                  </a:lnTo>
                  <a:lnTo>
                    <a:pt x="66" y="35"/>
                  </a:lnTo>
                  <a:lnTo>
                    <a:pt x="66" y="33"/>
                  </a:lnTo>
                  <a:lnTo>
                    <a:pt x="66" y="32"/>
                  </a:lnTo>
                  <a:lnTo>
                    <a:pt x="66" y="30"/>
                  </a:lnTo>
                  <a:close/>
                  <a:moveTo>
                    <a:pt x="2" y="20"/>
                  </a:moveTo>
                  <a:lnTo>
                    <a:pt x="0" y="22"/>
                  </a:lnTo>
                  <a:lnTo>
                    <a:pt x="0" y="23"/>
                  </a:lnTo>
                  <a:lnTo>
                    <a:pt x="0" y="25"/>
                  </a:lnTo>
                  <a:lnTo>
                    <a:pt x="0" y="27"/>
                  </a:lnTo>
                  <a:lnTo>
                    <a:pt x="0" y="28"/>
                  </a:lnTo>
                  <a:lnTo>
                    <a:pt x="0" y="30"/>
                  </a:lnTo>
                  <a:lnTo>
                    <a:pt x="0" y="35"/>
                  </a:lnTo>
                  <a:lnTo>
                    <a:pt x="2" y="40"/>
                  </a:lnTo>
                  <a:lnTo>
                    <a:pt x="3" y="45"/>
                  </a:lnTo>
                  <a:lnTo>
                    <a:pt x="5" y="50"/>
                  </a:lnTo>
                  <a:lnTo>
                    <a:pt x="8" y="53"/>
                  </a:lnTo>
                  <a:lnTo>
                    <a:pt x="12" y="57"/>
                  </a:lnTo>
                  <a:lnTo>
                    <a:pt x="17" y="60"/>
                  </a:lnTo>
                  <a:lnTo>
                    <a:pt x="22" y="61"/>
                  </a:lnTo>
                  <a:lnTo>
                    <a:pt x="25" y="60"/>
                  </a:lnTo>
                  <a:lnTo>
                    <a:pt x="20" y="58"/>
                  </a:lnTo>
                  <a:lnTo>
                    <a:pt x="17" y="55"/>
                  </a:lnTo>
                  <a:lnTo>
                    <a:pt x="13" y="52"/>
                  </a:lnTo>
                  <a:lnTo>
                    <a:pt x="10" y="48"/>
                  </a:lnTo>
                  <a:lnTo>
                    <a:pt x="7" y="45"/>
                  </a:lnTo>
                  <a:lnTo>
                    <a:pt x="5" y="40"/>
                  </a:lnTo>
                  <a:lnTo>
                    <a:pt x="3" y="35"/>
                  </a:lnTo>
                  <a:lnTo>
                    <a:pt x="3" y="30"/>
                  </a:lnTo>
                  <a:lnTo>
                    <a:pt x="3" y="28"/>
                  </a:lnTo>
                  <a:lnTo>
                    <a:pt x="3" y="27"/>
                  </a:lnTo>
                  <a:lnTo>
                    <a:pt x="3" y="25"/>
                  </a:lnTo>
                  <a:lnTo>
                    <a:pt x="3" y="23"/>
                  </a:lnTo>
                  <a:lnTo>
                    <a:pt x="5" y="22"/>
                  </a:lnTo>
                  <a:lnTo>
                    <a:pt x="5" y="20"/>
                  </a:lnTo>
                  <a:lnTo>
                    <a:pt x="5" y="18"/>
                  </a:lnTo>
                  <a:lnTo>
                    <a:pt x="2" y="2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10" name="Freeform 654">
              <a:extLst>
                <a:ext uri="{FF2B5EF4-FFF2-40B4-BE49-F238E27FC236}">
                  <a16:creationId xmlns:a16="http://schemas.microsoft.com/office/drawing/2014/main" id="{AAEF59FB-5762-A843-F224-7B21FB30DB46}"/>
                </a:ext>
              </a:extLst>
            </p:cNvPr>
            <p:cNvSpPr>
              <a:spLocks noEditPoints="1"/>
            </p:cNvSpPr>
            <p:nvPr/>
          </p:nvSpPr>
          <p:spPr bwMode="auto">
            <a:xfrm>
              <a:off x="2186" y="1608"/>
              <a:ext cx="63" cy="60"/>
            </a:xfrm>
            <a:custGeom>
              <a:avLst/>
              <a:gdLst>
                <a:gd name="T0" fmla="*/ 61 w 63"/>
                <a:gd name="T1" fmla="*/ 25 h 60"/>
                <a:gd name="T2" fmla="*/ 59 w 63"/>
                <a:gd name="T3" fmla="*/ 17 h 60"/>
                <a:gd name="T4" fmla="*/ 53 w 63"/>
                <a:gd name="T5" fmla="*/ 8 h 60"/>
                <a:gd name="T6" fmla="*/ 46 w 63"/>
                <a:gd name="T7" fmla="*/ 4 h 60"/>
                <a:gd name="T8" fmla="*/ 38 w 63"/>
                <a:gd name="T9" fmla="*/ 4 h 60"/>
                <a:gd name="T10" fmla="*/ 46 w 63"/>
                <a:gd name="T11" fmla="*/ 7 h 60"/>
                <a:gd name="T12" fmla="*/ 53 w 63"/>
                <a:gd name="T13" fmla="*/ 13 h 60"/>
                <a:gd name="T14" fmla="*/ 58 w 63"/>
                <a:gd name="T15" fmla="*/ 20 h 60"/>
                <a:gd name="T16" fmla="*/ 59 w 63"/>
                <a:gd name="T17" fmla="*/ 30 h 60"/>
                <a:gd name="T18" fmla="*/ 59 w 63"/>
                <a:gd name="T19" fmla="*/ 35 h 60"/>
                <a:gd name="T20" fmla="*/ 58 w 63"/>
                <a:gd name="T21" fmla="*/ 38 h 60"/>
                <a:gd name="T22" fmla="*/ 56 w 63"/>
                <a:gd name="T23" fmla="*/ 42 h 60"/>
                <a:gd name="T24" fmla="*/ 54 w 63"/>
                <a:gd name="T25" fmla="*/ 45 h 60"/>
                <a:gd name="T26" fmla="*/ 59 w 63"/>
                <a:gd name="T27" fmla="*/ 42 h 60"/>
                <a:gd name="T28" fmla="*/ 61 w 63"/>
                <a:gd name="T29" fmla="*/ 38 h 60"/>
                <a:gd name="T30" fmla="*/ 61 w 63"/>
                <a:gd name="T31" fmla="*/ 35 h 60"/>
                <a:gd name="T32" fmla="*/ 63 w 63"/>
                <a:gd name="T33" fmla="*/ 32 h 60"/>
                <a:gd name="T34" fmla="*/ 1 w 63"/>
                <a:gd name="T35" fmla="*/ 20 h 60"/>
                <a:gd name="T36" fmla="*/ 0 w 63"/>
                <a:gd name="T37" fmla="*/ 22 h 60"/>
                <a:gd name="T38" fmla="*/ 0 w 63"/>
                <a:gd name="T39" fmla="*/ 25 h 60"/>
                <a:gd name="T40" fmla="*/ 0 w 63"/>
                <a:gd name="T41" fmla="*/ 28 h 60"/>
                <a:gd name="T42" fmla="*/ 0 w 63"/>
                <a:gd name="T43" fmla="*/ 35 h 60"/>
                <a:gd name="T44" fmla="*/ 3 w 63"/>
                <a:gd name="T45" fmla="*/ 45 h 60"/>
                <a:gd name="T46" fmla="*/ 8 w 63"/>
                <a:gd name="T47" fmla="*/ 53 h 60"/>
                <a:gd name="T48" fmla="*/ 16 w 63"/>
                <a:gd name="T49" fmla="*/ 58 h 60"/>
                <a:gd name="T50" fmla="*/ 26 w 63"/>
                <a:gd name="T51" fmla="*/ 58 h 60"/>
                <a:gd name="T52" fmla="*/ 16 w 63"/>
                <a:gd name="T53" fmla="*/ 55 h 60"/>
                <a:gd name="T54" fmla="*/ 10 w 63"/>
                <a:gd name="T55" fmla="*/ 48 h 60"/>
                <a:gd name="T56" fmla="*/ 5 w 63"/>
                <a:gd name="T57" fmla="*/ 40 h 60"/>
                <a:gd name="T58" fmla="*/ 3 w 63"/>
                <a:gd name="T59" fmla="*/ 30 h 60"/>
                <a:gd name="T60" fmla="*/ 3 w 63"/>
                <a:gd name="T61" fmla="*/ 27 h 60"/>
                <a:gd name="T62" fmla="*/ 3 w 63"/>
                <a:gd name="T63" fmla="*/ 23 h 60"/>
                <a:gd name="T64" fmla="*/ 5 w 63"/>
                <a:gd name="T65" fmla="*/ 20 h 60"/>
                <a:gd name="T66" fmla="*/ 6 w 63"/>
                <a:gd name="T67" fmla="*/ 17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3" h="60">
                  <a:moveTo>
                    <a:pt x="63" y="30"/>
                  </a:moveTo>
                  <a:lnTo>
                    <a:pt x="61" y="25"/>
                  </a:lnTo>
                  <a:lnTo>
                    <a:pt x="61" y="20"/>
                  </a:lnTo>
                  <a:lnTo>
                    <a:pt x="59" y="17"/>
                  </a:lnTo>
                  <a:lnTo>
                    <a:pt x="56" y="12"/>
                  </a:lnTo>
                  <a:lnTo>
                    <a:pt x="53" y="8"/>
                  </a:lnTo>
                  <a:lnTo>
                    <a:pt x="50" y="5"/>
                  </a:lnTo>
                  <a:lnTo>
                    <a:pt x="46" y="4"/>
                  </a:lnTo>
                  <a:lnTo>
                    <a:pt x="41" y="0"/>
                  </a:lnTo>
                  <a:lnTo>
                    <a:pt x="38" y="4"/>
                  </a:lnTo>
                  <a:lnTo>
                    <a:pt x="41" y="5"/>
                  </a:lnTo>
                  <a:lnTo>
                    <a:pt x="46" y="7"/>
                  </a:lnTo>
                  <a:lnTo>
                    <a:pt x="50" y="10"/>
                  </a:lnTo>
                  <a:lnTo>
                    <a:pt x="53" y="13"/>
                  </a:lnTo>
                  <a:lnTo>
                    <a:pt x="56" y="17"/>
                  </a:lnTo>
                  <a:lnTo>
                    <a:pt x="58" y="20"/>
                  </a:lnTo>
                  <a:lnTo>
                    <a:pt x="58" y="25"/>
                  </a:lnTo>
                  <a:lnTo>
                    <a:pt x="59" y="30"/>
                  </a:lnTo>
                  <a:lnTo>
                    <a:pt x="59" y="32"/>
                  </a:lnTo>
                  <a:lnTo>
                    <a:pt x="59" y="35"/>
                  </a:lnTo>
                  <a:lnTo>
                    <a:pt x="58" y="37"/>
                  </a:lnTo>
                  <a:lnTo>
                    <a:pt x="58" y="38"/>
                  </a:lnTo>
                  <a:lnTo>
                    <a:pt x="58" y="40"/>
                  </a:lnTo>
                  <a:lnTo>
                    <a:pt x="56" y="42"/>
                  </a:lnTo>
                  <a:lnTo>
                    <a:pt x="56" y="43"/>
                  </a:lnTo>
                  <a:lnTo>
                    <a:pt x="54" y="45"/>
                  </a:lnTo>
                  <a:lnTo>
                    <a:pt x="59" y="43"/>
                  </a:lnTo>
                  <a:lnTo>
                    <a:pt x="59" y="42"/>
                  </a:lnTo>
                  <a:lnTo>
                    <a:pt x="61" y="40"/>
                  </a:lnTo>
                  <a:lnTo>
                    <a:pt x="61" y="38"/>
                  </a:lnTo>
                  <a:lnTo>
                    <a:pt x="61" y="37"/>
                  </a:lnTo>
                  <a:lnTo>
                    <a:pt x="61" y="35"/>
                  </a:lnTo>
                  <a:lnTo>
                    <a:pt x="63" y="33"/>
                  </a:lnTo>
                  <a:lnTo>
                    <a:pt x="63" y="32"/>
                  </a:lnTo>
                  <a:lnTo>
                    <a:pt x="63" y="30"/>
                  </a:lnTo>
                  <a:close/>
                  <a:moveTo>
                    <a:pt x="1" y="20"/>
                  </a:moveTo>
                  <a:lnTo>
                    <a:pt x="1" y="20"/>
                  </a:lnTo>
                  <a:lnTo>
                    <a:pt x="0" y="22"/>
                  </a:lnTo>
                  <a:lnTo>
                    <a:pt x="0" y="23"/>
                  </a:lnTo>
                  <a:lnTo>
                    <a:pt x="0" y="25"/>
                  </a:lnTo>
                  <a:lnTo>
                    <a:pt x="0" y="27"/>
                  </a:lnTo>
                  <a:lnTo>
                    <a:pt x="0" y="28"/>
                  </a:lnTo>
                  <a:lnTo>
                    <a:pt x="0" y="30"/>
                  </a:lnTo>
                  <a:lnTo>
                    <a:pt x="0" y="35"/>
                  </a:lnTo>
                  <a:lnTo>
                    <a:pt x="1" y="40"/>
                  </a:lnTo>
                  <a:lnTo>
                    <a:pt x="3" y="45"/>
                  </a:lnTo>
                  <a:lnTo>
                    <a:pt x="5" y="48"/>
                  </a:lnTo>
                  <a:lnTo>
                    <a:pt x="8" y="53"/>
                  </a:lnTo>
                  <a:lnTo>
                    <a:pt x="13" y="57"/>
                  </a:lnTo>
                  <a:lnTo>
                    <a:pt x="16" y="58"/>
                  </a:lnTo>
                  <a:lnTo>
                    <a:pt x="21" y="60"/>
                  </a:lnTo>
                  <a:lnTo>
                    <a:pt x="26" y="58"/>
                  </a:lnTo>
                  <a:lnTo>
                    <a:pt x="21" y="57"/>
                  </a:lnTo>
                  <a:lnTo>
                    <a:pt x="16" y="55"/>
                  </a:lnTo>
                  <a:lnTo>
                    <a:pt x="13" y="52"/>
                  </a:lnTo>
                  <a:lnTo>
                    <a:pt x="10" y="48"/>
                  </a:lnTo>
                  <a:lnTo>
                    <a:pt x="6" y="45"/>
                  </a:lnTo>
                  <a:lnTo>
                    <a:pt x="5" y="40"/>
                  </a:lnTo>
                  <a:lnTo>
                    <a:pt x="3" y="35"/>
                  </a:lnTo>
                  <a:lnTo>
                    <a:pt x="3" y="30"/>
                  </a:lnTo>
                  <a:lnTo>
                    <a:pt x="3" y="28"/>
                  </a:lnTo>
                  <a:lnTo>
                    <a:pt x="3" y="27"/>
                  </a:lnTo>
                  <a:lnTo>
                    <a:pt x="3" y="25"/>
                  </a:lnTo>
                  <a:lnTo>
                    <a:pt x="3" y="23"/>
                  </a:lnTo>
                  <a:lnTo>
                    <a:pt x="3" y="22"/>
                  </a:lnTo>
                  <a:lnTo>
                    <a:pt x="5" y="20"/>
                  </a:lnTo>
                  <a:lnTo>
                    <a:pt x="5" y="18"/>
                  </a:lnTo>
                  <a:lnTo>
                    <a:pt x="6" y="17"/>
                  </a:lnTo>
                  <a:lnTo>
                    <a:pt x="1" y="2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11" name="Freeform 655">
              <a:extLst>
                <a:ext uri="{FF2B5EF4-FFF2-40B4-BE49-F238E27FC236}">
                  <a16:creationId xmlns:a16="http://schemas.microsoft.com/office/drawing/2014/main" id="{2EBD504C-F086-30D4-A2EF-C84F79A8CACF}"/>
                </a:ext>
              </a:extLst>
            </p:cNvPr>
            <p:cNvSpPr>
              <a:spLocks noEditPoints="1"/>
            </p:cNvSpPr>
            <p:nvPr/>
          </p:nvSpPr>
          <p:spPr bwMode="auto">
            <a:xfrm>
              <a:off x="2187" y="1610"/>
              <a:ext cx="60" cy="58"/>
            </a:xfrm>
            <a:custGeom>
              <a:avLst/>
              <a:gdLst>
                <a:gd name="T0" fmla="*/ 58 w 60"/>
                <a:gd name="T1" fmla="*/ 23 h 58"/>
                <a:gd name="T2" fmla="*/ 57 w 60"/>
                <a:gd name="T3" fmla="*/ 15 h 58"/>
                <a:gd name="T4" fmla="*/ 50 w 60"/>
                <a:gd name="T5" fmla="*/ 6 h 58"/>
                <a:gd name="T6" fmla="*/ 44 w 60"/>
                <a:gd name="T7" fmla="*/ 2 h 58"/>
                <a:gd name="T8" fmla="*/ 34 w 60"/>
                <a:gd name="T9" fmla="*/ 2 h 58"/>
                <a:gd name="T10" fmla="*/ 44 w 60"/>
                <a:gd name="T11" fmla="*/ 5 h 58"/>
                <a:gd name="T12" fmla="*/ 50 w 60"/>
                <a:gd name="T13" fmla="*/ 11 h 58"/>
                <a:gd name="T14" fmla="*/ 55 w 60"/>
                <a:gd name="T15" fmla="*/ 18 h 58"/>
                <a:gd name="T16" fmla="*/ 57 w 60"/>
                <a:gd name="T17" fmla="*/ 28 h 58"/>
                <a:gd name="T18" fmla="*/ 55 w 60"/>
                <a:gd name="T19" fmla="*/ 33 h 58"/>
                <a:gd name="T20" fmla="*/ 55 w 60"/>
                <a:gd name="T21" fmla="*/ 36 h 58"/>
                <a:gd name="T22" fmla="*/ 53 w 60"/>
                <a:gd name="T23" fmla="*/ 41 h 58"/>
                <a:gd name="T24" fmla="*/ 50 w 60"/>
                <a:gd name="T25" fmla="*/ 45 h 58"/>
                <a:gd name="T26" fmla="*/ 58 w 60"/>
                <a:gd name="T27" fmla="*/ 40 h 58"/>
                <a:gd name="T28" fmla="*/ 58 w 60"/>
                <a:gd name="T29" fmla="*/ 36 h 58"/>
                <a:gd name="T30" fmla="*/ 60 w 60"/>
                <a:gd name="T31" fmla="*/ 31 h 58"/>
                <a:gd name="T32" fmla="*/ 60 w 60"/>
                <a:gd name="T33" fmla="*/ 28 h 58"/>
                <a:gd name="T34" fmla="*/ 2 w 60"/>
                <a:gd name="T35" fmla="*/ 18 h 58"/>
                <a:gd name="T36" fmla="*/ 0 w 60"/>
                <a:gd name="T37" fmla="*/ 21 h 58"/>
                <a:gd name="T38" fmla="*/ 0 w 60"/>
                <a:gd name="T39" fmla="*/ 25 h 58"/>
                <a:gd name="T40" fmla="*/ 0 w 60"/>
                <a:gd name="T41" fmla="*/ 28 h 58"/>
                <a:gd name="T42" fmla="*/ 2 w 60"/>
                <a:gd name="T43" fmla="*/ 38 h 58"/>
                <a:gd name="T44" fmla="*/ 7 w 60"/>
                <a:gd name="T45" fmla="*/ 46 h 58"/>
                <a:gd name="T46" fmla="*/ 14 w 60"/>
                <a:gd name="T47" fmla="*/ 53 h 58"/>
                <a:gd name="T48" fmla="*/ 22 w 60"/>
                <a:gd name="T49" fmla="*/ 58 h 58"/>
                <a:gd name="T50" fmla="*/ 24 w 60"/>
                <a:gd name="T51" fmla="*/ 55 h 58"/>
                <a:gd name="T52" fmla="*/ 14 w 60"/>
                <a:gd name="T53" fmla="*/ 50 h 58"/>
                <a:gd name="T54" fmla="*/ 7 w 60"/>
                <a:gd name="T55" fmla="*/ 43 h 58"/>
                <a:gd name="T56" fmla="*/ 4 w 60"/>
                <a:gd name="T57" fmla="*/ 33 h 58"/>
                <a:gd name="T58" fmla="*/ 4 w 60"/>
                <a:gd name="T59" fmla="*/ 26 h 58"/>
                <a:gd name="T60" fmla="*/ 4 w 60"/>
                <a:gd name="T61" fmla="*/ 23 h 58"/>
                <a:gd name="T62" fmla="*/ 5 w 60"/>
                <a:gd name="T63" fmla="*/ 20 h 58"/>
                <a:gd name="T64" fmla="*/ 7 w 60"/>
                <a:gd name="T65" fmla="*/ 16 h 58"/>
                <a:gd name="T66" fmla="*/ 2 w 60"/>
                <a:gd name="T67" fmla="*/ 16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0" h="58">
                  <a:moveTo>
                    <a:pt x="60" y="28"/>
                  </a:moveTo>
                  <a:lnTo>
                    <a:pt x="58" y="23"/>
                  </a:lnTo>
                  <a:lnTo>
                    <a:pt x="58" y="18"/>
                  </a:lnTo>
                  <a:lnTo>
                    <a:pt x="57" y="15"/>
                  </a:lnTo>
                  <a:lnTo>
                    <a:pt x="53" y="10"/>
                  </a:lnTo>
                  <a:lnTo>
                    <a:pt x="50" y="6"/>
                  </a:lnTo>
                  <a:lnTo>
                    <a:pt x="47" y="5"/>
                  </a:lnTo>
                  <a:lnTo>
                    <a:pt x="44" y="2"/>
                  </a:lnTo>
                  <a:lnTo>
                    <a:pt x="39" y="0"/>
                  </a:lnTo>
                  <a:lnTo>
                    <a:pt x="34" y="2"/>
                  </a:lnTo>
                  <a:lnTo>
                    <a:pt x="39" y="3"/>
                  </a:lnTo>
                  <a:lnTo>
                    <a:pt x="44" y="5"/>
                  </a:lnTo>
                  <a:lnTo>
                    <a:pt x="47" y="8"/>
                  </a:lnTo>
                  <a:lnTo>
                    <a:pt x="50" y="11"/>
                  </a:lnTo>
                  <a:lnTo>
                    <a:pt x="52" y="15"/>
                  </a:lnTo>
                  <a:lnTo>
                    <a:pt x="55" y="18"/>
                  </a:lnTo>
                  <a:lnTo>
                    <a:pt x="55" y="23"/>
                  </a:lnTo>
                  <a:lnTo>
                    <a:pt x="57" y="28"/>
                  </a:lnTo>
                  <a:lnTo>
                    <a:pt x="57" y="31"/>
                  </a:lnTo>
                  <a:lnTo>
                    <a:pt x="55" y="33"/>
                  </a:lnTo>
                  <a:lnTo>
                    <a:pt x="55" y="35"/>
                  </a:lnTo>
                  <a:lnTo>
                    <a:pt x="55" y="36"/>
                  </a:lnTo>
                  <a:lnTo>
                    <a:pt x="53" y="40"/>
                  </a:lnTo>
                  <a:lnTo>
                    <a:pt x="53" y="41"/>
                  </a:lnTo>
                  <a:lnTo>
                    <a:pt x="52" y="43"/>
                  </a:lnTo>
                  <a:lnTo>
                    <a:pt x="50" y="45"/>
                  </a:lnTo>
                  <a:lnTo>
                    <a:pt x="57" y="41"/>
                  </a:lnTo>
                  <a:lnTo>
                    <a:pt x="58" y="40"/>
                  </a:lnTo>
                  <a:lnTo>
                    <a:pt x="58" y="38"/>
                  </a:lnTo>
                  <a:lnTo>
                    <a:pt x="58" y="36"/>
                  </a:lnTo>
                  <a:lnTo>
                    <a:pt x="58" y="33"/>
                  </a:lnTo>
                  <a:lnTo>
                    <a:pt x="60" y="31"/>
                  </a:lnTo>
                  <a:lnTo>
                    <a:pt x="60" y="30"/>
                  </a:lnTo>
                  <a:lnTo>
                    <a:pt x="60" y="28"/>
                  </a:lnTo>
                  <a:close/>
                  <a:moveTo>
                    <a:pt x="2" y="16"/>
                  </a:moveTo>
                  <a:lnTo>
                    <a:pt x="2" y="18"/>
                  </a:lnTo>
                  <a:lnTo>
                    <a:pt x="2" y="20"/>
                  </a:lnTo>
                  <a:lnTo>
                    <a:pt x="0" y="21"/>
                  </a:lnTo>
                  <a:lnTo>
                    <a:pt x="0" y="23"/>
                  </a:lnTo>
                  <a:lnTo>
                    <a:pt x="0" y="25"/>
                  </a:lnTo>
                  <a:lnTo>
                    <a:pt x="0" y="26"/>
                  </a:lnTo>
                  <a:lnTo>
                    <a:pt x="0" y="28"/>
                  </a:lnTo>
                  <a:lnTo>
                    <a:pt x="0" y="33"/>
                  </a:lnTo>
                  <a:lnTo>
                    <a:pt x="2" y="38"/>
                  </a:lnTo>
                  <a:lnTo>
                    <a:pt x="4" y="43"/>
                  </a:lnTo>
                  <a:lnTo>
                    <a:pt x="7" y="46"/>
                  </a:lnTo>
                  <a:lnTo>
                    <a:pt x="10" y="50"/>
                  </a:lnTo>
                  <a:lnTo>
                    <a:pt x="14" y="53"/>
                  </a:lnTo>
                  <a:lnTo>
                    <a:pt x="17" y="56"/>
                  </a:lnTo>
                  <a:lnTo>
                    <a:pt x="22" y="58"/>
                  </a:lnTo>
                  <a:lnTo>
                    <a:pt x="29" y="55"/>
                  </a:lnTo>
                  <a:lnTo>
                    <a:pt x="24" y="55"/>
                  </a:lnTo>
                  <a:lnTo>
                    <a:pt x="19" y="53"/>
                  </a:lnTo>
                  <a:lnTo>
                    <a:pt x="14" y="50"/>
                  </a:lnTo>
                  <a:lnTo>
                    <a:pt x="10" y="46"/>
                  </a:lnTo>
                  <a:lnTo>
                    <a:pt x="7" y="43"/>
                  </a:lnTo>
                  <a:lnTo>
                    <a:pt x="5" y="38"/>
                  </a:lnTo>
                  <a:lnTo>
                    <a:pt x="4" y="33"/>
                  </a:lnTo>
                  <a:lnTo>
                    <a:pt x="4" y="28"/>
                  </a:lnTo>
                  <a:lnTo>
                    <a:pt x="4" y="26"/>
                  </a:lnTo>
                  <a:lnTo>
                    <a:pt x="4" y="25"/>
                  </a:lnTo>
                  <a:lnTo>
                    <a:pt x="4" y="23"/>
                  </a:lnTo>
                  <a:lnTo>
                    <a:pt x="4" y="21"/>
                  </a:lnTo>
                  <a:lnTo>
                    <a:pt x="5" y="20"/>
                  </a:lnTo>
                  <a:lnTo>
                    <a:pt x="5" y="18"/>
                  </a:lnTo>
                  <a:lnTo>
                    <a:pt x="7" y="16"/>
                  </a:lnTo>
                  <a:lnTo>
                    <a:pt x="7" y="15"/>
                  </a:lnTo>
                  <a:lnTo>
                    <a:pt x="2" y="16"/>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12" name="Freeform 656">
              <a:extLst>
                <a:ext uri="{FF2B5EF4-FFF2-40B4-BE49-F238E27FC236}">
                  <a16:creationId xmlns:a16="http://schemas.microsoft.com/office/drawing/2014/main" id="{62C94B18-4818-4041-C575-474703B1B235}"/>
                </a:ext>
              </a:extLst>
            </p:cNvPr>
            <p:cNvSpPr>
              <a:spLocks noEditPoints="1"/>
            </p:cNvSpPr>
            <p:nvPr/>
          </p:nvSpPr>
          <p:spPr bwMode="auto">
            <a:xfrm>
              <a:off x="2189" y="1612"/>
              <a:ext cx="56" cy="54"/>
            </a:xfrm>
            <a:custGeom>
              <a:avLst/>
              <a:gdLst>
                <a:gd name="T0" fmla="*/ 55 w 56"/>
                <a:gd name="T1" fmla="*/ 21 h 54"/>
                <a:gd name="T2" fmla="*/ 53 w 56"/>
                <a:gd name="T3" fmla="*/ 13 h 54"/>
                <a:gd name="T4" fmla="*/ 47 w 56"/>
                <a:gd name="T5" fmla="*/ 6 h 54"/>
                <a:gd name="T6" fmla="*/ 38 w 56"/>
                <a:gd name="T7" fmla="*/ 1 h 54"/>
                <a:gd name="T8" fmla="*/ 28 w 56"/>
                <a:gd name="T9" fmla="*/ 1 h 54"/>
                <a:gd name="T10" fmla="*/ 38 w 56"/>
                <a:gd name="T11" fmla="*/ 4 h 54"/>
                <a:gd name="T12" fmla="*/ 47 w 56"/>
                <a:gd name="T13" fmla="*/ 9 h 54"/>
                <a:gd name="T14" fmla="*/ 51 w 56"/>
                <a:gd name="T15" fmla="*/ 16 h 54"/>
                <a:gd name="T16" fmla="*/ 53 w 56"/>
                <a:gd name="T17" fmla="*/ 26 h 54"/>
                <a:gd name="T18" fmla="*/ 51 w 56"/>
                <a:gd name="T19" fmla="*/ 31 h 54"/>
                <a:gd name="T20" fmla="*/ 50 w 56"/>
                <a:gd name="T21" fmla="*/ 36 h 54"/>
                <a:gd name="T22" fmla="*/ 48 w 56"/>
                <a:gd name="T23" fmla="*/ 41 h 54"/>
                <a:gd name="T24" fmla="*/ 45 w 56"/>
                <a:gd name="T25" fmla="*/ 44 h 54"/>
                <a:gd name="T26" fmla="*/ 53 w 56"/>
                <a:gd name="T27" fmla="*/ 39 h 54"/>
                <a:gd name="T28" fmla="*/ 55 w 56"/>
                <a:gd name="T29" fmla="*/ 36 h 54"/>
                <a:gd name="T30" fmla="*/ 55 w 56"/>
                <a:gd name="T31" fmla="*/ 33 h 54"/>
                <a:gd name="T32" fmla="*/ 56 w 56"/>
                <a:gd name="T33" fmla="*/ 28 h 54"/>
                <a:gd name="T34" fmla="*/ 3 w 56"/>
                <a:gd name="T35" fmla="*/ 13 h 54"/>
                <a:gd name="T36" fmla="*/ 2 w 56"/>
                <a:gd name="T37" fmla="*/ 16 h 54"/>
                <a:gd name="T38" fmla="*/ 0 w 56"/>
                <a:gd name="T39" fmla="*/ 19 h 54"/>
                <a:gd name="T40" fmla="*/ 0 w 56"/>
                <a:gd name="T41" fmla="*/ 23 h 54"/>
                <a:gd name="T42" fmla="*/ 0 w 56"/>
                <a:gd name="T43" fmla="*/ 26 h 54"/>
                <a:gd name="T44" fmla="*/ 2 w 56"/>
                <a:gd name="T45" fmla="*/ 36 h 54"/>
                <a:gd name="T46" fmla="*/ 7 w 56"/>
                <a:gd name="T47" fmla="*/ 44 h 54"/>
                <a:gd name="T48" fmla="*/ 13 w 56"/>
                <a:gd name="T49" fmla="*/ 51 h 54"/>
                <a:gd name="T50" fmla="*/ 23 w 56"/>
                <a:gd name="T51" fmla="*/ 54 h 54"/>
                <a:gd name="T52" fmla="*/ 28 w 56"/>
                <a:gd name="T53" fmla="*/ 51 h 54"/>
                <a:gd name="T54" fmla="*/ 18 w 56"/>
                <a:gd name="T55" fmla="*/ 49 h 54"/>
                <a:gd name="T56" fmla="*/ 10 w 56"/>
                <a:gd name="T57" fmla="*/ 44 h 54"/>
                <a:gd name="T58" fmla="*/ 5 w 56"/>
                <a:gd name="T59" fmla="*/ 36 h 54"/>
                <a:gd name="T60" fmla="*/ 3 w 56"/>
                <a:gd name="T61" fmla="*/ 26 h 54"/>
                <a:gd name="T62" fmla="*/ 3 w 56"/>
                <a:gd name="T63" fmla="*/ 23 h 54"/>
                <a:gd name="T64" fmla="*/ 5 w 56"/>
                <a:gd name="T65" fmla="*/ 18 h 54"/>
                <a:gd name="T66" fmla="*/ 7 w 56"/>
                <a:gd name="T67" fmla="*/ 14 h 54"/>
                <a:gd name="T68" fmla="*/ 8 w 56"/>
                <a:gd name="T69" fmla="*/ 11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 h="54">
                  <a:moveTo>
                    <a:pt x="56" y="26"/>
                  </a:moveTo>
                  <a:lnTo>
                    <a:pt x="55" y="21"/>
                  </a:lnTo>
                  <a:lnTo>
                    <a:pt x="55" y="16"/>
                  </a:lnTo>
                  <a:lnTo>
                    <a:pt x="53" y="13"/>
                  </a:lnTo>
                  <a:lnTo>
                    <a:pt x="50" y="9"/>
                  </a:lnTo>
                  <a:lnTo>
                    <a:pt x="47" y="6"/>
                  </a:lnTo>
                  <a:lnTo>
                    <a:pt x="43" y="3"/>
                  </a:lnTo>
                  <a:lnTo>
                    <a:pt x="38" y="1"/>
                  </a:lnTo>
                  <a:lnTo>
                    <a:pt x="35" y="0"/>
                  </a:lnTo>
                  <a:lnTo>
                    <a:pt x="28" y="1"/>
                  </a:lnTo>
                  <a:lnTo>
                    <a:pt x="33" y="3"/>
                  </a:lnTo>
                  <a:lnTo>
                    <a:pt x="38" y="4"/>
                  </a:lnTo>
                  <a:lnTo>
                    <a:pt x="42" y="6"/>
                  </a:lnTo>
                  <a:lnTo>
                    <a:pt x="47" y="9"/>
                  </a:lnTo>
                  <a:lnTo>
                    <a:pt x="48" y="13"/>
                  </a:lnTo>
                  <a:lnTo>
                    <a:pt x="51" y="16"/>
                  </a:lnTo>
                  <a:lnTo>
                    <a:pt x="51" y="21"/>
                  </a:lnTo>
                  <a:lnTo>
                    <a:pt x="53" y="26"/>
                  </a:lnTo>
                  <a:lnTo>
                    <a:pt x="53" y="29"/>
                  </a:lnTo>
                  <a:lnTo>
                    <a:pt x="51" y="31"/>
                  </a:lnTo>
                  <a:lnTo>
                    <a:pt x="51" y="34"/>
                  </a:lnTo>
                  <a:lnTo>
                    <a:pt x="50" y="36"/>
                  </a:lnTo>
                  <a:lnTo>
                    <a:pt x="50" y="38"/>
                  </a:lnTo>
                  <a:lnTo>
                    <a:pt x="48" y="41"/>
                  </a:lnTo>
                  <a:lnTo>
                    <a:pt x="47" y="43"/>
                  </a:lnTo>
                  <a:lnTo>
                    <a:pt x="45" y="44"/>
                  </a:lnTo>
                  <a:lnTo>
                    <a:pt x="51" y="41"/>
                  </a:lnTo>
                  <a:lnTo>
                    <a:pt x="53" y="39"/>
                  </a:lnTo>
                  <a:lnTo>
                    <a:pt x="53" y="38"/>
                  </a:lnTo>
                  <a:lnTo>
                    <a:pt x="55" y="36"/>
                  </a:lnTo>
                  <a:lnTo>
                    <a:pt x="55" y="34"/>
                  </a:lnTo>
                  <a:lnTo>
                    <a:pt x="55" y="33"/>
                  </a:lnTo>
                  <a:lnTo>
                    <a:pt x="56" y="31"/>
                  </a:lnTo>
                  <a:lnTo>
                    <a:pt x="56" y="28"/>
                  </a:lnTo>
                  <a:lnTo>
                    <a:pt x="56" y="26"/>
                  </a:lnTo>
                  <a:close/>
                  <a:moveTo>
                    <a:pt x="3" y="13"/>
                  </a:moveTo>
                  <a:lnTo>
                    <a:pt x="2" y="14"/>
                  </a:lnTo>
                  <a:lnTo>
                    <a:pt x="2" y="16"/>
                  </a:lnTo>
                  <a:lnTo>
                    <a:pt x="0" y="18"/>
                  </a:lnTo>
                  <a:lnTo>
                    <a:pt x="0" y="19"/>
                  </a:lnTo>
                  <a:lnTo>
                    <a:pt x="0" y="21"/>
                  </a:lnTo>
                  <a:lnTo>
                    <a:pt x="0" y="23"/>
                  </a:lnTo>
                  <a:lnTo>
                    <a:pt x="0" y="24"/>
                  </a:lnTo>
                  <a:lnTo>
                    <a:pt x="0" y="26"/>
                  </a:lnTo>
                  <a:lnTo>
                    <a:pt x="0" y="31"/>
                  </a:lnTo>
                  <a:lnTo>
                    <a:pt x="2" y="36"/>
                  </a:lnTo>
                  <a:lnTo>
                    <a:pt x="3" y="41"/>
                  </a:lnTo>
                  <a:lnTo>
                    <a:pt x="7" y="44"/>
                  </a:lnTo>
                  <a:lnTo>
                    <a:pt x="10" y="48"/>
                  </a:lnTo>
                  <a:lnTo>
                    <a:pt x="13" y="51"/>
                  </a:lnTo>
                  <a:lnTo>
                    <a:pt x="18" y="53"/>
                  </a:lnTo>
                  <a:lnTo>
                    <a:pt x="23" y="54"/>
                  </a:lnTo>
                  <a:lnTo>
                    <a:pt x="30" y="51"/>
                  </a:lnTo>
                  <a:lnTo>
                    <a:pt x="28" y="51"/>
                  </a:lnTo>
                  <a:lnTo>
                    <a:pt x="23" y="51"/>
                  </a:lnTo>
                  <a:lnTo>
                    <a:pt x="18" y="49"/>
                  </a:lnTo>
                  <a:lnTo>
                    <a:pt x="13" y="48"/>
                  </a:lnTo>
                  <a:lnTo>
                    <a:pt x="10" y="44"/>
                  </a:lnTo>
                  <a:lnTo>
                    <a:pt x="7" y="41"/>
                  </a:lnTo>
                  <a:lnTo>
                    <a:pt x="5" y="36"/>
                  </a:lnTo>
                  <a:lnTo>
                    <a:pt x="3" y="31"/>
                  </a:lnTo>
                  <a:lnTo>
                    <a:pt x="3" y="26"/>
                  </a:lnTo>
                  <a:lnTo>
                    <a:pt x="3" y="24"/>
                  </a:lnTo>
                  <a:lnTo>
                    <a:pt x="3" y="23"/>
                  </a:lnTo>
                  <a:lnTo>
                    <a:pt x="3" y="19"/>
                  </a:lnTo>
                  <a:lnTo>
                    <a:pt x="5" y="18"/>
                  </a:lnTo>
                  <a:lnTo>
                    <a:pt x="5" y="16"/>
                  </a:lnTo>
                  <a:lnTo>
                    <a:pt x="7" y="14"/>
                  </a:lnTo>
                  <a:lnTo>
                    <a:pt x="7" y="13"/>
                  </a:lnTo>
                  <a:lnTo>
                    <a:pt x="8" y="11"/>
                  </a:lnTo>
                  <a:lnTo>
                    <a:pt x="3" y="13"/>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13" name="Freeform 657">
              <a:extLst>
                <a:ext uri="{FF2B5EF4-FFF2-40B4-BE49-F238E27FC236}">
                  <a16:creationId xmlns:a16="http://schemas.microsoft.com/office/drawing/2014/main" id="{76EF731D-822A-7AE7-8695-60DADFA58857}"/>
                </a:ext>
              </a:extLst>
            </p:cNvPr>
            <p:cNvSpPr>
              <a:spLocks/>
            </p:cNvSpPr>
            <p:nvPr/>
          </p:nvSpPr>
          <p:spPr bwMode="auto">
            <a:xfrm>
              <a:off x="2191" y="1612"/>
              <a:ext cx="53" cy="53"/>
            </a:xfrm>
            <a:custGeom>
              <a:avLst/>
              <a:gdLst>
                <a:gd name="T0" fmla="*/ 51 w 53"/>
                <a:gd name="T1" fmla="*/ 21 h 53"/>
                <a:gd name="T2" fmla="*/ 48 w 53"/>
                <a:gd name="T3" fmla="*/ 13 h 53"/>
                <a:gd name="T4" fmla="*/ 43 w 53"/>
                <a:gd name="T5" fmla="*/ 6 h 53"/>
                <a:gd name="T6" fmla="*/ 35 w 53"/>
                <a:gd name="T7" fmla="*/ 1 h 53"/>
                <a:gd name="T8" fmla="*/ 23 w 53"/>
                <a:gd name="T9" fmla="*/ 3 h 53"/>
                <a:gd name="T10" fmla="*/ 26 w 53"/>
                <a:gd name="T11" fmla="*/ 3 h 53"/>
                <a:gd name="T12" fmla="*/ 35 w 53"/>
                <a:gd name="T13" fmla="*/ 4 h 53"/>
                <a:gd name="T14" fmla="*/ 43 w 53"/>
                <a:gd name="T15" fmla="*/ 9 h 53"/>
                <a:gd name="T16" fmla="*/ 48 w 53"/>
                <a:gd name="T17" fmla="*/ 18 h 53"/>
                <a:gd name="T18" fmla="*/ 49 w 53"/>
                <a:gd name="T19" fmla="*/ 26 h 53"/>
                <a:gd name="T20" fmla="*/ 48 w 53"/>
                <a:gd name="T21" fmla="*/ 36 h 53"/>
                <a:gd name="T22" fmla="*/ 43 w 53"/>
                <a:gd name="T23" fmla="*/ 43 h 53"/>
                <a:gd name="T24" fmla="*/ 35 w 53"/>
                <a:gd name="T25" fmla="*/ 48 h 53"/>
                <a:gd name="T26" fmla="*/ 26 w 53"/>
                <a:gd name="T27" fmla="*/ 49 h 53"/>
                <a:gd name="T28" fmla="*/ 16 w 53"/>
                <a:gd name="T29" fmla="*/ 48 h 53"/>
                <a:gd name="T30" fmla="*/ 10 w 53"/>
                <a:gd name="T31" fmla="*/ 43 h 53"/>
                <a:gd name="T32" fmla="*/ 5 w 53"/>
                <a:gd name="T33" fmla="*/ 36 h 53"/>
                <a:gd name="T34" fmla="*/ 3 w 53"/>
                <a:gd name="T35" fmla="*/ 26 h 53"/>
                <a:gd name="T36" fmla="*/ 3 w 53"/>
                <a:gd name="T37" fmla="*/ 21 h 53"/>
                <a:gd name="T38" fmla="*/ 5 w 53"/>
                <a:gd name="T39" fmla="*/ 16 h 53"/>
                <a:gd name="T40" fmla="*/ 6 w 53"/>
                <a:gd name="T41" fmla="*/ 13 h 53"/>
                <a:gd name="T42" fmla="*/ 10 w 53"/>
                <a:gd name="T43" fmla="*/ 9 h 53"/>
                <a:gd name="T44" fmla="*/ 3 w 53"/>
                <a:gd name="T45" fmla="*/ 14 h 53"/>
                <a:gd name="T46" fmla="*/ 1 w 53"/>
                <a:gd name="T47" fmla="*/ 18 h 53"/>
                <a:gd name="T48" fmla="*/ 0 w 53"/>
                <a:gd name="T49" fmla="*/ 21 h 53"/>
                <a:gd name="T50" fmla="*/ 0 w 53"/>
                <a:gd name="T51" fmla="*/ 24 h 53"/>
                <a:gd name="T52" fmla="*/ 0 w 53"/>
                <a:gd name="T53" fmla="*/ 31 h 53"/>
                <a:gd name="T54" fmla="*/ 3 w 53"/>
                <a:gd name="T55" fmla="*/ 41 h 53"/>
                <a:gd name="T56" fmla="*/ 10 w 53"/>
                <a:gd name="T57" fmla="*/ 48 h 53"/>
                <a:gd name="T58" fmla="*/ 20 w 53"/>
                <a:gd name="T59" fmla="*/ 53 h 53"/>
                <a:gd name="T60" fmla="*/ 46 w 53"/>
                <a:gd name="T61" fmla="*/ 43 h 53"/>
                <a:gd name="T62" fmla="*/ 49 w 53"/>
                <a:gd name="T63" fmla="*/ 39 h 53"/>
                <a:gd name="T64" fmla="*/ 51 w 53"/>
                <a:gd name="T65" fmla="*/ 34 h 53"/>
                <a:gd name="T66" fmla="*/ 51 w 53"/>
                <a:gd name="T67" fmla="*/ 31 h 53"/>
                <a:gd name="T68" fmla="*/ 53 w 53"/>
                <a:gd name="T69" fmla="*/ 26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 h="53">
                  <a:moveTo>
                    <a:pt x="53" y="26"/>
                  </a:moveTo>
                  <a:lnTo>
                    <a:pt x="51" y="21"/>
                  </a:lnTo>
                  <a:lnTo>
                    <a:pt x="51" y="16"/>
                  </a:lnTo>
                  <a:lnTo>
                    <a:pt x="48" y="13"/>
                  </a:lnTo>
                  <a:lnTo>
                    <a:pt x="46" y="9"/>
                  </a:lnTo>
                  <a:lnTo>
                    <a:pt x="43" y="6"/>
                  </a:lnTo>
                  <a:lnTo>
                    <a:pt x="40" y="3"/>
                  </a:lnTo>
                  <a:lnTo>
                    <a:pt x="35" y="1"/>
                  </a:lnTo>
                  <a:lnTo>
                    <a:pt x="30" y="0"/>
                  </a:lnTo>
                  <a:lnTo>
                    <a:pt x="23" y="3"/>
                  </a:lnTo>
                  <a:lnTo>
                    <a:pt x="25" y="3"/>
                  </a:lnTo>
                  <a:lnTo>
                    <a:pt x="26" y="3"/>
                  </a:lnTo>
                  <a:lnTo>
                    <a:pt x="31" y="3"/>
                  </a:lnTo>
                  <a:lnTo>
                    <a:pt x="35" y="4"/>
                  </a:lnTo>
                  <a:lnTo>
                    <a:pt x="40" y="8"/>
                  </a:lnTo>
                  <a:lnTo>
                    <a:pt x="43" y="9"/>
                  </a:lnTo>
                  <a:lnTo>
                    <a:pt x="45" y="13"/>
                  </a:lnTo>
                  <a:lnTo>
                    <a:pt x="48" y="18"/>
                  </a:lnTo>
                  <a:lnTo>
                    <a:pt x="48" y="21"/>
                  </a:lnTo>
                  <a:lnTo>
                    <a:pt x="49" y="26"/>
                  </a:lnTo>
                  <a:lnTo>
                    <a:pt x="48" y="31"/>
                  </a:lnTo>
                  <a:lnTo>
                    <a:pt x="48" y="36"/>
                  </a:lnTo>
                  <a:lnTo>
                    <a:pt x="45" y="39"/>
                  </a:lnTo>
                  <a:lnTo>
                    <a:pt x="43" y="43"/>
                  </a:lnTo>
                  <a:lnTo>
                    <a:pt x="40" y="46"/>
                  </a:lnTo>
                  <a:lnTo>
                    <a:pt x="35" y="48"/>
                  </a:lnTo>
                  <a:lnTo>
                    <a:pt x="31" y="49"/>
                  </a:lnTo>
                  <a:lnTo>
                    <a:pt x="26" y="49"/>
                  </a:lnTo>
                  <a:lnTo>
                    <a:pt x="21" y="49"/>
                  </a:lnTo>
                  <a:lnTo>
                    <a:pt x="16" y="48"/>
                  </a:lnTo>
                  <a:lnTo>
                    <a:pt x="13" y="46"/>
                  </a:lnTo>
                  <a:lnTo>
                    <a:pt x="10" y="43"/>
                  </a:lnTo>
                  <a:lnTo>
                    <a:pt x="6" y="39"/>
                  </a:lnTo>
                  <a:lnTo>
                    <a:pt x="5" y="36"/>
                  </a:lnTo>
                  <a:lnTo>
                    <a:pt x="3" y="31"/>
                  </a:lnTo>
                  <a:lnTo>
                    <a:pt x="3" y="26"/>
                  </a:lnTo>
                  <a:lnTo>
                    <a:pt x="3" y="24"/>
                  </a:lnTo>
                  <a:lnTo>
                    <a:pt x="3" y="21"/>
                  </a:lnTo>
                  <a:lnTo>
                    <a:pt x="3" y="19"/>
                  </a:lnTo>
                  <a:lnTo>
                    <a:pt x="5" y="16"/>
                  </a:lnTo>
                  <a:lnTo>
                    <a:pt x="6" y="14"/>
                  </a:lnTo>
                  <a:lnTo>
                    <a:pt x="6" y="13"/>
                  </a:lnTo>
                  <a:lnTo>
                    <a:pt x="8" y="11"/>
                  </a:lnTo>
                  <a:lnTo>
                    <a:pt x="10" y="9"/>
                  </a:lnTo>
                  <a:lnTo>
                    <a:pt x="3" y="13"/>
                  </a:lnTo>
                  <a:lnTo>
                    <a:pt x="3" y="14"/>
                  </a:lnTo>
                  <a:lnTo>
                    <a:pt x="1" y="16"/>
                  </a:lnTo>
                  <a:lnTo>
                    <a:pt x="1" y="18"/>
                  </a:lnTo>
                  <a:lnTo>
                    <a:pt x="0" y="19"/>
                  </a:lnTo>
                  <a:lnTo>
                    <a:pt x="0" y="21"/>
                  </a:lnTo>
                  <a:lnTo>
                    <a:pt x="0" y="23"/>
                  </a:lnTo>
                  <a:lnTo>
                    <a:pt x="0" y="24"/>
                  </a:lnTo>
                  <a:lnTo>
                    <a:pt x="0" y="26"/>
                  </a:lnTo>
                  <a:lnTo>
                    <a:pt x="0" y="31"/>
                  </a:lnTo>
                  <a:lnTo>
                    <a:pt x="1" y="36"/>
                  </a:lnTo>
                  <a:lnTo>
                    <a:pt x="3" y="41"/>
                  </a:lnTo>
                  <a:lnTo>
                    <a:pt x="6" y="44"/>
                  </a:lnTo>
                  <a:lnTo>
                    <a:pt x="10" y="48"/>
                  </a:lnTo>
                  <a:lnTo>
                    <a:pt x="15" y="51"/>
                  </a:lnTo>
                  <a:lnTo>
                    <a:pt x="20" y="53"/>
                  </a:lnTo>
                  <a:lnTo>
                    <a:pt x="25" y="53"/>
                  </a:lnTo>
                  <a:lnTo>
                    <a:pt x="46" y="43"/>
                  </a:lnTo>
                  <a:lnTo>
                    <a:pt x="48" y="41"/>
                  </a:lnTo>
                  <a:lnTo>
                    <a:pt x="49" y="39"/>
                  </a:lnTo>
                  <a:lnTo>
                    <a:pt x="49" y="38"/>
                  </a:lnTo>
                  <a:lnTo>
                    <a:pt x="51" y="34"/>
                  </a:lnTo>
                  <a:lnTo>
                    <a:pt x="51" y="33"/>
                  </a:lnTo>
                  <a:lnTo>
                    <a:pt x="51" y="31"/>
                  </a:lnTo>
                  <a:lnTo>
                    <a:pt x="53" y="29"/>
                  </a:lnTo>
                  <a:lnTo>
                    <a:pt x="53" y="26"/>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14" name="Freeform 658">
              <a:extLst>
                <a:ext uri="{FF2B5EF4-FFF2-40B4-BE49-F238E27FC236}">
                  <a16:creationId xmlns:a16="http://schemas.microsoft.com/office/drawing/2014/main" id="{6E7C3564-40D8-B3B0-98C3-C4DD0A1B7534}"/>
                </a:ext>
              </a:extLst>
            </p:cNvPr>
            <p:cNvSpPr>
              <a:spLocks noEditPoints="1"/>
            </p:cNvSpPr>
            <p:nvPr/>
          </p:nvSpPr>
          <p:spPr bwMode="auto">
            <a:xfrm>
              <a:off x="2192" y="1613"/>
              <a:ext cx="50" cy="50"/>
            </a:xfrm>
            <a:custGeom>
              <a:avLst/>
              <a:gdLst>
                <a:gd name="T0" fmla="*/ 48 w 50"/>
                <a:gd name="T1" fmla="*/ 20 h 50"/>
                <a:gd name="T2" fmla="*/ 45 w 50"/>
                <a:gd name="T3" fmla="*/ 12 h 50"/>
                <a:gd name="T4" fmla="*/ 39 w 50"/>
                <a:gd name="T5" fmla="*/ 5 h 50"/>
                <a:gd name="T6" fmla="*/ 30 w 50"/>
                <a:gd name="T7" fmla="*/ 2 h 50"/>
                <a:gd name="T8" fmla="*/ 5 w 50"/>
                <a:gd name="T9" fmla="*/ 10 h 50"/>
                <a:gd name="T10" fmla="*/ 4 w 50"/>
                <a:gd name="T11" fmla="*/ 13 h 50"/>
                <a:gd name="T12" fmla="*/ 2 w 50"/>
                <a:gd name="T13" fmla="*/ 17 h 50"/>
                <a:gd name="T14" fmla="*/ 0 w 50"/>
                <a:gd name="T15" fmla="*/ 22 h 50"/>
                <a:gd name="T16" fmla="*/ 0 w 50"/>
                <a:gd name="T17" fmla="*/ 25 h 50"/>
                <a:gd name="T18" fmla="*/ 2 w 50"/>
                <a:gd name="T19" fmla="*/ 35 h 50"/>
                <a:gd name="T20" fmla="*/ 7 w 50"/>
                <a:gd name="T21" fmla="*/ 43 h 50"/>
                <a:gd name="T22" fmla="*/ 15 w 50"/>
                <a:gd name="T23" fmla="*/ 48 h 50"/>
                <a:gd name="T24" fmla="*/ 25 w 50"/>
                <a:gd name="T25" fmla="*/ 50 h 50"/>
                <a:gd name="T26" fmla="*/ 42 w 50"/>
                <a:gd name="T27" fmla="*/ 43 h 50"/>
                <a:gd name="T28" fmla="*/ 45 w 50"/>
                <a:gd name="T29" fmla="*/ 40 h 50"/>
                <a:gd name="T30" fmla="*/ 47 w 50"/>
                <a:gd name="T31" fmla="*/ 35 h 50"/>
                <a:gd name="T32" fmla="*/ 48 w 50"/>
                <a:gd name="T33" fmla="*/ 30 h 50"/>
                <a:gd name="T34" fmla="*/ 50 w 50"/>
                <a:gd name="T35" fmla="*/ 25 h 50"/>
                <a:gd name="T36" fmla="*/ 45 w 50"/>
                <a:gd name="T37" fmla="*/ 30 h 50"/>
                <a:gd name="T38" fmla="*/ 42 w 50"/>
                <a:gd name="T39" fmla="*/ 37 h 50"/>
                <a:gd name="T40" fmla="*/ 37 w 50"/>
                <a:gd name="T41" fmla="*/ 43 h 50"/>
                <a:gd name="T42" fmla="*/ 29 w 50"/>
                <a:gd name="T43" fmla="*/ 47 h 50"/>
                <a:gd name="T44" fmla="*/ 20 w 50"/>
                <a:gd name="T45" fmla="*/ 47 h 50"/>
                <a:gd name="T46" fmla="*/ 12 w 50"/>
                <a:gd name="T47" fmla="*/ 43 h 50"/>
                <a:gd name="T48" fmla="*/ 7 w 50"/>
                <a:gd name="T49" fmla="*/ 37 h 50"/>
                <a:gd name="T50" fmla="*/ 4 w 50"/>
                <a:gd name="T51" fmla="*/ 30 h 50"/>
                <a:gd name="T52" fmla="*/ 4 w 50"/>
                <a:gd name="T53" fmla="*/ 22 h 50"/>
                <a:gd name="T54" fmla="*/ 7 w 50"/>
                <a:gd name="T55" fmla="*/ 13 h 50"/>
                <a:gd name="T56" fmla="*/ 12 w 50"/>
                <a:gd name="T57" fmla="*/ 7 h 50"/>
                <a:gd name="T58" fmla="*/ 20 w 50"/>
                <a:gd name="T59" fmla="*/ 3 h 50"/>
                <a:gd name="T60" fmla="*/ 29 w 50"/>
                <a:gd name="T61" fmla="*/ 3 h 50"/>
                <a:gd name="T62" fmla="*/ 37 w 50"/>
                <a:gd name="T63" fmla="*/ 7 h 50"/>
                <a:gd name="T64" fmla="*/ 42 w 50"/>
                <a:gd name="T65" fmla="*/ 13 h 50"/>
                <a:gd name="T66" fmla="*/ 45 w 50"/>
                <a:gd name="T67" fmla="*/ 22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0" h="50">
                  <a:moveTo>
                    <a:pt x="50" y="25"/>
                  </a:moveTo>
                  <a:lnTo>
                    <a:pt x="48" y="20"/>
                  </a:lnTo>
                  <a:lnTo>
                    <a:pt x="48" y="15"/>
                  </a:lnTo>
                  <a:lnTo>
                    <a:pt x="45" y="12"/>
                  </a:lnTo>
                  <a:lnTo>
                    <a:pt x="44" y="8"/>
                  </a:lnTo>
                  <a:lnTo>
                    <a:pt x="39" y="5"/>
                  </a:lnTo>
                  <a:lnTo>
                    <a:pt x="35" y="3"/>
                  </a:lnTo>
                  <a:lnTo>
                    <a:pt x="30" y="2"/>
                  </a:lnTo>
                  <a:lnTo>
                    <a:pt x="25" y="0"/>
                  </a:lnTo>
                  <a:lnTo>
                    <a:pt x="5" y="10"/>
                  </a:lnTo>
                  <a:lnTo>
                    <a:pt x="4" y="12"/>
                  </a:lnTo>
                  <a:lnTo>
                    <a:pt x="4" y="13"/>
                  </a:lnTo>
                  <a:lnTo>
                    <a:pt x="2" y="15"/>
                  </a:lnTo>
                  <a:lnTo>
                    <a:pt x="2" y="17"/>
                  </a:lnTo>
                  <a:lnTo>
                    <a:pt x="0" y="18"/>
                  </a:lnTo>
                  <a:lnTo>
                    <a:pt x="0" y="22"/>
                  </a:lnTo>
                  <a:lnTo>
                    <a:pt x="0" y="23"/>
                  </a:lnTo>
                  <a:lnTo>
                    <a:pt x="0" y="25"/>
                  </a:lnTo>
                  <a:lnTo>
                    <a:pt x="0" y="30"/>
                  </a:lnTo>
                  <a:lnTo>
                    <a:pt x="2" y="35"/>
                  </a:lnTo>
                  <a:lnTo>
                    <a:pt x="4" y="40"/>
                  </a:lnTo>
                  <a:lnTo>
                    <a:pt x="7" y="43"/>
                  </a:lnTo>
                  <a:lnTo>
                    <a:pt x="10" y="47"/>
                  </a:lnTo>
                  <a:lnTo>
                    <a:pt x="15" y="48"/>
                  </a:lnTo>
                  <a:lnTo>
                    <a:pt x="20" y="50"/>
                  </a:lnTo>
                  <a:lnTo>
                    <a:pt x="25" y="50"/>
                  </a:lnTo>
                  <a:lnTo>
                    <a:pt x="27" y="50"/>
                  </a:lnTo>
                  <a:lnTo>
                    <a:pt x="42" y="43"/>
                  </a:lnTo>
                  <a:lnTo>
                    <a:pt x="44" y="42"/>
                  </a:lnTo>
                  <a:lnTo>
                    <a:pt x="45" y="40"/>
                  </a:lnTo>
                  <a:lnTo>
                    <a:pt x="47" y="37"/>
                  </a:lnTo>
                  <a:lnTo>
                    <a:pt x="47" y="35"/>
                  </a:lnTo>
                  <a:lnTo>
                    <a:pt x="48" y="33"/>
                  </a:lnTo>
                  <a:lnTo>
                    <a:pt x="48" y="30"/>
                  </a:lnTo>
                  <a:lnTo>
                    <a:pt x="50" y="28"/>
                  </a:lnTo>
                  <a:lnTo>
                    <a:pt x="50" y="25"/>
                  </a:lnTo>
                  <a:close/>
                  <a:moveTo>
                    <a:pt x="47" y="25"/>
                  </a:moveTo>
                  <a:lnTo>
                    <a:pt x="45" y="30"/>
                  </a:lnTo>
                  <a:lnTo>
                    <a:pt x="45" y="33"/>
                  </a:lnTo>
                  <a:lnTo>
                    <a:pt x="42" y="37"/>
                  </a:lnTo>
                  <a:lnTo>
                    <a:pt x="40" y="40"/>
                  </a:lnTo>
                  <a:lnTo>
                    <a:pt x="37" y="43"/>
                  </a:lnTo>
                  <a:lnTo>
                    <a:pt x="34" y="45"/>
                  </a:lnTo>
                  <a:lnTo>
                    <a:pt x="29" y="47"/>
                  </a:lnTo>
                  <a:lnTo>
                    <a:pt x="25" y="47"/>
                  </a:lnTo>
                  <a:lnTo>
                    <a:pt x="20" y="47"/>
                  </a:lnTo>
                  <a:lnTo>
                    <a:pt x="17" y="45"/>
                  </a:lnTo>
                  <a:lnTo>
                    <a:pt x="12" y="43"/>
                  </a:lnTo>
                  <a:lnTo>
                    <a:pt x="10" y="40"/>
                  </a:lnTo>
                  <a:lnTo>
                    <a:pt x="7" y="37"/>
                  </a:lnTo>
                  <a:lnTo>
                    <a:pt x="5" y="33"/>
                  </a:lnTo>
                  <a:lnTo>
                    <a:pt x="4" y="30"/>
                  </a:lnTo>
                  <a:lnTo>
                    <a:pt x="4" y="25"/>
                  </a:lnTo>
                  <a:lnTo>
                    <a:pt x="4" y="22"/>
                  </a:lnTo>
                  <a:lnTo>
                    <a:pt x="5" y="17"/>
                  </a:lnTo>
                  <a:lnTo>
                    <a:pt x="7" y="13"/>
                  </a:lnTo>
                  <a:lnTo>
                    <a:pt x="10" y="10"/>
                  </a:lnTo>
                  <a:lnTo>
                    <a:pt x="12" y="7"/>
                  </a:lnTo>
                  <a:lnTo>
                    <a:pt x="17" y="5"/>
                  </a:lnTo>
                  <a:lnTo>
                    <a:pt x="20" y="3"/>
                  </a:lnTo>
                  <a:lnTo>
                    <a:pt x="25" y="3"/>
                  </a:lnTo>
                  <a:lnTo>
                    <a:pt x="29" y="3"/>
                  </a:lnTo>
                  <a:lnTo>
                    <a:pt x="34" y="5"/>
                  </a:lnTo>
                  <a:lnTo>
                    <a:pt x="37" y="7"/>
                  </a:lnTo>
                  <a:lnTo>
                    <a:pt x="40" y="10"/>
                  </a:lnTo>
                  <a:lnTo>
                    <a:pt x="42" y="13"/>
                  </a:lnTo>
                  <a:lnTo>
                    <a:pt x="45" y="17"/>
                  </a:lnTo>
                  <a:lnTo>
                    <a:pt x="45" y="22"/>
                  </a:lnTo>
                  <a:lnTo>
                    <a:pt x="47" y="25"/>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15" name="Freeform 659">
              <a:extLst>
                <a:ext uri="{FF2B5EF4-FFF2-40B4-BE49-F238E27FC236}">
                  <a16:creationId xmlns:a16="http://schemas.microsoft.com/office/drawing/2014/main" id="{947E724F-6D96-9E65-A3D4-91D72E0ABB47}"/>
                </a:ext>
              </a:extLst>
            </p:cNvPr>
            <p:cNvSpPr>
              <a:spLocks noEditPoints="1"/>
            </p:cNvSpPr>
            <p:nvPr/>
          </p:nvSpPr>
          <p:spPr bwMode="auto">
            <a:xfrm>
              <a:off x="2194" y="1615"/>
              <a:ext cx="46" cy="46"/>
            </a:xfrm>
            <a:custGeom>
              <a:avLst/>
              <a:gdLst>
                <a:gd name="T0" fmla="*/ 45 w 46"/>
                <a:gd name="T1" fmla="*/ 18 h 46"/>
                <a:gd name="T2" fmla="*/ 42 w 46"/>
                <a:gd name="T3" fmla="*/ 10 h 46"/>
                <a:gd name="T4" fmla="*/ 37 w 46"/>
                <a:gd name="T5" fmla="*/ 5 h 46"/>
                <a:gd name="T6" fmla="*/ 28 w 46"/>
                <a:gd name="T7" fmla="*/ 0 h 46"/>
                <a:gd name="T8" fmla="*/ 22 w 46"/>
                <a:gd name="T9" fmla="*/ 0 h 46"/>
                <a:gd name="T10" fmla="*/ 7 w 46"/>
                <a:gd name="T11" fmla="*/ 6 h 46"/>
                <a:gd name="T12" fmla="*/ 3 w 46"/>
                <a:gd name="T13" fmla="*/ 10 h 46"/>
                <a:gd name="T14" fmla="*/ 2 w 46"/>
                <a:gd name="T15" fmla="*/ 13 h 46"/>
                <a:gd name="T16" fmla="*/ 0 w 46"/>
                <a:gd name="T17" fmla="*/ 18 h 46"/>
                <a:gd name="T18" fmla="*/ 0 w 46"/>
                <a:gd name="T19" fmla="*/ 23 h 46"/>
                <a:gd name="T20" fmla="*/ 2 w 46"/>
                <a:gd name="T21" fmla="*/ 33 h 46"/>
                <a:gd name="T22" fmla="*/ 7 w 46"/>
                <a:gd name="T23" fmla="*/ 40 h 46"/>
                <a:gd name="T24" fmla="*/ 13 w 46"/>
                <a:gd name="T25" fmla="*/ 45 h 46"/>
                <a:gd name="T26" fmla="*/ 23 w 46"/>
                <a:gd name="T27" fmla="*/ 46 h 46"/>
                <a:gd name="T28" fmla="*/ 32 w 46"/>
                <a:gd name="T29" fmla="*/ 45 h 46"/>
                <a:gd name="T30" fmla="*/ 40 w 46"/>
                <a:gd name="T31" fmla="*/ 40 h 46"/>
                <a:gd name="T32" fmla="*/ 45 w 46"/>
                <a:gd name="T33" fmla="*/ 33 h 46"/>
                <a:gd name="T34" fmla="*/ 46 w 46"/>
                <a:gd name="T35" fmla="*/ 23 h 46"/>
                <a:gd name="T36" fmla="*/ 42 w 46"/>
                <a:gd name="T37" fmla="*/ 28 h 46"/>
                <a:gd name="T38" fmla="*/ 40 w 46"/>
                <a:gd name="T39" fmla="*/ 35 h 46"/>
                <a:gd name="T40" fmla="*/ 33 w 46"/>
                <a:gd name="T41" fmla="*/ 40 h 46"/>
                <a:gd name="T42" fmla="*/ 27 w 46"/>
                <a:gd name="T43" fmla="*/ 43 h 46"/>
                <a:gd name="T44" fmla="*/ 18 w 46"/>
                <a:gd name="T45" fmla="*/ 43 h 46"/>
                <a:gd name="T46" fmla="*/ 12 w 46"/>
                <a:gd name="T47" fmla="*/ 40 h 46"/>
                <a:gd name="T48" fmla="*/ 7 w 46"/>
                <a:gd name="T49" fmla="*/ 35 h 46"/>
                <a:gd name="T50" fmla="*/ 3 w 46"/>
                <a:gd name="T51" fmla="*/ 28 h 46"/>
                <a:gd name="T52" fmla="*/ 3 w 46"/>
                <a:gd name="T53" fmla="*/ 20 h 46"/>
                <a:gd name="T54" fmla="*/ 7 w 46"/>
                <a:gd name="T55" fmla="*/ 11 h 46"/>
                <a:gd name="T56" fmla="*/ 12 w 46"/>
                <a:gd name="T57" fmla="*/ 6 h 46"/>
                <a:gd name="T58" fmla="*/ 18 w 46"/>
                <a:gd name="T59" fmla="*/ 3 h 46"/>
                <a:gd name="T60" fmla="*/ 27 w 46"/>
                <a:gd name="T61" fmla="*/ 3 h 46"/>
                <a:gd name="T62" fmla="*/ 33 w 46"/>
                <a:gd name="T63" fmla="*/ 6 h 46"/>
                <a:gd name="T64" fmla="*/ 40 w 46"/>
                <a:gd name="T65" fmla="*/ 11 h 46"/>
                <a:gd name="T66" fmla="*/ 42 w 46"/>
                <a:gd name="T67" fmla="*/ 20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46" h="46">
                  <a:moveTo>
                    <a:pt x="46" y="23"/>
                  </a:moveTo>
                  <a:lnTo>
                    <a:pt x="45" y="18"/>
                  </a:lnTo>
                  <a:lnTo>
                    <a:pt x="45" y="15"/>
                  </a:lnTo>
                  <a:lnTo>
                    <a:pt x="42" y="10"/>
                  </a:lnTo>
                  <a:lnTo>
                    <a:pt x="40" y="6"/>
                  </a:lnTo>
                  <a:lnTo>
                    <a:pt x="37" y="5"/>
                  </a:lnTo>
                  <a:lnTo>
                    <a:pt x="32" y="1"/>
                  </a:lnTo>
                  <a:lnTo>
                    <a:pt x="28" y="0"/>
                  </a:lnTo>
                  <a:lnTo>
                    <a:pt x="23" y="0"/>
                  </a:lnTo>
                  <a:lnTo>
                    <a:pt x="22" y="0"/>
                  </a:lnTo>
                  <a:lnTo>
                    <a:pt x="20" y="0"/>
                  </a:lnTo>
                  <a:lnTo>
                    <a:pt x="7" y="6"/>
                  </a:lnTo>
                  <a:lnTo>
                    <a:pt x="5" y="8"/>
                  </a:lnTo>
                  <a:lnTo>
                    <a:pt x="3" y="10"/>
                  </a:lnTo>
                  <a:lnTo>
                    <a:pt x="3" y="11"/>
                  </a:lnTo>
                  <a:lnTo>
                    <a:pt x="2" y="13"/>
                  </a:lnTo>
                  <a:lnTo>
                    <a:pt x="0" y="16"/>
                  </a:lnTo>
                  <a:lnTo>
                    <a:pt x="0" y="18"/>
                  </a:lnTo>
                  <a:lnTo>
                    <a:pt x="0" y="21"/>
                  </a:lnTo>
                  <a:lnTo>
                    <a:pt x="0" y="23"/>
                  </a:lnTo>
                  <a:lnTo>
                    <a:pt x="0" y="28"/>
                  </a:lnTo>
                  <a:lnTo>
                    <a:pt x="2" y="33"/>
                  </a:lnTo>
                  <a:lnTo>
                    <a:pt x="3" y="36"/>
                  </a:lnTo>
                  <a:lnTo>
                    <a:pt x="7" y="40"/>
                  </a:lnTo>
                  <a:lnTo>
                    <a:pt x="10" y="43"/>
                  </a:lnTo>
                  <a:lnTo>
                    <a:pt x="13" y="45"/>
                  </a:lnTo>
                  <a:lnTo>
                    <a:pt x="18" y="46"/>
                  </a:lnTo>
                  <a:lnTo>
                    <a:pt x="23" y="46"/>
                  </a:lnTo>
                  <a:lnTo>
                    <a:pt x="28" y="46"/>
                  </a:lnTo>
                  <a:lnTo>
                    <a:pt x="32" y="45"/>
                  </a:lnTo>
                  <a:lnTo>
                    <a:pt x="37" y="43"/>
                  </a:lnTo>
                  <a:lnTo>
                    <a:pt x="40" y="40"/>
                  </a:lnTo>
                  <a:lnTo>
                    <a:pt x="42" y="36"/>
                  </a:lnTo>
                  <a:lnTo>
                    <a:pt x="45" y="33"/>
                  </a:lnTo>
                  <a:lnTo>
                    <a:pt x="45" y="28"/>
                  </a:lnTo>
                  <a:lnTo>
                    <a:pt x="46" y="23"/>
                  </a:lnTo>
                  <a:close/>
                  <a:moveTo>
                    <a:pt x="43" y="23"/>
                  </a:moveTo>
                  <a:lnTo>
                    <a:pt x="42" y="28"/>
                  </a:lnTo>
                  <a:lnTo>
                    <a:pt x="42" y="31"/>
                  </a:lnTo>
                  <a:lnTo>
                    <a:pt x="40" y="35"/>
                  </a:lnTo>
                  <a:lnTo>
                    <a:pt x="37" y="38"/>
                  </a:lnTo>
                  <a:lnTo>
                    <a:pt x="33" y="40"/>
                  </a:lnTo>
                  <a:lnTo>
                    <a:pt x="30" y="41"/>
                  </a:lnTo>
                  <a:lnTo>
                    <a:pt x="27" y="43"/>
                  </a:lnTo>
                  <a:lnTo>
                    <a:pt x="23" y="43"/>
                  </a:lnTo>
                  <a:lnTo>
                    <a:pt x="18" y="43"/>
                  </a:lnTo>
                  <a:lnTo>
                    <a:pt x="15" y="41"/>
                  </a:lnTo>
                  <a:lnTo>
                    <a:pt x="12" y="40"/>
                  </a:lnTo>
                  <a:lnTo>
                    <a:pt x="8" y="38"/>
                  </a:lnTo>
                  <a:lnTo>
                    <a:pt x="7" y="35"/>
                  </a:lnTo>
                  <a:lnTo>
                    <a:pt x="5" y="31"/>
                  </a:lnTo>
                  <a:lnTo>
                    <a:pt x="3" y="28"/>
                  </a:lnTo>
                  <a:lnTo>
                    <a:pt x="3" y="23"/>
                  </a:lnTo>
                  <a:lnTo>
                    <a:pt x="3" y="20"/>
                  </a:lnTo>
                  <a:lnTo>
                    <a:pt x="5" y="15"/>
                  </a:lnTo>
                  <a:lnTo>
                    <a:pt x="7" y="11"/>
                  </a:lnTo>
                  <a:lnTo>
                    <a:pt x="8" y="10"/>
                  </a:lnTo>
                  <a:lnTo>
                    <a:pt x="12" y="6"/>
                  </a:lnTo>
                  <a:lnTo>
                    <a:pt x="15" y="5"/>
                  </a:lnTo>
                  <a:lnTo>
                    <a:pt x="18" y="3"/>
                  </a:lnTo>
                  <a:lnTo>
                    <a:pt x="23" y="3"/>
                  </a:lnTo>
                  <a:lnTo>
                    <a:pt x="27" y="3"/>
                  </a:lnTo>
                  <a:lnTo>
                    <a:pt x="30" y="5"/>
                  </a:lnTo>
                  <a:lnTo>
                    <a:pt x="33" y="6"/>
                  </a:lnTo>
                  <a:lnTo>
                    <a:pt x="37" y="10"/>
                  </a:lnTo>
                  <a:lnTo>
                    <a:pt x="40" y="11"/>
                  </a:lnTo>
                  <a:lnTo>
                    <a:pt x="42" y="15"/>
                  </a:lnTo>
                  <a:lnTo>
                    <a:pt x="42" y="20"/>
                  </a:lnTo>
                  <a:lnTo>
                    <a:pt x="43" y="23"/>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16" name="Freeform 660">
              <a:extLst>
                <a:ext uri="{FF2B5EF4-FFF2-40B4-BE49-F238E27FC236}">
                  <a16:creationId xmlns:a16="http://schemas.microsoft.com/office/drawing/2014/main" id="{9828B642-4CF1-B1C8-38A5-B7560BF935A4}"/>
                </a:ext>
              </a:extLst>
            </p:cNvPr>
            <p:cNvSpPr>
              <a:spLocks noEditPoints="1"/>
            </p:cNvSpPr>
            <p:nvPr/>
          </p:nvSpPr>
          <p:spPr bwMode="auto">
            <a:xfrm>
              <a:off x="2196" y="1616"/>
              <a:ext cx="43" cy="44"/>
            </a:xfrm>
            <a:custGeom>
              <a:avLst/>
              <a:gdLst>
                <a:gd name="T0" fmla="*/ 41 w 43"/>
                <a:gd name="T1" fmla="*/ 19 h 44"/>
                <a:gd name="T2" fmla="*/ 38 w 43"/>
                <a:gd name="T3" fmla="*/ 10 h 44"/>
                <a:gd name="T4" fmla="*/ 33 w 43"/>
                <a:gd name="T5" fmla="*/ 4 h 44"/>
                <a:gd name="T6" fmla="*/ 25 w 43"/>
                <a:gd name="T7" fmla="*/ 0 h 44"/>
                <a:gd name="T8" fmla="*/ 16 w 43"/>
                <a:gd name="T9" fmla="*/ 0 h 44"/>
                <a:gd name="T10" fmla="*/ 8 w 43"/>
                <a:gd name="T11" fmla="*/ 4 h 44"/>
                <a:gd name="T12" fmla="*/ 3 w 43"/>
                <a:gd name="T13" fmla="*/ 10 h 44"/>
                <a:gd name="T14" fmla="*/ 0 w 43"/>
                <a:gd name="T15" fmla="*/ 19 h 44"/>
                <a:gd name="T16" fmla="*/ 0 w 43"/>
                <a:gd name="T17" fmla="*/ 27 h 44"/>
                <a:gd name="T18" fmla="*/ 3 w 43"/>
                <a:gd name="T19" fmla="*/ 34 h 44"/>
                <a:gd name="T20" fmla="*/ 8 w 43"/>
                <a:gd name="T21" fmla="*/ 40 h 44"/>
                <a:gd name="T22" fmla="*/ 16 w 43"/>
                <a:gd name="T23" fmla="*/ 44 h 44"/>
                <a:gd name="T24" fmla="*/ 25 w 43"/>
                <a:gd name="T25" fmla="*/ 44 h 44"/>
                <a:gd name="T26" fmla="*/ 33 w 43"/>
                <a:gd name="T27" fmla="*/ 40 h 44"/>
                <a:gd name="T28" fmla="*/ 38 w 43"/>
                <a:gd name="T29" fmla="*/ 34 h 44"/>
                <a:gd name="T30" fmla="*/ 41 w 43"/>
                <a:gd name="T31" fmla="*/ 27 h 44"/>
                <a:gd name="T32" fmla="*/ 40 w 43"/>
                <a:gd name="T33" fmla="*/ 22 h 44"/>
                <a:gd name="T34" fmla="*/ 38 w 43"/>
                <a:gd name="T35" fmla="*/ 29 h 44"/>
                <a:gd name="T36" fmla="*/ 33 w 43"/>
                <a:gd name="T37" fmla="*/ 35 h 44"/>
                <a:gd name="T38" fmla="*/ 28 w 43"/>
                <a:gd name="T39" fmla="*/ 39 h 44"/>
                <a:gd name="T40" fmla="*/ 21 w 43"/>
                <a:gd name="T41" fmla="*/ 40 h 44"/>
                <a:gd name="T42" fmla="*/ 13 w 43"/>
                <a:gd name="T43" fmla="*/ 39 h 44"/>
                <a:gd name="T44" fmla="*/ 8 w 43"/>
                <a:gd name="T45" fmla="*/ 35 h 44"/>
                <a:gd name="T46" fmla="*/ 5 w 43"/>
                <a:gd name="T47" fmla="*/ 29 h 44"/>
                <a:gd name="T48" fmla="*/ 3 w 43"/>
                <a:gd name="T49" fmla="*/ 22 h 44"/>
                <a:gd name="T50" fmla="*/ 5 w 43"/>
                <a:gd name="T51" fmla="*/ 15 h 44"/>
                <a:gd name="T52" fmla="*/ 8 w 43"/>
                <a:gd name="T53" fmla="*/ 9 h 44"/>
                <a:gd name="T54" fmla="*/ 13 w 43"/>
                <a:gd name="T55" fmla="*/ 5 h 44"/>
                <a:gd name="T56" fmla="*/ 21 w 43"/>
                <a:gd name="T57" fmla="*/ 4 h 44"/>
                <a:gd name="T58" fmla="*/ 28 w 43"/>
                <a:gd name="T59" fmla="*/ 5 h 44"/>
                <a:gd name="T60" fmla="*/ 33 w 43"/>
                <a:gd name="T61" fmla="*/ 9 h 44"/>
                <a:gd name="T62" fmla="*/ 38 w 43"/>
                <a:gd name="T63" fmla="*/ 15 h 44"/>
                <a:gd name="T64" fmla="*/ 40 w 43"/>
                <a:gd name="T65" fmla="*/ 22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3" h="44">
                  <a:moveTo>
                    <a:pt x="43" y="22"/>
                  </a:moveTo>
                  <a:lnTo>
                    <a:pt x="41" y="19"/>
                  </a:lnTo>
                  <a:lnTo>
                    <a:pt x="41" y="14"/>
                  </a:lnTo>
                  <a:lnTo>
                    <a:pt x="38" y="10"/>
                  </a:lnTo>
                  <a:lnTo>
                    <a:pt x="36" y="7"/>
                  </a:lnTo>
                  <a:lnTo>
                    <a:pt x="33" y="4"/>
                  </a:lnTo>
                  <a:lnTo>
                    <a:pt x="30" y="2"/>
                  </a:lnTo>
                  <a:lnTo>
                    <a:pt x="25" y="0"/>
                  </a:lnTo>
                  <a:lnTo>
                    <a:pt x="21" y="0"/>
                  </a:lnTo>
                  <a:lnTo>
                    <a:pt x="16" y="0"/>
                  </a:lnTo>
                  <a:lnTo>
                    <a:pt x="13" y="2"/>
                  </a:lnTo>
                  <a:lnTo>
                    <a:pt x="8" y="4"/>
                  </a:lnTo>
                  <a:lnTo>
                    <a:pt x="6" y="7"/>
                  </a:lnTo>
                  <a:lnTo>
                    <a:pt x="3" y="10"/>
                  </a:lnTo>
                  <a:lnTo>
                    <a:pt x="1" y="14"/>
                  </a:lnTo>
                  <a:lnTo>
                    <a:pt x="0" y="19"/>
                  </a:lnTo>
                  <a:lnTo>
                    <a:pt x="0" y="22"/>
                  </a:lnTo>
                  <a:lnTo>
                    <a:pt x="0" y="27"/>
                  </a:lnTo>
                  <a:lnTo>
                    <a:pt x="1" y="30"/>
                  </a:lnTo>
                  <a:lnTo>
                    <a:pt x="3" y="34"/>
                  </a:lnTo>
                  <a:lnTo>
                    <a:pt x="6" y="37"/>
                  </a:lnTo>
                  <a:lnTo>
                    <a:pt x="8" y="40"/>
                  </a:lnTo>
                  <a:lnTo>
                    <a:pt x="13" y="42"/>
                  </a:lnTo>
                  <a:lnTo>
                    <a:pt x="16" y="44"/>
                  </a:lnTo>
                  <a:lnTo>
                    <a:pt x="21" y="44"/>
                  </a:lnTo>
                  <a:lnTo>
                    <a:pt x="25" y="44"/>
                  </a:lnTo>
                  <a:lnTo>
                    <a:pt x="30" y="42"/>
                  </a:lnTo>
                  <a:lnTo>
                    <a:pt x="33" y="40"/>
                  </a:lnTo>
                  <a:lnTo>
                    <a:pt x="36" y="37"/>
                  </a:lnTo>
                  <a:lnTo>
                    <a:pt x="38" y="34"/>
                  </a:lnTo>
                  <a:lnTo>
                    <a:pt x="41" y="30"/>
                  </a:lnTo>
                  <a:lnTo>
                    <a:pt x="41" y="27"/>
                  </a:lnTo>
                  <a:lnTo>
                    <a:pt x="43" y="22"/>
                  </a:lnTo>
                  <a:close/>
                  <a:moveTo>
                    <a:pt x="40" y="22"/>
                  </a:moveTo>
                  <a:lnTo>
                    <a:pt x="38" y="25"/>
                  </a:lnTo>
                  <a:lnTo>
                    <a:pt x="38" y="29"/>
                  </a:lnTo>
                  <a:lnTo>
                    <a:pt x="36" y="32"/>
                  </a:lnTo>
                  <a:lnTo>
                    <a:pt x="33" y="35"/>
                  </a:lnTo>
                  <a:lnTo>
                    <a:pt x="31" y="37"/>
                  </a:lnTo>
                  <a:lnTo>
                    <a:pt x="28" y="39"/>
                  </a:lnTo>
                  <a:lnTo>
                    <a:pt x="25" y="40"/>
                  </a:lnTo>
                  <a:lnTo>
                    <a:pt x="21" y="40"/>
                  </a:lnTo>
                  <a:lnTo>
                    <a:pt x="16" y="40"/>
                  </a:lnTo>
                  <a:lnTo>
                    <a:pt x="13" y="39"/>
                  </a:lnTo>
                  <a:lnTo>
                    <a:pt x="11" y="37"/>
                  </a:lnTo>
                  <a:lnTo>
                    <a:pt x="8" y="35"/>
                  </a:lnTo>
                  <a:lnTo>
                    <a:pt x="6" y="32"/>
                  </a:lnTo>
                  <a:lnTo>
                    <a:pt x="5" y="29"/>
                  </a:lnTo>
                  <a:lnTo>
                    <a:pt x="3" y="25"/>
                  </a:lnTo>
                  <a:lnTo>
                    <a:pt x="3" y="22"/>
                  </a:lnTo>
                  <a:lnTo>
                    <a:pt x="3" y="19"/>
                  </a:lnTo>
                  <a:lnTo>
                    <a:pt x="5" y="15"/>
                  </a:lnTo>
                  <a:lnTo>
                    <a:pt x="6" y="12"/>
                  </a:lnTo>
                  <a:lnTo>
                    <a:pt x="8" y="9"/>
                  </a:lnTo>
                  <a:lnTo>
                    <a:pt x="11" y="7"/>
                  </a:lnTo>
                  <a:lnTo>
                    <a:pt x="13" y="5"/>
                  </a:lnTo>
                  <a:lnTo>
                    <a:pt x="16" y="4"/>
                  </a:lnTo>
                  <a:lnTo>
                    <a:pt x="21" y="4"/>
                  </a:lnTo>
                  <a:lnTo>
                    <a:pt x="25" y="4"/>
                  </a:lnTo>
                  <a:lnTo>
                    <a:pt x="28" y="5"/>
                  </a:lnTo>
                  <a:lnTo>
                    <a:pt x="31" y="7"/>
                  </a:lnTo>
                  <a:lnTo>
                    <a:pt x="33" y="9"/>
                  </a:lnTo>
                  <a:lnTo>
                    <a:pt x="36" y="12"/>
                  </a:lnTo>
                  <a:lnTo>
                    <a:pt x="38" y="15"/>
                  </a:lnTo>
                  <a:lnTo>
                    <a:pt x="38" y="19"/>
                  </a:lnTo>
                  <a:lnTo>
                    <a:pt x="40" y="22"/>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17" name="Freeform 661">
              <a:extLst>
                <a:ext uri="{FF2B5EF4-FFF2-40B4-BE49-F238E27FC236}">
                  <a16:creationId xmlns:a16="http://schemas.microsoft.com/office/drawing/2014/main" id="{3BF2AE7C-0BED-8295-0E87-5E82F8E03F9B}"/>
                </a:ext>
              </a:extLst>
            </p:cNvPr>
            <p:cNvSpPr>
              <a:spLocks noEditPoints="1"/>
            </p:cNvSpPr>
            <p:nvPr/>
          </p:nvSpPr>
          <p:spPr bwMode="auto">
            <a:xfrm>
              <a:off x="2197" y="1618"/>
              <a:ext cx="40" cy="40"/>
            </a:xfrm>
            <a:custGeom>
              <a:avLst/>
              <a:gdLst>
                <a:gd name="T0" fmla="*/ 39 w 40"/>
                <a:gd name="T1" fmla="*/ 17 h 40"/>
                <a:gd name="T2" fmla="*/ 37 w 40"/>
                <a:gd name="T3" fmla="*/ 8 h 40"/>
                <a:gd name="T4" fmla="*/ 30 w 40"/>
                <a:gd name="T5" fmla="*/ 3 h 40"/>
                <a:gd name="T6" fmla="*/ 24 w 40"/>
                <a:gd name="T7" fmla="*/ 0 h 40"/>
                <a:gd name="T8" fmla="*/ 15 w 40"/>
                <a:gd name="T9" fmla="*/ 0 h 40"/>
                <a:gd name="T10" fmla="*/ 9 w 40"/>
                <a:gd name="T11" fmla="*/ 3 h 40"/>
                <a:gd name="T12" fmla="*/ 4 w 40"/>
                <a:gd name="T13" fmla="*/ 8 h 40"/>
                <a:gd name="T14" fmla="*/ 0 w 40"/>
                <a:gd name="T15" fmla="*/ 17 h 40"/>
                <a:gd name="T16" fmla="*/ 0 w 40"/>
                <a:gd name="T17" fmla="*/ 25 h 40"/>
                <a:gd name="T18" fmla="*/ 4 w 40"/>
                <a:gd name="T19" fmla="*/ 32 h 40"/>
                <a:gd name="T20" fmla="*/ 9 w 40"/>
                <a:gd name="T21" fmla="*/ 37 h 40"/>
                <a:gd name="T22" fmla="*/ 15 w 40"/>
                <a:gd name="T23" fmla="*/ 40 h 40"/>
                <a:gd name="T24" fmla="*/ 24 w 40"/>
                <a:gd name="T25" fmla="*/ 40 h 40"/>
                <a:gd name="T26" fmla="*/ 30 w 40"/>
                <a:gd name="T27" fmla="*/ 37 h 40"/>
                <a:gd name="T28" fmla="*/ 37 w 40"/>
                <a:gd name="T29" fmla="*/ 32 h 40"/>
                <a:gd name="T30" fmla="*/ 39 w 40"/>
                <a:gd name="T31" fmla="*/ 25 h 40"/>
                <a:gd name="T32" fmla="*/ 37 w 40"/>
                <a:gd name="T33" fmla="*/ 20 h 40"/>
                <a:gd name="T34" fmla="*/ 35 w 40"/>
                <a:gd name="T35" fmla="*/ 27 h 40"/>
                <a:gd name="T36" fmla="*/ 32 w 40"/>
                <a:gd name="T37" fmla="*/ 32 h 40"/>
                <a:gd name="T38" fmla="*/ 27 w 40"/>
                <a:gd name="T39" fmla="*/ 35 h 40"/>
                <a:gd name="T40" fmla="*/ 20 w 40"/>
                <a:gd name="T41" fmla="*/ 37 h 40"/>
                <a:gd name="T42" fmla="*/ 14 w 40"/>
                <a:gd name="T43" fmla="*/ 35 h 40"/>
                <a:gd name="T44" fmla="*/ 9 w 40"/>
                <a:gd name="T45" fmla="*/ 32 h 40"/>
                <a:gd name="T46" fmla="*/ 5 w 40"/>
                <a:gd name="T47" fmla="*/ 27 h 40"/>
                <a:gd name="T48" fmla="*/ 4 w 40"/>
                <a:gd name="T49" fmla="*/ 20 h 40"/>
                <a:gd name="T50" fmla="*/ 5 w 40"/>
                <a:gd name="T51" fmla="*/ 13 h 40"/>
                <a:gd name="T52" fmla="*/ 9 w 40"/>
                <a:gd name="T53" fmla="*/ 8 h 40"/>
                <a:gd name="T54" fmla="*/ 14 w 40"/>
                <a:gd name="T55" fmla="*/ 5 h 40"/>
                <a:gd name="T56" fmla="*/ 20 w 40"/>
                <a:gd name="T57" fmla="*/ 3 h 40"/>
                <a:gd name="T58" fmla="*/ 27 w 40"/>
                <a:gd name="T59" fmla="*/ 5 h 40"/>
                <a:gd name="T60" fmla="*/ 32 w 40"/>
                <a:gd name="T61" fmla="*/ 8 h 40"/>
                <a:gd name="T62" fmla="*/ 35 w 40"/>
                <a:gd name="T63" fmla="*/ 13 h 40"/>
                <a:gd name="T64" fmla="*/ 37 w 40"/>
                <a:gd name="T65" fmla="*/ 2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0" h="40">
                  <a:moveTo>
                    <a:pt x="40" y="20"/>
                  </a:moveTo>
                  <a:lnTo>
                    <a:pt x="39" y="17"/>
                  </a:lnTo>
                  <a:lnTo>
                    <a:pt x="39" y="12"/>
                  </a:lnTo>
                  <a:lnTo>
                    <a:pt x="37" y="8"/>
                  </a:lnTo>
                  <a:lnTo>
                    <a:pt x="34" y="7"/>
                  </a:lnTo>
                  <a:lnTo>
                    <a:pt x="30" y="3"/>
                  </a:lnTo>
                  <a:lnTo>
                    <a:pt x="27" y="2"/>
                  </a:lnTo>
                  <a:lnTo>
                    <a:pt x="24" y="0"/>
                  </a:lnTo>
                  <a:lnTo>
                    <a:pt x="20" y="0"/>
                  </a:lnTo>
                  <a:lnTo>
                    <a:pt x="15" y="0"/>
                  </a:lnTo>
                  <a:lnTo>
                    <a:pt x="12" y="2"/>
                  </a:lnTo>
                  <a:lnTo>
                    <a:pt x="9" y="3"/>
                  </a:lnTo>
                  <a:lnTo>
                    <a:pt x="5" y="7"/>
                  </a:lnTo>
                  <a:lnTo>
                    <a:pt x="4" y="8"/>
                  </a:lnTo>
                  <a:lnTo>
                    <a:pt x="2" y="12"/>
                  </a:lnTo>
                  <a:lnTo>
                    <a:pt x="0" y="17"/>
                  </a:lnTo>
                  <a:lnTo>
                    <a:pt x="0" y="20"/>
                  </a:lnTo>
                  <a:lnTo>
                    <a:pt x="0" y="25"/>
                  </a:lnTo>
                  <a:lnTo>
                    <a:pt x="2" y="28"/>
                  </a:lnTo>
                  <a:lnTo>
                    <a:pt x="4" y="32"/>
                  </a:lnTo>
                  <a:lnTo>
                    <a:pt x="5" y="35"/>
                  </a:lnTo>
                  <a:lnTo>
                    <a:pt x="9" y="37"/>
                  </a:lnTo>
                  <a:lnTo>
                    <a:pt x="12" y="38"/>
                  </a:lnTo>
                  <a:lnTo>
                    <a:pt x="15" y="40"/>
                  </a:lnTo>
                  <a:lnTo>
                    <a:pt x="20" y="40"/>
                  </a:lnTo>
                  <a:lnTo>
                    <a:pt x="24" y="40"/>
                  </a:lnTo>
                  <a:lnTo>
                    <a:pt x="27" y="38"/>
                  </a:lnTo>
                  <a:lnTo>
                    <a:pt x="30" y="37"/>
                  </a:lnTo>
                  <a:lnTo>
                    <a:pt x="34" y="35"/>
                  </a:lnTo>
                  <a:lnTo>
                    <a:pt x="37" y="32"/>
                  </a:lnTo>
                  <a:lnTo>
                    <a:pt x="39" y="28"/>
                  </a:lnTo>
                  <a:lnTo>
                    <a:pt x="39" y="25"/>
                  </a:lnTo>
                  <a:lnTo>
                    <a:pt x="40" y="20"/>
                  </a:lnTo>
                  <a:close/>
                  <a:moveTo>
                    <a:pt x="37" y="20"/>
                  </a:moveTo>
                  <a:lnTo>
                    <a:pt x="35" y="23"/>
                  </a:lnTo>
                  <a:lnTo>
                    <a:pt x="35" y="27"/>
                  </a:lnTo>
                  <a:lnTo>
                    <a:pt x="34" y="30"/>
                  </a:lnTo>
                  <a:lnTo>
                    <a:pt x="32" y="32"/>
                  </a:lnTo>
                  <a:lnTo>
                    <a:pt x="29" y="33"/>
                  </a:lnTo>
                  <a:lnTo>
                    <a:pt x="27" y="35"/>
                  </a:lnTo>
                  <a:lnTo>
                    <a:pt x="24" y="37"/>
                  </a:lnTo>
                  <a:lnTo>
                    <a:pt x="20" y="37"/>
                  </a:lnTo>
                  <a:lnTo>
                    <a:pt x="17" y="37"/>
                  </a:lnTo>
                  <a:lnTo>
                    <a:pt x="14" y="35"/>
                  </a:lnTo>
                  <a:lnTo>
                    <a:pt x="10" y="33"/>
                  </a:lnTo>
                  <a:lnTo>
                    <a:pt x="9" y="32"/>
                  </a:lnTo>
                  <a:lnTo>
                    <a:pt x="5" y="30"/>
                  </a:lnTo>
                  <a:lnTo>
                    <a:pt x="5" y="27"/>
                  </a:lnTo>
                  <a:lnTo>
                    <a:pt x="4" y="23"/>
                  </a:lnTo>
                  <a:lnTo>
                    <a:pt x="4" y="20"/>
                  </a:lnTo>
                  <a:lnTo>
                    <a:pt x="4" y="17"/>
                  </a:lnTo>
                  <a:lnTo>
                    <a:pt x="5" y="13"/>
                  </a:lnTo>
                  <a:lnTo>
                    <a:pt x="5" y="12"/>
                  </a:lnTo>
                  <a:lnTo>
                    <a:pt x="9" y="8"/>
                  </a:lnTo>
                  <a:lnTo>
                    <a:pt x="10" y="7"/>
                  </a:lnTo>
                  <a:lnTo>
                    <a:pt x="14" y="5"/>
                  </a:lnTo>
                  <a:lnTo>
                    <a:pt x="17" y="3"/>
                  </a:lnTo>
                  <a:lnTo>
                    <a:pt x="20" y="3"/>
                  </a:lnTo>
                  <a:lnTo>
                    <a:pt x="24" y="3"/>
                  </a:lnTo>
                  <a:lnTo>
                    <a:pt x="27" y="5"/>
                  </a:lnTo>
                  <a:lnTo>
                    <a:pt x="29" y="7"/>
                  </a:lnTo>
                  <a:lnTo>
                    <a:pt x="32" y="8"/>
                  </a:lnTo>
                  <a:lnTo>
                    <a:pt x="34" y="12"/>
                  </a:lnTo>
                  <a:lnTo>
                    <a:pt x="35" y="13"/>
                  </a:lnTo>
                  <a:lnTo>
                    <a:pt x="35" y="17"/>
                  </a:lnTo>
                  <a:lnTo>
                    <a:pt x="37" y="20"/>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18" name="Freeform 662">
              <a:extLst>
                <a:ext uri="{FF2B5EF4-FFF2-40B4-BE49-F238E27FC236}">
                  <a16:creationId xmlns:a16="http://schemas.microsoft.com/office/drawing/2014/main" id="{00FB2911-09C7-0107-4628-0DC81DC80E31}"/>
                </a:ext>
              </a:extLst>
            </p:cNvPr>
            <p:cNvSpPr>
              <a:spLocks noEditPoints="1"/>
            </p:cNvSpPr>
            <p:nvPr/>
          </p:nvSpPr>
          <p:spPr bwMode="auto">
            <a:xfrm>
              <a:off x="2199" y="1620"/>
              <a:ext cx="37" cy="36"/>
            </a:xfrm>
            <a:custGeom>
              <a:avLst/>
              <a:gdLst>
                <a:gd name="T0" fmla="*/ 35 w 37"/>
                <a:gd name="T1" fmla="*/ 15 h 36"/>
                <a:gd name="T2" fmla="*/ 33 w 37"/>
                <a:gd name="T3" fmla="*/ 8 h 36"/>
                <a:gd name="T4" fmla="*/ 28 w 37"/>
                <a:gd name="T5" fmla="*/ 3 h 36"/>
                <a:gd name="T6" fmla="*/ 22 w 37"/>
                <a:gd name="T7" fmla="*/ 0 h 36"/>
                <a:gd name="T8" fmla="*/ 13 w 37"/>
                <a:gd name="T9" fmla="*/ 0 h 36"/>
                <a:gd name="T10" fmla="*/ 8 w 37"/>
                <a:gd name="T11" fmla="*/ 3 h 36"/>
                <a:gd name="T12" fmla="*/ 3 w 37"/>
                <a:gd name="T13" fmla="*/ 8 h 36"/>
                <a:gd name="T14" fmla="*/ 0 w 37"/>
                <a:gd name="T15" fmla="*/ 15 h 36"/>
                <a:gd name="T16" fmla="*/ 0 w 37"/>
                <a:gd name="T17" fmla="*/ 21 h 36"/>
                <a:gd name="T18" fmla="*/ 3 w 37"/>
                <a:gd name="T19" fmla="*/ 28 h 36"/>
                <a:gd name="T20" fmla="*/ 8 w 37"/>
                <a:gd name="T21" fmla="*/ 33 h 36"/>
                <a:gd name="T22" fmla="*/ 13 w 37"/>
                <a:gd name="T23" fmla="*/ 36 h 36"/>
                <a:gd name="T24" fmla="*/ 22 w 37"/>
                <a:gd name="T25" fmla="*/ 36 h 36"/>
                <a:gd name="T26" fmla="*/ 28 w 37"/>
                <a:gd name="T27" fmla="*/ 33 h 36"/>
                <a:gd name="T28" fmla="*/ 33 w 37"/>
                <a:gd name="T29" fmla="*/ 28 h 36"/>
                <a:gd name="T30" fmla="*/ 35 w 37"/>
                <a:gd name="T31" fmla="*/ 21 h 36"/>
                <a:gd name="T32" fmla="*/ 33 w 37"/>
                <a:gd name="T33" fmla="*/ 18 h 36"/>
                <a:gd name="T34" fmla="*/ 32 w 37"/>
                <a:gd name="T35" fmla="*/ 25 h 36"/>
                <a:gd name="T36" fmla="*/ 28 w 37"/>
                <a:gd name="T37" fmla="*/ 30 h 36"/>
                <a:gd name="T38" fmla="*/ 23 w 37"/>
                <a:gd name="T39" fmla="*/ 31 h 36"/>
                <a:gd name="T40" fmla="*/ 18 w 37"/>
                <a:gd name="T41" fmla="*/ 33 h 36"/>
                <a:gd name="T42" fmla="*/ 12 w 37"/>
                <a:gd name="T43" fmla="*/ 31 h 36"/>
                <a:gd name="T44" fmla="*/ 7 w 37"/>
                <a:gd name="T45" fmla="*/ 30 h 36"/>
                <a:gd name="T46" fmla="*/ 3 w 37"/>
                <a:gd name="T47" fmla="*/ 25 h 36"/>
                <a:gd name="T48" fmla="*/ 3 w 37"/>
                <a:gd name="T49" fmla="*/ 18 h 36"/>
                <a:gd name="T50" fmla="*/ 3 w 37"/>
                <a:gd name="T51" fmla="*/ 13 h 36"/>
                <a:gd name="T52" fmla="*/ 7 w 37"/>
                <a:gd name="T53" fmla="*/ 8 h 36"/>
                <a:gd name="T54" fmla="*/ 12 w 37"/>
                <a:gd name="T55" fmla="*/ 5 h 36"/>
                <a:gd name="T56" fmla="*/ 18 w 37"/>
                <a:gd name="T57" fmla="*/ 3 h 36"/>
                <a:gd name="T58" fmla="*/ 23 w 37"/>
                <a:gd name="T59" fmla="*/ 5 h 36"/>
                <a:gd name="T60" fmla="*/ 28 w 37"/>
                <a:gd name="T61" fmla="*/ 8 h 36"/>
                <a:gd name="T62" fmla="*/ 32 w 37"/>
                <a:gd name="T63" fmla="*/ 13 h 36"/>
                <a:gd name="T64" fmla="*/ 33 w 37"/>
                <a:gd name="T65" fmla="*/ 18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7" h="36">
                  <a:moveTo>
                    <a:pt x="37" y="18"/>
                  </a:moveTo>
                  <a:lnTo>
                    <a:pt x="35" y="15"/>
                  </a:lnTo>
                  <a:lnTo>
                    <a:pt x="35" y="11"/>
                  </a:lnTo>
                  <a:lnTo>
                    <a:pt x="33" y="8"/>
                  </a:lnTo>
                  <a:lnTo>
                    <a:pt x="30" y="5"/>
                  </a:lnTo>
                  <a:lnTo>
                    <a:pt x="28" y="3"/>
                  </a:lnTo>
                  <a:lnTo>
                    <a:pt x="25" y="1"/>
                  </a:lnTo>
                  <a:lnTo>
                    <a:pt x="22" y="0"/>
                  </a:lnTo>
                  <a:lnTo>
                    <a:pt x="18" y="0"/>
                  </a:lnTo>
                  <a:lnTo>
                    <a:pt x="13" y="0"/>
                  </a:lnTo>
                  <a:lnTo>
                    <a:pt x="10" y="1"/>
                  </a:lnTo>
                  <a:lnTo>
                    <a:pt x="8" y="3"/>
                  </a:lnTo>
                  <a:lnTo>
                    <a:pt x="5" y="5"/>
                  </a:lnTo>
                  <a:lnTo>
                    <a:pt x="3" y="8"/>
                  </a:lnTo>
                  <a:lnTo>
                    <a:pt x="2" y="11"/>
                  </a:lnTo>
                  <a:lnTo>
                    <a:pt x="0" y="15"/>
                  </a:lnTo>
                  <a:lnTo>
                    <a:pt x="0" y="18"/>
                  </a:lnTo>
                  <a:lnTo>
                    <a:pt x="0" y="21"/>
                  </a:lnTo>
                  <a:lnTo>
                    <a:pt x="2" y="25"/>
                  </a:lnTo>
                  <a:lnTo>
                    <a:pt x="3" y="28"/>
                  </a:lnTo>
                  <a:lnTo>
                    <a:pt x="5" y="31"/>
                  </a:lnTo>
                  <a:lnTo>
                    <a:pt x="8" y="33"/>
                  </a:lnTo>
                  <a:lnTo>
                    <a:pt x="10" y="35"/>
                  </a:lnTo>
                  <a:lnTo>
                    <a:pt x="13" y="36"/>
                  </a:lnTo>
                  <a:lnTo>
                    <a:pt x="18" y="36"/>
                  </a:lnTo>
                  <a:lnTo>
                    <a:pt x="22" y="36"/>
                  </a:lnTo>
                  <a:lnTo>
                    <a:pt x="25" y="35"/>
                  </a:lnTo>
                  <a:lnTo>
                    <a:pt x="28" y="33"/>
                  </a:lnTo>
                  <a:lnTo>
                    <a:pt x="30" y="31"/>
                  </a:lnTo>
                  <a:lnTo>
                    <a:pt x="33" y="28"/>
                  </a:lnTo>
                  <a:lnTo>
                    <a:pt x="35" y="25"/>
                  </a:lnTo>
                  <a:lnTo>
                    <a:pt x="35" y="21"/>
                  </a:lnTo>
                  <a:lnTo>
                    <a:pt x="37" y="18"/>
                  </a:lnTo>
                  <a:close/>
                  <a:moveTo>
                    <a:pt x="33" y="18"/>
                  </a:moveTo>
                  <a:lnTo>
                    <a:pt x="33" y="21"/>
                  </a:lnTo>
                  <a:lnTo>
                    <a:pt x="32" y="25"/>
                  </a:lnTo>
                  <a:lnTo>
                    <a:pt x="30" y="26"/>
                  </a:lnTo>
                  <a:lnTo>
                    <a:pt x="28" y="30"/>
                  </a:lnTo>
                  <a:lnTo>
                    <a:pt x="27" y="31"/>
                  </a:lnTo>
                  <a:lnTo>
                    <a:pt x="23" y="31"/>
                  </a:lnTo>
                  <a:lnTo>
                    <a:pt x="22" y="33"/>
                  </a:lnTo>
                  <a:lnTo>
                    <a:pt x="18" y="33"/>
                  </a:lnTo>
                  <a:lnTo>
                    <a:pt x="15" y="33"/>
                  </a:lnTo>
                  <a:lnTo>
                    <a:pt x="12" y="31"/>
                  </a:lnTo>
                  <a:lnTo>
                    <a:pt x="10" y="31"/>
                  </a:lnTo>
                  <a:lnTo>
                    <a:pt x="7" y="30"/>
                  </a:lnTo>
                  <a:lnTo>
                    <a:pt x="5" y="26"/>
                  </a:lnTo>
                  <a:lnTo>
                    <a:pt x="3" y="25"/>
                  </a:lnTo>
                  <a:lnTo>
                    <a:pt x="3" y="21"/>
                  </a:lnTo>
                  <a:lnTo>
                    <a:pt x="3" y="18"/>
                  </a:lnTo>
                  <a:lnTo>
                    <a:pt x="3" y="15"/>
                  </a:lnTo>
                  <a:lnTo>
                    <a:pt x="3" y="13"/>
                  </a:lnTo>
                  <a:lnTo>
                    <a:pt x="5" y="10"/>
                  </a:lnTo>
                  <a:lnTo>
                    <a:pt x="7" y="8"/>
                  </a:lnTo>
                  <a:lnTo>
                    <a:pt x="10" y="6"/>
                  </a:lnTo>
                  <a:lnTo>
                    <a:pt x="12" y="5"/>
                  </a:lnTo>
                  <a:lnTo>
                    <a:pt x="15" y="3"/>
                  </a:lnTo>
                  <a:lnTo>
                    <a:pt x="18" y="3"/>
                  </a:lnTo>
                  <a:lnTo>
                    <a:pt x="22" y="3"/>
                  </a:lnTo>
                  <a:lnTo>
                    <a:pt x="23" y="5"/>
                  </a:lnTo>
                  <a:lnTo>
                    <a:pt x="27" y="6"/>
                  </a:lnTo>
                  <a:lnTo>
                    <a:pt x="28" y="8"/>
                  </a:lnTo>
                  <a:lnTo>
                    <a:pt x="30" y="10"/>
                  </a:lnTo>
                  <a:lnTo>
                    <a:pt x="32" y="13"/>
                  </a:lnTo>
                  <a:lnTo>
                    <a:pt x="33" y="15"/>
                  </a:lnTo>
                  <a:lnTo>
                    <a:pt x="33" y="18"/>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19" name="Freeform 663">
              <a:extLst>
                <a:ext uri="{FF2B5EF4-FFF2-40B4-BE49-F238E27FC236}">
                  <a16:creationId xmlns:a16="http://schemas.microsoft.com/office/drawing/2014/main" id="{D3AF9208-BAFB-08F6-375B-5B20D793E30F}"/>
                </a:ext>
              </a:extLst>
            </p:cNvPr>
            <p:cNvSpPr>
              <a:spLocks noEditPoints="1"/>
            </p:cNvSpPr>
            <p:nvPr/>
          </p:nvSpPr>
          <p:spPr bwMode="auto">
            <a:xfrm>
              <a:off x="2201" y="1621"/>
              <a:ext cx="33" cy="34"/>
            </a:xfrm>
            <a:custGeom>
              <a:avLst/>
              <a:gdLst>
                <a:gd name="T0" fmla="*/ 31 w 33"/>
                <a:gd name="T1" fmla="*/ 14 h 34"/>
                <a:gd name="T2" fmla="*/ 30 w 33"/>
                <a:gd name="T3" fmla="*/ 9 h 34"/>
                <a:gd name="T4" fmla="*/ 25 w 33"/>
                <a:gd name="T5" fmla="*/ 4 h 34"/>
                <a:gd name="T6" fmla="*/ 20 w 33"/>
                <a:gd name="T7" fmla="*/ 0 h 34"/>
                <a:gd name="T8" fmla="*/ 13 w 33"/>
                <a:gd name="T9" fmla="*/ 0 h 34"/>
                <a:gd name="T10" fmla="*/ 6 w 33"/>
                <a:gd name="T11" fmla="*/ 4 h 34"/>
                <a:gd name="T12" fmla="*/ 1 w 33"/>
                <a:gd name="T13" fmla="*/ 9 h 34"/>
                <a:gd name="T14" fmla="*/ 0 w 33"/>
                <a:gd name="T15" fmla="*/ 14 h 34"/>
                <a:gd name="T16" fmla="*/ 0 w 33"/>
                <a:gd name="T17" fmla="*/ 20 h 34"/>
                <a:gd name="T18" fmla="*/ 1 w 33"/>
                <a:gd name="T19" fmla="*/ 27 h 34"/>
                <a:gd name="T20" fmla="*/ 6 w 33"/>
                <a:gd name="T21" fmla="*/ 30 h 34"/>
                <a:gd name="T22" fmla="*/ 13 w 33"/>
                <a:gd name="T23" fmla="*/ 34 h 34"/>
                <a:gd name="T24" fmla="*/ 20 w 33"/>
                <a:gd name="T25" fmla="*/ 34 h 34"/>
                <a:gd name="T26" fmla="*/ 25 w 33"/>
                <a:gd name="T27" fmla="*/ 30 h 34"/>
                <a:gd name="T28" fmla="*/ 30 w 33"/>
                <a:gd name="T29" fmla="*/ 27 h 34"/>
                <a:gd name="T30" fmla="*/ 31 w 33"/>
                <a:gd name="T31" fmla="*/ 20 h 34"/>
                <a:gd name="T32" fmla="*/ 30 w 33"/>
                <a:gd name="T33" fmla="*/ 17 h 34"/>
                <a:gd name="T34" fmla="*/ 28 w 33"/>
                <a:gd name="T35" fmla="*/ 22 h 34"/>
                <a:gd name="T36" fmla="*/ 25 w 33"/>
                <a:gd name="T37" fmla="*/ 27 h 34"/>
                <a:gd name="T38" fmla="*/ 21 w 33"/>
                <a:gd name="T39" fmla="*/ 30 h 34"/>
                <a:gd name="T40" fmla="*/ 16 w 33"/>
                <a:gd name="T41" fmla="*/ 30 h 34"/>
                <a:gd name="T42" fmla="*/ 11 w 33"/>
                <a:gd name="T43" fmla="*/ 30 h 34"/>
                <a:gd name="T44" fmla="*/ 6 w 33"/>
                <a:gd name="T45" fmla="*/ 27 h 34"/>
                <a:gd name="T46" fmla="*/ 3 w 33"/>
                <a:gd name="T47" fmla="*/ 22 h 34"/>
                <a:gd name="T48" fmla="*/ 3 w 33"/>
                <a:gd name="T49" fmla="*/ 17 h 34"/>
                <a:gd name="T50" fmla="*/ 3 w 33"/>
                <a:gd name="T51" fmla="*/ 12 h 34"/>
                <a:gd name="T52" fmla="*/ 6 w 33"/>
                <a:gd name="T53" fmla="*/ 9 h 34"/>
                <a:gd name="T54" fmla="*/ 11 w 33"/>
                <a:gd name="T55" fmla="*/ 5 h 34"/>
                <a:gd name="T56" fmla="*/ 16 w 33"/>
                <a:gd name="T57" fmla="*/ 4 h 34"/>
                <a:gd name="T58" fmla="*/ 21 w 33"/>
                <a:gd name="T59" fmla="*/ 5 h 34"/>
                <a:gd name="T60" fmla="*/ 25 w 33"/>
                <a:gd name="T61" fmla="*/ 9 h 34"/>
                <a:gd name="T62" fmla="*/ 28 w 33"/>
                <a:gd name="T63" fmla="*/ 12 h 34"/>
                <a:gd name="T64" fmla="*/ 30 w 33"/>
                <a:gd name="T65" fmla="*/ 17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3" h="34">
                  <a:moveTo>
                    <a:pt x="33" y="17"/>
                  </a:moveTo>
                  <a:lnTo>
                    <a:pt x="31" y="14"/>
                  </a:lnTo>
                  <a:lnTo>
                    <a:pt x="31" y="10"/>
                  </a:lnTo>
                  <a:lnTo>
                    <a:pt x="30" y="9"/>
                  </a:lnTo>
                  <a:lnTo>
                    <a:pt x="28" y="5"/>
                  </a:lnTo>
                  <a:lnTo>
                    <a:pt x="25" y="4"/>
                  </a:lnTo>
                  <a:lnTo>
                    <a:pt x="23" y="2"/>
                  </a:lnTo>
                  <a:lnTo>
                    <a:pt x="20" y="0"/>
                  </a:lnTo>
                  <a:lnTo>
                    <a:pt x="16" y="0"/>
                  </a:lnTo>
                  <a:lnTo>
                    <a:pt x="13" y="0"/>
                  </a:lnTo>
                  <a:lnTo>
                    <a:pt x="10" y="2"/>
                  </a:lnTo>
                  <a:lnTo>
                    <a:pt x="6" y="4"/>
                  </a:lnTo>
                  <a:lnTo>
                    <a:pt x="5" y="5"/>
                  </a:lnTo>
                  <a:lnTo>
                    <a:pt x="1" y="9"/>
                  </a:lnTo>
                  <a:lnTo>
                    <a:pt x="1" y="10"/>
                  </a:lnTo>
                  <a:lnTo>
                    <a:pt x="0" y="14"/>
                  </a:lnTo>
                  <a:lnTo>
                    <a:pt x="0" y="17"/>
                  </a:lnTo>
                  <a:lnTo>
                    <a:pt x="0" y="20"/>
                  </a:lnTo>
                  <a:lnTo>
                    <a:pt x="1" y="24"/>
                  </a:lnTo>
                  <a:lnTo>
                    <a:pt x="1" y="27"/>
                  </a:lnTo>
                  <a:lnTo>
                    <a:pt x="5" y="29"/>
                  </a:lnTo>
                  <a:lnTo>
                    <a:pt x="6" y="30"/>
                  </a:lnTo>
                  <a:lnTo>
                    <a:pt x="10" y="32"/>
                  </a:lnTo>
                  <a:lnTo>
                    <a:pt x="13" y="34"/>
                  </a:lnTo>
                  <a:lnTo>
                    <a:pt x="16" y="34"/>
                  </a:lnTo>
                  <a:lnTo>
                    <a:pt x="20" y="34"/>
                  </a:lnTo>
                  <a:lnTo>
                    <a:pt x="23" y="32"/>
                  </a:lnTo>
                  <a:lnTo>
                    <a:pt x="25" y="30"/>
                  </a:lnTo>
                  <a:lnTo>
                    <a:pt x="28" y="29"/>
                  </a:lnTo>
                  <a:lnTo>
                    <a:pt x="30" y="27"/>
                  </a:lnTo>
                  <a:lnTo>
                    <a:pt x="31" y="24"/>
                  </a:lnTo>
                  <a:lnTo>
                    <a:pt x="31" y="20"/>
                  </a:lnTo>
                  <a:lnTo>
                    <a:pt x="33" y="17"/>
                  </a:lnTo>
                  <a:close/>
                  <a:moveTo>
                    <a:pt x="30" y="17"/>
                  </a:moveTo>
                  <a:lnTo>
                    <a:pt x="30" y="20"/>
                  </a:lnTo>
                  <a:lnTo>
                    <a:pt x="28" y="22"/>
                  </a:lnTo>
                  <a:lnTo>
                    <a:pt x="26" y="25"/>
                  </a:lnTo>
                  <a:lnTo>
                    <a:pt x="25" y="27"/>
                  </a:lnTo>
                  <a:lnTo>
                    <a:pt x="23" y="29"/>
                  </a:lnTo>
                  <a:lnTo>
                    <a:pt x="21" y="30"/>
                  </a:lnTo>
                  <a:lnTo>
                    <a:pt x="18" y="30"/>
                  </a:lnTo>
                  <a:lnTo>
                    <a:pt x="16" y="30"/>
                  </a:lnTo>
                  <a:lnTo>
                    <a:pt x="13" y="30"/>
                  </a:lnTo>
                  <a:lnTo>
                    <a:pt x="11" y="30"/>
                  </a:lnTo>
                  <a:lnTo>
                    <a:pt x="8" y="29"/>
                  </a:lnTo>
                  <a:lnTo>
                    <a:pt x="6" y="27"/>
                  </a:lnTo>
                  <a:lnTo>
                    <a:pt x="5" y="25"/>
                  </a:lnTo>
                  <a:lnTo>
                    <a:pt x="3" y="22"/>
                  </a:lnTo>
                  <a:lnTo>
                    <a:pt x="3" y="20"/>
                  </a:lnTo>
                  <a:lnTo>
                    <a:pt x="3" y="17"/>
                  </a:lnTo>
                  <a:lnTo>
                    <a:pt x="3" y="15"/>
                  </a:lnTo>
                  <a:lnTo>
                    <a:pt x="3" y="12"/>
                  </a:lnTo>
                  <a:lnTo>
                    <a:pt x="5" y="10"/>
                  </a:lnTo>
                  <a:lnTo>
                    <a:pt x="6" y="9"/>
                  </a:lnTo>
                  <a:lnTo>
                    <a:pt x="8" y="7"/>
                  </a:lnTo>
                  <a:lnTo>
                    <a:pt x="11" y="5"/>
                  </a:lnTo>
                  <a:lnTo>
                    <a:pt x="13" y="4"/>
                  </a:lnTo>
                  <a:lnTo>
                    <a:pt x="16" y="4"/>
                  </a:lnTo>
                  <a:lnTo>
                    <a:pt x="18" y="4"/>
                  </a:lnTo>
                  <a:lnTo>
                    <a:pt x="21" y="5"/>
                  </a:lnTo>
                  <a:lnTo>
                    <a:pt x="23" y="7"/>
                  </a:lnTo>
                  <a:lnTo>
                    <a:pt x="25" y="9"/>
                  </a:lnTo>
                  <a:lnTo>
                    <a:pt x="26" y="10"/>
                  </a:lnTo>
                  <a:lnTo>
                    <a:pt x="28" y="12"/>
                  </a:lnTo>
                  <a:lnTo>
                    <a:pt x="30" y="15"/>
                  </a:lnTo>
                  <a:lnTo>
                    <a:pt x="30" y="17"/>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20" name="Freeform 664">
              <a:extLst>
                <a:ext uri="{FF2B5EF4-FFF2-40B4-BE49-F238E27FC236}">
                  <a16:creationId xmlns:a16="http://schemas.microsoft.com/office/drawing/2014/main" id="{393D5CF9-EC58-1182-744D-15ED36DEE5E7}"/>
                </a:ext>
              </a:extLst>
            </p:cNvPr>
            <p:cNvSpPr>
              <a:spLocks noEditPoints="1"/>
            </p:cNvSpPr>
            <p:nvPr/>
          </p:nvSpPr>
          <p:spPr bwMode="auto">
            <a:xfrm>
              <a:off x="2202" y="1623"/>
              <a:ext cx="30" cy="30"/>
            </a:xfrm>
            <a:custGeom>
              <a:avLst/>
              <a:gdLst>
                <a:gd name="T0" fmla="*/ 30 w 30"/>
                <a:gd name="T1" fmla="*/ 12 h 30"/>
                <a:gd name="T2" fmla="*/ 27 w 30"/>
                <a:gd name="T3" fmla="*/ 7 h 30"/>
                <a:gd name="T4" fmla="*/ 24 w 30"/>
                <a:gd name="T5" fmla="*/ 3 h 30"/>
                <a:gd name="T6" fmla="*/ 19 w 30"/>
                <a:gd name="T7" fmla="*/ 0 h 30"/>
                <a:gd name="T8" fmla="*/ 12 w 30"/>
                <a:gd name="T9" fmla="*/ 0 h 30"/>
                <a:gd name="T10" fmla="*/ 7 w 30"/>
                <a:gd name="T11" fmla="*/ 3 h 30"/>
                <a:gd name="T12" fmla="*/ 2 w 30"/>
                <a:gd name="T13" fmla="*/ 7 h 30"/>
                <a:gd name="T14" fmla="*/ 0 w 30"/>
                <a:gd name="T15" fmla="*/ 12 h 30"/>
                <a:gd name="T16" fmla="*/ 0 w 30"/>
                <a:gd name="T17" fmla="*/ 18 h 30"/>
                <a:gd name="T18" fmla="*/ 2 w 30"/>
                <a:gd name="T19" fmla="*/ 23 h 30"/>
                <a:gd name="T20" fmla="*/ 7 w 30"/>
                <a:gd name="T21" fmla="*/ 28 h 30"/>
                <a:gd name="T22" fmla="*/ 12 w 30"/>
                <a:gd name="T23" fmla="*/ 30 h 30"/>
                <a:gd name="T24" fmla="*/ 19 w 30"/>
                <a:gd name="T25" fmla="*/ 30 h 30"/>
                <a:gd name="T26" fmla="*/ 24 w 30"/>
                <a:gd name="T27" fmla="*/ 28 h 30"/>
                <a:gd name="T28" fmla="*/ 27 w 30"/>
                <a:gd name="T29" fmla="*/ 23 h 30"/>
                <a:gd name="T30" fmla="*/ 30 w 30"/>
                <a:gd name="T31" fmla="*/ 18 h 30"/>
                <a:gd name="T32" fmla="*/ 27 w 30"/>
                <a:gd name="T33" fmla="*/ 15 h 30"/>
                <a:gd name="T34" fmla="*/ 25 w 30"/>
                <a:gd name="T35" fmla="*/ 20 h 30"/>
                <a:gd name="T36" fmla="*/ 24 w 30"/>
                <a:gd name="T37" fmla="*/ 23 h 30"/>
                <a:gd name="T38" fmla="*/ 19 w 30"/>
                <a:gd name="T39" fmla="*/ 27 h 30"/>
                <a:gd name="T40" fmla="*/ 15 w 30"/>
                <a:gd name="T41" fmla="*/ 27 h 30"/>
                <a:gd name="T42" fmla="*/ 10 w 30"/>
                <a:gd name="T43" fmla="*/ 27 h 30"/>
                <a:gd name="T44" fmla="*/ 7 w 30"/>
                <a:gd name="T45" fmla="*/ 23 h 30"/>
                <a:gd name="T46" fmla="*/ 4 w 30"/>
                <a:gd name="T47" fmla="*/ 20 h 30"/>
                <a:gd name="T48" fmla="*/ 4 w 30"/>
                <a:gd name="T49" fmla="*/ 15 h 30"/>
                <a:gd name="T50" fmla="*/ 4 w 30"/>
                <a:gd name="T51" fmla="*/ 10 h 30"/>
                <a:gd name="T52" fmla="*/ 7 w 30"/>
                <a:gd name="T53" fmla="*/ 7 h 30"/>
                <a:gd name="T54" fmla="*/ 10 w 30"/>
                <a:gd name="T55" fmla="*/ 5 h 30"/>
                <a:gd name="T56" fmla="*/ 15 w 30"/>
                <a:gd name="T57" fmla="*/ 3 h 30"/>
                <a:gd name="T58" fmla="*/ 19 w 30"/>
                <a:gd name="T59" fmla="*/ 5 h 30"/>
                <a:gd name="T60" fmla="*/ 24 w 30"/>
                <a:gd name="T61" fmla="*/ 7 h 30"/>
                <a:gd name="T62" fmla="*/ 25 w 30"/>
                <a:gd name="T63" fmla="*/ 10 h 30"/>
                <a:gd name="T64" fmla="*/ 27 w 30"/>
                <a:gd name="T65" fmla="*/ 15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0" h="30">
                  <a:moveTo>
                    <a:pt x="30" y="15"/>
                  </a:moveTo>
                  <a:lnTo>
                    <a:pt x="30" y="12"/>
                  </a:lnTo>
                  <a:lnTo>
                    <a:pt x="29" y="10"/>
                  </a:lnTo>
                  <a:lnTo>
                    <a:pt x="27" y="7"/>
                  </a:lnTo>
                  <a:lnTo>
                    <a:pt x="25" y="5"/>
                  </a:lnTo>
                  <a:lnTo>
                    <a:pt x="24" y="3"/>
                  </a:lnTo>
                  <a:lnTo>
                    <a:pt x="20" y="2"/>
                  </a:lnTo>
                  <a:lnTo>
                    <a:pt x="19" y="0"/>
                  </a:lnTo>
                  <a:lnTo>
                    <a:pt x="15" y="0"/>
                  </a:lnTo>
                  <a:lnTo>
                    <a:pt x="12" y="0"/>
                  </a:lnTo>
                  <a:lnTo>
                    <a:pt x="9" y="2"/>
                  </a:lnTo>
                  <a:lnTo>
                    <a:pt x="7" y="3"/>
                  </a:lnTo>
                  <a:lnTo>
                    <a:pt x="4" y="5"/>
                  </a:lnTo>
                  <a:lnTo>
                    <a:pt x="2" y="7"/>
                  </a:lnTo>
                  <a:lnTo>
                    <a:pt x="0" y="10"/>
                  </a:lnTo>
                  <a:lnTo>
                    <a:pt x="0" y="12"/>
                  </a:lnTo>
                  <a:lnTo>
                    <a:pt x="0" y="15"/>
                  </a:lnTo>
                  <a:lnTo>
                    <a:pt x="0" y="18"/>
                  </a:lnTo>
                  <a:lnTo>
                    <a:pt x="0" y="22"/>
                  </a:lnTo>
                  <a:lnTo>
                    <a:pt x="2" y="23"/>
                  </a:lnTo>
                  <a:lnTo>
                    <a:pt x="4" y="27"/>
                  </a:lnTo>
                  <a:lnTo>
                    <a:pt x="7" y="28"/>
                  </a:lnTo>
                  <a:lnTo>
                    <a:pt x="9" y="28"/>
                  </a:lnTo>
                  <a:lnTo>
                    <a:pt x="12" y="30"/>
                  </a:lnTo>
                  <a:lnTo>
                    <a:pt x="15" y="30"/>
                  </a:lnTo>
                  <a:lnTo>
                    <a:pt x="19" y="30"/>
                  </a:lnTo>
                  <a:lnTo>
                    <a:pt x="20" y="28"/>
                  </a:lnTo>
                  <a:lnTo>
                    <a:pt x="24" y="28"/>
                  </a:lnTo>
                  <a:lnTo>
                    <a:pt x="25" y="27"/>
                  </a:lnTo>
                  <a:lnTo>
                    <a:pt x="27" y="23"/>
                  </a:lnTo>
                  <a:lnTo>
                    <a:pt x="29" y="22"/>
                  </a:lnTo>
                  <a:lnTo>
                    <a:pt x="30" y="18"/>
                  </a:lnTo>
                  <a:lnTo>
                    <a:pt x="30" y="15"/>
                  </a:lnTo>
                  <a:close/>
                  <a:moveTo>
                    <a:pt x="27" y="15"/>
                  </a:moveTo>
                  <a:lnTo>
                    <a:pt x="27" y="18"/>
                  </a:lnTo>
                  <a:lnTo>
                    <a:pt x="25" y="20"/>
                  </a:lnTo>
                  <a:lnTo>
                    <a:pt x="25" y="22"/>
                  </a:lnTo>
                  <a:lnTo>
                    <a:pt x="24" y="23"/>
                  </a:lnTo>
                  <a:lnTo>
                    <a:pt x="22" y="25"/>
                  </a:lnTo>
                  <a:lnTo>
                    <a:pt x="19" y="27"/>
                  </a:lnTo>
                  <a:lnTo>
                    <a:pt x="17" y="27"/>
                  </a:lnTo>
                  <a:lnTo>
                    <a:pt x="15" y="27"/>
                  </a:lnTo>
                  <a:lnTo>
                    <a:pt x="12" y="27"/>
                  </a:lnTo>
                  <a:lnTo>
                    <a:pt x="10" y="27"/>
                  </a:lnTo>
                  <a:lnTo>
                    <a:pt x="9" y="25"/>
                  </a:lnTo>
                  <a:lnTo>
                    <a:pt x="7" y="23"/>
                  </a:lnTo>
                  <a:lnTo>
                    <a:pt x="5" y="22"/>
                  </a:lnTo>
                  <a:lnTo>
                    <a:pt x="4" y="20"/>
                  </a:lnTo>
                  <a:lnTo>
                    <a:pt x="4" y="18"/>
                  </a:lnTo>
                  <a:lnTo>
                    <a:pt x="4" y="15"/>
                  </a:lnTo>
                  <a:lnTo>
                    <a:pt x="4" y="13"/>
                  </a:lnTo>
                  <a:lnTo>
                    <a:pt x="4" y="10"/>
                  </a:lnTo>
                  <a:lnTo>
                    <a:pt x="5" y="8"/>
                  </a:lnTo>
                  <a:lnTo>
                    <a:pt x="7" y="7"/>
                  </a:lnTo>
                  <a:lnTo>
                    <a:pt x="9" y="5"/>
                  </a:lnTo>
                  <a:lnTo>
                    <a:pt x="10" y="5"/>
                  </a:lnTo>
                  <a:lnTo>
                    <a:pt x="12" y="3"/>
                  </a:lnTo>
                  <a:lnTo>
                    <a:pt x="15" y="3"/>
                  </a:lnTo>
                  <a:lnTo>
                    <a:pt x="17" y="3"/>
                  </a:lnTo>
                  <a:lnTo>
                    <a:pt x="19" y="5"/>
                  </a:lnTo>
                  <a:lnTo>
                    <a:pt x="22" y="5"/>
                  </a:lnTo>
                  <a:lnTo>
                    <a:pt x="24" y="7"/>
                  </a:lnTo>
                  <a:lnTo>
                    <a:pt x="25" y="8"/>
                  </a:lnTo>
                  <a:lnTo>
                    <a:pt x="25" y="10"/>
                  </a:lnTo>
                  <a:lnTo>
                    <a:pt x="27" y="13"/>
                  </a:lnTo>
                  <a:lnTo>
                    <a:pt x="27" y="15"/>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21" name="Freeform 665">
              <a:extLst>
                <a:ext uri="{FF2B5EF4-FFF2-40B4-BE49-F238E27FC236}">
                  <a16:creationId xmlns:a16="http://schemas.microsoft.com/office/drawing/2014/main" id="{E78D962A-1BEF-25E1-ED7D-D4869401FCAB}"/>
                </a:ext>
              </a:extLst>
            </p:cNvPr>
            <p:cNvSpPr>
              <a:spLocks noEditPoints="1"/>
            </p:cNvSpPr>
            <p:nvPr/>
          </p:nvSpPr>
          <p:spPr bwMode="auto">
            <a:xfrm>
              <a:off x="2204" y="1625"/>
              <a:ext cx="27" cy="26"/>
            </a:xfrm>
            <a:custGeom>
              <a:avLst/>
              <a:gdLst>
                <a:gd name="T0" fmla="*/ 27 w 27"/>
                <a:gd name="T1" fmla="*/ 11 h 26"/>
                <a:gd name="T2" fmla="*/ 23 w 27"/>
                <a:gd name="T3" fmla="*/ 6 h 26"/>
                <a:gd name="T4" fmla="*/ 20 w 27"/>
                <a:gd name="T5" fmla="*/ 3 h 26"/>
                <a:gd name="T6" fmla="*/ 15 w 27"/>
                <a:gd name="T7" fmla="*/ 0 h 26"/>
                <a:gd name="T8" fmla="*/ 10 w 27"/>
                <a:gd name="T9" fmla="*/ 0 h 26"/>
                <a:gd name="T10" fmla="*/ 5 w 27"/>
                <a:gd name="T11" fmla="*/ 3 h 26"/>
                <a:gd name="T12" fmla="*/ 2 w 27"/>
                <a:gd name="T13" fmla="*/ 6 h 26"/>
                <a:gd name="T14" fmla="*/ 0 w 27"/>
                <a:gd name="T15" fmla="*/ 11 h 26"/>
                <a:gd name="T16" fmla="*/ 0 w 27"/>
                <a:gd name="T17" fmla="*/ 16 h 26"/>
                <a:gd name="T18" fmla="*/ 2 w 27"/>
                <a:gd name="T19" fmla="*/ 21 h 26"/>
                <a:gd name="T20" fmla="*/ 5 w 27"/>
                <a:gd name="T21" fmla="*/ 25 h 26"/>
                <a:gd name="T22" fmla="*/ 10 w 27"/>
                <a:gd name="T23" fmla="*/ 26 h 26"/>
                <a:gd name="T24" fmla="*/ 15 w 27"/>
                <a:gd name="T25" fmla="*/ 26 h 26"/>
                <a:gd name="T26" fmla="*/ 20 w 27"/>
                <a:gd name="T27" fmla="*/ 25 h 26"/>
                <a:gd name="T28" fmla="*/ 23 w 27"/>
                <a:gd name="T29" fmla="*/ 21 h 26"/>
                <a:gd name="T30" fmla="*/ 27 w 27"/>
                <a:gd name="T31" fmla="*/ 16 h 26"/>
                <a:gd name="T32" fmla="*/ 23 w 27"/>
                <a:gd name="T33" fmla="*/ 13 h 26"/>
                <a:gd name="T34" fmla="*/ 22 w 27"/>
                <a:gd name="T35" fmla="*/ 16 h 26"/>
                <a:gd name="T36" fmla="*/ 20 w 27"/>
                <a:gd name="T37" fmla="*/ 20 h 26"/>
                <a:gd name="T38" fmla="*/ 17 w 27"/>
                <a:gd name="T39" fmla="*/ 23 h 26"/>
                <a:gd name="T40" fmla="*/ 13 w 27"/>
                <a:gd name="T41" fmla="*/ 23 h 26"/>
                <a:gd name="T42" fmla="*/ 8 w 27"/>
                <a:gd name="T43" fmla="*/ 23 h 26"/>
                <a:gd name="T44" fmla="*/ 5 w 27"/>
                <a:gd name="T45" fmla="*/ 20 h 26"/>
                <a:gd name="T46" fmla="*/ 3 w 27"/>
                <a:gd name="T47" fmla="*/ 15 h 26"/>
                <a:gd name="T48" fmla="*/ 3 w 27"/>
                <a:gd name="T49" fmla="*/ 11 h 26"/>
                <a:gd name="T50" fmla="*/ 5 w 27"/>
                <a:gd name="T51" fmla="*/ 8 h 26"/>
                <a:gd name="T52" fmla="*/ 7 w 27"/>
                <a:gd name="T53" fmla="*/ 5 h 26"/>
                <a:gd name="T54" fmla="*/ 12 w 27"/>
                <a:gd name="T55" fmla="*/ 3 h 26"/>
                <a:gd name="T56" fmla="*/ 15 w 27"/>
                <a:gd name="T57" fmla="*/ 3 h 26"/>
                <a:gd name="T58" fmla="*/ 18 w 27"/>
                <a:gd name="T59" fmla="*/ 5 h 26"/>
                <a:gd name="T60" fmla="*/ 22 w 27"/>
                <a:gd name="T61" fmla="*/ 8 h 26"/>
                <a:gd name="T62" fmla="*/ 23 w 27"/>
                <a:gd name="T63" fmla="*/ 11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 h="26">
                  <a:moveTo>
                    <a:pt x="27" y="13"/>
                  </a:moveTo>
                  <a:lnTo>
                    <a:pt x="27" y="11"/>
                  </a:lnTo>
                  <a:lnTo>
                    <a:pt x="25" y="8"/>
                  </a:lnTo>
                  <a:lnTo>
                    <a:pt x="23" y="6"/>
                  </a:lnTo>
                  <a:lnTo>
                    <a:pt x="22" y="5"/>
                  </a:lnTo>
                  <a:lnTo>
                    <a:pt x="20" y="3"/>
                  </a:lnTo>
                  <a:lnTo>
                    <a:pt x="18" y="1"/>
                  </a:lnTo>
                  <a:lnTo>
                    <a:pt x="15" y="0"/>
                  </a:lnTo>
                  <a:lnTo>
                    <a:pt x="13" y="0"/>
                  </a:lnTo>
                  <a:lnTo>
                    <a:pt x="10" y="0"/>
                  </a:lnTo>
                  <a:lnTo>
                    <a:pt x="8" y="1"/>
                  </a:lnTo>
                  <a:lnTo>
                    <a:pt x="5" y="3"/>
                  </a:lnTo>
                  <a:lnTo>
                    <a:pt x="3" y="5"/>
                  </a:lnTo>
                  <a:lnTo>
                    <a:pt x="2" y="6"/>
                  </a:lnTo>
                  <a:lnTo>
                    <a:pt x="0" y="8"/>
                  </a:lnTo>
                  <a:lnTo>
                    <a:pt x="0" y="11"/>
                  </a:lnTo>
                  <a:lnTo>
                    <a:pt x="0" y="13"/>
                  </a:lnTo>
                  <a:lnTo>
                    <a:pt x="0" y="16"/>
                  </a:lnTo>
                  <a:lnTo>
                    <a:pt x="0" y="18"/>
                  </a:lnTo>
                  <a:lnTo>
                    <a:pt x="2" y="21"/>
                  </a:lnTo>
                  <a:lnTo>
                    <a:pt x="3" y="23"/>
                  </a:lnTo>
                  <a:lnTo>
                    <a:pt x="5" y="25"/>
                  </a:lnTo>
                  <a:lnTo>
                    <a:pt x="8" y="26"/>
                  </a:lnTo>
                  <a:lnTo>
                    <a:pt x="10" y="26"/>
                  </a:lnTo>
                  <a:lnTo>
                    <a:pt x="13" y="26"/>
                  </a:lnTo>
                  <a:lnTo>
                    <a:pt x="15" y="26"/>
                  </a:lnTo>
                  <a:lnTo>
                    <a:pt x="18" y="26"/>
                  </a:lnTo>
                  <a:lnTo>
                    <a:pt x="20" y="25"/>
                  </a:lnTo>
                  <a:lnTo>
                    <a:pt x="22" y="23"/>
                  </a:lnTo>
                  <a:lnTo>
                    <a:pt x="23" y="21"/>
                  </a:lnTo>
                  <a:lnTo>
                    <a:pt x="25" y="18"/>
                  </a:lnTo>
                  <a:lnTo>
                    <a:pt x="27" y="16"/>
                  </a:lnTo>
                  <a:lnTo>
                    <a:pt x="27" y="13"/>
                  </a:lnTo>
                  <a:close/>
                  <a:moveTo>
                    <a:pt x="23" y="13"/>
                  </a:moveTo>
                  <a:lnTo>
                    <a:pt x="23" y="15"/>
                  </a:lnTo>
                  <a:lnTo>
                    <a:pt x="22" y="16"/>
                  </a:lnTo>
                  <a:lnTo>
                    <a:pt x="22" y="20"/>
                  </a:lnTo>
                  <a:lnTo>
                    <a:pt x="20" y="20"/>
                  </a:lnTo>
                  <a:lnTo>
                    <a:pt x="18" y="21"/>
                  </a:lnTo>
                  <a:lnTo>
                    <a:pt x="17" y="23"/>
                  </a:lnTo>
                  <a:lnTo>
                    <a:pt x="15" y="23"/>
                  </a:lnTo>
                  <a:lnTo>
                    <a:pt x="13" y="23"/>
                  </a:lnTo>
                  <a:lnTo>
                    <a:pt x="12" y="23"/>
                  </a:lnTo>
                  <a:lnTo>
                    <a:pt x="8" y="23"/>
                  </a:lnTo>
                  <a:lnTo>
                    <a:pt x="7" y="21"/>
                  </a:lnTo>
                  <a:lnTo>
                    <a:pt x="5" y="20"/>
                  </a:lnTo>
                  <a:lnTo>
                    <a:pt x="3" y="16"/>
                  </a:lnTo>
                  <a:lnTo>
                    <a:pt x="3" y="15"/>
                  </a:lnTo>
                  <a:lnTo>
                    <a:pt x="3" y="13"/>
                  </a:lnTo>
                  <a:lnTo>
                    <a:pt x="3" y="11"/>
                  </a:lnTo>
                  <a:lnTo>
                    <a:pt x="3" y="10"/>
                  </a:lnTo>
                  <a:lnTo>
                    <a:pt x="5" y="8"/>
                  </a:lnTo>
                  <a:lnTo>
                    <a:pt x="5" y="6"/>
                  </a:lnTo>
                  <a:lnTo>
                    <a:pt x="7" y="5"/>
                  </a:lnTo>
                  <a:lnTo>
                    <a:pt x="8" y="5"/>
                  </a:lnTo>
                  <a:lnTo>
                    <a:pt x="12" y="3"/>
                  </a:lnTo>
                  <a:lnTo>
                    <a:pt x="13" y="3"/>
                  </a:lnTo>
                  <a:lnTo>
                    <a:pt x="15" y="3"/>
                  </a:lnTo>
                  <a:lnTo>
                    <a:pt x="17" y="5"/>
                  </a:lnTo>
                  <a:lnTo>
                    <a:pt x="18" y="5"/>
                  </a:lnTo>
                  <a:lnTo>
                    <a:pt x="20" y="6"/>
                  </a:lnTo>
                  <a:lnTo>
                    <a:pt x="22" y="8"/>
                  </a:lnTo>
                  <a:lnTo>
                    <a:pt x="22" y="10"/>
                  </a:lnTo>
                  <a:lnTo>
                    <a:pt x="23" y="11"/>
                  </a:lnTo>
                  <a:lnTo>
                    <a:pt x="23" y="13"/>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22" name="Freeform 666">
              <a:extLst>
                <a:ext uri="{FF2B5EF4-FFF2-40B4-BE49-F238E27FC236}">
                  <a16:creationId xmlns:a16="http://schemas.microsoft.com/office/drawing/2014/main" id="{71F76FBF-42A6-8CF9-6774-FB73DB9ADB19}"/>
                </a:ext>
              </a:extLst>
            </p:cNvPr>
            <p:cNvSpPr>
              <a:spLocks noEditPoints="1"/>
            </p:cNvSpPr>
            <p:nvPr/>
          </p:nvSpPr>
          <p:spPr bwMode="auto">
            <a:xfrm>
              <a:off x="2206" y="1626"/>
              <a:ext cx="23" cy="24"/>
            </a:xfrm>
            <a:custGeom>
              <a:avLst/>
              <a:gdLst>
                <a:gd name="T0" fmla="*/ 23 w 23"/>
                <a:gd name="T1" fmla="*/ 10 h 24"/>
                <a:gd name="T2" fmla="*/ 21 w 23"/>
                <a:gd name="T3" fmla="*/ 5 h 24"/>
                <a:gd name="T4" fmla="*/ 18 w 23"/>
                <a:gd name="T5" fmla="*/ 2 h 24"/>
                <a:gd name="T6" fmla="*/ 13 w 23"/>
                <a:gd name="T7" fmla="*/ 0 h 24"/>
                <a:gd name="T8" fmla="*/ 8 w 23"/>
                <a:gd name="T9" fmla="*/ 0 h 24"/>
                <a:gd name="T10" fmla="*/ 5 w 23"/>
                <a:gd name="T11" fmla="*/ 2 h 24"/>
                <a:gd name="T12" fmla="*/ 1 w 23"/>
                <a:gd name="T13" fmla="*/ 5 h 24"/>
                <a:gd name="T14" fmla="*/ 0 w 23"/>
                <a:gd name="T15" fmla="*/ 10 h 24"/>
                <a:gd name="T16" fmla="*/ 0 w 23"/>
                <a:gd name="T17" fmla="*/ 15 h 24"/>
                <a:gd name="T18" fmla="*/ 1 w 23"/>
                <a:gd name="T19" fmla="*/ 19 h 24"/>
                <a:gd name="T20" fmla="*/ 5 w 23"/>
                <a:gd name="T21" fmla="*/ 22 h 24"/>
                <a:gd name="T22" fmla="*/ 8 w 23"/>
                <a:gd name="T23" fmla="*/ 24 h 24"/>
                <a:gd name="T24" fmla="*/ 13 w 23"/>
                <a:gd name="T25" fmla="*/ 24 h 24"/>
                <a:gd name="T26" fmla="*/ 18 w 23"/>
                <a:gd name="T27" fmla="*/ 22 h 24"/>
                <a:gd name="T28" fmla="*/ 21 w 23"/>
                <a:gd name="T29" fmla="*/ 19 h 24"/>
                <a:gd name="T30" fmla="*/ 23 w 23"/>
                <a:gd name="T31" fmla="*/ 15 h 24"/>
                <a:gd name="T32" fmla="*/ 20 w 23"/>
                <a:gd name="T33" fmla="*/ 12 h 24"/>
                <a:gd name="T34" fmla="*/ 18 w 23"/>
                <a:gd name="T35" fmla="*/ 15 h 24"/>
                <a:gd name="T36" fmla="*/ 16 w 23"/>
                <a:gd name="T37" fmla="*/ 19 h 24"/>
                <a:gd name="T38" fmla="*/ 13 w 23"/>
                <a:gd name="T39" fmla="*/ 20 h 24"/>
                <a:gd name="T40" fmla="*/ 10 w 23"/>
                <a:gd name="T41" fmla="*/ 20 h 24"/>
                <a:gd name="T42" fmla="*/ 6 w 23"/>
                <a:gd name="T43" fmla="*/ 19 h 24"/>
                <a:gd name="T44" fmla="*/ 5 w 23"/>
                <a:gd name="T45" fmla="*/ 17 h 24"/>
                <a:gd name="T46" fmla="*/ 3 w 23"/>
                <a:gd name="T47" fmla="*/ 14 h 24"/>
                <a:gd name="T48" fmla="*/ 3 w 23"/>
                <a:gd name="T49" fmla="*/ 10 h 24"/>
                <a:gd name="T50" fmla="*/ 5 w 23"/>
                <a:gd name="T51" fmla="*/ 7 h 24"/>
                <a:gd name="T52" fmla="*/ 8 w 23"/>
                <a:gd name="T53" fmla="*/ 5 h 24"/>
                <a:gd name="T54" fmla="*/ 11 w 23"/>
                <a:gd name="T55" fmla="*/ 4 h 24"/>
                <a:gd name="T56" fmla="*/ 15 w 23"/>
                <a:gd name="T57" fmla="*/ 5 h 24"/>
                <a:gd name="T58" fmla="*/ 16 w 23"/>
                <a:gd name="T59" fmla="*/ 7 h 24"/>
                <a:gd name="T60" fmla="*/ 18 w 23"/>
                <a:gd name="T61" fmla="*/ 9 h 24"/>
                <a:gd name="T62" fmla="*/ 20 w 23"/>
                <a:gd name="T63"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3" h="24">
                  <a:moveTo>
                    <a:pt x="23" y="12"/>
                  </a:moveTo>
                  <a:lnTo>
                    <a:pt x="23" y="10"/>
                  </a:lnTo>
                  <a:lnTo>
                    <a:pt x="21" y="7"/>
                  </a:lnTo>
                  <a:lnTo>
                    <a:pt x="21" y="5"/>
                  </a:lnTo>
                  <a:lnTo>
                    <a:pt x="20" y="4"/>
                  </a:lnTo>
                  <a:lnTo>
                    <a:pt x="18" y="2"/>
                  </a:lnTo>
                  <a:lnTo>
                    <a:pt x="15" y="2"/>
                  </a:lnTo>
                  <a:lnTo>
                    <a:pt x="13" y="0"/>
                  </a:lnTo>
                  <a:lnTo>
                    <a:pt x="11" y="0"/>
                  </a:lnTo>
                  <a:lnTo>
                    <a:pt x="8" y="0"/>
                  </a:lnTo>
                  <a:lnTo>
                    <a:pt x="6" y="2"/>
                  </a:lnTo>
                  <a:lnTo>
                    <a:pt x="5" y="2"/>
                  </a:lnTo>
                  <a:lnTo>
                    <a:pt x="3" y="4"/>
                  </a:lnTo>
                  <a:lnTo>
                    <a:pt x="1" y="5"/>
                  </a:lnTo>
                  <a:lnTo>
                    <a:pt x="0" y="7"/>
                  </a:lnTo>
                  <a:lnTo>
                    <a:pt x="0" y="10"/>
                  </a:lnTo>
                  <a:lnTo>
                    <a:pt x="0" y="12"/>
                  </a:lnTo>
                  <a:lnTo>
                    <a:pt x="0" y="15"/>
                  </a:lnTo>
                  <a:lnTo>
                    <a:pt x="0" y="17"/>
                  </a:lnTo>
                  <a:lnTo>
                    <a:pt x="1" y="19"/>
                  </a:lnTo>
                  <a:lnTo>
                    <a:pt x="3" y="20"/>
                  </a:lnTo>
                  <a:lnTo>
                    <a:pt x="5" y="22"/>
                  </a:lnTo>
                  <a:lnTo>
                    <a:pt x="6" y="24"/>
                  </a:lnTo>
                  <a:lnTo>
                    <a:pt x="8" y="24"/>
                  </a:lnTo>
                  <a:lnTo>
                    <a:pt x="11" y="24"/>
                  </a:lnTo>
                  <a:lnTo>
                    <a:pt x="13" y="24"/>
                  </a:lnTo>
                  <a:lnTo>
                    <a:pt x="15" y="24"/>
                  </a:lnTo>
                  <a:lnTo>
                    <a:pt x="18" y="22"/>
                  </a:lnTo>
                  <a:lnTo>
                    <a:pt x="20" y="20"/>
                  </a:lnTo>
                  <a:lnTo>
                    <a:pt x="21" y="19"/>
                  </a:lnTo>
                  <a:lnTo>
                    <a:pt x="21" y="17"/>
                  </a:lnTo>
                  <a:lnTo>
                    <a:pt x="23" y="15"/>
                  </a:lnTo>
                  <a:lnTo>
                    <a:pt x="23" y="12"/>
                  </a:lnTo>
                  <a:close/>
                  <a:moveTo>
                    <a:pt x="20" y="12"/>
                  </a:moveTo>
                  <a:lnTo>
                    <a:pt x="20" y="14"/>
                  </a:lnTo>
                  <a:lnTo>
                    <a:pt x="18" y="15"/>
                  </a:lnTo>
                  <a:lnTo>
                    <a:pt x="18" y="17"/>
                  </a:lnTo>
                  <a:lnTo>
                    <a:pt x="16" y="19"/>
                  </a:lnTo>
                  <a:lnTo>
                    <a:pt x="15" y="20"/>
                  </a:lnTo>
                  <a:lnTo>
                    <a:pt x="13" y="20"/>
                  </a:lnTo>
                  <a:lnTo>
                    <a:pt x="11" y="20"/>
                  </a:lnTo>
                  <a:lnTo>
                    <a:pt x="10" y="20"/>
                  </a:lnTo>
                  <a:lnTo>
                    <a:pt x="8" y="20"/>
                  </a:lnTo>
                  <a:lnTo>
                    <a:pt x="6" y="19"/>
                  </a:lnTo>
                  <a:lnTo>
                    <a:pt x="5" y="19"/>
                  </a:lnTo>
                  <a:lnTo>
                    <a:pt x="5" y="17"/>
                  </a:lnTo>
                  <a:lnTo>
                    <a:pt x="3" y="15"/>
                  </a:lnTo>
                  <a:lnTo>
                    <a:pt x="3" y="14"/>
                  </a:lnTo>
                  <a:lnTo>
                    <a:pt x="3" y="12"/>
                  </a:lnTo>
                  <a:lnTo>
                    <a:pt x="3" y="10"/>
                  </a:lnTo>
                  <a:lnTo>
                    <a:pt x="3" y="9"/>
                  </a:lnTo>
                  <a:lnTo>
                    <a:pt x="5" y="7"/>
                  </a:lnTo>
                  <a:lnTo>
                    <a:pt x="6" y="5"/>
                  </a:lnTo>
                  <a:lnTo>
                    <a:pt x="8" y="5"/>
                  </a:lnTo>
                  <a:lnTo>
                    <a:pt x="10" y="4"/>
                  </a:lnTo>
                  <a:lnTo>
                    <a:pt x="11" y="4"/>
                  </a:lnTo>
                  <a:lnTo>
                    <a:pt x="13" y="4"/>
                  </a:lnTo>
                  <a:lnTo>
                    <a:pt x="15" y="5"/>
                  </a:lnTo>
                  <a:lnTo>
                    <a:pt x="16" y="5"/>
                  </a:lnTo>
                  <a:lnTo>
                    <a:pt x="16" y="7"/>
                  </a:lnTo>
                  <a:lnTo>
                    <a:pt x="18" y="7"/>
                  </a:lnTo>
                  <a:lnTo>
                    <a:pt x="18" y="9"/>
                  </a:lnTo>
                  <a:lnTo>
                    <a:pt x="20" y="10"/>
                  </a:lnTo>
                  <a:lnTo>
                    <a:pt x="20" y="12"/>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23" name="Freeform 667">
              <a:extLst>
                <a:ext uri="{FF2B5EF4-FFF2-40B4-BE49-F238E27FC236}">
                  <a16:creationId xmlns:a16="http://schemas.microsoft.com/office/drawing/2014/main" id="{6B4C89EB-2DA8-74EF-C763-A56CF3FDF1AD}"/>
                </a:ext>
              </a:extLst>
            </p:cNvPr>
            <p:cNvSpPr>
              <a:spLocks noEditPoints="1"/>
            </p:cNvSpPr>
            <p:nvPr/>
          </p:nvSpPr>
          <p:spPr bwMode="auto">
            <a:xfrm>
              <a:off x="2207" y="1628"/>
              <a:ext cx="20" cy="20"/>
            </a:xfrm>
            <a:custGeom>
              <a:avLst/>
              <a:gdLst>
                <a:gd name="T0" fmla="*/ 20 w 20"/>
                <a:gd name="T1" fmla="*/ 10 h 20"/>
                <a:gd name="T2" fmla="*/ 20 w 20"/>
                <a:gd name="T3" fmla="*/ 8 h 20"/>
                <a:gd name="T4" fmla="*/ 19 w 20"/>
                <a:gd name="T5" fmla="*/ 7 h 20"/>
                <a:gd name="T6" fmla="*/ 19 w 20"/>
                <a:gd name="T7" fmla="*/ 5 h 20"/>
                <a:gd name="T8" fmla="*/ 17 w 20"/>
                <a:gd name="T9" fmla="*/ 3 h 20"/>
                <a:gd name="T10" fmla="*/ 15 w 20"/>
                <a:gd name="T11" fmla="*/ 2 h 20"/>
                <a:gd name="T12" fmla="*/ 14 w 20"/>
                <a:gd name="T13" fmla="*/ 2 h 20"/>
                <a:gd name="T14" fmla="*/ 12 w 20"/>
                <a:gd name="T15" fmla="*/ 0 h 20"/>
                <a:gd name="T16" fmla="*/ 10 w 20"/>
                <a:gd name="T17" fmla="*/ 0 h 20"/>
                <a:gd name="T18" fmla="*/ 9 w 20"/>
                <a:gd name="T19" fmla="*/ 0 h 20"/>
                <a:gd name="T20" fmla="*/ 5 w 20"/>
                <a:gd name="T21" fmla="*/ 2 h 20"/>
                <a:gd name="T22" fmla="*/ 4 w 20"/>
                <a:gd name="T23" fmla="*/ 2 h 20"/>
                <a:gd name="T24" fmla="*/ 2 w 20"/>
                <a:gd name="T25" fmla="*/ 3 h 20"/>
                <a:gd name="T26" fmla="*/ 2 w 20"/>
                <a:gd name="T27" fmla="*/ 5 h 20"/>
                <a:gd name="T28" fmla="*/ 0 w 20"/>
                <a:gd name="T29" fmla="*/ 7 h 20"/>
                <a:gd name="T30" fmla="*/ 0 w 20"/>
                <a:gd name="T31" fmla="*/ 8 h 20"/>
                <a:gd name="T32" fmla="*/ 0 w 20"/>
                <a:gd name="T33" fmla="*/ 10 h 20"/>
                <a:gd name="T34" fmla="*/ 0 w 20"/>
                <a:gd name="T35" fmla="*/ 12 h 20"/>
                <a:gd name="T36" fmla="*/ 0 w 20"/>
                <a:gd name="T37" fmla="*/ 13 h 20"/>
                <a:gd name="T38" fmla="*/ 2 w 20"/>
                <a:gd name="T39" fmla="*/ 17 h 20"/>
                <a:gd name="T40" fmla="*/ 4 w 20"/>
                <a:gd name="T41" fmla="*/ 18 h 20"/>
                <a:gd name="T42" fmla="*/ 5 w 20"/>
                <a:gd name="T43" fmla="*/ 20 h 20"/>
                <a:gd name="T44" fmla="*/ 9 w 20"/>
                <a:gd name="T45" fmla="*/ 20 h 20"/>
                <a:gd name="T46" fmla="*/ 10 w 20"/>
                <a:gd name="T47" fmla="*/ 20 h 20"/>
                <a:gd name="T48" fmla="*/ 12 w 20"/>
                <a:gd name="T49" fmla="*/ 20 h 20"/>
                <a:gd name="T50" fmla="*/ 14 w 20"/>
                <a:gd name="T51" fmla="*/ 20 h 20"/>
                <a:gd name="T52" fmla="*/ 15 w 20"/>
                <a:gd name="T53" fmla="*/ 18 h 20"/>
                <a:gd name="T54" fmla="*/ 17 w 20"/>
                <a:gd name="T55" fmla="*/ 17 h 20"/>
                <a:gd name="T56" fmla="*/ 19 w 20"/>
                <a:gd name="T57" fmla="*/ 17 h 20"/>
                <a:gd name="T58" fmla="*/ 19 w 20"/>
                <a:gd name="T59" fmla="*/ 13 h 20"/>
                <a:gd name="T60" fmla="*/ 20 w 20"/>
                <a:gd name="T61" fmla="*/ 12 h 20"/>
                <a:gd name="T62" fmla="*/ 20 w 20"/>
                <a:gd name="T63" fmla="*/ 10 h 20"/>
                <a:gd name="T64" fmla="*/ 17 w 20"/>
                <a:gd name="T65" fmla="*/ 10 h 20"/>
                <a:gd name="T66" fmla="*/ 17 w 20"/>
                <a:gd name="T67" fmla="*/ 12 h 20"/>
                <a:gd name="T68" fmla="*/ 15 w 20"/>
                <a:gd name="T69" fmla="*/ 13 h 20"/>
                <a:gd name="T70" fmla="*/ 15 w 20"/>
                <a:gd name="T71" fmla="*/ 15 h 20"/>
                <a:gd name="T72" fmla="*/ 14 w 20"/>
                <a:gd name="T73" fmla="*/ 15 h 20"/>
                <a:gd name="T74" fmla="*/ 12 w 20"/>
                <a:gd name="T75" fmla="*/ 17 h 20"/>
                <a:gd name="T76" fmla="*/ 10 w 20"/>
                <a:gd name="T77" fmla="*/ 17 h 20"/>
                <a:gd name="T78" fmla="*/ 9 w 20"/>
                <a:gd name="T79" fmla="*/ 17 h 20"/>
                <a:gd name="T80" fmla="*/ 7 w 20"/>
                <a:gd name="T81" fmla="*/ 17 h 20"/>
                <a:gd name="T82" fmla="*/ 5 w 20"/>
                <a:gd name="T83" fmla="*/ 15 h 20"/>
                <a:gd name="T84" fmla="*/ 4 w 20"/>
                <a:gd name="T85" fmla="*/ 13 h 20"/>
                <a:gd name="T86" fmla="*/ 4 w 20"/>
                <a:gd name="T87" fmla="*/ 12 h 20"/>
                <a:gd name="T88" fmla="*/ 4 w 20"/>
                <a:gd name="T89" fmla="*/ 10 h 20"/>
                <a:gd name="T90" fmla="*/ 4 w 20"/>
                <a:gd name="T91" fmla="*/ 8 h 20"/>
                <a:gd name="T92" fmla="*/ 4 w 20"/>
                <a:gd name="T93" fmla="*/ 7 h 20"/>
                <a:gd name="T94" fmla="*/ 5 w 20"/>
                <a:gd name="T95" fmla="*/ 5 h 20"/>
                <a:gd name="T96" fmla="*/ 7 w 20"/>
                <a:gd name="T97" fmla="*/ 3 h 20"/>
                <a:gd name="T98" fmla="*/ 9 w 20"/>
                <a:gd name="T99" fmla="*/ 3 h 20"/>
                <a:gd name="T100" fmla="*/ 10 w 20"/>
                <a:gd name="T101" fmla="*/ 3 h 20"/>
                <a:gd name="T102" fmla="*/ 12 w 20"/>
                <a:gd name="T103" fmla="*/ 3 h 20"/>
                <a:gd name="T104" fmla="*/ 14 w 20"/>
                <a:gd name="T105" fmla="*/ 5 h 20"/>
                <a:gd name="T106" fmla="*/ 15 w 20"/>
                <a:gd name="T107" fmla="*/ 5 h 20"/>
                <a:gd name="T108" fmla="*/ 15 w 20"/>
                <a:gd name="T109" fmla="*/ 7 h 20"/>
                <a:gd name="T110" fmla="*/ 15 w 20"/>
                <a:gd name="T111" fmla="*/ 8 h 20"/>
                <a:gd name="T112" fmla="*/ 17 w 20"/>
                <a:gd name="T113" fmla="*/ 8 h 20"/>
                <a:gd name="T114" fmla="*/ 17 w 20"/>
                <a:gd name="T115" fmla="*/ 1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0" h="20">
                  <a:moveTo>
                    <a:pt x="20" y="10"/>
                  </a:moveTo>
                  <a:lnTo>
                    <a:pt x="20" y="8"/>
                  </a:lnTo>
                  <a:lnTo>
                    <a:pt x="19" y="7"/>
                  </a:lnTo>
                  <a:lnTo>
                    <a:pt x="19" y="5"/>
                  </a:lnTo>
                  <a:lnTo>
                    <a:pt x="17" y="3"/>
                  </a:lnTo>
                  <a:lnTo>
                    <a:pt x="15" y="2"/>
                  </a:lnTo>
                  <a:lnTo>
                    <a:pt x="14" y="2"/>
                  </a:lnTo>
                  <a:lnTo>
                    <a:pt x="12" y="0"/>
                  </a:lnTo>
                  <a:lnTo>
                    <a:pt x="10" y="0"/>
                  </a:lnTo>
                  <a:lnTo>
                    <a:pt x="9" y="0"/>
                  </a:lnTo>
                  <a:lnTo>
                    <a:pt x="5" y="2"/>
                  </a:lnTo>
                  <a:lnTo>
                    <a:pt x="4" y="2"/>
                  </a:lnTo>
                  <a:lnTo>
                    <a:pt x="2" y="3"/>
                  </a:lnTo>
                  <a:lnTo>
                    <a:pt x="2" y="5"/>
                  </a:lnTo>
                  <a:lnTo>
                    <a:pt x="0" y="7"/>
                  </a:lnTo>
                  <a:lnTo>
                    <a:pt x="0" y="8"/>
                  </a:lnTo>
                  <a:lnTo>
                    <a:pt x="0" y="10"/>
                  </a:lnTo>
                  <a:lnTo>
                    <a:pt x="0" y="12"/>
                  </a:lnTo>
                  <a:lnTo>
                    <a:pt x="0" y="13"/>
                  </a:lnTo>
                  <a:lnTo>
                    <a:pt x="2" y="17"/>
                  </a:lnTo>
                  <a:lnTo>
                    <a:pt x="4" y="18"/>
                  </a:lnTo>
                  <a:lnTo>
                    <a:pt x="5" y="20"/>
                  </a:lnTo>
                  <a:lnTo>
                    <a:pt x="9" y="20"/>
                  </a:lnTo>
                  <a:lnTo>
                    <a:pt x="10" y="20"/>
                  </a:lnTo>
                  <a:lnTo>
                    <a:pt x="12" y="20"/>
                  </a:lnTo>
                  <a:lnTo>
                    <a:pt x="14" y="20"/>
                  </a:lnTo>
                  <a:lnTo>
                    <a:pt x="15" y="18"/>
                  </a:lnTo>
                  <a:lnTo>
                    <a:pt x="17" y="17"/>
                  </a:lnTo>
                  <a:lnTo>
                    <a:pt x="19" y="17"/>
                  </a:lnTo>
                  <a:lnTo>
                    <a:pt x="19" y="13"/>
                  </a:lnTo>
                  <a:lnTo>
                    <a:pt x="20" y="12"/>
                  </a:lnTo>
                  <a:lnTo>
                    <a:pt x="20" y="10"/>
                  </a:lnTo>
                  <a:close/>
                  <a:moveTo>
                    <a:pt x="17" y="10"/>
                  </a:moveTo>
                  <a:lnTo>
                    <a:pt x="17" y="12"/>
                  </a:lnTo>
                  <a:lnTo>
                    <a:pt x="15" y="13"/>
                  </a:lnTo>
                  <a:lnTo>
                    <a:pt x="15" y="15"/>
                  </a:lnTo>
                  <a:lnTo>
                    <a:pt x="14" y="15"/>
                  </a:lnTo>
                  <a:lnTo>
                    <a:pt x="12" y="17"/>
                  </a:lnTo>
                  <a:lnTo>
                    <a:pt x="10" y="17"/>
                  </a:lnTo>
                  <a:lnTo>
                    <a:pt x="9" y="17"/>
                  </a:lnTo>
                  <a:lnTo>
                    <a:pt x="7" y="17"/>
                  </a:lnTo>
                  <a:lnTo>
                    <a:pt x="5" y="15"/>
                  </a:lnTo>
                  <a:lnTo>
                    <a:pt x="4" y="13"/>
                  </a:lnTo>
                  <a:lnTo>
                    <a:pt x="4" y="12"/>
                  </a:lnTo>
                  <a:lnTo>
                    <a:pt x="4" y="10"/>
                  </a:lnTo>
                  <a:lnTo>
                    <a:pt x="4" y="8"/>
                  </a:lnTo>
                  <a:lnTo>
                    <a:pt x="4" y="7"/>
                  </a:lnTo>
                  <a:lnTo>
                    <a:pt x="5" y="5"/>
                  </a:lnTo>
                  <a:lnTo>
                    <a:pt x="7" y="3"/>
                  </a:lnTo>
                  <a:lnTo>
                    <a:pt x="9" y="3"/>
                  </a:lnTo>
                  <a:lnTo>
                    <a:pt x="10" y="3"/>
                  </a:lnTo>
                  <a:lnTo>
                    <a:pt x="12" y="3"/>
                  </a:lnTo>
                  <a:lnTo>
                    <a:pt x="14" y="5"/>
                  </a:lnTo>
                  <a:lnTo>
                    <a:pt x="15" y="5"/>
                  </a:lnTo>
                  <a:lnTo>
                    <a:pt x="15" y="7"/>
                  </a:lnTo>
                  <a:lnTo>
                    <a:pt x="15" y="8"/>
                  </a:lnTo>
                  <a:lnTo>
                    <a:pt x="17" y="8"/>
                  </a:lnTo>
                  <a:lnTo>
                    <a:pt x="17" y="10"/>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24" name="Freeform 668">
              <a:extLst>
                <a:ext uri="{FF2B5EF4-FFF2-40B4-BE49-F238E27FC236}">
                  <a16:creationId xmlns:a16="http://schemas.microsoft.com/office/drawing/2014/main" id="{3E20BEA2-76D9-AF20-7B54-A643AF8B226B}"/>
                </a:ext>
              </a:extLst>
            </p:cNvPr>
            <p:cNvSpPr>
              <a:spLocks noEditPoints="1"/>
            </p:cNvSpPr>
            <p:nvPr/>
          </p:nvSpPr>
          <p:spPr bwMode="auto">
            <a:xfrm>
              <a:off x="2209" y="1630"/>
              <a:ext cx="17" cy="16"/>
            </a:xfrm>
            <a:custGeom>
              <a:avLst/>
              <a:gdLst>
                <a:gd name="T0" fmla="*/ 17 w 17"/>
                <a:gd name="T1" fmla="*/ 8 h 16"/>
                <a:gd name="T2" fmla="*/ 17 w 17"/>
                <a:gd name="T3" fmla="*/ 6 h 16"/>
                <a:gd name="T4" fmla="*/ 15 w 17"/>
                <a:gd name="T5" fmla="*/ 5 h 16"/>
                <a:gd name="T6" fmla="*/ 15 w 17"/>
                <a:gd name="T7" fmla="*/ 3 h 16"/>
                <a:gd name="T8" fmla="*/ 13 w 17"/>
                <a:gd name="T9" fmla="*/ 3 h 16"/>
                <a:gd name="T10" fmla="*/ 13 w 17"/>
                <a:gd name="T11" fmla="*/ 1 h 16"/>
                <a:gd name="T12" fmla="*/ 12 w 17"/>
                <a:gd name="T13" fmla="*/ 1 h 16"/>
                <a:gd name="T14" fmla="*/ 10 w 17"/>
                <a:gd name="T15" fmla="*/ 0 h 16"/>
                <a:gd name="T16" fmla="*/ 8 w 17"/>
                <a:gd name="T17" fmla="*/ 0 h 16"/>
                <a:gd name="T18" fmla="*/ 7 w 17"/>
                <a:gd name="T19" fmla="*/ 0 h 16"/>
                <a:gd name="T20" fmla="*/ 5 w 17"/>
                <a:gd name="T21" fmla="*/ 1 h 16"/>
                <a:gd name="T22" fmla="*/ 3 w 17"/>
                <a:gd name="T23" fmla="*/ 1 h 16"/>
                <a:gd name="T24" fmla="*/ 2 w 17"/>
                <a:gd name="T25" fmla="*/ 3 h 16"/>
                <a:gd name="T26" fmla="*/ 0 w 17"/>
                <a:gd name="T27" fmla="*/ 5 h 16"/>
                <a:gd name="T28" fmla="*/ 0 w 17"/>
                <a:gd name="T29" fmla="*/ 6 h 16"/>
                <a:gd name="T30" fmla="*/ 0 w 17"/>
                <a:gd name="T31" fmla="*/ 8 h 16"/>
                <a:gd name="T32" fmla="*/ 0 w 17"/>
                <a:gd name="T33" fmla="*/ 10 h 16"/>
                <a:gd name="T34" fmla="*/ 0 w 17"/>
                <a:gd name="T35" fmla="*/ 11 h 16"/>
                <a:gd name="T36" fmla="*/ 2 w 17"/>
                <a:gd name="T37" fmla="*/ 13 h 16"/>
                <a:gd name="T38" fmla="*/ 2 w 17"/>
                <a:gd name="T39" fmla="*/ 15 h 16"/>
                <a:gd name="T40" fmla="*/ 3 w 17"/>
                <a:gd name="T41" fmla="*/ 15 h 16"/>
                <a:gd name="T42" fmla="*/ 5 w 17"/>
                <a:gd name="T43" fmla="*/ 16 h 16"/>
                <a:gd name="T44" fmla="*/ 7 w 17"/>
                <a:gd name="T45" fmla="*/ 16 h 16"/>
                <a:gd name="T46" fmla="*/ 8 w 17"/>
                <a:gd name="T47" fmla="*/ 16 h 16"/>
                <a:gd name="T48" fmla="*/ 10 w 17"/>
                <a:gd name="T49" fmla="*/ 16 h 16"/>
                <a:gd name="T50" fmla="*/ 12 w 17"/>
                <a:gd name="T51" fmla="*/ 16 h 16"/>
                <a:gd name="T52" fmla="*/ 13 w 17"/>
                <a:gd name="T53" fmla="*/ 15 h 16"/>
                <a:gd name="T54" fmla="*/ 15 w 17"/>
                <a:gd name="T55" fmla="*/ 13 h 16"/>
                <a:gd name="T56" fmla="*/ 15 w 17"/>
                <a:gd name="T57" fmla="*/ 11 h 16"/>
                <a:gd name="T58" fmla="*/ 17 w 17"/>
                <a:gd name="T59" fmla="*/ 10 h 16"/>
                <a:gd name="T60" fmla="*/ 17 w 17"/>
                <a:gd name="T61" fmla="*/ 8 h 16"/>
                <a:gd name="T62" fmla="*/ 13 w 17"/>
                <a:gd name="T63" fmla="*/ 8 h 16"/>
                <a:gd name="T64" fmla="*/ 13 w 17"/>
                <a:gd name="T65" fmla="*/ 10 h 16"/>
                <a:gd name="T66" fmla="*/ 12 w 17"/>
                <a:gd name="T67" fmla="*/ 10 h 16"/>
                <a:gd name="T68" fmla="*/ 12 w 17"/>
                <a:gd name="T69" fmla="*/ 11 h 16"/>
                <a:gd name="T70" fmla="*/ 10 w 17"/>
                <a:gd name="T71" fmla="*/ 13 h 16"/>
                <a:gd name="T72" fmla="*/ 8 w 17"/>
                <a:gd name="T73" fmla="*/ 13 h 16"/>
                <a:gd name="T74" fmla="*/ 7 w 17"/>
                <a:gd name="T75" fmla="*/ 13 h 16"/>
                <a:gd name="T76" fmla="*/ 5 w 17"/>
                <a:gd name="T77" fmla="*/ 13 h 16"/>
                <a:gd name="T78" fmla="*/ 5 w 17"/>
                <a:gd name="T79" fmla="*/ 11 h 16"/>
                <a:gd name="T80" fmla="*/ 3 w 17"/>
                <a:gd name="T81" fmla="*/ 11 h 16"/>
                <a:gd name="T82" fmla="*/ 3 w 17"/>
                <a:gd name="T83" fmla="*/ 10 h 16"/>
                <a:gd name="T84" fmla="*/ 3 w 17"/>
                <a:gd name="T85" fmla="*/ 8 h 16"/>
                <a:gd name="T86" fmla="*/ 3 w 17"/>
                <a:gd name="T87" fmla="*/ 6 h 16"/>
                <a:gd name="T88" fmla="*/ 3 w 17"/>
                <a:gd name="T89" fmla="*/ 5 h 16"/>
                <a:gd name="T90" fmla="*/ 5 w 17"/>
                <a:gd name="T91" fmla="*/ 5 h 16"/>
                <a:gd name="T92" fmla="*/ 7 w 17"/>
                <a:gd name="T93" fmla="*/ 3 h 16"/>
                <a:gd name="T94" fmla="*/ 8 w 17"/>
                <a:gd name="T95" fmla="*/ 3 h 16"/>
                <a:gd name="T96" fmla="*/ 10 w 17"/>
                <a:gd name="T97" fmla="*/ 3 h 16"/>
                <a:gd name="T98" fmla="*/ 10 w 17"/>
                <a:gd name="T99" fmla="*/ 5 h 16"/>
                <a:gd name="T100" fmla="*/ 12 w 17"/>
                <a:gd name="T101" fmla="*/ 5 h 16"/>
                <a:gd name="T102" fmla="*/ 12 w 17"/>
                <a:gd name="T103" fmla="*/ 6 h 16"/>
                <a:gd name="T104" fmla="*/ 13 w 17"/>
                <a:gd name="T105" fmla="*/ 8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7" h="16">
                  <a:moveTo>
                    <a:pt x="17" y="8"/>
                  </a:moveTo>
                  <a:lnTo>
                    <a:pt x="17" y="6"/>
                  </a:lnTo>
                  <a:lnTo>
                    <a:pt x="15" y="5"/>
                  </a:lnTo>
                  <a:lnTo>
                    <a:pt x="15" y="3"/>
                  </a:lnTo>
                  <a:lnTo>
                    <a:pt x="13" y="3"/>
                  </a:lnTo>
                  <a:lnTo>
                    <a:pt x="13" y="1"/>
                  </a:lnTo>
                  <a:lnTo>
                    <a:pt x="12" y="1"/>
                  </a:lnTo>
                  <a:lnTo>
                    <a:pt x="10" y="0"/>
                  </a:lnTo>
                  <a:lnTo>
                    <a:pt x="8" y="0"/>
                  </a:lnTo>
                  <a:lnTo>
                    <a:pt x="7" y="0"/>
                  </a:lnTo>
                  <a:lnTo>
                    <a:pt x="5" y="1"/>
                  </a:lnTo>
                  <a:lnTo>
                    <a:pt x="3" y="1"/>
                  </a:lnTo>
                  <a:lnTo>
                    <a:pt x="2" y="3"/>
                  </a:lnTo>
                  <a:lnTo>
                    <a:pt x="0" y="5"/>
                  </a:lnTo>
                  <a:lnTo>
                    <a:pt x="0" y="6"/>
                  </a:lnTo>
                  <a:lnTo>
                    <a:pt x="0" y="8"/>
                  </a:lnTo>
                  <a:lnTo>
                    <a:pt x="0" y="10"/>
                  </a:lnTo>
                  <a:lnTo>
                    <a:pt x="0" y="11"/>
                  </a:lnTo>
                  <a:lnTo>
                    <a:pt x="2" y="13"/>
                  </a:lnTo>
                  <a:lnTo>
                    <a:pt x="2" y="15"/>
                  </a:lnTo>
                  <a:lnTo>
                    <a:pt x="3" y="15"/>
                  </a:lnTo>
                  <a:lnTo>
                    <a:pt x="5" y="16"/>
                  </a:lnTo>
                  <a:lnTo>
                    <a:pt x="7" y="16"/>
                  </a:lnTo>
                  <a:lnTo>
                    <a:pt x="8" y="16"/>
                  </a:lnTo>
                  <a:lnTo>
                    <a:pt x="10" y="16"/>
                  </a:lnTo>
                  <a:lnTo>
                    <a:pt x="12" y="16"/>
                  </a:lnTo>
                  <a:lnTo>
                    <a:pt x="13" y="15"/>
                  </a:lnTo>
                  <a:lnTo>
                    <a:pt x="15" y="13"/>
                  </a:lnTo>
                  <a:lnTo>
                    <a:pt x="15" y="11"/>
                  </a:lnTo>
                  <a:lnTo>
                    <a:pt x="17" y="10"/>
                  </a:lnTo>
                  <a:lnTo>
                    <a:pt x="17" y="8"/>
                  </a:lnTo>
                  <a:close/>
                  <a:moveTo>
                    <a:pt x="13" y="8"/>
                  </a:moveTo>
                  <a:lnTo>
                    <a:pt x="13" y="10"/>
                  </a:lnTo>
                  <a:lnTo>
                    <a:pt x="12" y="10"/>
                  </a:lnTo>
                  <a:lnTo>
                    <a:pt x="12" y="11"/>
                  </a:lnTo>
                  <a:lnTo>
                    <a:pt x="10" y="13"/>
                  </a:lnTo>
                  <a:lnTo>
                    <a:pt x="8" y="13"/>
                  </a:lnTo>
                  <a:lnTo>
                    <a:pt x="7" y="13"/>
                  </a:lnTo>
                  <a:lnTo>
                    <a:pt x="5" y="13"/>
                  </a:lnTo>
                  <a:lnTo>
                    <a:pt x="5" y="11"/>
                  </a:lnTo>
                  <a:lnTo>
                    <a:pt x="3" y="11"/>
                  </a:lnTo>
                  <a:lnTo>
                    <a:pt x="3" y="10"/>
                  </a:lnTo>
                  <a:lnTo>
                    <a:pt x="3" y="8"/>
                  </a:lnTo>
                  <a:lnTo>
                    <a:pt x="3" y="6"/>
                  </a:lnTo>
                  <a:lnTo>
                    <a:pt x="3" y="5"/>
                  </a:lnTo>
                  <a:lnTo>
                    <a:pt x="5" y="5"/>
                  </a:lnTo>
                  <a:lnTo>
                    <a:pt x="7" y="3"/>
                  </a:lnTo>
                  <a:lnTo>
                    <a:pt x="8" y="3"/>
                  </a:lnTo>
                  <a:lnTo>
                    <a:pt x="10" y="3"/>
                  </a:lnTo>
                  <a:lnTo>
                    <a:pt x="10" y="5"/>
                  </a:lnTo>
                  <a:lnTo>
                    <a:pt x="12" y="5"/>
                  </a:lnTo>
                  <a:lnTo>
                    <a:pt x="12" y="6"/>
                  </a:lnTo>
                  <a:lnTo>
                    <a:pt x="13" y="8"/>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25" name="Freeform 669">
              <a:extLst>
                <a:ext uri="{FF2B5EF4-FFF2-40B4-BE49-F238E27FC236}">
                  <a16:creationId xmlns:a16="http://schemas.microsoft.com/office/drawing/2014/main" id="{BE126FE0-FE3F-BA02-ED42-C059630E5566}"/>
                </a:ext>
              </a:extLst>
            </p:cNvPr>
            <p:cNvSpPr>
              <a:spLocks noEditPoints="1"/>
            </p:cNvSpPr>
            <p:nvPr/>
          </p:nvSpPr>
          <p:spPr bwMode="auto">
            <a:xfrm>
              <a:off x="2211" y="1631"/>
              <a:ext cx="13" cy="14"/>
            </a:xfrm>
            <a:custGeom>
              <a:avLst/>
              <a:gdLst>
                <a:gd name="T0" fmla="*/ 13 w 13"/>
                <a:gd name="T1" fmla="*/ 7 h 14"/>
                <a:gd name="T2" fmla="*/ 13 w 13"/>
                <a:gd name="T3" fmla="*/ 5 h 14"/>
                <a:gd name="T4" fmla="*/ 11 w 13"/>
                <a:gd name="T5" fmla="*/ 5 h 14"/>
                <a:gd name="T6" fmla="*/ 11 w 13"/>
                <a:gd name="T7" fmla="*/ 4 h 14"/>
                <a:gd name="T8" fmla="*/ 11 w 13"/>
                <a:gd name="T9" fmla="*/ 2 h 14"/>
                <a:gd name="T10" fmla="*/ 10 w 13"/>
                <a:gd name="T11" fmla="*/ 2 h 14"/>
                <a:gd name="T12" fmla="*/ 8 w 13"/>
                <a:gd name="T13" fmla="*/ 0 h 14"/>
                <a:gd name="T14" fmla="*/ 6 w 13"/>
                <a:gd name="T15" fmla="*/ 0 h 14"/>
                <a:gd name="T16" fmla="*/ 5 w 13"/>
                <a:gd name="T17" fmla="*/ 0 h 14"/>
                <a:gd name="T18" fmla="*/ 3 w 13"/>
                <a:gd name="T19" fmla="*/ 0 h 14"/>
                <a:gd name="T20" fmla="*/ 1 w 13"/>
                <a:gd name="T21" fmla="*/ 2 h 14"/>
                <a:gd name="T22" fmla="*/ 0 w 13"/>
                <a:gd name="T23" fmla="*/ 4 h 14"/>
                <a:gd name="T24" fmla="*/ 0 w 13"/>
                <a:gd name="T25" fmla="*/ 5 h 14"/>
                <a:gd name="T26" fmla="*/ 0 w 13"/>
                <a:gd name="T27" fmla="*/ 7 h 14"/>
                <a:gd name="T28" fmla="*/ 0 w 13"/>
                <a:gd name="T29" fmla="*/ 9 h 14"/>
                <a:gd name="T30" fmla="*/ 0 w 13"/>
                <a:gd name="T31" fmla="*/ 10 h 14"/>
                <a:gd name="T32" fmla="*/ 1 w 13"/>
                <a:gd name="T33" fmla="*/ 12 h 14"/>
                <a:gd name="T34" fmla="*/ 3 w 13"/>
                <a:gd name="T35" fmla="*/ 14 h 14"/>
                <a:gd name="T36" fmla="*/ 5 w 13"/>
                <a:gd name="T37" fmla="*/ 14 h 14"/>
                <a:gd name="T38" fmla="*/ 6 w 13"/>
                <a:gd name="T39" fmla="*/ 14 h 14"/>
                <a:gd name="T40" fmla="*/ 8 w 13"/>
                <a:gd name="T41" fmla="*/ 14 h 14"/>
                <a:gd name="T42" fmla="*/ 10 w 13"/>
                <a:gd name="T43" fmla="*/ 12 h 14"/>
                <a:gd name="T44" fmla="*/ 11 w 13"/>
                <a:gd name="T45" fmla="*/ 12 h 14"/>
                <a:gd name="T46" fmla="*/ 11 w 13"/>
                <a:gd name="T47" fmla="*/ 10 h 14"/>
                <a:gd name="T48" fmla="*/ 13 w 13"/>
                <a:gd name="T49" fmla="*/ 9 h 14"/>
                <a:gd name="T50" fmla="*/ 13 w 13"/>
                <a:gd name="T51" fmla="*/ 7 h 14"/>
                <a:gd name="T52" fmla="*/ 10 w 13"/>
                <a:gd name="T53" fmla="*/ 7 h 14"/>
                <a:gd name="T54" fmla="*/ 10 w 13"/>
                <a:gd name="T55" fmla="*/ 9 h 14"/>
                <a:gd name="T56" fmla="*/ 8 w 13"/>
                <a:gd name="T57" fmla="*/ 9 h 14"/>
                <a:gd name="T58" fmla="*/ 8 w 13"/>
                <a:gd name="T59" fmla="*/ 10 h 14"/>
                <a:gd name="T60" fmla="*/ 6 w 13"/>
                <a:gd name="T61" fmla="*/ 10 h 14"/>
                <a:gd name="T62" fmla="*/ 5 w 13"/>
                <a:gd name="T63" fmla="*/ 10 h 14"/>
                <a:gd name="T64" fmla="*/ 3 w 13"/>
                <a:gd name="T65" fmla="*/ 10 h 14"/>
                <a:gd name="T66" fmla="*/ 3 w 13"/>
                <a:gd name="T67" fmla="*/ 9 h 14"/>
                <a:gd name="T68" fmla="*/ 3 w 13"/>
                <a:gd name="T69" fmla="*/ 7 h 14"/>
                <a:gd name="T70" fmla="*/ 3 w 13"/>
                <a:gd name="T71" fmla="*/ 5 h 14"/>
                <a:gd name="T72" fmla="*/ 5 w 13"/>
                <a:gd name="T73" fmla="*/ 5 h 14"/>
                <a:gd name="T74" fmla="*/ 5 w 13"/>
                <a:gd name="T75" fmla="*/ 4 h 14"/>
                <a:gd name="T76" fmla="*/ 6 w 13"/>
                <a:gd name="T77" fmla="*/ 4 h 14"/>
                <a:gd name="T78" fmla="*/ 8 w 13"/>
                <a:gd name="T79" fmla="*/ 5 h 14"/>
                <a:gd name="T80" fmla="*/ 10 w 13"/>
                <a:gd name="T81" fmla="*/ 5 h 14"/>
                <a:gd name="T82" fmla="*/ 10 w 13"/>
                <a:gd name="T83" fmla="*/ 7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3" h="14">
                  <a:moveTo>
                    <a:pt x="13" y="7"/>
                  </a:moveTo>
                  <a:lnTo>
                    <a:pt x="13" y="5"/>
                  </a:lnTo>
                  <a:lnTo>
                    <a:pt x="11" y="5"/>
                  </a:lnTo>
                  <a:lnTo>
                    <a:pt x="11" y="4"/>
                  </a:lnTo>
                  <a:lnTo>
                    <a:pt x="11" y="2"/>
                  </a:lnTo>
                  <a:lnTo>
                    <a:pt x="10" y="2"/>
                  </a:lnTo>
                  <a:lnTo>
                    <a:pt x="8" y="0"/>
                  </a:lnTo>
                  <a:lnTo>
                    <a:pt x="6" y="0"/>
                  </a:lnTo>
                  <a:lnTo>
                    <a:pt x="5" y="0"/>
                  </a:lnTo>
                  <a:lnTo>
                    <a:pt x="3" y="0"/>
                  </a:lnTo>
                  <a:lnTo>
                    <a:pt x="1" y="2"/>
                  </a:lnTo>
                  <a:lnTo>
                    <a:pt x="0" y="4"/>
                  </a:lnTo>
                  <a:lnTo>
                    <a:pt x="0" y="5"/>
                  </a:lnTo>
                  <a:lnTo>
                    <a:pt x="0" y="7"/>
                  </a:lnTo>
                  <a:lnTo>
                    <a:pt x="0" y="9"/>
                  </a:lnTo>
                  <a:lnTo>
                    <a:pt x="0" y="10"/>
                  </a:lnTo>
                  <a:lnTo>
                    <a:pt x="1" y="12"/>
                  </a:lnTo>
                  <a:lnTo>
                    <a:pt x="3" y="14"/>
                  </a:lnTo>
                  <a:lnTo>
                    <a:pt x="5" y="14"/>
                  </a:lnTo>
                  <a:lnTo>
                    <a:pt x="6" y="14"/>
                  </a:lnTo>
                  <a:lnTo>
                    <a:pt x="8" y="14"/>
                  </a:lnTo>
                  <a:lnTo>
                    <a:pt x="10" y="12"/>
                  </a:lnTo>
                  <a:lnTo>
                    <a:pt x="11" y="12"/>
                  </a:lnTo>
                  <a:lnTo>
                    <a:pt x="11" y="10"/>
                  </a:lnTo>
                  <a:lnTo>
                    <a:pt x="13" y="9"/>
                  </a:lnTo>
                  <a:lnTo>
                    <a:pt x="13" y="7"/>
                  </a:lnTo>
                  <a:close/>
                  <a:moveTo>
                    <a:pt x="10" y="7"/>
                  </a:moveTo>
                  <a:lnTo>
                    <a:pt x="10" y="9"/>
                  </a:lnTo>
                  <a:lnTo>
                    <a:pt x="8" y="9"/>
                  </a:lnTo>
                  <a:lnTo>
                    <a:pt x="8" y="10"/>
                  </a:lnTo>
                  <a:lnTo>
                    <a:pt x="6" y="10"/>
                  </a:lnTo>
                  <a:lnTo>
                    <a:pt x="5" y="10"/>
                  </a:lnTo>
                  <a:lnTo>
                    <a:pt x="3" y="10"/>
                  </a:lnTo>
                  <a:lnTo>
                    <a:pt x="3" y="9"/>
                  </a:lnTo>
                  <a:lnTo>
                    <a:pt x="3" y="7"/>
                  </a:lnTo>
                  <a:lnTo>
                    <a:pt x="3" y="5"/>
                  </a:lnTo>
                  <a:lnTo>
                    <a:pt x="5" y="5"/>
                  </a:lnTo>
                  <a:lnTo>
                    <a:pt x="5" y="4"/>
                  </a:lnTo>
                  <a:lnTo>
                    <a:pt x="6" y="4"/>
                  </a:lnTo>
                  <a:lnTo>
                    <a:pt x="8" y="5"/>
                  </a:lnTo>
                  <a:lnTo>
                    <a:pt x="10" y="5"/>
                  </a:lnTo>
                  <a:lnTo>
                    <a:pt x="10" y="7"/>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26" name="Freeform 670">
              <a:extLst>
                <a:ext uri="{FF2B5EF4-FFF2-40B4-BE49-F238E27FC236}">
                  <a16:creationId xmlns:a16="http://schemas.microsoft.com/office/drawing/2014/main" id="{BEA1F174-780B-A31A-0E32-F23F7DF365F6}"/>
                </a:ext>
              </a:extLst>
            </p:cNvPr>
            <p:cNvSpPr>
              <a:spLocks noEditPoints="1"/>
            </p:cNvSpPr>
            <p:nvPr/>
          </p:nvSpPr>
          <p:spPr bwMode="auto">
            <a:xfrm>
              <a:off x="2212" y="1633"/>
              <a:ext cx="10" cy="10"/>
            </a:xfrm>
            <a:custGeom>
              <a:avLst/>
              <a:gdLst>
                <a:gd name="T0" fmla="*/ 10 w 10"/>
                <a:gd name="T1" fmla="*/ 5 h 10"/>
                <a:gd name="T2" fmla="*/ 10 w 10"/>
                <a:gd name="T3" fmla="*/ 5 h 10"/>
                <a:gd name="T4" fmla="*/ 9 w 10"/>
                <a:gd name="T5" fmla="*/ 3 h 10"/>
                <a:gd name="T6" fmla="*/ 9 w 10"/>
                <a:gd name="T7" fmla="*/ 2 h 10"/>
                <a:gd name="T8" fmla="*/ 7 w 10"/>
                <a:gd name="T9" fmla="*/ 2 h 10"/>
                <a:gd name="T10" fmla="*/ 7 w 10"/>
                <a:gd name="T11" fmla="*/ 0 h 10"/>
                <a:gd name="T12" fmla="*/ 5 w 10"/>
                <a:gd name="T13" fmla="*/ 0 h 10"/>
                <a:gd name="T14" fmla="*/ 4 w 10"/>
                <a:gd name="T15" fmla="*/ 0 h 10"/>
                <a:gd name="T16" fmla="*/ 2 w 10"/>
                <a:gd name="T17" fmla="*/ 2 h 10"/>
                <a:gd name="T18" fmla="*/ 0 w 10"/>
                <a:gd name="T19" fmla="*/ 2 h 10"/>
                <a:gd name="T20" fmla="*/ 0 w 10"/>
                <a:gd name="T21" fmla="*/ 3 h 10"/>
                <a:gd name="T22" fmla="*/ 0 w 10"/>
                <a:gd name="T23" fmla="*/ 5 h 10"/>
                <a:gd name="T24" fmla="*/ 0 w 10"/>
                <a:gd name="T25" fmla="*/ 7 h 10"/>
                <a:gd name="T26" fmla="*/ 0 w 10"/>
                <a:gd name="T27" fmla="*/ 8 h 10"/>
                <a:gd name="T28" fmla="*/ 2 w 10"/>
                <a:gd name="T29" fmla="*/ 8 h 10"/>
                <a:gd name="T30" fmla="*/ 2 w 10"/>
                <a:gd name="T31" fmla="*/ 10 h 10"/>
                <a:gd name="T32" fmla="*/ 4 w 10"/>
                <a:gd name="T33" fmla="*/ 10 h 10"/>
                <a:gd name="T34" fmla="*/ 5 w 10"/>
                <a:gd name="T35" fmla="*/ 10 h 10"/>
                <a:gd name="T36" fmla="*/ 7 w 10"/>
                <a:gd name="T37" fmla="*/ 10 h 10"/>
                <a:gd name="T38" fmla="*/ 9 w 10"/>
                <a:gd name="T39" fmla="*/ 8 h 10"/>
                <a:gd name="T40" fmla="*/ 9 w 10"/>
                <a:gd name="T41" fmla="*/ 7 h 10"/>
                <a:gd name="T42" fmla="*/ 10 w 10"/>
                <a:gd name="T43" fmla="*/ 7 h 10"/>
                <a:gd name="T44" fmla="*/ 10 w 10"/>
                <a:gd name="T45" fmla="*/ 5 h 10"/>
                <a:gd name="T46" fmla="*/ 7 w 10"/>
                <a:gd name="T47" fmla="*/ 5 h 10"/>
                <a:gd name="T48" fmla="*/ 7 w 10"/>
                <a:gd name="T49" fmla="*/ 5 h 10"/>
                <a:gd name="T50" fmla="*/ 7 w 10"/>
                <a:gd name="T51" fmla="*/ 7 h 10"/>
                <a:gd name="T52" fmla="*/ 5 w 10"/>
                <a:gd name="T53" fmla="*/ 7 h 10"/>
                <a:gd name="T54" fmla="*/ 4 w 10"/>
                <a:gd name="T55" fmla="*/ 7 h 10"/>
                <a:gd name="T56" fmla="*/ 4 w 10"/>
                <a:gd name="T57" fmla="*/ 5 h 10"/>
                <a:gd name="T58" fmla="*/ 4 w 10"/>
                <a:gd name="T59" fmla="*/ 3 h 10"/>
                <a:gd name="T60" fmla="*/ 5 w 10"/>
                <a:gd name="T61" fmla="*/ 3 h 10"/>
                <a:gd name="T62" fmla="*/ 7 w 10"/>
                <a:gd name="T63" fmla="*/ 5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0" h="10">
                  <a:moveTo>
                    <a:pt x="10" y="5"/>
                  </a:moveTo>
                  <a:lnTo>
                    <a:pt x="10" y="5"/>
                  </a:lnTo>
                  <a:lnTo>
                    <a:pt x="9" y="3"/>
                  </a:lnTo>
                  <a:lnTo>
                    <a:pt x="9" y="2"/>
                  </a:lnTo>
                  <a:lnTo>
                    <a:pt x="7" y="2"/>
                  </a:lnTo>
                  <a:lnTo>
                    <a:pt x="7" y="0"/>
                  </a:lnTo>
                  <a:lnTo>
                    <a:pt x="5" y="0"/>
                  </a:lnTo>
                  <a:lnTo>
                    <a:pt x="4" y="0"/>
                  </a:lnTo>
                  <a:lnTo>
                    <a:pt x="2" y="2"/>
                  </a:lnTo>
                  <a:lnTo>
                    <a:pt x="0" y="2"/>
                  </a:lnTo>
                  <a:lnTo>
                    <a:pt x="0" y="3"/>
                  </a:lnTo>
                  <a:lnTo>
                    <a:pt x="0" y="5"/>
                  </a:lnTo>
                  <a:lnTo>
                    <a:pt x="0" y="7"/>
                  </a:lnTo>
                  <a:lnTo>
                    <a:pt x="0" y="8"/>
                  </a:lnTo>
                  <a:lnTo>
                    <a:pt x="2" y="8"/>
                  </a:lnTo>
                  <a:lnTo>
                    <a:pt x="2" y="10"/>
                  </a:lnTo>
                  <a:lnTo>
                    <a:pt x="4" y="10"/>
                  </a:lnTo>
                  <a:lnTo>
                    <a:pt x="5" y="10"/>
                  </a:lnTo>
                  <a:lnTo>
                    <a:pt x="7" y="10"/>
                  </a:lnTo>
                  <a:lnTo>
                    <a:pt x="9" y="8"/>
                  </a:lnTo>
                  <a:lnTo>
                    <a:pt x="9" y="7"/>
                  </a:lnTo>
                  <a:lnTo>
                    <a:pt x="10" y="7"/>
                  </a:lnTo>
                  <a:lnTo>
                    <a:pt x="10" y="5"/>
                  </a:lnTo>
                  <a:close/>
                  <a:moveTo>
                    <a:pt x="7" y="5"/>
                  </a:moveTo>
                  <a:lnTo>
                    <a:pt x="7" y="5"/>
                  </a:lnTo>
                  <a:lnTo>
                    <a:pt x="7" y="7"/>
                  </a:lnTo>
                  <a:lnTo>
                    <a:pt x="5" y="7"/>
                  </a:lnTo>
                  <a:lnTo>
                    <a:pt x="4" y="7"/>
                  </a:lnTo>
                  <a:lnTo>
                    <a:pt x="4" y="5"/>
                  </a:lnTo>
                  <a:lnTo>
                    <a:pt x="4" y="3"/>
                  </a:lnTo>
                  <a:lnTo>
                    <a:pt x="5" y="3"/>
                  </a:lnTo>
                  <a:lnTo>
                    <a:pt x="7" y="5"/>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27" name="Freeform 671">
              <a:extLst>
                <a:ext uri="{FF2B5EF4-FFF2-40B4-BE49-F238E27FC236}">
                  <a16:creationId xmlns:a16="http://schemas.microsoft.com/office/drawing/2014/main" id="{F76D77D9-1EB1-30FC-6E15-73D002147D61}"/>
                </a:ext>
              </a:extLst>
            </p:cNvPr>
            <p:cNvSpPr>
              <a:spLocks/>
            </p:cNvSpPr>
            <p:nvPr/>
          </p:nvSpPr>
          <p:spPr bwMode="auto">
            <a:xfrm>
              <a:off x="2214" y="1635"/>
              <a:ext cx="7" cy="6"/>
            </a:xfrm>
            <a:custGeom>
              <a:avLst/>
              <a:gdLst>
                <a:gd name="T0" fmla="*/ 7 w 7"/>
                <a:gd name="T1" fmla="*/ 3 h 6"/>
                <a:gd name="T2" fmla="*/ 7 w 7"/>
                <a:gd name="T3" fmla="*/ 3 h 6"/>
                <a:gd name="T4" fmla="*/ 7 w 7"/>
                <a:gd name="T5" fmla="*/ 1 h 6"/>
                <a:gd name="T6" fmla="*/ 5 w 7"/>
                <a:gd name="T7" fmla="*/ 1 h 6"/>
                <a:gd name="T8" fmla="*/ 3 w 7"/>
                <a:gd name="T9" fmla="*/ 0 h 6"/>
                <a:gd name="T10" fmla="*/ 2 w 7"/>
                <a:gd name="T11" fmla="*/ 0 h 6"/>
                <a:gd name="T12" fmla="*/ 2 w 7"/>
                <a:gd name="T13" fmla="*/ 1 h 6"/>
                <a:gd name="T14" fmla="*/ 0 w 7"/>
                <a:gd name="T15" fmla="*/ 1 h 6"/>
                <a:gd name="T16" fmla="*/ 0 w 7"/>
                <a:gd name="T17" fmla="*/ 3 h 6"/>
                <a:gd name="T18" fmla="*/ 0 w 7"/>
                <a:gd name="T19" fmla="*/ 5 h 6"/>
                <a:gd name="T20" fmla="*/ 0 w 7"/>
                <a:gd name="T21" fmla="*/ 6 h 6"/>
                <a:gd name="T22" fmla="*/ 2 w 7"/>
                <a:gd name="T23" fmla="*/ 6 h 6"/>
                <a:gd name="T24" fmla="*/ 3 w 7"/>
                <a:gd name="T25" fmla="*/ 6 h 6"/>
                <a:gd name="T26" fmla="*/ 5 w 7"/>
                <a:gd name="T27" fmla="*/ 6 h 6"/>
                <a:gd name="T28" fmla="*/ 5 w 7"/>
                <a:gd name="T29" fmla="*/ 5 h 6"/>
                <a:gd name="T30" fmla="*/ 7 w 7"/>
                <a:gd name="T31" fmla="*/ 5 h 6"/>
                <a:gd name="T32" fmla="*/ 7 w 7"/>
                <a:gd name="T33" fmla="*/ 3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 h="6">
                  <a:moveTo>
                    <a:pt x="7" y="3"/>
                  </a:moveTo>
                  <a:lnTo>
                    <a:pt x="7" y="3"/>
                  </a:lnTo>
                  <a:lnTo>
                    <a:pt x="7" y="1"/>
                  </a:lnTo>
                  <a:lnTo>
                    <a:pt x="5" y="1"/>
                  </a:lnTo>
                  <a:lnTo>
                    <a:pt x="3" y="0"/>
                  </a:lnTo>
                  <a:lnTo>
                    <a:pt x="2" y="0"/>
                  </a:lnTo>
                  <a:lnTo>
                    <a:pt x="2" y="1"/>
                  </a:lnTo>
                  <a:lnTo>
                    <a:pt x="0" y="1"/>
                  </a:lnTo>
                  <a:lnTo>
                    <a:pt x="0" y="3"/>
                  </a:lnTo>
                  <a:lnTo>
                    <a:pt x="0" y="5"/>
                  </a:lnTo>
                  <a:lnTo>
                    <a:pt x="0" y="6"/>
                  </a:lnTo>
                  <a:lnTo>
                    <a:pt x="2" y="6"/>
                  </a:lnTo>
                  <a:lnTo>
                    <a:pt x="3" y="6"/>
                  </a:lnTo>
                  <a:lnTo>
                    <a:pt x="5" y="6"/>
                  </a:lnTo>
                  <a:lnTo>
                    <a:pt x="5" y="5"/>
                  </a:lnTo>
                  <a:lnTo>
                    <a:pt x="7" y="5"/>
                  </a:lnTo>
                  <a:lnTo>
                    <a:pt x="7" y="3"/>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28" name="Freeform 672">
              <a:extLst>
                <a:ext uri="{FF2B5EF4-FFF2-40B4-BE49-F238E27FC236}">
                  <a16:creationId xmlns:a16="http://schemas.microsoft.com/office/drawing/2014/main" id="{490C334F-6A85-0446-3164-BDDF6F231CDC}"/>
                </a:ext>
              </a:extLst>
            </p:cNvPr>
            <p:cNvSpPr>
              <a:spLocks/>
            </p:cNvSpPr>
            <p:nvPr/>
          </p:nvSpPr>
          <p:spPr bwMode="auto">
            <a:xfrm>
              <a:off x="2216" y="1636"/>
              <a:ext cx="3" cy="4"/>
            </a:xfrm>
            <a:custGeom>
              <a:avLst/>
              <a:gdLst>
                <a:gd name="T0" fmla="*/ 3 w 3"/>
                <a:gd name="T1" fmla="*/ 2 h 4"/>
                <a:gd name="T2" fmla="*/ 3 w 3"/>
                <a:gd name="T3" fmla="*/ 2 h 4"/>
                <a:gd name="T4" fmla="*/ 1 w 3"/>
                <a:gd name="T5" fmla="*/ 0 h 4"/>
                <a:gd name="T6" fmla="*/ 0 w 3"/>
                <a:gd name="T7" fmla="*/ 0 h 4"/>
                <a:gd name="T8" fmla="*/ 0 w 3"/>
                <a:gd name="T9" fmla="*/ 2 h 4"/>
                <a:gd name="T10" fmla="*/ 0 w 3"/>
                <a:gd name="T11" fmla="*/ 4 h 4"/>
                <a:gd name="T12" fmla="*/ 1 w 3"/>
                <a:gd name="T13" fmla="*/ 4 h 4"/>
                <a:gd name="T14" fmla="*/ 3 w 3"/>
                <a:gd name="T15" fmla="*/ 4 h 4"/>
                <a:gd name="T16" fmla="*/ 3 w 3"/>
                <a:gd name="T17" fmla="*/ 2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 h="4">
                  <a:moveTo>
                    <a:pt x="3" y="2"/>
                  </a:moveTo>
                  <a:lnTo>
                    <a:pt x="3" y="2"/>
                  </a:lnTo>
                  <a:lnTo>
                    <a:pt x="1" y="0"/>
                  </a:lnTo>
                  <a:lnTo>
                    <a:pt x="0" y="0"/>
                  </a:lnTo>
                  <a:lnTo>
                    <a:pt x="0" y="2"/>
                  </a:lnTo>
                  <a:lnTo>
                    <a:pt x="0" y="4"/>
                  </a:lnTo>
                  <a:lnTo>
                    <a:pt x="1" y="4"/>
                  </a:lnTo>
                  <a:lnTo>
                    <a:pt x="3" y="4"/>
                  </a:lnTo>
                  <a:lnTo>
                    <a:pt x="3" y="2"/>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29" name="Freeform 673">
              <a:extLst>
                <a:ext uri="{FF2B5EF4-FFF2-40B4-BE49-F238E27FC236}">
                  <a16:creationId xmlns:a16="http://schemas.microsoft.com/office/drawing/2014/main" id="{C1371612-8CA0-7059-9165-B289298833A1}"/>
                </a:ext>
              </a:extLst>
            </p:cNvPr>
            <p:cNvSpPr>
              <a:spLocks/>
            </p:cNvSpPr>
            <p:nvPr/>
          </p:nvSpPr>
          <p:spPr bwMode="auto">
            <a:xfrm>
              <a:off x="1995" y="1514"/>
              <a:ext cx="444" cy="250"/>
            </a:xfrm>
            <a:custGeom>
              <a:avLst/>
              <a:gdLst>
                <a:gd name="T0" fmla="*/ 0 w 444"/>
                <a:gd name="T1" fmla="*/ 200 h 250"/>
                <a:gd name="T2" fmla="*/ 444 w 444"/>
                <a:gd name="T3" fmla="*/ 0 h 250"/>
                <a:gd name="T4" fmla="*/ 444 w 444"/>
                <a:gd name="T5" fmla="*/ 50 h 250"/>
                <a:gd name="T6" fmla="*/ 0 w 444"/>
                <a:gd name="T7" fmla="*/ 250 h 250"/>
                <a:gd name="T8" fmla="*/ 0 w 444"/>
                <a:gd name="T9" fmla="*/ 200 h 250"/>
              </a:gdLst>
              <a:ahLst/>
              <a:cxnLst>
                <a:cxn ang="0">
                  <a:pos x="T0" y="T1"/>
                </a:cxn>
                <a:cxn ang="0">
                  <a:pos x="T2" y="T3"/>
                </a:cxn>
                <a:cxn ang="0">
                  <a:pos x="T4" y="T5"/>
                </a:cxn>
                <a:cxn ang="0">
                  <a:pos x="T6" y="T7"/>
                </a:cxn>
                <a:cxn ang="0">
                  <a:pos x="T8" y="T9"/>
                </a:cxn>
              </a:cxnLst>
              <a:rect l="0" t="0" r="r" b="b"/>
              <a:pathLst>
                <a:path w="444" h="250">
                  <a:moveTo>
                    <a:pt x="0" y="200"/>
                  </a:moveTo>
                  <a:lnTo>
                    <a:pt x="444" y="0"/>
                  </a:lnTo>
                  <a:lnTo>
                    <a:pt x="444" y="50"/>
                  </a:lnTo>
                  <a:lnTo>
                    <a:pt x="0" y="250"/>
                  </a:lnTo>
                  <a:lnTo>
                    <a:pt x="0" y="20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530" name="Freeform 674">
              <a:extLst>
                <a:ext uri="{FF2B5EF4-FFF2-40B4-BE49-F238E27FC236}">
                  <a16:creationId xmlns:a16="http://schemas.microsoft.com/office/drawing/2014/main" id="{924394C3-C8AD-5452-E46A-496DEC5E168F}"/>
                </a:ext>
              </a:extLst>
            </p:cNvPr>
            <p:cNvSpPr>
              <a:spLocks/>
            </p:cNvSpPr>
            <p:nvPr/>
          </p:nvSpPr>
          <p:spPr bwMode="auto">
            <a:xfrm>
              <a:off x="1424" y="1267"/>
              <a:ext cx="419" cy="349"/>
            </a:xfrm>
            <a:custGeom>
              <a:avLst/>
              <a:gdLst>
                <a:gd name="T0" fmla="*/ 0 w 419"/>
                <a:gd name="T1" fmla="*/ 93 h 349"/>
                <a:gd name="T2" fmla="*/ 419 w 419"/>
                <a:gd name="T3" fmla="*/ 349 h 349"/>
                <a:gd name="T4" fmla="*/ 65 w 419"/>
                <a:gd name="T5" fmla="*/ 0 h 349"/>
                <a:gd name="T6" fmla="*/ 0 w 419"/>
                <a:gd name="T7" fmla="*/ 93 h 349"/>
              </a:gdLst>
              <a:ahLst/>
              <a:cxnLst>
                <a:cxn ang="0">
                  <a:pos x="T0" y="T1"/>
                </a:cxn>
                <a:cxn ang="0">
                  <a:pos x="T2" y="T3"/>
                </a:cxn>
                <a:cxn ang="0">
                  <a:pos x="T4" y="T5"/>
                </a:cxn>
                <a:cxn ang="0">
                  <a:pos x="T6" y="T7"/>
                </a:cxn>
              </a:cxnLst>
              <a:rect l="0" t="0" r="r" b="b"/>
              <a:pathLst>
                <a:path w="419" h="349">
                  <a:moveTo>
                    <a:pt x="0" y="93"/>
                  </a:moveTo>
                  <a:lnTo>
                    <a:pt x="419" y="349"/>
                  </a:lnTo>
                  <a:lnTo>
                    <a:pt x="65" y="0"/>
                  </a:lnTo>
                  <a:lnTo>
                    <a:pt x="0" y="93"/>
                  </a:lnTo>
                  <a:close/>
                </a:path>
              </a:pathLst>
            </a:custGeom>
            <a:solidFill>
              <a:srgbClr val="F7F5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31" name="Freeform 675">
              <a:extLst>
                <a:ext uri="{FF2B5EF4-FFF2-40B4-BE49-F238E27FC236}">
                  <a16:creationId xmlns:a16="http://schemas.microsoft.com/office/drawing/2014/main" id="{855EFE14-C538-45B1-D0D1-D10592873890}"/>
                </a:ext>
              </a:extLst>
            </p:cNvPr>
            <p:cNvSpPr>
              <a:spLocks/>
            </p:cNvSpPr>
            <p:nvPr/>
          </p:nvSpPr>
          <p:spPr bwMode="auto">
            <a:xfrm>
              <a:off x="1674" y="1514"/>
              <a:ext cx="3" cy="1"/>
            </a:xfrm>
            <a:custGeom>
              <a:avLst/>
              <a:gdLst>
                <a:gd name="T0" fmla="*/ 3 w 3"/>
                <a:gd name="T1" fmla="*/ 0 h 1"/>
                <a:gd name="T2" fmla="*/ 0 w 3"/>
                <a:gd name="T3" fmla="*/ 0 h 1"/>
                <a:gd name="T4" fmla="*/ 3 w 3"/>
                <a:gd name="T5" fmla="*/ 1 h 1"/>
                <a:gd name="T6" fmla="*/ 3 w 3"/>
                <a:gd name="T7" fmla="*/ 0 h 1"/>
              </a:gdLst>
              <a:ahLst/>
              <a:cxnLst>
                <a:cxn ang="0">
                  <a:pos x="T0" y="T1"/>
                </a:cxn>
                <a:cxn ang="0">
                  <a:pos x="T2" y="T3"/>
                </a:cxn>
                <a:cxn ang="0">
                  <a:pos x="T4" y="T5"/>
                </a:cxn>
                <a:cxn ang="0">
                  <a:pos x="T6" y="T7"/>
                </a:cxn>
              </a:cxnLst>
              <a:rect l="0" t="0" r="r" b="b"/>
              <a:pathLst>
                <a:path w="3" h="1">
                  <a:moveTo>
                    <a:pt x="3" y="0"/>
                  </a:moveTo>
                  <a:lnTo>
                    <a:pt x="0" y="0"/>
                  </a:lnTo>
                  <a:lnTo>
                    <a:pt x="3" y="1"/>
                  </a:lnTo>
                  <a:lnTo>
                    <a:pt x="3"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32" name="Freeform 676">
              <a:extLst>
                <a:ext uri="{FF2B5EF4-FFF2-40B4-BE49-F238E27FC236}">
                  <a16:creationId xmlns:a16="http://schemas.microsoft.com/office/drawing/2014/main" id="{3EDEFF3F-17AF-051C-194F-CF56488C9FB8}"/>
                </a:ext>
              </a:extLst>
            </p:cNvPr>
            <p:cNvSpPr>
              <a:spLocks/>
            </p:cNvSpPr>
            <p:nvPr/>
          </p:nvSpPr>
          <p:spPr bwMode="auto">
            <a:xfrm>
              <a:off x="1676" y="1514"/>
              <a:ext cx="5" cy="3"/>
            </a:xfrm>
            <a:custGeom>
              <a:avLst/>
              <a:gdLst>
                <a:gd name="T0" fmla="*/ 0 w 5"/>
                <a:gd name="T1" fmla="*/ 0 h 3"/>
                <a:gd name="T2" fmla="*/ 0 w 5"/>
                <a:gd name="T3" fmla="*/ 0 h 3"/>
                <a:gd name="T4" fmla="*/ 3 w 5"/>
                <a:gd name="T5" fmla="*/ 3 h 3"/>
                <a:gd name="T6" fmla="*/ 3 w 5"/>
                <a:gd name="T7" fmla="*/ 1 h 3"/>
                <a:gd name="T8" fmla="*/ 5 w 5"/>
                <a:gd name="T9" fmla="*/ 1 h 3"/>
                <a:gd name="T10" fmla="*/ 5 w 5"/>
                <a:gd name="T11" fmla="*/ 0 h 3"/>
                <a:gd name="T12" fmla="*/ 0 w 5"/>
                <a:gd name="T13" fmla="*/ 0 h 3"/>
              </a:gdLst>
              <a:ahLst/>
              <a:cxnLst>
                <a:cxn ang="0">
                  <a:pos x="T0" y="T1"/>
                </a:cxn>
                <a:cxn ang="0">
                  <a:pos x="T2" y="T3"/>
                </a:cxn>
                <a:cxn ang="0">
                  <a:pos x="T4" y="T5"/>
                </a:cxn>
                <a:cxn ang="0">
                  <a:pos x="T6" y="T7"/>
                </a:cxn>
                <a:cxn ang="0">
                  <a:pos x="T8" y="T9"/>
                </a:cxn>
                <a:cxn ang="0">
                  <a:pos x="T10" y="T11"/>
                </a:cxn>
                <a:cxn ang="0">
                  <a:pos x="T12" y="T13"/>
                </a:cxn>
              </a:cxnLst>
              <a:rect l="0" t="0" r="r" b="b"/>
              <a:pathLst>
                <a:path w="5" h="3">
                  <a:moveTo>
                    <a:pt x="0" y="0"/>
                  </a:moveTo>
                  <a:lnTo>
                    <a:pt x="0" y="0"/>
                  </a:lnTo>
                  <a:lnTo>
                    <a:pt x="3" y="3"/>
                  </a:lnTo>
                  <a:lnTo>
                    <a:pt x="3" y="1"/>
                  </a:lnTo>
                  <a:lnTo>
                    <a:pt x="5" y="1"/>
                  </a:lnTo>
                  <a:lnTo>
                    <a:pt x="5" y="0"/>
                  </a:lnTo>
                  <a:lnTo>
                    <a:pt x="0"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33" name="Freeform 677">
              <a:extLst>
                <a:ext uri="{FF2B5EF4-FFF2-40B4-BE49-F238E27FC236}">
                  <a16:creationId xmlns:a16="http://schemas.microsoft.com/office/drawing/2014/main" id="{4642A4FB-1747-B94D-7756-96B6853A97F9}"/>
                </a:ext>
              </a:extLst>
            </p:cNvPr>
            <p:cNvSpPr>
              <a:spLocks/>
            </p:cNvSpPr>
            <p:nvPr/>
          </p:nvSpPr>
          <p:spPr bwMode="auto">
            <a:xfrm>
              <a:off x="1677" y="1514"/>
              <a:ext cx="7" cy="3"/>
            </a:xfrm>
            <a:custGeom>
              <a:avLst/>
              <a:gdLst>
                <a:gd name="T0" fmla="*/ 0 w 7"/>
                <a:gd name="T1" fmla="*/ 0 h 3"/>
                <a:gd name="T2" fmla="*/ 0 w 7"/>
                <a:gd name="T3" fmla="*/ 0 h 3"/>
                <a:gd name="T4" fmla="*/ 0 w 7"/>
                <a:gd name="T5" fmla="*/ 1 h 3"/>
                <a:gd name="T6" fmla="*/ 4 w 7"/>
                <a:gd name="T7" fmla="*/ 3 h 3"/>
                <a:gd name="T8" fmla="*/ 5 w 7"/>
                <a:gd name="T9" fmla="*/ 3 h 3"/>
                <a:gd name="T10" fmla="*/ 5 w 7"/>
                <a:gd name="T11" fmla="*/ 1 h 3"/>
                <a:gd name="T12" fmla="*/ 5 w 7"/>
                <a:gd name="T13" fmla="*/ 0 h 3"/>
                <a:gd name="T14" fmla="*/ 7 w 7"/>
                <a:gd name="T15" fmla="*/ 0 h 3"/>
                <a:gd name="T16" fmla="*/ 0 w 7"/>
                <a:gd name="T17" fmla="*/ 0 h 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 h="3">
                  <a:moveTo>
                    <a:pt x="0" y="0"/>
                  </a:moveTo>
                  <a:lnTo>
                    <a:pt x="0" y="0"/>
                  </a:lnTo>
                  <a:lnTo>
                    <a:pt x="0" y="1"/>
                  </a:lnTo>
                  <a:lnTo>
                    <a:pt x="4" y="3"/>
                  </a:lnTo>
                  <a:lnTo>
                    <a:pt x="5" y="3"/>
                  </a:lnTo>
                  <a:lnTo>
                    <a:pt x="5" y="1"/>
                  </a:lnTo>
                  <a:lnTo>
                    <a:pt x="5" y="0"/>
                  </a:lnTo>
                  <a:lnTo>
                    <a:pt x="7" y="0"/>
                  </a:lnTo>
                  <a:lnTo>
                    <a:pt x="0"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34" name="Freeform 678">
              <a:extLst>
                <a:ext uri="{FF2B5EF4-FFF2-40B4-BE49-F238E27FC236}">
                  <a16:creationId xmlns:a16="http://schemas.microsoft.com/office/drawing/2014/main" id="{56F10DAD-9F96-4342-5940-1DC67FE820EE}"/>
                </a:ext>
              </a:extLst>
            </p:cNvPr>
            <p:cNvSpPr>
              <a:spLocks/>
            </p:cNvSpPr>
            <p:nvPr/>
          </p:nvSpPr>
          <p:spPr bwMode="auto">
            <a:xfrm>
              <a:off x="1679" y="1514"/>
              <a:ext cx="8" cy="5"/>
            </a:xfrm>
            <a:custGeom>
              <a:avLst/>
              <a:gdLst>
                <a:gd name="T0" fmla="*/ 2 w 8"/>
                <a:gd name="T1" fmla="*/ 0 h 5"/>
                <a:gd name="T2" fmla="*/ 2 w 8"/>
                <a:gd name="T3" fmla="*/ 0 h 5"/>
                <a:gd name="T4" fmla="*/ 2 w 8"/>
                <a:gd name="T5" fmla="*/ 1 h 5"/>
                <a:gd name="T6" fmla="*/ 0 w 8"/>
                <a:gd name="T7" fmla="*/ 1 h 5"/>
                <a:gd name="T8" fmla="*/ 0 w 8"/>
                <a:gd name="T9" fmla="*/ 3 h 5"/>
                <a:gd name="T10" fmla="*/ 3 w 8"/>
                <a:gd name="T11" fmla="*/ 5 h 5"/>
                <a:gd name="T12" fmla="*/ 5 w 8"/>
                <a:gd name="T13" fmla="*/ 5 h 5"/>
                <a:gd name="T14" fmla="*/ 5 w 8"/>
                <a:gd name="T15" fmla="*/ 3 h 5"/>
                <a:gd name="T16" fmla="*/ 5 w 8"/>
                <a:gd name="T17" fmla="*/ 1 h 5"/>
                <a:gd name="T18" fmla="*/ 7 w 8"/>
                <a:gd name="T19" fmla="*/ 1 h 5"/>
                <a:gd name="T20" fmla="*/ 7 w 8"/>
                <a:gd name="T21" fmla="*/ 0 h 5"/>
                <a:gd name="T22" fmla="*/ 8 w 8"/>
                <a:gd name="T23" fmla="*/ 0 h 5"/>
                <a:gd name="T24" fmla="*/ 2 w 8"/>
                <a:gd name="T25" fmla="*/ 0 h 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 h="5">
                  <a:moveTo>
                    <a:pt x="2" y="0"/>
                  </a:moveTo>
                  <a:lnTo>
                    <a:pt x="2" y="0"/>
                  </a:lnTo>
                  <a:lnTo>
                    <a:pt x="2" y="1"/>
                  </a:lnTo>
                  <a:lnTo>
                    <a:pt x="0" y="1"/>
                  </a:lnTo>
                  <a:lnTo>
                    <a:pt x="0" y="3"/>
                  </a:lnTo>
                  <a:lnTo>
                    <a:pt x="3" y="5"/>
                  </a:lnTo>
                  <a:lnTo>
                    <a:pt x="5" y="5"/>
                  </a:lnTo>
                  <a:lnTo>
                    <a:pt x="5" y="3"/>
                  </a:lnTo>
                  <a:lnTo>
                    <a:pt x="5" y="1"/>
                  </a:lnTo>
                  <a:lnTo>
                    <a:pt x="7" y="1"/>
                  </a:lnTo>
                  <a:lnTo>
                    <a:pt x="7" y="0"/>
                  </a:lnTo>
                  <a:lnTo>
                    <a:pt x="8" y="0"/>
                  </a:lnTo>
                  <a:lnTo>
                    <a:pt x="2"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35" name="Freeform 679">
              <a:extLst>
                <a:ext uri="{FF2B5EF4-FFF2-40B4-BE49-F238E27FC236}">
                  <a16:creationId xmlns:a16="http://schemas.microsoft.com/office/drawing/2014/main" id="{AD007BCD-669E-1D01-06FF-349113CE46AB}"/>
                </a:ext>
              </a:extLst>
            </p:cNvPr>
            <p:cNvSpPr>
              <a:spLocks/>
            </p:cNvSpPr>
            <p:nvPr/>
          </p:nvSpPr>
          <p:spPr bwMode="auto">
            <a:xfrm>
              <a:off x="1681" y="1514"/>
              <a:ext cx="8" cy="6"/>
            </a:xfrm>
            <a:custGeom>
              <a:avLst/>
              <a:gdLst>
                <a:gd name="T0" fmla="*/ 3 w 8"/>
                <a:gd name="T1" fmla="*/ 0 h 6"/>
                <a:gd name="T2" fmla="*/ 3 w 8"/>
                <a:gd name="T3" fmla="*/ 0 h 6"/>
                <a:gd name="T4" fmla="*/ 1 w 8"/>
                <a:gd name="T5" fmla="*/ 0 h 6"/>
                <a:gd name="T6" fmla="*/ 1 w 8"/>
                <a:gd name="T7" fmla="*/ 1 h 6"/>
                <a:gd name="T8" fmla="*/ 1 w 8"/>
                <a:gd name="T9" fmla="*/ 3 h 6"/>
                <a:gd name="T10" fmla="*/ 0 w 8"/>
                <a:gd name="T11" fmla="*/ 3 h 6"/>
                <a:gd name="T12" fmla="*/ 5 w 8"/>
                <a:gd name="T13" fmla="*/ 6 h 6"/>
                <a:gd name="T14" fmla="*/ 5 w 8"/>
                <a:gd name="T15" fmla="*/ 5 h 6"/>
                <a:gd name="T16" fmla="*/ 6 w 8"/>
                <a:gd name="T17" fmla="*/ 3 h 6"/>
                <a:gd name="T18" fmla="*/ 6 w 8"/>
                <a:gd name="T19" fmla="*/ 1 h 6"/>
                <a:gd name="T20" fmla="*/ 8 w 8"/>
                <a:gd name="T21" fmla="*/ 1 h 6"/>
                <a:gd name="T22" fmla="*/ 8 w 8"/>
                <a:gd name="T23" fmla="*/ 0 h 6"/>
                <a:gd name="T24" fmla="*/ 3 w 8"/>
                <a:gd name="T25" fmla="*/ 0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 h="6">
                  <a:moveTo>
                    <a:pt x="3" y="0"/>
                  </a:moveTo>
                  <a:lnTo>
                    <a:pt x="3" y="0"/>
                  </a:lnTo>
                  <a:lnTo>
                    <a:pt x="1" y="0"/>
                  </a:lnTo>
                  <a:lnTo>
                    <a:pt x="1" y="1"/>
                  </a:lnTo>
                  <a:lnTo>
                    <a:pt x="1" y="3"/>
                  </a:lnTo>
                  <a:lnTo>
                    <a:pt x="0" y="3"/>
                  </a:lnTo>
                  <a:lnTo>
                    <a:pt x="5" y="6"/>
                  </a:lnTo>
                  <a:lnTo>
                    <a:pt x="5" y="5"/>
                  </a:lnTo>
                  <a:lnTo>
                    <a:pt x="6" y="3"/>
                  </a:lnTo>
                  <a:lnTo>
                    <a:pt x="6" y="1"/>
                  </a:lnTo>
                  <a:lnTo>
                    <a:pt x="8" y="1"/>
                  </a:lnTo>
                  <a:lnTo>
                    <a:pt x="8" y="0"/>
                  </a:lnTo>
                  <a:lnTo>
                    <a:pt x="3"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36" name="Freeform 680">
              <a:extLst>
                <a:ext uri="{FF2B5EF4-FFF2-40B4-BE49-F238E27FC236}">
                  <a16:creationId xmlns:a16="http://schemas.microsoft.com/office/drawing/2014/main" id="{216F2A8E-28D7-B39F-8C55-9433934C43C0}"/>
                </a:ext>
              </a:extLst>
            </p:cNvPr>
            <p:cNvSpPr>
              <a:spLocks/>
            </p:cNvSpPr>
            <p:nvPr/>
          </p:nvSpPr>
          <p:spPr bwMode="auto">
            <a:xfrm>
              <a:off x="1682" y="1514"/>
              <a:ext cx="10" cy="8"/>
            </a:xfrm>
            <a:custGeom>
              <a:avLst/>
              <a:gdLst>
                <a:gd name="T0" fmla="*/ 5 w 10"/>
                <a:gd name="T1" fmla="*/ 0 h 8"/>
                <a:gd name="T2" fmla="*/ 4 w 10"/>
                <a:gd name="T3" fmla="*/ 0 h 8"/>
                <a:gd name="T4" fmla="*/ 4 w 10"/>
                <a:gd name="T5" fmla="*/ 1 h 8"/>
                <a:gd name="T6" fmla="*/ 2 w 10"/>
                <a:gd name="T7" fmla="*/ 1 h 8"/>
                <a:gd name="T8" fmla="*/ 2 w 10"/>
                <a:gd name="T9" fmla="*/ 3 h 8"/>
                <a:gd name="T10" fmla="*/ 2 w 10"/>
                <a:gd name="T11" fmla="*/ 5 h 8"/>
                <a:gd name="T12" fmla="*/ 0 w 10"/>
                <a:gd name="T13" fmla="*/ 5 h 8"/>
                <a:gd name="T14" fmla="*/ 5 w 10"/>
                <a:gd name="T15" fmla="*/ 8 h 8"/>
                <a:gd name="T16" fmla="*/ 5 w 10"/>
                <a:gd name="T17" fmla="*/ 6 h 8"/>
                <a:gd name="T18" fmla="*/ 7 w 10"/>
                <a:gd name="T19" fmla="*/ 5 h 8"/>
                <a:gd name="T20" fmla="*/ 7 w 10"/>
                <a:gd name="T21" fmla="*/ 3 h 8"/>
                <a:gd name="T22" fmla="*/ 9 w 10"/>
                <a:gd name="T23" fmla="*/ 3 h 8"/>
                <a:gd name="T24" fmla="*/ 9 w 10"/>
                <a:gd name="T25" fmla="*/ 1 h 8"/>
                <a:gd name="T26" fmla="*/ 10 w 10"/>
                <a:gd name="T27" fmla="*/ 0 h 8"/>
                <a:gd name="T28" fmla="*/ 5 w 10"/>
                <a:gd name="T29"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0" h="8">
                  <a:moveTo>
                    <a:pt x="5" y="0"/>
                  </a:moveTo>
                  <a:lnTo>
                    <a:pt x="4" y="0"/>
                  </a:lnTo>
                  <a:lnTo>
                    <a:pt x="4" y="1"/>
                  </a:lnTo>
                  <a:lnTo>
                    <a:pt x="2" y="1"/>
                  </a:lnTo>
                  <a:lnTo>
                    <a:pt x="2" y="3"/>
                  </a:lnTo>
                  <a:lnTo>
                    <a:pt x="2" y="5"/>
                  </a:lnTo>
                  <a:lnTo>
                    <a:pt x="0" y="5"/>
                  </a:lnTo>
                  <a:lnTo>
                    <a:pt x="5" y="8"/>
                  </a:lnTo>
                  <a:lnTo>
                    <a:pt x="5" y="6"/>
                  </a:lnTo>
                  <a:lnTo>
                    <a:pt x="7" y="5"/>
                  </a:lnTo>
                  <a:lnTo>
                    <a:pt x="7" y="3"/>
                  </a:lnTo>
                  <a:lnTo>
                    <a:pt x="9" y="3"/>
                  </a:lnTo>
                  <a:lnTo>
                    <a:pt x="9" y="1"/>
                  </a:lnTo>
                  <a:lnTo>
                    <a:pt x="10" y="0"/>
                  </a:lnTo>
                  <a:lnTo>
                    <a:pt x="5"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37" name="Freeform 681">
              <a:extLst>
                <a:ext uri="{FF2B5EF4-FFF2-40B4-BE49-F238E27FC236}">
                  <a16:creationId xmlns:a16="http://schemas.microsoft.com/office/drawing/2014/main" id="{B56E6BC6-A99D-ED34-F0B1-C8EBC993EF47}"/>
                </a:ext>
              </a:extLst>
            </p:cNvPr>
            <p:cNvSpPr>
              <a:spLocks/>
            </p:cNvSpPr>
            <p:nvPr/>
          </p:nvSpPr>
          <p:spPr bwMode="auto">
            <a:xfrm>
              <a:off x="1686" y="1514"/>
              <a:ext cx="10" cy="8"/>
            </a:xfrm>
            <a:custGeom>
              <a:avLst/>
              <a:gdLst>
                <a:gd name="T0" fmla="*/ 3 w 10"/>
                <a:gd name="T1" fmla="*/ 0 h 8"/>
                <a:gd name="T2" fmla="*/ 3 w 10"/>
                <a:gd name="T3" fmla="*/ 0 h 8"/>
                <a:gd name="T4" fmla="*/ 3 w 10"/>
                <a:gd name="T5" fmla="*/ 1 h 8"/>
                <a:gd name="T6" fmla="*/ 1 w 10"/>
                <a:gd name="T7" fmla="*/ 1 h 8"/>
                <a:gd name="T8" fmla="*/ 1 w 10"/>
                <a:gd name="T9" fmla="*/ 3 h 8"/>
                <a:gd name="T10" fmla="*/ 0 w 10"/>
                <a:gd name="T11" fmla="*/ 5 h 8"/>
                <a:gd name="T12" fmla="*/ 0 w 10"/>
                <a:gd name="T13" fmla="*/ 6 h 8"/>
                <a:gd name="T14" fmla="*/ 3 w 10"/>
                <a:gd name="T15" fmla="*/ 8 h 8"/>
                <a:gd name="T16" fmla="*/ 5 w 10"/>
                <a:gd name="T17" fmla="*/ 8 h 8"/>
                <a:gd name="T18" fmla="*/ 5 w 10"/>
                <a:gd name="T19" fmla="*/ 6 h 8"/>
                <a:gd name="T20" fmla="*/ 5 w 10"/>
                <a:gd name="T21" fmla="*/ 5 h 8"/>
                <a:gd name="T22" fmla="*/ 6 w 10"/>
                <a:gd name="T23" fmla="*/ 5 h 8"/>
                <a:gd name="T24" fmla="*/ 6 w 10"/>
                <a:gd name="T25" fmla="*/ 3 h 8"/>
                <a:gd name="T26" fmla="*/ 8 w 10"/>
                <a:gd name="T27" fmla="*/ 1 h 8"/>
                <a:gd name="T28" fmla="*/ 10 w 10"/>
                <a:gd name="T29" fmla="*/ 0 h 8"/>
                <a:gd name="T30" fmla="*/ 3 w 10"/>
                <a:gd name="T31"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 h="8">
                  <a:moveTo>
                    <a:pt x="3" y="0"/>
                  </a:moveTo>
                  <a:lnTo>
                    <a:pt x="3" y="0"/>
                  </a:lnTo>
                  <a:lnTo>
                    <a:pt x="3" y="1"/>
                  </a:lnTo>
                  <a:lnTo>
                    <a:pt x="1" y="1"/>
                  </a:lnTo>
                  <a:lnTo>
                    <a:pt x="1" y="3"/>
                  </a:lnTo>
                  <a:lnTo>
                    <a:pt x="0" y="5"/>
                  </a:lnTo>
                  <a:lnTo>
                    <a:pt x="0" y="6"/>
                  </a:lnTo>
                  <a:lnTo>
                    <a:pt x="3" y="8"/>
                  </a:lnTo>
                  <a:lnTo>
                    <a:pt x="5" y="8"/>
                  </a:lnTo>
                  <a:lnTo>
                    <a:pt x="5" y="6"/>
                  </a:lnTo>
                  <a:lnTo>
                    <a:pt x="5" y="5"/>
                  </a:lnTo>
                  <a:lnTo>
                    <a:pt x="6" y="5"/>
                  </a:lnTo>
                  <a:lnTo>
                    <a:pt x="6" y="3"/>
                  </a:lnTo>
                  <a:lnTo>
                    <a:pt x="8" y="1"/>
                  </a:lnTo>
                  <a:lnTo>
                    <a:pt x="10" y="0"/>
                  </a:lnTo>
                  <a:lnTo>
                    <a:pt x="3"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38" name="Freeform 682">
              <a:extLst>
                <a:ext uri="{FF2B5EF4-FFF2-40B4-BE49-F238E27FC236}">
                  <a16:creationId xmlns:a16="http://schemas.microsoft.com/office/drawing/2014/main" id="{A2BFC25E-2C3B-9B50-FE0E-B8AF486E3728}"/>
                </a:ext>
              </a:extLst>
            </p:cNvPr>
            <p:cNvSpPr>
              <a:spLocks/>
            </p:cNvSpPr>
            <p:nvPr/>
          </p:nvSpPr>
          <p:spPr bwMode="auto">
            <a:xfrm>
              <a:off x="1687" y="1514"/>
              <a:ext cx="12" cy="10"/>
            </a:xfrm>
            <a:custGeom>
              <a:avLst/>
              <a:gdLst>
                <a:gd name="T0" fmla="*/ 5 w 12"/>
                <a:gd name="T1" fmla="*/ 0 h 10"/>
                <a:gd name="T2" fmla="*/ 5 w 12"/>
                <a:gd name="T3" fmla="*/ 0 h 10"/>
                <a:gd name="T4" fmla="*/ 4 w 12"/>
                <a:gd name="T5" fmla="*/ 1 h 10"/>
                <a:gd name="T6" fmla="*/ 4 w 12"/>
                <a:gd name="T7" fmla="*/ 3 h 10"/>
                <a:gd name="T8" fmla="*/ 2 w 12"/>
                <a:gd name="T9" fmla="*/ 3 h 10"/>
                <a:gd name="T10" fmla="*/ 2 w 12"/>
                <a:gd name="T11" fmla="*/ 5 h 10"/>
                <a:gd name="T12" fmla="*/ 0 w 12"/>
                <a:gd name="T13" fmla="*/ 6 h 10"/>
                <a:gd name="T14" fmla="*/ 0 w 12"/>
                <a:gd name="T15" fmla="*/ 8 h 10"/>
                <a:gd name="T16" fmla="*/ 4 w 12"/>
                <a:gd name="T17" fmla="*/ 10 h 10"/>
                <a:gd name="T18" fmla="*/ 5 w 12"/>
                <a:gd name="T19" fmla="*/ 8 h 10"/>
                <a:gd name="T20" fmla="*/ 5 w 12"/>
                <a:gd name="T21" fmla="*/ 6 h 10"/>
                <a:gd name="T22" fmla="*/ 7 w 12"/>
                <a:gd name="T23" fmla="*/ 6 h 10"/>
                <a:gd name="T24" fmla="*/ 7 w 12"/>
                <a:gd name="T25" fmla="*/ 5 h 10"/>
                <a:gd name="T26" fmla="*/ 9 w 12"/>
                <a:gd name="T27" fmla="*/ 3 h 10"/>
                <a:gd name="T28" fmla="*/ 9 w 12"/>
                <a:gd name="T29" fmla="*/ 1 h 10"/>
                <a:gd name="T30" fmla="*/ 10 w 12"/>
                <a:gd name="T31" fmla="*/ 1 h 10"/>
                <a:gd name="T32" fmla="*/ 12 w 12"/>
                <a:gd name="T33" fmla="*/ 0 h 10"/>
                <a:gd name="T34" fmla="*/ 5 w 12"/>
                <a:gd name="T35"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2" h="10">
                  <a:moveTo>
                    <a:pt x="5" y="0"/>
                  </a:moveTo>
                  <a:lnTo>
                    <a:pt x="5" y="0"/>
                  </a:lnTo>
                  <a:lnTo>
                    <a:pt x="4" y="1"/>
                  </a:lnTo>
                  <a:lnTo>
                    <a:pt x="4" y="3"/>
                  </a:lnTo>
                  <a:lnTo>
                    <a:pt x="2" y="3"/>
                  </a:lnTo>
                  <a:lnTo>
                    <a:pt x="2" y="5"/>
                  </a:lnTo>
                  <a:lnTo>
                    <a:pt x="0" y="6"/>
                  </a:lnTo>
                  <a:lnTo>
                    <a:pt x="0" y="8"/>
                  </a:lnTo>
                  <a:lnTo>
                    <a:pt x="4" y="10"/>
                  </a:lnTo>
                  <a:lnTo>
                    <a:pt x="5" y="8"/>
                  </a:lnTo>
                  <a:lnTo>
                    <a:pt x="5" y="6"/>
                  </a:lnTo>
                  <a:lnTo>
                    <a:pt x="7" y="6"/>
                  </a:lnTo>
                  <a:lnTo>
                    <a:pt x="7" y="5"/>
                  </a:lnTo>
                  <a:lnTo>
                    <a:pt x="9" y="3"/>
                  </a:lnTo>
                  <a:lnTo>
                    <a:pt x="9" y="1"/>
                  </a:lnTo>
                  <a:lnTo>
                    <a:pt x="10" y="1"/>
                  </a:lnTo>
                  <a:lnTo>
                    <a:pt x="12" y="0"/>
                  </a:lnTo>
                  <a:lnTo>
                    <a:pt x="5"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39" name="Freeform 683">
              <a:extLst>
                <a:ext uri="{FF2B5EF4-FFF2-40B4-BE49-F238E27FC236}">
                  <a16:creationId xmlns:a16="http://schemas.microsoft.com/office/drawing/2014/main" id="{23664C66-26DF-373F-244D-92CF9FB01297}"/>
                </a:ext>
              </a:extLst>
            </p:cNvPr>
            <p:cNvSpPr>
              <a:spLocks/>
            </p:cNvSpPr>
            <p:nvPr/>
          </p:nvSpPr>
          <p:spPr bwMode="auto">
            <a:xfrm>
              <a:off x="1689" y="1514"/>
              <a:ext cx="12" cy="11"/>
            </a:xfrm>
            <a:custGeom>
              <a:avLst/>
              <a:gdLst>
                <a:gd name="T0" fmla="*/ 7 w 12"/>
                <a:gd name="T1" fmla="*/ 0 h 11"/>
                <a:gd name="T2" fmla="*/ 5 w 12"/>
                <a:gd name="T3" fmla="*/ 1 h 11"/>
                <a:gd name="T4" fmla="*/ 3 w 12"/>
                <a:gd name="T5" fmla="*/ 3 h 11"/>
                <a:gd name="T6" fmla="*/ 3 w 12"/>
                <a:gd name="T7" fmla="*/ 5 h 11"/>
                <a:gd name="T8" fmla="*/ 2 w 12"/>
                <a:gd name="T9" fmla="*/ 5 h 11"/>
                <a:gd name="T10" fmla="*/ 2 w 12"/>
                <a:gd name="T11" fmla="*/ 6 h 11"/>
                <a:gd name="T12" fmla="*/ 2 w 12"/>
                <a:gd name="T13" fmla="*/ 8 h 11"/>
                <a:gd name="T14" fmla="*/ 0 w 12"/>
                <a:gd name="T15" fmla="*/ 8 h 11"/>
                <a:gd name="T16" fmla="*/ 5 w 12"/>
                <a:gd name="T17" fmla="*/ 11 h 11"/>
                <a:gd name="T18" fmla="*/ 5 w 12"/>
                <a:gd name="T19" fmla="*/ 10 h 11"/>
                <a:gd name="T20" fmla="*/ 7 w 12"/>
                <a:gd name="T21" fmla="*/ 8 h 11"/>
                <a:gd name="T22" fmla="*/ 7 w 12"/>
                <a:gd name="T23" fmla="*/ 6 h 11"/>
                <a:gd name="T24" fmla="*/ 8 w 12"/>
                <a:gd name="T25" fmla="*/ 5 h 11"/>
                <a:gd name="T26" fmla="*/ 10 w 12"/>
                <a:gd name="T27" fmla="*/ 3 h 11"/>
                <a:gd name="T28" fmla="*/ 12 w 12"/>
                <a:gd name="T29" fmla="*/ 1 h 11"/>
                <a:gd name="T30" fmla="*/ 12 w 12"/>
                <a:gd name="T31" fmla="*/ 0 h 11"/>
                <a:gd name="T32" fmla="*/ 7 w 12"/>
                <a:gd name="T33"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2" h="11">
                  <a:moveTo>
                    <a:pt x="7" y="0"/>
                  </a:moveTo>
                  <a:lnTo>
                    <a:pt x="5" y="1"/>
                  </a:lnTo>
                  <a:lnTo>
                    <a:pt x="3" y="3"/>
                  </a:lnTo>
                  <a:lnTo>
                    <a:pt x="3" y="5"/>
                  </a:lnTo>
                  <a:lnTo>
                    <a:pt x="2" y="5"/>
                  </a:lnTo>
                  <a:lnTo>
                    <a:pt x="2" y="6"/>
                  </a:lnTo>
                  <a:lnTo>
                    <a:pt x="2" y="8"/>
                  </a:lnTo>
                  <a:lnTo>
                    <a:pt x="0" y="8"/>
                  </a:lnTo>
                  <a:lnTo>
                    <a:pt x="5" y="11"/>
                  </a:lnTo>
                  <a:lnTo>
                    <a:pt x="5" y="10"/>
                  </a:lnTo>
                  <a:lnTo>
                    <a:pt x="7" y="8"/>
                  </a:lnTo>
                  <a:lnTo>
                    <a:pt x="7" y="6"/>
                  </a:lnTo>
                  <a:lnTo>
                    <a:pt x="8" y="5"/>
                  </a:lnTo>
                  <a:lnTo>
                    <a:pt x="10" y="3"/>
                  </a:lnTo>
                  <a:lnTo>
                    <a:pt x="12" y="1"/>
                  </a:lnTo>
                  <a:lnTo>
                    <a:pt x="12" y="0"/>
                  </a:lnTo>
                  <a:lnTo>
                    <a:pt x="7"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40" name="Freeform 684">
              <a:extLst>
                <a:ext uri="{FF2B5EF4-FFF2-40B4-BE49-F238E27FC236}">
                  <a16:creationId xmlns:a16="http://schemas.microsoft.com/office/drawing/2014/main" id="{BE8A089A-E216-C951-CF49-DBBCE870901E}"/>
                </a:ext>
              </a:extLst>
            </p:cNvPr>
            <p:cNvSpPr>
              <a:spLocks/>
            </p:cNvSpPr>
            <p:nvPr/>
          </p:nvSpPr>
          <p:spPr bwMode="auto">
            <a:xfrm>
              <a:off x="1691" y="1514"/>
              <a:ext cx="13" cy="13"/>
            </a:xfrm>
            <a:custGeom>
              <a:avLst/>
              <a:gdLst>
                <a:gd name="T0" fmla="*/ 8 w 13"/>
                <a:gd name="T1" fmla="*/ 0 h 13"/>
                <a:gd name="T2" fmla="*/ 6 w 13"/>
                <a:gd name="T3" fmla="*/ 1 h 13"/>
                <a:gd name="T4" fmla="*/ 5 w 13"/>
                <a:gd name="T5" fmla="*/ 1 h 13"/>
                <a:gd name="T6" fmla="*/ 5 w 13"/>
                <a:gd name="T7" fmla="*/ 3 h 13"/>
                <a:gd name="T8" fmla="*/ 3 w 13"/>
                <a:gd name="T9" fmla="*/ 5 h 13"/>
                <a:gd name="T10" fmla="*/ 3 w 13"/>
                <a:gd name="T11" fmla="*/ 6 h 13"/>
                <a:gd name="T12" fmla="*/ 1 w 13"/>
                <a:gd name="T13" fmla="*/ 6 h 13"/>
                <a:gd name="T14" fmla="*/ 1 w 13"/>
                <a:gd name="T15" fmla="*/ 8 h 13"/>
                <a:gd name="T16" fmla="*/ 0 w 13"/>
                <a:gd name="T17" fmla="*/ 10 h 13"/>
                <a:gd name="T18" fmla="*/ 5 w 13"/>
                <a:gd name="T19" fmla="*/ 13 h 13"/>
                <a:gd name="T20" fmla="*/ 6 w 13"/>
                <a:gd name="T21" fmla="*/ 11 h 13"/>
                <a:gd name="T22" fmla="*/ 6 w 13"/>
                <a:gd name="T23" fmla="*/ 10 h 13"/>
                <a:gd name="T24" fmla="*/ 8 w 13"/>
                <a:gd name="T25" fmla="*/ 8 h 13"/>
                <a:gd name="T26" fmla="*/ 8 w 13"/>
                <a:gd name="T27" fmla="*/ 6 h 13"/>
                <a:gd name="T28" fmla="*/ 10 w 13"/>
                <a:gd name="T29" fmla="*/ 5 h 13"/>
                <a:gd name="T30" fmla="*/ 11 w 13"/>
                <a:gd name="T31" fmla="*/ 3 h 13"/>
                <a:gd name="T32" fmla="*/ 11 w 13"/>
                <a:gd name="T33" fmla="*/ 1 h 13"/>
                <a:gd name="T34" fmla="*/ 13 w 13"/>
                <a:gd name="T35" fmla="*/ 0 h 13"/>
                <a:gd name="T36" fmla="*/ 8 w 13"/>
                <a:gd name="T37"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3" h="13">
                  <a:moveTo>
                    <a:pt x="8" y="0"/>
                  </a:moveTo>
                  <a:lnTo>
                    <a:pt x="6" y="1"/>
                  </a:lnTo>
                  <a:lnTo>
                    <a:pt x="5" y="1"/>
                  </a:lnTo>
                  <a:lnTo>
                    <a:pt x="5" y="3"/>
                  </a:lnTo>
                  <a:lnTo>
                    <a:pt x="3" y="5"/>
                  </a:lnTo>
                  <a:lnTo>
                    <a:pt x="3" y="6"/>
                  </a:lnTo>
                  <a:lnTo>
                    <a:pt x="1" y="6"/>
                  </a:lnTo>
                  <a:lnTo>
                    <a:pt x="1" y="8"/>
                  </a:lnTo>
                  <a:lnTo>
                    <a:pt x="0" y="10"/>
                  </a:lnTo>
                  <a:lnTo>
                    <a:pt x="5" y="13"/>
                  </a:lnTo>
                  <a:lnTo>
                    <a:pt x="6" y="11"/>
                  </a:lnTo>
                  <a:lnTo>
                    <a:pt x="6" y="10"/>
                  </a:lnTo>
                  <a:lnTo>
                    <a:pt x="8" y="8"/>
                  </a:lnTo>
                  <a:lnTo>
                    <a:pt x="8" y="6"/>
                  </a:lnTo>
                  <a:lnTo>
                    <a:pt x="10" y="5"/>
                  </a:lnTo>
                  <a:lnTo>
                    <a:pt x="11" y="3"/>
                  </a:lnTo>
                  <a:lnTo>
                    <a:pt x="11" y="1"/>
                  </a:lnTo>
                  <a:lnTo>
                    <a:pt x="13" y="0"/>
                  </a:lnTo>
                  <a:lnTo>
                    <a:pt x="8"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41" name="Freeform 685">
              <a:extLst>
                <a:ext uri="{FF2B5EF4-FFF2-40B4-BE49-F238E27FC236}">
                  <a16:creationId xmlns:a16="http://schemas.microsoft.com/office/drawing/2014/main" id="{163E1E42-DF27-54AF-27F7-BF22D8749D7E}"/>
                </a:ext>
              </a:extLst>
            </p:cNvPr>
            <p:cNvSpPr>
              <a:spLocks/>
            </p:cNvSpPr>
            <p:nvPr/>
          </p:nvSpPr>
          <p:spPr bwMode="auto">
            <a:xfrm>
              <a:off x="1694" y="1514"/>
              <a:ext cx="13" cy="13"/>
            </a:xfrm>
            <a:custGeom>
              <a:avLst/>
              <a:gdLst>
                <a:gd name="T0" fmla="*/ 7 w 13"/>
                <a:gd name="T1" fmla="*/ 0 h 13"/>
                <a:gd name="T2" fmla="*/ 7 w 13"/>
                <a:gd name="T3" fmla="*/ 1 h 13"/>
                <a:gd name="T4" fmla="*/ 5 w 13"/>
                <a:gd name="T5" fmla="*/ 3 h 13"/>
                <a:gd name="T6" fmla="*/ 3 w 13"/>
                <a:gd name="T7" fmla="*/ 5 h 13"/>
                <a:gd name="T8" fmla="*/ 2 w 13"/>
                <a:gd name="T9" fmla="*/ 6 h 13"/>
                <a:gd name="T10" fmla="*/ 2 w 13"/>
                <a:gd name="T11" fmla="*/ 8 h 13"/>
                <a:gd name="T12" fmla="*/ 0 w 13"/>
                <a:gd name="T13" fmla="*/ 10 h 13"/>
                <a:gd name="T14" fmla="*/ 0 w 13"/>
                <a:gd name="T15" fmla="*/ 11 h 13"/>
                <a:gd name="T16" fmla="*/ 3 w 13"/>
                <a:gd name="T17" fmla="*/ 13 h 13"/>
                <a:gd name="T18" fmla="*/ 5 w 13"/>
                <a:gd name="T19" fmla="*/ 11 h 13"/>
                <a:gd name="T20" fmla="*/ 5 w 13"/>
                <a:gd name="T21" fmla="*/ 10 h 13"/>
                <a:gd name="T22" fmla="*/ 7 w 13"/>
                <a:gd name="T23" fmla="*/ 8 h 13"/>
                <a:gd name="T24" fmla="*/ 8 w 13"/>
                <a:gd name="T25" fmla="*/ 6 h 13"/>
                <a:gd name="T26" fmla="*/ 10 w 13"/>
                <a:gd name="T27" fmla="*/ 5 h 13"/>
                <a:gd name="T28" fmla="*/ 10 w 13"/>
                <a:gd name="T29" fmla="*/ 3 h 13"/>
                <a:gd name="T30" fmla="*/ 12 w 13"/>
                <a:gd name="T31" fmla="*/ 1 h 13"/>
                <a:gd name="T32" fmla="*/ 13 w 13"/>
                <a:gd name="T33" fmla="*/ 0 h 13"/>
                <a:gd name="T34" fmla="*/ 7 w 13"/>
                <a:gd name="T35"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3" h="13">
                  <a:moveTo>
                    <a:pt x="7" y="0"/>
                  </a:moveTo>
                  <a:lnTo>
                    <a:pt x="7" y="1"/>
                  </a:lnTo>
                  <a:lnTo>
                    <a:pt x="5" y="3"/>
                  </a:lnTo>
                  <a:lnTo>
                    <a:pt x="3" y="5"/>
                  </a:lnTo>
                  <a:lnTo>
                    <a:pt x="2" y="6"/>
                  </a:lnTo>
                  <a:lnTo>
                    <a:pt x="2" y="8"/>
                  </a:lnTo>
                  <a:lnTo>
                    <a:pt x="0" y="10"/>
                  </a:lnTo>
                  <a:lnTo>
                    <a:pt x="0" y="11"/>
                  </a:lnTo>
                  <a:lnTo>
                    <a:pt x="3" y="13"/>
                  </a:lnTo>
                  <a:lnTo>
                    <a:pt x="5" y="11"/>
                  </a:lnTo>
                  <a:lnTo>
                    <a:pt x="5" y="10"/>
                  </a:lnTo>
                  <a:lnTo>
                    <a:pt x="7" y="8"/>
                  </a:lnTo>
                  <a:lnTo>
                    <a:pt x="8" y="6"/>
                  </a:lnTo>
                  <a:lnTo>
                    <a:pt x="10" y="5"/>
                  </a:lnTo>
                  <a:lnTo>
                    <a:pt x="10" y="3"/>
                  </a:lnTo>
                  <a:lnTo>
                    <a:pt x="12" y="1"/>
                  </a:lnTo>
                  <a:lnTo>
                    <a:pt x="13" y="0"/>
                  </a:lnTo>
                  <a:lnTo>
                    <a:pt x="7"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42" name="Freeform 686">
              <a:extLst>
                <a:ext uri="{FF2B5EF4-FFF2-40B4-BE49-F238E27FC236}">
                  <a16:creationId xmlns:a16="http://schemas.microsoft.com/office/drawing/2014/main" id="{E56FA551-102E-96E7-2128-AF17231340B9}"/>
                </a:ext>
              </a:extLst>
            </p:cNvPr>
            <p:cNvSpPr>
              <a:spLocks/>
            </p:cNvSpPr>
            <p:nvPr/>
          </p:nvSpPr>
          <p:spPr bwMode="auto">
            <a:xfrm>
              <a:off x="1696" y="1514"/>
              <a:ext cx="15" cy="15"/>
            </a:xfrm>
            <a:custGeom>
              <a:avLst/>
              <a:gdLst>
                <a:gd name="T0" fmla="*/ 8 w 15"/>
                <a:gd name="T1" fmla="*/ 0 h 15"/>
                <a:gd name="T2" fmla="*/ 6 w 15"/>
                <a:gd name="T3" fmla="*/ 1 h 15"/>
                <a:gd name="T4" fmla="*/ 6 w 15"/>
                <a:gd name="T5" fmla="*/ 3 h 15"/>
                <a:gd name="T6" fmla="*/ 5 w 15"/>
                <a:gd name="T7" fmla="*/ 5 h 15"/>
                <a:gd name="T8" fmla="*/ 3 w 15"/>
                <a:gd name="T9" fmla="*/ 6 h 15"/>
                <a:gd name="T10" fmla="*/ 3 w 15"/>
                <a:gd name="T11" fmla="*/ 8 h 15"/>
                <a:gd name="T12" fmla="*/ 1 w 15"/>
                <a:gd name="T13" fmla="*/ 10 h 15"/>
                <a:gd name="T14" fmla="*/ 1 w 15"/>
                <a:gd name="T15" fmla="*/ 11 h 15"/>
                <a:gd name="T16" fmla="*/ 0 w 15"/>
                <a:gd name="T17" fmla="*/ 13 h 15"/>
                <a:gd name="T18" fmla="*/ 3 w 15"/>
                <a:gd name="T19" fmla="*/ 15 h 15"/>
                <a:gd name="T20" fmla="*/ 5 w 15"/>
                <a:gd name="T21" fmla="*/ 13 h 15"/>
                <a:gd name="T22" fmla="*/ 6 w 15"/>
                <a:gd name="T23" fmla="*/ 11 h 15"/>
                <a:gd name="T24" fmla="*/ 8 w 15"/>
                <a:gd name="T25" fmla="*/ 10 h 15"/>
                <a:gd name="T26" fmla="*/ 8 w 15"/>
                <a:gd name="T27" fmla="*/ 6 h 15"/>
                <a:gd name="T28" fmla="*/ 10 w 15"/>
                <a:gd name="T29" fmla="*/ 5 h 15"/>
                <a:gd name="T30" fmla="*/ 11 w 15"/>
                <a:gd name="T31" fmla="*/ 3 h 15"/>
                <a:gd name="T32" fmla="*/ 13 w 15"/>
                <a:gd name="T33" fmla="*/ 1 h 15"/>
                <a:gd name="T34" fmla="*/ 15 w 15"/>
                <a:gd name="T35" fmla="*/ 0 h 15"/>
                <a:gd name="T36" fmla="*/ 8 w 15"/>
                <a:gd name="T37" fmla="*/ 0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5">
                  <a:moveTo>
                    <a:pt x="8" y="0"/>
                  </a:moveTo>
                  <a:lnTo>
                    <a:pt x="6" y="1"/>
                  </a:lnTo>
                  <a:lnTo>
                    <a:pt x="6" y="3"/>
                  </a:lnTo>
                  <a:lnTo>
                    <a:pt x="5" y="5"/>
                  </a:lnTo>
                  <a:lnTo>
                    <a:pt x="3" y="6"/>
                  </a:lnTo>
                  <a:lnTo>
                    <a:pt x="3" y="8"/>
                  </a:lnTo>
                  <a:lnTo>
                    <a:pt x="1" y="10"/>
                  </a:lnTo>
                  <a:lnTo>
                    <a:pt x="1" y="11"/>
                  </a:lnTo>
                  <a:lnTo>
                    <a:pt x="0" y="13"/>
                  </a:lnTo>
                  <a:lnTo>
                    <a:pt x="3" y="15"/>
                  </a:lnTo>
                  <a:lnTo>
                    <a:pt x="5" y="13"/>
                  </a:lnTo>
                  <a:lnTo>
                    <a:pt x="6" y="11"/>
                  </a:lnTo>
                  <a:lnTo>
                    <a:pt x="8" y="10"/>
                  </a:lnTo>
                  <a:lnTo>
                    <a:pt x="8" y="6"/>
                  </a:lnTo>
                  <a:lnTo>
                    <a:pt x="10" y="5"/>
                  </a:lnTo>
                  <a:lnTo>
                    <a:pt x="11" y="3"/>
                  </a:lnTo>
                  <a:lnTo>
                    <a:pt x="13" y="1"/>
                  </a:lnTo>
                  <a:lnTo>
                    <a:pt x="15" y="0"/>
                  </a:lnTo>
                  <a:lnTo>
                    <a:pt x="8"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43" name="Freeform 687">
              <a:extLst>
                <a:ext uri="{FF2B5EF4-FFF2-40B4-BE49-F238E27FC236}">
                  <a16:creationId xmlns:a16="http://schemas.microsoft.com/office/drawing/2014/main" id="{EC82F1D8-64C3-B2C0-A211-C5CFC9E4AC53}"/>
                </a:ext>
              </a:extLst>
            </p:cNvPr>
            <p:cNvSpPr>
              <a:spLocks/>
            </p:cNvSpPr>
            <p:nvPr/>
          </p:nvSpPr>
          <p:spPr bwMode="auto">
            <a:xfrm>
              <a:off x="1697" y="1514"/>
              <a:ext cx="17" cy="16"/>
            </a:xfrm>
            <a:custGeom>
              <a:avLst/>
              <a:gdLst>
                <a:gd name="T0" fmla="*/ 10 w 17"/>
                <a:gd name="T1" fmla="*/ 0 h 16"/>
                <a:gd name="T2" fmla="*/ 9 w 17"/>
                <a:gd name="T3" fmla="*/ 1 h 16"/>
                <a:gd name="T4" fmla="*/ 7 w 17"/>
                <a:gd name="T5" fmla="*/ 3 h 16"/>
                <a:gd name="T6" fmla="*/ 7 w 17"/>
                <a:gd name="T7" fmla="*/ 5 h 16"/>
                <a:gd name="T8" fmla="*/ 5 w 17"/>
                <a:gd name="T9" fmla="*/ 6 h 16"/>
                <a:gd name="T10" fmla="*/ 4 w 17"/>
                <a:gd name="T11" fmla="*/ 8 h 16"/>
                <a:gd name="T12" fmla="*/ 2 w 17"/>
                <a:gd name="T13" fmla="*/ 10 h 16"/>
                <a:gd name="T14" fmla="*/ 2 w 17"/>
                <a:gd name="T15" fmla="*/ 11 h 16"/>
                <a:gd name="T16" fmla="*/ 0 w 17"/>
                <a:gd name="T17" fmla="*/ 13 h 16"/>
                <a:gd name="T18" fmla="*/ 5 w 17"/>
                <a:gd name="T19" fmla="*/ 16 h 16"/>
                <a:gd name="T20" fmla="*/ 5 w 17"/>
                <a:gd name="T21" fmla="*/ 15 h 16"/>
                <a:gd name="T22" fmla="*/ 7 w 17"/>
                <a:gd name="T23" fmla="*/ 11 h 16"/>
                <a:gd name="T24" fmla="*/ 9 w 17"/>
                <a:gd name="T25" fmla="*/ 10 h 16"/>
                <a:gd name="T26" fmla="*/ 10 w 17"/>
                <a:gd name="T27" fmla="*/ 8 h 16"/>
                <a:gd name="T28" fmla="*/ 12 w 17"/>
                <a:gd name="T29" fmla="*/ 5 h 16"/>
                <a:gd name="T30" fmla="*/ 14 w 17"/>
                <a:gd name="T31" fmla="*/ 3 h 16"/>
                <a:gd name="T32" fmla="*/ 15 w 17"/>
                <a:gd name="T33" fmla="*/ 1 h 16"/>
                <a:gd name="T34" fmla="*/ 17 w 17"/>
                <a:gd name="T35" fmla="*/ 0 h 16"/>
                <a:gd name="T36" fmla="*/ 10 w 17"/>
                <a:gd name="T37" fmla="*/ 0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 h="16">
                  <a:moveTo>
                    <a:pt x="10" y="0"/>
                  </a:moveTo>
                  <a:lnTo>
                    <a:pt x="9" y="1"/>
                  </a:lnTo>
                  <a:lnTo>
                    <a:pt x="7" y="3"/>
                  </a:lnTo>
                  <a:lnTo>
                    <a:pt x="7" y="5"/>
                  </a:lnTo>
                  <a:lnTo>
                    <a:pt x="5" y="6"/>
                  </a:lnTo>
                  <a:lnTo>
                    <a:pt x="4" y="8"/>
                  </a:lnTo>
                  <a:lnTo>
                    <a:pt x="2" y="10"/>
                  </a:lnTo>
                  <a:lnTo>
                    <a:pt x="2" y="11"/>
                  </a:lnTo>
                  <a:lnTo>
                    <a:pt x="0" y="13"/>
                  </a:lnTo>
                  <a:lnTo>
                    <a:pt x="5" y="16"/>
                  </a:lnTo>
                  <a:lnTo>
                    <a:pt x="5" y="15"/>
                  </a:lnTo>
                  <a:lnTo>
                    <a:pt x="7" y="11"/>
                  </a:lnTo>
                  <a:lnTo>
                    <a:pt x="9" y="10"/>
                  </a:lnTo>
                  <a:lnTo>
                    <a:pt x="10" y="8"/>
                  </a:lnTo>
                  <a:lnTo>
                    <a:pt x="12" y="5"/>
                  </a:lnTo>
                  <a:lnTo>
                    <a:pt x="14" y="3"/>
                  </a:lnTo>
                  <a:lnTo>
                    <a:pt x="15" y="1"/>
                  </a:lnTo>
                  <a:lnTo>
                    <a:pt x="17" y="0"/>
                  </a:lnTo>
                  <a:lnTo>
                    <a:pt x="10"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44" name="Freeform 688">
              <a:extLst>
                <a:ext uri="{FF2B5EF4-FFF2-40B4-BE49-F238E27FC236}">
                  <a16:creationId xmlns:a16="http://schemas.microsoft.com/office/drawing/2014/main" id="{73CDDC02-A79D-B597-4B0B-7769EA7E1A04}"/>
                </a:ext>
              </a:extLst>
            </p:cNvPr>
            <p:cNvSpPr>
              <a:spLocks/>
            </p:cNvSpPr>
            <p:nvPr/>
          </p:nvSpPr>
          <p:spPr bwMode="auto">
            <a:xfrm>
              <a:off x="1699" y="1514"/>
              <a:ext cx="18" cy="18"/>
            </a:xfrm>
            <a:custGeom>
              <a:avLst/>
              <a:gdLst>
                <a:gd name="T0" fmla="*/ 12 w 18"/>
                <a:gd name="T1" fmla="*/ 0 h 18"/>
                <a:gd name="T2" fmla="*/ 10 w 18"/>
                <a:gd name="T3" fmla="*/ 1 h 18"/>
                <a:gd name="T4" fmla="*/ 8 w 18"/>
                <a:gd name="T5" fmla="*/ 3 h 18"/>
                <a:gd name="T6" fmla="*/ 7 w 18"/>
                <a:gd name="T7" fmla="*/ 5 h 18"/>
                <a:gd name="T8" fmla="*/ 5 w 18"/>
                <a:gd name="T9" fmla="*/ 6 h 18"/>
                <a:gd name="T10" fmla="*/ 5 w 18"/>
                <a:gd name="T11" fmla="*/ 10 h 18"/>
                <a:gd name="T12" fmla="*/ 3 w 18"/>
                <a:gd name="T13" fmla="*/ 11 h 18"/>
                <a:gd name="T14" fmla="*/ 2 w 18"/>
                <a:gd name="T15" fmla="*/ 13 h 18"/>
                <a:gd name="T16" fmla="*/ 0 w 18"/>
                <a:gd name="T17" fmla="*/ 15 h 18"/>
                <a:gd name="T18" fmla="*/ 5 w 18"/>
                <a:gd name="T19" fmla="*/ 18 h 18"/>
                <a:gd name="T20" fmla="*/ 7 w 18"/>
                <a:gd name="T21" fmla="*/ 15 h 18"/>
                <a:gd name="T22" fmla="*/ 8 w 18"/>
                <a:gd name="T23" fmla="*/ 13 h 18"/>
                <a:gd name="T24" fmla="*/ 10 w 18"/>
                <a:gd name="T25" fmla="*/ 10 h 18"/>
                <a:gd name="T26" fmla="*/ 10 w 18"/>
                <a:gd name="T27" fmla="*/ 8 h 18"/>
                <a:gd name="T28" fmla="*/ 12 w 18"/>
                <a:gd name="T29" fmla="*/ 6 h 18"/>
                <a:gd name="T30" fmla="*/ 13 w 18"/>
                <a:gd name="T31" fmla="*/ 3 h 18"/>
                <a:gd name="T32" fmla="*/ 15 w 18"/>
                <a:gd name="T33" fmla="*/ 1 h 18"/>
                <a:gd name="T34" fmla="*/ 18 w 18"/>
                <a:gd name="T35" fmla="*/ 0 h 18"/>
                <a:gd name="T36" fmla="*/ 12 w 18"/>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18">
                  <a:moveTo>
                    <a:pt x="12" y="0"/>
                  </a:moveTo>
                  <a:lnTo>
                    <a:pt x="10" y="1"/>
                  </a:lnTo>
                  <a:lnTo>
                    <a:pt x="8" y="3"/>
                  </a:lnTo>
                  <a:lnTo>
                    <a:pt x="7" y="5"/>
                  </a:lnTo>
                  <a:lnTo>
                    <a:pt x="5" y="6"/>
                  </a:lnTo>
                  <a:lnTo>
                    <a:pt x="5" y="10"/>
                  </a:lnTo>
                  <a:lnTo>
                    <a:pt x="3" y="11"/>
                  </a:lnTo>
                  <a:lnTo>
                    <a:pt x="2" y="13"/>
                  </a:lnTo>
                  <a:lnTo>
                    <a:pt x="0" y="15"/>
                  </a:lnTo>
                  <a:lnTo>
                    <a:pt x="5" y="18"/>
                  </a:lnTo>
                  <a:lnTo>
                    <a:pt x="7" y="15"/>
                  </a:lnTo>
                  <a:lnTo>
                    <a:pt x="8" y="13"/>
                  </a:lnTo>
                  <a:lnTo>
                    <a:pt x="10" y="10"/>
                  </a:lnTo>
                  <a:lnTo>
                    <a:pt x="10" y="8"/>
                  </a:lnTo>
                  <a:lnTo>
                    <a:pt x="12" y="6"/>
                  </a:lnTo>
                  <a:lnTo>
                    <a:pt x="13" y="3"/>
                  </a:lnTo>
                  <a:lnTo>
                    <a:pt x="15" y="1"/>
                  </a:lnTo>
                  <a:lnTo>
                    <a:pt x="18" y="0"/>
                  </a:lnTo>
                  <a:lnTo>
                    <a:pt x="12"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45" name="Freeform 689">
              <a:extLst>
                <a:ext uri="{FF2B5EF4-FFF2-40B4-BE49-F238E27FC236}">
                  <a16:creationId xmlns:a16="http://schemas.microsoft.com/office/drawing/2014/main" id="{6A1DB3A9-3D5C-F18D-0D59-DBBB3E30A3E2}"/>
                </a:ext>
              </a:extLst>
            </p:cNvPr>
            <p:cNvSpPr>
              <a:spLocks/>
            </p:cNvSpPr>
            <p:nvPr/>
          </p:nvSpPr>
          <p:spPr bwMode="auto">
            <a:xfrm>
              <a:off x="1702" y="1514"/>
              <a:ext cx="17" cy="18"/>
            </a:xfrm>
            <a:custGeom>
              <a:avLst/>
              <a:gdLst>
                <a:gd name="T0" fmla="*/ 12 w 17"/>
                <a:gd name="T1" fmla="*/ 0 h 18"/>
                <a:gd name="T2" fmla="*/ 10 w 17"/>
                <a:gd name="T3" fmla="*/ 1 h 18"/>
                <a:gd name="T4" fmla="*/ 9 w 17"/>
                <a:gd name="T5" fmla="*/ 3 h 18"/>
                <a:gd name="T6" fmla="*/ 7 w 17"/>
                <a:gd name="T7" fmla="*/ 5 h 18"/>
                <a:gd name="T8" fmla="*/ 5 w 17"/>
                <a:gd name="T9" fmla="*/ 8 h 18"/>
                <a:gd name="T10" fmla="*/ 4 w 17"/>
                <a:gd name="T11" fmla="*/ 10 h 18"/>
                <a:gd name="T12" fmla="*/ 2 w 17"/>
                <a:gd name="T13" fmla="*/ 11 h 18"/>
                <a:gd name="T14" fmla="*/ 0 w 17"/>
                <a:gd name="T15" fmla="*/ 15 h 18"/>
                <a:gd name="T16" fmla="*/ 0 w 17"/>
                <a:gd name="T17" fmla="*/ 16 h 18"/>
                <a:gd name="T18" fmla="*/ 4 w 17"/>
                <a:gd name="T19" fmla="*/ 18 h 18"/>
                <a:gd name="T20" fmla="*/ 5 w 17"/>
                <a:gd name="T21" fmla="*/ 16 h 18"/>
                <a:gd name="T22" fmla="*/ 7 w 17"/>
                <a:gd name="T23" fmla="*/ 13 h 18"/>
                <a:gd name="T24" fmla="*/ 9 w 17"/>
                <a:gd name="T25" fmla="*/ 11 h 18"/>
                <a:gd name="T26" fmla="*/ 10 w 17"/>
                <a:gd name="T27" fmla="*/ 8 h 18"/>
                <a:gd name="T28" fmla="*/ 12 w 17"/>
                <a:gd name="T29" fmla="*/ 6 h 18"/>
                <a:gd name="T30" fmla="*/ 14 w 17"/>
                <a:gd name="T31" fmla="*/ 5 h 18"/>
                <a:gd name="T32" fmla="*/ 15 w 17"/>
                <a:gd name="T33" fmla="*/ 1 h 18"/>
                <a:gd name="T34" fmla="*/ 17 w 17"/>
                <a:gd name="T35" fmla="*/ 0 h 18"/>
                <a:gd name="T36" fmla="*/ 12 w 17"/>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 h="18">
                  <a:moveTo>
                    <a:pt x="12" y="0"/>
                  </a:moveTo>
                  <a:lnTo>
                    <a:pt x="10" y="1"/>
                  </a:lnTo>
                  <a:lnTo>
                    <a:pt x="9" y="3"/>
                  </a:lnTo>
                  <a:lnTo>
                    <a:pt x="7" y="5"/>
                  </a:lnTo>
                  <a:lnTo>
                    <a:pt x="5" y="8"/>
                  </a:lnTo>
                  <a:lnTo>
                    <a:pt x="4" y="10"/>
                  </a:lnTo>
                  <a:lnTo>
                    <a:pt x="2" y="11"/>
                  </a:lnTo>
                  <a:lnTo>
                    <a:pt x="0" y="15"/>
                  </a:lnTo>
                  <a:lnTo>
                    <a:pt x="0" y="16"/>
                  </a:lnTo>
                  <a:lnTo>
                    <a:pt x="4" y="18"/>
                  </a:lnTo>
                  <a:lnTo>
                    <a:pt x="5" y="16"/>
                  </a:lnTo>
                  <a:lnTo>
                    <a:pt x="7" y="13"/>
                  </a:lnTo>
                  <a:lnTo>
                    <a:pt x="9" y="11"/>
                  </a:lnTo>
                  <a:lnTo>
                    <a:pt x="10" y="8"/>
                  </a:lnTo>
                  <a:lnTo>
                    <a:pt x="12" y="6"/>
                  </a:lnTo>
                  <a:lnTo>
                    <a:pt x="14" y="5"/>
                  </a:lnTo>
                  <a:lnTo>
                    <a:pt x="15" y="1"/>
                  </a:lnTo>
                  <a:lnTo>
                    <a:pt x="17" y="0"/>
                  </a:lnTo>
                  <a:lnTo>
                    <a:pt x="12"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46" name="Freeform 690">
              <a:extLst>
                <a:ext uri="{FF2B5EF4-FFF2-40B4-BE49-F238E27FC236}">
                  <a16:creationId xmlns:a16="http://schemas.microsoft.com/office/drawing/2014/main" id="{92E2AC4F-D9A5-B741-CDDB-50F2B2D4C833}"/>
                </a:ext>
              </a:extLst>
            </p:cNvPr>
            <p:cNvSpPr>
              <a:spLocks/>
            </p:cNvSpPr>
            <p:nvPr/>
          </p:nvSpPr>
          <p:spPr bwMode="auto">
            <a:xfrm>
              <a:off x="1704" y="1514"/>
              <a:ext cx="18" cy="20"/>
            </a:xfrm>
            <a:custGeom>
              <a:avLst/>
              <a:gdLst>
                <a:gd name="T0" fmla="*/ 13 w 18"/>
                <a:gd name="T1" fmla="*/ 0 h 20"/>
                <a:gd name="T2" fmla="*/ 10 w 18"/>
                <a:gd name="T3" fmla="*/ 1 h 20"/>
                <a:gd name="T4" fmla="*/ 8 w 18"/>
                <a:gd name="T5" fmla="*/ 3 h 20"/>
                <a:gd name="T6" fmla="*/ 7 w 18"/>
                <a:gd name="T7" fmla="*/ 6 h 20"/>
                <a:gd name="T8" fmla="*/ 5 w 18"/>
                <a:gd name="T9" fmla="*/ 8 h 20"/>
                <a:gd name="T10" fmla="*/ 5 w 18"/>
                <a:gd name="T11" fmla="*/ 10 h 20"/>
                <a:gd name="T12" fmla="*/ 3 w 18"/>
                <a:gd name="T13" fmla="*/ 13 h 20"/>
                <a:gd name="T14" fmla="*/ 2 w 18"/>
                <a:gd name="T15" fmla="*/ 15 h 20"/>
                <a:gd name="T16" fmla="*/ 0 w 18"/>
                <a:gd name="T17" fmla="*/ 18 h 20"/>
                <a:gd name="T18" fmla="*/ 3 w 18"/>
                <a:gd name="T19" fmla="*/ 20 h 20"/>
                <a:gd name="T20" fmla="*/ 5 w 18"/>
                <a:gd name="T21" fmla="*/ 16 h 20"/>
                <a:gd name="T22" fmla="*/ 7 w 18"/>
                <a:gd name="T23" fmla="*/ 15 h 20"/>
                <a:gd name="T24" fmla="*/ 8 w 18"/>
                <a:gd name="T25" fmla="*/ 11 h 20"/>
                <a:gd name="T26" fmla="*/ 12 w 18"/>
                <a:gd name="T27" fmla="*/ 10 h 20"/>
                <a:gd name="T28" fmla="*/ 13 w 18"/>
                <a:gd name="T29" fmla="*/ 6 h 20"/>
                <a:gd name="T30" fmla="*/ 15 w 18"/>
                <a:gd name="T31" fmla="*/ 5 h 20"/>
                <a:gd name="T32" fmla="*/ 16 w 18"/>
                <a:gd name="T33" fmla="*/ 1 h 20"/>
                <a:gd name="T34" fmla="*/ 18 w 18"/>
                <a:gd name="T35" fmla="*/ 0 h 20"/>
                <a:gd name="T36" fmla="*/ 13 w 18"/>
                <a:gd name="T37" fmla="*/ 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20">
                  <a:moveTo>
                    <a:pt x="13" y="0"/>
                  </a:moveTo>
                  <a:lnTo>
                    <a:pt x="10" y="1"/>
                  </a:lnTo>
                  <a:lnTo>
                    <a:pt x="8" y="3"/>
                  </a:lnTo>
                  <a:lnTo>
                    <a:pt x="7" y="6"/>
                  </a:lnTo>
                  <a:lnTo>
                    <a:pt x="5" y="8"/>
                  </a:lnTo>
                  <a:lnTo>
                    <a:pt x="5" y="10"/>
                  </a:lnTo>
                  <a:lnTo>
                    <a:pt x="3" y="13"/>
                  </a:lnTo>
                  <a:lnTo>
                    <a:pt x="2" y="15"/>
                  </a:lnTo>
                  <a:lnTo>
                    <a:pt x="0" y="18"/>
                  </a:lnTo>
                  <a:lnTo>
                    <a:pt x="3" y="20"/>
                  </a:lnTo>
                  <a:lnTo>
                    <a:pt x="5" y="16"/>
                  </a:lnTo>
                  <a:lnTo>
                    <a:pt x="7" y="15"/>
                  </a:lnTo>
                  <a:lnTo>
                    <a:pt x="8" y="11"/>
                  </a:lnTo>
                  <a:lnTo>
                    <a:pt x="12" y="10"/>
                  </a:lnTo>
                  <a:lnTo>
                    <a:pt x="13" y="6"/>
                  </a:lnTo>
                  <a:lnTo>
                    <a:pt x="15" y="5"/>
                  </a:lnTo>
                  <a:lnTo>
                    <a:pt x="16" y="1"/>
                  </a:lnTo>
                  <a:lnTo>
                    <a:pt x="18" y="0"/>
                  </a:lnTo>
                  <a:lnTo>
                    <a:pt x="13"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47" name="Freeform 691">
              <a:extLst>
                <a:ext uri="{FF2B5EF4-FFF2-40B4-BE49-F238E27FC236}">
                  <a16:creationId xmlns:a16="http://schemas.microsoft.com/office/drawing/2014/main" id="{F3CE4390-EED5-646A-AC84-7F6AE430F5BD}"/>
                </a:ext>
              </a:extLst>
            </p:cNvPr>
            <p:cNvSpPr>
              <a:spLocks/>
            </p:cNvSpPr>
            <p:nvPr/>
          </p:nvSpPr>
          <p:spPr bwMode="auto">
            <a:xfrm>
              <a:off x="1706" y="1514"/>
              <a:ext cx="19" cy="21"/>
            </a:xfrm>
            <a:custGeom>
              <a:avLst/>
              <a:gdLst>
                <a:gd name="T0" fmla="*/ 13 w 19"/>
                <a:gd name="T1" fmla="*/ 0 h 21"/>
                <a:gd name="T2" fmla="*/ 11 w 19"/>
                <a:gd name="T3" fmla="*/ 1 h 21"/>
                <a:gd name="T4" fmla="*/ 10 w 19"/>
                <a:gd name="T5" fmla="*/ 5 h 21"/>
                <a:gd name="T6" fmla="*/ 8 w 19"/>
                <a:gd name="T7" fmla="*/ 6 h 21"/>
                <a:gd name="T8" fmla="*/ 6 w 19"/>
                <a:gd name="T9" fmla="*/ 8 h 21"/>
                <a:gd name="T10" fmla="*/ 5 w 19"/>
                <a:gd name="T11" fmla="*/ 11 h 21"/>
                <a:gd name="T12" fmla="*/ 3 w 19"/>
                <a:gd name="T13" fmla="*/ 13 h 21"/>
                <a:gd name="T14" fmla="*/ 1 w 19"/>
                <a:gd name="T15" fmla="*/ 16 h 21"/>
                <a:gd name="T16" fmla="*/ 0 w 19"/>
                <a:gd name="T17" fmla="*/ 18 h 21"/>
                <a:gd name="T18" fmla="*/ 5 w 19"/>
                <a:gd name="T19" fmla="*/ 21 h 21"/>
                <a:gd name="T20" fmla="*/ 6 w 19"/>
                <a:gd name="T21" fmla="*/ 18 h 21"/>
                <a:gd name="T22" fmla="*/ 8 w 19"/>
                <a:gd name="T23" fmla="*/ 15 h 21"/>
                <a:gd name="T24" fmla="*/ 10 w 19"/>
                <a:gd name="T25" fmla="*/ 13 h 21"/>
                <a:gd name="T26" fmla="*/ 11 w 19"/>
                <a:gd name="T27" fmla="*/ 10 h 21"/>
                <a:gd name="T28" fmla="*/ 13 w 19"/>
                <a:gd name="T29" fmla="*/ 8 h 21"/>
                <a:gd name="T30" fmla="*/ 16 w 19"/>
                <a:gd name="T31" fmla="*/ 5 h 21"/>
                <a:gd name="T32" fmla="*/ 18 w 19"/>
                <a:gd name="T33" fmla="*/ 1 h 21"/>
                <a:gd name="T34" fmla="*/ 19 w 19"/>
                <a:gd name="T35" fmla="*/ 0 h 21"/>
                <a:gd name="T36" fmla="*/ 13 w 19"/>
                <a:gd name="T37" fmla="*/ 0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9" h="21">
                  <a:moveTo>
                    <a:pt x="13" y="0"/>
                  </a:moveTo>
                  <a:lnTo>
                    <a:pt x="11" y="1"/>
                  </a:lnTo>
                  <a:lnTo>
                    <a:pt x="10" y="5"/>
                  </a:lnTo>
                  <a:lnTo>
                    <a:pt x="8" y="6"/>
                  </a:lnTo>
                  <a:lnTo>
                    <a:pt x="6" y="8"/>
                  </a:lnTo>
                  <a:lnTo>
                    <a:pt x="5" y="11"/>
                  </a:lnTo>
                  <a:lnTo>
                    <a:pt x="3" y="13"/>
                  </a:lnTo>
                  <a:lnTo>
                    <a:pt x="1" y="16"/>
                  </a:lnTo>
                  <a:lnTo>
                    <a:pt x="0" y="18"/>
                  </a:lnTo>
                  <a:lnTo>
                    <a:pt x="5" y="21"/>
                  </a:lnTo>
                  <a:lnTo>
                    <a:pt x="6" y="18"/>
                  </a:lnTo>
                  <a:lnTo>
                    <a:pt x="8" y="15"/>
                  </a:lnTo>
                  <a:lnTo>
                    <a:pt x="10" y="13"/>
                  </a:lnTo>
                  <a:lnTo>
                    <a:pt x="11" y="10"/>
                  </a:lnTo>
                  <a:lnTo>
                    <a:pt x="13" y="8"/>
                  </a:lnTo>
                  <a:lnTo>
                    <a:pt x="16" y="5"/>
                  </a:lnTo>
                  <a:lnTo>
                    <a:pt x="18" y="1"/>
                  </a:lnTo>
                  <a:lnTo>
                    <a:pt x="19" y="0"/>
                  </a:lnTo>
                  <a:lnTo>
                    <a:pt x="13"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48" name="Freeform 692">
              <a:extLst>
                <a:ext uri="{FF2B5EF4-FFF2-40B4-BE49-F238E27FC236}">
                  <a16:creationId xmlns:a16="http://schemas.microsoft.com/office/drawing/2014/main" id="{F4945F97-660F-71D6-8936-467A169E2980}"/>
                </a:ext>
              </a:extLst>
            </p:cNvPr>
            <p:cNvSpPr>
              <a:spLocks/>
            </p:cNvSpPr>
            <p:nvPr/>
          </p:nvSpPr>
          <p:spPr bwMode="auto">
            <a:xfrm>
              <a:off x="1707" y="1514"/>
              <a:ext cx="22" cy="23"/>
            </a:xfrm>
            <a:custGeom>
              <a:avLst/>
              <a:gdLst>
                <a:gd name="T0" fmla="*/ 15 w 22"/>
                <a:gd name="T1" fmla="*/ 0 h 23"/>
                <a:gd name="T2" fmla="*/ 13 w 22"/>
                <a:gd name="T3" fmla="*/ 1 h 23"/>
                <a:gd name="T4" fmla="*/ 12 w 22"/>
                <a:gd name="T5" fmla="*/ 5 h 23"/>
                <a:gd name="T6" fmla="*/ 10 w 22"/>
                <a:gd name="T7" fmla="*/ 6 h 23"/>
                <a:gd name="T8" fmla="*/ 9 w 22"/>
                <a:gd name="T9" fmla="*/ 10 h 23"/>
                <a:gd name="T10" fmla="*/ 5 w 22"/>
                <a:gd name="T11" fmla="*/ 11 h 23"/>
                <a:gd name="T12" fmla="*/ 4 w 22"/>
                <a:gd name="T13" fmla="*/ 15 h 23"/>
                <a:gd name="T14" fmla="*/ 2 w 22"/>
                <a:gd name="T15" fmla="*/ 16 h 23"/>
                <a:gd name="T16" fmla="*/ 0 w 22"/>
                <a:gd name="T17" fmla="*/ 20 h 23"/>
                <a:gd name="T18" fmla="*/ 5 w 22"/>
                <a:gd name="T19" fmla="*/ 23 h 23"/>
                <a:gd name="T20" fmla="*/ 7 w 22"/>
                <a:gd name="T21" fmla="*/ 20 h 23"/>
                <a:gd name="T22" fmla="*/ 9 w 22"/>
                <a:gd name="T23" fmla="*/ 16 h 23"/>
                <a:gd name="T24" fmla="*/ 10 w 22"/>
                <a:gd name="T25" fmla="*/ 13 h 23"/>
                <a:gd name="T26" fmla="*/ 13 w 22"/>
                <a:gd name="T27" fmla="*/ 10 h 23"/>
                <a:gd name="T28" fmla="*/ 15 w 22"/>
                <a:gd name="T29" fmla="*/ 8 h 23"/>
                <a:gd name="T30" fmla="*/ 17 w 22"/>
                <a:gd name="T31" fmla="*/ 5 h 23"/>
                <a:gd name="T32" fmla="*/ 20 w 22"/>
                <a:gd name="T33" fmla="*/ 1 h 23"/>
                <a:gd name="T34" fmla="*/ 22 w 22"/>
                <a:gd name="T35" fmla="*/ 0 h 23"/>
                <a:gd name="T36" fmla="*/ 15 w 22"/>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3">
                  <a:moveTo>
                    <a:pt x="15" y="0"/>
                  </a:moveTo>
                  <a:lnTo>
                    <a:pt x="13" y="1"/>
                  </a:lnTo>
                  <a:lnTo>
                    <a:pt x="12" y="5"/>
                  </a:lnTo>
                  <a:lnTo>
                    <a:pt x="10" y="6"/>
                  </a:lnTo>
                  <a:lnTo>
                    <a:pt x="9" y="10"/>
                  </a:lnTo>
                  <a:lnTo>
                    <a:pt x="5" y="11"/>
                  </a:lnTo>
                  <a:lnTo>
                    <a:pt x="4" y="15"/>
                  </a:lnTo>
                  <a:lnTo>
                    <a:pt x="2" y="16"/>
                  </a:lnTo>
                  <a:lnTo>
                    <a:pt x="0" y="20"/>
                  </a:lnTo>
                  <a:lnTo>
                    <a:pt x="5" y="23"/>
                  </a:lnTo>
                  <a:lnTo>
                    <a:pt x="7" y="20"/>
                  </a:lnTo>
                  <a:lnTo>
                    <a:pt x="9" y="16"/>
                  </a:lnTo>
                  <a:lnTo>
                    <a:pt x="10" y="13"/>
                  </a:lnTo>
                  <a:lnTo>
                    <a:pt x="13" y="10"/>
                  </a:lnTo>
                  <a:lnTo>
                    <a:pt x="15" y="8"/>
                  </a:lnTo>
                  <a:lnTo>
                    <a:pt x="17" y="5"/>
                  </a:lnTo>
                  <a:lnTo>
                    <a:pt x="20" y="1"/>
                  </a:lnTo>
                  <a:lnTo>
                    <a:pt x="22" y="0"/>
                  </a:lnTo>
                  <a:lnTo>
                    <a:pt x="15"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49" name="Freeform 693">
              <a:extLst>
                <a:ext uri="{FF2B5EF4-FFF2-40B4-BE49-F238E27FC236}">
                  <a16:creationId xmlns:a16="http://schemas.microsoft.com/office/drawing/2014/main" id="{849D2941-5013-ECF4-B583-CD2A415EA765}"/>
                </a:ext>
              </a:extLst>
            </p:cNvPr>
            <p:cNvSpPr>
              <a:spLocks/>
            </p:cNvSpPr>
            <p:nvPr/>
          </p:nvSpPr>
          <p:spPr bwMode="auto">
            <a:xfrm>
              <a:off x="1711" y="1514"/>
              <a:ext cx="21" cy="23"/>
            </a:xfrm>
            <a:custGeom>
              <a:avLst/>
              <a:gdLst>
                <a:gd name="T0" fmla="*/ 14 w 21"/>
                <a:gd name="T1" fmla="*/ 0 h 23"/>
                <a:gd name="T2" fmla="*/ 13 w 21"/>
                <a:gd name="T3" fmla="*/ 1 h 23"/>
                <a:gd name="T4" fmla="*/ 11 w 21"/>
                <a:gd name="T5" fmla="*/ 5 h 23"/>
                <a:gd name="T6" fmla="*/ 8 w 21"/>
                <a:gd name="T7" fmla="*/ 8 h 23"/>
                <a:gd name="T8" fmla="*/ 6 w 21"/>
                <a:gd name="T9" fmla="*/ 10 h 23"/>
                <a:gd name="T10" fmla="*/ 5 w 21"/>
                <a:gd name="T11" fmla="*/ 13 h 23"/>
                <a:gd name="T12" fmla="*/ 3 w 21"/>
                <a:gd name="T13" fmla="*/ 15 h 23"/>
                <a:gd name="T14" fmla="*/ 1 w 21"/>
                <a:gd name="T15" fmla="*/ 18 h 23"/>
                <a:gd name="T16" fmla="*/ 0 w 21"/>
                <a:gd name="T17" fmla="*/ 21 h 23"/>
                <a:gd name="T18" fmla="*/ 3 w 21"/>
                <a:gd name="T19" fmla="*/ 23 h 23"/>
                <a:gd name="T20" fmla="*/ 5 w 21"/>
                <a:gd name="T21" fmla="*/ 20 h 23"/>
                <a:gd name="T22" fmla="*/ 8 w 21"/>
                <a:gd name="T23" fmla="*/ 18 h 23"/>
                <a:gd name="T24" fmla="*/ 9 w 21"/>
                <a:gd name="T25" fmla="*/ 15 h 23"/>
                <a:gd name="T26" fmla="*/ 11 w 21"/>
                <a:gd name="T27" fmla="*/ 11 h 23"/>
                <a:gd name="T28" fmla="*/ 14 w 21"/>
                <a:gd name="T29" fmla="*/ 8 h 23"/>
                <a:gd name="T30" fmla="*/ 16 w 21"/>
                <a:gd name="T31" fmla="*/ 5 h 23"/>
                <a:gd name="T32" fmla="*/ 19 w 21"/>
                <a:gd name="T33" fmla="*/ 3 h 23"/>
                <a:gd name="T34" fmla="*/ 21 w 21"/>
                <a:gd name="T35" fmla="*/ 0 h 23"/>
                <a:gd name="T36" fmla="*/ 14 w 21"/>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1" h="23">
                  <a:moveTo>
                    <a:pt x="14" y="0"/>
                  </a:moveTo>
                  <a:lnTo>
                    <a:pt x="13" y="1"/>
                  </a:lnTo>
                  <a:lnTo>
                    <a:pt x="11" y="5"/>
                  </a:lnTo>
                  <a:lnTo>
                    <a:pt x="8" y="8"/>
                  </a:lnTo>
                  <a:lnTo>
                    <a:pt x="6" y="10"/>
                  </a:lnTo>
                  <a:lnTo>
                    <a:pt x="5" y="13"/>
                  </a:lnTo>
                  <a:lnTo>
                    <a:pt x="3" y="15"/>
                  </a:lnTo>
                  <a:lnTo>
                    <a:pt x="1" y="18"/>
                  </a:lnTo>
                  <a:lnTo>
                    <a:pt x="0" y="21"/>
                  </a:lnTo>
                  <a:lnTo>
                    <a:pt x="3" y="23"/>
                  </a:lnTo>
                  <a:lnTo>
                    <a:pt x="5" y="20"/>
                  </a:lnTo>
                  <a:lnTo>
                    <a:pt x="8" y="18"/>
                  </a:lnTo>
                  <a:lnTo>
                    <a:pt x="9" y="15"/>
                  </a:lnTo>
                  <a:lnTo>
                    <a:pt x="11" y="11"/>
                  </a:lnTo>
                  <a:lnTo>
                    <a:pt x="14" y="8"/>
                  </a:lnTo>
                  <a:lnTo>
                    <a:pt x="16" y="5"/>
                  </a:lnTo>
                  <a:lnTo>
                    <a:pt x="19" y="3"/>
                  </a:lnTo>
                  <a:lnTo>
                    <a:pt x="21" y="0"/>
                  </a:lnTo>
                  <a:lnTo>
                    <a:pt x="14"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50" name="Freeform 694">
              <a:extLst>
                <a:ext uri="{FF2B5EF4-FFF2-40B4-BE49-F238E27FC236}">
                  <a16:creationId xmlns:a16="http://schemas.microsoft.com/office/drawing/2014/main" id="{79674C01-F150-5F45-0B6E-5BED51954776}"/>
                </a:ext>
              </a:extLst>
            </p:cNvPr>
            <p:cNvSpPr>
              <a:spLocks/>
            </p:cNvSpPr>
            <p:nvPr/>
          </p:nvSpPr>
          <p:spPr bwMode="auto">
            <a:xfrm>
              <a:off x="1712" y="1514"/>
              <a:ext cx="23" cy="25"/>
            </a:xfrm>
            <a:custGeom>
              <a:avLst/>
              <a:gdLst>
                <a:gd name="T0" fmla="*/ 17 w 23"/>
                <a:gd name="T1" fmla="*/ 0 h 25"/>
                <a:gd name="T2" fmla="*/ 15 w 23"/>
                <a:gd name="T3" fmla="*/ 1 h 25"/>
                <a:gd name="T4" fmla="*/ 12 w 23"/>
                <a:gd name="T5" fmla="*/ 5 h 25"/>
                <a:gd name="T6" fmla="*/ 10 w 23"/>
                <a:gd name="T7" fmla="*/ 8 h 25"/>
                <a:gd name="T8" fmla="*/ 8 w 23"/>
                <a:gd name="T9" fmla="*/ 10 h 25"/>
                <a:gd name="T10" fmla="*/ 5 w 23"/>
                <a:gd name="T11" fmla="*/ 13 h 25"/>
                <a:gd name="T12" fmla="*/ 4 w 23"/>
                <a:gd name="T13" fmla="*/ 16 h 25"/>
                <a:gd name="T14" fmla="*/ 2 w 23"/>
                <a:gd name="T15" fmla="*/ 20 h 25"/>
                <a:gd name="T16" fmla="*/ 0 w 23"/>
                <a:gd name="T17" fmla="*/ 23 h 25"/>
                <a:gd name="T18" fmla="*/ 4 w 23"/>
                <a:gd name="T19" fmla="*/ 25 h 25"/>
                <a:gd name="T20" fmla="*/ 7 w 23"/>
                <a:gd name="T21" fmla="*/ 21 h 25"/>
                <a:gd name="T22" fmla="*/ 8 w 23"/>
                <a:gd name="T23" fmla="*/ 18 h 25"/>
                <a:gd name="T24" fmla="*/ 10 w 23"/>
                <a:gd name="T25" fmla="*/ 15 h 25"/>
                <a:gd name="T26" fmla="*/ 13 w 23"/>
                <a:gd name="T27" fmla="*/ 11 h 25"/>
                <a:gd name="T28" fmla="*/ 15 w 23"/>
                <a:gd name="T29" fmla="*/ 8 h 25"/>
                <a:gd name="T30" fmla="*/ 18 w 23"/>
                <a:gd name="T31" fmla="*/ 5 h 25"/>
                <a:gd name="T32" fmla="*/ 22 w 23"/>
                <a:gd name="T33" fmla="*/ 3 h 25"/>
                <a:gd name="T34" fmla="*/ 23 w 23"/>
                <a:gd name="T35" fmla="*/ 0 h 25"/>
                <a:gd name="T36" fmla="*/ 17 w 23"/>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 h="25">
                  <a:moveTo>
                    <a:pt x="17" y="0"/>
                  </a:moveTo>
                  <a:lnTo>
                    <a:pt x="15" y="1"/>
                  </a:lnTo>
                  <a:lnTo>
                    <a:pt x="12" y="5"/>
                  </a:lnTo>
                  <a:lnTo>
                    <a:pt x="10" y="8"/>
                  </a:lnTo>
                  <a:lnTo>
                    <a:pt x="8" y="10"/>
                  </a:lnTo>
                  <a:lnTo>
                    <a:pt x="5" y="13"/>
                  </a:lnTo>
                  <a:lnTo>
                    <a:pt x="4" y="16"/>
                  </a:lnTo>
                  <a:lnTo>
                    <a:pt x="2" y="20"/>
                  </a:lnTo>
                  <a:lnTo>
                    <a:pt x="0" y="23"/>
                  </a:lnTo>
                  <a:lnTo>
                    <a:pt x="4" y="25"/>
                  </a:lnTo>
                  <a:lnTo>
                    <a:pt x="7" y="21"/>
                  </a:lnTo>
                  <a:lnTo>
                    <a:pt x="8" y="18"/>
                  </a:lnTo>
                  <a:lnTo>
                    <a:pt x="10" y="15"/>
                  </a:lnTo>
                  <a:lnTo>
                    <a:pt x="13" y="11"/>
                  </a:lnTo>
                  <a:lnTo>
                    <a:pt x="15" y="8"/>
                  </a:lnTo>
                  <a:lnTo>
                    <a:pt x="18" y="5"/>
                  </a:lnTo>
                  <a:lnTo>
                    <a:pt x="22" y="3"/>
                  </a:lnTo>
                  <a:lnTo>
                    <a:pt x="23" y="0"/>
                  </a:lnTo>
                  <a:lnTo>
                    <a:pt x="17"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51" name="Freeform 695">
              <a:extLst>
                <a:ext uri="{FF2B5EF4-FFF2-40B4-BE49-F238E27FC236}">
                  <a16:creationId xmlns:a16="http://schemas.microsoft.com/office/drawing/2014/main" id="{DD69359E-DEDD-34CF-C180-296B90B1AEE1}"/>
                </a:ext>
              </a:extLst>
            </p:cNvPr>
            <p:cNvSpPr>
              <a:spLocks/>
            </p:cNvSpPr>
            <p:nvPr/>
          </p:nvSpPr>
          <p:spPr bwMode="auto">
            <a:xfrm>
              <a:off x="1714" y="1514"/>
              <a:ext cx="25" cy="26"/>
            </a:xfrm>
            <a:custGeom>
              <a:avLst/>
              <a:gdLst>
                <a:gd name="T0" fmla="*/ 18 w 25"/>
                <a:gd name="T1" fmla="*/ 0 h 26"/>
                <a:gd name="T2" fmla="*/ 16 w 25"/>
                <a:gd name="T3" fmla="*/ 3 h 26"/>
                <a:gd name="T4" fmla="*/ 13 w 25"/>
                <a:gd name="T5" fmla="*/ 5 h 26"/>
                <a:gd name="T6" fmla="*/ 11 w 25"/>
                <a:gd name="T7" fmla="*/ 8 h 26"/>
                <a:gd name="T8" fmla="*/ 8 w 25"/>
                <a:gd name="T9" fmla="*/ 11 h 26"/>
                <a:gd name="T10" fmla="*/ 6 w 25"/>
                <a:gd name="T11" fmla="*/ 15 h 26"/>
                <a:gd name="T12" fmla="*/ 5 w 25"/>
                <a:gd name="T13" fmla="*/ 18 h 26"/>
                <a:gd name="T14" fmla="*/ 2 w 25"/>
                <a:gd name="T15" fmla="*/ 20 h 26"/>
                <a:gd name="T16" fmla="*/ 0 w 25"/>
                <a:gd name="T17" fmla="*/ 23 h 26"/>
                <a:gd name="T18" fmla="*/ 3 w 25"/>
                <a:gd name="T19" fmla="*/ 26 h 26"/>
                <a:gd name="T20" fmla="*/ 6 w 25"/>
                <a:gd name="T21" fmla="*/ 23 h 26"/>
                <a:gd name="T22" fmla="*/ 8 w 25"/>
                <a:gd name="T23" fmla="*/ 20 h 26"/>
                <a:gd name="T24" fmla="*/ 11 w 25"/>
                <a:gd name="T25" fmla="*/ 16 h 26"/>
                <a:gd name="T26" fmla="*/ 13 w 25"/>
                <a:gd name="T27" fmla="*/ 13 h 26"/>
                <a:gd name="T28" fmla="*/ 16 w 25"/>
                <a:gd name="T29" fmla="*/ 10 h 26"/>
                <a:gd name="T30" fmla="*/ 20 w 25"/>
                <a:gd name="T31" fmla="*/ 6 h 26"/>
                <a:gd name="T32" fmla="*/ 21 w 25"/>
                <a:gd name="T33" fmla="*/ 3 h 26"/>
                <a:gd name="T34" fmla="*/ 25 w 25"/>
                <a:gd name="T35" fmla="*/ 0 h 26"/>
                <a:gd name="T36" fmla="*/ 18 w 25"/>
                <a:gd name="T37" fmla="*/ 0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 h="26">
                  <a:moveTo>
                    <a:pt x="18" y="0"/>
                  </a:moveTo>
                  <a:lnTo>
                    <a:pt x="16" y="3"/>
                  </a:lnTo>
                  <a:lnTo>
                    <a:pt x="13" y="5"/>
                  </a:lnTo>
                  <a:lnTo>
                    <a:pt x="11" y="8"/>
                  </a:lnTo>
                  <a:lnTo>
                    <a:pt x="8" y="11"/>
                  </a:lnTo>
                  <a:lnTo>
                    <a:pt x="6" y="15"/>
                  </a:lnTo>
                  <a:lnTo>
                    <a:pt x="5" y="18"/>
                  </a:lnTo>
                  <a:lnTo>
                    <a:pt x="2" y="20"/>
                  </a:lnTo>
                  <a:lnTo>
                    <a:pt x="0" y="23"/>
                  </a:lnTo>
                  <a:lnTo>
                    <a:pt x="3" y="26"/>
                  </a:lnTo>
                  <a:lnTo>
                    <a:pt x="6" y="23"/>
                  </a:lnTo>
                  <a:lnTo>
                    <a:pt x="8" y="20"/>
                  </a:lnTo>
                  <a:lnTo>
                    <a:pt x="11" y="16"/>
                  </a:lnTo>
                  <a:lnTo>
                    <a:pt x="13" y="13"/>
                  </a:lnTo>
                  <a:lnTo>
                    <a:pt x="16" y="10"/>
                  </a:lnTo>
                  <a:lnTo>
                    <a:pt x="20" y="6"/>
                  </a:lnTo>
                  <a:lnTo>
                    <a:pt x="21" y="3"/>
                  </a:lnTo>
                  <a:lnTo>
                    <a:pt x="25" y="0"/>
                  </a:lnTo>
                  <a:lnTo>
                    <a:pt x="18"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52" name="Freeform 696">
              <a:extLst>
                <a:ext uri="{FF2B5EF4-FFF2-40B4-BE49-F238E27FC236}">
                  <a16:creationId xmlns:a16="http://schemas.microsoft.com/office/drawing/2014/main" id="{5E3A327A-BFEF-06EE-C364-FC3AA97928CA}"/>
                </a:ext>
              </a:extLst>
            </p:cNvPr>
            <p:cNvSpPr>
              <a:spLocks/>
            </p:cNvSpPr>
            <p:nvPr/>
          </p:nvSpPr>
          <p:spPr bwMode="auto">
            <a:xfrm>
              <a:off x="1716" y="1514"/>
              <a:ext cx="24" cy="28"/>
            </a:xfrm>
            <a:custGeom>
              <a:avLst/>
              <a:gdLst>
                <a:gd name="T0" fmla="*/ 19 w 24"/>
                <a:gd name="T1" fmla="*/ 0 h 28"/>
                <a:gd name="T2" fmla="*/ 18 w 24"/>
                <a:gd name="T3" fmla="*/ 3 h 28"/>
                <a:gd name="T4" fmla="*/ 14 w 24"/>
                <a:gd name="T5" fmla="*/ 5 h 28"/>
                <a:gd name="T6" fmla="*/ 11 w 24"/>
                <a:gd name="T7" fmla="*/ 8 h 28"/>
                <a:gd name="T8" fmla="*/ 9 w 24"/>
                <a:gd name="T9" fmla="*/ 11 h 28"/>
                <a:gd name="T10" fmla="*/ 6 w 24"/>
                <a:gd name="T11" fmla="*/ 15 h 28"/>
                <a:gd name="T12" fmla="*/ 4 w 24"/>
                <a:gd name="T13" fmla="*/ 18 h 28"/>
                <a:gd name="T14" fmla="*/ 3 w 24"/>
                <a:gd name="T15" fmla="*/ 21 h 28"/>
                <a:gd name="T16" fmla="*/ 0 w 24"/>
                <a:gd name="T17" fmla="*/ 25 h 28"/>
                <a:gd name="T18" fmla="*/ 4 w 24"/>
                <a:gd name="T19" fmla="*/ 28 h 28"/>
                <a:gd name="T20" fmla="*/ 6 w 24"/>
                <a:gd name="T21" fmla="*/ 25 h 28"/>
                <a:gd name="T22" fmla="*/ 8 w 24"/>
                <a:gd name="T23" fmla="*/ 20 h 28"/>
                <a:gd name="T24" fmla="*/ 11 w 24"/>
                <a:gd name="T25" fmla="*/ 16 h 28"/>
                <a:gd name="T26" fmla="*/ 13 w 24"/>
                <a:gd name="T27" fmla="*/ 13 h 28"/>
                <a:gd name="T28" fmla="*/ 16 w 24"/>
                <a:gd name="T29" fmla="*/ 11 h 28"/>
                <a:gd name="T30" fmla="*/ 19 w 24"/>
                <a:gd name="T31" fmla="*/ 8 h 28"/>
                <a:gd name="T32" fmla="*/ 21 w 24"/>
                <a:gd name="T33" fmla="*/ 5 h 28"/>
                <a:gd name="T34" fmla="*/ 24 w 24"/>
                <a:gd name="T35" fmla="*/ 1 h 28"/>
                <a:gd name="T36" fmla="*/ 23 w 24"/>
                <a:gd name="T37" fmla="*/ 0 h 28"/>
                <a:gd name="T38" fmla="*/ 19 w 24"/>
                <a:gd name="T39"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 h="28">
                  <a:moveTo>
                    <a:pt x="19" y="0"/>
                  </a:moveTo>
                  <a:lnTo>
                    <a:pt x="18" y="3"/>
                  </a:lnTo>
                  <a:lnTo>
                    <a:pt x="14" y="5"/>
                  </a:lnTo>
                  <a:lnTo>
                    <a:pt x="11" y="8"/>
                  </a:lnTo>
                  <a:lnTo>
                    <a:pt x="9" y="11"/>
                  </a:lnTo>
                  <a:lnTo>
                    <a:pt x="6" y="15"/>
                  </a:lnTo>
                  <a:lnTo>
                    <a:pt x="4" y="18"/>
                  </a:lnTo>
                  <a:lnTo>
                    <a:pt x="3" y="21"/>
                  </a:lnTo>
                  <a:lnTo>
                    <a:pt x="0" y="25"/>
                  </a:lnTo>
                  <a:lnTo>
                    <a:pt x="4" y="28"/>
                  </a:lnTo>
                  <a:lnTo>
                    <a:pt x="6" y="25"/>
                  </a:lnTo>
                  <a:lnTo>
                    <a:pt x="8" y="20"/>
                  </a:lnTo>
                  <a:lnTo>
                    <a:pt x="11" y="16"/>
                  </a:lnTo>
                  <a:lnTo>
                    <a:pt x="13" y="13"/>
                  </a:lnTo>
                  <a:lnTo>
                    <a:pt x="16" y="11"/>
                  </a:lnTo>
                  <a:lnTo>
                    <a:pt x="19" y="8"/>
                  </a:lnTo>
                  <a:lnTo>
                    <a:pt x="21" y="5"/>
                  </a:lnTo>
                  <a:lnTo>
                    <a:pt x="24" y="1"/>
                  </a:lnTo>
                  <a:lnTo>
                    <a:pt x="23" y="0"/>
                  </a:lnTo>
                  <a:lnTo>
                    <a:pt x="19"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53" name="Freeform 697">
              <a:extLst>
                <a:ext uri="{FF2B5EF4-FFF2-40B4-BE49-F238E27FC236}">
                  <a16:creationId xmlns:a16="http://schemas.microsoft.com/office/drawing/2014/main" id="{1B409FBA-4E18-6BBC-EA87-254CCA9916C3}"/>
                </a:ext>
              </a:extLst>
            </p:cNvPr>
            <p:cNvSpPr>
              <a:spLocks/>
            </p:cNvSpPr>
            <p:nvPr/>
          </p:nvSpPr>
          <p:spPr bwMode="auto">
            <a:xfrm>
              <a:off x="1717" y="1514"/>
              <a:ext cx="25" cy="28"/>
            </a:xfrm>
            <a:custGeom>
              <a:avLst/>
              <a:gdLst>
                <a:gd name="T0" fmla="*/ 22 w 25"/>
                <a:gd name="T1" fmla="*/ 0 h 28"/>
                <a:gd name="T2" fmla="*/ 18 w 25"/>
                <a:gd name="T3" fmla="*/ 3 h 28"/>
                <a:gd name="T4" fmla="*/ 17 w 25"/>
                <a:gd name="T5" fmla="*/ 6 h 28"/>
                <a:gd name="T6" fmla="*/ 13 w 25"/>
                <a:gd name="T7" fmla="*/ 10 h 28"/>
                <a:gd name="T8" fmla="*/ 10 w 25"/>
                <a:gd name="T9" fmla="*/ 13 h 28"/>
                <a:gd name="T10" fmla="*/ 8 w 25"/>
                <a:gd name="T11" fmla="*/ 16 h 28"/>
                <a:gd name="T12" fmla="*/ 5 w 25"/>
                <a:gd name="T13" fmla="*/ 20 h 28"/>
                <a:gd name="T14" fmla="*/ 3 w 25"/>
                <a:gd name="T15" fmla="*/ 23 h 28"/>
                <a:gd name="T16" fmla="*/ 0 w 25"/>
                <a:gd name="T17" fmla="*/ 26 h 28"/>
                <a:gd name="T18" fmla="*/ 5 w 25"/>
                <a:gd name="T19" fmla="*/ 28 h 28"/>
                <a:gd name="T20" fmla="*/ 7 w 25"/>
                <a:gd name="T21" fmla="*/ 25 h 28"/>
                <a:gd name="T22" fmla="*/ 10 w 25"/>
                <a:gd name="T23" fmla="*/ 21 h 28"/>
                <a:gd name="T24" fmla="*/ 12 w 25"/>
                <a:gd name="T25" fmla="*/ 18 h 28"/>
                <a:gd name="T26" fmla="*/ 15 w 25"/>
                <a:gd name="T27" fmla="*/ 15 h 28"/>
                <a:gd name="T28" fmla="*/ 17 w 25"/>
                <a:gd name="T29" fmla="*/ 11 h 28"/>
                <a:gd name="T30" fmla="*/ 20 w 25"/>
                <a:gd name="T31" fmla="*/ 10 h 28"/>
                <a:gd name="T32" fmla="*/ 22 w 25"/>
                <a:gd name="T33" fmla="*/ 6 h 28"/>
                <a:gd name="T34" fmla="*/ 25 w 25"/>
                <a:gd name="T35" fmla="*/ 3 h 28"/>
                <a:gd name="T36" fmla="*/ 22 w 25"/>
                <a:gd name="T37"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 h="28">
                  <a:moveTo>
                    <a:pt x="22" y="0"/>
                  </a:moveTo>
                  <a:lnTo>
                    <a:pt x="18" y="3"/>
                  </a:lnTo>
                  <a:lnTo>
                    <a:pt x="17" y="6"/>
                  </a:lnTo>
                  <a:lnTo>
                    <a:pt x="13" y="10"/>
                  </a:lnTo>
                  <a:lnTo>
                    <a:pt x="10" y="13"/>
                  </a:lnTo>
                  <a:lnTo>
                    <a:pt x="8" y="16"/>
                  </a:lnTo>
                  <a:lnTo>
                    <a:pt x="5" y="20"/>
                  </a:lnTo>
                  <a:lnTo>
                    <a:pt x="3" y="23"/>
                  </a:lnTo>
                  <a:lnTo>
                    <a:pt x="0" y="26"/>
                  </a:lnTo>
                  <a:lnTo>
                    <a:pt x="5" y="28"/>
                  </a:lnTo>
                  <a:lnTo>
                    <a:pt x="7" y="25"/>
                  </a:lnTo>
                  <a:lnTo>
                    <a:pt x="10" y="21"/>
                  </a:lnTo>
                  <a:lnTo>
                    <a:pt x="12" y="18"/>
                  </a:lnTo>
                  <a:lnTo>
                    <a:pt x="15" y="15"/>
                  </a:lnTo>
                  <a:lnTo>
                    <a:pt x="17" y="11"/>
                  </a:lnTo>
                  <a:lnTo>
                    <a:pt x="20" y="10"/>
                  </a:lnTo>
                  <a:lnTo>
                    <a:pt x="22" y="6"/>
                  </a:lnTo>
                  <a:lnTo>
                    <a:pt x="25" y="3"/>
                  </a:lnTo>
                  <a:lnTo>
                    <a:pt x="22"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54" name="Freeform 698">
              <a:extLst>
                <a:ext uri="{FF2B5EF4-FFF2-40B4-BE49-F238E27FC236}">
                  <a16:creationId xmlns:a16="http://schemas.microsoft.com/office/drawing/2014/main" id="{4C41764D-56AC-4F89-C313-9C35202BB652}"/>
                </a:ext>
              </a:extLst>
            </p:cNvPr>
            <p:cNvSpPr>
              <a:spLocks/>
            </p:cNvSpPr>
            <p:nvPr/>
          </p:nvSpPr>
          <p:spPr bwMode="auto">
            <a:xfrm>
              <a:off x="1720" y="1515"/>
              <a:ext cx="24" cy="29"/>
            </a:xfrm>
            <a:custGeom>
              <a:avLst/>
              <a:gdLst>
                <a:gd name="T0" fmla="*/ 20 w 24"/>
                <a:gd name="T1" fmla="*/ 0 h 29"/>
                <a:gd name="T2" fmla="*/ 17 w 24"/>
                <a:gd name="T3" fmla="*/ 4 h 29"/>
                <a:gd name="T4" fmla="*/ 15 w 24"/>
                <a:gd name="T5" fmla="*/ 7 h 29"/>
                <a:gd name="T6" fmla="*/ 12 w 24"/>
                <a:gd name="T7" fmla="*/ 10 h 29"/>
                <a:gd name="T8" fmla="*/ 9 w 24"/>
                <a:gd name="T9" fmla="*/ 12 h 29"/>
                <a:gd name="T10" fmla="*/ 7 w 24"/>
                <a:gd name="T11" fmla="*/ 15 h 29"/>
                <a:gd name="T12" fmla="*/ 4 w 24"/>
                <a:gd name="T13" fmla="*/ 19 h 29"/>
                <a:gd name="T14" fmla="*/ 2 w 24"/>
                <a:gd name="T15" fmla="*/ 24 h 29"/>
                <a:gd name="T16" fmla="*/ 0 w 24"/>
                <a:gd name="T17" fmla="*/ 27 h 29"/>
                <a:gd name="T18" fmla="*/ 4 w 24"/>
                <a:gd name="T19" fmla="*/ 29 h 29"/>
                <a:gd name="T20" fmla="*/ 5 w 24"/>
                <a:gd name="T21" fmla="*/ 25 h 29"/>
                <a:gd name="T22" fmla="*/ 9 w 24"/>
                <a:gd name="T23" fmla="*/ 22 h 29"/>
                <a:gd name="T24" fmla="*/ 10 w 24"/>
                <a:gd name="T25" fmla="*/ 19 h 29"/>
                <a:gd name="T26" fmla="*/ 14 w 24"/>
                <a:gd name="T27" fmla="*/ 15 h 29"/>
                <a:gd name="T28" fmla="*/ 15 w 24"/>
                <a:gd name="T29" fmla="*/ 12 h 29"/>
                <a:gd name="T30" fmla="*/ 19 w 24"/>
                <a:gd name="T31" fmla="*/ 10 h 29"/>
                <a:gd name="T32" fmla="*/ 22 w 24"/>
                <a:gd name="T33" fmla="*/ 7 h 29"/>
                <a:gd name="T34" fmla="*/ 24 w 24"/>
                <a:gd name="T35" fmla="*/ 4 h 29"/>
                <a:gd name="T36" fmla="*/ 20 w 24"/>
                <a:gd name="T37" fmla="*/ 0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4" h="29">
                  <a:moveTo>
                    <a:pt x="20" y="0"/>
                  </a:moveTo>
                  <a:lnTo>
                    <a:pt x="17" y="4"/>
                  </a:lnTo>
                  <a:lnTo>
                    <a:pt x="15" y="7"/>
                  </a:lnTo>
                  <a:lnTo>
                    <a:pt x="12" y="10"/>
                  </a:lnTo>
                  <a:lnTo>
                    <a:pt x="9" y="12"/>
                  </a:lnTo>
                  <a:lnTo>
                    <a:pt x="7" y="15"/>
                  </a:lnTo>
                  <a:lnTo>
                    <a:pt x="4" y="19"/>
                  </a:lnTo>
                  <a:lnTo>
                    <a:pt x="2" y="24"/>
                  </a:lnTo>
                  <a:lnTo>
                    <a:pt x="0" y="27"/>
                  </a:lnTo>
                  <a:lnTo>
                    <a:pt x="4" y="29"/>
                  </a:lnTo>
                  <a:lnTo>
                    <a:pt x="5" y="25"/>
                  </a:lnTo>
                  <a:lnTo>
                    <a:pt x="9" y="22"/>
                  </a:lnTo>
                  <a:lnTo>
                    <a:pt x="10" y="19"/>
                  </a:lnTo>
                  <a:lnTo>
                    <a:pt x="14" y="15"/>
                  </a:lnTo>
                  <a:lnTo>
                    <a:pt x="15" y="12"/>
                  </a:lnTo>
                  <a:lnTo>
                    <a:pt x="19" y="10"/>
                  </a:lnTo>
                  <a:lnTo>
                    <a:pt x="22" y="7"/>
                  </a:lnTo>
                  <a:lnTo>
                    <a:pt x="24" y="4"/>
                  </a:lnTo>
                  <a:lnTo>
                    <a:pt x="20"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55" name="Freeform 699">
              <a:extLst>
                <a:ext uri="{FF2B5EF4-FFF2-40B4-BE49-F238E27FC236}">
                  <a16:creationId xmlns:a16="http://schemas.microsoft.com/office/drawing/2014/main" id="{6C36CF35-4165-49A1-A6C9-0C75CF07FC21}"/>
                </a:ext>
              </a:extLst>
            </p:cNvPr>
            <p:cNvSpPr>
              <a:spLocks/>
            </p:cNvSpPr>
            <p:nvPr/>
          </p:nvSpPr>
          <p:spPr bwMode="auto">
            <a:xfrm>
              <a:off x="1722" y="1517"/>
              <a:ext cx="23" cy="28"/>
            </a:xfrm>
            <a:custGeom>
              <a:avLst/>
              <a:gdLst>
                <a:gd name="T0" fmla="*/ 20 w 23"/>
                <a:gd name="T1" fmla="*/ 0 h 28"/>
                <a:gd name="T2" fmla="*/ 17 w 23"/>
                <a:gd name="T3" fmla="*/ 3 h 28"/>
                <a:gd name="T4" fmla="*/ 15 w 23"/>
                <a:gd name="T5" fmla="*/ 7 h 28"/>
                <a:gd name="T6" fmla="*/ 12 w 23"/>
                <a:gd name="T7" fmla="*/ 8 h 28"/>
                <a:gd name="T8" fmla="*/ 10 w 23"/>
                <a:gd name="T9" fmla="*/ 12 h 28"/>
                <a:gd name="T10" fmla="*/ 7 w 23"/>
                <a:gd name="T11" fmla="*/ 15 h 28"/>
                <a:gd name="T12" fmla="*/ 5 w 23"/>
                <a:gd name="T13" fmla="*/ 18 h 28"/>
                <a:gd name="T14" fmla="*/ 2 w 23"/>
                <a:gd name="T15" fmla="*/ 22 h 28"/>
                <a:gd name="T16" fmla="*/ 0 w 23"/>
                <a:gd name="T17" fmla="*/ 25 h 28"/>
                <a:gd name="T18" fmla="*/ 3 w 23"/>
                <a:gd name="T19" fmla="*/ 28 h 28"/>
                <a:gd name="T20" fmla="*/ 7 w 23"/>
                <a:gd name="T21" fmla="*/ 25 h 28"/>
                <a:gd name="T22" fmla="*/ 8 w 23"/>
                <a:gd name="T23" fmla="*/ 22 h 28"/>
                <a:gd name="T24" fmla="*/ 10 w 23"/>
                <a:gd name="T25" fmla="*/ 18 h 28"/>
                <a:gd name="T26" fmla="*/ 13 w 23"/>
                <a:gd name="T27" fmla="*/ 15 h 28"/>
                <a:gd name="T28" fmla="*/ 15 w 23"/>
                <a:gd name="T29" fmla="*/ 12 h 28"/>
                <a:gd name="T30" fmla="*/ 18 w 23"/>
                <a:gd name="T31" fmla="*/ 10 h 28"/>
                <a:gd name="T32" fmla="*/ 22 w 23"/>
                <a:gd name="T33" fmla="*/ 7 h 28"/>
                <a:gd name="T34" fmla="*/ 23 w 23"/>
                <a:gd name="T35" fmla="*/ 3 h 28"/>
                <a:gd name="T36" fmla="*/ 20 w 23"/>
                <a:gd name="T37"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 h="28">
                  <a:moveTo>
                    <a:pt x="20" y="0"/>
                  </a:moveTo>
                  <a:lnTo>
                    <a:pt x="17" y="3"/>
                  </a:lnTo>
                  <a:lnTo>
                    <a:pt x="15" y="7"/>
                  </a:lnTo>
                  <a:lnTo>
                    <a:pt x="12" y="8"/>
                  </a:lnTo>
                  <a:lnTo>
                    <a:pt x="10" y="12"/>
                  </a:lnTo>
                  <a:lnTo>
                    <a:pt x="7" y="15"/>
                  </a:lnTo>
                  <a:lnTo>
                    <a:pt x="5" y="18"/>
                  </a:lnTo>
                  <a:lnTo>
                    <a:pt x="2" y="22"/>
                  </a:lnTo>
                  <a:lnTo>
                    <a:pt x="0" y="25"/>
                  </a:lnTo>
                  <a:lnTo>
                    <a:pt x="3" y="28"/>
                  </a:lnTo>
                  <a:lnTo>
                    <a:pt x="7" y="25"/>
                  </a:lnTo>
                  <a:lnTo>
                    <a:pt x="8" y="22"/>
                  </a:lnTo>
                  <a:lnTo>
                    <a:pt x="10" y="18"/>
                  </a:lnTo>
                  <a:lnTo>
                    <a:pt x="13" y="15"/>
                  </a:lnTo>
                  <a:lnTo>
                    <a:pt x="15" y="12"/>
                  </a:lnTo>
                  <a:lnTo>
                    <a:pt x="18" y="10"/>
                  </a:lnTo>
                  <a:lnTo>
                    <a:pt x="22" y="7"/>
                  </a:lnTo>
                  <a:lnTo>
                    <a:pt x="23" y="3"/>
                  </a:lnTo>
                  <a:lnTo>
                    <a:pt x="20"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56" name="Freeform 700">
              <a:extLst>
                <a:ext uri="{FF2B5EF4-FFF2-40B4-BE49-F238E27FC236}">
                  <a16:creationId xmlns:a16="http://schemas.microsoft.com/office/drawing/2014/main" id="{399AAC1F-631F-F940-B8B6-1E882D6B0F5E}"/>
                </a:ext>
              </a:extLst>
            </p:cNvPr>
            <p:cNvSpPr>
              <a:spLocks/>
            </p:cNvSpPr>
            <p:nvPr/>
          </p:nvSpPr>
          <p:spPr bwMode="auto">
            <a:xfrm>
              <a:off x="1724" y="1519"/>
              <a:ext cx="23" cy="28"/>
            </a:xfrm>
            <a:custGeom>
              <a:avLst/>
              <a:gdLst>
                <a:gd name="T0" fmla="*/ 20 w 23"/>
                <a:gd name="T1" fmla="*/ 0 h 28"/>
                <a:gd name="T2" fmla="*/ 18 w 23"/>
                <a:gd name="T3" fmla="*/ 3 h 28"/>
                <a:gd name="T4" fmla="*/ 15 w 23"/>
                <a:gd name="T5" fmla="*/ 6 h 28"/>
                <a:gd name="T6" fmla="*/ 11 w 23"/>
                <a:gd name="T7" fmla="*/ 8 h 28"/>
                <a:gd name="T8" fmla="*/ 10 w 23"/>
                <a:gd name="T9" fmla="*/ 11 h 28"/>
                <a:gd name="T10" fmla="*/ 6 w 23"/>
                <a:gd name="T11" fmla="*/ 15 h 28"/>
                <a:gd name="T12" fmla="*/ 5 w 23"/>
                <a:gd name="T13" fmla="*/ 18 h 28"/>
                <a:gd name="T14" fmla="*/ 1 w 23"/>
                <a:gd name="T15" fmla="*/ 21 h 28"/>
                <a:gd name="T16" fmla="*/ 0 w 23"/>
                <a:gd name="T17" fmla="*/ 25 h 28"/>
                <a:gd name="T18" fmla="*/ 5 w 23"/>
                <a:gd name="T19" fmla="*/ 28 h 28"/>
                <a:gd name="T20" fmla="*/ 6 w 23"/>
                <a:gd name="T21" fmla="*/ 25 h 28"/>
                <a:gd name="T22" fmla="*/ 8 w 23"/>
                <a:gd name="T23" fmla="*/ 21 h 28"/>
                <a:gd name="T24" fmla="*/ 11 w 23"/>
                <a:gd name="T25" fmla="*/ 18 h 28"/>
                <a:gd name="T26" fmla="*/ 13 w 23"/>
                <a:gd name="T27" fmla="*/ 15 h 28"/>
                <a:gd name="T28" fmla="*/ 15 w 23"/>
                <a:gd name="T29" fmla="*/ 11 h 28"/>
                <a:gd name="T30" fmla="*/ 18 w 23"/>
                <a:gd name="T31" fmla="*/ 8 h 28"/>
                <a:gd name="T32" fmla="*/ 21 w 23"/>
                <a:gd name="T33" fmla="*/ 6 h 28"/>
                <a:gd name="T34" fmla="*/ 23 w 23"/>
                <a:gd name="T35" fmla="*/ 3 h 28"/>
                <a:gd name="T36" fmla="*/ 20 w 23"/>
                <a:gd name="T37"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 h="28">
                  <a:moveTo>
                    <a:pt x="20" y="0"/>
                  </a:moveTo>
                  <a:lnTo>
                    <a:pt x="18" y="3"/>
                  </a:lnTo>
                  <a:lnTo>
                    <a:pt x="15" y="6"/>
                  </a:lnTo>
                  <a:lnTo>
                    <a:pt x="11" y="8"/>
                  </a:lnTo>
                  <a:lnTo>
                    <a:pt x="10" y="11"/>
                  </a:lnTo>
                  <a:lnTo>
                    <a:pt x="6" y="15"/>
                  </a:lnTo>
                  <a:lnTo>
                    <a:pt x="5" y="18"/>
                  </a:lnTo>
                  <a:lnTo>
                    <a:pt x="1" y="21"/>
                  </a:lnTo>
                  <a:lnTo>
                    <a:pt x="0" y="25"/>
                  </a:lnTo>
                  <a:lnTo>
                    <a:pt x="5" y="28"/>
                  </a:lnTo>
                  <a:lnTo>
                    <a:pt x="6" y="25"/>
                  </a:lnTo>
                  <a:lnTo>
                    <a:pt x="8" y="21"/>
                  </a:lnTo>
                  <a:lnTo>
                    <a:pt x="11" y="18"/>
                  </a:lnTo>
                  <a:lnTo>
                    <a:pt x="13" y="15"/>
                  </a:lnTo>
                  <a:lnTo>
                    <a:pt x="15" y="11"/>
                  </a:lnTo>
                  <a:lnTo>
                    <a:pt x="18" y="8"/>
                  </a:lnTo>
                  <a:lnTo>
                    <a:pt x="21" y="6"/>
                  </a:lnTo>
                  <a:lnTo>
                    <a:pt x="23" y="3"/>
                  </a:lnTo>
                  <a:lnTo>
                    <a:pt x="20"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57" name="Freeform 701">
              <a:extLst>
                <a:ext uri="{FF2B5EF4-FFF2-40B4-BE49-F238E27FC236}">
                  <a16:creationId xmlns:a16="http://schemas.microsoft.com/office/drawing/2014/main" id="{AAE7B376-15E0-1E41-A70D-6D90F6D736BE}"/>
                </a:ext>
              </a:extLst>
            </p:cNvPr>
            <p:cNvSpPr>
              <a:spLocks/>
            </p:cNvSpPr>
            <p:nvPr/>
          </p:nvSpPr>
          <p:spPr bwMode="auto">
            <a:xfrm>
              <a:off x="1725" y="1520"/>
              <a:ext cx="24" cy="27"/>
            </a:xfrm>
            <a:custGeom>
              <a:avLst/>
              <a:gdLst>
                <a:gd name="T0" fmla="*/ 20 w 24"/>
                <a:gd name="T1" fmla="*/ 0 h 27"/>
                <a:gd name="T2" fmla="*/ 19 w 24"/>
                <a:gd name="T3" fmla="*/ 4 h 27"/>
                <a:gd name="T4" fmla="*/ 15 w 24"/>
                <a:gd name="T5" fmla="*/ 7 h 27"/>
                <a:gd name="T6" fmla="*/ 12 w 24"/>
                <a:gd name="T7" fmla="*/ 9 h 27"/>
                <a:gd name="T8" fmla="*/ 10 w 24"/>
                <a:gd name="T9" fmla="*/ 12 h 27"/>
                <a:gd name="T10" fmla="*/ 7 w 24"/>
                <a:gd name="T11" fmla="*/ 15 h 27"/>
                <a:gd name="T12" fmla="*/ 5 w 24"/>
                <a:gd name="T13" fmla="*/ 19 h 27"/>
                <a:gd name="T14" fmla="*/ 4 w 24"/>
                <a:gd name="T15" fmla="*/ 22 h 27"/>
                <a:gd name="T16" fmla="*/ 0 w 24"/>
                <a:gd name="T17" fmla="*/ 25 h 27"/>
                <a:gd name="T18" fmla="*/ 5 w 24"/>
                <a:gd name="T19" fmla="*/ 27 h 27"/>
                <a:gd name="T20" fmla="*/ 7 w 24"/>
                <a:gd name="T21" fmla="*/ 24 h 27"/>
                <a:gd name="T22" fmla="*/ 9 w 24"/>
                <a:gd name="T23" fmla="*/ 22 h 27"/>
                <a:gd name="T24" fmla="*/ 12 w 24"/>
                <a:gd name="T25" fmla="*/ 19 h 27"/>
                <a:gd name="T26" fmla="*/ 14 w 24"/>
                <a:gd name="T27" fmla="*/ 15 h 27"/>
                <a:gd name="T28" fmla="*/ 17 w 24"/>
                <a:gd name="T29" fmla="*/ 12 h 27"/>
                <a:gd name="T30" fmla="*/ 19 w 24"/>
                <a:gd name="T31" fmla="*/ 9 h 27"/>
                <a:gd name="T32" fmla="*/ 22 w 24"/>
                <a:gd name="T33" fmla="*/ 7 h 27"/>
                <a:gd name="T34" fmla="*/ 24 w 24"/>
                <a:gd name="T35" fmla="*/ 4 h 27"/>
                <a:gd name="T36" fmla="*/ 20 w 24"/>
                <a:gd name="T37"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4" h="27">
                  <a:moveTo>
                    <a:pt x="20" y="0"/>
                  </a:moveTo>
                  <a:lnTo>
                    <a:pt x="19" y="4"/>
                  </a:lnTo>
                  <a:lnTo>
                    <a:pt x="15" y="7"/>
                  </a:lnTo>
                  <a:lnTo>
                    <a:pt x="12" y="9"/>
                  </a:lnTo>
                  <a:lnTo>
                    <a:pt x="10" y="12"/>
                  </a:lnTo>
                  <a:lnTo>
                    <a:pt x="7" y="15"/>
                  </a:lnTo>
                  <a:lnTo>
                    <a:pt x="5" y="19"/>
                  </a:lnTo>
                  <a:lnTo>
                    <a:pt x="4" y="22"/>
                  </a:lnTo>
                  <a:lnTo>
                    <a:pt x="0" y="25"/>
                  </a:lnTo>
                  <a:lnTo>
                    <a:pt x="5" y="27"/>
                  </a:lnTo>
                  <a:lnTo>
                    <a:pt x="7" y="24"/>
                  </a:lnTo>
                  <a:lnTo>
                    <a:pt x="9" y="22"/>
                  </a:lnTo>
                  <a:lnTo>
                    <a:pt x="12" y="19"/>
                  </a:lnTo>
                  <a:lnTo>
                    <a:pt x="14" y="15"/>
                  </a:lnTo>
                  <a:lnTo>
                    <a:pt x="17" y="12"/>
                  </a:lnTo>
                  <a:lnTo>
                    <a:pt x="19" y="9"/>
                  </a:lnTo>
                  <a:lnTo>
                    <a:pt x="22" y="7"/>
                  </a:lnTo>
                  <a:lnTo>
                    <a:pt x="24" y="4"/>
                  </a:lnTo>
                  <a:lnTo>
                    <a:pt x="20"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58" name="Freeform 702">
              <a:extLst>
                <a:ext uri="{FF2B5EF4-FFF2-40B4-BE49-F238E27FC236}">
                  <a16:creationId xmlns:a16="http://schemas.microsoft.com/office/drawing/2014/main" id="{734AE3A3-E142-E6E5-62E3-61F25BA64FB8}"/>
                </a:ext>
              </a:extLst>
            </p:cNvPr>
            <p:cNvSpPr>
              <a:spLocks/>
            </p:cNvSpPr>
            <p:nvPr/>
          </p:nvSpPr>
          <p:spPr bwMode="auto">
            <a:xfrm>
              <a:off x="1729" y="1522"/>
              <a:ext cx="21" cy="27"/>
            </a:xfrm>
            <a:custGeom>
              <a:avLst/>
              <a:gdLst>
                <a:gd name="T0" fmla="*/ 18 w 21"/>
                <a:gd name="T1" fmla="*/ 0 h 27"/>
                <a:gd name="T2" fmla="*/ 16 w 21"/>
                <a:gd name="T3" fmla="*/ 3 h 27"/>
                <a:gd name="T4" fmla="*/ 13 w 21"/>
                <a:gd name="T5" fmla="*/ 5 h 27"/>
                <a:gd name="T6" fmla="*/ 10 w 21"/>
                <a:gd name="T7" fmla="*/ 8 h 27"/>
                <a:gd name="T8" fmla="*/ 8 w 21"/>
                <a:gd name="T9" fmla="*/ 12 h 27"/>
                <a:gd name="T10" fmla="*/ 6 w 21"/>
                <a:gd name="T11" fmla="*/ 15 h 27"/>
                <a:gd name="T12" fmla="*/ 3 w 21"/>
                <a:gd name="T13" fmla="*/ 18 h 27"/>
                <a:gd name="T14" fmla="*/ 1 w 21"/>
                <a:gd name="T15" fmla="*/ 22 h 27"/>
                <a:gd name="T16" fmla="*/ 0 w 21"/>
                <a:gd name="T17" fmla="*/ 25 h 27"/>
                <a:gd name="T18" fmla="*/ 3 w 21"/>
                <a:gd name="T19" fmla="*/ 27 h 27"/>
                <a:gd name="T20" fmla="*/ 5 w 21"/>
                <a:gd name="T21" fmla="*/ 23 h 27"/>
                <a:gd name="T22" fmla="*/ 8 w 21"/>
                <a:gd name="T23" fmla="*/ 20 h 27"/>
                <a:gd name="T24" fmla="*/ 10 w 21"/>
                <a:gd name="T25" fmla="*/ 18 h 27"/>
                <a:gd name="T26" fmla="*/ 11 w 21"/>
                <a:gd name="T27" fmla="*/ 15 h 27"/>
                <a:gd name="T28" fmla="*/ 15 w 21"/>
                <a:gd name="T29" fmla="*/ 12 h 27"/>
                <a:gd name="T30" fmla="*/ 16 w 21"/>
                <a:gd name="T31" fmla="*/ 8 h 27"/>
                <a:gd name="T32" fmla="*/ 20 w 21"/>
                <a:gd name="T33" fmla="*/ 7 h 27"/>
                <a:gd name="T34" fmla="*/ 21 w 21"/>
                <a:gd name="T35" fmla="*/ 3 h 27"/>
                <a:gd name="T36" fmla="*/ 18 w 21"/>
                <a:gd name="T37"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1" h="27">
                  <a:moveTo>
                    <a:pt x="18" y="0"/>
                  </a:moveTo>
                  <a:lnTo>
                    <a:pt x="16" y="3"/>
                  </a:lnTo>
                  <a:lnTo>
                    <a:pt x="13" y="5"/>
                  </a:lnTo>
                  <a:lnTo>
                    <a:pt x="10" y="8"/>
                  </a:lnTo>
                  <a:lnTo>
                    <a:pt x="8" y="12"/>
                  </a:lnTo>
                  <a:lnTo>
                    <a:pt x="6" y="15"/>
                  </a:lnTo>
                  <a:lnTo>
                    <a:pt x="3" y="18"/>
                  </a:lnTo>
                  <a:lnTo>
                    <a:pt x="1" y="22"/>
                  </a:lnTo>
                  <a:lnTo>
                    <a:pt x="0" y="25"/>
                  </a:lnTo>
                  <a:lnTo>
                    <a:pt x="3" y="27"/>
                  </a:lnTo>
                  <a:lnTo>
                    <a:pt x="5" y="23"/>
                  </a:lnTo>
                  <a:lnTo>
                    <a:pt x="8" y="20"/>
                  </a:lnTo>
                  <a:lnTo>
                    <a:pt x="10" y="18"/>
                  </a:lnTo>
                  <a:lnTo>
                    <a:pt x="11" y="15"/>
                  </a:lnTo>
                  <a:lnTo>
                    <a:pt x="15" y="12"/>
                  </a:lnTo>
                  <a:lnTo>
                    <a:pt x="16" y="8"/>
                  </a:lnTo>
                  <a:lnTo>
                    <a:pt x="20" y="7"/>
                  </a:lnTo>
                  <a:lnTo>
                    <a:pt x="21" y="3"/>
                  </a:lnTo>
                  <a:lnTo>
                    <a:pt x="18"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59" name="Freeform 703">
              <a:extLst>
                <a:ext uri="{FF2B5EF4-FFF2-40B4-BE49-F238E27FC236}">
                  <a16:creationId xmlns:a16="http://schemas.microsoft.com/office/drawing/2014/main" id="{2ED64A29-E239-35EF-A011-992397FD62F3}"/>
                </a:ext>
              </a:extLst>
            </p:cNvPr>
            <p:cNvSpPr>
              <a:spLocks/>
            </p:cNvSpPr>
            <p:nvPr/>
          </p:nvSpPr>
          <p:spPr bwMode="auto">
            <a:xfrm>
              <a:off x="1730" y="1524"/>
              <a:ext cx="22" cy="26"/>
            </a:xfrm>
            <a:custGeom>
              <a:avLst/>
              <a:gdLst>
                <a:gd name="T0" fmla="*/ 19 w 22"/>
                <a:gd name="T1" fmla="*/ 0 h 26"/>
                <a:gd name="T2" fmla="*/ 17 w 22"/>
                <a:gd name="T3" fmla="*/ 3 h 26"/>
                <a:gd name="T4" fmla="*/ 14 w 22"/>
                <a:gd name="T5" fmla="*/ 5 h 26"/>
                <a:gd name="T6" fmla="*/ 12 w 22"/>
                <a:gd name="T7" fmla="*/ 8 h 26"/>
                <a:gd name="T8" fmla="*/ 9 w 22"/>
                <a:gd name="T9" fmla="*/ 11 h 26"/>
                <a:gd name="T10" fmla="*/ 7 w 22"/>
                <a:gd name="T11" fmla="*/ 15 h 26"/>
                <a:gd name="T12" fmla="*/ 4 w 22"/>
                <a:gd name="T13" fmla="*/ 18 h 26"/>
                <a:gd name="T14" fmla="*/ 2 w 22"/>
                <a:gd name="T15" fmla="*/ 20 h 26"/>
                <a:gd name="T16" fmla="*/ 0 w 22"/>
                <a:gd name="T17" fmla="*/ 23 h 26"/>
                <a:gd name="T18" fmla="*/ 4 w 22"/>
                <a:gd name="T19" fmla="*/ 26 h 26"/>
                <a:gd name="T20" fmla="*/ 7 w 22"/>
                <a:gd name="T21" fmla="*/ 23 h 26"/>
                <a:gd name="T22" fmla="*/ 9 w 22"/>
                <a:gd name="T23" fmla="*/ 20 h 26"/>
                <a:gd name="T24" fmla="*/ 10 w 22"/>
                <a:gd name="T25" fmla="*/ 16 h 26"/>
                <a:gd name="T26" fmla="*/ 12 w 22"/>
                <a:gd name="T27" fmla="*/ 15 h 26"/>
                <a:gd name="T28" fmla="*/ 15 w 22"/>
                <a:gd name="T29" fmla="*/ 11 h 26"/>
                <a:gd name="T30" fmla="*/ 17 w 22"/>
                <a:gd name="T31" fmla="*/ 8 h 26"/>
                <a:gd name="T32" fmla="*/ 20 w 22"/>
                <a:gd name="T33" fmla="*/ 6 h 26"/>
                <a:gd name="T34" fmla="*/ 22 w 22"/>
                <a:gd name="T35" fmla="*/ 3 h 26"/>
                <a:gd name="T36" fmla="*/ 19 w 22"/>
                <a:gd name="T37" fmla="*/ 0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6">
                  <a:moveTo>
                    <a:pt x="19" y="0"/>
                  </a:moveTo>
                  <a:lnTo>
                    <a:pt x="17" y="3"/>
                  </a:lnTo>
                  <a:lnTo>
                    <a:pt x="14" y="5"/>
                  </a:lnTo>
                  <a:lnTo>
                    <a:pt x="12" y="8"/>
                  </a:lnTo>
                  <a:lnTo>
                    <a:pt x="9" y="11"/>
                  </a:lnTo>
                  <a:lnTo>
                    <a:pt x="7" y="15"/>
                  </a:lnTo>
                  <a:lnTo>
                    <a:pt x="4" y="18"/>
                  </a:lnTo>
                  <a:lnTo>
                    <a:pt x="2" y="20"/>
                  </a:lnTo>
                  <a:lnTo>
                    <a:pt x="0" y="23"/>
                  </a:lnTo>
                  <a:lnTo>
                    <a:pt x="4" y="26"/>
                  </a:lnTo>
                  <a:lnTo>
                    <a:pt x="7" y="23"/>
                  </a:lnTo>
                  <a:lnTo>
                    <a:pt x="9" y="20"/>
                  </a:lnTo>
                  <a:lnTo>
                    <a:pt x="10" y="16"/>
                  </a:lnTo>
                  <a:lnTo>
                    <a:pt x="12" y="15"/>
                  </a:lnTo>
                  <a:lnTo>
                    <a:pt x="15" y="11"/>
                  </a:lnTo>
                  <a:lnTo>
                    <a:pt x="17" y="8"/>
                  </a:lnTo>
                  <a:lnTo>
                    <a:pt x="20" y="6"/>
                  </a:lnTo>
                  <a:lnTo>
                    <a:pt x="22" y="3"/>
                  </a:lnTo>
                  <a:lnTo>
                    <a:pt x="19"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60" name="Freeform 704">
              <a:extLst>
                <a:ext uri="{FF2B5EF4-FFF2-40B4-BE49-F238E27FC236}">
                  <a16:creationId xmlns:a16="http://schemas.microsoft.com/office/drawing/2014/main" id="{3FBC0722-32F9-4260-D035-F3C8C87D592F}"/>
                </a:ext>
              </a:extLst>
            </p:cNvPr>
            <p:cNvSpPr>
              <a:spLocks/>
            </p:cNvSpPr>
            <p:nvPr/>
          </p:nvSpPr>
          <p:spPr bwMode="auto">
            <a:xfrm>
              <a:off x="1732" y="1525"/>
              <a:ext cx="22" cy="27"/>
            </a:xfrm>
            <a:custGeom>
              <a:avLst/>
              <a:gdLst>
                <a:gd name="T0" fmla="*/ 18 w 22"/>
                <a:gd name="T1" fmla="*/ 0 h 27"/>
                <a:gd name="T2" fmla="*/ 17 w 22"/>
                <a:gd name="T3" fmla="*/ 4 h 27"/>
                <a:gd name="T4" fmla="*/ 13 w 22"/>
                <a:gd name="T5" fmla="*/ 5 h 27"/>
                <a:gd name="T6" fmla="*/ 12 w 22"/>
                <a:gd name="T7" fmla="*/ 9 h 27"/>
                <a:gd name="T8" fmla="*/ 8 w 22"/>
                <a:gd name="T9" fmla="*/ 12 h 27"/>
                <a:gd name="T10" fmla="*/ 7 w 22"/>
                <a:gd name="T11" fmla="*/ 15 h 27"/>
                <a:gd name="T12" fmla="*/ 5 w 22"/>
                <a:gd name="T13" fmla="*/ 17 h 27"/>
                <a:gd name="T14" fmla="*/ 2 w 22"/>
                <a:gd name="T15" fmla="*/ 20 h 27"/>
                <a:gd name="T16" fmla="*/ 0 w 22"/>
                <a:gd name="T17" fmla="*/ 24 h 27"/>
                <a:gd name="T18" fmla="*/ 5 w 22"/>
                <a:gd name="T19" fmla="*/ 27 h 27"/>
                <a:gd name="T20" fmla="*/ 7 w 22"/>
                <a:gd name="T21" fmla="*/ 24 h 27"/>
                <a:gd name="T22" fmla="*/ 8 w 22"/>
                <a:gd name="T23" fmla="*/ 20 h 27"/>
                <a:gd name="T24" fmla="*/ 10 w 22"/>
                <a:gd name="T25" fmla="*/ 17 h 27"/>
                <a:gd name="T26" fmla="*/ 13 w 22"/>
                <a:gd name="T27" fmla="*/ 15 h 27"/>
                <a:gd name="T28" fmla="*/ 15 w 22"/>
                <a:gd name="T29" fmla="*/ 12 h 27"/>
                <a:gd name="T30" fmla="*/ 17 w 22"/>
                <a:gd name="T31" fmla="*/ 9 h 27"/>
                <a:gd name="T32" fmla="*/ 20 w 22"/>
                <a:gd name="T33" fmla="*/ 7 h 27"/>
                <a:gd name="T34" fmla="*/ 22 w 22"/>
                <a:gd name="T35" fmla="*/ 4 h 27"/>
                <a:gd name="T36" fmla="*/ 18 w 22"/>
                <a:gd name="T37"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7">
                  <a:moveTo>
                    <a:pt x="18" y="0"/>
                  </a:moveTo>
                  <a:lnTo>
                    <a:pt x="17" y="4"/>
                  </a:lnTo>
                  <a:lnTo>
                    <a:pt x="13" y="5"/>
                  </a:lnTo>
                  <a:lnTo>
                    <a:pt x="12" y="9"/>
                  </a:lnTo>
                  <a:lnTo>
                    <a:pt x="8" y="12"/>
                  </a:lnTo>
                  <a:lnTo>
                    <a:pt x="7" y="15"/>
                  </a:lnTo>
                  <a:lnTo>
                    <a:pt x="5" y="17"/>
                  </a:lnTo>
                  <a:lnTo>
                    <a:pt x="2" y="20"/>
                  </a:lnTo>
                  <a:lnTo>
                    <a:pt x="0" y="24"/>
                  </a:lnTo>
                  <a:lnTo>
                    <a:pt x="5" y="27"/>
                  </a:lnTo>
                  <a:lnTo>
                    <a:pt x="7" y="24"/>
                  </a:lnTo>
                  <a:lnTo>
                    <a:pt x="8" y="20"/>
                  </a:lnTo>
                  <a:lnTo>
                    <a:pt x="10" y="17"/>
                  </a:lnTo>
                  <a:lnTo>
                    <a:pt x="13" y="15"/>
                  </a:lnTo>
                  <a:lnTo>
                    <a:pt x="15" y="12"/>
                  </a:lnTo>
                  <a:lnTo>
                    <a:pt x="17" y="9"/>
                  </a:lnTo>
                  <a:lnTo>
                    <a:pt x="20" y="7"/>
                  </a:lnTo>
                  <a:lnTo>
                    <a:pt x="22" y="4"/>
                  </a:lnTo>
                  <a:lnTo>
                    <a:pt x="18"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61" name="Freeform 705">
              <a:extLst>
                <a:ext uri="{FF2B5EF4-FFF2-40B4-BE49-F238E27FC236}">
                  <a16:creationId xmlns:a16="http://schemas.microsoft.com/office/drawing/2014/main" id="{CA018B4A-12FC-25C3-C631-A9375EBE01E7}"/>
                </a:ext>
              </a:extLst>
            </p:cNvPr>
            <p:cNvSpPr>
              <a:spLocks/>
            </p:cNvSpPr>
            <p:nvPr/>
          </p:nvSpPr>
          <p:spPr bwMode="auto">
            <a:xfrm>
              <a:off x="1734" y="1527"/>
              <a:ext cx="21" cy="25"/>
            </a:xfrm>
            <a:custGeom>
              <a:avLst/>
              <a:gdLst>
                <a:gd name="T0" fmla="*/ 18 w 21"/>
                <a:gd name="T1" fmla="*/ 0 h 25"/>
                <a:gd name="T2" fmla="*/ 16 w 21"/>
                <a:gd name="T3" fmla="*/ 3 h 25"/>
                <a:gd name="T4" fmla="*/ 13 w 21"/>
                <a:gd name="T5" fmla="*/ 5 h 25"/>
                <a:gd name="T6" fmla="*/ 11 w 21"/>
                <a:gd name="T7" fmla="*/ 8 h 25"/>
                <a:gd name="T8" fmla="*/ 8 w 21"/>
                <a:gd name="T9" fmla="*/ 12 h 25"/>
                <a:gd name="T10" fmla="*/ 6 w 21"/>
                <a:gd name="T11" fmla="*/ 13 h 25"/>
                <a:gd name="T12" fmla="*/ 5 w 21"/>
                <a:gd name="T13" fmla="*/ 17 h 25"/>
                <a:gd name="T14" fmla="*/ 3 w 21"/>
                <a:gd name="T15" fmla="*/ 20 h 25"/>
                <a:gd name="T16" fmla="*/ 0 w 21"/>
                <a:gd name="T17" fmla="*/ 23 h 25"/>
                <a:gd name="T18" fmla="*/ 5 w 21"/>
                <a:gd name="T19" fmla="*/ 25 h 25"/>
                <a:gd name="T20" fmla="*/ 6 w 21"/>
                <a:gd name="T21" fmla="*/ 23 h 25"/>
                <a:gd name="T22" fmla="*/ 8 w 21"/>
                <a:gd name="T23" fmla="*/ 20 h 25"/>
                <a:gd name="T24" fmla="*/ 10 w 21"/>
                <a:gd name="T25" fmla="*/ 17 h 25"/>
                <a:gd name="T26" fmla="*/ 13 w 21"/>
                <a:gd name="T27" fmla="*/ 13 h 25"/>
                <a:gd name="T28" fmla="*/ 15 w 21"/>
                <a:gd name="T29" fmla="*/ 12 h 25"/>
                <a:gd name="T30" fmla="*/ 16 w 21"/>
                <a:gd name="T31" fmla="*/ 8 h 25"/>
                <a:gd name="T32" fmla="*/ 20 w 21"/>
                <a:gd name="T33" fmla="*/ 7 h 25"/>
                <a:gd name="T34" fmla="*/ 21 w 21"/>
                <a:gd name="T35" fmla="*/ 3 h 25"/>
                <a:gd name="T36" fmla="*/ 18 w 21"/>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1" h="25">
                  <a:moveTo>
                    <a:pt x="18" y="0"/>
                  </a:moveTo>
                  <a:lnTo>
                    <a:pt x="16" y="3"/>
                  </a:lnTo>
                  <a:lnTo>
                    <a:pt x="13" y="5"/>
                  </a:lnTo>
                  <a:lnTo>
                    <a:pt x="11" y="8"/>
                  </a:lnTo>
                  <a:lnTo>
                    <a:pt x="8" y="12"/>
                  </a:lnTo>
                  <a:lnTo>
                    <a:pt x="6" y="13"/>
                  </a:lnTo>
                  <a:lnTo>
                    <a:pt x="5" y="17"/>
                  </a:lnTo>
                  <a:lnTo>
                    <a:pt x="3" y="20"/>
                  </a:lnTo>
                  <a:lnTo>
                    <a:pt x="0" y="23"/>
                  </a:lnTo>
                  <a:lnTo>
                    <a:pt x="5" y="25"/>
                  </a:lnTo>
                  <a:lnTo>
                    <a:pt x="6" y="23"/>
                  </a:lnTo>
                  <a:lnTo>
                    <a:pt x="8" y="20"/>
                  </a:lnTo>
                  <a:lnTo>
                    <a:pt x="10" y="17"/>
                  </a:lnTo>
                  <a:lnTo>
                    <a:pt x="13" y="13"/>
                  </a:lnTo>
                  <a:lnTo>
                    <a:pt x="15" y="12"/>
                  </a:lnTo>
                  <a:lnTo>
                    <a:pt x="16" y="8"/>
                  </a:lnTo>
                  <a:lnTo>
                    <a:pt x="20" y="7"/>
                  </a:lnTo>
                  <a:lnTo>
                    <a:pt x="21" y="3"/>
                  </a:lnTo>
                  <a:lnTo>
                    <a:pt x="18"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62" name="Freeform 706">
              <a:extLst>
                <a:ext uri="{FF2B5EF4-FFF2-40B4-BE49-F238E27FC236}">
                  <a16:creationId xmlns:a16="http://schemas.microsoft.com/office/drawing/2014/main" id="{EE258E39-E449-77B0-7295-E49B72CC1358}"/>
                </a:ext>
              </a:extLst>
            </p:cNvPr>
            <p:cNvSpPr>
              <a:spLocks/>
            </p:cNvSpPr>
            <p:nvPr/>
          </p:nvSpPr>
          <p:spPr bwMode="auto">
            <a:xfrm>
              <a:off x="1737" y="1529"/>
              <a:ext cx="20" cy="25"/>
            </a:xfrm>
            <a:custGeom>
              <a:avLst/>
              <a:gdLst>
                <a:gd name="T0" fmla="*/ 17 w 20"/>
                <a:gd name="T1" fmla="*/ 0 h 25"/>
                <a:gd name="T2" fmla="*/ 15 w 20"/>
                <a:gd name="T3" fmla="*/ 3 h 25"/>
                <a:gd name="T4" fmla="*/ 12 w 20"/>
                <a:gd name="T5" fmla="*/ 5 h 25"/>
                <a:gd name="T6" fmla="*/ 10 w 20"/>
                <a:gd name="T7" fmla="*/ 8 h 25"/>
                <a:gd name="T8" fmla="*/ 8 w 20"/>
                <a:gd name="T9" fmla="*/ 11 h 25"/>
                <a:gd name="T10" fmla="*/ 5 w 20"/>
                <a:gd name="T11" fmla="*/ 13 h 25"/>
                <a:gd name="T12" fmla="*/ 3 w 20"/>
                <a:gd name="T13" fmla="*/ 16 h 25"/>
                <a:gd name="T14" fmla="*/ 2 w 20"/>
                <a:gd name="T15" fmla="*/ 20 h 25"/>
                <a:gd name="T16" fmla="*/ 0 w 20"/>
                <a:gd name="T17" fmla="*/ 23 h 25"/>
                <a:gd name="T18" fmla="*/ 3 w 20"/>
                <a:gd name="T19" fmla="*/ 25 h 25"/>
                <a:gd name="T20" fmla="*/ 5 w 20"/>
                <a:gd name="T21" fmla="*/ 21 h 25"/>
                <a:gd name="T22" fmla="*/ 7 w 20"/>
                <a:gd name="T23" fmla="*/ 20 h 25"/>
                <a:gd name="T24" fmla="*/ 10 w 20"/>
                <a:gd name="T25" fmla="*/ 16 h 25"/>
                <a:gd name="T26" fmla="*/ 12 w 20"/>
                <a:gd name="T27" fmla="*/ 13 h 25"/>
                <a:gd name="T28" fmla="*/ 13 w 20"/>
                <a:gd name="T29" fmla="*/ 11 h 25"/>
                <a:gd name="T30" fmla="*/ 17 w 20"/>
                <a:gd name="T31" fmla="*/ 8 h 25"/>
                <a:gd name="T32" fmla="*/ 18 w 20"/>
                <a:gd name="T33" fmla="*/ 6 h 25"/>
                <a:gd name="T34" fmla="*/ 20 w 20"/>
                <a:gd name="T35" fmla="*/ 3 h 25"/>
                <a:gd name="T36" fmla="*/ 17 w 20"/>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5">
                  <a:moveTo>
                    <a:pt x="17" y="0"/>
                  </a:moveTo>
                  <a:lnTo>
                    <a:pt x="15" y="3"/>
                  </a:lnTo>
                  <a:lnTo>
                    <a:pt x="12" y="5"/>
                  </a:lnTo>
                  <a:lnTo>
                    <a:pt x="10" y="8"/>
                  </a:lnTo>
                  <a:lnTo>
                    <a:pt x="8" y="11"/>
                  </a:lnTo>
                  <a:lnTo>
                    <a:pt x="5" y="13"/>
                  </a:lnTo>
                  <a:lnTo>
                    <a:pt x="3" y="16"/>
                  </a:lnTo>
                  <a:lnTo>
                    <a:pt x="2" y="20"/>
                  </a:lnTo>
                  <a:lnTo>
                    <a:pt x="0" y="23"/>
                  </a:lnTo>
                  <a:lnTo>
                    <a:pt x="3" y="25"/>
                  </a:lnTo>
                  <a:lnTo>
                    <a:pt x="5" y="21"/>
                  </a:lnTo>
                  <a:lnTo>
                    <a:pt x="7" y="20"/>
                  </a:lnTo>
                  <a:lnTo>
                    <a:pt x="10" y="16"/>
                  </a:lnTo>
                  <a:lnTo>
                    <a:pt x="12" y="13"/>
                  </a:lnTo>
                  <a:lnTo>
                    <a:pt x="13" y="11"/>
                  </a:lnTo>
                  <a:lnTo>
                    <a:pt x="17" y="8"/>
                  </a:lnTo>
                  <a:lnTo>
                    <a:pt x="18" y="6"/>
                  </a:lnTo>
                  <a:lnTo>
                    <a:pt x="20" y="3"/>
                  </a:lnTo>
                  <a:lnTo>
                    <a:pt x="17"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63" name="Freeform 707">
              <a:extLst>
                <a:ext uri="{FF2B5EF4-FFF2-40B4-BE49-F238E27FC236}">
                  <a16:creationId xmlns:a16="http://schemas.microsoft.com/office/drawing/2014/main" id="{7BFF5718-EE63-B131-4EA4-25A43F041965}"/>
                </a:ext>
              </a:extLst>
            </p:cNvPr>
            <p:cNvSpPr>
              <a:spLocks/>
            </p:cNvSpPr>
            <p:nvPr/>
          </p:nvSpPr>
          <p:spPr bwMode="auto">
            <a:xfrm>
              <a:off x="1739" y="1530"/>
              <a:ext cx="20" cy="25"/>
            </a:xfrm>
            <a:custGeom>
              <a:avLst/>
              <a:gdLst>
                <a:gd name="T0" fmla="*/ 16 w 20"/>
                <a:gd name="T1" fmla="*/ 0 h 25"/>
                <a:gd name="T2" fmla="*/ 15 w 20"/>
                <a:gd name="T3" fmla="*/ 4 h 25"/>
                <a:gd name="T4" fmla="*/ 11 w 20"/>
                <a:gd name="T5" fmla="*/ 5 h 25"/>
                <a:gd name="T6" fmla="*/ 10 w 20"/>
                <a:gd name="T7" fmla="*/ 9 h 25"/>
                <a:gd name="T8" fmla="*/ 8 w 20"/>
                <a:gd name="T9" fmla="*/ 10 h 25"/>
                <a:gd name="T10" fmla="*/ 5 w 20"/>
                <a:gd name="T11" fmla="*/ 14 h 25"/>
                <a:gd name="T12" fmla="*/ 3 w 20"/>
                <a:gd name="T13" fmla="*/ 17 h 25"/>
                <a:gd name="T14" fmla="*/ 1 w 20"/>
                <a:gd name="T15" fmla="*/ 20 h 25"/>
                <a:gd name="T16" fmla="*/ 0 w 20"/>
                <a:gd name="T17" fmla="*/ 22 h 25"/>
                <a:gd name="T18" fmla="*/ 3 w 20"/>
                <a:gd name="T19" fmla="*/ 25 h 25"/>
                <a:gd name="T20" fmla="*/ 5 w 20"/>
                <a:gd name="T21" fmla="*/ 22 h 25"/>
                <a:gd name="T22" fmla="*/ 8 w 20"/>
                <a:gd name="T23" fmla="*/ 20 h 25"/>
                <a:gd name="T24" fmla="*/ 10 w 20"/>
                <a:gd name="T25" fmla="*/ 17 h 25"/>
                <a:gd name="T26" fmla="*/ 11 w 20"/>
                <a:gd name="T27" fmla="*/ 14 h 25"/>
                <a:gd name="T28" fmla="*/ 13 w 20"/>
                <a:gd name="T29" fmla="*/ 12 h 25"/>
                <a:gd name="T30" fmla="*/ 16 w 20"/>
                <a:gd name="T31" fmla="*/ 9 h 25"/>
                <a:gd name="T32" fmla="*/ 18 w 20"/>
                <a:gd name="T33" fmla="*/ 7 h 25"/>
                <a:gd name="T34" fmla="*/ 20 w 20"/>
                <a:gd name="T35" fmla="*/ 4 h 25"/>
                <a:gd name="T36" fmla="*/ 16 w 20"/>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5">
                  <a:moveTo>
                    <a:pt x="16" y="0"/>
                  </a:moveTo>
                  <a:lnTo>
                    <a:pt x="15" y="4"/>
                  </a:lnTo>
                  <a:lnTo>
                    <a:pt x="11" y="5"/>
                  </a:lnTo>
                  <a:lnTo>
                    <a:pt x="10" y="9"/>
                  </a:lnTo>
                  <a:lnTo>
                    <a:pt x="8" y="10"/>
                  </a:lnTo>
                  <a:lnTo>
                    <a:pt x="5" y="14"/>
                  </a:lnTo>
                  <a:lnTo>
                    <a:pt x="3" y="17"/>
                  </a:lnTo>
                  <a:lnTo>
                    <a:pt x="1" y="20"/>
                  </a:lnTo>
                  <a:lnTo>
                    <a:pt x="0" y="22"/>
                  </a:lnTo>
                  <a:lnTo>
                    <a:pt x="3" y="25"/>
                  </a:lnTo>
                  <a:lnTo>
                    <a:pt x="5" y="22"/>
                  </a:lnTo>
                  <a:lnTo>
                    <a:pt x="8" y="20"/>
                  </a:lnTo>
                  <a:lnTo>
                    <a:pt x="10" y="17"/>
                  </a:lnTo>
                  <a:lnTo>
                    <a:pt x="11" y="14"/>
                  </a:lnTo>
                  <a:lnTo>
                    <a:pt x="13" y="12"/>
                  </a:lnTo>
                  <a:lnTo>
                    <a:pt x="16" y="9"/>
                  </a:lnTo>
                  <a:lnTo>
                    <a:pt x="18" y="7"/>
                  </a:lnTo>
                  <a:lnTo>
                    <a:pt x="20" y="4"/>
                  </a:lnTo>
                  <a:lnTo>
                    <a:pt x="16"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64" name="Freeform 708">
              <a:extLst>
                <a:ext uri="{FF2B5EF4-FFF2-40B4-BE49-F238E27FC236}">
                  <a16:creationId xmlns:a16="http://schemas.microsoft.com/office/drawing/2014/main" id="{CF7B36D3-E7B2-EAC8-3397-556BB71F5182}"/>
                </a:ext>
              </a:extLst>
            </p:cNvPr>
            <p:cNvSpPr>
              <a:spLocks/>
            </p:cNvSpPr>
            <p:nvPr/>
          </p:nvSpPr>
          <p:spPr bwMode="auto">
            <a:xfrm>
              <a:off x="1740" y="1532"/>
              <a:ext cx="22" cy="25"/>
            </a:xfrm>
            <a:custGeom>
              <a:avLst/>
              <a:gdLst>
                <a:gd name="T0" fmla="*/ 17 w 22"/>
                <a:gd name="T1" fmla="*/ 0 h 25"/>
                <a:gd name="T2" fmla="*/ 15 w 22"/>
                <a:gd name="T3" fmla="*/ 3 h 25"/>
                <a:gd name="T4" fmla="*/ 14 w 22"/>
                <a:gd name="T5" fmla="*/ 5 h 25"/>
                <a:gd name="T6" fmla="*/ 10 w 22"/>
                <a:gd name="T7" fmla="*/ 8 h 25"/>
                <a:gd name="T8" fmla="*/ 9 w 22"/>
                <a:gd name="T9" fmla="*/ 10 h 25"/>
                <a:gd name="T10" fmla="*/ 7 w 22"/>
                <a:gd name="T11" fmla="*/ 13 h 25"/>
                <a:gd name="T12" fmla="*/ 4 w 22"/>
                <a:gd name="T13" fmla="*/ 17 h 25"/>
                <a:gd name="T14" fmla="*/ 2 w 22"/>
                <a:gd name="T15" fmla="*/ 18 h 25"/>
                <a:gd name="T16" fmla="*/ 0 w 22"/>
                <a:gd name="T17" fmla="*/ 22 h 25"/>
                <a:gd name="T18" fmla="*/ 4 w 22"/>
                <a:gd name="T19" fmla="*/ 25 h 25"/>
                <a:gd name="T20" fmla="*/ 7 w 22"/>
                <a:gd name="T21" fmla="*/ 22 h 25"/>
                <a:gd name="T22" fmla="*/ 9 w 22"/>
                <a:gd name="T23" fmla="*/ 18 h 25"/>
                <a:gd name="T24" fmla="*/ 10 w 22"/>
                <a:gd name="T25" fmla="*/ 17 h 25"/>
                <a:gd name="T26" fmla="*/ 12 w 22"/>
                <a:gd name="T27" fmla="*/ 13 h 25"/>
                <a:gd name="T28" fmla="*/ 14 w 22"/>
                <a:gd name="T29" fmla="*/ 12 h 25"/>
                <a:gd name="T30" fmla="*/ 17 w 22"/>
                <a:gd name="T31" fmla="*/ 8 h 25"/>
                <a:gd name="T32" fmla="*/ 19 w 22"/>
                <a:gd name="T33" fmla="*/ 7 h 25"/>
                <a:gd name="T34" fmla="*/ 22 w 22"/>
                <a:gd name="T35" fmla="*/ 3 h 25"/>
                <a:gd name="T36" fmla="*/ 17 w 22"/>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5">
                  <a:moveTo>
                    <a:pt x="17" y="0"/>
                  </a:moveTo>
                  <a:lnTo>
                    <a:pt x="15" y="3"/>
                  </a:lnTo>
                  <a:lnTo>
                    <a:pt x="14" y="5"/>
                  </a:lnTo>
                  <a:lnTo>
                    <a:pt x="10" y="8"/>
                  </a:lnTo>
                  <a:lnTo>
                    <a:pt x="9" y="10"/>
                  </a:lnTo>
                  <a:lnTo>
                    <a:pt x="7" y="13"/>
                  </a:lnTo>
                  <a:lnTo>
                    <a:pt x="4" y="17"/>
                  </a:lnTo>
                  <a:lnTo>
                    <a:pt x="2" y="18"/>
                  </a:lnTo>
                  <a:lnTo>
                    <a:pt x="0" y="22"/>
                  </a:lnTo>
                  <a:lnTo>
                    <a:pt x="4" y="25"/>
                  </a:lnTo>
                  <a:lnTo>
                    <a:pt x="7" y="22"/>
                  </a:lnTo>
                  <a:lnTo>
                    <a:pt x="9" y="18"/>
                  </a:lnTo>
                  <a:lnTo>
                    <a:pt x="10" y="17"/>
                  </a:lnTo>
                  <a:lnTo>
                    <a:pt x="12" y="13"/>
                  </a:lnTo>
                  <a:lnTo>
                    <a:pt x="14" y="12"/>
                  </a:lnTo>
                  <a:lnTo>
                    <a:pt x="17" y="8"/>
                  </a:lnTo>
                  <a:lnTo>
                    <a:pt x="19" y="7"/>
                  </a:lnTo>
                  <a:lnTo>
                    <a:pt x="22" y="3"/>
                  </a:lnTo>
                  <a:lnTo>
                    <a:pt x="17"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65" name="Freeform 709">
              <a:extLst>
                <a:ext uri="{FF2B5EF4-FFF2-40B4-BE49-F238E27FC236}">
                  <a16:creationId xmlns:a16="http://schemas.microsoft.com/office/drawing/2014/main" id="{5EFE2256-D483-9162-0C8A-E027335A0C93}"/>
                </a:ext>
              </a:extLst>
            </p:cNvPr>
            <p:cNvSpPr>
              <a:spLocks/>
            </p:cNvSpPr>
            <p:nvPr/>
          </p:nvSpPr>
          <p:spPr bwMode="auto">
            <a:xfrm>
              <a:off x="1742" y="1534"/>
              <a:ext cx="22" cy="23"/>
            </a:xfrm>
            <a:custGeom>
              <a:avLst/>
              <a:gdLst>
                <a:gd name="T0" fmla="*/ 17 w 22"/>
                <a:gd name="T1" fmla="*/ 0 h 23"/>
                <a:gd name="T2" fmla="*/ 15 w 22"/>
                <a:gd name="T3" fmla="*/ 3 h 23"/>
                <a:gd name="T4" fmla="*/ 13 w 22"/>
                <a:gd name="T5" fmla="*/ 5 h 23"/>
                <a:gd name="T6" fmla="*/ 10 w 22"/>
                <a:gd name="T7" fmla="*/ 8 h 23"/>
                <a:gd name="T8" fmla="*/ 8 w 22"/>
                <a:gd name="T9" fmla="*/ 10 h 23"/>
                <a:gd name="T10" fmla="*/ 7 w 22"/>
                <a:gd name="T11" fmla="*/ 13 h 23"/>
                <a:gd name="T12" fmla="*/ 5 w 22"/>
                <a:gd name="T13" fmla="*/ 16 h 23"/>
                <a:gd name="T14" fmla="*/ 2 w 22"/>
                <a:gd name="T15" fmla="*/ 18 h 23"/>
                <a:gd name="T16" fmla="*/ 0 w 22"/>
                <a:gd name="T17" fmla="*/ 21 h 23"/>
                <a:gd name="T18" fmla="*/ 5 w 22"/>
                <a:gd name="T19" fmla="*/ 23 h 23"/>
                <a:gd name="T20" fmla="*/ 7 w 22"/>
                <a:gd name="T21" fmla="*/ 21 h 23"/>
                <a:gd name="T22" fmla="*/ 8 w 22"/>
                <a:gd name="T23" fmla="*/ 18 h 23"/>
                <a:gd name="T24" fmla="*/ 10 w 22"/>
                <a:gd name="T25" fmla="*/ 16 h 23"/>
                <a:gd name="T26" fmla="*/ 12 w 22"/>
                <a:gd name="T27" fmla="*/ 13 h 23"/>
                <a:gd name="T28" fmla="*/ 15 w 22"/>
                <a:gd name="T29" fmla="*/ 11 h 23"/>
                <a:gd name="T30" fmla="*/ 17 w 22"/>
                <a:gd name="T31" fmla="*/ 8 h 23"/>
                <a:gd name="T32" fmla="*/ 18 w 22"/>
                <a:gd name="T33" fmla="*/ 6 h 23"/>
                <a:gd name="T34" fmla="*/ 22 w 22"/>
                <a:gd name="T35" fmla="*/ 3 h 23"/>
                <a:gd name="T36" fmla="*/ 17 w 22"/>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3">
                  <a:moveTo>
                    <a:pt x="17" y="0"/>
                  </a:moveTo>
                  <a:lnTo>
                    <a:pt x="15" y="3"/>
                  </a:lnTo>
                  <a:lnTo>
                    <a:pt x="13" y="5"/>
                  </a:lnTo>
                  <a:lnTo>
                    <a:pt x="10" y="8"/>
                  </a:lnTo>
                  <a:lnTo>
                    <a:pt x="8" y="10"/>
                  </a:lnTo>
                  <a:lnTo>
                    <a:pt x="7" y="13"/>
                  </a:lnTo>
                  <a:lnTo>
                    <a:pt x="5" y="16"/>
                  </a:lnTo>
                  <a:lnTo>
                    <a:pt x="2" y="18"/>
                  </a:lnTo>
                  <a:lnTo>
                    <a:pt x="0" y="21"/>
                  </a:lnTo>
                  <a:lnTo>
                    <a:pt x="5" y="23"/>
                  </a:lnTo>
                  <a:lnTo>
                    <a:pt x="7" y="21"/>
                  </a:lnTo>
                  <a:lnTo>
                    <a:pt x="8" y="18"/>
                  </a:lnTo>
                  <a:lnTo>
                    <a:pt x="10" y="16"/>
                  </a:lnTo>
                  <a:lnTo>
                    <a:pt x="12" y="13"/>
                  </a:lnTo>
                  <a:lnTo>
                    <a:pt x="15" y="11"/>
                  </a:lnTo>
                  <a:lnTo>
                    <a:pt x="17" y="8"/>
                  </a:lnTo>
                  <a:lnTo>
                    <a:pt x="18" y="6"/>
                  </a:lnTo>
                  <a:lnTo>
                    <a:pt x="22" y="3"/>
                  </a:lnTo>
                  <a:lnTo>
                    <a:pt x="17"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66" name="Freeform 710">
              <a:extLst>
                <a:ext uri="{FF2B5EF4-FFF2-40B4-BE49-F238E27FC236}">
                  <a16:creationId xmlns:a16="http://schemas.microsoft.com/office/drawing/2014/main" id="{597601C8-6692-DFE3-9E1E-6D9CF6B5D7C8}"/>
                </a:ext>
              </a:extLst>
            </p:cNvPr>
            <p:cNvSpPr>
              <a:spLocks/>
            </p:cNvSpPr>
            <p:nvPr/>
          </p:nvSpPr>
          <p:spPr bwMode="auto">
            <a:xfrm>
              <a:off x="1744" y="1535"/>
              <a:ext cx="21" cy="24"/>
            </a:xfrm>
            <a:custGeom>
              <a:avLst/>
              <a:gdLst>
                <a:gd name="T0" fmla="*/ 18 w 21"/>
                <a:gd name="T1" fmla="*/ 0 h 24"/>
                <a:gd name="T2" fmla="*/ 15 w 21"/>
                <a:gd name="T3" fmla="*/ 4 h 24"/>
                <a:gd name="T4" fmla="*/ 13 w 21"/>
                <a:gd name="T5" fmla="*/ 5 h 24"/>
                <a:gd name="T6" fmla="*/ 10 w 21"/>
                <a:gd name="T7" fmla="*/ 9 h 24"/>
                <a:gd name="T8" fmla="*/ 8 w 21"/>
                <a:gd name="T9" fmla="*/ 10 h 24"/>
                <a:gd name="T10" fmla="*/ 6 w 21"/>
                <a:gd name="T11" fmla="*/ 14 h 24"/>
                <a:gd name="T12" fmla="*/ 5 w 21"/>
                <a:gd name="T13" fmla="*/ 15 h 24"/>
                <a:gd name="T14" fmla="*/ 3 w 21"/>
                <a:gd name="T15" fmla="*/ 19 h 24"/>
                <a:gd name="T16" fmla="*/ 0 w 21"/>
                <a:gd name="T17" fmla="*/ 22 h 24"/>
                <a:gd name="T18" fmla="*/ 5 w 21"/>
                <a:gd name="T19" fmla="*/ 24 h 24"/>
                <a:gd name="T20" fmla="*/ 6 w 21"/>
                <a:gd name="T21" fmla="*/ 22 h 24"/>
                <a:gd name="T22" fmla="*/ 8 w 21"/>
                <a:gd name="T23" fmla="*/ 19 h 24"/>
                <a:gd name="T24" fmla="*/ 10 w 21"/>
                <a:gd name="T25" fmla="*/ 15 h 24"/>
                <a:gd name="T26" fmla="*/ 11 w 21"/>
                <a:gd name="T27" fmla="*/ 14 h 24"/>
                <a:gd name="T28" fmla="*/ 15 w 21"/>
                <a:gd name="T29" fmla="*/ 10 h 24"/>
                <a:gd name="T30" fmla="*/ 16 w 21"/>
                <a:gd name="T31" fmla="*/ 9 h 24"/>
                <a:gd name="T32" fmla="*/ 18 w 21"/>
                <a:gd name="T33" fmla="*/ 7 h 24"/>
                <a:gd name="T34" fmla="*/ 21 w 21"/>
                <a:gd name="T35" fmla="*/ 4 h 24"/>
                <a:gd name="T36" fmla="*/ 18 w 21"/>
                <a:gd name="T37" fmla="*/ 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1" h="24">
                  <a:moveTo>
                    <a:pt x="18" y="0"/>
                  </a:moveTo>
                  <a:lnTo>
                    <a:pt x="15" y="4"/>
                  </a:lnTo>
                  <a:lnTo>
                    <a:pt x="13" y="5"/>
                  </a:lnTo>
                  <a:lnTo>
                    <a:pt x="10" y="9"/>
                  </a:lnTo>
                  <a:lnTo>
                    <a:pt x="8" y="10"/>
                  </a:lnTo>
                  <a:lnTo>
                    <a:pt x="6" y="14"/>
                  </a:lnTo>
                  <a:lnTo>
                    <a:pt x="5" y="15"/>
                  </a:lnTo>
                  <a:lnTo>
                    <a:pt x="3" y="19"/>
                  </a:lnTo>
                  <a:lnTo>
                    <a:pt x="0" y="22"/>
                  </a:lnTo>
                  <a:lnTo>
                    <a:pt x="5" y="24"/>
                  </a:lnTo>
                  <a:lnTo>
                    <a:pt x="6" y="22"/>
                  </a:lnTo>
                  <a:lnTo>
                    <a:pt x="8" y="19"/>
                  </a:lnTo>
                  <a:lnTo>
                    <a:pt x="10" y="15"/>
                  </a:lnTo>
                  <a:lnTo>
                    <a:pt x="11" y="14"/>
                  </a:lnTo>
                  <a:lnTo>
                    <a:pt x="15" y="10"/>
                  </a:lnTo>
                  <a:lnTo>
                    <a:pt x="16" y="9"/>
                  </a:lnTo>
                  <a:lnTo>
                    <a:pt x="18" y="7"/>
                  </a:lnTo>
                  <a:lnTo>
                    <a:pt x="21" y="4"/>
                  </a:lnTo>
                  <a:lnTo>
                    <a:pt x="18"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67" name="Freeform 711">
              <a:extLst>
                <a:ext uri="{FF2B5EF4-FFF2-40B4-BE49-F238E27FC236}">
                  <a16:creationId xmlns:a16="http://schemas.microsoft.com/office/drawing/2014/main" id="{B3A8ACB2-34C1-E551-85ED-5AD835CCE494}"/>
                </a:ext>
              </a:extLst>
            </p:cNvPr>
            <p:cNvSpPr>
              <a:spLocks/>
            </p:cNvSpPr>
            <p:nvPr/>
          </p:nvSpPr>
          <p:spPr bwMode="auto">
            <a:xfrm>
              <a:off x="1747" y="1537"/>
              <a:ext cx="20" cy="23"/>
            </a:xfrm>
            <a:custGeom>
              <a:avLst/>
              <a:gdLst>
                <a:gd name="T0" fmla="*/ 17 w 20"/>
                <a:gd name="T1" fmla="*/ 0 h 23"/>
                <a:gd name="T2" fmla="*/ 13 w 20"/>
                <a:gd name="T3" fmla="*/ 3 h 23"/>
                <a:gd name="T4" fmla="*/ 12 w 20"/>
                <a:gd name="T5" fmla="*/ 5 h 23"/>
                <a:gd name="T6" fmla="*/ 10 w 20"/>
                <a:gd name="T7" fmla="*/ 8 h 23"/>
                <a:gd name="T8" fmla="*/ 7 w 20"/>
                <a:gd name="T9" fmla="*/ 10 h 23"/>
                <a:gd name="T10" fmla="*/ 5 w 20"/>
                <a:gd name="T11" fmla="*/ 13 h 23"/>
                <a:gd name="T12" fmla="*/ 3 w 20"/>
                <a:gd name="T13" fmla="*/ 15 h 23"/>
                <a:gd name="T14" fmla="*/ 2 w 20"/>
                <a:gd name="T15" fmla="*/ 18 h 23"/>
                <a:gd name="T16" fmla="*/ 0 w 20"/>
                <a:gd name="T17" fmla="*/ 20 h 23"/>
                <a:gd name="T18" fmla="*/ 3 w 20"/>
                <a:gd name="T19" fmla="*/ 23 h 23"/>
                <a:gd name="T20" fmla="*/ 5 w 20"/>
                <a:gd name="T21" fmla="*/ 20 h 23"/>
                <a:gd name="T22" fmla="*/ 7 w 20"/>
                <a:gd name="T23" fmla="*/ 18 h 23"/>
                <a:gd name="T24" fmla="*/ 8 w 20"/>
                <a:gd name="T25" fmla="*/ 15 h 23"/>
                <a:gd name="T26" fmla="*/ 12 w 20"/>
                <a:gd name="T27" fmla="*/ 13 h 23"/>
                <a:gd name="T28" fmla="*/ 13 w 20"/>
                <a:gd name="T29" fmla="*/ 10 h 23"/>
                <a:gd name="T30" fmla="*/ 15 w 20"/>
                <a:gd name="T31" fmla="*/ 8 h 23"/>
                <a:gd name="T32" fmla="*/ 17 w 20"/>
                <a:gd name="T33" fmla="*/ 7 h 23"/>
                <a:gd name="T34" fmla="*/ 20 w 20"/>
                <a:gd name="T35" fmla="*/ 3 h 23"/>
                <a:gd name="T36" fmla="*/ 17 w 20"/>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3">
                  <a:moveTo>
                    <a:pt x="17" y="0"/>
                  </a:moveTo>
                  <a:lnTo>
                    <a:pt x="13" y="3"/>
                  </a:lnTo>
                  <a:lnTo>
                    <a:pt x="12" y="5"/>
                  </a:lnTo>
                  <a:lnTo>
                    <a:pt x="10" y="8"/>
                  </a:lnTo>
                  <a:lnTo>
                    <a:pt x="7" y="10"/>
                  </a:lnTo>
                  <a:lnTo>
                    <a:pt x="5" y="13"/>
                  </a:lnTo>
                  <a:lnTo>
                    <a:pt x="3" y="15"/>
                  </a:lnTo>
                  <a:lnTo>
                    <a:pt x="2" y="18"/>
                  </a:lnTo>
                  <a:lnTo>
                    <a:pt x="0" y="20"/>
                  </a:lnTo>
                  <a:lnTo>
                    <a:pt x="3" y="23"/>
                  </a:lnTo>
                  <a:lnTo>
                    <a:pt x="5" y="20"/>
                  </a:lnTo>
                  <a:lnTo>
                    <a:pt x="7" y="18"/>
                  </a:lnTo>
                  <a:lnTo>
                    <a:pt x="8" y="15"/>
                  </a:lnTo>
                  <a:lnTo>
                    <a:pt x="12" y="13"/>
                  </a:lnTo>
                  <a:lnTo>
                    <a:pt x="13" y="10"/>
                  </a:lnTo>
                  <a:lnTo>
                    <a:pt x="15" y="8"/>
                  </a:lnTo>
                  <a:lnTo>
                    <a:pt x="17" y="7"/>
                  </a:lnTo>
                  <a:lnTo>
                    <a:pt x="20" y="3"/>
                  </a:lnTo>
                  <a:lnTo>
                    <a:pt x="17"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68" name="Freeform 712">
              <a:extLst>
                <a:ext uri="{FF2B5EF4-FFF2-40B4-BE49-F238E27FC236}">
                  <a16:creationId xmlns:a16="http://schemas.microsoft.com/office/drawing/2014/main" id="{DE6ACDF4-3276-2CC3-EFB8-483706EF01DE}"/>
                </a:ext>
              </a:extLst>
            </p:cNvPr>
            <p:cNvSpPr>
              <a:spLocks/>
            </p:cNvSpPr>
            <p:nvPr/>
          </p:nvSpPr>
          <p:spPr bwMode="auto">
            <a:xfrm>
              <a:off x="1749" y="1539"/>
              <a:ext cx="20" cy="23"/>
            </a:xfrm>
            <a:custGeom>
              <a:avLst/>
              <a:gdLst>
                <a:gd name="T0" fmla="*/ 16 w 20"/>
                <a:gd name="T1" fmla="*/ 0 h 23"/>
                <a:gd name="T2" fmla="*/ 13 w 20"/>
                <a:gd name="T3" fmla="*/ 3 h 23"/>
                <a:gd name="T4" fmla="*/ 11 w 20"/>
                <a:gd name="T5" fmla="*/ 5 h 23"/>
                <a:gd name="T6" fmla="*/ 10 w 20"/>
                <a:gd name="T7" fmla="*/ 6 h 23"/>
                <a:gd name="T8" fmla="*/ 6 w 20"/>
                <a:gd name="T9" fmla="*/ 10 h 23"/>
                <a:gd name="T10" fmla="*/ 5 w 20"/>
                <a:gd name="T11" fmla="*/ 11 h 23"/>
                <a:gd name="T12" fmla="*/ 3 w 20"/>
                <a:gd name="T13" fmla="*/ 15 h 23"/>
                <a:gd name="T14" fmla="*/ 1 w 20"/>
                <a:gd name="T15" fmla="*/ 18 h 23"/>
                <a:gd name="T16" fmla="*/ 0 w 20"/>
                <a:gd name="T17" fmla="*/ 20 h 23"/>
                <a:gd name="T18" fmla="*/ 3 w 20"/>
                <a:gd name="T19" fmla="*/ 23 h 23"/>
                <a:gd name="T20" fmla="*/ 5 w 20"/>
                <a:gd name="T21" fmla="*/ 20 h 23"/>
                <a:gd name="T22" fmla="*/ 6 w 20"/>
                <a:gd name="T23" fmla="*/ 18 h 23"/>
                <a:gd name="T24" fmla="*/ 10 w 20"/>
                <a:gd name="T25" fmla="*/ 15 h 23"/>
                <a:gd name="T26" fmla="*/ 11 w 20"/>
                <a:gd name="T27" fmla="*/ 13 h 23"/>
                <a:gd name="T28" fmla="*/ 13 w 20"/>
                <a:gd name="T29" fmla="*/ 10 h 23"/>
                <a:gd name="T30" fmla="*/ 15 w 20"/>
                <a:gd name="T31" fmla="*/ 8 h 23"/>
                <a:gd name="T32" fmla="*/ 16 w 20"/>
                <a:gd name="T33" fmla="*/ 6 h 23"/>
                <a:gd name="T34" fmla="*/ 20 w 20"/>
                <a:gd name="T35" fmla="*/ 3 h 23"/>
                <a:gd name="T36" fmla="*/ 16 w 20"/>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3">
                  <a:moveTo>
                    <a:pt x="16" y="0"/>
                  </a:moveTo>
                  <a:lnTo>
                    <a:pt x="13" y="3"/>
                  </a:lnTo>
                  <a:lnTo>
                    <a:pt x="11" y="5"/>
                  </a:lnTo>
                  <a:lnTo>
                    <a:pt x="10" y="6"/>
                  </a:lnTo>
                  <a:lnTo>
                    <a:pt x="6" y="10"/>
                  </a:lnTo>
                  <a:lnTo>
                    <a:pt x="5" y="11"/>
                  </a:lnTo>
                  <a:lnTo>
                    <a:pt x="3" y="15"/>
                  </a:lnTo>
                  <a:lnTo>
                    <a:pt x="1" y="18"/>
                  </a:lnTo>
                  <a:lnTo>
                    <a:pt x="0" y="20"/>
                  </a:lnTo>
                  <a:lnTo>
                    <a:pt x="3" y="23"/>
                  </a:lnTo>
                  <a:lnTo>
                    <a:pt x="5" y="20"/>
                  </a:lnTo>
                  <a:lnTo>
                    <a:pt x="6" y="18"/>
                  </a:lnTo>
                  <a:lnTo>
                    <a:pt x="10" y="15"/>
                  </a:lnTo>
                  <a:lnTo>
                    <a:pt x="11" y="13"/>
                  </a:lnTo>
                  <a:lnTo>
                    <a:pt x="13" y="10"/>
                  </a:lnTo>
                  <a:lnTo>
                    <a:pt x="15" y="8"/>
                  </a:lnTo>
                  <a:lnTo>
                    <a:pt x="16" y="6"/>
                  </a:lnTo>
                  <a:lnTo>
                    <a:pt x="20" y="3"/>
                  </a:lnTo>
                  <a:lnTo>
                    <a:pt x="16"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69" name="Freeform 713">
              <a:extLst>
                <a:ext uri="{FF2B5EF4-FFF2-40B4-BE49-F238E27FC236}">
                  <a16:creationId xmlns:a16="http://schemas.microsoft.com/office/drawing/2014/main" id="{4DD9191A-C639-FA64-C024-205F8596DE0C}"/>
                </a:ext>
              </a:extLst>
            </p:cNvPr>
            <p:cNvSpPr>
              <a:spLocks/>
            </p:cNvSpPr>
            <p:nvPr/>
          </p:nvSpPr>
          <p:spPr bwMode="auto">
            <a:xfrm>
              <a:off x="1750" y="1540"/>
              <a:ext cx="20" cy="22"/>
            </a:xfrm>
            <a:custGeom>
              <a:avLst/>
              <a:gdLst>
                <a:gd name="T0" fmla="*/ 17 w 20"/>
                <a:gd name="T1" fmla="*/ 0 h 22"/>
                <a:gd name="T2" fmla="*/ 14 w 20"/>
                <a:gd name="T3" fmla="*/ 4 h 22"/>
                <a:gd name="T4" fmla="*/ 12 w 20"/>
                <a:gd name="T5" fmla="*/ 5 h 22"/>
                <a:gd name="T6" fmla="*/ 10 w 20"/>
                <a:gd name="T7" fmla="*/ 7 h 22"/>
                <a:gd name="T8" fmla="*/ 9 w 20"/>
                <a:gd name="T9" fmla="*/ 10 h 22"/>
                <a:gd name="T10" fmla="*/ 5 w 20"/>
                <a:gd name="T11" fmla="*/ 12 h 22"/>
                <a:gd name="T12" fmla="*/ 4 w 20"/>
                <a:gd name="T13" fmla="*/ 15 h 22"/>
                <a:gd name="T14" fmla="*/ 2 w 20"/>
                <a:gd name="T15" fmla="*/ 17 h 22"/>
                <a:gd name="T16" fmla="*/ 0 w 20"/>
                <a:gd name="T17" fmla="*/ 20 h 22"/>
                <a:gd name="T18" fmla="*/ 5 w 20"/>
                <a:gd name="T19" fmla="*/ 22 h 22"/>
                <a:gd name="T20" fmla="*/ 7 w 20"/>
                <a:gd name="T21" fmla="*/ 20 h 22"/>
                <a:gd name="T22" fmla="*/ 9 w 20"/>
                <a:gd name="T23" fmla="*/ 17 h 22"/>
                <a:gd name="T24" fmla="*/ 10 w 20"/>
                <a:gd name="T25" fmla="*/ 15 h 22"/>
                <a:gd name="T26" fmla="*/ 12 w 20"/>
                <a:gd name="T27" fmla="*/ 14 h 22"/>
                <a:gd name="T28" fmla="*/ 14 w 20"/>
                <a:gd name="T29" fmla="*/ 10 h 22"/>
                <a:gd name="T30" fmla="*/ 15 w 20"/>
                <a:gd name="T31" fmla="*/ 9 h 22"/>
                <a:gd name="T32" fmla="*/ 17 w 20"/>
                <a:gd name="T33" fmla="*/ 7 h 22"/>
                <a:gd name="T34" fmla="*/ 20 w 20"/>
                <a:gd name="T35" fmla="*/ 4 h 22"/>
                <a:gd name="T36" fmla="*/ 17 w 20"/>
                <a:gd name="T37" fmla="*/ 0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2">
                  <a:moveTo>
                    <a:pt x="17" y="0"/>
                  </a:moveTo>
                  <a:lnTo>
                    <a:pt x="14" y="4"/>
                  </a:lnTo>
                  <a:lnTo>
                    <a:pt x="12" y="5"/>
                  </a:lnTo>
                  <a:lnTo>
                    <a:pt x="10" y="7"/>
                  </a:lnTo>
                  <a:lnTo>
                    <a:pt x="9" y="10"/>
                  </a:lnTo>
                  <a:lnTo>
                    <a:pt x="5" y="12"/>
                  </a:lnTo>
                  <a:lnTo>
                    <a:pt x="4" y="15"/>
                  </a:lnTo>
                  <a:lnTo>
                    <a:pt x="2" y="17"/>
                  </a:lnTo>
                  <a:lnTo>
                    <a:pt x="0" y="20"/>
                  </a:lnTo>
                  <a:lnTo>
                    <a:pt x="5" y="22"/>
                  </a:lnTo>
                  <a:lnTo>
                    <a:pt x="7" y="20"/>
                  </a:lnTo>
                  <a:lnTo>
                    <a:pt x="9" y="17"/>
                  </a:lnTo>
                  <a:lnTo>
                    <a:pt x="10" y="15"/>
                  </a:lnTo>
                  <a:lnTo>
                    <a:pt x="12" y="14"/>
                  </a:lnTo>
                  <a:lnTo>
                    <a:pt x="14" y="10"/>
                  </a:lnTo>
                  <a:lnTo>
                    <a:pt x="15" y="9"/>
                  </a:lnTo>
                  <a:lnTo>
                    <a:pt x="17" y="7"/>
                  </a:lnTo>
                  <a:lnTo>
                    <a:pt x="20" y="4"/>
                  </a:lnTo>
                  <a:lnTo>
                    <a:pt x="17"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70" name="Freeform 714">
              <a:extLst>
                <a:ext uri="{FF2B5EF4-FFF2-40B4-BE49-F238E27FC236}">
                  <a16:creationId xmlns:a16="http://schemas.microsoft.com/office/drawing/2014/main" id="{AC279956-D112-94F1-CABA-DBDF75B04DB3}"/>
                </a:ext>
              </a:extLst>
            </p:cNvPr>
            <p:cNvSpPr>
              <a:spLocks/>
            </p:cNvSpPr>
            <p:nvPr/>
          </p:nvSpPr>
          <p:spPr bwMode="auto">
            <a:xfrm>
              <a:off x="1752" y="1542"/>
              <a:ext cx="20" cy="22"/>
            </a:xfrm>
            <a:custGeom>
              <a:avLst/>
              <a:gdLst>
                <a:gd name="T0" fmla="*/ 17 w 20"/>
                <a:gd name="T1" fmla="*/ 0 h 22"/>
                <a:gd name="T2" fmla="*/ 13 w 20"/>
                <a:gd name="T3" fmla="*/ 3 h 22"/>
                <a:gd name="T4" fmla="*/ 12 w 20"/>
                <a:gd name="T5" fmla="*/ 5 h 22"/>
                <a:gd name="T6" fmla="*/ 10 w 20"/>
                <a:gd name="T7" fmla="*/ 7 h 22"/>
                <a:gd name="T8" fmla="*/ 8 w 20"/>
                <a:gd name="T9" fmla="*/ 10 h 22"/>
                <a:gd name="T10" fmla="*/ 7 w 20"/>
                <a:gd name="T11" fmla="*/ 12 h 22"/>
                <a:gd name="T12" fmla="*/ 3 w 20"/>
                <a:gd name="T13" fmla="*/ 15 h 22"/>
                <a:gd name="T14" fmla="*/ 2 w 20"/>
                <a:gd name="T15" fmla="*/ 17 h 22"/>
                <a:gd name="T16" fmla="*/ 0 w 20"/>
                <a:gd name="T17" fmla="*/ 20 h 22"/>
                <a:gd name="T18" fmla="*/ 5 w 20"/>
                <a:gd name="T19" fmla="*/ 22 h 22"/>
                <a:gd name="T20" fmla="*/ 7 w 20"/>
                <a:gd name="T21" fmla="*/ 20 h 22"/>
                <a:gd name="T22" fmla="*/ 8 w 20"/>
                <a:gd name="T23" fmla="*/ 17 h 22"/>
                <a:gd name="T24" fmla="*/ 10 w 20"/>
                <a:gd name="T25" fmla="*/ 15 h 22"/>
                <a:gd name="T26" fmla="*/ 12 w 20"/>
                <a:gd name="T27" fmla="*/ 12 h 22"/>
                <a:gd name="T28" fmla="*/ 13 w 20"/>
                <a:gd name="T29" fmla="*/ 10 h 22"/>
                <a:gd name="T30" fmla="*/ 15 w 20"/>
                <a:gd name="T31" fmla="*/ 8 h 22"/>
                <a:gd name="T32" fmla="*/ 17 w 20"/>
                <a:gd name="T33" fmla="*/ 7 h 22"/>
                <a:gd name="T34" fmla="*/ 20 w 20"/>
                <a:gd name="T35" fmla="*/ 3 h 22"/>
                <a:gd name="T36" fmla="*/ 17 w 20"/>
                <a:gd name="T37" fmla="*/ 0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2">
                  <a:moveTo>
                    <a:pt x="17" y="0"/>
                  </a:moveTo>
                  <a:lnTo>
                    <a:pt x="13" y="3"/>
                  </a:lnTo>
                  <a:lnTo>
                    <a:pt x="12" y="5"/>
                  </a:lnTo>
                  <a:lnTo>
                    <a:pt x="10" y="7"/>
                  </a:lnTo>
                  <a:lnTo>
                    <a:pt x="8" y="10"/>
                  </a:lnTo>
                  <a:lnTo>
                    <a:pt x="7" y="12"/>
                  </a:lnTo>
                  <a:lnTo>
                    <a:pt x="3" y="15"/>
                  </a:lnTo>
                  <a:lnTo>
                    <a:pt x="2" y="17"/>
                  </a:lnTo>
                  <a:lnTo>
                    <a:pt x="0" y="20"/>
                  </a:lnTo>
                  <a:lnTo>
                    <a:pt x="5" y="22"/>
                  </a:lnTo>
                  <a:lnTo>
                    <a:pt x="7" y="20"/>
                  </a:lnTo>
                  <a:lnTo>
                    <a:pt x="8" y="17"/>
                  </a:lnTo>
                  <a:lnTo>
                    <a:pt x="10" y="15"/>
                  </a:lnTo>
                  <a:lnTo>
                    <a:pt x="12" y="12"/>
                  </a:lnTo>
                  <a:lnTo>
                    <a:pt x="13" y="10"/>
                  </a:lnTo>
                  <a:lnTo>
                    <a:pt x="15" y="8"/>
                  </a:lnTo>
                  <a:lnTo>
                    <a:pt x="17" y="7"/>
                  </a:lnTo>
                  <a:lnTo>
                    <a:pt x="20" y="3"/>
                  </a:lnTo>
                  <a:lnTo>
                    <a:pt x="17"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71" name="Freeform 715">
              <a:extLst>
                <a:ext uri="{FF2B5EF4-FFF2-40B4-BE49-F238E27FC236}">
                  <a16:creationId xmlns:a16="http://schemas.microsoft.com/office/drawing/2014/main" id="{54B7C098-1354-2F6A-6659-A84EC6DAE814}"/>
                </a:ext>
              </a:extLst>
            </p:cNvPr>
            <p:cNvSpPr>
              <a:spLocks/>
            </p:cNvSpPr>
            <p:nvPr/>
          </p:nvSpPr>
          <p:spPr bwMode="auto">
            <a:xfrm>
              <a:off x="1755" y="1544"/>
              <a:ext cx="18" cy="21"/>
            </a:xfrm>
            <a:custGeom>
              <a:avLst/>
              <a:gdLst>
                <a:gd name="T0" fmla="*/ 15 w 18"/>
                <a:gd name="T1" fmla="*/ 0 h 21"/>
                <a:gd name="T2" fmla="*/ 12 w 18"/>
                <a:gd name="T3" fmla="*/ 3 h 21"/>
                <a:gd name="T4" fmla="*/ 10 w 18"/>
                <a:gd name="T5" fmla="*/ 5 h 21"/>
                <a:gd name="T6" fmla="*/ 9 w 18"/>
                <a:gd name="T7" fmla="*/ 6 h 21"/>
                <a:gd name="T8" fmla="*/ 7 w 18"/>
                <a:gd name="T9" fmla="*/ 10 h 21"/>
                <a:gd name="T10" fmla="*/ 5 w 18"/>
                <a:gd name="T11" fmla="*/ 11 h 21"/>
                <a:gd name="T12" fmla="*/ 4 w 18"/>
                <a:gd name="T13" fmla="*/ 13 h 21"/>
                <a:gd name="T14" fmla="*/ 2 w 18"/>
                <a:gd name="T15" fmla="*/ 16 h 21"/>
                <a:gd name="T16" fmla="*/ 0 w 18"/>
                <a:gd name="T17" fmla="*/ 18 h 21"/>
                <a:gd name="T18" fmla="*/ 4 w 18"/>
                <a:gd name="T19" fmla="*/ 21 h 21"/>
                <a:gd name="T20" fmla="*/ 5 w 18"/>
                <a:gd name="T21" fmla="*/ 20 h 21"/>
                <a:gd name="T22" fmla="*/ 7 w 18"/>
                <a:gd name="T23" fmla="*/ 16 h 21"/>
                <a:gd name="T24" fmla="*/ 9 w 18"/>
                <a:gd name="T25" fmla="*/ 15 h 21"/>
                <a:gd name="T26" fmla="*/ 10 w 18"/>
                <a:gd name="T27" fmla="*/ 11 h 21"/>
                <a:gd name="T28" fmla="*/ 12 w 18"/>
                <a:gd name="T29" fmla="*/ 10 h 21"/>
                <a:gd name="T30" fmla="*/ 14 w 18"/>
                <a:gd name="T31" fmla="*/ 8 h 21"/>
                <a:gd name="T32" fmla="*/ 17 w 18"/>
                <a:gd name="T33" fmla="*/ 6 h 21"/>
                <a:gd name="T34" fmla="*/ 18 w 18"/>
                <a:gd name="T35" fmla="*/ 3 h 21"/>
                <a:gd name="T36" fmla="*/ 15 w 18"/>
                <a:gd name="T37" fmla="*/ 0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21">
                  <a:moveTo>
                    <a:pt x="15" y="0"/>
                  </a:moveTo>
                  <a:lnTo>
                    <a:pt x="12" y="3"/>
                  </a:lnTo>
                  <a:lnTo>
                    <a:pt x="10" y="5"/>
                  </a:lnTo>
                  <a:lnTo>
                    <a:pt x="9" y="6"/>
                  </a:lnTo>
                  <a:lnTo>
                    <a:pt x="7" y="10"/>
                  </a:lnTo>
                  <a:lnTo>
                    <a:pt x="5" y="11"/>
                  </a:lnTo>
                  <a:lnTo>
                    <a:pt x="4" y="13"/>
                  </a:lnTo>
                  <a:lnTo>
                    <a:pt x="2" y="16"/>
                  </a:lnTo>
                  <a:lnTo>
                    <a:pt x="0" y="18"/>
                  </a:lnTo>
                  <a:lnTo>
                    <a:pt x="4" y="21"/>
                  </a:lnTo>
                  <a:lnTo>
                    <a:pt x="5" y="20"/>
                  </a:lnTo>
                  <a:lnTo>
                    <a:pt x="7" y="16"/>
                  </a:lnTo>
                  <a:lnTo>
                    <a:pt x="9" y="15"/>
                  </a:lnTo>
                  <a:lnTo>
                    <a:pt x="10" y="11"/>
                  </a:lnTo>
                  <a:lnTo>
                    <a:pt x="12" y="10"/>
                  </a:lnTo>
                  <a:lnTo>
                    <a:pt x="14" y="8"/>
                  </a:lnTo>
                  <a:lnTo>
                    <a:pt x="17" y="6"/>
                  </a:lnTo>
                  <a:lnTo>
                    <a:pt x="18" y="3"/>
                  </a:lnTo>
                  <a:lnTo>
                    <a:pt x="15"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72" name="Freeform 716">
              <a:extLst>
                <a:ext uri="{FF2B5EF4-FFF2-40B4-BE49-F238E27FC236}">
                  <a16:creationId xmlns:a16="http://schemas.microsoft.com/office/drawing/2014/main" id="{101020BB-0EEF-FAE8-AF84-8D02DC179E2F}"/>
                </a:ext>
              </a:extLst>
            </p:cNvPr>
            <p:cNvSpPr>
              <a:spLocks/>
            </p:cNvSpPr>
            <p:nvPr/>
          </p:nvSpPr>
          <p:spPr bwMode="auto">
            <a:xfrm>
              <a:off x="1757" y="1545"/>
              <a:ext cx="18" cy="22"/>
            </a:xfrm>
            <a:custGeom>
              <a:avLst/>
              <a:gdLst>
                <a:gd name="T0" fmla="*/ 15 w 18"/>
                <a:gd name="T1" fmla="*/ 0 h 22"/>
                <a:gd name="T2" fmla="*/ 12 w 18"/>
                <a:gd name="T3" fmla="*/ 4 h 22"/>
                <a:gd name="T4" fmla="*/ 10 w 18"/>
                <a:gd name="T5" fmla="*/ 5 h 22"/>
                <a:gd name="T6" fmla="*/ 8 w 18"/>
                <a:gd name="T7" fmla="*/ 7 h 22"/>
                <a:gd name="T8" fmla="*/ 7 w 18"/>
                <a:gd name="T9" fmla="*/ 9 h 22"/>
                <a:gd name="T10" fmla="*/ 5 w 18"/>
                <a:gd name="T11" fmla="*/ 12 h 22"/>
                <a:gd name="T12" fmla="*/ 3 w 18"/>
                <a:gd name="T13" fmla="*/ 14 h 22"/>
                <a:gd name="T14" fmla="*/ 2 w 18"/>
                <a:gd name="T15" fmla="*/ 17 h 22"/>
                <a:gd name="T16" fmla="*/ 0 w 18"/>
                <a:gd name="T17" fmla="*/ 19 h 22"/>
                <a:gd name="T18" fmla="*/ 3 w 18"/>
                <a:gd name="T19" fmla="*/ 22 h 22"/>
                <a:gd name="T20" fmla="*/ 5 w 18"/>
                <a:gd name="T21" fmla="*/ 19 h 22"/>
                <a:gd name="T22" fmla="*/ 7 w 18"/>
                <a:gd name="T23" fmla="*/ 17 h 22"/>
                <a:gd name="T24" fmla="*/ 8 w 18"/>
                <a:gd name="T25" fmla="*/ 15 h 22"/>
                <a:gd name="T26" fmla="*/ 10 w 18"/>
                <a:gd name="T27" fmla="*/ 12 h 22"/>
                <a:gd name="T28" fmla="*/ 12 w 18"/>
                <a:gd name="T29" fmla="*/ 10 h 22"/>
                <a:gd name="T30" fmla="*/ 13 w 18"/>
                <a:gd name="T31" fmla="*/ 9 h 22"/>
                <a:gd name="T32" fmla="*/ 16 w 18"/>
                <a:gd name="T33" fmla="*/ 7 h 22"/>
                <a:gd name="T34" fmla="*/ 18 w 18"/>
                <a:gd name="T35" fmla="*/ 4 h 22"/>
                <a:gd name="T36" fmla="*/ 15 w 18"/>
                <a:gd name="T37" fmla="*/ 0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22">
                  <a:moveTo>
                    <a:pt x="15" y="0"/>
                  </a:moveTo>
                  <a:lnTo>
                    <a:pt x="12" y="4"/>
                  </a:lnTo>
                  <a:lnTo>
                    <a:pt x="10" y="5"/>
                  </a:lnTo>
                  <a:lnTo>
                    <a:pt x="8" y="7"/>
                  </a:lnTo>
                  <a:lnTo>
                    <a:pt x="7" y="9"/>
                  </a:lnTo>
                  <a:lnTo>
                    <a:pt x="5" y="12"/>
                  </a:lnTo>
                  <a:lnTo>
                    <a:pt x="3" y="14"/>
                  </a:lnTo>
                  <a:lnTo>
                    <a:pt x="2" y="17"/>
                  </a:lnTo>
                  <a:lnTo>
                    <a:pt x="0" y="19"/>
                  </a:lnTo>
                  <a:lnTo>
                    <a:pt x="3" y="22"/>
                  </a:lnTo>
                  <a:lnTo>
                    <a:pt x="5" y="19"/>
                  </a:lnTo>
                  <a:lnTo>
                    <a:pt x="7" y="17"/>
                  </a:lnTo>
                  <a:lnTo>
                    <a:pt x="8" y="15"/>
                  </a:lnTo>
                  <a:lnTo>
                    <a:pt x="10" y="12"/>
                  </a:lnTo>
                  <a:lnTo>
                    <a:pt x="12" y="10"/>
                  </a:lnTo>
                  <a:lnTo>
                    <a:pt x="13" y="9"/>
                  </a:lnTo>
                  <a:lnTo>
                    <a:pt x="16" y="7"/>
                  </a:lnTo>
                  <a:lnTo>
                    <a:pt x="18" y="4"/>
                  </a:lnTo>
                  <a:lnTo>
                    <a:pt x="15"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73" name="Freeform 717">
              <a:extLst>
                <a:ext uri="{FF2B5EF4-FFF2-40B4-BE49-F238E27FC236}">
                  <a16:creationId xmlns:a16="http://schemas.microsoft.com/office/drawing/2014/main" id="{713C9C02-7FF3-E245-340E-B2C87D8120FB}"/>
                </a:ext>
              </a:extLst>
            </p:cNvPr>
            <p:cNvSpPr>
              <a:spLocks/>
            </p:cNvSpPr>
            <p:nvPr/>
          </p:nvSpPr>
          <p:spPr bwMode="auto">
            <a:xfrm>
              <a:off x="1759" y="1547"/>
              <a:ext cx="18" cy="20"/>
            </a:xfrm>
            <a:custGeom>
              <a:avLst/>
              <a:gdLst>
                <a:gd name="T0" fmla="*/ 14 w 18"/>
                <a:gd name="T1" fmla="*/ 0 h 20"/>
                <a:gd name="T2" fmla="*/ 13 w 18"/>
                <a:gd name="T3" fmla="*/ 3 h 20"/>
                <a:gd name="T4" fmla="*/ 10 w 18"/>
                <a:gd name="T5" fmla="*/ 5 h 20"/>
                <a:gd name="T6" fmla="*/ 8 w 18"/>
                <a:gd name="T7" fmla="*/ 7 h 20"/>
                <a:gd name="T8" fmla="*/ 6 w 18"/>
                <a:gd name="T9" fmla="*/ 8 h 20"/>
                <a:gd name="T10" fmla="*/ 5 w 18"/>
                <a:gd name="T11" fmla="*/ 12 h 20"/>
                <a:gd name="T12" fmla="*/ 3 w 18"/>
                <a:gd name="T13" fmla="*/ 13 h 20"/>
                <a:gd name="T14" fmla="*/ 1 w 18"/>
                <a:gd name="T15" fmla="*/ 17 h 20"/>
                <a:gd name="T16" fmla="*/ 0 w 18"/>
                <a:gd name="T17" fmla="*/ 18 h 20"/>
                <a:gd name="T18" fmla="*/ 5 w 18"/>
                <a:gd name="T19" fmla="*/ 20 h 20"/>
                <a:gd name="T20" fmla="*/ 5 w 18"/>
                <a:gd name="T21" fmla="*/ 18 h 20"/>
                <a:gd name="T22" fmla="*/ 6 w 18"/>
                <a:gd name="T23" fmla="*/ 17 h 20"/>
                <a:gd name="T24" fmla="*/ 8 w 18"/>
                <a:gd name="T25" fmla="*/ 13 h 20"/>
                <a:gd name="T26" fmla="*/ 10 w 18"/>
                <a:gd name="T27" fmla="*/ 12 h 20"/>
                <a:gd name="T28" fmla="*/ 11 w 18"/>
                <a:gd name="T29" fmla="*/ 10 h 20"/>
                <a:gd name="T30" fmla="*/ 14 w 18"/>
                <a:gd name="T31" fmla="*/ 8 h 20"/>
                <a:gd name="T32" fmla="*/ 16 w 18"/>
                <a:gd name="T33" fmla="*/ 7 h 20"/>
                <a:gd name="T34" fmla="*/ 18 w 18"/>
                <a:gd name="T35" fmla="*/ 3 h 20"/>
                <a:gd name="T36" fmla="*/ 14 w 18"/>
                <a:gd name="T37" fmla="*/ 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20">
                  <a:moveTo>
                    <a:pt x="14" y="0"/>
                  </a:moveTo>
                  <a:lnTo>
                    <a:pt x="13" y="3"/>
                  </a:lnTo>
                  <a:lnTo>
                    <a:pt x="10" y="5"/>
                  </a:lnTo>
                  <a:lnTo>
                    <a:pt x="8" y="7"/>
                  </a:lnTo>
                  <a:lnTo>
                    <a:pt x="6" y="8"/>
                  </a:lnTo>
                  <a:lnTo>
                    <a:pt x="5" y="12"/>
                  </a:lnTo>
                  <a:lnTo>
                    <a:pt x="3" y="13"/>
                  </a:lnTo>
                  <a:lnTo>
                    <a:pt x="1" y="17"/>
                  </a:lnTo>
                  <a:lnTo>
                    <a:pt x="0" y="18"/>
                  </a:lnTo>
                  <a:lnTo>
                    <a:pt x="5" y="20"/>
                  </a:lnTo>
                  <a:lnTo>
                    <a:pt x="5" y="18"/>
                  </a:lnTo>
                  <a:lnTo>
                    <a:pt x="6" y="17"/>
                  </a:lnTo>
                  <a:lnTo>
                    <a:pt x="8" y="13"/>
                  </a:lnTo>
                  <a:lnTo>
                    <a:pt x="10" y="12"/>
                  </a:lnTo>
                  <a:lnTo>
                    <a:pt x="11" y="10"/>
                  </a:lnTo>
                  <a:lnTo>
                    <a:pt x="14" y="8"/>
                  </a:lnTo>
                  <a:lnTo>
                    <a:pt x="16" y="7"/>
                  </a:lnTo>
                  <a:lnTo>
                    <a:pt x="18" y="3"/>
                  </a:lnTo>
                  <a:lnTo>
                    <a:pt x="14"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74" name="Freeform 718">
              <a:extLst>
                <a:ext uri="{FF2B5EF4-FFF2-40B4-BE49-F238E27FC236}">
                  <a16:creationId xmlns:a16="http://schemas.microsoft.com/office/drawing/2014/main" id="{DA0BA282-573E-E14D-920D-B03F499B2DBB}"/>
                </a:ext>
              </a:extLst>
            </p:cNvPr>
            <p:cNvSpPr>
              <a:spLocks/>
            </p:cNvSpPr>
            <p:nvPr/>
          </p:nvSpPr>
          <p:spPr bwMode="auto">
            <a:xfrm>
              <a:off x="1760" y="1549"/>
              <a:ext cx="18" cy="19"/>
            </a:xfrm>
            <a:custGeom>
              <a:avLst/>
              <a:gdLst>
                <a:gd name="T0" fmla="*/ 15 w 18"/>
                <a:gd name="T1" fmla="*/ 0 h 19"/>
                <a:gd name="T2" fmla="*/ 13 w 18"/>
                <a:gd name="T3" fmla="*/ 3 h 19"/>
                <a:gd name="T4" fmla="*/ 10 w 18"/>
                <a:gd name="T5" fmla="*/ 5 h 19"/>
                <a:gd name="T6" fmla="*/ 9 w 18"/>
                <a:gd name="T7" fmla="*/ 6 h 19"/>
                <a:gd name="T8" fmla="*/ 7 w 18"/>
                <a:gd name="T9" fmla="*/ 8 h 19"/>
                <a:gd name="T10" fmla="*/ 5 w 18"/>
                <a:gd name="T11" fmla="*/ 11 h 19"/>
                <a:gd name="T12" fmla="*/ 4 w 18"/>
                <a:gd name="T13" fmla="*/ 13 h 19"/>
                <a:gd name="T14" fmla="*/ 2 w 18"/>
                <a:gd name="T15" fmla="*/ 15 h 19"/>
                <a:gd name="T16" fmla="*/ 0 w 18"/>
                <a:gd name="T17" fmla="*/ 18 h 19"/>
                <a:gd name="T18" fmla="*/ 5 w 18"/>
                <a:gd name="T19" fmla="*/ 19 h 19"/>
                <a:gd name="T20" fmla="*/ 7 w 18"/>
                <a:gd name="T21" fmla="*/ 18 h 19"/>
                <a:gd name="T22" fmla="*/ 9 w 18"/>
                <a:gd name="T23" fmla="*/ 16 h 19"/>
                <a:gd name="T24" fmla="*/ 10 w 18"/>
                <a:gd name="T25" fmla="*/ 13 h 19"/>
                <a:gd name="T26" fmla="*/ 12 w 18"/>
                <a:gd name="T27" fmla="*/ 11 h 19"/>
                <a:gd name="T28" fmla="*/ 13 w 18"/>
                <a:gd name="T29" fmla="*/ 10 h 19"/>
                <a:gd name="T30" fmla="*/ 15 w 18"/>
                <a:gd name="T31" fmla="*/ 8 h 19"/>
                <a:gd name="T32" fmla="*/ 17 w 18"/>
                <a:gd name="T33" fmla="*/ 5 h 19"/>
                <a:gd name="T34" fmla="*/ 18 w 18"/>
                <a:gd name="T35" fmla="*/ 3 h 19"/>
                <a:gd name="T36" fmla="*/ 15 w 18"/>
                <a:gd name="T37" fmla="*/ 0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19">
                  <a:moveTo>
                    <a:pt x="15" y="0"/>
                  </a:moveTo>
                  <a:lnTo>
                    <a:pt x="13" y="3"/>
                  </a:lnTo>
                  <a:lnTo>
                    <a:pt x="10" y="5"/>
                  </a:lnTo>
                  <a:lnTo>
                    <a:pt x="9" y="6"/>
                  </a:lnTo>
                  <a:lnTo>
                    <a:pt x="7" y="8"/>
                  </a:lnTo>
                  <a:lnTo>
                    <a:pt x="5" y="11"/>
                  </a:lnTo>
                  <a:lnTo>
                    <a:pt x="4" y="13"/>
                  </a:lnTo>
                  <a:lnTo>
                    <a:pt x="2" y="15"/>
                  </a:lnTo>
                  <a:lnTo>
                    <a:pt x="0" y="18"/>
                  </a:lnTo>
                  <a:lnTo>
                    <a:pt x="5" y="19"/>
                  </a:lnTo>
                  <a:lnTo>
                    <a:pt x="7" y="18"/>
                  </a:lnTo>
                  <a:lnTo>
                    <a:pt x="9" y="16"/>
                  </a:lnTo>
                  <a:lnTo>
                    <a:pt x="10" y="13"/>
                  </a:lnTo>
                  <a:lnTo>
                    <a:pt x="12" y="11"/>
                  </a:lnTo>
                  <a:lnTo>
                    <a:pt x="13" y="10"/>
                  </a:lnTo>
                  <a:lnTo>
                    <a:pt x="15" y="8"/>
                  </a:lnTo>
                  <a:lnTo>
                    <a:pt x="17" y="5"/>
                  </a:lnTo>
                  <a:lnTo>
                    <a:pt x="18" y="3"/>
                  </a:lnTo>
                  <a:lnTo>
                    <a:pt x="15"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75" name="Freeform 719">
              <a:extLst>
                <a:ext uri="{FF2B5EF4-FFF2-40B4-BE49-F238E27FC236}">
                  <a16:creationId xmlns:a16="http://schemas.microsoft.com/office/drawing/2014/main" id="{2896DF2C-21E7-52C4-F55A-49856AD74C85}"/>
                </a:ext>
              </a:extLst>
            </p:cNvPr>
            <p:cNvSpPr>
              <a:spLocks/>
            </p:cNvSpPr>
            <p:nvPr/>
          </p:nvSpPr>
          <p:spPr bwMode="auto">
            <a:xfrm>
              <a:off x="1764" y="1550"/>
              <a:ext cx="16" cy="20"/>
            </a:xfrm>
            <a:custGeom>
              <a:avLst/>
              <a:gdLst>
                <a:gd name="T0" fmla="*/ 13 w 16"/>
                <a:gd name="T1" fmla="*/ 0 h 20"/>
                <a:gd name="T2" fmla="*/ 11 w 16"/>
                <a:gd name="T3" fmla="*/ 4 h 20"/>
                <a:gd name="T4" fmla="*/ 9 w 16"/>
                <a:gd name="T5" fmla="*/ 5 h 20"/>
                <a:gd name="T6" fmla="*/ 6 w 16"/>
                <a:gd name="T7" fmla="*/ 7 h 20"/>
                <a:gd name="T8" fmla="*/ 5 w 16"/>
                <a:gd name="T9" fmla="*/ 9 h 20"/>
                <a:gd name="T10" fmla="*/ 3 w 16"/>
                <a:gd name="T11" fmla="*/ 10 h 20"/>
                <a:gd name="T12" fmla="*/ 1 w 16"/>
                <a:gd name="T13" fmla="*/ 14 h 20"/>
                <a:gd name="T14" fmla="*/ 0 w 16"/>
                <a:gd name="T15" fmla="*/ 15 h 20"/>
                <a:gd name="T16" fmla="*/ 0 w 16"/>
                <a:gd name="T17" fmla="*/ 17 h 20"/>
                <a:gd name="T18" fmla="*/ 3 w 16"/>
                <a:gd name="T19" fmla="*/ 20 h 20"/>
                <a:gd name="T20" fmla="*/ 5 w 16"/>
                <a:gd name="T21" fmla="*/ 18 h 20"/>
                <a:gd name="T22" fmla="*/ 6 w 16"/>
                <a:gd name="T23" fmla="*/ 15 h 20"/>
                <a:gd name="T24" fmla="*/ 8 w 16"/>
                <a:gd name="T25" fmla="*/ 14 h 20"/>
                <a:gd name="T26" fmla="*/ 9 w 16"/>
                <a:gd name="T27" fmla="*/ 12 h 20"/>
                <a:gd name="T28" fmla="*/ 11 w 16"/>
                <a:gd name="T29" fmla="*/ 10 h 20"/>
                <a:gd name="T30" fmla="*/ 13 w 16"/>
                <a:gd name="T31" fmla="*/ 9 h 20"/>
                <a:gd name="T32" fmla="*/ 14 w 16"/>
                <a:gd name="T33" fmla="*/ 5 h 20"/>
                <a:gd name="T34" fmla="*/ 16 w 16"/>
                <a:gd name="T35" fmla="*/ 4 h 20"/>
                <a:gd name="T36" fmla="*/ 13 w 16"/>
                <a:gd name="T37" fmla="*/ 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6" h="20">
                  <a:moveTo>
                    <a:pt x="13" y="0"/>
                  </a:moveTo>
                  <a:lnTo>
                    <a:pt x="11" y="4"/>
                  </a:lnTo>
                  <a:lnTo>
                    <a:pt x="9" y="5"/>
                  </a:lnTo>
                  <a:lnTo>
                    <a:pt x="6" y="7"/>
                  </a:lnTo>
                  <a:lnTo>
                    <a:pt x="5" y="9"/>
                  </a:lnTo>
                  <a:lnTo>
                    <a:pt x="3" y="10"/>
                  </a:lnTo>
                  <a:lnTo>
                    <a:pt x="1" y="14"/>
                  </a:lnTo>
                  <a:lnTo>
                    <a:pt x="0" y="15"/>
                  </a:lnTo>
                  <a:lnTo>
                    <a:pt x="0" y="17"/>
                  </a:lnTo>
                  <a:lnTo>
                    <a:pt x="3" y="20"/>
                  </a:lnTo>
                  <a:lnTo>
                    <a:pt x="5" y="18"/>
                  </a:lnTo>
                  <a:lnTo>
                    <a:pt x="6" y="15"/>
                  </a:lnTo>
                  <a:lnTo>
                    <a:pt x="8" y="14"/>
                  </a:lnTo>
                  <a:lnTo>
                    <a:pt x="9" y="12"/>
                  </a:lnTo>
                  <a:lnTo>
                    <a:pt x="11" y="10"/>
                  </a:lnTo>
                  <a:lnTo>
                    <a:pt x="13" y="9"/>
                  </a:lnTo>
                  <a:lnTo>
                    <a:pt x="14" y="5"/>
                  </a:lnTo>
                  <a:lnTo>
                    <a:pt x="16" y="4"/>
                  </a:lnTo>
                  <a:lnTo>
                    <a:pt x="13"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76" name="Freeform 720">
              <a:extLst>
                <a:ext uri="{FF2B5EF4-FFF2-40B4-BE49-F238E27FC236}">
                  <a16:creationId xmlns:a16="http://schemas.microsoft.com/office/drawing/2014/main" id="{F4A630F2-27EB-8F92-6542-9AB94F8DAEEC}"/>
                </a:ext>
              </a:extLst>
            </p:cNvPr>
            <p:cNvSpPr>
              <a:spLocks/>
            </p:cNvSpPr>
            <p:nvPr/>
          </p:nvSpPr>
          <p:spPr bwMode="auto">
            <a:xfrm>
              <a:off x="1765" y="1552"/>
              <a:ext cx="17" cy="20"/>
            </a:xfrm>
            <a:custGeom>
              <a:avLst/>
              <a:gdLst>
                <a:gd name="T0" fmla="*/ 13 w 17"/>
                <a:gd name="T1" fmla="*/ 0 h 20"/>
                <a:gd name="T2" fmla="*/ 12 w 17"/>
                <a:gd name="T3" fmla="*/ 2 h 20"/>
                <a:gd name="T4" fmla="*/ 10 w 17"/>
                <a:gd name="T5" fmla="*/ 5 h 20"/>
                <a:gd name="T6" fmla="*/ 8 w 17"/>
                <a:gd name="T7" fmla="*/ 7 h 20"/>
                <a:gd name="T8" fmla="*/ 7 w 17"/>
                <a:gd name="T9" fmla="*/ 8 h 20"/>
                <a:gd name="T10" fmla="*/ 5 w 17"/>
                <a:gd name="T11" fmla="*/ 10 h 20"/>
                <a:gd name="T12" fmla="*/ 4 w 17"/>
                <a:gd name="T13" fmla="*/ 13 h 20"/>
                <a:gd name="T14" fmla="*/ 2 w 17"/>
                <a:gd name="T15" fmla="*/ 15 h 20"/>
                <a:gd name="T16" fmla="*/ 0 w 17"/>
                <a:gd name="T17" fmla="*/ 16 h 20"/>
                <a:gd name="T18" fmla="*/ 4 w 17"/>
                <a:gd name="T19" fmla="*/ 20 h 20"/>
                <a:gd name="T20" fmla="*/ 5 w 17"/>
                <a:gd name="T21" fmla="*/ 16 h 20"/>
                <a:gd name="T22" fmla="*/ 7 w 17"/>
                <a:gd name="T23" fmla="*/ 15 h 20"/>
                <a:gd name="T24" fmla="*/ 8 w 17"/>
                <a:gd name="T25" fmla="*/ 13 h 20"/>
                <a:gd name="T26" fmla="*/ 10 w 17"/>
                <a:gd name="T27" fmla="*/ 12 h 20"/>
                <a:gd name="T28" fmla="*/ 12 w 17"/>
                <a:gd name="T29" fmla="*/ 10 h 20"/>
                <a:gd name="T30" fmla="*/ 13 w 17"/>
                <a:gd name="T31" fmla="*/ 8 h 20"/>
                <a:gd name="T32" fmla="*/ 15 w 17"/>
                <a:gd name="T33" fmla="*/ 5 h 20"/>
                <a:gd name="T34" fmla="*/ 17 w 17"/>
                <a:gd name="T35" fmla="*/ 3 h 20"/>
                <a:gd name="T36" fmla="*/ 13 w 17"/>
                <a:gd name="T37" fmla="*/ 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 h="20">
                  <a:moveTo>
                    <a:pt x="13" y="0"/>
                  </a:moveTo>
                  <a:lnTo>
                    <a:pt x="12" y="2"/>
                  </a:lnTo>
                  <a:lnTo>
                    <a:pt x="10" y="5"/>
                  </a:lnTo>
                  <a:lnTo>
                    <a:pt x="8" y="7"/>
                  </a:lnTo>
                  <a:lnTo>
                    <a:pt x="7" y="8"/>
                  </a:lnTo>
                  <a:lnTo>
                    <a:pt x="5" y="10"/>
                  </a:lnTo>
                  <a:lnTo>
                    <a:pt x="4" y="13"/>
                  </a:lnTo>
                  <a:lnTo>
                    <a:pt x="2" y="15"/>
                  </a:lnTo>
                  <a:lnTo>
                    <a:pt x="0" y="16"/>
                  </a:lnTo>
                  <a:lnTo>
                    <a:pt x="4" y="20"/>
                  </a:lnTo>
                  <a:lnTo>
                    <a:pt x="5" y="16"/>
                  </a:lnTo>
                  <a:lnTo>
                    <a:pt x="7" y="15"/>
                  </a:lnTo>
                  <a:lnTo>
                    <a:pt x="8" y="13"/>
                  </a:lnTo>
                  <a:lnTo>
                    <a:pt x="10" y="12"/>
                  </a:lnTo>
                  <a:lnTo>
                    <a:pt x="12" y="10"/>
                  </a:lnTo>
                  <a:lnTo>
                    <a:pt x="13" y="8"/>
                  </a:lnTo>
                  <a:lnTo>
                    <a:pt x="15" y="5"/>
                  </a:lnTo>
                  <a:lnTo>
                    <a:pt x="17" y="3"/>
                  </a:lnTo>
                  <a:lnTo>
                    <a:pt x="13"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77" name="Freeform 721">
              <a:extLst>
                <a:ext uri="{FF2B5EF4-FFF2-40B4-BE49-F238E27FC236}">
                  <a16:creationId xmlns:a16="http://schemas.microsoft.com/office/drawing/2014/main" id="{BACC88F9-C8F3-1669-0F22-1AB6D7952F14}"/>
                </a:ext>
              </a:extLst>
            </p:cNvPr>
            <p:cNvSpPr>
              <a:spLocks/>
            </p:cNvSpPr>
            <p:nvPr/>
          </p:nvSpPr>
          <p:spPr bwMode="auto">
            <a:xfrm>
              <a:off x="1767" y="1554"/>
              <a:ext cx="16" cy="19"/>
            </a:xfrm>
            <a:custGeom>
              <a:avLst/>
              <a:gdLst>
                <a:gd name="T0" fmla="*/ 13 w 16"/>
                <a:gd name="T1" fmla="*/ 0 h 19"/>
                <a:gd name="T2" fmla="*/ 11 w 16"/>
                <a:gd name="T3" fmla="*/ 1 h 19"/>
                <a:gd name="T4" fmla="*/ 10 w 16"/>
                <a:gd name="T5" fmla="*/ 5 h 19"/>
                <a:gd name="T6" fmla="*/ 8 w 16"/>
                <a:gd name="T7" fmla="*/ 6 h 19"/>
                <a:gd name="T8" fmla="*/ 6 w 16"/>
                <a:gd name="T9" fmla="*/ 8 h 19"/>
                <a:gd name="T10" fmla="*/ 5 w 16"/>
                <a:gd name="T11" fmla="*/ 10 h 19"/>
                <a:gd name="T12" fmla="*/ 3 w 16"/>
                <a:gd name="T13" fmla="*/ 11 h 19"/>
                <a:gd name="T14" fmla="*/ 2 w 16"/>
                <a:gd name="T15" fmla="*/ 14 h 19"/>
                <a:gd name="T16" fmla="*/ 0 w 16"/>
                <a:gd name="T17" fmla="*/ 16 h 19"/>
                <a:gd name="T18" fmla="*/ 5 w 16"/>
                <a:gd name="T19" fmla="*/ 19 h 19"/>
                <a:gd name="T20" fmla="*/ 5 w 16"/>
                <a:gd name="T21" fmla="*/ 16 h 19"/>
                <a:gd name="T22" fmla="*/ 6 w 16"/>
                <a:gd name="T23" fmla="*/ 14 h 19"/>
                <a:gd name="T24" fmla="*/ 8 w 16"/>
                <a:gd name="T25" fmla="*/ 13 h 19"/>
                <a:gd name="T26" fmla="*/ 10 w 16"/>
                <a:gd name="T27" fmla="*/ 11 h 19"/>
                <a:gd name="T28" fmla="*/ 11 w 16"/>
                <a:gd name="T29" fmla="*/ 10 h 19"/>
                <a:gd name="T30" fmla="*/ 13 w 16"/>
                <a:gd name="T31" fmla="*/ 8 h 19"/>
                <a:gd name="T32" fmla="*/ 15 w 16"/>
                <a:gd name="T33" fmla="*/ 5 h 19"/>
                <a:gd name="T34" fmla="*/ 16 w 16"/>
                <a:gd name="T35" fmla="*/ 3 h 19"/>
                <a:gd name="T36" fmla="*/ 13 w 16"/>
                <a:gd name="T37" fmla="*/ 0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6" h="19">
                  <a:moveTo>
                    <a:pt x="13" y="0"/>
                  </a:moveTo>
                  <a:lnTo>
                    <a:pt x="11" y="1"/>
                  </a:lnTo>
                  <a:lnTo>
                    <a:pt x="10" y="5"/>
                  </a:lnTo>
                  <a:lnTo>
                    <a:pt x="8" y="6"/>
                  </a:lnTo>
                  <a:lnTo>
                    <a:pt x="6" y="8"/>
                  </a:lnTo>
                  <a:lnTo>
                    <a:pt x="5" y="10"/>
                  </a:lnTo>
                  <a:lnTo>
                    <a:pt x="3" y="11"/>
                  </a:lnTo>
                  <a:lnTo>
                    <a:pt x="2" y="14"/>
                  </a:lnTo>
                  <a:lnTo>
                    <a:pt x="0" y="16"/>
                  </a:lnTo>
                  <a:lnTo>
                    <a:pt x="5" y="19"/>
                  </a:lnTo>
                  <a:lnTo>
                    <a:pt x="5" y="16"/>
                  </a:lnTo>
                  <a:lnTo>
                    <a:pt x="6" y="14"/>
                  </a:lnTo>
                  <a:lnTo>
                    <a:pt x="8" y="13"/>
                  </a:lnTo>
                  <a:lnTo>
                    <a:pt x="10" y="11"/>
                  </a:lnTo>
                  <a:lnTo>
                    <a:pt x="11" y="10"/>
                  </a:lnTo>
                  <a:lnTo>
                    <a:pt x="13" y="8"/>
                  </a:lnTo>
                  <a:lnTo>
                    <a:pt x="15" y="5"/>
                  </a:lnTo>
                  <a:lnTo>
                    <a:pt x="16" y="3"/>
                  </a:lnTo>
                  <a:lnTo>
                    <a:pt x="13"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78" name="Freeform 722">
              <a:extLst>
                <a:ext uri="{FF2B5EF4-FFF2-40B4-BE49-F238E27FC236}">
                  <a16:creationId xmlns:a16="http://schemas.microsoft.com/office/drawing/2014/main" id="{59F481FE-513E-C9C9-B94D-1C6444DC237C}"/>
                </a:ext>
              </a:extLst>
            </p:cNvPr>
            <p:cNvSpPr>
              <a:spLocks/>
            </p:cNvSpPr>
            <p:nvPr/>
          </p:nvSpPr>
          <p:spPr bwMode="auto">
            <a:xfrm>
              <a:off x="1769" y="1555"/>
              <a:ext cx="16" cy="18"/>
            </a:xfrm>
            <a:custGeom>
              <a:avLst/>
              <a:gdLst>
                <a:gd name="T0" fmla="*/ 13 w 16"/>
                <a:gd name="T1" fmla="*/ 0 h 18"/>
                <a:gd name="T2" fmla="*/ 11 w 16"/>
                <a:gd name="T3" fmla="*/ 2 h 18"/>
                <a:gd name="T4" fmla="*/ 9 w 16"/>
                <a:gd name="T5" fmla="*/ 5 h 18"/>
                <a:gd name="T6" fmla="*/ 8 w 16"/>
                <a:gd name="T7" fmla="*/ 7 h 18"/>
                <a:gd name="T8" fmla="*/ 6 w 16"/>
                <a:gd name="T9" fmla="*/ 9 h 18"/>
                <a:gd name="T10" fmla="*/ 4 w 16"/>
                <a:gd name="T11" fmla="*/ 10 h 18"/>
                <a:gd name="T12" fmla="*/ 3 w 16"/>
                <a:gd name="T13" fmla="*/ 12 h 18"/>
                <a:gd name="T14" fmla="*/ 1 w 16"/>
                <a:gd name="T15" fmla="*/ 13 h 18"/>
                <a:gd name="T16" fmla="*/ 0 w 16"/>
                <a:gd name="T17" fmla="*/ 17 h 18"/>
                <a:gd name="T18" fmla="*/ 4 w 16"/>
                <a:gd name="T19" fmla="*/ 18 h 18"/>
                <a:gd name="T20" fmla="*/ 6 w 16"/>
                <a:gd name="T21" fmla="*/ 17 h 18"/>
                <a:gd name="T22" fmla="*/ 6 w 16"/>
                <a:gd name="T23" fmla="*/ 15 h 18"/>
                <a:gd name="T24" fmla="*/ 8 w 16"/>
                <a:gd name="T25" fmla="*/ 13 h 18"/>
                <a:gd name="T26" fmla="*/ 9 w 16"/>
                <a:gd name="T27" fmla="*/ 12 h 18"/>
                <a:gd name="T28" fmla="*/ 11 w 16"/>
                <a:gd name="T29" fmla="*/ 10 h 18"/>
                <a:gd name="T30" fmla="*/ 13 w 16"/>
                <a:gd name="T31" fmla="*/ 7 h 18"/>
                <a:gd name="T32" fmla="*/ 14 w 16"/>
                <a:gd name="T33" fmla="*/ 5 h 18"/>
                <a:gd name="T34" fmla="*/ 16 w 16"/>
                <a:gd name="T35" fmla="*/ 4 h 18"/>
                <a:gd name="T36" fmla="*/ 13 w 16"/>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6" h="18">
                  <a:moveTo>
                    <a:pt x="13" y="0"/>
                  </a:moveTo>
                  <a:lnTo>
                    <a:pt x="11" y="2"/>
                  </a:lnTo>
                  <a:lnTo>
                    <a:pt x="9" y="5"/>
                  </a:lnTo>
                  <a:lnTo>
                    <a:pt x="8" y="7"/>
                  </a:lnTo>
                  <a:lnTo>
                    <a:pt x="6" y="9"/>
                  </a:lnTo>
                  <a:lnTo>
                    <a:pt x="4" y="10"/>
                  </a:lnTo>
                  <a:lnTo>
                    <a:pt x="3" y="12"/>
                  </a:lnTo>
                  <a:lnTo>
                    <a:pt x="1" y="13"/>
                  </a:lnTo>
                  <a:lnTo>
                    <a:pt x="0" y="17"/>
                  </a:lnTo>
                  <a:lnTo>
                    <a:pt x="4" y="18"/>
                  </a:lnTo>
                  <a:lnTo>
                    <a:pt x="6" y="17"/>
                  </a:lnTo>
                  <a:lnTo>
                    <a:pt x="6" y="15"/>
                  </a:lnTo>
                  <a:lnTo>
                    <a:pt x="8" y="13"/>
                  </a:lnTo>
                  <a:lnTo>
                    <a:pt x="9" y="12"/>
                  </a:lnTo>
                  <a:lnTo>
                    <a:pt x="11" y="10"/>
                  </a:lnTo>
                  <a:lnTo>
                    <a:pt x="13" y="7"/>
                  </a:lnTo>
                  <a:lnTo>
                    <a:pt x="14" y="5"/>
                  </a:lnTo>
                  <a:lnTo>
                    <a:pt x="16" y="4"/>
                  </a:lnTo>
                  <a:lnTo>
                    <a:pt x="13"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79" name="Freeform 723">
              <a:extLst>
                <a:ext uri="{FF2B5EF4-FFF2-40B4-BE49-F238E27FC236}">
                  <a16:creationId xmlns:a16="http://schemas.microsoft.com/office/drawing/2014/main" id="{F7F8F12B-0F70-FE1F-391D-37FECB3C3228}"/>
                </a:ext>
              </a:extLst>
            </p:cNvPr>
            <p:cNvSpPr>
              <a:spLocks/>
            </p:cNvSpPr>
            <p:nvPr/>
          </p:nvSpPr>
          <p:spPr bwMode="auto">
            <a:xfrm>
              <a:off x="1772" y="1557"/>
              <a:ext cx="15" cy="18"/>
            </a:xfrm>
            <a:custGeom>
              <a:avLst/>
              <a:gdLst>
                <a:gd name="T0" fmla="*/ 11 w 15"/>
                <a:gd name="T1" fmla="*/ 0 h 18"/>
                <a:gd name="T2" fmla="*/ 10 w 15"/>
                <a:gd name="T3" fmla="*/ 2 h 18"/>
                <a:gd name="T4" fmla="*/ 8 w 15"/>
                <a:gd name="T5" fmla="*/ 5 h 18"/>
                <a:gd name="T6" fmla="*/ 6 w 15"/>
                <a:gd name="T7" fmla="*/ 7 h 18"/>
                <a:gd name="T8" fmla="*/ 5 w 15"/>
                <a:gd name="T9" fmla="*/ 8 h 18"/>
                <a:gd name="T10" fmla="*/ 3 w 15"/>
                <a:gd name="T11" fmla="*/ 10 h 18"/>
                <a:gd name="T12" fmla="*/ 1 w 15"/>
                <a:gd name="T13" fmla="*/ 11 h 18"/>
                <a:gd name="T14" fmla="*/ 0 w 15"/>
                <a:gd name="T15" fmla="*/ 13 h 18"/>
                <a:gd name="T16" fmla="*/ 0 w 15"/>
                <a:gd name="T17" fmla="*/ 16 h 18"/>
                <a:gd name="T18" fmla="*/ 3 w 15"/>
                <a:gd name="T19" fmla="*/ 18 h 18"/>
                <a:gd name="T20" fmla="*/ 5 w 15"/>
                <a:gd name="T21" fmla="*/ 16 h 18"/>
                <a:gd name="T22" fmla="*/ 6 w 15"/>
                <a:gd name="T23" fmla="*/ 15 h 18"/>
                <a:gd name="T24" fmla="*/ 6 w 15"/>
                <a:gd name="T25" fmla="*/ 13 h 18"/>
                <a:gd name="T26" fmla="*/ 8 w 15"/>
                <a:gd name="T27" fmla="*/ 11 h 18"/>
                <a:gd name="T28" fmla="*/ 10 w 15"/>
                <a:gd name="T29" fmla="*/ 8 h 18"/>
                <a:gd name="T30" fmla="*/ 11 w 15"/>
                <a:gd name="T31" fmla="*/ 7 h 18"/>
                <a:gd name="T32" fmla="*/ 13 w 15"/>
                <a:gd name="T33" fmla="*/ 5 h 18"/>
                <a:gd name="T34" fmla="*/ 15 w 15"/>
                <a:gd name="T35" fmla="*/ 3 h 18"/>
                <a:gd name="T36" fmla="*/ 11 w 15"/>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8">
                  <a:moveTo>
                    <a:pt x="11" y="0"/>
                  </a:moveTo>
                  <a:lnTo>
                    <a:pt x="10" y="2"/>
                  </a:lnTo>
                  <a:lnTo>
                    <a:pt x="8" y="5"/>
                  </a:lnTo>
                  <a:lnTo>
                    <a:pt x="6" y="7"/>
                  </a:lnTo>
                  <a:lnTo>
                    <a:pt x="5" y="8"/>
                  </a:lnTo>
                  <a:lnTo>
                    <a:pt x="3" y="10"/>
                  </a:lnTo>
                  <a:lnTo>
                    <a:pt x="1" y="11"/>
                  </a:lnTo>
                  <a:lnTo>
                    <a:pt x="0" y="13"/>
                  </a:lnTo>
                  <a:lnTo>
                    <a:pt x="0" y="16"/>
                  </a:lnTo>
                  <a:lnTo>
                    <a:pt x="3" y="18"/>
                  </a:lnTo>
                  <a:lnTo>
                    <a:pt x="5" y="16"/>
                  </a:lnTo>
                  <a:lnTo>
                    <a:pt x="6" y="15"/>
                  </a:lnTo>
                  <a:lnTo>
                    <a:pt x="6" y="13"/>
                  </a:lnTo>
                  <a:lnTo>
                    <a:pt x="8" y="11"/>
                  </a:lnTo>
                  <a:lnTo>
                    <a:pt x="10" y="8"/>
                  </a:lnTo>
                  <a:lnTo>
                    <a:pt x="11" y="7"/>
                  </a:lnTo>
                  <a:lnTo>
                    <a:pt x="13" y="5"/>
                  </a:lnTo>
                  <a:lnTo>
                    <a:pt x="15" y="3"/>
                  </a:lnTo>
                  <a:lnTo>
                    <a:pt x="11"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80" name="Freeform 724">
              <a:extLst>
                <a:ext uri="{FF2B5EF4-FFF2-40B4-BE49-F238E27FC236}">
                  <a16:creationId xmlns:a16="http://schemas.microsoft.com/office/drawing/2014/main" id="{B6AB24C2-56C2-FF80-1AB0-AF8F49DF5F59}"/>
                </a:ext>
              </a:extLst>
            </p:cNvPr>
            <p:cNvSpPr>
              <a:spLocks/>
            </p:cNvSpPr>
            <p:nvPr/>
          </p:nvSpPr>
          <p:spPr bwMode="auto">
            <a:xfrm>
              <a:off x="1773" y="1559"/>
              <a:ext cx="15" cy="18"/>
            </a:xfrm>
            <a:custGeom>
              <a:avLst/>
              <a:gdLst>
                <a:gd name="T0" fmla="*/ 12 w 15"/>
                <a:gd name="T1" fmla="*/ 0 h 18"/>
                <a:gd name="T2" fmla="*/ 10 w 15"/>
                <a:gd name="T3" fmla="*/ 1 h 18"/>
                <a:gd name="T4" fmla="*/ 9 w 15"/>
                <a:gd name="T5" fmla="*/ 3 h 18"/>
                <a:gd name="T6" fmla="*/ 7 w 15"/>
                <a:gd name="T7" fmla="*/ 6 h 18"/>
                <a:gd name="T8" fmla="*/ 5 w 15"/>
                <a:gd name="T9" fmla="*/ 8 h 18"/>
                <a:gd name="T10" fmla="*/ 4 w 15"/>
                <a:gd name="T11" fmla="*/ 9 h 18"/>
                <a:gd name="T12" fmla="*/ 2 w 15"/>
                <a:gd name="T13" fmla="*/ 11 h 18"/>
                <a:gd name="T14" fmla="*/ 2 w 15"/>
                <a:gd name="T15" fmla="*/ 13 h 18"/>
                <a:gd name="T16" fmla="*/ 0 w 15"/>
                <a:gd name="T17" fmla="*/ 14 h 18"/>
                <a:gd name="T18" fmla="*/ 4 w 15"/>
                <a:gd name="T19" fmla="*/ 18 h 18"/>
                <a:gd name="T20" fmla="*/ 5 w 15"/>
                <a:gd name="T21" fmla="*/ 16 h 18"/>
                <a:gd name="T22" fmla="*/ 7 w 15"/>
                <a:gd name="T23" fmla="*/ 14 h 18"/>
                <a:gd name="T24" fmla="*/ 9 w 15"/>
                <a:gd name="T25" fmla="*/ 11 h 18"/>
                <a:gd name="T26" fmla="*/ 9 w 15"/>
                <a:gd name="T27" fmla="*/ 9 h 18"/>
                <a:gd name="T28" fmla="*/ 10 w 15"/>
                <a:gd name="T29" fmla="*/ 8 h 18"/>
                <a:gd name="T30" fmla="*/ 12 w 15"/>
                <a:gd name="T31" fmla="*/ 6 h 18"/>
                <a:gd name="T32" fmla="*/ 14 w 15"/>
                <a:gd name="T33" fmla="*/ 5 h 18"/>
                <a:gd name="T34" fmla="*/ 15 w 15"/>
                <a:gd name="T35" fmla="*/ 3 h 18"/>
                <a:gd name="T36" fmla="*/ 12 w 15"/>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8">
                  <a:moveTo>
                    <a:pt x="12" y="0"/>
                  </a:moveTo>
                  <a:lnTo>
                    <a:pt x="10" y="1"/>
                  </a:lnTo>
                  <a:lnTo>
                    <a:pt x="9" y="3"/>
                  </a:lnTo>
                  <a:lnTo>
                    <a:pt x="7" y="6"/>
                  </a:lnTo>
                  <a:lnTo>
                    <a:pt x="5" y="8"/>
                  </a:lnTo>
                  <a:lnTo>
                    <a:pt x="4" y="9"/>
                  </a:lnTo>
                  <a:lnTo>
                    <a:pt x="2" y="11"/>
                  </a:lnTo>
                  <a:lnTo>
                    <a:pt x="2" y="13"/>
                  </a:lnTo>
                  <a:lnTo>
                    <a:pt x="0" y="14"/>
                  </a:lnTo>
                  <a:lnTo>
                    <a:pt x="4" y="18"/>
                  </a:lnTo>
                  <a:lnTo>
                    <a:pt x="5" y="16"/>
                  </a:lnTo>
                  <a:lnTo>
                    <a:pt x="7" y="14"/>
                  </a:lnTo>
                  <a:lnTo>
                    <a:pt x="9" y="11"/>
                  </a:lnTo>
                  <a:lnTo>
                    <a:pt x="9" y="9"/>
                  </a:lnTo>
                  <a:lnTo>
                    <a:pt x="10" y="8"/>
                  </a:lnTo>
                  <a:lnTo>
                    <a:pt x="12" y="6"/>
                  </a:lnTo>
                  <a:lnTo>
                    <a:pt x="14" y="5"/>
                  </a:lnTo>
                  <a:lnTo>
                    <a:pt x="15" y="3"/>
                  </a:lnTo>
                  <a:lnTo>
                    <a:pt x="12"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81" name="Freeform 725">
              <a:extLst>
                <a:ext uri="{FF2B5EF4-FFF2-40B4-BE49-F238E27FC236}">
                  <a16:creationId xmlns:a16="http://schemas.microsoft.com/office/drawing/2014/main" id="{62A62D52-0C30-81A5-1C4A-7D824F6639E9}"/>
                </a:ext>
              </a:extLst>
            </p:cNvPr>
            <p:cNvSpPr>
              <a:spLocks/>
            </p:cNvSpPr>
            <p:nvPr/>
          </p:nvSpPr>
          <p:spPr bwMode="auto">
            <a:xfrm>
              <a:off x="1775" y="1560"/>
              <a:ext cx="15" cy="18"/>
            </a:xfrm>
            <a:custGeom>
              <a:avLst/>
              <a:gdLst>
                <a:gd name="T0" fmla="*/ 12 w 15"/>
                <a:gd name="T1" fmla="*/ 0 h 18"/>
                <a:gd name="T2" fmla="*/ 10 w 15"/>
                <a:gd name="T3" fmla="*/ 2 h 18"/>
                <a:gd name="T4" fmla="*/ 8 w 15"/>
                <a:gd name="T5" fmla="*/ 4 h 18"/>
                <a:gd name="T6" fmla="*/ 7 w 15"/>
                <a:gd name="T7" fmla="*/ 5 h 18"/>
                <a:gd name="T8" fmla="*/ 5 w 15"/>
                <a:gd name="T9" fmla="*/ 8 h 18"/>
                <a:gd name="T10" fmla="*/ 3 w 15"/>
                <a:gd name="T11" fmla="*/ 10 h 18"/>
                <a:gd name="T12" fmla="*/ 3 w 15"/>
                <a:gd name="T13" fmla="*/ 12 h 18"/>
                <a:gd name="T14" fmla="*/ 2 w 15"/>
                <a:gd name="T15" fmla="*/ 13 h 18"/>
                <a:gd name="T16" fmla="*/ 0 w 15"/>
                <a:gd name="T17" fmla="*/ 15 h 18"/>
                <a:gd name="T18" fmla="*/ 3 w 15"/>
                <a:gd name="T19" fmla="*/ 18 h 18"/>
                <a:gd name="T20" fmla="*/ 5 w 15"/>
                <a:gd name="T21" fmla="*/ 15 h 18"/>
                <a:gd name="T22" fmla="*/ 7 w 15"/>
                <a:gd name="T23" fmla="*/ 13 h 18"/>
                <a:gd name="T24" fmla="*/ 8 w 15"/>
                <a:gd name="T25" fmla="*/ 12 h 18"/>
                <a:gd name="T26" fmla="*/ 8 w 15"/>
                <a:gd name="T27" fmla="*/ 10 h 18"/>
                <a:gd name="T28" fmla="*/ 10 w 15"/>
                <a:gd name="T29" fmla="*/ 8 h 18"/>
                <a:gd name="T30" fmla="*/ 12 w 15"/>
                <a:gd name="T31" fmla="*/ 7 h 18"/>
                <a:gd name="T32" fmla="*/ 13 w 15"/>
                <a:gd name="T33" fmla="*/ 5 h 18"/>
                <a:gd name="T34" fmla="*/ 15 w 15"/>
                <a:gd name="T35" fmla="*/ 4 h 18"/>
                <a:gd name="T36" fmla="*/ 12 w 15"/>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8">
                  <a:moveTo>
                    <a:pt x="12" y="0"/>
                  </a:moveTo>
                  <a:lnTo>
                    <a:pt x="10" y="2"/>
                  </a:lnTo>
                  <a:lnTo>
                    <a:pt x="8" y="4"/>
                  </a:lnTo>
                  <a:lnTo>
                    <a:pt x="7" y="5"/>
                  </a:lnTo>
                  <a:lnTo>
                    <a:pt x="5" y="8"/>
                  </a:lnTo>
                  <a:lnTo>
                    <a:pt x="3" y="10"/>
                  </a:lnTo>
                  <a:lnTo>
                    <a:pt x="3" y="12"/>
                  </a:lnTo>
                  <a:lnTo>
                    <a:pt x="2" y="13"/>
                  </a:lnTo>
                  <a:lnTo>
                    <a:pt x="0" y="15"/>
                  </a:lnTo>
                  <a:lnTo>
                    <a:pt x="3" y="18"/>
                  </a:lnTo>
                  <a:lnTo>
                    <a:pt x="5" y="15"/>
                  </a:lnTo>
                  <a:lnTo>
                    <a:pt x="7" y="13"/>
                  </a:lnTo>
                  <a:lnTo>
                    <a:pt x="8" y="12"/>
                  </a:lnTo>
                  <a:lnTo>
                    <a:pt x="8" y="10"/>
                  </a:lnTo>
                  <a:lnTo>
                    <a:pt x="10" y="8"/>
                  </a:lnTo>
                  <a:lnTo>
                    <a:pt x="12" y="7"/>
                  </a:lnTo>
                  <a:lnTo>
                    <a:pt x="13" y="5"/>
                  </a:lnTo>
                  <a:lnTo>
                    <a:pt x="15" y="4"/>
                  </a:lnTo>
                  <a:lnTo>
                    <a:pt x="12"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82" name="Freeform 726">
              <a:extLst>
                <a:ext uri="{FF2B5EF4-FFF2-40B4-BE49-F238E27FC236}">
                  <a16:creationId xmlns:a16="http://schemas.microsoft.com/office/drawing/2014/main" id="{41946F22-EB7C-6A4F-8979-320B54ACAF35}"/>
                </a:ext>
              </a:extLst>
            </p:cNvPr>
            <p:cNvSpPr>
              <a:spLocks/>
            </p:cNvSpPr>
            <p:nvPr/>
          </p:nvSpPr>
          <p:spPr bwMode="auto">
            <a:xfrm>
              <a:off x="1777" y="1562"/>
              <a:ext cx="15" cy="16"/>
            </a:xfrm>
            <a:custGeom>
              <a:avLst/>
              <a:gdLst>
                <a:gd name="T0" fmla="*/ 11 w 15"/>
                <a:gd name="T1" fmla="*/ 0 h 16"/>
                <a:gd name="T2" fmla="*/ 10 w 15"/>
                <a:gd name="T3" fmla="*/ 2 h 16"/>
                <a:gd name="T4" fmla="*/ 8 w 15"/>
                <a:gd name="T5" fmla="*/ 3 h 16"/>
                <a:gd name="T6" fmla="*/ 6 w 15"/>
                <a:gd name="T7" fmla="*/ 5 h 16"/>
                <a:gd name="T8" fmla="*/ 5 w 15"/>
                <a:gd name="T9" fmla="*/ 6 h 16"/>
                <a:gd name="T10" fmla="*/ 5 w 15"/>
                <a:gd name="T11" fmla="*/ 8 h 16"/>
                <a:gd name="T12" fmla="*/ 3 w 15"/>
                <a:gd name="T13" fmla="*/ 11 h 16"/>
                <a:gd name="T14" fmla="*/ 1 w 15"/>
                <a:gd name="T15" fmla="*/ 13 h 16"/>
                <a:gd name="T16" fmla="*/ 0 w 15"/>
                <a:gd name="T17" fmla="*/ 15 h 16"/>
                <a:gd name="T18" fmla="*/ 5 w 15"/>
                <a:gd name="T19" fmla="*/ 16 h 16"/>
                <a:gd name="T20" fmla="*/ 5 w 15"/>
                <a:gd name="T21" fmla="*/ 15 h 16"/>
                <a:gd name="T22" fmla="*/ 6 w 15"/>
                <a:gd name="T23" fmla="*/ 13 h 16"/>
                <a:gd name="T24" fmla="*/ 8 w 15"/>
                <a:gd name="T25" fmla="*/ 11 h 16"/>
                <a:gd name="T26" fmla="*/ 10 w 15"/>
                <a:gd name="T27" fmla="*/ 10 h 16"/>
                <a:gd name="T28" fmla="*/ 10 w 15"/>
                <a:gd name="T29" fmla="*/ 8 h 16"/>
                <a:gd name="T30" fmla="*/ 11 w 15"/>
                <a:gd name="T31" fmla="*/ 6 h 16"/>
                <a:gd name="T32" fmla="*/ 13 w 15"/>
                <a:gd name="T33" fmla="*/ 5 h 16"/>
                <a:gd name="T34" fmla="*/ 15 w 15"/>
                <a:gd name="T35" fmla="*/ 3 h 16"/>
                <a:gd name="T36" fmla="*/ 11 w 15"/>
                <a:gd name="T37" fmla="*/ 0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6">
                  <a:moveTo>
                    <a:pt x="11" y="0"/>
                  </a:moveTo>
                  <a:lnTo>
                    <a:pt x="10" y="2"/>
                  </a:lnTo>
                  <a:lnTo>
                    <a:pt x="8" y="3"/>
                  </a:lnTo>
                  <a:lnTo>
                    <a:pt x="6" y="5"/>
                  </a:lnTo>
                  <a:lnTo>
                    <a:pt x="5" y="6"/>
                  </a:lnTo>
                  <a:lnTo>
                    <a:pt x="5" y="8"/>
                  </a:lnTo>
                  <a:lnTo>
                    <a:pt x="3" y="11"/>
                  </a:lnTo>
                  <a:lnTo>
                    <a:pt x="1" y="13"/>
                  </a:lnTo>
                  <a:lnTo>
                    <a:pt x="0" y="15"/>
                  </a:lnTo>
                  <a:lnTo>
                    <a:pt x="5" y="16"/>
                  </a:lnTo>
                  <a:lnTo>
                    <a:pt x="5" y="15"/>
                  </a:lnTo>
                  <a:lnTo>
                    <a:pt x="6" y="13"/>
                  </a:lnTo>
                  <a:lnTo>
                    <a:pt x="8" y="11"/>
                  </a:lnTo>
                  <a:lnTo>
                    <a:pt x="10" y="10"/>
                  </a:lnTo>
                  <a:lnTo>
                    <a:pt x="10" y="8"/>
                  </a:lnTo>
                  <a:lnTo>
                    <a:pt x="11" y="6"/>
                  </a:lnTo>
                  <a:lnTo>
                    <a:pt x="13" y="5"/>
                  </a:lnTo>
                  <a:lnTo>
                    <a:pt x="15" y="3"/>
                  </a:lnTo>
                  <a:lnTo>
                    <a:pt x="11"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83" name="Freeform 727">
              <a:extLst>
                <a:ext uri="{FF2B5EF4-FFF2-40B4-BE49-F238E27FC236}">
                  <a16:creationId xmlns:a16="http://schemas.microsoft.com/office/drawing/2014/main" id="{C9BCE17A-94EE-5136-75FA-68C0B2579F86}"/>
                </a:ext>
              </a:extLst>
            </p:cNvPr>
            <p:cNvSpPr>
              <a:spLocks/>
            </p:cNvSpPr>
            <p:nvPr/>
          </p:nvSpPr>
          <p:spPr bwMode="auto">
            <a:xfrm>
              <a:off x="1778" y="1564"/>
              <a:ext cx="15" cy="16"/>
            </a:xfrm>
            <a:custGeom>
              <a:avLst/>
              <a:gdLst>
                <a:gd name="T0" fmla="*/ 12 w 15"/>
                <a:gd name="T1" fmla="*/ 0 h 16"/>
                <a:gd name="T2" fmla="*/ 10 w 15"/>
                <a:gd name="T3" fmla="*/ 1 h 16"/>
                <a:gd name="T4" fmla="*/ 9 w 15"/>
                <a:gd name="T5" fmla="*/ 3 h 16"/>
                <a:gd name="T6" fmla="*/ 7 w 15"/>
                <a:gd name="T7" fmla="*/ 4 h 16"/>
                <a:gd name="T8" fmla="*/ 5 w 15"/>
                <a:gd name="T9" fmla="*/ 6 h 16"/>
                <a:gd name="T10" fmla="*/ 5 w 15"/>
                <a:gd name="T11" fmla="*/ 8 h 16"/>
                <a:gd name="T12" fmla="*/ 4 w 15"/>
                <a:gd name="T13" fmla="*/ 9 h 16"/>
                <a:gd name="T14" fmla="*/ 2 w 15"/>
                <a:gd name="T15" fmla="*/ 11 h 16"/>
                <a:gd name="T16" fmla="*/ 0 w 15"/>
                <a:gd name="T17" fmla="*/ 14 h 16"/>
                <a:gd name="T18" fmla="*/ 5 w 15"/>
                <a:gd name="T19" fmla="*/ 16 h 16"/>
                <a:gd name="T20" fmla="*/ 7 w 15"/>
                <a:gd name="T21" fmla="*/ 14 h 16"/>
                <a:gd name="T22" fmla="*/ 7 w 15"/>
                <a:gd name="T23" fmla="*/ 13 h 16"/>
                <a:gd name="T24" fmla="*/ 9 w 15"/>
                <a:gd name="T25" fmla="*/ 11 h 16"/>
                <a:gd name="T26" fmla="*/ 10 w 15"/>
                <a:gd name="T27" fmla="*/ 9 h 16"/>
                <a:gd name="T28" fmla="*/ 12 w 15"/>
                <a:gd name="T29" fmla="*/ 8 h 16"/>
                <a:gd name="T30" fmla="*/ 12 w 15"/>
                <a:gd name="T31" fmla="*/ 6 h 16"/>
                <a:gd name="T32" fmla="*/ 14 w 15"/>
                <a:gd name="T33" fmla="*/ 4 h 16"/>
                <a:gd name="T34" fmla="*/ 15 w 15"/>
                <a:gd name="T35" fmla="*/ 4 h 16"/>
                <a:gd name="T36" fmla="*/ 12 w 15"/>
                <a:gd name="T37" fmla="*/ 0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6">
                  <a:moveTo>
                    <a:pt x="12" y="0"/>
                  </a:moveTo>
                  <a:lnTo>
                    <a:pt x="10" y="1"/>
                  </a:lnTo>
                  <a:lnTo>
                    <a:pt x="9" y="3"/>
                  </a:lnTo>
                  <a:lnTo>
                    <a:pt x="7" y="4"/>
                  </a:lnTo>
                  <a:lnTo>
                    <a:pt x="5" y="6"/>
                  </a:lnTo>
                  <a:lnTo>
                    <a:pt x="5" y="8"/>
                  </a:lnTo>
                  <a:lnTo>
                    <a:pt x="4" y="9"/>
                  </a:lnTo>
                  <a:lnTo>
                    <a:pt x="2" y="11"/>
                  </a:lnTo>
                  <a:lnTo>
                    <a:pt x="0" y="14"/>
                  </a:lnTo>
                  <a:lnTo>
                    <a:pt x="5" y="16"/>
                  </a:lnTo>
                  <a:lnTo>
                    <a:pt x="7" y="14"/>
                  </a:lnTo>
                  <a:lnTo>
                    <a:pt x="7" y="13"/>
                  </a:lnTo>
                  <a:lnTo>
                    <a:pt x="9" y="11"/>
                  </a:lnTo>
                  <a:lnTo>
                    <a:pt x="10" y="9"/>
                  </a:lnTo>
                  <a:lnTo>
                    <a:pt x="12" y="8"/>
                  </a:lnTo>
                  <a:lnTo>
                    <a:pt x="12" y="6"/>
                  </a:lnTo>
                  <a:lnTo>
                    <a:pt x="14" y="4"/>
                  </a:lnTo>
                  <a:lnTo>
                    <a:pt x="15" y="4"/>
                  </a:lnTo>
                  <a:lnTo>
                    <a:pt x="12"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84" name="Freeform 728">
              <a:extLst>
                <a:ext uri="{FF2B5EF4-FFF2-40B4-BE49-F238E27FC236}">
                  <a16:creationId xmlns:a16="http://schemas.microsoft.com/office/drawing/2014/main" id="{99522B83-8E4F-1E40-EB17-68372F0DEACB}"/>
                </a:ext>
              </a:extLst>
            </p:cNvPr>
            <p:cNvSpPr>
              <a:spLocks/>
            </p:cNvSpPr>
            <p:nvPr/>
          </p:nvSpPr>
          <p:spPr bwMode="auto">
            <a:xfrm>
              <a:off x="1782" y="1565"/>
              <a:ext cx="13" cy="17"/>
            </a:xfrm>
            <a:custGeom>
              <a:avLst/>
              <a:gdLst>
                <a:gd name="T0" fmla="*/ 10 w 13"/>
                <a:gd name="T1" fmla="*/ 0 h 17"/>
                <a:gd name="T2" fmla="*/ 8 w 13"/>
                <a:gd name="T3" fmla="*/ 2 h 17"/>
                <a:gd name="T4" fmla="*/ 6 w 13"/>
                <a:gd name="T5" fmla="*/ 3 h 17"/>
                <a:gd name="T6" fmla="*/ 5 w 13"/>
                <a:gd name="T7" fmla="*/ 5 h 17"/>
                <a:gd name="T8" fmla="*/ 5 w 13"/>
                <a:gd name="T9" fmla="*/ 7 h 17"/>
                <a:gd name="T10" fmla="*/ 3 w 13"/>
                <a:gd name="T11" fmla="*/ 8 h 17"/>
                <a:gd name="T12" fmla="*/ 1 w 13"/>
                <a:gd name="T13" fmla="*/ 10 h 17"/>
                <a:gd name="T14" fmla="*/ 0 w 13"/>
                <a:gd name="T15" fmla="*/ 12 h 17"/>
                <a:gd name="T16" fmla="*/ 0 w 13"/>
                <a:gd name="T17" fmla="*/ 13 h 17"/>
                <a:gd name="T18" fmla="*/ 3 w 13"/>
                <a:gd name="T19" fmla="*/ 17 h 17"/>
                <a:gd name="T20" fmla="*/ 5 w 13"/>
                <a:gd name="T21" fmla="*/ 15 h 17"/>
                <a:gd name="T22" fmla="*/ 5 w 13"/>
                <a:gd name="T23" fmla="*/ 13 h 17"/>
                <a:gd name="T24" fmla="*/ 6 w 13"/>
                <a:gd name="T25" fmla="*/ 12 h 17"/>
                <a:gd name="T26" fmla="*/ 8 w 13"/>
                <a:gd name="T27" fmla="*/ 10 h 17"/>
                <a:gd name="T28" fmla="*/ 10 w 13"/>
                <a:gd name="T29" fmla="*/ 8 h 17"/>
                <a:gd name="T30" fmla="*/ 10 w 13"/>
                <a:gd name="T31" fmla="*/ 7 h 17"/>
                <a:gd name="T32" fmla="*/ 11 w 13"/>
                <a:gd name="T33" fmla="*/ 5 h 17"/>
                <a:gd name="T34" fmla="*/ 13 w 13"/>
                <a:gd name="T35" fmla="*/ 5 h 17"/>
                <a:gd name="T36" fmla="*/ 10 w 13"/>
                <a:gd name="T37" fmla="*/ 0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3" h="17">
                  <a:moveTo>
                    <a:pt x="10" y="0"/>
                  </a:moveTo>
                  <a:lnTo>
                    <a:pt x="8" y="2"/>
                  </a:lnTo>
                  <a:lnTo>
                    <a:pt x="6" y="3"/>
                  </a:lnTo>
                  <a:lnTo>
                    <a:pt x="5" y="5"/>
                  </a:lnTo>
                  <a:lnTo>
                    <a:pt x="5" y="7"/>
                  </a:lnTo>
                  <a:lnTo>
                    <a:pt x="3" y="8"/>
                  </a:lnTo>
                  <a:lnTo>
                    <a:pt x="1" y="10"/>
                  </a:lnTo>
                  <a:lnTo>
                    <a:pt x="0" y="12"/>
                  </a:lnTo>
                  <a:lnTo>
                    <a:pt x="0" y="13"/>
                  </a:lnTo>
                  <a:lnTo>
                    <a:pt x="3" y="17"/>
                  </a:lnTo>
                  <a:lnTo>
                    <a:pt x="5" y="15"/>
                  </a:lnTo>
                  <a:lnTo>
                    <a:pt x="5" y="13"/>
                  </a:lnTo>
                  <a:lnTo>
                    <a:pt x="6" y="12"/>
                  </a:lnTo>
                  <a:lnTo>
                    <a:pt x="8" y="10"/>
                  </a:lnTo>
                  <a:lnTo>
                    <a:pt x="10" y="8"/>
                  </a:lnTo>
                  <a:lnTo>
                    <a:pt x="10" y="7"/>
                  </a:lnTo>
                  <a:lnTo>
                    <a:pt x="11" y="5"/>
                  </a:lnTo>
                  <a:lnTo>
                    <a:pt x="13" y="5"/>
                  </a:lnTo>
                  <a:lnTo>
                    <a:pt x="10"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85" name="Freeform 729">
              <a:extLst>
                <a:ext uri="{FF2B5EF4-FFF2-40B4-BE49-F238E27FC236}">
                  <a16:creationId xmlns:a16="http://schemas.microsoft.com/office/drawing/2014/main" id="{77A4B1AA-89C1-FC02-B91C-99FE18AFABF6}"/>
                </a:ext>
              </a:extLst>
            </p:cNvPr>
            <p:cNvSpPr>
              <a:spLocks/>
            </p:cNvSpPr>
            <p:nvPr/>
          </p:nvSpPr>
          <p:spPr bwMode="auto">
            <a:xfrm>
              <a:off x="1783" y="1568"/>
              <a:ext cx="14" cy="15"/>
            </a:xfrm>
            <a:custGeom>
              <a:avLst/>
              <a:gdLst>
                <a:gd name="T0" fmla="*/ 10 w 14"/>
                <a:gd name="T1" fmla="*/ 0 h 15"/>
                <a:gd name="T2" fmla="*/ 9 w 14"/>
                <a:gd name="T3" fmla="*/ 0 h 15"/>
                <a:gd name="T4" fmla="*/ 7 w 14"/>
                <a:gd name="T5" fmla="*/ 2 h 15"/>
                <a:gd name="T6" fmla="*/ 7 w 14"/>
                <a:gd name="T7" fmla="*/ 4 h 15"/>
                <a:gd name="T8" fmla="*/ 5 w 14"/>
                <a:gd name="T9" fmla="*/ 5 h 15"/>
                <a:gd name="T10" fmla="*/ 4 w 14"/>
                <a:gd name="T11" fmla="*/ 7 h 15"/>
                <a:gd name="T12" fmla="*/ 2 w 14"/>
                <a:gd name="T13" fmla="*/ 9 h 15"/>
                <a:gd name="T14" fmla="*/ 2 w 14"/>
                <a:gd name="T15" fmla="*/ 10 h 15"/>
                <a:gd name="T16" fmla="*/ 0 w 14"/>
                <a:gd name="T17" fmla="*/ 12 h 15"/>
                <a:gd name="T18" fmla="*/ 4 w 14"/>
                <a:gd name="T19" fmla="*/ 15 h 15"/>
                <a:gd name="T20" fmla="*/ 5 w 14"/>
                <a:gd name="T21" fmla="*/ 14 h 15"/>
                <a:gd name="T22" fmla="*/ 7 w 14"/>
                <a:gd name="T23" fmla="*/ 12 h 15"/>
                <a:gd name="T24" fmla="*/ 7 w 14"/>
                <a:gd name="T25" fmla="*/ 10 h 15"/>
                <a:gd name="T26" fmla="*/ 9 w 14"/>
                <a:gd name="T27" fmla="*/ 9 h 15"/>
                <a:gd name="T28" fmla="*/ 10 w 14"/>
                <a:gd name="T29" fmla="*/ 7 h 15"/>
                <a:gd name="T30" fmla="*/ 12 w 14"/>
                <a:gd name="T31" fmla="*/ 5 h 15"/>
                <a:gd name="T32" fmla="*/ 12 w 14"/>
                <a:gd name="T33" fmla="*/ 4 h 15"/>
                <a:gd name="T34" fmla="*/ 14 w 14"/>
                <a:gd name="T35" fmla="*/ 4 h 15"/>
                <a:gd name="T36" fmla="*/ 10 w 14"/>
                <a:gd name="T37" fmla="*/ 0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4" h="15">
                  <a:moveTo>
                    <a:pt x="10" y="0"/>
                  </a:moveTo>
                  <a:lnTo>
                    <a:pt x="9" y="0"/>
                  </a:lnTo>
                  <a:lnTo>
                    <a:pt x="7" y="2"/>
                  </a:lnTo>
                  <a:lnTo>
                    <a:pt x="7" y="4"/>
                  </a:lnTo>
                  <a:lnTo>
                    <a:pt x="5" y="5"/>
                  </a:lnTo>
                  <a:lnTo>
                    <a:pt x="4" y="7"/>
                  </a:lnTo>
                  <a:lnTo>
                    <a:pt x="2" y="9"/>
                  </a:lnTo>
                  <a:lnTo>
                    <a:pt x="2" y="10"/>
                  </a:lnTo>
                  <a:lnTo>
                    <a:pt x="0" y="12"/>
                  </a:lnTo>
                  <a:lnTo>
                    <a:pt x="4" y="15"/>
                  </a:lnTo>
                  <a:lnTo>
                    <a:pt x="5" y="14"/>
                  </a:lnTo>
                  <a:lnTo>
                    <a:pt x="7" y="12"/>
                  </a:lnTo>
                  <a:lnTo>
                    <a:pt x="7" y="10"/>
                  </a:lnTo>
                  <a:lnTo>
                    <a:pt x="9" y="9"/>
                  </a:lnTo>
                  <a:lnTo>
                    <a:pt x="10" y="7"/>
                  </a:lnTo>
                  <a:lnTo>
                    <a:pt x="12" y="5"/>
                  </a:lnTo>
                  <a:lnTo>
                    <a:pt x="12" y="4"/>
                  </a:lnTo>
                  <a:lnTo>
                    <a:pt x="14" y="4"/>
                  </a:lnTo>
                  <a:lnTo>
                    <a:pt x="10"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86" name="Freeform 730">
              <a:extLst>
                <a:ext uri="{FF2B5EF4-FFF2-40B4-BE49-F238E27FC236}">
                  <a16:creationId xmlns:a16="http://schemas.microsoft.com/office/drawing/2014/main" id="{E6A63269-AE6C-A4FE-D1D2-87024ABEDBA7}"/>
                </a:ext>
              </a:extLst>
            </p:cNvPr>
            <p:cNvSpPr>
              <a:spLocks/>
            </p:cNvSpPr>
            <p:nvPr/>
          </p:nvSpPr>
          <p:spPr bwMode="auto">
            <a:xfrm>
              <a:off x="1785" y="1570"/>
              <a:ext cx="13" cy="13"/>
            </a:xfrm>
            <a:custGeom>
              <a:avLst/>
              <a:gdLst>
                <a:gd name="T0" fmla="*/ 10 w 13"/>
                <a:gd name="T1" fmla="*/ 0 h 13"/>
                <a:gd name="T2" fmla="*/ 8 w 13"/>
                <a:gd name="T3" fmla="*/ 0 h 13"/>
                <a:gd name="T4" fmla="*/ 7 w 13"/>
                <a:gd name="T5" fmla="*/ 2 h 13"/>
                <a:gd name="T6" fmla="*/ 7 w 13"/>
                <a:gd name="T7" fmla="*/ 3 h 13"/>
                <a:gd name="T8" fmla="*/ 5 w 13"/>
                <a:gd name="T9" fmla="*/ 5 h 13"/>
                <a:gd name="T10" fmla="*/ 3 w 13"/>
                <a:gd name="T11" fmla="*/ 7 h 13"/>
                <a:gd name="T12" fmla="*/ 2 w 13"/>
                <a:gd name="T13" fmla="*/ 8 h 13"/>
                <a:gd name="T14" fmla="*/ 2 w 13"/>
                <a:gd name="T15" fmla="*/ 10 h 13"/>
                <a:gd name="T16" fmla="*/ 0 w 13"/>
                <a:gd name="T17" fmla="*/ 12 h 13"/>
                <a:gd name="T18" fmla="*/ 5 w 13"/>
                <a:gd name="T19" fmla="*/ 13 h 13"/>
                <a:gd name="T20" fmla="*/ 5 w 13"/>
                <a:gd name="T21" fmla="*/ 12 h 13"/>
                <a:gd name="T22" fmla="*/ 7 w 13"/>
                <a:gd name="T23" fmla="*/ 10 h 13"/>
                <a:gd name="T24" fmla="*/ 8 w 13"/>
                <a:gd name="T25" fmla="*/ 8 h 13"/>
                <a:gd name="T26" fmla="*/ 10 w 13"/>
                <a:gd name="T27" fmla="*/ 7 h 13"/>
                <a:gd name="T28" fmla="*/ 12 w 13"/>
                <a:gd name="T29" fmla="*/ 5 h 13"/>
                <a:gd name="T30" fmla="*/ 12 w 13"/>
                <a:gd name="T31" fmla="*/ 3 h 13"/>
                <a:gd name="T32" fmla="*/ 13 w 13"/>
                <a:gd name="T33" fmla="*/ 3 h 13"/>
                <a:gd name="T34" fmla="*/ 10 w 13"/>
                <a:gd name="T35"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3" h="13">
                  <a:moveTo>
                    <a:pt x="10" y="0"/>
                  </a:moveTo>
                  <a:lnTo>
                    <a:pt x="8" y="0"/>
                  </a:lnTo>
                  <a:lnTo>
                    <a:pt x="7" y="2"/>
                  </a:lnTo>
                  <a:lnTo>
                    <a:pt x="7" y="3"/>
                  </a:lnTo>
                  <a:lnTo>
                    <a:pt x="5" y="5"/>
                  </a:lnTo>
                  <a:lnTo>
                    <a:pt x="3" y="7"/>
                  </a:lnTo>
                  <a:lnTo>
                    <a:pt x="2" y="8"/>
                  </a:lnTo>
                  <a:lnTo>
                    <a:pt x="2" y="10"/>
                  </a:lnTo>
                  <a:lnTo>
                    <a:pt x="0" y="12"/>
                  </a:lnTo>
                  <a:lnTo>
                    <a:pt x="5" y="13"/>
                  </a:lnTo>
                  <a:lnTo>
                    <a:pt x="5" y="12"/>
                  </a:lnTo>
                  <a:lnTo>
                    <a:pt x="7" y="10"/>
                  </a:lnTo>
                  <a:lnTo>
                    <a:pt x="8" y="8"/>
                  </a:lnTo>
                  <a:lnTo>
                    <a:pt x="10" y="7"/>
                  </a:lnTo>
                  <a:lnTo>
                    <a:pt x="12" y="5"/>
                  </a:lnTo>
                  <a:lnTo>
                    <a:pt x="12" y="3"/>
                  </a:lnTo>
                  <a:lnTo>
                    <a:pt x="13" y="3"/>
                  </a:lnTo>
                  <a:lnTo>
                    <a:pt x="10"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87" name="Freeform 731">
              <a:extLst>
                <a:ext uri="{FF2B5EF4-FFF2-40B4-BE49-F238E27FC236}">
                  <a16:creationId xmlns:a16="http://schemas.microsoft.com/office/drawing/2014/main" id="{450D549E-38FD-8E84-345D-2152753559A9}"/>
                </a:ext>
              </a:extLst>
            </p:cNvPr>
            <p:cNvSpPr>
              <a:spLocks/>
            </p:cNvSpPr>
            <p:nvPr/>
          </p:nvSpPr>
          <p:spPr bwMode="auto">
            <a:xfrm>
              <a:off x="1787" y="1572"/>
              <a:ext cx="13" cy="13"/>
            </a:xfrm>
            <a:custGeom>
              <a:avLst/>
              <a:gdLst>
                <a:gd name="T0" fmla="*/ 10 w 13"/>
                <a:gd name="T1" fmla="*/ 0 h 13"/>
                <a:gd name="T2" fmla="*/ 8 w 13"/>
                <a:gd name="T3" fmla="*/ 0 h 13"/>
                <a:gd name="T4" fmla="*/ 8 w 13"/>
                <a:gd name="T5" fmla="*/ 1 h 13"/>
                <a:gd name="T6" fmla="*/ 6 w 13"/>
                <a:gd name="T7" fmla="*/ 3 h 13"/>
                <a:gd name="T8" fmla="*/ 5 w 13"/>
                <a:gd name="T9" fmla="*/ 5 h 13"/>
                <a:gd name="T10" fmla="*/ 3 w 13"/>
                <a:gd name="T11" fmla="*/ 6 h 13"/>
                <a:gd name="T12" fmla="*/ 3 w 13"/>
                <a:gd name="T13" fmla="*/ 8 h 13"/>
                <a:gd name="T14" fmla="*/ 1 w 13"/>
                <a:gd name="T15" fmla="*/ 10 h 13"/>
                <a:gd name="T16" fmla="*/ 0 w 13"/>
                <a:gd name="T17" fmla="*/ 11 h 13"/>
                <a:gd name="T18" fmla="*/ 5 w 13"/>
                <a:gd name="T19" fmla="*/ 13 h 13"/>
                <a:gd name="T20" fmla="*/ 5 w 13"/>
                <a:gd name="T21" fmla="*/ 11 h 13"/>
                <a:gd name="T22" fmla="*/ 6 w 13"/>
                <a:gd name="T23" fmla="*/ 10 h 13"/>
                <a:gd name="T24" fmla="*/ 8 w 13"/>
                <a:gd name="T25" fmla="*/ 8 h 13"/>
                <a:gd name="T26" fmla="*/ 10 w 13"/>
                <a:gd name="T27" fmla="*/ 6 h 13"/>
                <a:gd name="T28" fmla="*/ 11 w 13"/>
                <a:gd name="T29" fmla="*/ 5 h 13"/>
                <a:gd name="T30" fmla="*/ 11 w 13"/>
                <a:gd name="T31" fmla="*/ 3 h 13"/>
                <a:gd name="T32" fmla="*/ 13 w 13"/>
                <a:gd name="T33" fmla="*/ 3 h 13"/>
                <a:gd name="T34" fmla="*/ 10 w 13"/>
                <a:gd name="T35"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3" h="13">
                  <a:moveTo>
                    <a:pt x="10" y="0"/>
                  </a:moveTo>
                  <a:lnTo>
                    <a:pt x="8" y="0"/>
                  </a:lnTo>
                  <a:lnTo>
                    <a:pt x="8" y="1"/>
                  </a:lnTo>
                  <a:lnTo>
                    <a:pt x="6" y="3"/>
                  </a:lnTo>
                  <a:lnTo>
                    <a:pt x="5" y="5"/>
                  </a:lnTo>
                  <a:lnTo>
                    <a:pt x="3" y="6"/>
                  </a:lnTo>
                  <a:lnTo>
                    <a:pt x="3" y="8"/>
                  </a:lnTo>
                  <a:lnTo>
                    <a:pt x="1" y="10"/>
                  </a:lnTo>
                  <a:lnTo>
                    <a:pt x="0" y="11"/>
                  </a:lnTo>
                  <a:lnTo>
                    <a:pt x="5" y="13"/>
                  </a:lnTo>
                  <a:lnTo>
                    <a:pt x="5" y="11"/>
                  </a:lnTo>
                  <a:lnTo>
                    <a:pt x="6" y="10"/>
                  </a:lnTo>
                  <a:lnTo>
                    <a:pt x="8" y="8"/>
                  </a:lnTo>
                  <a:lnTo>
                    <a:pt x="10" y="6"/>
                  </a:lnTo>
                  <a:lnTo>
                    <a:pt x="11" y="5"/>
                  </a:lnTo>
                  <a:lnTo>
                    <a:pt x="11" y="3"/>
                  </a:lnTo>
                  <a:lnTo>
                    <a:pt x="13" y="3"/>
                  </a:lnTo>
                  <a:lnTo>
                    <a:pt x="10"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88" name="Freeform 732">
              <a:extLst>
                <a:ext uri="{FF2B5EF4-FFF2-40B4-BE49-F238E27FC236}">
                  <a16:creationId xmlns:a16="http://schemas.microsoft.com/office/drawing/2014/main" id="{F3643A85-539C-2854-8F1F-5B7D809C7FFB}"/>
                </a:ext>
              </a:extLst>
            </p:cNvPr>
            <p:cNvSpPr>
              <a:spLocks/>
            </p:cNvSpPr>
            <p:nvPr/>
          </p:nvSpPr>
          <p:spPr bwMode="auto">
            <a:xfrm>
              <a:off x="1790" y="1573"/>
              <a:ext cx="12" cy="14"/>
            </a:xfrm>
            <a:custGeom>
              <a:avLst/>
              <a:gdLst>
                <a:gd name="T0" fmla="*/ 8 w 12"/>
                <a:gd name="T1" fmla="*/ 0 h 14"/>
                <a:gd name="T2" fmla="*/ 7 w 12"/>
                <a:gd name="T3" fmla="*/ 0 h 14"/>
                <a:gd name="T4" fmla="*/ 7 w 12"/>
                <a:gd name="T5" fmla="*/ 2 h 14"/>
                <a:gd name="T6" fmla="*/ 5 w 12"/>
                <a:gd name="T7" fmla="*/ 4 h 14"/>
                <a:gd name="T8" fmla="*/ 3 w 12"/>
                <a:gd name="T9" fmla="*/ 5 h 14"/>
                <a:gd name="T10" fmla="*/ 2 w 12"/>
                <a:gd name="T11" fmla="*/ 7 h 14"/>
                <a:gd name="T12" fmla="*/ 0 w 12"/>
                <a:gd name="T13" fmla="*/ 9 h 14"/>
                <a:gd name="T14" fmla="*/ 0 w 12"/>
                <a:gd name="T15" fmla="*/ 10 h 14"/>
                <a:gd name="T16" fmla="*/ 3 w 12"/>
                <a:gd name="T17" fmla="*/ 14 h 14"/>
                <a:gd name="T18" fmla="*/ 5 w 12"/>
                <a:gd name="T19" fmla="*/ 12 h 14"/>
                <a:gd name="T20" fmla="*/ 5 w 12"/>
                <a:gd name="T21" fmla="*/ 10 h 14"/>
                <a:gd name="T22" fmla="*/ 7 w 12"/>
                <a:gd name="T23" fmla="*/ 9 h 14"/>
                <a:gd name="T24" fmla="*/ 8 w 12"/>
                <a:gd name="T25" fmla="*/ 7 h 14"/>
                <a:gd name="T26" fmla="*/ 10 w 12"/>
                <a:gd name="T27" fmla="*/ 5 h 14"/>
                <a:gd name="T28" fmla="*/ 12 w 12"/>
                <a:gd name="T29" fmla="*/ 4 h 14"/>
                <a:gd name="T30" fmla="*/ 8 w 12"/>
                <a:gd name="T31" fmla="*/ 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 h="14">
                  <a:moveTo>
                    <a:pt x="8" y="0"/>
                  </a:moveTo>
                  <a:lnTo>
                    <a:pt x="7" y="0"/>
                  </a:lnTo>
                  <a:lnTo>
                    <a:pt x="7" y="2"/>
                  </a:lnTo>
                  <a:lnTo>
                    <a:pt x="5" y="4"/>
                  </a:lnTo>
                  <a:lnTo>
                    <a:pt x="3" y="5"/>
                  </a:lnTo>
                  <a:lnTo>
                    <a:pt x="2" y="7"/>
                  </a:lnTo>
                  <a:lnTo>
                    <a:pt x="0" y="9"/>
                  </a:lnTo>
                  <a:lnTo>
                    <a:pt x="0" y="10"/>
                  </a:lnTo>
                  <a:lnTo>
                    <a:pt x="3" y="14"/>
                  </a:lnTo>
                  <a:lnTo>
                    <a:pt x="5" y="12"/>
                  </a:lnTo>
                  <a:lnTo>
                    <a:pt x="5" y="10"/>
                  </a:lnTo>
                  <a:lnTo>
                    <a:pt x="7" y="9"/>
                  </a:lnTo>
                  <a:lnTo>
                    <a:pt x="8" y="7"/>
                  </a:lnTo>
                  <a:lnTo>
                    <a:pt x="10" y="5"/>
                  </a:lnTo>
                  <a:lnTo>
                    <a:pt x="12" y="4"/>
                  </a:lnTo>
                  <a:lnTo>
                    <a:pt x="8"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89" name="Freeform 733">
              <a:extLst>
                <a:ext uri="{FF2B5EF4-FFF2-40B4-BE49-F238E27FC236}">
                  <a16:creationId xmlns:a16="http://schemas.microsoft.com/office/drawing/2014/main" id="{F81B2696-F39D-EB1B-B431-EA0F19A06778}"/>
                </a:ext>
              </a:extLst>
            </p:cNvPr>
            <p:cNvSpPr>
              <a:spLocks/>
            </p:cNvSpPr>
            <p:nvPr/>
          </p:nvSpPr>
          <p:spPr bwMode="auto">
            <a:xfrm>
              <a:off x="1792" y="1575"/>
              <a:ext cx="11" cy="13"/>
            </a:xfrm>
            <a:custGeom>
              <a:avLst/>
              <a:gdLst>
                <a:gd name="T0" fmla="*/ 8 w 11"/>
                <a:gd name="T1" fmla="*/ 0 h 13"/>
                <a:gd name="T2" fmla="*/ 6 w 11"/>
                <a:gd name="T3" fmla="*/ 0 h 13"/>
                <a:gd name="T4" fmla="*/ 6 w 11"/>
                <a:gd name="T5" fmla="*/ 2 h 13"/>
                <a:gd name="T6" fmla="*/ 5 w 11"/>
                <a:gd name="T7" fmla="*/ 3 h 13"/>
                <a:gd name="T8" fmla="*/ 3 w 11"/>
                <a:gd name="T9" fmla="*/ 5 h 13"/>
                <a:gd name="T10" fmla="*/ 1 w 11"/>
                <a:gd name="T11" fmla="*/ 7 h 13"/>
                <a:gd name="T12" fmla="*/ 0 w 11"/>
                <a:gd name="T13" fmla="*/ 8 h 13"/>
                <a:gd name="T14" fmla="*/ 0 w 11"/>
                <a:gd name="T15" fmla="*/ 10 h 13"/>
                <a:gd name="T16" fmla="*/ 3 w 11"/>
                <a:gd name="T17" fmla="*/ 13 h 13"/>
                <a:gd name="T18" fmla="*/ 5 w 11"/>
                <a:gd name="T19" fmla="*/ 12 h 13"/>
                <a:gd name="T20" fmla="*/ 5 w 11"/>
                <a:gd name="T21" fmla="*/ 10 h 13"/>
                <a:gd name="T22" fmla="*/ 6 w 11"/>
                <a:gd name="T23" fmla="*/ 8 h 13"/>
                <a:gd name="T24" fmla="*/ 8 w 11"/>
                <a:gd name="T25" fmla="*/ 7 h 13"/>
                <a:gd name="T26" fmla="*/ 10 w 11"/>
                <a:gd name="T27" fmla="*/ 5 h 13"/>
                <a:gd name="T28" fmla="*/ 11 w 11"/>
                <a:gd name="T29" fmla="*/ 3 h 13"/>
                <a:gd name="T30" fmla="*/ 8 w 11"/>
                <a:gd name="T31"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1" h="13">
                  <a:moveTo>
                    <a:pt x="8" y="0"/>
                  </a:moveTo>
                  <a:lnTo>
                    <a:pt x="6" y="0"/>
                  </a:lnTo>
                  <a:lnTo>
                    <a:pt x="6" y="2"/>
                  </a:lnTo>
                  <a:lnTo>
                    <a:pt x="5" y="3"/>
                  </a:lnTo>
                  <a:lnTo>
                    <a:pt x="3" y="5"/>
                  </a:lnTo>
                  <a:lnTo>
                    <a:pt x="1" y="7"/>
                  </a:lnTo>
                  <a:lnTo>
                    <a:pt x="0" y="8"/>
                  </a:lnTo>
                  <a:lnTo>
                    <a:pt x="0" y="10"/>
                  </a:lnTo>
                  <a:lnTo>
                    <a:pt x="3" y="13"/>
                  </a:lnTo>
                  <a:lnTo>
                    <a:pt x="5" y="12"/>
                  </a:lnTo>
                  <a:lnTo>
                    <a:pt x="5" y="10"/>
                  </a:lnTo>
                  <a:lnTo>
                    <a:pt x="6" y="8"/>
                  </a:lnTo>
                  <a:lnTo>
                    <a:pt x="8" y="7"/>
                  </a:lnTo>
                  <a:lnTo>
                    <a:pt x="10" y="5"/>
                  </a:lnTo>
                  <a:lnTo>
                    <a:pt x="11" y="3"/>
                  </a:lnTo>
                  <a:lnTo>
                    <a:pt x="8"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90" name="Freeform 734">
              <a:extLst>
                <a:ext uri="{FF2B5EF4-FFF2-40B4-BE49-F238E27FC236}">
                  <a16:creationId xmlns:a16="http://schemas.microsoft.com/office/drawing/2014/main" id="{D73777B0-84D8-C1D8-71C1-F54BD13DCD14}"/>
                </a:ext>
              </a:extLst>
            </p:cNvPr>
            <p:cNvSpPr>
              <a:spLocks/>
            </p:cNvSpPr>
            <p:nvPr/>
          </p:nvSpPr>
          <p:spPr bwMode="auto">
            <a:xfrm>
              <a:off x="1793" y="1577"/>
              <a:ext cx="12" cy="11"/>
            </a:xfrm>
            <a:custGeom>
              <a:avLst/>
              <a:gdLst>
                <a:gd name="T0" fmla="*/ 9 w 12"/>
                <a:gd name="T1" fmla="*/ 0 h 11"/>
                <a:gd name="T2" fmla="*/ 9 w 12"/>
                <a:gd name="T3" fmla="*/ 0 h 11"/>
                <a:gd name="T4" fmla="*/ 7 w 12"/>
                <a:gd name="T5" fmla="*/ 1 h 11"/>
                <a:gd name="T6" fmla="*/ 5 w 12"/>
                <a:gd name="T7" fmla="*/ 3 h 11"/>
                <a:gd name="T8" fmla="*/ 4 w 12"/>
                <a:gd name="T9" fmla="*/ 5 h 11"/>
                <a:gd name="T10" fmla="*/ 2 w 12"/>
                <a:gd name="T11" fmla="*/ 6 h 11"/>
                <a:gd name="T12" fmla="*/ 2 w 12"/>
                <a:gd name="T13" fmla="*/ 8 h 11"/>
                <a:gd name="T14" fmla="*/ 0 w 12"/>
                <a:gd name="T15" fmla="*/ 10 h 11"/>
                <a:gd name="T16" fmla="*/ 5 w 12"/>
                <a:gd name="T17" fmla="*/ 11 h 11"/>
                <a:gd name="T18" fmla="*/ 7 w 12"/>
                <a:gd name="T19" fmla="*/ 10 h 11"/>
                <a:gd name="T20" fmla="*/ 7 w 12"/>
                <a:gd name="T21" fmla="*/ 8 h 11"/>
                <a:gd name="T22" fmla="*/ 9 w 12"/>
                <a:gd name="T23" fmla="*/ 6 h 11"/>
                <a:gd name="T24" fmla="*/ 10 w 12"/>
                <a:gd name="T25" fmla="*/ 5 h 11"/>
                <a:gd name="T26" fmla="*/ 12 w 12"/>
                <a:gd name="T27" fmla="*/ 3 h 11"/>
                <a:gd name="T28" fmla="*/ 9 w 12"/>
                <a:gd name="T29"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 h="11">
                  <a:moveTo>
                    <a:pt x="9" y="0"/>
                  </a:moveTo>
                  <a:lnTo>
                    <a:pt x="9" y="0"/>
                  </a:lnTo>
                  <a:lnTo>
                    <a:pt x="7" y="1"/>
                  </a:lnTo>
                  <a:lnTo>
                    <a:pt x="5" y="3"/>
                  </a:lnTo>
                  <a:lnTo>
                    <a:pt x="4" y="5"/>
                  </a:lnTo>
                  <a:lnTo>
                    <a:pt x="2" y="6"/>
                  </a:lnTo>
                  <a:lnTo>
                    <a:pt x="2" y="8"/>
                  </a:lnTo>
                  <a:lnTo>
                    <a:pt x="0" y="10"/>
                  </a:lnTo>
                  <a:lnTo>
                    <a:pt x="5" y="11"/>
                  </a:lnTo>
                  <a:lnTo>
                    <a:pt x="7" y="10"/>
                  </a:lnTo>
                  <a:lnTo>
                    <a:pt x="7" y="8"/>
                  </a:lnTo>
                  <a:lnTo>
                    <a:pt x="9" y="6"/>
                  </a:lnTo>
                  <a:lnTo>
                    <a:pt x="10" y="5"/>
                  </a:lnTo>
                  <a:lnTo>
                    <a:pt x="12" y="3"/>
                  </a:lnTo>
                  <a:lnTo>
                    <a:pt x="9"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91" name="Freeform 735">
              <a:extLst>
                <a:ext uri="{FF2B5EF4-FFF2-40B4-BE49-F238E27FC236}">
                  <a16:creationId xmlns:a16="http://schemas.microsoft.com/office/drawing/2014/main" id="{7A6C8FF4-2282-183A-7BF9-9E42F998785E}"/>
                </a:ext>
              </a:extLst>
            </p:cNvPr>
            <p:cNvSpPr>
              <a:spLocks/>
            </p:cNvSpPr>
            <p:nvPr/>
          </p:nvSpPr>
          <p:spPr bwMode="auto">
            <a:xfrm>
              <a:off x="1795" y="1578"/>
              <a:ext cx="12" cy="12"/>
            </a:xfrm>
            <a:custGeom>
              <a:avLst/>
              <a:gdLst>
                <a:gd name="T0" fmla="*/ 8 w 12"/>
                <a:gd name="T1" fmla="*/ 0 h 12"/>
                <a:gd name="T2" fmla="*/ 8 w 12"/>
                <a:gd name="T3" fmla="*/ 0 h 12"/>
                <a:gd name="T4" fmla="*/ 7 w 12"/>
                <a:gd name="T5" fmla="*/ 2 h 12"/>
                <a:gd name="T6" fmla="*/ 5 w 12"/>
                <a:gd name="T7" fmla="*/ 4 h 12"/>
                <a:gd name="T8" fmla="*/ 3 w 12"/>
                <a:gd name="T9" fmla="*/ 5 h 12"/>
                <a:gd name="T10" fmla="*/ 2 w 12"/>
                <a:gd name="T11" fmla="*/ 7 h 12"/>
                <a:gd name="T12" fmla="*/ 2 w 12"/>
                <a:gd name="T13" fmla="*/ 9 h 12"/>
                <a:gd name="T14" fmla="*/ 0 w 12"/>
                <a:gd name="T15" fmla="*/ 10 h 12"/>
                <a:gd name="T16" fmla="*/ 5 w 12"/>
                <a:gd name="T17" fmla="*/ 12 h 12"/>
                <a:gd name="T18" fmla="*/ 5 w 12"/>
                <a:gd name="T19" fmla="*/ 10 h 12"/>
                <a:gd name="T20" fmla="*/ 7 w 12"/>
                <a:gd name="T21" fmla="*/ 10 h 12"/>
                <a:gd name="T22" fmla="*/ 7 w 12"/>
                <a:gd name="T23" fmla="*/ 9 h 12"/>
                <a:gd name="T24" fmla="*/ 8 w 12"/>
                <a:gd name="T25" fmla="*/ 7 h 12"/>
                <a:gd name="T26" fmla="*/ 10 w 12"/>
                <a:gd name="T27" fmla="*/ 5 h 12"/>
                <a:gd name="T28" fmla="*/ 12 w 12"/>
                <a:gd name="T29" fmla="*/ 4 h 12"/>
                <a:gd name="T30" fmla="*/ 8 w 12"/>
                <a:gd name="T31" fmla="*/ 0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 h="12">
                  <a:moveTo>
                    <a:pt x="8" y="0"/>
                  </a:moveTo>
                  <a:lnTo>
                    <a:pt x="8" y="0"/>
                  </a:lnTo>
                  <a:lnTo>
                    <a:pt x="7" y="2"/>
                  </a:lnTo>
                  <a:lnTo>
                    <a:pt x="5" y="4"/>
                  </a:lnTo>
                  <a:lnTo>
                    <a:pt x="3" y="5"/>
                  </a:lnTo>
                  <a:lnTo>
                    <a:pt x="2" y="7"/>
                  </a:lnTo>
                  <a:lnTo>
                    <a:pt x="2" y="9"/>
                  </a:lnTo>
                  <a:lnTo>
                    <a:pt x="0" y="10"/>
                  </a:lnTo>
                  <a:lnTo>
                    <a:pt x="5" y="12"/>
                  </a:lnTo>
                  <a:lnTo>
                    <a:pt x="5" y="10"/>
                  </a:lnTo>
                  <a:lnTo>
                    <a:pt x="7" y="10"/>
                  </a:lnTo>
                  <a:lnTo>
                    <a:pt x="7" y="9"/>
                  </a:lnTo>
                  <a:lnTo>
                    <a:pt x="8" y="7"/>
                  </a:lnTo>
                  <a:lnTo>
                    <a:pt x="10" y="5"/>
                  </a:lnTo>
                  <a:lnTo>
                    <a:pt x="12" y="4"/>
                  </a:lnTo>
                  <a:lnTo>
                    <a:pt x="8"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92" name="Freeform 736">
              <a:extLst>
                <a:ext uri="{FF2B5EF4-FFF2-40B4-BE49-F238E27FC236}">
                  <a16:creationId xmlns:a16="http://schemas.microsoft.com/office/drawing/2014/main" id="{94AC3A8E-A7E1-D44E-5359-0898456B46E5}"/>
                </a:ext>
              </a:extLst>
            </p:cNvPr>
            <p:cNvSpPr>
              <a:spLocks/>
            </p:cNvSpPr>
            <p:nvPr/>
          </p:nvSpPr>
          <p:spPr bwMode="auto">
            <a:xfrm>
              <a:off x="1798" y="1580"/>
              <a:ext cx="10" cy="12"/>
            </a:xfrm>
            <a:custGeom>
              <a:avLst/>
              <a:gdLst>
                <a:gd name="T0" fmla="*/ 7 w 10"/>
                <a:gd name="T1" fmla="*/ 0 h 12"/>
                <a:gd name="T2" fmla="*/ 7 w 10"/>
                <a:gd name="T3" fmla="*/ 0 h 12"/>
                <a:gd name="T4" fmla="*/ 5 w 10"/>
                <a:gd name="T5" fmla="*/ 2 h 12"/>
                <a:gd name="T6" fmla="*/ 4 w 10"/>
                <a:gd name="T7" fmla="*/ 3 h 12"/>
                <a:gd name="T8" fmla="*/ 2 w 10"/>
                <a:gd name="T9" fmla="*/ 5 h 12"/>
                <a:gd name="T10" fmla="*/ 2 w 10"/>
                <a:gd name="T11" fmla="*/ 7 h 12"/>
                <a:gd name="T12" fmla="*/ 0 w 10"/>
                <a:gd name="T13" fmla="*/ 8 h 12"/>
                <a:gd name="T14" fmla="*/ 4 w 10"/>
                <a:gd name="T15" fmla="*/ 12 h 12"/>
                <a:gd name="T16" fmla="*/ 4 w 10"/>
                <a:gd name="T17" fmla="*/ 10 h 12"/>
                <a:gd name="T18" fmla="*/ 5 w 10"/>
                <a:gd name="T19" fmla="*/ 8 h 12"/>
                <a:gd name="T20" fmla="*/ 7 w 10"/>
                <a:gd name="T21" fmla="*/ 7 h 12"/>
                <a:gd name="T22" fmla="*/ 9 w 10"/>
                <a:gd name="T23" fmla="*/ 5 h 12"/>
                <a:gd name="T24" fmla="*/ 10 w 10"/>
                <a:gd name="T25" fmla="*/ 3 h 12"/>
                <a:gd name="T26" fmla="*/ 7 w 10"/>
                <a:gd name="T27" fmla="*/ 0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 h="12">
                  <a:moveTo>
                    <a:pt x="7" y="0"/>
                  </a:moveTo>
                  <a:lnTo>
                    <a:pt x="7" y="0"/>
                  </a:lnTo>
                  <a:lnTo>
                    <a:pt x="5" y="2"/>
                  </a:lnTo>
                  <a:lnTo>
                    <a:pt x="4" y="3"/>
                  </a:lnTo>
                  <a:lnTo>
                    <a:pt x="2" y="5"/>
                  </a:lnTo>
                  <a:lnTo>
                    <a:pt x="2" y="7"/>
                  </a:lnTo>
                  <a:lnTo>
                    <a:pt x="0" y="8"/>
                  </a:lnTo>
                  <a:lnTo>
                    <a:pt x="4" y="12"/>
                  </a:lnTo>
                  <a:lnTo>
                    <a:pt x="4" y="10"/>
                  </a:lnTo>
                  <a:lnTo>
                    <a:pt x="5" y="8"/>
                  </a:lnTo>
                  <a:lnTo>
                    <a:pt x="7" y="7"/>
                  </a:lnTo>
                  <a:lnTo>
                    <a:pt x="9" y="5"/>
                  </a:lnTo>
                  <a:lnTo>
                    <a:pt x="10" y="3"/>
                  </a:lnTo>
                  <a:lnTo>
                    <a:pt x="7"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93" name="Freeform 737">
              <a:extLst>
                <a:ext uri="{FF2B5EF4-FFF2-40B4-BE49-F238E27FC236}">
                  <a16:creationId xmlns:a16="http://schemas.microsoft.com/office/drawing/2014/main" id="{566B24CD-3561-ED3F-574C-DDD30958C234}"/>
                </a:ext>
              </a:extLst>
            </p:cNvPr>
            <p:cNvSpPr>
              <a:spLocks/>
            </p:cNvSpPr>
            <p:nvPr/>
          </p:nvSpPr>
          <p:spPr bwMode="auto">
            <a:xfrm>
              <a:off x="1800" y="1582"/>
              <a:ext cx="10" cy="11"/>
            </a:xfrm>
            <a:custGeom>
              <a:avLst/>
              <a:gdLst>
                <a:gd name="T0" fmla="*/ 7 w 10"/>
                <a:gd name="T1" fmla="*/ 0 h 11"/>
                <a:gd name="T2" fmla="*/ 7 w 10"/>
                <a:gd name="T3" fmla="*/ 0 h 11"/>
                <a:gd name="T4" fmla="*/ 5 w 10"/>
                <a:gd name="T5" fmla="*/ 1 h 11"/>
                <a:gd name="T6" fmla="*/ 3 w 10"/>
                <a:gd name="T7" fmla="*/ 3 h 11"/>
                <a:gd name="T8" fmla="*/ 2 w 10"/>
                <a:gd name="T9" fmla="*/ 5 h 11"/>
                <a:gd name="T10" fmla="*/ 2 w 10"/>
                <a:gd name="T11" fmla="*/ 6 h 11"/>
                <a:gd name="T12" fmla="*/ 0 w 10"/>
                <a:gd name="T13" fmla="*/ 6 h 11"/>
                <a:gd name="T14" fmla="*/ 0 w 10"/>
                <a:gd name="T15" fmla="*/ 8 h 11"/>
                <a:gd name="T16" fmla="*/ 3 w 10"/>
                <a:gd name="T17" fmla="*/ 11 h 11"/>
                <a:gd name="T18" fmla="*/ 5 w 10"/>
                <a:gd name="T19" fmla="*/ 10 h 11"/>
                <a:gd name="T20" fmla="*/ 5 w 10"/>
                <a:gd name="T21" fmla="*/ 8 h 11"/>
                <a:gd name="T22" fmla="*/ 7 w 10"/>
                <a:gd name="T23" fmla="*/ 8 h 11"/>
                <a:gd name="T24" fmla="*/ 7 w 10"/>
                <a:gd name="T25" fmla="*/ 6 h 11"/>
                <a:gd name="T26" fmla="*/ 8 w 10"/>
                <a:gd name="T27" fmla="*/ 5 h 11"/>
                <a:gd name="T28" fmla="*/ 10 w 10"/>
                <a:gd name="T29" fmla="*/ 3 h 11"/>
                <a:gd name="T30" fmla="*/ 7 w 10"/>
                <a:gd name="T31"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 h="11">
                  <a:moveTo>
                    <a:pt x="7" y="0"/>
                  </a:moveTo>
                  <a:lnTo>
                    <a:pt x="7" y="0"/>
                  </a:lnTo>
                  <a:lnTo>
                    <a:pt x="5" y="1"/>
                  </a:lnTo>
                  <a:lnTo>
                    <a:pt x="3" y="3"/>
                  </a:lnTo>
                  <a:lnTo>
                    <a:pt x="2" y="5"/>
                  </a:lnTo>
                  <a:lnTo>
                    <a:pt x="2" y="6"/>
                  </a:lnTo>
                  <a:lnTo>
                    <a:pt x="0" y="6"/>
                  </a:lnTo>
                  <a:lnTo>
                    <a:pt x="0" y="8"/>
                  </a:lnTo>
                  <a:lnTo>
                    <a:pt x="3" y="11"/>
                  </a:lnTo>
                  <a:lnTo>
                    <a:pt x="5" y="10"/>
                  </a:lnTo>
                  <a:lnTo>
                    <a:pt x="5" y="8"/>
                  </a:lnTo>
                  <a:lnTo>
                    <a:pt x="7" y="8"/>
                  </a:lnTo>
                  <a:lnTo>
                    <a:pt x="7" y="6"/>
                  </a:lnTo>
                  <a:lnTo>
                    <a:pt x="8" y="5"/>
                  </a:lnTo>
                  <a:lnTo>
                    <a:pt x="10" y="3"/>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94" name="Freeform 738">
              <a:extLst>
                <a:ext uri="{FF2B5EF4-FFF2-40B4-BE49-F238E27FC236}">
                  <a16:creationId xmlns:a16="http://schemas.microsoft.com/office/drawing/2014/main" id="{F802FBE9-4964-C2DF-E9F2-F57E356329AD}"/>
                </a:ext>
              </a:extLst>
            </p:cNvPr>
            <p:cNvSpPr>
              <a:spLocks/>
            </p:cNvSpPr>
            <p:nvPr/>
          </p:nvSpPr>
          <p:spPr bwMode="auto">
            <a:xfrm>
              <a:off x="1802" y="1583"/>
              <a:ext cx="10" cy="10"/>
            </a:xfrm>
            <a:custGeom>
              <a:avLst/>
              <a:gdLst>
                <a:gd name="T0" fmla="*/ 6 w 10"/>
                <a:gd name="T1" fmla="*/ 0 h 10"/>
                <a:gd name="T2" fmla="*/ 6 w 10"/>
                <a:gd name="T3" fmla="*/ 0 h 10"/>
                <a:gd name="T4" fmla="*/ 5 w 10"/>
                <a:gd name="T5" fmla="*/ 2 h 10"/>
                <a:gd name="T6" fmla="*/ 3 w 10"/>
                <a:gd name="T7" fmla="*/ 4 h 10"/>
                <a:gd name="T8" fmla="*/ 1 w 10"/>
                <a:gd name="T9" fmla="*/ 5 h 10"/>
                <a:gd name="T10" fmla="*/ 0 w 10"/>
                <a:gd name="T11" fmla="*/ 7 h 10"/>
                <a:gd name="T12" fmla="*/ 0 w 10"/>
                <a:gd name="T13" fmla="*/ 9 h 10"/>
                <a:gd name="T14" fmla="*/ 3 w 10"/>
                <a:gd name="T15" fmla="*/ 10 h 10"/>
                <a:gd name="T16" fmla="*/ 5 w 10"/>
                <a:gd name="T17" fmla="*/ 10 h 10"/>
                <a:gd name="T18" fmla="*/ 5 w 10"/>
                <a:gd name="T19" fmla="*/ 9 h 10"/>
                <a:gd name="T20" fmla="*/ 6 w 10"/>
                <a:gd name="T21" fmla="*/ 7 h 10"/>
                <a:gd name="T22" fmla="*/ 8 w 10"/>
                <a:gd name="T23" fmla="*/ 5 h 10"/>
                <a:gd name="T24" fmla="*/ 10 w 10"/>
                <a:gd name="T25" fmla="*/ 4 h 10"/>
                <a:gd name="T26" fmla="*/ 6 w 10"/>
                <a:gd name="T27"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 h="10">
                  <a:moveTo>
                    <a:pt x="6" y="0"/>
                  </a:moveTo>
                  <a:lnTo>
                    <a:pt x="6" y="0"/>
                  </a:lnTo>
                  <a:lnTo>
                    <a:pt x="5" y="2"/>
                  </a:lnTo>
                  <a:lnTo>
                    <a:pt x="3" y="4"/>
                  </a:lnTo>
                  <a:lnTo>
                    <a:pt x="1" y="5"/>
                  </a:lnTo>
                  <a:lnTo>
                    <a:pt x="0" y="7"/>
                  </a:lnTo>
                  <a:lnTo>
                    <a:pt x="0" y="9"/>
                  </a:lnTo>
                  <a:lnTo>
                    <a:pt x="3" y="10"/>
                  </a:lnTo>
                  <a:lnTo>
                    <a:pt x="5" y="10"/>
                  </a:lnTo>
                  <a:lnTo>
                    <a:pt x="5" y="9"/>
                  </a:lnTo>
                  <a:lnTo>
                    <a:pt x="6" y="7"/>
                  </a:lnTo>
                  <a:lnTo>
                    <a:pt x="8" y="5"/>
                  </a:lnTo>
                  <a:lnTo>
                    <a:pt x="10" y="4"/>
                  </a:lnTo>
                  <a:lnTo>
                    <a:pt x="6"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95" name="Freeform 739">
              <a:extLst>
                <a:ext uri="{FF2B5EF4-FFF2-40B4-BE49-F238E27FC236}">
                  <a16:creationId xmlns:a16="http://schemas.microsoft.com/office/drawing/2014/main" id="{AAB1E716-5B01-A99D-B685-7C2797C6E4E3}"/>
                </a:ext>
              </a:extLst>
            </p:cNvPr>
            <p:cNvSpPr>
              <a:spLocks/>
            </p:cNvSpPr>
            <p:nvPr/>
          </p:nvSpPr>
          <p:spPr bwMode="auto">
            <a:xfrm>
              <a:off x="1803" y="1585"/>
              <a:ext cx="10" cy="10"/>
            </a:xfrm>
            <a:custGeom>
              <a:avLst/>
              <a:gdLst>
                <a:gd name="T0" fmla="*/ 7 w 10"/>
                <a:gd name="T1" fmla="*/ 0 h 10"/>
                <a:gd name="T2" fmla="*/ 7 w 10"/>
                <a:gd name="T3" fmla="*/ 0 h 10"/>
                <a:gd name="T4" fmla="*/ 5 w 10"/>
                <a:gd name="T5" fmla="*/ 2 h 10"/>
                <a:gd name="T6" fmla="*/ 4 w 10"/>
                <a:gd name="T7" fmla="*/ 3 h 10"/>
                <a:gd name="T8" fmla="*/ 4 w 10"/>
                <a:gd name="T9" fmla="*/ 5 h 10"/>
                <a:gd name="T10" fmla="*/ 2 w 10"/>
                <a:gd name="T11" fmla="*/ 5 h 10"/>
                <a:gd name="T12" fmla="*/ 2 w 10"/>
                <a:gd name="T13" fmla="*/ 7 h 10"/>
                <a:gd name="T14" fmla="*/ 0 w 10"/>
                <a:gd name="T15" fmla="*/ 8 h 10"/>
                <a:gd name="T16" fmla="*/ 5 w 10"/>
                <a:gd name="T17" fmla="*/ 10 h 10"/>
                <a:gd name="T18" fmla="*/ 5 w 10"/>
                <a:gd name="T19" fmla="*/ 8 h 10"/>
                <a:gd name="T20" fmla="*/ 7 w 10"/>
                <a:gd name="T21" fmla="*/ 8 h 10"/>
                <a:gd name="T22" fmla="*/ 7 w 10"/>
                <a:gd name="T23" fmla="*/ 7 h 10"/>
                <a:gd name="T24" fmla="*/ 9 w 10"/>
                <a:gd name="T25" fmla="*/ 5 h 10"/>
                <a:gd name="T26" fmla="*/ 10 w 10"/>
                <a:gd name="T27" fmla="*/ 3 h 10"/>
                <a:gd name="T28" fmla="*/ 7 w 10"/>
                <a:gd name="T29"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0" h="10">
                  <a:moveTo>
                    <a:pt x="7" y="0"/>
                  </a:moveTo>
                  <a:lnTo>
                    <a:pt x="7" y="0"/>
                  </a:lnTo>
                  <a:lnTo>
                    <a:pt x="5" y="2"/>
                  </a:lnTo>
                  <a:lnTo>
                    <a:pt x="4" y="3"/>
                  </a:lnTo>
                  <a:lnTo>
                    <a:pt x="4" y="5"/>
                  </a:lnTo>
                  <a:lnTo>
                    <a:pt x="2" y="5"/>
                  </a:lnTo>
                  <a:lnTo>
                    <a:pt x="2" y="7"/>
                  </a:lnTo>
                  <a:lnTo>
                    <a:pt x="0" y="8"/>
                  </a:lnTo>
                  <a:lnTo>
                    <a:pt x="5" y="10"/>
                  </a:lnTo>
                  <a:lnTo>
                    <a:pt x="5" y="8"/>
                  </a:lnTo>
                  <a:lnTo>
                    <a:pt x="7" y="8"/>
                  </a:lnTo>
                  <a:lnTo>
                    <a:pt x="7" y="7"/>
                  </a:lnTo>
                  <a:lnTo>
                    <a:pt x="9" y="5"/>
                  </a:lnTo>
                  <a:lnTo>
                    <a:pt x="10" y="3"/>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96" name="Freeform 740">
              <a:extLst>
                <a:ext uri="{FF2B5EF4-FFF2-40B4-BE49-F238E27FC236}">
                  <a16:creationId xmlns:a16="http://schemas.microsoft.com/office/drawing/2014/main" id="{E43582C0-DA32-3CE3-164F-A061DA42914E}"/>
                </a:ext>
              </a:extLst>
            </p:cNvPr>
            <p:cNvSpPr>
              <a:spLocks/>
            </p:cNvSpPr>
            <p:nvPr/>
          </p:nvSpPr>
          <p:spPr bwMode="auto">
            <a:xfrm>
              <a:off x="1805" y="1587"/>
              <a:ext cx="12" cy="10"/>
            </a:xfrm>
            <a:custGeom>
              <a:avLst/>
              <a:gdLst>
                <a:gd name="T0" fmla="*/ 7 w 12"/>
                <a:gd name="T1" fmla="*/ 0 h 10"/>
                <a:gd name="T2" fmla="*/ 7 w 12"/>
                <a:gd name="T3" fmla="*/ 0 h 10"/>
                <a:gd name="T4" fmla="*/ 5 w 12"/>
                <a:gd name="T5" fmla="*/ 1 h 10"/>
                <a:gd name="T6" fmla="*/ 3 w 12"/>
                <a:gd name="T7" fmla="*/ 3 h 10"/>
                <a:gd name="T8" fmla="*/ 2 w 12"/>
                <a:gd name="T9" fmla="*/ 5 h 10"/>
                <a:gd name="T10" fmla="*/ 2 w 12"/>
                <a:gd name="T11" fmla="*/ 6 h 10"/>
                <a:gd name="T12" fmla="*/ 0 w 12"/>
                <a:gd name="T13" fmla="*/ 6 h 10"/>
                <a:gd name="T14" fmla="*/ 5 w 12"/>
                <a:gd name="T15" fmla="*/ 10 h 10"/>
                <a:gd name="T16" fmla="*/ 5 w 12"/>
                <a:gd name="T17" fmla="*/ 8 h 10"/>
                <a:gd name="T18" fmla="*/ 7 w 12"/>
                <a:gd name="T19" fmla="*/ 8 h 10"/>
                <a:gd name="T20" fmla="*/ 7 w 12"/>
                <a:gd name="T21" fmla="*/ 6 h 10"/>
                <a:gd name="T22" fmla="*/ 8 w 12"/>
                <a:gd name="T23" fmla="*/ 6 h 10"/>
                <a:gd name="T24" fmla="*/ 8 w 12"/>
                <a:gd name="T25" fmla="*/ 5 h 10"/>
                <a:gd name="T26" fmla="*/ 10 w 12"/>
                <a:gd name="T27" fmla="*/ 5 h 10"/>
                <a:gd name="T28" fmla="*/ 10 w 12"/>
                <a:gd name="T29" fmla="*/ 3 h 10"/>
                <a:gd name="T30" fmla="*/ 12 w 12"/>
                <a:gd name="T31" fmla="*/ 3 h 10"/>
                <a:gd name="T32" fmla="*/ 7 w 12"/>
                <a:gd name="T33"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2" h="10">
                  <a:moveTo>
                    <a:pt x="7" y="0"/>
                  </a:moveTo>
                  <a:lnTo>
                    <a:pt x="7" y="0"/>
                  </a:lnTo>
                  <a:lnTo>
                    <a:pt x="5" y="1"/>
                  </a:lnTo>
                  <a:lnTo>
                    <a:pt x="3" y="3"/>
                  </a:lnTo>
                  <a:lnTo>
                    <a:pt x="2" y="5"/>
                  </a:lnTo>
                  <a:lnTo>
                    <a:pt x="2" y="6"/>
                  </a:lnTo>
                  <a:lnTo>
                    <a:pt x="0" y="6"/>
                  </a:lnTo>
                  <a:lnTo>
                    <a:pt x="5" y="10"/>
                  </a:lnTo>
                  <a:lnTo>
                    <a:pt x="5" y="8"/>
                  </a:lnTo>
                  <a:lnTo>
                    <a:pt x="7" y="8"/>
                  </a:lnTo>
                  <a:lnTo>
                    <a:pt x="7" y="6"/>
                  </a:lnTo>
                  <a:lnTo>
                    <a:pt x="8" y="6"/>
                  </a:lnTo>
                  <a:lnTo>
                    <a:pt x="8" y="5"/>
                  </a:lnTo>
                  <a:lnTo>
                    <a:pt x="10" y="5"/>
                  </a:lnTo>
                  <a:lnTo>
                    <a:pt x="10" y="3"/>
                  </a:lnTo>
                  <a:lnTo>
                    <a:pt x="12" y="3"/>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97" name="Freeform 741">
              <a:extLst>
                <a:ext uri="{FF2B5EF4-FFF2-40B4-BE49-F238E27FC236}">
                  <a16:creationId xmlns:a16="http://schemas.microsoft.com/office/drawing/2014/main" id="{5B302BAB-D71D-E35E-D2BC-9E981DF574BC}"/>
                </a:ext>
              </a:extLst>
            </p:cNvPr>
            <p:cNvSpPr>
              <a:spLocks/>
            </p:cNvSpPr>
            <p:nvPr/>
          </p:nvSpPr>
          <p:spPr bwMode="auto">
            <a:xfrm>
              <a:off x="1808" y="1588"/>
              <a:ext cx="10" cy="10"/>
            </a:xfrm>
            <a:custGeom>
              <a:avLst/>
              <a:gdLst>
                <a:gd name="T0" fmla="*/ 5 w 10"/>
                <a:gd name="T1" fmla="*/ 0 h 10"/>
                <a:gd name="T2" fmla="*/ 5 w 10"/>
                <a:gd name="T3" fmla="*/ 0 h 10"/>
                <a:gd name="T4" fmla="*/ 4 w 10"/>
                <a:gd name="T5" fmla="*/ 2 h 10"/>
                <a:gd name="T6" fmla="*/ 2 w 10"/>
                <a:gd name="T7" fmla="*/ 4 h 10"/>
                <a:gd name="T8" fmla="*/ 2 w 10"/>
                <a:gd name="T9" fmla="*/ 5 h 10"/>
                <a:gd name="T10" fmla="*/ 0 w 10"/>
                <a:gd name="T11" fmla="*/ 5 h 10"/>
                <a:gd name="T12" fmla="*/ 0 w 10"/>
                <a:gd name="T13" fmla="*/ 7 h 10"/>
                <a:gd name="T14" fmla="*/ 4 w 10"/>
                <a:gd name="T15" fmla="*/ 10 h 10"/>
                <a:gd name="T16" fmla="*/ 5 w 10"/>
                <a:gd name="T17" fmla="*/ 9 h 10"/>
                <a:gd name="T18" fmla="*/ 5 w 10"/>
                <a:gd name="T19" fmla="*/ 7 h 10"/>
                <a:gd name="T20" fmla="*/ 7 w 10"/>
                <a:gd name="T21" fmla="*/ 7 h 10"/>
                <a:gd name="T22" fmla="*/ 7 w 10"/>
                <a:gd name="T23" fmla="*/ 5 h 10"/>
                <a:gd name="T24" fmla="*/ 9 w 10"/>
                <a:gd name="T25" fmla="*/ 5 h 10"/>
                <a:gd name="T26" fmla="*/ 9 w 10"/>
                <a:gd name="T27" fmla="*/ 4 h 10"/>
                <a:gd name="T28" fmla="*/ 10 w 10"/>
                <a:gd name="T29" fmla="*/ 4 h 10"/>
                <a:gd name="T30" fmla="*/ 5 w 10"/>
                <a:gd name="T31"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 h="10">
                  <a:moveTo>
                    <a:pt x="5" y="0"/>
                  </a:moveTo>
                  <a:lnTo>
                    <a:pt x="5" y="0"/>
                  </a:lnTo>
                  <a:lnTo>
                    <a:pt x="4" y="2"/>
                  </a:lnTo>
                  <a:lnTo>
                    <a:pt x="2" y="4"/>
                  </a:lnTo>
                  <a:lnTo>
                    <a:pt x="2" y="5"/>
                  </a:lnTo>
                  <a:lnTo>
                    <a:pt x="0" y="5"/>
                  </a:lnTo>
                  <a:lnTo>
                    <a:pt x="0" y="7"/>
                  </a:lnTo>
                  <a:lnTo>
                    <a:pt x="4" y="10"/>
                  </a:lnTo>
                  <a:lnTo>
                    <a:pt x="5" y="9"/>
                  </a:lnTo>
                  <a:lnTo>
                    <a:pt x="5" y="7"/>
                  </a:lnTo>
                  <a:lnTo>
                    <a:pt x="7" y="7"/>
                  </a:lnTo>
                  <a:lnTo>
                    <a:pt x="7" y="5"/>
                  </a:lnTo>
                  <a:lnTo>
                    <a:pt x="9" y="5"/>
                  </a:lnTo>
                  <a:lnTo>
                    <a:pt x="9" y="4"/>
                  </a:lnTo>
                  <a:lnTo>
                    <a:pt x="10" y="4"/>
                  </a:lnTo>
                  <a:lnTo>
                    <a:pt x="5"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98" name="Freeform 742">
              <a:extLst>
                <a:ext uri="{FF2B5EF4-FFF2-40B4-BE49-F238E27FC236}">
                  <a16:creationId xmlns:a16="http://schemas.microsoft.com/office/drawing/2014/main" id="{70BBFA8D-8207-05CE-9F16-6B771753372D}"/>
                </a:ext>
              </a:extLst>
            </p:cNvPr>
            <p:cNvSpPr>
              <a:spLocks/>
            </p:cNvSpPr>
            <p:nvPr/>
          </p:nvSpPr>
          <p:spPr bwMode="auto">
            <a:xfrm>
              <a:off x="1810" y="1590"/>
              <a:ext cx="10" cy="8"/>
            </a:xfrm>
            <a:custGeom>
              <a:avLst/>
              <a:gdLst>
                <a:gd name="T0" fmla="*/ 7 w 10"/>
                <a:gd name="T1" fmla="*/ 0 h 8"/>
                <a:gd name="T2" fmla="*/ 5 w 10"/>
                <a:gd name="T3" fmla="*/ 0 h 8"/>
                <a:gd name="T4" fmla="*/ 5 w 10"/>
                <a:gd name="T5" fmla="*/ 2 h 8"/>
                <a:gd name="T6" fmla="*/ 3 w 10"/>
                <a:gd name="T7" fmla="*/ 2 h 8"/>
                <a:gd name="T8" fmla="*/ 3 w 10"/>
                <a:gd name="T9" fmla="*/ 3 h 8"/>
                <a:gd name="T10" fmla="*/ 2 w 10"/>
                <a:gd name="T11" fmla="*/ 3 h 8"/>
                <a:gd name="T12" fmla="*/ 2 w 10"/>
                <a:gd name="T13" fmla="*/ 5 h 8"/>
                <a:gd name="T14" fmla="*/ 0 w 10"/>
                <a:gd name="T15" fmla="*/ 5 h 8"/>
                <a:gd name="T16" fmla="*/ 0 w 10"/>
                <a:gd name="T17" fmla="*/ 7 h 8"/>
                <a:gd name="T18" fmla="*/ 3 w 10"/>
                <a:gd name="T19" fmla="*/ 8 h 8"/>
                <a:gd name="T20" fmla="*/ 5 w 10"/>
                <a:gd name="T21" fmla="*/ 8 h 8"/>
                <a:gd name="T22" fmla="*/ 5 w 10"/>
                <a:gd name="T23" fmla="*/ 7 h 8"/>
                <a:gd name="T24" fmla="*/ 7 w 10"/>
                <a:gd name="T25" fmla="*/ 5 h 8"/>
                <a:gd name="T26" fmla="*/ 8 w 10"/>
                <a:gd name="T27" fmla="*/ 5 h 8"/>
                <a:gd name="T28" fmla="*/ 8 w 10"/>
                <a:gd name="T29" fmla="*/ 3 h 8"/>
                <a:gd name="T30" fmla="*/ 10 w 10"/>
                <a:gd name="T31" fmla="*/ 3 h 8"/>
                <a:gd name="T32" fmla="*/ 7 w 10"/>
                <a:gd name="T33"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0" h="8">
                  <a:moveTo>
                    <a:pt x="7" y="0"/>
                  </a:moveTo>
                  <a:lnTo>
                    <a:pt x="5" y="0"/>
                  </a:lnTo>
                  <a:lnTo>
                    <a:pt x="5" y="2"/>
                  </a:lnTo>
                  <a:lnTo>
                    <a:pt x="3" y="2"/>
                  </a:lnTo>
                  <a:lnTo>
                    <a:pt x="3" y="3"/>
                  </a:lnTo>
                  <a:lnTo>
                    <a:pt x="2" y="3"/>
                  </a:lnTo>
                  <a:lnTo>
                    <a:pt x="2" y="5"/>
                  </a:lnTo>
                  <a:lnTo>
                    <a:pt x="0" y="5"/>
                  </a:lnTo>
                  <a:lnTo>
                    <a:pt x="0" y="7"/>
                  </a:lnTo>
                  <a:lnTo>
                    <a:pt x="3" y="8"/>
                  </a:lnTo>
                  <a:lnTo>
                    <a:pt x="5" y="8"/>
                  </a:lnTo>
                  <a:lnTo>
                    <a:pt x="5" y="7"/>
                  </a:lnTo>
                  <a:lnTo>
                    <a:pt x="7" y="5"/>
                  </a:lnTo>
                  <a:lnTo>
                    <a:pt x="8" y="5"/>
                  </a:lnTo>
                  <a:lnTo>
                    <a:pt x="8" y="3"/>
                  </a:lnTo>
                  <a:lnTo>
                    <a:pt x="10" y="3"/>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599" name="Freeform 743">
              <a:extLst>
                <a:ext uri="{FF2B5EF4-FFF2-40B4-BE49-F238E27FC236}">
                  <a16:creationId xmlns:a16="http://schemas.microsoft.com/office/drawing/2014/main" id="{F290DE6B-F16F-7A56-4D50-4A4CF44196EC}"/>
                </a:ext>
              </a:extLst>
            </p:cNvPr>
            <p:cNvSpPr>
              <a:spLocks/>
            </p:cNvSpPr>
            <p:nvPr/>
          </p:nvSpPr>
          <p:spPr bwMode="auto">
            <a:xfrm>
              <a:off x="1812" y="1592"/>
              <a:ext cx="10" cy="8"/>
            </a:xfrm>
            <a:custGeom>
              <a:avLst/>
              <a:gdLst>
                <a:gd name="T0" fmla="*/ 6 w 10"/>
                <a:gd name="T1" fmla="*/ 0 h 8"/>
                <a:gd name="T2" fmla="*/ 5 w 10"/>
                <a:gd name="T3" fmla="*/ 0 h 8"/>
                <a:gd name="T4" fmla="*/ 5 w 10"/>
                <a:gd name="T5" fmla="*/ 1 h 8"/>
                <a:gd name="T6" fmla="*/ 3 w 10"/>
                <a:gd name="T7" fmla="*/ 1 h 8"/>
                <a:gd name="T8" fmla="*/ 3 w 10"/>
                <a:gd name="T9" fmla="*/ 3 h 8"/>
                <a:gd name="T10" fmla="*/ 1 w 10"/>
                <a:gd name="T11" fmla="*/ 3 h 8"/>
                <a:gd name="T12" fmla="*/ 1 w 10"/>
                <a:gd name="T13" fmla="*/ 5 h 8"/>
                <a:gd name="T14" fmla="*/ 0 w 10"/>
                <a:gd name="T15" fmla="*/ 6 h 8"/>
                <a:gd name="T16" fmla="*/ 5 w 10"/>
                <a:gd name="T17" fmla="*/ 8 h 8"/>
                <a:gd name="T18" fmla="*/ 5 w 10"/>
                <a:gd name="T19" fmla="*/ 6 h 8"/>
                <a:gd name="T20" fmla="*/ 6 w 10"/>
                <a:gd name="T21" fmla="*/ 6 h 8"/>
                <a:gd name="T22" fmla="*/ 6 w 10"/>
                <a:gd name="T23" fmla="*/ 5 h 8"/>
                <a:gd name="T24" fmla="*/ 8 w 10"/>
                <a:gd name="T25" fmla="*/ 5 h 8"/>
                <a:gd name="T26" fmla="*/ 8 w 10"/>
                <a:gd name="T27" fmla="*/ 3 h 8"/>
                <a:gd name="T28" fmla="*/ 10 w 10"/>
                <a:gd name="T29" fmla="*/ 3 h 8"/>
                <a:gd name="T30" fmla="*/ 6 w 10"/>
                <a:gd name="T31"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 h="8">
                  <a:moveTo>
                    <a:pt x="6" y="0"/>
                  </a:moveTo>
                  <a:lnTo>
                    <a:pt x="5" y="0"/>
                  </a:lnTo>
                  <a:lnTo>
                    <a:pt x="5" y="1"/>
                  </a:lnTo>
                  <a:lnTo>
                    <a:pt x="3" y="1"/>
                  </a:lnTo>
                  <a:lnTo>
                    <a:pt x="3" y="3"/>
                  </a:lnTo>
                  <a:lnTo>
                    <a:pt x="1" y="3"/>
                  </a:lnTo>
                  <a:lnTo>
                    <a:pt x="1" y="5"/>
                  </a:lnTo>
                  <a:lnTo>
                    <a:pt x="0" y="6"/>
                  </a:lnTo>
                  <a:lnTo>
                    <a:pt x="5" y="8"/>
                  </a:lnTo>
                  <a:lnTo>
                    <a:pt x="5" y="6"/>
                  </a:lnTo>
                  <a:lnTo>
                    <a:pt x="6" y="6"/>
                  </a:lnTo>
                  <a:lnTo>
                    <a:pt x="6" y="5"/>
                  </a:lnTo>
                  <a:lnTo>
                    <a:pt x="8" y="5"/>
                  </a:lnTo>
                  <a:lnTo>
                    <a:pt x="8" y="3"/>
                  </a:lnTo>
                  <a:lnTo>
                    <a:pt x="10" y="3"/>
                  </a:lnTo>
                  <a:lnTo>
                    <a:pt x="6"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00" name="Freeform 744">
              <a:extLst>
                <a:ext uri="{FF2B5EF4-FFF2-40B4-BE49-F238E27FC236}">
                  <a16:creationId xmlns:a16="http://schemas.microsoft.com/office/drawing/2014/main" id="{892A5A19-7C6B-9A17-E779-EB447C92D63E}"/>
                </a:ext>
              </a:extLst>
            </p:cNvPr>
            <p:cNvSpPr>
              <a:spLocks/>
            </p:cNvSpPr>
            <p:nvPr/>
          </p:nvSpPr>
          <p:spPr bwMode="auto">
            <a:xfrm>
              <a:off x="1813" y="1593"/>
              <a:ext cx="10" cy="9"/>
            </a:xfrm>
            <a:custGeom>
              <a:avLst/>
              <a:gdLst>
                <a:gd name="T0" fmla="*/ 7 w 10"/>
                <a:gd name="T1" fmla="*/ 0 h 9"/>
                <a:gd name="T2" fmla="*/ 5 w 10"/>
                <a:gd name="T3" fmla="*/ 0 h 9"/>
                <a:gd name="T4" fmla="*/ 5 w 10"/>
                <a:gd name="T5" fmla="*/ 2 h 9"/>
                <a:gd name="T6" fmla="*/ 4 w 10"/>
                <a:gd name="T7" fmla="*/ 2 h 9"/>
                <a:gd name="T8" fmla="*/ 2 w 10"/>
                <a:gd name="T9" fmla="*/ 4 h 9"/>
                <a:gd name="T10" fmla="*/ 2 w 10"/>
                <a:gd name="T11" fmla="*/ 5 h 9"/>
                <a:gd name="T12" fmla="*/ 0 w 10"/>
                <a:gd name="T13" fmla="*/ 5 h 9"/>
                <a:gd name="T14" fmla="*/ 5 w 10"/>
                <a:gd name="T15" fmla="*/ 9 h 9"/>
                <a:gd name="T16" fmla="*/ 5 w 10"/>
                <a:gd name="T17" fmla="*/ 7 h 9"/>
                <a:gd name="T18" fmla="*/ 7 w 10"/>
                <a:gd name="T19" fmla="*/ 7 h 9"/>
                <a:gd name="T20" fmla="*/ 7 w 10"/>
                <a:gd name="T21" fmla="*/ 5 h 9"/>
                <a:gd name="T22" fmla="*/ 9 w 10"/>
                <a:gd name="T23" fmla="*/ 4 h 9"/>
                <a:gd name="T24" fmla="*/ 10 w 10"/>
                <a:gd name="T25" fmla="*/ 4 h 9"/>
                <a:gd name="T26" fmla="*/ 7 w 10"/>
                <a:gd name="T27" fmla="*/ 0 h 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 h="9">
                  <a:moveTo>
                    <a:pt x="7" y="0"/>
                  </a:moveTo>
                  <a:lnTo>
                    <a:pt x="5" y="0"/>
                  </a:lnTo>
                  <a:lnTo>
                    <a:pt x="5" y="2"/>
                  </a:lnTo>
                  <a:lnTo>
                    <a:pt x="4" y="2"/>
                  </a:lnTo>
                  <a:lnTo>
                    <a:pt x="2" y="4"/>
                  </a:lnTo>
                  <a:lnTo>
                    <a:pt x="2" y="5"/>
                  </a:lnTo>
                  <a:lnTo>
                    <a:pt x="0" y="5"/>
                  </a:lnTo>
                  <a:lnTo>
                    <a:pt x="5" y="9"/>
                  </a:lnTo>
                  <a:lnTo>
                    <a:pt x="5" y="7"/>
                  </a:lnTo>
                  <a:lnTo>
                    <a:pt x="7" y="7"/>
                  </a:lnTo>
                  <a:lnTo>
                    <a:pt x="7" y="5"/>
                  </a:lnTo>
                  <a:lnTo>
                    <a:pt x="9" y="4"/>
                  </a:lnTo>
                  <a:lnTo>
                    <a:pt x="10" y="4"/>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01" name="Freeform 745">
              <a:extLst>
                <a:ext uri="{FF2B5EF4-FFF2-40B4-BE49-F238E27FC236}">
                  <a16:creationId xmlns:a16="http://schemas.microsoft.com/office/drawing/2014/main" id="{B4A25051-6088-1C4B-AC7F-D1666075A6FC}"/>
                </a:ext>
              </a:extLst>
            </p:cNvPr>
            <p:cNvSpPr>
              <a:spLocks/>
            </p:cNvSpPr>
            <p:nvPr/>
          </p:nvSpPr>
          <p:spPr bwMode="auto">
            <a:xfrm>
              <a:off x="1817" y="1595"/>
              <a:ext cx="8" cy="8"/>
            </a:xfrm>
            <a:custGeom>
              <a:avLst/>
              <a:gdLst>
                <a:gd name="T0" fmla="*/ 5 w 8"/>
                <a:gd name="T1" fmla="*/ 0 h 8"/>
                <a:gd name="T2" fmla="*/ 3 w 8"/>
                <a:gd name="T3" fmla="*/ 0 h 8"/>
                <a:gd name="T4" fmla="*/ 3 w 8"/>
                <a:gd name="T5" fmla="*/ 2 h 8"/>
                <a:gd name="T6" fmla="*/ 1 w 8"/>
                <a:gd name="T7" fmla="*/ 2 h 8"/>
                <a:gd name="T8" fmla="*/ 1 w 8"/>
                <a:gd name="T9" fmla="*/ 3 h 8"/>
                <a:gd name="T10" fmla="*/ 0 w 8"/>
                <a:gd name="T11" fmla="*/ 3 h 8"/>
                <a:gd name="T12" fmla="*/ 0 w 8"/>
                <a:gd name="T13" fmla="*/ 5 h 8"/>
                <a:gd name="T14" fmla="*/ 3 w 8"/>
                <a:gd name="T15" fmla="*/ 8 h 8"/>
                <a:gd name="T16" fmla="*/ 3 w 8"/>
                <a:gd name="T17" fmla="*/ 7 h 8"/>
                <a:gd name="T18" fmla="*/ 5 w 8"/>
                <a:gd name="T19" fmla="*/ 7 h 8"/>
                <a:gd name="T20" fmla="*/ 5 w 8"/>
                <a:gd name="T21" fmla="*/ 5 h 8"/>
                <a:gd name="T22" fmla="*/ 6 w 8"/>
                <a:gd name="T23" fmla="*/ 5 h 8"/>
                <a:gd name="T24" fmla="*/ 6 w 8"/>
                <a:gd name="T25" fmla="*/ 3 h 8"/>
                <a:gd name="T26" fmla="*/ 8 w 8"/>
                <a:gd name="T27" fmla="*/ 3 h 8"/>
                <a:gd name="T28" fmla="*/ 5 w 8"/>
                <a:gd name="T29"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 h="8">
                  <a:moveTo>
                    <a:pt x="5" y="0"/>
                  </a:moveTo>
                  <a:lnTo>
                    <a:pt x="3" y="0"/>
                  </a:lnTo>
                  <a:lnTo>
                    <a:pt x="3" y="2"/>
                  </a:lnTo>
                  <a:lnTo>
                    <a:pt x="1" y="2"/>
                  </a:lnTo>
                  <a:lnTo>
                    <a:pt x="1" y="3"/>
                  </a:lnTo>
                  <a:lnTo>
                    <a:pt x="0" y="3"/>
                  </a:lnTo>
                  <a:lnTo>
                    <a:pt x="0" y="5"/>
                  </a:lnTo>
                  <a:lnTo>
                    <a:pt x="3" y="8"/>
                  </a:lnTo>
                  <a:lnTo>
                    <a:pt x="3" y="7"/>
                  </a:lnTo>
                  <a:lnTo>
                    <a:pt x="5" y="7"/>
                  </a:lnTo>
                  <a:lnTo>
                    <a:pt x="5" y="5"/>
                  </a:lnTo>
                  <a:lnTo>
                    <a:pt x="6" y="5"/>
                  </a:lnTo>
                  <a:lnTo>
                    <a:pt x="6" y="3"/>
                  </a:lnTo>
                  <a:lnTo>
                    <a:pt x="8" y="3"/>
                  </a:lnTo>
                  <a:lnTo>
                    <a:pt x="5"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02" name="Freeform 746">
              <a:extLst>
                <a:ext uri="{FF2B5EF4-FFF2-40B4-BE49-F238E27FC236}">
                  <a16:creationId xmlns:a16="http://schemas.microsoft.com/office/drawing/2014/main" id="{383C45CA-62B4-259C-E1F5-44433E0A1000}"/>
                </a:ext>
              </a:extLst>
            </p:cNvPr>
            <p:cNvSpPr>
              <a:spLocks/>
            </p:cNvSpPr>
            <p:nvPr/>
          </p:nvSpPr>
          <p:spPr bwMode="auto">
            <a:xfrm>
              <a:off x="1818" y="1597"/>
              <a:ext cx="8" cy="6"/>
            </a:xfrm>
            <a:custGeom>
              <a:avLst/>
              <a:gdLst>
                <a:gd name="T0" fmla="*/ 5 w 8"/>
                <a:gd name="T1" fmla="*/ 0 h 6"/>
                <a:gd name="T2" fmla="*/ 4 w 8"/>
                <a:gd name="T3" fmla="*/ 0 h 6"/>
                <a:gd name="T4" fmla="*/ 2 w 8"/>
                <a:gd name="T5" fmla="*/ 1 h 6"/>
                <a:gd name="T6" fmla="*/ 2 w 8"/>
                <a:gd name="T7" fmla="*/ 3 h 6"/>
                <a:gd name="T8" fmla="*/ 0 w 8"/>
                <a:gd name="T9" fmla="*/ 3 h 6"/>
                <a:gd name="T10" fmla="*/ 0 w 8"/>
                <a:gd name="T11" fmla="*/ 5 h 6"/>
                <a:gd name="T12" fmla="*/ 4 w 8"/>
                <a:gd name="T13" fmla="*/ 6 h 6"/>
                <a:gd name="T14" fmla="*/ 5 w 8"/>
                <a:gd name="T15" fmla="*/ 6 h 6"/>
                <a:gd name="T16" fmla="*/ 5 w 8"/>
                <a:gd name="T17" fmla="*/ 5 h 6"/>
                <a:gd name="T18" fmla="*/ 7 w 8"/>
                <a:gd name="T19" fmla="*/ 5 h 6"/>
                <a:gd name="T20" fmla="*/ 7 w 8"/>
                <a:gd name="T21" fmla="*/ 3 h 6"/>
                <a:gd name="T22" fmla="*/ 8 w 8"/>
                <a:gd name="T23" fmla="*/ 3 h 6"/>
                <a:gd name="T24" fmla="*/ 5 w 8"/>
                <a:gd name="T25" fmla="*/ 0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 h="6">
                  <a:moveTo>
                    <a:pt x="5" y="0"/>
                  </a:moveTo>
                  <a:lnTo>
                    <a:pt x="4" y="0"/>
                  </a:lnTo>
                  <a:lnTo>
                    <a:pt x="2" y="1"/>
                  </a:lnTo>
                  <a:lnTo>
                    <a:pt x="2" y="3"/>
                  </a:lnTo>
                  <a:lnTo>
                    <a:pt x="0" y="3"/>
                  </a:lnTo>
                  <a:lnTo>
                    <a:pt x="0" y="5"/>
                  </a:lnTo>
                  <a:lnTo>
                    <a:pt x="4" y="6"/>
                  </a:lnTo>
                  <a:lnTo>
                    <a:pt x="5" y="6"/>
                  </a:lnTo>
                  <a:lnTo>
                    <a:pt x="5" y="5"/>
                  </a:lnTo>
                  <a:lnTo>
                    <a:pt x="7" y="5"/>
                  </a:lnTo>
                  <a:lnTo>
                    <a:pt x="7" y="3"/>
                  </a:lnTo>
                  <a:lnTo>
                    <a:pt x="8" y="3"/>
                  </a:lnTo>
                  <a:lnTo>
                    <a:pt x="5"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03" name="Freeform 747">
              <a:extLst>
                <a:ext uri="{FF2B5EF4-FFF2-40B4-BE49-F238E27FC236}">
                  <a16:creationId xmlns:a16="http://schemas.microsoft.com/office/drawing/2014/main" id="{066CD060-E426-A107-1BB6-F4066D486819}"/>
                </a:ext>
              </a:extLst>
            </p:cNvPr>
            <p:cNvSpPr>
              <a:spLocks/>
            </p:cNvSpPr>
            <p:nvPr/>
          </p:nvSpPr>
          <p:spPr bwMode="auto">
            <a:xfrm>
              <a:off x="1820" y="1598"/>
              <a:ext cx="8" cy="7"/>
            </a:xfrm>
            <a:custGeom>
              <a:avLst/>
              <a:gdLst>
                <a:gd name="T0" fmla="*/ 5 w 8"/>
                <a:gd name="T1" fmla="*/ 0 h 7"/>
                <a:gd name="T2" fmla="*/ 3 w 8"/>
                <a:gd name="T3" fmla="*/ 0 h 7"/>
                <a:gd name="T4" fmla="*/ 3 w 8"/>
                <a:gd name="T5" fmla="*/ 2 h 7"/>
                <a:gd name="T6" fmla="*/ 2 w 8"/>
                <a:gd name="T7" fmla="*/ 2 h 7"/>
                <a:gd name="T8" fmla="*/ 2 w 8"/>
                <a:gd name="T9" fmla="*/ 4 h 7"/>
                <a:gd name="T10" fmla="*/ 0 w 8"/>
                <a:gd name="T11" fmla="*/ 4 h 7"/>
                <a:gd name="T12" fmla="*/ 0 w 8"/>
                <a:gd name="T13" fmla="*/ 5 h 7"/>
                <a:gd name="T14" fmla="*/ 5 w 8"/>
                <a:gd name="T15" fmla="*/ 7 h 7"/>
                <a:gd name="T16" fmla="*/ 5 w 8"/>
                <a:gd name="T17" fmla="*/ 5 h 7"/>
                <a:gd name="T18" fmla="*/ 6 w 8"/>
                <a:gd name="T19" fmla="*/ 5 h 7"/>
                <a:gd name="T20" fmla="*/ 6 w 8"/>
                <a:gd name="T21" fmla="*/ 4 h 7"/>
                <a:gd name="T22" fmla="*/ 8 w 8"/>
                <a:gd name="T23" fmla="*/ 4 h 7"/>
                <a:gd name="T24" fmla="*/ 5 w 8"/>
                <a:gd name="T25" fmla="*/ 0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 h="7">
                  <a:moveTo>
                    <a:pt x="5" y="0"/>
                  </a:moveTo>
                  <a:lnTo>
                    <a:pt x="3" y="0"/>
                  </a:lnTo>
                  <a:lnTo>
                    <a:pt x="3" y="2"/>
                  </a:lnTo>
                  <a:lnTo>
                    <a:pt x="2" y="2"/>
                  </a:lnTo>
                  <a:lnTo>
                    <a:pt x="2" y="4"/>
                  </a:lnTo>
                  <a:lnTo>
                    <a:pt x="0" y="4"/>
                  </a:lnTo>
                  <a:lnTo>
                    <a:pt x="0" y="5"/>
                  </a:lnTo>
                  <a:lnTo>
                    <a:pt x="5" y="7"/>
                  </a:lnTo>
                  <a:lnTo>
                    <a:pt x="5" y="5"/>
                  </a:lnTo>
                  <a:lnTo>
                    <a:pt x="6" y="5"/>
                  </a:lnTo>
                  <a:lnTo>
                    <a:pt x="6" y="4"/>
                  </a:lnTo>
                  <a:lnTo>
                    <a:pt x="8" y="4"/>
                  </a:lnTo>
                  <a:lnTo>
                    <a:pt x="5"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04" name="Freeform 748">
              <a:extLst>
                <a:ext uri="{FF2B5EF4-FFF2-40B4-BE49-F238E27FC236}">
                  <a16:creationId xmlns:a16="http://schemas.microsoft.com/office/drawing/2014/main" id="{EE2D9E90-5B24-BDB6-46D1-78E2745883ED}"/>
                </a:ext>
              </a:extLst>
            </p:cNvPr>
            <p:cNvSpPr>
              <a:spLocks/>
            </p:cNvSpPr>
            <p:nvPr/>
          </p:nvSpPr>
          <p:spPr bwMode="auto">
            <a:xfrm>
              <a:off x="1822" y="1600"/>
              <a:ext cx="8" cy="7"/>
            </a:xfrm>
            <a:custGeom>
              <a:avLst/>
              <a:gdLst>
                <a:gd name="T0" fmla="*/ 4 w 8"/>
                <a:gd name="T1" fmla="*/ 0 h 7"/>
                <a:gd name="T2" fmla="*/ 3 w 8"/>
                <a:gd name="T3" fmla="*/ 0 h 7"/>
                <a:gd name="T4" fmla="*/ 3 w 8"/>
                <a:gd name="T5" fmla="*/ 2 h 7"/>
                <a:gd name="T6" fmla="*/ 1 w 8"/>
                <a:gd name="T7" fmla="*/ 2 h 7"/>
                <a:gd name="T8" fmla="*/ 1 w 8"/>
                <a:gd name="T9" fmla="*/ 3 h 7"/>
                <a:gd name="T10" fmla="*/ 0 w 8"/>
                <a:gd name="T11" fmla="*/ 3 h 7"/>
                <a:gd name="T12" fmla="*/ 4 w 8"/>
                <a:gd name="T13" fmla="*/ 7 h 7"/>
                <a:gd name="T14" fmla="*/ 4 w 8"/>
                <a:gd name="T15" fmla="*/ 5 h 7"/>
                <a:gd name="T16" fmla="*/ 6 w 8"/>
                <a:gd name="T17" fmla="*/ 5 h 7"/>
                <a:gd name="T18" fmla="*/ 6 w 8"/>
                <a:gd name="T19" fmla="*/ 3 h 7"/>
                <a:gd name="T20" fmla="*/ 8 w 8"/>
                <a:gd name="T21" fmla="*/ 3 h 7"/>
                <a:gd name="T22" fmla="*/ 4 w 8"/>
                <a:gd name="T23" fmla="*/ 0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 h="7">
                  <a:moveTo>
                    <a:pt x="4" y="0"/>
                  </a:moveTo>
                  <a:lnTo>
                    <a:pt x="3" y="0"/>
                  </a:lnTo>
                  <a:lnTo>
                    <a:pt x="3" y="2"/>
                  </a:lnTo>
                  <a:lnTo>
                    <a:pt x="1" y="2"/>
                  </a:lnTo>
                  <a:lnTo>
                    <a:pt x="1" y="3"/>
                  </a:lnTo>
                  <a:lnTo>
                    <a:pt x="0" y="3"/>
                  </a:lnTo>
                  <a:lnTo>
                    <a:pt x="4" y="7"/>
                  </a:lnTo>
                  <a:lnTo>
                    <a:pt x="4" y="5"/>
                  </a:lnTo>
                  <a:lnTo>
                    <a:pt x="6" y="5"/>
                  </a:lnTo>
                  <a:lnTo>
                    <a:pt x="6" y="3"/>
                  </a:lnTo>
                  <a:lnTo>
                    <a:pt x="8" y="3"/>
                  </a:lnTo>
                  <a:lnTo>
                    <a:pt x="4"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05" name="Freeform 749">
              <a:extLst>
                <a:ext uri="{FF2B5EF4-FFF2-40B4-BE49-F238E27FC236}">
                  <a16:creationId xmlns:a16="http://schemas.microsoft.com/office/drawing/2014/main" id="{C47D95F1-E4AB-9C4D-118D-F1329552502A}"/>
                </a:ext>
              </a:extLst>
            </p:cNvPr>
            <p:cNvSpPr>
              <a:spLocks/>
            </p:cNvSpPr>
            <p:nvPr/>
          </p:nvSpPr>
          <p:spPr bwMode="auto">
            <a:xfrm>
              <a:off x="1825" y="1602"/>
              <a:ext cx="6" cy="6"/>
            </a:xfrm>
            <a:custGeom>
              <a:avLst/>
              <a:gdLst>
                <a:gd name="T0" fmla="*/ 3 w 6"/>
                <a:gd name="T1" fmla="*/ 0 h 6"/>
                <a:gd name="T2" fmla="*/ 1 w 6"/>
                <a:gd name="T3" fmla="*/ 0 h 6"/>
                <a:gd name="T4" fmla="*/ 1 w 6"/>
                <a:gd name="T5" fmla="*/ 1 h 6"/>
                <a:gd name="T6" fmla="*/ 0 w 6"/>
                <a:gd name="T7" fmla="*/ 1 h 6"/>
                <a:gd name="T8" fmla="*/ 0 w 6"/>
                <a:gd name="T9" fmla="*/ 3 h 6"/>
                <a:gd name="T10" fmla="*/ 3 w 6"/>
                <a:gd name="T11" fmla="*/ 6 h 6"/>
                <a:gd name="T12" fmla="*/ 3 w 6"/>
                <a:gd name="T13" fmla="*/ 5 h 6"/>
                <a:gd name="T14" fmla="*/ 5 w 6"/>
                <a:gd name="T15" fmla="*/ 5 h 6"/>
                <a:gd name="T16" fmla="*/ 5 w 6"/>
                <a:gd name="T17" fmla="*/ 3 h 6"/>
                <a:gd name="T18" fmla="*/ 6 w 6"/>
                <a:gd name="T19" fmla="*/ 3 h 6"/>
                <a:gd name="T20" fmla="*/ 3 w 6"/>
                <a:gd name="T21" fmla="*/ 0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 h="6">
                  <a:moveTo>
                    <a:pt x="3" y="0"/>
                  </a:moveTo>
                  <a:lnTo>
                    <a:pt x="1" y="0"/>
                  </a:lnTo>
                  <a:lnTo>
                    <a:pt x="1" y="1"/>
                  </a:lnTo>
                  <a:lnTo>
                    <a:pt x="0" y="1"/>
                  </a:lnTo>
                  <a:lnTo>
                    <a:pt x="0" y="3"/>
                  </a:lnTo>
                  <a:lnTo>
                    <a:pt x="3" y="6"/>
                  </a:lnTo>
                  <a:lnTo>
                    <a:pt x="3" y="5"/>
                  </a:lnTo>
                  <a:lnTo>
                    <a:pt x="5" y="5"/>
                  </a:lnTo>
                  <a:lnTo>
                    <a:pt x="5" y="3"/>
                  </a:lnTo>
                  <a:lnTo>
                    <a:pt x="6" y="3"/>
                  </a:lnTo>
                  <a:lnTo>
                    <a:pt x="3"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06" name="Freeform 750">
              <a:extLst>
                <a:ext uri="{FF2B5EF4-FFF2-40B4-BE49-F238E27FC236}">
                  <a16:creationId xmlns:a16="http://schemas.microsoft.com/office/drawing/2014/main" id="{05187781-D22D-E7BD-A557-5D3BEF36DD9E}"/>
                </a:ext>
              </a:extLst>
            </p:cNvPr>
            <p:cNvSpPr>
              <a:spLocks noEditPoints="1"/>
            </p:cNvSpPr>
            <p:nvPr/>
          </p:nvSpPr>
          <p:spPr bwMode="auto">
            <a:xfrm>
              <a:off x="1826" y="1603"/>
              <a:ext cx="17" cy="13"/>
            </a:xfrm>
            <a:custGeom>
              <a:avLst/>
              <a:gdLst>
                <a:gd name="T0" fmla="*/ 4 w 17"/>
                <a:gd name="T1" fmla="*/ 0 h 13"/>
                <a:gd name="T2" fmla="*/ 4 w 17"/>
                <a:gd name="T3" fmla="*/ 0 h 13"/>
                <a:gd name="T4" fmla="*/ 2 w 17"/>
                <a:gd name="T5" fmla="*/ 0 h 13"/>
                <a:gd name="T6" fmla="*/ 2 w 17"/>
                <a:gd name="T7" fmla="*/ 2 h 13"/>
                <a:gd name="T8" fmla="*/ 0 w 17"/>
                <a:gd name="T9" fmla="*/ 2 h 13"/>
                <a:gd name="T10" fmla="*/ 0 w 17"/>
                <a:gd name="T11" fmla="*/ 4 h 13"/>
                <a:gd name="T12" fmla="*/ 4 w 17"/>
                <a:gd name="T13" fmla="*/ 5 h 13"/>
                <a:gd name="T14" fmla="*/ 5 w 17"/>
                <a:gd name="T15" fmla="*/ 5 h 13"/>
                <a:gd name="T16" fmla="*/ 5 w 17"/>
                <a:gd name="T17" fmla="*/ 4 h 13"/>
                <a:gd name="T18" fmla="*/ 7 w 17"/>
                <a:gd name="T19" fmla="*/ 4 h 13"/>
                <a:gd name="T20" fmla="*/ 4 w 17"/>
                <a:gd name="T21" fmla="*/ 0 h 13"/>
                <a:gd name="T22" fmla="*/ 17 w 17"/>
                <a:gd name="T23" fmla="*/ 13 h 13"/>
                <a:gd name="T24" fmla="*/ 17 w 17"/>
                <a:gd name="T25" fmla="*/ 13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 h="13">
                  <a:moveTo>
                    <a:pt x="4" y="0"/>
                  </a:moveTo>
                  <a:lnTo>
                    <a:pt x="4" y="0"/>
                  </a:lnTo>
                  <a:lnTo>
                    <a:pt x="2" y="0"/>
                  </a:lnTo>
                  <a:lnTo>
                    <a:pt x="2" y="2"/>
                  </a:lnTo>
                  <a:lnTo>
                    <a:pt x="0" y="2"/>
                  </a:lnTo>
                  <a:lnTo>
                    <a:pt x="0" y="4"/>
                  </a:lnTo>
                  <a:lnTo>
                    <a:pt x="4" y="5"/>
                  </a:lnTo>
                  <a:lnTo>
                    <a:pt x="5" y="5"/>
                  </a:lnTo>
                  <a:lnTo>
                    <a:pt x="5" y="4"/>
                  </a:lnTo>
                  <a:lnTo>
                    <a:pt x="7" y="4"/>
                  </a:lnTo>
                  <a:lnTo>
                    <a:pt x="4" y="0"/>
                  </a:lnTo>
                  <a:close/>
                  <a:moveTo>
                    <a:pt x="17" y="13"/>
                  </a:moveTo>
                  <a:lnTo>
                    <a:pt x="17" y="13"/>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07" name="Freeform 751">
              <a:extLst>
                <a:ext uri="{FF2B5EF4-FFF2-40B4-BE49-F238E27FC236}">
                  <a16:creationId xmlns:a16="http://schemas.microsoft.com/office/drawing/2014/main" id="{4917EAF6-D43F-AE39-3639-4AB100A5D9E5}"/>
                </a:ext>
              </a:extLst>
            </p:cNvPr>
            <p:cNvSpPr>
              <a:spLocks noEditPoints="1"/>
            </p:cNvSpPr>
            <p:nvPr/>
          </p:nvSpPr>
          <p:spPr bwMode="auto">
            <a:xfrm>
              <a:off x="1828" y="1605"/>
              <a:ext cx="15" cy="11"/>
            </a:xfrm>
            <a:custGeom>
              <a:avLst/>
              <a:gdLst>
                <a:gd name="T0" fmla="*/ 3 w 15"/>
                <a:gd name="T1" fmla="*/ 0 h 11"/>
                <a:gd name="T2" fmla="*/ 3 w 15"/>
                <a:gd name="T3" fmla="*/ 0 h 11"/>
                <a:gd name="T4" fmla="*/ 2 w 15"/>
                <a:gd name="T5" fmla="*/ 0 h 11"/>
                <a:gd name="T6" fmla="*/ 2 w 15"/>
                <a:gd name="T7" fmla="*/ 2 h 11"/>
                <a:gd name="T8" fmla="*/ 0 w 15"/>
                <a:gd name="T9" fmla="*/ 2 h 11"/>
                <a:gd name="T10" fmla="*/ 0 w 15"/>
                <a:gd name="T11" fmla="*/ 3 h 11"/>
                <a:gd name="T12" fmla="*/ 5 w 15"/>
                <a:gd name="T13" fmla="*/ 5 h 11"/>
                <a:gd name="T14" fmla="*/ 5 w 15"/>
                <a:gd name="T15" fmla="*/ 3 h 11"/>
                <a:gd name="T16" fmla="*/ 7 w 15"/>
                <a:gd name="T17" fmla="*/ 3 h 11"/>
                <a:gd name="T18" fmla="*/ 3 w 15"/>
                <a:gd name="T19" fmla="*/ 0 h 11"/>
                <a:gd name="T20" fmla="*/ 12 w 15"/>
                <a:gd name="T21" fmla="*/ 10 h 11"/>
                <a:gd name="T22" fmla="*/ 15 w 15"/>
                <a:gd name="T23" fmla="*/ 11 h 11"/>
                <a:gd name="T24" fmla="*/ 13 w 15"/>
                <a:gd name="T25" fmla="*/ 10 h 11"/>
                <a:gd name="T26" fmla="*/ 12 w 15"/>
                <a:gd name="T27" fmla="*/ 1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5" h="11">
                  <a:moveTo>
                    <a:pt x="3" y="0"/>
                  </a:moveTo>
                  <a:lnTo>
                    <a:pt x="3" y="0"/>
                  </a:lnTo>
                  <a:lnTo>
                    <a:pt x="2" y="0"/>
                  </a:lnTo>
                  <a:lnTo>
                    <a:pt x="2" y="2"/>
                  </a:lnTo>
                  <a:lnTo>
                    <a:pt x="0" y="2"/>
                  </a:lnTo>
                  <a:lnTo>
                    <a:pt x="0" y="3"/>
                  </a:lnTo>
                  <a:lnTo>
                    <a:pt x="5" y="5"/>
                  </a:lnTo>
                  <a:lnTo>
                    <a:pt x="5" y="3"/>
                  </a:lnTo>
                  <a:lnTo>
                    <a:pt x="7" y="3"/>
                  </a:lnTo>
                  <a:lnTo>
                    <a:pt x="3" y="0"/>
                  </a:lnTo>
                  <a:close/>
                  <a:moveTo>
                    <a:pt x="12" y="10"/>
                  </a:moveTo>
                  <a:lnTo>
                    <a:pt x="15" y="11"/>
                  </a:lnTo>
                  <a:lnTo>
                    <a:pt x="13" y="10"/>
                  </a:lnTo>
                  <a:lnTo>
                    <a:pt x="12" y="1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08" name="Freeform 752">
              <a:extLst>
                <a:ext uri="{FF2B5EF4-FFF2-40B4-BE49-F238E27FC236}">
                  <a16:creationId xmlns:a16="http://schemas.microsoft.com/office/drawing/2014/main" id="{EDD71A2E-826F-5565-739D-1E1791E18D6D}"/>
                </a:ext>
              </a:extLst>
            </p:cNvPr>
            <p:cNvSpPr>
              <a:spLocks/>
            </p:cNvSpPr>
            <p:nvPr/>
          </p:nvSpPr>
          <p:spPr bwMode="auto">
            <a:xfrm>
              <a:off x="1830" y="1607"/>
              <a:ext cx="13" cy="9"/>
            </a:xfrm>
            <a:custGeom>
              <a:avLst/>
              <a:gdLst>
                <a:gd name="T0" fmla="*/ 3 w 13"/>
                <a:gd name="T1" fmla="*/ 0 h 9"/>
                <a:gd name="T2" fmla="*/ 3 w 13"/>
                <a:gd name="T3" fmla="*/ 0 h 9"/>
                <a:gd name="T4" fmla="*/ 1 w 13"/>
                <a:gd name="T5" fmla="*/ 0 h 9"/>
                <a:gd name="T6" fmla="*/ 1 w 13"/>
                <a:gd name="T7" fmla="*/ 1 h 9"/>
                <a:gd name="T8" fmla="*/ 0 w 13"/>
                <a:gd name="T9" fmla="*/ 1 h 9"/>
                <a:gd name="T10" fmla="*/ 13 w 13"/>
                <a:gd name="T11" fmla="*/ 9 h 9"/>
                <a:gd name="T12" fmla="*/ 3 w 13"/>
                <a:gd name="T13" fmla="*/ 0 h 9"/>
              </a:gdLst>
              <a:ahLst/>
              <a:cxnLst>
                <a:cxn ang="0">
                  <a:pos x="T0" y="T1"/>
                </a:cxn>
                <a:cxn ang="0">
                  <a:pos x="T2" y="T3"/>
                </a:cxn>
                <a:cxn ang="0">
                  <a:pos x="T4" y="T5"/>
                </a:cxn>
                <a:cxn ang="0">
                  <a:pos x="T6" y="T7"/>
                </a:cxn>
                <a:cxn ang="0">
                  <a:pos x="T8" y="T9"/>
                </a:cxn>
                <a:cxn ang="0">
                  <a:pos x="T10" y="T11"/>
                </a:cxn>
                <a:cxn ang="0">
                  <a:pos x="T12" y="T13"/>
                </a:cxn>
              </a:cxnLst>
              <a:rect l="0" t="0" r="r" b="b"/>
              <a:pathLst>
                <a:path w="13" h="9">
                  <a:moveTo>
                    <a:pt x="3" y="0"/>
                  </a:moveTo>
                  <a:lnTo>
                    <a:pt x="3" y="0"/>
                  </a:lnTo>
                  <a:lnTo>
                    <a:pt x="1" y="0"/>
                  </a:lnTo>
                  <a:lnTo>
                    <a:pt x="1" y="1"/>
                  </a:lnTo>
                  <a:lnTo>
                    <a:pt x="0" y="1"/>
                  </a:lnTo>
                  <a:lnTo>
                    <a:pt x="13" y="9"/>
                  </a:lnTo>
                  <a:lnTo>
                    <a:pt x="3"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09" name="Freeform 753">
              <a:extLst>
                <a:ext uri="{FF2B5EF4-FFF2-40B4-BE49-F238E27FC236}">
                  <a16:creationId xmlns:a16="http://schemas.microsoft.com/office/drawing/2014/main" id="{91BD3D25-9710-1AC2-B350-B9F4361C832D}"/>
                </a:ext>
              </a:extLst>
            </p:cNvPr>
            <p:cNvSpPr>
              <a:spLocks/>
            </p:cNvSpPr>
            <p:nvPr/>
          </p:nvSpPr>
          <p:spPr bwMode="auto">
            <a:xfrm>
              <a:off x="1833" y="1608"/>
              <a:ext cx="8" cy="7"/>
            </a:xfrm>
            <a:custGeom>
              <a:avLst/>
              <a:gdLst>
                <a:gd name="T0" fmla="*/ 2 w 8"/>
                <a:gd name="T1" fmla="*/ 0 h 7"/>
                <a:gd name="T2" fmla="*/ 2 w 8"/>
                <a:gd name="T3" fmla="*/ 0 h 7"/>
                <a:gd name="T4" fmla="*/ 0 w 8"/>
                <a:gd name="T5" fmla="*/ 0 h 7"/>
                <a:gd name="T6" fmla="*/ 0 w 8"/>
                <a:gd name="T7" fmla="*/ 2 h 7"/>
                <a:gd name="T8" fmla="*/ 7 w 8"/>
                <a:gd name="T9" fmla="*/ 7 h 7"/>
                <a:gd name="T10" fmla="*/ 8 w 8"/>
                <a:gd name="T11" fmla="*/ 7 h 7"/>
                <a:gd name="T12" fmla="*/ 2 w 8"/>
                <a:gd name="T13" fmla="*/ 0 h 7"/>
              </a:gdLst>
              <a:ahLst/>
              <a:cxnLst>
                <a:cxn ang="0">
                  <a:pos x="T0" y="T1"/>
                </a:cxn>
                <a:cxn ang="0">
                  <a:pos x="T2" y="T3"/>
                </a:cxn>
                <a:cxn ang="0">
                  <a:pos x="T4" y="T5"/>
                </a:cxn>
                <a:cxn ang="0">
                  <a:pos x="T6" y="T7"/>
                </a:cxn>
                <a:cxn ang="0">
                  <a:pos x="T8" y="T9"/>
                </a:cxn>
                <a:cxn ang="0">
                  <a:pos x="T10" y="T11"/>
                </a:cxn>
                <a:cxn ang="0">
                  <a:pos x="T12" y="T13"/>
                </a:cxn>
              </a:cxnLst>
              <a:rect l="0" t="0" r="r" b="b"/>
              <a:pathLst>
                <a:path w="8" h="7">
                  <a:moveTo>
                    <a:pt x="2" y="0"/>
                  </a:moveTo>
                  <a:lnTo>
                    <a:pt x="2" y="0"/>
                  </a:lnTo>
                  <a:lnTo>
                    <a:pt x="0" y="0"/>
                  </a:lnTo>
                  <a:lnTo>
                    <a:pt x="0" y="2"/>
                  </a:lnTo>
                  <a:lnTo>
                    <a:pt x="7" y="7"/>
                  </a:lnTo>
                  <a:lnTo>
                    <a:pt x="8" y="7"/>
                  </a:lnTo>
                  <a:lnTo>
                    <a:pt x="2"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10" name="Freeform 754">
              <a:extLst>
                <a:ext uri="{FF2B5EF4-FFF2-40B4-BE49-F238E27FC236}">
                  <a16:creationId xmlns:a16="http://schemas.microsoft.com/office/drawing/2014/main" id="{768B1374-DCA5-945F-581D-246634DA7019}"/>
                </a:ext>
              </a:extLst>
            </p:cNvPr>
            <p:cNvSpPr>
              <a:spLocks/>
            </p:cNvSpPr>
            <p:nvPr/>
          </p:nvSpPr>
          <p:spPr bwMode="auto">
            <a:xfrm>
              <a:off x="1835" y="1610"/>
              <a:ext cx="3" cy="3"/>
            </a:xfrm>
            <a:custGeom>
              <a:avLst/>
              <a:gdLst>
                <a:gd name="T0" fmla="*/ 3 w 3"/>
                <a:gd name="T1" fmla="*/ 3 h 3"/>
                <a:gd name="T2" fmla="*/ 3 w 3"/>
                <a:gd name="T3" fmla="*/ 3 h 3"/>
                <a:gd name="T4" fmla="*/ 3 w 3"/>
                <a:gd name="T5" fmla="*/ 2 h 3"/>
                <a:gd name="T6" fmla="*/ 1 w 3"/>
                <a:gd name="T7" fmla="*/ 2 h 3"/>
                <a:gd name="T8" fmla="*/ 1 w 3"/>
                <a:gd name="T9" fmla="*/ 0 h 3"/>
                <a:gd name="T10" fmla="*/ 0 w 3"/>
                <a:gd name="T11" fmla="*/ 2 h 3"/>
                <a:gd name="T12" fmla="*/ 3 w 3"/>
                <a:gd name="T13" fmla="*/ 3 h 3"/>
              </a:gdLst>
              <a:ahLst/>
              <a:cxnLst>
                <a:cxn ang="0">
                  <a:pos x="T0" y="T1"/>
                </a:cxn>
                <a:cxn ang="0">
                  <a:pos x="T2" y="T3"/>
                </a:cxn>
                <a:cxn ang="0">
                  <a:pos x="T4" y="T5"/>
                </a:cxn>
                <a:cxn ang="0">
                  <a:pos x="T6" y="T7"/>
                </a:cxn>
                <a:cxn ang="0">
                  <a:pos x="T8" y="T9"/>
                </a:cxn>
                <a:cxn ang="0">
                  <a:pos x="T10" y="T11"/>
                </a:cxn>
                <a:cxn ang="0">
                  <a:pos x="T12" y="T13"/>
                </a:cxn>
              </a:cxnLst>
              <a:rect l="0" t="0" r="r" b="b"/>
              <a:pathLst>
                <a:path w="3" h="3">
                  <a:moveTo>
                    <a:pt x="3" y="3"/>
                  </a:moveTo>
                  <a:lnTo>
                    <a:pt x="3" y="3"/>
                  </a:lnTo>
                  <a:lnTo>
                    <a:pt x="3" y="2"/>
                  </a:lnTo>
                  <a:lnTo>
                    <a:pt x="1" y="2"/>
                  </a:lnTo>
                  <a:lnTo>
                    <a:pt x="1" y="0"/>
                  </a:lnTo>
                  <a:lnTo>
                    <a:pt x="0" y="2"/>
                  </a:lnTo>
                  <a:lnTo>
                    <a:pt x="3" y="3"/>
                  </a:lnTo>
                  <a:close/>
                </a:path>
              </a:pathLst>
            </a:custGeom>
            <a:solidFill>
              <a:srgbClr val="FDFD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11" name="Freeform 755">
              <a:extLst>
                <a:ext uri="{FF2B5EF4-FFF2-40B4-BE49-F238E27FC236}">
                  <a16:creationId xmlns:a16="http://schemas.microsoft.com/office/drawing/2014/main" id="{6837A4CD-C5AE-CFE5-C48B-102748FB8D1E}"/>
                </a:ext>
              </a:extLst>
            </p:cNvPr>
            <p:cNvSpPr>
              <a:spLocks/>
            </p:cNvSpPr>
            <p:nvPr/>
          </p:nvSpPr>
          <p:spPr bwMode="auto">
            <a:xfrm>
              <a:off x="1671" y="1511"/>
              <a:ext cx="69" cy="4"/>
            </a:xfrm>
            <a:custGeom>
              <a:avLst/>
              <a:gdLst>
                <a:gd name="T0" fmla="*/ 8 w 69"/>
                <a:gd name="T1" fmla="*/ 4 h 4"/>
                <a:gd name="T2" fmla="*/ 69 w 69"/>
                <a:gd name="T3" fmla="*/ 4 h 4"/>
                <a:gd name="T4" fmla="*/ 64 w 69"/>
                <a:gd name="T5" fmla="*/ 0 h 4"/>
                <a:gd name="T6" fmla="*/ 0 w 69"/>
                <a:gd name="T7" fmla="*/ 0 h 4"/>
                <a:gd name="T8" fmla="*/ 8 w 69"/>
                <a:gd name="T9" fmla="*/ 4 h 4"/>
              </a:gdLst>
              <a:ahLst/>
              <a:cxnLst>
                <a:cxn ang="0">
                  <a:pos x="T0" y="T1"/>
                </a:cxn>
                <a:cxn ang="0">
                  <a:pos x="T2" y="T3"/>
                </a:cxn>
                <a:cxn ang="0">
                  <a:pos x="T4" y="T5"/>
                </a:cxn>
                <a:cxn ang="0">
                  <a:pos x="T6" y="T7"/>
                </a:cxn>
                <a:cxn ang="0">
                  <a:pos x="T8" y="T9"/>
                </a:cxn>
              </a:cxnLst>
              <a:rect l="0" t="0" r="r" b="b"/>
              <a:pathLst>
                <a:path w="69" h="4">
                  <a:moveTo>
                    <a:pt x="8" y="4"/>
                  </a:moveTo>
                  <a:lnTo>
                    <a:pt x="69" y="4"/>
                  </a:lnTo>
                  <a:lnTo>
                    <a:pt x="64" y="0"/>
                  </a:lnTo>
                  <a:lnTo>
                    <a:pt x="0" y="0"/>
                  </a:lnTo>
                  <a:lnTo>
                    <a:pt x="8" y="4"/>
                  </a:lnTo>
                  <a:close/>
                </a:path>
              </a:pathLst>
            </a:custGeom>
            <a:solidFill>
              <a:srgbClr val="5D5B4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12" name="Freeform 756">
              <a:extLst>
                <a:ext uri="{FF2B5EF4-FFF2-40B4-BE49-F238E27FC236}">
                  <a16:creationId xmlns:a16="http://schemas.microsoft.com/office/drawing/2014/main" id="{4BC6D896-2735-401B-3C26-3A70B42BC734}"/>
                </a:ext>
              </a:extLst>
            </p:cNvPr>
            <p:cNvSpPr>
              <a:spLocks/>
            </p:cNvSpPr>
            <p:nvPr/>
          </p:nvSpPr>
          <p:spPr bwMode="auto">
            <a:xfrm>
              <a:off x="1424" y="1267"/>
              <a:ext cx="419" cy="349"/>
            </a:xfrm>
            <a:custGeom>
              <a:avLst/>
              <a:gdLst>
                <a:gd name="T0" fmla="*/ 0 w 419"/>
                <a:gd name="T1" fmla="*/ 93 h 349"/>
                <a:gd name="T2" fmla="*/ 419 w 419"/>
                <a:gd name="T3" fmla="*/ 349 h 349"/>
                <a:gd name="T4" fmla="*/ 65 w 419"/>
                <a:gd name="T5" fmla="*/ 0 h 349"/>
                <a:gd name="T6" fmla="*/ 0 w 419"/>
                <a:gd name="T7" fmla="*/ 93 h 349"/>
              </a:gdLst>
              <a:ahLst/>
              <a:cxnLst>
                <a:cxn ang="0">
                  <a:pos x="T0" y="T1"/>
                </a:cxn>
                <a:cxn ang="0">
                  <a:pos x="T2" y="T3"/>
                </a:cxn>
                <a:cxn ang="0">
                  <a:pos x="T4" y="T5"/>
                </a:cxn>
                <a:cxn ang="0">
                  <a:pos x="T6" y="T7"/>
                </a:cxn>
              </a:cxnLst>
              <a:rect l="0" t="0" r="r" b="b"/>
              <a:pathLst>
                <a:path w="419" h="349">
                  <a:moveTo>
                    <a:pt x="0" y="93"/>
                  </a:moveTo>
                  <a:lnTo>
                    <a:pt x="419" y="349"/>
                  </a:lnTo>
                  <a:lnTo>
                    <a:pt x="65" y="0"/>
                  </a:lnTo>
                  <a:lnTo>
                    <a:pt x="0" y="9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613" name="Freeform 757">
              <a:extLst>
                <a:ext uri="{FF2B5EF4-FFF2-40B4-BE49-F238E27FC236}">
                  <a16:creationId xmlns:a16="http://schemas.microsoft.com/office/drawing/2014/main" id="{337F69FC-EE6D-8357-4A61-B1DE9B00B6DD}"/>
                </a:ext>
              </a:extLst>
            </p:cNvPr>
            <p:cNvSpPr>
              <a:spLocks/>
            </p:cNvSpPr>
            <p:nvPr/>
          </p:nvSpPr>
          <p:spPr bwMode="auto">
            <a:xfrm>
              <a:off x="1482" y="1794"/>
              <a:ext cx="31" cy="23"/>
            </a:xfrm>
            <a:custGeom>
              <a:avLst/>
              <a:gdLst>
                <a:gd name="T0" fmla="*/ 0 w 31"/>
                <a:gd name="T1" fmla="*/ 23 h 23"/>
                <a:gd name="T2" fmla="*/ 0 w 31"/>
                <a:gd name="T3" fmla="*/ 16 h 23"/>
                <a:gd name="T4" fmla="*/ 28 w 31"/>
                <a:gd name="T5" fmla="*/ 0 h 23"/>
                <a:gd name="T6" fmla="*/ 31 w 31"/>
                <a:gd name="T7" fmla="*/ 5 h 23"/>
                <a:gd name="T8" fmla="*/ 3 w 31"/>
                <a:gd name="T9" fmla="*/ 23 h 23"/>
                <a:gd name="T10" fmla="*/ 3 w 31"/>
                <a:gd name="T11" fmla="*/ 16 h 23"/>
                <a:gd name="T12" fmla="*/ 0 w 31"/>
                <a:gd name="T13" fmla="*/ 23 h 23"/>
              </a:gdLst>
              <a:ahLst/>
              <a:cxnLst>
                <a:cxn ang="0">
                  <a:pos x="T0" y="T1"/>
                </a:cxn>
                <a:cxn ang="0">
                  <a:pos x="T2" y="T3"/>
                </a:cxn>
                <a:cxn ang="0">
                  <a:pos x="T4" y="T5"/>
                </a:cxn>
                <a:cxn ang="0">
                  <a:pos x="T6" y="T7"/>
                </a:cxn>
                <a:cxn ang="0">
                  <a:pos x="T8" y="T9"/>
                </a:cxn>
                <a:cxn ang="0">
                  <a:pos x="T10" y="T11"/>
                </a:cxn>
                <a:cxn ang="0">
                  <a:pos x="T12" y="T13"/>
                </a:cxn>
              </a:cxnLst>
              <a:rect l="0" t="0" r="r" b="b"/>
              <a:pathLst>
                <a:path w="31" h="23">
                  <a:moveTo>
                    <a:pt x="0" y="23"/>
                  </a:moveTo>
                  <a:lnTo>
                    <a:pt x="0" y="16"/>
                  </a:lnTo>
                  <a:lnTo>
                    <a:pt x="28" y="0"/>
                  </a:lnTo>
                  <a:lnTo>
                    <a:pt x="31" y="5"/>
                  </a:lnTo>
                  <a:lnTo>
                    <a:pt x="3" y="23"/>
                  </a:lnTo>
                  <a:lnTo>
                    <a:pt x="3" y="16"/>
                  </a:lnTo>
                  <a:lnTo>
                    <a:pt x="0" y="2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14" name="Freeform 758">
              <a:extLst>
                <a:ext uri="{FF2B5EF4-FFF2-40B4-BE49-F238E27FC236}">
                  <a16:creationId xmlns:a16="http://schemas.microsoft.com/office/drawing/2014/main" id="{3145739C-6225-05EE-902F-EC17E52C3EDE}"/>
                </a:ext>
              </a:extLst>
            </p:cNvPr>
            <p:cNvSpPr>
              <a:spLocks/>
            </p:cNvSpPr>
            <p:nvPr/>
          </p:nvSpPr>
          <p:spPr bwMode="auto">
            <a:xfrm>
              <a:off x="1482" y="1810"/>
              <a:ext cx="2" cy="7"/>
            </a:xfrm>
            <a:custGeom>
              <a:avLst/>
              <a:gdLst>
                <a:gd name="T0" fmla="*/ 0 w 2"/>
                <a:gd name="T1" fmla="*/ 7 h 7"/>
                <a:gd name="T2" fmla="*/ 2 w 2"/>
                <a:gd name="T3" fmla="*/ 4 h 7"/>
                <a:gd name="T4" fmla="*/ 0 w 2"/>
                <a:gd name="T5" fmla="*/ 0 h 7"/>
                <a:gd name="T6" fmla="*/ 0 w 2"/>
                <a:gd name="T7" fmla="*/ 7 h 7"/>
              </a:gdLst>
              <a:ahLst/>
              <a:cxnLst>
                <a:cxn ang="0">
                  <a:pos x="T0" y="T1"/>
                </a:cxn>
                <a:cxn ang="0">
                  <a:pos x="T2" y="T3"/>
                </a:cxn>
                <a:cxn ang="0">
                  <a:pos x="T4" y="T5"/>
                </a:cxn>
                <a:cxn ang="0">
                  <a:pos x="T6" y="T7"/>
                </a:cxn>
              </a:cxnLst>
              <a:rect l="0" t="0" r="r" b="b"/>
              <a:pathLst>
                <a:path w="2" h="7">
                  <a:moveTo>
                    <a:pt x="0" y="7"/>
                  </a:moveTo>
                  <a:lnTo>
                    <a:pt x="2" y="4"/>
                  </a:lnTo>
                  <a:lnTo>
                    <a:pt x="0" y="0"/>
                  </a:lnTo>
                  <a:lnTo>
                    <a:pt x="0" y="7"/>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15" name="Freeform 759">
              <a:extLst>
                <a:ext uri="{FF2B5EF4-FFF2-40B4-BE49-F238E27FC236}">
                  <a16:creationId xmlns:a16="http://schemas.microsoft.com/office/drawing/2014/main" id="{CCC3ACF0-DA72-A50B-13DA-498ED0258725}"/>
                </a:ext>
              </a:extLst>
            </p:cNvPr>
            <p:cNvSpPr>
              <a:spLocks/>
            </p:cNvSpPr>
            <p:nvPr/>
          </p:nvSpPr>
          <p:spPr bwMode="auto">
            <a:xfrm>
              <a:off x="1482" y="1810"/>
              <a:ext cx="31" cy="25"/>
            </a:xfrm>
            <a:custGeom>
              <a:avLst/>
              <a:gdLst>
                <a:gd name="T0" fmla="*/ 30 w 31"/>
                <a:gd name="T1" fmla="*/ 22 h 25"/>
                <a:gd name="T2" fmla="*/ 28 w 31"/>
                <a:gd name="T3" fmla="*/ 25 h 25"/>
                <a:gd name="T4" fmla="*/ 0 w 31"/>
                <a:gd name="T5" fmla="*/ 7 h 25"/>
                <a:gd name="T6" fmla="*/ 3 w 31"/>
                <a:gd name="T7" fmla="*/ 0 h 25"/>
                <a:gd name="T8" fmla="*/ 31 w 31"/>
                <a:gd name="T9" fmla="*/ 18 h 25"/>
                <a:gd name="T10" fmla="*/ 30 w 31"/>
                <a:gd name="T11" fmla="*/ 22 h 25"/>
              </a:gdLst>
              <a:ahLst/>
              <a:cxnLst>
                <a:cxn ang="0">
                  <a:pos x="T0" y="T1"/>
                </a:cxn>
                <a:cxn ang="0">
                  <a:pos x="T2" y="T3"/>
                </a:cxn>
                <a:cxn ang="0">
                  <a:pos x="T4" y="T5"/>
                </a:cxn>
                <a:cxn ang="0">
                  <a:pos x="T6" y="T7"/>
                </a:cxn>
                <a:cxn ang="0">
                  <a:pos x="T8" y="T9"/>
                </a:cxn>
                <a:cxn ang="0">
                  <a:pos x="T10" y="T11"/>
                </a:cxn>
              </a:cxnLst>
              <a:rect l="0" t="0" r="r" b="b"/>
              <a:pathLst>
                <a:path w="31" h="25">
                  <a:moveTo>
                    <a:pt x="30" y="22"/>
                  </a:moveTo>
                  <a:lnTo>
                    <a:pt x="28" y="25"/>
                  </a:lnTo>
                  <a:lnTo>
                    <a:pt x="0" y="7"/>
                  </a:lnTo>
                  <a:lnTo>
                    <a:pt x="3" y="0"/>
                  </a:lnTo>
                  <a:lnTo>
                    <a:pt x="31" y="18"/>
                  </a:lnTo>
                  <a:lnTo>
                    <a:pt x="30" y="2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16" name="Freeform 760">
              <a:extLst>
                <a:ext uri="{FF2B5EF4-FFF2-40B4-BE49-F238E27FC236}">
                  <a16:creationId xmlns:a16="http://schemas.microsoft.com/office/drawing/2014/main" id="{B8E4EEB0-0D09-7F6C-40CF-3E425C234AB4}"/>
                </a:ext>
              </a:extLst>
            </p:cNvPr>
            <p:cNvSpPr>
              <a:spLocks/>
            </p:cNvSpPr>
            <p:nvPr/>
          </p:nvSpPr>
          <p:spPr bwMode="auto">
            <a:xfrm>
              <a:off x="1489" y="1812"/>
              <a:ext cx="301" cy="5"/>
            </a:xfrm>
            <a:custGeom>
              <a:avLst/>
              <a:gdLst>
                <a:gd name="T0" fmla="*/ 301 w 301"/>
                <a:gd name="T1" fmla="*/ 2 h 5"/>
                <a:gd name="T2" fmla="*/ 301 w 301"/>
                <a:gd name="T3" fmla="*/ 0 h 5"/>
                <a:gd name="T4" fmla="*/ 0 w 301"/>
                <a:gd name="T5" fmla="*/ 0 h 5"/>
                <a:gd name="T6" fmla="*/ 0 w 301"/>
                <a:gd name="T7" fmla="*/ 5 h 5"/>
                <a:gd name="T8" fmla="*/ 301 w 301"/>
                <a:gd name="T9" fmla="*/ 5 h 5"/>
                <a:gd name="T10" fmla="*/ 301 w 301"/>
                <a:gd name="T11" fmla="*/ 2 h 5"/>
              </a:gdLst>
              <a:ahLst/>
              <a:cxnLst>
                <a:cxn ang="0">
                  <a:pos x="T0" y="T1"/>
                </a:cxn>
                <a:cxn ang="0">
                  <a:pos x="T2" y="T3"/>
                </a:cxn>
                <a:cxn ang="0">
                  <a:pos x="T4" y="T5"/>
                </a:cxn>
                <a:cxn ang="0">
                  <a:pos x="T6" y="T7"/>
                </a:cxn>
                <a:cxn ang="0">
                  <a:pos x="T8" y="T9"/>
                </a:cxn>
                <a:cxn ang="0">
                  <a:pos x="T10" y="T11"/>
                </a:cxn>
              </a:cxnLst>
              <a:rect l="0" t="0" r="r" b="b"/>
              <a:pathLst>
                <a:path w="301" h="5">
                  <a:moveTo>
                    <a:pt x="301" y="2"/>
                  </a:moveTo>
                  <a:lnTo>
                    <a:pt x="301" y="0"/>
                  </a:lnTo>
                  <a:lnTo>
                    <a:pt x="0" y="0"/>
                  </a:lnTo>
                  <a:lnTo>
                    <a:pt x="0" y="5"/>
                  </a:lnTo>
                  <a:lnTo>
                    <a:pt x="301" y="5"/>
                  </a:lnTo>
                  <a:lnTo>
                    <a:pt x="301" y="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17" name="Freeform 761">
              <a:extLst>
                <a:ext uri="{FF2B5EF4-FFF2-40B4-BE49-F238E27FC236}">
                  <a16:creationId xmlns:a16="http://schemas.microsoft.com/office/drawing/2014/main" id="{8F0D6AC8-E7B6-3D9E-08AE-ED632732C289}"/>
                </a:ext>
              </a:extLst>
            </p:cNvPr>
            <p:cNvSpPr>
              <a:spLocks/>
            </p:cNvSpPr>
            <p:nvPr/>
          </p:nvSpPr>
          <p:spPr bwMode="auto">
            <a:xfrm>
              <a:off x="1765" y="1794"/>
              <a:ext cx="32" cy="23"/>
            </a:xfrm>
            <a:custGeom>
              <a:avLst/>
              <a:gdLst>
                <a:gd name="T0" fmla="*/ 32 w 32"/>
                <a:gd name="T1" fmla="*/ 23 h 23"/>
                <a:gd name="T2" fmla="*/ 32 w 32"/>
                <a:gd name="T3" fmla="*/ 16 h 23"/>
                <a:gd name="T4" fmla="*/ 4 w 32"/>
                <a:gd name="T5" fmla="*/ 0 h 23"/>
                <a:gd name="T6" fmla="*/ 0 w 32"/>
                <a:gd name="T7" fmla="*/ 5 h 23"/>
                <a:gd name="T8" fmla="*/ 28 w 32"/>
                <a:gd name="T9" fmla="*/ 23 h 23"/>
                <a:gd name="T10" fmla="*/ 28 w 32"/>
                <a:gd name="T11" fmla="*/ 16 h 23"/>
                <a:gd name="T12" fmla="*/ 32 w 32"/>
                <a:gd name="T13" fmla="*/ 23 h 23"/>
              </a:gdLst>
              <a:ahLst/>
              <a:cxnLst>
                <a:cxn ang="0">
                  <a:pos x="T0" y="T1"/>
                </a:cxn>
                <a:cxn ang="0">
                  <a:pos x="T2" y="T3"/>
                </a:cxn>
                <a:cxn ang="0">
                  <a:pos x="T4" y="T5"/>
                </a:cxn>
                <a:cxn ang="0">
                  <a:pos x="T6" y="T7"/>
                </a:cxn>
                <a:cxn ang="0">
                  <a:pos x="T8" y="T9"/>
                </a:cxn>
                <a:cxn ang="0">
                  <a:pos x="T10" y="T11"/>
                </a:cxn>
                <a:cxn ang="0">
                  <a:pos x="T12" y="T13"/>
                </a:cxn>
              </a:cxnLst>
              <a:rect l="0" t="0" r="r" b="b"/>
              <a:pathLst>
                <a:path w="32" h="23">
                  <a:moveTo>
                    <a:pt x="32" y="23"/>
                  </a:moveTo>
                  <a:lnTo>
                    <a:pt x="32" y="16"/>
                  </a:lnTo>
                  <a:lnTo>
                    <a:pt x="4" y="0"/>
                  </a:lnTo>
                  <a:lnTo>
                    <a:pt x="0" y="5"/>
                  </a:lnTo>
                  <a:lnTo>
                    <a:pt x="28" y="23"/>
                  </a:lnTo>
                  <a:lnTo>
                    <a:pt x="28" y="16"/>
                  </a:lnTo>
                  <a:lnTo>
                    <a:pt x="32" y="2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18" name="Freeform 762">
              <a:extLst>
                <a:ext uri="{FF2B5EF4-FFF2-40B4-BE49-F238E27FC236}">
                  <a16:creationId xmlns:a16="http://schemas.microsoft.com/office/drawing/2014/main" id="{4985BBC1-DE77-9FD6-08AD-338F9ABB57DD}"/>
                </a:ext>
              </a:extLst>
            </p:cNvPr>
            <p:cNvSpPr>
              <a:spLocks/>
            </p:cNvSpPr>
            <p:nvPr/>
          </p:nvSpPr>
          <p:spPr bwMode="auto">
            <a:xfrm>
              <a:off x="1795" y="1810"/>
              <a:ext cx="2" cy="7"/>
            </a:xfrm>
            <a:custGeom>
              <a:avLst/>
              <a:gdLst>
                <a:gd name="T0" fmla="*/ 2 w 2"/>
                <a:gd name="T1" fmla="*/ 7 h 7"/>
                <a:gd name="T2" fmla="*/ 0 w 2"/>
                <a:gd name="T3" fmla="*/ 4 h 7"/>
                <a:gd name="T4" fmla="*/ 2 w 2"/>
                <a:gd name="T5" fmla="*/ 0 h 7"/>
                <a:gd name="T6" fmla="*/ 2 w 2"/>
                <a:gd name="T7" fmla="*/ 7 h 7"/>
              </a:gdLst>
              <a:ahLst/>
              <a:cxnLst>
                <a:cxn ang="0">
                  <a:pos x="T0" y="T1"/>
                </a:cxn>
                <a:cxn ang="0">
                  <a:pos x="T2" y="T3"/>
                </a:cxn>
                <a:cxn ang="0">
                  <a:pos x="T4" y="T5"/>
                </a:cxn>
                <a:cxn ang="0">
                  <a:pos x="T6" y="T7"/>
                </a:cxn>
              </a:cxnLst>
              <a:rect l="0" t="0" r="r" b="b"/>
              <a:pathLst>
                <a:path w="2" h="7">
                  <a:moveTo>
                    <a:pt x="2" y="7"/>
                  </a:moveTo>
                  <a:lnTo>
                    <a:pt x="0" y="4"/>
                  </a:lnTo>
                  <a:lnTo>
                    <a:pt x="2" y="0"/>
                  </a:lnTo>
                  <a:lnTo>
                    <a:pt x="2" y="7"/>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19" name="Freeform 763">
              <a:extLst>
                <a:ext uri="{FF2B5EF4-FFF2-40B4-BE49-F238E27FC236}">
                  <a16:creationId xmlns:a16="http://schemas.microsoft.com/office/drawing/2014/main" id="{1C49139E-7F95-35CC-7B85-24F09C21DC59}"/>
                </a:ext>
              </a:extLst>
            </p:cNvPr>
            <p:cNvSpPr>
              <a:spLocks/>
            </p:cNvSpPr>
            <p:nvPr/>
          </p:nvSpPr>
          <p:spPr bwMode="auto">
            <a:xfrm>
              <a:off x="1765" y="1810"/>
              <a:ext cx="32" cy="25"/>
            </a:xfrm>
            <a:custGeom>
              <a:avLst/>
              <a:gdLst>
                <a:gd name="T0" fmla="*/ 2 w 32"/>
                <a:gd name="T1" fmla="*/ 22 h 25"/>
                <a:gd name="T2" fmla="*/ 4 w 32"/>
                <a:gd name="T3" fmla="*/ 25 h 25"/>
                <a:gd name="T4" fmla="*/ 32 w 32"/>
                <a:gd name="T5" fmla="*/ 7 h 25"/>
                <a:gd name="T6" fmla="*/ 28 w 32"/>
                <a:gd name="T7" fmla="*/ 0 h 25"/>
                <a:gd name="T8" fmla="*/ 0 w 32"/>
                <a:gd name="T9" fmla="*/ 18 h 25"/>
                <a:gd name="T10" fmla="*/ 2 w 32"/>
                <a:gd name="T11" fmla="*/ 22 h 25"/>
              </a:gdLst>
              <a:ahLst/>
              <a:cxnLst>
                <a:cxn ang="0">
                  <a:pos x="T0" y="T1"/>
                </a:cxn>
                <a:cxn ang="0">
                  <a:pos x="T2" y="T3"/>
                </a:cxn>
                <a:cxn ang="0">
                  <a:pos x="T4" y="T5"/>
                </a:cxn>
                <a:cxn ang="0">
                  <a:pos x="T6" y="T7"/>
                </a:cxn>
                <a:cxn ang="0">
                  <a:pos x="T8" y="T9"/>
                </a:cxn>
                <a:cxn ang="0">
                  <a:pos x="T10" y="T11"/>
                </a:cxn>
              </a:cxnLst>
              <a:rect l="0" t="0" r="r" b="b"/>
              <a:pathLst>
                <a:path w="32" h="25">
                  <a:moveTo>
                    <a:pt x="2" y="22"/>
                  </a:moveTo>
                  <a:lnTo>
                    <a:pt x="4" y="25"/>
                  </a:lnTo>
                  <a:lnTo>
                    <a:pt x="32" y="7"/>
                  </a:lnTo>
                  <a:lnTo>
                    <a:pt x="28" y="0"/>
                  </a:lnTo>
                  <a:lnTo>
                    <a:pt x="0" y="18"/>
                  </a:lnTo>
                  <a:lnTo>
                    <a:pt x="2" y="2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20" name="Freeform 764">
              <a:extLst>
                <a:ext uri="{FF2B5EF4-FFF2-40B4-BE49-F238E27FC236}">
                  <a16:creationId xmlns:a16="http://schemas.microsoft.com/office/drawing/2014/main" id="{7C320C55-33D5-1361-D096-E2A52BA0FDFC}"/>
                </a:ext>
              </a:extLst>
            </p:cNvPr>
            <p:cNvSpPr>
              <a:spLocks/>
            </p:cNvSpPr>
            <p:nvPr/>
          </p:nvSpPr>
          <p:spPr bwMode="auto">
            <a:xfrm>
              <a:off x="2146" y="1729"/>
              <a:ext cx="22" cy="33"/>
            </a:xfrm>
            <a:custGeom>
              <a:avLst/>
              <a:gdLst>
                <a:gd name="T0" fmla="*/ 2 w 22"/>
                <a:gd name="T1" fmla="*/ 33 h 33"/>
                <a:gd name="T2" fmla="*/ 0 w 22"/>
                <a:gd name="T3" fmla="*/ 28 h 33"/>
                <a:gd name="T4" fmla="*/ 17 w 22"/>
                <a:gd name="T5" fmla="*/ 0 h 33"/>
                <a:gd name="T6" fmla="*/ 22 w 22"/>
                <a:gd name="T7" fmla="*/ 3 h 33"/>
                <a:gd name="T8" fmla="*/ 5 w 22"/>
                <a:gd name="T9" fmla="*/ 32 h 33"/>
                <a:gd name="T10" fmla="*/ 3 w 22"/>
                <a:gd name="T11" fmla="*/ 27 h 33"/>
                <a:gd name="T12" fmla="*/ 2 w 22"/>
                <a:gd name="T13" fmla="*/ 33 h 33"/>
              </a:gdLst>
              <a:ahLst/>
              <a:cxnLst>
                <a:cxn ang="0">
                  <a:pos x="T0" y="T1"/>
                </a:cxn>
                <a:cxn ang="0">
                  <a:pos x="T2" y="T3"/>
                </a:cxn>
                <a:cxn ang="0">
                  <a:pos x="T4" y="T5"/>
                </a:cxn>
                <a:cxn ang="0">
                  <a:pos x="T6" y="T7"/>
                </a:cxn>
                <a:cxn ang="0">
                  <a:pos x="T8" y="T9"/>
                </a:cxn>
                <a:cxn ang="0">
                  <a:pos x="T10" y="T11"/>
                </a:cxn>
                <a:cxn ang="0">
                  <a:pos x="T12" y="T13"/>
                </a:cxn>
              </a:cxnLst>
              <a:rect l="0" t="0" r="r" b="b"/>
              <a:pathLst>
                <a:path w="22" h="33">
                  <a:moveTo>
                    <a:pt x="2" y="33"/>
                  </a:moveTo>
                  <a:lnTo>
                    <a:pt x="0" y="28"/>
                  </a:lnTo>
                  <a:lnTo>
                    <a:pt x="17" y="0"/>
                  </a:lnTo>
                  <a:lnTo>
                    <a:pt x="22" y="3"/>
                  </a:lnTo>
                  <a:lnTo>
                    <a:pt x="5" y="32"/>
                  </a:lnTo>
                  <a:lnTo>
                    <a:pt x="3" y="27"/>
                  </a:lnTo>
                  <a:lnTo>
                    <a:pt x="2" y="3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21" name="Freeform 765">
              <a:extLst>
                <a:ext uri="{FF2B5EF4-FFF2-40B4-BE49-F238E27FC236}">
                  <a16:creationId xmlns:a16="http://schemas.microsoft.com/office/drawing/2014/main" id="{CE723AEB-16D7-2FDE-D4C0-5B4D312E7B34}"/>
                </a:ext>
              </a:extLst>
            </p:cNvPr>
            <p:cNvSpPr>
              <a:spLocks/>
            </p:cNvSpPr>
            <p:nvPr/>
          </p:nvSpPr>
          <p:spPr bwMode="auto">
            <a:xfrm>
              <a:off x="2146" y="1757"/>
              <a:ext cx="3" cy="5"/>
            </a:xfrm>
            <a:custGeom>
              <a:avLst/>
              <a:gdLst>
                <a:gd name="T0" fmla="*/ 2 w 3"/>
                <a:gd name="T1" fmla="*/ 5 h 5"/>
                <a:gd name="T2" fmla="*/ 3 w 3"/>
                <a:gd name="T3" fmla="*/ 2 h 5"/>
                <a:gd name="T4" fmla="*/ 0 w 3"/>
                <a:gd name="T5" fmla="*/ 0 h 5"/>
                <a:gd name="T6" fmla="*/ 2 w 3"/>
                <a:gd name="T7" fmla="*/ 5 h 5"/>
              </a:gdLst>
              <a:ahLst/>
              <a:cxnLst>
                <a:cxn ang="0">
                  <a:pos x="T0" y="T1"/>
                </a:cxn>
                <a:cxn ang="0">
                  <a:pos x="T2" y="T3"/>
                </a:cxn>
                <a:cxn ang="0">
                  <a:pos x="T4" y="T5"/>
                </a:cxn>
                <a:cxn ang="0">
                  <a:pos x="T6" y="T7"/>
                </a:cxn>
              </a:cxnLst>
              <a:rect l="0" t="0" r="r" b="b"/>
              <a:pathLst>
                <a:path w="3" h="5">
                  <a:moveTo>
                    <a:pt x="2" y="5"/>
                  </a:moveTo>
                  <a:lnTo>
                    <a:pt x="3" y="2"/>
                  </a:lnTo>
                  <a:lnTo>
                    <a:pt x="0" y="0"/>
                  </a:lnTo>
                  <a:lnTo>
                    <a:pt x="2"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22" name="Freeform 766">
              <a:extLst>
                <a:ext uri="{FF2B5EF4-FFF2-40B4-BE49-F238E27FC236}">
                  <a16:creationId xmlns:a16="http://schemas.microsoft.com/office/drawing/2014/main" id="{BB0DF7DD-91CC-C32A-F973-0D3AF97AA4D4}"/>
                </a:ext>
              </a:extLst>
            </p:cNvPr>
            <p:cNvSpPr>
              <a:spLocks/>
            </p:cNvSpPr>
            <p:nvPr/>
          </p:nvSpPr>
          <p:spPr bwMode="auto">
            <a:xfrm>
              <a:off x="2148" y="1756"/>
              <a:ext cx="33" cy="10"/>
            </a:xfrm>
            <a:custGeom>
              <a:avLst/>
              <a:gdLst>
                <a:gd name="T0" fmla="*/ 33 w 33"/>
                <a:gd name="T1" fmla="*/ 6 h 10"/>
                <a:gd name="T2" fmla="*/ 33 w 33"/>
                <a:gd name="T3" fmla="*/ 10 h 10"/>
                <a:gd name="T4" fmla="*/ 0 w 33"/>
                <a:gd name="T5" fmla="*/ 6 h 10"/>
                <a:gd name="T6" fmla="*/ 1 w 33"/>
                <a:gd name="T7" fmla="*/ 0 h 10"/>
                <a:gd name="T8" fmla="*/ 33 w 33"/>
                <a:gd name="T9" fmla="*/ 3 h 10"/>
                <a:gd name="T10" fmla="*/ 33 w 33"/>
                <a:gd name="T11" fmla="*/ 6 h 10"/>
              </a:gdLst>
              <a:ahLst/>
              <a:cxnLst>
                <a:cxn ang="0">
                  <a:pos x="T0" y="T1"/>
                </a:cxn>
                <a:cxn ang="0">
                  <a:pos x="T2" y="T3"/>
                </a:cxn>
                <a:cxn ang="0">
                  <a:pos x="T4" y="T5"/>
                </a:cxn>
                <a:cxn ang="0">
                  <a:pos x="T6" y="T7"/>
                </a:cxn>
                <a:cxn ang="0">
                  <a:pos x="T8" y="T9"/>
                </a:cxn>
                <a:cxn ang="0">
                  <a:pos x="T10" y="T11"/>
                </a:cxn>
              </a:cxnLst>
              <a:rect l="0" t="0" r="r" b="b"/>
              <a:pathLst>
                <a:path w="33" h="10">
                  <a:moveTo>
                    <a:pt x="33" y="6"/>
                  </a:moveTo>
                  <a:lnTo>
                    <a:pt x="33" y="10"/>
                  </a:lnTo>
                  <a:lnTo>
                    <a:pt x="0" y="6"/>
                  </a:lnTo>
                  <a:lnTo>
                    <a:pt x="1" y="0"/>
                  </a:lnTo>
                  <a:lnTo>
                    <a:pt x="33" y="3"/>
                  </a:lnTo>
                  <a:lnTo>
                    <a:pt x="33" y="6"/>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23" name="Freeform 767">
              <a:extLst>
                <a:ext uri="{FF2B5EF4-FFF2-40B4-BE49-F238E27FC236}">
                  <a16:creationId xmlns:a16="http://schemas.microsoft.com/office/drawing/2014/main" id="{04B146AD-37D5-71A5-0BFA-F69DFD81EC71}"/>
                </a:ext>
              </a:extLst>
            </p:cNvPr>
            <p:cNvSpPr>
              <a:spLocks/>
            </p:cNvSpPr>
            <p:nvPr/>
          </p:nvSpPr>
          <p:spPr bwMode="auto">
            <a:xfrm>
              <a:off x="2153" y="1648"/>
              <a:ext cx="215" cy="111"/>
            </a:xfrm>
            <a:custGeom>
              <a:avLst/>
              <a:gdLst>
                <a:gd name="T0" fmla="*/ 215 w 215"/>
                <a:gd name="T1" fmla="*/ 3 h 111"/>
                <a:gd name="T2" fmla="*/ 213 w 215"/>
                <a:gd name="T3" fmla="*/ 0 h 111"/>
                <a:gd name="T4" fmla="*/ 0 w 215"/>
                <a:gd name="T5" fmla="*/ 106 h 111"/>
                <a:gd name="T6" fmla="*/ 1 w 215"/>
                <a:gd name="T7" fmla="*/ 111 h 111"/>
                <a:gd name="T8" fmla="*/ 215 w 215"/>
                <a:gd name="T9" fmla="*/ 5 h 111"/>
                <a:gd name="T10" fmla="*/ 215 w 215"/>
                <a:gd name="T11" fmla="*/ 3 h 111"/>
              </a:gdLst>
              <a:ahLst/>
              <a:cxnLst>
                <a:cxn ang="0">
                  <a:pos x="T0" y="T1"/>
                </a:cxn>
                <a:cxn ang="0">
                  <a:pos x="T2" y="T3"/>
                </a:cxn>
                <a:cxn ang="0">
                  <a:pos x="T4" y="T5"/>
                </a:cxn>
                <a:cxn ang="0">
                  <a:pos x="T6" y="T7"/>
                </a:cxn>
                <a:cxn ang="0">
                  <a:pos x="T8" y="T9"/>
                </a:cxn>
                <a:cxn ang="0">
                  <a:pos x="T10" y="T11"/>
                </a:cxn>
              </a:cxnLst>
              <a:rect l="0" t="0" r="r" b="b"/>
              <a:pathLst>
                <a:path w="215" h="111">
                  <a:moveTo>
                    <a:pt x="215" y="3"/>
                  </a:moveTo>
                  <a:lnTo>
                    <a:pt x="213" y="0"/>
                  </a:lnTo>
                  <a:lnTo>
                    <a:pt x="0" y="106"/>
                  </a:lnTo>
                  <a:lnTo>
                    <a:pt x="1" y="111"/>
                  </a:lnTo>
                  <a:lnTo>
                    <a:pt x="215" y="5"/>
                  </a:lnTo>
                  <a:lnTo>
                    <a:pt x="215" y="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24" name="Freeform 768">
              <a:extLst>
                <a:ext uri="{FF2B5EF4-FFF2-40B4-BE49-F238E27FC236}">
                  <a16:creationId xmlns:a16="http://schemas.microsoft.com/office/drawing/2014/main" id="{2B5106B6-05AA-2B5B-7C44-B60FD1219E42}"/>
                </a:ext>
              </a:extLst>
            </p:cNvPr>
            <p:cNvSpPr>
              <a:spLocks/>
            </p:cNvSpPr>
            <p:nvPr/>
          </p:nvSpPr>
          <p:spPr bwMode="auto">
            <a:xfrm>
              <a:off x="2340" y="1641"/>
              <a:ext cx="35" cy="10"/>
            </a:xfrm>
            <a:custGeom>
              <a:avLst/>
              <a:gdLst>
                <a:gd name="T0" fmla="*/ 35 w 35"/>
                <a:gd name="T1" fmla="*/ 9 h 10"/>
                <a:gd name="T2" fmla="*/ 33 w 35"/>
                <a:gd name="T3" fmla="*/ 4 h 10"/>
                <a:gd name="T4" fmla="*/ 0 w 35"/>
                <a:gd name="T5" fmla="*/ 0 h 10"/>
                <a:gd name="T6" fmla="*/ 0 w 35"/>
                <a:gd name="T7" fmla="*/ 7 h 10"/>
                <a:gd name="T8" fmla="*/ 31 w 35"/>
                <a:gd name="T9" fmla="*/ 10 h 10"/>
                <a:gd name="T10" fmla="*/ 30 w 35"/>
                <a:gd name="T11" fmla="*/ 5 h 10"/>
                <a:gd name="T12" fmla="*/ 35 w 35"/>
                <a:gd name="T13" fmla="*/ 9 h 10"/>
              </a:gdLst>
              <a:ahLst/>
              <a:cxnLst>
                <a:cxn ang="0">
                  <a:pos x="T0" y="T1"/>
                </a:cxn>
                <a:cxn ang="0">
                  <a:pos x="T2" y="T3"/>
                </a:cxn>
                <a:cxn ang="0">
                  <a:pos x="T4" y="T5"/>
                </a:cxn>
                <a:cxn ang="0">
                  <a:pos x="T6" y="T7"/>
                </a:cxn>
                <a:cxn ang="0">
                  <a:pos x="T8" y="T9"/>
                </a:cxn>
                <a:cxn ang="0">
                  <a:pos x="T10" y="T11"/>
                </a:cxn>
                <a:cxn ang="0">
                  <a:pos x="T12" y="T13"/>
                </a:cxn>
              </a:cxnLst>
              <a:rect l="0" t="0" r="r" b="b"/>
              <a:pathLst>
                <a:path w="35" h="10">
                  <a:moveTo>
                    <a:pt x="35" y="9"/>
                  </a:moveTo>
                  <a:lnTo>
                    <a:pt x="33" y="4"/>
                  </a:lnTo>
                  <a:lnTo>
                    <a:pt x="0" y="0"/>
                  </a:lnTo>
                  <a:lnTo>
                    <a:pt x="0" y="7"/>
                  </a:lnTo>
                  <a:lnTo>
                    <a:pt x="31" y="10"/>
                  </a:lnTo>
                  <a:lnTo>
                    <a:pt x="30" y="5"/>
                  </a:lnTo>
                  <a:lnTo>
                    <a:pt x="35" y="9"/>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25" name="Freeform 769">
              <a:extLst>
                <a:ext uri="{FF2B5EF4-FFF2-40B4-BE49-F238E27FC236}">
                  <a16:creationId xmlns:a16="http://schemas.microsoft.com/office/drawing/2014/main" id="{1B12BB22-36B4-12A4-15B8-C6C31E159CAA}"/>
                </a:ext>
              </a:extLst>
            </p:cNvPr>
            <p:cNvSpPr>
              <a:spLocks/>
            </p:cNvSpPr>
            <p:nvPr/>
          </p:nvSpPr>
          <p:spPr bwMode="auto">
            <a:xfrm>
              <a:off x="2373" y="1645"/>
              <a:ext cx="2" cy="5"/>
            </a:xfrm>
            <a:custGeom>
              <a:avLst/>
              <a:gdLst>
                <a:gd name="T0" fmla="*/ 2 w 2"/>
                <a:gd name="T1" fmla="*/ 5 h 5"/>
                <a:gd name="T2" fmla="*/ 0 w 2"/>
                <a:gd name="T3" fmla="*/ 3 h 5"/>
                <a:gd name="T4" fmla="*/ 0 w 2"/>
                <a:gd name="T5" fmla="*/ 0 h 5"/>
                <a:gd name="T6" fmla="*/ 2 w 2"/>
                <a:gd name="T7" fmla="*/ 5 h 5"/>
              </a:gdLst>
              <a:ahLst/>
              <a:cxnLst>
                <a:cxn ang="0">
                  <a:pos x="T0" y="T1"/>
                </a:cxn>
                <a:cxn ang="0">
                  <a:pos x="T2" y="T3"/>
                </a:cxn>
                <a:cxn ang="0">
                  <a:pos x="T4" y="T5"/>
                </a:cxn>
                <a:cxn ang="0">
                  <a:pos x="T6" y="T7"/>
                </a:cxn>
              </a:cxnLst>
              <a:rect l="0" t="0" r="r" b="b"/>
              <a:pathLst>
                <a:path w="2" h="5">
                  <a:moveTo>
                    <a:pt x="2" y="5"/>
                  </a:moveTo>
                  <a:lnTo>
                    <a:pt x="0" y="3"/>
                  </a:lnTo>
                  <a:lnTo>
                    <a:pt x="0" y="0"/>
                  </a:lnTo>
                  <a:lnTo>
                    <a:pt x="2"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26" name="Freeform 770">
              <a:extLst>
                <a:ext uri="{FF2B5EF4-FFF2-40B4-BE49-F238E27FC236}">
                  <a16:creationId xmlns:a16="http://schemas.microsoft.com/office/drawing/2014/main" id="{07232DC0-EE22-AE47-B554-481E52ECBDCA}"/>
                </a:ext>
              </a:extLst>
            </p:cNvPr>
            <p:cNvSpPr>
              <a:spLocks/>
            </p:cNvSpPr>
            <p:nvPr/>
          </p:nvSpPr>
          <p:spPr bwMode="auto">
            <a:xfrm>
              <a:off x="2353" y="1646"/>
              <a:ext cx="22" cy="32"/>
            </a:xfrm>
            <a:custGeom>
              <a:avLst/>
              <a:gdLst>
                <a:gd name="T0" fmla="*/ 2 w 22"/>
                <a:gd name="T1" fmla="*/ 30 h 32"/>
                <a:gd name="T2" fmla="*/ 5 w 22"/>
                <a:gd name="T3" fmla="*/ 32 h 32"/>
                <a:gd name="T4" fmla="*/ 22 w 22"/>
                <a:gd name="T5" fmla="*/ 4 h 32"/>
                <a:gd name="T6" fmla="*/ 17 w 22"/>
                <a:gd name="T7" fmla="*/ 0 h 32"/>
                <a:gd name="T8" fmla="*/ 0 w 22"/>
                <a:gd name="T9" fmla="*/ 28 h 32"/>
                <a:gd name="T10" fmla="*/ 2 w 22"/>
                <a:gd name="T11" fmla="*/ 30 h 32"/>
              </a:gdLst>
              <a:ahLst/>
              <a:cxnLst>
                <a:cxn ang="0">
                  <a:pos x="T0" y="T1"/>
                </a:cxn>
                <a:cxn ang="0">
                  <a:pos x="T2" y="T3"/>
                </a:cxn>
                <a:cxn ang="0">
                  <a:pos x="T4" y="T5"/>
                </a:cxn>
                <a:cxn ang="0">
                  <a:pos x="T6" y="T7"/>
                </a:cxn>
                <a:cxn ang="0">
                  <a:pos x="T8" y="T9"/>
                </a:cxn>
                <a:cxn ang="0">
                  <a:pos x="T10" y="T11"/>
                </a:cxn>
              </a:cxnLst>
              <a:rect l="0" t="0" r="r" b="b"/>
              <a:pathLst>
                <a:path w="22" h="32">
                  <a:moveTo>
                    <a:pt x="2" y="30"/>
                  </a:moveTo>
                  <a:lnTo>
                    <a:pt x="5" y="32"/>
                  </a:lnTo>
                  <a:lnTo>
                    <a:pt x="22" y="4"/>
                  </a:lnTo>
                  <a:lnTo>
                    <a:pt x="17" y="0"/>
                  </a:lnTo>
                  <a:lnTo>
                    <a:pt x="0" y="28"/>
                  </a:lnTo>
                  <a:lnTo>
                    <a:pt x="2" y="30"/>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27" name="Rectangle 771">
              <a:extLst>
                <a:ext uri="{FF2B5EF4-FFF2-40B4-BE49-F238E27FC236}">
                  <a16:creationId xmlns:a16="http://schemas.microsoft.com/office/drawing/2014/main" id="{702C36A6-32F7-EFF6-D257-08BDAFF1604F}"/>
                </a:ext>
              </a:extLst>
            </p:cNvPr>
            <p:cNvSpPr>
              <a:spLocks noChangeArrowheads="1"/>
            </p:cNvSpPr>
            <p:nvPr/>
          </p:nvSpPr>
          <p:spPr bwMode="auto">
            <a:xfrm>
              <a:off x="1603" y="1790"/>
              <a:ext cx="53" cy="5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28" name="Rectangle 772">
              <a:extLst>
                <a:ext uri="{FF2B5EF4-FFF2-40B4-BE49-F238E27FC236}">
                  <a16:creationId xmlns:a16="http://schemas.microsoft.com/office/drawing/2014/main" id="{6F73F1B2-6184-BD84-960A-2B9E511A3EE0}"/>
                </a:ext>
              </a:extLst>
            </p:cNvPr>
            <p:cNvSpPr>
              <a:spLocks noChangeArrowheads="1"/>
            </p:cNvSpPr>
            <p:nvPr/>
          </p:nvSpPr>
          <p:spPr bwMode="auto">
            <a:xfrm>
              <a:off x="2232" y="1674"/>
              <a:ext cx="53" cy="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29" name="Rectangle 773">
              <a:extLst>
                <a:ext uri="{FF2B5EF4-FFF2-40B4-BE49-F238E27FC236}">
                  <a16:creationId xmlns:a16="http://schemas.microsoft.com/office/drawing/2014/main" id="{6E101CD7-41E7-B325-D6E2-33B182979D44}"/>
                </a:ext>
              </a:extLst>
            </p:cNvPr>
            <p:cNvSpPr>
              <a:spLocks noChangeArrowheads="1"/>
            </p:cNvSpPr>
            <p:nvPr/>
          </p:nvSpPr>
          <p:spPr bwMode="auto">
            <a:xfrm>
              <a:off x="2242" y="1651"/>
              <a:ext cx="82" cy="1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630" name="Rectangle 774">
              <a:extLst>
                <a:ext uri="{FF2B5EF4-FFF2-40B4-BE49-F238E27FC236}">
                  <a16:creationId xmlns:a16="http://schemas.microsoft.com/office/drawing/2014/main" id="{04A694FB-F2A3-2514-425E-1F12B916E076}"/>
                </a:ext>
              </a:extLst>
            </p:cNvPr>
            <p:cNvSpPr>
              <a:spLocks noChangeArrowheads="1"/>
            </p:cNvSpPr>
            <p:nvPr/>
          </p:nvSpPr>
          <p:spPr bwMode="auto">
            <a:xfrm>
              <a:off x="1611" y="1767"/>
              <a:ext cx="82" cy="1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x</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631" name="Rectangle 775">
              <a:extLst>
                <a:ext uri="{FF2B5EF4-FFF2-40B4-BE49-F238E27FC236}">
                  <a16:creationId xmlns:a16="http://schemas.microsoft.com/office/drawing/2014/main" id="{D7E950EE-3F01-850D-3408-963E8FB955BD}"/>
                </a:ext>
              </a:extLst>
            </p:cNvPr>
            <p:cNvSpPr>
              <a:spLocks noChangeArrowheads="1"/>
            </p:cNvSpPr>
            <p:nvPr/>
          </p:nvSpPr>
          <p:spPr bwMode="auto">
            <a:xfrm>
              <a:off x="1710" y="1326"/>
              <a:ext cx="301" cy="1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small x</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632" name="Rectangle 776">
              <a:extLst>
                <a:ext uri="{FF2B5EF4-FFF2-40B4-BE49-F238E27FC236}">
                  <a16:creationId xmlns:a16="http://schemas.microsoft.com/office/drawing/2014/main" id="{01315378-DCF3-3821-32DD-13C39935890E}"/>
                </a:ext>
              </a:extLst>
            </p:cNvPr>
            <p:cNvSpPr>
              <a:spLocks noChangeArrowheads="1"/>
            </p:cNvSpPr>
            <p:nvPr/>
          </p:nvSpPr>
          <p:spPr bwMode="auto">
            <a:xfrm>
              <a:off x="1975" y="1326"/>
              <a:ext cx="66" cy="1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633" name="Rectangle 777">
              <a:extLst>
                <a:ext uri="{FF2B5EF4-FFF2-40B4-BE49-F238E27FC236}">
                  <a16:creationId xmlns:a16="http://schemas.microsoft.com/office/drawing/2014/main" id="{F58FB895-9877-25D5-BD45-82DD52F29CB1}"/>
                </a:ext>
              </a:extLst>
            </p:cNvPr>
            <p:cNvSpPr>
              <a:spLocks noChangeArrowheads="1"/>
            </p:cNvSpPr>
            <p:nvPr/>
          </p:nvSpPr>
          <p:spPr bwMode="auto">
            <a:xfrm>
              <a:off x="2004" y="1326"/>
              <a:ext cx="500" cy="1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ray spot size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634" name="Rectangle 778">
              <a:extLst>
                <a:ext uri="{FF2B5EF4-FFF2-40B4-BE49-F238E27FC236}">
                  <a16:creationId xmlns:a16="http://schemas.microsoft.com/office/drawing/2014/main" id="{DFAAA3F3-3132-62BE-8AE9-358C764C7723}"/>
                </a:ext>
              </a:extLst>
            </p:cNvPr>
            <p:cNvSpPr>
              <a:spLocks noChangeArrowheads="1"/>
            </p:cNvSpPr>
            <p:nvPr/>
          </p:nvSpPr>
          <p:spPr bwMode="auto">
            <a:xfrm>
              <a:off x="1269" y="1065"/>
              <a:ext cx="1383" cy="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a:ln>
                    <a:noFill/>
                  </a:ln>
                  <a:solidFill>
                    <a:srgbClr val="000000"/>
                  </a:solidFill>
                  <a:effectLst/>
                  <a:latin typeface="Times New Roman" panose="02020603050405020304" pitchFamily="18" charset="0"/>
                </a:rPr>
                <a:t>(1) Moving sample stage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635" name="Rectangle 779">
              <a:extLst>
                <a:ext uri="{FF2B5EF4-FFF2-40B4-BE49-F238E27FC236}">
                  <a16:creationId xmlns:a16="http://schemas.microsoft.com/office/drawing/2014/main" id="{DF2B0784-8882-B21A-52EF-0801DCCC67C7}"/>
                </a:ext>
              </a:extLst>
            </p:cNvPr>
            <p:cNvSpPr>
              <a:spLocks noChangeArrowheads="1"/>
            </p:cNvSpPr>
            <p:nvPr/>
          </p:nvSpPr>
          <p:spPr bwMode="auto">
            <a:xfrm>
              <a:off x="2947" y="1366"/>
              <a:ext cx="1131" cy="1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000000"/>
                  </a:solidFill>
                  <a:effectLst/>
                  <a:latin typeface="Times New Roman" panose="02020603050405020304" pitchFamily="18" charset="0"/>
                </a:rPr>
                <a:t>Image: x,y position versus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636" name="Rectangle 780">
              <a:extLst>
                <a:ext uri="{FF2B5EF4-FFF2-40B4-BE49-F238E27FC236}">
                  <a16:creationId xmlns:a16="http://schemas.microsoft.com/office/drawing/2014/main" id="{D99E5AEB-EF89-65A6-3593-91E8942F277F}"/>
                </a:ext>
              </a:extLst>
            </p:cNvPr>
            <p:cNvSpPr>
              <a:spLocks noChangeArrowheads="1"/>
            </p:cNvSpPr>
            <p:nvPr/>
          </p:nvSpPr>
          <p:spPr bwMode="auto">
            <a:xfrm>
              <a:off x="3235" y="1475"/>
              <a:ext cx="983" cy="1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000000"/>
                  </a:solidFill>
                  <a:effectLst/>
                  <a:latin typeface="Times New Roman" panose="02020603050405020304" pitchFamily="18" charset="0"/>
                </a:rPr>
                <a:t>photoelectron intensity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637" name="Rectangle 781">
              <a:extLst>
                <a:ext uri="{FF2B5EF4-FFF2-40B4-BE49-F238E27FC236}">
                  <a16:creationId xmlns:a16="http://schemas.microsoft.com/office/drawing/2014/main" id="{094170A6-4F4B-75B5-BBFF-BFC4C4308026}"/>
                </a:ext>
              </a:extLst>
            </p:cNvPr>
            <p:cNvSpPr>
              <a:spLocks noChangeArrowheads="1"/>
            </p:cNvSpPr>
            <p:nvPr/>
          </p:nvSpPr>
          <p:spPr bwMode="auto">
            <a:xfrm>
              <a:off x="1258" y="2011"/>
              <a:ext cx="1445" cy="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a:ln>
                    <a:noFill/>
                  </a:ln>
                  <a:solidFill>
                    <a:srgbClr val="000000"/>
                  </a:solidFill>
                  <a:effectLst/>
                  <a:latin typeface="Times New Roman" panose="02020603050405020304" pitchFamily="18" charset="0"/>
                </a:rPr>
                <a:t>(2) Use of scanning plates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638" name="Line 782">
              <a:extLst>
                <a:ext uri="{FF2B5EF4-FFF2-40B4-BE49-F238E27FC236}">
                  <a16:creationId xmlns:a16="http://schemas.microsoft.com/office/drawing/2014/main" id="{E240E6E3-04C3-1B6A-D9A4-FF7E236B6CFC}"/>
                </a:ext>
              </a:extLst>
            </p:cNvPr>
            <p:cNvSpPr>
              <a:spLocks noChangeShapeType="1"/>
            </p:cNvSpPr>
            <p:nvPr/>
          </p:nvSpPr>
          <p:spPr bwMode="auto">
            <a:xfrm>
              <a:off x="1699" y="2830"/>
              <a:ext cx="359" cy="1"/>
            </a:xfrm>
            <a:prstGeom prst="line">
              <a:avLst/>
            </a:prstGeom>
            <a:noFill/>
            <a:ln w="7938" cap="rnd">
              <a:solidFill>
                <a:srgbClr val="1F1A17"/>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639" name="Freeform 783">
              <a:extLst>
                <a:ext uri="{FF2B5EF4-FFF2-40B4-BE49-F238E27FC236}">
                  <a16:creationId xmlns:a16="http://schemas.microsoft.com/office/drawing/2014/main" id="{07FC1CB8-259B-8542-9B63-30C2E15C0592}"/>
                </a:ext>
              </a:extLst>
            </p:cNvPr>
            <p:cNvSpPr>
              <a:spLocks/>
            </p:cNvSpPr>
            <p:nvPr/>
          </p:nvSpPr>
          <p:spPr bwMode="auto">
            <a:xfrm>
              <a:off x="1426" y="2386"/>
              <a:ext cx="881" cy="446"/>
            </a:xfrm>
            <a:custGeom>
              <a:avLst/>
              <a:gdLst>
                <a:gd name="T0" fmla="*/ 0 w 881"/>
                <a:gd name="T1" fmla="*/ 446 h 446"/>
                <a:gd name="T2" fmla="*/ 3 w 881"/>
                <a:gd name="T3" fmla="*/ 391 h 446"/>
                <a:gd name="T4" fmla="*/ 11 w 881"/>
                <a:gd name="T5" fmla="*/ 340 h 446"/>
                <a:gd name="T6" fmla="*/ 23 w 881"/>
                <a:gd name="T7" fmla="*/ 294 h 446"/>
                <a:gd name="T8" fmla="*/ 39 w 881"/>
                <a:gd name="T9" fmla="*/ 250 h 446"/>
                <a:gd name="T10" fmla="*/ 59 w 881"/>
                <a:gd name="T11" fmla="*/ 211 h 446"/>
                <a:gd name="T12" fmla="*/ 83 w 881"/>
                <a:gd name="T13" fmla="*/ 173 h 446"/>
                <a:gd name="T14" fmla="*/ 109 w 881"/>
                <a:gd name="T15" fmla="*/ 140 h 446"/>
                <a:gd name="T16" fmla="*/ 139 w 881"/>
                <a:gd name="T17" fmla="*/ 111 h 446"/>
                <a:gd name="T18" fmla="*/ 170 w 881"/>
                <a:gd name="T19" fmla="*/ 85 h 446"/>
                <a:gd name="T20" fmla="*/ 205 w 881"/>
                <a:gd name="T21" fmla="*/ 62 h 446"/>
                <a:gd name="T22" fmla="*/ 241 w 881"/>
                <a:gd name="T23" fmla="*/ 44 h 446"/>
                <a:gd name="T24" fmla="*/ 278 w 881"/>
                <a:gd name="T25" fmla="*/ 27 h 446"/>
                <a:gd name="T26" fmla="*/ 318 w 881"/>
                <a:gd name="T27" fmla="*/ 15 h 446"/>
                <a:gd name="T28" fmla="*/ 357 w 881"/>
                <a:gd name="T29" fmla="*/ 7 h 446"/>
                <a:gd name="T30" fmla="*/ 397 w 881"/>
                <a:gd name="T31" fmla="*/ 2 h 446"/>
                <a:gd name="T32" fmla="*/ 437 w 881"/>
                <a:gd name="T33" fmla="*/ 0 h 446"/>
                <a:gd name="T34" fmla="*/ 478 w 881"/>
                <a:gd name="T35" fmla="*/ 2 h 446"/>
                <a:gd name="T36" fmla="*/ 518 w 881"/>
                <a:gd name="T37" fmla="*/ 7 h 446"/>
                <a:gd name="T38" fmla="*/ 558 w 881"/>
                <a:gd name="T39" fmla="*/ 15 h 446"/>
                <a:gd name="T40" fmla="*/ 598 w 881"/>
                <a:gd name="T41" fmla="*/ 29 h 446"/>
                <a:gd name="T42" fmla="*/ 636 w 881"/>
                <a:gd name="T43" fmla="*/ 44 h 446"/>
                <a:gd name="T44" fmla="*/ 670 w 881"/>
                <a:gd name="T45" fmla="*/ 63 h 446"/>
                <a:gd name="T46" fmla="*/ 705 w 881"/>
                <a:gd name="T47" fmla="*/ 85 h 446"/>
                <a:gd name="T48" fmla="*/ 738 w 881"/>
                <a:gd name="T49" fmla="*/ 111 h 446"/>
                <a:gd name="T50" fmla="*/ 768 w 881"/>
                <a:gd name="T51" fmla="*/ 141 h 446"/>
                <a:gd name="T52" fmla="*/ 795 w 881"/>
                <a:gd name="T53" fmla="*/ 174 h 446"/>
                <a:gd name="T54" fmla="*/ 818 w 881"/>
                <a:gd name="T55" fmla="*/ 211 h 446"/>
                <a:gd name="T56" fmla="*/ 839 w 881"/>
                <a:gd name="T57" fmla="*/ 250 h 446"/>
                <a:gd name="T58" fmla="*/ 856 w 881"/>
                <a:gd name="T59" fmla="*/ 294 h 446"/>
                <a:gd name="T60" fmla="*/ 867 w 881"/>
                <a:gd name="T61" fmla="*/ 342 h 446"/>
                <a:gd name="T62" fmla="*/ 877 w 881"/>
                <a:gd name="T63" fmla="*/ 391 h 446"/>
                <a:gd name="T64" fmla="*/ 881 w 881"/>
                <a:gd name="T65"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81" h="446">
                  <a:moveTo>
                    <a:pt x="0" y="446"/>
                  </a:moveTo>
                  <a:lnTo>
                    <a:pt x="3" y="391"/>
                  </a:lnTo>
                  <a:lnTo>
                    <a:pt x="11" y="340"/>
                  </a:lnTo>
                  <a:lnTo>
                    <a:pt x="23" y="294"/>
                  </a:lnTo>
                  <a:lnTo>
                    <a:pt x="39" y="250"/>
                  </a:lnTo>
                  <a:lnTo>
                    <a:pt x="59" y="211"/>
                  </a:lnTo>
                  <a:lnTo>
                    <a:pt x="83" y="173"/>
                  </a:lnTo>
                  <a:lnTo>
                    <a:pt x="109" y="140"/>
                  </a:lnTo>
                  <a:lnTo>
                    <a:pt x="139" y="111"/>
                  </a:lnTo>
                  <a:lnTo>
                    <a:pt x="170" y="85"/>
                  </a:lnTo>
                  <a:lnTo>
                    <a:pt x="205" y="62"/>
                  </a:lnTo>
                  <a:lnTo>
                    <a:pt x="241" y="44"/>
                  </a:lnTo>
                  <a:lnTo>
                    <a:pt x="278" y="27"/>
                  </a:lnTo>
                  <a:lnTo>
                    <a:pt x="318" y="15"/>
                  </a:lnTo>
                  <a:lnTo>
                    <a:pt x="357" y="7"/>
                  </a:lnTo>
                  <a:lnTo>
                    <a:pt x="397" y="2"/>
                  </a:lnTo>
                  <a:lnTo>
                    <a:pt x="437" y="0"/>
                  </a:lnTo>
                  <a:lnTo>
                    <a:pt x="478" y="2"/>
                  </a:lnTo>
                  <a:lnTo>
                    <a:pt x="518" y="7"/>
                  </a:lnTo>
                  <a:lnTo>
                    <a:pt x="558" y="15"/>
                  </a:lnTo>
                  <a:lnTo>
                    <a:pt x="598" y="29"/>
                  </a:lnTo>
                  <a:lnTo>
                    <a:pt x="636" y="44"/>
                  </a:lnTo>
                  <a:lnTo>
                    <a:pt x="670" y="63"/>
                  </a:lnTo>
                  <a:lnTo>
                    <a:pt x="705" y="85"/>
                  </a:lnTo>
                  <a:lnTo>
                    <a:pt x="738" y="111"/>
                  </a:lnTo>
                  <a:lnTo>
                    <a:pt x="768" y="141"/>
                  </a:lnTo>
                  <a:lnTo>
                    <a:pt x="795" y="174"/>
                  </a:lnTo>
                  <a:lnTo>
                    <a:pt x="818" y="211"/>
                  </a:lnTo>
                  <a:lnTo>
                    <a:pt x="839" y="250"/>
                  </a:lnTo>
                  <a:lnTo>
                    <a:pt x="856" y="294"/>
                  </a:lnTo>
                  <a:lnTo>
                    <a:pt x="867" y="342"/>
                  </a:lnTo>
                  <a:lnTo>
                    <a:pt x="877" y="391"/>
                  </a:lnTo>
                  <a:lnTo>
                    <a:pt x="881" y="446"/>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640" name="Freeform 784">
              <a:extLst>
                <a:ext uri="{FF2B5EF4-FFF2-40B4-BE49-F238E27FC236}">
                  <a16:creationId xmlns:a16="http://schemas.microsoft.com/office/drawing/2014/main" id="{80471870-71C2-5544-3445-8CFE753B1220}"/>
                </a:ext>
              </a:extLst>
            </p:cNvPr>
            <p:cNvSpPr>
              <a:spLocks/>
            </p:cNvSpPr>
            <p:nvPr/>
          </p:nvSpPr>
          <p:spPr bwMode="auto">
            <a:xfrm>
              <a:off x="1666" y="2630"/>
              <a:ext cx="397" cy="204"/>
            </a:xfrm>
            <a:custGeom>
              <a:avLst/>
              <a:gdLst>
                <a:gd name="T0" fmla="*/ 0 w 397"/>
                <a:gd name="T1" fmla="*/ 204 h 204"/>
                <a:gd name="T2" fmla="*/ 1 w 397"/>
                <a:gd name="T3" fmla="*/ 179 h 204"/>
                <a:gd name="T4" fmla="*/ 6 w 397"/>
                <a:gd name="T5" fmla="*/ 154 h 204"/>
                <a:gd name="T6" fmla="*/ 11 w 397"/>
                <a:gd name="T7" fmla="*/ 131 h 204"/>
                <a:gd name="T8" fmla="*/ 20 w 397"/>
                <a:gd name="T9" fmla="*/ 111 h 204"/>
                <a:gd name="T10" fmla="*/ 30 w 397"/>
                <a:gd name="T11" fmla="*/ 93 h 204"/>
                <a:gd name="T12" fmla="*/ 40 w 397"/>
                <a:gd name="T13" fmla="*/ 74 h 204"/>
                <a:gd name="T14" fmla="*/ 53 w 397"/>
                <a:gd name="T15" fmla="*/ 59 h 204"/>
                <a:gd name="T16" fmla="*/ 66 w 397"/>
                <a:gd name="T17" fmla="*/ 46 h 204"/>
                <a:gd name="T18" fmla="*/ 81 w 397"/>
                <a:gd name="T19" fmla="*/ 35 h 204"/>
                <a:gd name="T20" fmla="*/ 98 w 397"/>
                <a:gd name="T21" fmla="*/ 25 h 204"/>
                <a:gd name="T22" fmla="*/ 114 w 397"/>
                <a:gd name="T23" fmla="*/ 16 h 204"/>
                <a:gd name="T24" fmla="*/ 131 w 397"/>
                <a:gd name="T25" fmla="*/ 10 h 204"/>
                <a:gd name="T26" fmla="*/ 149 w 397"/>
                <a:gd name="T27" fmla="*/ 5 h 204"/>
                <a:gd name="T28" fmla="*/ 167 w 397"/>
                <a:gd name="T29" fmla="*/ 2 h 204"/>
                <a:gd name="T30" fmla="*/ 185 w 397"/>
                <a:gd name="T31" fmla="*/ 0 h 204"/>
                <a:gd name="T32" fmla="*/ 204 w 397"/>
                <a:gd name="T33" fmla="*/ 0 h 204"/>
                <a:gd name="T34" fmla="*/ 222 w 397"/>
                <a:gd name="T35" fmla="*/ 0 h 204"/>
                <a:gd name="T36" fmla="*/ 242 w 397"/>
                <a:gd name="T37" fmla="*/ 3 h 204"/>
                <a:gd name="T38" fmla="*/ 258 w 397"/>
                <a:gd name="T39" fmla="*/ 8 h 204"/>
                <a:gd name="T40" fmla="*/ 276 w 397"/>
                <a:gd name="T41" fmla="*/ 15 h 204"/>
                <a:gd name="T42" fmla="*/ 293 w 397"/>
                <a:gd name="T43" fmla="*/ 21 h 204"/>
                <a:gd name="T44" fmla="*/ 310 w 397"/>
                <a:gd name="T45" fmla="*/ 31 h 204"/>
                <a:gd name="T46" fmla="*/ 324 w 397"/>
                <a:gd name="T47" fmla="*/ 41 h 204"/>
                <a:gd name="T48" fmla="*/ 339 w 397"/>
                <a:gd name="T49" fmla="*/ 54 h 204"/>
                <a:gd name="T50" fmla="*/ 353 w 397"/>
                <a:gd name="T51" fmla="*/ 68 h 204"/>
                <a:gd name="T52" fmla="*/ 364 w 397"/>
                <a:gd name="T53" fmla="*/ 83 h 204"/>
                <a:gd name="T54" fmla="*/ 374 w 397"/>
                <a:gd name="T55" fmla="*/ 99 h 204"/>
                <a:gd name="T56" fmla="*/ 382 w 397"/>
                <a:gd name="T57" fmla="*/ 116 h 204"/>
                <a:gd name="T58" fmla="*/ 389 w 397"/>
                <a:gd name="T59" fmla="*/ 136 h 204"/>
                <a:gd name="T60" fmla="*/ 394 w 397"/>
                <a:gd name="T61" fmla="*/ 156 h 204"/>
                <a:gd name="T62" fmla="*/ 396 w 397"/>
                <a:gd name="T63" fmla="*/ 179 h 204"/>
                <a:gd name="T64" fmla="*/ 397 w 397"/>
                <a:gd name="T65" fmla="*/ 202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97" h="204">
                  <a:moveTo>
                    <a:pt x="0" y="204"/>
                  </a:moveTo>
                  <a:lnTo>
                    <a:pt x="1" y="179"/>
                  </a:lnTo>
                  <a:lnTo>
                    <a:pt x="6" y="154"/>
                  </a:lnTo>
                  <a:lnTo>
                    <a:pt x="11" y="131"/>
                  </a:lnTo>
                  <a:lnTo>
                    <a:pt x="20" y="111"/>
                  </a:lnTo>
                  <a:lnTo>
                    <a:pt x="30" y="93"/>
                  </a:lnTo>
                  <a:lnTo>
                    <a:pt x="40" y="74"/>
                  </a:lnTo>
                  <a:lnTo>
                    <a:pt x="53" y="59"/>
                  </a:lnTo>
                  <a:lnTo>
                    <a:pt x="66" y="46"/>
                  </a:lnTo>
                  <a:lnTo>
                    <a:pt x="81" y="35"/>
                  </a:lnTo>
                  <a:lnTo>
                    <a:pt x="98" y="25"/>
                  </a:lnTo>
                  <a:lnTo>
                    <a:pt x="114" y="16"/>
                  </a:lnTo>
                  <a:lnTo>
                    <a:pt x="131" y="10"/>
                  </a:lnTo>
                  <a:lnTo>
                    <a:pt x="149" y="5"/>
                  </a:lnTo>
                  <a:lnTo>
                    <a:pt x="167" y="2"/>
                  </a:lnTo>
                  <a:lnTo>
                    <a:pt x="185" y="0"/>
                  </a:lnTo>
                  <a:lnTo>
                    <a:pt x="204" y="0"/>
                  </a:lnTo>
                  <a:lnTo>
                    <a:pt x="222" y="0"/>
                  </a:lnTo>
                  <a:lnTo>
                    <a:pt x="242" y="3"/>
                  </a:lnTo>
                  <a:lnTo>
                    <a:pt x="258" y="8"/>
                  </a:lnTo>
                  <a:lnTo>
                    <a:pt x="276" y="15"/>
                  </a:lnTo>
                  <a:lnTo>
                    <a:pt x="293" y="21"/>
                  </a:lnTo>
                  <a:lnTo>
                    <a:pt x="310" y="31"/>
                  </a:lnTo>
                  <a:lnTo>
                    <a:pt x="324" y="41"/>
                  </a:lnTo>
                  <a:lnTo>
                    <a:pt x="339" y="54"/>
                  </a:lnTo>
                  <a:lnTo>
                    <a:pt x="353" y="68"/>
                  </a:lnTo>
                  <a:lnTo>
                    <a:pt x="364" y="83"/>
                  </a:lnTo>
                  <a:lnTo>
                    <a:pt x="374" y="99"/>
                  </a:lnTo>
                  <a:lnTo>
                    <a:pt x="382" y="116"/>
                  </a:lnTo>
                  <a:lnTo>
                    <a:pt x="389" y="136"/>
                  </a:lnTo>
                  <a:lnTo>
                    <a:pt x="394" y="156"/>
                  </a:lnTo>
                  <a:lnTo>
                    <a:pt x="396" y="179"/>
                  </a:lnTo>
                  <a:lnTo>
                    <a:pt x="397" y="202"/>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641" name="Freeform 785">
              <a:extLst>
                <a:ext uri="{FF2B5EF4-FFF2-40B4-BE49-F238E27FC236}">
                  <a16:creationId xmlns:a16="http://schemas.microsoft.com/office/drawing/2014/main" id="{0D5DD6B2-861B-9420-2CEB-D7DA17CBF0F6}"/>
                </a:ext>
              </a:extLst>
            </p:cNvPr>
            <p:cNvSpPr>
              <a:spLocks/>
            </p:cNvSpPr>
            <p:nvPr/>
          </p:nvSpPr>
          <p:spPr bwMode="auto">
            <a:xfrm>
              <a:off x="1470" y="3065"/>
              <a:ext cx="32" cy="24"/>
            </a:xfrm>
            <a:custGeom>
              <a:avLst/>
              <a:gdLst>
                <a:gd name="T0" fmla="*/ 0 w 32"/>
                <a:gd name="T1" fmla="*/ 24 h 24"/>
                <a:gd name="T2" fmla="*/ 0 w 32"/>
                <a:gd name="T3" fmla="*/ 19 h 24"/>
                <a:gd name="T4" fmla="*/ 29 w 32"/>
                <a:gd name="T5" fmla="*/ 0 h 24"/>
                <a:gd name="T6" fmla="*/ 32 w 32"/>
                <a:gd name="T7" fmla="*/ 7 h 24"/>
                <a:gd name="T8" fmla="*/ 4 w 32"/>
                <a:gd name="T9" fmla="*/ 24 h 24"/>
                <a:gd name="T10" fmla="*/ 4 w 32"/>
                <a:gd name="T11" fmla="*/ 19 h 24"/>
                <a:gd name="T12" fmla="*/ 0 w 32"/>
                <a:gd name="T13" fmla="*/ 24 h 24"/>
              </a:gdLst>
              <a:ahLst/>
              <a:cxnLst>
                <a:cxn ang="0">
                  <a:pos x="T0" y="T1"/>
                </a:cxn>
                <a:cxn ang="0">
                  <a:pos x="T2" y="T3"/>
                </a:cxn>
                <a:cxn ang="0">
                  <a:pos x="T4" y="T5"/>
                </a:cxn>
                <a:cxn ang="0">
                  <a:pos x="T6" y="T7"/>
                </a:cxn>
                <a:cxn ang="0">
                  <a:pos x="T8" y="T9"/>
                </a:cxn>
                <a:cxn ang="0">
                  <a:pos x="T10" y="T11"/>
                </a:cxn>
                <a:cxn ang="0">
                  <a:pos x="T12" y="T13"/>
                </a:cxn>
              </a:cxnLst>
              <a:rect l="0" t="0" r="r" b="b"/>
              <a:pathLst>
                <a:path w="32" h="24">
                  <a:moveTo>
                    <a:pt x="0" y="24"/>
                  </a:moveTo>
                  <a:lnTo>
                    <a:pt x="0" y="19"/>
                  </a:lnTo>
                  <a:lnTo>
                    <a:pt x="29" y="0"/>
                  </a:lnTo>
                  <a:lnTo>
                    <a:pt x="32" y="7"/>
                  </a:lnTo>
                  <a:lnTo>
                    <a:pt x="4" y="24"/>
                  </a:lnTo>
                  <a:lnTo>
                    <a:pt x="4" y="19"/>
                  </a:lnTo>
                  <a:lnTo>
                    <a:pt x="0" y="24"/>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42" name="Freeform 786">
              <a:extLst>
                <a:ext uri="{FF2B5EF4-FFF2-40B4-BE49-F238E27FC236}">
                  <a16:creationId xmlns:a16="http://schemas.microsoft.com/office/drawing/2014/main" id="{04AAD9D3-1140-6D64-D544-106FCE36F36F}"/>
                </a:ext>
              </a:extLst>
            </p:cNvPr>
            <p:cNvSpPr>
              <a:spLocks/>
            </p:cNvSpPr>
            <p:nvPr/>
          </p:nvSpPr>
          <p:spPr bwMode="auto">
            <a:xfrm>
              <a:off x="1470" y="3084"/>
              <a:ext cx="2" cy="5"/>
            </a:xfrm>
            <a:custGeom>
              <a:avLst/>
              <a:gdLst>
                <a:gd name="T0" fmla="*/ 0 w 2"/>
                <a:gd name="T1" fmla="*/ 5 h 5"/>
                <a:gd name="T2" fmla="*/ 2 w 2"/>
                <a:gd name="T3" fmla="*/ 3 h 5"/>
                <a:gd name="T4" fmla="*/ 0 w 2"/>
                <a:gd name="T5" fmla="*/ 0 h 5"/>
                <a:gd name="T6" fmla="*/ 0 w 2"/>
                <a:gd name="T7" fmla="*/ 5 h 5"/>
              </a:gdLst>
              <a:ahLst/>
              <a:cxnLst>
                <a:cxn ang="0">
                  <a:pos x="T0" y="T1"/>
                </a:cxn>
                <a:cxn ang="0">
                  <a:pos x="T2" y="T3"/>
                </a:cxn>
                <a:cxn ang="0">
                  <a:pos x="T4" y="T5"/>
                </a:cxn>
                <a:cxn ang="0">
                  <a:pos x="T6" y="T7"/>
                </a:cxn>
              </a:cxnLst>
              <a:rect l="0" t="0" r="r" b="b"/>
              <a:pathLst>
                <a:path w="2" h="5">
                  <a:moveTo>
                    <a:pt x="0" y="5"/>
                  </a:moveTo>
                  <a:lnTo>
                    <a:pt x="2" y="3"/>
                  </a:lnTo>
                  <a:lnTo>
                    <a:pt x="0" y="0"/>
                  </a:lnTo>
                  <a:lnTo>
                    <a:pt x="0"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43" name="Freeform 787">
              <a:extLst>
                <a:ext uri="{FF2B5EF4-FFF2-40B4-BE49-F238E27FC236}">
                  <a16:creationId xmlns:a16="http://schemas.microsoft.com/office/drawing/2014/main" id="{37FD1E96-7115-7ADC-439B-382BD7766153}"/>
                </a:ext>
              </a:extLst>
            </p:cNvPr>
            <p:cNvSpPr>
              <a:spLocks/>
            </p:cNvSpPr>
            <p:nvPr/>
          </p:nvSpPr>
          <p:spPr bwMode="auto">
            <a:xfrm>
              <a:off x="1470" y="3084"/>
              <a:ext cx="32" cy="23"/>
            </a:xfrm>
            <a:custGeom>
              <a:avLst/>
              <a:gdLst>
                <a:gd name="T0" fmla="*/ 30 w 32"/>
                <a:gd name="T1" fmla="*/ 19 h 23"/>
                <a:gd name="T2" fmla="*/ 29 w 32"/>
                <a:gd name="T3" fmla="*/ 23 h 23"/>
                <a:gd name="T4" fmla="*/ 0 w 32"/>
                <a:gd name="T5" fmla="*/ 5 h 23"/>
                <a:gd name="T6" fmla="*/ 4 w 32"/>
                <a:gd name="T7" fmla="*/ 0 h 23"/>
                <a:gd name="T8" fmla="*/ 32 w 32"/>
                <a:gd name="T9" fmla="*/ 18 h 23"/>
                <a:gd name="T10" fmla="*/ 30 w 32"/>
                <a:gd name="T11" fmla="*/ 19 h 23"/>
              </a:gdLst>
              <a:ahLst/>
              <a:cxnLst>
                <a:cxn ang="0">
                  <a:pos x="T0" y="T1"/>
                </a:cxn>
                <a:cxn ang="0">
                  <a:pos x="T2" y="T3"/>
                </a:cxn>
                <a:cxn ang="0">
                  <a:pos x="T4" y="T5"/>
                </a:cxn>
                <a:cxn ang="0">
                  <a:pos x="T6" y="T7"/>
                </a:cxn>
                <a:cxn ang="0">
                  <a:pos x="T8" y="T9"/>
                </a:cxn>
                <a:cxn ang="0">
                  <a:pos x="T10" y="T11"/>
                </a:cxn>
              </a:cxnLst>
              <a:rect l="0" t="0" r="r" b="b"/>
              <a:pathLst>
                <a:path w="32" h="23">
                  <a:moveTo>
                    <a:pt x="30" y="19"/>
                  </a:moveTo>
                  <a:lnTo>
                    <a:pt x="29" y="23"/>
                  </a:lnTo>
                  <a:lnTo>
                    <a:pt x="0" y="5"/>
                  </a:lnTo>
                  <a:lnTo>
                    <a:pt x="4" y="0"/>
                  </a:lnTo>
                  <a:lnTo>
                    <a:pt x="32" y="18"/>
                  </a:lnTo>
                  <a:lnTo>
                    <a:pt x="30" y="19"/>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44" name="Freeform 788">
              <a:extLst>
                <a:ext uri="{FF2B5EF4-FFF2-40B4-BE49-F238E27FC236}">
                  <a16:creationId xmlns:a16="http://schemas.microsoft.com/office/drawing/2014/main" id="{6526816A-78DE-AFED-625E-98309A9A2594}"/>
                </a:ext>
              </a:extLst>
            </p:cNvPr>
            <p:cNvSpPr>
              <a:spLocks/>
            </p:cNvSpPr>
            <p:nvPr/>
          </p:nvSpPr>
          <p:spPr bwMode="auto">
            <a:xfrm>
              <a:off x="1479" y="3084"/>
              <a:ext cx="157" cy="5"/>
            </a:xfrm>
            <a:custGeom>
              <a:avLst/>
              <a:gdLst>
                <a:gd name="T0" fmla="*/ 157 w 157"/>
                <a:gd name="T1" fmla="*/ 3 h 5"/>
                <a:gd name="T2" fmla="*/ 157 w 157"/>
                <a:gd name="T3" fmla="*/ 0 h 5"/>
                <a:gd name="T4" fmla="*/ 0 w 157"/>
                <a:gd name="T5" fmla="*/ 0 h 5"/>
                <a:gd name="T6" fmla="*/ 0 w 157"/>
                <a:gd name="T7" fmla="*/ 5 h 5"/>
                <a:gd name="T8" fmla="*/ 157 w 157"/>
                <a:gd name="T9" fmla="*/ 5 h 5"/>
                <a:gd name="T10" fmla="*/ 157 w 157"/>
                <a:gd name="T11" fmla="*/ 3 h 5"/>
              </a:gdLst>
              <a:ahLst/>
              <a:cxnLst>
                <a:cxn ang="0">
                  <a:pos x="T0" y="T1"/>
                </a:cxn>
                <a:cxn ang="0">
                  <a:pos x="T2" y="T3"/>
                </a:cxn>
                <a:cxn ang="0">
                  <a:pos x="T4" y="T5"/>
                </a:cxn>
                <a:cxn ang="0">
                  <a:pos x="T6" y="T7"/>
                </a:cxn>
                <a:cxn ang="0">
                  <a:pos x="T8" y="T9"/>
                </a:cxn>
                <a:cxn ang="0">
                  <a:pos x="T10" y="T11"/>
                </a:cxn>
              </a:cxnLst>
              <a:rect l="0" t="0" r="r" b="b"/>
              <a:pathLst>
                <a:path w="157" h="5">
                  <a:moveTo>
                    <a:pt x="157" y="3"/>
                  </a:moveTo>
                  <a:lnTo>
                    <a:pt x="157" y="0"/>
                  </a:lnTo>
                  <a:lnTo>
                    <a:pt x="0" y="0"/>
                  </a:lnTo>
                  <a:lnTo>
                    <a:pt x="0" y="5"/>
                  </a:lnTo>
                  <a:lnTo>
                    <a:pt x="157" y="5"/>
                  </a:lnTo>
                  <a:lnTo>
                    <a:pt x="157" y="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45" name="Freeform 789">
              <a:extLst>
                <a:ext uri="{FF2B5EF4-FFF2-40B4-BE49-F238E27FC236}">
                  <a16:creationId xmlns:a16="http://schemas.microsoft.com/office/drawing/2014/main" id="{6D48D55A-24E1-3FE1-89AF-2CC9569B0618}"/>
                </a:ext>
              </a:extLst>
            </p:cNvPr>
            <p:cNvSpPr>
              <a:spLocks/>
            </p:cNvSpPr>
            <p:nvPr/>
          </p:nvSpPr>
          <p:spPr bwMode="auto">
            <a:xfrm>
              <a:off x="1613" y="3065"/>
              <a:ext cx="31" cy="24"/>
            </a:xfrm>
            <a:custGeom>
              <a:avLst/>
              <a:gdLst>
                <a:gd name="T0" fmla="*/ 31 w 31"/>
                <a:gd name="T1" fmla="*/ 24 h 24"/>
                <a:gd name="T2" fmla="*/ 31 w 31"/>
                <a:gd name="T3" fmla="*/ 19 h 24"/>
                <a:gd name="T4" fmla="*/ 3 w 31"/>
                <a:gd name="T5" fmla="*/ 0 h 24"/>
                <a:gd name="T6" fmla="*/ 0 w 31"/>
                <a:gd name="T7" fmla="*/ 7 h 24"/>
                <a:gd name="T8" fmla="*/ 26 w 31"/>
                <a:gd name="T9" fmla="*/ 24 h 24"/>
                <a:gd name="T10" fmla="*/ 26 w 31"/>
                <a:gd name="T11" fmla="*/ 19 h 24"/>
                <a:gd name="T12" fmla="*/ 31 w 31"/>
                <a:gd name="T13" fmla="*/ 24 h 24"/>
              </a:gdLst>
              <a:ahLst/>
              <a:cxnLst>
                <a:cxn ang="0">
                  <a:pos x="T0" y="T1"/>
                </a:cxn>
                <a:cxn ang="0">
                  <a:pos x="T2" y="T3"/>
                </a:cxn>
                <a:cxn ang="0">
                  <a:pos x="T4" y="T5"/>
                </a:cxn>
                <a:cxn ang="0">
                  <a:pos x="T6" y="T7"/>
                </a:cxn>
                <a:cxn ang="0">
                  <a:pos x="T8" y="T9"/>
                </a:cxn>
                <a:cxn ang="0">
                  <a:pos x="T10" y="T11"/>
                </a:cxn>
                <a:cxn ang="0">
                  <a:pos x="T12" y="T13"/>
                </a:cxn>
              </a:cxnLst>
              <a:rect l="0" t="0" r="r" b="b"/>
              <a:pathLst>
                <a:path w="31" h="24">
                  <a:moveTo>
                    <a:pt x="31" y="24"/>
                  </a:moveTo>
                  <a:lnTo>
                    <a:pt x="31" y="19"/>
                  </a:lnTo>
                  <a:lnTo>
                    <a:pt x="3" y="0"/>
                  </a:lnTo>
                  <a:lnTo>
                    <a:pt x="0" y="7"/>
                  </a:lnTo>
                  <a:lnTo>
                    <a:pt x="26" y="24"/>
                  </a:lnTo>
                  <a:lnTo>
                    <a:pt x="26" y="19"/>
                  </a:lnTo>
                  <a:lnTo>
                    <a:pt x="31" y="24"/>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46" name="Freeform 790">
              <a:extLst>
                <a:ext uri="{FF2B5EF4-FFF2-40B4-BE49-F238E27FC236}">
                  <a16:creationId xmlns:a16="http://schemas.microsoft.com/office/drawing/2014/main" id="{F1746C1B-9F7A-49D4-BB51-A0950C97CC73}"/>
                </a:ext>
              </a:extLst>
            </p:cNvPr>
            <p:cNvSpPr>
              <a:spLocks/>
            </p:cNvSpPr>
            <p:nvPr/>
          </p:nvSpPr>
          <p:spPr bwMode="auto">
            <a:xfrm>
              <a:off x="1641" y="3084"/>
              <a:ext cx="3" cy="5"/>
            </a:xfrm>
            <a:custGeom>
              <a:avLst/>
              <a:gdLst>
                <a:gd name="T0" fmla="*/ 3 w 3"/>
                <a:gd name="T1" fmla="*/ 5 h 5"/>
                <a:gd name="T2" fmla="*/ 0 w 3"/>
                <a:gd name="T3" fmla="*/ 3 h 5"/>
                <a:gd name="T4" fmla="*/ 3 w 3"/>
                <a:gd name="T5" fmla="*/ 0 h 5"/>
                <a:gd name="T6" fmla="*/ 3 w 3"/>
                <a:gd name="T7" fmla="*/ 5 h 5"/>
              </a:gdLst>
              <a:ahLst/>
              <a:cxnLst>
                <a:cxn ang="0">
                  <a:pos x="T0" y="T1"/>
                </a:cxn>
                <a:cxn ang="0">
                  <a:pos x="T2" y="T3"/>
                </a:cxn>
                <a:cxn ang="0">
                  <a:pos x="T4" y="T5"/>
                </a:cxn>
                <a:cxn ang="0">
                  <a:pos x="T6" y="T7"/>
                </a:cxn>
              </a:cxnLst>
              <a:rect l="0" t="0" r="r" b="b"/>
              <a:pathLst>
                <a:path w="3" h="5">
                  <a:moveTo>
                    <a:pt x="3" y="5"/>
                  </a:moveTo>
                  <a:lnTo>
                    <a:pt x="0" y="3"/>
                  </a:lnTo>
                  <a:lnTo>
                    <a:pt x="3" y="0"/>
                  </a:lnTo>
                  <a:lnTo>
                    <a:pt x="3"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47" name="Freeform 791">
              <a:extLst>
                <a:ext uri="{FF2B5EF4-FFF2-40B4-BE49-F238E27FC236}">
                  <a16:creationId xmlns:a16="http://schemas.microsoft.com/office/drawing/2014/main" id="{B73AB577-C6AD-042F-6C54-6DEA6D80E7C6}"/>
                </a:ext>
              </a:extLst>
            </p:cNvPr>
            <p:cNvSpPr>
              <a:spLocks/>
            </p:cNvSpPr>
            <p:nvPr/>
          </p:nvSpPr>
          <p:spPr bwMode="auto">
            <a:xfrm>
              <a:off x="1613" y="3084"/>
              <a:ext cx="31" cy="23"/>
            </a:xfrm>
            <a:custGeom>
              <a:avLst/>
              <a:gdLst>
                <a:gd name="T0" fmla="*/ 1 w 31"/>
                <a:gd name="T1" fmla="*/ 19 h 23"/>
                <a:gd name="T2" fmla="*/ 3 w 31"/>
                <a:gd name="T3" fmla="*/ 23 h 23"/>
                <a:gd name="T4" fmla="*/ 31 w 31"/>
                <a:gd name="T5" fmla="*/ 5 h 23"/>
                <a:gd name="T6" fmla="*/ 26 w 31"/>
                <a:gd name="T7" fmla="*/ 0 h 23"/>
                <a:gd name="T8" fmla="*/ 0 w 31"/>
                <a:gd name="T9" fmla="*/ 18 h 23"/>
                <a:gd name="T10" fmla="*/ 1 w 31"/>
                <a:gd name="T11" fmla="*/ 19 h 23"/>
              </a:gdLst>
              <a:ahLst/>
              <a:cxnLst>
                <a:cxn ang="0">
                  <a:pos x="T0" y="T1"/>
                </a:cxn>
                <a:cxn ang="0">
                  <a:pos x="T2" y="T3"/>
                </a:cxn>
                <a:cxn ang="0">
                  <a:pos x="T4" y="T5"/>
                </a:cxn>
                <a:cxn ang="0">
                  <a:pos x="T6" y="T7"/>
                </a:cxn>
                <a:cxn ang="0">
                  <a:pos x="T8" y="T9"/>
                </a:cxn>
                <a:cxn ang="0">
                  <a:pos x="T10" y="T11"/>
                </a:cxn>
              </a:cxnLst>
              <a:rect l="0" t="0" r="r" b="b"/>
              <a:pathLst>
                <a:path w="31" h="23">
                  <a:moveTo>
                    <a:pt x="1" y="19"/>
                  </a:moveTo>
                  <a:lnTo>
                    <a:pt x="3" y="23"/>
                  </a:lnTo>
                  <a:lnTo>
                    <a:pt x="31" y="5"/>
                  </a:lnTo>
                  <a:lnTo>
                    <a:pt x="26" y="0"/>
                  </a:lnTo>
                  <a:lnTo>
                    <a:pt x="0" y="18"/>
                  </a:lnTo>
                  <a:lnTo>
                    <a:pt x="1" y="19"/>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48" name="Freeform 792">
              <a:extLst>
                <a:ext uri="{FF2B5EF4-FFF2-40B4-BE49-F238E27FC236}">
                  <a16:creationId xmlns:a16="http://schemas.microsoft.com/office/drawing/2014/main" id="{4E2DF23B-759A-89D6-8D79-EE5F584955B9}"/>
                </a:ext>
              </a:extLst>
            </p:cNvPr>
            <p:cNvSpPr>
              <a:spLocks/>
            </p:cNvSpPr>
            <p:nvPr/>
          </p:nvSpPr>
          <p:spPr bwMode="auto">
            <a:xfrm>
              <a:off x="1457" y="3738"/>
              <a:ext cx="32" cy="23"/>
            </a:xfrm>
            <a:custGeom>
              <a:avLst/>
              <a:gdLst>
                <a:gd name="T0" fmla="*/ 0 w 32"/>
                <a:gd name="T1" fmla="*/ 23 h 23"/>
                <a:gd name="T2" fmla="*/ 0 w 32"/>
                <a:gd name="T3" fmla="*/ 16 h 23"/>
                <a:gd name="T4" fmla="*/ 29 w 32"/>
                <a:gd name="T5" fmla="*/ 0 h 23"/>
                <a:gd name="T6" fmla="*/ 32 w 32"/>
                <a:gd name="T7" fmla="*/ 5 h 23"/>
                <a:gd name="T8" fmla="*/ 3 w 32"/>
                <a:gd name="T9" fmla="*/ 23 h 23"/>
                <a:gd name="T10" fmla="*/ 3 w 32"/>
                <a:gd name="T11" fmla="*/ 16 h 23"/>
                <a:gd name="T12" fmla="*/ 0 w 32"/>
                <a:gd name="T13" fmla="*/ 23 h 23"/>
              </a:gdLst>
              <a:ahLst/>
              <a:cxnLst>
                <a:cxn ang="0">
                  <a:pos x="T0" y="T1"/>
                </a:cxn>
                <a:cxn ang="0">
                  <a:pos x="T2" y="T3"/>
                </a:cxn>
                <a:cxn ang="0">
                  <a:pos x="T4" y="T5"/>
                </a:cxn>
                <a:cxn ang="0">
                  <a:pos x="T6" y="T7"/>
                </a:cxn>
                <a:cxn ang="0">
                  <a:pos x="T8" y="T9"/>
                </a:cxn>
                <a:cxn ang="0">
                  <a:pos x="T10" y="T11"/>
                </a:cxn>
                <a:cxn ang="0">
                  <a:pos x="T12" y="T13"/>
                </a:cxn>
              </a:cxnLst>
              <a:rect l="0" t="0" r="r" b="b"/>
              <a:pathLst>
                <a:path w="32" h="23">
                  <a:moveTo>
                    <a:pt x="0" y="23"/>
                  </a:moveTo>
                  <a:lnTo>
                    <a:pt x="0" y="16"/>
                  </a:lnTo>
                  <a:lnTo>
                    <a:pt x="29" y="0"/>
                  </a:lnTo>
                  <a:lnTo>
                    <a:pt x="32" y="5"/>
                  </a:lnTo>
                  <a:lnTo>
                    <a:pt x="3" y="23"/>
                  </a:lnTo>
                  <a:lnTo>
                    <a:pt x="3" y="16"/>
                  </a:lnTo>
                  <a:lnTo>
                    <a:pt x="0" y="2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49" name="Freeform 793">
              <a:extLst>
                <a:ext uri="{FF2B5EF4-FFF2-40B4-BE49-F238E27FC236}">
                  <a16:creationId xmlns:a16="http://schemas.microsoft.com/office/drawing/2014/main" id="{A89B3968-9590-A7C1-3FC9-BDF9C545CE64}"/>
                </a:ext>
              </a:extLst>
            </p:cNvPr>
            <p:cNvSpPr>
              <a:spLocks/>
            </p:cNvSpPr>
            <p:nvPr/>
          </p:nvSpPr>
          <p:spPr bwMode="auto">
            <a:xfrm>
              <a:off x="1457" y="3754"/>
              <a:ext cx="2" cy="7"/>
            </a:xfrm>
            <a:custGeom>
              <a:avLst/>
              <a:gdLst>
                <a:gd name="T0" fmla="*/ 0 w 2"/>
                <a:gd name="T1" fmla="*/ 7 h 7"/>
                <a:gd name="T2" fmla="*/ 2 w 2"/>
                <a:gd name="T3" fmla="*/ 3 h 7"/>
                <a:gd name="T4" fmla="*/ 0 w 2"/>
                <a:gd name="T5" fmla="*/ 0 h 7"/>
                <a:gd name="T6" fmla="*/ 0 w 2"/>
                <a:gd name="T7" fmla="*/ 7 h 7"/>
              </a:gdLst>
              <a:ahLst/>
              <a:cxnLst>
                <a:cxn ang="0">
                  <a:pos x="T0" y="T1"/>
                </a:cxn>
                <a:cxn ang="0">
                  <a:pos x="T2" y="T3"/>
                </a:cxn>
                <a:cxn ang="0">
                  <a:pos x="T4" y="T5"/>
                </a:cxn>
                <a:cxn ang="0">
                  <a:pos x="T6" y="T7"/>
                </a:cxn>
              </a:cxnLst>
              <a:rect l="0" t="0" r="r" b="b"/>
              <a:pathLst>
                <a:path w="2" h="7">
                  <a:moveTo>
                    <a:pt x="0" y="7"/>
                  </a:moveTo>
                  <a:lnTo>
                    <a:pt x="2" y="3"/>
                  </a:lnTo>
                  <a:lnTo>
                    <a:pt x="0" y="0"/>
                  </a:lnTo>
                  <a:lnTo>
                    <a:pt x="0" y="7"/>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50" name="Freeform 794">
              <a:extLst>
                <a:ext uri="{FF2B5EF4-FFF2-40B4-BE49-F238E27FC236}">
                  <a16:creationId xmlns:a16="http://schemas.microsoft.com/office/drawing/2014/main" id="{79004DFB-82FC-EE41-CC88-700CBB6E5B38}"/>
                </a:ext>
              </a:extLst>
            </p:cNvPr>
            <p:cNvSpPr>
              <a:spLocks/>
            </p:cNvSpPr>
            <p:nvPr/>
          </p:nvSpPr>
          <p:spPr bwMode="auto">
            <a:xfrm>
              <a:off x="1457" y="3754"/>
              <a:ext cx="32" cy="25"/>
            </a:xfrm>
            <a:custGeom>
              <a:avLst/>
              <a:gdLst>
                <a:gd name="T0" fmla="*/ 30 w 32"/>
                <a:gd name="T1" fmla="*/ 22 h 25"/>
                <a:gd name="T2" fmla="*/ 29 w 32"/>
                <a:gd name="T3" fmla="*/ 25 h 25"/>
                <a:gd name="T4" fmla="*/ 0 w 32"/>
                <a:gd name="T5" fmla="*/ 7 h 25"/>
                <a:gd name="T6" fmla="*/ 3 w 32"/>
                <a:gd name="T7" fmla="*/ 0 h 25"/>
                <a:gd name="T8" fmla="*/ 32 w 32"/>
                <a:gd name="T9" fmla="*/ 18 h 25"/>
                <a:gd name="T10" fmla="*/ 30 w 32"/>
                <a:gd name="T11" fmla="*/ 22 h 25"/>
              </a:gdLst>
              <a:ahLst/>
              <a:cxnLst>
                <a:cxn ang="0">
                  <a:pos x="T0" y="T1"/>
                </a:cxn>
                <a:cxn ang="0">
                  <a:pos x="T2" y="T3"/>
                </a:cxn>
                <a:cxn ang="0">
                  <a:pos x="T4" y="T5"/>
                </a:cxn>
                <a:cxn ang="0">
                  <a:pos x="T6" y="T7"/>
                </a:cxn>
                <a:cxn ang="0">
                  <a:pos x="T8" y="T9"/>
                </a:cxn>
                <a:cxn ang="0">
                  <a:pos x="T10" y="T11"/>
                </a:cxn>
              </a:cxnLst>
              <a:rect l="0" t="0" r="r" b="b"/>
              <a:pathLst>
                <a:path w="32" h="25">
                  <a:moveTo>
                    <a:pt x="30" y="22"/>
                  </a:moveTo>
                  <a:lnTo>
                    <a:pt x="29" y="25"/>
                  </a:lnTo>
                  <a:lnTo>
                    <a:pt x="0" y="7"/>
                  </a:lnTo>
                  <a:lnTo>
                    <a:pt x="3" y="0"/>
                  </a:lnTo>
                  <a:lnTo>
                    <a:pt x="32" y="18"/>
                  </a:lnTo>
                  <a:lnTo>
                    <a:pt x="30" y="2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51" name="Freeform 795">
              <a:extLst>
                <a:ext uri="{FF2B5EF4-FFF2-40B4-BE49-F238E27FC236}">
                  <a16:creationId xmlns:a16="http://schemas.microsoft.com/office/drawing/2014/main" id="{CA771A71-3E46-B6DF-D804-88B6AC358828}"/>
                </a:ext>
              </a:extLst>
            </p:cNvPr>
            <p:cNvSpPr>
              <a:spLocks/>
            </p:cNvSpPr>
            <p:nvPr/>
          </p:nvSpPr>
          <p:spPr bwMode="auto">
            <a:xfrm>
              <a:off x="1464" y="3756"/>
              <a:ext cx="182" cy="5"/>
            </a:xfrm>
            <a:custGeom>
              <a:avLst/>
              <a:gdLst>
                <a:gd name="T0" fmla="*/ 182 w 182"/>
                <a:gd name="T1" fmla="*/ 1 h 5"/>
                <a:gd name="T2" fmla="*/ 182 w 182"/>
                <a:gd name="T3" fmla="*/ 0 h 5"/>
                <a:gd name="T4" fmla="*/ 0 w 182"/>
                <a:gd name="T5" fmla="*/ 0 h 5"/>
                <a:gd name="T6" fmla="*/ 0 w 182"/>
                <a:gd name="T7" fmla="*/ 5 h 5"/>
                <a:gd name="T8" fmla="*/ 182 w 182"/>
                <a:gd name="T9" fmla="*/ 5 h 5"/>
                <a:gd name="T10" fmla="*/ 182 w 182"/>
                <a:gd name="T11" fmla="*/ 1 h 5"/>
              </a:gdLst>
              <a:ahLst/>
              <a:cxnLst>
                <a:cxn ang="0">
                  <a:pos x="T0" y="T1"/>
                </a:cxn>
                <a:cxn ang="0">
                  <a:pos x="T2" y="T3"/>
                </a:cxn>
                <a:cxn ang="0">
                  <a:pos x="T4" y="T5"/>
                </a:cxn>
                <a:cxn ang="0">
                  <a:pos x="T6" y="T7"/>
                </a:cxn>
                <a:cxn ang="0">
                  <a:pos x="T8" y="T9"/>
                </a:cxn>
                <a:cxn ang="0">
                  <a:pos x="T10" y="T11"/>
                </a:cxn>
              </a:cxnLst>
              <a:rect l="0" t="0" r="r" b="b"/>
              <a:pathLst>
                <a:path w="182" h="5">
                  <a:moveTo>
                    <a:pt x="182" y="1"/>
                  </a:moveTo>
                  <a:lnTo>
                    <a:pt x="182" y="0"/>
                  </a:lnTo>
                  <a:lnTo>
                    <a:pt x="0" y="0"/>
                  </a:lnTo>
                  <a:lnTo>
                    <a:pt x="0" y="5"/>
                  </a:lnTo>
                  <a:lnTo>
                    <a:pt x="182" y="5"/>
                  </a:lnTo>
                  <a:lnTo>
                    <a:pt x="182" y="1"/>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52" name="Freeform 796">
              <a:extLst>
                <a:ext uri="{FF2B5EF4-FFF2-40B4-BE49-F238E27FC236}">
                  <a16:creationId xmlns:a16="http://schemas.microsoft.com/office/drawing/2014/main" id="{D1D26ABF-F374-1215-5328-EC3EBD03842B}"/>
                </a:ext>
              </a:extLst>
            </p:cNvPr>
            <p:cNvSpPr>
              <a:spLocks/>
            </p:cNvSpPr>
            <p:nvPr/>
          </p:nvSpPr>
          <p:spPr bwMode="auto">
            <a:xfrm>
              <a:off x="1621" y="3738"/>
              <a:ext cx="32" cy="23"/>
            </a:xfrm>
            <a:custGeom>
              <a:avLst/>
              <a:gdLst>
                <a:gd name="T0" fmla="*/ 32 w 32"/>
                <a:gd name="T1" fmla="*/ 23 h 23"/>
                <a:gd name="T2" fmla="*/ 32 w 32"/>
                <a:gd name="T3" fmla="*/ 16 h 23"/>
                <a:gd name="T4" fmla="*/ 3 w 32"/>
                <a:gd name="T5" fmla="*/ 0 h 23"/>
                <a:gd name="T6" fmla="*/ 0 w 32"/>
                <a:gd name="T7" fmla="*/ 5 h 23"/>
                <a:gd name="T8" fmla="*/ 28 w 32"/>
                <a:gd name="T9" fmla="*/ 23 h 23"/>
                <a:gd name="T10" fmla="*/ 28 w 32"/>
                <a:gd name="T11" fmla="*/ 16 h 23"/>
                <a:gd name="T12" fmla="*/ 32 w 32"/>
                <a:gd name="T13" fmla="*/ 23 h 23"/>
              </a:gdLst>
              <a:ahLst/>
              <a:cxnLst>
                <a:cxn ang="0">
                  <a:pos x="T0" y="T1"/>
                </a:cxn>
                <a:cxn ang="0">
                  <a:pos x="T2" y="T3"/>
                </a:cxn>
                <a:cxn ang="0">
                  <a:pos x="T4" y="T5"/>
                </a:cxn>
                <a:cxn ang="0">
                  <a:pos x="T6" y="T7"/>
                </a:cxn>
                <a:cxn ang="0">
                  <a:pos x="T8" y="T9"/>
                </a:cxn>
                <a:cxn ang="0">
                  <a:pos x="T10" y="T11"/>
                </a:cxn>
                <a:cxn ang="0">
                  <a:pos x="T12" y="T13"/>
                </a:cxn>
              </a:cxnLst>
              <a:rect l="0" t="0" r="r" b="b"/>
              <a:pathLst>
                <a:path w="32" h="23">
                  <a:moveTo>
                    <a:pt x="32" y="23"/>
                  </a:moveTo>
                  <a:lnTo>
                    <a:pt x="32" y="16"/>
                  </a:lnTo>
                  <a:lnTo>
                    <a:pt x="3" y="0"/>
                  </a:lnTo>
                  <a:lnTo>
                    <a:pt x="0" y="5"/>
                  </a:lnTo>
                  <a:lnTo>
                    <a:pt x="28" y="23"/>
                  </a:lnTo>
                  <a:lnTo>
                    <a:pt x="28" y="16"/>
                  </a:lnTo>
                  <a:lnTo>
                    <a:pt x="32" y="2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53" name="Freeform 797">
              <a:extLst>
                <a:ext uri="{FF2B5EF4-FFF2-40B4-BE49-F238E27FC236}">
                  <a16:creationId xmlns:a16="http://schemas.microsoft.com/office/drawing/2014/main" id="{D5BF2BCA-D0E8-A3B0-3E2E-E0AC5C14F68C}"/>
                </a:ext>
              </a:extLst>
            </p:cNvPr>
            <p:cNvSpPr>
              <a:spLocks/>
            </p:cNvSpPr>
            <p:nvPr/>
          </p:nvSpPr>
          <p:spPr bwMode="auto">
            <a:xfrm>
              <a:off x="1651" y="3754"/>
              <a:ext cx="2" cy="7"/>
            </a:xfrm>
            <a:custGeom>
              <a:avLst/>
              <a:gdLst>
                <a:gd name="T0" fmla="*/ 2 w 2"/>
                <a:gd name="T1" fmla="*/ 7 h 7"/>
                <a:gd name="T2" fmla="*/ 0 w 2"/>
                <a:gd name="T3" fmla="*/ 3 h 7"/>
                <a:gd name="T4" fmla="*/ 2 w 2"/>
                <a:gd name="T5" fmla="*/ 0 h 7"/>
                <a:gd name="T6" fmla="*/ 2 w 2"/>
                <a:gd name="T7" fmla="*/ 7 h 7"/>
              </a:gdLst>
              <a:ahLst/>
              <a:cxnLst>
                <a:cxn ang="0">
                  <a:pos x="T0" y="T1"/>
                </a:cxn>
                <a:cxn ang="0">
                  <a:pos x="T2" y="T3"/>
                </a:cxn>
                <a:cxn ang="0">
                  <a:pos x="T4" y="T5"/>
                </a:cxn>
                <a:cxn ang="0">
                  <a:pos x="T6" y="T7"/>
                </a:cxn>
              </a:cxnLst>
              <a:rect l="0" t="0" r="r" b="b"/>
              <a:pathLst>
                <a:path w="2" h="7">
                  <a:moveTo>
                    <a:pt x="2" y="7"/>
                  </a:moveTo>
                  <a:lnTo>
                    <a:pt x="0" y="3"/>
                  </a:lnTo>
                  <a:lnTo>
                    <a:pt x="2" y="0"/>
                  </a:lnTo>
                  <a:lnTo>
                    <a:pt x="2" y="7"/>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54" name="Freeform 798">
              <a:extLst>
                <a:ext uri="{FF2B5EF4-FFF2-40B4-BE49-F238E27FC236}">
                  <a16:creationId xmlns:a16="http://schemas.microsoft.com/office/drawing/2014/main" id="{FA4E7B86-8D26-5786-06C6-78A2FD2C8CF7}"/>
                </a:ext>
              </a:extLst>
            </p:cNvPr>
            <p:cNvSpPr>
              <a:spLocks/>
            </p:cNvSpPr>
            <p:nvPr/>
          </p:nvSpPr>
          <p:spPr bwMode="auto">
            <a:xfrm>
              <a:off x="1621" y="3754"/>
              <a:ext cx="32" cy="25"/>
            </a:xfrm>
            <a:custGeom>
              <a:avLst/>
              <a:gdLst>
                <a:gd name="T0" fmla="*/ 2 w 32"/>
                <a:gd name="T1" fmla="*/ 22 h 25"/>
                <a:gd name="T2" fmla="*/ 3 w 32"/>
                <a:gd name="T3" fmla="*/ 25 h 25"/>
                <a:gd name="T4" fmla="*/ 32 w 32"/>
                <a:gd name="T5" fmla="*/ 7 h 25"/>
                <a:gd name="T6" fmla="*/ 28 w 32"/>
                <a:gd name="T7" fmla="*/ 0 h 25"/>
                <a:gd name="T8" fmla="*/ 0 w 32"/>
                <a:gd name="T9" fmla="*/ 18 h 25"/>
                <a:gd name="T10" fmla="*/ 2 w 32"/>
                <a:gd name="T11" fmla="*/ 22 h 25"/>
              </a:gdLst>
              <a:ahLst/>
              <a:cxnLst>
                <a:cxn ang="0">
                  <a:pos x="T0" y="T1"/>
                </a:cxn>
                <a:cxn ang="0">
                  <a:pos x="T2" y="T3"/>
                </a:cxn>
                <a:cxn ang="0">
                  <a:pos x="T4" y="T5"/>
                </a:cxn>
                <a:cxn ang="0">
                  <a:pos x="T6" y="T7"/>
                </a:cxn>
                <a:cxn ang="0">
                  <a:pos x="T8" y="T9"/>
                </a:cxn>
                <a:cxn ang="0">
                  <a:pos x="T10" y="T11"/>
                </a:cxn>
              </a:cxnLst>
              <a:rect l="0" t="0" r="r" b="b"/>
              <a:pathLst>
                <a:path w="32" h="25">
                  <a:moveTo>
                    <a:pt x="2" y="22"/>
                  </a:moveTo>
                  <a:lnTo>
                    <a:pt x="3" y="25"/>
                  </a:lnTo>
                  <a:lnTo>
                    <a:pt x="32" y="7"/>
                  </a:lnTo>
                  <a:lnTo>
                    <a:pt x="28" y="0"/>
                  </a:lnTo>
                  <a:lnTo>
                    <a:pt x="0" y="18"/>
                  </a:lnTo>
                  <a:lnTo>
                    <a:pt x="2" y="2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55" name="Rectangle 799">
              <a:extLst>
                <a:ext uri="{FF2B5EF4-FFF2-40B4-BE49-F238E27FC236}">
                  <a16:creationId xmlns:a16="http://schemas.microsoft.com/office/drawing/2014/main" id="{9A0F476D-ABB3-30F0-1E69-4BB4BA40D995}"/>
                </a:ext>
              </a:extLst>
            </p:cNvPr>
            <p:cNvSpPr>
              <a:spLocks noChangeArrowheads="1"/>
            </p:cNvSpPr>
            <p:nvPr/>
          </p:nvSpPr>
          <p:spPr bwMode="auto">
            <a:xfrm>
              <a:off x="1486" y="3812"/>
              <a:ext cx="138" cy="2"/>
            </a:xfrm>
            <a:prstGeom prst="rect">
              <a:avLst/>
            </a:prstGeom>
            <a:solidFill>
              <a:srgbClr val="96AEB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56" name="Rectangle 800">
              <a:extLst>
                <a:ext uri="{FF2B5EF4-FFF2-40B4-BE49-F238E27FC236}">
                  <a16:creationId xmlns:a16="http://schemas.microsoft.com/office/drawing/2014/main" id="{CCAA753E-8E79-AF88-C50B-71D9CF35A05C}"/>
                </a:ext>
              </a:extLst>
            </p:cNvPr>
            <p:cNvSpPr>
              <a:spLocks noChangeArrowheads="1"/>
            </p:cNvSpPr>
            <p:nvPr/>
          </p:nvSpPr>
          <p:spPr bwMode="auto">
            <a:xfrm>
              <a:off x="1486" y="3812"/>
              <a:ext cx="138" cy="3"/>
            </a:xfrm>
            <a:prstGeom prst="rect">
              <a:avLst/>
            </a:prstGeom>
            <a:solidFill>
              <a:srgbClr val="96AEB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57" name="Rectangle 801">
              <a:extLst>
                <a:ext uri="{FF2B5EF4-FFF2-40B4-BE49-F238E27FC236}">
                  <a16:creationId xmlns:a16="http://schemas.microsoft.com/office/drawing/2014/main" id="{44561022-7E13-F063-CAC6-569B34C72642}"/>
                </a:ext>
              </a:extLst>
            </p:cNvPr>
            <p:cNvSpPr>
              <a:spLocks noChangeArrowheads="1"/>
            </p:cNvSpPr>
            <p:nvPr/>
          </p:nvSpPr>
          <p:spPr bwMode="auto">
            <a:xfrm>
              <a:off x="1486" y="3814"/>
              <a:ext cx="138" cy="3"/>
            </a:xfrm>
            <a:prstGeom prst="rect">
              <a:avLst/>
            </a:prstGeom>
            <a:solidFill>
              <a:srgbClr val="9AB1C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58" name="Rectangle 802">
              <a:extLst>
                <a:ext uri="{FF2B5EF4-FFF2-40B4-BE49-F238E27FC236}">
                  <a16:creationId xmlns:a16="http://schemas.microsoft.com/office/drawing/2014/main" id="{69327F87-DBEE-6979-92CF-092F4C4B4E78}"/>
                </a:ext>
              </a:extLst>
            </p:cNvPr>
            <p:cNvSpPr>
              <a:spLocks noChangeArrowheads="1"/>
            </p:cNvSpPr>
            <p:nvPr/>
          </p:nvSpPr>
          <p:spPr bwMode="auto">
            <a:xfrm>
              <a:off x="1486" y="3815"/>
              <a:ext cx="138" cy="4"/>
            </a:xfrm>
            <a:prstGeom prst="rect">
              <a:avLst/>
            </a:prstGeom>
            <a:solidFill>
              <a:srgbClr val="A1B7C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59" name="Rectangle 803">
              <a:extLst>
                <a:ext uri="{FF2B5EF4-FFF2-40B4-BE49-F238E27FC236}">
                  <a16:creationId xmlns:a16="http://schemas.microsoft.com/office/drawing/2014/main" id="{F3F29121-093F-8B31-775B-75F584C022D6}"/>
                </a:ext>
              </a:extLst>
            </p:cNvPr>
            <p:cNvSpPr>
              <a:spLocks noChangeArrowheads="1"/>
            </p:cNvSpPr>
            <p:nvPr/>
          </p:nvSpPr>
          <p:spPr bwMode="auto">
            <a:xfrm>
              <a:off x="1486" y="3817"/>
              <a:ext cx="138" cy="3"/>
            </a:xfrm>
            <a:prstGeom prst="rect">
              <a:avLst/>
            </a:prstGeom>
            <a:solidFill>
              <a:srgbClr val="A8BDCB"/>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60" name="Rectangle 804">
              <a:extLst>
                <a:ext uri="{FF2B5EF4-FFF2-40B4-BE49-F238E27FC236}">
                  <a16:creationId xmlns:a16="http://schemas.microsoft.com/office/drawing/2014/main" id="{E4F60A4D-CB1C-ED0D-EF3A-65319CA9ED7D}"/>
                </a:ext>
              </a:extLst>
            </p:cNvPr>
            <p:cNvSpPr>
              <a:spLocks noChangeArrowheads="1"/>
            </p:cNvSpPr>
            <p:nvPr/>
          </p:nvSpPr>
          <p:spPr bwMode="auto">
            <a:xfrm>
              <a:off x="1486" y="3819"/>
              <a:ext cx="138" cy="3"/>
            </a:xfrm>
            <a:prstGeom prst="rect">
              <a:avLst/>
            </a:prstGeom>
            <a:solidFill>
              <a:srgbClr val="B2C4D2"/>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61" name="Rectangle 805">
              <a:extLst>
                <a:ext uri="{FF2B5EF4-FFF2-40B4-BE49-F238E27FC236}">
                  <a16:creationId xmlns:a16="http://schemas.microsoft.com/office/drawing/2014/main" id="{3FBBDD5A-2E15-C79C-2159-8CE08D9A4DD9}"/>
                </a:ext>
              </a:extLst>
            </p:cNvPr>
            <p:cNvSpPr>
              <a:spLocks noChangeArrowheads="1"/>
            </p:cNvSpPr>
            <p:nvPr/>
          </p:nvSpPr>
          <p:spPr bwMode="auto">
            <a:xfrm>
              <a:off x="1486" y="3820"/>
              <a:ext cx="138" cy="4"/>
            </a:xfrm>
            <a:prstGeom prst="rect">
              <a:avLst/>
            </a:prstGeom>
            <a:solidFill>
              <a:srgbClr val="BECDD8"/>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62" name="Rectangle 806">
              <a:extLst>
                <a:ext uri="{FF2B5EF4-FFF2-40B4-BE49-F238E27FC236}">
                  <a16:creationId xmlns:a16="http://schemas.microsoft.com/office/drawing/2014/main" id="{DBCE4514-F915-67D5-A82D-C4A6E214DA82}"/>
                </a:ext>
              </a:extLst>
            </p:cNvPr>
            <p:cNvSpPr>
              <a:spLocks noChangeArrowheads="1"/>
            </p:cNvSpPr>
            <p:nvPr/>
          </p:nvSpPr>
          <p:spPr bwMode="auto">
            <a:xfrm>
              <a:off x="1486" y="3822"/>
              <a:ext cx="138" cy="3"/>
            </a:xfrm>
            <a:prstGeom prst="rect">
              <a:avLst/>
            </a:prstGeom>
            <a:solidFill>
              <a:srgbClr val="C3D1DB"/>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63" name="Rectangle 807">
              <a:extLst>
                <a:ext uri="{FF2B5EF4-FFF2-40B4-BE49-F238E27FC236}">
                  <a16:creationId xmlns:a16="http://schemas.microsoft.com/office/drawing/2014/main" id="{A50B8AE7-0F70-14B4-BCBD-42840904271E}"/>
                </a:ext>
              </a:extLst>
            </p:cNvPr>
            <p:cNvSpPr>
              <a:spLocks noChangeArrowheads="1"/>
            </p:cNvSpPr>
            <p:nvPr/>
          </p:nvSpPr>
          <p:spPr bwMode="auto">
            <a:xfrm>
              <a:off x="1486" y="3824"/>
              <a:ext cx="138" cy="3"/>
            </a:xfrm>
            <a:prstGeom prst="rect">
              <a:avLst/>
            </a:prstGeom>
            <a:solidFill>
              <a:srgbClr val="D0DCE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64" name="Rectangle 808">
              <a:extLst>
                <a:ext uri="{FF2B5EF4-FFF2-40B4-BE49-F238E27FC236}">
                  <a16:creationId xmlns:a16="http://schemas.microsoft.com/office/drawing/2014/main" id="{EFCB5892-EC72-E741-72C7-7E51B74FA884}"/>
                </a:ext>
              </a:extLst>
            </p:cNvPr>
            <p:cNvSpPr>
              <a:spLocks noChangeArrowheads="1"/>
            </p:cNvSpPr>
            <p:nvPr/>
          </p:nvSpPr>
          <p:spPr bwMode="auto">
            <a:xfrm>
              <a:off x="1486" y="3825"/>
              <a:ext cx="138" cy="4"/>
            </a:xfrm>
            <a:prstGeom prst="rect">
              <a:avLst/>
            </a:prstGeom>
            <a:solidFill>
              <a:srgbClr val="DCE4EA"/>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65" name="Rectangle 809">
              <a:extLst>
                <a:ext uri="{FF2B5EF4-FFF2-40B4-BE49-F238E27FC236}">
                  <a16:creationId xmlns:a16="http://schemas.microsoft.com/office/drawing/2014/main" id="{238CC59E-57C4-8B9C-39CC-24BC4AA00D15}"/>
                </a:ext>
              </a:extLst>
            </p:cNvPr>
            <p:cNvSpPr>
              <a:spLocks noChangeArrowheads="1"/>
            </p:cNvSpPr>
            <p:nvPr/>
          </p:nvSpPr>
          <p:spPr bwMode="auto">
            <a:xfrm>
              <a:off x="1486" y="3827"/>
              <a:ext cx="138" cy="3"/>
            </a:xfrm>
            <a:prstGeom prst="rect">
              <a:avLst/>
            </a:prstGeom>
            <a:solidFill>
              <a:srgbClr val="E8EDF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66" name="Rectangle 810">
              <a:extLst>
                <a:ext uri="{FF2B5EF4-FFF2-40B4-BE49-F238E27FC236}">
                  <a16:creationId xmlns:a16="http://schemas.microsoft.com/office/drawing/2014/main" id="{A7094FD4-27AE-9131-14AE-0F353174F972}"/>
                </a:ext>
              </a:extLst>
            </p:cNvPr>
            <p:cNvSpPr>
              <a:spLocks noChangeArrowheads="1"/>
            </p:cNvSpPr>
            <p:nvPr/>
          </p:nvSpPr>
          <p:spPr bwMode="auto">
            <a:xfrm>
              <a:off x="1486" y="3829"/>
              <a:ext cx="138" cy="3"/>
            </a:xfrm>
            <a:prstGeom prst="rect">
              <a:avLst/>
            </a:prstGeom>
            <a:solidFill>
              <a:srgbClr val="F3F6F8"/>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67" name="Rectangle 811">
              <a:extLst>
                <a:ext uri="{FF2B5EF4-FFF2-40B4-BE49-F238E27FC236}">
                  <a16:creationId xmlns:a16="http://schemas.microsoft.com/office/drawing/2014/main" id="{49B641F6-C747-0D28-24E2-8988D5A4FC6D}"/>
                </a:ext>
              </a:extLst>
            </p:cNvPr>
            <p:cNvSpPr>
              <a:spLocks noChangeArrowheads="1"/>
            </p:cNvSpPr>
            <p:nvPr/>
          </p:nvSpPr>
          <p:spPr bwMode="auto">
            <a:xfrm>
              <a:off x="1486" y="3830"/>
              <a:ext cx="138" cy="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68" name="Rectangle 812">
              <a:extLst>
                <a:ext uri="{FF2B5EF4-FFF2-40B4-BE49-F238E27FC236}">
                  <a16:creationId xmlns:a16="http://schemas.microsoft.com/office/drawing/2014/main" id="{577279C3-B029-5BD5-2AB8-FEC19359E78C}"/>
                </a:ext>
              </a:extLst>
            </p:cNvPr>
            <p:cNvSpPr>
              <a:spLocks noChangeArrowheads="1"/>
            </p:cNvSpPr>
            <p:nvPr/>
          </p:nvSpPr>
          <p:spPr bwMode="auto">
            <a:xfrm>
              <a:off x="1486" y="3832"/>
              <a:ext cx="138" cy="1"/>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69" name="Rectangle 813">
              <a:extLst>
                <a:ext uri="{FF2B5EF4-FFF2-40B4-BE49-F238E27FC236}">
                  <a16:creationId xmlns:a16="http://schemas.microsoft.com/office/drawing/2014/main" id="{E0BE04F5-F542-9590-5CE2-B6CD66EA5EAF}"/>
                </a:ext>
              </a:extLst>
            </p:cNvPr>
            <p:cNvSpPr>
              <a:spLocks noChangeArrowheads="1"/>
            </p:cNvSpPr>
            <p:nvPr/>
          </p:nvSpPr>
          <p:spPr bwMode="auto">
            <a:xfrm>
              <a:off x="1486" y="3812"/>
              <a:ext cx="138" cy="20"/>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670" name="Rectangle 814">
              <a:extLst>
                <a:ext uri="{FF2B5EF4-FFF2-40B4-BE49-F238E27FC236}">
                  <a16:creationId xmlns:a16="http://schemas.microsoft.com/office/drawing/2014/main" id="{6B81209A-D6C3-EDA6-C025-2CA874C2FB64}"/>
                </a:ext>
              </a:extLst>
            </p:cNvPr>
            <p:cNvSpPr>
              <a:spLocks noChangeArrowheads="1"/>
            </p:cNvSpPr>
            <p:nvPr/>
          </p:nvSpPr>
          <p:spPr bwMode="auto">
            <a:xfrm>
              <a:off x="1456" y="3882"/>
              <a:ext cx="198" cy="31"/>
            </a:xfrm>
            <a:prstGeom prst="rect">
              <a:avLst/>
            </a:prstGeom>
            <a:solidFill>
              <a:srgbClr val="EF9C9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71" name="Rectangle 815">
              <a:extLst>
                <a:ext uri="{FF2B5EF4-FFF2-40B4-BE49-F238E27FC236}">
                  <a16:creationId xmlns:a16="http://schemas.microsoft.com/office/drawing/2014/main" id="{79035BE7-166A-73CF-1858-0EEBD5DD19DA}"/>
                </a:ext>
              </a:extLst>
            </p:cNvPr>
            <p:cNvSpPr>
              <a:spLocks noChangeArrowheads="1"/>
            </p:cNvSpPr>
            <p:nvPr/>
          </p:nvSpPr>
          <p:spPr bwMode="auto">
            <a:xfrm>
              <a:off x="1456" y="3882"/>
              <a:ext cx="198" cy="31"/>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672" name="Rectangle 816">
              <a:extLst>
                <a:ext uri="{FF2B5EF4-FFF2-40B4-BE49-F238E27FC236}">
                  <a16:creationId xmlns:a16="http://schemas.microsoft.com/office/drawing/2014/main" id="{EBF874BA-4E52-5A28-A6D7-1ECD2CBB9E4F}"/>
                </a:ext>
              </a:extLst>
            </p:cNvPr>
            <p:cNvSpPr>
              <a:spLocks noChangeArrowheads="1"/>
            </p:cNvSpPr>
            <p:nvPr/>
          </p:nvSpPr>
          <p:spPr bwMode="auto">
            <a:xfrm>
              <a:off x="1404" y="2832"/>
              <a:ext cx="295" cy="1051"/>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673" name="Freeform 817">
              <a:extLst>
                <a:ext uri="{FF2B5EF4-FFF2-40B4-BE49-F238E27FC236}">
                  <a16:creationId xmlns:a16="http://schemas.microsoft.com/office/drawing/2014/main" id="{954B8F10-3A14-C0E0-4AE7-6ACCEC959C91}"/>
                </a:ext>
              </a:extLst>
            </p:cNvPr>
            <p:cNvSpPr>
              <a:spLocks/>
            </p:cNvSpPr>
            <p:nvPr/>
          </p:nvSpPr>
          <p:spPr bwMode="auto">
            <a:xfrm>
              <a:off x="1522" y="3352"/>
              <a:ext cx="68" cy="457"/>
            </a:xfrm>
            <a:custGeom>
              <a:avLst/>
              <a:gdLst>
                <a:gd name="T0" fmla="*/ 36 w 68"/>
                <a:gd name="T1" fmla="*/ 0 h 457"/>
                <a:gd name="T2" fmla="*/ 0 w 68"/>
                <a:gd name="T3" fmla="*/ 405 h 457"/>
                <a:gd name="T4" fmla="*/ 33 w 68"/>
                <a:gd name="T5" fmla="*/ 457 h 457"/>
                <a:gd name="T6" fmla="*/ 68 w 68"/>
                <a:gd name="T7" fmla="*/ 405 h 457"/>
                <a:gd name="T8" fmla="*/ 36 w 68"/>
                <a:gd name="T9" fmla="*/ 0 h 457"/>
              </a:gdLst>
              <a:ahLst/>
              <a:cxnLst>
                <a:cxn ang="0">
                  <a:pos x="T0" y="T1"/>
                </a:cxn>
                <a:cxn ang="0">
                  <a:pos x="T2" y="T3"/>
                </a:cxn>
                <a:cxn ang="0">
                  <a:pos x="T4" y="T5"/>
                </a:cxn>
                <a:cxn ang="0">
                  <a:pos x="T6" y="T7"/>
                </a:cxn>
                <a:cxn ang="0">
                  <a:pos x="T8" y="T9"/>
                </a:cxn>
              </a:cxnLst>
              <a:rect l="0" t="0" r="r" b="b"/>
              <a:pathLst>
                <a:path w="68" h="457">
                  <a:moveTo>
                    <a:pt x="36" y="0"/>
                  </a:moveTo>
                  <a:lnTo>
                    <a:pt x="0" y="405"/>
                  </a:lnTo>
                  <a:lnTo>
                    <a:pt x="33" y="457"/>
                  </a:lnTo>
                  <a:lnTo>
                    <a:pt x="68" y="405"/>
                  </a:lnTo>
                  <a:lnTo>
                    <a:pt x="36" y="0"/>
                  </a:lnTo>
                  <a:close/>
                </a:path>
              </a:pathLst>
            </a:custGeom>
            <a:solidFill>
              <a:srgbClr val="F4F18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74" name="Freeform 818">
              <a:extLst>
                <a:ext uri="{FF2B5EF4-FFF2-40B4-BE49-F238E27FC236}">
                  <a16:creationId xmlns:a16="http://schemas.microsoft.com/office/drawing/2014/main" id="{B5B16B81-0A5B-CCEC-1E8C-38A85FAE469C}"/>
                </a:ext>
              </a:extLst>
            </p:cNvPr>
            <p:cNvSpPr>
              <a:spLocks/>
            </p:cNvSpPr>
            <p:nvPr/>
          </p:nvSpPr>
          <p:spPr bwMode="auto">
            <a:xfrm>
              <a:off x="1522" y="3756"/>
              <a:ext cx="68" cy="5"/>
            </a:xfrm>
            <a:custGeom>
              <a:avLst/>
              <a:gdLst>
                <a:gd name="T0" fmla="*/ 68 w 68"/>
                <a:gd name="T1" fmla="*/ 0 h 5"/>
                <a:gd name="T2" fmla="*/ 0 w 68"/>
                <a:gd name="T3" fmla="*/ 0 h 5"/>
                <a:gd name="T4" fmla="*/ 0 w 68"/>
                <a:gd name="T5" fmla="*/ 1 h 5"/>
                <a:gd name="T6" fmla="*/ 1 w 68"/>
                <a:gd name="T7" fmla="*/ 5 h 5"/>
                <a:gd name="T8" fmla="*/ 66 w 68"/>
                <a:gd name="T9" fmla="*/ 5 h 5"/>
                <a:gd name="T10" fmla="*/ 68 w 68"/>
                <a:gd name="T11" fmla="*/ 1 h 5"/>
                <a:gd name="T12" fmla="*/ 68 w 68"/>
                <a:gd name="T13" fmla="*/ 0 h 5"/>
              </a:gdLst>
              <a:ahLst/>
              <a:cxnLst>
                <a:cxn ang="0">
                  <a:pos x="T0" y="T1"/>
                </a:cxn>
                <a:cxn ang="0">
                  <a:pos x="T2" y="T3"/>
                </a:cxn>
                <a:cxn ang="0">
                  <a:pos x="T4" y="T5"/>
                </a:cxn>
                <a:cxn ang="0">
                  <a:pos x="T6" y="T7"/>
                </a:cxn>
                <a:cxn ang="0">
                  <a:pos x="T8" y="T9"/>
                </a:cxn>
                <a:cxn ang="0">
                  <a:pos x="T10" y="T11"/>
                </a:cxn>
                <a:cxn ang="0">
                  <a:pos x="T12" y="T13"/>
                </a:cxn>
              </a:cxnLst>
              <a:rect l="0" t="0" r="r" b="b"/>
              <a:pathLst>
                <a:path w="68" h="5">
                  <a:moveTo>
                    <a:pt x="68" y="0"/>
                  </a:moveTo>
                  <a:lnTo>
                    <a:pt x="0" y="0"/>
                  </a:lnTo>
                  <a:lnTo>
                    <a:pt x="0" y="1"/>
                  </a:lnTo>
                  <a:lnTo>
                    <a:pt x="1" y="5"/>
                  </a:lnTo>
                  <a:lnTo>
                    <a:pt x="66" y="5"/>
                  </a:lnTo>
                  <a:lnTo>
                    <a:pt x="68" y="1"/>
                  </a:lnTo>
                  <a:lnTo>
                    <a:pt x="68" y="0"/>
                  </a:lnTo>
                  <a:close/>
                </a:path>
              </a:pathLst>
            </a:custGeom>
            <a:solidFill>
              <a:srgbClr val="817F5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75" name="Freeform 819">
              <a:extLst>
                <a:ext uri="{FF2B5EF4-FFF2-40B4-BE49-F238E27FC236}">
                  <a16:creationId xmlns:a16="http://schemas.microsoft.com/office/drawing/2014/main" id="{6DAE420D-1269-8F89-1AA1-D7C7E260E950}"/>
                </a:ext>
              </a:extLst>
            </p:cNvPr>
            <p:cNvSpPr>
              <a:spLocks/>
            </p:cNvSpPr>
            <p:nvPr/>
          </p:nvSpPr>
          <p:spPr bwMode="auto">
            <a:xfrm>
              <a:off x="1522" y="3352"/>
              <a:ext cx="36" cy="405"/>
            </a:xfrm>
            <a:custGeom>
              <a:avLst/>
              <a:gdLst>
                <a:gd name="T0" fmla="*/ 1 w 36"/>
                <a:gd name="T1" fmla="*/ 404 h 405"/>
                <a:gd name="T2" fmla="*/ 1 w 36"/>
                <a:gd name="T3" fmla="*/ 405 h 405"/>
                <a:gd name="T4" fmla="*/ 36 w 36"/>
                <a:gd name="T5" fmla="*/ 15 h 405"/>
                <a:gd name="T6" fmla="*/ 36 w 36"/>
                <a:gd name="T7" fmla="*/ 0 h 405"/>
                <a:gd name="T8" fmla="*/ 0 w 36"/>
                <a:gd name="T9" fmla="*/ 405 h 405"/>
                <a:gd name="T10" fmla="*/ 1 w 36"/>
                <a:gd name="T11" fmla="*/ 404 h 405"/>
              </a:gdLst>
              <a:ahLst/>
              <a:cxnLst>
                <a:cxn ang="0">
                  <a:pos x="T0" y="T1"/>
                </a:cxn>
                <a:cxn ang="0">
                  <a:pos x="T2" y="T3"/>
                </a:cxn>
                <a:cxn ang="0">
                  <a:pos x="T4" y="T5"/>
                </a:cxn>
                <a:cxn ang="0">
                  <a:pos x="T6" y="T7"/>
                </a:cxn>
                <a:cxn ang="0">
                  <a:pos x="T8" y="T9"/>
                </a:cxn>
                <a:cxn ang="0">
                  <a:pos x="T10" y="T11"/>
                </a:cxn>
              </a:cxnLst>
              <a:rect l="0" t="0" r="r" b="b"/>
              <a:pathLst>
                <a:path w="36" h="405">
                  <a:moveTo>
                    <a:pt x="1" y="404"/>
                  </a:moveTo>
                  <a:lnTo>
                    <a:pt x="1" y="405"/>
                  </a:lnTo>
                  <a:lnTo>
                    <a:pt x="36" y="15"/>
                  </a:lnTo>
                  <a:lnTo>
                    <a:pt x="36" y="0"/>
                  </a:lnTo>
                  <a:lnTo>
                    <a:pt x="0" y="405"/>
                  </a:lnTo>
                  <a:lnTo>
                    <a:pt x="1" y="404"/>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76" name="Freeform 820">
              <a:extLst>
                <a:ext uri="{FF2B5EF4-FFF2-40B4-BE49-F238E27FC236}">
                  <a16:creationId xmlns:a16="http://schemas.microsoft.com/office/drawing/2014/main" id="{970C0D91-8B64-B39E-D3D3-55A254423305}"/>
                </a:ext>
              </a:extLst>
            </p:cNvPr>
            <p:cNvSpPr>
              <a:spLocks/>
            </p:cNvSpPr>
            <p:nvPr/>
          </p:nvSpPr>
          <p:spPr bwMode="auto">
            <a:xfrm>
              <a:off x="1522" y="3756"/>
              <a:ext cx="36" cy="51"/>
            </a:xfrm>
            <a:custGeom>
              <a:avLst/>
              <a:gdLst>
                <a:gd name="T0" fmla="*/ 33 w 36"/>
                <a:gd name="T1" fmla="*/ 51 h 51"/>
                <a:gd name="T2" fmla="*/ 36 w 36"/>
                <a:gd name="T3" fmla="*/ 51 h 51"/>
                <a:gd name="T4" fmla="*/ 36 w 36"/>
                <a:gd name="T5" fmla="*/ 49 h 51"/>
                <a:gd name="T6" fmla="*/ 1 w 36"/>
                <a:gd name="T7" fmla="*/ 0 h 51"/>
                <a:gd name="T8" fmla="*/ 0 w 36"/>
                <a:gd name="T9" fmla="*/ 1 h 51"/>
                <a:gd name="T10" fmla="*/ 33 w 36"/>
                <a:gd name="T11" fmla="*/ 51 h 51"/>
              </a:gdLst>
              <a:ahLst/>
              <a:cxnLst>
                <a:cxn ang="0">
                  <a:pos x="T0" y="T1"/>
                </a:cxn>
                <a:cxn ang="0">
                  <a:pos x="T2" y="T3"/>
                </a:cxn>
                <a:cxn ang="0">
                  <a:pos x="T4" y="T5"/>
                </a:cxn>
                <a:cxn ang="0">
                  <a:pos x="T6" y="T7"/>
                </a:cxn>
                <a:cxn ang="0">
                  <a:pos x="T8" y="T9"/>
                </a:cxn>
                <a:cxn ang="0">
                  <a:pos x="T10" y="T11"/>
                </a:cxn>
              </a:cxnLst>
              <a:rect l="0" t="0" r="r" b="b"/>
              <a:pathLst>
                <a:path w="36" h="51">
                  <a:moveTo>
                    <a:pt x="33" y="51"/>
                  </a:moveTo>
                  <a:lnTo>
                    <a:pt x="36" y="51"/>
                  </a:lnTo>
                  <a:lnTo>
                    <a:pt x="36" y="49"/>
                  </a:lnTo>
                  <a:lnTo>
                    <a:pt x="1" y="0"/>
                  </a:lnTo>
                  <a:lnTo>
                    <a:pt x="0" y="1"/>
                  </a:lnTo>
                  <a:lnTo>
                    <a:pt x="33" y="51"/>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77" name="Freeform 821">
              <a:extLst>
                <a:ext uri="{FF2B5EF4-FFF2-40B4-BE49-F238E27FC236}">
                  <a16:creationId xmlns:a16="http://schemas.microsoft.com/office/drawing/2014/main" id="{33E75125-81D3-AF2C-68F6-53854915AF97}"/>
                </a:ext>
              </a:extLst>
            </p:cNvPr>
            <p:cNvSpPr>
              <a:spLocks/>
            </p:cNvSpPr>
            <p:nvPr/>
          </p:nvSpPr>
          <p:spPr bwMode="auto">
            <a:xfrm>
              <a:off x="1553" y="3756"/>
              <a:ext cx="37" cy="53"/>
            </a:xfrm>
            <a:custGeom>
              <a:avLst/>
              <a:gdLst>
                <a:gd name="T0" fmla="*/ 33 w 37"/>
                <a:gd name="T1" fmla="*/ 1 h 53"/>
                <a:gd name="T2" fmla="*/ 35 w 37"/>
                <a:gd name="T3" fmla="*/ 0 h 53"/>
                <a:gd name="T4" fmla="*/ 0 w 37"/>
                <a:gd name="T5" fmla="*/ 49 h 53"/>
                <a:gd name="T6" fmla="*/ 2 w 37"/>
                <a:gd name="T7" fmla="*/ 53 h 53"/>
                <a:gd name="T8" fmla="*/ 37 w 37"/>
                <a:gd name="T9" fmla="*/ 1 h 53"/>
                <a:gd name="T10" fmla="*/ 33 w 37"/>
                <a:gd name="T11" fmla="*/ 1 h 53"/>
              </a:gdLst>
              <a:ahLst/>
              <a:cxnLst>
                <a:cxn ang="0">
                  <a:pos x="T0" y="T1"/>
                </a:cxn>
                <a:cxn ang="0">
                  <a:pos x="T2" y="T3"/>
                </a:cxn>
                <a:cxn ang="0">
                  <a:pos x="T4" y="T5"/>
                </a:cxn>
                <a:cxn ang="0">
                  <a:pos x="T6" y="T7"/>
                </a:cxn>
                <a:cxn ang="0">
                  <a:pos x="T8" y="T9"/>
                </a:cxn>
                <a:cxn ang="0">
                  <a:pos x="T10" y="T11"/>
                </a:cxn>
              </a:cxnLst>
              <a:rect l="0" t="0" r="r" b="b"/>
              <a:pathLst>
                <a:path w="37" h="53">
                  <a:moveTo>
                    <a:pt x="33" y="1"/>
                  </a:moveTo>
                  <a:lnTo>
                    <a:pt x="35" y="0"/>
                  </a:lnTo>
                  <a:lnTo>
                    <a:pt x="0" y="49"/>
                  </a:lnTo>
                  <a:lnTo>
                    <a:pt x="2" y="53"/>
                  </a:lnTo>
                  <a:lnTo>
                    <a:pt x="37" y="1"/>
                  </a:lnTo>
                  <a:lnTo>
                    <a:pt x="33" y="1"/>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78" name="Freeform 822">
              <a:extLst>
                <a:ext uri="{FF2B5EF4-FFF2-40B4-BE49-F238E27FC236}">
                  <a16:creationId xmlns:a16="http://schemas.microsoft.com/office/drawing/2014/main" id="{BF92D1AD-27B7-2D3F-E119-99C362799E66}"/>
                </a:ext>
              </a:extLst>
            </p:cNvPr>
            <p:cNvSpPr>
              <a:spLocks/>
            </p:cNvSpPr>
            <p:nvPr/>
          </p:nvSpPr>
          <p:spPr bwMode="auto">
            <a:xfrm>
              <a:off x="1555" y="3352"/>
              <a:ext cx="35" cy="405"/>
            </a:xfrm>
            <a:custGeom>
              <a:avLst/>
              <a:gdLst>
                <a:gd name="T0" fmla="*/ 3 w 35"/>
                <a:gd name="T1" fmla="*/ 0 h 405"/>
                <a:gd name="T2" fmla="*/ 3 w 35"/>
                <a:gd name="T3" fmla="*/ 0 h 405"/>
                <a:gd name="T4" fmla="*/ 0 w 35"/>
                <a:gd name="T5" fmla="*/ 15 h 405"/>
                <a:gd name="T6" fmla="*/ 31 w 35"/>
                <a:gd name="T7" fmla="*/ 405 h 405"/>
                <a:gd name="T8" fmla="*/ 35 w 35"/>
                <a:gd name="T9" fmla="*/ 405 h 405"/>
                <a:gd name="T10" fmla="*/ 3 w 35"/>
                <a:gd name="T11" fmla="*/ 0 h 405"/>
              </a:gdLst>
              <a:ahLst/>
              <a:cxnLst>
                <a:cxn ang="0">
                  <a:pos x="T0" y="T1"/>
                </a:cxn>
                <a:cxn ang="0">
                  <a:pos x="T2" y="T3"/>
                </a:cxn>
                <a:cxn ang="0">
                  <a:pos x="T4" y="T5"/>
                </a:cxn>
                <a:cxn ang="0">
                  <a:pos x="T6" y="T7"/>
                </a:cxn>
                <a:cxn ang="0">
                  <a:pos x="T8" y="T9"/>
                </a:cxn>
                <a:cxn ang="0">
                  <a:pos x="T10" y="T11"/>
                </a:cxn>
              </a:cxnLst>
              <a:rect l="0" t="0" r="r" b="b"/>
              <a:pathLst>
                <a:path w="35" h="405">
                  <a:moveTo>
                    <a:pt x="3" y="0"/>
                  </a:moveTo>
                  <a:lnTo>
                    <a:pt x="3" y="0"/>
                  </a:lnTo>
                  <a:lnTo>
                    <a:pt x="0" y="15"/>
                  </a:lnTo>
                  <a:lnTo>
                    <a:pt x="31" y="405"/>
                  </a:lnTo>
                  <a:lnTo>
                    <a:pt x="35" y="405"/>
                  </a:lnTo>
                  <a:lnTo>
                    <a:pt x="3" y="0"/>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79" name="Line 823">
              <a:extLst>
                <a:ext uri="{FF2B5EF4-FFF2-40B4-BE49-F238E27FC236}">
                  <a16:creationId xmlns:a16="http://schemas.microsoft.com/office/drawing/2014/main" id="{8A73E1A8-EF19-5A69-D13C-7FD5F2D368C2}"/>
                </a:ext>
              </a:extLst>
            </p:cNvPr>
            <p:cNvSpPr>
              <a:spLocks noChangeShapeType="1"/>
            </p:cNvSpPr>
            <p:nvPr/>
          </p:nvSpPr>
          <p:spPr bwMode="auto">
            <a:xfrm>
              <a:off x="1555" y="3358"/>
              <a:ext cx="1" cy="451"/>
            </a:xfrm>
            <a:prstGeom prst="line">
              <a:avLst/>
            </a:prstGeom>
            <a:noFill/>
            <a:ln w="1588" cap="rnd">
              <a:solidFill>
                <a:srgbClr val="25221E"/>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680" name="Freeform 824">
              <a:extLst>
                <a:ext uri="{FF2B5EF4-FFF2-40B4-BE49-F238E27FC236}">
                  <a16:creationId xmlns:a16="http://schemas.microsoft.com/office/drawing/2014/main" id="{E34E76C0-8F81-3E2A-1D89-38A51F2808E4}"/>
                </a:ext>
              </a:extLst>
            </p:cNvPr>
            <p:cNvSpPr>
              <a:spLocks noEditPoints="1"/>
            </p:cNvSpPr>
            <p:nvPr/>
          </p:nvSpPr>
          <p:spPr bwMode="auto">
            <a:xfrm>
              <a:off x="1555" y="3352"/>
              <a:ext cx="2" cy="5"/>
            </a:xfrm>
            <a:custGeom>
              <a:avLst/>
              <a:gdLst>
                <a:gd name="T0" fmla="*/ 0 w 2"/>
                <a:gd name="T1" fmla="*/ 5 h 5"/>
                <a:gd name="T2" fmla="*/ 2 w 2"/>
                <a:gd name="T3" fmla="*/ 5 h 5"/>
                <a:gd name="T4" fmla="*/ 2 w 2"/>
                <a:gd name="T5" fmla="*/ 0 h 5"/>
                <a:gd name="T6" fmla="*/ 0 w 2"/>
                <a:gd name="T7" fmla="*/ 5 h 5"/>
                <a:gd name="T8" fmla="*/ 0 w 2"/>
                <a:gd name="T9" fmla="*/ 5 h 5"/>
                <a:gd name="T10" fmla="*/ 2 w 2"/>
                <a:gd name="T11" fmla="*/ 5 h 5"/>
                <a:gd name="T12" fmla="*/ 0 w 2"/>
                <a:gd name="T13" fmla="*/ 5 h 5"/>
              </a:gdLst>
              <a:ahLst/>
              <a:cxnLst>
                <a:cxn ang="0">
                  <a:pos x="T0" y="T1"/>
                </a:cxn>
                <a:cxn ang="0">
                  <a:pos x="T2" y="T3"/>
                </a:cxn>
                <a:cxn ang="0">
                  <a:pos x="T4" y="T5"/>
                </a:cxn>
                <a:cxn ang="0">
                  <a:pos x="T6" y="T7"/>
                </a:cxn>
                <a:cxn ang="0">
                  <a:pos x="T8" y="T9"/>
                </a:cxn>
                <a:cxn ang="0">
                  <a:pos x="T10" y="T11"/>
                </a:cxn>
                <a:cxn ang="0">
                  <a:pos x="T12" y="T13"/>
                </a:cxn>
              </a:cxnLst>
              <a:rect l="0" t="0" r="r" b="b"/>
              <a:pathLst>
                <a:path w="2" h="5">
                  <a:moveTo>
                    <a:pt x="0" y="5"/>
                  </a:moveTo>
                  <a:lnTo>
                    <a:pt x="2" y="5"/>
                  </a:lnTo>
                  <a:lnTo>
                    <a:pt x="2" y="0"/>
                  </a:lnTo>
                  <a:lnTo>
                    <a:pt x="0" y="5"/>
                  </a:lnTo>
                  <a:close/>
                  <a:moveTo>
                    <a:pt x="0" y="5"/>
                  </a:moveTo>
                  <a:lnTo>
                    <a:pt x="2" y="5"/>
                  </a:lnTo>
                  <a:lnTo>
                    <a:pt x="0"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81" name="Freeform 825">
              <a:extLst>
                <a:ext uri="{FF2B5EF4-FFF2-40B4-BE49-F238E27FC236}">
                  <a16:creationId xmlns:a16="http://schemas.microsoft.com/office/drawing/2014/main" id="{14FC3840-C086-5D94-B357-A6ADDF95898C}"/>
                </a:ext>
              </a:extLst>
            </p:cNvPr>
            <p:cNvSpPr>
              <a:spLocks/>
            </p:cNvSpPr>
            <p:nvPr/>
          </p:nvSpPr>
          <p:spPr bwMode="auto">
            <a:xfrm>
              <a:off x="1555" y="3352"/>
              <a:ext cx="2" cy="5"/>
            </a:xfrm>
            <a:custGeom>
              <a:avLst/>
              <a:gdLst>
                <a:gd name="T0" fmla="*/ 0 w 2"/>
                <a:gd name="T1" fmla="*/ 5 h 5"/>
                <a:gd name="T2" fmla="*/ 2 w 2"/>
                <a:gd name="T3" fmla="*/ 5 h 5"/>
                <a:gd name="T4" fmla="*/ 2 w 2"/>
                <a:gd name="T5" fmla="*/ 0 h 5"/>
                <a:gd name="T6" fmla="*/ 0 w 2"/>
                <a:gd name="T7" fmla="*/ 5 h 5"/>
              </a:gdLst>
              <a:ahLst/>
              <a:cxnLst>
                <a:cxn ang="0">
                  <a:pos x="T0" y="T1"/>
                </a:cxn>
                <a:cxn ang="0">
                  <a:pos x="T2" y="T3"/>
                </a:cxn>
                <a:cxn ang="0">
                  <a:pos x="T4" y="T5"/>
                </a:cxn>
                <a:cxn ang="0">
                  <a:pos x="T6" y="T7"/>
                </a:cxn>
              </a:cxnLst>
              <a:rect l="0" t="0" r="r" b="b"/>
              <a:pathLst>
                <a:path w="2" h="5">
                  <a:moveTo>
                    <a:pt x="0" y="5"/>
                  </a:moveTo>
                  <a:lnTo>
                    <a:pt x="2" y="5"/>
                  </a:lnTo>
                  <a:lnTo>
                    <a:pt x="2" y="0"/>
                  </a:lnTo>
                  <a:lnTo>
                    <a:pt x="0"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682" name="Freeform 826">
              <a:extLst>
                <a:ext uri="{FF2B5EF4-FFF2-40B4-BE49-F238E27FC236}">
                  <a16:creationId xmlns:a16="http://schemas.microsoft.com/office/drawing/2014/main" id="{DB3F3EB3-0A59-46D2-E987-F73EC633ECE5}"/>
                </a:ext>
              </a:extLst>
            </p:cNvPr>
            <p:cNvSpPr>
              <a:spLocks/>
            </p:cNvSpPr>
            <p:nvPr/>
          </p:nvSpPr>
          <p:spPr bwMode="auto">
            <a:xfrm>
              <a:off x="1522" y="3352"/>
              <a:ext cx="68" cy="457"/>
            </a:xfrm>
            <a:custGeom>
              <a:avLst/>
              <a:gdLst>
                <a:gd name="T0" fmla="*/ 36 w 68"/>
                <a:gd name="T1" fmla="*/ 0 h 457"/>
                <a:gd name="T2" fmla="*/ 0 w 68"/>
                <a:gd name="T3" fmla="*/ 405 h 457"/>
                <a:gd name="T4" fmla="*/ 33 w 68"/>
                <a:gd name="T5" fmla="*/ 457 h 457"/>
                <a:gd name="T6" fmla="*/ 68 w 68"/>
                <a:gd name="T7" fmla="*/ 405 h 457"/>
                <a:gd name="T8" fmla="*/ 36 w 68"/>
                <a:gd name="T9" fmla="*/ 0 h 457"/>
              </a:gdLst>
              <a:ahLst/>
              <a:cxnLst>
                <a:cxn ang="0">
                  <a:pos x="T0" y="T1"/>
                </a:cxn>
                <a:cxn ang="0">
                  <a:pos x="T2" y="T3"/>
                </a:cxn>
                <a:cxn ang="0">
                  <a:pos x="T4" y="T5"/>
                </a:cxn>
                <a:cxn ang="0">
                  <a:pos x="T6" y="T7"/>
                </a:cxn>
                <a:cxn ang="0">
                  <a:pos x="T8" y="T9"/>
                </a:cxn>
              </a:cxnLst>
              <a:rect l="0" t="0" r="r" b="b"/>
              <a:pathLst>
                <a:path w="68" h="457">
                  <a:moveTo>
                    <a:pt x="36" y="0"/>
                  </a:moveTo>
                  <a:lnTo>
                    <a:pt x="0" y="405"/>
                  </a:lnTo>
                  <a:lnTo>
                    <a:pt x="33" y="457"/>
                  </a:lnTo>
                  <a:lnTo>
                    <a:pt x="68" y="405"/>
                  </a:lnTo>
                  <a:lnTo>
                    <a:pt x="36"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683" name="Line 827">
              <a:extLst>
                <a:ext uri="{FF2B5EF4-FFF2-40B4-BE49-F238E27FC236}">
                  <a16:creationId xmlns:a16="http://schemas.microsoft.com/office/drawing/2014/main" id="{90592CE2-0F4E-91A4-4AD9-EBB7F9A63ED3}"/>
                </a:ext>
              </a:extLst>
            </p:cNvPr>
            <p:cNvSpPr>
              <a:spLocks noChangeShapeType="1"/>
            </p:cNvSpPr>
            <p:nvPr/>
          </p:nvSpPr>
          <p:spPr bwMode="auto">
            <a:xfrm>
              <a:off x="1555" y="2838"/>
              <a:ext cx="1" cy="1095"/>
            </a:xfrm>
            <a:prstGeom prst="line">
              <a:avLst/>
            </a:prstGeom>
            <a:noFill/>
            <a:ln w="3175" cap="rnd">
              <a:solidFill>
                <a:srgbClr val="1F1A17"/>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684" name="Rectangle 828">
              <a:extLst>
                <a:ext uri="{FF2B5EF4-FFF2-40B4-BE49-F238E27FC236}">
                  <a16:creationId xmlns:a16="http://schemas.microsoft.com/office/drawing/2014/main" id="{01E91AEC-E3BB-76B0-A163-D78A79E92011}"/>
                </a:ext>
              </a:extLst>
            </p:cNvPr>
            <p:cNvSpPr>
              <a:spLocks noChangeArrowheads="1"/>
            </p:cNvSpPr>
            <p:nvPr/>
          </p:nvSpPr>
          <p:spPr bwMode="auto">
            <a:xfrm>
              <a:off x="1504" y="3471"/>
              <a:ext cx="18" cy="76"/>
            </a:xfrm>
            <a:prstGeom prst="rect">
              <a:avLst/>
            </a:prstGeom>
            <a:solidFill>
              <a:srgbClr val="0079C5"/>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grpSp>
      <p:sp>
        <p:nvSpPr>
          <p:cNvPr id="28" name="Rectangle 830">
            <a:extLst>
              <a:ext uri="{FF2B5EF4-FFF2-40B4-BE49-F238E27FC236}">
                <a16:creationId xmlns:a16="http://schemas.microsoft.com/office/drawing/2014/main" id="{A97A0AE2-3C27-6D27-8E3D-AC1D00786E35}"/>
              </a:ext>
            </a:extLst>
          </p:cNvPr>
          <p:cNvSpPr>
            <a:spLocks noChangeArrowheads="1"/>
          </p:cNvSpPr>
          <p:nvPr/>
        </p:nvSpPr>
        <p:spPr bwMode="auto">
          <a:xfrm>
            <a:off x="2387600" y="5510213"/>
            <a:ext cx="28575" cy="120650"/>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29" name="Rectangle 831">
            <a:extLst>
              <a:ext uri="{FF2B5EF4-FFF2-40B4-BE49-F238E27FC236}">
                <a16:creationId xmlns:a16="http://schemas.microsoft.com/office/drawing/2014/main" id="{6A2C0296-4D19-E7C7-62C0-F9927E828A8D}"/>
              </a:ext>
            </a:extLst>
          </p:cNvPr>
          <p:cNvSpPr>
            <a:spLocks noChangeArrowheads="1"/>
          </p:cNvSpPr>
          <p:nvPr/>
        </p:nvSpPr>
        <p:spPr bwMode="auto">
          <a:xfrm>
            <a:off x="2524125" y="5513388"/>
            <a:ext cx="28575" cy="120650"/>
          </a:xfrm>
          <a:prstGeom prst="rect">
            <a:avLst/>
          </a:prstGeom>
          <a:solidFill>
            <a:srgbClr val="0079C5"/>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30" name="Rectangle 832">
            <a:extLst>
              <a:ext uri="{FF2B5EF4-FFF2-40B4-BE49-F238E27FC236}">
                <a16:creationId xmlns:a16="http://schemas.microsoft.com/office/drawing/2014/main" id="{223A6823-8816-9850-0DAF-7634AEC380DF}"/>
              </a:ext>
            </a:extLst>
          </p:cNvPr>
          <p:cNvSpPr>
            <a:spLocks noChangeArrowheads="1"/>
          </p:cNvSpPr>
          <p:nvPr/>
        </p:nvSpPr>
        <p:spPr bwMode="auto">
          <a:xfrm>
            <a:off x="2524125" y="5513388"/>
            <a:ext cx="28575" cy="120650"/>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31" name="Line 833">
            <a:extLst>
              <a:ext uri="{FF2B5EF4-FFF2-40B4-BE49-F238E27FC236}">
                <a16:creationId xmlns:a16="http://schemas.microsoft.com/office/drawing/2014/main" id="{FF4482D9-204B-1122-3CE0-A63F1445F99F}"/>
              </a:ext>
            </a:extLst>
          </p:cNvPr>
          <p:cNvSpPr>
            <a:spLocks noChangeShapeType="1"/>
          </p:cNvSpPr>
          <p:nvPr/>
        </p:nvSpPr>
        <p:spPr bwMode="auto">
          <a:xfrm>
            <a:off x="2176463" y="5630863"/>
            <a:ext cx="762000" cy="1588"/>
          </a:xfrm>
          <a:prstGeom prst="line">
            <a:avLst/>
          </a:prstGeom>
          <a:noFill/>
          <a:ln w="3175" cap="rnd">
            <a:solidFill>
              <a:srgbClr val="1F1A17"/>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32" name="Freeform 834">
            <a:extLst>
              <a:ext uri="{FF2B5EF4-FFF2-40B4-BE49-F238E27FC236}">
                <a16:creationId xmlns:a16="http://schemas.microsoft.com/office/drawing/2014/main" id="{25672D31-DAD1-BFB5-B968-E827EFAA8DCF}"/>
              </a:ext>
            </a:extLst>
          </p:cNvPr>
          <p:cNvSpPr>
            <a:spLocks/>
          </p:cNvSpPr>
          <p:nvPr/>
        </p:nvSpPr>
        <p:spPr bwMode="auto">
          <a:xfrm>
            <a:off x="2105025" y="5689600"/>
            <a:ext cx="247650" cy="249238"/>
          </a:xfrm>
          <a:custGeom>
            <a:avLst/>
            <a:gdLst>
              <a:gd name="T0" fmla="*/ 20 w 156"/>
              <a:gd name="T1" fmla="*/ 0 h 157"/>
              <a:gd name="T2" fmla="*/ 156 w 156"/>
              <a:gd name="T3" fmla="*/ 135 h 157"/>
              <a:gd name="T4" fmla="*/ 136 w 156"/>
              <a:gd name="T5" fmla="*/ 157 h 157"/>
              <a:gd name="T6" fmla="*/ 0 w 156"/>
              <a:gd name="T7" fmla="*/ 21 h 157"/>
              <a:gd name="T8" fmla="*/ 20 w 156"/>
              <a:gd name="T9" fmla="*/ 0 h 157"/>
            </a:gdLst>
            <a:ahLst/>
            <a:cxnLst>
              <a:cxn ang="0">
                <a:pos x="T0" y="T1"/>
              </a:cxn>
              <a:cxn ang="0">
                <a:pos x="T2" y="T3"/>
              </a:cxn>
              <a:cxn ang="0">
                <a:pos x="T4" y="T5"/>
              </a:cxn>
              <a:cxn ang="0">
                <a:pos x="T6" y="T7"/>
              </a:cxn>
              <a:cxn ang="0">
                <a:pos x="T8" y="T9"/>
              </a:cxn>
            </a:cxnLst>
            <a:rect l="0" t="0" r="r" b="b"/>
            <a:pathLst>
              <a:path w="156" h="157">
                <a:moveTo>
                  <a:pt x="20" y="0"/>
                </a:moveTo>
                <a:lnTo>
                  <a:pt x="156" y="135"/>
                </a:lnTo>
                <a:lnTo>
                  <a:pt x="136" y="157"/>
                </a:lnTo>
                <a:lnTo>
                  <a:pt x="0" y="21"/>
                </a:lnTo>
                <a:lnTo>
                  <a:pt x="2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33" name="Freeform 835">
            <a:extLst>
              <a:ext uri="{FF2B5EF4-FFF2-40B4-BE49-F238E27FC236}">
                <a16:creationId xmlns:a16="http://schemas.microsoft.com/office/drawing/2014/main" id="{42194E78-5D73-163A-DC9E-5E3EB71253F2}"/>
              </a:ext>
            </a:extLst>
          </p:cNvPr>
          <p:cNvSpPr>
            <a:spLocks/>
          </p:cNvSpPr>
          <p:nvPr/>
        </p:nvSpPr>
        <p:spPr bwMode="auto">
          <a:xfrm>
            <a:off x="2105025" y="5689600"/>
            <a:ext cx="247650" cy="249238"/>
          </a:xfrm>
          <a:custGeom>
            <a:avLst/>
            <a:gdLst>
              <a:gd name="T0" fmla="*/ 20 w 156"/>
              <a:gd name="T1" fmla="*/ 0 h 157"/>
              <a:gd name="T2" fmla="*/ 156 w 156"/>
              <a:gd name="T3" fmla="*/ 135 h 157"/>
              <a:gd name="T4" fmla="*/ 136 w 156"/>
              <a:gd name="T5" fmla="*/ 157 h 157"/>
              <a:gd name="T6" fmla="*/ 0 w 156"/>
              <a:gd name="T7" fmla="*/ 21 h 157"/>
              <a:gd name="T8" fmla="*/ 20 w 156"/>
              <a:gd name="T9" fmla="*/ 0 h 157"/>
            </a:gdLst>
            <a:ahLst/>
            <a:cxnLst>
              <a:cxn ang="0">
                <a:pos x="T0" y="T1"/>
              </a:cxn>
              <a:cxn ang="0">
                <a:pos x="T2" y="T3"/>
              </a:cxn>
              <a:cxn ang="0">
                <a:pos x="T4" y="T5"/>
              </a:cxn>
              <a:cxn ang="0">
                <a:pos x="T6" y="T7"/>
              </a:cxn>
              <a:cxn ang="0">
                <a:pos x="T8" y="T9"/>
              </a:cxn>
            </a:cxnLst>
            <a:rect l="0" t="0" r="r" b="b"/>
            <a:pathLst>
              <a:path w="156" h="157">
                <a:moveTo>
                  <a:pt x="20" y="0"/>
                </a:moveTo>
                <a:lnTo>
                  <a:pt x="156" y="135"/>
                </a:lnTo>
                <a:lnTo>
                  <a:pt x="136" y="157"/>
                </a:lnTo>
                <a:lnTo>
                  <a:pt x="0" y="21"/>
                </a:lnTo>
                <a:lnTo>
                  <a:pt x="2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34" name="Freeform 836">
            <a:extLst>
              <a:ext uri="{FF2B5EF4-FFF2-40B4-BE49-F238E27FC236}">
                <a16:creationId xmlns:a16="http://schemas.microsoft.com/office/drawing/2014/main" id="{C838C421-2E35-B79C-08A7-FE6022C1C741}"/>
              </a:ext>
            </a:extLst>
          </p:cNvPr>
          <p:cNvSpPr>
            <a:spLocks/>
          </p:cNvSpPr>
          <p:nvPr/>
        </p:nvSpPr>
        <p:spPr bwMode="auto">
          <a:xfrm>
            <a:off x="2584450" y="5689600"/>
            <a:ext cx="246063" cy="246063"/>
          </a:xfrm>
          <a:custGeom>
            <a:avLst/>
            <a:gdLst>
              <a:gd name="T0" fmla="*/ 155 w 155"/>
              <a:gd name="T1" fmla="*/ 19 h 155"/>
              <a:gd name="T2" fmla="*/ 20 w 155"/>
              <a:gd name="T3" fmla="*/ 155 h 155"/>
              <a:gd name="T4" fmla="*/ 0 w 155"/>
              <a:gd name="T5" fmla="*/ 135 h 155"/>
              <a:gd name="T6" fmla="*/ 136 w 155"/>
              <a:gd name="T7" fmla="*/ 0 h 155"/>
              <a:gd name="T8" fmla="*/ 155 w 155"/>
              <a:gd name="T9" fmla="*/ 19 h 155"/>
            </a:gdLst>
            <a:ahLst/>
            <a:cxnLst>
              <a:cxn ang="0">
                <a:pos x="T0" y="T1"/>
              </a:cxn>
              <a:cxn ang="0">
                <a:pos x="T2" y="T3"/>
              </a:cxn>
              <a:cxn ang="0">
                <a:pos x="T4" y="T5"/>
              </a:cxn>
              <a:cxn ang="0">
                <a:pos x="T6" y="T7"/>
              </a:cxn>
              <a:cxn ang="0">
                <a:pos x="T8" y="T9"/>
              </a:cxn>
            </a:cxnLst>
            <a:rect l="0" t="0" r="r" b="b"/>
            <a:pathLst>
              <a:path w="155" h="155">
                <a:moveTo>
                  <a:pt x="155" y="19"/>
                </a:moveTo>
                <a:lnTo>
                  <a:pt x="20" y="155"/>
                </a:lnTo>
                <a:lnTo>
                  <a:pt x="0" y="135"/>
                </a:lnTo>
                <a:lnTo>
                  <a:pt x="136" y="0"/>
                </a:lnTo>
                <a:lnTo>
                  <a:pt x="155" y="1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35" name="Freeform 837">
            <a:extLst>
              <a:ext uri="{FF2B5EF4-FFF2-40B4-BE49-F238E27FC236}">
                <a16:creationId xmlns:a16="http://schemas.microsoft.com/office/drawing/2014/main" id="{DF2EB22E-29E4-381D-59B5-533CBDEB8210}"/>
              </a:ext>
            </a:extLst>
          </p:cNvPr>
          <p:cNvSpPr>
            <a:spLocks/>
          </p:cNvSpPr>
          <p:nvPr/>
        </p:nvSpPr>
        <p:spPr bwMode="auto">
          <a:xfrm>
            <a:off x="2584450" y="5689600"/>
            <a:ext cx="246063" cy="246063"/>
          </a:xfrm>
          <a:custGeom>
            <a:avLst/>
            <a:gdLst>
              <a:gd name="T0" fmla="*/ 155 w 155"/>
              <a:gd name="T1" fmla="*/ 19 h 155"/>
              <a:gd name="T2" fmla="*/ 20 w 155"/>
              <a:gd name="T3" fmla="*/ 155 h 155"/>
              <a:gd name="T4" fmla="*/ 0 w 155"/>
              <a:gd name="T5" fmla="*/ 135 h 155"/>
              <a:gd name="T6" fmla="*/ 136 w 155"/>
              <a:gd name="T7" fmla="*/ 0 h 155"/>
              <a:gd name="T8" fmla="*/ 155 w 155"/>
              <a:gd name="T9" fmla="*/ 19 h 155"/>
            </a:gdLst>
            <a:ahLst/>
            <a:cxnLst>
              <a:cxn ang="0">
                <a:pos x="T0" y="T1"/>
              </a:cxn>
              <a:cxn ang="0">
                <a:pos x="T2" y="T3"/>
              </a:cxn>
              <a:cxn ang="0">
                <a:pos x="T4" y="T5"/>
              </a:cxn>
              <a:cxn ang="0">
                <a:pos x="T6" y="T7"/>
              </a:cxn>
              <a:cxn ang="0">
                <a:pos x="T8" y="T9"/>
              </a:cxn>
            </a:cxnLst>
            <a:rect l="0" t="0" r="r" b="b"/>
            <a:pathLst>
              <a:path w="155" h="155">
                <a:moveTo>
                  <a:pt x="155" y="19"/>
                </a:moveTo>
                <a:lnTo>
                  <a:pt x="20" y="155"/>
                </a:lnTo>
                <a:lnTo>
                  <a:pt x="0" y="135"/>
                </a:lnTo>
                <a:lnTo>
                  <a:pt x="136" y="0"/>
                </a:lnTo>
                <a:lnTo>
                  <a:pt x="155" y="19"/>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36" name="Freeform 838">
            <a:extLst>
              <a:ext uri="{FF2B5EF4-FFF2-40B4-BE49-F238E27FC236}">
                <a16:creationId xmlns:a16="http://schemas.microsoft.com/office/drawing/2014/main" id="{BC0CCBEC-91E2-8C9F-24B9-D4816A822F18}"/>
              </a:ext>
            </a:extLst>
          </p:cNvPr>
          <p:cNvSpPr>
            <a:spLocks/>
          </p:cNvSpPr>
          <p:nvPr/>
        </p:nvSpPr>
        <p:spPr bwMode="auto">
          <a:xfrm>
            <a:off x="2120900" y="5707063"/>
            <a:ext cx="263525" cy="260350"/>
          </a:xfrm>
          <a:custGeom>
            <a:avLst/>
            <a:gdLst>
              <a:gd name="T0" fmla="*/ 163 w 166"/>
              <a:gd name="T1" fmla="*/ 161 h 164"/>
              <a:gd name="T2" fmla="*/ 166 w 166"/>
              <a:gd name="T3" fmla="*/ 158 h 164"/>
              <a:gd name="T4" fmla="*/ 7 w 166"/>
              <a:gd name="T5" fmla="*/ 0 h 164"/>
              <a:gd name="T6" fmla="*/ 0 w 166"/>
              <a:gd name="T7" fmla="*/ 7 h 164"/>
              <a:gd name="T8" fmla="*/ 158 w 166"/>
              <a:gd name="T9" fmla="*/ 164 h 164"/>
              <a:gd name="T10" fmla="*/ 163 w 166"/>
              <a:gd name="T11" fmla="*/ 161 h 164"/>
            </a:gdLst>
            <a:ahLst/>
            <a:cxnLst>
              <a:cxn ang="0">
                <a:pos x="T0" y="T1"/>
              </a:cxn>
              <a:cxn ang="0">
                <a:pos x="T2" y="T3"/>
              </a:cxn>
              <a:cxn ang="0">
                <a:pos x="T4" y="T5"/>
              </a:cxn>
              <a:cxn ang="0">
                <a:pos x="T6" y="T7"/>
              </a:cxn>
              <a:cxn ang="0">
                <a:pos x="T8" y="T9"/>
              </a:cxn>
              <a:cxn ang="0">
                <a:pos x="T10" y="T11"/>
              </a:cxn>
            </a:cxnLst>
            <a:rect l="0" t="0" r="r" b="b"/>
            <a:pathLst>
              <a:path w="166" h="164">
                <a:moveTo>
                  <a:pt x="163" y="161"/>
                </a:moveTo>
                <a:lnTo>
                  <a:pt x="166" y="158"/>
                </a:lnTo>
                <a:lnTo>
                  <a:pt x="7" y="0"/>
                </a:lnTo>
                <a:lnTo>
                  <a:pt x="0" y="7"/>
                </a:lnTo>
                <a:lnTo>
                  <a:pt x="158" y="164"/>
                </a:lnTo>
                <a:lnTo>
                  <a:pt x="163" y="161"/>
                </a:lnTo>
                <a:close/>
              </a:path>
            </a:pathLst>
          </a:custGeom>
          <a:solidFill>
            <a:srgbClr val="2B0E7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37" name="Freeform 839">
            <a:extLst>
              <a:ext uri="{FF2B5EF4-FFF2-40B4-BE49-F238E27FC236}">
                <a16:creationId xmlns:a16="http://schemas.microsoft.com/office/drawing/2014/main" id="{63CFAB80-05AD-614A-7F99-A65668913209}"/>
              </a:ext>
            </a:extLst>
          </p:cNvPr>
          <p:cNvSpPr>
            <a:spLocks/>
          </p:cNvSpPr>
          <p:nvPr/>
        </p:nvSpPr>
        <p:spPr bwMode="auto">
          <a:xfrm>
            <a:off x="2552700" y="5710238"/>
            <a:ext cx="257175" cy="257175"/>
          </a:xfrm>
          <a:custGeom>
            <a:avLst/>
            <a:gdLst>
              <a:gd name="T0" fmla="*/ 3 w 162"/>
              <a:gd name="T1" fmla="*/ 159 h 162"/>
              <a:gd name="T2" fmla="*/ 6 w 162"/>
              <a:gd name="T3" fmla="*/ 162 h 162"/>
              <a:gd name="T4" fmla="*/ 162 w 162"/>
              <a:gd name="T5" fmla="*/ 6 h 162"/>
              <a:gd name="T6" fmla="*/ 154 w 162"/>
              <a:gd name="T7" fmla="*/ 0 h 162"/>
              <a:gd name="T8" fmla="*/ 0 w 162"/>
              <a:gd name="T9" fmla="*/ 156 h 162"/>
              <a:gd name="T10" fmla="*/ 3 w 162"/>
              <a:gd name="T11" fmla="*/ 159 h 162"/>
            </a:gdLst>
            <a:ahLst/>
            <a:cxnLst>
              <a:cxn ang="0">
                <a:pos x="T0" y="T1"/>
              </a:cxn>
              <a:cxn ang="0">
                <a:pos x="T2" y="T3"/>
              </a:cxn>
              <a:cxn ang="0">
                <a:pos x="T4" y="T5"/>
              </a:cxn>
              <a:cxn ang="0">
                <a:pos x="T6" y="T7"/>
              </a:cxn>
              <a:cxn ang="0">
                <a:pos x="T8" y="T9"/>
              </a:cxn>
              <a:cxn ang="0">
                <a:pos x="T10" y="T11"/>
              </a:cxn>
            </a:cxnLst>
            <a:rect l="0" t="0" r="r" b="b"/>
            <a:pathLst>
              <a:path w="162" h="162">
                <a:moveTo>
                  <a:pt x="3" y="159"/>
                </a:moveTo>
                <a:lnTo>
                  <a:pt x="6" y="162"/>
                </a:lnTo>
                <a:lnTo>
                  <a:pt x="162" y="6"/>
                </a:lnTo>
                <a:lnTo>
                  <a:pt x="154" y="0"/>
                </a:lnTo>
                <a:lnTo>
                  <a:pt x="0" y="156"/>
                </a:lnTo>
                <a:lnTo>
                  <a:pt x="3" y="159"/>
                </a:lnTo>
                <a:close/>
              </a:path>
            </a:pathLst>
          </a:custGeom>
          <a:solidFill>
            <a:srgbClr val="DC2B1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38" name="Rectangle 840">
            <a:extLst>
              <a:ext uri="{FF2B5EF4-FFF2-40B4-BE49-F238E27FC236}">
                <a16:creationId xmlns:a16="http://schemas.microsoft.com/office/drawing/2014/main" id="{7D8ACBDB-7D8E-EDD4-9BD5-7A05DDBB23AD}"/>
              </a:ext>
            </a:extLst>
          </p:cNvPr>
          <p:cNvSpPr>
            <a:spLocks noChangeArrowheads="1"/>
          </p:cNvSpPr>
          <p:nvPr/>
        </p:nvSpPr>
        <p:spPr bwMode="auto">
          <a:xfrm>
            <a:off x="3006725" y="5659438"/>
            <a:ext cx="119063"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x</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39" name="Rectangle 841">
            <a:extLst>
              <a:ext uri="{FF2B5EF4-FFF2-40B4-BE49-F238E27FC236}">
                <a16:creationId xmlns:a16="http://schemas.microsoft.com/office/drawing/2014/main" id="{FE223485-05A1-48B6-2527-AFEA6ED2AC0D}"/>
              </a:ext>
            </a:extLst>
          </p:cNvPr>
          <p:cNvSpPr>
            <a:spLocks noChangeArrowheads="1"/>
          </p:cNvSpPr>
          <p:nvPr/>
        </p:nvSpPr>
        <p:spPr bwMode="auto">
          <a:xfrm>
            <a:off x="3068638" y="5659438"/>
            <a:ext cx="968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0" name="Rectangle 842">
            <a:extLst>
              <a:ext uri="{FF2B5EF4-FFF2-40B4-BE49-F238E27FC236}">
                <a16:creationId xmlns:a16="http://schemas.microsoft.com/office/drawing/2014/main" id="{BD107D0A-1805-AEC7-66D9-718856A5F5A1}"/>
              </a:ext>
            </a:extLst>
          </p:cNvPr>
          <p:cNvSpPr>
            <a:spLocks noChangeArrowheads="1"/>
          </p:cNvSpPr>
          <p:nvPr/>
        </p:nvSpPr>
        <p:spPr bwMode="auto">
          <a:xfrm>
            <a:off x="3111500" y="5659438"/>
            <a:ext cx="625475"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ray source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1" name="Rectangle 843">
            <a:extLst>
              <a:ext uri="{FF2B5EF4-FFF2-40B4-BE49-F238E27FC236}">
                <a16:creationId xmlns:a16="http://schemas.microsoft.com/office/drawing/2014/main" id="{542DD78C-2C21-F697-D505-72B84B9FBD56}"/>
              </a:ext>
            </a:extLst>
          </p:cNvPr>
          <p:cNvSpPr>
            <a:spLocks noChangeArrowheads="1"/>
          </p:cNvSpPr>
          <p:nvPr/>
        </p:nvSpPr>
        <p:spPr bwMode="auto">
          <a:xfrm>
            <a:off x="1541463" y="5805488"/>
            <a:ext cx="112713"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2" name="Rectangle 844">
            <a:extLst>
              <a:ext uri="{FF2B5EF4-FFF2-40B4-BE49-F238E27FC236}">
                <a16:creationId xmlns:a16="http://schemas.microsoft.com/office/drawing/2014/main" id="{62930066-FC29-47BF-E762-853B42DC1D7C}"/>
              </a:ext>
            </a:extLst>
          </p:cNvPr>
          <p:cNvSpPr>
            <a:spLocks noChangeArrowheads="1"/>
          </p:cNvSpPr>
          <p:nvPr/>
        </p:nvSpPr>
        <p:spPr bwMode="auto">
          <a:xfrm>
            <a:off x="1597025" y="5805488"/>
            <a:ext cx="968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3" name="Rectangle 845">
            <a:extLst>
              <a:ext uri="{FF2B5EF4-FFF2-40B4-BE49-F238E27FC236}">
                <a16:creationId xmlns:a16="http://schemas.microsoft.com/office/drawing/2014/main" id="{54718EA1-3FF6-42A3-5547-1F3EB63D8A4A}"/>
              </a:ext>
            </a:extLst>
          </p:cNvPr>
          <p:cNvSpPr>
            <a:spLocks noChangeArrowheads="1"/>
          </p:cNvSpPr>
          <p:nvPr/>
        </p:nvSpPr>
        <p:spPr bwMode="auto">
          <a:xfrm>
            <a:off x="1639888" y="5805488"/>
            <a:ext cx="40798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source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4" name="Rectangle 846">
            <a:extLst>
              <a:ext uri="{FF2B5EF4-FFF2-40B4-BE49-F238E27FC236}">
                <a16:creationId xmlns:a16="http://schemas.microsoft.com/office/drawing/2014/main" id="{F01D52A2-1E19-04F7-6459-929CC2A0F38F}"/>
              </a:ext>
            </a:extLst>
          </p:cNvPr>
          <p:cNvSpPr>
            <a:spLocks noChangeArrowheads="1"/>
          </p:cNvSpPr>
          <p:nvPr/>
        </p:nvSpPr>
        <p:spPr bwMode="auto">
          <a:xfrm>
            <a:off x="3006725" y="6192838"/>
            <a:ext cx="8080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Magnetic lens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5" name="Rectangle 847">
            <a:extLst>
              <a:ext uri="{FF2B5EF4-FFF2-40B4-BE49-F238E27FC236}">
                <a16:creationId xmlns:a16="http://schemas.microsoft.com/office/drawing/2014/main" id="{64FC241C-133E-2332-89BC-7C4CA821AE00}"/>
              </a:ext>
            </a:extLst>
          </p:cNvPr>
          <p:cNvSpPr>
            <a:spLocks noChangeArrowheads="1"/>
          </p:cNvSpPr>
          <p:nvPr/>
        </p:nvSpPr>
        <p:spPr bwMode="auto">
          <a:xfrm>
            <a:off x="3006725" y="5478463"/>
            <a:ext cx="93345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Scanning  plates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6" name="Rectangle 848">
            <a:extLst>
              <a:ext uri="{FF2B5EF4-FFF2-40B4-BE49-F238E27FC236}">
                <a16:creationId xmlns:a16="http://schemas.microsoft.com/office/drawing/2014/main" id="{D462F1C3-579E-29FC-6D9D-C276664E2AD3}"/>
              </a:ext>
            </a:extLst>
          </p:cNvPr>
          <p:cNvSpPr>
            <a:spLocks noChangeArrowheads="1"/>
          </p:cNvSpPr>
          <p:nvPr/>
        </p:nvSpPr>
        <p:spPr bwMode="auto">
          <a:xfrm>
            <a:off x="3006725" y="5199063"/>
            <a:ext cx="10366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Spot size aperture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7" name="Rectangle 849">
            <a:extLst>
              <a:ext uri="{FF2B5EF4-FFF2-40B4-BE49-F238E27FC236}">
                <a16:creationId xmlns:a16="http://schemas.microsoft.com/office/drawing/2014/main" id="{7199A261-FB0E-B2A1-50CF-A1079C541804}"/>
              </a:ext>
            </a:extLst>
          </p:cNvPr>
          <p:cNvSpPr>
            <a:spLocks noChangeArrowheads="1"/>
          </p:cNvSpPr>
          <p:nvPr/>
        </p:nvSpPr>
        <p:spPr bwMode="auto">
          <a:xfrm>
            <a:off x="1541463" y="4575175"/>
            <a:ext cx="538163"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Slit plate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8" name="Rectangle 850">
            <a:extLst>
              <a:ext uri="{FF2B5EF4-FFF2-40B4-BE49-F238E27FC236}">
                <a16:creationId xmlns:a16="http://schemas.microsoft.com/office/drawing/2014/main" id="{375C81D5-BA6E-9697-7146-8AED96DB8E73}"/>
              </a:ext>
            </a:extLst>
          </p:cNvPr>
          <p:cNvSpPr>
            <a:spLocks noChangeArrowheads="1"/>
          </p:cNvSpPr>
          <p:nvPr/>
        </p:nvSpPr>
        <p:spPr bwMode="auto">
          <a:xfrm>
            <a:off x="3006725" y="4903788"/>
            <a:ext cx="71755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Slit plate set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9" name="Rectangle 851">
            <a:extLst>
              <a:ext uri="{FF2B5EF4-FFF2-40B4-BE49-F238E27FC236}">
                <a16:creationId xmlns:a16="http://schemas.microsoft.com/office/drawing/2014/main" id="{00646310-3018-4387-2B50-287C84121A13}"/>
              </a:ext>
            </a:extLst>
          </p:cNvPr>
          <p:cNvSpPr>
            <a:spLocks noChangeArrowheads="1"/>
          </p:cNvSpPr>
          <p:nvPr/>
        </p:nvSpPr>
        <p:spPr bwMode="auto">
          <a:xfrm>
            <a:off x="3805238" y="3629025"/>
            <a:ext cx="1038225"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Outer hemisphere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0" name="Rectangle 852">
            <a:extLst>
              <a:ext uri="{FF2B5EF4-FFF2-40B4-BE49-F238E27FC236}">
                <a16:creationId xmlns:a16="http://schemas.microsoft.com/office/drawing/2014/main" id="{66E758FE-B036-1C79-FA7A-E8353C99FEA1}"/>
              </a:ext>
            </a:extLst>
          </p:cNvPr>
          <p:cNvSpPr>
            <a:spLocks noChangeArrowheads="1"/>
          </p:cNvSpPr>
          <p:nvPr/>
        </p:nvSpPr>
        <p:spPr bwMode="auto">
          <a:xfrm>
            <a:off x="3805238" y="3860800"/>
            <a:ext cx="2873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Iner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1" name="Rectangle 853">
            <a:extLst>
              <a:ext uri="{FF2B5EF4-FFF2-40B4-BE49-F238E27FC236}">
                <a16:creationId xmlns:a16="http://schemas.microsoft.com/office/drawing/2014/main" id="{9918F998-0A9D-EDF1-15F3-68AA4F433287}"/>
              </a:ext>
            </a:extLst>
          </p:cNvPr>
          <p:cNvSpPr>
            <a:spLocks noChangeArrowheads="1"/>
          </p:cNvSpPr>
          <p:nvPr/>
        </p:nvSpPr>
        <p:spPr bwMode="auto">
          <a:xfrm>
            <a:off x="4068763" y="3860800"/>
            <a:ext cx="67945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hemisphere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2" name="Rectangle 854">
            <a:extLst>
              <a:ext uri="{FF2B5EF4-FFF2-40B4-BE49-F238E27FC236}">
                <a16:creationId xmlns:a16="http://schemas.microsoft.com/office/drawing/2014/main" id="{291DDD7A-0422-2DBB-9C53-5B83753CEC1D}"/>
              </a:ext>
            </a:extLst>
          </p:cNvPr>
          <p:cNvSpPr>
            <a:spLocks noChangeArrowheads="1"/>
          </p:cNvSpPr>
          <p:nvPr/>
        </p:nvSpPr>
        <p:spPr bwMode="auto">
          <a:xfrm>
            <a:off x="3805238" y="4535488"/>
            <a:ext cx="38258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Eight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3" name="Rectangle 855">
            <a:extLst>
              <a:ext uri="{FF2B5EF4-FFF2-40B4-BE49-F238E27FC236}">
                <a16:creationId xmlns:a16="http://schemas.microsoft.com/office/drawing/2014/main" id="{AD9A5326-3259-4448-0DCD-CA05F7119D0C}"/>
              </a:ext>
            </a:extLst>
          </p:cNvPr>
          <p:cNvSpPr>
            <a:spLocks noChangeArrowheads="1"/>
          </p:cNvSpPr>
          <p:nvPr/>
        </p:nvSpPr>
        <p:spPr bwMode="auto">
          <a:xfrm>
            <a:off x="4132263" y="4535488"/>
            <a:ext cx="760413"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channeltrons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4" name="Rectangle 856">
            <a:extLst>
              <a:ext uri="{FF2B5EF4-FFF2-40B4-BE49-F238E27FC236}">
                <a16:creationId xmlns:a16="http://schemas.microsoft.com/office/drawing/2014/main" id="{279BB192-FC48-DEE4-E674-C5CE99F30835}"/>
              </a:ext>
            </a:extLst>
          </p:cNvPr>
          <p:cNvSpPr>
            <a:spLocks noChangeArrowheads="1"/>
          </p:cNvSpPr>
          <p:nvPr/>
        </p:nvSpPr>
        <p:spPr bwMode="auto">
          <a:xfrm>
            <a:off x="3805238" y="4679950"/>
            <a:ext cx="107950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and head amplifier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5" name="Freeform 857">
            <a:extLst>
              <a:ext uri="{FF2B5EF4-FFF2-40B4-BE49-F238E27FC236}">
                <a16:creationId xmlns:a16="http://schemas.microsoft.com/office/drawing/2014/main" id="{E64B8BB3-1DC4-B3B0-1A50-0C1C852167A2}"/>
              </a:ext>
            </a:extLst>
          </p:cNvPr>
          <p:cNvSpPr>
            <a:spLocks/>
          </p:cNvSpPr>
          <p:nvPr/>
        </p:nvSpPr>
        <p:spPr bwMode="auto">
          <a:xfrm>
            <a:off x="3378200" y="4564063"/>
            <a:ext cx="41275" cy="68263"/>
          </a:xfrm>
          <a:custGeom>
            <a:avLst/>
            <a:gdLst>
              <a:gd name="T0" fmla="*/ 0 w 26"/>
              <a:gd name="T1" fmla="*/ 0 h 43"/>
              <a:gd name="T2" fmla="*/ 26 w 26"/>
              <a:gd name="T3" fmla="*/ 0 h 43"/>
              <a:gd name="T4" fmla="*/ 15 w 26"/>
              <a:gd name="T5" fmla="*/ 43 h 43"/>
              <a:gd name="T6" fmla="*/ 0 w 26"/>
              <a:gd name="T7" fmla="*/ 0 h 43"/>
            </a:gdLst>
            <a:ahLst/>
            <a:cxnLst>
              <a:cxn ang="0">
                <a:pos x="T0" y="T1"/>
              </a:cxn>
              <a:cxn ang="0">
                <a:pos x="T2" y="T3"/>
              </a:cxn>
              <a:cxn ang="0">
                <a:pos x="T4" y="T5"/>
              </a:cxn>
              <a:cxn ang="0">
                <a:pos x="T6" y="T7"/>
              </a:cxn>
            </a:cxnLst>
            <a:rect l="0" t="0" r="r" b="b"/>
            <a:pathLst>
              <a:path w="26" h="43">
                <a:moveTo>
                  <a:pt x="0" y="0"/>
                </a:moveTo>
                <a:lnTo>
                  <a:pt x="26" y="0"/>
                </a:lnTo>
                <a:lnTo>
                  <a:pt x="15" y="43"/>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56" name="Freeform 858">
            <a:extLst>
              <a:ext uri="{FF2B5EF4-FFF2-40B4-BE49-F238E27FC236}">
                <a16:creationId xmlns:a16="http://schemas.microsoft.com/office/drawing/2014/main" id="{28C567BA-5800-3ED5-6F4E-F0B00E12290B}"/>
              </a:ext>
            </a:extLst>
          </p:cNvPr>
          <p:cNvSpPr>
            <a:spLocks/>
          </p:cNvSpPr>
          <p:nvPr/>
        </p:nvSpPr>
        <p:spPr bwMode="auto">
          <a:xfrm>
            <a:off x="3441700" y="4564063"/>
            <a:ext cx="41275" cy="68263"/>
          </a:xfrm>
          <a:custGeom>
            <a:avLst/>
            <a:gdLst>
              <a:gd name="T0" fmla="*/ 0 w 26"/>
              <a:gd name="T1" fmla="*/ 0 h 43"/>
              <a:gd name="T2" fmla="*/ 26 w 26"/>
              <a:gd name="T3" fmla="*/ 0 h 43"/>
              <a:gd name="T4" fmla="*/ 15 w 26"/>
              <a:gd name="T5" fmla="*/ 43 h 43"/>
              <a:gd name="T6" fmla="*/ 0 w 26"/>
              <a:gd name="T7" fmla="*/ 0 h 43"/>
            </a:gdLst>
            <a:ahLst/>
            <a:cxnLst>
              <a:cxn ang="0">
                <a:pos x="T0" y="T1"/>
              </a:cxn>
              <a:cxn ang="0">
                <a:pos x="T2" y="T3"/>
              </a:cxn>
              <a:cxn ang="0">
                <a:pos x="T4" y="T5"/>
              </a:cxn>
              <a:cxn ang="0">
                <a:pos x="T6" y="T7"/>
              </a:cxn>
            </a:cxnLst>
            <a:rect l="0" t="0" r="r" b="b"/>
            <a:pathLst>
              <a:path w="26" h="43">
                <a:moveTo>
                  <a:pt x="0" y="0"/>
                </a:moveTo>
                <a:lnTo>
                  <a:pt x="26" y="0"/>
                </a:lnTo>
                <a:lnTo>
                  <a:pt x="15" y="43"/>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57" name="Freeform 859">
            <a:extLst>
              <a:ext uri="{FF2B5EF4-FFF2-40B4-BE49-F238E27FC236}">
                <a16:creationId xmlns:a16="http://schemas.microsoft.com/office/drawing/2014/main" id="{33B3283B-C681-2CA7-3C9B-F1CDCE8EC7B7}"/>
              </a:ext>
            </a:extLst>
          </p:cNvPr>
          <p:cNvSpPr>
            <a:spLocks/>
          </p:cNvSpPr>
          <p:nvPr/>
        </p:nvSpPr>
        <p:spPr bwMode="auto">
          <a:xfrm>
            <a:off x="3406775" y="4560888"/>
            <a:ext cx="42863" cy="68263"/>
          </a:xfrm>
          <a:custGeom>
            <a:avLst/>
            <a:gdLst>
              <a:gd name="T0" fmla="*/ 0 w 27"/>
              <a:gd name="T1" fmla="*/ 0 h 43"/>
              <a:gd name="T2" fmla="*/ 27 w 27"/>
              <a:gd name="T3" fmla="*/ 0 h 43"/>
              <a:gd name="T4" fmla="*/ 13 w 27"/>
              <a:gd name="T5" fmla="*/ 43 h 43"/>
              <a:gd name="T6" fmla="*/ 0 w 27"/>
              <a:gd name="T7" fmla="*/ 0 h 43"/>
            </a:gdLst>
            <a:ahLst/>
            <a:cxnLst>
              <a:cxn ang="0">
                <a:pos x="T0" y="T1"/>
              </a:cxn>
              <a:cxn ang="0">
                <a:pos x="T2" y="T3"/>
              </a:cxn>
              <a:cxn ang="0">
                <a:pos x="T4" y="T5"/>
              </a:cxn>
              <a:cxn ang="0">
                <a:pos x="T6" y="T7"/>
              </a:cxn>
            </a:cxnLst>
            <a:rect l="0" t="0" r="r" b="b"/>
            <a:pathLst>
              <a:path w="27" h="43">
                <a:moveTo>
                  <a:pt x="0" y="0"/>
                </a:moveTo>
                <a:lnTo>
                  <a:pt x="27" y="0"/>
                </a:lnTo>
                <a:lnTo>
                  <a:pt x="13" y="43"/>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58" name="Freeform 860">
            <a:extLst>
              <a:ext uri="{FF2B5EF4-FFF2-40B4-BE49-F238E27FC236}">
                <a16:creationId xmlns:a16="http://schemas.microsoft.com/office/drawing/2014/main" id="{33796D07-42DB-6FE6-3552-DF5857E4F8FC}"/>
              </a:ext>
            </a:extLst>
          </p:cNvPr>
          <p:cNvSpPr>
            <a:spLocks/>
          </p:cNvSpPr>
          <p:nvPr/>
        </p:nvSpPr>
        <p:spPr bwMode="auto">
          <a:xfrm>
            <a:off x="3470275" y="4560888"/>
            <a:ext cx="41275" cy="68263"/>
          </a:xfrm>
          <a:custGeom>
            <a:avLst/>
            <a:gdLst>
              <a:gd name="T0" fmla="*/ 0 w 26"/>
              <a:gd name="T1" fmla="*/ 0 h 43"/>
              <a:gd name="T2" fmla="*/ 26 w 26"/>
              <a:gd name="T3" fmla="*/ 0 h 43"/>
              <a:gd name="T4" fmla="*/ 13 w 26"/>
              <a:gd name="T5" fmla="*/ 43 h 43"/>
              <a:gd name="T6" fmla="*/ 0 w 26"/>
              <a:gd name="T7" fmla="*/ 0 h 43"/>
            </a:gdLst>
            <a:ahLst/>
            <a:cxnLst>
              <a:cxn ang="0">
                <a:pos x="T0" y="T1"/>
              </a:cxn>
              <a:cxn ang="0">
                <a:pos x="T2" y="T3"/>
              </a:cxn>
              <a:cxn ang="0">
                <a:pos x="T4" y="T5"/>
              </a:cxn>
              <a:cxn ang="0">
                <a:pos x="T6" y="T7"/>
              </a:cxn>
            </a:cxnLst>
            <a:rect l="0" t="0" r="r" b="b"/>
            <a:pathLst>
              <a:path w="26" h="43">
                <a:moveTo>
                  <a:pt x="0" y="0"/>
                </a:moveTo>
                <a:lnTo>
                  <a:pt x="26" y="0"/>
                </a:lnTo>
                <a:lnTo>
                  <a:pt x="13" y="43"/>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59" name="Freeform 861">
            <a:extLst>
              <a:ext uri="{FF2B5EF4-FFF2-40B4-BE49-F238E27FC236}">
                <a16:creationId xmlns:a16="http://schemas.microsoft.com/office/drawing/2014/main" id="{ACFBDDE7-BC11-C39C-B7EA-796C22E1844B}"/>
              </a:ext>
            </a:extLst>
          </p:cNvPr>
          <p:cNvSpPr>
            <a:spLocks/>
          </p:cNvSpPr>
          <p:nvPr/>
        </p:nvSpPr>
        <p:spPr bwMode="auto">
          <a:xfrm>
            <a:off x="3394075" y="4567238"/>
            <a:ext cx="41275" cy="68263"/>
          </a:xfrm>
          <a:custGeom>
            <a:avLst/>
            <a:gdLst>
              <a:gd name="T0" fmla="*/ 0 w 26"/>
              <a:gd name="T1" fmla="*/ 0 h 43"/>
              <a:gd name="T2" fmla="*/ 26 w 26"/>
              <a:gd name="T3" fmla="*/ 0 h 43"/>
              <a:gd name="T4" fmla="*/ 15 w 26"/>
              <a:gd name="T5" fmla="*/ 43 h 43"/>
              <a:gd name="T6" fmla="*/ 0 w 26"/>
              <a:gd name="T7" fmla="*/ 0 h 43"/>
            </a:gdLst>
            <a:ahLst/>
            <a:cxnLst>
              <a:cxn ang="0">
                <a:pos x="T0" y="T1"/>
              </a:cxn>
              <a:cxn ang="0">
                <a:pos x="T2" y="T3"/>
              </a:cxn>
              <a:cxn ang="0">
                <a:pos x="T4" y="T5"/>
              </a:cxn>
              <a:cxn ang="0">
                <a:pos x="T6" y="T7"/>
              </a:cxn>
            </a:cxnLst>
            <a:rect l="0" t="0" r="r" b="b"/>
            <a:pathLst>
              <a:path w="26" h="43">
                <a:moveTo>
                  <a:pt x="0" y="0"/>
                </a:moveTo>
                <a:lnTo>
                  <a:pt x="26" y="0"/>
                </a:lnTo>
                <a:lnTo>
                  <a:pt x="15" y="43"/>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60" name="Freeform 862">
            <a:extLst>
              <a:ext uri="{FF2B5EF4-FFF2-40B4-BE49-F238E27FC236}">
                <a16:creationId xmlns:a16="http://schemas.microsoft.com/office/drawing/2014/main" id="{B0C6A463-2F6F-85F8-EFA2-4EB272F1A860}"/>
              </a:ext>
            </a:extLst>
          </p:cNvPr>
          <p:cNvSpPr>
            <a:spLocks/>
          </p:cNvSpPr>
          <p:nvPr/>
        </p:nvSpPr>
        <p:spPr bwMode="auto">
          <a:xfrm>
            <a:off x="3457575" y="4567238"/>
            <a:ext cx="41275" cy="68263"/>
          </a:xfrm>
          <a:custGeom>
            <a:avLst/>
            <a:gdLst>
              <a:gd name="T0" fmla="*/ 0 w 26"/>
              <a:gd name="T1" fmla="*/ 0 h 43"/>
              <a:gd name="T2" fmla="*/ 26 w 26"/>
              <a:gd name="T3" fmla="*/ 0 h 43"/>
              <a:gd name="T4" fmla="*/ 14 w 26"/>
              <a:gd name="T5" fmla="*/ 43 h 43"/>
              <a:gd name="T6" fmla="*/ 0 w 26"/>
              <a:gd name="T7" fmla="*/ 0 h 43"/>
            </a:gdLst>
            <a:ahLst/>
            <a:cxnLst>
              <a:cxn ang="0">
                <a:pos x="T0" y="T1"/>
              </a:cxn>
              <a:cxn ang="0">
                <a:pos x="T2" y="T3"/>
              </a:cxn>
              <a:cxn ang="0">
                <a:pos x="T4" y="T5"/>
              </a:cxn>
              <a:cxn ang="0">
                <a:pos x="T6" y="T7"/>
              </a:cxn>
            </a:cxnLst>
            <a:rect l="0" t="0" r="r" b="b"/>
            <a:pathLst>
              <a:path w="26" h="43">
                <a:moveTo>
                  <a:pt x="0" y="0"/>
                </a:moveTo>
                <a:lnTo>
                  <a:pt x="26" y="0"/>
                </a:lnTo>
                <a:lnTo>
                  <a:pt x="14" y="43"/>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61" name="Freeform 863">
            <a:extLst>
              <a:ext uri="{FF2B5EF4-FFF2-40B4-BE49-F238E27FC236}">
                <a16:creationId xmlns:a16="http://schemas.microsoft.com/office/drawing/2014/main" id="{BE698495-56A5-66B5-925E-301B509DEFD8}"/>
              </a:ext>
            </a:extLst>
          </p:cNvPr>
          <p:cNvSpPr>
            <a:spLocks/>
          </p:cNvSpPr>
          <p:nvPr/>
        </p:nvSpPr>
        <p:spPr bwMode="auto">
          <a:xfrm>
            <a:off x="3422650" y="4560888"/>
            <a:ext cx="42863" cy="71438"/>
          </a:xfrm>
          <a:custGeom>
            <a:avLst/>
            <a:gdLst>
              <a:gd name="T0" fmla="*/ 0 w 27"/>
              <a:gd name="T1" fmla="*/ 0 h 45"/>
              <a:gd name="T2" fmla="*/ 27 w 27"/>
              <a:gd name="T3" fmla="*/ 0 h 45"/>
              <a:gd name="T4" fmla="*/ 13 w 27"/>
              <a:gd name="T5" fmla="*/ 45 h 45"/>
              <a:gd name="T6" fmla="*/ 0 w 27"/>
              <a:gd name="T7" fmla="*/ 0 h 45"/>
            </a:gdLst>
            <a:ahLst/>
            <a:cxnLst>
              <a:cxn ang="0">
                <a:pos x="T0" y="T1"/>
              </a:cxn>
              <a:cxn ang="0">
                <a:pos x="T2" y="T3"/>
              </a:cxn>
              <a:cxn ang="0">
                <a:pos x="T4" y="T5"/>
              </a:cxn>
              <a:cxn ang="0">
                <a:pos x="T6" y="T7"/>
              </a:cxn>
            </a:cxnLst>
            <a:rect l="0" t="0" r="r" b="b"/>
            <a:pathLst>
              <a:path w="27" h="45">
                <a:moveTo>
                  <a:pt x="0" y="0"/>
                </a:moveTo>
                <a:lnTo>
                  <a:pt x="27" y="0"/>
                </a:lnTo>
                <a:lnTo>
                  <a:pt x="13" y="45"/>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62" name="Freeform 864">
            <a:extLst>
              <a:ext uri="{FF2B5EF4-FFF2-40B4-BE49-F238E27FC236}">
                <a16:creationId xmlns:a16="http://schemas.microsoft.com/office/drawing/2014/main" id="{2A77CEC9-5060-E9F6-0700-E473A6DFC500}"/>
              </a:ext>
            </a:extLst>
          </p:cNvPr>
          <p:cNvSpPr>
            <a:spLocks/>
          </p:cNvSpPr>
          <p:nvPr/>
        </p:nvSpPr>
        <p:spPr bwMode="auto">
          <a:xfrm>
            <a:off x="3486150" y="4560888"/>
            <a:ext cx="41275" cy="71438"/>
          </a:xfrm>
          <a:custGeom>
            <a:avLst/>
            <a:gdLst>
              <a:gd name="T0" fmla="*/ 0 w 26"/>
              <a:gd name="T1" fmla="*/ 0 h 45"/>
              <a:gd name="T2" fmla="*/ 26 w 26"/>
              <a:gd name="T3" fmla="*/ 0 h 45"/>
              <a:gd name="T4" fmla="*/ 13 w 26"/>
              <a:gd name="T5" fmla="*/ 45 h 45"/>
              <a:gd name="T6" fmla="*/ 0 w 26"/>
              <a:gd name="T7" fmla="*/ 0 h 45"/>
            </a:gdLst>
            <a:ahLst/>
            <a:cxnLst>
              <a:cxn ang="0">
                <a:pos x="T0" y="T1"/>
              </a:cxn>
              <a:cxn ang="0">
                <a:pos x="T2" y="T3"/>
              </a:cxn>
              <a:cxn ang="0">
                <a:pos x="T4" y="T5"/>
              </a:cxn>
              <a:cxn ang="0">
                <a:pos x="T6" y="T7"/>
              </a:cxn>
            </a:cxnLst>
            <a:rect l="0" t="0" r="r" b="b"/>
            <a:pathLst>
              <a:path w="26" h="45">
                <a:moveTo>
                  <a:pt x="0" y="0"/>
                </a:moveTo>
                <a:lnTo>
                  <a:pt x="26" y="0"/>
                </a:lnTo>
                <a:lnTo>
                  <a:pt x="13" y="45"/>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63" name="Freeform 865">
            <a:extLst>
              <a:ext uri="{FF2B5EF4-FFF2-40B4-BE49-F238E27FC236}">
                <a16:creationId xmlns:a16="http://schemas.microsoft.com/office/drawing/2014/main" id="{7E55E510-E6C5-F501-F15F-773FC536048C}"/>
              </a:ext>
            </a:extLst>
          </p:cNvPr>
          <p:cNvSpPr>
            <a:spLocks/>
          </p:cNvSpPr>
          <p:nvPr/>
        </p:nvSpPr>
        <p:spPr bwMode="auto">
          <a:xfrm>
            <a:off x="3398838" y="4629150"/>
            <a:ext cx="47625" cy="68263"/>
          </a:xfrm>
          <a:custGeom>
            <a:avLst/>
            <a:gdLst>
              <a:gd name="T0" fmla="*/ 0 w 30"/>
              <a:gd name="T1" fmla="*/ 0 h 43"/>
              <a:gd name="T2" fmla="*/ 0 w 30"/>
              <a:gd name="T3" fmla="*/ 22 h 43"/>
              <a:gd name="T4" fmla="*/ 2 w 30"/>
              <a:gd name="T5" fmla="*/ 30 h 43"/>
              <a:gd name="T6" fmla="*/ 5 w 30"/>
              <a:gd name="T7" fmla="*/ 35 h 43"/>
              <a:gd name="T8" fmla="*/ 8 w 30"/>
              <a:gd name="T9" fmla="*/ 40 h 43"/>
              <a:gd name="T10" fmla="*/ 13 w 30"/>
              <a:gd name="T11" fmla="*/ 42 h 43"/>
              <a:gd name="T12" fmla="*/ 18 w 30"/>
              <a:gd name="T13" fmla="*/ 43 h 43"/>
              <a:gd name="T14" fmla="*/ 23 w 30"/>
              <a:gd name="T15" fmla="*/ 42 h 43"/>
              <a:gd name="T16" fmla="*/ 27 w 30"/>
              <a:gd name="T17" fmla="*/ 38 h 43"/>
              <a:gd name="T18" fmla="*/ 30 w 30"/>
              <a:gd name="T19" fmla="*/ 3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3">
                <a:moveTo>
                  <a:pt x="0" y="0"/>
                </a:moveTo>
                <a:lnTo>
                  <a:pt x="0" y="22"/>
                </a:lnTo>
                <a:lnTo>
                  <a:pt x="2" y="30"/>
                </a:lnTo>
                <a:lnTo>
                  <a:pt x="5" y="35"/>
                </a:lnTo>
                <a:lnTo>
                  <a:pt x="8" y="40"/>
                </a:lnTo>
                <a:lnTo>
                  <a:pt x="13" y="42"/>
                </a:lnTo>
                <a:lnTo>
                  <a:pt x="18" y="43"/>
                </a:lnTo>
                <a:lnTo>
                  <a:pt x="23" y="42"/>
                </a:lnTo>
                <a:lnTo>
                  <a:pt x="27" y="38"/>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56" name="Freeform 866">
            <a:extLst>
              <a:ext uri="{FF2B5EF4-FFF2-40B4-BE49-F238E27FC236}">
                <a16:creationId xmlns:a16="http://schemas.microsoft.com/office/drawing/2014/main" id="{768CE67B-3C82-34B3-265C-39492AE3C7B9}"/>
              </a:ext>
            </a:extLst>
          </p:cNvPr>
          <p:cNvSpPr>
            <a:spLocks/>
          </p:cNvSpPr>
          <p:nvPr/>
        </p:nvSpPr>
        <p:spPr bwMode="auto">
          <a:xfrm>
            <a:off x="3462338" y="4629150"/>
            <a:ext cx="47625" cy="68263"/>
          </a:xfrm>
          <a:custGeom>
            <a:avLst/>
            <a:gdLst>
              <a:gd name="T0" fmla="*/ 0 w 30"/>
              <a:gd name="T1" fmla="*/ 0 h 43"/>
              <a:gd name="T2" fmla="*/ 0 w 30"/>
              <a:gd name="T3" fmla="*/ 22 h 43"/>
              <a:gd name="T4" fmla="*/ 2 w 30"/>
              <a:gd name="T5" fmla="*/ 30 h 43"/>
              <a:gd name="T6" fmla="*/ 5 w 30"/>
              <a:gd name="T7" fmla="*/ 35 h 43"/>
              <a:gd name="T8" fmla="*/ 8 w 30"/>
              <a:gd name="T9" fmla="*/ 40 h 43"/>
              <a:gd name="T10" fmla="*/ 13 w 30"/>
              <a:gd name="T11" fmla="*/ 42 h 43"/>
              <a:gd name="T12" fmla="*/ 18 w 30"/>
              <a:gd name="T13" fmla="*/ 43 h 43"/>
              <a:gd name="T14" fmla="*/ 23 w 30"/>
              <a:gd name="T15" fmla="*/ 42 h 43"/>
              <a:gd name="T16" fmla="*/ 26 w 30"/>
              <a:gd name="T17" fmla="*/ 38 h 43"/>
              <a:gd name="T18" fmla="*/ 30 w 30"/>
              <a:gd name="T19" fmla="*/ 3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3">
                <a:moveTo>
                  <a:pt x="0" y="0"/>
                </a:moveTo>
                <a:lnTo>
                  <a:pt x="0" y="22"/>
                </a:lnTo>
                <a:lnTo>
                  <a:pt x="2" y="30"/>
                </a:lnTo>
                <a:lnTo>
                  <a:pt x="5" y="35"/>
                </a:lnTo>
                <a:lnTo>
                  <a:pt x="8" y="40"/>
                </a:lnTo>
                <a:lnTo>
                  <a:pt x="13" y="42"/>
                </a:lnTo>
                <a:lnTo>
                  <a:pt x="18" y="43"/>
                </a:lnTo>
                <a:lnTo>
                  <a:pt x="23" y="42"/>
                </a:lnTo>
                <a:lnTo>
                  <a:pt x="26" y="38"/>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57" name="Freeform 867">
            <a:extLst>
              <a:ext uri="{FF2B5EF4-FFF2-40B4-BE49-F238E27FC236}">
                <a16:creationId xmlns:a16="http://schemas.microsoft.com/office/drawing/2014/main" id="{57B4394E-8920-6DD1-D21A-5A071C87922D}"/>
              </a:ext>
            </a:extLst>
          </p:cNvPr>
          <p:cNvSpPr>
            <a:spLocks/>
          </p:cNvSpPr>
          <p:nvPr/>
        </p:nvSpPr>
        <p:spPr bwMode="auto">
          <a:xfrm>
            <a:off x="3427413" y="4627563"/>
            <a:ext cx="47625" cy="68263"/>
          </a:xfrm>
          <a:custGeom>
            <a:avLst/>
            <a:gdLst>
              <a:gd name="T0" fmla="*/ 0 w 30"/>
              <a:gd name="T1" fmla="*/ 0 h 43"/>
              <a:gd name="T2" fmla="*/ 0 w 30"/>
              <a:gd name="T3" fmla="*/ 21 h 43"/>
              <a:gd name="T4" fmla="*/ 2 w 30"/>
              <a:gd name="T5" fmla="*/ 29 h 43"/>
              <a:gd name="T6" fmla="*/ 5 w 30"/>
              <a:gd name="T7" fmla="*/ 34 h 43"/>
              <a:gd name="T8" fmla="*/ 9 w 30"/>
              <a:gd name="T9" fmla="*/ 39 h 43"/>
              <a:gd name="T10" fmla="*/ 14 w 30"/>
              <a:gd name="T11" fmla="*/ 41 h 43"/>
              <a:gd name="T12" fmla="*/ 19 w 30"/>
              <a:gd name="T13" fmla="*/ 43 h 43"/>
              <a:gd name="T14" fmla="*/ 22 w 30"/>
              <a:gd name="T15" fmla="*/ 41 h 43"/>
              <a:gd name="T16" fmla="*/ 27 w 30"/>
              <a:gd name="T17" fmla="*/ 38 h 43"/>
              <a:gd name="T18" fmla="*/ 30 w 30"/>
              <a:gd name="T19" fmla="*/ 3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3">
                <a:moveTo>
                  <a:pt x="0" y="0"/>
                </a:moveTo>
                <a:lnTo>
                  <a:pt x="0" y="21"/>
                </a:lnTo>
                <a:lnTo>
                  <a:pt x="2" y="29"/>
                </a:lnTo>
                <a:lnTo>
                  <a:pt x="5" y="34"/>
                </a:lnTo>
                <a:lnTo>
                  <a:pt x="9" y="39"/>
                </a:lnTo>
                <a:lnTo>
                  <a:pt x="14" y="41"/>
                </a:lnTo>
                <a:lnTo>
                  <a:pt x="19" y="43"/>
                </a:lnTo>
                <a:lnTo>
                  <a:pt x="22" y="41"/>
                </a:lnTo>
                <a:lnTo>
                  <a:pt x="27" y="38"/>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63" name="Freeform 868">
            <a:extLst>
              <a:ext uri="{FF2B5EF4-FFF2-40B4-BE49-F238E27FC236}">
                <a16:creationId xmlns:a16="http://schemas.microsoft.com/office/drawing/2014/main" id="{2F8FE701-DD56-F047-0F98-192AB0CA721C}"/>
              </a:ext>
            </a:extLst>
          </p:cNvPr>
          <p:cNvSpPr>
            <a:spLocks/>
          </p:cNvSpPr>
          <p:nvPr/>
        </p:nvSpPr>
        <p:spPr bwMode="auto">
          <a:xfrm>
            <a:off x="3490913" y="4627563"/>
            <a:ext cx="47625" cy="68263"/>
          </a:xfrm>
          <a:custGeom>
            <a:avLst/>
            <a:gdLst>
              <a:gd name="T0" fmla="*/ 0 w 30"/>
              <a:gd name="T1" fmla="*/ 0 h 43"/>
              <a:gd name="T2" fmla="*/ 0 w 30"/>
              <a:gd name="T3" fmla="*/ 21 h 43"/>
              <a:gd name="T4" fmla="*/ 2 w 30"/>
              <a:gd name="T5" fmla="*/ 29 h 43"/>
              <a:gd name="T6" fmla="*/ 5 w 30"/>
              <a:gd name="T7" fmla="*/ 34 h 43"/>
              <a:gd name="T8" fmla="*/ 8 w 30"/>
              <a:gd name="T9" fmla="*/ 39 h 43"/>
              <a:gd name="T10" fmla="*/ 13 w 30"/>
              <a:gd name="T11" fmla="*/ 41 h 43"/>
              <a:gd name="T12" fmla="*/ 18 w 30"/>
              <a:gd name="T13" fmla="*/ 43 h 43"/>
              <a:gd name="T14" fmla="*/ 22 w 30"/>
              <a:gd name="T15" fmla="*/ 41 h 43"/>
              <a:gd name="T16" fmla="*/ 27 w 30"/>
              <a:gd name="T17" fmla="*/ 38 h 43"/>
              <a:gd name="T18" fmla="*/ 30 w 30"/>
              <a:gd name="T19" fmla="*/ 3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3">
                <a:moveTo>
                  <a:pt x="0" y="0"/>
                </a:moveTo>
                <a:lnTo>
                  <a:pt x="0" y="21"/>
                </a:lnTo>
                <a:lnTo>
                  <a:pt x="2" y="29"/>
                </a:lnTo>
                <a:lnTo>
                  <a:pt x="5" y="34"/>
                </a:lnTo>
                <a:lnTo>
                  <a:pt x="8" y="39"/>
                </a:lnTo>
                <a:lnTo>
                  <a:pt x="13" y="41"/>
                </a:lnTo>
                <a:lnTo>
                  <a:pt x="18" y="43"/>
                </a:lnTo>
                <a:lnTo>
                  <a:pt x="22" y="41"/>
                </a:lnTo>
                <a:lnTo>
                  <a:pt x="27" y="38"/>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64" name="Freeform 869">
            <a:extLst>
              <a:ext uri="{FF2B5EF4-FFF2-40B4-BE49-F238E27FC236}">
                <a16:creationId xmlns:a16="http://schemas.microsoft.com/office/drawing/2014/main" id="{49463F73-8E95-ABF6-9511-26D5F831B604}"/>
              </a:ext>
            </a:extLst>
          </p:cNvPr>
          <p:cNvSpPr>
            <a:spLocks/>
          </p:cNvSpPr>
          <p:nvPr/>
        </p:nvSpPr>
        <p:spPr bwMode="auto">
          <a:xfrm>
            <a:off x="3414713" y="4632325"/>
            <a:ext cx="47625" cy="65088"/>
          </a:xfrm>
          <a:custGeom>
            <a:avLst/>
            <a:gdLst>
              <a:gd name="T0" fmla="*/ 0 w 30"/>
              <a:gd name="T1" fmla="*/ 0 h 41"/>
              <a:gd name="T2" fmla="*/ 0 w 30"/>
              <a:gd name="T3" fmla="*/ 21 h 41"/>
              <a:gd name="T4" fmla="*/ 2 w 30"/>
              <a:gd name="T5" fmla="*/ 28 h 41"/>
              <a:gd name="T6" fmla="*/ 5 w 30"/>
              <a:gd name="T7" fmla="*/ 35 h 41"/>
              <a:gd name="T8" fmla="*/ 8 w 30"/>
              <a:gd name="T9" fmla="*/ 38 h 41"/>
              <a:gd name="T10" fmla="*/ 13 w 30"/>
              <a:gd name="T11" fmla="*/ 41 h 41"/>
              <a:gd name="T12" fmla="*/ 18 w 30"/>
              <a:gd name="T13" fmla="*/ 41 h 41"/>
              <a:gd name="T14" fmla="*/ 23 w 30"/>
              <a:gd name="T15" fmla="*/ 41 h 41"/>
              <a:gd name="T16" fmla="*/ 27 w 30"/>
              <a:gd name="T17" fmla="*/ 38 h 41"/>
              <a:gd name="T18" fmla="*/ 30 w 30"/>
              <a:gd name="T19" fmla="*/ 33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1">
                <a:moveTo>
                  <a:pt x="0" y="0"/>
                </a:moveTo>
                <a:lnTo>
                  <a:pt x="0" y="21"/>
                </a:lnTo>
                <a:lnTo>
                  <a:pt x="2" y="28"/>
                </a:lnTo>
                <a:lnTo>
                  <a:pt x="5" y="35"/>
                </a:lnTo>
                <a:lnTo>
                  <a:pt x="8" y="38"/>
                </a:lnTo>
                <a:lnTo>
                  <a:pt x="13" y="41"/>
                </a:lnTo>
                <a:lnTo>
                  <a:pt x="18" y="41"/>
                </a:lnTo>
                <a:lnTo>
                  <a:pt x="23" y="41"/>
                </a:lnTo>
                <a:lnTo>
                  <a:pt x="27" y="38"/>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65" name="Freeform 870">
            <a:extLst>
              <a:ext uri="{FF2B5EF4-FFF2-40B4-BE49-F238E27FC236}">
                <a16:creationId xmlns:a16="http://schemas.microsoft.com/office/drawing/2014/main" id="{94CC38B1-44B4-E87A-D1DB-B9DBC2FA65BC}"/>
              </a:ext>
            </a:extLst>
          </p:cNvPr>
          <p:cNvSpPr>
            <a:spLocks/>
          </p:cNvSpPr>
          <p:nvPr/>
        </p:nvSpPr>
        <p:spPr bwMode="auto">
          <a:xfrm>
            <a:off x="3478213" y="4632325"/>
            <a:ext cx="47625" cy="65088"/>
          </a:xfrm>
          <a:custGeom>
            <a:avLst/>
            <a:gdLst>
              <a:gd name="T0" fmla="*/ 0 w 30"/>
              <a:gd name="T1" fmla="*/ 0 h 41"/>
              <a:gd name="T2" fmla="*/ 0 w 30"/>
              <a:gd name="T3" fmla="*/ 21 h 41"/>
              <a:gd name="T4" fmla="*/ 1 w 30"/>
              <a:gd name="T5" fmla="*/ 28 h 41"/>
              <a:gd name="T6" fmla="*/ 5 w 30"/>
              <a:gd name="T7" fmla="*/ 35 h 41"/>
              <a:gd name="T8" fmla="*/ 8 w 30"/>
              <a:gd name="T9" fmla="*/ 38 h 41"/>
              <a:gd name="T10" fmla="*/ 13 w 30"/>
              <a:gd name="T11" fmla="*/ 41 h 41"/>
              <a:gd name="T12" fmla="*/ 18 w 30"/>
              <a:gd name="T13" fmla="*/ 41 h 41"/>
              <a:gd name="T14" fmla="*/ 23 w 30"/>
              <a:gd name="T15" fmla="*/ 41 h 41"/>
              <a:gd name="T16" fmla="*/ 26 w 30"/>
              <a:gd name="T17" fmla="*/ 38 h 41"/>
              <a:gd name="T18" fmla="*/ 30 w 30"/>
              <a:gd name="T19" fmla="*/ 33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1">
                <a:moveTo>
                  <a:pt x="0" y="0"/>
                </a:moveTo>
                <a:lnTo>
                  <a:pt x="0" y="21"/>
                </a:lnTo>
                <a:lnTo>
                  <a:pt x="1" y="28"/>
                </a:lnTo>
                <a:lnTo>
                  <a:pt x="5" y="35"/>
                </a:lnTo>
                <a:lnTo>
                  <a:pt x="8" y="38"/>
                </a:lnTo>
                <a:lnTo>
                  <a:pt x="13" y="41"/>
                </a:lnTo>
                <a:lnTo>
                  <a:pt x="18" y="41"/>
                </a:lnTo>
                <a:lnTo>
                  <a:pt x="23" y="41"/>
                </a:lnTo>
                <a:lnTo>
                  <a:pt x="26" y="38"/>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66" name="Freeform 871">
            <a:extLst>
              <a:ext uri="{FF2B5EF4-FFF2-40B4-BE49-F238E27FC236}">
                <a16:creationId xmlns:a16="http://schemas.microsoft.com/office/drawing/2014/main" id="{CAC3FEBD-8E9E-E639-A999-2AB4745BE022}"/>
              </a:ext>
            </a:extLst>
          </p:cNvPr>
          <p:cNvSpPr>
            <a:spLocks/>
          </p:cNvSpPr>
          <p:nvPr/>
        </p:nvSpPr>
        <p:spPr bwMode="auto">
          <a:xfrm>
            <a:off x="3443288" y="4627563"/>
            <a:ext cx="47625" cy="68263"/>
          </a:xfrm>
          <a:custGeom>
            <a:avLst/>
            <a:gdLst>
              <a:gd name="T0" fmla="*/ 0 w 30"/>
              <a:gd name="T1" fmla="*/ 0 h 43"/>
              <a:gd name="T2" fmla="*/ 0 w 30"/>
              <a:gd name="T3" fmla="*/ 23 h 43"/>
              <a:gd name="T4" fmla="*/ 2 w 30"/>
              <a:gd name="T5" fmla="*/ 29 h 43"/>
              <a:gd name="T6" fmla="*/ 5 w 30"/>
              <a:gd name="T7" fmla="*/ 34 h 43"/>
              <a:gd name="T8" fmla="*/ 9 w 30"/>
              <a:gd name="T9" fmla="*/ 39 h 43"/>
              <a:gd name="T10" fmla="*/ 14 w 30"/>
              <a:gd name="T11" fmla="*/ 41 h 43"/>
              <a:gd name="T12" fmla="*/ 18 w 30"/>
              <a:gd name="T13" fmla="*/ 43 h 43"/>
              <a:gd name="T14" fmla="*/ 22 w 30"/>
              <a:gd name="T15" fmla="*/ 41 h 43"/>
              <a:gd name="T16" fmla="*/ 27 w 30"/>
              <a:gd name="T17" fmla="*/ 39 h 43"/>
              <a:gd name="T18" fmla="*/ 30 w 30"/>
              <a:gd name="T19" fmla="*/ 3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3">
                <a:moveTo>
                  <a:pt x="0" y="0"/>
                </a:moveTo>
                <a:lnTo>
                  <a:pt x="0" y="23"/>
                </a:lnTo>
                <a:lnTo>
                  <a:pt x="2" y="29"/>
                </a:lnTo>
                <a:lnTo>
                  <a:pt x="5" y="34"/>
                </a:lnTo>
                <a:lnTo>
                  <a:pt x="9" y="39"/>
                </a:lnTo>
                <a:lnTo>
                  <a:pt x="14" y="41"/>
                </a:lnTo>
                <a:lnTo>
                  <a:pt x="18" y="43"/>
                </a:lnTo>
                <a:lnTo>
                  <a:pt x="22" y="41"/>
                </a:lnTo>
                <a:lnTo>
                  <a:pt x="27" y="39"/>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67" name="Freeform 872">
            <a:extLst>
              <a:ext uri="{FF2B5EF4-FFF2-40B4-BE49-F238E27FC236}">
                <a16:creationId xmlns:a16="http://schemas.microsoft.com/office/drawing/2014/main" id="{3FE1F16D-DF82-7187-0BD5-C3FC49428601}"/>
              </a:ext>
            </a:extLst>
          </p:cNvPr>
          <p:cNvSpPr>
            <a:spLocks/>
          </p:cNvSpPr>
          <p:nvPr/>
        </p:nvSpPr>
        <p:spPr bwMode="auto">
          <a:xfrm>
            <a:off x="3506788" y="4627563"/>
            <a:ext cx="47625" cy="68263"/>
          </a:xfrm>
          <a:custGeom>
            <a:avLst/>
            <a:gdLst>
              <a:gd name="T0" fmla="*/ 0 w 30"/>
              <a:gd name="T1" fmla="*/ 0 h 43"/>
              <a:gd name="T2" fmla="*/ 0 w 30"/>
              <a:gd name="T3" fmla="*/ 23 h 43"/>
              <a:gd name="T4" fmla="*/ 2 w 30"/>
              <a:gd name="T5" fmla="*/ 29 h 43"/>
              <a:gd name="T6" fmla="*/ 5 w 30"/>
              <a:gd name="T7" fmla="*/ 34 h 43"/>
              <a:gd name="T8" fmla="*/ 8 w 30"/>
              <a:gd name="T9" fmla="*/ 39 h 43"/>
              <a:gd name="T10" fmla="*/ 13 w 30"/>
              <a:gd name="T11" fmla="*/ 41 h 43"/>
              <a:gd name="T12" fmla="*/ 18 w 30"/>
              <a:gd name="T13" fmla="*/ 43 h 43"/>
              <a:gd name="T14" fmla="*/ 22 w 30"/>
              <a:gd name="T15" fmla="*/ 41 h 43"/>
              <a:gd name="T16" fmla="*/ 27 w 30"/>
              <a:gd name="T17" fmla="*/ 39 h 43"/>
              <a:gd name="T18" fmla="*/ 30 w 30"/>
              <a:gd name="T19" fmla="*/ 3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3">
                <a:moveTo>
                  <a:pt x="0" y="0"/>
                </a:moveTo>
                <a:lnTo>
                  <a:pt x="0" y="23"/>
                </a:lnTo>
                <a:lnTo>
                  <a:pt x="2" y="29"/>
                </a:lnTo>
                <a:lnTo>
                  <a:pt x="5" y="34"/>
                </a:lnTo>
                <a:lnTo>
                  <a:pt x="8" y="39"/>
                </a:lnTo>
                <a:lnTo>
                  <a:pt x="13" y="41"/>
                </a:lnTo>
                <a:lnTo>
                  <a:pt x="18" y="43"/>
                </a:lnTo>
                <a:lnTo>
                  <a:pt x="22" y="41"/>
                </a:lnTo>
                <a:lnTo>
                  <a:pt x="27" y="39"/>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68" name="Freeform 873">
            <a:extLst>
              <a:ext uri="{FF2B5EF4-FFF2-40B4-BE49-F238E27FC236}">
                <a16:creationId xmlns:a16="http://schemas.microsoft.com/office/drawing/2014/main" id="{AE7E1517-F81D-A5D6-9952-10E61BB8AD44}"/>
              </a:ext>
            </a:extLst>
          </p:cNvPr>
          <p:cNvSpPr>
            <a:spLocks/>
          </p:cNvSpPr>
          <p:nvPr/>
        </p:nvSpPr>
        <p:spPr bwMode="auto">
          <a:xfrm>
            <a:off x="3227388" y="4513263"/>
            <a:ext cx="471488" cy="247650"/>
          </a:xfrm>
          <a:custGeom>
            <a:avLst/>
            <a:gdLst>
              <a:gd name="T0" fmla="*/ 297 w 297"/>
              <a:gd name="T1" fmla="*/ 0 h 156"/>
              <a:gd name="T2" fmla="*/ 275 w 297"/>
              <a:gd name="T3" fmla="*/ 0 h 156"/>
              <a:gd name="T4" fmla="*/ 275 w 297"/>
              <a:gd name="T5" fmla="*/ 156 h 156"/>
              <a:gd name="T6" fmla="*/ 25 w 297"/>
              <a:gd name="T7" fmla="*/ 156 h 156"/>
              <a:gd name="T8" fmla="*/ 25 w 297"/>
              <a:gd name="T9" fmla="*/ 0 h 156"/>
              <a:gd name="T10" fmla="*/ 0 w 297"/>
              <a:gd name="T11" fmla="*/ 0 h 156"/>
            </a:gdLst>
            <a:ahLst/>
            <a:cxnLst>
              <a:cxn ang="0">
                <a:pos x="T0" y="T1"/>
              </a:cxn>
              <a:cxn ang="0">
                <a:pos x="T2" y="T3"/>
              </a:cxn>
              <a:cxn ang="0">
                <a:pos x="T4" y="T5"/>
              </a:cxn>
              <a:cxn ang="0">
                <a:pos x="T6" y="T7"/>
              </a:cxn>
              <a:cxn ang="0">
                <a:pos x="T8" y="T9"/>
              </a:cxn>
              <a:cxn ang="0">
                <a:pos x="T10" y="T11"/>
              </a:cxn>
            </a:cxnLst>
            <a:rect l="0" t="0" r="r" b="b"/>
            <a:pathLst>
              <a:path w="297" h="156">
                <a:moveTo>
                  <a:pt x="297" y="0"/>
                </a:moveTo>
                <a:lnTo>
                  <a:pt x="275" y="0"/>
                </a:lnTo>
                <a:lnTo>
                  <a:pt x="275" y="156"/>
                </a:lnTo>
                <a:lnTo>
                  <a:pt x="25" y="156"/>
                </a:lnTo>
                <a:lnTo>
                  <a:pt x="25" y="0"/>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69" name="Freeform 874">
            <a:extLst>
              <a:ext uri="{FF2B5EF4-FFF2-40B4-BE49-F238E27FC236}">
                <a16:creationId xmlns:a16="http://schemas.microsoft.com/office/drawing/2014/main" id="{2FBCFCEC-9838-7BD8-03B9-FC8BFE3B66B8}"/>
              </a:ext>
            </a:extLst>
          </p:cNvPr>
          <p:cNvSpPr>
            <a:spLocks/>
          </p:cNvSpPr>
          <p:nvPr/>
        </p:nvSpPr>
        <p:spPr bwMode="auto">
          <a:xfrm>
            <a:off x="3270250" y="4491038"/>
            <a:ext cx="92075" cy="14288"/>
          </a:xfrm>
          <a:custGeom>
            <a:avLst/>
            <a:gdLst>
              <a:gd name="T0" fmla="*/ 58 w 58"/>
              <a:gd name="T1" fmla="*/ 5 h 9"/>
              <a:gd name="T2" fmla="*/ 58 w 58"/>
              <a:gd name="T3" fmla="*/ 0 h 9"/>
              <a:gd name="T4" fmla="*/ 0 w 58"/>
              <a:gd name="T5" fmla="*/ 0 h 9"/>
              <a:gd name="T6" fmla="*/ 0 w 58"/>
              <a:gd name="T7" fmla="*/ 9 h 9"/>
              <a:gd name="T8" fmla="*/ 58 w 58"/>
              <a:gd name="T9" fmla="*/ 9 h 9"/>
              <a:gd name="T10" fmla="*/ 58 w 58"/>
              <a:gd name="T11" fmla="*/ 5 h 9"/>
            </a:gdLst>
            <a:ahLst/>
            <a:cxnLst>
              <a:cxn ang="0">
                <a:pos x="T0" y="T1"/>
              </a:cxn>
              <a:cxn ang="0">
                <a:pos x="T2" y="T3"/>
              </a:cxn>
              <a:cxn ang="0">
                <a:pos x="T4" y="T5"/>
              </a:cxn>
              <a:cxn ang="0">
                <a:pos x="T6" y="T7"/>
              </a:cxn>
              <a:cxn ang="0">
                <a:pos x="T8" y="T9"/>
              </a:cxn>
              <a:cxn ang="0">
                <a:pos x="T10" y="T11"/>
              </a:cxn>
            </a:cxnLst>
            <a:rect l="0" t="0" r="r" b="b"/>
            <a:pathLst>
              <a:path w="58" h="9">
                <a:moveTo>
                  <a:pt x="58" y="5"/>
                </a:moveTo>
                <a:lnTo>
                  <a:pt x="58" y="0"/>
                </a:lnTo>
                <a:lnTo>
                  <a:pt x="0" y="0"/>
                </a:lnTo>
                <a:lnTo>
                  <a:pt x="0" y="9"/>
                </a:lnTo>
                <a:lnTo>
                  <a:pt x="58" y="9"/>
                </a:lnTo>
                <a:lnTo>
                  <a:pt x="58"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70" name="Freeform 875">
            <a:extLst>
              <a:ext uri="{FF2B5EF4-FFF2-40B4-BE49-F238E27FC236}">
                <a16:creationId xmlns:a16="http://schemas.microsoft.com/office/drawing/2014/main" id="{1B70DBBC-DAF9-12D2-1A5D-E723059790C1}"/>
              </a:ext>
            </a:extLst>
          </p:cNvPr>
          <p:cNvSpPr>
            <a:spLocks/>
          </p:cNvSpPr>
          <p:nvPr/>
        </p:nvSpPr>
        <p:spPr bwMode="auto">
          <a:xfrm>
            <a:off x="3551238" y="4484688"/>
            <a:ext cx="107950" cy="15875"/>
          </a:xfrm>
          <a:custGeom>
            <a:avLst/>
            <a:gdLst>
              <a:gd name="T0" fmla="*/ 0 w 68"/>
              <a:gd name="T1" fmla="*/ 5 h 10"/>
              <a:gd name="T2" fmla="*/ 0 w 68"/>
              <a:gd name="T3" fmla="*/ 10 h 10"/>
              <a:gd name="T4" fmla="*/ 68 w 68"/>
              <a:gd name="T5" fmla="*/ 10 h 10"/>
              <a:gd name="T6" fmla="*/ 68 w 68"/>
              <a:gd name="T7" fmla="*/ 0 h 10"/>
              <a:gd name="T8" fmla="*/ 0 w 68"/>
              <a:gd name="T9" fmla="*/ 0 h 10"/>
              <a:gd name="T10" fmla="*/ 0 w 68"/>
              <a:gd name="T11" fmla="*/ 5 h 10"/>
            </a:gdLst>
            <a:ahLst/>
            <a:cxnLst>
              <a:cxn ang="0">
                <a:pos x="T0" y="T1"/>
              </a:cxn>
              <a:cxn ang="0">
                <a:pos x="T2" y="T3"/>
              </a:cxn>
              <a:cxn ang="0">
                <a:pos x="T4" y="T5"/>
              </a:cxn>
              <a:cxn ang="0">
                <a:pos x="T6" y="T7"/>
              </a:cxn>
              <a:cxn ang="0">
                <a:pos x="T8" y="T9"/>
              </a:cxn>
              <a:cxn ang="0">
                <a:pos x="T10" y="T11"/>
              </a:cxn>
            </a:cxnLst>
            <a:rect l="0" t="0" r="r" b="b"/>
            <a:pathLst>
              <a:path w="68" h="10">
                <a:moveTo>
                  <a:pt x="0" y="5"/>
                </a:moveTo>
                <a:lnTo>
                  <a:pt x="0" y="10"/>
                </a:lnTo>
                <a:lnTo>
                  <a:pt x="68" y="10"/>
                </a:lnTo>
                <a:lnTo>
                  <a:pt x="68" y="0"/>
                </a:lnTo>
                <a:lnTo>
                  <a:pt x="0" y="0"/>
                </a:lnTo>
                <a:lnTo>
                  <a:pt x="0"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71" name="Rectangle 876">
            <a:extLst>
              <a:ext uri="{FF2B5EF4-FFF2-40B4-BE49-F238E27FC236}">
                <a16:creationId xmlns:a16="http://schemas.microsoft.com/office/drawing/2014/main" id="{11A60EA9-549E-AD54-4021-A4F71D87534F}"/>
              </a:ext>
            </a:extLst>
          </p:cNvPr>
          <p:cNvSpPr>
            <a:spLocks noChangeArrowheads="1"/>
          </p:cNvSpPr>
          <p:nvPr/>
        </p:nvSpPr>
        <p:spPr bwMode="auto">
          <a:xfrm>
            <a:off x="3006725" y="5872163"/>
            <a:ext cx="4524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Sample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672" name="Freeform 877">
            <a:extLst>
              <a:ext uri="{FF2B5EF4-FFF2-40B4-BE49-F238E27FC236}">
                <a16:creationId xmlns:a16="http://schemas.microsoft.com/office/drawing/2014/main" id="{DA4BDCC0-39E2-087A-5A72-3DB22995CC4E}"/>
              </a:ext>
            </a:extLst>
          </p:cNvPr>
          <p:cNvSpPr>
            <a:spLocks/>
          </p:cNvSpPr>
          <p:nvPr/>
        </p:nvSpPr>
        <p:spPr bwMode="auto">
          <a:xfrm>
            <a:off x="2508250" y="5308600"/>
            <a:ext cx="165100" cy="14288"/>
          </a:xfrm>
          <a:custGeom>
            <a:avLst/>
            <a:gdLst>
              <a:gd name="T0" fmla="*/ 104 w 104"/>
              <a:gd name="T1" fmla="*/ 4 h 9"/>
              <a:gd name="T2" fmla="*/ 104 w 104"/>
              <a:gd name="T3" fmla="*/ 0 h 9"/>
              <a:gd name="T4" fmla="*/ 0 w 104"/>
              <a:gd name="T5" fmla="*/ 0 h 9"/>
              <a:gd name="T6" fmla="*/ 0 w 104"/>
              <a:gd name="T7" fmla="*/ 9 h 9"/>
              <a:gd name="T8" fmla="*/ 104 w 104"/>
              <a:gd name="T9" fmla="*/ 9 h 9"/>
              <a:gd name="T10" fmla="*/ 104 w 104"/>
              <a:gd name="T11" fmla="*/ 4 h 9"/>
            </a:gdLst>
            <a:ahLst/>
            <a:cxnLst>
              <a:cxn ang="0">
                <a:pos x="T0" y="T1"/>
              </a:cxn>
              <a:cxn ang="0">
                <a:pos x="T2" y="T3"/>
              </a:cxn>
              <a:cxn ang="0">
                <a:pos x="T4" y="T5"/>
              </a:cxn>
              <a:cxn ang="0">
                <a:pos x="T6" y="T7"/>
              </a:cxn>
              <a:cxn ang="0">
                <a:pos x="T8" y="T9"/>
              </a:cxn>
              <a:cxn ang="0">
                <a:pos x="T10" y="T11"/>
              </a:cxn>
            </a:cxnLst>
            <a:rect l="0" t="0" r="r" b="b"/>
            <a:pathLst>
              <a:path w="104" h="9">
                <a:moveTo>
                  <a:pt x="104" y="4"/>
                </a:moveTo>
                <a:lnTo>
                  <a:pt x="104" y="0"/>
                </a:lnTo>
                <a:lnTo>
                  <a:pt x="0" y="0"/>
                </a:lnTo>
                <a:lnTo>
                  <a:pt x="0" y="9"/>
                </a:lnTo>
                <a:lnTo>
                  <a:pt x="104" y="9"/>
                </a:lnTo>
                <a:lnTo>
                  <a:pt x="104" y="4"/>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73" name="Freeform 878">
            <a:extLst>
              <a:ext uri="{FF2B5EF4-FFF2-40B4-BE49-F238E27FC236}">
                <a16:creationId xmlns:a16="http://schemas.microsoft.com/office/drawing/2014/main" id="{0B03080B-563C-4430-2092-68F7180D2570}"/>
              </a:ext>
            </a:extLst>
          </p:cNvPr>
          <p:cNvSpPr>
            <a:spLocks/>
          </p:cNvSpPr>
          <p:nvPr/>
        </p:nvSpPr>
        <p:spPr bwMode="auto">
          <a:xfrm>
            <a:off x="2268538" y="5308600"/>
            <a:ext cx="168275" cy="14288"/>
          </a:xfrm>
          <a:custGeom>
            <a:avLst/>
            <a:gdLst>
              <a:gd name="T0" fmla="*/ 106 w 106"/>
              <a:gd name="T1" fmla="*/ 4 h 9"/>
              <a:gd name="T2" fmla="*/ 106 w 106"/>
              <a:gd name="T3" fmla="*/ 0 h 9"/>
              <a:gd name="T4" fmla="*/ 0 w 106"/>
              <a:gd name="T5" fmla="*/ 0 h 9"/>
              <a:gd name="T6" fmla="*/ 0 w 106"/>
              <a:gd name="T7" fmla="*/ 9 h 9"/>
              <a:gd name="T8" fmla="*/ 106 w 106"/>
              <a:gd name="T9" fmla="*/ 9 h 9"/>
              <a:gd name="T10" fmla="*/ 106 w 106"/>
              <a:gd name="T11" fmla="*/ 4 h 9"/>
            </a:gdLst>
            <a:ahLst/>
            <a:cxnLst>
              <a:cxn ang="0">
                <a:pos x="T0" y="T1"/>
              </a:cxn>
              <a:cxn ang="0">
                <a:pos x="T2" y="T3"/>
              </a:cxn>
              <a:cxn ang="0">
                <a:pos x="T4" y="T5"/>
              </a:cxn>
              <a:cxn ang="0">
                <a:pos x="T6" y="T7"/>
              </a:cxn>
              <a:cxn ang="0">
                <a:pos x="T8" y="T9"/>
              </a:cxn>
              <a:cxn ang="0">
                <a:pos x="T10" y="T11"/>
              </a:cxn>
            </a:cxnLst>
            <a:rect l="0" t="0" r="r" b="b"/>
            <a:pathLst>
              <a:path w="106" h="9">
                <a:moveTo>
                  <a:pt x="106" y="4"/>
                </a:moveTo>
                <a:lnTo>
                  <a:pt x="106" y="0"/>
                </a:lnTo>
                <a:lnTo>
                  <a:pt x="0" y="0"/>
                </a:lnTo>
                <a:lnTo>
                  <a:pt x="0" y="9"/>
                </a:lnTo>
                <a:lnTo>
                  <a:pt x="106" y="9"/>
                </a:lnTo>
                <a:lnTo>
                  <a:pt x="106" y="4"/>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74" name="Freeform 879">
            <a:extLst>
              <a:ext uri="{FF2B5EF4-FFF2-40B4-BE49-F238E27FC236}">
                <a16:creationId xmlns:a16="http://schemas.microsoft.com/office/drawing/2014/main" id="{A166DB3A-8C20-ED68-3A83-6293EA751FF2}"/>
              </a:ext>
            </a:extLst>
          </p:cNvPr>
          <p:cNvSpPr>
            <a:spLocks/>
          </p:cNvSpPr>
          <p:nvPr/>
        </p:nvSpPr>
        <p:spPr bwMode="auto">
          <a:xfrm>
            <a:off x="2581275" y="5930900"/>
            <a:ext cx="407988" cy="147638"/>
          </a:xfrm>
          <a:custGeom>
            <a:avLst/>
            <a:gdLst>
              <a:gd name="T0" fmla="*/ 257 w 257"/>
              <a:gd name="T1" fmla="*/ 0 h 93"/>
              <a:gd name="T2" fmla="*/ 0 w 257"/>
              <a:gd name="T3" fmla="*/ 86 h 93"/>
              <a:gd name="T4" fmla="*/ 20 w 257"/>
              <a:gd name="T5" fmla="*/ 93 h 93"/>
            </a:gdLst>
            <a:ahLst/>
            <a:cxnLst>
              <a:cxn ang="0">
                <a:pos x="T0" y="T1"/>
              </a:cxn>
              <a:cxn ang="0">
                <a:pos x="T2" y="T3"/>
              </a:cxn>
              <a:cxn ang="0">
                <a:pos x="T4" y="T5"/>
              </a:cxn>
            </a:cxnLst>
            <a:rect l="0" t="0" r="r" b="b"/>
            <a:pathLst>
              <a:path w="257" h="93">
                <a:moveTo>
                  <a:pt x="257" y="0"/>
                </a:moveTo>
                <a:lnTo>
                  <a:pt x="0" y="86"/>
                </a:lnTo>
                <a:lnTo>
                  <a:pt x="20" y="93"/>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75" name="Freeform 880">
            <a:extLst>
              <a:ext uri="{FF2B5EF4-FFF2-40B4-BE49-F238E27FC236}">
                <a16:creationId xmlns:a16="http://schemas.microsoft.com/office/drawing/2014/main" id="{DDDE50B6-B523-FB5B-919C-87769670501A}"/>
              </a:ext>
            </a:extLst>
          </p:cNvPr>
          <p:cNvSpPr>
            <a:spLocks/>
          </p:cNvSpPr>
          <p:nvPr/>
        </p:nvSpPr>
        <p:spPr bwMode="auto">
          <a:xfrm>
            <a:off x="2744788" y="5741988"/>
            <a:ext cx="246063" cy="96838"/>
          </a:xfrm>
          <a:custGeom>
            <a:avLst/>
            <a:gdLst>
              <a:gd name="T0" fmla="*/ 155 w 155"/>
              <a:gd name="T1" fmla="*/ 0 h 61"/>
              <a:gd name="T2" fmla="*/ 0 w 155"/>
              <a:gd name="T3" fmla="*/ 44 h 61"/>
              <a:gd name="T4" fmla="*/ 25 w 155"/>
              <a:gd name="T5" fmla="*/ 61 h 61"/>
            </a:gdLst>
            <a:ahLst/>
            <a:cxnLst>
              <a:cxn ang="0">
                <a:pos x="T0" y="T1"/>
              </a:cxn>
              <a:cxn ang="0">
                <a:pos x="T2" y="T3"/>
              </a:cxn>
              <a:cxn ang="0">
                <a:pos x="T4" y="T5"/>
              </a:cxn>
            </a:cxnLst>
            <a:rect l="0" t="0" r="r" b="b"/>
            <a:pathLst>
              <a:path w="155" h="61">
                <a:moveTo>
                  <a:pt x="155" y="0"/>
                </a:moveTo>
                <a:lnTo>
                  <a:pt x="0" y="44"/>
                </a:lnTo>
                <a:lnTo>
                  <a:pt x="25" y="61"/>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76" name="Freeform 881">
            <a:extLst>
              <a:ext uri="{FF2B5EF4-FFF2-40B4-BE49-F238E27FC236}">
                <a16:creationId xmlns:a16="http://schemas.microsoft.com/office/drawing/2014/main" id="{0610A3BF-F965-DCFB-9BDF-04689C21EE62}"/>
              </a:ext>
            </a:extLst>
          </p:cNvPr>
          <p:cNvSpPr>
            <a:spLocks/>
          </p:cNvSpPr>
          <p:nvPr/>
        </p:nvSpPr>
        <p:spPr bwMode="auto">
          <a:xfrm>
            <a:off x="2557463" y="5534025"/>
            <a:ext cx="423863" cy="84138"/>
          </a:xfrm>
          <a:custGeom>
            <a:avLst/>
            <a:gdLst>
              <a:gd name="T0" fmla="*/ 267 w 267"/>
              <a:gd name="T1" fmla="*/ 0 h 53"/>
              <a:gd name="T2" fmla="*/ 0 w 267"/>
              <a:gd name="T3" fmla="*/ 45 h 53"/>
              <a:gd name="T4" fmla="*/ 15 w 267"/>
              <a:gd name="T5" fmla="*/ 53 h 53"/>
            </a:gdLst>
            <a:ahLst/>
            <a:cxnLst>
              <a:cxn ang="0">
                <a:pos x="T0" y="T1"/>
              </a:cxn>
              <a:cxn ang="0">
                <a:pos x="T2" y="T3"/>
              </a:cxn>
              <a:cxn ang="0">
                <a:pos x="T4" y="T5"/>
              </a:cxn>
            </a:cxnLst>
            <a:rect l="0" t="0" r="r" b="b"/>
            <a:pathLst>
              <a:path w="267" h="53">
                <a:moveTo>
                  <a:pt x="267" y="0"/>
                </a:moveTo>
                <a:lnTo>
                  <a:pt x="0" y="45"/>
                </a:lnTo>
                <a:lnTo>
                  <a:pt x="15" y="53"/>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77" name="Freeform 882">
            <a:extLst>
              <a:ext uri="{FF2B5EF4-FFF2-40B4-BE49-F238E27FC236}">
                <a16:creationId xmlns:a16="http://schemas.microsoft.com/office/drawing/2014/main" id="{C356F3A7-FB4B-876D-A3B4-BF2657B9C908}"/>
              </a:ext>
            </a:extLst>
          </p:cNvPr>
          <p:cNvSpPr>
            <a:spLocks/>
          </p:cNvSpPr>
          <p:nvPr/>
        </p:nvSpPr>
        <p:spPr bwMode="auto">
          <a:xfrm>
            <a:off x="2657475" y="5246688"/>
            <a:ext cx="341313" cy="58738"/>
          </a:xfrm>
          <a:custGeom>
            <a:avLst/>
            <a:gdLst>
              <a:gd name="T0" fmla="*/ 215 w 215"/>
              <a:gd name="T1" fmla="*/ 0 h 37"/>
              <a:gd name="T2" fmla="*/ 8 w 215"/>
              <a:gd name="T3" fmla="*/ 37 h 37"/>
              <a:gd name="T4" fmla="*/ 0 w 215"/>
              <a:gd name="T5" fmla="*/ 24 h 37"/>
            </a:gdLst>
            <a:ahLst/>
            <a:cxnLst>
              <a:cxn ang="0">
                <a:pos x="T0" y="T1"/>
              </a:cxn>
              <a:cxn ang="0">
                <a:pos x="T2" y="T3"/>
              </a:cxn>
              <a:cxn ang="0">
                <a:pos x="T4" y="T5"/>
              </a:cxn>
            </a:cxnLst>
            <a:rect l="0" t="0" r="r" b="b"/>
            <a:pathLst>
              <a:path w="215" h="37">
                <a:moveTo>
                  <a:pt x="215" y="0"/>
                </a:moveTo>
                <a:lnTo>
                  <a:pt x="8" y="37"/>
                </a:lnTo>
                <a:lnTo>
                  <a:pt x="0" y="24"/>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78" name="Rectangle 883">
            <a:extLst>
              <a:ext uri="{FF2B5EF4-FFF2-40B4-BE49-F238E27FC236}">
                <a16:creationId xmlns:a16="http://schemas.microsoft.com/office/drawing/2014/main" id="{2E2CFF60-E4FA-63B3-6CD5-BCD53E54A5B9}"/>
              </a:ext>
            </a:extLst>
          </p:cNvPr>
          <p:cNvSpPr>
            <a:spLocks noChangeArrowheads="1"/>
          </p:cNvSpPr>
          <p:nvPr/>
        </p:nvSpPr>
        <p:spPr bwMode="auto">
          <a:xfrm>
            <a:off x="2268538" y="4476750"/>
            <a:ext cx="42863" cy="317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79" name="Rectangle 884">
            <a:extLst>
              <a:ext uri="{FF2B5EF4-FFF2-40B4-BE49-F238E27FC236}">
                <a16:creationId xmlns:a16="http://schemas.microsoft.com/office/drawing/2014/main" id="{36CE7862-C9DF-65A1-93BA-F05CA1451998}"/>
              </a:ext>
            </a:extLst>
          </p:cNvPr>
          <p:cNvSpPr>
            <a:spLocks noChangeArrowheads="1"/>
          </p:cNvSpPr>
          <p:nvPr/>
        </p:nvSpPr>
        <p:spPr bwMode="auto">
          <a:xfrm>
            <a:off x="2609850" y="4479925"/>
            <a:ext cx="30163" cy="317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80" name="Rectangle 885">
            <a:extLst>
              <a:ext uri="{FF2B5EF4-FFF2-40B4-BE49-F238E27FC236}">
                <a16:creationId xmlns:a16="http://schemas.microsoft.com/office/drawing/2014/main" id="{040ADC79-D8CA-8023-0130-21B5C2A11776}"/>
              </a:ext>
            </a:extLst>
          </p:cNvPr>
          <p:cNvSpPr>
            <a:spLocks noChangeArrowheads="1"/>
          </p:cNvSpPr>
          <p:nvPr/>
        </p:nvSpPr>
        <p:spPr bwMode="auto">
          <a:xfrm>
            <a:off x="2297113" y="4476750"/>
            <a:ext cx="344488" cy="317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81" name="Freeform 886">
            <a:extLst>
              <a:ext uri="{FF2B5EF4-FFF2-40B4-BE49-F238E27FC236}">
                <a16:creationId xmlns:a16="http://schemas.microsoft.com/office/drawing/2014/main" id="{5842E9F3-57C9-1B87-3714-CC92C6EA8751}"/>
              </a:ext>
            </a:extLst>
          </p:cNvPr>
          <p:cNvSpPr>
            <a:spLocks/>
          </p:cNvSpPr>
          <p:nvPr/>
        </p:nvSpPr>
        <p:spPr bwMode="auto">
          <a:xfrm>
            <a:off x="2465388" y="3911600"/>
            <a:ext cx="996950" cy="584200"/>
          </a:xfrm>
          <a:custGeom>
            <a:avLst/>
            <a:gdLst>
              <a:gd name="T0" fmla="*/ 625 w 628"/>
              <a:gd name="T1" fmla="*/ 330 h 368"/>
              <a:gd name="T2" fmla="*/ 610 w 628"/>
              <a:gd name="T3" fmla="*/ 262 h 368"/>
              <a:gd name="T4" fmla="*/ 585 w 628"/>
              <a:gd name="T5" fmla="*/ 204 h 368"/>
              <a:gd name="T6" fmla="*/ 550 w 628"/>
              <a:gd name="T7" fmla="*/ 154 h 368"/>
              <a:gd name="T8" fmla="*/ 507 w 628"/>
              <a:gd name="T9" fmla="*/ 115 h 368"/>
              <a:gd name="T10" fmla="*/ 457 w 628"/>
              <a:gd name="T11" fmla="*/ 85 h 368"/>
              <a:gd name="T12" fmla="*/ 403 w 628"/>
              <a:gd name="T13" fmla="*/ 63 h 368"/>
              <a:gd name="T14" fmla="*/ 346 w 628"/>
              <a:gd name="T15" fmla="*/ 52 h 368"/>
              <a:gd name="T16" fmla="*/ 288 w 628"/>
              <a:gd name="T17" fmla="*/ 50 h 368"/>
              <a:gd name="T18" fmla="*/ 230 w 628"/>
              <a:gd name="T19" fmla="*/ 60 h 368"/>
              <a:gd name="T20" fmla="*/ 177 w 628"/>
              <a:gd name="T21" fmla="*/ 78 h 368"/>
              <a:gd name="T22" fmla="*/ 126 w 628"/>
              <a:gd name="T23" fmla="*/ 106 h 368"/>
              <a:gd name="T24" fmla="*/ 83 w 628"/>
              <a:gd name="T25" fmla="*/ 146 h 368"/>
              <a:gd name="T26" fmla="*/ 47 w 628"/>
              <a:gd name="T27" fmla="*/ 196 h 368"/>
              <a:gd name="T28" fmla="*/ 20 w 628"/>
              <a:gd name="T29" fmla="*/ 257 h 368"/>
              <a:gd name="T30" fmla="*/ 5 w 628"/>
              <a:gd name="T31" fmla="*/ 328 h 368"/>
              <a:gd name="T32" fmla="*/ 0 w 628"/>
              <a:gd name="T33" fmla="*/ 323 h 368"/>
              <a:gd name="T34" fmla="*/ 5 w 628"/>
              <a:gd name="T35" fmla="*/ 242 h 368"/>
              <a:gd name="T36" fmla="*/ 27 w 628"/>
              <a:gd name="T37" fmla="*/ 174 h 368"/>
              <a:gd name="T38" fmla="*/ 60 w 628"/>
              <a:gd name="T39" fmla="*/ 116 h 368"/>
              <a:gd name="T40" fmla="*/ 105 w 628"/>
              <a:gd name="T41" fmla="*/ 71 h 368"/>
              <a:gd name="T42" fmla="*/ 158 w 628"/>
              <a:gd name="T43" fmla="*/ 37 h 368"/>
              <a:gd name="T44" fmla="*/ 216 w 628"/>
              <a:gd name="T45" fmla="*/ 14 h 368"/>
              <a:gd name="T46" fmla="*/ 277 w 628"/>
              <a:gd name="T47" fmla="*/ 2 h 368"/>
              <a:gd name="T48" fmla="*/ 340 w 628"/>
              <a:gd name="T49" fmla="*/ 2 h 368"/>
              <a:gd name="T50" fmla="*/ 403 w 628"/>
              <a:gd name="T51" fmla="*/ 14 h 368"/>
              <a:gd name="T52" fmla="*/ 462 w 628"/>
              <a:gd name="T53" fmla="*/ 37 h 368"/>
              <a:gd name="T54" fmla="*/ 515 w 628"/>
              <a:gd name="T55" fmla="*/ 71 h 368"/>
              <a:gd name="T56" fmla="*/ 562 w 628"/>
              <a:gd name="T57" fmla="*/ 116 h 368"/>
              <a:gd name="T58" fmla="*/ 596 w 628"/>
              <a:gd name="T59" fmla="*/ 174 h 368"/>
              <a:gd name="T60" fmla="*/ 620 w 628"/>
              <a:gd name="T61" fmla="*/ 242 h 368"/>
              <a:gd name="T62" fmla="*/ 628 w 628"/>
              <a:gd name="T63" fmla="*/ 323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28" h="368">
                <a:moveTo>
                  <a:pt x="626" y="368"/>
                </a:moveTo>
                <a:lnTo>
                  <a:pt x="625" y="330"/>
                </a:lnTo>
                <a:lnTo>
                  <a:pt x="618" y="295"/>
                </a:lnTo>
                <a:lnTo>
                  <a:pt x="610" y="262"/>
                </a:lnTo>
                <a:lnTo>
                  <a:pt x="600" y="232"/>
                </a:lnTo>
                <a:lnTo>
                  <a:pt x="585" y="204"/>
                </a:lnTo>
                <a:lnTo>
                  <a:pt x="568" y="179"/>
                </a:lnTo>
                <a:lnTo>
                  <a:pt x="550" y="154"/>
                </a:lnTo>
                <a:lnTo>
                  <a:pt x="529" y="134"/>
                </a:lnTo>
                <a:lnTo>
                  <a:pt x="507" y="115"/>
                </a:lnTo>
                <a:lnTo>
                  <a:pt x="482" y="98"/>
                </a:lnTo>
                <a:lnTo>
                  <a:pt x="457" y="85"/>
                </a:lnTo>
                <a:lnTo>
                  <a:pt x="431" y="73"/>
                </a:lnTo>
                <a:lnTo>
                  <a:pt x="403" y="63"/>
                </a:lnTo>
                <a:lnTo>
                  <a:pt x="374" y="57"/>
                </a:lnTo>
                <a:lnTo>
                  <a:pt x="346" y="52"/>
                </a:lnTo>
                <a:lnTo>
                  <a:pt x="317" y="50"/>
                </a:lnTo>
                <a:lnTo>
                  <a:pt x="288" y="50"/>
                </a:lnTo>
                <a:lnTo>
                  <a:pt x="260" y="53"/>
                </a:lnTo>
                <a:lnTo>
                  <a:pt x="230" y="60"/>
                </a:lnTo>
                <a:lnTo>
                  <a:pt x="204" y="67"/>
                </a:lnTo>
                <a:lnTo>
                  <a:pt x="177" y="78"/>
                </a:lnTo>
                <a:lnTo>
                  <a:pt x="151" y="91"/>
                </a:lnTo>
                <a:lnTo>
                  <a:pt x="126" y="106"/>
                </a:lnTo>
                <a:lnTo>
                  <a:pt x="105" y="124"/>
                </a:lnTo>
                <a:lnTo>
                  <a:pt x="83" y="146"/>
                </a:lnTo>
                <a:lnTo>
                  <a:pt x="63" y="169"/>
                </a:lnTo>
                <a:lnTo>
                  <a:pt x="47" y="196"/>
                </a:lnTo>
                <a:lnTo>
                  <a:pt x="32" y="225"/>
                </a:lnTo>
                <a:lnTo>
                  <a:pt x="20" y="257"/>
                </a:lnTo>
                <a:lnTo>
                  <a:pt x="12" y="290"/>
                </a:lnTo>
                <a:lnTo>
                  <a:pt x="5" y="328"/>
                </a:lnTo>
                <a:lnTo>
                  <a:pt x="4" y="368"/>
                </a:lnTo>
                <a:lnTo>
                  <a:pt x="0" y="323"/>
                </a:lnTo>
                <a:lnTo>
                  <a:pt x="0" y="282"/>
                </a:lnTo>
                <a:lnTo>
                  <a:pt x="5" y="242"/>
                </a:lnTo>
                <a:lnTo>
                  <a:pt x="15" y="207"/>
                </a:lnTo>
                <a:lnTo>
                  <a:pt x="27" y="174"/>
                </a:lnTo>
                <a:lnTo>
                  <a:pt x="42" y="144"/>
                </a:lnTo>
                <a:lnTo>
                  <a:pt x="60" y="116"/>
                </a:lnTo>
                <a:lnTo>
                  <a:pt x="81" y="93"/>
                </a:lnTo>
                <a:lnTo>
                  <a:pt x="105" y="71"/>
                </a:lnTo>
                <a:lnTo>
                  <a:pt x="129" y="53"/>
                </a:lnTo>
                <a:lnTo>
                  <a:pt x="158" y="37"/>
                </a:lnTo>
                <a:lnTo>
                  <a:pt x="186" y="23"/>
                </a:lnTo>
                <a:lnTo>
                  <a:pt x="216" y="14"/>
                </a:lnTo>
                <a:lnTo>
                  <a:pt x="245" y="7"/>
                </a:lnTo>
                <a:lnTo>
                  <a:pt x="277" y="2"/>
                </a:lnTo>
                <a:lnTo>
                  <a:pt x="308" y="0"/>
                </a:lnTo>
                <a:lnTo>
                  <a:pt x="340" y="2"/>
                </a:lnTo>
                <a:lnTo>
                  <a:pt x="371" y="7"/>
                </a:lnTo>
                <a:lnTo>
                  <a:pt x="403" y="14"/>
                </a:lnTo>
                <a:lnTo>
                  <a:pt x="432" y="23"/>
                </a:lnTo>
                <a:lnTo>
                  <a:pt x="462" y="37"/>
                </a:lnTo>
                <a:lnTo>
                  <a:pt x="489" y="52"/>
                </a:lnTo>
                <a:lnTo>
                  <a:pt x="515" y="71"/>
                </a:lnTo>
                <a:lnTo>
                  <a:pt x="538" y="93"/>
                </a:lnTo>
                <a:lnTo>
                  <a:pt x="562" y="116"/>
                </a:lnTo>
                <a:lnTo>
                  <a:pt x="580" y="144"/>
                </a:lnTo>
                <a:lnTo>
                  <a:pt x="596" y="174"/>
                </a:lnTo>
                <a:lnTo>
                  <a:pt x="610" y="207"/>
                </a:lnTo>
                <a:lnTo>
                  <a:pt x="620" y="242"/>
                </a:lnTo>
                <a:lnTo>
                  <a:pt x="626" y="282"/>
                </a:lnTo>
                <a:lnTo>
                  <a:pt x="628" y="323"/>
                </a:lnTo>
                <a:lnTo>
                  <a:pt x="626" y="368"/>
                </a:lnTo>
                <a:close/>
              </a:path>
            </a:pathLst>
          </a:custGeom>
          <a:solidFill>
            <a:srgbClr val="FEF8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82" name="Freeform 887">
            <a:extLst>
              <a:ext uri="{FF2B5EF4-FFF2-40B4-BE49-F238E27FC236}">
                <a16:creationId xmlns:a16="http://schemas.microsoft.com/office/drawing/2014/main" id="{CBDF50F0-A47E-2A53-9D41-DB55447AC57A}"/>
              </a:ext>
            </a:extLst>
          </p:cNvPr>
          <p:cNvSpPr>
            <a:spLocks/>
          </p:cNvSpPr>
          <p:nvPr/>
        </p:nvSpPr>
        <p:spPr bwMode="auto">
          <a:xfrm>
            <a:off x="2465388" y="3911600"/>
            <a:ext cx="996950" cy="584200"/>
          </a:xfrm>
          <a:custGeom>
            <a:avLst/>
            <a:gdLst>
              <a:gd name="T0" fmla="*/ 625 w 628"/>
              <a:gd name="T1" fmla="*/ 330 h 368"/>
              <a:gd name="T2" fmla="*/ 610 w 628"/>
              <a:gd name="T3" fmla="*/ 262 h 368"/>
              <a:gd name="T4" fmla="*/ 585 w 628"/>
              <a:gd name="T5" fmla="*/ 204 h 368"/>
              <a:gd name="T6" fmla="*/ 550 w 628"/>
              <a:gd name="T7" fmla="*/ 154 h 368"/>
              <a:gd name="T8" fmla="*/ 507 w 628"/>
              <a:gd name="T9" fmla="*/ 115 h 368"/>
              <a:gd name="T10" fmla="*/ 457 w 628"/>
              <a:gd name="T11" fmla="*/ 85 h 368"/>
              <a:gd name="T12" fmla="*/ 403 w 628"/>
              <a:gd name="T13" fmla="*/ 63 h 368"/>
              <a:gd name="T14" fmla="*/ 346 w 628"/>
              <a:gd name="T15" fmla="*/ 52 h 368"/>
              <a:gd name="T16" fmla="*/ 288 w 628"/>
              <a:gd name="T17" fmla="*/ 50 h 368"/>
              <a:gd name="T18" fmla="*/ 230 w 628"/>
              <a:gd name="T19" fmla="*/ 60 h 368"/>
              <a:gd name="T20" fmla="*/ 177 w 628"/>
              <a:gd name="T21" fmla="*/ 78 h 368"/>
              <a:gd name="T22" fmla="*/ 126 w 628"/>
              <a:gd name="T23" fmla="*/ 106 h 368"/>
              <a:gd name="T24" fmla="*/ 83 w 628"/>
              <a:gd name="T25" fmla="*/ 146 h 368"/>
              <a:gd name="T26" fmla="*/ 47 w 628"/>
              <a:gd name="T27" fmla="*/ 196 h 368"/>
              <a:gd name="T28" fmla="*/ 20 w 628"/>
              <a:gd name="T29" fmla="*/ 257 h 368"/>
              <a:gd name="T30" fmla="*/ 5 w 628"/>
              <a:gd name="T31" fmla="*/ 328 h 368"/>
              <a:gd name="T32" fmla="*/ 0 w 628"/>
              <a:gd name="T33" fmla="*/ 323 h 368"/>
              <a:gd name="T34" fmla="*/ 5 w 628"/>
              <a:gd name="T35" fmla="*/ 242 h 368"/>
              <a:gd name="T36" fmla="*/ 27 w 628"/>
              <a:gd name="T37" fmla="*/ 174 h 368"/>
              <a:gd name="T38" fmla="*/ 60 w 628"/>
              <a:gd name="T39" fmla="*/ 116 h 368"/>
              <a:gd name="T40" fmla="*/ 105 w 628"/>
              <a:gd name="T41" fmla="*/ 71 h 368"/>
              <a:gd name="T42" fmla="*/ 158 w 628"/>
              <a:gd name="T43" fmla="*/ 37 h 368"/>
              <a:gd name="T44" fmla="*/ 216 w 628"/>
              <a:gd name="T45" fmla="*/ 14 h 368"/>
              <a:gd name="T46" fmla="*/ 277 w 628"/>
              <a:gd name="T47" fmla="*/ 2 h 368"/>
              <a:gd name="T48" fmla="*/ 340 w 628"/>
              <a:gd name="T49" fmla="*/ 2 h 368"/>
              <a:gd name="T50" fmla="*/ 403 w 628"/>
              <a:gd name="T51" fmla="*/ 14 h 368"/>
              <a:gd name="T52" fmla="*/ 462 w 628"/>
              <a:gd name="T53" fmla="*/ 37 h 368"/>
              <a:gd name="T54" fmla="*/ 515 w 628"/>
              <a:gd name="T55" fmla="*/ 71 h 368"/>
              <a:gd name="T56" fmla="*/ 562 w 628"/>
              <a:gd name="T57" fmla="*/ 116 h 368"/>
              <a:gd name="T58" fmla="*/ 596 w 628"/>
              <a:gd name="T59" fmla="*/ 174 h 368"/>
              <a:gd name="T60" fmla="*/ 620 w 628"/>
              <a:gd name="T61" fmla="*/ 242 h 368"/>
              <a:gd name="T62" fmla="*/ 628 w 628"/>
              <a:gd name="T63" fmla="*/ 323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28" h="368">
                <a:moveTo>
                  <a:pt x="626" y="368"/>
                </a:moveTo>
                <a:lnTo>
                  <a:pt x="625" y="330"/>
                </a:lnTo>
                <a:lnTo>
                  <a:pt x="618" y="295"/>
                </a:lnTo>
                <a:lnTo>
                  <a:pt x="610" y="262"/>
                </a:lnTo>
                <a:lnTo>
                  <a:pt x="600" y="232"/>
                </a:lnTo>
                <a:lnTo>
                  <a:pt x="585" y="204"/>
                </a:lnTo>
                <a:lnTo>
                  <a:pt x="568" y="179"/>
                </a:lnTo>
                <a:lnTo>
                  <a:pt x="550" y="154"/>
                </a:lnTo>
                <a:lnTo>
                  <a:pt x="529" y="134"/>
                </a:lnTo>
                <a:lnTo>
                  <a:pt x="507" y="115"/>
                </a:lnTo>
                <a:lnTo>
                  <a:pt x="482" y="98"/>
                </a:lnTo>
                <a:lnTo>
                  <a:pt x="457" y="85"/>
                </a:lnTo>
                <a:lnTo>
                  <a:pt x="431" y="73"/>
                </a:lnTo>
                <a:lnTo>
                  <a:pt x="403" y="63"/>
                </a:lnTo>
                <a:lnTo>
                  <a:pt x="374" y="57"/>
                </a:lnTo>
                <a:lnTo>
                  <a:pt x="346" y="52"/>
                </a:lnTo>
                <a:lnTo>
                  <a:pt x="317" y="50"/>
                </a:lnTo>
                <a:lnTo>
                  <a:pt x="288" y="50"/>
                </a:lnTo>
                <a:lnTo>
                  <a:pt x="260" y="53"/>
                </a:lnTo>
                <a:lnTo>
                  <a:pt x="230" y="60"/>
                </a:lnTo>
                <a:lnTo>
                  <a:pt x="204" y="67"/>
                </a:lnTo>
                <a:lnTo>
                  <a:pt x="177" y="78"/>
                </a:lnTo>
                <a:lnTo>
                  <a:pt x="151" y="91"/>
                </a:lnTo>
                <a:lnTo>
                  <a:pt x="126" y="106"/>
                </a:lnTo>
                <a:lnTo>
                  <a:pt x="105" y="124"/>
                </a:lnTo>
                <a:lnTo>
                  <a:pt x="83" y="146"/>
                </a:lnTo>
                <a:lnTo>
                  <a:pt x="63" y="169"/>
                </a:lnTo>
                <a:lnTo>
                  <a:pt x="47" y="196"/>
                </a:lnTo>
                <a:lnTo>
                  <a:pt x="32" y="225"/>
                </a:lnTo>
                <a:lnTo>
                  <a:pt x="20" y="257"/>
                </a:lnTo>
                <a:lnTo>
                  <a:pt x="12" y="290"/>
                </a:lnTo>
                <a:lnTo>
                  <a:pt x="5" y="328"/>
                </a:lnTo>
                <a:lnTo>
                  <a:pt x="4" y="368"/>
                </a:lnTo>
                <a:lnTo>
                  <a:pt x="0" y="323"/>
                </a:lnTo>
                <a:lnTo>
                  <a:pt x="0" y="282"/>
                </a:lnTo>
                <a:lnTo>
                  <a:pt x="5" y="242"/>
                </a:lnTo>
                <a:lnTo>
                  <a:pt x="15" y="207"/>
                </a:lnTo>
                <a:lnTo>
                  <a:pt x="27" y="174"/>
                </a:lnTo>
                <a:lnTo>
                  <a:pt x="42" y="144"/>
                </a:lnTo>
                <a:lnTo>
                  <a:pt x="60" y="116"/>
                </a:lnTo>
                <a:lnTo>
                  <a:pt x="81" y="93"/>
                </a:lnTo>
                <a:lnTo>
                  <a:pt x="105" y="71"/>
                </a:lnTo>
                <a:lnTo>
                  <a:pt x="129" y="53"/>
                </a:lnTo>
                <a:lnTo>
                  <a:pt x="158" y="37"/>
                </a:lnTo>
                <a:lnTo>
                  <a:pt x="186" y="23"/>
                </a:lnTo>
                <a:lnTo>
                  <a:pt x="216" y="14"/>
                </a:lnTo>
                <a:lnTo>
                  <a:pt x="245" y="7"/>
                </a:lnTo>
                <a:lnTo>
                  <a:pt x="277" y="2"/>
                </a:lnTo>
                <a:lnTo>
                  <a:pt x="308" y="0"/>
                </a:lnTo>
                <a:lnTo>
                  <a:pt x="340" y="2"/>
                </a:lnTo>
                <a:lnTo>
                  <a:pt x="371" y="7"/>
                </a:lnTo>
                <a:lnTo>
                  <a:pt x="403" y="14"/>
                </a:lnTo>
                <a:lnTo>
                  <a:pt x="432" y="23"/>
                </a:lnTo>
                <a:lnTo>
                  <a:pt x="462" y="37"/>
                </a:lnTo>
                <a:lnTo>
                  <a:pt x="489" y="52"/>
                </a:lnTo>
                <a:lnTo>
                  <a:pt x="515" y="71"/>
                </a:lnTo>
                <a:lnTo>
                  <a:pt x="538" y="93"/>
                </a:lnTo>
                <a:lnTo>
                  <a:pt x="562" y="116"/>
                </a:lnTo>
                <a:lnTo>
                  <a:pt x="580" y="144"/>
                </a:lnTo>
                <a:lnTo>
                  <a:pt x="596" y="174"/>
                </a:lnTo>
                <a:lnTo>
                  <a:pt x="610" y="207"/>
                </a:lnTo>
                <a:lnTo>
                  <a:pt x="620" y="242"/>
                </a:lnTo>
                <a:lnTo>
                  <a:pt x="626" y="282"/>
                </a:lnTo>
                <a:lnTo>
                  <a:pt x="628" y="323"/>
                </a:lnTo>
                <a:lnTo>
                  <a:pt x="626" y="368"/>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83" name="Freeform 888">
            <a:extLst>
              <a:ext uri="{FF2B5EF4-FFF2-40B4-BE49-F238E27FC236}">
                <a16:creationId xmlns:a16="http://schemas.microsoft.com/office/drawing/2014/main" id="{7B41E21B-EA94-F087-65E7-2E4A9D98182A}"/>
              </a:ext>
            </a:extLst>
          </p:cNvPr>
          <p:cNvSpPr>
            <a:spLocks/>
          </p:cNvSpPr>
          <p:nvPr/>
        </p:nvSpPr>
        <p:spPr bwMode="auto">
          <a:xfrm>
            <a:off x="2413000" y="4492625"/>
            <a:ext cx="111125" cy="836613"/>
          </a:xfrm>
          <a:custGeom>
            <a:avLst/>
            <a:gdLst>
              <a:gd name="T0" fmla="*/ 37 w 70"/>
              <a:gd name="T1" fmla="*/ 0 h 527"/>
              <a:gd name="T2" fmla="*/ 0 w 70"/>
              <a:gd name="T3" fmla="*/ 257 h 527"/>
              <a:gd name="T4" fmla="*/ 38 w 70"/>
              <a:gd name="T5" fmla="*/ 527 h 527"/>
              <a:gd name="T6" fmla="*/ 70 w 70"/>
              <a:gd name="T7" fmla="*/ 257 h 527"/>
              <a:gd name="T8" fmla="*/ 37 w 70"/>
              <a:gd name="T9" fmla="*/ 0 h 527"/>
            </a:gdLst>
            <a:ahLst/>
            <a:cxnLst>
              <a:cxn ang="0">
                <a:pos x="T0" y="T1"/>
              </a:cxn>
              <a:cxn ang="0">
                <a:pos x="T2" y="T3"/>
              </a:cxn>
              <a:cxn ang="0">
                <a:pos x="T4" y="T5"/>
              </a:cxn>
              <a:cxn ang="0">
                <a:pos x="T6" y="T7"/>
              </a:cxn>
              <a:cxn ang="0">
                <a:pos x="T8" y="T9"/>
              </a:cxn>
            </a:cxnLst>
            <a:rect l="0" t="0" r="r" b="b"/>
            <a:pathLst>
              <a:path w="70" h="527">
                <a:moveTo>
                  <a:pt x="37" y="0"/>
                </a:moveTo>
                <a:lnTo>
                  <a:pt x="0" y="257"/>
                </a:lnTo>
                <a:lnTo>
                  <a:pt x="38" y="527"/>
                </a:lnTo>
                <a:lnTo>
                  <a:pt x="70" y="257"/>
                </a:lnTo>
                <a:lnTo>
                  <a:pt x="37" y="0"/>
                </a:lnTo>
                <a:close/>
              </a:path>
            </a:pathLst>
          </a:custGeom>
          <a:solidFill>
            <a:srgbClr val="F4F18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84" name="Freeform 889">
            <a:extLst>
              <a:ext uri="{FF2B5EF4-FFF2-40B4-BE49-F238E27FC236}">
                <a16:creationId xmlns:a16="http://schemas.microsoft.com/office/drawing/2014/main" id="{2848F37E-2D20-8BA3-624A-F466CD7C90B6}"/>
              </a:ext>
            </a:extLst>
          </p:cNvPr>
          <p:cNvSpPr>
            <a:spLocks/>
          </p:cNvSpPr>
          <p:nvPr/>
        </p:nvSpPr>
        <p:spPr bwMode="auto">
          <a:xfrm>
            <a:off x="2413000" y="4895850"/>
            <a:ext cx="111125" cy="7938"/>
          </a:xfrm>
          <a:custGeom>
            <a:avLst/>
            <a:gdLst>
              <a:gd name="T0" fmla="*/ 70 w 70"/>
              <a:gd name="T1" fmla="*/ 0 h 5"/>
              <a:gd name="T2" fmla="*/ 2 w 70"/>
              <a:gd name="T3" fmla="*/ 0 h 5"/>
              <a:gd name="T4" fmla="*/ 0 w 70"/>
              <a:gd name="T5" fmla="*/ 3 h 5"/>
              <a:gd name="T6" fmla="*/ 2 w 70"/>
              <a:gd name="T7" fmla="*/ 5 h 5"/>
              <a:gd name="T8" fmla="*/ 70 w 70"/>
              <a:gd name="T9" fmla="*/ 5 h 5"/>
              <a:gd name="T10" fmla="*/ 70 w 70"/>
              <a:gd name="T11" fmla="*/ 3 h 5"/>
              <a:gd name="T12" fmla="*/ 70 w 70"/>
              <a:gd name="T13" fmla="*/ 0 h 5"/>
            </a:gdLst>
            <a:ahLst/>
            <a:cxnLst>
              <a:cxn ang="0">
                <a:pos x="T0" y="T1"/>
              </a:cxn>
              <a:cxn ang="0">
                <a:pos x="T2" y="T3"/>
              </a:cxn>
              <a:cxn ang="0">
                <a:pos x="T4" y="T5"/>
              </a:cxn>
              <a:cxn ang="0">
                <a:pos x="T6" y="T7"/>
              </a:cxn>
              <a:cxn ang="0">
                <a:pos x="T8" y="T9"/>
              </a:cxn>
              <a:cxn ang="0">
                <a:pos x="T10" y="T11"/>
              </a:cxn>
              <a:cxn ang="0">
                <a:pos x="T12" y="T13"/>
              </a:cxn>
            </a:cxnLst>
            <a:rect l="0" t="0" r="r" b="b"/>
            <a:pathLst>
              <a:path w="70" h="5">
                <a:moveTo>
                  <a:pt x="70" y="0"/>
                </a:moveTo>
                <a:lnTo>
                  <a:pt x="2" y="0"/>
                </a:lnTo>
                <a:lnTo>
                  <a:pt x="0" y="3"/>
                </a:lnTo>
                <a:lnTo>
                  <a:pt x="2" y="5"/>
                </a:lnTo>
                <a:lnTo>
                  <a:pt x="70" y="5"/>
                </a:lnTo>
                <a:lnTo>
                  <a:pt x="70" y="3"/>
                </a:lnTo>
                <a:lnTo>
                  <a:pt x="70" y="0"/>
                </a:lnTo>
                <a:close/>
              </a:path>
            </a:pathLst>
          </a:custGeom>
          <a:solidFill>
            <a:srgbClr val="817F5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85" name="Freeform 890">
            <a:extLst>
              <a:ext uri="{FF2B5EF4-FFF2-40B4-BE49-F238E27FC236}">
                <a16:creationId xmlns:a16="http://schemas.microsoft.com/office/drawing/2014/main" id="{E48A67E2-2F76-7F1E-06F9-4260138006B0}"/>
              </a:ext>
            </a:extLst>
          </p:cNvPr>
          <p:cNvSpPr>
            <a:spLocks/>
          </p:cNvSpPr>
          <p:nvPr/>
        </p:nvSpPr>
        <p:spPr bwMode="auto">
          <a:xfrm>
            <a:off x="2471738" y="5321300"/>
            <a:ext cx="1588" cy="7938"/>
          </a:xfrm>
          <a:custGeom>
            <a:avLst/>
            <a:gdLst>
              <a:gd name="T0" fmla="*/ 1 w 1"/>
              <a:gd name="T1" fmla="*/ 0 h 5"/>
              <a:gd name="T2" fmla="*/ 0 w 1"/>
              <a:gd name="T3" fmla="*/ 0 h 5"/>
              <a:gd name="T4" fmla="*/ 1 w 1"/>
              <a:gd name="T5" fmla="*/ 5 h 5"/>
              <a:gd name="T6" fmla="*/ 1 w 1"/>
              <a:gd name="T7" fmla="*/ 0 h 5"/>
            </a:gdLst>
            <a:ahLst/>
            <a:cxnLst>
              <a:cxn ang="0">
                <a:pos x="T0" y="T1"/>
              </a:cxn>
              <a:cxn ang="0">
                <a:pos x="T2" y="T3"/>
              </a:cxn>
              <a:cxn ang="0">
                <a:pos x="T4" y="T5"/>
              </a:cxn>
              <a:cxn ang="0">
                <a:pos x="T6" y="T7"/>
              </a:cxn>
            </a:cxnLst>
            <a:rect l="0" t="0" r="r" b="b"/>
            <a:pathLst>
              <a:path w="1" h="5">
                <a:moveTo>
                  <a:pt x="1" y="0"/>
                </a:moveTo>
                <a:lnTo>
                  <a:pt x="0" y="0"/>
                </a:lnTo>
                <a:lnTo>
                  <a:pt x="1" y="5"/>
                </a:lnTo>
                <a:lnTo>
                  <a:pt x="1" y="0"/>
                </a:lnTo>
                <a:close/>
              </a:path>
            </a:pathLst>
          </a:custGeom>
          <a:solidFill>
            <a:srgbClr val="817F5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86" name="Freeform 891">
            <a:extLst>
              <a:ext uri="{FF2B5EF4-FFF2-40B4-BE49-F238E27FC236}">
                <a16:creationId xmlns:a16="http://schemas.microsoft.com/office/drawing/2014/main" id="{C0EAD312-C219-6499-3D6D-A76BF24C16FB}"/>
              </a:ext>
            </a:extLst>
          </p:cNvPr>
          <p:cNvSpPr>
            <a:spLocks noEditPoints="1"/>
          </p:cNvSpPr>
          <p:nvPr/>
        </p:nvSpPr>
        <p:spPr bwMode="auto">
          <a:xfrm>
            <a:off x="2471738" y="5321300"/>
            <a:ext cx="1588" cy="7938"/>
          </a:xfrm>
          <a:custGeom>
            <a:avLst/>
            <a:gdLst>
              <a:gd name="T0" fmla="*/ 1 w 1"/>
              <a:gd name="T1" fmla="*/ 0 h 5"/>
              <a:gd name="T2" fmla="*/ 0 w 1"/>
              <a:gd name="T3" fmla="*/ 0 h 5"/>
              <a:gd name="T4" fmla="*/ 1 w 1"/>
              <a:gd name="T5" fmla="*/ 5 h 5"/>
              <a:gd name="T6" fmla="*/ 1 w 1"/>
              <a:gd name="T7" fmla="*/ 0 h 5"/>
              <a:gd name="T8" fmla="*/ 1 w 1"/>
              <a:gd name="T9" fmla="*/ 0 h 5"/>
              <a:gd name="T10" fmla="*/ 0 w 1"/>
              <a:gd name="T11" fmla="*/ 0 h 5"/>
              <a:gd name="T12" fmla="*/ 1 w 1"/>
              <a:gd name="T13" fmla="*/ 0 h 5"/>
            </a:gdLst>
            <a:ahLst/>
            <a:cxnLst>
              <a:cxn ang="0">
                <a:pos x="T0" y="T1"/>
              </a:cxn>
              <a:cxn ang="0">
                <a:pos x="T2" y="T3"/>
              </a:cxn>
              <a:cxn ang="0">
                <a:pos x="T4" y="T5"/>
              </a:cxn>
              <a:cxn ang="0">
                <a:pos x="T6" y="T7"/>
              </a:cxn>
              <a:cxn ang="0">
                <a:pos x="T8" y="T9"/>
              </a:cxn>
              <a:cxn ang="0">
                <a:pos x="T10" y="T11"/>
              </a:cxn>
              <a:cxn ang="0">
                <a:pos x="T12" y="T13"/>
              </a:cxn>
            </a:cxnLst>
            <a:rect l="0" t="0" r="r" b="b"/>
            <a:pathLst>
              <a:path w="1" h="5">
                <a:moveTo>
                  <a:pt x="1" y="0"/>
                </a:moveTo>
                <a:lnTo>
                  <a:pt x="0" y="0"/>
                </a:lnTo>
                <a:lnTo>
                  <a:pt x="1" y="5"/>
                </a:lnTo>
                <a:lnTo>
                  <a:pt x="1" y="0"/>
                </a:lnTo>
                <a:close/>
                <a:moveTo>
                  <a:pt x="1" y="0"/>
                </a:moveTo>
                <a:lnTo>
                  <a:pt x="0" y="0"/>
                </a:lnTo>
                <a:lnTo>
                  <a:pt x="1" y="0"/>
                </a:lnTo>
                <a:close/>
              </a:path>
            </a:pathLst>
          </a:custGeom>
          <a:solidFill>
            <a:srgbClr val="817F5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87" name="Line 892">
            <a:extLst>
              <a:ext uri="{FF2B5EF4-FFF2-40B4-BE49-F238E27FC236}">
                <a16:creationId xmlns:a16="http://schemas.microsoft.com/office/drawing/2014/main" id="{4DAB5D87-854E-F0F2-7F9C-54C74C0B03BB}"/>
              </a:ext>
            </a:extLst>
          </p:cNvPr>
          <p:cNvSpPr>
            <a:spLocks noChangeShapeType="1"/>
          </p:cNvSpPr>
          <p:nvPr/>
        </p:nvSpPr>
        <p:spPr bwMode="auto">
          <a:xfrm>
            <a:off x="2468563" y="4505325"/>
            <a:ext cx="1588" cy="800100"/>
          </a:xfrm>
          <a:prstGeom prst="line">
            <a:avLst/>
          </a:prstGeom>
          <a:noFill/>
          <a:ln w="1588" cap="rnd">
            <a:solidFill>
              <a:srgbClr val="808057"/>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88" name="Freeform 893">
            <a:extLst>
              <a:ext uri="{FF2B5EF4-FFF2-40B4-BE49-F238E27FC236}">
                <a16:creationId xmlns:a16="http://schemas.microsoft.com/office/drawing/2014/main" id="{C2BDEB46-9B37-4046-C9F3-3D09372E0B29}"/>
              </a:ext>
            </a:extLst>
          </p:cNvPr>
          <p:cNvSpPr>
            <a:spLocks/>
          </p:cNvSpPr>
          <p:nvPr/>
        </p:nvSpPr>
        <p:spPr bwMode="auto">
          <a:xfrm>
            <a:off x="2468563" y="4492625"/>
            <a:ext cx="4763" cy="15875"/>
          </a:xfrm>
          <a:custGeom>
            <a:avLst/>
            <a:gdLst>
              <a:gd name="T0" fmla="*/ 3 w 3"/>
              <a:gd name="T1" fmla="*/ 10 h 10"/>
              <a:gd name="T2" fmla="*/ 0 w 3"/>
              <a:gd name="T3" fmla="*/ 10 h 10"/>
              <a:gd name="T4" fmla="*/ 2 w 3"/>
              <a:gd name="T5" fmla="*/ 0 h 10"/>
              <a:gd name="T6" fmla="*/ 3 w 3"/>
              <a:gd name="T7" fmla="*/ 10 h 10"/>
            </a:gdLst>
            <a:ahLst/>
            <a:cxnLst>
              <a:cxn ang="0">
                <a:pos x="T0" y="T1"/>
              </a:cxn>
              <a:cxn ang="0">
                <a:pos x="T2" y="T3"/>
              </a:cxn>
              <a:cxn ang="0">
                <a:pos x="T4" y="T5"/>
              </a:cxn>
              <a:cxn ang="0">
                <a:pos x="T6" y="T7"/>
              </a:cxn>
            </a:cxnLst>
            <a:rect l="0" t="0" r="r" b="b"/>
            <a:pathLst>
              <a:path w="3" h="10">
                <a:moveTo>
                  <a:pt x="3" y="10"/>
                </a:moveTo>
                <a:lnTo>
                  <a:pt x="0" y="10"/>
                </a:lnTo>
                <a:lnTo>
                  <a:pt x="2" y="0"/>
                </a:lnTo>
                <a:lnTo>
                  <a:pt x="3" y="10"/>
                </a:lnTo>
                <a:close/>
              </a:path>
            </a:pathLst>
          </a:custGeom>
          <a:solidFill>
            <a:srgbClr val="FDFC8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89" name="Freeform 894">
            <a:extLst>
              <a:ext uri="{FF2B5EF4-FFF2-40B4-BE49-F238E27FC236}">
                <a16:creationId xmlns:a16="http://schemas.microsoft.com/office/drawing/2014/main" id="{D19C2285-EEF7-7066-CBEF-851AB7BD2FDB}"/>
              </a:ext>
            </a:extLst>
          </p:cNvPr>
          <p:cNvSpPr>
            <a:spLocks/>
          </p:cNvSpPr>
          <p:nvPr/>
        </p:nvSpPr>
        <p:spPr bwMode="auto">
          <a:xfrm>
            <a:off x="2413000" y="4492625"/>
            <a:ext cx="60325" cy="407988"/>
          </a:xfrm>
          <a:custGeom>
            <a:avLst/>
            <a:gdLst>
              <a:gd name="T0" fmla="*/ 3 w 38"/>
              <a:gd name="T1" fmla="*/ 257 h 257"/>
              <a:gd name="T2" fmla="*/ 3 w 38"/>
              <a:gd name="T3" fmla="*/ 257 h 257"/>
              <a:gd name="T4" fmla="*/ 38 w 38"/>
              <a:gd name="T5" fmla="*/ 10 h 257"/>
              <a:gd name="T6" fmla="*/ 37 w 38"/>
              <a:gd name="T7" fmla="*/ 0 h 257"/>
              <a:gd name="T8" fmla="*/ 0 w 38"/>
              <a:gd name="T9" fmla="*/ 257 h 257"/>
              <a:gd name="T10" fmla="*/ 3 w 38"/>
              <a:gd name="T11" fmla="*/ 257 h 257"/>
            </a:gdLst>
            <a:ahLst/>
            <a:cxnLst>
              <a:cxn ang="0">
                <a:pos x="T0" y="T1"/>
              </a:cxn>
              <a:cxn ang="0">
                <a:pos x="T2" y="T3"/>
              </a:cxn>
              <a:cxn ang="0">
                <a:pos x="T4" y="T5"/>
              </a:cxn>
              <a:cxn ang="0">
                <a:pos x="T6" y="T7"/>
              </a:cxn>
              <a:cxn ang="0">
                <a:pos x="T8" y="T9"/>
              </a:cxn>
              <a:cxn ang="0">
                <a:pos x="T10" y="T11"/>
              </a:cxn>
            </a:cxnLst>
            <a:rect l="0" t="0" r="r" b="b"/>
            <a:pathLst>
              <a:path w="38" h="257">
                <a:moveTo>
                  <a:pt x="3" y="257"/>
                </a:moveTo>
                <a:lnTo>
                  <a:pt x="3" y="257"/>
                </a:lnTo>
                <a:lnTo>
                  <a:pt x="38" y="10"/>
                </a:lnTo>
                <a:lnTo>
                  <a:pt x="37" y="0"/>
                </a:lnTo>
                <a:lnTo>
                  <a:pt x="0" y="257"/>
                </a:lnTo>
                <a:lnTo>
                  <a:pt x="3" y="257"/>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90" name="Freeform 895">
            <a:extLst>
              <a:ext uri="{FF2B5EF4-FFF2-40B4-BE49-F238E27FC236}">
                <a16:creationId xmlns:a16="http://schemas.microsoft.com/office/drawing/2014/main" id="{31728D52-C672-5FA0-8DB4-7DA476B0AA3B}"/>
              </a:ext>
            </a:extLst>
          </p:cNvPr>
          <p:cNvSpPr>
            <a:spLocks/>
          </p:cNvSpPr>
          <p:nvPr/>
        </p:nvSpPr>
        <p:spPr bwMode="auto">
          <a:xfrm>
            <a:off x="2413000" y="4900613"/>
            <a:ext cx="60325" cy="428625"/>
          </a:xfrm>
          <a:custGeom>
            <a:avLst/>
            <a:gdLst>
              <a:gd name="T0" fmla="*/ 38 w 38"/>
              <a:gd name="T1" fmla="*/ 270 h 270"/>
              <a:gd name="T2" fmla="*/ 38 w 38"/>
              <a:gd name="T3" fmla="*/ 270 h 270"/>
              <a:gd name="T4" fmla="*/ 38 w 38"/>
              <a:gd name="T5" fmla="*/ 260 h 270"/>
              <a:gd name="T6" fmla="*/ 3 w 38"/>
              <a:gd name="T7" fmla="*/ 0 h 270"/>
              <a:gd name="T8" fmla="*/ 0 w 38"/>
              <a:gd name="T9" fmla="*/ 0 h 270"/>
              <a:gd name="T10" fmla="*/ 38 w 38"/>
              <a:gd name="T11" fmla="*/ 270 h 270"/>
            </a:gdLst>
            <a:ahLst/>
            <a:cxnLst>
              <a:cxn ang="0">
                <a:pos x="T0" y="T1"/>
              </a:cxn>
              <a:cxn ang="0">
                <a:pos x="T2" y="T3"/>
              </a:cxn>
              <a:cxn ang="0">
                <a:pos x="T4" y="T5"/>
              </a:cxn>
              <a:cxn ang="0">
                <a:pos x="T6" y="T7"/>
              </a:cxn>
              <a:cxn ang="0">
                <a:pos x="T8" y="T9"/>
              </a:cxn>
              <a:cxn ang="0">
                <a:pos x="T10" y="T11"/>
              </a:cxn>
            </a:cxnLst>
            <a:rect l="0" t="0" r="r" b="b"/>
            <a:pathLst>
              <a:path w="38" h="270">
                <a:moveTo>
                  <a:pt x="38" y="270"/>
                </a:moveTo>
                <a:lnTo>
                  <a:pt x="38" y="270"/>
                </a:lnTo>
                <a:lnTo>
                  <a:pt x="38" y="260"/>
                </a:lnTo>
                <a:lnTo>
                  <a:pt x="3" y="0"/>
                </a:lnTo>
                <a:lnTo>
                  <a:pt x="0" y="0"/>
                </a:lnTo>
                <a:lnTo>
                  <a:pt x="38" y="270"/>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91" name="Freeform 896">
            <a:extLst>
              <a:ext uri="{FF2B5EF4-FFF2-40B4-BE49-F238E27FC236}">
                <a16:creationId xmlns:a16="http://schemas.microsoft.com/office/drawing/2014/main" id="{2BAE6A4E-4262-FF90-B750-D1E5BD2DA4E6}"/>
              </a:ext>
            </a:extLst>
          </p:cNvPr>
          <p:cNvSpPr>
            <a:spLocks/>
          </p:cNvSpPr>
          <p:nvPr/>
        </p:nvSpPr>
        <p:spPr bwMode="auto">
          <a:xfrm>
            <a:off x="2471738" y="4900613"/>
            <a:ext cx="52388" cy="428625"/>
          </a:xfrm>
          <a:custGeom>
            <a:avLst/>
            <a:gdLst>
              <a:gd name="T0" fmla="*/ 31 w 33"/>
              <a:gd name="T1" fmla="*/ 0 h 270"/>
              <a:gd name="T2" fmla="*/ 31 w 33"/>
              <a:gd name="T3" fmla="*/ 0 h 270"/>
              <a:gd name="T4" fmla="*/ 0 w 33"/>
              <a:gd name="T5" fmla="*/ 260 h 270"/>
              <a:gd name="T6" fmla="*/ 1 w 33"/>
              <a:gd name="T7" fmla="*/ 270 h 270"/>
              <a:gd name="T8" fmla="*/ 33 w 33"/>
              <a:gd name="T9" fmla="*/ 0 h 270"/>
              <a:gd name="T10" fmla="*/ 31 w 33"/>
              <a:gd name="T11" fmla="*/ 0 h 270"/>
            </a:gdLst>
            <a:ahLst/>
            <a:cxnLst>
              <a:cxn ang="0">
                <a:pos x="T0" y="T1"/>
              </a:cxn>
              <a:cxn ang="0">
                <a:pos x="T2" y="T3"/>
              </a:cxn>
              <a:cxn ang="0">
                <a:pos x="T4" y="T5"/>
              </a:cxn>
              <a:cxn ang="0">
                <a:pos x="T6" y="T7"/>
              </a:cxn>
              <a:cxn ang="0">
                <a:pos x="T8" y="T9"/>
              </a:cxn>
              <a:cxn ang="0">
                <a:pos x="T10" y="T11"/>
              </a:cxn>
            </a:cxnLst>
            <a:rect l="0" t="0" r="r" b="b"/>
            <a:pathLst>
              <a:path w="33" h="270">
                <a:moveTo>
                  <a:pt x="31" y="0"/>
                </a:moveTo>
                <a:lnTo>
                  <a:pt x="31" y="0"/>
                </a:lnTo>
                <a:lnTo>
                  <a:pt x="0" y="260"/>
                </a:lnTo>
                <a:lnTo>
                  <a:pt x="1" y="270"/>
                </a:lnTo>
                <a:lnTo>
                  <a:pt x="33" y="0"/>
                </a:lnTo>
                <a:lnTo>
                  <a:pt x="31" y="0"/>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92" name="Freeform 897">
            <a:extLst>
              <a:ext uri="{FF2B5EF4-FFF2-40B4-BE49-F238E27FC236}">
                <a16:creationId xmlns:a16="http://schemas.microsoft.com/office/drawing/2014/main" id="{71EB7323-ACA3-8239-19A5-49B6756CBF24}"/>
              </a:ext>
            </a:extLst>
          </p:cNvPr>
          <p:cNvSpPr>
            <a:spLocks/>
          </p:cNvSpPr>
          <p:nvPr/>
        </p:nvSpPr>
        <p:spPr bwMode="auto">
          <a:xfrm>
            <a:off x="2468563" y="4495800"/>
            <a:ext cx="55563" cy="404813"/>
          </a:xfrm>
          <a:custGeom>
            <a:avLst/>
            <a:gdLst>
              <a:gd name="T0" fmla="*/ 2 w 35"/>
              <a:gd name="T1" fmla="*/ 0 h 255"/>
              <a:gd name="T2" fmla="*/ 2 w 35"/>
              <a:gd name="T3" fmla="*/ 0 h 255"/>
              <a:gd name="T4" fmla="*/ 0 w 35"/>
              <a:gd name="T5" fmla="*/ 8 h 255"/>
              <a:gd name="T6" fmla="*/ 33 w 35"/>
              <a:gd name="T7" fmla="*/ 255 h 255"/>
              <a:gd name="T8" fmla="*/ 35 w 35"/>
              <a:gd name="T9" fmla="*/ 255 h 255"/>
              <a:gd name="T10" fmla="*/ 2 w 35"/>
              <a:gd name="T11" fmla="*/ 0 h 255"/>
            </a:gdLst>
            <a:ahLst/>
            <a:cxnLst>
              <a:cxn ang="0">
                <a:pos x="T0" y="T1"/>
              </a:cxn>
              <a:cxn ang="0">
                <a:pos x="T2" y="T3"/>
              </a:cxn>
              <a:cxn ang="0">
                <a:pos x="T4" y="T5"/>
              </a:cxn>
              <a:cxn ang="0">
                <a:pos x="T6" y="T7"/>
              </a:cxn>
              <a:cxn ang="0">
                <a:pos x="T8" y="T9"/>
              </a:cxn>
              <a:cxn ang="0">
                <a:pos x="T10" y="T11"/>
              </a:cxn>
            </a:cxnLst>
            <a:rect l="0" t="0" r="r" b="b"/>
            <a:pathLst>
              <a:path w="35" h="255">
                <a:moveTo>
                  <a:pt x="2" y="0"/>
                </a:moveTo>
                <a:lnTo>
                  <a:pt x="2" y="0"/>
                </a:lnTo>
                <a:lnTo>
                  <a:pt x="0" y="8"/>
                </a:lnTo>
                <a:lnTo>
                  <a:pt x="33" y="255"/>
                </a:lnTo>
                <a:lnTo>
                  <a:pt x="35" y="255"/>
                </a:lnTo>
                <a:lnTo>
                  <a:pt x="2" y="0"/>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93" name="Freeform 898">
            <a:extLst>
              <a:ext uri="{FF2B5EF4-FFF2-40B4-BE49-F238E27FC236}">
                <a16:creationId xmlns:a16="http://schemas.microsoft.com/office/drawing/2014/main" id="{78311AE0-764C-DB59-113C-94E3BB6AD8D1}"/>
              </a:ext>
            </a:extLst>
          </p:cNvPr>
          <p:cNvSpPr>
            <a:spLocks/>
          </p:cNvSpPr>
          <p:nvPr/>
        </p:nvSpPr>
        <p:spPr bwMode="auto">
          <a:xfrm>
            <a:off x="2413000" y="4492625"/>
            <a:ext cx="111125" cy="836613"/>
          </a:xfrm>
          <a:custGeom>
            <a:avLst/>
            <a:gdLst>
              <a:gd name="T0" fmla="*/ 37 w 70"/>
              <a:gd name="T1" fmla="*/ 0 h 527"/>
              <a:gd name="T2" fmla="*/ 0 w 70"/>
              <a:gd name="T3" fmla="*/ 257 h 527"/>
              <a:gd name="T4" fmla="*/ 38 w 70"/>
              <a:gd name="T5" fmla="*/ 527 h 527"/>
              <a:gd name="T6" fmla="*/ 70 w 70"/>
              <a:gd name="T7" fmla="*/ 257 h 527"/>
              <a:gd name="T8" fmla="*/ 37 w 70"/>
              <a:gd name="T9" fmla="*/ 0 h 527"/>
            </a:gdLst>
            <a:ahLst/>
            <a:cxnLst>
              <a:cxn ang="0">
                <a:pos x="T0" y="T1"/>
              </a:cxn>
              <a:cxn ang="0">
                <a:pos x="T2" y="T3"/>
              </a:cxn>
              <a:cxn ang="0">
                <a:pos x="T4" y="T5"/>
              </a:cxn>
              <a:cxn ang="0">
                <a:pos x="T6" y="T7"/>
              </a:cxn>
              <a:cxn ang="0">
                <a:pos x="T8" y="T9"/>
              </a:cxn>
            </a:cxnLst>
            <a:rect l="0" t="0" r="r" b="b"/>
            <a:pathLst>
              <a:path w="70" h="527">
                <a:moveTo>
                  <a:pt x="37" y="0"/>
                </a:moveTo>
                <a:lnTo>
                  <a:pt x="0" y="257"/>
                </a:lnTo>
                <a:lnTo>
                  <a:pt x="38" y="527"/>
                </a:lnTo>
                <a:lnTo>
                  <a:pt x="70" y="257"/>
                </a:lnTo>
                <a:lnTo>
                  <a:pt x="37"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94" name="Freeform 899">
            <a:extLst>
              <a:ext uri="{FF2B5EF4-FFF2-40B4-BE49-F238E27FC236}">
                <a16:creationId xmlns:a16="http://schemas.microsoft.com/office/drawing/2014/main" id="{A5A7F07E-EADE-631B-DC11-AD88A722BC90}"/>
              </a:ext>
            </a:extLst>
          </p:cNvPr>
          <p:cNvSpPr>
            <a:spLocks/>
          </p:cNvSpPr>
          <p:nvPr/>
        </p:nvSpPr>
        <p:spPr bwMode="auto">
          <a:xfrm>
            <a:off x="2308225" y="4483100"/>
            <a:ext cx="115888" cy="15875"/>
          </a:xfrm>
          <a:custGeom>
            <a:avLst/>
            <a:gdLst>
              <a:gd name="T0" fmla="*/ 73 w 73"/>
              <a:gd name="T1" fmla="*/ 5 h 10"/>
              <a:gd name="T2" fmla="*/ 73 w 73"/>
              <a:gd name="T3" fmla="*/ 0 h 10"/>
              <a:gd name="T4" fmla="*/ 0 w 73"/>
              <a:gd name="T5" fmla="*/ 0 h 10"/>
              <a:gd name="T6" fmla="*/ 0 w 73"/>
              <a:gd name="T7" fmla="*/ 10 h 10"/>
              <a:gd name="T8" fmla="*/ 73 w 73"/>
              <a:gd name="T9" fmla="*/ 10 h 10"/>
              <a:gd name="T10" fmla="*/ 73 w 73"/>
              <a:gd name="T11" fmla="*/ 5 h 10"/>
            </a:gdLst>
            <a:ahLst/>
            <a:cxnLst>
              <a:cxn ang="0">
                <a:pos x="T0" y="T1"/>
              </a:cxn>
              <a:cxn ang="0">
                <a:pos x="T2" y="T3"/>
              </a:cxn>
              <a:cxn ang="0">
                <a:pos x="T4" y="T5"/>
              </a:cxn>
              <a:cxn ang="0">
                <a:pos x="T6" y="T7"/>
              </a:cxn>
              <a:cxn ang="0">
                <a:pos x="T8" y="T9"/>
              </a:cxn>
              <a:cxn ang="0">
                <a:pos x="T10" y="T11"/>
              </a:cxn>
            </a:cxnLst>
            <a:rect l="0" t="0" r="r" b="b"/>
            <a:pathLst>
              <a:path w="73" h="10">
                <a:moveTo>
                  <a:pt x="73" y="5"/>
                </a:moveTo>
                <a:lnTo>
                  <a:pt x="73" y="0"/>
                </a:lnTo>
                <a:lnTo>
                  <a:pt x="0" y="0"/>
                </a:lnTo>
                <a:lnTo>
                  <a:pt x="0" y="10"/>
                </a:lnTo>
                <a:lnTo>
                  <a:pt x="73" y="10"/>
                </a:lnTo>
                <a:lnTo>
                  <a:pt x="73"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95" name="Freeform 900">
            <a:extLst>
              <a:ext uri="{FF2B5EF4-FFF2-40B4-BE49-F238E27FC236}">
                <a16:creationId xmlns:a16="http://schemas.microsoft.com/office/drawing/2014/main" id="{07BD83C7-13AF-7E8F-6B1E-DBEEC19094EA}"/>
              </a:ext>
            </a:extLst>
          </p:cNvPr>
          <p:cNvSpPr>
            <a:spLocks/>
          </p:cNvSpPr>
          <p:nvPr/>
        </p:nvSpPr>
        <p:spPr bwMode="auto">
          <a:xfrm>
            <a:off x="2508250" y="4484688"/>
            <a:ext cx="115888" cy="15875"/>
          </a:xfrm>
          <a:custGeom>
            <a:avLst/>
            <a:gdLst>
              <a:gd name="T0" fmla="*/ 73 w 73"/>
              <a:gd name="T1" fmla="*/ 5 h 10"/>
              <a:gd name="T2" fmla="*/ 73 w 73"/>
              <a:gd name="T3" fmla="*/ 0 h 10"/>
              <a:gd name="T4" fmla="*/ 0 w 73"/>
              <a:gd name="T5" fmla="*/ 0 h 10"/>
              <a:gd name="T6" fmla="*/ 0 w 73"/>
              <a:gd name="T7" fmla="*/ 10 h 10"/>
              <a:gd name="T8" fmla="*/ 73 w 73"/>
              <a:gd name="T9" fmla="*/ 10 h 10"/>
              <a:gd name="T10" fmla="*/ 73 w 73"/>
              <a:gd name="T11" fmla="*/ 5 h 10"/>
            </a:gdLst>
            <a:ahLst/>
            <a:cxnLst>
              <a:cxn ang="0">
                <a:pos x="T0" y="T1"/>
              </a:cxn>
              <a:cxn ang="0">
                <a:pos x="T2" y="T3"/>
              </a:cxn>
              <a:cxn ang="0">
                <a:pos x="T4" y="T5"/>
              </a:cxn>
              <a:cxn ang="0">
                <a:pos x="T6" y="T7"/>
              </a:cxn>
              <a:cxn ang="0">
                <a:pos x="T8" y="T9"/>
              </a:cxn>
              <a:cxn ang="0">
                <a:pos x="T10" y="T11"/>
              </a:cxn>
            </a:cxnLst>
            <a:rect l="0" t="0" r="r" b="b"/>
            <a:pathLst>
              <a:path w="73" h="10">
                <a:moveTo>
                  <a:pt x="73" y="5"/>
                </a:moveTo>
                <a:lnTo>
                  <a:pt x="73" y="0"/>
                </a:lnTo>
                <a:lnTo>
                  <a:pt x="0" y="0"/>
                </a:lnTo>
                <a:lnTo>
                  <a:pt x="0" y="10"/>
                </a:lnTo>
                <a:lnTo>
                  <a:pt x="73" y="10"/>
                </a:lnTo>
                <a:lnTo>
                  <a:pt x="73"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696" name="Freeform 901">
            <a:extLst>
              <a:ext uri="{FF2B5EF4-FFF2-40B4-BE49-F238E27FC236}">
                <a16:creationId xmlns:a16="http://schemas.microsoft.com/office/drawing/2014/main" id="{0F0BBD79-70A2-5D09-A778-1788D8FDEC29}"/>
              </a:ext>
            </a:extLst>
          </p:cNvPr>
          <p:cNvSpPr>
            <a:spLocks/>
          </p:cNvSpPr>
          <p:nvPr/>
        </p:nvSpPr>
        <p:spPr bwMode="auto">
          <a:xfrm>
            <a:off x="2047875" y="4500563"/>
            <a:ext cx="307975" cy="123825"/>
          </a:xfrm>
          <a:custGeom>
            <a:avLst/>
            <a:gdLst>
              <a:gd name="T0" fmla="*/ 0 w 194"/>
              <a:gd name="T1" fmla="*/ 78 h 78"/>
              <a:gd name="T2" fmla="*/ 192 w 194"/>
              <a:gd name="T3" fmla="*/ 0 h 78"/>
              <a:gd name="T4" fmla="*/ 194 w 194"/>
              <a:gd name="T5" fmla="*/ 13 h 78"/>
            </a:gdLst>
            <a:ahLst/>
            <a:cxnLst>
              <a:cxn ang="0">
                <a:pos x="T0" y="T1"/>
              </a:cxn>
              <a:cxn ang="0">
                <a:pos x="T2" y="T3"/>
              </a:cxn>
              <a:cxn ang="0">
                <a:pos x="T4" y="T5"/>
              </a:cxn>
            </a:cxnLst>
            <a:rect l="0" t="0" r="r" b="b"/>
            <a:pathLst>
              <a:path w="194" h="78">
                <a:moveTo>
                  <a:pt x="0" y="78"/>
                </a:moveTo>
                <a:lnTo>
                  <a:pt x="192" y="0"/>
                </a:lnTo>
                <a:lnTo>
                  <a:pt x="194" y="13"/>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97" name="Line 902">
            <a:extLst>
              <a:ext uri="{FF2B5EF4-FFF2-40B4-BE49-F238E27FC236}">
                <a16:creationId xmlns:a16="http://schemas.microsoft.com/office/drawing/2014/main" id="{CD7A88AD-81BE-8737-7168-5F1A83CC3FAE}"/>
              </a:ext>
            </a:extLst>
          </p:cNvPr>
          <p:cNvSpPr>
            <a:spLocks noChangeShapeType="1"/>
          </p:cNvSpPr>
          <p:nvPr/>
        </p:nvSpPr>
        <p:spPr bwMode="auto">
          <a:xfrm>
            <a:off x="3654425" y="4491038"/>
            <a:ext cx="41275" cy="1588"/>
          </a:xfrm>
          <a:prstGeom prst="line">
            <a:avLst/>
          </a:prstGeom>
          <a:noFill/>
          <a:ln w="7938" cap="rnd">
            <a:solidFill>
              <a:srgbClr val="1F1A17"/>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98" name="Freeform 903">
            <a:extLst>
              <a:ext uri="{FF2B5EF4-FFF2-40B4-BE49-F238E27FC236}">
                <a16:creationId xmlns:a16="http://schemas.microsoft.com/office/drawing/2014/main" id="{6B14D0C6-092A-134A-3F40-162FE4CB6943}"/>
              </a:ext>
            </a:extLst>
          </p:cNvPr>
          <p:cNvSpPr>
            <a:spLocks/>
          </p:cNvSpPr>
          <p:nvPr/>
        </p:nvSpPr>
        <p:spPr bwMode="auto">
          <a:xfrm>
            <a:off x="3527425" y="4576763"/>
            <a:ext cx="279400" cy="23813"/>
          </a:xfrm>
          <a:custGeom>
            <a:avLst/>
            <a:gdLst>
              <a:gd name="T0" fmla="*/ 176 w 176"/>
              <a:gd name="T1" fmla="*/ 2 h 15"/>
              <a:gd name="T2" fmla="*/ 0 w 176"/>
              <a:gd name="T3" fmla="*/ 0 h 15"/>
              <a:gd name="T4" fmla="*/ 15 w 176"/>
              <a:gd name="T5" fmla="*/ 15 h 15"/>
            </a:gdLst>
            <a:ahLst/>
            <a:cxnLst>
              <a:cxn ang="0">
                <a:pos x="T0" y="T1"/>
              </a:cxn>
              <a:cxn ang="0">
                <a:pos x="T2" y="T3"/>
              </a:cxn>
              <a:cxn ang="0">
                <a:pos x="T4" y="T5"/>
              </a:cxn>
            </a:cxnLst>
            <a:rect l="0" t="0" r="r" b="b"/>
            <a:pathLst>
              <a:path w="176" h="15">
                <a:moveTo>
                  <a:pt x="176" y="2"/>
                </a:moveTo>
                <a:lnTo>
                  <a:pt x="0" y="0"/>
                </a:lnTo>
                <a:lnTo>
                  <a:pt x="15" y="15"/>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699" name="Freeform 904">
            <a:extLst>
              <a:ext uri="{FF2B5EF4-FFF2-40B4-BE49-F238E27FC236}">
                <a16:creationId xmlns:a16="http://schemas.microsoft.com/office/drawing/2014/main" id="{5409B0DC-4109-25C0-9450-4DF95A9EC0EE}"/>
              </a:ext>
            </a:extLst>
          </p:cNvPr>
          <p:cNvSpPr>
            <a:spLocks/>
          </p:cNvSpPr>
          <p:nvPr/>
        </p:nvSpPr>
        <p:spPr bwMode="auto">
          <a:xfrm>
            <a:off x="3052763" y="4511675"/>
            <a:ext cx="273050" cy="406400"/>
          </a:xfrm>
          <a:custGeom>
            <a:avLst/>
            <a:gdLst>
              <a:gd name="T0" fmla="*/ 0 w 172"/>
              <a:gd name="T1" fmla="*/ 256 h 256"/>
              <a:gd name="T2" fmla="*/ 165 w 172"/>
              <a:gd name="T3" fmla="*/ 0 h 256"/>
              <a:gd name="T4" fmla="*/ 172 w 172"/>
              <a:gd name="T5" fmla="*/ 18 h 256"/>
            </a:gdLst>
            <a:ahLst/>
            <a:cxnLst>
              <a:cxn ang="0">
                <a:pos x="T0" y="T1"/>
              </a:cxn>
              <a:cxn ang="0">
                <a:pos x="T2" y="T3"/>
              </a:cxn>
              <a:cxn ang="0">
                <a:pos x="T4" y="T5"/>
              </a:cxn>
            </a:cxnLst>
            <a:rect l="0" t="0" r="r" b="b"/>
            <a:pathLst>
              <a:path w="172" h="256">
                <a:moveTo>
                  <a:pt x="0" y="256"/>
                </a:moveTo>
                <a:lnTo>
                  <a:pt x="165" y="0"/>
                </a:lnTo>
                <a:lnTo>
                  <a:pt x="172" y="18"/>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700" name="Freeform 905">
            <a:extLst>
              <a:ext uri="{FF2B5EF4-FFF2-40B4-BE49-F238E27FC236}">
                <a16:creationId xmlns:a16="http://schemas.microsoft.com/office/drawing/2014/main" id="{6561151A-7D1B-7A41-DDC8-846562B9EE0F}"/>
              </a:ext>
            </a:extLst>
          </p:cNvPr>
          <p:cNvSpPr>
            <a:spLocks/>
          </p:cNvSpPr>
          <p:nvPr/>
        </p:nvSpPr>
        <p:spPr bwMode="auto">
          <a:xfrm>
            <a:off x="2052638" y="5802313"/>
            <a:ext cx="119063" cy="41275"/>
          </a:xfrm>
          <a:custGeom>
            <a:avLst/>
            <a:gdLst>
              <a:gd name="T0" fmla="*/ 0 w 75"/>
              <a:gd name="T1" fmla="*/ 26 h 26"/>
              <a:gd name="T2" fmla="*/ 75 w 75"/>
              <a:gd name="T3" fmla="*/ 0 h 26"/>
              <a:gd name="T4" fmla="*/ 70 w 75"/>
              <a:gd name="T5" fmla="*/ 26 h 26"/>
            </a:gdLst>
            <a:ahLst/>
            <a:cxnLst>
              <a:cxn ang="0">
                <a:pos x="T0" y="T1"/>
              </a:cxn>
              <a:cxn ang="0">
                <a:pos x="T2" y="T3"/>
              </a:cxn>
              <a:cxn ang="0">
                <a:pos x="T4" y="T5"/>
              </a:cxn>
            </a:cxnLst>
            <a:rect l="0" t="0" r="r" b="b"/>
            <a:pathLst>
              <a:path w="75" h="26">
                <a:moveTo>
                  <a:pt x="0" y="26"/>
                </a:moveTo>
                <a:lnTo>
                  <a:pt x="75" y="0"/>
                </a:lnTo>
                <a:lnTo>
                  <a:pt x="70" y="26"/>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701" name="Freeform 906">
            <a:extLst>
              <a:ext uri="{FF2B5EF4-FFF2-40B4-BE49-F238E27FC236}">
                <a16:creationId xmlns:a16="http://schemas.microsoft.com/office/drawing/2014/main" id="{1A626336-A0F7-45B6-ECF7-5E8FDCA3775B}"/>
              </a:ext>
            </a:extLst>
          </p:cNvPr>
          <p:cNvSpPr>
            <a:spLocks/>
          </p:cNvSpPr>
          <p:nvPr/>
        </p:nvSpPr>
        <p:spPr bwMode="auto">
          <a:xfrm>
            <a:off x="3213100" y="3943350"/>
            <a:ext cx="582613" cy="363538"/>
          </a:xfrm>
          <a:custGeom>
            <a:avLst/>
            <a:gdLst>
              <a:gd name="T0" fmla="*/ 367 w 367"/>
              <a:gd name="T1" fmla="*/ 0 h 229"/>
              <a:gd name="T2" fmla="*/ 0 w 367"/>
              <a:gd name="T3" fmla="*/ 229 h 229"/>
              <a:gd name="T4" fmla="*/ 0 w 367"/>
              <a:gd name="T5" fmla="*/ 199 h 229"/>
            </a:gdLst>
            <a:ahLst/>
            <a:cxnLst>
              <a:cxn ang="0">
                <a:pos x="T0" y="T1"/>
              </a:cxn>
              <a:cxn ang="0">
                <a:pos x="T2" y="T3"/>
              </a:cxn>
              <a:cxn ang="0">
                <a:pos x="T4" y="T5"/>
              </a:cxn>
            </a:cxnLst>
            <a:rect l="0" t="0" r="r" b="b"/>
            <a:pathLst>
              <a:path w="367" h="229">
                <a:moveTo>
                  <a:pt x="367" y="0"/>
                </a:moveTo>
                <a:lnTo>
                  <a:pt x="0" y="229"/>
                </a:lnTo>
                <a:lnTo>
                  <a:pt x="0" y="199"/>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702" name="Freeform 907">
            <a:extLst>
              <a:ext uri="{FF2B5EF4-FFF2-40B4-BE49-F238E27FC236}">
                <a16:creationId xmlns:a16="http://schemas.microsoft.com/office/drawing/2014/main" id="{DCFEA301-5E83-8EEB-A020-A32D15EF9FE2}"/>
              </a:ext>
            </a:extLst>
          </p:cNvPr>
          <p:cNvSpPr>
            <a:spLocks/>
          </p:cNvSpPr>
          <p:nvPr/>
        </p:nvSpPr>
        <p:spPr bwMode="auto">
          <a:xfrm>
            <a:off x="3471863" y="3719513"/>
            <a:ext cx="323850" cy="271463"/>
          </a:xfrm>
          <a:custGeom>
            <a:avLst/>
            <a:gdLst>
              <a:gd name="T0" fmla="*/ 204 w 204"/>
              <a:gd name="T1" fmla="*/ 0 h 171"/>
              <a:gd name="T2" fmla="*/ 0 w 204"/>
              <a:gd name="T3" fmla="*/ 171 h 171"/>
              <a:gd name="T4" fmla="*/ 0 w 204"/>
              <a:gd name="T5" fmla="*/ 136 h 171"/>
            </a:gdLst>
            <a:ahLst/>
            <a:cxnLst>
              <a:cxn ang="0">
                <a:pos x="T0" y="T1"/>
              </a:cxn>
              <a:cxn ang="0">
                <a:pos x="T2" y="T3"/>
              </a:cxn>
              <a:cxn ang="0">
                <a:pos x="T4" y="T5"/>
              </a:cxn>
            </a:cxnLst>
            <a:rect l="0" t="0" r="r" b="b"/>
            <a:pathLst>
              <a:path w="204" h="171">
                <a:moveTo>
                  <a:pt x="204" y="0"/>
                </a:moveTo>
                <a:lnTo>
                  <a:pt x="0" y="171"/>
                </a:lnTo>
                <a:lnTo>
                  <a:pt x="0" y="136"/>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703" name="Freeform 908">
            <a:extLst>
              <a:ext uri="{FF2B5EF4-FFF2-40B4-BE49-F238E27FC236}">
                <a16:creationId xmlns:a16="http://schemas.microsoft.com/office/drawing/2014/main" id="{71E258CA-C131-F059-7DCB-A18E8BC33F4F}"/>
              </a:ext>
            </a:extLst>
          </p:cNvPr>
          <p:cNvSpPr>
            <a:spLocks/>
          </p:cNvSpPr>
          <p:nvPr/>
        </p:nvSpPr>
        <p:spPr bwMode="auto">
          <a:xfrm>
            <a:off x="2632075" y="6178550"/>
            <a:ext cx="365125" cy="85725"/>
          </a:xfrm>
          <a:custGeom>
            <a:avLst/>
            <a:gdLst>
              <a:gd name="T0" fmla="*/ 230 w 230"/>
              <a:gd name="T1" fmla="*/ 54 h 54"/>
              <a:gd name="T2" fmla="*/ 0 w 230"/>
              <a:gd name="T3" fmla="*/ 6 h 54"/>
              <a:gd name="T4" fmla="*/ 14 w 230"/>
              <a:gd name="T5" fmla="*/ 0 h 54"/>
            </a:gdLst>
            <a:ahLst/>
            <a:cxnLst>
              <a:cxn ang="0">
                <a:pos x="T0" y="T1"/>
              </a:cxn>
              <a:cxn ang="0">
                <a:pos x="T2" y="T3"/>
              </a:cxn>
              <a:cxn ang="0">
                <a:pos x="T4" y="T5"/>
              </a:cxn>
            </a:cxnLst>
            <a:rect l="0" t="0" r="r" b="b"/>
            <a:pathLst>
              <a:path w="230" h="54">
                <a:moveTo>
                  <a:pt x="230" y="54"/>
                </a:moveTo>
                <a:lnTo>
                  <a:pt x="0" y="6"/>
                </a:lnTo>
                <a:lnTo>
                  <a:pt x="14" y="0"/>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704" name="Freeform 909">
            <a:extLst>
              <a:ext uri="{FF2B5EF4-FFF2-40B4-BE49-F238E27FC236}">
                <a16:creationId xmlns:a16="http://schemas.microsoft.com/office/drawing/2014/main" id="{62E672A2-BA4F-24B7-75F5-C22B617A7194}"/>
              </a:ext>
            </a:extLst>
          </p:cNvPr>
          <p:cNvSpPr>
            <a:spLocks/>
          </p:cNvSpPr>
          <p:nvPr/>
        </p:nvSpPr>
        <p:spPr bwMode="auto">
          <a:xfrm>
            <a:off x="6316663" y="4398963"/>
            <a:ext cx="15875" cy="950913"/>
          </a:xfrm>
          <a:custGeom>
            <a:avLst/>
            <a:gdLst>
              <a:gd name="T0" fmla="*/ 5 w 10"/>
              <a:gd name="T1" fmla="*/ 599 h 599"/>
              <a:gd name="T2" fmla="*/ 10 w 10"/>
              <a:gd name="T3" fmla="*/ 599 h 599"/>
              <a:gd name="T4" fmla="*/ 10 w 10"/>
              <a:gd name="T5" fmla="*/ 0 h 599"/>
              <a:gd name="T6" fmla="*/ 0 w 10"/>
              <a:gd name="T7" fmla="*/ 0 h 599"/>
              <a:gd name="T8" fmla="*/ 0 w 10"/>
              <a:gd name="T9" fmla="*/ 599 h 599"/>
              <a:gd name="T10" fmla="*/ 5 w 10"/>
              <a:gd name="T11" fmla="*/ 599 h 599"/>
            </a:gdLst>
            <a:ahLst/>
            <a:cxnLst>
              <a:cxn ang="0">
                <a:pos x="T0" y="T1"/>
              </a:cxn>
              <a:cxn ang="0">
                <a:pos x="T2" y="T3"/>
              </a:cxn>
              <a:cxn ang="0">
                <a:pos x="T4" y="T5"/>
              </a:cxn>
              <a:cxn ang="0">
                <a:pos x="T6" y="T7"/>
              </a:cxn>
              <a:cxn ang="0">
                <a:pos x="T8" y="T9"/>
              </a:cxn>
              <a:cxn ang="0">
                <a:pos x="T10" y="T11"/>
              </a:cxn>
            </a:cxnLst>
            <a:rect l="0" t="0" r="r" b="b"/>
            <a:pathLst>
              <a:path w="10" h="599">
                <a:moveTo>
                  <a:pt x="5" y="599"/>
                </a:moveTo>
                <a:lnTo>
                  <a:pt x="10" y="599"/>
                </a:lnTo>
                <a:lnTo>
                  <a:pt x="10" y="0"/>
                </a:lnTo>
                <a:lnTo>
                  <a:pt x="0" y="0"/>
                </a:lnTo>
                <a:lnTo>
                  <a:pt x="0" y="599"/>
                </a:lnTo>
                <a:lnTo>
                  <a:pt x="5" y="599"/>
                </a:lnTo>
                <a:close/>
              </a:path>
            </a:pathLst>
          </a:custGeom>
          <a:solidFill>
            <a:srgbClr val="DC2B1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05" name="Rectangle 910">
            <a:extLst>
              <a:ext uri="{FF2B5EF4-FFF2-40B4-BE49-F238E27FC236}">
                <a16:creationId xmlns:a16="http://schemas.microsoft.com/office/drawing/2014/main" id="{448BD320-BDA5-2D32-5699-54E0988D953C}"/>
              </a:ext>
            </a:extLst>
          </p:cNvPr>
          <p:cNvSpPr>
            <a:spLocks noChangeArrowheads="1"/>
          </p:cNvSpPr>
          <p:nvPr/>
        </p:nvSpPr>
        <p:spPr bwMode="auto">
          <a:xfrm>
            <a:off x="5951538" y="4513263"/>
            <a:ext cx="315913" cy="61913"/>
          </a:xfrm>
          <a:prstGeom prst="rect">
            <a:avLst/>
          </a:prstGeom>
          <a:solidFill>
            <a:srgbClr val="0079C5"/>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06" name="Rectangle 911">
            <a:extLst>
              <a:ext uri="{FF2B5EF4-FFF2-40B4-BE49-F238E27FC236}">
                <a16:creationId xmlns:a16="http://schemas.microsoft.com/office/drawing/2014/main" id="{4DE6F80F-B164-7B11-501C-458F04F16BB9}"/>
              </a:ext>
            </a:extLst>
          </p:cNvPr>
          <p:cNvSpPr>
            <a:spLocks noChangeArrowheads="1"/>
          </p:cNvSpPr>
          <p:nvPr/>
        </p:nvSpPr>
        <p:spPr bwMode="auto">
          <a:xfrm>
            <a:off x="5951538" y="4513263"/>
            <a:ext cx="315913" cy="61913"/>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707" name="Rectangle 912">
            <a:extLst>
              <a:ext uri="{FF2B5EF4-FFF2-40B4-BE49-F238E27FC236}">
                <a16:creationId xmlns:a16="http://schemas.microsoft.com/office/drawing/2014/main" id="{339D0BB7-6ECF-A5A7-CAF6-BFF970FBA1A1}"/>
              </a:ext>
            </a:extLst>
          </p:cNvPr>
          <p:cNvSpPr>
            <a:spLocks noChangeArrowheads="1"/>
          </p:cNvSpPr>
          <p:nvPr/>
        </p:nvSpPr>
        <p:spPr bwMode="auto">
          <a:xfrm>
            <a:off x="6384925" y="4513263"/>
            <a:ext cx="314325" cy="61913"/>
          </a:xfrm>
          <a:prstGeom prst="rect">
            <a:avLst/>
          </a:prstGeom>
          <a:solidFill>
            <a:srgbClr val="0079C5"/>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08" name="Rectangle 913">
            <a:extLst>
              <a:ext uri="{FF2B5EF4-FFF2-40B4-BE49-F238E27FC236}">
                <a16:creationId xmlns:a16="http://schemas.microsoft.com/office/drawing/2014/main" id="{16D96F98-680F-9218-BDB7-1E18D59E98D0}"/>
              </a:ext>
            </a:extLst>
          </p:cNvPr>
          <p:cNvSpPr>
            <a:spLocks noChangeArrowheads="1"/>
          </p:cNvSpPr>
          <p:nvPr/>
        </p:nvSpPr>
        <p:spPr bwMode="auto">
          <a:xfrm>
            <a:off x="6384925" y="4513263"/>
            <a:ext cx="314325" cy="61913"/>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709" name="Freeform 914">
            <a:extLst>
              <a:ext uri="{FF2B5EF4-FFF2-40B4-BE49-F238E27FC236}">
                <a16:creationId xmlns:a16="http://schemas.microsoft.com/office/drawing/2014/main" id="{6776390B-0AE8-5953-3A3D-4811D0711AFD}"/>
              </a:ext>
            </a:extLst>
          </p:cNvPr>
          <p:cNvSpPr>
            <a:spLocks/>
          </p:cNvSpPr>
          <p:nvPr/>
        </p:nvSpPr>
        <p:spPr bwMode="auto">
          <a:xfrm>
            <a:off x="6211888" y="4575175"/>
            <a:ext cx="80963" cy="771525"/>
          </a:xfrm>
          <a:custGeom>
            <a:avLst/>
            <a:gdLst>
              <a:gd name="T0" fmla="*/ 2 w 51"/>
              <a:gd name="T1" fmla="*/ 0 h 486"/>
              <a:gd name="T2" fmla="*/ 0 w 51"/>
              <a:gd name="T3" fmla="*/ 61 h 486"/>
              <a:gd name="T4" fmla="*/ 2 w 51"/>
              <a:gd name="T5" fmla="*/ 122 h 486"/>
              <a:gd name="T6" fmla="*/ 3 w 51"/>
              <a:gd name="T7" fmla="*/ 182 h 486"/>
              <a:gd name="T8" fmla="*/ 8 w 51"/>
              <a:gd name="T9" fmla="*/ 243 h 486"/>
              <a:gd name="T10" fmla="*/ 15 w 51"/>
              <a:gd name="T11" fmla="*/ 304 h 486"/>
              <a:gd name="T12" fmla="*/ 22 w 51"/>
              <a:gd name="T13" fmla="*/ 364 h 486"/>
              <a:gd name="T14" fmla="*/ 32 w 51"/>
              <a:gd name="T15" fmla="*/ 425 h 486"/>
              <a:gd name="T16" fmla="*/ 42 w 51"/>
              <a:gd name="T17" fmla="*/ 486 h 486"/>
              <a:gd name="T18" fmla="*/ 51 w 51"/>
              <a:gd name="T19" fmla="*/ 485 h 486"/>
              <a:gd name="T20" fmla="*/ 42 w 51"/>
              <a:gd name="T21" fmla="*/ 423 h 486"/>
              <a:gd name="T22" fmla="*/ 32 w 51"/>
              <a:gd name="T23" fmla="*/ 364 h 486"/>
              <a:gd name="T24" fmla="*/ 25 w 51"/>
              <a:gd name="T25" fmla="*/ 303 h 486"/>
              <a:gd name="T26" fmla="*/ 18 w 51"/>
              <a:gd name="T27" fmla="*/ 243 h 486"/>
              <a:gd name="T28" fmla="*/ 13 w 51"/>
              <a:gd name="T29" fmla="*/ 182 h 486"/>
              <a:gd name="T30" fmla="*/ 12 w 51"/>
              <a:gd name="T31" fmla="*/ 120 h 486"/>
              <a:gd name="T32" fmla="*/ 10 w 51"/>
              <a:gd name="T33" fmla="*/ 61 h 486"/>
              <a:gd name="T34" fmla="*/ 12 w 51"/>
              <a:gd name="T35" fmla="*/ 0 h 486"/>
              <a:gd name="T36" fmla="*/ 2 w 51"/>
              <a:gd name="T37" fmla="*/ 0 h 4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1" h="486">
                <a:moveTo>
                  <a:pt x="2" y="0"/>
                </a:moveTo>
                <a:lnTo>
                  <a:pt x="0" y="61"/>
                </a:lnTo>
                <a:lnTo>
                  <a:pt x="2" y="122"/>
                </a:lnTo>
                <a:lnTo>
                  <a:pt x="3" y="182"/>
                </a:lnTo>
                <a:lnTo>
                  <a:pt x="8" y="243"/>
                </a:lnTo>
                <a:lnTo>
                  <a:pt x="15" y="304"/>
                </a:lnTo>
                <a:lnTo>
                  <a:pt x="22" y="364"/>
                </a:lnTo>
                <a:lnTo>
                  <a:pt x="32" y="425"/>
                </a:lnTo>
                <a:lnTo>
                  <a:pt x="42" y="486"/>
                </a:lnTo>
                <a:lnTo>
                  <a:pt x="51" y="485"/>
                </a:lnTo>
                <a:lnTo>
                  <a:pt x="42" y="423"/>
                </a:lnTo>
                <a:lnTo>
                  <a:pt x="32" y="364"/>
                </a:lnTo>
                <a:lnTo>
                  <a:pt x="25" y="303"/>
                </a:lnTo>
                <a:lnTo>
                  <a:pt x="18" y="243"/>
                </a:lnTo>
                <a:lnTo>
                  <a:pt x="13" y="182"/>
                </a:lnTo>
                <a:lnTo>
                  <a:pt x="12" y="120"/>
                </a:lnTo>
                <a:lnTo>
                  <a:pt x="10" y="61"/>
                </a:lnTo>
                <a:lnTo>
                  <a:pt x="12" y="0"/>
                </a:lnTo>
                <a:lnTo>
                  <a:pt x="2" y="0"/>
                </a:lnTo>
                <a:close/>
              </a:path>
            </a:pathLst>
          </a:custGeom>
          <a:solidFill>
            <a:srgbClr val="DC2B1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10" name="Freeform 915">
            <a:extLst>
              <a:ext uri="{FF2B5EF4-FFF2-40B4-BE49-F238E27FC236}">
                <a16:creationId xmlns:a16="http://schemas.microsoft.com/office/drawing/2014/main" id="{C17EDF6C-F1A6-9857-77D7-B99BA4530AC1}"/>
              </a:ext>
            </a:extLst>
          </p:cNvPr>
          <p:cNvSpPr>
            <a:spLocks/>
          </p:cNvSpPr>
          <p:nvPr/>
        </p:nvSpPr>
        <p:spPr bwMode="auto">
          <a:xfrm>
            <a:off x="6359525" y="4572000"/>
            <a:ext cx="80963" cy="769938"/>
          </a:xfrm>
          <a:custGeom>
            <a:avLst/>
            <a:gdLst>
              <a:gd name="T0" fmla="*/ 40 w 51"/>
              <a:gd name="T1" fmla="*/ 0 h 485"/>
              <a:gd name="T2" fmla="*/ 41 w 51"/>
              <a:gd name="T3" fmla="*/ 59 h 485"/>
              <a:gd name="T4" fmla="*/ 41 w 51"/>
              <a:gd name="T5" fmla="*/ 121 h 485"/>
              <a:gd name="T6" fmla="*/ 38 w 51"/>
              <a:gd name="T7" fmla="*/ 182 h 485"/>
              <a:gd name="T8" fmla="*/ 35 w 51"/>
              <a:gd name="T9" fmla="*/ 242 h 485"/>
              <a:gd name="T10" fmla="*/ 28 w 51"/>
              <a:gd name="T11" fmla="*/ 303 h 485"/>
              <a:gd name="T12" fmla="*/ 20 w 51"/>
              <a:gd name="T13" fmla="*/ 363 h 485"/>
              <a:gd name="T14" fmla="*/ 11 w 51"/>
              <a:gd name="T15" fmla="*/ 424 h 485"/>
              <a:gd name="T16" fmla="*/ 0 w 51"/>
              <a:gd name="T17" fmla="*/ 483 h 485"/>
              <a:gd name="T18" fmla="*/ 10 w 51"/>
              <a:gd name="T19" fmla="*/ 485 h 485"/>
              <a:gd name="T20" fmla="*/ 21 w 51"/>
              <a:gd name="T21" fmla="*/ 425 h 485"/>
              <a:gd name="T22" fmla="*/ 30 w 51"/>
              <a:gd name="T23" fmla="*/ 364 h 485"/>
              <a:gd name="T24" fmla="*/ 38 w 51"/>
              <a:gd name="T25" fmla="*/ 303 h 485"/>
              <a:gd name="T26" fmla="*/ 45 w 51"/>
              <a:gd name="T27" fmla="*/ 243 h 485"/>
              <a:gd name="T28" fmla="*/ 48 w 51"/>
              <a:gd name="T29" fmla="*/ 182 h 485"/>
              <a:gd name="T30" fmla="*/ 51 w 51"/>
              <a:gd name="T31" fmla="*/ 121 h 485"/>
              <a:gd name="T32" fmla="*/ 51 w 51"/>
              <a:gd name="T33" fmla="*/ 59 h 485"/>
              <a:gd name="T34" fmla="*/ 50 w 51"/>
              <a:gd name="T35" fmla="*/ 0 h 485"/>
              <a:gd name="T36" fmla="*/ 40 w 51"/>
              <a:gd name="T37" fmla="*/ 0 h 4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1" h="485">
                <a:moveTo>
                  <a:pt x="40" y="0"/>
                </a:moveTo>
                <a:lnTo>
                  <a:pt x="41" y="59"/>
                </a:lnTo>
                <a:lnTo>
                  <a:pt x="41" y="121"/>
                </a:lnTo>
                <a:lnTo>
                  <a:pt x="38" y="182"/>
                </a:lnTo>
                <a:lnTo>
                  <a:pt x="35" y="242"/>
                </a:lnTo>
                <a:lnTo>
                  <a:pt x="28" y="303"/>
                </a:lnTo>
                <a:lnTo>
                  <a:pt x="20" y="363"/>
                </a:lnTo>
                <a:lnTo>
                  <a:pt x="11" y="424"/>
                </a:lnTo>
                <a:lnTo>
                  <a:pt x="0" y="483"/>
                </a:lnTo>
                <a:lnTo>
                  <a:pt x="10" y="485"/>
                </a:lnTo>
                <a:lnTo>
                  <a:pt x="21" y="425"/>
                </a:lnTo>
                <a:lnTo>
                  <a:pt x="30" y="364"/>
                </a:lnTo>
                <a:lnTo>
                  <a:pt x="38" y="303"/>
                </a:lnTo>
                <a:lnTo>
                  <a:pt x="45" y="243"/>
                </a:lnTo>
                <a:lnTo>
                  <a:pt x="48" y="182"/>
                </a:lnTo>
                <a:lnTo>
                  <a:pt x="51" y="121"/>
                </a:lnTo>
                <a:lnTo>
                  <a:pt x="51" y="59"/>
                </a:lnTo>
                <a:lnTo>
                  <a:pt x="50" y="0"/>
                </a:lnTo>
                <a:lnTo>
                  <a:pt x="40" y="0"/>
                </a:lnTo>
                <a:close/>
              </a:path>
            </a:pathLst>
          </a:custGeom>
          <a:solidFill>
            <a:srgbClr val="DC2B1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11" name="Freeform 916">
            <a:extLst>
              <a:ext uri="{FF2B5EF4-FFF2-40B4-BE49-F238E27FC236}">
                <a16:creationId xmlns:a16="http://schemas.microsoft.com/office/drawing/2014/main" id="{406B4D86-8232-715F-505D-AD15C9C5C358}"/>
              </a:ext>
            </a:extLst>
          </p:cNvPr>
          <p:cNvSpPr>
            <a:spLocks/>
          </p:cNvSpPr>
          <p:nvPr/>
        </p:nvSpPr>
        <p:spPr bwMode="auto">
          <a:xfrm>
            <a:off x="6103938" y="4575175"/>
            <a:ext cx="142875" cy="766763"/>
          </a:xfrm>
          <a:custGeom>
            <a:avLst/>
            <a:gdLst>
              <a:gd name="T0" fmla="*/ 0 w 90"/>
              <a:gd name="T1" fmla="*/ 0 h 483"/>
              <a:gd name="T2" fmla="*/ 4 w 90"/>
              <a:gd name="T3" fmla="*/ 61 h 483"/>
              <a:gd name="T4" fmla="*/ 9 w 90"/>
              <a:gd name="T5" fmla="*/ 120 h 483"/>
              <a:gd name="T6" fmla="*/ 15 w 90"/>
              <a:gd name="T7" fmla="*/ 182 h 483"/>
              <a:gd name="T8" fmla="*/ 25 w 90"/>
              <a:gd name="T9" fmla="*/ 241 h 483"/>
              <a:gd name="T10" fmla="*/ 37 w 90"/>
              <a:gd name="T11" fmla="*/ 301 h 483"/>
              <a:gd name="T12" fmla="*/ 50 w 90"/>
              <a:gd name="T13" fmla="*/ 362 h 483"/>
              <a:gd name="T14" fmla="*/ 65 w 90"/>
              <a:gd name="T15" fmla="*/ 423 h 483"/>
              <a:gd name="T16" fmla="*/ 80 w 90"/>
              <a:gd name="T17" fmla="*/ 483 h 483"/>
              <a:gd name="T18" fmla="*/ 90 w 90"/>
              <a:gd name="T19" fmla="*/ 481 h 483"/>
              <a:gd name="T20" fmla="*/ 73 w 90"/>
              <a:gd name="T21" fmla="*/ 420 h 483"/>
              <a:gd name="T22" fmla="*/ 60 w 90"/>
              <a:gd name="T23" fmla="*/ 361 h 483"/>
              <a:gd name="T24" fmla="*/ 47 w 90"/>
              <a:gd name="T25" fmla="*/ 299 h 483"/>
              <a:gd name="T26" fmla="*/ 35 w 90"/>
              <a:gd name="T27" fmla="*/ 240 h 483"/>
              <a:gd name="T28" fmla="*/ 25 w 90"/>
              <a:gd name="T29" fmla="*/ 180 h 483"/>
              <a:gd name="T30" fmla="*/ 18 w 90"/>
              <a:gd name="T31" fmla="*/ 120 h 483"/>
              <a:gd name="T32" fmla="*/ 13 w 90"/>
              <a:gd name="T33" fmla="*/ 59 h 483"/>
              <a:gd name="T34" fmla="*/ 10 w 90"/>
              <a:gd name="T35" fmla="*/ 0 h 483"/>
              <a:gd name="T36" fmla="*/ 0 w 90"/>
              <a:gd name="T37" fmla="*/ 0 h 4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0" h="483">
                <a:moveTo>
                  <a:pt x="0" y="0"/>
                </a:moveTo>
                <a:lnTo>
                  <a:pt x="4" y="61"/>
                </a:lnTo>
                <a:lnTo>
                  <a:pt x="9" y="120"/>
                </a:lnTo>
                <a:lnTo>
                  <a:pt x="15" y="182"/>
                </a:lnTo>
                <a:lnTo>
                  <a:pt x="25" y="241"/>
                </a:lnTo>
                <a:lnTo>
                  <a:pt x="37" y="301"/>
                </a:lnTo>
                <a:lnTo>
                  <a:pt x="50" y="362"/>
                </a:lnTo>
                <a:lnTo>
                  <a:pt x="65" y="423"/>
                </a:lnTo>
                <a:lnTo>
                  <a:pt x="80" y="483"/>
                </a:lnTo>
                <a:lnTo>
                  <a:pt x="90" y="481"/>
                </a:lnTo>
                <a:lnTo>
                  <a:pt x="73" y="420"/>
                </a:lnTo>
                <a:lnTo>
                  <a:pt x="60" y="361"/>
                </a:lnTo>
                <a:lnTo>
                  <a:pt x="47" y="299"/>
                </a:lnTo>
                <a:lnTo>
                  <a:pt x="35" y="240"/>
                </a:lnTo>
                <a:lnTo>
                  <a:pt x="25" y="180"/>
                </a:lnTo>
                <a:lnTo>
                  <a:pt x="18" y="120"/>
                </a:lnTo>
                <a:lnTo>
                  <a:pt x="13" y="59"/>
                </a:lnTo>
                <a:lnTo>
                  <a:pt x="10" y="0"/>
                </a:lnTo>
                <a:lnTo>
                  <a:pt x="0" y="0"/>
                </a:lnTo>
                <a:close/>
              </a:path>
            </a:pathLst>
          </a:custGeom>
          <a:solidFill>
            <a:srgbClr val="DC2B1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12" name="Freeform 917">
            <a:extLst>
              <a:ext uri="{FF2B5EF4-FFF2-40B4-BE49-F238E27FC236}">
                <a16:creationId xmlns:a16="http://schemas.microsoft.com/office/drawing/2014/main" id="{98118677-294A-4335-F6E7-F7383FAAB0D2}"/>
              </a:ext>
            </a:extLst>
          </p:cNvPr>
          <p:cNvSpPr>
            <a:spLocks/>
          </p:cNvSpPr>
          <p:nvPr/>
        </p:nvSpPr>
        <p:spPr bwMode="auto">
          <a:xfrm>
            <a:off x="6407150" y="4579938"/>
            <a:ext cx="141288" cy="766763"/>
          </a:xfrm>
          <a:custGeom>
            <a:avLst/>
            <a:gdLst>
              <a:gd name="T0" fmla="*/ 79 w 89"/>
              <a:gd name="T1" fmla="*/ 0 h 483"/>
              <a:gd name="T2" fmla="*/ 78 w 89"/>
              <a:gd name="T3" fmla="*/ 59 h 483"/>
              <a:gd name="T4" fmla="*/ 71 w 89"/>
              <a:gd name="T5" fmla="*/ 119 h 483"/>
              <a:gd name="T6" fmla="*/ 64 w 89"/>
              <a:gd name="T7" fmla="*/ 179 h 483"/>
              <a:gd name="T8" fmla="*/ 54 w 89"/>
              <a:gd name="T9" fmla="*/ 240 h 483"/>
              <a:gd name="T10" fmla="*/ 43 w 89"/>
              <a:gd name="T11" fmla="*/ 300 h 483"/>
              <a:gd name="T12" fmla="*/ 31 w 89"/>
              <a:gd name="T13" fmla="*/ 359 h 483"/>
              <a:gd name="T14" fmla="*/ 16 w 89"/>
              <a:gd name="T15" fmla="*/ 420 h 483"/>
              <a:gd name="T16" fmla="*/ 0 w 89"/>
              <a:gd name="T17" fmla="*/ 480 h 483"/>
              <a:gd name="T18" fmla="*/ 10 w 89"/>
              <a:gd name="T19" fmla="*/ 483 h 483"/>
              <a:gd name="T20" fmla="*/ 26 w 89"/>
              <a:gd name="T21" fmla="*/ 422 h 483"/>
              <a:gd name="T22" fmla="*/ 39 w 89"/>
              <a:gd name="T23" fmla="*/ 361 h 483"/>
              <a:gd name="T24" fmla="*/ 53 w 89"/>
              <a:gd name="T25" fmla="*/ 301 h 483"/>
              <a:gd name="T26" fmla="*/ 64 w 89"/>
              <a:gd name="T27" fmla="*/ 242 h 483"/>
              <a:gd name="T28" fmla="*/ 74 w 89"/>
              <a:gd name="T29" fmla="*/ 180 h 483"/>
              <a:gd name="T30" fmla="*/ 81 w 89"/>
              <a:gd name="T31" fmla="*/ 121 h 483"/>
              <a:gd name="T32" fmla="*/ 87 w 89"/>
              <a:gd name="T33" fmla="*/ 59 h 483"/>
              <a:gd name="T34" fmla="*/ 89 w 89"/>
              <a:gd name="T35" fmla="*/ 0 h 483"/>
              <a:gd name="T36" fmla="*/ 79 w 89"/>
              <a:gd name="T37" fmla="*/ 0 h 4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89" h="483">
                <a:moveTo>
                  <a:pt x="79" y="0"/>
                </a:moveTo>
                <a:lnTo>
                  <a:pt x="78" y="59"/>
                </a:lnTo>
                <a:lnTo>
                  <a:pt x="71" y="119"/>
                </a:lnTo>
                <a:lnTo>
                  <a:pt x="64" y="179"/>
                </a:lnTo>
                <a:lnTo>
                  <a:pt x="54" y="240"/>
                </a:lnTo>
                <a:lnTo>
                  <a:pt x="43" y="300"/>
                </a:lnTo>
                <a:lnTo>
                  <a:pt x="31" y="359"/>
                </a:lnTo>
                <a:lnTo>
                  <a:pt x="16" y="420"/>
                </a:lnTo>
                <a:lnTo>
                  <a:pt x="0" y="480"/>
                </a:lnTo>
                <a:lnTo>
                  <a:pt x="10" y="483"/>
                </a:lnTo>
                <a:lnTo>
                  <a:pt x="26" y="422"/>
                </a:lnTo>
                <a:lnTo>
                  <a:pt x="39" y="361"/>
                </a:lnTo>
                <a:lnTo>
                  <a:pt x="53" y="301"/>
                </a:lnTo>
                <a:lnTo>
                  <a:pt x="64" y="242"/>
                </a:lnTo>
                <a:lnTo>
                  <a:pt x="74" y="180"/>
                </a:lnTo>
                <a:lnTo>
                  <a:pt x="81" y="121"/>
                </a:lnTo>
                <a:lnTo>
                  <a:pt x="87" y="59"/>
                </a:lnTo>
                <a:lnTo>
                  <a:pt x="89" y="0"/>
                </a:lnTo>
                <a:lnTo>
                  <a:pt x="79" y="0"/>
                </a:lnTo>
                <a:close/>
              </a:path>
            </a:pathLst>
          </a:custGeom>
          <a:solidFill>
            <a:srgbClr val="DC2B1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13" name="Rectangle 918">
            <a:extLst>
              <a:ext uri="{FF2B5EF4-FFF2-40B4-BE49-F238E27FC236}">
                <a16:creationId xmlns:a16="http://schemas.microsoft.com/office/drawing/2014/main" id="{8A8B3532-5548-886E-701B-7969608A13EB}"/>
              </a:ext>
            </a:extLst>
          </p:cNvPr>
          <p:cNvSpPr>
            <a:spLocks noChangeArrowheads="1"/>
          </p:cNvSpPr>
          <p:nvPr/>
        </p:nvSpPr>
        <p:spPr bwMode="auto">
          <a:xfrm>
            <a:off x="6015038" y="4757738"/>
            <a:ext cx="39688" cy="203200"/>
          </a:xfrm>
          <a:prstGeom prst="rect">
            <a:avLst/>
          </a:prstGeom>
          <a:solidFill>
            <a:srgbClr val="0079C5"/>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14" name="Rectangle 919">
            <a:extLst>
              <a:ext uri="{FF2B5EF4-FFF2-40B4-BE49-F238E27FC236}">
                <a16:creationId xmlns:a16="http://schemas.microsoft.com/office/drawing/2014/main" id="{AB5F6088-E46E-3E17-2D07-F9252C35D9EA}"/>
              </a:ext>
            </a:extLst>
          </p:cNvPr>
          <p:cNvSpPr>
            <a:spLocks noChangeArrowheads="1"/>
          </p:cNvSpPr>
          <p:nvPr/>
        </p:nvSpPr>
        <p:spPr bwMode="auto">
          <a:xfrm>
            <a:off x="6015038" y="4757738"/>
            <a:ext cx="39688" cy="203200"/>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715" name="Rectangle 920">
            <a:extLst>
              <a:ext uri="{FF2B5EF4-FFF2-40B4-BE49-F238E27FC236}">
                <a16:creationId xmlns:a16="http://schemas.microsoft.com/office/drawing/2014/main" id="{4EE36970-724E-536A-80CE-25A49AE94347}"/>
              </a:ext>
            </a:extLst>
          </p:cNvPr>
          <p:cNvSpPr>
            <a:spLocks noChangeArrowheads="1"/>
          </p:cNvSpPr>
          <p:nvPr/>
        </p:nvSpPr>
        <p:spPr bwMode="auto">
          <a:xfrm>
            <a:off x="6599238" y="4757738"/>
            <a:ext cx="41275" cy="203200"/>
          </a:xfrm>
          <a:prstGeom prst="rect">
            <a:avLst/>
          </a:prstGeom>
          <a:solidFill>
            <a:srgbClr val="0079C5"/>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16" name="Rectangle 921">
            <a:extLst>
              <a:ext uri="{FF2B5EF4-FFF2-40B4-BE49-F238E27FC236}">
                <a16:creationId xmlns:a16="http://schemas.microsoft.com/office/drawing/2014/main" id="{2A34AB96-6D5F-9AF6-131C-98EF9E4B16C2}"/>
              </a:ext>
            </a:extLst>
          </p:cNvPr>
          <p:cNvSpPr>
            <a:spLocks noChangeArrowheads="1"/>
          </p:cNvSpPr>
          <p:nvPr/>
        </p:nvSpPr>
        <p:spPr bwMode="auto">
          <a:xfrm>
            <a:off x="6599238" y="4757738"/>
            <a:ext cx="41275" cy="203200"/>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717" name="Rectangle 922">
            <a:extLst>
              <a:ext uri="{FF2B5EF4-FFF2-40B4-BE49-F238E27FC236}">
                <a16:creationId xmlns:a16="http://schemas.microsoft.com/office/drawing/2014/main" id="{481414E2-817D-C709-F251-BE7A083C2477}"/>
              </a:ext>
            </a:extLst>
          </p:cNvPr>
          <p:cNvSpPr>
            <a:spLocks noChangeArrowheads="1"/>
          </p:cNvSpPr>
          <p:nvPr/>
        </p:nvSpPr>
        <p:spPr bwMode="auto">
          <a:xfrm>
            <a:off x="5270500" y="4141788"/>
            <a:ext cx="90170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Scanning plates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718" name="Rectangle 923">
            <a:extLst>
              <a:ext uri="{FF2B5EF4-FFF2-40B4-BE49-F238E27FC236}">
                <a16:creationId xmlns:a16="http://schemas.microsoft.com/office/drawing/2014/main" id="{BDDA27F9-7BB7-74C6-3438-C0F62AA7125D}"/>
              </a:ext>
            </a:extLst>
          </p:cNvPr>
          <p:cNvSpPr>
            <a:spLocks noChangeArrowheads="1"/>
          </p:cNvSpPr>
          <p:nvPr/>
        </p:nvSpPr>
        <p:spPr bwMode="auto">
          <a:xfrm>
            <a:off x="5270500" y="4289425"/>
            <a:ext cx="88265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(two pairs: x,y)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719" name="Rectangle 924">
            <a:extLst>
              <a:ext uri="{FF2B5EF4-FFF2-40B4-BE49-F238E27FC236}">
                <a16:creationId xmlns:a16="http://schemas.microsoft.com/office/drawing/2014/main" id="{DEBB86AB-B9E3-58C0-A488-5E219D6A14C2}"/>
              </a:ext>
            </a:extLst>
          </p:cNvPr>
          <p:cNvSpPr>
            <a:spLocks noChangeArrowheads="1"/>
          </p:cNvSpPr>
          <p:nvPr/>
        </p:nvSpPr>
        <p:spPr bwMode="auto">
          <a:xfrm>
            <a:off x="6434138" y="4141788"/>
            <a:ext cx="557213"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Aperture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720" name="Rectangle 925">
            <a:extLst>
              <a:ext uri="{FF2B5EF4-FFF2-40B4-BE49-F238E27FC236}">
                <a16:creationId xmlns:a16="http://schemas.microsoft.com/office/drawing/2014/main" id="{ABA7E778-581E-7EF4-F683-D9E953BEEC8B}"/>
              </a:ext>
            </a:extLst>
          </p:cNvPr>
          <p:cNvSpPr>
            <a:spLocks noChangeArrowheads="1"/>
          </p:cNvSpPr>
          <p:nvPr/>
        </p:nvSpPr>
        <p:spPr bwMode="auto">
          <a:xfrm>
            <a:off x="5256213" y="5180013"/>
            <a:ext cx="4524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Sample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721" name="Rectangle 926">
            <a:extLst>
              <a:ext uri="{FF2B5EF4-FFF2-40B4-BE49-F238E27FC236}">
                <a16:creationId xmlns:a16="http://schemas.microsoft.com/office/drawing/2014/main" id="{51BCB99C-55E7-56F4-4ECC-1A7E8B8B8505}"/>
              </a:ext>
            </a:extLst>
          </p:cNvPr>
          <p:cNvSpPr>
            <a:spLocks noChangeArrowheads="1"/>
          </p:cNvSpPr>
          <p:nvPr/>
        </p:nvSpPr>
        <p:spPr bwMode="auto">
          <a:xfrm>
            <a:off x="6178550" y="5353050"/>
            <a:ext cx="293688" cy="4763"/>
          </a:xfrm>
          <a:prstGeom prst="rect">
            <a:avLst/>
          </a:prstGeom>
          <a:solidFill>
            <a:srgbClr val="9AB1C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22" name="Rectangle 927">
            <a:extLst>
              <a:ext uri="{FF2B5EF4-FFF2-40B4-BE49-F238E27FC236}">
                <a16:creationId xmlns:a16="http://schemas.microsoft.com/office/drawing/2014/main" id="{F45CE584-5D70-9DBF-C7F1-93FDF5A09B3C}"/>
              </a:ext>
            </a:extLst>
          </p:cNvPr>
          <p:cNvSpPr>
            <a:spLocks noChangeArrowheads="1"/>
          </p:cNvSpPr>
          <p:nvPr/>
        </p:nvSpPr>
        <p:spPr bwMode="auto">
          <a:xfrm>
            <a:off x="6178550" y="5354638"/>
            <a:ext cx="293688" cy="6350"/>
          </a:xfrm>
          <a:prstGeom prst="rect">
            <a:avLst/>
          </a:prstGeom>
          <a:solidFill>
            <a:srgbClr val="9DB4C3"/>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23" name="Rectangle 928">
            <a:extLst>
              <a:ext uri="{FF2B5EF4-FFF2-40B4-BE49-F238E27FC236}">
                <a16:creationId xmlns:a16="http://schemas.microsoft.com/office/drawing/2014/main" id="{20BCF636-F48A-364D-D921-979707637757}"/>
              </a:ext>
            </a:extLst>
          </p:cNvPr>
          <p:cNvSpPr>
            <a:spLocks noChangeArrowheads="1"/>
          </p:cNvSpPr>
          <p:nvPr/>
        </p:nvSpPr>
        <p:spPr bwMode="auto">
          <a:xfrm>
            <a:off x="6178550" y="5365750"/>
            <a:ext cx="293688" cy="4763"/>
          </a:xfrm>
          <a:prstGeom prst="rect">
            <a:avLst/>
          </a:prstGeom>
          <a:solidFill>
            <a:srgbClr val="A8BDCB"/>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24" name="Rectangle 929">
            <a:extLst>
              <a:ext uri="{FF2B5EF4-FFF2-40B4-BE49-F238E27FC236}">
                <a16:creationId xmlns:a16="http://schemas.microsoft.com/office/drawing/2014/main" id="{493B6270-EDF7-BD85-956F-BC70C8AD81C5}"/>
              </a:ext>
            </a:extLst>
          </p:cNvPr>
          <p:cNvSpPr>
            <a:spLocks noChangeArrowheads="1"/>
          </p:cNvSpPr>
          <p:nvPr/>
        </p:nvSpPr>
        <p:spPr bwMode="auto">
          <a:xfrm>
            <a:off x="6178550" y="5368925"/>
            <a:ext cx="293688" cy="4763"/>
          </a:xfrm>
          <a:prstGeom prst="rect">
            <a:avLst/>
          </a:prstGeom>
          <a:solidFill>
            <a:srgbClr val="ABBFC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25" name="Rectangle 930">
            <a:extLst>
              <a:ext uri="{FF2B5EF4-FFF2-40B4-BE49-F238E27FC236}">
                <a16:creationId xmlns:a16="http://schemas.microsoft.com/office/drawing/2014/main" id="{ACB180E1-517A-8D06-D9F4-BCAD6D58EB04}"/>
              </a:ext>
            </a:extLst>
          </p:cNvPr>
          <p:cNvSpPr>
            <a:spLocks noChangeArrowheads="1"/>
          </p:cNvSpPr>
          <p:nvPr/>
        </p:nvSpPr>
        <p:spPr bwMode="auto">
          <a:xfrm>
            <a:off x="6178550" y="5376863"/>
            <a:ext cx="293688" cy="7938"/>
          </a:xfrm>
          <a:prstGeom prst="rect">
            <a:avLst/>
          </a:prstGeom>
          <a:solidFill>
            <a:srgbClr val="B7C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26" name="Rectangle 931">
            <a:extLst>
              <a:ext uri="{FF2B5EF4-FFF2-40B4-BE49-F238E27FC236}">
                <a16:creationId xmlns:a16="http://schemas.microsoft.com/office/drawing/2014/main" id="{9756A815-39F8-746F-9790-7066DA7D7C2E}"/>
              </a:ext>
            </a:extLst>
          </p:cNvPr>
          <p:cNvSpPr>
            <a:spLocks noChangeArrowheads="1"/>
          </p:cNvSpPr>
          <p:nvPr/>
        </p:nvSpPr>
        <p:spPr bwMode="auto">
          <a:xfrm>
            <a:off x="6178550" y="5378450"/>
            <a:ext cx="293688" cy="7938"/>
          </a:xfrm>
          <a:prstGeom prst="rect">
            <a:avLst/>
          </a:prstGeom>
          <a:solidFill>
            <a:srgbClr val="BECDD8"/>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27" name="Rectangle 932">
            <a:extLst>
              <a:ext uri="{FF2B5EF4-FFF2-40B4-BE49-F238E27FC236}">
                <a16:creationId xmlns:a16="http://schemas.microsoft.com/office/drawing/2014/main" id="{0BB01A62-A264-5E18-798B-980E4FA72546}"/>
              </a:ext>
            </a:extLst>
          </p:cNvPr>
          <p:cNvSpPr>
            <a:spLocks noChangeArrowheads="1"/>
          </p:cNvSpPr>
          <p:nvPr/>
        </p:nvSpPr>
        <p:spPr bwMode="auto">
          <a:xfrm>
            <a:off x="6178550" y="5392738"/>
            <a:ext cx="293688" cy="4763"/>
          </a:xfrm>
          <a:prstGeom prst="rect">
            <a:avLst/>
          </a:prstGeom>
          <a:solidFill>
            <a:srgbClr val="D0DCE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28" name="Rectangle 933">
            <a:extLst>
              <a:ext uri="{FF2B5EF4-FFF2-40B4-BE49-F238E27FC236}">
                <a16:creationId xmlns:a16="http://schemas.microsoft.com/office/drawing/2014/main" id="{7E09ED83-50C5-D65A-B723-625C32D79608}"/>
              </a:ext>
            </a:extLst>
          </p:cNvPr>
          <p:cNvSpPr>
            <a:spLocks noChangeArrowheads="1"/>
          </p:cNvSpPr>
          <p:nvPr/>
        </p:nvSpPr>
        <p:spPr bwMode="auto">
          <a:xfrm>
            <a:off x="6178550" y="5394325"/>
            <a:ext cx="293688" cy="4763"/>
          </a:xfrm>
          <a:prstGeom prst="rect">
            <a:avLst/>
          </a:prstGeom>
          <a:solidFill>
            <a:srgbClr val="D5DFE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29" name="Rectangle 934">
            <a:extLst>
              <a:ext uri="{FF2B5EF4-FFF2-40B4-BE49-F238E27FC236}">
                <a16:creationId xmlns:a16="http://schemas.microsoft.com/office/drawing/2014/main" id="{86A52984-F69D-3478-D27F-E9AEB7B11D31}"/>
              </a:ext>
            </a:extLst>
          </p:cNvPr>
          <p:cNvSpPr>
            <a:spLocks noChangeArrowheads="1"/>
          </p:cNvSpPr>
          <p:nvPr/>
        </p:nvSpPr>
        <p:spPr bwMode="auto">
          <a:xfrm>
            <a:off x="6178550" y="5405438"/>
            <a:ext cx="293688" cy="4763"/>
          </a:xfrm>
          <a:prstGeom prst="rect">
            <a:avLst/>
          </a:prstGeom>
          <a:solidFill>
            <a:srgbClr val="E8EDF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30" name="Rectangle 935">
            <a:extLst>
              <a:ext uri="{FF2B5EF4-FFF2-40B4-BE49-F238E27FC236}">
                <a16:creationId xmlns:a16="http://schemas.microsoft.com/office/drawing/2014/main" id="{0D54577E-7F95-933F-F2B3-63F90958D2D7}"/>
              </a:ext>
            </a:extLst>
          </p:cNvPr>
          <p:cNvSpPr>
            <a:spLocks noChangeArrowheads="1"/>
          </p:cNvSpPr>
          <p:nvPr/>
        </p:nvSpPr>
        <p:spPr bwMode="auto">
          <a:xfrm>
            <a:off x="6178550" y="5407025"/>
            <a:ext cx="293688" cy="6350"/>
          </a:xfrm>
          <a:prstGeom prst="rect">
            <a:avLst/>
          </a:prstGeom>
          <a:solidFill>
            <a:srgbClr val="E8EDF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31" name="Rectangle 936">
            <a:extLst>
              <a:ext uri="{FF2B5EF4-FFF2-40B4-BE49-F238E27FC236}">
                <a16:creationId xmlns:a16="http://schemas.microsoft.com/office/drawing/2014/main" id="{C33EA459-ECAE-32DC-C7BE-DDB0752B20FE}"/>
              </a:ext>
            </a:extLst>
          </p:cNvPr>
          <p:cNvSpPr>
            <a:spLocks noChangeArrowheads="1"/>
          </p:cNvSpPr>
          <p:nvPr/>
        </p:nvSpPr>
        <p:spPr bwMode="auto">
          <a:xfrm>
            <a:off x="6178550" y="5346700"/>
            <a:ext cx="293688" cy="74613"/>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732" name="Freeform 937">
            <a:extLst>
              <a:ext uri="{FF2B5EF4-FFF2-40B4-BE49-F238E27FC236}">
                <a16:creationId xmlns:a16="http://schemas.microsoft.com/office/drawing/2014/main" id="{5CD562A3-5B8C-C14C-CAFE-EBC78923D15B}"/>
              </a:ext>
            </a:extLst>
          </p:cNvPr>
          <p:cNvSpPr>
            <a:spLocks/>
          </p:cNvSpPr>
          <p:nvPr/>
        </p:nvSpPr>
        <p:spPr bwMode="auto">
          <a:xfrm>
            <a:off x="5715000" y="5281613"/>
            <a:ext cx="460375" cy="144463"/>
          </a:xfrm>
          <a:custGeom>
            <a:avLst/>
            <a:gdLst>
              <a:gd name="T0" fmla="*/ 0 w 290"/>
              <a:gd name="T1" fmla="*/ 0 h 91"/>
              <a:gd name="T2" fmla="*/ 290 w 290"/>
              <a:gd name="T3" fmla="*/ 60 h 91"/>
              <a:gd name="T4" fmla="*/ 229 w 290"/>
              <a:gd name="T5" fmla="*/ 91 h 91"/>
            </a:gdLst>
            <a:ahLst/>
            <a:cxnLst>
              <a:cxn ang="0">
                <a:pos x="T0" y="T1"/>
              </a:cxn>
              <a:cxn ang="0">
                <a:pos x="T2" y="T3"/>
              </a:cxn>
              <a:cxn ang="0">
                <a:pos x="T4" y="T5"/>
              </a:cxn>
            </a:cxnLst>
            <a:rect l="0" t="0" r="r" b="b"/>
            <a:pathLst>
              <a:path w="290" h="91">
                <a:moveTo>
                  <a:pt x="0" y="0"/>
                </a:moveTo>
                <a:lnTo>
                  <a:pt x="290" y="60"/>
                </a:lnTo>
                <a:lnTo>
                  <a:pt x="229" y="91"/>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733" name="Freeform 938">
            <a:extLst>
              <a:ext uri="{FF2B5EF4-FFF2-40B4-BE49-F238E27FC236}">
                <a16:creationId xmlns:a16="http://schemas.microsoft.com/office/drawing/2014/main" id="{2C7753EA-472B-2829-7573-4E24DD8D83E8}"/>
              </a:ext>
            </a:extLst>
          </p:cNvPr>
          <p:cNvSpPr>
            <a:spLocks/>
          </p:cNvSpPr>
          <p:nvPr/>
        </p:nvSpPr>
        <p:spPr bwMode="auto">
          <a:xfrm>
            <a:off x="5459413" y="4468813"/>
            <a:ext cx="555625" cy="412750"/>
          </a:xfrm>
          <a:custGeom>
            <a:avLst/>
            <a:gdLst>
              <a:gd name="T0" fmla="*/ 0 w 350"/>
              <a:gd name="T1" fmla="*/ 0 h 260"/>
              <a:gd name="T2" fmla="*/ 350 w 350"/>
              <a:gd name="T3" fmla="*/ 244 h 260"/>
              <a:gd name="T4" fmla="*/ 309 w 350"/>
              <a:gd name="T5" fmla="*/ 260 h 260"/>
            </a:gdLst>
            <a:ahLst/>
            <a:cxnLst>
              <a:cxn ang="0">
                <a:pos x="T0" y="T1"/>
              </a:cxn>
              <a:cxn ang="0">
                <a:pos x="T2" y="T3"/>
              </a:cxn>
              <a:cxn ang="0">
                <a:pos x="T4" y="T5"/>
              </a:cxn>
            </a:cxnLst>
            <a:rect l="0" t="0" r="r" b="b"/>
            <a:pathLst>
              <a:path w="350" h="260">
                <a:moveTo>
                  <a:pt x="0" y="0"/>
                </a:moveTo>
                <a:lnTo>
                  <a:pt x="350" y="244"/>
                </a:lnTo>
                <a:lnTo>
                  <a:pt x="309" y="260"/>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734" name="Freeform 939">
            <a:extLst>
              <a:ext uri="{FF2B5EF4-FFF2-40B4-BE49-F238E27FC236}">
                <a16:creationId xmlns:a16="http://schemas.microsoft.com/office/drawing/2014/main" id="{4D5EA8B8-4402-0743-507D-E13E0F9DD5DC}"/>
              </a:ext>
            </a:extLst>
          </p:cNvPr>
          <p:cNvSpPr>
            <a:spLocks/>
          </p:cNvSpPr>
          <p:nvPr/>
        </p:nvSpPr>
        <p:spPr bwMode="auto">
          <a:xfrm>
            <a:off x="6384925" y="4284663"/>
            <a:ext cx="84138" cy="227013"/>
          </a:xfrm>
          <a:custGeom>
            <a:avLst/>
            <a:gdLst>
              <a:gd name="T0" fmla="*/ 53 w 53"/>
              <a:gd name="T1" fmla="*/ 0 h 143"/>
              <a:gd name="T2" fmla="*/ 30 w 53"/>
              <a:gd name="T3" fmla="*/ 143 h 143"/>
              <a:gd name="T4" fmla="*/ 0 w 53"/>
              <a:gd name="T5" fmla="*/ 113 h 143"/>
            </a:gdLst>
            <a:ahLst/>
            <a:cxnLst>
              <a:cxn ang="0">
                <a:pos x="T0" y="T1"/>
              </a:cxn>
              <a:cxn ang="0">
                <a:pos x="T2" y="T3"/>
              </a:cxn>
              <a:cxn ang="0">
                <a:pos x="T4" y="T5"/>
              </a:cxn>
            </a:cxnLst>
            <a:rect l="0" t="0" r="r" b="b"/>
            <a:pathLst>
              <a:path w="53" h="143">
                <a:moveTo>
                  <a:pt x="53" y="0"/>
                </a:moveTo>
                <a:lnTo>
                  <a:pt x="30" y="143"/>
                </a:lnTo>
                <a:lnTo>
                  <a:pt x="0" y="113"/>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0735" name="Rectangle 940">
            <a:extLst>
              <a:ext uri="{FF2B5EF4-FFF2-40B4-BE49-F238E27FC236}">
                <a16:creationId xmlns:a16="http://schemas.microsoft.com/office/drawing/2014/main" id="{EE296188-0DFA-CD17-3B6F-E46FE0E459DC}"/>
              </a:ext>
            </a:extLst>
          </p:cNvPr>
          <p:cNvSpPr>
            <a:spLocks noChangeArrowheads="1"/>
          </p:cNvSpPr>
          <p:nvPr/>
        </p:nvSpPr>
        <p:spPr bwMode="auto">
          <a:xfrm>
            <a:off x="5010150" y="5605463"/>
            <a:ext cx="183038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Image: Voltages V &amp; V scanned:</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736" name="Rectangle 941">
            <a:extLst>
              <a:ext uri="{FF2B5EF4-FFF2-40B4-BE49-F238E27FC236}">
                <a16:creationId xmlns:a16="http://schemas.microsoft.com/office/drawing/2014/main" id="{08F665A4-C265-8187-ACE7-482056222787}"/>
              </a:ext>
            </a:extLst>
          </p:cNvPr>
          <p:cNvSpPr>
            <a:spLocks noChangeArrowheads="1"/>
          </p:cNvSpPr>
          <p:nvPr/>
        </p:nvSpPr>
        <p:spPr bwMode="auto">
          <a:xfrm>
            <a:off x="5392738" y="5764213"/>
            <a:ext cx="83820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Photointensity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737" name="Rectangle 942">
            <a:extLst>
              <a:ext uri="{FF2B5EF4-FFF2-40B4-BE49-F238E27FC236}">
                <a16:creationId xmlns:a16="http://schemas.microsoft.com/office/drawing/2014/main" id="{EFF23611-8D58-2D7C-D9D2-8732F50FF3C2}"/>
              </a:ext>
            </a:extLst>
          </p:cNvPr>
          <p:cNvSpPr>
            <a:spLocks noChangeArrowheads="1"/>
          </p:cNvSpPr>
          <p:nvPr/>
        </p:nvSpPr>
        <p:spPr bwMode="auto">
          <a:xfrm>
            <a:off x="6207125" y="5764213"/>
            <a:ext cx="8588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collected from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738" name="Rectangle 943">
            <a:extLst>
              <a:ext uri="{FF2B5EF4-FFF2-40B4-BE49-F238E27FC236}">
                <a16:creationId xmlns:a16="http://schemas.microsoft.com/office/drawing/2014/main" id="{F6756680-54ED-951F-0B6A-B9608A814DE8}"/>
              </a:ext>
            </a:extLst>
          </p:cNvPr>
          <p:cNvSpPr>
            <a:spLocks noChangeArrowheads="1"/>
          </p:cNvSpPr>
          <p:nvPr/>
        </p:nvSpPr>
        <p:spPr bwMode="auto">
          <a:xfrm>
            <a:off x="5392738" y="5908675"/>
            <a:ext cx="181610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different points in time sequence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739" name="Rectangle 944">
            <a:extLst>
              <a:ext uri="{FF2B5EF4-FFF2-40B4-BE49-F238E27FC236}">
                <a16:creationId xmlns:a16="http://schemas.microsoft.com/office/drawing/2014/main" id="{E397BD36-06BA-E229-ACEC-7909FBEC8B0E}"/>
              </a:ext>
            </a:extLst>
          </p:cNvPr>
          <p:cNvSpPr>
            <a:spLocks noChangeArrowheads="1"/>
          </p:cNvSpPr>
          <p:nvPr/>
        </p:nvSpPr>
        <p:spPr bwMode="auto">
          <a:xfrm>
            <a:off x="6035675" y="5713413"/>
            <a:ext cx="58738" cy="85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500" b="1" i="0" u="none" strike="noStrike" cap="none" normalizeH="0" baseline="0">
                <a:ln>
                  <a:noFill/>
                </a:ln>
                <a:solidFill>
                  <a:srgbClr val="000000"/>
                </a:solidFill>
                <a:effectLst/>
                <a:latin typeface="Times New Roman" panose="02020603050405020304" pitchFamily="18" charset="0"/>
              </a:rPr>
              <a:t>x</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740" name="Rectangle 945">
            <a:extLst>
              <a:ext uri="{FF2B5EF4-FFF2-40B4-BE49-F238E27FC236}">
                <a16:creationId xmlns:a16="http://schemas.microsoft.com/office/drawing/2014/main" id="{6B5EEA5E-D885-3DD4-9FE2-CE2E723E7B2B}"/>
              </a:ext>
            </a:extLst>
          </p:cNvPr>
          <p:cNvSpPr>
            <a:spLocks noChangeArrowheads="1"/>
          </p:cNvSpPr>
          <p:nvPr/>
        </p:nvSpPr>
        <p:spPr bwMode="auto">
          <a:xfrm>
            <a:off x="6338888" y="5713413"/>
            <a:ext cx="57150" cy="85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500" b="1" i="0" u="none" strike="noStrike" cap="none" normalizeH="0" baseline="0">
                <a:ln>
                  <a:noFill/>
                </a:ln>
                <a:solidFill>
                  <a:srgbClr val="000000"/>
                </a:solidFill>
                <a:effectLst/>
                <a:latin typeface="Times New Roman" panose="02020603050405020304" pitchFamily="18" charset="0"/>
              </a:rPr>
              <a:t>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741" name="Rectangle 946">
            <a:extLst>
              <a:ext uri="{FF2B5EF4-FFF2-40B4-BE49-F238E27FC236}">
                <a16:creationId xmlns:a16="http://schemas.microsoft.com/office/drawing/2014/main" id="{41BF4BB3-53B3-3DBD-7CAB-3B97693A06E0}"/>
              </a:ext>
            </a:extLst>
          </p:cNvPr>
          <p:cNvSpPr>
            <a:spLocks noChangeArrowheads="1"/>
          </p:cNvSpPr>
          <p:nvPr/>
        </p:nvSpPr>
        <p:spPr bwMode="auto">
          <a:xfrm>
            <a:off x="5465763" y="6249988"/>
            <a:ext cx="100488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Resolution: ~10m</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742" name="Rectangle 947">
            <a:extLst>
              <a:ext uri="{FF2B5EF4-FFF2-40B4-BE49-F238E27FC236}">
                <a16:creationId xmlns:a16="http://schemas.microsoft.com/office/drawing/2014/main" id="{ACB333BE-1A58-6074-E7F0-4BC9187F103E}"/>
              </a:ext>
            </a:extLst>
          </p:cNvPr>
          <p:cNvSpPr>
            <a:spLocks noChangeArrowheads="1"/>
          </p:cNvSpPr>
          <p:nvPr/>
        </p:nvSpPr>
        <p:spPr bwMode="auto">
          <a:xfrm>
            <a:off x="6340475" y="6229350"/>
            <a:ext cx="147638" cy="185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a:ln>
                  <a:noFill/>
                </a:ln>
                <a:solidFill>
                  <a:srgbClr val="000000"/>
                </a:solidFill>
                <a:effectLst/>
                <a:latin typeface="Symbol" panose="05050102010706020507" pitchFamily="18" charset="2"/>
              </a:rPr>
              <a:t>m</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743" name="Rectangle 948">
            <a:extLst>
              <a:ext uri="{FF2B5EF4-FFF2-40B4-BE49-F238E27FC236}">
                <a16:creationId xmlns:a16="http://schemas.microsoft.com/office/drawing/2014/main" id="{3FCB8004-DFA7-14A1-6BA6-31F3A8A79216}"/>
              </a:ext>
            </a:extLst>
          </p:cNvPr>
          <p:cNvSpPr>
            <a:spLocks noChangeArrowheads="1"/>
          </p:cNvSpPr>
          <p:nvPr/>
        </p:nvSpPr>
        <p:spPr bwMode="auto">
          <a:xfrm>
            <a:off x="5192713" y="2654300"/>
            <a:ext cx="100488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Resolution: ~50m</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744" name="Rectangle 949">
            <a:extLst>
              <a:ext uri="{FF2B5EF4-FFF2-40B4-BE49-F238E27FC236}">
                <a16:creationId xmlns:a16="http://schemas.microsoft.com/office/drawing/2014/main" id="{DD5EC34B-1696-530A-4E5B-BA45D1014D9F}"/>
              </a:ext>
            </a:extLst>
          </p:cNvPr>
          <p:cNvSpPr>
            <a:spLocks noChangeArrowheads="1"/>
          </p:cNvSpPr>
          <p:nvPr/>
        </p:nvSpPr>
        <p:spPr bwMode="auto">
          <a:xfrm>
            <a:off x="6067425" y="2632075"/>
            <a:ext cx="147638" cy="185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a:ln>
                  <a:noFill/>
                </a:ln>
                <a:solidFill>
                  <a:srgbClr val="000000"/>
                </a:solidFill>
                <a:effectLst/>
                <a:latin typeface="Symbol" panose="05050102010706020507" pitchFamily="18" charset="2"/>
              </a:rPr>
              <a:t>m</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0745" name="Rectangle 950">
            <a:extLst>
              <a:ext uri="{FF2B5EF4-FFF2-40B4-BE49-F238E27FC236}">
                <a16:creationId xmlns:a16="http://schemas.microsoft.com/office/drawing/2014/main" id="{5B4FAF05-8938-04BB-C93F-22891538C975}"/>
              </a:ext>
            </a:extLst>
          </p:cNvPr>
          <p:cNvSpPr>
            <a:spLocks noChangeArrowheads="1"/>
          </p:cNvSpPr>
          <p:nvPr/>
        </p:nvSpPr>
        <p:spPr bwMode="auto">
          <a:xfrm>
            <a:off x="6178550" y="5346700"/>
            <a:ext cx="293688" cy="3175"/>
          </a:xfrm>
          <a:prstGeom prst="rect">
            <a:avLst/>
          </a:prstGeom>
          <a:solidFill>
            <a:srgbClr val="96AEB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46" name="Rectangle 951">
            <a:extLst>
              <a:ext uri="{FF2B5EF4-FFF2-40B4-BE49-F238E27FC236}">
                <a16:creationId xmlns:a16="http://schemas.microsoft.com/office/drawing/2014/main" id="{C23F9315-AD16-50B1-660D-98616DAC353B}"/>
              </a:ext>
            </a:extLst>
          </p:cNvPr>
          <p:cNvSpPr>
            <a:spLocks noChangeArrowheads="1"/>
          </p:cNvSpPr>
          <p:nvPr/>
        </p:nvSpPr>
        <p:spPr bwMode="auto">
          <a:xfrm>
            <a:off x="6178550" y="5346700"/>
            <a:ext cx="293688" cy="6350"/>
          </a:xfrm>
          <a:prstGeom prst="rect">
            <a:avLst/>
          </a:prstGeom>
          <a:solidFill>
            <a:srgbClr val="96AEB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47" name="Rectangle 952">
            <a:extLst>
              <a:ext uri="{FF2B5EF4-FFF2-40B4-BE49-F238E27FC236}">
                <a16:creationId xmlns:a16="http://schemas.microsoft.com/office/drawing/2014/main" id="{79CC17E9-E235-2EEB-4A26-832C332D938A}"/>
              </a:ext>
            </a:extLst>
          </p:cNvPr>
          <p:cNvSpPr>
            <a:spLocks noChangeArrowheads="1"/>
          </p:cNvSpPr>
          <p:nvPr/>
        </p:nvSpPr>
        <p:spPr bwMode="auto">
          <a:xfrm>
            <a:off x="6178550" y="5349875"/>
            <a:ext cx="293688" cy="4763"/>
          </a:xfrm>
          <a:prstGeom prst="rect">
            <a:avLst/>
          </a:prstGeom>
          <a:solidFill>
            <a:srgbClr val="96AEB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48" name="Rectangle 953">
            <a:extLst>
              <a:ext uri="{FF2B5EF4-FFF2-40B4-BE49-F238E27FC236}">
                <a16:creationId xmlns:a16="http://schemas.microsoft.com/office/drawing/2014/main" id="{9E3F6D2A-D512-8211-4C34-6EEC7BF8D377}"/>
              </a:ext>
            </a:extLst>
          </p:cNvPr>
          <p:cNvSpPr>
            <a:spLocks noChangeArrowheads="1"/>
          </p:cNvSpPr>
          <p:nvPr/>
        </p:nvSpPr>
        <p:spPr bwMode="auto">
          <a:xfrm>
            <a:off x="6178550" y="5357813"/>
            <a:ext cx="293688" cy="4763"/>
          </a:xfrm>
          <a:prstGeom prst="rect">
            <a:avLst/>
          </a:prstGeom>
          <a:solidFill>
            <a:srgbClr val="A1B7C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49" name="Rectangle 954">
            <a:extLst>
              <a:ext uri="{FF2B5EF4-FFF2-40B4-BE49-F238E27FC236}">
                <a16:creationId xmlns:a16="http://schemas.microsoft.com/office/drawing/2014/main" id="{493E1F85-DFD4-06D9-5A9F-04E8D6F98BDE}"/>
              </a:ext>
            </a:extLst>
          </p:cNvPr>
          <p:cNvSpPr>
            <a:spLocks noChangeArrowheads="1"/>
          </p:cNvSpPr>
          <p:nvPr/>
        </p:nvSpPr>
        <p:spPr bwMode="auto">
          <a:xfrm>
            <a:off x="6178550" y="5360988"/>
            <a:ext cx="293688" cy="4763"/>
          </a:xfrm>
          <a:prstGeom prst="rect">
            <a:avLst/>
          </a:prstGeom>
          <a:solidFill>
            <a:srgbClr val="A1B7C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50" name="Rectangle 955">
            <a:extLst>
              <a:ext uri="{FF2B5EF4-FFF2-40B4-BE49-F238E27FC236}">
                <a16:creationId xmlns:a16="http://schemas.microsoft.com/office/drawing/2014/main" id="{CDC4D257-8FED-90C7-EB21-90FC8A145B31}"/>
              </a:ext>
            </a:extLst>
          </p:cNvPr>
          <p:cNvSpPr>
            <a:spLocks noChangeArrowheads="1"/>
          </p:cNvSpPr>
          <p:nvPr/>
        </p:nvSpPr>
        <p:spPr bwMode="auto">
          <a:xfrm>
            <a:off x="6178550" y="5362575"/>
            <a:ext cx="293688" cy="6350"/>
          </a:xfrm>
          <a:prstGeom prst="rect">
            <a:avLst/>
          </a:prstGeom>
          <a:solidFill>
            <a:srgbClr val="A4B9C8"/>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51" name="Rectangle 956">
            <a:extLst>
              <a:ext uri="{FF2B5EF4-FFF2-40B4-BE49-F238E27FC236}">
                <a16:creationId xmlns:a16="http://schemas.microsoft.com/office/drawing/2014/main" id="{A3CAEB43-746E-3E6D-8608-1073FE44A26D}"/>
              </a:ext>
            </a:extLst>
          </p:cNvPr>
          <p:cNvSpPr>
            <a:spLocks noChangeArrowheads="1"/>
          </p:cNvSpPr>
          <p:nvPr/>
        </p:nvSpPr>
        <p:spPr bwMode="auto">
          <a:xfrm>
            <a:off x="6178550" y="5370513"/>
            <a:ext cx="293688" cy="6350"/>
          </a:xfrm>
          <a:prstGeom prst="rect">
            <a:avLst/>
          </a:prstGeom>
          <a:solidFill>
            <a:srgbClr val="ABBFC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52" name="Rectangle 957">
            <a:extLst>
              <a:ext uri="{FF2B5EF4-FFF2-40B4-BE49-F238E27FC236}">
                <a16:creationId xmlns:a16="http://schemas.microsoft.com/office/drawing/2014/main" id="{EF745DA2-B441-EDAB-46BC-E3D8B2D4AD9C}"/>
              </a:ext>
            </a:extLst>
          </p:cNvPr>
          <p:cNvSpPr>
            <a:spLocks noChangeArrowheads="1"/>
          </p:cNvSpPr>
          <p:nvPr/>
        </p:nvSpPr>
        <p:spPr bwMode="auto">
          <a:xfrm>
            <a:off x="6178550" y="5384800"/>
            <a:ext cx="293688" cy="4763"/>
          </a:xfrm>
          <a:prstGeom prst="rect">
            <a:avLst/>
          </a:prstGeom>
          <a:solidFill>
            <a:srgbClr val="C3D1DB"/>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53" name="Rectangle 958">
            <a:extLst>
              <a:ext uri="{FF2B5EF4-FFF2-40B4-BE49-F238E27FC236}">
                <a16:creationId xmlns:a16="http://schemas.microsoft.com/office/drawing/2014/main" id="{A2141FB0-709A-25BD-C804-8072AA274395}"/>
              </a:ext>
            </a:extLst>
          </p:cNvPr>
          <p:cNvSpPr>
            <a:spLocks noChangeArrowheads="1"/>
          </p:cNvSpPr>
          <p:nvPr/>
        </p:nvSpPr>
        <p:spPr bwMode="auto">
          <a:xfrm>
            <a:off x="6178550" y="5386388"/>
            <a:ext cx="293688" cy="6350"/>
          </a:xfrm>
          <a:prstGeom prst="rect">
            <a:avLst/>
          </a:prstGeom>
          <a:solidFill>
            <a:srgbClr val="C3D1DB"/>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54" name="Rectangle 959">
            <a:extLst>
              <a:ext uri="{FF2B5EF4-FFF2-40B4-BE49-F238E27FC236}">
                <a16:creationId xmlns:a16="http://schemas.microsoft.com/office/drawing/2014/main" id="{EAE0C934-F9E8-7931-7212-9E6CB9B498D8}"/>
              </a:ext>
            </a:extLst>
          </p:cNvPr>
          <p:cNvSpPr>
            <a:spLocks noChangeArrowheads="1"/>
          </p:cNvSpPr>
          <p:nvPr/>
        </p:nvSpPr>
        <p:spPr bwMode="auto">
          <a:xfrm>
            <a:off x="6178550" y="5389563"/>
            <a:ext cx="293688" cy="4763"/>
          </a:xfrm>
          <a:prstGeom prst="rect">
            <a:avLst/>
          </a:prstGeom>
          <a:solidFill>
            <a:srgbClr val="C9D6D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55" name="Rectangle 960">
            <a:extLst>
              <a:ext uri="{FF2B5EF4-FFF2-40B4-BE49-F238E27FC236}">
                <a16:creationId xmlns:a16="http://schemas.microsoft.com/office/drawing/2014/main" id="{99C4AC53-B7DA-591E-2172-049B46E320CC}"/>
              </a:ext>
            </a:extLst>
          </p:cNvPr>
          <p:cNvSpPr>
            <a:spLocks noChangeArrowheads="1"/>
          </p:cNvSpPr>
          <p:nvPr/>
        </p:nvSpPr>
        <p:spPr bwMode="auto">
          <a:xfrm>
            <a:off x="6178550" y="5397500"/>
            <a:ext cx="293688" cy="4763"/>
          </a:xfrm>
          <a:prstGeom prst="rect">
            <a:avLst/>
          </a:prstGeom>
          <a:solidFill>
            <a:srgbClr val="D5DFE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56" name="Rectangle 961">
            <a:extLst>
              <a:ext uri="{FF2B5EF4-FFF2-40B4-BE49-F238E27FC236}">
                <a16:creationId xmlns:a16="http://schemas.microsoft.com/office/drawing/2014/main" id="{65ACB3E8-9B0A-3F76-99E0-287728535E2A}"/>
              </a:ext>
            </a:extLst>
          </p:cNvPr>
          <p:cNvSpPr>
            <a:spLocks noChangeArrowheads="1"/>
          </p:cNvSpPr>
          <p:nvPr/>
        </p:nvSpPr>
        <p:spPr bwMode="auto">
          <a:xfrm>
            <a:off x="6178550" y="5399088"/>
            <a:ext cx="293688" cy="6350"/>
          </a:xfrm>
          <a:prstGeom prst="rect">
            <a:avLst/>
          </a:prstGeom>
          <a:solidFill>
            <a:srgbClr val="DCE4EA"/>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57" name="Rectangle 962">
            <a:extLst>
              <a:ext uri="{FF2B5EF4-FFF2-40B4-BE49-F238E27FC236}">
                <a16:creationId xmlns:a16="http://schemas.microsoft.com/office/drawing/2014/main" id="{12CD6FA0-FC1D-1F15-568D-E2216BFDFBD9}"/>
              </a:ext>
            </a:extLst>
          </p:cNvPr>
          <p:cNvSpPr>
            <a:spLocks noChangeArrowheads="1"/>
          </p:cNvSpPr>
          <p:nvPr/>
        </p:nvSpPr>
        <p:spPr bwMode="auto">
          <a:xfrm>
            <a:off x="6178550" y="5402263"/>
            <a:ext cx="293688" cy="4763"/>
          </a:xfrm>
          <a:prstGeom prst="rect">
            <a:avLst/>
          </a:prstGeom>
          <a:solidFill>
            <a:srgbClr val="E1E8E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58" name="Rectangle 963">
            <a:extLst>
              <a:ext uri="{FF2B5EF4-FFF2-40B4-BE49-F238E27FC236}">
                <a16:creationId xmlns:a16="http://schemas.microsoft.com/office/drawing/2014/main" id="{A98096C6-8631-B498-4EC7-0F50204AC74A}"/>
              </a:ext>
            </a:extLst>
          </p:cNvPr>
          <p:cNvSpPr>
            <a:spLocks noChangeArrowheads="1"/>
          </p:cNvSpPr>
          <p:nvPr/>
        </p:nvSpPr>
        <p:spPr bwMode="auto">
          <a:xfrm>
            <a:off x="6178550" y="5410200"/>
            <a:ext cx="293688" cy="4763"/>
          </a:xfrm>
          <a:prstGeom prst="rect">
            <a:avLst/>
          </a:prstGeom>
          <a:solidFill>
            <a:srgbClr val="ECF1F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59" name="Rectangle 964">
            <a:extLst>
              <a:ext uri="{FF2B5EF4-FFF2-40B4-BE49-F238E27FC236}">
                <a16:creationId xmlns:a16="http://schemas.microsoft.com/office/drawing/2014/main" id="{75063722-7159-FF47-A6B6-60B060D1F66A}"/>
              </a:ext>
            </a:extLst>
          </p:cNvPr>
          <p:cNvSpPr>
            <a:spLocks noChangeArrowheads="1"/>
          </p:cNvSpPr>
          <p:nvPr/>
        </p:nvSpPr>
        <p:spPr bwMode="auto">
          <a:xfrm>
            <a:off x="6178550" y="5414963"/>
            <a:ext cx="293688" cy="6350"/>
          </a:xfrm>
          <a:prstGeom prst="rect">
            <a:avLst/>
          </a:prstGeom>
          <a:solidFill>
            <a:srgbClr val="F8FAFB"/>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60" name="Rectangle 965">
            <a:extLst>
              <a:ext uri="{FF2B5EF4-FFF2-40B4-BE49-F238E27FC236}">
                <a16:creationId xmlns:a16="http://schemas.microsoft.com/office/drawing/2014/main" id="{2379830E-1E99-974B-EF2C-62B45C87B689}"/>
              </a:ext>
            </a:extLst>
          </p:cNvPr>
          <p:cNvSpPr>
            <a:spLocks noChangeArrowheads="1"/>
          </p:cNvSpPr>
          <p:nvPr/>
        </p:nvSpPr>
        <p:spPr bwMode="auto">
          <a:xfrm>
            <a:off x="6178550" y="5418138"/>
            <a:ext cx="293688"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61" name="Rectangle 966">
            <a:extLst>
              <a:ext uri="{FF2B5EF4-FFF2-40B4-BE49-F238E27FC236}">
                <a16:creationId xmlns:a16="http://schemas.microsoft.com/office/drawing/2014/main" id="{3332298B-E104-1179-DEF5-DD29174C1AEB}"/>
              </a:ext>
            </a:extLst>
          </p:cNvPr>
          <p:cNvSpPr>
            <a:spLocks noChangeArrowheads="1"/>
          </p:cNvSpPr>
          <p:nvPr/>
        </p:nvSpPr>
        <p:spPr bwMode="auto">
          <a:xfrm>
            <a:off x="1527175" y="1714500"/>
            <a:ext cx="5710238" cy="46894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62" name="Freeform 967">
            <a:extLst>
              <a:ext uri="{FF2B5EF4-FFF2-40B4-BE49-F238E27FC236}">
                <a16:creationId xmlns:a16="http://schemas.microsoft.com/office/drawing/2014/main" id="{ACAD0846-9DE1-2826-ACD9-571952A483BE}"/>
              </a:ext>
            </a:extLst>
          </p:cNvPr>
          <p:cNvSpPr>
            <a:spLocks noEditPoints="1"/>
          </p:cNvSpPr>
          <p:nvPr/>
        </p:nvSpPr>
        <p:spPr bwMode="auto">
          <a:xfrm>
            <a:off x="1955800" y="2403475"/>
            <a:ext cx="1919288" cy="315913"/>
          </a:xfrm>
          <a:custGeom>
            <a:avLst/>
            <a:gdLst>
              <a:gd name="T0" fmla="*/ 3 w 1209"/>
              <a:gd name="T1" fmla="*/ 197 h 199"/>
              <a:gd name="T2" fmla="*/ 0 w 1209"/>
              <a:gd name="T3" fmla="*/ 199 h 199"/>
              <a:gd name="T4" fmla="*/ 3 w 1209"/>
              <a:gd name="T5" fmla="*/ 199 h 199"/>
              <a:gd name="T6" fmla="*/ 3 w 1209"/>
              <a:gd name="T7" fmla="*/ 197 h 199"/>
              <a:gd name="T8" fmla="*/ 1204 w 1209"/>
              <a:gd name="T9" fmla="*/ 1 h 199"/>
              <a:gd name="T10" fmla="*/ 1209 w 1209"/>
              <a:gd name="T11" fmla="*/ 0 h 199"/>
              <a:gd name="T12" fmla="*/ 1204 w 1209"/>
              <a:gd name="T13" fmla="*/ 0 h 199"/>
              <a:gd name="T14" fmla="*/ 1204 w 1209"/>
              <a:gd name="T15" fmla="*/ 1 h 1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09" h="199">
                <a:moveTo>
                  <a:pt x="3" y="197"/>
                </a:moveTo>
                <a:lnTo>
                  <a:pt x="0" y="199"/>
                </a:lnTo>
                <a:lnTo>
                  <a:pt x="3" y="199"/>
                </a:lnTo>
                <a:lnTo>
                  <a:pt x="3" y="197"/>
                </a:lnTo>
                <a:close/>
                <a:moveTo>
                  <a:pt x="1204" y="1"/>
                </a:moveTo>
                <a:lnTo>
                  <a:pt x="1209" y="0"/>
                </a:lnTo>
                <a:lnTo>
                  <a:pt x="1204" y="0"/>
                </a:lnTo>
                <a:lnTo>
                  <a:pt x="1204" y="1"/>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63" name="Freeform 968">
            <a:extLst>
              <a:ext uri="{FF2B5EF4-FFF2-40B4-BE49-F238E27FC236}">
                <a16:creationId xmlns:a16="http://schemas.microsoft.com/office/drawing/2014/main" id="{5CD799D0-9F9F-6D1E-C520-B8C6B509C35B}"/>
              </a:ext>
            </a:extLst>
          </p:cNvPr>
          <p:cNvSpPr>
            <a:spLocks noEditPoints="1"/>
          </p:cNvSpPr>
          <p:nvPr/>
        </p:nvSpPr>
        <p:spPr bwMode="auto">
          <a:xfrm>
            <a:off x="1958975" y="2403475"/>
            <a:ext cx="1912938" cy="315913"/>
          </a:xfrm>
          <a:custGeom>
            <a:avLst/>
            <a:gdLst>
              <a:gd name="T0" fmla="*/ 1205 w 1205"/>
              <a:gd name="T1" fmla="*/ 0 h 199"/>
              <a:gd name="T2" fmla="*/ 1205 w 1205"/>
              <a:gd name="T3" fmla="*/ 0 h 199"/>
              <a:gd name="T4" fmla="*/ 1200 w 1205"/>
              <a:gd name="T5" fmla="*/ 0 h 199"/>
              <a:gd name="T6" fmla="*/ 1200 w 1205"/>
              <a:gd name="T7" fmla="*/ 1 h 199"/>
              <a:gd name="T8" fmla="*/ 1200 w 1205"/>
              <a:gd name="T9" fmla="*/ 3 h 199"/>
              <a:gd name="T10" fmla="*/ 1205 w 1205"/>
              <a:gd name="T11" fmla="*/ 0 h 199"/>
              <a:gd name="T12" fmla="*/ 0 w 1205"/>
              <a:gd name="T13" fmla="*/ 197 h 199"/>
              <a:gd name="T14" fmla="*/ 0 w 1205"/>
              <a:gd name="T15" fmla="*/ 197 h 199"/>
              <a:gd name="T16" fmla="*/ 0 w 1205"/>
              <a:gd name="T17" fmla="*/ 199 h 199"/>
              <a:gd name="T18" fmla="*/ 5 w 1205"/>
              <a:gd name="T19" fmla="*/ 199 h 199"/>
              <a:gd name="T20" fmla="*/ 5 w 1205"/>
              <a:gd name="T21" fmla="*/ 197 h 199"/>
              <a:gd name="T22" fmla="*/ 5 w 1205"/>
              <a:gd name="T23" fmla="*/ 195 h 199"/>
              <a:gd name="T24" fmla="*/ 0 w 1205"/>
              <a:gd name="T25" fmla="*/ 19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05" h="199">
                <a:moveTo>
                  <a:pt x="1205" y="0"/>
                </a:moveTo>
                <a:lnTo>
                  <a:pt x="1205" y="0"/>
                </a:lnTo>
                <a:lnTo>
                  <a:pt x="1200" y="0"/>
                </a:lnTo>
                <a:lnTo>
                  <a:pt x="1200" y="1"/>
                </a:lnTo>
                <a:lnTo>
                  <a:pt x="1200" y="3"/>
                </a:lnTo>
                <a:lnTo>
                  <a:pt x="1205" y="0"/>
                </a:lnTo>
                <a:close/>
                <a:moveTo>
                  <a:pt x="0" y="197"/>
                </a:moveTo>
                <a:lnTo>
                  <a:pt x="0" y="197"/>
                </a:lnTo>
                <a:lnTo>
                  <a:pt x="0" y="199"/>
                </a:lnTo>
                <a:lnTo>
                  <a:pt x="5" y="199"/>
                </a:lnTo>
                <a:lnTo>
                  <a:pt x="5" y="197"/>
                </a:lnTo>
                <a:lnTo>
                  <a:pt x="5" y="195"/>
                </a:lnTo>
                <a:lnTo>
                  <a:pt x="0" y="197"/>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64" name="Freeform 969">
            <a:extLst>
              <a:ext uri="{FF2B5EF4-FFF2-40B4-BE49-F238E27FC236}">
                <a16:creationId xmlns:a16="http://schemas.microsoft.com/office/drawing/2014/main" id="{BDE8ED89-6F2D-56E0-AF35-A5E2CA9FB1D4}"/>
              </a:ext>
            </a:extLst>
          </p:cNvPr>
          <p:cNvSpPr>
            <a:spLocks noEditPoints="1"/>
          </p:cNvSpPr>
          <p:nvPr/>
        </p:nvSpPr>
        <p:spPr bwMode="auto">
          <a:xfrm>
            <a:off x="1960563" y="2403475"/>
            <a:ext cx="1906588" cy="315913"/>
          </a:xfrm>
          <a:custGeom>
            <a:avLst/>
            <a:gdLst>
              <a:gd name="T0" fmla="*/ 1201 w 1201"/>
              <a:gd name="T1" fmla="*/ 1 h 199"/>
              <a:gd name="T2" fmla="*/ 1201 w 1201"/>
              <a:gd name="T3" fmla="*/ 1 h 199"/>
              <a:gd name="T4" fmla="*/ 1201 w 1201"/>
              <a:gd name="T5" fmla="*/ 0 h 199"/>
              <a:gd name="T6" fmla="*/ 1196 w 1201"/>
              <a:gd name="T7" fmla="*/ 0 h 199"/>
              <a:gd name="T8" fmla="*/ 1196 w 1201"/>
              <a:gd name="T9" fmla="*/ 1 h 199"/>
              <a:gd name="T10" fmla="*/ 1198 w 1201"/>
              <a:gd name="T11" fmla="*/ 1 h 199"/>
              <a:gd name="T12" fmla="*/ 1198 w 1201"/>
              <a:gd name="T13" fmla="*/ 3 h 199"/>
              <a:gd name="T14" fmla="*/ 1201 w 1201"/>
              <a:gd name="T15" fmla="*/ 1 h 199"/>
              <a:gd name="T16" fmla="*/ 0 w 1201"/>
              <a:gd name="T17" fmla="*/ 197 h 199"/>
              <a:gd name="T18" fmla="*/ 0 w 1201"/>
              <a:gd name="T19" fmla="*/ 197 h 199"/>
              <a:gd name="T20" fmla="*/ 0 w 1201"/>
              <a:gd name="T21" fmla="*/ 199 h 199"/>
              <a:gd name="T22" fmla="*/ 5 w 1201"/>
              <a:gd name="T23" fmla="*/ 199 h 199"/>
              <a:gd name="T24" fmla="*/ 5 w 1201"/>
              <a:gd name="T25" fmla="*/ 197 h 199"/>
              <a:gd name="T26" fmla="*/ 5 w 1201"/>
              <a:gd name="T27" fmla="*/ 195 h 199"/>
              <a:gd name="T28" fmla="*/ 5 w 1201"/>
              <a:gd name="T29" fmla="*/ 194 h 199"/>
              <a:gd name="T30" fmla="*/ 0 w 1201"/>
              <a:gd name="T31" fmla="*/ 19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01" h="199">
                <a:moveTo>
                  <a:pt x="1201" y="1"/>
                </a:moveTo>
                <a:lnTo>
                  <a:pt x="1201" y="1"/>
                </a:lnTo>
                <a:lnTo>
                  <a:pt x="1201" y="0"/>
                </a:lnTo>
                <a:lnTo>
                  <a:pt x="1196" y="0"/>
                </a:lnTo>
                <a:lnTo>
                  <a:pt x="1196" y="1"/>
                </a:lnTo>
                <a:lnTo>
                  <a:pt x="1198" y="1"/>
                </a:lnTo>
                <a:lnTo>
                  <a:pt x="1198" y="3"/>
                </a:lnTo>
                <a:lnTo>
                  <a:pt x="1201" y="1"/>
                </a:lnTo>
                <a:close/>
                <a:moveTo>
                  <a:pt x="0" y="197"/>
                </a:moveTo>
                <a:lnTo>
                  <a:pt x="0" y="197"/>
                </a:lnTo>
                <a:lnTo>
                  <a:pt x="0" y="199"/>
                </a:lnTo>
                <a:lnTo>
                  <a:pt x="5" y="199"/>
                </a:lnTo>
                <a:lnTo>
                  <a:pt x="5" y="197"/>
                </a:lnTo>
                <a:lnTo>
                  <a:pt x="5" y="195"/>
                </a:lnTo>
                <a:lnTo>
                  <a:pt x="5" y="194"/>
                </a:lnTo>
                <a:lnTo>
                  <a:pt x="0" y="197"/>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65" name="Freeform 970">
            <a:extLst>
              <a:ext uri="{FF2B5EF4-FFF2-40B4-BE49-F238E27FC236}">
                <a16:creationId xmlns:a16="http://schemas.microsoft.com/office/drawing/2014/main" id="{A5CE4BBE-9F8F-0289-541B-27D393B83031}"/>
              </a:ext>
            </a:extLst>
          </p:cNvPr>
          <p:cNvSpPr>
            <a:spLocks noEditPoints="1"/>
          </p:cNvSpPr>
          <p:nvPr/>
        </p:nvSpPr>
        <p:spPr bwMode="auto">
          <a:xfrm>
            <a:off x="1966913" y="2403475"/>
            <a:ext cx="1897063" cy="315913"/>
          </a:xfrm>
          <a:custGeom>
            <a:avLst/>
            <a:gdLst>
              <a:gd name="T0" fmla="*/ 1195 w 1195"/>
              <a:gd name="T1" fmla="*/ 3 h 199"/>
              <a:gd name="T2" fmla="*/ 1195 w 1195"/>
              <a:gd name="T3" fmla="*/ 1 h 199"/>
              <a:gd name="T4" fmla="*/ 1195 w 1195"/>
              <a:gd name="T5" fmla="*/ 0 h 199"/>
              <a:gd name="T6" fmla="*/ 1190 w 1195"/>
              <a:gd name="T7" fmla="*/ 0 h 199"/>
              <a:gd name="T8" fmla="*/ 1190 w 1195"/>
              <a:gd name="T9" fmla="*/ 1 h 199"/>
              <a:gd name="T10" fmla="*/ 1190 w 1195"/>
              <a:gd name="T11" fmla="*/ 3 h 199"/>
              <a:gd name="T12" fmla="*/ 1190 w 1195"/>
              <a:gd name="T13" fmla="*/ 5 h 199"/>
              <a:gd name="T14" fmla="*/ 1195 w 1195"/>
              <a:gd name="T15" fmla="*/ 3 h 199"/>
              <a:gd name="T16" fmla="*/ 0 w 1195"/>
              <a:gd name="T17" fmla="*/ 195 h 199"/>
              <a:gd name="T18" fmla="*/ 0 w 1195"/>
              <a:gd name="T19" fmla="*/ 195 h 199"/>
              <a:gd name="T20" fmla="*/ 0 w 1195"/>
              <a:gd name="T21" fmla="*/ 197 h 199"/>
              <a:gd name="T22" fmla="*/ 0 w 1195"/>
              <a:gd name="T23" fmla="*/ 199 h 199"/>
              <a:gd name="T24" fmla="*/ 5 w 1195"/>
              <a:gd name="T25" fmla="*/ 199 h 199"/>
              <a:gd name="T26" fmla="*/ 5 w 1195"/>
              <a:gd name="T27" fmla="*/ 197 h 199"/>
              <a:gd name="T28" fmla="*/ 5 w 1195"/>
              <a:gd name="T29" fmla="*/ 195 h 199"/>
              <a:gd name="T30" fmla="*/ 3 w 1195"/>
              <a:gd name="T31" fmla="*/ 195 h 199"/>
              <a:gd name="T32" fmla="*/ 3 w 1195"/>
              <a:gd name="T33" fmla="*/ 194 h 199"/>
              <a:gd name="T34" fmla="*/ 0 w 1195"/>
              <a:gd name="T35" fmla="*/ 19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95" h="199">
                <a:moveTo>
                  <a:pt x="1195" y="3"/>
                </a:moveTo>
                <a:lnTo>
                  <a:pt x="1195" y="1"/>
                </a:lnTo>
                <a:lnTo>
                  <a:pt x="1195" y="0"/>
                </a:lnTo>
                <a:lnTo>
                  <a:pt x="1190" y="0"/>
                </a:lnTo>
                <a:lnTo>
                  <a:pt x="1190" y="1"/>
                </a:lnTo>
                <a:lnTo>
                  <a:pt x="1190" y="3"/>
                </a:lnTo>
                <a:lnTo>
                  <a:pt x="1190" y="5"/>
                </a:lnTo>
                <a:lnTo>
                  <a:pt x="1195" y="3"/>
                </a:lnTo>
                <a:close/>
                <a:moveTo>
                  <a:pt x="0" y="195"/>
                </a:moveTo>
                <a:lnTo>
                  <a:pt x="0" y="195"/>
                </a:lnTo>
                <a:lnTo>
                  <a:pt x="0" y="197"/>
                </a:lnTo>
                <a:lnTo>
                  <a:pt x="0" y="199"/>
                </a:lnTo>
                <a:lnTo>
                  <a:pt x="5" y="199"/>
                </a:lnTo>
                <a:lnTo>
                  <a:pt x="5" y="197"/>
                </a:lnTo>
                <a:lnTo>
                  <a:pt x="5" y="195"/>
                </a:lnTo>
                <a:lnTo>
                  <a:pt x="3" y="195"/>
                </a:lnTo>
                <a:lnTo>
                  <a:pt x="3" y="194"/>
                </a:lnTo>
                <a:lnTo>
                  <a:pt x="0" y="195"/>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66" name="Freeform 971">
            <a:extLst>
              <a:ext uri="{FF2B5EF4-FFF2-40B4-BE49-F238E27FC236}">
                <a16:creationId xmlns:a16="http://schemas.microsoft.com/office/drawing/2014/main" id="{2AB99C1B-B9CA-767A-1711-58E132A6D875}"/>
              </a:ext>
            </a:extLst>
          </p:cNvPr>
          <p:cNvSpPr>
            <a:spLocks noEditPoints="1"/>
          </p:cNvSpPr>
          <p:nvPr/>
        </p:nvSpPr>
        <p:spPr bwMode="auto">
          <a:xfrm>
            <a:off x="1968500" y="2403475"/>
            <a:ext cx="1893888" cy="315913"/>
          </a:xfrm>
          <a:custGeom>
            <a:avLst/>
            <a:gdLst>
              <a:gd name="T0" fmla="*/ 1193 w 1193"/>
              <a:gd name="T1" fmla="*/ 3 h 199"/>
              <a:gd name="T2" fmla="*/ 1193 w 1193"/>
              <a:gd name="T3" fmla="*/ 3 h 199"/>
              <a:gd name="T4" fmla="*/ 1193 w 1193"/>
              <a:gd name="T5" fmla="*/ 1 h 199"/>
              <a:gd name="T6" fmla="*/ 1191 w 1193"/>
              <a:gd name="T7" fmla="*/ 1 h 199"/>
              <a:gd name="T8" fmla="*/ 1191 w 1193"/>
              <a:gd name="T9" fmla="*/ 0 h 199"/>
              <a:gd name="T10" fmla="*/ 1186 w 1193"/>
              <a:gd name="T11" fmla="*/ 0 h 199"/>
              <a:gd name="T12" fmla="*/ 1188 w 1193"/>
              <a:gd name="T13" fmla="*/ 1 h 199"/>
              <a:gd name="T14" fmla="*/ 1188 w 1193"/>
              <a:gd name="T15" fmla="*/ 3 h 199"/>
              <a:gd name="T16" fmla="*/ 1188 w 1193"/>
              <a:gd name="T17" fmla="*/ 5 h 199"/>
              <a:gd name="T18" fmla="*/ 1188 w 1193"/>
              <a:gd name="T19" fmla="*/ 6 h 199"/>
              <a:gd name="T20" fmla="*/ 1193 w 1193"/>
              <a:gd name="T21" fmla="*/ 3 h 199"/>
              <a:gd name="T22" fmla="*/ 0 w 1193"/>
              <a:gd name="T23" fmla="*/ 194 h 199"/>
              <a:gd name="T24" fmla="*/ 0 w 1193"/>
              <a:gd name="T25" fmla="*/ 195 h 199"/>
              <a:gd name="T26" fmla="*/ 0 w 1193"/>
              <a:gd name="T27" fmla="*/ 197 h 199"/>
              <a:gd name="T28" fmla="*/ 0 w 1193"/>
              <a:gd name="T29" fmla="*/ 199 h 199"/>
              <a:gd name="T30" fmla="*/ 5 w 1193"/>
              <a:gd name="T31" fmla="*/ 199 h 199"/>
              <a:gd name="T32" fmla="*/ 5 w 1193"/>
              <a:gd name="T33" fmla="*/ 197 h 199"/>
              <a:gd name="T34" fmla="*/ 5 w 1193"/>
              <a:gd name="T35" fmla="*/ 195 h 199"/>
              <a:gd name="T36" fmla="*/ 5 w 1193"/>
              <a:gd name="T37" fmla="*/ 194 h 199"/>
              <a:gd name="T38" fmla="*/ 5 w 1193"/>
              <a:gd name="T39" fmla="*/ 192 h 199"/>
              <a:gd name="T40" fmla="*/ 0 w 1193"/>
              <a:gd name="T41" fmla="*/ 19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193" h="199">
                <a:moveTo>
                  <a:pt x="1193" y="3"/>
                </a:moveTo>
                <a:lnTo>
                  <a:pt x="1193" y="3"/>
                </a:lnTo>
                <a:lnTo>
                  <a:pt x="1193" y="1"/>
                </a:lnTo>
                <a:lnTo>
                  <a:pt x="1191" y="1"/>
                </a:lnTo>
                <a:lnTo>
                  <a:pt x="1191" y="0"/>
                </a:lnTo>
                <a:lnTo>
                  <a:pt x="1186" y="0"/>
                </a:lnTo>
                <a:lnTo>
                  <a:pt x="1188" y="1"/>
                </a:lnTo>
                <a:lnTo>
                  <a:pt x="1188" y="3"/>
                </a:lnTo>
                <a:lnTo>
                  <a:pt x="1188" y="5"/>
                </a:lnTo>
                <a:lnTo>
                  <a:pt x="1188" y="6"/>
                </a:lnTo>
                <a:lnTo>
                  <a:pt x="1193" y="3"/>
                </a:lnTo>
                <a:close/>
                <a:moveTo>
                  <a:pt x="0" y="194"/>
                </a:moveTo>
                <a:lnTo>
                  <a:pt x="0" y="195"/>
                </a:lnTo>
                <a:lnTo>
                  <a:pt x="0" y="197"/>
                </a:lnTo>
                <a:lnTo>
                  <a:pt x="0" y="199"/>
                </a:lnTo>
                <a:lnTo>
                  <a:pt x="5" y="199"/>
                </a:lnTo>
                <a:lnTo>
                  <a:pt x="5" y="197"/>
                </a:lnTo>
                <a:lnTo>
                  <a:pt x="5" y="195"/>
                </a:lnTo>
                <a:lnTo>
                  <a:pt x="5" y="194"/>
                </a:lnTo>
                <a:lnTo>
                  <a:pt x="5" y="192"/>
                </a:lnTo>
                <a:lnTo>
                  <a:pt x="0" y="194"/>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67" name="Freeform 972">
            <a:extLst>
              <a:ext uri="{FF2B5EF4-FFF2-40B4-BE49-F238E27FC236}">
                <a16:creationId xmlns:a16="http://schemas.microsoft.com/office/drawing/2014/main" id="{2DB59D45-5806-EF94-B765-011C9AE9FDF7}"/>
              </a:ext>
            </a:extLst>
          </p:cNvPr>
          <p:cNvSpPr>
            <a:spLocks noEditPoints="1"/>
          </p:cNvSpPr>
          <p:nvPr/>
        </p:nvSpPr>
        <p:spPr bwMode="auto">
          <a:xfrm>
            <a:off x="1971675" y="2403475"/>
            <a:ext cx="1884363" cy="315913"/>
          </a:xfrm>
          <a:custGeom>
            <a:avLst/>
            <a:gdLst>
              <a:gd name="T0" fmla="*/ 1187 w 1187"/>
              <a:gd name="T1" fmla="*/ 5 h 199"/>
              <a:gd name="T2" fmla="*/ 1187 w 1187"/>
              <a:gd name="T3" fmla="*/ 5 h 199"/>
              <a:gd name="T4" fmla="*/ 1187 w 1187"/>
              <a:gd name="T5" fmla="*/ 3 h 199"/>
              <a:gd name="T6" fmla="*/ 1187 w 1187"/>
              <a:gd name="T7" fmla="*/ 1 h 199"/>
              <a:gd name="T8" fmla="*/ 1187 w 1187"/>
              <a:gd name="T9" fmla="*/ 0 h 199"/>
              <a:gd name="T10" fmla="*/ 1182 w 1187"/>
              <a:gd name="T11" fmla="*/ 0 h 199"/>
              <a:gd name="T12" fmla="*/ 1182 w 1187"/>
              <a:gd name="T13" fmla="*/ 1 h 199"/>
              <a:gd name="T14" fmla="*/ 1182 w 1187"/>
              <a:gd name="T15" fmla="*/ 3 h 199"/>
              <a:gd name="T16" fmla="*/ 1182 w 1187"/>
              <a:gd name="T17" fmla="*/ 5 h 199"/>
              <a:gd name="T18" fmla="*/ 1184 w 1187"/>
              <a:gd name="T19" fmla="*/ 6 h 199"/>
              <a:gd name="T20" fmla="*/ 1187 w 1187"/>
              <a:gd name="T21" fmla="*/ 5 h 199"/>
              <a:gd name="T22" fmla="*/ 0 w 1187"/>
              <a:gd name="T23" fmla="*/ 194 h 199"/>
              <a:gd name="T24" fmla="*/ 0 w 1187"/>
              <a:gd name="T25" fmla="*/ 194 h 199"/>
              <a:gd name="T26" fmla="*/ 0 w 1187"/>
              <a:gd name="T27" fmla="*/ 195 h 199"/>
              <a:gd name="T28" fmla="*/ 2 w 1187"/>
              <a:gd name="T29" fmla="*/ 195 h 199"/>
              <a:gd name="T30" fmla="*/ 2 w 1187"/>
              <a:gd name="T31" fmla="*/ 197 h 199"/>
              <a:gd name="T32" fmla="*/ 2 w 1187"/>
              <a:gd name="T33" fmla="*/ 199 h 199"/>
              <a:gd name="T34" fmla="*/ 7 w 1187"/>
              <a:gd name="T35" fmla="*/ 199 h 199"/>
              <a:gd name="T36" fmla="*/ 7 w 1187"/>
              <a:gd name="T37" fmla="*/ 197 h 199"/>
              <a:gd name="T38" fmla="*/ 7 w 1187"/>
              <a:gd name="T39" fmla="*/ 195 h 199"/>
              <a:gd name="T40" fmla="*/ 5 w 1187"/>
              <a:gd name="T41" fmla="*/ 195 h 199"/>
              <a:gd name="T42" fmla="*/ 5 w 1187"/>
              <a:gd name="T43" fmla="*/ 194 h 199"/>
              <a:gd name="T44" fmla="*/ 5 w 1187"/>
              <a:gd name="T45" fmla="*/ 192 h 199"/>
              <a:gd name="T46" fmla="*/ 5 w 1187"/>
              <a:gd name="T47" fmla="*/ 190 h 199"/>
              <a:gd name="T48" fmla="*/ 0 w 1187"/>
              <a:gd name="T49" fmla="*/ 19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187" h="199">
                <a:moveTo>
                  <a:pt x="1187" y="5"/>
                </a:moveTo>
                <a:lnTo>
                  <a:pt x="1187" y="5"/>
                </a:lnTo>
                <a:lnTo>
                  <a:pt x="1187" y="3"/>
                </a:lnTo>
                <a:lnTo>
                  <a:pt x="1187" y="1"/>
                </a:lnTo>
                <a:lnTo>
                  <a:pt x="1187" y="0"/>
                </a:lnTo>
                <a:lnTo>
                  <a:pt x="1182" y="0"/>
                </a:lnTo>
                <a:lnTo>
                  <a:pt x="1182" y="1"/>
                </a:lnTo>
                <a:lnTo>
                  <a:pt x="1182" y="3"/>
                </a:lnTo>
                <a:lnTo>
                  <a:pt x="1182" y="5"/>
                </a:lnTo>
                <a:lnTo>
                  <a:pt x="1184" y="6"/>
                </a:lnTo>
                <a:lnTo>
                  <a:pt x="1187" y="5"/>
                </a:lnTo>
                <a:close/>
                <a:moveTo>
                  <a:pt x="0" y="194"/>
                </a:moveTo>
                <a:lnTo>
                  <a:pt x="0" y="194"/>
                </a:lnTo>
                <a:lnTo>
                  <a:pt x="0" y="195"/>
                </a:lnTo>
                <a:lnTo>
                  <a:pt x="2" y="195"/>
                </a:lnTo>
                <a:lnTo>
                  <a:pt x="2" y="197"/>
                </a:lnTo>
                <a:lnTo>
                  <a:pt x="2" y="199"/>
                </a:lnTo>
                <a:lnTo>
                  <a:pt x="7" y="199"/>
                </a:lnTo>
                <a:lnTo>
                  <a:pt x="7" y="197"/>
                </a:lnTo>
                <a:lnTo>
                  <a:pt x="7" y="195"/>
                </a:lnTo>
                <a:lnTo>
                  <a:pt x="5" y="195"/>
                </a:lnTo>
                <a:lnTo>
                  <a:pt x="5" y="194"/>
                </a:lnTo>
                <a:lnTo>
                  <a:pt x="5" y="192"/>
                </a:lnTo>
                <a:lnTo>
                  <a:pt x="5" y="190"/>
                </a:lnTo>
                <a:lnTo>
                  <a:pt x="0" y="194"/>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68" name="Freeform 973">
            <a:extLst>
              <a:ext uri="{FF2B5EF4-FFF2-40B4-BE49-F238E27FC236}">
                <a16:creationId xmlns:a16="http://schemas.microsoft.com/office/drawing/2014/main" id="{D591B8B2-B7E2-6AEC-D72B-686368439D33}"/>
              </a:ext>
            </a:extLst>
          </p:cNvPr>
          <p:cNvSpPr>
            <a:spLocks noEditPoints="1"/>
          </p:cNvSpPr>
          <p:nvPr/>
        </p:nvSpPr>
        <p:spPr bwMode="auto">
          <a:xfrm>
            <a:off x="1976438" y="2403475"/>
            <a:ext cx="1878013" cy="315913"/>
          </a:xfrm>
          <a:custGeom>
            <a:avLst/>
            <a:gdLst>
              <a:gd name="T0" fmla="*/ 1183 w 1183"/>
              <a:gd name="T1" fmla="*/ 6 h 199"/>
              <a:gd name="T2" fmla="*/ 1183 w 1183"/>
              <a:gd name="T3" fmla="*/ 5 h 199"/>
              <a:gd name="T4" fmla="*/ 1183 w 1183"/>
              <a:gd name="T5" fmla="*/ 3 h 199"/>
              <a:gd name="T6" fmla="*/ 1183 w 1183"/>
              <a:gd name="T7" fmla="*/ 1 h 199"/>
              <a:gd name="T8" fmla="*/ 1181 w 1183"/>
              <a:gd name="T9" fmla="*/ 0 h 199"/>
              <a:gd name="T10" fmla="*/ 1176 w 1183"/>
              <a:gd name="T11" fmla="*/ 0 h 199"/>
              <a:gd name="T12" fmla="*/ 1178 w 1183"/>
              <a:gd name="T13" fmla="*/ 0 h 199"/>
              <a:gd name="T14" fmla="*/ 1178 w 1183"/>
              <a:gd name="T15" fmla="*/ 1 h 199"/>
              <a:gd name="T16" fmla="*/ 1178 w 1183"/>
              <a:gd name="T17" fmla="*/ 3 h 199"/>
              <a:gd name="T18" fmla="*/ 1178 w 1183"/>
              <a:gd name="T19" fmla="*/ 5 h 199"/>
              <a:gd name="T20" fmla="*/ 1178 w 1183"/>
              <a:gd name="T21" fmla="*/ 6 h 199"/>
              <a:gd name="T22" fmla="*/ 1178 w 1183"/>
              <a:gd name="T23" fmla="*/ 8 h 199"/>
              <a:gd name="T24" fmla="*/ 1183 w 1183"/>
              <a:gd name="T25" fmla="*/ 6 h 199"/>
              <a:gd name="T26" fmla="*/ 0 w 1183"/>
              <a:gd name="T27" fmla="*/ 192 h 199"/>
              <a:gd name="T28" fmla="*/ 0 w 1183"/>
              <a:gd name="T29" fmla="*/ 194 h 199"/>
              <a:gd name="T30" fmla="*/ 0 w 1183"/>
              <a:gd name="T31" fmla="*/ 195 h 199"/>
              <a:gd name="T32" fmla="*/ 0 w 1183"/>
              <a:gd name="T33" fmla="*/ 197 h 199"/>
              <a:gd name="T34" fmla="*/ 0 w 1183"/>
              <a:gd name="T35" fmla="*/ 199 h 199"/>
              <a:gd name="T36" fmla="*/ 5 w 1183"/>
              <a:gd name="T37" fmla="*/ 199 h 199"/>
              <a:gd name="T38" fmla="*/ 5 w 1183"/>
              <a:gd name="T39" fmla="*/ 197 h 199"/>
              <a:gd name="T40" fmla="*/ 5 w 1183"/>
              <a:gd name="T41" fmla="*/ 195 h 199"/>
              <a:gd name="T42" fmla="*/ 5 w 1183"/>
              <a:gd name="T43" fmla="*/ 194 h 199"/>
              <a:gd name="T44" fmla="*/ 5 w 1183"/>
              <a:gd name="T45" fmla="*/ 192 h 199"/>
              <a:gd name="T46" fmla="*/ 5 w 1183"/>
              <a:gd name="T47" fmla="*/ 190 h 199"/>
              <a:gd name="T48" fmla="*/ 4 w 1183"/>
              <a:gd name="T49" fmla="*/ 190 h 199"/>
              <a:gd name="T50" fmla="*/ 0 w 1183"/>
              <a:gd name="T51" fmla="*/ 19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183" h="199">
                <a:moveTo>
                  <a:pt x="1183" y="6"/>
                </a:moveTo>
                <a:lnTo>
                  <a:pt x="1183" y="5"/>
                </a:lnTo>
                <a:lnTo>
                  <a:pt x="1183" y="3"/>
                </a:lnTo>
                <a:lnTo>
                  <a:pt x="1183" y="1"/>
                </a:lnTo>
                <a:lnTo>
                  <a:pt x="1181" y="0"/>
                </a:lnTo>
                <a:lnTo>
                  <a:pt x="1176" y="0"/>
                </a:lnTo>
                <a:lnTo>
                  <a:pt x="1178" y="0"/>
                </a:lnTo>
                <a:lnTo>
                  <a:pt x="1178" y="1"/>
                </a:lnTo>
                <a:lnTo>
                  <a:pt x="1178" y="3"/>
                </a:lnTo>
                <a:lnTo>
                  <a:pt x="1178" y="5"/>
                </a:lnTo>
                <a:lnTo>
                  <a:pt x="1178" y="6"/>
                </a:lnTo>
                <a:lnTo>
                  <a:pt x="1178" y="8"/>
                </a:lnTo>
                <a:lnTo>
                  <a:pt x="1183" y="6"/>
                </a:lnTo>
                <a:close/>
                <a:moveTo>
                  <a:pt x="0" y="192"/>
                </a:moveTo>
                <a:lnTo>
                  <a:pt x="0" y="194"/>
                </a:lnTo>
                <a:lnTo>
                  <a:pt x="0" y="195"/>
                </a:lnTo>
                <a:lnTo>
                  <a:pt x="0" y="197"/>
                </a:lnTo>
                <a:lnTo>
                  <a:pt x="0" y="199"/>
                </a:lnTo>
                <a:lnTo>
                  <a:pt x="5" y="199"/>
                </a:lnTo>
                <a:lnTo>
                  <a:pt x="5" y="197"/>
                </a:lnTo>
                <a:lnTo>
                  <a:pt x="5" y="195"/>
                </a:lnTo>
                <a:lnTo>
                  <a:pt x="5" y="194"/>
                </a:lnTo>
                <a:lnTo>
                  <a:pt x="5" y="192"/>
                </a:lnTo>
                <a:lnTo>
                  <a:pt x="5" y="190"/>
                </a:lnTo>
                <a:lnTo>
                  <a:pt x="4" y="190"/>
                </a:lnTo>
                <a:lnTo>
                  <a:pt x="0" y="192"/>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69" name="Freeform 974">
            <a:extLst>
              <a:ext uri="{FF2B5EF4-FFF2-40B4-BE49-F238E27FC236}">
                <a16:creationId xmlns:a16="http://schemas.microsoft.com/office/drawing/2014/main" id="{BF5F4AB3-778B-5CD9-7F1D-DFA97C5B87CC}"/>
              </a:ext>
            </a:extLst>
          </p:cNvPr>
          <p:cNvSpPr>
            <a:spLocks noEditPoints="1"/>
          </p:cNvSpPr>
          <p:nvPr/>
        </p:nvSpPr>
        <p:spPr bwMode="auto">
          <a:xfrm>
            <a:off x="1979613" y="2403475"/>
            <a:ext cx="1871663" cy="315913"/>
          </a:xfrm>
          <a:custGeom>
            <a:avLst/>
            <a:gdLst>
              <a:gd name="T0" fmla="*/ 1179 w 1179"/>
              <a:gd name="T1" fmla="*/ 6 h 199"/>
              <a:gd name="T2" fmla="*/ 1179 w 1179"/>
              <a:gd name="T3" fmla="*/ 6 h 199"/>
              <a:gd name="T4" fmla="*/ 1177 w 1179"/>
              <a:gd name="T5" fmla="*/ 5 h 199"/>
              <a:gd name="T6" fmla="*/ 1177 w 1179"/>
              <a:gd name="T7" fmla="*/ 3 h 199"/>
              <a:gd name="T8" fmla="*/ 1177 w 1179"/>
              <a:gd name="T9" fmla="*/ 1 h 199"/>
              <a:gd name="T10" fmla="*/ 1177 w 1179"/>
              <a:gd name="T11" fmla="*/ 0 h 199"/>
              <a:gd name="T12" fmla="*/ 1172 w 1179"/>
              <a:gd name="T13" fmla="*/ 0 h 199"/>
              <a:gd name="T14" fmla="*/ 1172 w 1179"/>
              <a:gd name="T15" fmla="*/ 1 h 199"/>
              <a:gd name="T16" fmla="*/ 1172 w 1179"/>
              <a:gd name="T17" fmla="*/ 3 h 199"/>
              <a:gd name="T18" fmla="*/ 1172 w 1179"/>
              <a:gd name="T19" fmla="*/ 5 h 199"/>
              <a:gd name="T20" fmla="*/ 1174 w 1179"/>
              <a:gd name="T21" fmla="*/ 5 h 199"/>
              <a:gd name="T22" fmla="*/ 1174 w 1179"/>
              <a:gd name="T23" fmla="*/ 6 h 199"/>
              <a:gd name="T24" fmla="*/ 1174 w 1179"/>
              <a:gd name="T25" fmla="*/ 8 h 199"/>
              <a:gd name="T26" fmla="*/ 1179 w 1179"/>
              <a:gd name="T27" fmla="*/ 6 h 199"/>
              <a:gd name="T28" fmla="*/ 0 w 1179"/>
              <a:gd name="T29" fmla="*/ 190 h 199"/>
              <a:gd name="T30" fmla="*/ 0 w 1179"/>
              <a:gd name="T31" fmla="*/ 192 h 199"/>
              <a:gd name="T32" fmla="*/ 0 w 1179"/>
              <a:gd name="T33" fmla="*/ 194 h 199"/>
              <a:gd name="T34" fmla="*/ 0 w 1179"/>
              <a:gd name="T35" fmla="*/ 195 h 199"/>
              <a:gd name="T36" fmla="*/ 2 w 1179"/>
              <a:gd name="T37" fmla="*/ 195 h 199"/>
              <a:gd name="T38" fmla="*/ 2 w 1179"/>
              <a:gd name="T39" fmla="*/ 197 h 199"/>
              <a:gd name="T40" fmla="*/ 2 w 1179"/>
              <a:gd name="T41" fmla="*/ 199 h 199"/>
              <a:gd name="T42" fmla="*/ 6 w 1179"/>
              <a:gd name="T43" fmla="*/ 199 h 199"/>
              <a:gd name="T44" fmla="*/ 6 w 1179"/>
              <a:gd name="T45" fmla="*/ 197 h 199"/>
              <a:gd name="T46" fmla="*/ 5 w 1179"/>
              <a:gd name="T47" fmla="*/ 195 h 199"/>
              <a:gd name="T48" fmla="*/ 5 w 1179"/>
              <a:gd name="T49" fmla="*/ 194 h 199"/>
              <a:gd name="T50" fmla="*/ 5 w 1179"/>
              <a:gd name="T51" fmla="*/ 192 h 199"/>
              <a:gd name="T52" fmla="*/ 5 w 1179"/>
              <a:gd name="T53" fmla="*/ 190 h 199"/>
              <a:gd name="T54" fmla="*/ 5 w 1179"/>
              <a:gd name="T55" fmla="*/ 189 h 199"/>
              <a:gd name="T56" fmla="*/ 0 w 1179"/>
              <a:gd name="T57" fmla="*/ 19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179" h="199">
                <a:moveTo>
                  <a:pt x="1179" y="6"/>
                </a:moveTo>
                <a:lnTo>
                  <a:pt x="1179" y="6"/>
                </a:lnTo>
                <a:lnTo>
                  <a:pt x="1177" y="5"/>
                </a:lnTo>
                <a:lnTo>
                  <a:pt x="1177" y="3"/>
                </a:lnTo>
                <a:lnTo>
                  <a:pt x="1177" y="1"/>
                </a:lnTo>
                <a:lnTo>
                  <a:pt x="1177" y="0"/>
                </a:lnTo>
                <a:lnTo>
                  <a:pt x="1172" y="0"/>
                </a:lnTo>
                <a:lnTo>
                  <a:pt x="1172" y="1"/>
                </a:lnTo>
                <a:lnTo>
                  <a:pt x="1172" y="3"/>
                </a:lnTo>
                <a:lnTo>
                  <a:pt x="1172" y="5"/>
                </a:lnTo>
                <a:lnTo>
                  <a:pt x="1174" y="5"/>
                </a:lnTo>
                <a:lnTo>
                  <a:pt x="1174" y="6"/>
                </a:lnTo>
                <a:lnTo>
                  <a:pt x="1174" y="8"/>
                </a:lnTo>
                <a:lnTo>
                  <a:pt x="1179" y="6"/>
                </a:lnTo>
                <a:close/>
                <a:moveTo>
                  <a:pt x="0" y="190"/>
                </a:moveTo>
                <a:lnTo>
                  <a:pt x="0" y="192"/>
                </a:lnTo>
                <a:lnTo>
                  <a:pt x="0" y="194"/>
                </a:lnTo>
                <a:lnTo>
                  <a:pt x="0" y="195"/>
                </a:lnTo>
                <a:lnTo>
                  <a:pt x="2" y="195"/>
                </a:lnTo>
                <a:lnTo>
                  <a:pt x="2" y="197"/>
                </a:lnTo>
                <a:lnTo>
                  <a:pt x="2" y="199"/>
                </a:lnTo>
                <a:lnTo>
                  <a:pt x="6" y="199"/>
                </a:lnTo>
                <a:lnTo>
                  <a:pt x="6" y="197"/>
                </a:lnTo>
                <a:lnTo>
                  <a:pt x="5" y="195"/>
                </a:lnTo>
                <a:lnTo>
                  <a:pt x="5" y="194"/>
                </a:lnTo>
                <a:lnTo>
                  <a:pt x="5" y="192"/>
                </a:lnTo>
                <a:lnTo>
                  <a:pt x="5" y="190"/>
                </a:lnTo>
                <a:lnTo>
                  <a:pt x="5" y="189"/>
                </a:lnTo>
                <a:lnTo>
                  <a:pt x="0" y="19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70" name="Freeform 975">
            <a:extLst>
              <a:ext uri="{FF2B5EF4-FFF2-40B4-BE49-F238E27FC236}">
                <a16:creationId xmlns:a16="http://schemas.microsoft.com/office/drawing/2014/main" id="{15E7B551-714A-BC27-5971-786BD30C5960}"/>
              </a:ext>
            </a:extLst>
          </p:cNvPr>
          <p:cNvSpPr>
            <a:spLocks noEditPoints="1"/>
          </p:cNvSpPr>
          <p:nvPr/>
        </p:nvSpPr>
        <p:spPr bwMode="auto">
          <a:xfrm>
            <a:off x="1982788" y="2403475"/>
            <a:ext cx="1863725" cy="315913"/>
          </a:xfrm>
          <a:custGeom>
            <a:avLst/>
            <a:gdLst>
              <a:gd name="T0" fmla="*/ 1174 w 1174"/>
              <a:gd name="T1" fmla="*/ 8 h 199"/>
              <a:gd name="T2" fmla="*/ 1174 w 1174"/>
              <a:gd name="T3" fmla="*/ 6 h 199"/>
              <a:gd name="T4" fmla="*/ 1174 w 1174"/>
              <a:gd name="T5" fmla="*/ 5 h 199"/>
              <a:gd name="T6" fmla="*/ 1174 w 1174"/>
              <a:gd name="T7" fmla="*/ 3 h 199"/>
              <a:gd name="T8" fmla="*/ 1174 w 1174"/>
              <a:gd name="T9" fmla="*/ 1 h 199"/>
              <a:gd name="T10" fmla="*/ 1174 w 1174"/>
              <a:gd name="T11" fmla="*/ 0 h 199"/>
              <a:gd name="T12" fmla="*/ 1172 w 1174"/>
              <a:gd name="T13" fmla="*/ 0 h 199"/>
              <a:gd name="T14" fmla="*/ 1167 w 1174"/>
              <a:gd name="T15" fmla="*/ 0 h 199"/>
              <a:gd name="T16" fmla="*/ 1169 w 1174"/>
              <a:gd name="T17" fmla="*/ 1 h 199"/>
              <a:gd name="T18" fmla="*/ 1169 w 1174"/>
              <a:gd name="T19" fmla="*/ 3 h 199"/>
              <a:gd name="T20" fmla="*/ 1169 w 1174"/>
              <a:gd name="T21" fmla="*/ 5 h 199"/>
              <a:gd name="T22" fmla="*/ 1169 w 1174"/>
              <a:gd name="T23" fmla="*/ 6 h 199"/>
              <a:gd name="T24" fmla="*/ 1169 w 1174"/>
              <a:gd name="T25" fmla="*/ 8 h 199"/>
              <a:gd name="T26" fmla="*/ 1169 w 1174"/>
              <a:gd name="T27" fmla="*/ 10 h 199"/>
              <a:gd name="T28" fmla="*/ 1174 w 1174"/>
              <a:gd name="T29" fmla="*/ 8 h 199"/>
              <a:gd name="T30" fmla="*/ 0 w 1174"/>
              <a:gd name="T31" fmla="*/ 190 h 199"/>
              <a:gd name="T32" fmla="*/ 1 w 1174"/>
              <a:gd name="T33" fmla="*/ 190 h 199"/>
              <a:gd name="T34" fmla="*/ 1 w 1174"/>
              <a:gd name="T35" fmla="*/ 192 h 199"/>
              <a:gd name="T36" fmla="*/ 1 w 1174"/>
              <a:gd name="T37" fmla="*/ 194 h 199"/>
              <a:gd name="T38" fmla="*/ 1 w 1174"/>
              <a:gd name="T39" fmla="*/ 195 h 199"/>
              <a:gd name="T40" fmla="*/ 1 w 1174"/>
              <a:gd name="T41" fmla="*/ 197 h 199"/>
              <a:gd name="T42" fmla="*/ 1 w 1174"/>
              <a:gd name="T43" fmla="*/ 199 h 199"/>
              <a:gd name="T44" fmla="*/ 6 w 1174"/>
              <a:gd name="T45" fmla="*/ 199 h 199"/>
              <a:gd name="T46" fmla="*/ 6 w 1174"/>
              <a:gd name="T47" fmla="*/ 197 h 199"/>
              <a:gd name="T48" fmla="*/ 6 w 1174"/>
              <a:gd name="T49" fmla="*/ 195 h 199"/>
              <a:gd name="T50" fmla="*/ 6 w 1174"/>
              <a:gd name="T51" fmla="*/ 194 h 199"/>
              <a:gd name="T52" fmla="*/ 6 w 1174"/>
              <a:gd name="T53" fmla="*/ 192 h 199"/>
              <a:gd name="T54" fmla="*/ 4 w 1174"/>
              <a:gd name="T55" fmla="*/ 190 h 199"/>
              <a:gd name="T56" fmla="*/ 4 w 1174"/>
              <a:gd name="T57" fmla="*/ 189 h 199"/>
              <a:gd name="T58" fmla="*/ 0 w 1174"/>
              <a:gd name="T59" fmla="*/ 19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74" h="199">
                <a:moveTo>
                  <a:pt x="1174" y="8"/>
                </a:moveTo>
                <a:lnTo>
                  <a:pt x="1174" y="6"/>
                </a:lnTo>
                <a:lnTo>
                  <a:pt x="1174" y="5"/>
                </a:lnTo>
                <a:lnTo>
                  <a:pt x="1174" y="3"/>
                </a:lnTo>
                <a:lnTo>
                  <a:pt x="1174" y="1"/>
                </a:lnTo>
                <a:lnTo>
                  <a:pt x="1174" y="0"/>
                </a:lnTo>
                <a:lnTo>
                  <a:pt x="1172" y="0"/>
                </a:lnTo>
                <a:lnTo>
                  <a:pt x="1167" y="0"/>
                </a:lnTo>
                <a:lnTo>
                  <a:pt x="1169" y="1"/>
                </a:lnTo>
                <a:lnTo>
                  <a:pt x="1169" y="3"/>
                </a:lnTo>
                <a:lnTo>
                  <a:pt x="1169" y="5"/>
                </a:lnTo>
                <a:lnTo>
                  <a:pt x="1169" y="6"/>
                </a:lnTo>
                <a:lnTo>
                  <a:pt x="1169" y="8"/>
                </a:lnTo>
                <a:lnTo>
                  <a:pt x="1169" y="10"/>
                </a:lnTo>
                <a:lnTo>
                  <a:pt x="1174" y="8"/>
                </a:lnTo>
                <a:close/>
                <a:moveTo>
                  <a:pt x="0" y="190"/>
                </a:moveTo>
                <a:lnTo>
                  <a:pt x="1" y="190"/>
                </a:lnTo>
                <a:lnTo>
                  <a:pt x="1" y="192"/>
                </a:lnTo>
                <a:lnTo>
                  <a:pt x="1" y="194"/>
                </a:lnTo>
                <a:lnTo>
                  <a:pt x="1" y="195"/>
                </a:lnTo>
                <a:lnTo>
                  <a:pt x="1" y="197"/>
                </a:lnTo>
                <a:lnTo>
                  <a:pt x="1" y="199"/>
                </a:lnTo>
                <a:lnTo>
                  <a:pt x="6" y="199"/>
                </a:lnTo>
                <a:lnTo>
                  <a:pt x="6" y="197"/>
                </a:lnTo>
                <a:lnTo>
                  <a:pt x="6" y="195"/>
                </a:lnTo>
                <a:lnTo>
                  <a:pt x="6" y="194"/>
                </a:lnTo>
                <a:lnTo>
                  <a:pt x="6" y="192"/>
                </a:lnTo>
                <a:lnTo>
                  <a:pt x="4" y="190"/>
                </a:lnTo>
                <a:lnTo>
                  <a:pt x="4" y="189"/>
                </a:lnTo>
                <a:lnTo>
                  <a:pt x="0" y="19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71" name="Freeform 976">
            <a:extLst>
              <a:ext uri="{FF2B5EF4-FFF2-40B4-BE49-F238E27FC236}">
                <a16:creationId xmlns:a16="http://schemas.microsoft.com/office/drawing/2014/main" id="{1FD5CC71-F6AA-41A7-25DE-E66BB5F56649}"/>
              </a:ext>
            </a:extLst>
          </p:cNvPr>
          <p:cNvSpPr>
            <a:spLocks noEditPoints="1"/>
          </p:cNvSpPr>
          <p:nvPr/>
        </p:nvSpPr>
        <p:spPr bwMode="auto">
          <a:xfrm>
            <a:off x="1987550" y="2403475"/>
            <a:ext cx="1855788" cy="315913"/>
          </a:xfrm>
          <a:custGeom>
            <a:avLst/>
            <a:gdLst>
              <a:gd name="T0" fmla="*/ 1169 w 1169"/>
              <a:gd name="T1" fmla="*/ 8 h 199"/>
              <a:gd name="T2" fmla="*/ 1169 w 1169"/>
              <a:gd name="T3" fmla="*/ 8 h 199"/>
              <a:gd name="T4" fmla="*/ 1169 w 1169"/>
              <a:gd name="T5" fmla="*/ 6 h 199"/>
              <a:gd name="T6" fmla="*/ 1169 w 1169"/>
              <a:gd name="T7" fmla="*/ 5 h 199"/>
              <a:gd name="T8" fmla="*/ 1167 w 1169"/>
              <a:gd name="T9" fmla="*/ 5 h 199"/>
              <a:gd name="T10" fmla="*/ 1167 w 1169"/>
              <a:gd name="T11" fmla="*/ 3 h 199"/>
              <a:gd name="T12" fmla="*/ 1167 w 1169"/>
              <a:gd name="T13" fmla="*/ 1 h 199"/>
              <a:gd name="T14" fmla="*/ 1167 w 1169"/>
              <a:gd name="T15" fmla="*/ 0 h 199"/>
              <a:gd name="T16" fmla="*/ 1162 w 1169"/>
              <a:gd name="T17" fmla="*/ 0 h 199"/>
              <a:gd name="T18" fmla="*/ 1162 w 1169"/>
              <a:gd name="T19" fmla="*/ 1 h 199"/>
              <a:gd name="T20" fmla="*/ 1162 w 1169"/>
              <a:gd name="T21" fmla="*/ 3 h 199"/>
              <a:gd name="T22" fmla="*/ 1164 w 1169"/>
              <a:gd name="T23" fmla="*/ 5 h 199"/>
              <a:gd name="T24" fmla="*/ 1164 w 1169"/>
              <a:gd name="T25" fmla="*/ 6 h 199"/>
              <a:gd name="T26" fmla="*/ 1164 w 1169"/>
              <a:gd name="T27" fmla="*/ 8 h 199"/>
              <a:gd name="T28" fmla="*/ 1164 w 1169"/>
              <a:gd name="T29" fmla="*/ 10 h 199"/>
              <a:gd name="T30" fmla="*/ 1164 w 1169"/>
              <a:gd name="T31" fmla="*/ 11 h 199"/>
              <a:gd name="T32" fmla="*/ 1169 w 1169"/>
              <a:gd name="T33" fmla="*/ 8 h 199"/>
              <a:gd name="T34" fmla="*/ 0 w 1169"/>
              <a:gd name="T35" fmla="*/ 189 h 199"/>
              <a:gd name="T36" fmla="*/ 0 w 1169"/>
              <a:gd name="T37" fmla="*/ 190 h 199"/>
              <a:gd name="T38" fmla="*/ 0 w 1169"/>
              <a:gd name="T39" fmla="*/ 192 h 199"/>
              <a:gd name="T40" fmla="*/ 0 w 1169"/>
              <a:gd name="T41" fmla="*/ 194 h 199"/>
              <a:gd name="T42" fmla="*/ 0 w 1169"/>
              <a:gd name="T43" fmla="*/ 195 h 199"/>
              <a:gd name="T44" fmla="*/ 1 w 1169"/>
              <a:gd name="T45" fmla="*/ 197 h 199"/>
              <a:gd name="T46" fmla="*/ 1 w 1169"/>
              <a:gd name="T47" fmla="*/ 199 h 199"/>
              <a:gd name="T48" fmla="*/ 6 w 1169"/>
              <a:gd name="T49" fmla="*/ 199 h 199"/>
              <a:gd name="T50" fmla="*/ 6 w 1169"/>
              <a:gd name="T51" fmla="*/ 197 h 199"/>
              <a:gd name="T52" fmla="*/ 5 w 1169"/>
              <a:gd name="T53" fmla="*/ 195 h 199"/>
              <a:gd name="T54" fmla="*/ 5 w 1169"/>
              <a:gd name="T55" fmla="*/ 194 h 199"/>
              <a:gd name="T56" fmla="*/ 5 w 1169"/>
              <a:gd name="T57" fmla="*/ 192 h 199"/>
              <a:gd name="T58" fmla="*/ 5 w 1169"/>
              <a:gd name="T59" fmla="*/ 190 h 199"/>
              <a:gd name="T60" fmla="*/ 5 w 1169"/>
              <a:gd name="T61" fmla="*/ 189 h 199"/>
              <a:gd name="T62" fmla="*/ 5 w 1169"/>
              <a:gd name="T63" fmla="*/ 187 h 199"/>
              <a:gd name="T64" fmla="*/ 0 w 1169"/>
              <a:gd name="T65" fmla="*/ 18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69" h="199">
                <a:moveTo>
                  <a:pt x="1169" y="8"/>
                </a:moveTo>
                <a:lnTo>
                  <a:pt x="1169" y="8"/>
                </a:lnTo>
                <a:lnTo>
                  <a:pt x="1169" y="6"/>
                </a:lnTo>
                <a:lnTo>
                  <a:pt x="1169" y="5"/>
                </a:lnTo>
                <a:lnTo>
                  <a:pt x="1167" y="5"/>
                </a:lnTo>
                <a:lnTo>
                  <a:pt x="1167" y="3"/>
                </a:lnTo>
                <a:lnTo>
                  <a:pt x="1167" y="1"/>
                </a:lnTo>
                <a:lnTo>
                  <a:pt x="1167" y="0"/>
                </a:lnTo>
                <a:lnTo>
                  <a:pt x="1162" y="0"/>
                </a:lnTo>
                <a:lnTo>
                  <a:pt x="1162" y="1"/>
                </a:lnTo>
                <a:lnTo>
                  <a:pt x="1162" y="3"/>
                </a:lnTo>
                <a:lnTo>
                  <a:pt x="1164" y="5"/>
                </a:lnTo>
                <a:lnTo>
                  <a:pt x="1164" y="6"/>
                </a:lnTo>
                <a:lnTo>
                  <a:pt x="1164" y="8"/>
                </a:lnTo>
                <a:lnTo>
                  <a:pt x="1164" y="10"/>
                </a:lnTo>
                <a:lnTo>
                  <a:pt x="1164" y="11"/>
                </a:lnTo>
                <a:lnTo>
                  <a:pt x="1169" y="8"/>
                </a:lnTo>
                <a:close/>
                <a:moveTo>
                  <a:pt x="0" y="189"/>
                </a:moveTo>
                <a:lnTo>
                  <a:pt x="0" y="190"/>
                </a:lnTo>
                <a:lnTo>
                  <a:pt x="0" y="192"/>
                </a:lnTo>
                <a:lnTo>
                  <a:pt x="0" y="194"/>
                </a:lnTo>
                <a:lnTo>
                  <a:pt x="0" y="195"/>
                </a:lnTo>
                <a:lnTo>
                  <a:pt x="1" y="197"/>
                </a:lnTo>
                <a:lnTo>
                  <a:pt x="1" y="199"/>
                </a:lnTo>
                <a:lnTo>
                  <a:pt x="6" y="199"/>
                </a:lnTo>
                <a:lnTo>
                  <a:pt x="6" y="197"/>
                </a:lnTo>
                <a:lnTo>
                  <a:pt x="5" y="195"/>
                </a:lnTo>
                <a:lnTo>
                  <a:pt x="5" y="194"/>
                </a:lnTo>
                <a:lnTo>
                  <a:pt x="5" y="192"/>
                </a:lnTo>
                <a:lnTo>
                  <a:pt x="5" y="190"/>
                </a:lnTo>
                <a:lnTo>
                  <a:pt x="5" y="189"/>
                </a:lnTo>
                <a:lnTo>
                  <a:pt x="5" y="187"/>
                </a:lnTo>
                <a:lnTo>
                  <a:pt x="0" y="189"/>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72" name="Freeform 977">
            <a:extLst>
              <a:ext uri="{FF2B5EF4-FFF2-40B4-BE49-F238E27FC236}">
                <a16:creationId xmlns:a16="http://schemas.microsoft.com/office/drawing/2014/main" id="{AAD5148B-E09B-8794-4F2E-E7B1E8F11042}"/>
              </a:ext>
            </a:extLst>
          </p:cNvPr>
          <p:cNvSpPr>
            <a:spLocks noEditPoints="1"/>
          </p:cNvSpPr>
          <p:nvPr/>
        </p:nvSpPr>
        <p:spPr bwMode="auto">
          <a:xfrm>
            <a:off x="1989138" y="2403475"/>
            <a:ext cx="1849438" cy="315913"/>
          </a:xfrm>
          <a:custGeom>
            <a:avLst/>
            <a:gdLst>
              <a:gd name="T0" fmla="*/ 1165 w 1165"/>
              <a:gd name="T1" fmla="*/ 10 h 199"/>
              <a:gd name="T2" fmla="*/ 1165 w 1165"/>
              <a:gd name="T3" fmla="*/ 8 h 199"/>
              <a:gd name="T4" fmla="*/ 1165 w 1165"/>
              <a:gd name="T5" fmla="*/ 6 h 199"/>
              <a:gd name="T6" fmla="*/ 1165 w 1165"/>
              <a:gd name="T7" fmla="*/ 5 h 199"/>
              <a:gd name="T8" fmla="*/ 1165 w 1165"/>
              <a:gd name="T9" fmla="*/ 3 h 199"/>
              <a:gd name="T10" fmla="*/ 1165 w 1165"/>
              <a:gd name="T11" fmla="*/ 1 h 199"/>
              <a:gd name="T12" fmla="*/ 1163 w 1165"/>
              <a:gd name="T13" fmla="*/ 0 h 199"/>
              <a:gd name="T14" fmla="*/ 1160 w 1165"/>
              <a:gd name="T15" fmla="*/ 0 h 199"/>
              <a:gd name="T16" fmla="*/ 1160 w 1165"/>
              <a:gd name="T17" fmla="*/ 1 h 199"/>
              <a:gd name="T18" fmla="*/ 1160 w 1165"/>
              <a:gd name="T19" fmla="*/ 3 h 199"/>
              <a:gd name="T20" fmla="*/ 1160 w 1165"/>
              <a:gd name="T21" fmla="*/ 5 h 199"/>
              <a:gd name="T22" fmla="*/ 1160 w 1165"/>
              <a:gd name="T23" fmla="*/ 6 h 199"/>
              <a:gd name="T24" fmla="*/ 1160 w 1165"/>
              <a:gd name="T25" fmla="*/ 8 h 199"/>
              <a:gd name="T26" fmla="*/ 1161 w 1165"/>
              <a:gd name="T27" fmla="*/ 10 h 199"/>
              <a:gd name="T28" fmla="*/ 1161 w 1165"/>
              <a:gd name="T29" fmla="*/ 11 h 199"/>
              <a:gd name="T30" fmla="*/ 1165 w 1165"/>
              <a:gd name="T31" fmla="*/ 10 h 199"/>
              <a:gd name="T32" fmla="*/ 0 w 1165"/>
              <a:gd name="T33" fmla="*/ 189 h 199"/>
              <a:gd name="T34" fmla="*/ 0 w 1165"/>
              <a:gd name="T35" fmla="*/ 189 h 199"/>
              <a:gd name="T36" fmla="*/ 0 w 1165"/>
              <a:gd name="T37" fmla="*/ 190 h 199"/>
              <a:gd name="T38" fmla="*/ 2 w 1165"/>
              <a:gd name="T39" fmla="*/ 192 h 199"/>
              <a:gd name="T40" fmla="*/ 2 w 1165"/>
              <a:gd name="T41" fmla="*/ 194 h 199"/>
              <a:gd name="T42" fmla="*/ 2 w 1165"/>
              <a:gd name="T43" fmla="*/ 195 h 199"/>
              <a:gd name="T44" fmla="*/ 2 w 1165"/>
              <a:gd name="T45" fmla="*/ 197 h 199"/>
              <a:gd name="T46" fmla="*/ 2 w 1165"/>
              <a:gd name="T47" fmla="*/ 199 h 199"/>
              <a:gd name="T48" fmla="*/ 7 w 1165"/>
              <a:gd name="T49" fmla="*/ 199 h 199"/>
              <a:gd name="T50" fmla="*/ 7 w 1165"/>
              <a:gd name="T51" fmla="*/ 197 h 199"/>
              <a:gd name="T52" fmla="*/ 7 w 1165"/>
              <a:gd name="T53" fmla="*/ 195 h 199"/>
              <a:gd name="T54" fmla="*/ 7 w 1165"/>
              <a:gd name="T55" fmla="*/ 194 h 199"/>
              <a:gd name="T56" fmla="*/ 7 w 1165"/>
              <a:gd name="T57" fmla="*/ 192 h 199"/>
              <a:gd name="T58" fmla="*/ 5 w 1165"/>
              <a:gd name="T59" fmla="*/ 190 h 199"/>
              <a:gd name="T60" fmla="*/ 5 w 1165"/>
              <a:gd name="T61" fmla="*/ 189 h 199"/>
              <a:gd name="T62" fmla="*/ 5 w 1165"/>
              <a:gd name="T63" fmla="*/ 187 h 199"/>
              <a:gd name="T64" fmla="*/ 5 w 1165"/>
              <a:gd name="T65" fmla="*/ 185 h 199"/>
              <a:gd name="T66" fmla="*/ 0 w 1165"/>
              <a:gd name="T67" fmla="*/ 18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65" h="199">
                <a:moveTo>
                  <a:pt x="1165" y="10"/>
                </a:moveTo>
                <a:lnTo>
                  <a:pt x="1165" y="8"/>
                </a:lnTo>
                <a:lnTo>
                  <a:pt x="1165" y="6"/>
                </a:lnTo>
                <a:lnTo>
                  <a:pt x="1165" y="5"/>
                </a:lnTo>
                <a:lnTo>
                  <a:pt x="1165" y="3"/>
                </a:lnTo>
                <a:lnTo>
                  <a:pt x="1165" y="1"/>
                </a:lnTo>
                <a:lnTo>
                  <a:pt x="1163" y="0"/>
                </a:lnTo>
                <a:lnTo>
                  <a:pt x="1160" y="0"/>
                </a:lnTo>
                <a:lnTo>
                  <a:pt x="1160" y="1"/>
                </a:lnTo>
                <a:lnTo>
                  <a:pt x="1160" y="3"/>
                </a:lnTo>
                <a:lnTo>
                  <a:pt x="1160" y="5"/>
                </a:lnTo>
                <a:lnTo>
                  <a:pt x="1160" y="6"/>
                </a:lnTo>
                <a:lnTo>
                  <a:pt x="1160" y="8"/>
                </a:lnTo>
                <a:lnTo>
                  <a:pt x="1161" y="10"/>
                </a:lnTo>
                <a:lnTo>
                  <a:pt x="1161" y="11"/>
                </a:lnTo>
                <a:lnTo>
                  <a:pt x="1165" y="10"/>
                </a:lnTo>
                <a:close/>
                <a:moveTo>
                  <a:pt x="0" y="189"/>
                </a:moveTo>
                <a:lnTo>
                  <a:pt x="0" y="189"/>
                </a:lnTo>
                <a:lnTo>
                  <a:pt x="0" y="190"/>
                </a:lnTo>
                <a:lnTo>
                  <a:pt x="2" y="192"/>
                </a:lnTo>
                <a:lnTo>
                  <a:pt x="2" y="194"/>
                </a:lnTo>
                <a:lnTo>
                  <a:pt x="2" y="195"/>
                </a:lnTo>
                <a:lnTo>
                  <a:pt x="2" y="197"/>
                </a:lnTo>
                <a:lnTo>
                  <a:pt x="2" y="199"/>
                </a:lnTo>
                <a:lnTo>
                  <a:pt x="7" y="199"/>
                </a:lnTo>
                <a:lnTo>
                  <a:pt x="7" y="197"/>
                </a:lnTo>
                <a:lnTo>
                  <a:pt x="7" y="195"/>
                </a:lnTo>
                <a:lnTo>
                  <a:pt x="7" y="194"/>
                </a:lnTo>
                <a:lnTo>
                  <a:pt x="7" y="192"/>
                </a:lnTo>
                <a:lnTo>
                  <a:pt x="5" y="190"/>
                </a:lnTo>
                <a:lnTo>
                  <a:pt x="5" y="189"/>
                </a:lnTo>
                <a:lnTo>
                  <a:pt x="5" y="187"/>
                </a:lnTo>
                <a:lnTo>
                  <a:pt x="5" y="185"/>
                </a:lnTo>
                <a:lnTo>
                  <a:pt x="0" y="189"/>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73" name="Freeform 978">
            <a:extLst>
              <a:ext uri="{FF2B5EF4-FFF2-40B4-BE49-F238E27FC236}">
                <a16:creationId xmlns:a16="http://schemas.microsoft.com/office/drawing/2014/main" id="{ED166F15-381C-6297-8E6F-4C72D1997E4B}"/>
              </a:ext>
            </a:extLst>
          </p:cNvPr>
          <p:cNvSpPr>
            <a:spLocks noEditPoints="1"/>
          </p:cNvSpPr>
          <p:nvPr/>
        </p:nvSpPr>
        <p:spPr bwMode="auto">
          <a:xfrm>
            <a:off x="1995488" y="2403475"/>
            <a:ext cx="1839913" cy="315913"/>
          </a:xfrm>
          <a:custGeom>
            <a:avLst/>
            <a:gdLst>
              <a:gd name="T0" fmla="*/ 1159 w 1159"/>
              <a:gd name="T1" fmla="*/ 11 h 199"/>
              <a:gd name="T2" fmla="*/ 1159 w 1159"/>
              <a:gd name="T3" fmla="*/ 10 h 199"/>
              <a:gd name="T4" fmla="*/ 1159 w 1159"/>
              <a:gd name="T5" fmla="*/ 8 h 199"/>
              <a:gd name="T6" fmla="*/ 1159 w 1159"/>
              <a:gd name="T7" fmla="*/ 6 h 199"/>
              <a:gd name="T8" fmla="*/ 1159 w 1159"/>
              <a:gd name="T9" fmla="*/ 5 h 199"/>
              <a:gd name="T10" fmla="*/ 1157 w 1159"/>
              <a:gd name="T11" fmla="*/ 3 h 199"/>
              <a:gd name="T12" fmla="*/ 1157 w 1159"/>
              <a:gd name="T13" fmla="*/ 1 h 199"/>
              <a:gd name="T14" fmla="*/ 1157 w 1159"/>
              <a:gd name="T15" fmla="*/ 0 h 199"/>
              <a:gd name="T16" fmla="*/ 1152 w 1159"/>
              <a:gd name="T17" fmla="*/ 0 h 199"/>
              <a:gd name="T18" fmla="*/ 1152 w 1159"/>
              <a:gd name="T19" fmla="*/ 1 h 199"/>
              <a:gd name="T20" fmla="*/ 1152 w 1159"/>
              <a:gd name="T21" fmla="*/ 3 h 199"/>
              <a:gd name="T22" fmla="*/ 1154 w 1159"/>
              <a:gd name="T23" fmla="*/ 5 h 199"/>
              <a:gd name="T24" fmla="*/ 1154 w 1159"/>
              <a:gd name="T25" fmla="*/ 6 h 199"/>
              <a:gd name="T26" fmla="*/ 1154 w 1159"/>
              <a:gd name="T27" fmla="*/ 8 h 199"/>
              <a:gd name="T28" fmla="*/ 1154 w 1159"/>
              <a:gd name="T29" fmla="*/ 10 h 199"/>
              <a:gd name="T30" fmla="*/ 1154 w 1159"/>
              <a:gd name="T31" fmla="*/ 11 h 199"/>
              <a:gd name="T32" fmla="*/ 1154 w 1159"/>
              <a:gd name="T33" fmla="*/ 13 h 199"/>
              <a:gd name="T34" fmla="*/ 1159 w 1159"/>
              <a:gd name="T35" fmla="*/ 11 h 199"/>
              <a:gd name="T36" fmla="*/ 0 w 1159"/>
              <a:gd name="T37" fmla="*/ 187 h 199"/>
              <a:gd name="T38" fmla="*/ 0 w 1159"/>
              <a:gd name="T39" fmla="*/ 189 h 199"/>
              <a:gd name="T40" fmla="*/ 0 w 1159"/>
              <a:gd name="T41" fmla="*/ 190 h 199"/>
              <a:gd name="T42" fmla="*/ 0 w 1159"/>
              <a:gd name="T43" fmla="*/ 192 h 199"/>
              <a:gd name="T44" fmla="*/ 0 w 1159"/>
              <a:gd name="T45" fmla="*/ 194 h 199"/>
              <a:gd name="T46" fmla="*/ 0 w 1159"/>
              <a:gd name="T47" fmla="*/ 195 h 199"/>
              <a:gd name="T48" fmla="*/ 1 w 1159"/>
              <a:gd name="T49" fmla="*/ 197 h 199"/>
              <a:gd name="T50" fmla="*/ 1 w 1159"/>
              <a:gd name="T51" fmla="*/ 199 h 199"/>
              <a:gd name="T52" fmla="*/ 6 w 1159"/>
              <a:gd name="T53" fmla="*/ 199 h 199"/>
              <a:gd name="T54" fmla="*/ 5 w 1159"/>
              <a:gd name="T55" fmla="*/ 197 h 199"/>
              <a:gd name="T56" fmla="*/ 5 w 1159"/>
              <a:gd name="T57" fmla="*/ 195 h 199"/>
              <a:gd name="T58" fmla="*/ 5 w 1159"/>
              <a:gd name="T59" fmla="*/ 194 h 199"/>
              <a:gd name="T60" fmla="*/ 5 w 1159"/>
              <a:gd name="T61" fmla="*/ 192 h 199"/>
              <a:gd name="T62" fmla="*/ 5 w 1159"/>
              <a:gd name="T63" fmla="*/ 190 h 199"/>
              <a:gd name="T64" fmla="*/ 5 w 1159"/>
              <a:gd name="T65" fmla="*/ 189 h 199"/>
              <a:gd name="T66" fmla="*/ 3 w 1159"/>
              <a:gd name="T67" fmla="*/ 187 h 199"/>
              <a:gd name="T68" fmla="*/ 3 w 1159"/>
              <a:gd name="T69" fmla="*/ 185 h 199"/>
              <a:gd name="T70" fmla="*/ 0 w 1159"/>
              <a:gd name="T71" fmla="*/ 18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159" h="199">
                <a:moveTo>
                  <a:pt x="1159" y="11"/>
                </a:moveTo>
                <a:lnTo>
                  <a:pt x="1159" y="10"/>
                </a:lnTo>
                <a:lnTo>
                  <a:pt x="1159" y="8"/>
                </a:lnTo>
                <a:lnTo>
                  <a:pt x="1159" y="6"/>
                </a:lnTo>
                <a:lnTo>
                  <a:pt x="1159" y="5"/>
                </a:lnTo>
                <a:lnTo>
                  <a:pt x="1157" y="3"/>
                </a:lnTo>
                <a:lnTo>
                  <a:pt x="1157" y="1"/>
                </a:lnTo>
                <a:lnTo>
                  <a:pt x="1157" y="0"/>
                </a:lnTo>
                <a:lnTo>
                  <a:pt x="1152" y="0"/>
                </a:lnTo>
                <a:lnTo>
                  <a:pt x="1152" y="1"/>
                </a:lnTo>
                <a:lnTo>
                  <a:pt x="1152" y="3"/>
                </a:lnTo>
                <a:lnTo>
                  <a:pt x="1154" y="5"/>
                </a:lnTo>
                <a:lnTo>
                  <a:pt x="1154" y="6"/>
                </a:lnTo>
                <a:lnTo>
                  <a:pt x="1154" y="8"/>
                </a:lnTo>
                <a:lnTo>
                  <a:pt x="1154" y="10"/>
                </a:lnTo>
                <a:lnTo>
                  <a:pt x="1154" y="11"/>
                </a:lnTo>
                <a:lnTo>
                  <a:pt x="1154" y="13"/>
                </a:lnTo>
                <a:lnTo>
                  <a:pt x="1159" y="11"/>
                </a:lnTo>
                <a:close/>
                <a:moveTo>
                  <a:pt x="0" y="187"/>
                </a:moveTo>
                <a:lnTo>
                  <a:pt x="0" y="189"/>
                </a:lnTo>
                <a:lnTo>
                  <a:pt x="0" y="190"/>
                </a:lnTo>
                <a:lnTo>
                  <a:pt x="0" y="192"/>
                </a:lnTo>
                <a:lnTo>
                  <a:pt x="0" y="194"/>
                </a:lnTo>
                <a:lnTo>
                  <a:pt x="0" y="195"/>
                </a:lnTo>
                <a:lnTo>
                  <a:pt x="1" y="197"/>
                </a:lnTo>
                <a:lnTo>
                  <a:pt x="1" y="199"/>
                </a:lnTo>
                <a:lnTo>
                  <a:pt x="6" y="199"/>
                </a:lnTo>
                <a:lnTo>
                  <a:pt x="5" y="197"/>
                </a:lnTo>
                <a:lnTo>
                  <a:pt x="5" y="195"/>
                </a:lnTo>
                <a:lnTo>
                  <a:pt x="5" y="194"/>
                </a:lnTo>
                <a:lnTo>
                  <a:pt x="5" y="192"/>
                </a:lnTo>
                <a:lnTo>
                  <a:pt x="5" y="190"/>
                </a:lnTo>
                <a:lnTo>
                  <a:pt x="5" y="189"/>
                </a:lnTo>
                <a:lnTo>
                  <a:pt x="3" y="187"/>
                </a:lnTo>
                <a:lnTo>
                  <a:pt x="3" y="185"/>
                </a:lnTo>
                <a:lnTo>
                  <a:pt x="0" y="187"/>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74" name="Freeform 979">
            <a:extLst>
              <a:ext uri="{FF2B5EF4-FFF2-40B4-BE49-F238E27FC236}">
                <a16:creationId xmlns:a16="http://schemas.microsoft.com/office/drawing/2014/main" id="{960CA025-6851-60DB-E56F-9D101C9CF120}"/>
              </a:ext>
            </a:extLst>
          </p:cNvPr>
          <p:cNvSpPr>
            <a:spLocks noEditPoints="1"/>
          </p:cNvSpPr>
          <p:nvPr/>
        </p:nvSpPr>
        <p:spPr bwMode="auto">
          <a:xfrm>
            <a:off x="1997075" y="2403475"/>
            <a:ext cx="1835150" cy="315913"/>
          </a:xfrm>
          <a:custGeom>
            <a:avLst/>
            <a:gdLst>
              <a:gd name="T0" fmla="*/ 1156 w 1156"/>
              <a:gd name="T1" fmla="*/ 11 h 199"/>
              <a:gd name="T2" fmla="*/ 1156 w 1156"/>
              <a:gd name="T3" fmla="*/ 10 h 199"/>
              <a:gd name="T4" fmla="*/ 1155 w 1156"/>
              <a:gd name="T5" fmla="*/ 8 h 199"/>
              <a:gd name="T6" fmla="*/ 1155 w 1156"/>
              <a:gd name="T7" fmla="*/ 6 h 199"/>
              <a:gd name="T8" fmla="*/ 1155 w 1156"/>
              <a:gd name="T9" fmla="*/ 5 h 199"/>
              <a:gd name="T10" fmla="*/ 1155 w 1156"/>
              <a:gd name="T11" fmla="*/ 3 h 199"/>
              <a:gd name="T12" fmla="*/ 1155 w 1156"/>
              <a:gd name="T13" fmla="*/ 1 h 199"/>
              <a:gd name="T14" fmla="*/ 1155 w 1156"/>
              <a:gd name="T15" fmla="*/ 0 h 199"/>
              <a:gd name="T16" fmla="*/ 1150 w 1156"/>
              <a:gd name="T17" fmla="*/ 0 h 199"/>
              <a:gd name="T18" fmla="*/ 1150 w 1156"/>
              <a:gd name="T19" fmla="*/ 1 h 199"/>
              <a:gd name="T20" fmla="*/ 1150 w 1156"/>
              <a:gd name="T21" fmla="*/ 3 h 199"/>
              <a:gd name="T22" fmla="*/ 1150 w 1156"/>
              <a:gd name="T23" fmla="*/ 5 h 199"/>
              <a:gd name="T24" fmla="*/ 1150 w 1156"/>
              <a:gd name="T25" fmla="*/ 6 h 199"/>
              <a:gd name="T26" fmla="*/ 1151 w 1156"/>
              <a:gd name="T27" fmla="*/ 8 h 199"/>
              <a:gd name="T28" fmla="*/ 1151 w 1156"/>
              <a:gd name="T29" fmla="*/ 10 h 199"/>
              <a:gd name="T30" fmla="*/ 1151 w 1156"/>
              <a:gd name="T31" fmla="*/ 11 h 199"/>
              <a:gd name="T32" fmla="*/ 1151 w 1156"/>
              <a:gd name="T33" fmla="*/ 13 h 199"/>
              <a:gd name="T34" fmla="*/ 1156 w 1156"/>
              <a:gd name="T35" fmla="*/ 11 h 199"/>
              <a:gd name="T36" fmla="*/ 0 w 1156"/>
              <a:gd name="T37" fmla="*/ 185 h 199"/>
              <a:gd name="T38" fmla="*/ 0 w 1156"/>
              <a:gd name="T39" fmla="*/ 187 h 199"/>
              <a:gd name="T40" fmla="*/ 0 w 1156"/>
              <a:gd name="T41" fmla="*/ 189 h 199"/>
              <a:gd name="T42" fmla="*/ 0 w 1156"/>
              <a:gd name="T43" fmla="*/ 190 h 199"/>
              <a:gd name="T44" fmla="*/ 2 w 1156"/>
              <a:gd name="T45" fmla="*/ 192 h 199"/>
              <a:gd name="T46" fmla="*/ 2 w 1156"/>
              <a:gd name="T47" fmla="*/ 194 h 199"/>
              <a:gd name="T48" fmla="*/ 2 w 1156"/>
              <a:gd name="T49" fmla="*/ 195 h 199"/>
              <a:gd name="T50" fmla="*/ 2 w 1156"/>
              <a:gd name="T51" fmla="*/ 197 h 199"/>
              <a:gd name="T52" fmla="*/ 2 w 1156"/>
              <a:gd name="T53" fmla="*/ 199 h 199"/>
              <a:gd name="T54" fmla="*/ 7 w 1156"/>
              <a:gd name="T55" fmla="*/ 199 h 199"/>
              <a:gd name="T56" fmla="*/ 7 w 1156"/>
              <a:gd name="T57" fmla="*/ 197 h 199"/>
              <a:gd name="T58" fmla="*/ 7 w 1156"/>
              <a:gd name="T59" fmla="*/ 195 h 199"/>
              <a:gd name="T60" fmla="*/ 7 w 1156"/>
              <a:gd name="T61" fmla="*/ 194 h 199"/>
              <a:gd name="T62" fmla="*/ 5 w 1156"/>
              <a:gd name="T63" fmla="*/ 190 h 199"/>
              <a:gd name="T64" fmla="*/ 5 w 1156"/>
              <a:gd name="T65" fmla="*/ 189 h 199"/>
              <a:gd name="T66" fmla="*/ 5 w 1156"/>
              <a:gd name="T67" fmla="*/ 187 h 199"/>
              <a:gd name="T68" fmla="*/ 5 w 1156"/>
              <a:gd name="T69" fmla="*/ 185 h 199"/>
              <a:gd name="T70" fmla="*/ 5 w 1156"/>
              <a:gd name="T71" fmla="*/ 184 h 199"/>
              <a:gd name="T72" fmla="*/ 0 w 1156"/>
              <a:gd name="T73" fmla="*/ 18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156" h="199">
                <a:moveTo>
                  <a:pt x="1156" y="11"/>
                </a:moveTo>
                <a:lnTo>
                  <a:pt x="1156" y="10"/>
                </a:lnTo>
                <a:lnTo>
                  <a:pt x="1155" y="8"/>
                </a:lnTo>
                <a:lnTo>
                  <a:pt x="1155" y="6"/>
                </a:lnTo>
                <a:lnTo>
                  <a:pt x="1155" y="5"/>
                </a:lnTo>
                <a:lnTo>
                  <a:pt x="1155" y="3"/>
                </a:lnTo>
                <a:lnTo>
                  <a:pt x="1155" y="1"/>
                </a:lnTo>
                <a:lnTo>
                  <a:pt x="1155" y="0"/>
                </a:lnTo>
                <a:lnTo>
                  <a:pt x="1150" y="0"/>
                </a:lnTo>
                <a:lnTo>
                  <a:pt x="1150" y="1"/>
                </a:lnTo>
                <a:lnTo>
                  <a:pt x="1150" y="3"/>
                </a:lnTo>
                <a:lnTo>
                  <a:pt x="1150" y="5"/>
                </a:lnTo>
                <a:lnTo>
                  <a:pt x="1150" y="6"/>
                </a:lnTo>
                <a:lnTo>
                  <a:pt x="1151" y="8"/>
                </a:lnTo>
                <a:lnTo>
                  <a:pt x="1151" y="10"/>
                </a:lnTo>
                <a:lnTo>
                  <a:pt x="1151" y="11"/>
                </a:lnTo>
                <a:lnTo>
                  <a:pt x="1151" y="13"/>
                </a:lnTo>
                <a:lnTo>
                  <a:pt x="1156" y="11"/>
                </a:lnTo>
                <a:close/>
                <a:moveTo>
                  <a:pt x="0" y="185"/>
                </a:moveTo>
                <a:lnTo>
                  <a:pt x="0" y="187"/>
                </a:lnTo>
                <a:lnTo>
                  <a:pt x="0" y="189"/>
                </a:lnTo>
                <a:lnTo>
                  <a:pt x="0" y="190"/>
                </a:lnTo>
                <a:lnTo>
                  <a:pt x="2" y="192"/>
                </a:lnTo>
                <a:lnTo>
                  <a:pt x="2" y="194"/>
                </a:lnTo>
                <a:lnTo>
                  <a:pt x="2" y="195"/>
                </a:lnTo>
                <a:lnTo>
                  <a:pt x="2" y="197"/>
                </a:lnTo>
                <a:lnTo>
                  <a:pt x="2" y="199"/>
                </a:lnTo>
                <a:lnTo>
                  <a:pt x="7" y="199"/>
                </a:lnTo>
                <a:lnTo>
                  <a:pt x="7" y="197"/>
                </a:lnTo>
                <a:lnTo>
                  <a:pt x="7" y="195"/>
                </a:lnTo>
                <a:lnTo>
                  <a:pt x="7" y="194"/>
                </a:lnTo>
                <a:lnTo>
                  <a:pt x="5" y="190"/>
                </a:lnTo>
                <a:lnTo>
                  <a:pt x="5" y="189"/>
                </a:lnTo>
                <a:lnTo>
                  <a:pt x="5" y="187"/>
                </a:lnTo>
                <a:lnTo>
                  <a:pt x="5" y="185"/>
                </a:lnTo>
                <a:lnTo>
                  <a:pt x="5" y="184"/>
                </a:lnTo>
                <a:lnTo>
                  <a:pt x="0" y="185"/>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75" name="Freeform 980">
            <a:extLst>
              <a:ext uri="{FF2B5EF4-FFF2-40B4-BE49-F238E27FC236}">
                <a16:creationId xmlns:a16="http://schemas.microsoft.com/office/drawing/2014/main" id="{9912CB91-0AE0-C4A2-F550-E38BBC732ED5}"/>
              </a:ext>
            </a:extLst>
          </p:cNvPr>
          <p:cNvSpPr>
            <a:spLocks noEditPoints="1"/>
          </p:cNvSpPr>
          <p:nvPr/>
        </p:nvSpPr>
        <p:spPr bwMode="auto">
          <a:xfrm>
            <a:off x="2000250" y="2403475"/>
            <a:ext cx="1827213" cy="315913"/>
          </a:xfrm>
          <a:custGeom>
            <a:avLst/>
            <a:gdLst>
              <a:gd name="T0" fmla="*/ 1151 w 1151"/>
              <a:gd name="T1" fmla="*/ 13 h 199"/>
              <a:gd name="T2" fmla="*/ 1151 w 1151"/>
              <a:gd name="T3" fmla="*/ 11 h 199"/>
              <a:gd name="T4" fmla="*/ 1151 w 1151"/>
              <a:gd name="T5" fmla="*/ 10 h 199"/>
              <a:gd name="T6" fmla="*/ 1151 w 1151"/>
              <a:gd name="T7" fmla="*/ 8 h 199"/>
              <a:gd name="T8" fmla="*/ 1151 w 1151"/>
              <a:gd name="T9" fmla="*/ 6 h 199"/>
              <a:gd name="T10" fmla="*/ 1151 w 1151"/>
              <a:gd name="T11" fmla="*/ 5 h 199"/>
              <a:gd name="T12" fmla="*/ 1149 w 1151"/>
              <a:gd name="T13" fmla="*/ 3 h 199"/>
              <a:gd name="T14" fmla="*/ 1149 w 1151"/>
              <a:gd name="T15" fmla="*/ 1 h 199"/>
              <a:gd name="T16" fmla="*/ 1149 w 1151"/>
              <a:gd name="T17" fmla="*/ 0 h 199"/>
              <a:gd name="T18" fmla="*/ 1144 w 1151"/>
              <a:gd name="T19" fmla="*/ 0 h 199"/>
              <a:gd name="T20" fmla="*/ 1144 w 1151"/>
              <a:gd name="T21" fmla="*/ 1 h 199"/>
              <a:gd name="T22" fmla="*/ 1146 w 1151"/>
              <a:gd name="T23" fmla="*/ 3 h 199"/>
              <a:gd name="T24" fmla="*/ 1146 w 1151"/>
              <a:gd name="T25" fmla="*/ 5 h 199"/>
              <a:gd name="T26" fmla="*/ 1146 w 1151"/>
              <a:gd name="T27" fmla="*/ 6 h 199"/>
              <a:gd name="T28" fmla="*/ 1146 w 1151"/>
              <a:gd name="T29" fmla="*/ 10 h 199"/>
              <a:gd name="T30" fmla="*/ 1146 w 1151"/>
              <a:gd name="T31" fmla="*/ 11 h 199"/>
              <a:gd name="T32" fmla="*/ 1146 w 1151"/>
              <a:gd name="T33" fmla="*/ 13 h 199"/>
              <a:gd name="T34" fmla="*/ 1148 w 1151"/>
              <a:gd name="T35" fmla="*/ 15 h 199"/>
              <a:gd name="T36" fmla="*/ 1151 w 1151"/>
              <a:gd name="T37" fmla="*/ 13 h 199"/>
              <a:gd name="T38" fmla="*/ 0 w 1151"/>
              <a:gd name="T39" fmla="*/ 185 h 199"/>
              <a:gd name="T40" fmla="*/ 0 w 1151"/>
              <a:gd name="T41" fmla="*/ 187 h 199"/>
              <a:gd name="T42" fmla="*/ 2 w 1151"/>
              <a:gd name="T43" fmla="*/ 189 h 199"/>
              <a:gd name="T44" fmla="*/ 2 w 1151"/>
              <a:gd name="T45" fmla="*/ 190 h 199"/>
              <a:gd name="T46" fmla="*/ 2 w 1151"/>
              <a:gd name="T47" fmla="*/ 192 h 199"/>
              <a:gd name="T48" fmla="*/ 2 w 1151"/>
              <a:gd name="T49" fmla="*/ 194 h 199"/>
              <a:gd name="T50" fmla="*/ 2 w 1151"/>
              <a:gd name="T51" fmla="*/ 195 h 199"/>
              <a:gd name="T52" fmla="*/ 2 w 1151"/>
              <a:gd name="T53" fmla="*/ 197 h 199"/>
              <a:gd name="T54" fmla="*/ 3 w 1151"/>
              <a:gd name="T55" fmla="*/ 199 h 199"/>
              <a:gd name="T56" fmla="*/ 8 w 1151"/>
              <a:gd name="T57" fmla="*/ 199 h 199"/>
              <a:gd name="T58" fmla="*/ 7 w 1151"/>
              <a:gd name="T59" fmla="*/ 197 h 199"/>
              <a:gd name="T60" fmla="*/ 7 w 1151"/>
              <a:gd name="T61" fmla="*/ 195 h 199"/>
              <a:gd name="T62" fmla="*/ 7 w 1151"/>
              <a:gd name="T63" fmla="*/ 192 h 199"/>
              <a:gd name="T64" fmla="*/ 7 w 1151"/>
              <a:gd name="T65" fmla="*/ 190 h 199"/>
              <a:gd name="T66" fmla="*/ 7 w 1151"/>
              <a:gd name="T67" fmla="*/ 189 h 199"/>
              <a:gd name="T68" fmla="*/ 5 w 1151"/>
              <a:gd name="T69" fmla="*/ 187 h 199"/>
              <a:gd name="T70" fmla="*/ 5 w 1151"/>
              <a:gd name="T71" fmla="*/ 185 h 199"/>
              <a:gd name="T72" fmla="*/ 5 w 1151"/>
              <a:gd name="T73" fmla="*/ 182 h 199"/>
              <a:gd name="T74" fmla="*/ 0 w 1151"/>
              <a:gd name="T75" fmla="*/ 18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51" h="199">
                <a:moveTo>
                  <a:pt x="1151" y="13"/>
                </a:moveTo>
                <a:lnTo>
                  <a:pt x="1151" y="11"/>
                </a:lnTo>
                <a:lnTo>
                  <a:pt x="1151" y="10"/>
                </a:lnTo>
                <a:lnTo>
                  <a:pt x="1151" y="8"/>
                </a:lnTo>
                <a:lnTo>
                  <a:pt x="1151" y="6"/>
                </a:lnTo>
                <a:lnTo>
                  <a:pt x="1151" y="5"/>
                </a:lnTo>
                <a:lnTo>
                  <a:pt x="1149" y="3"/>
                </a:lnTo>
                <a:lnTo>
                  <a:pt x="1149" y="1"/>
                </a:lnTo>
                <a:lnTo>
                  <a:pt x="1149" y="0"/>
                </a:lnTo>
                <a:lnTo>
                  <a:pt x="1144" y="0"/>
                </a:lnTo>
                <a:lnTo>
                  <a:pt x="1144" y="1"/>
                </a:lnTo>
                <a:lnTo>
                  <a:pt x="1146" y="3"/>
                </a:lnTo>
                <a:lnTo>
                  <a:pt x="1146" y="5"/>
                </a:lnTo>
                <a:lnTo>
                  <a:pt x="1146" y="6"/>
                </a:lnTo>
                <a:lnTo>
                  <a:pt x="1146" y="10"/>
                </a:lnTo>
                <a:lnTo>
                  <a:pt x="1146" y="11"/>
                </a:lnTo>
                <a:lnTo>
                  <a:pt x="1146" y="13"/>
                </a:lnTo>
                <a:lnTo>
                  <a:pt x="1148" y="15"/>
                </a:lnTo>
                <a:lnTo>
                  <a:pt x="1151" y="13"/>
                </a:lnTo>
                <a:close/>
                <a:moveTo>
                  <a:pt x="0" y="185"/>
                </a:moveTo>
                <a:lnTo>
                  <a:pt x="0" y="187"/>
                </a:lnTo>
                <a:lnTo>
                  <a:pt x="2" y="189"/>
                </a:lnTo>
                <a:lnTo>
                  <a:pt x="2" y="190"/>
                </a:lnTo>
                <a:lnTo>
                  <a:pt x="2" y="192"/>
                </a:lnTo>
                <a:lnTo>
                  <a:pt x="2" y="194"/>
                </a:lnTo>
                <a:lnTo>
                  <a:pt x="2" y="195"/>
                </a:lnTo>
                <a:lnTo>
                  <a:pt x="2" y="197"/>
                </a:lnTo>
                <a:lnTo>
                  <a:pt x="3" y="199"/>
                </a:lnTo>
                <a:lnTo>
                  <a:pt x="8" y="199"/>
                </a:lnTo>
                <a:lnTo>
                  <a:pt x="7" y="197"/>
                </a:lnTo>
                <a:lnTo>
                  <a:pt x="7" y="195"/>
                </a:lnTo>
                <a:lnTo>
                  <a:pt x="7" y="192"/>
                </a:lnTo>
                <a:lnTo>
                  <a:pt x="7" y="190"/>
                </a:lnTo>
                <a:lnTo>
                  <a:pt x="7" y="189"/>
                </a:lnTo>
                <a:lnTo>
                  <a:pt x="5" y="187"/>
                </a:lnTo>
                <a:lnTo>
                  <a:pt x="5" y="185"/>
                </a:lnTo>
                <a:lnTo>
                  <a:pt x="5" y="182"/>
                </a:lnTo>
                <a:lnTo>
                  <a:pt x="0" y="185"/>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76" name="Freeform 981">
            <a:extLst>
              <a:ext uri="{FF2B5EF4-FFF2-40B4-BE49-F238E27FC236}">
                <a16:creationId xmlns:a16="http://schemas.microsoft.com/office/drawing/2014/main" id="{20E7C304-188D-ED55-8949-0D83EF76457F}"/>
              </a:ext>
            </a:extLst>
          </p:cNvPr>
          <p:cNvSpPr>
            <a:spLocks noEditPoints="1"/>
          </p:cNvSpPr>
          <p:nvPr/>
        </p:nvSpPr>
        <p:spPr bwMode="auto">
          <a:xfrm>
            <a:off x="2005013" y="2403475"/>
            <a:ext cx="1819275" cy="315913"/>
          </a:xfrm>
          <a:custGeom>
            <a:avLst/>
            <a:gdLst>
              <a:gd name="T0" fmla="*/ 1146 w 1146"/>
              <a:gd name="T1" fmla="*/ 13 h 199"/>
              <a:gd name="T2" fmla="*/ 1146 w 1146"/>
              <a:gd name="T3" fmla="*/ 11 h 199"/>
              <a:gd name="T4" fmla="*/ 1146 w 1146"/>
              <a:gd name="T5" fmla="*/ 10 h 199"/>
              <a:gd name="T6" fmla="*/ 1146 w 1146"/>
              <a:gd name="T7" fmla="*/ 8 h 199"/>
              <a:gd name="T8" fmla="*/ 1145 w 1146"/>
              <a:gd name="T9" fmla="*/ 6 h 199"/>
              <a:gd name="T10" fmla="*/ 1145 w 1146"/>
              <a:gd name="T11" fmla="*/ 5 h 199"/>
              <a:gd name="T12" fmla="*/ 1145 w 1146"/>
              <a:gd name="T13" fmla="*/ 3 h 199"/>
              <a:gd name="T14" fmla="*/ 1145 w 1146"/>
              <a:gd name="T15" fmla="*/ 1 h 199"/>
              <a:gd name="T16" fmla="*/ 1145 w 1146"/>
              <a:gd name="T17" fmla="*/ 0 h 199"/>
              <a:gd name="T18" fmla="*/ 1140 w 1146"/>
              <a:gd name="T19" fmla="*/ 0 h 199"/>
              <a:gd name="T20" fmla="*/ 1140 w 1146"/>
              <a:gd name="T21" fmla="*/ 1 h 199"/>
              <a:gd name="T22" fmla="*/ 1140 w 1146"/>
              <a:gd name="T23" fmla="*/ 3 h 199"/>
              <a:gd name="T24" fmla="*/ 1140 w 1146"/>
              <a:gd name="T25" fmla="*/ 6 h 199"/>
              <a:gd name="T26" fmla="*/ 1140 w 1146"/>
              <a:gd name="T27" fmla="*/ 8 h 199"/>
              <a:gd name="T28" fmla="*/ 1141 w 1146"/>
              <a:gd name="T29" fmla="*/ 10 h 199"/>
              <a:gd name="T30" fmla="*/ 1141 w 1146"/>
              <a:gd name="T31" fmla="*/ 11 h 199"/>
              <a:gd name="T32" fmla="*/ 1141 w 1146"/>
              <a:gd name="T33" fmla="*/ 13 h 199"/>
              <a:gd name="T34" fmla="*/ 1141 w 1146"/>
              <a:gd name="T35" fmla="*/ 16 h 199"/>
              <a:gd name="T36" fmla="*/ 1146 w 1146"/>
              <a:gd name="T37" fmla="*/ 13 h 199"/>
              <a:gd name="T38" fmla="*/ 0 w 1146"/>
              <a:gd name="T39" fmla="*/ 184 h 199"/>
              <a:gd name="T40" fmla="*/ 0 w 1146"/>
              <a:gd name="T41" fmla="*/ 185 h 199"/>
              <a:gd name="T42" fmla="*/ 0 w 1146"/>
              <a:gd name="T43" fmla="*/ 187 h 199"/>
              <a:gd name="T44" fmla="*/ 0 w 1146"/>
              <a:gd name="T45" fmla="*/ 189 h 199"/>
              <a:gd name="T46" fmla="*/ 0 w 1146"/>
              <a:gd name="T47" fmla="*/ 190 h 199"/>
              <a:gd name="T48" fmla="*/ 2 w 1146"/>
              <a:gd name="T49" fmla="*/ 194 h 199"/>
              <a:gd name="T50" fmla="*/ 2 w 1146"/>
              <a:gd name="T51" fmla="*/ 195 h 199"/>
              <a:gd name="T52" fmla="*/ 2 w 1146"/>
              <a:gd name="T53" fmla="*/ 197 h 199"/>
              <a:gd name="T54" fmla="*/ 2 w 1146"/>
              <a:gd name="T55" fmla="*/ 199 h 199"/>
              <a:gd name="T56" fmla="*/ 7 w 1146"/>
              <a:gd name="T57" fmla="*/ 199 h 199"/>
              <a:gd name="T58" fmla="*/ 7 w 1146"/>
              <a:gd name="T59" fmla="*/ 197 h 199"/>
              <a:gd name="T60" fmla="*/ 7 w 1146"/>
              <a:gd name="T61" fmla="*/ 194 h 199"/>
              <a:gd name="T62" fmla="*/ 5 w 1146"/>
              <a:gd name="T63" fmla="*/ 192 h 199"/>
              <a:gd name="T64" fmla="*/ 5 w 1146"/>
              <a:gd name="T65" fmla="*/ 190 h 199"/>
              <a:gd name="T66" fmla="*/ 5 w 1146"/>
              <a:gd name="T67" fmla="*/ 189 h 199"/>
              <a:gd name="T68" fmla="*/ 5 w 1146"/>
              <a:gd name="T69" fmla="*/ 185 h 199"/>
              <a:gd name="T70" fmla="*/ 5 w 1146"/>
              <a:gd name="T71" fmla="*/ 184 h 199"/>
              <a:gd name="T72" fmla="*/ 4 w 1146"/>
              <a:gd name="T73" fmla="*/ 182 h 199"/>
              <a:gd name="T74" fmla="*/ 0 w 1146"/>
              <a:gd name="T75" fmla="*/ 18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46" h="199">
                <a:moveTo>
                  <a:pt x="1146" y="13"/>
                </a:moveTo>
                <a:lnTo>
                  <a:pt x="1146" y="11"/>
                </a:lnTo>
                <a:lnTo>
                  <a:pt x="1146" y="10"/>
                </a:lnTo>
                <a:lnTo>
                  <a:pt x="1146" y="8"/>
                </a:lnTo>
                <a:lnTo>
                  <a:pt x="1145" y="6"/>
                </a:lnTo>
                <a:lnTo>
                  <a:pt x="1145" y="5"/>
                </a:lnTo>
                <a:lnTo>
                  <a:pt x="1145" y="3"/>
                </a:lnTo>
                <a:lnTo>
                  <a:pt x="1145" y="1"/>
                </a:lnTo>
                <a:lnTo>
                  <a:pt x="1145" y="0"/>
                </a:lnTo>
                <a:lnTo>
                  <a:pt x="1140" y="0"/>
                </a:lnTo>
                <a:lnTo>
                  <a:pt x="1140" y="1"/>
                </a:lnTo>
                <a:lnTo>
                  <a:pt x="1140" y="3"/>
                </a:lnTo>
                <a:lnTo>
                  <a:pt x="1140" y="6"/>
                </a:lnTo>
                <a:lnTo>
                  <a:pt x="1140" y="8"/>
                </a:lnTo>
                <a:lnTo>
                  <a:pt x="1141" y="10"/>
                </a:lnTo>
                <a:lnTo>
                  <a:pt x="1141" y="11"/>
                </a:lnTo>
                <a:lnTo>
                  <a:pt x="1141" y="13"/>
                </a:lnTo>
                <a:lnTo>
                  <a:pt x="1141" y="16"/>
                </a:lnTo>
                <a:lnTo>
                  <a:pt x="1146" y="13"/>
                </a:lnTo>
                <a:close/>
                <a:moveTo>
                  <a:pt x="0" y="184"/>
                </a:moveTo>
                <a:lnTo>
                  <a:pt x="0" y="185"/>
                </a:lnTo>
                <a:lnTo>
                  <a:pt x="0" y="187"/>
                </a:lnTo>
                <a:lnTo>
                  <a:pt x="0" y="189"/>
                </a:lnTo>
                <a:lnTo>
                  <a:pt x="0" y="190"/>
                </a:lnTo>
                <a:lnTo>
                  <a:pt x="2" y="194"/>
                </a:lnTo>
                <a:lnTo>
                  <a:pt x="2" y="195"/>
                </a:lnTo>
                <a:lnTo>
                  <a:pt x="2" y="197"/>
                </a:lnTo>
                <a:lnTo>
                  <a:pt x="2" y="199"/>
                </a:lnTo>
                <a:lnTo>
                  <a:pt x="7" y="199"/>
                </a:lnTo>
                <a:lnTo>
                  <a:pt x="7" y="197"/>
                </a:lnTo>
                <a:lnTo>
                  <a:pt x="7" y="194"/>
                </a:lnTo>
                <a:lnTo>
                  <a:pt x="5" y="192"/>
                </a:lnTo>
                <a:lnTo>
                  <a:pt x="5" y="190"/>
                </a:lnTo>
                <a:lnTo>
                  <a:pt x="5" y="189"/>
                </a:lnTo>
                <a:lnTo>
                  <a:pt x="5" y="185"/>
                </a:lnTo>
                <a:lnTo>
                  <a:pt x="5" y="184"/>
                </a:lnTo>
                <a:lnTo>
                  <a:pt x="4" y="182"/>
                </a:lnTo>
                <a:lnTo>
                  <a:pt x="0" y="184"/>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77" name="Freeform 982">
            <a:extLst>
              <a:ext uri="{FF2B5EF4-FFF2-40B4-BE49-F238E27FC236}">
                <a16:creationId xmlns:a16="http://schemas.microsoft.com/office/drawing/2014/main" id="{1F95D12C-C60B-677A-7F12-5639D059D6C0}"/>
              </a:ext>
            </a:extLst>
          </p:cNvPr>
          <p:cNvSpPr>
            <a:spLocks noEditPoints="1"/>
          </p:cNvSpPr>
          <p:nvPr/>
        </p:nvSpPr>
        <p:spPr bwMode="auto">
          <a:xfrm>
            <a:off x="2008188" y="2403475"/>
            <a:ext cx="1814513" cy="315913"/>
          </a:xfrm>
          <a:custGeom>
            <a:avLst/>
            <a:gdLst>
              <a:gd name="T0" fmla="*/ 1143 w 1143"/>
              <a:gd name="T1" fmla="*/ 15 h 199"/>
              <a:gd name="T2" fmla="*/ 1141 w 1143"/>
              <a:gd name="T3" fmla="*/ 13 h 199"/>
              <a:gd name="T4" fmla="*/ 1141 w 1143"/>
              <a:gd name="T5" fmla="*/ 11 h 199"/>
              <a:gd name="T6" fmla="*/ 1141 w 1143"/>
              <a:gd name="T7" fmla="*/ 10 h 199"/>
              <a:gd name="T8" fmla="*/ 1141 w 1143"/>
              <a:gd name="T9" fmla="*/ 6 h 199"/>
              <a:gd name="T10" fmla="*/ 1141 w 1143"/>
              <a:gd name="T11" fmla="*/ 5 h 199"/>
              <a:gd name="T12" fmla="*/ 1141 w 1143"/>
              <a:gd name="T13" fmla="*/ 3 h 199"/>
              <a:gd name="T14" fmla="*/ 1139 w 1143"/>
              <a:gd name="T15" fmla="*/ 1 h 199"/>
              <a:gd name="T16" fmla="*/ 1139 w 1143"/>
              <a:gd name="T17" fmla="*/ 0 h 199"/>
              <a:gd name="T18" fmla="*/ 1134 w 1143"/>
              <a:gd name="T19" fmla="*/ 0 h 199"/>
              <a:gd name="T20" fmla="*/ 1134 w 1143"/>
              <a:gd name="T21" fmla="*/ 1 h 199"/>
              <a:gd name="T22" fmla="*/ 1136 w 1143"/>
              <a:gd name="T23" fmla="*/ 3 h 199"/>
              <a:gd name="T24" fmla="*/ 1136 w 1143"/>
              <a:gd name="T25" fmla="*/ 6 h 199"/>
              <a:gd name="T26" fmla="*/ 1136 w 1143"/>
              <a:gd name="T27" fmla="*/ 8 h 199"/>
              <a:gd name="T28" fmla="*/ 1136 w 1143"/>
              <a:gd name="T29" fmla="*/ 10 h 199"/>
              <a:gd name="T30" fmla="*/ 1136 w 1143"/>
              <a:gd name="T31" fmla="*/ 13 h 199"/>
              <a:gd name="T32" fmla="*/ 1138 w 1143"/>
              <a:gd name="T33" fmla="*/ 15 h 199"/>
              <a:gd name="T34" fmla="*/ 1138 w 1143"/>
              <a:gd name="T35" fmla="*/ 16 h 199"/>
              <a:gd name="T36" fmla="*/ 1143 w 1143"/>
              <a:gd name="T37" fmla="*/ 15 h 199"/>
              <a:gd name="T38" fmla="*/ 0 w 1143"/>
              <a:gd name="T39" fmla="*/ 182 h 199"/>
              <a:gd name="T40" fmla="*/ 0 w 1143"/>
              <a:gd name="T41" fmla="*/ 185 h 199"/>
              <a:gd name="T42" fmla="*/ 0 w 1143"/>
              <a:gd name="T43" fmla="*/ 187 h 199"/>
              <a:gd name="T44" fmla="*/ 2 w 1143"/>
              <a:gd name="T45" fmla="*/ 189 h 199"/>
              <a:gd name="T46" fmla="*/ 2 w 1143"/>
              <a:gd name="T47" fmla="*/ 190 h 199"/>
              <a:gd name="T48" fmla="*/ 2 w 1143"/>
              <a:gd name="T49" fmla="*/ 192 h 199"/>
              <a:gd name="T50" fmla="*/ 2 w 1143"/>
              <a:gd name="T51" fmla="*/ 195 h 199"/>
              <a:gd name="T52" fmla="*/ 2 w 1143"/>
              <a:gd name="T53" fmla="*/ 197 h 199"/>
              <a:gd name="T54" fmla="*/ 3 w 1143"/>
              <a:gd name="T55" fmla="*/ 199 h 199"/>
              <a:gd name="T56" fmla="*/ 7 w 1143"/>
              <a:gd name="T57" fmla="*/ 199 h 199"/>
              <a:gd name="T58" fmla="*/ 7 w 1143"/>
              <a:gd name="T59" fmla="*/ 197 h 199"/>
              <a:gd name="T60" fmla="*/ 7 w 1143"/>
              <a:gd name="T61" fmla="*/ 194 h 199"/>
              <a:gd name="T62" fmla="*/ 7 w 1143"/>
              <a:gd name="T63" fmla="*/ 192 h 199"/>
              <a:gd name="T64" fmla="*/ 7 w 1143"/>
              <a:gd name="T65" fmla="*/ 189 h 199"/>
              <a:gd name="T66" fmla="*/ 5 w 1143"/>
              <a:gd name="T67" fmla="*/ 187 h 199"/>
              <a:gd name="T68" fmla="*/ 5 w 1143"/>
              <a:gd name="T69" fmla="*/ 185 h 199"/>
              <a:gd name="T70" fmla="*/ 5 w 1143"/>
              <a:gd name="T71" fmla="*/ 182 h 199"/>
              <a:gd name="T72" fmla="*/ 5 w 1143"/>
              <a:gd name="T73" fmla="*/ 180 h 199"/>
              <a:gd name="T74" fmla="*/ 0 w 1143"/>
              <a:gd name="T7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43" h="199">
                <a:moveTo>
                  <a:pt x="1143" y="15"/>
                </a:moveTo>
                <a:lnTo>
                  <a:pt x="1141" y="13"/>
                </a:lnTo>
                <a:lnTo>
                  <a:pt x="1141" y="11"/>
                </a:lnTo>
                <a:lnTo>
                  <a:pt x="1141" y="10"/>
                </a:lnTo>
                <a:lnTo>
                  <a:pt x="1141" y="6"/>
                </a:lnTo>
                <a:lnTo>
                  <a:pt x="1141" y="5"/>
                </a:lnTo>
                <a:lnTo>
                  <a:pt x="1141" y="3"/>
                </a:lnTo>
                <a:lnTo>
                  <a:pt x="1139" y="1"/>
                </a:lnTo>
                <a:lnTo>
                  <a:pt x="1139" y="0"/>
                </a:lnTo>
                <a:lnTo>
                  <a:pt x="1134" y="0"/>
                </a:lnTo>
                <a:lnTo>
                  <a:pt x="1134" y="1"/>
                </a:lnTo>
                <a:lnTo>
                  <a:pt x="1136" y="3"/>
                </a:lnTo>
                <a:lnTo>
                  <a:pt x="1136" y="6"/>
                </a:lnTo>
                <a:lnTo>
                  <a:pt x="1136" y="8"/>
                </a:lnTo>
                <a:lnTo>
                  <a:pt x="1136" y="10"/>
                </a:lnTo>
                <a:lnTo>
                  <a:pt x="1136" y="13"/>
                </a:lnTo>
                <a:lnTo>
                  <a:pt x="1138" y="15"/>
                </a:lnTo>
                <a:lnTo>
                  <a:pt x="1138" y="16"/>
                </a:lnTo>
                <a:lnTo>
                  <a:pt x="1143" y="15"/>
                </a:lnTo>
                <a:close/>
                <a:moveTo>
                  <a:pt x="0" y="182"/>
                </a:moveTo>
                <a:lnTo>
                  <a:pt x="0" y="185"/>
                </a:lnTo>
                <a:lnTo>
                  <a:pt x="0" y="187"/>
                </a:lnTo>
                <a:lnTo>
                  <a:pt x="2" y="189"/>
                </a:lnTo>
                <a:lnTo>
                  <a:pt x="2" y="190"/>
                </a:lnTo>
                <a:lnTo>
                  <a:pt x="2" y="192"/>
                </a:lnTo>
                <a:lnTo>
                  <a:pt x="2" y="195"/>
                </a:lnTo>
                <a:lnTo>
                  <a:pt x="2" y="197"/>
                </a:lnTo>
                <a:lnTo>
                  <a:pt x="3" y="199"/>
                </a:lnTo>
                <a:lnTo>
                  <a:pt x="7" y="199"/>
                </a:lnTo>
                <a:lnTo>
                  <a:pt x="7" y="197"/>
                </a:lnTo>
                <a:lnTo>
                  <a:pt x="7" y="194"/>
                </a:lnTo>
                <a:lnTo>
                  <a:pt x="7" y="192"/>
                </a:lnTo>
                <a:lnTo>
                  <a:pt x="7" y="189"/>
                </a:lnTo>
                <a:lnTo>
                  <a:pt x="5" y="187"/>
                </a:lnTo>
                <a:lnTo>
                  <a:pt x="5" y="185"/>
                </a:lnTo>
                <a:lnTo>
                  <a:pt x="5" y="182"/>
                </a:lnTo>
                <a:lnTo>
                  <a:pt x="5" y="180"/>
                </a:lnTo>
                <a:lnTo>
                  <a:pt x="0" y="182"/>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78" name="Freeform 983">
            <a:extLst>
              <a:ext uri="{FF2B5EF4-FFF2-40B4-BE49-F238E27FC236}">
                <a16:creationId xmlns:a16="http://schemas.microsoft.com/office/drawing/2014/main" id="{86B52E31-CE6E-5EC1-B5F6-2293D60BBB11}"/>
              </a:ext>
            </a:extLst>
          </p:cNvPr>
          <p:cNvSpPr>
            <a:spLocks noEditPoints="1"/>
          </p:cNvSpPr>
          <p:nvPr/>
        </p:nvSpPr>
        <p:spPr bwMode="auto">
          <a:xfrm>
            <a:off x="2011363" y="2403475"/>
            <a:ext cx="1804988" cy="315913"/>
          </a:xfrm>
          <a:custGeom>
            <a:avLst/>
            <a:gdLst>
              <a:gd name="T0" fmla="*/ 1137 w 1137"/>
              <a:gd name="T1" fmla="*/ 16 h 199"/>
              <a:gd name="T2" fmla="*/ 1137 w 1137"/>
              <a:gd name="T3" fmla="*/ 13 h 199"/>
              <a:gd name="T4" fmla="*/ 1137 w 1137"/>
              <a:gd name="T5" fmla="*/ 11 h 199"/>
              <a:gd name="T6" fmla="*/ 1137 w 1137"/>
              <a:gd name="T7" fmla="*/ 10 h 199"/>
              <a:gd name="T8" fmla="*/ 1136 w 1137"/>
              <a:gd name="T9" fmla="*/ 8 h 199"/>
              <a:gd name="T10" fmla="*/ 1136 w 1137"/>
              <a:gd name="T11" fmla="*/ 6 h 199"/>
              <a:gd name="T12" fmla="*/ 1136 w 1137"/>
              <a:gd name="T13" fmla="*/ 3 h 199"/>
              <a:gd name="T14" fmla="*/ 1136 w 1137"/>
              <a:gd name="T15" fmla="*/ 1 h 199"/>
              <a:gd name="T16" fmla="*/ 1136 w 1137"/>
              <a:gd name="T17" fmla="*/ 0 h 199"/>
              <a:gd name="T18" fmla="*/ 1131 w 1137"/>
              <a:gd name="T19" fmla="*/ 0 h 199"/>
              <a:gd name="T20" fmla="*/ 1131 w 1137"/>
              <a:gd name="T21" fmla="*/ 1 h 199"/>
              <a:gd name="T22" fmla="*/ 1131 w 1137"/>
              <a:gd name="T23" fmla="*/ 5 h 199"/>
              <a:gd name="T24" fmla="*/ 1131 w 1137"/>
              <a:gd name="T25" fmla="*/ 6 h 199"/>
              <a:gd name="T26" fmla="*/ 1132 w 1137"/>
              <a:gd name="T27" fmla="*/ 8 h 199"/>
              <a:gd name="T28" fmla="*/ 1132 w 1137"/>
              <a:gd name="T29" fmla="*/ 11 h 199"/>
              <a:gd name="T30" fmla="*/ 1132 w 1137"/>
              <a:gd name="T31" fmla="*/ 13 h 199"/>
              <a:gd name="T32" fmla="*/ 1132 w 1137"/>
              <a:gd name="T33" fmla="*/ 15 h 199"/>
              <a:gd name="T34" fmla="*/ 1132 w 1137"/>
              <a:gd name="T35" fmla="*/ 18 h 199"/>
              <a:gd name="T36" fmla="*/ 1137 w 1137"/>
              <a:gd name="T37" fmla="*/ 16 h 199"/>
              <a:gd name="T38" fmla="*/ 0 w 1137"/>
              <a:gd name="T39" fmla="*/ 182 h 199"/>
              <a:gd name="T40" fmla="*/ 1 w 1137"/>
              <a:gd name="T41" fmla="*/ 184 h 199"/>
              <a:gd name="T42" fmla="*/ 1 w 1137"/>
              <a:gd name="T43" fmla="*/ 185 h 199"/>
              <a:gd name="T44" fmla="*/ 1 w 1137"/>
              <a:gd name="T45" fmla="*/ 189 h 199"/>
              <a:gd name="T46" fmla="*/ 1 w 1137"/>
              <a:gd name="T47" fmla="*/ 190 h 199"/>
              <a:gd name="T48" fmla="*/ 1 w 1137"/>
              <a:gd name="T49" fmla="*/ 192 h 199"/>
              <a:gd name="T50" fmla="*/ 3 w 1137"/>
              <a:gd name="T51" fmla="*/ 194 h 199"/>
              <a:gd name="T52" fmla="*/ 3 w 1137"/>
              <a:gd name="T53" fmla="*/ 197 h 199"/>
              <a:gd name="T54" fmla="*/ 3 w 1137"/>
              <a:gd name="T55" fmla="*/ 199 h 199"/>
              <a:gd name="T56" fmla="*/ 8 w 1137"/>
              <a:gd name="T57" fmla="*/ 199 h 199"/>
              <a:gd name="T58" fmla="*/ 8 w 1137"/>
              <a:gd name="T59" fmla="*/ 195 h 199"/>
              <a:gd name="T60" fmla="*/ 6 w 1137"/>
              <a:gd name="T61" fmla="*/ 194 h 199"/>
              <a:gd name="T62" fmla="*/ 6 w 1137"/>
              <a:gd name="T63" fmla="*/ 192 h 199"/>
              <a:gd name="T64" fmla="*/ 6 w 1137"/>
              <a:gd name="T65" fmla="*/ 189 h 199"/>
              <a:gd name="T66" fmla="*/ 6 w 1137"/>
              <a:gd name="T67" fmla="*/ 187 h 199"/>
              <a:gd name="T68" fmla="*/ 6 w 1137"/>
              <a:gd name="T69" fmla="*/ 184 h 199"/>
              <a:gd name="T70" fmla="*/ 5 w 1137"/>
              <a:gd name="T71" fmla="*/ 182 h 199"/>
              <a:gd name="T72" fmla="*/ 5 w 1137"/>
              <a:gd name="T73" fmla="*/ 179 h 199"/>
              <a:gd name="T74" fmla="*/ 0 w 1137"/>
              <a:gd name="T7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37" h="199">
                <a:moveTo>
                  <a:pt x="1137" y="16"/>
                </a:moveTo>
                <a:lnTo>
                  <a:pt x="1137" y="13"/>
                </a:lnTo>
                <a:lnTo>
                  <a:pt x="1137" y="11"/>
                </a:lnTo>
                <a:lnTo>
                  <a:pt x="1137" y="10"/>
                </a:lnTo>
                <a:lnTo>
                  <a:pt x="1136" y="8"/>
                </a:lnTo>
                <a:lnTo>
                  <a:pt x="1136" y="6"/>
                </a:lnTo>
                <a:lnTo>
                  <a:pt x="1136" y="3"/>
                </a:lnTo>
                <a:lnTo>
                  <a:pt x="1136" y="1"/>
                </a:lnTo>
                <a:lnTo>
                  <a:pt x="1136" y="0"/>
                </a:lnTo>
                <a:lnTo>
                  <a:pt x="1131" y="0"/>
                </a:lnTo>
                <a:lnTo>
                  <a:pt x="1131" y="1"/>
                </a:lnTo>
                <a:lnTo>
                  <a:pt x="1131" y="5"/>
                </a:lnTo>
                <a:lnTo>
                  <a:pt x="1131" y="6"/>
                </a:lnTo>
                <a:lnTo>
                  <a:pt x="1132" y="8"/>
                </a:lnTo>
                <a:lnTo>
                  <a:pt x="1132" y="11"/>
                </a:lnTo>
                <a:lnTo>
                  <a:pt x="1132" y="13"/>
                </a:lnTo>
                <a:lnTo>
                  <a:pt x="1132" y="15"/>
                </a:lnTo>
                <a:lnTo>
                  <a:pt x="1132" y="18"/>
                </a:lnTo>
                <a:lnTo>
                  <a:pt x="1137" y="16"/>
                </a:lnTo>
                <a:close/>
                <a:moveTo>
                  <a:pt x="0" y="182"/>
                </a:moveTo>
                <a:lnTo>
                  <a:pt x="1" y="184"/>
                </a:lnTo>
                <a:lnTo>
                  <a:pt x="1" y="185"/>
                </a:lnTo>
                <a:lnTo>
                  <a:pt x="1" y="189"/>
                </a:lnTo>
                <a:lnTo>
                  <a:pt x="1" y="190"/>
                </a:lnTo>
                <a:lnTo>
                  <a:pt x="1" y="192"/>
                </a:lnTo>
                <a:lnTo>
                  <a:pt x="3" y="194"/>
                </a:lnTo>
                <a:lnTo>
                  <a:pt x="3" y="197"/>
                </a:lnTo>
                <a:lnTo>
                  <a:pt x="3" y="199"/>
                </a:lnTo>
                <a:lnTo>
                  <a:pt x="8" y="199"/>
                </a:lnTo>
                <a:lnTo>
                  <a:pt x="8" y="195"/>
                </a:lnTo>
                <a:lnTo>
                  <a:pt x="6" y="194"/>
                </a:lnTo>
                <a:lnTo>
                  <a:pt x="6" y="192"/>
                </a:lnTo>
                <a:lnTo>
                  <a:pt x="6" y="189"/>
                </a:lnTo>
                <a:lnTo>
                  <a:pt x="6" y="187"/>
                </a:lnTo>
                <a:lnTo>
                  <a:pt x="6" y="184"/>
                </a:lnTo>
                <a:lnTo>
                  <a:pt x="5" y="182"/>
                </a:lnTo>
                <a:lnTo>
                  <a:pt x="5" y="179"/>
                </a:lnTo>
                <a:lnTo>
                  <a:pt x="0" y="182"/>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79" name="Freeform 984">
            <a:extLst>
              <a:ext uri="{FF2B5EF4-FFF2-40B4-BE49-F238E27FC236}">
                <a16:creationId xmlns:a16="http://schemas.microsoft.com/office/drawing/2014/main" id="{496722F4-2400-F50F-EC70-8F02C887983E}"/>
              </a:ext>
            </a:extLst>
          </p:cNvPr>
          <p:cNvSpPr>
            <a:spLocks noEditPoints="1"/>
          </p:cNvSpPr>
          <p:nvPr/>
        </p:nvSpPr>
        <p:spPr bwMode="auto">
          <a:xfrm>
            <a:off x="2016125" y="2403475"/>
            <a:ext cx="1798638" cy="315913"/>
          </a:xfrm>
          <a:custGeom>
            <a:avLst/>
            <a:gdLst>
              <a:gd name="T0" fmla="*/ 1133 w 1133"/>
              <a:gd name="T1" fmla="*/ 16 h 199"/>
              <a:gd name="T2" fmla="*/ 1133 w 1133"/>
              <a:gd name="T3" fmla="*/ 15 h 199"/>
              <a:gd name="T4" fmla="*/ 1131 w 1133"/>
              <a:gd name="T5" fmla="*/ 13 h 199"/>
              <a:gd name="T6" fmla="*/ 1131 w 1133"/>
              <a:gd name="T7" fmla="*/ 10 h 199"/>
              <a:gd name="T8" fmla="*/ 1131 w 1133"/>
              <a:gd name="T9" fmla="*/ 8 h 199"/>
              <a:gd name="T10" fmla="*/ 1131 w 1133"/>
              <a:gd name="T11" fmla="*/ 6 h 199"/>
              <a:gd name="T12" fmla="*/ 1131 w 1133"/>
              <a:gd name="T13" fmla="*/ 3 h 199"/>
              <a:gd name="T14" fmla="*/ 1129 w 1133"/>
              <a:gd name="T15" fmla="*/ 1 h 199"/>
              <a:gd name="T16" fmla="*/ 1129 w 1133"/>
              <a:gd name="T17" fmla="*/ 0 h 199"/>
              <a:gd name="T18" fmla="*/ 1125 w 1133"/>
              <a:gd name="T19" fmla="*/ 0 h 199"/>
              <a:gd name="T20" fmla="*/ 1126 w 1133"/>
              <a:gd name="T21" fmla="*/ 1 h 199"/>
              <a:gd name="T22" fmla="*/ 1126 w 1133"/>
              <a:gd name="T23" fmla="*/ 5 h 199"/>
              <a:gd name="T24" fmla="*/ 1126 w 1133"/>
              <a:gd name="T25" fmla="*/ 6 h 199"/>
              <a:gd name="T26" fmla="*/ 1126 w 1133"/>
              <a:gd name="T27" fmla="*/ 10 h 199"/>
              <a:gd name="T28" fmla="*/ 1126 w 1133"/>
              <a:gd name="T29" fmla="*/ 11 h 199"/>
              <a:gd name="T30" fmla="*/ 1128 w 1133"/>
              <a:gd name="T31" fmla="*/ 15 h 199"/>
              <a:gd name="T32" fmla="*/ 1128 w 1133"/>
              <a:gd name="T33" fmla="*/ 16 h 199"/>
              <a:gd name="T34" fmla="*/ 1128 w 1133"/>
              <a:gd name="T35" fmla="*/ 18 h 199"/>
              <a:gd name="T36" fmla="*/ 1133 w 1133"/>
              <a:gd name="T37" fmla="*/ 16 h 199"/>
              <a:gd name="T38" fmla="*/ 0 w 1133"/>
              <a:gd name="T39" fmla="*/ 180 h 199"/>
              <a:gd name="T40" fmla="*/ 0 w 1133"/>
              <a:gd name="T41" fmla="*/ 182 h 199"/>
              <a:gd name="T42" fmla="*/ 0 w 1133"/>
              <a:gd name="T43" fmla="*/ 185 h 199"/>
              <a:gd name="T44" fmla="*/ 0 w 1133"/>
              <a:gd name="T45" fmla="*/ 187 h 199"/>
              <a:gd name="T46" fmla="*/ 2 w 1133"/>
              <a:gd name="T47" fmla="*/ 189 h 199"/>
              <a:gd name="T48" fmla="*/ 2 w 1133"/>
              <a:gd name="T49" fmla="*/ 192 h 199"/>
              <a:gd name="T50" fmla="*/ 2 w 1133"/>
              <a:gd name="T51" fmla="*/ 194 h 199"/>
              <a:gd name="T52" fmla="*/ 2 w 1133"/>
              <a:gd name="T53" fmla="*/ 197 h 199"/>
              <a:gd name="T54" fmla="*/ 2 w 1133"/>
              <a:gd name="T55" fmla="*/ 199 h 199"/>
              <a:gd name="T56" fmla="*/ 7 w 1133"/>
              <a:gd name="T57" fmla="*/ 199 h 199"/>
              <a:gd name="T58" fmla="*/ 7 w 1133"/>
              <a:gd name="T59" fmla="*/ 195 h 199"/>
              <a:gd name="T60" fmla="*/ 7 w 1133"/>
              <a:gd name="T61" fmla="*/ 194 h 199"/>
              <a:gd name="T62" fmla="*/ 7 w 1133"/>
              <a:gd name="T63" fmla="*/ 190 h 199"/>
              <a:gd name="T64" fmla="*/ 5 w 1133"/>
              <a:gd name="T65" fmla="*/ 189 h 199"/>
              <a:gd name="T66" fmla="*/ 5 w 1133"/>
              <a:gd name="T67" fmla="*/ 185 h 199"/>
              <a:gd name="T68" fmla="*/ 5 w 1133"/>
              <a:gd name="T69" fmla="*/ 184 h 199"/>
              <a:gd name="T70" fmla="*/ 5 w 1133"/>
              <a:gd name="T71" fmla="*/ 180 h 199"/>
              <a:gd name="T72" fmla="*/ 3 w 1133"/>
              <a:gd name="T73" fmla="*/ 179 h 199"/>
              <a:gd name="T74" fmla="*/ 0 w 1133"/>
              <a:gd name="T75" fmla="*/ 18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33" h="199">
                <a:moveTo>
                  <a:pt x="1133" y="16"/>
                </a:moveTo>
                <a:lnTo>
                  <a:pt x="1133" y="15"/>
                </a:lnTo>
                <a:lnTo>
                  <a:pt x="1131" y="13"/>
                </a:lnTo>
                <a:lnTo>
                  <a:pt x="1131" y="10"/>
                </a:lnTo>
                <a:lnTo>
                  <a:pt x="1131" y="8"/>
                </a:lnTo>
                <a:lnTo>
                  <a:pt x="1131" y="6"/>
                </a:lnTo>
                <a:lnTo>
                  <a:pt x="1131" y="3"/>
                </a:lnTo>
                <a:lnTo>
                  <a:pt x="1129" y="1"/>
                </a:lnTo>
                <a:lnTo>
                  <a:pt x="1129" y="0"/>
                </a:lnTo>
                <a:lnTo>
                  <a:pt x="1125" y="0"/>
                </a:lnTo>
                <a:lnTo>
                  <a:pt x="1126" y="1"/>
                </a:lnTo>
                <a:lnTo>
                  <a:pt x="1126" y="5"/>
                </a:lnTo>
                <a:lnTo>
                  <a:pt x="1126" y="6"/>
                </a:lnTo>
                <a:lnTo>
                  <a:pt x="1126" y="10"/>
                </a:lnTo>
                <a:lnTo>
                  <a:pt x="1126" y="11"/>
                </a:lnTo>
                <a:lnTo>
                  <a:pt x="1128" y="15"/>
                </a:lnTo>
                <a:lnTo>
                  <a:pt x="1128" y="16"/>
                </a:lnTo>
                <a:lnTo>
                  <a:pt x="1128" y="18"/>
                </a:lnTo>
                <a:lnTo>
                  <a:pt x="1133" y="16"/>
                </a:lnTo>
                <a:close/>
                <a:moveTo>
                  <a:pt x="0" y="180"/>
                </a:moveTo>
                <a:lnTo>
                  <a:pt x="0" y="182"/>
                </a:lnTo>
                <a:lnTo>
                  <a:pt x="0" y="185"/>
                </a:lnTo>
                <a:lnTo>
                  <a:pt x="0" y="187"/>
                </a:lnTo>
                <a:lnTo>
                  <a:pt x="2" y="189"/>
                </a:lnTo>
                <a:lnTo>
                  <a:pt x="2" y="192"/>
                </a:lnTo>
                <a:lnTo>
                  <a:pt x="2" y="194"/>
                </a:lnTo>
                <a:lnTo>
                  <a:pt x="2" y="197"/>
                </a:lnTo>
                <a:lnTo>
                  <a:pt x="2" y="199"/>
                </a:lnTo>
                <a:lnTo>
                  <a:pt x="7" y="199"/>
                </a:lnTo>
                <a:lnTo>
                  <a:pt x="7" y="195"/>
                </a:lnTo>
                <a:lnTo>
                  <a:pt x="7" y="194"/>
                </a:lnTo>
                <a:lnTo>
                  <a:pt x="7" y="190"/>
                </a:lnTo>
                <a:lnTo>
                  <a:pt x="5" y="189"/>
                </a:lnTo>
                <a:lnTo>
                  <a:pt x="5" y="185"/>
                </a:lnTo>
                <a:lnTo>
                  <a:pt x="5" y="184"/>
                </a:lnTo>
                <a:lnTo>
                  <a:pt x="5" y="180"/>
                </a:lnTo>
                <a:lnTo>
                  <a:pt x="3" y="179"/>
                </a:lnTo>
                <a:lnTo>
                  <a:pt x="0" y="18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80" name="Freeform 985">
            <a:extLst>
              <a:ext uri="{FF2B5EF4-FFF2-40B4-BE49-F238E27FC236}">
                <a16:creationId xmlns:a16="http://schemas.microsoft.com/office/drawing/2014/main" id="{C8A162A6-AB1B-4F0F-1E73-FFDA84B9983D}"/>
              </a:ext>
            </a:extLst>
          </p:cNvPr>
          <p:cNvSpPr>
            <a:spLocks noEditPoints="1"/>
          </p:cNvSpPr>
          <p:nvPr/>
        </p:nvSpPr>
        <p:spPr bwMode="auto">
          <a:xfrm>
            <a:off x="2019300" y="2403475"/>
            <a:ext cx="1789113" cy="315913"/>
          </a:xfrm>
          <a:custGeom>
            <a:avLst/>
            <a:gdLst>
              <a:gd name="T0" fmla="*/ 1127 w 1127"/>
              <a:gd name="T1" fmla="*/ 18 h 199"/>
              <a:gd name="T2" fmla="*/ 1127 w 1127"/>
              <a:gd name="T3" fmla="*/ 15 h 199"/>
              <a:gd name="T4" fmla="*/ 1127 w 1127"/>
              <a:gd name="T5" fmla="*/ 13 h 199"/>
              <a:gd name="T6" fmla="*/ 1127 w 1127"/>
              <a:gd name="T7" fmla="*/ 11 h 199"/>
              <a:gd name="T8" fmla="*/ 1127 w 1127"/>
              <a:gd name="T9" fmla="*/ 8 h 199"/>
              <a:gd name="T10" fmla="*/ 1126 w 1127"/>
              <a:gd name="T11" fmla="*/ 6 h 199"/>
              <a:gd name="T12" fmla="*/ 1126 w 1127"/>
              <a:gd name="T13" fmla="*/ 5 h 199"/>
              <a:gd name="T14" fmla="*/ 1126 w 1127"/>
              <a:gd name="T15" fmla="*/ 1 h 199"/>
              <a:gd name="T16" fmla="*/ 1126 w 1127"/>
              <a:gd name="T17" fmla="*/ 0 h 199"/>
              <a:gd name="T18" fmla="*/ 1121 w 1127"/>
              <a:gd name="T19" fmla="*/ 0 h 199"/>
              <a:gd name="T20" fmla="*/ 1121 w 1127"/>
              <a:gd name="T21" fmla="*/ 1 h 199"/>
              <a:gd name="T22" fmla="*/ 1121 w 1127"/>
              <a:gd name="T23" fmla="*/ 5 h 199"/>
              <a:gd name="T24" fmla="*/ 1123 w 1127"/>
              <a:gd name="T25" fmla="*/ 6 h 199"/>
              <a:gd name="T26" fmla="*/ 1123 w 1127"/>
              <a:gd name="T27" fmla="*/ 10 h 199"/>
              <a:gd name="T28" fmla="*/ 1123 w 1127"/>
              <a:gd name="T29" fmla="*/ 11 h 199"/>
              <a:gd name="T30" fmla="*/ 1123 w 1127"/>
              <a:gd name="T31" fmla="*/ 15 h 199"/>
              <a:gd name="T32" fmla="*/ 1124 w 1127"/>
              <a:gd name="T33" fmla="*/ 18 h 199"/>
              <a:gd name="T34" fmla="*/ 1124 w 1127"/>
              <a:gd name="T35" fmla="*/ 20 h 199"/>
              <a:gd name="T36" fmla="*/ 1127 w 1127"/>
              <a:gd name="T37" fmla="*/ 18 h 199"/>
              <a:gd name="T38" fmla="*/ 0 w 1127"/>
              <a:gd name="T39" fmla="*/ 179 h 199"/>
              <a:gd name="T40" fmla="*/ 0 w 1127"/>
              <a:gd name="T41" fmla="*/ 182 h 199"/>
              <a:gd name="T42" fmla="*/ 1 w 1127"/>
              <a:gd name="T43" fmla="*/ 184 h 199"/>
              <a:gd name="T44" fmla="*/ 1 w 1127"/>
              <a:gd name="T45" fmla="*/ 187 h 199"/>
              <a:gd name="T46" fmla="*/ 1 w 1127"/>
              <a:gd name="T47" fmla="*/ 189 h 199"/>
              <a:gd name="T48" fmla="*/ 1 w 1127"/>
              <a:gd name="T49" fmla="*/ 192 h 199"/>
              <a:gd name="T50" fmla="*/ 1 w 1127"/>
              <a:gd name="T51" fmla="*/ 194 h 199"/>
              <a:gd name="T52" fmla="*/ 3 w 1127"/>
              <a:gd name="T53" fmla="*/ 195 h 199"/>
              <a:gd name="T54" fmla="*/ 3 w 1127"/>
              <a:gd name="T55" fmla="*/ 199 h 199"/>
              <a:gd name="T56" fmla="*/ 8 w 1127"/>
              <a:gd name="T57" fmla="*/ 199 h 199"/>
              <a:gd name="T58" fmla="*/ 8 w 1127"/>
              <a:gd name="T59" fmla="*/ 195 h 199"/>
              <a:gd name="T60" fmla="*/ 6 w 1127"/>
              <a:gd name="T61" fmla="*/ 194 h 199"/>
              <a:gd name="T62" fmla="*/ 6 w 1127"/>
              <a:gd name="T63" fmla="*/ 190 h 199"/>
              <a:gd name="T64" fmla="*/ 6 w 1127"/>
              <a:gd name="T65" fmla="*/ 189 h 199"/>
              <a:gd name="T66" fmla="*/ 6 w 1127"/>
              <a:gd name="T67" fmla="*/ 185 h 199"/>
              <a:gd name="T68" fmla="*/ 5 w 1127"/>
              <a:gd name="T69" fmla="*/ 182 h 199"/>
              <a:gd name="T70" fmla="*/ 5 w 1127"/>
              <a:gd name="T71" fmla="*/ 180 h 199"/>
              <a:gd name="T72" fmla="*/ 5 w 1127"/>
              <a:gd name="T73" fmla="*/ 177 h 199"/>
              <a:gd name="T74" fmla="*/ 0 w 1127"/>
              <a:gd name="T75" fmla="*/ 17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27" h="199">
                <a:moveTo>
                  <a:pt x="1127" y="18"/>
                </a:moveTo>
                <a:lnTo>
                  <a:pt x="1127" y="15"/>
                </a:lnTo>
                <a:lnTo>
                  <a:pt x="1127" y="13"/>
                </a:lnTo>
                <a:lnTo>
                  <a:pt x="1127" y="11"/>
                </a:lnTo>
                <a:lnTo>
                  <a:pt x="1127" y="8"/>
                </a:lnTo>
                <a:lnTo>
                  <a:pt x="1126" y="6"/>
                </a:lnTo>
                <a:lnTo>
                  <a:pt x="1126" y="5"/>
                </a:lnTo>
                <a:lnTo>
                  <a:pt x="1126" y="1"/>
                </a:lnTo>
                <a:lnTo>
                  <a:pt x="1126" y="0"/>
                </a:lnTo>
                <a:lnTo>
                  <a:pt x="1121" y="0"/>
                </a:lnTo>
                <a:lnTo>
                  <a:pt x="1121" y="1"/>
                </a:lnTo>
                <a:lnTo>
                  <a:pt x="1121" y="5"/>
                </a:lnTo>
                <a:lnTo>
                  <a:pt x="1123" y="6"/>
                </a:lnTo>
                <a:lnTo>
                  <a:pt x="1123" y="10"/>
                </a:lnTo>
                <a:lnTo>
                  <a:pt x="1123" y="11"/>
                </a:lnTo>
                <a:lnTo>
                  <a:pt x="1123" y="15"/>
                </a:lnTo>
                <a:lnTo>
                  <a:pt x="1124" y="18"/>
                </a:lnTo>
                <a:lnTo>
                  <a:pt x="1124" y="20"/>
                </a:lnTo>
                <a:lnTo>
                  <a:pt x="1127" y="18"/>
                </a:lnTo>
                <a:close/>
                <a:moveTo>
                  <a:pt x="0" y="179"/>
                </a:moveTo>
                <a:lnTo>
                  <a:pt x="0" y="182"/>
                </a:lnTo>
                <a:lnTo>
                  <a:pt x="1" y="184"/>
                </a:lnTo>
                <a:lnTo>
                  <a:pt x="1" y="187"/>
                </a:lnTo>
                <a:lnTo>
                  <a:pt x="1" y="189"/>
                </a:lnTo>
                <a:lnTo>
                  <a:pt x="1" y="192"/>
                </a:lnTo>
                <a:lnTo>
                  <a:pt x="1" y="194"/>
                </a:lnTo>
                <a:lnTo>
                  <a:pt x="3" y="195"/>
                </a:lnTo>
                <a:lnTo>
                  <a:pt x="3" y="199"/>
                </a:lnTo>
                <a:lnTo>
                  <a:pt x="8" y="199"/>
                </a:lnTo>
                <a:lnTo>
                  <a:pt x="8" y="195"/>
                </a:lnTo>
                <a:lnTo>
                  <a:pt x="6" y="194"/>
                </a:lnTo>
                <a:lnTo>
                  <a:pt x="6" y="190"/>
                </a:lnTo>
                <a:lnTo>
                  <a:pt x="6" y="189"/>
                </a:lnTo>
                <a:lnTo>
                  <a:pt x="6" y="185"/>
                </a:lnTo>
                <a:lnTo>
                  <a:pt x="5" y="182"/>
                </a:lnTo>
                <a:lnTo>
                  <a:pt x="5" y="180"/>
                </a:lnTo>
                <a:lnTo>
                  <a:pt x="5" y="177"/>
                </a:lnTo>
                <a:lnTo>
                  <a:pt x="0" y="179"/>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81" name="Freeform 986">
            <a:extLst>
              <a:ext uri="{FF2B5EF4-FFF2-40B4-BE49-F238E27FC236}">
                <a16:creationId xmlns:a16="http://schemas.microsoft.com/office/drawing/2014/main" id="{673C1A9A-A0E7-1619-8C8D-AF336619126A}"/>
              </a:ext>
            </a:extLst>
          </p:cNvPr>
          <p:cNvSpPr>
            <a:spLocks noEditPoints="1"/>
          </p:cNvSpPr>
          <p:nvPr/>
        </p:nvSpPr>
        <p:spPr bwMode="auto">
          <a:xfrm>
            <a:off x="2020888" y="2403475"/>
            <a:ext cx="1785938" cy="315913"/>
          </a:xfrm>
          <a:custGeom>
            <a:avLst/>
            <a:gdLst>
              <a:gd name="T0" fmla="*/ 1125 w 1125"/>
              <a:gd name="T1" fmla="*/ 18 h 199"/>
              <a:gd name="T2" fmla="*/ 1125 w 1125"/>
              <a:gd name="T3" fmla="*/ 16 h 199"/>
              <a:gd name="T4" fmla="*/ 1125 w 1125"/>
              <a:gd name="T5" fmla="*/ 15 h 199"/>
              <a:gd name="T6" fmla="*/ 1123 w 1125"/>
              <a:gd name="T7" fmla="*/ 11 h 199"/>
              <a:gd name="T8" fmla="*/ 1123 w 1125"/>
              <a:gd name="T9" fmla="*/ 10 h 199"/>
              <a:gd name="T10" fmla="*/ 1123 w 1125"/>
              <a:gd name="T11" fmla="*/ 6 h 199"/>
              <a:gd name="T12" fmla="*/ 1123 w 1125"/>
              <a:gd name="T13" fmla="*/ 5 h 199"/>
              <a:gd name="T14" fmla="*/ 1123 w 1125"/>
              <a:gd name="T15" fmla="*/ 1 h 199"/>
              <a:gd name="T16" fmla="*/ 1122 w 1125"/>
              <a:gd name="T17" fmla="*/ 0 h 199"/>
              <a:gd name="T18" fmla="*/ 1117 w 1125"/>
              <a:gd name="T19" fmla="*/ 0 h 199"/>
              <a:gd name="T20" fmla="*/ 1118 w 1125"/>
              <a:gd name="T21" fmla="*/ 1 h 199"/>
              <a:gd name="T22" fmla="*/ 1118 w 1125"/>
              <a:gd name="T23" fmla="*/ 5 h 199"/>
              <a:gd name="T24" fmla="*/ 1118 w 1125"/>
              <a:gd name="T25" fmla="*/ 8 h 199"/>
              <a:gd name="T26" fmla="*/ 1118 w 1125"/>
              <a:gd name="T27" fmla="*/ 10 h 199"/>
              <a:gd name="T28" fmla="*/ 1120 w 1125"/>
              <a:gd name="T29" fmla="*/ 13 h 199"/>
              <a:gd name="T30" fmla="*/ 1120 w 1125"/>
              <a:gd name="T31" fmla="*/ 15 h 199"/>
              <a:gd name="T32" fmla="*/ 1120 w 1125"/>
              <a:gd name="T33" fmla="*/ 18 h 199"/>
              <a:gd name="T34" fmla="*/ 1120 w 1125"/>
              <a:gd name="T35" fmla="*/ 21 h 199"/>
              <a:gd name="T36" fmla="*/ 1125 w 1125"/>
              <a:gd name="T37" fmla="*/ 18 h 199"/>
              <a:gd name="T38" fmla="*/ 0 w 1125"/>
              <a:gd name="T39" fmla="*/ 179 h 199"/>
              <a:gd name="T40" fmla="*/ 2 w 1125"/>
              <a:gd name="T41" fmla="*/ 180 h 199"/>
              <a:gd name="T42" fmla="*/ 2 w 1125"/>
              <a:gd name="T43" fmla="*/ 184 h 199"/>
              <a:gd name="T44" fmla="*/ 2 w 1125"/>
              <a:gd name="T45" fmla="*/ 185 h 199"/>
              <a:gd name="T46" fmla="*/ 2 w 1125"/>
              <a:gd name="T47" fmla="*/ 189 h 199"/>
              <a:gd name="T48" fmla="*/ 4 w 1125"/>
              <a:gd name="T49" fmla="*/ 190 h 199"/>
              <a:gd name="T50" fmla="*/ 4 w 1125"/>
              <a:gd name="T51" fmla="*/ 194 h 199"/>
              <a:gd name="T52" fmla="*/ 4 w 1125"/>
              <a:gd name="T53" fmla="*/ 195 h 199"/>
              <a:gd name="T54" fmla="*/ 4 w 1125"/>
              <a:gd name="T55" fmla="*/ 199 h 199"/>
              <a:gd name="T56" fmla="*/ 9 w 1125"/>
              <a:gd name="T57" fmla="*/ 199 h 199"/>
              <a:gd name="T58" fmla="*/ 9 w 1125"/>
              <a:gd name="T59" fmla="*/ 195 h 199"/>
              <a:gd name="T60" fmla="*/ 9 w 1125"/>
              <a:gd name="T61" fmla="*/ 194 h 199"/>
              <a:gd name="T62" fmla="*/ 7 w 1125"/>
              <a:gd name="T63" fmla="*/ 190 h 199"/>
              <a:gd name="T64" fmla="*/ 7 w 1125"/>
              <a:gd name="T65" fmla="*/ 187 h 199"/>
              <a:gd name="T66" fmla="*/ 7 w 1125"/>
              <a:gd name="T67" fmla="*/ 185 h 199"/>
              <a:gd name="T68" fmla="*/ 7 w 1125"/>
              <a:gd name="T69" fmla="*/ 182 h 199"/>
              <a:gd name="T70" fmla="*/ 5 w 1125"/>
              <a:gd name="T71" fmla="*/ 179 h 199"/>
              <a:gd name="T72" fmla="*/ 5 w 1125"/>
              <a:gd name="T73" fmla="*/ 175 h 199"/>
              <a:gd name="T74" fmla="*/ 0 w 1125"/>
              <a:gd name="T75" fmla="*/ 17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25" h="199">
                <a:moveTo>
                  <a:pt x="1125" y="18"/>
                </a:moveTo>
                <a:lnTo>
                  <a:pt x="1125" y="16"/>
                </a:lnTo>
                <a:lnTo>
                  <a:pt x="1125" y="15"/>
                </a:lnTo>
                <a:lnTo>
                  <a:pt x="1123" y="11"/>
                </a:lnTo>
                <a:lnTo>
                  <a:pt x="1123" y="10"/>
                </a:lnTo>
                <a:lnTo>
                  <a:pt x="1123" y="6"/>
                </a:lnTo>
                <a:lnTo>
                  <a:pt x="1123" y="5"/>
                </a:lnTo>
                <a:lnTo>
                  <a:pt x="1123" y="1"/>
                </a:lnTo>
                <a:lnTo>
                  <a:pt x="1122" y="0"/>
                </a:lnTo>
                <a:lnTo>
                  <a:pt x="1117" y="0"/>
                </a:lnTo>
                <a:lnTo>
                  <a:pt x="1118" y="1"/>
                </a:lnTo>
                <a:lnTo>
                  <a:pt x="1118" y="5"/>
                </a:lnTo>
                <a:lnTo>
                  <a:pt x="1118" y="8"/>
                </a:lnTo>
                <a:lnTo>
                  <a:pt x="1118" y="10"/>
                </a:lnTo>
                <a:lnTo>
                  <a:pt x="1120" y="13"/>
                </a:lnTo>
                <a:lnTo>
                  <a:pt x="1120" y="15"/>
                </a:lnTo>
                <a:lnTo>
                  <a:pt x="1120" y="18"/>
                </a:lnTo>
                <a:lnTo>
                  <a:pt x="1120" y="21"/>
                </a:lnTo>
                <a:lnTo>
                  <a:pt x="1125" y="18"/>
                </a:lnTo>
                <a:close/>
                <a:moveTo>
                  <a:pt x="0" y="179"/>
                </a:moveTo>
                <a:lnTo>
                  <a:pt x="2" y="180"/>
                </a:lnTo>
                <a:lnTo>
                  <a:pt x="2" y="184"/>
                </a:lnTo>
                <a:lnTo>
                  <a:pt x="2" y="185"/>
                </a:lnTo>
                <a:lnTo>
                  <a:pt x="2" y="189"/>
                </a:lnTo>
                <a:lnTo>
                  <a:pt x="4" y="190"/>
                </a:lnTo>
                <a:lnTo>
                  <a:pt x="4" y="194"/>
                </a:lnTo>
                <a:lnTo>
                  <a:pt x="4" y="195"/>
                </a:lnTo>
                <a:lnTo>
                  <a:pt x="4" y="199"/>
                </a:lnTo>
                <a:lnTo>
                  <a:pt x="9" y="199"/>
                </a:lnTo>
                <a:lnTo>
                  <a:pt x="9" y="195"/>
                </a:lnTo>
                <a:lnTo>
                  <a:pt x="9" y="194"/>
                </a:lnTo>
                <a:lnTo>
                  <a:pt x="7" y="190"/>
                </a:lnTo>
                <a:lnTo>
                  <a:pt x="7" y="187"/>
                </a:lnTo>
                <a:lnTo>
                  <a:pt x="7" y="185"/>
                </a:lnTo>
                <a:lnTo>
                  <a:pt x="7" y="182"/>
                </a:lnTo>
                <a:lnTo>
                  <a:pt x="5" y="179"/>
                </a:lnTo>
                <a:lnTo>
                  <a:pt x="5" y="175"/>
                </a:lnTo>
                <a:lnTo>
                  <a:pt x="0" y="179"/>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82" name="Freeform 987">
            <a:extLst>
              <a:ext uri="{FF2B5EF4-FFF2-40B4-BE49-F238E27FC236}">
                <a16:creationId xmlns:a16="http://schemas.microsoft.com/office/drawing/2014/main" id="{EAF3404A-2529-4326-01FF-688997DAFA3C}"/>
              </a:ext>
            </a:extLst>
          </p:cNvPr>
          <p:cNvSpPr>
            <a:spLocks noEditPoints="1"/>
          </p:cNvSpPr>
          <p:nvPr/>
        </p:nvSpPr>
        <p:spPr bwMode="auto">
          <a:xfrm>
            <a:off x="2027238" y="2403475"/>
            <a:ext cx="1776413" cy="315913"/>
          </a:xfrm>
          <a:custGeom>
            <a:avLst/>
            <a:gdLst>
              <a:gd name="T0" fmla="*/ 1119 w 1119"/>
              <a:gd name="T1" fmla="*/ 20 h 199"/>
              <a:gd name="T2" fmla="*/ 1119 w 1119"/>
              <a:gd name="T3" fmla="*/ 18 h 199"/>
              <a:gd name="T4" fmla="*/ 1118 w 1119"/>
              <a:gd name="T5" fmla="*/ 15 h 199"/>
              <a:gd name="T6" fmla="*/ 1118 w 1119"/>
              <a:gd name="T7" fmla="*/ 11 h 199"/>
              <a:gd name="T8" fmla="*/ 1118 w 1119"/>
              <a:gd name="T9" fmla="*/ 10 h 199"/>
              <a:gd name="T10" fmla="*/ 1118 w 1119"/>
              <a:gd name="T11" fmla="*/ 6 h 199"/>
              <a:gd name="T12" fmla="*/ 1116 w 1119"/>
              <a:gd name="T13" fmla="*/ 5 h 199"/>
              <a:gd name="T14" fmla="*/ 1116 w 1119"/>
              <a:gd name="T15" fmla="*/ 1 h 199"/>
              <a:gd name="T16" fmla="*/ 1116 w 1119"/>
              <a:gd name="T17" fmla="*/ 0 h 199"/>
              <a:gd name="T18" fmla="*/ 1111 w 1119"/>
              <a:gd name="T19" fmla="*/ 0 h 199"/>
              <a:gd name="T20" fmla="*/ 1111 w 1119"/>
              <a:gd name="T21" fmla="*/ 3 h 199"/>
              <a:gd name="T22" fmla="*/ 1111 w 1119"/>
              <a:gd name="T23" fmla="*/ 5 h 199"/>
              <a:gd name="T24" fmla="*/ 1113 w 1119"/>
              <a:gd name="T25" fmla="*/ 8 h 199"/>
              <a:gd name="T26" fmla="*/ 1113 w 1119"/>
              <a:gd name="T27" fmla="*/ 11 h 199"/>
              <a:gd name="T28" fmla="*/ 1113 w 1119"/>
              <a:gd name="T29" fmla="*/ 13 h 199"/>
              <a:gd name="T30" fmla="*/ 1114 w 1119"/>
              <a:gd name="T31" fmla="*/ 16 h 199"/>
              <a:gd name="T32" fmla="*/ 1114 w 1119"/>
              <a:gd name="T33" fmla="*/ 20 h 199"/>
              <a:gd name="T34" fmla="*/ 1114 w 1119"/>
              <a:gd name="T35" fmla="*/ 21 h 199"/>
              <a:gd name="T36" fmla="*/ 1119 w 1119"/>
              <a:gd name="T37" fmla="*/ 20 h 199"/>
              <a:gd name="T38" fmla="*/ 0 w 1119"/>
              <a:gd name="T39" fmla="*/ 177 h 199"/>
              <a:gd name="T40" fmla="*/ 0 w 1119"/>
              <a:gd name="T41" fmla="*/ 180 h 199"/>
              <a:gd name="T42" fmla="*/ 0 w 1119"/>
              <a:gd name="T43" fmla="*/ 182 h 199"/>
              <a:gd name="T44" fmla="*/ 1 w 1119"/>
              <a:gd name="T45" fmla="*/ 185 h 199"/>
              <a:gd name="T46" fmla="*/ 1 w 1119"/>
              <a:gd name="T47" fmla="*/ 189 h 199"/>
              <a:gd name="T48" fmla="*/ 1 w 1119"/>
              <a:gd name="T49" fmla="*/ 190 h 199"/>
              <a:gd name="T50" fmla="*/ 1 w 1119"/>
              <a:gd name="T51" fmla="*/ 194 h 199"/>
              <a:gd name="T52" fmla="*/ 3 w 1119"/>
              <a:gd name="T53" fmla="*/ 195 h 199"/>
              <a:gd name="T54" fmla="*/ 3 w 1119"/>
              <a:gd name="T55" fmla="*/ 199 h 199"/>
              <a:gd name="T56" fmla="*/ 8 w 1119"/>
              <a:gd name="T57" fmla="*/ 199 h 199"/>
              <a:gd name="T58" fmla="*/ 6 w 1119"/>
              <a:gd name="T59" fmla="*/ 195 h 199"/>
              <a:gd name="T60" fmla="*/ 6 w 1119"/>
              <a:gd name="T61" fmla="*/ 192 h 199"/>
              <a:gd name="T62" fmla="*/ 6 w 1119"/>
              <a:gd name="T63" fmla="*/ 190 h 199"/>
              <a:gd name="T64" fmla="*/ 6 w 1119"/>
              <a:gd name="T65" fmla="*/ 187 h 199"/>
              <a:gd name="T66" fmla="*/ 5 w 1119"/>
              <a:gd name="T67" fmla="*/ 184 h 199"/>
              <a:gd name="T68" fmla="*/ 5 w 1119"/>
              <a:gd name="T69" fmla="*/ 180 h 199"/>
              <a:gd name="T70" fmla="*/ 5 w 1119"/>
              <a:gd name="T71" fmla="*/ 179 h 199"/>
              <a:gd name="T72" fmla="*/ 5 w 1119"/>
              <a:gd name="T73" fmla="*/ 175 h 199"/>
              <a:gd name="T74" fmla="*/ 0 w 1119"/>
              <a:gd name="T75" fmla="*/ 17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19" h="199">
                <a:moveTo>
                  <a:pt x="1119" y="20"/>
                </a:moveTo>
                <a:lnTo>
                  <a:pt x="1119" y="18"/>
                </a:lnTo>
                <a:lnTo>
                  <a:pt x="1118" y="15"/>
                </a:lnTo>
                <a:lnTo>
                  <a:pt x="1118" y="11"/>
                </a:lnTo>
                <a:lnTo>
                  <a:pt x="1118" y="10"/>
                </a:lnTo>
                <a:lnTo>
                  <a:pt x="1118" y="6"/>
                </a:lnTo>
                <a:lnTo>
                  <a:pt x="1116" y="5"/>
                </a:lnTo>
                <a:lnTo>
                  <a:pt x="1116" y="1"/>
                </a:lnTo>
                <a:lnTo>
                  <a:pt x="1116" y="0"/>
                </a:lnTo>
                <a:lnTo>
                  <a:pt x="1111" y="0"/>
                </a:lnTo>
                <a:lnTo>
                  <a:pt x="1111" y="3"/>
                </a:lnTo>
                <a:lnTo>
                  <a:pt x="1111" y="5"/>
                </a:lnTo>
                <a:lnTo>
                  <a:pt x="1113" y="8"/>
                </a:lnTo>
                <a:lnTo>
                  <a:pt x="1113" y="11"/>
                </a:lnTo>
                <a:lnTo>
                  <a:pt x="1113" y="13"/>
                </a:lnTo>
                <a:lnTo>
                  <a:pt x="1114" y="16"/>
                </a:lnTo>
                <a:lnTo>
                  <a:pt x="1114" y="20"/>
                </a:lnTo>
                <a:lnTo>
                  <a:pt x="1114" y="21"/>
                </a:lnTo>
                <a:lnTo>
                  <a:pt x="1119" y="20"/>
                </a:lnTo>
                <a:close/>
                <a:moveTo>
                  <a:pt x="0" y="177"/>
                </a:moveTo>
                <a:lnTo>
                  <a:pt x="0" y="180"/>
                </a:lnTo>
                <a:lnTo>
                  <a:pt x="0" y="182"/>
                </a:lnTo>
                <a:lnTo>
                  <a:pt x="1" y="185"/>
                </a:lnTo>
                <a:lnTo>
                  <a:pt x="1" y="189"/>
                </a:lnTo>
                <a:lnTo>
                  <a:pt x="1" y="190"/>
                </a:lnTo>
                <a:lnTo>
                  <a:pt x="1" y="194"/>
                </a:lnTo>
                <a:lnTo>
                  <a:pt x="3" y="195"/>
                </a:lnTo>
                <a:lnTo>
                  <a:pt x="3" y="199"/>
                </a:lnTo>
                <a:lnTo>
                  <a:pt x="8" y="199"/>
                </a:lnTo>
                <a:lnTo>
                  <a:pt x="6" y="195"/>
                </a:lnTo>
                <a:lnTo>
                  <a:pt x="6" y="192"/>
                </a:lnTo>
                <a:lnTo>
                  <a:pt x="6" y="190"/>
                </a:lnTo>
                <a:lnTo>
                  <a:pt x="6" y="187"/>
                </a:lnTo>
                <a:lnTo>
                  <a:pt x="5" y="184"/>
                </a:lnTo>
                <a:lnTo>
                  <a:pt x="5" y="180"/>
                </a:lnTo>
                <a:lnTo>
                  <a:pt x="5" y="179"/>
                </a:lnTo>
                <a:lnTo>
                  <a:pt x="5" y="175"/>
                </a:lnTo>
                <a:lnTo>
                  <a:pt x="0" y="177"/>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83" name="Freeform 988">
            <a:extLst>
              <a:ext uri="{FF2B5EF4-FFF2-40B4-BE49-F238E27FC236}">
                <a16:creationId xmlns:a16="http://schemas.microsoft.com/office/drawing/2014/main" id="{B0517EBB-2006-00F6-322D-704EB8E2C6EA}"/>
              </a:ext>
            </a:extLst>
          </p:cNvPr>
          <p:cNvSpPr>
            <a:spLocks noEditPoints="1"/>
          </p:cNvSpPr>
          <p:nvPr/>
        </p:nvSpPr>
        <p:spPr bwMode="auto">
          <a:xfrm>
            <a:off x="2028825" y="2403475"/>
            <a:ext cx="1770063" cy="315913"/>
          </a:xfrm>
          <a:custGeom>
            <a:avLst/>
            <a:gdLst>
              <a:gd name="T0" fmla="*/ 1115 w 1115"/>
              <a:gd name="T1" fmla="*/ 21 h 199"/>
              <a:gd name="T2" fmla="*/ 1115 w 1115"/>
              <a:gd name="T3" fmla="*/ 18 h 199"/>
              <a:gd name="T4" fmla="*/ 1115 w 1115"/>
              <a:gd name="T5" fmla="*/ 15 h 199"/>
              <a:gd name="T6" fmla="*/ 1115 w 1115"/>
              <a:gd name="T7" fmla="*/ 13 h 199"/>
              <a:gd name="T8" fmla="*/ 1113 w 1115"/>
              <a:gd name="T9" fmla="*/ 10 h 199"/>
              <a:gd name="T10" fmla="*/ 1113 w 1115"/>
              <a:gd name="T11" fmla="*/ 8 h 199"/>
              <a:gd name="T12" fmla="*/ 1113 w 1115"/>
              <a:gd name="T13" fmla="*/ 5 h 199"/>
              <a:gd name="T14" fmla="*/ 1113 w 1115"/>
              <a:gd name="T15" fmla="*/ 1 h 199"/>
              <a:gd name="T16" fmla="*/ 1112 w 1115"/>
              <a:gd name="T17" fmla="*/ 0 h 199"/>
              <a:gd name="T18" fmla="*/ 1107 w 1115"/>
              <a:gd name="T19" fmla="*/ 0 h 199"/>
              <a:gd name="T20" fmla="*/ 1108 w 1115"/>
              <a:gd name="T21" fmla="*/ 3 h 199"/>
              <a:gd name="T22" fmla="*/ 1108 w 1115"/>
              <a:gd name="T23" fmla="*/ 5 h 199"/>
              <a:gd name="T24" fmla="*/ 1108 w 1115"/>
              <a:gd name="T25" fmla="*/ 8 h 199"/>
              <a:gd name="T26" fmla="*/ 1110 w 1115"/>
              <a:gd name="T27" fmla="*/ 11 h 199"/>
              <a:gd name="T28" fmla="*/ 1110 w 1115"/>
              <a:gd name="T29" fmla="*/ 15 h 199"/>
              <a:gd name="T30" fmla="*/ 1110 w 1115"/>
              <a:gd name="T31" fmla="*/ 16 h 199"/>
              <a:gd name="T32" fmla="*/ 1110 w 1115"/>
              <a:gd name="T33" fmla="*/ 20 h 199"/>
              <a:gd name="T34" fmla="*/ 1112 w 1115"/>
              <a:gd name="T35" fmla="*/ 23 h 199"/>
              <a:gd name="T36" fmla="*/ 1115 w 1115"/>
              <a:gd name="T37" fmla="*/ 21 h 199"/>
              <a:gd name="T38" fmla="*/ 0 w 1115"/>
              <a:gd name="T39" fmla="*/ 175 h 199"/>
              <a:gd name="T40" fmla="*/ 0 w 1115"/>
              <a:gd name="T41" fmla="*/ 179 h 199"/>
              <a:gd name="T42" fmla="*/ 2 w 1115"/>
              <a:gd name="T43" fmla="*/ 182 h 199"/>
              <a:gd name="T44" fmla="*/ 2 w 1115"/>
              <a:gd name="T45" fmla="*/ 185 h 199"/>
              <a:gd name="T46" fmla="*/ 2 w 1115"/>
              <a:gd name="T47" fmla="*/ 187 h 199"/>
              <a:gd name="T48" fmla="*/ 2 w 1115"/>
              <a:gd name="T49" fmla="*/ 190 h 199"/>
              <a:gd name="T50" fmla="*/ 4 w 1115"/>
              <a:gd name="T51" fmla="*/ 194 h 199"/>
              <a:gd name="T52" fmla="*/ 4 w 1115"/>
              <a:gd name="T53" fmla="*/ 195 h 199"/>
              <a:gd name="T54" fmla="*/ 4 w 1115"/>
              <a:gd name="T55" fmla="*/ 199 h 199"/>
              <a:gd name="T56" fmla="*/ 9 w 1115"/>
              <a:gd name="T57" fmla="*/ 199 h 199"/>
              <a:gd name="T58" fmla="*/ 9 w 1115"/>
              <a:gd name="T59" fmla="*/ 195 h 199"/>
              <a:gd name="T60" fmla="*/ 9 w 1115"/>
              <a:gd name="T61" fmla="*/ 192 h 199"/>
              <a:gd name="T62" fmla="*/ 7 w 1115"/>
              <a:gd name="T63" fmla="*/ 189 h 199"/>
              <a:gd name="T64" fmla="*/ 7 w 1115"/>
              <a:gd name="T65" fmla="*/ 187 h 199"/>
              <a:gd name="T66" fmla="*/ 7 w 1115"/>
              <a:gd name="T67" fmla="*/ 184 h 199"/>
              <a:gd name="T68" fmla="*/ 5 w 1115"/>
              <a:gd name="T69" fmla="*/ 180 h 199"/>
              <a:gd name="T70" fmla="*/ 5 w 1115"/>
              <a:gd name="T71" fmla="*/ 177 h 199"/>
              <a:gd name="T72" fmla="*/ 5 w 1115"/>
              <a:gd name="T73" fmla="*/ 174 h 199"/>
              <a:gd name="T74" fmla="*/ 0 w 1115"/>
              <a:gd name="T75" fmla="*/ 17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15" h="199">
                <a:moveTo>
                  <a:pt x="1115" y="21"/>
                </a:moveTo>
                <a:lnTo>
                  <a:pt x="1115" y="18"/>
                </a:lnTo>
                <a:lnTo>
                  <a:pt x="1115" y="15"/>
                </a:lnTo>
                <a:lnTo>
                  <a:pt x="1115" y="13"/>
                </a:lnTo>
                <a:lnTo>
                  <a:pt x="1113" y="10"/>
                </a:lnTo>
                <a:lnTo>
                  <a:pt x="1113" y="8"/>
                </a:lnTo>
                <a:lnTo>
                  <a:pt x="1113" y="5"/>
                </a:lnTo>
                <a:lnTo>
                  <a:pt x="1113" y="1"/>
                </a:lnTo>
                <a:lnTo>
                  <a:pt x="1112" y="0"/>
                </a:lnTo>
                <a:lnTo>
                  <a:pt x="1107" y="0"/>
                </a:lnTo>
                <a:lnTo>
                  <a:pt x="1108" y="3"/>
                </a:lnTo>
                <a:lnTo>
                  <a:pt x="1108" y="5"/>
                </a:lnTo>
                <a:lnTo>
                  <a:pt x="1108" y="8"/>
                </a:lnTo>
                <a:lnTo>
                  <a:pt x="1110" y="11"/>
                </a:lnTo>
                <a:lnTo>
                  <a:pt x="1110" y="15"/>
                </a:lnTo>
                <a:lnTo>
                  <a:pt x="1110" y="16"/>
                </a:lnTo>
                <a:lnTo>
                  <a:pt x="1110" y="20"/>
                </a:lnTo>
                <a:lnTo>
                  <a:pt x="1112" y="23"/>
                </a:lnTo>
                <a:lnTo>
                  <a:pt x="1115" y="21"/>
                </a:lnTo>
                <a:close/>
                <a:moveTo>
                  <a:pt x="0" y="175"/>
                </a:moveTo>
                <a:lnTo>
                  <a:pt x="0" y="179"/>
                </a:lnTo>
                <a:lnTo>
                  <a:pt x="2" y="182"/>
                </a:lnTo>
                <a:lnTo>
                  <a:pt x="2" y="185"/>
                </a:lnTo>
                <a:lnTo>
                  <a:pt x="2" y="187"/>
                </a:lnTo>
                <a:lnTo>
                  <a:pt x="2" y="190"/>
                </a:lnTo>
                <a:lnTo>
                  <a:pt x="4" y="194"/>
                </a:lnTo>
                <a:lnTo>
                  <a:pt x="4" y="195"/>
                </a:lnTo>
                <a:lnTo>
                  <a:pt x="4" y="199"/>
                </a:lnTo>
                <a:lnTo>
                  <a:pt x="9" y="199"/>
                </a:lnTo>
                <a:lnTo>
                  <a:pt x="9" y="195"/>
                </a:lnTo>
                <a:lnTo>
                  <a:pt x="9" y="192"/>
                </a:lnTo>
                <a:lnTo>
                  <a:pt x="7" y="189"/>
                </a:lnTo>
                <a:lnTo>
                  <a:pt x="7" y="187"/>
                </a:lnTo>
                <a:lnTo>
                  <a:pt x="7" y="184"/>
                </a:lnTo>
                <a:lnTo>
                  <a:pt x="5" y="180"/>
                </a:lnTo>
                <a:lnTo>
                  <a:pt x="5" y="177"/>
                </a:lnTo>
                <a:lnTo>
                  <a:pt x="5" y="174"/>
                </a:lnTo>
                <a:lnTo>
                  <a:pt x="0" y="175"/>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84" name="Freeform 989">
            <a:extLst>
              <a:ext uri="{FF2B5EF4-FFF2-40B4-BE49-F238E27FC236}">
                <a16:creationId xmlns:a16="http://schemas.microsoft.com/office/drawing/2014/main" id="{F10CFB0D-7050-DD0C-83DD-0902C86EF25C}"/>
              </a:ext>
            </a:extLst>
          </p:cNvPr>
          <p:cNvSpPr>
            <a:spLocks noEditPoints="1"/>
          </p:cNvSpPr>
          <p:nvPr/>
        </p:nvSpPr>
        <p:spPr bwMode="auto">
          <a:xfrm>
            <a:off x="2035175" y="2403475"/>
            <a:ext cx="1760538" cy="315913"/>
          </a:xfrm>
          <a:custGeom>
            <a:avLst/>
            <a:gdLst>
              <a:gd name="T0" fmla="*/ 1109 w 1109"/>
              <a:gd name="T1" fmla="*/ 21 h 199"/>
              <a:gd name="T2" fmla="*/ 1109 w 1109"/>
              <a:gd name="T3" fmla="*/ 20 h 199"/>
              <a:gd name="T4" fmla="*/ 1109 w 1109"/>
              <a:gd name="T5" fmla="*/ 16 h 199"/>
              <a:gd name="T6" fmla="*/ 1108 w 1109"/>
              <a:gd name="T7" fmla="*/ 13 h 199"/>
              <a:gd name="T8" fmla="*/ 1108 w 1109"/>
              <a:gd name="T9" fmla="*/ 11 h 199"/>
              <a:gd name="T10" fmla="*/ 1108 w 1109"/>
              <a:gd name="T11" fmla="*/ 8 h 199"/>
              <a:gd name="T12" fmla="*/ 1106 w 1109"/>
              <a:gd name="T13" fmla="*/ 5 h 199"/>
              <a:gd name="T14" fmla="*/ 1106 w 1109"/>
              <a:gd name="T15" fmla="*/ 3 h 199"/>
              <a:gd name="T16" fmla="*/ 1106 w 1109"/>
              <a:gd name="T17" fmla="*/ 0 h 199"/>
              <a:gd name="T18" fmla="*/ 1101 w 1109"/>
              <a:gd name="T19" fmla="*/ 0 h 199"/>
              <a:gd name="T20" fmla="*/ 1101 w 1109"/>
              <a:gd name="T21" fmla="*/ 3 h 199"/>
              <a:gd name="T22" fmla="*/ 1103 w 1109"/>
              <a:gd name="T23" fmla="*/ 6 h 199"/>
              <a:gd name="T24" fmla="*/ 1103 w 1109"/>
              <a:gd name="T25" fmla="*/ 8 h 199"/>
              <a:gd name="T26" fmla="*/ 1103 w 1109"/>
              <a:gd name="T27" fmla="*/ 11 h 199"/>
              <a:gd name="T28" fmla="*/ 1103 w 1109"/>
              <a:gd name="T29" fmla="*/ 15 h 199"/>
              <a:gd name="T30" fmla="*/ 1104 w 1109"/>
              <a:gd name="T31" fmla="*/ 18 h 199"/>
              <a:gd name="T32" fmla="*/ 1104 w 1109"/>
              <a:gd name="T33" fmla="*/ 21 h 199"/>
              <a:gd name="T34" fmla="*/ 1104 w 1109"/>
              <a:gd name="T35" fmla="*/ 25 h 199"/>
              <a:gd name="T36" fmla="*/ 1109 w 1109"/>
              <a:gd name="T37" fmla="*/ 21 h 199"/>
              <a:gd name="T38" fmla="*/ 0 w 1109"/>
              <a:gd name="T39" fmla="*/ 175 h 199"/>
              <a:gd name="T40" fmla="*/ 0 w 1109"/>
              <a:gd name="T41" fmla="*/ 179 h 199"/>
              <a:gd name="T42" fmla="*/ 0 w 1109"/>
              <a:gd name="T43" fmla="*/ 180 h 199"/>
              <a:gd name="T44" fmla="*/ 0 w 1109"/>
              <a:gd name="T45" fmla="*/ 184 h 199"/>
              <a:gd name="T46" fmla="*/ 1 w 1109"/>
              <a:gd name="T47" fmla="*/ 187 h 199"/>
              <a:gd name="T48" fmla="*/ 1 w 1109"/>
              <a:gd name="T49" fmla="*/ 190 h 199"/>
              <a:gd name="T50" fmla="*/ 1 w 1109"/>
              <a:gd name="T51" fmla="*/ 192 h 199"/>
              <a:gd name="T52" fmla="*/ 1 w 1109"/>
              <a:gd name="T53" fmla="*/ 195 h 199"/>
              <a:gd name="T54" fmla="*/ 3 w 1109"/>
              <a:gd name="T55" fmla="*/ 199 h 199"/>
              <a:gd name="T56" fmla="*/ 8 w 1109"/>
              <a:gd name="T57" fmla="*/ 199 h 199"/>
              <a:gd name="T58" fmla="*/ 6 w 1109"/>
              <a:gd name="T59" fmla="*/ 195 h 199"/>
              <a:gd name="T60" fmla="*/ 6 w 1109"/>
              <a:gd name="T61" fmla="*/ 192 h 199"/>
              <a:gd name="T62" fmla="*/ 6 w 1109"/>
              <a:gd name="T63" fmla="*/ 189 h 199"/>
              <a:gd name="T64" fmla="*/ 5 w 1109"/>
              <a:gd name="T65" fmla="*/ 185 h 199"/>
              <a:gd name="T66" fmla="*/ 5 w 1109"/>
              <a:gd name="T67" fmla="*/ 182 h 199"/>
              <a:gd name="T68" fmla="*/ 5 w 1109"/>
              <a:gd name="T69" fmla="*/ 179 h 199"/>
              <a:gd name="T70" fmla="*/ 5 w 1109"/>
              <a:gd name="T71" fmla="*/ 175 h 199"/>
              <a:gd name="T72" fmla="*/ 3 w 1109"/>
              <a:gd name="T73" fmla="*/ 174 h 199"/>
              <a:gd name="T74" fmla="*/ 0 w 1109"/>
              <a:gd name="T75" fmla="*/ 17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09" h="199">
                <a:moveTo>
                  <a:pt x="1109" y="21"/>
                </a:moveTo>
                <a:lnTo>
                  <a:pt x="1109" y="20"/>
                </a:lnTo>
                <a:lnTo>
                  <a:pt x="1109" y="16"/>
                </a:lnTo>
                <a:lnTo>
                  <a:pt x="1108" y="13"/>
                </a:lnTo>
                <a:lnTo>
                  <a:pt x="1108" y="11"/>
                </a:lnTo>
                <a:lnTo>
                  <a:pt x="1108" y="8"/>
                </a:lnTo>
                <a:lnTo>
                  <a:pt x="1106" y="5"/>
                </a:lnTo>
                <a:lnTo>
                  <a:pt x="1106" y="3"/>
                </a:lnTo>
                <a:lnTo>
                  <a:pt x="1106" y="0"/>
                </a:lnTo>
                <a:lnTo>
                  <a:pt x="1101" y="0"/>
                </a:lnTo>
                <a:lnTo>
                  <a:pt x="1101" y="3"/>
                </a:lnTo>
                <a:lnTo>
                  <a:pt x="1103" y="6"/>
                </a:lnTo>
                <a:lnTo>
                  <a:pt x="1103" y="8"/>
                </a:lnTo>
                <a:lnTo>
                  <a:pt x="1103" y="11"/>
                </a:lnTo>
                <a:lnTo>
                  <a:pt x="1103" y="15"/>
                </a:lnTo>
                <a:lnTo>
                  <a:pt x="1104" y="18"/>
                </a:lnTo>
                <a:lnTo>
                  <a:pt x="1104" y="21"/>
                </a:lnTo>
                <a:lnTo>
                  <a:pt x="1104" y="25"/>
                </a:lnTo>
                <a:lnTo>
                  <a:pt x="1109" y="21"/>
                </a:lnTo>
                <a:close/>
                <a:moveTo>
                  <a:pt x="0" y="175"/>
                </a:moveTo>
                <a:lnTo>
                  <a:pt x="0" y="179"/>
                </a:lnTo>
                <a:lnTo>
                  <a:pt x="0" y="180"/>
                </a:lnTo>
                <a:lnTo>
                  <a:pt x="0" y="184"/>
                </a:lnTo>
                <a:lnTo>
                  <a:pt x="1" y="187"/>
                </a:lnTo>
                <a:lnTo>
                  <a:pt x="1" y="190"/>
                </a:lnTo>
                <a:lnTo>
                  <a:pt x="1" y="192"/>
                </a:lnTo>
                <a:lnTo>
                  <a:pt x="1" y="195"/>
                </a:lnTo>
                <a:lnTo>
                  <a:pt x="3" y="199"/>
                </a:lnTo>
                <a:lnTo>
                  <a:pt x="8" y="199"/>
                </a:lnTo>
                <a:lnTo>
                  <a:pt x="6" y="195"/>
                </a:lnTo>
                <a:lnTo>
                  <a:pt x="6" y="192"/>
                </a:lnTo>
                <a:lnTo>
                  <a:pt x="6" y="189"/>
                </a:lnTo>
                <a:lnTo>
                  <a:pt x="5" y="185"/>
                </a:lnTo>
                <a:lnTo>
                  <a:pt x="5" y="182"/>
                </a:lnTo>
                <a:lnTo>
                  <a:pt x="5" y="179"/>
                </a:lnTo>
                <a:lnTo>
                  <a:pt x="5" y="175"/>
                </a:lnTo>
                <a:lnTo>
                  <a:pt x="3" y="174"/>
                </a:lnTo>
                <a:lnTo>
                  <a:pt x="0" y="175"/>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85" name="Freeform 990">
            <a:extLst>
              <a:ext uri="{FF2B5EF4-FFF2-40B4-BE49-F238E27FC236}">
                <a16:creationId xmlns:a16="http://schemas.microsoft.com/office/drawing/2014/main" id="{4524E88C-D8CB-2EDB-DCF0-3DF2277BF6B4}"/>
              </a:ext>
            </a:extLst>
          </p:cNvPr>
          <p:cNvSpPr>
            <a:spLocks noEditPoints="1"/>
          </p:cNvSpPr>
          <p:nvPr/>
        </p:nvSpPr>
        <p:spPr bwMode="auto">
          <a:xfrm>
            <a:off x="2036763" y="2403475"/>
            <a:ext cx="1757363" cy="315913"/>
          </a:xfrm>
          <a:custGeom>
            <a:avLst/>
            <a:gdLst>
              <a:gd name="T0" fmla="*/ 1107 w 1107"/>
              <a:gd name="T1" fmla="*/ 23 h 199"/>
              <a:gd name="T2" fmla="*/ 1105 w 1107"/>
              <a:gd name="T3" fmla="*/ 20 h 199"/>
              <a:gd name="T4" fmla="*/ 1105 w 1107"/>
              <a:gd name="T5" fmla="*/ 16 h 199"/>
              <a:gd name="T6" fmla="*/ 1105 w 1107"/>
              <a:gd name="T7" fmla="*/ 15 h 199"/>
              <a:gd name="T8" fmla="*/ 1105 w 1107"/>
              <a:gd name="T9" fmla="*/ 11 h 199"/>
              <a:gd name="T10" fmla="*/ 1103 w 1107"/>
              <a:gd name="T11" fmla="*/ 8 h 199"/>
              <a:gd name="T12" fmla="*/ 1103 w 1107"/>
              <a:gd name="T13" fmla="*/ 5 h 199"/>
              <a:gd name="T14" fmla="*/ 1103 w 1107"/>
              <a:gd name="T15" fmla="*/ 3 h 199"/>
              <a:gd name="T16" fmla="*/ 1102 w 1107"/>
              <a:gd name="T17" fmla="*/ 0 h 199"/>
              <a:gd name="T18" fmla="*/ 1097 w 1107"/>
              <a:gd name="T19" fmla="*/ 0 h 199"/>
              <a:gd name="T20" fmla="*/ 1098 w 1107"/>
              <a:gd name="T21" fmla="*/ 3 h 199"/>
              <a:gd name="T22" fmla="*/ 1098 w 1107"/>
              <a:gd name="T23" fmla="*/ 6 h 199"/>
              <a:gd name="T24" fmla="*/ 1098 w 1107"/>
              <a:gd name="T25" fmla="*/ 10 h 199"/>
              <a:gd name="T26" fmla="*/ 1100 w 1107"/>
              <a:gd name="T27" fmla="*/ 11 h 199"/>
              <a:gd name="T28" fmla="*/ 1100 w 1107"/>
              <a:gd name="T29" fmla="*/ 15 h 199"/>
              <a:gd name="T30" fmla="*/ 1100 w 1107"/>
              <a:gd name="T31" fmla="*/ 18 h 199"/>
              <a:gd name="T32" fmla="*/ 1102 w 1107"/>
              <a:gd name="T33" fmla="*/ 21 h 199"/>
              <a:gd name="T34" fmla="*/ 1102 w 1107"/>
              <a:gd name="T35" fmla="*/ 25 h 199"/>
              <a:gd name="T36" fmla="*/ 1107 w 1107"/>
              <a:gd name="T37" fmla="*/ 23 h 199"/>
              <a:gd name="T38" fmla="*/ 0 w 1107"/>
              <a:gd name="T39" fmla="*/ 174 h 199"/>
              <a:gd name="T40" fmla="*/ 0 w 1107"/>
              <a:gd name="T41" fmla="*/ 177 h 199"/>
              <a:gd name="T42" fmla="*/ 0 w 1107"/>
              <a:gd name="T43" fmla="*/ 180 h 199"/>
              <a:gd name="T44" fmla="*/ 2 w 1107"/>
              <a:gd name="T45" fmla="*/ 184 h 199"/>
              <a:gd name="T46" fmla="*/ 2 w 1107"/>
              <a:gd name="T47" fmla="*/ 187 h 199"/>
              <a:gd name="T48" fmla="*/ 2 w 1107"/>
              <a:gd name="T49" fmla="*/ 189 h 199"/>
              <a:gd name="T50" fmla="*/ 4 w 1107"/>
              <a:gd name="T51" fmla="*/ 192 h 199"/>
              <a:gd name="T52" fmla="*/ 4 w 1107"/>
              <a:gd name="T53" fmla="*/ 195 h 199"/>
              <a:gd name="T54" fmla="*/ 4 w 1107"/>
              <a:gd name="T55" fmla="*/ 199 h 199"/>
              <a:gd name="T56" fmla="*/ 9 w 1107"/>
              <a:gd name="T57" fmla="*/ 199 h 199"/>
              <a:gd name="T58" fmla="*/ 9 w 1107"/>
              <a:gd name="T59" fmla="*/ 195 h 199"/>
              <a:gd name="T60" fmla="*/ 9 w 1107"/>
              <a:gd name="T61" fmla="*/ 192 h 199"/>
              <a:gd name="T62" fmla="*/ 7 w 1107"/>
              <a:gd name="T63" fmla="*/ 189 h 199"/>
              <a:gd name="T64" fmla="*/ 7 w 1107"/>
              <a:gd name="T65" fmla="*/ 185 h 199"/>
              <a:gd name="T66" fmla="*/ 7 w 1107"/>
              <a:gd name="T67" fmla="*/ 182 h 199"/>
              <a:gd name="T68" fmla="*/ 5 w 1107"/>
              <a:gd name="T69" fmla="*/ 179 h 199"/>
              <a:gd name="T70" fmla="*/ 5 w 1107"/>
              <a:gd name="T71" fmla="*/ 175 h 199"/>
              <a:gd name="T72" fmla="*/ 5 w 1107"/>
              <a:gd name="T73" fmla="*/ 172 h 199"/>
              <a:gd name="T74" fmla="*/ 0 w 1107"/>
              <a:gd name="T75" fmla="*/ 17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07" h="199">
                <a:moveTo>
                  <a:pt x="1107" y="23"/>
                </a:moveTo>
                <a:lnTo>
                  <a:pt x="1105" y="20"/>
                </a:lnTo>
                <a:lnTo>
                  <a:pt x="1105" y="16"/>
                </a:lnTo>
                <a:lnTo>
                  <a:pt x="1105" y="15"/>
                </a:lnTo>
                <a:lnTo>
                  <a:pt x="1105" y="11"/>
                </a:lnTo>
                <a:lnTo>
                  <a:pt x="1103" y="8"/>
                </a:lnTo>
                <a:lnTo>
                  <a:pt x="1103" y="5"/>
                </a:lnTo>
                <a:lnTo>
                  <a:pt x="1103" y="3"/>
                </a:lnTo>
                <a:lnTo>
                  <a:pt x="1102" y="0"/>
                </a:lnTo>
                <a:lnTo>
                  <a:pt x="1097" y="0"/>
                </a:lnTo>
                <a:lnTo>
                  <a:pt x="1098" y="3"/>
                </a:lnTo>
                <a:lnTo>
                  <a:pt x="1098" y="6"/>
                </a:lnTo>
                <a:lnTo>
                  <a:pt x="1098" y="10"/>
                </a:lnTo>
                <a:lnTo>
                  <a:pt x="1100" y="11"/>
                </a:lnTo>
                <a:lnTo>
                  <a:pt x="1100" y="15"/>
                </a:lnTo>
                <a:lnTo>
                  <a:pt x="1100" y="18"/>
                </a:lnTo>
                <a:lnTo>
                  <a:pt x="1102" y="21"/>
                </a:lnTo>
                <a:lnTo>
                  <a:pt x="1102" y="25"/>
                </a:lnTo>
                <a:lnTo>
                  <a:pt x="1107" y="23"/>
                </a:lnTo>
                <a:close/>
                <a:moveTo>
                  <a:pt x="0" y="174"/>
                </a:moveTo>
                <a:lnTo>
                  <a:pt x="0" y="177"/>
                </a:lnTo>
                <a:lnTo>
                  <a:pt x="0" y="180"/>
                </a:lnTo>
                <a:lnTo>
                  <a:pt x="2" y="184"/>
                </a:lnTo>
                <a:lnTo>
                  <a:pt x="2" y="187"/>
                </a:lnTo>
                <a:lnTo>
                  <a:pt x="2" y="189"/>
                </a:lnTo>
                <a:lnTo>
                  <a:pt x="4" y="192"/>
                </a:lnTo>
                <a:lnTo>
                  <a:pt x="4" y="195"/>
                </a:lnTo>
                <a:lnTo>
                  <a:pt x="4" y="199"/>
                </a:lnTo>
                <a:lnTo>
                  <a:pt x="9" y="199"/>
                </a:lnTo>
                <a:lnTo>
                  <a:pt x="9" y="195"/>
                </a:lnTo>
                <a:lnTo>
                  <a:pt x="9" y="192"/>
                </a:lnTo>
                <a:lnTo>
                  <a:pt x="7" y="189"/>
                </a:lnTo>
                <a:lnTo>
                  <a:pt x="7" y="185"/>
                </a:lnTo>
                <a:lnTo>
                  <a:pt x="7" y="182"/>
                </a:lnTo>
                <a:lnTo>
                  <a:pt x="5" y="179"/>
                </a:lnTo>
                <a:lnTo>
                  <a:pt x="5" y="175"/>
                </a:lnTo>
                <a:lnTo>
                  <a:pt x="5" y="172"/>
                </a:lnTo>
                <a:lnTo>
                  <a:pt x="0" y="174"/>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86" name="Freeform 991">
            <a:extLst>
              <a:ext uri="{FF2B5EF4-FFF2-40B4-BE49-F238E27FC236}">
                <a16:creationId xmlns:a16="http://schemas.microsoft.com/office/drawing/2014/main" id="{6CA3E4B8-3520-CCEB-E940-CA38691A2535}"/>
              </a:ext>
            </a:extLst>
          </p:cNvPr>
          <p:cNvSpPr>
            <a:spLocks noEditPoints="1"/>
          </p:cNvSpPr>
          <p:nvPr/>
        </p:nvSpPr>
        <p:spPr bwMode="auto">
          <a:xfrm>
            <a:off x="2039938" y="2403475"/>
            <a:ext cx="1747838" cy="315913"/>
          </a:xfrm>
          <a:custGeom>
            <a:avLst/>
            <a:gdLst>
              <a:gd name="T0" fmla="*/ 1101 w 1101"/>
              <a:gd name="T1" fmla="*/ 25 h 199"/>
              <a:gd name="T2" fmla="*/ 1101 w 1101"/>
              <a:gd name="T3" fmla="*/ 21 h 199"/>
              <a:gd name="T4" fmla="*/ 1101 w 1101"/>
              <a:gd name="T5" fmla="*/ 18 h 199"/>
              <a:gd name="T6" fmla="*/ 1100 w 1101"/>
              <a:gd name="T7" fmla="*/ 15 h 199"/>
              <a:gd name="T8" fmla="*/ 1100 w 1101"/>
              <a:gd name="T9" fmla="*/ 11 h 199"/>
              <a:gd name="T10" fmla="*/ 1100 w 1101"/>
              <a:gd name="T11" fmla="*/ 8 h 199"/>
              <a:gd name="T12" fmla="*/ 1100 w 1101"/>
              <a:gd name="T13" fmla="*/ 6 h 199"/>
              <a:gd name="T14" fmla="*/ 1098 w 1101"/>
              <a:gd name="T15" fmla="*/ 3 h 199"/>
              <a:gd name="T16" fmla="*/ 1098 w 1101"/>
              <a:gd name="T17" fmla="*/ 0 h 199"/>
              <a:gd name="T18" fmla="*/ 1093 w 1101"/>
              <a:gd name="T19" fmla="*/ 0 h 199"/>
              <a:gd name="T20" fmla="*/ 1093 w 1101"/>
              <a:gd name="T21" fmla="*/ 3 h 199"/>
              <a:gd name="T22" fmla="*/ 1095 w 1101"/>
              <a:gd name="T23" fmla="*/ 6 h 199"/>
              <a:gd name="T24" fmla="*/ 1095 w 1101"/>
              <a:gd name="T25" fmla="*/ 10 h 199"/>
              <a:gd name="T26" fmla="*/ 1095 w 1101"/>
              <a:gd name="T27" fmla="*/ 13 h 199"/>
              <a:gd name="T28" fmla="*/ 1096 w 1101"/>
              <a:gd name="T29" fmla="*/ 16 h 199"/>
              <a:gd name="T30" fmla="*/ 1096 w 1101"/>
              <a:gd name="T31" fmla="*/ 20 h 199"/>
              <a:gd name="T32" fmla="*/ 1096 w 1101"/>
              <a:gd name="T33" fmla="*/ 23 h 199"/>
              <a:gd name="T34" fmla="*/ 1096 w 1101"/>
              <a:gd name="T35" fmla="*/ 26 h 199"/>
              <a:gd name="T36" fmla="*/ 1101 w 1101"/>
              <a:gd name="T37" fmla="*/ 25 h 199"/>
              <a:gd name="T38" fmla="*/ 0 w 1101"/>
              <a:gd name="T39" fmla="*/ 174 h 199"/>
              <a:gd name="T40" fmla="*/ 2 w 1101"/>
              <a:gd name="T41" fmla="*/ 175 h 199"/>
              <a:gd name="T42" fmla="*/ 2 w 1101"/>
              <a:gd name="T43" fmla="*/ 179 h 199"/>
              <a:gd name="T44" fmla="*/ 2 w 1101"/>
              <a:gd name="T45" fmla="*/ 182 h 199"/>
              <a:gd name="T46" fmla="*/ 2 w 1101"/>
              <a:gd name="T47" fmla="*/ 185 h 199"/>
              <a:gd name="T48" fmla="*/ 3 w 1101"/>
              <a:gd name="T49" fmla="*/ 189 h 199"/>
              <a:gd name="T50" fmla="*/ 3 w 1101"/>
              <a:gd name="T51" fmla="*/ 192 h 199"/>
              <a:gd name="T52" fmla="*/ 3 w 1101"/>
              <a:gd name="T53" fmla="*/ 195 h 199"/>
              <a:gd name="T54" fmla="*/ 5 w 1101"/>
              <a:gd name="T55" fmla="*/ 199 h 199"/>
              <a:gd name="T56" fmla="*/ 10 w 1101"/>
              <a:gd name="T57" fmla="*/ 199 h 199"/>
              <a:gd name="T58" fmla="*/ 8 w 1101"/>
              <a:gd name="T59" fmla="*/ 195 h 199"/>
              <a:gd name="T60" fmla="*/ 8 w 1101"/>
              <a:gd name="T61" fmla="*/ 192 h 199"/>
              <a:gd name="T62" fmla="*/ 8 w 1101"/>
              <a:gd name="T63" fmla="*/ 189 h 199"/>
              <a:gd name="T64" fmla="*/ 7 w 1101"/>
              <a:gd name="T65" fmla="*/ 185 h 199"/>
              <a:gd name="T66" fmla="*/ 7 w 1101"/>
              <a:gd name="T67" fmla="*/ 182 h 199"/>
              <a:gd name="T68" fmla="*/ 7 w 1101"/>
              <a:gd name="T69" fmla="*/ 177 h 199"/>
              <a:gd name="T70" fmla="*/ 5 w 1101"/>
              <a:gd name="T71" fmla="*/ 174 h 199"/>
              <a:gd name="T72" fmla="*/ 5 w 1101"/>
              <a:gd name="T73" fmla="*/ 170 h 199"/>
              <a:gd name="T74" fmla="*/ 0 w 1101"/>
              <a:gd name="T75" fmla="*/ 17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01" h="199">
                <a:moveTo>
                  <a:pt x="1101" y="25"/>
                </a:moveTo>
                <a:lnTo>
                  <a:pt x="1101" y="21"/>
                </a:lnTo>
                <a:lnTo>
                  <a:pt x="1101" y="18"/>
                </a:lnTo>
                <a:lnTo>
                  <a:pt x="1100" y="15"/>
                </a:lnTo>
                <a:lnTo>
                  <a:pt x="1100" y="11"/>
                </a:lnTo>
                <a:lnTo>
                  <a:pt x="1100" y="8"/>
                </a:lnTo>
                <a:lnTo>
                  <a:pt x="1100" y="6"/>
                </a:lnTo>
                <a:lnTo>
                  <a:pt x="1098" y="3"/>
                </a:lnTo>
                <a:lnTo>
                  <a:pt x="1098" y="0"/>
                </a:lnTo>
                <a:lnTo>
                  <a:pt x="1093" y="0"/>
                </a:lnTo>
                <a:lnTo>
                  <a:pt x="1093" y="3"/>
                </a:lnTo>
                <a:lnTo>
                  <a:pt x="1095" y="6"/>
                </a:lnTo>
                <a:lnTo>
                  <a:pt x="1095" y="10"/>
                </a:lnTo>
                <a:lnTo>
                  <a:pt x="1095" y="13"/>
                </a:lnTo>
                <a:lnTo>
                  <a:pt x="1096" y="16"/>
                </a:lnTo>
                <a:lnTo>
                  <a:pt x="1096" y="20"/>
                </a:lnTo>
                <a:lnTo>
                  <a:pt x="1096" y="23"/>
                </a:lnTo>
                <a:lnTo>
                  <a:pt x="1096" y="26"/>
                </a:lnTo>
                <a:lnTo>
                  <a:pt x="1101" y="25"/>
                </a:lnTo>
                <a:close/>
                <a:moveTo>
                  <a:pt x="0" y="174"/>
                </a:moveTo>
                <a:lnTo>
                  <a:pt x="2" y="175"/>
                </a:lnTo>
                <a:lnTo>
                  <a:pt x="2" y="179"/>
                </a:lnTo>
                <a:lnTo>
                  <a:pt x="2" y="182"/>
                </a:lnTo>
                <a:lnTo>
                  <a:pt x="2" y="185"/>
                </a:lnTo>
                <a:lnTo>
                  <a:pt x="3" y="189"/>
                </a:lnTo>
                <a:lnTo>
                  <a:pt x="3" y="192"/>
                </a:lnTo>
                <a:lnTo>
                  <a:pt x="3" y="195"/>
                </a:lnTo>
                <a:lnTo>
                  <a:pt x="5" y="199"/>
                </a:lnTo>
                <a:lnTo>
                  <a:pt x="10" y="199"/>
                </a:lnTo>
                <a:lnTo>
                  <a:pt x="8" y="195"/>
                </a:lnTo>
                <a:lnTo>
                  <a:pt x="8" y="192"/>
                </a:lnTo>
                <a:lnTo>
                  <a:pt x="8" y="189"/>
                </a:lnTo>
                <a:lnTo>
                  <a:pt x="7" y="185"/>
                </a:lnTo>
                <a:lnTo>
                  <a:pt x="7" y="182"/>
                </a:lnTo>
                <a:lnTo>
                  <a:pt x="7" y="177"/>
                </a:lnTo>
                <a:lnTo>
                  <a:pt x="5" y="174"/>
                </a:lnTo>
                <a:lnTo>
                  <a:pt x="5" y="170"/>
                </a:lnTo>
                <a:lnTo>
                  <a:pt x="0" y="174"/>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87" name="Freeform 992">
            <a:extLst>
              <a:ext uri="{FF2B5EF4-FFF2-40B4-BE49-F238E27FC236}">
                <a16:creationId xmlns:a16="http://schemas.microsoft.com/office/drawing/2014/main" id="{B511D825-C675-57A2-5A5E-F2418E321E65}"/>
              </a:ext>
            </a:extLst>
          </p:cNvPr>
          <p:cNvSpPr>
            <a:spLocks noEditPoints="1"/>
          </p:cNvSpPr>
          <p:nvPr/>
        </p:nvSpPr>
        <p:spPr bwMode="auto">
          <a:xfrm>
            <a:off x="2044700" y="2403475"/>
            <a:ext cx="1741488" cy="315913"/>
          </a:xfrm>
          <a:custGeom>
            <a:avLst/>
            <a:gdLst>
              <a:gd name="T0" fmla="*/ 1097 w 1097"/>
              <a:gd name="T1" fmla="*/ 25 h 199"/>
              <a:gd name="T2" fmla="*/ 1097 w 1097"/>
              <a:gd name="T3" fmla="*/ 21 h 199"/>
              <a:gd name="T4" fmla="*/ 1095 w 1097"/>
              <a:gd name="T5" fmla="*/ 18 h 199"/>
              <a:gd name="T6" fmla="*/ 1095 w 1097"/>
              <a:gd name="T7" fmla="*/ 15 h 199"/>
              <a:gd name="T8" fmla="*/ 1095 w 1097"/>
              <a:gd name="T9" fmla="*/ 11 h 199"/>
              <a:gd name="T10" fmla="*/ 1093 w 1097"/>
              <a:gd name="T11" fmla="*/ 10 h 199"/>
              <a:gd name="T12" fmla="*/ 1093 w 1097"/>
              <a:gd name="T13" fmla="*/ 6 h 199"/>
              <a:gd name="T14" fmla="*/ 1093 w 1097"/>
              <a:gd name="T15" fmla="*/ 3 h 199"/>
              <a:gd name="T16" fmla="*/ 1092 w 1097"/>
              <a:gd name="T17" fmla="*/ 0 h 199"/>
              <a:gd name="T18" fmla="*/ 1088 w 1097"/>
              <a:gd name="T19" fmla="*/ 0 h 199"/>
              <a:gd name="T20" fmla="*/ 1088 w 1097"/>
              <a:gd name="T21" fmla="*/ 3 h 199"/>
              <a:gd name="T22" fmla="*/ 1088 w 1097"/>
              <a:gd name="T23" fmla="*/ 6 h 199"/>
              <a:gd name="T24" fmla="*/ 1090 w 1097"/>
              <a:gd name="T25" fmla="*/ 10 h 199"/>
              <a:gd name="T26" fmla="*/ 1090 w 1097"/>
              <a:gd name="T27" fmla="*/ 13 h 199"/>
              <a:gd name="T28" fmla="*/ 1090 w 1097"/>
              <a:gd name="T29" fmla="*/ 16 h 199"/>
              <a:gd name="T30" fmla="*/ 1092 w 1097"/>
              <a:gd name="T31" fmla="*/ 20 h 199"/>
              <a:gd name="T32" fmla="*/ 1092 w 1097"/>
              <a:gd name="T33" fmla="*/ 23 h 199"/>
              <a:gd name="T34" fmla="*/ 1092 w 1097"/>
              <a:gd name="T35" fmla="*/ 26 h 199"/>
              <a:gd name="T36" fmla="*/ 1097 w 1097"/>
              <a:gd name="T37" fmla="*/ 25 h 199"/>
              <a:gd name="T38" fmla="*/ 0 w 1097"/>
              <a:gd name="T39" fmla="*/ 172 h 199"/>
              <a:gd name="T40" fmla="*/ 0 w 1097"/>
              <a:gd name="T41" fmla="*/ 175 h 199"/>
              <a:gd name="T42" fmla="*/ 0 w 1097"/>
              <a:gd name="T43" fmla="*/ 179 h 199"/>
              <a:gd name="T44" fmla="*/ 2 w 1097"/>
              <a:gd name="T45" fmla="*/ 182 h 199"/>
              <a:gd name="T46" fmla="*/ 2 w 1097"/>
              <a:gd name="T47" fmla="*/ 185 h 199"/>
              <a:gd name="T48" fmla="*/ 2 w 1097"/>
              <a:gd name="T49" fmla="*/ 189 h 199"/>
              <a:gd name="T50" fmla="*/ 4 w 1097"/>
              <a:gd name="T51" fmla="*/ 192 h 199"/>
              <a:gd name="T52" fmla="*/ 4 w 1097"/>
              <a:gd name="T53" fmla="*/ 195 h 199"/>
              <a:gd name="T54" fmla="*/ 4 w 1097"/>
              <a:gd name="T55" fmla="*/ 199 h 199"/>
              <a:gd name="T56" fmla="*/ 9 w 1097"/>
              <a:gd name="T57" fmla="*/ 199 h 199"/>
              <a:gd name="T58" fmla="*/ 9 w 1097"/>
              <a:gd name="T59" fmla="*/ 195 h 199"/>
              <a:gd name="T60" fmla="*/ 7 w 1097"/>
              <a:gd name="T61" fmla="*/ 192 h 199"/>
              <a:gd name="T62" fmla="*/ 7 w 1097"/>
              <a:gd name="T63" fmla="*/ 187 h 199"/>
              <a:gd name="T64" fmla="*/ 7 w 1097"/>
              <a:gd name="T65" fmla="*/ 184 h 199"/>
              <a:gd name="T66" fmla="*/ 5 w 1097"/>
              <a:gd name="T67" fmla="*/ 180 h 199"/>
              <a:gd name="T68" fmla="*/ 5 w 1097"/>
              <a:gd name="T69" fmla="*/ 177 h 199"/>
              <a:gd name="T70" fmla="*/ 5 w 1097"/>
              <a:gd name="T71" fmla="*/ 174 h 199"/>
              <a:gd name="T72" fmla="*/ 4 w 1097"/>
              <a:gd name="T73" fmla="*/ 170 h 199"/>
              <a:gd name="T74" fmla="*/ 0 w 1097"/>
              <a:gd name="T75" fmla="*/ 17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97" h="199">
                <a:moveTo>
                  <a:pt x="1097" y="25"/>
                </a:moveTo>
                <a:lnTo>
                  <a:pt x="1097" y="21"/>
                </a:lnTo>
                <a:lnTo>
                  <a:pt x="1095" y="18"/>
                </a:lnTo>
                <a:lnTo>
                  <a:pt x="1095" y="15"/>
                </a:lnTo>
                <a:lnTo>
                  <a:pt x="1095" y="11"/>
                </a:lnTo>
                <a:lnTo>
                  <a:pt x="1093" y="10"/>
                </a:lnTo>
                <a:lnTo>
                  <a:pt x="1093" y="6"/>
                </a:lnTo>
                <a:lnTo>
                  <a:pt x="1093" y="3"/>
                </a:lnTo>
                <a:lnTo>
                  <a:pt x="1092" y="0"/>
                </a:lnTo>
                <a:lnTo>
                  <a:pt x="1088" y="0"/>
                </a:lnTo>
                <a:lnTo>
                  <a:pt x="1088" y="3"/>
                </a:lnTo>
                <a:lnTo>
                  <a:pt x="1088" y="6"/>
                </a:lnTo>
                <a:lnTo>
                  <a:pt x="1090" y="10"/>
                </a:lnTo>
                <a:lnTo>
                  <a:pt x="1090" y="13"/>
                </a:lnTo>
                <a:lnTo>
                  <a:pt x="1090" y="16"/>
                </a:lnTo>
                <a:lnTo>
                  <a:pt x="1092" y="20"/>
                </a:lnTo>
                <a:lnTo>
                  <a:pt x="1092" y="23"/>
                </a:lnTo>
                <a:lnTo>
                  <a:pt x="1092" y="26"/>
                </a:lnTo>
                <a:lnTo>
                  <a:pt x="1097" y="25"/>
                </a:lnTo>
                <a:close/>
                <a:moveTo>
                  <a:pt x="0" y="172"/>
                </a:moveTo>
                <a:lnTo>
                  <a:pt x="0" y="175"/>
                </a:lnTo>
                <a:lnTo>
                  <a:pt x="0" y="179"/>
                </a:lnTo>
                <a:lnTo>
                  <a:pt x="2" y="182"/>
                </a:lnTo>
                <a:lnTo>
                  <a:pt x="2" y="185"/>
                </a:lnTo>
                <a:lnTo>
                  <a:pt x="2" y="189"/>
                </a:lnTo>
                <a:lnTo>
                  <a:pt x="4" y="192"/>
                </a:lnTo>
                <a:lnTo>
                  <a:pt x="4" y="195"/>
                </a:lnTo>
                <a:lnTo>
                  <a:pt x="4" y="199"/>
                </a:lnTo>
                <a:lnTo>
                  <a:pt x="9" y="199"/>
                </a:lnTo>
                <a:lnTo>
                  <a:pt x="9" y="195"/>
                </a:lnTo>
                <a:lnTo>
                  <a:pt x="7" y="192"/>
                </a:lnTo>
                <a:lnTo>
                  <a:pt x="7" y="187"/>
                </a:lnTo>
                <a:lnTo>
                  <a:pt x="7" y="184"/>
                </a:lnTo>
                <a:lnTo>
                  <a:pt x="5" y="180"/>
                </a:lnTo>
                <a:lnTo>
                  <a:pt x="5" y="177"/>
                </a:lnTo>
                <a:lnTo>
                  <a:pt x="5" y="174"/>
                </a:lnTo>
                <a:lnTo>
                  <a:pt x="4" y="170"/>
                </a:lnTo>
                <a:lnTo>
                  <a:pt x="0" y="172"/>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88" name="Freeform 993">
            <a:extLst>
              <a:ext uri="{FF2B5EF4-FFF2-40B4-BE49-F238E27FC236}">
                <a16:creationId xmlns:a16="http://schemas.microsoft.com/office/drawing/2014/main" id="{AD05C23C-79FD-03CE-B05B-996C25E05F8B}"/>
              </a:ext>
            </a:extLst>
          </p:cNvPr>
          <p:cNvSpPr>
            <a:spLocks noEditPoints="1"/>
          </p:cNvSpPr>
          <p:nvPr/>
        </p:nvSpPr>
        <p:spPr bwMode="auto">
          <a:xfrm>
            <a:off x="2047875" y="2403475"/>
            <a:ext cx="1731963" cy="315913"/>
          </a:xfrm>
          <a:custGeom>
            <a:avLst/>
            <a:gdLst>
              <a:gd name="T0" fmla="*/ 1091 w 1091"/>
              <a:gd name="T1" fmla="*/ 26 h 199"/>
              <a:gd name="T2" fmla="*/ 1091 w 1091"/>
              <a:gd name="T3" fmla="*/ 23 h 199"/>
              <a:gd name="T4" fmla="*/ 1091 w 1091"/>
              <a:gd name="T5" fmla="*/ 20 h 199"/>
              <a:gd name="T6" fmla="*/ 1091 w 1091"/>
              <a:gd name="T7" fmla="*/ 16 h 199"/>
              <a:gd name="T8" fmla="*/ 1090 w 1091"/>
              <a:gd name="T9" fmla="*/ 13 h 199"/>
              <a:gd name="T10" fmla="*/ 1090 w 1091"/>
              <a:gd name="T11" fmla="*/ 10 h 199"/>
              <a:gd name="T12" fmla="*/ 1090 w 1091"/>
              <a:gd name="T13" fmla="*/ 6 h 199"/>
              <a:gd name="T14" fmla="*/ 1088 w 1091"/>
              <a:gd name="T15" fmla="*/ 3 h 199"/>
              <a:gd name="T16" fmla="*/ 1088 w 1091"/>
              <a:gd name="T17" fmla="*/ 0 h 199"/>
              <a:gd name="T18" fmla="*/ 1083 w 1091"/>
              <a:gd name="T19" fmla="*/ 0 h 199"/>
              <a:gd name="T20" fmla="*/ 1083 w 1091"/>
              <a:gd name="T21" fmla="*/ 3 h 199"/>
              <a:gd name="T22" fmla="*/ 1085 w 1091"/>
              <a:gd name="T23" fmla="*/ 6 h 199"/>
              <a:gd name="T24" fmla="*/ 1085 w 1091"/>
              <a:gd name="T25" fmla="*/ 10 h 199"/>
              <a:gd name="T26" fmla="*/ 1086 w 1091"/>
              <a:gd name="T27" fmla="*/ 13 h 199"/>
              <a:gd name="T28" fmla="*/ 1086 w 1091"/>
              <a:gd name="T29" fmla="*/ 18 h 199"/>
              <a:gd name="T30" fmla="*/ 1086 w 1091"/>
              <a:gd name="T31" fmla="*/ 21 h 199"/>
              <a:gd name="T32" fmla="*/ 1086 w 1091"/>
              <a:gd name="T33" fmla="*/ 25 h 199"/>
              <a:gd name="T34" fmla="*/ 1088 w 1091"/>
              <a:gd name="T35" fmla="*/ 28 h 199"/>
              <a:gd name="T36" fmla="*/ 1091 w 1091"/>
              <a:gd name="T37" fmla="*/ 26 h 199"/>
              <a:gd name="T38" fmla="*/ 0 w 1091"/>
              <a:gd name="T39" fmla="*/ 170 h 199"/>
              <a:gd name="T40" fmla="*/ 0 w 1091"/>
              <a:gd name="T41" fmla="*/ 174 h 199"/>
              <a:gd name="T42" fmla="*/ 2 w 1091"/>
              <a:gd name="T43" fmla="*/ 177 h 199"/>
              <a:gd name="T44" fmla="*/ 2 w 1091"/>
              <a:gd name="T45" fmla="*/ 182 h 199"/>
              <a:gd name="T46" fmla="*/ 2 w 1091"/>
              <a:gd name="T47" fmla="*/ 185 h 199"/>
              <a:gd name="T48" fmla="*/ 3 w 1091"/>
              <a:gd name="T49" fmla="*/ 189 h 199"/>
              <a:gd name="T50" fmla="*/ 3 w 1091"/>
              <a:gd name="T51" fmla="*/ 192 h 199"/>
              <a:gd name="T52" fmla="*/ 3 w 1091"/>
              <a:gd name="T53" fmla="*/ 195 h 199"/>
              <a:gd name="T54" fmla="*/ 5 w 1091"/>
              <a:gd name="T55" fmla="*/ 199 h 199"/>
              <a:gd name="T56" fmla="*/ 10 w 1091"/>
              <a:gd name="T57" fmla="*/ 199 h 199"/>
              <a:gd name="T58" fmla="*/ 8 w 1091"/>
              <a:gd name="T59" fmla="*/ 195 h 199"/>
              <a:gd name="T60" fmla="*/ 8 w 1091"/>
              <a:gd name="T61" fmla="*/ 190 h 199"/>
              <a:gd name="T62" fmla="*/ 7 w 1091"/>
              <a:gd name="T63" fmla="*/ 187 h 199"/>
              <a:gd name="T64" fmla="*/ 7 w 1091"/>
              <a:gd name="T65" fmla="*/ 184 h 199"/>
              <a:gd name="T66" fmla="*/ 7 w 1091"/>
              <a:gd name="T67" fmla="*/ 180 h 199"/>
              <a:gd name="T68" fmla="*/ 5 w 1091"/>
              <a:gd name="T69" fmla="*/ 175 h 199"/>
              <a:gd name="T70" fmla="*/ 5 w 1091"/>
              <a:gd name="T71" fmla="*/ 172 h 199"/>
              <a:gd name="T72" fmla="*/ 5 w 1091"/>
              <a:gd name="T73" fmla="*/ 169 h 199"/>
              <a:gd name="T74" fmla="*/ 0 w 1091"/>
              <a:gd name="T75" fmla="*/ 17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91" h="199">
                <a:moveTo>
                  <a:pt x="1091" y="26"/>
                </a:moveTo>
                <a:lnTo>
                  <a:pt x="1091" y="23"/>
                </a:lnTo>
                <a:lnTo>
                  <a:pt x="1091" y="20"/>
                </a:lnTo>
                <a:lnTo>
                  <a:pt x="1091" y="16"/>
                </a:lnTo>
                <a:lnTo>
                  <a:pt x="1090" y="13"/>
                </a:lnTo>
                <a:lnTo>
                  <a:pt x="1090" y="10"/>
                </a:lnTo>
                <a:lnTo>
                  <a:pt x="1090" y="6"/>
                </a:lnTo>
                <a:lnTo>
                  <a:pt x="1088" y="3"/>
                </a:lnTo>
                <a:lnTo>
                  <a:pt x="1088" y="0"/>
                </a:lnTo>
                <a:lnTo>
                  <a:pt x="1083" y="0"/>
                </a:lnTo>
                <a:lnTo>
                  <a:pt x="1083" y="3"/>
                </a:lnTo>
                <a:lnTo>
                  <a:pt x="1085" y="6"/>
                </a:lnTo>
                <a:lnTo>
                  <a:pt x="1085" y="10"/>
                </a:lnTo>
                <a:lnTo>
                  <a:pt x="1086" y="13"/>
                </a:lnTo>
                <a:lnTo>
                  <a:pt x="1086" y="18"/>
                </a:lnTo>
                <a:lnTo>
                  <a:pt x="1086" y="21"/>
                </a:lnTo>
                <a:lnTo>
                  <a:pt x="1086" y="25"/>
                </a:lnTo>
                <a:lnTo>
                  <a:pt x="1088" y="28"/>
                </a:lnTo>
                <a:lnTo>
                  <a:pt x="1091" y="26"/>
                </a:lnTo>
                <a:close/>
                <a:moveTo>
                  <a:pt x="0" y="170"/>
                </a:moveTo>
                <a:lnTo>
                  <a:pt x="0" y="174"/>
                </a:lnTo>
                <a:lnTo>
                  <a:pt x="2" y="177"/>
                </a:lnTo>
                <a:lnTo>
                  <a:pt x="2" y="182"/>
                </a:lnTo>
                <a:lnTo>
                  <a:pt x="2" y="185"/>
                </a:lnTo>
                <a:lnTo>
                  <a:pt x="3" y="189"/>
                </a:lnTo>
                <a:lnTo>
                  <a:pt x="3" y="192"/>
                </a:lnTo>
                <a:lnTo>
                  <a:pt x="3" y="195"/>
                </a:lnTo>
                <a:lnTo>
                  <a:pt x="5" y="199"/>
                </a:lnTo>
                <a:lnTo>
                  <a:pt x="10" y="199"/>
                </a:lnTo>
                <a:lnTo>
                  <a:pt x="8" y="195"/>
                </a:lnTo>
                <a:lnTo>
                  <a:pt x="8" y="190"/>
                </a:lnTo>
                <a:lnTo>
                  <a:pt x="7" y="187"/>
                </a:lnTo>
                <a:lnTo>
                  <a:pt x="7" y="184"/>
                </a:lnTo>
                <a:lnTo>
                  <a:pt x="7" y="180"/>
                </a:lnTo>
                <a:lnTo>
                  <a:pt x="5" y="175"/>
                </a:lnTo>
                <a:lnTo>
                  <a:pt x="5" y="172"/>
                </a:lnTo>
                <a:lnTo>
                  <a:pt x="5" y="169"/>
                </a:lnTo>
                <a:lnTo>
                  <a:pt x="0" y="17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89" name="Freeform 994">
            <a:extLst>
              <a:ext uri="{FF2B5EF4-FFF2-40B4-BE49-F238E27FC236}">
                <a16:creationId xmlns:a16="http://schemas.microsoft.com/office/drawing/2014/main" id="{6E6EC8C0-A46A-0760-0C3C-8C5E27E100B2}"/>
              </a:ext>
            </a:extLst>
          </p:cNvPr>
          <p:cNvSpPr>
            <a:spLocks noEditPoints="1"/>
          </p:cNvSpPr>
          <p:nvPr/>
        </p:nvSpPr>
        <p:spPr bwMode="auto">
          <a:xfrm>
            <a:off x="2051050" y="2403475"/>
            <a:ext cx="1727200" cy="315913"/>
          </a:xfrm>
          <a:custGeom>
            <a:avLst/>
            <a:gdLst>
              <a:gd name="T0" fmla="*/ 1088 w 1088"/>
              <a:gd name="T1" fmla="*/ 26 h 199"/>
              <a:gd name="T2" fmla="*/ 1088 w 1088"/>
              <a:gd name="T3" fmla="*/ 23 h 199"/>
              <a:gd name="T4" fmla="*/ 1088 w 1088"/>
              <a:gd name="T5" fmla="*/ 20 h 199"/>
              <a:gd name="T6" fmla="*/ 1086 w 1088"/>
              <a:gd name="T7" fmla="*/ 16 h 199"/>
              <a:gd name="T8" fmla="*/ 1086 w 1088"/>
              <a:gd name="T9" fmla="*/ 13 h 199"/>
              <a:gd name="T10" fmla="*/ 1086 w 1088"/>
              <a:gd name="T11" fmla="*/ 10 h 199"/>
              <a:gd name="T12" fmla="*/ 1084 w 1088"/>
              <a:gd name="T13" fmla="*/ 6 h 199"/>
              <a:gd name="T14" fmla="*/ 1084 w 1088"/>
              <a:gd name="T15" fmla="*/ 3 h 199"/>
              <a:gd name="T16" fmla="*/ 1084 w 1088"/>
              <a:gd name="T17" fmla="*/ 0 h 199"/>
              <a:gd name="T18" fmla="*/ 1079 w 1088"/>
              <a:gd name="T19" fmla="*/ 0 h 199"/>
              <a:gd name="T20" fmla="*/ 1079 w 1088"/>
              <a:gd name="T21" fmla="*/ 3 h 199"/>
              <a:gd name="T22" fmla="*/ 1079 w 1088"/>
              <a:gd name="T23" fmla="*/ 6 h 199"/>
              <a:gd name="T24" fmla="*/ 1081 w 1088"/>
              <a:gd name="T25" fmla="*/ 10 h 199"/>
              <a:gd name="T26" fmla="*/ 1081 w 1088"/>
              <a:gd name="T27" fmla="*/ 15 h 199"/>
              <a:gd name="T28" fmla="*/ 1081 w 1088"/>
              <a:gd name="T29" fmla="*/ 18 h 199"/>
              <a:gd name="T30" fmla="*/ 1083 w 1088"/>
              <a:gd name="T31" fmla="*/ 21 h 199"/>
              <a:gd name="T32" fmla="*/ 1083 w 1088"/>
              <a:gd name="T33" fmla="*/ 25 h 199"/>
              <a:gd name="T34" fmla="*/ 1083 w 1088"/>
              <a:gd name="T35" fmla="*/ 30 h 199"/>
              <a:gd name="T36" fmla="*/ 1088 w 1088"/>
              <a:gd name="T37" fmla="*/ 26 h 199"/>
              <a:gd name="T38" fmla="*/ 0 w 1088"/>
              <a:gd name="T39" fmla="*/ 170 h 199"/>
              <a:gd name="T40" fmla="*/ 1 w 1088"/>
              <a:gd name="T41" fmla="*/ 174 h 199"/>
              <a:gd name="T42" fmla="*/ 1 w 1088"/>
              <a:gd name="T43" fmla="*/ 177 h 199"/>
              <a:gd name="T44" fmla="*/ 1 w 1088"/>
              <a:gd name="T45" fmla="*/ 180 h 199"/>
              <a:gd name="T46" fmla="*/ 3 w 1088"/>
              <a:gd name="T47" fmla="*/ 184 h 199"/>
              <a:gd name="T48" fmla="*/ 3 w 1088"/>
              <a:gd name="T49" fmla="*/ 187 h 199"/>
              <a:gd name="T50" fmla="*/ 3 w 1088"/>
              <a:gd name="T51" fmla="*/ 192 h 199"/>
              <a:gd name="T52" fmla="*/ 5 w 1088"/>
              <a:gd name="T53" fmla="*/ 195 h 199"/>
              <a:gd name="T54" fmla="*/ 5 w 1088"/>
              <a:gd name="T55" fmla="*/ 199 h 199"/>
              <a:gd name="T56" fmla="*/ 9 w 1088"/>
              <a:gd name="T57" fmla="*/ 199 h 199"/>
              <a:gd name="T58" fmla="*/ 9 w 1088"/>
              <a:gd name="T59" fmla="*/ 195 h 199"/>
              <a:gd name="T60" fmla="*/ 8 w 1088"/>
              <a:gd name="T61" fmla="*/ 190 h 199"/>
              <a:gd name="T62" fmla="*/ 8 w 1088"/>
              <a:gd name="T63" fmla="*/ 187 h 199"/>
              <a:gd name="T64" fmla="*/ 8 w 1088"/>
              <a:gd name="T65" fmla="*/ 184 h 199"/>
              <a:gd name="T66" fmla="*/ 6 w 1088"/>
              <a:gd name="T67" fmla="*/ 179 h 199"/>
              <a:gd name="T68" fmla="*/ 6 w 1088"/>
              <a:gd name="T69" fmla="*/ 175 h 199"/>
              <a:gd name="T70" fmla="*/ 6 w 1088"/>
              <a:gd name="T71" fmla="*/ 172 h 199"/>
              <a:gd name="T72" fmla="*/ 5 w 1088"/>
              <a:gd name="T73" fmla="*/ 167 h 199"/>
              <a:gd name="T74" fmla="*/ 0 w 1088"/>
              <a:gd name="T75" fmla="*/ 17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88" h="199">
                <a:moveTo>
                  <a:pt x="1088" y="26"/>
                </a:moveTo>
                <a:lnTo>
                  <a:pt x="1088" y="23"/>
                </a:lnTo>
                <a:lnTo>
                  <a:pt x="1088" y="20"/>
                </a:lnTo>
                <a:lnTo>
                  <a:pt x="1086" y="16"/>
                </a:lnTo>
                <a:lnTo>
                  <a:pt x="1086" y="13"/>
                </a:lnTo>
                <a:lnTo>
                  <a:pt x="1086" y="10"/>
                </a:lnTo>
                <a:lnTo>
                  <a:pt x="1084" y="6"/>
                </a:lnTo>
                <a:lnTo>
                  <a:pt x="1084" y="3"/>
                </a:lnTo>
                <a:lnTo>
                  <a:pt x="1084" y="0"/>
                </a:lnTo>
                <a:lnTo>
                  <a:pt x="1079" y="0"/>
                </a:lnTo>
                <a:lnTo>
                  <a:pt x="1079" y="3"/>
                </a:lnTo>
                <a:lnTo>
                  <a:pt x="1079" y="6"/>
                </a:lnTo>
                <a:lnTo>
                  <a:pt x="1081" y="10"/>
                </a:lnTo>
                <a:lnTo>
                  <a:pt x="1081" y="15"/>
                </a:lnTo>
                <a:lnTo>
                  <a:pt x="1081" y="18"/>
                </a:lnTo>
                <a:lnTo>
                  <a:pt x="1083" y="21"/>
                </a:lnTo>
                <a:lnTo>
                  <a:pt x="1083" y="25"/>
                </a:lnTo>
                <a:lnTo>
                  <a:pt x="1083" y="30"/>
                </a:lnTo>
                <a:lnTo>
                  <a:pt x="1088" y="26"/>
                </a:lnTo>
                <a:close/>
                <a:moveTo>
                  <a:pt x="0" y="170"/>
                </a:moveTo>
                <a:lnTo>
                  <a:pt x="1" y="174"/>
                </a:lnTo>
                <a:lnTo>
                  <a:pt x="1" y="177"/>
                </a:lnTo>
                <a:lnTo>
                  <a:pt x="1" y="180"/>
                </a:lnTo>
                <a:lnTo>
                  <a:pt x="3" y="184"/>
                </a:lnTo>
                <a:lnTo>
                  <a:pt x="3" y="187"/>
                </a:lnTo>
                <a:lnTo>
                  <a:pt x="3" y="192"/>
                </a:lnTo>
                <a:lnTo>
                  <a:pt x="5" y="195"/>
                </a:lnTo>
                <a:lnTo>
                  <a:pt x="5" y="199"/>
                </a:lnTo>
                <a:lnTo>
                  <a:pt x="9" y="199"/>
                </a:lnTo>
                <a:lnTo>
                  <a:pt x="9" y="195"/>
                </a:lnTo>
                <a:lnTo>
                  <a:pt x="8" y="190"/>
                </a:lnTo>
                <a:lnTo>
                  <a:pt x="8" y="187"/>
                </a:lnTo>
                <a:lnTo>
                  <a:pt x="8" y="184"/>
                </a:lnTo>
                <a:lnTo>
                  <a:pt x="6" y="179"/>
                </a:lnTo>
                <a:lnTo>
                  <a:pt x="6" y="175"/>
                </a:lnTo>
                <a:lnTo>
                  <a:pt x="6" y="172"/>
                </a:lnTo>
                <a:lnTo>
                  <a:pt x="5" y="167"/>
                </a:lnTo>
                <a:lnTo>
                  <a:pt x="0" y="17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90" name="Freeform 995">
            <a:extLst>
              <a:ext uri="{FF2B5EF4-FFF2-40B4-BE49-F238E27FC236}">
                <a16:creationId xmlns:a16="http://schemas.microsoft.com/office/drawing/2014/main" id="{9A313C58-6D9F-7C73-2D49-F13F82C0B516}"/>
              </a:ext>
            </a:extLst>
          </p:cNvPr>
          <p:cNvSpPr>
            <a:spLocks noEditPoints="1"/>
          </p:cNvSpPr>
          <p:nvPr/>
        </p:nvSpPr>
        <p:spPr bwMode="auto">
          <a:xfrm>
            <a:off x="2055813" y="2403475"/>
            <a:ext cx="1719263" cy="315913"/>
          </a:xfrm>
          <a:custGeom>
            <a:avLst/>
            <a:gdLst>
              <a:gd name="T0" fmla="*/ 1083 w 1083"/>
              <a:gd name="T1" fmla="*/ 28 h 199"/>
              <a:gd name="T2" fmla="*/ 1081 w 1083"/>
              <a:gd name="T3" fmla="*/ 25 h 199"/>
              <a:gd name="T4" fmla="*/ 1081 w 1083"/>
              <a:gd name="T5" fmla="*/ 21 h 199"/>
              <a:gd name="T6" fmla="*/ 1081 w 1083"/>
              <a:gd name="T7" fmla="*/ 18 h 199"/>
              <a:gd name="T8" fmla="*/ 1081 w 1083"/>
              <a:gd name="T9" fmla="*/ 13 h 199"/>
              <a:gd name="T10" fmla="*/ 1080 w 1083"/>
              <a:gd name="T11" fmla="*/ 10 h 199"/>
              <a:gd name="T12" fmla="*/ 1080 w 1083"/>
              <a:gd name="T13" fmla="*/ 6 h 199"/>
              <a:gd name="T14" fmla="*/ 1078 w 1083"/>
              <a:gd name="T15" fmla="*/ 3 h 199"/>
              <a:gd name="T16" fmla="*/ 1078 w 1083"/>
              <a:gd name="T17" fmla="*/ 0 h 199"/>
              <a:gd name="T18" fmla="*/ 1073 w 1083"/>
              <a:gd name="T19" fmla="*/ 0 h 199"/>
              <a:gd name="T20" fmla="*/ 1075 w 1083"/>
              <a:gd name="T21" fmla="*/ 3 h 199"/>
              <a:gd name="T22" fmla="*/ 1075 w 1083"/>
              <a:gd name="T23" fmla="*/ 6 h 199"/>
              <a:gd name="T24" fmla="*/ 1075 w 1083"/>
              <a:gd name="T25" fmla="*/ 11 h 199"/>
              <a:gd name="T26" fmla="*/ 1076 w 1083"/>
              <a:gd name="T27" fmla="*/ 15 h 199"/>
              <a:gd name="T28" fmla="*/ 1076 w 1083"/>
              <a:gd name="T29" fmla="*/ 18 h 199"/>
              <a:gd name="T30" fmla="*/ 1076 w 1083"/>
              <a:gd name="T31" fmla="*/ 23 h 199"/>
              <a:gd name="T32" fmla="*/ 1078 w 1083"/>
              <a:gd name="T33" fmla="*/ 26 h 199"/>
              <a:gd name="T34" fmla="*/ 1078 w 1083"/>
              <a:gd name="T35" fmla="*/ 30 h 199"/>
              <a:gd name="T36" fmla="*/ 1083 w 1083"/>
              <a:gd name="T37" fmla="*/ 28 h 199"/>
              <a:gd name="T38" fmla="*/ 0 w 1083"/>
              <a:gd name="T39" fmla="*/ 169 h 199"/>
              <a:gd name="T40" fmla="*/ 0 w 1083"/>
              <a:gd name="T41" fmla="*/ 172 h 199"/>
              <a:gd name="T42" fmla="*/ 0 w 1083"/>
              <a:gd name="T43" fmla="*/ 175 h 199"/>
              <a:gd name="T44" fmla="*/ 2 w 1083"/>
              <a:gd name="T45" fmla="*/ 180 h 199"/>
              <a:gd name="T46" fmla="*/ 2 w 1083"/>
              <a:gd name="T47" fmla="*/ 184 h 199"/>
              <a:gd name="T48" fmla="*/ 2 w 1083"/>
              <a:gd name="T49" fmla="*/ 187 h 199"/>
              <a:gd name="T50" fmla="*/ 3 w 1083"/>
              <a:gd name="T51" fmla="*/ 190 h 199"/>
              <a:gd name="T52" fmla="*/ 3 w 1083"/>
              <a:gd name="T53" fmla="*/ 195 h 199"/>
              <a:gd name="T54" fmla="*/ 5 w 1083"/>
              <a:gd name="T55" fmla="*/ 199 h 199"/>
              <a:gd name="T56" fmla="*/ 10 w 1083"/>
              <a:gd name="T57" fmla="*/ 199 h 199"/>
              <a:gd name="T58" fmla="*/ 8 w 1083"/>
              <a:gd name="T59" fmla="*/ 195 h 199"/>
              <a:gd name="T60" fmla="*/ 8 w 1083"/>
              <a:gd name="T61" fmla="*/ 190 h 199"/>
              <a:gd name="T62" fmla="*/ 6 w 1083"/>
              <a:gd name="T63" fmla="*/ 187 h 199"/>
              <a:gd name="T64" fmla="*/ 6 w 1083"/>
              <a:gd name="T65" fmla="*/ 182 h 199"/>
              <a:gd name="T66" fmla="*/ 6 w 1083"/>
              <a:gd name="T67" fmla="*/ 179 h 199"/>
              <a:gd name="T68" fmla="*/ 5 w 1083"/>
              <a:gd name="T69" fmla="*/ 174 h 199"/>
              <a:gd name="T70" fmla="*/ 5 w 1083"/>
              <a:gd name="T71" fmla="*/ 170 h 199"/>
              <a:gd name="T72" fmla="*/ 5 w 1083"/>
              <a:gd name="T73" fmla="*/ 167 h 199"/>
              <a:gd name="T74" fmla="*/ 0 w 1083"/>
              <a:gd name="T75" fmla="*/ 16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83" h="199">
                <a:moveTo>
                  <a:pt x="1083" y="28"/>
                </a:moveTo>
                <a:lnTo>
                  <a:pt x="1081" y="25"/>
                </a:lnTo>
                <a:lnTo>
                  <a:pt x="1081" y="21"/>
                </a:lnTo>
                <a:lnTo>
                  <a:pt x="1081" y="18"/>
                </a:lnTo>
                <a:lnTo>
                  <a:pt x="1081" y="13"/>
                </a:lnTo>
                <a:lnTo>
                  <a:pt x="1080" y="10"/>
                </a:lnTo>
                <a:lnTo>
                  <a:pt x="1080" y="6"/>
                </a:lnTo>
                <a:lnTo>
                  <a:pt x="1078" y="3"/>
                </a:lnTo>
                <a:lnTo>
                  <a:pt x="1078" y="0"/>
                </a:lnTo>
                <a:lnTo>
                  <a:pt x="1073" y="0"/>
                </a:lnTo>
                <a:lnTo>
                  <a:pt x="1075" y="3"/>
                </a:lnTo>
                <a:lnTo>
                  <a:pt x="1075" y="6"/>
                </a:lnTo>
                <a:lnTo>
                  <a:pt x="1075" y="11"/>
                </a:lnTo>
                <a:lnTo>
                  <a:pt x="1076" y="15"/>
                </a:lnTo>
                <a:lnTo>
                  <a:pt x="1076" y="18"/>
                </a:lnTo>
                <a:lnTo>
                  <a:pt x="1076" y="23"/>
                </a:lnTo>
                <a:lnTo>
                  <a:pt x="1078" y="26"/>
                </a:lnTo>
                <a:lnTo>
                  <a:pt x="1078" y="30"/>
                </a:lnTo>
                <a:lnTo>
                  <a:pt x="1083" y="28"/>
                </a:lnTo>
                <a:close/>
                <a:moveTo>
                  <a:pt x="0" y="169"/>
                </a:moveTo>
                <a:lnTo>
                  <a:pt x="0" y="172"/>
                </a:lnTo>
                <a:lnTo>
                  <a:pt x="0" y="175"/>
                </a:lnTo>
                <a:lnTo>
                  <a:pt x="2" y="180"/>
                </a:lnTo>
                <a:lnTo>
                  <a:pt x="2" y="184"/>
                </a:lnTo>
                <a:lnTo>
                  <a:pt x="2" y="187"/>
                </a:lnTo>
                <a:lnTo>
                  <a:pt x="3" y="190"/>
                </a:lnTo>
                <a:lnTo>
                  <a:pt x="3" y="195"/>
                </a:lnTo>
                <a:lnTo>
                  <a:pt x="5" y="199"/>
                </a:lnTo>
                <a:lnTo>
                  <a:pt x="10" y="199"/>
                </a:lnTo>
                <a:lnTo>
                  <a:pt x="8" y="195"/>
                </a:lnTo>
                <a:lnTo>
                  <a:pt x="8" y="190"/>
                </a:lnTo>
                <a:lnTo>
                  <a:pt x="6" y="187"/>
                </a:lnTo>
                <a:lnTo>
                  <a:pt x="6" y="182"/>
                </a:lnTo>
                <a:lnTo>
                  <a:pt x="6" y="179"/>
                </a:lnTo>
                <a:lnTo>
                  <a:pt x="5" y="174"/>
                </a:lnTo>
                <a:lnTo>
                  <a:pt x="5" y="170"/>
                </a:lnTo>
                <a:lnTo>
                  <a:pt x="5" y="167"/>
                </a:lnTo>
                <a:lnTo>
                  <a:pt x="0" y="169"/>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91" name="Freeform 996">
            <a:extLst>
              <a:ext uri="{FF2B5EF4-FFF2-40B4-BE49-F238E27FC236}">
                <a16:creationId xmlns:a16="http://schemas.microsoft.com/office/drawing/2014/main" id="{53E6BAE3-1CBC-3E21-5D76-4BF563A3556A}"/>
              </a:ext>
            </a:extLst>
          </p:cNvPr>
          <p:cNvSpPr>
            <a:spLocks noEditPoints="1"/>
          </p:cNvSpPr>
          <p:nvPr/>
        </p:nvSpPr>
        <p:spPr bwMode="auto">
          <a:xfrm>
            <a:off x="2058988" y="2403475"/>
            <a:ext cx="1711325" cy="315913"/>
          </a:xfrm>
          <a:custGeom>
            <a:avLst/>
            <a:gdLst>
              <a:gd name="T0" fmla="*/ 1078 w 1078"/>
              <a:gd name="T1" fmla="*/ 30 h 199"/>
              <a:gd name="T2" fmla="*/ 1078 w 1078"/>
              <a:gd name="T3" fmla="*/ 25 h 199"/>
              <a:gd name="T4" fmla="*/ 1078 w 1078"/>
              <a:gd name="T5" fmla="*/ 21 h 199"/>
              <a:gd name="T6" fmla="*/ 1076 w 1078"/>
              <a:gd name="T7" fmla="*/ 18 h 199"/>
              <a:gd name="T8" fmla="*/ 1076 w 1078"/>
              <a:gd name="T9" fmla="*/ 15 h 199"/>
              <a:gd name="T10" fmla="*/ 1076 w 1078"/>
              <a:gd name="T11" fmla="*/ 10 h 199"/>
              <a:gd name="T12" fmla="*/ 1074 w 1078"/>
              <a:gd name="T13" fmla="*/ 6 h 199"/>
              <a:gd name="T14" fmla="*/ 1074 w 1078"/>
              <a:gd name="T15" fmla="*/ 3 h 199"/>
              <a:gd name="T16" fmla="*/ 1074 w 1078"/>
              <a:gd name="T17" fmla="*/ 0 h 199"/>
              <a:gd name="T18" fmla="*/ 1069 w 1078"/>
              <a:gd name="T19" fmla="*/ 0 h 199"/>
              <a:gd name="T20" fmla="*/ 1069 w 1078"/>
              <a:gd name="T21" fmla="*/ 3 h 199"/>
              <a:gd name="T22" fmla="*/ 1069 w 1078"/>
              <a:gd name="T23" fmla="*/ 8 h 199"/>
              <a:gd name="T24" fmla="*/ 1071 w 1078"/>
              <a:gd name="T25" fmla="*/ 11 h 199"/>
              <a:gd name="T26" fmla="*/ 1071 w 1078"/>
              <a:gd name="T27" fmla="*/ 15 h 199"/>
              <a:gd name="T28" fmla="*/ 1073 w 1078"/>
              <a:gd name="T29" fmla="*/ 20 h 199"/>
              <a:gd name="T30" fmla="*/ 1073 w 1078"/>
              <a:gd name="T31" fmla="*/ 23 h 199"/>
              <a:gd name="T32" fmla="*/ 1073 w 1078"/>
              <a:gd name="T33" fmla="*/ 26 h 199"/>
              <a:gd name="T34" fmla="*/ 1074 w 1078"/>
              <a:gd name="T35" fmla="*/ 31 h 199"/>
              <a:gd name="T36" fmla="*/ 1078 w 1078"/>
              <a:gd name="T37" fmla="*/ 30 h 199"/>
              <a:gd name="T38" fmla="*/ 0 w 1078"/>
              <a:gd name="T39" fmla="*/ 167 h 199"/>
              <a:gd name="T40" fmla="*/ 1 w 1078"/>
              <a:gd name="T41" fmla="*/ 172 h 199"/>
              <a:gd name="T42" fmla="*/ 1 w 1078"/>
              <a:gd name="T43" fmla="*/ 175 h 199"/>
              <a:gd name="T44" fmla="*/ 1 w 1078"/>
              <a:gd name="T45" fmla="*/ 179 h 199"/>
              <a:gd name="T46" fmla="*/ 3 w 1078"/>
              <a:gd name="T47" fmla="*/ 184 h 199"/>
              <a:gd name="T48" fmla="*/ 3 w 1078"/>
              <a:gd name="T49" fmla="*/ 187 h 199"/>
              <a:gd name="T50" fmla="*/ 3 w 1078"/>
              <a:gd name="T51" fmla="*/ 190 h 199"/>
              <a:gd name="T52" fmla="*/ 4 w 1078"/>
              <a:gd name="T53" fmla="*/ 195 h 199"/>
              <a:gd name="T54" fmla="*/ 4 w 1078"/>
              <a:gd name="T55" fmla="*/ 199 h 199"/>
              <a:gd name="T56" fmla="*/ 9 w 1078"/>
              <a:gd name="T57" fmla="*/ 199 h 199"/>
              <a:gd name="T58" fmla="*/ 9 w 1078"/>
              <a:gd name="T59" fmla="*/ 194 h 199"/>
              <a:gd name="T60" fmla="*/ 8 w 1078"/>
              <a:gd name="T61" fmla="*/ 190 h 199"/>
              <a:gd name="T62" fmla="*/ 8 w 1078"/>
              <a:gd name="T63" fmla="*/ 185 h 199"/>
              <a:gd name="T64" fmla="*/ 6 w 1078"/>
              <a:gd name="T65" fmla="*/ 182 h 199"/>
              <a:gd name="T66" fmla="*/ 6 w 1078"/>
              <a:gd name="T67" fmla="*/ 179 h 199"/>
              <a:gd name="T68" fmla="*/ 6 w 1078"/>
              <a:gd name="T69" fmla="*/ 174 h 199"/>
              <a:gd name="T70" fmla="*/ 4 w 1078"/>
              <a:gd name="T71" fmla="*/ 170 h 199"/>
              <a:gd name="T72" fmla="*/ 4 w 1078"/>
              <a:gd name="T73" fmla="*/ 165 h 199"/>
              <a:gd name="T74" fmla="*/ 0 w 1078"/>
              <a:gd name="T75" fmla="*/ 16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78" h="199">
                <a:moveTo>
                  <a:pt x="1078" y="30"/>
                </a:moveTo>
                <a:lnTo>
                  <a:pt x="1078" y="25"/>
                </a:lnTo>
                <a:lnTo>
                  <a:pt x="1078" y="21"/>
                </a:lnTo>
                <a:lnTo>
                  <a:pt x="1076" y="18"/>
                </a:lnTo>
                <a:lnTo>
                  <a:pt x="1076" y="15"/>
                </a:lnTo>
                <a:lnTo>
                  <a:pt x="1076" y="10"/>
                </a:lnTo>
                <a:lnTo>
                  <a:pt x="1074" y="6"/>
                </a:lnTo>
                <a:lnTo>
                  <a:pt x="1074" y="3"/>
                </a:lnTo>
                <a:lnTo>
                  <a:pt x="1074" y="0"/>
                </a:lnTo>
                <a:lnTo>
                  <a:pt x="1069" y="0"/>
                </a:lnTo>
                <a:lnTo>
                  <a:pt x="1069" y="3"/>
                </a:lnTo>
                <a:lnTo>
                  <a:pt x="1069" y="8"/>
                </a:lnTo>
                <a:lnTo>
                  <a:pt x="1071" y="11"/>
                </a:lnTo>
                <a:lnTo>
                  <a:pt x="1071" y="15"/>
                </a:lnTo>
                <a:lnTo>
                  <a:pt x="1073" y="20"/>
                </a:lnTo>
                <a:lnTo>
                  <a:pt x="1073" y="23"/>
                </a:lnTo>
                <a:lnTo>
                  <a:pt x="1073" y="26"/>
                </a:lnTo>
                <a:lnTo>
                  <a:pt x="1074" y="31"/>
                </a:lnTo>
                <a:lnTo>
                  <a:pt x="1078" y="30"/>
                </a:lnTo>
                <a:close/>
                <a:moveTo>
                  <a:pt x="0" y="167"/>
                </a:moveTo>
                <a:lnTo>
                  <a:pt x="1" y="172"/>
                </a:lnTo>
                <a:lnTo>
                  <a:pt x="1" y="175"/>
                </a:lnTo>
                <a:lnTo>
                  <a:pt x="1" y="179"/>
                </a:lnTo>
                <a:lnTo>
                  <a:pt x="3" y="184"/>
                </a:lnTo>
                <a:lnTo>
                  <a:pt x="3" y="187"/>
                </a:lnTo>
                <a:lnTo>
                  <a:pt x="3" y="190"/>
                </a:lnTo>
                <a:lnTo>
                  <a:pt x="4" y="195"/>
                </a:lnTo>
                <a:lnTo>
                  <a:pt x="4" y="199"/>
                </a:lnTo>
                <a:lnTo>
                  <a:pt x="9" y="199"/>
                </a:lnTo>
                <a:lnTo>
                  <a:pt x="9" y="194"/>
                </a:lnTo>
                <a:lnTo>
                  <a:pt x="8" y="190"/>
                </a:lnTo>
                <a:lnTo>
                  <a:pt x="8" y="185"/>
                </a:lnTo>
                <a:lnTo>
                  <a:pt x="6" y="182"/>
                </a:lnTo>
                <a:lnTo>
                  <a:pt x="6" y="179"/>
                </a:lnTo>
                <a:lnTo>
                  <a:pt x="6" y="174"/>
                </a:lnTo>
                <a:lnTo>
                  <a:pt x="4" y="170"/>
                </a:lnTo>
                <a:lnTo>
                  <a:pt x="4" y="165"/>
                </a:lnTo>
                <a:lnTo>
                  <a:pt x="0" y="167"/>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92" name="Freeform 997">
            <a:extLst>
              <a:ext uri="{FF2B5EF4-FFF2-40B4-BE49-F238E27FC236}">
                <a16:creationId xmlns:a16="http://schemas.microsoft.com/office/drawing/2014/main" id="{C2A8DE9F-DB87-7079-A0F7-40E18DAF699F}"/>
              </a:ext>
            </a:extLst>
          </p:cNvPr>
          <p:cNvSpPr>
            <a:spLocks noEditPoints="1"/>
          </p:cNvSpPr>
          <p:nvPr/>
        </p:nvSpPr>
        <p:spPr bwMode="auto">
          <a:xfrm>
            <a:off x="2063750" y="2403475"/>
            <a:ext cx="1703388" cy="315913"/>
          </a:xfrm>
          <a:custGeom>
            <a:avLst/>
            <a:gdLst>
              <a:gd name="T0" fmla="*/ 1073 w 1073"/>
              <a:gd name="T1" fmla="*/ 30 h 199"/>
              <a:gd name="T2" fmla="*/ 1073 w 1073"/>
              <a:gd name="T3" fmla="*/ 26 h 199"/>
              <a:gd name="T4" fmla="*/ 1071 w 1073"/>
              <a:gd name="T5" fmla="*/ 23 h 199"/>
              <a:gd name="T6" fmla="*/ 1071 w 1073"/>
              <a:gd name="T7" fmla="*/ 18 h 199"/>
              <a:gd name="T8" fmla="*/ 1071 w 1073"/>
              <a:gd name="T9" fmla="*/ 15 h 199"/>
              <a:gd name="T10" fmla="*/ 1070 w 1073"/>
              <a:gd name="T11" fmla="*/ 11 h 199"/>
              <a:gd name="T12" fmla="*/ 1070 w 1073"/>
              <a:gd name="T13" fmla="*/ 6 h 199"/>
              <a:gd name="T14" fmla="*/ 1070 w 1073"/>
              <a:gd name="T15" fmla="*/ 3 h 199"/>
              <a:gd name="T16" fmla="*/ 1068 w 1073"/>
              <a:gd name="T17" fmla="*/ 0 h 199"/>
              <a:gd name="T18" fmla="*/ 1063 w 1073"/>
              <a:gd name="T19" fmla="*/ 0 h 199"/>
              <a:gd name="T20" fmla="*/ 1065 w 1073"/>
              <a:gd name="T21" fmla="*/ 3 h 199"/>
              <a:gd name="T22" fmla="*/ 1065 w 1073"/>
              <a:gd name="T23" fmla="*/ 8 h 199"/>
              <a:gd name="T24" fmla="*/ 1065 w 1073"/>
              <a:gd name="T25" fmla="*/ 11 h 199"/>
              <a:gd name="T26" fmla="*/ 1066 w 1073"/>
              <a:gd name="T27" fmla="*/ 16 h 199"/>
              <a:gd name="T28" fmla="*/ 1066 w 1073"/>
              <a:gd name="T29" fmla="*/ 20 h 199"/>
              <a:gd name="T30" fmla="*/ 1068 w 1073"/>
              <a:gd name="T31" fmla="*/ 25 h 199"/>
              <a:gd name="T32" fmla="*/ 1068 w 1073"/>
              <a:gd name="T33" fmla="*/ 28 h 199"/>
              <a:gd name="T34" fmla="*/ 1068 w 1073"/>
              <a:gd name="T35" fmla="*/ 31 h 199"/>
              <a:gd name="T36" fmla="*/ 1073 w 1073"/>
              <a:gd name="T37" fmla="*/ 30 h 199"/>
              <a:gd name="T38" fmla="*/ 0 w 1073"/>
              <a:gd name="T39" fmla="*/ 167 h 199"/>
              <a:gd name="T40" fmla="*/ 0 w 1073"/>
              <a:gd name="T41" fmla="*/ 170 h 199"/>
              <a:gd name="T42" fmla="*/ 0 w 1073"/>
              <a:gd name="T43" fmla="*/ 174 h 199"/>
              <a:gd name="T44" fmla="*/ 1 w 1073"/>
              <a:gd name="T45" fmla="*/ 179 h 199"/>
              <a:gd name="T46" fmla="*/ 1 w 1073"/>
              <a:gd name="T47" fmla="*/ 182 h 199"/>
              <a:gd name="T48" fmla="*/ 1 w 1073"/>
              <a:gd name="T49" fmla="*/ 187 h 199"/>
              <a:gd name="T50" fmla="*/ 3 w 1073"/>
              <a:gd name="T51" fmla="*/ 190 h 199"/>
              <a:gd name="T52" fmla="*/ 3 w 1073"/>
              <a:gd name="T53" fmla="*/ 195 h 199"/>
              <a:gd name="T54" fmla="*/ 5 w 1073"/>
              <a:gd name="T55" fmla="*/ 199 h 199"/>
              <a:gd name="T56" fmla="*/ 10 w 1073"/>
              <a:gd name="T57" fmla="*/ 199 h 199"/>
              <a:gd name="T58" fmla="*/ 8 w 1073"/>
              <a:gd name="T59" fmla="*/ 194 h 199"/>
              <a:gd name="T60" fmla="*/ 8 w 1073"/>
              <a:gd name="T61" fmla="*/ 190 h 199"/>
              <a:gd name="T62" fmla="*/ 6 w 1073"/>
              <a:gd name="T63" fmla="*/ 185 h 199"/>
              <a:gd name="T64" fmla="*/ 6 w 1073"/>
              <a:gd name="T65" fmla="*/ 182 h 199"/>
              <a:gd name="T66" fmla="*/ 5 w 1073"/>
              <a:gd name="T67" fmla="*/ 177 h 199"/>
              <a:gd name="T68" fmla="*/ 5 w 1073"/>
              <a:gd name="T69" fmla="*/ 174 h 199"/>
              <a:gd name="T70" fmla="*/ 5 w 1073"/>
              <a:gd name="T71" fmla="*/ 169 h 199"/>
              <a:gd name="T72" fmla="*/ 3 w 1073"/>
              <a:gd name="T73" fmla="*/ 164 h 199"/>
              <a:gd name="T74" fmla="*/ 0 w 1073"/>
              <a:gd name="T75" fmla="*/ 16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73" h="199">
                <a:moveTo>
                  <a:pt x="1073" y="30"/>
                </a:moveTo>
                <a:lnTo>
                  <a:pt x="1073" y="26"/>
                </a:lnTo>
                <a:lnTo>
                  <a:pt x="1071" y="23"/>
                </a:lnTo>
                <a:lnTo>
                  <a:pt x="1071" y="18"/>
                </a:lnTo>
                <a:lnTo>
                  <a:pt x="1071" y="15"/>
                </a:lnTo>
                <a:lnTo>
                  <a:pt x="1070" y="11"/>
                </a:lnTo>
                <a:lnTo>
                  <a:pt x="1070" y="6"/>
                </a:lnTo>
                <a:lnTo>
                  <a:pt x="1070" y="3"/>
                </a:lnTo>
                <a:lnTo>
                  <a:pt x="1068" y="0"/>
                </a:lnTo>
                <a:lnTo>
                  <a:pt x="1063" y="0"/>
                </a:lnTo>
                <a:lnTo>
                  <a:pt x="1065" y="3"/>
                </a:lnTo>
                <a:lnTo>
                  <a:pt x="1065" y="8"/>
                </a:lnTo>
                <a:lnTo>
                  <a:pt x="1065" y="11"/>
                </a:lnTo>
                <a:lnTo>
                  <a:pt x="1066" y="16"/>
                </a:lnTo>
                <a:lnTo>
                  <a:pt x="1066" y="20"/>
                </a:lnTo>
                <a:lnTo>
                  <a:pt x="1068" y="25"/>
                </a:lnTo>
                <a:lnTo>
                  <a:pt x="1068" y="28"/>
                </a:lnTo>
                <a:lnTo>
                  <a:pt x="1068" y="31"/>
                </a:lnTo>
                <a:lnTo>
                  <a:pt x="1073" y="30"/>
                </a:lnTo>
                <a:close/>
                <a:moveTo>
                  <a:pt x="0" y="167"/>
                </a:moveTo>
                <a:lnTo>
                  <a:pt x="0" y="170"/>
                </a:lnTo>
                <a:lnTo>
                  <a:pt x="0" y="174"/>
                </a:lnTo>
                <a:lnTo>
                  <a:pt x="1" y="179"/>
                </a:lnTo>
                <a:lnTo>
                  <a:pt x="1" y="182"/>
                </a:lnTo>
                <a:lnTo>
                  <a:pt x="1" y="187"/>
                </a:lnTo>
                <a:lnTo>
                  <a:pt x="3" y="190"/>
                </a:lnTo>
                <a:lnTo>
                  <a:pt x="3" y="195"/>
                </a:lnTo>
                <a:lnTo>
                  <a:pt x="5" y="199"/>
                </a:lnTo>
                <a:lnTo>
                  <a:pt x="10" y="199"/>
                </a:lnTo>
                <a:lnTo>
                  <a:pt x="8" y="194"/>
                </a:lnTo>
                <a:lnTo>
                  <a:pt x="8" y="190"/>
                </a:lnTo>
                <a:lnTo>
                  <a:pt x="6" y="185"/>
                </a:lnTo>
                <a:lnTo>
                  <a:pt x="6" y="182"/>
                </a:lnTo>
                <a:lnTo>
                  <a:pt x="5" y="177"/>
                </a:lnTo>
                <a:lnTo>
                  <a:pt x="5" y="174"/>
                </a:lnTo>
                <a:lnTo>
                  <a:pt x="5" y="169"/>
                </a:lnTo>
                <a:lnTo>
                  <a:pt x="3" y="164"/>
                </a:lnTo>
                <a:lnTo>
                  <a:pt x="0" y="167"/>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93" name="Freeform 998">
            <a:extLst>
              <a:ext uri="{FF2B5EF4-FFF2-40B4-BE49-F238E27FC236}">
                <a16:creationId xmlns:a16="http://schemas.microsoft.com/office/drawing/2014/main" id="{A6EE79E6-9765-1171-7243-8C33B47306D3}"/>
              </a:ext>
            </a:extLst>
          </p:cNvPr>
          <p:cNvSpPr>
            <a:spLocks noEditPoints="1"/>
          </p:cNvSpPr>
          <p:nvPr/>
        </p:nvSpPr>
        <p:spPr bwMode="auto">
          <a:xfrm>
            <a:off x="2065338" y="2403475"/>
            <a:ext cx="1698625" cy="315913"/>
          </a:xfrm>
          <a:custGeom>
            <a:avLst/>
            <a:gdLst>
              <a:gd name="T0" fmla="*/ 1070 w 1070"/>
              <a:gd name="T1" fmla="*/ 31 h 199"/>
              <a:gd name="T2" fmla="*/ 1069 w 1070"/>
              <a:gd name="T3" fmla="*/ 26 h 199"/>
              <a:gd name="T4" fmla="*/ 1069 w 1070"/>
              <a:gd name="T5" fmla="*/ 23 h 199"/>
              <a:gd name="T6" fmla="*/ 1069 w 1070"/>
              <a:gd name="T7" fmla="*/ 20 h 199"/>
              <a:gd name="T8" fmla="*/ 1067 w 1070"/>
              <a:gd name="T9" fmla="*/ 15 h 199"/>
              <a:gd name="T10" fmla="*/ 1067 w 1070"/>
              <a:gd name="T11" fmla="*/ 11 h 199"/>
              <a:gd name="T12" fmla="*/ 1065 w 1070"/>
              <a:gd name="T13" fmla="*/ 8 h 199"/>
              <a:gd name="T14" fmla="*/ 1065 w 1070"/>
              <a:gd name="T15" fmla="*/ 3 h 199"/>
              <a:gd name="T16" fmla="*/ 1065 w 1070"/>
              <a:gd name="T17" fmla="*/ 0 h 199"/>
              <a:gd name="T18" fmla="*/ 1060 w 1070"/>
              <a:gd name="T19" fmla="*/ 0 h 199"/>
              <a:gd name="T20" fmla="*/ 1060 w 1070"/>
              <a:gd name="T21" fmla="*/ 3 h 199"/>
              <a:gd name="T22" fmla="*/ 1062 w 1070"/>
              <a:gd name="T23" fmla="*/ 8 h 199"/>
              <a:gd name="T24" fmla="*/ 1062 w 1070"/>
              <a:gd name="T25" fmla="*/ 11 h 199"/>
              <a:gd name="T26" fmla="*/ 1062 w 1070"/>
              <a:gd name="T27" fmla="*/ 16 h 199"/>
              <a:gd name="T28" fmla="*/ 1064 w 1070"/>
              <a:gd name="T29" fmla="*/ 20 h 199"/>
              <a:gd name="T30" fmla="*/ 1064 w 1070"/>
              <a:gd name="T31" fmla="*/ 25 h 199"/>
              <a:gd name="T32" fmla="*/ 1065 w 1070"/>
              <a:gd name="T33" fmla="*/ 30 h 199"/>
              <a:gd name="T34" fmla="*/ 1065 w 1070"/>
              <a:gd name="T35" fmla="*/ 33 h 199"/>
              <a:gd name="T36" fmla="*/ 1070 w 1070"/>
              <a:gd name="T37" fmla="*/ 31 h 199"/>
              <a:gd name="T38" fmla="*/ 0 w 1070"/>
              <a:gd name="T39" fmla="*/ 165 h 199"/>
              <a:gd name="T40" fmla="*/ 0 w 1070"/>
              <a:gd name="T41" fmla="*/ 170 h 199"/>
              <a:gd name="T42" fmla="*/ 2 w 1070"/>
              <a:gd name="T43" fmla="*/ 174 h 199"/>
              <a:gd name="T44" fmla="*/ 2 w 1070"/>
              <a:gd name="T45" fmla="*/ 179 h 199"/>
              <a:gd name="T46" fmla="*/ 2 w 1070"/>
              <a:gd name="T47" fmla="*/ 182 h 199"/>
              <a:gd name="T48" fmla="*/ 4 w 1070"/>
              <a:gd name="T49" fmla="*/ 185 h 199"/>
              <a:gd name="T50" fmla="*/ 4 w 1070"/>
              <a:gd name="T51" fmla="*/ 190 h 199"/>
              <a:gd name="T52" fmla="*/ 5 w 1070"/>
              <a:gd name="T53" fmla="*/ 194 h 199"/>
              <a:gd name="T54" fmla="*/ 5 w 1070"/>
              <a:gd name="T55" fmla="*/ 199 h 199"/>
              <a:gd name="T56" fmla="*/ 10 w 1070"/>
              <a:gd name="T57" fmla="*/ 199 h 199"/>
              <a:gd name="T58" fmla="*/ 10 w 1070"/>
              <a:gd name="T59" fmla="*/ 194 h 199"/>
              <a:gd name="T60" fmla="*/ 9 w 1070"/>
              <a:gd name="T61" fmla="*/ 190 h 199"/>
              <a:gd name="T62" fmla="*/ 9 w 1070"/>
              <a:gd name="T63" fmla="*/ 185 h 199"/>
              <a:gd name="T64" fmla="*/ 7 w 1070"/>
              <a:gd name="T65" fmla="*/ 180 h 199"/>
              <a:gd name="T66" fmla="*/ 7 w 1070"/>
              <a:gd name="T67" fmla="*/ 177 h 199"/>
              <a:gd name="T68" fmla="*/ 5 w 1070"/>
              <a:gd name="T69" fmla="*/ 172 h 199"/>
              <a:gd name="T70" fmla="*/ 5 w 1070"/>
              <a:gd name="T71" fmla="*/ 167 h 199"/>
              <a:gd name="T72" fmla="*/ 5 w 1070"/>
              <a:gd name="T73" fmla="*/ 164 h 199"/>
              <a:gd name="T74" fmla="*/ 0 w 1070"/>
              <a:gd name="T75" fmla="*/ 16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70" h="199">
                <a:moveTo>
                  <a:pt x="1070" y="31"/>
                </a:moveTo>
                <a:lnTo>
                  <a:pt x="1069" y="26"/>
                </a:lnTo>
                <a:lnTo>
                  <a:pt x="1069" y="23"/>
                </a:lnTo>
                <a:lnTo>
                  <a:pt x="1069" y="20"/>
                </a:lnTo>
                <a:lnTo>
                  <a:pt x="1067" y="15"/>
                </a:lnTo>
                <a:lnTo>
                  <a:pt x="1067" y="11"/>
                </a:lnTo>
                <a:lnTo>
                  <a:pt x="1065" y="8"/>
                </a:lnTo>
                <a:lnTo>
                  <a:pt x="1065" y="3"/>
                </a:lnTo>
                <a:lnTo>
                  <a:pt x="1065" y="0"/>
                </a:lnTo>
                <a:lnTo>
                  <a:pt x="1060" y="0"/>
                </a:lnTo>
                <a:lnTo>
                  <a:pt x="1060" y="3"/>
                </a:lnTo>
                <a:lnTo>
                  <a:pt x="1062" y="8"/>
                </a:lnTo>
                <a:lnTo>
                  <a:pt x="1062" y="11"/>
                </a:lnTo>
                <a:lnTo>
                  <a:pt x="1062" y="16"/>
                </a:lnTo>
                <a:lnTo>
                  <a:pt x="1064" y="20"/>
                </a:lnTo>
                <a:lnTo>
                  <a:pt x="1064" y="25"/>
                </a:lnTo>
                <a:lnTo>
                  <a:pt x="1065" y="30"/>
                </a:lnTo>
                <a:lnTo>
                  <a:pt x="1065" y="33"/>
                </a:lnTo>
                <a:lnTo>
                  <a:pt x="1070" y="31"/>
                </a:lnTo>
                <a:close/>
                <a:moveTo>
                  <a:pt x="0" y="165"/>
                </a:moveTo>
                <a:lnTo>
                  <a:pt x="0" y="170"/>
                </a:lnTo>
                <a:lnTo>
                  <a:pt x="2" y="174"/>
                </a:lnTo>
                <a:lnTo>
                  <a:pt x="2" y="179"/>
                </a:lnTo>
                <a:lnTo>
                  <a:pt x="2" y="182"/>
                </a:lnTo>
                <a:lnTo>
                  <a:pt x="4" y="185"/>
                </a:lnTo>
                <a:lnTo>
                  <a:pt x="4" y="190"/>
                </a:lnTo>
                <a:lnTo>
                  <a:pt x="5" y="194"/>
                </a:lnTo>
                <a:lnTo>
                  <a:pt x="5" y="199"/>
                </a:lnTo>
                <a:lnTo>
                  <a:pt x="10" y="199"/>
                </a:lnTo>
                <a:lnTo>
                  <a:pt x="10" y="194"/>
                </a:lnTo>
                <a:lnTo>
                  <a:pt x="9" y="190"/>
                </a:lnTo>
                <a:lnTo>
                  <a:pt x="9" y="185"/>
                </a:lnTo>
                <a:lnTo>
                  <a:pt x="7" y="180"/>
                </a:lnTo>
                <a:lnTo>
                  <a:pt x="7" y="177"/>
                </a:lnTo>
                <a:lnTo>
                  <a:pt x="5" y="172"/>
                </a:lnTo>
                <a:lnTo>
                  <a:pt x="5" y="167"/>
                </a:lnTo>
                <a:lnTo>
                  <a:pt x="5" y="164"/>
                </a:lnTo>
                <a:lnTo>
                  <a:pt x="0" y="165"/>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94" name="Freeform 999">
            <a:extLst>
              <a:ext uri="{FF2B5EF4-FFF2-40B4-BE49-F238E27FC236}">
                <a16:creationId xmlns:a16="http://schemas.microsoft.com/office/drawing/2014/main" id="{0D1D2283-5EB8-D9F5-BD7C-87995C47EB50}"/>
              </a:ext>
            </a:extLst>
          </p:cNvPr>
          <p:cNvSpPr>
            <a:spLocks noEditPoints="1"/>
          </p:cNvSpPr>
          <p:nvPr/>
        </p:nvSpPr>
        <p:spPr bwMode="auto">
          <a:xfrm>
            <a:off x="2068513" y="2403475"/>
            <a:ext cx="1690688" cy="315913"/>
          </a:xfrm>
          <a:custGeom>
            <a:avLst/>
            <a:gdLst>
              <a:gd name="T0" fmla="*/ 1065 w 1065"/>
              <a:gd name="T1" fmla="*/ 31 h 199"/>
              <a:gd name="T2" fmla="*/ 1065 w 1065"/>
              <a:gd name="T3" fmla="*/ 28 h 199"/>
              <a:gd name="T4" fmla="*/ 1065 w 1065"/>
              <a:gd name="T5" fmla="*/ 25 h 199"/>
              <a:gd name="T6" fmla="*/ 1063 w 1065"/>
              <a:gd name="T7" fmla="*/ 20 h 199"/>
              <a:gd name="T8" fmla="*/ 1063 w 1065"/>
              <a:gd name="T9" fmla="*/ 16 h 199"/>
              <a:gd name="T10" fmla="*/ 1062 w 1065"/>
              <a:gd name="T11" fmla="*/ 11 h 199"/>
              <a:gd name="T12" fmla="*/ 1062 w 1065"/>
              <a:gd name="T13" fmla="*/ 8 h 199"/>
              <a:gd name="T14" fmla="*/ 1062 w 1065"/>
              <a:gd name="T15" fmla="*/ 3 h 199"/>
              <a:gd name="T16" fmla="*/ 1060 w 1065"/>
              <a:gd name="T17" fmla="*/ 0 h 199"/>
              <a:gd name="T18" fmla="*/ 1055 w 1065"/>
              <a:gd name="T19" fmla="*/ 0 h 199"/>
              <a:gd name="T20" fmla="*/ 1057 w 1065"/>
              <a:gd name="T21" fmla="*/ 3 h 199"/>
              <a:gd name="T22" fmla="*/ 1057 w 1065"/>
              <a:gd name="T23" fmla="*/ 8 h 199"/>
              <a:gd name="T24" fmla="*/ 1058 w 1065"/>
              <a:gd name="T25" fmla="*/ 13 h 199"/>
              <a:gd name="T26" fmla="*/ 1058 w 1065"/>
              <a:gd name="T27" fmla="*/ 16 h 199"/>
              <a:gd name="T28" fmla="*/ 1058 w 1065"/>
              <a:gd name="T29" fmla="*/ 21 h 199"/>
              <a:gd name="T30" fmla="*/ 1060 w 1065"/>
              <a:gd name="T31" fmla="*/ 25 h 199"/>
              <a:gd name="T32" fmla="*/ 1060 w 1065"/>
              <a:gd name="T33" fmla="*/ 30 h 199"/>
              <a:gd name="T34" fmla="*/ 1060 w 1065"/>
              <a:gd name="T35" fmla="*/ 35 h 199"/>
              <a:gd name="T36" fmla="*/ 1065 w 1065"/>
              <a:gd name="T37" fmla="*/ 31 h 199"/>
              <a:gd name="T38" fmla="*/ 0 w 1065"/>
              <a:gd name="T39" fmla="*/ 164 h 199"/>
              <a:gd name="T40" fmla="*/ 2 w 1065"/>
              <a:gd name="T41" fmla="*/ 169 h 199"/>
              <a:gd name="T42" fmla="*/ 2 w 1065"/>
              <a:gd name="T43" fmla="*/ 174 h 199"/>
              <a:gd name="T44" fmla="*/ 2 w 1065"/>
              <a:gd name="T45" fmla="*/ 177 h 199"/>
              <a:gd name="T46" fmla="*/ 3 w 1065"/>
              <a:gd name="T47" fmla="*/ 182 h 199"/>
              <a:gd name="T48" fmla="*/ 3 w 1065"/>
              <a:gd name="T49" fmla="*/ 185 h 199"/>
              <a:gd name="T50" fmla="*/ 5 w 1065"/>
              <a:gd name="T51" fmla="*/ 190 h 199"/>
              <a:gd name="T52" fmla="*/ 5 w 1065"/>
              <a:gd name="T53" fmla="*/ 194 h 199"/>
              <a:gd name="T54" fmla="*/ 7 w 1065"/>
              <a:gd name="T55" fmla="*/ 199 h 199"/>
              <a:gd name="T56" fmla="*/ 10 w 1065"/>
              <a:gd name="T57" fmla="*/ 199 h 199"/>
              <a:gd name="T58" fmla="*/ 10 w 1065"/>
              <a:gd name="T59" fmla="*/ 194 h 199"/>
              <a:gd name="T60" fmla="*/ 8 w 1065"/>
              <a:gd name="T61" fmla="*/ 189 h 199"/>
              <a:gd name="T62" fmla="*/ 8 w 1065"/>
              <a:gd name="T63" fmla="*/ 185 h 199"/>
              <a:gd name="T64" fmla="*/ 8 w 1065"/>
              <a:gd name="T65" fmla="*/ 180 h 199"/>
              <a:gd name="T66" fmla="*/ 7 w 1065"/>
              <a:gd name="T67" fmla="*/ 175 h 199"/>
              <a:gd name="T68" fmla="*/ 7 w 1065"/>
              <a:gd name="T69" fmla="*/ 172 h 199"/>
              <a:gd name="T70" fmla="*/ 5 w 1065"/>
              <a:gd name="T71" fmla="*/ 167 h 199"/>
              <a:gd name="T72" fmla="*/ 5 w 1065"/>
              <a:gd name="T73" fmla="*/ 162 h 199"/>
              <a:gd name="T74" fmla="*/ 0 w 1065"/>
              <a:gd name="T75" fmla="*/ 16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65" h="199">
                <a:moveTo>
                  <a:pt x="1065" y="31"/>
                </a:moveTo>
                <a:lnTo>
                  <a:pt x="1065" y="28"/>
                </a:lnTo>
                <a:lnTo>
                  <a:pt x="1065" y="25"/>
                </a:lnTo>
                <a:lnTo>
                  <a:pt x="1063" y="20"/>
                </a:lnTo>
                <a:lnTo>
                  <a:pt x="1063" y="16"/>
                </a:lnTo>
                <a:lnTo>
                  <a:pt x="1062" y="11"/>
                </a:lnTo>
                <a:lnTo>
                  <a:pt x="1062" y="8"/>
                </a:lnTo>
                <a:lnTo>
                  <a:pt x="1062" y="3"/>
                </a:lnTo>
                <a:lnTo>
                  <a:pt x="1060" y="0"/>
                </a:lnTo>
                <a:lnTo>
                  <a:pt x="1055" y="0"/>
                </a:lnTo>
                <a:lnTo>
                  <a:pt x="1057" y="3"/>
                </a:lnTo>
                <a:lnTo>
                  <a:pt x="1057" y="8"/>
                </a:lnTo>
                <a:lnTo>
                  <a:pt x="1058" y="13"/>
                </a:lnTo>
                <a:lnTo>
                  <a:pt x="1058" y="16"/>
                </a:lnTo>
                <a:lnTo>
                  <a:pt x="1058" y="21"/>
                </a:lnTo>
                <a:lnTo>
                  <a:pt x="1060" y="25"/>
                </a:lnTo>
                <a:lnTo>
                  <a:pt x="1060" y="30"/>
                </a:lnTo>
                <a:lnTo>
                  <a:pt x="1060" y="35"/>
                </a:lnTo>
                <a:lnTo>
                  <a:pt x="1065" y="31"/>
                </a:lnTo>
                <a:close/>
                <a:moveTo>
                  <a:pt x="0" y="164"/>
                </a:moveTo>
                <a:lnTo>
                  <a:pt x="2" y="169"/>
                </a:lnTo>
                <a:lnTo>
                  <a:pt x="2" y="174"/>
                </a:lnTo>
                <a:lnTo>
                  <a:pt x="2" y="177"/>
                </a:lnTo>
                <a:lnTo>
                  <a:pt x="3" y="182"/>
                </a:lnTo>
                <a:lnTo>
                  <a:pt x="3" y="185"/>
                </a:lnTo>
                <a:lnTo>
                  <a:pt x="5" y="190"/>
                </a:lnTo>
                <a:lnTo>
                  <a:pt x="5" y="194"/>
                </a:lnTo>
                <a:lnTo>
                  <a:pt x="7" y="199"/>
                </a:lnTo>
                <a:lnTo>
                  <a:pt x="10" y="199"/>
                </a:lnTo>
                <a:lnTo>
                  <a:pt x="10" y="194"/>
                </a:lnTo>
                <a:lnTo>
                  <a:pt x="8" y="189"/>
                </a:lnTo>
                <a:lnTo>
                  <a:pt x="8" y="185"/>
                </a:lnTo>
                <a:lnTo>
                  <a:pt x="8" y="180"/>
                </a:lnTo>
                <a:lnTo>
                  <a:pt x="7" y="175"/>
                </a:lnTo>
                <a:lnTo>
                  <a:pt x="7" y="172"/>
                </a:lnTo>
                <a:lnTo>
                  <a:pt x="5" y="167"/>
                </a:lnTo>
                <a:lnTo>
                  <a:pt x="5" y="162"/>
                </a:lnTo>
                <a:lnTo>
                  <a:pt x="0" y="164"/>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95" name="Freeform 1000">
            <a:extLst>
              <a:ext uri="{FF2B5EF4-FFF2-40B4-BE49-F238E27FC236}">
                <a16:creationId xmlns:a16="http://schemas.microsoft.com/office/drawing/2014/main" id="{B40FDDEB-F435-FF58-BAD7-D3DA65EAA3E4}"/>
              </a:ext>
            </a:extLst>
          </p:cNvPr>
          <p:cNvSpPr>
            <a:spLocks noEditPoints="1"/>
          </p:cNvSpPr>
          <p:nvPr/>
        </p:nvSpPr>
        <p:spPr bwMode="auto">
          <a:xfrm>
            <a:off x="2073275" y="2403475"/>
            <a:ext cx="1682750" cy="315913"/>
          </a:xfrm>
          <a:custGeom>
            <a:avLst/>
            <a:gdLst>
              <a:gd name="T0" fmla="*/ 1060 w 1060"/>
              <a:gd name="T1" fmla="*/ 33 h 199"/>
              <a:gd name="T2" fmla="*/ 1060 w 1060"/>
              <a:gd name="T3" fmla="*/ 30 h 199"/>
              <a:gd name="T4" fmla="*/ 1059 w 1060"/>
              <a:gd name="T5" fmla="*/ 25 h 199"/>
              <a:gd name="T6" fmla="*/ 1059 w 1060"/>
              <a:gd name="T7" fmla="*/ 20 h 199"/>
              <a:gd name="T8" fmla="*/ 1057 w 1060"/>
              <a:gd name="T9" fmla="*/ 16 h 199"/>
              <a:gd name="T10" fmla="*/ 1057 w 1060"/>
              <a:gd name="T11" fmla="*/ 11 h 199"/>
              <a:gd name="T12" fmla="*/ 1057 w 1060"/>
              <a:gd name="T13" fmla="*/ 8 h 199"/>
              <a:gd name="T14" fmla="*/ 1055 w 1060"/>
              <a:gd name="T15" fmla="*/ 3 h 199"/>
              <a:gd name="T16" fmla="*/ 1055 w 1060"/>
              <a:gd name="T17" fmla="*/ 0 h 199"/>
              <a:gd name="T18" fmla="*/ 1050 w 1060"/>
              <a:gd name="T19" fmla="*/ 0 h 199"/>
              <a:gd name="T20" fmla="*/ 1050 w 1060"/>
              <a:gd name="T21" fmla="*/ 5 h 199"/>
              <a:gd name="T22" fmla="*/ 1052 w 1060"/>
              <a:gd name="T23" fmla="*/ 8 h 199"/>
              <a:gd name="T24" fmla="*/ 1052 w 1060"/>
              <a:gd name="T25" fmla="*/ 13 h 199"/>
              <a:gd name="T26" fmla="*/ 1054 w 1060"/>
              <a:gd name="T27" fmla="*/ 18 h 199"/>
              <a:gd name="T28" fmla="*/ 1054 w 1060"/>
              <a:gd name="T29" fmla="*/ 21 h 199"/>
              <a:gd name="T30" fmla="*/ 1054 w 1060"/>
              <a:gd name="T31" fmla="*/ 26 h 199"/>
              <a:gd name="T32" fmla="*/ 1055 w 1060"/>
              <a:gd name="T33" fmla="*/ 31 h 199"/>
              <a:gd name="T34" fmla="*/ 1055 w 1060"/>
              <a:gd name="T35" fmla="*/ 35 h 199"/>
              <a:gd name="T36" fmla="*/ 1060 w 1060"/>
              <a:gd name="T37" fmla="*/ 33 h 199"/>
              <a:gd name="T38" fmla="*/ 0 w 1060"/>
              <a:gd name="T39" fmla="*/ 164 h 199"/>
              <a:gd name="T40" fmla="*/ 0 w 1060"/>
              <a:gd name="T41" fmla="*/ 167 h 199"/>
              <a:gd name="T42" fmla="*/ 0 w 1060"/>
              <a:gd name="T43" fmla="*/ 172 h 199"/>
              <a:gd name="T44" fmla="*/ 2 w 1060"/>
              <a:gd name="T45" fmla="*/ 177 h 199"/>
              <a:gd name="T46" fmla="*/ 2 w 1060"/>
              <a:gd name="T47" fmla="*/ 180 h 199"/>
              <a:gd name="T48" fmla="*/ 4 w 1060"/>
              <a:gd name="T49" fmla="*/ 185 h 199"/>
              <a:gd name="T50" fmla="*/ 4 w 1060"/>
              <a:gd name="T51" fmla="*/ 190 h 199"/>
              <a:gd name="T52" fmla="*/ 5 w 1060"/>
              <a:gd name="T53" fmla="*/ 194 h 199"/>
              <a:gd name="T54" fmla="*/ 5 w 1060"/>
              <a:gd name="T55" fmla="*/ 199 h 199"/>
              <a:gd name="T56" fmla="*/ 10 w 1060"/>
              <a:gd name="T57" fmla="*/ 199 h 199"/>
              <a:gd name="T58" fmla="*/ 9 w 1060"/>
              <a:gd name="T59" fmla="*/ 194 h 199"/>
              <a:gd name="T60" fmla="*/ 9 w 1060"/>
              <a:gd name="T61" fmla="*/ 189 h 199"/>
              <a:gd name="T62" fmla="*/ 7 w 1060"/>
              <a:gd name="T63" fmla="*/ 185 h 199"/>
              <a:gd name="T64" fmla="*/ 7 w 1060"/>
              <a:gd name="T65" fmla="*/ 180 h 199"/>
              <a:gd name="T66" fmla="*/ 7 w 1060"/>
              <a:gd name="T67" fmla="*/ 175 h 199"/>
              <a:gd name="T68" fmla="*/ 5 w 1060"/>
              <a:gd name="T69" fmla="*/ 170 h 199"/>
              <a:gd name="T70" fmla="*/ 5 w 1060"/>
              <a:gd name="T71" fmla="*/ 165 h 199"/>
              <a:gd name="T72" fmla="*/ 4 w 1060"/>
              <a:gd name="T73" fmla="*/ 160 h 199"/>
              <a:gd name="T74" fmla="*/ 0 w 1060"/>
              <a:gd name="T75" fmla="*/ 16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60" h="199">
                <a:moveTo>
                  <a:pt x="1060" y="33"/>
                </a:moveTo>
                <a:lnTo>
                  <a:pt x="1060" y="30"/>
                </a:lnTo>
                <a:lnTo>
                  <a:pt x="1059" y="25"/>
                </a:lnTo>
                <a:lnTo>
                  <a:pt x="1059" y="20"/>
                </a:lnTo>
                <a:lnTo>
                  <a:pt x="1057" y="16"/>
                </a:lnTo>
                <a:lnTo>
                  <a:pt x="1057" y="11"/>
                </a:lnTo>
                <a:lnTo>
                  <a:pt x="1057" y="8"/>
                </a:lnTo>
                <a:lnTo>
                  <a:pt x="1055" y="3"/>
                </a:lnTo>
                <a:lnTo>
                  <a:pt x="1055" y="0"/>
                </a:lnTo>
                <a:lnTo>
                  <a:pt x="1050" y="0"/>
                </a:lnTo>
                <a:lnTo>
                  <a:pt x="1050" y="5"/>
                </a:lnTo>
                <a:lnTo>
                  <a:pt x="1052" y="8"/>
                </a:lnTo>
                <a:lnTo>
                  <a:pt x="1052" y="13"/>
                </a:lnTo>
                <a:lnTo>
                  <a:pt x="1054" y="18"/>
                </a:lnTo>
                <a:lnTo>
                  <a:pt x="1054" y="21"/>
                </a:lnTo>
                <a:lnTo>
                  <a:pt x="1054" y="26"/>
                </a:lnTo>
                <a:lnTo>
                  <a:pt x="1055" y="31"/>
                </a:lnTo>
                <a:lnTo>
                  <a:pt x="1055" y="35"/>
                </a:lnTo>
                <a:lnTo>
                  <a:pt x="1060" y="33"/>
                </a:lnTo>
                <a:close/>
                <a:moveTo>
                  <a:pt x="0" y="164"/>
                </a:moveTo>
                <a:lnTo>
                  <a:pt x="0" y="167"/>
                </a:lnTo>
                <a:lnTo>
                  <a:pt x="0" y="172"/>
                </a:lnTo>
                <a:lnTo>
                  <a:pt x="2" y="177"/>
                </a:lnTo>
                <a:lnTo>
                  <a:pt x="2" y="180"/>
                </a:lnTo>
                <a:lnTo>
                  <a:pt x="4" y="185"/>
                </a:lnTo>
                <a:lnTo>
                  <a:pt x="4" y="190"/>
                </a:lnTo>
                <a:lnTo>
                  <a:pt x="5" y="194"/>
                </a:lnTo>
                <a:lnTo>
                  <a:pt x="5" y="199"/>
                </a:lnTo>
                <a:lnTo>
                  <a:pt x="10" y="199"/>
                </a:lnTo>
                <a:lnTo>
                  <a:pt x="9" y="194"/>
                </a:lnTo>
                <a:lnTo>
                  <a:pt x="9" y="189"/>
                </a:lnTo>
                <a:lnTo>
                  <a:pt x="7" y="185"/>
                </a:lnTo>
                <a:lnTo>
                  <a:pt x="7" y="180"/>
                </a:lnTo>
                <a:lnTo>
                  <a:pt x="7" y="175"/>
                </a:lnTo>
                <a:lnTo>
                  <a:pt x="5" y="170"/>
                </a:lnTo>
                <a:lnTo>
                  <a:pt x="5" y="165"/>
                </a:lnTo>
                <a:lnTo>
                  <a:pt x="4" y="160"/>
                </a:lnTo>
                <a:lnTo>
                  <a:pt x="0" y="164"/>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96" name="Freeform 1001">
            <a:extLst>
              <a:ext uri="{FF2B5EF4-FFF2-40B4-BE49-F238E27FC236}">
                <a16:creationId xmlns:a16="http://schemas.microsoft.com/office/drawing/2014/main" id="{E7CB464A-8A33-06AD-759C-4FFA383CDB63}"/>
              </a:ext>
            </a:extLst>
          </p:cNvPr>
          <p:cNvSpPr>
            <a:spLocks noEditPoints="1"/>
          </p:cNvSpPr>
          <p:nvPr/>
        </p:nvSpPr>
        <p:spPr bwMode="auto">
          <a:xfrm>
            <a:off x="2076450" y="2403475"/>
            <a:ext cx="1674813" cy="315913"/>
          </a:xfrm>
          <a:custGeom>
            <a:avLst/>
            <a:gdLst>
              <a:gd name="T0" fmla="*/ 1055 w 1055"/>
              <a:gd name="T1" fmla="*/ 35 h 199"/>
              <a:gd name="T2" fmla="*/ 1055 w 1055"/>
              <a:gd name="T3" fmla="*/ 30 h 199"/>
              <a:gd name="T4" fmla="*/ 1055 w 1055"/>
              <a:gd name="T5" fmla="*/ 25 h 199"/>
              <a:gd name="T6" fmla="*/ 1053 w 1055"/>
              <a:gd name="T7" fmla="*/ 21 h 199"/>
              <a:gd name="T8" fmla="*/ 1053 w 1055"/>
              <a:gd name="T9" fmla="*/ 16 h 199"/>
              <a:gd name="T10" fmla="*/ 1053 w 1055"/>
              <a:gd name="T11" fmla="*/ 13 h 199"/>
              <a:gd name="T12" fmla="*/ 1052 w 1055"/>
              <a:gd name="T13" fmla="*/ 8 h 199"/>
              <a:gd name="T14" fmla="*/ 1052 w 1055"/>
              <a:gd name="T15" fmla="*/ 3 h 199"/>
              <a:gd name="T16" fmla="*/ 1050 w 1055"/>
              <a:gd name="T17" fmla="*/ 0 h 199"/>
              <a:gd name="T18" fmla="*/ 1045 w 1055"/>
              <a:gd name="T19" fmla="*/ 0 h 199"/>
              <a:gd name="T20" fmla="*/ 1047 w 1055"/>
              <a:gd name="T21" fmla="*/ 5 h 199"/>
              <a:gd name="T22" fmla="*/ 1047 w 1055"/>
              <a:gd name="T23" fmla="*/ 8 h 199"/>
              <a:gd name="T24" fmla="*/ 1048 w 1055"/>
              <a:gd name="T25" fmla="*/ 13 h 199"/>
              <a:gd name="T26" fmla="*/ 1048 w 1055"/>
              <a:gd name="T27" fmla="*/ 18 h 199"/>
              <a:gd name="T28" fmla="*/ 1050 w 1055"/>
              <a:gd name="T29" fmla="*/ 23 h 199"/>
              <a:gd name="T30" fmla="*/ 1050 w 1055"/>
              <a:gd name="T31" fmla="*/ 26 h 199"/>
              <a:gd name="T32" fmla="*/ 1050 w 1055"/>
              <a:gd name="T33" fmla="*/ 31 h 199"/>
              <a:gd name="T34" fmla="*/ 1052 w 1055"/>
              <a:gd name="T35" fmla="*/ 36 h 199"/>
              <a:gd name="T36" fmla="*/ 1055 w 1055"/>
              <a:gd name="T37" fmla="*/ 35 h 199"/>
              <a:gd name="T38" fmla="*/ 0 w 1055"/>
              <a:gd name="T39" fmla="*/ 162 h 199"/>
              <a:gd name="T40" fmla="*/ 0 w 1055"/>
              <a:gd name="T41" fmla="*/ 167 h 199"/>
              <a:gd name="T42" fmla="*/ 2 w 1055"/>
              <a:gd name="T43" fmla="*/ 172 h 199"/>
              <a:gd name="T44" fmla="*/ 2 w 1055"/>
              <a:gd name="T45" fmla="*/ 175 h 199"/>
              <a:gd name="T46" fmla="*/ 3 w 1055"/>
              <a:gd name="T47" fmla="*/ 180 h 199"/>
              <a:gd name="T48" fmla="*/ 3 w 1055"/>
              <a:gd name="T49" fmla="*/ 185 h 199"/>
              <a:gd name="T50" fmla="*/ 3 w 1055"/>
              <a:gd name="T51" fmla="*/ 189 h 199"/>
              <a:gd name="T52" fmla="*/ 5 w 1055"/>
              <a:gd name="T53" fmla="*/ 194 h 199"/>
              <a:gd name="T54" fmla="*/ 5 w 1055"/>
              <a:gd name="T55" fmla="*/ 199 h 199"/>
              <a:gd name="T56" fmla="*/ 10 w 1055"/>
              <a:gd name="T57" fmla="*/ 199 h 199"/>
              <a:gd name="T58" fmla="*/ 10 w 1055"/>
              <a:gd name="T59" fmla="*/ 194 h 199"/>
              <a:gd name="T60" fmla="*/ 8 w 1055"/>
              <a:gd name="T61" fmla="*/ 189 h 199"/>
              <a:gd name="T62" fmla="*/ 8 w 1055"/>
              <a:gd name="T63" fmla="*/ 184 h 199"/>
              <a:gd name="T64" fmla="*/ 7 w 1055"/>
              <a:gd name="T65" fmla="*/ 179 h 199"/>
              <a:gd name="T66" fmla="*/ 7 w 1055"/>
              <a:gd name="T67" fmla="*/ 174 h 199"/>
              <a:gd name="T68" fmla="*/ 7 w 1055"/>
              <a:gd name="T69" fmla="*/ 170 h 199"/>
              <a:gd name="T70" fmla="*/ 5 w 1055"/>
              <a:gd name="T71" fmla="*/ 165 h 199"/>
              <a:gd name="T72" fmla="*/ 5 w 1055"/>
              <a:gd name="T73" fmla="*/ 160 h 199"/>
              <a:gd name="T74" fmla="*/ 0 w 1055"/>
              <a:gd name="T75" fmla="*/ 16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55" h="199">
                <a:moveTo>
                  <a:pt x="1055" y="35"/>
                </a:moveTo>
                <a:lnTo>
                  <a:pt x="1055" y="30"/>
                </a:lnTo>
                <a:lnTo>
                  <a:pt x="1055" y="25"/>
                </a:lnTo>
                <a:lnTo>
                  <a:pt x="1053" y="21"/>
                </a:lnTo>
                <a:lnTo>
                  <a:pt x="1053" y="16"/>
                </a:lnTo>
                <a:lnTo>
                  <a:pt x="1053" y="13"/>
                </a:lnTo>
                <a:lnTo>
                  <a:pt x="1052" y="8"/>
                </a:lnTo>
                <a:lnTo>
                  <a:pt x="1052" y="3"/>
                </a:lnTo>
                <a:lnTo>
                  <a:pt x="1050" y="0"/>
                </a:lnTo>
                <a:lnTo>
                  <a:pt x="1045" y="0"/>
                </a:lnTo>
                <a:lnTo>
                  <a:pt x="1047" y="5"/>
                </a:lnTo>
                <a:lnTo>
                  <a:pt x="1047" y="8"/>
                </a:lnTo>
                <a:lnTo>
                  <a:pt x="1048" y="13"/>
                </a:lnTo>
                <a:lnTo>
                  <a:pt x="1048" y="18"/>
                </a:lnTo>
                <a:lnTo>
                  <a:pt x="1050" y="23"/>
                </a:lnTo>
                <a:lnTo>
                  <a:pt x="1050" y="26"/>
                </a:lnTo>
                <a:lnTo>
                  <a:pt x="1050" y="31"/>
                </a:lnTo>
                <a:lnTo>
                  <a:pt x="1052" y="36"/>
                </a:lnTo>
                <a:lnTo>
                  <a:pt x="1055" y="35"/>
                </a:lnTo>
                <a:close/>
                <a:moveTo>
                  <a:pt x="0" y="162"/>
                </a:moveTo>
                <a:lnTo>
                  <a:pt x="0" y="167"/>
                </a:lnTo>
                <a:lnTo>
                  <a:pt x="2" y="172"/>
                </a:lnTo>
                <a:lnTo>
                  <a:pt x="2" y="175"/>
                </a:lnTo>
                <a:lnTo>
                  <a:pt x="3" y="180"/>
                </a:lnTo>
                <a:lnTo>
                  <a:pt x="3" y="185"/>
                </a:lnTo>
                <a:lnTo>
                  <a:pt x="3" y="189"/>
                </a:lnTo>
                <a:lnTo>
                  <a:pt x="5" y="194"/>
                </a:lnTo>
                <a:lnTo>
                  <a:pt x="5" y="199"/>
                </a:lnTo>
                <a:lnTo>
                  <a:pt x="10" y="199"/>
                </a:lnTo>
                <a:lnTo>
                  <a:pt x="10" y="194"/>
                </a:lnTo>
                <a:lnTo>
                  <a:pt x="8" y="189"/>
                </a:lnTo>
                <a:lnTo>
                  <a:pt x="8" y="184"/>
                </a:lnTo>
                <a:lnTo>
                  <a:pt x="7" y="179"/>
                </a:lnTo>
                <a:lnTo>
                  <a:pt x="7" y="174"/>
                </a:lnTo>
                <a:lnTo>
                  <a:pt x="7" y="170"/>
                </a:lnTo>
                <a:lnTo>
                  <a:pt x="5" y="165"/>
                </a:lnTo>
                <a:lnTo>
                  <a:pt x="5" y="160"/>
                </a:lnTo>
                <a:lnTo>
                  <a:pt x="0" y="162"/>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97" name="Freeform 1002">
            <a:extLst>
              <a:ext uri="{FF2B5EF4-FFF2-40B4-BE49-F238E27FC236}">
                <a16:creationId xmlns:a16="http://schemas.microsoft.com/office/drawing/2014/main" id="{9065A64B-7773-AB2F-315A-163302A0A6E6}"/>
              </a:ext>
            </a:extLst>
          </p:cNvPr>
          <p:cNvSpPr>
            <a:spLocks noEditPoints="1"/>
          </p:cNvSpPr>
          <p:nvPr/>
        </p:nvSpPr>
        <p:spPr bwMode="auto">
          <a:xfrm>
            <a:off x="2079625" y="2403475"/>
            <a:ext cx="1668463" cy="315913"/>
          </a:xfrm>
          <a:custGeom>
            <a:avLst/>
            <a:gdLst>
              <a:gd name="T0" fmla="*/ 1051 w 1051"/>
              <a:gd name="T1" fmla="*/ 35 h 199"/>
              <a:gd name="T2" fmla="*/ 1051 w 1051"/>
              <a:gd name="T3" fmla="*/ 31 h 199"/>
              <a:gd name="T4" fmla="*/ 1050 w 1051"/>
              <a:gd name="T5" fmla="*/ 26 h 199"/>
              <a:gd name="T6" fmla="*/ 1050 w 1051"/>
              <a:gd name="T7" fmla="*/ 21 h 199"/>
              <a:gd name="T8" fmla="*/ 1050 w 1051"/>
              <a:gd name="T9" fmla="*/ 18 h 199"/>
              <a:gd name="T10" fmla="*/ 1048 w 1051"/>
              <a:gd name="T11" fmla="*/ 13 h 199"/>
              <a:gd name="T12" fmla="*/ 1048 w 1051"/>
              <a:gd name="T13" fmla="*/ 8 h 199"/>
              <a:gd name="T14" fmla="*/ 1046 w 1051"/>
              <a:gd name="T15" fmla="*/ 5 h 199"/>
              <a:gd name="T16" fmla="*/ 1046 w 1051"/>
              <a:gd name="T17" fmla="*/ 0 h 199"/>
              <a:gd name="T18" fmla="*/ 1041 w 1051"/>
              <a:gd name="T19" fmla="*/ 0 h 199"/>
              <a:gd name="T20" fmla="*/ 1041 w 1051"/>
              <a:gd name="T21" fmla="*/ 5 h 199"/>
              <a:gd name="T22" fmla="*/ 1043 w 1051"/>
              <a:gd name="T23" fmla="*/ 8 h 199"/>
              <a:gd name="T24" fmla="*/ 1043 w 1051"/>
              <a:gd name="T25" fmla="*/ 13 h 199"/>
              <a:gd name="T26" fmla="*/ 1045 w 1051"/>
              <a:gd name="T27" fmla="*/ 18 h 199"/>
              <a:gd name="T28" fmla="*/ 1045 w 1051"/>
              <a:gd name="T29" fmla="*/ 23 h 199"/>
              <a:gd name="T30" fmla="*/ 1046 w 1051"/>
              <a:gd name="T31" fmla="*/ 28 h 199"/>
              <a:gd name="T32" fmla="*/ 1046 w 1051"/>
              <a:gd name="T33" fmla="*/ 33 h 199"/>
              <a:gd name="T34" fmla="*/ 1046 w 1051"/>
              <a:gd name="T35" fmla="*/ 38 h 199"/>
              <a:gd name="T36" fmla="*/ 1051 w 1051"/>
              <a:gd name="T37" fmla="*/ 35 h 199"/>
              <a:gd name="T38" fmla="*/ 0 w 1051"/>
              <a:gd name="T39" fmla="*/ 160 h 199"/>
              <a:gd name="T40" fmla="*/ 1 w 1051"/>
              <a:gd name="T41" fmla="*/ 165 h 199"/>
              <a:gd name="T42" fmla="*/ 1 w 1051"/>
              <a:gd name="T43" fmla="*/ 170 h 199"/>
              <a:gd name="T44" fmla="*/ 3 w 1051"/>
              <a:gd name="T45" fmla="*/ 175 h 199"/>
              <a:gd name="T46" fmla="*/ 3 w 1051"/>
              <a:gd name="T47" fmla="*/ 180 h 199"/>
              <a:gd name="T48" fmla="*/ 3 w 1051"/>
              <a:gd name="T49" fmla="*/ 185 h 199"/>
              <a:gd name="T50" fmla="*/ 5 w 1051"/>
              <a:gd name="T51" fmla="*/ 189 h 199"/>
              <a:gd name="T52" fmla="*/ 5 w 1051"/>
              <a:gd name="T53" fmla="*/ 194 h 199"/>
              <a:gd name="T54" fmla="*/ 6 w 1051"/>
              <a:gd name="T55" fmla="*/ 199 h 199"/>
              <a:gd name="T56" fmla="*/ 11 w 1051"/>
              <a:gd name="T57" fmla="*/ 199 h 199"/>
              <a:gd name="T58" fmla="*/ 10 w 1051"/>
              <a:gd name="T59" fmla="*/ 194 h 199"/>
              <a:gd name="T60" fmla="*/ 10 w 1051"/>
              <a:gd name="T61" fmla="*/ 189 h 199"/>
              <a:gd name="T62" fmla="*/ 8 w 1051"/>
              <a:gd name="T63" fmla="*/ 184 h 199"/>
              <a:gd name="T64" fmla="*/ 8 w 1051"/>
              <a:gd name="T65" fmla="*/ 179 h 199"/>
              <a:gd name="T66" fmla="*/ 6 w 1051"/>
              <a:gd name="T67" fmla="*/ 174 h 199"/>
              <a:gd name="T68" fmla="*/ 6 w 1051"/>
              <a:gd name="T69" fmla="*/ 169 h 199"/>
              <a:gd name="T70" fmla="*/ 6 w 1051"/>
              <a:gd name="T71" fmla="*/ 164 h 199"/>
              <a:gd name="T72" fmla="*/ 5 w 1051"/>
              <a:gd name="T73" fmla="*/ 159 h 199"/>
              <a:gd name="T74" fmla="*/ 0 w 1051"/>
              <a:gd name="T75" fmla="*/ 16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51" h="199">
                <a:moveTo>
                  <a:pt x="1051" y="35"/>
                </a:moveTo>
                <a:lnTo>
                  <a:pt x="1051" y="31"/>
                </a:lnTo>
                <a:lnTo>
                  <a:pt x="1050" y="26"/>
                </a:lnTo>
                <a:lnTo>
                  <a:pt x="1050" y="21"/>
                </a:lnTo>
                <a:lnTo>
                  <a:pt x="1050" y="18"/>
                </a:lnTo>
                <a:lnTo>
                  <a:pt x="1048" y="13"/>
                </a:lnTo>
                <a:lnTo>
                  <a:pt x="1048" y="8"/>
                </a:lnTo>
                <a:lnTo>
                  <a:pt x="1046" y="5"/>
                </a:lnTo>
                <a:lnTo>
                  <a:pt x="1046" y="0"/>
                </a:lnTo>
                <a:lnTo>
                  <a:pt x="1041" y="0"/>
                </a:lnTo>
                <a:lnTo>
                  <a:pt x="1041" y="5"/>
                </a:lnTo>
                <a:lnTo>
                  <a:pt x="1043" y="8"/>
                </a:lnTo>
                <a:lnTo>
                  <a:pt x="1043" y="13"/>
                </a:lnTo>
                <a:lnTo>
                  <a:pt x="1045" y="18"/>
                </a:lnTo>
                <a:lnTo>
                  <a:pt x="1045" y="23"/>
                </a:lnTo>
                <a:lnTo>
                  <a:pt x="1046" y="28"/>
                </a:lnTo>
                <a:lnTo>
                  <a:pt x="1046" y="33"/>
                </a:lnTo>
                <a:lnTo>
                  <a:pt x="1046" y="38"/>
                </a:lnTo>
                <a:lnTo>
                  <a:pt x="1051" y="35"/>
                </a:lnTo>
                <a:close/>
                <a:moveTo>
                  <a:pt x="0" y="160"/>
                </a:moveTo>
                <a:lnTo>
                  <a:pt x="1" y="165"/>
                </a:lnTo>
                <a:lnTo>
                  <a:pt x="1" y="170"/>
                </a:lnTo>
                <a:lnTo>
                  <a:pt x="3" y="175"/>
                </a:lnTo>
                <a:lnTo>
                  <a:pt x="3" y="180"/>
                </a:lnTo>
                <a:lnTo>
                  <a:pt x="3" y="185"/>
                </a:lnTo>
                <a:lnTo>
                  <a:pt x="5" y="189"/>
                </a:lnTo>
                <a:lnTo>
                  <a:pt x="5" y="194"/>
                </a:lnTo>
                <a:lnTo>
                  <a:pt x="6" y="199"/>
                </a:lnTo>
                <a:lnTo>
                  <a:pt x="11" y="199"/>
                </a:lnTo>
                <a:lnTo>
                  <a:pt x="10" y="194"/>
                </a:lnTo>
                <a:lnTo>
                  <a:pt x="10" y="189"/>
                </a:lnTo>
                <a:lnTo>
                  <a:pt x="8" y="184"/>
                </a:lnTo>
                <a:lnTo>
                  <a:pt x="8" y="179"/>
                </a:lnTo>
                <a:lnTo>
                  <a:pt x="6" y="174"/>
                </a:lnTo>
                <a:lnTo>
                  <a:pt x="6" y="169"/>
                </a:lnTo>
                <a:lnTo>
                  <a:pt x="6" y="164"/>
                </a:lnTo>
                <a:lnTo>
                  <a:pt x="5" y="159"/>
                </a:lnTo>
                <a:lnTo>
                  <a:pt x="0" y="16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98" name="Freeform 1003">
            <a:extLst>
              <a:ext uri="{FF2B5EF4-FFF2-40B4-BE49-F238E27FC236}">
                <a16:creationId xmlns:a16="http://schemas.microsoft.com/office/drawing/2014/main" id="{463BF7FC-DB10-8ABB-572D-D5DF9EF9AB2B}"/>
              </a:ext>
            </a:extLst>
          </p:cNvPr>
          <p:cNvSpPr>
            <a:spLocks noEditPoints="1"/>
          </p:cNvSpPr>
          <p:nvPr/>
        </p:nvSpPr>
        <p:spPr bwMode="auto">
          <a:xfrm>
            <a:off x="2084388" y="2403475"/>
            <a:ext cx="1662113" cy="315913"/>
          </a:xfrm>
          <a:custGeom>
            <a:avLst/>
            <a:gdLst>
              <a:gd name="T0" fmla="*/ 1047 w 1047"/>
              <a:gd name="T1" fmla="*/ 36 h 199"/>
              <a:gd name="T2" fmla="*/ 1045 w 1047"/>
              <a:gd name="T3" fmla="*/ 31 h 199"/>
              <a:gd name="T4" fmla="*/ 1045 w 1047"/>
              <a:gd name="T5" fmla="*/ 26 h 199"/>
              <a:gd name="T6" fmla="*/ 1045 w 1047"/>
              <a:gd name="T7" fmla="*/ 23 h 199"/>
              <a:gd name="T8" fmla="*/ 1043 w 1047"/>
              <a:gd name="T9" fmla="*/ 18 h 199"/>
              <a:gd name="T10" fmla="*/ 1043 w 1047"/>
              <a:gd name="T11" fmla="*/ 13 h 199"/>
              <a:gd name="T12" fmla="*/ 1042 w 1047"/>
              <a:gd name="T13" fmla="*/ 8 h 199"/>
              <a:gd name="T14" fmla="*/ 1042 w 1047"/>
              <a:gd name="T15" fmla="*/ 5 h 199"/>
              <a:gd name="T16" fmla="*/ 1040 w 1047"/>
              <a:gd name="T17" fmla="*/ 0 h 199"/>
              <a:gd name="T18" fmla="*/ 1035 w 1047"/>
              <a:gd name="T19" fmla="*/ 0 h 199"/>
              <a:gd name="T20" fmla="*/ 1037 w 1047"/>
              <a:gd name="T21" fmla="*/ 5 h 199"/>
              <a:gd name="T22" fmla="*/ 1037 w 1047"/>
              <a:gd name="T23" fmla="*/ 10 h 199"/>
              <a:gd name="T24" fmla="*/ 1038 w 1047"/>
              <a:gd name="T25" fmla="*/ 15 h 199"/>
              <a:gd name="T26" fmla="*/ 1038 w 1047"/>
              <a:gd name="T27" fmla="*/ 18 h 199"/>
              <a:gd name="T28" fmla="*/ 1040 w 1047"/>
              <a:gd name="T29" fmla="*/ 23 h 199"/>
              <a:gd name="T30" fmla="*/ 1040 w 1047"/>
              <a:gd name="T31" fmla="*/ 28 h 199"/>
              <a:gd name="T32" fmla="*/ 1042 w 1047"/>
              <a:gd name="T33" fmla="*/ 33 h 199"/>
              <a:gd name="T34" fmla="*/ 1042 w 1047"/>
              <a:gd name="T35" fmla="*/ 38 h 199"/>
              <a:gd name="T36" fmla="*/ 1047 w 1047"/>
              <a:gd name="T37" fmla="*/ 36 h 199"/>
              <a:gd name="T38" fmla="*/ 0 w 1047"/>
              <a:gd name="T39" fmla="*/ 160 h 199"/>
              <a:gd name="T40" fmla="*/ 0 w 1047"/>
              <a:gd name="T41" fmla="*/ 165 h 199"/>
              <a:gd name="T42" fmla="*/ 2 w 1047"/>
              <a:gd name="T43" fmla="*/ 170 h 199"/>
              <a:gd name="T44" fmla="*/ 2 w 1047"/>
              <a:gd name="T45" fmla="*/ 174 h 199"/>
              <a:gd name="T46" fmla="*/ 2 w 1047"/>
              <a:gd name="T47" fmla="*/ 179 h 199"/>
              <a:gd name="T48" fmla="*/ 3 w 1047"/>
              <a:gd name="T49" fmla="*/ 184 h 199"/>
              <a:gd name="T50" fmla="*/ 3 w 1047"/>
              <a:gd name="T51" fmla="*/ 189 h 199"/>
              <a:gd name="T52" fmla="*/ 5 w 1047"/>
              <a:gd name="T53" fmla="*/ 194 h 199"/>
              <a:gd name="T54" fmla="*/ 5 w 1047"/>
              <a:gd name="T55" fmla="*/ 199 h 199"/>
              <a:gd name="T56" fmla="*/ 10 w 1047"/>
              <a:gd name="T57" fmla="*/ 199 h 199"/>
              <a:gd name="T58" fmla="*/ 10 w 1047"/>
              <a:gd name="T59" fmla="*/ 194 h 199"/>
              <a:gd name="T60" fmla="*/ 8 w 1047"/>
              <a:gd name="T61" fmla="*/ 189 h 199"/>
              <a:gd name="T62" fmla="*/ 8 w 1047"/>
              <a:gd name="T63" fmla="*/ 184 h 199"/>
              <a:gd name="T64" fmla="*/ 7 w 1047"/>
              <a:gd name="T65" fmla="*/ 179 h 199"/>
              <a:gd name="T66" fmla="*/ 7 w 1047"/>
              <a:gd name="T67" fmla="*/ 174 h 199"/>
              <a:gd name="T68" fmla="*/ 5 w 1047"/>
              <a:gd name="T69" fmla="*/ 169 h 199"/>
              <a:gd name="T70" fmla="*/ 5 w 1047"/>
              <a:gd name="T71" fmla="*/ 164 h 199"/>
              <a:gd name="T72" fmla="*/ 5 w 1047"/>
              <a:gd name="T73" fmla="*/ 157 h 199"/>
              <a:gd name="T74" fmla="*/ 0 w 1047"/>
              <a:gd name="T75" fmla="*/ 16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47" h="199">
                <a:moveTo>
                  <a:pt x="1047" y="36"/>
                </a:moveTo>
                <a:lnTo>
                  <a:pt x="1045" y="31"/>
                </a:lnTo>
                <a:lnTo>
                  <a:pt x="1045" y="26"/>
                </a:lnTo>
                <a:lnTo>
                  <a:pt x="1045" y="23"/>
                </a:lnTo>
                <a:lnTo>
                  <a:pt x="1043" y="18"/>
                </a:lnTo>
                <a:lnTo>
                  <a:pt x="1043" y="13"/>
                </a:lnTo>
                <a:lnTo>
                  <a:pt x="1042" y="8"/>
                </a:lnTo>
                <a:lnTo>
                  <a:pt x="1042" y="5"/>
                </a:lnTo>
                <a:lnTo>
                  <a:pt x="1040" y="0"/>
                </a:lnTo>
                <a:lnTo>
                  <a:pt x="1035" y="0"/>
                </a:lnTo>
                <a:lnTo>
                  <a:pt x="1037" y="5"/>
                </a:lnTo>
                <a:lnTo>
                  <a:pt x="1037" y="10"/>
                </a:lnTo>
                <a:lnTo>
                  <a:pt x="1038" y="15"/>
                </a:lnTo>
                <a:lnTo>
                  <a:pt x="1038" y="18"/>
                </a:lnTo>
                <a:lnTo>
                  <a:pt x="1040" y="23"/>
                </a:lnTo>
                <a:lnTo>
                  <a:pt x="1040" y="28"/>
                </a:lnTo>
                <a:lnTo>
                  <a:pt x="1042" y="33"/>
                </a:lnTo>
                <a:lnTo>
                  <a:pt x="1042" y="38"/>
                </a:lnTo>
                <a:lnTo>
                  <a:pt x="1047" y="36"/>
                </a:lnTo>
                <a:close/>
                <a:moveTo>
                  <a:pt x="0" y="160"/>
                </a:moveTo>
                <a:lnTo>
                  <a:pt x="0" y="165"/>
                </a:lnTo>
                <a:lnTo>
                  <a:pt x="2" y="170"/>
                </a:lnTo>
                <a:lnTo>
                  <a:pt x="2" y="174"/>
                </a:lnTo>
                <a:lnTo>
                  <a:pt x="2" y="179"/>
                </a:lnTo>
                <a:lnTo>
                  <a:pt x="3" y="184"/>
                </a:lnTo>
                <a:lnTo>
                  <a:pt x="3" y="189"/>
                </a:lnTo>
                <a:lnTo>
                  <a:pt x="5" y="194"/>
                </a:lnTo>
                <a:lnTo>
                  <a:pt x="5" y="199"/>
                </a:lnTo>
                <a:lnTo>
                  <a:pt x="10" y="199"/>
                </a:lnTo>
                <a:lnTo>
                  <a:pt x="10" y="194"/>
                </a:lnTo>
                <a:lnTo>
                  <a:pt x="8" y="189"/>
                </a:lnTo>
                <a:lnTo>
                  <a:pt x="8" y="184"/>
                </a:lnTo>
                <a:lnTo>
                  <a:pt x="7" y="179"/>
                </a:lnTo>
                <a:lnTo>
                  <a:pt x="7" y="174"/>
                </a:lnTo>
                <a:lnTo>
                  <a:pt x="5" y="169"/>
                </a:lnTo>
                <a:lnTo>
                  <a:pt x="5" y="164"/>
                </a:lnTo>
                <a:lnTo>
                  <a:pt x="5" y="157"/>
                </a:lnTo>
                <a:lnTo>
                  <a:pt x="0" y="16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799" name="Freeform 1004">
            <a:extLst>
              <a:ext uri="{FF2B5EF4-FFF2-40B4-BE49-F238E27FC236}">
                <a16:creationId xmlns:a16="http://schemas.microsoft.com/office/drawing/2014/main" id="{E80736DA-FBCD-0BB6-3B6E-D1C030EC0AAF}"/>
              </a:ext>
            </a:extLst>
          </p:cNvPr>
          <p:cNvSpPr>
            <a:spLocks noEditPoints="1"/>
          </p:cNvSpPr>
          <p:nvPr/>
        </p:nvSpPr>
        <p:spPr bwMode="auto">
          <a:xfrm>
            <a:off x="2087563" y="2403475"/>
            <a:ext cx="1652588" cy="315913"/>
          </a:xfrm>
          <a:custGeom>
            <a:avLst/>
            <a:gdLst>
              <a:gd name="T0" fmla="*/ 1041 w 1041"/>
              <a:gd name="T1" fmla="*/ 38 h 199"/>
              <a:gd name="T2" fmla="*/ 1041 w 1041"/>
              <a:gd name="T3" fmla="*/ 33 h 199"/>
              <a:gd name="T4" fmla="*/ 1041 w 1041"/>
              <a:gd name="T5" fmla="*/ 28 h 199"/>
              <a:gd name="T6" fmla="*/ 1040 w 1041"/>
              <a:gd name="T7" fmla="*/ 23 h 199"/>
              <a:gd name="T8" fmla="*/ 1040 w 1041"/>
              <a:gd name="T9" fmla="*/ 18 h 199"/>
              <a:gd name="T10" fmla="*/ 1038 w 1041"/>
              <a:gd name="T11" fmla="*/ 13 h 199"/>
              <a:gd name="T12" fmla="*/ 1038 w 1041"/>
              <a:gd name="T13" fmla="*/ 8 h 199"/>
              <a:gd name="T14" fmla="*/ 1036 w 1041"/>
              <a:gd name="T15" fmla="*/ 5 h 199"/>
              <a:gd name="T16" fmla="*/ 1036 w 1041"/>
              <a:gd name="T17" fmla="*/ 0 h 199"/>
              <a:gd name="T18" fmla="*/ 1031 w 1041"/>
              <a:gd name="T19" fmla="*/ 0 h 199"/>
              <a:gd name="T20" fmla="*/ 1031 w 1041"/>
              <a:gd name="T21" fmla="*/ 5 h 199"/>
              <a:gd name="T22" fmla="*/ 1033 w 1041"/>
              <a:gd name="T23" fmla="*/ 10 h 199"/>
              <a:gd name="T24" fmla="*/ 1033 w 1041"/>
              <a:gd name="T25" fmla="*/ 15 h 199"/>
              <a:gd name="T26" fmla="*/ 1035 w 1041"/>
              <a:gd name="T27" fmla="*/ 20 h 199"/>
              <a:gd name="T28" fmla="*/ 1035 w 1041"/>
              <a:gd name="T29" fmla="*/ 25 h 199"/>
              <a:gd name="T30" fmla="*/ 1036 w 1041"/>
              <a:gd name="T31" fmla="*/ 30 h 199"/>
              <a:gd name="T32" fmla="*/ 1036 w 1041"/>
              <a:gd name="T33" fmla="*/ 35 h 199"/>
              <a:gd name="T34" fmla="*/ 1038 w 1041"/>
              <a:gd name="T35" fmla="*/ 40 h 199"/>
              <a:gd name="T36" fmla="*/ 1041 w 1041"/>
              <a:gd name="T37" fmla="*/ 38 h 199"/>
              <a:gd name="T38" fmla="*/ 0 w 1041"/>
              <a:gd name="T39" fmla="*/ 159 h 199"/>
              <a:gd name="T40" fmla="*/ 1 w 1041"/>
              <a:gd name="T41" fmla="*/ 164 h 199"/>
              <a:gd name="T42" fmla="*/ 1 w 1041"/>
              <a:gd name="T43" fmla="*/ 169 h 199"/>
              <a:gd name="T44" fmla="*/ 1 w 1041"/>
              <a:gd name="T45" fmla="*/ 174 h 199"/>
              <a:gd name="T46" fmla="*/ 3 w 1041"/>
              <a:gd name="T47" fmla="*/ 179 h 199"/>
              <a:gd name="T48" fmla="*/ 3 w 1041"/>
              <a:gd name="T49" fmla="*/ 184 h 199"/>
              <a:gd name="T50" fmla="*/ 5 w 1041"/>
              <a:gd name="T51" fmla="*/ 189 h 199"/>
              <a:gd name="T52" fmla="*/ 5 w 1041"/>
              <a:gd name="T53" fmla="*/ 194 h 199"/>
              <a:gd name="T54" fmla="*/ 6 w 1041"/>
              <a:gd name="T55" fmla="*/ 199 h 199"/>
              <a:gd name="T56" fmla="*/ 11 w 1041"/>
              <a:gd name="T57" fmla="*/ 199 h 199"/>
              <a:gd name="T58" fmla="*/ 10 w 1041"/>
              <a:gd name="T59" fmla="*/ 194 h 199"/>
              <a:gd name="T60" fmla="*/ 10 w 1041"/>
              <a:gd name="T61" fmla="*/ 189 h 199"/>
              <a:gd name="T62" fmla="*/ 8 w 1041"/>
              <a:gd name="T63" fmla="*/ 184 h 199"/>
              <a:gd name="T64" fmla="*/ 8 w 1041"/>
              <a:gd name="T65" fmla="*/ 177 h 199"/>
              <a:gd name="T66" fmla="*/ 6 w 1041"/>
              <a:gd name="T67" fmla="*/ 172 h 199"/>
              <a:gd name="T68" fmla="*/ 6 w 1041"/>
              <a:gd name="T69" fmla="*/ 167 h 199"/>
              <a:gd name="T70" fmla="*/ 5 w 1041"/>
              <a:gd name="T71" fmla="*/ 162 h 199"/>
              <a:gd name="T72" fmla="*/ 5 w 1041"/>
              <a:gd name="T73" fmla="*/ 157 h 199"/>
              <a:gd name="T74" fmla="*/ 0 w 1041"/>
              <a:gd name="T75" fmla="*/ 15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41" h="199">
                <a:moveTo>
                  <a:pt x="1041" y="38"/>
                </a:moveTo>
                <a:lnTo>
                  <a:pt x="1041" y="33"/>
                </a:lnTo>
                <a:lnTo>
                  <a:pt x="1041" y="28"/>
                </a:lnTo>
                <a:lnTo>
                  <a:pt x="1040" y="23"/>
                </a:lnTo>
                <a:lnTo>
                  <a:pt x="1040" y="18"/>
                </a:lnTo>
                <a:lnTo>
                  <a:pt x="1038" y="13"/>
                </a:lnTo>
                <a:lnTo>
                  <a:pt x="1038" y="8"/>
                </a:lnTo>
                <a:lnTo>
                  <a:pt x="1036" y="5"/>
                </a:lnTo>
                <a:lnTo>
                  <a:pt x="1036" y="0"/>
                </a:lnTo>
                <a:lnTo>
                  <a:pt x="1031" y="0"/>
                </a:lnTo>
                <a:lnTo>
                  <a:pt x="1031" y="5"/>
                </a:lnTo>
                <a:lnTo>
                  <a:pt x="1033" y="10"/>
                </a:lnTo>
                <a:lnTo>
                  <a:pt x="1033" y="15"/>
                </a:lnTo>
                <a:lnTo>
                  <a:pt x="1035" y="20"/>
                </a:lnTo>
                <a:lnTo>
                  <a:pt x="1035" y="25"/>
                </a:lnTo>
                <a:lnTo>
                  <a:pt x="1036" y="30"/>
                </a:lnTo>
                <a:lnTo>
                  <a:pt x="1036" y="35"/>
                </a:lnTo>
                <a:lnTo>
                  <a:pt x="1038" y="40"/>
                </a:lnTo>
                <a:lnTo>
                  <a:pt x="1041" y="38"/>
                </a:lnTo>
                <a:close/>
                <a:moveTo>
                  <a:pt x="0" y="159"/>
                </a:moveTo>
                <a:lnTo>
                  <a:pt x="1" y="164"/>
                </a:lnTo>
                <a:lnTo>
                  <a:pt x="1" y="169"/>
                </a:lnTo>
                <a:lnTo>
                  <a:pt x="1" y="174"/>
                </a:lnTo>
                <a:lnTo>
                  <a:pt x="3" y="179"/>
                </a:lnTo>
                <a:lnTo>
                  <a:pt x="3" y="184"/>
                </a:lnTo>
                <a:lnTo>
                  <a:pt x="5" y="189"/>
                </a:lnTo>
                <a:lnTo>
                  <a:pt x="5" y="194"/>
                </a:lnTo>
                <a:lnTo>
                  <a:pt x="6" y="199"/>
                </a:lnTo>
                <a:lnTo>
                  <a:pt x="11" y="199"/>
                </a:lnTo>
                <a:lnTo>
                  <a:pt x="10" y="194"/>
                </a:lnTo>
                <a:lnTo>
                  <a:pt x="10" y="189"/>
                </a:lnTo>
                <a:lnTo>
                  <a:pt x="8" y="184"/>
                </a:lnTo>
                <a:lnTo>
                  <a:pt x="8" y="177"/>
                </a:lnTo>
                <a:lnTo>
                  <a:pt x="6" y="172"/>
                </a:lnTo>
                <a:lnTo>
                  <a:pt x="6" y="167"/>
                </a:lnTo>
                <a:lnTo>
                  <a:pt x="5" y="162"/>
                </a:lnTo>
                <a:lnTo>
                  <a:pt x="5" y="157"/>
                </a:lnTo>
                <a:lnTo>
                  <a:pt x="0" y="159"/>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00" name="Freeform 1005">
            <a:extLst>
              <a:ext uri="{FF2B5EF4-FFF2-40B4-BE49-F238E27FC236}">
                <a16:creationId xmlns:a16="http://schemas.microsoft.com/office/drawing/2014/main" id="{190015F6-8638-A237-7581-078688258F0A}"/>
              </a:ext>
            </a:extLst>
          </p:cNvPr>
          <p:cNvSpPr>
            <a:spLocks noEditPoints="1"/>
          </p:cNvSpPr>
          <p:nvPr/>
        </p:nvSpPr>
        <p:spPr bwMode="auto">
          <a:xfrm>
            <a:off x="2092325" y="2403475"/>
            <a:ext cx="1646238" cy="315913"/>
          </a:xfrm>
          <a:custGeom>
            <a:avLst/>
            <a:gdLst>
              <a:gd name="T0" fmla="*/ 1037 w 1037"/>
              <a:gd name="T1" fmla="*/ 38 h 199"/>
              <a:gd name="T2" fmla="*/ 1037 w 1037"/>
              <a:gd name="T3" fmla="*/ 33 h 199"/>
              <a:gd name="T4" fmla="*/ 1035 w 1037"/>
              <a:gd name="T5" fmla="*/ 28 h 199"/>
              <a:gd name="T6" fmla="*/ 1035 w 1037"/>
              <a:gd name="T7" fmla="*/ 23 h 199"/>
              <a:gd name="T8" fmla="*/ 1033 w 1037"/>
              <a:gd name="T9" fmla="*/ 18 h 199"/>
              <a:gd name="T10" fmla="*/ 1033 w 1037"/>
              <a:gd name="T11" fmla="*/ 15 h 199"/>
              <a:gd name="T12" fmla="*/ 1032 w 1037"/>
              <a:gd name="T13" fmla="*/ 10 h 199"/>
              <a:gd name="T14" fmla="*/ 1032 w 1037"/>
              <a:gd name="T15" fmla="*/ 5 h 199"/>
              <a:gd name="T16" fmla="*/ 1030 w 1037"/>
              <a:gd name="T17" fmla="*/ 0 h 199"/>
              <a:gd name="T18" fmla="*/ 1025 w 1037"/>
              <a:gd name="T19" fmla="*/ 0 h 199"/>
              <a:gd name="T20" fmla="*/ 1027 w 1037"/>
              <a:gd name="T21" fmla="*/ 5 h 199"/>
              <a:gd name="T22" fmla="*/ 1028 w 1037"/>
              <a:gd name="T23" fmla="*/ 10 h 199"/>
              <a:gd name="T24" fmla="*/ 1028 w 1037"/>
              <a:gd name="T25" fmla="*/ 15 h 199"/>
              <a:gd name="T26" fmla="*/ 1030 w 1037"/>
              <a:gd name="T27" fmla="*/ 20 h 199"/>
              <a:gd name="T28" fmla="*/ 1030 w 1037"/>
              <a:gd name="T29" fmla="*/ 25 h 199"/>
              <a:gd name="T30" fmla="*/ 1030 w 1037"/>
              <a:gd name="T31" fmla="*/ 30 h 199"/>
              <a:gd name="T32" fmla="*/ 1032 w 1037"/>
              <a:gd name="T33" fmla="*/ 35 h 199"/>
              <a:gd name="T34" fmla="*/ 1032 w 1037"/>
              <a:gd name="T35" fmla="*/ 40 h 199"/>
              <a:gd name="T36" fmla="*/ 1037 w 1037"/>
              <a:gd name="T37" fmla="*/ 38 h 199"/>
              <a:gd name="T38" fmla="*/ 0 w 1037"/>
              <a:gd name="T39" fmla="*/ 157 h 199"/>
              <a:gd name="T40" fmla="*/ 0 w 1037"/>
              <a:gd name="T41" fmla="*/ 164 h 199"/>
              <a:gd name="T42" fmla="*/ 0 w 1037"/>
              <a:gd name="T43" fmla="*/ 169 h 199"/>
              <a:gd name="T44" fmla="*/ 2 w 1037"/>
              <a:gd name="T45" fmla="*/ 174 h 199"/>
              <a:gd name="T46" fmla="*/ 2 w 1037"/>
              <a:gd name="T47" fmla="*/ 179 h 199"/>
              <a:gd name="T48" fmla="*/ 3 w 1037"/>
              <a:gd name="T49" fmla="*/ 184 h 199"/>
              <a:gd name="T50" fmla="*/ 3 w 1037"/>
              <a:gd name="T51" fmla="*/ 189 h 199"/>
              <a:gd name="T52" fmla="*/ 5 w 1037"/>
              <a:gd name="T53" fmla="*/ 194 h 199"/>
              <a:gd name="T54" fmla="*/ 5 w 1037"/>
              <a:gd name="T55" fmla="*/ 199 h 199"/>
              <a:gd name="T56" fmla="*/ 10 w 1037"/>
              <a:gd name="T57" fmla="*/ 199 h 199"/>
              <a:gd name="T58" fmla="*/ 10 w 1037"/>
              <a:gd name="T59" fmla="*/ 194 h 199"/>
              <a:gd name="T60" fmla="*/ 8 w 1037"/>
              <a:gd name="T61" fmla="*/ 189 h 199"/>
              <a:gd name="T62" fmla="*/ 8 w 1037"/>
              <a:gd name="T63" fmla="*/ 182 h 199"/>
              <a:gd name="T64" fmla="*/ 7 w 1037"/>
              <a:gd name="T65" fmla="*/ 177 h 199"/>
              <a:gd name="T66" fmla="*/ 7 w 1037"/>
              <a:gd name="T67" fmla="*/ 172 h 199"/>
              <a:gd name="T68" fmla="*/ 5 w 1037"/>
              <a:gd name="T69" fmla="*/ 167 h 199"/>
              <a:gd name="T70" fmla="*/ 5 w 1037"/>
              <a:gd name="T71" fmla="*/ 160 h 199"/>
              <a:gd name="T72" fmla="*/ 3 w 1037"/>
              <a:gd name="T73" fmla="*/ 155 h 199"/>
              <a:gd name="T74" fmla="*/ 0 w 1037"/>
              <a:gd name="T75" fmla="*/ 15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37" h="199">
                <a:moveTo>
                  <a:pt x="1037" y="38"/>
                </a:moveTo>
                <a:lnTo>
                  <a:pt x="1037" y="33"/>
                </a:lnTo>
                <a:lnTo>
                  <a:pt x="1035" y="28"/>
                </a:lnTo>
                <a:lnTo>
                  <a:pt x="1035" y="23"/>
                </a:lnTo>
                <a:lnTo>
                  <a:pt x="1033" y="18"/>
                </a:lnTo>
                <a:lnTo>
                  <a:pt x="1033" y="15"/>
                </a:lnTo>
                <a:lnTo>
                  <a:pt x="1032" y="10"/>
                </a:lnTo>
                <a:lnTo>
                  <a:pt x="1032" y="5"/>
                </a:lnTo>
                <a:lnTo>
                  <a:pt x="1030" y="0"/>
                </a:lnTo>
                <a:lnTo>
                  <a:pt x="1025" y="0"/>
                </a:lnTo>
                <a:lnTo>
                  <a:pt x="1027" y="5"/>
                </a:lnTo>
                <a:lnTo>
                  <a:pt x="1028" y="10"/>
                </a:lnTo>
                <a:lnTo>
                  <a:pt x="1028" y="15"/>
                </a:lnTo>
                <a:lnTo>
                  <a:pt x="1030" y="20"/>
                </a:lnTo>
                <a:lnTo>
                  <a:pt x="1030" y="25"/>
                </a:lnTo>
                <a:lnTo>
                  <a:pt x="1030" y="30"/>
                </a:lnTo>
                <a:lnTo>
                  <a:pt x="1032" y="35"/>
                </a:lnTo>
                <a:lnTo>
                  <a:pt x="1032" y="40"/>
                </a:lnTo>
                <a:lnTo>
                  <a:pt x="1037" y="38"/>
                </a:lnTo>
                <a:close/>
                <a:moveTo>
                  <a:pt x="0" y="157"/>
                </a:moveTo>
                <a:lnTo>
                  <a:pt x="0" y="164"/>
                </a:lnTo>
                <a:lnTo>
                  <a:pt x="0" y="169"/>
                </a:lnTo>
                <a:lnTo>
                  <a:pt x="2" y="174"/>
                </a:lnTo>
                <a:lnTo>
                  <a:pt x="2" y="179"/>
                </a:lnTo>
                <a:lnTo>
                  <a:pt x="3" y="184"/>
                </a:lnTo>
                <a:lnTo>
                  <a:pt x="3" y="189"/>
                </a:lnTo>
                <a:lnTo>
                  <a:pt x="5" y="194"/>
                </a:lnTo>
                <a:lnTo>
                  <a:pt x="5" y="199"/>
                </a:lnTo>
                <a:lnTo>
                  <a:pt x="10" y="199"/>
                </a:lnTo>
                <a:lnTo>
                  <a:pt x="10" y="194"/>
                </a:lnTo>
                <a:lnTo>
                  <a:pt x="8" y="189"/>
                </a:lnTo>
                <a:lnTo>
                  <a:pt x="8" y="182"/>
                </a:lnTo>
                <a:lnTo>
                  <a:pt x="7" y="177"/>
                </a:lnTo>
                <a:lnTo>
                  <a:pt x="7" y="172"/>
                </a:lnTo>
                <a:lnTo>
                  <a:pt x="5" y="167"/>
                </a:lnTo>
                <a:lnTo>
                  <a:pt x="5" y="160"/>
                </a:lnTo>
                <a:lnTo>
                  <a:pt x="3" y="155"/>
                </a:lnTo>
                <a:lnTo>
                  <a:pt x="0" y="157"/>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01" name="Freeform 1006">
            <a:extLst>
              <a:ext uri="{FF2B5EF4-FFF2-40B4-BE49-F238E27FC236}">
                <a16:creationId xmlns:a16="http://schemas.microsoft.com/office/drawing/2014/main" id="{E5ECAD8E-B3C6-8C63-AA05-C66EDB1831B8}"/>
              </a:ext>
            </a:extLst>
          </p:cNvPr>
          <p:cNvSpPr>
            <a:spLocks noEditPoints="1"/>
          </p:cNvSpPr>
          <p:nvPr/>
        </p:nvSpPr>
        <p:spPr bwMode="auto">
          <a:xfrm>
            <a:off x="2095500" y="2403475"/>
            <a:ext cx="1639888" cy="315913"/>
          </a:xfrm>
          <a:custGeom>
            <a:avLst/>
            <a:gdLst>
              <a:gd name="T0" fmla="*/ 1033 w 1033"/>
              <a:gd name="T1" fmla="*/ 40 h 199"/>
              <a:gd name="T2" fmla="*/ 1031 w 1033"/>
              <a:gd name="T3" fmla="*/ 35 h 199"/>
              <a:gd name="T4" fmla="*/ 1031 w 1033"/>
              <a:gd name="T5" fmla="*/ 30 h 199"/>
              <a:gd name="T6" fmla="*/ 1030 w 1033"/>
              <a:gd name="T7" fmla="*/ 25 h 199"/>
              <a:gd name="T8" fmla="*/ 1030 w 1033"/>
              <a:gd name="T9" fmla="*/ 20 h 199"/>
              <a:gd name="T10" fmla="*/ 1028 w 1033"/>
              <a:gd name="T11" fmla="*/ 15 h 199"/>
              <a:gd name="T12" fmla="*/ 1028 w 1033"/>
              <a:gd name="T13" fmla="*/ 10 h 199"/>
              <a:gd name="T14" fmla="*/ 1026 w 1033"/>
              <a:gd name="T15" fmla="*/ 5 h 199"/>
              <a:gd name="T16" fmla="*/ 1026 w 1033"/>
              <a:gd name="T17" fmla="*/ 0 h 199"/>
              <a:gd name="T18" fmla="*/ 1022 w 1033"/>
              <a:gd name="T19" fmla="*/ 0 h 199"/>
              <a:gd name="T20" fmla="*/ 1023 w 1033"/>
              <a:gd name="T21" fmla="*/ 5 h 199"/>
              <a:gd name="T22" fmla="*/ 1023 w 1033"/>
              <a:gd name="T23" fmla="*/ 10 h 199"/>
              <a:gd name="T24" fmla="*/ 1025 w 1033"/>
              <a:gd name="T25" fmla="*/ 15 h 199"/>
              <a:gd name="T26" fmla="*/ 1025 w 1033"/>
              <a:gd name="T27" fmla="*/ 20 h 199"/>
              <a:gd name="T28" fmla="*/ 1026 w 1033"/>
              <a:gd name="T29" fmla="*/ 26 h 199"/>
              <a:gd name="T30" fmla="*/ 1026 w 1033"/>
              <a:gd name="T31" fmla="*/ 31 h 199"/>
              <a:gd name="T32" fmla="*/ 1026 w 1033"/>
              <a:gd name="T33" fmla="*/ 36 h 199"/>
              <a:gd name="T34" fmla="*/ 1028 w 1033"/>
              <a:gd name="T35" fmla="*/ 41 h 199"/>
              <a:gd name="T36" fmla="*/ 1033 w 1033"/>
              <a:gd name="T37" fmla="*/ 40 h 199"/>
              <a:gd name="T38" fmla="*/ 0 w 1033"/>
              <a:gd name="T39" fmla="*/ 157 h 199"/>
              <a:gd name="T40" fmla="*/ 0 w 1033"/>
              <a:gd name="T41" fmla="*/ 162 h 199"/>
              <a:gd name="T42" fmla="*/ 1 w 1033"/>
              <a:gd name="T43" fmla="*/ 167 h 199"/>
              <a:gd name="T44" fmla="*/ 1 w 1033"/>
              <a:gd name="T45" fmla="*/ 172 h 199"/>
              <a:gd name="T46" fmla="*/ 3 w 1033"/>
              <a:gd name="T47" fmla="*/ 177 h 199"/>
              <a:gd name="T48" fmla="*/ 3 w 1033"/>
              <a:gd name="T49" fmla="*/ 184 h 199"/>
              <a:gd name="T50" fmla="*/ 5 w 1033"/>
              <a:gd name="T51" fmla="*/ 189 h 199"/>
              <a:gd name="T52" fmla="*/ 5 w 1033"/>
              <a:gd name="T53" fmla="*/ 194 h 199"/>
              <a:gd name="T54" fmla="*/ 6 w 1033"/>
              <a:gd name="T55" fmla="*/ 199 h 199"/>
              <a:gd name="T56" fmla="*/ 11 w 1033"/>
              <a:gd name="T57" fmla="*/ 199 h 199"/>
              <a:gd name="T58" fmla="*/ 10 w 1033"/>
              <a:gd name="T59" fmla="*/ 194 h 199"/>
              <a:gd name="T60" fmla="*/ 10 w 1033"/>
              <a:gd name="T61" fmla="*/ 187 h 199"/>
              <a:gd name="T62" fmla="*/ 8 w 1033"/>
              <a:gd name="T63" fmla="*/ 182 h 199"/>
              <a:gd name="T64" fmla="*/ 8 w 1033"/>
              <a:gd name="T65" fmla="*/ 177 h 199"/>
              <a:gd name="T66" fmla="*/ 6 w 1033"/>
              <a:gd name="T67" fmla="*/ 170 h 199"/>
              <a:gd name="T68" fmla="*/ 6 w 1033"/>
              <a:gd name="T69" fmla="*/ 165 h 199"/>
              <a:gd name="T70" fmla="*/ 5 w 1033"/>
              <a:gd name="T71" fmla="*/ 160 h 199"/>
              <a:gd name="T72" fmla="*/ 5 w 1033"/>
              <a:gd name="T73" fmla="*/ 155 h 199"/>
              <a:gd name="T74" fmla="*/ 0 w 1033"/>
              <a:gd name="T75" fmla="*/ 15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33" h="199">
                <a:moveTo>
                  <a:pt x="1033" y="40"/>
                </a:moveTo>
                <a:lnTo>
                  <a:pt x="1031" y="35"/>
                </a:lnTo>
                <a:lnTo>
                  <a:pt x="1031" y="30"/>
                </a:lnTo>
                <a:lnTo>
                  <a:pt x="1030" y="25"/>
                </a:lnTo>
                <a:lnTo>
                  <a:pt x="1030" y="20"/>
                </a:lnTo>
                <a:lnTo>
                  <a:pt x="1028" y="15"/>
                </a:lnTo>
                <a:lnTo>
                  <a:pt x="1028" y="10"/>
                </a:lnTo>
                <a:lnTo>
                  <a:pt x="1026" y="5"/>
                </a:lnTo>
                <a:lnTo>
                  <a:pt x="1026" y="0"/>
                </a:lnTo>
                <a:lnTo>
                  <a:pt x="1022" y="0"/>
                </a:lnTo>
                <a:lnTo>
                  <a:pt x="1023" y="5"/>
                </a:lnTo>
                <a:lnTo>
                  <a:pt x="1023" y="10"/>
                </a:lnTo>
                <a:lnTo>
                  <a:pt x="1025" y="15"/>
                </a:lnTo>
                <a:lnTo>
                  <a:pt x="1025" y="20"/>
                </a:lnTo>
                <a:lnTo>
                  <a:pt x="1026" y="26"/>
                </a:lnTo>
                <a:lnTo>
                  <a:pt x="1026" y="31"/>
                </a:lnTo>
                <a:lnTo>
                  <a:pt x="1026" y="36"/>
                </a:lnTo>
                <a:lnTo>
                  <a:pt x="1028" y="41"/>
                </a:lnTo>
                <a:lnTo>
                  <a:pt x="1033" y="40"/>
                </a:lnTo>
                <a:close/>
                <a:moveTo>
                  <a:pt x="0" y="157"/>
                </a:moveTo>
                <a:lnTo>
                  <a:pt x="0" y="162"/>
                </a:lnTo>
                <a:lnTo>
                  <a:pt x="1" y="167"/>
                </a:lnTo>
                <a:lnTo>
                  <a:pt x="1" y="172"/>
                </a:lnTo>
                <a:lnTo>
                  <a:pt x="3" y="177"/>
                </a:lnTo>
                <a:lnTo>
                  <a:pt x="3" y="184"/>
                </a:lnTo>
                <a:lnTo>
                  <a:pt x="5" y="189"/>
                </a:lnTo>
                <a:lnTo>
                  <a:pt x="5" y="194"/>
                </a:lnTo>
                <a:lnTo>
                  <a:pt x="6" y="199"/>
                </a:lnTo>
                <a:lnTo>
                  <a:pt x="11" y="199"/>
                </a:lnTo>
                <a:lnTo>
                  <a:pt x="10" y="194"/>
                </a:lnTo>
                <a:lnTo>
                  <a:pt x="10" y="187"/>
                </a:lnTo>
                <a:lnTo>
                  <a:pt x="8" y="182"/>
                </a:lnTo>
                <a:lnTo>
                  <a:pt x="8" y="177"/>
                </a:lnTo>
                <a:lnTo>
                  <a:pt x="6" y="170"/>
                </a:lnTo>
                <a:lnTo>
                  <a:pt x="6" y="165"/>
                </a:lnTo>
                <a:lnTo>
                  <a:pt x="5" y="160"/>
                </a:lnTo>
                <a:lnTo>
                  <a:pt x="5" y="155"/>
                </a:lnTo>
                <a:lnTo>
                  <a:pt x="0" y="157"/>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02" name="Freeform 1007">
            <a:extLst>
              <a:ext uri="{FF2B5EF4-FFF2-40B4-BE49-F238E27FC236}">
                <a16:creationId xmlns:a16="http://schemas.microsoft.com/office/drawing/2014/main" id="{AA988E15-6C14-A205-669E-1AF6BCCEA2D9}"/>
              </a:ext>
            </a:extLst>
          </p:cNvPr>
          <p:cNvSpPr>
            <a:spLocks noEditPoints="1"/>
          </p:cNvSpPr>
          <p:nvPr/>
        </p:nvSpPr>
        <p:spPr bwMode="auto">
          <a:xfrm>
            <a:off x="2097088" y="2403475"/>
            <a:ext cx="1633538" cy="315913"/>
          </a:xfrm>
          <a:custGeom>
            <a:avLst/>
            <a:gdLst>
              <a:gd name="T0" fmla="*/ 1029 w 1029"/>
              <a:gd name="T1" fmla="*/ 40 h 199"/>
              <a:gd name="T2" fmla="*/ 1029 w 1029"/>
              <a:gd name="T3" fmla="*/ 35 h 199"/>
              <a:gd name="T4" fmla="*/ 1027 w 1029"/>
              <a:gd name="T5" fmla="*/ 30 h 199"/>
              <a:gd name="T6" fmla="*/ 1027 w 1029"/>
              <a:gd name="T7" fmla="*/ 25 h 199"/>
              <a:gd name="T8" fmla="*/ 1027 w 1029"/>
              <a:gd name="T9" fmla="*/ 20 h 199"/>
              <a:gd name="T10" fmla="*/ 1025 w 1029"/>
              <a:gd name="T11" fmla="*/ 15 h 199"/>
              <a:gd name="T12" fmla="*/ 1025 w 1029"/>
              <a:gd name="T13" fmla="*/ 10 h 199"/>
              <a:gd name="T14" fmla="*/ 1024 w 1029"/>
              <a:gd name="T15" fmla="*/ 5 h 199"/>
              <a:gd name="T16" fmla="*/ 1022 w 1029"/>
              <a:gd name="T17" fmla="*/ 0 h 199"/>
              <a:gd name="T18" fmla="*/ 1017 w 1029"/>
              <a:gd name="T19" fmla="*/ 0 h 199"/>
              <a:gd name="T20" fmla="*/ 1019 w 1029"/>
              <a:gd name="T21" fmla="*/ 5 h 199"/>
              <a:gd name="T22" fmla="*/ 1021 w 1029"/>
              <a:gd name="T23" fmla="*/ 10 h 199"/>
              <a:gd name="T24" fmla="*/ 1021 w 1029"/>
              <a:gd name="T25" fmla="*/ 15 h 199"/>
              <a:gd name="T26" fmla="*/ 1022 w 1029"/>
              <a:gd name="T27" fmla="*/ 21 h 199"/>
              <a:gd name="T28" fmla="*/ 1022 w 1029"/>
              <a:gd name="T29" fmla="*/ 26 h 199"/>
              <a:gd name="T30" fmla="*/ 1024 w 1029"/>
              <a:gd name="T31" fmla="*/ 31 h 199"/>
              <a:gd name="T32" fmla="*/ 1024 w 1029"/>
              <a:gd name="T33" fmla="*/ 36 h 199"/>
              <a:gd name="T34" fmla="*/ 1024 w 1029"/>
              <a:gd name="T35" fmla="*/ 43 h 199"/>
              <a:gd name="T36" fmla="*/ 1029 w 1029"/>
              <a:gd name="T37" fmla="*/ 40 h 199"/>
              <a:gd name="T38" fmla="*/ 0 w 1029"/>
              <a:gd name="T39" fmla="*/ 155 h 199"/>
              <a:gd name="T40" fmla="*/ 2 w 1029"/>
              <a:gd name="T41" fmla="*/ 160 h 199"/>
              <a:gd name="T42" fmla="*/ 2 w 1029"/>
              <a:gd name="T43" fmla="*/ 167 h 199"/>
              <a:gd name="T44" fmla="*/ 4 w 1029"/>
              <a:gd name="T45" fmla="*/ 172 h 199"/>
              <a:gd name="T46" fmla="*/ 4 w 1029"/>
              <a:gd name="T47" fmla="*/ 177 h 199"/>
              <a:gd name="T48" fmla="*/ 5 w 1029"/>
              <a:gd name="T49" fmla="*/ 182 h 199"/>
              <a:gd name="T50" fmla="*/ 5 w 1029"/>
              <a:gd name="T51" fmla="*/ 189 h 199"/>
              <a:gd name="T52" fmla="*/ 7 w 1029"/>
              <a:gd name="T53" fmla="*/ 194 h 199"/>
              <a:gd name="T54" fmla="*/ 7 w 1029"/>
              <a:gd name="T55" fmla="*/ 199 h 199"/>
              <a:gd name="T56" fmla="*/ 12 w 1029"/>
              <a:gd name="T57" fmla="*/ 199 h 199"/>
              <a:gd name="T58" fmla="*/ 12 w 1029"/>
              <a:gd name="T59" fmla="*/ 194 h 199"/>
              <a:gd name="T60" fmla="*/ 10 w 1029"/>
              <a:gd name="T61" fmla="*/ 187 h 199"/>
              <a:gd name="T62" fmla="*/ 9 w 1029"/>
              <a:gd name="T63" fmla="*/ 182 h 199"/>
              <a:gd name="T64" fmla="*/ 9 w 1029"/>
              <a:gd name="T65" fmla="*/ 175 h 199"/>
              <a:gd name="T66" fmla="*/ 7 w 1029"/>
              <a:gd name="T67" fmla="*/ 170 h 199"/>
              <a:gd name="T68" fmla="*/ 7 w 1029"/>
              <a:gd name="T69" fmla="*/ 165 h 199"/>
              <a:gd name="T70" fmla="*/ 7 w 1029"/>
              <a:gd name="T71" fmla="*/ 159 h 199"/>
              <a:gd name="T72" fmla="*/ 5 w 1029"/>
              <a:gd name="T73" fmla="*/ 154 h 199"/>
              <a:gd name="T74" fmla="*/ 0 w 1029"/>
              <a:gd name="T75" fmla="*/ 15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29" h="199">
                <a:moveTo>
                  <a:pt x="1029" y="40"/>
                </a:moveTo>
                <a:lnTo>
                  <a:pt x="1029" y="35"/>
                </a:lnTo>
                <a:lnTo>
                  <a:pt x="1027" y="30"/>
                </a:lnTo>
                <a:lnTo>
                  <a:pt x="1027" y="25"/>
                </a:lnTo>
                <a:lnTo>
                  <a:pt x="1027" y="20"/>
                </a:lnTo>
                <a:lnTo>
                  <a:pt x="1025" y="15"/>
                </a:lnTo>
                <a:lnTo>
                  <a:pt x="1025" y="10"/>
                </a:lnTo>
                <a:lnTo>
                  <a:pt x="1024" y="5"/>
                </a:lnTo>
                <a:lnTo>
                  <a:pt x="1022" y="0"/>
                </a:lnTo>
                <a:lnTo>
                  <a:pt x="1017" y="0"/>
                </a:lnTo>
                <a:lnTo>
                  <a:pt x="1019" y="5"/>
                </a:lnTo>
                <a:lnTo>
                  <a:pt x="1021" y="10"/>
                </a:lnTo>
                <a:lnTo>
                  <a:pt x="1021" y="15"/>
                </a:lnTo>
                <a:lnTo>
                  <a:pt x="1022" y="21"/>
                </a:lnTo>
                <a:lnTo>
                  <a:pt x="1022" y="26"/>
                </a:lnTo>
                <a:lnTo>
                  <a:pt x="1024" y="31"/>
                </a:lnTo>
                <a:lnTo>
                  <a:pt x="1024" y="36"/>
                </a:lnTo>
                <a:lnTo>
                  <a:pt x="1024" y="43"/>
                </a:lnTo>
                <a:lnTo>
                  <a:pt x="1029" y="40"/>
                </a:lnTo>
                <a:close/>
                <a:moveTo>
                  <a:pt x="0" y="155"/>
                </a:moveTo>
                <a:lnTo>
                  <a:pt x="2" y="160"/>
                </a:lnTo>
                <a:lnTo>
                  <a:pt x="2" y="167"/>
                </a:lnTo>
                <a:lnTo>
                  <a:pt x="4" y="172"/>
                </a:lnTo>
                <a:lnTo>
                  <a:pt x="4" y="177"/>
                </a:lnTo>
                <a:lnTo>
                  <a:pt x="5" y="182"/>
                </a:lnTo>
                <a:lnTo>
                  <a:pt x="5" y="189"/>
                </a:lnTo>
                <a:lnTo>
                  <a:pt x="7" y="194"/>
                </a:lnTo>
                <a:lnTo>
                  <a:pt x="7" y="199"/>
                </a:lnTo>
                <a:lnTo>
                  <a:pt x="12" y="199"/>
                </a:lnTo>
                <a:lnTo>
                  <a:pt x="12" y="194"/>
                </a:lnTo>
                <a:lnTo>
                  <a:pt x="10" y="187"/>
                </a:lnTo>
                <a:lnTo>
                  <a:pt x="9" y="182"/>
                </a:lnTo>
                <a:lnTo>
                  <a:pt x="9" y="175"/>
                </a:lnTo>
                <a:lnTo>
                  <a:pt x="7" y="170"/>
                </a:lnTo>
                <a:lnTo>
                  <a:pt x="7" y="165"/>
                </a:lnTo>
                <a:lnTo>
                  <a:pt x="7" y="159"/>
                </a:lnTo>
                <a:lnTo>
                  <a:pt x="5" y="154"/>
                </a:lnTo>
                <a:lnTo>
                  <a:pt x="0" y="155"/>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03" name="Freeform 1008">
            <a:extLst>
              <a:ext uri="{FF2B5EF4-FFF2-40B4-BE49-F238E27FC236}">
                <a16:creationId xmlns:a16="http://schemas.microsoft.com/office/drawing/2014/main" id="{D461D2E1-928A-1FC8-61A8-7295120835AE}"/>
              </a:ext>
            </a:extLst>
          </p:cNvPr>
          <p:cNvSpPr>
            <a:spLocks noEditPoints="1"/>
          </p:cNvSpPr>
          <p:nvPr/>
        </p:nvSpPr>
        <p:spPr bwMode="auto">
          <a:xfrm>
            <a:off x="2103438" y="2403475"/>
            <a:ext cx="1624013" cy="315913"/>
          </a:xfrm>
          <a:custGeom>
            <a:avLst/>
            <a:gdLst>
              <a:gd name="T0" fmla="*/ 1023 w 1023"/>
              <a:gd name="T1" fmla="*/ 41 h 199"/>
              <a:gd name="T2" fmla="*/ 1021 w 1023"/>
              <a:gd name="T3" fmla="*/ 36 h 199"/>
              <a:gd name="T4" fmla="*/ 1021 w 1023"/>
              <a:gd name="T5" fmla="*/ 31 h 199"/>
              <a:gd name="T6" fmla="*/ 1021 w 1023"/>
              <a:gd name="T7" fmla="*/ 26 h 199"/>
              <a:gd name="T8" fmla="*/ 1020 w 1023"/>
              <a:gd name="T9" fmla="*/ 20 h 199"/>
              <a:gd name="T10" fmla="*/ 1020 w 1023"/>
              <a:gd name="T11" fmla="*/ 15 h 199"/>
              <a:gd name="T12" fmla="*/ 1018 w 1023"/>
              <a:gd name="T13" fmla="*/ 10 h 199"/>
              <a:gd name="T14" fmla="*/ 1018 w 1023"/>
              <a:gd name="T15" fmla="*/ 5 h 199"/>
              <a:gd name="T16" fmla="*/ 1017 w 1023"/>
              <a:gd name="T17" fmla="*/ 0 h 199"/>
              <a:gd name="T18" fmla="*/ 1012 w 1023"/>
              <a:gd name="T19" fmla="*/ 0 h 199"/>
              <a:gd name="T20" fmla="*/ 1013 w 1023"/>
              <a:gd name="T21" fmla="*/ 5 h 199"/>
              <a:gd name="T22" fmla="*/ 1013 w 1023"/>
              <a:gd name="T23" fmla="*/ 10 h 199"/>
              <a:gd name="T24" fmla="*/ 1015 w 1023"/>
              <a:gd name="T25" fmla="*/ 16 h 199"/>
              <a:gd name="T26" fmla="*/ 1015 w 1023"/>
              <a:gd name="T27" fmla="*/ 21 h 199"/>
              <a:gd name="T28" fmla="*/ 1017 w 1023"/>
              <a:gd name="T29" fmla="*/ 26 h 199"/>
              <a:gd name="T30" fmla="*/ 1017 w 1023"/>
              <a:gd name="T31" fmla="*/ 33 h 199"/>
              <a:gd name="T32" fmla="*/ 1018 w 1023"/>
              <a:gd name="T33" fmla="*/ 38 h 199"/>
              <a:gd name="T34" fmla="*/ 1018 w 1023"/>
              <a:gd name="T35" fmla="*/ 43 h 199"/>
              <a:gd name="T36" fmla="*/ 1023 w 1023"/>
              <a:gd name="T37" fmla="*/ 41 h 199"/>
              <a:gd name="T38" fmla="*/ 0 w 1023"/>
              <a:gd name="T39" fmla="*/ 155 h 199"/>
              <a:gd name="T40" fmla="*/ 0 w 1023"/>
              <a:gd name="T41" fmla="*/ 160 h 199"/>
              <a:gd name="T42" fmla="*/ 1 w 1023"/>
              <a:gd name="T43" fmla="*/ 165 h 199"/>
              <a:gd name="T44" fmla="*/ 1 w 1023"/>
              <a:gd name="T45" fmla="*/ 170 h 199"/>
              <a:gd name="T46" fmla="*/ 3 w 1023"/>
              <a:gd name="T47" fmla="*/ 177 h 199"/>
              <a:gd name="T48" fmla="*/ 3 w 1023"/>
              <a:gd name="T49" fmla="*/ 182 h 199"/>
              <a:gd name="T50" fmla="*/ 5 w 1023"/>
              <a:gd name="T51" fmla="*/ 187 h 199"/>
              <a:gd name="T52" fmla="*/ 5 w 1023"/>
              <a:gd name="T53" fmla="*/ 194 h 199"/>
              <a:gd name="T54" fmla="*/ 6 w 1023"/>
              <a:gd name="T55" fmla="*/ 199 h 199"/>
              <a:gd name="T56" fmla="*/ 11 w 1023"/>
              <a:gd name="T57" fmla="*/ 199 h 199"/>
              <a:gd name="T58" fmla="*/ 10 w 1023"/>
              <a:gd name="T59" fmla="*/ 192 h 199"/>
              <a:gd name="T60" fmla="*/ 8 w 1023"/>
              <a:gd name="T61" fmla="*/ 187 h 199"/>
              <a:gd name="T62" fmla="*/ 8 w 1023"/>
              <a:gd name="T63" fmla="*/ 182 h 199"/>
              <a:gd name="T64" fmla="*/ 6 w 1023"/>
              <a:gd name="T65" fmla="*/ 175 h 199"/>
              <a:gd name="T66" fmla="*/ 6 w 1023"/>
              <a:gd name="T67" fmla="*/ 170 h 199"/>
              <a:gd name="T68" fmla="*/ 5 w 1023"/>
              <a:gd name="T69" fmla="*/ 164 h 199"/>
              <a:gd name="T70" fmla="*/ 5 w 1023"/>
              <a:gd name="T71" fmla="*/ 159 h 199"/>
              <a:gd name="T72" fmla="*/ 5 w 1023"/>
              <a:gd name="T73" fmla="*/ 152 h 199"/>
              <a:gd name="T74" fmla="*/ 0 w 1023"/>
              <a:gd name="T75" fmla="*/ 15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23" h="199">
                <a:moveTo>
                  <a:pt x="1023" y="41"/>
                </a:moveTo>
                <a:lnTo>
                  <a:pt x="1021" y="36"/>
                </a:lnTo>
                <a:lnTo>
                  <a:pt x="1021" y="31"/>
                </a:lnTo>
                <a:lnTo>
                  <a:pt x="1021" y="26"/>
                </a:lnTo>
                <a:lnTo>
                  <a:pt x="1020" y="20"/>
                </a:lnTo>
                <a:lnTo>
                  <a:pt x="1020" y="15"/>
                </a:lnTo>
                <a:lnTo>
                  <a:pt x="1018" y="10"/>
                </a:lnTo>
                <a:lnTo>
                  <a:pt x="1018" y="5"/>
                </a:lnTo>
                <a:lnTo>
                  <a:pt x="1017" y="0"/>
                </a:lnTo>
                <a:lnTo>
                  <a:pt x="1012" y="0"/>
                </a:lnTo>
                <a:lnTo>
                  <a:pt x="1013" y="5"/>
                </a:lnTo>
                <a:lnTo>
                  <a:pt x="1013" y="10"/>
                </a:lnTo>
                <a:lnTo>
                  <a:pt x="1015" y="16"/>
                </a:lnTo>
                <a:lnTo>
                  <a:pt x="1015" y="21"/>
                </a:lnTo>
                <a:lnTo>
                  <a:pt x="1017" y="26"/>
                </a:lnTo>
                <a:lnTo>
                  <a:pt x="1017" y="33"/>
                </a:lnTo>
                <a:lnTo>
                  <a:pt x="1018" y="38"/>
                </a:lnTo>
                <a:lnTo>
                  <a:pt x="1018" y="43"/>
                </a:lnTo>
                <a:lnTo>
                  <a:pt x="1023" y="41"/>
                </a:lnTo>
                <a:close/>
                <a:moveTo>
                  <a:pt x="0" y="155"/>
                </a:moveTo>
                <a:lnTo>
                  <a:pt x="0" y="160"/>
                </a:lnTo>
                <a:lnTo>
                  <a:pt x="1" y="165"/>
                </a:lnTo>
                <a:lnTo>
                  <a:pt x="1" y="170"/>
                </a:lnTo>
                <a:lnTo>
                  <a:pt x="3" y="177"/>
                </a:lnTo>
                <a:lnTo>
                  <a:pt x="3" y="182"/>
                </a:lnTo>
                <a:lnTo>
                  <a:pt x="5" y="187"/>
                </a:lnTo>
                <a:lnTo>
                  <a:pt x="5" y="194"/>
                </a:lnTo>
                <a:lnTo>
                  <a:pt x="6" y="199"/>
                </a:lnTo>
                <a:lnTo>
                  <a:pt x="11" y="199"/>
                </a:lnTo>
                <a:lnTo>
                  <a:pt x="10" y="192"/>
                </a:lnTo>
                <a:lnTo>
                  <a:pt x="8" y="187"/>
                </a:lnTo>
                <a:lnTo>
                  <a:pt x="8" y="182"/>
                </a:lnTo>
                <a:lnTo>
                  <a:pt x="6" y="175"/>
                </a:lnTo>
                <a:lnTo>
                  <a:pt x="6" y="170"/>
                </a:lnTo>
                <a:lnTo>
                  <a:pt x="5" y="164"/>
                </a:lnTo>
                <a:lnTo>
                  <a:pt x="5" y="159"/>
                </a:lnTo>
                <a:lnTo>
                  <a:pt x="5" y="152"/>
                </a:lnTo>
                <a:lnTo>
                  <a:pt x="0" y="155"/>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04" name="Freeform 1009">
            <a:extLst>
              <a:ext uri="{FF2B5EF4-FFF2-40B4-BE49-F238E27FC236}">
                <a16:creationId xmlns:a16="http://schemas.microsoft.com/office/drawing/2014/main" id="{7C04F263-415F-E240-E7C8-F7C7A43BBD53}"/>
              </a:ext>
            </a:extLst>
          </p:cNvPr>
          <p:cNvSpPr>
            <a:spLocks noEditPoints="1"/>
          </p:cNvSpPr>
          <p:nvPr/>
        </p:nvSpPr>
        <p:spPr bwMode="auto">
          <a:xfrm>
            <a:off x="2105025" y="2403475"/>
            <a:ext cx="1617663" cy="315913"/>
          </a:xfrm>
          <a:custGeom>
            <a:avLst/>
            <a:gdLst>
              <a:gd name="T0" fmla="*/ 1019 w 1019"/>
              <a:gd name="T1" fmla="*/ 43 h 199"/>
              <a:gd name="T2" fmla="*/ 1019 w 1019"/>
              <a:gd name="T3" fmla="*/ 36 h 199"/>
              <a:gd name="T4" fmla="*/ 1019 w 1019"/>
              <a:gd name="T5" fmla="*/ 31 h 199"/>
              <a:gd name="T6" fmla="*/ 1017 w 1019"/>
              <a:gd name="T7" fmla="*/ 26 h 199"/>
              <a:gd name="T8" fmla="*/ 1017 w 1019"/>
              <a:gd name="T9" fmla="*/ 21 h 199"/>
              <a:gd name="T10" fmla="*/ 1016 w 1019"/>
              <a:gd name="T11" fmla="*/ 15 h 199"/>
              <a:gd name="T12" fmla="*/ 1016 w 1019"/>
              <a:gd name="T13" fmla="*/ 10 h 199"/>
              <a:gd name="T14" fmla="*/ 1014 w 1019"/>
              <a:gd name="T15" fmla="*/ 5 h 199"/>
              <a:gd name="T16" fmla="*/ 1012 w 1019"/>
              <a:gd name="T17" fmla="*/ 0 h 199"/>
              <a:gd name="T18" fmla="*/ 1007 w 1019"/>
              <a:gd name="T19" fmla="*/ 0 h 199"/>
              <a:gd name="T20" fmla="*/ 1009 w 1019"/>
              <a:gd name="T21" fmla="*/ 5 h 199"/>
              <a:gd name="T22" fmla="*/ 1011 w 1019"/>
              <a:gd name="T23" fmla="*/ 11 h 199"/>
              <a:gd name="T24" fmla="*/ 1011 w 1019"/>
              <a:gd name="T25" fmla="*/ 16 h 199"/>
              <a:gd name="T26" fmla="*/ 1012 w 1019"/>
              <a:gd name="T27" fmla="*/ 21 h 199"/>
              <a:gd name="T28" fmla="*/ 1012 w 1019"/>
              <a:gd name="T29" fmla="*/ 28 h 199"/>
              <a:gd name="T30" fmla="*/ 1014 w 1019"/>
              <a:gd name="T31" fmla="*/ 33 h 199"/>
              <a:gd name="T32" fmla="*/ 1014 w 1019"/>
              <a:gd name="T33" fmla="*/ 38 h 199"/>
              <a:gd name="T34" fmla="*/ 1016 w 1019"/>
              <a:gd name="T35" fmla="*/ 45 h 199"/>
              <a:gd name="T36" fmla="*/ 1019 w 1019"/>
              <a:gd name="T37" fmla="*/ 43 h 199"/>
              <a:gd name="T38" fmla="*/ 0 w 1019"/>
              <a:gd name="T39" fmla="*/ 154 h 199"/>
              <a:gd name="T40" fmla="*/ 2 w 1019"/>
              <a:gd name="T41" fmla="*/ 159 h 199"/>
              <a:gd name="T42" fmla="*/ 2 w 1019"/>
              <a:gd name="T43" fmla="*/ 165 h 199"/>
              <a:gd name="T44" fmla="*/ 2 w 1019"/>
              <a:gd name="T45" fmla="*/ 170 h 199"/>
              <a:gd name="T46" fmla="*/ 4 w 1019"/>
              <a:gd name="T47" fmla="*/ 175 h 199"/>
              <a:gd name="T48" fmla="*/ 4 w 1019"/>
              <a:gd name="T49" fmla="*/ 182 h 199"/>
              <a:gd name="T50" fmla="*/ 5 w 1019"/>
              <a:gd name="T51" fmla="*/ 187 h 199"/>
              <a:gd name="T52" fmla="*/ 7 w 1019"/>
              <a:gd name="T53" fmla="*/ 194 h 199"/>
              <a:gd name="T54" fmla="*/ 7 w 1019"/>
              <a:gd name="T55" fmla="*/ 199 h 199"/>
              <a:gd name="T56" fmla="*/ 12 w 1019"/>
              <a:gd name="T57" fmla="*/ 199 h 199"/>
              <a:gd name="T58" fmla="*/ 12 w 1019"/>
              <a:gd name="T59" fmla="*/ 192 h 199"/>
              <a:gd name="T60" fmla="*/ 10 w 1019"/>
              <a:gd name="T61" fmla="*/ 187 h 199"/>
              <a:gd name="T62" fmla="*/ 9 w 1019"/>
              <a:gd name="T63" fmla="*/ 180 h 199"/>
              <a:gd name="T64" fmla="*/ 9 w 1019"/>
              <a:gd name="T65" fmla="*/ 175 h 199"/>
              <a:gd name="T66" fmla="*/ 7 w 1019"/>
              <a:gd name="T67" fmla="*/ 169 h 199"/>
              <a:gd name="T68" fmla="*/ 7 w 1019"/>
              <a:gd name="T69" fmla="*/ 164 h 199"/>
              <a:gd name="T70" fmla="*/ 5 w 1019"/>
              <a:gd name="T71" fmla="*/ 157 h 199"/>
              <a:gd name="T72" fmla="*/ 5 w 1019"/>
              <a:gd name="T73" fmla="*/ 152 h 199"/>
              <a:gd name="T74" fmla="*/ 0 w 1019"/>
              <a:gd name="T75" fmla="*/ 15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19" h="199">
                <a:moveTo>
                  <a:pt x="1019" y="43"/>
                </a:moveTo>
                <a:lnTo>
                  <a:pt x="1019" y="36"/>
                </a:lnTo>
                <a:lnTo>
                  <a:pt x="1019" y="31"/>
                </a:lnTo>
                <a:lnTo>
                  <a:pt x="1017" y="26"/>
                </a:lnTo>
                <a:lnTo>
                  <a:pt x="1017" y="21"/>
                </a:lnTo>
                <a:lnTo>
                  <a:pt x="1016" y="15"/>
                </a:lnTo>
                <a:lnTo>
                  <a:pt x="1016" y="10"/>
                </a:lnTo>
                <a:lnTo>
                  <a:pt x="1014" y="5"/>
                </a:lnTo>
                <a:lnTo>
                  <a:pt x="1012" y="0"/>
                </a:lnTo>
                <a:lnTo>
                  <a:pt x="1007" y="0"/>
                </a:lnTo>
                <a:lnTo>
                  <a:pt x="1009" y="5"/>
                </a:lnTo>
                <a:lnTo>
                  <a:pt x="1011" y="11"/>
                </a:lnTo>
                <a:lnTo>
                  <a:pt x="1011" y="16"/>
                </a:lnTo>
                <a:lnTo>
                  <a:pt x="1012" y="21"/>
                </a:lnTo>
                <a:lnTo>
                  <a:pt x="1012" y="28"/>
                </a:lnTo>
                <a:lnTo>
                  <a:pt x="1014" y="33"/>
                </a:lnTo>
                <a:lnTo>
                  <a:pt x="1014" y="38"/>
                </a:lnTo>
                <a:lnTo>
                  <a:pt x="1016" y="45"/>
                </a:lnTo>
                <a:lnTo>
                  <a:pt x="1019" y="43"/>
                </a:lnTo>
                <a:close/>
                <a:moveTo>
                  <a:pt x="0" y="154"/>
                </a:moveTo>
                <a:lnTo>
                  <a:pt x="2" y="159"/>
                </a:lnTo>
                <a:lnTo>
                  <a:pt x="2" y="165"/>
                </a:lnTo>
                <a:lnTo>
                  <a:pt x="2" y="170"/>
                </a:lnTo>
                <a:lnTo>
                  <a:pt x="4" y="175"/>
                </a:lnTo>
                <a:lnTo>
                  <a:pt x="4" y="182"/>
                </a:lnTo>
                <a:lnTo>
                  <a:pt x="5" y="187"/>
                </a:lnTo>
                <a:lnTo>
                  <a:pt x="7" y="194"/>
                </a:lnTo>
                <a:lnTo>
                  <a:pt x="7" y="199"/>
                </a:lnTo>
                <a:lnTo>
                  <a:pt x="12" y="199"/>
                </a:lnTo>
                <a:lnTo>
                  <a:pt x="12" y="192"/>
                </a:lnTo>
                <a:lnTo>
                  <a:pt x="10" y="187"/>
                </a:lnTo>
                <a:lnTo>
                  <a:pt x="9" y="180"/>
                </a:lnTo>
                <a:lnTo>
                  <a:pt x="9" y="175"/>
                </a:lnTo>
                <a:lnTo>
                  <a:pt x="7" y="169"/>
                </a:lnTo>
                <a:lnTo>
                  <a:pt x="7" y="164"/>
                </a:lnTo>
                <a:lnTo>
                  <a:pt x="5" y="157"/>
                </a:lnTo>
                <a:lnTo>
                  <a:pt x="5" y="152"/>
                </a:lnTo>
                <a:lnTo>
                  <a:pt x="0" y="154"/>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05" name="Freeform 1010">
            <a:extLst>
              <a:ext uri="{FF2B5EF4-FFF2-40B4-BE49-F238E27FC236}">
                <a16:creationId xmlns:a16="http://schemas.microsoft.com/office/drawing/2014/main" id="{FFD9C0BA-D6FD-FC85-59C9-54E9C6DFE4D4}"/>
              </a:ext>
            </a:extLst>
          </p:cNvPr>
          <p:cNvSpPr>
            <a:spLocks noEditPoints="1"/>
          </p:cNvSpPr>
          <p:nvPr/>
        </p:nvSpPr>
        <p:spPr bwMode="auto">
          <a:xfrm>
            <a:off x="2111375" y="2403475"/>
            <a:ext cx="1608138" cy="315913"/>
          </a:xfrm>
          <a:custGeom>
            <a:avLst/>
            <a:gdLst>
              <a:gd name="T0" fmla="*/ 1013 w 1013"/>
              <a:gd name="T1" fmla="*/ 43 h 199"/>
              <a:gd name="T2" fmla="*/ 1013 w 1013"/>
              <a:gd name="T3" fmla="*/ 38 h 199"/>
              <a:gd name="T4" fmla="*/ 1012 w 1013"/>
              <a:gd name="T5" fmla="*/ 33 h 199"/>
              <a:gd name="T6" fmla="*/ 1012 w 1013"/>
              <a:gd name="T7" fmla="*/ 26 h 199"/>
              <a:gd name="T8" fmla="*/ 1010 w 1013"/>
              <a:gd name="T9" fmla="*/ 21 h 199"/>
              <a:gd name="T10" fmla="*/ 1010 w 1013"/>
              <a:gd name="T11" fmla="*/ 16 h 199"/>
              <a:gd name="T12" fmla="*/ 1008 w 1013"/>
              <a:gd name="T13" fmla="*/ 10 h 199"/>
              <a:gd name="T14" fmla="*/ 1008 w 1013"/>
              <a:gd name="T15" fmla="*/ 5 h 199"/>
              <a:gd name="T16" fmla="*/ 1007 w 1013"/>
              <a:gd name="T17" fmla="*/ 0 h 199"/>
              <a:gd name="T18" fmla="*/ 1002 w 1013"/>
              <a:gd name="T19" fmla="*/ 0 h 199"/>
              <a:gd name="T20" fmla="*/ 1003 w 1013"/>
              <a:gd name="T21" fmla="*/ 5 h 199"/>
              <a:gd name="T22" fmla="*/ 1003 w 1013"/>
              <a:gd name="T23" fmla="*/ 11 h 199"/>
              <a:gd name="T24" fmla="*/ 1005 w 1013"/>
              <a:gd name="T25" fmla="*/ 16 h 199"/>
              <a:gd name="T26" fmla="*/ 1005 w 1013"/>
              <a:gd name="T27" fmla="*/ 23 h 199"/>
              <a:gd name="T28" fmla="*/ 1007 w 1013"/>
              <a:gd name="T29" fmla="*/ 28 h 199"/>
              <a:gd name="T30" fmla="*/ 1007 w 1013"/>
              <a:gd name="T31" fmla="*/ 33 h 199"/>
              <a:gd name="T32" fmla="*/ 1008 w 1013"/>
              <a:gd name="T33" fmla="*/ 40 h 199"/>
              <a:gd name="T34" fmla="*/ 1008 w 1013"/>
              <a:gd name="T35" fmla="*/ 45 h 199"/>
              <a:gd name="T36" fmla="*/ 1013 w 1013"/>
              <a:gd name="T37" fmla="*/ 43 h 199"/>
              <a:gd name="T38" fmla="*/ 0 w 1013"/>
              <a:gd name="T39" fmla="*/ 152 h 199"/>
              <a:gd name="T40" fmla="*/ 0 w 1013"/>
              <a:gd name="T41" fmla="*/ 159 h 199"/>
              <a:gd name="T42" fmla="*/ 0 w 1013"/>
              <a:gd name="T43" fmla="*/ 164 h 199"/>
              <a:gd name="T44" fmla="*/ 1 w 1013"/>
              <a:gd name="T45" fmla="*/ 170 h 199"/>
              <a:gd name="T46" fmla="*/ 1 w 1013"/>
              <a:gd name="T47" fmla="*/ 175 h 199"/>
              <a:gd name="T48" fmla="*/ 3 w 1013"/>
              <a:gd name="T49" fmla="*/ 182 h 199"/>
              <a:gd name="T50" fmla="*/ 3 w 1013"/>
              <a:gd name="T51" fmla="*/ 187 h 199"/>
              <a:gd name="T52" fmla="*/ 5 w 1013"/>
              <a:gd name="T53" fmla="*/ 192 h 199"/>
              <a:gd name="T54" fmla="*/ 6 w 1013"/>
              <a:gd name="T55" fmla="*/ 199 h 199"/>
              <a:gd name="T56" fmla="*/ 11 w 1013"/>
              <a:gd name="T57" fmla="*/ 199 h 199"/>
              <a:gd name="T58" fmla="*/ 10 w 1013"/>
              <a:gd name="T59" fmla="*/ 192 h 199"/>
              <a:gd name="T60" fmla="*/ 8 w 1013"/>
              <a:gd name="T61" fmla="*/ 187 h 199"/>
              <a:gd name="T62" fmla="*/ 8 w 1013"/>
              <a:gd name="T63" fmla="*/ 180 h 199"/>
              <a:gd name="T64" fmla="*/ 6 w 1013"/>
              <a:gd name="T65" fmla="*/ 175 h 199"/>
              <a:gd name="T66" fmla="*/ 6 w 1013"/>
              <a:gd name="T67" fmla="*/ 169 h 199"/>
              <a:gd name="T68" fmla="*/ 5 w 1013"/>
              <a:gd name="T69" fmla="*/ 162 h 199"/>
              <a:gd name="T70" fmla="*/ 5 w 1013"/>
              <a:gd name="T71" fmla="*/ 157 h 199"/>
              <a:gd name="T72" fmla="*/ 3 w 1013"/>
              <a:gd name="T73" fmla="*/ 151 h 199"/>
              <a:gd name="T74" fmla="*/ 0 w 1013"/>
              <a:gd name="T75" fmla="*/ 15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13" h="199">
                <a:moveTo>
                  <a:pt x="1013" y="43"/>
                </a:moveTo>
                <a:lnTo>
                  <a:pt x="1013" y="38"/>
                </a:lnTo>
                <a:lnTo>
                  <a:pt x="1012" y="33"/>
                </a:lnTo>
                <a:lnTo>
                  <a:pt x="1012" y="26"/>
                </a:lnTo>
                <a:lnTo>
                  <a:pt x="1010" y="21"/>
                </a:lnTo>
                <a:lnTo>
                  <a:pt x="1010" y="16"/>
                </a:lnTo>
                <a:lnTo>
                  <a:pt x="1008" y="10"/>
                </a:lnTo>
                <a:lnTo>
                  <a:pt x="1008" y="5"/>
                </a:lnTo>
                <a:lnTo>
                  <a:pt x="1007" y="0"/>
                </a:lnTo>
                <a:lnTo>
                  <a:pt x="1002" y="0"/>
                </a:lnTo>
                <a:lnTo>
                  <a:pt x="1003" y="5"/>
                </a:lnTo>
                <a:lnTo>
                  <a:pt x="1003" y="11"/>
                </a:lnTo>
                <a:lnTo>
                  <a:pt x="1005" y="16"/>
                </a:lnTo>
                <a:lnTo>
                  <a:pt x="1005" y="23"/>
                </a:lnTo>
                <a:lnTo>
                  <a:pt x="1007" y="28"/>
                </a:lnTo>
                <a:lnTo>
                  <a:pt x="1007" y="33"/>
                </a:lnTo>
                <a:lnTo>
                  <a:pt x="1008" y="40"/>
                </a:lnTo>
                <a:lnTo>
                  <a:pt x="1008" y="45"/>
                </a:lnTo>
                <a:lnTo>
                  <a:pt x="1013" y="43"/>
                </a:lnTo>
                <a:close/>
                <a:moveTo>
                  <a:pt x="0" y="152"/>
                </a:moveTo>
                <a:lnTo>
                  <a:pt x="0" y="159"/>
                </a:lnTo>
                <a:lnTo>
                  <a:pt x="0" y="164"/>
                </a:lnTo>
                <a:lnTo>
                  <a:pt x="1" y="170"/>
                </a:lnTo>
                <a:lnTo>
                  <a:pt x="1" y="175"/>
                </a:lnTo>
                <a:lnTo>
                  <a:pt x="3" y="182"/>
                </a:lnTo>
                <a:lnTo>
                  <a:pt x="3" y="187"/>
                </a:lnTo>
                <a:lnTo>
                  <a:pt x="5" y="192"/>
                </a:lnTo>
                <a:lnTo>
                  <a:pt x="6" y="199"/>
                </a:lnTo>
                <a:lnTo>
                  <a:pt x="11" y="199"/>
                </a:lnTo>
                <a:lnTo>
                  <a:pt x="10" y="192"/>
                </a:lnTo>
                <a:lnTo>
                  <a:pt x="8" y="187"/>
                </a:lnTo>
                <a:lnTo>
                  <a:pt x="8" y="180"/>
                </a:lnTo>
                <a:lnTo>
                  <a:pt x="6" y="175"/>
                </a:lnTo>
                <a:lnTo>
                  <a:pt x="6" y="169"/>
                </a:lnTo>
                <a:lnTo>
                  <a:pt x="5" y="162"/>
                </a:lnTo>
                <a:lnTo>
                  <a:pt x="5" y="157"/>
                </a:lnTo>
                <a:lnTo>
                  <a:pt x="3" y="151"/>
                </a:lnTo>
                <a:lnTo>
                  <a:pt x="0" y="152"/>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06" name="Freeform 1011">
            <a:extLst>
              <a:ext uri="{FF2B5EF4-FFF2-40B4-BE49-F238E27FC236}">
                <a16:creationId xmlns:a16="http://schemas.microsoft.com/office/drawing/2014/main" id="{BED7A34A-2A7C-C1E6-EDA1-A2AC4EB342F8}"/>
              </a:ext>
            </a:extLst>
          </p:cNvPr>
          <p:cNvSpPr>
            <a:spLocks noEditPoints="1"/>
          </p:cNvSpPr>
          <p:nvPr/>
        </p:nvSpPr>
        <p:spPr bwMode="auto">
          <a:xfrm>
            <a:off x="2112963" y="2403475"/>
            <a:ext cx="1604963" cy="315913"/>
          </a:xfrm>
          <a:custGeom>
            <a:avLst/>
            <a:gdLst>
              <a:gd name="T0" fmla="*/ 1011 w 1011"/>
              <a:gd name="T1" fmla="*/ 45 h 199"/>
              <a:gd name="T2" fmla="*/ 1009 w 1011"/>
              <a:gd name="T3" fmla="*/ 38 h 199"/>
              <a:gd name="T4" fmla="*/ 1009 w 1011"/>
              <a:gd name="T5" fmla="*/ 33 h 199"/>
              <a:gd name="T6" fmla="*/ 1007 w 1011"/>
              <a:gd name="T7" fmla="*/ 28 h 199"/>
              <a:gd name="T8" fmla="*/ 1007 w 1011"/>
              <a:gd name="T9" fmla="*/ 21 h 199"/>
              <a:gd name="T10" fmla="*/ 1006 w 1011"/>
              <a:gd name="T11" fmla="*/ 16 h 199"/>
              <a:gd name="T12" fmla="*/ 1006 w 1011"/>
              <a:gd name="T13" fmla="*/ 11 h 199"/>
              <a:gd name="T14" fmla="*/ 1004 w 1011"/>
              <a:gd name="T15" fmla="*/ 5 h 199"/>
              <a:gd name="T16" fmla="*/ 1002 w 1011"/>
              <a:gd name="T17" fmla="*/ 0 h 199"/>
              <a:gd name="T18" fmla="*/ 999 w 1011"/>
              <a:gd name="T19" fmla="*/ 0 h 199"/>
              <a:gd name="T20" fmla="*/ 999 w 1011"/>
              <a:gd name="T21" fmla="*/ 5 h 199"/>
              <a:gd name="T22" fmla="*/ 1001 w 1011"/>
              <a:gd name="T23" fmla="*/ 11 h 199"/>
              <a:gd name="T24" fmla="*/ 1001 w 1011"/>
              <a:gd name="T25" fmla="*/ 16 h 199"/>
              <a:gd name="T26" fmla="*/ 1002 w 1011"/>
              <a:gd name="T27" fmla="*/ 23 h 199"/>
              <a:gd name="T28" fmla="*/ 1004 w 1011"/>
              <a:gd name="T29" fmla="*/ 28 h 199"/>
              <a:gd name="T30" fmla="*/ 1004 w 1011"/>
              <a:gd name="T31" fmla="*/ 35 h 199"/>
              <a:gd name="T32" fmla="*/ 1004 w 1011"/>
              <a:gd name="T33" fmla="*/ 41 h 199"/>
              <a:gd name="T34" fmla="*/ 1006 w 1011"/>
              <a:gd name="T35" fmla="*/ 46 h 199"/>
              <a:gd name="T36" fmla="*/ 1011 w 1011"/>
              <a:gd name="T37" fmla="*/ 45 h 199"/>
              <a:gd name="T38" fmla="*/ 0 w 1011"/>
              <a:gd name="T39" fmla="*/ 152 h 199"/>
              <a:gd name="T40" fmla="*/ 0 w 1011"/>
              <a:gd name="T41" fmla="*/ 157 h 199"/>
              <a:gd name="T42" fmla="*/ 2 w 1011"/>
              <a:gd name="T43" fmla="*/ 164 h 199"/>
              <a:gd name="T44" fmla="*/ 2 w 1011"/>
              <a:gd name="T45" fmla="*/ 169 h 199"/>
              <a:gd name="T46" fmla="*/ 4 w 1011"/>
              <a:gd name="T47" fmla="*/ 175 h 199"/>
              <a:gd name="T48" fmla="*/ 4 w 1011"/>
              <a:gd name="T49" fmla="*/ 180 h 199"/>
              <a:gd name="T50" fmla="*/ 5 w 1011"/>
              <a:gd name="T51" fmla="*/ 187 h 199"/>
              <a:gd name="T52" fmla="*/ 7 w 1011"/>
              <a:gd name="T53" fmla="*/ 192 h 199"/>
              <a:gd name="T54" fmla="*/ 7 w 1011"/>
              <a:gd name="T55" fmla="*/ 199 h 199"/>
              <a:gd name="T56" fmla="*/ 12 w 1011"/>
              <a:gd name="T57" fmla="*/ 199 h 199"/>
              <a:gd name="T58" fmla="*/ 10 w 1011"/>
              <a:gd name="T59" fmla="*/ 192 h 199"/>
              <a:gd name="T60" fmla="*/ 10 w 1011"/>
              <a:gd name="T61" fmla="*/ 187 h 199"/>
              <a:gd name="T62" fmla="*/ 9 w 1011"/>
              <a:gd name="T63" fmla="*/ 180 h 199"/>
              <a:gd name="T64" fmla="*/ 9 w 1011"/>
              <a:gd name="T65" fmla="*/ 174 h 199"/>
              <a:gd name="T66" fmla="*/ 7 w 1011"/>
              <a:gd name="T67" fmla="*/ 167 h 199"/>
              <a:gd name="T68" fmla="*/ 7 w 1011"/>
              <a:gd name="T69" fmla="*/ 162 h 199"/>
              <a:gd name="T70" fmla="*/ 5 w 1011"/>
              <a:gd name="T71" fmla="*/ 155 h 199"/>
              <a:gd name="T72" fmla="*/ 5 w 1011"/>
              <a:gd name="T73" fmla="*/ 149 h 199"/>
              <a:gd name="T74" fmla="*/ 0 w 1011"/>
              <a:gd name="T75" fmla="*/ 15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11" h="199">
                <a:moveTo>
                  <a:pt x="1011" y="45"/>
                </a:moveTo>
                <a:lnTo>
                  <a:pt x="1009" y="38"/>
                </a:lnTo>
                <a:lnTo>
                  <a:pt x="1009" y="33"/>
                </a:lnTo>
                <a:lnTo>
                  <a:pt x="1007" y="28"/>
                </a:lnTo>
                <a:lnTo>
                  <a:pt x="1007" y="21"/>
                </a:lnTo>
                <a:lnTo>
                  <a:pt x="1006" y="16"/>
                </a:lnTo>
                <a:lnTo>
                  <a:pt x="1006" y="11"/>
                </a:lnTo>
                <a:lnTo>
                  <a:pt x="1004" y="5"/>
                </a:lnTo>
                <a:lnTo>
                  <a:pt x="1002" y="0"/>
                </a:lnTo>
                <a:lnTo>
                  <a:pt x="999" y="0"/>
                </a:lnTo>
                <a:lnTo>
                  <a:pt x="999" y="5"/>
                </a:lnTo>
                <a:lnTo>
                  <a:pt x="1001" y="11"/>
                </a:lnTo>
                <a:lnTo>
                  <a:pt x="1001" y="16"/>
                </a:lnTo>
                <a:lnTo>
                  <a:pt x="1002" y="23"/>
                </a:lnTo>
                <a:lnTo>
                  <a:pt x="1004" y="28"/>
                </a:lnTo>
                <a:lnTo>
                  <a:pt x="1004" y="35"/>
                </a:lnTo>
                <a:lnTo>
                  <a:pt x="1004" y="41"/>
                </a:lnTo>
                <a:lnTo>
                  <a:pt x="1006" y="46"/>
                </a:lnTo>
                <a:lnTo>
                  <a:pt x="1011" y="45"/>
                </a:lnTo>
                <a:close/>
                <a:moveTo>
                  <a:pt x="0" y="152"/>
                </a:moveTo>
                <a:lnTo>
                  <a:pt x="0" y="157"/>
                </a:lnTo>
                <a:lnTo>
                  <a:pt x="2" y="164"/>
                </a:lnTo>
                <a:lnTo>
                  <a:pt x="2" y="169"/>
                </a:lnTo>
                <a:lnTo>
                  <a:pt x="4" y="175"/>
                </a:lnTo>
                <a:lnTo>
                  <a:pt x="4" y="180"/>
                </a:lnTo>
                <a:lnTo>
                  <a:pt x="5" y="187"/>
                </a:lnTo>
                <a:lnTo>
                  <a:pt x="7" y="192"/>
                </a:lnTo>
                <a:lnTo>
                  <a:pt x="7" y="199"/>
                </a:lnTo>
                <a:lnTo>
                  <a:pt x="12" y="199"/>
                </a:lnTo>
                <a:lnTo>
                  <a:pt x="10" y="192"/>
                </a:lnTo>
                <a:lnTo>
                  <a:pt x="10" y="187"/>
                </a:lnTo>
                <a:lnTo>
                  <a:pt x="9" y="180"/>
                </a:lnTo>
                <a:lnTo>
                  <a:pt x="9" y="174"/>
                </a:lnTo>
                <a:lnTo>
                  <a:pt x="7" y="167"/>
                </a:lnTo>
                <a:lnTo>
                  <a:pt x="7" y="162"/>
                </a:lnTo>
                <a:lnTo>
                  <a:pt x="5" y="155"/>
                </a:lnTo>
                <a:lnTo>
                  <a:pt x="5" y="149"/>
                </a:lnTo>
                <a:lnTo>
                  <a:pt x="0" y="152"/>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07" name="Freeform 1012">
            <a:extLst>
              <a:ext uri="{FF2B5EF4-FFF2-40B4-BE49-F238E27FC236}">
                <a16:creationId xmlns:a16="http://schemas.microsoft.com/office/drawing/2014/main" id="{7E427202-FBCA-9169-9B53-B3D331EAEC75}"/>
              </a:ext>
            </a:extLst>
          </p:cNvPr>
          <p:cNvSpPr>
            <a:spLocks noEditPoints="1"/>
          </p:cNvSpPr>
          <p:nvPr/>
        </p:nvSpPr>
        <p:spPr bwMode="auto">
          <a:xfrm>
            <a:off x="2116138" y="2403475"/>
            <a:ext cx="1595438" cy="315913"/>
          </a:xfrm>
          <a:custGeom>
            <a:avLst/>
            <a:gdLst>
              <a:gd name="T0" fmla="*/ 1005 w 1005"/>
              <a:gd name="T1" fmla="*/ 45 h 199"/>
              <a:gd name="T2" fmla="*/ 1005 w 1005"/>
              <a:gd name="T3" fmla="*/ 40 h 199"/>
              <a:gd name="T4" fmla="*/ 1004 w 1005"/>
              <a:gd name="T5" fmla="*/ 33 h 199"/>
              <a:gd name="T6" fmla="*/ 1004 w 1005"/>
              <a:gd name="T7" fmla="*/ 28 h 199"/>
              <a:gd name="T8" fmla="*/ 1002 w 1005"/>
              <a:gd name="T9" fmla="*/ 23 h 199"/>
              <a:gd name="T10" fmla="*/ 1002 w 1005"/>
              <a:gd name="T11" fmla="*/ 16 h 199"/>
              <a:gd name="T12" fmla="*/ 1000 w 1005"/>
              <a:gd name="T13" fmla="*/ 11 h 199"/>
              <a:gd name="T14" fmla="*/ 1000 w 1005"/>
              <a:gd name="T15" fmla="*/ 5 h 199"/>
              <a:gd name="T16" fmla="*/ 999 w 1005"/>
              <a:gd name="T17" fmla="*/ 0 h 199"/>
              <a:gd name="T18" fmla="*/ 994 w 1005"/>
              <a:gd name="T19" fmla="*/ 0 h 199"/>
              <a:gd name="T20" fmla="*/ 995 w 1005"/>
              <a:gd name="T21" fmla="*/ 5 h 199"/>
              <a:gd name="T22" fmla="*/ 995 w 1005"/>
              <a:gd name="T23" fmla="*/ 11 h 199"/>
              <a:gd name="T24" fmla="*/ 997 w 1005"/>
              <a:gd name="T25" fmla="*/ 18 h 199"/>
              <a:gd name="T26" fmla="*/ 999 w 1005"/>
              <a:gd name="T27" fmla="*/ 23 h 199"/>
              <a:gd name="T28" fmla="*/ 999 w 1005"/>
              <a:gd name="T29" fmla="*/ 30 h 199"/>
              <a:gd name="T30" fmla="*/ 1000 w 1005"/>
              <a:gd name="T31" fmla="*/ 35 h 199"/>
              <a:gd name="T32" fmla="*/ 1000 w 1005"/>
              <a:gd name="T33" fmla="*/ 41 h 199"/>
              <a:gd name="T34" fmla="*/ 1000 w 1005"/>
              <a:gd name="T35" fmla="*/ 48 h 199"/>
              <a:gd name="T36" fmla="*/ 1005 w 1005"/>
              <a:gd name="T37" fmla="*/ 45 h 199"/>
              <a:gd name="T38" fmla="*/ 0 w 1005"/>
              <a:gd name="T39" fmla="*/ 151 h 199"/>
              <a:gd name="T40" fmla="*/ 2 w 1005"/>
              <a:gd name="T41" fmla="*/ 157 h 199"/>
              <a:gd name="T42" fmla="*/ 2 w 1005"/>
              <a:gd name="T43" fmla="*/ 162 h 199"/>
              <a:gd name="T44" fmla="*/ 3 w 1005"/>
              <a:gd name="T45" fmla="*/ 169 h 199"/>
              <a:gd name="T46" fmla="*/ 3 w 1005"/>
              <a:gd name="T47" fmla="*/ 175 h 199"/>
              <a:gd name="T48" fmla="*/ 5 w 1005"/>
              <a:gd name="T49" fmla="*/ 180 h 199"/>
              <a:gd name="T50" fmla="*/ 5 w 1005"/>
              <a:gd name="T51" fmla="*/ 187 h 199"/>
              <a:gd name="T52" fmla="*/ 7 w 1005"/>
              <a:gd name="T53" fmla="*/ 192 h 199"/>
              <a:gd name="T54" fmla="*/ 8 w 1005"/>
              <a:gd name="T55" fmla="*/ 199 h 199"/>
              <a:gd name="T56" fmla="*/ 13 w 1005"/>
              <a:gd name="T57" fmla="*/ 199 h 199"/>
              <a:gd name="T58" fmla="*/ 12 w 1005"/>
              <a:gd name="T59" fmla="*/ 192 h 199"/>
              <a:gd name="T60" fmla="*/ 10 w 1005"/>
              <a:gd name="T61" fmla="*/ 185 h 199"/>
              <a:gd name="T62" fmla="*/ 10 w 1005"/>
              <a:gd name="T63" fmla="*/ 180 h 199"/>
              <a:gd name="T64" fmla="*/ 8 w 1005"/>
              <a:gd name="T65" fmla="*/ 174 h 199"/>
              <a:gd name="T66" fmla="*/ 7 w 1005"/>
              <a:gd name="T67" fmla="*/ 167 h 199"/>
              <a:gd name="T68" fmla="*/ 7 w 1005"/>
              <a:gd name="T69" fmla="*/ 160 h 199"/>
              <a:gd name="T70" fmla="*/ 5 w 1005"/>
              <a:gd name="T71" fmla="*/ 154 h 199"/>
              <a:gd name="T72" fmla="*/ 5 w 1005"/>
              <a:gd name="T73" fmla="*/ 149 h 199"/>
              <a:gd name="T74" fmla="*/ 0 w 1005"/>
              <a:gd name="T75" fmla="*/ 15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05" h="199">
                <a:moveTo>
                  <a:pt x="1005" y="45"/>
                </a:moveTo>
                <a:lnTo>
                  <a:pt x="1005" y="40"/>
                </a:lnTo>
                <a:lnTo>
                  <a:pt x="1004" y="33"/>
                </a:lnTo>
                <a:lnTo>
                  <a:pt x="1004" y="28"/>
                </a:lnTo>
                <a:lnTo>
                  <a:pt x="1002" y="23"/>
                </a:lnTo>
                <a:lnTo>
                  <a:pt x="1002" y="16"/>
                </a:lnTo>
                <a:lnTo>
                  <a:pt x="1000" y="11"/>
                </a:lnTo>
                <a:lnTo>
                  <a:pt x="1000" y="5"/>
                </a:lnTo>
                <a:lnTo>
                  <a:pt x="999" y="0"/>
                </a:lnTo>
                <a:lnTo>
                  <a:pt x="994" y="0"/>
                </a:lnTo>
                <a:lnTo>
                  <a:pt x="995" y="5"/>
                </a:lnTo>
                <a:lnTo>
                  <a:pt x="995" y="11"/>
                </a:lnTo>
                <a:lnTo>
                  <a:pt x="997" y="18"/>
                </a:lnTo>
                <a:lnTo>
                  <a:pt x="999" y="23"/>
                </a:lnTo>
                <a:lnTo>
                  <a:pt x="999" y="30"/>
                </a:lnTo>
                <a:lnTo>
                  <a:pt x="1000" y="35"/>
                </a:lnTo>
                <a:lnTo>
                  <a:pt x="1000" y="41"/>
                </a:lnTo>
                <a:lnTo>
                  <a:pt x="1000" y="48"/>
                </a:lnTo>
                <a:lnTo>
                  <a:pt x="1005" y="45"/>
                </a:lnTo>
                <a:close/>
                <a:moveTo>
                  <a:pt x="0" y="151"/>
                </a:moveTo>
                <a:lnTo>
                  <a:pt x="2" y="157"/>
                </a:lnTo>
                <a:lnTo>
                  <a:pt x="2" y="162"/>
                </a:lnTo>
                <a:lnTo>
                  <a:pt x="3" y="169"/>
                </a:lnTo>
                <a:lnTo>
                  <a:pt x="3" y="175"/>
                </a:lnTo>
                <a:lnTo>
                  <a:pt x="5" y="180"/>
                </a:lnTo>
                <a:lnTo>
                  <a:pt x="5" y="187"/>
                </a:lnTo>
                <a:lnTo>
                  <a:pt x="7" y="192"/>
                </a:lnTo>
                <a:lnTo>
                  <a:pt x="8" y="199"/>
                </a:lnTo>
                <a:lnTo>
                  <a:pt x="13" y="199"/>
                </a:lnTo>
                <a:lnTo>
                  <a:pt x="12" y="192"/>
                </a:lnTo>
                <a:lnTo>
                  <a:pt x="10" y="185"/>
                </a:lnTo>
                <a:lnTo>
                  <a:pt x="10" y="180"/>
                </a:lnTo>
                <a:lnTo>
                  <a:pt x="8" y="174"/>
                </a:lnTo>
                <a:lnTo>
                  <a:pt x="7" y="167"/>
                </a:lnTo>
                <a:lnTo>
                  <a:pt x="7" y="160"/>
                </a:lnTo>
                <a:lnTo>
                  <a:pt x="5" y="154"/>
                </a:lnTo>
                <a:lnTo>
                  <a:pt x="5" y="149"/>
                </a:lnTo>
                <a:lnTo>
                  <a:pt x="0" y="151"/>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08" name="Freeform 1013">
            <a:extLst>
              <a:ext uri="{FF2B5EF4-FFF2-40B4-BE49-F238E27FC236}">
                <a16:creationId xmlns:a16="http://schemas.microsoft.com/office/drawing/2014/main" id="{C638906F-F678-E014-AFFF-51A8928B8A75}"/>
              </a:ext>
            </a:extLst>
          </p:cNvPr>
          <p:cNvSpPr>
            <a:spLocks noEditPoints="1"/>
          </p:cNvSpPr>
          <p:nvPr/>
        </p:nvSpPr>
        <p:spPr bwMode="auto">
          <a:xfrm>
            <a:off x="2120900" y="2403475"/>
            <a:ext cx="1589088" cy="315913"/>
          </a:xfrm>
          <a:custGeom>
            <a:avLst/>
            <a:gdLst>
              <a:gd name="T0" fmla="*/ 1001 w 1001"/>
              <a:gd name="T1" fmla="*/ 46 h 199"/>
              <a:gd name="T2" fmla="*/ 999 w 1001"/>
              <a:gd name="T3" fmla="*/ 41 h 199"/>
              <a:gd name="T4" fmla="*/ 999 w 1001"/>
              <a:gd name="T5" fmla="*/ 35 h 199"/>
              <a:gd name="T6" fmla="*/ 999 w 1001"/>
              <a:gd name="T7" fmla="*/ 28 h 199"/>
              <a:gd name="T8" fmla="*/ 997 w 1001"/>
              <a:gd name="T9" fmla="*/ 23 h 199"/>
              <a:gd name="T10" fmla="*/ 996 w 1001"/>
              <a:gd name="T11" fmla="*/ 16 h 199"/>
              <a:gd name="T12" fmla="*/ 996 w 1001"/>
              <a:gd name="T13" fmla="*/ 11 h 199"/>
              <a:gd name="T14" fmla="*/ 994 w 1001"/>
              <a:gd name="T15" fmla="*/ 5 h 199"/>
              <a:gd name="T16" fmla="*/ 994 w 1001"/>
              <a:gd name="T17" fmla="*/ 0 h 199"/>
              <a:gd name="T18" fmla="*/ 989 w 1001"/>
              <a:gd name="T19" fmla="*/ 0 h 199"/>
              <a:gd name="T20" fmla="*/ 989 w 1001"/>
              <a:gd name="T21" fmla="*/ 6 h 199"/>
              <a:gd name="T22" fmla="*/ 991 w 1001"/>
              <a:gd name="T23" fmla="*/ 11 h 199"/>
              <a:gd name="T24" fmla="*/ 992 w 1001"/>
              <a:gd name="T25" fmla="*/ 18 h 199"/>
              <a:gd name="T26" fmla="*/ 992 w 1001"/>
              <a:gd name="T27" fmla="*/ 23 h 199"/>
              <a:gd name="T28" fmla="*/ 994 w 1001"/>
              <a:gd name="T29" fmla="*/ 30 h 199"/>
              <a:gd name="T30" fmla="*/ 994 w 1001"/>
              <a:gd name="T31" fmla="*/ 36 h 199"/>
              <a:gd name="T32" fmla="*/ 996 w 1001"/>
              <a:gd name="T33" fmla="*/ 43 h 199"/>
              <a:gd name="T34" fmla="*/ 996 w 1001"/>
              <a:gd name="T35" fmla="*/ 48 h 199"/>
              <a:gd name="T36" fmla="*/ 1001 w 1001"/>
              <a:gd name="T37" fmla="*/ 46 h 199"/>
              <a:gd name="T38" fmla="*/ 0 w 1001"/>
              <a:gd name="T39" fmla="*/ 149 h 199"/>
              <a:gd name="T40" fmla="*/ 0 w 1001"/>
              <a:gd name="T41" fmla="*/ 155 h 199"/>
              <a:gd name="T42" fmla="*/ 2 w 1001"/>
              <a:gd name="T43" fmla="*/ 162 h 199"/>
              <a:gd name="T44" fmla="*/ 2 w 1001"/>
              <a:gd name="T45" fmla="*/ 167 h 199"/>
              <a:gd name="T46" fmla="*/ 4 w 1001"/>
              <a:gd name="T47" fmla="*/ 174 h 199"/>
              <a:gd name="T48" fmla="*/ 4 w 1001"/>
              <a:gd name="T49" fmla="*/ 180 h 199"/>
              <a:gd name="T50" fmla="*/ 5 w 1001"/>
              <a:gd name="T51" fmla="*/ 187 h 199"/>
              <a:gd name="T52" fmla="*/ 5 w 1001"/>
              <a:gd name="T53" fmla="*/ 192 h 199"/>
              <a:gd name="T54" fmla="*/ 7 w 1001"/>
              <a:gd name="T55" fmla="*/ 199 h 199"/>
              <a:gd name="T56" fmla="*/ 12 w 1001"/>
              <a:gd name="T57" fmla="*/ 199 h 199"/>
              <a:gd name="T58" fmla="*/ 10 w 1001"/>
              <a:gd name="T59" fmla="*/ 192 h 199"/>
              <a:gd name="T60" fmla="*/ 10 w 1001"/>
              <a:gd name="T61" fmla="*/ 185 h 199"/>
              <a:gd name="T62" fmla="*/ 9 w 1001"/>
              <a:gd name="T63" fmla="*/ 179 h 199"/>
              <a:gd name="T64" fmla="*/ 7 w 1001"/>
              <a:gd name="T65" fmla="*/ 174 h 199"/>
              <a:gd name="T66" fmla="*/ 7 w 1001"/>
              <a:gd name="T67" fmla="*/ 167 h 199"/>
              <a:gd name="T68" fmla="*/ 5 w 1001"/>
              <a:gd name="T69" fmla="*/ 160 h 199"/>
              <a:gd name="T70" fmla="*/ 5 w 1001"/>
              <a:gd name="T71" fmla="*/ 154 h 199"/>
              <a:gd name="T72" fmla="*/ 4 w 1001"/>
              <a:gd name="T73" fmla="*/ 147 h 199"/>
              <a:gd name="T74" fmla="*/ 0 w 1001"/>
              <a:gd name="T75" fmla="*/ 14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01" h="199">
                <a:moveTo>
                  <a:pt x="1001" y="46"/>
                </a:moveTo>
                <a:lnTo>
                  <a:pt x="999" y="41"/>
                </a:lnTo>
                <a:lnTo>
                  <a:pt x="999" y="35"/>
                </a:lnTo>
                <a:lnTo>
                  <a:pt x="999" y="28"/>
                </a:lnTo>
                <a:lnTo>
                  <a:pt x="997" y="23"/>
                </a:lnTo>
                <a:lnTo>
                  <a:pt x="996" y="16"/>
                </a:lnTo>
                <a:lnTo>
                  <a:pt x="996" y="11"/>
                </a:lnTo>
                <a:lnTo>
                  <a:pt x="994" y="5"/>
                </a:lnTo>
                <a:lnTo>
                  <a:pt x="994" y="0"/>
                </a:lnTo>
                <a:lnTo>
                  <a:pt x="989" y="0"/>
                </a:lnTo>
                <a:lnTo>
                  <a:pt x="989" y="6"/>
                </a:lnTo>
                <a:lnTo>
                  <a:pt x="991" y="11"/>
                </a:lnTo>
                <a:lnTo>
                  <a:pt x="992" y="18"/>
                </a:lnTo>
                <a:lnTo>
                  <a:pt x="992" y="23"/>
                </a:lnTo>
                <a:lnTo>
                  <a:pt x="994" y="30"/>
                </a:lnTo>
                <a:lnTo>
                  <a:pt x="994" y="36"/>
                </a:lnTo>
                <a:lnTo>
                  <a:pt x="996" y="43"/>
                </a:lnTo>
                <a:lnTo>
                  <a:pt x="996" y="48"/>
                </a:lnTo>
                <a:lnTo>
                  <a:pt x="1001" y="46"/>
                </a:lnTo>
                <a:close/>
                <a:moveTo>
                  <a:pt x="0" y="149"/>
                </a:moveTo>
                <a:lnTo>
                  <a:pt x="0" y="155"/>
                </a:lnTo>
                <a:lnTo>
                  <a:pt x="2" y="162"/>
                </a:lnTo>
                <a:lnTo>
                  <a:pt x="2" y="167"/>
                </a:lnTo>
                <a:lnTo>
                  <a:pt x="4" y="174"/>
                </a:lnTo>
                <a:lnTo>
                  <a:pt x="4" y="180"/>
                </a:lnTo>
                <a:lnTo>
                  <a:pt x="5" y="187"/>
                </a:lnTo>
                <a:lnTo>
                  <a:pt x="5" y="192"/>
                </a:lnTo>
                <a:lnTo>
                  <a:pt x="7" y="199"/>
                </a:lnTo>
                <a:lnTo>
                  <a:pt x="12" y="199"/>
                </a:lnTo>
                <a:lnTo>
                  <a:pt x="10" y="192"/>
                </a:lnTo>
                <a:lnTo>
                  <a:pt x="10" y="185"/>
                </a:lnTo>
                <a:lnTo>
                  <a:pt x="9" y="179"/>
                </a:lnTo>
                <a:lnTo>
                  <a:pt x="7" y="174"/>
                </a:lnTo>
                <a:lnTo>
                  <a:pt x="7" y="167"/>
                </a:lnTo>
                <a:lnTo>
                  <a:pt x="5" y="160"/>
                </a:lnTo>
                <a:lnTo>
                  <a:pt x="5" y="154"/>
                </a:lnTo>
                <a:lnTo>
                  <a:pt x="4" y="147"/>
                </a:lnTo>
                <a:lnTo>
                  <a:pt x="0" y="149"/>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09" name="Freeform 1014">
            <a:extLst>
              <a:ext uri="{FF2B5EF4-FFF2-40B4-BE49-F238E27FC236}">
                <a16:creationId xmlns:a16="http://schemas.microsoft.com/office/drawing/2014/main" id="{BE13B6A8-8F5F-6560-9CDA-09050A974581}"/>
              </a:ext>
            </a:extLst>
          </p:cNvPr>
          <p:cNvSpPr>
            <a:spLocks noEditPoints="1"/>
          </p:cNvSpPr>
          <p:nvPr/>
        </p:nvSpPr>
        <p:spPr bwMode="auto">
          <a:xfrm>
            <a:off x="2124075" y="2403475"/>
            <a:ext cx="1579563" cy="315913"/>
          </a:xfrm>
          <a:custGeom>
            <a:avLst/>
            <a:gdLst>
              <a:gd name="T0" fmla="*/ 995 w 995"/>
              <a:gd name="T1" fmla="*/ 48 h 199"/>
              <a:gd name="T2" fmla="*/ 995 w 995"/>
              <a:gd name="T3" fmla="*/ 41 h 199"/>
              <a:gd name="T4" fmla="*/ 995 w 995"/>
              <a:gd name="T5" fmla="*/ 35 h 199"/>
              <a:gd name="T6" fmla="*/ 994 w 995"/>
              <a:gd name="T7" fmla="*/ 30 h 199"/>
              <a:gd name="T8" fmla="*/ 994 w 995"/>
              <a:gd name="T9" fmla="*/ 23 h 199"/>
              <a:gd name="T10" fmla="*/ 992 w 995"/>
              <a:gd name="T11" fmla="*/ 18 h 199"/>
              <a:gd name="T12" fmla="*/ 990 w 995"/>
              <a:gd name="T13" fmla="*/ 11 h 199"/>
              <a:gd name="T14" fmla="*/ 990 w 995"/>
              <a:gd name="T15" fmla="*/ 5 h 199"/>
              <a:gd name="T16" fmla="*/ 989 w 995"/>
              <a:gd name="T17" fmla="*/ 0 h 199"/>
              <a:gd name="T18" fmla="*/ 984 w 995"/>
              <a:gd name="T19" fmla="*/ 0 h 199"/>
              <a:gd name="T20" fmla="*/ 985 w 995"/>
              <a:gd name="T21" fmla="*/ 6 h 199"/>
              <a:gd name="T22" fmla="*/ 987 w 995"/>
              <a:gd name="T23" fmla="*/ 11 h 199"/>
              <a:gd name="T24" fmla="*/ 987 w 995"/>
              <a:gd name="T25" fmla="*/ 18 h 199"/>
              <a:gd name="T26" fmla="*/ 989 w 995"/>
              <a:gd name="T27" fmla="*/ 25 h 199"/>
              <a:gd name="T28" fmla="*/ 989 w 995"/>
              <a:gd name="T29" fmla="*/ 31 h 199"/>
              <a:gd name="T30" fmla="*/ 990 w 995"/>
              <a:gd name="T31" fmla="*/ 36 h 199"/>
              <a:gd name="T32" fmla="*/ 990 w 995"/>
              <a:gd name="T33" fmla="*/ 43 h 199"/>
              <a:gd name="T34" fmla="*/ 992 w 995"/>
              <a:gd name="T35" fmla="*/ 50 h 199"/>
              <a:gd name="T36" fmla="*/ 995 w 995"/>
              <a:gd name="T37" fmla="*/ 48 h 199"/>
              <a:gd name="T38" fmla="*/ 0 w 995"/>
              <a:gd name="T39" fmla="*/ 149 h 199"/>
              <a:gd name="T40" fmla="*/ 0 w 995"/>
              <a:gd name="T41" fmla="*/ 154 h 199"/>
              <a:gd name="T42" fmla="*/ 2 w 995"/>
              <a:gd name="T43" fmla="*/ 160 h 199"/>
              <a:gd name="T44" fmla="*/ 2 w 995"/>
              <a:gd name="T45" fmla="*/ 167 h 199"/>
              <a:gd name="T46" fmla="*/ 3 w 995"/>
              <a:gd name="T47" fmla="*/ 174 h 199"/>
              <a:gd name="T48" fmla="*/ 5 w 995"/>
              <a:gd name="T49" fmla="*/ 180 h 199"/>
              <a:gd name="T50" fmla="*/ 5 w 995"/>
              <a:gd name="T51" fmla="*/ 185 h 199"/>
              <a:gd name="T52" fmla="*/ 7 w 995"/>
              <a:gd name="T53" fmla="*/ 192 h 199"/>
              <a:gd name="T54" fmla="*/ 8 w 995"/>
              <a:gd name="T55" fmla="*/ 199 h 199"/>
              <a:gd name="T56" fmla="*/ 13 w 995"/>
              <a:gd name="T57" fmla="*/ 199 h 199"/>
              <a:gd name="T58" fmla="*/ 12 w 995"/>
              <a:gd name="T59" fmla="*/ 192 h 199"/>
              <a:gd name="T60" fmla="*/ 10 w 995"/>
              <a:gd name="T61" fmla="*/ 185 h 199"/>
              <a:gd name="T62" fmla="*/ 8 w 995"/>
              <a:gd name="T63" fmla="*/ 179 h 199"/>
              <a:gd name="T64" fmla="*/ 8 w 995"/>
              <a:gd name="T65" fmla="*/ 172 h 199"/>
              <a:gd name="T66" fmla="*/ 7 w 995"/>
              <a:gd name="T67" fmla="*/ 165 h 199"/>
              <a:gd name="T68" fmla="*/ 7 w 995"/>
              <a:gd name="T69" fmla="*/ 159 h 199"/>
              <a:gd name="T70" fmla="*/ 5 w 995"/>
              <a:gd name="T71" fmla="*/ 152 h 199"/>
              <a:gd name="T72" fmla="*/ 5 w 995"/>
              <a:gd name="T73" fmla="*/ 146 h 199"/>
              <a:gd name="T74" fmla="*/ 0 w 995"/>
              <a:gd name="T75" fmla="*/ 14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95" h="199">
                <a:moveTo>
                  <a:pt x="995" y="48"/>
                </a:moveTo>
                <a:lnTo>
                  <a:pt x="995" y="41"/>
                </a:lnTo>
                <a:lnTo>
                  <a:pt x="995" y="35"/>
                </a:lnTo>
                <a:lnTo>
                  <a:pt x="994" y="30"/>
                </a:lnTo>
                <a:lnTo>
                  <a:pt x="994" y="23"/>
                </a:lnTo>
                <a:lnTo>
                  <a:pt x="992" y="18"/>
                </a:lnTo>
                <a:lnTo>
                  <a:pt x="990" y="11"/>
                </a:lnTo>
                <a:lnTo>
                  <a:pt x="990" y="5"/>
                </a:lnTo>
                <a:lnTo>
                  <a:pt x="989" y="0"/>
                </a:lnTo>
                <a:lnTo>
                  <a:pt x="984" y="0"/>
                </a:lnTo>
                <a:lnTo>
                  <a:pt x="985" y="6"/>
                </a:lnTo>
                <a:lnTo>
                  <a:pt x="987" y="11"/>
                </a:lnTo>
                <a:lnTo>
                  <a:pt x="987" y="18"/>
                </a:lnTo>
                <a:lnTo>
                  <a:pt x="989" y="25"/>
                </a:lnTo>
                <a:lnTo>
                  <a:pt x="989" y="31"/>
                </a:lnTo>
                <a:lnTo>
                  <a:pt x="990" y="36"/>
                </a:lnTo>
                <a:lnTo>
                  <a:pt x="990" y="43"/>
                </a:lnTo>
                <a:lnTo>
                  <a:pt x="992" y="50"/>
                </a:lnTo>
                <a:lnTo>
                  <a:pt x="995" y="48"/>
                </a:lnTo>
                <a:close/>
                <a:moveTo>
                  <a:pt x="0" y="149"/>
                </a:moveTo>
                <a:lnTo>
                  <a:pt x="0" y="154"/>
                </a:lnTo>
                <a:lnTo>
                  <a:pt x="2" y="160"/>
                </a:lnTo>
                <a:lnTo>
                  <a:pt x="2" y="167"/>
                </a:lnTo>
                <a:lnTo>
                  <a:pt x="3" y="174"/>
                </a:lnTo>
                <a:lnTo>
                  <a:pt x="5" y="180"/>
                </a:lnTo>
                <a:lnTo>
                  <a:pt x="5" y="185"/>
                </a:lnTo>
                <a:lnTo>
                  <a:pt x="7" y="192"/>
                </a:lnTo>
                <a:lnTo>
                  <a:pt x="8" y="199"/>
                </a:lnTo>
                <a:lnTo>
                  <a:pt x="13" y="199"/>
                </a:lnTo>
                <a:lnTo>
                  <a:pt x="12" y="192"/>
                </a:lnTo>
                <a:lnTo>
                  <a:pt x="10" y="185"/>
                </a:lnTo>
                <a:lnTo>
                  <a:pt x="8" y="179"/>
                </a:lnTo>
                <a:lnTo>
                  <a:pt x="8" y="172"/>
                </a:lnTo>
                <a:lnTo>
                  <a:pt x="7" y="165"/>
                </a:lnTo>
                <a:lnTo>
                  <a:pt x="7" y="159"/>
                </a:lnTo>
                <a:lnTo>
                  <a:pt x="5" y="152"/>
                </a:lnTo>
                <a:lnTo>
                  <a:pt x="5" y="146"/>
                </a:lnTo>
                <a:lnTo>
                  <a:pt x="0" y="149"/>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10" name="Freeform 1015">
            <a:extLst>
              <a:ext uri="{FF2B5EF4-FFF2-40B4-BE49-F238E27FC236}">
                <a16:creationId xmlns:a16="http://schemas.microsoft.com/office/drawing/2014/main" id="{50F638FA-66C2-E84F-5F22-330CAF5597D5}"/>
              </a:ext>
            </a:extLst>
          </p:cNvPr>
          <p:cNvSpPr>
            <a:spLocks noEditPoints="1"/>
          </p:cNvSpPr>
          <p:nvPr/>
        </p:nvSpPr>
        <p:spPr bwMode="auto">
          <a:xfrm>
            <a:off x="2127250" y="2403475"/>
            <a:ext cx="1574800" cy="315913"/>
          </a:xfrm>
          <a:custGeom>
            <a:avLst/>
            <a:gdLst>
              <a:gd name="T0" fmla="*/ 992 w 992"/>
              <a:gd name="T1" fmla="*/ 48 h 199"/>
              <a:gd name="T2" fmla="*/ 992 w 992"/>
              <a:gd name="T3" fmla="*/ 43 h 199"/>
              <a:gd name="T4" fmla="*/ 990 w 992"/>
              <a:gd name="T5" fmla="*/ 36 h 199"/>
              <a:gd name="T6" fmla="*/ 990 w 992"/>
              <a:gd name="T7" fmla="*/ 30 h 199"/>
              <a:gd name="T8" fmla="*/ 988 w 992"/>
              <a:gd name="T9" fmla="*/ 23 h 199"/>
              <a:gd name="T10" fmla="*/ 988 w 992"/>
              <a:gd name="T11" fmla="*/ 18 h 199"/>
              <a:gd name="T12" fmla="*/ 987 w 992"/>
              <a:gd name="T13" fmla="*/ 11 h 199"/>
              <a:gd name="T14" fmla="*/ 985 w 992"/>
              <a:gd name="T15" fmla="*/ 6 h 199"/>
              <a:gd name="T16" fmla="*/ 985 w 992"/>
              <a:gd name="T17" fmla="*/ 0 h 199"/>
              <a:gd name="T18" fmla="*/ 980 w 992"/>
              <a:gd name="T19" fmla="*/ 0 h 199"/>
              <a:gd name="T20" fmla="*/ 980 w 992"/>
              <a:gd name="T21" fmla="*/ 6 h 199"/>
              <a:gd name="T22" fmla="*/ 982 w 992"/>
              <a:gd name="T23" fmla="*/ 11 h 199"/>
              <a:gd name="T24" fmla="*/ 983 w 992"/>
              <a:gd name="T25" fmla="*/ 18 h 199"/>
              <a:gd name="T26" fmla="*/ 983 w 992"/>
              <a:gd name="T27" fmla="*/ 25 h 199"/>
              <a:gd name="T28" fmla="*/ 985 w 992"/>
              <a:gd name="T29" fmla="*/ 31 h 199"/>
              <a:gd name="T30" fmla="*/ 985 w 992"/>
              <a:gd name="T31" fmla="*/ 38 h 199"/>
              <a:gd name="T32" fmla="*/ 987 w 992"/>
              <a:gd name="T33" fmla="*/ 45 h 199"/>
              <a:gd name="T34" fmla="*/ 987 w 992"/>
              <a:gd name="T35" fmla="*/ 51 h 199"/>
              <a:gd name="T36" fmla="*/ 992 w 992"/>
              <a:gd name="T37" fmla="*/ 48 h 199"/>
              <a:gd name="T38" fmla="*/ 0 w 992"/>
              <a:gd name="T39" fmla="*/ 147 h 199"/>
              <a:gd name="T40" fmla="*/ 1 w 992"/>
              <a:gd name="T41" fmla="*/ 154 h 199"/>
              <a:gd name="T42" fmla="*/ 1 w 992"/>
              <a:gd name="T43" fmla="*/ 160 h 199"/>
              <a:gd name="T44" fmla="*/ 3 w 992"/>
              <a:gd name="T45" fmla="*/ 167 h 199"/>
              <a:gd name="T46" fmla="*/ 3 w 992"/>
              <a:gd name="T47" fmla="*/ 174 h 199"/>
              <a:gd name="T48" fmla="*/ 5 w 992"/>
              <a:gd name="T49" fmla="*/ 179 h 199"/>
              <a:gd name="T50" fmla="*/ 6 w 992"/>
              <a:gd name="T51" fmla="*/ 185 h 199"/>
              <a:gd name="T52" fmla="*/ 6 w 992"/>
              <a:gd name="T53" fmla="*/ 192 h 199"/>
              <a:gd name="T54" fmla="*/ 8 w 992"/>
              <a:gd name="T55" fmla="*/ 199 h 199"/>
              <a:gd name="T56" fmla="*/ 13 w 992"/>
              <a:gd name="T57" fmla="*/ 199 h 199"/>
              <a:gd name="T58" fmla="*/ 11 w 992"/>
              <a:gd name="T59" fmla="*/ 192 h 199"/>
              <a:gd name="T60" fmla="*/ 11 w 992"/>
              <a:gd name="T61" fmla="*/ 185 h 199"/>
              <a:gd name="T62" fmla="*/ 10 w 992"/>
              <a:gd name="T63" fmla="*/ 179 h 199"/>
              <a:gd name="T64" fmla="*/ 8 w 992"/>
              <a:gd name="T65" fmla="*/ 172 h 199"/>
              <a:gd name="T66" fmla="*/ 8 w 992"/>
              <a:gd name="T67" fmla="*/ 165 h 199"/>
              <a:gd name="T68" fmla="*/ 6 w 992"/>
              <a:gd name="T69" fmla="*/ 159 h 199"/>
              <a:gd name="T70" fmla="*/ 6 w 992"/>
              <a:gd name="T71" fmla="*/ 152 h 199"/>
              <a:gd name="T72" fmla="*/ 5 w 992"/>
              <a:gd name="T73" fmla="*/ 146 h 199"/>
              <a:gd name="T74" fmla="*/ 0 w 992"/>
              <a:gd name="T75" fmla="*/ 14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92" h="199">
                <a:moveTo>
                  <a:pt x="992" y="48"/>
                </a:moveTo>
                <a:lnTo>
                  <a:pt x="992" y="43"/>
                </a:lnTo>
                <a:lnTo>
                  <a:pt x="990" y="36"/>
                </a:lnTo>
                <a:lnTo>
                  <a:pt x="990" y="30"/>
                </a:lnTo>
                <a:lnTo>
                  <a:pt x="988" y="23"/>
                </a:lnTo>
                <a:lnTo>
                  <a:pt x="988" y="18"/>
                </a:lnTo>
                <a:lnTo>
                  <a:pt x="987" y="11"/>
                </a:lnTo>
                <a:lnTo>
                  <a:pt x="985" y="6"/>
                </a:lnTo>
                <a:lnTo>
                  <a:pt x="985" y="0"/>
                </a:lnTo>
                <a:lnTo>
                  <a:pt x="980" y="0"/>
                </a:lnTo>
                <a:lnTo>
                  <a:pt x="980" y="6"/>
                </a:lnTo>
                <a:lnTo>
                  <a:pt x="982" y="11"/>
                </a:lnTo>
                <a:lnTo>
                  <a:pt x="983" y="18"/>
                </a:lnTo>
                <a:lnTo>
                  <a:pt x="983" y="25"/>
                </a:lnTo>
                <a:lnTo>
                  <a:pt x="985" y="31"/>
                </a:lnTo>
                <a:lnTo>
                  <a:pt x="985" y="38"/>
                </a:lnTo>
                <a:lnTo>
                  <a:pt x="987" y="45"/>
                </a:lnTo>
                <a:lnTo>
                  <a:pt x="987" y="51"/>
                </a:lnTo>
                <a:lnTo>
                  <a:pt x="992" y="48"/>
                </a:lnTo>
                <a:close/>
                <a:moveTo>
                  <a:pt x="0" y="147"/>
                </a:moveTo>
                <a:lnTo>
                  <a:pt x="1" y="154"/>
                </a:lnTo>
                <a:lnTo>
                  <a:pt x="1" y="160"/>
                </a:lnTo>
                <a:lnTo>
                  <a:pt x="3" y="167"/>
                </a:lnTo>
                <a:lnTo>
                  <a:pt x="3" y="174"/>
                </a:lnTo>
                <a:lnTo>
                  <a:pt x="5" y="179"/>
                </a:lnTo>
                <a:lnTo>
                  <a:pt x="6" y="185"/>
                </a:lnTo>
                <a:lnTo>
                  <a:pt x="6" y="192"/>
                </a:lnTo>
                <a:lnTo>
                  <a:pt x="8" y="199"/>
                </a:lnTo>
                <a:lnTo>
                  <a:pt x="13" y="199"/>
                </a:lnTo>
                <a:lnTo>
                  <a:pt x="11" y="192"/>
                </a:lnTo>
                <a:lnTo>
                  <a:pt x="11" y="185"/>
                </a:lnTo>
                <a:lnTo>
                  <a:pt x="10" y="179"/>
                </a:lnTo>
                <a:lnTo>
                  <a:pt x="8" y="172"/>
                </a:lnTo>
                <a:lnTo>
                  <a:pt x="8" y="165"/>
                </a:lnTo>
                <a:lnTo>
                  <a:pt x="6" y="159"/>
                </a:lnTo>
                <a:lnTo>
                  <a:pt x="6" y="152"/>
                </a:lnTo>
                <a:lnTo>
                  <a:pt x="5" y="146"/>
                </a:lnTo>
                <a:lnTo>
                  <a:pt x="0" y="147"/>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11" name="Freeform 1016">
            <a:extLst>
              <a:ext uri="{FF2B5EF4-FFF2-40B4-BE49-F238E27FC236}">
                <a16:creationId xmlns:a16="http://schemas.microsoft.com/office/drawing/2014/main" id="{946F6FBE-45D4-FEE9-FF9C-00A8E5398BF1}"/>
              </a:ext>
            </a:extLst>
          </p:cNvPr>
          <p:cNvSpPr>
            <a:spLocks noEditPoints="1"/>
          </p:cNvSpPr>
          <p:nvPr/>
        </p:nvSpPr>
        <p:spPr bwMode="auto">
          <a:xfrm>
            <a:off x="2132013" y="2403475"/>
            <a:ext cx="1566863" cy="315913"/>
          </a:xfrm>
          <a:custGeom>
            <a:avLst/>
            <a:gdLst>
              <a:gd name="T0" fmla="*/ 987 w 987"/>
              <a:gd name="T1" fmla="*/ 50 h 199"/>
              <a:gd name="T2" fmla="*/ 985 w 987"/>
              <a:gd name="T3" fmla="*/ 43 h 199"/>
              <a:gd name="T4" fmla="*/ 985 w 987"/>
              <a:gd name="T5" fmla="*/ 36 h 199"/>
              <a:gd name="T6" fmla="*/ 984 w 987"/>
              <a:gd name="T7" fmla="*/ 31 h 199"/>
              <a:gd name="T8" fmla="*/ 984 w 987"/>
              <a:gd name="T9" fmla="*/ 25 h 199"/>
              <a:gd name="T10" fmla="*/ 982 w 987"/>
              <a:gd name="T11" fmla="*/ 18 h 199"/>
              <a:gd name="T12" fmla="*/ 982 w 987"/>
              <a:gd name="T13" fmla="*/ 11 h 199"/>
              <a:gd name="T14" fmla="*/ 980 w 987"/>
              <a:gd name="T15" fmla="*/ 6 h 199"/>
              <a:gd name="T16" fmla="*/ 979 w 987"/>
              <a:gd name="T17" fmla="*/ 0 h 199"/>
              <a:gd name="T18" fmla="*/ 974 w 987"/>
              <a:gd name="T19" fmla="*/ 0 h 199"/>
              <a:gd name="T20" fmla="*/ 975 w 987"/>
              <a:gd name="T21" fmla="*/ 6 h 199"/>
              <a:gd name="T22" fmla="*/ 977 w 987"/>
              <a:gd name="T23" fmla="*/ 13 h 199"/>
              <a:gd name="T24" fmla="*/ 977 w 987"/>
              <a:gd name="T25" fmla="*/ 18 h 199"/>
              <a:gd name="T26" fmla="*/ 979 w 987"/>
              <a:gd name="T27" fmla="*/ 25 h 199"/>
              <a:gd name="T28" fmla="*/ 980 w 987"/>
              <a:gd name="T29" fmla="*/ 31 h 199"/>
              <a:gd name="T30" fmla="*/ 980 w 987"/>
              <a:gd name="T31" fmla="*/ 38 h 199"/>
              <a:gd name="T32" fmla="*/ 980 w 987"/>
              <a:gd name="T33" fmla="*/ 45 h 199"/>
              <a:gd name="T34" fmla="*/ 982 w 987"/>
              <a:gd name="T35" fmla="*/ 51 h 199"/>
              <a:gd name="T36" fmla="*/ 987 w 987"/>
              <a:gd name="T37" fmla="*/ 50 h 199"/>
              <a:gd name="T38" fmla="*/ 0 w 987"/>
              <a:gd name="T39" fmla="*/ 146 h 199"/>
              <a:gd name="T40" fmla="*/ 0 w 987"/>
              <a:gd name="T41" fmla="*/ 152 h 199"/>
              <a:gd name="T42" fmla="*/ 2 w 987"/>
              <a:gd name="T43" fmla="*/ 159 h 199"/>
              <a:gd name="T44" fmla="*/ 2 w 987"/>
              <a:gd name="T45" fmla="*/ 165 h 199"/>
              <a:gd name="T46" fmla="*/ 3 w 987"/>
              <a:gd name="T47" fmla="*/ 172 h 199"/>
              <a:gd name="T48" fmla="*/ 3 w 987"/>
              <a:gd name="T49" fmla="*/ 179 h 199"/>
              <a:gd name="T50" fmla="*/ 5 w 987"/>
              <a:gd name="T51" fmla="*/ 185 h 199"/>
              <a:gd name="T52" fmla="*/ 7 w 987"/>
              <a:gd name="T53" fmla="*/ 192 h 199"/>
              <a:gd name="T54" fmla="*/ 8 w 987"/>
              <a:gd name="T55" fmla="*/ 199 h 199"/>
              <a:gd name="T56" fmla="*/ 13 w 987"/>
              <a:gd name="T57" fmla="*/ 199 h 199"/>
              <a:gd name="T58" fmla="*/ 11 w 987"/>
              <a:gd name="T59" fmla="*/ 192 h 199"/>
              <a:gd name="T60" fmla="*/ 10 w 987"/>
              <a:gd name="T61" fmla="*/ 185 h 199"/>
              <a:gd name="T62" fmla="*/ 8 w 987"/>
              <a:gd name="T63" fmla="*/ 179 h 199"/>
              <a:gd name="T64" fmla="*/ 8 w 987"/>
              <a:gd name="T65" fmla="*/ 172 h 199"/>
              <a:gd name="T66" fmla="*/ 7 w 987"/>
              <a:gd name="T67" fmla="*/ 164 h 199"/>
              <a:gd name="T68" fmla="*/ 7 w 987"/>
              <a:gd name="T69" fmla="*/ 157 h 199"/>
              <a:gd name="T70" fmla="*/ 5 w 987"/>
              <a:gd name="T71" fmla="*/ 151 h 199"/>
              <a:gd name="T72" fmla="*/ 5 w 987"/>
              <a:gd name="T73" fmla="*/ 144 h 199"/>
              <a:gd name="T74" fmla="*/ 0 w 987"/>
              <a:gd name="T75" fmla="*/ 14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87" h="199">
                <a:moveTo>
                  <a:pt x="987" y="50"/>
                </a:moveTo>
                <a:lnTo>
                  <a:pt x="985" y="43"/>
                </a:lnTo>
                <a:lnTo>
                  <a:pt x="985" y="36"/>
                </a:lnTo>
                <a:lnTo>
                  <a:pt x="984" y="31"/>
                </a:lnTo>
                <a:lnTo>
                  <a:pt x="984" y="25"/>
                </a:lnTo>
                <a:lnTo>
                  <a:pt x="982" y="18"/>
                </a:lnTo>
                <a:lnTo>
                  <a:pt x="982" y="11"/>
                </a:lnTo>
                <a:lnTo>
                  <a:pt x="980" y="6"/>
                </a:lnTo>
                <a:lnTo>
                  <a:pt x="979" y="0"/>
                </a:lnTo>
                <a:lnTo>
                  <a:pt x="974" y="0"/>
                </a:lnTo>
                <a:lnTo>
                  <a:pt x="975" y="6"/>
                </a:lnTo>
                <a:lnTo>
                  <a:pt x="977" y="13"/>
                </a:lnTo>
                <a:lnTo>
                  <a:pt x="977" y="18"/>
                </a:lnTo>
                <a:lnTo>
                  <a:pt x="979" y="25"/>
                </a:lnTo>
                <a:lnTo>
                  <a:pt x="980" y="31"/>
                </a:lnTo>
                <a:lnTo>
                  <a:pt x="980" y="38"/>
                </a:lnTo>
                <a:lnTo>
                  <a:pt x="980" y="45"/>
                </a:lnTo>
                <a:lnTo>
                  <a:pt x="982" y="51"/>
                </a:lnTo>
                <a:lnTo>
                  <a:pt x="987" y="50"/>
                </a:lnTo>
                <a:close/>
                <a:moveTo>
                  <a:pt x="0" y="146"/>
                </a:moveTo>
                <a:lnTo>
                  <a:pt x="0" y="152"/>
                </a:lnTo>
                <a:lnTo>
                  <a:pt x="2" y="159"/>
                </a:lnTo>
                <a:lnTo>
                  <a:pt x="2" y="165"/>
                </a:lnTo>
                <a:lnTo>
                  <a:pt x="3" y="172"/>
                </a:lnTo>
                <a:lnTo>
                  <a:pt x="3" y="179"/>
                </a:lnTo>
                <a:lnTo>
                  <a:pt x="5" y="185"/>
                </a:lnTo>
                <a:lnTo>
                  <a:pt x="7" y="192"/>
                </a:lnTo>
                <a:lnTo>
                  <a:pt x="8" y="199"/>
                </a:lnTo>
                <a:lnTo>
                  <a:pt x="13" y="199"/>
                </a:lnTo>
                <a:lnTo>
                  <a:pt x="11" y="192"/>
                </a:lnTo>
                <a:lnTo>
                  <a:pt x="10" y="185"/>
                </a:lnTo>
                <a:lnTo>
                  <a:pt x="8" y="179"/>
                </a:lnTo>
                <a:lnTo>
                  <a:pt x="8" y="172"/>
                </a:lnTo>
                <a:lnTo>
                  <a:pt x="7" y="164"/>
                </a:lnTo>
                <a:lnTo>
                  <a:pt x="7" y="157"/>
                </a:lnTo>
                <a:lnTo>
                  <a:pt x="5" y="151"/>
                </a:lnTo>
                <a:lnTo>
                  <a:pt x="5" y="144"/>
                </a:lnTo>
                <a:lnTo>
                  <a:pt x="0" y="146"/>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12" name="Freeform 1017">
            <a:extLst>
              <a:ext uri="{FF2B5EF4-FFF2-40B4-BE49-F238E27FC236}">
                <a16:creationId xmlns:a16="http://schemas.microsoft.com/office/drawing/2014/main" id="{13FFDE94-26A1-3278-D40C-231D1CB54EE2}"/>
              </a:ext>
            </a:extLst>
          </p:cNvPr>
          <p:cNvSpPr>
            <a:spLocks noEditPoints="1"/>
          </p:cNvSpPr>
          <p:nvPr/>
        </p:nvSpPr>
        <p:spPr bwMode="auto">
          <a:xfrm>
            <a:off x="2135188" y="2403475"/>
            <a:ext cx="1558925" cy="315913"/>
          </a:xfrm>
          <a:custGeom>
            <a:avLst/>
            <a:gdLst>
              <a:gd name="T0" fmla="*/ 982 w 982"/>
              <a:gd name="T1" fmla="*/ 51 h 199"/>
              <a:gd name="T2" fmla="*/ 982 w 982"/>
              <a:gd name="T3" fmla="*/ 45 h 199"/>
              <a:gd name="T4" fmla="*/ 980 w 982"/>
              <a:gd name="T5" fmla="*/ 38 h 199"/>
              <a:gd name="T6" fmla="*/ 980 w 982"/>
              <a:gd name="T7" fmla="*/ 31 h 199"/>
              <a:gd name="T8" fmla="*/ 978 w 982"/>
              <a:gd name="T9" fmla="*/ 25 h 199"/>
              <a:gd name="T10" fmla="*/ 978 w 982"/>
              <a:gd name="T11" fmla="*/ 18 h 199"/>
              <a:gd name="T12" fmla="*/ 977 w 982"/>
              <a:gd name="T13" fmla="*/ 11 h 199"/>
              <a:gd name="T14" fmla="*/ 975 w 982"/>
              <a:gd name="T15" fmla="*/ 6 h 199"/>
              <a:gd name="T16" fmla="*/ 975 w 982"/>
              <a:gd name="T17" fmla="*/ 0 h 199"/>
              <a:gd name="T18" fmla="*/ 970 w 982"/>
              <a:gd name="T19" fmla="*/ 0 h 199"/>
              <a:gd name="T20" fmla="*/ 970 w 982"/>
              <a:gd name="T21" fmla="*/ 6 h 199"/>
              <a:gd name="T22" fmla="*/ 972 w 982"/>
              <a:gd name="T23" fmla="*/ 13 h 199"/>
              <a:gd name="T24" fmla="*/ 973 w 982"/>
              <a:gd name="T25" fmla="*/ 20 h 199"/>
              <a:gd name="T26" fmla="*/ 975 w 982"/>
              <a:gd name="T27" fmla="*/ 26 h 199"/>
              <a:gd name="T28" fmla="*/ 975 w 982"/>
              <a:gd name="T29" fmla="*/ 33 h 199"/>
              <a:gd name="T30" fmla="*/ 977 w 982"/>
              <a:gd name="T31" fmla="*/ 40 h 199"/>
              <a:gd name="T32" fmla="*/ 977 w 982"/>
              <a:gd name="T33" fmla="*/ 46 h 199"/>
              <a:gd name="T34" fmla="*/ 977 w 982"/>
              <a:gd name="T35" fmla="*/ 53 h 199"/>
              <a:gd name="T36" fmla="*/ 982 w 982"/>
              <a:gd name="T37" fmla="*/ 51 h 199"/>
              <a:gd name="T38" fmla="*/ 0 w 982"/>
              <a:gd name="T39" fmla="*/ 146 h 199"/>
              <a:gd name="T40" fmla="*/ 1 w 982"/>
              <a:gd name="T41" fmla="*/ 152 h 199"/>
              <a:gd name="T42" fmla="*/ 1 w 982"/>
              <a:gd name="T43" fmla="*/ 159 h 199"/>
              <a:gd name="T44" fmla="*/ 3 w 982"/>
              <a:gd name="T45" fmla="*/ 165 h 199"/>
              <a:gd name="T46" fmla="*/ 3 w 982"/>
              <a:gd name="T47" fmla="*/ 172 h 199"/>
              <a:gd name="T48" fmla="*/ 5 w 982"/>
              <a:gd name="T49" fmla="*/ 179 h 199"/>
              <a:gd name="T50" fmla="*/ 6 w 982"/>
              <a:gd name="T51" fmla="*/ 185 h 199"/>
              <a:gd name="T52" fmla="*/ 6 w 982"/>
              <a:gd name="T53" fmla="*/ 192 h 199"/>
              <a:gd name="T54" fmla="*/ 8 w 982"/>
              <a:gd name="T55" fmla="*/ 199 h 199"/>
              <a:gd name="T56" fmla="*/ 13 w 982"/>
              <a:gd name="T57" fmla="*/ 199 h 199"/>
              <a:gd name="T58" fmla="*/ 11 w 982"/>
              <a:gd name="T59" fmla="*/ 192 h 199"/>
              <a:gd name="T60" fmla="*/ 9 w 982"/>
              <a:gd name="T61" fmla="*/ 185 h 199"/>
              <a:gd name="T62" fmla="*/ 9 w 982"/>
              <a:gd name="T63" fmla="*/ 177 h 199"/>
              <a:gd name="T64" fmla="*/ 8 w 982"/>
              <a:gd name="T65" fmla="*/ 170 h 199"/>
              <a:gd name="T66" fmla="*/ 6 w 982"/>
              <a:gd name="T67" fmla="*/ 164 h 199"/>
              <a:gd name="T68" fmla="*/ 6 w 982"/>
              <a:gd name="T69" fmla="*/ 157 h 199"/>
              <a:gd name="T70" fmla="*/ 5 w 982"/>
              <a:gd name="T71" fmla="*/ 151 h 199"/>
              <a:gd name="T72" fmla="*/ 5 w 982"/>
              <a:gd name="T73" fmla="*/ 142 h 199"/>
              <a:gd name="T74" fmla="*/ 0 w 982"/>
              <a:gd name="T75" fmla="*/ 14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82" h="199">
                <a:moveTo>
                  <a:pt x="982" y="51"/>
                </a:moveTo>
                <a:lnTo>
                  <a:pt x="982" y="45"/>
                </a:lnTo>
                <a:lnTo>
                  <a:pt x="980" y="38"/>
                </a:lnTo>
                <a:lnTo>
                  <a:pt x="980" y="31"/>
                </a:lnTo>
                <a:lnTo>
                  <a:pt x="978" y="25"/>
                </a:lnTo>
                <a:lnTo>
                  <a:pt x="978" y="18"/>
                </a:lnTo>
                <a:lnTo>
                  <a:pt x="977" y="11"/>
                </a:lnTo>
                <a:lnTo>
                  <a:pt x="975" y="6"/>
                </a:lnTo>
                <a:lnTo>
                  <a:pt x="975" y="0"/>
                </a:lnTo>
                <a:lnTo>
                  <a:pt x="970" y="0"/>
                </a:lnTo>
                <a:lnTo>
                  <a:pt x="970" y="6"/>
                </a:lnTo>
                <a:lnTo>
                  <a:pt x="972" y="13"/>
                </a:lnTo>
                <a:lnTo>
                  <a:pt x="973" y="20"/>
                </a:lnTo>
                <a:lnTo>
                  <a:pt x="975" y="26"/>
                </a:lnTo>
                <a:lnTo>
                  <a:pt x="975" y="33"/>
                </a:lnTo>
                <a:lnTo>
                  <a:pt x="977" y="40"/>
                </a:lnTo>
                <a:lnTo>
                  <a:pt x="977" y="46"/>
                </a:lnTo>
                <a:lnTo>
                  <a:pt x="977" y="53"/>
                </a:lnTo>
                <a:lnTo>
                  <a:pt x="982" y="51"/>
                </a:lnTo>
                <a:close/>
                <a:moveTo>
                  <a:pt x="0" y="146"/>
                </a:moveTo>
                <a:lnTo>
                  <a:pt x="1" y="152"/>
                </a:lnTo>
                <a:lnTo>
                  <a:pt x="1" y="159"/>
                </a:lnTo>
                <a:lnTo>
                  <a:pt x="3" y="165"/>
                </a:lnTo>
                <a:lnTo>
                  <a:pt x="3" y="172"/>
                </a:lnTo>
                <a:lnTo>
                  <a:pt x="5" y="179"/>
                </a:lnTo>
                <a:lnTo>
                  <a:pt x="6" y="185"/>
                </a:lnTo>
                <a:lnTo>
                  <a:pt x="6" y="192"/>
                </a:lnTo>
                <a:lnTo>
                  <a:pt x="8" y="199"/>
                </a:lnTo>
                <a:lnTo>
                  <a:pt x="13" y="199"/>
                </a:lnTo>
                <a:lnTo>
                  <a:pt x="11" y="192"/>
                </a:lnTo>
                <a:lnTo>
                  <a:pt x="9" y="185"/>
                </a:lnTo>
                <a:lnTo>
                  <a:pt x="9" y="177"/>
                </a:lnTo>
                <a:lnTo>
                  <a:pt x="8" y="170"/>
                </a:lnTo>
                <a:lnTo>
                  <a:pt x="6" y="164"/>
                </a:lnTo>
                <a:lnTo>
                  <a:pt x="6" y="157"/>
                </a:lnTo>
                <a:lnTo>
                  <a:pt x="5" y="151"/>
                </a:lnTo>
                <a:lnTo>
                  <a:pt x="5" y="142"/>
                </a:lnTo>
                <a:lnTo>
                  <a:pt x="0" y="146"/>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13" name="Freeform 1018">
            <a:extLst>
              <a:ext uri="{FF2B5EF4-FFF2-40B4-BE49-F238E27FC236}">
                <a16:creationId xmlns:a16="http://schemas.microsoft.com/office/drawing/2014/main" id="{1EE53C50-7276-27A2-493D-C2215E2CD547}"/>
              </a:ext>
            </a:extLst>
          </p:cNvPr>
          <p:cNvSpPr>
            <a:spLocks noEditPoints="1"/>
          </p:cNvSpPr>
          <p:nvPr/>
        </p:nvSpPr>
        <p:spPr bwMode="auto">
          <a:xfrm>
            <a:off x="2139950" y="2403475"/>
            <a:ext cx="1550988" cy="315913"/>
          </a:xfrm>
          <a:custGeom>
            <a:avLst/>
            <a:gdLst>
              <a:gd name="T0" fmla="*/ 977 w 977"/>
              <a:gd name="T1" fmla="*/ 51 h 199"/>
              <a:gd name="T2" fmla="*/ 975 w 977"/>
              <a:gd name="T3" fmla="*/ 45 h 199"/>
              <a:gd name="T4" fmla="*/ 975 w 977"/>
              <a:gd name="T5" fmla="*/ 38 h 199"/>
              <a:gd name="T6" fmla="*/ 975 w 977"/>
              <a:gd name="T7" fmla="*/ 31 h 199"/>
              <a:gd name="T8" fmla="*/ 974 w 977"/>
              <a:gd name="T9" fmla="*/ 25 h 199"/>
              <a:gd name="T10" fmla="*/ 972 w 977"/>
              <a:gd name="T11" fmla="*/ 18 h 199"/>
              <a:gd name="T12" fmla="*/ 972 w 977"/>
              <a:gd name="T13" fmla="*/ 13 h 199"/>
              <a:gd name="T14" fmla="*/ 970 w 977"/>
              <a:gd name="T15" fmla="*/ 6 h 199"/>
              <a:gd name="T16" fmla="*/ 969 w 977"/>
              <a:gd name="T17" fmla="*/ 0 h 199"/>
              <a:gd name="T18" fmla="*/ 964 w 977"/>
              <a:gd name="T19" fmla="*/ 0 h 199"/>
              <a:gd name="T20" fmla="*/ 965 w 977"/>
              <a:gd name="T21" fmla="*/ 6 h 199"/>
              <a:gd name="T22" fmla="*/ 967 w 977"/>
              <a:gd name="T23" fmla="*/ 13 h 199"/>
              <a:gd name="T24" fmla="*/ 967 w 977"/>
              <a:gd name="T25" fmla="*/ 20 h 199"/>
              <a:gd name="T26" fmla="*/ 969 w 977"/>
              <a:gd name="T27" fmla="*/ 26 h 199"/>
              <a:gd name="T28" fmla="*/ 970 w 977"/>
              <a:gd name="T29" fmla="*/ 33 h 199"/>
              <a:gd name="T30" fmla="*/ 970 w 977"/>
              <a:gd name="T31" fmla="*/ 40 h 199"/>
              <a:gd name="T32" fmla="*/ 972 w 977"/>
              <a:gd name="T33" fmla="*/ 46 h 199"/>
              <a:gd name="T34" fmla="*/ 972 w 977"/>
              <a:gd name="T35" fmla="*/ 53 h 199"/>
              <a:gd name="T36" fmla="*/ 977 w 977"/>
              <a:gd name="T37" fmla="*/ 51 h 199"/>
              <a:gd name="T38" fmla="*/ 0 w 977"/>
              <a:gd name="T39" fmla="*/ 144 h 199"/>
              <a:gd name="T40" fmla="*/ 0 w 977"/>
              <a:gd name="T41" fmla="*/ 151 h 199"/>
              <a:gd name="T42" fmla="*/ 2 w 977"/>
              <a:gd name="T43" fmla="*/ 157 h 199"/>
              <a:gd name="T44" fmla="*/ 2 w 977"/>
              <a:gd name="T45" fmla="*/ 164 h 199"/>
              <a:gd name="T46" fmla="*/ 3 w 977"/>
              <a:gd name="T47" fmla="*/ 172 h 199"/>
              <a:gd name="T48" fmla="*/ 3 w 977"/>
              <a:gd name="T49" fmla="*/ 179 h 199"/>
              <a:gd name="T50" fmla="*/ 5 w 977"/>
              <a:gd name="T51" fmla="*/ 185 h 199"/>
              <a:gd name="T52" fmla="*/ 6 w 977"/>
              <a:gd name="T53" fmla="*/ 192 h 199"/>
              <a:gd name="T54" fmla="*/ 8 w 977"/>
              <a:gd name="T55" fmla="*/ 199 h 199"/>
              <a:gd name="T56" fmla="*/ 11 w 977"/>
              <a:gd name="T57" fmla="*/ 199 h 199"/>
              <a:gd name="T58" fmla="*/ 11 w 977"/>
              <a:gd name="T59" fmla="*/ 192 h 199"/>
              <a:gd name="T60" fmla="*/ 10 w 977"/>
              <a:gd name="T61" fmla="*/ 184 h 199"/>
              <a:gd name="T62" fmla="*/ 8 w 977"/>
              <a:gd name="T63" fmla="*/ 177 h 199"/>
              <a:gd name="T64" fmla="*/ 6 w 977"/>
              <a:gd name="T65" fmla="*/ 170 h 199"/>
              <a:gd name="T66" fmla="*/ 6 w 977"/>
              <a:gd name="T67" fmla="*/ 164 h 199"/>
              <a:gd name="T68" fmla="*/ 5 w 977"/>
              <a:gd name="T69" fmla="*/ 155 h 199"/>
              <a:gd name="T70" fmla="*/ 5 w 977"/>
              <a:gd name="T71" fmla="*/ 149 h 199"/>
              <a:gd name="T72" fmla="*/ 3 w 977"/>
              <a:gd name="T73" fmla="*/ 142 h 199"/>
              <a:gd name="T74" fmla="*/ 0 w 977"/>
              <a:gd name="T75" fmla="*/ 14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77" h="199">
                <a:moveTo>
                  <a:pt x="977" y="51"/>
                </a:moveTo>
                <a:lnTo>
                  <a:pt x="975" y="45"/>
                </a:lnTo>
                <a:lnTo>
                  <a:pt x="975" y="38"/>
                </a:lnTo>
                <a:lnTo>
                  <a:pt x="975" y="31"/>
                </a:lnTo>
                <a:lnTo>
                  <a:pt x="974" y="25"/>
                </a:lnTo>
                <a:lnTo>
                  <a:pt x="972" y="18"/>
                </a:lnTo>
                <a:lnTo>
                  <a:pt x="972" y="13"/>
                </a:lnTo>
                <a:lnTo>
                  <a:pt x="970" y="6"/>
                </a:lnTo>
                <a:lnTo>
                  <a:pt x="969" y="0"/>
                </a:lnTo>
                <a:lnTo>
                  <a:pt x="964" y="0"/>
                </a:lnTo>
                <a:lnTo>
                  <a:pt x="965" y="6"/>
                </a:lnTo>
                <a:lnTo>
                  <a:pt x="967" y="13"/>
                </a:lnTo>
                <a:lnTo>
                  <a:pt x="967" y="20"/>
                </a:lnTo>
                <a:lnTo>
                  <a:pt x="969" y="26"/>
                </a:lnTo>
                <a:lnTo>
                  <a:pt x="970" y="33"/>
                </a:lnTo>
                <a:lnTo>
                  <a:pt x="970" y="40"/>
                </a:lnTo>
                <a:lnTo>
                  <a:pt x="972" y="46"/>
                </a:lnTo>
                <a:lnTo>
                  <a:pt x="972" y="53"/>
                </a:lnTo>
                <a:lnTo>
                  <a:pt x="977" y="51"/>
                </a:lnTo>
                <a:close/>
                <a:moveTo>
                  <a:pt x="0" y="144"/>
                </a:moveTo>
                <a:lnTo>
                  <a:pt x="0" y="151"/>
                </a:lnTo>
                <a:lnTo>
                  <a:pt x="2" y="157"/>
                </a:lnTo>
                <a:lnTo>
                  <a:pt x="2" y="164"/>
                </a:lnTo>
                <a:lnTo>
                  <a:pt x="3" y="172"/>
                </a:lnTo>
                <a:lnTo>
                  <a:pt x="3" y="179"/>
                </a:lnTo>
                <a:lnTo>
                  <a:pt x="5" y="185"/>
                </a:lnTo>
                <a:lnTo>
                  <a:pt x="6" y="192"/>
                </a:lnTo>
                <a:lnTo>
                  <a:pt x="8" y="199"/>
                </a:lnTo>
                <a:lnTo>
                  <a:pt x="11" y="199"/>
                </a:lnTo>
                <a:lnTo>
                  <a:pt x="11" y="192"/>
                </a:lnTo>
                <a:lnTo>
                  <a:pt x="10" y="184"/>
                </a:lnTo>
                <a:lnTo>
                  <a:pt x="8" y="177"/>
                </a:lnTo>
                <a:lnTo>
                  <a:pt x="6" y="170"/>
                </a:lnTo>
                <a:lnTo>
                  <a:pt x="6" y="164"/>
                </a:lnTo>
                <a:lnTo>
                  <a:pt x="5" y="155"/>
                </a:lnTo>
                <a:lnTo>
                  <a:pt x="5" y="149"/>
                </a:lnTo>
                <a:lnTo>
                  <a:pt x="3" y="142"/>
                </a:lnTo>
                <a:lnTo>
                  <a:pt x="0" y="144"/>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14" name="Freeform 1019">
            <a:extLst>
              <a:ext uri="{FF2B5EF4-FFF2-40B4-BE49-F238E27FC236}">
                <a16:creationId xmlns:a16="http://schemas.microsoft.com/office/drawing/2014/main" id="{62AA8007-5CCF-DC1B-3B6B-B561AFA99571}"/>
              </a:ext>
            </a:extLst>
          </p:cNvPr>
          <p:cNvSpPr>
            <a:spLocks noEditPoints="1"/>
          </p:cNvSpPr>
          <p:nvPr/>
        </p:nvSpPr>
        <p:spPr bwMode="auto">
          <a:xfrm>
            <a:off x="2143125" y="2403475"/>
            <a:ext cx="1543050" cy="315913"/>
          </a:xfrm>
          <a:custGeom>
            <a:avLst/>
            <a:gdLst>
              <a:gd name="T0" fmla="*/ 972 w 972"/>
              <a:gd name="T1" fmla="*/ 53 h 199"/>
              <a:gd name="T2" fmla="*/ 972 w 972"/>
              <a:gd name="T3" fmla="*/ 46 h 199"/>
              <a:gd name="T4" fmla="*/ 972 w 972"/>
              <a:gd name="T5" fmla="*/ 40 h 199"/>
              <a:gd name="T6" fmla="*/ 970 w 972"/>
              <a:gd name="T7" fmla="*/ 33 h 199"/>
              <a:gd name="T8" fmla="*/ 970 w 972"/>
              <a:gd name="T9" fmla="*/ 26 h 199"/>
              <a:gd name="T10" fmla="*/ 968 w 972"/>
              <a:gd name="T11" fmla="*/ 20 h 199"/>
              <a:gd name="T12" fmla="*/ 967 w 972"/>
              <a:gd name="T13" fmla="*/ 13 h 199"/>
              <a:gd name="T14" fmla="*/ 965 w 972"/>
              <a:gd name="T15" fmla="*/ 6 h 199"/>
              <a:gd name="T16" fmla="*/ 965 w 972"/>
              <a:gd name="T17" fmla="*/ 0 h 199"/>
              <a:gd name="T18" fmla="*/ 960 w 972"/>
              <a:gd name="T19" fmla="*/ 0 h 199"/>
              <a:gd name="T20" fmla="*/ 962 w 972"/>
              <a:gd name="T21" fmla="*/ 6 h 199"/>
              <a:gd name="T22" fmla="*/ 962 w 972"/>
              <a:gd name="T23" fmla="*/ 13 h 199"/>
              <a:gd name="T24" fmla="*/ 963 w 972"/>
              <a:gd name="T25" fmla="*/ 20 h 199"/>
              <a:gd name="T26" fmla="*/ 965 w 972"/>
              <a:gd name="T27" fmla="*/ 26 h 199"/>
              <a:gd name="T28" fmla="*/ 965 w 972"/>
              <a:gd name="T29" fmla="*/ 33 h 199"/>
              <a:gd name="T30" fmla="*/ 967 w 972"/>
              <a:gd name="T31" fmla="*/ 41 h 199"/>
              <a:gd name="T32" fmla="*/ 967 w 972"/>
              <a:gd name="T33" fmla="*/ 48 h 199"/>
              <a:gd name="T34" fmla="*/ 968 w 972"/>
              <a:gd name="T35" fmla="*/ 54 h 199"/>
              <a:gd name="T36" fmla="*/ 972 w 972"/>
              <a:gd name="T37" fmla="*/ 53 h 199"/>
              <a:gd name="T38" fmla="*/ 0 w 972"/>
              <a:gd name="T39" fmla="*/ 142 h 199"/>
              <a:gd name="T40" fmla="*/ 0 w 972"/>
              <a:gd name="T41" fmla="*/ 151 h 199"/>
              <a:gd name="T42" fmla="*/ 1 w 972"/>
              <a:gd name="T43" fmla="*/ 157 h 199"/>
              <a:gd name="T44" fmla="*/ 1 w 972"/>
              <a:gd name="T45" fmla="*/ 164 h 199"/>
              <a:gd name="T46" fmla="*/ 3 w 972"/>
              <a:gd name="T47" fmla="*/ 170 h 199"/>
              <a:gd name="T48" fmla="*/ 4 w 972"/>
              <a:gd name="T49" fmla="*/ 177 h 199"/>
              <a:gd name="T50" fmla="*/ 4 w 972"/>
              <a:gd name="T51" fmla="*/ 185 h 199"/>
              <a:gd name="T52" fmla="*/ 6 w 972"/>
              <a:gd name="T53" fmla="*/ 192 h 199"/>
              <a:gd name="T54" fmla="*/ 8 w 972"/>
              <a:gd name="T55" fmla="*/ 199 h 199"/>
              <a:gd name="T56" fmla="*/ 13 w 972"/>
              <a:gd name="T57" fmla="*/ 199 h 199"/>
              <a:gd name="T58" fmla="*/ 11 w 972"/>
              <a:gd name="T59" fmla="*/ 192 h 199"/>
              <a:gd name="T60" fmla="*/ 9 w 972"/>
              <a:gd name="T61" fmla="*/ 184 h 199"/>
              <a:gd name="T62" fmla="*/ 9 w 972"/>
              <a:gd name="T63" fmla="*/ 177 h 199"/>
              <a:gd name="T64" fmla="*/ 8 w 972"/>
              <a:gd name="T65" fmla="*/ 170 h 199"/>
              <a:gd name="T66" fmla="*/ 6 w 972"/>
              <a:gd name="T67" fmla="*/ 162 h 199"/>
              <a:gd name="T68" fmla="*/ 6 w 972"/>
              <a:gd name="T69" fmla="*/ 155 h 199"/>
              <a:gd name="T70" fmla="*/ 4 w 972"/>
              <a:gd name="T71" fmla="*/ 147 h 199"/>
              <a:gd name="T72" fmla="*/ 4 w 972"/>
              <a:gd name="T73" fmla="*/ 141 h 199"/>
              <a:gd name="T74" fmla="*/ 0 w 972"/>
              <a:gd name="T75" fmla="*/ 14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72" h="199">
                <a:moveTo>
                  <a:pt x="972" y="53"/>
                </a:moveTo>
                <a:lnTo>
                  <a:pt x="972" y="46"/>
                </a:lnTo>
                <a:lnTo>
                  <a:pt x="972" y="40"/>
                </a:lnTo>
                <a:lnTo>
                  <a:pt x="970" y="33"/>
                </a:lnTo>
                <a:lnTo>
                  <a:pt x="970" y="26"/>
                </a:lnTo>
                <a:lnTo>
                  <a:pt x="968" y="20"/>
                </a:lnTo>
                <a:lnTo>
                  <a:pt x="967" y="13"/>
                </a:lnTo>
                <a:lnTo>
                  <a:pt x="965" y="6"/>
                </a:lnTo>
                <a:lnTo>
                  <a:pt x="965" y="0"/>
                </a:lnTo>
                <a:lnTo>
                  <a:pt x="960" y="0"/>
                </a:lnTo>
                <a:lnTo>
                  <a:pt x="962" y="6"/>
                </a:lnTo>
                <a:lnTo>
                  <a:pt x="962" y="13"/>
                </a:lnTo>
                <a:lnTo>
                  <a:pt x="963" y="20"/>
                </a:lnTo>
                <a:lnTo>
                  <a:pt x="965" y="26"/>
                </a:lnTo>
                <a:lnTo>
                  <a:pt x="965" y="33"/>
                </a:lnTo>
                <a:lnTo>
                  <a:pt x="967" y="41"/>
                </a:lnTo>
                <a:lnTo>
                  <a:pt x="967" y="48"/>
                </a:lnTo>
                <a:lnTo>
                  <a:pt x="968" y="54"/>
                </a:lnTo>
                <a:lnTo>
                  <a:pt x="972" y="53"/>
                </a:lnTo>
                <a:close/>
                <a:moveTo>
                  <a:pt x="0" y="142"/>
                </a:moveTo>
                <a:lnTo>
                  <a:pt x="0" y="151"/>
                </a:lnTo>
                <a:lnTo>
                  <a:pt x="1" y="157"/>
                </a:lnTo>
                <a:lnTo>
                  <a:pt x="1" y="164"/>
                </a:lnTo>
                <a:lnTo>
                  <a:pt x="3" y="170"/>
                </a:lnTo>
                <a:lnTo>
                  <a:pt x="4" y="177"/>
                </a:lnTo>
                <a:lnTo>
                  <a:pt x="4" y="185"/>
                </a:lnTo>
                <a:lnTo>
                  <a:pt x="6" y="192"/>
                </a:lnTo>
                <a:lnTo>
                  <a:pt x="8" y="199"/>
                </a:lnTo>
                <a:lnTo>
                  <a:pt x="13" y="199"/>
                </a:lnTo>
                <a:lnTo>
                  <a:pt x="11" y="192"/>
                </a:lnTo>
                <a:lnTo>
                  <a:pt x="9" y="184"/>
                </a:lnTo>
                <a:lnTo>
                  <a:pt x="9" y="177"/>
                </a:lnTo>
                <a:lnTo>
                  <a:pt x="8" y="170"/>
                </a:lnTo>
                <a:lnTo>
                  <a:pt x="6" y="162"/>
                </a:lnTo>
                <a:lnTo>
                  <a:pt x="6" y="155"/>
                </a:lnTo>
                <a:lnTo>
                  <a:pt x="4" y="147"/>
                </a:lnTo>
                <a:lnTo>
                  <a:pt x="4" y="141"/>
                </a:lnTo>
                <a:lnTo>
                  <a:pt x="0" y="142"/>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15" name="Freeform 1020">
            <a:extLst>
              <a:ext uri="{FF2B5EF4-FFF2-40B4-BE49-F238E27FC236}">
                <a16:creationId xmlns:a16="http://schemas.microsoft.com/office/drawing/2014/main" id="{E0E42A01-63F1-309D-0C94-EEFEAEA9EAA3}"/>
              </a:ext>
            </a:extLst>
          </p:cNvPr>
          <p:cNvSpPr>
            <a:spLocks noEditPoints="1"/>
          </p:cNvSpPr>
          <p:nvPr/>
        </p:nvSpPr>
        <p:spPr bwMode="auto">
          <a:xfrm>
            <a:off x="2144713" y="2403475"/>
            <a:ext cx="1538288" cy="315913"/>
          </a:xfrm>
          <a:custGeom>
            <a:avLst/>
            <a:gdLst>
              <a:gd name="T0" fmla="*/ 969 w 969"/>
              <a:gd name="T1" fmla="*/ 53 h 199"/>
              <a:gd name="T2" fmla="*/ 969 w 969"/>
              <a:gd name="T3" fmla="*/ 46 h 199"/>
              <a:gd name="T4" fmla="*/ 967 w 969"/>
              <a:gd name="T5" fmla="*/ 40 h 199"/>
              <a:gd name="T6" fmla="*/ 967 w 969"/>
              <a:gd name="T7" fmla="*/ 33 h 199"/>
              <a:gd name="T8" fmla="*/ 966 w 969"/>
              <a:gd name="T9" fmla="*/ 26 h 199"/>
              <a:gd name="T10" fmla="*/ 964 w 969"/>
              <a:gd name="T11" fmla="*/ 20 h 199"/>
              <a:gd name="T12" fmla="*/ 964 w 969"/>
              <a:gd name="T13" fmla="*/ 13 h 199"/>
              <a:gd name="T14" fmla="*/ 962 w 969"/>
              <a:gd name="T15" fmla="*/ 6 h 199"/>
              <a:gd name="T16" fmla="*/ 961 w 969"/>
              <a:gd name="T17" fmla="*/ 0 h 199"/>
              <a:gd name="T18" fmla="*/ 956 w 969"/>
              <a:gd name="T19" fmla="*/ 0 h 199"/>
              <a:gd name="T20" fmla="*/ 957 w 969"/>
              <a:gd name="T21" fmla="*/ 6 h 199"/>
              <a:gd name="T22" fmla="*/ 959 w 969"/>
              <a:gd name="T23" fmla="*/ 13 h 199"/>
              <a:gd name="T24" fmla="*/ 961 w 969"/>
              <a:gd name="T25" fmla="*/ 20 h 199"/>
              <a:gd name="T26" fmla="*/ 961 w 969"/>
              <a:gd name="T27" fmla="*/ 28 h 199"/>
              <a:gd name="T28" fmla="*/ 962 w 969"/>
              <a:gd name="T29" fmla="*/ 35 h 199"/>
              <a:gd name="T30" fmla="*/ 962 w 969"/>
              <a:gd name="T31" fmla="*/ 41 h 199"/>
              <a:gd name="T32" fmla="*/ 964 w 969"/>
              <a:gd name="T33" fmla="*/ 48 h 199"/>
              <a:gd name="T34" fmla="*/ 964 w 969"/>
              <a:gd name="T35" fmla="*/ 56 h 199"/>
              <a:gd name="T36" fmla="*/ 969 w 969"/>
              <a:gd name="T37" fmla="*/ 53 h 199"/>
              <a:gd name="T38" fmla="*/ 0 w 969"/>
              <a:gd name="T39" fmla="*/ 142 h 199"/>
              <a:gd name="T40" fmla="*/ 2 w 969"/>
              <a:gd name="T41" fmla="*/ 149 h 199"/>
              <a:gd name="T42" fmla="*/ 2 w 969"/>
              <a:gd name="T43" fmla="*/ 155 h 199"/>
              <a:gd name="T44" fmla="*/ 3 w 969"/>
              <a:gd name="T45" fmla="*/ 164 h 199"/>
              <a:gd name="T46" fmla="*/ 3 w 969"/>
              <a:gd name="T47" fmla="*/ 170 h 199"/>
              <a:gd name="T48" fmla="*/ 5 w 969"/>
              <a:gd name="T49" fmla="*/ 177 h 199"/>
              <a:gd name="T50" fmla="*/ 7 w 969"/>
              <a:gd name="T51" fmla="*/ 184 h 199"/>
              <a:gd name="T52" fmla="*/ 8 w 969"/>
              <a:gd name="T53" fmla="*/ 192 h 199"/>
              <a:gd name="T54" fmla="*/ 8 w 969"/>
              <a:gd name="T55" fmla="*/ 199 h 199"/>
              <a:gd name="T56" fmla="*/ 13 w 969"/>
              <a:gd name="T57" fmla="*/ 199 h 199"/>
              <a:gd name="T58" fmla="*/ 13 w 969"/>
              <a:gd name="T59" fmla="*/ 192 h 199"/>
              <a:gd name="T60" fmla="*/ 12 w 969"/>
              <a:gd name="T61" fmla="*/ 184 h 199"/>
              <a:gd name="T62" fmla="*/ 10 w 969"/>
              <a:gd name="T63" fmla="*/ 177 h 199"/>
              <a:gd name="T64" fmla="*/ 8 w 969"/>
              <a:gd name="T65" fmla="*/ 169 h 199"/>
              <a:gd name="T66" fmla="*/ 8 w 969"/>
              <a:gd name="T67" fmla="*/ 162 h 199"/>
              <a:gd name="T68" fmla="*/ 7 w 969"/>
              <a:gd name="T69" fmla="*/ 154 h 199"/>
              <a:gd name="T70" fmla="*/ 7 w 969"/>
              <a:gd name="T71" fmla="*/ 147 h 199"/>
              <a:gd name="T72" fmla="*/ 5 w 969"/>
              <a:gd name="T73" fmla="*/ 139 h 199"/>
              <a:gd name="T74" fmla="*/ 0 w 969"/>
              <a:gd name="T75" fmla="*/ 14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69" h="199">
                <a:moveTo>
                  <a:pt x="969" y="53"/>
                </a:moveTo>
                <a:lnTo>
                  <a:pt x="969" y="46"/>
                </a:lnTo>
                <a:lnTo>
                  <a:pt x="967" y="40"/>
                </a:lnTo>
                <a:lnTo>
                  <a:pt x="967" y="33"/>
                </a:lnTo>
                <a:lnTo>
                  <a:pt x="966" y="26"/>
                </a:lnTo>
                <a:lnTo>
                  <a:pt x="964" y="20"/>
                </a:lnTo>
                <a:lnTo>
                  <a:pt x="964" y="13"/>
                </a:lnTo>
                <a:lnTo>
                  <a:pt x="962" y="6"/>
                </a:lnTo>
                <a:lnTo>
                  <a:pt x="961" y="0"/>
                </a:lnTo>
                <a:lnTo>
                  <a:pt x="956" y="0"/>
                </a:lnTo>
                <a:lnTo>
                  <a:pt x="957" y="6"/>
                </a:lnTo>
                <a:lnTo>
                  <a:pt x="959" y="13"/>
                </a:lnTo>
                <a:lnTo>
                  <a:pt x="961" y="20"/>
                </a:lnTo>
                <a:lnTo>
                  <a:pt x="961" y="28"/>
                </a:lnTo>
                <a:lnTo>
                  <a:pt x="962" y="35"/>
                </a:lnTo>
                <a:lnTo>
                  <a:pt x="962" y="41"/>
                </a:lnTo>
                <a:lnTo>
                  <a:pt x="964" y="48"/>
                </a:lnTo>
                <a:lnTo>
                  <a:pt x="964" y="56"/>
                </a:lnTo>
                <a:lnTo>
                  <a:pt x="969" y="53"/>
                </a:lnTo>
                <a:close/>
                <a:moveTo>
                  <a:pt x="0" y="142"/>
                </a:moveTo>
                <a:lnTo>
                  <a:pt x="2" y="149"/>
                </a:lnTo>
                <a:lnTo>
                  <a:pt x="2" y="155"/>
                </a:lnTo>
                <a:lnTo>
                  <a:pt x="3" y="164"/>
                </a:lnTo>
                <a:lnTo>
                  <a:pt x="3" y="170"/>
                </a:lnTo>
                <a:lnTo>
                  <a:pt x="5" y="177"/>
                </a:lnTo>
                <a:lnTo>
                  <a:pt x="7" y="184"/>
                </a:lnTo>
                <a:lnTo>
                  <a:pt x="8" y="192"/>
                </a:lnTo>
                <a:lnTo>
                  <a:pt x="8" y="199"/>
                </a:lnTo>
                <a:lnTo>
                  <a:pt x="13" y="199"/>
                </a:lnTo>
                <a:lnTo>
                  <a:pt x="13" y="192"/>
                </a:lnTo>
                <a:lnTo>
                  <a:pt x="12" y="184"/>
                </a:lnTo>
                <a:lnTo>
                  <a:pt x="10" y="177"/>
                </a:lnTo>
                <a:lnTo>
                  <a:pt x="8" y="169"/>
                </a:lnTo>
                <a:lnTo>
                  <a:pt x="8" y="162"/>
                </a:lnTo>
                <a:lnTo>
                  <a:pt x="7" y="154"/>
                </a:lnTo>
                <a:lnTo>
                  <a:pt x="7" y="147"/>
                </a:lnTo>
                <a:lnTo>
                  <a:pt x="5" y="139"/>
                </a:lnTo>
                <a:lnTo>
                  <a:pt x="0" y="142"/>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16" name="Freeform 1021">
            <a:extLst>
              <a:ext uri="{FF2B5EF4-FFF2-40B4-BE49-F238E27FC236}">
                <a16:creationId xmlns:a16="http://schemas.microsoft.com/office/drawing/2014/main" id="{4DA2BABC-8499-36CF-2840-9552CD638CF6}"/>
              </a:ext>
            </a:extLst>
          </p:cNvPr>
          <p:cNvSpPr>
            <a:spLocks noEditPoints="1"/>
          </p:cNvSpPr>
          <p:nvPr/>
        </p:nvSpPr>
        <p:spPr bwMode="auto">
          <a:xfrm>
            <a:off x="2149475" y="2403475"/>
            <a:ext cx="1530350" cy="315913"/>
          </a:xfrm>
          <a:custGeom>
            <a:avLst/>
            <a:gdLst>
              <a:gd name="T0" fmla="*/ 964 w 964"/>
              <a:gd name="T1" fmla="*/ 54 h 199"/>
              <a:gd name="T2" fmla="*/ 963 w 964"/>
              <a:gd name="T3" fmla="*/ 48 h 199"/>
              <a:gd name="T4" fmla="*/ 963 w 964"/>
              <a:gd name="T5" fmla="*/ 41 h 199"/>
              <a:gd name="T6" fmla="*/ 961 w 964"/>
              <a:gd name="T7" fmla="*/ 33 h 199"/>
              <a:gd name="T8" fmla="*/ 961 w 964"/>
              <a:gd name="T9" fmla="*/ 26 h 199"/>
              <a:gd name="T10" fmla="*/ 959 w 964"/>
              <a:gd name="T11" fmla="*/ 20 h 199"/>
              <a:gd name="T12" fmla="*/ 958 w 964"/>
              <a:gd name="T13" fmla="*/ 13 h 199"/>
              <a:gd name="T14" fmla="*/ 958 w 964"/>
              <a:gd name="T15" fmla="*/ 6 h 199"/>
              <a:gd name="T16" fmla="*/ 956 w 964"/>
              <a:gd name="T17" fmla="*/ 0 h 199"/>
              <a:gd name="T18" fmla="*/ 951 w 964"/>
              <a:gd name="T19" fmla="*/ 0 h 199"/>
              <a:gd name="T20" fmla="*/ 953 w 964"/>
              <a:gd name="T21" fmla="*/ 6 h 199"/>
              <a:gd name="T22" fmla="*/ 953 w 964"/>
              <a:gd name="T23" fmla="*/ 13 h 199"/>
              <a:gd name="T24" fmla="*/ 954 w 964"/>
              <a:gd name="T25" fmla="*/ 21 h 199"/>
              <a:gd name="T26" fmla="*/ 956 w 964"/>
              <a:gd name="T27" fmla="*/ 28 h 199"/>
              <a:gd name="T28" fmla="*/ 956 w 964"/>
              <a:gd name="T29" fmla="*/ 35 h 199"/>
              <a:gd name="T30" fmla="*/ 958 w 964"/>
              <a:gd name="T31" fmla="*/ 43 h 199"/>
              <a:gd name="T32" fmla="*/ 958 w 964"/>
              <a:gd name="T33" fmla="*/ 50 h 199"/>
              <a:gd name="T34" fmla="*/ 959 w 964"/>
              <a:gd name="T35" fmla="*/ 56 h 199"/>
              <a:gd name="T36" fmla="*/ 964 w 964"/>
              <a:gd name="T37" fmla="*/ 54 h 199"/>
              <a:gd name="T38" fmla="*/ 0 w 964"/>
              <a:gd name="T39" fmla="*/ 141 h 199"/>
              <a:gd name="T40" fmla="*/ 0 w 964"/>
              <a:gd name="T41" fmla="*/ 147 h 199"/>
              <a:gd name="T42" fmla="*/ 2 w 964"/>
              <a:gd name="T43" fmla="*/ 155 h 199"/>
              <a:gd name="T44" fmla="*/ 2 w 964"/>
              <a:gd name="T45" fmla="*/ 162 h 199"/>
              <a:gd name="T46" fmla="*/ 4 w 964"/>
              <a:gd name="T47" fmla="*/ 170 h 199"/>
              <a:gd name="T48" fmla="*/ 5 w 964"/>
              <a:gd name="T49" fmla="*/ 177 h 199"/>
              <a:gd name="T50" fmla="*/ 5 w 964"/>
              <a:gd name="T51" fmla="*/ 184 h 199"/>
              <a:gd name="T52" fmla="*/ 7 w 964"/>
              <a:gd name="T53" fmla="*/ 192 h 199"/>
              <a:gd name="T54" fmla="*/ 9 w 964"/>
              <a:gd name="T55" fmla="*/ 199 h 199"/>
              <a:gd name="T56" fmla="*/ 14 w 964"/>
              <a:gd name="T57" fmla="*/ 199 h 199"/>
              <a:gd name="T58" fmla="*/ 12 w 964"/>
              <a:gd name="T59" fmla="*/ 190 h 199"/>
              <a:gd name="T60" fmla="*/ 10 w 964"/>
              <a:gd name="T61" fmla="*/ 184 h 199"/>
              <a:gd name="T62" fmla="*/ 9 w 964"/>
              <a:gd name="T63" fmla="*/ 177 h 199"/>
              <a:gd name="T64" fmla="*/ 9 w 964"/>
              <a:gd name="T65" fmla="*/ 169 h 199"/>
              <a:gd name="T66" fmla="*/ 7 w 964"/>
              <a:gd name="T67" fmla="*/ 160 h 199"/>
              <a:gd name="T68" fmla="*/ 7 w 964"/>
              <a:gd name="T69" fmla="*/ 154 h 199"/>
              <a:gd name="T70" fmla="*/ 5 w 964"/>
              <a:gd name="T71" fmla="*/ 146 h 199"/>
              <a:gd name="T72" fmla="*/ 5 w 964"/>
              <a:gd name="T73" fmla="*/ 139 h 199"/>
              <a:gd name="T74" fmla="*/ 0 w 964"/>
              <a:gd name="T75" fmla="*/ 14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64" h="199">
                <a:moveTo>
                  <a:pt x="964" y="54"/>
                </a:moveTo>
                <a:lnTo>
                  <a:pt x="963" y="48"/>
                </a:lnTo>
                <a:lnTo>
                  <a:pt x="963" y="41"/>
                </a:lnTo>
                <a:lnTo>
                  <a:pt x="961" y="33"/>
                </a:lnTo>
                <a:lnTo>
                  <a:pt x="961" y="26"/>
                </a:lnTo>
                <a:lnTo>
                  <a:pt x="959" y="20"/>
                </a:lnTo>
                <a:lnTo>
                  <a:pt x="958" y="13"/>
                </a:lnTo>
                <a:lnTo>
                  <a:pt x="958" y="6"/>
                </a:lnTo>
                <a:lnTo>
                  <a:pt x="956" y="0"/>
                </a:lnTo>
                <a:lnTo>
                  <a:pt x="951" y="0"/>
                </a:lnTo>
                <a:lnTo>
                  <a:pt x="953" y="6"/>
                </a:lnTo>
                <a:lnTo>
                  <a:pt x="953" y="13"/>
                </a:lnTo>
                <a:lnTo>
                  <a:pt x="954" y="21"/>
                </a:lnTo>
                <a:lnTo>
                  <a:pt x="956" y="28"/>
                </a:lnTo>
                <a:lnTo>
                  <a:pt x="956" y="35"/>
                </a:lnTo>
                <a:lnTo>
                  <a:pt x="958" y="43"/>
                </a:lnTo>
                <a:lnTo>
                  <a:pt x="958" y="50"/>
                </a:lnTo>
                <a:lnTo>
                  <a:pt x="959" y="56"/>
                </a:lnTo>
                <a:lnTo>
                  <a:pt x="964" y="54"/>
                </a:lnTo>
                <a:close/>
                <a:moveTo>
                  <a:pt x="0" y="141"/>
                </a:moveTo>
                <a:lnTo>
                  <a:pt x="0" y="147"/>
                </a:lnTo>
                <a:lnTo>
                  <a:pt x="2" y="155"/>
                </a:lnTo>
                <a:lnTo>
                  <a:pt x="2" y="162"/>
                </a:lnTo>
                <a:lnTo>
                  <a:pt x="4" y="170"/>
                </a:lnTo>
                <a:lnTo>
                  <a:pt x="5" y="177"/>
                </a:lnTo>
                <a:lnTo>
                  <a:pt x="5" y="184"/>
                </a:lnTo>
                <a:lnTo>
                  <a:pt x="7" y="192"/>
                </a:lnTo>
                <a:lnTo>
                  <a:pt x="9" y="199"/>
                </a:lnTo>
                <a:lnTo>
                  <a:pt x="14" y="199"/>
                </a:lnTo>
                <a:lnTo>
                  <a:pt x="12" y="190"/>
                </a:lnTo>
                <a:lnTo>
                  <a:pt x="10" y="184"/>
                </a:lnTo>
                <a:lnTo>
                  <a:pt x="9" y="177"/>
                </a:lnTo>
                <a:lnTo>
                  <a:pt x="9" y="169"/>
                </a:lnTo>
                <a:lnTo>
                  <a:pt x="7" y="160"/>
                </a:lnTo>
                <a:lnTo>
                  <a:pt x="7" y="154"/>
                </a:lnTo>
                <a:lnTo>
                  <a:pt x="5" y="146"/>
                </a:lnTo>
                <a:lnTo>
                  <a:pt x="5" y="139"/>
                </a:lnTo>
                <a:lnTo>
                  <a:pt x="0" y="141"/>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17" name="Freeform 1022">
            <a:extLst>
              <a:ext uri="{FF2B5EF4-FFF2-40B4-BE49-F238E27FC236}">
                <a16:creationId xmlns:a16="http://schemas.microsoft.com/office/drawing/2014/main" id="{2CB8B0BC-B6A2-6B32-88AC-E9417FC7B0BD}"/>
              </a:ext>
            </a:extLst>
          </p:cNvPr>
          <p:cNvSpPr>
            <a:spLocks noEditPoints="1"/>
          </p:cNvSpPr>
          <p:nvPr/>
        </p:nvSpPr>
        <p:spPr bwMode="auto">
          <a:xfrm>
            <a:off x="2152650" y="2403475"/>
            <a:ext cx="1522413" cy="315913"/>
          </a:xfrm>
          <a:custGeom>
            <a:avLst/>
            <a:gdLst>
              <a:gd name="T0" fmla="*/ 959 w 959"/>
              <a:gd name="T1" fmla="*/ 56 h 199"/>
              <a:gd name="T2" fmla="*/ 959 w 959"/>
              <a:gd name="T3" fmla="*/ 48 h 199"/>
              <a:gd name="T4" fmla="*/ 957 w 959"/>
              <a:gd name="T5" fmla="*/ 41 h 199"/>
              <a:gd name="T6" fmla="*/ 957 w 959"/>
              <a:gd name="T7" fmla="*/ 35 h 199"/>
              <a:gd name="T8" fmla="*/ 956 w 959"/>
              <a:gd name="T9" fmla="*/ 28 h 199"/>
              <a:gd name="T10" fmla="*/ 956 w 959"/>
              <a:gd name="T11" fmla="*/ 20 h 199"/>
              <a:gd name="T12" fmla="*/ 954 w 959"/>
              <a:gd name="T13" fmla="*/ 13 h 199"/>
              <a:gd name="T14" fmla="*/ 952 w 959"/>
              <a:gd name="T15" fmla="*/ 6 h 199"/>
              <a:gd name="T16" fmla="*/ 951 w 959"/>
              <a:gd name="T17" fmla="*/ 0 h 199"/>
              <a:gd name="T18" fmla="*/ 946 w 959"/>
              <a:gd name="T19" fmla="*/ 0 h 199"/>
              <a:gd name="T20" fmla="*/ 947 w 959"/>
              <a:gd name="T21" fmla="*/ 6 h 199"/>
              <a:gd name="T22" fmla="*/ 949 w 959"/>
              <a:gd name="T23" fmla="*/ 15 h 199"/>
              <a:gd name="T24" fmla="*/ 951 w 959"/>
              <a:gd name="T25" fmla="*/ 21 h 199"/>
              <a:gd name="T26" fmla="*/ 951 w 959"/>
              <a:gd name="T27" fmla="*/ 28 h 199"/>
              <a:gd name="T28" fmla="*/ 952 w 959"/>
              <a:gd name="T29" fmla="*/ 36 h 199"/>
              <a:gd name="T30" fmla="*/ 954 w 959"/>
              <a:gd name="T31" fmla="*/ 43 h 199"/>
              <a:gd name="T32" fmla="*/ 954 w 959"/>
              <a:gd name="T33" fmla="*/ 50 h 199"/>
              <a:gd name="T34" fmla="*/ 956 w 959"/>
              <a:gd name="T35" fmla="*/ 58 h 199"/>
              <a:gd name="T36" fmla="*/ 959 w 959"/>
              <a:gd name="T37" fmla="*/ 56 h 199"/>
              <a:gd name="T38" fmla="*/ 0 w 959"/>
              <a:gd name="T39" fmla="*/ 139 h 199"/>
              <a:gd name="T40" fmla="*/ 2 w 959"/>
              <a:gd name="T41" fmla="*/ 147 h 199"/>
              <a:gd name="T42" fmla="*/ 2 w 959"/>
              <a:gd name="T43" fmla="*/ 154 h 199"/>
              <a:gd name="T44" fmla="*/ 3 w 959"/>
              <a:gd name="T45" fmla="*/ 162 h 199"/>
              <a:gd name="T46" fmla="*/ 3 w 959"/>
              <a:gd name="T47" fmla="*/ 169 h 199"/>
              <a:gd name="T48" fmla="*/ 5 w 959"/>
              <a:gd name="T49" fmla="*/ 177 h 199"/>
              <a:gd name="T50" fmla="*/ 7 w 959"/>
              <a:gd name="T51" fmla="*/ 184 h 199"/>
              <a:gd name="T52" fmla="*/ 8 w 959"/>
              <a:gd name="T53" fmla="*/ 192 h 199"/>
              <a:gd name="T54" fmla="*/ 8 w 959"/>
              <a:gd name="T55" fmla="*/ 199 h 199"/>
              <a:gd name="T56" fmla="*/ 13 w 959"/>
              <a:gd name="T57" fmla="*/ 199 h 199"/>
              <a:gd name="T58" fmla="*/ 12 w 959"/>
              <a:gd name="T59" fmla="*/ 190 h 199"/>
              <a:gd name="T60" fmla="*/ 12 w 959"/>
              <a:gd name="T61" fmla="*/ 184 h 199"/>
              <a:gd name="T62" fmla="*/ 10 w 959"/>
              <a:gd name="T63" fmla="*/ 175 h 199"/>
              <a:gd name="T64" fmla="*/ 8 w 959"/>
              <a:gd name="T65" fmla="*/ 169 h 199"/>
              <a:gd name="T66" fmla="*/ 7 w 959"/>
              <a:gd name="T67" fmla="*/ 160 h 199"/>
              <a:gd name="T68" fmla="*/ 7 w 959"/>
              <a:gd name="T69" fmla="*/ 152 h 199"/>
              <a:gd name="T70" fmla="*/ 5 w 959"/>
              <a:gd name="T71" fmla="*/ 146 h 199"/>
              <a:gd name="T72" fmla="*/ 5 w 959"/>
              <a:gd name="T73" fmla="*/ 137 h 199"/>
              <a:gd name="T74" fmla="*/ 0 w 959"/>
              <a:gd name="T75" fmla="*/ 13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59" h="199">
                <a:moveTo>
                  <a:pt x="959" y="56"/>
                </a:moveTo>
                <a:lnTo>
                  <a:pt x="959" y="48"/>
                </a:lnTo>
                <a:lnTo>
                  <a:pt x="957" y="41"/>
                </a:lnTo>
                <a:lnTo>
                  <a:pt x="957" y="35"/>
                </a:lnTo>
                <a:lnTo>
                  <a:pt x="956" y="28"/>
                </a:lnTo>
                <a:lnTo>
                  <a:pt x="956" y="20"/>
                </a:lnTo>
                <a:lnTo>
                  <a:pt x="954" y="13"/>
                </a:lnTo>
                <a:lnTo>
                  <a:pt x="952" y="6"/>
                </a:lnTo>
                <a:lnTo>
                  <a:pt x="951" y="0"/>
                </a:lnTo>
                <a:lnTo>
                  <a:pt x="946" y="0"/>
                </a:lnTo>
                <a:lnTo>
                  <a:pt x="947" y="6"/>
                </a:lnTo>
                <a:lnTo>
                  <a:pt x="949" y="15"/>
                </a:lnTo>
                <a:lnTo>
                  <a:pt x="951" y="21"/>
                </a:lnTo>
                <a:lnTo>
                  <a:pt x="951" y="28"/>
                </a:lnTo>
                <a:lnTo>
                  <a:pt x="952" y="36"/>
                </a:lnTo>
                <a:lnTo>
                  <a:pt x="954" y="43"/>
                </a:lnTo>
                <a:lnTo>
                  <a:pt x="954" y="50"/>
                </a:lnTo>
                <a:lnTo>
                  <a:pt x="956" y="58"/>
                </a:lnTo>
                <a:lnTo>
                  <a:pt x="959" y="56"/>
                </a:lnTo>
                <a:close/>
                <a:moveTo>
                  <a:pt x="0" y="139"/>
                </a:moveTo>
                <a:lnTo>
                  <a:pt x="2" y="147"/>
                </a:lnTo>
                <a:lnTo>
                  <a:pt x="2" y="154"/>
                </a:lnTo>
                <a:lnTo>
                  <a:pt x="3" y="162"/>
                </a:lnTo>
                <a:lnTo>
                  <a:pt x="3" y="169"/>
                </a:lnTo>
                <a:lnTo>
                  <a:pt x="5" y="177"/>
                </a:lnTo>
                <a:lnTo>
                  <a:pt x="7" y="184"/>
                </a:lnTo>
                <a:lnTo>
                  <a:pt x="8" y="192"/>
                </a:lnTo>
                <a:lnTo>
                  <a:pt x="8" y="199"/>
                </a:lnTo>
                <a:lnTo>
                  <a:pt x="13" y="199"/>
                </a:lnTo>
                <a:lnTo>
                  <a:pt x="12" y="190"/>
                </a:lnTo>
                <a:lnTo>
                  <a:pt x="12" y="184"/>
                </a:lnTo>
                <a:lnTo>
                  <a:pt x="10" y="175"/>
                </a:lnTo>
                <a:lnTo>
                  <a:pt x="8" y="169"/>
                </a:lnTo>
                <a:lnTo>
                  <a:pt x="7" y="160"/>
                </a:lnTo>
                <a:lnTo>
                  <a:pt x="7" y="152"/>
                </a:lnTo>
                <a:lnTo>
                  <a:pt x="5" y="146"/>
                </a:lnTo>
                <a:lnTo>
                  <a:pt x="5" y="137"/>
                </a:lnTo>
                <a:lnTo>
                  <a:pt x="0" y="139"/>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18" name="Freeform 1023">
            <a:extLst>
              <a:ext uri="{FF2B5EF4-FFF2-40B4-BE49-F238E27FC236}">
                <a16:creationId xmlns:a16="http://schemas.microsoft.com/office/drawing/2014/main" id="{1B8CF622-6045-4B1B-6665-EF79E007C57F}"/>
              </a:ext>
            </a:extLst>
          </p:cNvPr>
          <p:cNvSpPr>
            <a:spLocks noEditPoints="1"/>
          </p:cNvSpPr>
          <p:nvPr/>
        </p:nvSpPr>
        <p:spPr bwMode="auto">
          <a:xfrm>
            <a:off x="2157413" y="2403475"/>
            <a:ext cx="1514475" cy="315913"/>
          </a:xfrm>
          <a:custGeom>
            <a:avLst/>
            <a:gdLst>
              <a:gd name="T0" fmla="*/ 954 w 954"/>
              <a:gd name="T1" fmla="*/ 56 h 199"/>
              <a:gd name="T2" fmla="*/ 953 w 954"/>
              <a:gd name="T3" fmla="*/ 50 h 199"/>
              <a:gd name="T4" fmla="*/ 953 w 954"/>
              <a:gd name="T5" fmla="*/ 43 h 199"/>
              <a:gd name="T6" fmla="*/ 951 w 954"/>
              <a:gd name="T7" fmla="*/ 35 h 199"/>
              <a:gd name="T8" fmla="*/ 951 w 954"/>
              <a:gd name="T9" fmla="*/ 28 h 199"/>
              <a:gd name="T10" fmla="*/ 949 w 954"/>
              <a:gd name="T11" fmla="*/ 21 h 199"/>
              <a:gd name="T12" fmla="*/ 948 w 954"/>
              <a:gd name="T13" fmla="*/ 13 h 199"/>
              <a:gd name="T14" fmla="*/ 948 w 954"/>
              <a:gd name="T15" fmla="*/ 6 h 199"/>
              <a:gd name="T16" fmla="*/ 946 w 954"/>
              <a:gd name="T17" fmla="*/ 0 h 199"/>
              <a:gd name="T18" fmla="*/ 941 w 954"/>
              <a:gd name="T19" fmla="*/ 0 h 199"/>
              <a:gd name="T20" fmla="*/ 943 w 954"/>
              <a:gd name="T21" fmla="*/ 6 h 199"/>
              <a:gd name="T22" fmla="*/ 944 w 954"/>
              <a:gd name="T23" fmla="*/ 15 h 199"/>
              <a:gd name="T24" fmla="*/ 944 w 954"/>
              <a:gd name="T25" fmla="*/ 21 h 199"/>
              <a:gd name="T26" fmla="*/ 946 w 954"/>
              <a:gd name="T27" fmla="*/ 30 h 199"/>
              <a:gd name="T28" fmla="*/ 948 w 954"/>
              <a:gd name="T29" fmla="*/ 36 h 199"/>
              <a:gd name="T30" fmla="*/ 948 w 954"/>
              <a:gd name="T31" fmla="*/ 45 h 199"/>
              <a:gd name="T32" fmla="*/ 949 w 954"/>
              <a:gd name="T33" fmla="*/ 51 h 199"/>
              <a:gd name="T34" fmla="*/ 949 w 954"/>
              <a:gd name="T35" fmla="*/ 59 h 199"/>
              <a:gd name="T36" fmla="*/ 954 w 954"/>
              <a:gd name="T37" fmla="*/ 56 h 199"/>
              <a:gd name="T38" fmla="*/ 0 w 954"/>
              <a:gd name="T39" fmla="*/ 139 h 199"/>
              <a:gd name="T40" fmla="*/ 0 w 954"/>
              <a:gd name="T41" fmla="*/ 146 h 199"/>
              <a:gd name="T42" fmla="*/ 2 w 954"/>
              <a:gd name="T43" fmla="*/ 154 h 199"/>
              <a:gd name="T44" fmla="*/ 2 w 954"/>
              <a:gd name="T45" fmla="*/ 160 h 199"/>
              <a:gd name="T46" fmla="*/ 4 w 954"/>
              <a:gd name="T47" fmla="*/ 169 h 199"/>
              <a:gd name="T48" fmla="*/ 4 w 954"/>
              <a:gd name="T49" fmla="*/ 177 h 199"/>
              <a:gd name="T50" fmla="*/ 5 w 954"/>
              <a:gd name="T51" fmla="*/ 184 h 199"/>
              <a:gd name="T52" fmla="*/ 7 w 954"/>
              <a:gd name="T53" fmla="*/ 190 h 199"/>
              <a:gd name="T54" fmla="*/ 9 w 954"/>
              <a:gd name="T55" fmla="*/ 199 h 199"/>
              <a:gd name="T56" fmla="*/ 14 w 954"/>
              <a:gd name="T57" fmla="*/ 199 h 199"/>
              <a:gd name="T58" fmla="*/ 12 w 954"/>
              <a:gd name="T59" fmla="*/ 190 h 199"/>
              <a:gd name="T60" fmla="*/ 10 w 954"/>
              <a:gd name="T61" fmla="*/ 184 h 199"/>
              <a:gd name="T62" fmla="*/ 9 w 954"/>
              <a:gd name="T63" fmla="*/ 175 h 199"/>
              <a:gd name="T64" fmla="*/ 9 w 954"/>
              <a:gd name="T65" fmla="*/ 167 h 199"/>
              <a:gd name="T66" fmla="*/ 7 w 954"/>
              <a:gd name="T67" fmla="*/ 160 h 199"/>
              <a:gd name="T68" fmla="*/ 5 w 954"/>
              <a:gd name="T69" fmla="*/ 152 h 199"/>
              <a:gd name="T70" fmla="*/ 5 w 954"/>
              <a:gd name="T71" fmla="*/ 144 h 199"/>
              <a:gd name="T72" fmla="*/ 4 w 954"/>
              <a:gd name="T73" fmla="*/ 136 h 199"/>
              <a:gd name="T74" fmla="*/ 0 w 954"/>
              <a:gd name="T75" fmla="*/ 13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54" h="199">
                <a:moveTo>
                  <a:pt x="954" y="56"/>
                </a:moveTo>
                <a:lnTo>
                  <a:pt x="953" y="50"/>
                </a:lnTo>
                <a:lnTo>
                  <a:pt x="953" y="43"/>
                </a:lnTo>
                <a:lnTo>
                  <a:pt x="951" y="35"/>
                </a:lnTo>
                <a:lnTo>
                  <a:pt x="951" y="28"/>
                </a:lnTo>
                <a:lnTo>
                  <a:pt x="949" y="21"/>
                </a:lnTo>
                <a:lnTo>
                  <a:pt x="948" y="13"/>
                </a:lnTo>
                <a:lnTo>
                  <a:pt x="948" y="6"/>
                </a:lnTo>
                <a:lnTo>
                  <a:pt x="946" y="0"/>
                </a:lnTo>
                <a:lnTo>
                  <a:pt x="941" y="0"/>
                </a:lnTo>
                <a:lnTo>
                  <a:pt x="943" y="6"/>
                </a:lnTo>
                <a:lnTo>
                  <a:pt x="944" y="15"/>
                </a:lnTo>
                <a:lnTo>
                  <a:pt x="944" y="21"/>
                </a:lnTo>
                <a:lnTo>
                  <a:pt x="946" y="30"/>
                </a:lnTo>
                <a:lnTo>
                  <a:pt x="948" y="36"/>
                </a:lnTo>
                <a:lnTo>
                  <a:pt x="948" y="45"/>
                </a:lnTo>
                <a:lnTo>
                  <a:pt x="949" y="51"/>
                </a:lnTo>
                <a:lnTo>
                  <a:pt x="949" y="59"/>
                </a:lnTo>
                <a:lnTo>
                  <a:pt x="954" y="56"/>
                </a:lnTo>
                <a:close/>
                <a:moveTo>
                  <a:pt x="0" y="139"/>
                </a:moveTo>
                <a:lnTo>
                  <a:pt x="0" y="146"/>
                </a:lnTo>
                <a:lnTo>
                  <a:pt x="2" y="154"/>
                </a:lnTo>
                <a:lnTo>
                  <a:pt x="2" y="160"/>
                </a:lnTo>
                <a:lnTo>
                  <a:pt x="4" y="169"/>
                </a:lnTo>
                <a:lnTo>
                  <a:pt x="4" y="177"/>
                </a:lnTo>
                <a:lnTo>
                  <a:pt x="5" y="184"/>
                </a:lnTo>
                <a:lnTo>
                  <a:pt x="7" y="190"/>
                </a:lnTo>
                <a:lnTo>
                  <a:pt x="9" y="199"/>
                </a:lnTo>
                <a:lnTo>
                  <a:pt x="14" y="199"/>
                </a:lnTo>
                <a:lnTo>
                  <a:pt x="12" y="190"/>
                </a:lnTo>
                <a:lnTo>
                  <a:pt x="10" y="184"/>
                </a:lnTo>
                <a:lnTo>
                  <a:pt x="9" y="175"/>
                </a:lnTo>
                <a:lnTo>
                  <a:pt x="9" y="167"/>
                </a:lnTo>
                <a:lnTo>
                  <a:pt x="7" y="160"/>
                </a:lnTo>
                <a:lnTo>
                  <a:pt x="5" y="152"/>
                </a:lnTo>
                <a:lnTo>
                  <a:pt x="5" y="144"/>
                </a:lnTo>
                <a:lnTo>
                  <a:pt x="4" y="136"/>
                </a:lnTo>
                <a:lnTo>
                  <a:pt x="0" y="139"/>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19" name="Freeform 1024">
            <a:extLst>
              <a:ext uri="{FF2B5EF4-FFF2-40B4-BE49-F238E27FC236}">
                <a16:creationId xmlns:a16="http://schemas.microsoft.com/office/drawing/2014/main" id="{D8F8E07E-2D3F-D12B-B367-1425B671754C}"/>
              </a:ext>
            </a:extLst>
          </p:cNvPr>
          <p:cNvSpPr>
            <a:spLocks noEditPoints="1"/>
          </p:cNvSpPr>
          <p:nvPr/>
        </p:nvSpPr>
        <p:spPr bwMode="auto">
          <a:xfrm>
            <a:off x="2160588" y="2403475"/>
            <a:ext cx="1509713" cy="315913"/>
          </a:xfrm>
          <a:custGeom>
            <a:avLst/>
            <a:gdLst>
              <a:gd name="T0" fmla="*/ 951 w 951"/>
              <a:gd name="T1" fmla="*/ 58 h 199"/>
              <a:gd name="T2" fmla="*/ 949 w 951"/>
              <a:gd name="T3" fmla="*/ 50 h 199"/>
              <a:gd name="T4" fmla="*/ 949 w 951"/>
              <a:gd name="T5" fmla="*/ 43 h 199"/>
              <a:gd name="T6" fmla="*/ 947 w 951"/>
              <a:gd name="T7" fmla="*/ 36 h 199"/>
              <a:gd name="T8" fmla="*/ 946 w 951"/>
              <a:gd name="T9" fmla="*/ 28 h 199"/>
              <a:gd name="T10" fmla="*/ 946 w 951"/>
              <a:gd name="T11" fmla="*/ 21 h 199"/>
              <a:gd name="T12" fmla="*/ 944 w 951"/>
              <a:gd name="T13" fmla="*/ 15 h 199"/>
              <a:gd name="T14" fmla="*/ 942 w 951"/>
              <a:gd name="T15" fmla="*/ 6 h 199"/>
              <a:gd name="T16" fmla="*/ 941 w 951"/>
              <a:gd name="T17" fmla="*/ 0 h 199"/>
              <a:gd name="T18" fmla="*/ 936 w 951"/>
              <a:gd name="T19" fmla="*/ 0 h 199"/>
              <a:gd name="T20" fmla="*/ 937 w 951"/>
              <a:gd name="T21" fmla="*/ 6 h 199"/>
              <a:gd name="T22" fmla="*/ 939 w 951"/>
              <a:gd name="T23" fmla="*/ 15 h 199"/>
              <a:gd name="T24" fmla="*/ 941 w 951"/>
              <a:gd name="T25" fmla="*/ 21 h 199"/>
              <a:gd name="T26" fmla="*/ 942 w 951"/>
              <a:gd name="T27" fmla="*/ 30 h 199"/>
              <a:gd name="T28" fmla="*/ 942 w 951"/>
              <a:gd name="T29" fmla="*/ 36 h 199"/>
              <a:gd name="T30" fmla="*/ 944 w 951"/>
              <a:gd name="T31" fmla="*/ 45 h 199"/>
              <a:gd name="T32" fmla="*/ 944 w 951"/>
              <a:gd name="T33" fmla="*/ 53 h 199"/>
              <a:gd name="T34" fmla="*/ 946 w 951"/>
              <a:gd name="T35" fmla="*/ 59 h 199"/>
              <a:gd name="T36" fmla="*/ 951 w 951"/>
              <a:gd name="T37" fmla="*/ 58 h 199"/>
              <a:gd name="T38" fmla="*/ 0 w 951"/>
              <a:gd name="T39" fmla="*/ 137 h 199"/>
              <a:gd name="T40" fmla="*/ 0 w 951"/>
              <a:gd name="T41" fmla="*/ 146 h 199"/>
              <a:gd name="T42" fmla="*/ 2 w 951"/>
              <a:gd name="T43" fmla="*/ 152 h 199"/>
              <a:gd name="T44" fmla="*/ 2 w 951"/>
              <a:gd name="T45" fmla="*/ 160 h 199"/>
              <a:gd name="T46" fmla="*/ 3 w 951"/>
              <a:gd name="T47" fmla="*/ 169 h 199"/>
              <a:gd name="T48" fmla="*/ 5 w 951"/>
              <a:gd name="T49" fmla="*/ 175 h 199"/>
              <a:gd name="T50" fmla="*/ 7 w 951"/>
              <a:gd name="T51" fmla="*/ 184 h 199"/>
              <a:gd name="T52" fmla="*/ 7 w 951"/>
              <a:gd name="T53" fmla="*/ 190 h 199"/>
              <a:gd name="T54" fmla="*/ 8 w 951"/>
              <a:gd name="T55" fmla="*/ 199 h 199"/>
              <a:gd name="T56" fmla="*/ 13 w 951"/>
              <a:gd name="T57" fmla="*/ 199 h 199"/>
              <a:gd name="T58" fmla="*/ 12 w 951"/>
              <a:gd name="T59" fmla="*/ 190 h 199"/>
              <a:gd name="T60" fmla="*/ 10 w 951"/>
              <a:gd name="T61" fmla="*/ 184 h 199"/>
              <a:gd name="T62" fmla="*/ 10 w 951"/>
              <a:gd name="T63" fmla="*/ 175 h 199"/>
              <a:gd name="T64" fmla="*/ 8 w 951"/>
              <a:gd name="T65" fmla="*/ 167 h 199"/>
              <a:gd name="T66" fmla="*/ 7 w 951"/>
              <a:gd name="T67" fmla="*/ 159 h 199"/>
              <a:gd name="T68" fmla="*/ 7 w 951"/>
              <a:gd name="T69" fmla="*/ 151 h 199"/>
              <a:gd name="T70" fmla="*/ 5 w 951"/>
              <a:gd name="T71" fmla="*/ 144 h 199"/>
              <a:gd name="T72" fmla="*/ 5 w 951"/>
              <a:gd name="T73" fmla="*/ 136 h 199"/>
              <a:gd name="T74" fmla="*/ 0 w 951"/>
              <a:gd name="T75" fmla="*/ 13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51" h="199">
                <a:moveTo>
                  <a:pt x="951" y="58"/>
                </a:moveTo>
                <a:lnTo>
                  <a:pt x="949" y="50"/>
                </a:lnTo>
                <a:lnTo>
                  <a:pt x="949" y="43"/>
                </a:lnTo>
                <a:lnTo>
                  <a:pt x="947" y="36"/>
                </a:lnTo>
                <a:lnTo>
                  <a:pt x="946" y="28"/>
                </a:lnTo>
                <a:lnTo>
                  <a:pt x="946" y="21"/>
                </a:lnTo>
                <a:lnTo>
                  <a:pt x="944" y="15"/>
                </a:lnTo>
                <a:lnTo>
                  <a:pt x="942" y="6"/>
                </a:lnTo>
                <a:lnTo>
                  <a:pt x="941" y="0"/>
                </a:lnTo>
                <a:lnTo>
                  <a:pt x="936" y="0"/>
                </a:lnTo>
                <a:lnTo>
                  <a:pt x="937" y="6"/>
                </a:lnTo>
                <a:lnTo>
                  <a:pt x="939" y="15"/>
                </a:lnTo>
                <a:lnTo>
                  <a:pt x="941" y="21"/>
                </a:lnTo>
                <a:lnTo>
                  <a:pt x="942" y="30"/>
                </a:lnTo>
                <a:lnTo>
                  <a:pt x="942" y="36"/>
                </a:lnTo>
                <a:lnTo>
                  <a:pt x="944" y="45"/>
                </a:lnTo>
                <a:lnTo>
                  <a:pt x="944" y="53"/>
                </a:lnTo>
                <a:lnTo>
                  <a:pt x="946" y="59"/>
                </a:lnTo>
                <a:lnTo>
                  <a:pt x="951" y="58"/>
                </a:lnTo>
                <a:close/>
                <a:moveTo>
                  <a:pt x="0" y="137"/>
                </a:moveTo>
                <a:lnTo>
                  <a:pt x="0" y="146"/>
                </a:lnTo>
                <a:lnTo>
                  <a:pt x="2" y="152"/>
                </a:lnTo>
                <a:lnTo>
                  <a:pt x="2" y="160"/>
                </a:lnTo>
                <a:lnTo>
                  <a:pt x="3" y="169"/>
                </a:lnTo>
                <a:lnTo>
                  <a:pt x="5" y="175"/>
                </a:lnTo>
                <a:lnTo>
                  <a:pt x="7" y="184"/>
                </a:lnTo>
                <a:lnTo>
                  <a:pt x="7" y="190"/>
                </a:lnTo>
                <a:lnTo>
                  <a:pt x="8" y="199"/>
                </a:lnTo>
                <a:lnTo>
                  <a:pt x="13" y="199"/>
                </a:lnTo>
                <a:lnTo>
                  <a:pt x="12" y="190"/>
                </a:lnTo>
                <a:lnTo>
                  <a:pt x="10" y="184"/>
                </a:lnTo>
                <a:lnTo>
                  <a:pt x="10" y="175"/>
                </a:lnTo>
                <a:lnTo>
                  <a:pt x="8" y="167"/>
                </a:lnTo>
                <a:lnTo>
                  <a:pt x="7" y="159"/>
                </a:lnTo>
                <a:lnTo>
                  <a:pt x="7" y="151"/>
                </a:lnTo>
                <a:lnTo>
                  <a:pt x="5" y="144"/>
                </a:lnTo>
                <a:lnTo>
                  <a:pt x="5" y="136"/>
                </a:lnTo>
                <a:lnTo>
                  <a:pt x="0" y="137"/>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20" name="Freeform 1025">
            <a:extLst>
              <a:ext uri="{FF2B5EF4-FFF2-40B4-BE49-F238E27FC236}">
                <a16:creationId xmlns:a16="http://schemas.microsoft.com/office/drawing/2014/main" id="{EB02406A-A4E4-25E7-770A-30F0D6E4F870}"/>
              </a:ext>
            </a:extLst>
          </p:cNvPr>
          <p:cNvSpPr>
            <a:spLocks noEditPoints="1"/>
          </p:cNvSpPr>
          <p:nvPr/>
        </p:nvSpPr>
        <p:spPr bwMode="auto">
          <a:xfrm>
            <a:off x="2163763" y="2403475"/>
            <a:ext cx="1500188" cy="315913"/>
          </a:xfrm>
          <a:custGeom>
            <a:avLst/>
            <a:gdLst>
              <a:gd name="T0" fmla="*/ 945 w 945"/>
              <a:gd name="T1" fmla="*/ 59 h 199"/>
              <a:gd name="T2" fmla="*/ 945 w 945"/>
              <a:gd name="T3" fmla="*/ 51 h 199"/>
              <a:gd name="T4" fmla="*/ 944 w 945"/>
              <a:gd name="T5" fmla="*/ 45 h 199"/>
              <a:gd name="T6" fmla="*/ 944 w 945"/>
              <a:gd name="T7" fmla="*/ 36 h 199"/>
              <a:gd name="T8" fmla="*/ 942 w 945"/>
              <a:gd name="T9" fmla="*/ 30 h 199"/>
              <a:gd name="T10" fmla="*/ 940 w 945"/>
              <a:gd name="T11" fmla="*/ 21 h 199"/>
              <a:gd name="T12" fmla="*/ 940 w 945"/>
              <a:gd name="T13" fmla="*/ 15 h 199"/>
              <a:gd name="T14" fmla="*/ 939 w 945"/>
              <a:gd name="T15" fmla="*/ 6 h 199"/>
              <a:gd name="T16" fmla="*/ 937 w 945"/>
              <a:gd name="T17" fmla="*/ 0 h 199"/>
              <a:gd name="T18" fmla="*/ 932 w 945"/>
              <a:gd name="T19" fmla="*/ 0 h 199"/>
              <a:gd name="T20" fmla="*/ 934 w 945"/>
              <a:gd name="T21" fmla="*/ 6 h 199"/>
              <a:gd name="T22" fmla="*/ 935 w 945"/>
              <a:gd name="T23" fmla="*/ 15 h 199"/>
              <a:gd name="T24" fmla="*/ 935 w 945"/>
              <a:gd name="T25" fmla="*/ 23 h 199"/>
              <a:gd name="T26" fmla="*/ 937 w 945"/>
              <a:gd name="T27" fmla="*/ 30 h 199"/>
              <a:gd name="T28" fmla="*/ 939 w 945"/>
              <a:gd name="T29" fmla="*/ 38 h 199"/>
              <a:gd name="T30" fmla="*/ 939 w 945"/>
              <a:gd name="T31" fmla="*/ 45 h 199"/>
              <a:gd name="T32" fmla="*/ 940 w 945"/>
              <a:gd name="T33" fmla="*/ 53 h 199"/>
              <a:gd name="T34" fmla="*/ 940 w 945"/>
              <a:gd name="T35" fmla="*/ 61 h 199"/>
              <a:gd name="T36" fmla="*/ 945 w 945"/>
              <a:gd name="T37" fmla="*/ 59 h 199"/>
              <a:gd name="T38" fmla="*/ 0 w 945"/>
              <a:gd name="T39" fmla="*/ 136 h 199"/>
              <a:gd name="T40" fmla="*/ 1 w 945"/>
              <a:gd name="T41" fmla="*/ 144 h 199"/>
              <a:gd name="T42" fmla="*/ 1 w 945"/>
              <a:gd name="T43" fmla="*/ 152 h 199"/>
              <a:gd name="T44" fmla="*/ 3 w 945"/>
              <a:gd name="T45" fmla="*/ 160 h 199"/>
              <a:gd name="T46" fmla="*/ 5 w 945"/>
              <a:gd name="T47" fmla="*/ 167 h 199"/>
              <a:gd name="T48" fmla="*/ 5 w 945"/>
              <a:gd name="T49" fmla="*/ 175 h 199"/>
              <a:gd name="T50" fmla="*/ 6 w 945"/>
              <a:gd name="T51" fmla="*/ 184 h 199"/>
              <a:gd name="T52" fmla="*/ 8 w 945"/>
              <a:gd name="T53" fmla="*/ 190 h 199"/>
              <a:gd name="T54" fmla="*/ 10 w 945"/>
              <a:gd name="T55" fmla="*/ 199 h 199"/>
              <a:gd name="T56" fmla="*/ 15 w 945"/>
              <a:gd name="T57" fmla="*/ 199 h 199"/>
              <a:gd name="T58" fmla="*/ 13 w 945"/>
              <a:gd name="T59" fmla="*/ 190 h 199"/>
              <a:gd name="T60" fmla="*/ 11 w 945"/>
              <a:gd name="T61" fmla="*/ 182 h 199"/>
              <a:gd name="T62" fmla="*/ 10 w 945"/>
              <a:gd name="T63" fmla="*/ 175 h 199"/>
              <a:gd name="T64" fmla="*/ 8 w 945"/>
              <a:gd name="T65" fmla="*/ 167 h 199"/>
              <a:gd name="T66" fmla="*/ 8 w 945"/>
              <a:gd name="T67" fmla="*/ 159 h 199"/>
              <a:gd name="T68" fmla="*/ 6 w 945"/>
              <a:gd name="T69" fmla="*/ 151 h 199"/>
              <a:gd name="T70" fmla="*/ 6 w 945"/>
              <a:gd name="T71" fmla="*/ 142 h 199"/>
              <a:gd name="T72" fmla="*/ 5 w 945"/>
              <a:gd name="T73" fmla="*/ 134 h 199"/>
              <a:gd name="T74" fmla="*/ 0 w 945"/>
              <a:gd name="T75" fmla="*/ 13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45" h="199">
                <a:moveTo>
                  <a:pt x="945" y="59"/>
                </a:moveTo>
                <a:lnTo>
                  <a:pt x="945" y="51"/>
                </a:lnTo>
                <a:lnTo>
                  <a:pt x="944" y="45"/>
                </a:lnTo>
                <a:lnTo>
                  <a:pt x="944" y="36"/>
                </a:lnTo>
                <a:lnTo>
                  <a:pt x="942" y="30"/>
                </a:lnTo>
                <a:lnTo>
                  <a:pt x="940" y="21"/>
                </a:lnTo>
                <a:lnTo>
                  <a:pt x="940" y="15"/>
                </a:lnTo>
                <a:lnTo>
                  <a:pt x="939" y="6"/>
                </a:lnTo>
                <a:lnTo>
                  <a:pt x="937" y="0"/>
                </a:lnTo>
                <a:lnTo>
                  <a:pt x="932" y="0"/>
                </a:lnTo>
                <a:lnTo>
                  <a:pt x="934" y="6"/>
                </a:lnTo>
                <a:lnTo>
                  <a:pt x="935" y="15"/>
                </a:lnTo>
                <a:lnTo>
                  <a:pt x="935" y="23"/>
                </a:lnTo>
                <a:lnTo>
                  <a:pt x="937" y="30"/>
                </a:lnTo>
                <a:lnTo>
                  <a:pt x="939" y="38"/>
                </a:lnTo>
                <a:lnTo>
                  <a:pt x="939" y="45"/>
                </a:lnTo>
                <a:lnTo>
                  <a:pt x="940" y="53"/>
                </a:lnTo>
                <a:lnTo>
                  <a:pt x="940" y="61"/>
                </a:lnTo>
                <a:lnTo>
                  <a:pt x="945" y="59"/>
                </a:lnTo>
                <a:close/>
                <a:moveTo>
                  <a:pt x="0" y="136"/>
                </a:moveTo>
                <a:lnTo>
                  <a:pt x="1" y="144"/>
                </a:lnTo>
                <a:lnTo>
                  <a:pt x="1" y="152"/>
                </a:lnTo>
                <a:lnTo>
                  <a:pt x="3" y="160"/>
                </a:lnTo>
                <a:lnTo>
                  <a:pt x="5" y="167"/>
                </a:lnTo>
                <a:lnTo>
                  <a:pt x="5" y="175"/>
                </a:lnTo>
                <a:lnTo>
                  <a:pt x="6" y="184"/>
                </a:lnTo>
                <a:lnTo>
                  <a:pt x="8" y="190"/>
                </a:lnTo>
                <a:lnTo>
                  <a:pt x="10" y="199"/>
                </a:lnTo>
                <a:lnTo>
                  <a:pt x="15" y="199"/>
                </a:lnTo>
                <a:lnTo>
                  <a:pt x="13" y="190"/>
                </a:lnTo>
                <a:lnTo>
                  <a:pt x="11" y="182"/>
                </a:lnTo>
                <a:lnTo>
                  <a:pt x="10" y="175"/>
                </a:lnTo>
                <a:lnTo>
                  <a:pt x="8" y="167"/>
                </a:lnTo>
                <a:lnTo>
                  <a:pt x="8" y="159"/>
                </a:lnTo>
                <a:lnTo>
                  <a:pt x="6" y="151"/>
                </a:lnTo>
                <a:lnTo>
                  <a:pt x="6" y="142"/>
                </a:lnTo>
                <a:lnTo>
                  <a:pt x="5" y="134"/>
                </a:lnTo>
                <a:lnTo>
                  <a:pt x="0" y="136"/>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21" name="Freeform 1026">
            <a:extLst>
              <a:ext uri="{FF2B5EF4-FFF2-40B4-BE49-F238E27FC236}">
                <a16:creationId xmlns:a16="http://schemas.microsoft.com/office/drawing/2014/main" id="{1D14E058-E72F-E58A-6C5F-8AD452063142}"/>
              </a:ext>
            </a:extLst>
          </p:cNvPr>
          <p:cNvSpPr>
            <a:spLocks noEditPoints="1"/>
          </p:cNvSpPr>
          <p:nvPr/>
        </p:nvSpPr>
        <p:spPr bwMode="auto">
          <a:xfrm>
            <a:off x="2168525" y="2403475"/>
            <a:ext cx="1493838" cy="315913"/>
          </a:xfrm>
          <a:custGeom>
            <a:avLst/>
            <a:gdLst>
              <a:gd name="T0" fmla="*/ 941 w 941"/>
              <a:gd name="T1" fmla="*/ 59 h 199"/>
              <a:gd name="T2" fmla="*/ 939 w 941"/>
              <a:gd name="T3" fmla="*/ 53 h 199"/>
              <a:gd name="T4" fmla="*/ 939 w 941"/>
              <a:gd name="T5" fmla="*/ 45 h 199"/>
              <a:gd name="T6" fmla="*/ 937 w 941"/>
              <a:gd name="T7" fmla="*/ 36 h 199"/>
              <a:gd name="T8" fmla="*/ 937 w 941"/>
              <a:gd name="T9" fmla="*/ 30 h 199"/>
              <a:gd name="T10" fmla="*/ 936 w 941"/>
              <a:gd name="T11" fmla="*/ 21 h 199"/>
              <a:gd name="T12" fmla="*/ 934 w 941"/>
              <a:gd name="T13" fmla="*/ 15 h 199"/>
              <a:gd name="T14" fmla="*/ 932 w 941"/>
              <a:gd name="T15" fmla="*/ 6 h 199"/>
              <a:gd name="T16" fmla="*/ 931 w 941"/>
              <a:gd name="T17" fmla="*/ 0 h 199"/>
              <a:gd name="T18" fmla="*/ 926 w 941"/>
              <a:gd name="T19" fmla="*/ 0 h 199"/>
              <a:gd name="T20" fmla="*/ 927 w 941"/>
              <a:gd name="T21" fmla="*/ 6 h 199"/>
              <a:gd name="T22" fmla="*/ 929 w 941"/>
              <a:gd name="T23" fmla="*/ 15 h 199"/>
              <a:gd name="T24" fmla="*/ 931 w 941"/>
              <a:gd name="T25" fmla="*/ 23 h 199"/>
              <a:gd name="T26" fmla="*/ 932 w 941"/>
              <a:gd name="T27" fmla="*/ 30 h 199"/>
              <a:gd name="T28" fmla="*/ 932 w 941"/>
              <a:gd name="T29" fmla="*/ 38 h 199"/>
              <a:gd name="T30" fmla="*/ 934 w 941"/>
              <a:gd name="T31" fmla="*/ 46 h 199"/>
              <a:gd name="T32" fmla="*/ 934 w 941"/>
              <a:gd name="T33" fmla="*/ 54 h 199"/>
              <a:gd name="T34" fmla="*/ 936 w 941"/>
              <a:gd name="T35" fmla="*/ 61 h 199"/>
              <a:gd name="T36" fmla="*/ 941 w 941"/>
              <a:gd name="T37" fmla="*/ 59 h 199"/>
              <a:gd name="T38" fmla="*/ 0 w 941"/>
              <a:gd name="T39" fmla="*/ 136 h 199"/>
              <a:gd name="T40" fmla="*/ 0 w 941"/>
              <a:gd name="T41" fmla="*/ 144 h 199"/>
              <a:gd name="T42" fmla="*/ 2 w 941"/>
              <a:gd name="T43" fmla="*/ 151 h 199"/>
              <a:gd name="T44" fmla="*/ 2 w 941"/>
              <a:gd name="T45" fmla="*/ 159 h 199"/>
              <a:gd name="T46" fmla="*/ 3 w 941"/>
              <a:gd name="T47" fmla="*/ 167 h 199"/>
              <a:gd name="T48" fmla="*/ 5 w 941"/>
              <a:gd name="T49" fmla="*/ 175 h 199"/>
              <a:gd name="T50" fmla="*/ 5 w 941"/>
              <a:gd name="T51" fmla="*/ 184 h 199"/>
              <a:gd name="T52" fmla="*/ 7 w 941"/>
              <a:gd name="T53" fmla="*/ 190 h 199"/>
              <a:gd name="T54" fmla="*/ 8 w 941"/>
              <a:gd name="T55" fmla="*/ 199 h 199"/>
              <a:gd name="T56" fmla="*/ 13 w 941"/>
              <a:gd name="T57" fmla="*/ 199 h 199"/>
              <a:gd name="T58" fmla="*/ 12 w 941"/>
              <a:gd name="T59" fmla="*/ 190 h 199"/>
              <a:gd name="T60" fmla="*/ 10 w 941"/>
              <a:gd name="T61" fmla="*/ 182 h 199"/>
              <a:gd name="T62" fmla="*/ 10 w 941"/>
              <a:gd name="T63" fmla="*/ 174 h 199"/>
              <a:gd name="T64" fmla="*/ 8 w 941"/>
              <a:gd name="T65" fmla="*/ 165 h 199"/>
              <a:gd name="T66" fmla="*/ 7 w 941"/>
              <a:gd name="T67" fmla="*/ 157 h 199"/>
              <a:gd name="T68" fmla="*/ 7 w 941"/>
              <a:gd name="T69" fmla="*/ 149 h 199"/>
              <a:gd name="T70" fmla="*/ 5 w 941"/>
              <a:gd name="T71" fmla="*/ 141 h 199"/>
              <a:gd name="T72" fmla="*/ 5 w 941"/>
              <a:gd name="T73" fmla="*/ 132 h 199"/>
              <a:gd name="T74" fmla="*/ 0 w 941"/>
              <a:gd name="T75" fmla="*/ 13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41" h="199">
                <a:moveTo>
                  <a:pt x="941" y="59"/>
                </a:moveTo>
                <a:lnTo>
                  <a:pt x="939" y="53"/>
                </a:lnTo>
                <a:lnTo>
                  <a:pt x="939" y="45"/>
                </a:lnTo>
                <a:lnTo>
                  <a:pt x="937" y="36"/>
                </a:lnTo>
                <a:lnTo>
                  <a:pt x="937" y="30"/>
                </a:lnTo>
                <a:lnTo>
                  <a:pt x="936" y="21"/>
                </a:lnTo>
                <a:lnTo>
                  <a:pt x="934" y="15"/>
                </a:lnTo>
                <a:lnTo>
                  <a:pt x="932" y="6"/>
                </a:lnTo>
                <a:lnTo>
                  <a:pt x="931" y="0"/>
                </a:lnTo>
                <a:lnTo>
                  <a:pt x="926" y="0"/>
                </a:lnTo>
                <a:lnTo>
                  <a:pt x="927" y="6"/>
                </a:lnTo>
                <a:lnTo>
                  <a:pt x="929" y="15"/>
                </a:lnTo>
                <a:lnTo>
                  <a:pt x="931" y="23"/>
                </a:lnTo>
                <a:lnTo>
                  <a:pt x="932" y="30"/>
                </a:lnTo>
                <a:lnTo>
                  <a:pt x="932" y="38"/>
                </a:lnTo>
                <a:lnTo>
                  <a:pt x="934" y="46"/>
                </a:lnTo>
                <a:lnTo>
                  <a:pt x="934" y="54"/>
                </a:lnTo>
                <a:lnTo>
                  <a:pt x="936" y="61"/>
                </a:lnTo>
                <a:lnTo>
                  <a:pt x="941" y="59"/>
                </a:lnTo>
                <a:close/>
                <a:moveTo>
                  <a:pt x="0" y="136"/>
                </a:moveTo>
                <a:lnTo>
                  <a:pt x="0" y="144"/>
                </a:lnTo>
                <a:lnTo>
                  <a:pt x="2" y="151"/>
                </a:lnTo>
                <a:lnTo>
                  <a:pt x="2" y="159"/>
                </a:lnTo>
                <a:lnTo>
                  <a:pt x="3" y="167"/>
                </a:lnTo>
                <a:lnTo>
                  <a:pt x="5" y="175"/>
                </a:lnTo>
                <a:lnTo>
                  <a:pt x="5" y="184"/>
                </a:lnTo>
                <a:lnTo>
                  <a:pt x="7" y="190"/>
                </a:lnTo>
                <a:lnTo>
                  <a:pt x="8" y="199"/>
                </a:lnTo>
                <a:lnTo>
                  <a:pt x="13" y="199"/>
                </a:lnTo>
                <a:lnTo>
                  <a:pt x="12" y="190"/>
                </a:lnTo>
                <a:lnTo>
                  <a:pt x="10" y="182"/>
                </a:lnTo>
                <a:lnTo>
                  <a:pt x="10" y="174"/>
                </a:lnTo>
                <a:lnTo>
                  <a:pt x="8" y="165"/>
                </a:lnTo>
                <a:lnTo>
                  <a:pt x="7" y="157"/>
                </a:lnTo>
                <a:lnTo>
                  <a:pt x="7" y="149"/>
                </a:lnTo>
                <a:lnTo>
                  <a:pt x="5" y="141"/>
                </a:lnTo>
                <a:lnTo>
                  <a:pt x="5" y="132"/>
                </a:lnTo>
                <a:lnTo>
                  <a:pt x="0" y="136"/>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22" name="Freeform 1027">
            <a:extLst>
              <a:ext uri="{FF2B5EF4-FFF2-40B4-BE49-F238E27FC236}">
                <a16:creationId xmlns:a16="http://schemas.microsoft.com/office/drawing/2014/main" id="{BD433967-0006-CF67-E204-E8FC10495B40}"/>
              </a:ext>
            </a:extLst>
          </p:cNvPr>
          <p:cNvSpPr>
            <a:spLocks noEditPoints="1"/>
          </p:cNvSpPr>
          <p:nvPr/>
        </p:nvSpPr>
        <p:spPr bwMode="auto">
          <a:xfrm>
            <a:off x="2171700" y="2403475"/>
            <a:ext cx="1484313" cy="315913"/>
          </a:xfrm>
          <a:custGeom>
            <a:avLst/>
            <a:gdLst>
              <a:gd name="T0" fmla="*/ 935 w 935"/>
              <a:gd name="T1" fmla="*/ 61 h 199"/>
              <a:gd name="T2" fmla="*/ 935 w 935"/>
              <a:gd name="T3" fmla="*/ 53 h 199"/>
              <a:gd name="T4" fmla="*/ 934 w 935"/>
              <a:gd name="T5" fmla="*/ 45 h 199"/>
              <a:gd name="T6" fmla="*/ 934 w 935"/>
              <a:gd name="T7" fmla="*/ 38 h 199"/>
              <a:gd name="T8" fmla="*/ 932 w 935"/>
              <a:gd name="T9" fmla="*/ 30 h 199"/>
              <a:gd name="T10" fmla="*/ 930 w 935"/>
              <a:gd name="T11" fmla="*/ 23 h 199"/>
              <a:gd name="T12" fmla="*/ 930 w 935"/>
              <a:gd name="T13" fmla="*/ 15 h 199"/>
              <a:gd name="T14" fmla="*/ 929 w 935"/>
              <a:gd name="T15" fmla="*/ 6 h 199"/>
              <a:gd name="T16" fmla="*/ 927 w 935"/>
              <a:gd name="T17" fmla="*/ 0 h 199"/>
              <a:gd name="T18" fmla="*/ 922 w 935"/>
              <a:gd name="T19" fmla="*/ 0 h 199"/>
              <a:gd name="T20" fmla="*/ 924 w 935"/>
              <a:gd name="T21" fmla="*/ 8 h 199"/>
              <a:gd name="T22" fmla="*/ 925 w 935"/>
              <a:gd name="T23" fmla="*/ 15 h 199"/>
              <a:gd name="T24" fmla="*/ 927 w 935"/>
              <a:gd name="T25" fmla="*/ 23 h 199"/>
              <a:gd name="T26" fmla="*/ 927 w 935"/>
              <a:gd name="T27" fmla="*/ 31 h 199"/>
              <a:gd name="T28" fmla="*/ 929 w 935"/>
              <a:gd name="T29" fmla="*/ 40 h 199"/>
              <a:gd name="T30" fmla="*/ 930 w 935"/>
              <a:gd name="T31" fmla="*/ 46 h 199"/>
              <a:gd name="T32" fmla="*/ 930 w 935"/>
              <a:gd name="T33" fmla="*/ 54 h 199"/>
              <a:gd name="T34" fmla="*/ 932 w 935"/>
              <a:gd name="T35" fmla="*/ 63 h 199"/>
              <a:gd name="T36" fmla="*/ 935 w 935"/>
              <a:gd name="T37" fmla="*/ 61 h 199"/>
              <a:gd name="T38" fmla="*/ 0 w 935"/>
              <a:gd name="T39" fmla="*/ 134 h 199"/>
              <a:gd name="T40" fmla="*/ 1 w 935"/>
              <a:gd name="T41" fmla="*/ 142 h 199"/>
              <a:gd name="T42" fmla="*/ 1 w 935"/>
              <a:gd name="T43" fmla="*/ 151 h 199"/>
              <a:gd name="T44" fmla="*/ 3 w 935"/>
              <a:gd name="T45" fmla="*/ 159 h 199"/>
              <a:gd name="T46" fmla="*/ 3 w 935"/>
              <a:gd name="T47" fmla="*/ 167 h 199"/>
              <a:gd name="T48" fmla="*/ 5 w 935"/>
              <a:gd name="T49" fmla="*/ 175 h 199"/>
              <a:gd name="T50" fmla="*/ 6 w 935"/>
              <a:gd name="T51" fmla="*/ 182 h 199"/>
              <a:gd name="T52" fmla="*/ 8 w 935"/>
              <a:gd name="T53" fmla="*/ 190 h 199"/>
              <a:gd name="T54" fmla="*/ 10 w 935"/>
              <a:gd name="T55" fmla="*/ 199 h 199"/>
              <a:gd name="T56" fmla="*/ 15 w 935"/>
              <a:gd name="T57" fmla="*/ 199 h 199"/>
              <a:gd name="T58" fmla="*/ 13 w 935"/>
              <a:gd name="T59" fmla="*/ 190 h 199"/>
              <a:gd name="T60" fmla="*/ 11 w 935"/>
              <a:gd name="T61" fmla="*/ 182 h 199"/>
              <a:gd name="T62" fmla="*/ 10 w 935"/>
              <a:gd name="T63" fmla="*/ 174 h 199"/>
              <a:gd name="T64" fmla="*/ 8 w 935"/>
              <a:gd name="T65" fmla="*/ 165 h 199"/>
              <a:gd name="T66" fmla="*/ 8 w 935"/>
              <a:gd name="T67" fmla="*/ 157 h 199"/>
              <a:gd name="T68" fmla="*/ 6 w 935"/>
              <a:gd name="T69" fmla="*/ 149 h 199"/>
              <a:gd name="T70" fmla="*/ 5 w 935"/>
              <a:gd name="T71" fmla="*/ 141 h 199"/>
              <a:gd name="T72" fmla="*/ 5 w 935"/>
              <a:gd name="T73" fmla="*/ 132 h 199"/>
              <a:gd name="T74" fmla="*/ 0 w 935"/>
              <a:gd name="T75" fmla="*/ 13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35" h="199">
                <a:moveTo>
                  <a:pt x="935" y="61"/>
                </a:moveTo>
                <a:lnTo>
                  <a:pt x="935" y="53"/>
                </a:lnTo>
                <a:lnTo>
                  <a:pt x="934" y="45"/>
                </a:lnTo>
                <a:lnTo>
                  <a:pt x="934" y="38"/>
                </a:lnTo>
                <a:lnTo>
                  <a:pt x="932" y="30"/>
                </a:lnTo>
                <a:lnTo>
                  <a:pt x="930" y="23"/>
                </a:lnTo>
                <a:lnTo>
                  <a:pt x="930" y="15"/>
                </a:lnTo>
                <a:lnTo>
                  <a:pt x="929" y="6"/>
                </a:lnTo>
                <a:lnTo>
                  <a:pt x="927" y="0"/>
                </a:lnTo>
                <a:lnTo>
                  <a:pt x="922" y="0"/>
                </a:lnTo>
                <a:lnTo>
                  <a:pt x="924" y="8"/>
                </a:lnTo>
                <a:lnTo>
                  <a:pt x="925" y="15"/>
                </a:lnTo>
                <a:lnTo>
                  <a:pt x="927" y="23"/>
                </a:lnTo>
                <a:lnTo>
                  <a:pt x="927" y="31"/>
                </a:lnTo>
                <a:lnTo>
                  <a:pt x="929" y="40"/>
                </a:lnTo>
                <a:lnTo>
                  <a:pt x="930" y="46"/>
                </a:lnTo>
                <a:lnTo>
                  <a:pt x="930" y="54"/>
                </a:lnTo>
                <a:lnTo>
                  <a:pt x="932" y="63"/>
                </a:lnTo>
                <a:lnTo>
                  <a:pt x="935" y="61"/>
                </a:lnTo>
                <a:close/>
                <a:moveTo>
                  <a:pt x="0" y="134"/>
                </a:moveTo>
                <a:lnTo>
                  <a:pt x="1" y="142"/>
                </a:lnTo>
                <a:lnTo>
                  <a:pt x="1" y="151"/>
                </a:lnTo>
                <a:lnTo>
                  <a:pt x="3" y="159"/>
                </a:lnTo>
                <a:lnTo>
                  <a:pt x="3" y="167"/>
                </a:lnTo>
                <a:lnTo>
                  <a:pt x="5" y="175"/>
                </a:lnTo>
                <a:lnTo>
                  <a:pt x="6" y="182"/>
                </a:lnTo>
                <a:lnTo>
                  <a:pt x="8" y="190"/>
                </a:lnTo>
                <a:lnTo>
                  <a:pt x="10" y="199"/>
                </a:lnTo>
                <a:lnTo>
                  <a:pt x="15" y="199"/>
                </a:lnTo>
                <a:lnTo>
                  <a:pt x="13" y="190"/>
                </a:lnTo>
                <a:lnTo>
                  <a:pt x="11" y="182"/>
                </a:lnTo>
                <a:lnTo>
                  <a:pt x="10" y="174"/>
                </a:lnTo>
                <a:lnTo>
                  <a:pt x="8" y="165"/>
                </a:lnTo>
                <a:lnTo>
                  <a:pt x="8" y="157"/>
                </a:lnTo>
                <a:lnTo>
                  <a:pt x="6" y="149"/>
                </a:lnTo>
                <a:lnTo>
                  <a:pt x="5" y="141"/>
                </a:lnTo>
                <a:lnTo>
                  <a:pt x="5" y="132"/>
                </a:lnTo>
                <a:lnTo>
                  <a:pt x="0" y="134"/>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23" name="Freeform 1028">
            <a:extLst>
              <a:ext uri="{FF2B5EF4-FFF2-40B4-BE49-F238E27FC236}">
                <a16:creationId xmlns:a16="http://schemas.microsoft.com/office/drawing/2014/main" id="{AB17ABFD-195D-A6E0-2EE6-B3754036870B}"/>
              </a:ext>
            </a:extLst>
          </p:cNvPr>
          <p:cNvSpPr>
            <a:spLocks noEditPoints="1"/>
          </p:cNvSpPr>
          <p:nvPr/>
        </p:nvSpPr>
        <p:spPr bwMode="auto">
          <a:xfrm>
            <a:off x="2176463" y="2403475"/>
            <a:ext cx="1477963" cy="315913"/>
          </a:xfrm>
          <a:custGeom>
            <a:avLst/>
            <a:gdLst>
              <a:gd name="T0" fmla="*/ 931 w 931"/>
              <a:gd name="T1" fmla="*/ 61 h 199"/>
              <a:gd name="T2" fmla="*/ 929 w 931"/>
              <a:gd name="T3" fmla="*/ 54 h 199"/>
              <a:gd name="T4" fmla="*/ 929 w 931"/>
              <a:gd name="T5" fmla="*/ 46 h 199"/>
              <a:gd name="T6" fmla="*/ 927 w 931"/>
              <a:gd name="T7" fmla="*/ 38 h 199"/>
              <a:gd name="T8" fmla="*/ 927 w 931"/>
              <a:gd name="T9" fmla="*/ 30 h 199"/>
              <a:gd name="T10" fmla="*/ 926 w 931"/>
              <a:gd name="T11" fmla="*/ 23 h 199"/>
              <a:gd name="T12" fmla="*/ 924 w 931"/>
              <a:gd name="T13" fmla="*/ 15 h 199"/>
              <a:gd name="T14" fmla="*/ 922 w 931"/>
              <a:gd name="T15" fmla="*/ 6 h 199"/>
              <a:gd name="T16" fmla="*/ 921 w 931"/>
              <a:gd name="T17" fmla="*/ 0 h 199"/>
              <a:gd name="T18" fmla="*/ 916 w 931"/>
              <a:gd name="T19" fmla="*/ 0 h 199"/>
              <a:gd name="T20" fmla="*/ 918 w 931"/>
              <a:gd name="T21" fmla="*/ 8 h 199"/>
              <a:gd name="T22" fmla="*/ 919 w 931"/>
              <a:gd name="T23" fmla="*/ 15 h 199"/>
              <a:gd name="T24" fmla="*/ 921 w 931"/>
              <a:gd name="T25" fmla="*/ 23 h 199"/>
              <a:gd name="T26" fmla="*/ 922 w 931"/>
              <a:gd name="T27" fmla="*/ 31 h 199"/>
              <a:gd name="T28" fmla="*/ 924 w 931"/>
              <a:gd name="T29" fmla="*/ 40 h 199"/>
              <a:gd name="T30" fmla="*/ 924 w 931"/>
              <a:gd name="T31" fmla="*/ 48 h 199"/>
              <a:gd name="T32" fmla="*/ 926 w 931"/>
              <a:gd name="T33" fmla="*/ 56 h 199"/>
              <a:gd name="T34" fmla="*/ 926 w 931"/>
              <a:gd name="T35" fmla="*/ 64 h 199"/>
              <a:gd name="T36" fmla="*/ 931 w 931"/>
              <a:gd name="T37" fmla="*/ 61 h 199"/>
              <a:gd name="T38" fmla="*/ 0 w 931"/>
              <a:gd name="T39" fmla="*/ 132 h 199"/>
              <a:gd name="T40" fmla="*/ 0 w 931"/>
              <a:gd name="T41" fmla="*/ 141 h 199"/>
              <a:gd name="T42" fmla="*/ 2 w 931"/>
              <a:gd name="T43" fmla="*/ 149 h 199"/>
              <a:gd name="T44" fmla="*/ 2 w 931"/>
              <a:gd name="T45" fmla="*/ 157 h 199"/>
              <a:gd name="T46" fmla="*/ 3 w 931"/>
              <a:gd name="T47" fmla="*/ 165 h 199"/>
              <a:gd name="T48" fmla="*/ 5 w 931"/>
              <a:gd name="T49" fmla="*/ 174 h 199"/>
              <a:gd name="T50" fmla="*/ 5 w 931"/>
              <a:gd name="T51" fmla="*/ 182 h 199"/>
              <a:gd name="T52" fmla="*/ 7 w 931"/>
              <a:gd name="T53" fmla="*/ 190 h 199"/>
              <a:gd name="T54" fmla="*/ 8 w 931"/>
              <a:gd name="T55" fmla="*/ 199 h 199"/>
              <a:gd name="T56" fmla="*/ 13 w 931"/>
              <a:gd name="T57" fmla="*/ 199 h 199"/>
              <a:gd name="T58" fmla="*/ 12 w 931"/>
              <a:gd name="T59" fmla="*/ 190 h 199"/>
              <a:gd name="T60" fmla="*/ 10 w 931"/>
              <a:gd name="T61" fmla="*/ 182 h 199"/>
              <a:gd name="T62" fmla="*/ 8 w 931"/>
              <a:gd name="T63" fmla="*/ 174 h 199"/>
              <a:gd name="T64" fmla="*/ 8 w 931"/>
              <a:gd name="T65" fmla="*/ 165 h 199"/>
              <a:gd name="T66" fmla="*/ 7 w 931"/>
              <a:gd name="T67" fmla="*/ 157 h 199"/>
              <a:gd name="T68" fmla="*/ 5 w 931"/>
              <a:gd name="T69" fmla="*/ 147 h 199"/>
              <a:gd name="T70" fmla="*/ 5 w 931"/>
              <a:gd name="T71" fmla="*/ 139 h 199"/>
              <a:gd name="T72" fmla="*/ 3 w 931"/>
              <a:gd name="T73" fmla="*/ 131 h 199"/>
              <a:gd name="T74" fmla="*/ 0 w 931"/>
              <a:gd name="T75" fmla="*/ 13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31" h="199">
                <a:moveTo>
                  <a:pt x="931" y="61"/>
                </a:moveTo>
                <a:lnTo>
                  <a:pt x="929" y="54"/>
                </a:lnTo>
                <a:lnTo>
                  <a:pt x="929" y="46"/>
                </a:lnTo>
                <a:lnTo>
                  <a:pt x="927" y="38"/>
                </a:lnTo>
                <a:lnTo>
                  <a:pt x="927" y="30"/>
                </a:lnTo>
                <a:lnTo>
                  <a:pt x="926" y="23"/>
                </a:lnTo>
                <a:lnTo>
                  <a:pt x="924" y="15"/>
                </a:lnTo>
                <a:lnTo>
                  <a:pt x="922" y="6"/>
                </a:lnTo>
                <a:lnTo>
                  <a:pt x="921" y="0"/>
                </a:lnTo>
                <a:lnTo>
                  <a:pt x="916" y="0"/>
                </a:lnTo>
                <a:lnTo>
                  <a:pt x="918" y="8"/>
                </a:lnTo>
                <a:lnTo>
                  <a:pt x="919" y="15"/>
                </a:lnTo>
                <a:lnTo>
                  <a:pt x="921" y="23"/>
                </a:lnTo>
                <a:lnTo>
                  <a:pt x="922" y="31"/>
                </a:lnTo>
                <a:lnTo>
                  <a:pt x="924" y="40"/>
                </a:lnTo>
                <a:lnTo>
                  <a:pt x="924" y="48"/>
                </a:lnTo>
                <a:lnTo>
                  <a:pt x="926" y="56"/>
                </a:lnTo>
                <a:lnTo>
                  <a:pt x="926" y="64"/>
                </a:lnTo>
                <a:lnTo>
                  <a:pt x="931" y="61"/>
                </a:lnTo>
                <a:close/>
                <a:moveTo>
                  <a:pt x="0" y="132"/>
                </a:moveTo>
                <a:lnTo>
                  <a:pt x="0" y="141"/>
                </a:lnTo>
                <a:lnTo>
                  <a:pt x="2" y="149"/>
                </a:lnTo>
                <a:lnTo>
                  <a:pt x="2" y="157"/>
                </a:lnTo>
                <a:lnTo>
                  <a:pt x="3" y="165"/>
                </a:lnTo>
                <a:lnTo>
                  <a:pt x="5" y="174"/>
                </a:lnTo>
                <a:lnTo>
                  <a:pt x="5" y="182"/>
                </a:lnTo>
                <a:lnTo>
                  <a:pt x="7" y="190"/>
                </a:lnTo>
                <a:lnTo>
                  <a:pt x="8" y="199"/>
                </a:lnTo>
                <a:lnTo>
                  <a:pt x="13" y="199"/>
                </a:lnTo>
                <a:lnTo>
                  <a:pt x="12" y="190"/>
                </a:lnTo>
                <a:lnTo>
                  <a:pt x="10" y="182"/>
                </a:lnTo>
                <a:lnTo>
                  <a:pt x="8" y="174"/>
                </a:lnTo>
                <a:lnTo>
                  <a:pt x="8" y="165"/>
                </a:lnTo>
                <a:lnTo>
                  <a:pt x="7" y="157"/>
                </a:lnTo>
                <a:lnTo>
                  <a:pt x="5" y="147"/>
                </a:lnTo>
                <a:lnTo>
                  <a:pt x="5" y="139"/>
                </a:lnTo>
                <a:lnTo>
                  <a:pt x="3" y="131"/>
                </a:lnTo>
                <a:lnTo>
                  <a:pt x="0" y="132"/>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24" name="Freeform 1029">
            <a:extLst>
              <a:ext uri="{FF2B5EF4-FFF2-40B4-BE49-F238E27FC236}">
                <a16:creationId xmlns:a16="http://schemas.microsoft.com/office/drawing/2014/main" id="{CEBE8869-8B3A-7C39-5E1B-EBF86D280C41}"/>
              </a:ext>
            </a:extLst>
          </p:cNvPr>
          <p:cNvSpPr>
            <a:spLocks noEditPoints="1"/>
          </p:cNvSpPr>
          <p:nvPr/>
        </p:nvSpPr>
        <p:spPr bwMode="auto">
          <a:xfrm>
            <a:off x="2179638" y="2403475"/>
            <a:ext cx="1471613" cy="315913"/>
          </a:xfrm>
          <a:custGeom>
            <a:avLst/>
            <a:gdLst>
              <a:gd name="T0" fmla="*/ 927 w 927"/>
              <a:gd name="T1" fmla="*/ 63 h 199"/>
              <a:gd name="T2" fmla="*/ 925 w 927"/>
              <a:gd name="T3" fmla="*/ 54 h 199"/>
              <a:gd name="T4" fmla="*/ 925 w 927"/>
              <a:gd name="T5" fmla="*/ 46 h 199"/>
              <a:gd name="T6" fmla="*/ 924 w 927"/>
              <a:gd name="T7" fmla="*/ 40 h 199"/>
              <a:gd name="T8" fmla="*/ 922 w 927"/>
              <a:gd name="T9" fmla="*/ 31 h 199"/>
              <a:gd name="T10" fmla="*/ 922 w 927"/>
              <a:gd name="T11" fmla="*/ 23 h 199"/>
              <a:gd name="T12" fmla="*/ 920 w 927"/>
              <a:gd name="T13" fmla="*/ 15 h 199"/>
              <a:gd name="T14" fmla="*/ 919 w 927"/>
              <a:gd name="T15" fmla="*/ 8 h 199"/>
              <a:gd name="T16" fmla="*/ 917 w 927"/>
              <a:gd name="T17" fmla="*/ 0 h 199"/>
              <a:gd name="T18" fmla="*/ 912 w 927"/>
              <a:gd name="T19" fmla="*/ 0 h 199"/>
              <a:gd name="T20" fmla="*/ 914 w 927"/>
              <a:gd name="T21" fmla="*/ 8 h 199"/>
              <a:gd name="T22" fmla="*/ 916 w 927"/>
              <a:gd name="T23" fmla="*/ 16 h 199"/>
              <a:gd name="T24" fmla="*/ 917 w 927"/>
              <a:gd name="T25" fmla="*/ 23 h 199"/>
              <a:gd name="T26" fmla="*/ 919 w 927"/>
              <a:gd name="T27" fmla="*/ 31 h 199"/>
              <a:gd name="T28" fmla="*/ 919 w 927"/>
              <a:gd name="T29" fmla="*/ 40 h 199"/>
              <a:gd name="T30" fmla="*/ 920 w 927"/>
              <a:gd name="T31" fmla="*/ 48 h 199"/>
              <a:gd name="T32" fmla="*/ 920 w 927"/>
              <a:gd name="T33" fmla="*/ 56 h 199"/>
              <a:gd name="T34" fmla="*/ 922 w 927"/>
              <a:gd name="T35" fmla="*/ 64 h 199"/>
              <a:gd name="T36" fmla="*/ 927 w 927"/>
              <a:gd name="T37" fmla="*/ 63 h 199"/>
              <a:gd name="T38" fmla="*/ 0 w 927"/>
              <a:gd name="T39" fmla="*/ 132 h 199"/>
              <a:gd name="T40" fmla="*/ 0 w 927"/>
              <a:gd name="T41" fmla="*/ 141 h 199"/>
              <a:gd name="T42" fmla="*/ 1 w 927"/>
              <a:gd name="T43" fmla="*/ 149 h 199"/>
              <a:gd name="T44" fmla="*/ 3 w 927"/>
              <a:gd name="T45" fmla="*/ 157 h 199"/>
              <a:gd name="T46" fmla="*/ 3 w 927"/>
              <a:gd name="T47" fmla="*/ 165 h 199"/>
              <a:gd name="T48" fmla="*/ 5 w 927"/>
              <a:gd name="T49" fmla="*/ 174 h 199"/>
              <a:gd name="T50" fmla="*/ 6 w 927"/>
              <a:gd name="T51" fmla="*/ 182 h 199"/>
              <a:gd name="T52" fmla="*/ 8 w 927"/>
              <a:gd name="T53" fmla="*/ 190 h 199"/>
              <a:gd name="T54" fmla="*/ 10 w 927"/>
              <a:gd name="T55" fmla="*/ 199 h 199"/>
              <a:gd name="T56" fmla="*/ 15 w 927"/>
              <a:gd name="T57" fmla="*/ 199 h 199"/>
              <a:gd name="T58" fmla="*/ 13 w 927"/>
              <a:gd name="T59" fmla="*/ 190 h 199"/>
              <a:gd name="T60" fmla="*/ 11 w 927"/>
              <a:gd name="T61" fmla="*/ 182 h 199"/>
              <a:gd name="T62" fmla="*/ 10 w 927"/>
              <a:gd name="T63" fmla="*/ 174 h 199"/>
              <a:gd name="T64" fmla="*/ 8 w 927"/>
              <a:gd name="T65" fmla="*/ 164 h 199"/>
              <a:gd name="T66" fmla="*/ 6 w 927"/>
              <a:gd name="T67" fmla="*/ 155 h 199"/>
              <a:gd name="T68" fmla="*/ 6 w 927"/>
              <a:gd name="T69" fmla="*/ 147 h 199"/>
              <a:gd name="T70" fmla="*/ 5 w 927"/>
              <a:gd name="T71" fmla="*/ 139 h 199"/>
              <a:gd name="T72" fmla="*/ 5 w 927"/>
              <a:gd name="T73" fmla="*/ 129 h 199"/>
              <a:gd name="T74" fmla="*/ 0 w 927"/>
              <a:gd name="T75" fmla="*/ 13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27" h="199">
                <a:moveTo>
                  <a:pt x="927" y="63"/>
                </a:moveTo>
                <a:lnTo>
                  <a:pt x="925" y="54"/>
                </a:lnTo>
                <a:lnTo>
                  <a:pt x="925" y="46"/>
                </a:lnTo>
                <a:lnTo>
                  <a:pt x="924" y="40"/>
                </a:lnTo>
                <a:lnTo>
                  <a:pt x="922" y="31"/>
                </a:lnTo>
                <a:lnTo>
                  <a:pt x="922" y="23"/>
                </a:lnTo>
                <a:lnTo>
                  <a:pt x="920" y="15"/>
                </a:lnTo>
                <a:lnTo>
                  <a:pt x="919" y="8"/>
                </a:lnTo>
                <a:lnTo>
                  <a:pt x="917" y="0"/>
                </a:lnTo>
                <a:lnTo>
                  <a:pt x="912" y="0"/>
                </a:lnTo>
                <a:lnTo>
                  <a:pt x="914" y="8"/>
                </a:lnTo>
                <a:lnTo>
                  <a:pt x="916" y="16"/>
                </a:lnTo>
                <a:lnTo>
                  <a:pt x="917" y="23"/>
                </a:lnTo>
                <a:lnTo>
                  <a:pt x="919" y="31"/>
                </a:lnTo>
                <a:lnTo>
                  <a:pt x="919" y="40"/>
                </a:lnTo>
                <a:lnTo>
                  <a:pt x="920" y="48"/>
                </a:lnTo>
                <a:lnTo>
                  <a:pt x="920" y="56"/>
                </a:lnTo>
                <a:lnTo>
                  <a:pt x="922" y="64"/>
                </a:lnTo>
                <a:lnTo>
                  <a:pt x="927" y="63"/>
                </a:lnTo>
                <a:close/>
                <a:moveTo>
                  <a:pt x="0" y="132"/>
                </a:moveTo>
                <a:lnTo>
                  <a:pt x="0" y="141"/>
                </a:lnTo>
                <a:lnTo>
                  <a:pt x="1" y="149"/>
                </a:lnTo>
                <a:lnTo>
                  <a:pt x="3" y="157"/>
                </a:lnTo>
                <a:lnTo>
                  <a:pt x="3" y="165"/>
                </a:lnTo>
                <a:lnTo>
                  <a:pt x="5" y="174"/>
                </a:lnTo>
                <a:lnTo>
                  <a:pt x="6" y="182"/>
                </a:lnTo>
                <a:lnTo>
                  <a:pt x="8" y="190"/>
                </a:lnTo>
                <a:lnTo>
                  <a:pt x="10" y="199"/>
                </a:lnTo>
                <a:lnTo>
                  <a:pt x="15" y="199"/>
                </a:lnTo>
                <a:lnTo>
                  <a:pt x="13" y="190"/>
                </a:lnTo>
                <a:lnTo>
                  <a:pt x="11" y="182"/>
                </a:lnTo>
                <a:lnTo>
                  <a:pt x="10" y="174"/>
                </a:lnTo>
                <a:lnTo>
                  <a:pt x="8" y="164"/>
                </a:lnTo>
                <a:lnTo>
                  <a:pt x="6" y="155"/>
                </a:lnTo>
                <a:lnTo>
                  <a:pt x="6" y="147"/>
                </a:lnTo>
                <a:lnTo>
                  <a:pt x="5" y="139"/>
                </a:lnTo>
                <a:lnTo>
                  <a:pt x="5" y="129"/>
                </a:lnTo>
                <a:lnTo>
                  <a:pt x="0" y="132"/>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25" name="Freeform 1030">
            <a:extLst>
              <a:ext uri="{FF2B5EF4-FFF2-40B4-BE49-F238E27FC236}">
                <a16:creationId xmlns:a16="http://schemas.microsoft.com/office/drawing/2014/main" id="{6DF289C3-0050-33E6-BEE2-18330284D8CA}"/>
              </a:ext>
            </a:extLst>
          </p:cNvPr>
          <p:cNvSpPr>
            <a:spLocks noEditPoints="1"/>
          </p:cNvSpPr>
          <p:nvPr/>
        </p:nvSpPr>
        <p:spPr bwMode="auto">
          <a:xfrm>
            <a:off x="2181225" y="2403475"/>
            <a:ext cx="1465263" cy="315913"/>
          </a:xfrm>
          <a:custGeom>
            <a:avLst/>
            <a:gdLst>
              <a:gd name="T0" fmla="*/ 923 w 923"/>
              <a:gd name="T1" fmla="*/ 64 h 199"/>
              <a:gd name="T2" fmla="*/ 923 w 923"/>
              <a:gd name="T3" fmla="*/ 56 h 199"/>
              <a:gd name="T4" fmla="*/ 921 w 923"/>
              <a:gd name="T5" fmla="*/ 48 h 199"/>
              <a:gd name="T6" fmla="*/ 921 w 923"/>
              <a:gd name="T7" fmla="*/ 40 h 199"/>
              <a:gd name="T8" fmla="*/ 919 w 923"/>
              <a:gd name="T9" fmla="*/ 31 h 199"/>
              <a:gd name="T10" fmla="*/ 918 w 923"/>
              <a:gd name="T11" fmla="*/ 23 h 199"/>
              <a:gd name="T12" fmla="*/ 916 w 923"/>
              <a:gd name="T13" fmla="*/ 15 h 199"/>
              <a:gd name="T14" fmla="*/ 915 w 923"/>
              <a:gd name="T15" fmla="*/ 8 h 199"/>
              <a:gd name="T16" fmla="*/ 913 w 923"/>
              <a:gd name="T17" fmla="*/ 0 h 199"/>
              <a:gd name="T18" fmla="*/ 908 w 923"/>
              <a:gd name="T19" fmla="*/ 0 h 199"/>
              <a:gd name="T20" fmla="*/ 911 w 923"/>
              <a:gd name="T21" fmla="*/ 8 h 199"/>
              <a:gd name="T22" fmla="*/ 911 w 923"/>
              <a:gd name="T23" fmla="*/ 16 h 199"/>
              <a:gd name="T24" fmla="*/ 913 w 923"/>
              <a:gd name="T25" fmla="*/ 25 h 199"/>
              <a:gd name="T26" fmla="*/ 915 w 923"/>
              <a:gd name="T27" fmla="*/ 33 h 199"/>
              <a:gd name="T28" fmla="*/ 916 w 923"/>
              <a:gd name="T29" fmla="*/ 41 h 199"/>
              <a:gd name="T30" fmla="*/ 916 w 923"/>
              <a:gd name="T31" fmla="*/ 50 h 199"/>
              <a:gd name="T32" fmla="*/ 918 w 923"/>
              <a:gd name="T33" fmla="*/ 58 h 199"/>
              <a:gd name="T34" fmla="*/ 918 w 923"/>
              <a:gd name="T35" fmla="*/ 66 h 199"/>
              <a:gd name="T36" fmla="*/ 923 w 923"/>
              <a:gd name="T37" fmla="*/ 64 h 199"/>
              <a:gd name="T38" fmla="*/ 0 w 923"/>
              <a:gd name="T39" fmla="*/ 131 h 199"/>
              <a:gd name="T40" fmla="*/ 2 w 923"/>
              <a:gd name="T41" fmla="*/ 139 h 199"/>
              <a:gd name="T42" fmla="*/ 2 w 923"/>
              <a:gd name="T43" fmla="*/ 147 h 199"/>
              <a:gd name="T44" fmla="*/ 4 w 923"/>
              <a:gd name="T45" fmla="*/ 157 h 199"/>
              <a:gd name="T46" fmla="*/ 5 w 923"/>
              <a:gd name="T47" fmla="*/ 165 h 199"/>
              <a:gd name="T48" fmla="*/ 5 w 923"/>
              <a:gd name="T49" fmla="*/ 174 h 199"/>
              <a:gd name="T50" fmla="*/ 7 w 923"/>
              <a:gd name="T51" fmla="*/ 182 h 199"/>
              <a:gd name="T52" fmla="*/ 9 w 923"/>
              <a:gd name="T53" fmla="*/ 190 h 199"/>
              <a:gd name="T54" fmla="*/ 10 w 923"/>
              <a:gd name="T55" fmla="*/ 199 h 199"/>
              <a:gd name="T56" fmla="*/ 15 w 923"/>
              <a:gd name="T57" fmla="*/ 199 h 199"/>
              <a:gd name="T58" fmla="*/ 14 w 923"/>
              <a:gd name="T59" fmla="*/ 190 h 199"/>
              <a:gd name="T60" fmla="*/ 12 w 923"/>
              <a:gd name="T61" fmla="*/ 182 h 199"/>
              <a:gd name="T62" fmla="*/ 10 w 923"/>
              <a:gd name="T63" fmla="*/ 172 h 199"/>
              <a:gd name="T64" fmla="*/ 9 w 923"/>
              <a:gd name="T65" fmla="*/ 164 h 199"/>
              <a:gd name="T66" fmla="*/ 9 w 923"/>
              <a:gd name="T67" fmla="*/ 155 h 199"/>
              <a:gd name="T68" fmla="*/ 7 w 923"/>
              <a:gd name="T69" fmla="*/ 146 h 199"/>
              <a:gd name="T70" fmla="*/ 7 w 923"/>
              <a:gd name="T71" fmla="*/ 137 h 199"/>
              <a:gd name="T72" fmla="*/ 5 w 923"/>
              <a:gd name="T73" fmla="*/ 129 h 199"/>
              <a:gd name="T74" fmla="*/ 0 w 923"/>
              <a:gd name="T75" fmla="*/ 13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23" h="199">
                <a:moveTo>
                  <a:pt x="923" y="64"/>
                </a:moveTo>
                <a:lnTo>
                  <a:pt x="923" y="56"/>
                </a:lnTo>
                <a:lnTo>
                  <a:pt x="921" y="48"/>
                </a:lnTo>
                <a:lnTo>
                  <a:pt x="921" y="40"/>
                </a:lnTo>
                <a:lnTo>
                  <a:pt x="919" y="31"/>
                </a:lnTo>
                <a:lnTo>
                  <a:pt x="918" y="23"/>
                </a:lnTo>
                <a:lnTo>
                  <a:pt x="916" y="15"/>
                </a:lnTo>
                <a:lnTo>
                  <a:pt x="915" y="8"/>
                </a:lnTo>
                <a:lnTo>
                  <a:pt x="913" y="0"/>
                </a:lnTo>
                <a:lnTo>
                  <a:pt x="908" y="0"/>
                </a:lnTo>
                <a:lnTo>
                  <a:pt x="911" y="8"/>
                </a:lnTo>
                <a:lnTo>
                  <a:pt x="911" y="16"/>
                </a:lnTo>
                <a:lnTo>
                  <a:pt x="913" y="25"/>
                </a:lnTo>
                <a:lnTo>
                  <a:pt x="915" y="33"/>
                </a:lnTo>
                <a:lnTo>
                  <a:pt x="916" y="41"/>
                </a:lnTo>
                <a:lnTo>
                  <a:pt x="916" y="50"/>
                </a:lnTo>
                <a:lnTo>
                  <a:pt x="918" y="58"/>
                </a:lnTo>
                <a:lnTo>
                  <a:pt x="918" y="66"/>
                </a:lnTo>
                <a:lnTo>
                  <a:pt x="923" y="64"/>
                </a:lnTo>
                <a:close/>
                <a:moveTo>
                  <a:pt x="0" y="131"/>
                </a:moveTo>
                <a:lnTo>
                  <a:pt x="2" y="139"/>
                </a:lnTo>
                <a:lnTo>
                  <a:pt x="2" y="147"/>
                </a:lnTo>
                <a:lnTo>
                  <a:pt x="4" y="157"/>
                </a:lnTo>
                <a:lnTo>
                  <a:pt x="5" y="165"/>
                </a:lnTo>
                <a:lnTo>
                  <a:pt x="5" y="174"/>
                </a:lnTo>
                <a:lnTo>
                  <a:pt x="7" y="182"/>
                </a:lnTo>
                <a:lnTo>
                  <a:pt x="9" y="190"/>
                </a:lnTo>
                <a:lnTo>
                  <a:pt x="10" y="199"/>
                </a:lnTo>
                <a:lnTo>
                  <a:pt x="15" y="199"/>
                </a:lnTo>
                <a:lnTo>
                  <a:pt x="14" y="190"/>
                </a:lnTo>
                <a:lnTo>
                  <a:pt x="12" y="182"/>
                </a:lnTo>
                <a:lnTo>
                  <a:pt x="10" y="172"/>
                </a:lnTo>
                <a:lnTo>
                  <a:pt x="9" y="164"/>
                </a:lnTo>
                <a:lnTo>
                  <a:pt x="9" y="155"/>
                </a:lnTo>
                <a:lnTo>
                  <a:pt x="7" y="146"/>
                </a:lnTo>
                <a:lnTo>
                  <a:pt x="7" y="137"/>
                </a:lnTo>
                <a:lnTo>
                  <a:pt x="5" y="129"/>
                </a:lnTo>
                <a:lnTo>
                  <a:pt x="0" y="131"/>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26" name="Freeform 1031">
            <a:extLst>
              <a:ext uri="{FF2B5EF4-FFF2-40B4-BE49-F238E27FC236}">
                <a16:creationId xmlns:a16="http://schemas.microsoft.com/office/drawing/2014/main" id="{CC01F2B8-76D0-CC2B-B7E6-8DD0C8D1980D}"/>
              </a:ext>
            </a:extLst>
          </p:cNvPr>
          <p:cNvSpPr>
            <a:spLocks noEditPoints="1"/>
          </p:cNvSpPr>
          <p:nvPr/>
        </p:nvSpPr>
        <p:spPr bwMode="auto">
          <a:xfrm>
            <a:off x="2187575" y="2403475"/>
            <a:ext cx="1455738" cy="315913"/>
          </a:xfrm>
          <a:custGeom>
            <a:avLst/>
            <a:gdLst>
              <a:gd name="T0" fmla="*/ 917 w 917"/>
              <a:gd name="T1" fmla="*/ 64 h 199"/>
              <a:gd name="T2" fmla="*/ 915 w 917"/>
              <a:gd name="T3" fmla="*/ 56 h 199"/>
              <a:gd name="T4" fmla="*/ 915 w 917"/>
              <a:gd name="T5" fmla="*/ 48 h 199"/>
              <a:gd name="T6" fmla="*/ 914 w 917"/>
              <a:gd name="T7" fmla="*/ 40 h 199"/>
              <a:gd name="T8" fmla="*/ 914 w 917"/>
              <a:gd name="T9" fmla="*/ 31 h 199"/>
              <a:gd name="T10" fmla="*/ 912 w 917"/>
              <a:gd name="T11" fmla="*/ 23 h 199"/>
              <a:gd name="T12" fmla="*/ 911 w 917"/>
              <a:gd name="T13" fmla="*/ 16 h 199"/>
              <a:gd name="T14" fmla="*/ 909 w 917"/>
              <a:gd name="T15" fmla="*/ 8 h 199"/>
              <a:gd name="T16" fmla="*/ 907 w 917"/>
              <a:gd name="T17" fmla="*/ 0 h 199"/>
              <a:gd name="T18" fmla="*/ 902 w 917"/>
              <a:gd name="T19" fmla="*/ 0 h 199"/>
              <a:gd name="T20" fmla="*/ 904 w 917"/>
              <a:gd name="T21" fmla="*/ 8 h 199"/>
              <a:gd name="T22" fmla="*/ 906 w 917"/>
              <a:gd name="T23" fmla="*/ 16 h 199"/>
              <a:gd name="T24" fmla="*/ 907 w 917"/>
              <a:gd name="T25" fmla="*/ 25 h 199"/>
              <a:gd name="T26" fmla="*/ 909 w 917"/>
              <a:gd name="T27" fmla="*/ 33 h 199"/>
              <a:gd name="T28" fmla="*/ 909 w 917"/>
              <a:gd name="T29" fmla="*/ 41 h 199"/>
              <a:gd name="T30" fmla="*/ 911 w 917"/>
              <a:gd name="T31" fmla="*/ 50 h 199"/>
              <a:gd name="T32" fmla="*/ 911 w 917"/>
              <a:gd name="T33" fmla="*/ 58 h 199"/>
              <a:gd name="T34" fmla="*/ 912 w 917"/>
              <a:gd name="T35" fmla="*/ 68 h 199"/>
              <a:gd name="T36" fmla="*/ 917 w 917"/>
              <a:gd name="T37" fmla="*/ 64 h 199"/>
              <a:gd name="T38" fmla="*/ 0 w 917"/>
              <a:gd name="T39" fmla="*/ 129 h 199"/>
              <a:gd name="T40" fmla="*/ 0 w 917"/>
              <a:gd name="T41" fmla="*/ 139 h 199"/>
              <a:gd name="T42" fmla="*/ 1 w 917"/>
              <a:gd name="T43" fmla="*/ 147 h 199"/>
              <a:gd name="T44" fmla="*/ 1 w 917"/>
              <a:gd name="T45" fmla="*/ 155 h 199"/>
              <a:gd name="T46" fmla="*/ 3 w 917"/>
              <a:gd name="T47" fmla="*/ 164 h 199"/>
              <a:gd name="T48" fmla="*/ 5 w 917"/>
              <a:gd name="T49" fmla="*/ 174 h 199"/>
              <a:gd name="T50" fmla="*/ 6 w 917"/>
              <a:gd name="T51" fmla="*/ 182 h 199"/>
              <a:gd name="T52" fmla="*/ 8 w 917"/>
              <a:gd name="T53" fmla="*/ 190 h 199"/>
              <a:gd name="T54" fmla="*/ 10 w 917"/>
              <a:gd name="T55" fmla="*/ 199 h 199"/>
              <a:gd name="T56" fmla="*/ 15 w 917"/>
              <a:gd name="T57" fmla="*/ 199 h 199"/>
              <a:gd name="T58" fmla="*/ 13 w 917"/>
              <a:gd name="T59" fmla="*/ 190 h 199"/>
              <a:gd name="T60" fmla="*/ 11 w 917"/>
              <a:gd name="T61" fmla="*/ 180 h 199"/>
              <a:gd name="T62" fmla="*/ 10 w 917"/>
              <a:gd name="T63" fmla="*/ 172 h 199"/>
              <a:gd name="T64" fmla="*/ 8 w 917"/>
              <a:gd name="T65" fmla="*/ 164 h 199"/>
              <a:gd name="T66" fmla="*/ 6 w 917"/>
              <a:gd name="T67" fmla="*/ 154 h 199"/>
              <a:gd name="T68" fmla="*/ 6 w 917"/>
              <a:gd name="T69" fmla="*/ 146 h 199"/>
              <a:gd name="T70" fmla="*/ 5 w 917"/>
              <a:gd name="T71" fmla="*/ 137 h 199"/>
              <a:gd name="T72" fmla="*/ 5 w 917"/>
              <a:gd name="T73" fmla="*/ 127 h 199"/>
              <a:gd name="T74" fmla="*/ 0 w 917"/>
              <a:gd name="T75" fmla="*/ 12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17" h="199">
                <a:moveTo>
                  <a:pt x="917" y="64"/>
                </a:moveTo>
                <a:lnTo>
                  <a:pt x="915" y="56"/>
                </a:lnTo>
                <a:lnTo>
                  <a:pt x="915" y="48"/>
                </a:lnTo>
                <a:lnTo>
                  <a:pt x="914" y="40"/>
                </a:lnTo>
                <a:lnTo>
                  <a:pt x="914" y="31"/>
                </a:lnTo>
                <a:lnTo>
                  <a:pt x="912" y="23"/>
                </a:lnTo>
                <a:lnTo>
                  <a:pt x="911" y="16"/>
                </a:lnTo>
                <a:lnTo>
                  <a:pt x="909" y="8"/>
                </a:lnTo>
                <a:lnTo>
                  <a:pt x="907" y="0"/>
                </a:lnTo>
                <a:lnTo>
                  <a:pt x="902" y="0"/>
                </a:lnTo>
                <a:lnTo>
                  <a:pt x="904" y="8"/>
                </a:lnTo>
                <a:lnTo>
                  <a:pt x="906" y="16"/>
                </a:lnTo>
                <a:lnTo>
                  <a:pt x="907" y="25"/>
                </a:lnTo>
                <a:lnTo>
                  <a:pt x="909" y="33"/>
                </a:lnTo>
                <a:lnTo>
                  <a:pt x="909" y="41"/>
                </a:lnTo>
                <a:lnTo>
                  <a:pt x="911" y="50"/>
                </a:lnTo>
                <a:lnTo>
                  <a:pt x="911" y="58"/>
                </a:lnTo>
                <a:lnTo>
                  <a:pt x="912" y="68"/>
                </a:lnTo>
                <a:lnTo>
                  <a:pt x="917" y="64"/>
                </a:lnTo>
                <a:close/>
                <a:moveTo>
                  <a:pt x="0" y="129"/>
                </a:moveTo>
                <a:lnTo>
                  <a:pt x="0" y="139"/>
                </a:lnTo>
                <a:lnTo>
                  <a:pt x="1" y="147"/>
                </a:lnTo>
                <a:lnTo>
                  <a:pt x="1" y="155"/>
                </a:lnTo>
                <a:lnTo>
                  <a:pt x="3" y="164"/>
                </a:lnTo>
                <a:lnTo>
                  <a:pt x="5" y="174"/>
                </a:lnTo>
                <a:lnTo>
                  <a:pt x="6" y="182"/>
                </a:lnTo>
                <a:lnTo>
                  <a:pt x="8" y="190"/>
                </a:lnTo>
                <a:lnTo>
                  <a:pt x="10" y="199"/>
                </a:lnTo>
                <a:lnTo>
                  <a:pt x="15" y="199"/>
                </a:lnTo>
                <a:lnTo>
                  <a:pt x="13" y="190"/>
                </a:lnTo>
                <a:lnTo>
                  <a:pt x="11" y="180"/>
                </a:lnTo>
                <a:lnTo>
                  <a:pt x="10" y="172"/>
                </a:lnTo>
                <a:lnTo>
                  <a:pt x="8" y="164"/>
                </a:lnTo>
                <a:lnTo>
                  <a:pt x="6" y="154"/>
                </a:lnTo>
                <a:lnTo>
                  <a:pt x="6" y="146"/>
                </a:lnTo>
                <a:lnTo>
                  <a:pt x="5" y="137"/>
                </a:lnTo>
                <a:lnTo>
                  <a:pt x="5" y="127"/>
                </a:lnTo>
                <a:lnTo>
                  <a:pt x="0" y="129"/>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27" name="Freeform 1032">
            <a:extLst>
              <a:ext uri="{FF2B5EF4-FFF2-40B4-BE49-F238E27FC236}">
                <a16:creationId xmlns:a16="http://schemas.microsoft.com/office/drawing/2014/main" id="{6A4B1967-35B6-8C3E-1CD5-30C25C53B6CA}"/>
              </a:ext>
            </a:extLst>
          </p:cNvPr>
          <p:cNvSpPr>
            <a:spLocks noEditPoints="1"/>
          </p:cNvSpPr>
          <p:nvPr/>
        </p:nvSpPr>
        <p:spPr bwMode="auto">
          <a:xfrm>
            <a:off x="2189163" y="2403475"/>
            <a:ext cx="1449388" cy="315913"/>
          </a:xfrm>
          <a:custGeom>
            <a:avLst/>
            <a:gdLst>
              <a:gd name="T0" fmla="*/ 913 w 913"/>
              <a:gd name="T1" fmla="*/ 66 h 199"/>
              <a:gd name="T2" fmla="*/ 913 w 913"/>
              <a:gd name="T3" fmla="*/ 58 h 199"/>
              <a:gd name="T4" fmla="*/ 911 w 913"/>
              <a:gd name="T5" fmla="*/ 50 h 199"/>
              <a:gd name="T6" fmla="*/ 911 w 913"/>
              <a:gd name="T7" fmla="*/ 41 h 199"/>
              <a:gd name="T8" fmla="*/ 910 w 913"/>
              <a:gd name="T9" fmla="*/ 33 h 199"/>
              <a:gd name="T10" fmla="*/ 908 w 913"/>
              <a:gd name="T11" fmla="*/ 25 h 199"/>
              <a:gd name="T12" fmla="*/ 906 w 913"/>
              <a:gd name="T13" fmla="*/ 16 h 199"/>
              <a:gd name="T14" fmla="*/ 906 w 913"/>
              <a:gd name="T15" fmla="*/ 8 h 199"/>
              <a:gd name="T16" fmla="*/ 903 w 913"/>
              <a:gd name="T17" fmla="*/ 0 h 199"/>
              <a:gd name="T18" fmla="*/ 900 w 913"/>
              <a:gd name="T19" fmla="*/ 0 h 199"/>
              <a:gd name="T20" fmla="*/ 901 w 913"/>
              <a:gd name="T21" fmla="*/ 8 h 199"/>
              <a:gd name="T22" fmla="*/ 903 w 913"/>
              <a:gd name="T23" fmla="*/ 16 h 199"/>
              <a:gd name="T24" fmla="*/ 903 w 913"/>
              <a:gd name="T25" fmla="*/ 25 h 199"/>
              <a:gd name="T26" fmla="*/ 905 w 913"/>
              <a:gd name="T27" fmla="*/ 33 h 199"/>
              <a:gd name="T28" fmla="*/ 906 w 913"/>
              <a:gd name="T29" fmla="*/ 41 h 199"/>
              <a:gd name="T30" fmla="*/ 908 w 913"/>
              <a:gd name="T31" fmla="*/ 51 h 199"/>
              <a:gd name="T32" fmla="*/ 908 w 913"/>
              <a:gd name="T33" fmla="*/ 59 h 199"/>
              <a:gd name="T34" fmla="*/ 908 w 913"/>
              <a:gd name="T35" fmla="*/ 68 h 199"/>
              <a:gd name="T36" fmla="*/ 913 w 913"/>
              <a:gd name="T37" fmla="*/ 66 h 199"/>
              <a:gd name="T38" fmla="*/ 0 w 913"/>
              <a:gd name="T39" fmla="*/ 129 h 199"/>
              <a:gd name="T40" fmla="*/ 2 w 913"/>
              <a:gd name="T41" fmla="*/ 137 h 199"/>
              <a:gd name="T42" fmla="*/ 2 w 913"/>
              <a:gd name="T43" fmla="*/ 146 h 199"/>
              <a:gd name="T44" fmla="*/ 4 w 913"/>
              <a:gd name="T45" fmla="*/ 155 h 199"/>
              <a:gd name="T46" fmla="*/ 4 w 913"/>
              <a:gd name="T47" fmla="*/ 164 h 199"/>
              <a:gd name="T48" fmla="*/ 5 w 913"/>
              <a:gd name="T49" fmla="*/ 172 h 199"/>
              <a:gd name="T50" fmla="*/ 7 w 913"/>
              <a:gd name="T51" fmla="*/ 182 h 199"/>
              <a:gd name="T52" fmla="*/ 9 w 913"/>
              <a:gd name="T53" fmla="*/ 190 h 199"/>
              <a:gd name="T54" fmla="*/ 10 w 913"/>
              <a:gd name="T55" fmla="*/ 199 h 199"/>
              <a:gd name="T56" fmla="*/ 15 w 913"/>
              <a:gd name="T57" fmla="*/ 199 h 199"/>
              <a:gd name="T58" fmla="*/ 14 w 913"/>
              <a:gd name="T59" fmla="*/ 190 h 199"/>
              <a:gd name="T60" fmla="*/ 12 w 913"/>
              <a:gd name="T61" fmla="*/ 180 h 199"/>
              <a:gd name="T62" fmla="*/ 10 w 913"/>
              <a:gd name="T63" fmla="*/ 172 h 199"/>
              <a:gd name="T64" fmla="*/ 9 w 913"/>
              <a:gd name="T65" fmla="*/ 162 h 199"/>
              <a:gd name="T66" fmla="*/ 9 w 913"/>
              <a:gd name="T67" fmla="*/ 154 h 199"/>
              <a:gd name="T68" fmla="*/ 7 w 913"/>
              <a:gd name="T69" fmla="*/ 146 h 199"/>
              <a:gd name="T70" fmla="*/ 5 w 913"/>
              <a:gd name="T71" fmla="*/ 136 h 199"/>
              <a:gd name="T72" fmla="*/ 5 w 913"/>
              <a:gd name="T73" fmla="*/ 126 h 199"/>
              <a:gd name="T74" fmla="*/ 0 w 913"/>
              <a:gd name="T75" fmla="*/ 12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13" h="199">
                <a:moveTo>
                  <a:pt x="913" y="66"/>
                </a:moveTo>
                <a:lnTo>
                  <a:pt x="913" y="58"/>
                </a:lnTo>
                <a:lnTo>
                  <a:pt x="911" y="50"/>
                </a:lnTo>
                <a:lnTo>
                  <a:pt x="911" y="41"/>
                </a:lnTo>
                <a:lnTo>
                  <a:pt x="910" y="33"/>
                </a:lnTo>
                <a:lnTo>
                  <a:pt x="908" y="25"/>
                </a:lnTo>
                <a:lnTo>
                  <a:pt x="906" y="16"/>
                </a:lnTo>
                <a:lnTo>
                  <a:pt x="906" y="8"/>
                </a:lnTo>
                <a:lnTo>
                  <a:pt x="903" y="0"/>
                </a:lnTo>
                <a:lnTo>
                  <a:pt x="900" y="0"/>
                </a:lnTo>
                <a:lnTo>
                  <a:pt x="901" y="8"/>
                </a:lnTo>
                <a:lnTo>
                  <a:pt x="903" y="16"/>
                </a:lnTo>
                <a:lnTo>
                  <a:pt x="903" y="25"/>
                </a:lnTo>
                <a:lnTo>
                  <a:pt x="905" y="33"/>
                </a:lnTo>
                <a:lnTo>
                  <a:pt x="906" y="41"/>
                </a:lnTo>
                <a:lnTo>
                  <a:pt x="908" y="51"/>
                </a:lnTo>
                <a:lnTo>
                  <a:pt x="908" y="59"/>
                </a:lnTo>
                <a:lnTo>
                  <a:pt x="908" y="68"/>
                </a:lnTo>
                <a:lnTo>
                  <a:pt x="913" y="66"/>
                </a:lnTo>
                <a:close/>
                <a:moveTo>
                  <a:pt x="0" y="129"/>
                </a:moveTo>
                <a:lnTo>
                  <a:pt x="2" y="137"/>
                </a:lnTo>
                <a:lnTo>
                  <a:pt x="2" y="146"/>
                </a:lnTo>
                <a:lnTo>
                  <a:pt x="4" y="155"/>
                </a:lnTo>
                <a:lnTo>
                  <a:pt x="4" y="164"/>
                </a:lnTo>
                <a:lnTo>
                  <a:pt x="5" y="172"/>
                </a:lnTo>
                <a:lnTo>
                  <a:pt x="7" y="182"/>
                </a:lnTo>
                <a:lnTo>
                  <a:pt x="9" y="190"/>
                </a:lnTo>
                <a:lnTo>
                  <a:pt x="10" y="199"/>
                </a:lnTo>
                <a:lnTo>
                  <a:pt x="15" y="199"/>
                </a:lnTo>
                <a:lnTo>
                  <a:pt x="14" y="190"/>
                </a:lnTo>
                <a:lnTo>
                  <a:pt x="12" y="180"/>
                </a:lnTo>
                <a:lnTo>
                  <a:pt x="10" y="172"/>
                </a:lnTo>
                <a:lnTo>
                  <a:pt x="9" y="162"/>
                </a:lnTo>
                <a:lnTo>
                  <a:pt x="9" y="154"/>
                </a:lnTo>
                <a:lnTo>
                  <a:pt x="7" y="146"/>
                </a:lnTo>
                <a:lnTo>
                  <a:pt x="5" y="136"/>
                </a:lnTo>
                <a:lnTo>
                  <a:pt x="5" y="126"/>
                </a:lnTo>
                <a:lnTo>
                  <a:pt x="0" y="129"/>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28" name="Freeform 1033">
            <a:extLst>
              <a:ext uri="{FF2B5EF4-FFF2-40B4-BE49-F238E27FC236}">
                <a16:creationId xmlns:a16="http://schemas.microsoft.com/office/drawing/2014/main" id="{AC25E026-D2C8-26EE-A826-2AA61D338162}"/>
              </a:ext>
            </a:extLst>
          </p:cNvPr>
          <p:cNvSpPr>
            <a:spLocks noEditPoints="1"/>
          </p:cNvSpPr>
          <p:nvPr/>
        </p:nvSpPr>
        <p:spPr bwMode="auto">
          <a:xfrm>
            <a:off x="2195513" y="2403475"/>
            <a:ext cx="1439863" cy="315913"/>
          </a:xfrm>
          <a:custGeom>
            <a:avLst/>
            <a:gdLst>
              <a:gd name="T0" fmla="*/ 907 w 907"/>
              <a:gd name="T1" fmla="*/ 68 h 199"/>
              <a:gd name="T2" fmla="*/ 906 w 907"/>
              <a:gd name="T3" fmla="*/ 58 h 199"/>
              <a:gd name="T4" fmla="*/ 906 w 907"/>
              <a:gd name="T5" fmla="*/ 50 h 199"/>
              <a:gd name="T6" fmla="*/ 904 w 907"/>
              <a:gd name="T7" fmla="*/ 41 h 199"/>
              <a:gd name="T8" fmla="*/ 904 w 907"/>
              <a:gd name="T9" fmla="*/ 33 h 199"/>
              <a:gd name="T10" fmla="*/ 902 w 907"/>
              <a:gd name="T11" fmla="*/ 25 h 199"/>
              <a:gd name="T12" fmla="*/ 901 w 907"/>
              <a:gd name="T13" fmla="*/ 16 h 199"/>
              <a:gd name="T14" fmla="*/ 899 w 907"/>
              <a:gd name="T15" fmla="*/ 8 h 199"/>
              <a:gd name="T16" fmla="*/ 897 w 907"/>
              <a:gd name="T17" fmla="*/ 0 h 199"/>
              <a:gd name="T18" fmla="*/ 892 w 907"/>
              <a:gd name="T19" fmla="*/ 0 h 199"/>
              <a:gd name="T20" fmla="*/ 894 w 907"/>
              <a:gd name="T21" fmla="*/ 8 h 199"/>
              <a:gd name="T22" fmla="*/ 896 w 907"/>
              <a:gd name="T23" fmla="*/ 16 h 199"/>
              <a:gd name="T24" fmla="*/ 897 w 907"/>
              <a:gd name="T25" fmla="*/ 25 h 199"/>
              <a:gd name="T26" fmla="*/ 899 w 907"/>
              <a:gd name="T27" fmla="*/ 35 h 199"/>
              <a:gd name="T28" fmla="*/ 901 w 907"/>
              <a:gd name="T29" fmla="*/ 43 h 199"/>
              <a:gd name="T30" fmla="*/ 901 w 907"/>
              <a:gd name="T31" fmla="*/ 51 h 199"/>
              <a:gd name="T32" fmla="*/ 902 w 907"/>
              <a:gd name="T33" fmla="*/ 59 h 199"/>
              <a:gd name="T34" fmla="*/ 902 w 907"/>
              <a:gd name="T35" fmla="*/ 69 h 199"/>
              <a:gd name="T36" fmla="*/ 907 w 907"/>
              <a:gd name="T37" fmla="*/ 68 h 199"/>
              <a:gd name="T38" fmla="*/ 0 w 907"/>
              <a:gd name="T39" fmla="*/ 127 h 199"/>
              <a:gd name="T40" fmla="*/ 0 w 907"/>
              <a:gd name="T41" fmla="*/ 137 h 199"/>
              <a:gd name="T42" fmla="*/ 1 w 907"/>
              <a:gd name="T43" fmla="*/ 146 h 199"/>
              <a:gd name="T44" fmla="*/ 1 w 907"/>
              <a:gd name="T45" fmla="*/ 154 h 199"/>
              <a:gd name="T46" fmla="*/ 3 w 907"/>
              <a:gd name="T47" fmla="*/ 164 h 199"/>
              <a:gd name="T48" fmla="*/ 5 w 907"/>
              <a:gd name="T49" fmla="*/ 172 h 199"/>
              <a:gd name="T50" fmla="*/ 6 w 907"/>
              <a:gd name="T51" fmla="*/ 180 h 199"/>
              <a:gd name="T52" fmla="*/ 8 w 907"/>
              <a:gd name="T53" fmla="*/ 190 h 199"/>
              <a:gd name="T54" fmla="*/ 10 w 907"/>
              <a:gd name="T55" fmla="*/ 199 h 199"/>
              <a:gd name="T56" fmla="*/ 15 w 907"/>
              <a:gd name="T57" fmla="*/ 199 h 199"/>
              <a:gd name="T58" fmla="*/ 13 w 907"/>
              <a:gd name="T59" fmla="*/ 190 h 199"/>
              <a:gd name="T60" fmla="*/ 10 w 907"/>
              <a:gd name="T61" fmla="*/ 180 h 199"/>
              <a:gd name="T62" fmla="*/ 10 w 907"/>
              <a:gd name="T63" fmla="*/ 172 h 199"/>
              <a:gd name="T64" fmla="*/ 8 w 907"/>
              <a:gd name="T65" fmla="*/ 162 h 199"/>
              <a:gd name="T66" fmla="*/ 6 w 907"/>
              <a:gd name="T67" fmla="*/ 154 h 199"/>
              <a:gd name="T68" fmla="*/ 5 w 907"/>
              <a:gd name="T69" fmla="*/ 144 h 199"/>
              <a:gd name="T70" fmla="*/ 5 w 907"/>
              <a:gd name="T71" fmla="*/ 134 h 199"/>
              <a:gd name="T72" fmla="*/ 3 w 907"/>
              <a:gd name="T73" fmla="*/ 126 h 199"/>
              <a:gd name="T74" fmla="*/ 0 w 907"/>
              <a:gd name="T75" fmla="*/ 12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07" h="199">
                <a:moveTo>
                  <a:pt x="907" y="68"/>
                </a:moveTo>
                <a:lnTo>
                  <a:pt x="906" y="58"/>
                </a:lnTo>
                <a:lnTo>
                  <a:pt x="906" y="50"/>
                </a:lnTo>
                <a:lnTo>
                  <a:pt x="904" y="41"/>
                </a:lnTo>
                <a:lnTo>
                  <a:pt x="904" y="33"/>
                </a:lnTo>
                <a:lnTo>
                  <a:pt x="902" y="25"/>
                </a:lnTo>
                <a:lnTo>
                  <a:pt x="901" y="16"/>
                </a:lnTo>
                <a:lnTo>
                  <a:pt x="899" y="8"/>
                </a:lnTo>
                <a:lnTo>
                  <a:pt x="897" y="0"/>
                </a:lnTo>
                <a:lnTo>
                  <a:pt x="892" y="0"/>
                </a:lnTo>
                <a:lnTo>
                  <a:pt x="894" y="8"/>
                </a:lnTo>
                <a:lnTo>
                  <a:pt x="896" y="16"/>
                </a:lnTo>
                <a:lnTo>
                  <a:pt x="897" y="25"/>
                </a:lnTo>
                <a:lnTo>
                  <a:pt x="899" y="35"/>
                </a:lnTo>
                <a:lnTo>
                  <a:pt x="901" y="43"/>
                </a:lnTo>
                <a:lnTo>
                  <a:pt x="901" y="51"/>
                </a:lnTo>
                <a:lnTo>
                  <a:pt x="902" y="59"/>
                </a:lnTo>
                <a:lnTo>
                  <a:pt x="902" y="69"/>
                </a:lnTo>
                <a:lnTo>
                  <a:pt x="907" y="68"/>
                </a:lnTo>
                <a:close/>
                <a:moveTo>
                  <a:pt x="0" y="127"/>
                </a:moveTo>
                <a:lnTo>
                  <a:pt x="0" y="137"/>
                </a:lnTo>
                <a:lnTo>
                  <a:pt x="1" y="146"/>
                </a:lnTo>
                <a:lnTo>
                  <a:pt x="1" y="154"/>
                </a:lnTo>
                <a:lnTo>
                  <a:pt x="3" y="164"/>
                </a:lnTo>
                <a:lnTo>
                  <a:pt x="5" y="172"/>
                </a:lnTo>
                <a:lnTo>
                  <a:pt x="6" y="180"/>
                </a:lnTo>
                <a:lnTo>
                  <a:pt x="8" y="190"/>
                </a:lnTo>
                <a:lnTo>
                  <a:pt x="10" y="199"/>
                </a:lnTo>
                <a:lnTo>
                  <a:pt x="15" y="199"/>
                </a:lnTo>
                <a:lnTo>
                  <a:pt x="13" y="190"/>
                </a:lnTo>
                <a:lnTo>
                  <a:pt x="10" y="180"/>
                </a:lnTo>
                <a:lnTo>
                  <a:pt x="10" y="172"/>
                </a:lnTo>
                <a:lnTo>
                  <a:pt x="8" y="162"/>
                </a:lnTo>
                <a:lnTo>
                  <a:pt x="6" y="154"/>
                </a:lnTo>
                <a:lnTo>
                  <a:pt x="5" y="144"/>
                </a:lnTo>
                <a:lnTo>
                  <a:pt x="5" y="134"/>
                </a:lnTo>
                <a:lnTo>
                  <a:pt x="3" y="126"/>
                </a:lnTo>
                <a:lnTo>
                  <a:pt x="0" y="127"/>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29" name="Freeform 1034">
            <a:extLst>
              <a:ext uri="{FF2B5EF4-FFF2-40B4-BE49-F238E27FC236}">
                <a16:creationId xmlns:a16="http://schemas.microsoft.com/office/drawing/2014/main" id="{9EC62825-1123-2F6B-6447-58F2E16828BA}"/>
              </a:ext>
            </a:extLst>
          </p:cNvPr>
          <p:cNvSpPr>
            <a:spLocks noEditPoints="1"/>
          </p:cNvSpPr>
          <p:nvPr/>
        </p:nvSpPr>
        <p:spPr bwMode="auto">
          <a:xfrm>
            <a:off x="2197100" y="2403475"/>
            <a:ext cx="1433513" cy="315913"/>
          </a:xfrm>
          <a:custGeom>
            <a:avLst/>
            <a:gdLst>
              <a:gd name="T0" fmla="*/ 903 w 903"/>
              <a:gd name="T1" fmla="*/ 68 h 199"/>
              <a:gd name="T2" fmla="*/ 903 w 903"/>
              <a:gd name="T3" fmla="*/ 59 h 199"/>
              <a:gd name="T4" fmla="*/ 903 w 903"/>
              <a:gd name="T5" fmla="*/ 51 h 199"/>
              <a:gd name="T6" fmla="*/ 901 w 903"/>
              <a:gd name="T7" fmla="*/ 41 h 199"/>
              <a:gd name="T8" fmla="*/ 900 w 903"/>
              <a:gd name="T9" fmla="*/ 33 h 199"/>
              <a:gd name="T10" fmla="*/ 898 w 903"/>
              <a:gd name="T11" fmla="*/ 25 h 199"/>
              <a:gd name="T12" fmla="*/ 898 w 903"/>
              <a:gd name="T13" fmla="*/ 16 h 199"/>
              <a:gd name="T14" fmla="*/ 896 w 903"/>
              <a:gd name="T15" fmla="*/ 8 h 199"/>
              <a:gd name="T16" fmla="*/ 895 w 903"/>
              <a:gd name="T17" fmla="*/ 0 h 199"/>
              <a:gd name="T18" fmla="*/ 890 w 903"/>
              <a:gd name="T19" fmla="*/ 0 h 199"/>
              <a:gd name="T20" fmla="*/ 891 w 903"/>
              <a:gd name="T21" fmla="*/ 8 h 199"/>
              <a:gd name="T22" fmla="*/ 893 w 903"/>
              <a:gd name="T23" fmla="*/ 16 h 199"/>
              <a:gd name="T24" fmla="*/ 895 w 903"/>
              <a:gd name="T25" fmla="*/ 26 h 199"/>
              <a:gd name="T26" fmla="*/ 895 w 903"/>
              <a:gd name="T27" fmla="*/ 35 h 199"/>
              <a:gd name="T28" fmla="*/ 896 w 903"/>
              <a:gd name="T29" fmla="*/ 43 h 199"/>
              <a:gd name="T30" fmla="*/ 898 w 903"/>
              <a:gd name="T31" fmla="*/ 53 h 199"/>
              <a:gd name="T32" fmla="*/ 898 w 903"/>
              <a:gd name="T33" fmla="*/ 61 h 199"/>
              <a:gd name="T34" fmla="*/ 900 w 903"/>
              <a:gd name="T35" fmla="*/ 69 h 199"/>
              <a:gd name="T36" fmla="*/ 903 w 903"/>
              <a:gd name="T37" fmla="*/ 68 h 199"/>
              <a:gd name="T38" fmla="*/ 0 w 903"/>
              <a:gd name="T39" fmla="*/ 126 h 199"/>
              <a:gd name="T40" fmla="*/ 0 w 903"/>
              <a:gd name="T41" fmla="*/ 136 h 199"/>
              <a:gd name="T42" fmla="*/ 2 w 903"/>
              <a:gd name="T43" fmla="*/ 146 h 199"/>
              <a:gd name="T44" fmla="*/ 4 w 903"/>
              <a:gd name="T45" fmla="*/ 154 h 199"/>
              <a:gd name="T46" fmla="*/ 4 w 903"/>
              <a:gd name="T47" fmla="*/ 162 h 199"/>
              <a:gd name="T48" fmla="*/ 5 w 903"/>
              <a:gd name="T49" fmla="*/ 172 h 199"/>
              <a:gd name="T50" fmla="*/ 7 w 903"/>
              <a:gd name="T51" fmla="*/ 180 h 199"/>
              <a:gd name="T52" fmla="*/ 9 w 903"/>
              <a:gd name="T53" fmla="*/ 190 h 199"/>
              <a:gd name="T54" fmla="*/ 10 w 903"/>
              <a:gd name="T55" fmla="*/ 199 h 199"/>
              <a:gd name="T56" fmla="*/ 15 w 903"/>
              <a:gd name="T57" fmla="*/ 199 h 199"/>
              <a:gd name="T58" fmla="*/ 14 w 903"/>
              <a:gd name="T59" fmla="*/ 189 h 199"/>
              <a:gd name="T60" fmla="*/ 12 w 903"/>
              <a:gd name="T61" fmla="*/ 180 h 199"/>
              <a:gd name="T62" fmla="*/ 10 w 903"/>
              <a:gd name="T63" fmla="*/ 170 h 199"/>
              <a:gd name="T64" fmla="*/ 9 w 903"/>
              <a:gd name="T65" fmla="*/ 162 h 199"/>
              <a:gd name="T66" fmla="*/ 7 w 903"/>
              <a:gd name="T67" fmla="*/ 152 h 199"/>
              <a:gd name="T68" fmla="*/ 7 w 903"/>
              <a:gd name="T69" fmla="*/ 144 h 199"/>
              <a:gd name="T70" fmla="*/ 5 w 903"/>
              <a:gd name="T71" fmla="*/ 134 h 199"/>
              <a:gd name="T72" fmla="*/ 5 w 903"/>
              <a:gd name="T73" fmla="*/ 124 h 199"/>
              <a:gd name="T74" fmla="*/ 0 w 903"/>
              <a:gd name="T75" fmla="*/ 12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03" h="199">
                <a:moveTo>
                  <a:pt x="903" y="68"/>
                </a:moveTo>
                <a:lnTo>
                  <a:pt x="903" y="59"/>
                </a:lnTo>
                <a:lnTo>
                  <a:pt x="903" y="51"/>
                </a:lnTo>
                <a:lnTo>
                  <a:pt x="901" y="41"/>
                </a:lnTo>
                <a:lnTo>
                  <a:pt x="900" y="33"/>
                </a:lnTo>
                <a:lnTo>
                  <a:pt x="898" y="25"/>
                </a:lnTo>
                <a:lnTo>
                  <a:pt x="898" y="16"/>
                </a:lnTo>
                <a:lnTo>
                  <a:pt x="896" y="8"/>
                </a:lnTo>
                <a:lnTo>
                  <a:pt x="895" y="0"/>
                </a:lnTo>
                <a:lnTo>
                  <a:pt x="890" y="0"/>
                </a:lnTo>
                <a:lnTo>
                  <a:pt x="891" y="8"/>
                </a:lnTo>
                <a:lnTo>
                  <a:pt x="893" y="16"/>
                </a:lnTo>
                <a:lnTo>
                  <a:pt x="895" y="26"/>
                </a:lnTo>
                <a:lnTo>
                  <a:pt x="895" y="35"/>
                </a:lnTo>
                <a:lnTo>
                  <a:pt x="896" y="43"/>
                </a:lnTo>
                <a:lnTo>
                  <a:pt x="898" y="53"/>
                </a:lnTo>
                <a:lnTo>
                  <a:pt x="898" y="61"/>
                </a:lnTo>
                <a:lnTo>
                  <a:pt x="900" y="69"/>
                </a:lnTo>
                <a:lnTo>
                  <a:pt x="903" y="68"/>
                </a:lnTo>
                <a:close/>
                <a:moveTo>
                  <a:pt x="0" y="126"/>
                </a:moveTo>
                <a:lnTo>
                  <a:pt x="0" y="136"/>
                </a:lnTo>
                <a:lnTo>
                  <a:pt x="2" y="146"/>
                </a:lnTo>
                <a:lnTo>
                  <a:pt x="4" y="154"/>
                </a:lnTo>
                <a:lnTo>
                  <a:pt x="4" y="162"/>
                </a:lnTo>
                <a:lnTo>
                  <a:pt x="5" y="172"/>
                </a:lnTo>
                <a:lnTo>
                  <a:pt x="7" y="180"/>
                </a:lnTo>
                <a:lnTo>
                  <a:pt x="9" y="190"/>
                </a:lnTo>
                <a:lnTo>
                  <a:pt x="10" y="199"/>
                </a:lnTo>
                <a:lnTo>
                  <a:pt x="15" y="199"/>
                </a:lnTo>
                <a:lnTo>
                  <a:pt x="14" y="189"/>
                </a:lnTo>
                <a:lnTo>
                  <a:pt x="12" y="180"/>
                </a:lnTo>
                <a:lnTo>
                  <a:pt x="10" y="170"/>
                </a:lnTo>
                <a:lnTo>
                  <a:pt x="9" y="162"/>
                </a:lnTo>
                <a:lnTo>
                  <a:pt x="7" y="152"/>
                </a:lnTo>
                <a:lnTo>
                  <a:pt x="7" y="144"/>
                </a:lnTo>
                <a:lnTo>
                  <a:pt x="5" y="134"/>
                </a:lnTo>
                <a:lnTo>
                  <a:pt x="5" y="124"/>
                </a:lnTo>
                <a:lnTo>
                  <a:pt x="0" y="126"/>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30" name="Freeform 1035">
            <a:extLst>
              <a:ext uri="{FF2B5EF4-FFF2-40B4-BE49-F238E27FC236}">
                <a16:creationId xmlns:a16="http://schemas.microsoft.com/office/drawing/2014/main" id="{C399BF6A-6764-5AA0-1626-04E5B5112590}"/>
              </a:ext>
            </a:extLst>
          </p:cNvPr>
          <p:cNvSpPr>
            <a:spLocks noEditPoints="1"/>
          </p:cNvSpPr>
          <p:nvPr/>
        </p:nvSpPr>
        <p:spPr bwMode="auto">
          <a:xfrm>
            <a:off x="2200275" y="2403475"/>
            <a:ext cx="1427163" cy="315913"/>
          </a:xfrm>
          <a:custGeom>
            <a:avLst/>
            <a:gdLst>
              <a:gd name="T0" fmla="*/ 899 w 899"/>
              <a:gd name="T1" fmla="*/ 69 h 199"/>
              <a:gd name="T2" fmla="*/ 899 w 899"/>
              <a:gd name="T3" fmla="*/ 59 h 199"/>
              <a:gd name="T4" fmla="*/ 898 w 899"/>
              <a:gd name="T5" fmla="*/ 51 h 199"/>
              <a:gd name="T6" fmla="*/ 898 w 899"/>
              <a:gd name="T7" fmla="*/ 43 h 199"/>
              <a:gd name="T8" fmla="*/ 896 w 899"/>
              <a:gd name="T9" fmla="*/ 35 h 199"/>
              <a:gd name="T10" fmla="*/ 894 w 899"/>
              <a:gd name="T11" fmla="*/ 25 h 199"/>
              <a:gd name="T12" fmla="*/ 893 w 899"/>
              <a:gd name="T13" fmla="*/ 16 h 199"/>
              <a:gd name="T14" fmla="*/ 891 w 899"/>
              <a:gd name="T15" fmla="*/ 8 h 199"/>
              <a:gd name="T16" fmla="*/ 889 w 899"/>
              <a:gd name="T17" fmla="*/ 0 h 199"/>
              <a:gd name="T18" fmla="*/ 884 w 899"/>
              <a:gd name="T19" fmla="*/ 0 h 199"/>
              <a:gd name="T20" fmla="*/ 886 w 899"/>
              <a:gd name="T21" fmla="*/ 8 h 199"/>
              <a:gd name="T22" fmla="*/ 888 w 899"/>
              <a:gd name="T23" fmla="*/ 16 h 199"/>
              <a:gd name="T24" fmla="*/ 889 w 899"/>
              <a:gd name="T25" fmla="*/ 26 h 199"/>
              <a:gd name="T26" fmla="*/ 891 w 899"/>
              <a:gd name="T27" fmla="*/ 35 h 199"/>
              <a:gd name="T28" fmla="*/ 893 w 899"/>
              <a:gd name="T29" fmla="*/ 45 h 199"/>
              <a:gd name="T30" fmla="*/ 893 w 899"/>
              <a:gd name="T31" fmla="*/ 53 h 199"/>
              <a:gd name="T32" fmla="*/ 894 w 899"/>
              <a:gd name="T33" fmla="*/ 63 h 199"/>
              <a:gd name="T34" fmla="*/ 894 w 899"/>
              <a:gd name="T35" fmla="*/ 71 h 199"/>
              <a:gd name="T36" fmla="*/ 899 w 899"/>
              <a:gd name="T37" fmla="*/ 69 h 199"/>
              <a:gd name="T38" fmla="*/ 0 w 899"/>
              <a:gd name="T39" fmla="*/ 126 h 199"/>
              <a:gd name="T40" fmla="*/ 2 w 899"/>
              <a:gd name="T41" fmla="*/ 134 h 199"/>
              <a:gd name="T42" fmla="*/ 2 w 899"/>
              <a:gd name="T43" fmla="*/ 144 h 199"/>
              <a:gd name="T44" fmla="*/ 3 w 899"/>
              <a:gd name="T45" fmla="*/ 154 h 199"/>
              <a:gd name="T46" fmla="*/ 5 w 899"/>
              <a:gd name="T47" fmla="*/ 162 h 199"/>
              <a:gd name="T48" fmla="*/ 7 w 899"/>
              <a:gd name="T49" fmla="*/ 172 h 199"/>
              <a:gd name="T50" fmla="*/ 7 w 899"/>
              <a:gd name="T51" fmla="*/ 180 h 199"/>
              <a:gd name="T52" fmla="*/ 10 w 899"/>
              <a:gd name="T53" fmla="*/ 190 h 199"/>
              <a:gd name="T54" fmla="*/ 12 w 899"/>
              <a:gd name="T55" fmla="*/ 199 h 199"/>
              <a:gd name="T56" fmla="*/ 17 w 899"/>
              <a:gd name="T57" fmla="*/ 199 h 199"/>
              <a:gd name="T58" fmla="*/ 13 w 899"/>
              <a:gd name="T59" fmla="*/ 189 h 199"/>
              <a:gd name="T60" fmla="*/ 12 w 899"/>
              <a:gd name="T61" fmla="*/ 180 h 199"/>
              <a:gd name="T62" fmla="*/ 10 w 899"/>
              <a:gd name="T63" fmla="*/ 170 h 199"/>
              <a:gd name="T64" fmla="*/ 10 w 899"/>
              <a:gd name="T65" fmla="*/ 160 h 199"/>
              <a:gd name="T66" fmla="*/ 8 w 899"/>
              <a:gd name="T67" fmla="*/ 152 h 199"/>
              <a:gd name="T68" fmla="*/ 7 w 899"/>
              <a:gd name="T69" fmla="*/ 142 h 199"/>
              <a:gd name="T70" fmla="*/ 7 w 899"/>
              <a:gd name="T71" fmla="*/ 132 h 199"/>
              <a:gd name="T72" fmla="*/ 5 w 899"/>
              <a:gd name="T73" fmla="*/ 122 h 199"/>
              <a:gd name="T74" fmla="*/ 0 w 899"/>
              <a:gd name="T75" fmla="*/ 12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99" h="199">
                <a:moveTo>
                  <a:pt x="899" y="69"/>
                </a:moveTo>
                <a:lnTo>
                  <a:pt x="899" y="59"/>
                </a:lnTo>
                <a:lnTo>
                  <a:pt x="898" y="51"/>
                </a:lnTo>
                <a:lnTo>
                  <a:pt x="898" y="43"/>
                </a:lnTo>
                <a:lnTo>
                  <a:pt x="896" y="35"/>
                </a:lnTo>
                <a:lnTo>
                  <a:pt x="894" y="25"/>
                </a:lnTo>
                <a:lnTo>
                  <a:pt x="893" y="16"/>
                </a:lnTo>
                <a:lnTo>
                  <a:pt x="891" y="8"/>
                </a:lnTo>
                <a:lnTo>
                  <a:pt x="889" y="0"/>
                </a:lnTo>
                <a:lnTo>
                  <a:pt x="884" y="0"/>
                </a:lnTo>
                <a:lnTo>
                  <a:pt x="886" y="8"/>
                </a:lnTo>
                <a:lnTo>
                  <a:pt x="888" y="16"/>
                </a:lnTo>
                <a:lnTo>
                  <a:pt x="889" y="26"/>
                </a:lnTo>
                <a:lnTo>
                  <a:pt x="891" y="35"/>
                </a:lnTo>
                <a:lnTo>
                  <a:pt x="893" y="45"/>
                </a:lnTo>
                <a:lnTo>
                  <a:pt x="893" y="53"/>
                </a:lnTo>
                <a:lnTo>
                  <a:pt x="894" y="63"/>
                </a:lnTo>
                <a:lnTo>
                  <a:pt x="894" y="71"/>
                </a:lnTo>
                <a:lnTo>
                  <a:pt x="899" y="69"/>
                </a:lnTo>
                <a:close/>
                <a:moveTo>
                  <a:pt x="0" y="126"/>
                </a:moveTo>
                <a:lnTo>
                  <a:pt x="2" y="134"/>
                </a:lnTo>
                <a:lnTo>
                  <a:pt x="2" y="144"/>
                </a:lnTo>
                <a:lnTo>
                  <a:pt x="3" y="154"/>
                </a:lnTo>
                <a:lnTo>
                  <a:pt x="5" y="162"/>
                </a:lnTo>
                <a:lnTo>
                  <a:pt x="7" y="172"/>
                </a:lnTo>
                <a:lnTo>
                  <a:pt x="7" y="180"/>
                </a:lnTo>
                <a:lnTo>
                  <a:pt x="10" y="190"/>
                </a:lnTo>
                <a:lnTo>
                  <a:pt x="12" y="199"/>
                </a:lnTo>
                <a:lnTo>
                  <a:pt x="17" y="199"/>
                </a:lnTo>
                <a:lnTo>
                  <a:pt x="13" y="189"/>
                </a:lnTo>
                <a:lnTo>
                  <a:pt x="12" y="180"/>
                </a:lnTo>
                <a:lnTo>
                  <a:pt x="10" y="170"/>
                </a:lnTo>
                <a:lnTo>
                  <a:pt x="10" y="160"/>
                </a:lnTo>
                <a:lnTo>
                  <a:pt x="8" y="152"/>
                </a:lnTo>
                <a:lnTo>
                  <a:pt x="7" y="142"/>
                </a:lnTo>
                <a:lnTo>
                  <a:pt x="7" y="132"/>
                </a:lnTo>
                <a:lnTo>
                  <a:pt x="5" y="122"/>
                </a:lnTo>
                <a:lnTo>
                  <a:pt x="0" y="126"/>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31" name="Freeform 1036">
            <a:extLst>
              <a:ext uri="{FF2B5EF4-FFF2-40B4-BE49-F238E27FC236}">
                <a16:creationId xmlns:a16="http://schemas.microsoft.com/office/drawing/2014/main" id="{EBD3483A-75A0-7CA1-BA58-2F93AC37008F}"/>
              </a:ext>
            </a:extLst>
          </p:cNvPr>
          <p:cNvSpPr>
            <a:spLocks noEditPoints="1"/>
          </p:cNvSpPr>
          <p:nvPr/>
        </p:nvSpPr>
        <p:spPr bwMode="auto">
          <a:xfrm>
            <a:off x="2205038" y="2403475"/>
            <a:ext cx="1420813" cy="315913"/>
          </a:xfrm>
          <a:custGeom>
            <a:avLst/>
            <a:gdLst>
              <a:gd name="T0" fmla="*/ 895 w 895"/>
              <a:gd name="T1" fmla="*/ 69 h 199"/>
              <a:gd name="T2" fmla="*/ 893 w 895"/>
              <a:gd name="T3" fmla="*/ 61 h 199"/>
              <a:gd name="T4" fmla="*/ 893 w 895"/>
              <a:gd name="T5" fmla="*/ 53 h 199"/>
              <a:gd name="T6" fmla="*/ 891 w 895"/>
              <a:gd name="T7" fmla="*/ 43 h 199"/>
              <a:gd name="T8" fmla="*/ 890 w 895"/>
              <a:gd name="T9" fmla="*/ 35 h 199"/>
              <a:gd name="T10" fmla="*/ 890 w 895"/>
              <a:gd name="T11" fmla="*/ 26 h 199"/>
              <a:gd name="T12" fmla="*/ 888 w 895"/>
              <a:gd name="T13" fmla="*/ 16 h 199"/>
              <a:gd name="T14" fmla="*/ 886 w 895"/>
              <a:gd name="T15" fmla="*/ 8 h 199"/>
              <a:gd name="T16" fmla="*/ 885 w 895"/>
              <a:gd name="T17" fmla="*/ 0 h 199"/>
              <a:gd name="T18" fmla="*/ 880 w 895"/>
              <a:gd name="T19" fmla="*/ 0 h 199"/>
              <a:gd name="T20" fmla="*/ 881 w 895"/>
              <a:gd name="T21" fmla="*/ 8 h 199"/>
              <a:gd name="T22" fmla="*/ 883 w 895"/>
              <a:gd name="T23" fmla="*/ 18 h 199"/>
              <a:gd name="T24" fmla="*/ 885 w 895"/>
              <a:gd name="T25" fmla="*/ 26 h 199"/>
              <a:gd name="T26" fmla="*/ 886 w 895"/>
              <a:gd name="T27" fmla="*/ 35 h 199"/>
              <a:gd name="T28" fmla="*/ 886 w 895"/>
              <a:gd name="T29" fmla="*/ 45 h 199"/>
              <a:gd name="T30" fmla="*/ 888 w 895"/>
              <a:gd name="T31" fmla="*/ 54 h 199"/>
              <a:gd name="T32" fmla="*/ 888 w 895"/>
              <a:gd name="T33" fmla="*/ 63 h 199"/>
              <a:gd name="T34" fmla="*/ 890 w 895"/>
              <a:gd name="T35" fmla="*/ 73 h 199"/>
              <a:gd name="T36" fmla="*/ 895 w 895"/>
              <a:gd name="T37" fmla="*/ 69 h 199"/>
              <a:gd name="T38" fmla="*/ 0 w 895"/>
              <a:gd name="T39" fmla="*/ 124 h 199"/>
              <a:gd name="T40" fmla="*/ 0 w 895"/>
              <a:gd name="T41" fmla="*/ 134 h 199"/>
              <a:gd name="T42" fmla="*/ 2 w 895"/>
              <a:gd name="T43" fmla="*/ 144 h 199"/>
              <a:gd name="T44" fmla="*/ 2 w 895"/>
              <a:gd name="T45" fmla="*/ 152 h 199"/>
              <a:gd name="T46" fmla="*/ 4 w 895"/>
              <a:gd name="T47" fmla="*/ 162 h 199"/>
              <a:gd name="T48" fmla="*/ 5 w 895"/>
              <a:gd name="T49" fmla="*/ 170 h 199"/>
              <a:gd name="T50" fmla="*/ 7 w 895"/>
              <a:gd name="T51" fmla="*/ 180 h 199"/>
              <a:gd name="T52" fmla="*/ 9 w 895"/>
              <a:gd name="T53" fmla="*/ 189 h 199"/>
              <a:gd name="T54" fmla="*/ 10 w 895"/>
              <a:gd name="T55" fmla="*/ 199 h 199"/>
              <a:gd name="T56" fmla="*/ 15 w 895"/>
              <a:gd name="T57" fmla="*/ 199 h 199"/>
              <a:gd name="T58" fmla="*/ 14 w 895"/>
              <a:gd name="T59" fmla="*/ 189 h 199"/>
              <a:gd name="T60" fmla="*/ 12 w 895"/>
              <a:gd name="T61" fmla="*/ 180 h 199"/>
              <a:gd name="T62" fmla="*/ 10 w 895"/>
              <a:gd name="T63" fmla="*/ 170 h 199"/>
              <a:gd name="T64" fmla="*/ 9 w 895"/>
              <a:gd name="T65" fmla="*/ 160 h 199"/>
              <a:gd name="T66" fmla="*/ 7 w 895"/>
              <a:gd name="T67" fmla="*/ 151 h 199"/>
              <a:gd name="T68" fmla="*/ 7 w 895"/>
              <a:gd name="T69" fmla="*/ 142 h 199"/>
              <a:gd name="T70" fmla="*/ 5 w 895"/>
              <a:gd name="T71" fmla="*/ 132 h 199"/>
              <a:gd name="T72" fmla="*/ 5 w 895"/>
              <a:gd name="T73" fmla="*/ 122 h 199"/>
              <a:gd name="T74" fmla="*/ 0 w 895"/>
              <a:gd name="T75" fmla="*/ 12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95" h="199">
                <a:moveTo>
                  <a:pt x="895" y="69"/>
                </a:moveTo>
                <a:lnTo>
                  <a:pt x="893" y="61"/>
                </a:lnTo>
                <a:lnTo>
                  <a:pt x="893" y="53"/>
                </a:lnTo>
                <a:lnTo>
                  <a:pt x="891" y="43"/>
                </a:lnTo>
                <a:lnTo>
                  <a:pt x="890" y="35"/>
                </a:lnTo>
                <a:lnTo>
                  <a:pt x="890" y="26"/>
                </a:lnTo>
                <a:lnTo>
                  <a:pt x="888" y="16"/>
                </a:lnTo>
                <a:lnTo>
                  <a:pt x="886" y="8"/>
                </a:lnTo>
                <a:lnTo>
                  <a:pt x="885" y="0"/>
                </a:lnTo>
                <a:lnTo>
                  <a:pt x="880" y="0"/>
                </a:lnTo>
                <a:lnTo>
                  <a:pt x="881" y="8"/>
                </a:lnTo>
                <a:lnTo>
                  <a:pt x="883" y="18"/>
                </a:lnTo>
                <a:lnTo>
                  <a:pt x="885" y="26"/>
                </a:lnTo>
                <a:lnTo>
                  <a:pt x="886" y="35"/>
                </a:lnTo>
                <a:lnTo>
                  <a:pt x="886" y="45"/>
                </a:lnTo>
                <a:lnTo>
                  <a:pt x="888" y="54"/>
                </a:lnTo>
                <a:lnTo>
                  <a:pt x="888" y="63"/>
                </a:lnTo>
                <a:lnTo>
                  <a:pt x="890" y="73"/>
                </a:lnTo>
                <a:lnTo>
                  <a:pt x="895" y="69"/>
                </a:lnTo>
                <a:close/>
                <a:moveTo>
                  <a:pt x="0" y="124"/>
                </a:moveTo>
                <a:lnTo>
                  <a:pt x="0" y="134"/>
                </a:lnTo>
                <a:lnTo>
                  <a:pt x="2" y="144"/>
                </a:lnTo>
                <a:lnTo>
                  <a:pt x="2" y="152"/>
                </a:lnTo>
                <a:lnTo>
                  <a:pt x="4" y="162"/>
                </a:lnTo>
                <a:lnTo>
                  <a:pt x="5" y="170"/>
                </a:lnTo>
                <a:lnTo>
                  <a:pt x="7" y="180"/>
                </a:lnTo>
                <a:lnTo>
                  <a:pt x="9" y="189"/>
                </a:lnTo>
                <a:lnTo>
                  <a:pt x="10" y="199"/>
                </a:lnTo>
                <a:lnTo>
                  <a:pt x="15" y="199"/>
                </a:lnTo>
                <a:lnTo>
                  <a:pt x="14" y="189"/>
                </a:lnTo>
                <a:lnTo>
                  <a:pt x="12" y="180"/>
                </a:lnTo>
                <a:lnTo>
                  <a:pt x="10" y="170"/>
                </a:lnTo>
                <a:lnTo>
                  <a:pt x="9" y="160"/>
                </a:lnTo>
                <a:lnTo>
                  <a:pt x="7" y="151"/>
                </a:lnTo>
                <a:lnTo>
                  <a:pt x="7" y="142"/>
                </a:lnTo>
                <a:lnTo>
                  <a:pt x="5" y="132"/>
                </a:lnTo>
                <a:lnTo>
                  <a:pt x="5" y="122"/>
                </a:lnTo>
                <a:lnTo>
                  <a:pt x="0" y="124"/>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32" name="Freeform 1037">
            <a:extLst>
              <a:ext uri="{FF2B5EF4-FFF2-40B4-BE49-F238E27FC236}">
                <a16:creationId xmlns:a16="http://schemas.microsoft.com/office/drawing/2014/main" id="{13B07AA2-FA01-0716-4F66-745177EE41FB}"/>
              </a:ext>
            </a:extLst>
          </p:cNvPr>
          <p:cNvSpPr>
            <a:spLocks noEditPoints="1"/>
          </p:cNvSpPr>
          <p:nvPr/>
        </p:nvSpPr>
        <p:spPr bwMode="auto">
          <a:xfrm>
            <a:off x="2208213" y="2403475"/>
            <a:ext cx="1411288" cy="315913"/>
          </a:xfrm>
          <a:custGeom>
            <a:avLst/>
            <a:gdLst>
              <a:gd name="T0" fmla="*/ 889 w 889"/>
              <a:gd name="T1" fmla="*/ 71 h 199"/>
              <a:gd name="T2" fmla="*/ 889 w 889"/>
              <a:gd name="T3" fmla="*/ 63 h 199"/>
              <a:gd name="T4" fmla="*/ 888 w 889"/>
              <a:gd name="T5" fmla="*/ 53 h 199"/>
              <a:gd name="T6" fmla="*/ 888 w 889"/>
              <a:gd name="T7" fmla="*/ 45 h 199"/>
              <a:gd name="T8" fmla="*/ 886 w 889"/>
              <a:gd name="T9" fmla="*/ 35 h 199"/>
              <a:gd name="T10" fmla="*/ 884 w 889"/>
              <a:gd name="T11" fmla="*/ 26 h 199"/>
              <a:gd name="T12" fmla="*/ 883 w 889"/>
              <a:gd name="T13" fmla="*/ 16 h 199"/>
              <a:gd name="T14" fmla="*/ 881 w 889"/>
              <a:gd name="T15" fmla="*/ 8 h 199"/>
              <a:gd name="T16" fmla="*/ 879 w 889"/>
              <a:gd name="T17" fmla="*/ 0 h 199"/>
              <a:gd name="T18" fmla="*/ 874 w 889"/>
              <a:gd name="T19" fmla="*/ 0 h 199"/>
              <a:gd name="T20" fmla="*/ 876 w 889"/>
              <a:gd name="T21" fmla="*/ 8 h 199"/>
              <a:gd name="T22" fmla="*/ 878 w 889"/>
              <a:gd name="T23" fmla="*/ 18 h 199"/>
              <a:gd name="T24" fmla="*/ 879 w 889"/>
              <a:gd name="T25" fmla="*/ 26 h 199"/>
              <a:gd name="T26" fmla="*/ 881 w 889"/>
              <a:gd name="T27" fmla="*/ 36 h 199"/>
              <a:gd name="T28" fmla="*/ 883 w 889"/>
              <a:gd name="T29" fmla="*/ 45 h 199"/>
              <a:gd name="T30" fmla="*/ 884 w 889"/>
              <a:gd name="T31" fmla="*/ 54 h 199"/>
              <a:gd name="T32" fmla="*/ 884 w 889"/>
              <a:gd name="T33" fmla="*/ 64 h 199"/>
              <a:gd name="T34" fmla="*/ 884 w 889"/>
              <a:gd name="T35" fmla="*/ 73 h 199"/>
              <a:gd name="T36" fmla="*/ 889 w 889"/>
              <a:gd name="T37" fmla="*/ 71 h 199"/>
              <a:gd name="T38" fmla="*/ 0 w 889"/>
              <a:gd name="T39" fmla="*/ 122 h 199"/>
              <a:gd name="T40" fmla="*/ 2 w 889"/>
              <a:gd name="T41" fmla="*/ 132 h 199"/>
              <a:gd name="T42" fmla="*/ 2 w 889"/>
              <a:gd name="T43" fmla="*/ 142 h 199"/>
              <a:gd name="T44" fmla="*/ 3 w 889"/>
              <a:gd name="T45" fmla="*/ 152 h 199"/>
              <a:gd name="T46" fmla="*/ 5 w 889"/>
              <a:gd name="T47" fmla="*/ 160 h 199"/>
              <a:gd name="T48" fmla="*/ 5 w 889"/>
              <a:gd name="T49" fmla="*/ 170 h 199"/>
              <a:gd name="T50" fmla="*/ 7 w 889"/>
              <a:gd name="T51" fmla="*/ 180 h 199"/>
              <a:gd name="T52" fmla="*/ 8 w 889"/>
              <a:gd name="T53" fmla="*/ 189 h 199"/>
              <a:gd name="T54" fmla="*/ 12 w 889"/>
              <a:gd name="T55" fmla="*/ 199 h 199"/>
              <a:gd name="T56" fmla="*/ 16 w 889"/>
              <a:gd name="T57" fmla="*/ 199 h 199"/>
              <a:gd name="T58" fmla="*/ 13 w 889"/>
              <a:gd name="T59" fmla="*/ 189 h 199"/>
              <a:gd name="T60" fmla="*/ 12 w 889"/>
              <a:gd name="T61" fmla="*/ 179 h 199"/>
              <a:gd name="T62" fmla="*/ 10 w 889"/>
              <a:gd name="T63" fmla="*/ 170 h 199"/>
              <a:gd name="T64" fmla="*/ 8 w 889"/>
              <a:gd name="T65" fmla="*/ 160 h 199"/>
              <a:gd name="T66" fmla="*/ 8 w 889"/>
              <a:gd name="T67" fmla="*/ 151 h 199"/>
              <a:gd name="T68" fmla="*/ 7 w 889"/>
              <a:gd name="T69" fmla="*/ 141 h 199"/>
              <a:gd name="T70" fmla="*/ 5 w 889"/>
              <a:gd name="T71" fmla="*/ 131 h 199"/>
              <a:gd name="T72" fmla="*/ 5 w 889"/>
              <a:gd name="T73" fmla="*/ 121 h 199"/>
              <a:gd name="T74" fmla="*/ 0 w 889"/>
              <a:gd name="T75" fmla="*/ 12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89" h="199">
                <a:moveTo>
                  <a:pt x="889" y="71"/>
                </a:moveTo>
                <a:lnTo>
                  <a:pt x="889" y="63"/>
                </a:lnTo>
                <a:lnTo>
                  <a:pt x="888" y="53"/>
                </a:lnTo>
                <a:lnTo>
                  <a:pt x="888" y="45"/>
                </a:lnTo>
                <a:lnTo>
                  <a:pt x="886" y="35"/>
                </a:lnTo>
                <a:lnTo>
                  <a:pt x="884" y="26"/>
                </a:lnTo>
                <a:lnTo>
                  <a:pt x="883" y="16"/>
                </a:lnTo>
                <a:lnTo>
                  <a:pt x="881" y="8"/>
                </a:lnTo>
                <a:lnTo>
                  <a:pt x="879" y="0"/>
                </a:lnTo>
                <a:lnTo>
                  <a:pt x="874" y="0"/>
                </a:lnTo>
                <a:lnTo>
                  <a:pt x="876" y="8"/>
                </a:lnTo>
                <a:lnTo>
                  <a:pt x="878" y="18"/>
                </a:lnTo>
                <a:lnTo>
                  <a:pt x="879" y="26"/>
                </a:lnTo>
                <a:lnTo>
                  <a:pt x="881" y="36"/>
                </a:lnTo>
                <a:lnTo>
                  <a:pt x="883" y="45"/>
                </a:lnTo>
                <a:lnTo>
                  <a:pt x="884" y="54"/>
                </a:lnTo>
                <a:lnTo>
                  <a:pt x="884" y="64"/>
                </a:lnTo>
                <a:lnTo>
                  <a:pt x="884" y="73"/>
                </a:lnTo>
                <a:lnTo>
                  <a:pt x="889" y="71"/>
                </a:lnTo>
                <a:close/>
                <a:moveTo>
                  <a:pt x="0" y="122"/>
                </a:moveTo>
                <a:lnTo>
                  <a:pt x="2" y="132"/>
                </a:lnTo>
                <a:lnTo>
                  <a:pt x="2" y="142"/>
                </a:lnTo>
                <a:lnTo>
                  <a:pt x="3" y="152"/>
                </a:lnTo>
                <a:lnTo>
                  <a:pt x="5" y="160"/>
                </a:lnTo>
                <a:lnTo>
                  <a:pt x="5" y="170"/>
                </a:lnTo>
                <a:lnTo>
                  <a:pt x="7" y="180"/>
                </a:lnTo>
                <a:lnTo>
                  <a:pt x="8" y="189"/>
                </a:lnTo>
                <a:lnTo>
                  <a:pt x="12" y="199"/>
                </a:lnTo>
                <a:lnTo>
                  <a:pt x="16" y="199"/>
                </a:lnTo>
                <a:lnTo>
                  <a:pt x="13" y="189"/>
                </a:lnTo>
                <a:lnTo>
                  <a:pt x="12" y="179"/>
                </a:lnTo>
                <a:lnTo>
                  <a:pt x="10" y="170"/>
                </a:lnTo>
                <a:lnTo>
                  <a:pt x="8" y="160"/>
                </a:lnTo>
                <a:lnTo>
                  <a:pt x="8" y="151"/>
                </a:lnTo>
                <a:lnTo>
                  <a:pt x="7" y="141"/>
                </a:lnTo>
                <a:lnTo>
                  <a:pt x="5" y="131"/>
                </a:lnTo>
                <a:lnTo>
                  <a:pt x="5" y="121"/>
                </a:lnTo>
                <a:lnTo>
                  <a:pt x="0" y="122"/>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33" name="Freeform 1038">
            <a:extLst>
              <a:ext uri="{FF2B5EF4-FFF2-40B4-BE49-F238E27FC236}">
                <a16:creationId xmlns:a16="http://schemas.microsoft.com/office/drawing/2014/main" id="{76669EFD-0EC6-6EFC-8589-1A2C29BE855E}"/>
              </a:ext>
            </a:extLst>
          </p:cNvPr>
          <p:cNvSpPr>
            <a:spLocks noEditPoints="1"/>
          </p:cNvSpPr>
          <p:nvPr/>
        </p:nvSpPr>
        <p:spPr bwMode="auto">
          <a:xfrm>
            <a:off x="2212975" y="2403475"/>
            <a:ext cx="1404938" cy="315913"/>
          </a:xfrm>
          <a:custGeom>
            <a:avLst/>
            <a:gdLst>
              <a:gd name="T0" fmla="*/ 885 w 885"/>
              <a:gd name="T1" fmla="*/ 73 h 199"/>
              <a:gd name="T2" fmla="*/ 883 w 885"/>
              <a:gd name="T3" fmla="*/ 63 h 199"/>
              <a:gd name="T4" fmla="*/ 883 w 885"/>
              <a:gd name="T5" fmla="*/ 54 h 199"/>
              <a:gd name="T6" fmla="*/ 881 w 885"/>
              <a:gd name="T7" fmla="*/ 45 h 199"/>
              <a:gd name="T8" fmla="*/ 881 w 885"/>
              <a:gd name="T9" fmla="*/ 35 h 199"/>
              <a:gd name="T10" fmla="*/ 880 w 885"/>
              <a:gd name="T11" fmla="*/ 26 h 199"/>
              <a:gd name="T12" fmla="*/ 878 w 885"/>
              <a:gd name="T13" fmla="*/ 18 h 199"/>
              <a:gd name="T14" fmla="*/ 876 w 885"/>
              <a:gd name="T15" fmla="*/ 8 h 199"/>
              <a:gd name="T16" fmla="*/ 875 w 885"/>
              <a:gd name="T17" fmla="*/ 0 h 199"/>
              <a:gd name="T18" fmla="*/ 870 w 885"/>
              <a:gd name="T19" fmla="*/ 0 h 199"/>
              <a:gd name="T20" fmla="*/ 871 w 885"/>
              <a:gd name="T21" fmla="*/ 8 h 199"/>
              <a:gd name="T22" fmla="*/ 873 w 885"/>
              <a:gd name="T23" fmla="*/ 18 h 199"/>
              <a:gd name="T24" fmla="*/ 875 w 885"/>
              <a:gd name="T25" fmla="*/ 26 h 199"/>
              <a:gd name="T26" fmla="*/ 876 w 885"/>
              <a:gd name="T27" fmla="*/ 36 h 199"/>
              <a:gd name="T28" fmla="*/ 878 w 885"/>
              <a:gd name="T29" fmla="*/ 46 h 199"/>
              <a:gd name="T30" fmla="*/ 878 w 885"/>
              <a:gd name="T31" fmla="*/ 54 h 199"/>
              <a:gd name="T32" fmla="*/ 880 w 885"/>
              <a:gd name="T33" fmla="*/ 64 h 199"/>
              <a:gd name="T34" fmla="*/ 880 w 885"/>
              <a:gd name="T35" fmla="*/ 74 h 199"/>
              <a:gd name="T36" fmla="*/ 885 w 885"/>
              <a:gd name="T37" fmla="*/ 73 h 199"/>
              <a:gd name="T38" fmla="*/ 0 w 885"/>
              <a:gd name="T39" fmla="*/ 122 h 199"/>
              <a:gd name="T40" fmla="*/ 0 w 885"/>
              <a:gd name="T41" fmla="*/ 132 h 199"/>
              <a:gd name="T42" fmla="*/ 2 w 885"/>
              <a:gd name="T43" fmla="*/ 142 h 199"/>
              <a:gd name="T44" fmla="*/ 2 w 885"/>
              <a:gd name="T45" fmla="*/ 151 h 199"/>
              <a:gd name="T46" fmla="*/ 4 w 885"/>
              <a:gd name="T47" fmla="*/ 160 h 199"/>
              <a:gd name="T48" fmla="*/ 5 w 885"/>
              <a:gd name="T49" fmla="*/ 170 h 199"/>
              <a:gd name="T50" fmla="*/ 7 w 885"/>
              <a:gd name="T51" fmla="*/ 180 h 199"/>
              <a:gd name="T52" fmla="*/ 9 w 885"/>
              <a:gd name="T53" fmla="*/ 189 h 199"/>
              <a:gd name="T54" fmla="*/ 10 w 885"/>
              <a:gd name="T55" fmla="*/ 199 h 199"/>
              <a:gd name="T56" fmla="*/ 15 w 885"/>
              <a:gd name="T57" fmla="*/ 199 h 199"/>
              <a:gd name="T58" fmla="*/ 13 w 885"/>
              <a:gd name="T59" fmla="*/ 189 h 199"/>
              <a:gd name="T60" fmla="*/ 12 w 885"/>
              <a:gd name="T61" fmla="*/ 179 h 199"/>
              <a:gd name="T62" fmla="*/ 10 w 885"/>
              <a:gd name="T63" fmla="*/ 169 h 199"/>
              <a:gd name="T64" fmla="*/ 9 w 885"/>
              <a:gd name="T65" fmla="*/ 160 h 199"/>
              <a:gd name="T66" fmla="*/ 7 w 885"/>
              <a:gd name="T67" fmla="*/ 151 h 199"/>
              <a:gd name="T68" fmla="*/ 5 w 885"/>
              <a:gd name="T69" fmla="*/ 141 h 199"/>
              <a:gd name="T70" fmla="*/ 5 w 885"/>
              <a:gd name="T71" fmla="*/ 131 h 199"/>
              <a:gd name="T72" fmla="*/ 5 w 885"/>
              <a:gd name="T73" fmla="*/ 119 h 199"/>
              <a:gd name="T74" fmla="*/ 0 w 885"/>
              <a:gd name="T75" fmla="*/ 12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85" h="199">
                <a:moveTo>
                  <a:pt x="885" y="73"/>
                </a:moveTo>
                <a:lnTo>
                  <a:pt x="883" y="63"/>
                </a:lnTo>
                <a:lnTo>
                  <a:pt x="883" y="54"/>
                </a:lnTo>
                <a:lnTo>
                  <a:pt x="881" y="45"/>
                </a:lnTo>
                <a:lnTo>
                  <a:pt x="881" y="35"/>
                </a:lnTo>
                <a:lnTo>
                  <a:pt x="880" y="26"/>
                </a:lnTo>
                <a:lnTo>
                  <a:pt x="878" y="18"/>
                </a:lnTo>
                <a:lnTo>
                  <a:pt x="876" y="8"/>
                </a:lnTo>
                <a:lnTo>
                  <a:pt x="875" y="0"/>
                </a:lnTo>
                <a:lnTo>
                  <a:pt x="870" y="0"/>
                </a:lnTo>
                <a:lnTo>
                  <a:pt x="871" y="8"/>
                </a:lnTo>
                <a:lnTo>
                  <a:pt x="873" y="18"/>
                </a:lnTo>
                <a:lnTo>
                  <a:pt x="875" y="26"/>
                </a:lnTo>
                <a:lnTo>
                  <a:pt x="876" y="36"/>
                </a:lnTo>
                <a:lnTo>
                  <a:pt x="878" y="46"/>
                </a:lnTo>
                <a:lnTo>
                  <a:pt x="878" y="54"/>
                </a:lnTo>
                <a:lnTo>
                  <a:pt x="880" y="64"/>
                </a:lnTo>
                <a:lnTo>
                  <a:pt x="880" y="74"/>
                </a:lnTo>
                <a:lnTo>
                  <a:pt x="885" y="73"/>
                </a:lnTo>
                <a:close/>
                <a:moveTo>
                  <a:pt x="0" y="122"/>
                </a:moveTo>
                <a:lnTo>
                  <a:pt x="0" y="132"/>
                </a:lnTo>
                <a:lnTo>
                  <a:pt x="2" y="142"/>
                </a:lnTo>
                <a:lnTo>
                  <a:pt x="2" y="151"/>
                </a:lnTo>
                <a:lnTo>
                  <a:pt x="4" y="160"/>
                </a:lnTo>
                <a:lnTo>
                  <a:pt x="5" y="170"/>
                </a:lnTo>
                <a:lnTo>
                  <a:pt x="7" y="180"/>
                </a:lnTo>
                <a:lnTo>
                  <a:pt x="9" y="189"/>
                </a:lnTo>
                <a:lnTo>
                  <a:pt x="10" y="199"/>
                </a:lnTo>
                <a:lnTo>
                  <a:pt x="15" y="199"/>
                </a:lnTo>
                <a:lnTo>
                  <a:pt x="13" y="189"/>
                </a:lnTo>
                <a:lnTo>
                  <a:pt x="12" y="179"/>
                </a:lnTo>
                <a:lnTo>
                  <a:pt x="10" y="169"/>
                </a:lnTo>
                <a:lnTo>
                  <a:pt x="9" y="160"/>
                </a:lnTo>
                <a:lnTo>
                  <a:pt x="7" y="151"/>
                </a:lnTo>
                <a:lnTo>
                  <a:pt x="5" y="141"/>
                </a:lnTo>
                <a:lnTo>
                  <a:pt x="5" y="131"/>
                </a:lnTo>
                <a:lnTo>
                  <a:pt x="5" y="119"/>
                </a:lnTo>
                <a:lnTo>
                  <a:pt x="0" y="122"/>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34" name="Freeform 1039">
            <a:extLst>
              <a:ext uri="{FF2B5EF4-FFF2-40B4-BE49-F238E27FC236}">
                <a16:creationId xmlns:a16="http://schemas.microsoft.com/office/drawing/2014/main" id="{D91C509D-A1FC-0D68-FD8A-632A0B8CB851}"/>
              </a:ext>
            </a:extLst>
          </p:cNvPr>
          <p:cNvSpPr>
            <a:spLocks noEditPoints="1"/>
          </p:cNvSpPr>
          <p:nvPr/>
        </p:nvSpPr>
        <p:spPr bwMode="auto">
          <a:xfrm>
            <a:off x="2216150" y="2403475"/>
            <a:ext cx="1395413" cy="315913"/>
          </a:xfrm>
          <a:custGeom>
            <a:avLst/>
            <a:gdLst>
              <a:gd name="T0" fmla="*/ 879 w 879"/>
              <a:gd name="T1" fmla="*/ 73 h 199"/>
              <a:gd name="T2" fmla="*/ 879 w 879"/>
              <a:gd name="T3" fmla="*/ 64 h 199"/>
              <a:gd name="T4" fmla="*/ 879 w 879"/>
              <a:gd name="T5" fmla="*/ 54 h 199"/>
              <a:gd name="T6" fmla="*/ 878 w 879"/>
              <a:gd name="T7" fmla="*/ 45 h 199"/>
              <a:gd name="T8" fmla="*/ 876 w 879"/>
              <a:gd name="T9" fmla="*/ 36 h 199"/>
              <a:gd name="T10" fmla="*/ 874 w 879"/>
              <a:gd name="T11" fmla="*/ 26 h 199"/>
              <a:gd name="T12" fmla="*/ 873 w 879"/>
              <a:gd name="T13" fmla="*/ 18 h 199"/>
              <a:gd name="T14" fmla="*/ 871 w 879"/>
              <a:gd name="T15" fmla="*/ 8 h 199"/>
              <a:gd name="T16" fmla="*/ 869 w 879"/>
              <a:gd name="T17" fmla="*/ 0 h 199"/>
              <a:gd name="T18" fmla="*/ 864 w 879"/>
              <a:gd name="T19" fmla="*/ 0 h 199"/>
              <a:gd name="T20" fmla="*/ 866 w 879"/>
              <a:gd name="T21" fmla="*/ 8 h 199"/>
              <a:gd name="T22" fmla="*/ 868 w 879"/>
              <a:gd name="T23" fmla="*/ 18 h 199"/>
              <a:gd name="T24" fmla="*/ 869 w 879"/>
              <a:gd name="T25" fmla="*/ 28 h 199"/>
              <a:gd name="T26" fmla="*/ 871 w 879"/>
              <a:gd name="T27" fmla="*/ 36 h 199"/>
              <a:gd name="T28" fmla="*/ 873 w 879"/>
              <a:gd name="T29" fmla="*/ 46 h 199"/>
              <a:gd name="T30" fmla="*/ 874 w 879"/>
              <a:gd name="T31" fmla="*/ 56 h 199"/>
              <a:gd name="T32" fmla="*/ 874 w 879"/>
              <a:gd name="T33" fmla="*/ 66 h 199"/>
              <a:gd name="T34" fmla="*/ 876 w 879"/>
              <a:gd name="T35" fmla="*/ 76 h 199"/>
              <a:gd name="T36" fmla="*/ 879 w 879"/>
              <a:gd name="T37" fmla="*/ 73 h 199"/>
              <a:gd name="T38" fmla="*/ 0 w 879"/>
              <a:gd name="T39" fmla="*/ 121 h 199"/>
              <a:gd name="T40" fmla="*/ 0 w 879"/>
              <a:gd name="T41" fmla="*/ 131 h 199"/>
              <a:gd name="T42" fmla="*/ 2 w 879"/>
              <a:gd name="T43" fmla="*/ 141 h 199"/>
              <a:gd name="T44" fmla="*/ 3 w 879"/>
              <a:gd name="T45" fmla="*/ 151 h 199"/>
              <a:gd name="T46" fmla="*/ 3 w 879"/>
              <a:gd name="T47" fmla="*/ 160 h 199"/>
              <a:gd name="T48" fmla="*/ 5 w 879"/>
              <a:gd name="T49" fmla="*/ 170 h 199"/>
              <a:gd name="T50" fmla="*/ 7 w 879"/>
              <a:gd name="T51" fmla="*/ 179 h 199"/>
              <a:gd name="T52" fmla="*/ 8 w 879"/>
              <a:gd name="T53" fmla="*/ 189 h 199"/>
              <a:gd name="T54" fmla="*/ 11 w 879"/>
              <a:gd name="T55" fmla="*/ 199 h 199"/>
              <a:gd name="T56" fmla="*/ 16 w 879"/>
              <a:gd name="T57" fmla="*/ 199 h 199"/>
              <a:gd name="T58" fmla="*/ 13 w 879"/>
              <a:gd name="T59" fmla="*/ 189 h 199"/>
              <a:gd name="T60" fmla="*/ 11 w 879"/>
              <a:gd name="T61" fmla="*/ 179 h 199"/>
              <a:gd name="T62" fmla="*/ 10 w 879"/>
              <a:gd name="T63" fmla="*/ 169 h 199"/>
              <a:gd name="T64" fmla="*/ 8 w 879"/>
              <a:gd name="T65" fmla="*/ 159 h 199"/>
              <a:gd name="T66" fmla="*/ 7 w 879"/>
              <a:gd name="T67" fmla="*/ 149 h 199"/>
              <a:gd name="T68" fmla="*/ 7 w 879"/>
              <a:gd name="T69" fmla="*/ 139 h 199"/>
              <a:gd name="T70" fmla="*/ 5 w 879"/>
              <a:gd name="T71" fmla="*/ 129 h 199"/>
              <a:gd name="T72" fmla="*/ 5 w 879"/>
              <a:gd name="T73" fmla="*/ 119 h 199"/>
              <a:gd name="T74" fmla="*/ 0 w 879"/>
              <a:gd name="T75" fmla="*/ 12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79" h="199">
                <a:moveTo>
                  <a:pt x="879" y="73"/>
                </a:moveTo>
                <a:lnTo>
                  <a:pt x="879" y="64"/>
                </a:lnTo>
                <a:lnTo>
                  <a:pt x="879" y="54"/>
                </a:lnTo>
                <a:lnTo>
                  <a:pt x="878" y="45"/>
                </a:lnTo>
                <a:lnTo>
                  <a:pt x="876" y="36"/>
                </a:lnTo>
                <a:lnTo>
                  <a:pt x="874" y="26"/>
                </a:lnTo>
                <a:lnTo>
                  <a:pt x="873" y="18"/>
                </a:lnTo>
                <a:lnTo>
                  <a:pt x="871" y="8"/>
                </a:lnTo>
                <a:lnTo>
                  <a:pt x="869" y="0"/>
                </a:lnTo>
                <a:lnTo>
                  <a:pt x="864" y="0"/>
                </a:lnTo>
                <a:lnTo>
                  <a:pt x="866" y="8"/>
                </a:lnTo>
                <a:lnTo>
                  <a:pt x="868" y="18"/>
                </a:lnTo>
                <a:lnTo>
                  <a:pt x="869" y="28"/>
                </a:lnTo>
                <a:lnTo>
                  <a:pt x="871" y="36"/>
                </a:lnTo>
                <a:lnTo>
                  <a:pt x="873" y="46"/>
                </a:lnTo>
                <a:lnTo>
                  <a:pt x="874" y="56"/>
                </a:lnTo>
                <a:lnTo>
                  <a:pt x="874" y="66"/>
                </a:lnTo>
                <a:lnTo>
                  <a:pt x="876" y="76"/>
                </a:lnTo>
                <a:lnTo>
                  <a:pt x="879" y="73"/>
                </a:lnTo>
                <a:close/>
                <a:moveTo>
                  <a:pt x="0" y="121"/>
                </a:moveTo>
                <a:lnTo>
                  <a:pt x="0" y="131"/>
                </a:lnTo>
                <a:lnTo>
                  <a:pt x="2" y="141"/>
                </a:lnTo>
                <a:lnTo>
                  <a:pt x="3" y="151"/>
                </a:lnTo>
                <a:lnTo>
                  <a:pt x="3" y="160"/>
                </a:lnTo>
                <a:lnTo>
                  <a:pt x="5" y="170"/>
                </a:lnTo>
                <a:lnTo>
                  <a:pt x="7" y="179"/>
                </a:lnTo>
                <a:lnTo>
                  <a:pt x="8" y="189"/>
                </a:lnTo>
                <a:lnTo>
                  <a:pt x="11" y="199"/>
                </a:lnTo>
                <a:lnTo>
                  <a:pt x="16" y="199"/>
                </a:lnTo>
                <a:lnTo>
                  <a:pt x="13" y="189"/>
                </a:lnTo>
                <a:lnTo>
                  <a:pt x="11" y="179"/>
                </a:lnTo>
                <a:lnTo>
                  <a:pt x="10" y="169"/>
                </a:lnTo>
                <a:lnTo>
                  <a:pt x="8" y="159"/>
                </a:lnTo>
                <a:lnTo>
                  <a:pt x="7" y="149"/>
                </a:lnTo>
                <a:lnTo>
                  <a:pt x="7" y="139"/>
                </a:lnTo>
                <a:lnTo>
                  <a:pt x="5" y="129"/>
                </a:lnTo>
                <a:lnTo>
                  <a:pt x="5" y="119"/>
                </a:lnTo>
                <a:lnTo>
                  <a:pt x="0" y="121"/>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35" name="Freeform 1040">
            <a:extLst>
              <a:ext uri="{FF2B5EF4-FFF2-40B4-BE49-F238E27FC236}">
                <a16:creationId xmlns:a16="http://schemas.microsoft.com/office/drawing/2014/main" id="{6F59741C-2D3F-D477-4D27-BED20F4839DF}"/>
              </a:ext>
            </a:extLst>
          </p:cNvPr>
          <p:cNvSpPr>
            <a:spLocks noEditPoints="1"/>
          </p:cNvSpPr>
          <p:nvPr/>
        </p:nvSpPr>
        <p:spPr bwMode="auto">
          <a:xfrm>
            <a:off x="2220913" y="2403475"/>
            <a:ext cx="1389063" cy="315913"/>
          </a:xfrm>
          <a:custGeom>
            <a:avLst/>
            <a:gdLst>
              <a:gd name="T0" fmla="*/ 875 w 875"/>
              <a:gd name="T1" fmla="*/ 74 h 199"/>
              <a:gd name="T2" fmla="*/ 875 w 875"/>
              <a:gd name="T3" fmla="*/ 64 h 199"/>
              <a:gd name="T4" fmla="*/ 873 w 875"/>
              <a:gd name="T5" fmla="*/ 54 h 199"/>
              <a:gd name="T6" fmla="*/ 873 w 875"/>
              <a:gd name="T7" fmla="*/ 46 h 199"/>
              <a:gd name="T8" fmla="*/ 871 w 875"/>
              <a:gd name="T9" fmla="*/ 36 h 199"/>
              <a:gd name="T10" fmla="*/ 870 w 875"/>
              <a:gd name="T11" fmla="*/ 26 h 199"/>
              <a:gd name="T12" fmla="*/ 868 w 875"/>
              <a:gd name="T13" fmla="*/ 18 h 199"/>
              <a:gd name="T14" fmla="*/ 866 w 875"/>
              <a:gd name="T15" fmla="*/ 8 h 199"/>
              <a:gd name="T16" fmla="*/ 865 w 875"/>
              <a:gd name="T17" fmla="*/ 0 h 199"/>
              <a:gd name="T18" fmla="*/ 860 w 875"/>
              <a:gd name="T19" fmla="*/ 0 h 199"/>
              <a:gd name="T20" fmla="*/ 861 w 875"/>
              <a:gd name="T21" fmla="*/ 10 h 199"/>
              <a:gd name="T22" fmla="*/ 863 w 875"/>
              <a:gd name="T23" fmla="*/ 18 h 199"/>
              <a:gd name="T24" fmla="*/ 865 w 875"/>
              <a:gd name="T25" fmla="*/ 28 h 199"/>
              <a:gd name="T26" fmla="*/ 866 w 875"/>
              <a:gd name="T27" fmla="*/ 38 h 199"/>
              <a:gd name="T28" fmla="*/ 868 w 875"/>
              <a:gd name="T29" fmla="*/ 48 h 199"/>
              <a:gd name="T30" fmla="*/ 868 w 875"/>
              <a:gd name="T31" fmla="*/ 56 h 199"/>
              <a:gd name="T32" fmla="*/ 870 w 875"/>
              <a:gd name="T33" fmla="*/ 66 h 199"/>
              <a:gd name="T34" fmla="*/ 870 w 875"/>
              <a:gd name="T35" fmla="*/ 76 h 199"/>
              <a:gd name="T36" fmla="*/ 875 w 875"/>
              <a:gd name="T37" fmla="*/ 74 h 199"/>
              <a:gd name="T38" fmla="*/ 0 w 875"/>
              <a:gd name="T39" fmla="*/ 119 h 199"/>
              <a:gd name="T40" fmla="*/ 0 w 875"/>
              <a:gd name="T41" fmla="*/ 131 h 199"/>
              <a:gd name="T42" fmla="*/ 0 w 875"/>
              <a:gd name="T43" fmla="*/ 141 h 199"/>
              <a:gd name="T44" fmla="*/ 2 w 875"/>
              <a:gd name="T45" fmla="*/ 151 h 199"/>
              <a:gd name="T46" fmla="*/ 4 w 875"/>
              <a:gd name="T47" fmla="*/ 160 h 199"/>
              <a:gd name="T48" fmla="*/ 5 w 875"/>
              <a:gd name="T49" fmla="*/ 169 h 199"/>
              <a:gd name="T50" fmla="*/ 7 w 875"/>
              <a:gd name="T51" fmla="*/ 179 h 199"/>
              <a:gd name="T52" fmla="*/ 8 w 875"/>
              <a:gd name="T53" fmla="*/ 189 h 199"/>
              <a:gd name="T54" fmla="*/ 10 w 875"/>
              <a:gd name="T55" fmla="*/ 199 h 199"/>
              <a:gd name="T56" fmla="*/ 15 w 875"/>
              <a:gd name="T57" fmla="*/ 199 h 199"/>
              <a:gd name="T58" fmla="*/ 13 w 875"/>
              <a:gd name="T59" fmla="*/ 189 h 199"/>
              <a:gd name="T60" fmla="*/ 12 w 875"/>
              <a:gd name="T61" fmla="*/ 179 h 199"/>
              <a:gd name="T62" fmla="*/ 10 w 875"/>
              <a:gd name="T63" fmla="*/ 169 h 199"/>
              <a:gd name="T64" fmla="*/ 8 w 875"/>
              <a:gd name="T65" fmla="*/ 159 h 199"/>
              <a:gd name="T66" fmla="*/ 7 w 875"/>
              <a:gd name="T67" fmla="*/ 149 h 199"/>
              <a:gd name="T68" fmla="*/ 5 w 875"/>
              <a:gd name="T69" fmla="*/ 139 h 199"/>
              <a:gd name="T70" fmla="*/ 5 w 875"/>
              <a:gd name="T71" fmla="*/ 127 h 199"/>
              <a:gd name="T72" fmla="*/ 4 w 875"/>
              <a:gd name="T73" fmla="*/ 117 h 199"/>
              <a:gd name="T74" fmla="*/ 0 w 875"/>
              <a:gd name="T75" fmla="*/ 11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75" h="199">
                <a:moveTo>
                  <a:pt x="875" y="74"/>
                </a:moveTo>
                <a:lnTo>
                  <a:pt x="875" y="64"/>
                </a:lnTo>
                <a:lnTo>
                  <a:pt x="873" y="54"/>
                </a:lnTo>
                <a:lnTo>
                  <a:pt x="873" y="46"/>
                </a:lnTo>
                <a:lnTo>
                  <a:pt x="871" y="36"/>
                </a:lnTo>
                <a:lnTo>
                  <a:pt x="870" y="26"/>
                </a:lnTo>
                <a:lnTo>
                  <a:pt x="868" y="18"/>
                </a:lnTo>
                <a:lnTo>
                  <a:pt x="866" y="8"/>
                </a:lnTo>
                <a:lnTo>
                  <a:pt x="865" y="0"/>
                </a:lnTo>
                <a:lnTo>
                  <a:pt x="860" y="0"/>
                </a:lnTo>
                <a:lnTo>
                  <a:pt x="861" y="10"/>
                </a:lnTo>
                <a:lnTo>
                  <a:pt x="863" y="18"/>
                </a:lnTo>
                <a:lnTo>
                  <a:pt x="865" y="28"/>
                </a:lnTo>
                <a:lnTo>
                  <a:pt x="866" y="38"/>
                </a:lnTo>
                <a:lnTo>
                  <a:pt x="868" y="48"/>
                </a:lnTo>
                <a:lnTo>
                  <a:pt x="868" y="56"/>
                </a:lnTo>
                <a:lnTo>
                  <a:pt x="870" y="66"/>
                </a:lnTo>
                <a:lnTo>
                  <a:pt x="870" y="76"/>
                </a:lnTo>
                <a:lnTo>
                  <a:pt x="875" y="74"/>
                </a:lnTo>
                <a:close/>
                <a:moveTo>
                  <a:pt x="0" y="119"/>
                </a:moveTo>
                <a:lnTo>
                  <a:pt x="0" y="131"/>
                </a:lnTo>
                <a:lnTo>
                  <a:pt x="0" y="141"/>
                </a:lnTo>
                <a:lnTo>
                  <a:pt x="2" y="151"/>
                </a:lnTo>
                <a:lnTo>
                  <a:pt x="4" y="160"/>
                </a:lnTo>
                <a:lnTo>
                  <a:pt x="5" y="169"/>
                </a:lnTo>
                <a:lnTo>
                  <a:pt x="7" y="179"/>
                </a:lnTo>
                <a:lnTo>
                  <a:pt x="8" y="189"/>
                </a:lnTo>
                <a:lnTo>
                  <a:pt x="10" y="199"/>
                </a:lnTo>
                <a:lnTo>
                  <a:pt x="15" y="199"/>
                </a:lnTo>
                <a:lnTo>
                  <a:pt x="13" y="189"/>
                </a:lnTo>
                <a:lnTo>
                  <a:pt x="12" y="179"/>
                </a:lnTo>
                <a:lnTo>
                  <a:pt x="10" y="169"/>
                </a:lnTo>
                <a:lnTo>
                  <a:pt x="8" y="159"/>
                </a:lnTo>
                <a:lnTo>
                  <a:pt x="7" y="149"/>
                </a:lnTo>
                <a:lnTo>
                  <a:pt x="5" y="139"/>
                </a:lnTo>
                <a:lnTo>
                  <a:pt x="5" y="127"/>
                </a:lnTo>
                <a:lnTo>
                  <a:pt x="4" y="117"/>
                </a:lnTo>
                <a:lnTo>
                  <a:pt x="0" y="119"/>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36" name="Freeform 1041">
            <a:extLst>
              <a:ext uri="{FF2B5EF4-FFF2-40B4-BE49-F238E27FC236}">
                <a16:creationId xmlns:a16="http://schemas.microsoft.com/office/drawing/2014/main" id="{BCF02DE2-719E-5A15-0AA4-A0563F970609}"/>
              </a:ext>
            </a:extLst>
          </p:cNvPr>
          <p:cNvSpPr>
            <a:spLocks noEditPoints="1"/>
          </p:cNvSpPr>
          <p:nvPr/>
        </p:nvSpPr>
        <p:spPr bwMode="auto">
          <a:xfrm>
            <a:off x="2224088" y="2403475"/>
            <a:ext cx="1382713" cy="315913"/>
          </a:xfrm>
          <a:custGeom>
            <a:avLst/>
            <a:gdLst>
              <a:gd name="T0" fmla="*/ 871 w 871"/>
              <a:gd name="T1" fmla="*/ 76 h 199"/>
              <a:gd name="T2" fmla="*/ 869 w 871"/>
              <a:gd name="T3" fmla="*/ 66 h 199"/>
              <a:gd name="T4" fmla="*/ 869 w 871"/>
              <a:gd name="T5" fmla="*/ 56 h 199"/>
              <a:gd name="T6" fmla="*/ 868 w 871"/>
              <a:gd name="T7" fmla="*/ 46 h 199"/>
              <a:gd name="T8" fmla="*/ 866 w 871"/>
              <a:gd name="T9" fmla="*/ 36 h 199"/>
              <a:gd name="T10" fmla="*/ 864 w 871"/>
              <a:gd name="T11" fmla="*/ 28 h 199"/>
              <a:gd name="T12" fmla="*/ 863 w 871"/>
              <a:gd name="T13" fmla="*/ 18 h 199"/>
              <a:gd name="T14" fmla="*/ 861 w 871"/>
              <a:gd name="T15" fmla="*/ 8 h 199"/>
              <a:gd name="T16" fmla="*/ 859 w 871"/>
              <a:gd name="T17" fmla="*/ 0 h 199"/>
              <a:gd name="T18" fmla="*/ 854 w 871"/>
              <a:gd name="T19" fmla="*/ 0 h 199"/>
              <a:gd name="T20" fmla="*/ 856 w 871"/>
              <a:gd name="T21" fmla="*/ 10 h 199"/>
              <a:gd name="T22" fmla="*/ 859 w 871"/>
              <a:gd name="T23" fmla="*/ 18 h 199"/>
              <a:gd name="T24" fmla="*/ 861 w 871"/>
              <a:gd name="T25" fmla="*/ 28 h 199"/>
              <a:gd name="T26" fmla="*/ 863 w 871"/>
              <a:gd name="T27" fmla="*/ 38 h 199"/>
              <a:gd name="T28" fmla="*/ 863 w 871"/>
              <a:gd name="T29" fmla="*/ 48 h 199"/>
              <a:gd name="T30" fmla="*/ 864 w 871"/>
              <a:gd name="T31" fmla="*/ 58 h 199"/>
              <a:gd name="T32" fmla="*/ 864 w 871"/>
              <a:gd name="T33" fmla="*/ 68 h 199"/>
              <a:gd name="T34" fmla="*/ 866 w 871"/>
              <a:gd name="T35" fmla="*/ 78 h 199"/>
              <a:gd name="T36" fmla="*/ 871 w 871"/>
              <a:gd name="T37" fmla="*/ 76 h 199"/>
              <a:gd name="T38" fmla="*/ 0 w 871"/>
              <a:gd name="T39" fmla="*/ 119 h 199"/>
              <a:gd name="T40" fmla="*/ 0 w 871"/>
              <a:gd name="T41" fmla="*/ 129 h 199"/>
              <a:gd name="T42" fmla="*/ 2 w 871"/>
              <a:gd name="T43" fmla="*/ 139 h 199"/>
              <a:gd name="T44" fmla="*/ 2 w 871"/>
              <a:gd name="T45" fmla="*/ 149 h 199"/>
              <a:gd name="T46" fmla="*/ 3 w 871"/>
              <a:gd name="T47" fmla="*/ 159 h 199"/>
              <a:gd name="T48" fmla="*/ 5 w 871"/>
              <a:gd name="T49" fmla="*/ 169 h 199"/>
              <a:gd name="T50" fmla="*/ 6 w 871"/>
              <a:gd name="T51" fmla="*/ 179 h 199"/>
              <a:gd name="T52" fmla="*/ 8 w 871"/>
              <a:gd name="T53" fmla="*/ 189 h 199"/>
              <a:gd name="T54" fmla="*/ 11 w 871"/>
              <a:gd name="T55" fmla="*/ 199 h 199"/>
              <a:gd name="T56" fmla="*/ 16 w 871"/>
              <a:gd name="T57" fmla="*/ 199 h 199"/>
              <a:gd name="T58" fmla="*/ 13 w 871"/>
              <a:gd name="T59" fmla="*/ 189 h 199"/>
              <a:gd name="T60" fmla="*/ 11 w 871"/>
              <a:gd name="T61" fmla="*/ 179 h 199"/>
              <a:gd name="T62" fmla="*/ 10 w 871"/>
              <a:gd name="T63" fmla="*/ 169 h 199"/>
              <a:gd name="T64" fmla="*/ 8 w 871"/>
              <a:gd name="T65" fmla="*/ 159 h 199"/>
              <a:gd name="T66" fmla="*/ 6 w 871"/>
              <a:gd name="T67" fmla="*/ 147 h 199"/>
              <a:gd name="T68" fmla="*/ 6 w 871"/>
              <a:gd name="T69" fmla="*/ 137 h 199"/>
              <a:gd name="T70" fmla="*/ 5 w 871"/>
              <a:gd name="T71" fmla="*/ 127 h 199"/>
              <a:gd name="T72" fmla="*/ 5 w 871"/>
              <a:gd name="T73" fmla="*/ 116 h 199"/>
              <a:gd name="T74" fmla="*/ 0 w 871"/>
              <a:gd name="T75" fmla="*/ 11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71" h="199">
                <a:moveTo>
                  <a:pt x="871" y="76"/>
                </a:moveTo>
                <a:lnTo>
                  <a:pt x="869" y="66"/>
                </a:lnTo>
                <a:lnTo>
                  <a:pt x="869" y="56"/>
                </a:lnTo>
                <a:lnTo>
                  <a:pt x="868" y="46"/>
                </a:lnTo>
                <a:lnTo>
                  <a:pt x="866" y="36"/>
                </a:lnTo>
                <a:lnTo>
                  <a:pt x="864" y="28"/>
                </a:lnTo>
                <a:lnTo>
                  <a:pt x="863" y="18"/>
                </a:lnTo>
                <a:lnTo>
                  <a:pt x="861" y="8"/>
                </a:lnTo>
                <a:lnTo>
                  <a:pt x="859" y="0"/>
                </a:lnTo>
                <a:lnTo>
                  <a:pt x="854" y="0"/>
                </a:lnTo>
                <a:lnTo>
                  <a:pt x="856" y="10"/>
                </a:lnTo>
                <a:lnTo>
                  <a:pt x="859" y="18"/>
                </a:lnTo>
                <a:lnTo>
                  <a:pt x="861" y="28"/>
                </a:lnTo>
                <a:lnTo>
                  <a:pt x="863" y="38"/>
                </a:lnTo>
                <a:lnTo>
                  <a:pt x="863" y="48"/>
                </a:lnTo>
                <a:lnTo>
                  <a:pt x="864" y="58"/>
                </a:lnTo>
                <a:lnTo>
                  <a:pt x="864" y="68"/>
                </a:lnTo>
                <a:lnTo>
                  <a:pt x="866" y="78"/>
                </a:lnTo>
                <a:lnTo>
                  <a:pt x="871" y="76"/>
                </a:lnTo>
                <a:close/>
                <a:moveTo>
                  <a:pt x="0" y="119"/>
                </a:moveTo>
                <a:lnTo>
                  <a:pt x="0" y="129"/>
                </a:lnTo>
                <a:lnTo>
                  <a:pt x="2" y="139"/>
                </a:lnTo>
                <a:lnTo>
                  <a:pt x="2" y="149"/>
                </a:lnTo>
                <a:lnTo>
                  <a:pt x="3" y="159"/>
                </a:lnTo>
                <a:lnTo>
                  <a:pt x="5" y="169"/>
                </a:lnTo>
                <a:lnTo>
                  <a:pt x="6" y="179"/>
                </a:lnTo>
                <a:lnTo>
                  <a:pt x="8" y="189"/>
                </a:lnTo>
                <a:lnTo>
                  <a:pt x="11" y="199"/>
                </a:lnTo>
                <a:lnTo>
                  <a:pt x="16" y="199"/>
                </a:lnTo>
                <a:lnTo>
                  <a:pt x="13" y="189"/>
                </a:lnTo>
                <a:lnTo>
                  <a:pt x="11" y="179"/>
                </a:lnTo>
                <a:lnTo>
                  <a:pt x="10" y="169"/>
                </a:lnTo>
                <a:lnTo>
                  <a:pt x="8" y="159"/>
                </a:lnTo>
                <a:lnTo>
                  <a:pt x="6" y="147"/>
                </a:lnTo>
                <a:lnTo>
                  <a:pt x="6" y="137"/>
                </a:lnTo>
                <a:lnTo>
                  <a:pt x="5" y="127"/>
                </a:lnTo>
                <a:lnTo>
                  <a:pt x="5" y="116"/>
                </a:lnTo>
                <a:lnTo>
                  <a:pt x="0" y="119"/>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37" name="Freeform 1042">
            <a:extLst>
              <a:ext uri="{FF2B5EF4-FFF2-40B4-BE49-F238E27FC236}">
                <a16:creationId xmlns:a16="http://schemas.microsoft.com/office/drawing/2014/main" id="{F7D9A259-BBA4-681A-3604-A59EEF1CABE8}"/>
              </a:ext>
            </a:extLst>
          </p:cNvPr>
          <p:cNvSpPr>
            <a:spLocks noEditPoints="1"/>
          </p:cNvSpPr>
          <p:nvPr/>
        </p:nvSpPr>
        <p:spPr bwMode="auto">
          <a:xfrm>
            <a:off x="2227263" y="2403475"/>
            <a:ext cx="1374775" cy="315913"/>
          </a:xfrm>
          <a:custGeom>
            <a:avLst/>
            <a:gdLst>
              <a:gd name="T0" fmla="*/ 866 w 866"/>
              <a:gd name="T1" fmla="*/ 76 h 199"/>
              <a:gd name="T2" fmla="*/ 866 w 866"/>
              <a:gd name="T3" fmla="*/ 66 h 199"/>
              <a:gd name="T4" fmla="*/ 864 w 866"/>
              <a:gd name="T5" fmla="*/ 56 h 199"/>
              <a:gd name="T6" fmla="*/ 864 w 866"/>
              <a:gd name="T7" fmla="*/ 48 h 199"/>
              <a:gd name="T8" fmla="*/ 862 w 866"/>
              <a:gd name="T9" fmla="*/ 38 h 199"/>
              <a:gd name="T10" fmla="*/ 861 w 866"/>
              <a:gd name="T11" fmla="*/ 28 h 199"/>
              <a:gd name="T12" fmla="*/ 859 w 866"/>
              <a:gd name="T13" fmla="*/ 18 h 199"/>
              <a:gd name="T14" fmla="*/ 857 w 866"/>
              <a:gd name="T15" fmla="*/ 10 h 199"/>
              <a:gd name="T16" fmla="*/ 856 w 866"/>
              <a:gd name="T17" fmla="*/ 0 h 199"/>
              <a:gd name="T18" fmla="*/ 851 w 866"/>
              <a:gd name="T19" fmla="*/ 0 h 199"/>
              <a:gd name="T20" fmla="*/ 852 w 866"/>
              <a:gd name="T21" fmla="*/ 10 h 199"/>
              <a:gd name="T22" fmla="*/ 854 w 866"/>
              <a:gd name="T23" fmla="*/ 20 h 199"/>
              <a:gd name="T24" fmla="*/ 856 w 866"/>
              <a:gd name="T25" fmla="*/ 28 h 199"/>
              <a:gd name="T26" fmla="*/ 857 w 866"/>
              <a:gd name="T27" fmla="*/ 38 h 199"/>
              <a:gd name="T28" fmla="*/ 859 w 866"/>
              <a:gd name="T29" fmla="*/ 48 h 199"/>
              <a:gd name="T30" fmla="*/ 861 w 866"/>
              <a:gd name="T31" fmla="*/ 58 h 199"/>
              <a:gd name="T32" fmla="*/ 861 w 866"/>
              <a:gd name="T33" fmla="*/ 68 h 199"/>
              <a:gd name="T34" fmla="*/ 861 w 866"/>
              <a:gd name="T35" fmla="*/ 78 h 199"/>
              <a:gd name="T36" fmla="*/ 866 w 866"/>
              <a:gd name="T37" fmla="*/ 76 h 199"/>
              <a:gd name="T38" fmla="*/ 0 w 866"/>
              <a:gd name="T39" fmla="*/ 117 h 199"/>
              <a:gd name="T40" fmla="*/ 1 w 866"/>
              <a:gd name="T41" fmla="*/ 127 h 199"/>
              <a:gd name="T42" fmla="*/ 1 w 866"/>
              <a:gd name="T43" fmla="*/ 139 h 199"/>
              <a:gd name="T44" fmla="*/ 3 w 866"/>
              <a:gd name="T45" fmla="*/ 149 h 199"/>
              <a:gd name="T46" fmla="*/ 4 w 866"/>
              <a:gd name="T47" fmla="*/ 159 h 199"/>
              <a:gd name="T48" fmla="*/ 6 w 866"/>
              <a:gd name="T49" fmla="*/ 169 h 199"/>
              <a:gd name="T50" fmla="*/ 8 w 866"/>
              <a:gd name="T51" fmla="*/ 179 h 199"/>
              <a:gd name="T52" fmla="*/ 9 w 866"/>
              <a:gd name="T53" fmla="*/ 189 h 199"/>
              <a:gd name="T54" fmla="*/ 11 w 866"/>
              <a:gd name="T55" fmla="*/ 199 h 199"/>
              <a:gd name="T56" fmla="*/ 16 w 866"/>
              <a:gd name="T57" fmla="*/ 199 h 199"/>
              <a:gd name="T58" fmla="*/ 14 w 866"/>
              <a:gd name="T59" fmla="*/ 189 h 199"/>
              <a:gd name="T60" fmla="*/ 11 w 866"/>
              <a:gd name="T61" fmla="*/ 179 h 199"/>
              <a:gd name="T62" fmla="*/ 9 w 866"/>
              <a:gd name="T63" fmla="*/ 167 h 199"/>
              <a:gd name="T64" fmla="*/ 8 w 866"/>
              <a:gd name="T65" fmla="*/ 157 h 199"/>
              <a:gd name="T66" fmla="*/ 8 w 866"/>
              <a:gd name="T67" fmla="*/ 147 h 199"/>
              <a:gd name="T68" fmla="*/ 6 w 866"/>
              <a:gd name="T69" fmla="*/ 137 h 199"/>
              <a:gd name="T70" fmla="*/ 6 w 866"/>
              <a:gd name="T71" fmla="*/ 126 h 199"/>
              <a:gd name="T72" fmla="*/ 4 w 866"/>
              <a:gd name="T73" fmla="*/ 116 h 199"/>
              <a:gd name="T74" fmla="*/ 0 w 866"/>
              <a:gd name="T75" fmla="*/ 11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66" h="199">
                <a:moveTo>
                  <a:pt x="866" y="76"/>
                </a:moveTo>
                <a:lnTo>
                  <a:pt x="866" y="66"/>
                </a:lnTo>
                <a:lnTo>
                  <a:pt x="864" y="56"/>
                </a:lnTo>
                <a:lnTo>
                  <a:pt x="864" y="48"/>
                </a:lnTo>
                <a:lnTo>
                  <a:pt x="862" y="38"/>
                </a:lnTo>
                <a:lnTo>
                  <a:pt x="861" y="28"/>
                </a:lnTo>
                <a:lnTo>
                  <a:pt x="859" y="18"/>
                </a:lnTo>
                <a:lnTo>
                  <a:pt x="857" y="10"/>
                </a:lnTo>
                <a:lnTo>
                  <a:pt x="856" y="0"/>
                </a:lnTo>
                <a:lnTo>
                  <a:pt x="851" y="0"/>
                </a:lnTo>
                <a:lnTo>
                  <a:pt x="852" y="10"/>
                </a:lnTo>
                <a:lnTo>
                  <a:pt x="854" y="20"/>
                </a:lnTo>
                <a:lnTo>
                  <a:pt x="856" y="28"/>
                </a:lnTo>
                <a:lnTo>
                  <a:pt x="857" y="38"/>
                </a:lnTo>
                <a:lnTo>
                  <a:pt x="859" y="48"/>
                </a:lnTo>
                <a:lnTo>
                  <a:pt x="861" y="58"/>
                </a:lnTo>
                <a:lnTo>
                  <a:pt x="861" y="68"/>
                </a:lnTo>
                <a:lnTo>
                  <a:pt x="861" y="78"/>
                </a:lnTo>
                <a:lnTo>
                  <a:pt x="866" y="76"/>
                </a:lnTo>
                <a:close/>
                <a:moveTo>
                  <a:pt x="0" y="117"/>
                </a:moveTo>
                <a:lnTo>
                  <a:pt x="1" y="127"/>
                </a:lnTo>
                <a:lnTo>
                  <a:pt x="1" y="139"/>
                </a:lnTo>
                <a:lnTo>
                  <a:pt x="3" y="149"/>
                </a:lnTo>
                <a:lnTo>
                  <a:pt x="4" y="159"/>
                </a:lnTo>
                <a:lnTo>
                  <a:pt x="6" y="169"/>
                </a:lnTo>
                <a:lnTo>
                  <a:pt x="8" y="179"/>
                </a:lnTo>
                <a:lnTo>
                  <a:pt x="9" y="189"/>
                </a:lnTo>
                <a:lnTo>
                  <a:pt x="11" y="199"/>
                </a:lnTo>
                <a:lnTo>
                  <a:pt x="16" y="199"/>
                </a:lnTo>
                <a:lnTo>
                  <a:pt x="14" y="189"/>
                </a:lnTo>
                <a:lnTo>
                  <a:pt x="11" y="179"/>
                </a:lnTo>
                <a:lnTo>
                  <a:pt x="9" y="167"/>
                </a:lnTo>
                <a:lnTo>
                  <a:pt x="8" y="157"/>
                </a:lnTo>
                <a:lnTo>
                  <a:pt x="8" y="147"/>
                </a:lnTo>
                <a:lnTo>
                  <a:pt x="6" y="137"/>
                </a:lnTo>
                <a:lnTo>
                  <a:pt x="6" y="126"/>
                </a:lnTo>
                <a:lnTo>
                  <a:pt x="4" y="116"/>
                </a:lnTo>
                <a:lnTo>
                  <a:pt x="0" y="117"/>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38" name="Freeform 1043">
            <a:extLst>
              <a:ext uri="{FF2B5EF4-FFF2-40B4-BE49-F238E27FC236}">
                <a16:creationId xmlns:a16="http://schemas.microsoft.com/office/drawing/2014/main" id="{DFCD160F-3BD1-4DB6-3A97-B68693FFFB9D}"/>
              </a:ext>
            </a:extLst>
          </p:cNvPr>
          <p:cNvSpPr>
            <a:spLocks noEditPoints="1"/>
          </p:cNvSpPr>
          <p:nvPr/>
        </p:nvSpPr>
        <p:spPr bwMode="auto">
          <a:xfrm>
            <a:off x="2232025" y="2403475"/>
            <a:ext cx="1366838" cy="315913"/>
          </a:xfrm>
          <a:custGeom>
            <a:avLst/>
            <a:gdLst>
              <a:gd name="T0" fmla="*/ 861 w 861"/>
              <a:gd name="T1" fmla="*/ 78 h 199"/>
              <a:gd name="T2" fmla="*/ 859 w 861"/>
              <a:gd name="T3" fmla="*/ 68 h 199"/>
              <a:gd name="T4" fmla="*/ 859 w 861"/>
              <a:gd name="T5" fmla="*/ 58 h 199"/>
              <a:gd name="T6" fmla="*/ 858 w 861"/>
              <a:gd name="T7" fmla="*/ 48 h 199"/>
              <a:gd name="T8" fmla="*/ 858 w 861"/>
              <a:gd name="T9" fmla="*/ 38 h 199"/>
              <a:gd name="T10" fmla="*/ 856 w 861"/>
              <a:gd name="T11" fmla="*/ 28 h 199"/>
              <a:gd name="T12" fmla="*/ 854 w 861"/>
              <a:gd name="T13" fmla="*/ 18 h 199"/>
              <a:gd name="T14" fmla="*/ 851 w 861"/>
              <a:gd name="T15" fmla="*/ 10 h 199"/>
              <a:gd name="T16" fmla="*/ 849 w 861"/>
              <a:gd name="T17" fmla="*/ 0 h 199"/>
              <a:gd name="T18" fmla="*/ 844 w 861"/>
              <a:gd name="T19" fmla="*/ 0 h 199"/>
              <a:gd name="T20" fmla="*/ 848 w 861"/>
              <a:gd name="T21" fmla="*/ 10 h 199"/>
              <a:gd name="T22" fmla="*/ 849 w 861"/>
              <a:gd name="T23" fmla="*/ 20 h 199"/>
              <a:gd name="T24" fmla="*/ 851 w 861"/>
              <a:gd name="T25" fmla="*/ 30 h 199"/>
              <a:gd name="T26" fmla="*/ 853 w 861"/>
              <a:gd name="T27" fmla="*/ 40 h 199"/>
              <a:gd name="T28" fmla="*/ 853 w 861"/>
              <a:gd name="T29" fmla="*/ 50 h 199"/>
              <a:gd name="T30" fmla="*/ 854 w 861"/>
              <a:gd name="T31" fmla="*/ 59 h 199"/>
              <a:gd name="T32" fmla="*/ 856 w 861"/>
              <a:gd name="T33" fmla="*/ 69 h 199"/>
              <a:gd name="T34" fmla="*/ 856 w 861"/>
              <a:gd name="T35" fmla="*/ 79 h 199"/>
              <a:gd name="T36" fmla="*/ 861 w 861"/>
              <a:gd name="T37" fmla="*/ 78 h 199"/>
              <a:gd name="T38" fmla="*/ 0 w 861"/>
              <a:gd name="T39" fmla="*/ 116 h 199"/>
              <a:gd name="T40" fmla="*/ 0 w 861"/>
              <a:gd name="T41" fmla="*/ 127 h 199"/>
              <a:gd name="T42" fmla="*/ 1 w 861"/>
              <a:gd name="T43" fmla="*/ 137 h 199"/>
              <a:gd name="T44" fmla="*/ 1 w 861"/>
              <a:gd name="T45" fmla="*/ 147 h 199"/>
              <a:gd name="T46" fmla="*/ 3 w 861"/>
              <a:gd name="T47" fmla="*/ 159 h 199"/>
              <a:gd name="T48" fmla="*/ 5 w 861"/>
              <a:gd name="T49" fmla="*/ 169 h 199"/>
              <a:gd name="T50" fmla="*/ 6 w 861"/>
              <a:gd name="T51" fmla="*/ 179 h 199"/>
              <a:gd name="T52" fmla="*/ 8 w 861"/>
              <a:gd name="T53" fmla="*/ 189 h 199"/>
              <a:gd name="T54" fmla="*/ 11 w 861"/>
              <a:gd name="T55" fmla="*/ 199 h 199"/>
              <a:gd name="T56" fmla="*/ 16 w 861"/>
              <a:gd name="T57" fmla="*/ 199 h 199"/>
              <a:gd name="T58" fmla="*/ 13 w 861"/>
              <a:gd name="T59" fmla="*/ 189 h 199"/>
              <a:gd name="T60" fmla="*/ 11 w 861"/>
              <a:gd name="T61" fmla="*/ 179 h 199"/>
              <a:gd name="T62" fmla="*/ 10 w 861"/>
              <a:gd name="T63" fmla="*/ 167 h 199"/>
              <a:gd name="T64" fmla="*/ 8 w 861"/>
              <a:gd name="T65" fmla="*/ 157 h 199"/>
              <a:gd name="T66" fmla="*/ 6 w 861"/>
              <a:gd name="T67" fmla="*/ 147 h 199"/>
              <a:gd name="T68" fmla="*/ 5 w 861"/>
              <a:gd name="T69" fmla="*/ 136 h 199"/>
              <a:gd name="T70" fmla="*/ 5 w 861"/>
              <a:gd name="T71" fmla="*/ 126 h 199"/>
              <a:gd name="T72" fmla="*/ 5 w 861"/>
              <a:gd name="T73" fmla="*/ 114 h 199"/>
              <a:gd name="T74" fmla="*/ 0 w 861"/>
              <a:gd name="T75" fmla="*/ 11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61" h="199">
                <a:moveTo>
                  <a:pt x="861" y="78"/>
                </a:moveTo>
                <a:lnTo>
                  <a:pt x="859" y="68"/>
                </a:lnTo>
                <a:lnTo>
                  <a:pt x="859" y="58"/>
                </a:lnTo>
                <a:lnTo>
                  <a:pt x="858" y="48"/>
                </a:lnTo>
                <a:lnTo>
                  <a:pt x="858" y="38"/>
                </a:lnTo>
                <a:lnTo>
                  <a:pt x="856" y="28"/>
                </a:lnTo>
                <a:lnTo>
                  <a:pt x="854" y="18"/>
                </a:lnTo>
                <a:lnTo>
                  <a:pt x="851" y="10"/>
                </a:lnTo>
                <a:lnTo>
                  <a:pt x="849" y="0"/>
                </a:lnTo>
                <a:lnTo>
                  <a:pt x="844" y="0"/>
                </a:lnTo>
                <a:lnTo>
                  <a:pt x="848" y="10"/>
                </a:lnTo>
                <a:lnTo>
                  <a:pt x="849" y="20"/>
                </a:lnTo>
                <a:lnTo>
                  <a:pt x="851" y="30"/>
                </a:lnTo>
                <a:lnTo>
                  <a:pt x="853" y="40"/>
                </a:lnTo>
                <a:lnTo>
                  <a:pt x="853" y="50"/>
                </a:lnTo>
                <a:lnTo>
                  <a:pt x="854" y="59"/>
                </a:lnTo>
                <a:lnTo>
                  <a:pt x="856" y="69"/>
                </a:lnTo>
                <a:lnTo>
                  <a:pt x="856" y="79"/>
                </a:lnTo>
                <a:lnTo>
                  <a:pt x="861" y="78"/>
                </a:lnTo>
                <a:close/>
                <a:moveTo>
                  <a:pt x="0" y="116"/>
                </a:moveTo>
                <a:lnTo>
                  <a:pt x="0" y="127"/>
                </a:lnTo>
                <a:lnTo>
                  <a:pt x="1" y="137"/>
                </a:lnTo>
                <a:lnTo>
                  <a:pt x="1" y="147"/>
                </a:lnTo>
                <a:lnTo>
                  <a:pt x="3" y="159"/>
                </a:lnTo>
                <a:lnTo>
                  <a:pt x="5" y="169"/>
                </a:lnTo>
                <a:lnTo>
                  <a:pt x="6" y="179"/>
                </a:lnTo>
                <a:lnTo>
                  <a:pt x="8" y="189"/>
                </a:lnTo>
                <a:lnTo>
                  <a:pt x="11" y="199"/>
                </a:lnTo>
                <a:lnTo>
                  <a:pt x="16" y="199"/>
                </a:lnTo>
                <a:lnTo>
                  <a:pt x="13" y="189"/>
                </a:lnTo>
                <a:lnTo>
                  <a:pt x="11" y="179"/>
                </a:lnTo>
                <a:lnTo>
                  <a:pt x="10" y="167"/>
                </a:lnTo>
                <a:lnTo>
                  <a:pt x="8" y="157"/>
                </a:lnTo>
                <a:lnTo>
                  <a:pt x="6" y="147"/>
                </a:lnTo>
                <a:lnTo>
                  <a:pt x="5" y="136"/>
                </a:lnTo>
                <a:lnTo>
                  <a:pt x="5" y="126"/>
                </a:lnTo>
                <a:lnTo>
                  <a:pt x="5" y="114"/>
                </a:lnTo>
                <a:lnTo>
                  <a:pt x="0" y="116"/>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39" name="Freeform 1044">
            <a:extLst>
              <a:ext uri="{FF2B5EF4-FFF2-40B4-BE49-F238E27FC236}">
                <a16:creationId xmlns:a16="http://schemas.microsoft.com/office/drawing/2014/main" id="{E6A86CBF-982B-A1E8-B037-8B474DEDF98D}"/>
              </a:ext>
            </a:extLst>
          </p:cNvPr>
          <p:cNvSpPr>
            <a:spLocks noEditPoints="1"/>
          </p:cNvSpPr>
          <p:nvPr/>
        </p:nvSpPr>
        <p:spPr bwMode="auto">
          <a:xfrm>
            <a:off x="2233613" y="2403475"/>
            <a:ext cx="1360488" cy="315913"/>
          </a:xfrm>
          <a:custGeom>
            <a:avLst/>
            <a:gdLst>
              <a:gd name="T0" fmla="*/ 857 w 857"/>
              <a:gd name="T1" fmla="*/ 78 h 199"/>
              <a:gd name="T2" fmla="*/ 857 w 857"/>
              <a:gd name="T3" fmla="*/ 68 h 199"/>
              <a:gd name="T4" fmla="*/ 857 w 857"/>
              <a:gd name="T5" fmla="*/ 58 h 199"/>
              <a:gd name="T6" fmla="*/ 855 w 857"/>
              <a:gd name="T7" fmla="*/ 48 h 199"/>
              <a:gd name="T8" fmla="*/ 853 w 857"/>
              <a:gd name="T9" fmla="*/ 38 h 199"/>
              <a:gd name="T10" fmla="*/ 852 w 857"/>
              <a:gd name="T11" fmla="*/ 28 h 199"/>
              <a:gd name="T12" fmla="*/ 850 w 857"/>
              <a:gd name="T13" fmla="*/ 20 h 199"/>
              <a:gd name="T14" fmla="*/ 848 w 857"/>
              <a:gd name="T15" fmla="*/ 10 h 199"/>
              <a:gd name="T16" fmla="*/ 847 w 857"/>
              <a:gd name="T17" fmla="*/ 0 h 199"/>
              <a:gd name="T18" fmla="*/ 842 w 857"/>
              <a:gd name="T19" fmla="*/ 0 h 199"/>
              <a:gd name="T20" fmla="*/ 843 w 857"/>
              <a:gd name="T21" fmla="*/ 10 h 199"/>
              <a:gd name="T22" fmla="*/ 845 w 857"/>
              <a:gd name="T23" fmla="*/ 20 h 199"/>
              <a:gd name="T24" fmla="*/ 847 w 857"/>
              <a:gd name="T25" fmla="*/ 30 h 199"/>
              <a:gd name="T26" fmla="*/ 848 w 857"/>
              <a:gd name="T27" fmla="*/ 40 h 199"/>
              <a:gd name="T28" fmla="*/ 850 w 857"/>
              <a:gd name="T29" fmla="*/ 50 h 199"/>
              <a:gd name="T30" fmla="*/ 852 w 857"/>
              <a:gd name="T31" fmla="*/ 59 h 199"/>
              <a:gd name="T32" fmla="*/ 852 w 857"/>
              <a:gd name="T33" fmla="*/ 69 h 199"/>
              <a:gd name="T34" fmla="*/ 853 w 857"/>
              <a:gd name="T35" fmla="*/ 81 h 199"/>
              <a:gd name="T36" fmla="*/ 857 w 857"/>
              <a:gd name="T37" fmla="*/ 78 h 199"/>
              <a:gd name="T38" fmla="*/ 0 w 857"/>
              <a:gd name="T39" fmla="*/ 116 h 199"/>
              <a:gd name="T40" fmla="*/ 2 w 857"/>
              <a:gd name="T41" fmla="*/ 126 h 199"/>
              <a:gd name="T42" fmla="*/ 2 w 857"/>
              <a:gd name="T43" fmla="*/ 137 h 199"/>
              <a:gd name="T44" fmla="*/ 4 w 857"/>
              <a:gd name="T45" fmla="*/ 147 h 199"/>
              <a:gd name="T46" fmla="*/ 4 w 857"/>
              <a:gd name="T47" fmla="*/ 157 h 199"/>
              <a:gd name="T48" fmla="*/ 5 w 857"/>
              <a:gd name="T49" fmla="*/ 167 h 199"/>
              <a:gd name="T50" fmla="*/ 7 w 857"/>
              <a:gd name="T51" fmla="*/ 179 h 199"/>
              <a:gd name="T52" fmla="*/ 10 w 857"/>
              <a:gd name="T53" fmla="*/ 189 h 199"/>
              <a:gd name="T54" fmla="*/ 12 w 857"/>
              <a:gd name="T55" fmla="*/ 199 h 199"/>
              <a:gd name="T56" fmla="*/ 17 w 857"/>
              <a:gd name="T57" fmla="*/ 199 h 199"/>
              <a:gd name="T58" fmla="*/ 15 w 857"/>
              <a:gd name="T59" fmla="*/ 189 h 199"/>
              <a:gd name="T60" fmla="*/ 12 w 857"/>
              <a:gd name="T61" fmla="*/ 177 h 199"/>
              <a:gd name="T62" fmla="*/ 10 w 857"/>
              <a:gd name="T63" fmla="*/ 167 h 199"/>
              <a:gd name="T64" fmla="*/ 9 w 857"/>
              <a:gd name="T65" fmla="*/ 157 h 199"/>
              <a:gd name="T66" fmla="*/ 7 w 857"/>
              <a:gd name="T67" fmla="*/ 146 h 199"/>
              <a:gd name="T68" fmla="*/ 7 w 857"/>
              <a:gd name="T69" fmla="*/ 136 h 199"/>
              <a:gd name="T70" fmla="*/ 5 w 857"/>
              <a:gd name="T71" fmla="*/ 124 h 199"/>
              <a:gd name="T72" fmla="*/ 5 w 857"/>
              <a:gd name="T73" fmla="*/ 112 h 199"/>
              <a:gd name="T74" fmla="*/ 0 w 857"/>
              <a:gd name="T75" fmla="*/ 11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57" h="199">
                <a:moveTo>
                  <a:pt x="857" y="78"/>
                </a:moveTo>
                <a:lnTo>
                  <a:pt x="857" y="68"/>
                </a:lnTo>
                <a:lnTo>
                  <a:pt x="857" y="58"/>
                </a:lnTo>
                <a:lnTo>
                  <a:pt x="855" y="48"/>
                </a:lnTo>
                <a:lnTo>
                  <a:pt x="853" y="38"/>
                </a:lnTo>
                <a:lnTo>
                  <a:pt x="852" y="28"/>
                </a:lnTo>
                <a:lnTo>
                  <a:pt x="850" y="20"/>
                </a:lnTo>
                <a:lnTo>
                  <a:pt x="848" y="10"/>
                </a:lnTo>
                <a:lnTo>
                  <a:pt x="847" y="0"/>
                </a:lnTo>
                <a:lnTo>
                  <a:pt x="842" y="0"/>
                </a:lnTo>
                <a:lnTo>
                  <a:pt x="843" y="10"/>
                </a:lnTo>
                <a:lnTo>
                  <a:pt x="845" y="20"/>
                </a:lnTo>
                <a:lnTo>
                  <a:pt x="847" y="30"/>
                </a:lnTo>
                <a:lnTo>
                  <a:pt x="848" y="40"/>
                </a:lnTo>
                <a:lnTo>
                  <a:pt x="850" y="50"/>
                </a:lnTo>
                <a:lnTo>
                  <a:pt x="852" y="59"/>
                </a:lnTo>
                <a:lnTo>
                  <a:pt x="852" y="69"/>
                </a:lnTo>
                <a:lnTo>
                  <a:pt x="853" y="81"/>
                </a:lnTo>
                <a:lnTo>
                  <a:pt x="857" y="78"/>
                </a:lnTo>
                <a:close/>
                <a:moveTo>
                  <a:pt x="0" y="116"/>
                </a:moveTo>
                <a:lnTo>
                  <a:pt x="2" y="126"/>
                </a:lnTo>
                <a:lnTo>
                  <a:pt x="2" y="137"/>
                </a:lnTo>
                <a:lnTo>
                  <a:pt x="4" y="147"/>
                </a:lnTo>
                <a:lnTo>
                  <a:pt x="4" y="157"/>
                </a:lnTo>
                <a:lnTo>
                  <a:pt x="5" y="167"/>
                </a:lnTo>
                <a:lnTo>
                  <a:pt x="7" y="179"/>
                </a:lnTo>
                <a:lnTo>
                  <a:pt x="10" y="189"/>
                </a:lnTo>
                <a:lnTo>
                  <a:pt x="12" y="199"/>
                </a:lnTo>
                <a:lnTo>
                  <a:pt x="17" y="199"/>
                </a:lnTo>
                <a:lnTo>
                  <a:pt x="15" y="189"/>
                </a:lnTo>
                <a:lnTo>
                  <a:pt x="12" y="177"/>
                </a:lnTo>
                <a:lnTo>
                  <a:pt x="10" y="167"/>
                </a:lnTo>
                <a:lnTo>
                  <a:pt x="9" y="157"/>
                </a:lnTo>
                <a:lnTo>
                  <a:pt x="7" y="146"/>
                </a:lnTo>
                <a:lnTo>
                  <a:pt x="7" y="136"/>
                </a:lnTo>
                <a:lnTo>
                  <a:pt x="5" y="124"/>
                </a:lnTo>
                <a:lnTo>
                  <a:pt x="5" y="112"/>
                </a:lnTo>
                <a:lnTo>
                  <a:pt x="0" y="116"/>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40" name="Freeform 1045">
            <a:extLst>
              <a:ext uri="{FF2B5EF4-FFF2-40B4-BE49-F238E27FC236}">
                <a16:creationId xmlns:a16="http://schemas.microsoft.com/office/drawing/2014/main" id="{A1339FD1-DDE5-B693-C799-1382ACB3AF42}"/>
              </a:ext>
            </a:extLst>
          </p:cNvPr>
          <p:cNvSpPr>
            <a:spLocks noEditPoints="1"/>
          </p:cNvSpPr>
          <p:nvPr/>
        </p:nvSpPr>
        <p:spPr bwMode="auto">
          <a:xfrm>
            <a:off x="2239963" y="2403475"/>
            <a:ext cx="1350963" cy="315913"/>
          </a:xfrm>
          <a:custGeom>
            <a:avLst/>
            <a:gdLst>
              <a:gd name="T0" fmla="*/ 851 w 851"/>
              <a:gd name="T1" fmla="*/ 79 h 199"/>
              <a:gd name="T2" fmla="*/ 851 w 851"/>
              <a:gd name="T3" fmla="*/ 69 h 199"/>
              <a:gd name="T4" fmla="*/ 849 w 851"/>
              <a:gd name="T5" fmla="*/ 59 h 199"/>
              <a:gd name="T6" fmla="*/ 848 w 851"/>
              <a:gd name="T7" fmla="*/ 50 h 199"/>
              <a:gd name="T8" fmla="*/ 848 w 851"/>
              <a:gd name="T9" fmla="*/ 40 h 199"/>
              <a:gd name="T10" fmla="*/ 846 w 851"/>
              <a:gd name="T11" fmla="*/ 30 h 199"/>
              <a:gd name="T12" fmla="*/ 844 w 851"/>
              <a:gd name="T13" fmla="*/ 20 h 199"/>
              <a:gd name="T14" fmla="*/ 843 w 851"/>
              <a:gd name="T15" fmla="*/ 10 h 199"/>
              <a:gd name="T16" fmla="*/ 839 w 851"/>
              <a:gd name="T17" fmla="*/ 0 h 199"/>
              <a:gd name="T18" fmla="*/ 834 w 851"/>
              <a:gd name="T19" fmla="*/ 0 h 199"/>
              <a:gd name="T20" fmla="*/ 838 w 851"/>
              <a:gd name="T21" fmla="*/ 10 h 199"/>
              <a:gd name="T22" fmla="*/ 839 w 851"/>
              <a:gd name="T23" fmla="*/ 20 h 199"/>
              <a:gd name="T24" fmla="*/ 841 w 851"/>
              <a:gd name="T25" fmla="*/ 30 h 199"/>
              <a:gd name="T26" fmla="*/ 843 w 851"/>
              <a:gd name="T27" fmla="*/ 40 h 199"/>
              <a:gd name="T28" fmla="*/ 844 w 851"/>
              <a:gd name="T29" fmla="*/ 50 h 199"/>
              <a:gd name="T30" fmla="*/ 844 w 851"/>
              <a:gd name="T31" fmla="*/ 61 h 199"/>
              <a:gd name="T32" fmla="*/ 846 w 851"/>
              <a:gd name="T33" fmla="*/ 71 h 199"/>
              <a:gd name="T34" fmla="*/ 846 w 851"/>
              <a:gd name="T35" fmla="*/ 81 h 199"/>
              <a:gd name="T36" fmla="*/ 851 w 851"/>
              <a:gd name="T37" fmla="*/ 79 h 199"/>
              <a:gd name="T38" fmla="*/ 0 w 851"/>
              <a:gd name="T39" fmla="*/ 114 h 199"/>
              <a:gd name="T40" fmla="*/ 0 w 851"/>
              <a:gd name="T41" fmla="*/ 126 h 199"/>
              <a:gd name="T42" fmla="*/ 0 w 851"/>
              <a:gd name="T43" fmla="*/ 136 h 199"/>
              <a:gd name="T44" fmla="*/ 1 w 851"/>
              <a:gd name="T45" fmla="*/ 147 h 199"/>
              <a:gd name="T46" fmla="*/ 3 w 851"/>
              <a:gd name="T47" fmla="*/ 157 h 199"/>
              <a:gd name="T48" fmla="*/ 5 w 851"/>
              <a:gd name="T49" fmla="*/ 167 h 199"/>
              <a:gd name="T50" fmla="*/ 6 w 851"/>
              <a:gd name="T51" fmla="*/ 179 h 199"/>
              <a:gd name="T52" fmla="*/ 8 w 851"/>
              <a:gd name="T53" fmla="*/ 189 h 199"/>
              <a:gd name="T54" fmla="*/ 11 w 851"/>
              <a:gd name="T55" fmla="*/ 199 h 199"/>
              <a:gd name="T56" fmla="*/ 15 w 851"/>
              <a:gd name="T57" fmla="*/ 199 h 199"/>
              <a:gd name="T58" fmla="*/ 13 w 851"/>
              <a:gd name="T59" fmla="*/ 189 h 199"/>
              <a:gd name="T60" fmla="*/ 11 w 851"/>
              <a:gd name="T61" fmla="*/ 177 h 199"/>
              <a:gd name="T62" fmla="*/ 10 w 851"/>
              <a:gd name="T63" fmla="*/ 167 h 199"/>
              <a:gd name="T64" fmla="*/ 8 w 851"/>
              <a:gd name="T65" fmla="*/ 155 h 199"/>
              <a:gd name="T66" fmla="*/ 6 w 851"/>
              <a:gd name="T67" fmla="*/ 146 h 199"/>
              <a:gd name="T68" fmla="*/ 5 w 851"/>
              <a:gd name="T69" fmla="*/ 134 h 199"/>
              <a:gd name="T70" fmla="*/ 5 w 851"/>
              <a:gd name="T71" fmla="*/ 122 h 199"/>
              <a:gd name="T72" fmla="*/ 3 w 851"/>
              <a:gd name="T73" fmla="*/ 112 h 199"/>
              <a:gd name="T74" fmla="*/ 0 w 851"/>
              <a:gd name="T75" fmla="*/ 11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51" h="199">
                <a:moveTo>
                  <a:pt x="851" y="79"/>
                </a:moveTo>
                <a:lnTo>
                  <a:pt x="851" y="69"/>
                </a:lnTo>
                <a:lnTo>
                  <a:pt x="849" y="59"/>
                </a:lnTo>
                <a:lnTo>
                  <a:pt x="848" y="50"/>
                </a:lnTo>
                <a:lnTo>
                  <a:pt x="848" y="40"/>
                </a:lnTo>
                <a:lnTo>
                  <a:pt x="846" y="30"/>
                </a:lnTo>
                <a:lnTo>
                  <a:pt x="844" y="20"/>
                </a:lnTo>
                <a:lnTo>
                  <a:pt x="843" y="10"/>
                </a:lnTo>
                <a:lnTo>
                  <a:pt x="839" y="0"/>
                </a:lnTo>
                <a:lnTo>
                  <a:pt x="834" y="0"/>
                </a:lnTo>
                <a:lnTo>
                  <a:pt x="838" y="10"/>
                </a:lnTo>
                <a:lnTo>
                  <a:pt x="839" y="20"/>
                </a:lnTo>
                <a:lnTo>
                  <a:pt x="841" y="30"/>
                </a:lnTo>
                <a:lnTo>
                  <a:pt x="843" y="40"/>
                </a:lnTo>
                <a:lnTo>
                  <a:pt x="844" y="50"/>
                </a:lnTo>
                <a:lnTo>
                  <a:pt x="844" y="61"/>
                </a:lnTo>
                <a:lnTo>
                  <a:pt x="846" y="71"/>
                </a:lnTo>
                <a:lnTo>
                  <a:pt x="846" y="81"/>
                </a:lnTo>
                <a:lnTo>
                  <a:pt x="851" y="79"/>
                </a:lnTo>
                <a:close/>
                <a:moveTo>
                  <a:pt x="0" y="114"/>
                </a:moveTo>
                <a:lnTo>
                  <a:pt x="0" y="126"/>
                </a:lnTo>
                <a:lnTo>
                  <a:pt x="0" y="136"/>
                </a:lnTo>
                <a:lnTo>
                  <a:pt x="1" y="147"/>
                </a:lnTo>
                <a:lnTo>
                  <a:pt x="3" y="157"/>
                </a:lnTo>
                <a:lnTo>
                  <a:pt x="5" y="167"/>
                </a:lnTo>
                <a:lnTo>
                  <a:pt x="6" y="179"/>
                </a:lnTo>
                <a:lnTo>
                  <a:pt x="8" y="189"/>
                </a:lnTo>
                <a:lnTo>
                  <a:pt x="11" y="199"/>
                </a:lnTo>
                <a:lnTo>
                  <a:pt x="15" y="199"/>
                </a:lnTo>
                <a:lnTo>
                  <a:pt x="13" y="189"/>
                </a:lnTo>
                <a:lnTo>
                  <a:pt x="11" y="177"/>
                </a:lnTo>
                <a:lnTo>
                  <a:pt x="10" y="167"/>
                </a:lnTo>
                <a:lnTo>
                  <a:pt x="8" y="155"/>
                </a:lnTo>
                <a:lnTo>
                  <a:pt x="6" y="146"/>
                </a:lnTo>
                <a:lnTo>
                  <a:pt x="5" y="134"/>
                </a:lnTo>
                <a:lnTo>
                  <a:pt x="5" y="122"/>
                </a:lnTo>
                <a:lnTo>
                  <a:pt x="3" y="112"/>
                </a:lnTo>
                <a:lnTo>
                  <a:pt x="0" y="114"/>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41" name="Freeform 1046">
            <a:extLst>
              <a:ext uri="{FF2B5EF4-FFF2-40B4-BE49-F238E27FC236}">
                <a16:creationId xmlns:a16="http://schemas.microsoft.com/office/drawing/2014/main" id="{D3E19BFF-D612-C76F-553F-C4352148854E}"/>
              </a:ext>
            </a:extLst>
          </p:cNvPr>
          <p:cNvSpPr>
            <a:spLocks noEditPoints="1"/>
          </p:cNvSpPr>
          <p:nvPr/>
        </p:nvSpPr>
        <p:spPr bwMode="auto">
          <a:xfrm>
            <a:off x="2241550" y="2403475"/>
            <a:ext cx="1346200" cy="315913"/>
          </a:xfrm>
          <a:custGeom>
            <a:avLst/>
            <a:gdLst>
              <a:gd name="T0" fmla="*/ 848 w 848"/>
              <a:gd name="T1" fmla="*/ 81 h 199"/>
              <a:gd name="T2" fmla="*/ 847 w 848"/>
              <a:gd name="T3" fmla="*/ 69 h 199"/>
              <a:gd name="T4" fmla="*/ 847 w 848"/>
              <a:gd name="T5" fmla="*/ 59 h 199"/>
              <a:gd name="T6" fmla="*/ 845 w 848"/>
              <a:gd name="T7" fmla="*/ 50 h 199"/>
              <a:gd name="T8" fmla="*/ 843 w 848"/>
              <a:gd name="T9" fmla="*/ 40 h 199"/>
              <a:gd name="T10" fmla="*/ 842 w 848"/>
              <a:gd name="T11" fmla="*/ 30 h 199"/>
              <a:gd name="T12" fmla="*/ 840 w 848"/>
              <a:gd name="T13" fmla="*/ 20 h 199"/>
              <a:gd name="T14" fmla="*/ 838 w 848"/>
              <a:gd name="T15" fmla="*/ 10 h 199"/>
              <a:gd name="T16" fmla="*/ 837 w 848"/>
              <a:gd name="T17" fmla="*/ 0 h 199"/>
              <a:gd name="T18" fmla="*/ 832 w 848"/>
              <a:gd name="T19" fmla="*/ 0 h 199"/>
              <a:gd name="T20" fmla="*/ 833 w 848"/>
              <a:gd name="T21" fmla="*/ 10 h 199"/>
              <a:gd name="T22" fmla="*/ 835 w 848"/>
              <a:gd name="T23" fmla="*/ 20 h 199"/>
              <a:gd name="T24" fmla="*/ 837 w 848"/>
              <a:gd name="T25" fmla="*/ 30 h 199"/>
              <a:gd name="T26" fmla="*/ 838 w 848"/>
              <a:gd name="T27" fmla="*/ 41 h 199"/>
              <a:gd name="T28" fmla="*/ 840 w 848"/>
              <a:gd name="T29" fmla="*/ 51 h 199"/>
              <a:gd name="T30" fmla="*/ 842 w 848"/>
              <a:gd name="T31" fmla="*/ 61 h 199"/>
              <a:gd name="T32" fmla="*/ 842 w 848"/>
              <a:gd name="T33" fmla="*/ 73 h 199"/>
              <a:gd name="T34" fmla="*/ 843 w 848"/>
              <a:gd name="T35" fmla="*/ 83 h 199"/>
              <a:gd name="T36" fmla="*/ 848 w 848"/>
              <a:gd name="T37" fmla="*/ 81 h 199"/>
              <a:gd name="T38" fmla="*/ 0 w 848"/>
              <a:gd name="T39" fmla="*/ 112 h 199"/>
              <a:gd name="T40" fmla="*/ 0 w 848"/>
              <a:gd name="T41" fmla="*/ 124 h 199"/>
              <a:gd name="T42" fmla="*/ 2 w 848"/>
              <a:gd name="T43" fmla="*/ 136 h 199"/>
              <a:gd name="T44" fmla="*/ 2 w 848"/>
              <a:gd name="T45" fmla="*/ 146 h 199"/>
              <a:gd name="T46" fmla="*/ 4 w 848"/>
              <a:gd name="T47" fmla="*/ 157 h 199"/>
              <a:gd name="T48" fmla="*/ 5 w 848"/>
              <a:gd name="T49" fmla="*/ 167 h 199"/>
              <a:gd name="T50" fmla="*/ 7 w 848"/>
              <a:gd name="T51" fmla="*/ 177 h 199"/>
              <a:gd name="T52" fmla="*/ 10 w 848"/>
              <a:gd name="T53" fmla="*/ 189 h 199"/>
              <a:gd name="T54" fmla="*/ 12 w 848"/>
              <a:gd name="T55" fmla="*/ 199 h 199"/>
              <a:gd name="T56" fmla="*/ 17 w 848"/>
              <a:gd name="T57" fmla="*/ 199 h 199"/>
              <a:gd name="T58" fmla="*/ 15 w 848"/>
              <a:gd name="T59" fmla="*/ 189 h 199"/>
              <a:gd name="T60" fmla="*/ 12 w 848"/>
              <a:gd name="T61" fmla="*/ 177 h 199"/>
              <a:gd name="T62" fmla="*/ 10 w 848"/>
              <a:gd name="T63" fmla="*/ 167 h 199"/>
              <a:gd name="T64" fmla="*/ 9 w 848"/>
              <a:gd name="T65" fmla="*/ 155 h 199"/>
              <a:gd name="T66" fmla="*/ 7 w 848"/>
              <a:gd name="T67" fmla="*/ 144 h 199"/>
              <a:gd name="T68" fmla="*/ 7 w 848"/>
              <a:gd name="T69" fmla="*/ 134 h 199"/>
              <a:gd name="T70" fmla="*/ 5 w 848"/>
              <a:gd name="T71" fmla="*/ 122 h 199"/>
              <a:gd name="T72" fmla="*/ 5 w 848"/>
              <a:gd name="T73" fmla="*/ 111 h 199"/>
              <a:gd name="T74" fmla="*/ 0 w 848"/>
              <a:gd name="T75" fmla="*/ 11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48" h="199">
                <a:moveTo>
                  <a:pt x="848" y="81"/>
                </a:moveTo>
                <a:lnTo>
                  <a:pt x="847" y="69"/>
                </a:lnTo>
                <a:lnTo>
                  <a:pt x="847" y="59"/>
                </a:lnTo>
                <a:lnTo>
                  <a:pt x="845" y="50"/>
                </a:lnTo>
                <a:lnTo>
                  <a:pt x="843" y="40"/>
                </a:lnTo>
                <a:lnTo>
                  <a:pt x="842" y="30"/>
                </a:lnTo>
                <a:lnTo>
                  <a:pt x="840" y="20"/>
                </a:lnTo>
                <a:lnTo>
                  <a:pt x="838" y="10"/>
                </a:lnTo>
                <a:lnTo>
                  <a:pt x="837" y="0"/>
                </a:lnTo>
                <a:lnTo>
                  <a:pt x="832" y="0"/>
                </a:lnTo>
                <a:lnTo>
                  <a:pt x="833" y="10"/>
                </a:lnTo>
                <a:lnTo>
                  <a:pt x="835" y="20"/>
                </a:lnTo>
                <a:lnTo>
                  <a:pt x="837" y="30"/>
                </a:lnTo>
                <a:lnTo>
                  <a:pt x="838" y="41"/>
                </a:lnTo>
                <a:lnTo>
                  <a:pt x="840" y="51"/>
                </a:lnTo>
                <a:lnTo>
                  <a:pt x="842" y="61"/>
                </a:lnTo>
                <a:lnTo>
                  <a:pt x="842" y="73"/>
                </a:lnTo>
                <a:lnTo>
                  <a:pt x="843" y="83"/>
                </a:lnTo>
                <a:lnTo>
                  <a:pt x="848" y="81"/>
                </a:lnTo>
                <a:close/>
                <a:moveTo>
                  <a:pt x="0" y="112"/>
                </a:moveTo>
                <a:lnTo>
                  <a:pt x="0" y="124"/>
                </a:lnTo>
                <a:lnTo>
                  <a:pt x="2" y="136"/>
                </a:lnTo>
                <a:lnTo>
                  <a:pt x="2" y="146"/>
                </a:lnTo>
                <a:lnTo>
                  <a:pt x="4" y="157"/>
                </a:lnTo>
                <a:lnTo>
                  <a:pt x="5" y="167"/>
                </a:lnTo>
                <a:lnTo>
                  <a:pt x="7" y="177"/>
                </a:lnTo>
                <a:lnTo>
                  <a:pt x="10" y="189"/>
                </a:lnTo>
                <a:lnTo>
                  <a:pt x="12" y="199"/>
                </a:lnTo>
                <a:lnTo>
                  <a:pt x="17" y="199"/>
                </a:lnTo>
                <a:lnTo>
                  <a:pt x="15" y="189"/>
                </a:lnTo>
                <a:lnTo>
                  <a:pt x="12" y="177"/>
                </a:lnTo>
                <a:lnTo>
                  <a:pt x="10" y="167"/>
                </a:lnTo>
                <a:lnTo>
                  <a:pt x="9" y="155"/>
                </a:lnTo>
                <a:lnTo>
                  <a:pt x="7" y="144"/>
                </a:lnTo>
                <a:lnTo>
                  <a:pt x="7" y="134"/>
                </a:lnTo>
                <a:lnTo>
                  <a:pt x="5" y="122"/>
                </a:lnTo>
                <a:lnTo>
                  <a:pt x="5" y="111"/>
                </a:lnTo>
                <a:lnTo>
                  <a:pt x="0" y="112"/>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42" name="Freeform 1047">
            <a:extLst>
              <a:ext uri="{FF2B5EF4-FFF2-40B4-BE49-F238E27FC236}">
                <a16:creationId xmlns:a16="http://schemas.microsoft.com/office/drawing/2014/main" id="{C320F445-D108-C49F-03FC-5084FBBFE1EF}"/>
              </a:ext>
            </a:extLst>
          </p:cNvPr>
          <p:cNvSpPr>
            <a:spLocks noEditPoints="1"/>
          </p:cNvSpPr>
          <p:nvPr/>
        </p:nvSpPr>
        <p:spPr bwMode="auto">
          <a:xfrm>
            <a:off x="2244725" y="2403475"/>
            <a:ext cx="1338263" cy="315913"/>
          </a:xfrm>
          <a:custGeom>
            <a:avLst/>
            <a:gdLst>
              <a:gd name="T0" fmla="*/ 843 w 843"/>
              <a:gd name="T1" fmla="*/ 81 h 199"/>
              <a:gd name="T2" fmla="*/ 843 w 843"/>
              <a:gd name="T3" fmla="*/ 71 h 199"/>
              <a:gd name="T4" fmla="*/ 841 w 843"/>
              <a:gd name="T5" fmla="*/ 61 h 199"/>
              <a:gd name="T6" fmla="*/ 841 w 843"/>
              <a:gd name="T7" fmla="*/ 50 h 199"/>
              <a:gd name="T8" fmla="*/ 840 w 843"/>
              <a:gd name="T9" fmla="*/ 40 h 199"/>
              <a:gd name="T10" fmla="*/ 838 w 843"/>
              <a:gd name="T11" fmla="*/ 30 h 199"/>
              <a:gd name="T12" fmla="*/ 836 w 843"/>
              <a:gd name="T13" fmla="*/ 20 h 199"/>
              <a:gd name="T14" fmla="*/ 835 w 843"/>
              <a:gd name="T15" fmla="*/ 10 h 199"/>
              <a:gd name="T16" fmla="*/ 831 w 843"/>
              <a:gd name="T17" fmla="*/ 0 h 199"/>
              <a:gd name="T18" fmla="*/ 826 w 843"/>
              <a:gd name="T19" fmla="*/ 0 h 199"/>
              <a:gd name="T20" fmla="*/ 830 w 843"/>
              <a:gd name="T21" fmla="*/ 10 h 199"/>
              <a:gd name="T22" fmla="*/ 831 w 843"/>
              <a:gd name="T23" fmla="*/ 20 h 199"/>
              <a:gd name="T24" fmla="*/ 833 w 843"/>
              <a:gd name="T25" fmla="*/ 31 h 199"/>
              <a:gd name="T26" fmla="*/ 835 w 843"/>
              <a:gd name="T27" fmla="*/ 41 h 199"/>
              <a:gd name="T28" fmla="*/ 836 w 843"/>
              <a:gd name="T29" fmla="*/ 51 h 199"/>
              <a:gd name="T30" fmla="*/ 836 w 843"/>
              <a:gd name="T31" fmla="*/ 63 h 199"/>
              <a:gd name="T32" fmla="*/ 838 w 843"/>
              <a:gd name="T33" fmla="*/ 73 h 199"/>
              <a:gd name="T34" fmla="*/ 838 w 843"/>
              <a:gd name="T35" fmla="*/ 84 h 199"/>
              <a:gd name="T36" fmla="*/ 843 w 843"/>
              <a:gd name="T37" fmla="*/ 81 h 199"/>
              <a:gd name="T38" fmla="*/ 0 w 843"/>
              <a:gd name="T39" fmla="*/ 112 h 199"/>
              <a:gd name="T40" fmla="*/ 2 w 843"/>
              <a:gd name="T41" fmla="*/ 122 h 199"/>
              <a:gd name="T42" fmla="*/ 2 w 843"/>
              <a:gd name="T43" fmla="*/ 134 h 199"/>
              <a:gd name="T44" fmla="*/ 3 w 843"/>
              <a:gd name="T45" fmla="*/ 146 h 199"/>
              <a:gd name="T46" fmla="*/ 5 w 843"/>
              <a:gd name="T47" fmla="*/ 155 h 199"/>
              <a:gd name="T48" fmla="*/ 7 w 843"/>
              <a:gd name="T49" fmla="*/ 167 h 199"/>
              <a:gd name="T50" fmla="*/ 8 w 843"/>
              <a:gd name="T51" fmla="*/ 177 h 199"/>
              <a:gd name="T52" fmla="*/ 10 w 843"/>
              <a:gd name="T53" fmla="*/ 189 h 199"/>
              <a:gd name="T54" fmla="*/ 12 w 843"/>
              <a:gd name="T55" fmla="*/ 199 h 199"/>
              <a:gd name="T56" fmla="*/ 17 w 843"/>
              <a:gd name="T57" fmla="*/ 199 h 199"/>
              <a:gd name="T58" fmla="*/ 15 w 843"/>
              <a:gd name="T59" fmla="*/ 187 h 199"/>
              <a:gd name="T60" fmla="*/ 13 w 843"/>
              <a:gd name="T61" fmla="*/ 177 h 199"/>
              <a:gd name="T62" fmla="*/ 10 w 843"/>
              <a:gd name="T63" fmla="*/ 165 h 199"/>
              <a:gd name="T64" fmla="*/ 10 w 843"/>
              <a:gd name="T65" fmla="*/ 155 h 199"/>
              <a:gd name="T66" fmla="*/ 8 w 843"/>
              <a:gd name="T67" fmla="*/ 144 h 199"/>
              <a:gd name="T68" fmla="*/ 7 w 843"/>
              <a:gd name="T69" fmla="*/ 132 h 199"/>
              <a:gd name="T70" fmla="*/ 7 w 843"/>
              <a:gd name="T71" fmla="*/ 121 h 199"/>
              <a:gd name="T72" fmla="*/ 5 w 843"/>
              <a:gd name="T73" fmla="*/ 109 h 199"/>
              <a:gd name="T74" fmla="*/ 0 w 843"/>
              <a:gd name="T75" fmla="*/ 11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43" h="199">
                <a:moveTo>
                  <a:pt x="843" y="81"/>
                </a:moveTo>
                <a:lnTo>
                  <a:pt x="843" y="71"/>
                </a:lnTo>
                <a:lnTo>
                  <a:pt x="841" y="61"/>
                </a:lnTo>
                <a:lnTo>
                  <a:pt x="841" y="50"/>
                </a:lnTo>
                <a:lnTo>
                  <a:pt x="840" y="40"/>
                </a:lnTo>
                <a:lnTo>
                  <a:pt x="838" y="30"/>
                </a:lnTo>
                <a:lnTo>
                  <a:pt x="836" y="20"/>
                </a:lnTo>
                <a:lnTo>
                  <a:pt x="835" y="10"/>
                </a:lnTo>
                <a:lnTo>
                  <a:pt x="831" y="0"/>
                </a:lnTo>
                <a:lnTo>
                  <a:pt x="826" y="0"/>
                </a:lnTo>
                <a:lnTo>
                  <a:pt x="830" y="10"/>
                </a:lnTo>
                <a:lnTo>
                  <a:pt x="831" y="20"/>
                </a:lnTo>
                <a:lnTo>
                  <a:pt x="833" y="31"/>
                </a:lnTo>
                <a:lnTo>
                  <a:pt x="835" y="41"/>
                </a:lnTo>
                <a:lnTo>
                  <a:pt x="836" y="51"/>
                </a:lnTo>
                <a:lnTo>
                  <a:pt x="836" y="63"/>
                </a:lnTo>
                <a:lnTo>
                  <a:pt x="838" y="73"/>
                </a:lnTo>
                <a:lnTo>
                  <a:pt x="838" y="84"/>
                </a:lnTo>
                <a:lnTo>
                  <a:pt x="843" y="81"/>
                </a:lnTo>
                <a:close/>
                <a:moveTo>
                  <a:pt x="0" y="112"/>
                </a:moveTo>
                <a:lnTo>
                  <a:pt x="2" y="122"/>
                </a:lnTo>
                <a:lnTo>
                  <a:pt x="2" y="134"/>
                </a:lnTo>
                <a:lnTo>
                  <a:pt x="3" y="146"/>
                </a:lnTo>
                <a:lnTo>
                  <a:pt x="5" y="155"/>
                </a:lnTo>
                <a:lnTo>
                  <a:pt x="7" y="167"/>
                </a:lnTo>
                <a:lnTo>
                  <a:pt x="8" y="177"/>
                </a:lnTo>
                <a:lnTo>
                  <a:pt x="10" y="189"/>
                </a:lnTo>
                <a:lnTo>
                  <a:pt x="12" y="199"/>
                </a:lnTo>
                <a:lnTo>
                  <a:pt x="17" y="199"/>
                </a:lnTo>
                <a:lnTo>
                  <a:pt x="15" y="187"/>
                </a:lnTo>
                <a:lnTo>
                  <a:pt x="13" y="177"/>
                </a:lnTo>
                <a:lnTo>
                  <a:pt x="10" y="165"/>
                </a:lnTo>
                <a:lnTo>
                  <a:pt x="10" y="155"/>
                </a:lnTo>
                <a:lnTo>
                  <a:pt x="8" y="144"/>
                </a:lnTo>
                <a:lnTo>
                  <a:pt x="7" y="132"/>
                </a:lnTo>
                <a:lnTo>
                  <a:pt x="7" y="121"/>
                </a:lnTo>
                <a:lnTo>
                  <a:pt x="5" y="109"/>
                </a:lnTo>
                <a:lnTo>
                  <a:pt x="0" y="112"/>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43" name="Freeform 1048">
            <a:extLst>
              <a:ext uri="{FF2B5EF4-FFF2-40B4-BE49-F238E27FC236}">
                <a16:creationId xmlns:a16="http://schemas.microsoft.com/office/drawing/2014/main" id="{4C6FD2B7-F5BA-7D1E-B04D-010957CA8188}"/>
              </a:ext>
            </a:extLst>
          </p:cNvPr>
          <p:cNvSpPr>
            <a:spLocks noEditPoints="1"/>
          </p:cNvSpPr>
          <p:nvPr/>
        </p:nvSpPr>
        <p:spPr bwMode="auto">
          <a:xfrm>
            <a:off x="2249488" y="2403475"/>
            <a:ext cx="1330325" cy="315913"/>
          </a:xfrm>
          <a:custGeom>
            <a:avLst/>
            <a:gdLst>
              <a:gd name="T0" fmla="*/ 838 w 838"/>
              <a:gd name="T1" fmla="*/ 83 h 199"/>
              <a:gd name="T2" fmla="*/ 837 w 838"/>
              <a:gd name="T3" fmla="*/ 73 h 199"/>
              <a:gd name="T4" fmla="*/ 837 w 838"/>
              <a:gd name="T5" fmla="*/ 61 h 199"/>
              <a:gd name="T6" fmla="*/ 835 w 838"/>
              <a:gd name="T7" fmla="*/ 51 h 199"/>
              <a:gd name="T8" fmla="*/ 833 w 838"/>
              <a:gd name="T9" fmla="*/ 41 h 199"/>
              <a:gd name="T10" fmla="*/ 832 w 838"/>
              <a:gd name="T11" fmla="*/ 30 h 199"/>
              <a:gd name="T12" fmla="*/ 830 w 838"/>
              <a:gd name="T13" fmla="*/ 20 h 199"/>
              <a:gd name="T14" fmla="*/ 828 w 838"/>
              <a:gd name="T15" fmla="*/ 10 h 199"/>
              <a:gd name="T16" fmla="*/ 827 w 838"/>
              <a:gd name="T17" fmla="*/ 0 h 199"/>
              <a:gd name="T18" fmla="*/ 822 w 838"/>
              <a:gd name="T19" fmla="*/ 0 h 199"/>
              <a:gd name="T20" fmla="*/ 823 w 838"/>
              <a:gd name="T21" fmla="*/ 10 h 199"/>
              <a:gd name="T22" fmla="*/ 825 w 838"/>
              <a:gd name="T23" fmla="*/ 20 h 199"/>
              <a:gd name="T24" fmla="*/ 828 w 838"/>
              <a:gd name="T25" fmla="*/ 31 h 199"/>
              <a:gd name="T26" fmla="*/ 830 w 838"/>
              <a:gd name="T27" fmla="*/ 41 h 199"/>
              <a:gd name="T28" fmla="*/ 830 w 838"/>
              <a:gd name="T29" fmla="*/ 53 h 199"/>
              <a:gd name="T30" fmla="*/ 832 w 838"/>
              <a:gd name="T31" fmla="*/ 63 h 199"/>
              <a:gd name="T32" fmla="*/ 833 w 838"/>
              <a:gd name="T33" fmla="*/ 74 h 199"/>
              <a:gd name="T34" fmla="*/ 833 w 838"/>
              <a:gd name="T35" fmla="*/ 84 h 199"/>
              <a:gd name="T36" fmla="*/ 838 w 838"/>
              <a:gd name="T37" fmla="*/ 83 h 199"/>
              <a:gd name="T38" fmla="*/ 0 w 838"/>
              <a:gd name="T39" fmla="*/ 111 h 199"/>
              <a:gd name="T40" fmla="*/ 0 w 838"/>
              <a:gd name="T41" fmla="*/ 122 h 199"/>
              <a:gd name="T42" fmla="*/ 2 w 838"/>
              <a:gd name="T43" fmla="*/ 134 h 199"/>
              <a:gd name="T44" fmla="*/ 2 w 838"/>
              <a:gd name="T45" fmla="*/ 144 h 199"/>
              <a:gd name="T46" fmla="*/ 4 w 838"/>
              <a:gd name="T47" fmla="*/ 155 h 199"/>
              <a:gd name="T48" fmla="*/ 5 w 838"/>
              <a:gd name="T49" fmla="*/ 167 h 199"/>
              <a:gd name="T50" fmla="*/ 7 w 838"/>
              <a:gd name="T51" fmla="*/ 177 h 199"/>
              <a:gd name="T52" fmla="*/ 10 w 838"/>
              <a:gd name="T53" fmla="*/ 189 h 199"/>
              <a:gd name="T54" fmla="*/ 12 w 838"/>
              <a:gd name="T55" fmla="*/ 199 h 199"/>
              <a:gd name="T56" fmla="*/ 17 w 838"/>
              <a:gd name="T57" fmla="*/ 199 h 199"/>
              <a:gd name="T58" fmla="*/ 14 w 838"/>
              <a:gd name="T59" fmla="*/ 187 h 199"/>
              <a:gd name="T60" fmla="*/ 12 w 838"/>
              <a:gd name="T61" fmla="*/ 177 h 199"/>
              <a:gd name="T62" fmla="*/ 10 w 838"/>
              <a:gd name="T63" fmla="*/ 165 h 199"/>
              <a:gd name="T64" fmla="*/ 9 w 838"/>
              <a:gd name="T65" fmla="*/ 154 h 199"/>
              <a:gd name="T66" fmla="*/ 7 w 838"/>
              <a:gd name="T67" fmla="*/ 144 h 199"/>
              <a:gd name="T68" fmla="*/ 5 w 838"/>
              <a:gd name="T69" fmla="*/ 132 h 199"/>
              <a:gd name="T70" fmla="*/ 5 w 838"/>
              <a:gd name="T71" fmla="*/ 121 h 199"/>
              <a:gd name="T72" fmla="*/ 5 w 838"/>
              <a:gd name="T73" fmla="*/ 109 h 199"/>
              <a:gd name="T74" fmla="*/ 0 w 838"/>
              <a:gd name="T75" fmla="*/ 11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38" h="199">
                <a:moveTo>
                  <a:pt x="838" y="83"/>
                </a:moveTo>
                <a:lnTo>
                  <a:pt x="837" y="73"/>
                </a:lnTo>
                <a:lnTo>
                  <a:pt x="837" y="61"/>
                </a:lnTo>
                <a:lnTo>
                  <a:pt x="835" y="51"/>
                </a:lnTo>
                <a:lnTo>
                  <a:pt x="833" y="41"/>
                </a:lnTo>
                <a:lnTo>
                  <a:pt x="832" y="30"/>
                </a:lnTo>
                <a:lnTo>
                  <a:pt x="830" y="20"/>
                </a:lnTo>
                <a:lnTo>
                  <a:pt x="828" y="10"/>
                </a:lnTo>
                <a:lnTo>
                  <a:pt x="827" y="0"/>
                </a:lnTo>
                <a:lnTo>
                  <a:pt x="822" y="0"/>
                </a:lnTo>
                <a:lnTo>
                  <a:pt x="823" y="10"/>
                </a:lnTo>
                <a:lnTo>
                  <a:pt x="825" y="20"/>
                </a:lnTo>
                <a:lnTo>
                  <a:pt x="828" y="31"/>
                </a:lnTo>
                <a:lnTo>
                  <a:pt x="830" y="41"/>
                </a:lnTo>
                <a:lnTo>
                  <a:pt x="830" y="53"/>
                </a:lnTo>
                <a:lnTo>
                  <a:pt x="832" y="63"/>
                </a:lnTo>
                <a:lnTo>
                  <a:pt x="833" y="74"/>
                </a:lnTo>
                <a:lnTo>
                  <a:pt x="833" y="84"/>
                </a:lnTo>
                <a:lnTo>
                  <a:pt x="838" y="83"/>
                </a:lnTo>
                <a:close/>
                <a:moveTo>
                  <a:pt x="0" y="111"/>
                </a:moveTo>
                <a:lnTo>
                  <a:pt x="0" y="122"/>
                </a:lnTo>
                <a:lnTo>
                  <a:pt x="2" y="134"/>
                </a:lnTo>
                <a:lnTo>
                  <a:pt x="2" y="144"/>
                </a:lnTo>
                <a:lnTo>
                  <a:pt x="4" y="155"/>
                </a:lnTo>
                <a:lnTo>
                  <a:pt x="5" y="167"/>
                </a:lnTo>
                <a:lnTo>
                  <a:pt x="7" y="177"/>
                </a:lnTo>
                <a:lnTo>
                  <a:pt x="10" y="189"/>
                </a:lnTo>
                <a:lnTo>
                  <a:pt x="12" y="199"/>
                </a:lnTo>
                <a:lnTo>
                  <a:pt x="17" y="199"/>
                </a:lnTo>
                <a:lnTo>
                  <a:pt x="14" y="187"/>
                </a:lnTo>
                <a:lnTo>
                  <a:pt x="12" y="177"/>
                </a:lnTo>
                <a:lnTo>
                  <a:pt x="10" y="165"/>
                </a:lnTo>
                <a:lnTo>
                  <a:pt x="9" y="154"/>
                </a:lnTo>
                <a:lnTo>
                  <a:pt x="7" y="144"/>
                </a:lnTo>
                <a:lnTo>
                  <a:pt x="5" y="132"/>
                </a:lnTo>
                <a:lnTo>
                  <a:pt x="5" y="121"/>
                </a:lnTo>
                <a:lnTo>
                  <a:pt x="5" y="109"/>
                </a:lnTo>
                <a:lnTo>
                  <a:pt x="0" y="111"/>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44" name="Freeform 1049">
            <a:extLst>
              <a:ext uri="{FF2B5EF4-FFF2-40B4-BE49-F238E27FC236}">
                <a16:creationId xmlns:a16="http://schemas.microsoft.com/office/drawing/2014/main" id="{781EB927-9CF0-928D-5A48-2B3251FB86CC}"/>
              </a:ext>
            </a:extLst>
          </p:cNvPr>
          <p:cNvSpPr>
            <a:spLocks noEditPoints="1"/>
          </p:cNvSpPr>
          <p:nvPr/>
        </p:nvSpPr>
        <p:spPr bwMode="auto">
          <a:xfrm>
            <a:off x="2252663" y="2403475"/>
            <a:ext cx="1322388" cy="315913"/>
          </a:xfrm>
          <a:custGeom>
            <a:avLst/>
            <a:gdLst>
              <a:gd name="T0" fmla="*/ 833 w 833"/>
              <a:gd name="T1" fmla="*/ 84 h 199"/>
              <a:gd name="T2" fmla="*/ 833 w 833"/>
              <a:gd name="T3" fmla="*/ 73 h 199"/>
              <a:gd name="T4" fmla="*/ 831 w 833"/>
              <a:gd name="T5" fmla="*/ 63 h 199"/>
              <a:gd name="T6" fmla="*/ 831 w 833"/>
              <a:gd name="T7" fmla="*/ 51 h 199"/>
              <a:gd name="T8" fmla="*/ 830 w 833"/>
              <a:gd name="T9" fmla="*/ 41 h 199"/>
              <a:gd name="T10" fmla="*/ 828 w 833"/>
              <a:gd name="T11" fmla="*/ 31 h 199"/>
              <a:gd name="T12" fmla="*/ 826 w 833"/>
              <a:gd name="T13" fmla="*/ 20 h 199"/>
              <a:gd name="T14" fmla="*/ 825 w 833"/>
              <a:gd name="T15" fmla="*/ 10 h 199"/>
              <a:gd name="T16" fmla="*/ 821 w 833"/>
              <a:gd name="T17" fmla="*/ 0 h 199"/>
              <a:gd name="T18" fmla="*/ 817 w 833"/>
              <a:gd name="T19" fmla="*/ 0 h 199"/>
              <a:gd name="T20" fmla="*/ 820 w 833"/>
              <a:gd name="T21" fmla="*/ 10 h 199"/>
              <a:gd name="T22" fmla="*/ 821 w 833"/>
              <a:gd name="T23" fmla="*/ 21 h 199"/>
              <a:gd name="T24" fmla="*/ 823 w 833"/>
              <a:gd name="T25" fmla="*/ 31 h 199"/>
              <a:gd name="T26" fmla="*/ 825 w 833"/>
              <a:gd name="T27" fmla="*/ 41 h 199"/>
              <a:gd name="T28" fmla="*/ 826 w 833"/>
              <a:gd name="T29" fmla="*/ 53 h 199"/>
              <a:gd name="T30" fmla="*/ 828 w 833"/>
              <a:gd name="T31" fmla="*/ 64 h 199"/>
              <a:gd name="T32" fmla="*/ 828 w 833"/>
              <a:gd name="T33" fmla="*/ 74 h 199"/>
              <a:gd name="T34" fmla="*/ 828 w 833"/>
              <a:gd name="T35" fmla="*/ 86 h 199"/>
              <a:gd name="T36" fmla="*/ 833 w 833"/>
              <a:gd name="T37" fmla="*/ 84 h 199"/>
              <a:gd name="T38" fmla="*/ 0 w 833"/>
              <a:gd name="T39" fmla="*/ 109 h 199"/>
              <a:gd name="T40" fmla="*/ 2 w 833"/>
              <a:gd name="T41" fmla="*/ 121 h 199"/>
              <a:gd name="T42" fmla="*/ 2 w 833"/>
              <a:gd name="T43" fmla="*/ 132 h 199"/>
              <a:gd name="T44" fmla="*/ 3 w 833"/>
              <a:gd name="T45" fmla="*/ 144 h 199"/>
              <a:gd name="T46" fmla="*/ 5 w 833"/>
              <a:gd name="T47" fmla="*/ 155 h 199"/>
              <a:gd name="T48" fmla="*/ 5 w 833"/>
              <a:gd name="T49" fmla="*/ 165 h 199"/>
              <a:gd name="T50" fmla="*/ 8 w 833"/>
              <a:gd name="T51" fmla="*/ 177 h 199"/>
              <a:gd name="T52" fmla="*/ 10 w 833"/>
              <a:gd name="T53" fmla="*/ 187 h 199"/>
              <a:gd name="T54" fmla="*/ 12 w 833"/>
              <a:gd name="T55" fmla="*/ 199 h 199"/>
              <a:gd name="T56" fmla="*/ 17 w 833"/>
              <a:gd name="T57" fmla="*/ 199 h 199"/>
              <a:gd name="T58" fmla="*/ 15 w 833"/>
              <a:gd name="T59" fmla="*/ 187 h 199"/>
              <a:gd name="T60" fmla="*/ 13 w 833"/>
              <a:gd name="T61" fmla="*/ 177 h 199"/>
              <a:gd name="T62" fmla="*/ 10 w 833"/>
              <a:gd name="T63" fmla="*/ 165 h 199"/>
              <a:gd name="T64" fmla="*/ 8 w 833"/>
              <a:gd name="T65" fmla="*/ 154 h 199"/>
              <a:gd name="T66" fmla="*/ 8 w 833"/>
              <a:gd name="T67" fmla="*/ 142 h 199"/>
              <a:gd name="T68" fmla="*/ 7 w 833"/>
              <a:gd name="T69" fmla="*/ 131 h 199"/>
              <a:gd name="T70" fmla="*/ 5 w 833"/>
              <a:gd name="T71" fmla="*/ 119 h 199"/>
              <a:gd name="T72" fmla="*/ 5 w 833"/>
              <a:gd name="T73" fmla="*/ 107 h 199"/>
              <a:gd name="T74" fmla="*/ 0 w 833"/>
              <a:gd name="T75" fmla="*/ 10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33" h="199">
                <a:moveTo>
                  <a:pt x="833" y="84"/>
                </a:moveTo>
                <a:lnTo>
                  <a:pt x="833" y="73"/>
                </a:lnTo>
                <a:lnTo>
                  <a:pt x="831" y="63"/>
                </a:lnTo>
                <a:lnTo>
                  <a:pt x="831" y="51"/>
                </a:lnTo>
                <a:lnTo>
                  <a:pt x="830" y="41"/>
                </a:lnTo>
                <a:lnTo>
                  <a:pt x="828" y="31"/>
                </a:lnTo>
                <a:lnTo>
                  <a:pt x="826" y="20"/>
                </a:lnTo>
                <a:lnTo>
                  <a:pt x="825" y="10"/>
                </a:lnTo>
                <a:lnTo>
                  <a:pt x="821" y="0"/>
                </a:lnTo>
                <a:lnTo>
                  <a:pt x="817" y="0"/>
                </a:lnTo>
                <a:lnTo>
                  <a:pt x="820" y="10"/>
                </a:lnTo>
                <a:lnTo>
                  <a:pt x="821" y="21"/>
                </a:lnTo>
                <a:lnTo>
                  <a:pt x="823" y="31"/>
                </a:lnTo>
                <a:lnTo>
                  <a:pt x="825" y="41"/>
                </a:lnTo>
                <a:lnTo>
                  <a:pt x="826" y="53"/>
                </a:lnTo>
                <a:lnTo>
                  <a:pt x="828" y="64"/>
                </a:lnTo>
                <a:lnTo>
                  <a:pt x="828" y="74"/>
                </a:lnTo>
                <a:lnTo>
                  <a:pt x="828" y="86"/>
                </a:lnTo>
                <a:lnTo>
                  <a:pt x="833" y="84"/>
                </a:lnTo>
                <a:close/>
                <a:moveTo>
                  <a:pt x="0" y="109"/>
                </a:moveTo>
                <a:lnTo>
                  <a:pt x="2" y="121"/>
                </a:lnTo>
                <a:lnTo>
                  <a:pt x="2" y="132"/>
                </a:lnTo>
                <a:lnTo>
                  <a:pt x="3" y="144"/>
                </a:lnTo>
                <a:lnTo>
                  <a:pt x="5" y="155"/>
                </a:lnTo>
                <a:lnTo>
                  <a:pt x="5" y="165"/>
                </a:lnTo>
                <a:lnTo>
                  <a:pt x="8" y="177"/>
                </a:lnTo>
                <a:lnTo>
                  <a:pt x="10" y="187"/>
                </a:lnTo>
                <a:lnTo>
                  <a:pt x="12" y="199"/>
                </a:lnTo>
                <a:lnTo>
                  <a:pt x="17" y="199"/>
                </a:lnTo>
                <a:lnTo>
                  <a:pt x="15" y="187"/>
                </a:lnTo>
                <a:lnTo>
                  <a:pt x="13" y="177"/>
                </a:lnTo>
                <a:lnTo>
                  <a:pt x="10" y="165"/>
                </a:lnTo>
                <a:lnTo>
                  <a:pt x="8" y="154"/>
                </a:lnTo>
                <a:lnTo>
                  <a:pt x="8" y="142"/>
                </a:lnTo>
                <a:lnTo>
                  <a:pt x="7" y="131"/>
                </a:lnTo>
                <a:lnTo>
                  <a:pt x="5" y="119"/>
                </a:lnTo>
                <a:lnTo>
                  <a:pt x="5" y="107"/>
                </a:lnTo>
                <a:lnTo>
                  <a:pt x="0" y="109"/>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45" name="Freeform 1050">
            <a:extLst>
              <a:ext uri="{FF2B5EF4-FFF2-40B4-BE49-F238E27FC236}">
                <a16:creationId xmlns:a16="http://schemas.microsoft.com/office/drawing/2014/main" id="{68283EEE-CC95-90EF-2006-DA833EC286E5}"/>
              </a:ext>
            </a:extLst>
          </p:cNvPr>
          <p:cNvSpPr>
            <a:spLocks noEditPoints="1"/>
          </p:cNvSpPr>
          <p:nvPr/>
        </p:nvSpPr>
        <p:spPr bwMode="auto">
          <a:xfrm>
            <a:off x="2257425" y="2403475"/>
            <a:ext cx="1314450" cy="315913"/>
          </a:xfrm>
          <a:custGeom>
            <a:avLst/>
            <a:gdLst>
              <a:gd name="T0" fmla="*/ 828 w 828"/>
              <a:gd name="T1" fmla="*/ 84 h 199"/>
              <a:gd name="T2" fmla="*/ 828 w 828"/>
              <a:gd name="T3" fmla="*/ 74 h 199"/>
              <a:gd name="T4" fmla="*/ 827 w 828"/>
              <a:gd name="T5" fmla="*/ 63 h 199"/>
              <a:gd name="T6" fmla="*/ 825 w 828"/>
              <a:gd name="T7" fmla="*/ 53 h 199"/>
              <a:gd name="T8" fmla="*/ 825 w 828"/>
              <a:gd name="T9" fmla="*/ 41 h 199"/>
              <a:gd name="T10" fmla="*/ 823 w 828"/>
              <a:gd name="T11" fmla="*/ 31 h 199"/>
              <a:gd name="T12" fmla="*/ 820 w 828"/>
              <a:gd name="T13" fmla="*/ 20 h 199"/>
              <a:gd name="T14" fmla="*/ 818 w 828"/>
              <a:gd name="T15" fmla="*/ 10 h 199"/>
              <a:gd name="T16" fmla="*/ 817 w 828"/>
              <a:gd name="T17" fmla="*/ 0 h 199"/>
              <a:gd name="T18" fmla="*/ 812 w 828"/>
              <a:gd name="T19" fmla="*/ 0 h 199"/>
              <a:gd name="T20" fmla="*/ 814 w 828"/>
              <a:gd name="T21" fmla="*/ 10 h 199"/>
              <a:gd name="T22" fmla="*/ 817 w 828"/>
              <a:gd name="T23" fmla="*/ 21 h 199"/>
              <a:gd name="T24" fmla="*/ 818 w 828"/>
              <a:gd name="T25" fmla="*/ 31 h 199"/>
              <a:gd name="T26" fmla="*/ 820 w 828"/>
              <a:gd name="T27" fmla="*/ 43 h 199"/>
              <a:gd name="T28" fmla="*/ 822 w 828"/>
              <a:gd name="T29" fmla="*/ 53 h 199"/>
              <a:gd name="T30" fmla="*/ 822 w 828"/>
              <a:gd name="T31" fmla="*/ 64 h 199"/>
              <a:gd name="T32" fmla="*/ 823 w 828"/>
              <a:gd name="T33" fmla="*/ 76 h 199"/>
              <a:gd name="T34" fmla="*/ 823 w 828"/>
              <a:gd name="T35" fmla="*/ 88 h 199"/>
              <a:gd name="T36" fmla="*/ 828 w 828"/>
              <a:gd name="T37" fmla="*/ 84 h 199"/>
              <a:gd name="T38" fmla="*/ 0 w 828"/>
              <a:gd name="T39" fmla="*/ 109 h 199"/>
              <a:gd name="T40" fmla="*/ 0 w 828"/>
              <a:gd name="T41" fmla="*/ 121 h 199"/>
              <a:gd name="T42" fmla="*/ 0 w 828"/>
              <a:gd name="T43" fmla="*/ 132 h 199"/>
              <a:gd name="T44" fmla="*/ 2 w 828"/>
              <a:gd name="T45" fmla="*/ 144 h 199"/>
              <a:gd name="T46" fmla="*/ 4 w 828"/>
              <a:gd name="T47" fmla="*/ 154 h 199"/>
              <a:gd name="T48" fmla="*/ 5 w 828"/>
              <a:gd name="T49" fmla="*/ 165 h 199"/>
              <a:gd name="T50" fmla="*/ 7 w 828"/>
              <a:gd name="T51" fmla="*/ 177 h 199"/>
              <a:gd name="T52" fmla="*/ 9 w 828"/>
              <a:gd name="T53" fmla="*/ 187 h 199"/>
              <a:gd name="T54" fmla="*/ 12 w 828"/>
              <a:gd name="T55" fmla="*/ 199 h 199"/>
              <a:gd name="T56" fmla="*/ 17 w 828"/>
              <a:gd name="T57" fmla="*/ 199 h 199"/>
              <a:gd name="T58" fmla="*/ 14 w 828"/>
              <a:gd name="T59" fmla="*/ 187 h 199"/>
              <a:gd name="T60" fmla="*/ 12 w 828"/>
              <a:gd name="T61" fmla="*/ 175 h 199"/>
              <a:gd name="T62" fmla="*/ 10 w 828"/>
              <a:gd name="T63" fmla="*/ 165 h 199"/>
              <a:gd name="T64" fmla="*/ 9 w 828"/>
              <a:gd name="T65" fmla="*/ 154 h 199"/>
              <a:gd name="T66" fmla="*/ 7 w 828"/>
              <a:gd name="T67" fmla="*/ 142 h 199"/>
              <a:gd name="T68" fmla="*/ 5 w 828"/>
              <a:gd name="T69" fmla="*/ 131 h 199"/>
              <a:gd name="T70" fmla="*/ 5 w 828"/>
              <a:gd name="T71" fmla="*/ 119 h 199"/>
              <a:gd name="T72" fmla="*/ 5 w 828"/>
              <a:gd name="T73" fmla="*/ 106 h 199"/>
              <a:gd name="T74" fmla="*/ 0 w 828"/>
              <a:gd name="T75" fmla="*/ 10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28" h="199">
                <a:moveTo>
                  <a:pt x="828" y="84"/>
                </a:moveTo>
                <a:lnTo>
                  <a:pt x="828" y="74"/>
                </a:lnTo>
                <a:lnTo>
                  <a:pt x="827" y="63"/>
                </a:lnTo>
                <a:lnTo>
                  <a:pt x="825" y="53"/>
                </a:lnTo>
                <a:lnTo>
                  <a:pt x="825" y="41"/>
                </a:lnTo>
                <a:lnTo>
                  <a:pt x="823" y="31"/>
                </a:lnTo>
                <a:lnTo>
                  <a:pt x="820" y="20"/>
                </a:lnTo>
                <a:lnTo>
                  <a:pt x="818" y="10"/>
                </a:lnTo>
                <a:lnTo>
                  <a:pt x="817" y="0"/>
                </a:lnTo>
                <a:lnTo>
                  <a:pt x="812" y="0"/>
                </a:lnTo>
                <a:lnTo>
                  <a:pt x="814" y="10"/>
                </a:lnTo>
                <a:lnTo>
                  <a:pt x="817" y="21"/>
                </a:lnTo>
                <a:lnTo>
                  <a:pt x="818" y="31"/>
                </a:lnTo>
                <a:lnTo>
                  <a:pt x="820" y="43"/>
                </a:lnTo>
                <a:lnTo>
                  <a:pt x="822" y="53"/>
                </a:lnTo>
                <a:lnTo>
                  <a:pt x="822" y="64"/>
                </a:lnTo>
                <a:lnTo>
                  <a:pt x="823" y="76"/>
                </a:lnTo>
                <a:lnTo>
                  <a:pt x="823" y="88"/>
                </a:lnTo>
                <a:lnTo>
                  <a:pt x="828" y="84"/>
                </a:lnTo>
                <a:close/>
                <a:moveTo>
                  <a:pt x="0" y="109"/>
                </a:moveTo>
                <a:lnTo>
                  <a:pt x="0" y="121"/>
                </a:lnTo>
                <a:lnTo>
                  <a:pt x="0" y="132"/>
                </a:lnTo>
                <a:lnTo>
                  <a:pt x="2" y="144"/>
                </a:lnTo>
                <a:lnTo>
                  <a:pt x="4" y="154"/>
                </a:lnTo>
                <a:lnTo>
                  <a:pt x="5" y="165"/>
                </a:lnTo>
                <a:lnTo>
                  <a:pt x="7" y="177"/>
                </a:lnTo>
                <a:lnTo>
                  <a:pt x="9" y="187"/>
                </a:lnTo>
                <a:lnTo>
                  <a:pt x="12" y="199"/>
                </a:lnTo>
                <a:lnTo>
                  <a:pt x="17" y="199"/>
                </a:lnTo>
                <a:lnTo>
                  <a:pt x="14" y="187"/>
                </a:lnTo>
                <a:lnTo>
                  <a:pt x="12" y="175"/>
                </a:lnTo>
                <a:lnTo>
                  <a:pt x="10" y="165"/>
                </a:lnTo>
                <a:lnTo>
                  <a:pt x="9" y="154"/>
                </a:lnTo>
                <a:lnTo>
                  <a:pt x="7" y="142"/>
                </a:lnTo>
                <a:lnTo>
                  <a:pt x="5" y="131"/>
                </a:lnTo>
                <a:lnTo>
                  <a:pt x="5" y="119"/>
                </a:lnTo>
                <a:lnTo>
                  <a:pt x="5" y="106"/>
                </a:lnTo>
                <a:lnTo>
                  <a:pt x="0" y="109"/>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46" name="Freeform 1051">
            <a:extLst>
              <a:ext uri="{FF2B5EF4-FFF2-40B4-BE49-F238E27FC236}">
                <a16:creationId xmlns:a16="http://schemas.microsoft.com/office/drawing/2014/main" id="{2886856F-0EC0-63F6-27F9-B042937B8AFB}"/>
              </a:ext>
            </a:extLst>
          </p:cNvPr>
          <p:cNvSpPr>
            <a:spLocks noEditPoints="1"/>
          </p:cNvSpPr>
          <p:nvPr/>
        </p:nvSpPr>
        <p:spPr bwMode="auto">
          <a:xfrm>
            <a:off x="2260600" y="2403475"/>
            <a:ext cx="1306513" cy="315913"/>
          </a:xfrm>
          <a:custGeom>
            <a:avLst/>
            <a:gdLst>
              <a:gd name="T0" fmla="*/ 823 w 823"/>
              <a:gd name="T1" fmla="*/ 86 h 199"/>
              <a:gd name="T2" fmla="*/ 823 w 823"/>
              <a:gd name="T3" fmla="*/ 74 h 199"/>
              <a:gd name="T4" fmla="*/ 823 w 823"/>
              <a:gd name="T5" fmla="*/ 64 h 199"/>
              <a:gd name="T6" fmla="*/ 821 w 823"/>
              <a:gd name="T7" fmla="*/ 53 h 199"/>
              <a:gd name="T8" fmla="*/ 820 w 823"/>
              <a:gd name="T9" fmla="*/ 41 h 199"/>
              <a:gd name="T10" fmla="*/ 818 w 823"/>
              <a:gd name="T11" fmla="*/ 31 h 199"/>
              <a:gd name="T12" fmla="*/ 816 w 823"/>
              <a:gd name="T13" fmla="*/ 21 h 199"/>
              <a:gd name="T14" fmla="*/ 815 w 823"/>
              <a:gd name="T15" fmla="*/ 10 h 199"/>
              <a:gd name="T16" fmla="*/ 812 w 823"/>
              <a:gd name="T17" fmla="*/ 0 h 199"/>
              <a:gd name="T18" fmla="*/ 807 w 823"/>
              <a:gd name="T19" fmla="*/ 0 h 199"/>
              <a:gd name="T20" fmla="*/ 810 w 823"/>
              <a:gd name="T21" fmla="*/ 10 h 199"/>
              <a:gd name="T22" fmla="*/ 812 w 823"/>
              <a:gd name="T23" fmla="*/ 21 h 199"/>
              <a:gd name="T24" fmla="*/ 813 w 823"/>
              <a:gd name="T25" fmla="*/ 31 h 199"/>
              <a:gd name="T26" fmla="*/ 815 w 823"/>
              <a:gd name="T27" fmla="*/ 43 h 199"/>
              <a:gd name="T28" fmla="*/ 816 w 823"/>
              <a:gd name="T29" fmla="*/ 54 h 199"/>
              <a:gd name="T30" fmla="*/ 818 w 823"/>
              <a:gd name="T31" fmla="*/ 66 h 199"/>
              <a:gd name="T32" fmla="*/ 818 w 823"/>
              <a:gd name="T33" fmla="*/ 76 h 199"/>
              <a:gd name="T34" fmla="*/ 820 w 823"/>
              <a:gd name="T35" fmla="*/ 88 h 199"/>
              <a:gd name="T36" fmla="*/ 823 w 823"/>
              <a:gd name="T37" fmla="*/ 86 h 199"/>
              <a:gd name="T38" fmla="*/ 0 w 823"/>
              <a:gd name="T39" fmla="*/ 107 h 199"/>
              <a:gd name="T40" fmla="*/ 0 w 823"/>
              <a:gd name="T41" fmla="*/ 119 h 199"/>
              <a:gd name="T42" fmla="*/ 2 w 823"/>
              <a:gd name="T43" fmla="*/ 131 h 199"/>
              <a:gd name="T44" fmla="*/ 3 w 823"/>
              <a:gd name="T45" fmla="*/ 142 h 199"/>
              <a:gd name="T46" fmla="*/ 3 w 823"/>
              <a:gd name="T47" fmla="*/ 154 h 199"/>
              <a:gd name="T48" fmla="*/ 5 w 823"/>
              <a:gd name="T49" fmla="*/ 165 h 199"/>
              <a:gd name="T50" fmla="*/ 8 w 823"/>
              <a:gd name="T51" fmla="*/ 177 h 199"/>
              <a:gd name="T52" fmla="*/ 10 w 823"/>
              <a:gd name="T53" fmla="*/ 187 h 199"/>
              <a:gd name="T54" fmla="*/ 12 w 823"/>
              <a:gd name="T55" fmla="*/ 199 h 199"/>
              <a:gd name="T56" fmla="*/ 17 w 823"/>
              <a:gd name="T57" fmla="*/ 199 h 199"/>
              <a:gd name="T58" fmla="*/ 15 w 823"/>
              <a:gd name="T59" fmla="*/ 187 h 199"/>
              <a:gd name="T60" fmla="*/ 12 w 823"/>
              <a:gd name="T61" fmla="*/ 175 h 199"/>
              <a:gd name="T62" fmla="*/ 10 w 823"/>
              <a:gd name="T63" fmla="*/ 164 h 199"/>
              <a:gd name="T64" fmla="*/ 8 w 823"/>
              <a:gd name="T65" fmla="*/ 152 h 199"/>
              <a:gd name="T66" fmla="*/ 7 w 823"/>
              <a:gd name="T67" fmla="*/ 141 h 199"/>
              <a:gd name="T68" fmla="*/ 7 w 823"/>
              <a:gd name="T69" fmla="*/ 129 h 199"/>
              <a:gd name="T70" fmla="*/ 5 w 823"/>
              <a:gd name="T71" fmla="*/ 117 h 199"/>
              <a:gd name="T72" fmla="*/ 5 w 823"/>
              <a:gd name="T73" fmla="*/ 106 h 199"/>
              <a:gd name="T74" fmla="*/ 0 w 823"/>
              <a:gd name="T75" fmla="*/ 10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23" h="199">
                <a:moveTo>
                  <a:pt x="823" y="86"/>
                </a:moveTo>
                <a:lnTo>
                  <a:pt x="823" y="74"/>
                </a:lnTo>
                <a:lnTo>
                  <a:pt x="823" y="64"/>
                </a:lnTo>
                <a:lnTo>
                  <a:pt x="821" y="53"/>
                </a:lnTo>
                <a:lnTo>
                  <a:pt x="820" y="41"/>
                </a:lnTo>
                <a:lnTo>
                  <a:pt x="818" y="31"/>
                </a:lnTo>
                <a:lnTo>
                  <a:pt x="816" y="21"/>
                </a:lnTo>
                <a:lnTo>
                  <a:pt x="815" y="10"/>
                </a:lnTo>
                <a:lnTo>
                  <a:pt x="812" y="0"/>
                </a:lnTo>
                <a:lnTo>
                  <a:pt x="807" y="0"/>
                </a:lnTo>
                <a:lnTo>
                  <a:pt x="810" y="10"/>
                </a:lnTo>
                <a:lnTo>
                  <a:pt x="812" y="21"/>
                </a:lnTo>
                <a:lnTo>
                  <a:pt x="813" y="31"/>
                </a:lnTo>
                <a:lnTo>
                  <a:pt x="815" y="43"/>
                </a:lnTo>
                <a:lnTo>
                  <a:pt x="816" y="54"/>
                </a:lnTo>
                <a:lnTo>
                  <a:pt x="818" y="66"/>
                </a:lnTo>
                <a:lnTo>
                  <a:pt x="818" y="76"/>
                </a:lnTo>
                <a:lnTo>
                  <a:pt x="820" y="88"/>
                </a:lnTo>
                <a:lnTo>
                  <a:pt x="823" y="86"/>
                </a:lnTo>
                <a:close/>
                <a:moveTo>
                  <a:pt x="0" y="107"/>
                </a:moveTo>
                <a:lnTo>
                  <a:pt x="0" y="119"/>
                </a:lnTo>
                <a:lnTo>
                  <a:pt x="2" y="131"/>
                </a:lnTo>
                <a:lnTo>
                  <a:pt x="3" y="142"/>
                </a:lnTo>
                <a:lnTo>
                  <a:pt x="3" y="154"/>
                </a:lnTo>
                <a:lnTo>
                  <a:pt x="5" y="165"/>
                </a:lnTo>
                <a:lnTo>
                  <a:pt x="8" y="177"/>
                </a:lnTo>
                <a:lnTo>
                  <a:pt x="10" y="187"/>
                </a:lnTo>
                <a:lnTo>
                  <a:pt x="12" y="199"/>
                </a:lnTo>
                <a:lnTo>
                  <a:pt x="17" y="199"/>
                </a:lnTo>
                <a:lnTo>
                  <a:pt x="15" y="187"/>
                </a:lnTo>
                <a:lnTo>
                  <a:pt x="12" y="175"/>
                </a:lnTo>
                <a:lnTo>
                  <a:pt x="10" y="164"/>
                </a:lnTo>
                <a:lnTo>
                  <a:pt x="8" y="152"/>
                </a:lnTo>
                <a:lnTo>
                  <a:pt x="7" y="141"/>
                </a:lnTo>
                <a:lnTo>
                  <a:pt x="7" y="129"/>
                </a:lnTo>
                <a:lnTo>
                  <a:pt x="5" y="117"/>
                </a:lnTo>
                <a:lnTo>
                  <a:pt x="5" y="106"/>
                </a:lnTo>
                <a:lnTo>
                  <a:pt x="0" y="107"/>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47" name="Freeform 1052">
            <a:extLst>
              <a:ext uri="{FF2B5EF4-FFF2-40B4-BE49-F238E27FC236}">
                <a16:creationId xmlns:a16="http://schemas.microsoft.com/office/drawing/2014/main" id="{3D734D11-F852-3306-B456-6422E7A9F540}"/>
              </a:ext>
            </a:extLst>
          </p:cNvPr>
          <p:cNvSpPr>
            <a:spLocks noEditPoints="1"/>
          </p:cNvSpPr>
          <p:nvPr/>
        </p:nvSpPr>
        <p:spPr bwMode="auto">
          <a:xfrm>
            <a:off x="2265363" y="2403475"/>
            <a:ext cx="1298575" cy="315913"/>
          </a:xfrm>
          <a:custGeom>
            <a:avLst/>
            <a:gdLst>
              <a:gd name="T0" fmla="*/ 818 w 818"/>
              <a:gd name="T1" fmla="*/ 88 h 199"/>
              <a:gd name="T2" fmla="*/ 818 w 818"/>
              <a:gd name="T3" fmla="*/ 76 h 199"/>
              <a:gd name="T4" fmla="*/ 817 w 818"/>
              <a:gd name="T5" fmla="*/ 64 h 199"/>
              <a:gd name="T6" fmla="*/ 817 w 818"/>
              <a:gd name="T7" fmla="*/ 53 h 199"/>
              <a:gd name="T8" fmla="*/ 815 w 818"/>
              <a:gd name="T9" fmla="*/ 43 h 199"/>
              <a:gd name="T10" fmla="*/ 813 w 818"/>
              <a:gd name="T11" fmla="*/ 31 h 199"/>
              <a:gd name="T12" fmla="*/ 812 w 818"/>
              <a:gd name="T13" fmla="*/ 21 h 199"/>
              <a:gd name="T14" fmla="*/ 809 w 818"/>
              <a:gd name="T15" fmla="*/ 10 h 199"/>
              <a:gd name="T16" fmla="*/ 807 w 818"/>
              <a:gd name="T17" fmla="*/ 0 h 199"/>
              <a:gd name="T18" fmla="*/ 802 w 818"/>
              <a:gd name="T19" fmla="*/ 0 h 199"/>
              <a:gd name="T20" fmla="*/ 804 w 818"/>
              <a:gd name="T21" fmla="*/ 10 h 199"/>
              <a:gd name="T22" fmla="*/ 807 w 818"/>
              <a:gd name="T23" fmla="*/ 21 h 199"/>
              <a:gd name="T24" fmla="*/ 809 w 818"/>
              <a:gd name="T25" fmla="*/ 33 h 199"/>
              <a:gd name="T26" fmla="*/ 810 w 818"/>
              <a:gd name="T27" fmla="*/ 43 h 199"/>
              <a:gd name="T28" fmla="*/ 812 w 818"/>
              <a:gd name="T29" fmla="*/ 54 h 199"/>
              <a:gd name="T30" fmla="*/ 812 w 818"/>
              <a:gd name="T31" fmla="*/ 66 h 199"/>
              <a:gd name="T32" fmla="*/ 813 w 818"/>
              <a:gd name="T33" fmla="*/ 78 h 199"/>
              <a:gd name="T34" fmla="*/ 813 w 818"/>
              <a:gd name="T35" fmla="*/ 89 h 199"/>
              <a:gd name="T36" fmla="*/ 818 w 818"/>
              <a:gd name="T37" fmla="*/ 88 h 199"/>
              <a:gd name="T38" fmla="*/ 0 w 818"/>
              <a:gd name="T39" fmla="*/ 106 h 199"/>
              <a:gd name="T40" fmla="*/ 0 w 818"/>
              <a:gd name="T41" fmla="*/ 119 h 199"/>
              <a:gd name="T42" fmla="*/ 0 w 818"/>
              <a:gd name="T43" fmla="*/ 131 h 199"/>
              <a:gd name="T44" fmla="*/ 2 w 818"/>
              <a:gd name="T45" fmla="*/ 142 h 199"/>
              <a:gd name="T46" fmla="*/ 4 w 818"/>
              <a:gd name="T47" fmla="*/ 154 h 199"/>
              <a:gd name="T48" fmla="*/ 5 w 818"/>
              <a:gd name="T49" fmla="*/ 165 h 199"/>
              <a:gd name="T50" fmla="*/ 7 w 818"/>
              <a:gd name="T51" fmla="*/ 175 h 199"/>
              <a:gd name="T52" fmla="*/ 9 w 818"/>
              <a:gd name="T53" fmla="*/ 187 h 199"/>
              <a:gd name="T54" fmla="*/ 12 w 818"/>
              <a:gd name="T55" fmla="*/ 199 h 199"/>
              <a:gd name="T56" fmla="*/ 17 w 818"/>
              <a:gd name="T57" fmla="*/ 199 h 199"/>
              <a:gd name="T58" fmla="*/ 14 w 818"/>
              <a:gd name="T59" fmla="*/ 187 h 199"/>
              <a:gd name="T60" fmla="*/ 12 w 818"/>
              <a:gd name="T61" fmla="*/ 175 h 199"/>
              <a:gd name="T62" fmla="*/ 10 w 818"/>
              <a:gd name="T63" fmla="*/ 164 h 199"/>
              <a:gd name="T64" fmla="*/ 9 w 818"/>
              <a:gd name="T65" fmla="*/ 152 h 199"/>
              <a:gd name="T66" fmla="*/ 7 w 818"/>
              <a:gd name="T67" fmla="*/ 141 h 199"/>
              <a:gd name="T68" fmla="*/ 5 w 818"/>
              <a:gd name="T69" fmla="*/ 129 h 199"/>
              <a:gd name="T70" fmla="*/ 5 w 818"/>
              <a:gd name="T71" fmla="*/ 116 h 199"/>
              <a:gd name="T72" fmla="*/ 5 w 818"/>
              <a:gd name="T73" fmla="*/ 104 h 199"/>
              <a:gd name="T74" fmla="*/ 0 w 818"/>
              <a:gd name="T75" fmla="*/ 10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8" h="199">
                <a:moveTo>
                  <a:pt x="818" y="88"/>
                </a:moveTo>
                <a:lnTo>
                  <a:pt x="818" y="76"/>
                </a:lnTo>
                <a:lnTo>
                  <a:pt x="817" y="64"/>
                </a:lnTo>
                <a:lnTo>
                  <a:pt x="817" y="53"/>
                </a:lnTo>
                <a:lnTo>
                  <a:pt x="815" y="43"/>
                </a:lnTo>
                <a:lnTo>
                  <a:pt x="813" y="31"/>
                </a:lnTo>
                <a:lnTo>
                  <a:pt x="812" y="21"/>
                </a:lnTo>
                <a:lnTo>
                  <a:pt x="809" y="10"/>
                </a:lnTo>
                <a:lnTo>
                  <a:pt x="807" y="0"/>
                </a:lnTo>
                <a:lnTo>
                  <a:pt x="802" y="0"/>
                </a:lnTo>
                <a:lnTo>
                  <a:pt x="804" y="10"/>
                </a:lnTo>
                <a:lnTo>
                  <a:pt x="807" y="21"/>
                </a:lnTo>
                <a:lnTo>
                  <a:pt x="809" y="33"/>
                </a:lnTo>
                <a:lnTo>
                  <a:pt x="810" y="43"/>
                </a:lnTo>
                <a:lnTo>
                  <a:pt x="812" y="54"/>
                </a:lnTo>
                <a:lnTo>
                  <a:pt x="812" y="66"/>
                </a:lnTo>
                <a:lnTo>
                  <a:pt x="813" y="78"/>
                </a:lnTo>
                <a:lnTo>
                  <a:pt x="813" y="89"/>
                </a:lnTo>
                <a:lnTo>
                  <a:pt x="818" y="88"/>
                </a:lnTo>
                <a:close/>
                <a:moveTo>
                  <a:pt x="0" y="106"/>
                </a:moveTo>
                <a:lnTo>
                  <a:pt x="0" y="119"/>
                </a:lnTo>
                <a:lnTo>
                  <a:pt x="0" y="131"/>
                </a:lnTo>
                <a:lnTo>
                  <a:pt x="2" y="142"/>
                </a:lnTo>
                <a:lnTo>
                  <a:pt x="4" y="154"/>
                </a:lnTo>
                <a:lnTo>
                  <a:pt x="5" y="165"/>
                </a:lnTo>
                <a:lnTo>
                  <a:pt x="7" y="175"/>
                </a:lnTo>
                <a:lnTo>
                  <a:pt x="9" y="187"/>
                </a:lnTo>
                <a:lnTo>
                  <a:pt x="12" y="199"/>
                </a:lnTo>
                <a:lnTo>
                  <a:pt x="17" y="199"/>
                </a:lnTo>
                <a:lnTo>
                  <a:pt x="14" y="187"/>
                </a:lnTo>
                <a:lnTo>
                  <a:pt x="12" y="175"/>
                </a:lnTo>
                <a:lnTo>
                  <a:pt x="10" y="164"/>
                </a:lnTo>
                <a:lnTo>
                  <a:pt x="9" y="152"/>
                </a:lnTo>
                <a:lnTo>
                  <a:pt x="7" y="141"/>
                </a:lnTo>
                <a:lnTo>
                  <a:pt x="5" y="129"/>
                </a:lnTo>
                <a:lnTo>
                  <a:pt x="5" y="116"/>
                </a:lnTo>
                <a:lnTo>
                  <a:pt x="5" y="104"/>
                </a:lnTo>
                <a:lnTo>
                  <a:pt x="0" y="106"/>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48" name="Freeform 1053">
            <a:extLst>
              <a:ext uri="{FF2B5EF4-FFF2-40B4-BE49-F238E27FC236}">
                <a16:creationId xmlns:a16="http://schemas.microsoft.com/office/drawing/2014/main" id="{08E2E85F-A68B-7E84-CB75-D7B74B37D837}"/>
              </a:ext>
            </a:extLst>
          </p:cNvPr>
          <p:cNvSpPr>
            <a:spLocks noEditPoints="1"/>
          </p:cNvSpPr>
          <p:nvPr/>
        </p:nvSpPr>
        <p:spPr bwMode="auto">
          <a:xfrm>
            <a:off x="2268538" y="2403475"/>
            <a:ext cx="1293813" cy="315913"/>
          </a:xfrm>
          <a:custGeom>
            <a:avLst/>
            <a:gdLst>
              <a:gd name="T0" fmla="*/ 815 w 815"/>
              <a:gd name="T1" fmla="*/ 88 h 199"/>
              <a:gd name="T2" fmla="*/ 813 w 815"/>
              <a:gd name="T3" fmla="*/ 76 h 199"/>
              <a:gd name="T4" fmla="*/ 813 w 815"/>
              <a:gd name="T5" fmla="*/ 66 h 199"/>
              <a:gd name="T6" fmla="*/ 811 w 815"/>
              <a:gd name="T7" fmla="*/ 54 h 199"/>
              <a:gd name="T8" fmla="*/ 810 w 815"/>
              <a:gd name="T9" fmla="*/ 43 h 199"/>
              <a:gd name="T10" fmla="*/ 808 w 815"/>
              <a:gd name="T11" fmla="*/ 31 h 199"/>
              <a:gd name="T12" fmla="*/ 807 w 815"/>
              <a:gd name="T13" fmla="*/ 21 h 199"/>
              <a:gd name="T14" fmla="*/ 805 w 815"/>
              <a:gd name="T15" fmla="*/ 10 h 199"/>
              <a:gd name="T16" fmla="*/ 802 w 815"/>
              <a:gd name="T17" fmla="*/ 0 h 199"/>
              <a:gd name="T18" fmla="*/ 797 w 815"/>
              <a:gd name="T19" fmla="*/ 0 h 199"/>
              <a:gd name="T20" fmla="*/ 800 w 815"/>
              <a:gd name="T21" fmla="*/ 10 h 199"/>
              <a:gd name="T22" fmla="*/ 802 w 815"/>
              <a:gd name="T23" fmla="*/ 21 h 199"/>
              <a:gd name="T24" fmla="*/ 803 w 815"/>
              <a:gd name="T25" fmla="*/ 33 h 199"/>
              <a:gd name="T26" fmla="*/ 807 w 815"/>
              <a:gd name="T27" fmla="*/ 45 h 199"/>
              <a:gd name="T28" fmla="*/ 807 w 815"/>
              <a:gd name="T29" fmla="*/ 56 h 199"/>
              <a:gd name="T30" fmla="*/ 808 w 815"/>
              <a:gd name="T31" fmla="*/ 66 h 199"/>
              <a:gd name="T32" fmla="*/ 808 w 815"/>
              <a:gd name="T33" fmla="*/ 78 h 199"/>
              <a:gd name="T34" fmla="*/ 810 w 815"/>
              <a:gd name="T35" fmla="*/ 89 h 199"/>
              <a:gd name="T36" fmla="*/ 815 w 815"/>
              <a:gd name="T37" fmla="*/ 88 h 199"/>
              <a:gd name="T38" fmla="*/ 0 w 815"/>
              <a:gd name="T39" fmla="*/ 106 h 199"/>
              <a:gd name="T40" fmla="*/ 0 w 815"/>
              <a:gd name="T41" fmla="*/ 117 h 199"/>
              <a:gd name="T42" fmla="*/ 2 w 815"/>
              <a:gd name="T43" fmla="*/ 129 h 199"/>
              <a:gd name="T44" fmla="*/ 2 w 815"/>
              <a:gd name="T45" fmla="*/ 141 h 199"/>
              <a:gd name="T46" fmla="*/ 3 w 815"/>
              <a:gd name="T47" fmla="*/ 152 h 199"/>
              <a:gd name="T48" fmla="*/ 5 w 815"/>
              <a:gd name="T49" fmla="*/ 164 h 199"/>
              <a:gd name="T50" fmla="*/ 7 w 815"/>
              <a:gd name="T51" fmla="*/ 175 h 199"/>
              <a:gd name="T52" fmla="*/ 10 w 815"/>
              <a:gd name="T53" fmla="*/ 187 h 199"/>
              <a:gd name="T54" fmla="*/ 12 w 815"/>
              <a:gd name="T55" fmla="*/ 199 h 199"/>
              <a:gd name="T56" fmla="*/ 17 w 815"/>
              <a:gd name="T57" fmla="*/ 199 h 199"/>
              <a:gd name="T58" fmla="*/ 15 w 815"/>
              <a:gd name="T59" fmla="*/ 187 h 199"/>
              <a:gd name="T60" fmla="*/ 12 w 815"/>
              <a:gd name="T61" fmla="*/ 175 h 199"/>
              <a:gd name="T62" fmla="*/ 10 w 815"/>
              <a:gd name="T63" fmla="*/ 164 h 199"/>
              <a:gd name="T64" fmla="*/ 8 w 815"/>
              <a:gd name="T65" fmla="*/ 152 h 199"/>
              <a:gd name="T66" fmla="*/ 7 w 815"/>
              <a:gd name="T67" fmla="*/ 139 h 199"/>
              <a:gd name="T68" fmla="*/ 7 w 815"/>
              <a:gd name="T69" fmla="*/ 127 h 199"/>
              <a:gd name="T70" fmla="*/ 5 w 815"/>
              <a:gd name="T71" fmla="*/ 116 h 199"/>
              <a:gd name="T72" fmla="*/ 5 w 815"/>
              <a:gd name="T73" fmla="*/ 102 h 199"/>
              <a:gd name="T74" fmla="*/ 0 w 815"/>
              <a:gd name="T75" fmla="*/ 10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5" h="199">
                <a:moveTo>
                  <a:pt x="815" y="88"/>
                </a:moveTo>
                <a:lnTo>
                  <a:pt x="813" y="76"/>
                </a:lnTo>
                <a:lnTo>
                  <a:pt x="813" y="66"/>
                </a:lnTo>
                <a:lnTo>
                  <a:pt x="811" y="54"/>
                </a:lnTo>
                <a:lnTo>
                  <a:pt x="810" y="43"/>
                </a:lnTo>
                <a:lnTo>
                  <a:pt x="808" y="31"/>
                </a:lnTo>
                <a:lnTo>
                  <a:pt x="807" y="21"/>
                </a:lnTo>
                <a:lnTo>
                  <a:pt x="805" y="10"/>
                </a:lnTo>
                <a:lnTo>
                  <a:pt x="802" y="0"/>
                </a:lnTo>
                <a:lnTo>
                  <a:pt x="797" y="0"/>
                </a:lnTo>
                <a:lnTo>
                  <a:pt x="800" y="10"/>
                </a:lnTo>
                <a:lnTo>
                  <a:pt x="802" y="21"/>
                </a:lnTo>
                <a:lnTo>
                  <a:pt x="803" y="33"/>
                </a:lnTo>
                <a:lnTo>
                  <a:pt x="807" y="45"/>
                </a:lnTo>
                <a:lnTo>
                  <a:pt x="807" y="56"/>
                </a:lnTo>
                <a:lnTo>
                  <a:pt x="808" y="66"/>
                </a:lnTo>
                <a:lnTo>
                  <a:pt x="808" y="78"/>
                </a:lnTo>
                <a:lnTo>
                  <a:pt x="810" y="89"/>
                </a:lnTo>
                <a:lnTo>
                  <a:pt x="815" y="88"/>
                </a:lnTo>
                <a:close/>
                <a:moveTo>
                  <a:pt x="0" y="106"/>
                </a:moveTo>
                <a:lnTo>
                  <a:pt x="0" y="117"/>
                </a:lnTo>
                <a:lnTo>
                  <a:pt x="2" y="129"/>
                </a:lnTo>
                <a:lnTo>
                  <a:pt x="2" y="141"/>
                </a:lnTo>
                <a:lnTo>
                  <a:pt x="3" y="152"/>
                </a:lnTo>
                <a:lnTo>
                  <a:pt x="5" y="164"/>
                </a:lnTo>
                <a:lnTo>
                  <a:pt x="7" y="175"/>
                </a:lnTo>
                <a:lnTo>
                  <a:pt x="10" y="187"/>
                </a:lnTo>
                <a:lnTo>
                  <a:pt x="12" y="199"/>
                </a:lnTo>
                <a:lnTo>
                  <a:pt x="17" y="199"/>
                </a:lnTo>
                <a:lnTo>
                  <a:pt x="15" y="187"/>
                </a:lnTo>
                <a:lnTo>
                  <a:pt x="12" y="175"/>
                </a:lnTo>
                <a:lnTo>
                  <a:pt x="10" y="164"/>
                </a:lnTo>
                <a:lnTo>
                  <a:pt x="8" y="152"/>
                </a:lnTo>
                <a:lnTo>
                  <a:pt x="7" y="139"/>
                </a:lnTo>
                <a:lnTo>
                  <a:pt x="7" y="127"/>
                </a:lnTo>
                <a:lnTo>
                  <a:pt x="5" y="116"/>
                </a:lnTo>
                <a:lnTo>
                  <a:pt x="5" y="102"/>
                </a:lnTo>
                <a:lnTo>
                  <a:pt x="0" y="106"/>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49" name="Freeform 1054">
            <a:extLst>
              <a:ext uri="{FF2B5EF4-FFF2-40B4-BE49-F238E27FC236}">
                <a16:creationId xmlns:a16="http://schemas.microsoft.com/office/drawing/2014/main" id="{A7E20FAD-1204-8988-15D8-D5CCFA4E09B9}"/>
              </a:ext>
            </a:extLst>
          </p:cNvPr>
          <p:cNvSpPr>
            <a:spLocks noEditPoints="1"/>
          </p:cNvSpPr>
          <p:nvPr/>
        </p:nvSpPr>
        <p:spPr bwMode="auto">
          <a:xfrm>
            <a:off x="2273300" y="2403475"/>
            <a:ext cx="1282700" cy="315913"/>
          </a:xfrm>
          <a:custGeom>
            <a:avLst/>
            <a:gdLst>
              <a:gd name="T0" fmla="*/ 808 w 808"/>
              <a:gd name="T1" fmla="*/ 89 h 199"/>
              <a:gd name="T2" fmla="*/ 808 w 808"/>
              <a:gd name="T3" fmla="*/ 78 h 199"/>
              <a:gd name="T4" fmla="*/ 807 w 808"/>
              <a:gd name="T5" fmla="*/ 66 h 199"/>
              <a:gd name="T6" fmla="*/ 807 w 808"/>
              <a:gd name="T7" fmla="*/ 54 h 199"/>
              <a:gd name="T8" fmla="*/ 805 w 808"/>
              <a:gd name="T9" fmla="*/ 43 h 199"/>
              <a:gd name="T10" fmla="*/ 804 w 808"/>
              <a:gd name="T11" fmla="*/ 33 h 199"/>
              <a:gd name="T12" fmla="*/ 802 w 808"/>
              <a:gd name="T13" fmla="*/ 21 h 199"/>
              <a:gd name="T14" fmla="*/ 799 w 808"/>
              <a:gd name="T15" fmla="*/ 10 h 199"/>
              <a:gd name="T16" fmla="*/ 797 w 808"/>
              <a:gd name="T17" fmla="*/ 0 h 199"/>
              <a:gd name="T18" fmla="*/ 792 w 808"/>
              <a:gd name="T19" fmla="*/ 0 h 199"/>
              <a:gd name="T20" fmla="*/ 794 w 808"/>
              <a:gd name="T21" fmla="*/ 11 h 199"/>
              <a:gd name="T22" fmla="*/ 797 w 808"/>
              <a:gd name="T23" fmla="*/ 21 h 199"/>
              <a:gd name="T24" fmla="*/ 799 w 808"/>
              <a:gd name="T25" fmla="*/ 33 h 199"/>
              <a:gd name="T26" fmla="*/ 800 w 808"/>
              <a:gd name="T27" fmla="*/ 45 h 199"/>
              <a:gd name="T28" fmla="*/ 802 w 808"/>
              <a:gd name="T29" fmla="*/ 56 h 199"/>
              <a:gd name="T30" fmla="*/ 804 w 808"/>
              <a:gd name="T31" fmla="*/ 68 h 199"/>
              <a:gd name="T32" fmla="*/ 804 w 808"/>
              <a:gd name="T33" fmla="*/ 79 h 199"/>
              <a:gd name="T34" fmla="*/ 804 w 808"/>
              <a:gd name="T35" fmla="*/ 91 h 199"/>
              <a:gd name="T36" fmla="*/ 808 w 808"/>
              <a:gd name="T37" fmla="*/ 89 h 199"/>
              <a:gd name="T38" fmla="*/ 0 w 808"/>
              <a:gd name="T39" fmla="*/ 104 h 199"/>
              <a:gd name="T40" fmla="*/ 0 w 808"/>
              <a:gd name="T41" fmla="*/ 116 h 199"/>
              <a:gd name="T42" fmla="*/ 0 w 808"/>
              <a:gd name="T43" fmla="*/ 129 h 199"/>
              <a:gd name="T44" fmla="*/ 2 w 808"/>
              <a:gd name="T45" fmla="*/ 141 h 199"/>
              <a:gd name="T46" fmla="*/ 4 w 808"/>
              <a:gd name="T47" fmla="*/ 152 h 199"/>
              <a:gd name="T48" fmla="*/ 5 w 808"/>
              <a:gd name="T49" fmla="*/ 164 h 199"/>
              <a:gd name="T50" fmla="*/ 7 w 808"/>
              <a:gd name="T51" fmla="*/ 175 h 199"/>
              <a:gd name="T52" fmla="*/ 9 w 808"/>
              <a:gd name="T53" fmla="*/ 187 h 199"/>
              <a:gd name="T54" fmla="*/ 12 w 808"/>
              <a:gd name="T55" fmla="*/ 199 h 199"/>
              <a:gd name="T56" fmla="*/ 17 w 808"/>
              <a:gd name="T57" fmla="*/ 199 h 199"/>
              <a:gd name="T58" fmla="*/ 14 w 808"/>
              <a:gd name="T59" fmla="*/ 187 h 199"/>
              <a:gd name="T60" fmla="*/ 12 w 808"/>
              <a:gd name="T61" fmla="*/ 175 h 199"/>
              <a:gd name="T62" fmla="*/ 9 w 808"/>
              <a:gd name="T63" fmla="*/ 164 h 199"/>
              <a:gd name="T64" fmla="*/ 7 w 808"/>
              <a:gd name="T65" fmla="*/ 151 h 199"/>
              <a:gd name="T66" fmla="*/ 7 w 808"/>
              <a:gd name="T67" fmla="*/ 139 h 199"/>
              <a:gd name="T68" fmla="*/ 5 w 808"/>
              <a:gd name="T69" fmla="*/ 127 h 199"/>
              <a:gd name="T70" fmla="*/ 5 w 808"/>
              <a:gd name="T71" fmla="*/ 114 h 199"/>
              <a:gd name="T72" fmla="*/ 4 w 808"/>
              <a:gd name="T73" fmla="*/ 102 h 199"/>
              <a:gd name="T74" fmla="*/ 0 w 808"/>
              <a:gd name="T75" fmla="*/ 10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08" h="199">
                <a:moveTo>
                  <a:pt x="808" y="89"/>
                </a:moveTo>
                <a:lnTo>
                  <a:pt x="808" y="78"/>
                </a:lnTo>
                <a:lnTo>
                  <a:pt x="807" y="66"/>
                </a:lnTo>
                <a:lnTo>
                  <a:pt x="807" y="54"/>
                </a:lnTo>
                <a:lnTo>
                  <a:pt x="805" y="43"/>
                </a:lnTo>
                <a:lnTo>
                  <a:pt x="804" y="33"/>
                </a:lnTo>
                <a:lnTo>
                  <a:pt x="802" y="21"/>
                </a:lnTo>
                <a:lnTo>
                  <a:pt x="799" y="10"/>
                </a:lnTo>
                <a:lnTo>
                  <a:pt x="797" y="0"/>
                </a:lnTo>
                <a:lnTo>
                  <a:pt x="792" y="0"/>
                </a:lnTo>
                <a:lnTo>
                  <a:pt x="794" y="11"/>
                </a:lnTo>
                <a:lnTo>
                  <a:pt x="797" y="21"/>
                </a:lnTo>
                <a:lnTo>
                  <a:pt x="799" y="33"/>
                </a:lnTo>
                <a:lnTo>
                  <a:pt x="800" y="45"/>
                </a:lnTo>
                <a:lnTo>
                  <a:pt x="802" y="56"/>
                </a:lnTo>
                <a:lnTo>
                  <a:pt x="804" y="68"/>
                </a:lnTo>
                <a:lnTo>
                  <a:pt x="804" y="79"/>
                </a:lnTo>
                <a:lnTo>
                  <a:pt x="804" y="91"/>
                </a:lnTo>
                <a:lnTo>
                  <a:pt x="808" y="89"/>
                </a:lnTo>
                <a:close/>
                <a:moveTo>
                  <a:pt x="0" y="104"/>
                </a:moveTo>
                <a:lnTo>
                  <a:pt x="0" y="116"/>
                </a:lnTo>
                <a:lnTo>
                  <a:pt x="0" y="129"/>
                </a:lnTo>
                <a:lnTo>
                  <a:pt x="2" y="141"/>
                </a:lnTo>
                <a:lnTo>
                  <a:pt x="4" y="152"/>
                </a:lnTo>
                <a:lnTo>
                  <a:pt x="5" y="164"/>
                </a:lnTo>
                <a:lnTo>
                  <a:pt x="7" y="175"/>
                </a:lnTo>
                <a:lnTo>
                  <a:pt x="9" y="187"/>
                </a:lnTo>
                <a:lnTo>
                  <a:pt x="12" y="199"/>
                </a:lnTo>
                <a:lnTo>
                  <a:pt x="17" y="199"/>
                </a:lnTo>
                <a:lnTo>
                  <a:pt x="14" y="187"/>
                </a:lnTo>
                <a:lnTo>
                  <a:pt x="12" y="175"/>
                </a:lnTo>
                <a:lnTo>
                  <a:pt x="9" y="164"/>
                </a:lnTo>
                <a:lnTo>
                  <a:pt x="7" y="151"/>
                </a:lnTo>
                <a:lnTo>
                  <a:pt x="7" y="139"/>
                </a:lnTo>
                <a:lnTo>
                  <a:pt x="5" y="127"/>
                </a:lnTo>
                <a:lnTo>
                  <a:pt x="5" y="114"/>
                </a:lnTo>
                <a:lnTo>
                  <a:pt x="4" y="102"/>
                </a:lnTo>
                <a:lnTo>
                  <a:pt x="0" y="104"/>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50" name="Freeform 1055">
            <a:extLst>
              <a:ext uri="{FF2B5EF4-FFF2-40B4-BE49-F238E27FC236}">
                <a16:creationId xmlns:a16="http://schemas.microsoft.com/office/drawing/2014/main" id="{276E2477-DB3C-3A0D-35BA-5DE76670A1C4}"/>
              </a:ext>
            </a:extLst>
          </p:cNvPr>
          <p:cNvSpPr>
            <a:spLocks noEditPoints="1"/>
          </p:cNvSpPr>
          <p:nvPr/>
        </p:nvSpPr>
        <p:spPr bwMode="auto">
          <a:xfrm>
            <a:off x="2276475" y="2403475"/>
            <a:ext cx="1277938" cy="315913"/>
          </a:xfrm>
          <a:custGeom>
            <a:avLst/>
            <a:gdLst>
              <a:gd name="T0" fmla="*/ 805 w 805"/>
              <a:gd name="T1" fmla="*/ 89 h 199"/>
              <a:gd name="T2" fmla="*/ 803 w 805"/>
              <a:gd name="T3" fmla="*/ 78 h 199"/>
              <a:gd name="T4" fmla="*/ 803 w 805"/>
              <a:gd name="T5" fmla="*/ 66 h 199"/>
              <a:gd name="T6" fmla="*/ 802 w 805"/>
              <a:gd name="T7" fmla="*/ 56 h 199"/>
              <a:gd name="T8" fmla="*/ 802 w 805"/>
              <a:gd name="T9" fmla="*/ 45 h 199"/>
              <a:gd name="T10" fmla="*/ 798 w 805"/>
              <a:gd name="T11" fmla="*/ 33 h 199"/>
              <a:gd name="T12" fmla="*/ 797 w 805"/>
              <a:gd name="T13" fmla="*/ 21 h 199"/>
              <a:gd name="T14" fmla="*/ 795 w 805"/>
              <a:gd name="T15" fmla="*/ 10 h 199"/>
              <a:gd name="T16" fmla="*/ 792 w 805"/>
              <a:gd name="T17" fmla="*/ 0 h 199"/>
              <a:gd name="T18" fmla="*/ 787 w 805"/>
              <a:gd name="T19" fmla="*/ 0 h 199"/>
              <a:gd name="T20" fmla="*/ 790 w 805"/>
              <a:gd name="T21" fmla="*/ 11 h 199"/>
              <a:gd name="T22" fmla="*/ 792 w 805"/>
              <a:gd name="T23" fmla="*/ 21 h 199"/>
              <a:gd name="T24" fmla="*/ 795 w 805"/>
              <a:gd name="T25" fmla="*/ 33 h 199"/>
              <a:gd name="T26" fmla="*/ 797 w 805"/>
              <a:gd name="T27" fmla="*/ 45 h 199"/>
              <a:gd name="T28" fmla="*/ 798 w 805"/>
              <a:gd name="T29" fmla="*/ 56 h 199"/>
              <a:gd name="T30" fmla="*/ 798 w 805"/>
              <a:gd name="T31" fmla="*/ 68 h 199"/>
              <a:gd name="T32" fmla="*/ 800 w 805"/>
              <a:gd name="T33" fmla="*/ 81 h 199"/>
              <a:gd name="T34" fmla="*/ 800 w 805"/>
              <a:gd name="T35" fmla="*/ 93 h 199"/>
              <a:gd name="T36" fmla="*/ 805 w 805"/>
              <a:gd name="T37" fmla="*/ 89 h 199"/>
              <a:gd name="T38" fmla="*/ 0 w 805"/>
              <a:gd name="T39" fmla="*/ 102 h 199"/>
              <a:gd name="T40" fmla="*/ 0 w 805"/>
              <a:gd name="T41" fmla="*/ 116 h 199"/>
              <a:gd name="T42" fmla="*/ 2 w 805"/>
              <a:gd name="T43" fmla="*/ 127 h 199"/>
              <a:gd name="T44" fmla="*/ 2 w 805"/>
              <a:gd name="T45" fmla="*/ 139 h 199"/>
              <a:gd name="T46" fmla="*/ 3 w 805"/>
              <a:gd name="T47" fmla="*/ 152 h 199"/>
              <a:gd name="T48" fmla="*/ 5 w 805"/>
              <a:gd name="T49" fmla="*/ 164 h 199"/>
              <a:gd name="T50" fmla="*/ 7 w 805"/>
              <a:gd name="T51" fmla="*/ 175 h 199"/>
              <a:gd name="T52" fmla="*/ 10 w 805"/>
              <a:gd name="T53" fmla="*/ 187 h 199"/>
              <a:gd name="T54" fmla="*/ 12 w 805"/>
              <a:gd name="T55" fmla="*/ 199 h 199"/>
              <a:gd name="T56" fmla="*/ 17 w 805"/>
              <a:gd name="T57" fmla="*/ 199 h 199"/>
              <a:gd name="T58" fmla="*/ 15 w 805"/>
              <a:gd name="T59" fmla="*/ 187 h 199"/>
              <a:gd name="T60" fmla="*/ 12 w 805"/>
              <a:gd name="T61" fmla="*/ 175 h 199"/>
              <a:gd name="T62" fmla="*/ 10 w 805"/>
              <a:gd name="T63" fmla="*/ 162 h 199"/>
              <a:gd name="T64" fmla="*/ 8 w 805"/>
              <a:gd name="T65" fmla="*/ 151 h 199"/>
              <a:gd name="T66" fmla="*/ 7 w 805"/>
              <a:gd name="T67" fmla="*/ 139 h 199"/>
              <a:gd name="T68" fmla="*/ 5 w 805"/>
              <a:gd name="T69" fmla="*/ 126 h 199"/>
              <a:gd name="T70" fmla="*/ 5 w 805"/>
              <a:gd name="T71" fmla="*/ 114 h 199"/>
              <a:gd name="T72" fmla="*/ 5 w 805"/>
              <a:gd name="T73" fmla="*/ 101 h 199"/>
              <a:gd name="T74" fmla="*/ 0 w 805"/>
              <a:gd name="T75" fmla="*/ 10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05" h="199">
                <a:moveTo>
                  <a:pt x="805" y="89"/>
                </a:moveTo>
                <a:lnTo>
                  <a:pt x="803" y="78"/>
                </a:lnTo>
                <a:lnTo>
                  <a:pt x="803" y="66"/>
                </a:lnTo>
                <a:lnTo>
                  <a:pt x="802" y="56"/>
                </a:lnTo>
                <a:lnTo>
                  <a:pt x="802" y="45"/>
                </a:lnTo>
                <a:lnTo>
                  <a:pt x="798" y="33"/>
                </a:lnTo>
                <a:lnTo>
                  <a:pt x="797" y="21"/>
                </a:lnTo>
                <a:lnTo>
                  <a:pt x="795" y="10"/>
                </a:lnTo>
                <a:lnTo>
                  <a:pt x="792" y="0"/>
                </a:lnTo>
                <a:lnTo>
                  <a:pt x="787" y="0"/>
                </a:lnTo>
                <a:lnTo>
                  <a:pt x="790" y="11"/>
                </a:lnTo>
                <a:lnTo>
                  <a:pt x="792" y="21"/>
                </a:lnTo>
                <a:lnTo>
                  <a:pt x="795" y="33"/>
                </a:lnTo>
                <a:lnTo>
                  <a:pt x="797" y="45"/>
                </a:lnTo>
                <a:lnTo>
                  <a:pt x="798" y="56"/>
                </a:lnTo>
                <a:lnTo>
                  <a:pt x="798" y="68"/>
                </a:lnTo>
                <a:lnTo>
                  <a:pt x="800" y="81"/>
                </a:lnTo>
                <a:lnTo>
                  <a:pt x="800" y="93"/>
                </a:lnTo>
                <a:lnTo>
                  <a:pt x="805" y="89"/>
                </a:lnTo>
                <a:close/>
                <a:moveTo>
                  <a:pt x="0" y="102"/>
                </a:moveTo>
                <a:lnTo>
                  <a:pt x="0" y="116"/>
                </a:lnTo>
                <a:lnTo>
                  <a:pt x="2" y="127"/>
                </a:lnTo>
                <a:lnTo>
                  <a:pt x="2" y="139"/>
                </a:lnTo>
                <a:lnTo>
                  <a:pt x="3" y="152"/>
                </a:lnTo>
                <a:lnTo>
                  <a:pt x="5" y="164"/>
                </a:lnTo>
                <a:lnTo>
                  <a:pt x="7" y="175"/>
                </a:lnTo>
                <a:lnTo>
                  <a:pt x="10" y="187"/>
                </a:lnTo>
                <a:lnTo>
                  <a:pt x="12" y="199"/>
                </a:lnTo>
                <a:lnTo>
                  <a:pt x="17" y="199"/>
                </a:lnTo>
                <a:lnTo>
                  <a:pt x="15" y="187"/>
                </a:lnTo>
                <a:lnTo>
                  <a:pt x="12" y="175"/>
                </a:lnTo>
                <a:lnTo>
                  <a:pt x="10" y="162"/>
                </a:lnTo>
                <a:lnTo>
                  <a:pt x="8" y="151"/>
                </a:lnTo>
                <a:lnTo>
                  <a:pt x="7" y="139"/>
                </a:lnTo>
                <a:lnTo>
                  <a:pt x="5" y="126"/>
                </a:lnTo>
                <a:lnTo>
                  <a:pt x="5" y="114"/>
                </a:lnTo>
                <a:lnTo>
                  <a:pt x="5" y="101"/>
                </a:lnTo>
                <a:lnTo>
                  <a:pt x="0" y="102"/>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51" name="Freeform 1056">
            <a:extLst>
              <a:ext uri="{FF2B5EF4-FFF2-40B4-BE49-F238E27FC236}">
                <a16:creationId xmlns:a16="http://schemas.microsoft.com/office/drawing/2014/main" id="{3BDB36B7-AE73-CAB8-4088-386DE9F9B796}"/>
              </a:ext>
            </a:extLst>
          </p:cNvPr>
          <p:cNvSpPr>
            <a:spLocks noEditPoints="1"/>
          </p:cNvSpPr>
          <p:nvPr/>
        </p:nvSpPr>
        <p:spPr bwMode="auto">
          <a:xfrm>
            <a:off x="2279650" y="2403475"/>
            <a:ext cx="1270000" cy="315913"/>
          </a:xfrm>
          <a:custGeom>
            <a:avLst/>
            <a:gdLst>
              <a:gd name="T0" fmla="*/ 800 w 800"/>
              <a:gd name="T1" fmla="*/ 91 h 199"/>
              <a:gd name="T2" fmla="*/ 800 w 800"/>
              <a:gd name="T3" fmla="*/ 79 h 199"/>
              <a:gd name="T4" fmla="*/ 800 w 800"/>
              <a:gd name="T5" fmla="*/ 68 h 199"/>
              <a:gd name="T6" fmla="*/ 798 w 800"/>
              <a:gd name="T7" fmla="*/ 56 h 199"/>
              <a:gd name="T8" fmla="*/ 796 w 800"/>
              <a:gd name="T9" fmla="*/ 45 h 199"/>
              <a:gd name="T10" fmla="*/ 795 w 800"/>
              <a:gd name="T11" fmla="*/ 33 h 199"/>
              <a:gd name="T12" fmla="*/ 793 w 800"/>
              <a:gd name="T13" fmla="*/ 21 h 199"/>
              <a:gd name="T14" fmla="*/ 790 w 800"/>
              <a:gd name="T15" fmla="*/ 11 h 199"/>
              <a:gd name="T16" fmla="*/ 788 w 800"/>
              <a:gd name="T17" fmla="*/ 0 h 199"/>
              <a:gd name="T18" fmla="*/ 783 w 800"/>
              <a:gd name="T19" fmla="*/ 0 h 199"/>
              <a:gd name="T20" fmla="*/ 785 w 800"/>
              <a:gd name="T21" fmla="*/ 11 h 199"/>
              <a:gd name="T22" fmla="*/ 788 w 800"/>
              <a:gd name="T23" fmla="*/ 23 h 199"/>
              <a:gd name="T24" fmla="*/ 790 w 800"/>
              <a:gd name="T25" fmla="*/ 35 h 199"/>
              <a:gd name="T26" fmla="*/ 791 w 800"/>
              <a:gd name="T27" fmla="*/ 46 h 199"/>
              <a:gd name="T28" fmla="*/ 793 w 800"/>
              <a:gd name="T29" fmla="*/ 58 h 199"/>
              <a:gd name="T30" fmla="*/ 795 w 800"/>
              <a:gd name="T31" fmla="*/ 69 h 199"/>
              <a:gd name="T32" fmla="*/ 795 w 800"/>
              <a:gd name="T33" fmla="*/ 81 h 199"/>
              <a:gd name="T34" fmla="*/ 795 w 800"/>
              <a:gd name="T35" fmla="*/ 93 h 199"/>
              <a:gd name="T36" fmla="*/ 800 w 800"/>
              <a:gd name="T37" fmla="*/ 91 h 199"/>
              <a:gd name="T38" fmla="*/ 0 w 800"/>
              <a:gd name="T39" fmla="*/ 102 h 199"/>
              <a:gd name="T40" fmla="*/ 1 w 800"/>
              <a:gd name="T41" fmla="*/ 114 h 199"/>
              <a:gd name="T42" fmla="*/ 1 w 800"/>
              <a:gd name="T43" fmla="*/ 127 h 199"/>
              <a:gd name="T44" fmla="*/ 3 w 800"/>
              <a:gd name="T45" fmla="*/ 139 h 199"/>
              <a:gd name="T46" fmla="*/ 3 w 800"/>
              <a:gd name="T47" fmla="*/ 151 h 199"/>
              <a:gd name="T48" fmla="*/ 5 w 800"/>
              <a:gd name="T49" fmla="*/ 164 h 199"/>
              <a:gd name="T50" fmla="*/ 8 w 800"/>
              <a:gd name="T51" fmla="*/ 175 h 199"/>
              <a:gd name="T52" fmla="*/ 10 w 800"/>
              <a:gd name="T53" fmla="*/ 187 h 199"/>
              <a:gd name="T54" fmla="*/ 13 w 800"/>
              <a:gd name="T55" fmla="*/ 199 h 199"/>
              <a:gd name="T56" fmla="*/ 18 w 800"/>
              <a:gd name="T57" fmla="*/ 199 h 199"/>
              <a:gd name="T58" fmla="*/ 15 w 800"/>
              <a:gd name="T59" fmla="*/ 187 h 199"/>
              <a:gd name="T60" fmla="*/ 13 w 800"/>
              <a:gd name="T61" fmla="*/ 174 h 199"/>
              <a:gd name="T62" fmla="*/ 10 w 800"/>
              <a:gd name="T63" fmla="*/ 162 h 199"/>
              <a:gd name="T64" fmla="*/ 8 w 800"/>
              <a:gd name="T65" fmla="*/ 151 h 199"/>
              <a:gd name="T66" fmla="*/ 6 w 800"/>
              <a:gd name="T67" fmla="*/ 137 h 199"/>
              <a:gd name="T68" fmla="*/ 6 w 800"/>
              <a:gd name="T69" fmla="*/ 126 h 199"/>
              <a:gd name="T70" fmla="*/ 5 w 800"/>
              <a:gd name="T71" fmla="*/ 112 h 199"/>
              <a:gd name="T72" fmla="*/ 5 w 800"/>
              <a:gd name="T73" fmla="*/ 99 h 199"/>
              <a:gd name="T74" fmla="*/ 0 w 800"/>
              <a:gd name="T75" fmla="*/ 10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00" h="199">
                <a:moveTo>
                  <a:pt x="800" y="91"/>
                </a:moveTo>
                <a:lnTo>
                  <a:pt x="800" y="79"/>
                </a:lnTo>
                <a:lnTo>
                  <a:pt x="800" y="68"/>
                </a:lnTo>
                <a:lnTo>
                  <a:pt x="798" y="56"/>
                </a:lnTo>
                <a:lnTo>
                  <a:pt x="796" y="45"/>
                </a:lnTo>
                <a:lnTo>
                  <a:pt x="795" y="33"/>
                </a:lnTo>
                <a:lnTo>
                  <a:pt x="793" y="21"/>
                </a:lnTo>
                <a:lnTo>
                  <a:pt x="790" y="11"/>
                </a:lnTo>
                <a:lnTo>
                  <a:pt x="788" y="0"/>
                </a:lnTo>
                <a:lnTo>
                  <a:pt x="783" y="0"/>
                </a:lnTo>
                <a:lnTo>
                  <a:pt x="785" y="11"/>
                </a:lnTo>
                <a:lnTo>
                  <a:pt x="788" y="23"/>
                </a:lnTo>
                <a:lnTo>
                  <a:pt x="790" y="35"/>
                </a:lnTo>
                <a:lnTo>
                  <a:pt x="791" y="46"/>
                </a:lnTo>
                <a:lnTo>
                  <a:pt x="793" y="58"/>
                </a:lnTo>
                <a:lnTo>
                  <a:pt x="795" y="69"/>
                </a:lnTo>
                <a:lnTo>
                  <a:pt x="795" y="81"/>
                </a:lnTo>
                <a:lnTo>
                  <a:pt x="795" y="93"/>
                </a:lnTo>
                <a:lnTo>
                  <a:pt x="800" y="91"/>
                </a:lnTo>
                <a:close/>
                <a:moveTo>
                  <a:pt x="0" y="102"/>
                </a:moveTo>
                <a:lnTo>
                  <a:pt x="1" y="114"/>
                </a:lnTo>
                <a:lnTo>
                  <a:pt x="1" y="127"/>
                </a:lnTo>
                <a:lnTo>
                  <a:pt x="3" y="139"/>
                </a:lnTo>
                <a:lnTo>
                  <a:pt x="3" y="151"/>
                </a:lnTo>
                <a:lnTo>
                  <a:pt x="5" y="164"/>
                </a:lnTo>
                <a:lnTo>
                  <a:pt x="8" y="175"/>
                </a:lnTo>
                <a:lnTo>
                  <a:pt x="10" y="187"/>
                </a:lnTo>
                <a:lnTo>
                  <a:pt x="13" y="199"/>
                </a:lnTo>
                <a:lnTo>
                  <a:pt x="18" y="199"/>
                </a:lnTo>
                <a:lnTo>
                  <a:pt x="15" y="187"/>
                </a:lnTo>
                <a:lnTo>
                  <a:pt x="13" y="174"/>
                </a:lnTo>
                <a:lnTo>
                  <a:pt x="10" y="162"/>
                </a:lnTo>
                <a:lnTo>
                  <a:pt x="8" y="151"/>
                </a:lnTo>
                <a:lnTo>
                  <a:pt x="6" y="137"/>
                </a:lnTo>
                <a:lnTo>
                  <a:pt x="6" y="126"/>
                </a:lnTo>
                <a:lnTo>
                  <a:pt x="5" y="112"/>
                </a:lnTo>
                <a:lnTo>
                  <a:pt x="5" y="99"/>
                </a:lnTo>
                <a:lnTo>
                  <a:pt x="0" y="102"/>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52" name="Freeform 1057">
            <a:extLst>
              <a:ext uri="{FF2B5EF4-FFF2-40B4-BE49-F238E27FC236}">
                <a16:creationId xmlns:a16="http://schemas.microsoft.com/office/drawing/2014/main" id="{753CCB0C-4E44-7A6C-F1BC-982E856D736B}"/>
              </a:ext>
            </a:extLst>
          </p:cNvPr>
          <p:cNvSpPr>
            <a:spLocks noEditPoints="1"/>
          </p:cNvSpPr>
          <p:nvPr/>
        </p:nvSpPr>
        <p:spPr bwMode="auto">
          <a:xfrm>
            <a:off x="2284413" y="2403475"/>
            <a:ext cx="1262063" cy="315913"/>
          </a:xfrm>
          <a:custGeom>
            <a:avLst/>
            <a:gdLst>
              <a:gd name="T0" fmla="*/ 795 w 795"/>
              <a:gd name="T1" fmla="*/ 93 h 199"/>
              <a:gd name="T2" fmla="*/ 795 w 795"/>
              <a:gd name="T3" fmla="*/ 81 h 199"/>
              <a:gd name="T4" fmla="*/ 793 w 795"/>
              <a:gd name="T5" fmla="*/ 68 h 199"/>
              <a:gd name="T6" fmla="*/ 793 w 795"/>
              <a:gd name="T7" fmla="*/ 56 h 199"/>
              <a:gd name="T8" fmla="*/ 792 w 795"/>
              <a:gd name="T9" fmla="*/ 45 h 199"/>
              <a:gd name="T10" fmla="*/ 790 w 795"/>
              <a:gd name="T11" fmla="*/ 33 h 199"/>
              <a:gd name="T12" fmla="*/ 787 w 795"/>
              <a:gd name="T13" fmla="*/ 21 h 199"/>
              <a:gd name="T14" fmla="*/ 785 w 795"/>
              <a:gd name="T15" fmla="*/ 11 h 199"/>
              <a:gd name="T16" fmla="*/ 782 w 795"/>
              <a:gd name="T17" fmla="*/ 0 h 199"/>
              <a:gd name="T18" fmla="*/ 777 w 795"/>
              <a:gd name="T19" fmla="*/ 0 h 199"/>
              <a:gd name="T20" fmla="*/ 780 w 795"/>
              <a:gd name="T21" fmla="*/ 11 h 199"/>
              <a:gd name="T22" fmla="*/ 782 w 795"/>
              <a:gd name="T23" fmla="*/ 23 h 199"/>
              <a:gd name="T24" fmla="*/ 785 w 795"/>
              <a:gd name="T25" fmla="*/ 35 h 199"/>
              <a:gd name="T26" fmla="*/ 787 w 795"/>
              <a:gd name="T27" fmla="*/ 46 h 199"/>
              <a:gd name="T28" fmla="*/ 788 w 795"/>
              <a:gd name="T29" fmla="*/ 58 h 199"/>
              <a:gd name="T30" fmla="*/ 788 w 795"/>
              <a:gd name="T31" fmla="*/ 69 h 199"/>
              <a:gd name="T32" fmla="*/ 790 w 795"/>
              <a:gd name="T33" fmla="*/ 83 h 199"/>
              <a:gd name="T34" fmla="*/ 790 w 795"/>
              <a:gd name="T35" fmla="*/ 94 h 199"/>
              <a:gd name="T36" fmla="*/ 795 w 795"/>
              <a:gd name="T37" fmla="*/ 93 h 199"/>
              <a:gd name="T38" fmla="*/ 0 w 795"/>
              <a:gd name="T39" fmla="*/ 101 h 199"/>
              <a:gd name="T40" fmla="*/ 0 w 795"/>
              <a:gd name="T41" fmla="*/ 114 h 199"/>
              <a:gd name="T42" fmla="*/ 0 w 795"/>
              <a:gd name="T43" fmla="*/ 126 h 199"/>
              <a:gd name="T44" fmla="*/ 2 w 795"/>
              <a:gd name="T45" fmla="*/ 139 h 199"/>
              <a:gd name="T46" fmla="*/ 3 w 795"/>
              <a:gd name="T47" fmla="*/ 151 h 199"/>
              <a:gd name="T48" fmla="*/ 5 w 795"/>
              <a:gd name="T49" fmla="*/ 162 h 199"/>
              <a:gd name="T50" fmla="*/ 7 w 795"/>
              <a:gd name="T51" fmla="*/ 175 h 199"/>
              <a:gd name="T52" fmla="*/ 10 w 795"/>
              <a:gd name="T53" fmla="*/ 187 h 199"/>
              <a:gd name="T54" fmla="*/ 12 w 795"/>
              <a:gd name="T55" fmla="*/ 199 h 199"/>
              <a:gd name="T56" fmla="*/ 17 w 795"/>
              <a:gd name="T57" fmla="*/ 199 h 199"/>
              <a:gd name="T58" fmla="*/ 15 w 795"/>
              <a:gd name="T59" fmla="*/ 187 h 199"/>
              <a:gd name="T60" fmla="*/ 12 w 795"/>
              <a:gd name="T61" fmla="*/ 174 h 199"/>
              <a:gd name="T62" fmla="*/ 10 w 795"/>
              <a:gd name="T63" fmla="*/ 162 h 199"/>
              <a:gd name="T64" fmla="*/ 8 w 795"/>
              <a:gd name="T65" fmla="*/ 149 h 199"/>
              <a:gd name="T66" fmla="*/ 7 w 795"/>
              <a:gd name="T67" fmla="*/ 137 h 199"/>
              <a:gd name="T68" fmla="*/ 5 w 795"/>
              <a:gd name="T69" fmla="*/ 124 h 199"/>
              <a:gd name="T70" fmla="*/ 5 w 795"/>
              <a:gd name="T71" fmla="*/ 112 h 199"/>
              <a:gd name="T72" fmla="*/ 5 w 795"/>
              <a:gd name="T73" fmla="*/ 99 h 199"/>
              <a:gd name="T74" fmla="*/ 0 w 795"/>
              <a:gd name="T75" fmla="*/ 10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95" h="199">
                <a:moveTo>
                  <a:pt x="795" y="93"/>
                </a:moveTo>
                <a:lnTo>
                  <a:pt x="795" y="81"/>
                </a:lnTo>
                <a:lnTo>
                  <a:pt x="793" y="68"/>
                </a:lnTo>
                <a:lnTo>
                  <a:pt x="793" y="56"/>
                </a:lnTo>
                <a:lnTo>
                  <a:pt x="792" y="45"/>
                </a:lnTo>
                <a:lnTo>
                  <a:pt x="790" y="33"/>
                </a:lnTo>
                <a:lnTo>
                  <a:pt x="787" y="21"/>
                </a:lnTo>
                <a:lnTo>
                  <a:pt x="785" y="11"/>
                </a:lnTo>
                <a:lnTo>
                  <a:pt x="782" y="0"/>
                </a:lnTo>
                <a:lnTo>
                  <a:pt x="777" y="0"/>
                </a:lnTo>
                <a:lnTo>
                  <a:pt x="780" y="11"/>
                </a:lnTo>
                <a:lnTo>
                  <a:pt x="782" y="23"/>
                </a:lnTo>
                <a:lnTo>
                  <a:pt x="785" y="35"/>
                </a:lnTo>
                <a:lnTo>
                  <a:pt x="787" y="46"/>
                </a:lnTo>
                <a:lnTo>
                  <a:pt x="788" y="58"/>
                </a:lnTo>
                <a:lnTo>
                  <a:pt x="788" y="69"/>
                </a:lnTo>
                <a:lnTo>
                  <a:pt x="790" y="83"/>
                </a:lnTo>
                <a:lnTo>
                  <a:pt x="790" y="94"/>
                </a:lnTo>
                <a:lnTo>
                  <a:pt x="795" y="93"/>
                </a:lnTo>
                <a:close/>
                <a:moveTo>
                  <a:pt x="0" y="101"/>
                </a:moveTo>
                <a:lnTo>
                  <a:pt x="0" y="114"/>
                </a:lnTo>
                <a:lnTo>
                  <a:pt x="0" y="126"/>
                </a:lnTo>
                <a:lnTo>
                  <a:pt x="2" y="139"/>
                </a:lnTo>
                <a:lnTo>
                  <a:pt x="3" y="151"/>
                </a:lnTo>
                <a:lnTo>
                  <a:pt x="5" y="162"/>
                </a:lnTo>
                <a:lnTo>
                  <a:pt x="7" y="175"/>
                </a:lnTo>
                <a:lnTo>
                  <a:pt x="10" y="187"/>
                </a:lnTo>
                <a:lnTo>
                  <a:pt x="12" y="199"/>
                </a:lnTo>
                <a:lnTo>
                  <a:pt x="17" y="199"/>
                </a:lnTo>
                <a:lnTo>
                  <a:pt x="15" y="187"/>
                </a:lnTo>
                <a:lnTo>
                  <a:pt x="12" y="174"/>
                </a:lnTo>
                <a:lnTo>
                  <a:pt x="10" y="162"/>
                </a:lnTo>
                <a:lnTo>
                  <a:pt x="8" y="149"/>
                </a:lnTo>
                <a:lnTo>
                  <a:pt x="7" y="137"/>
                </a:lnTo>
                <a:lnTo>
                  <a:pt x="5" y="124"/>
                </a:lnTo>
                <a:lnTo>
                  <a:pt x="5" y="112"/>
                </a:lnTo>
                <a:lnTo>
                  <a:pt x="5" y="99"/>
                </a:lnTo>
                <a:lnTo>
                  <a:pt x="0" y="101"/>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53" name="Freeform 1058">
            <a:extLst>
              <a:ext uri="{FF2B5EF4-FFF2-40B4-BE49-F238E27FC236}">
                <a16:creationId xmlns:a16="http://schemas.microsoft.com/office/drawing/2014/main" id="{C3E0D2E7-D390-D721-DEBF-6F9DAB67002B}"/>
              </a:ext>
            </a:extLst>
          </p:cNvPr>
          <p:cNvSpPr>
            <a:spLocks noEditPoints="1"/>
          </p:cNvSpPr>
          <p:nvPr/>
        </p:nvSpPr>
        <p:spPr bwMode="auto">
          <a:xfrm>
            <a:off x="2287588" y="2403475"/>
            <a:ext cx="1254125" cy="315913"/>
          </a:xfrm>
          <a:custGeom>
            <a:avLst/>
            <a:gdLst>
              <a:gd name="T0" fmla="*/ 790 w 790"/>
              <a:gd name="T1" fmla="*/ 93 h 199"/>
              <a:gd name="T2" fmla="*/ 790 w 790"/>
              <a:gd name="T3" fmla="*/ 81 h 199"/>
              <a:gd name="T4" fmla="*/ 790 w 790"/>
              <a:gd name="T5" fmla="*/ 69 h 199"/>
              <a:gd name="T6" fmla="*/ 788 w 790"/>
              <a:gd name="T7" fmla="*/ 58 h 199"/>
              <a:gd name="T8" fmla="*/ 786 w 790"/>
              <a:gd name="T9" fmla="*/ 46 h 199"/>
              <a:gd name="T10" fmla="*/ 785 w 790"/>
              <a:gd name="T11" fmla="*/ 35 h 199"/>
              <a:gd name="T12" fmla="*/ 783 w 790"/>
              <a:gd name="T13" fmla="*/ 23 h 199"/>
              <a:gd name="T14" fmla="*/ 780 w 790"/>
              <a:gd name="T15" fmla="*/ 11 h 199"/>
              <a:gd name="T16" fmla="*/ 778 w 790"/>
              <a:gd name="T17" fmla="*/ 0 h 199"/>
              <a:gd name="T18" fmla="*/ 773 w 790"/>
              <a:gd name="T19" fmla="*/ 0 h 199"/>
              <a:gd name="T20" fmla="*/ 776 w 790"/>
              <a:gd name="T21" fmla="*/ 11 h 199"/>
              <a:gd name="T22" fmla="*/ 778 w 790"/>
              <a:gd name="T23" fmla="*/ 23 h 199"/>
              <a:gd name="T24" fmla="*/ 780 w 790"/>
              <a:gd name="T25" fmla="*/ 35 h 199"/>
              <a:gd name="T26" fmla="*/ 781 w 790"/>
              <a:gd name="T27" fmla="*/ 46 h 199"/>
              <a:gd name="T28" fmla="*/ 783 w 790"/>
              <a:gd name="T29" fmla="*/ 58 h 199"/>
              <a:gd name="T30" fmla="*/ 785 w 790"/>
              <a:gd name="T31" fmla="*/ 71 h 199"/>
              <a:gd name="T32" fmla="*/ 785 w 790"/>
              <a:gd name="T33" fmla="*/ 83 h 199"/>
              <a:gd name="T34" fmla="*/ 786 w 790"/>
              <a:gd name="T35" fmla="*/ 96 h 199"/>
              <a:gd name="T36" fmla="*/ 790 w 790"/>
              <a:gd name="T37" fmla="*/ 93 h 199"/>
              <a:gd name="T38" fmla="*/ 0 w 790"/>
              <a:gd name="T39" fmla="*/ 99 h 199"/>
              <a:gd name="T40" fmla="*/ 0 w 790"/>
              <a:gd name="T41" fmla="*/ 112 h 199"/>
              <a:gd name="T42" fmla="*/ 1 w 790"/>
              <a:gd name="T43" fmla="*/ 126 h 199"/>
              <a:gd name="T44" fmla="*/ 1 w 790"/>
              <a:gd name="T45" fmla="*/ 137 h 199"/>
              <a:gd name="T46" fmla="*/ 3 w 790"/>
              <a:gd name="T47" fmla="*/ 151 h 199"/>
              <a:gd name="T48" fmla="*/ 5 w 790"/>
              <a:gd name="T49" fmla="*/ 162 h 199"/>
              <a:gd name="T50" fmla="*/ 8 w 790"/>
              <a:gd name="T51" fmla="*/ 174 h 199"/>
              <a:gd name="T52" fmla="*/ 10 w 790"/>
              <a:gd name="T53" fmla="*/ 187 h 199"/>
              <a:gd name="T54" fmla="*/ 13 w 790"/>
              <a:gd name="T55" fmla="*/ 199 h 199"/>
              <a:gd name="T56" fmla="*/ 18 w 790"/>
              <a:gd name="T57" fmla="*/ 199 h 199"/>
              <a:gd name="T58" fmla="*/ 15 w 790"/>
              <a:gd name="T59" fmla="*/ 187 h 199"/>
              <a:gd name="T60" fmla="*/ 13 w 790"/>
              <a:gd name="T61" fmla="*/ 174 h 199"/>
              <a:gd name="T62" fmla="*/ 10 w 790"/>
              <a:gd name="T63" fmla="*/ 162 h 199"/>
              <a:gd name="T64" fmla="*/ 8 w 790"/>
              <a:gd name="T65" fmla="*/ 149 h 199"/>
              <a:gd name="T66" fmla="*/ 6 w 790"/>
              <a:gd name="T67" fmla="*/ 137 h 199"/>
              <a:gd name="T68" fmla="*/ 6 w 790"/>
              <a:gd name="T69" fmla="*/ 124 h 199"/>
              <a:gd name="T70" fmla="*/ 5 w 790"/>
              <a:gd name="T71" fmla="*/ 112 h 199"/>
              <a:gd name="T72" fmla="*/ 5 w 790"/>
              <a:gd name="T73" fmla="*/ 99 h 199"/>
              <a:gd name="T74" fmla="*/ 5 w 790"/>
              <a:gd name="T75" fmla="*/ 98 h 199"/>
              <a:gd name="T76" fmla="*/ 0 w 790"/>
              <a:gd name="T77" fmla="*/ 9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90" h="199">
                <a:moveTo>
                  <a:pt x="790" y="93"/>
                </a:moveTo>
                <a:lnTo>
                  <a:pt x="790" y="81"/>
                </a:lnTo>
                <a:lnTo>
                  <a:pt x="790" y="69"/>
                </a:lnTo>
                <a:lnTo>
                  <a:pt x="788" y="58"/>
                </a:lnTo>
                <a:lnTo>
                  <a:pt x="786" y="46"/>
                </a:lnTo>
                <a:lnTo>
                  <a:pt x="785" y="35"/>
                </a:lnTo>
                <a:lnTo>
                  <a:pt x="783" y="23"/>
                </a:lnTo>
                <a:lnTo>
                  <a:pt x="780" y="11"/>
                </a:lnTo>
                <a:lnTo>
                  <a:pt x="778" y="0"/>
                </a:lnTo>
                <a:lnTo>
                  <a:pt x="773" y="0"/>
                </a:lnTo>
                <a:lnTo>
                  <a:pt x="776" y="11"/>
                </a:lnTo>
                <a:lnTo>
                  <a:pt x="778" y="23"/>
                </a:lnTo>
                <a:lnTo>
                  <a:pt x="780" y="35"/>
                </a:lnTo>
                <a:lnTo>
                  <a:pt x="781" y="46"/>
                </a:lnTo>
                <a:lnTo>
                  <a:pt x="783" y="58"/>
                </a:lnTo>
                <a:lnTo>
                  <a:pt x="785" y="71"/>
                </a:lnTo>
                <a:lnTo>
                  <a:pt x="785" y="83"/>
                </a:lnTo>
                <a:lnTo>
                  <a:pt x="786" y="96"/>
                </a:lnTo>
                <a:lnTo>
                  <a:pt x="790" y="93"/>
                </a:lnTo>
                <a:close/>
                <a:moveTo>
                  <a:pt x="0" y="99"/>
                </a:moveTo>
                <a:lnTo>
                  <a:pt x="0" y="112"/>
                </a:lnTo>
                <a:lnTo>
                  <a:pt x="1" y="126"/>
                </a:lnTo>
                <a:lnTo>
                  <a:pt x="1" y="137"/>
                </a:lnTo>
                <a:lnTo>
                  <a:pt x="3" y="151"/>
                </a:lnTo>
                <a:lnTo>
                  <a:pt x="5" y="162"/>
                </a:lnTo>
                <a:lnTo>
                  <a:pt x="8" y="174"/>
                </a:lnTo>
                <a:lnTo>
                  <a:pt x="10" y="187"/>
                </a:lnTo>
                <a:lnTo>
                  <a:pt x="13" y="199"/>
                </a:lnTo>
                <a:lnTo>
                  <a:pt x="18" y="199"/>
                </a:lnTo>
                <a:lnTo>
                  <a:pt x="15" y="187"/>
                </a:lnTo>
                <a:lnTo>
                  <a:pt x="13" y="174"/>
                </a:lnTo>
                <a:lnTo>
                  <a:pt x="10" y="162"/>
                </a:lnTo>
                <a:lnTo>
                  <a:pt x="8" y="149"/>
                </a:lnTo>
                <a:lnTo>
                  <a:pt x="6" y="137"/>
                </a:lnTo>
                <a:lnTo>
                  <a:pt x="6" y="124"/>
                </a:lnTo>
                <a:lnTo>
                  <a:pt x="5" y="112"/>
                </a:lnTo>
                <a:lnTo>
                  <a:pt x="5" y="99"/>
                </a:lnTo>
                <a:lnTo>
                  <a:pt x="5" y="98"/>
                </a:lnTo>
                <a:lnTo>
                  <a:pt x="0" y="99"/>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54" name="Freeform 1059">
            <a:extLst>
              <a:ext uri="{FF2B5EF4-FFF2-40B4-BE49-F238E27FC236}">
                <a16:creationId xmlns:a16="http://schemas.microsoft.com/office/drawing/2014/main" id="{893FEAFB-4094-8B42-EAFC-8FFA19AF2B25}"/>
              </a:ext>
            </a:extLst>
          </p:cNvPr>
          <p:cNvSpPr>
            <a:spLocks noEditPoints="1"/>
          </p:cNvSpPr>
          <p:nvPr/>
        </p:nvSpPr>
        <p:spPr bwMode="auto">
          <a:xfrm>
            <a:off x="2292350" y="2403475"/>
            <a:ext cx="1246188" cy="315913"/>
          </a:xfrm>
          <a:custGeom>
            <a:avLst/>
            <a:gdLst>
              <a:gd name="T0" fmla="*/ 785 w 785"/>
              <a:gd name="T1" fmla="*/ 94 h 199"/>
              <a:gd name="T2" fmla="*/ 785 w 785"/>
              <a:gd name="T3" fmla="*/ 83 h 199"/>
              <a:gd name="T4" fmla="*/ 783 w 785"/>
              <a:gd name="T5" fmla="*/ 69 h 199"/>
              <a:gd name="T6" fmla="*/ 783 w 785"/>
              <a:gd name="T7" fmla="*/ 58 h 199"/>
              <a:gd name="T8" fmla="*/ 782 w 785"/>
              <a:gd name="T9" fmla="*/ 46 h 199"/>
              <a:gd name="T10" fmla="*/ 780 w 785"/>
              <a:gd name="T11" fmla="*/ 35 h 199"/>
              <a:gd name="T12" fmla="*/ 777 w 785"/>
              <a:gd name="T13" fmla="*/ 23 h 199"/>
              <a:gd name="T14" fmla="*/ 775 w 785"/>
              <a:gd name="T15" fmla="*/ 11 h 199"/>
              <a:gd name="T16" fmla="*/ 772 w 785"/>
              <a:gd name="T17" fmla="*/ 0 h 199"/>
              <a:gd name="T18" fmla="*/ 767 w 785"/>
              <a:gd name="T19" fmla="*/ 0 h 199"/>
              <a:gd name="T20" fmla="*/ 770 w 785"/>
              <a:gd name="T21" fmla="*/ 11 h 199"/>
              <a:gd name="T22" fmla="*/ 773 w 785"/>
              <a:gd name="T23" fmla="*/ 23 h 199"/>
              <a:gd name="T24" fmla="*/ 775 w 785"/>
              <a:gd name="T25" fmla="*/ 35 h 199"/>
              <a:gd name="T26" fmla="*/ 777 w 785"/>
              <a:gd name="T27" fmla="*/ 48 h 199"/>
              <a:gd name="T28" fmla="*/ 778 w 785"/>
              <a:gd name="T29" fmla="*/ 59 h 199"/>
              <a:gd name="T30" fmla="*/ 778 w 785"/>
              <a:gd name="T31" fmla="*/ 71 h 199"/>
              <a:gd name="T32" fmla="*/ 780 w 785"/>
              <a:gd name="T33" fmla="*/ 84 h 199"/>
              <a:gd name="T34" fmla="*/ 780 w 785"/>
              <a:gd name="T35" fmla="*/ 96 h 199"/>
              <a:gd name="T36" fmla="*/ 785 w 785"/>
              <a:gd name="T37" fmla="*/ 94 h 199"/>
              <a:gd name="T38" fmla="*/ 0 w 785"/>
              <a:gd name="T39" fmla="*/ 99 h 199"/>
              <a:gd name="T40" fmla="*/ 0 w 785"/>
              <a:gd name="T41" fmla="*/ 99 h 199"/>
              <a:gd name="T42" fmla="*/ 0 w 785"/>
              <a:gd name="T43" fmla="*/ 112 h 199"/>
              <a:gd name="T44" fmla="*/ 0 w 785"/>
              <a:gd name="T45" fmla="*/ 124 h 199"/>
              <a:gd name="T46" fmla="*/ 2 w 785"/>
              <a:gd name="T47" fmla="*/ 137 h 199"/>
              <a:gd name="T48" fmla="*/ 3 w 785"/>
              <a:gd name="T49" fmla="*/ 149 h 199"/>
              <a:gd name="T50" fmla="*/ 5 w 785"/>
              <a:gd name="T51" fmla="*/ 162 h 199"/>
              <a:gd name="T52" fmla="*/ 7 w 785"/>
              <a:gd name="T53" fmla="*/ 174 h 199"/>
              <a:gd name="T54" fmla="*/ 10 w 785"/>
              <a:gd name="T55" fmla="*/ 187 h 199"/>
              <a:gd name="T56" fmla="*/ 12 w 785"/>
              <a:gd name="T57" fmla="*/ 199 h 199"/>
              <a:gd name="T58" fmla="*/ 16 w 785"/>
              <a:gd name="T59" fmla="*/ 199 h 199"/>
              <a:gd name="T60" fmla="*/ 15 w 785"/>
              <a:gd name="T61" fmla="*/ 187 h 199"/>
              <a:gd name="T62" fmla="*/ 12 w 785"/>
              <a:gd name="T63" fmla="*/ 174 h 199"/>
              <a:gd name="T64" fmla="*/ 10 w 785"/>
              <a:gd name="T65" fmla="*/ 162 h 199"/>
              <a:gd name="T66" fmla="*/ 8 w 785"/>
              <a:gd name="T67" fmla="*/ 149 h 199"/>
              <a:gd name="T68" fmla="*/ 7 w 785"/>
              <a:gd name="T69" fmla="*/ 137 h 199"/>
              <a:gd name="T70" fmla="*/ 5 w 785"/>
              <a:gd name="T71" fmla="*/ 124 h 199"/>
              <a:gd name="T72" fmla="*/ 5 w 785"/>
              <a:gd name="T73" fmla="*/ 112 h 199"/>
              <a:gd name="T74" fmla="*/ 5 w 785"/>
              <a:gd name="T75" fmla="*/ 99 h 199"/>
              <a:gd name="T76" fmla="*/ 5 w 785"/>
              <a:gd name="T77" fmla="*/ 98 h 199"/>
              <a:gd name="T78" fmla="*/ 5 w 785"/>
              <a:gd name="T79" fmla="*/ 96 h 199"/>
              <a:gd name="T80" fmla="*/ 0 w 785"/>
              <a:gd name="T81" fmla="*/ 9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5" h="199">
                <a:moveTo>
                  <a:pt x="785" y="94"/>
                </a:moveTo>
                <a:lnTo>
                  <a:pt x="785" y="83"/>
                </a:lnTo>
                <a:lnTo>
                  <a:pt x="783" y="69"/>
                </a:lnTo>
                <a:lnTo>
                  <a:pt x="783" y="58"/>
                </a:lnTo>
                <a:lnTo>
                  <a:pt x="782" y="46"/>
                </a:lnTo>
                <a:lnTo>
                  <a:pt x="780" y="35"/>
                </a:lnTo>
                <a:lnTo>
                  <a:pt x="777" y="23"/>
                </a:lnTo>
                <a:lnTo>
                  <a:pt x="775" y="11"/>
                </a:lnTo>
                <a:lnTo>
                  <a:pt x="772" y="0"/>
                </a:lnTo>
                <a:lnTo>
                  <a:pt x="767" y="0"/>
                </a:lnTo>
                <a:lnTo>
                  <a:pt x="770" y="11"/>
                </a:lnTo>
                <a:lnTo>
                  <a:pt x="773" y="23"/>
                </a:lnTo>
                <a:lnTo>
                  <a:pt x="775" y="35"/>
                </a:lnTo>
                <a:lnTo>
                  <a:pt x="777" y="48"/>
                </a:lnTo>
                <a:lnTo>
                  <a:pt x="778" y="59"/>
                </a:lnTo>
                <a:lnTo>
                  <a:pt x="778" y="71"/>
                </a:lnTo>
                <a:lnTo>
                  <a:pt x="780" y="84"/>
                </a:lnTo>
                <a:lnTo>
                  <a:pt x="780" y="96"/>
                </a:lnTo>
                <a:lnTo>
                  <a:pt x="785" y="94"/>
                </a:lnTo>
                <a:close/>
                <a:moveTo>
                  <a:pt x="0" y="99"/>
                </a:moveTo>
                <a:lnTo>
                  <a:pt x="0" y="99"/>
                </a:lnTo>
                <a:lnTo>
                  <a:pt x="0" y="112"/>
                </a:lnTo>
                <a:lnTo>
                  <a:pt x="0" y="124"/>
                </a:lnTo>
                <a:lnTo>
                  <a:pt x="2" y="137"/>
                </a:lnTo>
                <a:lnTo>
                  <a:pt x="3" y="149"/>
                </a:lnTo>
                <a:lnTo>
                  <a:pt x="5" y="162"/>
                </a:lnTo>
                <a:lnTo>
                  <a:pt x="7" y="174"/>
                </a:lnTo>
                <a:lnTo>
                  <a:pt x="10" y="187"/>
                </a:lnTo>
                <a:lnTo>
                  <a:pt x="12" y="199"/>
                </a:lnTo>
                <a:lnTo>
                  <a:pt x="16" y="199"/>
                </a:lnTo>
                <a:lnTo>
                  <a:pt x="15" y="187"/>
                </a:lnTo>
                <a:lnTo>
                  <a:pt x="12" y="174"/>
                </a:lnTo>
                <a:lnTo>
                  <a:pt x="10" y="162"/>
                </a:lnTo>
                <a:lnTo>
                  <a:pt x="8" y="149"/>
                </a:lnTo>
                <a:lnTo>
                  <a:pt x="7" y="137"/>
                </a:lnTo>
                <a:lnTo>
                  <a:pt x="5" y="124"/>
                </a:lnTo>
                <a:lnTo>
                  <a:pt x="5" y="112"/>
                </a:lnTo>
                <a:lnTo>
                  <a:pt x="5" y="99"/>
                </a:lnTo>
                <a:lnTo>
                  <a:pt x="5" y="98"/>
                </a:lnTo>
                <a:lnTo>
                  <a:pt x="5" y="96"/>
                </a:lnTo>
                <a:lnTo>
                  <a:pt x="0" y="99"/>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55" name="Freeform 1060">
            <a:extLst>
              <a:ext uri="{FF2B5EF4-FFF2-40B4-BE49-F238E27FC236}">
                <a16:creationId xmlns:a16="http://schemas.microsoft.com/office/drawing/2014/main" id="{9EB93BAC-46ED-EE6A-C0E2-84686B983923}"/>
              </a:ext>
            </a:extLst>
          </p:cNvPr>
          <p:cNvSpPr>
            <a:spLocks noEditPoints="1"/>
          </p:cNvSpPr>
          <p:nvPr/>
        </p:nvSpPr>
        <p:spPr bwMode="auto">
          <a:xfrm>
            <a:off x="2295525" y="2403475"/>
            <a:ext cx="1239838" cy="315913"/>
          </a:xfrm>
          <a:custGeom>
            <a:avLst/>
            <a:gdLst>
              <a:gd name="T0" fmla="*/ 781 w 781"/>
              <a:gd name="T1" fmla="*/ 96 h 199"/>
              <a:gd name="T2" fmla="*/ 780 w 781"/>
              <a:gd name="T3" fmla="*/ 83 h 199"/>
              <a:gd name="T4" fmla="*/ 780 w 781"/>
              <a:gd name="T5" fmla="*/ 71 h 199"/>
              <a:gd name="T6" fmla="*/ 778 w 781"/>
              <a:gd name="T7" fmla="*/ 58 h 199"/>
              <a:gd name="T8" fmla="*/ 776 w 781"/>
              <a:gd name="T9" fmla="*/ 46 h 199"/>
              <a:gd name="T10" fmla="*/ 775 w 781"/>
              <a:gd name="T11" fmla="*/ 35 h 199"/>
              <a:gd name="T12" fmla="*/ 773 w 781"/>
              <a:gd name="T13" fmla="*/ 23 h 199"/>
              <a:gd name="T14" fmla="*/ 771 w 781"/>
              <a:gd name="T15" fmla="*/ 11 h 199"/>
              <a:gd name="T16" fmla="*/ 768 w 781"/>
              <a:gd name="T17" fmla="*/ 0 h 199"/>
              <a:gd name="T18" fmla="*/ 763 w 781"/>
              <a:gd name="T19" fmla="*/ 0 h 199"/>
              <a:gd name="T20" fmla="*/ 766 w 781"/>
              <a:gd name="T21" fmla="*/ 11 h 199"/>
              <a:gd name="T22" fmla="*/ 768 w 781"/>
              <a:gd name="T23" fmla="*/ 23 h 199"/>
              <a:gd name="T24" fmla="*/ 770 w 781"/>
              <a:gd name="T25" fmla="*/ 35 h 199"/>
              <a:gd name="T26" fmla="*/ 773 w 781"/>
              <a:gd name="T27" fmla="*/ 48 h 199"/>
              <a:gd name="T28" fmla="*/ 773 w 781"/>
              <a:gd name="T29" fmla="*/ 59 h 199"/>
              <a:gd name="T30" fmla="*/ 775 w 781"/>
              <a:gd name="T31" fmla="*/ 73 h 199"/>
              <a:gd name="T32" fmla="*/ 775 w 781"/>
              <a:gd name="T33" fmla="*/ 84 h 199"/>
              <a:gd name="T34" fmla="*/ 776 w 781"/>
              <a:gd name="T35" fmla="*/ 98 h 199"/>
              <a:gd name="T36" fmla="*/ 781 w 781"/>
              <a:gd name="T37" fmla="*/ 96 h 199"/>
              <a:gd name="T38" fmla="*/ 0 w 781"/>
              <a:gd name="T39" fmla="*/ 98 h 199"/>
              <a:gd name="T40" fmla="*/ 0 w 781"/>
              <a:gd name="T41" fmla="*/ 98 h 199"/>
              <a:gd name="T42" fmla="*/ 0 w 781"/>
              <a:gd name="T43" fmla="*/ 99 h 199"/>
              <a:gd name="T44" fmla="*/ 0 w 781"/>
              <a:gd name="T45" fmla="*/ 112 h 199"/>
              <a:gd name="T46" fmla="*/ 1 w 781"/>
              <a:gd name="T47" fmla="*/ 124 h 199"/>
              <a:gd name="T48" fmla="*/ 1 w 781"/>
              <a:gd name="T49" fmla="*/ 137 h 199"/>
              <a:gd name="T50" fmla="*/ 3 w 781"/>
              <a:gd name="T51" fmla="*/ 149 h 199"/>
              <a:gd name="T52" fmla="*/ 5 w 781"/>
              <a:gd name="T53" fmla="*/ 162 h 199"/>
              <a:gd name="T54" fmla="*/ 8 w 781"/>
              <a:gd name="T55" fmla="*/ 174 h 199"/>
              <a:gd name="T56" fmla="*/ 10 w 781"/>
              <a:gd name="T57" fmla="*/ 187 h 199"/>
              <a:gd name="T58" fmla="*/ 13 w 781"/>
              <a:gd name="T59" fmla="*/ 199 h 199"/>
              <a:gd name="T60" fmla="*/ 18 w 781"/>
              <a:gd name="T61" fmla="*/ 199 h 199"/>
              <a:gd name="T62" fmla="*/ 14 w 781"/>
              <a:gd name="T63" fmla="*/ 187 h 199"/>
              <a:gd name="T64" fmla="*/ 11 w 781"/>
              <a:gd name="T65" fmla="*/ 174 h 199"/>
              <a:gd name="T66" fmla="*/ 10 w 781"/>
              <a:gd name="T67" fmla="*/ 162 h 199"/>
              <a:gd name="T68" fmla="*/ 8 w 781"/>
              <a:gd name="T69" fmla="*/ 149 h 199"/>
              <a:gd name="T70" fmla="*/ 6 w 781"/>
              <a:gd name="T71" fmla="*/ 137 h 199"/>
              <a:gd name="T72" fmla="*/ 6 w 781"/>
              <a:gd name="T73" fmla="*/ 124 h 199"/>
              <a:gd name="T74" fmla="*/ 5 w 781"/>
              <a:gd name="T75" fmla="*/ 112 h 199"/>
              <a:gd name="T76" fmla="*/ 5 w 781"/>
              <a:gd name="T77" fmla="*/ 99 h 199"/>
              <a:gd name="T78" fmla="*/ 5 w 781"/>
              <a:gd name="T79" fmla="*/ 98 h 199"/>
              <a:gd name="T80" fmla="*/ 5 w 781"/>
              <a:gd name="T81" fmla="*/ 96 h 199"/>
              <a:gd name="T82" fmla="*/ 0 w 781"/>
              <a:gd name="T83" fmla="*/ 9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81" h="199">
                <a:moveTo>
                  <a:pt x="781" y="96"/>
                </a:moveTo>
                <a:lnTo>
                  <a:pt x="780" y="83"/>
                </a:lnTo>
                <a:lnTo>
                  <a:pt x="780" y="71"/>
                </a:lnTo>
                <a:lnTo>
                  <a:pt x="778" y="58"/>
                </a:lnTo>
                <a:lnTo>
                  <a:pt x="776" y="46"/>
                </a:lnTo>
                <a:lnTo>
                  <a:pt x="775" y="35"/>
                </a:lnTo>
                <a:lnTo>
                  <a:pt x="773" y="23"/>
                </a:lnTo>
                <a:lnTo>
                  <a:pt x="771" y="11"/>
                </a:lnTo>
                <a:lnTo>
                  <a:pt x="768" y="0"/>
                </a:lnTo>
                <a:lnTo>
                  <a:pt x="763" y="0"/>
                </a:lnTo>
                <a:lnTo>
                  <a:pt x="766" y="11"/>
                </a:lnTo>
                <a:lnTo>
                  <a:pt x="768" y="23"/>
                </a:lnTo>
                <a:lnTo>
                  <a:pt x="770" y="35"/>
                </a:lnTo>
                <a:lnTo>
                  <a:pt x="773" y="48"/>
                </a:lnTo>
                <a:lnTo>
                  <a:pt x="773" y="59"/>
                </a:lnTo>
                <a:lnTo>
                  <a:pt x="775" y="73"/>
                </a:lnTo>
                <a:lnTo>
                  <a:pt x="775" y="84"/>
                </a:lnTo>
                <a:lnTo>
                  <a:pt x="776" y="98"/>
                </a:lnTo>
                <a:lnTo>
                  <a:pt x="781" y="96"/>
                </a:lnTo>
                <a:close/>
                <a:moveTo>
                  <a:pt x="0" y="98"/>
                </a:moveTo>
                <a:lnTo>
                  <a:pt x="0" y="98"/>
                </a:lnTo>
                <a:lnTo>
                  <a:pt x="0" y="99"/>
                </a:lnTo>
                <a:lnTo>
                  <a:pt x="0" y="112"/>
                </a:lnTo>
                <a:lnTo>
                  <a:pt x="1" y="124"/>
                </a:lnTo>
                <a:lnTo>
                  <a:pt x="1" y="137"/>
                </a:lnTo>
                <a:lnTo>
                  <a:pt x="3" y="149"/>
                </a:lnTo>
                <a:lnTo>
                  <a:pt x="5" y="162"/>
                </a:lnTo>
                <a:lnTo>
                  <a:pt x="8" y="174"/>
                </a:lnTo>
                <a:lnTo>
                  <a:pt x="10" y="187"/>
                </a:lnTo>
                <a:lnTo>
                  <a:pt x="13" y="199"/>
                </a:lnTo>
                <a:lnTo>
                  <a:pt x="18" y="199"/>
                </a:lnTo>
                <a:lnTo>
                  <a:pt x="14" y="187"/>
                </a:lnTo>
                <a:lnTo>
                  <a:pt x="11" y="174"/>
                </a:lnTo>
                <a:lnTo>
                  <a:pt x="10" y="162"/>
                </a:lnTo>
                <a:lnTo>
                  <a:pt x="8" y="149"/>
                </a:lnTo>
                <a:lnTo>
                  <a:pt x="6" y="137"/>
                </a:lnTo>
                <a:lnTo>
                  <a:pt x="6" y="124"/>
                </a:lnTo>
                <a:lnTo>
                  <a:pt x="5" y="112"/>
                </a:lnTo>
                <a:lnTo>
                  <a:pt x="5" y="99"/>
                </a:lnTo>
                <a:lnTo>
                  <a:pt x="5" y="98"/>
                </a:lnTo>
                <a:lnTo>
                  <a:pt x="5" y="96"/>
                </a:lnTo>
                <a:lnTo>
                  <a:pt x="0" y="98"/>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56" name="Freeform 1061">
            <a:extLst>
              <a:ext uri="{FF2B5EF4-FFF2-40B4-BE49-F238E27FC236}">
                <a16:creationId xmlns:a16="http://schemas.microsoft.com/office/drawing/2014/main" id="{7CA72221-8B9C-7D61-5558-A063E9163AD4}"/>
              </a:ext>
            </a:extLst>
          </p:cNvPr>
          <p:cNvSpPr>
            <a:spLocks noEditPoints="1"/>
          </p:cNvSpPr>
          <p:nvPr/>
        </p:nvSpPr>
        <p:spPr bwMode="auto">
          <a:xfrm>
            <a:off x="2300288" y="2403475"/>
            <a:ext cx="1230313" cy="315913"/>
          </a:xfrm>
          <a:custGeom>
            <a:avLst/>
            <a:gdLst>
              <a:gd name="T0" fmla="*/ 775 w 775"/>
              <a:gd name="T1" fmla="*/ 96 h 199"/>
              <a:gd name="T2" fmla="*/ 775 w 775"/>
              <a:gd name="T3" fmla="*/ 84 h 199"/>
              <a:gd name="T4" fmla="*/ 773 w 775"/>
              <a:gd name="T5" fmla="*/ 71 h 199"/>
              <a:gd name="T6" fmla="*/ 773 w 775"/>
              <a:gd name="T7" fmla="*/ 59 h 199"/>
              <a:gd name="T8" fmla="*/ 772 w 775"/>
              <a:gd name="T9" fmla="*/ 48 h 199"/>
              <a:gd name="T10" fmla="*/ 770 w 775"/>
              <a:gd name="T11" fmla="*/ 35 h 199"/>
              <a:gd name="T12" fmla="*/ 768 w 775"/>
              <a:gd name="T13" fmla="*/ 23 h 199"/>
              <a:gd name="T14" fmla="*/ 765 w 775"/>
              <a:gd name="T15" fmla="*/ 11 h 199"/>
              <a:gd name="T16" fmla="*/ 762 w 775"/>
              <a:gd name="T17" fmla="*/ 0 h 199"/>
              <a:gd name="T18" fmla="*/ 757 w 775"/>
              <a:gd name="T19" fmla="*/ 0 h 199"/>
              <a:gd name="T20" fmla="*/ 760 w 775"/>
              <a:gd name="T21" fmla="*/ 11 h 199"/>
              <a:gd name="T22" fmla="*/ 763 w 775"/>
              <a:gd name="T23" fmla="*/ 23 h 199"/>
              <a:gd name="T24" fmla="*/ 765 w 775"/>
              <a:gd name="T25" fmla="*/ 36 h 199"/>
              <a:gd name="T26" fmla="*/ 767 w 775"/>
              <a:gd name="T27" fmla="*/ 48 h 199"/>
              <a:gd name="T28" fmla="*/ 768 w 775"/>
              <a:gd name="T29" fmla="*/ 61 h 199"/>
              <a:gd name="T30" fmla="*/ 770 w 775"/>
              <a:gd name="T31" fmla="*/ 73 h 199"/>
              <a:gd name="T32" fmla="*/ 770 w 775"/>
              <a:gd name="T33" fmla="*/ 86 h 199"/>
              <a:gd name="T34" fmla="*/ 770 w 775"/>
              <a:gd name="T35" fmla="*/ 99 h 199"/>
              <a:gd name="T36" fmla="*/ 775 w 775"/>
              <a:gd name="T37" fmla="*/ 96 h 199"/>
              <a:gd name="T38" fmla="*/ 0 w 775"/>
              <a:gd name="T39" fmla="*/ 96 h 199"/>
              <a:gd name="T40" fmla="*/ 0 w 775"/>
              <a:gd name="T41" fmla="*/ 98 h 199"/>
              <a:gd name="T42" fmla="*/ 0 w 775"/>
              <a:gd name="T43" fmla="*/ 99 h 199"/>
              <a:gd name="T44" fmla="*/ 0 w 775"/>
              <a:gd name="T45" fmla="*/ 112 h 199"/>
              <a:gd name="T46" fmla="*/ 0 w 775"/>
              <a:gd name="T47" fmla="*/ 124 h 199"/>
              <a:gd name="T48" fmla="*/ 2 w 775"/>
              <a:gd name="T49" fmla="*/ 137 h 199"/>
              <a:gd name="T50" fmla="*/ 3 w 775"/>
              <a:gd name="T51" fmla="*/ 149 h 199"/>
              <a:gd name="T52" fmla="*/ 5 w 775"/>
              <a:gd name="T53" fmla="*/ 162 h 199"/>
              <a:gd name="T54" fmla="*/ 7 w 775"/>
              <a:gd name="T55" fmla="*/ 174 h 199"/>
              <a:gd name="T56" fmla="*/ 10 w 775"/>
              <a:gd name="T57" fmla="*/ 187 h 199"/>
              <a:gd name="T58" fmla="*/ 11 w 775"/>
              <a:gd name="T59" fmla="*/ 199 h 199"/>
              <a:gd name="T60" fmla="*/ 16 w 775"/>
              <a:gd name="T61" fmla="*/ 199 h 199"/>
              <a:gd name="T62" fmla="*/ 15 w 775"/>
              <a:gd name="T63" fmla="*/ 187 h 199"/>
              <a:gd name="T64" fmla="*/ 11 w 775"/>
              <a:gd name="T65" fmla="*/ 174 h 199"/>
              <a:gd name="T66" fmla="*/ 10 w 775"/>
              <a:gd name="T67" fmla="*/ 162 h 199"/>
              <a:gd name="T68" fmla="*/ 8 w 775"/>
              <a:gd name="T69" fmla="*/ 151 h 199"/>
              <a:gd name="T70" fmla="*/ 7 w 775"/>
              <a:gd name="T71" fmla="*/ 137 h 199"/>
              <a:gd name="T72" fmla="*/ 5 w 775"/>
              <a:gd name="T73" fmla="*/ 124 h 199"/>
              <a:gd name="T74" fmla="*/ 5 w 775"/>
              <a:gd name="T75" fmla="*/ 112 h 199"/>
              <a:gd name="T76" fmla="*/ 3 w 775"/>
              <a:gd name="T77" fmla="*/ 99 h 199"/>
              <a:gd name="T78" fmla="*/ 3 w 775"/>
              <a:gd name="T79" fmla="*/ 98 h 199"/>
              <a:gd name="T80" fmla="*/ 5 w 775"/>
              <a:gd name="T81" fmla="*/ 96 h 199"/>
              <a:gd name="T82" fmla="*/ 5 w 775"/>
              <a:gd name="T83" fmla="*/ 94 h 199"/>
              <a:gd name="T84" fmla="*/ 0 w 775"/>
              <a:gd name="T85" fmla="*/ 9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75" h="199">
                <a:moveTo>
                  <a:pt x="775" y="96"/>
                </a:moveTo>
                <a:lnTo>
                  <a:pt x="775" y="84"/>
                </a:lnTo>
                <a:lnTo>
                  <a:pt x="773" y="71"/>
                </a:lnTo>
                <a:lnTo>
                  <a:pt x="773" y="59"/>
                </a:lnTo>
                <a:lnTo>
                  <a:pt x="772" y="48"/>
                </a:lnTo>
                <a:lnTo>
                  <a:pt x="770" y="35"/>
                </a:lnTo>
                <a:lnTo>
                  <a:pt x="768" y="23"/>
                </a:lnTo>
                <a:lnTo>
                  <a:pt x="765" y="11"/>
                </a:lnTo>
                <a:lnTo>
                  <a:pt x="762" y="0"/>
                </a:lnTo>
                <a:lnTo>
                  <a:pt x="757" y="0"/>
                </a:lnTo>
                <a:lnTo>
                  <a:pt x="760" y="11"/>
                </a:lnTo>
                <a:lnTo>
                  <a:pt x="763" y="23"/>
                </a:lnTo>
                <a:lnTo>
                  <a:pt x="765" y="36"/>
                </a:lnTo>
                <a:lnTo>
                  <a:pt x="767" y="48"/>
                </a:lnTo>
                <a:lnTo>
                  <a:pt x="768" y="61"/>
                </a:lnTo>
                <a:lnTo>
                  <a:pt x="770" y="73"/>
                </a:lnTo>
                <a:lnTo>
                  <a:pt x="770" y="86"/>
                </a:lnTo>
                <a:lnTo>
                  <a:pt x="770" y="99"/>
                </a:lnTo>
                <a:lnTo>
                  <a:pt x="775" y="96"/>
                </a:lnTo>
                <a:close/>
                <a:moveTo>
                  <a:pt x="0" y="96"/>
                </a:moveTo>
                <a:lnTo>
                  <a:pt x="0" y="98"/>
                </a:lnTo>
                <a:lnTo>
                  <a:pt x="0" y="99"/>
                </a:lnTo>
                <a:lnTo>
                  <a:pt x="0" y="112"/>
                </a:lnTo>
                <a:lnTo>
                  <a:pt x="0" y="124"/>
                </a:lnTo>
                <a:lnTo>
                  <a:pt x="2" y="137"/>
                </a:lnTo>
                <a:lnTo>
                  <a:pt x="3" y="149"/>
                </a:lnTo>
                <a:lnTo>
                  <a:pt x="5" y="162"/>
                </a:lnTo>
                <a:lnTo>
                  <a:pt x="7" y="174"/>
                </a:lnTo>
                <a:lnTo>
                  <a:pt x="10" y="187"/>
                </a:lnTo>
                <a:lnTo>
                  <a:pt x="11" y="199"/>
                </a:lnTo>
                <a:lnTo>
                  <a:pt x="16" y="199"/>
                </a:lnTo>
                <a:lnTo>
                  <a:pt x="15" y="187"/>
                </a:lnTo>
                <a:lnTo>
                  <a:pt x="11" y="174"/>
                </a:lnTo>
                <a:lnTo>
                  <a:pt x="10" y="162"/>
                </a:lnTo>
                <a:lnTo>
                  <a:pt x="8" y="151"/>
                </a:lnTo>
                <a:lnTo>
                  <a:pt x="7" y="137"/>
                </a:lnTo>
                <a:lnTo>
                  <a:pt x="5" y="124"/>
                </a:lnTo>
                <a:lnTo>
                  <a:pt x="5" y="112"/>
                </a:lnTo>
                <a:lnTo>
                  <a:pt x="3" y="99"/>
                </a:lnTo>
                <a:lnTo>
                  <a:pt x="3" y="98"/>
                </a:lnTo>
                <a:lnTo>
                  <a:pt x="5" y="96"/>
                </a:lnTo>
                <a:lnTo>
                  <a:pt x="5" y="94"/>
                </a:lnTo>
                <a:lnTo>
                  <a:pt x="0" y="96"/>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57" name="Freeform 1062">
            <a:extLst>
              <a:ext uri="{FF2B5EF4-FFF2-40B4-BE49-F238E27FC236}">
                <a16:creationId xmlns:a16="http://schemas.microsoft.com/office/drawing/2014/main" id="{0C5E05F2-8321-0EBA-A458-2BC4B566B67F}"/>
              </a:ext>
            </a:extLst>
          </p:cNvPr>
          <p:cNvSpPr>
            <a:spLocks noEditPoints="1"/>
          </p:cNvSpPr>
          <p:nvPr/>
        </p:nvSpPr>
        <p:spPr bwMode="auto">
          <a:xfrm>
            <a:off x="2303463" y="2403475"/>
            <a:ext cx="1223963" cy="315913"/>
          </a:xfrm>
          <a:custGeom>
            <a:avLst/>
            <a:gdLst>
              <a:gd name="T0" fmla="*/ 771 w 771"/>
              <a:gd name="T1" fmla="*/ 98 h 199"/>
              <a:gd name="T2" fmla="*/ 770 w 771"/>
              <a:gd name="T3" fmla="*/ 84 h 199"/>
              <a:gd name="T4" fmla="*/ 770 w 771"/>
              <a:gd name="T5" fmla="*/ 73 h 199"/>
              <a:gd name="T6" fmla="*/ 768 w 771"/>
              <a:gd name="T7" fmla="*/ 59 h 199"/>
              <a:gd name="T8" fmla="*/ 768 w 771"/>
              <a:gd name="T9" fmla="*/ 48 h 199"/>
              <a:gd name="T10" fmla="*/ 765 w 771"/>
              <a:gd name="T11" fmla="*/ 35 h 199"/>
              <a:gd name="T12" fmla="*/ 763 w 771"/>
              <a:gd name="T13" fmla="*/ 23 h 199"/>
              <a:gd name="T14" fmla="*/ 761 w 771"/>
              <a:gd name="T15" fmla="*/ 11 h 199"/>
              <a:gd name="T16" fmla="*/ 758 w 771"/>
              <a:gd name="T17" fmla="*/ 0 h 199"/>
              <a:gd name="T18" fmla="*/ 753 w 771"/>
              <a:gd name="T19" fmla="*/ 0 h 199"/>
              <a:gd name="T20" fmla="*/ 756 w 771"/>
              <a:gd name="T21" fmla="*/ 11 h 199"/>
              <a:gd name="T22" fmla="*/ 758 w 771"/>
              <a:gd name="T23" fmla="*/ 23 h 199"/>
              <a:gd name="T24" fmla="*/ 761 w 771"/>
              <a:gd name="T25" fmla="*/ 36 h 199"/>
              <a:gd name="T26" fmla="*/ 763 w 771"/>
              <a:gd name="T27" fmla="*/ 48 h 199"/>
              <a:gd name="T28" fmla="*/ 765 w 771"/>
              <a:gd name="T29" fmla="*/ 61 h 199"/>
              <a:gd name="T30" fmla="*/ 765 w 771"/>
              <a:gd name="T31" fmla="*/ 73 h 199"/>
              <a:gd name="T32" fmla="*/ 766 w 771"/>
              <a:gd name="T33" fmla="*/ 86 h 199"/>
              <a:gd name="T34" fmla="*/ 766 w 771"/>
              <a:gd name="T35" fmla="*/ 99 h 199"/>
              <a:gd name="T36" fmla="*/ 771 w 771"/>
              <a:gd name="T37" fmla="*/ 98 h 199"/>
              <a:gd name="T38" fmla="*/ 0 w 771"/>
              <a:gd name="T39" fmla="*/ 96 h 199"/>
              <a:gd name="T40" fmla="*/ 0 w 771"/>
              <a:gd name="T41" fmla="*/ 96 h 199"/>
              <a:gd name="T42" fmla="*/ 0 w 771"/>
              <a:gd name="T43" fmla="*/ 98 h 199"/>
              <a:gd name="T44" fmla="*/ 0 w 771"/>
              <a:gd name="T45" fmla="*/ 99 h 199"/>
              <a:gd name="T46" fmla="*/ 0 w 771"/>
              <a:gd name="T47" fmla="*/ 112 h 199"/>
              <a:gd name="T48" fmla="*/ 1 w 771"/>
              <a:gd name="T49" fmla="*/ 124 h 199"/>
              <a:gd name="T50" fmla="*/ 1 w 771"/>
              <a:gd name="T51" fmla="*/ 137 h 199"/>
              <a:gd name="T52" fmla="*/ 3 w 771"/>
              <a:gd name="T53" fmla="*/ 149 h 199"/>
              <a:gd name="T54" fmla="*/ 5 w 771"/>
              <a:gd name="T55" fmla="*/ 162 h 199"/>
              <a:gd name="T56" fmla="*/ 6 w 771"/>
              <a:gd name="T57" fmla="*/ 174 h 199"/>
              <a:gd name="T58" fmla="*/ 9 w 771"/>
              <a:gd name="T59" fmla="*/ 187 h 199"/>
              <a:gd name="T60" fmla="*/ 13 w 771"/>
              <a:gd name="T61" fmla="*/ 199 h 199"/>
              <a:gd name="T62" fmla="*/ 18 w 771"/>
              <a:gd name="T63" fmla="*/ 199 h 199"/>
              <a:gd name="T64" fmla="*/ 14 w 771"/>
              <a:gd name="T65" fmla="*/ 187 h 199"/>
              <a:gd name="T66" fmla="*/ 11 w 771"/>
              <a:gd name="T67" fmla="*/ 174 h 199"/>
              <a:gd name="T68" fmla="*/ 9 w 771"/>
              <a:gd name="T69" fmla="*/ 162 h 199"/>
              <a:gd name="T70" fmla="*/ 8 w 771"/>
              <a:gd name="T71" fmla="*/ 151 h 199"/>
              <a:gd name="T72" fmla="*/ 6 w 771"/>
              <a:gd name="T73" fmla="*/ 137 h 199"/>
              <a:gd name="T74" fmla="*/ 5 w 771"/>
              <a:gd name="T75" fmla="*/ 124 h 199"/>
              <a:gd name="T76" fmla="*/ 5 w 771"/>
              <a:gd name="T77" fmla="*/ 112 h 199"/>
              <a:gd name="T78" fmla="*/ 5 w 771"/>
              <a:gd name="T79" fmla="*/ 99 h 199"/>
              <a:gd name="T80" fmla="*/ 5 w 771"/>
              <a:gd name="T81" fmla="*/ 98 h 199"/>
              <a:gd name="T82" fmla="*/ 5 w 771"/>
              <a:gd name="T83" fmla="*/ 96 h 199"/>
              <a:gd name="T84" fmla="*/ 5 w 771"/>
              <a:gd name="T85" fmla="*/ 94 h 199"/>
              <a:gd name="T86" fmla="*/ 5 w 771"/>
              <a:gd name="T87" fmla="*/ 93 h 199"/>
              <a:gd name="T88" fmla="*/ 0 w 771"/>
              <a:gd name="T89" fmla="*/ 9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71" h="199">
                <a:moveTo>
                  <a:pt x="771" y="98"/>
                </a:moveTo>
                <a:lnTo>
                  <a:pt x="770" y="84"/>
                </a:lnTo>
                <a:lnTo>
                  <a:pt x="770" y="73"/>
                </a:lnTo>
                <a:lnTo>
                  <a:pt x="768" y="59"/>
                </a:lnTo>
                <a:lnTo>
                  <a:pt x="768" y="48"/>
                </a:lnTo>
                <a:lnTo>
                  <a:pt x="765" y="35"/>
                </a:lnTo>
                <a:lnTo>
                  <a:pt x="763" y="23"/>
                </a:lnTo>
                <a:lnTo>
                  <a:pt x="761" y="11"/>
                </a:lnTo>
                <a:lnTo>
                  <a:pt x="758" y="0"/>
                </a:lnTo>
                <a:lnTo>
                  <a:pt x="753" y="0"/>
                </a:lnTo>
                <a:lnTo>
                  <a:pt x="756" y="11"/>
                </a:lnTo>
                <a:lnTo>
                  <a:pt x="758" y="23"/>
                </a:lnTo>
                <a:lnTo>
                  <a:pt x="761" y="36"/>
                </a:lnTo>
                <a:lnTo>
                  <a:pt x="763" y="48"/>
                </a:lnTo>
                <a:lnTo>
                  <a:pt x="765" y="61"/>
                </a:lnTo>
                <a:lnTo>
                  <a:pt x="765" y="73"/>
                </a:lnTo>
                <a:lnTo>
                  <a:pt x="766" y="86"/>
                </a:lnTo>
                <a:lnTo>
                  <a:pt x="766" y="99"/>
                </a:lnTo>
                <a:lnTo>
                  <a:pt x="771" y="98"/>
                </a:lnTo>
                <a:close/>
                <a:moveTo>
                  <a:pt x="0" y="96"/>
                </a:moveTo>
                <a:lnTo>
                  <a:pt x="0" y="96"/>
                </a:lnTo>
                <a:lnTo>
                  <a:pt x="0" y="98"/>
                </a:lnTo>
                <a:lnTo>
                  <a:pt x="0" y="99"/>
                </a:lnTo>
                <a:lnTo>
                  <a:pt x="0" y="112"/>
                </a:lnTo>
                <a:lnTo>
                  <a:pt x="1" y="124"/>
                </a:lnTo>
                <a:lnTo>
                  <a:pt x="1" y="137"/>
                </a:lnTo>
                <a:lnTo>
                  <a:pt x="3" y="149"/>
                </a:lnTo>
                <a:lnTo>
                  <a:pt x="5" y="162"/>
                </a:lnTo>
                <a:lnTo>
                  <a:pt x="6" y="174"/>
                </a:lnTo>
                <a:lnTo>
                  <a:pt x="9" y="187"/>
                </a:lnTo>
                <a:lnTo>
                  <a:pt x="13" y="199"/>
                </a:lnTo>
                <a:lnTo>
                  <a:pt x="18" y="199"/>
                </a:lnTo>
                <a:lnTo>
                  <a:pt x="14" y="187"/>
                </a:lnTo>
                <a:lnTo>
                  <a:pt x="11" y="174"/>
                </a:lnTo>
                <a:lnTo>
                  <a:pt x="9" y="162"/>
                </a:lnTo>
                <a:lnTo>
                  <a:pt x="8" y="151"/>
                </a:lnTo>
                <a:lnTo>
                  <a:pt x="6" y="137"/>
                </a:lnTo>
                <a:lnTo>
                  <a:pt x="5" y="124"/>
                </a:lnTo>
                <a:lnTo>
                  <a:pt x="5" y="112"/>
                </a:lnTo>
                <a:lnTo>
                  <a:pt x="5" y="99"/>
                </a:lnTo>
                <a:lnTo>
                  <a:pt x="5" y="98"/>
                </a:lnTo>
                <a:lnTo>
                  <a:pt x="5" y="96"/>
                </a:lnTo>
                <a:lnTo>
                  <a:pt x="5" y="94"/>
                </a:lnTo>
                <a:lnTo>
                  <a:pt x="5" y="93"/>
                </a:lnTo>
                <a:lnTo>
                  <a:pt x="0" y="96"/>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58" name="Freeform 1063">
            <a:extLst>
              <a:ext uri="{FF2B5EF4-FFF2-40B4-BE49-F238E27FC236}">
                <a16:creationId xmlns:a16="http://schemas.microsoft.com/office/drawing/2014/main" id="{46B89EA2-0B3F-C498-7139-5C68B295FA32}"/>
              </a:ext>
            </a:extLst>
          </p:cNvPr>
          <p:cNvSpPr>
            <a:spLocks noEditPoints="1"/>
          </p:cNvSpPr>
          <p:nvPr/>
        </p:nvSpPr>
        <p:spPr bwMode="auto">
          <a:xfrm>
            <a:off x="2305050" y="2403475"/>
            <a:ext cx="1217613" cy="315913"/>
          </a:xfrm>
          <a:custGeom>
            <a:avLst/>
            <a:gdLst>
              <a:gd name="T0" fmla="*/ 767 w 767"/>
              <a:gd name="T1" fmla="*/ 99 h 199"/>
              <a:gd name="T2" fmla="*/ 767 w 767"/>
              <a:gd name="T3" fmla="*/ 86 h 199"/>
              <a:gd name="T4" fmla="*/ 767 w 767"/>
              <a:gd name="T5" fmla="*/ 73 h 199"/>
              <a:gd name="T6" fmla="*/ 765 w 767"/>
              <a:gd name="T7" fmla="*/ 61 h 199"/>
              <a:gd name="T8" fmla="*/ 764 w 767"/>
              <a:gd name="T9" fmla="*/ 48 h 199"/>
              <a:gd name="T10" fmla="*/ 762 w 767"/>
              <a:gd name="T11" fmla="*/ 36 h 199"/>
              <a:gd name="T12" fmla="*/ 760 w 767"/>
              <a:gd name="T13" fmla="*/ 23 h 199"/>
              <a:gd name="T14" fmla="*/ 757 w 767"/>
              <a:gd name="T15" fmla="*/ 11 h 199"/>
              <a:gd name="T16" fmla="*/ 754 w 767"/>
              <a:gd name="T17" fmla="*/ 0 h 199"/>
              <a:gd name="T18" fmla="*/ 749 w 767"/>
              <a:gd name="T19" fmla="*/ 0 h 199"/>
              <a:gd name="T20" fmla="*/ 752 w 767"/>
              <a:gd name="T21" fmla="*/ 11 h 199"/>
              <a:gd name="T22" fmla="*/ 755 w 767"/>
              <a:gd name="T23" fmla="*/ 23 h 199"/>
              <a:gd name="T24" fmla="*/ 757 w 767"/>
              <a:gd name="T25" fmla="*/ 36 h 199"/>
              <a:gd name="T26" fmla="*/ 759 w 767"/>
              <a:gd name="T27" fmla="*/ 48 h 199"/>
              <a:gd name="T28" fmla="*/ 760 w 767"/>
              <a:gd name="T29" fmla="*/ 61 h 199"/>
              <a:gd name="T30" fmla="*/ 762 w 767"/>
              <a:gd name="T31" fmla="*/ 73 h 199"/>
              <a:gd name="T32" fmla="*/ 762 w 767"/>
              <a:gd name="T33" fmla="*/ 86 h 199"/>
              <a:gd name="T34" fmla="*/ 762 w 767"/>
              <a:gd name="T35" fmla="*/ 99 h 199"/>
              <a:gd name="T36" fmla="*/ 762 w 767"/>
              <a:gd name="T37" fmla="*/ 101 h 199"/>
              <a:gd name="T38" fmla="*/ 767 w 767"/>
              <a:gd name="T39" fmla="*/ 99 h 199"/>
              <a:gd name="T40" fmla="*/ 2 w 767"/>
              <a:gd name="T41" fmla="*/ 94 h 199"/>
              <a:gd name="T42" fmla="*/ 2 w 767"/>
              <a:gd name="T43" fmla="*/ 94 h 199"/>
              <a:gd name="T44" fmla="*/ 2 w 767"/>
              <a:gd name="T45" fmla="*/ 96 h 199"/>
              <a:gd name="T46" fmla="*/ 0 w 767"/>
              <a:gd name="T47" fmla="*/ 98 h 199"/>
              <a:gd name="T48" fmla="*/ 0 w 767"/>
              <a:gd name="T49" fmla="*/ 99 h 199"/>
              <a:gd name="T50" fmla="*/ 2 w 767"/>
              <a:gd name="T51" fmla="*/ 112 h 199"/>
              <a:gd name="T52" fmla="*/ 2 w 767"/>
              <a:gd name="T53" fmla="*/ 124 h 199"/>
              <a:gd name="T54" fmla="*/ 4 w 767"/>
              <a:gd name="T55" fmla="*/ 137 h 199"/>
              <a:gd name="T56" fmla="*/ 5 w 767"/>
              <a:gd name="T57" fmla="*/ 151 h 199"/>
              <a:gd name="T58" fmla="*/ 7 w 767"/>
              <a:gd name="T59" fmla="*/ 162 h 199"/>
              <a:gd name="T60" fmla="*/ 8 w 767"/>
              <a:gd name="T61" fmla="*/ 174 h 199"/>
              <a:gd name="T62" fmla="*/ 12 w 767"/>
              <a:gd name="T63" fmla="*/ 187 h 199"/>
              <a:gd name="T64" fmla="*/ 13 w 767"/>
              <a:gd name="T65" fmla="*/ 199 h 199"/>
              <a:gd name="T66" fmla="*/ 18 w 767"/>
              <a:gd name="T67" fmla="*/ 199 h 199"/>
              <a:gd name="T68" fmla="*/ 17 w 767"/>
              <a:gd name="T69" fmla="*/ 187 h 199"/>
              <a:gd name="T70" fmla="*/ 13 w 767"/>
              <a:gd name="T71" fmla="*/ 174 h 199"/>
              <a:gd name="T72" fmla="*/ 12 w 767"/>
              <a:gd name="T73" fmla="*/ 162 h 199"/>
              <a:gd name="T74" fmla="*/ 8 w 767"/>
              <a:gd name="T75" fmla="*/ 151 h 199"/>
              <a:gd name="T76" fmla="*/ 8 w 767"/>
              <a:gd name="T77" fmla="*/ 137 h 199"/>
              <a:gd name="T78" fmla="*/ 7 w 767"/>
              <a:gd name="T79" fmla="*/ 124 h 199"/>
              <a:gd name="T80" fmla="*/ 7 w 767"/>
              <a:gd name="T81" fmla="*/ 112 h 199"/>
              <a:gd name="T82" fmla="*/ 5 w 767"/>
              <a:gd name="T83" fmla="*/ 99 h 199"/>
              <a:gd name="T84" fmla="*/ 5 w 767"/>
              <a:gd name="T85" fmla="*/ 98 h 199"/>
              <a:gd name="T86" fmla="*/ 5 w 767"/>
              <a:gd name="T87" fmla="*/ 96 h 199"/>
              <a:gd name="T88" fmla="*/ 5 w 767"/>
              <a:gd name="T89" fmla="*/ 94 h 199"/>
              <a:gd name="T90" fmla="*/ 5 w 767"/>
              <a:gd name="T91" fmla="*/ 93 h 199"/>
              <a:gd name="T92" fmla="*/ 2 w 767"/>
              <a:gd name="T93" fmla="*/ 9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67" h="199">
                <a:moveTo>
                  <a:pt x="767" y="99"/>
                </a:moveTo>
                <a:lnTo>
                  <a:pt x="767" y="86"/>
                </a:lnTo>
                <a:lnTo>
                  <a:pt x="767" y="73"/>
                </a:lnTo>
                <a:lnTo>
                  <a:pt x="765" y="61"/>
                </a:lnTo>
                <a:lnTo>
                  <a:pt x="764" y="48"/>
                </a:lnTo>
                <a:lnTo>
                  <a:pt x="762" y="36"/>
                </a:lnTo>
                <a:lnTo>
                  <a:pt x="760" y="23"/>
                </a:lnTo>
                <a:lnTo>
                  <a:pt x="757" y="11"/>
                </a:lnTo>
                <a:lnTo>
                  <a:pt x="754" y="0"/>
                </a:lnTo>
                <a:lnTo>
                  <a:pt x="749" y="0"/>
                </a:lnTo>
                <a:lnTo>
                  <a:pt x="752" y="11"/>
                </a:lnTo>
                <a:lnTo>
                  <a:pt x="755" y="23"/>
                </a:lnTo>
                <a:lnTo>
                  <a:pt x="757" y="36"/>
                </a:lnTo>
                <a:lnTo>
                  <a:pt x="759" y="48"/>
                </a:lnTo>
                <a:lnTo>
                  <a:pt x="760" y="61"/>
                </a:lnTo>
                <a:lnTo>
                  <a:pt x="762" y="73"/>
                </a:lnTo>
                <a:lnTo>
                  <a:pt x="762" y="86"/>
                </a:lnTo>
                <a:lnTo>
                  <a:pt x="762" y="99"/>
                </a:lnTo>
                <a:lnTo>
                  <a:pt x="762" y="101"/>
                </a:lnTo>
                <a:lnTo>
                  <a:pt x="767" y="99"/>
                </a:lnTo>
                <a:close/>
                <a:moveTo>
                  <a:pt x="2" y="94"/>
                </a:moveTo>
                <a:lnTo>
                  <a:pt x="2" y="94"/>
                </a:lnTo>
                <a:lnTo>
                  <a:pt x="2" y="96"/>
                </a:lnTo>
                <a:lnTo>
                  <a:pt x="0" y="98"/>
                </a:lnTo>
                <a:lnTo>
                  <a:pt x="0" y="99"/>
                </a:lnTo>
                <a:lnTo>
                  <a:pt x="2" y="112"/>
                </a:lnTo>
                <a:lnTo>
                  <a:pt x="2" y="124"/>
                </a:lnTo>
                <a:lnTo>
                  <a:pt x="4" y="137"/>
                </a:lnTo>
                <a:lnTo>
                  <a:pt x="5" y="151"/>
                </a:lnTo>
                <a:lnTo>
                  <a:pt x="7" y="162"/>
                </a:lnTo>
                <a:lnTo>
                  <a:pt x="8" y="174"/>
                </a:lnTo>
                <a:lnTo>
                  <a:pt x="12" y="187"/>
                </a:lnTo>
                <a:lnTo>
                  <a:pt x="13" y="199"/>
                </a:lnTo>
                <a:lnTo>
                  <a:pt x="18" y="199"/>
                </a:lnTo>
                <a:lnTo>
                  <a:pt x="17" y="187"/>
                </a:lnTo>
                <a:lnTo>
                  <a:pt x="13" y="174"/>
                </a:lnTo>
                <a:lnTo>
                  <a:pt x="12" y="162"/>
                </a:lnTo>
                <a:lnTo>
                  <a:pt x="8" y="151"/>
                </a:lnTo>
                <a:lnTo>
                  <a:pt x="8" y="137"/>
                </a:lnTo>
                <a:lnTo>
                  <a:pt x="7" y="124"/>
                </a:lnTo>
                <a:lnTo>
                  <a:pt x="7" y="112"/>
                </a:lnTo>
                <a:lnTo>
                  <a:pt x="5" y="99"/>
                </a:lnTo>
                <a:lnTo>
                  <a:pt x="5" y="98"/>
                </a:lnTo>
                <a:lnTo>
                  <a:pt x="5" y="96"/>
                </a:lnTo>
                <a:lnTo>
                  <a:pt x="5" y="94"/>
                </a:lnTo>
                <a:lnTo>
                  <a:pt x="5" y="93"/>
                </a:lnTo>
                <a:lnTo>
                  <a:pt x="2" y="94"/>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59" name="Freeform 1064">
            <a:extLst>
              <a:ext uri="{FF2B5EF4-FFF2-40B4-BE49-F238E27FC236}">
                <a16:creationId xmlns:a16="http://schemas.microsoft.com/office/drawing/2014/main" id="{231FCD72-F5C6-B811-8551-91C72AD1687F}"/>
              </a:ext>
            </a:extLst>
          </p:cNvPr>
          <p:cNvSpPr>
            <a:spLocks noEditPoints="1"/>
          </p:cNvSpPr>
          <p:nvPr/>
        </p:nvSpPr>
        <p:spPr bwMode="auto">
          <a:xfrm>
            <a:off x="2311400" y="2403475"/>
            <a:ext cx="1208088" cy="315913"/>
          </a:xfrm>
          <a:custGeom>
            <a:avLst/>
            <a:gdLst>
              <a:gd name="T0" fmla="*/ 761 w 761"/>
              <a:gd name="T1" fmla="*/ 99 h 199"/>
              <a:gd name="T2" fmla="*/ 761 w 761"/>
              <a:gd name="T3" fmla="*/ 86 h 199"/>
              <a:gd name="T4" fmla="*/ 760 w 761"/>
              <a:gd name="T5" fmla="*/ 73 h 199"/>
              <a:gd name="T6" fmla="*/ 760 w 761"/>
              <a:gd name="T7" fmla="*/ 61 h 199"/>
              <a:gd name="T8" fmla="*/ 758 w 761"/>
              <a:gd name="T9" fmla="*/ 48 h 199"/>
              <a:gd name="T10" fmla="*/ 756 w 761"/>
              <a:gd name="T11" fmla="*/ 36 h 199"/>
              <a:gd name="T12" fmla="*/ 753 w 761"/>
              <a:gd name="T13" fmla="*/ 23 h 199"/>
              <a:gd name="T14" fmla="*/ 751 w 761"/>
              <a:gd name="T15" fmla="*/ 11 h 199"/>
              <a:gd name="T16" fmla="*/ 748 w 761"/>
              <a:gd name="T17" fmla="*/ 0 h 199"/>
              <a:gd name="T18" fmla="*/ 743 w 761"/>
              <a:gd name="T19" fmla="*/ 0 h 199"/>
              <a:gd name="T20" fmla="*/ 746 w 761"/>
              <a:gd name="T21" fmla="*/ 11 h 199"/>
              <a:gd name="T22" fmla="*/ 748 w 761"/>
              <a:gd name="T23" fmla="*/ 23 h 199"/>
              <a:gd name="T24" fmla="*/ 751 w 761"/>
              <a:gd name="T25" fmla="*/ 36 h 199"/>
              <a:gd name="T26" fmla="*/ 753 w 761"/>
              <a:gd name="T27" fmla="*/ 48 h 199"/>
              <a:gd name="T28" fmla="*/ 755 w 761"/>
              <a:gd name="T29" fmla="*/ 61 h 199"/>
              <a:gd name="T30" fmla="*/ 755 w 761"/>
              <a:gd name="T31" fmla="*/ 73 h 199"/>
              <a:gd name="T32" fmla="*/ 756 w 761"/>
              <a:gd name="T33" fmla="*/ 86 h 199"/>
              <a:gd name="T34" fmla="*/ 756 w 761"/>
              <a:gd name="T35" fmla="*/ 99 h 199"/>
              <a:gd name="T36" fmla="*/ 756 w 761"/>
              <a:gd name="T37" fmla="*/ 101 h 199"/>
              <a:gd name="T38" fmla="*/ 756 w 761"/>
              <a:gd name="T39" fmla="*/ 102 h 199"/>
              <a:gd name="T40" fmla="*/ 761 w 761"/>
              <a:gd name="T41" fmla="*/ 99 h 199"/>
              <a:gd name="T42" fmla="*/ 0 w 761"/>
              <a:gd name="T43" fmla="*/ 93 h 199"/>
              <a:gd name="T44" fmla="*/ 0 w 761"/>
              <a:gd name="T45" fmla="*/ 94 h 199"/>
              <a:gd name="T46" fmla="*/ 0 w 761"/>
              <a:gd name="T47" fmla="*/ 96 h 199"/>
              <a:gd name="T48" fmla="*/ 0 w 761"/>
              <a:gd name="T49" fmla="*/ 98 h 199"/>
              <a:gd name="T50" fmla="*/ 0 w 761"/>
              <a:gd name="T51" fmla="*/ 99 h 199"/>
              <a:gd name="T52" fmla="*/ 0 w 761"/>
              <a:gd name="T53" fmla="*/ 112 h 199"/>
              <a:gd name="T54" fmla="*/ 0 w 761"/>
              <a:gd name="T55" fmla="*/ 124 h 199"/>
              <a:gd name="T56" fmla="*/ 1 w 761"/>
              <a:gd name="T57" fmla="*/ 137 h 199"/>
              <a:gd name="T58" fmla="*/ 3 w 761"/>
              <a:gd name="T59" fmla="*/ 151 h 199"/>
              <a:gd name="T60" fmla="*/ 4 w 761"/>
              <a:gd name="T61" fmla="*/ 162 h 199"/>
              <a:gd name="T62" fmla="*/ 6 w 761"/>
              <a:gd name="T63" fmla="*/ 174 h 199"/>
              <a:gd name="T64" fmla="*/ 9 w 761"/>
              <a:gd name="T65" fmla="*/ 187 h 199"/>
              <a:gd name="T66" fmla="*/ 13 w 761"/>
              <a:gd name="T67" fmla="*/ 199 h 199"/>
              <a:gd name="T68" fmla="*/ 18 w 761"/>
              <a:gd name="T69" fmla="*/ 199 h 199"/>
              <a:gd name="T70" fmla="*/ 14 w 761"/>
              <a:gd name="T71" fmla="*/ 187 h 199"/>
              <a:gd name="T72" fmla="*/ 11 w 761"/>
              <a:gd name="T73" fmla="*/ 174 h 199"/>
              <a:gd name="T74" fmla="*/ 9 w 761"/>
              <a:gd name="T75" fmla="*/ 162 h 199"/>
              <a:gd name="T76" fmla="*/ 8 w 761"/>
              <a:gd name="T77" fmla="*/ 151 h 199"/>
              <a:gd name="T78" fmla="*/ 6 w 761"/>
              <a:gd name="T79" fmla="*/ 137 h 199"/>
              <a:gd name="T80" fmla="*/ 4 w 761"/>
              <a:gd name="T81" fmla="*/ 124 h 199"/>
              <a:gd name="T82" fmla="*/ 4 w 761"/>
              <a:gd name="T83" fmla="*/ 112 h 199"/>
              <a:gd name="T84" fmla="*/ 4 w 761"/>
              <a:gd name="T85" fmla="*/ 99 h 199"/>
              <a:gd name="T86" fmla="*/ 4 w 761"/>
              <a:gd name="T87" fmla="*/ 98 h 199"/>
              <a:gd name="T88" fmla="*/ 4 w 761"/>
              <a:gd name="T89" fmla="*/ 96 h 199"/>
              <a:gd name="T90" fmla="*/ 4 w 761"/>
              <a:gd name="T91" fmla="*/ 94 h 199"/>
              <a:gd name="T92" fmla="*/ 4 w 761"/>
              <a:gd name="T93" fmla="*/ 93 h 199"/>
              <a:gd name="T94" fmla="*/ 4 w 761"/>
              <a:gd name="T95" fmla="*/ 91 h 199"/>
              <a:gd name="T96" fmla="*/ 0 w 761"/>
              <a:gd name="T97" fmla="*/ 9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61" h="199">
                <a:moveTo>
                  <a:pt x="761" y="99"/>
                </a:moveTo>
                <a:lnTo>
                  <a:pt x="761" y="86"/>
                </a:lnTo>
                <a:lnTo>
                  <a:pt x="760" y="73"/>
                </a:lnTo>
                <a:lnTo>
                  <a:pt x="760" y="61"/>
                </a:lnTo>
                <a:lnTo>
                  <a:pt x="758" y="48"/>
                </a:lnTo>
                <a:lnTo>
                  <a:pt x="756" y="36"/>
                </a:lnTo>
                <a:lnTo>
                  <a:pt x="753" y="23"/>
                </a:lnTo>
                <a:lnTo>
                  <a:pt x="751" y="11"/>
                </a:lnTo>
                <a:lnTo>
                  <a:pt x="748" y="0"/>
                </a:lnTo>
                <a:lnTo>
                  <a:pt x="743" y="0"/>
                </a:lnTo>
                <a:lnTo>
                  <a:pt x="746" y="11"/>
                </a:lnTo>
                <a:lnTo>
                  <a:pt x="748" y="23"/>
                </a:lnTo>
                <a:lnTo>
                  <a:pt x="751" y="36"/>
                </a:lnTo>
                <a:lnTo>
                  <a:pt x="753" y="48"/>
                </a:lnTo>
                <a:lnTo>
                  <a:pt x="755" y="61"/>
                </a:lnTo>
                <a:lnTo>
                  <a:pt x="755" y="73"/>
                </a:lnTo>
                <a:lnTo>
                  <a:pt x="756" y="86"/>
                </a:lnTo>
                <a:lnTo>
                  <a:pt x="756" y="99"/>
                </a:lnTo>
                <a:lnTo>
                  <a:pt x="756" y="101"/>
                </a:lnTo>
                <a:lnTo>
                  <a:pt x="756" y="102"/>
                </a:lnTo>
                <a:lnTo>
                  <a:pt x="761" y="99"/>
                </a:lnTo>
                <a:close/>
                <a:moveTo>
                  <a:pt x="0" y="93"/>
                </a:moveTo>
                <a:lnTo>
                  <a:pt x="0" y="94"/>
                </a:lnTo>
                <a:lnTo>
                  <a:pt x="0" y="96"/>
                </a:lnTo>
                <a:lnTo>
                  <a:pt x="0" y="98"/>
                </a:lnTo>
                <a:lnTo>
                  <a:pt x="0" y="99"/>
                </a:lnTo>
                <a:lnTo>
                  <a:pt x="0" y="112"/>
                </a:lnTo>
                <a:lnTo>
                  <a:pt x="0" y="124"/>
                </a:lnTo>
                <a:lnTo>
                  <a:pt x="1" y="137"/>
                </a:lnTo>
                <a:lnTo>
                  <a:pt x="3" y="151"/>
                </a:lnTo>
                <a:lnTo>
                  <a:pt x="4" y="162"/>
                </a:lnTo>
                <a:lnTo>
                  <a:pt x="6" y="174"/>
                </a:lnTo>
                <a:lnTo>
                  <a:pt x="9" y="187"/>
                </a:lnTo>
                <a:lnTo>
                  <a:pt x="13" y="199"/>
                </a:lnTo>
                <a:lnTo>
                  <a:pt x="18" y="199"/>
                </a:lnTo>
                <a:lnTo>
                  <a:pt x="14" y="187"/>
                </a:lnTo>
                <a:lnTo>
                  <a:pt x="11" y="174"/>
                </a:lnTo>
                <a:lnTo>
                  <a:pt x="9" y="162"/>
                </a:lnTo>
                <a:lnTo>
                  <a:pt x="8" y="151"/>
                </a:lnTo>
                <a:lnTo>
                  <a:pt x="6" y="137"/>
                </a:lnTo>
                <a:lnTo>
                  <a:pt x="4" y="124"/>
                </a:lnTo>
                <a:lnTo>
                  <a:pt x="4" y="112"/>
                </a:lnTo>
                <a:lnTo>
                  <a:pt x="4" y="99"/>
                </a:lnTo>
                <a:lnTo>
                  <a:pt x="4" y="98"/>
                </a:lnTo>
                <a:lnTo>
                  <a:pt x="4" y="96"/>
                </a:lnTo>
                <a:lnTo>
                  <a:pt x="4" y="94"/>
                </a:lnTo>
                <a:lnTo>
                  <a:pt x="4" y="93"/>
                </a:lnTo>
                <a:lnTo>
                  <a:pt x="4" y="91"/>
                </a:lnTo>
                <a:lnTo>
                  <a:pt x="0" y="93"/>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60" name="Freeform 1065">
            <a:extLst>
              <a:ext uri="{FF2B5EF4-FFF2-40B4-BE49-F238E27FC236}">
                <a16:creationId xmlns:a16="http://schemas.microsoft.com/office/drawing/2014/main" id="{948CAD07-7234-C614-B0C6-1CAA0E3EEC55}"/>
              </a:ext>
            </a:extLst>
          </p:cNvPr>
          <p:cNvSpPr>
            <a:spLocks noEditPoints="1"/>
          </p:cNvSpPr>
          <p:nvPr/>
        </p:nvSpPr>
        <p:spPr bwMode="auto">
          <a:xfrm>
            <a:off x="2312988" y="2403475"/>
            <a:ext cx="1201738" cy="315913"/>
          </a:xfrm>
          <a:custGeom>
            <a:avLst/>
            <a:gdLst>
              <a:gd name="T0" fmla="*/ 757 w 757"/>
              <a:gd name="T1" fmla="*/ 99 h 199"/>
              <a:gd name="T2" fmla="*/ 757 w 757"/>
              <a:gd name="T3" fmla="*/ 86 h 199"/>
              <a:gd name="T4" fmla="*/ 757 w 757"/>
              <a:gd name="T5" fmla="*/ 73 h 199"/>
              <a:gd name="T6" fmla="*/ 755 w 757"/>
              <a:gd name="T7" fmla="*/ 61 h 199"/>
              <a:gd name="T8" fmla="*/ 754 w 757"/>
              <a:gd name="T9" fmla="*/ 48 h 199"/>
              <a:gd name="T10" fmla="*/ 752 w 757"/>
              <a:gd name="T11" fmla="*/ 36 h 199"/>
              <a:gd name="T12" fmla="*/ 750 w 757"/>
              <a:gd name="T13" fmla="*/ 23 h 199"/>
              <a:gd name="T14" fmla="*/ 747 w 757"/>
              <a:gd name="T15" fmla="*/ 11 h 199"/>
              <a:gd name="T16" fmla="*/ 744 w 757"/>
              <a:gd name="T17" fmla="*/ 0 h 199"/>
              <a:gd name="T18" fmla="*/ 739 w 757"/>
              <a:gd name="T19" fmla="*/ 0 h 199"/>
              <a:gd name="T20" fmla="*/ 742 w 757"/>
              <a:gd name="T21" fmla="*/ 11 h 199"/>
              <a:gd name="T22" fmla="*/ 745 w 757"/>
              <a:gd name="T23" fmla="*/ 23 h 199"/>
              <a:gd name="T24" fmla="*/ 747 w 757"/>
              <a:gd name="T25" fmla="*/ 36 h 199"/>
              <a:gd name="T26" fmla="*/ 749 w 757"/>
              <a:gd name="T27" fmla="*/ 48 h 199"/>
              <a:gd name="T28" fmla="*/ 750 w 757"/>
              <a:gd name="T29" fmla="*/ 61 h 199"/>
              <a:gd name="T30" fmla="*/ 752 w 757"/>
              <a:gd name="T31" fmla="*/ 73 h 199"/>
              <a:gd name="T32" fmla="*/ 752 w 757"/>
              <a:gd name="T33" fmla="*/ 86 h 199"/>
              <a:gd name="T34" fmla="*/ 752 w 757"/>
              <a:gd name="T35" fmla="*/ 99 h 199"/>
              <a:gd name="T36" fmla="*/ 752 w 757"/>
              <a:gd name="T37" fmla="*/ 101 h 199"/>
              <a:gd name="T38" fmla="*/ 752 w 757"/>
              <a:gd name="T39" fmla="*/ 102 h 199"/>
              <a:gd name="T40" fmla="*/ 757 w 757"/>
              <a:gd name="T41" fmla="*/ 101 h 199"/>
              <a:gd name="T42" fmla="*/ 757 w 757"/>
              <a:gd name="T43" fmla="*/ 99 h 199"/>
              <a:gd name="T44" fmla="*/ 0 w 757"/>
              <a:gd name="T45" fmla="*/ 93 h 199"/>
              <a:gd name="T46" fmla="*/ 0 w 757"/>
              <a:gd name="T47" fmla="*/ 93 h 199"/>
              <a:gd name="T48" fmla="*/ 0 w 757"/>
              <a:gd name="T49" fmla="*/ 94 h 199"/>
              <a:gd name="T50" fmla="*/ 0 w 757"/>
              <a:gd name="T51" fmla="*/ 96 h 199"/>
              <a:gd name="T52" fmla="*/ 0 w 757"/>
              <a:gd name="T53" fmla="*/ 98 h 199"/>
              <a:gd name="T54" fmla="*/ 0 w 757"/>
              <a:gd name="T55" fmla="*/ 99 h 199"/>
              <a:gd name="T56" fmla="*/ 2 w 757"/>
              <a:gd name="T57" fmla="*/ 112 h 199"/>
              <a:gd name="T58" fmla="*/ 2 w 757"/>
              <a:gd name="T59" fmla="*/ 124 h 199"/>
              <a:gd name="T60" fmla="*/ 3 w 757"/>
              <a:gd name="T61" fmla="*/ 137 h 199"/>
              <a:gd name="T62" fmla="*/ 3 w 757"/>
              <a:gd name="T63" fmla="*/ 151 h 199"/>
              <a:gd name="T64" fmla="*/ 7 w 757"/>
              <a:gd name="T65" fmla="*/ 162 h 199"/>
              <a:gd name="T66" fmla="*/ 8 w 757"/>
              <a:gd name="T67" fmla="*/ 174 h 199"/>
              <a:gd name="T68" fmla="*/ 12 w 757"/>
              <a:gd name="T69" fmla="*/ 187 h 199"/>
              <a:gd name="T70" fmla="*/ 13 w 757"/>
              <a:gd name="T71" fmla="*/ 199 h 199"/>
              <a:gd name="T72" fmla="*/ 18 w 757"/>
              <a:gd name="T73" fmla="*/ 199 h 199"/>
              <a:gd name="T74" fmla="*/ 17 w 757"/>
              <a:gd name="T75" fmla="*/ 187 h 199"/>
              <a:gd name="T76" fmla="*/ 13 w 757"/>
              <a:gd name="T77" fmla="*/ 174 h 199"/>
              <a:gd name="T78" fmla="*/ 10 w 757"/>
              <a:gd name="T79" fmla="*/ 162 h 199"/>
              <a:gd name="T80" fmla="*/ 8 w 757"/>
              <a:gd name="T81" fmla="*/ 151 h 199"/>
              <a:gd name="T82" fmla="*/ 7 w 757"/>
              <a:gd name="T83" fmla="*/ 137 h 199"/>
              <a:gd name="T84" fmla="*/ 7 w 757"/>
              <a:gd name="T85" fmla="*/ 124 h 199"/>
              <a:gd name="T86" fmla="*/ 5 w 757"/>
              <a:gd name="T87" fmla="*/ 112 h 199"/>
              <a:gd name="T88" fmla="*/ 5 w 757"/>
              <a:gd name="T89" fmla="*/ 99 h 199"/>
              <a:gd name="T90" fmla="*/ 5 w 757"/>
              <a:gd name="T91" fmla="*/ 98 h 199"/>
              <a:gd name="T92" fmla="*/ 5 w 757"/>
              <a:gd name="T93" fmla="*/ 96 h 199"/>
              <a:gd name="T94" fmla="*/ 5 w 757"/>
              <a:gd name="T95" fmla="*/ 94 h 199"/>
              <a:gd name="T96" fmla="*/ 5 w 757"/>
              <a:gd name="T97" fmla="*/ 93 h 199"/>
              <a:gd name="T98" fmla="*/ 5 w 757"/>
              <a:gd name="T99" fmla="*/ 91 h 199"/>
              <a:gd name="T100" fmla="*/ 5 w 757"/>
              <a:gd name="T101" fmla="*/ 89 h 199"/>
              <a:gd name="T102" fmla="*/ 0 w 757"/>
              <a:gd name="T103" fmla="*/ 9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57" h="199">
                <a:moveTo>
                  <a:pt x="757" y="99"/>
                </a:moveTo>
                <a:lnTo>
                  <a:pt x="757" y="86"/>
                </a:lnTo>
                <a:lnTo>
                  <a:pt x="757" y="73"/>
                </a:lnTo>
                <a:lnTo>
                  <a:pt x="755" y="61"/>
                </a:lnTo>
                <a:lnTo>
                  <a:pt x="754" y="48"/>
                </a:lnTo>
                <a:lnTo>
                  <a:pt x="752" y="36"/>
                </a:lnTo>
                <a:lnTo>
                  <a:pt x="750" y="23"/>
                </a:lnTo>
                <a:lnTo>
                  <a:pt x="747" y="11"/>
                </a:lnTo>
                <a:lnTo>
                  <a:pt x="744" y="0"/>
                </a:lnTo>
                <a:lnTo>
                  <a:pt x="739" y="0"/>
                </a:lnTo>
                <a:lnTo>
                  <a:pt x="742" y="11"/>
                </a:lnTo>
                <a:lnTo>
                  <a:pt x="745" y="23"/>
                </a:lnTo>
                <a:lnTo>
                  <a:pt x="747" y="36"/>
                </a:lnTo>
                <a:lnTo>
                  <a:pt x="749" y="48"/>
                </a:lnTo>
                <a:lnTo>
                  <a:pt x="750" y="61"/>
                </a:lnTo>
                <a:lnTo>
                  <a:pt x="752" y="73"/>
                </a:lnTo>
                <a:lnTo>
                  <a:pt x="752" y="86"/>
                </a:lnTo>
                <a:lnTo>
                  <a:pt x="752" y="99"/>
                </a:lnTo>
                <a:lnTo>
                  <a:pt x="752" y="101"/>
                </a:lnTo>
                <a:lnTo>
                  <a:pt x="752" y="102"/>
                </a:lnTo>
                <a:lnTo>
                  <a:pt x="757" y="101"/>
                </a:lnTo>
                <a:lnTo>
                  <a:pt x="757" y="99"/>
                </a:lnTo>
                <a:close/>
                <a:moveTo>
                  <a:pt x="0" y="93"/>
                </a:moveTo>
                <a:lnTo>
                  <a:pt x="0" y="93"/>
                </a:lnTo>
                <a:lnTo>
                  <a:pt x="0" y="94"/>
                </a:lnTo>
                <a:lnTo>
                  <a:pt x="0" y="96"/>
                </a:lnTo>
                <a:lnTo>
                  <a:pt x="0" y="98"/>
                </a:lnTo>
                <a:lnTo>
                  <a:pt x="0" y="99"/>
                </a:lnTo>
                <a:lnTo>
                  <a:pt x="2" y="112"/>
                </a:lnTo>
                <a:lnTo>
                  <a:pt x="2" y="124"/>
                </a:lnTo>
                <a:lnTo>
                  <a:pt x="3" y="137"/>
                </a:lnTo>
                <a:lnTo>
                  <a:pt x="3" y="151"/>
                </a:lnTo>
                <a:lnTo>
                  <a:pt x="7" y="162"/>
                </a:lnTo>
                <a:lnTo>
                  <a:pt x="8" y="174"/>
                </a:lnTo>
                <a:lnTo>
                  <a:pt x="12" y="187"/>
                </a:lnTo>
                <a:lnTo>
                  <a:pt x="13" y="199"/>
                </a:lnTo>
                <a:lnTo>
                  <a:pt x="18" y="199"/>
                </a:lnTo>
                <a:lnTo>
                  <a:pt x="17" y="187"/>
                </a:lnTo>
                <a:lnTo>
                  <a:pt x="13" y="174"/>
                </a:lnTo>
                <a:lnTo>
                  <a:pt x="10" y="162"/>
                </a:lnTo>
                <a:lnTo>
                  <a:pt x="8" y="151"/>
                </a:lnTo>
                <a:lnTo>
                  <a:pt x="7" y="137"/>
                </a:lnTo>
                <a:lnTo>
                  <a:pt x="7" y="124"/>
                </a:lnTo>
                <a:lnTo>
                  <a:pt x="5" y="112"/>
                </a:lnTo>
                <a:lnTo>
                  <a:pt x="5" y="99"/>
                </a:lnTo>
                <a:lnTo>
                  <a:pt x="5" y="98"/>
                </a:lnTo>
                <a:lnTo>
                  <a:pt x="5" y="96"/>
                </a:lnTo>
                <a:lnTo>
                  <a:pt x="5" y="94"/>
                </a:lnTo>
                <a:lnTo>
                  <a:pt x="5" y="93"/>
                </a:lnTo>
                <a:lnTo>
                  <a:pt x="5" y="91"/>
                </a:lnTo>
                <a:lnTo>
                  <a:pt x="5" y="89"/>
                </a:lnTo>
                <a:lnTo>
                  <a:pt x="0" y="93"/>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61" name="Freeform 1066">
            <a:extLst>
              <a:ext uri="{FF2B5EF4-FFF2-40B4-BE49-F238E27FC236}">
                <a16:creationId xmlns:a16="http://schemas.microsoft.com/office/drawing/2014/main" id="{8B6B9DF0-B001-08CA-33B1-205C67A43FD6}"/>
              </a:ext>
            </a:extLst>
          </p:cNvPr>
          <p:cNvSpPr>
            <a:spLocks noEditPoints="1"/>
          </p:cNvSpPr>
          <p:nvPr/>
        </p:nvSpPr>
        <p:spPr bwMode="auto">
          <a:xfrm>
            <a:off x="2317750" y="2403475"/>
            <a:ext cx="1193800" cy="315913"/>
          </a:xfrm>
          <a:custGeom>
            <a:avLst/>
            <a:gdLst>
              <a:gd name="T0" fmla="*/ 752 w 752"/>
              <a:gd name="T1" fmla="*/ 99 h 199"/>
              <a:gd name="T2" fmla="*/ 752 w 752"/>
              <a:gd name="T3" fmla="*/ 86 h 199"/>
              <a:gd name="T4" fmla="*/ 751 w 752"/>
              <a:gd name="T5" fmla="*/ 73 h 199"/>
              <a:gd name="T6" fmla="*/ 751 w 752"/>
              <a:gd name="T7" fmla="*/ 61 h 199"/>
              <a:gd name="T8" fmla="*/ 749 w 752"/>
              <a:gd name="T9" fmla="*/ 48 h 199"/>
              <a:gd name="T10" fmla="*/ 747 w 752"/>
              <a:gd name="T11" fmla="*/ 36 h 199"/>
              <a:gd name="T12" fmla="*/ 744 w 752"/>
              <a:gd name="T13" fmla="*/ 23 h 199"/>
              <a:gd name="T14" fmla="*/ 742 w 752"/>
              <a:gd name="T15" fmla="*/ 11 h 199"/>
              <a:gd name="T16" fmla="*/ 739 w 752"/>
              <a:gd name="T17" fmla="*/ 0 h 199"/>
              <a:gd name="T18" fmla="*/ 734 w 752"/>
              <a:gd name="T19" fmla="*/ 0 h 199"/>
              <a:gd name="T20" fmla="*/ 737 w 752"/>
              <a:gd name="T21" fmla="*/ 11 h 199"/>
              <a:gd name="T22" fmla="*/ 739 w 752"/>
              <a:gd name="T23" fmla="*/ 23 h 199"/>
              <a:gd name="T24" fmla="*/ 742 w 752"/>
              <a:gd name="T25" fmla="*/ 36 h 199"/>
              <a:gd name="T26" fmla="*/ 744 w 752"/>
              <a:gd name="T27" fmla="*/ 48 h 199"/>
              <a:gd name="T28" fmla="*/ 746 w 752"/>
              <a:gd name="T29" fmla="*/ 61 h 199"/>
              <a:gd name="T30" fmla="*/ 746 w 752"/>
              <a:gd name="T31" fmla="*/ 73 h 199"/>
              <a:gd name="T32" fmla="*/ 747 w 752"/>
              <a:gd name="T33" fmla="*/ 86 h 199"/>
              <a:gd name="T34" fmla="*/ 747 w 752"/>
              <a:gd name="T35" fmla="*/ 99 h 199"/>
              <a:gd name="T36" fmla="*/ 747 w 752"/>
              <a:gd name="T37" fmla="*/ 101 h 199"/>
              <a:gd name="T38" fmla="*/ 747 w 752"/>
              <a:gd name="T39" fmla="*/ 102 h 199"/>
              <a:gd name="T40" fmla="*/ 747 w 752"/>
              <a:gd name="T41" fmla="*/ 104 h 199"/>
              <a:gd name="T42" fmla="*/ 752 w 752"/>
              <a:gd name="T43" fmla="*/ 102 h 199"/>
              <a:gd name="T44" fmla="*/ 752 w 752"/>
              <a:gd name="T45" fmla="*/ 101 h 199"/>
              <a:gd name="T46" fmla="*/ 752 w 752"/>
              <a:gd name="T47" fmla="*/ 99 h 199"/>
              <a:gd name="T48" fmla="*/ 0 w 752"/>
              <a:gd name="T49" fmla="*/ 91 h 199"/>
              <a:gd name="T50" fmla="*/ 0 w 752"/>
              <a:gd name="T51" fmla="*/ 93 h 199"/>
              <a:gd name="T52" fmla="*/ 0 w 752"/>
              <a:gd name="T53" fmla="*/ 94 h 199"/>
              <a:gd name="T54" fmla="*/ 0 w 752"/>
              <a:gd name="T55" fmla="*/ 96 h 199"/>
              <a:gd name="T56" fmla="*/ 0 w 752"/>
              <a:gd name="T57" fmla="*/ 98 h 199"/>
              <a:gd name="T58" fmla="*/ 0 w 752"/>
              <a:gd name="T59" fmla="*/ 99 h 199"/>
              <a:gd name="T60" fmla="*/ 0 w 752"/>
              <a:gd name="T61" fmla="*/ 112 h 199"/>
              <a:gd name="T62" fmla="*/ 0 w 752"/>
              <a:gd name="T63" fmla="*/ 124 h 199"/>
              <a:gd name="T64" fmla="*/ 2 w 752"/>
              <a:gd name="T65" fmla="*/ 137 h 199"/>
              <a:gd name="T66" fmla="*/ 4 w 752"/>
              <a:gd name="T67" fmla="*/ 151 h 199"/>
              <a:gd name="T68" fmla="*/ 5 w 752"/>
              <a:gd name="T69" fmla="*/ 162 h 199"/>
              <a:gd name="T70" fmla="*/ 7 w 752"/>
              <a:gd name="T71" fmla="*/ 174 h 199"/>
              <a:gd name="T72" fmla="*/ 10 w 752"/>
              <a:gd name="T73" fmla="*/ 187 h 199"/>
              <a:gd name="T74" fmla="*/ 14 w 752"/>
              <a:gd name="T75" fmla="*/ 199 h 199"/>
              <a:gd name="T76" fmla="*/ 19 w 752"/>
              <a:gd name="T77" fmla="*/ 199 h 199"/>
              <a:gd name="T78" fmla="*/ 15 w 752"/>
              <a:gd name="T79" fmla="*/ 187 h 199"/>
              <a:gd name="T80" fmla="*/ 12 w 752"/>
              <a:gd name="T81" fmla="*/ 174 h 199"/>
              <a:gd name="T82" fmla="*/ 10 w 752"/>
              <a:gd name="T83" fmla="*/ 162 h 199"/>
              <a:gd name="T84" fmla="*/ 9 w 752"/>
              <a:gd name="T85" fmla="*/ 151 h 199"/>
              <a:gd name="T86" fmla="*/ 7 w 752"/>
              <a:gd name="T87" fmla="*/ 137 h 199"/>
              <a:gd name="T88" fmla="*/ 5 w 752"/>
              <a:gd name="T89" fmla="*/ 124 h 199"/>
              <a:gd name="T90" fmla="*/ 5 w 752"/>
              <a:gd name="T91" fmla="*/ 112 h 199"/>
              <a:gd name="T92" fmla="*/ 5 w 752"/>
              <a:gd name="T93" fmla="*/ 99 h 199"/>
              <a:gd name="T94" fmla="*/ 5 w 752"/>
              <a:gd name="T95" fmla="*/ 98 h 199"/>
              <a:gd name="T96" fmla="*/ 5 w 752"/>
              <a:gd name="T97" fmla="*/ 96 h 199"/>
              <a:gd name="T98" fmla="*/ 5 w 752"/>
              <a:gd name="T99" fmla="*/ 94 h 199"/>
              <a:gd name="T100" fmla="*/ 5 w 752"/>
              <a:gd name="T101" fmla="*/ 93 h 199"/>
              <a:gd name="T102" fmla="*/ 5 w 752"/>
              <a:gd name="T103" fmla="*/ 91 h 199"/>
              <a:gd name="T104" fmla="*/ 5 w 752"/>
              <a:gd name="T105" fmla="*/ 89 h 199"/>
              <a:gd name="T106" fmla="*/ 0 w 752"/>
              <a:gd name="T107" fmla="*/ 9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752" h="199">
                <a:moveTo>
                  <a:pt x="752" y="99"/>
                </a:moveTo>
                <a:lnTo>
                  <a:pt x="752" y="86"/>
                </a:lnTo>
                <a:lnTo>
                  <a:pt x="751" y="73"/>
                </a:lnTo>
                <a:lnTo>
                  <a:pt x="751" y="61"/>
                </a:lnTo>
                <a:lnTo>
                  <a:pt x="749" y="48"/>
                </a:lnTo>
                <a:lnTo>
                  <a:pt x="747" y="36"/>
                </a:lnTo>
                <a:lnTo>
                  <a:pt x="744" y="23"/>
                </a:lnTo>
                <a:lnTo>
                  <a:pt x="742" y="11"/>
                </a:lnTo>
                <a:lnTo>
                  <a:pt x="739" y="0"/>
                </a:lnTo>
                <a:lnTo>
                  <a:pt x="734" y="0"/>
                </a:lnTo>
                <a:lnTo>
                  <a:pt x="737" y="11"/>
                </a:lnTo>
                <a:lnTo>
                  <a:pt x="739" y="23"/>
                </a:lnTo>
                <a:lnTo>
                  <a:pt x="742" y="36"/>
                </a:lnTo>
                <a:lnTo>
                  <a:pt x="744" y="48"/>
                </a:lnTo>
                <a:lnTo>
                  <a:pt x="746" y="61"/>
                </a:lnTo>
                <a:lnTo>
                  <a:pt x="746" y="73"/>
                </a:lnTo>
                <a:lnTo>
                  <a:pt x="747" y="86"/>
                </a:lnTo>
                <a:lnTo>
                  <a:pt x="747" y="99"/>
                </a:lnTo>
                <a:lnTo>
                  <a:pt x="747" y="101"/>
                </a:lnTo>
                <a:lnTo>
                  <a:pt x="747" y="102"/>
                </a:lnTo>
                <a:lnTo>
                  <a:pt x="747" y="104"/>
                </a:lnTo>
                <a:lnTo>
                  <a:pt x="752" y="102"/>
                </a:lnTo>
                <a:lnTo>
                  <a:pt x="752" y="101"/>
                </a:lnTo>
                <a:lnTo>
                  <a:pt x="752" y="99"/>
                </a:lnTo>
                <a:close/>
                <a:moveTo>
                  <a:pt x="0" y="91"/>
                </a:moveTo>
                <a:lnTo>
                  <a:pt x="0" y="93"/>
                </a:lnTo>
                <a:lnTo>
                  <a:pt x="0" y="94"/>
                </a:lnTo>
                <a:lnTo>
                  <a:pt x="0" y="96"/>
                </a:lnTo>
                <a:lnTo>
                  <a:pt x="0" y="98"/>
                </a:lnTo>
                <a:lnTo>
                  <a:pt x="0" y="99"/>
                </a:lnTo>
                <a:lnTo>
                  <a:pt x="0" y="112"/>
                </a:lnTo>
                <a:lnTo>
                  <a:pt x="0" y="124"/>
                </a:lnTo>
                <a:lnTo>
                  <a:pt x="2" y="137"/>
                </a:lnTo>
                <a:lnTo>
                  <a:pt x="4" y="151"/>
                </a:lnTo>
                <a:lnTo>
                  <a:pt x="5" y="162"/>
                </a:lnTo>
                <a:lnTo>
                  <a:pt x="7" y="174"/>
                </a:lnTo>
                <a:lnTo>
                  <a:pt x="10" y="187"/>
                </a:lnTo>
                <a:lnTo>
                  <a:pt x="14" y="199"/>
                </a:lnTo>
                <a:lnTo>
                  <a:pt x="19" y="199"/>
                </a:lnTo>
                <a:lnTo>
                  <a:pt x="15" y="187"/>
                </a:lnTo>
                <a:lnTo>
                  <a:pt x="12" y="174"/>
                </a:lnTo>
                <a:lnTo>
                  <a:pt x="10" y="162"/>
                </a:lnTo>
                <a:lnTo>
                  <a:pt x="9" y="151"/>
                </a:lnTo>
                <a:lnTo>
                  <a:pt x="7" y="137"/>
                </a:lnTo>
                <a:lnTo>
                  <a:pt x="5" y="124"/>
                </a:lnTo>
                <a:lnTo>
                  <a:pt x="5" y="112"/>
                </a:lnTo>
                <a:lnTo>
                  <a:pt x="5" y="99"/>
                </a:lnTo>
                <a:lnTo>
                  <a:pt x="5" y="98"/>
                </a:lnTo>
                <a:lnTo>
                  <a:pt x="5" y="96"/>
                </a:lnTo>
                <a:lnTo>
                  <a:pt x="5" y="94"/>
                </a:lnTo>
                <a:lnTo>
                  <a:pt x="5" y="93"/>
                </a:lnTo>
                <a:lnTo>
                  <a:pt x="5" y="91"/>
                </a:lnTo>
                <a:lnTo>
                  <a:pt x="5" y="89"/>
                </a:lnTo>
                <a:lnTo>
                  <a:pt x="0" y="91"/>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62" name="Freeform 1067">
            <a:extLst>
              <a:ext uri="{FF2B5EF4-FFF2-40B4-BE49-F238E27FC236}">
                <a16:creationId xmlns:a16="http://schemas.microsoft.com/office/drawing/2014/main" id="{D67D57FF-76E8-8349-30FC-29DABDBC9637}"/>
              </a:ext>
            </a:extLst>
          </p:cNvPr>
          <p:cNvSpPr>
            <a:spLocks noEditPoints="1"/>
          </p:cNvSpPr>
          <p:nvPr/>
        </p:nvSpPr>
        <p:spPr bwMode="auto">
          <a:xfrm>
            <a:off x="2320925" y="2403475"/>
            <a:ext cx="1185863" cy="315913"/>
          </a:xfrm>
          <a:custGeom>
            <a:avLst/>
            <a:gdLst>
              <a:gd name="T0" fmla="*/ 747 w 747"/>
              <a:gd name="T1" fmla="*/ 99 h 199"/>
              <a:gd name="T2" fmla="*/ 747 w 747"/>
              <a:gd name="T3" fmla="*/ 86 h 199"/>
              <a:gd name="T4" fmla="*/ 747 w 747"/>
              <a:gd name="T5" fmla="*/ 73 h 199"/>
              <a:gd name="T6" fmla="*/ 745 w 747"/>
              <a:gd name="T7" fmla="*/ 61 h 199"/>
              <a:gd name="T8" fmla="*/ 744 w 747"/>
              <a:gd name="T9" fmla="*/ 48 h 199"/>
              <a:gd name="T10" fmla="*/ 742 w 747"/>
              <a:gd name="T11" fmla="*/ 36 h 199"/>
              <a:gd name="T12" fmla="*/ 740 w 747"/>
              <a:gd name="T13" fmla="*/ 23 h 199"/>
              <a:gd name="T14" fmla="*/ 737 w 747"/>
              <a:gd name="T15" fmla="*/ 11 h 199"/>
              <a:gd name="T16" fmla="*/ 734 w 747"/>
              <a:gd name="T17" fmla="*/ 0 h 199"/>
              <a:gd name="T18" fmla="*/ 729 w 747"/>
              <a:gd name="T19" fmla="*/ 0 h 199"/>
              <a:gd name="T20" fmla="*/ 732 w 747"/>
              <a:gd name="T21" fmla="*/ 11 h 199"/>
              <a:gd name="T22" fmla="*/ 735 w 747"/>
              <a:gd name="T23" fmla="*/ 23 h 199"/>
              <a:gd name="T24" fmla="*/ 737 w 747"/>
              <a:gd name="T25" fmla="*/ 36 h 199"/>
              <a:gd name="T26" fmla="*/ 739 w 747"/>
              <a:gd name="T27" fmla="*/ 48 h 199"/>
              <a:gd name="T28" fmla="*/ 740 w 747"/>
              <a:gd name="T29" fmla="*/ 61 h 199"/>
              <a:gd name="T30" fmla="*/ 742 w 747"/>
              <a:gd name="T31" fmla="*/ 73 h 199"/>
              <a:gd name="T32" fmla="*/ 742 w 747"/>
              <a:gd name="T33" fmla="*/ 86 h 199"/>
              <a:gd name="T34" fmla="*/ 744 w 747"/>
              <a:gd name="T35" fmla="*/ 99 h 199"/>
              <a:gd name="T36" fmla="*/ 744 w 747"/>
              <a:gd name="T37" fmla="*/ 101 h 199"/>
              <a:gd name="T38" fmla="*/ 744 w 747"/>
              <a:gd name="T39" fmla="*/ 102 h 199"/>
              <a:gd name="T40" fmla="*/ 742 w 747"/>
              <a:gd name="T41" fmla="*/ 104 h 199"/>
              <a:gd name="T42" fmla="*/ 747 w 747"/>
              <a:gd name="T43" fmla="*/ 102 h 199"/>
              <a:gd name="T44" fmla="*/ 747 w 747"/>
              <a:gd name="T45" fmla="*/ 101 h 199"/>
              <a:gd name="T46" fmla="*/ 747 w 747"/>
              <a:gd name="T47" fmla="*/ 99 h 199"/>
              <a:gd name="T48" fmla="*/ 0 w 747"/>
              <a:gd name="T49" fmla="*/ 89 h 199"/>
              <a:gd name="T50" fmla="*/ 0 w 747"/>
              <a:gd name="T51" fmla="*/ 91 h 199"/>
              <a:gd name="T52" fmla="*/ 0 w 747"/>
              <a:gd name="T53" fmla="*/ 93 h 199"/>
              <a:gd name="T54" fmla="*/ 0 w 747"/>
              <a:gd name="T55" fmla="*/ 94 h 199"/>
              <a:gd name="T56" fmla="*/ 0 w 747"/>
              <a:gd name="T57" fmla="*/ 96 h 199"/>
              <a:gd name="T58" fmla="*/ 0 w 747"/>
              <a:gd name="T59" fmla="*/ 98 h 199"/>
              <a:gd name="T60" fmla="*/ 0 w 747"/>
              <a:gd name="T61" fmla="*/ 99 h 199"/>
              <a:gd name="T62" fmla="*/ 0 w 747"/>
              <a:gd name="T63" fmla="*/ 112 h 199"/>
              <a:gd name="T64" fmla="*/ 2 w 747"/>
              <a:gd name="T65" fmla="*/ 124 h 199"/>
              <a:gd name="T66" fmla="*/ 2 w 747"/>
              <a:gd name="T67" fmla="*/ 137 h 199"/>
              <a:gd name="T68" fmla="*/ 3 w 747"/>
              <a:gd name="T69" fmla="*/ 151 h 199"/>
              <a:gd name="T70" fmla="*/ 5 w 747"/>
              <a:gd name="T71" fmla="*/ 162 h 199"/>
              <a:gd name="T72" fmla="*/ 8 w 747"/>
              <a:gd name="T73" fmla="*/ 174 h 199"/>
              <a:gd name="T74" fmla="*/ 12 w 747"/>
              <a:gd name="T75" fmla="*/ 187 h 199"/>
              <a:gd name="T76" fmla="*/ 13 w 747"/>
              <a:gd name="T77" fmla="*/ 199 h 199"/>
              <a:gd name="T78" fmla="*/ 18 w 747"/>
              <a:gd name="T79" fmla="*/ 199 h 199"/>
              <a:gd name="T80" fmla="*/ 15 w 747"/>
              <a:gd name="T81" fmla="*/ 187 h 199"/>
              <a:gd name="T82" fmla="*/ 13 w 747"/>
              <a:gd name="T83" fmla="*/ 174 h 199"/>
              <a:gd name="T84" fmla="*/ 10 w 747"/>
              <a:gd name="T85" fmla="*/ 162 h 199"/>
              <a:gd name="T86" fmla="*/ 8 w 747"/>
              <a:gd name="T87" fmla="*/ 151 h 199"/>
              <a:gd name="T88" fmla="*/ 7 w 747"/>
              <a:gd name="T89" fmla="*/ 137 h 199"/>
              <a:gd name="T90" fmla="*/ 7 w 747"/>
              <a:gd name="T91" fmla="*/ 124 h 199"/>
              <a:gd name="T92" fmla="*/ 5 w 747"/>
              <a:gd name="T93" fmla="*/ 112 h 199"/>
              <a:gd name="T94" fmla="*/ 5 w 747"/>
              <a:gd name="T95" fmla="*/ 99 h 199"/>
              <a:gd name="T96" fmla="*/ 5 w 747"/>
              <a:gd name="T97" fmla="*/ 98 h 199"/>
              <a:gd name="T98" fmla="*/ 5 w 747"/>
              <a:gd name="T99" fmla="*/ 96 h 199"/>
              <a:gd name="T100" fmla="*/ 5 w 747"/>
              <a:gd name="T101" fmla="*/ 94 h 199"/>
              <a:gd name="T102" fmla="*/ 5 w 747"/>
              <a:gd name="T103" fmla="*/ 93 h 199"/>
              <a:gd name="T104" fmla="*/ 5 w 747"/>
              <a:gd name="T105" fmla="*/ 91 h 199"/>
              <a:gd name="T106" fmla="*/ 5 w 747"/>
              <a:gd name="T107" fmla="*/ 89 h 199"/>
              <a:gd name="T108" fmla="*/ 5 w 747"/>
              <a:gd name="T109" fmla="*/ 88 h 199"/>
              <a:gd name="T110" fmla="*/ 0 w 747"/>
              <a:gd name="T111" fmla="*/ 8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747" h="199">
                <a:moveTo>
                  <a:pt x="747" y="99"/>
                </a:moveTo>
                <a:lnTo>
                  <a:pt x="747" y="86"/>
                </a:lnTo>
                <a:lnTo>
                  <a:pt x="747" y="73"/>
                </a:lnTo>
                <a:lnTo>
                  <a:pt x="745" y="61"/>
                </a:lnTo>
                <a:lnTo>
                  <a:pt x="744" y="48"/>
                </a:lnTo>
                <a:lnTo>
                  <a:pt x="742" y="36"/>
                </a:lnTo>
                <a:lnTo>
                  <a:pt x="740" y="23"/>
                </a:lnTo>
                <a:lnTo>
                  <a:pt x="737" y="11"/>
                </a:lnTo>
                <a:lnTo>
                  <a:pt x="734" y="0"/>
                </a:lnTo>
                <a:lnTo>
                  <a:pt x="729" y="0"/>
                </a:lnTo>
                <a:lnTo>
                  <a:pt x="732" y="11"/>
                </a:lnTo>
                <a:lnTo>
                  <a:pt x="735" y="23"/>
                </a:lnTo>
                <a:lnTo>
                  <a:pt x="737" y="36"/>
                </a:lnTo>
                <a:lnTo>
                  <a:pt x="739" y="48"/>
                </a:lnTo>
                <a:lnTo>
                  <a:pt x="740" y="61"/>
                </a:lnTo>
                <a:lnTo>
                  <a:pt x="742" y="73"/>
                </a:lnTo>
                <a:lnTo>
                  <a:pt x="742" y="86"/>
                </a:lnTo>
                <a:lnTo>
                  <a:pt x="744" y="99"/>
                </a:lnTo>
                <a:lnTo>
                  <a:pt x="744" y="101"/>
                </a:lnTo>
                <a:lnTo>
                  <a:pt x="744" y="102"/>
                </a:lnTo>
                <a:lnTo>
                  <a:pt x="742" y="104"/>
                </a:lnTo>
                <a:lnTo>
                  <a:pt x="747" y="102"/>
                </a:lnTo>
                <a:lnTo>
                  <a:pt x="747" y="101"/>
                </a:lnTo>
                <a:lnTo>
                  <a:pt x="747" y="99"/>
                </a:lnTo>
                <a:close/>
                <a:moveTo>
                  <a:pt x="0" y="89"/>
                </a:moveTo>
                <a:lnTo>
                  <a:pt x="0" y="91"/>
                </a:lnTo>
                <a:lnTo>
                  <a:pt x="0" y="93"/>
                </a:lnTo>
                <a:lnTo>
                  <a:pt x="0" y="94"/>
                </a:lnTo>
                <a:lnTo>
                  <a:pt x="0" y="96"/>
                </a:lnTo>
                <a:lnTo>
                  <a:pt x="0" y="98"/>
                </a:lnTo>
                <a:lnTo>
                  <a:pt x="0" y="99"/>
                </a:lnTo>
                <a:lnTo>
                  <a:pt x="0" y="112"/>
                </a:lnTo>
                <a:lnTo>
                  <a:pt x="2" y="124"/>
                </a:lnTo>
                <a:lnTo>
                  <a:pt x="2" y="137"/>
                </a:lnTo>
                <a:lnTo>
                  <a:pt x="3" y="151"/>
                </a:lnTo>
                <a:lnTo>
                  <a:pt x="5" y="162"/>
                </a:lnTo>
                <a:lnTo>
                  <a:pt x="8" y="174"/>
                </a:lnTo>
                <a:lnTo>
                  <a:pt x="12" y="187"/>
                </a:lnTo>
                <a:lnTo>
                  <a:pt x="13" y="199"/>
                </a:lnTo>
                <a:lnTo>
                  <a:pt x="18" y="199"/>
                </a:lnTo>
                <a:lnTo>
                  <a:pt x="15" y="187"/>
                </a:lnTo>
                <a:lnTo>
                  <a:pt x="13" y="174"/>
                </a:lnTo>
                <a:lnTo>
                  <a:pt x="10" y="162"/>
                </a:lnTo>
                <a:lnTo>
                  <a:pt x="8" y="151"/>
                </a:lnTo>
                <a:lnTo>
                  <a:pt x="7" y="137"/>
                </a:lnTo>
                <a:lnTo>
                  <a:pt x="7" y="124"/>
                </a:lnTo>
                <a:lnTo>
                  <a:pt x="5" y="112"/>
                </a:lnTo>
                <a:lnTo>
                  <a:pt x="5" y="99"/>
                </a:lnTo>
                <a:lnTo>
                  <a:pt x="5" y="98"/>
                </a:lnTo>
                <a:lnTo>
                  <a:pt x="5" y="96"/>
                </a:lnTo>
                <a:lnTo>
                  <a:pt x="5" y="94"/>
                </a:lnTo>
                <a:lnTo>
                  <a:pt x="5" y="93"/>
                </a:lnTo>
                <a:lnTo>
                  <a:pt x="5" y="91"/>
                </a:lnTo>
                <a:lnTo>
                  <a:pt x="5" y="89"/>
                </a:lnTo>
                <a:lnTo>
                  <a:pt x="5" y="88"/>
                </a:lnTo>
                <a:lnTo>
                  <a:pt x="0" y="89"/>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63" name="Freeform 1068">
            <a:extLst>
              <a:ext uri="{FF2B5EF4-FFF2-40B4-BE49-F238E27FC236}">
                <a16:creationId xmlns:a16="http://schemas.microsoft.com/office/drawing/2014/main" id="{ED93E784-AEFC-4DEE-3991-2FF4F2603BB9}"/>
              </a:ext>
            </a:extLst>
          </p:cNvPr>
          <p:cNvSpPr>
            <a:spLocks noEditPoints="1"/>
          </p:cNvSpPr>
          <p:nvPr/>
        </p:nvSpPr>
        <p:spPr bwMode="auto">
          <a:xfrm>
            <a:off x="2325688" y="2403475"/>
            <a:ext cx="1177925" cy="315913"/>
          </a:xfrm>
          <a:custGeom>
            <a:avLst/>
            <a:gdLst>
              <a:gd name="T0" fmla="*/ 742 w 742"/>
              <a:gd name="T1" fmla="*/ 99 h 199"/>
              <a:gd name="T2" fmla="*/ 742 w 742"/>
              <a:gd name="T3" fmla="*/ 86 h 199"/>
              <a:gd name="T4" fmla="*/ 741 w 742"/>
              <a:gd name="T5" fmla="*/ 73 h 199"/>
              <a:gd name="T6" fmla="*/ 741 w 742"/>
              <a:gd name="T7" fmla="*/ 61 h 199"/>
              <a:gd name="T8" fmla="*/ 739 w 742"/>
              <a:gd name="T9" fmla="*/ 48 h 199"/>
              <a:gd name="T10" fmla="*/ 737 w 742"/>
              <a:gd name="T11" fmla="*/ 36 h 199"/>
              <a:gd name="T12" fmla="*/ 734 w 742"/>
              <a:gd name="T13" fmla="*/ 23 h 199"/>
              <a:gd name="T14" fmla="*/ 732 w 742"/>
              <a:gd name="T15" fmla="*/ 11 h 199"/>
              <a:gd name="T16" fmla="*/ 729 w 742"/>
              <a:gd name="T17" fmla="*/ 0 h 199"/>
              <a:gd name="T18" fmla="*/ 724 w 742"/>
              <a:gd name="T19" fmla="*/ 0 h 199"/>
              <a:gd name="T20" fmla="*/ 727 w 742"/>
              <a:gd name="T21" fmla="*/ 11 h 199"/>
              <a:gd name="T22" fmla="*/ 729 w 742"/>
              <a:gd name="T23" fmla="*/ 23 h 199"/>
              <a:gd name="T24" fmla="*/ 732 w 742"/>
              <a:gd name="T25" fmla="*/ 36 h 199"/>
              <a:gd name="T26" fmla="*/ 734 w 742"/>
              <a:gd name="T27" fmla="*/ 48 h 199"/>
              <a:gd name="T28" fmla="*/ 736 w 742"/>
              <a:gd name="T29" fmla="*/ 61 h 199"/>
              <a:gd name="T30" fmla="*/ 737 w 742"/>
              <a:gd name="T31" fmla="*/ 73 h 199"/>
              <a:gd name="T32" fmla="*/ 737 w 742"/>
              <a:gd name="T33" fmla="*/ 86 h 199"/>
              <a:gd name="T34" fmla="*/ 737 w 742"/>
              <a:gd name="T35" fmla="*/ 99 h 199"/>
              <a:gd name="T36" fmla="*/ 737 w 742"/>
              <a:gd name="T37" fmla="*/ 101 h 199"/>
              <a:gd name="T38" fmla="*/ 737 w 742"/>
              <a:gd name="T39" fmla="*/ 102 h 199"/>
              <a:gd name="T40" fmla="*/ 737 w 742"/>
              <a:gd name="T41" fmla="*/ 104 h 199"/>
              <a:gd name="T42" fmla="*/ 737 w 742"/>
              <a:gd name="T43" fmla="*/ 106 h 199"/>
              <a:gd name="T44" fmla="*/ 742 w 742"/>
              <a:gd name="T45" fmla="*/ 104 h 199"/>
              <a:gd name="T46" fmla="*/ 742 w 742"/>
              <a:gd name="T47" fmla="*/ 102 h 199"/>
              <a:gd name="T48" fmla="*/ 742 w 742"/>
              <a:gd name="T49" fmla="*/ 101 h 199"/>
              <a:gd name="T50" fmla="*/ 742 w 742"/>
              <a:gd name="T51" fmla="*/ 99 h 199"/>
              <a:gd name="T52" fmla="*/ 0 w 742"/>
              <a:gd name="T53" fmla="*/ 89 h 199"/>
              <a:gd name="T54" fmla="*/ 0 w 742"/>
              <a:gd name="T55" fmla="*/ 89 h 199"/>
              <a:gd name="T56" fmla="*/ 0 w 742"/>
              <a:gd name="T57" fmla="*/ 91 h 199"/>
              <a:gd name="T58" fmla="*/ 0 w 742"/>
              <a:gd name="T59" fmla="*/ 93 h 199"/>
              <a:gd name="T60" fmla="*/ 0 w 742"/>
              <a:gd name="T61" fmla="*/ 94 h 199"/>
              <a:gd name="T62" fmla="*/ 0 w 742"/>
              <a:gd name="T63" fmla="*/ 96 h 199"/>
              <a:gd name="T64" fmla="*/ 0 w 742"/>
              <a:gd name="T65" fmla="*/ 98 h 199"/>
              <a:gd name="T66" fmla="*/ 0 w 742"/>
              <a:gd name="T67" fmla="*/ 99 h 199"/>
              <a:gd name="T68" fmla="*/ 0 w 742"/>
              <a:gd name="T69" fmla="*/ 112 h 199"/>
              <a:gd name="T70" fmla="*/ 0 w 742"/>
              <a:gd name="T71" fmla="*/ 124 h 199"/>
              <a:gd name="T72" fmla="*/ 2 w 742"/>
              <a:gd name="T73" fmla="*/ 137 h 199"/>
              <a:gd name="T74" fmla="*/ 4 w 742"/>
              <a:gd name="T75" fmla="*/ 151 h 199"/>
              <a:gd name="T76" fmla="*/ 5 w 742"/>
              <a:gd name="T77" fmla="*/ 162 h 199"/>
              <a:gd name="T78" fmla="*/ 7 w 742"/>
              <a:gd name="T79" fmla="*/ 174 h 199"/>
              <a:gd name="T80" fmla="*/ 10 w 742"/>
              <a:gd name="T81" fmla="*/ 187 h 199"/>
              <a:gd name="T82" fmla="*/ 14 w 742"/>
              <a:gd name="T83" fmla="*/ 199 h 199"/>
              <a:gd name="T84" fmla="*/ 19 w 742"/>
              <a:gd name="T85" fmla="*/ 199 h 199"/>
              <a:gd name="T86" fmla="*/ 15 w 742"/>
              <a:gd name="T87" fmla="*/ 187 h 199"/>
              <a:gd name="T88" fmla="*/ 12 w 742"/>
              <a:gd name="T89" fmla="*/ 174 h 199"/>
              <a:gd name="T90" fmla="*/ 10 w 742"/>
              <a:gd name="T91" fmla="*/ 162 h 199"/>
              <a:gd name="T92" fmla="*/ 9 w 742"/>
              <a:gd name="T93" fmla="*/ 151 h 199"/>
              <a:gd name="T94" fmla="*/ 7 w 742"/>
              <a:gd name="T95" fmla="*/ 137 h 199"/>
              <a:gd name="T96" fmla="*/ 5 w 742"/>
              <a:gd name="T97" fmla="*/ 124 h 199"/>
              <a:gd name="T98" fmla="*/ 5 w 742"/>
              <a:gd name="T99" fmla="*/ 112 h 199"/>
              <a:gd name="T100" fmla="*/ 5 w 742"/>
              <a:gd name="T101" fmla="*/ 99 h 199"/>
              <a:gd name="T102" fmla="*/ 5 w 742"/>
              <a:gd name="T103" fmla="*/ 98 h 199"/>
              <a:gd name="T104" fmla="*/ 5 w 742"/>
              <a:gd name="T105" fmla="*/ 96 h 199"/>
              <a:gd name="T106" fmla="*/ 5 w 742"/>
              <a:gd name="T107" fmla="*/ 94 h 199"/>
              <a:gd name="T108" fmla="*/ 5 w 742"/>
              <a:gd name="T109" fmla="*/ 93 h 199"/>
              <a:gd name="T110" fmla="*/ 5 w 742"/>
              <a:gd name="T111" fmla="*/ 91 h 199"/>
              <a:gd name="T112" fmla="*/ 5 w 742"/>
              <a:gd name="T113" fmla="*/ 89 h 199"/>
              <a:gd name="T114" fmla="*/ 5 w 742"/>
              <a:gd name="T115" fmla="*/ 88 h 199"/>
              <a:gd name="T116" fmla="*/ 5 w 742"/>
              <a:gd name="T117" fmla="*/ 86 h 199"/>
              <a:gd name="T118" fmla="*/ 0 w 742"/>
              <a:gd name="T119" fmla="*/ 8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42" h="199">
                <a:moveTo>
                  <a:pt x="742" y="99"/>
                </a:moveTo>
                <a:lnTo>
                  <a:pt x="742" y="86"/>
                </a:lnTo>
                <a:lnTo>
                  <a:pt x="741" y="73"/>
                </a:lnTo>
                <a:lnTo>
                  <a:pt x="741" y="61"/>
                </a:lnTo>
                <a:lnTo>
                  <a:pt x="739" y="48"/>
                </a:lnTo>
                <a:lnTo>
                  <a:pt x="737" y="36"/>
                </a:lnTo>
                <a:lnTo>
                  <a:pt x="734" y="23"/>
                </a:lnTo>
                <a:lnTo>
                  <a:pt x="732" y="11"/>
                </a:lnTo>
                <a:lnTo>
                  <a:pt x="729" y="0"/>
                </a:lnTo>
                <a:lnTo>
                  <a:pt x="724" y="0"/>
                </a:lnTo>
                <a:lnTo>
                  <a:pt x="727" y="11"/>
                </a:lnTo>
                <a:lnTo>
                  <a:pt x="729" y="23"/>
                </a:lnTo>
                <a:lnTo>
                  <a:pt x="732" y="36"/>
                </a:lnTo>
                <a:lnTo>
                  <a:pt x="734" y="48"/>
                </a:lnTo>
                <a:lnTo>
                  <a:pt x="736" y="61"/>
                </a:lnTo>
                <a:lnTo>
                  <a:pt x="737" y="73"/>
                </a:lnTo>
                <a:lnTo>
                  <a:pt x="737" y="86"/>
                </a:lnTo>
                <a:lnTo>
                  <a:pt x="737" y="99"/>
                </a:lnTo>
                <a:lnTo>
                  <a:pt x="737" y="101"/>
                </a:lnTo>
                <a:lnTo>
                  <a:pt x="737" y="102"/>
                </a:lnTo>
                <a:lnTo>
                  <a:pt x="737" y="104"/>
                </a:lnTo>
                <a:lnTo>
                  <a:pt x="737" y="106"/>
                </a:lnTo>
                <a:lnTo>
                  <a:pt x="742" y="104"/>
                </a:lnTo>
                <a:lnTo>
                  <a:pt x="742" y="102"/>
                </a:lnTo>
                <a:lnTo>
                  <a:pt x="742" y="101"/>
                </a:lnTo>
                <a:lnTo>
                  <a:pt x="742" y="99"/>
                </a:lnTo>
                <a:close/>
                <a:moveTo>
                  <a:pt x="0" y="89"/>
                </a:moveTo>
                <a:lnTo>
                  <a:pt x="0" y="89"/>
                </a:lnTo>
                <a:lnTo>
                  <a:pt x="0" y="91"/>
                </a:lnTo>
                <a:lnTo>
                  <a:pt x="0" y="93"/>
                </a:lnTo>
                <a:lnTo>
                  <a:pt x="0" y="94"/>
                </a:lnTo>
                <a:lnTo>
                  <a:pt x="0" y="96"/>
                </a:lnTo>
                <a:lnTo>
                  <a:pt x="0" y="98"/>
                </a:lnTo>
                <a:lnTo>
                  <a:pt x="0" y="99"/>
                </a:lnTo>
                <a:lnTo>
                  <a:pt x="0" y="112"/>
                </a:lnTo>
                <a:lnTo>
                  <a:pt x="0" y="124"/>
                </a:lnTo>
                <a:lnTo>
                  <a:pt x="2" y="137"/>
                </a:lnTo>
                <a:lnTo>
                  <a:pt x="4" y="151"/>
                </a:lnTo>
                <a:lnTo>
                  <a:pt x="5" y="162"/>
                </a:lnTo>
                <a:lnTo>
                  <a:pt x="7" y="174"/>
                </a:lnTo>
                <a:lnTo>
                  <a:pt x="10" y="187"/>
                </a:lnTo>
                <a:lnTo>
                  <a:pt x="14" y="199"/>
                </a:lnTo>
                <a:lnTo>
                  <a:pt x="19" y="199"/>
                </a:lnTo>
                <a:lnTo>
                  <a:pt x="15" y="187"/>
                </a:lnTo>
                <a:lnTo>
                  <a:pt x="12" y="174"/>
                </a:lnTo>
                <a:lnTo>
                  <a:pt x="10" y="162"/>
                </a:lnTo>
                <a:lnTo>
                  <a:pt x="9" y="151"/>
                </a:lnTo>
                <a:lnTo>
                  <a:pt x="7" y="137"/>
                </a:lnTo>
                <a:lnTo>
                  <a:pt x="5" y="124"/>
                </a:lnTo>
                <a:lnTo>
                  <a:pt x="5" y="112"/>
                </a:lnTo>
                <a:lnTo>
                  <a:pt x="5" y="99"/>
                </a:lnTo>
                <a:lnTo>
                  <a:pt x="5" y="98"/>
                </a:lnTo>
                <a:lnTo>
                  <a:pt x="5" y="96"/>
                </a:lnTo>
                <a:lnTo>
                  <a:pt x="5" y="94"/>
                </a:lnTo>
                <a:lnTo>
                  <a:pt x="5" y="93"/>
                </a:lnTo>
                <a:lnTo>
                  <a:pt x="5" y="91"/>
                </a:lnTo>
                <a:lnTo>
                  <a:pt x="5" y="89"/>
                </a:lnTo>
                <a:lnTo>
                  <a:pt x="5" y="88"/>
                </a:lnTo>
                <a:lnTo>
                  <a:pt x="5" y="86"/>
                </a:lnTo>
                <a:lnTo>
                  <a:pt x="0" y="89"/>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64" name="Freeform 1069">
            <a:extLst>
              <a:ext uri="{FF2B5EF4-FFF2-40B4-BE49-F238E27FC236}">
                <a16:creationId xmlns:a16="http://schemas.microsoft.com/office/drawing/2014/main" id="{1D6F87EC-1002-9132-1459-1B3689999ECD}"/>
              </a:ext>
            </a:extLst>
          </p:cNvPr>
          <p:cNvSpPr>
            <a:spLocks noEditPoints="1"/>
          </p:cNvSpPr>
          <p:nvPr/>
        </p:nvSpPr>
        <p:spPr bwMode="auto">
          <a:xfrm>
            <a:off x="2328863" y="2403475"/>
            <a:ext cx="1173163" cy="315913"/>
          </a:xfrm>
          <a:custGeom>
            <a:avLst/>
            <a:gdLst>
              <a:gd name="T0" fmla="*/ 739 w 739"/>
              <a:gd name="T1" fmla="*/ 99 h 199"/>
              <a:gd name="T2" fmla="*/ 737 w 739"/>
              <a:gd name="T3" fmla="*/ 86 h 199"/>
              <a:gd name="T4" fmla="*/ 737 w 739"/>
              <a:gd name="T5" fmla="*/ 73 h 199"/>
              <a:gd name="T6" fmla="*/ 735 w 739"/>
              <a:gd name="T7" fmla="*/ 61 h 199"/>
              <a:gd name="T8" fmla="*/ 734 w 739"/>
              <a:gd name="T9" fmla="*/ 48 h 199"/>
              <a:gd name="T10" fmla="*/ 732 w 739"/>
              <a:gd name="T11" fmla="*/ 36 h 199"/>
              <a:gd name="T12" fmla="*/ 730 w 739"/>
              <a:gd name="T13" fmla="*/ 23 h 199"/>
              <a:gd name="T14" fmla="*/ 727 w 739"/>
              <a:gd name="T15" fmla="*/ 11 h 199"/>
              <a:gd name="T16" fmla="*/ 724 w 739"/>
              <a:gd name="T17" fmla="*/ 0 h 199"/>
              <a:gd name="T18" fmla="*/ 719 w 739"/>
              <a:gd name="T19" fmla="*/ 0 h 199"/>
              <a:gd name="T20" fmla="*/ 722 w 739"/>
              <a:gd name="T21" fmla="*/ 11 h 199"/>
              <a:gd name="T22" fmla="*/ 725 w 739"/>
              <a:gd name="T23" fmla="*/ 23 h 199"/>
              <a:gd name="T24" fmla="*/ 727 w 739"/>
              <a:gd name="T25" fmla="*/ 36 h 199"/>
              <a:gd name="T26" fmla="*/ 730 w 739"/>
              <a:gd name="T27" fmla="*/ 48 h 199"/>
              <a:gd name="T28" fmla="*/ 730 w 739"/>
              <a:gd name="T29" fmla="*/ 61 h 199"/>
              <a:gd name="T30" fmla="*/ 732 w 739"/>
              <a:gd name="T31" fmla="*/ 73 h 199"/>
              <a:gd name="T32" fmla="*/ 732 w 739"/>
              <a:gd name="T33" fmla="*/ 86 h 199"/>
              <a:gd name="T34" fmla="*/ 734 w 739"/>
              <a:gd name="T35" fmla="*/ 99 h 199"/>
              <a:gd name="T36" fmla="*/ 734 w 739"/>
              <a:gd name="T37" fmla="*/ 101 h 199"/>
              <a:gd name="T38" fmla="*/ 734 w 739"/>
              <a:gd name="T39" fmla="*/ 102 h 199"/>
              <a:gd name="T40" fmla="*/ 734 w 739"/>
              <a:gd name="T41" fmla="*/ 104 h 199"/>
              <a:gd name="T42" fmla="*/ 734 w 739"/>
              <a:gd name="T43" fmla="*/ 106 h 199"/>
              <a:gd name="T44" fmla="*/ 734 w 739"/>
              <a:gd name="T45" fmla="*/ 107 h 199"/>
              <a:gd name="T46" fmla="*/ 737 w 739"/>
              <a:gd name="T47" fmla="*/ 104 h 199"/>
              <a:gd name="T48" fmla="*/ 737 w 739"/>
              <a:gd name="T49" fmla="*/ 102 h 199"/>
              <a:gd name="T50" fmla="*/ 739 w 739"/>
              <a:gd name="T51" fmla="*/ 102 h 199"/>
              <a:gd name="T52" fmla="*/ 739 w 739"/>
              <a:gd name="T53" fmla="*/ 101 h 199"/>
              <a:gd name="T54" fmla="*/ 739 w 739"/>
              <a:gd name="T55" fmla="*/ 99 h 199"/>
              <a:gd name="T56" fmla="*/ 0 w 739"/>
              <a:gd name="T57" fmla="*/ 88 h 199"/>
              <a:gd name="T58" fmla="*/ 0 w 739"/>
              <a:gd name="T59" fmla="*/ 89 h 199"/>
              <a:gd name="T60" fmla="*/ 0 w 739"/>
              <a:gd name="T61" fmla="*/ 91 h 199"/>
              <a:gd name="T62" fmla="*/ 0 w 739"/>
              <a:gd name="T63" fmla="*/ 93 h 199"/>
              <a:gd name="T64" fmla="*/ 0 w 739"/>
              <a:gd name="T65" fmla="*/ 94 h 199"/>
              <a:gd name="T66" fmla="*/ 0 w 739"/>
              <a:gd name="T67" fmla="*/ 96 h 199"/>
              <a:gd name="T68" fmla="*/ 0 w 739"/>
              <a:gd name="T69" fmla="*/ 98 h 199"/>
              <a:gd name="T70" fmla="*/ 0 w 739"/>
              <a:gd name="T71" fmla="*/ 99 h 199"/>
              <a:gd name="T72" fmla="*/ 0 w 739"/>
              <a:gd name="T73" fmla="*/ 112 h 199"/>
              <a:gd name="T74" fmla="*/ 2 w 739"/>
              <a:gd name="T75" fmla="*/ 124 h 199"/>
              <a:gd name="T76" fmla="*/ 2 w 739"/>
              <a:gd name="T77" fmla="*/ 137 h 199"/>
              <a:gd name="T78" fmla="*/ 3 w 739"/>
              <a:gd name="T79" fmla="*/ 151 h 199"/>
              <a:gd name="T80" fmla="*/ 5 w 739"/>
              <a:gd name="T81" fmla="*/ 162 h 199"/>
              <a:gd name="T82" fmla="*/ 8 w 739"/>
              <a:gd name="T83" fmla="*/ 174 h 199"/>
              <a:gd name="T84" fmla="*/ 10 w 739"/>
              <a:gd name="T85" fmla="*/ 187 h 199"/>
              <a:gd name="T86" fmla="*/ 13 w 739"/>
              <a:gd name="T87" fmla="*/ 199 h 199"/>
              <a:gd name="T88" fmla="*/ 18 w 739"/>
              <a:gd name="T89" fmla="*/ 199 h 199"/>
              <a:gd name="T90" fmla="*/ 15 w 739"/>
              <a:gd name="T91" fmla="*/ 187 h 199"/>
              <a:gd name="T92" fmla="*/ 13 w 739"/>
              <a:gd name="T93" fmla="*/ 174 h 199"/>
              <a:gd name="T94" fmla="*/ 10 w 739"/>
              <a:gd name="T95" fmla="*/ 162 h 199"/>
              <a:gd name="T96" fmla="*/ 8 w 739"/>
              <a:gd name="T97" fmla="*/ 151 h 199"/>
              <a:gd name="T98" fmla="*/ 7 w 739"/>
              <a:gd name="T99" fmla="*/ 137 h 199"/>
              <a:gd name="T100" fmla="*/ 7 w 739"/>
              <a:gd name="T101" fmla="*/ 124 h 199"/>
              <a:gd name="T102" fmla="*/ 5 w 739"/>
              <a:gd name="T103" fmla="*/ 112 h 199"/>
              <a:gd name="T104" fmla="*/ 5 w 739"/>
              <a:gd name="T105" fmla="*/ 99 h 199"/>
              <a:gd name="T106" fmla="*/ 5 w 739"/>
              <a:gd name="T107" fmla="*/ 98 h 199"/>
              <a:gd name="T108" fmla="*/ 5 w 739"/>
              <a:gd name="T109" fmla="*/ 96 h 199"/>
              <a:gd name="T110" fmla="*/ 5 w 739"/>
              <a:gd name="T111" fmla="*/ 94 h 199"/>
              <a:gd name="T112" fmla="*/ 5 w 739"/>
              <a:gd name="T113" fmla="*/ 93 h 199"/>
              <a:gd name="T114" fmla="*/ 5 w 739"/>
              <a:gd name="T115" fmla="*/ 91 h 199"/>
              <a:gd name="T116" fmla="*/ 5 w 739"/>
              <a:gd name="T117" fmla="*/ 89 h 199"/>
              <a:gd name="T118" fmla="*/ 5 w 739"/>
              <a:gd name="T119" fmla="*/ 88 h 199"/>
              <a:gd name="T120" fmla="*/ 5 w 739"/>
              <a:gd name="T121" fmla="*/ 84 h 199"/>
              <a:gd name="T122" fmla="*/ 0 w 739"/>
              <a:gd name="T123" fmla="*/ 8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39" h="199">
                <a:moveTo>
                  <a:pt x="739" y="99"/>
                </a:moveTo>
                <a:lnTo>
                  <a:pt x="737" y="86"/>
                </a:lnTo>
                <a:lnTo>
                  <a:pt x="737" y="73"/>
                </a:lnTo>
                <a:lnTo>
                  <a:pt x="735" y="61"/>
                </a:lnTo>
                <a:lnTo>
                  <a:pt x="734" y="48"/>
                </a:lnTo>
                <a:lnTo>
                  <a:pt x="732" y="36"/>
                </a:lnTo>
                <a:lnTo>
                  <a:pt x="730" y="23"/>
                </a:lnTo>
                <a:lnTo>
                  <a:pt x="727" y="11"/>
                </a:lnTo>
                <a:lnTo>
                  <a:pt x="724" y="0"/>
                </a:lnTo>
                <a:lnTo>
                  <a:pt x="719" y="0"/>
                </a:lnTo>
                <a:lnTo>
                  <a:pt x="722" y="11"/>
                </a:lnTo>
                <a:lnTo>
                  <a:pt x="725" y="23"/>
                </a:lnTo>
                <a:lnTo>
                  <a:pt x="727" y="36"/>
                </a:lnTo>
                <a:lnTo>
                  <a:pt x="730" y="48"/>
                </a:lnTo>
                <a:lnTo>
                  <a:pt x="730" y="61"/>
                </a:lnTo>
                <a:lnTo>
                  <a:pt x="732" y="73"/>
                </a:lnTo>
                <a:lnTo>
                  <a:pt x="732" y="86"/>
                </a:lnTo>
                <a:lnTo>
                  <a:pt x="734" y="99"/>
                </a:lnTo>
                <a:lnTo>
                  <a:pt x="734" y="101"/>
                </a:lnTo>
                <a:lnTo>
                  <a:pt x="734" y="102"/>
                </a:lnTo>
                <a:lnTo>
                  <a:pt x="734" y="104"/>
                </a:lnTo>
                <a:lnTo>
                  <a:pt x="734" y="106"/>
                </a:lnTo>
                <a:lnTo>
                  <a:pt x="734" y="107"/>
                </a:lnTo>
                <a:lnTo>
                  <a:pt x="737" y="104"/>
                </a:lnTo>
                <a:lnTo>
                  <a:pt x="737" y="102"/>
                </a:lnTo>
                <a:lnTo>
                  <a:pt x="739" y="102"/>
                </a:lnTo>
                <a:lnTo>
                  <a:pt x="739" y="101"/>
                </a:lnTo>
                <a:lnTo>
                  <a:pt x="739" y="99"/>
                </a:lnTo>
                <a:close/>
                <a:moveTo>
                  <a:pt x="0" y="88"/>
                </a:moveTo>
                <a:lnTo>
                  <a:pt x="0" y="89"/>
                </a:lnTo>
                <a:lnTo>
                  <a:pt x="0" y="91"/>
                </a:lnTo>
                <a:lnTo>
                  <a:pt x="0" y="93"/>
                </a:lnTo>
                <a:lnTo>
                  <a:pt x="0" y="94"/>
                </a:lnTo>
                <a:lnTo>
                  <a:pt x="0" y="96"/>
                </a:lnTo>
                <a:lnTo>
                  <a:pt x="0" y="98"/>
                </a:lnTo>
                <a:lnTo>
                  <a:pt x="0" y="99"/>
                </a:lnTo>
                <a:lnTo>
                  <a:pt x="0" y="112"/>
                </a:lnTo>
                <a:lnTo>
                  <a:pt x="2"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7" y="124"/>
                </a:lnTo>
                <a:lnTo>
                  <a:pt x="5" y="112"/>
                </a:lnTo>
                <a:lnTo>
                  <a:pt x="5" y="99"/>
                </a:lnTo>
                <a:lnTo>
                  <a:pt x="5" y="98"/>
                </a:lnTo>
                <a:lnTo>
                  <a:pt x="5" y="96"/>
                </a:lnTo>
                <a:lnTo>
                  <a:pt x="5" y="94"/>
                </a:lnTo>
                <a:lnTo>
                  <a:pt x="5" y="93"/>
                </a:lnTo>
                <a:lnTo>
                  <a:pt x="5" y="91"/>
                </a:lnTo>
                <a:lnTo>
                  <a:pt x="5" y="89"/>
                </a:lnTo>
                <a:lnTo>
                  <a:pt x="5" y="88"/>
                </a:lnTo>
                <a:lnTo>
                  <a:pt x="5" y="84"/>
                </a:lnTo>
                <a:lnTo>
                  <a:pt x="0" y="88"/>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65" name="Freeform 1070">
            <a:extLst>
              <a:ext uri="{FF2B5EF4-FFF2-40B4-BE49-F238E27FC236}">
                <a16:creationId xmlns:a16="http://schemas.microsoft.com/office/drawing/2014/main" id="{595A476F-B97B-89DE-34CF-C1D98ADE1BD3}"/>
              </a:ext>
            </a:extLst>
          </p:cNvPr>
          <p:cNvSpPr>
            <a:spLocks noEditPoints="1"/>
          </p:cNvSpPr>
          <p:nvPr/>
        </p:nvSpPr>
        <p:spPr bwMode="auto">
          <a:xfrm>
            <a:off x="2333625" y="2403475"/>
            <a:ext cx="1162050" cy="315913"/>
          </a:xfrm>
          <a:custGeom>
            <a:avLst/>
            <a:gdLst>
              <a:gd name="T0" fmla="*/ 732 w 732"/>
              <a:gd name="T1" fmla="*/ 99 h 199"/>
              <a:gd name="T2" fmla="*/ 732 w 732"/>
              <a:gd name="T3" fmla="*/ 86 h 199"/>
              <a:gd name="T4" fmla="*/ 732 w 732"/>
              <a:gd name="T5" fmla="*/ 73 h 199"/>
              <a:gd name="T6" fmla="*/ 731 w 732"/>
              <a:gd name="T7" fmla="*/ 61 h 199"/>
              <a:gd name="T8" fmla="*/ 729 w 732"/>
              <a:gd name="T9" fmla="*/ 48 h 199"/>
              <a:gd name="T10" fmla="*/ 727 w 732"/>
              <a:gd name="T11" fmla="*/ 36 h 199"/>
              <a:gd name="T12" fmla="*/ 724 w 732"/>
              <a:gd name="T13" fmla="*/ 23 h 199"/>
              <a:gd name="T14" fmla="*/ 722 w 732"/>
              <a:gd name="T15" fmla="*/ 11 h 199"/>
              <a:gd name="T16" fmla="*/ 719 w 732"/>
              <a:gd name="T17" fmla="*/ 0 h 199"/>
              <a:gd name="T18" fmla="*/ 714 w 732"/>
              <a:gd name="T19" fmla="*/ 0 h 199"/>
              <a:gd name="T20" fmla="*/ 717 w 732"/>
              <a:gd name="T21" fmla="*/ 11 h 199"/>
              <a:gd name="T22" fmla="*/ 719 w 732"/>
              <a:gd name="T23" fmla="*/ 23 h 199"/>
              <a:gd name="T24" fmla="*/ 722 w 732"/>
              <a:gd name="T25" fmla="*/ 36 h 199"/>
              <a:gd name="T26" fmla="*/ 724 w 732"/>
              <a:gd name="T27" fmla="*/ 48 h 199"/>
              <a:gd name="T28" fmla="*/ 726 w 732"/>
              <a:gd name="T29" fmla="*/ 61 h 199"/>
              <a:gd name="T30" fmla="*/ 727 w 732"/>
              <a:gd name="T31" fmla="*/ 73 h 199"/>
              <a:gd name="T32" fmla="*/ 727 w 732"/>
              <a:gd name="T33" fmla="*/ 86 h 199"/>
              <a:gd name="T34" fmla="*/ 727 w 732"/>
              <a:gd name="T35" fmla="*/ 99 h 199"/>
              <a:gd name="T36" fmla="*/ 727 w 732"/>
              <a:gd name="T37" fmla="*/ 101 h 199"/>
              <a:gd name="T38" fmla="*/ 727 w 732"/>
              <a:gd name="T39" fmla="*/ 102 h 199"/>
              <a:gd name="T40" fmla="*/ 727 w 732"/>
              <a:gd name="T41" fmla="*/ 104 h 199"/>
              <a:gd name="T42" fmla="*/ 727 w 732"/>
              <a:gd name="T43" fmla="*/ 106 h 199"/>
              <a:gd name="T44" fmla="*/ 727 w 732"/>
              <a:gd name="T45" fmla="*/ 107 h 199"/>
              <a:gd name="T46" fmla="*/ 732 w 732"/>
              <a:gd name="T47" fmla="*/ 106 h 199"/>
              <a:gd name="T48" fmla="*/ 732 w 732"/>
              <a:gd name="T49" fmla="*/ 104 h 199"/>
              <a:gd name="T50" fmla="*/ 732 w 732"/>
              <a:gd name="T51" fmla="*/ 102 h 199"/>
              <a:gd name="T52" fmla="*/ 732 w 732"/>
              <a:gd name="T53" fmla="*/ 101 h 199"/>
              <a:gd name="T54" fmla="*/ 732 w 732"/>
              <a:gd name="T55" fmla="*/ 99 h 199"/>
              <a:gd name="T56" fmla="*/ 0 w 732"/>
              <a:gd name="T57" fmla="*/ 86 h 199"/>
              <a:gd name="T58" fmla="*/ 0 w 732"/>
              <a:gd name="T59" fmla="*/ 88 h 199"/>
              <a:gd name="T60" fmla="*/ 0 w 732"/>
              <a:gd name="T61" fmla="*/ 89 h 199"/>
              <a:gd name="T62" fmla="*/ 0 w 732"/>
              <a:gd name="T63" fmla="*/ 91 h 199"/>
              <a:gd name="T64" fmla="*/ 0 w 732"/>
              <a:gd name="T65" fmla="*/ 93 h 199"/>
              <a:gd name="T66" fmla="*/ 0 w 732"/>
              <a:gd name="T67" fmla="*/ 94 h 199"/>
              <a:gd name="T68" fmla="*/ 0 w 732"/>
              <a:gd name="T69" fmla="*/ 96 h 199"/>
              <a:gd name="T70" fmla="*/ 0 w 732"/>
              <a:gd name="T71" fmla="*/ 98 h 199"/>
              <a:gd name="T72" fmla="*/ 0 w 732"/>
              <a:gd name="T73" fmla="*/ 99 h 199"/>
              <a:gd name="T74" fmla="*/ 0 w 732"/>
              <a:gd name="T75" fmla="*/ 112 h 199"/>
              <a:gd name="T76" fmla="*/ 0 w 732"/>
              <a:gd name="T77" fmla="*/ 124 h 199"/>
              <a:gd name="T78" fmla="*/ 2 w 732"/>
              <a:gd name="T79" fmla="*/ 137 h 199"/>
              <a:gd name="T80" fmla="*/ 4 w 732"/>
              <a:gd name="T81" fmla="*/ 151 h 199"/>
              <a:gd name="T82" fmla="*/ 5 w 732"/>
              <a:gd name="T83" fmla="*/ 162 h 199"/>
              <a:gd name="T84" fmla="*/ 7 w 732"/>
              <a:gd name="T85" fmla="*/ 174 h 199"/>
              <a:gd name="T86" fmla="*/ 10 w 732"/>
              <a:gd name="T87" fmla="*/ 187 h 199"/>
              <a:gd name="T88" fmla="*/ 14 w 732"/>
              <a:gd name="T89" fmla="*/ 199 h 199"/>
              <a:gd name="T90" fmla="*/ 19 w 732"/>
              <a:gd name="T91" fmla="*/ 199 h 199"/>
              <a:gd name="T92" fmla="*/ 15 w 732"/>
              <a:gd name="T93" fmla="*/ 187 h 199"/>
              <a:gd name="T94" fmla="*/ 12 w 732"/>
              <a:gd name="T95" fmla="*/ 174 h 199"/>
              <a:gd name="T96" fmla="*/ 10 w 732"/>
              <a:gd name="T97" fmla="*/ 162 h 199"/>
              <a:gd name="T98" fmla="*/ 9 w 732"/>
              <a:gd name="T99" fmla="*/ 151 h 199"/>
              <a:gd name="T100" fmla="*/ 7 w 732"/>
              <a:gd name="T101" fmla="*/ 137 h 199"/>
              <a:gd name="T102" fmla="*/ 5 w 732"/>
              <a:gd name="T103" fmla="*/ 124 h 199"/>
              <a:gd name="T104" fmla="*/ 5 w 732"/>
              <a:gd name="T105" fmla="*/ 112 h 199"/>
              <a:gd name="T106" fmla="*/ 5 w 732"/>
              <a:gd name="T107" fmla="*/ 99 h 199"/>
              <a:gd name="T108" fmla="*/ 5 w 732"/>
              <a:gd name="T109" fmla="*/ 98 h 199"/>
              <a:gd name="T110" fmla="*/ 5 w 732"/>
              <a:gd name="T111" fmla="*/ 96 h 199"/>
              <a:gd name="T112" fmla="*/ 5 w 732"/>
              <a:gd name="T113" fmla="*/ 93 h 199"/>
              <a:gd name="T114" fmla="*/ 5 w 732"/>
              <a:gd name="T115" fmla="*/ 91 h 199"/>
              <a:gd name="T116" fmla="*/ 5 w 732"/>
              <a:gd name="T117" fmla="*/ 89 h 199"/>
              <a:gd name="T118" fmla="*/ 5 w 732"/>
              <a:gd name="T119" fmla="*/ 88 h 199"/>
              <a:gd name="T120" fmla="*/ 5 w 732"/>
              <a:gd name="T121" fmla="*/ 86 h 199"/>
              <a:gd name="T122" fmla="*/ 5 w 732"/>
              <a:gd name="T123" fmla="*/ 84 h 199"/>
              <a:gd name="T124" fmla="*/ 0 w 732"/>
              <a:gd name="T125" fmla="*/ 8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32" h="199">
                <a:moveTo>
                  <a:pt x="732" y="99"/>
                </a:moveTo>
                <a:lnTo>
                  <a:pt x="732" y="86"/>
                </a:lnTo>
                <a:lnTo>
                  <a:pt x="732" y="73"/>
                </a:lnTo>
                <a:lnTo>
                  <a:pt x="731" y="61"/>
                </a:lnTo>
                <a:lnTo>
                  <a:pt x="729" y="48"/>
                </a:lnTo>
                <a:lnTo>
                  <a:pt x="727" y="36"/>
                </a:lnTo>
                <a:lnTo>
                  <a:pt x="724" y="23"/>
                </a:lnTo>
                <a:lnTo>
                  <a:pt x="722" y="11"/>
                </a:lnTo>
                <a:lnTo>
                  <a:pt x="719" y="0"/>
                </a:lnTo>
                <a:lnTo>
                  <a:pt x="714" y="0"/>
                </a:lnTo>
                <a:lnTo>
                  <a:pt x="717" y="11"/>
                </a:lnTo>
                <a:lnTo>
                  <a:pt x="719" y="23"/>
                </a:lnTo>
                <a:lnTo>
                  <a:pt x="722" y="36"/>
                </a:lnTo>
                <a:lnTo>
                  <a:pt x="724" y="48"/>
                </a:lnTo>
                <a:lnTo>
                  <a:pt x="726" y="61"/>
                </a:lnTo>
                <a:lnTo>
                  <a:pt x="727" y="73"/>
                </a:lnTo>
                <a:lnTo>
                  <a:pt x="727" y="86"/>
                </a:lnTo>
                <a:lnTo>
                  <a:pt x="727" y="99"/>
                </a:lnTo>
                <a:lnTo>
                  <a:pt x="727" y="101"/>
                </a:lnTo>
                <a:lnTo>
                  <a:pt x="727" y="102"/>
                </a:lnTo>
                <a:lnTo>
                  <a:pt x="727" y="104"/>
                </a:lnTo>
                <a:lnTo>
                  <a:pt x="727" y="106"/>
                </a:lnTo>
                <a:lnTo>
                  <a:pt x="727" y="107"/>
                </a:lnTo>
                <a:lnTo>
                  <a:pt x="732" y="106"/>
                </a:lnTo>
                <a:lnTo>
                  <a:pt x="732" y="104"/>
                </a:lnTo>
                <a:lnTo>
                  <a:pt x="732" y="102"/>
                </a:lnTo>
                <a:lnTo>
                  <a:pt x="732" y="101"/>
                </a:lnTo>
                <a:lnTo>
                  <a:pt x="732" y="99"/>
                </a:lnTo>
                <a:close/>
                <a:moveTo>
                  <a:pt x="0" y="86"/>
                </a:moveTo>
                <a:lnTo>
                  <a:pt x="0" y="88"/>
                </a:lnTo>
                <a:lnTo>
                  <a:pt x="0" y="89"/>
                </a:lnTo>
                <a:lnTo>
                  <a:pt x="0" y="91"/>
                </a:lnTo>
                <a:lnTo>
                  <a:pt x="0" y="93"/>
                </a:lnTo>
                <a:lnTo>
                  <a:pt x="0" y="94"/>
                </a:lnTo>
                <a:lnTo>
                  <a:pt x="0" y="96"/>
                </a:lnTo>
                <a:lnTo>
                  <a:pt x="0" y="98"/>
                </a:lnTo>
                <a:lnTo>
                  <a:pt x="0" y="99"/>
                </a:lnTo>
                <a:lnTo>
                  <a:pt x="0" y="112"/>
                </a:lnTo>
                <a:lnTo>
                  <a:pt x="0" y="124"/>
                </a:lnTo>
                <a:lnTo>
                  <a:pt x="2" y="137"/>
                </a:lnTo>
                <a:lnTo>
                  <a:pt x="4" y="151"/>
                </a:lnTo>
                <a:lnTo>
                  <a:pt x="5" y="162"/>
                </a:lnTo>
                <a:lnTo>
                  <a:pt x="7" y="174"/>
                </a:lnTo>
                <a:lnTo>
                  <a:pt x="10" y="187"/>
                </a:lnTo>
                <a:lnTo>
                  <a:pt x="14" y="199"/>
                </a:lnTo>
                <a:lnTo>
                  <a:pt x="19" y="199"/>
                </a:lnTo>
                <a:lnTo>
                  <a:pt x="15" y="187"/>
                </a:lnTo>
                <a:lnTo>
                  <a:pt x="12" y="174"/>
                </a:lnTo>
                <a:lnTo>
                  <a:pt x="10" y="162"/>
                </a:lnTo>
                <a:lnTo>
                  <a:pt x="9" y="151"/>
                </a:lnTo>
                <a:lnTo>
                  <a:pt x="7" y="137"/>
                </a:lnTo>
                <a:lnTo>
                  <a:pt x="5" y="124"/>
                </a:lnTo>
                <a:lnTo>
                  <a:pt x="5" y="112"/>
                </a:lnTo>
                <a:lnTo>
                  <a:pt x="5" y="99"/>
                </a:lnTo>
                <a:lnTo>
                  <a:pt x="5" y="98"/>
                </a:lnTo>
                <a:lnTo>
                  <a:pt x="5" y="96"/>
                </a:lnTo>
                <a:lnTo>
                  <a:pt x="5" y="93"/>
                </a:lnTo>
                <a:lnTo>
                  <a:pt x="5" y="91"/>
                </a:lnTo>
                <a:lnTo>
                  <a:pt x="5" y="89"/>
                </a:lnTo>
                <a:lnTo>
                  <a:pt x="5" y="88"/>
                </a:lnTo>
                <a:lnTo>
                  <a:pt x="5" y="86"/>
                </a:lnTo>
                <a:lnTo>
                  <a:pt x="5" y="84"/>
                </a:lnTo>
                <a:lnTo>
                  <a:pt x="0" y="86"/>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66" name="Freeform 1071">
            <a:extLst>
              <a:ext uri="{FF2B5EF4-FFF2-40B4-BE49-F238E27FC236}">
                <a16:creationId xmlns:a16="http://schemas.microsoft.com/office/drawing/2014/main" id="{3C17A40F-B4D1-0548-4D8C-F846A15351B1}"/>
              </a:ext>
            </a:extLst>
          </p:cNvPr>
          <p:cNvSpPr>
            <a:spLocks noEditPoints="1"/>
          </p:cNvSpPr>
          <p:nvPr/>
        </p:nvSpPr>
        <p:spPr bwMode="auto">
          <a:xfrm>
            <a:off x="2336800" y="2403475"/>
            <a:ext cx="1157288" cy="315913"/>
          </a:xfrm>
          <a:custGeom>
            <a:avLst/>
            <a:gdLst>
              <a:gd name="T0" fmla="*/ 727 w 729"/>
              <a:gd name="T1" fmla="*/ 86 h 199"/>
              <a:gd name="T2" fmla="*/ 725 w 729"/>
              <a:gd name="T3" fmla="*/ 61 h 199"/>
              <a:gd name="T4" fmla="*/ 722 w 729"/>
              <a:gd name="T5" fmla="*/ 36 h 199"/>
              <a:gd name="T6" fmla="*/ 717 w 729"/>
              <a:gd name="T7" fmla="*/ 11 h 199"/>
              <a:gd name="T8" fmla="*/ 709 w 729"/>
              <a:gd name="T9" fmla="*/ 0 h 199"/>
              <a:gd name="T10" fmla="*/ 715 w 729"/>
              <a:gd name="T11" fmla="*/ 23 h 199"/>
              <a:gd name="T12" fmla="*/ 720 w 729"/>
              <a:gd name="T13" fmla="*/ 48 h 199"/>
              <a:gd name="T14" fmla="*/ 722 w 729"/>
              <a:gd name="T15" fmla="*/ 73 h 199"/>
              <a:gd name="T16" fmla="*/ 724 w 729"/>
              <a:gd name="T17" fmla="*/ 99 h 199"/>
              <a:gd name="T18" fmla="*/ 724 w 729"/>
              <a:gd name="T19" fmla="*/ 102 h 199"/>
              <a:gd name="T20" fmla="*/ 724 w 729"/>
              <a:gd name="T21" fmla="*/ 106 h 199"/>
              <a:gd name="T22" fmla="*/ 724 w 729"/>
              <a:gd name="T23" fmla="*/ 109 h 199"/>
              <a:gd name="T24" fmla="*/ 729 w 729"/>
              <a:gd name="T25" fmla="*/ 106 h 199"/>
              <a:gd name="T26" fmla="*/ 729 w 729"/>
              <a:gd name="T27" fmla="*/ 102 h 199"/>
              <a:gd name="T28" fmla="*/ 729 w 729"/>
              <a:gd name="T29" fmla="*/ 99 h 199"/>
              <a:gd name="T30" fmla="*/ 0 w 729"/>
              <a:gd name="T31" fmla="*/ 88 h 199"/>
              <a:gd name="T32" fmla="*/ 0 w 729"/>
              <a:gd name="T33" fmla="*/ 91 h 199"/>
              <a:gd name="T34" fmla="*/ 0 w 729"/>
              <a:gd name="T35" fmla="*/ 94 h 199"/>
              <a:gd name="T36" fmla="*/ 0 w 729"/>
              <a:gd name="T37" fmla="*/ 98 h 199"/>
              <a:gd name="T38" fmla="*/ 0 w 729"/>
              <a:gd name="T39" fmla="*/ 112 h 199"/>
              <a:gd name="T40" fmla="*/ 2 w 729"/>
              <a:gd name="T41" fmla="*/ 137 h 199"/>
              <a:gd name="T42" fmla="*/ 5 w 729"/>
              <a:gd name="T43" fmla="*/ 162 h 199"/>
              <a:gd name="T44" fmla="*/ 10 w 729"/>
              <a:gd name="T45" fmla="*/ 187 h 199"/>
              <a:gd name="T46" fmla="*/ 18 w 729"/>
              <a:gd name="T47" fmla="*/ 199 h 199"/>
              <a:gd name="T48" fmla="*/ 13 w 729"/>
              <a:gd name="T49" fmla="*/ 174 h 199"/>
              <a:gd name="T50" fmla="*/ 8 w 729"/>
              <a:gd name="T51" fmla="*/ 151 h 199"/>
              <a:gd name="T52" fmla="*/ 5 w 729"/>
              <a:gd name="T53" fmla="*/ 124 h 199"/>
              <a:gd name="T54" fmla="*/ 5 w 729"/>
              <a:gd name="T55" fmla="*/ 99 h 199"/>
              <a:gd name="T56" fmla="*/ 5 w 729"/>
              <a:gd name="T57" fmla="*/ 94 h 199"/>
              <a:gd name="T58" fmla="*/ 5 w 729"/>
              <a:gd name="T59" fmla="*/ 91 h 199"/>
              <a:gd name="T60" fmla="*/ 5 w 729"/>
              <a:gd name="T61" fmla="*/ 88 h 199"/>
              <a:gd name="T62" fmla="*/ 5 w 729"/>
              <a:gd name="T63" fmla="*/ 8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29" h="199">
                <a:moveTo>
                  <a:pt x="729" y="99"/>
                </a:moveTo>
                <a:lnTo>
                  <a:pt x="727" y="86"/>
                </a:lnTo>
                <a:lnTo>
                  <a:pt x="727" y="73"/>
                </a:lnTo>
                <a:lnTo>
                  <a:pt x="725" y="61"/>
                </a:lnTo>
                <a:lnTo>
                  <a:pt x="725" y="48"/>
                </a:lnTo>
                <a:lnTo>
                  <a:pt x="722" y="36"/>
                </a:lnTo>
                <a:lnTo>
                  <a:pt x="720" y="23"/>
                </a:lnTo>
                <a:lnTo>
                  <a:pt x="717" y="11"/>
                </a:lnTo>
                <a:lnTo>
                  <a:pt x="714" y="0"/>
                </a:lnTo>
                <a:lnTo>
                  <a:pt x="709" y="0"/>
                </a:lnTo>
                <a:lnTo>
                  <a:pt x="712" y="11"/>
                </a:lnTo>
                <a:lnTo>
                  <a:pt x="715" y="23"/>
                </a:lnTo>
                <a:lnTo>
                  <a:pt x="717" y="36"/>
                </a:lnTo>
                <a:lnTo>
                  <a:pt x="720" y="48"/>
                </a:lnTo>
                <a:lnTo>
                  <a:pt x="722" y="61"/>
                </a:lnTo>
                <a:lnTo>
                  <a:pt x="722" y="73"/>
                </a:lnTo>
                <a:lnTo>
                  <a:pt x="724" y="86"/>
                </a:lnTo>
                <a:lnTo>
                  <a:pt x="724" y="99"/>
                </a:lnTo>
                <a:lnTo>
                  <a:pt x="724" y="101"/>
                </a:lnTo>
                <a:lnTo>
                  <a:pt x="724" y="102"/>
                </a:lnTo>
                <a:lnTo>
                  <a:pt x="724" y="104"/>
                </a:lnTo>
                <a:lnTo>
                  <a:pt x="724" y="106"/>
                </a:lnTo>
                <a:lnTo>
                  <a:pt x="724" y="107"/>
                </a:lnTo>
                <a:lnTo>
                  <a:pt x="724" y="109"/>
                </a:lnTo>
                <a:lnTo>
                  <a:pt x="729" y="107"/>
                </a:lnTo>
                <a:lnTo>
                  <a:pt x="729" y="106"/>
                </a:lnTo>
                <a:lnTo>
                  <a:pt x="729" y="104"/>
                </a:lnTo>
                <a:lnTo>
                  <a:pt x="729" y="102"/>
                </a:lnTo>
                <a:lnTo>
                  <a:pt x="729" y="101"/>
                </a:lnTo>
                <a:lnTo>
                  <a:pt x="729" y="99"/>
                </a:lnTo>
                <a:close/>
                <a:moveTo>
                  <a:pt x="0" y="84"/>
                </a:moveTo>
                <a:lnTo>
                  <a:pt x="0" y="88"/>
                </a:lnTo>
                <a:lnTo>
                  <a:pt x="0" y="89"/>
                </a:lnTo>
                <a:lnTo>
                  <a:pt x="0" y="91"/>
                </a:lnTo>
                <a:lnTo>
                  <a:pt x="0" y="93"/>
                </a:lnTo>
                <a:lnTo>
                  <a:pt x="0" y="94"/>
                </a:lnTo>
                <a:lnTo>
                  <a:pt x="0" y="96"/>
                </a:lnTo>
                <a:lnTo>
                  <a:pt x="0" y="98"/>
                </a:lnTo>
                <a:lnTo>
                  <a:pt x="0" y="99"/>
                </a:lnTo>
                <a:lnTo>
                  <a:pt x="0" y="112"/>
                </a:lnTo>
                <a:lnTo>
                  <a:pt x="2"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8"/>
                </a:lnTo>
                <a:lnTo>
                  <a:pt x="5" y="94"/>
                </a:lnTo>
                <a:lnTo>
                  <a:pt x="5" y="93"/>
                </a:lnTo>
                <a:lnTo>
                  <a:pt x="5" y="91"/>
                </a:lnTo>
                <a:lnTo>
                  <a:pt x="5" y="89"/>
                </a:lnTo>
                <a:lnTo>
                  <a:pt x="5" y="88"/>
                </a:lnTo>
                <a:lnTo>
                  <a:pt x="5" y="84"/>
                </a:lnTo>
                <a:lnTo>
                  <a:pt x="5" y="83"/>
                </a:lnTo>
                <a:lnTo>
                  <a:pt x="0" y="84"/>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67" name="Freeform 1072">
            <a:extLst>
              <a:ext uri="{FF2B5EF4-FFF2-40B4-BE49-F238E27FC236}">
                <a16:creationId xmlns:a16="http://schemas.microsoft.com/office/drawing/2014/main" id="{3166E313-8095-2067-C5A2-6ABF8D20B577}"/>
              </a:ext>
            </a:extLst>
          </p:cNvPr>
          <p:cNvSpPr>
            <a:spLocks noEditPoints="1"/>
          </p:cNvSpPr>
          <p:nvPr/>
        </p:nvSpPr>
        <p:spPr bwMode="auto">
          <a:xfrm>
            <a:off x="2341563" y="2403475"/>
            <a:ext cx="1146175" cy="315913"/>
          </a:xfrm>
          <a:custGeom>
            <a:avLst/>
            <a:gdLst>
              <a:gd name="T0" fmla="*/ 722 w 722"/>
              <a:gd name="T1" fmla="*/ 86 h 199"/>
              <a:gd name="T2" fmla="*/ 721 w 722"/>
              <a:gd name="T3" fmla="*/ 61 h 199"/>
              <a:gd name="T4" fmla="*/ 717 w 722"/>
              <a:gd name="T5" fmla="*/ 36 h 199"/>
              <a:gd name="T6" fmla="*/ 712 w 722"/>
              <a:gd name="T7" fmla="*/ 11 h 199"/>
              <a:gd name="T8" fmla="*/ 704 w 722"/>
              <a:gd name="T9" fmla="*/ 0 h 199"/>
              <a:gd name="T10" fmla="*/ 709 w 722"/>
              <a:gd name="T11" fmla="*/ 23 h 199"/>
              <a:gd name="T12" fmla="*/ 714 w 722"/>
              <a:gd name="T13" fmla="*/ 48 h 199"/>
              <a:gd name="T14" fmla="*/ 717 w 722"/>
              <a:gd name="T15" fmla="*/ 73 h 199"/>
              <a:gd name="T16" fmla="*/ 717 w 722"/>
              <a:gd name="T17" fmla="*/ 99 h 199"/>
              <a:gd name="T18" fmla="*/ 717 w 722"/>
              <a:gd name="T19" fmla="*/ 102 h 199"/>
              <a:gd name="T20" fmla="*/ 717 w 722"/>
              <a:gd name="T21" fmla="*/ 106 h 199"/>
              <a:gd name="T22" fmla="*/ 717 w 722"/>
              <a:gd name="T23" fmla="*/ 109 h 199"/>
              <a:gd name="T24" fmla="*/ 722 w 722"/>
              <a:gd name="T25" fmla="*/ 107 h 199"/>
              <a:gd name="T26" fmla="*/ 722 w 722"/>
              <a:gd name="T27" fmla="*/ 104 h 199"/>
              <a:gd name="T28" fmla="*/ 722 w 722"/>
              <a:gd name="T29" fmla="*/ 101 h 199"/>
              <a:gd name="T30" fmla="*/ 0 w 722"/>
              <a:gd name="T31" fmla="*/ 84 h 199"/>
              <a:gd name="T32" fmla="*/ 0 w 722"/>
              <a:gd name="T33" fmla="*/ 88 h 199"/>
              <a:gd name="T34" fmla="*/ 0 w 722"/>
              <a:gd name="T35" fmla="*/ 91 h 199"/>
              <a:gd name="T36" fmla="*/ 0 w 722"/>
              <a:gd name="T37" fmla="*/ 96 h 199"/>
              <a:gd name="T38" fmla="*/ 0 w 722"/>
              <a:gd name="T39" fmla="*/ 99 h 199"/>
              <a:gd name="T40" fmla="*/ 0 w 722"/>
              <a:gd name="T41" fmla="*/ 124 h 199"/>
              <a:gd name="T42" fmla="*/ 4 w 722"/>
              <a:gd name="T43" fmla="*/ 151 h 199"/>
              <a:gd name="T44" fmla="*/ 7 w 722"/>
              <a:gd name="T45" fmla="*/ 174 h 199"/>
              <a:gd name="T46" fmla="*/ 14 w 722"/>
              <a:gd name="T47" fmla="*/ 199 h 199"/>
              <a:gd name="T48" fmla="*/ 15 w 722"/>
              <a:gd name="T49" fmla="*/ 187 h 199"/>
              <a:gd name="T50" fmla="*/ 10 w 722"/>
              <a:gd name="T51" fmla="*/ 162 h 199"/>
              <a:gd name="T52" fmla="*/ 7 w 722"/>
              <a:gd name="T53" fmla="*/ 137 h 199"/>
              <a:gd name="T54" fmla="*/ 5 w 722"/>
              <a:gd name="T55" fmla="*/ 112 h 199"/>
              <a:gd name="T56" fmla="*/ 4 w 722"/>
              <a:gd name="T57" fmla="*/ 98 h 199"/>
              <a:gd name="T58" fmla="*/ 4 w 722"/>
              <a:gd name="T59" fmla="*/ 93 h 199"/>
              <a:gd name="T60" fmla="*/ 4 w 722"/>
              <a:gd name="T61" fmla="*/ 88 h 199"/>
              <a:gd name="T62" fmla="*/ 5 w 722"/>
              <a:gd name="T63" fmla="*/ 84 h 199"/>
              <a:gd name="T64" fmla="*/ 0 w 722"/>
              <a:gd name="T65" fmla="*/ 8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22" h="199">
                <a:moveTo>
                  <a:pt x="722" y="99"/>
                </a:moveTo>
                <a:lnTo>
                  <a:pt x="722" y="86"/>
                </a:lnTo>
                <a:lnTo>
                  <a:pt x="722" y="73"/>
                </a:lnTo>
                <a:lnTo>
                  <a:pt x="721" y="61"/>
                </a:lnTo>
                <a:lnTo>
                  <a:pt x="719" y="48"/>
                </a:lnTo>
                <a:lnTo>
                  <a:pt x="717" y="36"/>
                </a:lnTo>
                <a:lnTo>
                  <a:pt x="714" y="23"/>
                </a:lnTo>
                <a:lnTo>
                  <a:pt x="712" y="11"/>
                </a:lnTo>
                <a:lnTo>
                  <a:pt x="709" y="0"/>
                </a:lnTo>
                <a:lnTo>
                  <a:pt x="704" y="0"/>
                </a:lnTo>
                <a:lnTo>
                  <a:pt x="708" y="11"/>
                </a:lnTo>
                <a:lnTo>
                  <a:pt x="709" y="23"/>
                </a:lnTo>
                <a:lnTo>
                  <a:pt x="712" y="36"/>
                </a:lnTo>
                <a:lnTo>
                  <a:pt x="714" y="48"/>
                </a:lnTo>
                <a:lnTo>
                  <a:pt x="716" y="61"/>
                </a:lnTo>
                <a:lnTo>
                  <a:pt x="717" y="73"/>
                </a:lnTo>
                <a:lnTo>
                  <a:pt x="717" y="86"/>
                </a:lnTo>
                <a:lnTo>
                  <a:pt x="717" y="99"/>
                </a:lnTo>
                <a:lnTo>
                  <a:pt x="717" y="101"/>
                </a:lnTo>
                <a:lnTo>
                  <a:pt x="717" y="102"/>
                </a:lnTo>
                <a:lnTo>
                  <a:pt x="717" y="104"/>
                </a:lnTo>
                <a:lnTo>
                  <a:pt x="717" y="106"/>
                </a:lnTo>
                <a:lnTo>
                  <a:pt x="717" y="107"/>
                </a:lnTo>
                <a:lnTo>
                  <a:pt x="717" y="109"/>
                </a:lnTo>
                <a:lnTo>
                  <a:pt x="717" y="111"/>
                </a:lnTo>
                <a:lnTo>
                  <a:pt x="722" y="107"/>
                </a:lnTo>
                <a:lnTo>
                  <a:pt x="722" y="106"/>
                </a:lnTo>
                <a:lnTo>
                  <a:pt x="722" y="104"/>
                </a:lnTo>
                <a:lnTo>
                  <a:pt x="722" y="102"/>
                </a:lnTo>
                <a:lnTo>
                  <a:pt x="722" y="101"/>
                </a:lnTo>
                <a:lnTo>
                  <a:pt x="722" y="99"/>
                </a:lnTo>
                <a:close/>
                <a:moveTo>
                  <a:pt x="0" y="84"/>
                </a:moveTo>
                <a:lnTo>
                  <a:pt x="0" y="86"/>
                </a:lnTo>
                <a:lnTo>
                  <a:pt x="0" y="88"/>
                </a:lnTo>
                <a:lnTo>
                  <a:pt x="0" y="89"/>
                </a:lnTo>
                <a:lnTo>
                  <a:pt x="0" y="91"/>
                </a:lnTo>
                <a:lnTo>
                  <a:pt x="0" y="93"/>
                </a:lnTo>
                <a:lnTo>
                  <a:pt x="0" y="96"/>
                </a:lnTo>
                <a:lnTo>
                  <a:pt x="0" y="98"/>
                </a:lnTo>
                <a:lnTo>
                  <a:pt x="0" y="99"/>
                </a:lnTo>
                <a:lnTo>
                  <a:pt x="0" y="112"/>
                </a:lnTo>
                <a:lnTo>
                  <a:pt x="0" y="124"/>
                </a:lnTo>
                <a:lnTo>
                  <a:pt x="2" y="137"/>
                </a:lnTo>
                <a:lnTo>
                  <a:pt x="4" y="151"/>
                </a:lnTo>
                <a:lnTo>
                  <a:pt x="5" y="162"/>
                </a:lnTo>
                <a:lnTo>
                  <a:pt x="7" y="174"/>
                </a:lnTo>
                <a:lnTo>
                  <a:pt x="10" y="187"/>
                </a:lnTo>
                <a:lnTo>
                  <a:pt x="14" y="199"/>
                </a:lnTo>
                <a:lnTo>
                  <a:pt x="19" y="199"/>
                </a:lnTo>
                <a:lnTo>
                  <a:pt x="15" y="187"/>
                </a:lnTo>
                <a:lnTo>
                  <a:pt x="12" y="174"/>
                </a:lnTo>
                <a:lnTo>
                  <a:pt x="10" y="162"/>
                </a:lnTo>
                <a:lnTo>
                  <a:pt x="9" y="151"/>
                </a:lnTo>
                <a:lnTo>
                  <a:pt x="7" y="137"/>
                </a:lnTo>
                <a:lnTo>
                  <a:pt x="5" y="124"/>
                </a:lnTo>
                <a:lnTo>
                  <a:pt x="5" y="112"/>
                </a:lnTo>
                <a:lnTo>
                  <a:pt x="4" y="99"/>
                </a:lnTo>
                <a:lnTo>
                  <a:pt x="4" y="98"/>
                </a:lnTo>
                <a:lnTo>
                  <a:pt x="4" y="94"/>
                </a:lnTo>
                <a:lnTo>
                  <a:pt x="4" y="93"/>
                </a:lnTo>
                <a:lnTo>
                  <a:pt x="4" y="91"/>
                </a:lnTo>
                <a:lnTo>
                  <a:pt x="4" y="88"/>
                </a:lnTo>
                <a:lnTo>
                  <a:pt x="5" y="86"/>
                </a:lnTo>
                <a:lnTo>
                  <a:pt x="5" y="84"/>
                </a:lnTo>
                <a:lnTo>
                  <a:pt x="5" y="81"/>
                </a:lnTo>
                <a:lnTo>
                  <a:pt x="0" y="84"/>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68" name="Freeform 1073">
            <a:extLst>
              <a:ext uri="{FF2B5EF4-FFF2-40B4-BE49-F238E27FC236}">
                <a16:creationId xmlns:a16="http://schemas.microsoft.com/office/drawing/2014/main" id="{0A4CB522-910C-7A96-02F6-2458CC6CC0FB}"/>
              </a:ext>
            </a:extLst>
          </p:cNvPr>
          <p:cNvSpPr>
            <a:spLocks noEditPoints="1"/>
          </p:cNvSpPr>
          <p:nvPr/>
        </p:nvSpPr>
        <p:spPr bwMode="auto">
          <a:xfrm>
            <a:off x="2344738" y="2403475"/>
            <a:ext cx="1141413" cy="315913"/>
          </a:xfrm>
          <a:custGeom>
            <a:avLst/>
            <a:gdLst>
              <a:gd name="T0" fmla="*/ 719 w 719"/>
              <a:gd name="T1" fmla="*/ 86 h 199"/>
              <a:gd name="T2" fmla="*/ 717 w 719"/>
              <a:gd name="T3" fmla="*/ 61 h 199"/>
              <a:gd name="T4" fmla="*/ 712 w 719"/>
              <a:gd name="T5" fmla="*/ 36 h 199"/>
              <a:gd name="T6" fmla="*/ 707 w 719"/>
              <a:gd name="T7" fmla="*/ 11 h 199"/>
              <a:gd name="T8" fmla="*/ 699 w 719"/>
              <a:gd name="T9" fmla="*/ 0 h 199"/>
              <a:gd name="T10" fmla="*/ 706 w 719"/>
              <a:gd name="T11" fmla="*/ 23 h 199"/>
              <a:gd name="T12" fmla="*/ 710 w 719"/>
              <a:gd name="T13" fmla="*/ 48 h 199"/>
              <a:gd name="T14" fmla="*/ 712 w 719"/>
              <a:gd name="T15" fmla="*/ 73 h 199"/>
              <a:gd name="T16" fmla="*/ 714 w 719"/>
              <a:gd name="T17" fmla="*/ 99 h 199"/>
              <a:gd name="T18" fmla="*/ 714 w 719"/>
              <a:gd name="T19" fmla="*/ 102 h 199"/>
              <a:gd name="T20" fmla="*/ 714 w 719"/>
              <a:gd name="T21" fmla="*/ 106 h 199"/>
              <a:gd name="T22" fmla="*/ 714 w 719"/>
              <a:gd name="T23" fmla="*/ 109 h 199"/>
              <a:gd name="T24" fmla="*/ 719 w 719"/>
              <a:gd name="T25" fmla="*/ 109 h 199"/>
              <a:gd name="T26" fmla="*/ 719 w 719"/>
              <a:gd name="T27" fmla="*/ 106 h 199"/>
              <a:gd name="T28" fmla="*/ 719 w 719"/>
              <a:gd name="T29" fmla="*/ 102 h 199"/>
              <a:gd name="T30" fmla="*/ 719 w 719"/>
              <a:gd name="T31" fmla="*/ 99 h 199"/>
              <a:gd name="T32" fmla="*/ 0 w 719"/>
              <a:gd name="T33" fmla="*/ 84 h 199"/>
              <a:gd name="T34" fmla="*/ 0 w 719"/>
              <a:gd name="T35" fmla="*/ 89 h 199"/>
              <a:gd name="T36" fmla="*/ 0 w 719"/>
              <a:gd name="T37" fmla="*/ 93 h 199"/>
              <a:gd name="T38" fmla="*/ 0 w 719"/>
              <a:gd name="T39" fmla="*/ 98 h 199"/>
              <a:gd name="T40" fmla="*/ 0 w 719"/>
              <a:gd name="T41" fmla="*/ 112 h 199"/>
              <a:gd name="T42" fmla="*/ 2 w 719"/>
              <a:gd name="T43" fmla="*/ 137 h 199"/>
              <a:gd name="T44" fmla="*/ 5 w 719"/>
              <a:gd name="T45" fmla="*/ 162 h 199"/>
              <a:gd name="T46" fmla="*/ 10 w 719"/>
              <a:gd name="T47" fmla="*/ 187 h 199"/>
              <a:gd name="T48" fmla="*/ 18 w 719"/>
              <a:gd name="T49" fmla="*/ 199 h 199"/>
              <a:gd name="T50" fmla="*/ 13 w 719"/>
              <a:gd name="T51" fmla="*/ 174 h 199"/>
              <a:gd name="T52" fmla="*/ 8 w 719"/>
              <a:gd name="T53" fmla="*/ 151 h 199"/>
              <a:gd name="T54" fmla="*/ 5 w 719"/>
              <a:gd name="T55" fmla="*/ 124 h 199"/>
              <a:gd name="T56" fmla="*/ 5 w 719"/>
              <a:gd name="T57" fmla="*/ 99 h 199"/>
              <a:gd name="T58" fmla="*/ 5 w 719"/>
              <a:gd name="T59" fmla="*/ 94 h 199"/>
              <a:gd name="T60" fmla="*/ 5 w 719"/>
              <a:gd name="T61" fmla="*/ 89 h 199"/>
              <a:gd name="T62" fmla="*/ 5 w 719"/>
              <a:gd name="T63" fmla="*/ 84 h 199"/>
              <a:gd name="T64" fmla="*/ 5 w 719"/>
              <a:gd name="T65" fmla="*/ 8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19" h="199">
                <a:moveTo>
                  <a:pt x="719" y="99"/>
                </a:moveTo>
                <a:lnTo>
                  <a:pt x="719" y="86"/>
                </a:lnTo>
                <a:lnTo>
                  <a:pt x="717" y="73"/>
                </a:lnTo>
                <a:lnTo>
                  <a:pt x="717" y="61"/>
                </a:lnTo>
                <a:lnTo>
                  <a:pt x="715" y="48"/>
                </a:lnTo>
                <a:lnTo>
                  <a:pt x="712" y="36"/>
                </a:lnTo>
                <a:lnTo>
                  <a:pt x="710" y="23"/>
                </a:lnTo>
                <a:lnTo>
                  <a:pt x="707" y="11"/>
                </a:lnTo>
                <a:lnTo>
                  <a:pt x="704" y="0"/>
                </a:lnTo>
                <a:lnTo>
                  <a:pt x="699" y="0"/>
                </a:lnTo>
                <a:lnTo>
                  <a:pt x="702" y="11"/>
                </a:lnTo>
                <a:lnTo>
                  <a:pt x="706" y="23"/>
                </a:lnTo>
                <a:lnTo>
                  <a:pt x="707" y="36"/>
                </a:lnTo>
                <a:lnTo>
                  <a:pt x="710" y="48"/>
                </a:lnTo>
                <a:lnTo>
                  <a:pt x="712" y="61"/>
                </a:lnTo>
                <a:lnTo>
                  <a:pt x="712" y="73"/>
                </a:lnTo>
                <a:lnTo>
                  <a:pt x="714" y="86"/>
                </a:lnTo>
                <a:lnTo>
                  <a:pt x="714" y="99"/>
                </a:lnTo>
                <a:lnTo>
                  <a:pt x="714" y="101"/>
                </a:lnTo>
                <a:lnTo>
                  <a:pt x="714" y="102"/>
                </a:lnTo>
                <a:lnTo>
                  <a:pt x="714" y="104"/>
                </a:lnTo>
                <a:lnTo>
                  <a:pt x="714" y="106"/>
                </a:lnTo>
                <a:lnTo>
                  <a:pt x="714" y="107"/>
                </a:lnTo>
                <a:lnTo>
                  <a:pt x="714" y="109"/>
                </a:lnTo>
                <a:lnTo>
                  <a:pt x="714" y="111"/>
                </a:lnTo>
                <a:lnTo>
                  <a:pt x="719" y="109"/>
                </a:lnTo>
                <a:lnTo>
                  <a:pt x="719" y="107"/>
                </a:lnTo>
                <a:lnTo>
                  <a:pt x="719" y="106"/>
                </a:lnTo>
                <a:lnTo>
                  <a:pt x="719" y="104"/>
                </a:lnTo>
                <a:lnTo>
                  <a:pt x="719" y="102"/>
                </a:lnTo>
                <a:lnTo>
                  <a:pt x="719" y="101"/>
                </a:lnTo>
                <a:lnTo>
                  <a:pt x="719" y="99"/>
                </a:lnTo>
                <a:close/>
                <a:moveTo>
                  <a:pt x="0" y="83"/>
                </a:moveTo>
                <a:lnTo>
                  <a:pt x="0" y="84"/>
                </a:lnTo>
                <a:lnTo>
                  <a:pt x="0" y="88"/>
                </a:lnTo>
                <a:lnTo>
                  <a:pt x="0" y="89"/>
                </a:lnTo>
                <a:lnTo>
                  <a:pt x="0" y="91"/>
                </a:lnTo>
                <a:lnTo>
                  <a:pt x="0" y="93"/>
                </a:lnTo>
                <a:lnTo>
                  <a:pt x="0" y="94"/>
                </a:lnTo>
                <a:lnTo>
                  <a:pt x="0" y="98"/>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6"/>
                </a:lnTo>
                <a:lnTo>
                  <a:pt x="5" y="94"/>
                </a:lnTo>
                <a:lnTo>
                  <a:pt x="5" y="93"/>
                </a:lnTo>
                <a:lnTo>
                  <a:pt x="5" y="89"/>
                </a:lnTo>
                <a:lnTo>
                  <a:pt x="5" y="88"/>
                </a:lnTo>
                <a:lnTo>
                  <a:pt x="5" y="84"/>
                </a:lnTo>
                <a:lnTo>
                  <a:pt x="5" y="83"/>
                </a:lnTo>
                <a:lnTo>
                  <a:pt x="5" y="81"/>
                </a:lnTo>
                <a:lnTo>
                  <a:pt x="0" y="83"/>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69" name="Freeform 1074">
            <a:extLst>
              <a:ext uri="{FF2B5EF4-FFF2-40B4-BE49-F238E27FC236}">
                <a16:creationId xmlns:a16="http://schemas.microsoft.com/office/drawing/2014/main" id="{ABC2E91D-9159-976D-E129-1DF2440DF730}"/>
              </a:ext>
            </a:extLst>
          </p:cNvPr>
          <p:cNvSpPr>
            <a:spLocks noEditPoints="1"/>
          </p:cNvSpPr>
          <p:nvPr/>
        </p:nvSpPr>
        <p:spPr bwMode="auto">
          <a:xfrm>
            <a:off x="2347913" y="2403475"/>
            <a:ext cx="1131888" cy="315913"/>
          </a:xfrm>
          <a:custGeom>
            <a:avLst/>
            <a:gdLst>
              <a:gd name="T0" fmla="*/ 713 w 713"/>
              <a:gd name="T1" fmla="*/ 86 h 199"/>
              <a:gd name="T2" fmla="*/ 712 w 713"/>
              <a:gd name="T3" fmla="*/ 61 h 199"/>
              <a:gd name="T4" fmla="*/ 708 w 713"/>
              <a:gd name="T5" fmla="*/ 36 h 199"/>
              <a:gd name="T6" fmla="*/ 704 w 713"/>
              <a:gd name="T7" fmla="*/ 11 h 199"/>
              <a:gd name="T8" fmla="*/ 695 w 713"/>
              <a:gd name="T9" fmla="*/ 0 h 199"/>
              <a:gd name="T10" fmla="*/ 700 w 713"/>
              <a:gd name="T11" fmla="*/ 23 h 199"/>
              <a:gd name="T12" fmla="*/ 705 w 713"/>
              <a:gd name="T13" fmla="*/ 48 h 199"/>
              <a:gd name="T14" fmla="*/ 708 w 713"/>
              <a:gd name="T15" fmla="*/ 73 h 199"/>
              <a:gd name="T16" fmla="*/ 708 w 713"/>
              <a:gd name="T17" fmla="*/ 99 h 199"/>
              <a:gd name="T18" fmla="*/ 708 w 713"/>
              <a:gd name="T19" fmla="*/ 102 h 199"/>
              <a:gd name="T20" fmla="*/ 708 w 713"/>
              <a:gd name="T21" fmla="*/ 106 h 199"/>
              <a:gd name="T22" fmla="*/ 708 w 713"/>
              <a:gd name="T23" fmla="*/ 109 h 199"/>
              <a:gd name="T24" fmla="*/ 708 w 713"/>
              <a:gd name="T25" fmla="*/ 112 h 199"/>
              <a:gd name="T26" fmla="*/ 713 w 713"/>
              <a:gd name="T27" fmla="*/ 109 h 199"/>
              <a:gd name="T28" fmla="*/ 713 w 713"/>
              <a:gd name="T29" fmla="*/ 106 h 199"/>
              <a:gd name="T30" fmla="*/ 713 w 713"/>
              <a:gd name="T31" fmla="*/ 102 h 199"/>
              <a:gd name="T32" fmla="*/ 713 w 713"/>
              <a:gd name="T33" fmla="*/ 99 h 199"/>
              <a:gd name="T34" fmla="*/ 1 w 713"/>
              <a:gd name="T35" fmla="*/ 84 h 199"/>
              <a:gd name="T36" fmla="*/ 0 w 713"/>
              <a:gd name="T37" fmla="*/ 88 h 199"/>
              <a:gd name="T38" fmla="*/ 0 w 713"/>
              <a:gd name="T39" fmla="*/ 93 h 199"/>
              <a:gd name="T40" fmla="*/ 0 w 713"/>
              <a:gd name="T41" fmla="*/ 98 h 199"/>
              <a:gd name="T42" fmla="*/ 1 w 713"/>
              <a:gd name="T43" fmla="*/ 112 h 199"/>
              <a:gd name="T44" fmla="*/ 3 w 713"/>
              <a:gd name="T45" fmla="*/ 137 h 199"/>
              <a:gd name="T46" fmla="*/ 6 w 713"/>
              <a:gd name="T47" fmla="*/ 162 h 199"/>
              <a:gd name="T48" fmla="*/ 11 w 713"/>
              <a:gd name="T49" fmla="*/ 187 h 199"/>
              <a:gd name="T50" fmla="*/ 20 w 713"/>
              <a:gd name="T51" fmla="*/ 199 h 199"/>
              <a:gd name="T52" fmla="*/ 13 w 713"/>
              <a:gd name="T53" fmla="*/ 174 h 199"/>
              <a:gd name="T54" fmla="*/ 8 w 713"/>
              <a:gd name="T55" fmla="*/ 151 h 199"/>
              <a:gd name="T56" fmla="*/ 6 w 713"/>
              <a:gd name="T57" fmla="*/ 124 h 199"/>
              <a:gd name="T58" fmla="*/ 5 w 713"/>
              <a:gd name="T59" fmla="*/ 99 h 199"/>
              <a:gd name="T60" fmla="*/ 5 w 713"/>
              <a:gd name="T61" fmla="*/ 94 h 199"/>
              <a:gd name="T62" fmla="*/ 5 w 713"/>
              <a:gd name="T63" fmla="*/ 89 h 199"/>
              <a:gd name="T64" fmla="*/ 5 w 713"/>
              <a:gd name="T65" fmla="*/ 84 h 199"/>
              <a:gd name="T66" fmla="*/ 6 w 713"/>
              <a:gd name="T67" fmla="*/ 7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13" h="199">
                <a:moveTo>
                  <a:pt x="713" y="99"/>
                </a:moveTo>
                <a:lnTo>
                  <a:pt x="713" y="86"/>
                </a:lnTo>
                <a:lnTo>
                  <a:pt x="713" y="73"/>
                </a:lnTo>
                <a:lnTo>
                  <a:pt x="712" y="61"/>
                </a:lnTo>
                <a:lnTo>
                  <a:pt x="710" y="48"/>
                </a:lnTo>
                <a:lnTo>
                  <a:pt x="708" y="36"/>
                </a:lnTo>
                <a:lnTo>
                  <a:pt x="705" y="23"/>
                </a:lnTo>
                <a:lnTo>
                  <a:pt x="704" y="11"/>
                </a:lnTo>
                <a:lnTo>
                  <a:pt x="700" y="0"/>
                </a:lnTo>
                <a:lnTo>
                  <a:pt x="695" y="0"/>
                </a:lnTo>
                <a:lnTo>
                  <a:pt x="699" y="11"/>
                </a:lnTo>
                <a:lnTo>
                  <a:pt x="700" y="23"/>
                </a:lnTo>
                <a:lnTo>
                  <a:pt x="704" y="36"/>
                </a:lnTo>
                <a:lnTo>
                  <a:pt x="705" y="48"/>
                </a:lnTo>
                <a:lnTo>
                  <a:pt x="707" y="61"/>
                </a:lnTo>
                <a:lnTo>
                  <a:pt x="708" y="73"/>
                </a:lnTo>
                <a:lnTo>
                  <a:pt x="708" y="86"/>
                </a:lnTo>
                <a:lnTo>
                  <a:pt x="708" y="99"/>
                </a:lnTo>
                <a:lnTo>
                  <a:pt x="708" y="101"/>
                </a:lnTo>
                <a:lnTo>
                  <a:pt x="708" y="102"/>
                </a:lnTo>
                <a:lnTo>
                  <a:pt x="708" y="104"/>
                </a:lnTo>
                <a:lnTo>
                  <a:pt x="708" y="106"/>
                </a:lnTo>
                <a:lnTo>
                  <a:pt x="708" y="107"/>
                </a:lnTo>
                <a:lnTo>
                  <a:pt x="708" y="109"/>
                </a:lnTo>
                <a:lnTo>
                  <a:pt x="708" y="111"/>
                </a:lnTo>
                <a:lnTo>
                  <a:pt x="708" y="112"/>
                </a:lnTo>
                <a:lnTo>
                  <a:pt x="713" y="111"/>
                </a:lnTo>
                <a:lnTo>
                  <a:pt x="713" y="109"/>
                </a:lnTo>
                <a:lnTo>
                  <a:pt x="713" y="107"/>
                </a:lnTo>
                <a:lnTo>
                  <a:pt x="713" y="106"/>
                </a:lnTo>
                <a:lnTo>
                  <a:pt x="713" y="104"/>
                </a:lnTo>
                <a:lnTo>
                  <a:pt x="713" y="102"/>
                </a:lnTo>
                <a:lnTo>
                  <a:pt x="713" y="101"/>
                </a:lnTo>
                <a:lnTo>
                  <a:pt x="713" y="99"/>
                </a:lnTo>
                <a:close/>
                <a:moveTo>
                  <a:pt x="1" y="81"/>
                </a:moveTo>
                <a:lnTo>
                  <a:pt x="1" y="84"/>
                </a:lnTo>
                <a:lnTo>
                  <a:pt x="1" y="86"/>
                </a:lnTo>
                <a:lnTo>
                  <a:pt x="0" y="88"/>
                </a:lnTo>
                <a:lnTo>
                  <a:pt x="0" y="91"/>
                </a:lnTo>
                <a:lnTo>
                  <a:pt x="0" y="93"/>
                </a:lnTo>
                <a:lnTo>
                  <a:pt x="0" y="94"/>
                </a:lnTo>
                <a:lnTo>
                  <a:pt x="0" y="98"/>
                </a:lnTo>
                <a:lnTo>
                  <a:pt x="0" y="99"/>
                </a:lnTo>
                <a:lnTo>
                  <a:pt x="1" y="112"/>
                </a:lnTo>
                <a:lnTo>
                  <a:pt x="1" y="124"/>
                </a:lnTo>
                <a:lnTo>
                  <a:pt x="3" y="137"/>
                </a:lnTo>
                <a:lnTo>
                  <a:pt x="5" y="151"/>
                </a:lnTo>
                <a:lnTo>
                  <a:pt x="6" y="162"/>
                </a:lnTo>
                <a:lnTo>
                  <a:pt x="8" y="174"/>
                </a:lnTo>
                <a:lnTo>
                  <a:pt x="11" y="187"/>
                </a:lnTo>
                <a:lnTo>
                  <a:pt x="15" y="199"/>
                </a:lnTo>
                <a:lnTo>
                  <a:pt x="20" y="199"/>
                </a:lnTo>
                <a:lnTo>
                  <a:pt x="16" y="187"/>
                </a:lnTo>
                <a:lnTo>
                  <a:pt x="13" y="174"/>
                </a:lnTo>
                <a:lnTo>
                  <a:pt x="11" y="162"/>
                </a:lnTo>
                <a:lnTo>
                  <a:pt x="8" y="151"/>
                </a:lnTo>
                <a:lnTo>
                  <a:pt x="8" y="137"/>
                </a:lnTo>
                <a:lnTo>
                  <a:pt x="6" y="124"/>
                </a:lnTo>
                <a:lnTo>
                  <a:pt x="5" y="112"/>
                </a:lnTo>
                <a:lnTo>
                  <a:pt x="5" y="99"/>
                </a:lnTo>
                <a:lnTo>
                  <a:pt x="5" y="96"/>
                </a:lnTo>
                <a:lnTo>
                  <a:pt x="5" y="94"/>
                </a:lnTo>
                <a:lnTo>
                  <a:pt x="5" y="91"/>
                </a:lnTo>
                <a:lnTo>
                  <a:pt x="5" y="89"/>
                </a:lnTo>
                <a:lnTo>
                  <a:pt x="5" y="86"/>
                </a:lnTo>
                <a:lnTo>
                  <a:pt x="5" y="84"/>
                </a:lnTo>
                <a:lnTo>
                  <a:pt x="6" y="81"/>
                </a:lnTo>
                <a:lnTo>
                  <a:pt x="6" y="79"/>
                </a:lnTo>
                <a:lnTo>
                  <a:pt x="1" y="81"/>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70" name="Freeform 1075">
            <a:extLst>
              <a:ext uri="{FF2B5EF4-FFF2-40B4-BE49-F238E27FC236}">
                <a16:creationId xmlns:a16="http://schemas.microsoft.com/office/drawing/2014/main" id="{4EBD5B61-EE1C-B75A-9708-CDE631CF9486}"/>
              </a:ext>
            </a:extLst>
          </p:cNvPr>
          <p:cNvSpPr>
            <a:spLocks noEditPoints="1"/>
          </p:cNvSpPr>
          <p:nvPr/>
        </p:nvSpPr>
        <p:spPr bwMode="auto">
          <a:xfrm>
            <a:off x="2352675" y="2403475"/>
            <a:ext cx="1125538" cy="315913"/>
          </a:xfrm>
          <a:custGeom>
            <a:avLst/>
            <a:gdLst>
              <a:gd name="T0" fmla="*/ 709 w 709"/>
              <a:gd name="T1" fmla="*/ 86 h 199"/>
              <a:gd name="T2" fmla="*/ 707 w 709"/>
              <a:gd name="T3" fmla="*/ 61 h 199"/>
              <a:gd name="T4" fmla="*/ 702 w 709"/>
              <a:gd name="T5" fmla="*/ 36 h 199"/>
              <a:gd name="T6" fmla="*/ 697 w 709"/>
              <a:gd name="T7" fmla="*/ 11 h 199"/>
              <a:gd name="T8" fmla="*/ 689 w 709"/>
              <a:gd name="T9" fmla="*/ 0 h 199"/>
              <a:gd name="T10" fmla="*/ 696 w 709"/>
              <a:gd name="T11" fmla="*/ 23 h 199"/>
              <a:gd name="T12" fmla="*/ 701 w 709"/>
              <a:gd name="T13" fmla="*/ 48 h 199"/>
              <a:gd name="T14" fmla="*/ 702 w 709"/>
              <a:gd name="T15" fmla="*/ 73 h 199"/>
              <a:gd name="T16" fmla="*/ 704 w 709"/>
              <a:gd name="T17" fmla="*/ 99 h 199"/>
              <a:gd name="T18" fmla="*/ 704 w 709"/>
              <a:gd name="T19" fmla="*/ 102 h 199"/>
              <a:gd name="T20" fmla="*/ 704 w 709"/>
              <a:gd name="T21" fmla="*/ 106 h 199"/>
              <a:gd name="T22" fmla="*/ 704 w 709"/>
              <a:gd name="T23" fmla="*/ 111 h 199"/>
              <a:gd name="T24" fmla="*/ 704 w 709"/>
              <a:gd name="T25" fmla="*/ 114 h 199"/>
              <a:gd name="T26" fmla="*/ 709 w 709"/>
              <a:gd name="T27" fmla="*/ 109 h 199"/>
              <a:gd name="T28" fmla="*/ 709 w 709"/>
              <a:gd name="T29" fmla="*/ 106 h 199"/>
              <a:gd name="T30" fmla="*/ 709 w 709"/>
              <a:gd name="T31" fmla="*/ 102 h 199"/>
              <a:gd name="T32" fmla="*/ 709 w 709"/>
              <a:gd name="T33" fmla="*/ 99 h 199"/>
              <a:gd name="T34" fmla="*/ 0 w 709"/>
              <a:gd name="T35" fmla="*/ 83 h 199"/>
              <a:gd name="T36" fmla="*/ 0 w 709"/>
              <a:gd name="T37" fmla="*/ 88 h 199"/>
              <a:gd name="T38" fmla="*/ 0 w 709"/>
              <a:gd name="T39" fmla="*/ 93 h 199"/>
              <a:gd name="T40" fmla="*/ 0 w 709"/>
              <a:gd name="T41" fmla="*/ 96 h 199"/>
              <a:gd name="T42" fmla="*/ 0 w 709"/>
              <a:gd name="T43" fmla="*/ 112 h 199"/>
              <a:gd name="T44" fmla="*/ 2 w 709"/>
              <a:gd name="T45" fmla="*/ 137 h 199"/>
              <a:gd name="T46" fmla="*/ 5 w 709"/>
              <a:gd name="T47" fmla="*/ 162 h 199"/>
              <a:gd name="T48" fmla="*/ 10 w 709"/>
              <a:gd name="T49" fmla="*/ 187 h 199"/>
              <a:gd name="T50" fmla="*/ 18 w 709"/>
              <a:gd name="T51" fmla="*/ 199 h 199"/>
              <a:gd name="T52" fmla="*/ 13 w 709"/>
              <a:gd name="T53" fmla="*/ 174 h 199"/>
              <a:gd name="T54" fmla="*/ 8 w 709"/>
              <a:gd name="T55" fmla="*/ 151 h 199"/>
              <a:gd name="T56" fmla="*/ 5 w 709"/>
              <a:gd name="T57" fmla="*/ 124 h 199"/>
              <a:gd name="T58" fmla="*/ 5 w 709"/>
              <a:gd name="T59" fmla="*/ 99 h 199"/>
              <a:gd name="T60" fmla="*/ 5 w 709"/>
              <a:gd name="T61" fmla="*/ 94 h 199"/>
              <a:gd name="T62" fmla="*/ 5 w 709"/>
              <a:gd name="T63" fmla="*/ 89 h 199"/>
              <a:gd name="T64" fmla="*/ 5 w 709"/>
              <a:gd name="T65" fmla="*/ 83 h 199"/>
              <a:gd name="T66" fmla="*/ 5 w 709"/>
              <a:gd name="T67" fmla="*/ 7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09" h="199">
                <a:moveTo>
                  <a:pt x="709" y="99"/>
                </a:moveTo>
                <a:lnTo>
                  <a:pt x="709" y="86"/>
                </a:lnTo>
                <a:lnTo>
                  <a:pt x="707" y="73"/>
                </a:lnTo>
                <a:lnTo>
                  <a:pt x="707" y="61"/>
                </a:lnTo>
                <a:lnTo>
                  <a:pt x="705" y="48"/>
                </a:lnTo>
                <a:lnTo>
                  <a:pt x="702" y="36"/>
                </a:lnTo>
                <a:lnTo>
                  <a:pt x="701" y="23"/>
                </a:lnTo>
                <a:lnTo>
                  <a:pt x="697" y="11"/>
                </a:lnTo>
                <a:lnTo>
                  <a:pt x="694" y="0"/>
                </a:lnTo>
                <a:lnTo>
                  <a:pt x="689" y="0"/>
                </a:lnTo>
                <a:lnTo>
                  <a:pt x="692" y="11"/>
                </a:lnTo>
                <a:lnTo>
                  <a:pt x="696" y="23"/>
                </a:lnTo>
                <a:lnTo>
                  <a:pt x="699" y="36"/>
                </a:lnTo>
                <a:lnTo>
                  <a:pt x="701" y="48"/>
                </a:lnTo>
                <a:lnTo>
                  <a:pt x="702" y="61"/>
                </a:lnTo>
                <a:lnTo>
                  <a:pt x="702" y="73"/>
                </a:lnTo>
                <a:lnTo>
                  <a:pt x="704" y="86"/>
                </a:lnTo>
                <a:lnTo>
                  <a:pt x="704" y="99"/>
                </a:lnTo>
                <a:lnTo>
                  <a:pt x="704" y="101"/>
                </a:lnTo>
                <a:lnTo>
                  <a:pt x="704" y="102"/>
                </a:lnTo>
                <a:lnTo>
                  <a:pt x="704" y="104"/>
                </a:lnTo>
                <a:lnTo>
                  <a:pt x="704" y="106"/>
                </a:lnTo>
                <a:lnTo>
                  <a:pt x="704" y="107"/>
                </a:lnTo>
                <a:lnTo>
                  <a:pt x="704" y="111"/>
                </a:lnTo>
                <a:lnTo>
                  <a:pt x="704" y="112"/>
                </a:lnTo>
                <a:lnTo>
                  <a:pt x="704" y="114"/>
                </a:lnTo>
                <a:lnTo>
                  <a:pt x="709" y="111"/>
                </a:lnTo>
                <a:lnTo>
                  <a:pt x="709" y="109"/>
                </a:lnTo>
                <a:lnTo>
                  <a:pt x="709" y="107"/>
                </a:lnTo>
                <a:lnTo>
                  <a:pt x="709" y="106"/>
                </a:lnTo>
                <a:lnTo>
                  <a:pt x="709" y="104"/>
                </a:lnTo>
                <a:lnTo>
                  <a:pt x="709" y="102"/>
                </a:lnTo>
                <a:lnTo>
                  <a:pt x="709" y="101"/>
                </a:lnTo>
                <a:lnTo>
                  <a:pt x="709" y="99"/>
                </a:lnTo>
                <a:close/>
                <a:moveTo>
                  <a:pt x="0" y="81"/>
                </a:moveTo>
                <a:lnTo>
                  <a:pt x="0" y="83"/>
                </a:lnTo>
                <a:lnTo>
                  <a:pt x="0" y="84"/>
                </a:lnTo>
                <a:lnTo>
                  <a:pt x="0" y="88"/>
                </a:lnTo>
                <a:lnTo>
                  <a:pt x="0" y="89"/>
                </a:lnTo>
                <a:lnTo>
                  <a:pt x="0" y="93"/>
                </a:lnTo>
                <a:lnTo>
                  <a:pt x="0" y="94"/>
                </a:lnTo>
                <a:lnTo>
                  <a:pt x="0" y="96"/>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6"/>
                </a:lnTo>
                <a:lnTo>
                  <a:pt x="5" y="94"/>
                </a:lnTo>
                <a:lnTo>
                  <a:pt x="5" y="91"/>
                </a:lnTo>
                <a:lnTo>
                  <a:pt x="5" y="89"/>
                </a:lnTo>
                <a:lnTo>
                  <a:pt x="5" y="86"/>
                </a:lnTo>
                <a:lnTo>
                  <a:pt x="5" y="83"/>
                </a:lnTo>
                <a:lnTo>
                  <a:pt x="5" y="81"/>
                </a:lnTo>
                <a:lnTo>
                  <a:pt x="5" y="78"/>
                </a:lnTo>
                <a:lnTo>
                  <a:pt x="0" y="81"/>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71" name="Freeform 1076">
            <a:extLst>
              <a:ext uri="{FF2B5EF4-FFF2-40B4-BE49-F238E27FC236}">
                <a16:creationId xmlns:a16="http://schemas.microsoft.com/office/drawing/2014/main" id="{D889E5B8-9CAE-1055-2C8D-5C2435501B30}"/>
              </a:ext>
            </a:extLst>
          </p:cNvPr>
          <p:cNvSpPr>
            <a:spLocks noEditPoints="1"/>
          </p:cNvSpPr>
          <p:nvPr/>
        </p:nvSpPr>
        <p:spPr bwMode="auto">
          <a:xfrm>
            <a:off x="2355850" y="2403475"/>
            <a:ext cx="1116013" cy="315913"/>
          </a:xfrm>
          <a:custGeom>
            <a:avLst/>
            <a:gdLst>
              <a:gd name="T0" fmla="*/ 703 w 703"/>
              <a:gd name="T1" fmla="*/ 86 h 199"/>
              <a:gd name="T2" fmla="*/ 702 w 703"/>
              <a:gd name="T3" fmla="*/ 61 h 199"/>
              <a:gd name="T4" fmla="*/ 699 w 703"/>
              <a:gd name="T5" fmla="*/ 36 h 199"/>
              <a:gd name="T6" fmla="*/ 694 w 703"/>
              <a:gd name="T7" fmla="*/ 11 h 199"/>
              <a:gd name="T8" fmla="*/ 685 w 703"/>
              <a:gd name="T9" fmla="*/ 0 h 199"/>
              <a:gd name="T10" fmla="*/ 692 w 703"/>
              <a:gd name="T11" fmla="*/ 23 h 199"/>
              <a:gd name="T12" fmla="*/ 695 w 703"/>
              <a:gd name="T13" fmla="*/ 48 h 199"/>
              <a:gd name="T14" fmla="*/ 699 w 703"/>
              <a:gd name="T15" fmla="*/ 73 h 199"/>
              <a:gd name="T16" fmla="*/ 700 w 703"/>
              <a:gd name="T17" fmla="*/ 99 h 199"/>
              <a:gd name="T18" fmla="*/ 699 w 703"/>
              <a:gd name="T19" fmla="*/ 102 h 199"/>
              <a:gd name="T20" fmla="*/ 699 w 703"/>
              <a:gd name="T21" fmla="*/ 107 h 199"/>
              <a:gd name="T22" fmla="*/ 699 w 703"/>
              <a:gd name="T23" fmla="*/ 111 h 199"/>
              <a:gd name="T24" fmla="*/ 699 w 703"/>
              <a:gd name="T25" fmla="*/ 114 h 199"/>
              <a:gd name="T26" fmla="*/ 703 w 703"/>
              <a:gd name="T27" fmla="*/ 111 h 199"/>
              <a:gd name="T28" fmla="*/ 703 w 703"/>
              <a:gd name="T29" fmla="*/ 107 h 199"/>
              <a:gd name="T30" fmla="*/ 703 w 703"/>
              <a:gd name="T31" fmla="*/ 104 h 199"/>
              <a:gd name="T32" fmla="*/ 703 w 703"/>
              <a:gd name="T33" fmla="*/ 101 h 199"/>
              <a:gd name="T34" fmla="*/ 1 w 703"/>
              <a:gd name="T35" fmla="*/ 79 h 199"/>
              <a:gd name="T36" fmla="*/ 0 w 703"/>
              <a:gd name="T37" fmla="*/ 84 h 199"/>
              <a:gd name="T38" fmla="*/ 0 w 703"/>
              <a:gd name="T39" fmla="*/ 89 h 199"/>
              <a:gd name="T40" fmla="*/ 0 w 703"/>
              <a:gd name="T41" fmla="*/ 94 h 199"/>
              <a:gd name="T42" fmla="*/ 0 w 703"/>
              <a:gd name="T43" fmla="*/ 99 h 199"/>
              <a:gd name="T44" fmla="*/ 1 w 703"/>
              <a:gd name="T45" fmla="*/ 124 h 199"/>
              <a:gd name="T46" fmla="*/ 3 w 703"/>
              <a:gd name="T47" fmla="*/ 151 h 199"/>
              <a:gd name="T48" fmla="*/ 8 w 703"/>
              <a:gd name="T49" fmla="*/ 174 h 199"/>
              <a:gd name="T50" fmla="*/ 15 w 703"/>
              <a:gd name="T51" fmla="*/ 199 h 199"/>
              <a:gd name="T52" fmla="*/ 16 w 703"/>
              <a:gd name="T53" fmla="*/ 187 h 199"/>
              <a:gd name="T54" fmla="*/ 11 w 703"/>
              <a:gd name="T55" fmla="*/ 162 h 199"/>
              <a:gd name="T56" fmla="*/ 6 w 703"/>
              <a:gd name="T57" fmla="*/ 137 h 199"/>
              <a:gd name="T58" fmla="*/ 5 w 703"/>
              <a:gd name="T59" fmla="*/ 112 h 199"/>
              <a:gd name="T60" fmla="*/ 5 w 703"/>
              <a:gd name="T61" fmla="*/ 96 h 199"/>
              <a:gd name="T62" fmla="*/ 5 w 703"/>
              <a:gd name="T63" fmla="*/ 91 h 199"/>
              <a:gd name="T64" fmla="*/ 5 w 703"/>
              <a:gd name="T65" fmla="*/ 86 h 199"/>
              <a:gd name="T66" fmla="*/ 6 w 703"/>
              <a:gd name="T67" fmla="*/ 79 h 199"/>
              <a:gd name="T68" fmla="*/ 1 w 703"/>
              <a:gd name="T69" fmla="*/ 7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3" h="199">
                <a:moveTo>
                  <a:pt x="703" y="99"/>
                </a:moveTo>
                <a:lnTo>
                  <a:pt x="703" y="86"/>
                </a:lnTo>
                <a:lnTo>
                  <a:pt x="703" y="73"/>
                </a:lnTo>
                <a:lnTo>
                  <a:pt x="702" y="61"/>
                </a:lnTo>
                <a:lnTo>
                  <a:pt x="700" y="48"/>
                </a:lnTo>
                <a:lnTo>
                  <a:pt x="699" y="36"/>
                </a:lnTo>
                <a:lnTo>
                  <a:pt x="695" y="23"/>
                </a:lnTo>
                <a:lnTo>
                  <a:pt x="694" y="11"/>
                </a:lnTo>
                <a:lnTo>
                  <a:pt x="690" y="0"/>
                </a:lnTo>
                <a:lnTo>
                  <a:pt x="685" y="0"/>
                </a:lnTo>
                <a:lnTo>
                  <a:pt x="689" y="11"/>
                </a:lnTo>
                <a:lnTo>
                  <a:pt x="692" y="23"/>
                </a:lnTo>
                <a:lnTo>
                  <a:pt x="694" y="36"/>
                </a:lnTo>
                <a:lnTo>
                  <a:pt x="695" y="48"/>
                </a:lnTo>
                <a:lnTo>
                  <a:pt x="697" y="61"/>
                </a:lnTo>
                <a:lnTo>
                  <a:pt x="699" y="73"/>
                </a:lnTo>
                <a:lnTo>
                  <a:pt x="699" y="86"/>
                </a:lnTo>
                <a:lnTo>
                  <a:pt x="700" y="99"/>
                </a:lnTo>
                <a:lnTo>
                  <a:pt x="700" y="101"/>
                </a:lnTo>
                <a:lnTo>
                  <a:pt x="699" y="102"/>
                </a:lnTo>
                <a:lnTo>
                  <a:pt x="699" y="104"/>
                </a:lnTo>
                <a:lnTo>
                  <a:pt x="699" y="107"/>
                </a:lnTo>
                <a:lnTo>
                  <a:pt x="699" y="109"/>
                </a:lnTo>
                <a:lnTo>
                  <a:pt x="699" y="111"/>
                </a:lnTo>
                <a:lnTo>
                  <a:pt x="699" y="112"/>
                </a:lnTo>
                <a:lnTo>
                  <a:pt x="699" y="114"/>
                </a:lnTo>
                <a:lnTo>
                  <a:pt x="703" y="112"/>
                </a:lnTo>
                <a:lnTo>
                  <a:pt x="703" y="111"/>
                </a:lnTo>
                <a:lnTo>
                  <a:pt x="703" y="109"/>
                </a:lnTo>
                <a:lnTo>
                  <a:pt x="703" y="107"/>
                </a:lnTo>
                <a:lnTo>
                  <a:pt x="703" y="106"/>
                </a:lnTo>
                <a:lnTo>
                  <a:pt x="703" y="104"/>
                </a:lnTo>
                <a:lnTo>
                  <a:pt x="703" y="102"/>
                </a:lnTo>
                <a:lnTo>
                  <a:pt x="703" y="101"/>
                </a:lnTo>
                <a:lnTo>
                  <a:pt x="703" y="99"/>
                </a:lnTo>
                <a:close/>
                <a:moveTo>
                  <a:pt x="1" y="79"/>
                </a:moveTo>
                <a:lnTo>
                  <a:pt x="1" y="81"/>
                </a:lnTo>
                <a:lnTo>
                  <a:pt x="0" y="84"/>
                </a:lnTo>
                <a:lnTo>
                  <a:pt x="0" y="86"/>
                </a:lnTo>
                <a:lnTo>
                  <a:pt x="0" y="89"/>
                </a:lnTo>
                <a:lnTo>
                  <a:pt x="0" y="91"/>
                </a:lnTo>
                <a:lnTo>
                  <a:pt x="0" y="94"/>
                </a:lnTo>
                <a:lnTo>
                  <a:pt x="0" y="96"/>
                </a:lnTo>
                <a:lnTo>
                  <a:pt x="0" y="99"/>
                </a:lnTo>
                <a:lnTo>
                  <a:pt x="0" y="112"/>
                </a:lnTo>
                <a:lnTo>
                  <a:pt x="1" y="124"/>
                </a:lnTo>
                <a:lnTo>
                  <a:pt x="3" y="137"/>
                </a:lnTo>
                <a:lnTo>
                  <a:pt x="3" y="151"/>
                </a:lnTo>
                <a:lnTo>
                  <a:pt x="6" y="162"/>
                </a:lnTo>
                <a:lnTo>
                  <a:pt x="8" y="174"/>
                </a:lnTo>
                <a:lnTo>
                  <a:pt x="11" y="187"/>
                </a:lnTo>
                <a:lnTo>
                  <a:pt x="15" y="199"/>
                </a:lnTo>
                <a:lnTo>
                  <a:pt x="20" y="199"/>
                </a:lnTo>
                <a:lnTo>
                  <a:pt x="16" y="187"/>
                </a:lnTo>
                <a:lnTo>
                  <a:pt x="13" y="174"/>
                </a:lnTo>
                <a:lnTo>
                  <a:pt x="11" y="162"/>
                </a:lnTo>
                <a:lnTo>
                  <a:pt x="8" y="151"/>
                </a:lnTo>
                <a:lnTo>
                  <a:pt x="6" y="137"/>
                </a:lnTo>
                <a:lnTo>
                  <a:pt x="6" y="124"/>
                </a:lnTo>
                <a:lnTo>
                  <a:pt x="5" y="112"/>
                </a:lnTo>
                <a:lnTo>
                  <a:pt x="5" y="99"/>
                </a:lnTo>
                <a:lnTo>
                  <a:pt x="5" y="96"/>
                </a:lnTo>
                <a:lnTo>
                  <a:pt x="5" y="94"/>
                </a:lnTo>
                <a:lnTo>
                  <a:pt x="5" y="91"/>
                </a:lnTo>
                <a:lnTo>
                  <a:pt x="5" y="88"/>
                </a:lnTo>
                <a:lnTo>
                  <a:pt x="5" y="86"/>
                </a:lnTo>
                <a:lnTo>
                  <a:pt x="5" y="83"/>
                </a:lnTo>
                <a:lnTo>
                  <a:pt x="6" y="79"/>
                </a:lnTo>
                <a:lnTo>
                  <a:pt x="6" y="78"/>
                </a:lnTo>
                <a:lnTo>
                  <a:pt x="1" y="79"/>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72" name="Freeform 1077">
            <a:extLst>
              <a:ext uri="{FF2B5EF4-FFF2-40B4-BE49-F238E27FC236}">
                <a16:creationId xmlns:a16="http://schemas.microsoft.com/office/drawing/2014/main" id="{D6868B2F-1CB9-774C-D4EE-C037EB2ECD01}"/>
              </a:ext>
            </a:extLst>
          </p:cNvPr>
          <p:cNvSpPr>
            <a:spLocks noEditPoints="1"/>
          </p:cNvSpPr>
          <p:nvPr/>
        </p:nvSpPr>
        <p:spPr bwMode="auto">
          <a:xfrm>
            <a:off x="2360613" y="2403475"/>
            <a:ext cx="1109663" cy="315913"/>
          </a:xfrm>
          <a:custGeom>
            <a:avLst/>
            <a:gdLst>
              <a:gd name="T0" fmla="*/ 699 w 699"/>
              <a:gd name="T1" fmla="*/ 86 h 199"/>
              <a:gd name="T2" fmla="*/ 697 w 699"/>
              <a:gd name="T3" fmla="*/ 61 h 199"/>
              <a:gd name="T4" fmla="*/ 694 w 699"/>
              <a:gd name="T5" fmla="*/ 36 h 199"/>
              <a:gd name="T6" fmla="*/ 687 w 699"/>
              <a:gd name="T7" fmla="*/ 11 h 199"/>
              <a:gd name="T8" fmla="*/ 679 w 699"/>
              <a:gd name="T9" fmla="*/ 0 h 199"/>
              <a:gd name="T10" fmla="*/ 686 w 699"/>
              <a:gd name="T11" fmla="*/ 23 h 199"/>
              <a:gd name="T12" fmla="*/ 691 w 699"/>
              <a:gd name="T13" fmla="*/ 48 h 199"/>
              <a:gd name="T14" fmla="*/ 692 w 699"/>
              <a:gd name="T15" fmla="*/ 73 h 199"/>
              <a:gd name="T16" fmla="*/ 694 w 699"/>
              <a:gd name="T17" fmla="*/ 99 h 199"/>
              <a:gd name="T18" fmla="*/ 694 w 699"/>
              <a:gd name="T19" fmla="*/ 102 h 199"/>
              <a:gd name="T20" fmla="*/ 694 w 699"/>
              <a:gd name="T21" fmla="*/ 107 h 199"/>
              <a:gd name="T22" fmla="*/ 694 w 699"/>
              <a:gd name="T23" fmla="*/ 112 h 199"/>
              <a:gd name="T24" fmla="*/ 694 w 699"/>
              <a:gd name="T25" fmla="*/ 116 h 199"/>
              <a:gd name="T26" fmla="*/ 699 w 699"/>
              <a:gd name="T27" fmla="*/ 112 h 199"/>
              <a:gd name="T28" fmla="*/ 699 w 699"/>
              <a:gd name="T29" fmla="*/ 107 h 199"/>
              <a:gd name="T30" fmla="*/ 699 w 699"/>
              <a:gd name="T31" fmla="*/ 104 h 199"/>
              <a:gd name="T32" fmla="*/ 699 w 699"/>
              <a:gd name="T33" fmla="*/ 101 h 199"/>
              <a:gd name="T34" fmla="*/ 0 w 699"/>
              <a:gd name="T35" fmla="*/ 78 h 199"/>
              <a:gd name="T36" fmla="*/ 0 w 699"/>
              <a:gd name="T37" fmla="*/ 83 h 199"/>
              <a:gd name="T38" fmla="*/ 0 w 699"/>
              <a:gd name="T39" fmla="*/ 89 h 199"/>
              <a:gd name="T40" fmla="*/ 0 w 699"/>
              <a:gd name="T41" fmla="*/ 94 h 199"/>
              <a:gd name="T42" fmla="*/ 0 w 699"/>
              <a:gd name="T43" fmla="*/ 99 h 199"/>
              <a:gd name="T44" fmla="*/ 0 w 699"/>
              <a:gd name="T45" fmla="*/ 124 h 199"/>
              <a:gd name="T46" fmla="*/ 3 w 699"/>
              <a:gd name="T47" fmla="*/ 151 h 199"/>
              <a:gd name="T48" fmla="*/ 8 w 699"/>
              <a:gd name="T49" fmla="*/ 174 h 199"/>
              <a:gd name="T50" fmla="*/ 13 w 699"/>
              <a:gd name="T51" fmla="*/ 199 h 199"/>
              <a:gd name="T52" fmla="*/ 15 w 699"/>
              <a:gd name="T53" fmla="*/ 187 h 199"/>
              <a:gd name="T54" fmla="*/ 10 w 699"/>
              <a:gd name="T55" fmla="*/ 162 h 199"/>
              <a:gd name="T56" fmla="*/ 7 w 699"/>
              <a:gd name="T57" fmla="*/ 137 h 199"/>
              <a:gd name="T58" fmla="*/ 5 w 699"/>
              <a:gd name="T59" fmla="*/ 112 h 199"/>
              <a:gd name="T60" fmla="*/ 5 w 699"/>
              <a:gd name="T61" fmla="*/ 96 h 199"/>
              <a:gd name="T62" fmla="*/ 5 w 699"/>
              <a:gd name="T63" fmla="*/ 91 h 199"/>
              <a:gd name="T64" fmla="*/ 5 w 699"/>
              <a:gd name="T65" fmla="*/ 84 h 199"/>
              <a:gd name="T66" fmla="*/ 5 w 699"/>
              <a:gd name="T67" fmla="*/ 79 h 199"/>
              <a:gd name="T68" fmla="*/ 0 w 699"/>
              <a:gd name="T69" fmla="*/ 7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9" h="199">
                <a:moveTo>
                  <a:pt x="699" y="99"/>
                </a:moveTo>
                <a:lnTo>
                  <a:pt x="699" y="86"/>
                </a:lnTo>
                <a:lnTo>
                  <a:pt x="697" y="73"/>
                </a:lnTo>
                <a:lnTo>
                  <a:pt x="697" y="61"/>
                </a:lnTo>
                <a:lnTo>
                  <a:pt x="696" y="48"/>
                </a:lnTo>
                <a:lnTo>
                  <a:pt x="694" y="36"/>
                </a:lnTo>
                <a:lnTo>
                  <a:pt x="691" y="23"/>
                </a:lnTo>
                <a:lnTo>
                  <a:pt x="687" y="11"/>
                </a:lnTo>
                <a:lnTo>
                  <a:pt x="684" y="0"/>
                </a:lnTo>
                <a:lnTo>
                  <a:pt x="679" y="0"/>
                </a:lnTo>
                <a:lnTo>
                  <a:pt x="682" y="11"/>
                </a:lnTo>
                <a:lnTo>
                  <a:pt x="686" y="23"/>
                </a:lnTo>
                <a:lnTo>
                  <a:pt x="689" y="36"/>
                </a:lnTo>
                <a:lnTo>
                  <a:pt x="691" y="48"/>
                </a:lnTo>
                <a:lnTo>
                  <a:pt x="692" y="61"/>
                </a:lnTo>
                <a:lnTo>
                  <a:pt x="692" y="73"/>
                </a:lnTo>
                <a:lnTo>
                  <a:pt x="694" y="86"/>
                </a:lnTo>
                <a:lnTo>
                  <a:pt x="694" y="99"/>
                </a:lnTo>
                <a:lnTo>
                  <a:pt x="694" y="101"/>
                </a:lnTo>
                <a:lnTo>
                  <a:pt x="694" y="102"/>
                </a:lnTo>
                <a:lnTo>
                  <a:pt x="694" y="106"/>
                </a:lnTo>
                <a:lnTo>
                  <a:pt x="694" y="107"/>
                </a:lnTo>
                <a:lnTo>
                  <a:pt x="694" y="109"/>
                </a:lnTo>
                <a:lnTo>
                  <a:pt x="694" y="112"/>
                </a:lnTo>
                <a:lnTo>
                  <a:pt x="694" y="114"/>
                </a:lnTo>
                <a:lnTo>
                  <a:pt x="694" y="116"/>
                </a:lnTo>
                <a:lnTo>
                  <a:pt x="699" y="114"/>
                </a:lnTo>
                <a:lnTo>
                  <a:pt x="699" y="112"/>
                </a:lnTo>
                <a:lnTo>
                  <a:pt x="699" y="111"/>
                </a:lnTo>
                <a:lnTo>
                  <a:pt x="699" y="107"/>
                </a:lnTo>
                <a:lnTo>
                  <a:pt x="699" y="106"/>
                </a:lnTo>
                <a:lnTo>
                  <a:pt x="699" y="104"/>
                </a:lnTo>
                <a:lnTo>
                  <a:pt x="699" y="102"/>
                </a:lnTo>
                <a:lnTo>
                  <a:pt x="699" y="101"/>
                </a:lnTo>
                <a:lnTo>
                  <a:pt x="699" y="99"/>
                </a:lnTo>
                <a:close/>
                <a:moveTo>
                  <a:pt x="0" y="78"/>
                </a:moveTo>
                <a:lnTo>
                  <a:pt x="0" y="81"/>
                </a:lnTo>
                <a:lnTo>
                  <a:pt x="0" y="83"/>
                </a:lnTo>
                <a:lnTo>
                  <a:pt x="0" y="86"/>
                </a:lnTo>
                <a:lnTo>
                  <a:pt x="0" y="89"/>
                </a:lnTo>
                <a:lnTo>
                  <a:pt x="0" y="91"/>
                </a:lnTo>
                <a:lnTo>
                  <a:pt x="0" y="94"/>
                </a:lnTo>
                <a:lnTo>
                  <a:pt x="0" y="96"/>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6"/>
                </a:lnTo>
                <a:lnTo>
                  <a:pt x="5" y="93"/>
                </a:lnTo>
                <a:lnTo>
                  <a:pt x="5" y="91"/>
                </a:lnTo>
                <a:lnTo>
                  <a:pt x="5" y="88"/>
                </a:lnTo>
                <a:lnTo>
                  <a:pt x="5" y="84"/>
                </a:lnTo>
                <a:lnTo>
                  <a:pt x="5" y="81"/>
                </a:lnTo>
                <a:lnTo>
                  <a:pt x="5" y="79"/>
                </a:lnTo>
                <a:lnTo>
                  <a:pt x="5" y="76"/>
                </a:lnTo>
                <a:lnTo>
                  <a:pt x="0" y="78"/>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73" name="Freeform 1078">
            <a:extLst>
              <a:ext uri="{FF2B5EF4-FFF2-40B4-BE49-F238E27FC236}">
                <a16:creationId xmlns:a16="http://schemas.microsoft.com/office/drawing/2014/main" id="{AB289B29-D5CB-AEE2-5A6F-916887E6C2FE}"/>
              </a:ext>
            </a:extLst>
          </p:cNvPr>
          <p:cNvSpPr>
            <a:spLocks noEditPoints="1"/>
          </p:cNvSpPr>
          <p:nvPr/>
        </p:nvSpPr>
        <p:spPr bwMode="auto">
          <a:xfrm>
            <a:off x="2363788" y="2403475"/>
            <a:ext cx="1103313" cy="315913"/>
          </a:xfrm>
          <a:custGeom>
            <a:avLst/>
            <a:gdLst>
              <a:gd name="T0" fmla="*/ 694 w 695"/>
              <a:gd name="T1" fmla="*/ 86 h 199"/>
              <a:gd name="T2" fmla="*/ 692 w 695"/>
              <a:gd name="T3" fmla="*/ 61 h 199"/>
              <a:gd name="T4" fmla="*/ 689 w 695"/>
              <a:gd name="T5" fmla="*/ 36 h 199"/>
              <a:gd name="T6" fmla="*/ 684 w 695"/>
              <a:gd name="T7" fmla="*/ 11 h 199"/>
              <a:gd name="T8" fmla="*/ 675 w 695"/>
              <a:gd name="T9" fmla="*/ 0 h 199"/>
              <a:gd name="T10" fmla="*/ 682 w 695"/>
              <a:gd name="T11" fmla="*/ 23 h 199"/>
              <a:gd name="T12" fmla="*/ 685 w 695"/>
              <a:gd name="T13" fmla="*/ 48 h 199"/>
              <a:gd name="T14" fmla="*/ 689 w 695"/>
              <a:gd name="T15" fmla="*/ 73 h 199"/>
              <a:gd name="T16" fmla="*/ 690 w 695"/>
              <a:gd name="T17" fmla="*/ 99 h 199"/>
              <a:gd name="T18" fmla="*/ 690 w 695"/>
              <a:gd name="T19" fmla="*/ 104 h 199"/>
              <a:gd name="T20" fmla="*/ 690 w 695"/>
              <a:gd name="T21" fmla="*/ 107 h 199"/>
              <a:gd name="T22" fmla="*/ 689 w 695"/>
              <a:gd name="T23" fmla="*/ 112 h 199"/>
              <a:gd name="T24" fmla="*/ 689 w 695"/>
              <a:gd name="T25" fmla="*/ 117 h 199"/>
              <a:gd name="T26" fmla="*/ 694 w 695"/>
              <a:gd name="T27" fmla="*/ 112 h 199"/>
              <a:gd name="T28" fmla="*/ 694 w 695"/>
              <a:gd name="T29" fmla="*/ 109 h 199"/>
              <a:gd name="T30" fmla="*/ 694 w 695"/>
              <a:gd name="T31" fmla="*/ 104 h 199"/>
              <a:gd name="T32" fmla="*/ 695 w 695"/>
              <a:gd name="T33" fmla="*/ 101 h 199"/>
              <a:gd name="T34" fmla="*/ 1 w 695"/>
              <a:gd name="T35" fmla="*/ 78 h 199"/>
              <a:gd name="T36" fmla="*/ 0 w 695"/>
              <a:gd name="T37" fmla="*/ 83 h 199"/>
              <a:gd name="T38" fmla="*/ 0 w 695"/>
              <a:gd name="T39" fmla="*/ 88 h 199"/>
              <a:gd name="T40" fmla="*/ 0 w 695"/>
              <a:gd name="T41" fmla="*/ 94 h 199"/>
              <a:gd name="T42" fmla="*/ 0 w 695"/>
              <a:gd name="T43" fmla="*/ 99 h 199"/>
              <a:gd name="T44" fmla="*/ 1 w 695"/>
              <a:gd name="T45" fmla="*/ 124 h 199"/>
              <a:gd name="T46" fmla="*/ 3 w 695"/>
              <a:gd name="T47" fmla="*/ 151 h 199"/>
              <a:gd name="T48" fmla="*/ 8 w 695"/>
              <a:gd name="T49" fmla="*/ 174 h 199"/>
              <a:gd name="T50" fmla="*/ 15 w 695"/>
              <a:gd name="T51" fmla="*/ 199 h 199"/>
              <a:gd name="T52" fmla="*/ 16 w 695"/>
              <a:gd name="T53" fmla="*/ 187 h 199"/>
              <a:gd name="T54" fmla="*/ 11 w 695"/>
              <a:gd name="T55" fmla="*/ 162 h 199"/>
              <a:gd name="T56" fmla="*/ 6 w 695"/>
              <a:gd name="T57" fmla="*/ 137 h 199"/>
              <a:gd name="T58" fmla="*/ 5 w 695"/>
              <a:gd name="T59" fmla="*/ 112 h 199"/>
              <a:gd name="T60" fmla="*/ 5 w 695"/>
              <a:gd name="T61" fmla="*/ 96 h 199"/>
              <a:gd name="T62" fmla="*/ 5 w 695"/>
              <a:gd name="T63" fmla="*/ 89 h 199"/>
              <a:gd name="T64" fmla="*/ 5 w 695"/>
              <a:gd name="T65" fmla="*/ 84 h 199"/>
              <a:gd name="T66" fmla="*/ 5 w 695"/>
              <a:gd name="T67" fmla="*/ 78 h 199"/>
              <a:gd name="T68" fmla="*/ 1 w 695"/>
              <a:gd name="T69" fmla="*/ 7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5" h="199">
                <a:moveTo>
                  <a:pt x="695" y="99"/>
                </a:moveTo>
                <a:lnTo>
                  <a:pt x="694" y="86"/>
                </a:lnTo>
                <a:lnTo>
                  <a:pt x="694" y="73"/>
                </a:lnTo>
                <a:lnTo>
                  <a:pt x="692" y="61"/>
                </a:lnTo>
                <a:lnTo>
                  <a:pt x="690" y="48"/>
                </a:lnTo>
                <a:lnTo>
                  <a:pt x="689" y="36"/>
                </a:lnTo>
                <a:lnTo>
                  <a:pt x="687" y="23"/>
                </a:lnTo>
                <a:lnTo>
                  <a:pt x="684" y="11"/>
                </a:lnTo>
                <a:lnTo>
                  <a:pt x="680" y="0"/>
                </a:lnTo>
                <a:lnTo>
                  <a:pt x="675" y="0"/>
                </a:lnTo>
                <a:lnTo>
                  <a:pt x="679" y="11"/>
                </a:lnTo>
                <a:lnTo>
                  <a:pt x="682" y="23"/>
                </a:lnTo>
                <a:lnTo>
                  <a:pt x="684" y="36"/>
                </a:lnTo>
                <a:lnTo>
                  <a:pt x="685" y="48"/>
                </a:lnTo>
                <a:lnTo>
                  <a:pt x="687" y="61"/>
                </a:lnTo>
                <a:lnTo>
                  <a:pt x="689" y="73"/>
                </a:lnTo>
                <a:lnTo>
                  <a:pt x="689" y="86"/>
                </a:lnTo>
                <a:lnTo>
                  <a:pt x="690" y="99"/>
                </a:lnTo>
                <a:lnTo>
                  <a:pt x="690" y="101"/>
                </a:lnTo>
                <a:lnTo>
                  <a:pt x="690" y="104"/>
                </a:lnTo>
                <a:lnTo>
                  <a:pt x="690" y="106"/>
                </a:lnTo>
                <a:lnTo>
                  <a:pt x="690" y="107"/>
                </a:lnTo>
                <a:lnTo>
                  <a:pt x="690" y="111"/>
                </a:lnTo>
                <a:lnTo>
                  <a:pt x="689" y="112"/>
                </a:lnTo>
                <a:lnTo>
                  <a:pt x="689" y="114"/>
                </a:lnTo>
                <a:lnTo>
                  <a:pt x="689" y="117"/>
                </a:lnTo>
                <a:lnTo>
                  <a:pt x="694" y="114"/>
                </a:lnTo>
                <a:lnTo>
                  <a:pt x="694" y="112"/>
                </a:lnTo>
                <a:lnTo>
                  <a:pt x="694" y="111"/>
                </a:lnTo>
                <a:lnTo>
                  <a:pt x="694" y="109"/>
                </a:lnTo>
                <a:lnTo>
                  <a:pt x="694" y="107"/>
                </a:lnTo>
                <a:lnTo>
                  <a:pt x="694" y="104"/>
                </a:lnTo>
                <a:lnTo>
                  <a:pt x="694" y="102"/>
                </a:lnTo>
                <a:lnTo>
                  <a:pt x="695" y="101"/>
                </a:lnTo>
                <a:lnTo>
                  <a:pt x="695" y="99"/>
                </a:lnTo>
                <a:close/>
                <a:moveTo>
                  <a:pt x="1" y="78"/>
                </a:moveTo>
                <a:lnTo>
                  <a:pt x="1" y="79"/>
                </a:lnTo>
                <a:lnTo>
                  <a:pt x="0" y="83"/>
                </a:lnTo>
                <a:lnTo>
                  <a:pt x="0" y="86"/>
                </a:lnTo>
                <a:lnTo>
                  <a:pt x="0" y="88"/>
                </a:lnTo>
                <a:lnTo>
                  <a:pt x="0" y="91"/>
                </a:lnTo>
                <a:lnTo>
                  <a:pt x="0" y="94"/>
                </a:lnTo>
                <a:lnTo>
                  <a:pt x="0" y="96"/>
                </a:lnTo>
                <a:lnTo>
                  <a:pt x="0" y="99"/>
                </a:lnTo>
                <a:lnTo>
                  <a:pt x="0" y="112"/>
                </a:lnTo>
                <a:lnTo>
                  <a:pt x="1" y="124"/>
                </a:lnTo>
                <a:lnTo>
                  <a:pt x="1" y="137"/>
                </a:lnTo>
                <a:lnTo>
                  <a:pt x="3" y="151"/>
                </a:lnTo>
                <a:lnTo>
                  <a:pt x="6" y="162"/>
                </a:lnTo>
                <a:lnTo>
                  <a:pt x="8" y="174"/>
                </a:lnTo>
                <a:lnTo>
                  <a:pt x="11" y="187"/>
                </a:lnTo>
                <a:lnTo>
                  <a:pt x="15" y="199"/>
                </a:lnTo>
                <a:lnTo>
                  <a:pt x="20" y="199"/>
                </a:lnTo>
                <a:lnTo>
                  <a:pt x="16" y="187"/>
                </a:lnTo>
                <a:lnTo>
                  <a:pt x="13" y="174"/>
                </a:lnTo>
                <a:lnTo>
                  <a:pt x="11" y="162"/>
                </a:lnTo>
                <a:lnTo>
                  <a:pt x="8" y="151"/>
                </a:lnTo>
                <a:lnTo>
                  <a:pt x="6" y="137"/>
                </a:lnTo>
                <a:lnTo>
                  <a:pt x="6" y="124"/>
                </a:lnTo>
                <a:lnTo>
                  <a:pt x="5" y="112"/>
                </a:lnTo>
                <a:lnTo>
                  <a:pt x="5" y="99"/>
                </a:lnTo>
                <a:lnTo>
                  <a:pt x="5" y="96"/>
                </a:lnTo>
                <a:lnTo>
                  <a:pt x="5" y="93"/>
                </a:lnTo>
                <a:lnTo>
                  <a:pt x="5" y="89"/>
                </a:lnTo>
                <a:lnTo>
                  <a:pt x="5" y="88"/>
                </a:lnTo>
                <a:lnTo>
                  <a:pt x="5" y="84"/>
                </a:lnTo>
                <a:lnTo>
                  <a:pt x="5" y="81"/>
                </a:lnTo>
                <a:lnTo>
                  <a:pt x="5" y="78"/>
                </a:lnTo>
                <a:lnTo>
                  <a:pt x="6" y="74"/>
                </a:lnTo>
                <a:lnTo>
                  <a:pt x="1" y="78"/>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74" name="Freeform 1079">
            <a:extLst>
              <a:ext uri="{FF2B5EF4-FFF2-40B4-BE49-F238E27FC236}">
                <a16:creationId xmlns:a16="http://schemas.microsoft.com/office/drawing/2014/main" id="{FE3F483B-8F63-506C-DB98-5D141523CC36}"/>
              </a:ext>
            </a:extLst>
          </p:cNvPr>
          <p:cNvSpPr>
            <a:spLocks noEditPoints="1"/>
          </p:cNvSpPr>
          <p:nvPr/>
        </p:nvSpPr>
        <p:spPr bwMode="auto">
          <a:xfrm>
            <a:off x="2368550" y="2403475"/>
            <a:ext cx="1093788" cy="315913"/>
          </a:xfrm>
          <a:custGeom>
            <a:avLst/>
            <a:gdLst>
              <a:gd name="T0" fmla="*/ 689 w 689"/>
              <a:gd name="T1" fmla="*/ 86 h 199"/>
              <a:gd name="T2" fmla="*/ 687 w 689"/>
              <a:gd name="T3" fmla="*/ 61 h 199"/>
              <a:gd name="T4" fmla="*/ 684 w 689"/>
              <a:gd name="T5" fmla="*/ 36 h 199"/>
              <a:gd name="T6" fmla="*/ 677 w 689"/>
              <a:gd name="T7" fmla="*/ 11 h 199"/>
              <a:gd name="T8" fmla="*/ 669 w 689"/>
              <a:gd name="T9" fmla="*/ 0 h 199"/>
              <a:gd name="T10" fmla="*/ 676 w 689"/>
              <a:gd name="T11" fmla="*/ 23 h 199"/>
              <a:gd name="T12" fmla="*/ 681 w 689"/>
              <a:gd name="T13" fmla="*/ 48 h 199"/>
              <a:gd name="T14" fmla="*/ 684 w 689"/>
              <a:gd name="T15" fmla="*/ 73 h 199"/>
              <a:gd name="T16" fmla="*/ 684 w 689"/>
              <a:gd name="T17" fmla="*/ 99 h 199"/>
              <a:gd name="T18" fmla="*/ 684 w 689"/>
              <a:gd name="T19" fmla="*/ 104 h 199"/>
              <a:gd name="T20" fmla="*/ 684 w 689"/>
              <a:gd name="T21" fmla="*/ 109 h 199"/>
              <a:gd name="T22" fmla="*/ 684 w 689"/>
              <a:gd name="T23" fmla="*/ 114 h 199"/>
              <a:gd name="T24" fmla="*/ 684 w 689"/>
              <a:gd name="T25" fmla="*/ 117 h 199"/>
              <a:gd name="T26" fmla="*/ 689 w 689"/>
              <a:gd name="T27" fmla="*/ 114 h 199"/>
              <a:gd name="T28" fmla="*/ 689 w 689"/>
              <a:gd name="T29" fmla="*/ 109 h 199"/>
              <a:gd name="T30" fmla="*/ 689 w 689"/>
              <a:gd name="T31" fmla="*/ 106 h 199"/>
              <a:gd name="T32" fmla="*/ 689 w 689"/>
              <a:gd name="T33" fmla="*/ 101 h 199"/>
              <a:gd name="T34" fmla="*/ 0 w 689"/>
              <a:gd name="T35" fmla="*/ 76 h 199"/>
              <a:gd name="T36" fmla="*/ 0 w 689"/>
              <a:gd name="T37" fmla="*/ 81 h 199"/>
              <a:gd name="T38" fmla="*/ 0 w 689"/>
              <a:gd name="T39" fmla="*/ 88 h 199"/>
              <a:gd name="T40" fmla="*/ 0 w 689"/>
              <a:gd name="T41" fmla="*/ 93 h 199"/>
              <a:gd name="T42" fmla="*/ 0 w 689"/>
              <a:gd name="T43" fmla="*/ 99 h 199"/>
              <a:gd name="T44" fmla="*/ 0 w 689"/>
              <a:gd name="T45" fmla="*/ 124 h 199"/>
              <a:gd name="T46" fmla="*/ 3 w 689"/>
              <a:gd name="T47" fmla="*/ 151 h 199"/>
              <a:gd name="T48" fmla="*/ 8 w 689"/>
              <a:gd name="T49" fmla="*/ 174 h 199"/>
              <a:gd name="T50" fmla="*/ 13 w 689"/>
              <a:gd name="T51" fmla="*/ 199 h 199"/>
              <a:gd name="T52" fmla="*/ 15 w 689"/>
              <a:gd name="T53" fmla="*/ 187 h 199"/>
              <a:gd name="T54" fmla="*/ 10 w 689"/>
              <a:gd name="T55" fmla="*/ 162 h 199"/>
              <a:gd name="T56" fmla="*/ 7 w 689"/>
              <a:gd name="T57" fmla="*/ 137 h 199"/>
              <a:gd name="T58" fmla="*/ 5 w 689"/>
              <a:gd name="T59" fmla="*/ 112 h 199"/>
              <a:gd name="T60" fmla="*/ 5 w 689"/>
              <a:gd name="T61" fmla="*/ 96 h 199"/>
              <a:gd name="T62" fmla="*/ 5 w 689"/>
              <a:gd name="T63" fmla="*/ 89 h 199"/>
              <a:gd name="T64" fmla="*/ 5 w 689"/>
              <a:gd name="T65" fmla="*/ 83 h 199"/>
              <a:gd name="T66" fmla="*/ 5 w 689"/>
              <a:gd name="T67" fmla="*/ 76 h 199"/>
              <a:gd name="T68" fmla="*/ 0 w 689"/>
              <a:gd name="T69" fmla="*/ 7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9" h="199">
                <a:moveTo>
                  <a:pt x="689" y="99"/>
                </a:moveTo>
                <a:lnTo>
                  <a:pt x="689" y="86"/>
                </a:lnTo>
                <a:lnTo>
                  <a:pt x="687" y="73"/>
                </a:lnTo>
                <a:lnTo>
                  <a:pt x="687" y="61"/>
                </a:lnTo>
                <a:lnTo>
                  <a:pt x="686" y="48"/>
                </a:lnTo>
                <a:lnTo>
                  <a:pt x="684" y="36"/>
                </a:lnTo>
                <a:lnTo>
                  <a:pt x="681" y="23"/>
                </a:lnTo>
                <a:lnTo>
                  <a:pt x="677" y="11"/>
                </a:lnTo>
                <a:lnTo>
                  <a:pt x="674" y="0"/>
                </a:lnTo>
                <a:lnTo>
                  <a:pt x="669" y="0"/>
                </a:lnTo>
                <a:lnTo>
                  <a:pt x="672" y="11"/>
                </a:lnTo>
                <a:lnTo>
                  <a:pt x="676" y="23"/>
                </a:lnTo>
                <a:lnTo>
                  <a:pt x="679" y="36"/>
                </a:lnTo>
                <a:lnTo>
                  <a:pt x="681" y="48"/>
                </a:lnTo>
                <a:lnTo>
                  <a:pt x="682" y="61"/>
                </a:lnTo>
                <a:lnTo>
                  <a:pt x="684" y="73"/>
                </a:lnTo>
                <a:lnTo>
                  <a:pt x="684" y="86"/>
                </a:lnTo>
                <a:lnTo>
                  <a:pt x="684" y="99"/>
                </a:lnTo>
                <a:lnTo>
                  <a:pt x="684" y="101"/>
                </a:lnTo>
                <a:lnTo>
                  <a:pt x="684" y="104"/>
                </a:lnTo>
                <a:lnTo>
                  <a:pt x="684" y="106"/>
                </a:lnTo>
                <a:lnTo>
                  <a:pt x="684" y="109"/>
                </a:lnTo>
                <a:lnTo>
                  <a:pt x="684" y="111"/>
                </a:lnTo>
                <a:lnTo>
                  <a:pt x="684" y="114"/>
                </a:lnTo>
                <a:lnTo>
                  <a:pt x="684" y="116"/>
                </a:lnTo>
                <a:lnTo>
                  <a:pt x="684" y="117"/>
                </a:lnTo>
                <a:lnTo>
                  <a:pt x="689" y="116"/>
                </a:lnTo>
                <a:lnTo>
                  <a:pt x="689" y="114"/>
                </a:lnTo>
                <a:lnTo>
                  <a:pt x="689" y="112"/>
                </a:lnTo>
                <a:lnTo>
                  <a:pt x="689" y="109"/>
                </a:lnTo>
                <a:lnTo>
                  <a:pt x="689" y="107"/>
                </a:lnTo>
                <a:lnTo>
                  <a:pt x="689" y="106"/>
                </a:lnTo>
                <a:lnTo>
                  <a:pt x="689" y="102"/>
                </a:lnTo>
                <a:lnTo>
                  <a:pt x="689" y="101"/>
                </a:lnTo>
                <a:lnTo>
                  <a:pt x="689" y="99"/>
                </a:lnTo>
                <a:close/>
                <a:moveTo>
                  <a:pt x="0" y="76"/>
                </a:moveTo>
                <a:lnTo>
                  <a:pt x="0" y="79"/>
                </a:lnTo>
                <a:lnTo>
                  <a:pt x="0" y="81"/>
                </a:lnTo>
                <a:lnTo>
                  <a:pt x="0" y="84"/>
                </a:lnTo>
                <a:lnTo>
                  <a:pt x="0" y="88"/>
                </a:lnTo>
                <a:lnTo>
                  <a:pt x="0" y="91"/>
                </a:lnTo>
                <a:lnTo>
                  <a:pt x="0" y="93"/>
                </a:lnTo>
                <a:lnTo>
                  <a:pt x="0" y="96"/>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6"/>
                </a:lnTo>
                <a:lnTo>
                  <a:pt x="5" y="93"/>
                </a:lnTo>
                <a:lnTo>
                  <a:pt x="5" y="89"/>
                </a:lnTo>
                <a:lnTo>
                  <a:pt x="5" y="86"/>
                </a:lnTo>
                <a:lnTo>
                  <a:pt x="5" y="83"/>
                </a:lnTo>
                <a:lnTo>
                  <a:pt x="5" y="79"/>
                </a:lnTo>
                <a:lnTo>
                  <a:pt x="5" y="76"/>
                </a:lnTo>
                <a:lnTo>
                  <a:pt x="5" y="73"/>
                </a:lnTo>
                <a:lnTo>
                  <a:pt x="0" y="76"/>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75" name="Freeform 1080">
            <a:extLst>
              <a:ext uri="{FF2B5EF4-FFF2-40B4-BE49-F238E27FC236}">
                <a16:creationId xmlns:a16="http://schemas.microsoft.com/office/drawing/2014/main" id="{BBBFA5E4-1816-34BD-327E-B04167CD76D3}"/>
              </a:ext>
            </a:extLst>
          </p:cNvPr>
          <p:cNvSpPr>
            <a:spLocks noEditPoints="1"/>
          </p:cNvSpPr>
          <p:nvPr/>
        </p:nvSpPr>
        <p:spPr bwMode="auto">
          <a:xfrm>
            <a:off x="2371725" y="2403475"/>
            <a:ext cx="1087438" cy="315913"/>
          </a:xfrm>
          <a:custGeom>
            <a:avLst/>
            <a:gdLst>
              <a:gd name="T0" fmla="*/ 684 w 685"/>
              <a:gd name="T1" fmla="*/ 86 h 199"/>
              <a:gd name="T2" fmla="*/ 682 w 685"/>
              <a:gd name="T3" fmla="*/ 61 h 199"/>
              <a:gd name="T4" fmla="*/ 679 w 685"/>
              <a:gd name="T5" fmla="*/ 36 h 199"/>
              <a:gd name="T6" fmla="*/ 674 w 685"/>
              <a:gd name="T7" fmla="*/ 11 h 199"/>
              <a:gd name="T8" fmla="*/ 665 w 685"/>
              <a:gd name="T9" fmla="*/ 0 h 199"/>
              <a:gd name="T10" fmla="*/ 672 w 685"/>
              <a:gd name="T11" fmla="*/ 23 h 199"/>
              <a:gd name="T12" fmla="*/ 675 w 685"/>
              <a:gd name="T13" fmla="*/ 48 h 199"/>
              <a:gd name="T14" fmla="*/ 679 w 685"/>
              <a:gd name="T15" fmla="*/ 73 h 199"/>
              <a:gd name="T16" fmla="*/ 680 w 685"/>
              <a:gd name="T17" fmla="*/ 99 h 199"/>
              <a:gd name="T18" fmla="*/ 680 w 685"/>
              <a:gd name="T19" fmla="*/ 104 h 199"/>
              <a:gd name="T20" fmla="*/ 680 w 685"/>
              <a:gd name="T21" fmla="*/ 109 h 199"/>
              <a:gd name="T22" fmla="*/ 680 w 685"/>
              <a:gd name="T23" fmla="*/ 114 h 199"/>
              <a:gd name="T24" fmla="*/ 679 w 685"/>
              <a:gd name="T25" fmla="*/ 119 h 199"/>
              <a:gd name="T26" fmla="*/ 684 w 685"/>
              <a:gd name="T27" fmla="*/ 114 h 199"/>
              <a:gd name="T28" fmla="*/ 685 w 685"/>
              <a:gd name="T29" fmla="*/ 111 h 199"/>
              <a:gd name="T30" fmla="*/ 685 w 685"/>
              <a:gd name="T31" fmla="*/ 106 h 199"/>
              <a:gd name="T32" fmla="*/ 685 w 685"/>
              <a:gd name="T33" fmla="*/ 101 h 199"/>
              <a:gd name="T34" fmla="*/ 1 w 685"/>
              <a:gd name="T35" fmla="*/ 74 h 199"/>
              <a:gd name="T36" fmla="*/ 0 w 685"/>
              <a:gd name="T37" fmla="*/ 81 h 199"/>
              <a:gd name="T38" fmla="*/ 0 w 685"/>
              <a:gd name="T39" fmla="*/ 88 h 199"/>
              <a:gd name="T40" fmla="*/ 0 w 685"/>
              <a:gd name="T41" fmla="*/ 93 h 199"/>
              <a:gd name="T42" fmla="*/ 0 w 685"/>
              <a:gd name="T43" fmla="*/ 99 h 199"/>
              <a:gd name="T44" fmla="*/ 1 w 685"/>
              <a:gd name="T45" fmla="*/ 124 h 199"/>
              <a:gd name="T46" fmla="*/ 3 w 685"/>
              <a:gd name="T47" fmla="*/ 151 h 199"/>
              <a:gd name="T48" fmla="*/ 8 w 685"/>
              <a:gd name="T49" fmla="*/ 174 h 199"/>
              <a:gd name="T50" fmla="*/ 15 w 685"/>
              <a:gd name="T51" fmla="*/ 199 h 199"/>
              <a:gd name="T52" fmla="*/ 16 w 685"/>
              <a:gd name="T53" fmla="*/ 187 h 199"/>
              <a:gd name="T54" fmla="*/ 11 w 685"/>
              <a:gd name="T55" fmla="*/ 162 h 199"/>
              <a:gd name="T56" fmla="*/ 6 w 685"/>
              <a:gd name="T57" fmla="*/ 137 h 199"/>
              <a:gd name="T58" fmla="*/ 5 w 685"/>
              <a:gd name="T59" fmla="*/ 112 h 199"/>
              <a:gd name="T60" fmla="*/ 5 w 685"/>
              <a:gd name="T61" fmla="*/ 96 h 199"/>
              <a:gd name="T62" fmla="*/ 5 w 685"/>
              <a:gd name="T63" fmla="*/ 89 h 199"/>
              <a:gd name="T64" fmla="*/ 5 w 685"/>
              <a:gd name="T65" fmla="*/ 83 h 199"/>
              <a:gd name="T66" fmla="*/ 5 w 685"/>
              <a:gd name="T67" fmla="*/ 76 h 199"/>
              <a:gd name="T68" fmla="*/ 1 w 685"/>
              <a:gd name="T69" fmla="*/ 7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5" h="199">
                <a:moveTo>
                  <a:pt x="685" y="99"/>
                </a:moveTo>
                <a:lnTo>
                  <a:pt x="684" y="86"/>
                </a:lnTo>
                <a:lnTo>
                  <a:pt x="684" y="73"/>
                </a:lnTo>
                <a:lnTo>
                  <a:pt x="682" y="61"/>
                </a:lnTo>
                <a:lnTo>
                  <a:pt x="680" y="48"/>
                </a:lnTo>
                <a:lnTo>
                  <a:pt x="679" y="36"/>
                </a:lnTo>
                <a:lnTo>
                  <a:pt x="677" y="23"/>
                </a:lnTo>
                <a:lnTo>
                  <a:pt x="674" y="11"/>
                </a:lnTo>
                <a:lnTo>
                  <a:pt x="670" y="0"/>
                </a:lnTo>
                <a:lnTo>
                  <a:pt x="665" y="0"/>
                </a:lnTo>
                <a:lnTo>
                  <a:pt x="669" y="11"/>
                </a:lnTo>
                <a:lnTo>
                  <a:pt x="672" y="23"/>
                </a:lnTo>
                <a:lnTo>
                  <a:pt x="674" y="36"/>
                </a:lnTo>
                <a:lnTo>
                  <a:pt x="675" y="48"/>
                </a:lnTo>
                <a:lnTo>
                  <a:pt x="677" y="61"/>
                </a:lnTo>
                <a:lnTo>
                  <a:pt x="679" y="73"/>
                </a:lnTo>
                <a:lnTo>
                  <a:pt x="680" y="86"/>
                </a:lnTo>
                <a:lnTo>
                  <a:pt x="680" y="99"/>
                </a:lnTo>
                <a:lnTo>
                  <a:pt x="680" y="101"/>
                </a:lnTo>
                <a:lnTo>
                  <a:pt x="680" y="104"/>
                </a:lnTo>
                <a:lnTo>
                  <a:pt x="680" y="106"/>
                </a:lnTo>
                <a:lnTo>
                  <a:pt x="680" y="109"/>
                </a:lnTo>
                <a:lnTo>
                  <a:pt x="680" y="111"/>
                </a:lnTo>
                <a:lnTo>
                  <a:pt x="680" y="114"/>
                </a:lnTo>
                <a:lnTo>
                  <a:pt x="679" y="117"/>
                </a:lnTo>
                <a:lnTo>
                  <a:pt x="679" y="119"/>
                </a:lnTo>
                <a:lnTo>
                  <a:pt x="684" y="117"/>
                </a:lnTo>
                <a:lnTo>
                  <a:pt x="684" y="114"/>
                </a:lnTo>
                <a:lnTo>
                  <a:pt x="684" y="112"/>
                </a:lnTo>
                <a:lnTo>
                  <a:pt x="685" y="111"/>
                </a:lnTo>
                <a:lnTo>
                  <a:pt x="685" y="107"/>
                </a:lnTo>
                <a:lnTo>
                  <a:pt x="685" y="106"/>
                </a:lnTo>
                <a:lnTo>
                  <a:pt x="685" y="104"/>
                </a:lnTo>
                <a:lnTo>
                  <a:pt x="685" y="101"/>
                </a:lnTo>
                <a:lnTo>
                  <a:pt x="685" y="99"/>
                </a:lnTo>
                <a:close/>
                <a:moveTo>
                  <a:pt x="1" y="74"/>
                </a:moveTo>
                <a:lnTo>
                  <a:pt x="0" y="78"/>
                </a:lnTo>
                <a:lnTo>
                  <a:pt x="0" y="81"/>
                </a:lnTo>
                <a:lnTo>
                  <a:pt x="0" y="84"/>
                </a:lnTo>
                <a:lnTo>
                  <a:pt x="0" y="88"/>
                </a:lnTo>
                <a:lnTo>
                  <a:pt x="0" y="89"/>
                </a:lnTo>
                <a:lnTo>
                  <a:pt x="0" y="93"/>
                </a:lnTo>
                <a:lnTo>
                  <a:pt x="0" y="96"/>
                </a:lnTo>
                <a:lnTo>
                  <a:pt x="0" y="99"/>
                </a:lnTo>
                <a:lnTo>
                  <a:pt x="0" y="112"/>
                </a:lnTo>
                <a:lnTo>
                  <a:pt x="1" y="124"/>
                </a:lnTo>
                <a:lnTo>
                  <a:pt x="1" y="137"/>
                </a:lnTo>
                <a:lnTo>
                  <a:pt x="3" y="151"/>
                </a:lnTo>
                <a:lnTo>
                  <a:pt x="6" y="162"/>
                </a:lnTo>
                <a:lnTo>
                  <a:pt x="8" y="174"/>
                </a:lnTo>
                <a:lnTo>
                  <a:pt x="11" y="187"/>
                </a:lnTo>
                <a:lnTo>
                  <a:pt x="15" y="199"/>
                </a:lnTo>
                <a:lnTo>
                  <a:pt x="19" y="199"/>
                </a:lnTo>
                <a:lnTo>
                  <a:pt x="16" y="187"/>
                </a:lnTo>
                <a:lnTo>
                  <a:pt x="13" y="174"/>
                </a:lnTo>
                <a:lnTo>
                  <a:pt x="11" y="162"/>
                </a:lnTo>
                <a:lnTo>
                  <a:pt x="8" y="151"/>
                </a:lnTo>
                <a:lnTo>
                  <a:pt x="6" y="137"/>
                </a:lnTo>
                <a:lnTo>
                  <a:pt x="6" y="124"/>
                </a:lnTo>
                <a:lnTo>
                  <a:pt x="5" y="112"/>
                </a:lnTo>
                <a:lnTo>
                  <a:pt x="5" y="99"/>
                </a:lnTo>
                <a:lnTo>
                  <a:pt x="5" y="96"/>
                </a:lnTo>
                <a:lnTo>
                  <a:pt x="5" y="93"/>
                </a:lnTo>
                <a:lnTo>
                  <a:pt x="5" y="89"/>
                </a:lnTo>
                <a:lnTo>
                  <a:pt x="5" y="86"/>
                </a:lnTo>
                <a:lnTo>
                  <a:pt x="5" y="83"/>
                </a:lnTo>
                <a:lnTo>
                  <a:pt x="5" y="79"/>
                </a:lnTo>
                <a:lnTo>
                  <a:pt x="5" y="76"/>
                </a:lnTo>
                <a:lnTo>
                  <a:pt x="6" y="73"/>
                </a:lnTo>
                <a:lnTo>
                  <a:pt x="1" y="74"/>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76" name="Freeform 1081">
            <a:extLst>
              <a:ext uri="{FF2B5EF4-FFF2-40B4-BE49-F238E27FC236}">
                <a16:creationId xmlns:a16="http://schemas.microsoft.com/office/drawing/2014/main" id="{404E7187-620F-C0D6-F27E-21F17A47FB15}"/>
              </a:ext>
            </a:extLst>
          </p:cNvPr>
          <p:cNvSpPr>
            <a:spLocks noEditPoints="1"/>
          </p:cNvSpPr>
          <p:nvPr/>
        </p:nvSpPr>
        <p:spPr bwMode="auto">
          <a:xfrm>
            <a:off x="2376488" y="2403475"/>
            <a:ext cx="1077913" cy="315913"/>
          </a:xfrm>
          <a:custGeom>
            <a:avLst/>
            <a:gdLst>
              <a:gd name="T0" fmla="*/ 679 w 679"/>
              <a:gd name="T1" fmla="*/ 86 h 199"/>
              <a:gd name="T2" fmla="*/ 677 w 679"/>
              <a:gd name="T3" fmla="*/ 61 h 199"/>
              <a:gd name="T4" fmla="*/ 674 w 679"/>
              <a:gd name="T5" fmla="*/ 36 h 199"/>
              <a:gd name="T6" fmla="*/ 667 w 679"/>
              <a:gd name="T7" fmla="*/ 11 h 199"/>
              <a:gd name="T8" fmla="*/ 659 w 679"/>
              <a:gd name="T9" fmla="*/ 0 h 199"/>
              <a:gd name="T10" fmla="*/ 666 w 679"/>
              <a:gd name="T11" fmla="*/ 23 h 199"/>
              <a:gd name="T12" fmla="*/ 671 w 679"/>
              <a:gd name="T13" fmla="*/ 48 h 199"/>
              <a:gd name="T14" fmla="*/ 674 w 679"/>
              <a:gd name="T15" fmla="*/ 73 h 199"/>
              <a:gd name="T16" fmla="*/ 674 w 679"/>
              <a:gd name="T17" fmla="*/ 99 h 199"/>
              <a:gd name="T18" fmla="*/ 674 w 679"/>
              <a:gd name="T19" fmla="*/ 104 h 199"/>
              <a:gd name="T20" fmla="*/ 674 w 679"/>
              <a:gd name="T21" fmla="*/ 109 h 199"/>
              <a:gd name="T22" fmla="*/ 674 w 679"/>
              <a:gd name="T23" fmla="*/ 116 h 199"/>
              <a:gd name="T24" fmla="*/ 674 w 679"/>
              <a:gd name="T25" fmla="*/ 121 h 199"/>
              <a:gd name="T26" fmla="*/ 679 w 679"/>
              <a:gd name="T27" fmla="*/ 116 h 199"/>
              <a:gd name="T28" fmla="*/ 679 w 679"/>
              <a:gd name="T29" fmla="*/ 111 h 199"/>
              <a:gd name="T30" fmla="*/ 679 w 679"/>
              <a:gd name="T31" fmla="*/ 106 h 199"/>
              <a:gd name="T32" fmla="*/ 679 w 679"/>
              <a:gd name="T33" fmla="*/ 101 h 199"/>
              <a:gd name="T34" fmla="*/ 0 w 679"/>
              <a:gd name="T35" fmla="*/ 73 h 199"/>
              <a:gd name="T36" fmla="*/ 0 w 679"/>
              <a:gd name="T37" fmla="*/ 79 h 199"/>
              <a:gd name="T38" fmla="*/ 0 w 679"/>
              <a:gd name="T39" fmla="*/ 86 h 199"/>
              <a:gd name="T40" fmla="*/ 0 w 679"/>
              <a:gd name="T41" fmla="*/ 93 h 199"/>
              <a:gd name="T42" fmla="*/ 0 w 679"/>
              <a:gd name="T43" fmla="*/ 99 h 199"/>
              <a:gd name="T44" fmla="*/ 0 w 679"/>
              <a:gd name="T45" fmla="*/ 124 h 199"/>
              <a:gd name="T46" fmla="*/ 3 w 679"/>
              <a:gd name="T47" fmla="*/ 151 h 199"/>
              <a:gd name="T48" fmla="*/ 8 w 679"/>
              <a:gd name="T49" fmla="*/ 174 h 199"/>
              <a:gd name="T50" fmla="*/ 13 w 679"/>
              <a:gd name="T51" fmla="*/ 199 h 199"/>
              <a:gd name="T52" fmla="*/ 15 w 679"/>
              <a:gd name="T53" fmla="*/ 187 h 199"/>
              <a:gd name="T54" fmla="*/ 10 w 679"/>
              <a:gd name="T55" fmla="*/ 162 h 199"/>
              <a:gd name="T56" fmla="*/ 7 w 679"/>
              <a:gd name="T57" fmla="*/ 137 h 199"/>
              <a:gd name="T58" fmla="*/ 5 w 679"/>
              <a:gd name="T59" fmla="*/ 112 h 199"/>
              <a:gd name="T60" fmla="*/ 3 w 679"/>
              <a:gd name="T61" fmla="*/ 96 h 199"/>
              <a:gd name="T62" fmla="*/ 5 w 679"/>
              <a:gd name="T63" fmla="*/ 89 h 199"/>
              <a:gd name="T64" fmla="*/ 5 w 679"/>
              <a:gd name="T65" fmla="*/ 81 h 199"/>
              <a:gd name="T66" fmla="*/ 5 w 679"/>
              <a:gd name="T67" fmla="*/ 74 h 199"/>
              <a:gd name="T68" fmla="*/ 0 w 679"/>
              <a:gd name="T69" fmla="*/ 7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9" h="199">
                <a:moveTo>
                  <a:pt x="679" y="99"/>
                </a:moveTo>
                <a:lnTo>
                  <a:pt x="679" y="86"/>
                </a:lnTo>
                <a:lnTo>
                  <a:pt x="679" y="73"/>
                </a:lnTo>
                <a:lnTo>
                  <a:pt x="677" y="61"/>
                </a:lnTo>
                <a:lnTo>
                  <a:pt x="676" y="48"/>
                </a:lnTo>
                <a:lnTo>
                  <a:pt x="674" y="36"/>
                </a:lnTo>
                <a:lnTo>
                  <a:pt x="671" y="23"/>
                </a:lnTo>
                <a:lnTo>
                  <a:pt x="667" y="11"/>
                </a:lnTo>
                <a:lnTo>
                  <a:pt x="664" y="0"/>
                </a:lnTo>
                <a:lnTo>
                  <a:pt x="659" y="0"/>
                </a:lnTo>
                <a:lnTo>
                  <a:pt x="662" y="11"/>
                </a:lnTo>
                <a:lnTo>
                  <a:pt x="666" y="23"/>
                </a:lnTo>
                <a:lnTo>
                  <a:pt x="669" y="36"/>
                </a:lnTo>
                <a:lnTo>
                  <a:pt x="671" y="48"/>
                </a:lnTo>
                <a:lnTo>
                  <a:pt x="672" y="61"/>
                </a:lnTo>
                <a:lnTo>
                  <a:pt x="674" y="73"/>
                </a:lnTo>
                <a:lnTo>
                  <a:pt x="674" y="86"/>
                </a:lnTo>
                <a:lnTo>
                  <a:pt x="674" y="99"/>
                </a:lnTo>
                <a:lnTo>
                  <a:pt x="674" y="101"/>
                </a:lnTo>
                <a:lnTo>
                  <a:pt x="674" y="104"/>
                </a:lnTo>
                <a:lnTo>
                  <a:pt x="674" y="107"/>
                </a:lnTo>
                <a:lnTo>
                  <a:pt x="674" y="109"/>
                </a:lnTo>
                <a:lnTo>
                  <a:pt x="674" y="112"/>
                </a:lnTo>
                <a:lnTo>
                  <a:pt x="674" y="116"/>
                </a:lnTo>
                <a:lnTo>
                  <a:pt x="674" y="117"/>
                </a:lnTo>
                <a:lnTo>
                  <a:pt x="674" y="121"/>
                </a:lnTo>
                <a:lnTo>
                  <a:pt x="679" y="117"/>
                </a:lnTo>
                <a:lnTo>
                  <a:pt x="679" y="116"/>
                </a:lnTo>
                <a:lnTo>
                  <a:pt x="679" y="114"/>
                </a:lnTo>
                <a:lnTo>
                  <a:pt x="679" y="111"/>
                </a:lnTo>
                <a:lnTo>
                  <a:pt x="679" y="109"/>
                </a:lnTo>
                <a:lnTo>
                  <a:pt x="679" y="106"/>
                </a:lnTo>
                <a:lnTo>
                  <a:pt x="679" y="104"/>
                </a:lnTo>
                <a:lnTo>
                  <a:pt x="679" y="101"/>
                </a:lnTo>
                <a:lnTo>
                  <a:pt x="679" y="99"/>
                </a:lnTo>
                <a:close/>
                <a:moveTo>
                  <a:pt x="0" y="73"/>
                </a:moveTo>
                <a:lnTo>
                  <a:pt x="0" y="76"/>
                </a:lnTo>
                <a:lnTo>
                  <a:pt x="0" y="79"/>
                </a:lnTo>
                <a:lnTo>
                  <a:pt x="0" y="83"/>
                </a:lnTo>
                <a:lnTo>
                  <a:pt x="0" y="86"/>
                </a:lnTo>
                <a:lnTo>
                  <a:pt x="0" y="89"/>
                </a:lnTo>
                <a:lnTo>
                  <a:pt x="0" y="93"/>
                </a:lnTo>
                <a:lnTo>
                  <a:pt x="0" y="96"/>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3" y="99"/>
                </a:lnTo>
                <a:lnTo>
                  <a:pt x="3" y="96"/>
                </a:lnTo>
                <a:lnTo>
                  <a:pt x="3" y="93"/>
                </a:lnTo>
                <a:lnTo>
                  <a:pt x="5" y="89"/>
                </a:lnTo>
                <a:lnTo>
                  <a:pt x="5" y="84"/>
                </a:lnTo>
                <a:lnTo>
                  <a:pt x="5" y="81"/>
                </a:lnTo>
                <a:lnTo>
                  <a:pt x="5" y="78"/>
                </a:lnTo>
                <a:lnTo>
                  <a:pt x="5" y="74"/>
                </a:lnTo>
                <a:lnTo>
                  <a:pt x="5" y="71"/>
                </a:lnTo>
                <a:lnTo>
                  <a:pt x="0" y="73"/>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77" name="Freeform 1082">
            <a:extLst>
              <a:ext uri="{FF2B5EF4-FFF2-40B4-BE49-F238E27FC236}">
                <a16:creationId xmlns:a16="http://schemas.microsoft.com/office/drawing/2014/main" id="{9ACB9978-547D-ECB0-F61C-60D13270E7FC}"/>
              </a:ext>
            </a:extLst>
          </p:cNvPr>
          <p:cNvSpPr>
            <a:spLocks noEditPoints="1"/>
          </p:cNvSpPr>
          <p:nvPr/>
        </p:nvSpPr>
        <p:spPr bwMode="auto">
          <a:xfrm>
            <a:off x="2379663" y="2403475"/>
            <a:ext cx="1071563" cy="315913"/>
          </a:xfrm>
          <a:custGeom>
            <a:avLst/>
            <a:gdLst>
              <a:gd name="T0" fmla="*/ 675 w 675"/>
              <a:gd name="T1" fmla="*/ 86 h 199"/>
              <a:gd name="T2" fmla="*/ 672 w 675"/>
              <a:gd name="T3" fmla="*/ 61 h 199"/>
              <a:gd name="T4" fmla="*/ 669 w 675"/>
              <a:gd name="T5" fmla="*/ 36 h 199"/>
              <a:gd name="T6" fmla="*/ 664 w 675"/>
              <a:gd name="T7" fmla="*/ 11 h 199"/>
              <a:gd name="T8" fmla="*/ 655 w 675"/>
              <a:gd name="T9" fmla="*/ 0 h 199"/>
              <a:gd name="T10" fmla="*/ 662 w 675"/>
              <a:gd name="T11" fmla="*/ 23 h 199"/>
              <a:gd name="T12" fmla="*/ 665 w 675"/>
              <a:gd name="T13" fmla="*/ 48 h 199"/>
              <a:gd name="T14" fmla="*/ 669 w 675"/>
              <a:gd name="T15" fmla="*/ 73 h 199"/>
              <a:gd name="T16" fmla="*/ 670 w 675"/>
              <a:gd name="T17" fmla="*/ 99 h 199"/>
              <a:gd name="T18" fmla="*/ 670 w 675"/>
              <a:gd name="T19" fmla="*/ 104 h 199"/>
              <a:gd name="T20" fmla="*/ 670 w 675"/>
              <a:gd name="T21" fmla="*/ 111 h 199"/>
              <a:gd name="T22" fmla="*/ 670 w 675"/>
              <a:gd name="T23" fmla="*/ 116 h 199"/>
              <a:gd name="T24" fmla="*/ 669 w 675"/>
              <a:gd name="T25" fmla="*/ 121 h 199"/>
              <a:gd name="T26" fmla="*/ 674 w 675"/>
              <a:gd name="T27" fmla="*/ 117 h 199"/>
              <a:gd name="T28" fmla="*/ 675 w 675"/>
              <a:gd name="T29" fmla="*/ 111 h 199"/>
              <a:gd name="T30" fmla="*/ 675 w 675"/>
              <a:gd name="T31" fmla="*/ 106 h 199"/>
              <a:gd name="T32" fmla="*/ 675 w 675"/>
              <a:gd name="T33" fmla="*/ 101 h 199"/>
              <a:gd name="T34" fmla="*/ 1 w 675"/>
              <a:gd name="T35" fmla="*/ 73 h 199"/>
              <a:gd name="T36" fmla="*/ 0 w 675"/>
              <a:gd name="T37" fmla="*/ 79 h 199"/>
              <a:gd name="T38" fmla="*/ 0 w 675"/>
              <a:gd name="T39" fmla="*/ 86 h 199"/>
              <a:gd name="T40" fmla="*/ 0 w 675"/>
              <a:gd name="T41" fmla="*/ 93 h 199"/>
              <a:gd name="T42" fmla="*/ 0 w 675"/>
              <a:gd name="T43" fmla="*/ 99 h 199"/>
              <a:gd name="T44" fmla="*/ 1 w 675"/>
              <a:gd name="T45" fmla="*/ 124 h 199"/>
              <a:gd name="T46" fmla="*/ 3 w 675"/>
              <a:gd name="T47" fmla="*/ 151 h 199"/>
              <a:gd name="T48" fmla="*/ 8 w 675"/>
              <a:gd name="T49" fmla="*/ 174 h 199"/>
              <a:gd name="T50" fmla="*/ 14 w 675"/>
              <a:gd name="T51" fmla="*/ 199 h 199"/>
              <a:gd name="T52" fmla="*/ 16 w 675"/>
              <a:gd name="T53" fmla="*/ 187 h 199"/>
              <a:gd name="T54" fmla="*/ 10 w 675"/>
              <a:gd name="T55" fmla="*/ 162 h 199"/>
              <a:gd name="T56" fmla="*/ 6 w 675"/>
              <a:gd name="T57" fmla="*/ 137 h 199"/>
              <a:gd name="T58" fmla="*/ 5 w 675"/>
              <a:gd name="T59" fmla="*/ 112 h 199"/>
              <a:gd name="T60" fmla="*/ 5 w 675"/>
              <a:gd name="T61" fmla="*/ 96 h 199"/>
              <a:gd name="T62" fmla="*/ 5 w 675"/>
              <a:gd name="T63" fmla="*/ 88 h 199"/>
              <a:gd name="T64" fmla="*/ 5 w 675"/>
              <a:gd name="T65" fmla="*/ 81 h 199"/>
              <a:gd name="T66" fmla="*/ 5 w 675"/>
              <a:gd name="T67" fmla="*/ 74 h 199"/>
              <a:gd name="T68" fmla="*/ 1 w 675"/>
              <a:gd name="T69" fmla="*/ 7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5" h="199">
                <a:moveTo>
                  <a:pt x="675" y="99"/>
                </a:moveTo>
                <a:lnTo>
                  <a:pt x="675" y="86"/>
                </a:lnTo>
                <a:lnTo>
                  <a:pt x="674" y="73"/>
                </a:lnTo>
                <a:lnTo>
                  <a:pt x="672" y="61"/>
                </a:lnTo>
                <a:lnTo>
                  <a:pt x="670" y="48"/>
                </a:lnTo>
                <a:lnTo>
                  <a:pt x="669" y="36"/>
                </a:lnTo>
                <a:lnTo>
                  <a:pt x="667" y="23"/>
                </a:lnTo>
                <a:lnTo>
                  <a:pt x="664" y="11"/>
                </a:lnTo>
                <a:lnTo>
                  <a:pt x="660" y="0"/>
                </a:lnTo>
                <a:lnTo>
                  <a:pt x="655" y="0"/>
                </a:lnTo>
                <a:lnTo>
                  <a:pt x="659" y="11"/>
                </a:lnTo>
                <a:lnTo>
                  <a:pt x="662" y="23"/>
                </a:lnTo>
                <a:lnTo>
                  <a:pt x="664" y="36"/>
                </a:lnTo>
                <a:lnTo>
                  <a:pt x="665" y="48"/>
                </a:lnTo>
                <a:lnTo>
                  <a:pt x="669" y="61"/>
                </a:lnTo>
                <a:lnTo>
                  <a:pt x="669" y="73"/>
                </a:lnTo>
                <a:lnTo>
                  <a:pt x="670" y="86"/>
                </a:lnTo>
                <a:lnTo>
                  <a:pt x="670" y="99"/>
                </a:lnTo>
                <a:lnTo>
                  <a:pt x="670" y="102"/>
                </a:lnTo>
                <a:lnTo>
                  <a:pt x="670" y="104"/>
                </a:lnTo>
                <a:lnTo>
                  <a:pt x="670" y="107"/>
                </a:lnTo>
                <a:lnTo>
                  <a:pt x="670" y="111"/>
                </a:lnTo>
                <a:lnTo>
                  <a:pt x="670" y="112"/>
                </a:lnTo>
                <a:lnTo>
                  <a:pt x="670" y="116"/>
                </a:lnTo>
                <a:lnTo>
                  <a:pt x="669" y="119"/>
                </a:lnTo>
                <a:lnTo>
                  <a:pt x="669" y="121"/>
                </a:lnTo>
                <a:lnTo>
                  <a:pt x="674" y="119"/>
                </a:lnTo>
                <a:lnTo>
                  <a:pt x="674" y="117"/>
                </a:lnTo>
                <a:lnTo>
                  <a:pt x="675" y="114"/>
                </a:lnTo>
                <a:lnTo>
                  <a:pt x="675" y="111"/>
                </a:lnTo>
                <a:lnTo>
                  <a:pt x="675" y="109"/>
                </a:lnTo>
                <a:lnTo>
                  <a:pt x="675" y="106"/>
                </a:lnTo>
                <a:lnTo>
                  <a:pt x="675" y="104"/>
                </a:lnTo>
                <a:lnTo>
                  <a:pt x="675" y="101"/>
                </a:lnTo>
                <a:lnTo>
                  <a:pt x="675" y="99"/>
                </a:lnTo>
                <a:close/>
                <a:moveTo>
                  <a:pt x="1" y="73"/>
                </a:moveTo>
                <a:lnTo>
                  <a:pt x="0" y="76"/>
                </a:lnTo>
                <a:lnTo>
                  <a:pt x="0" y="79"/>
                </a:lnTo>
                <a:lnTo>
                  <a:pt x="0" y="83"/>
                </a:lnTo>
                <a:lnTo>
                  <a:pt x="0" y="86"/>
                </a:lnTo>
                <a:lnTo>
                  <a:pt x="0" y="89"/>
                </a:lnTo>
                <a:lnTo>
                  <a:pt x="0" y="93"/>
                </a:lnTo>
                <a:lnTo>
                  <a:pt x="0" y="96"/>
                </a:lnTo>
                <a:lnTo>
                  <a:pt x="0" y="99"/>
                </a:lnTo>
                <a:lnTo>
                  <a:pt x="0" y="112"/>
                </a:lnTo>
                <a:lnTo>
                  <a:pt x="1" y="124"/>
                </a:lnTo>
                <a:lnTo>
                  <a:pt x="1" y="137"/>
                </a:lnTo>
                <a:lnTo>
                  <a:pt x="3" y="151"/>
                </a:lnTo>
                <a:lnTo>
                  <a:pt x="6" y="162"/>
                </a:lnTo>
                <a:lnTo>
                  <a:pt x="8" y="174"/>
                </a:lnTo>
                <a:lnTo>
                  <a:pt x="11" y="187"/>
                </a:lnTo>
                <a:lnTo>
                  <a:pt x="14" y="199"/>
                </a:lnTo>
                <a:lnTo>
                  <a:pt x="19" y="199"/>
                </a:lnTo>
                <a:lnTo>
                  <a:pt x="16" y="187"/>
                </a:lnTo>
                <a:lnTo>
                  <a:pt x="13" y="174"/>
                </a:lnTo>
                <a:lnTo>
                  <a:pt x="10" y="162"/>
                </a:lnTo>
                <a:lnTo>
                  <a:pt x="8" y="151"/>
                </a:lnTo>
                <a:lnTo>
                  <a:pt x="6" y="137"/>
                </a:lnTo>
                <a:lnTo>
                  <a:pt x="5" y="124"/>
                </a:lnTo>
                <a:lnTo>
                  <a:pt x="5" y="112"/>
                </a:lnTo>
                <a:lnTo>
                  <a:pt x="5" y="99"/>
                </a:lnTo>
                <a:lnTo>
                  <a:pt x="5" y="96"/>
                </a:lnTo>
                <a:lnTo>
                  <a:pt x="5" y="91"/>
                </a:lnTo>
                <a:lnTo>
                  <a:pt x="5" y="88"/>
                </a:lnTo>
                <a:lnTo>
                  <a:pt x="5" y="84"/>
                </a:lnTo>
                <a:lnTo>
                  <a:pt x="5" y="81"/>
                </a:lnTo>
                <a:lnTo>
                  <a:pt x="5" y="78"/>
                </a:lnTo>
                <a:lnTo>
                  <a:pt x="5" y="74"/>
                </a:lnTo>
                <a:lnTo>
                  <a:pt x="6" y="69"/>
                </a:lnTo>
                <a:lnTo>
                  <a:pt x="1" y="73"/>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78" name="Freeform 1083">
            <a:extLst>
              <a:ext uri="{FF2B5EF4-FFF2-40B4-BE49-F238E27FC236}">
                <a16:creationId xmlns:a16="http://schemas.microsoft.com/office/drawing/2014/main" id="{0C36FD18-2EE6-B70A-525D-84C2A2722A87}"/>
              </a:ext>
            </a:extLst>
          </p:cNvPr>
          <p:cNvSpPr>
            <a:spLocks noEditPoints="1"/>
          </p:cNvSpPr>
          <p:nvPr/>
        </p:nvSpPr>
        <p:spPr bwMode="auto">
          <a:xfrm>
            <a:off x="2381250" y="2403475"/>
            <a:ext cx="1065213" cy="315913"/>
          </a:xfrm>
          <a:custGeom>
            <a:avLst/>
            <a:gdLst>
              <a:gd name="T0" fmla="*/ 671 w 671"/>
              <a:gd name="T1" fmla="*/ 86 h 199"/>
              <a:gd name="T2" fmla="*/ 669 w 671"/>
              <a:gd name="T3" fmla="*/ 61 h 199"/>
              <a:gd name="T4" fmla="*/ 666 w 671"/>
              <a:gd name="T5" fmla="*/ 36 h 199"/>
              <a:gd name="T6" fmla="*/ 659 w 671"/>
              <a:gd name="T7" fmla="*/ 11 h 199"/>
              <a:gd name="T8" fmla="*/ 651 w 671"/>
              <a:gd name="T9" fmla="*/ 0 h 199"/>
              <a:gd name="T10" fmla="*/ 658 w 671"/>
              <a:gd name="T11" fmla="*/ 23 h 199"/>
              <a:gd name="T12" fmla="*/ 663 w 671"/>
              <a:gd name="T13" fmla="*/ 48 h 199"/>
              <a:gd name="T14" fmla="*/ 666 w 671"/>
              <a:gd name="T15" fmla="*/ 73 h 199"/>
              <a:gd name="T16" fmla="*/ 666 w 671"/>
              <a:gd name="T17" fmla="*/ 99 h 199"/>
              <a:gd name="T18" fmla="*/ 666 w 671"/>
              <a:gd name="T19" fmla="*/ 104 h 199"/>
              <a:gd name="T20" fmla="*/ 666 w 671"/>
              <a:gd name="T21" fmla="*/ 111 h 199"/>
              <a:gd name="T22" fmla="*/ 666 w 671"/>
              <a:gd name="T23" fmla="*/ 117 h 199"/>
              <a:gd name="T24" fmla="*/ 666 w 671"/>
              <a:gd name="T25" fmla="*/ 122 h 199"/>
              <a:gd name="T26" fmla="*/ 671 w 671"/>
              <a:gd name="T27" fmla="*/ 117 h 199"/>
              <a:gd name="T28" fmla="*/ 671 w 671"/>
              <a:gd name="T29" fmla="*/ 112 h 199"/>
              <a:gd name="T30" fmla="*/ 671 w 671"/>
              <a:gd name="T31" fmla="*/ 107 h 199"/>
              <a:gd name="T32" fmla="*/ 671 w 671"/>
              <a:gd name="T33" fmla="*/ 101 h 199"/>
              <a:gd name="T34" fmla="*/ 2 w 671"/>
              <a:gd name="T35" fmla="*/ 71 h 199"/>
              <a:gd name="T36" fmla="*/ 2 w 671"/>
              <a:gd name="T37" fmla="*/ 78 h 199"/>
              <a:gd name="T38" fmla="*/ 2 w 671"/>
              <a:gd name="T39" fmla="*/ 84 h 199"/>
              <a:gd name="T40" fmla="*/ 0 w 671"/>
              <a:gd name="T41" fmla="*/ 93 h 199"/>
              <a:gd name="T42" fmla="*/ 0 w 671"/>
              <a:gd name="T43" fmla="*/ 99 h 199"/>
              <a:gd name="T44" fmla="*/ 2 w 671"/>
              <a:gd name="T45" fmla="*/ 124 h 199"/>
              <a:gd name="T46" fmla="*/ 5 w 671"/>
              <a:gd name="T47" fmla="*/ 151 h 199"/>
              <a:gd name="T48" fmla="*/ 10 w 671"/>
              <a:gd name="T49" fmla="*/ 174 h 199"/>
              <a:gd name="T50" fmla="*/ 15 w 671"/>
              <a:gd name="T51" fmla="*/ 199 h 199"/>
              <a:gd name="T52" fmla="*/ 17 w 671"/>
              <a:gd name="T53" fmla="*/ 187 h 199"/>
              <a:gd name="T54" fmla="*/ 12 w 671"/>
              <a:gd name="T55" fmla="*/ 162 h 199"/>
              <a:gd name="T56" fmla="*/ 9 w 671"/>
              <a:gd name="T57" fmla="*/ 137 h 199"/>
              <a:gd name="T58" fmla="*/ 5 w 671"/>
              <a:gd name="T59" fmla="*/ 112 h 199"/>
              <a:gd name="T60" fmla="*/ 5 w 671"/>
              <a:gd name="T61" fmla="*/ 96 h 199"/>
              <a:gd name="T62" fmla="*/ 5 w 671"/>
              <a:gd name="T63" fmla="*/ 88 h 199"/>
              <a:gd name="T64" fmla="*/ 7 w 671"/>
              <a:gd name="T65" fmla="*/ 79 h 199"/>
              <a:gd name="T66" fmla="*/ 7 w 671"/>
              <a:gd name="T67" fmla="*/ 73 h 199"/>
              <a:gd name="T68" fmla="*/ 2 w 671"/>
              <a:gd name="T69" fmla="*/ 7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1" h="199">
                <a:moveTo>
                  <a:pt x="671" y="99"/>
                </a:moveTo>
                <a:lnTo>
                  <a:pt x="671" y="86"/>
                </a:lnTo>
                <a:lnTo>
                  <a:pt x="671" y="73"/>
                </a:lnTo>
                <a:lnTo>
                  <a:pt x="669" y="61"/>
                </a:lnTo>
                <a:lnTo>
                  <a:pt x="668" y="48"/>
                </a:lnTo>
                <a:lnTo>
                  <a:pt x="666" y="36"/>
                </a:lnTo>
                <a:lnTo>
                  <a:pt x="663" y="23"/>
                </a:lnTo>
                <a:lnTo>
                  <a:pt x="659" y="11"/>
                </a:lnTo>
                <a:lnTo>
                  <a:pt x="656" y="0"/>
                </a:lnTo>
                <a:lnTo>
                  <a:pt x="651" y="0"/>
                </a:lnTo>
                <a:lnTo>
                  <a:pt x="654" y="11"/>
                </a:lnTo>
                <a:lnTo>
                  <a:pt x="658" y="23"/>
                </a:lnTo>
                <a:lnTo>
                  <a:pt x="661" y="36"/>
                </a:lnTo>
                <a:lnTo>
                  <a:pt x="663" y="48"/>
                </a:lnTo>
                <a:lnTo>
                  <a:pt x="664" y="61"/>
                </a:lnTo>
                <a:lnTo>
                  <a:pt x="666" y="73"/>
                </a:lnTo>
                <a:lnTo>
                  <a:pt x="666" y="86"/>
                </a:lnTo>
                <a:lnTo>
                  <a:pt x="666" y="99"/>
                </a:lnTo>
                <a:lnTo>
                  <a:pt x="666" y="102"/>
                </a:lnTo>
                <a:lnTo>
                  <a:pt x="666" y="104"/>
                </a:lnTo>
                <a:lnTo>
                  <a:pt x="666" y="107"/>
                </a:lnTo>
                <a:lnTo>
                  <a:pt x="666" y="111"/>
                </a:lnTo>
                <a:lnTo>
                  <a:pt x="666" y="114"/>
                </a:lnTo>
                <a:lnTo>
                  <a:pt x="666" y="117"/>
                </a:lnTo>
                <a:lnTo>
                  <a:pt x="666" y="119"/>
                </a:lnTo>
                <a:lnTo>
                  <a:pt x="666" y="122"/>
                </a:lnTo>
                <a:lnTo>
                  <a:pt x="671" y="121"/>
                </a:lnTo>
                <a:lnTo>
                  <a:pt x="671" y="117"/>
                </a:lnTo>
                <a:lnTo>
                  <a:pt x="671" y="116"/>
                </a:lnTo>
                <a:lnTo>
                  <a:pt x="671" y="112"/>
                </a:lnTo>
                <a:lnTo>
                  <a:pt x="671" y="109"/>
                </a:lnTo>
                <a:lnTo>
                  <a:pt x="671" y="107"/>
                </a:lnTo>
                <a:lnTo>
                  <a:pt x="671" y="104"/>
                </a:lnTo>
                <a:lnTo>
                  <a:pt x="671" y="101"/>
                </a:lnTo>
                <a:lnTo>
                  <a:pt x="671" y="99"/>
                </a:lnTo>
                <a:close/>
                <a:moveTo>
                  <a:pt x="2" y="71"/>
                </a:moveTo>
                <a:lnTo>
                  <a:pt x="2" y="74"/>
                </a:lnTo>
                <a:lnTo>
                  <a:pt x="2" y="78"/>
                </a:lnTo>
                <a:lnTo>
                  <a:pt x="2" y="81"/>
                </a:lnTo>
                <a:lnTo>
                  <a:pt x="2" y="84"/>
                </a:lnTo>
                <a:lnTo>
                  <a:pt x="2" y="89"/>
                </a:lnTo>
                <a:lnTo>
                  <a:pt x="0" y="93"/>
                </a:lnTo>
                <a:lnTo>
                  <a:pt x="0" y="96"/>
                </a:lnTo>
                <a:lnTo>
                  <a:pt x="0" y="99"/>
                </a:lnTo>
                <a:lnTo>
                  <a:pt x="2" y="112"/>
                </a:lnTo>
                <a:lnTo>
                  <a:pt x="2" y="124"/>
                </a:lnTo>
                <a:lnTo>
                  <a:pt x="4" y="137"/>
                </a:lnTo>
                <a:lnTo>
                  <a:pt x="5" y="151"/>
                </a:lnTo>
                <a:lnTo>
                  <a:pt x="7" y="162"/>
                </a:lnTo>
                <a:lnTo>
                  <a:pt x="10" y="174"/>
                </a:lnTo>
                <a:lnTo>
                  <a:pt x="12" y="187"/>
                </a:lnTo>
                <a:lnTo>
                  <a:pt x="15" y="199"/>
                </a:lnTo>
                <a:lnTo>
                  <a:pt x="20" y="199"/>
                </a:lnTo>
                <a:lnTo>
                  <a:pt x="17" y="187"/>
                </a:lnTo>
                <a:lnTo>
                  <a:pt x="15" y="174"/>
                </a:lnTo>
                <a:lnTo>
                  <a:pt x="12" y="162"/>
                </a:lnTo>
                <a:lnTo>
                  <a:pt x="10" y="151"/>
                </a:lnTo>
                <a:lnTo>
                  <a:pt x="9" y="137"/>
                </a:lnTo>
                <a:lnTo>
                  <a:pt x="7" y="124"/>
                </a:lnTo>
                <a:lnTo>
                  <a:pt x="5" y="112"/>
                </a:lnTo>
                <a:lnTo>
                  <a:pt x="5" y="99"/>
                </a:lnTo>
                <a:lnTo>
                  <a:pt x="5" y="96"/>
                </a:lnTo>
                <a:lnTo>
                  <a:pt x="5" y="91"/>
                </a:lnTo>
                <a:lnTo>
                  <a:pt x="5" y="88"/>
                </a:lnTo>
                <a:lnTo>
                  <a:pt x="7" y="84"/>
                </a:lnTo>
                <a:lnTo>
                  <a:pt x="7" y="79"/>
                </a:lnTo>
                <a:lnTo>
                  <a:pt x="7" y="76"/>
                </a:lnTo>
                <a:lnTo>
                  <a:pt x="7" y="73"/>
                </a:lnTo>
                <a:lnTo>
                  <a:pt x="7" y="69"/>
                </a:lnTo>
                <a:lnTo>
                  <a:pt x="2" y="71"/>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79" name="Freeform 1084">
            <a:extLst>
              <a:ext uri="{FF2B5EF4-FFF2-40B4-BE49-F238E27FC236}">
                <a16:creationId xmlns:a16="http://schemas.microsoft.com/office/drawing/2014/main" id="{1BC74AF4-D539-C131-0FB5-512B5BF29D65}"/>
              </a:ext>
            </a:extLst>
          </p:cNvPr>
          <p:cNvSpPr>
            <a:spLocks noEditPoints="1"/>
          </p:cNvSpPr>
          <p:nvPr/>
        </p:nvSpPr>
        <p:spPr bwMode="auto">
          <a:xfrm>
            <a:off x="2387600" y="2403475"/>
            <a:ext cx="1055688" cy="315913"/>
          </a:xfrm>
          <a:custGeom>
            <a:avLst/>
            <a:gdLst>
              <a:gd name="T0" fmla="*/ 665 w 665"/>
              <a:gd name="T1" fmla="*/ 86 h 199"/>
              <a:gd name="T2" fmla="*/ 664 w 665"/>
              <a:gd name="T3" fmla="*/ 61 h 199"/>
              <a:gd name="T4" fmla="*/ 659 w 665"/>
              <a:gd name="T5" fmla="*/ 36 h 199"/>
              <a:gd name="T6" fmla="*/ 654 w 665"/>
              <a:gd name="T7" fmla="*/ 11 h 199"/>
              <a:gd name="T8" fmla="*/ 645 w 665"/>
              <a:gd name="T9" fmla="*/ 0 h 199"/>
              <a:gd name="T10" fmla="*/ 652 w 665"/>
              <a:gd name="T11" fmla="*/ 23 h 199"/>
              <a:gd name="T12" fmla="*/ 657 w 665"/>
              <a:gd name="T13" fmla="*/ 48 h 199"/>
              <a:gd name="T14" fmla="*/ 659 w 665"/>
              <a:gd name="T15" fmla="*/ 73 h 199"/>
              <a:gd name="T16" fmla="*/ 660 w 665"/>
              <a:gd name="T17" fmla="*/ 99 h 199"/>
              <a:gd name="T18" fmla="*/ 660 w 665"/>
              <a:gd name="T19" fmla="*/ 106 h 199"/>
              <a:gd name="T20" fmla="*/ 660 w 665"/>
              <a:gd name="T21" fmla="*/ 111 h 199"/>
              <a:gd name="T22" fmla="*/ 660 w 665"/>
              <a:gd name="T23" fmla="*/ 117 h 199"/>
              <a:gd name="T24" fmla="*/ 659 w 665"/>
              <a:gd name="T25" fmla="*/ 124 h 199"/>
              <a:gd name="T26" fmla="*/ 664 w 665"/>
              <a:gd name="T27" fmla="*/ 119 h 199"/>
              <a:gd name="T28" fmla="*/ 665 w 665"/>
              <a:gd name="T29" fmla="*/ 112 h 199"/>
              <a:gd name="T30" fmla="*/ 665 w 665"/>
              <a:gd name="T31" fmla="*/ 107 h 199"/>
              <a:gd name="T32" fmla="*/ 665 w 665"/>
              <a:gd name="T33" fmla="*/ 102 h 199"/>
              <a:gd name="T34" fmla="*/ 1 w 665"/>
              <a:gd name="T35" fmla="*/ 69 h 199"/>
              <a:gd name="T36" fmla="*/ 0 w 665"/>
              <a:gd name="T37" fmla="*/ 78 h 199"/>
              <a:gd name="T38" fmla="*/ 0 w 665"/>
              <a:gd name="T39" fmla="*/ 84 h 199"/>
              <a:gd name="T40" fmla="*/ 0 w 665"/>
              <a:gd name="T41" fmla="*/ 91 h 199"/>
              <a:gd name="T42" fmla="*/ 0 w 665"/>
              <a:gd name="T43" fmla="*/ 99 h 199"/>
              <a:gd name="T44" fmla="*/ 0 w 665"/>
              <a:gd name="T45" fmla="*/ 124 h 199"/>
              <a:gd name="T46" fmla="*/ 3 w 665"/>
              <a:gd name="T47" fmla="*/ 151 h 199"/>
              <a:gd name="T48" fmla="*/ 8 w 665"/>
              <a:gd name="T49" fmla="*/ 174 h 199"/>
              <a:gd name="T50" fmla="*/ 14 w 665"/>
              <a:gd name="T51" fmla="*/ 199 h 199"/>
              <a:gd name="T52" fmla="*/ 16 w 665"/>
              <a:gd name="T53" fmla="*/ 187 h 199"/>
              <a:gd name="T54" fmla="*/ 9 w 665"/>
              <a:gd name="T55" fmla="*/ 162 h 199"/>
              <a:gd name="T56" fmla="*/ 6 w 665"/>
              <a:gd name="T57" fmla="*/ 137 h 199"/>
              <a:gd name="T58" fmla="*/ 5 w 665"/>
              <a:gd name="T59" fmla="*/ 112 h 199"/>
              <a:gd name="T60" fmla="*/ 5 w 665"/>
              <a:gd name="T61" fmla="*/ 94 h 199"/>
              <a:gd name="T62" fmla="*/ 5 w 665"/>
              <a:gd name="T63" fmla="*/ 88 h 199"/>
              <a:gd name="T64" fmla="*/ 5 w 665"/>
              <a:gd name="T65" fmla="*/ 79 h 199"/>
              <a:gd name="T66" fmla="*/ 5 w 665"/>
              <a:gd name="T67" fmla="*/ 71 h 199"/>
              <a:gd name="T68" fmla="*/ 1 w 665"/>
              <a:gd name="T69" fmla="*/ 6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5" h="199">
                <a:moveTo>
                  <a:pt x="665" y="99"/>
                </a:moveTo>
                <a:lnTo>
                  <a:pt x="665" y="86"/>
                </a:lnTo>
                <a:lnTo>
                  <a:pt x="664" y="73"/>
                </a:lnTo>
                <a:lnTo>
                  <a:pt x="664" y="61"/>
                </a:lnTo>
                <a:lnTo>
                  <a:pt x="660" y="48"/>
                </a:lnTo>
                <a:lnTo>
                  <a:pt x="659" y="36"/>
                </a:lnTo>
                <a:lnTo>
                  <a:pt x="657" y="23"/>
                </a:lnTo>
                <a:lnTo>
                  <a:pt x="654" y="11"/>
                </a:lnTo>
                <a:lnTo>
                  <a:pt x="650" y="0"/>
                </a:lnTo>
                <a:lnTo>
                  <a:pt x="645" y="0"/>
                </a:lnTo>
                <a:lnTo>
                  <a:pt x="649" y="11"/>
                </a:lnTo>
                <a:lnTo>
                  <a:pt x="652" y="23"/>
                </a:lnTo>
                <a:lnTo>
                  <a:pt x="654" y="36"/>
                </a:lnTo>
                <a:lnTo>
                  <a:pt x="657" y="48"/>
                </a:lnTo>
                <a:lnTo>
                  <a:pt x="659" y="61"/>
                </a:lnTo>
                <a:lnTo>
                  <a:pt x="659" y="73"/>
                </a:lnTo>
                <a:lnTo>
                  <a:pt x="660" y="86"/>
                </a:lnTo>
                <a:lnTo>
                  <a:pt x="660" y="99"/>
                </a:lnTo>
                <a:lnTo>
                  <a:pt x="660" y="102"/>
                </a:lnTo>
                <a:lnTo>
                  <a:pt x="660" y="106"/>
                </a:lnTo>
                <a:lnTo>
                  <a:pt x="660" y="107"/>
                </a:lnTo>
                <a:lnTo>
                  <a:pt x="660" y="111"/>
                </a:lnTo>
                <a:lnTo>
                  <a:pt x="660" y="114"/>
                </a:lnTo>
                <a:lnTo>
                  <a:pt x="660" y="117"/>
                </a:lnTo>
                <a:lnTo>
                  <a:pt x="660" y="121"/>
                </a:lnTo>
                <a:lnTo>
                  <a:pt x="659" y="124"/>
                </a:lnTo>
                <a:lnTo>
                  <a:pt x="664" y="121"/>
                </a:lnTo>
                <a:lnTo>
                  <a:pt x="664" y="119"/>
                </a:lnTo>
                <a:lnTo>
                  <a:pt x="665" y="116"/>
                </a:lnTo>
                <a:lnTo>
                  <a:pt x="665" y="112"/>
                </a:lnTo>
                <a:lnTo>
                  <a:pt x="665" y="111"/>
                </a:lnTo>
                <a:lnTo>
                  <a:pt x="665" y="107"/>
                </a:lnTo>
                <a:lnTo>
                  <a:pt x="665" y="104"/>
                </a:lnTo>
                <a:lnTo>
                  <a:pt x="665" y="102"/>
                </a:lnTo>
                <a:lnTo>
                  <a:pt x="665" y="99"/>
                </a:lnTo>
                <a:close/>
                <a:moveTo>
                  <a:pt x="1" y="69"/>
                </a:moveTo>
                <a:lnTo>
                  <a:pt x="0" y="74"/>
                </a:lnTo>
                <a:lnTo>
                  <a:pt x="0" y="78"/>
                </a:lnTo>
                <a:lnTo>
                  <a:pt x="0" y="81"/>
                </a:lnTo>
                <a:lnTo>
                  <a:pt x="0" y="84"/>
                </a:lnTo>
                <a:lnTo>
                  <a:pt x="0" y="88"/>
                </a:lnTo>
                <a:lnTo>
                  <a:pt x="0" y="91"/>
                </a:lnTo>
                <a:lnTo>
                  <a:pt x="0" y="96"/>
                </a:lnTo>
                <a:lnTo>
                  <a:pt x="0" y="99"/>
                </a:lnTo>
                <a:lnTo>
                  <a:pt x="0" y="112"/>
                </a:lnTo>
                <a:lnTo>
                  <a:pt x="0" y="124"/>
                </a:lnTo>
                <a:lnTo>
                  <a:pt x="1" y="137"/>
                </a:lnTo>
                <a:lnTo>
                  <a:pt x="3" y="151"/>
                </a:lnTo>
                <a:lnTo>
                  <a:pt x="5" y="162"/>
                </a:lnTo>
                <a:lnTo>
                  <a:pt x="8" y="174"/>
                </a:lnTo>
                <a:lnTo>
                  <a:pt x="11" y="187"/>
                </a:lnTo>
                <a:lnTo>
                  <a:pt x="14" y="199"/>
                </a:lnTo>
                <a:lnTo>
                  <a:pt x="19" y="199"/>
                </a:lnTo>
                <a:lnTo>
                  <a:pt x="16" y="187"/>
                </a:lnTo>
                <a:lnTo>
                  <a:pt x="13" y="174"/>
                </a:lnTo>
                <a:lnTo>
                  <a:pt x="9" y="162"/>
                </a:lnTo>
                <a:lnTo>
                  <a:pt x="8" y="151"/>
                </a:lnTo>
                <a:lnTo>
                  <a:pt x="6" y="137"/>
                </a:lnTo>
                <a:lnTo>
                  <a:pt x="5" y="124"/>
                </a:lnTo>
                <a:lnTo>
                  <a:pt x="5" y="112"/>
                </a:lnTo>
                <a:lnTo>
                  <a:pt x="5" y="99"/>
                </a:lnTo>
                <a:lnTo>
                  <a:pt x="5" y="94"/>
                </a:lnTo>
                <a:lnTo>
                  <a:pt x="5" y="91"/>
                </a:lnTo>
                <a:lnTo>
                  <a:pt x="5" y="88"/>
                </a:lnTo>
                <a:lnTo>
                  <a:pt x="5" y="83"/>
                </a:lnTo>
                <a:lnTo>
                  <a:pt x="5" y="79"/>
                </a:lnTo>
                <a:lnTo>
                  <a:pt x="5" y="76"/>
                </a:lnTo>
                <a:lnTo>
                  <a:pt x="5" y="71"/>
                </a:lnTo>
                <a:lnTo>
                  <a:pt x="6" y="68"/>
                </a:lnTo>
                <a:lnTo>
                  <a:pt x="1" y="69"/>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80" name="Freeform 1085">
            <a:extLst>
              <a:ext uri="{FF2B5EF4-FFF2-40B4-BE49-F238E27FC236}">
                <a16:creationId xmlns:a16="http://schemas.microsoft.com/office/drawing/2014/main" id="{2E77E1E7-1193-E604-93BB-7F5CED53411E}"/>
              </a:ext>
            </a:extLst>
          </p:cNvPr>
          <p:cNvSpPr>
            <a:spLocks noEditPoints="1"/>
          </p:cNvSpPr>
          <p:nvPr/>
        </p:nvSpPr>
        <p:spPr bwMode="auto">
          <a:xfrm>
            <a:off x="2389188" y="2403475"/>
            <a:ext cx="1049338" cy="315913"/>
          </a:xfrm>
          <a:custGeom>
            <a:avLst/>
            <a:gdLst>
              <a:gd name="T0" fmla="*/ 661 w 661"/>
              <a:gd name="T1" fmla="*/ 86 h 199"/>
              <a:gd name="T2" fmla="*/ 659 w 661"/>
              <a:gd name="T3" fmla="*/ 61 h 199"/>
              <a:gd name="T4" fmla="*/ 656 w 661"/>
              <a:gd name="T5" fmla="*/ 36 h 199"/>
              <a:gd name="T6" fmla="*/ 649 w 661"/>
              <a:gd name="T7" fmla="*/ 11 h 199"/>
              <a:gd name="T8" fmla="*/ 641 w 661"/>
              <a:gd name="T9" fmla="*/ 0 h 199"/>
              <a:gd name="T10" fmla="*/ 648 w 661"/>
              <a:gd name="T11" fmla="*/ 23 h 199"/>
              <a:gd name="T12" fmla="*/ 653 w 661"/>
              <a:gd name="T13" fmla="*/ 48 h 199"/>
              <a:gd name="T14" fmla="*/ 656 w 661"/>
              <a:gd name="T15" fmla="*/ 73 h 199"/>
              <a:gd name="T16" fmla="*/ 656 w 661"/>
              <a:gd name="T17" fmla="*/ 99 h 199"/>
              <a:gd name="T18" fmla="*/ 656 w 661"/>
              <a:gd name="T19" fmla="*/ 106 h 199"/>
              <a:gd name="T20" fmla="*/ 656 w 661"/>
              <a:gd name="T21" fmla="*/ 112 h 199"/>
              <a:gd name="T22" fmla="*/ 656 w 661"/>
              <a:gd name="T23" fmla="*/ 119 h 199"/>
              <a:gd name="T24" fmla="*/ 656 w 661"/>
              <a:gd name="T25" fmla="*/ 124 h 199"/>
              <a:gd name="T26" fmla="*/ 661 w 661"/>
              <a:gd name="T27" fmla="*/ 119 h 199"/>
              <a:gd name="T28" fmla="*/ 661 w 661"/>
              <a:gd name="T29" fmla="*/ 114 h 199"/>
              <a:gd name="T30" fmla="*/ 661 w 661"/>
              <a:gd name="T31" fmla="*/ 107 h 199"/>
              <a:gd name="T32" fmla="*/ 661 w 661"/>
              <a:gd name="T33" fmla="*/ 102 h 199"/>
              <a:gd name="T34" fmla="*/ 2 w 661"/>
              <a:gd name="T35" fmla="*/ 69 h 199"/>
              <a:gd name="T36" fmla="*/ 2 w 661"/>
              <a:gd name="T37" fmla="*/ 76 h 199"/>
              <a:gd name="T38" fmla="*/ 2 w 661"/>
              <a:gd name="T39" fmla="*/ 84 h 199"/>
              <a:gd name="T40" fmla="*/ 0 w 661"/>
              <a:gd name="T41" fmla="*/ 91 h 199"/>
              <a:gd name="T42" fmla="*/ 0 w 661"/>
              <a:gd name="T43" fmla="*/ 99 h 199"/>
              <a:gd name="T44" fmla="*/ 2 w 661"/>
              <a:gd name="T45" fmla="*/ 124 h 199"/>
              <a:gd name="T46" fmla="*/ 5 w 661"/>
              <a:gd name="T47" fmla="*/ 151 h 199"/>
              <a:gd name="T48" fmla="*/ 10 w 661"/>
              <a:gd name="T49" fmla="*/ 174 h 199"/>
              <a:gd name="T50" fmla="*/ 15 w 661"/>
              <a:gd name="T51" fmla="*/ 199 h 199"/>
              <a:gd name="T52" fmla="*/ 17 w 661"/>
              <a:gd name="T53" fmla="*/ 187 h 199"/>
              <a:gd name="T54" fmla="*/ 12 w 661"/>
              <a:gd name="T55" fmla="*/ 162 h 199"/>
              <a:gd name="T56" fmla="*/ 8 w 661"/>
              <a:gd name="T57" fmla="*/ 137 h 199"/>
              <a:gd name="T58" fmla="*/ 5 w 661"/>
              <a:gd name="T59" fmla="*/ 112 h 199"/>
              <a:gd name="T60" fmla="*/ 5 w 661"/>
              <a:gd name="T61" fmla="*/ 94 h 199"/>
              <a:gd name="T62" fmla="*/ 5 w 661"/>
              <a:gd name="T63" fmla="*/ 86 h 199"/>
              <a:gd name="T64" fmla="*/ 7 w 661"/>
              <a:gd name="T65" fmla="*/ 79 h 199"/>
              <a:gd name="T66" fmla="*/ 7 w 661"/>
              <a:gd name="T67" fmla="*/ 71 h 199"/>
              <a:gd name="T68" fmla="*/ 2 w 661"/>
              <a:gd name="T69" fmla="*/ 6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1" h="199">
                <a:moveTo>
                  <a:pt x="661" y="99"/>
                </a:moveTo>
                <a:lnTo>
                  <a:pt x="661" y="86"/>
                </a:lnTo>
                <a:lnTo>
                  <a:pt x="661" y="73"/>
                </a:lnTo>
                <a:lnTo>
                  <a:pt x="659" y="61"/>
                </a:lnTo>
                <a:lnTo>
                  <a:pt x="658" y="48"/>
                </a:lnTo>
                <a:lnTo>
                  <a:pt x="656" y="36"/>
                </a:lnTo>
                <a:lnTo>
                  <a:pt x="653" y="23"/>
                </a:lnTo>
                <a:lnTo>
                  <a:pt x="649" y="11"/>
                </a:lnTo>
                <a:lnTo>
                  <a:pt x="646" y="0"/>
                </a:lnTo>
                <a:lnTo>
                  <a:pt x="641" y="0"/>
                </a:lnTo>
                <a:lnTo>
                  <a:pt x="644" y="11"/>
                </a:lnTo>
                <a:lnTo>
                  <a:pt x="648" y="23"/>
                </a:lnTo>
                <a:lnTo>
                  <a:pt x="651" y="36"/>
                </a:lnTo>
                <a:lnTo>
                  <a:pt x="653" y="48"/>
                </a:lnTo>
                <a:lnTo>
                  <a:pt x="654" y="61"/>
                </a:lnTo>
                <a:lnTo>
                  <a:pt x="656" y="73"/>
                </a:lnTo>
                <a:lnTo>
                  <a:pt x="656" y="86"/>
                </a:lnTo>
                <a:lnTo>
                  <a:pt x="656" y="99"/>
                </a:lnTo>
                <a:lnTo>
                  <a:pt x="656" y="102"/>
                </a:lnTo>
                <a:lnTo>
                  <a:pt x="656" y="106"/>
                </a:lnTo>
                <a:lnTo>
                  <a:pt x="656" y="109"/>
                </a:lnTo>
                <a:lnTo>
                  <a:pt x="656" y="112"/>
                </a:lnTo>
                <a:lnTo>
                  <a:pt x="656" y="116"/>
                </a:lnTo>
                <a:lnTo>
                  <a:pt x="656" y="119"/>
                </a:lnTo>
                <a:lnTo>
                  <a:pt x="656" y="121"/>
                </a:lnTo>
                <a:lnTo>
                  <a:pt x="656" y="124"/>
                </a:lnTo>
                <a:lnTo>
                  <a:pt x="661" y="122"/>
                </a:lnTo>
                <a:lnTo>
                  <a:pt x="661" y="119"/>
                </a:lnTo>
                <a:lnTo>
                  <a:pt x="661" y="117"/>
                </a:lnTo>
                <a:lnTo>
                  <a:pt x="661" y="114"/>
                </a:lnTo>
                <a:lnTo>
                  <a:pt x="661" y="111"/>
                </a:lnTo>
                <a:lnTo>
                  <a:pt x="661" y="107"/>
                </a:lnTo>
                <a:lnTo>
                  <a:pt x="661" y="104"/>
                </a:lnTo>
                <a:lnTo>
                  <a:pt x="661" y="102"/>
                </a:lnTo>
                <a:lnTo>
                  <a:pt x="661" y="99"/>
                </a:lnTo>
                <a:close/>
                <a:moveTo>
                  <a:pt x="2" y="69"/>
                </a:moveTo>
                <a:lnTo>
                  <a:pt x="2" y="73"/>
                </a:lnTo>
                <a:lnTo>
                  <a:pt x="2" y="76"/>
                </a:lnTo>
                <a:lnTo>
                  <a:pt x="2" y="79"/>
                </a:lnTo>
                <a:lnTo>
                  <a:pt x="2" y="84"/>
                </a:lnTo>
                <a:lnTo>
                  <a:pt x="0" y="88"/>
                </a:lnTo>
                <a:lnTo>
                  <a:pt x="0" y="91"/>
                </a:lnTo>
                <a:lnTo>
                  <a:pt x="0" y="96"/>
                </a:lnTo>
                <a:lnTo>
                  <a:pt x="0" y="99"/>
                </a:lnTo>
                <a:lnTo>
                  <a:pt x="0" y="112"/>
                </a:lnTo>
                <a:lnTo>
                  <a:pt x="2" y="124"/>
                </a:lnTo>
                <a:lnTo>
                  <a:pt x="4" y="137"/>
                </a:lnTo>
                <a:lnTo>
                  <a:pt x="5" y="151"/>
                </a:lnTo>
                <a:lnTo>
                  <a:pt x="7" y="162"/>
                </a:lnTo>
                <a:lnTo>
                  <a:pt x="10" y="174"/>
                </a:lnTo>
                <a:lnTo>
                  <a:pt x="12" y="187"/>
                </a:lnTo>
                <a:lnTo>
                  <a:pt x="15" y="199"/>
                </a:lnTo>
                <a:lnTo>
                  <a:pt x="22" y="199"/>
                </a:lnTo>
                <a:lnTo>
                  <a:pt x="17" y="187"/>
                </a:lnTo>
                <a:lnTo>
                  <a:pt x="15" y="174"/>
                </a:lnTo>
                <a:lnTo>
                  <a:pt x="12" y="162"/>
                </a:lnTo>
                <a:lnTo>
                  <a:pt x="10" y="151"/>
                </a:lnTo>
                <a:lnTo>
                  <a:pt x="8" y="137"/>
                </a:lnTo>
                <a:lnTo>
                  <a:pt x="7" y="124"/>
                </a:lnTo>
                <a:lnTo>
                  <a:pt x="5" y="112"/>
                </a:lnTo>
                <a:lnTo>
                  <a:pt x="5" y="99"/>
                </a:lnTo>
                <a:lnTo>
                  <a:pt x="5" y="94"/>
                </a:lnTo>
                <a:lnTo>
                  <a:pt x="5" y="91"/>
                </a:lnTo>
                <a:lnTo>
                  <a:pt x="5" y="86"/>
                </a:lnTo>
                <a:lnTo>
                  <a:pt x="5" y="83"/>
                </a:lnTo>
                <a:lnTo>
                  <a:pt x="7" y="79"/>
                </a:lnTo>
                <a:lnTo>
                  <a:pt x="7" y="74"/>
                </a:lnTo>
                <a:lnTo>
                  <a:pt x="7" y="71"/>
                </a:lnTo>
                <a:lnTo>
                  <a:pt x="7" y="66"/>
                </a:lnTo>
                <a:lnTo>
                  <a:pt x="2" y="69"/>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81" name="Freeform 1086">
            <a:extLst>
              <a:ext uri="{FF2B5EF4-FFF2-40B4-BE49-F238E27FC236}">
                <a16:creationId xmlns:a16="http://schemas.microsoft.com/office/drawing/2014/main" id="{FA9D7510-8EA3-486B-12BB-92E162BF96C5}"/>
              </a:ext>
            </a:extLst>
          </p:cNvPr>
          <p:cNvSpPr>
            <a:spLocks noEditPoints="1"/>
          </p:cNvSpPr>
          <p:nvPr/>
        </p:nvSpPr>
        <p:spPr bwMode="auto">
          <a:xfrm>
            <a:off x="2395538" y="2403475"/>
            <a:ext cx="1039813" cy="315913"/>
          </a:xfrm>
          <a:custGeom>
            <a:avLst/>
            <a:gdLst>
              <a:gd name="T0" fmla="*/ 655 w 655"/>
              <a:gd name="T1" fmla="*/ 86 h 199"/>
              <a:gd name="T2" fmla="*/ 654 w 655"/>
              <a:gd name="T3" fmla="*/ 61 h 199"/>
              <a:gd name="T4" fmla="*/ 649 w 655"/>
              <a:gd name="T5" fmla="*/ 36 h 199"/>
              <a:gd name="T6" fmla="*/ 644 w 655"/>
              <a:gd name="T7" fmla="*/ 11 h 199"/>
              <a:gd name="T8" fmla="*/ 635 w 655"/>
              <a:gd name="T9" fmla="*/ 0 h 199"/>
              <a:gd name="T10" fmla="*/ 642 w 655"/>
              <a:gd name="T11" fmla="*/ 23 h 199"/>
              <a:gd name="T12" fmla="*/ 647 w 655"/>
              <a:gd name="T13" fmla="*/ 48 h 199"/>
              <a:gd name="T14" fmla="*/ 649 w 655"/>
              <a:gd name="T15" fmla="*/ 73 h 199"/>
              <a:gd name="T16" fmla="*/ 650 w 655"/>
              <a:gd name="T17" fmla="*/ 99 h 199"/>
              <a:gd name="T18" fmla="*/ 650 w 655"/>
              <a:gd name="T19" fmla="*/ 106 h 199"/>
              <a:gd name="T20" fmla="*/ 650 w 655"/>
              <a:gd name="T21" fmla="*/ 112 h 199"/>
              <a:gd name="T22" fmla="*/ 650 w 655"/>
              <a:gd name="T23" fmla="*/ 119 h 199"/>
              <a:gd name="T24" fmla="*/ 649 w 655"/>
              <a:gd name="T25" fmla="*/ 126 h 199"/>
              <a:gd name="T26" fmla="*/ 655 w 655"/>
              <a:gd name="T27" fmla="*/ 121 h 199"/>
              <a:gd name="T28" fmla="*/ 655 w 655"/>
              <a:gd name="T29" fmla="*/ 114 h 199"/>
              <a:gd name="T30" fmla="*/ 655 w 655"/>
              <a:gd name="T31" fmla="*/ 107 h 199"/>
              <a:gd name="T32" fmla="*/ 655 w 655"/>
              <a:gd name="T33" fmla="*/ 102 h 199"/>
              <a:gd name="T34" fmla="*/ 1 w 655"/>
              <a:gd name="T35" fmla="*/ 68 h 199"/>
              <a:gd name="T36" fmla="*/ 0 w 655"/>
              <a:gd name="T37" fmla="*/ 76 h 199"/>
              <a:gd name="T38" fmla="*/ 0 w 655"/>
              <a:gd name="T39" fmla="*/ 83 h 199"/>
              <a:gd name="T40" fmla="*/ 0 w 655"/>
              <a:gd name="T41" fmla="*/ 91 h 199"/>
              <a:gd name="T42" fmla="*/ 0 w 655"/>
              <a:gd name="T43" fmla="*/ 99 h 199"/>
              <a:gd name="T44" fmla="*/ 0 w 655"/>
              <a:gd name="T45" fmla="*/ 124 h 199"/>
              <a:gd name="T46" fmla="*/ 3 w 655"/>
              <a:gd name="T47" fmla="*/ 151 h 199"/>
              <a:gd name="T48" fmla="*/ 8 w 655"/>
              <a:gd name="T49" fmla="*/ 174 h 199"/>
              <a:gd name="T50" fmla="*/ 14 w 655"/>
              <a:gd name="T51" fmla="*/ 199 h 199"/>
              <a:gd name="T52" fmla="*/ 16 w 655"/>
              <a:gd name="T53" fmla="*/ 187 h 199"/>
              <a:gd name="T54" fmla="*/ 9 w 655"/>
              <a:gd name="T55" fmla="*/ 162 h 199"/>
              <a:gd name="T56" fmla="*/ 6 w 655"/>
              <a:gd name="T57" fmla="*/ 137 h 199"/>
              <a:gd name="T58" fmla="*/ 4 w 655"/>
              <a:gd name="T59" fmla="*/ 112 h 199"/>
              <a:gd name="T60" fmla="*/ 4 w 655"/>
              <a:gd name="T61" fmla="*/ 94 h 199"/>
              <a:gd name="T62" fmla="*/ 4 w 655"/>
              <a:gd name="T63" fmla="*/ 86 h 199"/>
              <a:gd name="T64" fmla="*/ 4 w 655"/>
              <a:gd name="T65" fmla="*/ 78 h 199"/>
              <a:gd name="T66" fmla="*/ 4 w 655"/>
              <a:gd name="T67" fmla="*/ 69 h 199"/>
              <a:gd name="T68" fmla="*/ 1 w 655"/>
              <a:gd name="T69" fmla="*/ 6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5" h="199">
                <a:moveTo>
                  <a:pt x="655" y="99"/>
                </a:moveTo>
                <a:lnTo>
                  <a:pt x="655" y="86"/>
                </a:lnTo>
                <a:lnTo>
                  <a:pt x="654" y="73"/>
                </a:lnTo>
                <a:lnTo>
                  <a:pt x="654" y="61"/>
                </a:lnTo>
                <a:lnTo>
                  <a:pt x="652" y="48"/>
                </a:lnTo>
                <a:lnTo>
                  <a:pt x="649" y="36"/>
                </a:lnTo>
                <a:lnTo>
                  <a:pt x="647" y="23"/>
                </a:lnTo>
                <a:lnTo>
                  <a:pt x="644" y="11"/>
                </a:lnTo>
                <a:lnTo>
                  <a:pt x="640" y="0"/>
                </a:lnTo>
                <a:lnTo>
                  <a:pt x="635" y="0"/>
                </a:lnTo>
                <a:lnTo>
                  <a:pt x="639" y="11"/>
                </a:lnTo>
                <a:lnTo>
                  <a:pt x="642" y="23"/>
                </a:lnTo>
                <a:lnTo>
                  <a:pt x="644" y="36"/>
                </a:lnTo>
                <a:lnTo>
                  <a:pt x="647" y="48"/>
                </a:lnTo>
                <a:lnTo>
                  <a:pt x="649" y="61"/>
                </a:lnTo>
                <a:lnTo>
                  <a:pt x="649" y="73"/>
                </a:lnTo>
                <a:lnTo>
                  <a:pt x="650" y="86"/>
                </a:lnTo>
                <a:lnTo>
                  <a:pt x="650" y="99"/>
                </a:lnTo>
                <a:lnTo>
                  <a:pt x="650" y="102"/>
                </a:lnTo>
                <a:lnTo>
                  <a:pt x="650" y="106"/>
                </a:lnTo>
                <a:lnTo>
                  <a:pt x="650" y="109"/>
                </a:lnTo>
                <a:lnTo>
                  <a:pt x="650" y="112"/>
                </a:lnTo>
                <a:lnTo>
                  <a:pt x="650" y="116"/>
                </a:lnTo>
                <a:lnTo>
                  <a:pt x="650" y="119"/>
                </a:lnTo>
                <a:lnTo>
                  <a:pt x="650" y="122"/>
                </a:lnTo>
                <a:lnTo>
                  <a:pt x="649" y="126"/>
                </a:lnTo>
                <a:lnTo>
                  <a:pt x="654" y="124"/>
                </a:lnTo>
                <a:lnTo>
                  <a:pt x="655" y="121"/>
                </a:lnTo>
                <a:lnTo>
                  <a:pt x="655" y="117"/>
                </a:lnTo>
                <a:lnTo>
                  <a:pt x="655" y="114"/>
                </a:lnTo>
                <a:lnTo>
                  <a:pt x="655" y="111"/>
                </a:lnTo>
                <a:lnTo>
                  <a:pt x="655" y="107"/>
                </a:lnTo>
                <a:lnTo>
                  <a:pt x="655" y="106"/>
                </a:lnTo>
                <a:lnTo>
                  <a:pt x="655" y="102"/>
                </a:lnTo>
                <a:lnTo>
                  <a:pt x="655" y="99"/>
                </a:lnTo>
                <a:close/>
                <a:moveTo>
                  <a:pt x="1" y="68"/>
                </a:moveTo>
                <a:lnTo>
                  <a:pt x="0" y="71"/>
                </a:lnTo>
                <a:lnTo>
                  <a:pt x="0" y="76"/>
                </a:lnTo>
                <a:lnTo>
                  <a:pt x="0" y="79"/>
                </a:lnTo>
                <a:lnTo>
                  <a:pt x="0" y="83"/>
                </a:lnTo>
                <a:lnTo>
                  <a:pt x="0" y="88"/>
                </a:lnTo>
                <a:lnTo>
                  <a:pt x="0" y="91"/>
                </a:lnTo>
                <a:lnTo>
                  <a:pt x="0" y="94"/>
                </a:lnTo>
                <a:lnTo>
                  <a:pt x="0" y="99"/>
                </a:lnTo>
                <a:lnTo>
                  <a:pt x="0" y="112"/>
                </a:lnTo>
                <a:lnTo>
                  <a:pt x="0" y="124"/>
                </a:lnTo>
                <a:lnTo>
                  <a:pt x="1" y="137"/>
                </a:lnTo>
                <a:lnTo>
                  <a:pt x="3" y="151"/>
                </a:lnTo>
                <a:lnTo>
                  <a:pt x="4" y="162"/>
                </a:lnTo>
                <a:lnTo>
                  <a:pt x="8" y="174"/>
                </a:lnTo>
                <a:lnTo>
                  <a:pt x="11" y="187"/>
                </a:lnTo>
                <a:lnTo>
                  <a:pt x="14" y="199"/>
                </a:lnTo>
                <a:lnTo>
                  <a:pt x="19" y="199"/>
                </a:lnTo>
                <a:lnTo>
                  <a:pt x="16" y="187"/>
                </a:lnTo>
                <a:lnTo>
                  <a:pt x="13" y="174"/>
                </a:lnTo>
                <a:lnTo>
                  <a:pt x="9" y="162"/>
                </a:lnTo>
                <a:lnTo>
                  <a:pt x="8" y="151"/>
                </a:lnTo>
                <a:lnTo>
                  <a:pt x="6" y="137"/>
                </a:lnTo>
                <a:lnTo>
                  <a:pt x="4" y="124"/>
                </a:lnTo>
                <a:lnTo>
                  <a:pt x="4" y="112"/>
                </a:lnTo>
                <a:lnTo>
                  <a:pt x="4" y="99"/>
                </a:lnTo>
                <a:lnTo>
                  <a:pt x="4" y="94"/>
                </a:lnTo>
                <a:lnTo>
                  <a:pt x="4" y="91"/>
                </a:lnTo>
                <a:lnTo>
                  <a:pt x="4" y="86"/>
                </a:lnTo>
                <a:lnTo>
                  <a:pt x="4" y="83"/>
                </a:lnTo>
                <a:lnTo>
                  <a:pt x="4" y="78"/>
                </a:lnTo>
                <a:lnTo>
                  <a:pt x="4" y="74"/>
                </a:lnTo>
                <a:lnTo>
                  <a:pt x="4" y="69"/>
                </a:lnTo>
                <a:lnTo>
                  <a:pt x="6" y="66"/>
                </a:lnTo>
                <a:lnTo>
                  <a:pt x="1" y="68"/>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82" name="Freeform 1087">
            <a:extLst>
              <a:ext uri="{FF2B5EF4-FFF2-40B4-BE49-F238E27FC236}">
                <a16:creationId xmlns:a16="http://schemas.microsoft.com/office/drawing/2014/main" id="{303A7039-91F6-6674-1C5F-D8B69FA60181}"/>
              </a:ext>
            </a:extLst>
          </p:cNvPr>
          <p:cNvSpPr>
            <a:spLocks noEditPoints="1"/>
          </p:cNvSpPr>
          <p:nvPr/>
        </p:nvSpPr>
        <p:spPr bwMode="auto">
          <a:xfrm>
            <a:off x="2397125" y="2403475"/>
            <a:ext cx="1033463" cy="315913"/>
          </a:xfrm>
          <a:custGeom>
            <a:avLst/>
            <a:gdLst>
              <a:gd name="T0" fmla="*/ 651 w 651"/>
              <a:gd name="T1" fmla="*/ 86 h 199"/>
              <a:gd name="T2" fmla="*/ 649 w 651"/>
              <a:gd name="T3" fmla="*/ 61 h 199"/>
              <a:gd name="T4" fmla="*/ 646 w 651"/>
              <a:gd name="T5" fmla="*/ 36 h 199"/>
              <a:gd name="T6" fmla="*/ 639 w 651"/>
              <a:gd name="T7" fmla="*/ 11 h 199"/>
              <a:gd name="T8" fmla="*/ 631 w 651"/>
              <a:gd name="T9" fmla="*/ 0 h 199"/>
              <a:gd name="T10" fmla="*/ 638 w 651"/>
              <a:gd name="T11" fmla="*/ 23 h 199"/>
              <a:gd name="T12" fmla="*/ 643 w 651"/>
              <a:gd name="T13" fmla="*/ 48 h 199"/>
              <a:gd name="T14" fmla="*/ 646 w 651"/>
              <a:gd name="T15" fmla="*/ 73 h 199"/>
              <a:gd name="T16" fmla="*/ 648 w 651"/>
              <a:gd name="T17" fmla="*/ 99 h 199"/>
              <a:gd name="T18" fmla="*/ 648 w 651"/>
              <a:gd name="T19" fmla="*/ 106 h 199"/>
              <a:gd name="T20" fmla="*/ 646 w 651"/>
              <a:gd name="T21" fmla="*/ 112 h 199"/>
              <a:gd name="T22" fmla="*/ 646 w 651"/>
              <a:gd name="T23" fmla="*/ 121 h 199"/>
              <a:gd name="T24" fmla="*/ 646 w 651"/>
              <a:gd name="T25" fmla="*/ 127 h 199"/>
              <a:gd name="T26" fmla="*/ 651 w 651"/>
              <a:gd name="T27" fmla="*/ 121 h 199"/>
              <a:gd name="T28" fmla="*/ 651 w 651"/>
              <a:gd name="T29" fmla="*/ 116 h 199"/>
              <a:gd name="T30" fmla="*/ 651 w 651"/>
              <a:gd name="T31" fmla="*/ 109 h 199"/>
              <a:gd name="T32" fmla="*/ 651 w 651"/>
              <a:gd name="T33" fmla="*/ 102 h 199"/>
              <a:gd name="T34" fmla="*/ 2 w 651"/>
              <a:gd name="T35" fmla="*/ 66 h 199"/>
              <a:gd name="T36" fmla="*/ 2 w 651"/>
              <a:gd name="T37" fmla="*/ 74 h 199"/>
              <a:gd name="T38" fmla="*/ 0 w 651"/>
              <a:gd name="T39" fmla="*/ 83 h 199"/>
              <a:gd name="T40" fmla="*/ 0 w 651"/>
              <a:gd name="T41" fmla="*/ 91 h 199"/>
              <a:gd name="T42" fmla="*/ 0 w 651"/>
              <a:gd name="T43" fmla="*/ 99 h 199"/>
              <a:gd name="T44" fmla="*/ 2 w 651"/>
              <a:gd name="T45" fmla="*/ 124 h 199"/>
              <a:gd name="T46" fmla="*/ 5 w 651"/>
              <a:gd name="T47" fmla="*/ 151 h 199"/>
              <a:gd name="T48" fmla="*/ 10 w 651"/>
              <a:gd name="T49" fmla="*/ 174 h 199"/>
              <a:gd name="T50" fmla="*/ 17 w 651"/>
              <a:gd name="T51" fmla="*/ 199 h 199"/>
              <a:gd name="T52" fmla="*/ 17 w 651"/>
              <a:gd name="T53" fmla="*/ 187 h 199"/>
              <a:gd name="T54" fmla="*/ 12 w 651"/>
              <a:gd name="T55" fmla="*/ 162 h 199"/>
              <a:gd name="T56" fmla="*/ 7 w 651"/>
              <a:gd name="T57" fmla="*/ 137 h 199"/>
              <a:gd name="T58" fmla="*/ 5 w 651"/>
              <a:gd name="T59" fmla="*/ 112 h 199"/>
              <a:gd name="T60" fmla="*/ 5 w 651"/>
              <a:gd name="T61" fmla="*/ 94 h 199"/>
              <a:gd name="T62" fmla="*/ 5 w 651"/>
              <a:gd name="T63" fmla="*/ 86 h 199"/>
              <a:gd name="T64" fmla="*/ 7 w 651"/>
              <a:gd name="T65" fmla="*/ 78 h 199"/>
              <a:gd name="T66" fmla="*/ 7 w 651"/>
              <a:gd name="T67" fmla="*/ 68 h 199"/>
              <a:gd name="T68" fmla="*/ 2 w 651"/>
              <a:gd name="T69" fmla="*/ 6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1" h="199">
                <a:moveTo>
                  <a:pt x="651" y="99"/>
                </a:moveTo>
                <a:lnTo>
                  <a:pt x="651" y="86"/>
                </a:lnTo>
                <a:lnTo>
                  <a:pt x="651" y="73"/>
                </a:lnTo>
                <a:lnTo>
                  <a:pt x="649" y="61"/>
                </a:lnTo>
                <a:lnTo>
                  <a:pt x="648" y="48"/>
                </a:lnTo>
                <a:lnTo>
                  <a:pt x="646" y="36"/>
                </a:lnTo>
                <a:lnTo>
                  <a:pt x="643" y="23"/>
                </a:lnTo>
                <a:lnTo>
                  <a:pt x="639" y="11"/>
                </a:lnTo>
                <a:lnTo>
                  <a:pt x="636" y="0"/>
                </a:lnTo>
                <a:lnTo>
                  <a:pt x="631" y="0"/>
                </a:lnTo>
                <a:lnTo>
                  <a:pt x="634" y="11"/>
                </a:lnTo>
                <a:lnTo>
                  <a:pt x="638" y="23"/>
                </a:lnTo>
                <a:lnTo>
                  <a:pt x="641" y="36"/>
                </a:lnTo>
                <a:lnTo>
                  <a:pt x="643" y="48"/>
                </a:lnTo>
                <a:lnTo>
                  <a:pt x="644" y="61"/>
                </a:lnTo>
                <a:lnTo>
                  <a:pt x="646" y="73"/>
                </a:lnTo>
                <a:lnTo>
                  <a:pt x="646" y="86"/>
                </a:lnTo>
                <a:lnTo>
                  <a:pt x="648" y="99"/>
                </a:lnTo>
                <a:lnTo>
                  <a:pt x="648" y="102"/>
                </a:lnTo>
                <a:lnTo>
                  <a:pt x="648" y="106"/>
                </a:lnTo>
                <a:lnTo>
                  <a:pt x="646" y="109"/>
                </a:lnTo>
                <a:lnTo>
                  <a:pt x="646" y="112"/>
                </a:lnTo>
                <a:lnTo>
                  <a:pt x="646" y="116"/>
                </a:lnTo>
                <a:lnTo>
                  <a:pt x="646" y="121"/>
                </a:lnTo>
                <a:lnTo>
                  <a:pt x="646" y="124"/>
                </a:lnTo>
                <a:lnTo>
                  <a:pt x="646" y="127"/>
                </a:lnTo>
                <a:lnTo>
                  <a:pt x="651" y="124"/>
                </a:lnTo>
                <a:lnTo>
                  <a:pt x="651" y="121"/>
                </a:lnTo>
                <a:lnTo>
                  <a:pt x="651" y="119"/>
                </a:lnTo>
                <a:lnTo>
                  <a:pt x="651" y="116"/>
                </a:lnTo>
                <a:lnTo>
                  <a:pt x="651" y="112"/>
                </a:lnTo>
                <a:lnTo>
                  <a:pt x="651" y="109"/>
                </a:lnTo>
                <a:lnTo>
                  <a:pt x="651" y="106"/>
                </a:lnTo>
                <a:lnTo>
                  <a:pt x="651" y="102"/>
                </a:lnTo>
                <a:lnTo>
                  <a:pt x="651" y="99"/>
                </a:lnTo>
                <a:close/>
                <a:moveTo>
                  <a:pt x="2" y="66"/>
                </a:moveTo>
                <a:lnTo>
                  <a:pt x="2" y="71"/>
                </a:lnTo>
                <a:lnTo>
                  <a:pt x="2" y="74"/>
                </a:lnTo>
                <a:lnTo>
                  <a:pt x="2" y="79"/>
                </a:lnTo>
                <a:lnTo>
                  <a:pt x="0" y="83"/>
                </a:lnTo>
                <a:lnTo>
                  <a:pt x="0" y="86"/>
                </a:lnTo>
                <a:lnTo>
                  <a:pt x="0" y="91"/>
                </a:lnTo>
                <a:lnTo>
                  <a:pt x="0" y="94"/>
                </a:lnTo>
                <a:lnTo>
                  <a:pt x="0" y="99"/>
                </a:lnTo>
                <a:lnTo>
                  <a:pt x="0" y="112"/>
                </a:lnTo>
                <a:lnTo>
                  <a:pt x="2" y="124"/>
                </a:lnTo>
                <a:lnTo>
                  <a:pt x="3" y="137"/>
                </a:lnTo>
                <a:lnTo>
                  <a:pt x="5" y="151"/>
                </a:lnTo>
                <a:lnTo>
                  <a:pt x="7" y="162"/>
                </a:lnTo>
                <a:lnTo>
                  <a:pt x="10" y="174"/>
                </a:lnTo>
                <a:lnTo>
                  <a:pt x="12" y="187"/>
                </a:lnTo>
                <a:lnTo>
                  <a:pt x="17" y="199"/>
                </a:lnTo>
                <a:lnTo>
                  <a:pt x="22" y="199"/>
                </a:lnTo>
                <a:lnTo>
                  <a:pt x="17" y="187"/>
                </a:lnTo>
                <a:lnTo>
                  <a:pt x="13" y="175"/>
                </a:lnTo>
                <a:lnTo>
                  <a:pt x="12" y="162"/>
                </a:lnTo>
                <a:lnTo>
                  <a:pt x="10" y="151"/>
                </a:lnTo>
                <a:lnTo>
                  <a:pt x="7" y="137"/>
                </a:lnTo>
                <a:lnTo>
                  <a:pt x="7" y="124"/>
                </a:lnTo>
                <a:lnTo>
                  <a:pt x="5" y="112"/>
                </a:lnTo>
                <a:lnTo>
                  <a:pt x="5" y="99"/>
                </a:lnTo>
                <a:lnTo>
                  <a:pt x="5" y="94"/>
                </a:lnTo>
                <a:lnTo>
                  <a:pt x="5" y="91"/>
                </a:lnTo>
                <a:lnTo>
                  <a:pt x="5" y="86"/>
                </a:lnTo>
                <a:lnTo>
                  <a:pt x="5" y="81"/>
                </a:lnTo>
                <a:lnTo>
                  <a:pt x="7" y="78"/>
                </a:lnTo>
                <a:lnTo>
                  <a:pt x="7" y="73"/>
                </a:lnTo>
                <a:lnTo>
                  <a:pt x="7" y="68"/>
                </a:lnTo>
                <a:lnTo>
                  <a:pt x="7" y="64"/>
                </a:lnTo>
                <a:lnTo>
                  <a:pt x="2" y="66"/>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83" name="Freeform 1088">
            <a:extLst>
              <a:ext uri="{FF2B5EF4-FFF2-40B4-BE49-F238E27FC236}">
                <a16:creationId xmlns:a16="http://schemas.microsoft.com/office/drawing/2014/main" id="{C12F50DE-7C62-B706-8519-975F82C95AD4}"/>
              </a:ext>
            </a:extLst>
          </p:cNvPr>
          <p:cNvSpPr>
            <a:spLocks noEditPoints="1"/>
          </p:cNvSpPr>
          <p:nvPr/>
        </p:nvSpPr>
        <p:spPr bwMode="auto">
          <a:xfrm>
            <a:off x="2401888" y="2403475"/>
            <a:ext cx="1025525" cy="315913"/>
          </a:xfrm>
          <a:custGeom>
            <a:avLst/>
            <a:gdLst>
              <a:gd name="T0" fmla="*/ 646 w 646"/>
              <a:gd name="T1" fmla="*/ 86 h 199"/>
              <a:gd name="T2" fmla="*/ 645 w 646"/>
              <a:gd name="T3" fmla="*/ 61 h 199"/>
              <a:gd name="T4" fmla="*/ 640 w 646"/>
              <a:gd name="T5" fmla="*/ 36 h 199"/>
              <a:gd name="T6" fmla="*/ 635 w 646"/>
              <a:gd name="T7" fmla="*/ 11 h 199"/>
              <a:gd name="T8" fmla="*/ 626 w 646"/>
              <a:gd name="T9" fmla="*/ 0 h 199"/>
              <a:gd name="T10" fmla="*/ 633 w 646"/>
              <a:gd name="T11" fmla="*/ 23 h 199"/>
              <a:gd name="T12" fmla="*/ 638 w 646"/>
              <a:gd name="T13" fmla="*/ 48 h 199"/>
              <a:gd name="T14" fmla="*/ 641 w 646"/>
              <a:gd name="T15" fmla="*/ 73 h 199"/>
              <a:gd name="T16" fmla="*/ 641 w 646"/>
              <a:gd name="T17" fmla="*/ 99 h 199"/>
              <a:gd name="T18" fmla="*/ 641 w 646"/>
              <a:gd name="T19" fmla="*/ 106 h 199"/>
              <a:gd name="T20" fmla="*/ 641 w 646"/>
              <a:gd name="T21" fmla="*/ 114 h 199"/>
              <a:gd name="T22" fmla="*/ 641 w 646"/>
              <a:gd name="T23" fmla="*/ 121 h 199"/>
              <a:gd name="T24" fmla="*/ 640 w 646"/>
              <a:gd name="T25" fmla="*/ 127 h 199"/>
              <a:gd name="T26" fmla="*/ 646 w 646"/>
              <a:gd name="T27" fmla="*/ 122 h 199"/>
              <a:gd name="T28" fmla="*/ 646 w 646"/>
              <a:gd name="T29" fmla="*/ 116 h 199"/>
              <a:gd name="T30" fmla="*/ 646 w 646"/>
              <a:gd name="T31" fmla="*/ 109 h 199"/>
              <a:gd name="T32" fmla="*/ 646 w 646"/>
              <a:gd name="T33" fmla="*/ 102 h 199"/>
              <a:gd name="T34" fmla="*/ 2 w 646"/>
              <a:gd name="T35" fmla="*/ 66 h 199"/>
              <a:gd name="T36" fmla="*/ 0 w 646"/>
              <a:gd name="T37" fmla="*/ 74 h 199"/>
              <a:gd name="T38" fmla="*/ 0 w 646"/>
              <a:gd name="T39" fmla="*/ 83 h 199"/>
              <a:gd name="T40" fmla="*/ 0 w 646"/>
              <a:gd name="T41" fmla="*/ 91 h 199"/>
              <a:gd name="T42" fmla="*/ 0 w 646"/>
              <a:gd name="T43" fmla="*/ 99 h 199"/>
              <a:gd name="T44" fmla="*/ 0 w 646"/>
              <a:gd name="T45" fmla="*/ 124 h 199"/>
              <a:gd name="T46" fmla="*/ 4 w 646"/>
              <a:gd name="T47" fmla="*/ 151 h 199"/>
              <a:gd name="T48" fmla="*/ 9 w 646"/>
              <a:gd name="T49" fmla="*/ 174 h 199"/>
              <a:gd name="T50" fmla="*/ 15 w 646"/>
              <a:gd name="T51" fmla="*/ 199 h 199"/>
              <a:gd name="T52" fmla="*/ 17 w 646"/>
              <a:gd name="T53" fmla="*/ 187 h 199"/>
              <a:gd name="T54" fmla="*/ 10 w 646"/>
              <a:gd name="T55" fmla="*/ 162 h 199"/>
              <a:gd name="T56" fmla="*/ 7 w 646"/>
              <a:gd name="T57" fmla="*/ 137 h 199"/>
              <a:gd name="T58" fmla="*/ 5 w 646"/>
              <a:gd name="T59" fmla="*/ 112 h 199"/>
              <a:gd name="T60" fmla="*/ 5 w 646"/>
              <a:gd name="T61" fmla="*/ 94 h 199"/>
              <a:gd name="T62" fmla="*/ 5 w 646"/>
              <a:gd name="T63" fmla="*/ 86 h 199"/>
              <a:gd name="T64" fmla="*/ 5 w 646"/>
              <a:gd name="T65" fmla="*/ 76 h 199"/>
              <a:gd name="T66" fmla="*/ 5 w 646"/>
              <a:gd name="T67" fmla="*/ 68 h 199"/>
              <a:gd name="T68" fmla="*/ 2 w 646"/>
              <a:gd name="T69" fmla="*/ 6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6" h="199">
                <a:moveTo>
                  <a:pt x="646" y="99"/>
                </a:moveTo>
                <a:lnTo>
                  <a:pt x="646" y="86"/>
                </a:lnTo>
                <a:lnTo>
                  <a:pt x="645" y="73"/>
                </a:lnTo>
                <a:lnTo>
                  <a:pt x="645" y="61"/>
                </a:lnTo>
                <a:lnTo>
                  <a:pt x="643" y="48"/>
                </a:lnTo>
                <a:lnTo>
                  <a:pt x="640" y="36"/>
                </a:lnTo>
                <a:lnTo>
                  <a:pt x="638" y="23"/>
                </a:lnTo>
                <a:lnTo>
                  <a:pt x="635" y="11"/>
                </a:lnTo>
                <a:lnTo>
                  <a:pt x="631" y="0"/>
                </a:lnTo>
                <a:lnTo>
                  <a:pt x="626" y="0"/>
                </a:lnTo>
                <a:lnTo>
                  <a:pt x="630" y="11"/>
                </a:lnTo>
                <a:lnTo>
                  <a:pt x="633" y="23"/>
                </a:lnTo>
                <a:lnTo>
                  <a:pt x="635" y="36"/>
                </a:lnTo>
                <a:lnTo>
                  <a:pt x="638" y="48"/>
                </a:lnTo>
                <a:lnTo>
                  <a:pt x="640" y="61"/>
                </a:lnTo>
                <a:lnTo>
                  <a:pt x="641" y="73"/>
                </a:lnTo>
                <a:lnTo>
                  <a:pt x="641" y="86"/>
                </a:lnTo>
                <a:lnTo>
                  <a:pt x="641" y="99"/>
                </a:lnTo>
                <a:lnTo>
                  <a:pt x="641" y="102"/>
                </a:lnTo>
                <a:lnTo>
                  <a:pt x="641" y="106"/>
                </a:lnTo>
                <a:lnTo>
                  <a:pt x="641" y="109"/>
                </a:lnTo>
                <a:lnTo>
                  <a:pt x="641" y="114"/>
                </a:lnTo>
                <a:lnTo>
                  <a:pt x="641" y="117"/>
                </a:lnTo>
                <a:lnTo>
                  <a:pt x="641" y="121"/>
                </a:lnTo>
                <a:lnTo>
                  <a:pt x="641" y="124"/>
                </a:lnTo>
                <a:lnTo>
                  <a:pt x="640" y="127"/>
                </a:lnTo>
                <a:lnTo>
                  <a:pt x="645" y="126"/>
                </a:lnTo>
                <a:lnTo>
                  <a:pt x="646" y="122"/>
                </a:lnTo>
                <a:lnTo>
                  <a:pt x="646" y="119"/>
                </a:lnTo>
                <a:lnTo>
                  <a:pt x="646" y="116"/>
                </a:lnTo>
                <a:lnTo>
                  <a:pt x="646" y="112"/>
                </a:lnTo>
                <a:lnTo>
                  <a:pt x="646" y="109"/>
                </a:lnTo>
                <a:lnTo>
                  <a:pt x="646" y="106"/>
                </a:lnTo>
                <a:lnTo>
                  <a:pt x="646" y="102"/>
                </a:lnTo>
                <a:lnTo>
                  <a:pt x="646" y="99"/>
                </a:lnTo>
                <a:close/>
                <a:moveTo>
                  <a:pt x="2" y="66"/>
                </a:moveTo>
                <a:lnTo>
                  <a:pt x="0" y="69"/>
                </a:lnTo>
                <a:lnTo>
                  <a:pt x="0" y="74"/>
                </a:lnTo>
                <a:lnTo>
                  <a:pt x="0" y="78"/>
                </a:lnTo>
                <a:lnTo>
                  <a:pt x="0" y="83"/>
                </a:lnTo>
                <a:lnTo>
                  <a:pt x="0" y="86"/>
                </a:lnTo>
                <a:lnTo>
                  <a:pt x="0" y="91"/>
                </a:lnTo>
                <a:lnTo>
                  <a:pt x="0" y="94"/>
                </a:lnTo>
                <a:lnTo>
                  <a:pt x="0" y="99"/>
                </a:lnTo>
                <a:lnTo>
                  <a:pt x="0" y="112"/>
                </a:lnTo>
                <a:lnTo>
                  <a:pt x="0" y="124"/>
                </a:lnTo>
                <a:lnTo>
                  <a:pt x="2" y="137"/>
                </a:lnTo>
                <a:lnTo>
                  <a:pt x="4" y="151"/>
                </a:lnTo>
                <a:lnTo>
                  <a:pt x="5" y="162"/>
                </a:lnTo>
                <a:lnTo>
                  <a:pt x="9" y="174"/>
                </a:lnTo>
                <a:lnTo>
                  <a:pt x="12" y="187"/>
                </a:lnTo>
                <a:lnTo>
                  <a:pt x="15" y="199"/>
                </a:lnTo>
                <a:lnTo>
                  <a:pt x="20" y="199"/>
                </a:lnTo>
                <a:lnTo>
                  <a:pt x="17" y="187"/>
                </a:lnTo>
                <a:lnTo>
                  <a:pt x="14" y="175"/>
                </a:lnTo>
                <a:lnTo>
                  <a:pt x="10" y="162"/>
                </a:lnTo>
                <a:lnTo>
                  <a:pt x="9" y="151"/>
                </a:lnTo>
                <a:lnTo>
                  <a:pt x="7" y="137"/>
                </a:lnTo>
                <a:lnTo>
                  <a:pt x="5" y="124"/>
                </a:lnTo>
                <a:lnTo>
                  <a:pt x="5" y="112"/>
                </a:lnTo>
                <a:lnTo>
                  <a:pt x="5" y="99"/>
                </a:lnTo>
                <a:lnTo>
                  <a:pt x="5" y="94"/>
                </a:lnTo>
                <a:lnTo>
                  <a:pt x="5" y="89"/>
                </a:lnTo>
                <a:lnTo>
                  <a:pt x="5" y="86"/>
                </a:lnTo>
                <a:lnTo>
                  <a:pt x="5" y="81"/>
                </a:lnTo>
                <a:lnTo>
                  <a:pt x="5" y="76"/>
                </a:lnTo>
                <a:lnTo>
                  <a:pt x="5" y="71"/>
                </a:lnTo>
                <a:lnTo>
                  <a:pt x="5" y="68"/>
                </a:lnTo>
                <a:lnTo>
                  <a:pt x="7" y="63"/>
                </a:lnTo>
                <a:lnTo>
                  <a:pt x="2" y="66"/>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84" name="Freeform 1089">
            <a:extLst>
              <a:ext uri="{FF2B5EF4-FFF2-40B4-BE49-F238E27FC236}">
                <a16:creationId xmlns:a16="http://schemas.microsoft.com/office/drawing/2014/main" id="{32F092AE-2D49-C5CA-FE0A-9468705C9D66}"/>
              </a:ext>
            </a:extLst>
          </p:cNvPr>
          <p:cNvSpPr>
            <a:spLocks noEditPoints="1"/>
          </p:cNvSpPr>
          <p:nvPr/>
        </p:nvSpPr>
        <p:spPr bwMode="auto">
          <a:xfrm>
            <a:off x="2405063" y="2403475"/>
            <a:ext cx="1020763" cy="315913"/>
          </a:xfrm>
          <a:custGeom>
            <a:avLst/>
            <a:gdLst>
              <a:gd name="T0" fmla="*/ 641 w 643"/>
              <a:gd name="T1" fmla="*/ 86 h 199"/>
              <a:gd name="T2" fmla="*/ 639 w 643"/>
              <a:gd name="T3" fmla="*/ 61 h 199"/>
              <a:gd name="T4" fmla="*/ 636 w 643"/>
              <a:gd name="T5" fmla="*/ 36 h 199"/>
              <a:gd name="T6" fmla="*/ 629 w 643"/>
              <a:gd name="T7" fmla="*/ 11 h 199"/>
              <a:gd name="T8" fmla="*/ 621 w 643"/>
              <a:gd name="T9" fmla="*/ 0 h 199"/>
              <a:gd name="T10" fmla="*/ 628 w 643"/>
              <a:gd name="T11" fmla="*/ 23 h 199"/>
              <a:gd name="T12" fmla="*/ 633 w 643"/>
              <a:gd name="T13" fmla="*/ 48 h 199"/>
              <a:gd name="T14" fmla="*/ 636 w 643"/>
              <a:gd name="T15" fmla="*/ 73 h 199"/>
              <a:gd name="T16" fmla="*/ 638 w 643"/>
              <a:gd name="T17" fmla="*/ 99 h 199"/>
              <a:gd name="T18" fmla="*/ 638 w 643"/>
              <a:gd name="T19" fmla="*/ 106 h 199"/>
              <a:gd name="T20" fmla="*/ 636 w 643"/>
              <a:gd name="T21" fmla="*/ 114 h 199"/>
              <a:gd name="T22" fmla="*/ 636 w 643"/>
              <a:gd name="T23" fmla="*/ 122 h 199"/>
              <a:gd name="T24" fmla="*/ 636 w 643"/>
              <a:gd name="T25" fmla="*/ 129 h 199"/>
              <a:gd name="T26" fmla="*/ 641 w 643"/>
              <a:gd name="T27" fmla="*/ 124 h 199"/>
              <a:gd name="T28" fmla="*/ 641 w 643"/>
              <a:gd name="T29" fmla="*/ 116 h 199"/>
              <a:gd name="T30" fmla="*/ 641 w 643"/>
              <a:gd name="T31" fmla="*/ 109 h 199"/>
              <a:gd name="T32" fmla="*/ 643 w 643"/>
              <a:gd name="T33" fmla="*/ 102 h 199"/>
              <a:gd name="T34" fmla="*/ 2 w 643"/>
              <a:gd name="T35" fmla="*/ 64 h 199"/>
              <a:gd name="T36" fmla="*/ 2 w 643"/>
              <a:gd name="T37" fmla="*/ 73 h 199"/>
              <a:gd name="T38" fmla="*/ 0 w 643"/>
              <a:gd name="T39" fmla="*/ 81 h 199"/>
              <a:gd name="T40" fmla="*/ 0 w 643"/>
              <a:gd name="T41" fmla="*/ 91 h 199"/>
              <a:gd name="T42" fmla="*/ 0 w 643"/>
              <a:gd name="T43" fmla="*/ 99 h 199"/>
              <a:gd name="T44" fmla="*/ 2 w 643"/>
              <a:gd name="T45" fmla="*/ 124 h 199"/>
              <a:gd name="T46" fmla="*/ 5 w 643"/>
              <a:gd name="T47" fmla="*/ 151 h 199"/>
              <a:gd name="T48" fmla="*/ 8 w 643"/>
              <a:gd name="T49" fmla="*/ 175 h 199"/>
              <a:gd name="T50" fmla="*/ 17 w 643"/>
              <a:gd name="T51" fmla="*/ 199 h 199"/>
              <a:gd name="T52" fmla="*/ 17 w 643"/>
              <a:gd name="T53" fmla="*/ 187 h 199"/>
              <a:gd name="T54" fmla="*/ 12 w 643"/>
              <a:gd name="T55" fmla="*/ 162 h 199"/>
              <a:gd name="T56" fmla="*/ 7 w 643"/>
              <a:gd name="T57" fmla="*/ 137 h 199"/>
              <a:gd name="T58" fmla="*/ 5 w 643"/>
              <a:gd name="T59" fmla="*/ 112 h 199"/>
              <a:gd name="T60" fmla="*/ 5 w 643"/>
              <a:gd name="T61" fmla="*/ 94 h 199"/>
              <a:gd name="T62" fmla="*/ 5 w 643"/>
              <a:gd name="T63" fmla="*/ 84 h 199"/>
              <a:gd name="T64" fmla="*/ 7 w 643"/>
              <a:gd name="T65" fmla="*/ 76 h 199"/>
              <a:gd name="T66" fmla="*/ 7 w 643"/>
              <a:gd name="T67" fmla="*/ 66 h 199"/>
              <a:gd name="T68" fmla="*/ 2 w 643"/>
              <a:gd name="T69" fmla="*/ 6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3" h="199">
                <a:moveTo>
                  <a:pt x="643" y="99"/>
                </a:moveTo>
                <a:lnTo>
                  <a:pt x="641" y="86"/>
                </a:lnTo>
                <a:lnTo>
                  <a:pt x="641" y="73"/>
                </a:lnTo>
                <a:lnTo>
                  <a:pt x="639" y="61"/>
                </a:lnTo>
                <a:lnTo>
                  <a:pt x="638" y="48"/>
                </a:lnTo>
                <a:lnTo>
                  <a:pt x="636" y="36"/>
                </a:lnTo>
                <a:lnTo>
                  <a:pt x="633" y="23"/>
                </a:lnTo>
                <a:lnTo>
                  <a:pt x="629" y="11"/>
                </a:lnTo>
                <a:lnTo>
                  <a:pt x="626" y="0"/>
                </a:lnTo>
                <a:lnTo>
                  <a:pt x="621" y="0"/>
                </a:lnTo>
                <a:lnTo>
                  <a:pt x="624" y="11"/>
                </a:lnTo>
                <a:lnTo>
                  <a:pt x="628" y="23"/>
                </a:lnTo>
                <a:lnTo>
                  <a:pt x="631" y="36"/>
                </a:lnTo>
                <a:lnTo>
                  <a:pt x="633" y="48"/>
                </a:lnTo>
                <a:lnTo>
                  <a:pt x="634" y="61"/>
                </a:lnTo>
                <a:lnTo>
                  <a:pt x="636" y="73"/>
                </a:lnTo>
                <a:lnTo>
                  <a:pt x="638" y="86"/>
                </a:lnTo>
                <a:lnTo>
                  <a:pt x="638" y="99"/>
                </a:lnTo>
                <a:lnTo>
                  <a:pt x="638" y="102"/>
                </a:lnTo>
                <a:lnTo>
                  <a:pt x="638" y="106"/>
                </a:lnTo>
                <a:lnTo>
                  <a:pt x="638" y="111"/>
                </a:lnTo>
                <a:lnTo>
                  <a:pt x="636" y="114"/>
                </a:lnTo>
                <a:lnTo>
                  <a:pt x="636" y="117"/>
                </a:lnTo>
                <a:lnTo>
                  <a:pt x="636" y="122"/>
                </a:lnTo>
                <a:lnTo>
                  <a:pt x="636" y="126"/>
                </a:lnTo>
                <a:lnTo>
                  <a:pt x="636" y="129"/>
                </a:lnTo>
                <a:lnTo>
                  <a:pt x="641" y="127"/>
                </a:lnTo>
                <a:lnTo>
                  <a:pt x="641" y="124"/>
                </a:lnTo>
                <a:lnTo>
                  <a:pt x="641" y="121"/>
                </a:lnTo>
                <a:lnTo>
                  <a:pt x="641" y="116"/>
                </a:lnTo>
                <a:lnTo>
                  <a:pt x="641" y="112"/>
                </a:lnTo>
                <a:lnTo>
                  <a:pt x="641" y="109"/>
                </a:lnTo>
                <a:lnTo>
                  <a:pt x="643" y="106"/>
                </a:lnTo>
                <a:lnTo>
                  <a:pt x="643" y="102"/>
                </a:lnTo>
                <a:lnTo>
                  <a:pt x="643" y="99"/>
                </a:lnTo>
                <a:close/>
                <a:moveTo>
                  <a:pt x="2" y="64"/>
                </a:moveTo>
                <a:lnTo>
                  <a:pt x="2" y="68"/>
                </a:lnTo>
                <a:lnTo>
                  <a:pt x="2" y="73"/>
                </a:lnTo>
                <a:lnTo>
                  <a:pt x="2" y="78"/>
                </a:lnTo>
                <a:lnTo>
                  <a:pt x="0" y="81"/>
                </a:lnTo>
                <a:lnTo>
                  <a:pt x="0" y="86"/>
                </a:lnTo>
                <a:lnTo>
                  <a:pt x="0" y="91"/>
                </a:lnTo>
                <a:lnTo>
                  <a:pt x="0" y="94"/>
                </a:lnTo>
                <a:lnTo>
                  <a:pt x="0" y="99"/>
                </a:lnTo>
                <a:lnTo>
                  <a:pt x="0" y="112"/>
                </a:lnTo>
                <a:lnTo>
                  <a:pt x="2" y="124"/>
                </a:lnTo>
                <a:lnTo>
                  <a:pt x="2" y="137"/>
                </a:lnTo>
                <a:lnTo>
                  <a:pt x="5" y="151"/>
                </a:lnTo>
                <a:lnTo>
                  <a:pt x="7" y="162"/>
                </a:lnTo>
                <a:lnTo>
                  <a:pt x="8" y="175"/>
                </a:lnTo>
                <a:lnTo>
                  <a:pt x="12" y="187"/>
                </a:lnTo>
                <a:lnTo>
                  <a:pt x="17" y="199"/>
                </a:lnTo>
                <a:lnTo>
                  <a:pt x="22" y="199"/>
                </a:lnTo>
                <a:lnTo>
                  <a:pt x="17" y="187"/>
                </a:lnTo>
                <a:lnTo>
                  <a:pt x="13" y="175"/>
                </a:lnTo>
                <a:lnTo>
                  <a:pt x="12" y="162"/>
                </a:lnTo>
                <a:lnTo>
                  <a:pt x="8" y="151"/>
                </a:lnTo>
                <a:lnTo>
                  <a:pt x="7" y="137"/>
                </a:lnTo>
                <a:lnTo>
                  <a:pt x="7" y="124"/>
                </a:lnTo>
                <a:lnTo>
                  <a:pt x="5" y="112"/>
                </a:lnTo>
                <a:lnTo>
                  <a:pt x="5" y="99"/>
                </a:lnTo>
                <a:lnTo>
                  <a:pt x="5" y="94"/>
                </a:lnTo>
                <a:lnTo>
                  <a:pt x="5" y="89"/>
                </a:lnTo>
                <a:lnTo>
                  <a:pt x="5" y="84"/>
                </a:lnTo>
                <a:lnTo>
                  <a:pt x="5" y="81"/>
                </a:lnTo>
                <a:lnTo>
                  <a:pt x="7" y="76"/>
                </a:lnTo>
                <a:lnTo>
                  <a:pt x="7" y="71"/>
                </a:lnTo>
                <a:lnTo>
                  <a:pt x="7" y="66"/>
                </a:lnTo>
                <a:lnTo>
                  <a:pt x="7" y="61"/>
                </a:lnTo>
                <a:lnTo>
                  <a:pt x="2" y="64"/>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85" name="Freeform 1090">
            <a:extLst>
              <a:ext uri="{FF2B5EF4-FFF2-40B4-BE49-F238E27FC236}">
                <a16:creationId xmlns:a16="http://schemas.microsoft.com/office/drawing/2014/main" id="{FA761F46-070B-E2A8-ED0F-3729B7F9DF29}"/>
              </a:ext>
            </a:extLst>
          </p:cNvPr>
          <p:cNvSpPr>
            <a:spLocks noEditPoints="1"/>
          </p:cNvSpPr>
          <p:nvPr/>
        </p:nvSpPr>
        <p:spPr bwMode="auto">
          <a:xfrm>
            <a:off x="2409825" y="2403475"/>
            <a:ext cx="1009650" cy="315913"/>
          </a:xfrm>
          <a:custGeom>
            <a:avLst/>
            <a:gdLst>
              <a:gd name="T0" fmla="*/ 636 w 636"/>
              <a:gd name="T1" fmla="*/ 86 h 199"/>
              <a:gd name="T2" fmla="*/ 635 w 636"/>
              <a:gd name="T3" fmla="*/ 61 h 199"/>
              <a:gd name="T4" fmla="*/ 630 w 636"/>
              <a:gd name="T5" fmla="*/ 36 h 199"/>
              <a:gd name="T6" fmla="*/ 625 w 636"/>
              <a:gd name="T7" fmla="*/ 11 h 199"/>
              <a:gd name="T8" fmla="*/ 617 w 636"/>
              <a:gd name="T9" fmla="*/ 0 h 199"/>
              <a:gd name="T10" fmla="*/ 623 w 636"/>
              <a:gd name="T11" fmla="*/ 23 h 199"/>
              <a:gd name="T12" fmla="*/ 628 w 636"/>
              <a:gd name="T13" fmla="*/ 48 h 199"/>
              <a:gd name="T14" fmla="*/ 631 w 636"/>
              <a:gd name="T15" fmla="*/ 73 h 199"/>
              <a:gd name="T16" fmla="*/ 631 w 636"/>
              <a:gd name="T17" fmla="*/ 99 h 199"/>
              <a:gd name="T18" fmla="*/ 631 w 636"/>
              <a:gd name="T19" fmla="*/ 107 h 199"/>
              <a:gd name="T20" fmla="*/ 631 w 636"/>
              <a:gd name="T21" fmla="*/ 114 h 199"/>
              <a:gd name="T22" fmla="*/ 631 w 636"/>
              <a:gd name="T23" fmla="*/ 122 h 199"/>
              <a:gd name="T24" fmla="*/ 630 w 636"/>
              <a:gd name="T25" fmla="*/ 131 h 199"/>
              <a:gd name="T26" fmla="*/ 636 w 636"/>
              <a:gd name="T27" fmla="*/ 124 h 199"/>
              <a:gd name="T28" fmla="*/ 636 w 636"/>
              <a:gd name="T29" fmla="*/ 117 h 199"/>
              <a:gd name="T30" fmla="*/ 636 w 636"/>
              <a:gd name="T31" fmla="*/ 109 h 199"/>
              <a:gd name="T32" fmla="*/ 636 w 636"/>
              <a:gd name="T33" fmla="*/ 102 h 199"/>
              <a:gd name="T34" fmla="*/ 2 w 636"/>
              <a:gd name="T35" fmla="*/ 63 h 199"/>
              <a:gd name="T36" fmla="*/ 0 w 636"/>
              <a:gd name="T37" fmla="*/ 71 h 199"/>
              <a:gd name="T38" fmla="*/ 0 w 636"/>
              <a:gd name="T39" fmla="*/ 81 h 199"/>
              <a:gd name="T40" fmla="*/ 0 w 636"/>
              <a:gd name="T41" fmla="*/ 89 h 199"/>
              <a:gd name="T42" fmla="*/ 0 w 636"/>
              <a:gd name="T43" fmla="*/ 99 h 199"/>
              <a:gd name="T44" fmla="*/ 0 w 636"/>
              <a:gd name="T45" fmla="*/ 124 h 199"/>
              <a:gd name="T46" fmla="*/ 4 w 636"/>
              <a:gd name="T47" fmla="*/ 151 h 199"/>
              <a:gd name="T48" fmla="*/ 9 w 636"/>
              <a:gd name="T49" fmla="*/ 175 h 199"/>
              <a:gd name="T50" fmla="*/ 15 w 636"/>
              <a:gd name="T51" fmla="*/ 199 h 199"/>
              <a:gd name="T52" fmla="*/ 17 w 636"/>
              <a:gd name="T53" fmla="*/ 187 h 199"/>
              <a:gd name="T54" fmla="*/ 10 w 636"/>
              <a:gd name="T55" fmla="*/ 162 h 199"/>
              <a:gd name="T56" fmla="*/ 7 w 636"/>
              <a:gd name="T57" fmla="*/ 137 h 199"/>
              <a:gd name="T58" fmla="*/ 5 w 636"/>
              <a:gd name="T59" fmla="*/ 112 h 199"/>
              <a:gd name="T60" fmla="*/ 4 w 636"/>
              <a:gd name="T61" fmla="*/ 94 h 199"/>
              <a:gd name="T62" fmla="*/ 5 w 636"/>
              <a:gd name="T63" fmla="*/ 84 h 199"/>
              <a:gd name="T64" fmla="*/ 5 w 636"/>
              <a:gd name="T65" fmla="*/ 74 h 199"/>
              <a:gd name="T66" fmla="*/ 7 w 636"/>
              <a:gd name="T67" fmla="*/ 64 h 199"/>
              <a:gd name="T68" fmla="*/ 2 w 636"/>
              <a:gd name="T69" fmla="*/ 6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6" h="199">
                <a:moveTo>
                  <a:pt x="636" y="99"/>
                </a:moveTo>
                <a:lnTo>
                  <a:pt x="636" y="86"/>
                </a:lnTo>
                <a:lnTo>
                  <a:pt x="636" y="73"/>
                </a:lnTo>
                <a:lnTo>
                  <a:pt x="635" y="61"/>
                </a:lnTo>
                <a:lnTo>
                  <a:pt x="633" y="48"/>
                </a:lnTo>
                <a:lnTo>
                  <a:pt x="630" y="36"/>
                </a:lnTo>
                <a:lnTo>
                  <a:pt x="628" y="23"/>
                </a:lnTo>
                <a:lnTo>
                  <a:pt x="625" y="11"/>
                </a:lnTo>
                <a:lnTo>
                  <a:pt x="621" y="0"/>
                </a:lnTo>
                <a:lnTo>
                  <a:pt x="617" y="0"/>
                </a:lnTo>
                <a:lnTo>
                  <a:pt x="620" y="11"/>
                </a:lnTo>
                <a:lnTo>
                  <a:pt x="623" y="23"/>
                </a:lnTo>
                <a:lnTo>
                  <a:pt x="625" y="36"/>
                </a:lnTo>
                <a:lnTo>
                  <a:pt x="628" y="48"/>
                </a:lnTo>
                <a:lnTo>
                  <a:pt x="630" y="61"/>
                </a:lnTo>
                <a:lnTo>
                  <a:pt x="631" y="73"/>
                </a:lnTo>
                <a:lnTo>
                  <a:pt x="631" y="86"/>
                </a:lnTo>
                <a:lnTo>
                  <a:pt x="631" y="99"/>
                </a:lnTo>
                <a:lnTo>
                  <a:pt x="631" y="102"/>
                </a:lnTo>
                <a:lnTo>
                  <a:pt x="631" y="107"/>
                </a:lnTo>
                <a:lnTo>
                  <a:pt x="631" y="111"/>
                </a:lnTo>
                <a:lnTo>
                  <a:pt x="631" y="114"/>
                </a:lnTo>
                <a:lnTo>
                  <a:pt x="631" y="119"/>
                </a:lnTo>
                <a:lnTo>
                  <a:pt x="631" y="122"/>
                </a:lnTo>
                <a:lnTo>
                  <a:pt x="631" y="126"/>
                </a:lnTo>
                <a:lnTo>
                  <a:pt x="630" y="131"/>
                </a:lnTo>
                <a:lnTo>
                  <a:pt x="635" y="127"/>
                </a:lnTo>
                <a:lnTo>
                  <a:pt x="636" y="124"/>
                </a:lnTo>
                <a:lnTo>
                  <a:pt x="636" y="121"/>
                </a:lnTo>
                <a:lnTo>
                  <a:pt x="636" y="117"/>
                </a:lnTo>
                <a:lnTo>
                  <a:pt x="636" y="114"/>
                </a:lnTo>
                <a:lnTo>
                  <a:pt x="636" y="109"/>
                </a:lnTo>
                <a:lnTo>
                  <a:pt x="636" y="106"/>
                </a:lnTo>
                <a:lnTo>
                  <a:pt x="636" y="102"/>
                </a:lnTo>
                <a:lnTo>
                  <a:pt x="636" y="99"/>
                </a:lnTo>
                <a:close/>
                <a:moveTo>
                  <a:pt x="2" y="63"/>
                </a:moveTo>
                <a:lnTo>
                  <a:pt x="0" y="68"/>
                </a:lnTo>
                <a:lnTo>
                  <a:pt x="0" y="71"/>
                </a:lnTo>
                <a:lnTo>
                  <a:pt x="0" y="76"/>
                </a:lnTo>
                <a:lnTo>
                  <a:pt x="0" y="81"/>
                </a:lnTo>
                <a:lnTo>
                  <a:pt x="0" y="86"/>
                </a:lnTo>
                <a:lnTo>
                  <a:pt x="0" y="89"/>
                </a:lnTo>
                <a:lnTo>
                  <a:pt x="0" y="94"/>
                </a:lnTo>
                <a:lnTo>
                  <a:pt x="0" y="99"/>
                </a:lnTo>
                <a:lnTo>
                  <a:pt x="0" y="112"/>
                </a:lnTo>
                <a:lnTo>
                  <a:pt x="0" y="124"/>
                </a:lnTo>
                <a:lnTo>
                  <a:pt x="2" y="137"/>
                </a:lnTo>
                <a:lnTo>
                  <a:pt x="4" y="151"/>
                </a:lnTo>
                <a:lnTo>
                  <a:pt x="5" y="162"/>
                </a:lnTo>
                <a:lnTo>
                  <a:pt x="9" y="175"/>
                </a:lnTo>
                <a:lnTo>
                  <a:pt x="12" y="187"/>
                </a:lnTo>
                <a:lnTo>
                  <a:pt x="15" y="199"/>
                </a:lnTo>
                <a:lnTo>
                  <a:pt x="20" y="199"/>
                </a:lnTo>
                <a:lnTo>
                  <a:pt x="17" y="187"/>
                </a:lnTo>
                <a:lnTo>
                  <a:pt x="14" y="175"/>
                </a:lnTo>
                <a:lnTo>
                  <a:pt x="10" y="162"/>
                </a:lnTo>
                <a:lnTo>
                  <a:pt x="9" y="151"/>
                </a:lnTo>
                <a:lnTo>
                  <a:pt x="7" y="137"/>
                </a:lnTo>
                <a:lnTo>
                  <a:pt x="5" y="124"/>
                </a:lnTo>
                <a:lnTo>
                  <a:pt x="5" y="112"/>
                </a:lnTo>
                <a:lnTo>
                  <a:pt x="4" y="99"/>
                </a:lnTo>
                <a:lnTo>
                  <a:pt x="4" y="94"/>
                </a:lnTo>
                <a:lnTo>
                  <a:pt x="5" y="89"/>
                </a:lnTo>
                <a:lnTo>
                  <a:pt x="5" y="84"/>
                </a:lnTo>
                <a:lnTo>
                  <a:pt x="5" y="79"/>
                </a:lnTo>
                <a:lnTo>
                  <a:pt x="5" y="74"/>
                </a:lnTo>
                <a:lnTo>
                  <a:pt x="5" y="69"/>
                </a:lnTo>
                <a:lnTo>
                  <a:pt x="7" y="64"/>
                </a:lnTo>
                <a:lnTo>
                  <a:pt x="7" y="61"/>
                </a:lnTo>
                <a:lnTo>
                  <a:pt x="2" y="63"/>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86" name="Freeform 1091">
            <a:extLst>
              <a:ext uri="{FF2B5EF4-FFF2-40B4-BE49-F238E27FC236}">
                <a16:creationId xmlns:a16="http://schemas.microsoft.com/office/drawing/2014/main" id="{466BC561-17D1-1D50-5757-4D82EF9AFD9F}"/>
              </a:ext>
            </a:extLst>
          </p:cNvPr>
          <p:cNvSpPr>
            <a:spLocks noEditPoints="1"/>
          </p:cNvSpPr>
          <p:nvPr/>
        </p:nvSpPr>
        <p:spPr bwMode="auto">
          <a:xfrm>
            <a:off x="2413000" y="2403475"/>
            <a:ext cx="1004888" cy="315913"/>
          </a:xfrm>
          <a:custGeom>
            <a:avLst/>
            <a:gdLst>
              <a:gd name="T0" fmla="*/ 633 w 633"/>
              <a:gd name="T1" fmla="*/ 86 h 199"/>
              <a:gd name="T2" fmla="*/ 629 w 633"/>
              <a:gd name="T3" fmla="*/ 61 h 199"/>
              <a:gd name="T4" fmla="*/ 626 w 633"/>
              <a:gd name="T5" fmla="*/ 36 h 199"/>
              <a:gd name="T6" fmla="*/ 619 w 633"/>
              <a:gd name="T7" fmla="*/ 11 h 199"/>
              <a:gd name="T8" fmla="*/ 611 w 633"/>
              <a:gd name="T9" fmla="*/ 0 h 199"/>
              <a:gd name="T10" fmla="*/ 618 w 633"/>
              <a:gd name="T11" fmla="*/ 23 h 199"/>
              <a:gd name="T12" fmla="*/ 623 w 633"/>
              <a:gd name="T13" fmla="*/ 48 h 199"/>
              <a:gd name="T14" fmla="*/ 626 w 633"/>
              <a:gd name="T15" fmla="*/ 73 h 199"/>
              <a:gd name="T16" fmla="*/ 628 w 633"/>
              <a:gd name="T17" fmla="*/ 99 h 199"/>
              <a:gd name="T18" fmla="*/ 628 w 633"/>
              <a:gd name="T19" fmla="*/ 107 h 199"/>
              <a:gd name="T20" fmla="*/ 628 w 633"/>
              <a:gd name="T21" fmla="*/ 116 h 199"/>
              <a:gd name="T22" fmla="*/ 626 w 633"/>
              <a:gd name="T23" fmla="*/ 124 h 199"/>
              <a:gd name="T24" fmla="*/ 626 w 633"/>
              <a:gd name="T25" fmla="*/ 131 h 199"/>
              <a:gd name="T26" fmla="*/ 631 w 633"/>
              <a:gd name="T27" fmla="*/ 126 h 199"/>
              <a:gd name="T28" fmla="*/ 631 w 633"/>
              <a:gd name="T29" fmla="*/ 117 h 199"/>
              <a:gd name="T30" fmla="*/ 633 w 633"/>
              <a:gd name="T31" fmla="*/ 111 h 199"/>
              <a:gd name="T32" fmla="*/ 633 w 633"/>
              <a:gd name="T33" fmla="*/ 102 h 199"/>
              <a:gd name="T34" fmla="*/ 2 w 633"/>
              <a:gd name="T35" fmla="*/ 61 h 199"/>
              <a:gd name="T36" fmla="*/ 2 w 633"/>
              <a:gd name="T37" fmla="*/ 71 h 199"/>
              <a:gd name="T38" fmla="*/ 0 w 633"/>
              <a:gd name="T39" fmla="*/ 81 h 199"/>
              <a:gd name="T40" fmla="*/ 0 w 633"/>
              <a:gd name="T41" fmla="*/ 89 h 199"/>
              <a:gd name="T42" fmla="*/ 0 w 633"/>
              <a:gd name="T43" fmla="*/ 99 h 199"/>
              <a:gd name="T44" fmla="*/ 2 w 633"/>
              <a:gd name="T45" fmla="*/ 124 h 199"/>
              <a:gd name="T46" fmla="*/ 3 w 633"/>
              <a:gd name="T47" fmla="*/ 151 h 199"/>
              <a:gd name="T48" fmla="*/ 8 w 633"/>
              <a:gd name="T49" fmla="*/ 175 h 199"/>
              <a:gd name="T50" fmla="*/ 17 w 633"/>
              <a:gd name="T51" fmla="*/ 199 h 199"/>
              <a:gd name="T52" fmla="*/ 17 w 633"/>
              <a:gd name="T53" fmla="*/ 187 h 199"/>
              <a:gd name="T54" fmla="*/ 12 w 633"/>
              <a:gd name="T55" fmla="*/ 162 h 199"/>
              <a:gd name="T56" fmla="*/ 7 w 633"/>
              <a:gd name="T57" fmla="*/ 137 h 199"/>
              <a:gd name="T58" fmla="*/ 5 w 633"/>
              <a:gd name="T59" fmla="*/ 112 h 199"/>
              <a:gd name="T60" fmla="*/ 5 w 633"/>
              <a:gd name="T61" fmla="*/ 94 h 199"/>
              <a:gd name="T62" fmla="*/ 5 w 633"/>
              <a:gd name="T63" fmla="*/ 84 h 199"/>
              <a:gd name="T64" fmla="*/ 5 w 633"/>
              <a:gd name="T65" fmla="*/ 74 h 199"/>
              <a:gd name="T66" fmla="*/ 7 w 633"/>
              <a:gd name="T67" fmla="*/ 64 h 199"/>
              <a:gd name="T68" fmla="*/ 2 w 633"/>
              <a:gd name="T69" fmla="*/ 6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3" h="199">
                <a:moveTo>
                  <a:pt x="633" y="99"/>
                </a:moveTo>
                <a:lnTo>
                  <a:pt x="633" y="86"/>
                </a:lnTo>
                <a:lnTo>
                  <a:pt x="631" y="73"/>
                </a:lnTo>
                <a:lnTo>
                  <a:pt x="629" y="61"/>
                </a:lnTo>
                <a:lnTo>
                  <a:pt x="628" y="48"/>
                </a:lnTo>
                <a:lnTo>
                  <a:pt x="626" y="36"/>
                </a:lnTo>
                <a:lnTo>
                  <a:pt x="623" y="23"/>
                </a:lnTo>
                <a:lnTo>
                  <a:pt x="619" y="11"/>
                </a:lnTo>
                <a:lnTo>
                  <a:pt x="616" y="0"/>
                </a:lnTo>
                <a:lnTo>
                  <a:pt x="611" y="0"/>
                </a:lnTo>
                <a:lnTo>
                  <a:pt x="615" y="11"/>
                </a:lnTo>
                <a:lnTo>
                  <a:pt x="618" y="23"/>
                </a:lnTo>
                <a:lnTo>
                  <a:pt x="621" y="36"/>
                </a:lnTo>
                <a:lnTo>
                  <a:pt x="623" y="48"/>
                </a:lnTo>
                <a:lnTo>
                  <a:pt x="624" y="61"/>
                </a:lnTo>
                <a:lnTo>
                  <a:pt x="626" y="73"/>
                </a:lnTo>
                <a:lnTo>
                  <a:pt x="628" y="86"/>
                </a:lnTo>
                <a:lnTo>
                  <a:pt x="628" y="99"/>
                </a:lnTo>
                <a:lnTo>
                  <a:pt x="628" y="102"/>
                </a:lnTo>
                <a:lnTo>
                  <a:pt x="628" y="107"/>
                </a:lnTo>
                <a:lnTo>
                  <a:pt x="628" y="111"/>
                </a:lnTo>
                <a:lnTo>
                  <a:pt x="628" y="116"/>
                </a:lnTo>
                <a:lnTo>
                  <a:pt x="626" y="119"/>
                </a:lnTo>
                <a:lnTo>
                  <a:pt x="626" y="124"/>
                </a:lnTo>
                <a:lnTo>
                  <a:pt x="626" y="127"/>
                </a:lnTo>
                <a:lnTo>
                  <a:pt x="626" y="131"/>
                </a:lnTo>
                <a:lnTo>
                  <a:pt x="631" y="129"/>
                </a:lnTo>
                <a:lnTo>
                  <a:pt x="631" y="126"/>
                </a:lnTo>
                <a:lnTo>
                  <a:pt x="631" y="122"/>
                </a:lnTo>
                <a:lnTo>
                  <a:pt x="631" y="117"/>
                </a:lnTo>
                <a:lnTo>
                  <a:pt x="631" y="114"/>
                </a:lnTo>
                <a:lnTo>
                  <a:pt x="633" y="111"/>
                </a:lnTo>
                <a:lnTo>
                  <a:pt x="633" y="106"/>
                </a:lnTo>
                <a:lnTo>
                  <a:pt x="633" y="102"/>
                </a:lnTo>
                <a:lnTo>
                  <a:pt x="633" y="99"/>
                </a:lnTo>
                <a:close/>
                <a:moveTo>
                  <a:pt x="2" y="61"/>
                </a:moveTo>
                <a:lnTo>
                  <a:pt x="2" y="66"/>
                </a:lnTo>
                <a:lnTo>
                  <a:pt x="2" y="71"/>
                </a:lnTo>
                <a:lnTo>
                  <a:pt x="2" y="76"/>
                </a:lnTo>
                <a:lnTo>
                  <a:pt x="0" y="81"/>
                </a:lnTo>
                <a:lnTo>
                  <a:pt x="0" y="84"/>
                </a:lnTo>
                <a:lnTo>
                  <a:pt x="0" y="89"/>
                </a:lnTo>
                <a:lnTo>
                  <a:pt x="0" y="94"/>
                </a:lnTo>
                <a:lnTo>
                  <a:pt x="0" y="99"/>
                </a:lnTo>
                <a:lnTo>
                  <a:pt x="0" y="112"/>
                </a:lnTo>
                <a:lnTo>
                  <a:pt x="2" y="124"/>
                </a:lnTo>
                <a:lnTo>
                  <a:pt x="2" y="137"/>
                </a:lnTo>
                <a:lnTo>
                  <a:pt x="3" y="151"/>
                </a:lnTo>
                <a:lnTo>
                  <a:pt x="7" y="162"/>
                </a:lnTo>
                <a:lnTo>
                  <a:pt x="8" y="175"/>
                </a:lnTo>
                <a:lnTo>
                  <a:pt x="12" y="187"/>
                </a:lnTo>
                <a:lnTo>
                  <a:pt x="17" y="199"/>
                </a:lnTo>
                <a:lnTo>
                  <a:pt x="22" y="199"/>
                </a:lnTo>
                <a:lnTo>
                  <a:pt x="17" y="187"/>
                </a:lnTo>
                <a:lnTo>
                  <a:pt x="13" y="175"/>
                </a:lnTo>
                <a:lnTo>
                  <a:pt x="12" y="162"/>
                </a:lnTo>
                <a:lnTo>
                  <a:pt x="8" y="151"/>
                </a:lnTo>
                <a:lnTo>
                  <a:pt x="7" y="137"/>
                </a:lnTo>
                <a:lnTo>
                  <a:pt x="7" y="124"/>
                </a:lnTo>
                <a:lnTo>
                  <a:pt x="5" y="112"/>
                </a:lnTo>
                <a:lnTo>
                  <a:pt x="5" y="99"/>
                </a:lnTo>
                <a:lnTo>
                  <a:pt x="5" y="94"/>
                </a:lnTo>
                <a:lnTo>
                  <a:pt x="5" y="89"/>
                </a:lnTo>
                <a:lnTo>
                  <a:pt x="5" y="84"/>
                </a:lnTo>
                <a:lnTo>
                  <a:pt x="5" y="79"/>
                </a:lnTo>
                <a:lnTo>
                  <a:pt x="5" y="74"/>
                </a:lnTo>
                <a:lnTo>
                  <a:pt x="7" y="69"/>
                </a:lnTo>
                <a:lnTo>
                  <a:pt x="7" y="64"/>
                </a:lnTo>
                <a:lnTo>
                  <a:pt x="7" y="59"/>
                </a:lnTo>
                <a:lnTo>
                  <a:pt x="2" y="61"/>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87" name="Freeform 1092">
            <a:extLst>
              <a:ext uri="{FF2B5EF4-FFF2-40B4-BE49-F238E27FC236}">
                <a16:creationId xmlns:a16="http://schemas.microsoft.com/office/drawing/2014/main" id="{66EDE851-E146-781D-DE7A-6097867662A8}"/>
              </a:ext>
            </a:extLst>
          </p:cNvPr>
          <p:cNvSpPr>
            <a:spLocks noEditPoints="1"/>
          </p:cNvSpPr>
          <p:nvPr/>
        </p:nvSpPr>
        <p:spPr bwMode="auto">
          <a:xfrm>
            <a:off x="2416175" y="2403475"/>
            <a:ext cx="995363" cy="315913"/>
          </a:xfrm>
          <a:custGeom>
            <a:avLst/>
            <a:gdLst>
              <a:gd name="T0" fmla="*/ 627 w 627"/>
              <a:gd name="T1" fmla="*/ 86 h 199"/>
              <a:gd name="T2" fmla="*/ 626 w 627"/>
              <a:gd name="T3" fmla="*/ 61 h 199"/>
              <a:gd name="T4" fmla="*/ 621 w 627"/>
              <a:gd name="T5" fmla="*/ 36 h 199"/>
              <a:gd name="T6" fmla="*/ 616 w 627"/>
              <a:gd name="T7" fmla="*/ 11 h 199"/>
              <a:gd name="T8" fmla="*/ 608 w 627"/>
              <a:gd name="T9" fmla="*/ 0 h 199"/>
              <a:gd name="T10" fmla="*/ 614 w 627"/>
              <a:gd name="T11" fmla="*/ 23 h 199"/>
              <a:gd name="T12" fmla="*/ 619 w 627"/>
              <a:gd name="T13" fmla="*/ 48 h 199"/>
              <a:gd name="T14" fmla="*/ 622 w 627"/>
              <a:gd name="T15" fmla="*/ 73 h 199"/>
              <a:gd name="T16" fmla="*/ 622 w 627"/>
              <a:gd name="T17" fmla="*/ 99 h 199"/>
              <a:gd name="T18" fmla="*/ 622 w 627"/>
              <a:gd name="T19" fmla="*/ 107 h 199"/>
              <a:gd name="T20" fmla="*/ 622 w 627"/>
              <a:gd name="T21" fmla="*/ 116 h 199"/>
              <a:gd name="T22" fmla="*/ 622 w 627"/>
              <a:gd name="T23" fmla="*/ 124 h 199"/>
              <a:gd name="T24" fmla="*/ 621 w 627"/>
              <a:gd name="T25" fmla="*/ 132 h 199"/>
              <a:gd name="T26" fmla="*/ 627 w 627"/>
              <a:gd name="T27" fmla="*/ 126 h 199"/>
              <a:gd name="T28" fmla="*/ 627 w 627"/>
              <a:gd name="T29" fmla="*/ 119 h 199"/>
              <a:gd name="T30" fmla="*/ 627 w 627"/>
              <a:gd name="T31" fmla="*/ 111 h 199"/>
              <a:gd name="T32" fmla="*/ 627 w 627"/>
              <a:gd name="T33" fmla="*/ 102 h 199"/>
              <a:gd name="T34" fmla="*/ 3 w 627"/>
              <a:gd name="T35" fmla="*/ 61 h 199"/>
              <a:gd name="T36" fmla="*/ 1 w 627"/>
              <a:gd name="T37" fmla="*/ 69 h 199"/>
              <a:gd name="T38" fmla="*/ 1 w 627"/>
              <a:gd name="T39" fmla="*/ 79 h 199"/>
              <a:gd name="T40" fmla="*/ 1 w 627"/>
              <a:gd name="T41" fmla="*/ 89 h 199"/>
              <a:gd name="T42" fmla="*/ 0 w 627"/>
              <a:gd name="T43" fmla="*/ 99 h 199"/>
              <a:gd name="T44" fmla="*/ 1 w 627"/>
              <a:gd name="T45" fmla="*/ 124 h 199"/>
              <a:gd name="T46" fmla="*/ 5 w 627"/>
              <a:gd name="T47" fmla="*/ 151 h 199"/>
              <a:gd name="T48" fmla="*/ 10 w 627"/>
              <a:gd name="T49" fmla="*/ 175 h 199"/>
              <a:gd name="T50" fmla="*/ 16 w 627"/>
              <a:gd name="T51" fmla="*/ 199 h 199"/>
              <a:gd name="T52" fmla="*/ 18 w 627"/>
              <a:gd name="T53" fmla="*/ 187 h 199"/>
              <a:gd name="T54" fmla="*/ 11 w 627"/>
              <a:gd name="T55" fmla="*/ 162 h 199"/>
              <a:gd name="T56" fmla="*/ 8 w 627"/>
              <a:gd name="T57" fmla="*/ 137 h 199"/>
              <a:gd name="T58" fmla="*/ 5 w 627"/>
              <a:gd name="T59" fmla="*/ 112 h 199"/>
              <a:gd name="T60" fmla="*/ 5 w 627"/>
              <a:gd name="T61" fmla="*/ 94 h 199"/>
              <a:gd name="T62" fmla="*/ 6 w 627"/>
              <a:gd name="T63" fmla="*/ 84 h 199"/>
              <a:gd name="T64" fmla="*/ 6 w 627"/>
              <a:gd name="T65" fmla="*/ 73 h 199"/>
              <a:gd name="T66" fmla="*/ 8 w 627"/>
              <a:gd name="T67" fmla="*/ 63 h 199"/>
              <a:gd name="T68" fmla="*/ 3 w 627"/>
              <a:gd name="T69" fmla="*/ 6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7" h="199">
                <a:moveTo>
                  <a:pt x="627" y="99"/>
                </a:moveTo>
                <a:lnTo>
                  <a:pt x="627" y="86"/>
                </a:lnTo>
                <a:lnTo>
                  <a:pt x="627" y="73"/>
                </a:lnTo>
                <a:lnTo>
                  <a:pt x="626" y="61"/>
                </a:lnTo>
                <a:lnTo>
                  <a:pt x="624" y="48"/>
                </a:lnTo>
                <a:lnTo>
                  <a:pt x="621" y="36"/>
                </a:lnTo>
                <a:lnTo>
                  <a:pt x="619" y="23"/>
                </a:lnTo>
                <a:lnTo>
                  <a:pt x="616" y="11"/>
                </a:lnTo>
                <a:lnTo>
                  <a:pt x="613" y="0"/>
                </a:lnTo>
                <a:lnTo>
                  <a:pt x="608" y="0"/>
                </a:lnTo>
                <a:lnTo>
                  <a:pt x="611" y="11"/>
                </a:lnTo>
                <a:lnTo>
                  <a:pt x="614" y="23"/>
                </a:lnTo>
                <a:lnTo>
                  <a:pt x="616" y="36"/>
                </a:lnTo>
                <a:lnTo>
                  <a:pt x="619" y="48"/>
                </a:lnTo>
                <a:lnTo>
                  <a:pt x="621" y="61"/>
                </a:lnTo>
                <a:lnTo>
                  <a:pt x="622" y="73"/>
                </a:lnTo>
                <a:lnTo>
                  <a:pt x="622" y="86"/>
                </a:lnTo>
                <a:lnTo>
                  <a:pt x="622" y="99"/>
                </a:lnTo>
                <a:lnTo>
                  <a:pt x="622" y="102"/>
                </a:lnTo>
                <a:lnTo>
                  <a:pt x="622" y="107"/>
                </a:lnTo>
                <a:lnTo>
                  <a:pt x="622" y="112"/>
                </a:lnTo>
                <a:lnTo>
                  <a:pt x="622" y="116"/>
                </a:lnTo>
                <a:lnTo>
                  <a:pt x="622" y="121"/>
                </a:lnTo>
                <a:lnTo>
                  <a:pt x="622" y="124"/>
                </a:lnTo>
                <a:lnTo>
                  <a:pt x="622" y="129"/>
                </a:lnTo>
                <a:lnTo>
                  <a:pt x="621" y="132"/>
                </a:lnTo>
                <a:lnTo>
                  <a:pt x="626" y="131"/>
                </a:lnTo>
                <a:lnTo>
                  <a:pt x="627" y="126"/>
                </a:lnTo>
                <a:lnTo>
                  <a:pt x="627" y="122"/>
                </a:lnTo>
                <a:lnTo>
                  <a:pt x="627" y="119"/>
                </a:lnTo>
                <a:lnTo>
                  <a:pt x="627" y="114"/>
                </a:lnTo>
                <a:lnTo>
                  <a:pt x="627" y="111"/>
                </a:lnTo>
                <a:lnTo>
                  <a:pt x="627" y="107"/>
                </a:lnTo>
                <a:lnTo>
                  <a:pt x="627" y="102"/>
                </a:lnTo>
                <a:lnTo>
                  <a:pt x="627" y="99"/>
                </a:lnTo>
                <a:close/>
                <a:moveTo>
                  <a:pt x="3" y="61"/>
                </a:moveTo>
                <a:lnTo>
                  <a:pt x="3" y="64"/>
                </a:lnTo>
                <a:lnTo>
                  <a:pt x="1" y="69"/>
                </a:lnTo>
                <a:lnTo>
                  <a:pt x="1" y="74"/>
                </a:lnTo>
                <a:lnTo>
                  <a:pt x="1" y="79"/>
                </a:lnTo>
                <a:lnTo>
                  <a:pt x="1" y="84"/>
                </a:lnTo>
                <a:lnTo>
                  <a:pt x="1" y="89"/>
                </a:lnTo>
                <a:lnTo>
                  <a:pt x="0" y="94"/>
                </a:lnTo>
                <a:lnTo>
                  <a:pt x="0" y="99"/>
                </a:lnTo>
                <a:lnTo>
                  <a:pt x="1" y="112"/>
                </a:lnTo>
                <a:lnTo>
                  <a:pt x="1" y="124"/>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8" y="137"/>
                </a:lnTo>
                <a:lnTo>
                  <a:pt x="6" y="124"/>
                </a:lnTo>
                <a:lnTo>
                  <a:pt x="5" y="112"/>
                </a:lnTo>
                <a:lnTo>
                  <a:pt x="5" y="99"/>
                </a:lnTo>
                <a:lnTo>
                  <a:pt x="5" y="94"/>
                </a:lnTo>
                <a:lnTo>
                  <a:pt x="5" y="89"/>
                </a:lnTo>
                <a:lnTo>
                  <a:pt x="6" y="84"/>
                </a:lnTo>
                <a:lnTo>
                  <a:pt x="6" y="78"/>
                </a:lnTo>
                <a:lnTo>
                  <a:pt x="6" y="73"/>
                </a:lnTo>
                <a:lnTo>
                  <a:pt x="6" y="68"/>
                </a:lnTo>
                <a:lnTo>
                  <a:pt x="8" y="63"/>
                </a:lnTo>
                <a:lnTo>
                  <a:pt x="8" y="58"/>
                </a:lnTo>
                <a:lnTo>
                  <a:pt x="3" y="61"/>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88" name="Freeform 1093">
            <a:extLst>
              <a:ext uri="{FF2B5EF4-FFF2-40B4-BE49-F238E27FC236}">
                <a16:creationId xmlns:a16="http://schemas.microsoft.com/office/drawing/2014/main" id="{0FA200EF-E99F-9AD5-28BC-A07ABB590EF4}"/>
              </a:ext>
            </a:extLst>
          </p:cNvPr>
          <p:cNvSpPr>
            <a:spLocks noEditPoints="1"/>
          </p:cNvSpPr>
          <p:nvPr/>
        </p:nvSpPr>
        <p:spPr bwMode="auto">
          <a:xfrm>
            <a:off x="2420938" y="2403475"/>
            <a:ext cx="989013" cy="315913"/>
          </a:xfrm>
          <a:custGeom>
            <a:avLst/>
            <a:gdLst>
              <a:gd name="T0" fmla="*/ 623 w 623"/>
              <a:gd name="T1" fmla="*/ 86 h 199"/>
              <a:gd name="T2" fmla="*/ 619 w 623"/>
              <a:gd name="T3" fmla="*/ 61 h 199"/>
              <a:gd name="T4" fmla="*/ 616 w 623"/>
              <a:gd name="T5" fmla="*/ 36 h 199"/>
              <a:gd name="T6" fmla="*/ 610 w 623"/>
              <a:gd name="T7" fmla="*/ 11 h 199"/>
              <a:gd name="T8" fmla="*/ 601 w 623"/>
              <a:gd name="T9" fmla="*/ 0 h 199"/>
              <a:gd name="T10" fmla="*/ 608 w 623"/>
              <a:gd name="T11" fmla="*/ 23 h 199"/>
              <a:gd name="T12" fmla="*/ 613 w 623"/>
              <a:gd name="T13" fmla="*/ 48 h 199"/>
              <a:gd name="T14" fmla="*/ 616 w 623"/>
              <a:gd name="T15" fmla="*/ 73 h 199"/>
              <a:gd name="T16" fmla="*/ 618 w 623"/>
              <a:gd name="T17" fmla="*/ 99 h 199"/>
              <a:gd name="T18" fmla="*/ 618 w 623"/>
              <a:gd name="T19" fmla="*/ 107 h 199"/>
              <a:gd name="T20" fmla="*/ 618 w 623"/>
              <a:gd name="T21" fmla="*/ 116 h 199"/>
              <a:gd name="T22" fmla="*/ 616 w 623"/>
              <a:gd name="T23" fmla="*/ 126 h 199"/>
              <a:gd name="T24" fmla="*/ 616 w 623"/>
              <a:gd name="T25" fmla="*/ 134 h 199"/>
              <a:gd name="T26" fmla="*/ 621 w 623"/>
              <a:gd name="T27" fmla="*/ 127 h 199"/>
              <a:gd name="T28" fmla="*/ 621 w 623"/>
              <a:gd name="T29" fmla="*/ 119 h 199"/>
              <a:gd name="T30" fmla="*/ 623 w 623"/>
              <a:gd name="T31" fmla="*/ 111 h 199"/>
              <a:gd name="T32" fmla="*/ 623 w 623"/>
              <a:gd name="T33" fmla="*/ 102 h 199"/>
              <a:gd name="T34" fmla="*/ 2 w 623"/>
              <a:gd name="T35" fmla="*/ 59 h 199"/>
              <a:gd name="T36" fmla="*/ 2 w 623"/>
              <a:gd name="T37" fmla="*/ 69 h 199"/>
              <a:gd name="T38" fmla="*/ 0 w 623"/>
              <a:gd name="T39" fmla="*/ 79 h 199"/>
              <a:gd name="T40" fmla="*/ 0 w 623"/>
              <a:gd name="T41" fmla="*/ 89 h 199"/>
              <a:gd name="T42" fmla="*/ 0 w 623"/>
              <a:gd name="T43" fmla="*/ 99 h 199"/>
              <a:gd name="T44" fmla="*/ 2 w 623"/>
              <a:gd name="T45" fmla="*/ 124 h 199"/>
              <a:gd name="T46" fmla="*/ 3 w 623"/>
              <a:gd name="T47" fmla="*/ 151 h 199"/>
              <a:gd name="T48" fmla="*/ 8 w 623"/>
              <a:gd name="T49" fmla="*/ 175 h 199"/>
              <a:gd name="T50" fmla="*/ 17 w 623"/>
              <a:gd name="T51" fmla="*/ 199 h 199"/>
              <a:gd name="T52" fmla="*/ 17 w 623"/>
              <a:gd name="T53" fmla="*/ 187 h 199"/>
              <a:gd name="T54" fmla="*/ 12 w 623"/>
              <a:gd name="T55" fmla="*/ 162 h 199"/>
              <a:gd name="T56" fmla="*/ 7 w 623"/>
              <a:gd name="T57" fmla="*/ 137 h 199"/>
              <a:gd name="T58" fmla="*/ 5 w 623"/>
              <a:gd name="T59" fmla="*/ 112 h 199"/>
              <a:gd name="T60" fmla="*/ 5 w 623"/>
              <a:gd name="T61" fmla="*/ 94 h 199"/>
              <a:gd name="T62" fmla="*/ 5 w 623"/>
              <a:gd name="T63" fmla="*/ 83 h 199"/>
              <a:gd name="T64" fmla="*/ 5 w 623"/>
              <a:gd name="T65" fmla="*/ 73 h 199"/>
              <a:gd name="T66" fmla="*/ 7 w 623"/>
              <a:gd name="T67" fmla="*/ 63 h 199"/>
              <a:gd name="T68" fmla="*/ 2 w 623"/>
              <a:gd name="T69" fmla="*/ 5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3" h="199">
                <a:moveTo>
                  <a:pt x="623" y="99"/>
                </a:moveTo>
                <a:lnTo>
                  <a:pt x="623" y="86"/>
                </a:lnTo>
                <a:lnTo>
                  <a:pt x="621" y="73"/>
                </a:lnTo>
                <a:lnTo>
                  <a:pt x="619" y="61"/>
                </a:lnTo>
                <a:lnTo>
                  <a:pt x="618" y="48"/>
                </a:lnTo>
                <a:lnTo>
                  <a:pt x="616" y="36"/>
                </a:lnTo>
                <a:lnTo>
                  <a:pt x="613" y="23"/>
                </a:lnTo>
                <a:lnTo>
                  <a:pt x="610" y="11"/>
                </a:lnTo>
                <a:lnTo>
                  <a:pt x="606" y="0"/>
                </a:lnTo>
                <a:lnTo>
                  <a:pt x="601" y="0"/>
                </a:lnTo>
                <a:lnTo>
                  <a:pt x="605" y="11"/>
                </a:lnTo>
                <a:lnTo>
                  <a:pt x="608" y="23"/>
                </a:lnTo>
                <a:lnTo>
                  <a:pt x="611" y="36"/>
                </a:lnTo>
                <a:lnTo>
                  <a:pt x="613" y="48"/>
                </a:lnTo>
                <a:lnTo>
                  <a:pt x="614" y="61"/>
                </a:lnTo>
                <a:lnTo>
                  <a:pt x="616" y="73"/>
                </a:lnTo>
                <a:lnTo>
                  <a:pt x="618" y="86"/>
                </a:lnTo>
                <a:lnTo>
                  <a:pt x="618" y="99"/>
                </a:lnTo>
                <a:lnTo>
                  <a:pt x="618" y="104"/>
                </a:lnTo>
                <a:lnTo>
                  <a:pt x="618" y="107"/>
                </a:lnTo>
                <a:lnTo>
                  <a:pt x="618" y="112"/>
                </a:lnTo>
                <a:lnTo>
                  <a:pt x="618" y="116"/>
                </a:lnTo>
                <a:lnTo>
                  <a:pt x="616" y="121"/>
                </a:lnTo>
                <a:lnTo>
                  <a:pt x="616" y="126"/>
                </a:lnTo>
                <a:lnTo>
                  <a:pt x="616" y="129"/>
                </a:lnTo>
                <a:lnTo>
                  <a:pt x="616" y="134"/>
                </a:lnTo>
                <a:lnTo>
                  <a:pt x="621" y="131"/>
                </a:lnTo>
                <a:lnTo>
                  <a:pt x="621" y="127"/>
                </a:lnTo>
                <a:lnTo>
                  <a:pt x="621" y="124"/>
                </a:lnTo>
                <a:lnTo>
                  <a:pt x="621" y="119"/>
                </a:lnTo>
                <a:lnTo>
                  <a:pt x="623" y="116"/>
                </a:lnTo>
                <a:lnTo>
                  <a:pt x="623" y="111"/>
                </a:lnTo>
                <a:lnTo>
                  <a:pt x="623" y="107"/>
                </a:lnTo>
                <a:lnTo>
                  <a:pt x="623" y="102"/>
                </a:lnTo>
                <a:lnTo>
                  <a:pt x="623" y="99"/>
                </a:lnTo>
                <a:close/>
                <a:moveTo>
                  <a:pt x="2" y="59"/>
                </a:moveTo>
                <a:lnTo>
                  <a:pt x="2" y="64"/>
                </a:lnTo>
                <a:lnTo>
                  <a:pt x="2" y="69"/>
                </a:lnTo>
                <a:lnTo>
                  <a:pt x="0" y="74"/>
                </a:lnTo>
                <a:lnTo>
                  <a:pt x="0" y="79"/>
                </a:lnTo>
                <a:lnTo>
                  <a:pt x="0" y="84"/>
                </a:lnTo>
                <a:lnTo>
                  <a:pt x="0" y="89"/>
                </a:lnTo>
                <a:lnTo>
                  <a:pt x="0" y="94"/>
                </a:lnTo>
                <a:lnTo>
                  <a:pt x="0" y="99"/>
                </a:lnTo>
                <a:lnTo>
                  <a:pt x="0" y="112"/>
                </a:lnTo>
                <a:lnTo>
                  <a:pt x="2" y="124"/>
                </a:lnTo>
                <a:lnTo>
                  <a:pt x="2" y="137"/>
                </a:lnTo>
                <a:lnTo>
                  <a:pt x="3" y="151"/>
                </a:lnTo>
                <a:lnTo>
                  <a:pt x="7" y="162"/>
                </a:lnTo>
                <a:lnTo>
                  <a:pt x="8" y="175"/>
                </a:lnTo>
                <a:lnTo>
                  <a:pt x="12" y="187"/>
                </a:lnTo>
                <a:lnTo>
                  <a:pt x="17" y="199"/>
                </a:lnTo>
                <a:lnTo>
                  <a:pt x="22" y="199"/>
                </a:lnTo>
                <a:lnTo>
                  <a:pt x="17" y="187"/>
                </a:lnTo>
                <a:lnTo>
                  <a:pt x="13" y="175"/>
                </a:lnTo>
                <a:lnTo>
                  <a:pt x="12" y="162"/>
                </a:lnTo>
                <a:lnTo>
                  <a:pt x="8" y="151"/>
                </a:lnTo>
                <a:lnTo>
                  <a:pt x="7" y="137"/>
                </a:lnTo>
                <a:lnTo>
                  <a:pt x="5" y="124"/>
                </a:lnTo>
                <a:lnTo>
                  <a:pt x="5" y="112"/>
                </a:lnTo>
                <a:lnTo>
                  <a:pt x="5" y="99"/>
                </a:lnTo>
                <a:lnTo>
                  <a:pt x="5" y="94"/>
                </a:lnTo>
                <a:lnTo>
                  <a:pt x="5" y="88"/>
                </a:lnTo>
                <a:lnTo>
                  <a:pt x="5" y="83"/>
                </a:lnTo>
                <a:lnTo>
                  <a:pt x="5" y="78"/>
                </a:lnTo>
                <a:lnTo>
                  <a:pt x="5" y="73"/>
                </a:lnTo>
                <a:lnTo>
                  <a:pt x="7" y="68"/>
                </a:lnTo>
                <a:lnTo>
                  <a:pt x="7" y="63"/>
                </a:lnTo>
                <a:lnTo>
                  <a:pt x="8" y="56"/>
                </a:lnTo>
                <a:lnTo>
                  <a:pt x="2" y="59"/>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89" name="Freeform 1094">
            <a:extLst>
              <a:ext uri="{FF2B5EF4-FFF2-40B4-BE49-F238E27FC236}">
                <a16:creationId xmlns:a16="http://schemas.microsoft.com/office/drawing/2014/main" id="{6F6DC26E-FA91-4EB9-09AC-49E716EE1B55}"/>
              </a:ext>
            </a:extLst>
          </p:cNvPr>
          <p:cNvSpPr>
            <a:spLocks noEditPoints="1"/>
          </p:cNvSpPr>
          <p:nvPr/>
        </p:nvSpPr>
        <p:spPr bwMode="auto">
          <a:xfrm>
            <a:off x="2424113" y="2403475"/>
            <a:ext cx="979488" cy="315913"/>
          </a:xfrm>
          <a:custGeom>
            <a:avLst/>
            <a:gdLst>
              <a:gd name="T0" fmla="*/ 617 w 617"/>
              <a:gd name="T1" fmla="*/ 86 h 199"/>
              <a:gd name="T2" fmla="*/ 616 w 617"/>
              <a:gd name="T3" fmla="*/ 61 h 199"/>
              <a:gd name="T4" fmla="*/ 611 w 617"/>
              <a:gd name="T5" fmla="*/ 36 h 199"/>
              <a:gd name="T6" fmla="*/ 606 w 617"/>
              <a:gd name="T7" fmla="*/ 11 h 199"/>
              <a:gd name="T8" fmla="*/ 596 w 617"/>
              <a:gd name="T9" fmla="*/ 0 h 199"/>
              <a:gd name="T10" fmla="*/ 604 w 617"/>
              <a:gd name="T11" fmla="*/ 23 h 199"/>
              <a:gd name="T12" fmla="*/ 609 w 617"/>
              <a:gd name="T13" fmla="*/ 48 h 199"/>
              <a:gd name="T14" fmla="*/ 612 w 617"/>
              <a:gd name="T15" fmla="*/ 73 h 199"/>
              <a:gd name="T16" fmla="*/ 612 w 617"/>
              <a:gd name="T17" fmla="*/ 99 h 199"/>
              <a:gd name="T18" fmla="*/ 612 w 617"/>
              <a:gd name="T19" fmla="*/ 107 h 199"/>
              <a:gd name="T20" fmla="*/ 612 w 617"/>
              <a:gd name="T21" fmla="*/ 117 h 199"/>
              <a:gd name="T22" fmla="*/ 612 w 617"/>
              <a:gd name="T23" fmla="*/ 126 h 199"/>
              <a:gd name="T24" fmla="*/ 611 w 617"/>
              <a:gd name="T25" fmla="*/ 134 h 199"/>
              <a:gd name="T26" fmla="*/ 617 w 617"/>
              <a:gd name="T27" fmla="*/ 129 h 199"/>
              <a:gd name="T28" fmla="*/ 617 w 617"/>
              <a:gd name="T29" fmla="*/ 121 h 199"/>
              <a:gd name="T30" fmla="*/ 617 w 617"/>
              <a:gd name="T31" fmla="*/ 112 h 199"/>
              <a:gd name="T32" fmla="*/ 617 w 617"/>
              <a:gd name="T33" fmla="*/ 102 h 199"/>
              <a:gd name="T34" fmla="*/ 3 w 617"/>
              <a:gd name="T35" fmla="*/ 58 h 199"/>
              <a:gd name="T36" fmla="*/ 1 w 617"/>
              <a:gd name="T37" fmla="*/ 68 h 199"/>
              <a:gd name="T38" fmla="*/ 1 w 617"/>
              <a:gd name="T39" fmla="*/ 78 h 199"/>
              <a:gd name="T40" fmla="*/ 0 w 617"/>
              <a:gd name="T41" fmla="*/ 89 h 199"/>
              <a:gd name="T42" fmla="*/ 0 w 617"/>
              <a:gd name="T43" fmla="*/ 99 h 199"/>
              <a:gd name="T44" fmla="*/ 1 w 617"/>
              <a:gd name="T45" fmla="*/ 124 h 199"/>
              <a:gd name="T46" fmla="*/ 5 w 617"/>
              <a:gd name="T47" fmla="*/ 151 h 199"/>
              <a:gd name="T48" fmla="*/ 10 w 617"/>
              <a:gd name="T49" fmla="*/ 175 h 199"/>
              <a:gd name="T50" fmla="*/ 16 w 617"/>
              <a:gd name="T51" fmla="*/ 199 h 199"/>
              <a:gd name="T52" fmla="*/ 18 w 617"/>
              <a:gd name="T53" fmla="*/ 187 h 199"/>
              <a:gd name="T54" fmla="*/ 11 w 617"/>
              <a:gd name="T55" fmla="*/ 162 h 199"/>
              <a:gd name="T56" fmla="*/ 8 w 617"/>
              <a:gd name="T57" fmla="*/ 137 h 199"/>
              <a:gd name="T58" fmla="*/ 5 w 617"/>
              <a:gd name="T59" fmla="*/ 112 h 199"/>
              <a:gd name="T60" fmla="*/ 5 w 617"/>
              <a:gd name="T61" fmla="*/ 94 h 199"/>
              <a:gd name="T62" fmla="*/ 5 w 617"/>
              <a:gd name="T63" fmla="*/ 83 h 199"/>
              <a:gd name="T64" fmla="*/ 6 w 617"/>
              <a:gd name="T65" fmla="*/ 71 h 199"/>
              <a:gd name="T66" fmla="*/ 8 w 617"/>
              <a:gd name="T67" fmla="*/ 61 h 199"/>
              <a:gd name="T68" fmla="*/ 3 w 617"/>
              <a:gd name="T69" fmla="*/ 5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7" h="199">
                <a:moveTo>
                  <a:pt x="617" y="99"/>
                </a:moveTo>
                <a:lnTo>
                  <a:pt x="617" y="86"/>
                </a:lnTo>
                <a:lnTo>
                  <a:pt x="617" y="73"/>
                </a:lnTo>
                <a:lnTo>
                  <a:pt x="616" y="61"/>
                </a:lnTo>
                <a:lnTo>
                  <a:pt x="614" y="48"/>
                </a:lnTo>
                <a:lnTo>
                  <a:pt x="611" y="36"/>
                </a:lnTo>
                <a:lnTo>
                  <a:pt x="609" y="23"/>
                </a:lnTo>
                <a:lnTo>
                  <a:pt x="606" y="11"/>
                </a:lnTo>
                <a:lnTo>
                  <a:pt x="603" y="0"/>
                </a:lnTo>
                <a:lnTo>
                  <a:pt x="596" y="0"/>
                </a:lnTo>
                <a:lnTo>
                  <a:pt x="601" y="11"/>
                </a:lnTo>
                <a:lnTo>
                  <a:pt x="604" y="23"/>
                </a:lnTo>
                <a:lnTo>
                  <a:pt x="606" y="36"/>
                </a:lnTo>
                <a:lnTo>
                  <a:pt x="609" y="48"/>
                </a:lnTo>
                <a:lnTo>
                  <a:pt x="611" y="61"/>
                </a:lnTo>
                <a:lnTo>
                  <a:pt x="612" y="73"/>
                </a:lnTo>
                <a:lnTo>
                  <a:pt x="612" y="86"/>
                </a:lnTo>
                <a:lnTo>
                  <a:pt x="612" y="99"/>
                </a:lnTo>
                <a:lnTo>
                  <a:pt x="612" y="104"/>
                </a:lnTo>
                <a:lnTo>
                  <a:pt x="612" y="107"/>
                </a:lnTo>
                <a:lnTo>
                  <a:pt x="612" y="112"/>
                </a:lnTo>
                <a:lnTo>
                  <a:pt x="612" y="117"/>
                </a:lnTo>
                <a:lnTo>
                  <a:pt x="612" y="121"/>
                </a:lnTo>
                <a:lnTo>
                  <a:pt x="612" y="126"/>
                </a:lnTo>
                <a:lnTo>
                  <a:pt x="612" y="131"/>
                </a:lnTo>
                <a:lnTo>
                  <a:pt x="611" y="134"/>
                </a:lnTo>
                <a:lnTo>
                  <a:pt x="616" y="132"/>
                </a:lnTo>
                <a:lnTo>
                  <a:pt x="617" y="129"/>
                </a:lnTo>
                <a:lnTo>
                  <a:pt x="617" y="124"/>
                </a:lnTo>
                <a:lnTo>
                  <a:pt x="617" y="121"/>
                </a:lnTo>
                <a:lnTo>
                  <a:pt x="617" y="116"/>
                </a:lnTo>
                <a:lnTo>
                  <a:pt x="617" y="112"/>
                </a:lnTo>
                <a:lnTo>
                  <a:pt x="617" y="107"/>
                </a:lnTo>
                <a:lnTo>
                  <a:pt x="617" y="102"/>
                </a:lnTo>
                <a:lnTo>
                  <a:pt x="617" y="99"/>
                </a:lnTo>
                <a:close/>
                <a:moveTo>
                  <a:pt x="3" y="58"/>
                </a:moveTo>
                <a:lnTo>
                  <a:pt x="3" y="63"/>
                </a:lnTo>
                <a:lnTo>
                  <a:pt x="1" y="68"/>
                </a:lnTo>
                <a:lnTo>
                  <a:pt x="1" y="73"/>
                </a:lnTo>
                <a:lnTo>
                  <a:pt x="1" y="78"/>
                </a:lnTo>
                <a:lnTo>
                  <a:pt x="1" y="84"/>
                </a:lnTo>
                <a:lnTo>
                  <a:pt x="0" y="89"/>
                </a:lnTo>
                <a:lnTo>
                  <a:pt x="0" y="94"/>
                </a:lnTo>
                <a:lnTo>
                  <a:pt x="0" y="99"/>
                </a:lnTo>
                <a:lnTo>
                  <a:pt x="0" y="112"/>
                </a:lnTo>
                <a:lnTo>
                  <a:pt x="1" y="124"/>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8" y="137"/>
                </a:lnTo>
                <a:lnTo>
                  <a:pt x="6" y="124"/>
                </a:lnTo>
                <a:lnTo>
                  <a:pt x="5" y="112"/>
                </a:lnTo>
                <a:lnTo>
                  <a:pt x="5" y="99"/>
                </a:lnTo>
                <a:lnTo>
                  <a:pt x="5" y="94"/>
                </a:lnTo>
                <a:lnTo>
                  <a:pt x="5" y="88"/>
                </a:lnTo>
                <a:lnTo>
                  <a:pt x="5" y="83"/>
                </a:lnTo>
                <a:lnTo>
                  <a:pt x="6" y="78"/>
                </a:lnTo>
                <a:lnTo>
                  <a:pt x="6" y="71"/>
                </a:lnTo>
                <a:lnTo>
                  <a:pt x="6" y="66"/>
                </a:lnTo>
                <a:lnTo>
                  <a:pt x="8" y="61"/>
                </a:lnTo>
                <a:lnTo>
                  <a:pt x="8" y="56"/>
                </a:lnTo>
                <a:lnTo>
                  <a:pt x="3" y="58"/>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90" name="Freeform 1095">
            <a:extLst>
              <a:ext uri="{FF2B5EF4-FFF2-40B4-BE49-F238E27FC236}">
                <a16:creationId xmlns:a16="http://schemas.microsoft.com/office/drawing/2014/main" id="{6E7B9E4A-AA68-4CAF-5715-BC48F70FD737}"/>
              </a:ext>
            </a:extLst>
          </p:cNvPr>
          <p:cNvSpPr>
            <a:spLocks noEditPoints="1"/>
          </p:cNvSpPr>
          <p:nvPr/>
        </p:nvSpPr>
        <p:spPr bwMode="auto">
          <a:xfrm>
            <a:off x="2428875" y="2403475"/>
            <a:ext cx="973138" cy="315913"/>
          </a:xfrm>
          <a:custGeom>
            <a:avLst/>
            <a:gdLst>
              <a:gd name="T0" fmla="*/ 613 w 613"/>
              <a:gd name="T1" fmla="*/ 86 h 199"/>
              <a:gd name="T2" fmla="*/ 609 w 613"/>
              <a:gd name="T3" fmla="*/ 61 h 199"/>
              <a:gd name="T4" fmla="*/ 606 w 613"/>
              <a:gd name="T5" fmla="*/ 36 h 199"/>
              <a:gd name="T6" fmla="*/ 600 w 613"/>
              <a:gd name="T7" fmla="*/ 11 h 199"/>
              <a:gd name="T8" fmla="*/ 591 w 613"/>
              <a:gd name="T9" fmla="*/ 0 h 199"/>
              <a:gd name="T10" fmla="*/ 598 w 613"/>
              <a:gd name="T11" fmla="*/ 23 h 199"/>
              <a:gd name="T12" fmla="*/ 603 w 613"/>
              <a:gd name="T13" fmla="*/ 48 h 199"/>
              <a:gd name="T14" fmla="*/ 606 w 613"/>
              <a:gd name="T15" fmla="*/ 73 h 199"/>
              <a:gd name="T16" fmla="*/ 608 w 613"/>
              <a:gd name="T17" fmla="*/ 99 h 199"/>
              <a:gd name="T18" fmla="*/ 608 w 613"/>
              <a:gd name="T19" fmla="*/ 109 h 199"/>
              <a:gd name="T20" fmla="*/ 608 w 613"/>
              <a:gd name="T21" fmla="*/ 117 h 199"/>
              <a:gd name="T22" fmla="*/ 606 w 613"/>
              <a:gd name="T23" fmla="*/ 127 h 199"/>
              <a:gd name="T24" fmla="*/ 606 w 613"/>
              <a:gd name="T25" fmla="*/ 136 h 199"/>
              <a:gd name="T26" fmla="*/ 611 w 613"/>
              <a:gd name="T27" fmla="*/ 129 h 199"/>
              <a:gd name="T28" fmla="*/ 611 w 613"/>
              <a:gd name="T29" fmla="*/ 121 h 199"/>
              <a:gd name="T30" fmla="*/ 613 w 613"/>
              <a:gd name="T31" fmla="*/ 112 h 199"/>
              <a:gd name="T32" fmla="*/ 613 w 613"/>
              <a:gd name="T33" fmla="*/ 104 h 199"/>
              <a:gd name="T34" fmla="*/ 3 w 613"/>
              <a:gd name="T35" fmla="*/ 56 h 199"/>
              <a:gd name="T36" fmla="*/ 2 w 613"/>
              <a:gd name="T37" fmla="*/ 68 h 199"/>
              <a:gd name="T38" fmla="*/ 0 w 613"/>
              <a:gd name="T39" fmla="*/ 78 h 199"/>
              <a:gd name="T40" fmla="*/ 0 w 613"/>
              <a:gd name="T41" fmla="*/ 88 h 199"/>
              <a:gd name="T42" fmla="*/ 0 w 613"/>
              <a:gd name="T43" fmla="*/ 99 h 199"/>
              <a:gd name="T44" fmla="*/ 0 w 613"/>
              <a:gd name="T45" fmla="*/ 124 h 199"/>
              <a:gd name="T46" fmla="*/ 3 w 613"/>
              <a:gd name="T47" fmla="*/ 151 h 199"/>
              <a:gd name="T48" fmla="*/ 8 w 613"/>
              <a:gd name="T49" fmla="*/ 175 h 199"/>
              <a:gd name="T50" fmla="*/ 17 w 613"/>
              <a:gd name="T51" fmla="*/ 199 h 199"/>
              <a:gd name="T52" fmla="*/ 17 w 613"/>
              <a:gd name="T53" fmla="*/ 187 h 199"/>
              <a:gd name="T54" fmla="*/ 12 w 613"/>
              <a:gd name="T55" fmla="*/ 162 h 199"/>
              <a:gd name="T56" fmla="*/ 7 w 613"/>
              <a:gd name="T57" fmla="*/ 137 h 199"/>
              <a:gd name="T58" fmla="*/ 5 w 613"/>
              <a:gd name="T59" fmla="*/ 112 h 199"/>
              <a:gd name="T60" fmla="*/ 5 w 613"/>
              <a:gd name="T61" fmla="*/ 93 h 199"/>
              <a:gd name="T62" fmla="*/ 5 w 613"/>
              <a:gd name="T63" fmla="*/ 83 h 199"/>
              <a:gd name="T64" fmla="*/ 5 w 613"/>
              <a:gd name="T65" fmla="*/ 71 h 199"/>
              <a:gd name="T66" fmla="*/ 7 w 613"/>
              <a:gd name="T67" fmla="*/ 59 h 199"/>
              <a:gd name="T68" fmla="*/ 3 w 613"/>
              <a:gd name="T69" fmla="*/ 5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3" h="199">
                <a:moveTo>
                  <a:pt x="613" y="99"/>
                </a:moveTo>
                <a:lnTo>
                  <a:pt x="613" y="86"/>
                </a:lnTo>
                <a:lnTo>
                  <a:pt x="611" y="73"/>
                </a:lnTo>
                <a:lnTo>
                  <a:pt x="609" y="61"/>
                </a:lnTo>
                <a:lnTo>
                  <a:pt x="608" y="48"/>
                </a:lnTo>
                <a:lnTo>
                  <a:pt x="606" y="36"/>
                </a:lnTo>
                <a:lnTo>
                  <a:pt x="603" y="23"/>
                </a:lnTo>
                <a:lnTo>
                  <a:pt x="600" y="11"/>
                </a:lnTo>
                <a:lnTo>
                  <a:pt x="596" y="0"/>
                </a:lnTo>
                <a:lnTo>
                  <a:pt x="591" y="0"/>
                </a:lnTo>
                <a:lnTo>
                  <a:pt x="595" y="11"/>
                </a:lnTo>
                <a:lnTo>
                  <a:pt x="598" y="23"/>
                </a:lnTo>
                <a:lnTo>
                  <a:pt x="601" y="36"/>
                </a:lnTo>
                <a:lnTo>
                  <a:pt x="603" y="48"/>
                </a:lnTo>
                <a:lnTo>
                  <a:pt x="606" y="61"/>
                </a:lnTo>
                <a:lnTo>
                  <a:pt x="606" y="73"/>
                </a:lnTo>
                <a:lnTo>
                  <a:pt x="608" y="86"/>
                </a:lnTo>
                <a:lnTo>
                  <a:pt x="608" y="99"/>
                </a:lnTo>
                <a:lnTo>
                  <a:pt x="608" y="104"/>
                </a:lnTo>
                <a:lnTo>
                  <a:pt x="608" y="109"/>
                </a:lnTo>
                <a:lnTo>
                  <a:pt x="608" y="112"/>
                </a:lnTo>
                <a:lnTo>
                  <a:pt x="608" y="117"/>
                </a:lnTo>
                <a:lnTo>
                  <a:pt x="608" y="122"/>
                </a:lnTo>
                <a:lnTo>
                  <a:pt x="606" y="127"/>
                </a:lnTo>
                <a:lnTo>
                  <a:pt x="606" y="131"/>
                </a:lnTo>
                <a:lnTo>
                  <a:pt x="606" y="136"/>
                </a:lnTo>
                <a:lnTo>
                  <a:pt x="611" y="134"/>
                </a:lnTo>
                <a:lnTo>
                  <a:pt x="611" y="129"/>
                </a:lnTo>
                <a:lnTo>
                  <a:pt x="611" y="126"/>
                </a:lnTo>
                <a:lnTo>
                  <a:pt x="611" y="121"/>
                </a:lnTo>
                <a:lnTo>
                  <a:pt x="613" y="116"/>
                </a:lnTo>
                <a:lnTo>
                  <a:pt x="613" y="112"/>
                </a:lnTo>
                <a:lnTo>
                  <a:pt x="613" y="107"/>
                </a:lnTo>
                <a:lnTo>
                  <a:pt x="613" y="104"/>
                </a:lnTo>
                <a:lnTo>
                  <a:pt x="613" y="99"/>
                </a:lnTo>
                <a:close/>
                <a:moveTo>
                  <a:pt x="3" y="56"/>
                </a:moveTo>
                <a:lnTo>
                  <a:pt x="2" y="63"/>
                </a:lnTo>
                <a:lnTo>
                  <a:pt x="2" y="68"/>
                </a:lnTo>
                <a:lnTo>
                  <a:pt x="0" y="73"/>
                </a:lnTo>
                <a:lnTo>
                  <a:pt x="0" y="78"/>
                </a:lnTo>
                <a:lnTo>
                  <a:pt x="0" y="83"/>
                </a:lnTo>
                <a:lnTo>
                  <a:pt x="0" y="88"/>
                </a:lnTo>
                <a:lnTo>
                  <a:pt x="0" y="94"/>
                </a:lnTo>
                <a:lnTo>
                  <a:pt x="0" y="99"/>
                </a:lnTo>
                <a:lnTo>
                  <a:pt x="0" y="112"/>
                </a:lnTo>
                <a:lnTo>
                  <a:pt x="0" y="124"/>
                </a:lnTo>
                <a:lnTo>
                  <a:pt x="2" y="137"/>
                </a:lnTo>
                <a:lnTo>
                  <a:pt x="3" y="151"/>
                </a:lnTo>
                <a:lnTo>
                  <a:pt x="7" y="162"/>
                </a:lnTo>
                <a:lnTo>
                  <a:pt x="8" y="175"/>
                </a:lnTo>
                <a:lnTo>
                  <a:pt x="12" y="187"/>
                </a:lnTo>
                <a:lnTo>
                  <a:pt x="17" y="199"/>
                </a:lnTo>
                <a:lnTo>
                  <a:pt x="22" y="199"/>
                </a:lnTo>
                <a:lnTo>
                  <a:pt x="17" y="187"/>
                </a:lnTo>
                <a:lnTo>
                  <a:pt x="13" y="175"/>
                </a:lnTo>
                <a:lnTo>
                  <a:pt x="12" y="162"/>
                </a:lnTo>
                <a:lnTo>
                  <a:pt x="8" y="151"/>
                </a:lnTo>
                <a:lnTo>
                  <a:pt x="7" y="137"/>
                </a:lnTo>
                <a:lnTo>
                  <a:pt x="5" y="124"/>
                </a:lnTo>
                <a:lnTo>
                  <a:pt x="5" y="112"/>
                </a:lnTo>
                <a:lnTo>
                  <a:pt x="5" y="99"/>
                </a:lnTo>
                <a:lnTo>
                  <a:pt x="5" y="93"/>
                </a:lnTo>
                <a:lnTo>
                  <a:pt x="5" y="88"/>
                </a:lnTo>
                <a:lnTo>
                  <a:pt x="5" y="83"/>
                </a:lnTo>
                <a:lnTo>
                  <a:pt x="5" y="76"/>
                </a:lnTo>
                <a:lnTo>
                  <a:pt x="5" y="71"/>
                </a:lnTo>
                <a:lnTo>
                  <a:pt x="7" y="66"/>
                </a:lnTo>
                <a:lnTo>
                  <a:pt x="7" y="59"/>
                </a:lnTo>
                <a:lnTo>
                  <a:pt x="8" y="54"/>
                </a:lnTo>
                <a:lnTo>
                  <a:pt x="3" y="56"/>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91" name="Freeform 1096">
            <a:extLst>
              <a:ext uri="{FF2B5EF4-FFF2-40B4-BE49-F238E27FC236}">
                <a16:creationId xmlns:a16="http://schemas.microsoft.com/office/drawing/2014/main" id="{7DD77F7F-126E-86E9-146F-B2A9AF01D2AD}"/>
              </a:ext>
            </a:extLst>
          </p:cNvPr>
          <p:cNvSpPr>
            <a:spLocks noEditPoints="1"/>
          </p:cNvSpPr>
          <p:nvPr/>
        </p:nvSpPr>
        <p:spPr bwMode="auto">
          <a:xfrm>
            <a:off x="2432050" y="2403475"/>
            <a:ext cx="963613" cy="315913"/>
          </a:xfrm>
          <a:custGeom>
            <a:avLst/>
            <a:gdLst>
              <a:gd name="T0" fmla="*/ 607 w 607"/>
              <a:gd name="T1" fmla="*/ 86 h 199"/>
              <a:gd name="T2" fmla="*/ 606 w 607"/>
              <a:gd name="T3" fmla="*/ 61 h 199"/>
              <a:gd name="T4" fmla="*/ 601 w 607"/>
              <a:gd name="T5" fmla="*/ 36 h 199"/>
              <a:gd name="T6" fmla="*/ 596 w 607"/>
              <a:gd name="T7" fmla="*/ 11 h 199"/>
              <a:gd name="T8" fmla="*/ 586 w 607"/>
              <a:gd name="T9" fmla="*/ 0 h 199"/>
              <a:gd name="T10" fmla="*/ 594 w 607"/>
              <a:gd name="T11" fmla="*/ 23 h 199"/>
              <a:gd name="T12" fmla="*/ 599 w 607"/>
              <a:gd name="T13" fmla="*/ 48 h 199"/>
              <a:gd name="T14" fmla="*/ 603 w 607"/>
              <a:gd name="T15" fmla="*/ 73 h 199"/>
              <a:gd name="T16" fmla="*/ 604 w 607"/>
              <a:gd name="T17" fmla="*/ 99 h 199"/>
              <a:gd name="T18" fmla="*/ 603 w 607"/>
              <a:gd name="T19" fmla="*/ 109 h 199"/>
              <a:gd name="T20" fmla="*/ 603 w 607"/>
              <a:gd name="T21" fmla="*/ 117 h 199"/>
              <a:gd name="T22" fmla="*/ 603 w 607"/>
              <a:gd name="T23" fmla="*/ 127 h 199"/>
              <a:gd name="T24" fmla="*/ 601 w 607"/>
              <a:gd name="T25" fmla="*/ 137 h 199"/>
              <a:gd name="T26" fmla="*/ 607 w 607"/>
              <a:gd name="T27" fmla="*/ 131 h 199"/>
              <a:gd name="T28" fmla="*/ 607 w 607"/>
              <a:gd name="T29" fmla="*/ 121 h 199"/>
              <a:gd name="T30" fmla="*/ 607 w 607"/>
              <a:gd name="T31" fmla="*/ 112 h 199"/>
              <a:gd name="T32" fmla="*/ 607 w 607"/>
              <a:gd name="T33" fmla="*/ 104 h 199"/>
              <a:gd name="T34" fmla="*/ 3 w 607"/>
              <a:gd name="T35" fmla="*/ 56 h 199"/>
              <a:gd name="T36" fmla="*/ 1 w 607"/>
              <a:gd name="T37" fmla="*/ 66 h 199"/>
              <a:gd name="T38" fmla="*/ 1 w 607"/>
              <a:gd name="T39" fmla="*/ 78 h 199"/>
              <a:gd name="T40" fmla="*/ 0 w 607"/>
              <a:gd name="T41" fmla="*/ 88 h 199"/>
              <a:gd name="T42" fmla="*/ 0 w 607"/>
              <a:gd name="T43" fmla="*/ 99 h 199"/>
              <a:gd name="T44" fmla="*/ 1 w 607"/>
              <a:gd name="T45" fmla="*/ 124 h 199"/>
              <a:gd name="T46" fmla="*/ 5 w 607"/>
              <a:gd name="T47" fmla="*/ 151 h 199"/>
              <a:gd name="T48" fmla="*/ 10 w 607"/>
              <a:gd name="T49" fmla="*/ 175 h 199"/>
              <a:gd name="T50" fmla="*/ 16 w 607"/>
              <a:gd name="T51" fmla="*/ 199 h 199"/>
              <a:gd name="T52" fmla="*/ 18 w 607"/>
              <a:gd name="T53" fmla="*/ 187 h 199"/>
              <a:gd name="T54" fmla="*/ 11 w 607"/>
              <a:gd name="T55" fmla="*/ 162 h 199"/>
              <a:gd name="T56" fmla="*/ 8 w 607"/>
              <a:gd name="T57" fmla="*/ 137 h 199"/>
              <a:gd name="T58" fmla="*/ 5 w 607"/>
              <a:gd name="T59" fmla="*/ 112 h 199"/>
              <a:gd name="T60" fmla="*/ 5 w 607"/>
              <a:gd name="T61" fmla="*/ 93 h 199"/>
              <a:gd name="T62" fmla="*/ 5 w 607"/>
              <a:gd name="T63" fmla="*/ 81 h 199"/>
              <a:gd name="T64" fmla="*/ 6 w 607"/>
              <a:gd name="T65" fmla="*/ 69 h 199"/>
              <a:gd name="T66" fmla="*/ 8 w 607"/>
              <a:gd name="T67" fmla="*/ 59 h 199"/>
              <a:gd name="T68" fmla="*/ 3 w 607"/>
              <a:gd name="T69" fmla="*/ 5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7" h="199">
                <a:moveTo>
                  <a:pt x="607" y="99"/>
                </a:moveTo>
                <a:lnTo>
                  <a:pt x="607" y="86"/>
                </a:lnTo>
                <a:lnTo>
                  <a:pt x="607" y="73"/>
                </a:lnTo>
                <a:lnTo>
                  <a:pt x="606" y="61"/>
                </a:lnTo>
                <a:lnTo>
                  <a:pt x="604" y="48"/>
                </a:lnTo>
                <a:lnTo>
                  <a:pt x="601" y="36"/>
                </a:lnTo>
                <a:lnTo>
                  <a:pt x="599" y="23"/>
                </a:lnTo>
                <a:lnTo>
                  <a:pt x="596" y="11"/>
                </a:lnTo>
                <a:lnTo>
                  <a:pt x="591" y="0"/>
                </a:lnTo>
                <a:lnTo>
                  <a:pt x="586" y="0"/>
                </a:lnTo>
                <a:lnTo>
                  <a:pt x="591" y="11"/>
                </a:lnTo>
                <a:lnTo>
                  <a:pt x="594" y="23"/>
                </a:lnTo>
                <a:lnTo>
                  <a:pt x="598" y="36"/>
                </a:lnTo>
                <a:lnTo>
                  <a:pt x="599" y="48"/>
                </a:lnTo>
                <a:lnTo>
                  <a:pt x="601" y="61"/>
                </a:lnTo>
                <a:lnTo>
                  <a:pt x="603" y="73"/>
                </a:lnTo>
                <a:lnTo>
                  <a:pt x="603" y="86"/>
                </a:lnTo>
                <a:lnTo>
                  <a:pt x="604" y="99"/>
                </a:lnTo>
                <a:lnTo>
                  <a:pt x="604" y="104"/>
                </a:lnTo>
                <a:lnTo>
                  <a:pt x="603" y="109"/>
                </a:lnTo>
                <a:lnTo>
                  <a:pt x="603" y="114"/>
                </a:lnTo>
                <a:lnTo>
                  <a:pt x="603" y="117"/>
                </a:lnTo>
                <a:lnTo>
                  <a:pt x="603" y="122"/>
                </a:lnTo>
                <a:lnTo>
                  <a:pt x="603" y="127"/>
                </a:lnTo>
                <a:lnTo>
                  <a:pt x="601" y="132"/>
                </a:lnTo>
                <a:lnTo>
                  <a:pt x="601" y="137"/>
                </a:lnTo>
                <a:lnTo>
                  <a:pt x="606" y="134"/>
                </a:lnTo>
                <a:lnTo>
                  <a:pt x="607" y="131"/>
                </a:lnTo>
                <a:lnTo>
                  <a:pt x="607" y="126"/>
                </a:lnTo>
                <a:lnTo>
                  <a:pt x="607" y="121"/>
                </a:lnTo>
                <a:lnTo>
                  <a:pt x="607" y="117"/>
                </a:lnTo>
                <a:lnTo>
                  <a:pt x="607" y="112"/>
                </a:lnTo>
                <a:lnTo>
                  <a:pt x="607" y="107"/>
                </a:lnTo>
                <a:lnTo>
                  <a:pt x="607" y="104"/>
                </a:lnTo>
                <a:lnTo>
                  <a:pt x="607" y="99"/>
                </a:lnTo>
                <a:close/>
                <a:moveTo>
                  <a:pt x="3" y="56"/>
                </a:moveTo>
                <a:lnTo>
                  <a:pt x="3" y="61"/>
                </a:lnTo>
                <a:lnTo>
                  <a:pt x="1" y="66"/>
                </a:lnTo>
                <a:lnTo>
                  <a:pt x="1" y="71"/>
                </a:lnTo>
                <a:lnTo>
                  <a:pt x="1" y="78"/>
                </a:lnTo>
                <a:lnTo>
                  <a:pt x="0" y="83"/>
                </a:lnTo>
                <a:lnTo>
                  <a:pt x="0" y="88"/>
                </a:lnTo>
                <a:lnTo>
                  <a:pt x="0" y="94"/>
                </a:lnTo>
                <a:lnTo>
                  <a:pt x="0" y="99"/>
                </a:lnTo>
                <a:lnTo>
                  <a:pt x="0" y="112"/>
                </a:lnTo>
                <a:lnTo>
                  <a:pt x="1" y="124"/>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8" y="137"/>
                </a:lnTo>
                <a:lnTo>
                  <a:pt x="6" y="126"/>
                </a:lnTo>
                <a:lnTo>
                  <a:pt x="5" y="112"/>
                </a:lnTo>
                <a:lnTo>
                  <a:pt x="5" y="99"/>
                </a:lnTo>
                <a:lnTo>
                  <a:pt x="5" y="93"/>
                </a:lnTo>
                <a:lnTo>
                  <a:pt x="5" y="88"/>
                </a:lnTo>
                <a:lnTo>
                  <a:pt x="5" y="81"/>
                </a:lnTo>
                <a:lnTo>
                  <a:pt x="6" y="76"/>
                </a:lnTo>
                <a:lnTo>
                  <a:pt x="6" y="69"/>
                </a:lnTo>
                <a:lnTo>
                  <a:pt x="6" y="64"/>
                </a:lnTo>
                <a:lnTo>
                  <a:pt x="8" y="59"/>
                </a:lnTo>
                <a:lnTo>
                  <a:pt x="8" y="53"/>
                </a:lnTo>
                <a:lnTo>
                  <a:pt x="3" y="56"/>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92" name="Freeform 1097">
            <a:extLst>
              <a:ext uri="{FF2B5EF4-FFF2-40B4-BE49-F238E27FC236}">
                <a16:creationId xmlns:a16="http://schemas.microsoft.com/office/drawing/2014/main" id="{1AEE4A6D-11F8-65E7-BAB5-C86616323682}"/>
              </a:ext>
            </a:extLst>
          </p:cNvPr>
          <p:cNvSpPr>
            <a:spLocks noEditPoints="1"/>
          </p:cNvSpPr>
          <p:nvPr/>
        </p:nvSpPr>
        <p:spPr bwMode="auto">
          <a:xfrm>
            <a:off x="2436813" y="2403475"/>
            <a:ext cx="957263" cy="315913"/>
          </a:xfrm>
          <a:custGeom>
            <a:avLst/>
            <a:gdLst>
              <a:gd name="T0" fmla="*/ 603 w 603"/>
              <a:gd name="T1" fmla="*/ 86 h 199"/>
              <a:gd name="T2" fmla="*/ 601 w 603"/>
              <a:gd name="T3" fmla="*/ 61 h 199"/>
              <a:gd name="T4" fmla="*/ 596 w 603"/>
              <a:gd name="T5" fmla="*/ 36 h 199"/>
              <a:gd name="T6" fmla="*/ 590 w 603"/>
              <a:gd name="T7" fmla="*/ 11 h 199"/>
              <a:gd name="T8" fmla="*/ 581 w 603"/>
              <a:gd name="T9" fmla="*/ 0 h 199"/>
              <a:gd name="T10" fmla="*/ 588 w 603"/>
              <a:gd name="T11" fmla="*/ 23 h 199"/>
              <a:gd name="T12" fmla="*/ 593 w 603"/>
              <a:gd name="T13" fmla="*/ 48 h 199"/>
              <a:gd name="T14" fmla="*/ 596 w 603"/>
              <a:gd name="T15" fmla="*/ 73 h 199"/>
              <a:gd name="T16" fmla="*/ 598 w 603"/>
              <a:gd name="T17" fmla="*/ 99 h 199"/>
              <a:gd name="T18" fmla="*/ 598 w 603"/>
              <a:gd name="T19" fmla="*/ 109 h 199"/>
              <a:gd name="T20" fmla="*/ 598 w 603"/>
              <a:gd name="T21" fmla="*/ 119 h 199"/>
              <a:gd name="T22" fmla="*/ 596 w 603"/>
              <a:gd name="T23" fmla="*/ 129 h 199"/>
              <a:gd name="T24" fmla="*/ 596 w 603"/>
              <a:gd name="T25" fmla="*/ 139 h 199"/>
              <a:gd name="T26" fmla="*/ 601 w 603"/>
              <a:gd name="T27" fmla="*/ 131 h 199"/>
              <a:gd name="T28" fmla="*/ 603 w 603"/>
              <a:gd name="T29" fmla="*/ 122 h 199"/>
              <a:gd name="T30" fmla="*/ 603 w 603"/>
              <a:gd name="T31" fmla="*/ 112 h 199"/>
              <a:gd name="T32" fmla="*/ 603 w 603"/>
              <a:gd name="T33" fmla="*/ 104 h 199"/>
              <a:gd name="T34" fmla="*/ 3 w 603"/>
              <a:gd name="T35" fmla="*/ 54 h 199"/>
              <a:gd name="T36" fmla="*/ 2 w 603"/>
              <a:gd name="T37" fmla="*/ 66 h 199"/>
              <a:gd name="T38" fmla="*/ 0 w 603"/>
              <a:gd name="T39" fmla="*/ 76 h 199"/>
              <a:gd name="T40" fmla="*/ 0 w 603"/>
              <a:gd name="T41" fmla="*/ 88 h 199"/>
              <a:gd name="T42" fmla="*/ 0 w 603"/>
              <a:gd name="T43" fmla="*/ 99 h 199"/>
              <a:gd name="T44" fmla="*/ 0 w 603"/>
              <a:gd name="T45" fmla="*/ 124 h 199"/>
              <a:gd name="T46" fmla="*/ 3 w 603"/>
              <a:gd name="T47" fmla="*/ 151 h 199"/>
              <a:gd name="T48" fmla="*/ 8 w 603"/>
              <a:gd name="T49" fmla="*/ 175 h 199"/>
              <a:gd name="T50" fmla="*/ 17 w 603"/>
              <a:gd name="T51" fmla="*/ 199 h 199"/>
              <a:gd name="T52" fmla="*/ 17 w 603"/>
              <a:gd name="T53" fmla="*/ 187 h 199"/>
              <a:gd name="T54" fmla="*/ 12 w 603"/>
              <a:gd name="T55" fmla="*/ 162 h 199"/>
              <a:gd name="T56" fmla="*/ 7 w 603"/>
              <a:gd name="T57" fmla="*/ 137 h 199"/>
              <a:gd name="T58" fmla="*/ 5 w 603"/>
              <a:gd name="T59" fmla="*/ 112 h 199"/>
              <a:gd name="T60" fmla="*/ 5 w 603"/>
              <a:gd name="T61" fmla="*/ 93 h 199"/>
              <a:gd name="T62" fmla="*/ 5 w 603"/>
              <a:gd name="T63" fmla="*/ 81 h 199"/>
              <a:gd name="T64" fmla="*/ 5 w 603"/>
              <a:gd name="T65" fmla="*/ 69 h 199"/>
              <a:gd name="T66" fmla="*/ 7 w 603"/>
              <a:gd name="T67" fmla="*/ 58 h 199"/>
              <a:gd name="T68" fmla="*/ 3 w 603"/>
              <a:gd name="T69" fmla="*/ 5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3" h="199">
                <a:moveTo>
                  <a:pt x="603" y="99"/>
                </a:moveTo>
                <a:lnTo>
                  <a:pt x="603" y="86"/>
                </a:lnTo>
                <a:lnTo>
                  <a:pt x="601" y="73"/>
                </a:lnTo>
                <a:lnTo>
                  <a:pt x="601" y="61"/>
                </a:lnTo>
                <a:lnTo>
                  <a:pt x="598" y="48"/>
                </a:lnTo>
                <a:lnTo>
                  <a:pt x="596" y="36"/>
                </a:lnTo>
                <a:lnTo>
                  <a:pt x="593" y="23"/>
                </a:lnTo>
                <a:lnTo>
                  <a:pt x="590" y="11"/>
                </a:lnTo>
                <a:lnTo>
                  <a:pt x="586" y="0"/>
                </a:lnTo>
                <a:lnTo>
                  <a:pt x="581" y="0"/>
                </a:lnTo>
                <a:lnTo>
                  <a:pt x="585" y="11"/>
                </a:lnTo>
                <a:lnTo>
                  <a:pt x="588" y="23"/>
                </a:lnTo>
                <a:lnTo>
                  <a:pt x="591" y="36"/>
                </a:lnTo>
                <a:lnTo>
                  <a:pt x="593" y="48"/>
                </a:lnTo>
                <a:lnTo>
                  <a:pt x="596" y="61"/>
                </a:lnTo>
                <a:lnTo>
                  <a:pt x="596" y="73"/>
                </a:lnTo>
                <a:lnTo>
                  <a:pt x="598" y="86"/>
                </a:lnTo>
                <a:lnTo>
                  <a:pt x="598" y="99"/>
                </a:lnTo>
                <a:lnTo>
                  <a:pt x="598" y="104"/>
                </a:lnTo>
                <a:lnTo>
                  <a:pt x="598" y="109"/>
                </a:lnTo>
                <a:lnTo>
                  <a:pt x="598" y="114"/>
                </a:lnTo>
                <a:lnTo>
                  <a:pt x="598" y="119"/>
                </a:lnTo>
                <a:lnTo>
                  <a:pt x="598" y="124"/>
                </a:lnTo>
                <a:lnTo>
                  <a:pt x="596" y="129"/>
                </a:lnTo>
                <a:lnTo>
                  <a:pt x="596" y="134"/>
                </a:lnTo>
                <a:lnTo>
                  <a:pt x="596" y="139"/>
                </a:lnTo>
                <a:lnTo>
                  <a:pt x="601" y="136"/>
                </a:lnTo>
                <a:lnTo>
                  <a:pt x="601" y="131"/>
                </a:lnTo>
                <a:lnTo>
                  <a:pt x="601" y="127"/>
                </a:lnTo>
                <a:lnTo>
                  <a:pt x="603" y="122"/>
                </a:lnTo>
                <a:lnTo>
                  <a:pt x="603" y="117"/>
                </a:lnTo>
                <a:lnTo>
                  <a:pt x="603" y="112"/>
                </a:lnTo>
                <a:lnTo>
                  <a:pt x="603" y="109"/>
                </a:lnTo>
                <a:lnTo>
                  <a:pt x="603" y="104"/>
                </a:lnTo>
                <a:lnTo>
                  <a:pt x="603" y="99"/>
                </a:lnTo>
                <a:close/>
                <a:moveTo>
                  <a:pt x="3" y="54"/>
                </a:moveTo>
                <a:lnTo>
                  <a:pt x="2" y="59"/>
                </a:lnTo>
                <a:lnTo>
                  <a:pt x="2" y="66"/>
                </a:lnTo>
                <a:lnTo>
                  <a:pt x="0" y="71"/>
                </a:lnTo>
                <a:lnTo>
                  <a:pt x="0" y="76"/>
                </a:lnTo>
                <a:lnTo>
                  <a:pt x="0" y="83"/>
                </a:lnTo>
                <a:lnTo>
                  <a:pt x="0" y="88"/>
                </a:lnTo>
                <a:lnTo>
                  <a:pt x="0" y="93"/>
                </a:lnTo>
                <a:lnTo>
                  <a:pt x="0" y="99"/>
                </a:lnTo>
                <a:lnTo>
                  <a:pt x="0" y="112"/>
                </a:lnTo>
                <a:lnTo>
                  <a:pt x="0" y="124"/>
                </a:lnTo>
                <a:lnTo>
                  <a:pt x="2" y="137"/>
                </a:lnTo>
                <a:lnTo>
                  <a:pt x="3" y="151"/>
                </a:lnTo>
                <a:lnTo>
                  <a:pt x="7" y="162"/>
                </a:lnTo>
                <a:lnTo>
                  <a:pt x="8" y="175"/>
                </a:lnTo>
                <a:lnTo>
                  <a:pt x="12" y="187"/>
                </a:lnTo>
                <a:lnTo>
                  <a:pt x="17" y="199"/>
                </a:lnTo>
                <a:lnTo>
                  <a:pt x="22" y="199"/>
                </a:lnTo>
                <a:lnTo>
                  <a:pt x="17" y="187"/>
                </a:lnTo>
                <a:lnTo>
                  <a:pt x="13" y="175"/>
                </a:lnTo>
                <a:lnTo>
                  <a:pt x="12" y="162"/>
                </a:lnTo>
                <a:lnTo>
                  <a:pt x="8" y="151"/>
                </a:lnTo>
                <a:lnTo>
                  <a:pt x="7" y="137"/>
                </a:lnTo>
                <a:lnTo>
                  <a:pt x="5" y="126"/>
                </a:lnTo>
                <a:lnTo>
                  <a:pt x="5" y="112"/>
                </a:lnTo>
                <a:lnTo>
                  <a:pt x="5" y="99"/>
                </a:lnTo>
                <a:lnTo>
                  <a:pt x="5" y="93"/>
                </a:lnTo>
                <a:lnTo>
                  <a:pt x="5" y="88"/>
                </a:lnTo>
                <a:lnTo>
                  <a:pt x="5" y="81"/>
                </a:lnTo>
                <a:lnTo>
                  <a:pt x="5" y="76"/>
                </a:lnTo>
                <a:lnTo>
                  <a:pt x="5" y="69"/>
                </a:lnTo>
                <a:lnTo>
                  <a:pt x="7" y="63"/>
                </a:lnTo>
                <a:lnTo>
                  <a:pt x="7" y="58"/>
                </a:lnTo>
                <a:lnTo>
                  <a:pt x="8" y="51"/>
                </a:lnTo>
                <a:lnTo>
                  <a:pt x="3" y="54"/>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93" name="Freeform 1098">
            <a:extLst>
              <a:ext uri="{FF2B5EF4-FFF2-40B4-BE49-F238E27FC236}">
                <a16:creationId xmlns:a16="http://schemas.microsoft.com/office/drawing/2014/main" id="{774EE023-6832-84B0-7B31-4006469F7403}"/>
              </a:ext>
            </a:extLst>
          </p:cNvPr>
          <p:cNvSpPr>
            <a:spLocks noEditPoints="1"/>
          </p:cNvSpPr>
          <p:nvPr/>
        </p:nvSpPr>
        <p:spPr bwMode="auto">
          <a:xfrm>
            <a:off x="2439988" y="2403475"/>
            <a:ext cx="950913" cy="315913"/>
          </a:xfrm>
          <a:custGeom>
            <a:avLst/>
            <a:gdLst>
              <a:gd name="T0" fmla="*/ 598 w 599"/>
              <a:gd name="T1" fmla="*/ 86 h 199"/>
              <a:gd name="T2" fmla="*/ 596 w 599"/>
              <a:gd name="T3" fmla="*/ 61 h 199"/>
              <a:gd name="T4" fmla="*/ 593 w 599"/>
              <a:gd name="T5" fmla="*/ 36 h 199"/>
              <a:gd name="T6" fmla="*/ 586 w 599"/>
              <a:gd name="T7" fmla="*/ 11 h 199"/>
              <a:gd name="T8" fmla="*/ 576 w 599"/>
              <a:gd name="T9" fmla="*/ 0 h 199"/>
              <a:gd name="T10" fmla="*/ 584 w 599"/>
              <a:gd name="T11" fmla="*/ 23 h 199"/>
              <a:gd name="T12" fmla="*/ 589 w 599"/>
              <a:gd name="T13" fmla="*/ 48 h 199"/>
              <a:gd name="T14" fmla="*/ 593 w 599"/>
              <a:gd name="T15" fmla="*/ 73 h 199"/>
              <a:gd name="T16" fmla="*/ 594 w 599"/>
              <a:gd name="T17" fmla="*/ 99 h 199"/>
              <a:gd name="T18" fmla="*/ 594 w 599"/>
              <a:gd name="T19" fmla="*/ 109 h 199"/>
              <a:gd name="T20" fmla="*/ 593 w 599"/>
              <a:gd name="T21" fmla="*/ 119 h 199"/>
              <a:gd name="T22" fmla="*/ 593 w 599"/>
              <a:gd name="T23" fmla="*/ 129 h 199"/>
              <a:gd name="T24" fmla="*/ 591 w 599"/>
              <a:gd name="T25" fmla="*/ 139 h 199"/>
              <a:gd name="T26" fmla="*/ 596 w 599"/>
              <a:gd name="T27" fmla="*/ 132 h 199"/>
              <a:gd name="T28" fmla="*/ 598 w 599"/>
              <a:gd name="T29" fmla="*/ 122 h 199"/>
              <a:gd name="T30" fmla="*/ 598 w 599"/>
              <a:gd name="T31" fmla="*/ 114 h 199"/>
              <a:gd name="T32" fmla="*/ 599 w 599"/>
              <a:gd name="T33" fmla="*/ 104 h 199"/>
              <a:gd name="T34" fmla="*/ 3 w 599"/>
              <a:gd name="T35" fmla="*/ 53 h 199"/>
              <a:gd name="T36" fmla="*/ 1 w 599"/>
              <a:gd name="T37" fmla="*/ 64 h 199"/>
              <a:gd name="T38" fmla="*/ 1 w 599"/>
              <a:gd name="T39" fmla="*/ 76 h 199"/>
              <a:gd name="T40" fmla="*/ 0 w 599"/>
              <a:gd name="T41" fmla="*/ 88 h 199"/>
              <a:gd name="T42" fmla="*/ 0 w 599"/>
              <a:gd name="T43" fmla="*/ 99 h 199"/>
              <a:gd name="T44" fmla="*/ 1 w 599"/>
              <a:gd name="T45" fmla="*/ 126 h 199"/>
              <a:gd name="T46" fmla="*/ 5 w 599"/>
              <a:gd name="T47" fmla="*/ 151 h 199"/>
              <a:gd name="T48" fmla="*/ 10 w 599"/>
              <a:gd name="T49" fmla="*/ 175 h 199"/>
              <a:gd name="T50" fmla="*/ 16 w 599"/>
              <a:gd name="T51" fmla="*/ 199 h 199"/>
              <a:gd name="T52" fmla="*/ 18 w 599"/>
              <a:gd name="T53" fmla="*/ 187 h 199"/>
              <a:gd name="T54" fmla="*/ 11 w 599"/>
              <a:gd name="T55" fmla="*/ 162 h 199"/>
              <a:gd name="T56" fmla="*/ 8 w 599"/>
              <a:gd name="T57" fmla="*/ 137 h 199"/>
              <a:gd name="T58" fmla="*/ 5 w 599"/>
              <a:gd name="T59" fmla="*/ 112 h 199"/>
              <a:gd name="T60" fmla="*/ 5 w 599"/>
              <a:gd name="T61" fmla="*/ 93 h 199"/>
              <a:gd name="T62" fmla="*/ 5 w 599"/>
              <a:gd name="T63" fmla="*/ 81 h 199"/>
              <a:gd name="T64" fmla="*/ 6 w 599"/>
              <a:gd name="T65" fmla="*/ 69 h 199"/>
              <a:gd name="T66" fmla="*/ 8 w 599"/>
              <a:gd name="T67" fmla="*/ 56 h 199"/>
              <a:gd name="T68" fmla="*/ 3 w 599"/>
              <a:gd name="T69" fmla="*/ 5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9" h="199">
                <a:moveTo>
                  <a:pt x="599" y="99"/>
                </a:moveTo>
                <a:lnTo>
                  <a:pt x="598" y="86"/>
                </a:lnTo>
                <a:lnTo>
                  <a:pt x="598" y="73"/>
                </a:lnTo>
                <a:lnTo>
                  <a:pt x="596" y="61"/>
                </a:lnTo>
                <a:lnTo>
                  <a:pt x="594" y="48"/>
                </a:lnTo>
                <a:lnTo>
                  <a:pt x="593" y="36"/>
                </a:lnTo>
                <a:lnTo>
                  <a:pt x="589" y="23"/>
                </a:lnTo>
                <a:lnTo>
                  <a:pt x="586" y="11"/>
                </a:lnTo>
                <a:lnTo>
                  <a:pt x="581" y="0"/>
                </a:lnTo>
                <a:lnTo>
                  <a:pt x="576" y="0"/>
                </a:lnTo>
                <a:lnTo>
                  <a:pt x="581" y="11"/>
                </a:lnTo>
                <a:lnTo>
                  <a:pt x="584" y="23"/>
                </a:lnTo>
                <a:lnTo>
                  <a:pt x="588" y="36"/>
                </a:lnTo>
                <a:lnTo>
                  <a:pt x="589" y="48"/>
                </a:lnTo>
                <a:lnTo>
                  <a:pt x="591" y="61"/>
                </a:lnTo>
                <a:lnTo>
                  <a:pt x="593" y="73"/>
                </a:lnTo>
                <a:lnTo>
                  <a:pt x="594" y="86"/>
                </a:lnTo>
                <a:lnTo>
                  <a:pt x="594" y="99"/>
                </a:lnTo>
                <a:lnTo>
                  <a:pt x="594" y="104"/>
                </a:lnTo>
                <a:lnTo>
                  <a:pt x="594" y="109"/>
                </a:lnTo>
                <a:lnTo>
                  <a:pt x="593" y="114"/>
                </a:lnTo>
                <a:lnTo>
                  <a:pt x="593" y="119"/>
                </a:lnTo>
                <a:lnTo>
                  <a:pt x="593" y="124"/>
                </a:lnTo>
                <a:lnTo>
                  <a:pt x="593" y="129"/>
                </a:lnTo>
                <a:lnTo>
                  <a:pt x="591" y="134"/>
                </a:lnTo>
                <a:lnTo>
                  <a:pt x="591" y="139"/>
                </a:lnTo>
                <a:lnTo>
                  <a:pt x="596" y="137"/>
                </a:lnTo>
                <a:lnTo>
                  <a:pt x="596" y="132"/>
                </a:lnTo>
                <a:lnTo>
                  <a:pt x="598" y="127"/>
                </a:lnTo>
                <a:lnTo>
                  <a:pt x="598" y="122"/>
                </a:lnTo>
                <a:lnTo>
                  <a:pt x="598" y="117"/>
                </a:lnTo>
                <a:lnTo>
                  <a:pt x="598" y="114"/>
                </a:lnTo>
                <a:lnTo>
                  <a:pt x="598" y="109"/>
                </a:lnTo>
                <a:lnTo>
                  <a:pt x="599" y="104"/>
                </a:lnTo>
                <a:lnTo>
                  <a:pt x="599" y="99"/>
                </a:lnTo>
                <a:close/>
                <a:moveTo>
                  <a:pt x="3" y="53"/>
                </a:moveTo>
                <a:lnTo>
                  <a:pt x="3" y="59"/>
                </a:lnTo>
                <a:lnTo>
                  <a:pt x="1" y="64"/>
                </a:lnTo>
                <a:lnTo>
                  <a:pt x="1" y="69"/>
                </a:lnTo>
                <a:lnTo>
                  <a:pt x="1" y="76"/>
                </a:lnTo>
                <a:lnTo>
                  <a:pt x="0" y="81"/>
                </a:lnTo>
                <a:lnTo>
                  <a:pt x="0" y="88"/>
                </a:lnTo>
                <a:lnTo>
                  <a:pt x="0" y="93"/>
                </a:lnTo>
                <a:lnTo>
                  <a:pt x="0" y="99"/>
                </a:lnTo>
                <a:lnTo>
                  <a:pt x="0" y="112"/>
                </a:lnTo>
                <a:lnTo>
                  <a:pt x="1" y="126"/>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8" y="137"/>
                </a:lnTo>
                <a:lnTo>
                  <a:pt x="6" y="126"/>
                </a:lnTo>
                <a:lnTo>
                  <a:pt x="5" y="112"/>
                </a:lnTo>
                <a:lnTo>
                  <a:pt x="5" y="99"/>
                </a:lnTo>
                <a:lnTo>
                  <a:pt x="5" y="93"/>
                </a:lnTo>
                <a:lnTo>
                  <a:pt x="5" y="86"/>
                </a:lnTo>
                <a:lnTo>
                  <a:pt x="5" y="81"/>
                </a:lnTo>
                <a:lnTo>
                  <a:pt x="6" y="74"/>
                </a:lnTo>
                <a:lnTo>
                  <a:pt x="6" y="69"/>
                </a:lnTo>
                <a:lnTo>
                  <a:pt x="6" y="63"/>
                </a:lnTo>
                <a:lnTo>
                  <a:pt x="8" y="56"/>
                </a:lnTo>
                <a:lnTo>
                  <a:pt x="8" y="51"/>
                </a:lnTo>
                <a:lnTo>
                  <a:pt x="3" y="53"/>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94" name="Freeform 1099">
            <a:extLst>
              <a:ext uri="{FF2B5EF4-FFF2-40B4-BE49-F238E27FC236}">
                <a16:creationId xmlns:a16="http://schemas.microsoft.com/office/drawing/2014/main" id="{204C8D75-7416-2942-1964-0561985E66B1}"/>
              </a:ext>
            </a:extLst>
          </p:cNvPr>
          <p:cNvSpPr>
            <a:spLocks noEditPoints="1"/>
          </p:cNvSpPr>
          <p:nvPr/>
        </p:nvSpPr>
        <p:spPr bwMode="auto">
          <a:xfrm>
            <a:off x="2444750" y="2403475"/>
            <a:ext cx="941388" cy="315913"/>
          </a:xfrm>
          <a:custGeom>
            <a:avLst/>
            <a:gdLst>
              <a:gd name="T0" fmla="*/ 593 w 593"/>
              <a:gd name="T1" fmla="*/ 86 h 199"/>
              <a:gd name="T2" fmla="*/ 591 w 593"/>
              <a:gd name="T3" fmla="*/ 61 h 199"/>
              <a:gd name="T4" fmla="*/ 586 w 593"/>
              <a:gd name="T5" fmla="*/ 36 h 199"/>
              <a:gd name="T6" fmla="*/ 580 w 593"/>
              <a:gd name="T7" fmla="*/ 11 h 199"/>
              <a:gd name="T8" fmla="*/ 571 w 593"/>
              <a:gd name="T9" fmla="*/ 0 h 199"/>
              <a:gd name="T10" fmla="*/ 578 w 593"/>
              <a:gd name="T11" fmla="*/ 23 h 199"/>
              <a:gd name="T12" fmla="*/ 585 w 593"/>
              <a:gd name="T13" fmla="*/ 48 h 199"/>
              <a:gd name="T14" fmla="*/ 588 w 593"/>
              <a:gd name="T15" fmla="*/ 73 h 199"/>
              <a:gd name="T16" fmla="*/ 588 w 593"/>
              <a:gd name="T17" fmla="*/ 99 h 199"/>
              <a:gd name="T18" fmla="*/ 588 w 593"/>
              <a:gd name="T19" fmla="*/ 109 h 199"/>
              <a:gd name="T20" fmla="*/ 588 w 593"/>
              <a:gd name="T21" fmla="*/ 121 h 199"/>
              <a:gd name="T22" fmla="*/ 586 w 593"/>
              <a:gd name="T23" fmla="*/ 131 h 199"/>
              <a:gd name="T24" fmla="*/ 585 w 593"/>
              <a:gd name="T25" fmla="*/ 141 h 199"/>
              <a:gd name="T26" fmla="*/ 591 w 593"/>
              <a:gd name="T27" fmla="*/ 134 h 199"/>
              <a:gd name="T28" fmla="*/ 593 w 593"/>
              <a:gd name="T29" fmla="*/ 124 h 199"/>
              <a:gd name="T30" fmla="*/ 593 w 593"/>
              <a:gd name="T31" fmla="*/ 114 h 199"/>
              <a:gd name="T32" fmla="*/ 593 w 593"/>
              <a:gd name="T33" fmla="*/ 104 h 199"/>
              <a:gd name="T34" fmla="*/ 3 w 593"/>
              <a:gd name="T35" fmla="*/ 51 h 199"/>
              <a:gd name="T36" fmla="*/ 2 w 593"/>
              <a:gd name="T37" fmla="*/ 63 h 199"/>
              <a:gd name="T38" fmla="*/ 0 w 593"/>
              <a:gd name="T39" fmla="*/ 76 h 199"/>
              <a:gd name="T40" fmla="*/ 0 w 593"/>
              <a:gd name="T41" fmla="*/ 88 h 199"/>
              <a:gd name="T42" fmla="*/ 0 w 593"/>
              <a:gd name="T43" fmla="*/ 99 h 199"/>
              <a:gd name="T44" fmla="*/ 0 w 593"/>
              <a:gd name="T45" fmla="*/ 126 h 199"/>
              <a:gd name="T46" fmla="*/ 3 w 593"/>
              <a:gd name="T47" fmla="*/ 151 h 199"/>
              <a:gd name="T48" fmla="*/ 8 w 593"/>
              <a:gd name="T49" fmla="*/ 175 h 199"/>
              <a:gd name="T50" fmla="*/ 17 w 593"/>
              <a:gd name="T51" fmla="*/ 199 h 199"/>
              <a:gd name="T52" fmla="*/ 18 w 593"/>
              <a:gd name="T53" fmla="*/ 187 h 199"/>
              <a:gd name="T54" fmla="*/ 12 w 593"/>
              <a:gd name="T55" fmla="*/ 162 h 199"/>
              <a:gd name="T56" fmla="*/ 7 w 593"/>
              <a:gd name="T57" fmla="*/ 137 h 199"/>
              <a:gd name="T58" fmla="*/ 5 w 593"/>
              <a:gd name="T59" fmla="*/ 112 h 199"/>
              <a:gd name="T60" fmla="*/ 3 w 593"/>
              <a:gd name="T61" fmla="*/ 93 h 199"/>
              <a:gd name="T62" fmla="*/ 5 w 593"/>
              <a:gd name="T63" fmla="*/ 81 h 199"/>
              <a:gd name="T64" fmla="*/ 5 w 593"/>
              <a:gd name="T65" fmla="*/ 68 h 199"/>
              <a:gd name="T66" fmla="*/ 7 w 593"/>
              <a:gd name="T67" fmla="*/ 56 h 199"/>
              <a:gd name="T68" fmla="*/ 3 w 593"/>
              <a:gd name="T69" fmla="*/ 5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3" h="199">
                <a:moveTo>
                  <a:pt x="593" y="99"/>
                </a:moveTo>
                <a:lnTo>
                  <a:pt x="593" y="86"/>
                </a:lnTo>
                <a:lnTo>
                  <a:pt x="591" y="73"/>
                </a:lnTo>
                <a:lnTo>
                  <a:pt x="591" y="61"/>
                </a:lnTo>
                <a:lnTo>
                  <a:pt x="588" y="48"/>
                </a:lnTo>
                <a:lnTo>
                  <a:pt x="586" y="36"/>
                </a:lnTo>
                <a:lnTo>
                  <a:pt x="583" y="23"/>
                </a:lnTo>
                <a:lnTo>
                  <a:pt x="580" y="11"/>
                </a:lnTo>
                <a:lnTo>
                  <a:pt x="576" y="0"/>
                </a:lnTo>
                <a:lnTo>
                  <a:pt x="571" y="0"/>
                </a:lnTo>
                <a:lnTo>
                  <a:pt x="575" y="11"/>
                </a:lnTo>
                <a:lnTo>
                  <a:pt x="578" y="23"/>
                </a:lnTo>
                <a:lnTo>
                  <a:pt x="581" y="36"/>
                </a:lnTo>
                <a:lnTo>
                  <a:pt x="585" y="48"/>
                </a:lnTo>
                <a:lnTo>
                  <a:pt x="586" y="61"/>
                </a:lnTo>
                <a:lnTo>
                  <a:pt x="588" y="73"/>
                </a:lnTo>
                <a:lnTo>
                  <a:pt x="588" y="86"/>
                </a:lnTo>
                <a:lnTo>
                  <a:pt x="588" y="99"/>
                </a:lnTo>
                <a:lnTo>
                  <a:pt x="588" y="104"/>
                </a:lnTo>
                <a:lnTo>
                  <a:pt x="588" y="109"/>
                </a:lnTo>
                <a:lnTo>
                  <a:pt x="588" y="114"/>
                </a:lnTo>
                <a:lnTo>
                  <a:pt x="588" y="121"/>
                </a:lnTo>
                <a:lnTo>
                  <a:pt x="588" y="126"/>
                </a:lnTo>
                <a:lnTo>
                  <a:pt x="586" y="131"/>
                </a:lnTo>
                <a:lnTo>
                  <a:pt x="586" y="136"/>
                </a:lnTo>
                <a:lnTo>
                  <a:pt x="585" y="141"/>
                </a:lnTo>
                <a:lnTo>
                  <a:pt x="591" y="139"/>
                </a:lnTo>
                <a:lnTo>
                  <a:pt x="591" y="134"/>
                </a:lnTo>
                <a:lnTo>
                  <a:pt x="591" y="129"/>
                </a:lnTo>
                <a:lnTo>
                  <a:pt x="593" y="124"/>
                </a:lnTo>
                <a:lnTo>
                  <a:pt x="593" y="119"/>
                </a:lnTo>
                <a:lnTo>
                  <a:pt x="593" y="114"/>
                </a:lnTo>
                <a:lnTo>
                  <a:pt x="593" y="109"/>
                </a:lnTo>
                <a:lnTo>
                  <a:pt x="593" y="104"/>
                </a:lnTo>
                <a:lnTo>
                  <a:pt x="593" y="99"/>
                </a:lnTo>
                <a:close/>
                <a:moveTo>
                  <a:pt x="3" y="51"/>
                </a:moveTo>
                <a:lnTo>
                  <a:pt x="2" y="58"/>
                </a:lnTo>
                <a:lnTo>
                  <a:pt x="2" y="63"/>
                </a:lnTo>
                <a:lnTo>
                  <a:pt x="0" y="69"/>
                </a:lnTo>
                <a:lnTo>
                  <a:pt x="0" y="76"/>
                </a:lnTo>
                <a:lnTo>
                  <a:pt x="0" y="81"/>
                </a:lnTo>
                <a:lnTo>
                  <a:pt x="0" y="88"/>
                </a:lnTo>
                <a:lnTo>
                  <a:pt x="0" y="93"/>
                </a:lnTo>
                <a:lnTo>
                  <a:pt x="0" y="99"/>
                </a:lnTo>
                <a:lnTo>
                  <a:pt x="0" y="112"/>
                </a:lnTo>
                <a:lnTo>
                  <a:pt x="0" y="126"/>
                </a:lnTo>
                <a:lnTo>
                  <a:pt x="2" y="137"/>
                </a:lnTo>
                <a:lnTo>
                  <a:pt x="3" y="151"/>
                </a:lnTo>
                <a:lnTo>
                  <a:pt x="7" y="162"/>
                </a:lnTo>
                <a:lnTo>
                  <a:pt x="8" y="175"/>
                </a:lnTo>
                <a:lnTo>
                  <a:pt x="12" y="187"/>
                </a:lnTo>
                <a:lnTo>
                  <a:pt x="17" y="199"/>
                </a:lnTo>
                <a:lnTo>
                  <a:pt x="22" y="199"/>
                </a:lnTo>
                <a:lnTo>
                  <a:pt x="18" y="187"/>
                </a:lnTo>
                <a:lnTo>
                  <a:pt x="13" y="175"/>
                </a:lnTo>
                <a:lnTo>
                  <a:pt x="12" y="162"/>
                </a:lnTo>
                <a:lnTo>
                  <a:pt x="8" y="151"/>
                </a:lnTo>
                <a:lnTo>
                  <a:pt x="7" y="137"/>
                </a:lnTo>
                <a:lnTo>
                  <a:pt x="5" y="126"/>
                </a:lnTo>
                <a:lnTo>
                  <a:pt x="5" y="112"/>
                </a:lnTo>
                <a:lnTo>
                  <a:pt x="3" y="99"/>
                </a:lnTo>
                <a:lnTo>
                  <a:pt x="3" y="93"/>
                </a:lnTo>
                <a:lnTo>
                  <a:pt x="5" y="86"/>
                </a:lnTo>
                <a:lnTo>
                  <a:pt x="5" y="81"/>
                </a:lnTo>
                <a:lnTo>
                  <a:pt x="5" y="74"/>
                </a:lnTo>
                <a:lnTo>
                  <a:pt x="5" y="68"/>
                </a:lnTo>
                <a:lnTo>
                  <a:pt x="7" y="61"/>
                </a:lnTo>
                <a:lnTo>
                  <a:pt x="7" y="56"/>
                </a:lnTo>
                <a:lnTo>
                  <a:pt x="8" y="50"/>
                </a:lnTo>
                <a:lnTo>
                  <a:pt x="3" y="51"/>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95" name="Freeform 1100">
            <a:extLst>
              <a:ext uri="{FF2B5EF4-FFF2-40B4-BE49-F238E27FC236}">
                <a16:creationId xmlns:a16="http://schemas.microsoft.com/office/drawing/2014/main" id="{F4EE805A-725F-4C47-2A55-4102EEC510CB}"/>
              </a:ext>
            </a:extLst>
          </p:cNvPr>
          <p:cNvSpPr>
            <a:spLocks noEditPoints="1"/>
          </p:cNvSpPr>
          <p:nvPr/>
        </p:nvSpPr>
        <p:spPr bwMode="auto">
          <a:xfrm>
            <a:off x="2447925" y="2403475"/>
            <a:ext cx="935038" cy="315913"/>
          </a:xfrm>
          <a:custGeom>
            <a:avLst/>
            <a:gdLst>
              <a:gd name="T0" fmla="*/ 589 w 589"/>
              <a:gd name="T1" fmla="*/ 86 h 199"/>
              <a:gd name="T2" fmla="*/ 586 w 589"/>
              <a:gd name="T3" fmla="*/ 61 h 199"/>
              <a:gd name="T4" fmla="*/ 583 w 589"/>
              <a:gd name="T5" fmla="*/ 36 h 199"/>
              <a:gd name="T6" fmla="*/ 576 w 589"/>
              <a:gd name="T7" fmla="*/ 11 h 199"/>
              <a:gd name="T8" fmla="*/ 566 w 589"/>
              <a:gd name="T9" fmla="*/ 0 h 199"/>
              <a:gd name="T10" fmla="*/ 574 w 589"/>
              <a:gd name="T11" fmla="*/ 23 h 199"/>
              <a:gd name="T12" fmla="*/ 579 w 589"/>
              <a:gd name="T13" fmla="*/ 48 h 199"/>
              <a:gd name="T14" fmla="*/ 583 w 589"/>
              <a:gd name="T15" fmla="*/ 73 h 199"/>
              <a:gd name="T16" fmla="*/ 584 w 589"/>
              <a:gd name="T17" fmla="*/ 99 h 199"/>
              <a:gd name="T18" fmla="*/ 584 w 589"/>
              <a:gd name="T19" fmla="*/ 109 h 199"/>
              <a:gd name="T20" fmla="*/ 583 w 589"/>
              <a:gd name="T21" fmla="*/ 121 h 199"/>
              <a:gd name="T22" fmla="*/ 583 w 589"/>
              <a:gd name="T23" fmla="*/ 131 h 199"/>
              <a:gd name="T24" fmla="*/ 581 w 589"/>
              <a:gd name="T25" fmla="*/ 142 h 199"/>
              <a:gd name="T26" fmla="*/ 586 w 589"/>
              <a:gd name="T27" fmla="*/ 134 h 199"/>
              <a:gd name="T28" fmla="*/ 588 w 589"/>
              <a:gd name="T29" fmla="*/ 124 h 199"/>
              <a:gd name="T30" fmla="*/ 588 w 589"/>
              <a:gd name="T31" fmla="*/ 114 h 199"/>
              <a:gd name="T32" fmla="*/ 589 w 589"/>
              <a:gd name="T33" fmla="*/ 104 h 199"/>
              <a:gd name="T34" fmla="*/ 3 w 589"/>
              <a:gd name="T35" fmla="*/ 51 h 199"/>
              <a:gd name="T36" fmla="*/ 1 w 589"/>
              <a:gd name="T37" fmla="*/ 63 h 199"/>
              <a:gd name="T38" fmla="*/ 1 w 589"/>
              <a:gd name="T39" fmla="*/ 74 h 199"/>
              <a:gd name="T40" fmla="*/ 0 w 589"/>
              <a:gd name="T41" fmla="*/ 86 h 199"/>
              <a:gd name="T42" fmla="*/ 0 w 589"/>
              <a:gd name="T43" fmla="*/ 99 h 199"/>
              <a:gd name="T44" fmla="*/ 1 w 589"/>
              <a:gd name="T45" fmla="*/ 126 h 199"/>
              <a:gd name="T46" fmla="*/ 5 w 589"/>
              <a:gd name="T47" fmla="*/ 151 h 199"/>
              <a:gd name="T48" fmla="*/ 10 w 589"/>
              <a:gd name="T49" fmla="*/ 175 h 199"/>
              <a:gd name="T50" fmla="*/ 16 w 589"/>
              <a:gd name="T51" fmla="*/ 199 h 199"/>
              <a:gd name="T52" fmla="*/ 18 w 589"/>
              <a:gd name="T53" fmla="*/ 187 h 199"/>
              <a:gd name="T54" fmla="*/ 11 w 589"/>
              <a:gd name="T55" fmla="*/ 162 h 199"/>
              <a:gd name="T56" fmla="*/ 6 w 589"/>
              <a:gd name="T57" fmla="*/ 137 h 199"/>
              <a:gd name="T58" fmla="*/ 5 w 589"/>
              <a:gd name="T59" fmla="*/ 112 h 199"/>
              <a:gd name="T60" fmla="*/ 5 w 589"/>
              <a:gd name="T61" fmla="*/ 93 h 199"/>
              <a:gd name="T62" fmla="*/ 5 w 589"/>
              <a:gd name="T63" fmla="*/ 79 h 199"/>
              <a:gd name="T64" fmla="*/ 6 w 589"/>
              <a:gd name="T65" fmla="*/ 68 h 199"/>
              <a:gd name="T66" fmla="*/ 8 w 589"/>
              <a:gd name="T67" fmla="*/ 54 h 199"/>
              <a:gd name="T68" fmla="*/ 3 w 589"/>
              <a:gd name="T69" fmla="*/ 5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9" h="199">
                <a:moveTo>
                  <a:pt x="589" y="99"/>
                </a:moveTo>
                <a:lnTo>
                  <a:pt x="589" y="86"/>
                </a:lnTo>
                <a:lnTo>
                  <a:pt x="588" y="73"/>
                </a:lnTo>
                <a:lnTo>
                  <a:pt x="586" y="61"/>
                </a:lnTo>
                <a:lnTo>
                  <a:pt x="584" y="48"/>
                </a:lnTo>
                <a:lnTo>
                  <a:pt x="583" y="36"/>
                </a:lnTo>
                <a:lnTo>
                  <a:pt x="579" y="23"/>
                </a:lnTo>
                <a:lnTo>
                  <a:pt x="576" y="11"/>
                </a:lnTo>
                <a:lnTo>
                  <a:pt x="571" y="0"/>
                </a:lnTo>
                <a:lnTo>
                  <a:pt x="566" y="0"/>
                </a:lnTo>
                <a:lnTo>
                  <a:pt x="571" y="11"/>
                </a:lnTo>
                <a:lnTo>
                  <a:pt x="574" y="23"/>
                </a:lnTo>
                <a:lnTo>
                  <a:pt x="578" y="36"/>
                </a:lnTo>
                <a:lnTo>
                  <a:pt x="579" y="48"/>
                </a:lnTo>
                <a:lnTo>
                  <a:pt x="581" y="61"/>
                </a:lnTo>
                <a:lnTo>
                  <a:pt x="583" y="73"/>
                </a:lnTo>
                <a:lnTo>
                  <a:pt x="584" y="86"/>
                </a:lnTo>
                <a:lnTo>
                  <a:pt x="584" y="99"/>
                </a:lnTo>
                <a:lnTo>
                  <a:pt x="584" y="104"/>
                </a:lnTo>
                <a:lnTo>
                  <a:pt x="584" y="109"/>
                </a:lnTo>
                <a:lnTo>
                  <a:pt x="584" y="116"/>
                </a:lnTo>
                <a:lnTo>
                  <a:pt x="583" y="121"/>
                </a:lnTo>
                <a:lnTo>
                  <a:pt x="583" y="126"/>
                </a:lnTo>
                <a:lnTo>
                  <a:pt x="583" y="131"/>
                </a:lnTo>
                <a:lnTo>
                  <a:pt x="581" y="136"/>
                </a:lnTo>
                <a:lnTo>
                  <a:pt x="581" y="142"/>
                </a:lnTo>
                <a:lnTo>
                  <a:pt x="586" y="139"/>
                </a:lnTo>
                <a:lnTo>
                  <a:pt x="586" y="134"/>
                </a:lnTo>
                <a:lnTo>
                  <a:pt x="588" y="129"/>
                </a:lnTo>
                <a:lnTo>
                  <a:pt x="588" y="124"/>
                </a:lnTo>
                <a:lnTo>
                  <a:pt x="588" y="119"/>
                </a:lnTo>
                <a:lnTo>
                  <a:pt x="588" y="114"/>
                </a:lnTo>
                <a:lnTo>
                  <a:pt x="589" y="109"/>
                </a:lnTo>
                <a:lnTo>
                  <a:pt x="589" y="104"/>
                </a:lnTo>
                <a:lnTo>
                  <a:pt x="589" y="99"/>
                </a:lnTo>
                <a:close/>
                <a:moveTo>
                  <a:pt x="3" y="51"/>
                </a:moveTo>
                <a:lnTo>
                  <a:pt x="3" y="56"/>
                </a:lnTo>
                <a:lnTo>
                  <a:pt x="1" y="63"/>
                </a:lnTo>
                <a:lnTo>
                  <a:pt x="1" y="69"/>
                </a:lnTo>
                <a:lnTo>
                  <a:pt x="1" y="74"/>
                </a:lnTo>
                <a:lnTo>
                  <a:pt x="0" y="81"/>
                </a:lnTo>
                <a:lnTo>
                  <a:pt x="0" y="86"/>
                </a:lnTo>
                <a:lnTo>
                  <a:pt x="0" y="93"/>
                </a:lnTo>
                <a:lnTo>
                  <a:pt x="0" y="99"/>
                </a:lnTo>
                <a:lnTo>
                  <a:pt x="0" y="112"/>
                </a:lnTo>
                <a:lnTo>
                  <a:pt x="1" y="126"/>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6" y="137"/>
                </a:lnTo>
                <a:lnTo>
                  <a:pt x="6" y="126"/>
                </a:lnTo>
                <a:lnTo>
                  <a:pt x="5" y="112"/>
                </a:lnTo>
                <a:lnTo>
                  <a:pt x="5" y="99"/>
                </a:lnTo>
                <a:lnTo>
                  <a:pt x="5" y="93"/>
                </a:lnTo>
                <a:lnTo>
                  <a:pt x="5" y="86"/>
                </a:lnTo>
                <a:lnTo>
                  <a:pt x="5" y="79"/>
                </a:lnTo>
                <a:lnTo>
                  <a:pt x="6" y="73"/>
                </a:lnTo>
                <a:lnTo>
                  <a:pt x="6" y="68"/>
                </a:lnTo>
                <a:lnTo>
                  <a:pt x="6" y="61"/>
                </a:lnTo>
                <a:lnTo>
                  <a:pt x="8" y="54"/>
                </a:lnTo>
                <a:lnTo>
                  <a:pt x="10" y="48"/>
                </a:lnTo>
                <a:lnTo>
                  <a:pt x="3" y="51"/>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96" name="Freeform 1101">
            <a:extLst>
              <a:ext uri="{FF2B5EF4-FFF2-40B4-BE49-F238E27FC236}">
                <a16:creationId xmlns:a16="http://schemas.microsoft.com/office/drawing/2014/main" id="{D7C5BA2C-50D4-2AD7-699E-177E87E704D9}"/>
              </a:ext>
            </a:extLst>
          </p:cNvPr>
          <p:cNvSpPr>
            <a:spLocks noEditPoints="1"/>
          </p:cNvSpPr>
          <p:nvPr/>
        </p:nvSpPr>
        <p:spPr bwMode="auto">
          <a:xfrm>
            <a:off x="2449513" y="2403475"/>
            <a:ext cx="928688" cy="315913"/>
          </a:xfrm>
          <a:custGeom>
            <a:avLst/>
            <a:gdLst>
              <a:gd name="T0" fmla="*/ 585 w 585"/>
              <a:gd name="T1" fmla="*/ 86 h 199"/>
              <a:gd name="T2" fmla="*/ 583 w 585"/>
              <a:gd name="T3" fmla="*/ 61 h 199"/>
              <a:gd name="T4" fmla="*/ 578 w 585"/>
              <a:gd name="T5" fmla="*/ 36 h 199"/>
              <a:gd name="T6" fmla="*/ 572 w 585"/>
              <a:gd name="T7" fmla="*/ 11 h 199"/>
              <a:gd name="T8" fmla="*/ 563 w 585"/>
              <a:gd name="T9" fmla="*/ 0 h 199"/>
              <a:gd name="T10" fmla="*/ 570 w 585"/>
              <a:gd name="T11" fmla="*/ 23 h 199"/>
              <a:gd name="T12" fmla="*/ 577 w 585"/>
              <a:gd name="T13" fmla="*/ 48 h 199"/>
              <a:gd name="T14" fmla="*/ 580 w 585"/>
              <a:gd name="T15" fmla="*/ 73 h 199"/>
              <a:gd name="T16" fmla="*/ 580 w 585"/>
              <a:gd name="T17" fmla="*/ 99 h 199"/>
              <a:gd name="T18" fmla="*/ 580 w 585"/>
              <a:gd name="T19" fmla="*/ 111 h 199"/>
              <a:gd name="T20" fmla="*/ 580 w 585"/>
              <a:gd name="T21" fmla="*/ 121 h 199"/>
              <a:gd name="T22" fmla="*/ 578 w 585"/>
              <a:gd name="T23" fmla="*/ 132 h 199"/>
              <a:gd name="T24" fmla="*/ 577 w 585"/>
              <a:gd name="T25" fmla="*/ 142 h 199"/>
              <a:gd name="T26" fmla="*/ 583 w 585"/>
              <a:gd name="T27" fmla="*/ 136 h 199"/>
              <a:gd name="T28" fmla="*/ 585 w 585"/>
              <a:gd name="T29" fmla="*/ 126 h 199"/>
              <a:gd name="T30" fmla="*/ 585 w 585"/>
              <a:gd name="T31" fmla="*/ 114 h 199"/>
              <a:gd name="T32" fmla="*/ 585 w 585"/>
              <a:gd name="T33" fmla="*/ 104 h 199"/>
              <a:gd name="T34" fmla="*/ 5 w 585"/>
              <a:gd name="T35" fmla="*/ 50 h 199"/>
              <a:gd name="T36" fmla="*/ 4 w 585"/>
              <a:gd name="T37" fmla="*/ 61 h 199"/>
              <a:gd name="T38" fmla="*/ 2 w 585"/>
              <a:gd name="T39" fmla="*/ 74 h 199"/>
              <a:gd name="T40" fmla="*/ 2 w 585"/>
              <a:gd name="T41" fmla="*/ 86 h 199"/>
              <a:gd name="T42" fmla="*/ 0 w 585"/>
              <a:gd name="T43" fmla="*/ 99 h 199"/>
              <a:gd name="T44" fmla="*/ 2 w 585"/>
              <a:gd name="T45" fmla="*/ 126 h 199"/>
              <a:gd name="T46" fmla="*/ 5 w 585"/>
              <a:gd name="T47" fmla="*/ 151 h 199"/>
              <a:gd name="T48" fmla="*/ 10 w 585"/>
              <a:gd name="T49" fmla="*/ 175 h 199"/>
              <a:gd name="T50" fmla="*/ 19 w 585"/>
              <a:gd name="T51" fmla="*/ 199 h 199"/>
              <a:gd name="T52" fmla="*/ 20 w 585"/>
              <a:gd name="T53" fmla="*/ 187 h 199"/>
              <a:gd name="T54" fmla="*/ 14 w 585"/>
              <a:gd name="T55" fmla="*/ 162 h 199"/>
              <a:gd name="T56" fmla="*/ 9 w 585"/>
              <a:gd name="T57" fmla="*/ 137 h 199"/>
              <a:gd name="T58" fmla="*/ 7 w 585"/>
              <a:gd name="T59" fmla="*/ 112 h 199"/>
              <a:gd name="T60" fmla="*/ 5 w 585"/>
              <a:gd name="T61" fmla="*/ 93 h 199"/>
              <a:gd name="T62" fmla="*/ 7 w 585"/>
              <a:gd name="T63" fmla="*/ 79 h 199"/>
              <a:gd name="T64" fmla="*/ 7 w 585"/>
              <a:gd name="T65" fmla="*/ 66 h 199"/>
              <a:gd name="T66" fmla="*/ 10 w 585"/>
              <a:gd name="T67" fmla="*/ 53 h 199"/>
              <a:gd name="T68" fmla="*/ 5 w 585"/>
              <a:gd name="T69" fmla="*/ 5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5" h="199">
                <a:moveTo>
                  <a:pt x="585" y="99"/>
                </a:moveTo>
                <a:lnTo>
                  <a:pt x="585" y="86"/>
                </a:lnTo>
                <a:lnTo>
                  <a:pt x="585" y="73"/>
                </a:lnTo>
                <a:lnTo>
                  <a:pt x="583" y="61"/>
                </a:lnTo>
                <a:lnTo>
                  <a:pt x="582" y="48"/>
                </a:lnTo>
                <a:lnTo>
                  <a:pt x="578" y="36"/>
                </a:lnTo>
                <a:lnTo>
                  <a:pt x="575" y="23"/>
                </a:lnTo>
                <a:lnTo>
                  <a:pt x="572" y="11"/>
                </a:lnTo>
                <a:lnTo>
                  <a:pt x="568" y="0"/>
                </a:lnTo>
                <a:lnTo>
                  <a:pt x="563" y="0"/>
                </a:lnTo>
                <a:lnTo>
                  <a:pt x="567" y="11"/>
                </a:lnTo>
                <a:lnTo>
                  <a:pt x="570" y="23"/>
                </a:lnTo>
                <a:lnTo>
                  <a:pt x="573" y="36"/>
                </a:lnTo>
                <a:lnTo>
                  <a:pt x="577" y="48"/>
                </a:lnTo>
                <a:lnTo>
                  <a:pt x="578" y="61"/>
                </a:lnTo>
                <a:lnTo>
                  <a:pt x="580" y="73"/>
                </a:lnTo>
                <a:lnTo>
                  <a:pt x="580" y="86"/>
                </a:lnTo>
                <a:lnTo>
                  <a:pt x="580" y="99"/>
                </a:lnTo>
                <a:lnTo>
                  <a:pt x="580" y="104"/>
                </a:lnTo>
                <a:lnTo>
                  <a:pt x="580" y="111"/>
                </a:lnTo>
                <a:lnTo>
                  <a:pt x="580" y="116"/>
                </a:lnTo>
                <a:lnTo>
                  <a:pt x="580" y="121"/>
                </a:lnTo>
                <a:lnTo>
                  <a:pt x="580" y="127"/>
                </a:lnTo>
                <a:lnTo>
                  <a:pt x="578" y="132"/>
                </a:lnTo>
                <a:lnTo>
                  <a:pt x="578" y="137"/>
                </a:lnTo>
                <a:lnTo>
                  <a:pt x="577" y="142"/>
                </a:lnTo>
                <a:lnTo>
                  <a:pt x="582" y="141"/>
                </a:lnTo>
                <a:lnTo>
                  <a:pt x="583" y="136"/>
                </a:lnTo>
                <a:lnTo>
                  <a:pt x="583" y="131"/>
                </a:lnTo>
                <a:lnTo>
                  <a:pt x="585" y="126"/>
                </a:lnTo>
                <a:lnTo>
                  <a:pt x="585" y="121"/>
                </a:lnTo>
                <a:lnTo>
                  <a:pt x="585" y="114"/>
                </a:lnTo>
                <a:lnTo>
                  <a:pt x="585" y="109"/>
                </a:lnTo>
                <a:lnTo>
                  <a:pt x="585" y="104"/>
                </a:lnTo>
                <a:lnTo>
                  <a:pt x="585" y="99"/>
                </a:lnTo>
                <a:close/>
                <a:moveTo>
                  <a:pt x="5" y="50"/>
                </a:moveTo>
                <a:lnTo>
                  <a:pt x="4" y="56"/>
                </a:lnTo>
                <a:lnTo>
                  <a:pt x="4" y="61"/>
                </a:lnTo>
                <a:lnTo>
                  <a:pt x="2" y="68"/>
                </a:lnTo>
                <a:lnTo>
                  <a:pt x="2" y="74"/>
                </a:lnTo>
                <a:lnTo>
                  <a:pt x="2" y="81"/>
                </a:lnTo>
                <a:lnTo>
                  <a:pt x="2" y="86"/>
                </a:lnTo>
                <a:lnTo>
                  <a:pt x="0" y="93"/>
                </a:lnTo>
                <a:lnTo>
                  <a:pt x="0" y="99"/>
                </a:lnTo>
                <a:lnTo>
                  <a:pt x="2" y="112"/>
                </a:lnTo>
                <a:lnTo>
                  <a:pt x="2" y="126"/>
                </a:lnTo>
                <a:lnTo>
                  <a:pt x="4" y="137"/>
                </a:lnTo>
                <a:lnTo>
                  <a:pt x="5" y="151"/>
                </a:lnTo>
                <a:lnTo>
                  <a:pt x="9" y="162"/>
                </a:lnTo>
                <a:lnTo>
                  <a:pt x="10" y="175"/>
                </a:lnTo>
                <a:lnTo>
                  <a:pt x="15" y="187"/>
                </a:lnTo>
                <a:lnTo>
                  <a:pt x="19" y="199"/>
                </a:lnTo>
                <a:lnTo>
                  <a:pt x="23" y="199"/>
                </a:lnTo>
                <a:lnTo>
                  <a:pt x="20" y="187"/>
                </a:lnTo>
                <a:lnTo>
                  <a:pt x="15" y="175"/>
                </a:lnTo>
                <a:lnTo>
                  <a:pt x="14" y="162"/>
                </a:lnTo>
                <a:lnTo>
                  <a:pt x="10" y="151"/>
                </a:lnTo>
                <a:lnTo>
                  <a:pt x="9" y="137"/>
                </a:lnTo>
                <a:lnTo>
                  <a:pt x="7" y="126"/>
                </a:lnTo>
                <a:lnTo>
                  <a:pt x="7" y="112"/>
                </a:lnTo>
                <a:lnTo>
                  <a:pt x="5" y="99"/>
                </a:lnTo>
                <a:lnTo>
                  <a:pt x="5" y="93"/>
                </a:lnTo>
                <a:lnTo>
                  <a:pt x="7" y="86"/>
                </a:lnTo>
                <a:lnTo>
                  <a:pt x="7" y="79"/>
                </a:lnTo>
                <a:lnTo>
                  <a:pt x="7" y="73"/>
                </a:lnTo>
                <a:lnTo>
                  <a:pt x="7" y="66"/>
                </a:lnTo>
                <a:lnTo>
                  <a:pt x="9" y="59"/>
                </a:lnTo>
                <a:lnTo>
                  <a:pt x="10" y="53"/>
                </a:lnTo>
                <a:lnTo>
                  <a:pt x="10" y="46"/>
                </a:lnTo>
                <a:lnTo>
                  <a:pt x="5" y="5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97" name="Freeform 1102">
            <a:extLst>
              <a:ext uri="{FF2B5EF4-FFF2-40B4-BE49-F238E27FC236}">
                <a16:creationId xmlns:a16="http://schemas.microsoft.com/office/drawing/2014/main" id="{BC110E1A-C52D-6324-2A33-086C79F867E0}"/>
              </a:ext>
            </a:extLst>
          </p:cNvPr>
          <p:cNvSpPr>
            <a:spLocks noEditPoints="1"/>
          </p:cNvSpPr>
          <p:nvPr/>
        </p:nvSpPr>
        <p:spPr bwMode="auto">
          <a:xfrm>
            <a:off x="2455863" y="2403475"/>
            <a:ext cx="919163" cy="315913"/>
          </a:xfrm>
          <a:custGeom>
            <a:avLst/>
            <a:gdLst>
              <a:gd name="T0" fmla="*/ 579 w 579"/>
              <a:gd name="T1" fmla="*/ 86 h 199"/>
              <a:gd name="T2" fmla="*/ 576 w 579"/>
              <a:gd name="T3" fmla="*/ 61 h 199"/>
              <a:gd name="T4" fmla="*/ 573 w 579"/>
              <a:gd name="T5" fmla="*/ 36 h 199"/>
              <a:gd name="T6" fmla="*/ 566 w 579"/>
              <a:gd name="T7" fmla="*/ 11 h 199"/>
              <a:gd name="T8" fmla="*/ 556 w 579"/>
              <a:gd name="T9" fmla="*/ 0 h 199"/>
              <a:gd name="T10" fmla="*/ 564 w 579"/>
              <a:gd name="T11" fmla="*/ 23 h 199"/>
              <a:gd name="T12" fmla="*/ 569 w 579"/>
              <a:gd name="T13" fmla="*/ 48 h 199"/>
              <a:gd name="T14" fmla="*/ 573 w 579"/>
              <a:gd name="T15" fmla="*/ 73 h 199"/>
              <a:gd name="T16" fmla="*/ 574 w 579"/>
              <a:gd name="T17" fmla="*/ 99 h 199"/>
              <a:gd name="T18" fmla="*/ 574 w 579"/>
              <a:gd name="T19" fmla="*/ 111 h 199"/>
              <a:gd name="T20" fmla="*/ 573 w 579"/>
              <a:gd name="T21" fmla="*/ 122 h 199"/>
              <a:gd name="T22" fmla="*/ 573 w 579"/>
              <a:gd name="T23" fmla="*/ 132 h 199"/>
              <a:gd name="T24" fmla="*/ 571 w 579"/>
              <a:gd name="T25" fmla="*/ 144 h 199"/>
              <a:gd name="T26" fmla="*/ 576 w 579"/>
              <a:gd name="T27" fmla="*/ 136 h 199"/>
              <a:gd name="T28" fmla="*/ 578 w 579"/>
              <a:gd name="T29" fmla="*/ 126 h 199"/>
              <a:gd name="T30" fmla="*/ 579 w 579"/>
              <a:gd name="T31" fmla="*/ 116 h 199"/>
              <a:gd name="T32" fmla="*/ 579 w 579"/>
              <a:gd name="T33" fmla="*/ 104 h 199"/>
              <a:gd name="T34" fmla="*/ 5 w 579"/>
              <a:gd name="T35" fmla="*/ 48 h 199"/>
              <a:gd name="T36" fmla="*/ 1 w 579"/>
              <a:gd name="T37" fmla="*/ 61 h 199"/>
              <a:gd name="T38" fmla="*/ 1 w 579"/>
              <a:gd name="T39" fmla="*/ 73 h 199"/>
              <a:gd name="T40" fmla="*/ 0 w 579"/>
              <a:gd name="T41" fmla="*/ 86 h 199"/>
              <a:gd name="T42" fmla="*/ 0 w 579"/>
              <a:gd name="T43" fmla="*/ 99 h 199"/>
              <a:gd name="T44" fmla="*/ 1 w 579"/>
              <a:gd name="T45" fmla="*/ 126 h 199"/>
              <a:gd name="T46" fmla="*/ 5 w 579"/>
              <a:gd name="T47" fmla="*/ 151 h 199"/>
              <a:gd name="T48" fmla="*/ 10 w 579"/>
              <a:gd name="T49" fmla="*/ 175 h 199"/>
              <a:gd name="T50" fmla="*/ 16 w 579"/>
              <a:gd name="T51" fmla="*/ 199 h 199"/>
              <a:gd name="T52" fmla="*/ 18 w 579"/>
              <a:gd name="T53" fmla="*/ 187 h 199"/>
              <a:gd name="T54" fmla="*/ 11 w 579"/>
              <a:gd name="T55" fmla="*/ 162 h 199"/>
              <a:gd name="T56" fmla="*/ 6 w 579"/>
              <a:gd name="T57" fmla="*/ 137 h 199"/>
              <a:gd name="T58" fmla="*/ 5 w 579"/>
              <a:gd name="T59" fmla="*/ 112 h 199"/>
              <a:gd name="T60" fmla="*/ 5 w 579"/>
              <a:gd name="T61" fmla="*/ 93 h 199"/>
              <a:gd name="T62" fmla="*/ 5 w 579"/>
              <a:gd name="T63" fmla="*/ 79 h 199"/>
              <a:gd name="T64" fmla="*/ 6 w 579"/>
              <a:gd name="T65" fmla="*/ 66 h 199"/>
              <a:gd name="T66" fmla="*/ 8 w 579"/>
              <a:gd name="T67" fmla="*/ 53 h 199"/>
              <a:gd name="T68" fmla="*/ 5 w 579"/>
              <a:gd name="T69" fmla="*/ 4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9" h="199">
                <a:moveTo>
                  <a:pt x="579" y="99"/>
                </a:moveTo>
                <a:lnTo>
                  <a:pt x="579" y="86"/>
                </a:lnTo>
                <a:lnTo>
                  <a:pt x="578" y="73"/>
                </a:lnTo>
                <a:lnTo>
                  <a:pt x="576" y="61"/>
                </a:lnTo>
                <a:lnTo>
                  <a:pt x="574" y="48"/>
                </a:lnTo>
                <a:lnTo>
                  <a:pt x="573" y="36"/>
                </a:lnTo>
                <a:lnTo>
                  <a:pt x="569" y="23"/>
                </a:lnTo>
                <a:lnTo>
                  <a:pt x="566" y="11"/>
                </a:lnTo>
                <a:lnTo>
                  <a:pt x="561" y="0"/>
                </a:lnTo>
                <a:lnTo>
                  <a:pt x="556" y="0"/>
                </a:lnTo>
                <a:lnTo>
                  <a:pt x="561" y="11"/>
                </a:lnTo>
                <a:lnTo>
                  <a:pt x="564" y="23"/>
                </a:lnTo>
                <a:lnTo>
                  <a:pt x="568" y="36"/>
                </a:lnTo>
                <a:lnTo>
                  <a:pt x="569" y="48"/>
                </a:lnTo>
                <a:lnTo>
                  <a:pt x="571" y="61"/>
                </a:lnTo>
                <a:lnTo>
                  <a:pt x="573" y="73"/>
                </a:lnTo>
                <a:lnTo>
                  <a:pt x="574" y="86"/>
                </a:lnTo>
                <a:lnTo>
                  <a:pt x="574" y="99"/>
                </a:lnTo>
                <a:lnTo>
                  <a:pt x="574" y="104"/>
                </a:lnTo>
                <a:lnTo>
                  <a:pt x="574" y="111"/>
                </a:lnTo>
                <a:lnTo>
                  <a:pt x="574" y="116"/>
                </a:lnTo>
                <a:lnTo>
                  <a:pt x="573" y="122"/>
                </a:lnTo>
                <a:lnTo>
                  <a:pt x="573" y="127"/>
                </a:lnTo>
                <a:lnTo>
                  <a:pt x="573" y="132"/>
                </a:lnTo>
                <a:lnTo>
                  <a:pt x="571" y="139"/>
                </a:lnTo>
                <a:lnTo>
                  <a:pt x="571" y="144"/>
                </a:lnTo>
                <a:lnTo>
                  <a:pt x="576" y="142"/>
                </a:lnTo>
                <a:lnTo>
                  <a:pt x="576" y="136"/>
                </a:lnTo>
                <a:lnTo>
                  <a:pt x="578" y="131"/>
                </a:lnTo>
                <a:lnTo>
                  <a:pt x="578" y="126"/>
                </a:lnTo>
                <a:lnTo>
                  <a:pt x="578" y="121"/>
                </a:lnTo>
                <a:lnTo>
                  <a:pt x="579" y="116"/>
                </a:lnTo>
                <a:lnTo>
                  <a:pt x="579" y="109"/>
                </a:lnTo>
                <a:lnTo>
                  <a:pt x="579" y="104"/>
                </a:lnTo>
                <a:lnTo>
                  <a:pt x="579" y="99"/>
                </a:lnTo>
                <a:close/>
                <a:moveTo>
                  <a:pt x="5" y="48"/>
                </a:moveTo>
                <a:lnTo>
                  <a:pt x="3" y="54"/>
                </a:lnTo>
                <a:lnTo>
                  <a:pt x="1" y="61"/>
                </a:lnTo>
                <a:lnTo>
                  <a:pt x="1" y="68"/>
                </a:lnTo>
                <a:lnTo>
                  <a:pt x="1" y="73"/>
                </a:lnTo>
                <a:lnTo>
                  <a:pt x="0" y="79"/>
                </a:lnTo>
                <a:lnTo>
                  <a:pt x="0" y="86"/>
                </a:lnTo>
                <a:lnTo>
                  <a:pt x="0" y="93"/>
                </a:lnTo>
                <a:lnTo>
                  <a:pt x="0" y="99"/>
                </a:lnTo>
                <a:lnTo>
                  <a:pt x="0" y="112"/>
                </a:lnTo>
                <a:lnTo>
                  <a:pt x="1" y="126"/>
                </a:lnTo>
                <a:lnTo>
                  <a:pt x="1" y="137"/>
                </a:lnTo>
                <a:lnTo>
                  <a:pt x="5" y="151"/>
                </a:lnTo>
                <a:lnTo>
                  <a:pt x="6" y="162"/>
                </a:lnTo>
                <a:lnTo>
                  <a:pt x="10" y="175"/>
                </a:lnTo>
                <a:lnTo>
                  <a:pt x="13" y="187"/>
                </a:lnTo>
                <a:lnTo>
                  <a:pt x="16" y="199"/>
                </a:lnTo>
                <a:lnTo>
                  <a:pt x="23" y="199"/>
                </a:lnTo>
                <a:lnTo>
                  <a:pt x="18" y="187"/>
                </a:lnTo>
                <a:lnTo>
                  <a:pt x="15" y="175"/>
                </a:lnTo>
                <a:lnTo>
                  <a:pt x="11" y="162"/>
                </a:lnTo>
                <a:lnTo>
                  <a:pt x="10" y="151"/>
                </a:lnTo>
                <a:lnTo>
                  <a:pt x="6" y="137"/>
                </a:lnTo>
                <a:lnTo>
                  <a:pt x="5" y="126"/>
                </a:lnTo>
                <a:lnTo>
                  <a:pt x="5" y="112"/>
                </a:lnTo>
                <a:lnTo>
                  <a:pt x="5" y="99"/>
                </a:lnTo>
                <a:lnTo>
                  <a:pt x="5" y="93"/>
                </a:lnTo>
                <a:lnTo>
                  <a:pt x="5" y="86"/>
                </a:lnTo>
                <a:lnTo>
                  <a:pt x="5" y="79"/>
                </a:lnTo>
                <a:lnTo>
                  <a:pt x="6" y="73"/>
                </a:lnTo>
                <a:lnTo>
                  <a:pt x="6" y="66"/>
                </a:lnTo>
                <a:lnTo>
                  <a:pt x="6" y="59"/>
                </a:lnTo>
                <a:lnTo>
                  <a:pt x="8" y="53"/>
                </a:lnTo>
                <a:lnTo>
                  <a:pt x="10" y="46"/>
                </a:lnTo>
                <a:lnTo>
                  <a:pt x="5" y="48"/>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98" name="Freeform 1103">
            <a:extLst>
              <a:ext uri="{FF2B5EF4-FFF2-40B4-BE49-F238E27FC236}">
                <a16:creationId xmlns:a16="http://schemas.microsoft.com/office/drawing/2014/main" id="{E5D3C233-EA3E-AFCD-7E8A-CFBE82F3E552}"/>
              </a:ext>
            </a:extLst>
          </p:cNvPr>
          <p:cNvSpPr>
            <a:spLocks noEditPoints="1"/>
          </p:cNvSpPr>
          <p:nvPr/>
        </p:nvSpPr>
        <p:spPr bwMode="auto">
          <a:xfrm>
            <a:off x="2457450" y="2403475"/>
            <a:ext cx="912813" cy="315913"/>
          </a:xfrm>
          <a:custGeom>
            <a:avLst/>
            <a:gdLst>
              <a:gd name="T0" fmla="*/ 575 w 575"/>
              <a:gd name="T1" fmla="*/ 86 h 199"/>
              <a:gd name="T2" fmla="*/ 573 w 575"/>
              <a:gd name="T3" fmla="*/ 61 h 199"/>
              <a:gd name="T4" fmla="*/ 568 w 575"/>
              <a:gd name="T5" fmla="*/ 36 h 199"/>
              <a:gd name="T6" fmla="*/ 562 w 575"/>
              <a:gd name="T7" fmla="*/ 11 h 199"/>
              <a:gd name="T8" fmla="*/ 553 w 575"/>
              <a:gd name="T9" fmla="*/ 0 h 199"/>
              <a:gd name="T10" fmla="*/ 560 w 575"/>
              <a:gd name="T11" fmla="*/ 23 h 199"/>
              <a:gd name="T12" fmla="*/ 567 w 575"/>
              <a:gd name="T13" fmla="*/ 48 h 199"/>
              <a:gd name="T14" fmla="*/ 570 w 575"/>
              <a:gd name="T15" fmla="*/ 73 h 199"/>
              <a:gd name="T16" fmla="*/ 570 w 575"/>
              <a:gd name="T17" fmla="*/ 99 h 199"/>
              <a:gd name="T18" fmla="*/ 570 w 575"/>
              <a:gd name="T19" fmla="*/ 111 h 199"/>
              <a:gd name="T20" fmla="*/ 570 w 575"/>
              <a:gd name="T21" fmla="*/ 122 h 199"/>
              <a:gd name="T22" fmla="*/ 568 w 575"/>
              <a:gd name="T23" fmla="*/ 134 h 199"/>
              <a:gd name="T24" fmla="*/ 567 w 575"/>
              <a:gd name="T25" fmla="*/ 146 h 199"/>
              <a:gd name="T26" fmla="*/ 573 w 575"/>
              <a:gd name="T27" fmla="*/ 137 h 199"/>
              <a:gd name="T28" fmla="*/ 575 w 575"/>
              <a:gd name="T29" fmla="*/ 127 h 199"/>
              <a:gd name="T30" fmla="*/ 575 w 575"/>
              <a:gd name="T31" fmla="*/ 116 h 199"/>
              <a:gd name="T32" fmla="*/ 575 w 575"/>
              <a:gd name="T33" fmla="*/ 104 h 199"/>
              <a:gd name="T34" fmla="*/ 5 w 575"/>
              <a:gd name="T35" fmla="*/ 46 h 199"/>
              <a:gd name="T36" fmla="*/ 4 w 575"/>
              <a:gd name="T37" fmla="*/ 59 h 199"/>
              <a:gd name="T38" fmla="*/ 2 w 575"/>
              <a:gd name="T39" fmla="*/ 73 h 199"/>
              <a:gd name="T40" fmla="*/ 2 w 575"/>
              <a:gd name="T41" fmla="*/ 86 h 199"/>
              <a:gd name="T42" fmla="*/ 0 w 575"/>
              <a:gd name="T43" fmla="*/ 99 h 199"/>
              <a:gd name="T44" fmla="*/ 2 w 575"/>
              <a:gd name="T45" fmla="*/ 126 h 199"/>
              <a:gd name="T46" fmla="*/ 5 w 575"/>
              <a:gd name="T47" fmla="*/ 151 h 199"/>
              <a:gd name="T48" fmla="*/ 10 w 575"/>
              <a:gd name="T49" fmla="*/ 175 h 199"/>
              <a:gd name="T50" fmla="*/ 18 w 575"/>
              <a:gd name="T51" fmla="*/ 199 h 199"/>
              <a:gd name="T52" fmla="*/ 20 w 575"/>
              <a:gd name="T53" fmla="*/ 187 h 199"/>
              <a:gd name="T54" fmla="*/ 14 w 575"/>
              <a:gd name="T55" fmla="*/ 162 h 199"/>
              <a:gd name="T56" fmla="*/ 9 w 575"/>
              <a:gd name="T57" fmla="*/ 137 h 199"/>
              <a:gd name="T58" fmla="*/ 5 w 575"/>
              <a:gd name="T59" fmla="*/ 112 h 199"/>
              <a:gd name="T60" fmla="*/ 5 w 575"/>
              <a:gd name="T61" fmla="*/ 93 h 199"/>
              <a:gd name="T62" fmla="*/ 7 w 575"/>
              <a:gd name="T63" fmla="*/ 78 h 199"/>
              <a:gd name="T64" fmla="*/ 7 w 575"/>
              <a:gd name="T65" fmla="*/ 64 h 199"/>
              <a:gd name="T66" fmla="*/ 10 w 575"/>
              <a:gd name="T67" fmla="*/ 51 h 199"/>
              <a:gd name="T68" fmla="*/ 5 w 575"/>
              <a:gd name="T69" fmla="*/ 4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5" h="199">
                <a:moveTo>
                  <a:pt x="575" y="99"/>
                </a:moveTo>
                <a:lnTo>
                  <a:pt x="575" y="86"/>
                </a:lnTo>
                <a:lnTo>
                  <a:pt x="575" y="73"/>
                </a:lnTo>
                <a:lnTo>
                  <a:pt x="573" y="61"/>
                </a:lnTo>
                <a:lnTo>
                  <a:pt x="572" y="48"/>
                </a:lnTo>
                <a:lnTo>
                  <a:pt x="568" y="36"/>
                </a:lnTo>
                <a:lnTo>
                  <a:pt x="565" y="23"/>
                </a:lnTo>
                <a:lnTo>
                  <a:pt x="562" y="11"/>
                </a:lnTo>
                <a:lnTo>
                  <a:pt x="558" y="0"/>
                </a:lnTo>
                <a:lnTo>
                  <a:pt x="553" y="0"/>
                </a:lnTo>
                <a:lnTo>
                  <a:pt x="557" y="11"/>
                </a:lnTo>
                <a:lnTo>
                  <a:pt x="560" y="23"/>
                </a:lnTo>
                <a:lnTo>
                  <a:pt x="563" y="35"/>
                </a:lnTo>
                <a:lnTo>
                  <a:pt x="567" y="48"/>
                </a:lnTo>
                <a:lnTo>
                  <a:pt x="568" y="61"/>
                </a:lnTo>
                <a:lnTo>
                  <a:pt x="570" y="73"/>
                </a:lnTo>
                <a:lnTo>
                  <a:pt x="570" y="86"/>
                </a:lnTo>
                <a:lnTo>
                  <a:pt x="570" y="99"/>
                </a:lnTo>
                <a:lnTo>
                  <a:pt x="570" y="104"/>
                </a:lnTo>
                <a:lnTo>
                  <a:pt x="570" y="111"/>
                </a:lnTo>
                <a:lnTo>
                  <a:pt x="570" y="116"/>
                </a:lnTo>
                <a:lnTo>
                  <a:pt x="570" y="122"/>
                </a:lnTo>
                <a:lnTo>
                  <a:pt x="570" y="127"/>
                </a:lnTo>
                <a:lnTo>
                  <a:pt x="568" y="134"/>
                </a:lnTo>
                <a:lnTo>
                  <a:pt x="568" y="139"/>
                </a:lnTo>
                <a:lnTo>
                  <a:pt x="567" y="146"/>
                </a:lnTo>
                <a:lnTo>
                  <a:pt x="572" y="142"/>
                </a:lnTo>
                <a:lnTo>
                  <a:pt x="573" y="137"/>
                </a:lnTo>
                <a:lnTo>
                  <a:pt x="573" y="132"/>
                </a:lnTo>
                <a:lnTo>
                  <a:pt x="575" y="127"/>
                </a:lnTo>
                <a:lnTo>
                  <a:pt x="575" y="121"/>
                </a:lnTo>
                <a:lnTo>
                  <a:pt x="575" y="116"/>
                </a:lnTo>
                <a:lnTo>
                  <a:pt x="575" y="111"/>
                </a:lnTo>
                <a:lnTo>
                  <a:pt x="575" y="104"/>
                </a:lnTo>
                <a:lnTo>
                  <a:pt x="575" y="99"/>
                </a:lnTo>
                <a:close/>
                <a:moveTo>
                  <a:pt x="5" y="46"/>
                </a:moveTo>
                <a:lnTo>
                  <a:pt x="5" y="53"/>
                </a:lnTo>
                <a:lnTo>
                  <a:pt x="4" y="59"/>
                </a:lnTo>
                <a:lnTo>
                  <a:pt x="2" y="66"/>
                </a:lnTo>
                <a:lnTo>
                  <a:pt x="2" y="73"/>
                </a:lnTo>
                <a:lnTo>
                  <a:pt x="2" y="79"/>
                </a:lnTo>
                <a:lnTo>
                  <a:pt x="2" y="86"/>
                </a:lnTo>
                <a:lnTo>
                  <a:pt x="0" y="93"/>
                </a:lnTo>
                <a:lnTo>
                  <a:pt x="0" y="99"/>
                </a:lnTo>
                <a:lnTo>
                  <a:pt x="2" y="112"/>
                </a:lnTo>
                <a:lnTo>
                  <a:pt x="2" y="126"/>
                </a:lnTo>
                <a:lnTo>
                  <a:pt x="4" y="137"/>
                </a:lnTo>
                <a:lnTo>
                  <a:pt x="5" y="151"/>
                </a:lnTo>
                <a:lnTo>
                  <a:pt x="9" y="162"/>
                </a:lnTo>
                <a:lnTo>
                  <a:pt x="10" y="175"/>
                </a:lnTo>
                <a:lnTo>
                  <a:pt x="15" y="187"/>
                </a:lnTo>
                <a:lnTo>
                  <a:pt x="18" y="199"/>
                </a:lnTo>
                <a:lnTo>
                  <a:pt x="23" y="199"/>
                </a:lnTo>
                <a:lnTo>
                  <a:pt x="20" y="187"/>
                </a:lnTo>
                <a:lnTo>
                  <a:pt x="15" y="175"/>
                </a:lnTo>
                <a:lnTo>
                  <a:pt x="14" y="162"/>
                </a:lnTo>
                <a:lnTo>
                  <a:pt x="10" y="151"/>
                </a:lnTo>
                <a:lnTo>
                  <a:pt x="9" y="137"/>
                </a:lnTo>
                <a:lnTo>
                  <a:pt x="7" y="126"/>
                </a:lnTo>
                <a:lnTo>
                  <a:pt x="5" y="112"/>
                </a:lnTo>
                <a:lnTo>
                  <a:pt x="5" y="99"/>
                </a:lnTo>
                <a:lnTo>
                  <a:pt x="5" y="93"/>
                </a:lnTo>
                <a:lnTo>
                  <a:pt x="5" y="84"/>
                </a:lnTo>
                <a:lnTo>
                  <a:pt x="7" y="78"/>
                </a:lnTo>
                <a:lnTo>
                  <a:pt x="7" y="71"/>
                </a:lnTo>
                <a:lnTo>
                  <a:pt x="7" y="64"/>
                </a:lnTo>
                <a:lnTo>
                  <a:pt x="9" y="58"/>
                </a:lnTo>
                <a:lnTo>
                  <a:pt x="10" y="51"/>
                </a:lnTo>
                <a:lnTo>
                  <a:pt x="10" y="45"/>
                </a:lnTo>
                <a:lnTo>
                  <a:pt x="5" y="46"/>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899" name="Freeform 1104">
            <a:extLst>
              <a:ext uri="{FF2B5EF4-FFF2-40B4-BE49-F238E27FC236}">
                <a16:creationId xmlns:a16="http://schemas.microsoft.com/office/drawing/2014/main" id="{8C04A81E-D754-6C71-3038-D1F535A6AA3C}"/>
              </a:ext>
            </a:extLst>
          </p:cNvPr>
          <p:cNvSpPr>
            <a:spLocks noEditPoints="1"/>
          </p:cNvSpPr>
          <p:nvPr/>
        </p:nvSpPr>
        <p:spPr bwMode="auto">
          <a:xfrm>
            <a:off x="2463800" y="2403475"/>
            <a:ext cx="903288" cy="315913"/>
          </a:xfrm>
          <a:custGeom>
            <a:avLst/>
            <a:gdLst>
              <a:gd name="T0" fmla="*/ 569 w 569"/>
              <a:gd name="T1" fmla="*/ 86 h 199"/>
              <a:gd name="T2" fmla="*/ 566 w 569"/>
              <a:gd name="T3" fmla="*/ 61 h 199"/>
              <a:gd name="T4" fmla="*/ 563 w 569"/>
              <a:gd name="T5" fmla="*/ 36 h 199"/>
              <a:gd name="T6" fmla="*/ 556 w 569"/>
              <a:gd name="T7" fmla="*/ 11 h 199"/>
              <a:gd name="T8" fmla="*/ 546 w 569"/>
              <a:gd name="T9" fmla="*/ 0 h 199"/>
              <a:gd name="T10" fmla="*/ 554 w 569"/>
              <a:gd name="T11" fmla="*/ 23 h 199"/>
              <a:gd name="T12" fmla="*/ 559 w 569"/>
              <a:gd name="T13" fmla="*/ 48 h 199"/>
              <a:gd name="T14" fmla="*/ 563 w 569"/>
              <a:gd name="T15" fmla="*/ 73 h 199"/>
              <a:gd name="T16" fmla="*/ 564 w 569"/>
              <a:gd name="T17" fmla="*/ 99 h 199"/>
              <a:gd name="T18" fmla="*/ 564 w 569"/>
              <a:gd name="T19" fmla="*/ 111 h 199"/>
              <a:gd name="T20" fmla="*/ 563 w 569"/>
              <a:gd name="T21" fmla="*/ 122 h 199"/>
              <a:gd name="T22" fmla="*/ 563 w 569"/>
              <a:gd name="T23" fmla="*/ 134 h 199"/>
              <a:gd name="T24" fmla="*/ 561 w 569"/>
              <a:gd name="T25" fmla="*/ 146 h 199"/>
              <a:gd name="T26" fmla="*/ 566 w 569"/>
              <a:gd name="T27" fmla="*/ 139 h 199"/>
              <a:gd name="T28" fmla="*/ 568 w 569"/>
              <a:gd name="T29" fmla="*/ 127 h 199"/>
              <a:gd name="T30" fmla="*/ 569 w 569"/>
              <a:gd name="T31" fmla="*/ 116 h 199"/>
              <a:gd name="T32" fmla="*/ 569 w 569"/>
              <a:gd name="T33" fmla="*/ 104 h 199"/>
              <a:gd name="T34" fmla="*/ 5 w 569"/>
              <a:gd name="T35" fmla="*/ 46 h 199"/>
              <a:gd name="T36" fmla="*/ 1 w 569"/>
              <a:gd name="T37" fmla="*/ 59 h 199"/>
              <a:gd name="T38" fmla="*/ 1 w 569"/>
              <a:gd name="T39" fmla="*/ 73 h 199"/>
              <a:gd name="T40" fmla="*/ 0 w 569"/>
              <a:gd name="T41" fmla="*/ 86 h 199"/>
              <a:gd name="T42" fmla="*/ 0 w 569"/>
              <a:gd name="T43" fmla="*/ 99 h 199"/>
              <a:gd name="T44" fmla="*/ 0 w 569"/>
              <a:gd name="T45" fmla="*/ 126 h 199"/>
              <a:gd name="T46" fmla="*/ 5 w 569"/>
              <a:gd name="T47" fmla="*/ 151 h 199"/>
              <a:gd name="T48" fmla="*/ 10 w 569"/>
              <a:gd name="T49" fmla="*/ 175 h 199"/>
              <a:gd name="T50" fmla="*/ 18 w 569"/>
              <a:gd name="T51" fmla="*/ 199 h 199"/>
              <a:gd name="T52" fmla="*/ 18 w 569"/>
              <a:gd name="T53" fmla="*/ 187 h 199"/>
              <a:gd name="T54" fmla="*/ 11 w 569"/>
              <a:gd name="T55" fmla="*/ 162 h 199"/>
              <a:gd name="T56" fmla="*/ 6 w 569"/>
              <a:gd name="T57" fmla="*/ 137 h 199"/>
              <a:gd name="T58" fmla="*/ 5 w 569"/>
              <a:gd name="T59" fmla="*/ 112 h 199"/>
              <a:gd name="T60" fmla="*/ 5 w 569"/>
              <a:gd name="T61" fmla="*/ 93 h 199"/>
              <a:gd name="T62" fmla="*/ 5 w 569"/>
              <a:gd name="T63" fmla="*/ 78 h 199"/>
              <a:gd name="T64" fmla="*/ 6 w 569"/>
              <a:gd name="T65" fmla="*/ 64 h 199"/>
              <a:gd name="T66" fmla="*/ 8 w 569"/>
              <a:gd name="T67" fmla="*/ 50 h 199"/>
              <a:gd name="T68" fmla="*/ 5 w 569"/>
              <a:gd name="T69" fmla="*/ 4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9" h="199">
                <a:moveTo>
                  <a:pt x="569" y="99"/>
                </a:moveTo>
                <a:lnTo>
                  <a:pt x="569" y="86"/>
                </a:lnTo>
                <a:lnTo>
                  <a:pt x="568" y="73"/>
                </a:lnTo>
                <a:lnTo>
                  <a:pt x="566" y="61"/>
                </a:lnTo>
                <a:lnTo>
                  <a:pt x="564" y="48"/>
                </a:lnTo>
                <a:lnTo>
                  <a:pt x="563" y="36"/>
                </a:lnTo>
                <a:lnTo>
                  <a:pt x="559" y="23"/>
                </a:lnTo>
                <a:lnTo>
                  <a:pt x="556" y="11"/>
                </a:lnTo>
                <a:lnTo>
                  <a:pt x="551" y="0"/>
                </a:lnTo>
                <a:lnTo>
                  <a:pt x="546" y="0"/>
                </a:lnTo>
                <a:lnTo>
                  <a:pt x="551" y="11"/>
                </a:lnTo>
                <a:lnTo>
                  <a:pt x="554" y="23"/>
                </a:lnTo>
                <a:lnTo>
                  <a:pt x="558" y="35"/>
                </a:lnTo>
                <a:lnTo>
                  <a:pt x="559" y="48"/>
                </a:lnTo>
                <a:lnTo>
                  <a:pt x="561" y="61"/>
                </a:lnTo>
                <a:lnTo>
                  <a:pt x="563" y="73"/>
                </a:lnTo>
                <a:lnTo>
                  <a:pt x="564" y="86"/>
                </a:lnTo>
                <a:lnTo>
                  <a:pt x="564" y="99"/>
                </a:lnTo>
                <a:lnTo>
                  <a:pt x="564" y="106"/>
                </a:lnTo>
                <a:lnTo>
                  <a:pt x="564" y="111"/>
                </a:lnTo>
                <a:lnTo>
                  <a:pt x="564" y="117"/>
                </a:lnTo>
                <a:lnTo>
                  <a:pt x="563" y="122"/>
                </a:lnTo>
                <a:lnTo>
                  <a:pt x="563" y="129"/>
                </a:lnTo>
                <a:lnTo>
                  <a:pt x="563" y="134"/>
                </a:lnTo>
                <a:lnTo>
                  <a:pt x="561" y="141"/>
                </a:lnTo>
                <a:lnTo>
                  <a:pt x="561" y="146"/>
                </a:lnTo>
                <a:lnTo>
                  <a:pt x="566" y="144"/>
                </a:lnTo>
                <a:lnTo>
                  <a:pt x="566" y="139"/>
                </a:lnTo>
                <a:lnTo>
                  <a:pt x="568" y="132"/>
                </a:lnTo>
                <a:lnTo>
                  <a:pt x="568" y="127"/>
                </a:lnTo>
                <a:lnTo>
                  <a:pt x="568" y="122"/>
                </a:lnTo>
                <a:lnTo>
                  <a:pt x="569" y="116"/>
                </a:lnTo>
                <a:lnTo>
                  <a:pt x="569" y="111"/>
                </a:lnTo>
                <a:lnTo>
                  <a:pt x="569" y="104"/>
                </a:lnTo>
                <a:lnTo>
                  <a:pt x="569" y="99"/>
                </a:lnTo>
                <a:close/>
                <a:moveTo>
                  <a:pt x="5" y="46"/>
                </a:moveTo>
                <a:lnTo>
                  <a:pt x="3" y="53"/>
                </a:lnTo>
                <a:lnTo>
                  <a:pt x="1" y="59"/>
                </a:lnTo>
                <a:lnTo>
                  <a:pt x="1" y="66"/>
                </a:lnTo>
                <a:lnTo>
                  <a:pt x="1" y="73"/>
                </a:lnTo>
                <a:lnTo>
                  <a:pt x="0" y="79"/>
                </a:lnTo>
                <a:lnTo>
                  <a:pt x="0" y="86"/>
                </a:lnTo>
                <a:lnTo>
                  <a:pt x="0" y="93"/>
                </a:lnTo>
                <a:lnTo>
                  <a:pt x="0" y="99"/>
                </a:lnTo>
                <a:lnTo>
                  <a:pt x="0" y="112"/>
                </a:lnTo>
                <a:lnTo>
                  <a:pt x="0" y="126"/>
                </a:lnTo>
                <a:lnTo>
                  <a:pt x="1" y="137"/>
                </a:lnTo>
                <a:lnTo>
                  <a:pt x="5" y="151"/>
                </a:lnTo>
                <a:lnTo>
                  <a:pt x="6" y="162"/>
                </a:lnTo>
                <a:lnTo>
                  <a:pt x="10" y="175"/>
                </a:lnTo>
                <a:lnTo>
                  <a:pt x="13" y="187"/>
                </a:lnTo>
                <a:lnTo>
                  <a:pt x="18" y="199"/>
                </a:lnTo>
                <a:lnTo>
                  <a:pt x="23" y="199"/>
                </a:lnTo>
                <a:lnTo>
                  <a:pt x="18" y="187"/>
                </a:lnTo>
                <a:lnTo>
                  <a:pt x="14" y="175"/>
                </a:lnTo>
                <a:lnTo>
                  <a:pt x="11" y="162"/>
                </a:lnTo>
                <a:lnTo>
                  <a:pt x="8" y="151"/>
                </a:lnTo>
                <a:lnTo>
                  <a:pt x="6" y="137"/>
                </a:lnTo>
                <a:lnTo>
                  <a:pt x="5" y="126"/>
                </a:lnTo>
                <a:lnTo>
                  <a:pt x="5" y="112"/>
                </a:lnTo>
                <a:lnTo>
                  <a:pt x="5" y="99"/>
                </a:lnTo>
                <a:lnTo>
                  <a:pt x="5" y="93"/>
                </a:lnTo>
                <a:lnTo>
                  <a:pt x="5" y="84"/>
                </a:lnTo>
                <a:lnTo>
                  <a:pt x="5" y="78"/>
                </a:lnTo>
                <a:lnTo>
                  <a:pt x="6" y="71"/>
                </a:lnTo>
                <a:lnTo>
                  <a:pt x="6" y="64"/>
                </a:lnTo>
                <a:lnTo>
                  <a:pt x="8" y="56"/>
                </a:lnTo>
                <a:lnTo>
                  <a:pt x="8" y="50"/>
                </a:lnTo>
                <a:lnTo>
                  <a:pt x="10" y="43"/>
                </a:lnTo>
                <a:lnTo>
                  <a:pt x="5" y="46"/>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00" name="Freeform 1105">
            <a:extLst>
              <a:ext uri="{FF2B5EF4-FFF2-40B4-BE49-F238E27FC236}">
                <a16:creationId xmlns:a16="http://schemas.microsoft.com/office/drawing/2014/main" id="{67CD805A-CC53-09D5-A789-1B25AC5D2B93}"/>
              </a:ext>
            </a:extLst>
          </p:cNvPr>
          <p:cNvSpPr>
            <a:spLocks noEditPoints="1"/>
          </p:cNvSpPr>
          <p:nvPr/>
        </p:nvSpPr>
        <p:spPr bwMode="auto">
          <a:xfrm>
            <a:off x="2465388" y="2403475"/>
            <a:ext cx="896938" cy="315913"/>
          </a:xfrm>
          <a:custGeom>
            <a:avLst/>
            <a:gdLst>
              <a:gd name="T0" fmla="*/ 565 w 565"/>
              <a:gd name="T1" fmla="*/ 86 h 199"/>
              <a:gd name="T2" fmla="*/ 563 w 565"/>
              <a:gd name="T3" fmla="*/ 61 h 199"/>
              <a:gd name="T4" fmla="*/ 558 w 565"/>
              <a:gd name="T5" fmla="*/ 35 h 199"/>
              <a:gd name="T6" fmla="*/ 552 w 565"/>
              <a:gd name="T7" fmla="*/ 11 h 199"/>
              <a:gd name="T8" fmla="*/ 543 w 565"/>
              <a:gd name="T9" fmla="*/ 0 h 199"/>
              <a:gd name="T10" fmla="*/ 550 w 565"/>
              <a:gd name="T11" fmla="*/ 23 h 199"/>
              <a:gd name="T12" fmla="*/ 557 w 565"/>
              <a:gd name="T13" fmla="*/ 48 h 199"/>
              <a:gd name="T14" fmla="*/ 560 w 565"/>
              <a:gd name="T15" fmla="*/ 73 h 199"/>
              <a:gd name="T16" fmla="*/ 562 w 565"/>
              <a:gd name="T17" fmla="*/ 99 h 199"/>
              <a:gd name="T18" fmla="*/ 560 w 565"/>
              <a:gd name="T19" fmla="*/ 111 h 199"/>
              <a:gd name="T20" fmla="*/ 560 w 565"/>
              <a:gd name="T21" fmla="*/ 124 h 199"/>
              <a:gd name="T22" fmla="*/ 558 w 565"/>
              <a:gd name="T23" fmla="*/ 136 h 199"/>
              <a:gd name="T24" fmla="*/ 557 w 565"/>
              <a:gd name="T25" fmla="*/ 147 h 199"/>
              <a:gd name="T26" fmla="*/ 563 w 565"/>
              <a:gd name="T27" fmla="*/ 139 h 199"/>
              <a:gd name="T28" fmla="*/ 565 w 565"/>
              <a:gd name="T29" fmla="*/ 127 h 199"/>
              <a:gd name="T30" fmla="*/ 565 w 565"/>
              <a:gd name="T31" fmla="*/ 116 h 199"/>
              <a:gd name="T32" fmla="*/ 565 w 565"/>
              <a:gd name="T33" fmla="*/ 104 h 199"/>
              <a:gd name="T34" fmla="*/ 5 w 565"/>
              <a:gd name="T35" fmla="*/ 45 h 199"/>
              <a:gd name="T36" fmla="*/ 4 w 565"/>
              <a:gd name="T37" fmla="*/ 58 h 199"/>
              <a:gd name="T38" fmla="*/ 2 w 565"/>
              <a:gd name="T39" fmla="*/ 71 h 199"/>
              <a:gd name="T40" fmla="*/ 0 w 565"/>
              <a:gd name="T41" fmla="*/ 84 h 199"/>
              <a:gd name="T42" fmla="*/ 0 w 565"/>
              <a:gd name="T43" fmla="*/ 99 h 199"/>
              <a:gd name="T44" fmla="*/ 2 w 565"/>
              <a:gd name="T45" fmla="*/ 126 h 199"/>
              <a:gd name="T46" fmla="*/ 5 w 565"/>
              <a:gd name="T47" fmla="*/ 151 h 199"/>
              <a:gd name="T48" fmla="*/ 10 w 565"/>
              <a:gd name="T49" fmla="*/ 175 h 199"/>
              <a:gd name="T50" fmla="*/ 18 w 565"/>
              <a:gd name="T51" fmla="*/ 199 h 199"/>
              <a:gd name="T52" fmla="*/ 20 w 565"/>
              <a:gd name="T53" fmla="*/ 187 h 199"/>
              <a:gd name="T54" fmla="*/ 13 w 565"/>
              <a:gd name="T55" fmla="*/ 162 h 199"/>
              <a:gd name="T56" fmla="*/ 9 w 565"/>
              <a:gd name="T57" fmla="*/ 137 h 199"/>
              <a:gd name="T58" fmla="*/ 5 w 565"/>
              <a:gd name="T59" fmla="*/ 112 h 199"/>
              <a:gd name="T60" fmla="*/ 5 w 565"/>
              <a:gd name="T61" fmla="*/ 91 h 199"/>
              <a:gd name="T62" fmla="*/ 7 w 565"/>
              <a:gd name="T63" fmla="*/ 78 h 199"/>
              <a:gd name="T64" fmla="*/ 9 w 565"/>
              <a:gd name="T65" fmla="*/ 63 h 199"/>
              <a:gd name="T66" fmla="*/ 10 w 565"/>
              <a:gd name="T67" fmla="*/ 50 h 199"/>
              <a:gd name="T68" fmla="*/ 5 w 565"/>
              <a:gd name="T69" fmla="*/ 4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5" h="199">
                <a:moveTo>
                  <a:pt x="565" y="99"/>
                </a:moveTo>
                <a:lnTo>
                  <a:pt x="565" y="86"/>
                </a:lnTo>
                <a:lnTo>
                  <a:pt x="565" y="73"/>
                </a:lnTo>
                <a:lnTo>
                  <a:pt x="563" y="61"/>
                </a:lnTo>
                <a:lnTo>
                  <a:pt x="562" y="48"/>
                </a:lnTo>
                <a:lnTo>
                  <a:pt x="558" y="35"/>
                </a:lnTo>
                <a:lnTo>
                  <a:pt x="555" y="23"/>
                </a:lnTo>
                <a:lnTo>
                  <a:pt x="552" y="11"/>
                </a:lnTo>
                <a:lnTo>
                  <a:pt x="548" y="0"/>
                </a:lnTo>
                <a:lnTo>
                  <a:pt x="543" y="0"/>
                </a:lnTo>
                <a:lnTo>
                  <a:pt x="547" y="11"/>
                </a:lnTo>
                <a:lnTo>
                  <a:pt x="550" y="23"/>
                </a:lnTo>
                <a:lnTo>
                  <a:pt x="553" y="35"/>
                </a:lnTo>
                <a:lnTo>
                  <a:pt x="557" y="48"/>
                </a:lnTo>
                <a:lnTo>
                  <a:pt x="558" y="61"/>
                </a:lnTo>
                <a:lnTo>
                  <a:pt x="560" y="73"/>
                </a:lnTo>
                <a:lnTo>
                  <a:pt x="560" y="86"/>
                </a:lnTo>
                <a:lnTo>
                  <a:pt x="562" y="99"/>
                </a:lnTo>
                <a:lnTo>
                  <a:pt x="562" y="106"/>
                </a:lnTo>
                <a:lnTo>
                  <a:pt x="560" y="111"/>
                </a:lnTo>
                <a:lnTo>
                  <a:pt x="560" y="117"/>
                </a:lnTo>
                <a:lnTo>
                  <a:pt x="560" y="124"/>
                </a:lnTo>
                <a:lnTo>
                  <a:pt x="560" y="129"/>
                </a:lnTo>
                <a:lnTo>
                  <a:pt x="558" y="136"/>
                </a:lnTo>
                <a:lnTo>
                  <a:pt x="558" y="142"/>
                </a:lnTo>
                <a:lnTo>
                  <a:pt x="557" y="147"/>
                </a:lnTo>
                <a:lnTo>
                  <a:pt x="562" y="146"/>
                </a:lnTo>
                <a:lnTo>
                  <a:pt x="563" y="139"/>
                </a:lnTo>
                <a:lnTo>
                  <a:pt x="563" y="134"/>
                </a:lnTo>
                <a:lnTo>
                  <a:pt x="565" y="127"/>
                </a:lnTo>
                <a:lnTo>
                  <a:pt x="565" y="122"/>
                </a:lnTo>
                <a:lnTo>
                  <a:pt x="565" y="116"/>
                </a:lnTo>
                <a:lnTo>
                  <a:pt x="565" y="111"/>
                </a:lnTo>
                <a:lnTo>
                  <a:pt x="565" y="104"/>
                </a:lnTo>
                <a:lnTo>
                  <a:pt x="565" y="99"/>
                </a:lnTo>
                <a:close/>
                <a:moveTo>
                  <a:pt x="5" y="45"/>
                </a:moveTo>
                <a:lnTo>
                  <a:pt x="5" y="51"/>
                </a:lnTo>
                <a:lnTo>
                  <a:pt x="4" y="58"/>
                </a:lnTo>
                <a:lnTo>
                  <a:pt x="2" y="64"/>
                </a:lnTo>
                <a:lnTo>
                  <a:pt x="2" y="71"/>
                </a:lnTo>
                <a:lnTo>
                  <a:pt x="2" y="78"/>
                </a:lnTo>
                <a:lnTo>
                  <a:pt x="0" y="84"/>
                </a:lnTo>
                <a:lnTo>
                  <a:pt x="0" y="93"/>
                </a:lnTo>
                <a:lnTo>
                  <a:pt x="0" y="99"/>
                </a:lnTo>
                <a:lnTo>
                  <a:pt x="0" y="112"/>
                </a:lnTo>
                <a:lnTo>
                  <a:pt x="2" y="126"/>
                </a:lnTo>
                <a:lnTo>
                  <a:pt x="4" y="137"/>
                </a:lnTo>
                <a:lnTo>
                  <a:pt x="5" y="151"/>
                </a:lnTo>
                <a:lnTo>
                  <a:pt x="9" y="162"/>
                </a:lnTo>
                <a:lnTo>
                  <a:pt x="10" y="175"/>
                </a:lnTo>
                <a:lnTo>
                  <a:pt x="15" y="187"/>
                </a:lnTo>
                <a:lnTo>
                  <a:pt x="18" y="199"/>
                </a:lnTo>
                <a:lnTo>
                  <a:pt x="23" y="199"/>
                </a:lnTo>
                <a:lnTo>
                  <a:pt x="20" y="187"/>
                </a:lnTo>
                <a:lnTo>
                  <a:pt x="15" y="175"/>
                </a:lnTo>
                <a:lnTo>
                  <a:pt x="13" y="162"/>
                </a:lnTo>
                <a:lnTo>
                  <a:pt x="10" y="151"/>
                </a:lnTo>
                <a:lnTo>
                  <a:pt x="9" y="137"/>
                </a:lnTo>
                <a:lnTo>
                  <a:pt x="7" y="126"/>
                </a:lnTo>
                <a:lnTo>
                  <a:pt x="5" y="112"/>
                </a:lnTo>
                <a:lnTo>
                  <a:pt x="5" y="99"/>
                </a:lnTo>
                <a:lnTo>
                  <a:pt x="5" y="91"/>
                </a:lnTo>
                <a:lnTo>
                  <a:pt x="5" y="84"/>
                </a:lnTo>
                <a:lnTo>
                  <a:pt x="7" y="78"/>
                </a:lnTo>
                <a:lnTo>
                  <a:pt x="7" y="69"/>
                </a:lnTo>
                <a:lnTo>
                  <a:pt x="9" y="63"/>
                </a:lnTo>
                <a:lnTo>
                  <a:pt x="9" y="56"/>
                </a:lnTo>
                <a:lnTo>
                  <a:pt x="10" y="50"/>
                </a:lnTo>
                <a:lnTo>
                  <a:pt x="12" y="41"/>
                </a:lnTo>
                <a:lnTo>
                  <a:pt x="5" y="45"/>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01" name="Freeform 1106">
            <a:extLst>
              <a:ext uri="{FF2B5EF4-FFF2-40B4-BE49-F238E27FC236}">
                <a16:creationId xmlns:a16="http://schemas.microsoft.com/office/drawing/2014/main" id="{C1905A32-F9F2-B9AF-A81D-DDC6A37FE454}"/>
              </a:ext>
            </a:extLst>
          </p:cNvPr>
          <p:cNvSpPr>
            <a:spLocks noEditPoints="1"/>
          </p:cNvSpPr>
          <p:nvPr/>
        </p:nvSpPr>
        <p:spPr bwMode="auto">
          <a:xfrm>
            <a:off x="2471738" y="2403475"/>
            <a:ext cx="887413" cy="315913"/>
          </a:xfrm>
          <a:custGeom>
            <a:avLst/>
            <a:gdLst>
              <a:gd name="T0" fmla="*/ 559 w 559"/>
              <a:gd name="T1" fmla="*/ 86 h 199"/>
              <a:gd name="T2" fmla="*/ 556 w 559"/>
              <a:gd name="T3" fmla="*/ 61 h 199"/>
              <a:gd name="T4" fmla="*/ 553 w 559"/>
              <a:gd name="T5" fmla="*/ 35 h 199"/>
              <a:gd name="T6" fmla="*/ 546 w 559"/>
              <a:gd name="T7" fmla="*/ 11 h 199"/>
              <a:gd name="T8" fmla="*/ 536 w 559"/>
              <a:gd name="T9" fmla="*/ 0 h 199"/>
              <a:gd name="T10" fmla="*/ 544 w 559"/>
              <a:gd name="T11" fmla="*/ 23 h 199"/>
              <a:gd name="T12" fmla="*/ 549 w 559"/>
              <a:gd name="T13" fmla="*/ 48 h 199"/>
              <a:gd name="T14" fmla="*/ 553 w 559"/>
              <a:gd name="T15" fmla="*/ 73 h 199"/>
              <a:gd name="T16" fmla="*/ 554 w 559"/>
              <a:gd name="T17" fmla="*/ 99 h 199"/>
              <a:gd name="T18" fmla="*/ 554 w 559"/>
              <a:gd name="T19" fmla="*/ 112 h 199"/>
              <a:gd name="T20" fmla="*/ 553 w 559"/>
              <a:gd name="T21" fmla="*/ 124 h 199"/>
              <a:gd name="T22" fmla="*/ 553 w 559"/>
              <a:gd name="T23" fmla="*/ 136 h 199"/>
              <a:gd name="T24" fmla="*/ 549 w 559"/>
              <a:gd name="T25" fmla="*/ 149 h 199"/>
              <a:gd name="T26" fmla="*/ 556 w 559"/>
              <a:gd name="T27" fmla="*/ 141 h 199"/>
              <a:gd name="T28" fmla="*/ 558 w 559"/>
              <a:gd name="T29" fmla="*/ 129 h 199"/>
              <a:gd name="T30" fmla="*/ 559 w 559"/>
              <a:gd name="T31" fmla="*/ 117 h 199"/>
              <a:gd name="T32" fmla="*/ 559 w 559"/>
              <a:gd name="T33" fmla="*/ 106 h 199"/>
              <a:gd name="T34" fmla="*/ 5 w 559"/>
              <a:gd name="T35" fmla="*/ 43 h 199"/>
              <a:gd name="T36" fmla="*/ 3 w 559"/>
              <a:gd name="T37" fmla="*/ 56 h 199"/>
              <a:gd name="T38" fmla="*/ 1 w 559"/>
              <a:gd name="T39" fmla="*/ 71 h 199"/>
              <a:gd name="T40" fmla="*/ 0 w 559"/>
              <a:gd name="T41" fmla="*/ 84 h 199"/>
              <a:gd name="T42" fmla="*/ 0 w 559"/>
              <a:gd name="T43" fmla="*/ 99 h 199"/>
              <a:gd name="T44" fmla="*/ 0 w 559"/>
              <a:gd name="T45" fmla="*/ 126 h 199"/>
              <a:gd name="T46" fmla="*/ 3 w 559"/>
              <a:gd name="T47" fmla="*/ 151 h 199"/>
              <a:gd name="T48" fmla="*/ 9 w 559"/>
              <a:gd name="T49" fmla="*/ 175 h 199"/>
              <a:gd name="T50" fmla="*/ 18 w 559"/>
              <a:gd name="T51" fmla="*/ 199 h 199"/>
              <a:gd name="T52" fmla="*/ 18 w 559"/>
              <a:gd name="T53" fmla="*/ 187 h 199"/>
              <a:gd name="T54" fmla="*/ 11 w 559"/>
              <a:gd name="T55" fmla="*/ 162 h 199"/>
              <a:gd name="T56" fmla="*/ 6 w 559"/>
              <a:gd name="T57" fmla="*/ 137 h 199"/>
              <a:gd name="T58" fmla="*/ 5 w 559"/>
              <a:gd name="T59" fmla="*/ 112 h 199"/>
              <a:gd name="T60" fmla="*/ 5 w 559"/>
              <a:gd name="T61" fmla="*/ 91 h 199"/>
              <a:gd name="T62" fmla="*/ 5 w 559"/>
              <a:gd name="T63" fmla="*/ 76 h 199"/>
              <a:gd name="T64" fmla="*/ 6 w 559"/>
              <a:gd name="T65" fmla="*/ 63 h 199"/>
              <a:gd name="T66" fmla="*/ 8 w 559"/>
              <a:gd name="T67" fmla="*/ 48 h 199"/>
              <a:gd name="T68" fmla="*/ 5 w 559"/>
              <a:gd name="T69" fmla="*/ 4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9" h="199">
                <a:moveTo>
                  <a:pt x="559" y="99"/>
                </a:moveTo>
                <a:lnTo>
                  <a:pt x="559" y="86"/>
                </a:lnTo>
                <a:lnTo>
                  <a:pt x="558" y="73"/>
                </a:lnTo>
                <a:lnTo>
                  <a:pt x="556" y="61"/>
                </a:lnTo>
                <a:lnTo>
                  <a:pt x="554" y="48"/>
                </a:lnTo>
                <a:lnTo>
                  <a:pt x="553" y="35"/>
                </a:lnTo>
                <a:lnTo>
                  <a:pt x="549" y="23"/>
                </a:lnTo>
                <a:lnTo>
                  <a:pt x="546" y="11"/>
                </a:lnTo>
                <a:lnTo>
                  <a:pt x="541" y="0"/>
                </a:lnTo>
                <a:lnTo>
                  <a:pt x="536" y="0"/>
                </a:lnTo>
                <a:lnTo>
                  <a:pt x="541" y="11"/>
                </a:lnTo>
                <a:lnTo>
                  <a:pt x="544" y="23"/>
                </a:lnTo>
                <a:lnTo>
                  <a:pt x="548" y="35"/>
                </a:lnTo>
                <a:lnTo>
                  <a:pt x="549" y="48"/>
                </a:lnTo>
                <a:lnTo>
                  <a:pt x="551" y="61"/>
                </a:lnTo>
                <a:lnTo>
                  <a:pt x="553" y="73"/>
                </a:lnTo>
                <a:lnTo>
                  <a:pt x="554" y="86"/>
                </a:lnTo>
                <a:lnTo>
                  <a:pt x="554" y="99"/>
                </a:lnTo>
                <a:lnTo>
                  <a:pt x="554" y="106"/>
                </a:lnTo>
                <a:lnTo>
                  <a:pt x="554" y="112"/>
                </a:lnTo>
                <a:lnTo>
                  <a:pt x="554" y="117"/>
                </a:lnTo>
                <a:lnTo>
                  <a:pt x="553" y="124"/>
                </a:lnTo>
                <a:lnTo>
                  <a:pt x="553" y="131"/>
                </a:lnTo>
                <a:lnTo>
                  <a:pt x="553" y="136"/>
                </a:lnTo>
                <a:lnTo>
                  <a:pt x="551" y="142"/>
                </a:lnTo>
                <a:lnTo>
                  <a:pt x="549" y="149"/>
                </a:lnTo>
                <a:lnTo>
                  <a:pt x="556" y="146"/>
                </a:lnTo>
                <a:lnTo>
                  <a:pt x="556" y="141"/>
                </a:lnTo>
                <a:lnTo>
                  <a:pt x="558" y="134"/>
                </a:lnTo>
                <a:lnTo>
                  <a:pt x="558" y="129"/>
                </a:lnTo>
                <a:lnTo>
                  <a:pt x="558" y="122"/>
                </a:lnTo>
                <a:lnTo>
                  <a:pt x="559" y="117"/>
                </a:lnTo>
                <a:lnTo>
                  <a:pt x="559" y="111"/>
                </a:lnTo>
                <a:lnTo>
                  <a:pt x="559" y="106"/>
                </a:lnTo>
                <a:lnTo>
                  <a:pt x="559" y="99"/>
                </a:lnTo>
                <a:close/>
                <a:moveTo>
                  <a:pt x="5" y="43"/>
                </a:moveTo>
                <a:lnTo>
                  <a:pt x="3" y="50"/>
                </a:lnTo>
                <a:lnTo>
                  <a:pt x="3" y="56"/>
                </a:lnTo>
                <a:lnTo>
                  <a:pt x="1" y="64"/>
                </a:lnTo>
                <a:lnTo>
                  <a:pt x="1" y="71"/>
                </a:lnTo>
                <a:lnTo>
                  <a:pt x="0" y="78"/>
                </a:lnTo>
                <a:lnTo>
                  <a:pt x="0" y="84"/>
                </a:lnTo>
                <a:lnTo>
                  <a:pt x="0" y="93"/>
                </a:lnTo>
                <a:lnTo>
                  <a:pt x="0" y="99"/>
                </a:lnTo>
                <a:lnTo>
                  <a:pt x="0" y="112"/>
                </a:lnTo>
                <a:lnTo>
                  <a:pt x="0" y="126"/>
                </a:lnTo>
                <a:lnTo>
                  <a:pt x="1" y="137"/>
                </a:lnTo>
                <a:lnTo>
                  <a:pt x="3" y="151"/>
                </a:lnTo>
                <a:lnTo>
                  <a:pt x="6" y="162"/>
                </a:lnTo>
                <a:lnTo>
                  <a:pt x="9" y="175"/>
                </a:lnTo>
                <a:lnTo>
                  <a:pt x="13" y="187"/>
                </a:lnTo>
                <a:lnTo>
                  <a:pt x="18" y="199"/>
                </a:lnTo>
                <a:lnTo>
                  <a:pt x="23" y="199"/>
                </a:lnTo>
                <a:lnTo>
                  <a:pt x="18" y="187"/>
                </a:lnTo>
                <a:lnTo>
                  <a:pt x="14" y="175"/>
                </a:lnTo>
                <a:lnTo>
                  <a:pt x="11" y="162"/>
                </a:lnTo>
                <a:lnTo>
                  <a:pt x="8" y="151"/>
                </a:lnTo>
                <a:lnTo>
                  <a:pt x="6" y="137"/>
                </a:lnTo>
                <a:lnTo>
                  <a:pt x="5" y="126"/>
                </a:lnTo>
                <a:lnTo>
                  <a:pt x="5" y="112"/>
                </a:lnTo>
                <a:lnTo>
                  <a:pt x="5" y="99"/>
                </a:lnTo>
                <a:lnTo>
                  <a:pt x="5" y="91"/>
                </a:lnTo>
                <a:lnTo>
                  <a:pt x="5" y="84"/>
                </a:lnTo>
                <a:lnTo>
                  <a:pt x="5" y="76"/>
                </a:lnTo>
                <a:lnTo>
                  <a:pt x="6" y="69"/>
                </a:lnTo>
                <a:lnTo>
                  <a:pt x="6" y="63"/>
                </a:lnTo>
                <a:lnTo>
                  <a:pt x="8" y="54"/>
                </a:lnTo>
                <a:lnTo>
                  <a:pt x="8" y="48"/>
                </a:lnTo>
                <a:lnTo>
                  <a:pt x="9" y="41"/>
                </a:lnTo>
                <a:lnTo>
                  <a:pt x="5" y="43"/>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02" name="Freeform 1107">
            <a:extLst>
              <a:ext uri="{FF2B5EF4-FFF2-40B4-BE49-F238E27FC236}">
                <a16:creationId xmlns:a16="http://schemas.microsoft.com/office/drawing/2014/main" id="{0DC5EE72-1B47-0CC7-05AE-CDD74C8FCB90}"/>
              </a:ext>
            </a:extLst>
          </p:cNvPr>
          <p:cNvSpPr>
            <a:spLocks noEditPoints="1"/>
          </p:cNvSpPr>
          <p:nvPr/>
        </p:nvSpPr>
        <p:spPr bwMode="auto">
          <a:xfrm>
            <a:off x="2473325" y="2403475"/>
            <a:ext cx="884238" cy="315913"/>
          </a:xfrm>
          <a:custGeom>
            <a:avLst/>
            <a:gdLst>
              <a:gd name="T0" fmla="*/ 555 w 557"/>
              <a:gd name="T1" fmla="*/ 86 h 199"/>
              <a:gd name="T2" fmla="*/ 553 w 557"/>
              <a:gd name="T3" fmla="*/ 61 h 199"/>
              <a:gd name="T4" fmla="*/ 548 w 557"/>
              <a:gd name="T5" fmla="*/ 35 h 199"/>
              <a:gd name="T6" fmla="*/ 542 w 557"/>
              <a:gd name="T7" fmla="*/ 11 h 199"/>
              <a:gd name="T8" fmla="*/ 532 w 557"/>
              <a:gd name="T9" fmla="*/ 0 h 199"/>
              <a:gd name="T10" fmla="*/ 540 w 557"/>
              <a:gd name="T11" fmla="*/ 23 h 199"/>
              <a:gd name="T12" fmla="*/ 547 w 557"/>
              <a:gd name="T13" fmla="*/ 48 h 199"/>
              <a:gd name="T14" fmla="*/ 550 w 557"/>
              <a:gd name="T15" fmla="*/ 73 h 199"/>
              <a:gd name="T16" fmla="*/ 552 w 557"/>
              <a:gd name="T17" fmla="*/ 99 h 199"/>
              <a:gd name="T18" fmla="*/ 550 w 557"/>
              <a:gd name="T19" fmla="*/ 112 h 199"/>
              <a:gd name="T20" fmla="*/ 550 w 557"/>
              <a:gd name="T21" fmla="*/ 124 h 199"/>
              <a:gd name="T22" fmla="*/ 548 w 557"/>
              <a:gd name="T23" fmla="*/ 137 h 199"/>
              <a:gd name="T24" fmla="*/ 547 w 557"/>
              <a:gd name="T25" fmla="*/ 151 h 199"/>
              <a:gd name="T26" fmla="*/ 553 w 557"/>
              <a:gd name="T27" fmla="*/ 142 h 199"/>
              <a:gd name="T28" fmla="*/ 555 w 557"/>
              <a:gd name="T29" fmla="*/ 129 h 199"/>
              <a:gd name="T30" fmla="*/ 555 w 557"/>
              <a:gd name="T31" fmla="*/ 117 h 199"/>
              <a:gd name="T32" fmla="*/ 557 w 557"/>
              <a:gd name="T33" fmla="*/ 106 h 199"/>
              <a:gd name="T34" fmla="*/ 7 w 557"/>
              <a:gd name="T35" fmla="*/ 41 h 199"/>
              <a:gd name="T36" fmla="*/ 4 w 557"/>
              <a:gd name="T37" fmla="*/ 56 h 199"/>
              <a:gd name="T38" fmla="*/ 2 w 557"/>
              <a:gd name="T39" fmla="*/ 69 h 199"/>
              <a:gd name="T40" fmla="*/ 0 w 557"/>
              <a:gd name="T41" fmla="*/ 84 h 199"/>
              <a:gd name="T42" fmla="*/ 0 w 557"/>
              <a:gd name="T43" fmla="*/ 99 h 199"/>
              <a:gd name="T44" fmla="*/ 2 w 557"/>
              <a:gd name="T45" fmla="*/ 126 h 199"/>
              <a:gd name="T46" fmla="*/ 5 w 557"/>
              <a:gd name="T47" fmla="*/ 151 h 199"/>
              <a:gd name="T48" fmla="*/ 10 w 557"/>
              <a:gd name="T49" fmla="*/ 175 h 199"/>
              <a:gd name="T50" fmla="*/ 18 w 557"/>
              <a:gd name="T51" fmla="*/ 199 h 199"/>
              <a:gd name="T52" fmla="*/ 20 w 557"/>
              <a:gd name="T53" fmla="*/ 187 h 199"/>
              <a:gd name="T54" fmla="*/ 13 w 557"/>
              <a:gd name="T55" fmla="*/ 162 h 199"/>
              <a:gd name="T56" fmla="*/ 8 w 557"/>
              <a:gd name="T57" fmla="*/ 137 h 199"/>
              <a:gd name="T58" fmla="*/ 5 w 557"/>
              <a:gd name="T59" fmla="*/ 112 h 199"/>
              <a:gd name="T60" fmla="*/ 5 w 557"/>
              <a:gd name="T61" fmla="*/ 91 h 199"/>
              <a:gd name="T62" fmla="*/ 7 w 557"/>
              <a:gd name="T63" fmla="*/ 76 h 199"/>
              <a:gd name="T64" fmla="*/ 8 w 557"/>
              <a:gd name="T65" fmla="*/ 61 h 199"/>
              <a:gd name="T66" fmla="*/ 10 w 557"/>
              <a:gd name="T67" fmla="*/ 46 h 199"/>
              <a:gd name="T68" fmla="*/ 7 w 557"/>
              <a:gd name="T69" fmla="*/ 4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7" h="199">
                <a:moveTo>
                  <a:pt x="557" y="99"/>
                </a:moveTo>
                <a:lnTo>
                  <a:pt x="555" y="86"/>
                </a:lnTo>
                <a:lnTo>
                  <a:pt x="555" y="73"/>
                </a:lnTo>
                <a:lnTo>
                  <a:pt x="553" y="61"/>
                </a:lnTo>
                <a:lnTo>
                  <a:pt x="552" y="48"/>
                </a:lnTo>
                <a:lnTo>
                  <a:pt x="548" y="35"/>
                </a:lnTo>
                <a:lnTo>
                  <a:pt x="545" y="23"/>
                </a:lnTo>
                <a:lnTo>
                  <a:pt x="542" y="11"/>
                </a:lnTo>
                <a:lnTo>
                  <a:pt x="538" y="0"/>
                </a:lnTo>
                <a:lnTo>
                  <a:pt x="532" y="0"/>
                </a:lnTo>
                <a:lnTo>
                  <a:pt x="537" y="11"/>
                </a:lnTo>
                <a:lnTo>
                  <a:pt x="540" y="23"/>
                </a:lnTo>
                <a:lnTo>
                  <a:pt x="543" y="35"/>
                </a:lnTo>
                <a:lnTo>
                  <a:pt x="547" y="48"/>
                </a:lnTo>
                <a:lnTo>
                  <a:pt x="548" y="59"/>
                </a:lnTo>
                <a:lnTo>
                  <a:pt x="550" y="73"/>
                </a:lnTo>
                <a:lnTo>
                  <a:pt x="550" y="86"/>
                </a:lnTo>
                <a:lnTo>
                  <a:pt x="552" y="99"/>
                </a:lnTo>
                <a:lnTo>
                  <a:pt x="552" y="106"/>
                </a:lnTo>
                <a:lnTo>
                  <a:pt x="550" y="112"/>
                </a:lnTo>
                <a:lnTo>
                  <a:pt x="550" y="119"/>
                </a:lnTo>
                <a:lnTo>
                  <a:pt x="550" y="124"/>
                </a:lnTo>
                <a:lnTo>
                  <a:pt x="550" y="131"/>
                </a:lnTo>
                <a:lnTo>
                  <a:pt x="548" y="137"/>
                </a:lnTo>
                <a:lnTo>
                  <a:pt x="547" y="144"/>
                </a:lnTo>
                <a:lnTo>
                  <a:pt x="547" y="151"/>
                </a:lnTo>
                <a:lnTo>
                  <a:pt x="552" y="147"/>
                </a:lnTo>
                <a:lnTo>
                  <a:pt x="553" y="142"/>
                </a:lnTo>
                <a:lnTo>
                  <a:pt x="553" y="136"/>
                </a:lnTo>
                <a:lnTo>
                  <a:pt x="555" y="129"/>
                </a:lnTo>
                <a:lnTo>
                  <a:pt x="555" y="124"/>
                </a:lnTo>
                <a:lnTo>
                  <a:pt x="555" y="117"/>
                </a:lnTo>
                <a:lnTo>
                  <a:pt x="555" y="111"/>
                </a:lnTo>
                <a:lnTo>
                  <a:pt x="557" y="106"/>
                </a:lnTo>
                <a:lnTo>
                  <a:pt x="557" y="99"/>
                </a:lnTo>
                <a:close/>
                <a:moveTo>
                  <a:pt x="7" y="41"/>
                </a:moveTo>
                <a:lnTo>
                  <a:pt x="5" y="50"/>
                </a:lnTo>
                <a:lnTo>
                  <a:pt x="4" y="56"/>
                </a:lnTo>
                <a:lnTo>
                  <a:pt x="4" y="63"/>
                </a:lnTo>
                <a:lnTo>
                  <a:pt x="2" y="69"/>
                </a:lnTo>
                <a:lnTo>
                  <a:pt x="2" y="78"/>
                </a:lnTo>
                <a:lnTo>
                  <a:pt x="0" y="84"/>
                </a:lnTo>
                <a:lnTo>
                  <a:pt x="0" y="91"/>
                </a:lnTo>
                <a:lnTo>
                  <a:pt x="0" y="99"/>
                </a:lnTo>
                <a:lnTo>
                  <a:pt x="0" y="112"/>
                </a:lnTo>
                <a:lnTo>
                  <a:pt x="2" y="126"/>
                </a:lnTo>
                <a:lnTo>
                  <a:pt x="4" y="137"/>
                </a:lnTo>
                <a:lnTo>
                  <a:pt x="5" y="151"/>
                </a:lnTo>
                <a:lnTo>
                  <a:pt x="8" y="162"/>
                </a:lnTo>
                <a:lnTo>
                  <a:pt x="10" y="175"/>
                </a:lnTo>
                <a:lnTo>
                  <a:pt x="15" y="187"/>
                </a:lnTo>
                <a:lnTo>
                  <a:pt x="18" y="199"/>
                </a:lnTo>
                <a:lnTo>
                  <a:pt x="23" y="199"/>
                </a:lnTo>
                <a:lnTo>
                  <a:pt x="20" y="187"/>
                </a:lnTo>
                <a:lnTo>
                  <a:pt x="15" y="175"/>
                </a:lnTo>
                <a:lnTo>
                  <a:pt x="13" y="162"/>
                </a:lnTo>
                <a:lnTo>
                  <a:pt x="10" y="151"/>
                </a:lnTo>
                <a:lnTo>
                  <a:pt x="8" y="137"/>
                </a:lnTo>
                <a:lnTo>
                  <a:pt x="7" y="126"/>
                </a:lnTo>
                <a:lnTo>
                  <a:pt x="5" y="112"/>
                </a:lnTo>
                <a:lnTo>
                  <a:pt x="5" y="99"/>
                </a:lnTo>
                <a:lnTo>
                  <a:pt x="5" y="91"/>
                </a:lnTo>
                <a:lnTo>
                  <a:pt x="5" y="84"/>
                </a:lnTo>
                <a:lnTo>
                  <a:pt x="7" y="76"/>
                </a:lnTo>
                <a:lnTo>
                  <a:pt x="7" y="69"/>
                </a:lnTo>
                <a:lnTo>
                  <a:pt x="8" y="61"/>
                </a:lnTo>
                <a:lnTo>
                  <a:pt x="8" y="54"/>
                </a:lnTo>
                <a:lnTo>
                  <a:pt x="10" y="46"/>
                </a:lnTo>
                <a:lnTo>
                  <a:pt x="12" y="40"/>
                </a:lnTo>
                <a:lnTo>
                  <a:pt x="7" y="41"/>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03" name="Freeform 1108">
            <a:extLst>
              <a:ext uri="{FF2B5EF4-FFF2-40B4-BE49-F238E27FC236}">
                <a16:creationId xmlns:a16="http://schemas.microsoft.com/office/drawing/2014/main" id="{1EC579DC-DC52-2894-DAC2-6A5EBAB5523F}"/>
              </a:ext>
            </a:extLst>
          </p:cNvPr>
          <p:cNvSpPr>
            <a:spLocks noEditPoints="1"/>
          </p:cNvSpPr>
          <p:nvPr/>
        </p:nvSpPr>
        <p:spPr bwMode="auto">
          <a:xfrm>
            <a:off x="2479675" y="2403475"/>
            <a:ext cx="871538" cy="315913"/>
          </a:xfrm>
          <a:custGeom>
            <a:avLst/>
            <a:gdLst>
              <a:gd name="T0" fmla="*/ 549 w 549"/>
              <a:gd name="T1" fmla="*/ 86 h 199"/>
              <a:gd name="T2" fmla="*/ 546 w 549"/>
              <a:gd name="T3" fmla="*/ 61 h 199"/>
              <a:gd name="T4" fmla="*/ 543 w 549"/>
              <a:gd name="T5" fmla="*/ 35 h 199"/>
              <a:gd name="T6" fmla="*/ 536 w 549"/>
              <a:gd name="T7" fmla="*/ 11 h 199"/>
              <a:gd name="T8" fmla="*/ 526 w 549"/>
              <a:gd name="T9" fmla="*/ 0 h 199"/>
              <a:gd name="T10" fmla="*/ 534 w 549"/>
              <a:gd name="T11" fmla="*/ 23 h 199"/>
              <a:gd name="T12" fmla="*/ 539 w 549"/>
              <a:gd name="T13" fmla="*/ 48 h 199"/>
              <a:gd name="T14" fmla="*/ 543 w 549"/>
              <a:gd name="T15" fmla="*/ 73 h 199"/>
              <a:gd name="T16" fmla="*/ 544 w 549"/>
              <a:gd name="T17" fmla="*/ 99 h 199"/>
              <a:gd name="T18" fmla="*/ 544 w 549"/>
              <a:gd name="T19" fmla="*/ 112 h 199"/>
              <a:gd name="T20" fmla="*/ 543 w 549"/>
              <a:gd name="T21" fmla="*/ 126 h 199"/>
              <a:gd name="T22" fmla="*/ 543 w 549"/>
              <a:gd name="T23" fmla="*/ 139 h 199"/>
              <a:gd name="T24" fmla="*/ 539 w 549"/>
              <a:gd name="T25" fmla="*/ 151 h 199"/>
              <a:gd name="T26" fmla="*/ 546 w 549"/>
              <a:gd name="T27" fmla="*/ 142 h 199"/>
              <a:gd name="T28" fmla="*/ 548 w 549"/>
              <a:gd name="T29" fmla="*/ 131 h 199"/>
              <a:gd name="T30" fmla="*/ 549 w 549"/>
              <a:gd name="T31" fmla="*/ 117 h 199"/>
              <a:gd name="T32" fmla="*/ 549 w 549"/>
              <a:gd name="T33" fmla="*/ 106 h 199"/>
              <a:gd name="T34" fmla="*/ 4 w 549"/>
              <a:gd name="T35" fmla="*/ 41 h 199"/>
              <a:gd name="T36" fmla="*/ 3 w 549"/>
              <a:gd name="T37" fmla="*/ 54 h 199"/>
              <a:gd name="T38" fmla="*/ 1 w 549"/>
              <a:gd name="T39" fmla="*/ 69 h 199"/>
              <a:gd name="T40" fmla="*/ 0 w 549"/>
              <a:gd name="T41" fmla="*/ 84 h 199"/>
              <a:gd name="T42" fmla="*/ 0 w 549"/>
              <a:gd name="T43" fmla="*/ 99 h 199"/>
              <a:gd name="T44" fmla="*/ 0 w 549"/>
              <a:gd name="T45" fmla="*/ 126 h 199"/>
              <a:gd name="T46" fmla="*/ 3 w 549"/>
              <a:gd name="T47" fmla="*/ 151 h 199"/>
              <a:gd name="T48" fmla="*/ 9 w 549"/>
              <a:gd name="T49" fmla="*/ 175 h 199"/>
              <a:gd name="T50" fmla="*/ 18 w 549"/>
              <a:gd name="T51" fmla="*/ 199 h 199"/>
              <a:gd name="T52" fmla="*/ 18 w 549"/>
              <a:gd name="T53" fmla="*/ 187 h 199"/>
              <a:gd name="T54" fmla="*/ 11 w 549"/>
              <a:gd name="T55" fmla="*/ 162 h 199"/>
              <a:gd name="T56" fmla="*/ 6 w 549"/>
              <a:gd name="T57" fmla="*/ 137 h 199"/>
              <a:gd name="T58" fmla="*/ 4 w 549"/>
              <a:gd name="T59" fmla="*/ 112 h 199"/>
              <a:gd name="T60" fmla="*/ 4 w 549"/>
              <a:gd name="T61" fmla="*/ 91 h 199"/>
              <a:gd name="T62" fmla="*/ 4 w 549"/>
              <a:gd name="T63" fmla="*/ 76 h 199"/>
              <a:gd name="T64" fmla="*/ 6 w 549"/>
              <a:gd name="T65" fmla="*/ 61 h 199"/>
              <a:gd name="T66" fmla="*/ 9 w 549"/>
              <a:gd name="T67" fmla="*/ 46 h 199"/>
              <a:gd name="T68" fmla="*/ 4 w 549"/>
              <a:gd name="T69" fmla="*/ 4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9" h="199">
                <a:moveTo>
                  <a:pt x="549" y="99"/>
                </a:moveTo>
                <a:lnTo>
                  <a:pt x="549" y="86"/>
                </a:lnTo>
                <a:lnTo>
                  <a:pt x="548" y="73"/>
                </a:lnTo>
                <a:lnTo>
                  <a:pt x="546" y="61"/>
                </a:lnTo>
                <a:lnTo>
                  <a:pt x="544" y="48"/>
                </a:lnTo>
                <a:lnTo>
                  <a:pt x="543" y="35"/>
                </a:lnTo>
                <a:lnTo>
                  <a:pt x="539" y="23"/>
                </a:lnTo>
                <a:lnTo>
                  <a:pt x="536" y="11"/>
                </a:lnTo>
                <a:lnTo>
                  <a:pt x="531" y="0"/>
                </a:lnTo>
                <a:lnTo>
                  <a:pt x="526" y="0"/>
                </a:lnTo>
                <a:lnTo>
                  <a:pt x="529" y="11"/>
                </a:lnTo>
                <a:lnTo>
                  <a:pt x="534" y="23"/>
                </a:lnTo>
                <a:lnTo>
                  <a:pt x="538" y="35"/>
                </a:lnTo>
                <a:lnTo>
                  <a:pt x="539" y="48"/>
                </a:lnTo>
                <a:lnTo>
                  <a:pt x="543" y="59"/>
                </a:lnTo>
                <a:lnTo>
                  <a:pt x="543" y="73"/>
                </a:lnTo>
                <a:lnTo>
                  <a:pt x="544" y="86"/>
                </a:lnTo>
                <a:lnTo>
                  <a:pt x="544" y="99"/>
                </a:lnTo>
                <a:lnTo>
                  <a:pt x="544" y="106"/>
                </a:lnTo>
                <a:lnTo>
                  <a:pt x="544" y="112"/>
                </a:lnTo>
                <a:lnTo>
                  <a:pt x="544" y="119"/>
                </a:lnTo>
                <a:lnTo>
                  <a:pt x="543" y="126"/>
                </a:lnTo>
                <a:lnTo>
                  <a:pt x="543" y="132"/>
                </a:lnTo>
                <a:lnTo>
                  <a:pt x="543" y="139"/>
                </a:lnTo>
                <a:lnTo>
                  <a:pt x="541" y="144"/>
                </a:lnTo>
                <a:lnTo>
                  <a:pt x="539" y="151"/>
                </a:lnTo>
                <a:lnTo>
                  <a:pt x="544" y="149"/>
                </a:lnTo>
                <a:lnTo>
                  <a:pt x="546" y="142"/>
                </a:lnTo>
                <a:lnTo>
                  <a:pt x="548" y="136"/>
                </a:lnTo>
                <a:lnTo>
                  <a:pt x="548" y="131"/>
                </a:lnTo>
                <a:lnTo>
                  <a:pt x="548" y="124"/>
                </a:lnTo>
                <a:lnTo>
                  <a:pt x="549" y="117"/>
                </a:lnTo>
                <a:lnTo>
                  <a:pt x="549" y="112"/>
                </a:lnTo>
                <a:lnTo>
                  <a:pt x="549" y="106"/>
                </a:lnTo>
                <a:lnTo>
                  <a:pt x="549" y="99"/>
                </a:lnTo>
                <a:close/>
                <a:moveTo>
                  <a:pt x="4" y="41"/>
                </a:moveTo>
                <a:lnTo>
                  <a:pt x="3" y="48"/>
                </a:lnTo>
                <a:lnTo>
                  <a:pt x="3" y="54"/>
                </a:lnTo>
                <a:lnTo>
                  <a:pt x="1" y="63"/>
                </a:lnTo>
                <a:lnTo>
                  <a:pt x="1" y="69"/>
                </a:lnTo>
                <a:lnTo>
                  <a:pt x="0" y="76"/>
                </a:lnTo>
                <a:lnTo>
                  <a:pt x="0" y="84"/>
                </a:lnTo>
                <a:lnTo>
                  <a:pt x="0" y="91"/>
                </a:lnTo>
                <a:lnTo>
                  <a:pt x="0" y="99"/>
                </a:lnTo>
                <a:lnTo>
                  <a:pt x="0" y="112"/>
                </a:lnTo>
                <a:lnTo>
                  <a:pt x="0" y="126"/>
                </a:lnTo>
                <a:lnTo>
                  <a:pt x="1" y="137"/>
                </a:lnTo>
                <a:lnTo>
                  <a:pt x="3" y="151"/>
                </a:lnTo>
                <a:lnTo>
                  <a:pt x="6" y="162"/>
                </a:lnTo>
                <a:lnTo>
                  <a:pt x="9" y="175"/>
                </a:lnTo>
                <a:lnTo>
                  <a:pt x="13" y="187"/>
                </a:lnTo>
                <a:lnTo>
                  <a:pt x="18" y="199"/>
                </a:lnTo>
                <a:lnTo>
                  <a:pt x="23" y="199"/>
                </a:lnTo>
                <a:lnTo>
                  <a:pt x="18" y="187"/>
                </a:lnTo>
                <a:lnTo>
                  <a:pt x="14" y="175"/>
                </a:lnTo>
                <a:lnTo>
                  <a:pt x="11" y="162"/>
                </a:lnTo>
                <a:lnTo>
                  <a:pt x="8" y="151"/>
                </a:lnTo>
                <a:lnTo>
                  <a:pt x="6" y="137"/>
                </a:lnTo>
                <a:lnTo>
                  <a:pt x="4" y="126"/>
                </a:lnTo>
                <a:lnTo>
                  <a:pt x="4" y="112"/>
                </a:lnTo>
                <a:lnTo>
                  <a:pt x="3" y="99"/>
                </a:lnTo>
                <a:lnTo>
                  <a:pt x="4" y="91"/>
                </a:lnTo>
                <a:lnTo>
                  <a:pt x="4" y="83"/>
                </a:lnTo>
                <a:lnTo>
                  <a:pt x="4" y="76"/>
                </a:lnTo>
                <a:lnTo>
                  <a:pt x="6" y="68"/>
                </a:lnTo>
                <a:lnTo>
                  <a:pt x="6" y="61"/>
                </a:lnTo>
                <a:lnTo>
                  <a:pt x="8" y="53"/>
                </a:lnTo>
                <a:lnTo>
                  <a:pt x="9" y="46"/>
                </a:lnTo>
                <a:lnTo>
                  <a:pt x="11" y="38"/>
                </a:lnTo>
                <a:lnTo>
                  <a:pt x="4" y="41"/>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04" name="Freeform 1109">
            <a:extLst>
              <a:ext uri="{FF2B5EF4-FFF2-40B4-BE49-F238E27FC236}">
                <a16:creationId xmlns:a16="http://schemas.microsoft.com/office/drawing/2014/main" id="{03465775-92D6-1D72-A2AF-5A89BD76B08C}"/>
              </a:ext>
            </a:extLst>
          </p:cNvPr>
          <p:cNvSpPr>
            <a:spLocks noEditPoints="1"/>
          </p:cNvSpPr>
          <p:nvPr/>
        </p:nvSpPr>
        <p:spPr bwMode="auto">
          <a:xfrm>
            <a:off x="2481263" y="2403475"/>
            <a:ext cx="868363" cy="315913"/>
          </a:xfrm>
          <a:custGeom>
            <a:avLst/>
            <a:gdLst>
              <a:gd name="T0" fmla="*/ 545 w 547"/>
              <a:gd name="T1" fmla="*/ 86 h 199"/>
              <a:gd name="T2" fmla="*/ 543 w 547"/>
              <a:gd name="T3" fmla="*/ 59 h 199"/>
              <a:gd name="T4" fmla="*/ 538 w 547"/>
              <a:gd name="T5" fmla="*/ 35 h 199"/>
              <a:gd name="T6" fmla="*/ 532 w 547"/>
              <a:gd name="T7" fmla="*/ 11 h 199"/>
              <a:gd name="T8" fmla="*/ 522 w 547"/>
              <a:gd name="T9" fmla="*/ 0 h 199"/>
              <a:gd name="T10" fmla="*/ 530 w 547"/>
              <a:gd name="T11" fmla="*/ 23 h 199"/>
              <a:gd name="T12" fmla="*/ 537 w 547"/>
              <a:gd name="T13" fmla="*/ 48 h 199"/>
              <a:gd name="T14" fmla="*/ 540 w 547"/>
              <a:gd name="T15" fmla="*/ 73 h 199"/>
              <a:gd name="T16" fmla="*/ 542 w 547"/>
              <a:gd name="T17" fmla="*/ 99 h 199"/>
              <a:gd name="T18" fmla="*/ 542 w 547"/>
              <a:gd name="T19" fmla="*/ 112 h 199"/>
              <a:gd name="T20" fmla="*/ 540 w 547"/>
              <a:gd name="T21" fmla="*/ 126 h 199"/>
              <a:gd name="T22" fmla="*/ 538 w 547"/>
              <a:gd name="T23" fmla="*/ 139 h 199"/>
              <a:gd name="T24" fmla="*/ 537 w 547"/>
              <a:gd name="T25" fmla="*/ 152 h 199"/>
              <a:gd name="T26" fmla="*/ 542 w 547"/>
              <a:gd name="T27" fmla="*/ 144 h 199"/>
              <a:gd name="T28" fmla="*/ 545 w 547"/>
              <a:gd name="T29" fmla="*/ 131 h 199"/>
              <a:gd name="T30" fmla="*/ 545 w 547"/>
              <a:gd name="T31" fmla="*/ 119 h 199"/>
              <a:gd name="T32" fmla="*/ 547 w 547"/>
              <a:gd name="T33" fmla="*/ 106 h 199"/>
              <a:gd name="T34" fmla="*/ 7 w 547"/>
              <a:gd name="T35" fmla="*/ 40 h 199"/>
              <a:gd name="T36" fmla="*/ 3 w 547"/>
              <a:gd name="T37" fmla="*/ 54 h 199"/>
              <a:gd name="T38" fmla="*/ 2 w 547"/>
              <a:gd name="T39" fmla="*/ 69 h 199"/>
              <a:gd name="T40" fmla="*/ 0 w 547"/>
              <a:gd name="T41" fmla="*/ 84 h 199"/>
              <a:gd name="T42" fmla="*/ 0 w 547"/>
              <a:gd name="T43" fmla="*/ 99 h 199"/>
              <a:gd name="T44" fmla="*/ 2 w 547"/>
              <a:gd name="T45" fmla="*/ 126 h 199"/>
              <a:gd name="T46" fmla="*/ 5 w 547"/>
              <a:gd name="T47" fmla="*/ 151 h 199"/>
              <a:gd name="T48" fmla="*/ 10 w 547"/>
              <a:gd name="T49" fmla="*/ 175 h 199"/>
              <a:gd name="T50" fmla="*/ 18 w 547"/>
              <a:gd name="T51" fmla="*/ 199 h 199"/>
              <a:gd name="T52" fmla="*/ 20 w 547"/>
              <a:gd name="T53" fmla="*/ 187 h 199"/>
              <a:gd name="T54" fmla="*/ 12 w 547"/>
              <a:gd name="T55" fmla="*/ 162 h 199"/>
              <a:gd name="T56" fmla="*/ 8 w 547"/>
              <a:gd name="T57" fmla="*/ 137 h 199"/>
              <a:gd name="T58" fmla="*/ 5 w 547"/>
              <a:gd name="T59" fmla="*/ 112 h 199"/>
              <a:gd name="T60" fmla="*/ 5 w 547"/>
              <a:gd name="T61" fmla="*/ 91 h 199"/>
              <a:gd name="T62" fmla="*/ 7 w 547"/>
              <a:gd name="T63" fmla="*/ 76 h 199"/>
              <a:gd name="T64" fmla="*/ 8 w 547"/>
              <a:gd name="T65" fmla="*/ 59 h 199"/>
              <a:gd name="T66" fmla="*/ 10 w 547"/>
              <a:gd name="T67" fmla="*/ 45 h 199"/>
              <a:gd name="T68" fmla="*/ 7 w 547"/>
              <a:gd name="T69" fmla="*/ 4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7" h="199">
                <a:moveTo>
                  <a:pt x="547" y="99"/>
                </a:moveTo>
                <a:lnTo>
                  <a:pt x="545" y="86"/>
                </a:lnTo>
                <a:lnTo>
                  <a:pt x="545" y="73"/>
                </a:lnTo>
                <a:lnTo>
                  <a:pt x="543" y="59"/>
                </a:lnTo>
                <a:lnTo>
                  <a:pt x="542" y="48"/>
                </a:lnTo>
                <a:lnTo>
                  <a:pt x="538" y="35"/>
                </a:lnTo>
                <a:lnTo>
                  <a:pt x="535" y="23"/>
                </a:lnTo>
                <a:lnTo>
                  <a:pt x="532" y="11"/>
                </a:lnTo>
                <a:lnTo>
                  <a:pt x="527" y="0"/>
                </a:lnTo>
                <a:lnTo>
                  <a:pt x="522" y="0"/>
                </a:lnTo>
                <a:lnTo>
                  <a:pt x="527" y="11"/>
                </a:lnTo>
                <a:lnTo>
                  <a:pt x="530" y="23"/>
                </a:lnTo>
                <a:lnTo>
                  <a:pt x="533" y="35"/>
                </a:lnTo>
                <a:lnTo>
                  <a:pt x="537" y="48"/>
                </a:lnTo>
                <a:lnTo>
                  <a:pt x="538" y="59"/>
                </a:lnTo>
                <a:lnTo>
                  <a:pt x="540" y="73"/>
                </a:lnTo>
                <a:lnTo>
                  <a:pt x="542" y="86"/>
                </a:lnTo>
                <a:lnTo>
                  <a:pt x="542" y="99"/>
                </a:lnTo>
                <a:lnTo>
                  <a:pt x="542" y="106"/>
                </a:lnTo>
                <a:lnTo>
                  <a:pt x="542" y="112"/>
                </a:lnTo>
                <a:lnTo>
                  <a:pt x="540" y="119"/>
                </a:lnTo>
                <a:lnTo>
                  <a:pt x="540" y="126"/>
                </a:lnTo>
                <a:lnTo>
                  <a:pt x="540" y="132"/>
                </a:lnTo>
                <a:lnTo>
                  <a:pt x="538" y="139"/>
                </a:lnTo>
                <a:lnTo>
                  <a:pt x="537" y="146"/>
                </a:lnTo>
                <a:lnTo>
                  <a:pt x="537" y="152"/>
                </a:lnTo>
                <a:lnTo>
                  <a:pt x="542" y="151"/>
                </a:lnTo>
                <a:lnTo>
                  <a:pt x="542" y="144"/>
                </a:lnTo>
                <a:lnTo>
                  <a:pt x="543" y="137"/>
                </a:lnTo>
                <a:lnTo>
                  <a:pt x="545" y="131"/>
                </a:lnTo>
                <a:lnTo>
                  <a:pt x="545" y="124"/>
                </a:lnTo>
                <a:lnTo>
                  <a:pt x="545" y="119"/>
                </a:lnTo>
                <a:lnTo>
                  <a:pt x="545" y="112"/>
                </a:lnTo>
                <a:lnTo>
                  <a:pt x="547" y="106"/>
                </a:lnTo>
                <a:lnTo>
                  <a:pt x="547" y="99"/>
                </a:lnTo>
                <a:close/>
                <a:moveTo>
                  <a:pt x="7" y="40"/>
                </a:moveTo>
                <a:lnTo>
                  <a:pt x="5" y="46"/>
                </a:lnTo>
                <a:lnTo>
                  <a:pt x="3" y="54"/>
                </a:lnTo>
                <a:lnTo>
                  <a:pt x="3" y="61"/>
                </a:lnTo>
                <a:lnTo>
                  <a:pt x="2" y="69"/>
                </a:lnTo>
                <a:lnTo>
                  <a:pt x="2" y="76"/>
                </a:lnTo>
                <a:lnTo>
                  <a:pt x="0" y="84"/>
                </a:lnTo>
                <a:lnTo>
                  <a:pt x="0" y="91"/>
                </a:lnTo>
                <a:lnTo>
                  <a:pt x="0" y="99"/>
                </a:lnTo>
                <a:lnTo>
                  <a:pt x="0" y="112"/>
                </a:lnTo>
                <a:lnTo>
                  <a:pt x="2" y="126"/>
                </a:lnTo>
                <a:lnTo>
                  <a:pt x="3" y="137"/>
                </a:lnTo>
                <a:lnTo>
                  <a:pt x="5" y="151"/>
                </a:lnTo>
                <a:lnTo>
                  <a:pt x="8" y="162"/>
                </a:lnTo>
                <a:lnTo>
                  <a:pt x="10" y="175"/>
                </a:lnTo>
                <a:lnTo>
                  <a:pt x="15" y="187"/>
                </a:lnTo>
                <a:lnTo>
                  <a:pt x="18" y="199"/>
                </a:lnTo>
                <a:lnTo>
                  <a:pt x="23" y="199"/>
                </a:lnTo>
                <a:lnTo>
                  <a:pt x="20" y="187"/>
                </a:lnTo>
                <a:lnTo>
                  <a:pt x="15" y="175"/>
                </a:lnTo>
                <a:lnTo>
                  <a:pt x="12" y="162"/>
                </a:lnTo>
                <a:lnTo>
                  <a:pt x="10" y="151"/>
                </a:lnTo>
                <a:lnTo>
                  <a:pt x="8" y="137"/>
                </a:lnTo>
                <a:lnTo>
                  <a:pt x="7" y="126"/>
                </a:lnTo>
                <a:lnTo>
                  <a:pt x="5" y="112"/>
                </a:lnTo>
                <a:lnTo>
                  <a:pt x="5" y="99"/>
                </a:lnTo>
                <a:lnTo>
                  <a:pt x="5" y="91"/>
                </a:lnTo>
                <a:lnTo>
                  <a:pt x="5" y="83"/>
                </a:lnTo>
                <a:lnTo>
                  <a:pt x="7" y="76"/>
                </a:lnTo>
                <a:lnTo>
                  <a:pt x="7" y="68"/>
                </a:lnTo>
                <a:lnTo>
                  <a:pt x="8" y="59"/>
                </a:lnTo>
                <a:lnTo>
                  <a:pt x="8" y="51"/>
                </a:lnTo>
                <a:lnTo>
                  <a:pt x="10" y="45"/>
                </a:lnTo>
                <a:lnTo>
                  <a:pt x="12" y="36"/>
                </a:lnTo>
                <a:lnTo>
                  <a:pt x="7" y="4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05" name="Freeform 1110">
            <a:extLst>
              <a:ext uri="{FF2B5EF4-FFF2-40B4-BE49-F238E27FC236}">
                <a16:creationId xmlns:a16="http://schemas.microsoft.com/office/drawing/2014/main" id="{42BCE75B-9FD4-4C79-E1C9-6D9DD632E0C3}"/>
              </a:ext>
            </a:extLst>
          </p:cNvPr>
          <p:cNvSpPr>
            <a:spLocks noEditPoints="1"/>
          </p:cNvSpPr>
          <p:nvPr/>
        </p:nvSpPr>
        <p:spPr bwMode="auto">
          <a:xfrm>
            <a:off x="2484438" y="2403475"/>
            <a:ext cx="858838" cy="315913"/>
          </a:xfrm>
          <a:custGeom>
            <a:avLst/>
            <a:gdLst>
              <a:gd name="T0" fmla="*/ 541 w 541"/>
              <a:gd name="T1" fmla="*/ 86 h 199"/>
              <a:gd name="T2" fmla="*/ 540 w 541"/>
              <a:gd name="T3" fmla="*/ 59 h 199"/>
              <a:gd name="T4" fmla="*/ 535 w 541"/>
              <a:gd name="T5" fmla="*/ 35 h 199"/>
              <a:gd name="T6" fmla="*/ 526 w 541"/>
              <a:gd name="T7" fmla="*/ 11 h 199"/>
              <a:gd name="T8" fmla="*/ 518 w 541"/>
              <a:gd name="T9" fmla="*/ 0 h 199"/>
              <a:gd name="T10" fmla="*/ 526 w 541"/>
              <a:gd name="T11" fmla="*/ 23 h 199"/>
              <a:gd name="T12" fmla="*/ 531 w 541"/>
              <a:gd name="T13" fmla="*/ 48 h 199"/>
              <a:gd name="T14" fmla="*/ 536 w 541"/>
              <a:gd name="T15" fmla="*/ 73 h 199"/>
              <a:gd name="T16" fmla="*/ 536 w 541"/>
              <a:gd name="T17" fmla="*/ 99 h 199"/>
              <a:gd name="T18" fmla="*/ 536 w 541"/>
              <a:gd name="T19" fmla="*/ 112 h 199"/>
              <a:gd name="T20" fmla="*/ 535 w 541"/>
              <a:gd name="T21" fmla="*/ 127 h 199"/>
              <a:gd name="T22" fmla="*/ 533 w 541"/>
              <a:gd name="T23" fmla="*/ 141 h 199"/>
              <a:gd name="T24" fmla="*/ 531 w 541"/>
              <a:gd name="T25" fmla="*/ 154 h 199"/>
              <a:gd name="T26" fmla="*/ 538 w 541"/>
              <a:gd name="T27" fmla="*/ 144 h 199"/>
              <a:gd name="T28" fmla="*/ 540 w 541"/>
              <a:gd name="T29" fmla="*/ 132 h 199"/>
              <a:gd name="T30" fmla="*/ 541 w 541"/>
              <a:gd name="T31" fmla="*/ 119 h 199"/>
              <a:gd name="T32" fmla="*/ 541 w 541"/>
              <a:gd name="T33" fmla="*/ 106 h 199"/>
              <a:gd name="T34" fmla="*/ 8 w 541"/>
              <a:gd name="T35" fmla="*/ 38 h 199"/>
              <a:gd name="T36" fmla="*/ 5 w 541"/>
              <a:gd name="T37" fmla="*/ 53 h 199"/>
              <a:gd name="T38" fmla="*/ 3 w 541"/>
              <a:gd name="T39" fmla="*/ 68 h 199"/>
              <a:gd name="T40" fmla="*/ 1 w 541"/>
              <a:gd name="T41" fmla="*/ 83 h 199"/>
              <a:gd name="T42" fmla="*/ 0 w 541"/>
              <a:gd name="T43" fmla="*/ 99 h 199"/>
              <a:gd name="T44" fmla="*/ 1 w 541"/>
              <a:gd name="T45" fmla="*/ 126 h 199"/>
              <a:gd name="T46" fmla="*/ 5 w 541"/>
              <a:gd name="T47" fmla="*/ 151 h 199"/>
              <a:gd name="T48" fmla="*/ 11 w 541"/>
              <a:gd name="T49" fmla="*/ 175 h 199"/>
              <a:gd name="T50" fmla="*/ 20 w 541"/>
              <a:gd name="T51" fmla="*/ 199 h 199"/>
              <a:gd name="T52" fmla="*/ 20 w 541"/>
              <a:gd name="T53" fmla="*/ 187 h 199"/>
              <a:gd name="T54" fmla="*/ 13 w 541"/>
              <a:gd name="T55" fmla="*/ 162 h 199"/>
              <a:gd name="T56" fmla="*/ 8 w 541"/>
              <a:gd name="T57" fmla="*/ 137 h 199"/>
              <a:gd name="T58" fmla="*/ 6 w 541"/>
              <a:gd name="T59" fmla="*/ 112 h 199"/>
              <a:gd name="T60" fmla="*/ 5 w 541"/>
              <a:gd name="T61" fmla="*/ 91 h 199"/>
              <a:gd name="T62" fmla="*/ 6 w 541"/>
              <a:gd name="T63" fmla="*/ 74 h 199"/>
              <a:gd name="T64" fmla="*/ 8 w 541"/>
              <a:gd name="T65" fmla="*/ 59 h 199"/>
              <a:gd name="T66" fmla="*/ 11 w 541"/>
              <a:gd name="T67" fmla="*/ 43 h 199"/>
              <a:gd name="T68" fmla="*/ 8 w 541"/>
              <a:gd name="T69" fmla="*/ 3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1" h="199">
                <a:moveTo>
                  <a:pt x="541" y="99"/>
                </a:moveTo>
                <a:lnTo>
                  <a:pt x="541" y="86"/>
                </a:lnTo>
                <a:lnTo>
                  <a:pt x="540" y="73"/>
                </a:lnTo>
                <a:lnTo>
                  <a:pt x="540" y="59"/>
                </a:lnTo>
                <a:lnTo>
                  <a:pt x="536" y="48"/>
                </a:lnTo>
                <a:lnTo>
                  <a:pt x="535" y="35"/>
                </a:lnTo>
                <a:lnTo>
                  <a:pt x="531" y="23"/>
                </a:lnTo>
                <a:lnTo>
                  <a:pt x="526" y="11"/>
                </a:lnTo>
                <a:lnTo>
                  <a:pt x="523" y="0"/>
                </a:lnTo>
                <a:lnTo>
                  <a:pt x="518" y="0"/>
                </a:lnTo>
                <a:lnTo>
                  <a:pt x="521" y="11"/>
                </a:lnTo>
                <a:lnTo>
                  <a:pt x="526" y="23"/>
                </a:lnTo>
                <a:lnTo>
                  <a:pt x="530" y="35"/>
                </a:lnTo>
                <a:lnTo>
                  <a:pt x="531" y="48"/>
                </a:lnTo>
                <a:lnTo>
                  <a:pt x="535" y="59"/>
                </a:lnTo>
                <a:lnTo>
                  <a:pt x="536" y="73"/>
                </a:lnTo>
                <a:lnTo>
                  <a:pt x="536" y="86"/>
                </a:lnTo>
                <a:lnTo>
                  <a:pt x="536" y="99"/>
                </a:lnTo>
                <a:lnTo>
                  <a:pt x="536" y="106"/>
                </a:lnTo>
                <a:lnTo>
                  <a:pt x="536" y="112"/>
                </a:lnTo>
                <a:lnTo>
                  <a:pt x="536" y="119"/>
                </a:lnTo>
                <a:lnTo>
                  <a:pt x="535" y="127"/>
                </a:lnTo>
                <a:lnTo>
                  <a:pt x="535" y="134"/>
                </a:lnTo>
                <a:lnTo>
                  <a:pt x="533" y="141"/>
                </a:lnTo>
                <a:lnTo>
                  <a:pt x="533" y="147"/>
                </a:lnTo>
                <a:lnTo>
                  <a:pt x="531" y="154"/>
                </a:lnTo>
                <a:lnTo>
                  <a:pt x="536" y="151"/>
                </a:lnTo>
                <a:lnTo>
                  <a:pt x="538" y="144"/>
                </a:lnTo>
                <a:lnTo>
                  <a:pt x="540" y="139"/>
                </a:lnTo>
                <a:lnTo>
                  <a:pt x="540" y="132"/>
                </a:lnTo>
                <a:lnTo>
                  <a:pt x="540" y="126"/>
                </a:lnTo>
                <a:lnTo>
                  <a:pt x="541" y="119"/>
                </a:lnTo>
                <a:lnTo>
                  <a:pt x="541" y="112"/>
                </a:lnTo>
                <a:lnTo>
                  <a:pt x="541" y="106"/>
                </a:lnTo>
                <a:lnTo>
                  <a:pt x="541" y="99"/>
                </a:lnTo>
                <a:close/>
                <a:moveTo>
                  <a:pt x="8" y="38"/>
                </a:moveTo>
                <a:lnTo>
                  <a:pt x="6" y="46"/>
                </a:lnTo>
                <a:lnTo>
                  <a:pt x="5" y="53"/>
                </a:lnTo>
                <a:lnTo>
                  <a:pt x="3" y="61"/>
                </a:lnTo>
                <a:lnTo>
                  <a:pt x="3" y="68"/>
                </a:lnTo>
                <a:lnTo>
                  <a:pt x="1" y="76"/>
                </a:lnTo>
                <a:lnTo>
                  <a:pt x="1" y="83"/>
                </a:lnTo>
                <a:lnTo>
                  <a:pt x="1" y="91"/>
                </a:lnTo>
                <a:lnTo>
                  <a:pt x="0" y="99"/>
                </a:lnTo>
                <a:lnTo>
                  <a:pt x="1" y="112"/>
                </a:lnTo>
                <a:lnTo>
                  <a:pt x="1" y="126"/>
                </a:lnTo>
                <a:lnTo>
                  <a:pt x="3" y="137"/>
                </a:lnTo>
                <a:lnTo>
                  <a:pt x="5" y="151"/>
                </a:lnTo>
                <a:lnTo>
                  <a:pt x="8" y="162"/>
                </a:lnTo>
                <a:lnTo>
                  <a:pt x="11" y="175"/>
                </a:lnTo>
                <a:lnTo>
                  <a:pt x="15" y="187"/>
                </a:lnTo>
                <a:lnTo>
                  <a:pt x="20" y="199"/>
                </a:lnTo>
                <a:lnTo>
                  <a:pt x="25" y="199"/>
                </a:lnTo>
                <a:lnTo>
                  <a:pt x="20" y="187"/>
                </a:lnTo>
                <a:lnTo>
                  <a:pt x="16" y="175"/>
                </a:lnTo>
                <a:lnTo>
                  <a:pt x="13" y="162"/>
                </a:lnTo>
                <a:lnTo>
                  <a:pt x="10" y="151"/>
                </a:lnTo>
                <a:lnTo>
                  <a:pt x="8" y="137"/>
                </a:lnTo>
                <a:lnTo>
                  <a:pt x="6" y="126"/>
                </a:lnTo>
                <a:lnTo>
                  <a:pt x="6" y="112"/>
                </a:lnTo>
                <a:lnTo>
                  <a:pt x="5" y="99"/>
                </a:lnTo>
                <a:lnTo>
                  <a:pt x="5" y="91"/>
                </a:lnTo>
                <a:lnTo>
                  <a:pt x="6" y="83"/>
                </a:lnTo>
                <a:lnTo>
                  <a:pt x="6" y="74"/>
                </a:lnTo>
                <a:lnTo>
                  <a:pt x="8" y="66"/>
                </a:lnTo>
                <a:lnTo>
                  <a:pt x="8" y="59"/>
                </a:lnTo>
                <a:lnTo>
                  <a:pt x="10" y="51"/>
                </a:lnTo>
                <a:lnTo>
                  <a:pt x="11" y="43"/>
                </a:lnTo>
                <a:lnTo>
                  <a:pt x="13" y="36"/>
                </a:lnTo>
                <a:lnTo>
                  <a:pt x="8" y="38"/>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06" name="Freeform 1111">
            <a:extLst>
              <a:ext uri="{FF2B5EF4-FFF2-40B4-BE49-F238E27FC236}">
                <a16:creationId xmlns:a16="http://schemas.microsoft.com/office/drawing/2014/main" id="{F1BD71BB-499F-4A3E-6F76-9ADD635CC81C}"/>
              </a:ext>
            </a:extLst>
          </p:cNvPr>
          <p:cNvSpPr>
            <a:spLocks noEditPoints="1"/>
          </p:cNvSpPr>
          <p:nvPr/>
        </p:nvSpPr>
        <p:spPr bwMode="auto">
          <a:xfrm>
            <a:off x="2489200" y="2403475"/>
            <a:ext cx="852488" cy="315913"/>
          </a:xfrm>
          <a:custGeom>
            <a:avLst/>
            <a:gdLst>
              <a:gd name="T0" fmla="*/ 537 w 537"/>
              <a:gd name="T1" fmla="*/ 86 h 199"/>
              <a:gd name="T2" fmla="*/ 533 w 537"/>
              <a:gd name="T3" fmla="*/ 59 h 199"/>
              <a:gd name="T4" fmla="*/ 528 w 537"/>
              <a:gd name="T5" fmla="*/ 35 h 199"/>
              <a:gd name="T6" fmla="*/ 522 w 537"/>
              <a:gd name="T7" fmla="*/ 11 h 199"/>
              <a:gd name="T8" fmla="*/ 512 w 537"/>
              <a:gd name="T9" fmla="*/ 0 h 199"/>
              <a:gd name="T10" fmla="*/ 520 w 537"/>
              <a:gd name="T11" fmla="*/ 23 h 199"/>
              <a:gd name="T12" fmla="*/ 527 w 537"/>
              <a:gd name="T13" fmla="*/ 48 h 199"/>
              <a:gd name="T14" fmla="*/ 530 w 537"/>
              <a:gd name="T15" fmla="*/ 73 h 199"/>
              <a:gd name="T16" fmla="*/ 532 w 537"/>
              <a:gd name="T17" fmla="*/ 99 h 199"/>
              <a:gd name="T18" fmla="*/ 532 w 537"/>
              <a:gd name="T19" fmla="*/ 112 h 199"/>
              <a:gd name="T20" fmla="*/ 530 w 537"/>
              <a:gd name="T21" fmla="*/ 127 h 199"/>
              <a:gd name="T22" fmla="*/ 528 w 537"/>
              <a:gd name="T23" fmla="*/ 141 h 199"/>
              <a:gd name="T24" fmla="*/ 525 w 537"/>
              <a:gd name="T25" fmla="*/ 154 h 199"/>
              <a:gd name="T26" fmla="*/ 532 w 537"/>
              <a:gd name="T27" fmla="*/ 146 h 199"/>
              <a:gd name="T28" fmla="*/ 535 w 537"/>
              <a:gd name="T29" fmla="*/ 132 h 199"/>
              <a:gd name="T30" fmla="*/ 535 w 537"/>
              <a:gd name="T31" fmla="*/ 119 h 199"/>
              <a:gd name="T32" fmla="*/ 537 w 537"/>
              <a:gd name="T33" fmla="*/ 106 h 199"/>
              <a:gd name="T34" fmla="*/ 7 w 537"/>
              <a:gd name="T35" fmla="*/ 36 h 199"/>
              <a:gd name="T36" fmla="*/ 3 w 537"/>
              <a:gd name="T37" fmla="*/ 51 h 199"/>
              <a:gd name="T38" fmla="*/ 2 w 537"/>
              <a:gd name="T39" fmla="*/ 68 h 199"/>
              <a:gd name="T40" fmla="*/ 0 w 537"/>
              <a:gd name="T41" fmla="*/ 83 h 199"/>
              <a:gd name="T42" fmla="*/ 0 w 537"/>
              <a:gd name="T43" fmla="*/ 99 h 199"/>
              <a:gd name="T44" fmla="*/ 2 w 537"/>
              <a:gd name="T45" fmla="*/ 126 h 199"/>
              <a:gd name="T46" fmla="*/ 5 w 537"/>
              <a:gd name="T47" fmla="*/ 151 h 199"/>
              <a:gd name="T48" fmla="*/ 10 w 537"/>
              <a:gd name="T49" fmla="*/ 175 h 199"/>
              <a:gd name="T50" fmla="*/ 18 w 537"/>
              <a:gd name="T51" fmla="*/ 199 h 199"/>
              <a:gd name="T52" fmla="*/ 20 w 537"/>
              <a:gd name="T53" fmla="*/ 187 h 199"/>
              <a:gd name="T54" fmla="*/ 12 w 537"/>
              <a:gd name="T55" fmla="*/ 162 h 199"/>
              <a:gd name="T56" fmla="*/ 8 w 537"/>
              <a:gd name="T57" fmla="*/ 137 h 199"/>
              <a:gd name="T58" fmla="*/ 5 w 537"/>
              <a:gd name="T59" fmla="*/ 112 h 199"/>
              <a:gd name="T60" fmla="*/ 5 w 537"/>
              <a:gd name="T61" fmla="*/ 91 h 199"/>
              <a:gd name="T62" fmla="*/ 5 w 537"/>
              <a:gd name="T63" fmla="*/ 74 h 199"/>
              <a:gd name="T64" fmla="*/ 8 w 537"/>
              <a:gd name="T65" fmla="*/ 58 h 199"/>
              <a:gd name="T66" fmla="*/ 12 w 537"/>
              <a:gd name="T67" fmla="*/ 41 h 199"/>
              <a:gd name="T68" fmla="*/ 7 w 537"/>
              <a:gd name="T69" fmla="*/ 3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7" h="199">
                <a:moveTo>
                  <a:pt x="537" y="99"/>
                </a:moveTo>
                <a:lnTo>
                  <a:pt x="537" y="86"/>
                </a:lnTo>
                <a:lnTo>
                  <a:pt x="535" y="73"/>
                </a:lnTo>
                <a:lnTo>
                  <a:pt x="533" y="59"/>
                </a:lnTo>
                <a:lnTo>
                  <a:pt x="532" y="48"/>
                </a:lnTo>
                <a:lnTo>
                  <a:pt x="528" y="35"/>
                </a:lnTo>
                <a:lnTo>
                  <a:pt x="525" y="23"/>
                </a:lnTo>
                <a:lnTo>
                  <a:pt x="522" y="11"/>
                </a:lnTo>
                <a:lnTo>
                  <a:pt x="517" y="0"/>
                </a:lnTo>
                <a:lnTo>
                  <a:pt x="512" y="0"/>
                </a:lnTo>
                <a:lnTo>
                  <a:pt x="517" y="11"/>
                </a:lnTo>
                <a:lnTo>
                  <a:pt x="520" y="23"/>
                </a:lnTo>
                <a:lnTo>
                  <a:pt x="523" y="35"/>
                </a:lnTo>
                <a:lnTo>
                  <a:pt x="527" y="48"/>
                </a:lnTo>
                <a:lnTo>
                  <a:pt x="528" y="59"/>
                </a:lnTo>
                <a:lnTo>
                  <a:pt x="530" y="73"/>
                </a:lnTo>
                <a:lnTo>
                  <a:pt x="532" y="86"/>
                </a:lnTo>
                <a:lnTo>
                  <a:pt x="532" y="99"/>
                </a:lnTo>
                <a:lnTo>
                  <a:pt x="532" y="106"/>
                </a:lnTo>
                <a:lnTo>
                  <a:pt x="532" y="112"/>
                </a:lnTo>
                <a:lnTo>
                  <a:pt x="530" y="121"/>
                </a:lnTo>
                <a:lnTo>
                  <a:pt x="530" y="127"/>
                </a:lnTo>
                <a:lnTo>
                  <a:pt x="528" y="134"/>
                </a:lnTo>
                <a:lnTo>
                  <a:pt x="528" y="141"/>
                </a:lnTo>
                <a:lnTo>
                  <a:pt x="527" y="147"/>
                </a:lnTo>
                <a:lnTo>
                  <a:pt x="525" y="154"/>
                </a:lnTo>
                <a:lnTo>
                  <a:pt x="532" y="152"/>
                </a:lnTo>
                <a:lnTo>
                  <a:pt x="532" y="146"/>
                </a:lnTo>
                <a:lnTo>
                  <a:pt x="533" y="139"/>
                </a:lnTo>
                <a:lnTo>
                  <a:pt x="535" y="132"/>
                </a:lnTo>
                <a:lnTo>
                  <a:pt x="535" y="126"/>
                </a:lnTo>
                <a:lnTo>
                  <a:pt x="535" y="119"/>
                </a:lnTo>
                <a:lnTo>
                  <a:pt x="537" y="112"/>
                </a:lnTo>
                <a:lnTo>
                  <a:pt x="537" y="106"/>
                </a:lnTo>
                <a:lnTo>
                  <a:pt x="537" y="99"/>
                </a:lnTo>
                <a:close/>
                <a:moveTo>
                  <a:pt x="7" y="36"/>
                </a:moveTo>
                <a:lnTo>
                  <a:pt x="5" y="45"/>
                </a:lnTo>
                <a:lnTo>
                  <a:pt x="3" y="51"/>
                </a:lnTo>
                <a:lnTo>
                  <a:pt x="3" y="59"/>
                </a:lnTo>
                <a:lnTo>
                  <a:pt x="2" y="68"/>
                </a:lnTo>
                <a:lnTo>
                  <a:pt x="2" y="76"/>
                </a:lnTo>
                <a:lnTo>
                  <a:pt x="0" y="83"/>
                </a:lnTo>
                <a:lnTo>
                  <a:pt x="0" y="91"/>
                </a:lnTo>
                <a:lnTo>
                  <a:pt x="0" y="99"/>
                </a:lnTo>
                <a:lnTo>
                  <a:pt x="0" y="112"/>
                </a:lnTo>
                <a:lnTo>
                  <a:pt x="2" y="126"/>
                </a:lnTo>
                <a:lnTo>
                  <a:pt x="3" y="137"/>
                </a:lnTo>
                <a:lnTo>
                  <a:pt x="5" y="151"/>
                </a:lnTo>
                <a:lnTo>
                  <a:pt x="7" y="162"/>
                </a:lnTo>
                <a:lnTo>
                  <a:pt x="10" y="175"/>
                </a:lnTo>
                <a:lnTo>
                  <a:pt x="15" y="187"/>
                </a:lnTo>
                <a:lnTo>
                  <a:pt x="18" y="199"/>
                </a:lnTo>
                <a:lnTo>
                  <a:pt x="25" y="199"/>
                </a:lnTo>
                <a:lnTo>
                  <a:pt x="20" y="187"/>
                </a:lnTo>
                <a:lnTo>
                  <a:pt x="15" y="175"/>
                </a:lnTo>
                <a:lnTo>
                  <a:pt x="12" y="162"/>
                </a:lnTo>
                <a:lnTo>
                  <a:pt x="10" y="151"/>
                </a:lnTo>
                <a:lnTo>
                  <a:pt x="8" y="137"/>
                </a:lnTo>
                <a:lnTo>
                  <a:pt x="7" y="126"/>
                </a:lnTo>
                <a:lnTo>
                  <a:pt x="5" y="112"/>
                </a:lnTo>
                <a:lnTo>
                  <a:pt x="5" y="99"/>
                </a:lnTo>
                <a:lnTo>
                  <a:pt x="5" y="91"/>
                </a:lnTo>
                <a:lnTo>
                  <a:pt x="5" y="83"/>
                </a:lnTo>
                <a:lnTo>
                  <a:pt x="5" y="74"/>
                </a:lnTo>
                <a:lnTo>
                  <a:pt x="7" y="66"/>
                </a:lnTo>
                <a:lnTo>
                  <a:pt x="8" y="58"/>
                </a:lnTo>
                <a:lnTo>
                  <a:pt x="10" y="50"/>
                </a:lnTo>
                <a:lnTo>
                  <a:pt x="12" y="41"/>
                </a:lnTo>
                <a:lnTo>
                  <a:pt x="13" y="35"/>
                </a:lnTo>
                <a:lnTo>
                  <a:pt x="7" y="36"/>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07" name="Freeform 1112">
            <a:extLst>
              <a:ext uri="{FF2B5EF4-FFF2-40B4-BE49-F238E27FC236}">
                <a16:creationId xmlns:a16="http://schemas.microsoft.com/office/drawing/2014/main" id="{46913851-ADE2-65F7-E67A-F93CEE00A4AF}"/>
              </a:ext>
            </a:extLst>
          </p:cNvPr>
          <p:cNvSpPr>
            <a:spLocks noEditPoints="1"/>
          </p:cNvSpPr>
          <p:nvPr/>
        </p:nvSpPr>
        <p:spPr bwMode="auto">
          <a:xfrm>
            <a:off x="2492375" y="2403475"/>
            <a:ext cx="842963" cy="315913"/>
          </a:xfrm>
          <a:custGeom>
            <a:avLst/>
            <a:gdLst>
              <a:gd name="T0" fmla="*/ 531 w 531"/>
              <a:gd name="T1" fmla="*/ 86 h 199"/>
              <a:gd name="T2" fmla="*/ 530 w 531"/>
              <a:gd name="T3" fmla="*/ 59 h 199"/>
              <a:gd name="T4" fmla="*/ 525 w 531"/>
              <a:gd name="T5" fmla="*/ 35 h 199"/>
              <a:gd name="T6" fmla="*/ 516 w 531"/>
              <a:gd name="T7" fmla="*/ 11 h 199"/>
              <a:gd name="T8" fmla="*/ 508 w 531"/>
              <a:gd name="T9" fmla="*/ 0 h 199"/>
              <a:gd name="T10" fmla="*/ 516 w 531"/>
              <a:gd name="T11" fmla="*/ 23 h 199"/>
              <a:gd name="T12" fmla="*/ 521 w 531"/>
              <a:gd name="T13" fmla="*/ 48 h 199"/>
              <a:gd name="T14" fmla="*/ 526 w 531"/>
              <a:gd name="T15" fmla="*/ 73 h 199"/>
              <a:gd name="T16" fmla="*/ 526 w 531"/>
              <a:gd name="T17" fmla="*/ 99 h 199"/>
              <a:gd name="T18" fmla="*/ 526 w 531"/>
              <a:gd name="T19" fmla="*/ 114 h 199"/>
              <a:gd name="T20" fmla="*/ 526 w 531"/>
              <a:gd name="T21" fmla="*/ 127 h 199"/>
              <a:gd name="T22" fmla="*/ 523 w 531"/>
              <a:gd name="T23" fmla="*/ 142 h 199"/>
              <a:gd name="T24" fmla="*/ 521 w 531"/>
              <a:gd name="T25" fmla="*/ 155 h 199"/>
              <a:gd name="T26" fmla="*/ 528 w 531"/>
              <a:gd name="T27" fmla="*/ 147 h 199"/>
              <a:gd name="T28" fmla="*/ 530 w 531"/>
              <a:gd name="T29" fmla="*/ 134 h 199"/>
              <a:gd name="T30" fmla="*/ 531 w 531"/>
              <a:gd name="T31" fmla="*/ 119 h 199"/>
              <a:gd name="T32" fmla="*/ 531 w 531"/>
              <a:gd name="T33" fmla="*/ 106 h 199"/>
              <a:gd name="T34" fmla="*/ 8 w 531"/>
              <a:gd name="T35" fmla="*/ 36 h 199"/>
              <a:gd name="T36" fmla="*/ 5 w 531"/>
              <a:gd name="T37" fmla="*/ 51 h 199"/>
              <a:gd name="T38" fmla="*/ 3 w 531"/>
              <a:gd name="T39" fmla="*/ 66 h 199"/>
              <a:gd name="T40" fmla="*/ 1 w 531"/>
              <a:gd name="T41" fmla="*/ 83 h 199"/>
              <a:gd name="T42" fmla="*/ 0 w 531"/>
              <a:gd name="T43" fmla="*/ 99 h 199"/>
              <a:gd name="T44" fmla="*/ 1 w 531"/>
              <a:gd name="T45" fmla="*/ 126 h 199"/>
              <a:gd name="T46" fmla="*/ 5 w 531"/>
              <a:gd name="T47" fmla="*/ 151 h 199"/>
              <a:gd name="T48" fmla="*/ 11 w 531"/>
              <a:gd name="T49" fmla="*/ 175 h 199"/>
              <a:gd name="T50" fmla="*/ 20 w 531"/>
              <a:gd name="T51" fmla="*/ 199 h 199"/>
              <a:gd name="T52" fmla="*/ 20 w 531"/>
              <a:gd name="T53" fmla="*/ 187 h 199"/>
              <a:gd name="T54" fmla="*/ 13 w 531"/>
              <a:gd name="T55" fmla="*/ 162 h 199"/>
              <a:gd name="T56" fmla="*/ 8 w 531"/>
              <a:gd name="T57" fmla="*/ 137 h 199"/>
              <a:gd name="T58" fmla="*/ 5 w 531"/>
              <a:gd name="T59" fmla="*/ 112 h 199"/>
              <a:gd name="T60" fmla="*/ 5 w 531"/>
              <a:gd name="T61" fmla="*/ 91 h 199"/>
              <a:gd name="T62" fmla="*/ 6 w 531"/>
              <a:gd name="T63" fmla="*/ 74 h 199"/>
              <a:gd name="T64" fmla="*/ 8 w 531"/>
              <a:gd name="T65" fmla="*/ 58 h 199"/>
              <a:gd name="T66" fmla="*/ 11 w 531"/>
              <a:gd name="T67" fmla="*/ 41 h 199"/>
              <a:gd name="T68" fmla="*/ 8 w 531"/>
              <a:gd name="T69" fmla="*/ 3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1" h="199">
                <a:moveTo>
                  <a:pt x="531" y="99"/>
                </a:moveTo>
                <a:lnTo>
                  <a:pt x="531" y="86"/>
                </a:lnTo>
                <a:lnTo>
                  <a:pt x="531" y="73"/>
                </a:lnTo>
                <a:lnTo>
                  <a:pt x="530" y="59"/>
                </a:lnTo>
                <a:lnTo>
                  <a:pt x="526" y="48"/>
                </a:lnTo>
                <a:lnTo>
                  <a:pt x="525" y="35"/>
                </a:lnTo>
                <a:lnTo>
                  <a:pt x="521" y="23"/>
                </a:lnTo>
                <a:lnTo>
                  <a:pt x="516" y="11"/>
                </a:lnTo>
                <a:lnTo>
                  <a:pt x="513" y="0"/>
                </a:lnTo>
                <a:lnTo>
                  <a:pt x="508" y="0"/>
                </a:lnTo>
                <a:lnTo>
                  <a:pt x="512" y="11"/>
                </a:lnTo>
                <a:lnTo>
                  <a:pt x="516" y="23"/>
                </a:lnTo>
                <a:lnTo>
                  <a:pt x="520" y="35"/>
                </a:lnTo>
                <a:lnTo>
                  <a:pt x="521" y="48"/>
                </a:lnTo>
                <a:lnTo>
                  <a:pt x="525" y="59"/>
                </a:lnTo>
                <a:lnTo>
                  <a:pt x="526" y="73"/>
                </a:lnTo>
                <a:lnTo>
                  <a:pt x="526" y="86"/>
                </a:lnTo>
                <a:lnTo>
                  <a:pt x="526" y="99"/>
                </a:lnTo>
                <a:lnTo>
                  <a:pt x="526" y="106"/>
                </a:lnTo>
                <a:lnTo>
                  <a:pt x="526" y="114"/>
                </a:lnTo>
                <a:lnTo>
                  <a:pt x="526" y="121"/>
                </a:lnTo>
                <a:lnTo>
                  <a:pt x="526" y="127"/>
                </a:lnTo>
                <a:lnTo>
                  <a:pt x="525" y="136"/>
                </a:lnTo>
                <a:lnTo>
                  <a:pt x="523" y="142"/>
                </a:lnTo>
                <a:lnTo>
                  <a:pt x="523" y="149"/>
                </a:lnTo>
                <a:lnTo>
                  <a:pt x="521" y="155"/>
                </a:lnTo>
                <a:lnTo>
                  <a:pt x="526" y="154"/>
                </a:lnTo>
                <a:lnTo>
                  <a:pt x="528" y="147"/>
                </a:lnTo>
                <a:lnTo>
                  <a:pt x="528" y="141"/>
                </a:lnTo>
                <a:lnTo>
                  <a:pt x="530" y="134"/>
                </a:lnTo>
                <a:lnTo>
                  <a:pt x="530" y="127"/>
                </a:lnTo>
                <a:lnTo>
                  <a:pt x="531" y="119"/>
                </a:lnTo>
                <a:lnTo>
                  <a:pt x="531" y="112"/>
                </a:lnTo>
                <a:lnTo>
                  <a:pt x="531" y="106"/>
                </a:lnTo>
                <a:lnTo>
                  <a:pt x="531" y="99"/>
                </a:lnTo>
                <a:close/>
                <a:moveTo>
                  <a:pt x="8" y="36"/>
                </a:moveTo>
                <a:lnTo>
                  <a:pt x="6" y="43"/>
                </a:lnTo>
                <a:lnTo>
                  <a:pt x="5" y="51"/>
                </a:lnTo>
                <a:lnTo>
                  <a:pt x="3" y="59"/>
                </a:lnTo>
                <a:lnTo>
                  <a:pt x="3" y="66"/>
                </a:lnTo>
                <a:lnTo>
                  <a:pt x="1" y="74"/>
                </a:lnTo>
                <a:lnTo>
                  <a:pt x="1" y="83"/>
                </a:lnTo>
                <a:lnTo>
                  <a:pt x="0" y="91"/>
                </a:lnTo>
                <a:lnTo>
                  <a:pt x="0" y="99"/>
                </a:lnTo>
                <a:lnTo>
                  <a:pt x="1" y="112"/>
                </a:lnTo>
                <a:lnTo>
                  <a:pt x="1" y="126"/>
                </a:lnTo>
                <a:lnTo>
                  <a:pt x="3" y="137"/>
                </a:lnTo>
                <a:lnTo>
                  <a:pt x="5" y="151"/>
                </a:lnTo>
                <a:lnTo>
                  <a:pt x="8" y="162"/>
                </a:lnTo>
                <a:lnTo>
                  <a:pt x="11" y="175"/>
                </a:lnTo>
                <a:lnTo>
                  <a:pt x="15" y="187"/>
                </a:lnTo>
                <a:lnTo>
                  <a:pt x="20" y="199"/>
                </a:lnTo>
                <a:lnTo>
                  <a:pt x="25" y="199"/>
                </a:lnTo>
                <a:lnTo>
                  <a:pt x="20" y="187"/>
                </a:lnTo>
                <a:lnTo>
                  <a:pt x="16" y="175"/>
                </a:lnTo>
                <a:lnTo>
                  <a:pt x="13" y="162"/>
                </a:lnTo>
                <a:lnTo>
                  <a:pt x="10" y="151"/>
                </a:lnTo>
                <a:lnTo>
                  <a:pt x="8" y="137"/>
                </a:lnTo>
                <a:lnTo>
                  <a:pt x="6" y="126"/>
                </a:lnTo>
                <a:lnTo>
                  <a:pt x="5" y="112"/>
                </a:lnTo>
                <a:lnTo>
                  <a:pt x="5" y="99"/>
                </a:lnTo>
                <a:lnTo>
                  <a:pt x="5" y="91"/>
                </a:lnTo>
                <a:lnTo>
                  <a:pt x="6" y="83"/>
                </a:lnTo>
                <a:lnTo>
                  <a:pt x="6" y="74"/>
                </a:lnTo>
                <a:lnTo>
                  <a:pt x="8" y="66"/>
                </a:lnTo>
                <a:lnTo>
                  <a:pt x="8" y="58"/>
                </a:lnTo>
                <a:lnTo>
                  <a:pt x="10" y="50"/>
                </a:lnTo>
                <a:lnTo>
                  <a:pt x="11" y="41"/>
                </a:lnTo>
                <a:lnTo>
                  <a:pt x="13" y="33"/>
                </a:lnTo>
                <a:lnTo>
                  <a:pt x="8" y="36"/>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08" name="Freeform 1113">
            <a:extLst>
              <a:ext uri="{FF2B5EF4-FFF2-40B4-BE49-F238E27FC236}">
                <a16:creationId xmlns:a16="http://schemas.microsoft.com/office/drawing/2014/main" id="{77BB9DD6-AA73-AEDA-EF7F-92FE70A6EF41}"/>
              </a:ext>
            </a:extLst>
          </p:cNvPr>
          <p:cNvSpPr>
            <a:spLocks noEditPoints="1"/>
          </p:cNvSpPr>
          <p:nvPr/>
        </p:nvSpPr>
        <p:spPr bwMode="auto">
          <a:xfrm>
            <a:off x="2497138" y="2403475"/>
            <a:ext cx="836613" cy="315913"/>
          </a:xfrm>
          <a:custGeom>
            <a:avLst/>
            <a:gdLst>
              <a:gd name="T0" fmla="*/ 527 w 527"/>
              <a:gd name="T1" fmla="*/ 86 h 199"/>
              <a:gd name="T2" fmla="*/ 523 w 527"/>
              <a:gd name="T3" fmla="*/ 59 h 199"/>
              <a:gd name="T4" fmla="*/ 518 w 527"/>
              <a:gd name="T5" fmla="*/ 35 h 199"/>
              <a:gd name="T6" fmla="*/ 512 w 527"/>
              <a:gd name="T7" fmla="*/ 11 h 199"/>
              <a:gd name="T8" fmla="*/ 502 w 527"/>
              <a:gd name="T9" fmla="*/ 0 h 199"/>
              <a:gd name="T10" fmla="*/ 510 w 527"/>
              <a:gd name="T11" fmla="*/ 23 h 199"/>
              <a:gd name="T12" fmla="*/ 517 w 527"/>
              <a:gd name="T13" fmla="*/ 48 h 199"/>
              <a:gd name="T14" fmla="*/ 520 w 527"/>
              <a:gd name="T15" fmla="*/ 73 h 199"/>
              <a:gd name="T16" fmla="*/ 522 w 527"/>
              <a:gd name="T17" fmla="*/ 99 h 199"/>
              <a:gd name="T18" fmla="*/ 522 w 527"/>
              <a:gd name="T19" fmla="*/ 114 h 199"/>
              <a:gd name="T20" fmla="*/ 520 w 527"/>
              <a:gd name="T21" fmla="*/ 129 h 199"/>
              <a:gd name="T22" fmla="*/ 518 w 527"/>
              <a:gd name="T23" fmla="*/ 142 h 199"/>
              <a:gd name="T24" fmla="*/ 515 w 527"/>
              <a:gd name="T25" fmla="*/ 157 h 199"/>
              <a:gd name="T26" fmla="*/ 522 w 527"/>
              <a:gd name="T27" fmla="*/ 147 h 199"/>
              <a:gd name="T28" fmla="*/ 523 w 527"/>
              <a:gd name="T29" fmla="*/ 134 h 199"/>
              <a:gd name="T30" fmla="*/ 525 w 527"/>
              <a:gd name="T31" fmla="*/ 121 h 199"/>
              <a:gd name="T32" fmla="*/ 527 w 527"/>
              <a:gd name="T33" fmla="*/ 106 h 199"/>
              <a:gd name="T34" fmla="*/ 8 w 527"/>
              <a:gd name="T35" fmla="*/ 35 h 199"/>
              <a:gd name="T36" fmla="*/ 5 w 527"/>
              <a:gd name="T37" fmla="*/ 50 h 199"/>
              <a:gd name="T38" fmla="*/ 2 w 527"/>
              <a:gd name="T39" fmla="*/ 66 h 199"/>
              <a:gd name="T40" fmla="*/ 0 w 527"/>
              <a:gd name="T41" fmla="*/ 83 h 199"/>
              <a:gd name="T42" fmla="*/ 0 w 527"/>
              <a:gd name="T43" fmla="*/ 99 h 199"/>
              <a:gd name="T44" fmla="*/ 2 w 527"/>
              <a:gd name="T45" fmla="*/ 126 h 199"/>
              <a:gd name="T46" fmla="*/ 5 w 527"/>
              <a:gd name="T47" fmla="*/ 151 h 199"/>
              <a:gd name="T48" fmla="*/ 10 w 527"/>
              <a:gd name="T49" fmla="*/ 175 h 199"/>
              <a:gd name="T50" fmla="*/ 20 w 527"/>
              <a:gd name="T51" fmla="*/ 199 h 199"/>
              <a:gd name="T52" fmla="*/ 20 w 527"/>
              <a:gd name="T53" fmla="*/ 187 h 199"/>
              <a:gd name="T54" fmla="*/ 12 w 527"/>
              <a:gd name="T55" fmla="*/ 162 h 199"/>
              <a:gd name="T56" fmla="*/ 7 w 527"/>
              <a:gd name="T57" fmla="*/ 137 h 199"/>
              <a:gd name="T58" fmla="*/ 5 w 527"/>
              <a:gd name="T59" fmla="*/ 112 h 199"/>
              <a:gd name="T60" fmla="*/ 5 w 527"/>
              <a:gd name="T61" fmla="*/ 91 h 199"/>
              <a:gd name="T62" fmla="*/ 5 w 527"/>
              <a:gd name="T63" fmla="*/ 73 h 199"/>
              <a:gd name="T64" fmla="*/ 8 w 527"/>
              <a:gd name="T65" fmla="*/ 56 h 199"/>
              <a:gd name="T66" fmla="*/ 12 w 527"/>
              <a:gd name="T67" fmla="*/ 40 h 199"/>
              <a:gd name="T68" fmla="*/ 8 w 527"/>
              <a:gd name="T69" fmla="*/ 3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7" h="199">
                <a:moveTo>
                  <a:pt x="527" y="99"/>
                </a:moveTo>
                <a:lnTo>
                  <a:pt x="527" y="86"/>
                </a:lnTo>
                <a:lnTo>
                  <a:pt x="525" y="73"/>
                </a:lnTo>
                <a:lnTo>
                  <a:pt x="523" y="59"/>
                </a:lnTo>
                <a:lnTo>
                  <a:pt x="522" y="48"/>
                </a:lnTo>
                <a:lnTo>
                  <a:pt x="518" y="35"/>
                </a:lnTo>
                <a:lnTo>
                  <a:pt x="515" y="23"/>
                </a:lnTo>
                <a:lnTo>
                  <a:pt x="512" y="11"/>
                </a:lnTo>
                <a:lnTo>
                  <a:pt x="507" y="0"/>
                </a:lnTo>
                <a:lnTo>
                  <a:pt x="502" y="0"/>
                </a:lnTo>
                <a:lnTo>
                  <a:pt x="507" y="11"/>
                </a:lnTo>
                <a:lnTo>
                  <a:pt x="510" y="23"/>
                </a:lnTo>
                <a:lnTo>
                  <a:pt x="513" y="35"/>
                </a:lnTo>
                <a:lnTo>
                  <a:pt x="517" y="48"/>
                </a:lnTo>
                <a:lnTo>
                  <a:pt x="518" y="59"/>
                </a:lnTo>
                <a:lnTo>
                  <a:pt x="520" y="73"/>
                </a:lnTo>
                <a:lnTo>
                  <a:pt x="522" y="86"/>
                </a:lnTo>
                <a:lnTo>
                  <a:pt x="522" y="99"/>
                </a:lnTo>
                <a:lnTo>
                  <a:pt x="522" y="106"/>
                </a:lnTo>
                <a:lnTo>
                  <a:pt x="522" y="114"/>
                </a:lnTo>
                <a:lnTo>
                  <a:pt x="520" y="121"/>
                </a:lnTo>
                <a:lnTo>
                  <a:pt x="520" y="129"/>
                </a:lnTo>
                <a:lnTo>
                  <a:pt x="518" y="136"/>
                </a:lnTo>
                <a:lnTo>
                  <a:pt x="518" y="142"/>
                </a:lnTo>
                <a:lnTo>
                  <a:pt x="517" y="151"/>
                </a:lnTo>
                <a:lnTo>
                  <a:pt x="515" y="157"/>
                </a:lnTo>
                <a:lnTo>
                  <a:pt x="520" y="154"/>
                </a:lnTo>
                <a:lnTo>
                  <a:pt x="522" y="147"/>
                </a:lnTo>
                <a:lnTo>
                  <a:pt x="523" y="141"/>
                </a:lnTo>
                <a:lnTo>
                  <a:pt x="523" y="134"/>
                </a:lnTo>
                <a:lnTo>
                  <a:pt x="525" y="127"/>
                </a:lnTo>
                <a:lnTo>
                  <a:pt x="525" y="121"/>
                </a:lnTo>
                <a:lnTo>
                  <a:pt x="527" y="112"/>
                </a:lnTo>
                <a:lnTo>
                  <a:pt x="527" y="106"/>
                </a:lnTo>
                <a:lnTo>
                  <a:pt x="527" y="99"/>
                </a:lnTo>
                <a:close/>
                <a:moveTo>
                  <a:pt x="8" y="35"/>
                </a:moveTo>
                <a:lnTo>
                  <a:pt x="7" y="41"/>
                </a:lnTo>
                <a:lnTo>
                  <a:pt x="5" y="50"/>
                </a:lnTo>
                <a:lnTo>
                  <a:pt x="3" y="58"/>
                </a:lnTo>
                <a:lnTo>
                  <a:pt x="2" y="66"/>
                </a:lnTo>
                <a:lnTo>
                  <a:pt x="0" y="74"/>
                </a:lnTo>
                <a:lnTo>
                  <a:pt x="0" y="83"/>
                </a:lnTo>
                <a:lnTo>
                  <a:pt x="0" y="91"/>
                </a:lnTo>
                <a:lnTo>
                  <a:pt x="0" y="99"/>
                </a:lnTo>
                <a:lnTo>
                  <a:pt x="0" y="112"/>
                </a:lnTo>
                <a:lnTo>
                  <a:pt x="2" y="126"/>
                </a:lnTo>
                <a:lnTo>
                  <a:pt x="3" y="137"/>
                </a:lnTo>
                <a:lnTo>
                  <a:pt x="5" y="151"/>
                </a:lnTo>
                <a:lnTo>
                  <a:pt x="7" y="162"/>
                </a:lnTo>
                <a:lnTo>
                  <a:pt x="10" y="175"/>
                </a:lnTo>
                <a:lnTo>
                  <a:pt x="15" y="187"/>
                </a:lnTo>
                <a:lnTo>
                  <a:pt x="20" y="199"/>
                </a:lnTo>
                <a:lnTo>
                  <a:pt x="25" y="199"/>
                </a:lnTo>
                <a:lnTo>
                  <a:pt x="20" y="187"/>
                </a:lnTo>
                <a:lnTo>
                  <a:pt x="17" y="175"/>
                </a:lnTo>
                <a:lnTo>
                  <a:pt x="12" y="162"/>
                </a:lnTo>
                <a:lnTo>
                  <a:pt x="10" y="151"/>
                </a:lnTo>
                <a:lnTo>
                  <a:pt x="7" y="137"/>
                </a:lnTo>
                <a:lnTo>
                  <a:pt x="5" y="126"/>
                </a:lnTo>
                <a:lnTo>
                  <a:pt x="5" y="112"/>
                </a:lnTo>
                <a:lnTo>
                  <a:pt x="5" y="99"/>
                </a:lnTo>
                <a:lnTo>
                  <a:pt x="5" y="91"/>
                </a:lnTo>
                <a:lnTo>
                  <a:pt x="5" y="81"/>
                </a:lnTo>
                <a:lnTo>
                  <a:pt x="5" y="73"/>
                </a:lnTo>
                <a:lnTo>
                  <a:pt x="7" y="64"/>
                </a:lnTo>
                <a:lnTo>
                  <a:pt x="8" y="56"/>
                </a:lnTo>
                <a:lnTo>
                  <a:pt x="10" y="48"/>
                </a:lnTo>
                <a:lnTo>
                  <a:pt x="12" y="40"/>
                </a:lnTo>
                <a:lnTo>
                  <a:pt x="13" y="31"/>
                </a:lnTo>
                <a:lnTo>
                  <a:pt x="8" y="35"/>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09" name="Freeform 1114">
            <a:extLst>
              <a:ext uri="{FF2B5EF4-FFF2-40B4-BE49-F238E27FC236}">
                <a16:creationId xmlns:a16="http://schemas.microsoft.com/office/drawing/2014/main" id="{86FAA101-77E2-3794-5315-E9746802A68A}"/>
              </a:ext>
            </a:extLst>
          </p:cNvPr>
          <p:cNvSpPr>
            <a:spLocks noEditPoints="1"/>
          </p:cNvSpPr>
          <p:nvPr/>
        </p:nvSpPr>
        <p:spPr bwMode="auto">
          <a:xfrm>
            <a:off x="2500313" y="2403475"/>
            <a:ext cx="827088" cy="315913"/>
          </a:xfrm>
          <a:custGeom>
            <a:avLst/>
            <a:gdLst>
              <a:gd name="T0" fmla="*/ 521 w 521"/>
              <a:gd name="T1" fmla="*/ 86 h 199"/>
              <a:gd name="T2" fmla="*/ 520 w 521"/>
              <a:gd name="T3" fmla="*/ 59 h 199"/>
              <a:gd name="T4" fmla="*/ 515 w 521"/>
              <a:gd name="T5" fmla="*/ 35 h 199"/>
              <a:gd name="T6" fmla="*/ 507 w 521"/>
              <a:gd name="T7" fmla="*/ 11 h 199"/>
              <a:gd name="T8" fmla="*/ 497 w 521"/>
              <a:gd name="T9" fmla="*/ 0 h 199"/>
              <a:gd name="T10" fmla="*/ 507 w 521"/>
              <a:gd name="T11" fmla="*/ 23 h 199"/>
              <a:gd name="T12" fmla="*/ 511 w 521"/>
              <a:gd name="T13" fmla="*/ 48 h 199"/>
              <a:gd name="T14" fmla="*/ 516 w 521"/>
              <a:gd name="T15" fmla="*/ 73 h 199"/>
              <a:gd name="T16" fmla="*/ 518 w 521"/>
              <a:gd name="T17" fmla="*/ 99 h 199"/>
              <a:gd name="T18" fmla="*/ 516 w 521"/>
              <a:gd name="T19" fmla="*/ 114 h 199"/>
              <a:gd name="T20" fmla="*/ 516 w 521"/>
              <a:gd name="T21" fmla="*/ 129 h 199"/>
              <a:gd name="T22" fmla="*/ 513 w 521"/>
              <a:gd name="T23" fmla="*/ 144 h 199"/>
              <a:gd name="T24" fmla="*/ 510 w 521"/>
              <a:gd name="T25" fmla="*/ 159 h 199"/>
              <a:gd name="T26" fmla="*/ 518 w 521"/>
              <a:gd name="T27" fmla="*/ 149 h 199"/>
              <a:gd name="T28" fmla="*/ 520 w 521"/>
              <a:gd name="T29" fmla="*/ 136 h 199"/>
              <a:gd name="T30" fmla="*/ 521 w 521"/>
              <a:gd name="T31" fmla="*/ 121 h 199"/>
              <a:gd name="T32" fmla="*/ 521 w 521"/>
              <a:gd name="T33" fmla="*/ 106 h 199"/>
              <a:gd name="T34" fmla="*/ 8 w 521"/>
              <a:gd name="T35" fmla="*/ 33 h 199"/>
              <a:gd name="T36" fmla="*/ 5 w 521"/>
              <a:gd name="T37" fmla="*/ 50 h 199"/>
              <a:gd name="T38" fmla="*/ 3 w 521"/>
              <a:gd name="T39" fmla="*/ 66 h 199"/>
              <a:gd name="T40" fmla="*/ 1 w 521"/>
              <a:gd name="T41" fmla="*/ 83 h 199"/>
              <a:gd name="T42" fmla="*/ 0 w 521"/>
              <a:gd name="T43" fmla="*/ 99 h 199"/>
              <a:gd name="T44" fmla="*/ 1 w 521"/>
              <a:gd name="T45" fmla="*/ 126 h 199"/>
              <a:gd name="T46" fmla="*/ 5 w 521"/>
              <a:gd name="T47" fmla="*/ 151 h 199"/>
              <a:gd name="T48" fmla="*/ 11 w 521"/>
              <a:gd name="T49" fmla="*/ 175 h 199"/>
              <a:gd name="T50" fmla="*/ 20 w 521"/>
              <a:gd name="T51" fmla="*/ 199 h 199"/>
              <a:gd name="T52" fmla="*/ 20 w 521"/>
              <a:gd name="T53" fmla="*/ 187 h 199"/>
              <a:gd name="T54" fmla="*/ 13 w 521"/>
              <a:gd name="T55" fmla="*/ 162 h 199"/>
              <a:gd name="T56" fmla="*/ 8 w 521"/>
              <a:gd name="T57" fmla="*/ 137 h 199"/>
              <a:gd name="T58" fmla="*/ 5 w 521"/>
              <a:gd name="T59" fmla="*/ 112 h 199"/>
              <a:gd name="T60" fmla="*/ 5 w 521"/>
              <a:gd name="T61" fmla="*/ 91 h 199"/>
              <a:gd name="T62" fmla="*/ 6 w 521"/>
              <a:gd name="T63" fmla="*/ 73 h 199"/>
              <a:gd name="T64" fmla="*/ 8 w 521"/>
              <a:gd name="T65" fmla="*/ 54 h 199"/>
              <a:gd name="T66" fmla="*/ 11 w 521"/>
              <a:gd name="T67" fmla="*/ 38 h 199"/>
              <a:gd name="T68" fmla="*/ 8 w 521"/>
              <a:gd name="T69" fmla="*/ 3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1" h="199">
                <a:moveTo>
                  <a:pt x="521" y="99"/>
                </a:moveTo>
                <a:lnTo>
                  <a:pt x="521" y="86"/>
                </a:lnTo>
                <a:lnTo>
                  <a:pt x="521" y="73"/>
                </a:lnTo>
                <a:lnTo>
                  <a:pt x="520" y="59"/>
                </a:lnTo>
                <a:lnTo>
                  <a:pt x="516" y="48"/>
                </a:lnTo>
                <a:lnTo>
                  <a:pt x="515" y="35"/>
                </a:lnTo>
                <a:lnTo>
                  <a:pt x="511" y="23"/>
                </a:lnTo>
                <a:lnTo>
                  <a:pt x="507" y="11"/>
                </a:lnTo>
                <a:lnTo>
                  <a:pt x="503" y="0"/>
                </a:lnTo>
                <a:lnTo>
                  <a:pt x="497" y="0"/>
                </a:lnTo>
                <a:lnTo>
                  <a:pt x="502" y="11"/>
                </a:lnTo>
                <a:lnTo>
                  <a:pt x="507" y="23"/>
                </a:lnTo>
                <a:lnTo>
                  <a:pt x="510" y="35"/>
                </a:lnTo>
                <a:lnTo>
                  <a:pt x="511" y="48"/>
                </a:lnTo>
                <a:lnTo>
                  <a:pt x="515" y="59"/>
                </a:lnTo>
                <a:lnTo>
                  <a:pt x="516" y="73"/>
                </a:lnTo>
                <a:lnTo>
                  <a:pt x="516" y="86"/>
                </a:lnTo>
                <a:lnTo>
                  <a:pt x="518" y="99"/>
                </a:lnTo>
                <a:lnTo>
                  <a:pt x="516" y="106"/>
                </a:lnTo>
                <a:lnTo>
                  <a:pt x="516" y="114"/>
                </a:lnTo>
                <a:lnTo>
                  <a:pt x="516" y="122"/>
                </a:lnTo>
                <a:lnTo>
                  <a:pt x="516" y="129"/>
                </a:lnTo>
                <a:lnTo>
                  <a:pt x="515" y="137"/>
                </a:lnTo>
                <a:lnTo>
                  <a:pt x="513" y="144"/>
                </a:lnTo>
                <a:lnTo>
                  <a:pt x="511" y="151"/>
                </a:lnTo>
                <a:lnTo>
                  <a:pt x="510" y="159"/>
                </a:lnTo>
                <a:lnTo>
                  <a:pt x="516" y="155"/>
                </a:lnTo>
                <a:lnTo>
                  <a:pt x="518" y="149"/>
                </a:lnTo>
                <a:lnTo>
                  <a:pt x="518" y="142"/>
                </a:lnTo>
                <a:lnTo>
                  <a:pt x="520" y="136"/>
                </a:lnTo>
                <a:lnTo>
                  <a:pt x="520" y="127"/>
                </a:lnTo>
                <a:lnTo>
                  <a:pt x="521" y="121"/>
                </a:lnTo>
                <a:lnTo>
                  <a:pt x="521" y="114"/>
                </a:lnTo>
                <a:lnTo>
                  <a:pt x="521" y="106"/>
                </a:lnTo>
                <a:lnTo>
                  <a:pt x="521" y="99"/>
                </a:lnTo>
                <a:close/>
                <a:moveTo>
                  <a:pt x="8" y="33"/>
                </a:moveTo>
                <a:lnTo>
                  <a:pt x="6" y="41"/>
                </a:lnTo>
                <a:lnTo>
                  <a:pt x="5" y="50"/>
                </a:lnTo>
                <a:lnTo>
                  <a:pt x="3" y="58"/>
                </a:lnTo>
                <a:lnTo>
                  <a:pt x="3" y="66"/>
                </a:lnTo>
                <a:lnTo>
                  <a:pt x="1" y="74"/>
                </a:lnTo>
                <a:lnTo>
                  <a:pt x="1" y="83"/>
                </a:lnTo>
                <a:lnTo>
                  <a:pt x="0" y="91"/>
                </a:lnTo>
                <a:lnTo>
                  <a:pt x="0" y="99"/>
                </a:lnTo>
                <a:lnTo>
                  <a:pt x="0" y="112"/>
                </a:lnTo>
                <a:lnTo>
                  <a:pt x="1" y="126"/>
                </a:lnTo>
                <a:lnTo>
                  <a:pt x="3" y="137"/>
                </a:lnTo>
                <a:lnTo>
                  <a:pt x="5" y="151"/>
                </a:lnTo>
                <a:lnTo>
                  <a:pt x="8" y="162"/>
                </a:lnTo>
                <a:lnTo>
                  <a:pt x="11" y="175"/>
                </a:lnTo>
                <a:lnTo>
                  <a:pt x="15" y="187"/>
                </a:lnTo>
                <a:lnTo>
                  <a:pt x="20" y="199"/>
                </a:lnTo>
                <a:lnTo>
                  <a:pt x="25" y="199"/>
                </a:lnTo>
                <a:lnTo>
                  <a:pt x="20" y="187"/>
                </a:lnTo>
                <a:lnTo>
                  <a:pt x="16" y="175"/>
                </a:lnTo>
                <a:lnTo>
                  <a:pt x="13" y="162"/>
                </a:lnTo>
                <a:lnTo>
                  <a:pt x="10" y="151"/>
                </a:lnTo>
                <a:lnTo>
                  <a:pt x="8" y="137"/>
                </a:lnTo>
                <a:lnTo>
                  <a:pt x="6" y="126"/>
                </a:lnTo>
                <a:lnTo>
                  <a:pt x="5" y="112"/>
                </a:lnTo>
                <a:lnTo>
                  <a:pt x="5" y="99"/>
                </a:lnTo>
                <a:lnTo>
                  <a:pt x="5" y="91"/>
                </a:lnTo>
                <a:lnTo>
                  <a:pt x="5" y="81"/>
                </a:lnTo>
                <a:lnTo>
                  <a:pt x="6" y="73"/>
                </a:lnTo>
                <a:lnTo>
                  <a:pt x="8" y="64"/>
                </a:lnTo>
                <a:lnTo>
                  <a:pt x="8" y="54"/>
                </a:lnTo>
                <a:lnTo>
                  <a:pt x="10" y="46"/>
                </a:lnTo>
                <a:lnTo>
                  <a:pt x="11" y="38"/>
                </a:lnTo>
                <a:lnTo>
                  <a:pt x="15" y="30"/>
                </a:lnTo>
                <a:lnTo>
                  <a:pt x="8" y="33"/>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10" name="Freeform 1115">
            <a:extLst>
              <a:ext uri="{FF2B5EF4-FFF2-40B4-BE49-F238E27FC236}">
                <a16:creationId xmlns:a16="http://schemas.microsoft.com/office/drawing/2014/main" id="{EED237DA-66A1-D4F2-F107-4C5889AC3F6A}"/>
              </a:ext>
            </a:extLst>
          </p:cNvPr>
          <p:cNvSpPr>
            <a:spLocks noEditPoints="1"/>
          </p:cNvSpPr>
          <p:nvPr/>
        </p:nvSpPr>
        <p:spPr bwMode="auto">
          <a:xfrm>
            <a:off x="2505075" y="2403475"/>
            <a:ext cx="820738" cy="315913"/>
          </a:xfrm>
          <a:custGeom>
            <a:avLst/>
            <a:gdLst>
              <a:gd name="T0" fmla="*/ 517 w 517"/>
              <a:gd name="T1" fmla="*/ 86 h 199"/>
              <a:gd name="T2" fmla="*/ 513 w 517"/>
              <a:gd name="T3" fmla="*/ 59 h 199"/>
              <a:gd name="T4" fmla="*/ 508 w 517"/>
              <a:gd name="T5" fmla="*/ 35 h 199"/>
              <a:gd name="T6" fmla="*/ 502 w 517"/>
              <a:gd name="T7" fmla="*/ 11 h 199"/>
              <a:gd name="T8" fmla="*/ 492 w 517"/>
              <a:gd name="T9" fmla="*/ 0 h 199"/>
              <a:gd name="T10" fmla="*/ 500 w 517"/>
              <a:gd name="T11" fmla="*/ 23 h 199"/>
              <a:gd name="T12" fmla="*/ 507 w 517"/>
              <a:gd name="T13" fmla="*/ 48 h 199"/>
              <a:gd name="T14" fmla="*/ 510 w 517"/>
              <a:gd name="T15" fmla="*/ 73 h 199"/>
              <a:gd name="T16" fmla="*/ 512 w 517"/>
              <a:gd name="T17" fmla="*/ 99 h 199"/>
              <a:gd name="T18" fmla="*/ 512 w 517"/>
              <a:gd name="T19" fmla="*/ 114 h 199"/>
              <a:gd name="T20" fmla="*/ 510 w 517"/>
              <a:gd name="T21" fmla="*/ 129 h 199"/>
              <a:gd name="T22" fmla="*/ 508 w 517"/>
              <a:gd name="T23" fmla="*/ 146 h 199"/>
              <a:gd name="T24" fmla="*/ 505 w 517"/>
              <a:gd name="T25" fmla="*/ 159 h 199"/>
              <a:gd name="T26" fmla="*/ 512 w 517"/>
              <a:gd name="T27" fmla="*/ 151 h 199"/>
              <a:gd name="T28" fmla="*/ 513 w 517"/>
              <a:gd name="T29" fmla="*/ 136 h 199"/>
              <a:gd name="T30" fmla="*/ 515 w 517"/>
              <a:gd name="T31" fmla="*/ 121 h 199"/>
              <a:gd name="T32" fmla="*/ 517 w 517"/>
              <a:gd name="T33" fmla="*/ 106 h 199"/>
              <a:gd name="T34" fmla="*/ 8 w 517"/>
              <a:gd name="T35" fmla="*/ 31 h 199"/>
              <a:gd name="T36" fmla="*/ 5 w 517"/>
              <a:gd name="T37" fmla="*/ 48 h 199"/>
              <a:gd name="T38" fmla="*/ 2 w 517"/>
              <a:gd name="T39" fmla="*/ 64 h 199"/>
              <a:gd name="T40" fmla="*/ 0 w 517"/>
              <a:gd name="T41" fmla="*/ 81 h 199"/>
              <a:gd name="T42" fmla="*/ 0 w 517"/>
              <a:gd name="T43" fmla="*/ 99 h 199"/>
              <a:gd name="T44" fmla="*/ 0 w 517"/>
              <a:gd name="T45" fmla="*/ 126 h 199"/>
              <a:gd name="T46" fmla="*/ 5 w 517"/>
              <a:gd name="T47" fmla="*/ 151 h 199"/>
              <a:gd name="T48" fmla="*/ 12 w 517"/>
              <a:gd name="T49" fmla="*/ 175 h 199"/>
              <a:gd name="T50" fmla="*/ 20 w 517"/>
              <a:gd name="T51" fmla="*/ 199 h 199"/>
              <a:gd name="T52" fmla="*/ 20 w 517"/>
              <a:gd name="T53" fmla="*/ 187 h 199"/>
              <a:gd name="T54" fmla="*/ 12 w 517"/>
              <a:gd name="T55" fmla="*/ 162 h 199"/>
              <a:gd name="T56" fmla="*/ 7 w 517"/>
              <a:gd name="T57" fmla="*/ 137 h 199"/>
              <a:gd name="T58" fmla="*/ 5 w 517"/>
              <a:gd name="T59" fmla="*/ 112 h 199"/>
              <a:gd name="T60" fmla="*/ 5 w 517"/>
              <a:gd name="T61" fmla="*/ 89 h 199"/>
              <a:gd name="T62" fmla="*/ 5 w 517"/>
              <a:gd name="T63" fmla="*/ 73 h 199"/>
              <a:gd name="T64" fmla="*/ 8 w 517"/>
              <a:gd name="T65" fmla="*/ 54 h 199"/>
              <a:gd name="T66" fmla="*/ 12 w 517"/>
              <a:gd name="T67" fmla="*/ 38 h 199"/>
              <a:gd name="T68" fmla="*/ 8 w 517"/>
              <a:gd name="T69" fmla="*/ 3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7" h="199">
                <a:moveTo>
                  <a:pt x="517" y="99"/>
                </a:moveTo>
                <a:lnTo>
                  <a:pt x="517" y="86"/>
                </a:lnTo>
                <a:lnTo>
                  <a:pt x="515" y="73"/>
                </a:lnTo>
                <a:lnTo>
                  <a:pt x="513" y="59"/>
                </a:lnTo>
                <a:lnTo>
                  <a:pt x="512" y="48"/>
                </a:lnTo>
                <a:lnTo>
                  <a:pt x="508" y="35"/>
                </a:lnTo>
                <a:lnTo>
                  <a:pt x="505" y="23"/>
                </a:lnTo>
                <a:lnTo>
                  <a:pt x="502" y="11"/>
                </a:lnTo>
                <a:lnTo>
                  <a:pt x="497" y="0"/>
                </a:lnTo>
                <a:lnTo>
                  <a:pt x="492" y="0"/>
                </a:lnTo>
                <a:lnTo>
                  <a:pt x="497" y="11"/>
                </a:lnTo>
                <a:lnTo>
                  <a:pt x="500" y="23"/>
                </a:lnTo>
                <a:lnTo>
                  <a:pt x="504" y="35"/>
                </a:lnTo>
                <a:lnTo>
                  <a:pt x="507" y="48"/>
                </a:lnTo>
                <a:lnTo>
                  <a:pt x="508" y="59"/>
                </a:lnTo>
                <a:lnTo>
                  <a:pt x="510" y="73"/>
                </a:lnTo>
                <a:lnTo>
                  <a:pt x="512" y="86"/>
                </a:lnTo>
                <a:lnTo>
                  <a:pt x="512" y="99"/>
                </a:lnTo>
                <a:lnTo>
                  <a:pt x="512" y="107"/>
                </a:lnTo>
                <a:lnTo>
                  <a:pt x="512" y="114"/>
                </a:lnTo>
                <a:lnTo>
                  <a:pt x="510" y="122"/>
                </a:lnTo>
                <a:lnTo>
                  <a:pt x="510" y="129"/>
                </a:lnTo>
                <a:lnTo>
                  <a:pt x="508" y="137"/>
                </a:lnTo>
                <a:lnTo>
                  <a:pt x="508" y="146"/>
                </a:lnTo>
                <a:lnTo>
                  <a:pt x="507" y="152"/>
                </a:lnTo>
                <a:lnTo>
                  <a:pt x="505" y="159"/>
                </a:lnTo>
                <a:lnTo>
                  <a:pt x="510" y="157"/>
                </a:lnTo>
                <a:lnTo>
                  <a:pt x="512" y="151"/>
                </a:lnTo>
                <a:lnTo>
                  <a:pt x="513" y="142"/>
                </a:lnTo>
                <a:lnTo>
                  <a:pt x="513" y="136"/>
                </a:lnTo>
                <a:lnTo>
                  <a:pt x="515" y="129"/>
                </a:lnTo>
                <a:lnTo>
                  <a:pt x="515" y="121"/>
                </a:lnTo>
                <a:lnTo>
                  <a:pt x="517" y="114"/>
                </a:lnTo>
                <a:lnTo>
                  <a:pt x="517" y="106"/>
                </a:lnTo>
                <a:lnTo>
                  <a:pt x="517" y="99"/>
                </a:lnTo>
                <a:close/>
                <a:moveTo>
                  <a:pt x="8" y="31"/>
                </a:moveTo>
                <a:lnTo>
                  <a:pt x="7" y="40"/>
                </a:lnTo>
                <a:lnTo>
                  <a:pt x="5" y="48"/>
                </a:lnTo>
                <a:lnTo>
                  <a:pt x="3" y="56"/>
                </a:lnTo>
                <a:lnTo>
                  <a:pt x="2" y="64"/>
                </a:lnTo>
                <a:lnTo>
                  <a:pt x="0" y="73"/>
                </a:lnTo>
                <a:lnTo>
                  <a:pt x="0" y="81"/>
                </a:lnTo>
                <a:lnTo>
                  <a:pt x="0" y="91"/>
                </a:lnTo>
                <a:lnTo>
                  <a:pt x="0" y="99"/>
                </a:lnTo>
                <a:lnTo>
                  <a:pt x="0" y="112"/>
                </a:lnTo>
                <a:lnTo>
                  <a:pt x="0" y="126"/>
                </a:lnTo>
                <a:lnTo>
                  <a:pt x="2" y="137"/>
                </a:lnTo>
                <a:lnTo>
                  <a:pt x="5" y="151"/>
                </a:lnTo>
                <a:lnTo>
                  <a:pt x="7" y="162"/>
                </a:lnTo>
                <a:lnTo>
                  <a:pt x="12" y="175"/>
                </a:lnTo>
                <a:lnTo>
                  <a:pt x="15" y="187"/>
                </a:lnTo>
                <a:lnTo>
                  <a:pt x="20" y="199"/>
                </a:lnTo>
                <a:lnTo>
                  <a:pt x="25" y="199"/>
                </a:lnTo>
                <a:lnTo>
                  <a:pt x="20" y="187"/>
                </a:lnTo>
                <a:lnTo>
                  <a:pt x="17" y="175"/>
                </a:lnTo>
                <a:lnTo>
                  <a:pt x="12" y="162"/>
                </a:lnTo>
                <a:lnTo>
                  <a:pt x="10" y="151"/>
                </a:lnTo>
                <a:lnTo>
                  <a:pt x="7" y="137"/>
                </a:lnTo>
                <a:lnTo>
                  <a:pt x="5" y="126"/>
                </a:lnTo>
                <a:lnTo>
                  <a:pt x="5" y="112"/>
                </a:lnTo>
                <a:lnTo>
                  <a:pt x="5" y="99"/>
                </a:lnTo>
                <a:lnTo>
                  <a:pt x="5" y="89"/>
                </a:lnTo>
                <a:lnTo>
                  <a:pt x="5" y="81"/>
                </a:lnTo>
                <a:lnTo>
                  <a:pt x="5" y="73"/>
                </a:lnTo>
                <a:lnTo>
                  <a:pt x="7" y="63"/>
                </a:lnTo>
                <a:lnTo>
                  <a:pt x="8" y="54"/>
                </a:lnTo>
                <a:lnTo>
                  <a:pt x="10" y="46"/>
                </a:lnTo>
                <a:lnTo>
                  <a:pt x="12" y="38"/>
                </a:lnTo>
                <a:lnTo>
                  <a:pt x="15" y="30"/>
                </a:lnTo>
                <a:lnTo>
                  <a:pt x="8" y="31"/>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11" name="Freeform 1116">
            <a:extLst>
              <a:ext uri="{FF2B5EF4-FFF2-40B4-BE49-F238E27FC236}">
                <a16:creationId xmlns:a16="http://schemas.microsoft.com/office/drawing/2014/main" id="{6AB46CDF-4BD3-A27F-29C8-26A358392926}"/>
              </a:ext>
            </a:extLst>
          </p:cNvPr>
          <p:cNvSpPr>
            <a:spLocks noEditPoints="1"/>
          </p:cNvSpPr>
          <p:nvPr/>
        </p:nvSpPr>
        <p:spPr bwMode="auto">
          <a:xfrm>
            <a:off x="2508250" y="2403475"/>
            <a:ext cx="814388" cy="315913"/>
          </a:xfrm>
          <a:custGeom>
            <a:avLst/>
            <a:gdLst>
              <a:gd name="T0" fmla="*/ 511 w 513"/>
              <a:gd name="T1" fmla="*/ 86 h 199"/>
              <a:gd name="T2" fmla="*/ 510 w 513"/>
              <a:gd name="T3" fmla="*/ 59 h 199"/>
              <a:gd name="T4" fmla="*/ 505 w 513"/>
              <a:gd name="T5" fmla="*/ 35 h 199"/>
              <a:gd name="T6" fmla="*/ 497 w 513"/>
              <a:gd name="T7" fmla="*/ 11 h 199"/>
              <a:gd name="T8" fmla="*/ 487 w 513"/>
              <a:gd name="T9" fmla="*/ 0 h 199"/>
              <a:gd name="T10" fmla="*/ 497 w 513"/>
              <a:gd name="T11" fmla="*/ 23 h 199"/>
              <a:gd name="T12" fmla="*/ 502 w 513"/>
              <a:gd name="T13" fmla="*/ 48 h 199"/>
              <a:gd name="T14" fmla="*/ 506 w 513"/>
              <a:gd name="T15" fmla="*/ 73 h 199"/>
              <a:gd name="T16" fmla="*/ 508 w 513"/>
              <a:gd name="T17" fmla="*/ 99 h 199"/>
              <a:gd name="T18" fmla="*/ 506 w 513"/>
              <a:gd name="T19" fmla="*/ 114 h 199"/>
              <a:gd name="T20" fmla="*/ 505 w 513"/>
              <a:gd name="T21" fmla="*/ 131 h 199"/>
              <a:gd name="T22" fmla="*/ 503 w 513"/>
              <a:gd name="T23" fmla="*/ 146 h 199"/>
              <a:gd name="T24" fmla="*/ 500 w 513"/>
              <a:gd name="T25" fmla="*/ 160 h 199"/>
              <a:gd name="T26" fmla="*/ 506 w 513"/>
              <a:gd name="T27" fmla="*/ 151 h 199"/>
              <a:gd name="T28" fmla="*/ 510 w 513"/>
              <a:gd name="T29" fmla="*/ 137 h 199"/>
              <a:gd name="T30" fmla="*/ 511 w 513"/>
              <a:gd name="T31" fmla="*/ 122 h 199"/>
              <a:gd name="T32" fmla="*/ 511 w 513"/>
              <a:gd name="T33" fmla="*/ 106 h 199"/>
              <a:gd name="T34" fmla="*/ 10 w 513"/>
              <a:gd name="T35" fmla="*/ 30 h 199"/>
              <a:gd name="T36" fmla="*/ 5 w 513"/>
              <a:gd name="T37" fmla="*/ 46 h 199"/>
              <a:gd name="T38" fmla="*/ 3 w 513"/>
              <a:gd name="T39" fmla="*/ 64 h 199"/>
              <a:gd name="T40" fmla="*/ 0 w 513"/>
              <a:gd name="T41" fmla="*/ 81 h 199"/>
              <a:gd name="T42" fmla="*/ 0 w 513"/>
              <a:gd name="T43" fmla="*/ 99 h 199"/>
              <a:gd name="T44" fmla="*/ 1 w 513"/>
              <a:gd name="T45" fmla="*/ 126 h 199"/>
              <a:gd name="T46" fmla="*/ 5 w 513"/>
              <a:gd name="T47" fmla="*/ 151 h 199"/>
              <a:gd name="T48" fmla="*/ 11 w 513"/>
              <a:gd name="T49" fmla="*/ 175 h 199"/>
              <a:gd name="T50" fmla="*/ 20 w 513"/>
              <a:gd name="T51" fmla="*/ 199 h 199"/>
              <a:gd name="T52" fmla="*/ 21 w 513"/>
              <a:gd name="T53" fmla="*/ 187 h 199"/>
              <a:gd name="T54" fmla="*/ 13 w 513"/>
              <a:gd name="T55" fmla="*/ 162 h 199"/>
              <a:gd name="T56" fmla="*/ 8 w 513"/>
              <a:gd name="T57" fmla="*/ 137 h 199"/>
              <a:gd name="T58" fmla="*/ 5 w 513"/>
              <a:gd name="T59" fmla="*/ 112 h 199"/>
              <a:gd name="T60" fmla="*/ 5 w 513"/>
              <a:gd name="T61" fmla="*/ 89 h 199"/>
              <a:gd name="T62" fmla="*/ 6 w 513"/>
              <a:gd name="T63" fmla="*/ 71 h 199"/>
              <a:gd name="T64" fmla="*/ 10 w 513"/>
              <a:gd name="T65" fmla="*/ 53 h 199"/>
              <a:gd name="T66" fmla="*/ 13 w 513"/>
              <a:gd name="T67" fmla="*/ 36 h 199"/>
              <a:gd name="T68" fmla="*/ 10 w 513"/>
              <a:gd name="T69" fmla="*/ 3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3" h="199">
                <a:moveTo>
                  <a:pt x="513" y="99"/>
                </a:moveTo>
                <a:lnTo>
                  <a:pt x="511" y="86"/>
                </a:lnTo>
                <a:lnTo>
                  <a:pt x="511" y="73"/>
                </a:lnTo>
                <a:lnTo>
                  <a:pt x="510" y="59"/>
                </a:lnTo>
                <a:lnTo>
                  <a:pt x="506" y="48"/>
                </a:lnTo>
                <a:lnTo>
                  <a:pt x="505" y="35"/>
                </a:lnTo>
                <a:lnTo>
                  <a:pt x="502" y="23"/>
                </a:lnTo>
                <a:lnTo>
                  <a:pt x="497" y="11"/>
                </a:lnTo>
                <a:lnTo>
                  <a:pt x="492" y="0"/>
                </a:lnTo>
                <a:lnTo>
                  <a:pt x="487" y="0"/>
                </a:lnTo>
                <a:lnTo>
                  <a:pt x="492" y="11"/>
                </a:lnTo>
                <a:lnTo>
                  <a:pt x="497" y="23"/>
                </a:lnTo>
                <a:lnTo>
                  <a:pt x="500" y="35"/>
                </a:lnTo>
                <a:lnTo>
                  <a:pt x="502" y="48"/>
                </a:lnTo>
                <a:lnTo>
                  <a:pt x="505" y="59"/>
                </a:lnTo>
                <a:lnTo>
                  <a:pt x="506" y="73"/>
                </a:lnTo>
                <a:lnTo>
                  <a:pt x="506" y="86"/>
                </a:lnTo>
                <a:lnTo>
                  <a:pt x="508" y="99"/>
                </a:lnTo>
                <a:lnTo>
                  <a:pt x="508" y="107"/>
                </a:lnTo>
                <a:lnTo>
                  <a:pt x="506" y="114"/>
                </a:lnTo>
                <a:lnTo>
                  <a:pt x="506" y="122"/>
                </a:lnTo>
                <a:lnTo>
                  <a:pt x="505" y="131"/>
                </a:lnTo>
                <a:lnTo>
                  <a:pt x="505" y="137"/>
                </a:lnTo>
                <a:lnTo>
                  <a:pt x="503" y="146"/>
                </a:lnTo>
                <a:lnTo>
                  <a:pt x="502" y="154"/>
                </a:lnTo>
                <a:lnTo>
                  <a:pt x="500" y="160"/>
                </a:lnTo>
                <a:lnTo>
                  <a:pt x="505" y="159"/>
                </a:lnTo>
                <a:lnTo>
                  <a:pt x="506" y="151"/>
                </a:lnTo>
                <a:lnTo>
                  <a:pt x="508" y="144"/>
                </a:lnTo>
                <a:lnTo>
                  <a:pt x="510" y="137"/>
                </a:lnTo>
                <a:lnTo>
                  <a:pt x="511" y="129"/>
                </a:lnTo>
                <a:lnTo>
                  <a:pt x="511" y="122"/>
                </a:lnTo>
                <a:lnTo>
                  <a:pt x="511" y="114"/>
                </a:lnTo>
                <a:lnTo>
                  <a:pt x="511" y="106"/>
                </a:lnTo>
                <a:lnTo>
                  <a:pt x="513" y="99"/>
                </a:lnTo>
                <a:close/>
                <a:moveTo>
                  <a:pt x="10" y="30"/>
                </a:moveTo>
                <a:lnTo>
                  <a:pt x="6" y="38"/>
                </a:lnTo>
                <a:lnTo>
                  <a:pt x="5" y="46"/>
                </a:lnTo>
                <a:lnTo>
                  <a:pt x="3" y="54"/>
                </a:lnTo>
                <a:lnTo>
                  <a:pt x="3" y="64"/>
                </a:lnTo>
                <a:lnTo>
                  <a:pt x="1" y="73"/>
                </a:lnTo>
                <a:lnTo>
                  <a:pt x="0" y="81"/>
                </a:lnTo>
                <a:lnTo>
                  <a:pt x="0" y="91"/>
                </a:lnTo>
                <a:lnTo>
                  <a:pt x="0" y="99"/>
                </a:lnTo>
                <a:lnTo>
                  <a:pt x="0" y="112"/>
                </a:lnTo>
                <a:lnTo>
                  <a:pt x="1" y="126"/>
                </a:lnTo>
                <a:lnTo>
                  <a:pt x="3" y="137"/>
                </a:lnTo>
                <a:lnTo>
                  <a:pt x="5" y="151"/>
                </a:lnTo>
                <a:lnTo>
                  <a:pt x="8" y="162"/>
                </a:lnTo>
                <a:lnTo>
                  <a:pt x="11" y="175"/>
                </a:lnTo>
                <a:lnTo>
                  <a:pt x="15" y="187"/>
                </a:lnTo>
                <a:lnTo>
                  <a:pt x="20" y="199"/>
                </a:lnTo>
                <a:lnTo>
                  <a:pt x="25" y="199"/>
                </a:lnTo>
                <a:lnTo>
                  <a:pt x="21" y="187"/>
                </a:lnTo>
                <a:lnTo>
                  <a:pt x="16" y="175"/>
                </a:lnTo>
                <a:lnTo>
                  <a:pt x="13" y="162"/>
                </a:lnTo>
                <a:lnTo>
                  <a:pt x="10" y="151"/>
                </a:lnTo>
                <a:lnTo>
                  <a:pt x="8" y="137"/>
                </a:lnTo>
                <a:lnTo>
                  <a:pt x="6" y="126"/>
                </a:lnTo>
                <a:lnTo>
                  <a:pt x="5" y="112"/>
                </a:lnTo>
                <a:lnTo>
                  <a:pt x="5" y="99"/>
                </a:lnTo>
                <a:lnTo>
                  <a:pt x="5" y="89"/>
                </a:lnTo>
                <a:lnTo>
                  <a:pt x="5" y="81"/>
                </a:lnTo>
                <a:lnTo>
                  <a:pt x="6" y="71"/>
                </a:lnTo>
                <a:lnTo>
                  <a:pt x="8" y="63"/>
                </a:lnTo>
                <a:lnTo>
                  <a:pt x="10" y="53"/>
                </a:lnTo>
                <a:lnTo>
                  <a:pt x="11" y="45"/>
                </a:lnTo>
                <a:lnTo>
                  <a:pt x="13" y="36"/>
                </a:lnTo>
                <a:lnTo>
                  <a:pt x="15" y="28"/>
                </a:lnTo>
                <a:lnTo>
                  <a:pt x="10" y="3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12" name="Freeform 1117">
            <a:extLst>
              <a:ext uri="{FF2B5EF4-FFF2-40B4-BE49-F238E27FC236}">
                <a16:creationId xmlns:a16="http://schemas.microsoft.com/office/drawing/2014/main" id="{780FCEAC-3B7B-16C9-A5A1-C9616C4ED2E7}"/>
              </a:ext>
            </a:extLst>
          </p:cNvPr>
          <p:cNvSpPr>
            <a:spLocks noEditPoints="1"/>
          </p:cNvSpPr>
          <p:nvPr/>
        </p:nvSpPr>
        <p:spPr bwMode="auto">
          <a:xfrm>
            <a:off x="2513013" y="2403475"/>
            <a:ext cx="804863" cy="315913"/>
          </a:xfrm>
          <a:custGeom>
            <a:avLst/>
            <a:gdLst>
              <a:gd name="T0" fmla="*/ 507 w 507"/>
              <a:gd name="T1" fmla="*/ 86 h 199"/>
              <a:gd name="T2" fmla="*/ 503 w 507"/>
              <a:gd name="T3" fmla="*/ 59 h 199"/>
              <a:gd name="T4" fmla="*/ 499 w 507"/>
              <a:gd name="T5" fmla="*/ 35 h 199"/>
              <a:gd name="T6" fmla="*/ 492 w 507"/>
              <a:gd name="T7" fmla="*/ 11 h 199"/>
              <a:gd name="T8" fmla="*/ 482 w 507"/>
              <a:gd name="T9" fmla="*/ 0 h 199"/>
              <a:gd name="T10" fmla="*/ 490 w 507"/>
              <a:gd name="T11" fmla="*/ 23 h 199"/>
              <a:gd name="T12" fmla="*/ 497 w 507"/>
              <a:gd name="T13" fmla="*/ 48 h 199"/>
              <a:gd name="T14" fmla="*/ 500 w 507"/>
              <a:gd name="T15" fmla="*/ 73 h 199"/>
              <a:gd name="T16" fmla="*/ 502 w 507"/>
              <a:gd name="T17" fmla="*/ 99 h 199"/>
              <a:gd name="T18" fmla="*/ 502 w 507"/>
              <a:gd name="T19" fmla="*/ 116 h 199"/>
              <a:gd name="T20" fmla="*/ 500 w 507"/>
              <a:gd name="T21" fmla="*/ 131 h 199"/>
              <a:gd name="T22" fmla="*/ 497 w 507"/>
              <a:gd name="T23" fmla="*/ 147 h 199"/>
              <a:gd name="T24" fmla="*/ 494 w 507"/>
              <a:gd name="T25" fmla="*/ 162 h 199"/>
              <a:gd name="T26" fmla="*/ 502 w 507"/>
              <a:gd name="T27" fmla="*/ 152 h 199"/>
              <a:gd name="T28" fmla="*/ 503 w 507"/>
              <a:gd name="T29" fmla="*/ 137 h 199"/>
              <a:gd name="T30" fmla="*/ 505 w 507"/>
              <a:gd name="T31" fmla="*/ 122 h 199"/>
              <a:gd name="T32" fmla="*/ 507 w 507"/>
              <a:gd name="T33" fmla="*/ 107 h 199"/>
              <a:gd name="T34" fmla="*/ 10 w 507"/>
              <a:gd name="T35" fmla="*/ 30 h 199"/>
              <a:gd name="T36" fmla="*/ 5 w 507"/>
              <a:gd name="T37" fmla="*/ 46 h 199"/>
              <a:gd name="T38" fmla="*/ 2 w 507"/>
              <a:gd name="T39" fmla="*/ 63 h 199"/>
              <a:gd name="T40" fmla="*/ 0 w 507"/>
              <a:gd name="T41" fmla="*/ 81 h 199"/>
              <a:gd name="T42" fmla="*/ 0 w 507"/>
              <a:gd name="T43" fmla="*/ 99 h 199"/>
              <a:gd name="T44" fmla="*/ 0 w 507"/>
              <a:gd name="T45" fmla="*/ 126 h 199"/>
              <a:gd name="T46" fmla="*/ 5 w 507"/>
              <a:gd name="T47" fmla="*/ 151 h 199"/>
              <a:gd name="T48" fmla="*/ 12 w 507"/>
              <a:gd name="T49" fmla="*/ 175 h 199"/>
              <a:gd name="T50" fmla="*/ 20 w 507"/>
              <a:gd name="T51" fmla="*/ 199 h 199"/>
              <a:gd name="T52" fmla="*/ 20 w 507"/>
              <a:gd name="T53" fmla="*/ 187 h 199"/>
              <a:gd name="T54" fmla="*/ 12 w 507"/>
              <a:gd name="T55" fmla="*/ 162 h 199"/>
              <a:gd name="T56" fmla="*/ 7 w 507"/>
              <a:gd name="T57" fmla="*/ 137 h 199"/>
              <a:gd name="T58" fmla="*/ 5 w 507"/>
              <a:gd name="T59" fmla="*/ 112 h 199"/>
              <a:gd name="T60" fmla="*/ 5 w 507"/>
              <a:gd name="T61" fmla="*/ 89 h 199"/>
              <a:gd name="T62" fmla="*/ 5 w 507"/>
              <a:gd name="T63" fmla="*/ 71 h 199"/>
              <a:gd name="T64" fmla="*/ 8 w 507"/>
              <a:gd name="T65" fmla="*/ 53 h 199"/>
              <a:gd name="T66" fmla="*/ 13 w 507"/>
              <a:gd name="T67" fmla="*/ 35 h 199"/>
              <a:gd name="T68" fmla="*/ 10 w 507"/>
              <a:gd name="T69" fmla="*/ 3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7" h="199">
                <a:moveTo>
                  <a:pt x="507" y="99"/>
                </a:moveTo>
                <a:lnTo>
                  <a:pt x="507" y="86"/>
                </a:lnTo>
                <a:lnTo>
                  <a:pt x="505" y="73"/>
                </a:lnTo>
                <a:lnTo>
                  <a:pt x="503" y="59"/>
                </a:lnTo>
                <a:lnTo>
                  <a:pt x="502" y="48"/>
                </a:lnTo>
                <a:lnTo>
                  <a:pt x="499" y="35"/>
                </a:lnTo>
                <a:lnTo>
                  <a:pt x="495" y="23"/>
                </a:lnTo>
                <a:lnTo>
                  <a:pt x="492" y="11"/>
                </a:lnTo>
                <a:lnTo>
                  <a:pt x="487" y="0"/>
                </a:lnTo>
                <a:lnTo>
                  <a:pt x="482" y="0"/>
                </a:lnTo>
                <a:lnTo>
                  <a:pt x="487" y="11"/>
                </a:lnTo>
                <a:lnTo>
                  <a:pt x="490" y="23"/>
                </a:lnTo>
                <a:lnTo>
                  <a:pt x="494" y="35"/>
                </a:lnTo>
                <a:lnTo>
                  <a:pt x="497" y="48"/>
                </a:lnTo>
                <a:lnTo>
                  <a:pt x="499" y="59"/>
                </a:lnTo>
                <a:lnTo>
                  <a:pt x="500" y="73"/>
                </a:lnTo>
                <a:lnTo>
                  <a:pt x="502" y="86"/>
                </a:lnTo>
                <a:lnTo>
                  <a:pt x="502" y="99"/>
                </a:lnTo>
                <a:lnTo>
                  <a:pt x="502" y="107"/>
                </a:lnTo>
                <a:lnTo>
                  <a:pt x="502" y="116"/>
                </a:lnTo>
                <a:lnTo>
                  <a:pt x="502" y="122"/>
                </a:lnTo>
                <a:lnTo>
                  <a:pt x="500" y="131"/>
                </a:lnTo>
                <a:lnTo>
                  <a:pt x="499" y="139"/>
                </a:lnTo>
                <a:lnTo>
                  <a:pt x="497" y="147"/>
                </a:lnTo>
                <a:lnTo>
                  <a:pt x="495" y="154"/>
                </a:lnTo>
                <a:lnTo>
                  <a:pt x="494" y="162"/>
                </a:lnTo>
                <a:lnTo>
                  <a:pt x="500" y="159"/>
                </a:lnTo>
                <a:lnTo>
                  <a:pt x="502" y="152"/>
                </a:lnTo>
                <a:lnTo>
                  <a:pt x="503" y="146"/>
                </a:lnTo>
                <a:lnTo>
                  <a:pt x="503" y="137"/>
                </a:lnTo>
                <a:lnTo>
                  <a:pt x="505" y="129"/>
                </a:lnTo>
                <a:lnTo>
                  <a:pt x="505" y="122"/>
                </a:lnTo>
                <a:lnTo>
                  <a:pt x="507" y="114"/>
                </a:lnTo>
                <a:lnTo>
                  <a:pt x="507" y="107"/>
                </a:lnTo>
                <a:lnTo>
                  <a:pt x="507" y="99"/>
                </a:lnTo>
                <a:close/>
                <a:moveTo>
                  <a:pt x="10" y="30"/>
                </a:moveTo>
                <a:lnTo>
                  <a:pt x="7" y="38"/>
                </a:lnTo>
                <a:lnTo>
                  <a:pt x="5" y="46"/>
                </a:lnTo>
                <a:lnTo>
                  <a:pt x="3" y="54"/>
                </a:lnTo>
                <a:lnTo>
                  <a:pt x="2" y="63"/>
                </a:lnTo>
                <a:lnTo>
                  <a:pt x="0" y="73"/>
                </a:lnTo>
                <a:lnTo>
                  <a:pt x="0" y="81"/>
                </a:lnTo>
                <a:lnTo>
                  <a:pt x="0" y="89"/>
                </a:lnTo>
                <a:lnTo>
                  <a:pt x="0" y="99"/>
                </a:lnTo>
                <a:lnTo>
                  <a:pt x="0" y="112"/>
                </a:lnTo>
                <a:lnTo>
                  <a:pt x="0" y="126"/>
                </a:lnTo>
                <a:lnTo>
                  <a:pt x="2" y="137"/>
                </a:lnTo>
                <a:lnTo>
                  <a:pt x="5" y="151"/>
                </a:lnTo>
                <a:lnTo>
                  <a:pt x="7" y="162"/>
                </a:lnTo>
                <a:lnTo>
                  <a:pt x="12" y="175"/>
                </a:lnTo>
                <a:lnTo>
                  <a:pt x="15" y="187"/>
                </a:lnTo>
                <a:lnTo>
                  <a:pt x="20" y="199"/>
                </a:lnTo>
                <a:lnTo>
                  <a:pt x="25" y="199"/>
                </a:lnTo>
                <a:lnTo>
                  <a:pt x="20" y="187"/>
                </a:lnTo>
                <a:lnTo>
                  <a:pt x="17" y="175"/>
                </a:lnTo>
                <a:lnTo>
                  <a:pt x="12" y="162"/>
                </a:lnTo>
                <a:lnTo>
                  <a:pt x="10" y="151"/>
                </a:lnTo>
                <a:lnTo>
                  <a:pt x="7" y="137"/>
                </a:lnTo>
                <a:lnTo>
                  <a:pt x="5" y="126"/>
                </a:lnTo>
                <a:lnTo>
                  <a:pt x="5" y="112"/>
                </a:lnTo>
                <a:lnTo>
                  <a:pt x="3" y="99"/>
                </a:lnTo>
                <a:lnTo>
                  <a:pt x="5" y="89"/>
                </a:lnTo>
                <a:lnTo>
                  <a:pt x="5" y="81"/>
                </a:lnTo>
                <a:lnTo>
                  <a:pt x="5" y="71"/>
                </a:lnTo>
                <a:lnTo>
                  <a:pt x="7" y="61"/>
                </a:lnTo>
                <a:lnTo>
                  <a:pt x="8" y="53"/>
                </a:lnTo>
                <a:lnTo>
                  <a:pt x="10" y="43"/>
                </a:lnTo>
                <a:lnTo>
                  <a:pt x="13" y="35"/>
                </a:lnTo>
                <a:lnTo>
                  <a:pt x="15" y="26"/>
                </a:lnTo>
                <a:lnTo>
                  <a:pt x="10" y="3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13" name="Freeform 1118">
            <a:extLst>
              <a:ext uri="{FF2B5EF4-FFF2-40B4-BE49-F238E27FC236}">
                <a16:creationId xmlns:a16="http://schemas.microsoft.com/office/drawing/2014/main" id="{469F2C3D-57B0-F214-09F5-EEA5AB7B8848}"/>
              </a:ext>
            </a:extLst>
          </p:cNvPr>
          <p:cNvSpPr>
            <a:spLocks noEditPoints="1"/>
          </p:cNvSpPr>
          <p:nvPr/>
        </p:nvSpPr>
        <p:spPr bwMode="auto">
          <a:xfrm>
            <a:off x="2516188" y="2403475"/>
            <a:ext cx="798513" cy="315913"/>
          </a:xfrm>
          <a:custGeom>
            <a:avLst/>
            <a:gdLst>
              <a:gd name="T0" fmla="*/ 501 w 503"/>
              <a:gd name="T1" fmla="*/ 86 h 199"/>
              <a:gd name="T2" fmla="*/ 500 w 503"/>
              <a:gd name="T3" fmla="*/ 59 h 199"/>
              <a:gd name="T4" fmla="*/ 495 w 503"/>
              <a:gd name="T5" fmla="*/ 35 h 199"/>
              <a:gd name="T6" fmla="*/ 487 w 503"/>
              <a:gd name="T7" fmla="*/ 11 h 199"/>
              <a:gd name="T8" fmla="*/ 477 w 503"/>
              <a:gd name="T9" fmla="*/ 0 h 199"/>
              <a:gd name="T10" fmla="*/ 487 w 503"/>
              <a:gd name="T11" fmla="*/ 23 h 199"/>
              <a:gd name="T12" fmla="*/ 493 w 503"/>
              <a:gd name="T13" fmla="*/ 48 h 199"/>
              <a:gd name="T14" fmla="*/ 497 w 503"/>
              <a:gd name="T15" fmla="*/ 73 h 199"/>
              <a:gd name="T16" fmla="*/ 498 w 503"/>
              <a:gd name="T17" fmla="*/ 99 h 199"/>
              <a:gd name="T18" fmla="*/ 497 w 503"/>
              <a:gd name="T19" fmla="*/ 116 h 199"/>
              <a:gd name="T20" fmla="*/ 495 w 503"/>
              <a:gd name="T21" fmla="*/ 132 h 199"/>
              <a:gd name="T22" fmla="*/ 493 w 503"/>
              <a:gd name="T23" fmla="*/ 147 h 199"/>
              <a:gd name="T24" fmla="*/ 490 w 503"/>
              <a:gd name="T25" fmla="*/ 164 h 199"/>
              <a:gd name="T26" fmla="*/ 497 w 503"/>
              <a:gd name="T27" fmla="*/ 154 h 199"/>
              <a:gd name="T28" fmla="*/ 500 w 503"/>
              <a:gd name="T29" fmla="*/ 137 h 199"/>
              <a:gd name="T30" fmla="*/ 501 w 503"/>
              <a:gd name="T31" fmla="*/ 122 h 199"/>
              <a:gd name="T32" fmla="*/ 503 w 503"/>
              <a:gd name="T33" fmla="*/ 107 h 199"/>
              <a:gd name="T34" fmla="*/ 10 w 503"/>
              <a:gd name="T35" fmla="*/ 28 h 199"/>
              <a:gd name="T36" fmla="*/ 6 w 503"/>
              <a:gd name="T37" fmla="*/ 45 h 199"/>
              <a:gd name="T38" fmla="*/ 3 w 503"/>
              <a:gd name="T39" fmla="*/ 63 h 199"/>
              <a:gd name="T40" fmla="*/ 0 w 503"/>
              <a:gd name="T41" fmla="*/ 81 h 199"/>
              <a:gd name="T42" fmla="*/ 0 w 503"/>
              <a:gd name="T43" fmla="*/ 99 h 199"/>
              <a:gd name="T44" fmla="*/ 1 w 503"/>
              <a:gd name="T45" fmla="*/ 126 h 199"/>
              <a:gd name="T46" fmla="*/ 5 w 503"/>
              <a:gd name="T47" fmla="*/ 151 h 199"/>
              <a:gd name="T48" fmla="*/ 11 w 503"/>
              <a:gd name="T49" fmla="*/ 175 h 199"/>
              <a:gd name="T50" fmla="*/ 20 w 503"/>
              <a:gd name="T51" fmla="*/ 199 h 199"/>
              <a:gd name="T52" fmla="*/ 21 w 503"/>
              <a:gd name="T53" fmla="*/ 187 h 199"/>
              <a:gd name="T54" fmla="*/ 13 w 503"/>
              <a:gd name="T55" fmla="*/ 162 h 199"/>
              <a:gd name="T56" fmla="*/ 8 w 503"/>
              <a:gd name="T57" fmla="*/ 137 h 199"/>
              <a:gd name="T58" fmla="*/ 5 w 503"/>
              <a:gd name="T59" fmla="*/ 112 h 199"/>
              <a:gd name="T60" fmla="*/ 5 w 503"/>
              <a:gd name="T61" fmla="*/ 89 h 199"/>
              <a:gd name="T62" fmla="*/ 6 w 503"/>
              <a:gd name="T63" fmla="*/ 71 h 199"/>
              <a:gd name="T64" fmla="*/ 10 w 503"/>
              <a:gd name="T65" fmla="*/ 51 h 199"/>
              <a:gd name="T66" fmla="*/ 13 w 503"/>
              <a:gd name="T67" fmla="*/ 33 h 199"/>
              <a:gd name="T68" fmla="*/ 10 w 503"/>
              <a:gd name="T69" fmla="*/ 2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3" h="199">
                <a:moveTo>
                  <a:pt x="503" y="99"/>
                </a:moveTo>
                <a:lnTo>
                  <a:pt x="501" y="86"/>
                </a:lnTo>
                <a:lnTo>
                  <a:pt x="501" y="73"/>
                </a:lnTo>
                <a:lnTo>
                  <a:pt x="500" y="59"/>
                </a:lnTo>
                <a:lnTo>
                  <a:pt x="497" y="48"/>
                </a:lnTo>
                <a:lnTo>
                  <a:pt x="495" y="35"/>
                </a:lnTo>
                <a:lnTo>
                  <a:pt x="492" y="23"/>
                </a:lnTo>
                <a:lnTo>
                  <a:pt x="487" y="11"/>
                </a:lnTo>
                <a:lnTo>
                  <a:pt x="482" y="0"/>
                </a:lnTo>
                <a:lnTo>
                  <a:pt x="477" y="0"/>
                </a:lnTo>
                <a:lnTo>
                  <a:pt x="482" y="11"/>
                </a:lnTo>
                <a:lnTo>
                  <a:pt x="487" y="23"/>
                </a:lnTo>
                <a:lnTo>
                  <a:pt x="490" y="35"/>
                </a:lnTo>
                <a:lnTo>
                  <a:pt x="493" y="48"/>
                </a:lnTo>
                <a:lnTo>
                  <a:pt x="495" y="59"/>
                </a:lnTo>
                <a:lnTo>
                  <a:pt x="497" y="73"/>
                </a:lnTo>
                <a:lnTo>
                  <a:pt x="498" y="86"/>
                </a:lnTo>
                <a:lnTo>
                  <a:pt x="498" y="99"/>
                </a:lnTo>
                <a:lnTo>
                  <a:pt x="498" y="107"/>
                </a:lnTo>
                <a:lnTo>
                  <a:pt x="497" y="116"/>
                </a:lnTo>
                <a:lnTo>
                  <a:pt x="497" y="124"/>
                </a:lnTo>
                <a:lnTo>
                  <a:pt x="495" y="132"/>
                </a:lnTo>
                <a:lnTo>
                  <a:pt x="495" y="139"/>
                </a:lnTo>
                <a:lnTo>
                  <a:pt x="493" y="147"/>
                </a:lnTo>
                <a:lnTo>
                  <a:pt x="492" y="155"/>
                </a:lnTo>
                <a:lnTo>
                  <a:pt x="490" y="164"/>
                </a:lnTo>
                <a:lnTo>
                  <a:pt x="495" y="160"/>
                </a:lnTo>
                <a:lnTo>
                  <a:pt x="497" y="154"/>
                </a:lnTo>
                <a:lnTo>
                  <a:pt x="498" y="146"/>
                </a:lnTo>
                <a:lnTo>
                  <a:pt x="500" y="137"/>
                </a:lnTo>
                <a:lnTo>
                  <a:pt x="500" y="131"/>
                </a:lnTo>
                <a:lnTo>
                  <a:pt x="501" y="122"/>
                </a:lnTo>
                <a:lnTo>
                  <a:pt x="501" y="114"/>
                </a:lnTo>
                <a:lnTo>
                  <a:pt x="503" y="107"/>
                </a:lnTo>
                <a:lnTo>
                  <a:pt x="503" y="99"/>
                </a:lnTo>
                <a:close/>
                <a:moveTo>
                  <a:pt x="10" y="28"/>
                </a:moveTo>
                <a:lnTo>
                  <a:pt x="8" y="36"/>
                </a:lnTo>
                <a:lnTo>
                  <a:pt x="6" y="45"/>
                </a:lnTo>
                <a:lnTo>
                  <a:pt x="5" y="53"/>
                </a:lnTo>
                <a:lnTo>
                  <a:pt x="3" y="63"/>
                </a:lnTo>
                <a:lnTo>
                  <a:pt x="1" y="71"/>
                </a:lnTo>
                <a:lnTo>
                  <a:pt x="0" y="81"/>
                </a:lnTo>
                <a:lnTo>
                  <a:pt x="0" y="89"/>
                </a:lnTo>
                <a:lnTo>
                  <a:pt x="0" y="99"/>
                </a:lnTo>
                <a:lnTo>
                  <a:pt x="0" y="112"/>
                </a:lnTo>
                <a:lnTo>
                  <a:pt x="1" y="126"/>
                </a:lnTo>
                <a:lnTo>
                  <a:pt x="3" y="137"/>
                </a:lnTo>
                <a:lnTo>
                  <a:pt x="5" y="151"/>
                </a:lnTo>
                <a:lnTo>
                  <a:pt x="8" y="162"/>
                </a:lnTo>
                <a:lnTo>
                  <a:pt x="11" y="175"/>
                </a:lnTo>
                <a:lnTo>
                  <a:pt x="16" y="187"/>
                </a:lnTo>
                <a:lnTo>
                  <a:pt x="20" y="199"/>
                </a:lnTo>
                <a:lnTo>
                  <a:pt x="26" y="199"/>
                </a:lnTo>
                <a:lnTo>
                  <a:pt x="21" y="187"/>
                </a:lnTo>
                <a:lnTo>
                  <a:pt x="16" y="175"/>
                </a:lnTo>
                <a:lnTo>
                  <a:pt x="13" y="162"/>
                </a:lnTo>
                <a:lnTo>
                  <a:pt x="10" y="151"/>
                </a:lnTo>
                <a:lnTo>
                  <a:pt x="8" y="137"/>
                </a:lnTo>
                <a:lnTo>
                  <a:pt x="6" y="126"/>
                </a:lnTo>
                <a:lnTo>
                  <a:pt x="5" y="112"/>
                </a:lnTo>
                <a:lnTo>
                  <a:pt x="5" y="99"/>
                </a:lnTo>
                <a:lnTo>
                  <a:pt x="5" y="89"/>
                </a:lnTo>
                <a:lnTo>
                  <a:pt x="5" y="79"/>
                </a:lnTo>
                <a:lnTo>
                  <a:pt x="6" y="71"/>
                </a:lnTo>
                <a:lnTo>
                  <a:pt x="8" y="61"/>
                </a:lnTo>
                <a:lnTo>
                  <a:pt x="10" y="51"/>
                </a:lnTo>
                <a:lnTo>
                  <a:pt x="11" y="43"/>
                </a:lnTo>
                <a:lnTo>
                  <a:pt x="13" y="33"/>
                </a:lnTo>
                <a:lnTo>
                  <a:pt x="16" y="25"/>
                </a:lnTo>
                <a:lnTo>
                  <a:pt x="10" y="28"/>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14" name="Freeform 1119">
            <a:extLst>
              <a:ext uri="{FF2B5EF4-FFF2-40B4-BE49-F238E27FC236}">
                <a16:creationId xmlns:a16="http://schemas.microsoft.com/office/drawing/2014/main" id="{4E899E97-89E6-F767-3361-FEC1D0F34454}"/>
              </a:ext>
            </a:extLst>
          </p:cNvPr>
          <p:cNvSpPr>
            <a:spLocks noEditPoints="1"/>
          </p:cNvSpPr>
          <p:nvPr/>
        </p:nvSpPr>
        <p:spPr bwMode="auto">
          <a:xfrm>
            <a:off x="2517775" y="2403475"/>
            <a:ext cx="792163" cy="315913"/>
          </a:xfrm>
          <a:custGeom>
            <a:avLst/>
            <a:gdLst>
              <a:gd name="T0" fmla="*/ 499 w 499"/>
              <a:gd name="T1" fmla="*/ 86 h 199"/>
              <a:gd name="T2" fmla="*/ 496 w 499"/>
              <a:gd name="T3" fmla="*/ 59 h 199"/>
              <a:gd name="T4" fmla="*/ 491 w 499"/>
              <a:gd name="T5" fmla="*/ 35 h 199"/>
              <a:gd name="T6" fmla="*/ 484 w 499"/>
              <a:gd name="T7" fmla="*/ 11 h 199"/>
              <a:gd name="T8" fmla="*/ 474 w 499"/>
              <a:gd name="T9" fmla="*/ 0 h 199"/>
              <a:gd name="T10" fmla="*/ 482 w 499"/>
              <a:gd name="T11" fmla="*/ 23 h 199"/>
              <a:gd name="T12" fmla="*/ 489 w 499"/>
              <a:gd name="T13" fmla="*/ 48 h 199"/>
              <a:gd name="T14" fmla="*/ 492 w 499"/>
              <a:gd name="T15" fmla="*/ 73 h 199"/>
              <a:gd name="T16" fmla="*/ 494 w 499"/>
              <a:gd name="T17" fmla="*/ 99 h 199"/>
              <a:gd name="T18" fmla="*/ 494 w 499"/>
              <a:gd name="T19" fmla="*/ 116 h 199"/>
              <a:gd name="T20" fmla="*/ 492 w 499"/>
              <a:gd name="T21" fmla="*/ 132 h 199"/>
              <a:gd name="T22" fmla="*/ 489 w 499"/>
              <a:gd name="T23" fmla="*/ 149 h 199"/>
              <a:gd name="T24" fmla="*/ 486 w 499"/>
              <a:gd name="T25" fmla="*/ 164 h 199"/>
              <a:gd name="T26" fmla="*/ 492 w 499"/>
              <a:gd name="T27" fmla="*/ 154 h 199"/>
              <a:gd name="T28" fmla="*/ 496 w 499"/>
              <a:gd name="T29" fmla="*/ 139 h 199"/>
              <a:gd name="T30" fmla="*/ 499 w 499"/>
              <a:gd name="T31" fmla="*/ 122 h 199"/>
              <a:gd name="T32" fmla="*/ 499 w 499"/>
              <a:gd name="T33" fmla="*/ 107 h 199"/>
              <a:gd name="T34" fmla="*/ 12 w 499"/>
              <a:gd name="T35" fmla="*/ 26 h 199"/>
              <a:gd name="T36" fmla="*/ 7 w 499"/>
              <a:gd name="T37" fmla="*/ 43 h 199"/>
              <a:gd name="T38" fmla="*/ 4 w 499"/>
              <a:gd name="T39" fmla="*/ 61 h 199"/>
              <a:gd name="T40" fmla="*/ 2 w 499"/>
              <a:gd name="T41" fmla="*/ 81 h 199"/>
              <a:gd name="T42" fmla="*/ 0 w 499"/>
              <a:gd name="T43" fmla="*/ 99 h 199"/>
              <a:gd name="T44" fmla="*/ 2 w 499"/>
              <a:gd name="T45" fmla="*/ 126 h 199"/>
              <a:gd name="T46" fmla="*/ 7 w 499"/>
              <a:gd name="T47" fmla="*/ 151 h 199"/>
              <a:gd name="T48" fmla="*/ 14 w 499"/>
              <a:gd name="T49" fmla="*/ 175 h 199"/>
              <a:gd name="T50" fmla="*/ 22 w 499"/>
              <a:gd name="T51" fmla="*/ 199 h 199"/>
              <a:gd name="T52" fmla="*/ 22 w 499"/>
              <a:gd name="T53" fmla="*/ 187 h 199"/>
              <a:gd name="T54" fmla="*/ 14 w 499"/>
              <a:gd name="T55" fmla="*/ 162 h 199"/>
              <a:gd name="T56" fmla="*/ 9 w 499"/>
              <a:gd name="T57" fmla="*/ 137 h 199"/>
              <a:gd name="T58" fmla="*/ 7 w 499"/>
              <a:gd name="T59" fmla="*/ 112 h 199"/>
              <a:gd name="T60" fmla="*/ 5 w 499"/>
              <a:gd name="T61" fmla="*/ 89 h 199"/>
              <a:gd name="T62" fmla="*/ 7 w 499"/>
              <a:gd name="T63" fmla="*/ 69 h 199"/>
              <a:gd name="T64" fmla="*/ 10 w 499"/>
              <a:gd name="T65" fmla="*/ 51 h 199"/>
              <a:gd name="T66" fmla="*/ 15 w 499"/>
              <a:gd name="T67" fmla="*/ 33 h 199"/>
              <a:gd name="T68" fmla="*/ 12 w 499"/>
              <a:gd name="T69" fmla="*/ 2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9" h="199">
                <a:moveTo>
                  <a:pt x="499" y="99"/>
                </a:moveTo>
                <a:lnTo>
                  <a:pt x="499" y="86"/>
                </a:lnTo>
                <a:lnTo>
                  <a:pt x="497" y="73"/>
                </a:lnTo>
                <a:lnTo>
                  <a:pt x="496" y="59"/>
                </a:lnTo>
                <a:lnTo>
                  <a:pt x="494" y="48"/>
                </a:lnTo>
                <a:lnTo>
                  <a:pt x="491" y="35"/>
                </a:lnTo>
                <a:lnTo>
                  <a:pt x="487" y="23"/>
                </a:lnTo>
                <a:lnTo>
                  <a:pt x="484" y="11"/>
                </a:lnTo>
                <a:lnTo>
                  <a:pt x="479" y="0"/>
                </a:lnTo>
                <a:lnTo>
                  <a:pt x="474" y="0"/>
                </a:lnTo>
                <a:lnTo>
                  <a:pt x="477" y="11"/>
                </a:lnTo>
                <a:lnTo>
                  <a:pt x="482" y="23"/>
                </a:lnTo>
                <a:lnTo>
                  <a:pt x="486" y="35"/>
                </a:lnTo>
                <a:lnTo>
                  <a:pt x="489" y="48"/>
                </a:lnTo>
                <a:lnTo>
                  <a:pt x="491" y="59"/>
                </a:lnTo>
                <a:lnTo>
                  <a:pt x="492" y="73"/>
                </a:lnTo>
                <a:lnTo>
                  <a:pt x="494" y="86"/>
                </a:lnTo>
                <a:lnTo>
                  <a:pt x="494" y="99"/>
                </a:lnTo>
                <a:lnTo>
                  <a:pt x="494" y="107"/>
                </a:lnTo>
                <a:lnTo>
                  <a:pt x="494" y="116"/>
                </a:lnTo>
                <a:lnTo>
                  <a:pt x="494" y="124"/>
                </a:lnTo>
                <a:lnTo>
                  <a:pt x="492" y="132"/>
                </a:lnTo>
                <a:lnTo>
                  <a:pt x="491" y="141"/>
                </a:lnTo>
                <a:lnTo>
                  <a:pt x="489" y="149"/>
                </a:lnTo>
                <a:lnTo>
                  <a:pt x="487" y="157"/>
                </a:lnTo>
                <a:lnTo>
                  <a:pt x="486" y="164"/>
                </a:lnTo>
                <a:lnTo>
                  <a:pt x="491" y="162"/>
                </a:lnTo>
                <a:lnTo>
                  <a:pt x="492" y="154"/>
                </a:lnTo>
                <a:lnTo>
                  <a:pt x="494" y="147"/>
                </a:lnTo>
                <a:lnTo>
                  <a:pt x="496" y="139"/>
                </a:lnTo>
                <a:lnTo>
                  <a:pt x="497" y="131"/>
                </a:lnTo>
                <a:lnTo>
                  <a:pt x="499" y="122"/>
                </a:lnTo>
                <a:lnTo>
                  <a:pt x="499" y="116"/>
                </a:lnTo>
                <a:lnTo>
                  <a:pt x="499" y="107"/>
                </a:lnTo>
                <a:lnTo>
                  <a:pt x="499" y="99"/>
                </a:lnTo>
                <a:close/>
                <a:moveTo>
                  <a:pt x="12" y="26"/>
                </a:moveTo>
                <a:lnTo>
                  <a:pt x="10" y="35"/>
                </a:lnTo>
                <a:lnTo>
                  <a:pt x="7" y="43"/>
                </a:lnTo>
                <a:lnTo>
                  <a:pt x="5" y="53"/>
                </a:lnTo>
                <a:lnTo>
                  <a:pt x="4" y="61"/>
                </a:lnTo>
                <a:lnTo>
                  <a:pt x="2" y="71"/>
                </a:lnTo>
                <a:lnTo>
                  <a:pt x="2" y="81"/>
                </a:lnTo>
                <a:lnTo>
                  <a:pt x="2" y="89"/>
                </a:lnTo>
                <a:lnTo>
                  <a:pt x="0" y="99"/>
                </a:lnTo>
                <a:lnTo>
                  <a:pt x="2" y="112"/>
                </a:lnTo>
                <a:lnTo>
                  <a:pt x="2" y="126"/>
                </a:lnTo>
                <a:lnTo>
                  <a:pt x="4" y="137"/>
                </a:lnTo>
                <a:lnTo>
                  <a:pt x="7" y="151"/>
                </a:lnTo>
                <a:lnTo>
                  <a:pt x="9" y="162"/>
                </a:lnTo>
                <a:lnTo>
                  <a:pt x="14" y="175"/>
                </a:lnTo>
                <a:lnTo>
                  <a:pt x="17" y="187"/>
                </a:lnTo>
                <a:lnTo>
                  <a:pt x="22" y="199"/>
                </a:lnTo>
                <a:lnTo>
                  <a:pt x="27" y="199"/>
                </a:lnTo>
                <a:lnTo>
                  <a:pt x="22" y="187"/>
                </a:lnTo>
                <a:lnTo>
                  <a:pt x="19" y="175"/>
                </a:lnTo>
                <a:lnTo>
                  <a:pt x="14" y="162"/>
                </a:lnTo>
                <a:lnTo>
                  <a:pt x="12" y="151"/>
                </a:lnTo>
                <a:lnTo>
                  <a:pt x="9" y="137"/>
                </a:lnTo>
                <a:lnTo>
                  <a:pt x="7" y="126"/>
                </a:lnTo>
                <a:lnTo>
                  <a:pt x="7" y="112"/>
                </a:lnTo>
                <a:lnTo>
                  <a:pt x="5" y="99"/>
                </a:lnTo>
                <a:lnTo>
                  <a:pt x="5" y="89"/>
                </a:lnTo>
                <a:lnTo>
                  <a:pt x="7" y="79"/>
                </a:lnTo>
                <a:lnTo>
                  <a:pt x="7" y="69"/>
                </a:lnTo>
                <a:lnTo>
                  <a:pt x="9" y="59"/>
                </a:lnTo>
                <a:lnTo>
                  <a:pt x="10" y="51"/>
                </a:lnTo>
                <a:lnTo>
                  <a:pt x="12" y="41"/>
                </a:lnTo>
                <a:lnTo>
                  <a:pt x="15" y="33"/>
                </a:lnTo>
                <a:lnTo>
                  <a:pt x="19" y="23"/>
                </a:lnTo>
                <a:lnTo>
                  <a:pt x="12" y="26"/>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15" name="Freeform 1120">
            <a:extLst>
              <a:ext uri="{FF2B5EF4-FFF2-40B4-BE49-F238E27FC236}">
                <a16:creationId xmlns:a16="http://schemas.microsoft.com/office/drawing/2014/main" id="{8891A88A-6F22-795F-39E3-953B16C6C356}"/>
              </a:ext>
            </a:extLst>
          </p:cNvPr>
          <p:cNvSpPr>
            <a:spLocks noEditPoints="1"/>
          </p:cNvSpPr>
          <p:nvPr/>
        </p:nvSpPr>
        <p:spPr bwMode="auto">
          <a:xfrm>
            <a:off x="2524125" y="2403475"/>
            <a:ext cx="782638" cy="315913"/>
          </a:xfrm>
          <a:custGeom>
            <a:avLst/>
            <a:gdLst>
              <a:gd name="T0" fmla="*/ 493 w 493"/>
              <a:gd name="T1" fmla="*/ 86 h 199"/>
              <a:gd name="T2" fmla="*/ 490 w 493"/>
              <a:gd name="T3" fmla="*/ 59 h 199"/>
              <a:gd name="T4" fmla="*/ 485 w 493"/>
              <a:gd name="T5" fmla="*/ 35 h 199"/>
              <a:gd name="T6" fmla="*/ 477 w 493"/>
              <a:gd name="T7" fmla="*/ 11 h 199"/>
              <a:gd name="T8" fmla="*/ 467 w 493"/>
              <a:gd name="T9" fmla="*/ 0 h 199"/>
              <a:gd name="T10" fmla="*/ 477 w 493"/>
              <a:gd name="T11" fmla="*/ 23 h 199"/>
              <a:gd name="T12" fmla="*/ 483 w 493"/>
              <a:gd name="T13" fmla="*/ 48 h 199"/>
              <a:gd name="T14" fmla="*/ 487 w 493"/>
              <a:gd name="T15" fmla="*/ 73 h 199"/>
              <a:gd name="T16" fmla="*/ 488 w 493"/>
              <a:gd name="T17" fmla="*/ 99 h 199"/>
              <a:gd name="T18" fmla="*/ 488 w 493"/>
              <a:gd name="T19" fmla="*/ 116 h 199"/>
              <a:gd name="T20" fmla="*/ 485 w 493"/>
              <a:gd name="T21" fmla="*/ 132 h 199"/>
              <a:gd name="T22" fmla="*/ 483 w 493"/>
              <a:gd name="T23" fmla="*/ 149 h 199"/>
              <a:gd name="T24" fmla="*/ 478 w 493"/>
              <a:gd name="T25" fmla="*/ 165 h 199"/>
              <a:gd name="T26" fmla="*/ 487 w 493"/>
              <a:gd name="T27" fmla="*/ 155 h 199"/>
              <a:gd name="T28" fmla="*/ 490 w 493"/>
              <a:gd name="T29" fmla="*/ 139 h 199"/>
              <a:gd name="T30" fmla="*/ 492 w 493"/>
              <a:gd name="T31" fmla="*/ 124 h 199"/>
              <a:gd name="T32" fmla="*/ 493 w 493"/>
              <a:gd name="T33" fmla="*/ 107 h 199"/>
              <a:gd name="T34" fmla="*/ 11 w 493"/>
              <a:gd name="T35" fmla="*/ 25 h 199"/>
              <a:gd name="T36" fmla="*/ 6 w 493"/>
              <a:gd name="T37" fmla="*/ 43 h 199"/>
              <a:gd name="T38" fmla="*/ 3 w 493"/>
              <a:gd name="T39" fmla="*/ 61 h 199"/>
              <a:gd name="T40" fmla="*/ 0 w 493"/>
              <a:gd name="T41" fmla="*/ 79 h 199"/>
              <a:gd name="T42" fmla="*/ 0 w 493"/>
              <a:gd name="T43" fmla="*/ 99 h 199"/>
              <a:gd name="T44" fmla="*/ 1 w 493"/>
              <a:gd name="T45" fmla="*/ 126 h 199"/>
              <a:gd name="T46" fmla="*/ 5 w 493"/>
              <a:gd name="T47" fmla="*/ 151 h 199"/>
              <a:gd name="T48" fmla="*/ 11 w 493"/>
              <a:gd name="T49" fmla="*/ 175 h 199"/>
              <a:gd name="T50" fmla="*/ 21 w 493"/>
              <a:gd name="T51" fmla="*/ 199 h 199"/>
              <a:gd name="T52" fmla="*/ 21 w 493"/>
              <a:gd name="T53" fmla="*/ 187 h 199"/>
              <a:gd name="T54" fmla="*/ 13 w 493"/>
              <a:gd name="T55" fmla="*/ 164 h 199"/>
              <a:gd name="T56" fmla="*/ 8 w 493"/>
              <a:gd name="T57" fmla="*/ 137 h 199"/>
              <a:gd name="T58" fmla="*/ 5 w 493"/>
              <a:gd name="T59" fmla="*/ 112 h 199"/>
              <a:gd name="T60" fmla="*/ 5 w 493"/>
              <a:gd name="T61" fmla="*/ 89 h 199"/>
              <a:gd name="T62" fmla="*/ 6 w 493"/>
              <a:gd name="T63" fmla="*/ 69 h 199"/>
              <a:gd name="T64" fmla="*/ 10 w 493"/>
              <a:gd name="T65" fmla="*/ 50 h 199"/>
              <a:gd name="T66" fmla="*/ 15 w 493"/>
              <a:gd name="T67" fmla="*/ 31 h 199"/>
              <a:gd name="T68" fmla="*/ 11 w 493"/>
              <a:gd name="T69" fmla="*/ 2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3" h="199">
                <a:moveTo>
                  <a:pt x="493" y="99"/>
                </a:moveTo>
                <a:lnTo>
                  <a:pt x="493" y="86"/>
                </a:lnTo>
                <a:lnTo>
                  <a:pt x="492" y="73"/>
                </a:lnTo>
                <a:lnTo>
                  <a:pt x="490" y="59"/>
                </a:lnTo>
                <a:lnTo>
                  <a:pt x="488" y="48"/>
                </a:lnTo>
                <a:lnTo>
                  <a:pt x="485" y="35"/>
                </a:lnTo>
                <a:lnTo>
                  <a:pt x="482" y="23"/>
                </a:lnTo>
                <a:lnTo>
                  <a:pt x="477" y="11"/>
                </a:lnTo>
                <a:lnTo>
                  <a:pt x="472" y="0"/>
                </a:lnTo>
                <a:lnTo>
                  <a:pt x="467" y="0"/>
                </a:lnTo>
                <a:lnTo>
                  <a:pt x="472" y="11"/>
                </a:lnTo>
                <a:lnTo>
                  <a:pt x="477" y="23"/>
                </a:lnTo>
                <a:lnTo>
                  <a:pt x="480" y="35"/>
                </a:lnTo>
                <a:lnTo>
                  <a:pt x="483" y="48"/>
                </a:lnTo>
                <a:lnTo>
                  <a:pt x="485" y="59"/>
                </a:lnTo>
                <a:lnTo>
                  <a:pt x="487" y="73"/>
                </a:lnTo>
                <a:lnTo>
                  <a:pt x="488" y="86"/>
                </a:lnTo>
                <a:lnTo>
                  <a:pt x="488" y="99"/>
                </a:lnTo>
                <a:lnTo>
                  <a:pt x="488" y="107"/>
                </a:lnTo>
                <a:lnTo>
                  <a:pt x="488" y="116"/>
                </a:lnTo>
                <a:lnTo>
                  <a:pt x="487" y="124"/>
                </a:lnTo>
                <a:lnTo>
                  <a:pt x="485" y="132"/>
                </a:lnTo>
                <a:lnTo>
                  <a:pt x="485" y="141"/>
                </a:lnTo>
                <a:lnTo>
                  <a:pt x="483" y="149"/>
                </a:lnTo>
                <a:lnTo>
                  <a:pt x="482" y="157"/>
                </a:lnTo>
                <a:lnTo>
                  <a:pt x="478" y="165"/>
                </a:lnTo>
                <a:lnTo>
                  <a:pt x="485" y="164"/>
                </a:lnTo>
                <a:lnTo>
                  <a:pt x="487" y="155"/>
                </a:lnTo>
                <a:lnTo>
                  <a:pt x="488" y="147"/>
                </a:lnTo>
                <a:lnTo>
                  <a:pt x="490" y="139"/>
                </a:lnTo>
                <a:lnTo>
                  <a:pt x="490" y="132"/>
                </a:lnTo>
                <a:lnTo>
                  <a:pt x="492" y="124"/>
                </a:lnTo>
                <a:lnTo>
                  <a:pt x="492" y="116"/>
                </a:lnTo>
                <a:lnTo>
                  <a:pt x="493" y="107"/>
                </a:lnTo>
                <a:lnTo>
                  <a:pt x="493" y="99"/>
                </a:lnTo>
                <a:close/>
                <a:moveTo>
                  <a:pt x="11" y="25"/>
                </a:moveTo>
                <a:lnTo>
                  <a:pt x="8" y="33"/>
                </a:lnTo>
                <a:lnTo>
                  <a:pt x="6" y="43"/>
                </a:lnTo>
                <a:lnTo>
                  <a:pt x="5" y="51"/>
                </a:lnTo>
                <a:lnTo>
                  <a:pt x="3" y="61"/>
                </a:lnTo>
                <a:lnTo>
                  <a:pt x="1" y="71"/>
                </a:lnTo>
                <a:lnTo>
                  <a:pt x="0" y="79"/>
                </a:lnTo>
                <a:lnTo>
                  <a:pt x="0" y="89"/>
                </a:lnTo>
                <a:lnTo>
                  <a:pt x="0" y="99"/>
                </a:lnTo>
                <a:lnTo>
                  <a:pt x="0" y="112"/>
                </a:lnTo>
                <a:lnTo>
                  <a:pt x="1" y="126"/>
                </a:lnTo>
                <a:lnTo>
                  <a:pt x="3" y="137"/>
                </a:lnTo>
                <a:lnTo>
                  <a:pt x="5" y="151"/>
                </a:lnTo>
                <a:lnTo>
                  <a:pt x="8" y="162"/>
                </a:lnTo>
                <a:lnTo>
                  <a:pt x="11" y="175"/>
                </a:lnTo>
                <a:lnTo>
                  <a:pt x="16" y="187"/>
                </a:lnTo>
                <a:lnTo>
                  <a:pt x="21" y="199"/>
                </a:lnTo>
                <a:lnTo>
                  <a:pt x="26" y="199"/>
                </a:lnTo>
                <a:lnTo>
                  <a:pt x="21" y="187"/>
                </a:lnTo>
                <a:lnTo>
                  <a:pt x="16" y="175"/>
                </a:lnTo>
                <a:lnTo>
                  <a:pt x="13" y="164"/>
                </a:lnTo>
                <a:lnTo>
                  <a:pt x="10" y="151"/>
                </a:lnTo>
                <a:lnTo>
                  <a:pt x="8" y="137"/>
                </a:lnTo>
                <a:lnTo>
                  <a:pt x="6" y="126"/>
                </a:lnTo>
                <a:lnTo>
                  <a:pt x="5" y="112"/>
                </a:lnTo>
                <a:lnTo>
                  <a:pt x="5" y="99"/>
                </a:lnTo>
                <a:lnTo>
                  <a:pt x="5" y="89"/>
                </a:lnTo>
                <a:lnTo>
                  <a:pt x="5" y="79"/>
                </a:lnTo>
                <a:lnTo>
                  <a:pt x="6" y="69"/>
                </a:lnTo>
                <a:lnTo>
                  <a:pt x="8" y="59"/>
                </a:lnTo>
                <a:lnTo>
                  <a:pt x="10" y="50"/>
                </a:lnTo>
                <a:lnTo>
                  <a:pt x="11" y="41"/>
                </a:lnTo>
                <a:lnTo>
                  <a:pt x="15" y="31"/>
                </a:lnTo>
                <a:lnTo>
                  <a:pt x="16" y="21"/>
                </a:lnTo>
                <a:lnTo>
                  <a:pt x="11" y="25"/>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16" name="Freeform 1121">
            <a:extLst>
              <a:ext uri="{FF2B5EF4-FFF2-40B4-BE49-F238E27FC236}">
                <a16:creationId xmlns:a16="http://schemas.microsoft.com/office/drawing/2014/main" id="{D736169C-54FA-F27B-2F0F-440FD60C6119}"/>
              </a:ext>
            </a:extLst>
          </p:cNvPr>
          <p:cNvSpPr>
            <a:spLocks noEditPoints="1"/>
          </p:cNvSpPr>
          <p:nvPr/>
        </p:nvSpPr>
        <p:spPr bwMode="auto">
          <a:xfrm>
            <a:off x="2525713" y="2403475"/>
            <a:ext cx="776288" cy="315913"/>
          </a:xfrm>
          <a:custGeom>
            <a:avLst/>
            <a:gdLst>
              <a:gd name="T0" fmla="*/ 489 w 489"/>
              <a:gd name="T1" fmla="*/ 86 h 199"/>
              <a:gd name="T2" fmla="*/ 486 w 489"/>
              <a:gd name="T3" fmla="*/ 59 h 199"/>
              <a:gd name="T4" fmla="*/ 481 w 489"/>
              <a:gd name="T5" fmla="*/ 35 h 199"/>
              <a:gd name="T6" fmla="*/ 472 w 489"/>
              <a:gd name="T7" fmla="*/ 11 h 199"/>
              <a:gd name="T8" fmla="*/ 462 w 489"/>
              <a:gd name="T9" fmla="*/ 0 h 199"/>
              <a:gd name="T10" fmla="*/ 472 w 489"/>
              <a:gd name="T11" fmla="*/ 23 h 199"/>
              <a:gd name="T12" fmla="*/ 479 w 489"/>
              <a:gd name="T13" fmla="*/ 48 h 199"/>
              <a:gd name="T14" fmla="*/ 484 w 489"/>
              <a:gd name="T15" fmla="*/ 73 h 199"/>
              <a:gd name="T16" fmla="*/ 484 w 489"/>
              <a:gd name="T17" fmla="*/ 99 h 199"/>
              <a:gd name="T18" fmla="*/ 484 w 489"/>
              <a:gd name="T19" fmla="*/ 116 h 199"/>
              <a:gd name="T20" fmla="*/ 482 w 489"/>
              <a:gd name="T21" fmla="*/ 134 h 199"/>
              <a:gd name="T22" fmla="*/ 479 w 489"/>
              <a:gd name="T23" fmla="*/ 151 h 199"/>
              <a:gd name="T24" fmla="*/ 476 w 489"/>
              <a:gd name="T25" fmla="*/ 167 h 199"/>
              <a:gd name="T26" fmla="*/ 482 w 489"/>
              <a:gd name="T27" fmla="*/ 157 h 199"/>
              <a:gd name="T28" fmla="*/ 486 w 489"/>
              <a:gd name="T29" fmla="*/ 141 h 199"/>
              <a:gd name="T30" fmla="*/ 489 w 489"/>
              <a:gd name="T31" fmla="*/ 124 h 199"/>
              <a:gd name="T32" fmla="*/ 489 w 489"/>
              <a:gd name="T33" fmla="*/ 107 h 199"/>
              <a:gd name="T34" fmla="*/ 14 w 489"/>
              <a:gd name="T35" fmla="*/ 23 h 199"/>
              <a:gd name="T36" fmla="*/ 7 w 489"/>
              <a:gd name="T37" fmla="*/ 41 h 199"/>
              <a:gd name="T38" fmla="*/ 4 w 489"/>
              <a:gd name="T39" fmla="*/ 59 h 199"/>
              <a:gd name="T40" fmla="*/ 2 w 489"/>
              <a:gd name="T41" fmla="*/ 79 h 199"/>
              <a:gd name="T42" fmla="*/ 0 w 489"/>
              <a:gd name="T43" fmla="*/ 99 h 199"/>
              <a:gd name="T44" fmla="*/ 2 w 489"/>
              <a:gd name="T45" fmla="*/ 126 h 199"/>
              <a:gd name="T46" fmla="*/ 7 w 489"/>
              <a:gd name="T47" fmla="*/ 151 h 199"/>
              <a:gd name="T48" fmla="*/ 14 w 489"/>
              <a:gd name="T49" fmla="*/ 175 h 199"/>
              <a:gd name="T50" fmla="*/ 22 w 489"/>
              <a:gd name="T51" fmla="*/ 199 h 199"/>
              <a:gd name="T52" fmla="*/ 22 w 489"/>
              <a:gd name="T53" fmla="*/ 187 h 199"/>
              <a:gd name="T54" fmla="*/ 14 w 489"/>
              <a:gd name="T55" fmla="*/ 164 h 199"/>
              <a:gd name="T56" fmla="*/ 9 w 489"/>
              <a:gd name="T57" fmla="*/ 137 h 199"/>
              <a:gd name="T58" fmla="*/ 5 w 489"/>
              <a:gd name="T59" fmla="*/ 112 h 199"/>
              <a:gd name="T60" fmla="*/ 5 w 489"/>
              <a:gd name="T61" fmla="*/ 89 h 199"/>
              <a:gd name="T62" fmla="*/ 7 w 489"/>
              <a:gd name="T63" fmla="*/ 69 h 199"/>
              <a:gd name="T64" fmla="*/ 10 w 489"/>
              <a:gd name="T65" fmla="*/ 50 h 199"/>
              <a:gd name="T66" fmla="*/ 15 w 489"/>
              <a:gd name="T67" fmla="*/ 30 h 199"/>
              <a:gd name="T68" fmla="*/ 14 w 489"/>
              <a:gd name="T69" fmla="*/ 2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9" h="199">
                <a:moveTo>
                  <a:pt x="489" y="99"/>
                </a:moveTo>
                <a:lnTo>
                  <a:pt x="489" y="86"/>
                </a:lnTo>
                <a:lnTo>
                  <a:pt x="487" y="73"/>
                </a:lnTo>
                <a:lnTo>
                  <a:pt x="486" y="59"/>
                </a:lnTo>
                <a:lnTo>
                  <a:pt x="484" y="48"/>
                </a:lnTo>
                <a:lnTo>
                  <a:pt x="481" y="35"/>
                </a:lnTo>
                <a:lnTo>
                  <a:pt x="477" y="23"/>
                </a:lnTo>
                <a:lnTo>
                  <a:pt x="472" y="11"/>
                </a:lnTo>
                <a:lnTo>
                  <a:pt x="469" y="0"/>
                </a:lnTo>
                <a:lnTo>
                  <a:pt x="462" y="0"/>
                </a:lnTo>
                <a:lnTo>
                  <a:pt x="467" y="11"/>
                </a:lnTo>
                <a:lnTo>
                  <a:pt x="472" y="23"/>
                </a:lnTo>
                <a:lnTo>
                  <a:pt x="476" y="35"/>
                </a:lnTo>
                <a:lnTo>
                  <a:pt x="479" y="48"/>
                </a:lnTo>
                <a:lnTo>
                  <a:pt x="482" y="59"/>
                </a:lnTo>
                <a:lnTo>
                  <a:pt x="484" y="73"/>
                </a:lnTo>
                <a:lnTo>
                  <a:pt x="484" y="86"/>
                </a:lnTo>
                <a:lnTo>
                  <a:pt x="484" y="99"/>
                </a:lnTo>
                <a:lnTo>
                  <a:pt x="484" y="107"/>
                </a:lnTo>
                <a:lnTo>
                  <a:pt x="484" y="116"/>
                </a:lnTo>
                <a:lnTo>
                  <a:pt x="484" y="126"/>
                </a:lnTo>
                <a:lnTo>
                  <a:pt x="482" y="134"/>
                </a:lnTo>
                <a:lnTo>
                  <a:pt x="481" y="142"/>
                </a:lnTo>
                <a:lnTo>
                  <a:pt x="479" y="151"/>
                </a:lnTo>
                <a:lnTo>
                  <a:pt x="477" y="159"/>
                </a:lnTo>
                <a:lnTo>
                  <a:pt x="476" y="167"/>
                </a:lnTo>
                <a:lnTo>
                  <a:pt x="481" y="164"/>
                </a:lnTo>
                <a:lnTo>
                  <a:pt x="482" y="157"/>
                </a:lnTo>
                <a:lnTo>
                  <a:pt x="484" y="149"/>
                </a:lnTo>
                <a:lnTo>
                  <a:pt x="486" y="141"/>
                </a:lnTo>
                <a:lnTo>
                  <a:pt x="487" y="132"/>
                </a:lnTo>
                <a:lnTo>
                  <a:pt x="489" y="124"/>
                </a:lnTo>
                <a:lnTo>
                  <a:pt x="489" y="116"/>
                </a:lnTo>
                <a:lnTo>
                  <a:pt x="489" y="107"/>
                </a:lnTo>
                <a:lnTo>
                  <a:pt x="489" y="99"/>
                </a:lnTo>
                <a:close/>
                <a:moveTo>
                  <a:pt x="14" y="23"/>
                </a:moveTo>
                <a:lnTo>
                  <a:pt x="10" y="33"/>
                </a:lnTo>
                <a:lnTo>
                  <a:pt x="7" y="41"/>
                </a:lnTo>
                <a:lnTo>
                  <a:pt x="5" y="51"/>
                </a:lnTo>
                <a:lnTo>
                  <a:pt x="4" y="59"/>
                </a:lnTo>
                <a:lnTo>
                  <a:pt x="2" y="69"/>
                </a:lnTo>
                <a:lnTo>
                  <a:pt x="2" y="79"/>
                </a:lnTo>
                <a:lnTo>
                  <a:pt x="0" y="89"/>
                </a:lnTo>
                <a:lnTo>
                  <a:pt x="0" y="99"/>
                </a:lnTo>
                <a:lnTo>
                  <a:pt x="2" y="112"/>
                </a:lnTo>
                <a:lnTo>
                  <a:pt x="2" y="126"/>
                </a:lnTo>
                <a:lnTo>
                  <a:pt x="4" y="137"/>
                </a:lnTo>
                <a:lnTo>
                  <a:pt x="7" y="151"/>
                </a:lnTo>
                <a:lnTo>
                  <a:pt x="9" y="162"/>
                </a:lnTo>
                <a:lnTo>
                  <a:pt x="14" y="175"/>
                </a:lnTo>
                <a:lnTo>
                  <a:pt x="17" y="187"/>
                </a:lnTo>
                <a:lnTo>
                  <a:pt x="22" y="199"/>
                </a:lnTo>
                <a:lnTo>
                  <a:pt x="27" y="199"/>
                </a:lnTo>
                <a:lnTo>
                  <a:pt x="22" y="187"/>
                </a:lnTo>
                <a:lnTo>
                  <a:pt x="19" y="175"/>
                </a:lnTo>
                <a:lnTo>
                  <a:pt x="14" y="164"/>
                </a:lnTo>
                <a:lnTo>
                  <a:pt x="12" y="151"/>
                </a:lnTo>
                <a:lnTo>
                  <a:pt x="9" y="137"/>
                </a:lnTo>
                <a:lnTo>
                  <a:pt x="7" y="126"/>
                </a:lnTo>
                <a:lnTo>
                  <a:pt x="5" y="112"/>
                </a:lnTo>
                <a:lnTo>
                  <a:pt x="5" y="99"/>
                </a:lnTo>
                <a:lnTo>
                  <a:pt x="5" y="89"/>
                </a:lnTo>
                <a:lnTo>
                  <a:pt x="7" y="79"/>
                </a:lnTo>
                <a:lnTo>
                  <a:pt x="7" y="69"/>
                </a:lnTo>
                <a:lnTo>
                  <a:pt x="9" y="59"/>
                </a:lnTo>
                <a:lnTo>
                  <a:pt x="10" y="50"/>
                </a:lnTo>
                <a:lnTo>
                  <a:pt x="14" y="40"/>
                </a:lnTo>
                <a:lnTo>
                  <a:pt x="15" y="30"/>
                </a:lnTo>
                <a:lnTo>
                  <a:pt x="19" y="20"/>
                </a:lnTo>
                <a:lnTo>
                  <a:pt x="14" y="23"/>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17" name="Freeform 1122">
            <a:extLst>
              <a:ext uri="{FF2B5EF4-FFF2-40B4-BE49-F238E27FC236}">
                <a16:creationId xmlns:a16="http://schemas.microsoft.com/office/drawing/2014/main" id="{ADCC1A59-4E9A-678C-E0D7-606B1ED77F66}"/>
              </a:ext>
            </a:extLst>
          </p:cNvPr>
          <p:cNvSpPr>
            <a:spLocks noEditPoints="1"/>
          </p:cNvSpPr>
          <p:nvPr/>
        </p:nvSpPr>
        <p:spPr bwMode="auto">
          <a:xfrm>
            <a:off x="2532063" y="2403475"/>
            <a:ext cx="766763" cy="315913"/>
          </a:xfrm>
          <a:custGeom>
            <a:avLst/>
            <a:gdLst>
              <a:gd name="T0" fmla="*/ 483 w 483"/>
              <a:gd name="T1" fmla="*/ 86 h 199"/>
              <a:gd name="T2" fmla="*/ 480 w 483"/>
              <a:gd name="T3" fmla="*/ 59 h 199"/>
              <a:gd name="T4" fmla="*/ 475 w 483"/>
              <a:gd name="T5" fmla="*/ 35 h 199"/>
              <a:gd name="T6" fmla="*/ 467 w 483"/>
              <a:gd name="T7" fmla="*/ 11 h 199"/>
              <a:gd name="T8" fmla="*/ 457 w 483"/>
              <a:gd name="T9" fmla="*/ 0 h 199"/>
              <a:gd name="T10" fmla="*/ 465 w 483"/>
              <a:gd name="T11" fmla="*/ 23 h 199"/>
              <a:gd name="T12" fmla="*/ 473 w 483"/>
              <a:gd name="T13" fmla="*/ 48 h 199"/>
              <a:gd name="T14" fmla="*/ 477 w 483"/>
              <a:gd name="T15" fmla="*/ 73 h 199"/>
              <a:gd name="T16" fmla="*/ 478 w 483"/>
              <a:gd name="T17" fmla="*/ 99 h 199"/>
              <a:gd name="T18" fmla="*/ 478 w 483"/>
              <a:gd name="T19" fmla="*/ 117 h 199"/>
              <a:gd name="T20" fmla="*/ 475 w 483"/>
              <a:gd name="T21" fmla="*/ 134 h 199"/>
              <a:gd name="T22" fmla="*/ 472 w 483"/>
              <a:gd name="T23" fmla="*/ 152 h 199"/>
              <a:gd name="T24" fmla="*/ 468 w 483"/>
              <a:gd name="T25" fmla="*/ 169 h 199"/>
              <a:gd name="T26" fmla="*/ 477 w 483"/>
              <a:gd name="T27" fmla="*/ 157 h 199"/>
              <a:gd name="T28" fmla="*/ 480 w 483"/>
              <a:gd name="T29" fmla="*/ 141 h 199"/>
              <a:gd name="T30" fmla="*/ 482 w 483"/>
              <a:gd name="T31" fmla="*/ 124 h 199"/>
              <a:gd name="T32" fmla="*/ 483 w 483"/>
              <a:gd name="T33" fmla="*/ 107 h 199"/>
              <a:gd name="T34" fmla="*/ 11 w 483"/>
              <a:gd name="T35" fmla="*/ 21 h 199"/>
              <a:gd name="T36" fmla="*/ 6 w 483"/>
              <a:gd name="T37" fmla="*/ 41 h 199"/>
              <a:gd name="T38" fmla="*/ 3 w 483"/>
              <a:gd name="T39" fmla="*/ 59 h 199"/>
              <a:gd name="T40" fmla="*/ 0 w 483"/>
              <a:gd name="T41" fmla="*/ 79 h 199"/>
              <a:gd name="T42" fmla="*/ 0 w 483"/>
              <a:gd name="T43" fmla="*/ 99 h 199"/>
              <a:gd name="T44" fmla="*/ 1 w 483"/>
              <a:gd name="T45" fmla="*/ 126 h 199"/>
              <a:gd name="T46" fmla="*/ 5 w 483"/>
              <a:gd name="T47" fmla="*/ 151 h 199"/>
              <a:gd name="T48" fmla="*/ 11 w 483"/>
              <a:gd name="T49" fmla="*/ 175 h 199"/>
              <a:gd name="T50" fmla="*/ 21 w 483"/>
              <a:gd name="T51" fmla="*/ 199 h 199"/>
              <a:gd name="T52" fmla="*/ 21 w 483"/>
              <a:gd name="T53" fmla="*/ 187 h 199"/>
              <a:gd name="T54" fmla="*/ 13 w 483"/>
              <a:gd name="T55" fmla="*/ 164 h 199"/>
              <a:gd name="T56" fmla="*/ 8 w 483"/>
              <a:gd name="T57" fmla="*/ 137 h 199"/>
              <a:gd name="T58" fmla="*/ 5 w 483"/>
              <a:gd name="T59" fmla="*/ 112 h 199"/>
              <a:gd name="T60" fmla="*/ 5 w 483"/>
              <a:gd name="T61" fmla="*/ 89 h 199"/>
              <a:gd name="T62" fmla="*/ 6 w 483"/>
              <a:gd name="T63" fmla="*/ 68 h 199"/>
              <a:gd name="T64" fmla="*/ 10 w 483"/>
              <a:gd name="T65" fmla="*/ 48 h 199"/>
              <a:gd name="T66" fmla="*/ 15 w 483"/>
              <a:gd name="T67" fmla="*/ 28 h 199"/>
              <a:gd name="T68" fmla="*/ 11 w 483"/>
              <a:gd name="T69" fmla="*/ 2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3" h="199">
                <a:moveTo>
                  <a:pt x="483" y="99"/>
                </a:moveTo>
                <a:lnTo>
                  <a:pt x="483" y="86"/>
                </a:lnTo>
                <a:lnTo>
                  <a:pt x="482" y="73"/>
                </a:lnTo>
                <a:lnTo>
                  <a:pt x="480" y="59"/>
                </a:lnTo>
                <a:lnTo>
                  <a:pt x="478" y="48"/>
                </a:lnTo>
                <a:lnTo>
                  <a:pt x="475" y="35"/>
                </a:lnTo>
                <a:lnTo>
                  <a:pt x="472" y="23"/>
                </a:lnTo>
                <a:lnTo>
                  <a:pt x="467" y="11"/>
                </a:lnTo>
                <a:lnTo>
                  <a:pt x="462" y="0"/>
                </a:lnTo>
                <a:lnTo>
                  <a:pt x="457" y="0"/>
                </a:lnTo>
                <a:lnTo>
                  <a:pt x="462" y="11"/>
                </a:lnTo>
                <a:lnTo>
                  <a:pt x="465" y="23"/>
                </a:lnTo>
                <a:lnTo>
                  <a:pt x="470" y="35"/>
                </a:lnTo>
                <a:lnTo>
                  <a:pt x="473" y="48"/>
                </a:lnTo>
                <a:lnTo>
                  <a:pt x="475" y="59"/>
                </a:lnTo>
                <a:lnTo>
                  <a:pt x="477" y="73"/>
                </a:lnTo>
                <a:lnTo>
                  <a:pt x="478" y="86"/>
                </a:lnTo>
                <a:lnTo>
                  <a:pt x="478" y="99"/>
                </a:lnTo>
                <a:lnTo>
                  <a:pt x="478" y="107"/>
                </a:lnTo>
                <a:lnTo>
                  <a:pt x="478" y="117"/>
                </a:lnTo>
                <a:lnTo>
                  <a:pt x="477" y="126"/>
                </a:lnTo>
                <a:lnTo>
                  <a:pt x="475" y="134"/>
                </a:lnTo>
                <a:lnTo>
                  <a:pt x="475" y="144"/>
                </a:lnTo>
                <a:lnTo>
                  <a:pt x="472" y="152"/>
                </a:lnTo>
                <a:lnTo>
                  <a:pt x="470" y="160"/>
                </a:lnTo>
                <a:lnTo>
                  <a:pt x="468" y="169"/>
                </a:lnTo>
                <a:lnTo>
                  <a:pt x="473" y="165"/>
                </a:lnTo>
                <a:lnTo>
                  <a:pt x="477" y="157"/>
                </a:lnTo>
                <a:lnTo>
                  <a:pt x="478" y="149"/>
                </a:lnTo>
                <a:lnTo>
                  <a:pt x="480" y="141"/>
                </a:lnTo>
                <a:lnTo>
                  <a:pt x="480" y="132"/>
                </a:lnTo>
                <a:lnTo>
                  <a:pt x="482" y="124"/>
                </a:lnTo>
                <a:lnTo>
                  <a:pt x="483" y="116"/>
                </a:lnTo>
                <a:lnTo>
                  <a:pt x="483" y="107"/>
                </a:lnTo>
                <a:lnTo>
                  <a:pt x="483" y="99"/>
                </a:lnTo>
                <a:close/>
                <a:moveTo>
                  <a:pt x="11" y="21"/>
                </a:moveTo>
                <a:lnTo>
                  <a:pt x="10" y="31"/>
                </a:lnTo>
                <a:lnTo>
                  <a:pt x="6" y="41"/>
                </a:lnTo>
                <a:lnTo>
                  <a:pt x="5" y="50"/>
                </a:lnTo>
                <a:lnTo>
                  <a:pt x="3" y="59"/>
                </a:lnTo>
                <a:lnTo>
                  <a:pt x="1" y="69"/>
                </a:lnTo>
                <a:lnTo>
                  <a:pt x="0" y="79"/>
                </a:lnTo>
                <a:lnTo>
                  <a:pt x="0" y="89"/>
                </a:lnTo>
                <a:lnTo>
                  <a:pt x="0" y="99"/>
                </a:lnTo>
                <a:lnTo>
                  <a:pt x="0" y="112"/>
                </a:lnTo>
                <a:lnTo>
                  <a:pt x="1" y="126"/>
                </a:lnTo>
                <a:lnTo>
                  <a:pt x="3" y="137"/>
                </a:lnTo>
                <a:lnTo>
                  <a:pt x="5" y="151"/>
                </a:lnTo>
                <a:lnTo>
                  <a:pt x="8" y="164"/>
                </a:lnTo>
                <a:lnTo>
                  <a:pt x="11" y="175"/>
                </a:lnTo>
                <a:lnTo>
                  <a:pt x="16" y="187"/>
                </a:lnTo>
                <a:lnTo>
                  <a:pt x="21" y="199"/>
                </a:lnTo>
                <a:lnTo>
                  <a:pt x="26" y="199"/>
                </a:lnTo>
                <a:lnTo>
                  <a:pt x="21" y="187"/>
                </a:lnTo>
                <a:lnTo>
                  <a:pt x="16" y="175"/>
                </a:lnTo>
                <a:lnTo>
                  <a:pt x="13" y="164"/>
                </a:lnTo>
                <a:lnTo>
                  <a:pt x="10" y="151"/>
                </a:lnTo>
                <a:lnTo>
                  <a:pt x="8" y="137"/>
                </a:lnTo>
                <a:lnTo>
                  <a:pt x="6" y="126"/>
                </a:lnTo>
                <a:lnTo>
                  <a:pt x="5" y="112"/>
                </a:lnTo>
                <a:lnTo>
                  <a:pt x="5" y="99"/>
                </a:lnTo>
                <a:lnTo>
                  <a:pt x="5" y="89"/>
                </a:lnTo>
                <a:lnTo>
                  <a:pt x="5" y="78"/>
                </a:lnTo>
                <a:lnTo>
                  <a:pt x="6" y="68"/>
                </a:lnTo>
                <a:lnTo>
                  <a:pt x="8" y="58"/>
                </a:lnTo>
                <a:lnTo>
                  <a:pt x="10" y="48"/>
                </a:lnTo>
                <a:lnTo>
                  <a:pt x="11" y="38"/>
                </a:lnTo>
                <a:lnTo>
                  <a:pt x="15" y="28"/>
                </a:lnTo>
                <a:lnTo>
                  <a:pt x="18" y="20"/>
                </a:lnTo>
                <a:lnTo>
                  <a:pt x="11" y="21"/>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18" name="Freeform 1123">
            <a:extLst>
              <a:ext uri="{FF2B5EF4-FFF2-40B4-BE49-F238E27FC236}">
                <a16:creationId xmlns:a16="http://schemas.microsoft.com/office/drawing/2014/main" id="{37F305B5-A9A3-F5BC-6B5A-0ACBC2FC9D12}"/>
              </a:ext>
            </a:extLst>
          </p:cNvPr>
          <p:cNvSpPr>
            <a:spLocks noEditPoints="1"/>
          </p:cNvSpPr>
          <p:nvPr/>
        </p:nvSpPr>
        <p:spPr bwMode="auto">
          <a:xfrm>
            <a:off x="2533650" y="2403475"/>
            <a:ext cx="760413" cy="315913"/>
          </a:xfrm>
          <a:custGeom>
            <a:avLst/>
            <a:gdLst>
              <a:gd name="T0" fmla="*/ 479 w 479"/>
              <a:gd name="T1" fmla="*/ 86 h 199"/>
              <a:gd name="T2" fmla="*/ 477 w 479"/>
              <a:gd name="T3" fmla="*/ 59 h 199"/>
              <a:gd name="T4" fmla="*/ 471 w 479"/>
              <a:gd name="T5" fmla="*/ 35 h 199"/>
              <a:gd name="T6" fmla="*/ 462 w 479"/>
              <a:gd name="T7" fmla="*/ 11 h 199"/>
              <a:gd name="T8" fmla="*/ 452 w 479"/>
              <a:gd name="T9" fmla="*/ 0 h 199"/>
              <a:gd name="T10" fmla="*/ 462 w 479"/>
              <a:gd name="T11" fmla="*/ 23 h 199"/>
              <a:gd name="T12" fmla="*/ 469 w 479"/>
              <a:gd name="T13" fmla="*/ 48 h 199"/>
              <a:gd name="T14" fmla="*/ 474 w 479"/>
              <a:gd name="T15" fmla="*/ 73 h 199"/>
              <a:gd name="T16" fmla="*/ 476 w 479"/>
              <a:gd name="T17" fmla="*/ 99 h 199"/>
              <a:gd name="T18" fmla="*/ 474 w 479"/>
              <a:gd name="T19" fmla="*/ 117 h 199"/>
              <a:gd name="T20" fmla="*/ 472 w 479"/>
              <a:gd name="T21" fmla="*/ 136 h 199"/>
              <a:gd name="T22" fmla="*/ 469 w 479"/>
              <a:gd name="T23" fmla="*/ 152 h 199"/>
              <a:gd name="T24" fmla="*/ 464 w 479"/>
              <a:gd name="T25" fmla="*/ 169 h 199"/>
              <a:gd name="T26" fmla="*/ 472 w 479"/>
              <a:gd name="T27" fmla="*/ 159 h 199"/>
              <a:gd name="T28" fmla="*/ 476 w 479"/>
              <a:gd name="T29" fmla="*/ 142 h 199"/>
              <a:gd name="T30" fmla="*/ 479 w 479"/>
              <a:gd name="T31" fmla="*/ 126 h 199"/>
              <a:gd name="T32" fmla="*/ 479 w 479"/>
              <a:gd name="T33" fmla="*/ 107 h 199"/>
              <a:gd name="T34" fmla="*/ 14 w 479"/>
              <a:gd name="T35" fmla="*/ 20 h 199"/>
              <a:gd name="T36" fmla="*/ 9 w 479"/>
              <a:gd name="T37" fmla="*/ 40 h 199"/>
              <a:gd name="T38" fmla="*/ 4 w 479"/>
              <a:gd name="T39" fmla="*/ 59 h 199"/>
              <a:gd name="T40" fmla="*/ 2 w 479"/>
              <a:gd name="T41" fmla="*/ 79 h 199"/>
              <a:gd name="T42" fmla="*/ 0 w 479"/>
              <a:gd name="T43" fmla="*/ 99 h 199"/>
              <a:gd name="T44" fmla="*/ 2 w 479"/>
              <a:gd name="T45" fmla="*/ 126 h 199"/>
              <a:gd name="T46" fmla="*/ 7 w 479"/>
              <a:gd name="T47" fmla="*/ 151 h 199"/>
              <a:gd name="T48" fmla="*/ 14 w 479"/>
              <a:gd name="T49" fmla="*/ 175 h 199"/>
              <a:gd name="T50" fmla="*/ 22 w 479"/>
              <a:gd name="T51" fmla="*/ 199 h 199"/>
              <a:gd name="T52" fmla="*/ 22 w 479"/>
              <a:gd name="T53" fmla="*/ 187 h 199"/>
              <a:gd name="T54" fmla="*/ 14 w 479"/>
              <a:gd name="T55" fmla="*/ 164 h 199"/>
              <a:gd name="T56" fmla="*/ 9 w 479"/>
              <a:gd name="T57" fmla="*/ 139 h 199"/>
              <a:gd name="T58" fmla="*/ 5 w 479"/>
              <a:gd name="T59" fmla="*/ 112 h 199"/>
              <a:gd name="T60" fmla="*/ 5 w 479"/>
              <a:gd name="T61" fmla="*/ 88 h 199"/>
              <a:gd name="T62" fmla="*/ 7 w 479"/>
              <a:gd name="T63" fmla="*/ 68 h 199"/>
              <a:gd name="T64" fmla="*/ 12 w 479"/>
              <a:gd name="T65" fmla="*/ 46 h 199"/>
              <a:gd name="T66" fmla="*/ 17 w 479"/>
              <a:gd name="T67" fmla="*/ 28 h 199"/>
              <a:gd name="T68" fmla="*/ 14 w 479"/>
              <a:gd name="T69" fmla="*/ 2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9" h="199">
                <a:moveTo>
                  <a:pt x="479" y="99"/>
                </a:moveTo>
                <a:lnTo>
                  <a:pt x="479" y="86"/>
                </a:lnTo>
                <a:lnTo>
                  <a:pt x="479" y="73"/>
                </a:lnTo>
                <a:lnTo>
                  <a:pt x="477" y="59"/>
                </a:lnTo>
                <a:lnTo>
                  <a:pt x="474" y="48"/>
                </a:lnTo>
                <a:lnTo>
                  <a:pt x="471" y="35"/>
                </a:lnTo>
                <a:lnTo>
                  <a:pt x="467" y="23"/>
                </a:lnTo>
                <a:lnTo>
                  <a:pt x="462" y="11"/>
                </a:lnTo>
                <a:lnTo>
                  <a:pt x="457" y="0"/>
                </a:lnTo>
                <a:lnTo>
                  <a:pt x="452" y="0"/>
                </a:lnTo>
                <a:lnTo>
                  <a:pt x="457" y="11"/>
                </a:lnTo>
                <a:lnTo>
                  <a:pt x="462" y="23"/>
                </a:lnTo>
                <a:lnTo>
                  <a:pt x="466" y="35"/>
                </a:lnTo>
                <a:lnTo>
                  <a:pt x="469" y="48"/>
                </a:lnTo>
                <a:lnTo>
                  <a:pt x="472" y="59"/>
                </a:lnTo>
                <a:lnTo>
                  <a:pt x="474" y="73"/>
                </a:lnTo>
                <a:lnTo>
                  <a:pt x="474" y="86"/>
                </a:lnTo>
                <a:lnTo>
                  <a:pt x="476" y="99"/>
                </a:lnTo>
                <a:lnTo>
                  <a:pt x="474" y="107"/>
                </a:lnTo>
                <a:lnTo>
                  <a:pt x="474" y="117"/>
                </a:lnTo>
                <a:lnTo>
                  <a:pt x="474" y="126"/>
                </a:lnTo>
                <a:lnTo>
                  <a:pt x="472" y="136"/>
                </a:lnTo>
                <a:lnTo>
                  <a:pt x="471" y="144"/>
                </a:lnTo>
                <a:lnTo>
                  <a:pt x="469" y="152"/>
                </a:lnTo>
                <a:lnTo>
                  <a:pt x="467" y="160"/>
                </a:lnTo>
                <a:lnTo>
                  <a:pt x="464" y="169"/>
                </a:lnTo>
                <a:lnTo>
                  <a:pt x="471" y="167"/>
                </a:lnTo>
                <a:lnTo>
                  <a:pt x="472" y="159"/>
                </a:lnTo>
                <a:lnTo>
                  <a:pt x="474" y="151"/>
                </a:lnTo>
                <a:lnTo>
                  <a:pt x="476" y="142"/>
                </a:lnTo>
                <a:lnTo>
                  <a:pt x="477" y="134"/>
                </a:lnTo>
                <a:lnTo>
                  <a:pt x="479" y="126"/>
                </a:lnTo>
                <a:lnTo>
                  <a:pt x="479" y="116"/>
                </a:lnTo>
                <a:lnTo>
                  <a:pt x="479" y="107"/>
                </a:lnTo>
                <a:lnTo>
                  <a:pt x="479" y="99"/>
                </a:lnTo>
                <a:close/>
                <a:moveTo>
                  <a:pt x="14" y="20"/>
                </a:moveTo>
                <a:lnTo>
                  <a:pt x="10" y="30"/>
                </a:lnTo>
                <a:lnTo>
                  <a:pt x="9" y="40"/>
                </a:lnTo>
                <a:lnTo>
                  <a:pt x="5" y="50"/>
                </a:lnTo>
                <a:lnTo>
                  <a:pt x="4" y="59"/>
                </a:lnTo>
                <a:lnTo>
                  <a:pt x="2" y="69"/>
                </a:lnTo>
                <a:lnTo>
                  <a:pt x="2" y="79"/>
                </a:lnTo>
                <a:lnTo>
                  <a:pt x="0" y="89"/>
                </a:lnTo>
                <a:lnTo>
                  <a:pt x="0" y="99"/>
                </a:lnTo>
                <a:lnTo>
                  <a:pt x="0" y="112"/>
                </a:lnTo>
                <a:lnTo>
                  <a:pt x="2" y="126"/>
                </a:lnTo>
                <a:lnTo>
                  <a:pt x="4" y="137"/>
                </a:lnTo>
                <a:lnTo>
                  <a:pt x="7" y="151"/>
                </a:lnTo>
                <a:lnTo>
                  <a:pt x="9" y="164"/>
                </a:lnTo>
                <a:lnTo>
                  <a:pt x="14" y="175"/>
                </a:lnTo>
                <a:lnTo>
                  <a:pt x="17" y="187"/>
                </a:lnTo>
                <a:lnTo>
                  <a:pt x="22" y="199"/>
                </a:lnTo>
                <a:lnTo>
                  <a:pt x="27" y="199"/>
                </a:lnTo>
                <a:lnTo>
                  <a:pt x="22" y="187"/>
                </a:lnTo>
                <a:lnTo>
                  <a:pt x="18" y="175"/>
                </a:lnTo>
                <a:lnTo>
                  <a:pt x="14" y="164"/>
                </a:lnTo>
                <a:lnTo>
                  <a:pt x="12" y="151"/>
                </a:lnTo>
                <a:lnTo>
                  <a:pt x="9" y="139"/>
                </a:lnTo>
                <a:lnTo>
                  <a:pt x="7" y="126"/>
                </a:lnTo>
                <a:lnTo>
                  <a:pt x="5" y="112"/>
                </a:lnTo>
                <a:lnTo>
                  <a:pt x="5" y="99"/>
                </a:lnTo>
                <a:lnTo>
                  <a:pt x="5" y="88"/>
                </a:lnTo>
                <a:lnTo>
                  <a:pt x="7" y="78"/>
                </a:lnTo>
                <a:lnTo>
                  <a:pt x="7" y="68"/>
                </a:lnTo>
                <a:lnTo>
                  <a:pt x="9" y="58"/>
                </a:lnTo>
                <a:lnTo>
                  <a:pt x="12" y="46"/>
                </a:lnTo>
                <a:lnTo>
                  <a:pt x="14" y="36"/>
                </a:lnTo>
                <a:lnTo>
                  <a:pt x="17" y="28"/>
                </a:lnTo>
                <a:lnTo>
                  <a:pt x="20" y="18"/>
                </a:lnTo>
                <a:lnTo>
                  <a:pt x="14" y="2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19" name="Freeform 1124">
            <a:extLst>
              <a:ext uri="{FF2B5EF4-FFF2-40B4-BE49-F238E27FC236}">
                <a16:creationId xmlns:a16="http://schemas.microsoft.com/office/drawing/2014/main" id="{65D22449-2743-3C54-6A23-32FE3434E0A7}"/>
              </a:ext>
            </a:extLst>
          </p:cNvPr>
          <p:cNvSpPr>
            <a:spLocks noEditPoints="1"/>
          </p:cNvSpPr>
          <p:nvPr/>
        </p:nvSpPr>
        <p:spPr bwMode="auto">
          <a:xfrm>
            <a:off x="2540000" y="2403475"/>
            <a:ext cx="750888" cy="315913"/>
          </a:xfrm>
          <a:custGeom>
            <a:avLst/>
            <a:gdLst>
              <a:gd name="T0" fmla="*/ 473 w 473"/>
              <a:gd name="T1" fmla="*/ 86 h 199"/>
              <a:gd name="T2" fmla="*/ 470 w 473"/>
              <a:gd name="T3" fmla="*/ 59 h 199"/>
              <a:gd name="T4" fmla="*/ 465 w 473"/>
              <a:gd name="T5" fmla="*/ 35 h 199"/>
              <a:gd name="T6" fmla="*/ 457 w 473"/>
              <a:gd name="T7" fmla="*/ 11 h 199"/>
              <a:gd name="T8" fmla="*/ 447 w 473"/>
              <a:gd name="T9" fmla="*/ 0 h 199"/>
              <a:gd name="T10" fmla="*/ 455 w 473"/>
              <a:gd name="T11" fmla="*/ 23 h 199"/>
              <a:gd name="T12" fmla="*/ 463 w 473"/>
              <a:gd name="T13" fmla="*/ 48 h 199"/>
              <a:gd name="T14" fmla="*/ 467 w 473"/>
              <a:gd name="T15" fmla="*/ 73 h 199"/>
              <a:gd name="T16" fmla="*/ 468 w 473"/>
              <a:gd name="T17" fmla="*/ 99 h 199"/>
              <a:gd name="T18" fmla="*/ 468 w 473"/>
              <a:gd name="T19" fmla="*/ 117 h 199"/>
              <a:gd name="T20" fmla="*/ 465 w 473"/>
              <a:gd name="T21" fmla="*/ 136 h 199"/>
              <a:gd name="T22" fmla="*/ 462 w 473"/>
              <a:gd name="T23" fmla="*/ 154 h 199"/>
              <a:gd name="T24" fmla="*/ 457 w 473"/>
              <a:gd name="T25" fmla="*/ 170 h 199"/>
              <a:gd name="T26" fmla="*/ 465 w 473"/>
              <a:gd name="T27" fmla="*/ 160 h 199"/>
              <a:gd name="T28" fmla="*/ 470 w 473"/>
              <a:gd name="T29" fmla="*/ 144 h 199"/>
              <a:gd name="T30" fmla="*/ 472 w 473"/>
              <a:gd name="T31" fmla="*/ 126 h 199"/>
              <a:gd name="T32" fmla="*/ 473 w 473"/>
              <a:gd name="T33" fmla="*/ 107 h 199"/>
              <a:gd name="T34" fmla="*/ 13 w 473"/>
              <a:gd name="T35" fmla="*/ 20 h 199"/>
              <a:gd name="T36" fmla="*/ 6 w 473"/>
              <a:gd name="T37" fmla="*/ 38 h 199"/>
              <a:gd name="T38" fmla="*/ 3 w 473"/>
              <a:gd name="T39" fmla="*/ 58 h 199"/>
              <a:gd name="T40" fmla="*/ 0 w 473"/>
              <a:gd name="T41" fmla="*/ 78 h 199"/>
              <a:gd name="T42" fmla="*/ 0 w 473"/>
              <a:gd name="T43" fmla="*/ 99 h 199"/>
              <a:gd name="T44" fmla="*/ 1 w 473"/>
              <a:gd name="T45" fmla="*/ 126 h 199"/>
              <a:gd name="T46" fmla="*/ 5 w 473"/>
              <a:gd name="T47" fmla="*/ 151 h 199"/>
              <a:gd name="T48" fmla="*/ 11 w 473"/>
              <a:gd name="T49" fmla="*/ 175 h 199"/>
              <a:gd name="T50" fmla="*/ 21 w 473"/>
              <a:gd name="T51" fmla="*/ 199 h 199"/>
              <a:gd name="T52" fmla="*/ 21 w 473"/>
              <a:gd name="T53" fmla="*/ 187 h 199"/>
              <a:gd name="T54" fmla="*/ 13 w 473"/>
              <a:gd name="T55" fmla="*/ 164 h 199"/>
              <a:gd name="T56" fmla="*/ 8 w 473"/>
              <a:gd name="T57" fmla="*/ 139 h 199"/>
              <a:gd name="T58" fmla="*/ 5 w 473"/>
              <a:gd name="T59" fmla="*/ 112 h 199"/>
              <a:gd name="T60" fmla="*/ 5 w 473"/>
              <a:gd name="T61" fmla="*/ 88 h 199"/>
              <a:gd name="T62" fmla="*/ 6 w 473"/>
              <a:gd name="T63" fmla="*/ 66 h 199"/>
              <a:gd name="T64" fmla="*/ 10 w 473"/>
              <a:gd name="T65" fmla="*/ 46 h 199"/>
              <a:gd name="T66" fmla="*/ 16 w 473"/>
              <a:gd name="T67" fmla="*/ 26 h 199"/>
              <a:gd name="T68" fmla="*/ 13 w 473"/>
              <a:gd name="T69" fmla="*/ 2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3" h="199">
                <a:moveTo>
                  <a:pt x="473" y="99"/>
                </a:moveTo>
                <a:lnTo>
                  <a:pt x="473" y="86"/>
                </a:lnTo>
                <a:lnTo>
                  <a:pt x="472" y="73"/>
                </a:lnTo>
                <a:lnTo>
                  <a:pt x="470" y="59"/>
                </a:lnTo>
                <a:lnTo>
                  <a:pt x="468" y="48"/>
                </a:lnTo>
                <a:lnTo>
                  <a:pt x="465" y="35"/>
                </a:lnTo>
                <a:lnTo>
                  <a:pt x="460" y="23"/>
                </a:lnTo>
                <a:lnTo>
                  <a:pt x="457" y="11"/>
                </a:lnTo>
                <a:lnTo>
                  <a:pt x="452" y="0"/>
                </a:lnTo>
                <a:lnTo>
                  <a:pt x="447" y="0"/>
                </a:lnTo>
                <a:lnTo>
                  <a:pt x="452" y="11"/>
                </a:lnTo>
                <a:lnTo>
                  <a:pt x="455" y="23"/>
                </a:lnTo>
                <a:lnTo>
                  <a:pt x="460" y="35"/>
                </a:lnTo>
                <a:lnTo>
                  <a:pt x="463" y="48"/>
                </a:lnTo>
                <a:lnTo>
                  <a:pt x="465" y="59"/>
                </a:lnTo>
                <a:lnTo>
                  <a:pt x="467" y="73"/>
                </a:lnTo>
                <a:lnTo>
                  <a:pt x="468" y="86"/>
                </a:lnTo>
                <a:lnTo>
                  <a:pt x="468" y="99"/>
                </a:lnTo>
                <a:lnTo>
                  <a:pt x="468" y="109"/>
                </a:lnTo>
                <a:lnTo>
                  <a:pt x="468" y="117"/>
                </a:lnTo>
                <a:lnTo>
                  <a:pt x="467" y="127"/>
                </a:lnTo>
                <a:lnTo>
                  <a:pt x="465" y="136"/>
                </a:lnTo>
                <a:lnTo>
                  <a:pt x="463" y="146"/>
                </a:lnTo>
                <a:lnTo>
                  <a:pt x="462" y="154"/>
                </a:lnTo>
                <a:lnTo>
                  <a:pt x="460" y="162"/>
                </a:lnTo>
                <a:lnTo>
                  <a:pt x="457" y="170"/>
                </a:lnTo>
                <a:lnTo>
                  <a:pt x="463" y="169"/>
                </a:lnTo>
                <a:lnTo>
                  <a:pt x="465" y="160"/>
                </a:lnTo>
                <a:lnTo>
                  <a:pt x="467" y="152"/>
                </a:lnTo>
                <a:lnTo>
                  <a:pt x="470" y="144"/>
                </a:lnTo>
                <a:lnTo>
                  <a:pt x="470" y="134"/>
                </a:lnTo>
                <a:lnTo>
                  <a:pt x="472" y="126"/>
                </a:lnTo>
                <a:lnTo>
                  <a:pt x="473" y="117"/>
                </a:lnTo>
                <a:lnTo>
                  <a:pt x="473" y="107"/>
                </a:lnTo>
                <a:lnTo>
                  <a:pt x="473" y="99"/>
                </a:lnTo>
                <a:close/>
                <a:moveTo>
                  <a:pt x="13" y="20"/>
                </a:moveTo>
                <a:lnTo>
                  <a:pt x="10" y="28"/>
                </a:lnTo>
                <a:lnTo>
                  <a:pt x="6" y="38"/>
                </a:lnTo>
                <a:lnTo>
                  <a:pt x="5" y="48"/>
                </a:lnTo>
                <a:lnTo>
                  <a:pt x="3" y="58"/>
                </a:lnTo>
                <a:lnTo>
                  <a:pt x="1" y="68"/>
                </a:lnTo>
                <a:lnTo>
                  <a:pt x="0" y="78"/>
                </a:lnTo>
                <a:lnTo>
                  <a:pt x="0" y="89"/>
                </a:lnTo>
                <a:lnTo>
                  <a:pt x="0" y="99"/>
                </a:lnTo>
                <a:lnTo>
                  <a:pt x="0" y="112"/>
                </a:lnTo>
                <a:lnTo>
                  <a:pt x="1" y="126"/>
                </a:lnTo>
                <a:lnTo>
                  <a:pt x="3" y="137"/>
                </a:lnTo>
                <a:lnTo>
                  <a:pt x="5" y="151"/>
                </a:lnTo>
                <a:lnTo>
                  <a:pt x="8" y="164"/>
                </a:lnTo>
                <a:lnTo>
                  <a:pt x="11" y="175"/>
                </a:lnTo>
                <a:lnTo>
                  <a:pt x="16" y="187"/>
                </a:lnTo>
                <a:lnTo>
                  <a:pt x="21" y="199"/>
                </a:lnTo>
                <a:lnTo>
                  <a:pt x="26" y="199"/>
                </a:lnTo>
                <a:lnTo>
                  <a:pt x="21" y="187"/>
                </a:lnTo>
                <a:lnTo>
                  <a:pt x="16" y="175"/>
                </a:lnTo>
                <a:lnTo>
                  <a:pt x="13" y="164"/>
                </a:lnTo>
                <a:lnTo>
                  <a:pt x="10" y="151"/>
                </a:lnTo>
                <a:lnTo>
                  <a:pt x="8" y="139"/>
                </a:lnTo>
                <a:lnTo>
                  <a:pt x="5" y="126"/>
                </a:lnTo>
                <a:lnTo>
                  <a:pt x="5" y="112"/>
                </a:lnTo>
                <a:lnTo>
                  <a:pt x="5" y="99"/>
                </a:lnTo>
                <a:lnTo>
                  <a:pt x="5" y="88"/>
                </a:lnTo>
                <a:lnTo>
                  <a:pt x="5" y="78"/>
                </a:lnTo>
                <a:lnTo>
                  <a:pt x="6" y="66"/>
                </a:lnTo>
                <a:lnTo>
                  <a:pt x="8" y="56"/>
                </a:lnTo>
                <a:lnTo>
                  <a:pt x="10" y="46"/>
                </a:lnTo>
                <a:lnTo>
                  <a:pt x="13" y="36"/>
                </a:lnTo>
                <a:lnTo>
                  <a:pt x="16" y="26"/>
                </a:lnTo>
                <a:lnTo>
                  <a:pt x="19" y="16"/>
                </a:lnTo>
                <a:lnTo>
                  <a:pt x="13" y="2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20" name="Freeform 1125">
            <a:extLst>
              <a:ext uri="{FF2B5EF4-FFF2-40B4-BE49-F238E27FC236}">
                <a16:creationId xmlns:a16="http://schemas.microsoft.com/office/drawing/2014/main" id="{BC59D26F-739C-7386-C1D9-DDC492060B92}"/>
              </a:ext>
            </a:extLst>
          </p:cNvPr>
          <p:cNvSpPr>
            <a:spLocks noEditPoints="1"/>
          </p:cNvSpPr>
          <p:nvPr/>
        </p:nvSpPr>
        <p:spPr bwMode="auto">
          <a:xfrm>
            <a:off x="2541588" y="2403475"/>
            <a:ext cx="747713" cy="315913"/>
          </a:xfrm>
          <a:custGeom>
            <a:avLst/>
            <a:gdLst>
              <a:gd name="T0" fmla="*/ 469 w 471"/>
              <a:gd name="T1" fmla="*/ 86 h 199"/>
              <a:gd name="T2" fmla="*/ 467 w 471"/>
              <a:gd name="T3" fmla="*/ 59 h 199"/>
              <a:gd name="T4" fmla="*/ 461 w 471"/>
              <a:gd name="T5" fmla="*/ 35 h 199"/>
              <a:gd name="T6" fmla="*/ 452 w 471"/>
              <a:gd name="T7" fmla="*/ 11 h 199"/>
              <a:gd name="T8" fmla="*/ 442 w 471"/>
              <a:gd name="T9" fmla="*/ 0 h 199"/>
              <a:gd name="T10" fmla="*/ 452 w 471"/>
              <a:gd name="T11" fmla="*/ 23 h 199"/>
              <a:gd name="T12" fmla="*/ 459 w 471"/>
              <a:gd name="T13" fmla="*/ 48 h 199"/>
              <a:gd name="T14" fmla="*/ 464 w 471"/>
              <a:gd name="T15" fmla="*/ 73 h 199"/>
              <a:gd name="T16" fmla="*/ 466 w 471"/>
              <a:gd name="T17" fmla="*/ 99 h 199"/>
              <a:gd name="T18" fmla="*/ 464 w 471"/>
              <a:gd name="T19" fmla="*/ 117 h 199"/>
              <a:gd name="T20" fmla="*/ 462 w 471"/>
              <a:gd name="T21" fmla="*/ 137 h 199"/>
              <a:gd name="T22" fmla="*/ 459 w 471"/>
              <a:gd name="T23" fmla="*/ 154 h 199"/>
              <a:gd name="T24" fmla="*/ 452 w 471"/>
              <a:gd name="T25" fmla="*/ 172 h 199"/>
              <a:gd name="T26" fmla="*/ 462 w 471"/>
              <a:gd name="T27" fmla="*/ 160 h 199"/>
              <a:gd name="T28" fmla="*/ 466 w 471"/>
              <a:gd name="T29" fmla="*/ 144 h 199"/>
              <a:gd name="T30" fmla="*/ 469 w 471"/>
              <a:gd name="T31" fmla="*/ 126 h 199"/>
              <a:gd name="T32" fmla="*/ 469 w 471"/>
              <a:gd name="T33" fmla="*/ 107 h 199"/>
              <a:gd name="T34" fmla="*/ 15 w 471"/>
              <a:gd name="T35" fmla="*/ 18 h 199"/>
              <a:gd name="T36" fmla="*/ 9 w 471"/>
              <a:gd name="T37" fmla="*/ 36 h 199"/>
              <a:gd name="T38" fmla="*/ 4 w 471"/>
              <a:gd name="T39" fmla="*/ 58 h 199"/>
              <a:gd name="T40" fmla="*/ 2 w 471"/>
              <a:gd name="T41" fmla="*/ 78 h 199"/>
              <a:gd name="T42" fmla="*/ 0 w 471"/>
              <a:gd name="T43" fmla="*/ 99 h 199"/>
              <a:gd name="T44" fmla="*/ 2 w 471"/>
              <a:gd name="T45" fmla="*/ 126 h 199"/>
              <a:gd name="T46" fmla="*/ 7 w 471"/>
              <a:gd name="T47" fmla="*/ 151 h 199"/>
              <a:gd name="T48" fmla="*/ 13 w 471"/>
              <a:gd name="T49" fmla="*/ 175 h 199"/>
              <a:gd name="T50" fmla="*/ 22 w 471"/>
              <a:gd name="T51" fmla="*/ 199 h 199"/>
              <a:gd name="T52" fmla="*/ 23 w 471"/>
              <a:gd name="T53" fmla="*/ 187 h 199"/>
              <a:gd name="T54" fmla="*/ 15 w 471"/>
              <a:gd name="T55" fmla="*/ 164 h 199"/>
              <a:gd name="T56" fmla="*/ 9 w 471"/>
              <a:gd name="T57" fmla="*/ 139 h 199"/>
              <a:gd name="T58" fmla="*/ 5 w 471"/>
              <a:gd name="T59" fmla="*/ 112 h 199"/>
              <a:gd name="T60" fmla="*/ 5 w 471"/>
              <a:gd name="T61" fmla="*/ 88 h 199"/>
              <a:gd name="T62" fmla="*/ 7 w 471"/>
              <a:gd name="T63" fmla="*/ 66 h 199"/>
              <a:gd name="T64" fmla="*/ 12 w 471"/>
              <a:gd name="T65" fmla="*/ 45 h 199"/>
              <a:gd name="T66" fmla="*/ 17 w 471"/>
              <a:gd name="T67" fmla="*/ 25 h 199"/>
              <a:gd name="T68" fmla="*/ 15 w 471"/>
              <a:gd name="T69" fmla="*/ 1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1" h="199">
                <a:moveTo>
                  <a:pt x="471" y="99"/>
                </a:moveTo>
                <a:lnTo>
                  <a:pt x="469" y="86"/>
                </a:lnTo>
                <a:lnTo>
                  <a:pt x="469" y="73"/>
                </a:lnTo>
                <a:lnTo>
                  <a:pt x="467" y="59"/>
                </a:lnTo>
                <a:lnTo>
                  <a:pt x="464" y="48"/>
                </a:lnTo>
                <a:lnTo>
                  <a:pt x="461" y="35"/>
                </a:lnTo>
                <a:lnTo>
                  <a:pt x="457" y="23"/>
                </a:lnTo>
                <a:lnTo>
                  <a:pt x="452" y="11"/>
                </a:lnTo>
                <a:lnTo>
                  <a:pt x="447" y="0"/>
                </a:lnTo>
                <a:lnTo>
                  <a:pt x="442" y="0"/>
                </a:lnTo>
                <a:lnTo>
                  <a:pt x="447" y="11"/>
                </a:lnTo>
                <a:lnTo>
                  <a:pt x="452" y="23"/>
                </a:lnTo>
                <a:lnTo>
                  <a:pt x="456" y="35"/>
                </a:lnTo>
                <a:lnTo>
                  <a:pt x="459" y="48"/>
                </a:lnTo>
                <a:lnTo>
                  <a:pt x="462" y="59"/>
                </a:lnTo>
                <a:lnTo>
                  <a:pt x="464" y="73"/>
                </a:lnTo>
                <a:lnTo>
                  <a:pt x="464" y="86"/>
                </a:lnTo>
                <a:lnTo>
                  <a:pt x="466" y="99"/>
                </a:lnTo>
                <a:lnTo>
                  <a:pt x="466" y="109"/>
                </a:lnTo>
                <a:lnTo>
                  <a:pt x="464" y="117"/>
                </a:lnTo>
                <a:lnTo>
                  <a:pt x="464" y="127"/>
                </a:lnTo>
                <a:lnTo>
                  <a:pt x="462" y="137"/>
                </a:lnTo>
                <a:lnTo>
                  <a:pt x="461" y="146"/>
                </a:lnTo>
                <a:lnTo>
                  <a:pt x="459" y="154"/>
                </a:lnTo>
                <a:lnTo>
                  <a:pt x="456" y="164"/>
                </a:lnTo>
                <a:lnTo>
                  <a:pt x="452" y="172"/>
                </a:lnTo>
                <a:lnTo>
                  <a:pt x="459" y="169"/>
                </a:lnTo>
                <a:lnTo>
                  <a:pt x="462" y="160"/>
                </a:lnTo>
                <a:lnTo>
                  <a:pt x="464" y="152"/>
                </a:lnTo>
                <a:lnTo>
                  <a:pt x="466" y="144"/>
                </a:lnTo>
                <a:lnTo>
                  <a:pt x="467" y="136"/>
                </a:lnTo>
                <a:lnTo>
                  <a:pt x="469" y="126"/>
                </a:lnTo>
                <a:lnTo>
                  <a:pt x="469" y="117"/>
                </a:lnTo>
                <a:lnTo>
                  <a:pt x="469" y="107"/>
                </a:lnTo>
                <a:lnTo>
                  <a:pt x="471" y="99"/>
                </a:lnTo>
                <a:close/>
                <a:moveTo>
                  <a:pt x="15" y="18"/>
                </a:moveTo>
                <a:lnTo>
                  <a:pt x="12" y="28"/>
                </a:lnTo>
                <a:lnTo>
                  <a:pt x="9" y="36"/>
                </a:lnTo>
                <a:lnTo>
                  <a:pt x="7" y="46"/>
                </a:lnTo>
                <a:lnTo>
                  <a:pt x="4" y="58"/>
                </a:lnTo>
                <a:lnTo>
                  <a:pt x="2" y="68"/>
                </a:lnTo>
                <a:lnTo>
                  <a:pt x="2" y="78"/>
                </a:lnTo>
                <a:lnTo>
                  <a:pt x="0" y="88"/>
                </a:lnTo>
                <a:lnTo>
                  <a:pt x="0" y="99"/>
                </a:lnTo>
                <a:lnTo>
                  <a:pt x="0" y="112"/>
                </a:lnTo>
                <a:lnTo>
                  <a:pt x="2" y="126"/>
                </a:lnTo>
                <a:lnTo>
                  <a:pt x="4" y="139"/>
                </a:lnTo>
                <a:lnTo>
                  <a:pt x="7" y="151"/>
                </a:lnTo>
                <a:lnTo>
                  <a:pt x="9" y="164"/>
                </a:lnTo>
                <a:lnTo>
                  <a:pt x="13" y="175"/>
                </a:lnTo>
                <a:lnTo>
                  <a:pt x="17" y="187"/>
                </a:lnTo>
                <a:lnTo>
                  <a:pt x="22" y="199"/>
                </a:lnTo>
                <a:lnTo>
                  <a:pt x="28" y="199"/>
                </a:lnTo>
                <a:lnTo>
                  <a:pt x="23" y="187"/>
                </a:lnTo>
                <a:lnTo>
                  <a:pt x="18" y="175"/>
                </a:lnTo>
                <a:lnTo>
                  <a:pt x="15" y="164"/>
                </a:lnTo>
                <a:lnTo>
                  <a:pt x="12" y="151"/>
                </a:lnTo>
                <a:lnTo>
                  <a:pt x="9" y="139"/>
                </a:lnTo>
                <a:lnTo>
                  <a:pt x="7" y="126"/>
                </a:lnTo>
                <a:lnTo>
                  <a:pt x="5" y="112"/>
                </a:lnTo>
                <a:lnTo>
                  <a:pt x="5" y="99"/>
                </a:lnTo>
                <a:lnTo>
                  <a:pt x="5" y="88"/>
                </a:lnTo>
                <a:lnTo>
                  <a:pt x="7" y="78"/>
                </a:lnTo>
                <a:lnTo>
                  <a:pt x="7" y="66"/>
                </a:lnTo>
                <a:lnTo>
                  <a:pt x="10" y="56"/>
                </a:lnTo>
                <a:lnTo>
                  <a:pt x="12" y="45"/>
                </a:lnTo>
                <a:lnTo>
                  <a:pt x="15" y="35"/>
                </a:lnTo>
                <a:lnTo>
                  <a:pt x="17" y="25"/>
                </a:lnTo>
                <a:lnTo>
                  <a:pt x="22" y="15"/>
                </a:lnTo>
                <a:lnTo>
                  <a:pt x="15" y="18"/>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21" name="Freeform 1126">
            <a:extLst>
              <a:ext uri="{FF2B5EF4-FFF2-40B4-BE49-F238E27FC236}">
                <a16:creationId xmlns:a16="http://schemas.microsoft.com/office/drawing/2014/main" id="{22A95E22-0722-7298-E6F0-4D5B4DB36670}"/>
              </a:ext>
            </a:extLst>
          </p:cNvPr>
          <p:cNvSpPr>
            <a:spLocks noEditPoints="1"/>
          </p:cNvSpPr>
          <p:nvPr/>
        </p:nvSpPr>
        <p:spPr bwMode="auto">
          <a:xfrm>
            <a:off x="2547938" y="2403475"/>
            <a:ext cx="735013" cy="315913"/>
          </a:xfrm>
          <a:custGeom>
            <a:avLst/>
            <a:gdLst>
              <a:gd name="T0" fmla="*/ 463 w 463"/>
              <a:gd name="T1" fmla="*/ 86 h 199"/>
              <a:gd name="T2" fmla="*/ 460 w 463"/>
              <a:gd name="T3" fmla="*/ 59 h 199"/>
              <a:gd name="T4" fmla="*/ 455 w 463"/>
              <a:gd name="T5" fmla="*/ 35 h 199"/>
              <a:gd name="T6" fmla="*/ 447 w 463"/>
              <a:gd name="T7" fmla="*/ 11 h 199"/>
              <a:gd name="T8" fmla="*/ 435 w 463"/>
              <a:gd name="T9" fmla="*/ 0 h 199"/>
              <a:gd name="T10" fmla="*/ 445 w 463"/>
              <a:gd name="T11" fmla="*/ 23 h 199"/>
              <a:gd name="T12" fmla="*/ 453 w 463"/>
              <a:gd name="T13" fmla="*/ 48 h 199"/>
              <a:gd name="T14" fmla="*/ 457 w 463"/>
              <a:gd name="T15" fmla="*/ 73 h 199"/>
              <a:gd name="T16" fmla="*/ 458 w 463"/>
              <a:gd name="T17" fmla="*/ 99 h 199"/>
              <a:gd name="T18" fmla="*/ 458 w 463"/>
              <a:gd name="T19" fmla="*/ 119 h 199"/>
              <a:gd name="T20" fmla="*/ 455 w 463"/>
              <a:gd name="T21" fmla="*/ 137 h 199"/>
              <a:gd name="T22" fmla="*/ 452 w 463"/>
              <a:gd name="T23" fmla="*/ 155 h 199"/>
              <a:gd name="T24" fmla="*/ 447 w 463"/>
              <a:gd name="T25" fmla="*/ 174 h 199"/>
              <a:gd name="T26" fmla="*/ 455 w 463"/>
              <a:gd name="T27" fmla="*/ 162 h 199"/>
              <a:gd name="T28" fmla="*/ 458 w 463"/>
              <a:gd name="T29" fmla="*/ 146 h 199"/>
              <a:gd name="T30" fmla="*/ 462 w 463"/>
              <a:gd name="T31" fmla="*/ 127 h 199"/>
              <a:gd name="T32" fmla="*/ 463 w 463"/>
              <a:gd name="T33" fmla="*/ 109 h 199"/>
              <a:gd name="T34" fmla="*/ 14 w 463"/>
              <a:gd name="T35" fmla="*/ 16 h 199"/>
              <a:gd name="T36" fmla="*/ 8 w 463"/>
              <a:gd name="T37" fmla="*/ 36 h 199"/>
              <a:gd name="T38" fmla="*/ 3 w 463"/>
              <a:gd name="T39" fmla="*/ 56 h 199"/>
              <a:gd name="T40" fmla="*/ 0 w 463"/>
              <a:gd name="T41" fmla="*/ 78 h 199"/>
              <a:gd name="T42" fmla="*/ 0 w 463"/>
              <a:gd name="T43" fmla="*/ 99 h 199"/>
              <a:gd name="T44" fmla="*/ 0 w 463"/>
              <a:gd name="T45" fmla="*/ 126 h 199"/>
              <a:gd name="T46" fmla="*/ 5 w 463"/>
              <a:gd name="T47" fmla="*/ 151 h 199"/>
              <a:gd name="T48" fmla="*/ 11 w 463"/>
              <a:gd name="T49" fmla="*/ 175 h 199"/>
              <a:gd name="T50" fmla="*/ 21 w 463"/>
              <a:gd name="T51" fmla="*/ 199 h 199"/>
              <a:gd name="T52" fmla="*/ 21 w 463"/>
              <a:gd name="T53" fmla="*/ 187 h 199"/>
              <a:gd name="T54" fmla="*/ 13 w 463"/>
              <a:gd name="T55" fmla="*/ 164 h 199"/>
              <a:gd name="T56" fmla="*/ 8 w 463"/>
              <a:gd name="T57" fmla="*/ 139 h 199"/>
              <a:gd name="T58" fmla="*/ 5 w 463"/>
              <a:gd name="T59" fmla="*/ 112 h 199"/>
              <a:gd name="T60" fmla="*/ 5 w 463"/>
              <a:gd name="T61" fmla="*/ 88 h 199"/>
              <a:gd name="T62" fmla="*/ 6 w 463"/>
              <a:gd name="T63" fmla="*/ 66 h 199"/>
              <a:gd name="T64" fmla="*/ 11 w 463"/>
              <a:gd name="T65" fmla="*/ 45 h 199"/>
              <a:gd name="T66" fmla="*/ 16 w 463"/>
              <a:gd name="T67" fmla="*/ 23 h 199"/>
              <a:gd name="T68" fmla="*/ 14 w 463"/>
              <a:gd name="T69" fmla="*/ 1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3" h="199">
                <a:moveTo>
                  <a:pt x="463" y="99"/>
                </a:moveTo>
                <a:lnTo>
                  <a:pt x="463" y="86"/>
                </a:lnTo>
                <a:lnTo>
                  <a:pt x="462" y="73"/>
                </a:lnTo>
                <a:lnTo>
                  <a:pt x="460" y="59"/>
                </a:lnTo>
                <a:lnTo>
                  <a:pt x="458" y="48"/>
                </a:lnTo>
                <a:lnTo>
                  <a:pt x="455" y="35"/>
                </a:lnTo>
                <a:lnTo>
                  <a:pt x="450" y="23"/>
                </a:lnTo>
                <a:lnTo>
                  <a:pt x="447" y="11"/>
                </a:lnTo>
                <a:lnTo>
                  <a:pt x="442" y="0"/>
                </a:lnTo>
                <a:lnTo>
                  <a:pt x="435" y="0"/>
                </a:lnTo>
                <a:lnTo>
                  <a:pt x="442" y="11"/>
                </a:lnTo>
                <a:lnTo>
                  <a:pt x="445" y="23"/>
                </a:lnTo>
                <a:lnTo>
                  <a:pt x="450" y="35"/>
                </a:lnTo>
                <a:lnTo>
                  <a:pt x="453" y="48"/>
                </a:lnTo>
                <a:lnTo>
                  <a:pt x="455" y="59"/>
                </a:lnTo>
                <a:lnTo>
                  <a:pt x="457" y="73"/>
                </a:lnTo>
                <a:lnTo>
                  <a:pt x="458" y="86"/>
                </a:lnTo>
                <a:lnTo>
                  <a:pt x="458" y="99"/>
                </a:lnTo>
                <a:lnTo>
                  <a:pt x="458" y="109"/>
                </a:lnTo>
                <a:lnTo>
                  <a:pt x="458" y="119"/>
                </a:lnTo>
                <a:lnTo>
                  <a:pt x="457" y="127"/>
                </a:lnTo>
                <a:lnTo>
                  <a:pt x="455" y="137"/>
                </a:lnTo>
                <a:lnTo>
                  <a:pt x="453" y="147"/>
                </a:lnTo>
                <a:lnTo>
                  <a:pt x="452" y="155"/>
                </a:lnTo>
                <a:lnTo>
                  <a:pt x="448" y="165"/>
                </a:lnTo>
                <a:lnTo>
                  <a:pt x="447" y="174"/>
                </a:lnTo>
                <a:lnTo>
                  <a:pt x="452" y="170"/>
                </a:lnTo>
                <a:lnTo>
                  <a:pt x="455" y="162"/>
                </a:lnTo>
                <a:lnTo>
                  <a:pt x="457" y="154"/>
                </a:lnTo>
                <a:lnTo>
                  <a:pt x="458" y="146"/>
                </a:lnTo>
                <a:lnTo>
                  <a:pt x="460" y="136"/>
                </a:lnTo>
                <a:lnTo>
                  <a:pt x="462" y="127"/>
                </a:lnTo>
                <a:lnTo>
                  <a:pt x="463" y="117"/>
                </a:lnTo>
                <a:lnTo>
                  <a:pt x="463" y="109"/>
                </a:lnTo>
                <a:lnTo>
                  <a:pt x="463" y="99"/>
                </a:lnTo>
                <a:close/>
                <a:moveTo>
                  <a:pt x="14" y="16"/>
                </a:moveTo>
                <a:lnTo>
                  <a:pt x="11" y="26"/>
                </a:lnTo>
                <a:lnTo>
                  <a:pt x="8" y="36"/>
                </a:lnTo>
                <a:lnTo>
                  <a:pt x="5" y="46"/>
                </a:lnTo>
                <a:lnTo>
                  <a:pt x="3" y="56"/>
                </a:lnTo>
                <a:lnTo>
                  <a:pt x="1" y="66"/>
                </a:lnTo>
                <a:lnTo>
                  <a:pt x="0" y="78"/>
                </a:lnTo>
                <a:lnTo>
                  <a:pt x="0" y="88"/>
                </a:lnTo>
                <a:lnTo>
                  <a:pt x="0" y="99"/>
                </a:lnTo>
                <a:lnTo>
                  <a:pt x="0" y="112"/>
                </a:lnTo>
                <a:lnTo>
                  <a:pt x="0" y="126"/>
                </a:lnTo>
                <a:lnTo>
                  <a:pt x="3" y="139"/>
                </a:lnTo>
                <a:lnTo>
                  <a:pt x="5" y="151"/>
                </a:lnTo>
                <a:lnTo>
                  <a:pt x="8" y="164"/>
                </a:lnTo>
                <a:lnTo>
                  <a:pt x="11" y="175"/>
                </a:lnTo>
                <a:lnTo>
                  <a:pt x="16" y="187"/>
                </a:lnTo>
                <a:lnTo>
                  <a:pt x="21" y="199"/>
                </a:lnTo>
                <a:lnTo>
                  <a:pt x="26" y="199"/>
                </a:lnTo>
                <a:lnTo>
                  <a:pt x="21" y="187"/>
                </a:lnTo>
                <a:lnTo>
                  <a:pt x="16" y="175"/>
                </a:lnTo>
                <a:lnTo>
                  <a:pt x="13" y="164"/>
                </a:lnTo>
                <a:lnTo>
                  <a:pt x="9" y="151"/>
                </a:lnTo>
                <a:lnTo>
                  <a:pt x="8" y="139"/>
                </a:lnTo>
                <a:lnTo>
                  <a:pt x="5" y="126"/>
                </a:lnTo>
                <a:lnTo>
                  <a:pt x="5" y="112"/>
                </a:lnTo>
                <a:lnTo>
                  <a:pt x="3" y="99"/>
                </a:lnTo>
                <a:lnTo>
                  <a:pt x="5" y="88"/>
                </a:lnTo>
                <a:lnTo>
                  <a:pt x="5" y="76"/>
                </a:lnTo>
                <a:lnTo>
                  <a:pt x="6" y="66"/>
                </a:lnTo>
                <a:lnTo>
                  <a:pt x="8" y="54"/>
                </a:lnTo>
                <a:lnTo>
                  <a:pt x="11" y="45"/>
                </a:lnTo>
                <a:lnTo>
                  <a:pt x="13" y="33"/>
                </a:lnTo>
                <a:lnTo>
                  <a:pt x="16" y="23"/>
                </a:lnTo>
                <a:lnTo>
                  <a:pt x="21" y="13"/>
                </a:lnTo>
                <a:lnTo>
                  <a:pt x="14" y="16"/>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22" name="Freeform 1127">
            <a:extLst>
              <a:ext uri="{FF2B5EF4-FFF2-40B4-BE49-F238E27FC236}">
                <a16:creationId xmlns:a16="http://schemas.microsoft.com/office/drawing/2014/main" id="{243FD24B-8FB3-1D16-A78C-3371A34E56B8}"/>
              </a:ext>
            </a:extLst>
          </p:cNvPr>
          <p:cNvSpPr>
            <a:spLocks noEditPoints="1"/>
          </p:cNvSpPr>
          <p:nvPr/>
        </p:nvSpPr>
        <p:spPr bwMode="auto">
          <a:xfrm>
            <a:off x="2549525" y="2403475"/>
            <a:ext cx="731838" cy="315913"/>
          </a:xfrm>
          <a:custGeom>
            <a:avLst/>
            <a:gdLst>
              <a:gd name="T0" fmla="*/ 459 w 461"/>
              <a:gd name="T1" fmla="*/ 86 h 199"/>
              <a:gd name="T2" fmla="*/ 457 w 461"/>
              <a:gd name="T3" fmla="*/ 59 h 199"/>
              <a:gd name="T4" fmla="*/ 451 w 461"/>
              <a:gd name="T5" fmla="*/ 35 h 199"/>
              <a:gd name="T6" fmla="*/ 442 w 461"/>
              <a:gd name="T7" fmla="*/ 11 h 199"/>
              <a:gd name="T8" fmla="*/ 432 w 461"/>
              <a:gd name="T9" fmla="*/ 0 h 199"/>
              <a:gd name="T10" fmla="*/ 442 w 461"/>
              <a:gd name="T11" fmla="*/ 23 h 199"/>
              <a:gd name="T12" fmla="*/ 449 w 461"/>
              <a:gd name="T13" fmla="*/ 48 h 199"/>
              <a:gd name="T14" fmla="*/ 454 w 461"/>
              <a:gd name="T15" fmla="*/ 73 h 199"/>
              <a:gd name="T16" fmla="*/ 456 w 461"/>
              <a:gd name="T17" fmla="*/ 99 h 199"/>
              <a:gd name="T18" fmla="*/ 454 w 461"/>
              <a:gd name="T19" fmla="*/ 119 h 199"/>
              <a:gd name="T20" fmla="*/ 452 w 461"/>
              <a:gd name="T21" fmla="*/ 137 h 199"/>
              <a:gd name="T22" fmla="*/ 447 w 461"/>
              <a:gd name="T23" fmla="*/ 157 h 199"/>
              <a:gd name="T24" fmla="*/ 442 w 461"/>
              <a:gd name="T25" fmla="*/ 175 h 199"/>
              <a:gd name="T26" fmla="*/ 451 w 461"/>
              <a:gd name="T27" fmla="*/ 164 h 199"/>
              <a:gd name="T28" fmla="*/ 456 w 461"/>
              <a:gd name="T29" fmla="*/ 146 h 199"/>
              <a:gd name="T30" fmla="*/ 459 w 461"/>
              <a:gd name="T31" fmla="*/ 127 h 199"/>
              <a:gd name="T32" fmla="*/ 461 w 461"/>
              <a:gd name="T33" fmla="*/ 109 h 199"/>
              <a:gd name="T34" fmla="*/ 17 w 461"/>
              <a:gd name="T35" fmla="*/ 15 h 199"/>
              <a:gd name="T36" fmla="*/ 10 w 461"/>
              <a:gd name="T37" fmla="*/ 35 h 199"/>
              <a:gd name="T38" fmla="*/ 5 w 461"/>
              <a:gd name="T39" fmla="*/ 56 h 199"/>
              <a:gd name="T40" fmla="*/ 2 w 461"/>
              <a:gd name="T41" fmla="*/ 78 h 199"/>
              <a:gd name="T42" fmla="*/ 0 w 461"/>
              <a:gd name="T43" fmla="*/ 99 h 199"/>
              <a:gd name="T44" fmla="*/ 2 w 461"/>
              <a:gd name="T45" fmla="*/ 126 h 199"/>
              <a:gd name="T46" fmla="*/ 7 w 461"/>
              <a:gd name="T47" fmla="*/ 151 h 199"/>
              <a:gd name="T48" fmla="*/ 13 w 461"/>
              <a:gd name="T49" fmla="*/ 175 h 199"/>
              <a:gd name="T50" fmla="*/ 23 w 461"/>
              <a:gd name="T51" fmla="*/ 199 h 199"/>
              <a:gd name="T52" fmla="*/ 23 w 461"/>
              <a:gd name="T53" fmla="*/ 187 h 199"/>
              <a:gd name="T54" fmla="*/ 15 w 461"/>
              <a:gd name="T55" fmla="*/ 164 h 199"/>
              <a:gd name="T56" fmla="*/ 8 w 461"/>
              <a:gd name="T57" fmla="*/ 139 h 199"/>
              <a:gd name="T58" fmla="*/ 5 w 461"/>
              <a:gd name="T59" fmla="*/ 112 h 199"/>
              <a:gd name="T60" fmla="*/ 5 w 461"/>
              <a:gd name="T61" fmla="*/ 88 h 199"/>
              <a:gd name="T62" fmla="*/ 7 w 461"/>
              <a:gd name="T63" fmla="*/ 64 h 199"/>
              <a:gd name="T64" fmla="*/ 12 w 461"/>
              <a:gd name="T65" fmla="*/ 43 h 199"/>
              <a:gd name="T66" fmla="*/ 18 w 461"/>
              <a:gd name="T67" fmla="*/ 21 h 199"/>
              <a:gd name="T68" fmla="*/ 17 w 461"/>
              <a:gd name="T69" fmla="*/ 1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1" h="199">
                <a:moveTo>
                  <a:pt x="461" y="99"/>
                </a:moveTo>
                <a:lnTo>
                  <a:pt x="459" y="86"/>
                </a:lnTo>
                <a:lnTo>
                  <a:pt x="459" y="73"/>
                </a:lnTo>
                <a:lnTo>
                  <a:pt x="457" y="59"/>
                </a:lnTo>
                <a:lnTo>
                  <a:pt x="454" y="48"/>
                </a:lnTo>
                <a:lnTo>
                  <a:pt x="451" y="35"/>
                </a:lnTo>
                <a:lnTo>
                  <a:pt x="447" y="23"/>
                </a:lnTo>
                <a:lnTo>
                  <a:pt x="442" y="11"/>
                </a:lnTo>
                <a:lnTo>
                  <a:pt x="437" y="0"/>
                </a:lnTo>
                <a:lnTo>
                  <a:pt x="432" y="0"/>
                </a:lnTo>
                <a:lnTo>
                  <a:pt x="437" y="11"/>
                </a:lnTo>
                <a:lnTo>
                  <a:pt x="442" y="23"/>
                </a:lnTo>
                <a:lnTo>
                  <a:pt x="446" y="35"/>
                </a:lnTo>
                <a:lnTo>
                  <a:pt x="449" y="48"/>
                </a:lnTo>
                <a:lnTo>
                  <a:pt x="452" y="59"/>
                </a:lnTo>
                <a:lnTo>
                  <a:pt x="454" y="73"/>
                </a:lnTo>
                <a:lnTo>
                  <a:pt x="456" y="86"/>
                </a:lnTo>
                <a:lnTo>
                  <a:pt x="456" y="99"/>
                </a:lnTo>
                <a:lnTo>
                  <a:pt x="456" y="109"/>
                </a:lnTo>
                <a:lnTo>
                  <a:pt x="454" y="119"/>
                </a:lnTo>
                <a:lnTo>
                  <a:pt x="454" y="129"/>
                </a:lnTo>
                <a:lnTo>
                  <a:pt x="452" y="137"/>
                </a:lnTo>
                <a:lnTo>
                  <a:pt x="451" y="147"/>
                </a:lnTo>
                <a:lnTo>
                  <a:pt x="447" y="157"/>
                </a:lnTo>
                <a:lnTo>
                  <a:pt x="446" y="165"/>
                </a:lnTo>
                <a:lnTo>
                  <a:pt x="442" y="175"/>
                </a:lnTo>
                <a:lnTo>
                  <a:pt x="447" y="172"/>
                </a:lnTo>
                <a:lnTo>
                  <a:pt x="451" y="164"/>
                </a:lnTo>
                <a:lnTo>
                  <a:pt x="454" y="154"/>
                </a:lnTo>
                <a:lnTo>
                  <a:pt x="456" y="146"/>
                </a:lnTo>
                <a:lnTo>
                  <a:pt x="457" y="137"/>
                </a:lnTo>
                <a:lnTo>
                  <a:pt x="459" y="127"/>
                </a:lnTo>
                <a:lnTo>
                  <a:pt x="459" y="117"/>
                </a:lnTo>
                <a:lnTo>
                  <a:pt x="461" y="109"/>
                </a:lnTo>
                <a:lnTo>
                  <a:pt x="461" y="99"/>
                </a:lnTo>
                <a:close/>
                <a:moveTo>
                  <a:pt x="17" y="15"/>
                </a:moveTo>
                <a:lnTo>
                  <a:pt x="12" y="25"/>
                </a:lnTo>
                <a:lnTo>
                  <a:pt x="10" y="35"/>
                </a:lnTo>
                <a:lnTo>
                  <a:pt x="7" y="45"/>
                </a:lnTo>
                <a:lnTo>
                  <a:pt x="5" y="56"/>
                </a:lnTo>
                <a:lnTo>
                  <a:pt x="2" y="66"/>
                </a:lnTo>
                <a:lnTo>
                  <a:pt x="2" y="78"/>
                </a:lnTo>
                <a:lnTo>
                  <a:pt x="0" y="88"/>
                </a:lnTo>
                <a:lnTo>
                  <a:pt x="0" y="99"/>
                </a:lnTo>
                <a:lnTo>
                  <a:pt x="0" y="112"/>
                </a:lnTo>
                <a:lnTo>
                  <a:pt x="2" y="126"/>
                </a:lnTo>
                <a:lnTo>
                  <a:pt x="4" y="139"/>
                </a:lnTo>
                <a:lnTo>
                  <a:pt x="7" y="151"/>
                </a:lnTo>
                <a:lnTo>
                  <a:pt x="10" y="164"/>
                </a:lnTo>
                <a:lnTo>
                  <a:pt x="13" y="175"/>
                </a:lnTo>
                <a:lnTo>
                  <a:pt x="18" y="187"/>
                </a:lnTo>
                <a:lnTo>
                  <a:pt x="23" y="199"/>
                </a:lnTo>
                <a:lnTo>
                  <a:pt x="28" y="199"/>
                </a:lnTo>
                <a:lnTo>
                  <a:pt x="23" y="187"/>
                </a:lnTo>
                <a:lnTo>
                  <a:pt x="18" y="175"/>
                </a:lnTo>
                <a:lnTo>
                  <a:pt x="15" y="164"/>
                </a:lnTo>
                <a:lnTo>
                  <a:pt x="12" y="151"/>
                </a:lnTo>
                <a:lnTo>
                  <a:pt x="8" y="139"/>
                </a:lnTo>
                <a:lnTo>
                  <a:pt x="7" y="126"/>
                </a:lnTo>
                <a:lnTo>
                  <a:pt x="5" y="112"/>
                </a:lnTo>
                <a:lnTo>
                  <a:pt x="5" y="99"/>
                </a:lnTo>
                <a:lnTo>
                  <a:pt x="5" y="88"/>
                </a:lnTo>
                <a:lnTo>
                  <a:pt x="7" y="76"/>
                </a:lnTo>
                <a:lnTo>
                  <a:pt x="7" y="64"/>
                </a:lnTo>
                <a:lnTo>
                  <a:pt x="10" y="54"/>
                </a:lnTo>
                <a:lnTo>
                  <a:pt x="12" y="43"/>
                </a:lnTo>
                <a:lnTo>
                  <a:pt x="15" y="33"/>
                </a:lnTo>
                <a:lnTo>
                  <a:pt x="18" y="21"/>
                </a:lnTo>
                <a:lnTo>
                  <a:pt x="23" y="11"/>
                </a:lnTo>
                <a:lnTo>
                  <a:pt x="17" y="15"/>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23" name="Freeform 1128">
            <a:extLst>
              <a:ext uri="{FF2B5EF4-FFF2-40B4-BE49-F238E27FC236}">
                <a16:creationId xmlns:a16="http://schemas.microsoft.com/office/drawing/2014/main" id="{EAD6EDFB-602B-B594-8590-1CE1D3510EC0}"/>
              </a:ext>
            </a:extLst>
          </p:cNvPr>
          <p:cNvSpPr>
            <a:spLocks noEditPoints="1"/>
          </p:cNvSpPr>
          <p:nvPr/>
        </p:nvSpPr>
        <p:spPr bwMode="auto">
          <a:xfrm>
            <a:off x="2552700" y="2403475"/>
            <a:ext cx="722313" cy="315913"/>
          </a:xfrm>
          <a:custGeom>
            <a:avLst/>
            <a:gdLst>
              <a:gd name="T0" fmla="*/ 455 w 455"/>
              <a:gd name="T1" fmla="*/ 86 h 199"/>
              <a:gd name="T2" fmla="*/ 452 w 455"/>
              <a:gd name="T3" fmla="*/ 59 h 199"/>
              <a:gd name="T4" fmla="*/ 447 w 455"/>
              <a:gd name="T5" fmla="*/ 35 h 199"/>
              <a:gd name="T6" fmla="*/ 439 w 455"/>
              <a:gd name="T7" fmla="*/ 11 h 199"/>
              <a:gd name="T8" fmla="*/ 427 w 455"/>
              <a:gd name="T9" fmla="*/ 0 h 199"/>
              <a:gd name="T10" fmla="*/ 437 w 455"/>
              <a:gd name="T11" fmla="*/ 23 h 199"/>
              <a:gd name="T12" fmla="*/ 445 w 455"/>
              <a:gd name="T13" fmla="*/ 48 h 199"/>
              <a:gd name="T14" fmla="*/ 449 w 455"/>
              <a:gd name="T15" fmla="*/ 73 h 199"/>
              <a:gd name="T16" fmla="*/ 450 w 455"/>
              <a:gd name="T17" fmla="*/ 99 h 199"/>
              <a:gd name="T18" fmla="*/ 450 w 455"/>
              <a:gd name="T19" fmla="*/ 119 h 199"/>
              <a:gd name="T20" fmla="*/ 447 w 455"/>
              <a:gd name="T21" fmla="*/ 139 h 199"/>
              <a:gd name="T22" fmla="*/ 444 w 455"/>
              <a:gd name="T23" fmla="*/ 157 h 199"/>
              <a:gd name="T24" fmla="*/ 437 w 455"/>
              <a:gd name="T25" fmla="*/ 177 h 199"/>
              <a:gd name="T26" fmla="*/ 445 w 455"/>
              <a:gd name="T27" fmla="*/ 165 h 199"/>
              <a:gd name="T28" fmla="*/ 450 w 455"/>
              <a:gd name="T29" fmla="*/ 147 h 199"/>
              <a:gd name="T30" fmla="*/ 454 w 455"/>
              <a:gd name="T31" fmla="*/ 127 h 199"/>
              <a:gd name="T32" fmla="*/ 455 w 455"/>
              <a:gd name="T33" fmla="*/ 109 h 199"/>
              <a:gd name="T34" fmla="*/ 18 w 455"/>
              <a:gd name="T35" fmla="*/ 13 h 199"/>
              <a:gd name="T36" fmla="*/ 10 w 455"/>
              <a:gd name="T37" fmla="*/ 33 h 199"/>
              <a:gd name="T38" fmla="*/ 5 w 455"/>
              <a:gd name="T39" fmla="*/ 54 h 199"/>
              <a:gd name="T40" fmla="*/ 2 w 455"/>
              <a:gd name="T41" fmla="*/ 76 h 199"/>
              <a:gd name="T42" fmla="*/ 0 w 455"/>
              <a:gd name="T43" fmla="*/ 99 h 199"/>
              <a:gd name="T44" fmla="*/ 2 w 455"/>
              <a:gd name="T45" fmla="*/ 126 h 199"/>
              <a:gd name="T46" fmla="*/ 6 w 455"/>
              <a:gd name="T47" fmla="*/ 151 h 199"/>
              <a:gd name="T48" fmla="*/ 13 w 455"/>
              <a:gd name="T49" fmla="*/ 175 h 199"/>
              <a:gd name="T50" fmla="*/ 23 w 455"/>
              <a:gd name="T51" fmla="*/ 199 h 199"/>
              <a:gd name="T52" fmla="*/ 23 w 455"/>
              <a:gd name="T53" fmla="*/ 187 h 199"/>
              <a:gd name="T54" fmla="*/ 15 w 455"/>
              <a:gd name="T55" fmla="*/ 164 h 199"/>
              <a:gd name="T56" fmla="*/ 8 w 455"/>
              <a:gd name="T57" fmla="*/ 139 h 199"/>
              <a:gd name="T58" fmla="*/ 6 w 455"/>
              <a:gd name="T59" fmla="*/ 112 h 199"/>
              <a:gd name="T60" fmla="*/ 6 w 455"/>
              <a:gd name="T61" fmla="*/ 88 h 199"/>
              <a:gd name="T62" fmla="*/ 8 w 455"/>
              <a:gd name="T63" fmla="*/ 64 h 199"/>
              <a:gd name="T64" fmla="*/ 13 w 455"/>
              <a:gd name="T65" fmla="*/ 41 h 199"/>
              <a:gd name="T66" fmla="*/ 20 w 455"/>
              <a:gd name="T67" fmla="*/ 20 h 199"/>
              <a:gd name="T68" fmla="*/ 18 w 455"/>
              <a:gd name="T69" fmla="*/ 1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5" h="199">
                <a:moveTo>
                  <a:pt x="455" y="99"/>
                </a:moveTo>
                <a:lnTo>
                  <a:pt x="455" y="86"/>
                </a:lnTo>
                <a:lnTo>
                  <a:pt x="454" y="73"/>
                </a:lnTo>
                <a:lnTo>
                  <a:pt x="452" y="59"/>
                </a:lnTo>
                <a:lnTo>
                  <a:pt x="450" y="48"/>
                </a:lnTo>
                <a:lnTo>
                  <a:pt x="447" y="35"/>
                </a:lnTo>
                <a:lnTo>
                  <a:pt x="442" y="23"/>
                </a:lnTo>
                <a:lnTo>
                  <a:pt x="439" y="11"/>
                </a:lnTo>
                <a:lnTo>
                  <a:pt x="432" y="0"/>
                </a:lnTo>
                <a:lnTo>
                  <a:pt x="427" y="0"/>
                </a:lnTo>
                <a:lnTo>
                  <a:pt x="432" y="11"/>
                </a:lnTo>
                <a:lnTo>
                  <a:pt x="437" y="23"/>
                </a:lnTo>
                <a:lnTo>
                  <a:pt x="442" y="35"/>
                </a:lnTo>
                <a:lnTo>
                  <a:pt x="445" y="48"/>
                </a:lnTo>
                <a:lnTo>
                  <a:pt x="447" y="59"/>
                </a:lnTo>
                <a:lnTo>
                  <a:pt x="449" y="73"/>
                </a:lnTo>
                <a:lnTo>
                  <a:pt x="450" y="86"/>
                </a:lnTo>
                <a:lnTo>
                  <a:pt x="450" y="99"/>
                </a:lnTo>
                <a:lnTo>
                  <a:pt x="450" y="109"/>
                </a:lnTo>
                <a:lnTo>
                  <a:pt x="450" y="119"/>
                </a:lnTo>
                <a:lnTo>
                  <a:pt x="449" y="129"/>
                </a:lnTo>
                <a:lnTo>
                  <a:pt x="447" y="139"/>
                </a:lnTo>
                <a:lnTo>
                  <a:pt x="445" y="149"/>
                </a:lnTo>
                <a:lnTo>
                  <a:pt x="444" y="157"/>
                </a:lnTo>
                <a:lnTo>
                  <a:pt x="440" y="167"/>
                </a:lnTo>
                <a:lnTo>
                  <a:pt x="437" y="177"/>
                </a:lnTo>
                <a:lnTo>
                  <a:pt x="444" y="174"/>
                </a:lnTo>
                <a:lnTo>
                  <a:pt x="445" y="165"/>
                </a:lnTo>
                <a:lnTo>
                  <a:pt x="449" y="155"/>
                </a:lnTo>
                <a:lnTo>
                  <a:pt x="450" y="147"/>
                </a:lnTo>
                <a:lnTo>
                  <a:pt x="452" y="137"/>
                </a:lnTo>
                <a:lnTo>
                  <a:pt x="454" y="127"/>
                </a:lnTo>
                <a:lnTo>
                  <a:pt x="455" y="119"/>
                </a:lnTo>
                <a:lnTo>
                  <a:pt x="455" y="109"/>
                </a:lnTo>
                <a:lnTo>
                  <a:pt x="455" y="99"/>
                </a:lnTo>
                <a:close/>
                <a:moveTo>
                  <a:pt x="18" y="13"/>
                </a:moveTo>
                <a:lnTo>
                  <a:pt x="13" y="23"/>
                </a:lnTo>
                <a:lnTo>
                  <a:pt x="10" y="33"/>
                </a:lnTo>
                <a:lnTo>
                  <a:pt x="8" y="45"/>
                </a:lnTo>
                <a:lnTo>
                  <a:pt x="5" y="54"/>
                </a:lnTo>
                <a:lnTo>
                  <a:pt x="3" y="66"/>
                </a:lnTo>
                <a:lnTo>
                  <a:pt x="2" y="76"/>
                </a:lnTo>
                <a:lnTo>
                  <a:pt x="2" y="88"/>
                </a:lnTo>
                <a:lnTo>
                  <a:pt x="0" y="99"/>
                </a:lnTo>
                <a:lnTo>
                  <a:pt x="2" y="112"/>
                </a:lnTo>
                <a:lnTo>
                  <a:pt x="2" y="126"/>
                </a:lnTo>
                <a:lnTo>
                  <a:pt x="5" y="139"/>
                </a:lnTo>
                <a:lnTo>
                  <a:pt x="6" y="151"/>
                </a:lnTo>
                <a:lnTo>
                  <a:pt x="10" y="164"/>
                </a:lnTo>
                <a:lnTo>
                  <a:pt x="13" y="175"/>
                </a:lnTo>
                <a:lnTo>
                  <a:pt x="18" y="187"/>
                </a:lnTo>
                <a:lnTo>
                  <a:pt x="23" y="199"/>
                </a:lnTo>
                <a:lnTo>
                  <a:pt x="28" y="199"/>
                </a:lnTo>
                <a:lnTo>
                  <a:pt x="23" y="187"/>
                </a:lnTo>
                <a:lnTo>
                  <a:pt x="18" y="175"/>
                </a:lnTo>
                <a:lnTo>
                  <a:pt x="15" y="164"/>
                </a:lnTo>
                <a:lnTo>
                  <a:pt x="11" y="151"/>
                </a:lnTo>
                <a:lnTo>
                  <a:pt x="8" y="139"/>
                </a:lnTo>
                <a:lnTo>
                  <a:pt x="6" y="126"/>
                </a:lnTo>
                <a:lnTo>
                  <a:pt x="6" y="112"/>
                </a:lnTo>
                <a:lnTo>
                  <a:pt x="5" y="99"/>
                </a:lnTo>
                <a:lnTo>
                  <a:pt x="6" y="88"/>
                </a:lnTo>
                <a:lnTo>
                  <a:pt x="6" y="76"/>
                </a:lnTo>
                <a:lnTo>
                  <a:pt x="8" y="64"/>
                </a:lnTo>
                <a:lnTo>
                  <a:pt x="10" y="53"/>
                </a:lnTo>
                <a:lnTo>
                  <a:pt x="13" y="41"/>
                </a:lnTo>
                <a:lnTo>
                  <a:pt x="16" y="31"/>
                </a:lnTo>
                <a:lnTo>
                  <a:pt x="20" y="20"/>
                </a:lnTo>
                <a:lnTo>
                  <a:pt x="25" y="10"/>
                </a:lnTo>
                <a:lnTo>
                  <a:pt x="18" y="13"/>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24" name="Freeform 1129">
            <a:extLst>
              <a:ext uri="{FF2B5EF4-FFF2-40B4-BE49-F238E27FC236}">
                <a16:creationId xmlns:a16="http://schemas.microsoft.com/office/drawing/2014/main" id="{7A8A3C9A-F0BD-87AD-1B6B-CEEB81D20B53}"/>
              </a:ext>
            </a:extLst>
          </p:cNvPr>
          <p:cNvSpPr>
            <a:spLocks noEditPoints="1"/>
          </p:cNvSpPr>
          <p:nvPr/>
        </p:nvSpPr>
        <p:spPr bwMode="auto">
          <a:xfrm>
            <a:off x="2557463" y="2403475"/>
            <a:ext cx="715963" cy="315913"/>
          </a:xfrm>
          <a:custGeom>
            <a:avLst/>
            <a:gdLst>
              <a:gd name="T0" fmla="*/ 451 w 451"/>
              <a:gd name="T1" fmla="*/ 86 h 199"/>
              <a:gd name="T2" fmla="*/ 447 w 451"/>
              <a:gd name="T3" fmla="*/ 59 h 199"/>
              <a:gd name="T4" fmla="*/ 441 w 451"/>
              <a:gd name="T5" fmla="*/ 35 h 199"/>
              <a:gd name="T6" fmla="*/ 432 w 451"/>
              <a:gd name="T7" fmla="*/ 11 h 199"/>
              <a:gd name="T8" fmla="*/ 422 w 451"/>
              <a:gd name="T9" fmla="*/ 0 h 199"/>
              <a:gd name="T10" fmla="*/ 432 w 451"/>
              <a:gd name="T11" fmla="*/ 23 h 199"/>
              <a:gd name="T12" fmla="*/ 439 w 451"/>
              <a:gd name="T13" fmla="*/ 48 h 199"/>
              <a:gd name="T14" fmla="*/ 444 w 451"/>
              <a:gd name="T15" fmla="*/ 73 h 199"/>
              <a:gd name="T16" fmla="*/ 446 w 451"/>
              <a:gd name="T17" fmla="*/ 99 h 199"/>
              <a:gd name="T18" fmla="*/ 444 w 451"/>
              <a:gd name="T19" fmla="*/ 119 h 199"/>
              <a:gd name="T20" fmla="*/ 442 w 451"/>
              <a:gd name="T21" fmla="*/ 139 h 199"/>
              <a:gd name="T22" fmla="*/ 437 w 451"/>
              <a:gd name="T23" fmla="*/ 159 h 199"/>
              <a:gd name="T24" fmla="*/ 431 w 451"/>
              <a:gd name="T25" fmla="*/ 177 h 199"/>
              <a:gd name="T26" fmla="*/ 441 w 451"/>
              <a:gd name="T27" fmla="*/ 165 h 199"/>
              <a:gd name="T28" fmla="*/ 446 w 451"/>
              <a:gd name="T29" fmla="*/ 147 h 199"/>
              <a:gd name="T30" fmla="*/ 449 w 451"/>
              <a:gd name="T31" fmla="*/ 129 h 199"/>
              <a:gd name="T32" fmla="*/ 451 w 451"/>
              <a:gd name="T33" fmla="*/ 109 h 199"/>
              <a:gd name="T34" fmla="*/ 18 w 451"/>
              <a:gd name="T35" fmla="*/ 11 h 199"/>
              <a:gd name="T36" fmla="*/ 10 w 451"/>
              <a:gd name="T37" fmla="*/ 33 h 199"/>
              <a:gd name="T38" fmla="*/ 5 w 451"/>
              <a:gd name="T39" fmla="*/ 54 h 199"/>
              <a:gd name="T40" fmla="*/ 2 w 451"/>
              <a:gd name="T41" fmla="*/ 76 h 199"/>
              <a:gd name="T42" fmla="*/ 0 w 451"/>
              <a:gd name="T43" fmla="*/ 99 h 199"/>
              <a:gd name="T44" fmla="*/ 2 w 451"/>
              <a:gd name="T45" fmla="*/ 126 h 199"/>
              <a:gd name="T46" fmla="*/ 7 w 451"/>
              <a:gd name="T47" fmla="*/ 151 h 199"/>
              <a:gd name="T48" fmla="*/ 13 w 451"/>
              <a:gd name="T49" fmla="*/ 175 h 199"/>
              <a:gd name="T50" fmla="*/ 23 w 451"/>
              <a:gd name="T51" fmla="*/ 199 h 199"/>
              <a:gd name="T52" fmla="*/ 23 w 451"/>
              <a:gd name="T53" fmla="*/ 187 h 199"/>
              <a:gd name="T54" fmla="*/ 15 w 451"/>
              <a:gd name="T55" fmla="*/ 164 h 199"/>
              <a:gd name="T56" fmla="*/ 8 w 451"/>
              <a:gd name="T57" fmla="*/ 139 h 199"/>
              <a:gd name="T58" fmla="*/ 5 w 451"/>
              <a:gd name="T59" fmla="*/ 112 h 199"/>
              <a:gd name="T60" fmla="*/ 5 w 451"/>
              <a:gd name="T61" fmla="*/ 88 h 199"/>
              <a:gd name="T62" fmla="*/ 8 w 451"/>
              <a:gd name="T63" fmla="*/ 63 h 199"/>
              <a:gd name="T64" fmla="*/ 13 w 451"/>
              <a:gd name="T65" fmla="*/ 41 h 199"/>
              <a:gd name="T66" fmla="*/ 20 w 451"/>
              <a:gd name="T67" fmla="*/ 20 h 199"/>
              <a:gd name="T68" fmla="*/ 18 w 451"/>
              <a:gd name="T69" fmla="*/ 1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1" h="199">
                <a:moveTo>
                  <a:pt x="451" y="99"/>
                </a:moveTo>
                <a:lnTo>
                  <a:pt x="451" y="86"/>
                </a:lnTo>
                <a:lnTo>
                  <a:pt x="449" y="73"/>
                </a:lnTo>
                <a:lnTo>
                  <a:pt x="447" y="59"/>
                </a:lnTo>
                <a:lnTo>
                  <a:pt x="444" y="48"/>
                </a:lnTo>
                <a:lnTo>
                  <a:pt x="441" y="35"/>
                </a:lnTo>
                <a:lnTo>
                  <a:pt x="437" y="23"/>
                </a:lnTo>
                <a:lnTo>
                  <a:pt x="432" y="11"/>
                </a:lnTo>
                <a:lnTo>
                  <a:pt x="427" y="0"/>
                </a:lnTo>
                <a:lnTo>
                  <a:pt x="422" y="0"/>
                </a:lnTo>
                <a:lnTo>
                  <a:pt x="427" y="11"/>
                </a:lnTo>
                <a:lnTo>
                  <a:pt x="432" y="23"/>
                </a:lnTo>
                <a:lnTo>
                  <a:pt x="436" y="35"/>
                </a:lnTo>
                <a:lnTo>
                  <a:pt x="439" y="48"/>
                </a:lnTo>
                <a:lnTo>
                  <a:pt x="442" y="59"/>
                </a:lnTo>
                <a:lnTo>
                  <a:pt x="444" y="73"/>
                </a:lnTo>
                <a:lnTo>
                  <a:pt x="446" y="86"/>
                </a:lnTo>
                <a:lnTo>
                  <a:pt x="446" y="99"/>
                </a:lnTo>
                <a:lnTo>
                  <a:pt x="446" y="109"/>
                </a:lnTo>
                <a:lnTo>
                  <a:pt x="444" y="119"/>
                </a:lnTo>
                <a:lnTo>
                  <a:pt x="444" y="129"/>
                </a:lnTo>
                <a:lnTo>
                  <a:pt x="442" y="139"/>
                </a:lnTo>
                <a:lnTo>
                  <a:pt x="439" y="149"/>
                </a:lnTo>
                <a:lnTo>
                  <a:pt x="437" y="159"/>
                </a:lnTo>
                <a:lnTo>
                  <a:pt x="434" y="169"/>
                </a:lnTo>
                <a:lnTo>
                  <a:pt x="431" y="177"/>
                </a:lnTo>
                <a:lnTo>
                  <a:pt x="437" y="175"/>
                </a:lnTo>
                <a:lnTo>
                  <a:pt x="441" y="165"/>
                </a:lnTo>
                <a:lnTo>
                  <a:pt x="442" y="157"/>
                </a:lnTo>
                <a:lnTo>
                  <a:pt x="446" y="147"/>
                </a:lnTo>
                <a:lnTo>
                  <a:pt x="447" y="137"/>
                </a:lnTo>
                <a:lnTo>
                  <a:pt x="449" y="129"/>
                </a:lnTo>
                <a:lnTo>
                  <a:pt x="449" y="119"/>
                </a:lnTo>
                <a:lnTo>
                  <a:pt x="451" y="109"/>
                </a:lnTo>
                <a:lnTo>
                  <a:pt x="451" y="99"/>
                </a:lnTo>
                <a:close/>
                <a:moveTo>
                  <a:pt x="18" y="11"/>
                </a:moveTo>
                <a:lnTo>
                  <a:pt x="13" y="21"/>
                </a:lnTo>
                <a:lnTo>
                  <a:pt x="10" y="33"/>
                </a:lnTo>
                <a:lnTo>
                  <a:pt x="7" y="43"/>
                </a:lnTo>
                <a:lnTo>
                  <a:pt x="5" y="54"/>
                </a:lnTo>
                <a:lnTo>
                  <a:pt x="2" y="64"/>
                </a:lnTo>
                <a:lnTo>
                  <a:pt x="2" y="76"/>
                </a:lnTo>
                <a:lnTo>
                  <a:pt x="0" y="88"/>
                </a:lnTo>
                <a:lnTo>
                  <a:pt x="0" y="99"/>
                </a:lnTo>
                <a:lnTo>
                  <a:pt x="0" y="112"/>
                </a:lnTo>
                <a:lnTo>
                  <a:pt x="2" y="126"/>
                </a:lnTo>
                <a:lnTo>
                  <a:pt x="3" y="139"/>
                </a:lnTo>
                <a:lnTo>
                  <a:pt x="7" y="151"/>
                </a:lnTo>
                <a:lnTo>
                  <a:pt x="10" y="164"/>
                </a:lnTo>
                <a:lnTo>
                  <a:pt x="13" y="175"/>
                </a:lnTo>
                <a:lnTo>
                  <a:pt x="18" y="187"/>
                </a:lnTo>
                <a:lnTo>
                  <a:pt x="23" y="199"/>
                </a:lnTo>
                <a:lnTo>
                  <a:pt x="28" y="199"/>
                </a:lnTo>
                <a:lnTo>
                  <a:pt x="23" y="187"/>
                </a:lnTo>
                <a:lnTo>
                  <a:pt x="18" y="175"/>
                </a:lnTo>
                <a:lnTo>
                  <a:pt x="15" y="164"/>
                </a:lnTo>
                <a:lnTo>
                  <a:pt x="12" y="151"/>
                </a:lnTo>
                <a:lnTo>
                  <a:pt x="8" y="139"/>
                </a:lnTo>
                <a:lnTo>
                  <a:pt x="7" y="126"/>
                </a:lnTo>
                <a:lnTo>
                  <a:pt x="5" y="112"/>
                </a:lnTo>
                <a:lnTo>
                  <a:pt x="5" y="99"/>
                </a:lnTo>
                <a:lnTo>
                  <a:pt x="5" y="88"/>
                </a:lnTo>
                <a:lnTo>
                  <a:pt x="7" y="74"/>
                </a:lnTo>
                <a:lnTo>
                  <a:pt x="8" y="63"/>
                </a:lnTo>
                <a:lnTo>
                  <a:pt x="10" y="53"/>
                </a:lnTo>
                <a:lnTo>
                  <a:pt x="13" y="41"/>
                </a:lnTo>
                <a:lnTo>
                  <a:pt x="17" y="30"/>
                </a:lnTo>
                <a:lnTo>
                  <a:pt x="20" y="20"/>
                </a:lnTo>
                <a:lnTo>
                  <a:pt x="23" y="8"/>
                </a:lnTo>
                <a:lnTo>
                  <a:pt x="18" y="11"/>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25" name="Freeform 1130">
            <a:extLst>
              <a:ext uri="{FF2B5EF4-FFF2-40B4-BE49-F238E27FC236}">
                <a16:creationId xmlns:a16="http://schemas.microsoft.com/office/drawing/2014/main" id="{5DBDD4ED-1AE2-50E5-43E3-F2A72ECDBAC2}"/>
              </a:ext>
            </a:extLst>
          </p:cNvPr>
          <p:cNvSpPr>
            <a:spLocks noEditPoints="1"/>
          </p:cNvSpPr>
          <p:nvPr/>
        </p:nvSpPr>
        <p:spPr bwMode="auto">
          <a:xfrm>
            <a:off x="2560638" y="2403475"/>
            <a:ext cx="706438" cy="315913"/>
          </a:xfrm>
          <a:custGeom>
            <a:avLst/>
            <a:gdLst>
              <a:gd name="T0" fmla="*/ 445 w 445"/>
              <a:gd name="T1" fmla="*/ 86 h 199"/>
              <a:gd name="T2" fmla="*/ 442 w 445"/>
              <a:gd name="T3" fmla="*/ 59 h 199"/>
              <a:gd name="T4" fmla="*/ 437 w 445"/>
              <a:gd name="T5" fmla="*/ 35 h 199"/>
              <a:gd name="T6" fmla="*/ 427 w 445"/>
              <a:gd name="T7" fmla="*/ 11 h 199"/>
              <a:gd name="T8" fmla="*/ 417 w 445"/>
              <a:gd name="T9" fmla="*/ 0 h 199"/>
              <a:gd name="T10" fmla="*/ 427 w 445"/>
              <a:gd name="T11" fmla="*/ 23 h 199"/>
              <a:gd name="T12" fmla="*/ 435 w 445"/>
              <a:gd name="T13" fmla="*/ 48 h 199"/>
              <a:gd name="T14" fmla="*/ 439 w 445"/>
              <a:gd name="T15" fmla="*/ 73 h 199"/>
              <a:gd name="T16" fmla="*/ 440 w 445"/>
              <a:gd name="T17" fmla="*/ 99 h 199"/>
              <a:gd name="T18" fmla="*/ 440 w 445"/>
              <a:gd name="T19" fmla="*/ 121 h 199"/>
              <a:gd name="T20" fmla="*/ 437 w 445"/>
              <a:gd name="T21" fmla="*/ 141 h 199"/>
              <a:gd name="T22" fmla="*/ 432 w 445"/>
              <a:gd name="T23" fmla="*/ 160 h 199"/>
              <a:gd name="T24" fmla="*/ 425 w 445"/>
              <a:gd name="T25" fmla="*/ 179 h 199"/>
              <a:gd name="T26" fmla="*/ 435 w 445"/>
              <a:gd name="T27" fmla="*/ 167 h 199"/>
              <a:gd name="T28" fmla="*/ 440 w 445"/>
              <a:gd name="T29" fmla="*/ 149 h 199"/>
              <a:gd name="T30" fmla="*/ 444 w 445"/>
              <a:gd name="T31" fmla="*/ 129 h 199"/>
              <a:gd name="T32" fmla="*/ 445 w 445"/>
              <a:gd name="T33" fmla="*/ 109 h 199"/>
              <a:gd name="T34" fmla="*/ 20 w 445"/>
              <a:gd name="T35" fmla="*/ 10 h 199"/>
              <a:gd name="T36" fmla="*/ 11 w 445"/>
              <a:gd name="T37" fmla="*/ 31 h 199"/>
              <a:gd name="T38" fmla="*/ 5 w 445"/>
              <a:gd name="T39" fmla="*/ 53 h 199"/>
              <a:gd name="T40" fmla="*/ 1 w 445"/>
              <a:gd name="T41" fmla="*/ 76 h 199"/>
              <a:gd name="T42" fmla="*/ 0 w 445"/>
              <a:gd name="T43" fmla="*/ 99 h 199"/>
              <a:gd name="T44" fmla="*/ 1 w 445"/>
              <a:gd name="T45" fmla="*/ 126 h 199"/>
              <a:gd name="T46" fmla="*/ 6 w 445"/>
              <a:gd name="T47" fmla="*/ 151 h 199"/>
              <a:gd name="T48" fmla="*/ 13 w 445"/>
              <a:gd name="T49" fmla="*/ 175 h 199"/>
              <a:gd name="T50" fmla="*/ 23 w 445"/>
              <a:gd name="T51" fmla="*/ 199 h 199"/>
              <a:gd name="T52" fmla="*/ 23 w 445"/>
              <a:gd name="T53" fmla="*/ 187 h 199"/>
              <a:gd name="T54" fmla="*/ 15 w 445"/>
              <a:gd name="T55" fmla="*/ 164 h 199"/>
              <a:gd name="T56" fmla="*/ 8 w 445"/>
              <a:gd name="T57" fmla="*/ 139 h 199"/>
              <a:gd name="T58" fmla="*/ 6 w 445"/>
              <a:gd name="T59" fmla="*/ 112 h 199"/>
              <a:gd name="T60" fmla="*/ 5 w 445"/>
              <a:gd name="T61" fmla="*/ 86 h 199"/>
              <a:gd name="T62" fmla="*/ 8 w 445"/>
              <a:gd name="T63" fmla="*/ 63 h 199"/>
              <a:gd name="T64" fmla="*/ 13 w 445"/>
              <a:gd name="T65" fmla="*/ 40 h 199"/>
              <a:gd name="T66" fmla="*/ 21 w 445"/>
              <a:gd name="T67" fmla="*/ 18 h 199"/>
              <a:gd name="T68" fmla="*/ 20 w 445"/>
              <a:gd name="T69" fmla="*/ 1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5" h="199">
                <a:moveTo>
                  <a:pt x="445" y="99"/>
                </a:moveTo>
                <a:lnTo>
                  <a:pt x="445" y="86"/>
                </a:lnTo>
                <a:lnTo>
                  <a:pt x="444" y="73"/>
                </a:lnTo>
                <a:lnTo>
                  <a:pt x="442" y="59"/>
                </a:lnTo>
                <a:lnTo>
                  <a:pt x="440" y="48"/>
                </a:lnTo>
                <a:lnTo>
                  <a:pt x="437" y="35"/>
                </a:lnTo>
                <a:lnTo>
                  <a:pt x="432" y="23"/>
                </a:lnTo>
                <a:lnTo>
                  <a:pt x="427" y="11"/>
                </a:lnTo>
                <a:lnTo>
                  <a:pt x="422" y="0"/>
                </a:lnTo>
                <a:lnTo>
                  <a:pt x="417" y="0"/>
                </a:lnTo>
                <a:lnTo>
                  <a:pt x="422" y="11"/>
                </a:lnTo>
                <a:lnTo>
                  <a:pt x="427" y="23"/>
                </a:lnTo>
                <a:lnTo>
                  <a:pt x="432" y="35"/>
                </a:lnTo>
                <a:lnTo>
                  <a:pt x="435" y="48"/>
                </a:lnTo>
                <a:lnTo>
                  <a:pt x="437" y="59"/>
                </a:lnTo>
                <a:lnTo>
                  <a:pt x="439" y="73"/>
                </a:lnTo>
                <a:lnTo>
                  <a:pt x="440" y="86"/>
                </a:lnTo>
                <a:lnTo>
                  <a:pt x="440" y="99"/>
                </a:lnTo>
                <a:lnTo>
                  <a:pt x="440" y="109"/>
                </a:lnTo>
                <a:lnTo>
                  <a:pt x="440" y="121"/>
                </a:lnTo>
                <a:lnTo>
                  <a:pt x="439" y="131"/>
                </a:lnTo>
                <a:lnTo>
                  <a:pt x="437" y="141"/>
                </a:lnTo>
                <a:lnTo>
                  <a:pt x="435" y="151"/>
                </a:lnTo>
                <a:lnTo>
                  <a:pt x="432" y="160"/>
                </a:lnTo>
                <a:lnTo>
                  <a:pt x="429" y="170"/>
                </a:lnTo>
                <a:lnTo>
                  <a:pt x="425" y="179"/>
                </a:lnTo>
                <a:lnTo>
                  <a:pt x="432" y="177"/>
                </a:lnTo>
                <a:lnTo>
                  <a:pt x="435" y="167"/>
                </a:lnTo>
                <a:lnTo>
                  <a:pt x="439" y="157"/>
                </a:lnTo>
                <a:lnTo>
                  <a:pt x="440" y="149"/>
                </a:lnTo>
                <a:lnTo>
                  <a:pt x="442" y="139"/>
                </a:lnTo>
                <a:lnTo>
                  <a:pt x="444" y="129"/>
                </a:lnTo>
                <a:lnTo>
                  <a:pt x="445" y="119"/>
                </a:lnTo>
                <a:lnTo>
                  <a:pt x="445" y="109"/>
                </a:lnTo>
                <a:lnTo>
                  <a:pt x="445" y="99"/>
                </a:lnTo>
                <a:close/>
                <a:moveTo>
                  <a:pt x="20" y="10"/>
                </a:moveTo>
                <a:lnTo>
                  <a:pt x="15" y="20"/>
                </a:lnTo>
                <a:lnTo>
                  <a:pt x="11" y="31"/>
                </a:lnTo>
                <a:lnTo>
                  <a:pt x="8" y="41"/>
                </a:lnTo>
                <a:lnTo>
                  <a:pt x="5" y="53"/>
                </a:lnTo>
                <a:lnTo>
                  <a:pt x="3" y="64"/>
                </a:lnTo>
                <a:lnTo>
                  <a:pt x="1" y="76"/>
                </a:lnTo>
                <a:lnTo>
                  <a:pt x="1" y="88"/>
                </a:lnTo>
                <a:lnTo>
                  <a:pt x="0" y="99"/>
                </a:lnTo>
                <a:lnTo>
                  <a:pt x="1" y="112"/>
                </a:lnTo>
                <a:lnTo>
                  <a:pt x="1" y="126"/>
                </a:lnTo>
                <a:lnTo>
                  <a:pt x="3" y="139"/>
                </a:lnTo>
                <a:lnTo>
                  <a:pt x="6" y="151"/>
                </a:lnTo>
                <a:lnTo>
                  <a:pt x="10" y="164"/>
                </a:lnTo>
                <a:lnTo>
                  <a:pt x="13" y="175"/>
                </a:lnTo>
                <a:lnTo>
                  <a:pt x="18" y="187"/>
                </a:lnTo>
                <a:lnTo>
                  <a:pt x="23" y="199"/>
                </a:lnTo>
                <a:lnTo>
                  <a:pt x="30" y="199"/>
                </a:lnTo>
                <a:lnTo>
                  <a:pt x="23" y="187"/>
                </a:lnTo>
                <a:lnTo>
                  <a:pt x="20" y="175"/>
                </a:lnTo>
                <a:lnTo>
                  <a:pt x="15" y="164"/>
                </a:lnTo>
                <a:lnTo>
                  <a:pt x="11" y="151"/>
                </a:lnTo>
                <a:lnTo>
                  <a:pt x="8" y="139"/>
                </a:lnTo>
                <a:lnTo>
                  <a:pt x="6" y="126"/>
                </a:lnTo>
                <a:lnTo>
                  <a:pt x="6" y="112"/>
                </a:lnTo>
                <a:lnTo>
                  <a:pt x="5" y="99"/>
                </a:lnTo>
                <a:lnTo>
                  <a:pt x="5" y="86"/>
                </a:lnTo>
                <a:lnTo>
                  <a:pt x="6" y="74"/>
                </a:lnTo>
                <a:lnTo>
                  <a:pt x="8" y="63"/>
                </a:lnTo>
                <a:lnTo>
                  <a:pt x="10" y="51"/>
                </a:lnTo>
                <a:lnTo>
                  <a:pt x="13" y="40"/>
                </a:lnTo>
                <a:lnTo>
                  <a:pt x="16" y="28"/>
                </a:lnTo>
                <a:lnTo>
                  <a:pt x="21" y="18"/>
                </a:lnTo>
                <a:lnTo>
                  <a:pt x="26" y="6"/>
                </a:lnTo>
                <a:lnTo>
                  <a:pt x="20" y="1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26" name="Freeform 1131">
            <a:extLst>
              <a:ext uri="{FF2B5EF4-FFF2-40B4-BE49-F238E27FC236}">
                <a16:creationId xmlns:a16="http://schemas.microsoft.com/office/drawing/2014/main" id="{BF9EC5C5-2645-FB9A-FB63-3D23803759F2}"/>
              </a:ext>
            </a:extLst>
          </p:cNvPr>
          <p:cNvSpPr>
            <a:spLocks noEditPoints="1"/>
          </p:cNvSpPr>
          <p:nvPr/>
        </p:nvSpPr>
        <p:spPr bwMode="auto">
          <a:xfrm>
            <a:off x="2565400" y="2403475"/>
            <a:ext cx="700088" cy="315913"/>
          </a:xfrm>
          <a:custGeom>
            <a:avLst/>
            <a:gdLst>
              <a:gd name="T0" fmla="*/ 441 w 441"/>
              <a:gd name="T1" fmla="*/ 86 h 199"/>
              <a:gd name="T2" fmla="*/ 437 w 441"/>
              <a:gd name="T3" fmla="*/ 59 h 199"/>
              <a:gd name="T4" fmla="*/ 431 w 441"/>
              <a:gd name="T5" fmla="*/ 35 h 199"/>
              <a:gd name="T6" fmla="*/ 422 w 441"/>
              <a:gd name="T7" fmla="*/ 11 h 199"/>
              <a:gd name="T8" fmla="*/ 411 w 441"/>
              <a:gd name="T9" fmla="*/ 0 h 199"/>
              <a:gd name="T10" fmla="*/ 422 w 441"/>
              <a:gd name="T11" fmla="*/ 23 h 199"/>
              <a:gd name="T12" fmla="*/ 429 w 441"/>
              <a:gd name="T13" fmla="*/ 46 h 199"/>
              <a:gd name="T14" fmla="*/ 434 w 441"/>
              <a:gd name="T15" fmla="*/ 73 h 199"/>
              <a:gd name="T16" fmla="*/ 436 w 441"/>
              <a:gd name="T17" fmla="*/ 99 h 199"/>
              <a:gd name="T18" fmla="*/ 434 w 441"/>
              <a:gd name="T19" fmla="*/ 121 h 199"/>
              <a:gd name="T20" fmla="*/ 431 w 441"/>
              <a:gd name="T21" fmla="*/ 141 h 199"/>
              <a:gd name="T22" fmla="*/ 426 w 441"/>
              <a:gd name="T23" fmla="*/ 160 h 199"/>
              <a:gd name="T24" fmla="*/ 419 w 441"/>
              <a:gd name="T25" fmla="*/ 180 h 199"/>
              <a:gd name="T26" fmla="*/ 429 w 441"/>
              <a:gd name="T27" fmla="*/ 169 h 199"/>
              <a:gd name="T28" fmla="*/ 434 w 441"/>
              <a:gd name="T29" fmla="*/ 149 h 199"/>
              <a:gd name="T30" fmla="*/ 439 w 441"/>
              <a:gd name="T31" fmla="*/ 129 h 199"/>
              <a:gd name="T32" fmla="*/ 441 w 441"/>
              <a:gd name="T33" fmla="*/ 109 h 199"/>
              <a:gd name="T34" fmla="*/ 18 w 441"/>
              <a:gd name="T35" fmla="*/ 8 h 199"/>
              <a:gd name="T36" fmla="*/ 12 w 441"/>
              <a:gd name="T37" fmla="*/ 30 h 199"/>
              <a:gd name="T38" fmla="*/ 5 w 441"/>
              <a:gd name="T39" fmla="*/ 53 h 199"/>
              <a:gd name="T40" fmla="*/ 2 w 441"/>
              <a:gd name="T41" fmla="*/ 74 h 199"/>
              <a:gd name="T42" fmla="*/ 0 w 441"/>
              <a:gd name="T43" fmla="*/ 99 h 199"/>
              <a:gd name="T44" fmla="*/ 2 w 441"/>
              <a:gd name="T45" fmla="*/ 126 h 199"/>
              <a:gd name="T46" fmla="*/ 7 w 441"/>
              <a:gd name="T47" fmla="*/ 151 h 199"/>
              <a:gd name="T48" fmla="*/ 13 w 441"/>
              <a:gd name="T49" fmla="*/ 175 h 199"/>
              <a:gd name="T50" fmla="*/ 23 w 441"/>
              <a:gd name="T51" fmla="*/ 199 h 199"/>
              <a:gd name="T52" fmla="*/ 23 w 441"/>
              <a:gd name="T53" fmla="*/ 187 h 199"/>
              <a:gd name="T54" fmla="*/ 15 w 441"/>
              <a:gd name="T55" fmla="*/ 164 h 199"/>
              <a:gd name="T56" fmla="*/ 8 w 441"/>
              <a:gd name="T57" fmla="*/ 139 h 199"/>
              <a:gd name="T58" fmla="*/ 5 w 441"/>
              <a:gd name="T59" fmla="*/ 112 h 199"/>
              <a:gd name="T60" fmla="*/ 5 w 441"/>
              <a:gd name="T61" fmla="*/ 86 h 199"/>
              <a:gd name="T62" fmla="*/ 8 w 441"/>
              <a:gd name="T63" fmla="*/ 63 h 199"/>
              <a:gd name="T64" fmla="*/ 13 w 441"/>
              <a:gd name="T65" fmla="*/ 38 h 199"/>
              <a:gd name="T66" fmla="*/ 22 w 441"/>
              <a:gd name="T67" fmla="*/ 16 h 199"/>
              <a:gd name="T68" fmla="*/ 18 w 441"/>
              <a:gd name="T69" fmla="*/ 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1" h="199">
                <a:moveTo>
                  <a:pt x="441" y="99"/>
                </a:moveTo>
                <a:lnTo>
                  <a:pt x="441" y="86"/>
                </a:lnTo>
                <a:lnTo>
                  <a:pt x="439" y="73"/>
                </a:lnTo>
                <a:lnTo>
                  <a:pt x="437" y="59"/>
                </a:lnTo>
                <a:lnTo>
                  <a:pt x="434" y="48"/>
                </a:lnTo>
                <a:lnTo>
                  <a:pt x="431" y="35"/>
                </a:lnTo>
                <a:lnTo>
                  <a:pt x="427" y="23"/>
                </a:lnTo>
                <a:lnTo>
                  <a:pt x="422" y="11"/>
                </a:lnTo>
                <a:lnTo>
                  <a:pt x="417" y="0"/>
                </a:lnTo>
                <a:lnTo>
                  <a:pt x="411" y="0"/>
                </a:lnTo>
                <a:lnTo>
                  <a:pt x="417" y="11"/>
                </a:lnTo>
                <a:lnTo>
                  <a:pt x="422" y="23"/>
                </a:lnTo>
                <a:lnTo>
                  <a:pt x="426" y="35"/>
                </a:lnTo>
                <a:lnTo>
                  <a:pt x="429" y="46"/>
                </a:lnTo>
                <a:lnTo>
                  <a:pt x="432" y="59"/>
                </a:lnTo>
                <a:lnTo>
                  <a:pt x="434" y="73"/>
                </a:lnTo>
                <a:lnTo>
                  <a:pt x="436" y="86"/>
                </a:lnTo>
                <a:lnTo>
                  <a:pt x="436" y="99"/>
                </a:lnTo>
                <a:lnTo>
                  <a:pt x="436" y="109"/>
                </a:lnTo>
                <a:lnTo>
                  <a:pt x="434" y="121"/>
                </a:lnTo>
                <a:lnTo>
                  <a:pt x="434" y="131"/>
                </a:lnTo>
                <a:lnTo>
                  <a:pt x="431" y="141"/>
                </a:lnTo>
                <a:lnTo>
                  <a:pt x="429" y="151"/>
                </a:lnTo>
                <a:lnTo>
                  <a:pt x="426" y="160"/>
                </a:lnTo>
                <a:lnTo>
                  <a:pt x="424" y="170"/>
                </a:lnTo>
                <a:lnTo>
                  <a:pt x="419" y="180"/>
                </a:lnTo>
                <a:lnTo>
                  <a:pt x="426" y="177"/>
                </a:lnTo>
                <a:lnTo>
                  <a:pt x="429" y="169"/>
                </a:lnTo>
                <a:lnTo>
                  <a:pt x="432" y="159"/>
                </a:lnTo>
                <a:lnTo>
                  <a:pt x="434" y="149"/>
                </a:lnTo>
                <a:lnTo>
                  <a:pt x="437" y="139"/>
                </a:lnTo>
                <a:lnTo>
                  <a:pt x="439" y="129"/>
                </a:lnTo>
                <a:lnTo>
                  <a:pt x="439" y="119"/>
                </a:lnTo>
                <a:lnTo>
                  <a:pt x="441" y="109"/>
                </a:lnTo>
                <a:lnTo>
                  <a:pt x="441" y="99"/>
                </a:lnTo>
                <a:close/>
                <a:moveTo>
                  <a:pt x="18" y="8"/>
                </a:moveTo>
                <a:lnTo>
                  <a:pt x="15" y="20"/>
                </a:lnTo>
                <a:lnTo>
                  <a:pt x="12" y="30"/>
                </a:lnTo>
                <a:lnTo>
                  <a:pt x="8" y="41"/>
                </a:lnTo>
                <a:lnTo>
                  <a:pt x="5" y="53"/>
                </a:lnTo>
                <a:lnTo>
                  <a:pt x="3" y="63"/>
                </a:lnTo>
                <a:lnTo>
                  <a:pt x="2" y="74"/>
                </a:lnTo>
                <a:lnTo>
                  <a:pt x="0" y="88"/>
                </a:lnTo>
                <a:lnTo>
                  <a:pt x="0" y="99"/>
                </a:lnTo>
                <a:lnTo>
                  <a:pt x="0" y="112"/>
                </a:lnTo>
                <a:lnTo>
                  <a:pt x="2" y="126"/>
                </a:lnTo>
                <a:lnTo>
                  <a:pt x="3" y="139"/>
                </a:lnTo>
                <a:lnTo>
                  <a:pt x="7" y="151"/>
                </a:lnTo>
                <a:lnTo>
                  <a:pt x="10" y="164"/>
                </a:lnTo>
                <a:lnTo>
                  <a:pt x="13" y="175"/>
                </a:lnTo>
                <a:lnTo>
                  <a:pt x="18" y="187"/>
                </a:lnTo>
                <a:lnTo>
                  <a:pt x="23" y="199"/>
                </a:lnTo>
                <a:lnTo>
                  <a:pt x="28" y="199"/>
                </a:lnTo>
                <a:lnTo>
                  <a:pt x="23" y="187"/>
                </a:lnTo>
                <a:lnTo>
                  <a:pt x="18" y="175"/>
                </a:lnTo>
                <a:lnTo>
                  <a:pt x="15" y="164"/>
                </a:lnTo>
                <a:lnTo>
                  <a:pt x="12" y="151"/>
                </a:lnTo>
                <a:lnTo>
                  <a:pt x="8" y="139"/>
                </a:lnTo>
                <a:lnTo>
                  <a:pt x="7" y="126"/>
                </a:lnTo>
                <a:lnTo>
                  <a:pt x="5" y="112"/>
                </a:lnTo>
                <a:lnTo>
                  <a:pt x="5" y="99"/>
                </a:lnTo>
                <a:lnTo>
                  <a:pt x="5" y="86"/>
                </a:lnTo>
                <a:lnTo>
                  <a:pt x="7" y="74"/>
                </a:lnTo>
                <a:lnTo>
                  <a:pt x="8" y="63"/>
                </a:lnTo>
                <a:lnTo>
                  <a:pt x="10" y="50"/>
                </a:lnTo>
                <a:lnTo>
                  <a:pt x="13" y="38"/>
                </a:lnTo>
                <a:lnTo>
                  <a:pt x="17" y="28"/>
                </a:lnTo>
                <a:lnTo>
                  <a:pt x="22" y="16"/>
                </a:lnTo>
                <a:lnTo>
                  <a:pt x="27" y="5"/>
                </a:lnTo>
                <a:lnTo>
                  <a:pt x="18" y="8"/>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27" name="Freeform 1132">
            <a:extLst>
              <a:ext uri="{FF2B5EF4-FFF2-40B4-BE49-F238E27FC236}">
                <a16:creationId xmlns:a16="http://schemas.microsoft.com/office/drawing/2014/main" id="{7B8E77AF-1BC2-B493-6315-0334BFF544E6}"/>
              </a:ext>
            </a:extLst>
          </p:cNvPr>
          <p:cNvSpPr>
            <a:spLocks noEditPoints="1"/>
          </p:cNvSpPr>
          <p:nvPr/>
        </p:nvSpPr>
        <p:spPr bwMode="auto">
          <a:xfrm>
            <a:off x="2568575" y="2403475"/>
            <a:ext cx="690563" cy="315913"/>
          </a:xfrm>
          <a:custGeom>
            <a:avLst/>
            <a:gdLst>
              <a:gd name="T0" fmla="*/ 435 w 435"/>
              <a:gd name="T1" fmla="*/ 86 h 199"/>
              <a:gd name="T2" fmla="*/ 432 w 435"/>
              <a:gd name="T3" fmla="*/ 59 h 199"/>
              <a:gd name="T4" fmla="*/ 427 w 435"/>
              <a:gd name="T5" fmla="*/ 35 h 199"/>
              <a:gd name="T6" fmla="*/ 417 w 435"/>
              <a:gd name="T7" fmla="*/ 11 h 199"/>
              <a:gd name="T8" fmla="*/ 407 w 435"/>
              <a:gd name="T9" fmla="*/ 0 h 199"/>
              <a:gd name="T10" fmla="*/ 417 w 435"/>
              <a:gd name="T11" fmla="*/ 23 h 199"/>
              <a:gd name="T12" fmla="*/ 425 w 435"/>
              <a:gd name="T13" fmla="*/ 46 h 199"/>
              <a:gd name="T14" fmla="*/ 430 w 435"/>
              <a:gd name="T15" fmla="*/ 73 h 199"/>
              <a:gd name="T16" fmla="*/ 432 w 435"/>
              <a:gd name="T17" fmla="*/ 99 h 199"/>
              <a:gd name="T18" fmla="*/ 430 w 435"/>
              <a:gd name="T19" fmla="*/ 121 h 199"/>
              <a:gd name="T20" fmla="*/ 427 w 435"/>
              <a:gd name="T21" fmla="*/ 142 h 199"/>
              <a:gd name="T22" fmla="*/ 422 w 435"/>
              <a:gd name="T23" fmla="*/ 162 h 199"/>
              <a:gd name="T24" fmla="*/ 414 w 435"/>
              <a:gd name="T25" fmla="*/ 182 h 199"/>
              <a:gd name="T26" fmla="*/ 424 w 435"/>
              <a:gd name="T27" fmla="*/ 170 h 199"/>
              <a:gd name="T28" fmla="*/ 430 w 435"/>
              <a:gd name="T29" fmla="*/ 151 h 199"/>
              <a:gd name="T30" fmla="*/ 434 w 435"/>
              <a:gd name="T31" fmla="*/ 131 h 199"/>
              <a:gd name="T32" fmla="*/ 435 w 435"/>
              <a:gd name="T33" fmla="*/ 109 h 199"/>
              <a:gd name="T34" fmla="*/ 21 w 435"/>
              <a:gd name="T35" fmla="*/ 6 h 199"/>
              <a:gd name="T36" fmla="*/ 11 w 435"/>
              <a:gd name="T37" fmla="*/ 28 h 199"/>
              <a:gd name="T38" fmla="*/ 5 w 435"/>
              <a:gd name="T39" fmla="*/ 51 h 199"/>
              <a:gd name="T40" fmla="*/ 1 w 435"/>
              <a:gd name="T41" fmla="*/ 74 h 199"/>
              <a:gd name="T42" fmla="*/ 0 w 435"/>
              <a:gd name="T43" fmla="*/ 99 h 199"/>
              <a:gd name="T44" fmla="*/ 1 w 435"/>
              <a:gd name="T45" fmla="*/ 126 h 199"/>
              <a:gd name="T46" fmla="*/ 6 w 435"/>
              <a:gd name="T47" fmla="*/ 151 h 199"/>
              <a:gd name="T48" fmla="*/ 15 w 435"/>
              <a:gd name="T49" fmla="*/ 175 h 199"/>
              <a:gd name="T50" fmla="*/ 25 w 435"/>
              <a:gd name="T51" fmla="*/ 199 h 199"/>
              <a:gd name="T52" fmla="*/ 25 w 435"/>
              <a:gd name="T53" fmla="*/ 187 h 199"/>
              <a:gd name="T54" fmla="*/ 15 w 435"/>
              <a:gd name="T55" fmla="*/ 164 h 199"/>
              <a:gd name="T56" fmla="*/ 8 w 435"/>
              <a:gd name="T57" fmla="*/ 139 h 199"/>
              <a:gd name="T58" fmla="*/ 5 w 435"/>
              <a:gd name="T59" fmla="*/ 112 h 199"/>
              <a:gd name="T60" fmla="*/ 5 w 435"/>
              <a:gd name="T61" fmla="*/ 86 h 199"/>
              <a:gd name="T62" fmla="*/ 8 w 435"/>
              <a:gd name="T63" fmla="*/ 61 h 199"/>
              <a:gd name="T64" fmla="*/ 15 w 435"/>
              <a:gd name="T65" fmla="*/ 38 h 199"/>
              <a:gd name="T66" fmla="*/ 23 w 435"/>
              <a:gd name="T67" fmla="*/ 15 h 199"/>
              <a:gd name="T68" fmla="*/ 21 w 435"/>
              <a:gd name="T69" fmla="*/ 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5" h="199">
                <a:moveTo>
                  <a:pt x="435" y="99"/>
                </a:moveTo>
                <a:lnTo>
                  <a:pt x="435" y="86"/>
                </a:lnTo>
                <a:lnTo>
                  <a:pt x="434" y="73"/>
                </a:lnTo>
                <a:lnTo>
                  <a:pt x="432" y="59"/>
                </a:lnTo>
                <a:lnTo>
                  <a:pt x="430" y="48"/>
                </a:lnTo>
                <a:lnTo>
                  <a:pt x="427" y="35"/>
                </a:lnTo>
                <a:lnTo>
                  <a:pt x="422" y="23"/>
                </a:lnTo>
                <a:lnTo>
                  <a:pt x="417" y="11"/>
                </a:lnTo>
                <a:lnTo>
                  <a:pt x="412" y="0"/>
                </a:lnTo>
                <a:lnTo>
                  <a:pt x="407" y="0"/>
                </a:lnTo>
                <a:lnTo>
                  <a:pt x="412" y="11"/>
                </a:lnTo>
                <a:lnTo>
                  <a:pt x="417" y="23"/>
                </a:lnTo>
                <a:lnTo>
                  <a:pt x="422" y="35"/>
                </a:lnTo>
                <a:lnTo>
                  <a:pt x="425" y="46"/>
                </a:lnTo>
                <a:lnTo>
                  <a:pt x="427" y="59"/>
                </a:lnTo>
                <a:lnTo>
                  <a:pt x="430" y="73"/>
                </a:lnTo>
                <a:lnTo>
                  <a:pt x="430" y="86"/>
                </a:lnTo>
                <a:lnTo>
                  <a:pt x="432" y="99"/>
                </a:lnTo>
                <a:lnTo>
                  <a:pt x="430" y="109"/>
                </a:lnTo>
                <a:lnTo>
                  <a:pt x="430" y="121"/>
                </a:lnTo>
                <a:lnTo>
                  <a:pt x="429" y="131"/>
                </a:lnTo>
                <a:lnTo>
                  <a:pt x="427" y="142"/>
                </a:lnTo>
                <a:lnTo>
                  <a:pt x="425" y="152"/>
                </a:lnTo>
                <a:lnTo>
                  <a:pt x="422" y="162"/>
                </a:lnTo>
                <a:lnTo>
                  <a:pt x="419" y="172"/>
                </a:lnTo>
                <a:lnTo>
                  <a:pt x="414" y="182"/>
                </a:lnTo>
                <a:lnTo>
                  <a:pt x="420" y="179"/>
                </a:lnTo>
                <a:lnTo>
                  <a:pt x="424" y="170"/>
                </a:lnTo>
                <a:lnTo>
                  <a:pt x="427" y="160"/>
                </a:lnTo>
                <a:lnTo>
                  <a:pt x="430" y="151"/>
                </a:lnTo>
                <a:lnTo>
                  <a:pt x="432" y="141"/>
                </a:lnTo>
                <a:lnTo>
                  <a:pt x="434" y="131"/>
                </a:lnTo>
                <a:lnTo>
                  <a:pt x="435" y="121"/>
                </a:lnTo>
                <a:lnTo>
                  <a:pt x="435" y="109"/>
                </a:lnTo>
                <a:lnTo>
                  <a:pt x="435" y="99"/>
                </a:lnTo>
                <a:close/>
                <a:moveTo>
                  <a:pt x="21" y="6"/>
                </a:moveTo>
                <a:lnTo>
                  <a:pt x="16" y="18"/>
                </a:lnTo>
                <a:lnTo>
                  <a:pt x="11" y="28"/>
                </a:lnTo>
                <a:lnTo>
                  <a:pt x="8" y="40"/>
                </a:lnTo>
                <a:lnTo>
                  <a:pt x="5" y="51"/>
                </a:lnTo>
                <a:lnTo>
                  <a:pt x="3" y="63"/>
                </a:lnTo>
                <a:lnTo>
                  <a:pt x="1" y="74"/>
                </a:lnTo>
                <a:lnTo>
                  <a:pt x="0" y="86"/>
                </a:lnTo>
                <a:lnTo>
                  <a:pt x="0" y="99"/>
                </a:lnTo>
                <a:lnTo>
                  <a:pt x="1" y="112"/>
                </a:lnTo>
                <a:lnTo>
                  <a:pt x="1" y="126"/>
                </a:lnTo>
                <a:lnTo>
                  <a:pt x="3" y="139"/>
                </a:lnTo>
                <a:lnTo>
                  <a:pt x="6" y="151"/>
                </a:lnTo>
                <a:lnTo>
                  <a:pt x="10" y="164"/>
                </a:lnTo>
                <a:lnTo>
                  <a:pt x="15" y="175"/>
                </a:lnTo>
                <a:lnTo>
                  <a:pt x="18" y="187"/>
                </a:lnTo>
                <a:lnTo>
                  <a:pt x="25" y="199"/>
                </a:lnTo>
                <a:lnTo>
                  <a:pt x="30" y="199"/>
                </a:lnTo>
                <a:lnTo>
                  <a:pt x="25" y="187"/>
                </a:lnTo>
                <a:lnTo>
                  <a:pt x="20" y="175"/>
                </a:lnTo>
                <a:lnTo>
                  <a:pt x="15" y="164"/>
                </a:lnTo>
                <a:lnTo>
                  <a:pt x="11" y="151"/>
                </a:lnTo>
                <a:lnTo>
                  <a:pt x="8" y="139"/>
                </a:lnTo>
                <a:lnTo>
                  <a:pt x="6" y="126"/>
                </a:lnTo>
                <a:lnTo>
                  <a:pt x="5" y="112"/>
                </a:lnTo>
                <a:lnTo>
                  <a:pt x="5" y="99"/>
                </a:lnTo>
                <a:lnTo>
                  <a:pt x="5" y="86"/>
                </a:lnTo>
                <a:lnTo>
                  <a:pt x="6" y="74"/>
                </a:lnTo>
                <a:lnTo>
                  <a:pt x="8" y="61"/>
                </a:lnTo>
                <a:lnTo>
                  <a:pt x="11" y="50"/>
                </a:lnTo>
                <a:lnTo>
                  <a:pt x="15" y="38"/>
                </a:lnTo>
                <a:lnTo>
                  <a:pt x="18" y="26"/>
                </a:lnTo>
                <a:lnTo>
                  <a:pt x="23" y="15"/>
                </a:lnTo>
                <a:lnTo>
                  <a:pt x="28" y="3"/>
                </a:lnTo>
                <a:lnTo>
                  <a:pt x="21" y="6"/>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28" name="Freeform 1133">
            <a:extLst>
              <a:ext uri="{FF2B5EF4-FFF2-40B4-BE49-F238E27FC236}">
                <a16:creationId xmlns:a16="http://schemas.microsoft.com/office/drawing/2014/main" id="{2963FF8F-A936-B356-907F-F9720FDEF12F}"/>
              </a:ext>
            </a:extLst>
          </p:cNvPr>
          <p:cNvSpPr>
            <a:spLocks noEditPoints="1"/>
          </p:cNvSpPr>
          <p:nvPr/>
        </p:nvSpPr>
        <p:spPr bwMode="auto">
          <a:xfrm>
            <a:off x="2573338" y="2403475"/>
            <a:ext cx="684213" cy="315913"/>
          </a:xfrm>
          <a:custGeom>
            <a:avLst/>
            <a:gdLst>
              <a:gd name="T0" fmla="*/ 431 w 431"/>
              <a:gd name="T1" fmla="*/ 86 h 199"/>
              <a:gd name="T2" fmla="*/ 427 w 431"/>
              <a:gd name="T3" fmla="*/ 59 h 199"/>
              <a:gd name="T4" fmla="*/ 421 w 431"/>
              <a:gd name="T5" fmla="*/ 35 h 199"/>
              <a:gd name="T6" fmla="*/ 412 w 431"/>
              <a:gd name="T7" fmla="*/ 11 h 199"/>
              <a:gd name="T8" fmla="*/ 401 w 431"/>
              <a:gd name="T9" fmla="*/ 0 h 199"/>
              <a:gd name="T10" fmla="*/ 411 w 431"/>
              <a:gd name="T11" fmla="*/ 23 h 199"/>
              <a:gd name="T12" fmla="*/ 419 w 431"/>
              <a:gd name="T13" fmla="*/ 46 h 199"/>
              <a:gd name="T14" fmla="*/ 424 w 431"/>
              <a:gd name="T15" fmla="*/ 73 h 199"/>
              <a:gd name="T16" fmla="*/ 426 w 431"/>
              <a:gd name="T17" fmla="*/ 99 h 199"/>
              <a:gd name="T18" fmla="*/ 424 w 431"/>
              <a:gd name="T19" fmla="*/ 121 h 199"/>
              <a:gd name="T20" fmla="*/ 421 w 431"/>
              <a:gd name="T21" fmla="*/ 142 h 199"/>
              <a:gd name="T22" fmla="*/ 416 w 431"/>
              <a:gd name="T23" fmla="*/ 164 h 199"/>
              <a:gd name="T24" fmla="*/ 409 w 431"/>
              <a:gd name="T25" fmla="*/ 184 h 199"/>
              <a:gd name="T26" fmla="*/ 419 w 431"/>
              <a:gd name="T27" fmla="*/ 170 h 199"/>
              <a:gd name="T28" fmla="*/ 424 w 431"/>
              <a:gd name="T29" fmla="*/ 151 h 199"/>
              <a:gd name="T30" fmla="*/ 429 w 431"/>
              <a:gd name="T31" fmla="*/ 131 h 199"/>
              <a:gd name="T32" fmla="*/ 431 w 431"/>
              <a:gd name="T33" fmla="*/ 109 h 199"/>
              <a:gd name="T34" fmla="*/ 22 w 431"/>
              <a:gd name="T35" fmla="*/ 5 h 199"/>
              <a:gd name="T36" fmla="*/ 12 w 431"/>
              <a:gd name="T37" fmla="*/ 28 h 199"/>
              <a:gd name="T38" fmla="*/ 5 w 431"/>
              <a:gd name="T39" fmla="*/ 50 h 199"/>
              <a:gd name="T40" fmla="*/ 2 w 431"/>
              <a:gd name="T41" fmla="*/ 74 h 199"/>
              <a:gd name="T42" fmla="*/ 0 w 431"/>
              <a:gd name="T43" fmla="*/ 99 h 199"/>
              <a:gd name="T44" fmla="*/ 2 w 431"/>
              <a:gd name="T45" fmla="*/ 126 h 199"/>
              <a:gd name="T46" fmla="*/ 7 w 431"/>
              <a:gd name="T47" fmla="*/ 151 h 199"/>
              <a:gd name="T48" fmla="*/ 13 w 431"/>
              <a:gd name="T49" fmla="*/ 175 h 199"/>
              <a:gd name="T50" fmla="*/ 23 w 431"/>
              <a:gd name="T51" fmla="*/ 199 h 199"/>
              <a:gd name="T52" fmla="*/ 23 w 431"/>
              <a:gd name="T53" fmla="*/ 187 h 199"/>
              <a:gd name="T54" fmla="*/ 15 w 431"/>
              <a:gd name="T55" fmla="*/ 164 h 199"/>
              <a:gd name="T56" fmla="*/ 8 w 431"/>
              <a:gd name="T57" fmla="*/ 139 h 199"/>
              <a:gd name="T58" fmla="*/ 5 w 431"/>
              <a:gd name="T59" fmla="*/ 112 h 199"/>
              <a:gd name="T60" fmla="*/ 5 w 431"/>
              <a:gd name="T61" fmla="*/ 86 h 199"/>
              <a:gd name="T62" fmla="*/ 8 w 431"/>
              <a:gd name="T63" fmla="*/ 61 h 199"/>
              <a:gd name="T64" fmla="*/ 13 w 431"/>
              <a:gd name="T65" fmla="*/ 36 h 199"/>
              <a:gd name="T66" fmla="*/ 23 w 431"/>
              <a:gd name="T67" fmla="*/ 13 h 199"/>
              <a:gd name="T68" fmla="*/ 22 w 431"/>
              <a:gd name="T69" fmla="*/ 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1" h="199">
                <a:moveTo>
                  <a:pt x="431" y="99"/>
                </a:moveTo>
                <a:lnTo>
                  <a:pt x="431" y="86"/>
                </a:lnTo>
                <a:lnTo>
                  <a:pt x="429" y="73"/>
                </a:lnTo>
                <a:lnTo>
                  <a:pt x="427" y="59"/>
                </a:lnTo>
                <a:lnTo>
                  <a:pt x="424" y="46"/>
                </a:lnTo>
                <a:lnTo>
                  <a:pt x="421" y="35"/>
                </a:lnTo>
                <a:lnTo>
                  <a:pt x="417" y="23"/>
                </a:lnTo>
                <a:lnTo>
                  <a:pt x="412" y="11"/>
                </a:lnTo>
                <a:lnTo>
                  <a:pt x="406" y="0"/>
                </a:lnTo>
                <a:lnTo>
                  <a:pt x="401" y="0"/>
                </a:lnTo>
                <a:lnTo>
                  <a:pt x="406" y="11"/>
                </a:lnTo>
                <a:lnTo>
                  <a:pt x="411" y="23"/>
                </a:lnTo>
                <a:lnTo>
                  <a:pt x="416" y="35"/>
                </a:lnTo>
                <a:lnTo>
                  <a:pt x="419" y="46"/>
                </a:lnTo>
                <a:lnTo>
                  <a:pt x="422" y="59"/>
                </a:lnTo>
                <a:lnTo>
                  <a:pt x="424" y="73"/>
                </a:lnTo>
                <a:lnTo>
                  <a:pt x="426" y="86"/>
                </a:lnTo>
                <a:lnTo>
                  <a:pt x="426" y="99"/>
                </a:lnTo>
                <a:lnTo>
                  <a:pt x="426" y="111"/>
                </a:lnTo>
                <a:lnTo>
                  <a:pt x="424" y="121"/>
                </a:lnTo>
                <a:lnTo>
                  <a:pt x="424" y="132"/>
                </a:lnTo>
                <a:lnTo>
                  <a:pt x="421" y="142"/>
                </a:lnTo>
                <a:lnTo>
                  <a:pt x="419" y="154"/>
                </a:lnTo>
                <a:lnTo>
                  <a:pt x="416" y="164"/>
                </a:lnTo>
                <a:lnTo>
                  <a:pt x="412" y="174"/>
                </a:lnTo>
                <a:lnTo>
                  <a:pt x="409" y="184"/>
                </a:lnTo>
                <a:lnTo>
                  <a:pt x="414" y="180"/>
                </a:lnTo>
                <a:lnTo>
                  <a:pt x="419" y="170"/>
                </a:lnTo>
                <a:lnTo>
                  <a:pt x="421" y="160"/>
                </a:lnTo>
                <a:lnTo>
                  <a:pt x="424" y="151"/>
                </a:lnTo>
                <a:lnTo>
                  <a:pt x="426" y="141"/>
                </a:lnTo>
                <a:lnTo>
                  <a:pt x="429" y="131"/>
                </a:lnTo>
                <a:lnTo>
                  <a:pt x="429" y="121"/>
                </a:lnTo>
                <a:lnTo>
                  <a:pt x="431" y="109"/>
                </a:lnTo>
                <a:lnTo>
                  <a:pt x="431" y="99"/>
                </a:lnTo>
                <a:close/>
                <a:moveTo>
                  <a:pt x="22" y="5"/>
                </a:moveTo>
                <a:lnTo>
                  <a:pt x="17" y="16"/>
                </a:lnTo>
                <a:lnTo>
                  <a:pt x="12" y="28"/>
                </a:lnTo>
                <a:lnTo>
                  <a:pt x="8" y="38"/>
                </a:lnTo>
                <a:lnTo>
                  <a:pt x="5" y="50"/>
                </a:lnTo>
                <a:lnTo>
                  <a:pt x="3" y="63"/>
                </a:lnTo>
                <a:lnTo>
                  <a:pt x="2" y="74"/>
                </a:lnTo>
                <a:lnTo>
                  <a:pt x="0" y="86"/>
                </a:lnTo>
                <a:lnTo>
                  <a:pt x="0" y="99"/>
                </a:lnTo>
                <a:lnTo>
                  <a:pt x="0" y="112"/>
                </a:lnTo>
                <a:lnTo>
                  <a:pt x="2" y="126"/>
                </a:lnTo>
                <a:lnTo>
                  <a:pt x="3" y="139"/>
                </a:lnTo>
                <a:lnTo>
                  <a:pt x="7" y="151"/>
                </a:lnTo>
                <a:lnTo>
                  <a:pt x="10" y="164"/>
                </a:lnTo>
                <a:lnTo>
                  <a:pt x="13" y="175"/>
                </a:lnTo>
                <a:lnTo>
                  <a:pt x="18" y="187"/>
                </a:lnTo>
                <a:lnTo>
                  <a:pt x="23" y="199"/>
                </a:lnTo>
                <a:lnTo>
                  <a:pt x="30" y="199"/>
                </a:lnTo>
                <a:lnTo>
                  <a:pt x="23" y="187"/>
                </a:lnTo>
                <a:lnTo>
                  <a:pt x="18" y="175"/>
                </a:lnTo>
                <a:lnTo>
                  <a:pt x="15" y="164"/>
                </a:lnTo>
                <a:lnTo>
                  <a:pt x="12" y="151"/>
                </a:lnTo>
                <a:lnTo>
                  <a:pt x="8" y="139"/>
                </a:lnTo>
                <a:lnTo>
                  <a:pt x="7" y="126"/>
                </a:lnTo>
                <a:lnTo>
                  <a:pt x="5" y="112"/>
                </a:lnTo>
                <a:lnTo>
                  <a:pt x="5" y="99"/>
                </a:lnTo>
                <a:lnTo>
                  <a:pt x="5" y="86"/>
                </a:lnTo>
                <a:lnTo>
                  <a:pt x="7" y="73"/>
                </a:lnTo>
                <a:lnTo>
                  <a:pt x="8" y="61"/>
                </a:lnTo>
                <a:lnTo>
                  <a:pt x="10" y="48"/>
                </a:lnTo>
                <a:lnTo>
                  <a:pt x="13" y="36"/>
                </a:lnTo>
                <a:lnTo>
                  <a:pt x="18" y="25"/>
                </a:lnTo>
                <a:lnTo>
                  <a:pt x="23" y="13"/>
                </a:lnTo>
                <a:lnTo>
                  <a:pt x="28" y="1"/>
                </a:lnTo>
                <a:lnTo>
                  <a:pt x="22" y="5"/>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29" name="Freeform 1134">
            <a:extLst>
              <a:ext uri="{FF2B5EF4-FFF2-40B4-BE49-F238E27FC236}">
                <a16:creationId xmlns:a16="http://schemas.microsoft.com/office/drawing/2014/main" id="{243355DD-3BEA-B116-8F8C-1E2679FBBE75}"/>
              </a:ext>
            </a:extLst>
          </p:cNvPr>
          <p:cNvSpPr>
            <a:spLocks noEditPoints="1"/>
          </p:cNvSpPr>
          <p:nvPr/>
        </p:nvSpPr>
        <p:spPr bwMode="auto">
          <a:xfrm>
            <a:off x="2576513" y="2403475"/>
            <a:ext cx="677863" cy="315913"/>
          </a:xfrm>
          <a:custGeom>
            <a:avLst/>
            <a:gdLst>
              <a:gd name="T0" fmla="*/ 425 w 427"/>
              <a:gd name="T1" fmla="*/ 86 h 199"/>
              <a:gd name="T2" fmla="*/ 422 w 427"/>
              <a:gd name="T3" fmla="*/ 59 h 199"/>
              <a:gd name="T4" fmla="*/ 417 w 427"/>
              <a:gd name="T5" fmla="*/ 35 h 199"/>
              <a:gd name="T6" fmla="*/ 407 w 427"/>
              <a:gd name="T7" fmla="*/ 11 h 199"/>
              <a:gd name="T8" fmla="*/ 396 w 427"/>
              <a:gd name="T9" fmla="*/ 0 h 199"/>
              <a:gd name="T10" fmla="*/ 407 w 427"/>
              <a:gd name="T11" fmla="*/ 23 h 199"/>
              <a:gd name="T12" fmla="*/ 415 w 427"/>
              <a:gd name="T13" fmla="*/ 46 h 199"/>
              <a:gd name="T14" fmla="*/ 420 w 427"/>
              <a:gd name="T15" fmla="*/ 73 h 199"/>
              <a:gd name="T16" fmla="*/ 422 w 427"/>
              <a:gd name="T17" fmla="*/ 99 h 199"/>
              <a:gd name="T18" fmla="*/ 420 w 427"/>
              <a:gd name="T19" fmla="*/ 122 h 199"/>
              <a:gd name="T20" fmla="*/ 417 w 427"/>
              <a:gd name="T21" fmla="*/ 144 h 199"/>
              <a:gd name="T22" fmla="*/ 410 w 427"/>
              <a:gd name="T23" fmla="*/ 164 h 199"/>
              <a:gd name="T24" fmla="*/ 404 w 427"/>
              <a:gd name="T25" fmla="*/ 185 h 199"/>
              <a:gd name="T26" fmla="*/ 414 w 427"/>
              <a:gd name="T27" fmla="*/ 172 h 199"/>
              <a:gd name="T28" fmla="*/ 419 w 427"/>
              <a:gd name="T29" fmla="*/ 152 h 199"/>
              <a:gd name="T30" fmla="*/ 424 w 427"/>
              <a:gd name="T31" fmla="*/ 131 h 199"/>
              <a:gd name="T32" fmla="*/ 425 w 427"/>
              <a:gd name="T33" fmla="*/ 109 h 199"/>
              <a:gd name="T34" fmla="*/ 23 w 427"/>
              <a:gd name="T35" fmla="*/ 3 h 199"/>
              <a:gd name="T36" fmla="*/ 13 w 427"/>
              <a:gd name="T37" fmla="*/ 26 h 199"/>
              <a:gd name="T38" fmla="*/ 6 w 427"/>
              <a:gd name="T39" fmla="*/ 50 h 199"/>
              <a:gd name="T40" fmla="*/ 1 w 427"/>
              <a:gd name="T41" fmla="*/ 74 h 199"/>
              <a:gd name="T42" fmla="*/ 0 w 427"/>
              <a:gd name="T43" fmla="*/ 99 h 199"/>
              <a:gd name="T44" fmla="*/ 1 w 427"/>
              <a:gd name="T45" fmla="*/ 126 h 199"/>
              <a:gd name="T46" fmla="*/ 6 w 427"/>
              <a:gd name="T47" fmla="*/ 151 h 199"/>
              <a:gd name="T48" fmla="*/ 15 w 427"/>
              <a:gd name="T49" fmla="*/ 175 h 199"/>
              <a:gd name="T50" fmla="*/ 25 w 427"/>
              <a:gd name="T51" fmla="*/ 199 h 199"/>
              <a:gd name="T52" fmla="*/ 25 w 427"/>
              <a:gd name="T53" fmla="*/ 187 h 199"/>
              <a:gd name="T54" fmla="*/ 15 w 427"/>
              <a:gd name="T55" fmla="*/ 164 h 199"/>
              <a:gd name="T56" fmla="*/ 8 w 427"/>
              <a:gd name="T57" fmla="*/ 139 h 199"/>
              <a:gd name="T58" fmla="*/ 5 w 427"/>
              <a:gd name="T59" fmla="*/ 112 h 199"/>
              <a:gd name="T60" fmla="*/ 5 w 427"/>
              <a:gd name="T61" fmla="*/ 86 h 199"/>
              <a:gd name="T62" fmla="*/ 8 w 427"/>
              <a:gd name="T63" fmla="*/ 59 h 199"/>
              <a:gd name="T64" fmla="*/ 15 w 427"/>
              <a:gd name="T65" fmla="*/ 35 h 199"/>
              <a:gd name="T66" fmla="*/ 25 w 427"/>
              <a:gd name="T67" fmla="*/ 11 h 199"/>
              <a:gd name="T68" fmla="*/ 23 w 427"/>
              <a:gd name="T69" fmla="*/ 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7" h="199">
                <a:moveTo>
                  <a:pt x="427" y="99"/>
                </a:moveTo>
                <a:lnTo>
                  <a:pt x="425" y="86"/>
                </a:lnTo>
                <a:lnTo>
                  <a:pt x="425" y="73"/>
                </a:lnTo>
                <a:lnTo>
                  <a:pt x="422" y="59"/>
                </a:lnTo>
                <a:lnTo>
                  <a:pt x="420" y="46"/>
                </a:lnTo>
                <a:lnTo>
                  <a:pt x="417" y="35"/>
                </a:lnTo>
                <a:lnTo>
                  <a:pt x="412" y="23"/>
                </a:lnTo>
                <a:lnTo>
                  <a:pt x="407" y="11"/>
                </a:lnTo>
                <a:lnTo>
                  <a:pt x="402" y="0"/>
                </a:lnTo>
                <a:lnTo>
                  <a:pt x="396" y="0"/>
                </a:lnTo>
                <a:lnTo>
                  <a:pt x="402" y="11"/>
                </a:lnTo>
                <a:lnTo>
                  <a:pt x="407" y="23"/>
                </a:lnTo>
                <a:lnTo>
                  <a:pt x="412" y="35"/>
                </a:lnTo>
                <a:lnTo>
                  <a:pt x="415" y="46"/>
                </a:lnTo>
                <a:lnTo>
                  <a:pt x="417" y="59"/>
                </a:lnTo>
                <a:lnTo>
                  <a:pt x="420" y="73"/>
                </a:lnTo>
                <a:lnTo>
                  <a:pt x="420" y="86"/>
                </a:lnTo>
                <a:lnTo>
                  <a:pt x="422" y="99"/>
                </a:lnTo>
                <a:lnTo>
                  <a:pt x="420" y="111"/>
                </a:lnTo>
                <a:lnTo>
                  <a:pt x="420" y="122"/>
                </a:lnTo>
                <a:lnTo>
                  <a:pt x="419" y="132"/>
                </a:lnTo>
                <a:lnTo>
                  <a:pt x="417" y="144"/>
                </a:lnTo>
                <a:lnTo>
                  <a:pt x="414" y="154"/>
                </a:lnTo>
                <a:lnTo>
                  <a:pt x="410" y="164"/>
                </a:lnTo>
                <a:lnTo>
                  <a:pt x="407" y="175"/>
                </a:lnTo>
                <a:lnTo>
                  <a:pt x="404" y="185"/>
                </a:lnTo>
                <a:lnTo>
                  <a:pt x="409" y="182"/>
                </a:lnTo>
                <a:lnTo>
                  <a:pt x="414" y="172"/>
                </a:lnTo>
                <a:lnTo>
                  <a:pt x="417" y="162"/>
                </a:lnTo>
                <a:lnTo>
                  <a:pt x="419" y="152"/>
                </a:lnTo>
                <a:lnTo>
                  <a:pt x="422" y="142"/>
                </a:lnTo>
                <a:lnTo>
                  <a:pt x="424" y="131"/>
                </a:lnTo>
                <a:lnTo>
                  <a:pt x="425" y="121"/>
                </a:lnTo>
                <a:lnTo>
                  <a:pt x="425" y="109"/>
                </a:lnTo>
                <a:lnTo>
                  <a:pt x="427" y="99"/>
                </a:lnTo>
                <a:close/>
                <a:moveTo>
                  <a:pt x="23" y="3"/>
                </a:moveTo>
                <a:lnTo>
                  <a:pt x="18" y="15"/>
                </a:lnTo>
                <a:lnTo>
                  <a:pt x="13" y="26"/>
                </a:lnTo>
                <a:lnTo>
                  <a:pt x="10" y="38"/>
                </a:lnTo>
                <a:lnTo>
                  <a:pt x="6" y="50"/>
                </a:lnTo>
                <a:lnTo>
                  <a:pt x="3" y="61"/>
                </a:lnTo>
                <a:lnTo>
                  <a:pt x="1" y="74"/>
                </a:lnTo>
                <a:lnTo>
                  <a:pt x="0" y="86"/>
                </a:lnTo>
                <a:lnTo>
                  <a:pt x="0" y="99"/>
                </a:lnTo>
                <a:lnTo>
                  <a:pt x="0" y="112"/>
                </a:lnTo>
                <a:lnTo>
                  <a:pt x="1" y="126"/>
                </a:lnTo>
                <a:lnTo>
                  <a:pt x="3" y="139"/>
                </a:lnTo>
                <a:lnTo>
                  <a:pt x="6" y="151"/>
                </a:lnTo>
                <a:lnTo>
                  <a:pt x="10" y="164"/>
                </a:lnTo>
                <a:lnTo>
                  <a:pt x="15" y="175"/>
                </a:lnTo>
                <a:lnTo>
                  <a:pt x="20" y="187"/>
                </a:lnTo>
                <a:lnTo>
                  <a:pt x="25" y="199"/>
                </a:lnTo>
                <a:lnTo>
                  <a:pt x="30" y="199"/>
                </a:lnTo>
                <a:lnTo>
                  <a:pt x="25" y="187"/>
                </a:lnTo>
                <a:lnTo>
                  <a:pt x="20" y="175"/>
                </a:lnTo>
                <a:lnTo>
                  <a:pt x="15" y="164"/>
                </a:lnTo>
                <a:lnTo>
                  <a:pt x="11" y="151"/>
                </a:lnTo>
                <a:lnTo>
                  <a:pt x="8" y="139"/>
                </a:lnTo>
                <a:lnTo>
                  <a:pt x="6" y="126"/>
                </a:lnTo>
                <a:lnTo>
                  <a:pt x="5" y="112"/>
                </a:lnTo>
                <a:lnTo>
                  <a:pt x="5" y="99"/>
                </a:lnTo>
                <a:lnTo>
                  <a:pt x="5" y="86"/>
                </a:lnTo>
                <a:lnTo>
                  <a:pt x="6" y="73"/>
                </a:lnTo>
                <a:lnTo>
                  <a:pt x="8" y="59"/>
                </a:lnTo>
                <a:lnTo>
                  <a:pt x="11" y="48"/>
                </a:lnTo>
                <a:lnTo>
                  <a:pt x="15" y="35"/>
                </a:lnTo>
                <a:lnTo>
                  <a:pt x="20" y="23"/>
                </a:lnTo>
                <a:lnTo>
                  <a:pt x="25" y="11"/>
                </a:lnTo>
                <a:lnTo>
                  <a:pt x="30" y="0"/>
                </a:lnTo>
                <a:lnTo>
                  <a:pt x="23" y="3"/>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30" name="Freeform 1135">
            <a:extLst>
              <a:ext uri="{FF2B5EF4-FFF2-40B4-BE49-F238E27FC236}">
                <a16:creationId xmlns:a16="http://schemas.microsoft.com/office/drawing/2014/main" id="{1B4FAA9D-7C97-983A-78D2-B06436262521}"/>
              </a:ext>
            </a:extLst>
          </p:cNvPr>
          <p:cNvSpPr>
            <a:spLocks noEditPoints="1"/>
          </p:cNvSpPr>
          <p:nvPr/>
        </p:nvSpPr>
        <p:spPr bwMode="auto">
          <a:xfrm>
            <a:off x="2581275" y="2403475"/>
            <a:ext cx="668338" cy="315913"/>
          </a:xfrm>
          <a:custGeom>
            <a:avLst/>
            <a:gdLst>
              <a:gd name="T0" fmla="*/ 421 w 421"/>
              <a:gd name="T1" fmla="*/ 86 h 199"/>
              <a:gd name="T2" fmla="*/ 417 w 421"/>
              <a:gd name="T3" fmla="*/ 59 h 199"/>
              <a:gd name="T4" fmla="*/ 411 w 421"/>
              <a:gd name="T5" fmla="*/ 35 h 199"/>
              <a:gd name="T6" fmla="*/ 401 w 421"/>
              <a:gd name="T7" fmla="*/ 11 h 199"/>
              <a:gd name="T8" fmla="*/ 391 w 421"/>
              <a:gd name="T9" fmla="*/ 0 h 199"/>
              <a:gd name="T10" fmla="*/ 401 w 421"/>
              <a:gd name="T11" fmla="*/ 23 h 199"/>
              <a:gd name="T12" fmla="*/ 409 w 421"/>
              <a:gd name="T13" fmla="*/ 46 h 199"/>
              <a:gd name="T14" fmla="*/ 414 w 421"/>
              <a:gd name="T15" fmla="*/ 73 h 199"/>
              <a:gd name="T16" fmla="*/ 416 w 421"/>
              <a:gd name="T17" fmla="*/ 99 h 199"/>
              <a:gd name="T18" fmla="*/ 414 w 421"/>
              <a:gd name="T19" fmla="*/ 122 h 199"/>
              <a:gd name="T20" fmla="*/ 411 w 421"/>
              <a:gd name="T21" fmla="*/ 144 h 199"/>
              <a:gd name="T22" fmla="*/ 406 w 421"/>
              <a:gd name="T23" fmla="*/ 165 h 199"/>
              <a:gd name="T24" fmla="*/ 398 w 421"/>
              <a:gd name="T25" fmla="*/ 187 h 199"/>
              <a:gd name="T26" fmla="*/ 407 w 421"/>
              <a:gd name="T27" fmla="*/ 174 h 199"/>
              <a:gd name="T28" fmla="*/ 414 w 421"/>
              <a:gd name="T29" fmla="*/ 154 h 199"/>
              <a:gd name="T30" fmla="*/ 419 w 421"/>
              <a:gd name="T31" fmla="*/ 132 h 199"/>
              <a:gd name="T32" fmla="*/ 421 w 421"/>
              <a:gd name="T33" fmla="*/ 111 h 199"/>
              <a:gd name="T34" fmla="*/ 23 w 421"/>
              <a:gd name="T35" fmla="*/ 1 h 199"/>
              <a:gd name="T36" fmla="*/ 13 w 421"/>
              <a:gd name="T37" fmla="*/ 25 h 199"/>
              <a:gd name="T38" fmla="*/ 5 w 421"/>
              <a:gd name="T39" fmla="*/ 48 h 199"/>
              <a:gd name="T40" fmla="*/ 2 w 421"/>
              <a:gd name="T41" fmla="*/ 73 h 199"/>
              <a:gd name="T42" fmla="*/ 0 w 421"/>
              <a:gd name="T43" fmla="*/ 99 h 199"/>
              <a:gd name="T44" fmla="*/ 2 w 421"/>
              <a:gd name="T45" fmla="*/ 126 h 199"/>
              <a:gd name="T46" fmla="*/ 7 w 421"/>
              <a:gd name="T47" fmla="*/ 151 h 199"/>
              <a:gd name="T48" fmla="*/ 13 w 421"/>
              <a:gd name="T49" fmla="*/ 175 h 199"/>
              <a:gd name="T50" fmla="*/ 25 w 421"/>
              <a:gd name="T51" fmla="*/ 199 h 199"/>
              <a:gd name="T52" fmla="*/ 23 w 421"/>
              <a:gd name="T53" fmla="*/ 187 h 199"/>
              <a:gd name="T54" fmla="*/ 15 w 421"/>
              <a:gd name="T55" fmla="*/ 164 h 199"/>
              <a:gd name="T56" fmla="*/ 8 w 421"/>
              <a:gd name="T57" fmla="*/ 139 h 199"/>
              <a:gd name="T58" fmla="*/ 5 w 421"/>
              <a:gd name="T59" fmla="*/ 112 h 199"/>
              <a:gd name="T60" fmla="*/ 5 w 421"/>
              <a:gd name="T61" fmla="*/ 86 h 199"/>
              <a:gd name="T62" fmla="*/ 8 w 421"/>
              <a:gd name="T63" fmla="*/ 59 h 199"/>
              <a:gd name="T64" fmla="*/ 15 w 421"/>
              <a:gd name="T65" fmla="*/ 35 h 199"/>
              <a:gd name="T66" fmla="*/ 23 w 421"/>
              <a:gd name="T67" fmla="*/ 11 h 199"/>
              <a:gd name="T68" fmla="*/ 28 w 42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1" h="199">
                <a:moveTo>
                  <a:pt x="421" y="99"/>
                </a:moveTo>
                <a:lnTo>
                  <a:pt x="421" y="86"/>
                </a:lnTo>
                <a:lnTo>
                  <a:pt x="419" y="73"/>
                </a:lnTo>
                <a:lnTo>
                  <a:pt x="417" y="59"/>
                </a:lnTo>
                <a:lnTo>
                  <a:pt x="414" y="46"/>
                </a:lnTo>
                <a:lnTo>
                  <a:pt x="411" y="35"/>
                </a:lnTo>
                <a:lnTo>
                  <a:pt x="406" y="23"/>
                </a:lnTo>
                <a:lnTo>
                  <a:pt x="401" y="11"/>
                </a:lnTo>
                <a:lnTo>
                  <a:pt x="396" y="0"/>
                </a:lnTo>
                <a:lnTo>
                  <a:pt x="391" y="0"/>
                </a:lnTo>
                <a:lnTo>
                  <a:pt x="396" y="11"/>
                </a:lnTo>
                <a:lnTo>
                  <a:pt x="401" y="23"/>
                </a:lnTo>
                <a:lnTo>
                  <a:pt x="406" y="35"/>
                </a:lnTo>
                <a:lnTo>
                  <a:pt x="409" y="46"/>
                </a:lnTo>
                <a:lnTo>
                  <a:pt x="412" y="59"/>
                </a:lnTo>
                <a:lnTo>
                  <a:pt x="414" y="73"/>
                </a:lnTo>
                <a:lnTo>
                  <a:pt x="416" y="86"/>
                </a:lnTo>
                <a:lnTo>
                  <a:pt x="416" y="99"/>
                </a:lnTo>
                <a:lnTo>
                  <a:pt x="416" y="111"/>
                </a:lnTo>
                <a:lnTo>
                  <a:pt x="414" y="122"/>
                </a:lnTo>
                <a:lnTo>
                  <a:pt x="412" y="134"/>
                </a:lnTo>
                <a:lnTo>
                  <a:pt x="411" y="144"/>
                </a:lnTo>
                <a:lnTo>
                  <a:pt x="409" y="155"/>
                </a:lnTo>
                <a:lnTo>
                  <a:pt x="406" y="165"/>
                </a:lnTo>
                <a:lnTo>
                  <a:pt x="401" y="175"/>
                </a:lnTo>
                <a:lnTo>
                  <a:pt x="398" y="187"/>
                </a:lnTo>
                <a:lnTo>
                  <a:pt x="404" y="184"/>
                </a:lnTo>
                <a:lnTo>
                  <a:pt x="407" y="174"/>
                </a:lnTo>
                <a:lnTo>
                  <a:pt x="411" y="164"/>
                </a:lnTo>
                <a:lnTo>
                  <a:pt x="414" y="154"/>
                </a:lnTo>
                <a:lnTo>
                  <a:pt x="416" y="142"/>
                </a:lnTo>
                <a:lnTo>
                  <a:pt x="419" y="132"/>
                </a:lnTo>
                <a:lnTo>
                  <a:pt x="419" y="121"/>
                </a:lnTo>
                <a:lnTo>
                  <a:pt x="421" y="111"/>
                </a:lnTo>
                <a:lnTo>
                  <a:pt x="421" y="99"/>
                </a:lnTo>
                <a:close/>
                <a:moveTo>
                  <a:pt x="23" y="1"/>
                </a:moveTo>
                <a:lnTo>
                  <a:pt x="18" y="13"/>
                </a:lnTo>
                <a:lnTo>
                  <a:pt x="13" y="25"/>
                </a:lnTo>
                <a:lnTo>
                  <a:pt x="8" y="36"/>
                </a:lnTo>
                <a:lnTo>
                  <a:pt x="5" y="48"/>
                </a:lnTo>
                <a:lnTo>
                  <a:pt x="3" y="61"/>
                </a:lnTo>
                <a:lnTo>
                  <a:pt x="2" y="73"/>
                </a:lnTo>
                <a:lnTo>
                  <a:pt x="0" y="86"/>
                </a:lnTo>
                <a:lnTo>
                  <a:pt x="0" y="99"/>
                </a:lnTo>
                <a:lnTo>
                  <a:pt x="0" y="112"/>
                </a:lnTo>
                <a:lnTo>
                  <a:pt x="2" y="126"/>
                </a:lnTo>
                <a:lnTo>
                  <a:pt x="3" y="139"/>
                </a:lnTo>
                <a:lnTo>
                  <a:pt x="7" y="151"/>
                </a:lnTo>
                <a:lnTo>
                  <a:pt x="10" y="164"/>
                </a:lnTo>
                <a:lnTo>
                  <a:pt x="13" y="175"/>
                </a:lnTo>
                <a:lnTo>
                  <a:pt x="18" y="187"/>
                </a:lnTo>
                <a:lnTo>
                  <a:pt x="25" y="199"/>
                </a:lnTo>
                <a:lnTo>
                  <a:pt x="30" y="199"/>
                </a:lnTo>
                <a:lnTo>
                  <a:pt x="23" y="187"/>
                </a:lnTo>
                <a:lnTo>
                  <a:pt x="18" y="175"/>
                </a:lnTo>
                <a:lnTo>
                  <a:pt x="15" y="164"/>
                </a:lnTo>
                <a:lnTo>
                  <a:pt x="12" y="151"/>
                </a:lnTo>
                <a:lnTo>
                  <a:pt x="8" y="139"/>
                </a:lnTo>
                <a:lnTo>
                  <a:pt x="7" y="126"/>
                </a:lnTo>
                <a:lnTo>
                  <a:pt x="5" y="112"/>
                </a:lnTo>
                <a:lnTo>
                  <a:pt x="3" y="99"/>
                </a:lnTo>
                <a:lnTo>
                  <a:pt x="5" y="86"/>
                </a:lnTo>
                <a:lnTo>
                  <a:pt x="7" y="73"/>
                </a:lnTo>
                <a:lnTo>
                  <a:pt x="8" y="59"/>
                </a:lnTo>
                <a:lnTo>
                  <a:pt x="12" y="46"/>
                </a:lnTo>
                <a:lnTo>
                  <a:pt x="15" y="35"/>
                </a:lnTo>
                <a:lnTo>
                  <a:pt x="18" y="23"/>
                </a:lnTo>
                <a:lnTo>
                  <a:pt x="23" y="11"/>
                </a:lnTo>
                <a:lnTo>
                  <a:pt x="30" y="0"/>
                </a:lnTo>
                <a:lnTo>
                  <a:pt x="28" y="0"/>
                </a:lnTo>
                <a:lnTo>
                  <a:pt x="23" y="1"/>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31" name="Freeform 1136">
            <a:extLst>
              <a:ext uri="{FF2B5EF4-FFF2-40B4-BE49-F238E27FC236}">
                <a16:creationId xmlns:a16="http://schemas.microsoft.com/office/drawing/2014/main" id="{B360840E-4B9F-FB85-87CE-CC7FD9C8CE46}"/>
              </a:ext>
            </a:extLst>
          </p:cNvPr>
          <p:cNvSpPr>
            <a:spLocks noEditPoints="1"/>
          </p:cNvSpPr>
          <p:nvPr/>
        </p:nvSpPr>
        <p:spPr bwMode="auto">
          <a:xfrm>
            <a:off x="2584450" y="2403475"/>
            <a:ext cx="661988" cy="315913"/>
          </a:xfrm>
          <a:custGeom>
            <a:avLst/>
            <a:gdLst>
              <a:gd name="T0" fmla="*/ 415 w 417"/>
              <a:gd name="T1" fmla="*/ 86 h 199"/>
              <a:gd name="T2" fmla="*/ 412 w 417"/>
              <a:gd name="T3" fmla="*/ 59 h 199"/>
              <a:gd name="T4" fmla="*/ 407 w 417"/>
              <a:gd name="T5" fmla="*/ 35 h 199"/>
              <a:gd name="T6" fmla="*/ 397 w 417"/>
              <a:gd name="T7" fmla="*/ 11 h 199"/>
              <a:gd name="T8" fmla="*/ 386 w 417"/>
              <a:gd name="T9" fmla="*/ 0 h 199"/>
              <a:gd name="T10" fmla="*/ 397 w 417"/>
              <a:gd name="T11" fmla="*/ 23 h 199"/>
              <a:gd name="T12" fmla="*/ 405 w 417"/>
              <a:gd name="T13" fmla="*/ 46 h 199"/>
              <a:gd name="T14" fmla="*/ 410 w 417"/>
              <a:gd name="T15" fmla="*/ 73 h 199"/>
              <a:gd name="T16" fmla="*/ 412 w 417"/>
              <a:gd name="T17" fmla="*/ 99 h 199"/>
              <a:gd name="T18" fmla="*/ 410 w 417"/>
              <a:gd name="T19" fmla="*/ 122 h 199"/>
              <a:gd name="T20" fmla="*/ 407 w 417"/>
              <a:gd name="T21" fmla="*/ 146 h 199"/>
              <a:gd name="T22" fmla="*/ 401 w 417"/>
              <a:gd name="T23" fmla="*/ 167 h 199"/>
              <a:gd name="T24" fmla="*/ 392 w 417"/>
              <a:gd name="T25" fmla="*/ 187 h 199"/>
              <a:gd name="T26" fmla="*/ 402 w 417"/>
              <a:gd name="T27" fmla="*/ 175 h 199"/>
              <a:gd name="T28" fmla="*/ 409 w 417"/>
              <a:gd name="T29" fmla="*/ 154 h 199"/>
              <a:gd name="T30" fmla="*/ 414 w 417"/>
              <a:gd name="T31" fmla="*/ 132 h 199"/>
              <a:gd name="T32" fmla="*/ 415 w 417"/>
              <a:gd name="T33" fmla="*/ 111 h 199"/>
              <a:gd name="T34" fmla="*/ 25 w 417"/>
              <a:gd name="T35" fmla="*/ 0 h 199"/>
              <a:gd name="T36" fmla="*/ 15 w 417"/>
              <a:gd name="T37" fmla="*/ 23 h 199"/>
              <a:gd name="T38" fmla="*/ 6 w 417"/>
              <a:gd name="T39" fmla="*/ 48 h 199"/>
              <a:gd name="T40" fmla="*/ 1 w 417"/>
              <a:gd name="T41" fmla="*/ 73 h 199"/>
              <a:gd name="T42" fmla="*/ 0 w 417"/>
              <a:gd name="T43" fmla="*/ 99 h 199"/>
              <a:gd name="T44" fmla="*/ 1 w 417"/>
              <a:gd name="T45" fmla="*/ 126 h 199"/>
              <a:gd name="T46" fmla="*/ 6 w 417"/>
              <a:gd name="T47" fmla="*/ 151 h 199"/>
              <a:gd name="T48" fmla="*/ 15 w 417"/>
              <a:gd name="T49" fmla="*/ 175 h 199"/>
              <a:gd name="T50" fmla="*/ 25 w 417"/>
              <a:gd name="T51" fmla="*/ 199 h 199"/>
              <a:gd name="T52" fmla="*/ 25 w 417"/>
              <a:gd name="T53" fmla="*/ 187 h 199"/>
              <a:gd name="T54" fmla="*/ 15 w 417"/>
              <a:gd name="T55" fmla="*/ 164 h 199"/>
              <a:gd name="T56" fmla="*/ 8 w 417"/>
              <a:gd name="T57" fmla="*/ 139 h 199"/>
              <a:gd name="T58" fmla="*/ 5 w 417"/>
              <a:gd name="T59" fmla="*/ 112 h 199"/>
              <a:gd name="T60" fmla="*/ 5 w 417"/>
              <a:gd name="T61" fmla="*/ 86 h 199"/>
              <a:gd name="T62" fmla="*/ 8 w 417"/>
              <a:gd name="T63" fmla="*/ 59 h 199"/>
              <a:gd name="T64" fmla="*/ 15 w 417"/>
              <a:gd name="T65" fmla="*/ 35 h 199"/>
              <a:gd name="T66" fmla="*/ 25 w 417"/>
              <a:gd name="T67" fmla="*/ 11 h 199"/>
              <a:gd name="T68" fmla="*/ 26 w 41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7" h="199">
                <a:moveTo>
                  <a:pt x="417" y="99"/>
                </a:moveTo>
                <a:lnTo>
                  <a:pt x="415" y="86"/>
                </a:lnTo>
                <a:lnTo>
                  <a:pt x="415" y="73"/>
                </a:lnTo>
                <a:lnTo>
                  <a:pt x="412" y="59"/>
                </a:lnTo>
                <a:lnTo>
                  <a:pt x="410" y="46"/>
                </a:lnTo>
                <a:lnTo>
                  <a:pt x="407" y="35"/>
                </a:lnTo>
                <a:lnTo>
                  <a:pt x="402" y="23"/>
                </a:lnTo>
                <a:lnTo>
                  <a:pt x="397" y="11"/>
                </a:lnTo>
                <a:lnTo>
                  <a:pt x="391" y="0"/>
                </a:lnTo>
                <a:lnTo>
                  <a:pt x="386" y="0"/>
                </a:lnTo>
                <a:lnTo>
                  <a:pt x="392" y="11"/>
                </a:lnTo>
                <a:lnTo>
                  <a:pt x="397" y="23"/>
                </a:lnTo>
                <a:lnTo>
                  <a:pt x="401" y="35"/>
                </a:lnTo>
                <a:lnTo>
                  <a:pt x="405" y="46"/>
                </a:lnTo>
                <a:lnTo>
                  <a:pt x="407" y="59"/>
                </a:lnTo>
                <a:lnTo>
                  <a:pt x="410" y="73"/>
                </a:lnTo>
                <a:lnTo>
                  <a:pt x="410" y="86"/>
                </a:lnTo>
                <a:lnTo>
                  <a:pt x="412" y="99"/>
                </a:lnTo>
                <a:lnTo>
                  <a:pt x="412" y="111"/>
                </a:lnTo>
                <a:lnTo>
                  <a:pt x="410" y="122"/>
                </a:lnTo>
                <a:lnTo>
                  <a:pt x="409" y="134"/>
                </a:lnTo>
                <a:lnTo>
                  <a:pt x="407" y="146"/>
                </a:lnTo>
                <a:lnTo>
                  <a:pt x="404" y="155"/>
                </a:lnTo>
                <a:lnTo>
                  <a:pt x="401" y="167"/>
                </a:lnTo>
                <a:lnTo>
                  <a:pt x="396" y="177"/>
                </a:lnTo>
                <a:lnTo>
                  <a:pt x="392" y="187"/>
                </a:lnTo>
                <a:lnTo>
                  <a:pt x="399" y="185"/>
                </a:lnTo>
                <a:lnTo>
                  <a:pt x="402" y="175"/>
                </a:lnTo>
                <a:lnTo>
                  <a:pt x="405" y="164"/>
                </a:lnTo>
                <a:lnTo>
                  <a:pt x="409" y="154"/>
                </a:lnTo>
                <a:lnTo>
                  <a:pt x="412" y="144"/>
                </a:lnTo>
                <a:lnTo>
                  <a:pt x="414" y="132"/>
                </a:lnTo>
                <a:lnTo>
                  <a:pt x="415" y="122"/>
                </a:lnTo>
                <a:lnTo>
                  <a:pt x="415" y="111"/>
                </a:lnTo>
                <a:lnTo>
                  <a:pt x="417" y="99"/>
                </a:lnTo>
                <a:close/>
                <a:moveTo>
                  <a:pt x="25" y="0"/>
                </a:moveTo>
                <a:lnTo>
                  <a:pt x="20" y="11"/>
                </a:lnTo>
                <a:lnTo>
                  <a:pt x="15" y="23"/>
                </a:lnTo>
                <a:lnTo>
                  <a:pt x="10" y="35"/>
                </a:lnTo>
                <a:lnTo>
                  <a:pt x="6" y="48"/>
                </a:lnTo>
                <a:lnTo>
                  <a:pt x="3" y="59"/>
                </a:lnTo>
                <a:lnTo>
                  <a:pt x="1" y="73"/>
                </a:lnTo>
                <a:lnTo>
                  <a:pt x="0" y="86"/>
                </a:lnTo>
                <a:lnTo>
                  <a:pt x="0" y="99"/>
                </a:lnTo>
                <a:lnTo>
                  <a:pt x="0" y="112"/>
                </a:lnTo>
                <a:lnTo>
                  <a:pt x="1" y="126"/>
                </a:lnTo>
                <a:lnTo>
                  <a:pt x="3" y="139"/>
                </a:lnTo>
                <a:lnTo>
                  <a:pt x="6" y="151"/>
                </a:lnTo>
                <a:lnTo>
                  <a:pt x="10" y="164"/>
                </a:lnTo>
                <a:lnTo>
                  <a:pt x="15" y="175"/>
                </a:lnTo>
                <a:lnTo>
                  <a:pt x="20" y="187"/>
                </a:lnTo>
                <a:lnTo>
                  <a:pt x="25" y="199"/>
                </a:lnTo>
                <a:lnTo>
                  <a:pt x="31" y="199"/>
                </a:lnTo>
                <a:lnTo>
                  <a:pt x="25" y="187"/>
                </a:lnTo>
                <a:lnTo>
                  <a:pt x="20" y="175"/>
                </a:lnTo>
                <a:lnTo>
                  <a:pt x="15" y="164"/>
                </a:lnTo>
                <a:lnTo>
                  <a:pt x="11" y="151"/>
                </a:lnTo>
                <a:lnTo>
                  <a:pt x="8" y="139"/>
                </a:lnTo>
                <a:lnTo>
                  <a:pt x="6" y="126"/>
                </a:lnTo>
                <a:lnTo>
                  <a:pt x="5" y="112"/>
                </a:lnTo>
                <a:lnTo>
                  <a:pt x="5" y="99"/>
                </a:lnTo>
                <a:lnTo>
                  <a:pt x="5" y="86"/>
                </a:lnTo>
                <a:lnTo>
                  <a:pt x="6" y="73"/>
                </a:lnTo>
                <a:lnTo>
                  <a:pt x="8" y="59"/>
                </a:lnTo>
                <a:lnTo>
                  <a:pt x="11" y="46"/>
                </a:lnTo>
                <a:lnTo>
                  <a:pt x="15" y="35"/>
                </a:lnTo>
                <a:lnTo>
                  <a:pt x="20" y="23"/>
                </a:lnTo>
                <a:lnTo>
                  <a:pt x="25" y="11"/>
                </a:lnTo>
                <a:lnTo>
                  <a:pt x="31" y="0"/>
                </a:lnTo>
                <a:lnTo>
                  <a:pt x="26" y="0"/>
                </a:lnTo>
                <a:lnTo>
                  <a:pt x="25"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32" name="Freeform 1137">
            <a:extLst>
              <a:ext uri="{FF2B5EF4-FFF2-40B4-BE49-F238E27FC236}">
                <a16:creationId xmlns:a16="http://schemas.microsoft.com/office/drawing/2014/main" id="{F5D6053D-52C2-D9EF-BA7D-BB91376B0A14}"/>
              </a:ext>
            </a:extLst>
          </p:cNvPr>
          <p:cNvSpPr>
            <a:spLocks noEditPoints="1"/>
          </p:cNvSpPr>
          <p:nvPr/>
        </p:nvSpPr>
        <p:spPr bwMode="auto">
          <a:xfrm>
            <a:off x="2586038" y="2403475"/>
            <a:ext cx="655638" cy="315913"/>
          </a:xfrm>
          <a:custGeom>
            <a:avLst/>
            <a:gdLst>
              <a:gd name="T0" fmla="*/ 413 w 413"/>
              <a:gd name="T1" fmla="*/ 86 h 199"/>
              <a:gd name="T2" fmla="*/ 409 w 413"/>
              <a:gd name="T3" fmla="*/ 59 h 199"/>
              <a:gd name="T4" fmla="*/ 403 w 413"/>
              <a:gd name="T5" fmla="*/ 35 h 199"/>
              <a:gd name="T6" fmla="*/ 393 w 413"/>
              <a:gd name="T7" fmla="*/ 11 h 199"/>
              <a:gd name="T8" fmla="*/ 381 w 413"/>
              <a:gd name="T9" fmla="*/ 0 h 199"/>
              <a:gd name="T10" fmla="*/ 393 w 413"/>
              <a:gd name="T11" fmla="*/ 23 h 199"/>
              <a:gd name="T12" fmla="*/ 401 w 413"/>
              <a:gd name="T13" fmla="*/ 46 h 199"/>
              <a:gd name="T14" fmla="*/ 406 w 413"/>
              <a:gd name="T15" fmla="*/ 73 h 199"/>
              <a:gd name="T16" fmla="*/ 408 w 413"/>
              <a:gd name="T17" fmla="*/ 99 h 199"/>
              <a:gd name="T18" fmla="*/ 406 w 413"/>
              <a:gd name="T19" fmla="*/ 122 h 199"/>
              <a:gd name="T20" fmla="*/ 403 w 413"/>
              <a:gd name="T21" fmla="*/ 146 h 199"/>
              <a:gd name="T22" fmla="*/ 396 w 413"/>
              <a:gd name="T23" fmla="*/ 169 h 199"/>
              <a:gd name="T24" fmla="*/ 386 w 413"/>
              <a:gd name="T25" fmla="*/ 189 h 199"/>
              <a:gd name="T26" fmla="*/ 398 w 413"/>
              <a:gd name="T27" fmla="*/ 175 h 199"/>
              <a:gd name="T28" fmla="*/ 406 w 413"/>
              <a:gd name="T29" fmla="*/ 155 h 199"/>
              <a:gd name="T30" fmla="*/ 409 w 413"/>
              <a:gd name="T31" fmla="*/ 134 h 199"/>
              <a:gd name="T32" fmla="*/ 413 w 413"/>
              <a:gd name="T33" fmla="*/ 111 h 199"/>
              <a:gd name="T34" fmla="*/ 27 w 413"/>
              <a:gd name="T35" fmla="*/ 0 h 199"/>
              <a:gd name="T36" fmla="*/ 15 w 413"/>
              <a:gd name="T37" fmla="*/ 23 h 199"/>
              <a:gd name="T38" fmla="*/ 9 w 413"/>
              <a:gd name="T39" fmla="*/ 46 h 199"/>
              <a:gd name="T40" fmla="*/ 4 w 413"/>
              <a:gd name="T41" fmla="*/ 73 h 199"/>
              <a:gd name="T42" fmla="*/ 0 w 413"/>
              <a:gd name="T43" fmla="*/ 99 h 199"/>
              <a:gd name="T44" fmla="*/ 4 w 413"/>
              <a:gd name="T45" fmla="*/ 126 h 199"/>
              <a:gd name="T46" fmla="*/ 9 w 413"/>
              <a:gd name="T47" fmla="*/ 151 h 199"/>
              <a:gd name="T48" fmla="*/ 15 w 413"/>
              <a:gd name="T49" fmla="*/ 175 h 199"/>
              <a:gd name="T50" fmla="*/ 27 w 413"/>
              <a:gd name="T51" fmla="*/ 199 h 199"/>
              <a:gd name="T52" fmla="*/ 27 w 413"/>
              <a:gd name="T53" fmla="*/ 187 h 199"/>
              <a:gd name="T54" fmla="*/ 17 w 413"/>
              <a:gd name="T55" fmla="*/ 164 h 199"/>
              <a:gd name="T56" fmla="*/ 10 w 413"/>
              <a:gd name="T57" fmla="*/ 139 h 199"/>
              <a:gd name="T58" fmla="*/ 7 w 413"/>
              <a:gd name="T59" fmla="*/ 112 h 199"/>
              <a:gd name="T60" fmla="*/ 7 w 413"/>
              <a:gd name="T61" fmla="*/ 86 h 199"/>
              <a:gd name="T62" fmla="*/ 10 w 413"/>
              <a:gd name="T63" fmla="*/ 59 h 199"/>
              <a:gd name="T64" fmla="*/ 17 w 413"/>
              <a:gd name="T65" fmla="*/ 35 h 199"/>
              <a:gd name="T66" fmla="*/ 27 w 413"/>
              <a:gd name="T67" fmla="*/ 11 h 199"/>
              <a:gd name="T68" fmla="*/ 27 w 41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3" h="199">
                <a:moveTo>
                  <a:pt x="413" y="99"/>
                </a:moveTo>
                <a:lnTo>
                  <a:pt x="413" y="86"/>
                </a:lnTo>
                <a:lnTo>
                  <a:pt x="411" y="73"/>
                </a:lnTo>
                <a:lnTo>
                  <a:pt x="409" y="59"/>
                </a:lnTo>
                <a:lnTo>
                  <a:pt x="406" y="46"/>
                </a:lnTo>
                <a:lnTo>
                  <a:pt x="403" y="35"/>
                </a:lnTo>
                <a:lnTo>
                  <a:pt x="398" y="23"/>
                </a:lnTo>
                <a:lnTo>
                  <a:pt x="393" y="11"/>
                </a:lnTo>
                <a:lnTo>
                  <a:pt x="388" y="0"/>
                </a:lnTo>
                <a:lnTo>
                  <a:pt x="381" y="0"/>
                </a:lnTo>
                <a:lnTo>
                  <a:pt x="388" y="11"/>
                </a:lnTo>
                <a:lnTo>
                  <a:pt x="393" y="23"/>
                </a:lnTo>
                <a:lnTo>
                  <a:pt x="398" y="35"/>
                </a:lnTo>
                <a:lnTo>
                  <a:pt x="401" y="46"/>
                </a:lnTo>
                <a:lnTo>
                  <a:pt x="404" y="59"/>
                </a:lnTo>
                <a:lnTo>
                  <a:pt x="406" y="73"/>
                </a:lnTo>
                <a:lnTo>
                  <a:pt x="408" y="86"/>
                </a:lnTo>
                <a:lnTo>
                  <a:pt x="408" y="99"/>
                </a:lnTo>
                <a:lnTo>
                  <a:pt x="408" y="111"/>
                </a:lnTo>
                <a:lnTo>
                  <a:pt x="406" y="122"/>
                </a:lnTo>
                <a:lnTo>
                  <a:pt x="404" y="134"/>
                </a:lnTo>
                <a:lnTo>
                  <a:pt x="403" y="146"/>
                </a:lnTo>
                <a:lnTo>
                  <a:pt x="400" y="157"/>
                </a:lnTo>
                <a:lnTo>
                  <a:pt x="396" y="169"/>
                </a:lnTo>
                <a:lnTo>
                  <a:pt x="391" y="179"/>
                </a:lnTo>
                <a:lnTo>
                  <a:pt x="386" y="189"/>
                </a:lnTo>
                <a:lnTo>
                  <a:pt x="395" y="187"/>
                </a:lnTo>
                <a:lnTo>
                  <a:pt x="398" y="175"/>
                </a:lnTo>
                <a:lnTo>
                  <a:pt x="403" y="165"/>
                </a:lnTo>
                <a:lnTo>
                  <a:pt x="406" y="155"/>
                </a:lnTo>
                <a:lnTo>
                  <a:pt x="408" y="144"/>
                </a:lnTo>
                <a:lnTo>
                  <a:pt x="409" y="134"/>
                </a:lnTo>
                <a:lnTo>
                  <a:pt x="411" y="122"/>
                </a:lnTo>
                <a:lnTo>
                  <a:pt x="413" y="111"/>
                </a:lnTo>
                <a:lnTo>
                  <a:pt x="413" y="99"/>
                </a:lnTo>
                <a:close/>
                <a:moveTo>
                  <a:pt x="27" y="0"/>
                </a:moveTo>
                <a:lnTo>
                  <a:pt x="20" y="11"/>
                </a:lnTo>
                <a:lnTo>
                  <a:pt x="15" y="23"/>
                </a:lnTo>
                <a:lnTo>
                  <a:pt x="12" y="35"/>
                </a:lnTo>
                <a:lnTo>
                  <a:pt x="9" y="46"/>
                </a:lnTo>
                <a:lnTo>
                  <a:pt x="5" y="59"/>
                </a:lnTo>
                <a:lnTo>
                  <a:pt x="4" y="73"/>
                </a:lnTo>
                <a:lnTo>
                  <a:pt x="2" y="86"/>
                </a:lnTo>
                <a:lnTo>
                  <a:pt x="0" y="99"/>
                </a:lnTo>
                <a:lnTo>
                  <a:pt x="2" y="112"/>
                </a:lnTo>
                <a:lnTo>
                  <a:pt x="4" y="126"/>
                </a:lnTo>
                <a:lnTo>
                  <a:pt x="5" y="139"/>
                </a:lnTo>
                <a:lnTo>
                  <a:pt x="9" y="151"/>
                </a:lnTo>
                <a:lnTo>
                  <a:pt x="12" y="164"/>
                </a:lnTo>
                <a:lnTo>
                  <a:pt x="15" y="175"/>
                </a:lnTo>
                <a:lnTo>
                  <a:pt x="20" y="187"/>
                </a:lnTo>
                <a:lnTo>
                  <a:pt x="27" y="199"/>
                </a:lnTo>
                <a:lnTo>
                  <a:pt x="32" y="199"/>
                </a:lnTo>
                <a:lnTo>
                  <a:pt x="27" y="187"/>
                </a:lnTo>
                <a:lnTo>
                  <a:pt x="22" y="175"/>
                </a:lnTo>
                <a:lnTo>
                  <a:pt x="17" y="164"/>
                </a:lnTo>
                <a:lnTo>
                  <a:pt x="14" y="151"/>
                </a:lnTo>
                <a:lnTo>
                  <a:pt x="10" y="139"/>
                </a:lnTo>
                <a:lnTo>
                  <a:pt x="7" y="126"/>
                </a:lnTo>
                <a:lnTo>
                  <a:pt x="7" y="112"/>
                </a:lnTo>
                <a:lnTo>
                  <a:pt x="5" y="99"/>
                </a:lnTo>
                <a:lnTo>
                  <a:pt x="7" y="86"/>
                </a:lnTo>
                <a:lnTo>
                  <a:pt x="7" y="73"/>
                </a:lnTo>
                <a:lnTo>
                  <a:pt x="10" y="59"/>
                </a:lnTo>
                <a:lnTo>
                  <a:pt x="14" y="46"/>
                </a:lnTo>
                <a:lnTo>
                  <a:pt x="17" y="35"/>
                </a:lnTo>
                <a:lnTo>
                  <a:pt x="22" y="23"/>
                </a:lnTo>
                <a:lnTo>
                  <a:pt x="27" y="11"/>
                </a:lnTo>
                <a:lnTo>
                  <a:pt x="32" y="0"/>
                </a:lnTo>
                <a:lnTo>
                  <a:pt x="27"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33" name="Freeform 1138">
            <a:extLst>
              <a:ext uri="{FF2B5EF4-FFF2-40B4-BE49-F238E27FC236}">
                <a16:creationId xmlns:a16="http://schemas.microsoft.com/office/drawing/2014/main" id="{6ACB2255-EED7-1DCA-663B-770D02C62621}"/>
              </a:ext>
            </a:extLst>
          </p:cNvPr>
          <p:cNvSpPr>
            <a:spLocks noEditPoints="1"/>
          </p:cNvSpPr>
          <p:nvPr/>
        </p:nvSpPr>
        <p:spPr bwMode="auto">
          <a:xfrm>
            <a:off x="2592388" y="2403475"/>
            <a:ext cx="646113" cy="315913"/>
          </a:xfrm>
          <a:custGeom>
            <a:avLst/>
            <a:gdLst>
              <a:gd name="T0" fmla="*/ 405 w 407"/>
              <a:gd name="T1" fmla="*/ 86 h 199"/>
              <a:gd name="T2" fmla="*/ 402 w 407"/>
              <a:gd name="T3" fmla="*/ 59 h 199"/>
              <a:gd name="T4" fmla="*/ 396 w 407"/>
              <a:gd name="T5" fmla="*/ 35 h 199"/>
              <a:gd name="T6" fmla="*/ 387 w 407"/>
              <a:gd name="T7" fmla="*/ 11 h 199"/>
              <a:gd name="T8" fmla="*/ 376 w 407"/>
              <a:gd name="T9" fmla="*/ 0 h 199"/>
              <a:gd name="T10" fmla="*/ 387 w 407"/>
              <a:gd name="T11" fmla="*/ 23 h 199"/>
              <a:gd name="T12" fmla="*/ 396 w 407"/>
              <a:gd name="T13" fmla="*/ 46 h 199"/>
              <a:gd name="T14" fmla="*/ 400 w 407"/>
              <a:gd name="T15" fmla="*/ 73 h 199"/>
              <a:gd name="T16" fmla="*/ 402 w 407"/>
              <a:gd name="T17" fmla="*/ 99 h 199"/>
              <a:gd name="T18" fmla="*/ 400 w 407"/>
              <a:gd name="T19" fmla="*/ 124 h 199"/>
              <a:gd name="T20" fmla="*/ 396 w 407"/>
              <a:gd name="T21" fmla="*/ 147 h 199"/>
              <a:gd name="T22" fmla="*/ 389 w 407"/>
              <a:gd name="T23" fmla="*/ 169 h 199"/>
              <a:gd name="T24" fmla="*/ 379 w 407"/>
              <a:gd name="T25" fmla="*/ 190 h 199"/>
              <a:gd name="T26" fmla="*/ 391 w 407"/>
              <a:gd name="T27" fmla="*/ 177 h 199"/>
              <a:gd name="T28" fmla="*/ 399 w 407"/>
              <a:gd name="T29" fmla="*/ 155 h 199"/>
              <a:gd name="T30" fmla="*/ 404 w 407"/>
              <a:gd name="T31" fmla="*/ 134 h 199"/>
              <a:gd name="T32" fmla="*/ 407 w 407"/>
              <a:gd name="T33" fmla="*/ 111 h 199"/>
              <a:gd name="T34" fmla="*/ 26 w 407"/>
              <a:gd name="T35" fmla="*/ 0 h 199"/>
              <a:gd name="T36" fmla="*/ 15 w 407"/>
              <a:gd name="T37" fmla="*/ 23 h 199"/>
              <a:gd name="T38" fmla="*/ 6 w 407"/>
              <a:gd name="T39" fmla="*/ 46 h 199"/>
              <a:gd name="T40" fmla="*/ 1 w 407"/>
              <a:gd name="T41" fmla="*/ 73 h 199"/>
              <a:gd name="T42" fmla="*/ 0 w 407"/>
              <a:gd name="T43" fmla="*/ 99 h 199"/>
              <a:gd name="T44" fmla="*/ 1 w 407"/>
              <a:gd name="T45" fmla="*/ 126 h 199"/>
              <a:gd name="T46" fmla="*/ 6 w 407"/>
              <a:gd name="T47" fmla="*/ 151 h 199"/>
              <a:gd name="T48" fmla="*/ 15 w 407"/>
              <a:gd name="T49" fmla="*/ 175 h 199"/>
              <a:gd name="T50" fmla="*/ 26 w 407"/>
              <a:gd name="T51" fmla="*/ 199 h 199"/>
              <a:gd name="T52" fmla="*/ 25 w 407"/>
              <a:gd name="T53" fmla="*/ 187 h 199"/>
              <a:gd name="T54" fmla="*/ 15 w 407"/>
              <a:gd name="T55" fmla="*/ 164 h 199"/>
              <a:gd name="T56" fmla="*/ 8 w 407"/>
              <a:gd name="T57" fmla="*/ 139 h 199"/>
              <a:gd name="T58" fmla="*/ 5 w 407"/>
              <a:gd name="T59" fmla="*/ 112 h 199"/>
              <a:gd name="T60" fmla="*/ 5 w 407"/>
              <a:gd name="T61" fmla="*/ 86 h 199"/>
              <a:gd name="T62" fmla="*/ 8 w 407"/>
              <a:gd name="T63" fmla="*/ 59 h 199"/>
              <a:gd name="T64" fmla="*/ 15 w 407"/>
              <a:gd name="T65" fmla="*/ 35 h 199"/>
              <a:gd name="T66" fmla="*/ 25 w 407"/>
              <a:gd name="T67" fmla="*/ 11 h 199"/>
              <a:gd name="T68" fmla="*/ 26 w 40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7" h="199">
                <a:moveTo>
                  <a:pt x="407" y="99"/>
                </a:moveTo>
                <a:lnTo>
                  <a:pt x="405" y="86"/>
                </a:lnTo>
                <a:lnTo>
                  <a:pt x="405" y="73"/>
                </a:lnTo>
                <a:lnTo>
                  <a:pt x="402" y="59"/>
                </a:lnTo>
                <a:lnTo>
                  <a:pt x="400" y="46"/>
                </a:lnTo>
                <a:lnTo>
                  <a:pt x="396" y="35"/>
                </a:lnTo>
                <a:lnTo>
                  <a:pt x="392" y="23"/>
                </a:lnTo>
                <a:lnTo>
                  <a:pt x="387" y="11"/>
                </a:lnTo>
                <a:lnTo>
                  <a:pt x="381" y="0"/>
                </a:lnTo>
                <a:lnTo>
                  <a:pt x="376" y="0"/>
                </a:lnTo>
                <a:lnTo>
                  <a:pt x="381" y="11"/>
                </a:lnTo>
                <a:lnTo>
                  <a:pt x="387" y="23"/>
                </a:lnTo>
                <a:lnTo>
                  <a:pt x="391" y="35"/>
                </a:lnTo>
                <a:lnTo>
                  <a:pt x="396" y="46"/>
                </a:lnTo>
                <a:lnTo>
                  <a:pt x="397" y="59"/>
                </a:lnTo>
                <a:lnTo>
                  <a:pt x="400" y="73"/>
                </a:lnTo>
                <a:lnTo>
                  <a:pt x="402" y="86"/>
                </a:lnTo>
                <a:lnTo>
                  <a:pt x="402" y="99"/>
                </a:lnTo>
                <a:lnTo>
                  <a:pt x="402" y="111"/>
                </a:lnTo>
                <a:lnTo>
                  <a:pt x="400" y="124"/>
                </a:lnTo>
                <a:lnTo>
                  <a:pt x="399" y="136"/>
                </a:lnTo>
                <a:lnTo>
                  <a:pt x="396" y="147"/>
                </a:lnTo>
                <a:lnTo>
                  <a:pt x="392" y="159"/>
                </a:lnTo>
                <a:lnTo>
                  <a:pt x="389" y="169"/>
                </a:lnTo>
                <a:lnTo>
                  <a:pt x="384" y="180"/>
                </a:lnTo>
                <a:lnTo>
                  <a:pt x="379" y="190"/>
                </a:lnTo>
                <a:lnTo>
                  <a:pt x="387" y="187"/>
                </a:lnTo>
                <a:lnTo>
                  <a:pt x="391" y="177"/>
                </a:lnTo>
                <a:lnTo>
                  <a:pt x="396" y="167"/>
                </a:lnTo>
                <a:lnTo>
                  <a:pt x="399" y="155"/>
                </a:lnTo>
                <a:lnTo>
                  <a:pt x="402" y="146"/>
                </a:lnTo>
                <a:lnTo>
                  <a:pt x="404" y="134"/>
                </a:lnTo>
                <a:lnTo>
                  <a:pt x="405" y="122"/>
                </a:lnTo>
                <a:lnTo>
                  <a:pt x="407" y="111"/>
                </a:lnTo>
                <a:lnTo>
                  <a:pt x="407" y="99"/>
                </a:lnTo>
                <a:close/>
                <a:moveTo>
                  <a:pt x="26" y="0"/>
                </a:moveTo>
                <a:lnTo>
                  <a:pt x="20" y="11"/>
                </a:lnTo>
                <a:lnTo>
                  <a:pt x="15" y="23"/>
                </a:lnTo>
                <a:lnTo>
                  <a:pt x="10" y="35"/>
                </a:lnTo>
                <a:lnTo>
                  <a:pt x="6" y="46"/>
                </a:lnTo>
                <a:lnTo>
                  <a:pt x="3" y="59"/>
                </a:lnTo>
                <a:lnTo>
                  <a:pt x="1" y="73"/>
                </a:lnTo>
                <a:lnTo>
                  <a:pt x="0" y="86"/>
                </a:lnTo>
                <a:lnTo>
                  <a:pt x="0" y="99"/>
                </a:lnTo>
                <a:lnTo>
                  <a:pt x="0" y="112"/>
                </a:lnTo>
                <a:lnTo>
                  <a:pt x="1" y="126"/>
                </a:lnTo>
                <a:lnTo>
                  <a:pt x="3" y="139"/>
                </a:lnTo>
                <a:lnTo>
                  <a:pt x="6" y="151"/>
                </a:lnTo>
                <a:lnTo>
                  <a:pt x="10" y="164"/>
                </a:lnTo>
                <a:lnTo>
                  <a:pt x="15" y="175"/>
                </a:lnTo>
                <a:lnTo>
                  <a:pt x="20" y="187"/>
                </a:lnTo>
                <a:lnTo>
                  <a:pt x="26" y="199"/>
                </a:lnTo>
                <a:lnTo>
                  <a:pt x="31" y="199"/>
                </a:lnTo>
                <a:lnTo>
                  <a:pt x="25" y="187"/>
                </a:lnTo>
                <a:lnTo>
                  <a:pt x="20" y="175"/>
                </a:lnTo>
                <a:lnTo>
                  <a:pt x="15" y="164"/>
                </a:lnTo>
                <a:lnTo>
                  <a:pt x="11" y="151"/>
                </a:lnTo>
                <a:lnTo>
                  <a:pt x="8" y="139"/>
                </a:lnTo>
                <a:lnTo>
                  <a:pt x="6" y="126"/>
                </a:lnTo>
                <a:lnTo>
                  <a:pt x="5" y="112"/>
                </a:lnTo>
                <a:lnTo>
                  <a:pt x="5" y="99"/>
                </a:lnTo>
                <a:lnTo>
                  <a:pt x="5" y="86"/>
                </a:lnTo>
                <a:lnTo>
                  <a:pt x="6" y="73"/>
                </a:lnTo>
                <a:lnTo>
                  <a:pt x="8" y="59"/>
                </a:lnTo>
                <a:lnTo>
                  <a:pt x="11" y="46"/>
                </a:lnTo>
                <a:lnTo>
                  <a:pt x="15" y="35"/>
                </a:lnTo>
                <a:lnTo>
                  <a:pt x="20" y="23"/>
                </a:lnTo>
                <a:lnTo>
                  <a:pt x="25" y="11"/>
                </a:lnTo>
                <a:lnTo>
                  <a:pt x="31" y="0"/>
                </a:lnTo>
                <a:lnTo>
                  <a:pt x="26"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34" name="Freeform 1139">
            <a:extLst>
              <a:ext uri="{FF2B5EF4-FFF2-40B4-BE49-F238E27FC236}">
                <a16:creationId xmlns:a16="http://schemas.microsoft.com/office/drawing/2014/main" id="{3A390C98-3446-49B0-F1FC-F363D1E53631}"/>
              </a:ext>
            </a:extLst>
          </p:cNvPr>
          <p:cNvSpPr>
            <a:spLocks noEditPoints="1"/>
          </p:cNvSpPr>
          <p:nvPr/>
        </p:nvSpPr>
        <p:spPr bwMode="auto">
          <a:xfrm>
            <a:off x="2593975" y="2403475"/>
            <a:ext cx="639763" cy="315913"/>
          </a:xfrm>
          <a:custGeom>
            <a:avLst/>
            <a:gdLst>
              <a:gd name="T0" fmla="*/ 403 w 403"/>
              <a:gd name="T1" fmla="*/ 86 h 199"/>
              <a:gd name="T2" fmla="*/ 399 w 403"/>
              <a:gd name="T3" fmla="*/ 59 h 199"/>
              <a:gd name="T4" fmla="*/ 393 w 403"/>
              <a:gd name="T5" fmla="*/ 35 h 199"/>
              <a:gd name="T6" fmla="*/ 383 w 403"/>
              <a:gd name="T7" fmla="*/ 11 h 199"/>
              <a:gd name="T8" fmla="*/ 371 w 403"/>
              <a:gd name="T9" fmla="*/ 0 h 199"/>
              <a:gd name="T10" fmla="*/ 383 w 403"/>
              <a:gd name="T11" fmla="*/ 23 h 199"/>
              <a:gd name="T12" fmla="*/ 391 w 403"/>
              <a:gd name="T13" fmla="*/ 46 h 199"/>
              <a:gd name="T14" fmla="*/ 396 w 403"/>
              <a:gd name="T15" fmla="*/ 73 h 199"/>
              <a:gd name="T16" fmla="*/ 398 w 403"/>
              <a:gd name="T17" fmla="*/ 99 h 199"/>
              <a:gd name="T18" fmla="*/ 396 w 403"/>
              <a:gd name="T19" fmla="*/ 124 h 199"/>
              <a:gd name="T20" fmla="*/ 393 w 403"/>
              <a:gd name="T21" fmla="*/ 147 h 199"/>
              <a:gd name="T22" fmla="*/ 385 w 403"/>
              <a:gd name="T23" fmla="*/ 170 h 199"/>
              <a:gd name="T24" fmla="*/ 375 w 403"/>
              <a:gd name="T25" fmla="*/ 192 h 199"/>
              <a:gd name="T26" fmla="*/ 386 w 403"/>
              <a:gd name="T27" fmla="*/ 179 h 199"/>
              <a:gd name="T28" fmla="*/ 395 w 403"/>
              <a:gd name="T29" fmla="*/ 157 h 199"/>
              <a:gd name="T30" fmla="*/ 399 w 403"/>
              <a:gd name="T31" fmla="*/ 134 h 199"/>
              <a:gd name="T32" fmla="*/ 403 w 403"/>
              <a:gd name="T33" fmla="*/ 111 h 199"/>
              <a:gd name="T34" fmla="*/ 27 w 403"/>
              <a:gd name="T35" fmla="*/ 0 h 199"/>
              <a:gd name="T36" fmla="*/ 17 w 403"/>
              <a:gd name="T37" fmla="*/ 23 h 199"/>
              <a:gd name="T38" fmla="*/ 9 w 403"/>
              <a:gd name="T39" fmla="*/ 46 h 199"/>
              <a:gd name="T40" fmla="*/ 2 w 403"/>
              <a:gd name="T41" fmla="*/ 73 h 199"/>
              <a:gd name="T42" fmla="*/ 0 w 403"/>
              <a:gd name="T43" fmla="*/ 99 h 199"/>
              <a:gd name="T44" fmla="*/ 2 w 403"/>
              <a:gd name="T45" fmla="*/ 126 h 199"/>
              <a:gd name="T46" fmla="*/ 9 w 403"/>
              <a:gd name="T47" fmla="*/ 151 h 199"/>
              <a:gd name="T48" fmla="*/ 17 w 403"/>
              <a:gd name="T49" fmla="*/ 175 h 199"/>
              <a:gd name="T50" fmla="*/ 27 w 403"/>
              <a:gd name="T51" fmla="*/ 199 h 199"/>
              <a:gd name="T52" fmla="*/ 27 w 403"/>
              <a:gd name="T53" fmla="*/ 187 h 199"/>
              <a:gd name="T54" fmla="*/ 17 w 403"/>
              <a:gd name="T55" fmla="*/ 164 h 199"/>
              <a:gd name="T56" fmla="*/ 10 w 403"/>
              <a:gd name="T57" fmla="*/ 139 h 199"/>
              <a:gd name="T58" fmla="*/ 7 w 403"/>
              <a:gd name="T59" fmla="*/ 112 h 199"/>
              <a:gd name="T60" fmla="*/ 7 w 403"/>
              <a:gd name="T61" fmla="*/ 86 h 199"/>
              <a:gd name="T62" fmla="*/ 10 w 403"/>
              <a:gd name="T63" fmla="*/ 59 h 199"/>
              <a:gd name="T64" fmla="*/ 17 w 403"/>
              <a:gd name="T65" fmla="*/ 35 h 199"/>
              <a:gd name="T66" fmla="*/ 27 w 403"/>
              <a:gd name="T67" fmla="*/ 11 h 199"/>
              <a:gd name="T68" fmla="*/ 27 w 40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3" h="199">
                <a:moveTo>
                  <a:pt x="403" y="99"/>
                </a:moveTo>
                <a:lnTo>
                  <a:pt x="403" y="86"/>
                </a:lnTo>
                <a:lnTo>
                  <a:pt x="401" y="73"/>
                </a:lnTo>
                <a:lnTo>
                  <a:pt x="399" y="59"/>
                </a:lnTo>
                <a:lnTo>
                  <a:pt x="396" y="46"/>
                </a:lnTo>
                <a:lnTo>
                  <a:pt x="393" y="35"/>
                </a:lnTo>
                <a:lnTo>
                  <a:pt x="388" y="23"/>
                </a:lnTo>
                <a:lnTo>
                  <a:pt x="383" y="11"/>
                </a:lnTo>
                <a:lnTo>
                  <a:pt x="376" y="0"/>
                </a:lnTo>
                <a:lnTo>
                  <a:pt x="371" y="0"/>
                </a:lnTo>
                <a:lnTo>
                  <a:pt x="378" y="11"/>
                </a:lnTo>
                <a:lnTo>
                  <a:pt x="383" y="23"/>
                </a:lnTo>
                <a:lnTo>
                  <a:pt x="388" y="35"/>
                </a:lnTo>
                <a:lnTo>
                  <a:pt x="391" y="46"/>
                </a:lnTo>
                <a:lnTo>
                  <a:pt x="395" y="59"/>
                </a:lnTo>
                <a:lnTo>
                  <a:pt x="396" y="73"/>
                </a:lnTo>
                <a:lnTo>
                  <a:pt x="398" y="86"/>
                </a:lnTo>
                <a:lnTo>
                  <a:pt x="398" y="99"/>
                </a:lnTo>
                <a:lnTo>
                  <a:pt x="398" y="111"/>
                </a:lnTo>
                <a:lnTo>
                  <a:pt x="396" y="124"/>
                </a:lnTo>
                <a:lnTo>
                  <a:pt x="395" y="136"/>
                </a:lnTo>
                <a:lnTo>
                  <a:pt x="393" y="147"/>
                </a:lnTo>
                <a:lnTo>
                  <a:pt x="390" y="159"/>
                </a:lnTo>
                <a:lnTo>
                  <a:pt x="385" y="170"/>
                </a:lnTo>
                <a:lnTo>
                  <a:pt x="380" y="182"/>
                </a:lnTo>
                <a:lnTo>
                  <a:pt x="375" y="192"/>
                </a:lnTo>
                <a:lnTo>
                  <a:pt x="381" y="189"/>
                </a:lnTo>
                <a:lnTo>
                  <a:pt x="386" y="179"/>
                </a:lnTo>
                <a:lnTo>
                  <a:pt x="391" y="169"/>
                </a:lnTo>
                <a:lnTo>
                  <a:pt x="395" y="157"/>
                </a:lnTo>
                <a:lnTo>
                  <a:pt x="398" y="146"/>
                </a:lnTo>
                <a:lnTo>
                  <a:pt x="399" y="134"/>
                </a:lnTo>
                <a:lnTo>
                  <a:pt x="401" y="122"/>
                </a:lnTo>
                <a:lnTo>
                  <a:pt x="403" y="111"/>
                </a:lnTo>
                <a:lnTo>
                  <a:pt x="403" y="99"/>
                </a:lnTo>
                <a:close/>
                <a:moveTo>
                  <a:pt x="27" y="0"/>
                </a:moveTo>
                <a:lnTo>
                  <a:pt x="22" y="11"/>
                </a:lnTo>
                <a:lnTo>
                  <a:pt x="17" y="23"/>
                </a:lnTo>
                <a:lnTo>
                  <a:pt x="12" y="35"/>
                </a:lnTo>
                <a:lnTo>
                  <a:pt x="9" y="46"/>
                </a:lnTo>
                <a:lnTo>
                  <a:pt x="5" y="59"/>
                </a:lnTo>
                <a:lnTo>
                  <a:pt x="2" y="73"/>
                </a:lnTo>
                <a:lnTo>
                  <a:pt x="2" y="86"/>
                </a:lnTo>
                <a:lnTo>
                  <a:pt x="0" y="99"/>
                </a:lnTo>
                <a:lnTo>
                  <a:pt x="2" y="112"/>
                </a:lnTo>
                <a:lnTo>
                  <a:pt x="2" y="126"/>
                </a:lnTo>
                <a:lnTo>
                  <a:pt x="5" y="139"/>
                </a:lnTo>
                <a:lnTo>
                  <a:pt x="9" y="151"/>
                </a:lnTo>
                <a:lnTo>
                  <a:pt x="12" y="164"/>
                </a:lnTo>
                <a:lnTo>
                  <a:pt x="17" y="175"/>
                </a:lnTo>
                <a:lnTo>
                  <a:pt x="22" y="187"/>
                </a:lnTo>
                <a:lnTo>
                  <a:pt x="27" y="199"/>
                </a:lnTo>
                <a:lnTo>
                  <a:pt x="33" y="199"/>
                </a:lnTo>
                <a:lnTo>
                  <a:pt x="27" y="187"/>
                </a:lnTo>
                <a:lnTo>
                  <a:pt x="22" y="175"/>
                </a:lnTo>
                <a:lnTo>
                  <a:pt x="17" y="164"/>
                </a:lnTo>
                <a:lnTo>
                  <a:pt x="14" y="152"/>
                </a:lnTo>
                <a:lnTo>
                  <a:pt x="10" y="139"/>
                </a:lnTo>
                <a:lnTo>
                  <a:pt x="7" y="126"/>
                </a:lnTo>
                <a:lnTo>
                  <a:pt x="7" y="112"/>
                </a:lnTo>
                <a:lnTo>
                  <a:pt x="5" y="99"/>
                </a:lnTo>
                <a:lnTo>
                  <a:pt x="7" y="86"/>
                </a:lnTo>
                <a:lnTo>
                  <a:pt x="7" y="73"/>
                </a:lnTo>
                <a:lnTo>
                  <a:pt x="10" y="59"/>
                </a:lnTo>
                <a:lnTo>
                  <a:pt x="14" y="46"/>
                </a:lnTo>
                <a:lnTo>
                  <a:pt x="17" y="35"/>
                </a:lnTo>
                <a:lnTo>
                  <a:pt x="22" y="23"/>
                </a:lnTo>
                <a:lnTo>
                  <a:pt x="27" y="11"/>
                </a:lnTo>
                <a:lnTo>
                  <a:pt x="33" y="0"/>
                </a:lnTo>
                <a:lnTo>
                  <a:pt x="27"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35" name="Freeform 1140">
            <a:extLst>
              <a:ext uri="{FF2B5EF4-FFF2-40B4-BE49-F238E27FC236}">
                <a16:creationId xmlns:a16="http://schemas.microsoft.com/office/drawing/2014/main" id="{5676EAF2-5B0A-FC36-2B69-553D0A4E9DC3}"/>
              </a:ext>
            </a:extLst>
          </p:cNvPr>
          <p:cNvSpPr>
            <a:spLocks noEditPoints="1"/>
          </p:cNvSpPr>
          <p:nvPr/>
        </p:nvSpPr>
        <p:spPr bwMode="auto">
          <a:xfrm>
            <a:off x="2600325" y="2403475"/>
            <a:ext cx="630238" cy="315913"/>
          </a:xfrm>
          <a:custGeom>
            <a:avLst/>
            <a:gdLst>
              <a:gd name="T0" fmla="*/ 397 w 397"/>
              <a:gd name="T1" fmla="*/ 86 h 199"/>
              <a:gd name="T2" fmla="*/ 392 w 397"/>
              <a:gd name="T3" fmla="*/ 59 h 199"/>
              <a:gd name="T4" fmla="*/ 386 w 397"/>
              <a:gd name="T5" fmla="*/ 35 h 199"/>
              <a:gd name="T6" fmla="*/ 376 w 397"/>
              <a:gd name="T7" fmla="*/ 11 h 199"/>
              <a:gd name="T8" fmla="*/ 364 w 397"/>
              <a:gd name="T9" fmla="*/ 0 h 199"/>
              <a:gd name="T10" fmla="*/ 376 w 397"/>
              <a:gd name="T11" fmla="*/ 23 h 199"/>
              <a:gd name="T12" fmla="*/ 386 w 397"/>
              <a:gd name="T13" fmla="*/ 46 h 199"/>
              <a:gd name="T14" fmla="*/ 391 w 397"/>
              <a:gd name="T15" fmla="*/ 73 h 199"/>
              <a:gd name="T16" fmla="*/ 392 w 397"/>
              <a:gd name="T17" fmla="*/ 99 h 199"/>
              <a:gd name="T18" fmla="*/ 391 w 397"/>
              <a:gd name="T19" fmla="*/ 124 h 199"/>
              <a:gd name="T20" fmla="*/ 386 w 397"/>
              <a:gd name="T21" fmla="*/ 149 h 199"/>
              <a:gd name="T22" fmla="*/ 377 w 397"/>
              <a:gd name="T23" fmla="*/ 172 h 199"/>
              <a:gd name="T24" fmla="*/ 367 w 397"/>
              <a:gd name="T25" fmla="*/ 194 h 199"/>
              <a:gd name="T26" fmla="*/ 379 w 397"/>
              <a:gd name="T27" fmla="*/ 180 h 199"/>
              <a:gd name="T28" fmla="*/ 387 w 397"/>
              <a:gd name="T29" fmla="*/ 159 h 199"/>
              <a:gd name="T30" fmla="*/ 394 w 397"/>
              <a:gd name="T31" fmla="*/ 136 h 199"/>
              <a:gd name="T32" fmla="*/ 397 w 397"/>
              <a:gd name="T33" fmla="*/ 111 h 199"/>
              <a:gd name="T34" fmla="*/ 26 w 397"/>
              <a:gd name="T35" fmla="*/ 0 h 199"/>
              <a:gd name="T36" fmla="*/ 15 w 397"/>
              <a:gd name="T37" fmla="*/ 23 h 199"/>
              <a:gd name="T38" fmla="*/ 6 w 397"/>
              <a:gd name="T39" fmla="*/ 46 h 199"/>
              <a:gd name="T40" fmla="*/ 1 w 397"/>
              <a:gd name="T41" fmla="*/ 73 h 199"/>
              <a:gd name="T42" fmla="*/ 0 w 397"/>
              <a:gd name="T43" fmla="*/ 99 h 199"/>
              <a:gd name="T44" fmla="*/ 1 w 397"/>
              <a:gd name="T45" fmla="*/ 126 h 199"/>
              <a:gd name="T46" fmla="*/ 6 w 397"/>
              <a:gd name="T47" fmla="*/ 151 h 199"/>
              <a:gd name="T48" fmla="*/ 15 w 397"/>
              <a:gd name="T49" fmla="*/ 175 h 199"/>
              <a:gd name="T50" fmla="*/ 26 w 397"/>
              <a:gd name="T51" fmla="*/ 199 h 199"/>
              <a:gd name="T52" fmla="*/ 26 w 397"/>
              <a:gd name="T53" fmla="*/ 187 h 199"/>
              <a:gd name="T54" fmla="*/ 15 w 397"/>
              <a:gd name="T55" fmla="*/ 164 h 199"/>
              <a:gd name="T56" fmla="*/ 8 w 397"/>
              <a:gd name="T57" fmla="*/ 139 h 199"/>
              <a:gd name="T58" fmla="*/ 5 w 397"/>
              <a:gd name="T59" fmla="*/ 112 h 199"/>
              <a:gd name="T60" fmla="*/ 5 w 397"/>
              <a:gd name="T61" fmla="*/ 86 h 199"/>
              <a:gd name="T62" fmla="*/ 8 w 397"/>
              <a:gd name="T63" fmla="*/ 59 h 199"/>
              <a:gd name="T64" fmla="*/ 15 w 397"/>
              <a:gd name="T65" fmla="*/ 35 h 199"/>
              <a:gd name="T66" fmla="*/ 26 w 397"/>
              <a:gd name="T67" fmla="*/ 11 h 199"/>
              <a:gd name="T68" fmla="*/ 26 w 39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7" h="199">
                <a:moveTo>
                  <a:pt x="397" y="99"/>
                </a:moveTo>
                <a:lnTo>
                  <a:pt x="397" y="86"/>
                </a:lnTo>
                <a:lnTo>
                  <a:pt x="395" y="73"/>
                </a:lnTo>
                <a:lnTo>
                  <a:pt x="392" y="59"/>
                </a:lnTo>
                <a:lnTo>
                  <a:pt x="391" y="46"/>
                </a:lnTo>
                <a:lnTo>
                  <a:pt x="386" y="35"/>
                </a:lnTo>
                <a:lnTo>
                  <a:pt x="382" y="23"/>
                </a:lnTo>
                <a:lnTo>
                  <a:pt x="376" y="11"/>
                </a:lnTo>
                <a:lnTo>
                  <a:pt x="371" y="0"/>
                </a:lnTo>
                <a:lnTo>
                  <a:pt x="364" y="0"/>
                </a:lnTo>
                <a:lnTo>
                  <a:pt x="371" y="11"/>
                </a:lnTo>
                <a:lnTo>
                  <a:pt x="376" y="23"/>
                </a:lnTo>
                <a:lnTo>
                  <a:pt x="381" y="35"/>
                </a:lnTo>
                <a:lnTo>
                  <a:pt x="386" y="46"/>
                </a:lnTo>
                <a:lnTo>
                  <a:pt x="389" y="59"/>
                </a:lnTo>
                <a:lnTo>
                  <a:pt x="391" y="73"/>
                </a:lnTo>
                <a:lnTo>
                  <a:pt x="392" y="86"/>
                </a:lnTo>
                <a:lnTo>
                  <a:pt x="392" y="99"/>
                </a:lnTo>
                <a:lnTo>
                  <a:pt x="392" y="112"/>
                </a:lnTo>
                <a:lnTo>
                  <a:pt x="391" y="124"/>
                </a:lnTo>
                <a:lnTo>
                  <a:pt x="389" y="137"/>
                </a:lnTo>
                <a:lnTo>
                  <a:pt x="386" y="149"/>
                </a:lnTo>
                <a:lnTo>
                  <a:pt x="382" y="160"/>
                </a:lnTo>
                <a:lnTo>
                  <a:pt x="377" y="172"/>
                </a:lnTo>
                <a:lnTo>
                  <a:pt x="372" y="184"/>
                </a:lnTo>
                <a:lnTo>
                  <a:pt x="367" y="194"/>
                </a:lnTo>
                <a:lnTo>
                  <a:pt x="374" y="190"/>
                </a:lnTo>
                <a:lnTo>
                  <a:pt x="379" y="180"/>
                </a:lnTo>
                <a:lnTo>
                  <a:pt x="384" y="169"/>
                </a:lnTo>
                <a:lnTo>
                  <a:pt x="387" y="159"/>
                </a:lnTo>
                <a:lnTo>
                  <a:pt x="391" y="147"/>
                </a:lnTo>
                <a:lnTo>
                  <a:pt x="394" y="136"/>
                </a:lnTo>
                <a:lnTo>
                  <a:pt x="395" y="124"/>
                </a:lnTo>
                <a:lnTo>
                  <a:pt x="397" y="111"/>
                </a:lnTo>
                <a:lnTo>
                  <a:pt x="397" y="99"/>
                </a:lnTo>
                <a:close/>
                <a:moveTo>
                  <a:pt x="26" y="0"/>
                </a:moveTo>
                <a:lnTo>
                  <a:pt x="20" y="11"/>
                </a:lnTo>
                <a:lnTo>
                  <a:pt x="15" y="23"/>
                </a:lnTo>
                <a:lnTo>
                  <a:pt x="10" y="35"/>
                </a:lnTo>
                <a:lnTo>
                  <a:pt x="6" y="46"/>
                </a:lnTo>
                <a:lnTo>
                  <a:pt x="3" y="59"/>
                </a:lnTo>
                <a:lnTo>
                  <a:pt x="1" y="73"/>
                </a:lnTo>
                <a:lnTo>
                  <a:pt x="0" y="86"/>
                </a:lnTo>
                <a:lnTo>
                  <a:pt x="0" y="99"/>
                </a:lnTo>
                <a:lnTo>
                  <a:pt x="0" y="112"/>
                </a:lnTo>
                <a:lnTo>
                  <a:pt x="1" y="126"/>
                </a:lnTo>
                <a:lnTo>
                  <a:pt x="3" y="139"/>
                </a:lnTo>
                <a:lnTo>
                  <a:pt x="6" y="151"/>
                </a:lnTo>
                <a:lnTo>
                  <a:pt x="10" y="164"/>
                </a:lnTo>
                <a:lnTo>
                  <a:pt x="15" y="175"/>
                </a:lnTo>
                <a:lnTo>
                  <a:pt x="20" y="187"/>
                </a:lnTo>
                <a:lnTo>
                  <a:pt x="26" y="199"/>
                </a:lnTo>
                <a:lnTo>
                  <a:pt x="31" y="199"/>
                </a:lnTo>
                <a:lnTo>
                  <a:pt x="26" y="187"/>
                </a:lnTo>
                <a:lnTo>
                  <a:pt x="20" y="175"/>
                </a:lnTo>
                <a:lnTo>
                  <a:pt x="15" y="164"/>
                </a:lnTo>
                <a:lnTo>
                  <a:pt x="11" y="152"/>
                </a:lnTo>
                <a:lnTo>
                  <a:pt x="8" y="139"/>
                </a:lnTo>
                <a:lnTo>
                  <a:pt x="6" y="126"/>
                </a:lnTo>
                <a:lnTo>
                  <a:pt x="5" y="112"/>
                </a:lnTo>
                <a:lnTo>
                  <a:pt x="5" y="99"/>
                </a:lnTo>
                <a:lnTo>
                  <a:pt x="5" y="86"/>
                </a:lnTo>
                <a:lnTo>
                  <a:pt x="6" y="73"/>
                </a:lnTo>
                <a:lnTo>
                  <a:pt x="8" y="59"/>
                </a:lnTo>
                <a:lnTo>
                  <a:pt x="11" y="46"/>
                </a:lnTo>
                <a:lnTo>
                  <a:pt x="15" y="35"/>
                </a:lnTo>
                <a:lnTo>
                  <a:pt x="20" y="23"/>
                </a:lnTo>
                <a:lnTo>
                  <a:pt x="26" y="11"/>
                </a:lnTo>
                <a:lnTo>
                  <a:pt x="31" y="0"/>
                </a:lnTo>
                <a:lnTo>
                  <a:pt x="26"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36" name="Freeform 1141">
            <a:extLst>
              <a:ext uri="{FF2B5EF4-FFF2-40B4-BE49-F238E27FC236}">
                <a16:creationId xmlns:a16="http://schemas.microsoft.com/office/drawing/2014/main" id="{1B487EB1-BD07-E96C-188A-A390E2E2CFA3}"/>
              </a:ext>
            </a:extLst>
          </p:cNvPr>
          <p:cNvSpPr>
            <a:spLocks noEditPoints="1"/>
          </p:cNvSpPr>
          <p:nvPr/>
        </p:nvSpPr>
        <p:spPr bwMode="auto">
          <a:xfrm>
            <a:off x="2601913" y="2403475"/>
            <a:ext cx="623888" cy="315913"/>
          </a:xfrm>
          <a:custGeom>
            <a:avLst/>
            <a:gdLst>
              <a:gd name="T0" fmla="*/ 393 w 393"/>
              <a:gd name="T1" fmla="*/ 86 h 199"/>
              <a:gd name="T2" fmla="*/ 390 w 393"/>
              <a:gd name="T3" fmla="*/ 59 h 199"/>
              <a:gd name="T4" fmla="*/ 383 w 393"/>
              <a:gd name="T5" fmla="*/ 35 h 199"/>
              <a:gd name="T6" fmla="*/ 373 w 393"/>
              <a:gd name="T7" fmla="*/ 11 h 199"/>
              <a:gd name="T8" fmla="*/ 361 w 393"/>
              <a:gd name="T9" fmla="*/ 0 h 199"/>
              <a:gd name="T10" fmla="*/ 373 w 393"/>
              <a:gd name="T11" fmla="*/ 23 h 199"/>
              <a:gd name="T12" fmla="*/ 381 w 393"/>
              <a:gd name="T13" fmla="*/ 46 h 199"/>
              <a:gd name="T14" fmla="*/ 386 w 393"/>
              <a:gd name="T15" fmla="*/ 73 h 199"/>
              <a:gd name="T16" fmla="*/ 390 w 393"/>
              <a:gd name="T17" fmla="*/ 99 h 199"/>
              <a:gd name="T18" fmla="*/ 386 w 393"/>
              <a:gd name="T19" fmla="*/ 126 h 199"/>
              <a:gd name="T20" fmla="*/ 381 w 393"/>
              <a:gd name="T21" fmla="*/ 151 h 199"/>
              <a:gd name="T22" fmla="*/ 373 w 393"/>
              <a:gd name="T23" fmla="*/ 174 h 199"/>
              <a:gd name="T24" fmla="*/ 363 w 393"/>
              <a:gd name="T25" fmla="*/ 195 h 199"/>
              <a:gd name="T26" fmla="*/ 375 w 393"/>
              <a:gd name="T27" fmla="*/ 182 h 199"/>
              <a:gd name="T28" fmla="*/ 385 w 393"/>
              <a:gd name="T29" fmla="*/ 159 h 199"/>
              <a:gd name="T30" fmla="*/ 390 w 393"/>
              <a:gd name="T31" fmla="*/ 136 h 199"/>
              <a:gd name="T32" fmla="*/ 393 w 393"/>
              <a:gd name="T33" fmla="*/ 111 h 199"/>
              <a:gd name="T34" fmla="*/ 28 w 393"/>
              <a:gd name="T35" fmla="*/ 0 h 199"/>
              <a:gd name="T36" fmla="*/ 17 w 393"/>
              <a:gd name="T37" fmla="*/ 23 h 199"/>
              <a:gd name="T38" fmla="*/ 9 w 393"/>
              <a:gd name="T39" fmla="*/ 46 h 199"/>
              <a:gd name="T40" fmla="*/ 2 w 393"/>
              <a:gd name="T41" fmla="*/ 73 h 199"/>
              <a:gd name="T42" fmla="*/ 0 w 393"/>
              <a:gd name="T43" fmla="*/ 99 h 199"/>
              <a:gd name="T44" fmla="*/ 2 w 393"/>
              <a:gd name="T45" fmla="*/ 126 h 199"/>
              <a:gd name="T46" fmla="*/ 9 w 393"/>
              <a:gd name="T47" fmla="*/ 152 h 199"/>
              <a:gd name="T48" fmla="*/ 17 w 393"/>
              <a:gd name="T49" fmla="*/ 175 h 199"/>
              <a:gd name="T50" fmla="*/ 28 w 393"/>
              <a:gd name="T51" fmla="*/ 199 h 199"/>
              <a:gd name="T52" fmla="*/ 27 w 393"/>
              <a:gd name="T53" fmla="*/ 187 h 199"/>
              <a:gd name="T54" fmla="*/ 17 w 393"/>
              <a:gd name="T55" fmla="*/ 164 h 199"/>
              <a:gd name="T56" fmla="*/ 10 w 393"/>
              <a:gd name="T57" fmla="*/ 139 h 199"/>
              <a:gd name="T58" fmla="*/ 5 w 393"/>
              <a:gd name="T59" fmla="*/ 112 h 199"/>
              <a:gd name="T60" fmla="*/ 5 w 393"/>
              <a:gd name="T61" fmla="*/ 86 h 199"/>
              <a:gd name="T62" fmla="*/ 10 w 393"/>
              <a:gd name="T63" fmla="*/ 59 h 199"/>
              <a:gd name="T64" fmla="*/ 17 w 393"/>
              <a:gd name="T65" fmla="*/ 35 h 199"/>
              <a:gd name="T66" fmla="*/ 27 w 393"/>
              <a:gd name="T67" fmla="*/ 11 h 199"/>
              <a:gd name="T68" fmla="*/ 28 w 39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3" h="199">
                <a:moveTo>
                  <a:pt x="393" y="99"/>
                </a:moveTo>
                <a:lnTo>
                  <a:pt x="393" y="86"/>
                </a:lnTo>
                <a:lnTo>
                  <a:pt x="391" y="73"/>
                </a:lnTo>
                <a:lnTo>
                  <a:pt x="390" y="59"/>
                </a:lnTo>
                <a:lnTo>
                  <a:pt x="386" y="46"/>
                </a:lnTo>
                <a:lnTo>
                  <a:pt x="383" y="35"/>
                </a:lnTo>
                <a:lnTo>
                  <a:pt x="378" y="23"/>
                </a:lnTo>
                <a:lnTo>
                  <a:pt x="373" y="11"/>
                </a:lnTo>
                <a:lnTo>
                  <a:pt x="366" y="0"/>
                </a:lnTo>
                <a:lnTo>
                  <a:pt x="361" y="0"/>
                </a:lnTo>
                <a:lnTo>
                  <a:pt x="368" y="11"/>
                </a:lnTo>
                <a:lnTo>
                  <a:pt x="373" y="23"/>
                </a:lnTo>
                <a:lnTo>
                  <a:pt x="378" y="35"/>
                </a:lnTo>
                <a:lnTo>
                  <a:pt x="381" y="46"/>
                </a:lnTo>
                <a:lnTo>
                  <a:pt x="385" y="59"/>
                </a:lnTo>
                <a:lnTo>
                  <a:pt x="386" y="73"/>
                </a:lnTo>
                <a:lnTo>
                  <a:pt x="388" y="86"/>
                </a:lnTo>
                <a:lnTo>
                  <a:pt x="390" y="99"/>
                </a:lnTo>
                <a:lnTo>
                  <a:pt x="388" y="112"/>
                </a:lnTo>
                <a:lnTo>
                  <a:pt x="386" y="126"/>
                </a:lnTo>
                <a:lnTo>
                  <a:pt x="385" y="137"/>
                </a:lnTo>
                <a:lnTo>
                  <a:pt x="381" y="151"/>
                </a:lnTo>
                <a:lnTo>
                  <a:pt x="378" y="162"/>
                </a:lnTo>
                <a:lnTo>
                  <a:pt x="373" y="174"/>
                </a:lnTo>
                <a:lnTo>
                  <a:pt x="368" y="185"/>
                </a:lnTo>
                <a:lnTo>
                  <a:pt x="363" y="195"/>
                </a:lnTo>
                <a:lnTo>
                  <a:pt x="370" y="192"/>
                </a:lnTo>
                <a:lnTo>
                  <a:pt x="375" y="182"/>
                </a:lnTo>
                <a:lnTo>
                  <a:pt x="380" y="170"/>
                </a:lnTo>
                <a:lnTo>
                  <a:pt x="385" y="159"/>
                </a:lnTo>
                <a:lnTo>
                  <a:pt x="388" y="147"/>
                </a:lnTo>
                <a:lnTo>
                  <a:pt x="390" y="136"/>
                </a:lnTo>
                <a:lnTo>
                  <a:pt x="391" y="124"/>
                </a:lnTo>
                <a:lnTo>
                  <a:pt x="393" y="111"/>
                </a:lnTo>
                <a:lnTo>
                  <a:pt x="393" y="99"/>
                </a:lnTo>
                <a:close/>
                <a:moveTo>
                  <a:pt x="28" y="0"/>
                </a:moveTo>
                <a:lnTo>
                  <a:pt x="22" y="11"/>
                </a:lnTo>
                <a:lnTo>
                  <a:pt x="17" y="23"/>
                </a:lnTo>
                <a:lnTo>
                  <a:pt x="12" y="35"/>
                </a:lnTo>
                <a:lnTo>
                  <a:pt x="9" y="46"/>
                </a:lnTo>
                <a:lnTo>
                  <a:pt x="5" y="59"/>
                </a:lnTo>
                <a:lnTo>
                  <a:pt x="2" y="73"/>
                </a:lnTo>
                <a:lnTo>
                  <a:pt x="2" y="86"/>
                </a:lnTo>
                <a:lnTo>
                  <a:pt x="0" y="99"/>
                </a:lnTo>
                <a:lnTo>
                  <a:pt x="2" y="112"/>
                </a:lnTo>
                <a:lnTo>
                  <a:pt x="2" y="126"/>
                </a:lnTo>
                <a:lnTo>
                  <a:pt x="5" y="139"/>
                </a:lnTo>
                <a:lnTo>
                  <a:pt x="9" y="152"/>
                </a:lnTo>
                <a:lnTo>
                  <a:pt x="12" y="164"/>
                </a:lnTo>
                <a:lnTo>
                  <a:pt x="17" y="175"/>
                </a:lnTo>
                <a:lnTo>
                  <a:pt x="22" y="187"/>
                </a:lnTo>
                <a:lnTo>
                  <a:pt x="28" y="199"/>
                </a:lnTo>
                <a:lnTo>
                  <a:pt x="33" y="199"/>
                </a:lnTo>
                <a:lnTo>
                  <a:pt x="27" y="187"/>
                </a:lnTo>
                <a:lnTo>
                  <a:pt x="22" y="175"/>
                </a:lnTo>
                <a:lnTo>
                  <a:pt x="17" y="164"/>
                </a:lnTo>
                <a:lnTo>
                  <a:pt x="14" y="152"/>
                </a:lnTo>
                <a:lnTo>
                  <a:pt x="10" y="139"/>
                </a:lnTo>
                <a:lnTo>
                  <a:pt x="7" y="126"/>
                </a:lnTo>
                <a:lnTo>
                  <a:pt x="5" y="112"/>
                </a:lnTo>
                <a:lnTo>
                  <a:pt x="5" y="99"/>
                </a:lnTo>
                <a:lnTo>
                  <a:pt x="5" y="86"/>
                </a:lnTo>
                <a:lnTo>
                  <a:pt x="7" y="73"/>
                </a:lnTo>
                <a:lnTo>
                  <a:pt x="10" y="59"/>
                </a:lnTo>
                <a:lnTo>
                  <a:pt x="14" y="46"/>
                </a:lnTo>
                <a:lnTo>
                  <a:pt x="17" y="35"/>
                </a:lnTo>
                <a:lnTo>
                  <a:pt x="22" y="23"/>
                </a:lnTo>
                <a:lnTo>
                  <a:pt x="27" y="11"/>
                </a:lnTo>
                <a:lnTo>
                  <a:pt x="33" y="0"/>
                </a:lnTo>
                <a:lnTo>
                  <a:pt x="28"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37" name="Freeform 1142">
            <a:extLst>
              <a:ext uri="{FF2B5EF4-FFF2-40B4-BE49-F238E27FC236}">
                <a16:creationId xmlns:a16="http://schemas.microsoft.com/office/drawing/2014/main" id="{7EC9335B-2C5C-CA1F-4968-FAF7214F7A67}"/>
              </a:ext>
            </a:extLst>
          </p:cNvPr>
          <p:cNvSpPr>
            <a:spLocks noEditPoints="1"/>
          </p:cNvSpPr>
          <p:nvPr/>
        </p:nvSpPr>
        <p:spPr bwMode="auto">
          <a:xfrm>
            <a:off x="2608263" y="2403475"/>
            <a:ext cx="614363" cy="315913"/>
          </a:xfrm>
          <a:custGeom>
            <a:avLst/>
            <a:gdLst>
              <a:gd name="T0" fmla="*/ 387 w 387"/>
              <a:gd name="T1" fmla="*/ 86 h 199"/>
              <a:gd name="T2" fmla="*/ 384 w 387"/>
              <a:gd name="T3" fmla="*/ 59 h 199"/>
              <a:gd name="T4" fmla="*/ 376 w 387"/>
              <a:gd name="T5" fmla="*/ 35 h 199"/>
              <a:gd name="T6" fmla="*/ 366 w 387"/>
              <a:gd name="T7" fmla="*/ 11 h 199"/>
              <a:gd name="T8" fmla="*/ 354 w 387"/>
              <a:gd name="T9" fmla="*/ 0 h 199"/>
              <a:gd name="T10" fmla="*/ 366 w 387"/>
              <a:gd name="T11" fmla="*/ 23 h 199"/>
              <a:gd name="T12" fmla="*/ 376 w 387"/>
              <a:gd name="T13" fmla="*/ 46 h 199"/>
              <a:gd name="T14" fmla="*/ 381 w 387"/>
              <a:gd name="T15" fmla="*/ 73 h 199"/>
              <a:gd name="T16" fmla="*/ 382 w 387"/>
              <a:gd name="T17" fmla="*/ 99 h 199"/>
              <a:gd name="T18" fmla="*/ 381 w 387"/>
              <a:gd name="T19" fmla="*/ 126 h 199"/>
              <a:gd name="T20" fmla="*/ 376 w 387"/>
              <a:gd name="T21" fmla="*/ 151 h 199"/>
              <a:gd name="T22" fmla="*/ 367 w 387"/>
              <a:gd name="T23" fmla="*/ 175 h 199"/>
              <a:gd name="T24" fmla="*/ 354 w 387"/>
              <a:gd name="T25" fmla="*/ 197 h 199"/>
              <a:gd name="T26" fmla="*/ 367 w 387"/>
              <a:gd name="T27" fmla="*/ 184 h 199"/>
              <a:gd name="T28" fmla="*/ 377 w 387"/>
              <a:gd name="T29" fmla="*/ 160 h 199"/>
              <a:gd name="T30" fmla="*/ 384 w 387"/>
              <a:gd name="T31" fmla="*/ 137 h 199"/>
              <a:gd name="T32" fmla="*/ 387 w 387"/>
              <a:gd name="T33" fmla="*/ 112 h 199"/>
              <a:gd name="T34" fmla="*/ 26 w 387"/>
              <a:gd name="T35" fmla="*/ 0 h 199"/>
              <a:gd name="T36" fmla="*/ 15 w 387"/>
              <a:gd name="T37" fmla="*/ 23 h 199"/>
              <a:gd name="T38" fmla="*/ 6 w 387"/>
              <a:gd name="T39" fmla="*/ 46 h 199"/>
              <a:gd name="T40" fmla="*/ 1 w 387"/>
              <a:gd name="T41" fmla="*/ 73 h 199"/>
              <a:gd name="T42" fmla="*/ 0 w 387"/>
              <a:gd name="T43" fmla="*/ 99 h 199"/>
              <a:gd name="T44" fmla="*/ 1 w 387"/>
              <a:gd name="T45" fmla="*/ 126 h 199"/>
              <a:gd name="T46" fmla="*/ 6 w 387"/>
              <a:gd name="T47" fmla="*/ 152 h 199"/>
              <a:gd name="T48" fmla="*/ 15 w 387"/>
              <a:gd name="T49" fmla="*/ 175 h 199"/>
              <a:gd name="T50" fmla="*/ 26 w 387"/>
              <a:gd name="T51" fmla="*/ 199 h 199"/>
              <a:gd name="T52" fmla="*/ 26 w 387"/>
              <a:gd name="T53" fmla="*/ 187 h 199"/>
              <a:gd name="T54" fmla="*/ 16 w 387"/>
              <a:gd name="T55" fmla="*/ 164 h 199"/>
              <a:gd name="T56" fmla="*/ 8 w 387"/>
              <a:gd name="T57" fmla="*/ 139 h 199"/>
              <a:gd name="T58" fmla="*/ 5 w 387"/>
              <a:gd name="T59" fmla="*/ 112 h 199"/>
              <a:gd name="T60" fmla="*/ 5 w 387"/>
              <a:gd name="T61" fmla="*/ 86 h 199"/>
              <a:gd name="T62" fmla="*/ 8 w 387"/>
              <a:gd name="T63" fmla="*/ 59 h 199"/>
              <a:gd name="T64" fmla="*/ 16 w 387"/>
              <a:gd name="T65" fmla="*/ 35 h 199"/>
              <a:gd name="T66" fmla="*/ 26 w 387"/>
              <a:gd name="T67" fmla="*/ 11 h 199"/>
              <a:gd name="T68" fmla="*/ 26 w 38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7" h="199">
                <a:moveTo>
                  <a:pt x="387" y="99"/>
                </a:moveTo>
                <a:lnTo>
                  <a:pt x="387" y="86"/>
                </a:lnTo>
                <a:lnTo>
                  <a:pt x="386" y="73"/>
                </a:lnTo>
                <a:lnTo>
                  <a:pt x="384" y="59"/>
                </a:lnTo>
                <a:lnTo>
                  <a:pt x="381" y="46"/>
                </a:lnTo>
                <a:lnTo>
                  <a:pt x="376" y="35"/>
                </a:lnTo>
                <a:lnTo>
                  <a:pt x="371" y="23"/>
                </a:lnTo>
                <a:lnTo>
                  <a:pt x="366" y="11"/>
                </a:lnTo>
                <a:lnTo>
                  <a:pt x="359" y="0"/>
                </a:lnTo>
                <a:lnTo>
                  <a:pt x="354" y="0"/>
                </a:lnTo>
                <a:lnTo>
                  <a:pt x="361" y="11"/>
                </a:lnTo>
                <a:lnTo>
                  <a:pt x="366" y="23"/>
                </a:lnTo>
                <a:lnTo>
                  <a:pt x="371" y="35"/>
                </a:lnTo>
                <a:lnTo>
                  <a:pt x="376" y="46"/>
                </a:lnTo>
                <a:lnTo>
                  <a:pt x="379" y="59"/>
                </a:lnTo>
                <a:lnTo>
                  <a:pt x="381" y="73"/>
                </a:lnTo>
                <a:lnTo>
                  <a:pt x="382" y="86"/>
                </a:lnTo>
                <a:lnTo>
                  <a:pt x="382" y="99"/>
                </a:lnTo>
                <a:lnTo>
                  <a:pt x="382" y="112"/>
                </a:lnTo>
                <a:lnTo>
                  <a:pt x="381" y="126"/>
                </a:lnTo>
                <a:lnTo>
                  <a:pt x="379" y="139"/>
                </a:lnTo>
                <a:lnTo>
                  <a:pt x="376" y="151"/>
                </a:lnTo>
                <a:lnTo>
                  <a:pt x="371" y="164"/>
                </a:lnTo>
                <a:lnTo>
                  <a:pt x="367" y="175"/>
                </a:lnTo>
                <a:lnTo>
                  <a:pt x="361" y="187"/>
                </a:lnTo>
                <a:lnTo>
                  <a:pt x="354" y="197"/>
                </a:lnTo>
                <a:lnTo>
                  <a:pt x="362" y="194"/>
                </a:lnTo>
                <a:lnTo>
                  <a:pt x="367" y="184"/>
                </a:lnTo>
                <a:lnTo>
                  <a:pt x="372" y="172"/>
                </a:lnTo>
                <a:lnTo>
                  <a:pt x="377" y="160"/>
                </a:lnTo>
                <a:lnTo>
                  <a:pt x="381" y="149"/>
                </a:lnTo>
                <a:lnTo>
                  <a:pt x="384" y="137"/>
                </a:lnTo>
                <a:lnTo>
                  <a:pt x="386" y="124"/>
                </a:lnTo>
                <a:lnTo>
                  <a:pt x="387" y="112"/>
                </a:lnTo>
                <a:lnTo>
                  <a:pt x="387" y="99"/>
                </a:lnTo>
                <a:close/>
                <a:moveTo>
                  <a:pt x="26" y="0"/>
                </a:moveTo>
                <a:lnTo>
                  <a:pt x="21" y="11"/>
                </a:lnTo>
                <a:lnTo>
                  <a:pt x="15" y="23"/>
                </a:lnTo>
                <a:lnTo>
                  <a:pt x="10" y="35"/>
                </a:lnTo>
                <a:lnTo>
                  <a:pt x="6" y="46"/>
                </a:lnTo>
                <a:lnTo>
                  <a:pt x="3" y="59"/>
                </a:lnTo>
                <a:lnTo>
                  <a:pt x="1" y="73"/>
                </a:lnTo>
                <a:lnTo>
                  <a:pt x="0" y="86"/>
                </a:lnTo>
                <a:lnTo>
                  <a:pt x="0" y="99"/>
                </a:lnTo>
                <a:lnTo>
                  <a:pt x="0" y="112"/>
                </a:lnTo>
                <a:lnTo>
                  <a:pt x="1" y="126"/>
                </a:lnTo>
                <a:lnTo>
                  <a:pt x="3" y="139"/>
                </a:lnTo>
                <a:lnTo>
                  <a:pt x="6" y="152"/>
                </a:lnTo>
                <a:lnTo>
                  <a:pt x="10" y="164"/>
                </a:lnTo>
                <a:lnTo>
                  <a:pt x="15" y="175"/>
                </a:lnTo>
                <a:lnTo>
                  <a:pt x="21" y="187"/>
                </a:lnTo>
                <a:lnTo>
                  <a:pt x="26" y="199"/>
                </a:lnTo>
                <a:lnTo>
                  <a:pt x="33" y="199"/>
                </a:lnTo>
                <a:lnTo>
                  <a:pt x="26" y="187"/>
                </a:lnTo>
                <a:lnTo>
                  <a:pt x="20" y="175"/>
                </a:lnTo>
                <a:lnTo>
                  <a:pt x="16" y="164"/>
                </a:lnTo>
                <a:lnTo>
                  <a:pt x="11" y="152"/>
                </a:lnTo>
                <a:lnTo>
                  <a:pt x="8" y="139"/>
                </a:lnTo>
                <a:lnTo>
                  <a:pt x="6" y="126"/>
                </a:lnTo>
                <a:lnTo>
                  <a:pt x="5" y="112"/>
                </a:lnTo>
                <a:lnTo>
                  <a:pt x="5" y="99"/>
                </a:lnTo>
                <a:lnTo>
                  <a:pt x="5" y="86"/>
                </a:lnTo>
                <a:lnTo>
                  <a:pt x="6" y="73"/>
                </a:lnTo>
                <a:lnTo>
                  <a:pt x="8" y="59"/>
                </a:lnTo>
                <a:lnTo>
                  <a:pt x="11" y="46"/>
                </a:lnTo>
                <a:lnTo>
                  <a:pt x="16" y="35"/>
                </a:lnTo>
                <a:lnTo>
                  <a:pt x="20" y="23"/>
                </a:lnTo>
                <a:lnTo>
                  <a:pt x="26" y="11"/>
                </a:lnTo>
                <a:lnTo>
                  <a:pt x="33" y="0"/>
                </a:lnTo>
                <a:lnTo>
                  <a:pt x="26"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38" name="Freeform 1143">
            <a:extLst>
              <a:ext uri="{FF2B5EF4-FFF2-40B4-BE49-F238E27FC236}">
                <a16:creationId xmlns:a16="http://schemas.microsoft.com/office/drawing/2014/main" id="{6BEE2F2A-56BF-AB73-EB24-78E3DC100BC9}"/>
              </a:ext>
            </a:extLst>
          </p:cNvPr>
          <p:cNvSpPr>
            <a:spLocks noEditPoints="1"/>
          </p:cNvSpPr>
          <p:nvPr/>
        </p:nvSpPr>
        <p:spPr bwMode="auto">
          <a:xfrm>
            <a:off x="2609850" y="2403475"/>
            <a:ext cx="611188" cy="315913"/>
          </a:xfrm>
          <a:custGeom>
            <a:avLst/>
            <a:gdLst>
              <a:gd name="T0" fmla="*/ 383 w 385"/>
              <a:gd name="T1" fmla="*/ 86 h 199"/>
              <a:gd name="T2" fmla="*/ 380 w 385"/>
              <a:gd name="T3" fmla="*/ 59 h 199"/>
              <a:gd name="T4" fmla="*/ 373 w 385"/>
              <a:gd name="T5" fmla="*/ 35 h 199"/>
              <a:gd name="T6" fmla="*/ 363 w 385"/>
              <a:gd name="T7" fmla="*/ 11 h 199"/>
              <a:gd name="T8" fmla="*/ 350 w 385"/>
              <a:gd name="T9" fmla="*/ 0 h 199"/>
              <a:gd name="T10" fmla="*/ 363 w 385"/>
              <a:gd name="T11" fmla="*/ 21 h 199"/>
              <a:gd name="T12" fmla="*/ 371 w 385"/>
              <a:gd name="T13" fmla="*/ 46 h 199"/>
              <a:gd name="T14" fmla="*/ 376 w 385"/>
              <a:gd name="T15" fmla="*/ 73 h 199"/>
              <a:gd name="T16" fmla="*/ 380 w 385"/>
              <a:gd name="T17" fmla="*/ 99 h 199"/>
              <a:gd name="T18" fmla="*/ 376 w 385"/>
              <a:gd name="T19" fmla="*/ 126 h 199"/>
              <a:gd name="T20" fmla="*/ 371 w 385"/>
              <a:gd name="T21" fmla="*/ 152 h 199"/>
              <a:gd name="T22" fmla="*/ 363 w 385"/>
              <a:gd name="T23" fmla="*/ 175 h 199"/>
              <a:gd name="T24" fmla="*/ 350 w 385"/>
              <a:gd name="T25" fmla="*/ 199 h 199"/>
              <a:gd name="T26" fmla="*/ 358 w 385"/>
              <a:gd name="T27" fmla="*/ 195 h 199"/>
              <a:gd name="T28" fmla="*/ 368 w 385"/>
              <a:gd name="T29" fmla="*/ 174 h 199"/>
              <a:gd name="T30" fmla="*/ 376 w 385"/>
              <a:gd name="T31" fmla="*/ 151 h 199"/>
              <a:gd name="T32" fmla="*/ 381 w 385"/>
              <a:gd name="T33" fmla="*/ 126 h 199"/>
              <a:gd name="T34" fmla="*/ 385 w 385"/>
              <a:gd name="T35" fmla="*/ 99 h 199"/>
              <a:gd name="T36" fmla="*/ 22 w 385"/>
              <a:gd name="T37" fmla="*/ 11 h 199"/>
              <a:gd name="T38" fmla="*/ 12 w 385"/>
              <a:gd name="T39" fmla="*/ 35 h 199"/>
              <a:gd name="T40" fmla="*/ 5 w 385"/>
              <a:gd name="T41" fmla="*/ 59 h 199"/>
              <a:gd name="T42" fmla="*/ 0 w 385"/>
              <a:gd name="T43" fmla="*/ 86 h 199"/>
              <a:gd name="T44" fmla="*/ 0 w 385"/>
              <a:gd name="T45" fmla="*/ 112 h 199"/>
              <a:gd name="T46" fmla="*/ 5 w 385"/>
              <a:gd name="T47" fmla="*/ 139 h 199"/>
              <a:gd name="T48" fmla="*/ 12 w 385"/>
              <a:gd name="T49" fmla="*/ 164 h 199"/>
              <a:gd name="T50" fmla="*/ 22 w 385"/>
              <a:gd name="T51" fmla="*/ 187 h 199"/>
              <a:gd name="T52" fmla="*/ 33 w 385"/>
              <a:gd name="T53" fmla="*/ 199 h 199"/>
              <a:gd name="T54" fmla="*/ 22 w 385"/>
              <a:gd name="T55" fmla="*/ 175 h 199"/>
              <a:gd name="T56" fmla="*/ 14 w 385"/>
              <a:gd name="T57" fmla="*/ 152 h 199"/>
              <a:gd name="T58" fmla="*/ 7 w 385"/>
              <a:gd name="T59" fmla="*/ 126 h 199"/>
              <a:gd name="T60" fmla="*/ 5 w 385"/>
              <a:gd name="T61" fmla="*/ 99 h 199"/>
              <a:gd name="T62" fmla="*/ 7 w 385"/>
              <a:gd name="T63" fmla="*/ 73 h 199"/>
              <a:gd name="T64" fmla="*/ 14 w 385"/>
              <a:gd name="T65" fmla="*/ 46 h 199"/>
              <a:gd name="T66" fmla="*/ 22 w 385"/>
              <a:gd name="T67" fmla="*/ 21 h 199"/>
              <a:gd name="T68" fmla="*/ 33 w 38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5" h="199">
                <a:moveTo>
                  <a:pt x="385" y="99"/>
                </a:moveTo>
                <a:lnTo>
                  <a:pt x="383" y="86"/>
                </a:lnTo>
                <a:lnTo>
                  <a:pt x="381" y="73"/>
                </a:lnTo>
                <a:lnTo>
                  <a:pt x="380" y="59"/>
                </a:lnTo>
                <a:lnTo>
                  <a:pt x="376" y="46"/>
                </a:lnTo>
                <a:lnTo>
                  <a:pt x="373" y="35"/>
                </a:lnTo>
                <a:lnTo>
                  <a:pt x="368" y="23"/>
                </a:lnTo>
                <a:lnTo>
                  <a:pt x="363" y="11"/>
                </a:lnTo>
                <a:lnTo>
                  <a:pt x="356" y="0"/>
                </a:lnTo>
                <a:lnTo>
                  <a:pt x="350" y="0"/>
                </a:lnTo>
                <a:lnTo>
                  <a:pt x="356" y="11"/>
                </a:lnTo>
                <a:lnTo>
                  <a:pt x="363" y="21"/>
                </a:lnTo>
                <a:lnTo>
                  <a:pt x="368" y="35"/>
                </a:lnTo>
                <a:lnTo>
                  <a:pt x="371" y="46"/>
                </a:lnTo>
                <a:lnTo>
                  <a:pt x="375" y="59"/>
                </a:lnTo>
                <a:lnTo>
                  <a:pt x="376" y="73"/>
                </a:lnTo>
                <a:lnTo>
                  <a:pt x="378" y="86"/>
                </a:lnTo>
                <a:lnTo>
                  <a:pt x="380" y="99"/>
                </a:lnTo>
                <a:lnTo>
                  <a:pt x="378" y="112"/>
                </a:lnTo>
                <a:lnTo>
                  <a:pt x="376" y="126"/>
                </a:lnTo>
                <a:lnTo>
                  <a:pt x="375" y="139"/>
                </a:lnTo>
                <a:lnTo>
                  <a:pt x="371" y="152"/>
                </a:lnTo>
                <a:lnTo>
                  <a:pt x="368" y="164"/>
                </a:lnTo>
                <a:lnTo>
                  <a:pt x="363" y="175"/>
                </a:lnTo>
                <a:lnTo>
                  <a:pt x="356" y="187"/>
                </a:lnTo>
                <a:lnTo>
                  <a:pt x="350" y="199"/>
                </a:lnTo>
                <a:lnTo>
                  <a:pt x="351" y="199"/>
                </a:lnTo>
                <a:lnTo>
                  <a:pt x="358" y="195"/>
                </a:lnTo>
                <a:lnTo>
                  <a:pt x="363" y="185"/>
                </a:lnTo>
                <a:lnTo>
                  <a:pt x="368" y="174"/>
                </a:lnTo>
                <a:lnTo>
                  <a:pt x="373" y="162"/>
                </a:lnTo>
                <a:lnTo>
                  <a:pt x="376" y="151"/>
                </a:lnTo>
                <a:lnTo>
                  <a:pt x="380" y="137"/>
                </a:lnTo>
                <a:lnTo>
                  <a:pt x="381" y="126"/>
                </a:lnTo>
                <a:lnTo>
                  <a:pt x="383" y="112"/>
                </a:lnTo>
                <a:lnTo>
                  <a:pt x="385" y="99"/>
                </a:lnTo>
                <a:close/>
                <a:moveTo>
                  <a:pt x="28" y="0"/>
                </a:moveTo>
                <a:lnTo>
                  <a:pt x="22" y="11"/>
                </a:lnTo>
                <a:lnTo>
                  <a:pt x="17" y="23"/>
                </a:lnTo>
                <a:lnTo>
                  <a:pt x="12" y="35"/>
                </a:lnTo>
                <a:lnTo>
                  <a:pt x="9" y="46"/>
                </a:lnTo>
                <a:lnTo>
                  <a:pt x="5" y="59"/>
                </a:lnTo>
                <a:lnTo>
                  <a:pt x="2" y="73"/>
                </a:lnTo>
                <a:lnTo>
                  <a:pt x="0" y="86"/>
                </a:lnTo>
                <a:lnTo>
                  <a:pt x="0" y="99"/>
                </a:lnTo>
                <a:lnTo>
                  <a:pt x="0" y="112"/>
                </a:lnTo>
                <a:lnTo>
                  <a:pt x="2" y="126"/>
                </a:lnTo>
                <a:lnTo>
                  <a:pt x="5" y="139"/>
                </a:lnTo>
                <a:lnTo>
                  <a:pt x="9" y="152"/>
                </a:lnTo>
                <a:lnTo>
                  <a:pt x="12" y="164"/>
                </a:lnTo>
                <a:lnTo>
                  <a:pt x="17" y="175"/>
                </a:lnTo>
                <a:lnTo>
                  <a:pt x="22" y="187"/>
                </a:lnTo>
                <a:lnTo>
                  <a:pt x="28" y="199"/>
                </a:lnTo>
                <a:lnTo>
                  <a:pt x="33" y="199"/>
                </a:lnTo>
                <a:lnTo>
                  <a:pt x="27" y="187"/>
                </a:lnTo>
                <a:lnTo>
                  <a:pt x="22" y="175"/>
                </a:lnTo>
                <a:lnTo>
                  <a:pt x="17" y="164"/>
                </a:lnTo>
                <a:lnTo>
                  <a:pt x="14" y="152"/>
                </a:lnTo>
                <a:lnTo>
                  <a:pt x="10" y="139"/>
                </a:lnTo>
                <a:lnTo>
                  <a:pt x="7" y="126"/>
                </a:lnTo>
                <a:lnTo>
                  <a:pt x="5" y="112"/>
                </a:lnTo>
                <a:lnTo>
                  <a:pt x="5" y="99"/>
                </a:lnTo>
                <a:lnTo>
                  <a:pt x="5" y="86"/>
                </a:lnTo>
                <a:lnTo>
                  <a:pt x="7" y="73"/>
                </a:lnTo>
                <a:lnTo>
                  <a:pt x="10" y="59"/>
                </a:lnTo>
                <a:lnTo>
                  <a:pt x="14" y="46"/>
                </a:lnTo>
                <a:lnTo>
                  <a:pt x="17" y="35"/>
                </a:lnTo>
                <a:lnTo>
                  <a:pt x="22" y="21"/>
                </a:lnTo>
                <a:lnTo>
                  <a:pt x="27" y="11"/>
                </a:lnTo>
                <a:lnTo>
                  <a:pt x="33" y="0"/>
                </a:lnTo>
                <a:lnTo>
                  <a:pt x="28"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39" name="Freeform 1144">
            <a:extLst>
              <a:ext uri="{FF2B5EF4-FFF2-40B4-BE49-F238E27FC236}">
                <a16:creationId xmlns:a16="http://schemas.microsoft.com/office/drawing/2014/main" id="{4A677BEE-CAD2-0D7C-9C5D-1E68B7F8CE18}"/>
              </a:ext>
            </a:extLst>
          </p:cNvPr>
          <p:cNvSpPr>
            <a:spLocks noEditPoints="1"/>
          </p:cNvSpPr>
          <p:nvPr/>
        </p:nvSpPr>
        <p:spPr bwMode="auto">
          <a:xfrm>
            <a:off x="2616200" y="2403475"/>
            <a:ext cx="598488" cy="315913"/>
          </a:xfrm>
          <a:custGeom>
            <a:avLst/>
            <a:gdLst>
              <a:gd name="T0" fmla="*/ 377 w 377"/>
              <a:gd name="T1" fmla="*/ 86 h 199"/>
              <a:gd name="T2" fmla="*/ 374 w 377"/>
              <a:gd name="T3" fmla="*/ 59 h 199"/>
              <a:gd name="T4" fmla="*/ 366 w 377"/>
              <a:gd name="T5" fmla="*/ 35 h 199"/>
              <a:gd name="T6" fmla="*/ 356 w 377"/>
              <a:gd name="T7" fmla="*/ 11 h 199"/>
              <a:gd name="T8" fmla="*/ 344 w 377"/>
              <a:gd name="T9" fmla="*/ 0 h 199"/>
              <a:gd name="T10" fmla="*/ 356 w 377"/>
              <a:gd name="T11" fmla="*/ 21 h 199"/>
              <a:gd name="T12" fmla="*/ 366 w 377"/>
              <a:gd name="T13" fmla="*/ 46 h 199"/>
              <a:gd name="T14" fmla="*/ 371 w 377"/>
              <a:gd name="T15" fmla="*/ 73 h 199"/>
              <a:gd name="T16" fmla="*/ 372 w 377"/>
              <a:gd name="T17" fmla="*/ 99 h 199"/>
              <a:gd name="T18" fmla="*/ 371 w 377"/>
              <a:gd name="T19" fmla="*/ 126 h 199"/>
              <a:gd name="T20" fmla="*/ 366 w 377"/>
              <a:gd name="T21" fmla="*/ 152 h 199"/>
              <a:gd name="T22" fmla="*/ 356 w 377"/>
              <a:gd name="T23" fmla="*/ 175 h 199"/>
              <a:gd name="T24" fmla="*/ 344 w 377"/>
              <a:gd name="T25" fmla="*/ 199 h 199"/>
              <a:gd name="T26" fmla="*/ 349 w 377"/>
              <a:gd name="T27" fmla="*/ 197 h 199"/>
              <a:gd name="T28" fmla="*/ 362 w 377"/>
              <a:gd name="T29" fmla="*/ 175 h 199"/>
              <a:gd name="T30" fmla="*/ 371 w 377"/>
              <a:gd name="T31" fmla="*/ 151 h 199"/>
              <a:gd name="T32" fmla="*/ 376 w 377"/>
              <a:gd name="T33" fmla="*/ 126 h 199"/>
              <a:gd name="T34" fmla="*/ 377 w 377"/>
              <a:gd name="T35" fmla="*/ 99 h 199"/>
              <a:gd name="T36" fmla="*/ 21 w 377"/>
              <a:gd name="T37" fmla="*/ 11 h 199"/>
              <a:gd name="T38" fmla="*/ 11 w 377"/>
              <a:gd name="T39" fmla="*/ 35 h 199"/>
              <a:gd name="T40" fmla="*/ 3 w 377"/>
              <a:gd name="T41" fmla="*/ 59 h 199"/>
              <a:gd name="T42" fmla="*/ 0 w 377"/>
              <a:gd name="T43" fmla="*/ 86 h 199"/>
              <a:gd name="T44" fmla="*/ 0 w 377"/>
              <a:gd name="T45" fmla="*/ 112 h 199"/>
              <a:gd name="T46" fmla="*/ 3 w 377"/>
              <a:gd name="T47" fmla="*/ 139 h 199"/>
              <a:gd name="T48" fmla="*/ 11 w 377"/>
              <a:gd name="T49" fmla="*/ 164 h 199"/>
              <a:gd name="T50" fmla="*/ 21 w 377"/>
              <a:gd name="T51" fmla="*/ 187 h 199"/>
              <a:gd name="T52" fmla="*/ 33 w 377"/>
              <a:gd name="T53" fmla="*/ 199 h 199"/>
              <a:gd name="T54" fmla="*/ 21 w 377"/>
              <a:gd name="T55" fmla="*/ 175 h 199"/>
              <a:gd name="T56" fmla="*/ 11 w 377"/>
              <a:gd name="T57" fmla="*/ 152 h 199"/>
              <a:gd name="T58" fmla="*/ 6 w 377"/>
              <a:gd name="T59" fmla="*/ 126 h 199"/>
              <a:gd name="T60" fmla="*/ 5 w 377"/>
              <a:gd name="T61" fmla="*/ 99 h 199"/>
              <a:gd name="T62" fmla="*/ 6 w 377"/>
              <a:gd name="T63" fmla="*/ 73 h 199"/>
              <a:gd name="T64" fmla="*/ 11 w 377"/>
              <a:gd name="T65" fmla="*/ 46 h 199"/>
              <a:gd name="T66" fmla="*/ 21 w 377"/>
              <a:gd name="T67" fmla="*/ 21 h 199"/>
              <a:gd name="T68" fmla="*/ 33 w 37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7" h="199">
                <a:moveTo>
                  <a:pt x="377" y="99"/>
                </a:moveTo>
                <a:lnTo>
                  <a:pt x="377" y="86"/>
                </a:lnTo>
                <a:lnTo>
                  <a:pt x="376" y="73"/>
                </a:lnTo>
                <a:lnTo>
                  <a:pt x="374" y="59"/>
                </a:lnTo>
                <a:lnTo>
                  <a:pt x="371" y="46"/>
                </a:lnTo>
                <a:lnTo>
                  <a:pt x="366" y="35"/>
                </a:lnTo>
                <a:lnTo>
                  <a:pt x="361" y="23"/>
                </a:lnTo>
                <a:lnTo>
                  <a:pt x="356" y="11"/>
                </a:lnTo>
                <a:lnTo>
                  <a:pt x="349" y="0"/>
                </a:lnTo>
                <a:lnTo>
                  <a:pt x="344" y="0"/>
                </a:lnTo>
                <a:lnTo>
                  <a:pt x="351" y="11"/>
                </a:lnTo>
                <a:lnTo>
                  <a:pt x="356" y="21"/>
                </a:lnTo>
                <a:lnTo>
                  <a:pt x="361" y="35"/>
                </a:lnTo>
                <a:lnTo>
                  <a:pt x="366" y="46"/>
                </a:lnTo>
                <a:lnTo>
                  <a:pt x="369" y="59"/>
                </a:lnTo>
                <a:lnTo>
                  <a:pt x="371" y="73"/>
                </a:lnTo>
                <a:lnTo>
                  <a:pt x="372" y="86"/>
                </a:lnTo>
                <a:lnTo>
                  <a:pt x="372" y="99"/>
                </a:lnTo>
                <a:lnTo>
                  <a:pt x="372" y="112"/>
                </a:lnTo>
                <a:lnTo>
                  <a:pt x="371" y="126"/>
                </a:lnTo>
                <a:lnTo>
                  <a:pt x="369" y="139"/>
                </a:lnTo>
                <a:lnTo>
                  <a:pt x="366" y="152"/>
                </a:lnTo>
                <a:lnTo>
                  <a:pt x="361" y="164"/>
                </a:lnTo>
                <a:lnTo>
                  <a:pt x="356" y="175"/>
                </a:lnTo>
                <a:lnTo>
                  <a:pt x="351" y="187"/>
                </a:lnTo>
                <a:lnTo>
                  <a:pt x="344" y="199"/>
                </a:lnTo>
                <a:lnTo>
                  <a:pt x="347" y="199"/>
                </a:lnTo>
                <a:lnTo>
                  <a:pt x="349" y="197"/>
                </a:lnTo>
                <a:lnTo>
                  <a:pt x="356" y="187"/>
                </a:lnTo>
                <a:lnTo>
                  <a:pt x="362" y="175"/>
                </a:lnTo>
                <a:lnTo>
                  <a:pt x="366" y="164"/>
                </a:lnTo>
                <a:lnTo>
                  <a:pt x="371" y="151"/>
                </a:lnTo>
                <a:lnTo>
                  <a:pt x="374" y="139"/>
                </a:lnTo>
                <a:lnTo>
                  <a:pt x="376" y="126"/>
                </a:lnTo>
                <a:lnTo>
                  <a:pt x="377" y="112"/>
                </a:lnTo>
                <a:lnTo>
                  <a:pt x="377" y="99"/>
                </a:lnTo>
                <a:close/>
                <a:moveTo>
                  <a:pt x="28" y="0"/>
                </a:moveTo>
                <a:lnTo>
                  <a:pt x="21" y="11"/>
                </a:lnTo>
                <a:lnTo>
                  <a:pt x="15" y="23"/>
                </a:lnTo>
                <a:lnTo>
                  <a:pt x="11" y="35"/>
                </a:lnTo>
                <a:lnTo>
                  <a:pt x="6" y="46"/>
                </a:lnTo>
                <a:lnTo>
                  <a:pt x="3" y="59"/>
                </a:lnTo>
                <a:lnTo>
                  <a:pt x="1" y="73"/>
                </a:lnTo>
                <a:lnTo>
                  <a:pt x="0" y="86"/>
                </a:lnTo>
                <a:lnTo>
                  <a:pt x="0" y="99"/>
                </a:lnTo>
                <a:lnTo>
                  <a:pt x="0" y="112"/>
                </a:lnTo>
                <a:lnTo>
                  <a:pt x="1" y="126"/>
                </a:lnTo>
                <a:lnTo>
                  <a:pt x="3" y="139"/>
                </a:lnTo>
                <a:lnTo>
                  <a:pt x="6" y="152"/>
                </a:lnTo>
                <a:lnTo>
                  <a:pt x="11" y="164"/>
                </a:lnTo>
                <a:lnTo>
                  <a:pt x="15" y="175"/>
                </a:lnTo>
                <a:lnTo>
                  <a:pt x="21" y="187"/>
                </a:lnTo>
                <a:lnTo>
                  <a:pt x="28" y="199"/>
                </a:lnTo>
                <a:lnTo>
                  <a:pt x="33" y="199"/>
                </a:lnTo>
                <a:lnTo>
                  <a:pt x="26" y="187"/>
                </a:lnTo>
                <a:lnTo>
                  <a:pt x="21" y="175"/>
                </a:lnTo>
                <a:lnTo>
                  <a:pt x="16" y="164"/>
                </a:lnTo>
                <a:lnTo>
                  <a:pt x="11" y="152"/>
                </a:lnTo>
                <a:lnTo>
                  <a:pt x="8" y="139"/>
                </a:lnTo>
                <a:lnTo>
                  <a:pt x="6" y="126"/>
                </a:lnTo>
                <a:lnTo>
                  <a:pt x="5" y="112"/>
                </a:lnTo>
                <a:lnTo>
                  <a:pt x="5" y="99"/>
                </a:lnTo>
                <a:lnTo>
                  <a:pt x="5" y="86"/>
                </a:lnTo>
                <a:lnTo>
                  <a:pt x="6" y="73"/>
                </a:lnTo>
                <a:lnTo>
                  <a:pt x="8" y="59"/>
                </a:lnTo>
                <a:lnTo>
                  <a:pt x="11" y="46"/>
                </a:lnTo>
                <a:lnTo>
                  <a:pt x="16" y="35"/>
                </a:lnTo>
                <a:lnTo>
                  <a:pt x="21" y="21"/>
                </a:lnTo>
                <a:lnTo>
                  <a:pt x="26" y="11"/>
                </a:lnTo>
                <a:lnTo>
                  <a:pt x="33" y="0"/>
                </a:lnTo>
                <a:lnTo>
                  <a:pt x="28"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40" name="Freeform 1145">
            <a:extLst>
              <a:ext uri="{FF2B5EF4-FFF2-40B4-BE49-F238E27FC236}">
                <a16:creationId xmlns:a16="http://schemas.microsoft.com/office/drawing/2014/main" id="{4788B12D-0A03-C7B0-6649-84090E517C75}"/>
              </a:ext>
            </a:extLst>
          </p:cNvPr>
          <p:cNvSpPr>
            <a:spLocks noEditPoints="1"/>
          </p:cNvSpPr>
          <p:nvPr/>
        </p:nvSpPr>
        <p:spPr bwMode="auto">
          <a:xfrm>
            <a:off x="2617788" y="2403475"/>
            <a:ext cx="595313" cy="315913"/>
          </a:xfrm>
          <a:custGeom>
            <a:avLst/>
            <a:gdLst>
              <a:gd name="T0" fmla="*/ 373 w 375"/>
              <a:gd name="T1" fmla="*/ 86 h 199"/>
              <a:gd name="T2" fmla="*/ 370 w 375"/>
              <a:gd name="T3" fmla="*/ 59 h 199"/>
              <a:gd name="T4" fmla="*/ 363 w 375"/>
              <a:gd name="T5" fmla="*/ 35 h 199"/>
              <a:gd name="T6" fmla="*/ 351 w 375"/>
              <a:gd name="T7" fmla="*/ 11 h 199"/>
              <a:gd name="T8" fmla="*/ 340 w 375"/>
              <a:gd name="T9" fmla="*/ 0 h 199"/>
              <a:gd name="T10" fmla="*/ 351 w 375"/>
              <a:gd name="T11" fmla="*/ 21 h 199"/>
              <a:gd name="T12" fmla="*/ 361 w 375"/>
              <a:gd name="T13" fmla="*/ 46 h 199"/>
              <a:gd name="T14" fmla="*/ 368 w 375"/>
              <a:gd name="T15" fmla="*/ 73 h 199"/>
              <a:gd name="T16" fmla="*/ 370 w 375"/>
              <a:gd name="T17" fmla="*/ 99 h 199"/>
              <a:gd name="T18" fmla="*/ 368 w 375"/>
              <a:gd name="T19" fmla="*/ 126 h 199"/>
              <a:gd name="T20" fmla="*/ 361 w 375"/>
              <a:gd name="T21" fmla="*/ 152 h 199"/>
              <a:gd name="T22" fmla="*/ 351 w 375"/>
              <a:gd name="T23" fmla="*/ 175 h 199"/>
              <a:gd name="T24" fmla="*/ 340 w 375"/>
              <a:gd name="T25" fmla="*/ 199 h 199"/>
              <a:gd name="T26" fmla="*/ 351 w 375"/>
              <a:gd name="T27" fmla="*/ 187 h 199"/>
              <a:gd name="T28" fmla="*/ 363 w 375"/>
              <a:gd name="T29" fmla="*/ 164 h 199"/>
              <a:gd name="T30" fmla="*/ 370 w 375"/>
              <a:gd name="T31" fmla="*/ 139 h 199"/>
              <a:gd name="T32" fmla="*/ 373 w 375"/>
              <a:gd name="T33" fmla="*/ 112 h 199"/>
              <a:gd name="T34" fmla="*/ 28 w 375"/>
              <a:gd name="T35" fmla="*/ 0 h 199"/>
              <a:gd name="T36" fmla="*/ 17 w 375"/>
              <a:gd name="T37" fmla="*/ 21 h 199"/>
              <a:gd name="T38" fmla="*/ 9 w 375"/>
              <a:gd name="T39" fmla="*/ 46 h 199"/>
              <a:gd name="T40" fmla="*/ 2 w 375"/>
              <a:gd name="T41" fmla="*/ 73 h 199"/>
              <a:gd name="T42" fmla="*/ 0 w 375"/>
              <a:gd name="T43" fmla="*/ 99 h 199"/>
              <a:gd name="T44" fmla="*/ 2 w 375"/>
              <a:gd name="T45" fmla="*/ 126 h 199"/>
              <a:gd name="T46" fmla="*/ 9 w 375"/>
              <a:gd name="T47" fmla="*/ 152 h 199"/>
              <a:gd name="T48" fmla="*/ 17 w 375"/>
              <a:gd name="T49" fmla="*/ 175 h 199"/>
              <a:gd name="T50" fmla="*/ 28 w 375"/>
              <a:gd name="T51" fmla="*/ 199 h 199"/>
              <a:gd name="T52" fmla="*/ 28 w 375"/>
              <a:gd name="T53" fmla="*/ 187 h 199"/>
              <a:gd name="T54" fmla="*/ 17 w 375"/>
              <a:gd name="T55" fmla="*/ 164 h 199"/>
              <a:gd name="T56" fmla="*/ 10 w 375"/>
              <a:gd name="T57" fmla="*/ 139 h 199"/>
              <a:gd name="T58" fmla="*/ 5 w 375"/>
              <a:gd name="T59" fmla="*/ 112 h 199"/>
              <a:gd name="T60" fmla="*/ 5 w 375"/>
              <a:gd name="T61" fmla="*/ 86 h 199"/>
              <a:gd name="T62" fmla="*/ 10 w 375"/>
              <a:gd name="T63" fmla="*/ 59 h 199"/>
              <a:gd name="T64" fmla="*/ 17 w 375"/>
              <a:gd name="T65" fmla="*/ 35 h 199"/>
              <a:gd name="T66" fmla="*/ 28 w 375"/>
              <a:gd name="T67" fmla="*/ 10 h 199"/>
              <a:gd name="T68" fmla="*/ 28 w 37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5" h="199">
                <a:moveTo>
                  <a:pt x="375" y="99"/>
                </a:moveTo>
                <a:lnTo>
                  <a:pt x="373" y="86"/>
                </a:lnTo>
                <a:lnTo>
                  <a:pt x="371" y="73"/>
                </a:lnTo>
                <a:lnTo>
                  <a:pt x="370" y="59"/>
                </a:lnTo>
                <a:lnTo>
                  <a:pt x="366" y="46"/>
                </a:lnTo>
                <a:lnTo>
                  <a:pt x="363" y="35"/>
                </a:lnTo>
                <a:lnTo>
                  <a:pt x="358" y="21"/>
                </a:lnTo>
                <a:lnTo>
                  <a:pt x="351" y="11"/>
                </a:lnTo>
                <a:lnTo>
                  <a:pt x="345" y="0"/>
                </a:lnTo>
                <a:lnTo>
                  <a:pt x="340" y="0"/>
                </a:lnTo>
                <a:lnTo>
                  <a:pt x="346" y="10"/>
                </a:lnTo>
                <a:lnTo>
                  <a:pt x="351" y="21"/>
                </a:lnTo>
                <a:lnTo>
                  <a:pt x="358" y="35"/>
                </a:lnTo>
                <a:lnTo>
                  <a:pt x="361" y="46"/>
                </a:lnTo>
                <a:lnTo>
                  <a:pt x="365" y="59"/>
                </a:lnTo>
                <a:lnTo>
                  <a:pt x="368" y="73"/>
                </a:lnTo>
                <a:lnTo>
                  <a:pt x="368" y="86"/>
                </a:lnTo>
                <a:lnTo>
                  <a:pt x="370" y="99"/>
                </a:lnTo>
                <a:lnTo>
                  <a:pt x="368" y="112"/>
                </a:lnTo>
                <a:lnTo>
                  <a:pt x="368" y="126"/>
                </a:lnTo>
                <a:lnTo>
                  <a:pt x="365" y="139"/>
                </a:lnTo>
                <a:lnTo>
                  <a:pt x="361" y="152"/>
                </a:lnTo>
                <a:lnTo>
                  <a:pt x="358" y="164"/>
                </a:lnTo>
                <a:lnTo>
                  <a:pt x="351" y="175"/>
                </a:lnTo>
                <a:lnTo>
                  <a:pt x="346" y="187"/>
                </a:lnTo>
                <a:lnTo>
                  <a:pt x="340" y="199"/>
                </a:lnTo>
                <a:lnTo>
                  <a:pt x="345" y="199"/>
                </a:lnTo>
                <a:lnTo>
                  <a:pt x="351" y="187"/>
                </a:lnTo>
                <a:lnTo>
                  <a:pt x="358" y="175"/>
                </a:lnTo>
                <a:lnTo>
                  <a:pt x="363" y="164"/>
                </a:lnTo>
                <a:lnTo>
                  <a:pt x="366" y="152"/>
                </a:lnTo>
                <a:lnTo>
                  <a:pt x="370" y="139"/>
                </a:lnTo>
                <a:lnTo>
                  <a:pt x="371" y="126"/>
                </a:lnTo>
                <a:lnTo>
                  <a:pt x="373" y="112"/>
                </a:lnTo>
                <a:lnTo>
                  <a:pt x="375" y="99"/>
                </a:lnTo>
                <a:close/>
                <a:moveTo>
                  <a:pt x="28" y="0"/>
                </a:moveTo>
                <a:lnTo>
                  <a:pt x="22" y="11"/>
                </a:lnTo>
                <a:lnTo>
                  <a:pt x="17" y="21"/>
                </a:lnTo>
                <a:lnTo>
                  <a:pt x="12" y="35"/>
                </a:lnTo>
                <a:lnTo>
                  <a:pt x="9" y="46"/>
                </a:lnTo>
                <a:lnTo>
                  <a:pt x="5" y="59"/>
                </a:lnTo>
                <a:lnTo>
                  <a:pt x="2" y="73"/>
                </a:lnTo>
                <a:lnTo>
                  <a:pt x="0" y="86"/>
                </a:lnTo>
                <a:lnTo>
                  <a:pt x="0" y="99"/>
                </a:lnTo>
                <a:lnTo>
                  <a:pt x="0" y="112"/>
                </a:lnTo>
                <a:lnTo>
                  <a:pt x="2" y="126"/>
                </a:lnTo>
                <a:lnTo>
                  <a:pt x="5" y="139"/>
                </a:lnTo>
                <a:lnTo>
                  <a:pt x="9" y="152"/>
                </a:lnTo>
                <a:lnTo>
                  <a:pt x="12" y="164"/>
                </a:lnTo>
                <a:lnTo>
                  <a:pt x="17" y="175"/>
                </a:lnTo>
                <a:lnTo>
                  <a:pt x="22" y="187"/>
                </a:lnTo>
                <a:lnTo>
                  <a:pt x="28" y="199"/>
                </a:lnTo>
                <a:lnTo>
                  <a:pt x="35" y="199"/>
                </a:lnTo>
                <a:lnTo>
                  <a:pt x="28" y="187"/>
                </a:lnTo>
                <a:lnTo>
                  <a:pt x="22" y="175"/>
                </a:lnTo>
                <a:lnTo>
                  <a:pt x="17" y="164"/>
                </a:lnTo>
                <a:lnTo>
                  <a:pt x="14" y="152"/>
                </a:lnTo>
                <a:lnTo>
                  <a:pt x="10" y="139"/>
                </a:lnTo>
                <a:lnTo>
                  <a:pt x="7" y="126"/>
                </a:lnTo>
                <a:lnTo>
                  <a:pt x="5" y="112"/>
                </a:lnTo>
                <a:lnTo>
                  <a:pt x="5" y="99"/>
                </a:lnTo>
                <a:lnTo>
                  <a:pt x="5" y="86"/>
                </a:lnTo>
                <a:lnTo>
                  <a:pt x="7" y="73"/>
                </a:lnTo>
                <a:lnTo>
                  <a:pt x="10" y="59"/>
                </a:lnTo>
                <a:lnTo>
                  <a:pt x="14" y="46"/>
                </a:lnTo>
                <a:lnTo>
                  <a:pt x="17" y="35"/>
                </a:lnTo>
                <a:lnTo>
                  <a:pt x="22" y="21"/>
                </a:lnTo>
                <a:lnTo>
                  <a:pt x="28" y="10"/>
                </a:lnTo>
                <a:lnTo>
                  <a:pt x="35" y="0"/>
                </a:lnTo>
                <a:lnTo>
                  <a:pt x="28"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41" name="Freeform 1146">
            <a:extLst>
              <a:ext uri="{FF2B5EF4-FFF2-40B4-BE49-F238E27FC236}">
                <a16:creationId xmlns:a16="http://schemas.microsoft.com/office/drawing/2014/main" id="{CBA74DF9-3D2A-F9C2-6BD0-26966A8FA23C}"/>
              </a:ext>
            </a:extLst>
          </p:cNvPr>
          <p:cNvSpPr>
            <a:spLocks noEditPoints="1"/>
          </p:cNvSpPr>
          <p:nvPr/>
        </p:nvSpPr>
        <p:spPr bwMode="auto">
          <a:xfrm>
            <a:off x="2624138" y="2403475"/>
            <a:ext cx="582613" cy="315913"/>
          </a:xfrm>
          <a:custGeom>
            <a:avLst/>
            <a:gdLst>
              <a:gd name="T0" fmla="*/ 367 w 367"/>
              <a:gd name="T1" fmla="*/ 86 h 199"/>
              <a:gd name="T2" fmla="*/ 364 w 367"/>
              <a:gd name="T3" fmla="*/ 59 h 199"/>
              <a:gd name="T4" fmla="*/ 356 w 367"/>
              <a:gd name="T5" fmla="*/ 35 h 199"/>
              <a:gd name="T6" fmla="*/ 346 w 367"/>
              <a:gd name="T7" fmla="*/ 11 h 199"/>
              <a:gd name="T8" fmla="*/ 332 w 367"/>
              <a:gd name="T9" fmla="*/ 0 h 199"/>
              <a:gd name="T10" fmla="*/ 346 w 367"/>
              <a:gd name="T11" fmla="*/ 21 h 199"/>
              <a:gd name="T12" fmla="*/ 356 w 367"/>
              <a:gd name="T13" fmla="*/ 46 h 199"/>
              <a:gd name="T14" fmla="*/ 361 w 367"/>
              <a:gd name="T15" fmla="*/ 73 h 199"/>
              <a:gd name="T16" fmla="*/ 362 w 367"/>
              <a:gd name="T17" fmla="*/ 99 h 199"/>
              <a:gd name="T18" fmla="*/ 361 w 367"/>
              <a:gd name="T19" fmla="*/ 126 h 199"/>
              <a:gd name="T20" fmla="*/ 356 w 367"/>
              <a:gd name="T21" fmla="*/ 152 h 199"/>
              <a:gd name="T22" fmla="*/ 346 w 367"/>
              <a:gd name="T23" fmla="*/ 175 h 199"/>
              <a:gd name="T24" fmla="*/ 332 w 367"/>
              <a:gd name="T25" fmla="*/ 199 h 199"/>
              <a:gd name="T26" fmla="*/ 346 w 367"/>
              <a:gd name="T27" fmla="*/ 187 h 199"/>
              <a:gd name="T28" fmla="*/ 356 w 367"/>
              <a:gd name="T29" fmla="*/ 164 h 199"/>
              <a:gd name="T30" fmla="*/ 364 w 367"/>
              <a:gd name="T31" fmla="*/ 139 h 199"/>
              <a:gd name="T32" fmla="*/ 367 w 367"/>
              <a:gd name="T33" fmla="*/ 112 h 199"/>
              <a:gd name="T34" fmla="*/ 28 w 367"/>
              <a:gd name="T35" fmla="*/ 0 h 199"/>
              <a:gd name="T36" fmla="*/ 16 w 367"/>
              <a:gd name="T37" fmla="*/ 21 h 199"/>
              <a:gd name="T38" fmla="*/ 6 w 367"/>
              <a:gd name="T39" fmla="*/ 46 h 199"/>
              <a:gd name="T40" fmla="*/ 1 w 367"/>
              <a:gd name="T41" fmla="*/ 73 h 199"/>
              <a:gd name="T42" fmla="*/ 0 w 367"/>
              <a:gd name="T43" fmla="*/ 99 h 199"/>
              <a:gd name="T44" fmla="*/ 1 w 367"/>
              <a:gd name="T45" fmla="*/ 126 h 199"/>
              <a:gd name="T46" fmla="*/ 6 w 367"/>
              <a:gd name="T47" fmla="*/ 152 h 199"/>
              <a:gd name="T48" fmla="*/ 16 w 367"/>
              <a:gd name="T49" fmla="*/ 175 h 199"/>
              <a:gd name="T50" fmla="*/ 28 w 367"/>
              <a:gd name="T51" fmla="*/ 199 h 199"/>
              <a:gd name="T52" fmla="*/ 26 w 367"/>
              <a:gd name="T53" fmla="*/ 187 h 199"/>
              <a:gd name="T54" fmla="*/ 16 w 367"/>
              <a:gd name="T55" fmla="*/ 164 h 199"/>
              <a:gd name="T56" fmla="*/ 8 w 367"/>
              <a:gd name="T57" fmla="*/ 139 h 199"/>
              <a:gd name="T58" fmla="*/ 5 w 367"/>
              <a:gd name="T59" fmla="*/ 112 h 199"/>
              <a:gd name="T60" fmla="*/ 5 w 367"/>
              <a:gd name="T61" fmla="*/ 86 h 199"/>
              <a:gd name="T62" fmla="*/ 8 w 367"/>
              <a:gd name="T63" fmla="*/ 59 h 199"/>
              <a:gd name="T64" fmla="*/ 16 w 367"/>
              <a:gd name="T65" fmla="*/ 35 h 199"/>
              <a:gd name="T66" fmla="*/ 26 w 367"/>
              <a:gd name="T67" fmla="*/ 10 h 199"/>
              <a:gd name="T68" fmla="*/ 28 w 36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7" h="199">
                <a:moveTo>
                  <a:pt x="367" y="99"/>
                </a:moveTo>
                <a:lnTo>
                  <a:pt x="367" y="86"/>
                </a:lnTo>
                <a:lnTo>
                  <a:pt x="366" y="73"/>
                </a:lnTo>
                <a:lnTo>
                  <a:pt x="364" y="59"/>
                </a:lnTo>
                <a:lnTo>
                  <a:pt x="361" y="46"/>
                </a:lnTo>
                <a:lnTo>
                  <a:pt x="356" y="35"/>
                </a:lnTo>
                <a:lnTo>
                  <a:pt x="351" y="21"/>
                </a:lnTo>
                <a:lnTo>
                  <a:pt x="346" y="11"/>
                </a:lnTo>
                <a:lnTo>
                  <a:pt x="339" y="0"/>
                </a:lnTo>
                <a:lnTo>
                  <a:pt x="332" y="0"/>
                </a:lnTo>
                <a:lnTo>
                  <a:pt x="339" y="10"/>
                </a:lnTo>
                <a:lnTo>
                  <a:pt x="346" y="21"/>
                </a:lnTo>
                <a:lnTo>
                  <a:pt x="351" y="35"/>
                </a:lnTo>
                <a:lnTo>
                  <a:pt x="356" y="46"/>
                </a:lnTo>
                <a:lnTo>
                  <a:pt x="359" y="59"/>
                </a:lnTo>
                <a:lnTo>
                  <a:pt x="361" y="73"/>
                </a:lnTo>
                <a:lnTo>
                  <a:pt x="362" y="86"/>
                </a:lnTo>
                <a:lnTo>
                  <a:pt x="362" y="99"/>
                </a:lnTo>
                <a:lnTo>
                  <a:pt x="362" y="112"/>
                </a:lnTo>
                <a:lnTo>
                  <a:pt x="361" y="126"/>
                </a:lnTo>
                <a:lnTo>
                  <a:pt x="359" y="139"/>
                </a:lnTo>
                <a:lnTo>
                  <a:pt x="356" y="152"/>
                </a:lnTo>
                <a:lnTo>
                  <a:pt x="351" y="164"/>
                </a:lnTo>
                <a:lnTo>
                  <a:pt x="346" y="175"/>
                </a:lnTo>
                <a:lnTo>
                  <a:pt x="339" y="187"/>
                </a:lnTo>
                <a:lnTo>
                  <a:pt x="332" y="199"/>
                </a:lnTo>
                <a:lnTo>
                  <a:pt x="339" y="199"/>
                </a:lnTo>
                <a:lnTo>
                  <a:pt x="346" y="187"/>
                </a:lnTo>
                <a:lnTo>
                  <a:pt x="351" y="175"/>
                </a:lnTo>
                <a:lnTo>
                  <a:pt x="356" y="164"/>
                </a:lnTo>
                <a:lnTo>
                  <a:pt x="361" y="152"/>
                </a:lnTo>
                <a:lnTo>
                  <a:pt x="364" y="139"/>
                </a:lnTo>
                <a:lnTo>
                  <a:pt x="366" y="126"/>
                </a:lnTo>
                <a:lnTo>
                  <a:pt x="367" y="112"/>
                </a:lnTo>
                <a:lnTo>
                  <a:pt x="367" y="99"/>
                </a:lnTo>
                <a:close/>
                <a:moveTo>
                  <a:pt x="28" y="0"/>
                </a:moveTo>
                <a:lnTo>
                  <a:pt x="21" y="11"/>
                </a:lnTo>
                <a:lnTo>
                  <a:pt x="16" y="21"/>
                </a:lnTo>
                <a:lnTo>
                  <a:pt x="11" y="35"/>
                </a:lnTo>
                <a:lnTo>
                  <a:pt x="6" y="46"/>
                </a:lnTo>
                <a:lnTo>
                  <a:pt x="3" y="59"/>
                </a:lnTo>
                <a:lnTo>
                  <a:pt x="1" y="73"/>
                </a:lnTo>
                <a:lnTo>
                  <a:pt x="0" y="86"/>
                </a:lnTo>
                <a:lnTo>
                  <a:pt x="0" y="99"/>
                </a:lnTo>
                <a:lnTo>
                  <a:pt x="0" y="112"/>
                </a:lnTo>
                <a:lnTo>
                  <a:pt x="1" y="126"/>
                </a:lnTo>
                <a:lnTo>
                  <a:pt x="3" y="139"/>
                </a:lnTo>
                <a:lnTo>
                  <a:pt x="6" y="152"/>
                </a:lnTo>
                <a:lnTo>
                  <a:pt x="11" y="164"/>
                </a:lnTo>
                <a:lnTo>
                  <a:pt x="16" y="175"/>
                </a:lnTo>
                <a:lnTo>
                  <a:pt x="21" y="187"/>
                </a:lnTo>
                <a:lnTo>
                  <a:pt x="28" y="199"/>
                </a:lnTo>
                <a:lnTo>
                  <a:pt x="34" y="199"/>
                </a:lnTo>
                <a:lnTo>
                  <a:pt x="26" y="187"/>
                </a:lnTo>
                <a:lnTo>
                  <a:pt x="21" y="175"/>
                </a:lnTo>
                <a:lnTo>
                  <a:pt x="16" y="164"/>
                </a:lnTo>
                <a:lnTo>
                  <a:pt x="11" y="152"/>
                </a:lnTo>
                <a:lnTo>
                  <a:pt x="8" y="139"/>
                </a:lnTo>
                <a:lnTo>
                  <a:pt x="6" y="126"/>
                </a:lnTo>
                <a:lnTo>
                  <a:pt x="5" y="112"/>
                </a:lnTo>
                <a:lnTo>
                  <a:pt x="3" y="99"/>
                </a:lnTo>
                <a:lnTo>
                  <a:pt x="5" y="86"/>
                </a:lnTo>
                <a:lnTo>
                  <a:pt x="6" y="73"/>
                </a:lnTo>
                <a:lnTo>
                  <a:pt x="8" y="59"/>
                </a:lnTo>
                <a:lnTo>
                  <a:pt x="11" y="46"/>
                </a:lnTo>
                <a:lnTo>
                  <a:pt x="16" y="35"/>
                </a:lnTo>
                <a:lnTo>
                  <a:pt x="21" y="21"/>
                </a:lnTo>
                <a:lnTo>
                  <a:pt x="26" y="10"/>
                </a:lnTo>
                <a:lnTo>
                  <a:pt x="34" y="0"/>
                </a:lnTo>
                <a:lnTo>
                  <a:pt x="28"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42" name="Freeform 1147">
            <a:extLst>
              <a:ext uri="{FF2B5EF4-FFF2-40B4-BE49-F238E27FC236}">
                <a16:creationId xmlns:a16="http://schemas.microsoft.com/office/drawing/2014/main" id="{973CACC8-8B8A-8345-1FFA-EE7C77CE7784}"/>
              </a:ext>
            </a:extLst>
          </p:cNvPr>
          <p:cNvSpPr>
            <a:spLocks noEditPoints="1"/>
          </p:cNvSpPr>
          <p:nvPr/>
        </p:nvSpPr>
        <p:spPr bwMode="auto">
          <a:xfrm>
            <a:off x="2625725" y="2403475"/>
            <a:ext cx="579438" cy="315913"/>
          </a:xfrm>
          <a:custGeom>
            <a:avLst/>
            <a:gdLst>
              <a:gd name="T0" fmla="*/ 363 w 365"/>
              <a:gd name="T1" fmla="*/ 86 h 199"/>
              <a:gd name="T2" fmla="*/ 360 w 365"/>
              <a:gd name="T3" fmla="*/ 59 h 199"/>
              <a:gd name="T4" fmla="*/ 353 w 365"/>
              <a:gd name="T5" fmla="*/ 35 h 199"/>
              <a:gd name="T6" fmla="*/ 341 w 365"/>
              <a:gd name="T7" fmla="*/ 10 h 199"/>
              <a:gd name="T8" fmla="*/ 328 w 365"/>
              <a:gd name="T9" fmla="*/ 0 h 199"/>
              <a:gd name="T10" fmla="*/ 341 w 365"/>
              <a:gd name="T11" fmla="*/ 21 h 199"/>
              <a:gd name="T12" fmla="*/ 351 w 365"/>
              <a:gd name="T13" fmla="*/ 46 h 199"/>
              <a:gd name="T14" fmla="*/ 358 w 365"/>
              <a:gd name="T15" fmla="*/ 73 h 199"/>
              <a:gd name="T16" fmla="*/ 360 w 365"/>
              <a:gd name="T17" fmla="*/ 99 h 199"/>
              <a:gd name="T18" fmla="*/ 358 w 365"/>
              <a:gd name="T19" fmla="*/ 126 h 199"/>
              <a:gd name="T20" fmla="*/ 351 w 365"/>
              <a:gd name="T21" fmla="*/ 152 h 199"/>
              <a:gd name="T22" fmla="*/ 341 w 365"/>
              <a:gd name="T23" fmla="*/ 175 h 199"/>
              <a:gd name="T24" fmla="*/ 328 w 365"/>
              <a:gd name="T25" fmla="*/ 199 h 199"/>
              <a:gd name="T26" fmla="*/ 341 w 365"/>
              <a:gd name="T27" fmla="*/ 187 h 199"/>
              <a:gd name="T28" fmla="*/ 353 w 365"/>
              <a:gd name="T29" fmla="*/ 164 h 199"/>
              <a:gd name="T30" fmla="*/ 360 w 365"/>
              <a:gd name="T31" fmla="*/ 139 h 199"/>
              <a:gd name="T32" fmla="*/ 363 w 365"/>
              <a:gd name="T33" fmla="*/ 112 h 199"/>
              <a:gd name="T34" fmla="*/ 30 w 365"/>
              <a:gd name="T35" fmla="*/ 0 h 199"/>
              <a:gd name="T36" fmla="*/ 17 w 365"/>
              <a:gd name="T37" fmla="*/ 21 h 199"/>
              <a:gd name="T38" fmla="*/ 9 w 365"/>
              <a:gd name="T39" fmla="*/ 46 h 199"/>
              <a:gd name="T40" fmla="*/ 2 w 365"/>
              <a:gd name="T41" fmla="*/ 73 h 199"/>
              <a:gd name="T42" fmla="*/ 0 w 365"/>
              <a:gd name="T43" fmla="*/ 99 h 199"/>
              <a:gd name="T44" fmla="*/ 2 w 365"/>
              <a:gd name="T45" fmla="*/ 126 h 199"/>
              <a:gd name="T46" fmla="*/ 9 w 365"/>
              <a:gd name="T47" fmla="*/ 152 h 199"/>
              <a:gd name="T48" fmla="*/ 17 w 365"/>
              <a:gd name="T49" fmla="*/ 175 h 199"/>
              <a:gd name="T50" fmla="*/ 30 w 365"/>
              <a:gd name="T51" fmla="*/ 199 h 199"/>
              <a:gd name="T52" fmla="*/ 28 w 365"/>
              <a:gd name="T53" fmla="*/ 187 h 199"/>
              <a:gd name="T54" fmla="*/ 17 w 365"/>
              <a:gd name="T55" fmla="*/ 164 h 199"/>
              <a:gd name="T56" fmla="*/ 10 w 365"/>
              <a:gd name="T57" fmla="*/ 139 h 199"/>
              <a:gd name="T58" fmla="*/ 5 w 365"/>
              <a:gd name="T59" fmla="*/ 112 h 199"/>
              <a:gd name="T60" fmla="*/ 5 w 365"/>
              <a:gd name="T61" fmla="*/ 86 h 199"/>
              <a:gd name="T62" fmla="*/ 10 w 365"/>
              <a:gd name="T63" fmla="*/ 59 h 199"/>
              <a:gd name="T64" fmla="*/ 17 w 365"/>
              <a:gd name="T65" fmla="*/ 35 h 199"/>
              <a:gd name="T66" fmla="*/ 28 w 365"/>
              <a:gd name="T67" fmla="*/ 10 h 199"/>
              <a:gd name="T68" fmla="*/ 30 w 36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5" h="199">
                <a:moveTo>
                  <a:pt x="365" y="99"/>
                </a:moveTo>
                <a:lnTo>
                  <a:pt x="363" y="86"/>
                </a:lnTo>
                <a:lnTo>
                  <a:pt x="363" y="73"/>
                </a:lnTo>
                <a:lnTo>
                  <a:pt x="360" y="59"/>
                </a:lnTo>
                <a:lnTo>
                  <a:pt x="356" y="46"/>
                </a:lnTo>
                <a:lnTo>
                  <a:pt x="353" y="35"/>
                </a:lnTo>
                <a:lnTo>
                  <a:pt x="346" y="21"/>
                </a:lnTo>
                <a:lnTo>
                  <a:pt x="341" y="10"/>
                </a:lnTo>
                <a:lnTo>
                  <a:pt x="335" y="0"/>
                </a:lnTo>
                <a:lnTo>
                  <a:pt x="328" y="0"/>
                </a:lnTo>
                <a:lnTo>
                  <a:pt x="336" y="10"/>
                </a:lnTo>
                <a:lnTo>
                  <a:pt x="341" y="21"/>
                </a:lnTo>
                <a:lnTo>
                  <a:pt x="346" y="35"/>
                </a:lnTo>
                <a:lnTo>
                  <a:pt x="351" y="46"/>
                </a:lnTo>
                <a:lnTo>
                  <a:pt x="355" y="59"/>
                </a:lnTo>
                <a:lnTo>
                  <a:pt x="358" y="73"/>
                </a:lnTo>
                <a:lnTo>
                  <a:pt x="360" y="86"/>
                </a:lnTo>
                <a:lnTo>
                  <a:pt x="360" y="99"/>
                </a:lnTo>
                <a:lnTo>
                  <a:pt x="360" y="112"/>
                </a:lnTo>
                <a:lnTo>
                  <a:pt x="358" y="126"/>
                </a:lnTo>
                <a:lnTo>
                  <a:pt x="355" y="139"/>
                </a:lnTo>
                <a:lnTo>
                  <a:pt x="351" y="152"/>
                </a:lnTo>
                <a:lnTo>
                  <a:pt x="346" y="164"/>
                </a:lnTo>
                <a:lnTo>
                  <a:pt x="341" y="175"/>
                </a:lnTo>
                <a:lnTo>
                  <a:pt x="336" y="187"/>
                </a:lnTo>
                <a:lnTo>
                  <a:pt x="328" y="199"/>
                </a:lnTo>
                <a:lnTo>
                  <a:pt x="335" y="199"/>
                </a:lnTo>
                <a:lnTo>
                  <a:pt x="341" y="187"/>
                </a:lnTo>
                <a:lnTo>
                  <a:pt x="346" y="175"/>
                </a:lnTo>
                <a:lnTo>
                  <a:pt x="353" y="164"/>
                </a:lnTo>
                <a:lnTo>
                  <a:pt x="356" y="152"/>
                </a:lnTo>
                <a:lnTo>
                  <a:pt x="360" y="139"/>
                </a:lnTo>
                <a:lnTo>
                  <a:pt x="363" y="126"/>
                </a:lnTo>
                <a:lnTo>
                  <a:pt x="363" y="112"/>
                </a:lnTo>
                <a:lnTo>
                  <a:pt x="365" y="99"/>
                </a:lnTo>
                <a:close/>
                <a:moveTo>
                  <a:pt x="30" y="0"/>
                </a:moveTo>
                <a:lnTo>
                  <a:pt x="23" y="10"/>
                </a:lnTo>
                <a:lnTo>
                  <a:pt x="17" y="21"/>
                </a:lnTo>
                <a:lnTo>
                  <a:pt x="12" y="35"/>
                </a:lnTo>
                <a:lnTo>
                  <a:pt x="9" y="46"/>
                </a:lnTo>
                <a:lnTo>
                  <a:pt x="5" y="59"/>
                </a:lnTo>
                <a:lnTo>
                  <a:pt x="2" y="73"/>
                </a:lnTo>
                <a:lnTo>
                  <a:pt x="0" y="86"/>
                </a:lnTo>
                <a:lnTo>
                  <a:pt x="0" y="99"/>
                </a:lnTo>
                <a:lnTo>
                  <a:pt x="0" y="112"/>
                </a:lnTo>
                <a:lnTo>
                  <a:pt x="2" y="126"/>
                </a:lnTo>
                <a:lnTo>
                  <a:pt x="5" y="139"/>
                </a:lnTo>
                <a:lnTo>
                  <a:pt x="9" y="152"/>
                </a:lnTo>
                <a:lnTo>
                  <a:pt x="12" y="164"/>
                </a:lnTo>
                <a:lnTo>
                  <a:pt x="17" y="175"/>
                </a:lnTo>
                <a:lnTo>
                  <a:pt x="23" y="187"/>
                </a:lnTo>
                <a:lnTo>
                  <a:pt x="30" y="199"/>
                </a:lnTo>
                <a:lnTo>
                  <a:pt x="35" y="199"/>
                </a:lnTo>
                <a:lnTo>
                  <a:pt x="28" y="187"/>
                </a:lnTo>
                <a:lnTo>
                  <a:pt x="22" y="175"/>
                </a:lnTo>
                <a:lnTo>
                  <a:pt x="17" y="164"/>
                </a:lnTo>
                <a:lnTo>
                  <a:pt x="13" y="152"/>
                </a:lnTo>
                <a:lnTo>
                  <a:pt x="10" y="139"/>
                </a:lnTo>
                <a:lnTo>
                  <a:pt x="7" y="126"/>
                </a:lnTo>
                <a:lnTo>
                  <a:pt x="5" y="112"/>
                </a:lnTo>
                <a:lnTo>
                  <a:pt x="5" y="99"/>
                </a:lnTo>
                <a:lnTo>
                  <a:pt x="5" y="86"/>
                </a:lnTo>
                <a:lnTo>
                  <a:pt x="7" y="73"/>
                </a:lnTo>
                <a:lnTo>
                  <a:pt x="10" y="59"/>
                </a:lnTo>
                <a:lnTo>
                  <a:pt x="13" y="46"/>
                </a:lnTo>
                <a:lnTo>
                  <a:pt x="17" y="35"/>
                </a:lnTo>
                <a:lnTo>
                  <a:pt x="22" y="21"/>
                </a:lnTo>
                <a:lnTo>
                  <a:pt x="28" y="10"/>
                </a:lnTo>
                <a:lnTo>
                  <a:pt x="35" y="0"/>
                </a:lnTo>
                <a:lnTo>
                  <a:pt x="30"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43" name="Freeform 1148">
            <a:extLst>
              <a:ext uri="{FF2B5EF4-FFF2-40B4-BE49-F238E27FC236}">
                <a16:creationId xmlns:a16="http://schemas.microsoft.com/office/drawing/2014/main" id="{F678457C-9FE9-1C7F-64C5-B7795C5E2E54}"/>
              </a:ext>
            </a:extLst>
          </p:cNvPr>
          <p:cNvSpPr>
            <a:spLocks noEditPoints="1"/>
          </p:cNvSpPr>
          <p:nvPr/>
        </p:nvSpPr>
        <p:spPr bwMode="auto">
          <a:xfrm>
            <a:off x="2628900" y="2403475"/>
            <a:ext cx="569913" cy="315913"/>
          </a:xfrm>
          <a:custGeom>
            <a:avLst/>
            <a:gdLst>
              <a:gd name="T0" fmla="*/ 359 w 359"/>
              <a:gd name="T1" fmla="*/ 86 h 199"/>
              <a:gd name="T2" fmla="*/ 356 w 359"/>
              <a:gd name="T3" fmla="*/ 59 h 199"/>
              <a:gd name="T4" fmla="*/ 348 w 359"/>
              <a:gd name="T5" fmla="*/ 35 h 199"/>
              <a:gd name="T6" fmla="*/ 336 w 359"/>
              <a:gd name="T7" fmla="*/ 10 h 199"/>
              <a:gd name="T8" fmla="*/ 324 w 359"/>
              <a:gd name="T9" fmla="*/ 0 h 199"/>
              <a:gd name="T10" fmla="*/ 338 w 359"/>
              <a:gd name="T11" fmla="*/ 21 h 199"/>
              <a:gd name="T12" fmla="*/ 346 w 359"/>
              <a:gd name="T13" fmla="*/ 46 h 199"/>
              <a:gd name="T14" fmla="*/ 353 w 359"/>
              <a:gd name="T15" fmla="*/ 73 h 199"/>
              <a:gd name="T16" fmla="*/ 354 w 359"/>
              <a:gd name="T17" fmla="*/ 99 h 199"/>
              <a:gd name="T18" fmla="*/ 353 w 359"/>
              <a:gd name="T19" fmla="*/ 126 h 199"/>
              <a:gd name="T20" fmla="*/ 346 w 359"/>
              <a:gd name="T21" fmla="*/ 152 h 199"/>
              <a:gd name="T22" fmla="*/ 338 w 359"/>
              <a:gd name="T23" fmla="*/ 175 h 199"/>
              <a:gd name="T24" fmla="*/ 324 w 359"/>
              <a:gd name="T25" fmla="*/ 199 h 199"/>
              <a:gd name="T26" fmla="*/ 336 w 359"/>
              <a:gd name="T27" fmla="*/ 187 h 199"/>
              <a:gd name="T28" fmla="*/ 348 w 359"/>
              <a:gd name="T29" fmla="*/ 164 h 199"/>
              <a:gd name="T30" fmla="*/ 356 w 359"/>
              <a:gd name="T31" fmla="*/ 139 h 199"/>
              <a:gd name="T32" fmla="*/ 359 w 359"/>
              <a:gd name="T33" fmla="*/ 112 h 199"/>
              <a:gd name="T34" fmla="*/ 31 w 359"/>
              <a:gd name="T35" fmla="*/ 0 h 199"/>
              <a:gd name="T36" fmla="*/ 18 w 359"/>
              <a:gd name="T37" fmla="*/ 21 h 199"/>
              <a:gd name="T38" fmla="*/ 8 w 359"/>
              <a:gd name="T39" fmla="*/ 46 h 199"/>
              <a:gd name="T40" fmla="*/ 3 w 359"/>
              <a:gd name="T41" fmla="*/ 73 h 199"/>
              <a:gd name="T42" fmla="*/ 0 w 359"/>
              <a:gd name="T43" fmla="*/ 99 h 199"/>
              <a:gd name="T44" fmla="*/ 3 w 359"/>
              <a:gd name="T45" fmla="*/ 126 h 199"/>
              <a:gd name="T46" fmla="*/ 8 w 359"/>
              <a:gd name="T47" fmla="*/ 152 h 199"/>
              <a:gd name="T48" fmla="*/ 18 w 359"/>
              <a:gd name="T49" fmla="*/ 175 h 199"/>
              <a:gd name="T50" fmla="*/ 31 w 359"/>
              <a:gd name="T51" fmla="*/ 199 h 199"/>
              <a:gd name="T52" fmla="*/ 30 w 359"/>
              <a:gd name="T53" fmla="*/ 187 h 199"/>
              <a:gd name="T54" fmla="*/ 18 w 359"/>
              <a:gd name="T55" fmla="*/ 164 h 199"/>
              <a:gd name="T56" fmla="*/ 10 w 359"/>
              <a:gd name="T57" fmla="*/ 139 h 199"/>
              <a:gd name="T58" fmla="*/ 7 w 359"/>
              <a:gd name="T59" fmla="*/ 112 h 199"/>
              <a:gd name="T60" fmla="*/ 7 w 359"/>
              <a:gd name="T61" fmla="*/ 86 h 199"/>
              <a:gd name="T62" fmla="*/ 10 w 359"/>
              <a:gd name="T63" fmla="*/ 59 h 199"/>
              <a:gd name="T64" fmla="*/ 18 w 359"/>
              <a:gd name="T65" fmla="*/ 33 h 199"/>
              <a:gd name="T66" fmla="*/ 30 w 359"/>
              <a:gd name="T67" fmla="*/ 10 h 199"/>
              <a:gd name="T68" fmla="*/ 31 w 35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9" h="199">
                <a:moveTo>
                  <a:pt x="359" y="99"/>
                </a:moveTo>
                <a:lnTo>
                  <a:pt x="359" y="86"/>
                </a:lnTo>
                <a:lnTo>
                  <a:pt x="358" y="73"/>
                </a:lnTo>
                <a:lnTo>
                  <a:pt x="356" y="59"/>
                </a:lnTo>
                <a:lnTo>
                  <a:pt x="353" y="46"/>
                </a:lnTo>
                <a:lnTo>
                  <a:pt x="348" y="35"/>
                </a:lnTo>
                <a:lnTo>
                  <a:pt x="343" y="21"/>
                </a:lnTo>
                <a:lnTo>
                  <a:pt x="336" y="10"/>
                </a:lnTo>
                <a:lnTo>
                  <a:pt x="329" y="0"/>
                </a:lnTo>
                <a:lnTo>
                  <a:pt x="324" y="0"/>
                </a:lnTo>
                <a:lnTo>
                  <a:pt x="331" y="10"/>
                </a:lnTo>
                <a:lnTo>
                  <a:pt x="338" y="21"/>
                </a:lnTo>
                <a:lnTo>
                  <a:pt x="343" y="33"/>
                </a:lnTo>
                <a:lnTo>
                  <a:pt x="346" y="46"/>
                </a:lnTo>
                <a:lnTo>
                  <a:pt x="351" y="59"/>
                </a:lnTo>
                <a:lnTo>
                  <a:pt x="353" y="73"/>
                </a:lnTo>
                <a:lnTo>
                  <a:pt x="354" y="86"/>
                </a:lnTo>
                <a:lnTo>
                  <a:pt x="354" y="99"/>
                </a:lnTo>
                <a:lnTo>
                  <a:pt x="354" y="112"/>
                </a:lnTo>
                <a:lnTo>
                  <a:pt x="353" y="126"/>
                </a:lnTo>
                <a:lnTo>
                  <a:pt x="351" y="139"/>
                </a:lnTo>
                <a:lnTo>
                  <a:pt x="346" y="152"/>
                </a:lnTo>
                <a:lnTo>
                  <a:pt x="343" y="164"/>
                </a:lnTo>
                <a:lnTo>
                  <a:pt x="338" y="175"/>
                </a:lnTo>
                <a:lnTo>
                  <a:pt x="331" y="187"/>
                </a:lnTo>
                <a:lnTo>
                  <a:pt x="324" y="199"/>
                </a:lnTo>
                <a:lnTo>
                  <a:pt x="329" y="199"/>
                </a:lnTo>
                <a:lnTo>
                  <a:pt x="336" y="187"/>
                </a:lnTo>
                <a:lnTo>
                  <a:pt x="343" y="175"/>
                </a:lnTo>
                <a:lnTo>
                  <a:pt x="348" y="164"/>
                </a:lnTo>
                <a:lnTo>
                  <a:pt x="353" y="152"/>
                </a:lnTo>
                <a:lnTo>
                  <a:pt x="356" y="139"/>
                </a:lnTo>
                <a:lnTo>
                  <a:pt x="358" y="126"/>
                </a:lnTo>
                <a:lnTo>
                  <a:pt x="359" y="112"/>
                </a:lnTo>
                <a:lnTo>
                  <a:pt x="359" y="99"/>
                </a:lnTo>
                <a:close/>
                <a:moveTo>
                  <a:pt x="31" y="0"/>
                </a:moveTo>
                <a:lnTo>
                  <a:pt x="23" y="10"/>
                </a:lnTo>
                <a:lnTo>
                  <a:pt x="18" y="21"/>
                </a:lnTo>
                <a:lnTo>
                  <a:pt x="13" y="35"/>
                </a:lnTo>
                <a:lnTo>
                  <a:pt x="8" y="46"/>
                </a:lnTo>
                <a:lnTo>
                  <a:pt x="5" y="59"/>
                </a:lnTo>
                <a:lnTo>
                  <a:pt x="3" y="73"/>
                </a:lnTo>
                <a:lnTo>
                  <a:pt x="2" y="86"/>
                </a:lnTo>
                <a:lnTo>
                  <a:pt x="0" y="99"/>
                </a:lnTo>
                <a:lnTo>
                  <a:pt x="2" y="112"/>
                </a:lnTo>
                <a:lnTo>
                  <a:pt x="3" y="126"/>
                </a:lnTo>
                <a:lnTo>
                  <a:pt x="5" y="139"/>
                </a:lnTo>
                <a:lnTo>
                  <a:pt x="8" y="152"/>
                </a:lnTo>
                <a:lnTo>
                  <a:pt x="13" y="164"/>
                </a:lnTo>
                <a:lnTo>
                  <a:pt x="18" y="175"/>
                </a:lnTo>
                <a:lnTo>
                  <a:pt x="23" y="187"/>
                </a:lnTo>
                <a:lnTo>
                  <a:pt x="31" y="199"/>
                </a:lnTo>
                <a:lnTo>
                  <a:pt x="36" y="199"/>
                </a:lnTo>
                <a:lnTo>
                  <a:pt x="30" y="187"/>
                </a:lnTo>
                <a:lnTo>
                  <a:pt x="23" y="175"/>
                </a:lnTo>
                <a:lnTo>
                  <a:pt x="18" y="164"/>
                </a:lnTo>
                <a:lnTo>
                  <a:pt x="13" y="152"/>
                </a:lnTo>
                <a:lnTo>
                  <a:pt x="10" y="139"/>
                </a:lnTo>
                <a:lnTo>
                  <a:pt x="8" y="126"/>
                </a:lnTo>
                <a:lnTo>
                  <a:pt x="7" y="112"/>
                </a:lnTo>
                <a:lnTo>
                  <a:pt x="5" y="99"/>
                </a:lnTo>
                <a:lnTo>
                  <a:pt x="7" y="86"/>
                </a:lnTo>
                <a:lnTo>
                  <a:pt x="8" y="73"/>
                </a:lnTo>
                <a:lnTo>
                  <a:pt x="10" y="59"/>
                </a:lnTo>
                <a:lnTo>
                  <a:pt x="13" y="46"/>
                </a:lnTo>
                <a:lnTo>
                  <a:pt x="18" y="33"/>
                </a:lnTo>
                <a:lnTo>
                  <a:pt x="23" y="21"/>
                </a:lnTo>
                <a:lnTo>
                  <a:pt x="30" y="10"/>
                </a:lnTo>
                <a:lnTo>
                  <a:pt x="36" y="0"/>
                </a:lnTo>
                <a:lnTo>
                  <a:pt x="31"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44" name="Freeform 1149">
            <a:extLst>
              <a:ext uri="{FF2B5EF4-FFF2-40B4-BE49-F238E27FC236}">
                <a16:creationId xmlns:a16="http://schemas.microsoft.com/office/drawing/2014/main" id="{0CFC98ED-3917-B74F-017D-33EE83CF812A}"/>
              </a:ext>
            </a:extLst>
          </p:cNvPr>
          <p:cNvSpPr>
            <a:spLocks noEditPoints="1"/>
          </p:cNvSpPr>
          <p:nvPr/>
        </p:nvSpPr>
        <p:spPr bwMode="auto">
          <a:xfrm>
            <a:off x="2633663" y="2403475"/>
            <a:ext cx="563563" cy="315913"/>
          </a:xfrm>
          <a:custGeom>
            <a:avLst/>
            <a:gdLst>
              <a:gd name="T0" fmla="*/ 355 w 355"/>
              <a:gd name="T1" fmla="*/ 86 h 199"/>
              <a:gd name="T2" fmla="*/ 350 w 355"/>
              <a:gd name="T3" fmla="*/ 59 h 199"/>
              <a:gd name="T4" fmla="*/ 341 w 355"/>
              <a:gd name="T5" fmla="*/ 35 h 199"/>
              <a:gd name="T6" fmla="*/ 331 w 355"/>
              <a:gd name="T7" fmla="*/ 10 h 199"/>
              <a:gd name="T8" fmla="*/ 318 w 355"/>
              <a:gd name="T9" fmla="*/ 0 h 199"/>
              <a:gd name="T10" fmla="*/ 331 w 355"/>
              <a:gd name="T11" fmla="*/ 21 h 199"/>
              <a:gd name="T12" fmla="*/ 341 w 355"/>
              <a:gd name="T13" fmla="*/ 46 h 199"/>
              <a:gd name="T14" fmla="*/ 348 w 355"/>
              <a:gd name="T15" fmla="*/ 71 h 199"/>
              <a:gd name="T16" fmla="*/ 350 w 355"/>
              <a:gd name="T17" fmla="*/ 99 h 199"/>
              <a:gd name="T18" fmla="*/ 348 w 355"/>
              <a:gd name="T19" fmla="*/ 126 h 199"/>
              <a:gd name="T20" fmla="*/ 341 w 355"/>
              <a:gd name="T21" fmla="*/ 152 h 199"/>
              <a:gd name="T22" fmla="*/ 331 w 355"/>
              <a:gd name="T23" fmla="*/ 177 h 199"/>
              <a:gd name="T24" fmla="*/ 318 w 355"/>
              <a:gd name="T25" fmla="*/ 199 h 199"/>
              <a:gd name="T26" fmla="*/ 331 w 355"/>
              <a:gd name="T27" fmla="*/ 187 h 199"/>
              <a:gd name="T28" fmla="*/ 341 w 355"/>
              <a:gd name="T29" fmla="*/ 164 h 199"/>
              <a:gd name="T30" fmla="*/ 350 w 355"/>
              <a:gd name="T31" fmla="*/ 139 h 199"/>
              <a:gd name="T32" fmla="*/ 355 w 355"/>
              <a:gd name="T33" fmla="*/ 112 h 199"/>
              <a:gd name="T34" fmla="*/ 30 w 355"/>
              <a:gd name="T35" fmla="*/ 0 h 199"/>
              <a:gd name="T36" fmla="*/ 17 w 355"/>
              <a:gd name="T37" fmla="*/ 21 h 199"/>
              <a:gd name="T38" fmla="*/ 8 w 355"/>
              <a:gd name="T39" fmla="*/ 46 h 199"/>
              <a:gd name="T40" fmla="*/ 2 w 355"/>
              <a:gd name="T41" fmla="*/ 73 h 199"/>
              <a:gd name="T42" fmla="*/ 0 w 355"/>
              <a:gd name="T43" fmla="*/ 99 h 199"/>
              <a:gd name="T44" fmla="*/ 2 w 355"/>
              <a:gd name="T45" fmla="*/ 126 h 199"/>
              <a:gd name="T46" fmla="*/ 8 w 355"/>
              <a:gd name="T47" fmla="*/ 152 h 199"/>
              <a:gd name="T48" fmla="*/ 17 w 355"/>
              <a:gd name="T49" fmla="*/ 175 h 199"/>
              <a:gd name="T50" fmla="*/ 30 w 355"/>
              <a:gd name="T51" fmla="*/ 199 h 199"/>
              <a:gd name="T52" fmla="*/ 30 w 355"/>
              <a:gd name="T53" fmla="*/ 187 h 199"/>
              <a:gd name="T54" fmla="*/ 17 w 355"/>
              <a:gd name="T55" fmla="*/ 164 h 199"/>
              <a:gd name="T56" fmla="*/ 10 w 355"/>
              <a:gd name="T57" fmla="*/ 139 h 199"/>
              <a:gd name="T58" fmla="*/ 5 w 355"/>
              <a:gd name="T59" fmla="*/ 112 h 199"/>
              <a:gd name="T60" fmla="*/ 5 w 355"/>
              <a:gd name="T61" fmla="*/ 86 h 199"/>
              <a:gd name="T62" fmla="*/ 10 w 355"/>
              <a:gd name="T63" fmla="*/ 59 h 199"/>
              <a:gd name="T64" fmla="*/ 17 w 355"/>
              <a:gd name="T65" fmla="*/ 33 h 199"/>
              <a:gd name="T66" fmla="*/ 30 w 355"/>
              <a:gd name="T67" fmla="*/ 10 h 199"/>
              <a:gd name="T68" fmla="*/ 30 w 35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5" h="199">
                <a:moveTo>
                  <a:pt x="355" y="99"/>
                </a:moveTo>
                <a:lnTo>
                  <a:pt x="355" y="86"/>
                </a:lnTo>
                <a:lnTo>
                  <a:pt x="353" y="73"/>
                </a:lnTo>
                <a:lnTo>
                  <a:pt x="350" y="59"/>
                </a:lnTo>
                <a:lnTo>
                  <a:pt x="346" y="46"/>
                </a:lnTo>
                <a:lnTo>
                  <a:pt x="341" y="35"/>
                </a:lnTo>
                <a:lnTo>
                  <a:pt x="336" y="21"/>
                </a:lnTo>
                <a:lnTo>
                  <a:pt x="331" y="10"/>
                </a:lnTo>
                <a:lnTo>
                  <a:pt x="323" y="0"/>
                </a:lnTo>
                <a:lnTo>
                  <a:pt x="318" y="0"/>
                </a:lnTo>
                <a:lnTo>
                  <a:pt x="325" y="10"/>
                </a:lnTo>
                <a:lnTo>
                  <a:pt x="331" y="21"/>
                </a:lnTo>
                <a:lnTo>
                  <a:pt x="336" y="33"/>
                </a:lnTo>
                <a:lnTo>
                  <a:pt x="341" y="46"/>
                </a:lnTo>
                <a:lnTo>
                  <a:pt x="345" y="59"/>
                </a:lnTo>
                <a:lnTo>
                  <a:pt x="348" y="71"/>
                </a:lnTo>
                <a:lnTo>
                  <a:pt x="350" y="86"/>
                </a:lnTo>
                <a:lnTo>
                  <a:pt x="350" y="99"/>
                </a:lnTo>
                <a:lnTo>
                  <a:pt x="350" y="112"/>
                </a:lnTo>
                <a:lnTo>
                  <a:pt x="348" y="126"/>
                </a:lnTo>
                <a:lnTo>
                  <a:pt x="345" y="139"/>
                </a:lnTo>
                <a:lnTo>
                  <a:pt x="341" y="152"/>
                </a:lnTo>
                <a:lnTo>
                  <a:pt x="336" y="164"/>
                </a:lnTo>
                <a:lnTo>
                  <a:pt x="331" y="177"/>
                </a:lnTo>
                <a:lnTo>
                  <a:pt x="325" y="187"/>
                </a:lnTo>
                <a:lnTo>
                  <a:pt x="318" y="199"/>
                </a:lnTo>
                <a:lnTo>
                  <a:pt x="323" y="199"/>
                </a:lnTo>
                <a:lnTo>
                  <a:pt x="331" y="187"/>
                </a:lnTo>
                <a:lnTo>
                  <a:pt x="336" y="175"/>
                </a:lnTo>
                <a:lnTo>
                  <a:pt x="341" y="164"/>
                </a:lnTo>
                <a:lnTo>
                  <a:pt x="346" y="152"/>
                </a:lnTo>
                <a:lnTo>
                  <a:pt x="350" y="139"/>
                </a:lnTo>
                <a:lnTo>
                  <a:pt x="353" y="126"/>
                </a:lnTo>
                <a:lnTo>
                  <a:pt x="355" y="112"/>
                </a:lnTo>
                <a:lnTo>
                  <a:pt x="355" y="99"/>
                </a:lnTo>
                <a:close/>
                <a:moveTo>
                  <a:pt x="30" y="0"/>
                </a:moveTo>
                <a:lnTo>
                  <a:pt x="23" y="10"/>
                </a:lnTo>
                <a:lnTo>
                  <a:pt x="17" y="21"/>
                </a:lnTo>
                <a:lnTo>
                  <a:pt x="12" y="35"/>
                </a:lnTo>
                <a:lnTo>
                  <a:pt x="8" y="46"/>
                </a:lnTo>
                <a:lnTo>
                  <a:pt x="5" y="59"/>
                </a:lnTo>
                <a:lnTo>
                  <a:pt x="2" y="73"/>
                </a:lnTo>
                <a:lnTo>
                  <a:pt x="0" y="86"/>
                </a:lnTo>
                <a:lnTo>
                  <a:pt x="0" y="99"/>
                </a:lnTo>
                <a:lnTo>
                  <a:pt x="0" y="112"/>
                </a:lnTo>
                <a:lnTo>
                  <a:pt x="2" y="126"/>
                </a:lnTo>
                <a:lnTo>
                  <a:pt x="5" y="139"/>
                </a:lnTo>
                <a:lnTo>
                  <a:pt x="8" y="152"/>
                </a:lnTo>
                <a:lnTo>
                  <a:pt x="12" y="164"/>
                </a:lnTo>
                <a:lnTo>
                  <a:pt x="17" y="175"/>
                </a:lnTo>
                <a:lnTo>
                  <a:pt x="23" y="187"/>
                </a:lnTo>
                <a:lnTo>
                  <a:pt x="30" y="199"/>
                </a:lnTo>
                <a:lnTo>
                  <a:pt x="37" y="199"/>
                </a:lnTo>
                <a:lnTo>
                  <a:pt x="30" y="187"/>
                </a:lnTo>
                <a:lnTo>
                  <a:pt x="23" y="177"/>
                </a:lnTo>
                <a:lnTo>
                  <a:pt x="17" y="164"/>
                </a:lnTo>
                <a:lnTo>
                  <a:pt x="13" y="152"/>
                </a:lnTo>
                <a:lnTo>
                  <a:pt x="10" y="139"/>
                </a:lnTo>
                <a:lnTo>
                  <a:pt x="7" y="126"/>
                </a:lnTo>
                <a:lnTo>
                  <a:pt x="5" y="112"/>
                </a:lnTo>
                <a:lnTo>
                  <a:pt x="5" y="99"/>
                </a:lnTo>
                <a:lnTo>
                  <a:pt x="5" y="86"/>
                </a:lnTo>
                <a:lnTo>
                  <a:pt x="7" y="71"/>
                </a:lnTo>
                <a:lnTo>
                  <a:pt x="10" y="59"/>
                </a:lnTo>
                <a:lnTo>
                  <a:pt x="13" y="46"/>
                </a:lnTo>
                <a:lnTo>
                  <a:pt x="17" y="33"/>
                </a:lnTo>
                <a:lnTo>
                  <a:pt x="23" y="21"/>
                </a:lnTo>
                <a:lnTo>
                  <a:pt x="30" y="10"/>
                </a:lnTo>
                <a:lnTo>
                  <a:pt x="37" y="0"/>
                </a:lnTo>
                <a:lnTo>
                  <a:pt x="30"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45" name="Freeform 1150">
            <a:extLst>
              <a:ext uri="{FF2B5EF4-FFF2-40B4-BE49-F238E27FC236}">
                <a16:creationId xmlns:a16="http://schemas.microsoft.com/office/drawing/2014/main" id="{B835FBD4-D6AF-B1CB-2456-A3B86DC451AF}"/>
              </a:ext>
            </a:extLst>
          </p:cNvPr>
          <p:cNvSpPr>
            <a:spLocks noEditPoints="1"/>
          </p:cNvSpPr>
          <p:nvPr/>
        </p:nvSpPr>
        <p:spPr bwMode="auto">
          <a:xfrm>
            <a:off x="2636838" y="2403475"/>
            <a:ext cx="554038" cy="315913"/>
          </a:xfrm>
          <a:custGeom>
            <a:avLst/>
            <a:gdLst>
              <a:gd name="T0" fmla="*/ 349 w 349"/>
              <a:gd name="T1" fmla="*/ 86 h 199"/>
              <a:gd name="T2" fmla="*/ 346 w 349"/>
              <a:gd name="T3" fmla="*/ 59 h 199"/>
              <a:gd name="T4" fmla="*/ 338 w 349"/>
              <a:gd name="T5" fmla="*/ 33 h 199"/>
              <a:gd name="T6" fmla="*/ 326 w 349"/>
              <a:gd name="T7" fmla="*/ 10 h 199"/>
              <a:gd name="T8" fmla="*/ 313 w 349"/>
              <a:gd name="T9" fmla="*/ 0 h 199"/>
              <a:gd name="T10" fmla="*/ 326 w 349"/>
              <a:gd name="T11" fmla="*/ 21 h 199"/>
              <a:gd name="T12" fmla="*/ 336 w 349"/>
              <a:gd name="T13" fmla="*/ 46 h 199"/>
              <a:gd name="T14" fmla="*/ 343 w 349"/>
              <a:gd name="T15" fmla="*/ 71 h 199"/>
              <a:gd name="T16" fmla="*/ 346 w 349"/>
              <a:gd name="T17" fmla="*/ 99 h 199"/>
              <a:gd name="T18" fmla="*/ 343 w 349"/>
              <a:gd name="T19" fmla="*/ 126 h 199"/>
              <a:gd name="T20" fmla="*/ 336 w 349"/>
              <a:gd name="T21" fmla="*/ 152 h 199"/>
              <a:gd name="T22" fmla="*/ 326 w 349"/>
              <a:gd name="T23" fmla="*/ 177 h 199"/>
              <a:gd name="T24" fmla="*/ 313 w 349"/>
              <a:gd name="T25" fmla="*/ 199 h 199"/>
              <a:gd name="T26" fmla="*/ 326 w 349"/>
              <a:gd name="T27" fmla="*/ 187 h 199"/>
              <a:gd name="T28" fmla="*/ 338 w 349"/>
              <a:gd name="T29" fmla="*/ 164 h 199"/>
              <a:gd name="T30" fmla="*/ 346 w 349"/>
              <a:gd name="T31" fmla="*/ 139 h 199"/>
              <a:gd name="T32" fmla="*/ 349 w 349"/>
              <a:gd name="T33" fmla="*/ 112 h 199"/>
              <a:gd name="T34" fmla="*/ 31 w 349"/>
              <a:gd name="T35" fmla="*/ 0 h 199"/>
              <a:gd name="T36" fmla="*/ 18 w 349"/>
              <a:gd name="T37" fmla="*/ 21 h 199"/>
              <a:gd name="T38" fmla="*/ 8 w 349"/>
              <a:gd name="T39" fmla="*/ 46 h 199"/>
              <a:gd name="T40" fmla="*/ 3 w 349"/>
              <a:gd name="T41" fmla="*/ 73 h 199"/>
              <a:gd name="T42" fmla="*/ 0 w 349"/>
              <a:gd name="T43" fmla="*/ 99 h 199"/>
              <a:gd name="T44" fmla="*/ 3 w 349"/>
              <a:gd name="T45" fmla="*/ 126 h 199"/>
              <a:gd name="T46" fmla="*/ 8 w 349"/>
              <a:gd name="T47" fmla="*/ 152 h 199"/>
              <a:gd name="T48" fmla="*/ 18 w 349"/>
              <a:gd name="T49" fmla="*/ 175 h 199"/>
              <a:gd name="T50" fmla="*/ 31 w 349"/>
              <a:gd name="T51" fmla="*/ 199 h 199"/>
              <a:gd name="T52" fmla="*/ 30 w 349"/>
              <a:gd name="T53" fmla="*/ 187 h 199"/>
              <a:gd name="T54" fmla="*/ 18 w 349"/>
              <a:gd name="T55" fmla="*/ 164 h 199"/>
              <a:gd name="T56" fmla="*/ 10 w 349"/>
              <a:gd name="T57" fmla="*/ 139 h 199"/>
              <a:gd name="T58" fmla="*/ 6 w 349"/>
              <a:gd name="T59" fmla="*/ 112 h 199"/>
              <a:gd name="T60" fmla="*/ 6 w 349"/>
              <a:gd name="T61" fmla="*/ 86 h 199"/>
              <a:gd name="T62" fmla="*/ 10 w 349"/>
              <a:gd name="T63" fmla="*/ 59 h 199"/>
              <a:gd name="T64" fmla="*/ 18 w 349"/>
              <a:gd name="T65" fmla="*/ 33 h 199"/>
              <a:gd name="T66" fmla="*/ 30 w 349"/>
              <a:gd name="T67" fmla="*/ 10 h 199"/>
              <a:gd name="T68" fmla="*/ 31 w 34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9" h="199">
                <a:moveTo>
                  <a:pt x="349" y="99"/>
                </a:moveTo>
                <a:lnTo>
                  <a:pt x="349" y="86"/>
                </a:lnTo>
                <a:lnTo>
                  <a:pt x="348" y="73"/>
                </a:lnTo>
                <a:lnTo>
                  <a:pt x="346" y="59"/>
                </a:lnTo>
                <a:lnTo>
                  <a:pt x="341" y="46"/>
                </a:lnTo>
                <a:lnTo>
                  <a:pt x="338" y="33"/>
                </a:lnTo>
                <a:lnTo>
                  <a:pt x="333" y="21"/>
                </a:lnTo>
                <a:lnTo>
                  <a:pt x="326" y="10"/>
                </a:lnTo>
                <a:lnTo>
                  <a:pt x="319" y="0"/>
                </a:lnTo>
                <a:lnTo>
                  <a:pt x="313" y="0"/>
                </a:lnTo>
                <a:lnTo>
                  <a:pt x="319" y="10"/>
                </a:lnTo>
                <a:lnTo>
                  <a:pt x="326" y="21"/>
                </a:lnTo>
                <a:lnTo>
                  <a:pt x="333" y="33"/>
                </a:lnTo>
                <a:lnTo>
                  <a:pt x="336" y="46"/>
                </a:lnTo>
                <a:lnTo>
                  <a:pt x="341" y="59"/>
                </a:lnTo>
                <a:lnTo>
                  <a:pt x="343" y="71"/>
                </a:lnTo>
                <a:lnTo>
                  <a:pt x="344" y="86"/>
                </a:lnTo>
                <a:lnTo>
                  <a:pt x="346" y="99"/>
                </a:lnTo>
                <a:lnTo>
                  <a:pt x="344" y="112"/>
                </a:lnTo>
                <a:lnTo>
                  <a:pt x="343" y="126"/>
                </a:lnTo>
                <a:lnTo>
                  <a:pt x="341" y="139"/>
                </a:lnTo>
                <a:lnTo>
                  <a:pt x="336" y="152"/>
                </a:lnTo>
                <a:lnTo>
                  <a:pt x="333" y="164"/>
                </a:lnTo>
                <a:lnTo>
                  <a:pt x="326" y="177"/>
                </a:lnTo>
                <a:lnTo>
                  <a:pt x="319" y="187"/>
                </a:lnTo>
                <a:lnTo>
                  <a:pt x="313" y="199"/>
                </a:lnTo>
                <a:lnTo>
                  <a:pt x="319" y="199"/>
                </a:lnTo>
                <a:lnTo>
                  <a:pt x="326" y="187"/>
                </a:lnTo>
                <a:lnTo>
                  <a:pt x="333" y="175"/>
                </a:lnTo>
                <a:lnTo>
                  <a:pt x="338" y="164"/>
                </a:lnTo>
                <a:lnTo>
                  <a:pt x="341" y="152"/>
                </a:lnTo>
                <a:lnTo>
                  <a:pt x="346" y="139"/>
                </a:lnTo>
                <a:lnTo>
                  <a:pt x="348" y="126"/>
                </a:lnTo>
                <a:lnTo>
                  <a:pt x="349" y="112"/>
                </a:lnTo>
                <a:lnTo>
                  <a:pt x="349" y="99"/>
                </a:lnTo>
                <a:close/>
                <a:moveTo>
                  <a:pt x="31" y="0"/>
                </a:moveTo>
                <a:lnTo>
                  <a:pt x="25" y="10"/>
                </a:lnTo>
                <a:lnTo>
                  <a:pt x="18" y="21"/>
                </a:lnTo>
                <a:lnTo>
                  <a:pt x="13" y="33"/>
                </a:lnTo>
                <a:lnTo>
                  <a:pt x="8" y="46"/>
                </a:lnTo>
                <a:lnTo>
                  <a:pt x="5" y="59"/>
                </a:lnTo>
                <a:lnTo>
                  <a:pt x="3" y="73"/>
                </a:lnTo>
                <a:lnTo>
                  <a:pt x="2" y="86"/>
                </a:lnTo>
                <a:lnTo>
                  <a:pt x="0" y="99"/>
                </a:lnTo>
                <a:lnTo>
                  <a:pt x="2" y="112"/>
                </a:lnTo>
                <a:lnTo>
                  <a:pt x="3" y="126"/>
                </a:lnTo>
                <a:lnTo>
                  <a:pt x="5" y="139"/>
                </a:lnTo>
                <a:lnTo>
                  <a:pt x="8" y="152"/>
                </a:lnTo>
                <a:lnTo>
                  <a:pt x="13" y="164"/>
                </a:lnTo>
                <a:lnTo>
                  <a:pt x="18" y="175"/>
                </a:lnTo>
                <a:lnTo>
                  <a:pt x="25" y="187"/>
                </a:lnTo>
                <a:lnTo>
                  <a:pt x="31" y="199"/>
                </a:lnTo>
                <a:lnTo>
                  <a:pt x="38" y="199"/>
                </a:lnTo>
                <a:lnTo>
                  <a:pt x="30" y="187"/>
                </a:lnTo>
                <a:lnTo>
                  <a:pt x="23" y="177"/>
                </a:lnTo>
                <a:lnTo>
                  <a:pt x="18" y="164"/>
                </a:lnTo>
                <a:lnTo>
                  <a:pt x="13" y="152"/>
                </a:lnTo>
                <a:lnTo>
                  <a:pt x="10" y="139"/>
                </a:lnTo>
                <a:lnTo>
                  <a:pt x="6" y="126"/>
                </a:lnTo>
                <a:lnTo>
                  <a:pt x="6" y="112"/>
                </a:lnTo>
                <a:lnTo>
                  <a:pt x="5" y="99"/>
                </a:lnTo>
                <a:lnTo>
                  <a:pt x="6" y="86"/>
                </a:lnTo>
                <a:lnTo>
                  <a:pt x="6" y="71"/>
                </a:lnTo>
                <a:lnTo>
                  <a:pt x="10" y="59"/>
                </a:lnTo>
                <a:lnTo>
                  <a:pt x="13" y="46"/>
                </a:lnTo>
                <a:lnTo>
                  <a:pt x="18" y="33"/>
                </a:lnTo>
                <a:lnTo>
                  <a:pt x="23" y="21"/>
                </a:lnTo>
                <a:lnTo>
                  <a:pt x="30" y="10"/>
                </a:lnTo>
                <a:lnTo>
                  <a:pt x="38" y="0"/>
                </a:lnTo>
                <a:lnTo>
                  <a:pt x="31"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46" name="Freeform 1151">
            <a:extLst>
              <a:ext uri="{FF2B5EF4-FFF2-40B4-BE49-F238E27FC236}">
                <a16:creationId xmlns:a16="http://schemas.microsoft.com/office/drawing/2014/main" id="{E5415F76-43E4-9340-82F1-9425E8E93148}"/>
              </a:ext>
            </a:extLst>
          </p:cNvPr>
          <p:cNvSpPr>
            <a:spLocks noEditPoints="1"/>
          </p:cNvSpPr>
          <p:nvPr/>
        </p:nvSpPr>
        <p:spPr bwMode="auto">
          <a:xfrm>
            <a:off x="2641600" y="2403475"/>
            <a:ext cx="547688" cy="315913"/>
          </a:xfrm>
          <a:custGeom>
            <a:avLst/>
            <a:gdLst>
              <a:gd name="T0" fmla="*/ 345 w 345"/>
              <a:gd name="T1" fmla="*/ 86 h 199"/>
              <a:gd name="T2" fmla="*/ 340 w 345"/>
              <a:gd name="T3" fmla="*/ 59 h 199"/>
              <a:gd name="T4" fmla="*/ 331 w 345"/>
              <a:gd name="T5" fmla="*/ 33 h 199"/>
              <a:gd name="T6" fmla="*/ 320 w 345"/>
              <a:gd name="T7" fmla="*/ 10 h 199"/>
              <a:gd name="T8" fmla="*/ 307 w 345"/>
              <a:gd name="T9" fmla="*/ 0 h 199"/>
              <a:gd name="T10" fmla="*/ 321 w 345"/>
              <a:gd name="T11" fmla="*/ 21 h 199"/>
              <a:gd name="T12" fmla="*/ 331 w 345"/>
              <a:gd name="T13" fmla="*/ 46 h 199"/>
              <a:gd name="T14" fmla="*/ 338 w 345"/>
              <a:gd name="T15" fmla="*/ 71 h 199"/>
              <a:gd name="T16" fmla="*/ 340 w 345"/>
              <a:gd name="T17" fmla="*/ 99 h 199"/>
              <a:gd name="T18" fmla="*/ 338 w 345"/>
              <a:gd name="T19" fmla="*/ 126 h 199"/>
              <a:gd name="T20" fmla="*/ 331 w 345"/>
              <a:gd name="T21" fmla="*/ 152 h 199"/>
              <a:gd name="T22" fmla="*/ 321 w 345"/>
              <a:gd name="T23" fmla="*/ 177 h 199"/>
              <a:gd name="T24" fmla="*/ 307 w 345"/>
              <a:gd name="T25" fmla="*/ 199 h 199"/>
              <a:gd name="T26" fmla="*/ 320 w 345"/>
              <a:gd name="T27" fmla="*/ 187 h 199"/>
              <a:gd name="T28" fmla="*/ 331 w 345"/>
              <a:gd name="T29" fmla="*/ 164 h 199"/>
              <a:gd name="T30" fmla="*/ 340 w 345"/>
              <a:gd name="T31" fmla="*/ 139 h 199"/>
              <a:gd name="T32" fmla="*/ 345 w 345"/>
              <a:gd name="T33" fmla="*/ 112 h 199"/>
              <a:gd name="T34" fmla="*/ 32 w 345"/>
              <a:gd name="T35" fmla="*/ 0 h 199"/>
              <a:gd name="T36" fmla="*/ 18 w 345"/>
              <a:gd name="T37" fmla="*/ 21 h 199"/>
              <a:gd name="T38" fmla="*/ 8 w 345"/>
              <a:gd name="T39" fmla="*/ 46 h 199"/>
              <a:gd name="T40" fmla="*/ 2 w 345"/>
              <a:gd name="T41" fmla="*/ 71 h 199"/>
              <a:gd name="T42" fmla="*/ 0 w 345"/>
              <a:gd name="T43" fmla="*/ 99 h 199"/>
              <a:gd name="T44" fmla="*/ 2 w 345"/>
              <a:gd name="T45" fmla="*/ 126 h 199"/>
              <a:gd name="T46" fmla="*/ 8 w 345"/>
              <a:gd name="T47" fmla="*/ 152 h 199"/>
              <a:gd name="T48" fmla="*/ 18 w 345"/>
              <a:gd name="T49" fmla="*/ 177 h 199"/>
              <a:gd name="T50" fmla="*/ 32 w 345"/>
              <a:gd name="T51" fmla="*/ 199 h 199"/>
              <a:gd name="T52" fmla="*/ 30 w 345"/>
              <a:gd name="T53" fmla="*/ 187 h 199"/>
              <a:gd name="T54" fmla="*/ 18 w 345"/>
              <a:gd name="T55" fmla="*/ 164 h 199"/>
              <a:gd name="T56" fmla="*/ 10 w 345"/>
              <a:gd name="T57" fmla="*/ 139 h 199"/>
              <a:gd name="T58" fmla="*/ 5 w 345"/>
              <a:gd name="T59" fmla="*/ 112 h 199"/>
              <a:gd name="T60" fmla="*/ 5 w 345"/>
              <a:gd name="T61" fmla="*/ 86 h 199"/>
              <a:gd name="T62" fmla="*/ 10 w 345"/>
              <a:gd name="T63" fmla="*/ 58 h 199"/>
              <a:gd name="T64" fmla="*/ 18 w 345"/>
              <a:gd name="T65" fmla="*/ 33 h 199"/>
              <a:gd name="T66" fmla="*/ 30 w 345"/>
              <a:gd name="T67" fmla="*/ 10 h 199"/>
              <a:gd name="T68" fmla="*/ 32 w 34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5" h="199">
                <a:moveTo>
                  <a:pt x="345" y="99"/>
                </a:moveTo>
                <a:lnTo>
                  <a:pt x="345" y="86"/>
                </a:lnTo>
                <a:lnTo>
                  <a:pt x="343" y="71"/>
                </a:lnTo>
                <a:lnTo>
                  <a:pt x="340" y="59"/>
                </a:lnTo>
                <a:lnTo>
                  <a:pt x="336" y="46"/>
                </a:lnTo>
                <a:lnTo>
                  <a:pt x="331" y="33"/>
                </a:lnTo>
                <a:lnTo>
                  <a:pt x="326" y="21"/>
                </a:lnTo>
                <a:lnTo>
                  <a:pt x="320" y="10"/>
                </a:lnTo>
                <a:lnTo>
                  <a:pt x="313" y="0"/>
                </a:lnTo>
                <a:lnTo>
                  <a:pt x="307" y="0"/>
                </a:lnTo>
                <a:lnTo>
                  <a:pt x="315" y="10"/>
                </a:lnTo>
                <a:lnTo>
                  <a:pt x="321" y="21"/>
                </a:lnTo>
                <a:lnTo>
                  <a:pt x="326" y="33"/>
                </a:lnTo>
                <a:lnTo>
                  <a:pt x="331" y="46"/>
                </a:lnTo>
                <a:lnTo>
                  <a:pt x="335" y="58"/>
                </a:lnTo>
                <a:lnTo>
                  <a:pt x="338" y="71"/>
                </a:lnTo>
                <a:lnTo>
                  <a:pt x="340" y="86"/>
                </a:lnTo>
                <a:lnTo>
                  <a:pt x="340" y="99"/>
                </a:lnTo>
                <a:lnTo>
                  <a:pt x="340" y="112"/>
                </a:lnTo>
                <a:lnTo>
                  <a:pt x="338" y="126"/>
                </a:lnTo>
                <a:lnTo>
                  <a:pt x="335" y="139"/>
                </a:lnTo>
                <a:lnTo>
                  <a:pt x="331" y="152"/>
                </a:lnTo>
                <a:lnTo>
                  <a:pt x="326" y="164"/>
                </a:lnTo>
                <a:lnTo>
                  <a:pt x="321" y="177"/>
                </a:lnTo>
                <a:lnTo>
                  <a:pt x="315" y="187"/>
                </a:lnTo>
                <a:lnTo>
                  <a:pt x="307" y="199"/>
                </a:lnTo>
                <a:lnTo>
                  <a:pt x="313" y="199"/>
                </a:lnTo>
                <a:lnTo>
                  <a:pt x="320" y="187"/>
                </a:lnTo>
                <a:lnTo>
                  <a:pt x="326" y="177"/>
                </a:lnTo>
                <a:lnTo>
                  <a:pt x="331" y="164"/>
                </a:lnTo>
                <a:lnTo>
                  <a:pt x="336" y="152"/>
                </a:lnTo>
                <a:lnTo>
                  <a:pt x="340" y="139"/>
                </a:lnTo>
                <a:lnTo>
                  <a:pt x="343" y="126"/>
                </a:lnTo>
                <a:lnTo>
                  <a:pt x="345" y="112"/>
                </a:lnTo>
                <a:lnTo>
                  <a:pt x="345" y="99"/>
                </a:lnTo>
                <a:close/>
                <a:moveTo>
                  <a:pt x="32" y="0"/>
                </a:moveTo>
                <a:lnTo>
                  <a:pt x="25" y="10"/>
                </a:lnTo>
                <a:lnTo>
                  <a:pt x="18" y="21"/>
                </a:lnTo>
                <a:lnTo>
                  <a:pt x="12" y="33"/>
                </a:lnTo>
                <a:lnTo>
                  <a:pt x="8" y="46"/>
                </a:lnTo>
                <a:lnTo>
                  <a:pt x="5" y="59"/>
                </a:lnTo>
                <a:lnTo>
                  <a:pt x="2" y="71"/>
                </a:lnTo>
                <a:lnTo>
                  <a:pt x="0" y="86"/>
                </a:lnTo>
                <a:lnTo>
                  <a:pt x="0" y="99"/>
                </a:lnTo>
                <a:lnTo>
                  <a:pt x="0" y="112"/>
                </a:lnTo>
                <a:lnTo>
                  <a:pt x="2" y="126"/>
                </a:lnTo>
                <a:lnTo>
                  <a:pt x="5" y="139"/>
                </a:lnTo>
                <a:lnTo>
                  <a:pt x="8" y="152"/>
                </a:lnTo>
                <a:lnTo>
                  <a:pt x="12" y="164"/>
                </a:lnTo>
                <a:lnTo>
                  <a:pt x="18" y="177"/>
                </a:lnTo>
                <a:lnTo>
                  <a:pt x="25" y="187"/>
                </a:lnTo>
                <a:lnTo>
                  <a:pt x="32" y="199"/>
                </a:lnTo>
                <a:lnTo>
                  <a:pt x="37" y="199"/>
                </a:lnTo>
                <a:lnTo>
                  <a:pt x="30" y="187"/>
                </a:lnTo>
                <a:lnTo>
                  <a:pt x="23" y="177"/>
                </a:lnTo>
                <a:lnTo>
                  <a:pt x="18" y="164"/>
                </a:lnTo>
                <a:lnTo>
                  <a:pt x="13" y="152"/>
                </a:lnTo>
                <a:lnTo>
                  <a:pt x="10" y="139"/>
                </a:lnTo>
                <a:lnTo>
                  <a:pt x="7" y="126"/>
                </a:lnTo>
                <a:lnTo>
                  <a:pt x="5" y="112"/>
                </a:lnTo>
                <a:lnTo>
                  <a:pt x="5" y="99"/>
                </a:lnTo>
                <a:lnTo>
                  <a:pt x="5" y="86"/>
                </a:lnTo>
                <a:lnTo>
                  <a:pt x="7" y="71"/>
                </a:lnTo>
                <a:lnTo>
                  <a:pt x="10" y="58"/>
                </a:lnTo>
                <a:lnTo>
                  <a:pt x="13" y="46"/>
                </a:lnTo>
                <a:lnTo>
                  <a:pt x="18" y="33"/>
                </a:lnTo>
                <a:lnTo>
                  <a:pt x="23" y="21"/>
                </a:lnTo>
                <a:lnTo>
                  <a:pt x="30" y="10"/>
                </a:lnTo>
                <a:lnTo>
                  <a:pt x="37" y="0"/>
                </a:lnTo>
                <a:lnTo>
                  <a:pt x="32"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47" name="Freeform 1152">
            <a:extLst>
              <a:ext uri="{FF2B5EF4-FFF2-40B4-BE49-F238E27FC236}">
                <a16:creationId xmlns:a16="http://schemas.microsoft.com/office/drawing/2014/main" id="{CB14A801-84B8-ABC6-27D3-AA86D2DD0DCF}"/>
              </a:ext>
            </a:extLst>
          </p:cNvPr>
          <p:cNvSpPr>
            <a:spLocks noEditPoints="1"/>
          </p:cNvSpPr>
          <p:nvPr/>
        </p:nvSpPr>
        <p:spPr bwMode="auto">
          <a:xfrm>
            <a:off x="2644775" y="2403475"/>
            <a:ext cx="541338" cy="315913"/>
          </a:xfrm>
          <a:custGeom>
            <a:avLst/>
            <a:gdLst>
              <a:gd name="T0" fmla="*/ 339 w 341"/>
              <a:gd name="T1" fmla="*/ 86 h 199"/>
              <a:gd name="T2" fmla="*/ 336 w 341"/>
              <a:gd name="T3" fmla="*/ 59 h 199"/>
              <a:gd name="T4" fmla="*/ 328 w 341"/>
              <a:gd name="T5" fmla="*/ 33 h 199"/>
              <a:gd name="T6" fmla="*/ 314 w 341"/>
              <a:gd name="T7" fmla="*/ 10 h 199"/>
              <a:gd name="T8" fmla="*/ 303 w 341"/>
              <a:gd name="T9" fmla="*/ 0 h 199"/>
              <a:gd name="T10" fmla="*/ 316 w 341"/>
              <a:gd name="T11" fmla="*/ 21 h 199"/>
              <a:gd name="T12" fmla="*/ 326 w 341"/>
              <a:gd name="T13" fmla="*/ 46 h 199"/>
              <a:gd name="T14" fmla="*/ 333 w 341"/>
              <a:gd name="T15" fmla="*/ 71 h 199"/>
              <a:gd name="T16" fmla="*/ 336 w 341"/>
              <a:gd name="T17" fmla="*/ 99 h 199"/>
              <a:gd name="T18" fmla="*/ 333 w 341"/>
              <a:gd name="T19" fmla="*/ 126 h 199"/>
              <a:gd name="T20" fmla="*/ 326 w 341"/>
              <a:gd name="T21" fmla="*/ 152 h 199"/>
              <a:gd name="T22" fmla="*/ 316 w 341"/>
              <a:gd name="T23" fmla="*/ 177 h 199"/>
              <a:gd name="T24" fmla="*/ 303 w 341"/>
              <a:gd name="T25" fmla="*/ 199 h 199"/>
              <a:gd name="T26" fmla="*/ 314 w 341"/>
              <a:gd name="T27" fmla="*/ 187 h 199"/>
              <a:gd name="T28" fmla="*/ 328 w 341"/>
              <a:gd name="T29" fmla="*/ 164 h 199"/>
              <a:gd name="T30" fmla="*/ 336 w 341"/>
              <a:gd name="T31" fmla="*/ 139 h 199"/>
              <a:gd name="T32" fmla="*/ 339 w 341"/>
              <a:gd name="T33" fmla="*/ 112 h 199"/>
              <a:gd name="T34" fmla="*/ 33 w 341"/>
              <a:gd name="T35" fmla="*/ 0 h 199"/>
              <a:gd name="T36" fmla="*/ 18 w 341"/>
              <a:gd name="T37" fmla="*/ 21 h 199"/>
              <a:gd name="T38" fmla="*/ 8 w 341"/>
              <a:gd name="T39" fmla="*/ 46 h 199"/>
              <a:gd name="T40" fmla="*/ 1 w 341"/>
              <a:gd name="T41" fmla="*/ 71 h 199"/>
              <a:gd name="T42" fmla="*/ 0 w 341"/>
              <a:gd name="T43" fmla="*/ 99 h 199"/>
              <a:gd name="T44" fmla="*/ 1 w 341"/>
              <a:gd name="T45" fmla="*/ 126 h 199"/>
              <a:gd name="T46" fmla="*/ 8 w 341"/>
              <a:gd name="T47" fmla="*/ 152 h 199"/>
              <a:gd name="T48" fmla="*/ 18 w 341"/>
              <a:gd name="T49" fmla="*/ 177 h 199"/>
              <a:gd name="T50" fmla="*/ 33 w 341"/>
              <a:gd name="T51" fmla="*/ 199 h 199"/>
              <a:gd name="T52" fmla="*/ 31 w 341"/>
              <a:gd name="T53" fmla="*/ 187 h 199"/>
              <a:gd name="T54" fmla="*/ 18 w 341"/>
              <a:gd name="T55" fmla="*/ 165 h 199"/>
              <a:gd name="T56" fmla="*/ 10 w 341"/>
              <a:gd name="T57" fmla="*/ 139 h 199"/>
              <a:gd name="T58" fmla="*/ 5 w 341"/>
              <a:gd name="T59" fmla="*/ 112 h 199"/>
              <a:gd name="T60" fmla="*/ 5 w 341"/>
              <a:gd name="T61" fmla="*/ 86 h 199"/>
              <a:gd name="T62" fmla="*/ 10 w 341"/>
              <a:gd name="T63" fmla="*/ 58 h 199"/>
              <a:gd name="T64" fmla="*/ 18 w 341"/>
              <a:gd name="T65" fmla="*/ 33 h 199"/>
              <a:gd name="T66" fmla="*/ 31 w 341"/>
              <a:gd name="T67" fmla="*/ 10 h 199"/>
              <a:gd name="T68" fmla="*/ 33 w 34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1" h="199">
                <a:moveTo>
                  <a:pt x="341" y="99"/>
                </a:moveTo>
                <a:lnTo>
                  <a:pt x="339" y="86"/>
                </a:lnTo>
                <a:lnTo>
                  <a:pt x="338" y="71"/>
                </a:lnTo>
                <a:lnTo>
                  <a:pt x="336" y="59"/>
                </a:lnTo>
                <a:lnTo>
                  <a:pt x="331" y="46"/>
                </a:lnTo>
                <a:lnTo>
                  <a:pt x="328" y="33"/>
                </a:lnTo>
                <a:lnTo>
                  <a:pt x="321" y="21"/>
                </a:lnTo>
                <a:lnTo>
                  <a:pt x="314" y="10"/>
                </a:lnTo>
                <a:lnTo>
                  <a:pt x="308" y="0"/>
                </a:lnTo>
                <a:lnTo>
                  <a:pt x="303" y="0"/>
                </a:lnTo>
                <a:lnTo>
                  <a:pt x="310" y="10"/>
                </a:lnTo>
                <a:lnTo>
                  <a:pt x="316" y="21"/>
                </a:lnTo>
                <a:lnTo>
                  <a:pt x="321" y="33"/>
                </a:lnTo>
                <a:lnTo>
                  <a:pt x="326" y="46"/>
                </a:lnTo>
                <a:lnTo>
                  <a:pt x="331" y="58"/>
                </a:lnTo>
                <a:lnTo>
                  <a:pt x="333" y="71"/>
                </a:lnTo>
                <a:lnTo>
                  <a:pt x="334" y="86"/>
                </a:lnTo>
                <a:lnTo>
                  <a:pt x="336" y="99"/>
                </a:lnTo>
                <a:lnTo>
                  <a:pt x="334" y="112"/>
                </a:lnTo>
                <a:lnTo>
                  <a:pt x="333" y="126"/>
                </a:lnTo>
                <a:lnTo>
                  <a:pt x="331" y="139"/>
                </a:lnTo>
                <a:lnTo>
                  <a:pt x="326" y="152"/>
                </a:lnTo>
                <a:lnTo>
                  <a:pt x="321" y="165"/>
                </a:lnTo>
                <a:lnTo>
                  <a:pt x="316" y="177"/>
                </a:lnTo>
                <a:lnTo>
                  <a:pt x="310" y="187"/>
                </a:lnTo>
                <a:lnTo>
                  <a:pt x="303" y="199"/>
                </a:lnTo>
                <a:lnTo>
                  <a:pt x="308" y="199"/>
                </a:lnTo>
                <a:lnTo>
                  <a:pt x="314" y="187"/>
                </a:lnTo>
                <a:lnTo>
                  <a:pt x="321" y="177"/>
                </a:lnTo>
                <a:lnTo>
                  <a:pt x="328" y="164"/>
                </a:lnTo>
                <a:lnTo>
                  <a:pt x="331" y="152"/>
                </a:lnTo>
                <a:lnTo>
                  <a:pt x="336" y="139"/>
                </a:lnTo>
                <a:lnTo>
                  <a:pt x="338" y="126"/>
                </a:lnTo>
                <a:lnTo>
                  <a:pt x="339" y="112"/>
                </a:lnTo>
                <a:lnTo>
                  <a:pt x="341" y="99"/>
                </a:lnTo>
                <a:close/>
                <a:moveTo>
                  <a:pt x="33" y="0"/>
                </a:moveTo>
                <a:lnTo>
                  <a:pt x="25" y="10"/>
                </a:lnTo>
                <a:lnTo>
                  <a:pt x="18" y="21"/>
                </a:lnTo>
                <a:lnTo>
                  <a:pt x="13" y="33"/>
                </a:lnTo>
                <a:lnTo>
                  <a:pt x="8" y="46"/>
                </a:lnTo>
                <a:lnTo>
                  <a:pt x="5" y="59"/>
                </a:lnTo>
                <a:lnTo>
                  <a:pt x="1" y="71"/>
                </a:lnTo>
                <a:lnTo>
                  <a:pt x="1" y="86"/>
                </a:lnTo>
                <a:lnTo>
                  <a:pt x="0" y="99"/>
                </a:lnTo>
                <a:lnTo>
                  <a:pt x="1" y="112"/>
                </a:lnTo>
                <a:lnTo>
                  <a:pt x="1" y="126"/>
                </a:lnTo>
                <a:lnTo>
                  <a:pt x="5" y="139"/>
                </a:lnTo>
                <a:lnTo>
                  <a:pt x="8" y="152"/>
                </a:lnTo>
                <a:lnTo>
                  <a:pt x="13" y="164"/>
                </a:lnTo>
                <a:lnTo>
                  <a:pt x="18" y="177"/>
                </a:lnTo>
                <a:lnTo>
                  <a:pt x="25" y="187"/>
                </a:lnTo>
                <a:lnTo>
                  <a:pt x="33" y="199"/>
                </a:lnTo>
                <a:lnTo>
                  <a:pt x="38" y="199"/>
                </a:lnTo>
                <a:lnTo>
                  <a:pt x="31" y="187"/>
                </a:lnTo>
                <a:lnTo>
                  <a:pt x="25" y="177"/>
                </a:lnTo>
                <a:lnTo>
                  <a:pt x="18" y="165"/>
                </a:lnTo>
                <a:lnTo>
                  <a:pt x="13" y="152"/>
                </a:lnTo>
                <a:lnTo>
                  <a:pt x="10" y="139"/>
                </a:lnTo>
                <a:lnTo>
                  <a:pt x="6" y="126"/>
                </a:lnTo>
                <a:lnTo>
                  <a:pt x="5" y="112"/>
                </a:lnTo>
                <a:lnTo>
                  <a:pt x="5" y="99"/>
                </a:lnTo>
                <a:lnTo>
                  <a:pt x="5" y="86"/>
                </a:lnTo>
                <a:lnTo>
                  <a:pt x="6" y="71"/>
                </a:lnTo>
                <a:lnTo>
                  <a:pt x="10" y="58"/>
                </a:lnTo>
                <a:lnTo>
                  <a:pt x="13" y="46"/>
                </a:lnTo>
                <a:lnTo>
                  <a:pt x="18" y="33"/>
                </a:lnTo>
                <a:lnTo>
                  <a:pt x="25" y="21"/>
                </a:lnTo>
                <a:lnTo>
                  <a:pt x="31" y="10"/>
                </a:lnTo>
                <a:lnTo>
                  <a:pt x="38" y="0"/>
                </a:lnTo>
                <a:lnTo>
                  <a:pt x="3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48" name="Freeform 1153">
            <a:extLst>
              <a:ext uri="{FF2B5EF4-FFF2-40B4-BE49-F238E27FC236}">
                <a16:creationId xmlns:a16="http://schemas.microsoft.com/office/drawing/2014/main" id="{9E9E14F3-1068-A827-245F-062ECFFAD4B5}"/>
              </a:ext>
            </a:extLst>
          </p:cNvPr>
          <p:cNvSpPr>
            <a:spLocks noEditPoints="1"/>
          </p:cNvSpPr>
          <p:nvPr/>
        </p:nvSpPr>
        <p:spPr bwMode="auto">
          <a:xfrm>
            <a:off x="2649538" y="2403475"/>
            <a:ext cx="531813" cy="315913"/>
          </a:xfrm>
          <a:custGeom>
            <a:avLst/>
            <a:gdLst>
              <a:gd name="T0" fmla="*/ 335 w 335"/>
              <a:gd name="T1" fmla="*/ 86 h 199"/>
              <a:gd name="T2" fmla="*/ 330 w 335"/>
              <a:gd name="T3" fmla="*/ 58 h 199"/>
              <a:gd name="T4" fmla="*/ 321 w 335"/>
              <a:gd name="T5" fmla="*/ 33 h 199"/>
              <a:gd name="T6" fmla="*/ 310 w 335"/>
              <a:gd name="T7" fmla="*/ 10 h 199"/>
              <a:gd name="T8" fmla="*/ 297 w 335"/>
              <a:gd name="T9" fmla="*/ 0 h 199"/>
              <a:gd name="T10" fmla="*/ 310 w 335"/>
              <a:gd name="T11" fmla="*/ 21 h 199"/>
              <a:gd name="T12" fmla="*/ 321 w 335"/>
              <a:gd name="T13" fmla="*/ 46 h 199"/>
              <a:gd name="T14" fmla="*/ 328 w 335"/>
              <a:gd name="T15" fmla="*/ 71 h 199"/>
              <a:gd name="T16" fmla="*/ 330 w 335"/>
              <a:gd name="T17" fmla="*/ 99 h 199"/>
              <a:gd name="T18" fmla="*/ 328 w 335"/>
              <a:gd name="T19" fmla="*/ 126 h 199"/>
              <a:gd name="T20" fmla="*/ 321 w 335"/>
              <a:gd name="T21" fmla="*/ 152 h 199"/>
              <a:gd name="T22" fmla="*/ 310 w 335"/>
              <a:gd name="T23" fmla="*/ 177 h 199"/>
              <a:gd name="T24" fmla="*/ 297 w 335"/>
              <a:gd name="T25" fmla="*/ 199 h 199"/>
              <a:gd name="T26" fmla="*/ 310 w 335"/>
              <a:gd name="T27" fmla="*/ 187 h 199"/>
              <a:gd name="T28" fmla="*/ 321 w 335"/>
              <a:gd name="T29" fmla="*/ 164 h 199"/>
              <a:gd name="T30" fmla="*/ 330 w 335"/>
              <a:gd name="T31" fmla="*/ 139 h 199"/>
              <a:gd name="T32" fmla="*/ 335 w 335"/>
              <a:gd name="T33" fmla="*/ 112 h 199"/>
              <a:gd name="T34" fmla="*/ 32 w 335"/>
              <a:gd name="T35" fmla="*/ 0 h 199"/>
              <a:gd name="T36" fmla="*/ 18 w 335"/>
              <a:gd name="T37" fmla="*/ 21 h 199"/>
              <a:gd name="T38" fmla="*/ 8 w 335"/>
              <a:gd name="T39" fmla="*/ 46 h 199"/>
              <a:gd name="T40" fmla="*/ 2 w 335"/>
              <a:gd name="T41" fmla="*/ 71 h 199"/>
              <a:gd name="T42" fmla="*/ 0 w 335"/>
              <a:gd name="T43" fmla="*/ 99 h 199"/>
              <a:gd name="T44" fmla="*/ 2 w 335"/>
              <a:gd name="T45" fmla="*/ 126 h 199"/>
              <a:gd name="T46" fmla="*/ 8 w 335"/>
              <a:gd name="T47" fmla="*/ 152 h 199"/>
              <a:gd name="T48" fmla="*/ 18 w 335"/>
              <a:gd name="T49" fmla="*/ 177 h 199"/>
              <a:gd name="T50" fmla="*/ 32 w 335"/>
              <a:gd name="T51" fmla="*/ 199 h 199"/>
              <a:gd name="T52" fmla="*/ 30 w 335"/>
              <a:gd name="T53" fmla="*/ 187 h 199"/>
              <a:gd name="T54" fmla="*/ 18 w 335"/>
              <a:gd name="T55" fmla="*/ 165 h 199"/>
              <a:gd name="T56" fmla="*/ 10 w 335"/>
              <a:gd name="T57" fmla="*/ 139 h 199"/>
              <a:gd name="T58" fmla="*/ 5 w 335"/>
              <a:gd name="T59" fmla="*/ 112 h 199"/>
              <a:gd name="T60" fmla="*/ 5 w 335"/>
              <a:gd name="T61" fmla="*/ 86 h 199"/>
              <a:gd name="T62" fmla="*/ 10 w 335"/>
              <a:gd name="T63" fmla="*/ 58 h 199"/>
              <a:gd name="T64" fmla="*/ 18 w 335"/>
              <a:gd name="T65" fmla="*/ 33 h 199"/>
              <a:gd name="T66" fmla="*/ 30 w 335"/>
              <a:gd name="T67" fmla="*/ 10 h 199"/>
              <a:gd name="T68" fmla="*/ 32 w 33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5" h="199">
                <a:moveTo>
                  <a:pt x="335" y="99"/>
                </a:moveTo>
                <a:lnTo>
                  <a:pt x="335" y="86"/>
                </a:lnTo>
                <a:lnTo>
                  <a:pt x="333" y="71"/>
                </a:lnTo>
                <a:lnTo>
                  <a:pt x="330" y="58"/>
                </a:lnTo>
                <a:lnTo>
                  <a:pt x="326" y="46"/>
                </a:lnTo>
                <a:lnTo>
                  <a:pt x="321" y="33"/>
                </a:lnTo>
                <a:lnTo>
                  <a:pt x="316" y="21"/>
                </a:lnTo>
                <a:lnTo>
                  <a:pt x="310" y="10"/>
                </a:lnTo>
                <a:lnTo>
                  <a:pt x="302" y="0"/>
                </a:lnTo>
                <a:lnTo>
                  <a:pt x="297" y="0"/>
                </a:lnTo>
                <a:lnTo>
                  <a:pt x="303" y="10"/>
                </a:lnTo>
                <a:lnTo>
                  <a:pt x="310" y="21"/>
                </a:lnTo>
                <a:lnTo>
                  <a:pt x="316" y="33"/>
                </a:lnTo>
                <a:lnTo>
                  <a:pt x="321" y="46"/>
                </a:lnTo>
                <a:lnTo>
                  <a:pt x="325" y="58"/>
                </a:lnTo>
                <a:lnTo>
                  <a:pt x="328" y="71"/>
                </a:lnTo>
                <a:lnTo>
                  <a:pt x="330" y="86"/>
                </a:lnTo>
                <a:lnTo>
                  <a:pt x="330" y="99"/>
                </a:lnTo>
                <a:lnTo>
                  <a:pt x="330" y="112"/>
                </a:lnTo>
                <a:lnTo>
                  <a:pt x="328" y="126"/>
                </a:lnTo>
                <a:lnTo>
                  <a:pt x="325" y="139"/>
                </a:lnTo>
                <a:lnTo>
                  <a:pt x="321" y="152"/>
                </a:lnTo>
                <a:lnTo>
                  <a:pt x="316" y="165"/>
                </a:lnTo>
                <a:lnTo>
                  <a:pt x="310" y="177"/>
                </a:lnTo>
                <a:lnTo>
                  <a:pt x="303" y="187"/>
                </a:lnTo>
                <a:lnTo>
                  <a:pt x="297" y="199"/>
                </a:lnTo>
                <a:lnTo>
                  <a:pt x="302" y="199"/>
                </a:lnTo>
                <a:lnTo>
                  <a:pt x="310" y="187"/>
                </a:lnTo>
                <a:lnTo>
                  <a:pt x="316" y="177"/>
                </a:lnTo>
                <a:lnTo>
                  <a:pt x="321" y="164"/>
                </a:lnTo>
                <a:lnTo>
                  <a:pt x="326" y="152"/>
                </a:lnTo>
                <a:lnTo>
                  <a:pt x="330" y="139"/>
                </a:lnTo>
                <a:lnTo>
                  <a:pt x="333" y="126"/>
                </a:lnTo>
                <a:lnTo>
                  <a:pt x="335" y="112"/>
                </a:lnTo>
                <a:lnTo>
                  <a:pt x="335" y="99"/>
                </a:lnTo>
                <a:close/>
                <a:moveTo>
                  <a:pt x="32" y="0"/>
                </a:moveTo>
                <a:lnTo>
                  <a:pt x="25" y="10"/>
                </a:lnTo>
                <a:lnTo>
                  <a:pt x="18" y="21"/>
                </a:lnTo>
                <a:lnTo>
                  <a:pt x="13" y="33"/>
                </a:lnTo>
                <a:lnTo>
                  <a:pt x="8" y="46"/>
                </a:lnTo>
                <a:lnTo>
                  <a:pt x="5" y="58"/>
                </a:lnTo>
                <a:lnTo>
                  <a:pt x="2" y="71"/>
                </a:lnTo>
                <a:lnTo>
                  <a:pt x="0" y="86"/>
                </a:lnTo>
                <a:lnTo>
                  <a:pt x="0" y="99"/>
                </a:lnTo>
                <a:lnTo>
                  <a:pt x="0" y="112"/>
                </a:lnTo>
                <a:lnTo>
                  <a:pt x="2" y="126"/>
                </a:lnTo>
                <a:lnTo>
                  <a:pt x="5" y="139"/>
                </a:lnTo>
                <a:lnTo>
                  <a:pt x="8" y="152"/>
                </a:lnTo>
                <a:lnTo>
                  <a:pt x="13" y="164"/>
                </a:lnTo>
                <a:lnTo>
                  <a:pt x="18" y="177"/>
                </a:lnTo>
                <a:lnTo>
                  <a:pt x="25" y="187"/>
                </a:lnTo>
                <a:lnTo>
                  <a:pt x="32" y="199"/>
                </a:lnTo>
                <a:lnTo>
                  <a:pt x="38" y="199"/>
                </a:lnTo>
                <a:lnTo>
                  <a:pt x="30" y="187"/>
                </a:lnTo>
                <a:lnTo>
                  <a:pt x="23" y="177"/>
                </a:lnTo>
                <a:lnTo>
                  <a:pt x="18" y="165"/>
                </a:lnTo>
                <a:lnTo>
                  <a:pt x="13" y="152"/>
                </a:lnTo>
                <a:lnTo>
                  <a:pt x="10" y="139"/>
                </a:lnTo>
                <a:lnTo>
                  <a:pt x="7" y="126"/>
                </a:lnTo>
                <a:lnTo>
                  <a:pt x="5" y="112"/>
                </a:lnTo>
                <a:lnTo>
                  <a:pt x="5" y="99"/>
                </a:lnTo>
                <a:lnTo>
                  <a:pt x="5" y="86"/>
                </a:lnTo>
                <a:lnTo>
                  <a:pt x="7" y="71"/>
                </a:lnTo>
                <a:lnTo>
                  <a:pt x="10" y="58"/>
                </a:lnTo>
                <a:lnTo>
                  <a:pt x="13" y="46"/>
                </a:lnTo>
                <a:lnTo>
                  <a:pt x="18" y="33"/>
                </a:lnTo>
                <a:lnTo>
                  <a:pt x="23" y="21"/>
                </a:lnTo>
                <a:lnTo>
                  <a:pt x="30" y="10"/>
                </a:lnTo>
                <a:lnTo>
                  <a:pt x="38" y="0"/>
                </a:lnTo>
                <a:lnTo>
                  <a:pt x="32"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49" name="Freeform 1154">
            <a:extLst>
              <a:ext uri="{FF2B5EF4-FFF2-40B4-BE49-F238E27FC236}">
                <a16:creationId xmlns:a16="http://schemas.microsoft.com/office/drawing/2014/main" id="{89AB9153-E203-0C22-0257-51729DF686A1}"/>
              </a:ext>
            </a:extLst>
          </p:cNvPr>
          <p:cNvSpPr>
            <a:spLocks noEditPoints="1"/>
          </p:cNvSpPr>
          <p:nvPr/>
        </p:nvSpPr>
        <p:spPr bwMode="auto">
          <a:xfrm>
            <a:off x="2652713" y="2403475"/>
            <a:ext cx="525463" cy="315913"/>
          </a:xfrm>
          <a:custGeom>
            <a:avLst/>
            <a:gdLst>
              <a:gd name="T0" fmla="*/ 329 w 331"/>
              <a:gd name="T1" fmla="*/ 86 h 199"/>
              <a:gd name="T2" fmla="*/ 326 w 331"/>
              <a:gd name="T3" fmla="*/ 58 h 199"/>
              <a:gd name="T4" fmla="*/ 316 w 331"/>
              <a:gd name="T5" fmla="*/ 33 h 199"/>
              <a:gd name="T6" fmla="*/ 305 w 331"/>
              <a:gd name="T7" fmla="*/ 10 h 199"/>
              <a:gd name="T8" fmla="*/ 291 w 331"/>
              <a:gd name="T9" fmla="*/ 0 h 199"/>
              <a:gd name="T10" fmla="*/ 306 w 331"/>
              <a:gd name="T11" fmla="*/ 21 h 199"/>
              <a:gd name="T12" fmla="*/ 316 w 331"/>
              <a:gd name="T13" fmla="*/ 46 h 199"/>
              <a:gd name="T14" fmla="*/ 323 w 331"/>
              <a:gd name="T15" fmla="*/ 71 h 199"/>
              <a:gd name="T16" fmla="*/ 326 w 331"/>
              <a:gd name="T17" fmla="*/ 99 h 199"/>
              <a:gd name="T18" fmla="*/ 323 w 331"/>
              <a:gd name="T19" fmla="*/ 127 h 199"/>
              <a:gd name="T20" fmla="*/ 316 w 331"/>
              <a:gd name="T21" fmla="*/ 152 h 199"/>
              <a:gd name="T22" fmla="*/ 306 w 331"/>
              <a:gd name="T23" fmla="*/ 177 h 199"/>
              <a:gd name="T24" fmla="*/ 291 w 331"/>
              <a:gd name="T25" fmla="*/ 199 h 199"/>
              <a:gd name="T26" fmla="*/ 305 w 331"/>
              <a:gd name="T27" fmla="*/ 187 h 199"/>
              <a:gd name="T28" fmla="*/ 316 w 331"/>
              <a:gd name="T29" fmla="*/ 165 h 199"/>
              <a:gd name="T30" fmla="*/ 326 w 331"/>
              <a:gd name="T31" fmla="*/ 139 h 199"/>
              <a:gd name="T32" fmla="*/ 329 w 331"/>
              <a:gd name="T33" fmla="*/ 112 h 199"/>
              <a:gd name="T34" fmla="*/ 33 w 331"/>
              <a:gd name="T35" fmla="*/ 0 h 199"/>
              <a:gd name="T36" fmla="*/ 20 w 331"/>
              <a:gd name="T37" fmla="*/ 21 h 199"/>
              <a:gd name="T38" fmla="*/ 8 w 331"/>
              <a:gd name="T39" fmla="*/ 46 h 199"/>
              <a:gd name="T40" fmla="*/ 1 w 331"/>
              <a:gd name="T41" fmla="*/ 71 h 199"/>
              <a:gd name="T42" fmla="*/ 0 w 331"/>
              <a:gd name="T43" fmla="*/ 99 h 199"/>
              <a:gd name="T44" fmla="*/ 1 w 331"/>
              <a:gd name="T45" fmla="*/ 126 h 199"/>
              <a:gd name="T46" fmla="*/ 8 w 331"/>
              <a:gd name="T47" fmla="*/ 152 h 199"/>
              <a:gd name="T48" fmla="*/ 20 w 331"/>
              <a:gd name="T49" fmla="*/ 177 h 199"/>
              <a:gd name="T50" fmla="*/ 33 w 331"/>
              <a:gd name="T51" fmla="*/ 199 h 199"/>
              <a:gd name="T52" fmla="*/ 31 w 331"/>
              <a:gd name="T53" fmla="*/ 189 h 199"/>
              <a:gd name="T54" fmla="*/ 18 w 331"/>
              <a:gd name="T55" fmla="*/ 165 h 199"/>
              <a:gd name="T56" fmla="*/ 10 w 331"/>
              <a:gd name="T57" fmla="*/ 139 h 199"/>
              <a:gd name="T58" fmla="*/ 5 w 331"/>
              <a:gd name="T59" fmla="*/ 112 h 199"/>
              <a:gd name="T60" fmla="*/ 5 w 331"/>
              <a:gd name="T61" fmla="*/ 84 h 199"/>
              <a:gd name="T62" fmla="*/ 10 w 331"/>
              <a:gd name="T63" fmla="*/ 58 h 199"/>
              <a:gd name="T64" fmla="*/ 18 w 331"/>
              <a:gd name="T65" fmla="*/ 33 h 199"/>
              <a:gd name="T66" fmla="*/ 31 w 331"/>
              <a:gd name="T67" fmla="*/ 10 h 199"/>
              <a:gd name="T68" fmla="*/ 33 w 33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1" h="199">
                <a:moveTo>
                  <a:pt x="331" y="99"/>
                </a:moveTo>
                <a:lnTo>
                  <a:pt x="329" y="86"/>
                </a:lnTo>
                <a:lnTo>
                  <a:pt x="328" y="71"/>
                </a:lnTo>
                <a:lnTo>
                  <a:pt x="326" y="58"/>
                </a:lnTo>
                <a:lnTo>
                  <a:pt x="321" y="46"/>
                </a:lnTo>
                <a:lnTo>
                  <a:pt x="316" y="33"/>
                </a:lnTo>
                <a:lnTo>
                  <a:pt x="311" y="21"/>
                </a:lnTo>
                <a:lnTo>
                  <a:pt x="305" y="10"/>
                </a:lnTo>
                <a:lnTo>
                  <a:pt x="298" y="0"/>
                </a:lnTo>
                <a:lnTo>
                  <a:pt x="291" y="0"/>
                </a:lnTo>
                <a:lnTo>
                  <a:pt x="300" y="10"/>
                </a:lnTo>
                <a:lnTo>
                  <a:pt x="306" y="21"/>
                </a:lnTo>
                <a:lnTo>
                  <a:pt x="311" y="33"/>
                </a:lnTo>
                <a:lnTo>
                  <a:pt x="316" y="46"/>
                </a:lnTo>
                <a:lnTo>
                  <a:pt x="321" y="58"/>
                </a:lnTo>
                <a:lnTo>
                  <a:pt x="323" y="71"/>
                </a:lnTo>
                <a:lnTo>
                  <a:pt x="324" y="84"/>
                </a:lnTo>
                <a:lnTo>
                  <a:pt x="326" y="99"/>
                </a:lnTo>
                <a:lnTo>
                  <a:pt x="324" y="112"/>
                </a:lnTo>
                <a:lnTo>
                  <a:pt x="323" y="127"/>
                </a:lnTo>
                <a:lnTo>
                  <a:pt x="321" y="139"/>
                </a:lnTo>
                <a:lnTo>
                  <a:pt x="316" y="152"/>
                </a:lnTo>
                <a:lnTo>
                  <a:pt x="311" y="165"/>
                </a:lnTo>
                <a:lnTo>
                  <a:pt x="306" y="177"/>
                </a:lnTo>
                <a:lnTo>
                  <a:pt x="300" y="189"/>
                </a:lnTo>
                <a:lnTo>
                  <a:pt x="291" y="199"/>
                </a:lnTo>
                <a:lnTo>
                  <a:pt x="298" y="199"/>
                </a:lnTo>
                <a:lnTo>
                  <a:pt x="305" y="187"/>
                </a:lnTo>
                <a:lnTo>
                  <a:pt x="311" y="177"/>
                </a:lnTo>
                <a:lnTo>
                  <a:pt x="316" y="165"/>
                </a:lnTo>
                <a:lnTo>
                  <a:pt x="321" y="152"/>
                </a:lnTo>
                <a:lnTo>
                  <a:pt x="326" y="139"/>
                </a:lnTo>
                <a:lnTo>
                  <a:pt x="328" y="126"/>
                </a:lnTo>
                <a:lnTo>
                  <a:pt x="329" y="112"/>
                </a:lnTo>
                <a:lnTo>
                  <a:pt x="331" y="99"/>
                </a:lnTo>
                <a:close/>
                <a:moveTo>
                  <a:pt x="33" y="0"/>
                </a:moveTo>
                <a:lnTo>
                  <a:pt x="26" y="10"/>
                </a:lnTo>
                <a:lnTo>
                  <a:pt x="20" y="21"/>
                </a:lnTo>
                <a:lnTo>
                  <a:pt x="13" y="33"/>
                </a:lnTo>
                <a:lnTo>
                  <a:pt x="8" y="46"/>
                </a:lnTo>
                <a:lnTo>
                  <a:pt x="5" y="58"/>
                </a:lnTo>
                <a:lnTo>
                  <a:pt x="1" y="71"/>
                </a:lnTo>
                <a:lnTo>
                  <a:pt x="0" y="86"/>
                </a:lnTo>
                <a:lnTo>
                  <a:pt x="0" y="99"/>
                </a:lnTo>
                <a:lnTo>
                  <a:pt x="0" y="112"/>
                </a:lnTo>
                <a:lnTo>
                  <a:pt x="1" y="126"/>
                </a:lnTo>
                <a:lnTo>
                  <a:pt x="5" y="139"/>
                </a:lnTo>
                <a:lnTo>
                  <a:pt x="8" y="152"/>
                </a:lnTo>
                <a:lnTo>
                  <a:pt x="13" y="165"/>
                </a:lnTo>
                <a:lnTo>
                  <a:pt x="20" y="177"/>
                </a:lnTo>
                <a:lnTo>
                  <a:pt x="26" y="187"/>
                </a:lnTo>
                <a:lnTo>
                  <a:pt x="33" y="199"/>
                </a:lnTo>
                <a:lnTo>
                  <a:pt x="40" y="199"/>
                </a:lnTo>
                <a:lnTo>
                  <a:pt x="31" y="189"/>
                </a:lnTo>
                <a:lnTo>
                  <a:pt x="25" y="177"/>
                </a:lnTo>
                <a:lnTo>
                  <a:pt x="18" y="165"/>
                </a:lnTo>
                <a:lnTo>
                  <a:pt x="13" y="152"/>
                </a:lnTo>
                <a:lnTo>
                  <a:pt x="10" y="139"/>
                </a:lnTo>
                <a:lnTo>
                  <a:pt x="6" y="127"/>
                </a:lnTo>
                <a:lnTo>
                  <a:pt x="5" y="112"/>
                </a:lnTo>
                <a:lnTo>
                  <a:pt x="5" y="99"/>
                </a:lnTo>
                <a:lnTo>
                  <a:pt x="5" y="84"/>
                </a:lnTo>
                <a:lnTo>
                  <a:pt x="6" y="71"/>
                </a:lnTo>
                <a:lnTo>
                  <a:pt x="10" y="58"/>
                </a:lnTo>
                <a:lnTo>
                  <a:pt x="13" y="46"/>
                </a:lnTo>
                <a:lnTo>
                  <a:pt x="18" y="33"/>
                </a:lnTo>
                <a:lnTo>
                  <a:pt x="25" y="21"/>
                </a:lnTo>
                <a:lnTo>
                  <a:pt x="31" y="10"/>
                </a:lnTo>
                <a:lnTo>
                  <a:pt x="40" y="0"/>
                </a:lnTo>
                <a:lnTo>
                  <a:pt x="3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50" name="Freeform 1155">
            <a:extLst>
              <a:ext uri="{FF2B5EF4-FFF2-40B4-BE49-F238E27FC236}">
                <a16:creationId xmlns:a16="http://schemas.microsoft.com/office/drawing/2014/main" id="{B94E5D7C-FD06-9C7B-C6B4-2B545C22C72A}"/>
              </a:ext>
            </a:extLst>
          </p:cNvPr>
          <p:cNvSpPr>
            <a:spLocks noEditPoints="1"/>
          </p:cNvSpPr>
          <p:nvPr/>
        </p:nvSpPr>
        <p:spPr bwMode="auto">
          <a:xfrm>
            <a:off x="2657475" y="2403475"/>
            <a:ext cx="515938" cy="315913"/>
          </a:xfrm>
          <a:custGeom>
            <a:avLst/>
            <a:gdLst>
              <a:gd name="T0" fmla="*/ 325 w 325"/>
              <a:gd name="T1" fmla="*/ 86 h 199"/>
              <a:gd name="T2" fmla="*/ 320 w 325"/>
              <a:gd name="T3" fmla="*/ 58 h 199"/>
              <a:gd name="T4" fmla="*/ 311 w 325"/>
              <a:gd name="T5" fmla="*/ 33 h 199"/>
              <a:gd name="T6" fmla="*/ 298 w 325"/>
              <a:gd name="T7" fmla="*/ 10 h 199"/>
              <a:gd name="T8" fmla="*/ 285 w 325"/>
              <a:gd name="T9" fmla="*/ 0 h 199"/>
              <a:gd name="T10" fmla="*/ 300 w 325"/>
              <a:gd name="T11" fmla="*/ 21 h 199"/>
              <a:gd name="T12" fmla="*/ 311 w 325"/>
              <a:gd name="T13" fmla="*/ 46 h 199"/>
              <a:gd name="T14" fmla="*/ 318 w 325"/>
              <a:gd name="T15" fmla="*/ 71 h 199"/>
              <a:gd name="T16" fmla="*/ 320 w 325"/>
              <a:gd name="T17" fmla="*/ 99 h 199"/>
              <a:gd name="T18" fmla="*/ 318 w 325"/>
              <a:gd name="T19" fmla="*/ 127 h 199"/>
              <a:gd name="T20" fmla="*/ 311 w 325"/>
              <a:gd name="T21" fmla="*/ 152 h 199"/>
              <a:gd name="T22" fmla="*/ 300 w 325"/>
              <a:gd name="T23" fmla="*/ 177 h 199"/>
              <a:gd name="T24" fmla="*/ 285 w 325"/>
              <a:gd name="T25" fmla="*/ 199 h 199"/>
              <a:gd name="T26" fmla="*/ 298 w 325"/>
              <a:gd name="T27" fmla="*/ 187 h 199"/>
              <a:gd name="T28" fmla="*/ 311 w 325"/>
              <a:gd name="T29" fmla="*/ 165 h 199"/>
              <a:gd name="T30" fmla="*/ 320 w 325"/>
              <a:gd name="T31" fmla="*/ 139 h 199"/>
              <a:gd name="T32" fmla="*/ 325 w 325"/>
              <a:gd name="T33" fmla="*/ 112 h 199"/>
              <a:gd name="T34" fmla="*/ 33 w 325"/>
              <a:gd name="T35" fmla="*/ 0 h 199"/>
              <a:gd name="T36" fmla="*/ 18 w 325"/>
              <a:gd name="T37" fmla="*/ 21 h 199"/>
              <a:gd name="T38" fmla="*/ 8 w 325"/>
              <a:gd name="T39" fmla="*/ 46 h 199"/>
              <a:gd name="T40" fmla="*/ 2 w 325"/>
              <a:gd name="T41" fmla="*/ 71 h 199"/>
              <a:gd name="T42" fmla="*/ 0 w 325"/>
              <a:gd name="T43" fmla="*/ 99 h 199"/>
              <a:gd name="T44" fmla="*/ 2 w 325"/>
              <a:gd name="T45" fmla="*/ 126 h 199"/>
              <a:gd name="T46" fmla="*/ 8 w 325"/>
              <a:gd name="T47" fmla="*/ 152 h 199"/>
              <a:gd name="T48" fmla="*/ 18 w 325"/>
              <a:gd name="T49" fmla="*/ 177 h 199"/>
              <a:gd name="T50" fmla="*/ 33 w 325"/>
              <a:gd name="T51" fmla="*/ 199 h 199"/>
              <a:gd name="T52" fmla="*/ 32 w 325"/>
              <a:gd name="T53" fmla="*/ 189 h 199"/>
              <a:gd name="T54" fmla="*/ 18 w 325"/>
              <a:gd name="T55" fmla="*/ 165 h 199"/>
              <a:gd name="T56" fmla="*/ 10 w 325"/>
              <a:gd name="T57" fmla="*/ 141 h 199"/>
              <a:gd name="T58" fmla="*/ 5 w 325"/>
              <a:gd name="T59" fmla="*/ 112 h 199"/>
              <a:gd name="T60" fmla="*/ 5 w 325"/>
              <a:gd name="T61" fmla="*/ 84 h 199"/>
              <a:gd name="T62" fmla="*/ 10 w 325"/>
              <a:gd name="T63" fmla="*/ 58 h 199"/>
              <a:gd name="T64" fmla="*/ 18 w 325"/>
              <a:gd name="T65" fmla="*/ 33 h 199"/>
              <a:gd name="T66" fmla="*/ 32 w 325"/>
              <a:gd name="T67" fmla="*/ 10 h 199"/>
              <a:gd name="T68" fmla="*/ 33 w 32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5" h="199">
                <a:moveTo>
                  <a:pt x="325" y="99"/>
                </a:moveTo>
                <a:lnTo>
                  <a:pt x="325" y="86"/>
                </a:lnTo>
                <a:lnTo>
                  <a:pt x="323" y="71"/>
                </a:lnTo>
                <a:lnTo>
                  <a:pt x="320" y="58"/>
                </a:lnTo>
                <a:lnTo>
                  <a:pt x="316" y="46"/>
                </a:lnTo>
                <a:lnTo>
                  <a:pt x="311" y="33"/>
                </a:lnTo>
                <a:lnTo>
                  <a:pt x="305" y="21"/>
                </a:lnTo>
                <a:lnTo>
                  <a:pt x="298" y="10"/>
                </a:lnTo>
                <a:lnTo>
                  <a:pt x="292" y="0"/>
                </a:lnTo>
                <a:lnTo>
                  <a:pt x="285" y="0"/>
                </a:lnTo>
                <a:lnTo>
                  <a:pt x="293" y="10"/>
                </a:lnTo>
                <a:lnTo>
                  <a:pt x="300" y="21"/>
                </a:lnTo>
                <a:lnTo>
                  <a:pt x="306" y="33"/>
                </a:lnTo>
                <a:lnTo>
                  <a:pt x="311" y="46"/>
                </a:lnTo>
                <a:lnTo>
                  <a:pt x="315" y="58"/>
                </a:lnTo>
                <a:lnTo>
                  <a:pt x="318" y="71"/>
                </a:lnTo>
                <a:lnTo>
                  <a:pt x="320" y="84"/>
                </a:lnTo>
                <a:lnTo>
                  <a:pt x="320" y="99"/>
                </a:lnTo>
                <a:lnTo>
                  <a:pt x="320" y="112"/>
                </a:lnTo>
                <a:lnTo>
                  <a:pt x="318" y="127"/>
                </a:lnTo>
                <a:lnTo>
                  <a:pt x="315" y="141"/>
                </a:lnTo>
                <a:lnTo>
                  <a:pt x="311" y="152"/>
                </a:lnTo>
                <a:lnTo>
                  <a:pt x="306" y="165"/>
                </a:lnTo>
                <a:lnTo>
                  <a:pt x="300" y="177"/>
                </a:lnTo>
                <a:lnTo>
                  <a:pt x="293" y="189"/>
                </a:lnTo>
                <a:lnTo>
                  <a:pt x="285" y="199"/>
                </a:lnTo>
                <a:lnTo>
                  <a:pt x="292" y="199"/>
                </a:lnTo>
                <a:lnTo>
                  <a:pt x="298" y="187"/>
                </a:lnTo>
                <a:lnTo>
                  <a:pt x="305" y="177"/>
                </a:lnTo>
                <a:lnTo>
                  <a:pt x="311" y="165"/>
                </a:lnTo>
                <a:lnTo>
                  <a:pt x="316" y="152"/>
                </a:lnTo>
                <a:lnTo>
                  <a:pt x="320" y="139"/>
                </a:lnTo>
                <a:lnTo>
                  <a:pt x="323" y="126"/>
                </a:lnTo>
                <a:lnTo>
                  <a:pt x="325" y="112"/>
                </a:lnTo>
                <a:lnTo>
                  <a:pt x="325" y="99"/>
                </a:lnTo>
                <a:close/>
                <a:moveTo>
                  <a:pt x="33" y="0"/>
                </a:moveTo>
                <a:lnTo>
                  <a:pt x="25" y="10"/>
                </a:lnTo>
                <a:lnTo>
                  <a:pt x="18" y="21"/>
                </a:lnTo>
                <a:lnTo>
                  <a:pt x="13" y="33"/>
                </a:lnTo>
                <a:lnTo>
                  <a:pt x="8" y="46"/>
                </a:lnTo>
                <a:lnTo>
                  <a:pt x="5" y="58"/>
                </a:lnTo>
                <a:lnTo>
                  <a:pt x="2" y="71"/>
                </a:lnTo>
                <a:lnTo>
                  <a:pt x="0" y="86"/>
                </a:lnTo>
                <a:lnTo>
                  <a:pt x="0" y="99"/>
                </a:lnTo>
                <a:lnTo>
                  <a:pt x="0" y="112"/>
                </a:lnTo>
                <a:lnTo>
                  <a:pt x="2" y="126"/>
                </a:lnTo>
                <a:lnTo>
                  <a:pt x="5" y="139"/>
                </a:lnTo>
                <a:lnTo>
                  <a:pt x="8" y="152"/>
                </a:lnTo>
                <a:lnTo>
                  <a:pt x="13" y="165"/>
                </a:lnTo>
                <a:lnTo>
                  <a:pt x="18" y="177"/>
                </a:lnTo>
                <a:lnTo>
                  <a:pt x="25" y="187"/>
                </a:lnTo>
                <a:lnTo>
                  <a:pt x="33" y="199"/>
                </a:lnTo>
                <a:lnTo>
                  <a:pt x="40" y="199"/>
                </a:lnTo>
                <a:lnTo>
                  <a:pt x="32" y="189"/>
                </a:lnTo>
                <a:lnTo>
                  <a:pt x="25" y="177"/>
                </a:lnTo>
                <a:lnTo>
                  <a:pt x="18" y="165"/>
                </a:lnTo>
                <a:lnTo>
                  <a:pt x="13" y="152"/>
                </a:lnTo>
                <a:lnTo>
                  <a:pt x="10" y="141"/>
                </a:lnTo>
                <a:lnTo>
                  <a:pt x="7" y="127"/>
                </a:lnTo>
                <a:lnTo>
                  <a:pt x="5" y="112"/>
                </a:lnTo>
                <a:lnTo>
                  <a:pt x="3" y="99"/>
                </a:lnTo>
                <a:lnTo>
                  <a:pt x="5" y="84"/>
                </a:lnTo>
                <a:lnTo>
                  <a:pt x="7" y="71"/>
                </a:lnTo>
                <a:lnTo>
                  <a:pt x="10" y="58"/>
                </a:lnTo>
                <a:lnTo>
                  <a:pt x="13" y="46"/>
                </a:lnTo>
                <a:lnTo>
                  <a:pt x="18" y="33"/>
                </a:lnTo>
                <a:lnTo>
                  <a:pt x="25" y="21"/>
                </a:lnTo>
                <a:lnTo>
                  <a:pt x="32" y="10"/>
                </a:lnTo>
                <a:lnTo>
                  <a:pt x="40" y="0"/>
                </a:lnTo>
                <a:lnTo>
                  <a:pt x="3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51" name="Freeform 1156">
            <a:extLst>
              <a:ext uri="{FF2B5EF4-FFF2-40B4-BE49-F238E27FC236}">
                <a16:creationId xmlns:a16="http://schemas.microsoft.com/office/drawing/2014/main" id="{64E398AB-B275-BB9A-11C0-5049C80E00BD}"/>
              </a:ext>
            </a:extLst>
          </p:cNvPr>
          <p:cNvSpPr>
            <a:spLocks noEditPoints="1"/>
          </p:cNvSpPr>
          <p:nvPr/>
        </p:nvSpPr>
        <p:spPr bwMode="auto">
          <a:xfrm>
            <a:off x="2660650" y="2403475"/>
            <a:ext cx="509588" cy="315913"/>
          </a:xfrm>
          <a:custGeom>
            <a:avLst/>
            <a:gdLst>
              <a:gd name="T0" fmla="*/ 319 w 321"/>
              <a:gd name="T1" fmla="*/ 84 h 199"/>
              <a:gd name="T2" fmla="*/ 316 w 321"/>
              <a:gd name="T3" fmla="*/ 58 h 199"/>
              <a:gd name="T4" fmla="*/ 306 w 321"/>
              <a:gd name="T5" fmla="*/ 33 h 199"/>
              <a:gd name="T6" fmla="*/ 295 w 321"/>
              <a:gd name="T7" fmla="*/ 10 h 199"/>
              <a:gd name="T8" fmla="*/ 280 w 321"/>
              <a:gd name="T9" fmla="*/ 0 h 199"/>
              <a:gd name="T10" fmla="*/ 295 w 321"/>
              <a:gd name="T11" fmla="*/ 21 h 199"/>
              <a:gd name="T12" fmla="*/ 306 w 321"/>
              <a:gd name="T13" fmla="*/ 45 h 199"/>
              <a:gd name="T14" fmla="*/ 313 w 321"/>
              <a:gd name="T15" fmla="*/ 71 h 199"/>
              <a:gd name="T16" fmla="*/ 316 w 321"/>
              <a:gd name="T17" fmla="*/ 99 h 199"/>
              <a:gd name="T18" fmla="*/ 313 w 321"/>
              <a:gd name="T19" fmla="*/ 127 h 199"/>
              <a:gd name="T20" fmla="*/ 306 w 321"/>
              <a:gd name="T21" fmla="*/ 152 h 199"/>
              <a:gd name="T22" fmla="*/ 295 w 321"/>
              <a:gd name="T23" fmla="*/ 177 h 199"/>
              <a:gd name="T24" fmla="*/ 280 w 321"/>
              <a:gd name="T25" fmla="*/ 199 h 199"/>
              <a:gd name="T26" fmla="*/ 295 w 321"/>
              <a:gd name="T27" fmla="*/ 189 h 199"/>
              <a:gd name="T28" fmla="*/ 306 w 321"/>
              <a:gd name="T29" fmla="*/ 165 h 199"/>
              <a:gd name="T30" fmla="*/ 316 w 321"/>
              <a:gd name="T31" fmla="*/ 139 h 199"/>
              <a:gd name="T32" fmla="*/ 319 w 321"/>
              <a:gd name="T33" fmla="*/ 112 h 199"/>
              <a:gd name="T34" fmla="*/ 35 w 321"/>
              <a:gd name="T35" fmla="*/ 0 h 199"/>
              <a:gd name="T36" fmla="*/ 20 w 321"/>
              <a:gd name="T37" fmla="*/ 21 h 199"/>
              <a:gd name="T38" fmla="*/ 8 w 321"/>
              <a:gd name="T39" fmla="*/ 46 h 199"/>
              <a:gd name="T40" fmla="*/ 1 w 321"/>
              <a:gd name="T41" fmla="*/ 71 h 199"/>
              <a:gd name="T42" fmla="*/ 0 w 321"/>
              <a:gd name="T43" fmla="*/ 99 h 199"/>
              <a:gd name="T44" fmla="*/ 1 w 321"/>
              <a:gd name="T45" fmla="*/ 127 h 199"/>
              <a:gd name="T46" fmla="*/ 8 w 321"/>
              <a:gd name="T47" fmla="*/ 152 h 199"/>
              <a:gd name="T48" fmla="*/ 20 w 321"/>
              <a:gd name="T49" fmla="*/ 177 h 199"/>
              <a:gd name="T50" fmla="*/ 35 w 321"/>
              <a:gd name="T51" fmla="*/ 199 h 199"/>
              <a:gd name="T52" fmla="*/ 33 w 321"/>
              <a:gd name="T53" fmla="*/ 189 h 199"/>
              <a:gd name="T54" fmla="*/ 20 w 321"/>
              <a:gd name="T55" fmla="*/ 165 h 199"/>
              <a:gd name="T56" fmla="*/ 10 w 321"/>
              <a:gd name="T57" fmla="*/ 141 h 199"/>
              <a:gd name="T58" fmla="*/ 5 w 321"/>
              <a:gd name="T59" fmla="*/ 112 h 199"/>
              <a:gd name="T60" fmla="*/ 5 w 321"/>
              <a:gd name="T61" fmla="*/ 84 h 199"/>
              <a:gd name="T62" fmla="*/ 10 w 321"/>
              <a:gd name="T63" fmla="*/ 58 h 199"/>
              <a:gd name="T64" fmla="*/ 20 w 321"/>
              <a:gd name="T65" fmla="*/ 33 h 199"/>
              <a:gd name="T66" fmla="*/ 33 w 321"/>
              <a:gd name="T67" fmla="*/ 10 h 199"/>
              <a:gd name="T68" fmla="*/ 35 w 32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1" h="199">
                <a:moveTo>
                  <a:pt x="321" y="99"/>
                </a:moveTo>
                <a:lnTo>
                  <a:pt x="319" y="84"/>
                </a:lnTo>
                <a:lnTo>
                  <a:pt x="318" y="71"/>
                </a:lnTo>
                <a:lnTo>
                  <a:pt x="316" y="58"/>
                </a:lnTo>
                <a:lnTo>
                  <a:pt x="311" y="46"/>
                </a:lnTo>
                <a:lnTo>
                  <a:pt x="306" y="33"/>
                </a:lnTo>
                <a:lnTo>
                  <a:pt x="301" y="21"/>
                </a:lnTo>
                <a:lnTo>
                  <a:pt x="295" y="10"/>
                </a:lnTo>
                <a:lnTo>
                  <a:pt x="286" y="0"/>
                </a:lnTo>
                <a:lnTo>
                  <a:pt x="280" y="0"/>
                </a:lnTo>
                <a:lnTo>
                  <a:pt x="288" y="10"/>
                </a:lnTo>
                <a:lnTo>
                  <a:pt x="295" y="21"/>
                </a:lnTo>
                <a:lnTo>
                  <a:pt x="301" y="33"/>
                </a:lnTo>
                <a:lnTo>
                  <a:pt x="306" y="45"/>
                </a:lnTo>
                <a:lnTo>
                  <a:pt x="311" y="58"/>
                </a:lnTo>
                <a:lnTo>
                  <a:pt x="313" y="71"/>
                </a:lnTo>
                <a:lnTo>
                  <a:pt x="314" y="84"/>
                </a:lnTo>
                <a:lnTo>
                  <a:pt x="316" y="99"/>
                </a:lnTo>
                <a:lnTo>
                  <a:pt x="314" y="112"/>
                </a:lnTo>
                <a:lnTo>
                  <a:pt x="313" y="127"/>
                </a:lnTo>
                <a:lnTo>
                  <a:pt x="311" y="141"/>
                </a:lnTo>
                <a:lnTo>
                  <a:pt x="306" y="152"/>
                </a:lnTo>
                <a:lnTo>
                  <a:pt x="301" y="165"/>
                </a:lnTo>
                <a:lnTo>
                  <a:pt x="295" y="177"/>
                </a:lnTo>
                <a:lnTo>
                  <a:pt x="288" y="189"/>
                </a:lnTo>
                <a:lnTo>
                  <a:pt x="280" y="199"/>
                </a:lnTo>
                <a:lnTo>
                  <a:pt x="286" y="199"/>
                </a:lnTo>
                <a:lnTo>
                  <a:pt x="295" y="189"/>
                </a:lnTo>
                <a:lnTo>
                  <a:pt x="301" y="177"/>
                </a:lnTo>
                <a:lnTo>
                  <a:pt x="306" y="165"/>
                </a:lnTo>
                <a:lnTo>
                  <a:pt x="311" y="152"/>
                </a:lnTo>
                <a:lnTo>
                  <a:pt x="316" y="139"/>
                </a:lnTo>
                <a:lnTo>
                  <a:pt x="318" y="127"/>
                </a:lnTo>
                <a:lnTo>
                  <a:pt x="319" y="112"/>
                </a:lnTo>
                <a:lnTo>
                  <a:pt x="321" y="99"/>
                </a:lnTo>
                <a:close/>
                <a:moveTo>
                  <a:pt x="35" y="0"/>
                </a:moveTo>
                <a:lnTo>
                  <a:pt x="26" y="10"/>
                </a:lnTo>
                <a:lnTo>
                  <a:pt x="20" y="21"/>
                </a:lnTo>
                <a:lnTo>
                  <a:pt x="13" y="33"/>
                </a:lnTo>
                <a:lnTo>
                  <a:pt x="8" y="46"/>
                </a:lnTo>
                <a:lnTo>
                  <a:pt x="5" y="58"/>
                </a:lnTo>
                <a:lnTo>
                  <a:pt x="1" y="71"/>
                </a:lnTo>
                <a:lnTo>
                  <a:pt x="0" y="84"/>
                </a:lnTo>
                <a:lnTo>
                  <a:pt x="0" y="99"/>
                </a:lnTo>
                <a:lnTo>
                  <a:pt x="0" y="112"/>
                </a:lnTo>
                <a:lnTo>
                  <a:pt x="1" y="127"/>
                </a:lnTo>
                <a:lnTo>
                  <a:pt x="5" y="139"/>
                </a:lnTo>
                <a:lnTo>
                  <a:pt x="8" y="152"/>
                </a:lnTo>
                <a:lnTo>
                  <a:pt x="13" y="165"/>
                </a:lnTo>
                <a:lnTo>
                  <a:pt x="20" y="177"/>
                </a:lnTo>
                <a:lnTo>
                  <a:pt x="26" y="189"/>
                </a:lnTo>
                <a:lnTo>
                  <a:pt x="35" y="199"/>
                </a:lnTo>
                <a:lnTo>
                  <a:pt x="41" y="199"/>
                </a:lnTo>
                <a:lnTo>
                  <a:pt x="33" y="189"/>
                </a:lnTo>
                <a:lnTo>
                  <a:pt x="25" y="177"/>
                </a:lnTo>
                <a:lnTo>
                  <a:pt x="20" y="165"/>
                </a:lnTo>
                <a:lnTo>
                  <a:pt x="15" y="152"/>
                </a:lnTo>
                <a:lnTo>
                  <a:pt x="10" y="141"/>
                </a:lnTo>
                <a:lnTo>
                  <a:pt x="6" y="127"/>
                </a:lnTo>
                <a:lnTo>
                  <a:pt x="5" y="112"/>
                </a:lnTo>
                <a:lnTo>
                  <a:pt x="5" y="99"/>
                </a:lnTo>
                <a:lnTo>
                  <a:pt x="5" y="84"/>
                </a:lnTo>
                <a:lnTo>
                  <a:pt x="6" y="71"/>
                </a:lnTo>
                <a:lnTo>
                  <a:pt x="10" y="58"/>
                </a:lnTo>
                <a:lnTo>
                  <a:pt x="15" y="45"/>
                </a:lnTo>
                <a:lnTo>
                  <a:pt x="20" y="33"/>
                </a:lnTo>
                <a:lnTo>
                  <a:pt x="25" y="21"/>
                </a:lnTo>
                <a:lnTo>
                  <a:pt x="33" y="10"/>
                </a:lnTo>
                <a:lnTo>
                  <a:pt x="41" y="0"/>
                </a:lnTo>
                <a:lnTo>
                  <a:pt x="35"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52" name="Freeform 1157">
            <a:extLst>
              <a:ext uri="{FF2B5EF4-FFF2-40B4-BE49-F238E27FC236}">
                <a16:creationId xmlns:a16="http://schemas.microsoft.com/office/drawing/2014/main" id="{02C720DE-CB3F-4E78-CD85-0EAD28BE50B5}"/>
              </a:ext>
            </a:extLst>
          </p:cNvPr>
          <p:cNvSpPr>
            <a:spLocks noEditPoints="1"/>
          </p:cNvSpPr>
          <p:nvPr/>
        </p:nvSpPr>
        <p:spPr bwMode="auto">
          <a:xfrm>
            <a:off x="2662238" y="2403475"/>
            <a:ext cx="503238" cy="315913"/>
          </a:xfrm>
          <a:custGeom>
            <a:avLst/>
            <a:gdLst>
              <a:gd name="T0" fmla="*/ 317 w 317"/>
              <a:gd name="T1" fmla="*/ 84 h 199"/>
              <a:gd name="T2" fmla="*/ 312 w 317"/>
              <a:gd name="T3" fmla="*/ 58 h 199"/>
              <a:gd name="T4" fmla="*/ 303 w 317"/>
              <a:gd name="T5" fmla="*/ 33 h 199"/>
              <a:gd name="T6" fmla="*/ 290 w 317"/>
              <a:gd name="T7" fmla="*/ 10 h 199"/>
              <a:gd name="T8" fmla="*/ 275 w 317"/>
              <a:gd name="T9" fmla="*/ 0 h 199"/>
              <a:gd name="T10" fmla="*/ 292 w 317"/>
              <a:gd name="T11" fmla="*/ 21 h 199"/>
              <a:gd name="T12" fmla="*/ 303 w 317"/>
              <a:gd name="T13" fmla="*/ 45 h 199"/>
              <a:gd name="T14" fmla="*/ 310 w 317"/>
              <a:gd name="T15" fmla="*/ 71 h 199"/>
              <a:gd name="T16" fmla="*/ 312 w 317"/>
              <a:gd name="T17" fmla="*/ 99 h 199"/>
              <a:gd name="T18" fmla="*/ 310 w 317"/>
              <a:gd name="T19" fmla="*/ 127 h 199"/>
              <a:gd name="T20" fmla="*/ 303 w 317"/>
              <a:gd name="T21" fmla="*/ 152 h 199"/>
              <a:gd name="T22" fmla="*/ 292 w 317"/>
              <a:gd name="T23" fmla="*/ 177 h 199"/>
              <a:gd name="T24" fmla="*/ 275 w 317"/>
              <a:gd name="T25" fmla="*/ 199 h 199"/>
              <a:gd name="T26" fmla="*/ 290 w 317"/>
              <a:gd name="T27" fmla="*/ 189 h 199"/>
              <a:gd name="T28" fmla="*/ 303 w 317"/>
              <a:gd name="T29" fmla="*/ 165 h 199"/>
              <a:gd name="T30" fmla="*/ 312 w 317"/>
              <a:gd name="T31" fmla="*/ 141 h 199"/>
              <a:gd name="T32" fmla="*/ 317 w 317"/>
              <a:gd name="T33" fmla="*/ 112 h 199"/>
              <a:gd name="T34" fmla="*/ 37 w 317"/>
              <a:gd name="T35" fmla="*/ 0 h 199"/>
              <a:gd name="T36" fmla="*/ 22 w 317"/>
              <a:gd name="T37" fmla="*/ 21 h 199"/>
              <a:gd name="T38" fmla="*/ 10 w 317"/>
              <a:gd name="T39" fmla="*/ 46 h 199"/>
              <a:gd name="T40" fmla="*/ 4 w 317"/>
              <a:gd name="T41" fmla="*/ 71 h 199"/>
              <a:gd name="T42" fmla="*/ 0 w 317"/>
              <a:gd name="T43" fmla="*/ 99 h 199"/>
              <a:gd name="T44" fmla="*/ 4 w 317"/>
              <a:gd name="T45" fmla="*/ 127 h 199"/>
              <a:gd name="T46" fmla="*/ 10 w 317"/>
              <a:gd name="T47" fmla="*/ 152 h 199"/>
              <a:gd name="T48" fmla="*/ 22 w 317"/>
              <a:gd name="T49" fmla="*/ 177 h 199"/>
              <a:gd name="T50" fmla="*/ 37 w 317"/>
              <a:gd name="T51" fmla="*/ 199 h 199"/>
              <a:gd name="T52" fmla="*/ 35 w 317"/>
              <a:gd name="T53" fmla="*/ 189 h 199"/>
              <a:gd name="T54" fmla="*/ 20 w 317"/>
              <a:gd name="T55" fmla="*/ 165 h 199"/>
              <a:gd name="T56" fmla="*/ 12 w 317"/>
              <a:gd name="T57" fmla="*/ 141 h 199"/>
              <a:gd name="T58" fmla="*/ 7 w 317"/>
              <a:gd name="T59" fmla="*/ 112 h 199"/>
              <a:gd name="T60" fmla="*/ 7 w 317"/>
              <a:gd name="T61" fmla="*/ 84 h 199"/>
              <a:gd name="T62" fmla="*/ 12 w 317"/>
              <a:gd name="T63" fmla="*/ 58 h 199"/>
              <a:gd name="T64" fmla="*/ 20 w 317"/>
              <a:gd name="T65" fmla="*/ 33 h 199"/>
              <a:gd name="T66" fmla="*/ 35 w 317"/>
              <a:gd name="T67" fmla="*/ 10 h 199"/>
              <a:gd name="T68" fmla="*/ 37 w 31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7" h="199">
                <a:moveTo>
                  <a:pt x="317" y="99"/>
                </a:moveTo>
                <a:lnTo>
                  <a:pt x="317" y="84"/>
                </a:lnTo>
                <a:lnTo>
                  <a:pt x="315" y="71"/>
                </a:lnTo>
                <a:lnTo>
                  <a:pt x="312" y="58"/>
                </a:lnTo>
                <a:lnTo>
                  <a:pt x="308" y="46"/>
                </a:lnTo>
                <a:lnTo>
                  <a:pt x="303" y="33"/>
                </a:lnTo>
                <a:lnTo>
                  <a:pt x="297" y="21"/>
                </a:lnTo>
                <a:lnTo>
                  <a:pt x="290" y="10"/>
                </a:lnTo>
                <a:lnTo>
                  <a:pt x="282" y="0"/>
                </a:lnTo>
                <a:lnTo>
                  <a:pt x="275" y="0"/>
                </a:lnTo>
                <a:lnTo>
                  <a:pt x="284" y="10"/>
                </a:lnTo>
                <a:lnTo>
                  <a:pt x="292" y="21"/>
                </a:lnTo>
                <a:lnTo>
                  <a:pt x="297" y="33"/>
                </a:lnTo>
                <a:lnTo>
                  <a:pt x="303" y="45"/>
                </a:lnTo>
                <a:lnTo>
                  <a:pt x="307" y="58"/>
                </a:lnTo>
                <a:lnTo>
                  <a:pt x="310" y="71"/>
                </a:lnTo>
                <a:lnTo>
                  <a:pt x="312" y="84"/>
                </a:lnTo>
                <a:lnTo>
                  <a:pt x="312" y="99"/>
                </a:lnTo>
                <a:lnTo>
                  <a:pt x="312" y="112"/>
                </a:lnTo>
                <a:lnTo>
                  <a:pt x="310" y="127"/>
                </a:lnTo>
                <a:lnTo>
                  <a:pt x="307" y="141"/>
                </a:lnTo>
                <a:lnTo>
                  <a:pt x="303" y="152"/>
                </a:lnTo>
                <a:lnTo>
                  <a:pt x="297" y="165"/>
                </a:lnTo>
                <a:lnTo>
                  <a:pt x="292" y="177"/>
                </a:lnTo>
                <a:lnTo>
                  <a:pt x="284" y="189"/>
                </a:lnTo>
                <a:lnTo>
                  <a:pt x="275" y="199"/>
                </a:lnTo>
                <a:lnTo>
                  <a:pt x="282" y="199"/>
                </a:lnTo>
                <a:lnTo>
                  <a:pt x="290" y="189"/>
                </a:lnTo>
                <a:lnTo>
                  <a:pt x="297" y="177"/>
                </a:lnTo>
                <a:lnTo>
                  <a:pt x="303" y="165"/>
                </a:lnTo>
                <a:lnTo>
                  <a:pt x="308" y="152"/>
                </a:lnTo>
                <a:lnTo>
                  <a:pt x="312" y="141"/>
                </a:lnTo>
                <a:lnTo>
                  <a:pt x="315" y="127"/>
                </a:lnTo>
                <a:lnTo>
                  <a:pt x="317" y="112"/>
                </a:lnTo>
                <a:lnTo>
                  <a:pt x="317" y="99"/>
                </a:lnTo>
                <a:close/>
                <a:moveTo>
                  <a:pt x="37" y="0"/>
                </a:moveTo>
                <a:lnTo>
                  <a:pt x="29" y="10"/>
                </a:lnTo>
                <a:lnTo>
                  <a:pt x="22" y="21"/>
                </a:lnTo>
                <a:lnTo>
                  <a:pt x="15" y="33"/>
                </a:lnTo>
                <a:lnTo>
                  <a:pt x="10" y="46"/>
                </a:lnTo>
                <a:lnTo>
                  <a:pt x="7" y="58"/>
                </a:lnTo>
                <a:lnTo>
                  <a:pt x="4" y="71"/>
                </a:lnTo>
                <a:lnTo>
                  <a:pt x="2" y="84"/>
                </a:lnTo>
                <a:lnTo>
                  <a:pt x="0" y="99"/>
                </a:lnTo>
                <a:lnTo>
                  <a:pt x="2" y="112"/>
                </a:lnTo>
                <a:lnTo>
                  <a:pt x="4" y="127"/>
                </a:lnTo>
                <a:lnTo>
                  <a:pt x="7" y="141"/>
                </a:lnTo>
                <a:lnTo>
                  <a:pt x="10" y="152"/>
                </a:lnTo>
                <a:lnTo>
                  <a:pt x="15" y="165"/>
                </a:lnTo>
                <a:lnTo>
                  <a:pt x="22" y="177"/>
                </a:lnTo>
                <a:lnTo>
                  <a:pt x="29" y="189"/>
                </a:lnTo>
                <a:lnTo>
                  <a:pt x="37" y="199"/>
                </a:lnTo>
                <a:lnTo>
                  <a:pt x="42" y="199"/>
                </a:lnTo>
                <a:lnTo>
                  <a:pt x="35" y="189"/>
                </a:lnTo>
                <a:lnTo>
                  <a:pt x="27" y="177"/>
                </a:lnTo>
                <a:lnTo>
                  <a:pt x="20" y="165"/>
                </a:lnTo>
                <a:lnTo>
                  <a:pt x="15" y="152"/>
                </a:lnTo>
                <a:lnTo>
                  <a:pt x="12" y="141"/>
                </a:lnTo>
                <a:lnTo>
                  <a:pt x="9" y="127"/>
                </a:lnTo>
                <a:lnTo>
                  <a:pt x="7" y="112"/>
                </a:lnTo>
                <a:lnTo>
                  <a:pt x="5" y="99"/>
                </a:lnTo>
                <a:lnTo>
                  <a:pt x="7" y="84"/>
                </a:lnTo>
                <a:lnTo>
                  <a:pt x="9" y="71"/>
                </a:lnTo>
                <a:lnTo>
                  <a:pt x="12" y="58"/>
                </a:lnTo>
                <a:lnTo>
                  <a:pt x="15" y="45"/>
                </a:lnTo>
                <a:lnTo>
                  <a:pt x="20" y="33"/>
                </a:lnTo>
                <a:lnTo>
                  <a:pt x="27" y="21"/>
                </a:lnTo>
                <a:lnTo>
                  <a:pt x="35" y="10"/>
                </a:lnTo>
                <a:lnTo>
                  <a:pt x="42" y="0"/>
                </a:lnTo>
                <a:lnTo>
                  <a:pt x="37"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53" name="Freeform 1158">
            <a:extLst>
              <a:ext uri="{FF2B5EF4-FFF2-40B4-BE49-F238E27FC236}">
                <a16:creationId xmlns:a16="http://schemas.microsoft.com/office/drawing/2014/main" id="{B9B0E565-F7E3-9E9F-351D-71FF53A24C6C}"/>
              </a:ext>
            </a:extLst>
          </p:cNvPr>
          <p:cNvSpPr>
            <a:spLocks noEditPoints="1"/>
          </p:cNvSpPr>
          <p:nvPr/>
        </p:nvSpPr>
        <p:spPr bwMode="auto">
          <a:xfrm>
            <a:off x="2668588" y="2403475"/>
            <a:ext cx="493713" cy="315913"/>
          </a:xfrm>
          <a:custGeom>
            <a:avLst/>
            <a:gdLst>
              <a:gd name="T0" fmla="*/ 309 w 311"/>
              <a:gd name="T1" fmla="*/ 84 h 199"/>
              <a:gd name="T2" fmla="*/ 306 w 311"/>
              <a:gd name="T3" fmla="*/ 58 h 199"/>
              <a:gd name="T4" fmla="*/ 296 w 311"/>
              <a:gd name="T5" fmla="*/ 33 h 199"/>
              <a:gd name="T6" fmla="*/ 283 w 311"/>
              <a:gd name="T7" fmla="*/ 10 h 199"/>
              <a:gd name="T8" fmla="*/ 268 w 311"/>
              <a:gd name="T9" fmla="*/ 0 h 199"/>
              <a:gd name="T10" fmla="*/ 285 w 311"/>
              <a:gd name="T11" fmla="*/ 21 h 199"/>
              <a:gd name="T12" fmla="*/ 296 w 311"/>
              <a:gd name="T13" fmla="*/ 45 h 199"/>
              <a:gd name="T14" fmla="*/ 303 w 311"/>
              <a:gd name="T15" fmla="*/ 71 h 199"/>
              <a:gd name="T16" fmla="*/ 306 w 311"/>
              <a:gd name="T17" fmla="*/ 99 h 199"/>
              <a:gd name="T18" fmla="*/ 303 w 311"/>
              <a:gd name="T19" fmla="*/ 127 h 199"/>
              <a:gd name="T20" fmla="*/ 296 w 311"/>
              <a:gd name="T21" fmla="*/ 154 h 199"/>
              <a:gd name="T22" fmla="*/ 285 w 311"/>
              <a:gd name="T23" fmla="*/ 177 h 199"/>
              <a:gd name="T24" fmla="*/ 268 w 311"/>
              <a:gd name="T25" fmla="*/ 199 h 199"/>
              <a:gd name="T26" fmla="*/ 283 w 311"/>
              <a:gd name="T27" fmla="*/ 189 h 199"/>
              <a:gd name="T28" fmla="*/ 296 w 311"/>
              <a:gd name="T29" fmla="*/ 165 h 199"/>
              <a:gd name="T30" fmla="*/ 306 w 311"/>
              <a:gd name="T31" fmla="*/ 141 h 199"/>
              <a:gd name="T32" fmla="*/ 309 w 311"/>
              <a:gd name="T33" fmla="*/ 112 h 199"/>
              <a:gd name="T34" fmla="*/ 36 w 311"/>
              <a:gd name="T35" fmla="*/ 0 h 199"/>
              <a:gd name="T36" fmla="*/ 20 w 311"/>
              <a:gd name="T37" fmla="*/ 21 h 199"/>
              <a:gd name="T38" fmla="*/ 10 w 311"/>
              <a:gd name="T39" fmla="*/ 45 h 199"/>
              <a:gd name="T40" fmla="*/ 1 w 311"/>
              <a:gd name="T41" fmla="*/ 71 h 199"/>
              <a:gd name="T42" fmla="*/ 0 w 311"/>
              <a:gd name="T43" fmla="*/ 99 h 199"/>
              <a:gd name="T44" fmla="*/ 1 w 311"/>
              <a:gd name="T45" fmla="*/ 127 h 199"/>
              <a:gd name="T46" fmla="*/ 10 w 311"/>
              <a:gd name="T47" fmla="*/ 152 h 199"/>
              <a:gd name="T48" fmla="*/ 20 w 311"/>
              <a:gd name="T49" fmla="*/ 177 h 199"/>
              <a:gd name="T50" fmla="*/ 36 w 311"/>
              <a:gd name="T51" fmla="*/ 199 h 199"/>
              <a:gd name="T52" fmla="*/ 33 w 311"/>
              <a:gd name="T53" fmla="*/ 189 h 199"/>
              <a:gd name="T54" fmla="*/ 20 w 311"/>
              <a:gd name="T55" fmla="*/ 165 h 199"/>
              <a:gd name="T56" fmla="*/ 10 w 311"/>
              <a:gd name="T57" fmla="*/ 141 h 199"/>
              <a:gd name="T58" fmla="*/ 5 w 311"/>
              <a:gd name="T59" fmla="*/ 112 h 199"/>
              <a:gd name="T60" fmla="*/ 5 w 311"/>
              <a:gd name="T61" fmla="*/ 84 h 199"/>
              <a:gd name="T62" fmla="*/ 10 w 311"/>
              <a:gd name="T63" fmla="*/ 58 h 199"/>
              <a:gd name="T64" fmla="*/ 20 w 311"/>
              <a:gd name="T65" fmla="*/ 33 h 199"/>
              <a:gd name="T66" fmla="*/ 33 w 311"/>
              <a:gd name="T67" fmla="*/ 10 h 199"/>
              <a:gd name="T68" fmla="*/ 36 w 31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1" h="199">
                <a:moveTo>
                  <a:pt x="311" y="99"/>
                </a:moveTo>
                <a:lnTo>
                  <a:pt x="309" y="84"/>
                </a:lnTo>
                <a:lnTo>
                  <a:pt x="308" y="71"/>
                </a:lnTo>
                <a:lnTo>
                  <a:pt x="306" y="58"/>
                </a:lnTo>
                <a:lnTo>
                  <a:pt x="301" y="45"/>
                </a:lnTo>
                <a:lnTo>
                  <a:pt x="296" y="33"/>
                </a:lnTo>
                <a:lnTo>
                  <a:pt x="290" y="21"/>
                </a:lnTo>
                <a:lnTo>
                  <a:pt x="283" y="10"/>
                </a:lnTo>
                <a:lnTo>
                  <a:pt x="275" y="0"/>
                </a:lnTo>
                <a:lnTo>
                  <a:pt x="268" y="0"/>
                </a:lnTo>
                <a:lnTo>
                  <a:pt x="276" y="10"/>
                </a:lnTo>
                <a:lnTo>
                  <a:pt x="285" y="21"/>
                </a:lnTo>
                <a:lnTo>
                  <a:pt x="291" y="33"/>
                </a:lnTo>
                <a:lnTo>
                  <a:pt x="296" y="45"/>
                </a:lnTo>
                <a:lnTo>
                  <a:pt x="301" y="58"/>
                </a:lnTo>
                <a:lnTo>
                  <a:pt x="303" y="71"/>
                </a:lnTo>
                <a:lnTo>
                  <a:pt x="306" y="84"/>
                </a:lnTo>
                <a:lnTo>
                  <a:pt x="306" y="99"/>
                </a:lnTo>
                <a:lnTo>
                  <a:pt x="306" y="112"/>
                </a:lnTo>
                <a:lnTo>
                  <a:pt x="303" y="127"/>
                </a:lnTo>
                <a:lnTo>
                  <a:pt x="301" y="141"/>
                </a:lnTo>
                <a:lnTo>
                  <a:pt x="296" y="154"/>
                </a:lnTo>
                <a:lnTo>
                  <a:pt x="291" y="165"/>
                </a:lnTo>
                <a:lnTo>
                  <a:pt x="285" y="177"/>
                </a:lnTo>
                <a:lnTo>
                  <a:pt x="276" y="189"/>
                </a:lnTo>
                <a:lnTo>
                  <a:pt x="268" y="199"/>
                </a:lnTo>
                <a:lnTo>
                  <a:pt x="275" y="199"/>
                </a:lnTo>
                <a:lnTo>
                  <a:pt x="283" y="189"/>
                </a:lnTo>
                <a:lnTo>
                  <a:pt x="290" y="177"/>
                </a:lnTo>
                <a:lnTo>
                  <a:pt x="296" y="165"/>
                </a:lnTo>
                <a:lnTo>
                  <a:pt x="301" y="152"/>
                </a:lnTo>
                <a:lnTo>
                  <a:pt x="306" y="141"/>
                </a:lnTo>
                <a:lnTo>
                  <a:pt x="308" y="127"/>
                </a:lnTo>
                <a:lnTo>
                  <a:pt x="309" y="112"/>
                </a:lnTo>
                <a:lnTo>
                  <a:pt x="311" y="99"/>
                </a:lnTo>
                <a:close/>
                <a:moveTo>
                  <a:pt x="36" y="0"/>
                </a:moveTo>
                <a:lnTo>
                  <a:pt x="28" y="10"/>
                </a:lnTo>
                <a:lnTo>
                  <a:pt x="20" y="21"/>
                </a:lnTo>
                <a:lnTo>
                  <a:pt x="15" y="33"/>
                </a:lnTo>
                <a:lnTo>
                  <a:pt x="10" y="45"/>
                </a:lnTo>
                <a:lnTo>
                  <a:pt x="5" y="58"/>
                </a:lnTo>
                <a:lnTo>
                  <a:pt x="1" y="71"/>
                </a:lnTo>
                <a:lnTo>
                  <a:pt x="0" y="84"/>
                </a:lnTo>
                <a:lnTo>
                  <a:pt x="0" y="99"/>
                </a:lnTo>
                <a:lnTo>
                  <a:pt x="0" y="112"/>
                </a:lnTo>
                <a:lnTo>
                  <a:pt x="1" y="127"/>
                </a:lnTo>
                <a:lnTo>
                  <a:pt x="5" y="141"/>
                </a:lnTo>
                <a:lnTo>
                  <a:pt x="10" y="152"/>
                </a:lnTo>
                <a:lnTo>
                  <a:pt x="15" y="165"/>
                </a:lnTo>
                <a:lnTo>
                  <a:pt x="20" y="177"/>
                </a:lnTo>
                <a:lnTo>
                  <a:pt x="28" y="189"/>
                </a:lnTo>
                <a:lnTo>
                  <a:pt x="36" y="199"/>
                </a:lnTo>
                <a:lnTo>
                  <a:pt x="41" y="199"/>
                </a:lnTo>
                <a:lnTo>
                  <a:pt x="33" y="189"/>
                </a:lnTo>
                <a:lnTo>
                  <a:pt x="26" y="177"/>
                </a:lnTo>
                <a:lnTo>
                  <a:pt x="20" y="165"/>
                </a:lnTo>
                <a:lnTo>
                  <a:pt x="15" y="154"/>
                </a:lnTo>
                <a:lnTo>
                  <a:pt x="10" y="141"/>
                </a:lnTo>
                <a:lnTo>
                  <a:pt x="6" y="127"/>
                </a:lnTo>
                <a:lnTo>
                  <a:pt x="5" y="112"/>
                </a:lnTo>
                <a:lnTo>
                  <a:pt x="5" y="99"/>
                </a:lnTo>
                <a:lnTo>
                  <a:pt x="5" y="84"/>
                </a:lnTo>
                <a:lnTo>
                  <a:pt x="6" y="71"/>
                </a:lnTo>
                <a:lnTo>
                  <a:pt x="10" y="58"/>
                </a:lnTo>
                <a:lnTo>
                  <a:pt x="15" y="45"/>
                </a:lnTo>
                <a:lnTo>
                  <a:pt x="20" y="33"/>
                </a:lnTo>
                <a:lnTo>
                  <a:pt x="26" y="21"/>
                </a:lnTo>
                <a:lnTo>
                  <a:pt x="33" y="10"/>
                </a:lnTo>
                <a:lnTo>
                  <a:pt x="41" y="0"/>
                </a:lnTo>
                <a:lnTo>
                  <a:pt x="36"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54" name="Freeform 1159">
            <a:extLst>
              <a:ext uri="{FF2B5EF4-FFF2-40B4-BE49-F238E27FC236}">
                <a16:creationId xmlns:a16="http://schemas.microsoft.com/office/drawing/2014/main" id="{B47151E8-A1D3-0EB3-82AF-B7C1684C32D6}"/>
              </a:ext>
            </a:extLst>
          </p:cNvPr>
          <p:cNvSpPr>
            <a:spLocks noEditPoints="1"/>
          </p:cNvSpPr>
          <p:nvPr/>
        </p:nvSpPr>
        <p:spPr bwMode="auto">
          <a:xfrm>
            <a:off x="2670175" y="2403475"/>
            <a:ext cx="487363" cy="315913"/>
          </a:xfrm>
          <a:custGeom>
            <a:avLst/>
            <a:gdLst>
              <a:gd name="T0" fmla="*/ 307 w 307"/>
              <a:gd name="T1" fmla="*/ 84 h 199"/>
              <a:gd name="T2" fmla="*/ 302 w 307"/>
              <a:gd name="T3" fmla="*/ 58 h 199"/>
              <a:gd name="T4" fmla="*/ 292 w 307"/>
              <a:gd name="T5" fmla="*/ 33 h 199"/>
              <a:gd name="T6" fmla="*/ 279 w 307"/>
              <a:gd name="T7" fmla="*/ 10 h 199"/>
              <a:gd name="T8" fmla="*/ 264 w 307"/>
              <a:gd name="T9" fmla="*/ 0 h 199"/>
              <a:gd name="T10" fmla="*/ 280 w 307"/>
              <a:gd name="T11" fmla="*/ 21 h 199"/>
              <a:gd name="T12" fmla="*/ 292 w 307"/>
              <a:gd name="T13" fmla="*/ 45 h 199"/>
              <a:gd name="T14" fmla="*/ 300 w 307"/>
              <a:gd name="T15" fmla="*/ 71 h 199"/>
              <a:gd name="T16" fmla="*/ 302 w 307"/>
              <a:gd name="T17" fmla="*/ 99 h 199"/>
              <a:gd name="T18" fmla="*/ 300 w 307"/>
              <a:gd name="T19" fmla="*/ 127 h 199"/>
              <a:gd name="T20" fmla="*/ 292 w 307"/>
              <a:gd name="T21" fmla="*/ 154 h 199"/>
              <a:gd name="T22" fmla="*/ 280 w 307"/>
              <a:gd name="T23" fmla="*/ 177 h 199"/>
              <a:gd name="T24" fmla="*/ 264 w 307"/>
              <a:gd name="T25" fmla="*/ 199 h 199"/>
              <a:gd name="T26" fmla="*/ 279 w 307"/>
              <a:gd name="T27" fmla="*/ 189 h 199"/>
              <a:gd name="T28" fmla="*/ 292 w 307"/>
              <a:gd name="T29" fmla="*/ 165 h 199"/>
              <a:gd name="T30" fmla="*/ 302 w 307"/>
              <a:gd name="T31" fmla="*/ 141 h 199"/>
              <a:gd name="T32" fmla="*/ 307 w 307"/>
              <a:gd name="T33" fmla="*/ 112 h 199"/>
              <a:gd name="T34" fmla="*/ 37 w 307"/>
              <a:gd name="T35" fmla="*/ 0 h 199"/>
              <a:gd name="T36" fmla="*/ 22 w 307"/>
              <a:gd name="T37" fmla="*/ 21 h 199"/>
              <a:gd name="T38" fmla="*/ 10 w 307"/>
              <a:gd name="T39" fmla="*/ 45 h 199"/>
              <a:gd name="T40" fmla="*/ 4 w 307"/>
              <a:gd name="T41" fmla="*/ 71 h 199"/>
              <a:gd name="T42" fmla="*/ 0 w 307"/>
              <a:gd name="T43" fmla="*/ 99 h 199"/>
              <a:gd name="T44" fmla="*/ 4 w 307"/>
              <a:gd name="T45" fmla="*/ 127 h 199"/>
              <a:gd name="T46" fmla="*/ 10 w 307"/>
              <a:gd name="T47" fmla="*/ 152 h 199"/>
              <a:gd name="T48" fmla="*/ 22 w 307"/>
              <a:gd name="T49" fmla="*/ 177 h 199"/>
              <a:gd name="T50" fmla="*/ 37 w 307"/>
              <a:gd name="T51" fmla="*/ 199 h 199"/>
              <a:gd name="T52" fmla="*/ 35 w 307"/>
              <a:gd name="T53" fmla="*/ 189 h 199"/>
              <a:gd name="T54" fmla="*/ 22 w 307"/>
              <a:gd name="T55" fmla="*/ 165 h 199"/>
              <a:gd name="T56" fmla="*/ 12 w 307"/>
              <a:gd name="T57" fmla="*/ 141 h 199"/>
              <a:gd name="T58" fmla="*/ 7 w 307"/>
              <a:gd name="T59" fmla="*/ 112 h 199"/>
              <a:gd name="T60" fmla="*/ 7 w 307"/>
              <a:gd name="T61" fmla="*/ 84 h 199"/>
              <a:gd name="T62" fmla="*/ 12 w 307"/>
              <a:gd name="T63" fmla="*/ 58 h 199"/>
              <a:gd name="T64" fmla="*/ 22 w 307"/>
              <a:gd name="T65" fmla="*/ 33 h 199"/>
              <a:gd name="T66" fmla="*/ 35 w 307"/>
              <a:gd name="T67" fmla="*/ 10 h 199"/>
              <a:gd name="T68" fmla="*/ 37 w 30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7" h="199">
                <a:moveTo>
                  <a:pt x="307" y="99"/>
                </a:moveTo>
                <a:lnTo>
                  <a:pt x="307" y="84"/>
                </a:lnTo>
                <a:lnTo>
                  <a:pt x="305" y="71"/>
                </a:lnTo>
                <a:lnTo>
                  <a:pt x="302" y="58"/>
                </a:lnTo>
                <a:lnTo>
                  <a:pt x="298" y="45"/>
                </a:lnTo>
                <a:lnTo>
                  <a:pt x="292" y="33"/>
                </a:lnTo>
                <a:lnTo>
                  <a:pt x="287" y="21"/>
                </a:lnTo>
                <a:lnTo>
                  <a:pt x="279" y="10"/>
                </a:lnTo>
                <a:lnTo>
                  <a:pt x="270" y="0"/>
                </a:lnTo>
                <a:lnTo>
                  <a:pt x="264" y="0"/>
                </a:lnTo>
                <a:lnTo>
                  <a:pt x="274" y="10"/>
                </a:lnTo>
                <a:lnTo>
                  <a:pt x="280" y="21"/>
                </a:lnTo>
                <a:lnTo>
                  <a:pt x="287" y="33"/>
                </a:lnTo>
                <a:lnTo>
                  <a:pt x="292" y="45"/>
                </a:lnTo>
                <a:lnTo>
                  <a:pt x="297" y="58"/>
                </a:lnTo>
                <a:lnTo>
                  <a:pt x="300" y="71"/>
                </a:lnTo>
                <a:lnTo>
                  <a:pt x="302" y="84"/>
                </a:lnTo>
                <a:lnTo>
                  <a:pt x="302" y="99"/>
                </a:lnTo>
                <a:lnTo>
                  <a:pt x="302" y="112"/>
                </a:lnTo>
                <a:lnTo>
                  <a:pt x="300" y="127"/>
                </a:lnTo>
                <a:lnTo>
                  <a:pt x="297" y="141"/>
                </a:lnTo>
                <a:lnTo>
                  <a:pt x="292" y="154"/>
                </a:lnTo>
                <a:lnTo>
                  <a:pt x="287" y="165"/>
                </a:lnTo>
                <a:lnTo>
                  <a:pt x="280" y="177"/>
                </a:lnTo>
                <a:lnTo>
                  <a:pt x="274" y="189"/>
                </a:lnTo>
                <a:lnTo>
                  <a:pt x="264" y="199"/>
                </a:lnTo>
                <a:lnTo>
                  <a:pt x="270" y="199"/>
                </a:lnTo>
                <a:lnTo>
                  <a:pt x="279" y="189"/>
                </a:lnTo>
                <a:lnTo>
                  <a:pt x="287" y="177"/>
                </a:lnTo>
                <a:lnTo>
                  <a:pt x="292" y="165"/>
                </a:lnTo>
                <a:lnTo>
                  <a:pt x="298" y="152"/>
                </a:lnTo>
                <a:lnTo>
                  <a:pt x="302" y="141"/>
                </a:lnTo>
                <a:lnTo>
                  <a:pt x="305" y="127"/>
                </a:lnTo>
                <a:lnTo>
                  <a:pt x="307" y="112"/>
                </a:lnTo>
                <a:lnTo>
                  <a:pt x="307" y="99"/>
                </a:lnTo>
                <a:close/>
                <a:moveTo>
                  <a:pt x="37" y="0"/>
                </a:moveTo>
                <a:lnTo>
                  <a:pt x="30" y="10"/>
                </a:lnTo>
                <a:lnTo>
                  <a:pt x="22" y="21"/>
                </a:lnTo>
                <a:lnTo>
                  <a:pt x="15" y="33"/>
                </a:lnTo>
                <a:lnTo>
                  <a:pt x="10" y="45"/>
                </a:lnTo>
                <a:lnTo>
                  <a:pt x="7" y="58"/>
                </a:lnTo>
                <a:lnTo>
                  <a:pt x="4" y="71"/>
                </a:lnTo>
                <a:lnTo>
                  <a:pt x="2" y="84"/>
                </a:lnTo>
                <a:lnTo>
                  <a:pt x="0" y="99"/>
                </a:lnTo>
                <a:lnTo>
                  <a:pt x="2" y="112"/>
                </a:lnTo>
                <a:lnTo>
                  <a:pt x="4" y="127"/>
                </a:lnTo>
                <a:lnTo>
                  <a:pt x="7" y="141"/>
                </a:lnTo>
                <a:lnTo>
                  <a:pt x="10" y="152"/>
                </a:lnTo>
                <a:lnTo>
                  <a:pt x="15" y="165"/>
                </a:lnTo>
                <a:lnTo>
                  <a:pt x="22" y="177"/>
                </a:lnTo>
                <a:lnTo>
                  <a:pt x="30" y="189"/>
                </a:lnTo>
                <a:lnTo>
                  <a:pt x="37" y="199"/>
                </a:lnTo>
                <a:lnTo>
                  <a:pt x="43" y="199"/>
                </a:lnTo>
                <a:lnTo>
                  <a:pt x="35" y="189"/>
                </a:lnTo>
                <a:lnTo>
                  <a:pt x="29" y="177"/>
                </a:lnTo>
                <a:lnTo>
                  <a:pt x="22" y="165"/>
                </a:lnTo>
                <a:lnTo>
                  <a:pt x="15" y="154"/>
                </a:lnTo>
                <a:lnTo>
                  <a:pt x="12" y="141"/>
                </a:lnTo>
                <a:lnTo>
                  <a:pt x="9" y="127"/>
                </a:lnTo>
                <a:lnTo>
                  <a:pt x="7" y="112"/>
                </a:lnTo>
                <a:lnTo>
                  <a:pt x="5" y="99"/>
                </a:lnTo>
                <a:lnTo>
                  <a:pt x="7" y="84"/>
                </a:lnTo>
                <a:lnTo>
                  <a:pt x="9" y="71"/>
                </a:lnTo>
                <a:lnTo>
                  <a:pt x="12" y="58"/>
                </a:lnTo>
                <a:lnTo>
                  <a:pt x="15" y="45"/>
                </a:lnTo>
                <a:lnTo>
                  <a:pt x="22" y="33"/>
                </a:lnTo>
                <a:lnTo>
                  <a:pt x="29" y="21"/>
                </a:lnTo>
                <a:lnTo>
                  <a:pt x="35" y="10"/>
                </a:lnTo>
                <a:lnTo>
                  <a:pt x="43" y="0"/>
                </a:lnTo>
                <a:lnTo>
                  <a:pt x="37"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55" name="Freeform 1160">
            <a:extLst>
              <a:ext uri="{FF2B5EF4-FFF2-40B4-BE49-F238E27FC236}">
                <a16:creationId xmlns:a16="http://schemas.microsoft.com/office/drawing/2014/main" id="{5126E8B1-8813-CF57-8242-2181DC779A98}"/>
              </a:ext>
            </a:extLst>
          </p:cNvPr>
          <p:cNvSpPr>
            <a:spLocks noEditPoints="1"/>
          </p:cNvSpPr>
          <p:nvPr/>
        </p:nvSpPr>
        <p:spPr bwMode="auto">
          <a:xfrm>
            <a:off x="2676525" y="2403475"/>
            <a:ext cx="477838" cy="315913"/>
          </a:xfrm>
          <a:custGeom>
            <a:avLst/>
            <a:gdLst>
              <a:gd name="T0" fmla="*/ 301 w 301"/>
              <a:gd name="T1" fmla="*/ 84 h 199"/>
              <a:gd name="T2" fmla="*/ 296 w 301"/>
              <a:gd name="T3" fmla="*/ 58 h 199"/>
              <a:gd name="T4" fmla="*/ 286 w 301"/>
              <a:gd name="T5" fmla="*/ 33 h 199"/>
              <a:gd name="T6" fmla="*/ 271 w 301"/>
              <a:gd name="T7" fmla="*/ 10 h 199"/>
              <a:gd name="T8" fmla="*/ 256 w 301"/>
              <a:gd name="T9" fmla="*/ 0 h 199"/>
              <a:gd name="T10" fmla="*/ 273 w 301"/>
              <a:gd name="T11" fmla="*/ 21 h 199"/>
              <a:gd name="T12" fmla="*/ 286 w 301"/>
              <a:gd name="T13" fmla="*/ 45 h 199"/>
              <a:gd name="T14" fmla="*/ 293 w 301"/>
              <a:gd name="T15" fmla="*/ 71 h 199"/>
              <a:gd name="T16" fmla="*/ 296 w 301"/>
              <a:gd name="T17" fmla="*/ 99 h 199"/>
              <a:gd name="T18" fmla="*/ 293 w 301"/>
              <a:gd name="T19" fmla="*/ 127 h 199"/>
              <a:gd name="T20" fmla="*/ 286 w 301"/>
              <a:gd name="T21" fmla="*/ 154 h 199"/>
              <a:gd name="T22" fmla="*/ 273 w 301"/>
              <a:gd name="T23" fmla="*/ 177 h 199"/>
              <a:gd name="T24" fmla="*/ 256 w 301"/>
              <a:gd name="T25" fmla="*/ 199 h 199"/>
              <a:gd name="T26" fmla="*/ 271 w 301"/>
              <a:gd name="T27" fmla="*/ 189 h 199"/>
              <a:gd name="T28" fmla="*/ 286 w 301"/>
              <a:gd name="T29" fmla="*/ 165 h 199"/>
              <a:gd name="T30" fmla="*/ 296 w 301"/>
              <a:gd name="T31" fmla="*/ 141 h 199"/>
              <a:gd name="T32" fmla="*/ 301 w 301"/>
              <a:gd name="T33" fmla="*/ 112 h 199"/>
              <a:gd name="T34" fmla="*/ 36 w 301"/>
              <a:gd name="T35" fmla="*/ 0 h 199"/>
              <a:gd name="T36" fmla="*/ 21 w 301"/>
              <a:gd name="T37" fmla="*/ 21 h 199"/>
              <a:gd name="T38" fmla="*/ 10 w 301"/>
              <a:gd name="T39" fmla="*/ 45 h 199"/>
              <a:gd name="T40" fmla="*/ 1 w 301"/>
              <a:gd name="T41" fmla="*/ 71 h 199"/>
              <a:gd name="T42" fmla="*/ 0 w 301"/>
              <a:gd name="T43" fmla="*/ 99 h 199"/>
              <a:gd name="T44" fmla="*/ 1 w 301"/>
              <a:gd name="T45" fmla="*/ 127 h 199"/>
              <a:gd name="T46" fmla="*/ 10 w 301"/>
              <a:gd name="T47" fmla="*/ 154 h 199"/>
              <a:gd name="T48" fmla="*/ 21 w 301"/>
              <a:gd name="T49" fmla="*/ 177 h 199"/>
              <a:gd name="T50" fmla="*/ 36 w 301"/>
              <a:gd name="T51" fmla="*/ 199 h 199"/>
              <a:gd name="T52" fmla="*/ 34 w 301"/>
              <a:gd name="T53" fmla="*/ 189 h 199"/>
              <a:gd name="T54" fmla="*/ 20 w 301"/>
              <a:gd name="T55" fmla="*/ 165 h 199"/>
              <a:gd name="T56" fmla="*/ 10 w 301"/>
              <a:gd name="T57" fmla="*/ 141 h 199"/>
              <a:gd name="T58" fmla="*/ 5 w 301"/>
              <a:gd name="T59" fmla="*/ 112 h 199"/>
              <a:gd name="T60" fmla="*/ 5 w 301"/>
              <a:gd name="T61" fmla="*/ 84 h 199"/>
              <a:gd name="T62" fmla="*/ 10 w 301"/>
              <a:gd name="T63" fmla="*/ 58 h 199"/>
              <a:gd name="T64" fmla="*/ 20 w 301"/>
              <a:gd name="T65" fmla="*/ 33 h 199"/>
              <a:gd name="T66" fmla="*/ 34 w 301"/>
              <a:gd name="T67" fmla="*/ 10 h 199"/>
              <a:gd name="T68" fmla="*/ 36 w 30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1" h="199">
                <a:moveTo>
                  <a:pt x="301" y="99"/>
                </a:moveTo>
                <a:lnTo>
                  <a:pt x="301" y="84"/>
                </a:lnTo>
                <a:lnTo>
                  <a:pt x="298" y="71"/>
                </a:lnTo>
                <a:lnTo>
                  <a:pt x="296" y="58"/>
                </a:lnTo>
                <a:lnTo>
                  <a:pt x="291" y="45"/>
                </a:lnTo>
                <a:lnTo>
                  <a:pt x="286" y="33"/>
                </a:lnTo>
                <a:lnTo>
                  <a:pt x="280" y="21"/>
                </a:lnTo>
                <a:lnTo>
                  <a:pt x="271" y="10"/>
                </a:lnTo>
                <a:lnTo>
                  <a:pt x="263" y="0"/>
                </a:lnTo>
                <a:lnTo>
                  <a:pt x="256" y="0"/>
                </a:lnTo>
                <a:lnTo>
                  <a:pt x="266" y="10"/>
                </a:lnTo>
                <a:lnTo>
                  <a:pt x="273" y="21"/>
                </a:lnTo>
                <a:lnTo>
                  <a:pt x="280" y="33"/>
                </a:lnTo>
                <a:lnTo>
                  <a:pt x="286" y="45"/>
                </a:lnTo>
                <a:lnTo>
                  <a:pt x="290" y="58"/>
                </a:lnTo>
                <a:lnTo>
                  <a:pt x="293" y="71"/>
                </a:lnTo>
                <a:lnTo>
                  <a:pt x="296" y="84"/>
                </a:lnTo>
                <a:lnTo>
                  <a:pt x="296" y="99"/>
                </a:lnTo>
                <a:lnTo>
                  <a:pt x="296" y="112"/>
                </a:lnTo>
                <a:lnTo>
                  <a:pt x="293" y="127"/>
                </a:lnTo>
                <a:lnTo>
                  <a:pt x="290" y="141"/>
                </a:lnTo>
                <a:lnTo>
                  <a:pt x="286" y="154"/>
                </a:lnTo>
                <a:lnTo>
                  <a:pt x="280" y="165"/>
                </a:lnTo>
                <a:lnTo>
                  <a:pt x="273" y="177"/>
                </a:lnTo>
                <a:lnTo>
                  <a:pt x="266" y="189"/>
                </a:lnTo>
                <a:lnTo>
                  <a:pt x="256" y="199"/>
                </a:lnTo>
                <a:lnTo>
                  <a:pt x="263" y="199"/>
                </a:lnTo>
                <a:lnTo>
                  <a:pt x="271" y="189"/>
                </a:lnTo>
                <a:lnTo>
                  <a:pt x="280" y="177"/>
                </a:lnTo>
                <a:lnTo>
                  <a:pt x="286" y="165"/>
                </a:lnTo>
                <a:lnTo>
                  <a:pt x="291" y="154"/>
                </a:lnTo>
                <a:lnTo>
                  <a:pt x="296" y="141"/>
                </a:lnTo>
                <a:lnTo>
                  <a:pt x="298" y="127"/>
                </a:lnTo>
                <a:lnTo>
                  <a:pt x="301" y="112"/>
                </a:lnTo>
                <a:lnTo>
                  <a:pt x="301" y="99"/>
                </a:lnTo>
                <a:close/>
                <a:moveTo>
                  <a:pt x="36" y="0"/>
                </a:moveTo>
                <a:lnTo>
                  <a:pt x="28" y="10"/>
                </a:lnTo>
                <a:lnTo>
                  <a:pt x="21" y="21"/>
                </a:lnTo>
                <a:lnTo>
                  <a:pt x="15" y="33"/>
                </a:lnTo>
                <a:lnTo>
                  <a:pt x="10" y="45"/>
                </a:lnTo>
                <a:lnTo>
                  <a:pt x="5" y="58"/>
                </a:lnTo>
                <a:lnTo>
                  <a:pt x="1" y="71"/>
                </a:lnTo>
                <a:lnTo>
                  <a:pt x="0" y="84"/>
                </a:lnTo>
                <a:lnTo>
                  <a:pt x="0" y="99"/>
                </a:lnTo>
                <a:lnTo>
                  <a:pt x="0" y="112"/>
                </a:lnTo>
                <a:lnTo>
                  <a:pt x="1" y="127"/>
                </a:lnTo>
                <a:lnTo>
                  <a:pt x="5" y="141"/>
                </a:lnTo>
                <a:lnTo>
                  <a:pt x="10" y="154"/>
                </a:lnTo>
                <a:lnTo>
                  <a:pt x="15" y="165"/>
                </a:lnTo>
                <a:lnTo>
                  <a:pt x="21" y="177"/>
                </a:lnTo>
                <a:lnTo>
                  <a:pt x="28" y="189"/>
                </a:lnTo>
                <a:lnTo>
                  <a:pt x="36" y="199"/>
                </a:lnTo>
                <a:lnTo>
                  <a:pt x="43" y="199"/>
                </a:lnTo>
                <a:lnTo>
                  <a:pt x="34" y="189"/>
                </a:lnTo>
                <a:lnTo>
                  <a:pt x="26" y="177"/>
                </a:lnTo>
                <a:lnTo>
                  <a:pt x="20" y="165"/>
                </a:lnTo>
                <a:lnTo>
                  <a:pt x="15" y="154"/>
                </a:lnTo>
                <a:lnTo>
                  <a:pt x="10" y="141"/>
                </a:lnTo>
                <a:lnTo>
                  <a:pt x="6" y="127"/>
                </a:lnTo>
                <a:lnTo>
                  <a:pt x="5" y="112"/>
                </a:lnTo>
                <a:lnTo>
                  <a:pt x="5" y="99"/>
                </a:lnTo>
                <a:lnTo>
                  <a:pt x="5" y="84"/>
                </a:lnTo>
                <a:lnTo>
                  <a:pt x="6" y="71"/>
                </a:lnTo>
                <a:lnTo>
                  <a:pt x="10" y="58"/>
                </a:lnTo>
                <a:lnTo>
                  <a:pt x="15" y="45"/>
                </a:lnTo>
                <a:lnTo>
                  <a:pt x="20" y="33"/>
                </a:lnTo>
                <a:lnTo>
                  <a:pt x="26" y="21"/>
                </a:lnTo>
                <a:lnTo>
                  <a:pt x="34" y="10"/>
                </a:lnTo>
                <a:lnTo>
                  <a:pt x="43" y="0"/>
                </a:lnTo>
                <a:lnTo>
                  <a:pt x="36"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56" name="Freeform 1161">
            <a:extLst>
              <a:ext uri="{FF2B5EF4-FFF2-40B4-BE49-F238E27FC236}">
                <a16:creationId xmlns:a16="http://schemas.microsoft.com/office/drawing/2014/main" id="{BBD28E27-85A9-1F89-B39A-918FB80073BE}"/>
              </a:ext>
            </a:extLst>
          </p:cNvPr>
          <p:cNvSpPr>
            <a:spLocks noEditPoints="1"/>
          </p:cNvSpPr>
          <p:nvPr/>
        </p:nvSpPr>
        <p:spPr bwMode="auto">
          <a:xfrm>
            <a:off x="2678113" y="2403475"/>
            <a:ext cx="471488" cy="315913"/>
          </a:xfrm>
          <a:custGeom>
            <a:avLst/>
            <a:gdLst>
              <a:gd name="T0" fmla="*/ 297 w 297"/>
              <a:gd name="T1" fmla="*/ 84 h 199"/>
              <a:gd name="T2" fmla="*/ 292 w 297"/>
              <a:gd name="T3" fmla="*/ 58 h 199"/>
              <a:gd name="T4" fmla="*/ 282 w 297"/>
              <a:gd name="T5" fmla="*/ 33 h 199"/>
              <a:gd name="T6" fmla="*/ 269 w 297"/>
              <a:gd name="T7" fmla="*/ 10 h 199"/>
              <a:gd name="T8" fmla="*/ 252 w 297"/>
              <a:gd name="T9" fmla="*/ 0 h 199"/>
              <a:gd name="T10" fmla="*/ 270 w 297"/>
              <a:gd name="T11" fmla="*/ 21 h 199"/>
              <a:gd name="T12" fmla="*/ 282 w 297"/>
              <a:gd name="T13" fmla="*/ 45 h 199"/>
              <a:gd name="T14" fmla="*/ 290 w 297"/>
              <a:gd name="T15" fmla="*/ 71 h 199"/>
              <a:gd name="T16" fmla="*/ 293 w 297"/>
              <a:gd name="T17" fmla="*/ 99 h 199"/>
              <a:gd name="T18" fmla="*/ 290 w 297"/>
              <a:gd name="T19" fmla="*/ 127 h 199"/>
              <a:gd name="T20" fmla="*/ 282 w 297"/>
              <a:gd name="T21" fmla="*/ 154 h 199"/>
              <a:gd name="T22" fmla="*/ 270 w 297"/>
              <a:gd name="T23" fmla="*/ 177 h 199"/>
              <a:gd name="T24" fmla="*/ 252 w 297"/>
              <a:gd name="T25" fmla="*/ 199 h 199"/>
              <a:gd name="T26" fmla="*/ 269 w 297"/>
              <a:gd name="T27" fmla="*/ 189 h 199"/>
              <a:gd name="T28" fmla="*/ 282 w 297"/>
              <a:gd name="T29" fmla="*/ 165 h 199"/>
              <a:gd name="T30" fmla="*/ 292 w 297"/>
              <a:gd name="T31" fmla="*/ 141 h 199"/>
              <a:gd name="T32" fmla="*/ 297 w 297"/>
              <a:gd name="T33" fmla="*/ 112 h 199"/>
              <a:gd name="T34" fmla="*/ 38 w 297"/>
              <a:gd name="T35" fmla="*/ 0 h 199"/>
              <a:gd name="T36" fmla="*/ 24 w 297"/>
              <a:gd name="T37" fmla="*/ 21 h 199"/>
              <a:gd name="T38" fmla="*/ 10 w 297"/>
              <a:gd name="T39" fmla="*/ 45 h 199"/>
              <a:gd name="T40" fmla="*/ 4 w 297"/>
              <a:gd name="T41" fmla="*/ 71 h 199"/>
              <a:gd name="T42" fmla="*/ 0 w 297"/>
              <a:gd name="T43" fmla="*/ 99 h 199"/>
              <a:gd name="T44" fmla="*/ 4 w 297"/>
              <a:gd name="T45" fmla="*/ 127 h 199"/>
              <a:gd name="T46" fmla="*/ 10 w 297"/>
              <a:gd name="T47" fmla="*/ 154 h 199"/>
              <a:gd name="T48" fmla="*/ 24 w 297"/>
              <a:gd name="T49" fmla="*/ 177 h 199"/>
              <a:gd name="T50" fmla="*/ 38 w 297"/>
              <a:gd name="T51" fmla="*/ 199 h 199"/>
              <a:gd name="T52" fmla="*/ 37 w 297"/>
              <a:gd name="T53" fmla="*/ 189 h 199"/>
              <a:gd name="T54" fmla="*/ 22 w 297"/>
              <a:gd name="T55" fmla="*/ 165 h 199"/>
              <a:gd name="T56" fmla="*/ 12 w 297"/>
              <a:gd name="T57" fmla="*/ 141 h 199"/>
              <a:gd name="T58" fmla="*/ 7 w 297"/>
              <a:gd name="T59" fmla="*/ 114 h 199"/>
              <a:gd name="T60" fmla="*/ 7 w 297"/>
              <a:gd name="T61" fmla="*/ 84 h 199"/>
              <a:gd name="T62" fmla="*/ 12 w 297"/>
              <a:gd name="T63" fmla="*/ 58 h 199"/>
              <a:gd name="T64" fmla="*/ 22 w 297"/>
              <a:gd name="T65" fmla="*/ 33 h 199"/>
              <a:gd name="T66" fmla="*/ 37 w 297"/>
              <a:gd name="T67" fmla="*/ 10 h 199"/>
              <a:gd name="T68" fmla="*/ 38 w 29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7" h="199">
                <a:moveTo>
                  <a:pt x="297" y="99"/>
                </a:moveTo>
                <a:lnTo>
                  <a:pt x="297" y="84"/>
                </a:lnTo>
                <a:lnTo>
                  <a:pt x="295" y="71"/>
                </a:lnTo>
                <a:lnTo>
                  <a:pt x="292" y="58"/>
                </a:lnTo>
                <a:lnTo>
                  <a:pt x="287" y="45"/>
                </a:lnTo>
                <a:lnTo>
                  <a:pt x="282" y="33"/>
                </a:lnTo>
                <a:lnTo>
                  <a:pt x="275" y="21"/>
                </a:lnTo>
                <a:lnTo>
                  <a:pt x="269" y="10"/>
                </a:lnTo>
                <a:lnTo>
                  <a:pt x="259" y="0"/>
                </a:lnTo>
                <a:lnTo>
                  <a:pt x="252" y="0"/>
                </a:lnTo>
                <a:lnTo>
                  <a:pt x="262" y="10"/>
                </a:lnTo>
                <a:lnTo>
                  <a:pt x="270" y="21"/>
                </a:lnTo>
                <a:lnTo>
                  <a:pt x="277" y="33"/>
                </a:lnTo>
                <a:lnTo>
                  <a:pt x="282" y="45"/>
                </a:lnTo>
                <a:lnTo>
                  <a:pt x="287" y="58"/>
                </a:lnTo>
                <a:lnTo>
                  <a:pt x="290" y="71"/>
                </a:lnTo>
                <a:lnTo>
                  <a:pt x="292" y="84"/>
                </a:lnTo>
                <a:lnTo>
                  <a:pt x="293" y="99"/>
                </a:lnTo>
                <a:lnTo>
                  <a:pt x="292" y="114"/>
                </a:lnTo>
                <a:lnTo>
                  <a:pt x="290" y="127"/>
                </a:lnTo>
                <a:lnTo>
                  <a:pt x="287" y="141"/>
                </a:lnTo>
                <a:lnTo>
                  <a:pt x="282" y="154"/>
                </a:lnTo>
                <a:lnTo>
                  <a:pt x="277" y="165"/>
                </a:lnTo>
                <a:lnTo>
                  <a:pt x="270" y="177"/>
                </a:lnTo>
                <a:lnTo>
                  <a:pt x="262" y="189"/>
                </a:lnTo>
                <a:lnTo>
                  <a:pt x="252" y="199"/>
                </a:lnTo>
                <a:lnTo>
                  <a:pt x="259" y="199"/>
                </a:lnTo>
                <a:lnTo>
                  <a:pt x="269" y="189"/>
                </a:lnTo>
                <a:lnTo>
                  <a:pt x="275" y="177"/>
                </a:lnTo>
                <a:lnTo>
                  <a:pt x="282" y="165"/>
                </a:lnTo>
                <a:lnTo>
                  <a:pt x="287" y="154"/>
                </a:lnTo>
                <a:lnTo>
                  <a:pt x="292" y="141"/>
                </a:lnTo>
                <a:lnTo>
                  <a:pt x="295" y="127"/>
                </a:lnTo>
                <a:lnTo>
                  <a:pt x="297" y="112"/>
                </a:lnTo>
                <a:lnTo>
                  <a:pt x="297" y="99"/>
                </a:lnTo>
                <a:close/>
                <a:moveTo>
                  <a:pt x="38" y="0"/>
                </a:moveTo>
                <a:lnTo>
                  <a:pt x="30" y="10"/>
                </a:lnTo>
                <a:lnTo>
                  <a:pt x="24" y="21"/>
                </a:lnTo>
                <a:lnTo>
                  <a:pt x="17" y="33"/>
                </a:lnTo>
                <a:lnTo>
                  <a:pt x="10" y="45"/>
                </a:lnTo>
                <a:lnTo>
                  <a:pt x="7" y="58"/>
                </a:lnTo>
                <a:lnTo>
                  <a:pt x="4" y="71"/>
                </a:lnTo>
                <a:lnTo>
                  <a:pt x="2" y="84"/>
                </a:lnTo>
                <a:lnTo>
                  <a:pt x="0" y="99"/>
                </a:lnTo>
                <a:lnTo>
                  <a:pt x="2" y="112"/>
                </a:lnTo>
                <a:lnTo>
                  <a:pt x="4" y="127"/>
                </a:lnTo>
                <a:lnTo>
                  <a:pt x="7" y="141"/>
                </a:lnTo>
                <a:lnTo>
                  <a:pt x="10" y="154"/>
                </a:lnTo>
                <a:lnTo>
                  <a:pt x="17" y="165"/>
                </a:lnTo>
                <a:lnTo>
                  <a:pt x="24" y="177"/>
                </a:lnTo>
                <a:lnTo>
                  <a:pt x="30" y="189"/>
                </a:lnTo>
                <a:lnTo>
                  <a:pt x="38" y="199"/>
                </a:lnTo>
                <a:lnTo>
                  <a:pt x="45" y="199"/>
                </a:lnTo>
                <a:lnTo>
                  <a:pt x="37" y="189"/>
                </a:lnTo>
                <a:lnTo>
                  <a:pt x="29" y="177"/>
                </a:lnTo>
                <a:lnTo>
                  <a:pt x="22" y="165"/>
                </a:lnTo>
                <a:lnTo>
                  <a:pt x="17" y="154"/>
                </a:lnTo>
                <a:lnTo>
                  <a:pt x="12" y="141"/>
                </a:lnTo>
                <a:lnTo>
                  <a:pt x="9" y="127"/>
                </a:lnTo>
                <a:lnTo>
                  <a:pt x="7" y="114"/>
                </a:lnTo>
                <a:lnTo>
                  <a:pt x="5" y="99"/>
                </a:lnTo>
                <a:lnTo>
                  <a:pt x="7" y="84"/>
                </a:lnTo>
                <a:lnTo>
                  <a:pt x="9" y="71"/>
                </a:lnTo>
                <a:lnTo>
                  <a:pt x="12" y="58"/>
                </a:lnTo>
                <a:lnTo>
                  <a:pt x="17" y="45"/>
                </a:lnTo>
                <a:lnTo>
                  <a:pt x="22" y="33"/>
                </a:lnTo>
                <a:lnTo>
                  <a:pt x="29" y="21"/>
                </a:lnTo>
                <a:lnTo>
                  <a:pt x="37" y="10"/>
                </a:lnTo>
                <a:lnTo>
                  <a:pt x="45" y="0"/>
                </a:lnTo>
                <a:lnTo>
                  <a:pt x="38"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57" name="Freeform 1162">
            <a:extLst>
              <a:ext uri="{FF2B5EF4-FFF2-40B4-BE49-F238E27FC236}">
                <a16:creationId xmlns:a16="http://schemas.microsoft.com/office/drawing/2014/main" id="{E07EB7CA-1B3F-B2B9-1E2E-9FDD554F75A4}"/>
              </a:ext>
            </a:extLst>
          </p:cNvPr>
          <p:cNvSpPr>
            <a:spLocks noEditPoints="1"/>
          </p:cNvSpPr>
          <p:nvPr/>
        </p:nvSpPr>
        <p:spPr bwMode="auto">
          <a:xfrm>
            <a:off x="2684463" y="2403475"/>
            <a:ext cx="461963" cy="315913"/>
          </a:xfrm>
          <a:custGeom>
            <a:avLst/>
            <a:gdLst>
              <a:gd name="T0" fmla="*/ 291 w 291"/>
              <a:gd name="T1" fmla="*/ 84 h 199"/>
              <a:gd name="T2" fmla="*/ 285 w 291"/>
              <a:gd name="T3" fmla="*/ 58 h 199"/>
              <a:gd name="T4" fmla="*/ 275 w 291"/>
              <a:gd name="T5" fmla="*/ 33 h 199"/>
              <a:gd name="T6" fmla="*/ 261 w 291"/>
              <a:gd name="T7" fmla="*/ 10 h 199"/>
              <a:gd name="T8" fmla="*/ 245 w 291"/>
              <a:gd name="T9" fmla="*/ 0 h 199"/>
              <a:gd name="T10" fmla="*/ 263 w 291"/>
              <a:gd name="T11" fmla="*/ 20 h 199"/>
              <a:gd name="T12" fmla="*/ 276 w 291"/>
              <a:gd name="T13" fmla="*/ 45 h 199"/>
              <a:gd name="T14" fmla="*/ 283 w 291"/>
              <a:gd name="T15" fmla="*/ 71 h 199"/>
              <a:gd name="T16" fmla="*/ 286 w 291"/>
              <a:gd name="T17" fmla="*/ 99 h 199"/>
              <a:gd name="T18" fmla="*/ 283 w 291"/>
              <a:gd name="T19" fmla="*/ 127 h 199"/>
              <a:gd name="T20" fmla="*/ 276 w 291"/>
              <a:gd name="T21" fmla="*/ 154 h 199"/>
              <a:gd name="T22" fmla="*/ 263 w 291"/>
              <a:gd name="T23" fmla="*/ 177 h 199"/>
              <a:gd name="T24" fmla="*/ 245 w 291"/>
              <a:gd name="T25" fmla="*/ 199 h 199"/>
              <a:gd name="T26" fmla="*/ 261 w 291"/>
              <a:gd name="T27" fmla="*/ 189 h 199"/>
              <a:gd name="T28" fmla="*/ 275 w 291"/>
              <a:gd name="T29" fmla="*/ 165 h 199"/>
              <a:gd name="T30" fmla="*/ 285 w 291"/>
              <a:gd name="T31" fmla="*/ 141 h 199"/>
              <a:gd name="T32" fmla="*/ 291 w 291"/>
              <a:gd name="T33" fmla="*/ 112 h 199"/>
              <a:gd name="T34" fmla="*/ 38 w 291"/>
              <a:gd name="T35" fmla="*/ 0 h 199"/>
              <a:gd name="T36" fmla="*/ 21 w 291"/>
              <a:gd name="T37" fmla="*/ 21 h 199"/>
              <a:gd name="T38" fmla="*/ 10 w 291"/>
              <a:gd name="T39" fmla="*/ 45 h 199"/>
              <a:gd name="T40" fmla="*/ 1 w 291"/>
              <a:gd name="T41" fmla="*/ 71 h 199"/>
              <a:gd name="T42" fmla="*/ 0 w 291"/>
              <a:gd name="T43" fmla="*/ 99 h 199"/>
              <a:gd name="T44" fmla="*/ 1 w 291"/>
              <a:gd name="T45" fmla="*/ 127 h 199"/>
              <a:gd name="T46" fmla="*/ 10 w 291"/>
              <a:gd name="T47" fmla="*/ 154 h 199"/>
              <a:gd name="T48" fmla="*/ 21 w 291"/>
              <a:gd name="T49" fmla="*/ 177 h 199"/>
              <a:gd name="T50" fmla="*/ 38 w 291"/>
              <a:gd name="T51" fmla="*/ 199 h 199"/>
              <a:gd name="T52" fmla="*/ 36 w 291"/>
              <a:gd name="T53" fmla="*/ 189 h 199"/>
              <a:gd name="T54" fmla="*/ 21 w 291"/>
              <a:gd name="T55" fmla="*/ 165 h 199"/>
              <a:gd name="T56" fmla="*/ 10 w 291"/>
              <a:gd name="T57" fmla="*/ 141 h 199"/>
              <a:gd name="T58" fmla="*/ 5 w 291"/>
              <a:gd name="T59" fmla="*/ 114 h 199"/>
              <a:gd name="T60" fmla="*/ 5 w 291"/>
              <a:gd name="T61" fmla="*/ 84 h 199"/>
              <a:gd name="T62" fmla="*/ 10 w 291"/>
              <a:gd name="T63" fmla="*/ 58 h 199"/>
              <a:gd name="T64" fmla="*/ 21 w 291"/>
              <a:gd name="T65" fmla="*/ 31 h 199"/>
              <a:gd name="T66" fmla="*/ 36 w 291"/>
              <a:gd name="T67" fmla="*/ 10 h 199"/>
              <a:gd name="T68" fmla="*/ 38 w 29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1" h="199">
                <a:moveTo>
                  <a:pt x="291" y="99"/>
                </a:moveTo>
                <a:lnTo>
                  <a:pt x="291" y="84"/>
                </a:lnTo>
                <a:lnTo>
                  <a:pt x="288" y="71"/>
                </a:lnTo>
                <a:lnTo>
                  <a:pt x="285" y="58"/>
                </a:lnTo>
                <a:lnTo>
                  <a:pt x="281" y="45"/>
                </a:lnTo>
                <a:lnTo>
                  <a:pt x="275" y="33"/>
                </a:lnTo>
                <a:lnTo>
                  <a:pt x="268" y="21"/>
                </a:lnTo>
                <a:lnTo>
                  <a:pt x="261" y="10"/>
                </a:lnTo>
                <a:lnTo>
                  <a:pt x="251" y="0"/>
                </a:lnTo>
                <a:lnTo>
                  <a:pt x="245" y="0"/>
                </a:lnTo>
                <a:lnTo>
                  <a:pt x="255" y="10"/>
                </a:lnTo>
                <a:lnTo>
                  <a:pt x="263" y="20"/>
                </a:lnTo>
                <a:lnTo>
                  <a:pt x="270" y="31"/>
                </a:lnTo>
                <a:lnTo>
                  <a:pt x="276" y="45"/>
                </a:lnTo>
                <a:lnTo>
                  <a:pt x="280" y="58"/>
                </a:lnTo>
                <a:lnTo>
                  <a:pt x="283" y="71"/>
                </a:lnTo>
                <a:lnTo>
                  <a:pt x="286" y="84"/>
                </a:lnTo>
                <a:lnTo>
                  <a:pt x="286" y="99"/>
                </a:lnTo>
                <a:lnTo>
                  <a:pt x="286" y="114"/>
                </a:lnTo>
                <a:lnTo>
                  <a:pt x="283" y="127"/>
                </a:lnTo>
                <a:lnTo>
                  <a:pt x="280" y="141"/>
                </a:lnTo>
                <a:lnTo>
                  <a:pt x="276" y="154"/>
                </a:lnTo>
                <a:lnTo>
                  <a:pt x="270" y="165"/>
                </a:lnTo>
                <a:lnTo>
                  <a:pt x="263" y="177"/>
                </a:lnTo>
                <a:lnTo>
                  <a:pt x="255" y="189"/>
                </a:lnTo>
                <a:lnTo>
                  <a:pt x="245" y="199"/>
                </a:lnTo>
                <a:lnTo>
                  <a:pt x="251" y="199"/>
                </a:lnTo>
                <a:lnTo>
                  <a:pt x="261" y="189"/>
                </a:lnTo>
                <a:lnTo>
                  <a:pt x="268" y="177"/>
                </a:lnTo>
                <a:lnTo>
                  <a:pt x="275" y="165"/>
                </a:lnTo>
                <a:lnTo>
                  <a:pt x="281" y="154"/>
                </a:lnTo>
                <a:lnTo>
                  <a:pt x="285" y="141"/>
                </a:lnTo>
                <a:lnTo>
                  <a:pt x="288" y="127"/>
                </a:lnTo>
                <a:lnTo>
                  <a:pt x="291" y="112"/>
                </a:lnTo>
                <a:lnTo>
                  <a:pt x="291" y="99"/>
                </a:lnTo>
                <a:close/>
                <a:moveTo>
                  <a:pt x="38" y="0"/>
                </a:moveTo>
                <a:lnTo>
                  <a:pt x="29" y="10"/>
                </a:lnTo>
                <a:lnTo>
                  <a:pt x="21" y="21"/>
                </a:lnTo>
                <a:lnTo>
                  <a:pt x="15" y="33"/>
                </a:lnTo>
                <a:lnTo>
                  <a:pt x="10" y="45"/>
                </a:lnTo>
                <a:lnTo>
                  <a:pt x="5" y="58"/>
                </a:lnTo>
                <a:lnTo>
                  <a:pt x="1" y="71"/>
                </a:lnTo>
                <a:lnTo>
                  <a:pt x="0" y="84"/>
                </a:lnTo>
                <a:lnTo>
                  <a:pt x="0" y="99"/>
                </a:lnTo>
                <a:lnTo>
                  <a:pt x="0" y="112"/>
                </a:lnTo>
                <a:lnTo>
                  <a:pt x="1" y="127"/>
                </a:lnTo>
                <a:lnTo>
                  <a:pt x="5" y="141"/>
                </a:lnTo>
                <a:lnTo>
                  <a:pt x="10" y="154"/>
                </a:lnTo>
                <a:lnTo>
                  <a:pt x="15" y="165"/>
                </a:lnTo>
                <a:lnTo>
                  <a:pt x="21" y="177"/>
                </a:lnTo>
                <a:lnTo>
                  <a:pt x="29" y="189"/>
                </a:lnTo>
                <a:lnTo>
                  <a:pt x="38" y="199"/>
                </a:lnTo>
                <a:lnTo>
                  <a:pt x="44" y="199"/>
                </a:lnTo>
                <a:lnTo>
                  <a:pt x="36" y="189"/>
                </a:lnTo>
                <a:lnTo>
                  <a:pt x="28" y="177"/>
                </a:lnTo>
                <a:lnTo>
                  <a:pt x="21" y="165"/>
                </a:lnTo>
                <a:lnTo>
                  <a:pt x="15" y="154"/>
                </a:lnTo>
                <a:lnTo>
                  <a:pt x="10" y="141"/>
                </a:lnTo>
                <a:lnTo>
                  <a:pt x="6" y="127"/>
                </a:lnTo>
                <a:lnTo>
                  <a:pt x="5" y="114"/>
                </a:lnTo>
                <a:lnTo>
                  <a:pt x="5" y="99"/>
                </a:lnTo>
                <a:lnTo>
                  <a:pt x="5" y="84"/>
                </a:lnTo>
                <a:lnTo>
                  <a:pt x="6" y="71"/>
                </a:lnTo>
                <a:lnTo>
                  <a:pt x="10" y="58"/>
                </a:lnTo>
                <a:lnTo>
                  <a:pt x="15" y="45"/>
                </a:lnTo>
                <a:lnTo>
                  <a:pt x="21" y="31"/>
                </a:lnTo>
                <a:lnTo>
                  <a:pt x="28" y="20"/>
                </a:lnTo>
                <a:lnTo>
                  <a:pt x="36" y="10"/>
                </a:lnTo>
                <a:lnTo>
                  <a:pt x="44" y="0"/>
                </a:lnTo>
                <a:lnTo>
                  <a:pt x="38"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58" name="Freeform 1163">
            <a:extLst>
              <a:ext uri="{FF2B5EF4-FFF2-40B4-BE49-F238E27FC236}">
                <a16:creationId xmlns:a16="http://schemas.microsoft.com/office/drawing/2014/main" id="{117CA403-2190-1429-62AC-5B631F590BB8}"/>
              </a:ext>
            </a:extLst>
          </p:cNvPr>
          <p:cNvSpPr>
            <a:spLocks noEditPoints="1"/>
          </p:cNvSpPr>
          <p:nvPr/>
        </p:nvSpPr>
        <p:spPr bwMode="auto">
          <a:xfrm>
            <a:off x="2686050" y="2403475"/>
            <a:ext cx="457200" cy="315913"/>
          </a:xfrm>
          <a:custGeom>
            <a:avLst/>
            <a:gdLst>
              <a:gd name="T0" fmla="*/ 287 w 288"/>
              <a:gd name="T1" fmla="*/ 84 h 199"/>
              <a:gd name="T2" fmla="*/ 282 w 288"/>
              <a:gd name="T3" fmla="*/ 58 h 199"/>
              <a:gd name="T4" fmla="*/ 272 w 288"/>
              <a:gd name="T5" fmla="*/ 33 h 199"/>
              <a:gd name="T6" fmla="*/ 257 w 288"/>
              <a:gd name="T7" fmla="*/ 10 h 199"/>
              <a:gd name="T8" fmla="*/ 240 w 288"/>
              <a:gd name="T9" fmla="*/ 0 h 199"/>
              <a:gd name="T10" fmla="*/ 259 w 288"/>
              <a:gd name="T11" fmla="*/ 20 h 199"/>
              <a:gd name="T12" fmla="*/ 272 w 288"/>
              <a:gd name="T13" fmla="*/ 45 h 199"/>
              <a:gd name="T14" fmla="*/ 280 w 288"/>
              <a:gd name="T15" fmla="*/ 71 h 199"/>
              <a:gd name="T16" fmla="*/ 284 w 288"/>
              <a:gd name="T17" fmla="*/ 99 h 199"/>
              <a:gd name="T18" fmla="*/ 280 w 288"/>
              <a:gd name="T19" fmla="*/ 127 h 199"/>
              <a:gd name="T20" fmla="*/ 272 w 288"/>
              <a:gd name="T21" fmla="*/ 154 h 199"/>
              <a:gd name="T22" fmla="*/ 259 w 288"/>
              <a:gd name="T23" fmla="*/ 177 h 199"/>
              <a:gd name="T24" fmla="*/ 240 w 288"/>
              <a:gd name="T25" fmla="*/ 199 h 199"/>
              <a:gd name="T26" fmla="*/ 257 w 288"/>
              <a:gd name="T27" fmla="*/ 189 h 199"/>
              <a:gd name="T28" fmla="*/ 272 w 288"/>
              <a:gd name="T29" fmla="*/ 165 h 199"/>
              <a:gd name="T30" fmla="*/ 282 w 288"/>
              <a:gd name="T31" fmla="*/ 141 h 199"/>
              <a:gd name="T32" fmla="*/ 287 w 288"/>
              <a:gd name="T33" fmla="*/ 114 h 199"/>
              <a:gd name="T34" fmla="*/ 40 w 288"/>
              <a:gd name="T35" fmla="*/ 0 h 199"/>
              <a:gd name="T36" fmla="*/ 24 w 288"/>
              <a:gd name="T37" fmla="*/ 21 h 199"/>
              <a:gd name="T38" fmla="*/ 12 w 288"/>
              <a:gd name="T39" fmla="*/ 45 h 199"/>
              <a:gd name="T40" fmla="*/ 4 w 288"/>
              <a:gd name="T41" fmla="*/ 71 h 199"/>
              <a:gd name="T42" fmla="*/ 0 w 288"/>
              <a:gd name="T43" fmla="*/ 99 h 199"/>
              <a:gd name="T44" fmla="*/ 4 w 288"/>
              <a:gd name="T45" fmla="*/ 127 h 199"/>
              <a:gd name="T46" fmla="*/ 12 w 288"/>
              <a:gd name="T47" fmla="*/ 154 h 199"/>
              <a:gd name="T48" fmla="*/ 24 w 288"/>
              <a:gd name="T49" fmla="*/ 177 h 199"/>
              <a:gd name="T50" fmla="*/ 40 w 288"/>
              <a:gd name="T51" fmla="*/ 199 h 199"/>
              <a:gd name="T52" fmla="*/ 38 w 288"/>
              <a:gd name="T53" fmla="*/ 189 h 199"/>
              <a:gd name="T54" fmla="*/ 22 w 288"/>
              <a:gd name="T55" fmla="*/ 165 h 199"/>
              <a:gd name="T56" fmla="*/ 12 w 288"/>
              <a:gd name="T57" fmla="*/ 141 h 199"/>
              <a:gd name="T58" fmla="*/ 5 w 288"/>
              <a:gd name="T59" fmla="*/ 114 h 199"/>
              <a:gd name="T60" fmla="*/ 5 w 288"/>
              <a:gd name="T61" fmla="*/ 84 h 199"/>
              <a:gd name="T62" fmla="*/ 12 w 288"/>
              <a:gd name="T63" fmla="*/ 58 h 199"/>
              <a:gd name="T64" fmla="*/ 22 w 288"/>
              <a:gd name="T65" fmla="*/ 31 h 199"/>
              <a:gd name="T66" fmla="*/ 38 w 288"/>
              <a:gd name="T67" fmla="*/ 10 h 199"/>
              <a:gd name="T68" fmla="*/ 40 w 288"/>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8" h="199">
                <a:moveTo>
                  <a:pt x="288" y="99"/>
                </a:moveTo>
                <a:lnTo>
                  <a:pt x="287" y="84"/>
                </a:lnTo>
                <a:lnTo>
                  <a:pt x="285" y="71"/>
                </a:lnTo>
                <a:lnTo>
                  <a:pt x="282" y="58"/>
                </a:lnTo>
                <a:lnTo>
                  <a:pt x="277" y="45"/>
                </a:lnTo>
                <a:lnTo>
                  <a:pt x="272" y="33"/>
                </a:lnTo>
                <a:lnTo>
                  <a:pt x="265" y="21"/>
                </a:lnTo>
                <a:lnTo>
                  <a:pt x="257" y="10"/>
                </a:lnTo>
                <a:lnTo>
                  <a:pt x="247" y="0"/>
                </a:lnTo>
                <a:lnTo>
                  <a:pt x="240" y="0"/>
                </a:lnTo>
                <a:lnTo>
                  <a:pt x="250" y="10"/>
                </a:lnTo>
                <a:lnTo>
                  <a:pt x="259" y="20"/>
                </a:lnTo>
                <a:lnTo>
                  <a:pt x="265" y="31"/>
                </a:lnTo>
                <a:lnTo>
                  <a:pt x="272" y="45"/>
                </a:lnTo>
                <a:lnTo>
                  <a:pt x="277" y="58"/>
                </a:lnTo>
                <a:lnTo>
                  <a:pt x="280" y="71"/>
                </a:lnTo>
                <a:lnTo>
                  <a:pt x="282" y="84"/>
                </a:lnTo>
                <a:lnTo>
                  <a:pt x="284" y="99"/>
                </a:lnTo>
                <a:lnTo>
                  <a:pt x="282" y="114"/>
                </a:lnTo>
                <a:lnTo>
                  <a:pt x="280" y="127"/>
                </a:lnTo>
                <a:lnTo>
                  <a:pt x="277" y="141"/>
                </a:lnTo>
                <a:lnTo>
                  <a:pt x="272" y="154"/>
                </a:lnTo>
                <a:lnTo>
                  <a:pt x="265" y="165"/>
                </a:lnTo>
                <a:lnTo>
                  <a:pt x="259" y="177"/>
                </a:lnTo>
                <a:lnTo>
                  <a:pt x="250" y="189"/>
                </a:lnTo>
                <a:lnTo>
                  <a:pt x="240" y="199"/>
                </a:lnTo>
                <a:lnTo>
                  <a:pt x="247" y="199"/>
                </a:lnTo>
                <a:lnTo>
                  <a:pt x="257" y="189"/>
                </a:lnTo>
                <a:lnTo>
                  <a:pt x="265" y="177"/>
                </a:lnTo>
                <a:lnTo>
                  <a:pt x="272" y="165"/>
                </a:lnTo>
                <a:lnTo>
                  <a:pt x="277" y="154"/>
                </a:lnTo>
                <a:lnTo>
                  <a:pt x="282" y="141"/>
                </a:lnTo>
                <a:lnTo>
                  <a:pt x="285" y="127"/>
                </a:lnTo>
                <a:lnTo>
                  <a:pt x="287" y="114"/>
                </a:lnTo>
                <a:lnTo>
                  <a:pt x="288" y="99"/>
                </a:lnTo>
                <a:close/>
                <a:moveTo>
                  <a:pt x="40" y="0"/>
                </a:moveTo>
                <a:lnTo>
                  <a:pt x="32" y="10"/>
                </a:lnTo>
                <a:lnTo>
                  <a:pt x="24" y="21"/>
                </a:lnTo>
                <a:lnTo>
                  <a:pt x="17" y="33"/>
                </a:lnTo>
                <a:lnTo>
                  <a:pt x="12" y="45"/>
                </a:lnTo>
                <a:lnTo>
                  <a:pt x="7" y="58"/>
                </a:lnTo>
                <a:lnTo>
                  <a:pt x="4" y="71"/>
                </a:lnTo>
                <a:lnTo>
                  <a:pt x="2" y="84"/>
                </a:lnTo>
                <a:lnTo>
                  <a:pt x="0" y="99"/>
                </a:lnTo>
                <a:lnTo>
                  <a:pt x="2" y="114"/>
                </a:lnTo>
                <a:lnTo>
                  <a:pt x="4" y="127"/>
                </a:lnTo>
                <a:lnTo>
                  <a:pt x="7" y="141"/>
                </a:lnTo>
                <a:lnTo>
                  <a:pt x="12" y="154"/>
                </a:lnTo>
                <a:lnTo>
                  <a:pt x="17" y="165"/>
                </a:lnTo>
                <a:lnTo>
                  <a:pt x="24" y="177"/>
                </a:lnTo>
                <a:lnTo>
                  <a:pt x="32" y="189"/>
                </a:lnTo>
                <a:lnTo>
                  <a:pt x="40" y="199"/>
                </a:lnTo>
                <a:lnTo>
                  <a:pt x="47" y="199"/>
                </a:lnTo>
                <a:lnTo>
                  <a:pt x="38" y="189"/>
                </a:lnTo>
                <a:lnTo>
                  <a:pt x="30" y="177"/>
                </a:lnTo>
                <a:lnTo>
                  <a:pt x="22" y="165"/>
                </a:lnTo>
                <a:lnTo>
                  <a:pt x="17" y="154"/>
                </a:lnTo>
                <a:lnTo>
                  <a:pt x="12" y="141"/>
                </a:lnTo>
                <a:lnTo>
                  <a:pt x="9" y="127"/>
                </a:lnTo>
                <a:lnTo>
                  <a:pt x="5" y="114"/>
                </a:lnTo>
                <a:lnTo>
                  <a:pt x="5" y="99"/>
                </a:lnTo>
                <a:lnTo>
                  <a:pt x="5" y="84"/>
                </a:lnTo>
                <a:lnTo>
                  <a:pt x="9" y="71"/>
                </a:lnTo>
                <a:lnTo>
                  <a:pt x="12" y="58"/>
                </a:lnTo>
                <a:lnTo>
                  <a:pt x="17" y="45"/>
                </a:lnTo>
                <a:lnTo>
                  <a:pt x="22" y="31"/>
                </a:lnTo>
                <a:lnTo>
                  <a:pt x="30" y="20"/>
                </a:lnTo>
                <a:lnTo>
                  <a:pt x="38" y="10"/>
                </a:lnTo>
                <a:lnTo>
                  <a:pt x="47" y="0"/>
                </a:lnTo>
                <a:lnTo>
                  <a:pt x="40"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59" name="Freeform 1164">
            <a:extLst>
              <a:ext uri="{FF2B5EF4-FFF2-40B4-BE49-F238E27FC236}">
                <a16:creationId xmlns:a16="http://schemas.microsoft.com/office/drawing/2014/main" id="{25063F46-425A-492F-547A-68B5092A35EC}"/>
              </a:ext>
            </a:extLst>
          </p:cNvPr>
          <p:cNvSpPr>
            <a:spLocks noEditPoints="1"/>
          </p:cNvSpPr>
          <p:nvPr/>
        </p:nvSpPr>
        <p:spPr bwMode="auto">
          <a:xfrm>
            <a:off x="2692400" y="2403475"/>
            <a:ext cx="446088" cy="315913"/>
          </a:xfrm>
          <a:custGeom>
            <a:avLst/>
            <a:gdLst>
              <a:gd name="T0" fmla="*/ 281 w 281"/>
              <a:gd name="T1" fmla="*/ 84 h 199"/>
              <a:gd name="T2" fmla="*/ 275 w 281"/>
              <a:gd name="T3" fmla="*/ 58 h 199"/>
              <a:gd name="T4" fmla="*/ 265 w 281"/>
              <a:gd name="T5" fmla="*/ 31 h 199"/>
              <a:gd name="T6" fmla="*/ 250 w 281"/>
              <a:gd name="T7" fmla="*/ 10 h 199"/>
              <a:gd name="T8" fmla="*/ 233 w 281"/>
              <a:gd name="T9" fmla="*/ 0 h 199"/>
              <a:gd name="T10" fmla="*/ 251 w 281"/>
              <a:gd name="T11" fmla="*/ 20 h 199"/>
              <a:gd name="T12" fmla="*/ 265 w 281"/>
              <a:gd name="T13" fmla="*/ 45 h 199"/>
              <a:gd name="T14" fmla="*/ 273 w 281"/>
              <a:gd name="T15" fmla="*/ 71 h 199"/>
              <a:gd name="T16" fmla="*/ 276 w 281"/>
              <a:gd name="T17" fmla="*/ 99 h 199"/>
              <a:gd name="T18" fmla="*/ 273 w 281"/>
              <a:gd name="T19" fmla="*/ 127 h 199"/>
              <a:gd name="T20" fmla="*/ 265 w 281"/>
              <a:gd name="T21" fmla="*/ 154 h 199"/>
              <a:gd name="T22" fmla="*/ 251 w 281"/>
              <a:gd name="T23" fmla="*/ 179 h 199"/>
              <a:gd name="T24" fmla="*/ 233 w 281"/>
              <a:gd name="T25" fmla="*/ 199 h 199"/>
              <a:gd name="T26" fmla="*/ 250 w 281"/>
              <a:gd name="T27" fmla="*/ 189 h 199"/>
              <a:gd name="T28" fmla="*/ 265 w 281"/>
              <a:gd name="T29" fmla="*/ 165 h 199"/>
              <a:gd name="T30" fmla="*/ 275 w 281"/>
              <a:gd name="T31" fmla="*/ 141 h 199"/>
              <a:gd name="T32" fmla="*/ 281 w 281"/>
              <a:gd name="T33" fmla="*/ 114 h 199"/>
              <a:gd name="T34" fmla="*/ 39 w 281"/>
              <a:gd name="T35" fmla="*/ 0 h 199"/>
              <a:gd name="T36" fmla="*/ 23 w 281"/>
              <a:gd name="T37" fmla="*/ 20 h 199"/>
              <a:gd name="T38" fmla="*/ 10 w 281"/>
              <a:gd name="T39" fmla="*/ 45 h 199"/>
              <a:gd name="T40" fmla="*/ 1 w 281"/>
              <a:gd name="T41" fmla="*/ 71 h 199"/>
              <a:gd name="T42" fmla="*/ 0 w 281"/>
              <a:gd name="T43" fmla="*/ 99 h 199"/>
              <a:gd name="T44" fmla="*/ 1 w 281"/>
              <a:gd name="T45" fmla="*/ 127 h 199"/>
              <a:gd name="T46" fmla="*/ 10 w 281"/>
              <a:gd name="T47" fmla="*/ 154 h 199"/>
              <a:gd name="T48" fmla="*/ 23 w 281"/>
              <a:gd name="T49" fmla="*/ 177 h 199"/>
              <a:gd name="T50" fmla="*/ 39 w 281"/>
              <a:gd name="T51" fmla="*/ 199 h 199"/>
              <a:gd name="T52" fmla="*/ 38 w 281"/>
              <a:gd name="T53" fmla="*/ 189 h 199"/>
              <a:gd name="T54" fmla="*/ 21 w 281"/>
              <a:gd name="T55" fmla="*/ 167 h 199"/>
              <a:gd name="T56" fmla="*/ 10 w 281"/>
              <a:gd name="T57" fmla="*/ 141 h 199"/>
              <a:gd name="T58" fmla="*/ 5 w 281"/>
              <a:gd name="T59" fmla="*/ 114 h 199"/>
              <a:gd name="T60" fmla="*/ 5 w 281"/>
              <a:gd name="T61" fmla="*/ 84 h 199"/>
              <a:gd name="T62" fmla="*/ 10 w 281"/>
              <a:gd name="T63" fmla="*/ 56 h 199"/>
              <a:gd name="T64" fmla="*/ 21 w 281"/>
              <a:gd name="T65" fmla="*/ 31 h 199"/>
              <a:gd name="T66" fmla="*/ 38 w 281"/>
              <a:gd name="T67" fmla="*/ 10 h 199"/>
              <a:gd name="T68" fmla="*/ 39 w 28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1" h="199">
                <a:moveTo>
                  <a:pt x="281" y="99"/>
                </a:moveTo>
                <a:lnTo>
                  <a:pt x="281" y="84"/>
                </a:lnTo>
                <a:lnTo>
                  <a:pt x="278" y="71"/>
                </a:lnTo>
                <a:lnTo>
                  <a:pt x="275" y="58"/>
                </a:lnTo>
                <a:lnTo>
                  <a:pt x="271" y="45"/>
                </a:lnTo>
                <a:lnTo>
                  <a:pt x="265" y="31"/>
                </a:lnTo>
                <a:lnTo>
                  <a:pt x="258" y="20"/>
                </a:lnTo>
                <a:lnTo>
                  <a:pt x="250" y="10"/>
                </a:lnTo>
                <a:lnTo>
                  <a:pt x="240" y="0"/>
                </a:lnTo>
                <a:lnTo>
                  <a:pt x="233" y="0"/>
                </a:lnTo>
                <a:lnTo>
                  <a:pt x="243" y="10"/>
                </a:lnTo>
                <a:lnTo>
                  <a:pt x="251" y="20"/>
                </a:lnTo>
                <a:lnTo>
                  <a:pt x="260" y="31"/>
                </a:lnTo>
                <a:lnTo>
                  <a:pt x="265" y="45"/>
                </a:lnTo>
                <a:lnTo>
                  <a:pt x="270" y="56"/>
                </a:lnTo>
                <a:lnTo>
                  <a:pt x="273" y="71"/>
                </a:lnTo>
                <a:lnTo>
                  <a:pt x="276" y="84"/>
                </a:lnTo>
                <a:lnTo>
                  <a:pt x="276" y="99"/>
                </a:lnTo>
                <a:lnTo>
                  <a:pt x="276" y="114"/>
                </a:lnTo>
                <a:lnTo>
                  <a:pt x="273" y="127"/>
                </a:lnTo>
                <a:lnTo>
                  <a:pt x="270" y="141"/>
                </a:lnTo>
                <a:lnTo>
                  <a:pt x="265" y="154"/>
                </a:lnTo>
                <a:lnTo>
                  <a:pt x="260" y="167"/>
                </a:lnTo>
                <a:lnTo>
                  <a:pt x="251" y="179"/>
                </a:lnTo>
                <a:lnTo>
                  <a:pt x="243" y="189"/>
                </a:lnTo>
                <a:lnTo>
                  <a:pt x="233" y="199"/>
                </a:lnTo>
                <a:lnTo>
                  <a:pt x="240" y="199"/>
                </a:lnTo>
                <a:lnTo>
                  <a:pt x="250" y="189"/>
                </a:lnTo>
                <a:lnTo>
                  <a:pt x="258" y="177"/>
                </a:lnTo>
                <a:lnTo>
                  <a:pt x="265" y="165"/>
                </a:lnTo>
                <a:lnTo>
                  <a:pt x="271" y="154"/>
                </a:lnTo>
                <a:lnTo>
                  <a:pt x="275" y="141"/>
                </a:lnTo>
                <a:lnTo>
                  <a:pt x="278" y="127"/>
                </a:lnTo>
                <a:lnTo>
                  <a:pt x="281" y="114"/>
                </a:lnTo>
                <a:lnTo>
                  <a:pt x="281" y="99"/>
                </a:lnTo>
                <a:close/>
                <a:moveTo>
                  <a:pt x="39" y="0"/>
                </a:moveTo>
                <a:lnTo>
                  <a:pt x="31" y="10"/>
                </a:lnTo>
                <a:lnTo>
                  <a:pt x="23" y="20"/>
                </a:lnTo>
                <a:lnTo>
                  <a:pt x="16" y="31"/>
                </a:lnTo>
                <a:lnTo>
                  <a:pt x="10" y="45"/>
                </a:lnTo>
                <a:lnTo>
                  <a:pt x="5" y="58"/>
                </a:lnTo>
                <a:lnTo>
                  <a:pt x="1" y="71"/>
                </a:lnTo>
                <a:lnTo>
                  <a:pt x="0" y="84"/>
                </a:lnTo>
                <a:lnTo>
                  <a:pt x="0" y="99"/>
                </a:lnTo>
                <a:lnTo>
                  <a:pt x="0" y="114"/>
                </a:lnTo>
                <a:lnTo>
                  <a:pt x="1" y="127"/>
                </a:lnTo>
                <a:lnTo>
                  <a:pt x="5" y="141"/>
                </a:lnTo>
                <a:lnTo>
                  <a:pt x="10" y="154"/>
                </a:lnTo>
                <a:lnTo>
                  <a:pt x="16" y="165"/>
                </a:lnTo>
                <a:lnTo>
                  <a:pt x="23" y="177"/>
                </a:lnTo>
                <a:lnTo>
                  <a:pt x="31" y="189"/>
                </a:lnTo>
                <a:lnTo>
                  <a:pt x="39" y="199"/>
                </a:lnTo>
                <a:lnTo>
                  <a:pt x="46" y="199"/>
                </a:lnTo>
                <a:lnTo>
                  <a:pt x="38" y="189"/>
                </a:lnTo>
                <a:lnTo>
                  <a:pt x="29" y="179"/>
                </a:lnTo>
                <a:lnTo>
                  <a:pt x="21" y="167"/>
                </a:lnTo>
                <a:lnTo>
                  <a:pt x="15" y="154"/>
                </a:lnTo>
                <a:lnTo>
                  <a:pt x="10" y="141"/>
                </a:lnTo>
                <a:lnTo>
                  <a:pt x="6" y="127"/>
                </a:lnTo>
                <a:lnTo>
                  <a:pt x="5" y="114"/>
                </a:lnTo>
                <a:lnTo>
                  <a:pt x="3" y="99"/>
                </a:lnTo>
                <a:lnTo>
                  <a:pt x="5" y="84"/>
                </a:lnTo>
                <a:lnTo>
                  <a:pt x="6" y="71"/>
                </a:lnTo>
                <a:lnTo>
                  <a:pt x="10" y="56"/>
                </a:lnTo>
                <a:lnTo>
                  <a:pt x="15" y="45"/>
                </a:lnTo>
                <a:lnTo>
                  <a:pt x="21" y="31"/>
                </a:lnTo>
                <a:lnTo>
                  <a:pt x="29" y="20"/>
                </a:lnTo>
                <a:lnTo>
                  <a:pt x="38" y="10"/>
                </a:lnTo>
                <a:lnTo>
                  <a:pt x="46" y="0"/>
                </a:lnTo>
                <a:lnTo>
                  <a:pt x="39"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60" name="Freeform 1165">
            <a:extLst>
              <a:ext uri="{FF2B5EF4-FFF2-40B4-BE49-F238E27FC236}">
                <a16:creationId xmlns:a16="http://schemas.microsoft.com/office/drawing/2014/main" id="{1A104DAC-9C5A-0697-ADDA-B6E4579B63FC}"/>
              </a:ext>
            </a:extLst>
          </p:cNvPr>
          <p:cNvSpPr>
            <a:spLocks noEditPoints="1"/>
          </p:cNvSpPr>
          <p:nvPr/>
        </p:nvSpPr>
        <p:spPr bwMode="auto">
          <a:xfrm>
            <a:off x="2693988" y="2403475"/>
            <a:ext cx="442913" cy="315913"/>
          </a:xfrm>
          <a:custGeom>
            <a:avLst/>
            <a:gdLst>
              <a:gd name="T0" fmla="*/ 277 w 279"/>
              <a:gd name="T1" fmla="*/ 84 h 199"/>
              <a:gd name="T2" fmla="*/ 272 w 279"/>
              <a:gd name="T3" fmla="*/ 58 h 199"/>
              <a:gd name="T4" fmla="*/ 260 w 279"/>
              <a:gd name="T5" fmla="*/ 31 h 199"/>
              <a:gd name="T6" fmla="*/ 245 w 279"/>
              <a:gd name="T7" fmla="*/ 10 h 199"/>
              <a:gd name="T8" fmla="*/ 229 w 279"/>
              <a:gd name="T9" fmla="*/ 0 h 199"/>
              <a:gd name="T10" fmla="*/ 247 w 279"/>
              <a:gd name="T11" fmla="*/ 20 h 199"/>
              <a:gd name="T12" fmla="*/ 262 w 279"/>
              <a:gd name="T13" fmla="*/ 45 h 199"/>
              <a:gd name="T14" fmla="*/ 270 w 279"/>
              <a:gd name="T15" fmla="*/ 71 h 199"/>
              <a:gd name="T16" fmla="*/ 274 w 279"/>
              <a:gd name="T17" fmla="*/ 99 h 199"/>
              <a:gd name="T18" fmla="*/ 270 w 279"/>
              <a:gd name="T19" fmla="*/ 127 h 199"/>
              <a:gd name="T20" fmla="*/ 262 w 279"/>
              <a:gd name="T21" fmla="*/ 154 h 199"/>
              <a:gd name="T22" fmla="*/ 247 w 279"/>
              <a:gd name="T23" fmla="*/ 179 h 199"/>
              <a:gd name="T24" fmla="*/ 229 w 279"/>
              <a:gd name="T25" fmla="*/ 199 h 199"/>
              <a:gd name="T26" fmla="*/ 245 w 279"/>
              <a:gd name="T27" fmla="*/ 189 h 199"/>
              <a:gd name="T28" fmla="*/ 260 w 279"/>
              <a:gd name="T29" fmla="*/ 165 h 199"/>
              <a:gd name="T30" fmla="*/ 272 w 279"/>
              <a:gd name="T31" fmla="*/ 141 h 199"/>
              <a:gd name="T32" fmla="*/ 277 w 279"/>
              <a:gd name="T33" fmla="*/ 114 h 199"/>
              <a:gd name="T34" fmla="*/ 42 w 279"/>
              <a:gd name="T35" fmla="*/ 0 h 199"/>
              <a:gd name="T36" fmla="*/ 25 w 279"/>
              <a:gd name="T37" fmla="*/ 20 h 199"/>
              <a:gd name="T38" fmla="*/ 12 w 279"/>
              <a:gd name="T39" fmla="*/ 45 h 199"/>
              <a:gd name="T40" fmla="*/ 4 w 279"/>
              <a:gd name="T41" fmla="*/ 71 h 199"/>
              <a:gd name="T42" fmla="*/ 0 w 279"/>
              <a:gd name="T43" fmla="*/ 99 h 199"/>
              <a:gd name="T44" fmla="*/ 4 w 279"/>
              <a:gd name="T45" fmla="*/ 127 h 199"/>
              <a:gd name="T46" fmla="*/ 12 w 279"/>
              <a:gd name="T47" fmla="*/ 154 h 199"/>
              <a:gd name="T48" fmla="*/ 25 w 279"/>
              <a:gd name="T49" fmla="*/ 177 h 199"/>
              <a:gd name="T50" fmla="*/ 42 w 279"/>
              <a:gd name="T51" fmla="*/ 199 h 199"/>
              <a:gd name="T52" fmla="*/ 40 w 279"/>
              <a:gd name="T53" fmla="*/ 189 h 199"/>
              <a:gd name="T54" fmla="*/ 23 w 279"/>
              <a:gd name="T55" fmla="*/ 167 h 199"/>
              <a:gd name="T56" fmla="*/ 12 w 279"/>
              <a:gd name="T57" fmla="*/ 141 h 199"/>
              <a:gd name="T58" fmla="*/ 5 w 279"/>
              <a:gd name="T59" fmla="*/ 114 h 199"/>
              <a:gd name="T60" fmla="*/ 5 w 279"/>
              <a:gd name="T61" fmla="*/ 84 h 199"/>
              <a:gd name="T62" fmla="*/ 12 w 279"/>
              <a:gd name="T63" fmla="*/ 56 h 199"/>
              <a:gd name="T64" fmla="*/ 23 w 279"/>
              <a:gd name="T65" fmla="*/ 31 h 199"/>
              <a:gd name="T66" fmla="*/ 40 w 279"/>
              <a:gd name="T67" fmla="*/ 10 h 199"/>
              <a:gd name="T68" fmla="*/ 42 w 27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9" h="199">
                <a:moveTo>
                  <a:pt x="279" y="99"/>
                </a:moveTo>
                <a:lnTo>
                  <a:pt x="277" y="84"/>
                </a:lnTo>
                <a:lnTo>
                  <a:pt x="275" y="71"/>
                </a:lnTo>
                <a:lnTo>
                  <a:pt x="272" y="58"/>
                </a:lnTo>
                <a:lnTo>
                  <a:pt x="267" y="45"/>
                </a:lnTo>
                <a:lnTo>
                  <a:pt x="260" y="31"/>
                </a:lnTo>
                <a:lnTo>
                  <a:pt x="254" y="20"/>
                </a:lnTo>
                <a:lnTo>
                  <a:pt x="245" y="10"/>
                </a:lnTo>
                <a:lnTo>
                  <a:pt x="235" y="0"/>
                </a:lnTo>
                <a:lnTo>
                  <a:pt x="229" y="0"/>
                </a:lnTo>
                <a:lnTo>
                  <a:pt x="239" y="10"/>
                </a:lnTo>
                <a:lnTo>
                  <a:pt x="247" y="20"/>
                </a:lnTo>
                <a:lnTo>
                  <a:pt x="255" y="31"/>
                </a:lnTo>
                <a:lnTo>
                  <a:pt x="262" y="45"/>
                </a:lnTo>
                <a:lnTo>
                  <a:pt x="267" y="56"/>
                </a:lnTo>
                <a:lnTo>
                  <a:pt x="270" y="71"/>
                </a:lnTo>
                <a:lnTo>
                  <a:pt x="272" y="84"/>
                </a:lnTo>
                <a:lnTo>
                  <a:pt x="274" y="99"/>
                </a:lnTo>
                <a:lnTo>
                  <a:pt x="272" y="114"/>
                </a:lnTo>
                <a:lnTo>
                  <a:pt x="270" y="127"/>
                </a:lnTo>
                <a:lnTo>
                  <a:pt x="267" y="141"/>
                </a:lnTo>
                <a:lnTo>
                  <a:pt x="262" y="154"/>
                </a:lnTo>
                <a:lnTo>
                  <a:pt x="255" y="167"/>
                </a:lnTo>
                <a:lnTo>
                  <a:pt x="247" y="179"/>
                </a:lnTo>
                <a:lnTo>
                  <a:pt x="239" y="189"/>
                </a:lnTo>
                <a:lnTo>
                  <a:pt x="229" y="199"/>
                </a:lnTo>
                <a:lnTo>
                  <a:pt x="235" y="199"/>
                </a:lnTo>
                <a:lnTo>
                  <a:pt x="245" y="189"/>
                </a:lnTo>
                <a:lnTo>
                  <a:pt x="254" y="177"/>
                </a:lnTo>
                <a:lnTo>
                  <a:pt x="260" y="165"/>
                </a:lnTo>
                <a:lnTo>
                  <a:pt x="267" y="154"/>
                </a:lnTo>
                <a:lnTo>
                  <a:pt x="272" y="141"/>
                </a:lnTo>
                <a:lnTo>
                  <a:pt x="275" y="127"/>
                </a:lnTo>
                <a:lnTo>
                  <a:pt x="277" y="114"/>
                </a:lnTo>
                <a:lnTo>
                  <a:pt x="279" y="99"/>
                </a:lnTo>
                <a:close/>
                <a:moveTo>
                  <a:pt x="42" y="0"/>
                </a:moveTo>
                <a:lnTo>
                  <a:pt x="33" y="10"/>
                </a:lnTo>
                <a:lnTo>
                  <a:pt x="25" y="20"/>
                </a:lnTo>
                <a:lnTo>
                  <a:pt x="17" y="31"/>
                </a:lnTo>
                <a:lnTo>
                  <a:pt x="12" y="45"/>
                </a:lnTo>
                <a:lnTo>
                  <a:pt x="7" y="58"/>
                </a:lnTo>
                <a:lnTo>
                  <a:pt x="4" y="71"/>
                </a:lnTo>
                <a:lnTo>
                  <a:pt x="0" y="84"/>
                </a:lnTo>
                <a:lnTo>
                  <a:pt x="0" y="99"/>
                </a:lnTo>
                <a:lnTo>
                  <a:pt x="0" y="114"/>
                </a:lnTo>
                <a:lnTo>
                  <a:pt x="4" y="127"/>
                </a:lnTo>
                <a:lnTo>
                  <a:pt x="7" y="141"/>
                </a:lnTo>
                <a:lnTo>
                  <a:pt x="12" y="154"/>
                </a:lnTo>
                <a:lnTo>
                  <a:pt x="17" y="165"/>
                </a:lnTo>
                <a:lnTo>
                  <a:pt x="25" y="177"/>
                </a:lnTo>
                <a:lnTo>
                  <a:pt x="33" y="189"/>
                </a:lnTo>
                <a:lnTo>
                  <a:pt x="42" y="199"/>
                </a:lnTo>
                <a:lnTo>
                  <a:pt x="48" y="199"/>
                </a:lnTo>
                <a:lnTo>
                  <a:pt x="40" y="189"/>
                </a:lnTo>
                <a:lnTo>
                  <a:pt x="30" y="179"/>
                </a:lnTo>
                <a:lnTo>
                  <a:pt x="23" y="167"/>
                </a:lnTo>
                <a:lnTo>
                  <a:pt x="17" y="154"/>
                </a:lnTo>
                <a:lnTo>
                  <a:pt x="12" y="141"/>
                </a:lnTo>
                <a:lnTo>
                  <a:pt x="9" y="127"/>
                </a:lnTo>
                <a:lnTo>
                  <a:pt x="5" y="114"/>
                </a:lnTo>
                <a:lnTo>
                  <a:pt x="5" y="99"/>
                </a:lnTo>
                <a:lnTo>
                  <a:pt x="5" y="84"/>
                </a:lnTo>
                <a:lnTo>
                  <a:pt x="9" y="71"/>
                </a:lnTo>
                <a:lnTo>
                  <a:pt x="12" y="56"/>
                </a:lnTo>
                <a:lnTo>
                  <a:pt x="17" y="45"/>
                </a:lnTo>
                <a:lnTo>
                  <a:pt x="23" y="31"/>
                </a:lnTo>
                <a:lnTo>
                  <a:pt x="30" y="20"/>
                </a:lnTo>
                <a:lnTo>
                  <a:pt x="40" y="10"/>
                </a:lnTo>
                <a:lnTo>
                  <a:pt x="48" y="0"/>
                </a:lnTo>
                <a:lnTo>
                  <a:pt x="42"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61" name="Freeform 1166">
            <a:extLst>
              <a:ext uri="{FF2B5EF4-FFF2-40B4-BE49-F238E27FC236}">
                <a16:creationId xmlns:a16="http://schemas.microsoft.com/office/drawing/2014/main" id="{EA46373D-E51E-8CB9-585E-5837A62607FD}"/>
              </a:ext>
            </a:extLst>
          </p:cNvPr>
          <p:cNvSpPr>
            <a:spLocks noEditPoints="1"/>
          </p:cNvSpPr>
          <p:nvPr/>
        </p:nvSpPr>
        <p:spPr bwMode="auto">
          <a:xfrm>
            <a:off x="2697163" y="2403475"/>
            <a:ext cx="433388" cy="315913"/>
          </a:xfrm>
          <a:custGeom>
            <a:avLst/>
            <a:gdLst>
              <a:gd name="T0" fmla="*/ 273 w 273"/>
              <a:gd name="T1" fmla="*/ 84 h 199"/>
              <a:gd name="T2" fmla="*/ 267 w 273"/>
              <a:gd name="T3" fmla="*/ 56 h 199"/>
              <a:gd name="T4" fmla="*/ 257 w 273"/>
              <a:gd name="T5" fmla="*/ 31 h 199"/>
              <a:gd name="T6" fmla="*/ 240 w 273"/>
              <a:gd name="T7" fmla="*/ 10 h 199"/>
              <a:gd name="T8" fmla="*/ 224 w 273"/>
              <a:gd name="T9" fmla="*/ 0 h 199"/>
              <a:gd name="T10" fmla="*/ 242 w 273"/>
              <a:gd name="T11" fmla="*/ 20 h 199"/>
              <a:gd name="T12" fmla="*/ 257 w 273"/>
              <a:gd name="T13" fmla="*/ 43 h 199"/>
              <a:gd name="T14" fmla="*/ 265 w 273"/>
              <a:gd name="T15" fmla="*/ 69 h 199"/>
              <a:gd name="T16" fmla="*/ 268 w 273"/>
              <a:gd name="T17" fmla="*/ 99 h 199"/>
              <a:gd name="T18" fmla="*/ 265 w 273"/>
              <a:gd name="T19" fmla="*/ 127 h 199"/>
              <a:gd name="T20" fmla="*/ 257 w 273"/>
              <a:gd name="T21" fmla="*/ 154 h 199"/>
              <a:gd name="T22" fmla="*/ 242 w 273"/>
              <a:gd name="T23" fmla="*/ 179 h 199"/>
              <a:gd name="T24" fmla="*/ 224 w 273"/>
              <a:gd name="T25" fmla="*/ 199 h 199"/>
              <a:gd name="T26" fmla="*/ 240 w 273"/>
              <a:gd name="T27" fmla="*/ 189 h 199"/>
              <a:gd name="T28" fmla="*/ 257 w 273"/>
              <a:gd name="T29" fmla="*/ 167 h 199"/>
              <a:gd name="T30" fmla="*/ 267 w 273"/>
              <a:gd name="T31" fmla="*/ 141 h 199"/>
              <a:gd name="T32" fmla="*/ 273 w 273"/>
              <a:gd name="T33" fmla="*/ 114 h 199"/>
              <a:gd name="T34" fmla="*/ 43 w 273"/>
              <a:gd name="T35" fmla="*/ 0 h 199"/>
              <a:gd name="T36" fmla="*/ 26 w 273"/>
              <a:gd name="T37" fmla="*/ 20 h 199"/>
              <a:gd name="T38" fmla="*/ 12 w 273"/>
              <a:gd name="T39" fmla="*/ 45 h 199"/>
              <a:gd name="T40" fmla="*/ 3 w 273"/>
              <a:gd name="T41" fmla="*/ 71 h 199"/>
              <a:gd name="T42" fmla="*/ 0 w 273"/>
              <a:gd name="T43" fmla="*/ 99 h 199"/>
              <a:gd name="T44" fmla="*/ 3 w 273"/>
              <a:gd name="T45" fmla="*/ 127 h 199"/>
              <a:gd name="T46" fmla="*/ 12 w 273"/>
              <a:gd name="T47" fmla="*/ 154 h 199"/>
              <a:gd name="T48" fmla="*/ 26 w 273"/>
              <a:gd name="T49" fmla="*/ 179 h 199"/>
              <a:gd name="T50" fmla="*/ 43 w 273"/>
              <a:gd name="T51" fmla="*/ 199 h 199"/>
              <a:gd name="T52" fmla="*/ 41 w 273"/>
              <a:gd name="T53" fmla="*/ 189 h 199"/>
              <a:gd name="T54" fmla="*/ 25 w 273"/>
              <a:gd name="T55" fmla="*/ 167 h 199"/>
              <a:gd name="T56" fmla="*/ 13 w 273"/>
              <a:gd name="T57" fmla="*/ 142 h 199"/>
              <a:gd name="T58" fmla="*/ 7 w 273"/>
              <a:gd name="T59" fmla="*/ 114 h 199"/>
              <a:gd name="T60" fmla="*/ 7 w 273"/>
              <a:gd name="T61" fmla="*/ 84 h 199"/>
              <a:gd name="T62" fmla="*/ 13 w 273"/>
              <a:gd name="T63" fmla="*/ 56 h 199"/>
              <a:gd name="T64" fmla="*/ 25 w 273"/>
              <a:gd name="T65" fmla="*/ 31 h 199"/>
              <a:gd name="T66" fmla="*/ 41 w 273"/>
              <a:gd name="T67" fmla="*/ 10 h 199"/>
              <a:gd name="T68" fmla="*/ 43 w 27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3" h="199">
                <a:moveTo>
                  <a:pt x="273" y="99"/>
                </a:moveTo>
                <a:lnTo>
                  <a:pt x="273" y="84"/>
                </a:lnTo>
                <a:lnTo>
                  <a:pt x="270" y="71"/>
                </a:lnTo>
                <a:lnTo>
                  <a:pt x="267" y="56"/>
                </a:lnTo>
                <a:lnTo>
                  <a:pt x="262" y="45"/>
                </a:lnTo>
                <a:lnTo>
                  <a:pt x="257" y="31"/>
                </a:lnTo>
                <a:lnTo>
                  <a:pt x="248" y="20"/>
                </a:lnTo>
                <a:lnTo>
                  <a:pt x="240" y="10"/>
                </a:lnTo>
                <a:lnTo>
                  <a:pt x="230" y="0"/>
                </a:lnTo>
                <a:lnTo>
                  <a:pt x="224" y="0"/>
                </a:lnTo>
                <a:lnTo>
                  <a:pt x="233" y="10"/>
                </a:lnTo>
                <a:lnTo>
                  <a:pt x="242" y="20"/>
                </a:lnTo>
                <a:lnTo>
                  <a:pt x="250" y="31"/>
                </a:lnTo>
                <a:lnTo>
                  <a:pt x="257" y="43"/>
                </a:lnTo>
                <a:lnTo>
                  <a:pt x="262" y="56"/>
                </a:lnTo>
                <a:lnTo>
                  <a:pt x="265" y="69"/>
                </a:lnTo>
                <a:lnTo>
                  <a:pt x="268" y="84"/>
                </a:lnTo>
                <a:lnTo>
                  <a:pt x="268" y="99"/>
                </a:lnTo>
                <a:lnTo>
                  <a:pt x="268" y="114"/>
                </a:lnTo>
                <a:lnTo>
                  <a:pt x="265" y="127"/>
                </a:lnTo>
                <a:lnTo>
                  <a:pt x="262" y="142"/>
                </a:lnTo>
                <a:lnTo>
                  <a:pt x="257" y="154"/>
                </a:lnTo>
                <a:lnTo>
                  <a:pt x="250" y="167"/>
                </a:lnTo>
                <a:lnTo>
                  <a:pt x="242" y="179"/>
                </a:lnTo>
                <a:lnTo>
                  <a:pt x="233" y="189"/>
                </a:lnTo>
                <a:lnTo>
                  <a:pt x="224" y="199"/>
                </a:lnTo>
                <a:lnTo>
                  <a:pt x="230" y="199"/>
                </a:lnTo>
                <a:lnTo>
                  <a:pt x="240" y="189"/>
                </a:lnTo>
                <a:lnTo>
                  <a:pt x="248" y="179"/>
                </a:lnTo>
                <a:lnTo>
                  <a:pt x="257" y="167"/>
                </a:lnTo>
                <a:lnTo>
                  <a:pt x="262" y="154"/>
                </a:lnTo>
                <a:lnTo>
                  <a:pt x="267" y="141"/>
                </a:lnTo>
                <a:lnTo>
                  <a:pt x="270" y="127"/>
                </a:lnTo>
                <a:lnTo>
                  <a:pt x="273" y="114"/>
                </a:lnTo>
                <a:lnTo>
                  <a:pt x="273" y="99"/>
                </a:lnTo>
                <a:close/>
                <a:moveTo>
                  <a:pt x="43" y="0"/>
                </a:moveTo>
                <a:lnTo>
                  <a:pt x="35" y="10"/>
                </a:lnTo>
                <a:lnTo>
                  <a:pt x="26" y="20"/>
                </a:lnTo>
                <a:lnTo>
                  <a:pt x="18" y="31"/>
                </a:lnTo>
                <a:lnTo>
                  <a:pt x="12" y="45"/>
                </a:lnTo>
                <a:lnTo>
                  <a:pt x="7" y="56"/>
                </a:lnTo>
                <a:lnTo>
                  <a:pt x="3" y="71"/>
                </a:lnTo>
                <a:lnTo>
                  <a:pt x="2" y="84"/>
                </a:lnTo>
                <a:lnTo>
                  <a:pt x="0" y="99"/>
                </a:lnTo>
                <a:lnTo>
                  <a:pt x="2" y="114"/>
                </a:lnTo>
                <a:lnTo>
                  <a:pt x="3" y="127"/>
                </a:lnTo>
                <a:lnTo>
                  <a:pt x="7" y="141"/>
                </a:lnTo>
                <a:lnTo>
                  <a:pt x="12" y="154"/>
                </a:lnTo>
                <a:lnTo>
                  <a:pt x="18" y="167"/>
                </a:lnTo>
                <a:lnTo>
                  <a:pt x="26" y="179"/>
                </a:lnTo>
                <a:lnTo>
                  <a:pt x="35" y="189"/>
                </a:lnTo>
                <a:lnTo>
                  <a:pt x="43" y="199"/>
                </a:lnTo>
                <a:lnTo>
                  <a:pt x="51" y="199"/>
                </a:lnTo>
                <a:lnTo>
                  <a:pt x="41" y="189"/>
                </a:lnTo>
                <a:lnTo>
                  <a:pt x="31" y="179"/>
                </a:lnTo>
                <a:lnTo>
                  <a:pt x="25" y="167"/>
                </a:lnTo>
                <a:lnTo>
                  <a:pt x="18" y="154"/>
                </a:lnTo>
                <a:lnTo>
                  <a:pt x="13" y="142"/>
                </a:lnTo>
                <a:lnTo>
                  <a:pt x="8" y="127"/>
                </a:lnTo>
                <a:lnTo>
                  <a:pt x="7" y="114"/>
                </a:lnTo>
                <a:lnTo>
                  <a:pt x="5" y="99"/>
                </a:lnTo>
                <a:lnTo>
                  <a:pt x="7" y="84"/>
                </a:lnTo>
                <a:lnTo>
                  <a:pt x="8" y="69"/>
                </a:lnTo>
                <a:lnTo>
                  <a:pt x="13" y="56"/>
                </a:lnTo>
                <a:lnTo>
                  <a:pt x="18" y="43"/>
                </a:lnTo>
                <a:lnTo>
                  <a:pt x="25" y="31"/>
                </a:lnTo>
                <a:lnTo>
                  <a:pt x="31" y="20"/>
                </a:lnTo>
                <a:lnTo>
                  <a:pt x="41" y="10"/>
                </a:lnTo>
                <a:lnTo>
                  <a:pt x="51" y="0"/>
                </a:lnTo>
                <a:lnTo>
                  <a:pt x="43"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62" name="Freeform 1167">
            <a:extLst>
              <a:ext uri="{FF2B5EF4-FFF2-40B4-BE49-F238E27FC236}">
                <a16:creationId xmlns:a16="http://schemas.microsoft.com/office/drawing/2014/main" id="{196FE4D8-F296-3BE2-EAD5-C80B65A7A63B}"/>
              </a:ext>
            </a:extLst>
          </p:cNvPr>
          <p:cNvSpPr>
            <a:spLocks noEditPoints="1"/>
          </p:cNvSpPr>
          <p:nvPr/>
        </p:nvSpPr>
        <p:spPr bwMode="auto">
          <a:xfrm>
            <a:off x="1955800" y="2403475"/>
            <a:ext cx="1919288" cy="315913"/>
          </a:xfrm>
          <a:custGeom>
            <a:avLst/>
            <a:gdLst>
              <a:gd name="T0" fmla="*/ 3 w 1209"/>
              <a:gd name="T1" fmla="*/ 197 h 199"/>
              <a:gd name="T2" fmla="*/ 0 w 1209"/>
              <a:gd name="T3" fmla="*/ 199 h 199"/>
              <a:gd name="T4" fmla="*/ 3 w 1209"/>
              <a:gd name="T5" fmla="*/ 199 h 199"/>
              <a:gd name="T6" fmla="*/ 3 w 1209"/>
              <a:gd name="T7" fmla="*/ 197 h 199"/>
              <a:gd name="T8" fmla="*/ 1204 w 1209"/>
              <a:gd name="T9" fmla="*/ 1 h 199"/>
              <a:gd name="T10" fmla="*/ 1209 w 1209"/>
              <a:gd name="T11" fmla="*/ 0 h 199"/>
              <a:gd name="T12" fmla="*/ 1204 w 1209"/>
              <a:gd name="T13" fmla="*/ 0 h 199"/>
              <a:gd name="T14" fmla="*/ 1204 w 1209"/>
              <a:gd name="T15" fmla="*/ 1 h 1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09" h="199">
                <a:moveTo>
                  <a:pt x="3" y="197"/>
                </a:moveTo>
                <a:lnTo>
                  <a:pt x="0" y="199"/>
                </a:lnTo>
                <a:lnTo>
                  <a:pt x="3" y="199"/>
                </a:lnTo>
                <a:lnTo>
                  <a:pt x="3" y="197"/>
                </a:lnTo>
                <a:close/>
                <a:moveTo>
                  <a:pt x="1204" y="1"/>
                </a:moveTo>
                <a:lnTo>
                  <a:pt x="1209" y="0"/>
                </a:lnTo>
                <a:lnTo>
                  <a:pt x="1204" y="0"/>
                </a:lnTo>
                <a:lnTo>
                  <a:pt x="1204" y="1"/>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63" name="Freeform 1168">
            <a:extLst>
              <a:ext uri="{FF2B5EF4-FFF2-40B4-BE49-F238E27FC236}">
                <a16:creationId xmlns:a16="http://schemas.microsoft.com/office/drawing/2014/main" id="{8414C25A-1638-6CC4-17F3-BF9F780DE6BD}"/>
              </a:ext>
            </a:extLst>
          </p:cNvPr>
          <p:cNvSpPr>
            <a:spLocks noEditPoints="1"/>
          </p:cNvSpPr>
          <p:nvPr/>
        </p:nvSpPr>
        <p:spPr bwMode="auto">
          <a:xfrm>
            <a:off x="1958975" y="2403475"/>
            <a:ext cx="1912938" cy="315913"/>
          </a:xfrm>
          <a:custGeom>
            <a:avLst/>
            <a:gdLst>
              <a:gd name="T0" fmla="*/ 1205 w 1205"/>
              <a:gd name="T1" fmla="*/ 0 h 199"/>
              <a:gd name="T2" fmla="*/ 1205 w 1205"/>
              <a:gd name="T3" fmla="*/ 0 h 199"/>
              <a:gd name="T4" fmla="*/ 1200 w 1205"/>
              <a:gd name="T5" fmla="*/ 0 h 199"/>
              <a:gd name="T6" fmla="*/ 1200 w 1205"/>
              <a:gd name="T7" fmla="*/ 1 h 199"/>
              <a:gd name="T8" fmla="*/ 1200 w 1205"/>
              <a:gd name="T9" fmla="*/ 3 h 199"/>
              <a:gd name="T10" fmla="*/ 1205 w 1205"/>
              <a:gd name="T11" fmla="*/ 0 h 199"/>
              <a:gd name="T12" fmla="*/ 0 w 1205"/>
              <a:gd name="T13" fmla="*/ 197 h 199"/>
              <a:gd name="T14" fmla="*/ 0 w 1205"/>
              <a:gd name="T15" fmla="*/ 197 h 199"/>
              <a:gd name="T16" fmla="*/ 0 w 1205"/>
              <a:gd name="T17" fmla="*/ 199 h 199"/>
              <a:gd name="T18" fmla="*/ 5 w 1205"/>
              <a:gd name="T19" fmla="*/ 199 h 199"/>
              <a:gd name="T20" fmla="*/ 5 w 1205"/>
              <a:gd name="T21" fmla="*/ 197 h 199"/>
              <a:gd name="T22" fmla="*/ 5 w 1205"/>
              <a:gd name="T23" fmla="*/ 195 h 199"/>
              <a:gd name="T24" fmla="*/ 0 w 1205"/>
              <a:gd name="T25" fmla="*/ 19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05" h="199">
                <a:moveTo>
                  <a:pt x="1205" y="0"/>
                </a:moveTo>
                <a:lnTo>
                  <a:pt x="1205" y="0"/>
                </a:lnTo>
                <a:lnTo>
                  <a:pt x="1200" y="0"/>
                </a:lnTo>
                <a:lnTo>
                  <a:pt x="1200" y="1"/>
                </a:lnTo>
                <a:lnTo>
                  <a:pt x="1200" y="3"/>
                </a:lnTo>
                <a:lnTo>
                  <a:pt x="1205" y="0"/>
                </a:lnTo>
                <a:close/>
                <a:moveTo>
                  <a:pt x="0" y="197"/>
                </a:moveTo>
                <a:lnTo>
                  <a:pt x="0" y="197"/>
                </a:lnTo>
                <a:lnTo>
                  <a:pt x="0" y="199"/>
                </a:lnTo>
                <a:lnTo>
                  <a:pt x="5" y="199"/>
                </a:lnTo>
                <a:lnTo>
                  <a:pt x="5" y="197"/>
                </a:lnTo>
                <a:lnTo>
                  <a:pt x="5" y="195"/>
                </a:lnTo>
                <a:lnTo>
                  <a:pt x="0" y="197"/>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64" name="Freeform 1169">
            <a:extLst>
              <a:ext uri="{FF2B5EF4-FFF2-40B4-BE49-F238E27FC236}">
                <a16:creationId xmlns:a16="http://schemas.microsoft.com/office/drawing/2014/main" id="{6887310F-B9DD-8B7F-443B-CC393703CA1A}"/>
              </a:ext>
            </a:extLst>
          </p:cNvPr>
          <p:cNvSpPr>
            <a:spLocks noEditPoints="1"/>
          </p:cNvSpPr>
          <p:nvPr/>
        </p:nvSpPr>
        <p:spPr bwMode="auto">
          <a:xfrm>
            <a:off x="1960563" y="2403475"/>
            <a:ext cx="1906588" cy="315913"/>
          </a:xfrm>
          <a:custGeom>
            <a:avLst/>
            <a:gdLst>
              <a:gd name="T0" fmla="*/ 1201 w 1201"/>
              <a:gd name="T1" fmla="*/ 1 h 199"/>
              <a:gd name="T2" fmla="*/ 1201 w 1201"/>
              <a:gd name="T3" fmla="*/ 1 h 199"/>
              <a:gd name="T4" fmla="*/ 1201 w 1201"/>
              <a:gd name="T5" fmla="*/ 0 h 199"/>
              <a:gd name="T6" fmla="*/ 1196 w 1201"/>
              <a:gd name="T7" fmla="*/ 0 h 199"/>
              <a:gd name="T8" fmla="*/ 1196 w 1201"/>
              <a:gd name="T9" fmla="*/ 1 h 199"/>
              <a:gd name="T10" fmla="*/ 1198 w 1201"/>
              <a:gd name="T11" fmla="*/ 1 h 199"/>
              <a:gd name="T12" fmla="*/ 1198 w 1201"/>
              <a:gd name="T13" fmla="*/ 3 h 199"/>
              <a:gd name="T14" fmla="*/ 1201 w 1201"/>
              <a:gd name="T15" fmla="*/ 1 h 199"/>
              <a:gd name="T16" fmla="*/ 0 w 1201"/>
              <a:gd name="T17" fmla="*/ 197 h 199"/>
              <a:gd name="T18" fmla="*/ 0 w 1201"/>
              <a:gd name="T19" fmla="*/ 197 h 199"/>
              <a:gd name="T20" fmla="*/ 0 w 1201"/>
              <a:gd name="T21" fmla="*/ 199 h 199"/>
              <a:gd name="T22" fmla="*/ 5 w 1201"/>
              <a:gd name="T23" fmla="*/ 199 h 199"/>
              <a:gd name="T24" fmla="*/ 5 w 1201"/>
              <a:gd name="T25" fmla="*/ 197 h 199"/>
              <a:gd name="T26" fmla="*/ 5 w 1201"/>
              <a:gd name="T27" fmla="*/ 195 h 199"/>
              <a:gd name="T28" fmla="*/ 5 w 1201"/>
              <a:gd name="T29" fmla="*/ 194 h 199"/>
              <a:gd name="T30" fmla="*/ 0 w 1201"/>
              <a:gd name="T31" fmla="*/ 19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01" h="199">
                <a:moveTo>
                  <a:pt x="1201" y="1"/>
                </a:moveTo>
                <a:lnTo>
                  <a:pt x="1201" y="1"/>
                </a:lnTo>
                <a:lnTo>
                  <a:pt x="1201" y="0"/>
                </a:lnTo>
                <a:lnTo>
                  <a:pt x="1196" y="0"/>
                </a:lnTo>
                <a:lnTo>
                  <a:pt x="1196" y="1"/>
                </a:lnTo>
                <a:lnTo>
                  <a:pt x="1198" y="1"/>
                </a:lnTo>
                <a:lnTo>
                  <a:pt x="1198" y="3"/>
                </a:lnTo>
                <a:lnTo>
                  <a:pt x="1201" y="1"/>
                </a:lnTo>
                <a:close/>
                <a:moveTo>
                  <a:pt x="0" y="197"/>
                </a:moveTo>
                <a:lnTo>
                  <a:pt x="0" y="197"/>
                </a:lnTo>
                <a:lnTo>
                  <a:pt x="0" y="199"/>
                </a:lnTo>
                <a:lnTo>
                  <a:pt x="5" y="199"/>
                </a:lnTo>
                <a:lnTo>
                  <a:pt x="5" y="197"/>
                </a:lnTo>
                <a:lnTo>
                  <a:pt x="5" y="195"/>
                </a:lnTo>
                <a:lnTo>
                  <a:pt x="5" y="194"/>
                </a:lnTo>
                <a:lnTo>
                  <a:pt x="0" y="197"/>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65" name="Freeform 1170">
            <a:extLst>
              <a:ext uri="{FF2B5EF4-FFF2-40B4-BE49-F238E27FC236}">
                <a16:creationId xmlns:a16="http://schemas.microsoft.com/office/drawing/2014/main" id="{525EFCE4-3165-05F9-3651-F6BC9526848F}"/>
              </a:ext>
            </a:extLst>
          </p:cNvPr>
          <p:cNvSpPr>
            <a:spLocks noEditPoints="1"/>
          </p:cNvSpPr>
          <p:nvPr/>
        </p:nvSpPr>
        <p:spPr bwMode="auto">
          <a:xfrm>
            <a:off x="1966913" y="2403475"/>
            <a:ext cx="1897063" cy="315913"/>
          </a:xfrm>
          <a:custGeom>
            <a:avLst/>
            <a:gdLst>
              <a:gd name="T0" fmla="*/ 1195 w 1195"/>
              <a:gd name="T1" fmla="*/ 3 h 199"/>
              <a:gd name="T2" fmla="*/ 1195 w 1195"/>
              <a:gd name="T3" fmla="*/ 1 h 199"/>
              <a:gd name="T4" fmla="*/ 1195 w 1195"/>
              <a:gd name="T5" fmla="*/ 0 h 199"/>
              <a:gd name="T6" fmla="*/ 1190 w 1195"/>
              <a:gd name="T7" fmla="*/ 0 h 199"/>
              <a:gd name="T8" fmla="*/ 1190 w 1195"/>
              <a:gd name="T9" fmla="*/ 1 h 199"/>
              <a:gd name="T10" fmla="*/ 1190 w 1195"/>
              <a:gd name="T11" fmla="*/ 3 h 199"/>
              <a:gd name="T12" fmla="*/ 1190 w 1195"/>
              <a:gd name="T13" fmla="*/ 5 h 199"/>
              <a:gd name="T14" fmla="*/ 1195 w 1195"/>
              <a:gd name="T15" fmla="*/ 3 h 199"/>
              <a:gd name="T16" fmla="*/ 0 w 1195"/>
              <a:gd name="T17" fmla="*/ 195 h 199"/>
              <a:gd name="T18" fmla="*/ 0 w 1195"/>
              <a:gd name="T19" fmla="*/ 195 h 199"/>
              <a:gd name="T20" fmla="*/ 0 w 1195"/>
              <a:gd name="T21" fmla="*/ 197 h 199"/>
              <a:gd name="T22" fmla="*/ 0 w 1195"/>
              <a:gd name="T23" fmla="*/ 199 h 199"/>
              <a:gd name="T24" fmla="*/ 5 w 1195"/>
              <a:gd name="T25" fmla="*/ 199 h 199"/>
              <a:gd name="T26" fmla="*/ 5 w 1195"/>
              <a:gd name="T27" fmla="*/ 197 h 199"/>
              <a:gd name="T28" fmla="*/ 5 w 1195"/>
              <a:gd name="T29" fmla="*/ 195 h 199"/>
              <a:gd name="T30" fmla="*/ 3 w 1195"/>
              <a:gd name="T31" fmla="*/ 195 h 199"/>
              <a:gd name="T32" fmla="*/ 3 w 1195"/>
              <a:gd name="T33" fmla="*/ 194 h 199"/>
              <a:gd name="T34" fmla="*/ 0 w 1195"/>
              <a:gd name="T35" fmla="*/ 19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95" h="199">
                <a:moveTo>
                  <a:pt x="1195" y="3"/>
                </a:moveTo>
                <a:lnTo>
                  <a:pt x="1195" y="1"/>
                </a:lnTo>
                <a:lnTo>
                  <a:pt x="1195" y="0"/>
                </a:lnTo>
                <a:lnTo>
                  <a:pt x="1190" y="0"/>
                </a:lnTo>
                <a:lnTo>
                  <a:pt x="1190" y="1"/>
                </a:lnTo>
                <a:lnTo>
                  <a:pt x="1190" y="3"/>
                </a:lnTo>
                <a:lnTo>
                  <a:pt x="1190" y="5"/>
                </a:lnTo>
                <a:lnTo>
                  <a:pt x="1195" y="3"/>
                </a:lnTo>
                <a:close/>
                <a:moveTo>
                  <a:pt x="0" y="195"/>
                </a:moveTo>
                <a:lnTo>
                  <a:pt x="0" y="195"/>
                </a:lnTo>
                <a:lnTo>
                  <a:pt x="0" y="197"/>
                </a:lnTo>
                <a:lnTo>
                  <a:pt x="0" y="199"/>
                </a:lnTo>
                <a:lnTo>
                  <a:pt x="5" y="199"/>
                </a:lnTo>
                <a:lnTo>
                  <a:pt x="5" y="197"/>
                </a:lnTo>
                <a:lnTo>
                  <a:pt x="5" y="195"/>
                </a:lnTo>
                <a:lnTo>
                  <a:pt x="3" y="195"/>
                </a:lnTo>
                <a:lnTo>
                  <a:pt x="3" y="194"/>
                </a:lnTo>
                <a:lnTo>
                  <a:pt x="0" y="195"/>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66" name="Freeform 1171">
            <a:extLst>
              <a:ext uri="{FF2B5EF4-FFF2-40B4-BE49-F238E27FC236}">
                <a16:creationId xmlns:a16="http://schemas.microsoft.com/office/drawing/2014/main" id="{65528EEB-8634-E47A-30CA-7DF87A185F69}"/>
              </a:ext>
            </a:extLst>
          </p:cNvPr>
          <p:cNvSpPr>
            <a:spLocks noEditPoints="1"/>
          </p:cNvSpPr>
          <p:nvPr/>
        </p:nvSpPr>
        <p:spPr bwMode="auto">
          <a:xfrm>
            <a:off x="1968500" y="2403475"/>
            <a:ext cx="1893888" cy="315913"/>
          </a:xfrm>
          <a:custGeom>
            <a:avLst/>
            <a:gdLst>
              <a:gd name="T0" fmla="*/ 1193 w 1193"/>
              <a:gd name="T1" fmla="*/ 3 h 199"/>
              <a:gd name="T2" fmla="*/ 1193 w 1193"/>
              <a:gd name="T3" fmla="*/ 3 h 199"/>
              <a:gd name="T4" fmla="*/ 1193 w 1193"/>
              <a:gd name="T5" fmla="*/ 1 h 199"/>
              <a:gd name="T6" fmla="*/ 1191 w 1193"/>
              <a:gd name="T7" fmla="*/ 1 h 199"/>
              <a:gd name="T8" fmla="*/ 1191 w 1193"/>
              <a:gd name="T9" fmla="*/ 0 h 199"/>
              <a:gd name="T10" fmla="*/ 1186 w 1193"/>
              <a:gd name="T11" fmla="*/ 0 h 199"/>
              <a:gd name="T12" fmla="*/ 1188 w 1193"/>
              <a:gd name="T13" fmla="*/ 1 h 199"/>
              <a:gd name="T14" fmla="*/ 1188 w 1193"/>
              <a:gd name="T15" fmla="*/ 3 h 199"/>
              <a:gd name="T16" fmla="*/ 1188 w 1193"/>
              <a:gd name="T17" fmla="*/ 5 h 199"/>
              <a:gd name="T18" fmla="*/ 1188 w 1193"/>
              <a:gd name="T19" fmla="*/ 6 h 199"/>
              <a:gd name="T20" fmla="*/ 1193 w 1193"/>
              <a:gd name="T21" fmla="*/ 3 h 199"/>
              <a:gd name="T22" fmla="*/ 0 w 1193"/>
              <a:gd name="T23" fmla="*/ 194 h 199"/>
              <a:gd name="T24" fmla="*/ 0 w 1193"/>
              <a:gd name="T25" fmla="*/ 195 h 199"/>
              <a:gd name="T26" fmla="*/ 0 w 1193"/>
              <a:gd name="T27" fmla="*/ 197 h 199"/>
              <a:gd name="T28" fmla="*/ 0 w 1193"/>
              <a:gd name="T29" fmla="*/ 199 h 199"/>
              <a:gd name="T30" fmla="*/ 5 w 1193"/>
              <a:gd name="T31" fmla="*/ 199 h 199"/>
              <a:gd name="T32" fmla="*/ 5 w 1193"/>
              <a:gd name="T33" fmla="*/ 197 h 199"/>
              <a:gd name="T34" fmla="*/ 5 w 1193"/>
              <a:gd name="T35" fmla="*/ 195 h 199"/>
              <a:gd name="T36" fmla="*/ 5 w 1193"/>
              <a:gd name="T37" fmla="*/ 194 h 199"/>
              <a:gd name="T38" fmla="*/ 5 w 1193"/>
              <a:gd name="T39" fmla="*/ 192 h 199"/>
              <a:gd name="T40" fmla="*/ 0 w 1193"/>
              <a:gd name="T41" fmla="*/ 19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193" h="199">
                <a:moveTo>
                  <a:pt x="1193" y="3"/>
                </a:moveTo>
                <a:lnTo>
                  <a:pt x="1193" y="3"/>
                </a:lnTo>
                <a:lnTo>
                  <a:pt x="1193" y="1"/>
                </a:lnTo>
                <a:lnTo>
                  <a:pt x="1191" y="1"/>
                </a:lnTo>
                <a:lnTo>
                  <a:pt x="1191" y="0"/>
                </a:lnTo>
                <a:lnTo>
                  <a:pt x="1186" y="0"/>
                </a:lnTo>
                <a:lnTo>
                  <a:pt x="1188" y="1"/>
                </a:lnTo>
                <a:lnTo>
                  <a:pt x="1188" y="3"/>
                </a:lnTo>
                <a:lnTo>
                  <a:pt x="1188" y="5"/>
                </a:lnTo>
                <a:lnTo>
                  <a:pt x="1188" y="6"/>
                </a:lnTo>
                <a:lnTo>
                  <a:pt x="1193" y="3"/>
                </a:lnTo>
                <a:close/>
                <a:moveTo>
                  <a:pt x="0" y="194"/>
                </a:moveTo>
                <a:lnTo>
                  <a:pt x="0" y="195"/>
                </a:lnTo>
                <a:lnTo>
                  <a:pt x="0" y="197"/>
                </a:lnTo>
                <a:lnTo>
                  <a:pt x="0" y="199"/>
                </a:lnTo>
                <a:lnTo>
                  <a:pt x="5" y="199"/>
                </a:lnTo>
                <a:lnTo>
                  <a:pt x="5" y="197"/>
                </a:lnTo>
                <a:lnTo>
                  <a:pt x="5" y="195"/>
                </a:lnTo>
                <a:lnTo>
                  <a:pt x="5" y="194"/>
                </a:lnTo>
                <a:lnTo>
                  <a:pt x="5" y="192"/>
                </a:lnTo>
                <a:lnTo>
                  <a:pt x="0" y="194"/>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67" name="Freeform 1172">
            <a:extLst>
              <a:ext uri="{FF2B5EF4-FFF2-40B4-BE49-F238E27FC236}">
                <a16:creationId xmlns:a16="http://schemas.microsoft.com/office/drawing/2014/main" id="{911C5C37-FC3E-E644-DD40-3216398B7FE0}"/>
              </a:ext>
            </a:extLst>
          </p:cNvPr>
          <p:cNvSpPr>
            <a:spLocks noEditPoints="1"/>
          </p:cNvSpPr>
          <p:nvPr/>
        </p:nvSpPr>
        <p:spPr bwMode="auto">
          <a:xfrm>
            <a:off x="1971675" y="2403475"/>
            <a:ext cx="1884363" cy="315913"/>
          </a:xfrm>
          <a:custGeom>
            <a:avLst/>
            <a:gdLst>
              <a:gd name="T0" fmla="*/ 1187 w 1187"/>
              <a:gd name="T1" fmla="*/ 5 h 199"/>
              <a:gd name="T2" fmla="*/ 1187 w 1187"/>
              <a:gd name="T3" fmla="*/ 5 h 199"/>
              <a:gd name="T4" fmla="*/ 1187 w 1187"/>
              <a:gd name="T5" fmla="*/ 3 h 199"/>
              <a:gd name="T6" fmla="*/ 1187 w 1187"/>
              <a:gd name="T7" fmla="*/ 1 h 199"/>
              <a:gd name="T8" fmla="*/ 1187 w 1187"/>
              <a:gd name="T9" fmla="*/ 0 h 199"/>
              <a:gd name="T10" fmla="*/ 1182 w 1187"/>
              <a:gd name="T11" fmla="*/ 0 h 199"/>
              <a:gd name="T12" fmla="*/ 1182 w 1187"/>
              <a:gd name="T13" fmla="*/ 1 h 199"/>
              <a:gd name="T14" fmla="*/ 1182 w 1187"/>
              <a:gd name="T15" fmla="*/ 3 h 199"/>
              <a:gd name="T16" fmla="*/ 1182 w 1187"/>
              <a:gd name="T17" fmla="*/ 5 h 199"/>
              <a:gd name="T18" fmla="*/ 1184 w 1187"/>
              <a:gd name="T19" fmla="*/ 6 h 199"/>
              <a:gd name="T20" fmla="*/ 1187 w 1187"/>
              <a:gd name="T21" fmla="*/ 5 h 199"/>
              <a:gd name="T22" fmla="*/ 0 w 1187"/>
              <a:gd name="T23" fmla="*/ 194 h 199"/>
              <a:gd name="T24" fmla="*/ 0 w 1187"/>
              <a:gd name="T25" fmla="*/ 194 h 199"/>
              <a:gd name="T26" fmla="*/ 0 w 1187"/>
              <a:gd name="T27" fmla="*/ 195 h 199"/>
              <a:gd name="T28" fmla="*/ 2 w 1187"/>
              <a:gd name="T29" fmla="*/ 195 h 199"/>
              <a:gd name="T30" fmla="*/ 2 w 1187"/>
              <a:gd name="T31" fmla="*/ 197 h 199"/>
              <a:gd name="T32" fmla="*/ 2 w 1187"/>
              <a:gd name="T33" fmla="*/ 199 h 199"/>
              <a:gd name="T34" fmla="*/ 7 w 1187"/>
              <a:gd name="T35" fmla="*/ 199 h 199"/>
              <a:gd name="T36" fmla="*/ 7 w 1187"/>
              <a:gd name="T37" fmla="*/ 197 h 199"/>
              <a:gd name="T38" fmla="*/ 7 w 1187"/>
              <a:gd name="T39" fmla="*/ 195 h 199"/>
              <a:gd name="T40" fmla="*/ 5 w 1187"/>
              <a:gd name="T41" fmla="*/ 195 h 199"/>
              <a:gd name="T42" fmla="*/ 5 w 1187"/>
              <a:gd name="T43" fmla="*/ 194 h 199"/>
              <a:gd name="T44" fmla="*/ 5 w 1187"/>
              <a:gd name="T45" fmla="*/ 192 h 199"/>
              <a:gd name="T46" fmla="*/ 5 w 1187"/>
              <a:gd name="T47" fmla="*/ 190 h 199"/>
              <a:gd name="T48" fmla="*/ 0 w 1187"/>
              <a:gd name="T49" fmla="*/ 19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187" h="199">
                <a:moveTo>
                  <a:pt x="1187" y="5"/>
                </a:moveTo>
                <a:lnTo>
                  <a:pt x="1187" y="5"/>
                </a:lnTo>
                <a:lnTo>
                  <a:pt x="1187" y="3"/>
                </a:lnTo>
                <a:lnTo>
                  <a:pt x="1187" y="1"/>
                </a:lnTo>
                <a:lnTo>
                  <a:pt x="1187" y="0"/>
                </a:lnTo>
                <a:lnTo>
                  <a:pt x="1182" y="0"/>
                </a:lnTo>
                <a:lnTo>
                  <a:pt x="1182" y="1"/>
                </a:lnTo>
                <a:lnTo>
                  <a:pt x="1182" y="3"/>
                </a:lnTo>
                <a:lnTo>
                  <a:pt x="1182" y="5"/>
                </a:lnTo>
                <a:lnTo>
                  <a:pt x="1184" y="6"/>
                </a:lnTo>
                <a:lnTo>
                  <a:pt x="1187" y="5"/>
                </a:lnTo>
                <a:close/>
                <a:moveTo>
                  <a:pt x="0" y="194"/>
                </a:moveTo>
                <a:lnTo>
                  <a:pt x="0" y="194"/>
                </a:lnTo>
                <a:lnTo>
                  <a:pt x="0" y="195"/>
                </a:lnTo>
                <a:lnTo>
                  <a:pt x="2" y="195"/>
                </a:lnTo>
                <a:lnTo>
                  <a:pt x="2" y="197"/>
                </a:lnTo>
                <a:lnTo>
                  <a:pt x="2" y="199"/>
                </a:lnTo>
                <a:lnTo>
                  <a:pt x="7" y="199"/>
                </a:lnTo>
                <a:lnTo>
                  <a:pt x="7" y="197"/>
                </a:lnTo>
                <a:lnTo>
                  <a:pt x="7" y="195"/>
                </a:lnTo>
                <a:lnTo>
                  <a:pt x="5" y="195"/>
                </a:lnTo>
                <a:lnTo>
                  <a:pt x="5" y="194"/>
                </a:lnTo>
                <a:lnTo>
                  <a:pt x="5" y="192"/>
                </a:lnTo>
                <a:lnTo>
                  <a:pt x="5" y="190"/>
                </a:lnTo>
                <a:lnTo>
                  <a:pt x="0" y="194"/>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68" name="Freeform 1173">
            <a:extLst>
              <a:ext uri="{FF2B5EF4-FFF2-40B4-BE49-F238E27FC236}">
                <a16:creationId xmlns:a16="http://schemas.microsoft.com/office/drawing/2014/main" id="{FF8632DE-2749-F1FA-D911-4B715BC81B54}"/>
              </a:ext>
            </a:extLst>
          </p:cNvPr>
          <p:cNvSpPr>
            <a:spLocks noEditPoints="1"/>
          </p:cNvSpPr>
          <p:nvPr/>
        </p:nvSpPr>
        <p:spPr bwMode="auto">
          <a:xfrm>
            <a:off x="1976438" y="2403475"/>
            <a:ext cx="1878013" cy="315913"/>
          </a:xfrm>
          <a:custGeom>
            <a:avLst/>
            <a:gdLst>
              <a:gd name="T0" fmla="*/ 1183 w 1183"/>
              <a:gd name="T1" fmla="*/ 6 h 199"/>
              <a:gd name="T2" fmla="*/ 1183 w 1183"/>
              <a:gd name="T3" fmla="*/ 5 h 199"/>
              <a:gd name="T4" fmla="*/ 1183 w 1183"/>
              <a:gd name="T5" fmla="*/ 3 h 199"/>
              <a:gd name="T6" fmla="*/ 1183 w 1183"/>
              <a:gd name="T7" fmla="*/ 1 h 199"/>
              <a:gd name="T8" fmla="*/ 1181 w 1183"/>
              <a:gd name="T9" fmla="*/ 0 h 199"/>
              <a:gd name="T10" fmla="*/ 1176 w 1183"/>
              <a:gd name="T11" fmla="*/ 0 h 199"/>
              <a:gd name="T12" fmla="*/ 1178 w 1183"/>
              <a:gd name="T13" fmla="*/ 0 h 199"/>
              <a:gd name="T14" fmla="*/ 1178 w 1183"/>
              <a:gd name="T15" fmla="*/ 1 h 199"/>
              <a:gd name="T16" fmla="*/ 1178 w 1183"/>
              <a:gd name="T17" fmla="*/ 3 h 199"/>
              <a:gd name="T18" fmla="*/ 1178 w 1183"/>
              <a:gd name="T19" fmla="*/ 5 h 199"/>
              <a:gd name="T20" fmla="*/ 1178 w 1183"/>
              <a:gd name="T21" fmla="*/ 6 h 199"/>
              <a:gd name="T22" fmla="*/ 1178 w 1183"/>
              <a:gd name="T23" fmla="*/ 8 h 199"/>
              <a:gd name="T24" fmla="*/ 1183 w 1183"/>
              <a:gd name="T25" fmla="*/ 6 h 199"/>
              <a:gd name="T26" fmla="*/ 0 w 1183"/>
              <a:gd name="T27" fmla="*/ 192 h 199"/>
              <a:gd name="T28" fmla="*/ 0 w 1183"/>
              <a:gd name="T29" fmla="*/ 194 h 199"/>
              <a:gd name="T30" fmla="*/ 0 w 1183"/>
              <a:gd name="T31" fmla="*/ 195 h 199"/>
              <a:gd name="T32" fmla="*/ 0 w 1183"/>
              <a:gd name="T33" fmla="*/ 197 h 199"/>
              <a:gd name="T34" fmla="*/ 0 w 1183"/>
              <a:gd name="T35" fmla="*/ 199 h 199"/>
              <a:gd name="T36" fmla="*/ 5 w 1183"/>
              <a:gd name="T37" fmla="*/ 199 h 199"/>
              <a:gd name="T38" fmla="*/ 5 w 1183"/>
              <a:gd name="T39" fmla="*/ 197 h 199"/>
              <a:gd name="T40" fmla="*/ 5 w 1183"/>
              <a:gd name="T41" fmla="*/ 195 h 199"/>
              <a:gd name="T42" fmla="*/ 5 w 1183"/>
              <a:gd name="T43" fmla="*/ 194 h 199"/>
              <a:gd name="T44" fmla="*/ 5 w 1183"/>
              <a:gd name="T45" fmla="*/ 192 h 199"/>
              <a:gd name="T46" fmla="*/ 5 w 1183"/>
              <a:gd name="T47" fmla="*/ 190 h 199"/>
              <a:gd name="T48" fmla="*/ 4 w 1183"/>
              <a:gd name="T49" fmla="*/ 190 h 199"/>
              <a:gd name="T50" fmla="*/ 0 w 1183"/>
              <a:gd name="T51" fmla="*/ 19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183" h="199">
                <a:moveTo>
                  <a:pt x="1183" y="6"/>
                </a:moveTo>
                <a:lnTo>
                  <a:pt x="1183" y="5"/>
                </a:lnTo>
                <a:lnTo>
                  <a:pt x="1183" y="3"/>
                </a:lnTo>
                <a:lnTo>
                  <a:pt x="1183" y="1"/>
                </a:lnTo>
                <a:lnTo>
                  <a:pt x="1181" y="0"/>
                </a:lnTo>
                <a:lnTo>
                  <a:pt x="1176" y="0"/>
                </a:lnTo>
                <a:lnTo>
                  <a:pt x="1178" y="0"/>
                </a:lnTo>
                <a:lnTo>
                  <a:pt x="1178" y="1"/>
                </a:lnTo>
                <a:lnTo>
                  <a:pt x="1178" y="3"/>
                </a:lnTo>
                <a:lnTo>
                  <a:pt x="1178" y="5"/>
                </a:lnTo>
                <a:lnTo>
                  <a:pt x="1178" y="6"/>
                </a:lnTo>
                <a:lnTo>
                  <a:pt x="1178" y="8"/>
                </a:lnTo>
                <a:lnTo>
                  <a:pt x="1183" y="6"/>
                </a:lnTo>
                <a:close/>
                <a:moveTo>
                  <a:pt x="0" y="192"/>
                </a:moveTo>
                <a:lnTo>
                  <a:pt x="0" y="194"/>
                </a:lnTo>
                <a:lnTo>
                  <a:pt x="0" y="195"/>
                </a:lnTo>
                <a:lnTo>
                  <a:pt x="0" y="197"/>
                </a:lnTo>
                <a:lnTo>
                  <a:pt x="0" y="199"/>
                </a:lnTo>
                <a:lnTo>
                  <a:pt x="5" y="199"/>
                </a:lnTo>
                <a:lnTo>
                  <a:pt x="5" y="197"/>
                </a:lnTo>
                <a:lnTo>
                  <a:pt x="5" y="195"/>
                </a:lnTo>
                <a:lnTo>
                  <a:pt x="5" y="194"/>
                </a:lnTo>
                <a:lnTo>
                  <a:pt x="5" y="192"/>
                </a:lnTo>
                <a:lnTo>
                  <a:pt x="5" y="190"/>
                </a:lnTo>
                <a:lnTo>
                  <a:pt x="4" y="190"/>
                </a:lnTo>
                <a:lnTo>
                  <a:pt x="0" y="192"/>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69" name="Freeform 1174">
            <a:extLst>
              <a:ext uri="{FF2B5EF4-FFF2-40B4-BE49-F238E27FC236}">
                <a16:creationId xmlns:a16="http://schemas.microsoft.com/office/drawing/2014/main" id="{431D4D9A-5B70-0107-9F4B-B0321B718A36}"/>
              </a:ext>
            </a:extLst>
          </p:cNvPr>
          <p:cNvSpPr>
            <a:spLocks noEditPoints="1"/>
          </p:cNvSpPr>
          <p:nvPr/>
        </p:nvSpPr>
        <p:spPr bwMode="auto">
          <a:xfrm>
            <a:off x="1979613" y="2403475"/>
            <a:ext cx="1871663" cy="315913"/>
          </a:xfrm>
          <a:custGeom>
            <a:avLst/>
            <a:gdLst>
              <a:gd name="T0" fmla="*/ 1179 w 1179"/>
              <a:gd name="T1" fmla="*/ 6 h 199"/>
              <a:gd name="T2" fmla="*/ 1179 w 1179"/>
              <a:gd name="T3" fmla="*/ 6 h 199"/>
              <a:gd name="T4" fmla="*/ 1177 w 1179"/>
              <a:gd name="T5" fmla="*/ 5 h 199"/>
              <a:gd name="T6" fmla="*/ 1177 w 1179"/>
              <a:gd name="T7" fmla="*/ 3 h 199"/>
              <a:gd name="T8" fmla="*/ 1177 w 1179"/>
              <a:gd name="T9" fmla="*/ 1 h 199"/>
              <a:gd name="T10" fmla="*/ 1177 w 1179"/>
              <a:gd name="T11" fmla="*/ 0 h 199"/>
              <a:gd name="T12" fmla="*/ 1172 w 1179"/>
              <a:gd name="T13" fmla="*/ 0 h 199"/>
              <a:gd name="T14" fmla="*/ 1172 w 1179"/>
              <a:gd name="T15" fmla="*/ 1 h 199"/>
              <a:gd name="T16" fmla="*/ 1172 w 1179"/>
              <a:gd name="T17" fmla="*/ 3 h 199"/>
              <a:gd name="T18" fmla="*/ 1172 w 1179"/>
              <a:gd name="T19" fmla="*/ 5 h 199"/>
              <a:gd name="T20" fmla="*/ 1174 w 1179"/>
              <a:gd name="T21" fmla="*/ 5 h 199"/>
              <a:gd name="T22" fmla="*/ 1174 w 1179"/>
              <a:gd name="T23" fmla="*/ 6 h 199"/>
              <a:gd name="T24" fmla="*/ 1174 w 1179"/>
              <a:gd name="T25" fmla="*/ 8 h 199"/>
              <a:gd name="T26" fmla="*/ 1179 w 1179"/>
              <a:gd name="T27" fmla="*/ 6 h 199"/>
              <a:gd name="T28" fmla="*/ 0 w 1179"/>
              <a:gd name="T29" fmla="*/ 190 h 199"/>
              <a:gd name="T30" fmla="*/ 0 w 1179"/>
              <a:gd name="T31" fmla="*/ 192 h 199"/>
              <a:gd name="T32" fmla="*/ 0 w 1179"/>
              <a:gd name="T33" fmla="*/ 194 h 199"/>
              <a:gd name="T34" fmla="*/ 0 w 1179"/>
              <a:gd name="T35" fmla="*/ 195 h 199"/>
              <a:gd name="T36" fmla="*/ 2 w 1179"/>
              <a:gd name="T37" fmla="*/ 195 h 199"/>
              <a:gd name="T38" fmla="*/ 2 w 1179"/>
              <a:gd name="T39" fmla="*/ 197 h 199"/>
              <a:gd name="T40" fmla="*/ 2 w 1179"/>
              <a:gd name="T41" fmla="*/ 199 h 199"/>
              <a:gd name="T42" fmla="*/ 6 w 1179"/>
              <a:gd name="T43" fmla="*/ 199 h 199"/>
              <a:gd name="T44" fmla="*/ 6 w 1179"/>
              <a:gd name="T45" fmla="*/ 197 h 199"/>
              <a:gd name="T46" fmla="*/ 5 w 1179"/>
              <a:gd name="T47" fmla="*/ 195 h 199"/>
              <a:gd name="T48" fmla="*/ 5 w 1179"/>
              <a:gd name="T49" fmla="*/ 194 h 199"/>
              <a:gd name="T50" fmla="*/ 5 w 1179"/>
              <a:gd name="T51" fmla="*/ 192 h 199"/>
              <a:gd name="T52" fmla="*/ 5 w 1179"/>
              <a:gd name="T53" fmla="*/ 190 h 199"/>
              <a:gd name="T54" fmla="*/ 5 w 1179"/>
              <a:gd name="T55" fmla="*/ 189 h 199"/>
              <a:gd name="T56" fmla="*/ 0 w 1179"/>
              <a:gd name="T57" fmla="*/ 19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179" h="199">
                <a:moveTo>
                  <a:pt x="1179" y="6"/>
                </a:moveTo>
                <a:lnTo>
                  <a:pt x="1179" y="6"/>
                </a:lnTo>
                <a:lnTo>
                  <a:pt x="1177" y="5"/>
                </a:lnTo>
                <a:lnTo>
                  <a:pt x="1177" y="3"/>
                </a:lnTo>
                <a:lnTo>
                  <a:pt x="1177" y="1"/>
                </a:lnTo>
                <a:lnTo>
                  <a:pt x="1177" y="0"/>
                </a:lnTo>
                <a:lnTo>
                  <a:pt x="1172" y="0"/>
                </a:lnTo>
                <a:lnTo>
                  <a:pt x="1172" y="1"/>
                </a:lnTo>
                <a:lnTo>
                  <a:pt x="1172" y="3"/>
                </a:lnTo>
                <a:lnTo>
                  <a:pt x="1172" y="5"/>
                </a:lnTo>
                <a:lnTo>
                  <a:pt x="1174" y="5"/>
                </a:lnTo>
                <a:lnTo>
                  <a:pt x="1174" y="6"/>
                </a:lnTo>
                <a:lnTo>
                  <a:pt x="1174" y="8"/>
                </a:lnTo>
                <a:lnTo>
                  <a:pt x="1179" y="6"/>
                </a:lnTo>
                <a:close/>
                <a:moveTo>
                  <a:pt x="0" y="190"/>
                </a:moveTo>
                <a:lnTo>
                  <a:pt x="0" y="192"/>
                </a:lnTo>
                <a:lnTo>
                  <a:pt x="0" y="194"/>
                </a:lnTo>
                <a:lnTo>
                  <a:pt x="0" y="195"/>
                </a:lnTo>
                <a:lnTo>
                  <a:pt x="2" y="195"/>
                </a:lnTo>
                <a:lnTo>
                  <a:pt x="2" y="197"/>
                </a:lnTo>
                <a:lnTo>
                  <a:pt x="2" y="199"/>
                </a:lnTo>
                <a:lnTo>
                  <a:pt x="6" y="199"/>
                </a:lnTo>
                <a:lnTo>
                  <a:pt x="6" y="197"/>
                </a:lnTo>
                <a:lnTo>
                  <a:pt x="5" y="195"/>
                </a:lnTo>
                <a:lnTo>
                  <a:pt x="5" y="194"/>
                </a:lnTo>
                <a:lnTo>
                  <a:pt x="5" y="192"/>
                </a:lnTo>
                <a:lnTo>
                  <a:pt x="5" y="190"/>
                </a:lnTo>
                <a:lnTo>
                  <a:pt x="5" y="189"/>
                </a:lnTo>
                <a:lnTo>
                  <a:pt x="0" y="19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70" name="Freeform 1175">
            <a:extLst>
              <a:ext uri="{FF2B5EF4-FFF2-40B4-BE49-F238E27FC236}">
                <a16:creationId xmlns:a16="http://schemas.microsoft.com/office/drawing/2014/main" id="{2BE10DB5-F075-F872-8B12-3D2611168040}"/>
              </a:ext>
            </a:extLst>
          </p:cNvPr>
          <p:cNvSpPr>
            <a:spLocks noEditPoints="1"/>
          </p:cNvSpPr>
          <p:nvPr/>
        </p:nvSpPr>
        <p:spPr bwMode="auto">
          <a:xfrm>
            <a:off x="1982788" y="2403475"/>
            <a:ext cx="1863725" cy="315913"/>
          </a:xfrm>
          <a:custGeom>
            <a:avLst/>
            <a:gdLst>
              <a:gd name="T0" fmla="*/ 1174 w 1174"/>
              <a:gd name="T1" fmla="*/ 8 h 199"/>
              <a:gd name="T2" fmla="*/ 1174 w 1174"/>
              <a:gd name="T3" fmla="*/ 6 h 199"/>
              <a:gd name="T4" fmla="*/ 1174 w 1174"/>
              <a:gd name="T5" fmla="*/ 5 h 199"/>
              <a:gd name="T6" fmla="*/ 1174 w 1174"/>
              <a:gd name="T7" fmla="*/ 3 h 199"/>
              <a:gd name="T8" fmla="*/ 1174 w 1174"/>
              <a:gd name="T9" fmla="*/ 1 h 199"/>
              <a:gd name="T10" fmla="*/ 1174 w 1174"/>
              <a:gd name="T11" fmla="*/ 0 h 199"/>
              <a:gd name="T12" fmla="*/ 1172 w 1174"/>
              <a:gd name="T13" fmla="*/ 0 h 199"/>
              <a:gd name="T14" fmla="*/ 1167 w 1174"/>
              <a:gd name="T15" fmla="*/ 0 h 199"/>
              <a:gd name="T16" fmla="*/ 1169 w 1174"/>
              <a:gd name="T17" fmla="*/ 1 h 199"/>
              <a:gd name="T18" fmla="*/ 1169 w 1174"/>
              <a:gd name="T19" fmla="*/ 3 h 199"/>
              <a:gd name="T20" fmla="*/ 1169 w 1174"/>
              <a:gd name="T21" fmla="*/ 5 h 199"/>
              <a:gd name="T22" fmla="*/ 1169 w 1174"/>
              <a:gd name="T23" fmla="*/ 6 h 199"/>
              <a:gd name="T24" fmla="*/ 1169 w 1174"/>
              <a:gd name="T25" fmla="*/ 8 h 199"/>
              <a:gd name="T26" fmla="*/ 1169 w 1174"/>
              <a:gd name="T27" fmla="*/ 10 h 199"/>
              <a:gd name="T28" fmla="*/ 1174 w 1174"/>
              <a:gd name="T29" fmla="*/ 8 h 199"/>
              <a:gd name="T30" fmla="*/ 0 w 1174"/>
              <a:gd name="T31" fmla="*/ 190 h 199"/>
              <a:gd name="T32" fmla="*/ 1 w 1174"/>
              <a:gd name="T33" fmla="*/ 190 h 199"/>
              <a:gd name="T34" fmla="*/ 1 w 1174"/>
              <a:gd name="T35" fmla="*/ 192 h 199"/>
              <a:gd name="T36" fmla="*/ 1 w 1174"/>
              <a:gd name="T37" fmla="*/ 194 h 199"/>
              <a:gd name="T38" fmla="*/ 1 w 1174"/>
              <a:gd name="T39" fmla="*/ 195 h 199"/>
              <a:gd name="T40" fmla="*/ 1 w 1174"/>
              <a:gd name="T41" fmla="*/ 197 h 199"/>
              <a:gd name="T42" fmla="*/ 1 w 1174"/>
              <a:gd name="T43" fmla="*/ 199 h 199"/>
              <a:gd name="T44" fmla="*/ 6 w 1174"/>
              <a:gd name="T45" fmla="*/ 199 h 199"/>
              <a:gd name="T46" fmla="*/ 6 w 1174"/>
              <a:gd name="T47" fmla="*/ 197 h 199"/>
              <a:gd name="T48" fmla="*/ 6 w 1174"/>
              <a:gd name="T49" fmla="*/ 195 h 199"/>
              <a:gd name="T50" fmla="*/ 6 w 1174"/>
              <a:gd name="T51" fmla="*/ 194 h 199"/>
              <a:gd name="T52" fmla="*/ 6 w 1174"/>
              <a:gd name="T53" fmla="*/ 192 h 199"/>
              <a:gd name="T54" fmla="*/ 4 w 1174"/>
              <a:gd name="T55" fmla="*/ 190 h 199"/>
              <a:gd name="T56" fmla="*/ 4 w 1174"/>
              <a:gd name="T57" fmla="*/ 189 h 199"/>
              <a:gd name="T58" fmla="*/ 0 w 1174"/>
              <a:gd name="T59" fmla="*/ 19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74" h="199">
                <a:moveTo>
                  <a:pt x="1174" y="8"/>
                </a:moveTo>
                <a:lnTo>
                  <a:pt x="1174" y="6"/>
                </a:lnTo>
                <a:lnTo>
                  <a:pt x="1174" y="5"/>
                </a:lnTo>
                <a:lnTo>
                  <a:pt x="1174" y="3"/>
                </a:lnTo>
                <a:lnTo>
                  <a:pt x="1174" y="1"/>
                </a:lnTo>
                <a:lnTo>
                  <a:pt x="1174" y="0"/>
                </a:lnTo>
                <a:lnTo>
                  <a:pt x="1172" y="0"/>
                </a:lnTo>
                <a:lnTo>
                  <a:pt x="1167" y="0"/>
                </a:lnTo>
                <a:lnTo>
                  <a:pt x="1169" y="1"/>
                </a:lnTo>
                <a:lnTo>
                  <a:pt x="1169" y="3"/>
                </a:lnTo>
                <a:lnTo>
                  <a:pt x="1169" y="5"/>
                </a:lnTo>
                <a:lnTo>
                  <a:pt x="1169" y="6"/>
                </a:lnTo>
                <a:lnTo>
                  <a:pt x="1169" y="8"/>
                </a:lnTo>
                <a:lnTo>
                  <a:pt x="1169" y="10"/>
                </a:lnTo>
                <a:lnTo>
                  <a:pt x="1174" y="8"/>
                </a:lnTo>
                <a:close/>
                <a:moveTo>
                  <a:pt x="0" y="190"/>
                </a:moveTo>
                <a:lnTo>
                  <a:pt x="1" y="190"/>
                </a:lnTo>
                <a:lnTo>
                  <a:pt x="1" y="192"/>
                </a:lnTo>
                <a:lnTo>
                  <a:pt x="1" y="194"/>
                </a:lnTo>
                <a:lnTo>
                  <a:pt x="1" y="195"/>
                </a:lnTo>
                <a:lnTo>
                  <a:pt x="1" y="197"/>
                </a:lnTo>
                <a:lnTo>
                  <a:pt x="1" y="199"/>
                </a:lnTo>
                <a:lnTo>
                  <a:pt x="6" y="199"/>
                </a:lnTo>
                <a:lnTo>
                  <a:pt x="6" y="197"/>
                </a:lnTo>
                <a:lnTo>
                  <a:pt x="6" y="195"/>
                </a:lnTo>
                <a:lnTo>
                  <a:pt x="6" y="194"/>
                </a:lnTo>
                <a:lnTo>
                  <a:pt x="6" y="192"/>
                </a:lnTo>
                <a:lnTo>
                  <a:pt x="4" y="190"/>
                </a:lnTo>
                <a:lnTo>
                  <a:pt x="4" y="189"/>
                </a:lnTo>
                <a:lnTo>
                  <a:pt x="0" y="19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71" name="Freeform 1176">
            <a:extLst>
              <a:ext uri="{FF2B5EF4-FFF2-40B4-BE49-F238E27FC236}">
                <a16:creationId xmlns:a16="http://schemas.microsoft.com/office/drawing/2014/main" id="{A34A1C59-548F-CDCE-BAC3-0976C8F51B29}"/>
              </a:ext>
            </a:extLst>
          </p:cNvPr>
          <p:cNvSpPr>
            <a:spLocks noEditPoints="1"/>
          </p:cNvSpPr>
          <p:nvPr/>
        </p:nvSpPr>
        <p:spPr bwMode="auto">
          <a:xfrm>
            <a:off x="1987550" y="2403475"/>
            <a:ext cx="1855788" cy="315913"/>
          </a:xfrm>
          <a:custGeom>
            <a:avLst/>
            <a:gdLst>
              <a:gd name="T0" fmla="*/ 1169 w 1169"/>
              <a:gd name="T1" fmla="*/ 8 h 199"/>
              <a:gd name="T2" fmla="*/ 1169 w 1169"/>
              <a:gd name="T3" fmla="*/ 8 h 199"/>
              <a:gd name="T4" fmla="*/ 1169 w 1169"/>
              <a:gd name="T5" fmla="*/ 6 h 199"/>
              <a:gd name="T6" fmla="*/ 1169 w 1169"/>
              <a:gd name="T7" fmla="*/ 5 h 199"/>
              <a:gd name="T8" fmla="*/ 1167 w 1169"/>
              <a:gd name="T9" fmla="*/ 5 h 199"/>
              <a:gd name="T10" fmla="*/ 1167 w 1169"/>
              <a:gd name="T11" fmla="*/ 3 h 199"/>
              <a:gd name="T12" fmla="*/ 1167 w 1169"/>
              <a:gd name="T13" fmla="*/ 1 h 199"/>
              <a:gd name="T14" fmla="*/ 1167 w 1169"/>
              <a:gd name="T15" fmla="*/ 0 h 199"/>
              <a:gd name="T16" fmla="*/ 1162 w 1169"/>
              <a:gd name="T17" fmla="*/ 0 h 199"/>
              <a:gd name="T18" fmla="*/ 1162 w 1169"/>
              <a:gd name="T19" fmla="*/ 1 h 199"/>
              <a:gd name="T20" fmla="*/ 1162 w 1169"/>
              <a:gd name="T21" fmla="*/ 3 h 199"/>
              <a:gd name="T22" fmla="*/ 1164 w 1169"/>
              <a:gd name="T23" fmla="*/ 5 h 199"/>
              <a:gd name="T24" fmla="*/ 1164 w 1169"/>
              <a:gd name="T25" fmla="*/ 6 h 199"/>
              <a:gd name="T26" fmla="*/ 1164 w 1169"/>
              <a:gd name="T27" fmla="*/ 8 h 199"/>
              <a:gd name="T28" fmla="*/ 1164 w 1169"/>
              <a:gd name="T29" fmla="*/ 10 h 199"/>
              <a:gd name="T30" fmla="*/ 1164 w 1169"/>
              <a:gd name="T31" fmla="*/ 11 h 199"/>
              <a:gd name="T32" fmla="*/ 1169 w 1169"/>
              <a:gd name="T33" fmla="*/ 8 h 199"/>
              <a:gd name="T34" fmla="*/ 0 w 1169"/>
              <a:gd name="T35" fmla="*/ 189 h 199"/>
              <a:gd name="T36" fmla="*/ 0 w 1169"/>
              <a:gd name="T37" fmla="*/ 190 h 199"/>
              <a:gd name="T38" fmla="*/ 0 w 1169"/>
              <a:gd name="T39" fmla="*/ 192 h 199"/>
              <a:gd name="T40" fmla="*/ 0 w 1169"/>
              <a:gd name="T41" fmla="*/ 194 h 199"/>
              <a:gd name="T42" fmla="*/ 0 w 1169"/>
              <a:gd name="T43" fmla="*/ 195 h 199"/>
              <a:gd name="T44" fmla="*/ 1 w 1169"/>
              <a:gd name="T45" fmla="*/ 197 h 199"/>
              <a:gd name="T46" fmla="*/ 1 w 1169"/>
              <a:gd name="T47" fmla="*/ 199 h 199"/>
              <a:gd name="T48" fmla="*/ 6 w 1169"/>
              <a:gd name="T49" fmla="*/ 199 h 199"/>
              <a:gd name="T50" fmla="*/ 6 w 1169"/>
              <a:gd name="T51" fmla="*/ 197 h 199"/>
              <a:gd name="T52" fmla="*/ 5 w 1169"/>
              <a:gd name="T53" fmla="*/ 195 h 199"/>
              <a:gd name="T54" fmla="*/ 5 w 1169"/>
              <a:gd name="T55" fmla="*/ 194 h 199"/>
              <a:gd name="T56" fmla="*/ 5 w 1169"/>
              <a:gd name="T57" fmla="*/ 192 h 199"/>
              <a:gd name="T58" fmla="*/ 5 w 1169"/>
              <a:gd name="T59" fmla="*/ 190 h 199"/>
              <a:gd name="T60" fmla="*/ 5 w 1169"/>
              <a:gd name="T61" fmla="*/ 189 h 199"/>
              <a:gd name="T62" fmla="*/ 5 w 1169"/>
              <a:gd name="T63" fmla="*/ 187 h 199"/>
              <a:gd name="T64" fmla="*/ 0 w 1169"/>
              <a:gd name="T65" fmla="*/ 18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69" h="199">
                <a:moveTo>
                  <a:pt x="1169" y="8"/>
                </a:moveTo>
                <a:lnTo>
                  <a:pt x="1169" y="8"/>
                </a:lnTo>
                <a:lnTo>
                  <a:pt x="1169" y="6"/>
                </a:lnTo>
                <a:lnTo>
                  <a:pt x="1169" y="5"/>
                </a:lnTo>
                <a:lnTo>
                  <a:pt x="1167" y="5"/>
                </a:lnTo>
                <a:lnTo>
                  <a:pt x="1167" y="3"/>
                </a:lnTo>
                <a:lnTo>
                  <a:pt x="1167" y="1"/>
                </a:lnTo>
                <a:lnTo>
                  <a:pt x="1167" y="0"/>
                </a:lnTo>
                <a:lnTo>
                  <a:pt x="1162" y="0"/>
                </a:lnTo>
                <a:lnTo>
                  <a:pt x="1162" y="1"/>
                </a:lnTo>
                <a:lnTo>
                  <a:pt x="1162" y="3"/>
                </a:lnTo>
                <a:lnTo>
                  <a:pt x="1164" y="5"/>
                </a:lnTo>
                <a:lnTo>
                  <a:pt x="1164" y="6"/>
                </a:lnTo>
                <a:lnTo>
                  <a:pt x="1164" y="8"/>
                </a:lnTo>
                <a:lnTo>
                  <a:pt x="1164" y="10"/>
                </a:lnTo>
                <a:lnTo>
                  <a:pt x="1164" y="11"/>
                </a:lnTo>
                <a:lnTo>
                  <a:pt x="1169" y="8"/>
                </a:lnTo>
                <a:close/>
                <a:moveTo>
                  <a:pt x="0" y="189"/>
                </a:moveTo>
                <a:lnTo>
                  <a:pt x="0" y="190"/>
                </a:lnTo>
                <a:lnTo>
                  <a:pt x="0" y="192"/>
                </a:lnTo>
                <a:lnTo>
                  <a:pt x="0" y="194"/>
                </a:lnTo>
                <a:lnTo>
                  <a:pt x="0" y="195"/>
                </a:lnTo>
                <a:lnTo>
                  <a:pt x="1" y="197"/>
                </a:lnTo>
                <a:lnTo>
                  <a:pt x="1" y="199"/>
                </a:lnTo>
                <a:lnTo>
                  <a:pt x="6" y="199"/>
                </a:lnTo>
                <a:lnTo>
                  <a:pt x="6" y="197"/>
                </a:lnTo>
                <a:lnTo>
                  <a:pt x="5" y="195"/>
                </a:lnTo>
                <a:lnTo>
                  <a:pt x="5" y="194"/>
                </a:lnTo>
                <a:lnTo>
                  <a:pt x="5" y="192"/>
                </a:lnTo>
                <a:lnTo>
                  <a:pt x="5" y="190"/>
                </a:lnTo>
                <a:lnTo>
                  <a:pt x="5" y="189"/>
                </a:lnTo>
                <a:lnTo>
                  <a:pt x="5" y="187"/>
                </a:lnTo>
                <a:lnTo>
                  <a:pt x="0" y="189"/>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72" name="Freeform 1177">
            <a:extLst>
              <a:ext uri="{FF2B5EF4-FFF2-40B4-BE49-F238E27FC236}">
                <a16:creationId xmlns:a16="http://schemas.microsoft.com/office/drawing/2014/main" id="{B8654190-747D-EDEE-A096-6072378E851A}"/>
              </a:ext>
            </a:extLst>
          </p:cNvPr>
          <p:cNvSpPr>
            <a:spLocks noEditPoints="1"/>
          </p:cNvSpPr>
          <p:nvPr/>
        </p:nvSpPr>
        <p:spPr bwMode="auto">
          <a:xfrm>
            <a:off x="1989138" y="2403475"/>
            <a:ext cx="1849438" cy="315913"/>
          </a:xfrm>
          <a:custGeom>
            <a:avLst/>
            <a:gdLst>
              <a:gd name="T0" fmla="*/ 1165 w 1165"/>
              <a:gd name="T1" fmla="*/ 10 h 199"/>
              <a:gd name="T2" fmla="*/ 1165 w 1165"/>
              <a:gd name="T3" fmla="*/ 8 h 199"/>
              <a:gd name="T4" fmla="*/ 1165 w 1165"/>
              <a:gd name="T5" fmla="*/ 6 h 199"/>
              <a:gd name="T6" fmla="*/ 1165 w 1165"/>
              <a:gd name="T7" fmla="*/ 5 h 199"/>
              <a:gd name="T8" fmla="*/ 1165 w 1165"/>
              <a:gd name="T9" fmla="*/ 3 h 199"/>
              <a:gd name="T10" fmla="*/ 1165 w 1165"/>
              <a:gd name="T11" fmla="*/ 1 h 199"/>
              <a:gd name="T12" fmla="*/ 1163 w 1165"/>
              <a:gd name="T13" fmla="*/ 0 h 199"/>
              <a:gd name="T14" fmla="*/ 1160 w 1165"/>
              <a:gd name="T15" fmla="*/ 0 h 199"/>
              <a:gd name="T16" fmla="*/ 1160 w 1165"/>
              <a:gd name="T17" fmla="*/ 1 h 199"/>
              <a:gd name="T18" fmla="*/ 1160 w 1165"/>
              <a:gd name="T19" fmla="*/ 3 h 199"/>
              <a:gd name="T20" fmla="*/ 1160 w 1165"/>
              <a:gd name="T21" fmla="*/ 5 h 199"/>
              <a:gd name="T22" fmla="*/ 1160 w 1165"/>
              <a:gd name="T23" fmla="*/ 6 h 199"/>
              <a:gd name="T24" fmla="*/ 1160 w 1165"/>
              <a:gd name="T25" fmla="*/ 8 h 199"/>
              <a:gd name="T26" fmla="*/ 1161 w 1165"/>
              <a:gd name="T27" fmla="*/ 10 h 199"/>
              <a:gd name="T28" fmla="*/ 1161 w 1165"/>
              <a:gd name="T29" fmla="*/ 11 h 199"/>
              <a:gd name="T30" fmla="*/ 1165 w 1165"/>
              <a:gd name="T31" fmla="*/ 10 h 199"/>
              <a:gd name="T32" fmla="*/ 0 w 1165"/>
              <a:gd name="T33" fmla="*/ 189 h 199"/>
              <a:gd name="T34" fmla="*/ 0 w 1165"/>
              <a:gd name="T35" fmla="*/ 189 h 199"/>
              <a:gd name="T36" fmla="*/ 0 w 1165"/>
              <a:gd name="T37" fmla="*/ 190 h 199"/>
              <a:gd name="T38" fmla="*/ 2 w 1165"/>
              <a:gd name="T39" fmla="*/ 192 h 199"/>
              <a:gd name="T40" fmla="*/ 2 w 1165"/>
              <a:gd name="T41" fmla="*/ 194 h 199"/>
              <a:gd name="T42" fmla="*/ 2 w 1165"/>
              <a:gd name="T43" fmla="*/ 195 h 199"/>
              <a:gd name="T44" fmla="*/ 2 w 1165"/>
              <a:gd name="T45" fmla="*/ 197 h 199"/>
              <a:gd name="T46" fmla="*/ 2 w 1165"/>
              <a:gd name="T47" fmla="*/ 199 h 199"/>
              <a:gd name="T48" fmla="*/ 7 w 1165"/>
              <a:gd name="T49" fmla="*/ 199 h 199"/>
              <a:gd name="T50" fmla="*/ 7 w 1165"/>
              <a:gd name="T51" fmla="*/ 197 h 199"/>
              <a:gd name="T52" fmla="*/ 7 w 1165"/>
              <a:gd name="T53" fmla="*/ 195 h 199"/>
              <a:gd name="T54" fmla="*/ 7 w 1165"/>
              <a:gd name="T55" fmla="*/ 194 h 199"/>
              <a:gd name="T56" fmla="*/ 7 w 1165"/>
              <a:gd name="T57" fmla="*/ 192 h 199"/>
              <a:gd name="T58" fmla="*/ 5 w 1165"/>
              <a:gd name="T59" fmla="*/ 190 h 199"/>
              <a:gd name="T60" fmla="*/ 5 w 1165"/>
              <a:gd name="T61" fmla="*/ 189 h 199"/>
              <a:gd name="T62" fmla="*/ 5 w 1165"/>
              <a:gd name="T63" fmla="*/ 187 h 199"/>
              <a:gd name="T64" fmla="*/ 5 w 1165"/>
              <a:gd name="T65" fmla="*/ 185 h 199"/>
              <a:gd name="T66" fmla="*/ 0 w 1165"/>
              <a:gd name="T67" fmla="*/ 18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65" h="199">
                <a:moveTo>
                  <a:pt x="1165" y="10"/>
                </a:moveTo>
                <a:lnTo>
                  <a:pt x="1165" y="8"/>
                </a:lnTo>
                <a:lnTo>
                  <a:pt x="1165" y="6"/>
                </a:lnTo>
                <a:lnTo>
                  <a:pt x="1165" y="5"/>
                </a:lnTo>
                <a:lnTo>
                  <a:pt x="1165" y="3"/>
                </a:lnTo>
                <a:lnTo>
                  <a:pt x="1165" y="1"/>
                </a:lnTo>
                <a:lnTo>
                  <a:pt x="1163" y="0"/>
                </a:lnTo>
                <a:lnTo>
                  <a:pt x="1160" y="0"/>
                </a:lnTo>
                <a:lnTo>
                  <a:pt x="1160" y="1"/>
                </a:lnTo>
                <a:lnTo>
                  <a:pt x="1160" y="3"/>
                </a:lnTo>
                <a:lnTo>
                  <a:pt x="1160" y="5"/>
                </a:lnTo>
                <a:lnTo>
                  <a:pt x="1160" y="6"/>
                </a:lnTo>
                <a:lnTo>
                  <a:pt x="1160" y="8"/>
                </a:lnTo>
                <a:lnTo>
                  <a:pt x="1161" y="10"/>
                </a:lnTo>
                <a:lnTo>
                  <a:pt x="1161" y="11"/>
                </a:lnTo>
                <a:lnTo>
                  <a:pt x="1165" y="10"/>
                </a:lnTo>
                <a:close/>
                <a:moveTo>
                  <a:pt x="0" y="189"/>
                </a:moveTo>
                <a:lnTo>
                  <a:pt x="0" y="189"/>
                </a:lnTo>
                <a:lnTo>
                  <a:pt x="0" y="190"/>
                </a:lnTo>
                <a:lnTo>
                  <a:pt x="2" y="192"/>
                </a:lnTo>
                <a:lnTo>
                  <a:pt x="2" y="194"/>
                </a:lnTo>
                <a:lnTo>
                  <a:pt x="2" y="195"/>
                </a:lnTo>
                <a:lnTo>
                  <a:pt x="2" y="197"/>
                </a:lnTo>
                <a:lnTo>
                  <a:pt x="2" y="199"/>
                </a:lnTo>
                <a:lnTo>
                  <a:pt x="7" y="199"/>
                </a:lnTo>
                <a:lnTo>
                  <a:pt x="7" y="197"/>
                </a:lnTo>
                <a:lnTo>
                  <a:pt x="7" y="195"/>
                </a:lnTo>
                <a:lnTo>
                  <a:pt x="7" y="194"/>
                </a:lnTo>
                <a:lnTo>
                  <a:pt x="7" y="192"/>
                </a:lnTo>
                <a:lnTo>
                  <a:pt x="5" y="190"/>
                </a:lnTo>
                <a:lnTo>
                  <a:pt x="5" y="189"/>
                </a:lnTo>
                <a:lnTo>
                  <a:pt x="5" y="187"/>
                </a:lnTo>
                <a:lnTo>
                  <a:pt x="5" y="185"/>
                </a:lnTo>
                <a:lnTo>
                  <a:pt x="0" y="189"/>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73" name="Freeform 1178">
            <a:extLst>
              <a:ext uri="{FF2B5EF4-FFF2-40B4-BE49-F238E27FC236}">
                <a16:creationId xmlns:a16="http://schemas.microsoft.com/office/drawing/2014/main" id="{17B5CF78-2DFE-0611-6D07-3EDDDF423852}"/>
              </a:ext>
            </a:extLst>
          </p:cNvPr>
          <p:cNvSpPr>
            <a:spLocks noEditPoints="1"/>
          </p:cNvSpPr>
          <p:nvPr/>
        </p:nvSpPr>
        <p:spPr bwMode="auto">
          <a:xfrm>
            <a:off x="1995488" y="2403475"/>
            <a:ext cx="1839913" cy="315913"/>
          </a:xfrm>
          <a:custGeom>
            <a:avLst/>
            <a:gdLst>
              <a:gd name="T0" fmla="*/ 1159 w 1159"/>
              <a:gd name="T1" fmla="*/ 11 h 199"/>
              <a:gd name="T2" fmla="*/ 1159 w 1159"/>
              <a:gd name="T3" fmla="*/ 10 h 199"/>
              <a:gd name="T4" fmla="*/ 1159 w 1159"/>
              <a:gd name="T5" fmla="*/ 8 h 199"/>
              <a:gd name="T6" fmla="*/ 1159 w 1159"/>
              <a:gd name="T7" fmla="*/ 6 h 199"/>
              <a:gd name="T8" fmla="*/ 1159 w 1159"/>
              <a:gd name="T9" fmla="*/ 5 h 199"/>
              <a:gd name="T10" fmla="*/ 1157 w 1159"/>
              <a:gd name="T11" fmla="*/ 3 h 199"/>
              <a:gd name="T12" fmla="*/ 1157 w 1159"/>
              <a:gd name="T13" fmla="*/ 1 h 199"/>
              <a:gd name="T14" fmla="*/ 1157 w 1159"/>
              <a:gd name="T15" fmla="*/ 0 h 199"/>
              <a:gd name="T16" fmla="*/ 1152 w 1159"/>
              <a:gd name="T17" fmla="*/ 0 h 199"/>
              <a:gd name="T18" fmla="*/ 1152 w 1159"/>
              <a:gd name="T19" fmla="*/ 1 h 199"/>
              <a:gd name="T20" fmla="*/ 1152 w 1159"/>
              <a:gd name="T21" fmla="*/ 3 h 199"/>
              <a:gd name="T22" fmla="*/ 1154 w 1159"/>
              <a:gd name="T23" fmla="*/ 5 h 199"/>
              <a:gd name="T24" fmla="*/ 1154 w 1159"/>
              <a:gd name="T25" fmla="*/ 6 h 199"/>
              <a:gd name="T26" fmla="*/ 1154 w 1159"/>
              <a:gd name="T27" fmla="*/ 8 h 199"/>
              <a:gd name="T28" fmla="*/ 1154 w 1159"/>
              <a:gd name="T29" fmla="*/ 10 h 199"/>
              <a:gd name="T30" fmla="*/ 1154 w 1159"/>
              <a:gd name="T31" fmla="*/ 11 h 199"/>
              <a:gd name="T32" fmla="*/ 1154 w 1159"/>
              <a:gd name="T33" fmla="*/ 13 h 199"/>
              <a:gd name="T34" fmla="*/ 1159 w 1159"/>
              <a:gd name="T35" fmla="*/ 11 h 199"/>
              <a:gd name="T36" fmla="*/ 0 w 1159"/>
              <a:gd name="T37" fmla="*/ 187 h 199"/>
              <a:gd name="T38" fmla="*/ 0 w 1159"/>
              <a:gd name="T39" fmla="*/ 189 h 199"/>
              <a:gd name="T40" fmla="*/ 0 w 1159"/>
              <a:gd name="T41" fmla="*/ 190 h 199"/>
              <a:gd name="T42" fmla="*/ 0 w 1159"/>
              <a:gd name="T43" fmla="*/ 192 h 199"/>
              <a:gd name="T44" fmla="*/ 0 w 1159"/>
              <a:gd name="T45" fmla="*/ 194 h 199"/>
              <a:gd name="T46" fmla="*/ 0 w 1159"/>
              <a:gd name="T47" fmla="*/ 195 h 199"/>
              <a:gd name="T48" fmla="*/ 1 w 1159"/>
              <a:gd name="T49" fmla="*/ 197 h 199"/>
              <a:gd name="T50" fmla="*/ 1 w 1159"/>
              <a:gd name="T51" fmla="*/ 199 h 199"/>
              <a:gd name="T52" fmla="*/ 6 w 1159"/>
              <a:gd name="T53" fmla="*/ 199 h 199"/>
              <a:gd name="T54" fmla="*/ 5 w 1159"/>
              <a:gd name="T55" fmla="*/ 197 h 199"/>
              <a:gd name="T56" fmla="*/ 5 w 1159"/>
              <a:gd name="T57" fmla="*/ 195 h 199"/>
              <a:gd name="T58" fmla="*/ 5 w 1159"/>
              <a:gd name="T59" fmla="*/ 194 h 199"/>
              <a:gd name="T60" fmla="*/ 5 w 1159"/>
              <a:gd name="T61" fmla="*/ 192 h 199"/>
              <a:gd name="T62" fmla="*/ 5 w 1159"/>
              <a:gd name="T63" fmla="*/ 190 h 199"/>
              <a:gd name="T64" fmla="*/ 5 w 1159"/>
              <a:gd name="T65" fmla="*/ 189 h 199"/>
              <a:gd name="T66" fmla="*/ 3 w 1159"/>
              <a:gd name="T67" fmla="*/ 187 h 199"/>
              <a:gd name="T68" fmla="*/ 3 w 1159"/>
              <a:gd name="T69" fmla="*/ 185 h 199"/>
              <a:gd name="T70" fmla="*/ 0 w 1159"/>
              <a:gd name="T71" fmla="*/ 18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159" h="199">
                <a:moveTo>
                  <a:pt x="1159" y="11"/>
                </a:moveTo>
                <a:lnTo>
                  <a:pt x="1159" y="10"/>
                </a:lnTo>
                <a:lnTo>
                  <a:pt x="1159" y="8"/>
                </a:lnTo>
                <a:lnTo>
                  <a:pt x="1159" y="6"/>
                </a:lnTo>
                <a:lnTo>
                  <a:pt x="1159" y="5"/>
                </a:lnTo>
                <a:lnTo>
                  <a:pt x="1157" y="3"/>
                </a:lnTo>
                <a:lnTo>
                  <a:pt x="1157" y="1"/>
                </a:lnTo>
                <a:lnTo>
                  <a:pt x="1157" y="0"/>
                </a:lnTo>
                <a:lnTo>
                  <a:pt x="1152" y="0"/>
                </a:lnTo>
                <a:lnTo>
                  <a:pt x="1152" y="1"/>
                </a:lnTo>
                <a:lnTo>
                  <a:pt x="1152" y="3"/>
                </a:lnTo>
                <a:lnTo>
                  <a:pt x="1154" y="5"/>
                </a:lnTo>
                <a:lnTo>
                  <a:pt x="1154" y="6"/>
                </a:lnTo>
                <a:lnTo>
                  <a:pt x="1154" y="8"/>
                </a:lnTo>
                <a:lnTo>
                  <a:pt x="1154" y="10"/>
                </a:lnTo>
                <a:lnTo>
                  <a:pt x="1154" y="11"/>
                </a:lnTo>
                <a:lnTo>
                  <a:pt x="1154" y="13"/>
                </a:lnTo>
                <a:lnTo>
                  <a:pt x="1159" y="11"/>
                </a:lnTo>
                <a:close/>
                <a:moveTo>
                  <a:pt x="0" y="187"/>
                </a:moveTo>
                <a:lnTo>
                  <a:pt x="0" y="189"/>
                </a:lnTo>
                <a:lnTo>
                  <a:pt x="0" y="190"/>
                </a:lnTo>
                <a:lnTo>
                  <a:pt x="0" y="192"/>
                </a:lnTo>
                <a:lnTo>
                  <a:pt x="0" y="194"/>
                </a:lnTo>
                <a:lnTo>
                  <a:pt x="0" y="195"/>
                </a:lnTo>
                <a:lnTo>
                  <a:pt x="1" y="197"/>
                </a:lnTo>
                <a:lnTo>
                  <a:pt x="1" y="199"/>
                </a:lnTo>
                <a:lnTo>
                  <a:pt x="6" y="199"/>
                </a:lnTo>
                <a:lnTo>
                  <a:pt x="5" y="197"/>
                </a:lnTo>
                <a:lnTo>
                  <a:pt x="5" y="195"/>
                </a:lnTo>
                <a:lnTo>
                  <a:pt x="5" y="194"/>
                </a:lnTo>
                <a:lnTo>
                  <a:pt x="5" y="192"/>
                </a:lnTo>
                <a:lnTo>
                  <a:pt x="5" y="190"/>
                </a:lnTo>
                <a:lnTo>
                  <a:pt x="5" y="189"/>
                </a:lnTo>
                <a:lnTo>
                  <a:pt x="3" y="187"/>
                </a:lnTo>
                <a:lnTo>
                  <a:pt x="3" y="185"/>
                </a:lnTo>
                <a:lnTo>
                  <a:pt x="0" y="187"/>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74" name="Freeform 1179">
            <a:extLst>
              <a:ext uri="{FF2B5EF4-FFF2-40B4-BE49-F238E27FC236}">
                <a16:creationId xmlns:a16="http://schemas.microsoft.com/office/drawing/2014/main" id="{1EE0036D-E5D3-5CDB-0166-14C9C79C0744}"/>
              </a:ext>
            </a:extLst>
          </p:cNvPr>
          <p:cNvSpPr>
            <a:spLocks noEditPoints="1"/>
          </p:cNvSpPr>
          <p:nvPr/>
        </p:nvSpPr>
        <p:spPr bwMode="auto">
          <a:xfrm>
            <a:off x="1997075" y="2403475"/>
            <a:ext cx="1835150" cy="315913"/>
          </a:xfrm>
          <a:custGeom>
            <a:avLst/>
            <a:gdLst>
              <a:gd name="T0" fmla="*/ 1156 w 1156"/>
              <a:gd name="T1" fmla="*/ 11 h 199"/>
              <a:gd name="T2" fmla="*/ 1156 w 1156"/>
              <a:gd name="T3" fmla="*/ 10 h 199"/>
              <a:gd name="T4" fmla="*/ 1155 w 1156"/>
              <a:gd name="T5" fmla="*/ 8 h 199"/>
              <a:gd name="T6" fmla="*/ 1155 w 1156"/>
              <a:gd name="T7" fmla="*/ 6 h 199"/>
              <a:gd name="T8" fmla="*/ 1155 w 1156"/>
              <a:gd name="T9" fmla="*/ 5 h 199"/>
              <a:gd name="T10" fmla="*/ 1155 w 1156"/>
              <a:gd name="T11" fmla="*/ 3 h 199"/>
              <a:gd name="T12" fmla="*/ 1155 w 1156"/>
              <a:gd name="T13" fmla="*/ 1 h 199"/>
              <a:gd name="T14" fmla="*/ 1155 w 1156"/>
              <a:gd name="T15" fmla="*/ 0 h 199"/>
              <a:gd name="T16" fmla="*/ 1150 w 1156"/>
              <a:gd name="T17" fmla="*/ 0 h 199"/>
              <a:gd name="T18" fmla="*/ 1150 w 1156"/>
              <a:gd name="T19" fmla="*/ 1 h 199"/>
              <a:gd name="T20" fmla="*/ 1150 w 1156"/>
              <a:gd name="T21" fmla="*/ 3 h 199"/>
              <a:gd name="T22" fmla="*/ 1150 w 1156"/>
              <a:gd name="T23" fmla="*/ 5 h 199"/>
              <a:gd name="T24" fmla="*/ 1150 w 1156"/>
              <a:gd name="T25" fmla="*/ 6 h 199"/>
              <a:gd name="T26" fmla="*/ 1151 w 1156"/>
              <a:gd name="T27" fmla="*/ 8 h 199"/>
              <a:gd name="T28" fmla="*/ 1151 w 1156"/>
              <a:gd name="T29" fmla="*/ 10 h 199"/>
              <a:gd name="T30" fmla="*/ 1151 w 1156"/>
              <a:gd name="T31" fmla="*/ 11 h 199"/>
              <a:gd name="T32" fmla="*/ 1151 w 1156"/>
              <a:gd name="T33" fmla="*/ 13 h 199"/>
              <a:gd name="T34" fmla="*/ 1156 w 1156"/>
              <a:gd name="T35" fmla="*/ 11 h 199"/>
              <a:gd name="T36" fmla="*/ 0 w 1156"/>
              <a:gd name="T37" fmla="*/ 185 h 199"/>
              <a:gd name="T38" fmla="*/ 0 w 1156"/>
              <a:gd name="T39" fmla="*/ 187 h 199"/>
              <a:gd name="T40" fmla="*/ 0 w 1156"/>
              <a:gd name="T41" fmla="*/ 189 h 199"/>
              <a:gd name="T42" fmla="*/ 0 w 1156"/>
              <a:gd name="T43" fmla="*/ 190 h 199"/>
              <a:gd name="T44" fmla="*/ 2 w 1156"/>
              <a:gd name="T45" fmla="*/ 192 h 199"/>
              <a:gd name="T46" fmla="*/ 2 w 1156"/>
              <a:gd name="T47" fmla="*/ 194 h 199"/>
              <a:gd name="T48" fmla="*/ 2 w 1156"/>
              <a:gd name="T49" fmla="*/ 195 h 199"/>
              <a:gd name="T50" fmla="*/ 2 w 1156"/>
              <a:gd name="T51" fmla="*/ 197 h 199"/>
              <a:gd name="T52" fmla="*/ 2 w 1156"/>
              <a:gd name="T53" fmla="*/ 199 h 199"/>
              <a:gd name="T54" fmla="*/ 7 w 1156"/>
              <a:gd name="T55" fmla="*/ 199 h 199"/>
              <a:gd name="T56" fmla="*/ 7 w 1156"/>
              <a:gd name="T57" fmla="*/ 197 h 199"/>
              <a:gd name="T58" fmla="*/ 7 w 1156"/>
              <a:gd name="T59" fmla="*/ 195 h 199"/>
              <a:gd name="T60" fmla="*/ 7 w 1156"/>
              <a:gd name="T61" fmla="*/ 194 h 199"/>
              <a:gd name="T62" fmla="*/ 5 w 1156"/>
              <a:gd name="T63" fmla="*/ 190 h 199"/>
              <a:gd name="T64" fmla="*/ 5 w 1156"/>
              <a:gd name="T65" fmla="*/ 189 h 199"/>
              <a:gd name="T66" fmla="*/ 5 w 1156"/>
              <a:gd name="T67" fmla="*/ 187 h 199"/>
              <a:gd name="T68" fmla="*/ 5 w 1156"/>
              <a:gd name="T69" fmla="*/ 185 h 199"/>
              <a:gd name="T70" fmla="*/ 5 w 1156"/>
              <a:gd name="T71" fmla="*/ 184 h 199"/>
              <a:gd name="T72" fmla="*/ 0 w 1156"/>
              <a:gd name="T73" fmla="*/ 18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156" h="199">
                <a:moveTo>
                  <a:pt x="1156" y="11"/>
                </a:moveTo>
                <a:lnTo>
                  <a:pt x="1156" y="10"/>
                </a:lnTo>
                <a:lnTo>
                  <a:pt x="1155" y="8"/>
                </a:lnTo>
                <a:lnTo>
                  <a:pt x="1155" y="6"/>
                </a:lnTo>
                <a:lnTo>
                  <a:pt x="1155" y="5"/>
                </a:lnTo>
                <a:lnTo>
                  <a:pt x="1155" y="3"/>
                </a:lnTo>
                <a:lnTo>
                  <a:pt x="1155" y="1"/>
                </a:lnTo>
                <a:lnTo>
                  <a:pt x="1155" y="0"/>
                </a:lnTo>
                <a:lnTo>
                  <a:pt x="1150" y="0"/>
                </a:lnTo>
                <a:lnTo>
                  <a:pt x="1150" y="1"/>
                </a:lnTo>
                <a:lnTo>
                  <a:pt x="1150" y="3"/>
                </a:lnTo>
                <a:lnTo>
                  <a:pt x="1150" y="5"/>
                </a:lnTo>
                <a:lnTo>
                  <a:pt x="1150" y="6"/>
                </a:lnTo>
                <a:lnTo>
                  <a:pt x="1151" y="8"/>
                </a:lnTo>
                <a:lnTo>
                  <a:pt x="1151" y="10"/>
                </a:lnTo>
                <a:lnTo>
                  <a:pt x="1151" y="11"/>
                </a:lnTo>
                <a:lnTo>
                  <a:pt x="1151" y="13"/>
                </a:lnTo>
                <a:lnTo>
                  <a:pt x="1156" y="11"/>
                </a:lnTo>
                <a:close/>
                <a:moveTo>
                  <a:pt x="0" y="185"/>
                </a:moveTo>
                <a:lnTo>
                  <a:pt x="0" y="187"/>
                </a:lnTo>
                <a:lnTo>
                  <a:pt x="0" y="189"/>
                </a:lnTo>
                <a:lnTo>
                  <a:pt x="0" y="190"/>
                </a:lnTo>
                <a:lnTo>
                  <a:pt x="2" y="192"/>
                </a:lnTo>
                <a:lnTo>
                  <a:pt x="2" y="194"/>
                </a:lnTo>
                <a:lnTo>
                  <a:pt x="2" y="195"/>
                </a:lnTo>
                <a:lnTo>
                  <a:pt x="2" y="197"/>
                </a:lnTo>
                <a:lnTo>
                  <a:pt x="2" y="199"/>
                </a:lnTo>
                <a:lnTo>
                  <a:pt x="7" y="199"/>
                </a:lnTo>
                <a:lnTo>
                  <a:pt x="7" y="197"/>
                </a:lnTo>
                <a:lnTo>
                  <a:pt x="7" y="195"/>
                </a:lnTo>
                <a:lnTo>
                  <a:pt x="7" y="194"/>
                </a:lnTo>
                <a:lnTo>
                  <a:pt x="5" y="190"/>
                </a:lnTo>
                <a:lnTo>
                  <a:pt x="5" y="189"/>
                </a:lnTo>
                <a:lnTo>
                  <a:pt x="5" y="187"/>
                </a:lnTo>
                <a:lnTo>
                  <a:pt x="5" y="185"/>
                </a:lnTo>
                <a:lnTo>
                  <a:pt x="5" y="184"/>
                </a:lnTo>
                <a:lnTo>
                  <a:pt x="0" y="185"/>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75" name="Freeform 1180">
            <a:extLst>
              <a:ext uri="{FF2B5EF4-FFF2-40B4-BE49-F238E27FC236}">
                <a16:creationId xmlns:a16="http://schemas.microsoft.com/office/drawing/2014/main" id="{D351EB81-2886-5BCA-F805-529ACE89CC2A}"/>
              </a:ext>
            </a:extLst>
          </p:cNvPr>
          <p:cNvSpPr>
            <a:spLocks noEditPoints="1"/>
          </p:cNvSpPr>
          <p:nvPr/>
        </p:nvSpPr>
        <p:spPr bwMode="auto">
          <a:xfrm>
            <a:off x="2000250" y="2403475"/>
            <a:ext cx="1827213" cy="315913"/>
          </a:xfrm>
          <a:custGeom>
            <a:avLst/>
            <a:gdLst>
              <a:gd name="T0" fmla="*/ 1151 w 1151"/>
              <a:gd name="T1" fmla="*/ 13 h 199"/>
              <a:gd name="T2" fmla="*/ 1151 w 1151"/>
              <a:gd name="T3" fmla="*/ 11 h 199"/>
              <a:gd name="T4" fmla="*/ 1151 w 1151"/>
              <a:gd name="T5" fmla="*/ 10 h 199"/>
              <a:gd name="T6" fmla="*/ 1151 w 1151"/>
              <a:gd name="T7" fmla="*/ 8 h 199"/>
              <a:gd name="T8" fmla="*/ 1151 w 1151"/>
              <a:gd name="T9" fmla="*/ 6 h 199"/>
              <a:gd name="T10" fmla="*/ 1151 w 1151"/>
              <a:gd name="T11" fmla="*/ 5 h 199"/>
              <a:gd name="T12" fmla="*/ 1149 w 1151"/>
              <a:gd name="T13" fmla="*/ 3 h 199"/>
              <a:gd name="T14" fmla="*/ 1149 w 1151"/>
              <a:gd name="T15" fmla="*/ 1 h 199"/>
              <a:gd name="T16" fmla="*/ 1149 w 1151"/>
              <a:gd name="T17" fmla="*/ 0 h 199"/>
              <a:gd name="T18" fmla="*/ 1144 w 1151"/>
              <a:gd name="T19" fmla="*/ 0 h 199"/>
              <a:gd name="T20" fmla="*/ 1144 w 1151"/>
              <a:gd name="T21" fmla="*/ 1 h 199"/>
              <a:gd name="T22" fmla="*/ 1146 w 1151"/>
              <a:gd name="T23" fmla="*/ 3 h 199"/>
              <a:gd name="T24" fmla="*/ 1146 w 1151"/>
              <a:gd name="T25" fmla="*/ 5 h 199"/>
              <a:gd name="T26" fmla="*/ 1146 w 1151"/>
              <a:gd name="T27" fmla="*/ 6 h 199"/>
              <a:gd name="T28" fmla="*/ 1146 w 1151"/>
              <a:gd name="T29" fmla="*/ 10 h 199"/>
              <a:gd name="T30" fmla="*/ 1146 w 1151"/>
              <a:gd name="T31" fmla="*/ 11 h 199"/>
              <a:gd name="T32" fmla="*/ 1146 w 1151"/>
              <a:gd name="T33" fmla="*/ 13 h 199"/>
              <a:gd name="T34" fmla="*/ 1148 w 1151"/>
              <a:gd name="T35" fmla="*/ 15 h 199"/>
              <a:gd name="T36" fmla="*/ 1151 w 1151"/>
              <a:gd name="T37" fmla="*/ 13 h 199"/>
              <a:gd name="T38" fmla="*/ 0 w 1151"/>
              <a:gd name="T39" fmla="*/ 185 h 199"/>
              <a:gd name="T40" fmla="*/ 0 w 1151"/>
              <a:gd name="T41" fmla="*/ 187 h 199"/>
              <a:gd name="T42" fmla="*/ 2 w 1151"/>
              <a:gd name="T43" fmla="*/ 189 h 199"/>
              <a:gd name="T44" fmla="*/ 2 w 1151"/>
              <a:gd name="T45" fmla="*/ 190 h 199"/>
              <a:gd name="T46" fmla="*/ 2 w 1151"/>
              <a:gd name="T47" fmla="*/ 192 h 199"/>
              <a:gd name="T48" fmla="*/ 2 w 1151"/>
              <a:gd name="T49" fmla="*/ 194 h 199"/>
              <a:gd name="T50" fmla="*/ 2 w 1151"/>
              <a:gd name="T51" fmla="*/ 195 h 199"/>
              <a:gd name="T52" fmla="*/ 2 w 1151"/>
              <a:gd name="T53" fmla="*/ 197 h 199"/>
              <a:gd name="T54" fmla="*/ 3 w 1151"/>
              <a:gd name="T55" fmla="*/ 199 h 199"/>
              <a:gd name="T56" fmla="*/ 8 w 1151"/>
              <a:gd name="T57" fmla="*/ 199 h 199"/>
              <a:gd name="T58" fmla="*/ 7 w 1151"/>
              <a:gd name="T59" fmla="*/ 197 h 199"/>
              <a:gd name="T60" fmla="*/ 7 w 1151"/>
              <a:gd name="T61" fmla="*/ 195 h 199"/>
              <a:gd name="T62" fmla="*/ 7 w 1151"/>
              <a:gd name="T63" fmla="*/ 192 h 199"/>
              <a:gd name="T64" fmla="*/ 7 w 1151"/>
              <a:gd name="T65" fmla="*/ 190 h 199"/>
              <a:gd name="T66" fmla="*/ 7 w 1151"/>
              <a:gd name="T67" fmla="*/ 189 h 199"/>
              <a:gd name="T68" fmla="*/ 5 w 1151"/>
              <a:gd name="T69" fmla="*/ 187 h 199"/>
              <a:gd name="T70" fmla="*/ 5 w 1151"/>
              <a:gd name="T71" fmla="*/ 185 h 199"/>
              <a:gd name="T72" fmla="*/ 5 w 1151"/>
              <a:gd name="T73" fmla="*/ 182 h 199"/>
              <a:gd name="T74" fmla="*/ 0 w 1151"/>
              <a:gd name="T75" fmla="*/ 18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51" h="199">
                <a:moveTo>
                  <a:pt x="1151" y="13"/>
                </a:moveTo>
                <a:lnTo>
                  <a:pt x="1151" y="11"/>
                </a:lnTo>
                <a:lnTo>
                  <a:pt x="1151" y="10"/>
                </a:lnTo>
                <a:lnTo>
                  <a:pt x="1151" y="8"/>
                </a:lnTo>
                <a:lnTo>
                  <a:pt x="1151" y="6"/>
                </a:lnTo>
                <a:lnTo>
                  <a:pt x="1151" y="5"/>
                </a:lnTo>
                <a:lnTo>
                  <a:pt x="1149" y="3"/>
                </a:lnTo>
                <a:lnTo>
                  <a:pt x="1149" y="1"/>
                </a:lnTo>
                <a:lnTo>
                  <a:pt x="1149" y="0"/>
                </a:lnTo>
                <a:lnTo>
                  <a:pt x="1144" y="0"/>
                </a:lnTo>
                <a:lnTo>
                  <a:pt x="1144" y="1"/>
                </a:lnTo>
                <a:lnTo>
                  <a:pt x="1146" y="3"/>
                </a:lnTo>
                <a:lnTo>
                  <a:pt x="1146" y="5"/>
                </a:lnTo>
                <a:lnTo>
                  <a:pt x="1146" y="6"/>
                </a:lnTo>
                <a:lnTo>
                  <a:pt x="1146" y="10"/>
                </a:lnTo>
                <a:lnTo>
                  <a:pt x="1146" y="11"/>
                </a:lnTo>
                <a:lnTo>
                  <a:pt x="1146" y="13"/>
                </a:lnTo>
                <a:lnTo>
                  <a:pt x="1148" y="15"/>
                </a:lnTo>
                <a:lnTo>
                  <a:pt x="1151" y="13"/>
                </a:lnTo>
                <a:close/>
                <a:moveTo>
                  <a:pt x="0" y="185"/>
                </a:moveTo>
                <a:lnTo>
                  <a:pt x="0" y="187"/>
                </a:lnTo>
                <a:lnTo>
                  <a:pt x="2" y="189"/>
                </a:lnTo>
                <a:lnTo>
                  <a:pt x="2" y="190"/>
                </a:lnTo>
                <a:lnTo>
                  <a:pt x="2" y="192"/>
                </a:lnTo>
                <a:lnTo>
                  <a:pt x="2" y="194"/>
                </a:lnTo>
                <a:lnTo>
                  <a:pt x="2" y="195"/>
                </a:lnTo>
                <a:lnTo>
                  <a:pt x="2" y="197"/>
                </a:lnTo>
                <a:lnTo>
                  <a:pt x="3" y="199"/>
                </a:lnTo>
                <a:lnTo>
                  <a:pt x="8" y="199"/>
                </a:lnTo>
                <a:lnTo>
                  <a:pt x="7" y="197"/>
                </a:lnTo>
                <a:lnTo>
                  <a:pt x="7" y="195"/>
                </a:lnTo>
                <a:lnTo>
                  <a:pt x="7" y="192"/>
                </a:lnTo>
                <a:lnTo>
                  <a:pt x="7" y="190"/>
                </a:lnTo>
                <a:lnTo>
                  <a:pt x="7" y="189"/>
                </a:lnTo>
                <a:lnTo>
                  <a:pt x="5" y="187"/>
                </a:lnTo>
                <a:lnTo>
                  <a:pt x="5" y="185"/>
                </a:lnTo>
                <a:lnTo>
                  <a:pt x="5" y="182"/>
                </a:lnTo>
                <a:lnTo>
                  <a:pt x="0" y="185"/>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76" name="Freeform 1181">
            <a:extLst>
              <a:ext uri="{FF2B5EF4-FFF2-40B4-BE49-F238E27FC236}">
                <a16:creationId xmlns:a16="http://schemas.microsoft.com/office/drawing/2014/main" id="{CECDE17F-9D7D-F1B8-1AAA-EFB2A05B7671}"/>
              </a:ext>
            </a:extLst>
          </p:cNvPr>
          <p:cNvSpPr>
            <a:spLocks noEditPoints="1"/>
          </p:cNvSpPr>
          <p:nvPr/>
        </p:nvSpPr>
        <p:spPr bwMode="auto">
          <a:xfrm>
            <a:off x="2005013" y="2403475"/>
            <a:ext cx="1819275" cy="315913"/>
          </a:xfrm>
          <a:custGeom>
            <a:avLst/>
            <a:gdLst>
              <a:gd name="T0" fmla="*/ 1146 w 1146"/>
              <a:gd name="T1" fmla="*/ 13 h 199"/>
              <a:gd name="T2" fmla="*/ 1146 w 1146"/>
              <a:gd name="T3" fmla="*/ 11 h 199"/>
              <a:gd name="T4" fmla="*/ 1146 w 1146"/>
              <a:gd name="T5" fmla="*/ 10 h 199"/>
              <a:gd name="T6" fmla="*/ 1146 w 1146"/>
              <a:gd name="T7" fmla="*/ 8 h 199"/>
              <a:gd name="T8" fmla="*/ 1145 w 1146"/>
              <a:gd name="T9" fmla="*/ 6 h 199"/>
              <a:gd name="T10" fmla="*/ 1145 w 1146"/>
              <a:gd name="T11" fmla="*/ 5 h 199"/>
              <a:gd name="T12" fmla="*/ 1145 w 1146"/>
              <a:gd name="T13" fmla="*/ 3 h 199"/>
              <a:gd name="T14" fmla="*/ 1145 w 1146"/>
              <a:gd name="T15" fmla="*/ 1 h 199"/>
              <a:gd name="T16" fmla="*/ 1145 w 1146"/>
              <a:gd name="T17" fmla="*/ 0 h 199"/>
              <a:gd name="T18" fmla="*/ 1140 w 1146"/>
              <a:gd name="T19" fmla="*/ 0 h 199"/>
              <a:gd name="T20" fmla="*/ 1140 w 1146"/>
              <a:gd name="T21" fmla="*/ 1 h 199"/>
              <a:gd name="T22" fmla="*/ 1140 w 1146"/>
              <a:gd name="T23" fmla="*/ 3 h 199"/>
              <a:gd name="T24" fmla="*/ 1140 w 1146"/>
              <a:gd name="T25" fmla="*/ 6 h 199"/>
              <a:gd name="T26" fmla="*/ 1140 w 1146"/>
              <a:gd name="T27" fmla="*/ 8 h 199"/>
              <a:gd name="T28" fmla="*/ 1141 w 1146"/>
              <a:gd name="T29" fmla="*/ 10 h 199"/>
              <a:gd name="T30" fmla="*/ 1141 w 1146"/>
              <a:gd name="T31" fmla="*/ 11 h 199"/>
              <a:gd name="T32" fmla="*/ 1141 w 1146"/>
              <a:gd name="T33" fmla="*/ 13 h 199"/>
              <a:gd name="T34" fmla="*/ 1141 w 1146"/>
              <a:gd name="T35" fmla="*/ 16 h 199"/>
              <a:gd name="T36" fmla="*/ 1146 w 1146"/>
              <a:gd name="T37" fmla="*/ 13 h 199"/>
              <a:gd name="T38" fmla="*/ 0 w 1146"/>
              <a:gd name="T39" fmla="*/ 184 h 199"/>
              <a:gd name="T40" fmla="*/ 0 w 1146"/>
              <a:gd name="T41" fmla="*/ 185 h 199"/>
              <a:gd name="T42" fmla="*/ 0 w 1146"/>
              <a:gd name="T43" fmla="*/ 187 h 199"/>
              <a:gd name="T44" fmla="*/ 0 w 1146"/>
              <a:gd name="T45" fmla="*/ 189 h 199"/>
              <a:gd name="T46" fmla="*/ 0 w 1146"/>
              <a:gd name="T47" fmla="*/ 190 h 199"/>
              <a:gd name="T48" fmla="*/ 2 w 1146"/>
              <a:gd name="T49" fmla="*/ 194 h 199"/>
              <a:gd name="T50" fmla="*/ 2 w 1146"/>
              <a:gd name="T51" fmla="*/ 195 h 199"/>
              <a:gd name="T52" fmla="*/ 2 w 1146"/>
              <a:gd name="T53" fmla="*/ 197 h 199"/>
              <a:gd name="T54" fmla="*/ 2 w 1146"/>
              <a:gd name="T55" fmla="*/ 199 h 199"/>
              <a:gd name="T56" fmla="*/ 7 w 1146"/>
              <a:gd name="T57" fmla="*/ 199 h 199"/>
              <a:gd name="T58" fmla="*/ 7 w 1146"/>
              <a:gd name="T59" fmla="*/ 197 h 199"/>
              <a:gd name="T60" fmla="*/ 7 w 1146"/>
              <a:gd name="T61" fmla="*/ 194 h 199"/>
              <a:gd name="T62" fmla="*/ 5 w 1146"/>
              <a:gd name="T63" fmla="*/ 192 h 199"/>
              <a:gd name="T64" fmla="*/ 5 w 1146"/>
              <a:gd name="T65" fmla="*/ 190 h 199"/>
              <a:gd name="T66" fmla="*/ 5 w 1146"/>
              <a:gd name="T67" fmla="*/ 189 h 199"/>
              <a:gd name="T68" fmla="*/ 5 w 1146"/>
              <a:gd name="T69" fmla="*/ 185 h 199"/>
              <a:gd name="T70" fmla="*/ 5 w 1146"/>
              <a:gd name="T71" fmla="*/ 184 h 199"/>
              <a:gd name="T72" fmla="*/ 4 w 1146"/>
              <a:gd name="T73" fmla="*/ 182 h 199"/>
              <a:gd name="T74" fmla="*/ 0 w 1146"/>
              <a:gd name="T75" fmla="*/ 18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46" h="199">
                <a:moveTo>
                  <a:pt x="1146" y="13"/>
                </a:moveTo>
                <a:lnTo>
                  <a:pt x="1146" y="11"/>
                </a:lnTo>
                <a:lnTo>
                  <a:pt x="1146" y="10"/>
                </a:lnTo>
                <a:lnTo>
                  <a:pt x="1146" y="8"/>
                </a:lnTo>
                <a:lnTo>
                  <a:pt x="1145" y="6"/>
                </a:lnTo>
                <a:lnTo>
                  <a:pt x="1145" y="5"/>
                </a:lnTo>
                <a:lnTo>
                  <a:pt x="1145" y="3"/>
                </a:lnTo>
                <a:lnTo>
                  <a:pt x="1145" y="1"/>
                </a:lnTo>
                <a:lnTo>
                  <a:pt x="1145" y="0"/>
                </a:lnTo>
                <a:lnTo>
                  <a:pt x="1140" y="0"/>
                </a:lnTo>
                <a:lnTo>
                  <a:pt x="1140" y="1"/>
                </a:lnTo>
                <a:lnTo>
                  <a:pt x="1140" y="3"/>
                </a:lnTo>
                <a:lnTo>
                  <a:pt x="1140" y="6"/>
                </a:lnTo>
                <a:lnTo>
                  <a:pt x="1140" y="8"/>
                </a:lnTo>
                <a:lnTo>
                  <a:pt x="1141" y="10"/>
                </a:lnTo>
                <a:lnTo>
                  <a:pt x="1141" y="11"/>
                </a:lnTo>
                <a:lnTo>
                  <a:pt x="1141" y="13"/>
                </a:lnTo>
                <a:lnTo>
                  <a:pt x="1141" y="16"/>
                </a:lnTo>
                <a:lnTo>
                  <a:pt x="1146" y="13"/>
                </a:lnTo>
                <a:close/>
                <a:moveTo>
                  <a:pt x="0" y="184"/>
                </a:moveTo>
                <a:lnTo>
                  <a:pt x="0" y="185"/>
                </a:lnTo>
                <a:lnTo>
                  <a:pt x="0" y="187"/>
                </a:lnTo>
                <a:lnTo>
                  <a:pt x="0" y="189"/>
                </a:lnTo>
                <a:lnTo>
                  <a:pt x="0" y="190"/>
                </a:lnTo>
                <a:lnTo>
                  <a:pt x="2" y="194"/>
                </a:lnTo>
                <a:lnTo>
                  <a:pt x="2" y="195"/>
                </a:lnTo>
                <a:lnTo>
                  <a:pt x="2" y="197"/>
                </a:lnTo>
                <a:lnTo>
                  <a:pt x="2" y="199"/>
                </a:lnTo>
                <a:lnTo>
                  <a:pt x="7" y="199"/>
                </a:lnTo>
                <a:lnTo>
                  <a:pt x="7" y="197"/>
                </a:lnTo>
                <a:lnTo>
                  <a:pt x="7" y="194"/>
                </a:lnTo>
                <a:lnTo>
                  <a:pt x="5" y="192"/>
                </a:lnTo>
                <a:lnTo>
                  <a:pt x="5" y="190"/>
                </a:lnTo>
                <a:lnTo>
                  <a:pt x="5" y="189"/>
                </a:lnTo>
                <a:lnTo>
                  <a:pt x="5" y="185"/>
                </a:lnTo>
                <a:lnTo>
                  <a:pt x="5" y="184"/>
                </a:lnTo>
                <a:lnTo>
                  <a:pt x="4" y="182"/>
                </a:lnTo>
                <a:lnTo>
                  <a:pt x="0" y="184"/>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77" name="Freeform 1182">
            <a:extLst>
              <a:ext uri="{FF2B5EF4-FFF2-40B4-BE49-F238E27FC236}">
                <a16:creationId xmlns:a16="http://schemas.microsoft.com/office/drawing/2014/main" id="{516C8042-1E93-6A94-E545-944E206CE61E}"/>
              </a:ext>
            </a:extLst>
          </p:cNvPr>
          <p:cNvSpPr>
            <a:spLocks noEditPoints="1"/>
          </p:cNvSpPr>
          <p:nvPr/>
        </p:nvSpPr>
        <p:spPr bwMode="auto">
          <a:xfrm>
            <a:off x="2008188" y="2403475"/>
            <a:ext cx="1814513" cy="315913"/>
          </a:xfrm>
          <a:custGeom>
            <a:avLst/>
            <a:gdLst>
              <a:gd name="T0" fmla="*/ 1143 w 1143"/>
              <a:gd name="T1" fmla="*/ 15 h 199"/>
              <a:gd name="T2" fmla="*/ 1141 w 1143"/>
              <a:gd name="T3" fmla="*/ 13 h 199"/>
              <a:gd name="T4" fmla="*/ 1141 w 1143"/>
              <a:gd name="T5" fmla="*/ 11 h 199"/>
              <a:gd name="T6" fmla="*/ 1141 w 1143"/>
              <a:gd name="T7" fmla="*/ 10 h 199"/>
              <a:gd name="T8" fmla="*/ 1141 w 1143"/>
              <a:gd name="T9" fmla="*/ 6 h 199"/>
              <a:gd name="T10" fmla="*/ 1141 w 1143"/>
              <a:gd name="T11" fmla="*/ 5 h 199"/>
              <a:gd name="T12" fmla="*/ 1141 w 1143"/>
              <a:gd name="T13" fmla="*/ 3 h 199"/>
              <a:gd name="T14" fmla="*/ 1139 w 1143"/>
              <a:gd name="T15" fmla="*/ 1 h 199"/>
              <a:gd name="T16" fmla="*/ 1139 w 1143"/>
              <a:gd name="T17" fmla="*/ 0 h 199"/>
              <a:gd name="T18" fmla="*/ 1134 w 1143"/>
              <a:gd name="T19" fmla="*/ 0 h 199"/>
              <a:gd name="T20" fmla="*/ 1134 w 1143"/>
              <a:gd name="T21" fmla="*/ 1 h 199"/>
              <a:gd name="T22" fmla="*/ 1136 w 1143"/>
              <a:gd name="T23" fmla="*/ 3 h 199"/>
              <a:gd name="T24" fmla="*/ 1136 w 1143"/>
              <a:gd name="T25" fmla="*/ 6 h 199"/>
              <a:gd name="T26" fmla="*/ 1136 w 1143"/>
              <a:gd name="T27" fmla="*/ 8 h 199"/>
              <a:gd name="T28" fmla="*/ 1136 w 1143"/>
              <a:gd name="T29" fmla="*/ 10 h 199"/>
              <a:gd name="T30" fmla="*/ 1136 w 1143"/>
              <a:gd name="T31" fmla="*/ 13 h 199"/>
              <a:gd name="T32" fmla="*/ 1138 w 1143"/>
              <a:gd name="T33" fmla="*/ 15 h 199"/>
              <a:gd name="T34" fmla="*/ 1138 w 1143"/>
              <a:gd name="T35" fmla="*/ 16 h 199"/>
              <a:gd name="T36" fmla="*/ 1143 w 1143"/>
              <a:gd name="T37" fmla="*/ 15 h 199"/>
              <a:gd name="T38" fmla="*/ 0 w 1143"/>
              <a:gd name="T39" fmla="*/ 182 h 199"/>
              <a:gd name="T40" fmla="*/ 0 w 1143"/>
              <a:gd name="T41" fmla="*/ 185 h 199"/>
              <a:gd name="T42" fmla="*/ 0 w 1143"/>
              <a:gd name="T43" fmla="*/ 187 h 199"/>
              <a:gd name="T44" fmla="*/ 2 w 1143"/>
              <a:gd name="T45" fmla="*/ 189 h 199"/>
              <a:gd name="T46" fmla="*/ 2 w 1143"/>
              <a:gd name="T47" fmla="*/ 190 h 199"/>
              <a:gd name="T48" fmla="*/ 2 w 1143"/>
              <a:gd name="T49" fmla="*/ 192 h 199"/>
              <a:gd name="T50" fmla="*/ 2 w 1143"/>
              <a:gd name="T51" fmla="*/ 195 h 199"/>
              <a:gd name="T52" fmla="*/ 2 w 1143"/>
              <a:gd name="T53" fmla="*/ 197 h 199"/>
              <a:gd name="T54" fmla="*/ 3 w 1143"/>
              <a:gd name="T55" fmla="*/ 199 h 199"/>
              <a:gd name="T56" fmla="*/ 7 w 1143"/>
              <a:gd name="T57" fmla="*/ 199 h 199"/>
              <a:gd name="T58" fmla="*/ 7 w 1143"/>
              <a:gd name="T59" fmla="*/ 197 h 199"/>
              <a:gd name="T60" fmla="*/ 7 w 1143"/>
              <a:gd name="T61" fmla="*/ 194 h 199"/>
              <a:gd name="T62" fmla="*/ 7 w 1143"/>
              <a:gd name="T63" fmla="*/ 192 h 199"/>
              <a:gd name="T64" fmla="*/ 7 w 1143"/>
              <a:gd name="T65" fmla="*/ 189 h 199"/>
              <a:gd name="T66" fmla="*/ 5 w 1143"/>
              <a:gd name="T67" fmla="*/ 187 h 199"/>
              <a:gd name="T68" fmla="*/ 5 w 1143"/>
              <a:gd name="T69" fmla="*/ 185 h 199"/>
              <a:gd name="T70" fmla="*/ 5 w 1143"/>
              <a:gd name="T71" fmla="*/ 182 h 199"/>
              <a:gd name="T72" fmla="*/ 5 w 1143"/>
              <a:gd name="T73" fmla="*/ 180 h 199"/>
              <a:gd name="T74" fmla="*/ 0 w 1143"/>
              <a:gd name="T7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43" h="199">
                <a:moveTo>
                  <a:pt x="1143" y="15"/>
                </a:moveTo>
                <a:lnTo>
                  <a:pt x="1141" y="13"/>
                </a:lnTo>
                <a:lnTo>
                  <a:pt x="1141" y="11"/>
                </a:lnTo>
                <a:lnTo>
                  <a:pt x="1141" y="10"/>
                </a:lnTo>
                <a:lnTo>
                  <a:pt x="1141" y="6"/>
                </a:lnTo>
                <a:lnTo>
                  <a:pt x="1141" y="5"/>
                </a:lnTo>
                <a:lnTo>
                  <a:pt x="1141" y="3"/>
                </a:lnTo>
                <a:lnTo>
                  <a:pt x="1139" y="1"/>
                </a:lnTo>
                <a:lnTo>
                  <a:pt x="1139" y="0"/>
                </a:lnTo>
                <a:lnTo>
                  <a:pt x="1134" y="0"/>
                </a:lnTo>
                <a:lnTo>
                  <a:pt x="1134" y="1"/>
                </a:lnTo>
                <a:lnTo>
                  <a:pt x="1136" y="3"/>
                </a:lnTo>
                <a:lnTo>
                  <a:pt x="1136" y="6"/>
                </a:lnTo>
                <a:lnTo>
                  <a:pt x="1136" y="8"/>
                </a:lnTo>
                <a:lnTo>
                  <a:pt x="1136" y="10"/>
                </a:lnTo>
                <a:lnTo>
                  <a:pt x="1136" y="13"/>
                </a:lnTo>
                <a:lnTo>
                  <a:pt x="1138" y="15"/>
                </a:lnTo>
                <a:lnTo>
                  <a:pt x="1138" y="16"/>
                </a:lnTo>
                <a:lnTo>
                  <a:pt x="1143" y="15"/>
                </a:lnTo>
                <a:close/>
                <a:moveTo>
                  <a:pt x="0" y="182"/>
                </a:moveTo>
                <a:lnTo>
                  <a:pt x="0" y="185"/>
                </a:lnTo>
                <a:lnTo>
                  <a:pt x="0" y="187"/>
                </a:lnTo>
                <a:lnTo>
                  <a:pt x="2" y="189"/>
                </a:lnTo>
                <a:lnTo>
                  <a:pt x="2" y="190"/>
                </a:lnTo>
                <a:lnTo>
                  <a:pt x="2" y="192"/>
                </a:lnTo>
                <a:lnTo>
                  <a:pt x="2" y="195"/>
                </a:lnTo>
                <a:lnTo>
                  <a:pt x="2" y="197"/>
                </a:lnTo>
                <a:lnTo>
                  <a:pt x="3" y="199"/>
                </a:lnTo>
                <a:lnTo>
                  <a:pt x="7" y="199"/>
                </a:lnTo>
                <a:lnTo>
                  <a:pt x="7" y="197"/>
                </a:lnTo>
                <a:lnTo>
                  <a:pt x="7" y="194"/>
                </a:lnTo>
                <a:lnTo>
                  <a:pt x="7" y="192"/>
                </a:lnTo>
                <a:lnTo>
                  <a:pt x="7" y="189"/>
                </a:lnTo>
                <a:lnTo>
                  <a:pt x="5" y="187"/>
                </a:lnTo>
                <a:lnTo>
                  <a:pt x="5" y="185"/>
                </a:lnTo>
                <a:lnTo>
                  <a:pt x="5" y="182"/>
                </a:lnTo>
                <a:lnTo>
                  <a:pt x="5" y="180"/>
                </a:lnTo>
                <a:lnTo>
                  <a:pt x="0" y="182"/>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78" name="Freeform 1183">
            <a:extLst>
              <a:ext uri="{FF2B5EF4-FFF2-40B4-BE49-F238E27FC236}">
                <a16:creationId xmlns:a16="http://schemas.microsoft.com/office/drawing/2014/main" id="{29D92EAD-8BDC-1EB2-1537-5B960850EB4D}"/>
              </a:ext>
            </a:extLst>
          </p:cNvPr>
          <p:cNvSpPr>
            <a:spLocks noEditPoints="1"/>
          </p:cNvSpPr>
          <p:nvPr/>
        </p:nvSpPr>
        <p:spPr bwMode="auto">
          <a:xfrm>
            <a:off x="2011363" y="2403475"/>
            <a:ext cx="1804988" cy="315913"/>
          </a:xfrm>
          <a:custGeom>
            <a:avLst/>
            <a:gdLst>
              <a:gd name="T0" fmla="*/ 1137 w 1137"/>
              <a:gd name="T1" fmla="*/ 16 h 199"/>
              <a:gd name="T2" fmla="*/ 1137 w 1137"/>
              <a:gd name="T3" fmla="*/ 13 h 199"/>
              <a:gd name="T4" fmla="*/ 1137 w 1137"/>
              <a:gd name="T5" fmla="*/ 11 h 199"/>
              <a:gd name="T6" fmla="*/ 1137 w 1137"/>
              <a:gd name="T7" fmla="*/ 10 h 199"/>
              <a:gd name="T8" fmla="*/ 1136 w 1137"/>
              <a:gd name="T9" fmla="*/ 8 h 199"/>
              <a:gd name="T10" fmla="*/ 1136 w 1137"/>
              <a:gd name="T11" fmla="*/ 6 h 199"/>
              <a:gd name="T12" fmla="*/ 1136 w 1137"/>
              <a:gd name="T13" fmla="*/ 3 h 199"/>
              <a:gd name="T14" fmla="*/ 1136 w 1137"/>
              <a:gd name="T15" fmla="*/ 1 h 199"/>
              <a:gd name="T16" fmla="*/ 1136 w 1137"/>
              <a:gd name="T17" fmla="*/ 0 h 199"/>
              <a:gd name="T18" fmla="*/ 1131 w 1137"/>
              <a:gd name="T19" fmla="*/ 0 h 199"/>
              <a:gd name="T20" fmla="*/ 1131 w 1137"/>
              <a:gd name="T21" fmla="*/ 1 h 199"/>
              <a:gd name="T22" fmla="*/ 1131 w 1137"/>
              <a:gd name="T23" fmla="*/ 5 h 199"/>
              <a:gd name="T24" fmla="*/ 1131 w 1137"/>
              <a:gd name="T25" fmla="*/ 6 h 199"/>
              <a:gd name="T26" fmla="*/ 1132 w 1137"/>
              <a:gd name="T27" fmla="*/ 8 h 199"/>
              <a:gd name="T28" fmla="*/ 1132 w 1137"/>
              <a:gd name="T29" fmla="*/ 11 h 199"/>
              <a:gd name="T30" fmla="*/ 1132 w 1137"/>
              <a:gd name="T31" fmla="*/ 13 h 199"/>
              <a:gd name="T32" fmla="*/ 1132 w 1137"/>
              <a:gd name="T33" fmla="*/ 15 h 199"/>
              <a:gd name="T34" fmla="*/ 1132 w 1137"/>
              <a:gd name="T35" fmla="*/ 18 h 199"/>
              <a:gd name="T36" fmla="*/ 1137 w 1137"/>
              <a:gd name="T37" fmla="*/ 16 h 199"/>
              <a:gd name="T38" fmla="*/ 0 w 1137"/>
              <a:gd name="T39" fmla="*/ 182 h 199"/>
              <a:gd name="T40" fmla="*/ 1 w 1137"/>
              <a:gd name="T41" fmla="*/ 184 h 199"/>
              <a:gd name="T42" fmla="*/ 1 w 1137"/>
              <a:gd name="T43" fmla="*/ 185 h 199"/>
              <a:gd name="T44" fmla="*/ 1 w 1137"/>
              <a:gd name="T45" fmla="*/ 189 h 199"/>
              <a:gd name="T46" fmla="*/ 1 w 1137"/>
              <a:gd name="T47" fmla="*/ 190 h 199"/>
              <a:gd name="T48" fmla="*/ 1 w 1137"/>
              <a:gd name="T49" fmla="*/ 192 h 199"/>
              <a:gd name="T50" fmla="*/ 3 w 1137"/>
              <a:gd name="T51" fmla="*/ 194 h 199"/>
              <a:gd name="T52" fmla="*/ 3 w 1137"/>
              <a:gd name="T53" fmla="*/ 197 h 199"/>
              <a:gd name="T54" fmla="*/ 3 w 1137"/>
              <a:gd name="T55" fmla="*/ 199 h 199"/>
              <a:gd name="T56" fmla="*/ 8 w 1137"/>
              <a:gd name="T57" fmla="*/ 199 h 199"/>
              <a:gd name="T58" fmla="*/ 8 w 1137"/>
              <a:gd name="T59" fmla="*/ 195 h 199"/>
              <a:gd name="T60" fmla="*/ 6 w 1137"/>
              <a:gd name="T61" fmla="*/ 194 h 199"/>
              <a:gd name="T62" fmla="*/ 6 w 1137"/>
              <a:gd name="T63" fmla="*/ 192 h 199"/>
              <a:gd name="T64" fmla="*/ 6 w 1137"/>
              <a:gd name="T65" fmla="*/ 189 h 199"/>
              <a:gd name="T66" fmla="*/ 6 w 1137"/>
              <a:gd name="T67" fmla="*/ 187 h 199"/>
              <a:gd name="T68" fmla="*/ 6 w 1137"/>
              <a:gd name="T69" fmla="*/ 184 h 199"/>
              <a:gd name="T70" fmla="*/ 5 w 1137"/>
              <a:gd name="T71" fmla="*/ 182 h 199"/>
              <a:gd name="T72" fmla="*/ 5 w 1137"/>
              <a:gd name="T73" fmla="*/ 179 h 199"/>
              <a:gd name="T74" fmla="*/ 0 w 1137"/>
              <a:gd name="T7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37" h="199">
                <a:moveTo>
                  <a:pt x="1137" y="16"/>
                </a:moveTo>
                <a:lnTo>
                  <a:pt x="1137" y="13"/>
                </a:lnTo>
                <a:lnTo>
                  <a:pt x="1137" y="11"/>
                </a:lnTo>
                <a:lnTo>
                  <a:pt x="1137" y="10"/>
                </a:lnTo>
                <a:lnTo>
                  <a:pt x="1136" y="8"/>
                </a:lnTo>
                <a:lnTo>
                  <a:pt x="1136" y="6"/>
                </a:lnTo>
                <a:lnTo>
                  <a:pt x="1136" y="3"/>
                </a:lnTo>
                <a:lnTo>
                  <a:pt x="1136" y="1"/>
                </a:lnTo>
                <a:lnTo>
                  <a:pt x="1136" y="0"/>
                </a:lnTo>
                <a:lnTo>
                  <a:pt x="1131" y="0"/>
                </a:lnTo>
                <a:lnTo>
                  <a:pt x="1131" y="1"/>
                </a:lnTo>
                <a:lnTo>
                  <a:pt x="1131" y="5"/>
                </a:lnTo>
                <a:lnTo>
                  <a:pt x="1131" y="6"/>
                </a:lnTo>
                <a:lnTo>
                  <a:pt x="1132" y="8"/>
                </a:lnTo>
                <a:lnTo>
                  <a:pt x="1132" y="11"/>
                </a:lnTo>
                <a:lnTo>
                  <a:pt x="1132" y="13"/>
                </a:lnTo>
                <a:lnTo>
                  <a:pt x="1132" y="15"/>
                </a:lnTo>
                <a:lnTo>
                  <a:pt x="1132" y="18"/>
                </a:lnTo>
                <a:lnTo>
                  <a:pt x="1137" y="16"/>
                </a:lnTo>
                <a:close/>
                <a:moveTo>
                  <a:pt x="0" y="182"/>
                </a:moveTo>
                <a:lnTo>
                  <a:pt x="1" y="184"/>
                </a:lnTo>
                <a:lnTo>
                  <a:pt x="1" y="185"/>
                </a:lnTo>
                <a:lnTo>
                  <a:pt x="1" y="189"/>
                </a:lnTo>
                <a:lnTo>
                  <a:pt x="1" y="190"/>
                </a:lnTo>
                <a:lnTo>
                  <a:pt x="1" y="192"/>
                </a:lnTo>
                <a:lnTo>
                  <a:pt x="3" y="194"/>
                </a:lnTo>
                <a:lnTo>
                  <a:pt x="3" y="197"/>
                </a:lnTo>
                <a:lnTo>
                  <a:pt x="3" y="199"/>
                </a:lnTo>
                <a:lnTo>
                  <a:pt x="8" y="199"/>
                </a:lnTo>
                <a:lnTo>
                  <a:pt x="8" y="195"/>
                </a:lnTo>
                <a:lnTo>
                  <a:pt x="6" y="194"/>
                </a:lnTo>
                <a:lnTo>
                  <a:pt x="6" y="192"/>
                </a:lnTo>
                <a:lnTo>
                  <a:pt x="6" y="189"/>
                </a:lnTo>
                <a:lnTo>
                  <a:pt x="6" y="187"/>
                </a:lnTo>
                <a:lnTo>
                  <a:pt x="6" y="184"/>
                </a:lnTo>
                <a:lnTo>
                  <a:pt x="5" y="182"/>
                </a:lnTo>
                <a:lnTo>
                  <a:pt x="5" y="179"/>
                </a:lnTo>
                <a:lnTo>
                  <a:pt x="0" y="182"/>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79" name="Freeform 1184">
            <a:extLst>
              <a:ext uri="{FF2B5EF4-FFF2-40B4-BE49-F238E27FC236}">
                <a16:creationId xmlns:a16="http://schemas.microsoft.com/office/drawing/2014/main" id="{357C24E9-B433-0FDC-C980-DEB6B3881ADA}"/>
              </a:ext>
            </a:extLst>
          </p:cNvPr>
          <p:cNvSpPr>
            <a:spLocks noEditPoints="1"/>
          </p:cNvSpPr>
          <p:nvPr/>
        </p:nvSpPr>
        <p:spPr bwMode="auto">
          <a:xfrm>
            <a:off x="2016125" y="2403475"/>
            <a:ext cx="1798638" cy="315913"/>
          </a:xfrm>
          <a:custGeom>
            <a:avLst/>
            <a:gdLst>
              <a:gd name="T0" fmla="*/ 1133 w 1133"/>
              <a:gd name="T1" fmla="*/ 16 h 199"/>
              <a:gd name="T2" fmla="*/ 1133 w 1133"/>
              <a:gd name="T3" fmla="*/ 15 h 199"/>
              <a:gd name="T4" fmla="*/ 1131 w 1133"/>
              <a:gd name="T5" fmla="*/ 13 h 199"/>
              <a:gd name="T6" fmla="*/ 1131 w 1133"/>
              <a:gd name="T7" fmla="*/ 10 h 199"/>
              <a:gd name="T8" fmla="*/ 1131 w 1133"/>
              <a:gd name="T9" fmla="*/ 8 h 199"/>
              <a:gd name="T10" fmla="*/ 1131 w 1133"/>
              <a:gd name="T11" fmla="*/ 6 h 199"/>
              <a:gd name="T12" fmla="*/ 1131 w 1133"/>
              <a:gd name="T13" fmla="*/ 3 h 199"/>
              <a:gd name="T14" fmla="*/ 1129 w 1133"/>
              <a:gd name="T15" fmla="*/ 1 h 199"/>
              <a:gd name="T16" fmla="*/ 1129 w 1133"/>
              <a:gd name="T17" fmla="*/ 0 h 199"/>
              <a:gd name="T18" fmla="*/ 1125 w 1133"/>
              <a:gd name="T19" fmla="*/ 0 h 199"/>
              <a:gd name="T20" fmla="*/ 1126 w 1133"/>
              <a:gd name="T21" fmla="*/ 1 h 199"/>
              <a:gd name="T22" fmla="*/ 1126 w 1133"/>
              <a:gd name="T23" fmla="*/ 5 h 199"/>
              <a:gd name="T24" fmla="*/ 1126 w 1133"/>
              <a:gd name="T25" fmla="*/ 6 h 199"/>
              <a:gd name="T26" fmla="*/ 1126 w 1133"/>
              <a:gd name="T27" fmla="*/ 10 h 199"/>
              <a:gd name="T28" fmla="*/ 1126 w 1133"/>
              <a:gd name="T29" fmla="*/ 11 h 199"/>
              <a:gd name="T30" fmla="*/ 1128 w 1133"/>
              <a:gd name="T31" fmla="*/ 15 h 199"/>
              <a:gd name="T32" fmla="*/ 1128 w 1133"/>
              <a:gd name="T33" fmla="*/ 16 h 199"/>
              <a:gd name="T34" fmla="*/ 1128 w 1133"/>
              <a:gd name="T35" fmla="*/ 18 h 199"/>
              <a:gd name="T36" fmla="*/ 1133 w 1133"/>
              <a:gd name="T37" fmla="*/ 16 h 199"/>
              <a:gd name="T38" fmla="*/ 0 w 1133"/>
              <a:gd name="T39" fmla="*/ 180 h 199"/>
              <a:gd name="T40" fmla="*/ 0 w 1133"/>
              <a:gd name="T41" fmla="*/ 182 h 199"/>
              <a:gd name="T42" fmla="*/ 0 w 1133"/>
              <a:gd name="T43" fmla="*/ 185 h 199"/>
              <a:gd name="T44" fmla="*/ 0 w 1133"/>
              <a:gd name="T45" fmla="*/ 187 h 199"/>
              <a:gd name="T46" fmla="*/ 2 w 1133"/>
              <a:gd name="T47" fmla="*/ 189 h 199"/>
              <a:gd name="T48" fmla="*/ 2 w 1133"/>
              <a:gd name="T49" fmla="*/ 192 h 199"/>
              <a:gd name="T50" fmla="*/ 2 w 1133"/>
              <a:gd name="T51" fmla="*/ 194 h 199"/>
              <a:gd name="T52" fmla="*/ 2 w 1133"/>
              <a:gd name="T53" fmla="*/ 197 h 199"/>
              <a:gd name="T54" fmla="*/ 2 w 1133"/>
              <a:gd name="T55" fmla="*/ 199 h 199"/>
              <a:gd name="T56" fmla="*/ 7 w 1133"/>
              <a:gd name="T57" fmla="*/ 199 h 199"/>
              <a:gd name="T58" fmla="*/ 7 w 1133"/>
              <a:gd name="T59" fmla="*/ 195 h 199"/>
              <a:gd name="T60" fmla="*/ 7 w 1133"/>
              <a:gd name="T61" fmla="*/ 194 h 199"/>
              <a:gd name="T62" fmla="*/ 7 w 1133"/>
              <a:gd name="T63" fmla="*/ 190 h 199"/>
              <a:gd name="T64" fmla="*/ 5 w 1133"/>
              <a:gd name="T65" fmla="*/ 189 h 199"/>
              <a:gd name="T66" fmla="*/ 5 w 1133"/>
              <a:gd name="T67" fmla="*/ 185 h 199"/>
              <a:gd name="T68" fmla="*/ 5 w 1133"/>
              <a:gd name="T69" fmla="*/ 184 h 199"/>
              <a:gd name="T70" fmla="*/ 5 w 1133"/>
              <a:gd name="T71" fmla="*/ 180 h 199"/>
              <a:gd name="T72" fmla="*/ 3 w 1133"/>
              <a:gd name="T73" fmla="*/ 179 h 199"/>
              <a:gd name="T74" fmla="*/ 0 w 1133"/>
              <a:gd name="T75" fmla="*/ 18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33" h="199">
                <a:moveTo>
                  <a:pt x="1133" y="16"/>
                </a:moveTo>
                <a:lnTo>
                  <a:pt x="1133" y="15"/>
                </a:lnTo>
                <a:lnTo>
                  <a:pt x="1131" y="13"/>
                </a:lnTo>
                <a:lnTo>
                  <a:pt x="1131" y="10"/>
                </a:lnTo>
                <a:lnTo>
                  <a:pt x="1131" y="8"/>
                </a:lnTo>
                <a:lnTo>
                  <a:pt x="1131" y="6"/>
                </a:lnTo>
                <a:lnTo>
                  <a:pt x="1131" y="3"/>
                </a:lnTo>
                <a:lnTo>
                  <a:pt x="1129" y="1"/>
                </a:lnTo>
                <a:lnTo>
                  <a:pt x="1129" y="0"/>
                </a:lnTo>
                <a:lnTo>
                  <a:pt x="1125" y="0"/>
                </a:lnTo>
                <a:lnTo>
                  <a:pt x="1126" y="1"/>
                </a:lnTo>
                <a:lnTo>
                  <a:pt x="1126" y="5"/>
                </a:lnTo>
                <a:lnTo>
                  <a:pt x="1126" y="6"/>
                </a:lnTo>
                <a:lnTo>
                  <a:pt x="1126" y="10"/>
                </a:lnTo>
                <a:lnTo>
                  <a:pt x="1126" y="11"/>
                </a:lnTo>
                <a:lnTo>
                  <a:pt x="1128" y="15"/>
                </a:lnTo>
                <a:lnTo>
                  <a:pt x="1128" y="16"/>
                </a:lnTo>
                <a:lnTo>
                  <a:pt x="1128" y="18"/>
                </a:lnTo>
                <a:lnTo>
                  <a:pt x="1133" y="16"/>
                </a:lnTo>
                <a:close/>
                <a:moveTo>
                  <a:pt x="0" y="180"/>
                </a:moveTo>
                <a:lnTo>
                  <a:pt x="0" y="182"/>
                </a:lnTo>
                <a:lnTo>
                  <a:pt x="0" y="185"/>
                </a:lnTo>
                <a:lnTo>
                  <a:pt x="0" y="187"/>
                </a:lnTo>
                <a:lnTo>
                  <a:pt x="2" y="189"/>
                </a:lnTo>
                <a:lnTo>
                  <a:pt x="2" y="192"/>
                </a:lnTo>
                <a:lnTo>
                  <a:pt x="2" y="194"/>
                </a:lnTo>
                <a:lnTo>
                  <a:pt x="2" y="197"/>
                </a:lnTo>
                <a:lnTo>
                  <a:pt x="2" y="199"/>
                </a:lnTo>
                <a:lnTo>
                  <a:pt x="7" y="199"/>
                </a:lnTo>
                <a:lnTo>
                  <a:pt x="7" y="195"/>
                </a:lnTo>
                <a:lnTo>
                  <a:pt x="7" y="194"/>
                </a:lnTo>
                <a:lnTo>
                  <a:pt x="7" y="190"/>
                </a:lnTo>
                <a:lnTo>
                  <a:pt x="5" y="189"/>
                </a:lnTo>
                <a:lnTo>
                  <a:pt x="5" y="185"/>
                </a:lnTo>
                <a:lnTo>
                  <a:pt x="5" y="184"/>
                </a:lnTo>
                <a:lnTo>
                  <a:pt x="5" y="180"/>
                </a:lnTo>
                <a:lnTo>
                  <a:pt x="3" y="179"/>
                </a:lnTo>
                <a:lnTo>
                  <a:pt x="0" y="18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80" name="Freeform 1185">
            <a:extLst>
              <a:ext uri="{FF2B5EF4-FFF2-40B4-BE49-F238E27FC236}">
                <a16:creationId xmlns:a16="http://schemas.microsoft.com/office/drawing/2014/main" id="{9CBE0942-8CE0-93B4-D19F-491CF31F60CB}"/>
              </a:ext>
            </a:extLst>
          </p:cNvPr>
          <p:cNvSpPr>
            <a:spLocks noEditPoints="1"/>
          </p:cNvSpPr>
          <p:nvPr/>
        </p:nvSpPr>
        <p:spPr bwMode="auto">
          <a:xfrm>
            <a:off x="2019300" y="2403475"/>
            <a:ext cx="1789113" cy="315913"/>
          </a:xfrm>
          <a:custGeom>
            <a:avLst/>
            <a:gdLst>
              <a:gd name="T0" fmla="*/ 1127 w 1127"/>
              <a:gd name="T1" fmla="*/ 18 h 199"/>
              <a:gd name="T2" fmla="*/ 1127 w 1127"/>
              <a:gd name="T3" fmla="*/ 15 h 199"/>
              <a:gd name="T4" fmla="*/ 1127 w 1127"/>
              <a:gd name="T5" fmla="*/ 13 h 199"/>
              <a:gd name="T6" fmla="*/ 1127 w 1127"/>
              <a:gd name="T7" fmla="*/ 11 h 199"/>
              <a:gd name="T8" fmla="*/ 1127 w 1127"/>
              <a:gd name="T9" fmla="*/ 8 h 199"/>
              <a:gd name="T10" fmla="*/ 1126 w 1127"/>
              <a:gd name="T11" fmla="*/ 6 h 199"/>
              <a:gd name="T12" fmla="*/ 1126 w 1127"/>
              <a:gd name="T13" fmla="*/ 5 h 199"/>
              <a:gd name="T14" fmla="*/ 1126 w 1127"/>
              <a:gd name="T15" fmla="*/ 1 h 199"/>
              <a:gd name="T16" fmla="*/ 1126 w 1127"/>
              <a:gd name="T17" fmla="*/ 0 h 199"/>
              <a:gd name="T18" fmla="*/ 1121 w 1127"/>
              <a:gd name="T19" fmla="*/ 0 h 199"/>
              <a:gd name="T20" fmla="*/ 1121 w 1127"/>
              <a:gd name="T21" fmla="*/ 1 h 199"/>
              <a:gd name="T22" fmla="*/ 1121 w 1127"/>
              <a:gd name="T23" fmla="*/ 5 h 199"/>
              <a:gd name="T24" fmla="*/ 1123 w 1127"/>
              <a:gd name="T25" fmla="*/ 6 h 199"/>
              <a:gd name="T26" fmla="*/ 1123 w 1127"/>
              <a:gd name="T27" fmla="*/ 10 h 199"/>
              <a:gd name="T28" fmla="*/ 1123 w 1127"/>
              <a:gd name="T29" fmla="*/ 11 h 199"/>
              <a:gd name="T30" fmla="*/ 1123 w 1127"/>
              <a:gd name="T31" fmla="*/ 15 h 199"/>
              <a:gd name="T32" fmla="*/ 1124 w 1127"/>
              <a:gd name="T33" fmla="*/ 18 h 199"/>
              <a:gd name="T34" fmla="*/ 1124 w 1127"/>
              <a:gd name="T35" fmla="*/ 20 h 199"/>
              <a:gd name="T36" fmla="*/ 1127 w 1127"/>
              <a:gd name="T37" fmla="*/ 18 h 199"/>
              <a:gd name="T38" fmla="*/ 0 w 1127"/>
              <a:gd name="T39" fmla="*/ 179 h 199"/>
              <a:gd name="T40" fmla="*/ 0 w 1127"/>
              <a:gd name="T41" fmla="*/ 182 h 199"/>
              <a:gd name="T42" fmla="*/ 1 w 1127"/>
              <a:gd name="T43" fmla="*/ 184 h 199"/>
              <a:gd name="T44" fmla="*/ 1 w 1127"/>
              <a:gd name="T45" fmla="*/ 187 h 199"/>
              <a:gd name="T46" fmla="*/ 1 w 1127"/>
              <a:gd name="T47" fmla="*/ 189 h 199"/>
              <a:gd name="T48" fmla="*/ 1 w 1127"/>
              <a:gd name="T49" fmla="*/ 192 h 199"/>
              <a:gd name="T50" fmla="*/ 1 w 1127"/>
              <a:gd name="T51" fmla="*/ 194 h 199"/>
              <a:gd name="T52" fmla="*/ 3 w 1127"/>
              <a:gd name="T53" fmla="*/ 195 h 199"/>
              <a:gd name="T54" fmla="*/ 3 w 1127"/>
              <a:gd name="T55" fmla="*/ 199 h 199"/>
              <a:gd name="T56" fmla="*/ 8 w 1127"/>
              <a:gd name="T57" fmla="*/ 199 h 199"/>
              <a:gd name="T58" fmla="*/ 8 w 1127"/>
              <a:gd name="T59" fmla="*/ 195 h 199"/>
              <a:gd name="T60" fmla="*/ 6 w 1127"/>
              <a:gd name="T61" fmla="*/ 194 h 199"/>
              <a:gd name="T62" fmla="*/ 6 w 1127"/>
              <a:gd name="T63" fmla="*/ 190 h 199"/>
              <a:gd name="T64" fmla="*/ 6 w 1127"/>
              <a:gd name="T65" fmla="*/ 189 h 199"/>
              <a:gd name="T66" fmla="*/ 6 w 1127"/>
              <a:gd name="T67" fmla="*/ 185 h 199"/>
              <a:gd name="T68" fmla="*/ 5 w 1127"/>
              <a:gd name="T69" fmla="*/ 182 h 199"/>
              <a:gd name="T70" fmla="*/ 5 w 1127"/>
              <a:gd name="T71" fmla="*/ 180 h 199"/>
              <a:gd name="T72" fmla="*/ 5 w 1127"/>
              <a:gd name="T73" fmla="*/ 177 h 199"/>
              <a:gd name="T74" fmla="*/ 0 w 1127"/>
              <a:gd name="T75" fmla="*/ 17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27" h="199">
                <a:moveTo>
                  <a:pt x="1127" y="18"/>
                </a:moveTo>
                <a:lnTo>
                  <a:pt x="1127" y="15"/>
                </a:lnTo>
                <a:lnTo>
                  <a:pt x="1127" y="13"/>
                </a:lnTo>
                <a:lnTo>
                  <a:pt x="1127" y="11"/>
                </a:lnTo>
                <a:lnTo>
                  <a:pt x="1127" y="8"/>
                </a:lnTo>
                <a:lnTo>
                  <a:pt x="1126" y="6"/>
                </a:lnTo>
                <a:lnTo>
                  <a:pt x="1126" y="5"/>
                </a:lnTo>
                <a:lnTo>
                  <a:pt x="1126" y="1"/>
                </a:lnTo>
                <a:lnTo>
                  <a:pt x="1126" y="0"/>
                </a:lnTo>
                <a:lnTo>
                  <a:pt x="1121" y="0"/>
                </a:lnTo>
                <a:lnTo>
                  <a:pt x="1121" y="1"/>
                </a:lnTo>
                <a:lnTo>
                  <a:pt x="1121" y="5"/>
                </a:lnTo>
                <a:lnTo>
                  <a:pt x="1123" y="6"/>
                </a:lnTo>
                <a:lnTo>
                  <a:pt x="1123" y="10"/>
                </a:lnTo>
                <a:lnTo>
                  <a:pt x="1123" y="11"/>
                </a:lnTo>
                <a:lnTo>
                  <a:pt x="1123" y="15"/>
                </a:lnTo>
                <a:lnTo>
                  <a:pt x="1124" y="18"/>
                </a:lnTo>
                <a:lnTo>
                  <a:pt x="1124" y="20"/>
                </a:lnTo>
                <a:lnTo>
                  <a:pt x="1127" y="18"/>
                </a:lnTo>
                <a:close/>
                <a:moveTo>
                  <a:pt x="0" y="179"/>
                </a:moveTo>
                <a:lnTo>
                  <a:pt x="0" y="182"/>
                </a:lnTo>
                <a:lnTo>
                  <a:pt x="1" y="184"/>
                </a:lnTo>
                <a:lnTo>
                  <a:pt x="1" y="187"/>
                </a:lnTo>
                <a:lnTo>
                  <a:pt x="1" y="189"/>
                </a:lnTo>
                <a:lnTo>
                  <a:pt x="1" y="192"/>
                </a:lnTo>
                <a:lnTo>
                  <a:pt x="1" y="194"/>
                </a:lnTo>
                <a:lnTo>
                  <a:pt x="3" y="195"/>
                </a:lnTo>
                <a:lnTo>
                  <a:pt x="3" y="199"/>
                </a:lnTo>
                <a:lnTo>
                  <a:pt x="8" y="199"/>
                </a:lnTo>
                <a:lnTo>
                  <a:pt x="8" y="195"/>
                </a:lnTo>
                <a:lnTo>
                  <a:pt x="6" y="194"/>
                </a:lnTo>
                <a:lnTo>
                  <a:pt x="6" y="190"/>
                </a:lnTo>
                <a:lnTo>
                  <a:pt x="6" y="189"/>
                </a:lnTo>
                <a:lnTo>
                  <a:pt x="6" y="185"/>
                </a:lnTo>
                <a:lnTo>
                  <a:pt x="5" y="182"/>
                </a:lnTo>
                <a:lnTo>
                  <a:pt x="5" y="180"/>
                </a:lnTo>
                <a:lnTo>
                  <a:pt x="5" y="177"/>
                </a:lnTo>
                <a:lnTo>
                  <a:pt x="0" y="179"/>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81" name="Freeform 1186">
            <a:extLst>
              <a:ext uri="{FF2B5EF4-FFF2-40B4-BE49-F238E27FC236}">
                <a16:creationId xmlns:a16="http://schemas.microsoft.com/office/drawing/2014/main" id="{4DC6966F-0BCE-51F8-D365-D8FD65883BD9}"/>
              </a:ext>
            </a:extLst>
          </p:cNvPr>
          <p:cNvSpPr>
            <a:spLocks noEditPoints="1"/>
          </p:cNvSpPr>
          <p:nvPr/>
        </p:nvSpPr>
        <p:spPr bwMode="auto">
          <a:xfrm>
            <a:off x="2020888" y="2403475"/>
            <a:ext cx="1785938" cy="315913"/>
          </a:xfrm>
          <a:custGeom>
            <a:avLst/>
            <a:gdLst>
              <a:gd name="T0" fmla="*/ 1125 w 1125"/>
              <a:gd name="T1" fmla="*/ 18 h 199"/>
              <a:gd name="T2" fmla="*/ 1125 w 1125"/>
              <a:gd name="T3" fmla="*/ 16 h 199"/>
              <a:gd name="T4" fmla="*/ 1125 w 1125"/>
              <a:gd name="T5" fmla="*/ 15 h 199"/>
              <a:gd name="T6" fmla="*/ 1123 w 1125"/>
              <a:gd name="T7" fmla="*/ 11 h 199"/>
              <a:gd name="T8" fmla="*/ 1123 w 1125"/>
              <a:gd name="T9" fmla="*/ 10 h 199"/>
              <a:gd name="T10" fmla="*/ 1123 w 1125"/>
              <a:gd name="T11" fmla="*/ 6 h 199"/>
              <a:gd name="T12" fmla="*/ 1123 w 1125"/>
              <a:gd name="T13" fmla="*/ 5 h 199"/>
              <a:gd name="T14" fmla="*/ 1123 w 1125"/>
              <a:gd name="T15" fmla="*/ 1 h 199"/>
              <a:gd name="T16" fmla="*/ 1122 w 1125"/>
              <a:gd name="T17" fmla="*/ 0 h 199"/>
              <a:gd name="T18" fmla="*/ 1117 w 1125"/>
              <a:gd name="T19" fmla="*/ 0 h 199"/>
              <a:gd name="T20" fmla="*/ 1118 w 1125"/>
              <a:gd name="T21" fmla="*/ 1 h 199"/>
              <a:gd name="T22" fmla="*/ 1118 w 1125"/>
              <a:gd name="T23" fmla="*/ 5 h 199"/>
              <a:gd name="T24" fmla="*/ 1118 w 1125"/>
              <a:gd name="T25" fmla="*/ 8 h 199"/>
              <a:gd name="T26" fmla="*/ 1118 w 1125"/>
              <a:gd name="T27" fmla="*/ 10 h 199"/>
              <a:gd name="T28" fmla="*/ 1120 w 1125"/>
              <a:gd name="T29" fmla="*/ 13 h 199"/>
              <a:gd name="T30" fmla="*/ 1120 w 1125"/>
              <a:gd name="T31" fmla="*/ 15 h 199"/>
              <a:gd name="T32" fmla="*/ 1120 w 1125"/>
              <a:gd name="T33" fmla="*/ 18 h 199"/>
              <a:gd name="T34" fmla="*/ 1120 w 1125"/>
              <a:gd name="T35" fmla="*/ 21 h 199"/>
              <a:gd name="T36" fmla="*/ 1125 w 1125"/>
              <a:gd name="T37" fmla="*/ 18 h 199"/>
              <a:gd name="T38" fmla="*/ 0 w 1125"/>
              <a:gd name="T39" fmla="*/ 179 h 199"/>
              <a:gd name="T40" fmla="*/ 2 w 1125"/>
              <a:gd name="T41" fmla="*/ 180 h 199"/>
              <a:gd name="T42" fmla="*/ 2 w 1125"/>
              <a:gd name="T43" fmla="*/ 184 h 199"/>
              <a:gd name="T44" fmla="*/ 2 w 1125"/>
              <a:gd name="T45" fmla="*/ 185 h 199"/>
              <a:gd name="T46" fmla="*/ 2 w 1125"/>
              <a:gd name="T47" fmla="*/ 189 h 199"/>
              <a:gd name="T48" fmla="*/ 4 w 1125"/>
              <a:gd name="T49" fmla="*/ 190 h 199"/>
              <a:gd name="T50" fmla="*/ 4 w 1125"/>
              <a:gd name="T51" fmla="*/ 194 h 199"/>
              <a:gd name="T52" fmla="*/ 4 w 1125"/>
              <a:gd name="T53" fmla="*/ 195 h 199"/>
              <a:gd name="T54" fmla="*/ 4 w 1125"/>
              <a:gd name="T55" fmla="*/ 199 h 199"/>
              <a:gd name="T56" fmla="*/ 9 w 1125"/>
              <a:gd name="T57" fmla="*/ 199 h 199"/>
              <a:gd name="T58" fmla="*/ 9 w 1125"/>
              <a:gd name="T59" fmla="*/ 195 h 199"/>
              <a:gd name="T60" fmla="*/ 9 w 1125"/>
              <a:gd name="T61" fmla="*/ 194 h 199"/>
              <a:gd name="T62" fmla="*/ 7 w 1125"/>
              <a:gd name="T63" fmla="*/ 190 h 199"/>
              <a:gd name="T64" fmla="*/ 7 w 1125"/>
              <a:gd name="T65" fmla="*/ 187 h 199"/>
              <a:gd name="T66" fmla="*/ 7 w 1125"/>
              <a:gd name="T67" fmla="*/ 185 h 199"/>
              <a:gd name="T68" fmla="*/ 7 w 1125"/>
              <a:gd name="T69" fmla="*/ 182 h 199"/>
              <a:gd name="T70" fmla="*/ 5 w 1125"/>
              <a:gd name="T71" fmla="*/ 179 h 199"/>
              <a:gd name="T72" fmla="*/ 5 w 1125"/>
              <a:gd name="T73" fmla="*/ 175 h 199"/>
              <a:gd name="T74" fmla="*/ 0 w 1125"/>
              <a:gd name="T75" fmla="*/ 17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25" h="199">
                <a:moveTo>
                  <a:pt x="1125" y="18"/>
                </a:moveTo>
                <a:lnTo>
                  <a:pt x="1125" y="16"/>
                </a:lnTo>
                <a:lnTo>
                  <a:pt x="1125" y="15"/>
                </a:lnTo>
                <a:lnTo>
                  <a:pt x="1123" y="11"/>
                </a:lnTo>
                <a:lnTo>
                  <a:pt x="1123" y="10"/>
                </a:lnTo>
                <a:lnTo>
                  <a:pt x="1123" y="6"/>
                </a:lnTo>
                <a:lnTo>
                  <a:pt x="1123" y="5"/>
                </a:lnTo>
                <a:lnTo>
                  <a:pt x="1123" y="1"/>
                </a:lnTo>
                <a:lnTo>
                  <a:pt x="1122" y="0"/>
                </a:lnTo>
                <a:lnTo>
                  <a:pt x="1117" y="0"/>
                </a:lnTo>
                <a:lnTo>
                  <a:pt x="1118" y="1"/>
                </a:lnTo>
                <a:lnTo>
                  <a:pt x="1118" y="5"/>
                </a:lnTo>
                <a:lnTo>
                  <a:pt x="1118" y="8"/>
                </a:lnTo>
                <a:lnTo>
                  <a:pt x="1118" y="10"/>
                </a:lnTo>
                <a:lnTo>
                  <a:pt x="1120" y="13"/>
                </a:lnTo>
                <a:lnTo>
                  <a:pt x="1120" y="15"/>
                </a:lnTo>
                <a:lnTo>
                  <a:pt x="1120" y="18"/>
                </a:lnTo>
                <a:lnTo>
                  <a:pt x="1120" y="21"/>
                </a:lnTo>
                <a:lnTo>
                  <a:pt x="1125" y="18"/>
                </a:lnTo>
                <a:close/>
                <a:moveTo>
                  <a:pt x="0" y="179"/>
                </a:moveTo>
                <a:lnTo>
                  <a:pt x="2" y="180"/>
                </a:lnTo>
                <a:lnTo>
                  <a:pt x="2" y="184"/>
                </a:lnTo>
                <a:lnTo>
                  <a:pt x="2" y="185"/>
                </a:lnTo>
                <a:lnTo>
                  <a:pt x="2" y="189"/>
                </a:lnTo>
                <a:lnTo>
                  <a:pt x="4" y="190"/>
                </a:lnTo>
                <a:lnTo>
                  <a:pt x="4" y="194"/>
                </a:lnTo>
                <a:lnTo>
                  <a:pt x="4" y="195"/>
                </a:lnTo>
                <a:lnTo>
                  <a:pt x="4" y="199"/>
                </a:lnTo>
                <a:lnTo>
                  <a:pt x="9" y="199"/>
                </a:lnTo>
                <a:lnTo>
                  <a:pt x="9" y="195"/>
                </a:lnTo>
                <a:lnTo>
                  <a:pt x="9" y="194"/>
                </a:lnTo>
                <a:lnTo>
                  <a:pt x="7" y="190"/>
                </a:lnTo>
                <a:lnTo>
                  <a:pt x="7" y="187"/>
                </a:lnTo>
                <a:lnTo>
                  <a:pt x="7" y="185"/>
                </a:lnTo>
                <a:lnTo>
                  <a:pt x="7" y="182"/>
                </a:lnTo>
                <a:lnTo>
                  <a:pt x="5" y="179"/>
                </a:lnTo>
                <a:lnTo>
                  <a:pt x="5" y="175"/>
                </a:lnTo>
                <a:lnTo>
                  <a:pt x="0" y="179"/>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82" name="Freeform 1187">
            <a:extLst>
              <a:ext uri="{FF2B5EF4-FFF2-40B4-BE49-F238E27FC236}">
                <a16:creationId xmlns:a16="http://schemas.microsoft.com/office/drawing/2014/main" id="{ABBA0C29-723C-F59B-9055-E7501F56C7C0}"/>
              </a:ext>
            </a:extLst>
          </p:cNvPr>
          <p:cNvSpPr>
            <a:spLocks noEditPoints="1"/>
          </p:cNvSpPr>
          <p:nvPr/>
        </p:nvSpPr>
        <p:spPr bwMode="auto">
          <a:xfrm>
            <a:off x="2027238" y="2403475"/>
            <a:ext cx="1776413" cy="315913"/>
          </a:xfrm>
          <a:custGeom>
            <a:avLst/>
            <a:gdLst>
              <a:gd name="T0" fmla="*/ 1119 w 1119"/>
              <a:gd name="T1" fmla="*/ 20 h 199"/>
              <a:gd name="T2" fmla="*/ 1119 w 1119"/>
              <a:gd name="T3" fmla="*/ 18 h 199"/>
              <a:gd name="T4" fmla="*/ 1118 w 1119"/>
              <a:gd name="T5" fmla="*/ 15 h 199"/>
              <a:gd name="T6" fmla="*/ 1118 w 1119"/>
              <a:gd name="T7" fmla="*/ 11 h 199"/>
              <a:gd name="T8" fmla="*/ 1118 w 1119"/>
              <a:gd name="T9" fmla="*/ 10 h 199"/>
              <a:gd name="T10" fmla="*/ 1118 w 1119"/>
              <a:gd name="T11" fmla="*/ 6 h 199"/>
              <a:gd name="T12" fmla="*/ 1116 w 1119"/>
              <a:gd name="T13" fmla="*/ 5 h 199"/>
              <a:gd name="T14" fmla="*/ 1116 w 1119"/>
              <a:gd name="T15" fmla="*/ 1 h 199"/>
              <a:gd name="T16" fmla="*/ 1116 w 1119"/>
              <a:gd name="T17" fmla="*/ 0 h 199"/>
              <a:gd name="T18" fmla="*/ 1111 w 1119"/>
              <a:gd name="T19" fmla="*/ 0 h 199"/>
              <a:gd name="T20" fmla="*/ 1111 w 1119"/>
              <a:gd name="T21" fmla="*/ 3 h 199"/>
              <a:gd name="T22" fmla="*/ 1111 w 1119"/>
              <a:gd name="T23" fmla="*/ 5 h 199"/>
              <a:gd name="T24" fmla="*/ 1113 w 1119"/>
              <a:gd name="T25" fmla="*/ 8 h 199"/>
              <a:gd name="T26" fmla="*/ 1113 w 1119"/>
              <a:gd name="T27" fmla="*/ 11 h 199"/>
              <a:gd name="T28" fmla="*/ 1113 w 1119"/>
              <a:gd name="T29" fmla="*/ 13 h 199"/>
              <a:gd name="T30" fmla="*/ 1114 w 1119"/>
              <a:gd name="T31" fmla="*/ 16 h 199"/>
              <a:gd name="T32" fmla="*/ 1114 w 1119"/>
              <a:gd name="T33" fmla="*/ 20 h 199"/>
              <a:gd name="T34" fmla="*/ 1114 w 1119"/>
              <a:gd name="T35" fmla="*/ 21 h 199"/>
              <a:gd name="T36" fmla="*/ 1119 w 1119"/>
              <a:gd name="T37" fmla="*/ 20 h 199"/>
              <a:gd name="T38" fmla="*/ 0 w 1119"/>
              <a:gd name="T39" fmla="*/ 177 h 199"/>
              <a:gd name="T40" fmla="*/ 0 w 1119"/>
              <a:gd name="T41" fmla="*/ 180 h 199"/>
              <a:gd name="T42" fmla="*/ 0 w 1119"/>
              <a:gd name="T43" fmla="*/ 182 h 199"/>
              <a:gd name="T44" fmla="*/ 1 w 1119"/>
              <a:gd name="T45" fmla="*/ 185 h 199"/>
              <a:gd name="T46" fmla="*/ 1 w 1119"/>
              <a:gd name="T47" fmla="*/ 189 h 199"/>
              <a:gd name="T48" fmla="*/ 1 w 1119"/>
              <a:gd name="T49" fmla="*/ 190 h 199"/>
              <a:gd name="T50" fmla="*/ 1 w 1119"/>
              <a:gd name="T51" fmla="*/ 194 h 199"/>
              <a:gd name="T52" fmla="*/ 3 w 1119"/>
              <a:gd name="T53" fmla="*/ 195 h 199"/>
              <a:gd name="T54" fmla="*/ 3 w 1119"/>
              <a:gd name="T55" fmla="*/ 199 h 199"/>
              <a:gd name="T56" fmla="*/ 8 w 1119"/>
              <a:gd name="T57" fmla="*/ 199 h 199"/>
              <a:gd name="T58" fmla="*/ 6 w 1119"/>
              <a:gd name="T59" fmla="*/ 195 h 199"/>
              <a:gd name="T60" fmla="*/ 6 w 1119"/>
              <a:gd name="T61" fmla="*/ 192 h 199"/>
              <a:gd name="T62" fmla="*/ 6 w 1119"/>
              <a:gd name="T63" fmla="*/ 190 h 199"/>
              <a:gd name="T64" fmla="*/ 6 w 1119"/>
              <a:gd name="T65" fmla="*/ 187 h 199"/>
              <a:gd name="T66" fmla="*/ 5 w 1119"/>
              <a:gd name="T67" fmla="*/ 184 h 199"/>
              <a:gd name="T68" fmla="*/ 5 w 1119"/>
              <a:gd name="T69" fmla="*/ 180 h 199"/>
              <a:gd name="T70" fmla="*/ 5 w 1119"/>
              <a:gd name="T71" fmla="*/ 179 h 199"/>
              <a:gd name="T72" fmla="*/ 5 w 1119"/>
              <a:gd name="T73" fmla="*/ 175 h 199"/>
              <a:gd name="T74" fmla="*/ 0 w 1119"/>
              <a:gd name="T75" fmla="*/ 17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19" h="199">
                <a:moveTo>
                  <a:pt x="1119" y="20"/>
                </a:moveTo>
                <a:lnTo>
                  <a:pt x="1119" y="18"/>
                </a:lnTo>
                <a:lnTo>
                  <a:pt x="1118" y="15"/>
                </a:lnTo>
                <a:lnTo>
                  <a:pt x="1118" y="11"/>
                </a:lnTo>
                <a:lnTo>
                  <a:pt x="1118" y="10"/>
                </a:lnTo>
                <a:lnTo>
                  <a:pt x="1118" y="6"/>
                </a:lnTo>
                <a:lnTo>
                  <a:pt x="1116" y="5"/>
                </a:lnTo>
                <a:lnTo>
                  <a:pt x="1116" y="1"/>
                </a:lnTo>
                <a:lnTo>
                  <a:pt x="1116" y="0"/>
                </a:lnTo>
                <a:lnTo>
                  <a:pt x="1111" y="0"/>
                </a:lnTo>
                <a:lnTo>
                  <a:pt x="1111" y="3"/>
                </a:lnTo>
                <a:lnTo>
                  <a:pt x="1111" y="5"/>
                </a:lnTo>
                <a:lnTo>
                  <a:pt x="1113" y="8"/>
                </a:lnTo>
                <a:lnTo>
                  <a:pt x="1113" y="11"/>
                </a:lnTo>
                <a:lnTo>
                  <a:pt x="1113" y="13"/>
                </a:lnTo>
                <a:lnTo>
                  <a:pt x="1114" y="16"/>
                </a:lnTo>
                <a:lnTo>
                  <a:pt x="1114" y="20"/>
                </a:lnTo>
                <a:lnTo>
                  <a:pt x="1114" y="21"/>
                </a:lnTo>
                <a:lnTo>
                  <a:pt x="1119" y="20"/>
                </a:lnTo>
                <a:close/>
                <a:moveTo>
                  <a:pt x="0" y="177"/>
                </a:moveTo>
                <a:lnTo>
                  <a:pt x="0" y="180"/>
                </a:lnTo>
                <a:lnTo>
                  <a:pt x="0" y="182"/>
                </a:lnTo>
                <a:lnTo>
                  <a:pt x="1" y="185"/>
                </a:lnTo>
                <a:lnTo>
                  <a:pt x="1" y="189"/>
                </a:lnTo>
                <a:lnTo>
                  <a:pt x="1" y="190"/>
                </a:lnTo>
                <a:lnTo>
                  <a:pt x="1" y="194"/>
                </a:lnTo>
                <a:lnTo>
                  <a:pt x="3" y="195"/>
                </a:lnTo>
                <a:lnTo>
                  <a:pt x="3" y="199"/>
                </a:lnTo>
                <a:lnTo>
                  <a:pt x="8" y="199"/>
                </a:lnTo>
                <a:lnTo>
                  <a:pt x="6" y="195"/>
                </a:lnTo>
                <a:lnTo>
                  <a:pt x="6" y="192"/>
                </a:lnTo>
                <a:lnTo>
                  <a:pt x="6" y="190"/>
                </a:lnTo>
                <a:lnTo>
                  <a:pt x="6" y="187"/>
                </a:lnTo>
                <a:lnTo>
                  <a:pt x="5" y="184"/>
                </a:lnTo>
                <a:lnTo>
                  <a:pt x="5" y="180"/>
                </a:lnTo>
                <a:lnTo>
                  <a:pt x="5" y="179"/>
                </a:lnTo>
                <a:lnTo>
                  <a:pt x="5" y="175"/>
                </a:lnTo>
                <a:lnTo>
                  <a:pt x="0" y="177"/>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83" name="Freeform 1188">
            <a:extLst>
              <a:ext uri="{FF2B5EF4-FFF2-40B4-BE49-F238E27FC236}">
                <a16:creationId xmlns:a16="http://schemas.microsoft.com/office/drawing/2014/main" id="{BC1EF830-87D7-B8A5-7CEC-E0486AFA94EA}"/>
              </a:ext>
            </a:extLst>
          </p:cNvPr>
          <p:cNvSpPr>
            <a:spLocks noEditPoints="1"/>
          </p:cNvSpPr>
          <p:nvPr/>
        </p:nvSpPr>
        <p:spPr bwMode="auto">
          <a:xfrm>
            <a:off x="2028825" y="2403475"/>
            <a:ext cx="1770063" cy="315913"/>
          </a:xfrm>
          <a:custGeom>
            <a:avLst/>
            <a:gdLst>
              <a:gd name="T0" fmla="*/ 1115 w 1115"/>
              <a:gd name="T1" fmla="*/ 21 h 199"/>
              <a:gd name="T2" fmla="*/ 1115 w 1115"/>
              <a:gd name="T3" fmla="*/ 18 h 199"/>
              <a:gd name="T4" fmla="*/ 1115 w 1115"/>
              <a:gd name="T5" fmla="*/ 15 h 199"/>
              <a:gd name="T6" fmla="*/ 1115 w 1115"/>
              <a:gd name="T7" fmla="*/ 13 h 199"/>
              <a:gd name="T8" fmla="*/ 1113 w 1115"/>
              <a:gd name="T9" fmla="*/ 10 h 199"/>
              <a:gd name="T10" fmla="*/ 1113 w 1115"/>
              <a:gd name="T11" fmla="*/ 8 h 199"/>
              <a:gd name="T12" fmla="*/ 1113 w 1115"/>
              <a:gd name="T13" fmla="*/ 5 h 199"/>
              <a:gd name="T14" fmla="*/ 1113 w 1115"/>
              <a:gd name="T15" fmla="*/ 1 h 199"/>
              <a:gd name="T16" fmla="*/ 1112 w 1115"/>
              <a:gd name="T17" fmla="*/ 0 h 199"/>
              <a:gd name="T18" fmla="*/ 1107 w 1115"/>
              <a:gd name="T19" fmla="*/ 0 h 199"/>
              <a:gd name="T20" fmla="*/ 1108 w 1115"/>
              <a:gd name="T21" fmla="*/ 3 h 199"/>
              <a:gd name="T22" fmla="*/ 1108 w 1115"/>
              <a:gd name="T23" fmla="*/ 5 h 199"/>
              <a:gd name="T24" fmla="*/ 1108 w 1115"/>
              <a:gd name="T25" fmla="*/ 8 h 199"/>
              <a:gd name="T26" fmla="*/ 1110 w 1115"/>
              <a:gd name="T27" fmla="*/ 11 h 199"/>
              <a:gd name="T28" fmla="*/ 1110 w 1115"/>
              <a:gd name="T29" fmla="*/ 15 h 199"/>
              <a:gd name="T30" fmla="*/ 1110 w 1115"/>
              <a:gd name="T31" fmla="*/ 16 h 199"/>
              <a:gd name="T32" fmla="*/ 1110 w 1115"/>
              <a:gd name="T33" fmla="*/ 20 h 199"/>
              <a:gd name="T34" fmla="*/ 1112 w 1115"/>
              <a:gd name="T35" fmla="*/ 23 h 199"/>
              <a:gd name="T36" fmla="*/ 1115 w 1115"/>
              <a:gd name="T37" fmla="*/ 21 h 199"/>
              <a:gd name="T38" fmla="*/ 0 w 1115"/>
              <a:gd name="T39" fmla="*/ 175 h 199"/>
              <a:gd name="T40" fmla="*/ 0 w 1115"/>
              <a:gd name="T41" fmla="*/ 179 h 199"/>
              <a:gd name="T42" fmla="*/ 2 w 1115"/>
              <a:gd name="T43" fmla="*/ 182 h 199"/>
              <a:gd name="T44" fmla="*/ 2 w 1115"/>
              <a:gd name="T45" fmla="*/ 185 h 199"/>
              <a:gd name="T46" fmla="*/ 2 w 1115"/>
              <a:gd name="T47" fmla="*/ 187 h 199"/>
              <a:gd name="T48" fmla="*/ 2 w 1115"/>
              <a:gd name="T49" fmla="*/ 190 h 199"/>
              <a:gd name="T50" fmla="*/ 4 w 1115"/>
              <a:gd name="T51" fmla="*/ 194 h 199"/>
              <a:gd name="T52" fmla="*/ 4 w 1115"/>
              <a:gd name="T53" fmla="*/ 195 h 199"/>
              <a:gd name="T54" fmla="*/ 4 w 1115"/>
              <a:gd name="T55" fmla="*/ 199 h 199"/>
              <a:gd name="T56" fmla="*/ 9 w 1115"/>
              <a:gd name="T57" fmla="*/ 199 h 199"/>
              <a:gd name="T58" fmla="*/ 9 w 1115"/>
              <a:gd name="T59" fmla="*/ 195 h 199"/>
              <a:gd name="T60" fmla="*/ 9 w 1115"/>
              <a:gd name="T61" fmla="*/ 192 h 199"/>
              <a:gd name="T62" fmla="*/ 7 w 1115"/>
              <a:gd name="T63" fmla="*/ 189 h 199"/>
              <a:gd name="T64" fmla="*/ 7 w 1115"/>
              <a:gd name="T65" fmla="*/ 187 h 199"/>
              <a:gd name="T66" fmla="*/ 7 w 1115"/>
              <a:gd name="T67" fmla="*/ 184 h 199"/>
              <a:gd name="T68" fmla="*/ 5 w 1115"/>
              <a:gd name="T69" fmla="*/ 180 h 199"/>
              <a:gd name="T70" fmla="*/ 5 w 1115"/>
              <a:gd name="T71" fmla="*/ 177 h 199"/>
              <a:gd name="T72" fmla="*/ 5 w 1115"/>
              <a:gd name="T73" fmla="*/ 174 h 199"/>
              <a:gd name="T74" fmla="*/ 0 w 1115"/>
              <a:gd name="T75" fmla="*/ 17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15" h="199">
                <a:moveTo>
                  <a:pt x="1115" y="21"/>
                </a:moveTo>
                <a:lnTo>
                  <a:pt x="1115" y="18"/>
                </a:lnTo>
                <a:lnTo>
                  <a:pt x="1115" y="15"/>
                </a:lnTo>
                <a:lnTo>
                  <a:pt x="1115" y="13"/>
                </a:lnTo>
                <a:lnTo>
                  <a:pt x="1113" y="10"/>
                </a:lnTo>
                <a:lnTo>
                  <a:pt x="1113" y="8"/>
                </a:lnTo>
                <a:lnTo>
                  <a:pt x="1113" y="5"/>
                </a:lnTo>
                <a:lnTo>
                  <a:pt x="1113" y="1"/>
                </a:lnTo>
                <a:lnTo>
                  <a:pt x="1112" y="0"/>
                </a:lnTo>
                <a:lnTo>
                  <a:pt x="1107" y="0"/>
                </a:lnTo>
                <a:lnTo>
                  <a:pt x="1108" y="3"/>
                </a:lnTo>
                <a:lnTo>
                  <a:pt x="1108" y="5"/>
                </a:lnTo>
                <a:lnTo>
                  <a:pt x="1108" y="8"/>
                </a:lnTo>
                <a:lnTo>
                  <a:pt x="1110" y="11"/>
                </a:lnTo>
                <a:lnTo>
                  <a:pt x="1110" y="15"/>
                </a:lnTo>
                <a:lnTo>
                  <a:pt x="1110" y="16"/>
                </a:lnTo>
                <a:lnTo>
                  <a:pt x="1110" y="20"/>
                </a:lnTo>
                <a:lnTo>
                  <a:pt x="1112" y="23"/>
                </a:lnTo>
                <a:lnTo>
                  <a:pt x="1115" y="21"/>
                </a:lnTo>
                <a:close/>
                <a:moveTo>
                  <a:pt x="0" y="175"/>
                </a:moveTo>
                <a:lnTo>
                  <a:pt x="0" y="179"/>
                </a:lnTo>
                <a:lnTo>
                  <a:pt x="2" y="182"/>
                </a:lnTo>
                <a:lnTo>
                  <a:pt x="2" y="185"/>
                </a:lnTo>
                <a:lnTo>
                  <a:pt x="2" y="187"/>
                </a:lnTo>
                <a:lnTo>
                  <a:pt x="2" y="190"/>
                </a:lnTo>
                <a:lnTo>
                  <a:pt x="4" y="194"/>
                </a:lnTo>
                <a:lnTo>
                  <a:pt x="4" y="195"/>
                </a:lnTo>
                <a:lnTo>
                  <a:pt x="4" y="199"/>
                </a:lnTo>
                <a:lnTo>
                  <a:pt x="9" y="199"/>
                </a:lnTo>
                <a:lnTo>
                  <a:pt x="9" y="195"/>
                </a:lnTo>
                <a:lnTo>
                  <a:pt x="9" y="192"/>
                </a:lnTo>
                <a:lnTo>
                  <a:pt x="7" y="189"/>
                </a:lnTo>
                <a:lnTo>
                  <a:pt x="7" y="187"/>
                </a:lnTo>
                <a:lnTo>
                  <a:pt x="7" y="184"/>
                </a:lnTo>
                <a:lnTo>
                  <a:pt x="5" y="180"/>
                </a:lnTo>
                <a:lnTo>
                  <a:pt x="5" y="177"/>
                </a:lnTo>
                <a:lnTo>
                  <a:pt x="5" y="174"/>
                </a:lnTo>
                <a:lnTo>
                  <a:pt x="0" y="175"/>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84" name="Freeform 1189">
            <a:extLst>
              <a:ext uri="{FF2B5EF4-FFF2-40B4-BE49-F238E27FC236}">
                <a16:creationId xmlns:a16="http://schemas.microsoft.com/office/drawing/2014/main" id="{D70EA590-75C8-CDA3-757D-77EDB3DECB69}"/>
              </a:ext>
            </a:extLst>
          </p:cNvPr>
          <p:cNvSpPr>
            <a:spLocks noEditPoints="1"/>
          </p:cNvSpPr>
          <p:nvPr/>
        </p:nvSpPr>
        <p:spPr bwMode="auto">
          <a:xfrm>
            <a:off x="2035175" y="2403475"/>
            <a:ext cx="1760538" cy="315913"/>
          </a:xfrm>
          <a:custGeom>
            <a:avLst/>
            <a:gdLst>
              <a:gd name="T0" fmla="*/ 1109 w 1109"/>
              <a:gd name="T1" fmla="*/ 21 h 199"/>
              <a:gd name="T2" fmla="*/ 1109 w 1109"/>
              <a:gd name="T3" fmla="*/ 20 h 199"/>
              <a:gd name="T4" fmla="*/ 1109 w 1109"/>
              <a:gd name="T5" fmla="*/ 16 h 199"/>
              <a:gd name="T6" fmla="*/ 1108 w 1109"/>
              <a:gd name="T7" fmla="*/ 13 h 199"/>
              <a:gd name="T8" fmla="*/ 1108 w 1109"/>
              <a:gd name="T9" fmla="*/ 11 h 199"/>
              <a:gd name="T10" fmla="*/ 1108 w 1109"/>
              <a:gd name="T11" fmla="*/ 8 h 199"/>
              <a:gd name="T12" fmla="*/ 1106 w 1109"/>
              <a:gd name="T13" fmla="*/ 5 h 199"/>
              <a:gd name="T14" fmla="*/ 1106 w 1109"/>
              <a:gd name="T15" fmla="*/ 3 h 199"/>
              <a:gd name="T16" fmla="*/ 1106 w 1109"/>
              <a:gd name="T17" fmla="*/ 0 h 199"/>
              <a:gd name="T18" fmla="*/ 1101 w 1109"/>
              <a:gd name="T19" fmla="*/ 0 h 199"/>
              <a:gd name="T20" fmla="*/ 1101 w 1109"/>
              <a:gd name="T21" fmla="*/ 3 h 199"/>
              <a:gd name="T22" fmla="*/ 1103 w 1109"/>
              <a:gd name="T23" fmla="*/ 6 h 199"/>
              <a:gd name="T24" fmla="*/ 1103 w 1109"/>
              <a:gd name="T25" fmla="*/ 8 h 199"/>
              <a:gd name="T26" fmla="*/ 1103 w 1109"/>
              <a:gd name="T27" fmla="*/ 11 h 199"/>
              <a:gd name="T28" fmla="*/ 1103 w 1109"/>
              <a:gd name="T29" fmla="*/ 15 h 199"/>
              <a:gd name="T30" fmla="*/ 1104 w 1109"/>
              <a:gd name="T31" fmla="*/ 18 h 199"/>
              <a:gd name="T32" fmla="*/ 1104 w 1109"/>
              <a:gd name="T33" fmla="*/ 21 h 199"/>
              <a:gd name="T34" fmla="*/ 1104 w 1109"/>
              <a:gd name="T35" fmla="*/ 25 h 199"/>
              <a:gd name="T36" fmla="*/ 1109 w 1109"/>
              <a:gd name="T37" fmla="*/ 21 h 199"/>
              <a:gd name="T38" fmla="*/ 0 w 1109"/>
              <a:gd name="T39" fmla="*/ 175 h 199"/>
              <a:gd name="T40" fmla="*/ 0 w 1109"/>
              <a:gd name="T41" fmla="*/ 179 h 199"/>
              <a:gd name="T42" fmla="*/ 0 w 1109"/>
              <a:gd name="T43" fmla="*/ 180 h 199"/>
              <a:gd name="T44" fmla="*/ 0 w 1109"/>
              <a:gd name="T45" fmla="*/ 184 h 199"/>
              <a:gd name="T46" fmla="*/ 1 w 1109"/>
              <a:gd name="T47" fmla="*/ 187 h 199"/>
              <a:gd name="T48" fmla="*/ 1 w 1109"/>
              <a:gd name="T49" fmla="*/ 190 h 199"/>
              <a:gd name="T50" fmla="*/ 1 w 1109"/>
              <a:gd name="T51" fmla="*/ 192 h 199"/>
              <a:gd name="T52" fmla="*/ 1 w 1109"/>
              <a:gd name="T53" fmla="*/ 195 h 199"/>
              <a:gd name="T54" fmla="*/ 3 w 1109"/>
              <a:gd name="T55" fmla="*/ 199 h 199"/>
              <a:gd name="T56" fmla="*/ 8 w 1109"/>
              <a:gd name="T57" fmla="*/ 199 h 199"/>
              <a:gd name="T58" fmla="*/ 6 w 1109"/>
              <a:gd name="T59" fmla="*/ 195 h 199"/>
              <a:gd name="T60" fmla="*/ 6 w 1109"/>
              <a:gd name="T61" fmla="*/ 192 h 199"/>
              <a:gd name="T62" fmla="*/ 6 w 1109"/>
              <a:gd name="T63" fmla="*/ 189 h 199"/>
              <a:gd name="T64" fmla="*/ 5 w 1109"/>
              <a:gd name="T65" fmla="*/ 185 h 199"/>
              <a:gd name="T66" fmla="*/ 5 w 1109"/>
              <a:gd name="T67" fmla="*/ 182 h 199"/>
              <a:gd name="T68" fmla="*/ 5 w 1109"/>
              <a:gd name="T69" fmla="*/ 179 h 199"/>
              <a:gd name="T70" fmla="*/ 5 w 1109"/>
              <a:gd name="T71" fmla="*/ 175 h 199"/>
              <a:gd name="T72" fmla="*/ 3 w 1109"/>
              <a:gd name="T73" fmla="*/ 174 h 199"/>
              <a:gd name="T74" fmla="*/ 0 w 1109"/>
              <a:gd name="T75" fmla="*/ 17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09" h="199">
                <a:moveTo>
                  <a:pt x="1109" y="21"/>
                </a:moveTo>
                <a:lnTo>
                  <a:pt x="1109" y="20"/>
                </a:lnTo>
                <a:lnTo>
                  <a:pt x="1109" y="16"/>
                </a:lnTo>
                <a:lnTo>
                  <a:pt x="1108" y="13"/>
                </a:lnTo>
                <a:lnTo>
                  <a:pt x="1108" y="11"/>
                </a:lnTo>
                <a:lnTo>
                  <a:pt x="1108" y="8"/>
                </a:lnTo>
                <a:lnTo>
                  <a:pt x="1106" y="5"/>
                </a:lnTo>
                <a:lnTo>
                  <a:pt x="1106" y="3"/>
                </a:lnTo>
                <a:lnTo>
                  <a:pt x="1106" y="0"/>
                </a:lnTo>
                <a:lnTo>
                  <a:pt x="1101" y="0"/>
                </a:lnTo>
                <a:lnTo>
                  <a:pt x="1101" y="3"/>
                </a:lnTo>
                <a:lnTo>
                  <a:pt x="1103" y="6"/>
                </a:lnTo>
                <a:lnTo>
                  <a:pt x="1103" y="8"/>
                </a:lnTo>
                <a:lnTo>
                  <a:pt x="1103" y="11"/>
                </a:lnTo>
                <a:lnTo>
                  <a:pt x="1103" y="15"/>
                </a:lnTo>
                <a:lnTo>
                  <a:pt x="1104" y="18"/>
                </a:lnTo>
                <a:lnTo>
                  <a:pt x="1104" y="21"/>
                </a:lnTo>
                <a:lnTo>
                  <a:pt x="1104" y="25"/>
                </a:lnTo>
                <a:lnTo>
                  <a:pt x="1109" y="21"/>
                </a:lnTo>
                <a:close/>
                <a:moveTo>
                  <a:pt x="0" y="175"/>
                </a:moveTo>
                <a:lnTo>
                  <a:pt x="0" y="179"/>
                </a:lnTo>
                <a:lnTo>
                  <a:pt x="0" y="180"/>
                </a:lnTo>
                <a:lnTo>
                  <a:pt x="0" y="184"/>
                </a:lnTo>
                <a:lnTo>
                  <a:pt x="1" y="187"/>
                </a:lnTo>
                <a:lnTo>
                  <a:pt x="1" y="190"/>
                </a:lnTo>
                <a:lnTo>
                  <a:pt x="1" y="192"/>
                </a:lnTo>
                <a:lnTo>
                  <a:pt x="1" y="195"/>
                </a:lnTo>
                <a:lnTo>
                  <a:pt x="3" y="199"/>
                </a:lnTo>
                <a:lnTo>
                  <a:pt x="8" y="199"/>
                </a:lnTo>
                <a:lnTo>
                  <a:pt x="6" y="195"/>
                </a:lnTo>
                <a:lnTo>
                  <a:pt x="6" y="192"/>
                </a:lnTo>
                <a:lnTo>
                  <a:pt x="6" y="189"/>
                </a:lnTo>
                <a:lnTo>
                  <a:pt x="5" y="185"/>
                </a:lnTo>
                <a:lnTo>
                  <a:pt x="5" y="182"/>
                </a:lnTo>
                <a:lnTo>
                  <a:pt x="5" y="179"/>
                </a:lnTo>
                <a:lnTo>
                  <a:pt x="5" y="175"/>
                </a:lnTo>
                <a:lnTo>
                  <a:pt x="3" y="174"/>
                </a:lnTo>
                <a:lnTo>
                  <a:pt x="0" y="175"/>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85" name="Freeform 1190">
            <a:extLst>
              <a:ext uri="{FF2B5EF4-FFF2-40B4-BE49-F238E27FC236}">
                <a16:creationId xmlns:a16="http://schemas.microsoft.com/office/drawing/2014/main" id="{EA0B37EC-A8E3-0648-A833-D87A1B063B3C}"/>
              </a:ext>
            </a:extLst>
          </p:cNvPr>
          <p:cNvSpPr>
            <a:spLocks noEditPoints="1"/>
          </p:cNvSpPr>
          <p:nvPr/>
        </p:nvSpPr>
        <p:spPr bwMode="auto">
          <a:xfrm>
            <a:off x="2036763" y="2403475"/>
            <a:ext cx="1757363" cy="315913"/>
          </a:xfrm>
          <a:custGeom>
            <a:avLst/>
            <a:gdLst>
              <a:gd name="T0" fmla="*/ 1107 w 1107"/>
              <a:gd name="T1" fmla="*/ 23 h 199"/>
              <a:gd name="T2" fmla="*/ 1105 w 1107"/>
              <a:gd name="T3" fmla="*/ 20 h 199"/>
              <a:gd name="T4" fmla="*/ 1105 w 1107"/>
              <a:gd name="T5" fmla="*/ 16 h 199"/>
              <a:gd name="T6" fmla="*/ 1105 w 1107"/>
              <a:gd name="T7" fmla="*/ 15 h 199"/>
              <a:gd name="T8" fmla="*/ 1105 w 1107"/>
              <a:gd name="T9" fmla="*/ 11 h 199"/>
              <a:gd name="T10" fmla="*/ 1103 w 1107"/>
              <a:gd name="T11" fmla="*/ 8 h 199"/>
              <a:gd name="T12" fmla="*/ 1103 w 1107"/>
              <a:gd name="T13" fmla="*/ 5 h 199"/>
              <a:gd name="T14" fmla="*/ 1103 w 1107"/>
              <a:gd name="T15" fmla="*/ 3 h 199"/>
              <a:gd name="T16" fmla="*/ 1102 w 1107"/>
              <a:gd name="T17" fmla="*/ 0 h 199"/>
              <a:gd name="T18" fmla="*/ 1097 w 1107"/>
              <a:gd name="T19" fmla="*/ 0 h 199"/>
              <a:gd name="T20" fmla="*/ 1098 w 1107"/>
              <a:gd name="T21" fmla="*/ 3 h 199"/>
              <a:gd name="T22" fmla="*/ 1098 w 1107"/>
              <a:gd name="T23" fmla="*/ 6 h 199"/>
              <a:gd name="T24" fmla="*/ 1098 w 1107"/>
              <a:gd name="T25" fmla="*/ 10 h 199"/>
              <a:gd name="T26" fmla="*/ 1100 w 1107"/>
              <a:gd name="T27" fmla="*/ 11 h 199"/>
              <a:gd name="T28" fmla="*/ 1100 w 1107"/>
              <a:gd name="T29" fmla="*/ 15 h 199"/>
              <a:gd name="T30" fmla="*/ 1100 w 1107"/>
              <a:gd name="T31" fmla="*/ 18 h 199"/>
              <a:gd name="T32" fmla="*/ 1102 w 1107"/>
              <a:gd name="T33" fmla="*/ 21 h 199"/>
              <a:gd name="T34" fmla="*/ 1102 w 1107"/>
              <a:gd name="T35" fmla="*/ 25 h 199"/>
              <a:gd name="T36" fmla="*/ 1107 w 1107"/>
              <a:gd name="T37" fmla="*/ 23 h 199"/>
              <a:gd name="T38" fmla="*/ 0 w 1107"/>
              <a:gd name="T39" fmla="*/ 174 h 199"/>
              <a:gd name="T40" fmla="*/ 0 w 1107"/>
              <a:gd name="T41" fmla="*/ 177 h 199"/>
              <a:gd name="T42" fmla="*/ 0 w 1107"/>
              <a:gd name="T43" fmla="*/ 180 h 199"/>
              <a:gd name="T44" fmla="*/ 2 w 1107"/>
              <a:gd name="T45" fmla="*/ 184 h 199"/>
              <a:gd name="T46" fmla="*/ 2 w 1107"/>
              <a:gd name="T47" fmla="*/ 187 h 199"/>
              <a:gd name="T48" fmla="*/ 2 w 1107"/>
              <a:gd name="T49" fmla="*/ 189 h 199"/>
              <a:gd name="T50" fmla="*/ 4 w 1107"/>
              <a:gd name="T51" fmla="*/ 192 h 199"/>
              <a:gd name="T52" fmla="*/ 4 w 1107"/>
              <a:gd name="T53" fmla="*/ 195 h 199"/>
              <a:gd name="T54" fmla="*/ 4 w 1107"/>
              <a:gd name="T55" fmla="*/ 199 h 199"/>
              <a:gd name="T56" fmla="*/ 9 w 1107"/>
              <a:gd name="T57" fmla="*/ 199 h 199"/>
              <a:gd name="T58" fmla="*/ 9 w 1107"/>
              <a:gd name="T59" fmla="*/ 195 h 199"/>
              <a:gd name="T60" fmla="*/ 9 w 1107"/>
              <a:gd name="T61" fmla="*/ 192 h 199"/>
              <a:gd name="T62" fmla="*/ 7 w 1107"/>
              <a:gd name="T63" fmla="*/ 189 h 199"/>
              <a:gd name="T64" fmla="*/ 7 w 1107"/>
              <a:gd name="T65" fmla="*/ 185 h 199"/>
              <a:gd name="T66" fmla="*/ 7 w 1107"/>
              <a:gd name="T67" fmla="*/ 182 h 199"/>
              <a:gd name="T68" fmla="*/ 5 w 1107"/>
              <a:gd name="T69" fmla="*/ 179 h 199"/>
              <a:gd name="T70" fmla="*/ 5 w 1107"/>
              <a:gd name="T71" fmla="*/ 175 h 199"/>
              <a:gd name="T72" fmla="*/ 5 w 1107"/>
              <a:gd name="T73" fmla="*/ 172 h 199"/>
              <a:gd name="T74" fmla="*/ 0 w 1107"/>
              <a:gd name="T75" fmla="*/ 17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07" h="199">
                <a:moveTo>
                  <a:pt x="1107" y="23"/>
                </a:moveTo>
                <a:lnTo>
                  <a:pt x="1105" y="20"/>
                </a:lnTo>
                <a:lnTo>
                  <a:pt x="1105" y="16"/>
                </a:lnTo>
                <a:lnTo>
                  <a:pt x="1105" y="15"/>
                </a:lnTo>
                <a:lnTo>
                  <a:pt x="1105" y="11"/>
                </a:lnTo>
                <a:lnTo>
                  <a:pt x="1103" y="8"/>
                </a:lnTo>
                <a:lnTo>
                  <a:pt x="1103" y="5"/>
                </a:lnTo>
                <a:lnTo>
                  <a:pt x="1103" y="3"/>
                </a:lnTo>
                <a:lnTo>
                  <a:pt x="1102" y="0"/>
                </a:lnTo>
                <a:lnTo>
                  <a:pt x="1097" y="0"/>
                </a:lnTo>
                <a:lnTo>
                  <a:pt x="1098" y="3"/>
                </a:lnTo>
                <a:lnTo>
                  <a:pt x="1098" y="6"/>
                </a:lnTo>
                <a:lnTo>
                  <a:pt x="1098" y="10"/>
                </a:lnTo>
                <a:lnTo>
                  <a:pt x="1100" y="11"/>
                </a:lnTo>
                <a:lnTo>
                  <a:pt x="1100" y="15"/>
                </a:lnTo>
                <a:lnTo>
                  <a:pt x="1100" y="18"/>
                </a:lnTo>
                <a:lnTo>
                  <a:pt x="1102" y="21"/>
                </a:lnTo>
                <a:lnTo>
                  <a:pt x="1102" y="25"/>
                </a:lnTo>
                <a:lnTo>
                  <a:pt x="1107" y="23"/>
                </a:lnTo>
                <a:close/>
                <a:moveTo>
                  <a:pt x="0" y="174"/>
                </a:moveTo>
                <a:lnTo>
                  <a:pt x="0" y="177"/>
                </a:lnTo>
                <a:lnTo>
                  <a:pt x="0" y="180"/>
                </a:lnTo>
                <a:lnTo>
                  <a:pt x="2" y="184"/>
                </a:lnTo>
                <a:lnTo>
                  <a:pt x="2" y="187"/>
                </a:lnTo>
                <a:lnTo>
                  <a:pt x="2" y="189"/>
                </a:lnTo>
                <a:lnTo>
                  <a:pt x="4" y="192"/>
                </a:lnTo>
                <a:lnTo>
                  <a:pt x="4" y="195"/>
                </a:lnTo>
                <a:lnTo>
                  <a:pt x="4" y="199"/>
                </a:lnTo>
                <a:lnTo>
                  <a:pt x="9" y="199"/>
                </a:lnTo>
                <a:lnTo>
                  <a:pt x="9" y="195"/>
                </a:lnTo>
                <a:lnTo>
                  <a:pt x="9" y="192"/>
                </a:lnTo>
                <a:lnTo>
                  <a:pt x="7" y="189"/>
                </a:lnTo>
                <a:lnTo>
                  <a:pt x="7" y="185"/>
                </a:lnTo>
                <a:lnTo>
                  <a:pt x="7" y="182"/>
                </a:lnTo>
                <a:lnTo>
                  <a:pt x="5" y="179"/>
                </a:lnTo>
                <a:lnTo>
                  <a:pt x="5" y="175"/>
                </a:lnTo>
                <a:lnTo>
                  <a:pt x="5" y="172"/>
                </a:lnTo>
                <a:lnTo>
                  <a:pt x="0" y="174"/>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86" name="Freeform 1191">
            <a:extLst>
              <a:ext uri="{FF2B5EF4-FFF2-40B4-BE49-F238E27FC236}">
                <a16:creationId xmlns:a16="http://schemas.microsoft.com/office/drawing/2014/main" id="{36956BC2-14FD-6BA2-CA94-D4891DC48B5E}"/>
              </a:ext>
            </a:extLst>
          </p:cNvPr>
          <p:cNvSpPr>
            <a:spLocks noEditPoints="1"/>
          </p:cNvSpPr>
          <p:nvPr/>
        </p:nvSpPr>
        <p:spPr bwMode="auto">
          <a:xfrm>
            <a:off x="2039938" y="2403475"/>
            <a:ext cx="1747838" cy="315913"/>
          </a:xfrm>
          <a:custGeom>
            <a:avLst/>
            <a:gdLst>
              <a:gd name="T0" fmla="*/ 1101 w 1101"/>
              <a:gd name="T1" fmla="*/ 25 h 199"/>
              <a:gd name="T2" fmla="*/ 1101 w 1101"/>
              <a:gd name="T3" fmla="*/ 21 h 199"/>
              <a:gd name="T4" fmla="*/ 1101 w 1101"/>
              <a:gd name="T5" fmla="*/ 18 h 199"/>
              <a:gd name="T6" fmla="*/ 1100 w 1101"/>
              <a:gd name="T7" fmla="*/ 15 h 199"/>
              <a:gd name="T8" fmla="*/ 1100 w 1101"/>
              <a:gd name="T9" fmla="*/ 11 h 199"/>
              <a:gd name="T10" fmla="*/ 1100 w 1101"/>
              <a:gd name="T11" fmla="*/ 8 h 199"/>
              <a:gd name="T12" fmla="*/ 1100 w 1101"/>
              <a:gd name="T13" fmla="*/ 6 h 199"/>
              <a:gd name="T14" fmla="*/ 1098 w 1101"/>
              <a:gd name="T15" fmla="*/ 3 h 199"/>
              <a:gd name="T16" fmla="*/ 1098 w 1101"/>
              <a:gd name="T17" fmla="*/ 0 h 199"/>
              <a:gd name="T18" fmla="*/ 1093 w 1101"/>
              <a:gd name="T19" fmla="*/ 0 h 199"/>
              <a:gd name="T20" fmla="*/ 1093 w 1101"/>
              <a:gd name="T21" fmla="*/ 3 h 199"/>
              <a:gd name="T22" fmla="*/ 1095 w 1101"/>
              <a:gd name="T23" fmla="*/ 6 h 199"/>
              <a:gd name="T24" fmla="*/ 1095 w 1101"/>
              <a:gd name="T25" fmla="*/ 10 h 199"/>
              <a:gd name="T26" fmla="*/ 1095 w 1101"/>
              <a:gd name="T27" fmla="*/ 13 h 199"/>
              <a:gd name="T28" fmla="*/ 1096 w 1101"/>
              <a:gd name="T29" fmla="*/ 16 h 199"/>
              <a:gd name="T30" fmla="*/ 1096 w 1101"/>
              <a:gd name="T31" fmla="*/ 20 h 199"/>
              <a:gd name="T32" fmla="*/ 1096 w 1101"/>
              <a:gd name="T33" fmla="*/ 23 h 199"/>
              <a:gd name="T34" fmla="*/ 1096 w 1101"/>
              <a:gd name="T35" fmla="*/ 26 h 199"/>
              <a:gd name="T36" fmla="*/ 1101 w 1101"/>
              <a:gd name="T37" fmla="*/ 25 h 199"/>
              <a:gd name="T38" fmla="*/ 0 w 1101"/>
              <a:gd name="T39" fmla="*/ 174 h 199"/>
              <a:gd name="T40" fmla="*/ 2 w 1101"/>
              <a:gd name="T41" fmla="*/ 175 h 199"/>
              <a:gd name="T42" fmla="*/ 2 w 1101"/>
              <a:gd name="T43" fmla="*/ 179 h 199"/>
              <a:gd name="T44" fmla="*/ 2 w 1101"/>
              <a:gd name="T45" fmla="*/ 182 h 199"/>
              <a:gd name="T46" fmla="*/ 2 w 1101"/>
              <a:gd name="T47" fmla="*/ 185 h 199"/>
              <a:gd name="T48" fmla="*/ 3 w 1101"/>
              <a:gd name="T49" fmla="*/ 189 h 199"/>
              <a:gd name="T50" fmla="*/ 3 w 1101"/>
              <a:gd name="T51" fmla="*/ 192 h 199"/>
              <a:gd name="T52" fmla="*/ 3 w 1101"/>
              <a:gd name="T53" fmla="*/ 195 h 199"/>
              <a:gd name="T54" fmla="*/ 5 w 1101"/>
              <a:gd name="T55" fmla="*/ 199 h 199"/>
              <a:gd name="T56" fmla="*/ 10 w 1101"/>
              <a:gd name="T57" fmla="*/ 199 h 199"/>
              <a:gd name="T58" fmla="*/ 8 w 1101"/>
              <a:gd name="T59" fmla="*/ 195 h 199"/>
              <a:gd name="T60" fmla="*/ 8 w 1101"/>
              <a:gd name="T61" fmla="*/ 192 h 199"/>
              <a:gd name="T62" fmla="*/ 8 w 1101"/>
              <a:gd name="T63" fmla="*/ 189 h 199"/>
              <a:gd name="T64" fmla="*/ 7 w 1101"/>
              <a:gd name="T65" fmla="*/ 185 h 199"/>
              <a:gd name="T66" fmla="*/ 7 w 1101"/>
              <a:gd name="T67" fmla="*/ 182 h 199"/>
              <a:gd name="T68" fmla="*/ 7 w 1101"/>
              <a:gd name="T69" fmla="*/ 177 h 199"/>
              <a:gd name="T70" fmla="*/ 5 w 1101"/>
              <a:gd name="T71" fmla="*/ 174 h 199"/>
              <a:gd name="T72" fmla="*/ 5 w 1101"/>
              <a:gd name="T73" fmla="*/ 170 h 199"/>
              <a:gd name="T74" fmla="*/ 0 w 1101"/>
              <a:gd name="T75" fmla="*/ 17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01" h="199">
                <a:moveTo>
                  <a:pt x="1101" y="25"/>
                </a:moveTo>
                <a:lnTo>
                  <a:pt x="1101" y="21"/>
                </a:lnTo>
                <a:lnTo>
                  <a:pt x="1101" y="18"/>
                </a:lnTo>
                <a:lnTo>
                  <a:pt x="1100" y="15"/>
                </a:lnTo>
                <a:lnTo>
                  <a:pt x="1100" y="11"/>
                </a:lnTo>
                <a:lnTo>
                  <a:pt x="1100" y="8"/>
                </a:lnTo>
                <a:lnTo>
                  <a:pt x="1100" y="6"/>
                </a:lnTo>
                <a:lnTo>
                  <a:pt x="1098" y="3"/>
                </a:lnTo>
                <a:lnTo>
                  <a:pt x="1098" y="0"/>
                </a:lnTo>
                <a:lnTo>
                  <a:pt x="1093" y="0"/>
                </a:lnTo>
                <a:lnTo>
                  <a:pt x="1093" y="3"/>
                </a:lnTo>
                <a:lnTo>
                  <a:pt x="1095" y="6"/>
                </a:lnTo>
                <a:lnTo>
                  <a:pt x="1095" y="10"/>
                </a:lnTo>
                <a:lnTo>
                  <a:pt x="1095" y="13"/>
                </a:lnTo>
                <a:lnTo>
                  <a:pt x="1096" y="16"/>
                </a:lnTo>
                <a:lnTo>
                  <a:pt x="1096" y="20"/>
                </a:lnTo>
                <a:lnTo>
                  <a:pt x="1096" y="23"/>
                </a:lnTo>
                <a:lnTo>
                  <a:pt x="1096" y="26"/>
                </a:lnTo>
                <a:lnTo>
                  <a:pt x="1101" y="25"/>
                </a:lnTo>
                <a:close/>
                <a:moveTo>
                  <a:pt x="0" y="174"/>
                </a:moveTo>
                <a:lnTo>
                  <a:pt x="2" y="175"/>
                </a:lnTo>
                <a:lnTo>
                  <a:pt x="2" y="179"/>
                </a:lnTo>
                <a:lnTo>
                  <a:pt x="2" y="182"/>
                </a:lnTo>
                <a:lnTo>
                  <a:pt x="2" y="185"/>
                </a:lnTo>
                <a:lnTo>
                  <a:pt x="3" y="189"/>
                </a:lnTo>
                <a:lnTo>
                  <a:pt x="3" y="192"/>
                </a:lnTo>
                <a:lnTo>
                  <a:pt x="3" y="195"/>
                </a:lnTo>
                <a:lnTo>
                  <a:pt x="5" y="199"/>
                </a:lnTo>
                <a:lnTo>
                  <a:pt x="10" y="199"/>
                </a:lnTo>
                <a:lnTo>
                  <a:pt x="8" y="195"/>
                </a:lnTo>
                <a:lnTo>
                  <a:pt x="8" y="192"/>
                </a:lnTo>
                <a:lnTo>
                  <a:pt x="8" y="189"/>
                </a:lnTo>
                <a:lnTo>
                  <a:pt x="7" y="185"/>
                </a:lnTo>
                <a:lnTo>
                  <a:pt x="7" y="182"/>
                </a:lnTo>
                <a:lnTo>
                  <a:pt x="7" y="177"/>
                </a:lnTo>
                <a:lnTo>
                  <a:pt x="5" y="174"/>
                </a:lnTo>
                <a:lnTo>
                  <a:pt x="5" y="170"/>
                </a:lnTo>
                <a:lnTo>
                  <a:pt x="0" y="174"/>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87" name="Freeform 1192">
            <a:extLst>
              <a:ext uri="{FF2B5EF4-FFF2-40B4-BE49-F238E27FC236}">
                <a16:creationId xmlns:a16="http://schemas.microsoft.com/office/drawing/2014/main" id="{FE807F1C-6C05-5379-B788-9346AE5576D0}"/>
              </a:ext>
            </a:extLst>
          </p:cNvPr>
          <p:cNvSpPr>
            <a:spLocks noEditPoints="1"/>
          </p:cNvSpPr>
          <p:nvPr/>
        </p:nvSpPr>
        <p:spPr bwMode="auto">
          <a:xfrm>
            <a:off x="2044700" y="2403475"/>
            <a:ext cx="1741488" cy="315913"/>
          </a:xfrm>
          <a:custGeom>
            <a:avLst/>
            <a:gdLst>
              <a:gd name="T0" fmla="*/ 1097 w 1097"/>
              <a:gd name="T1" fmla="*/ 25 h 199"/>
              <a:gd name="T2" fmla="*/ 1097 w 1097"/>
              <a:gd name="T3" fmla="*/ 21 h 199"/>
              <a:gd name="T4" fmla="*/ 1095 w 1097"/>
              <a:gd name="T5" fmla="*/ 18 h 199"/>
              <a:gd name="T6" fmla="*/ 1095 w 1097"/>
              <a:gd name="T7" fmla="*/ 15 h 199"/>
              <a:gd name="T8" fmla="*/ 1095 w 1097"/>
              <a:gd name="T9" fmla="*/ 11 h 199"/>
              <a:gd name="T10" fmla="*/ 1093 w 1097"/>
              <a:gd name="T11" fmla="*/ 10 h 199"/>
              <a:gd name="T12" fmla="*/ 1093 w 1097"/>
              <a:gd name="T13" fmla="*/ 6 h 199"/>
              <a:gd name="T14" fmla="*/ 1093 w 1097"/>
              <a:gd name="T15" fmla="*/ 3 h 199"/>
              <a:gd name="T16" fmla="*/ 1092 w 1097"/>
              <a:gd name="T17" fmla="*/ 0 h 199"/>
              <a:gd name="T18" fmla="*/ 1088 w 1097"/>
              <a:gd name="T19" fmla="*/ 0 h 199"/>
              <a:gd name="T20" fmla="*/ 1088 w 1097"/>
              <a:gd name="T21" fmla="*/ 3 h 199"/>
              <a:gd name="T22" fmla="*/ 1088 w 1097"/>
              <a:gd name="T23" fmla="*/ 6 h 199"/>
              <a:gd name="T24" fmla="*/ 1090 w 1097"/>
              <a:gd name="T25" fmla="*/ 10 h 199"/>
              <a:gd name="T26" fmla="*/ 1090 w 1097"/>
              <a:gd name="T27" fmla="*/ 13 h 199"/>
              <a:gd name="T28" fmla="*/ 1090 w 1097"/>
              <a:gd name="T29" fmla="*/ 16 h 199"/>
              <a:gd name="T30" fmla="*/ 1092 w 1097"/>
              <a:gd name="T31" fmla="*/ 20 h 199"/>
              <a:gd name="T32" fmla="*/ 1092 w 1097"/>
              <a:gd name="T33" fmla="*/ 23 h 199"/>
              <a:gd name="T34" fmla="*/ 1092 w 1097"/>
              <a:gd name="T35" fmla="*/ 26 h 199"/>
              <a:gd name="T36" fmla="*/ 1097 w 1097"/>
              <a:gd name="T37" fmla="*/ 25 h 199"/>
              <a:gd name="T38" fmla="*/ 0 w 1097"/>
              <a:gd name="T39" fmla="*/ 172 h 199"/>
              <a:gd name="T40" fmla="*/ 0 w 1097"/>
              <a:gd name="T41" fmla="*/ 175 h 199"/>
              <a:gd name="T42" fmla="*/ 0 w 1097"/>
              <a:gd name="T43" fmla="*/ 179 h 199"/>
              <a:gd name="T44" fmla="*/ 2 w 1097"/>
              <a:gd name="T45" fmla="*/ 182 h 199"/>
              <a:gd name="T46" fmla="*/ 2 w 1097"/>
              <a:gd name="T47" fmla="*/ 185 h 199"/>
              <a:gd name="T48" fmla="*/ 2 w 1097"/>
              <a:gd name="T49" fmla="*/ 189 h 199"/>
              <a:gd name="T50" fmla="*/ 4 w 1097"/>
              <a:gd name="T51" fmla="*/ 192 h 199"/>
              <a:gd name="T52" fmla="*/ 4 w 1097"/>
              <a:gd name="T53" fmla="*/ 195 h 199"/>
              <a:gd name="T54" fmla="*/ 4 w 1097"/>
              <a:gd name="T55" fmla="*/ 199 h 199"/>
              <a:gd name="T56" fmla="*/ 9 w 1097"/>
              <a:gd name="T57" fmla="*/ 199 h 199"/>
              <a:gd name="T58" fmla="*/ 9 w 1097"/>
              <a:gd name="T59" fmla="*/ 195 h 199"/>
              <a:gd name="T60" fmla="*/ 7 w 1097"/>
              <a:gd name="T61" fmla="*/ 192 h 199"/>
              <a:gd name="T62" fmla="*/ 7 w 1097"/>
              <a:gd name="T63" fmla="*/ 187 h 199"/>
              <a:gd name="T64" fmla="*/ 7 w 1097"/>
              <a:gd name="T65" fmla="*/ 184 h 199"/>
              <a:gd name="T66" fmla="*/ 5 w 1097"/>
              <a:gd name="T67" fmla="*/ 180 h 199"/>
              <a:gd name="T68" fmla="*/ 5 w 1097"/>
              <a:gd name="T69" fmla="*/ 177 h 199"/>
              <a:gd name="T70" fmla="*/ 5 w 1097"/>
              <a:gd name="T71" fmla="*/ 174 h 199"/>
              <a:gd name="T72" fmla="*/ 4 w 1097"/>
              <a:gd name="T73" fmla="*/ 170 h 199"/>
              <a:gd name="T74" fmla="*/ 0 w 1097"/>
              <a:gd name="T75" fmla="*/ 17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97" h="199">
                <a:moveTo>
                  <a:pt x="1097" y="25"/>
                </a:moveTo>
                <a:lnTo>
                  <a:pt x="1097" y="21"/>
                </a:lnTo>
                <a:lnTo>
                  <a:pt x="1095" y="18"/>
                </a:lnTo>
                <a:lnTo>
                  <a:pt x="1095" y="15"/>
                </a:lnTo>
                <a:lnTo>
                  <a:pt x="1095" y="11"/>
                </a:lnTo>
                <a:lnTo>
                  <a:pt x="1093" y="10"/>
                </a:lnTo>
                <a:lnTo>
                  <a:pt x="1093" y="6"/>
                </a:lnTo>
                <a:lnTo>
                  <a:pt x="1093" y="3"/>
                </a:lnTo>
                <a:lnTo>
                  <a:pt x="1092" y="0"/>
                </a:lnTo>
                <a:lnTo>
                  <a:pt x="1088" y="0"/>
                </a:lnTo>
                <a:lnTo>
                  <a:pt x="1088" y="3"/>
                </a:lnTo>
                <a:lnTo>
                  <a:pt x="1088" y="6"/>
                </a:lnTo>
                <a:lnTo>
                  <a:pt x="1090" y="10"/>
                </a:lnTo>
                <a:lnTo>
                  <a:pt x="1090" y="13"/>
                </a:lnTo>
                <a:lnTo>
                  <a:pt x="1090" y="16"/>
                </a:lnTo>
                <a:lnTo>
                  <a:pt x="1092" y="20"/>
                </a:lnTo>
                <a:lnTo>
                  <a:pt x="1092" y="23"/>
                </a:lnTo>
                <a:lnTo>
                  <a:pt x="1092" y="26"/>
                </a:lnTo>
                <a:lnTo>
                  <a:pt x="1097" y="25"/>
                </a:lnTo>
                <a:close/>
                <a:moveTo>
                  <a:pt x="0" y="172"/>
                </a:moveTo>
                <a:lnTo>
                  <a:pt x="0" y="175"/>
                </a:lnTo>
                <a:lnTo>
                  <a:pt x="0" y="179"/>
                </a:lnTo>
                <a:lnTo>
                  <a:pt x="2" y="182"/>
                </a:lnTo>
                <a:lnTo>
                  <a:pt x="2" y="185"/>
                </a:lnTo>
                <a:lnTo>
                  <a:pt x="2" y="189"/>
                </a:lnTo>
                <a:lnTo>
                  <a:pt x="4" y="192"/>
                </a:lnTo>
                <a:lnTo>
                  <a:pt x="4" y="195"/>
                </a:lnTo>
                <a:lnTo>
                  <a:pt x="4" y="199"/>
                </a:lnTo>
                <a:lnTo>
                  <a:pt x="9" y="199"/>
                </a:lnTo>
                <a:lnTo>
                  <a:pt x="9" y="195"/>
                </a:lnTo>
                <a:lnTo>
                  <a:pt x="7" y="192"/>
                </a:lnTo>
                <a:lnTo>
                  <a:pt x="7" y="187"/>
                </a:lnTo>
                <a:lnTo>
                  <a:pt x="7" y="184"/>
                </a:lnTo>
                <a:lnTo>
                  <a:pt x="5" y="180"/>
                </a:lnTo>
                <a:lnTo>
                  <a:pt x="5" y="177"/>
                </a:lnTo>
                <a:lnTo>
                  <a:pt x="5" y="174"/>
                </a:lnTo>
                <a:lnTo>
                  <a:pt x="4" y="170"/>
                </a:lnTo>
                <a:lnTo>
                  <a:pt x="0" y="172"/>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88" name="Freeform 1193">
            <a:extLst>
              <a:ext uri="{FF2B5EF4-FFF2-40B4-BE49-F238E27FC236}">
                <a16:creationId xmlns:a16="http://schemas.microsoft.com/office/drawing/2014/main" id="{8C558DE5-1732-1212-CEDC-3180D1AE8093}"/>
              </a:ext>
            </a:extLst>
          </p:cNvPr>
          <p:cNvSpPr>
            <a:spLocks noEditPoints="1"/>
          </p:cNvSpPr>
          <p:nvPr/>
        </p:nvSpPr>
        <p:spPr bwMode="auto">
          <a:xfrm>
            <a:off x="2047875" y="2403475"/>
            <a:ext cx="1731963" cy="315913"/>
          </a:xfrm>
          <a:custGeom>
            <a:avLst/>
            <a:gdLst>
              <a:gd name="T0" fmla="*/ 1091 w 1091"/>
              <a:gd name="T1" fmla="*/ 26 h 199"/>
              <a:gd name="T2" fmla="*/ 1091 w 1091"/>
              <a:gd name="T3" fmla="*/ 23 h 199"/>
              <a:gd name="T4" fmla="*/ 1091 w 1091"/>
              <a:gd name="T5" fmla="*/ 20 h 199"/>
              <a:gd name="T6" fmla="*/ 1091 w 1091"/>
              <a:gd name="T7" fmla="*/ 16 h 199"/>
              <a:gd name="T8" fmla="*/ 1090 w 1091"/>
              <a:gd name="T9" fmla="*/ 13 h 199"/>
              <a:gd name="T10" fmla="*/ 1090 w 1091"/>
              <a:gd name="T11" fmla="*/ 10 h 199"/>
              <a:gd name="T12" fmla="*/ 1090 w 1091"/>
              <a:gd name="T13" fmla="*/ 6 h 199"/>
              <a:gd name="T14" fmla="*/ 1088 w 1091"/>
              <a:gd name="T15" fmla="*/ 3 h 199"/>
              <a:gd name="T16" fmla="*/ 1088 w 1091"/>
              <a:gd name="T17" fmla="*/ 0 h 199"/>
              <a:gd name="T18" fmla="*/ 1083 w 1091"/>
              <a:gd name="T19" fmla="*/ 0 h 199"/>
              <a:gd name="T20" fmla="*/ 1083 w 1091"/>
              <a:gd name="T21" fmla="*/ 3 h 199"/>
              <a:gd name="T22" fmla="*/ 1085 w 1091"/>
              <a:gd name="T23" fmla="*/ 6 h 199"/>
              <a:gd name="T24" fmla="*/ 1085 w 1091"/>
              <a:gd name="T25" fmla="*/ 10 h 199"/>
              <a:gd name="T26" fmla="*/ 1086 w 1091"/>
              <a:gd name="T27" fmla="*/ 13 h 199"/>
              <a:gd name="T28" fmla="*/ 1086 w 1091"/>
              <a:gd name="T29" fmla="*/ 18 h 199"/>
              <a:gd name="T30" fmla="*/ 1086 w 1091"/>
              <a:gd name="T31" fmla="*/ 21 h 199"/>
              <a:gd name="T32" fmla="*/ 1086 w 1091"/>
              <a:gd name="T33" fmla="*/ 25 h 199"/>
              <a:gd name="T34" fmla="*/ 1088 w 1091"/>
              <a:gd name="T35" fmla="*/ 28 h 199"/>
              <a:gd name="T36" fmla="*/ 1091 w 1091"/>
              <a:gd name="T37" fmla="*/ 26 h 199"/>
              <a:gd name="T38" fmla="*/ 0 w 1091"/>
              <a:gd name="T39" fmla="*/ 170 h 199"/>
              <a:gd name="T40" fmla="*/ 0 w 1091"/>
              <a:gd name="T41" fmla="*/ 174 h 199"/>
              <a:gd name="T42" fmla="*/ 2 w 1091"/>
              <a:gd name="T43" fmla="*/ 177 h 199"/>
              <a:gd name="T44" fmla="*/ 2 w 1091"/>
              <a:gd name="T45" fmla="*/ 182 h 199"/>
              <a:gd name="T46" fmla="*/ 2 w 1091"/>
              <a:gd name="T47" fmla="*/ 185 h 199"/>
              <a:gd name="T48" fmla="*/ 3 w 1091"/>
              <a:gd name="T49" fmla="*/ 189 h 199"/>
              <a:gd name="T50" fmla="*/ 3 w 1091"/>
              <a:gd name="T51" fmla="*/ 192 h 199"/>
              <a:gd name="T52" fmla="*/ 3 w 1091"/>
              <a:gd name="T53" fmla="*/ 195 h 199"/>
              <a:gd name="T54" fmla="*/ 5 w 1091"/>
              <a:gd name="T55" fmla="*/ 199 h 199"/>
              <a:gd name="T56" fmla="*/ 10 w 1091"/>
              <a:gd name="T57" fmla="*/ 199 h 199"/>
              <a:gd name="T58" fmla="*/ 8 w 1091"/>
              <a:gd name="T59" fmla="*/ 195 h 199"/>
              <a:gd name="T60" fmla="*/ 8 w 1091"/>
              <a:gd name="T61" fmla="*/ 190 h 199"/>
              <a:gd name="T62" fmla="*/ 7 w 1091"/>
              <a:gd name="T63" fmla="*/ 187 h 199"/>
              <a:gd name="T64" fmla="*/ 7 w 1091"/>
              <a:gd name="T65" fmla="*/ 184 h 199"/>
              <a:gd name="T66" fmla="*/ 7 w 1091"/>
              <a:gd name="T67" fmla="*/ 180 h 199"/>
              <a:gd name="T68" fmla="*/ 5 w 1091"/>
              <a:gd name="T69" fmla="*/ 175 h 199"/>
              <a:gd name="T70" fmla="*/ 5 w 1091"/>
              <a:gd name="T71" fmla="*/ 172 h 199"/>
              <a:gd name="T72" fmla="*/ 5 w 1091"/>
              <a:gd name="T73" fmla="*/ 169 h 199"/>
              <a:gd name="T74" fmla="*/ 0 w 1091"/>
              <a:gd name="T75" fmla="*/ 17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91" h="199">
                <a:moveTo>
                  <a:pt x="1091" y="26"/>
                </a:moveTo>
                <a:lnTo>
                  <a:pt x="1091" y="23"/>
                </a:lnTo>
                <a:lnTo>
                  <a:pt x="1091" y="20"/>
                </a:lnTo>
                <a:lnTo>
                  <a:pt x="1091" y="16"/>
                </a:lnTo>
                <a:lnTo>
                  <a:pt x="1090" y="13"/>
                </a:lnTo>
                <a:lnTo>
                  <a:pt x="1090" y="10"/>
                </a:lnTo>
                <a:lnTo>
                  <a:pt x="1090" y="6"/>
                </a:lnTo>
                <a:lnTo>
                  <a:pt x="1088" y="3"/>
                </a:lnTo>
                <a:lnTo>
                  <a:pt x="1088" y="0"/>
                </a:lnTo>
                <a:lnTo>
                  <a:pt x="1083" y="0"/>
                </a:lnTo>
                <a:lnTo>
                  <a:pt x="1083" y="3"/>
                </a:lnTo>
                <a:lnTo>
                  <a:pt x="1085" y="6"/>
                </a:lnTo>
                <a:lnTo>
                  <a:pt x="1085" y="10"/>
                </a:lnTo>
                <a:lnTo>
                  <a:pt x="1086" y="13"/>
                </a:lnTo>
                <a:lnTo>
                  <a:pt x="1086" y="18"/>
                </a:lnTo>
                <a:lnTo>
                  <a:pt x="1086" y="21"/>
                </a:lnTo>
                <a:lnTo>
                  <a:pt x="1086" y="25"/>
                </a:lnTo>
                <a:lnTo>
                  <a:pt x="1088" y="28"/>
                </a:lnTo>
                <a:lnTo>
                  <a:pt x="1091" y="26"/>
                </a:lnTo>
                <a:close/>
                <a:moveTo>
                  <a:pt x="0" y="170"/>
                </a:moveTo>
                <a:lnTo>
                  <a:pt x="0" y="174"/>
                </a:lnTo>
                <a:lnTo>
                  <a:pt x="2" y="177"/>
                </a:lnTo>
                <a:lnTo>
                  <a:pt x="2" y="182"/>
                </a:lnTo>
                <a:lnTo>
                  <a:pt x="2" y="185"/>
                </a:lnTo>
                <a:lnTo>
                  <a:pt x="3" y="189"/>
                </a:lnTo>
                <a:lnTo>
                  <a:pt x="3" y="192"/>
                </a:lnTo>
                <a:lnTo>
                  <a:pt x="3" y="195"/>
                </a:lnTo>
                <a:lnTo>
                  <a:pt x="5" y="199"/>
                </a:lnTo>
                <a:lnTo>
                  <a:pt x="10" y="199"/>
                </a:lnTo>
                <a:lnTo>
                  <a:pt x="8" y="195"/>
                </a:lnTo>
                <a:lnTo>
                  <a:pt x="8" y="190"/>
                </a:lnTo>
                <a:lnTo>
                  <a:pt x="7" y="187"/>
                </a:lnTo>
                <a:lnTo>
                  <a:pt x="7" y="184"/>
                </a:lnTo>
                <a:lnTo>
                  <a:pt x="7" y="180"/>
                </a:lnTo>
                <a:lnTo>
                  <a:pt x="5" y="175"/>
                </a:lnTo>
                <a:lnTo>
                  <a:pt x="5" y="172"/>
                </a:lnTo>
                <a:lnTo>
                  <a:pt x="5" y="169"/>
                </a:lnTo>
                <a:lnTo>
                  <a:pt x="0" y="17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89" name="Freeform 1194">
            <a:extLst>
              <a:ext uri="{FF2B5EF4-FFF2-40B4-BE49-F238E27FC236}">
                <a16:creationId xmlns:a16="http://schemas.microsoft.com/office/drawing/2014/main" id="{B0E81AA9-C131-30A5-CA3C-AF7D1FCC36C2}"/>
              </a:ext>
            </a:extLst>
          </p:cNvPr>
          <p:cNvSpPr>
            <a:spLocks noEditPoints="1"/>
          </p:cNvSpPr>
          <p:nvPr/>
        </p:nvSpPr>
        <p:spPr bwMode="auto">
          <a:xfrm>
            <a:off x="2051050" y="2403475"/>
            <a:ext cx="1727200" cy="315913"/>
          </a:xfrm>
          <a:custGeom>
            <a:avLst/>
            <a:gdLst>
              <a:gd name="T0" fmla="*/ 1088 w 1088"/>
              <a:gd name="T1" fmla="*/ 26 h 199"/>
              <a:gd name="T2" fmla="*/ 1088 w 1088"/>
              <a:gd name="T3" fmla="*/ 23 h 199"/>
              <a:gd name="T4" fmla="*/ 1088 w 1088"/>
              <a:gd name="T5" fmla="*/ 20 h 199"/>
              <a:gd name="T6" fmla="*/ 1086 w 1088"/>
              <a:gd name="T7" fmla="*/ 16 h 199"/>
              <a:gd name="T8" fmla="*/ 1086 w 1088"/>
              <a:gd name="T9" fmla="*/ 13 h 199"/>
              <a:gd name="T10" fmla="*/ 1086 w 1088"/>
              <a:gd name="T11" fmla="*/ 10 h 199"/>
              <a:gd name="T12" fmla="*/ 1084 w 1088"/>
              <a:gd name="T13" fmla="*/ 6 h 199"/>
              <a:gd name="T14" fmla="*/ 1084 w 1088"/>
              <a:gd name="T15" fmla="*/ 3 h 199"/>
              <a:gd name="T16" fmla="*/ 1084 w 1088"/>
              <a:gd name="T17" fmla="*/ 0 h 199"/>
              <a:gd name="T18" fmla="*/ 1079 w 1088"/>
              <a:gd name="T19" fmla="*/ 0 h 199"/>
              <a:gd name="T20" fmla="*/ 1079 w 1088"/>
              <a:gd name="T21" fmla="*/ 3 h 199"/>
              <a:gd name="T22" fmla="*/ 1079 w 1088"/>
              <a:gd name="T23" fmla="*/ 6 h 199"/>
              <a:gd name="T24" fmla="*/ 1081 w 1088"/>
              <a:gd name="T25" fmla="*/ 10 h 199"/>
              <a:gd name="T26" fmla="*/ 1081 w 1088"/>
              <a:gd name="T27" fmla="*/ 15 h 199"/>
              <a:gd name="T28" fmla="*/ 1081 w 1088"/>
              <a:gd name="T29" fmla="*/ 18 h 199"/>
              <a:gd name="T30" fmla="*/ 1083 w 1088"/>
              <a:gd name="T31" fmla="*/ 21 h 199"/>
              <a:gd name="T32" fmla="*/ 1083 w 1088"/>
              <a:gd name="T33" fmla="*/ 25 h 199"/>
              <a:gd name="T34" fmla="*/ 1083 w 1088"/>
              <a:gd name="T35" fmla="*/ 30 h 199"/>
              <a:gd name="T36" fmla="*/ 1088 w 1088"/>
              <a:gd name="T37" fmla="*/ 26 h 199"/>
              <a:gd name="T38" fmla="*/ 0 w 1088"/>
              <a:gd name="T39" fmla="*/ 170 h 199"/>
              <a:gd name="T40" fmla="*/ 1 w 1088"/>
              <a:gd name="T41" fmla="*/ 174 h 199"/>
              <a:gd name="T42" fmla="*/ 1 w 1088"/>
              <a:gd name="T43" fmla="*/ 177 h 199"/>
              <a:gd name="T44" fmla="*/ 1 w 1088"/>
              <a:gd name="T45" fmla="*/ 180 h 199"/>
              <a:gd name="T46" fmla="*/ 3 w 1088"/>
              <a:gd name="T47" fmla="*/ 184 h 199"/>
              <a:gd name="T48" fmla="*/ 3 w 1088"/>
              <a:gd name="T49" fmla="*/ 187 h 199"/>
              <a:gd name="T50" fmla="*/ 3 w 1088"/>
              <a:gd name="T51" fmla="*/ 192 h 199"/>
              <a:gd name="T52" fmla="*/ 5 w 1088"/>
              <a:gd name="T53" fmla="*/ 195 h 199"/>
              <a:gd name="T54" fmla="*/ 5 w 1088"/>
              <a:gd name="T55" fmla="*/ 199 h 199"/>
              <a:gd name="T56" fmla="*/ 9 w 1088"/>
              <a:gd name="T57" fmla="*/ 199 h 199"/>
              <a:gd name="T58" fmla="*/ 9 w 1088"/>
              <a:gd name="T59" fmla="*/ 195 h 199"/>
              <a:gd name="T60" fmla="*/ 8 w 1088"/>
              <a:gd name="T61" fmla="*/ 190 h 199"/>
              <a:gd name="T62" fmla="*/ 8 w 1088"/>
              <a:gd name="T63" fmla="*/ 187 h 199"/>
              <a:gd name="T64" fmla="*/ 8 w 1088"/>
              <a:gd name="T65" fmla="*/ 184 h 199"/>
              <a:gd name="T66" fmla="*/ 6 w 1088"/>
              <a:gd name="T67" fmla="*/ 179 h 199"/>
              <a:gd name="T68" fmla="*/ 6 w 1088"/>
              <a:gd name="T69" fmla="*/ 175 h 199"/>
              <a:gd name="T70" fmla="*/ 6 w 1088"/>
              <a:gd name="T71" fmla="*/ 172 h 199"/>
              <a:gd name="T72" fmla="*/ 5 w 1088"/>
              <a:gd name="T73" fmla="*/ 167 h 199"/>
              <a:gd name="T74" fmla="*/ 0 w 1088"/>
              <a:gd name="T75" fmla="*/ 17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88" h="199">
                <a:moveTo>
                  <a:pt x="1088" y="26"/>
                </a:moveTo>
                <a:lnTo>
                  <a:pt x="1088" y="23"/>
                </a:lnTo>
                <a:lnTo>
                  <a:pt x="1088" y="20"/>
                </a:lnTo>
                <a:lnTo>
                  <a:pt x="1086" y="16"/>
                </a:lnTo>
                <a:lnTo>
                  <a:pt x="1086" y="13"/>
                </a:lnTo>
                <a:lnTo>
                  <a:pt x="1086" y="10"/>
                </a:lnTo>
                <a:lnTo>
                  <a:pt x="1084" y="6"/>
                </a:lnTo>
                <a:lnTo>
                  <a:pt x="1084" y="3"/>
                </a:lnTo>
                <a:lnTo>
                  <a:pt x="1084" y="0"/>
                </a:lnTo>
                <a:lnTo>
                  <a:pt x="1079" y="0"/>
                </a:lnTo>
                <a:lnTo>
                  <a:pt x="1079" y="3"/>
                </a:lnTo>
                <a:lnTo>
                  <a:pt x="1079" y="6"/>
                </a:lnTo>
                <a:lnTo>
                  <a:pt x="1081" y="10"/>
                </a:lnTo>
                <a:lnTo>
                  <a:pt x="1081" y="15"/>
                </a:lnTo>
                <a:lnTo>
                  <a:pt x="1081" y="18"/>
                </a:lnTo>
                <a:lnTo>
                  <a:pt x="1083" y="21"/>
                </a:lnTo>
                <a:lnTo>
                  <a:pt x="1083" y="25"/>
                </a:lnTo>
                <a:lnTo>
                  <a:pt x="1083" y="30"/>
                </a:lnTo>
                <a:lnTo>
                  <a:pt x="1088" y="26"/>
                </a:lnTo>
                <a:close/>
                <a:moveTo>
                  <a:pt x="0" y="170"/>
                </a:moveTo>
                <a:lnTo>
                  <a:pt x="1" y="174"/>
                </a:lnTo>
                <a:lnTo>
                  <a:pt x="1" y="177"/>
                </a:lnTo>
                <a:lnTo>
                  <a:pt x="1" y="180"/>
                </a:lnTo>
                <a:lnTo>
                  <a:pt x="3" y="184"/>
                </a:lnTo>
                <a:lnTo>
                  <a:pt x="3" y="187"/>
                </a:lnTo>
                <a:lnTo>
                  <a:pt x="3" y="192"/>
                </a:lnTo>
                <a:lnTo>
                  <a:pt x="5" y="195"/>
                </a:lnTo>
                <a:lnTo>
                  <a:pt x="5" y="199"/>
                </a:lnTo>
                <a:lnTo>
                  <a:pt x="9" y="199"/>
                </a:lnTo>
                <a:lnTo>
                  <a:pt x="9" y="195"/>
                </a:lnTo>
                <a:lnTo>
                  <a:pt x="8" y="190"/>
                </a:lnTo>
                <a:lnTo>
                  <a:pt x="8" y="187"/>
                </a:lnTo>
                <a:lnTo>
                  <a:pt x="8" y="184"/>
                </a:lnTo>
                <a:lnTo>
                  <a:pt x="6" y="179"/>
                </a:lnTo>
                <a:lnTo>
                  <a:pt x="6" y="175"/>
                </a:lnTo>
                <a:lnTo>
                  <a:pt x="6" y="172"/>
                </a:lnTo>
                <a:lnTo>
                  <a:pt x="5" y="167"/>
                </a:lnTo>
                <a:lnTo>
                  <a:pt x="0" y="17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90" name="Freeform 1195">
            <a:extLst>
              <a:ext uri="{FF2B5EF4-FFF2-40B4-BE49-F238E27FC236}">
                <a16:creationId xmlns:a16="http://schemas.microsoft.com/office/drawing/2014/main" id="{390DDCFF-DF4A-EBD4-9B1A-D6E9BC053A39}"/>
              </a:ext>
            </a:extLst>
          </p:cNvPr>
          <p:cNvSpPr>
            <a:spLocks noEditPoints="1"/>
          </p:cNvSpPr>
          <p:nvPr/>
        </p:nvSpPr>
        <p:spPr bwMode="auto">
          <a:xfrm>
            <a:off x="2055813" y="2403475"/>
            <a:ext cx="1719263" cy="315913"/>
          </a:xfrm>
          <a:custGeom>
            <a:avLst/>
            <a:gdLst>
              <a:gd name="T0" fmla="*/ 1083 w 1083"/>
              <a:gd name="T1" fmla="*/ 28 h 199"/>
              <a:gd name="T2" fmla="*/ 1081 w 1083"/>
              <a:gd name="T3" fmla="*/ 25 h 199"/>
              <a:gd name="T4" fmla="*/ 1081 w 1083"/>
              <a:gd name="T5" fmla="*/ 21 h 199"/>
              <a:gd name="T6" fmla="*/ 1081 w 1083"/>
              <a:gd name="T7" fmla="*/ 18 h 199"/>
              <a:gd name="T8" fmla="*/ 1081 w 1083"/>
              <a:gd name="T9" fmla="*/ 13 h 199"/>
              <a:gd name="T10" fmla="*/ 1080 w 1083"/>
              <a:gd name="T11" fmla="*/ 10 h 199"/>
              <a:gd name="T12" fmla="*/ 1080 w 1083"/>
              <a:gd name="T13" fmla="*/ 6 h 199"/>
              <a:gd name="T14" fmla="*/ 1078 w 1083"/>
              <a:gd name="T15" fmla="*/ 3 h 199"/>
              <a:gd name="T16" fmla="*/ 1078 w 1083"/>
              <a:gd name="T17" fmla="*/ 0 h 199"/>
              <a:gd name="T18" fmla="*/ 1073 w 1083"/>
              <a:gd name="T19" fmla="*/ 0 h 199"/>
              <a:gd name="T20" fmla="*/ 1075 w 1083"/>
              <a:gd name="T21" fmla="*/ 3 h 199"/>
              <a:gd name="T22" fmla="*/ 1075 w 1083"/>
              <a:gd name="T23" fmla="*/ 6 h 199"/>
              <a:gd name="T24" fmla="*/ 1075 w 1083"/>
              <a:gd name="T25" fmla="*/ 11 h 199"/>
              <a:gd name="T26" fmla="*/ 1076 w 1083"/>
              <a:gd name="T27" fmla="*/ 15 h 199"/>
              <a:gd name="T28" fmla="*/ 1076 w 1083"/>
              <a:gd name="T29" fmla="*/ 18 h 199"/>
              <a:gd name="T30" fmla="*/ 1076 w 1083"/>
              <a:gd name="T31" fmla="*/ 23 h 199"/>
              <a:gd name="T32" fmla="*/ 1078 w 1083"/>
              <a:gd name="T33" fmla="*/ 26 h 199"/>
              <a:gd name="T34" fmla="*/ 1078 w 1083"/>
              <a:gd name="T35" fmla="*/ 30 h 199"/>
              <a:gd name="T36" fmla="*/ 1083 w 1083"/>
              <a:gd name="T37" fmla="*/ 28 h 199"/>
              <a:gd name="T38" fmla="*/ 0 w 1083"/>
              <a:gd name="T39" fmla="*/ 169 h 199"/>
              <a:gd name="T40" fmla="*/ 0 w 1083"/>
              <a:gd name="T41" fmla="*/ 172 h 199"/>
              <a:gd name="T42" fmla="*/ 0 w 1083"/>
              <a:gd name="T43" fmla="*/ 175 h 199"/>
              <a:gd name="T44" fmla="*/ 2 w 1083"/>
              <a:gd name="T45" fmla="*/ 180 h 199"/>
              <a:gd name="T46" fmla="*/ 2 w 1083"/>
              <a:gd name="T47" fmla="*/ 184 h 199"/>
              <a:gd name="T48" fmla="*/ 2 w 1083"/>
              <a:gd name="T49" fmla="*/ 187 h 199"/>
              <a:gd name="T50" fmla="*/ 3 w 1083"/>
              <a:gd name="T51" fmla="*/ 190 h 199"/>
              <a:gd name="T52" fmla="*/ 3 w 1083"/>
              <a:gd name="T53" fmla="*/ 195 h 199"/>
              <a:gd name="T54" fmla="*/ 5 w 1083"/>
              <a:gd name="T55" fmla="*/ 199 h 199"/>
              <a:gd name="T56" fmla="*/ 10 w 1083"/>
              <a:gd name="T57" fmla="*/ 199 h 199"/>
              <a:gd name="T58" fmla="*/ 8 w 1083"/>
              <a:gd name="T59" fmla="*/ 195 h 199"/>
              <a:gd name="T60" fmla="*/ 8 w 1083"/>
              <a:gd name="T61" fmla="*/ 190 h 199"/>
              <a:gd name="T62" fmla="*/ 6 w 1083"/>
              <a:gd name="T63" fmla="*/ 187 h 199"/>
              <a:gd name="T64" fmla="*/ 6 w 1083"/>
              <a:gd name="T65" fmla="*/ 182 h 199"/>
              <a:gd name="T66" fmla="*/ 6 w 1083"/>
              <a:gd name="T67" fmla="*/ 179 h 199"/>
              <a:gd name="T68" fmla="*/ 5 w 1083"/>
              <a:gd name="T69" fmla="*/ 174 h 199"/>
              <a:gd name="T70" fmla="*/ 5 w 1083"/>
              <a:gd name="T71" fmla="*/ 170 h 199"/>
              <a:gd name="T72" fmla="*/ 5 w 1083"/>
              <a:gd name="T73" fmla="*/ 167 h 199"/>
              <a:gd name="T74" fmla="*/ 0 w 1083"/>
              <a:gd name="T75" fmla="*/ 16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83" h="199">
                <a:moveTo>
                  <a:pt x="1083" y="28"/>
                </a:moveTo>
                <a:lnTo>
                  <a:pt x="1081" y="25"/>
                </a:lnTo>
                <a:lnTo>
                  <a:pt x="1081" y="21"/>
                </a:lnTo>
                <a:lnTo>
                  <a:pt x="1081" y="18"/>
                </a:lnTo>
                <a:lnTo>
                  <a:pt x="1081" y="13"/>
                </a:lnTo>
                <a:lnTo>
                  <a:pt x="1080" y="10"/>
                </a:lnTo>
                <a:lnTo>
                  <a:pt x="1080" y="6"/>
                </a:lnTo>
                <a:lnTo>
                  <a:pt x="1078" y="3"/>
                </a:lnTo>
                <a:lnTo>
                  <a:pt x="1078" y="0"/>
                </a:lnTo>
                <a:lnTo>
                  <a:pt x="1073" y="0"/>
                </a:lnTo>
                <a:lnTo>
                  <a:pt x="1075" y="3"/>
                </a:lnTo>
                <a:lnTo>
                  <a:pt x="1075" y="6"/>
                </a:lnTo>
                <a:lnTo>
                  <a:pt x="1075" y="11"/>
                </a:lnTo>
                <a:lnTo>
                  <a:pt x="1076" y="15"/>
                </a:lnTo>
                <a:lnTo>
                  <a:pt x="1076" y="18"/>
                </a:lnTo>
                <a:lnTo>
                  <a:pt x="1076" y="23"/>
                </a:lnTo>
                <a:lnTo>
                  <a:pt x="1078" y="26"/>
                </a:lnTo>
                <a:lnTo>
                  <a:pt x="1078" y="30"/>
                </a:lnTo>
                <a:lnTo>
                  <a:pt x="1083" y="28"/>
                </a:lnTo>
                <a:close/>
                <a:moveTo>
                  <a:pt x="0" y="169"/>
                </a:moveTo>
                <a:lnTo>
                  <a:pt x="0" y="172"/>
                </a:lnTo>
                <a:lnTo>
                  <a:pt x="0" y="175"/>
                </a:lnTo>
                <a:lnTo>
                  <a:pt x="2" y="180"/>
                </a:lnTo>
                <a:lnTo>
                  <a:pt x="2" y="184"/>
                </a:lnTo>
                <a:lnTo>
                  <a:pt x="2" y="187"/>
                </a:lnTo>
                <a:lnTo>
                  <a:pt x="3" y="190"/>
                </a:lnTo>
                <a:lnTo>
                  <a:pt x="3" y="195"/>
                </a:lnTo>
                <a:lnTo>
                  <a:pt x="5" y="199"/>
                </a:lnTo>
                <a:lnTo>
                  <a:pt x="10" y="199"/>
                </a:lnTo>
                <a:lnTo>
                  <a:pt x="8" y="195"/>
                </a:lnTo>
                <a:lnTo>
                  <a:pt x="8" y="190"/>
                </a:lnTo>
                <a:lnTo>
                  <a:pt x="6" y="187"/>
                </a:lnTo>
                <a:lnTo>
                  <a:pt x="6" y="182"/>
                </a:lnTo>
                <a:lnTo>
                  <a:pt x="6" y="179"/>
                </a:lnTo>
                <a:lnTo>
                  <a:pt x="5" y="174"/>
                </a:lnTo>
                <a:lnTo>
                  <a:pt x="5" y="170"/>
                </a:lnTo>
                <a:lnTo>
                  <a:pt x="5" y="167"/>
                </a:lnTo>
                <a:lnTo>
                  <a:pt x="0" y="169"/>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91" name="Freeform 1196">
            <a:extLst>
              <a:ext uri="{FF2B5EF4-FFF2-40B4-BE49-F238E27FC236}">
                <a16:creationId xmlns:a16="http://schemas.microsoft.com/office/drawing/2014/main" id="{65604681-8B77-A967-709A-11A506BDFADD}"/>
              </a:ext>
            </a:extLst>
          </p:cNvPr>
          <p:cNvSpPr>
            <a:spLocks noEditPoints="1"/>
          </p:cNvSpPr>
          <p:nvPr/>
        </p:nvSpPr>
        <p:spPr bwMode="auto">
          <a:xfrm>
            <a:off x="2058988" y="2403475"/>
            <a:ext cx="1711325" cy="315913"/>
          </a:xfrm>
          <a:custGeom>
            <a:avLst/>
            <a:gdLst>
              <a:gd name="T0" fmla="*/ 1078 w 1078"/>
              <a:gd name="T1" fmla="*/ 30 h 199"/>
              <a:gd name="T2" fmla="*/ 1078 w 1078"/>
              <a:gd name="T3" fmla="*/ 25 h 199"/>
              <a:gd name="T4" fmla="*/ 1078 w 1078"/>
              <a:gd name="T5" fmla="*/ 21 h 199"/>
              <a:gd name="T6" fmla="*/ 1076 w 1078"/>
              <a:gd name="T7" fmla="*/ 18 h 199"/>
              <a:gd name="T8" fmla="*/ 1076 w 1078"/>
              <a:gd name="T9" fmla="*/ 15 h 199"/>
              <a:gd name="T10" fmla="*/ 1076 w 1078"/>
              <a:gd name="T11" fmla="*/ 10 h 199"/>
              <a:gd name="T12" fmla="*/ 1074 w 1078"/>
              <a:gd name="T13" fmla="*/ 6 h 199"/>
              <a:gd name="T14" fmla="*/ 1074 w 1078"/>
              <a:gd name="T15" fmla="*/ 3 h 199"/>
              <a:gd name="T16" fmla="*/ 1074 w 1078"/>
              <a:gd name="T17" fmla="*/ 0 h 199"/>
              <a:gd name="T18" fmla="*/ 1069 w 1078"/>
              <a:gd name="T19" fmla="*/ 0 h 199"/>
              <a:gd name="T20" fmla="*/ 1069 w 1078"/>
              <a:gd name="T21" fmla="*/ 3 h 199"/>
              <a:gd name="T22" fmla="*/ 1069 w 1078"/>
              <a:gd name="T23" fmla="*/ 8 h 199"/>
              <a:gd name="T24" fmla="*/ 1071 w 1078"/>
              <a:gd name="T25" fmla="*/ 11 h 199"/>
              <a:gd name="T26" fmla="*/ 1071 w 1078"/>
              <a:gd name="T27" fmla="*/ 15 h 199"/>
              <a:gd name="T28" fmla="*/ 1073 w 1078"/>
              <a:gd name="T29" fmla="*/ 20 h 199"/>
              <a:gd name="T30" fmla="*/ 1073 w 1078"/>
              <a:gd name="T31" fmla="*/ 23 h 199"/>
              <a:gd name="T32" fmla="*/ 1073 w 1078"/>
              <a:gd name="T33" fmla="*/ 26 h 199"/>
              <a:gd name="T34" fmla="*/ 1074 w 1078"/>
              <a:gd name="T35" fmla="*/ 31 h 199"/>
              <a:gd name="T36" fmla="*/ 1078 w 1078"/>
              <a:gd name="T37" fmla="*/ 30 h 199"/>
              <a:gd name="T38" fmla="*/ 0 w 1078"/>
              <a:gd name="T39" fmla="*/ 167 h 199"/>
              <a:gd name="T40" fmla="*/ 1 w 1078"/>
              <a:gd name="T41" fmla="*/ 172 h 199"/>
              <a:gd name="T42" fmla="*/ 1 w 1078"/>
              <a:gd name="T43" fmla="*/ 175 h 199"/>
              <a:gd name="T44" fmla="*/ 1 w 1078"/>
              <a:gd name="T45" fmla="*/ 179 h 199"/>
              <a:gd name="T46" fmla="*/ 3 w 1078"/>
              <a:gd name="T47" fmla="*/ 184 h 199"/>
              <a:gd name="T48" fmla="*/ 3 w 1078"/>
              <a:gd name="T49" fmla="*/ 187 h 199"/>
              <a:gd name="T50" fmla="*/ 3 w 1078"/>
              <a:gd name="T51" fmla="*/ 190 h 199"/>
              <a:gd name="T52" fmla="*/ 4 w 1078"/>
              <a:gd name="T53" fmla="*/ 195 h 199"/>
              <a:gd name="T54" fmla="*/ 4 w 1078"/>
              <a:gd name="T55" fmla="*/ 199 h 199"/>
              <a:gd name="T56" fmla="*/ 9 w 1078"/>
              <a:gd name="T57" fmla="*/ 199 h 199"/>
              <a:gd name="T58" fmla="*/ 9 w 1078"/>
              <a:gd name="T59" fmla="*/ 194 h 199"/>
              <a:gd name="T60" fmla="*/ 8 w 1078"/>
              <a:gd name="T61" fmla="*/ 190 h 199"/>
              <a:gd name="T62" fmla="*/ 8 w 1078"/>
              <a:gd name="T63" fmla="*/ 185 h 199"/>
              <a:gd name="T64" fmla="*/ 6 w 1078"/>
              <a:gd name="T65" fmla="*/ 182 h 199"/>
              <a:gd name="T66" fmla="*/ 6 w 1078"/>
              <a:gd name="T67" fmla="*/ 179 h 199"/>
              <a:gd name="T68" fmla="*/ 6 w 1078"/>
              <a:gd name="T69" fmla="*/ 174 h 199"/>
              <a:gd name="T70" fmla="*/ 4 w 1078"/>
              <a:gd name="T71" fmla="*/ 170 h 199"/>
              <a:gd name="T72" fmla="*/ 4 w 1078"/>
              <a:gd name="T73" fmla="*/ 165 h 199"/>
              <a:gd name="T74" fmla="*/ 0 w 1078"/>
              <a:gd name="T75" fmla="*/ 16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78" h="199">
                <a:moveTo>
                  <a:pt x="1078" y="30"/>
                </a:moveTo>
                <a:lnTo>
                  <a:pt x="1078" y="25"/>
                </a:lnTo>
                <a:lnTo>
                  <a:pt x="1078" y="21"/>
                </a:lnTo>
                <a:lnTo>
                  <a:pt x="1076" y="18"/>
                </a:lnTo>
                <a:lnTo>
                  <a:pt x="1076" y="15"/>
                </a:lnTo>
                <a:lnTo>
                  <a:pt x="1076" y="10"/>
                </a:lnTo>
                <a:lnTo>
                  <a:pt x="1074" y="6"/>
                </a:lnTo>
                <a:lnTo>
                  <a:pt x="1074" y="3"/>
                </a:lnTo>
                <a:lnTo>
                  <a:pt x="1074" y="0"/>
                </a:lnTo>
                <a:lnTo>
                  <a:pt x="1069" y="0"/>
                </a:lnTo>
                <a:lnTo>
                  <a:pt x="1069" y="3"/>
                </a:lnTo>
                <a:lnTo>
                  <a:pt x="1069" y="8"/>
                </a:lnTo>
                <a:lnTo>
                  <a:pt x="1071" y="11"/>
                </a:lnTo>
                <a:lnTo>
                  <a:pt x="1071" y="15"/>
                </a:lnTo>
                <a:lnTo>
                  <a:pt x="1073" y="20"/>
                </a:lnTo>
                <a:lnTo>
                  <a:pt x="1073" y="23"/>
                </a:lnTo>
                <a:lnTo>
                  <a:pt x="1073" y="26"/>
                </a:lnTo>
                <a:lnTo>
                  <a:pt x="1074" y="31"/>
                </a:lnTo>
                <a:lnTo>
                  <a:pt x="1078" y="30"/>
                </a:lnTo>
                <a:close/>
                <a:moveTo>
                  <a:pt x="0" y="167"/>
                </a:moveTo>
                <a:lnTo>
                  <a:pt x="1" y="172"/>
                </a:lnTo>
                <a:lnTo>
                  <a:pt x="1" y="175"/>
                </a:lnTo>
                <a:lnTo>
                  <a:pt x="1" y="179"/>
                </a:lnTo>
                <a:lnTo>
                  <a:pt x="3" y="184"/>
                </a:lnTo>
                <a:lnTo>
                  <a:pt x="3" y="187"/>
                </a:lnTo>
                <a:lnTo>
                  <a:pt x="3" y="190"/>
                </a:lnTo>
                <a:lnTo>
                  <a:pt x="4" y="195"/>
                </a:lnTo>
                <a:lnTo>
                  <a:pt x="4" y="199"/>
                </a:lnTo>
                <a:lnTo>
                  <a:pt x="9" y="199"/>
                </a:lnTo>
                <a:lnTo>
                  <a:pt x="9" y="194"/>
                </a:lnTo>
                <a:lnTo>
                  <a:pt x="8" y="190"/>
                </a:lnTo>
                <a:lnTo>
                  <a:pt x="8" y="185"/>
                </a:lnTo>
                <a:lnTo>
                  <a:pt x="6" y="182"/>
                </a:lnTo>
                <a:lnTo>
                  <a:pt x="6" y="179"/>
                </a:lnTo>
                <a:lnTo>
                  <a:pt x="6" y="174"/>
                </a:lnTo>
                <a:lnTo>
                  <a:pt x="4" y="170"/>
                </a:lnTo>
                <a:lnTo>
                  <a:pt x="4" y="165"/>
                </a:lnTo>
                <a:lnTo>
                  <a:pt x="0" y="167"/>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92" name="Freeform 1197">
            <a:extLst>
              <a:ext uri="{FF2B5EF4-FFF2-40B4-BE49-F238E27FC236}">
                <a16:creationId xmlns:a16="http://schemas.microsoft.com/office/drawing/2014/main" id="{A46C680B-D26B-BF22-EA35-D96AE28C682C}"/>
              </a:ext>
            </a:extLst>
          </p:cNvPr>
          <p:cNvSpPr>
            <a:spLocks noEditPoints="1"/>
          </p:cNvSpPr>
          <p:nvPr/>
        </p:nvSpPr>
        <p:spPr bwMode="auto">
          <a:xfrm>
            <a:off x="2063750" y="2403475"/>
            <a:ext cx="1703388" cy="315913"/>
          </a:xfrm>
          <a:custGeom>
            <a:avLst/>
            <a:gdLst>
              <a:gd name="T0" fmla="*/ 1073 w 1073"/>
              <a:gd name="T1" fmla="*/ 30 h 199"/>
              <a:gd name="T2" fmla="*/ 1073 w 1073"/>
              <a:gd name="T3" fmla="*/ 26 h 199"/>
              <a:gd name="T4" fmla="*/ 1071 w 1073"/>
              <a:gd name="T5" fmla="*/ 23 h 199"/>
              <a:gd name="T6" fmla="*/ 1071 w 1073"/>
              <a:gd name="T7" fmla="*/ 18 h 199"/>
              <a:gd name="T8" fmla="*/ 1071 w 1073"/>
              <a:gd name="T9" fmla="*/ 15 h 199"/>
              <a:gd name="T10" fmla="*/ 1070 w 1073"/>
              <a:gd name="T11" fmla="*/ 11 h 199"/>
              <a:gd name="T12" fmla="*/ 1070 w 1073"/>
              <a:gd name="T13" fmla="*/ 6 h 199"/>
              <a:gd name="T14" fmla="*/ 1070 w 1073"/>
              <a:gd name="T15" fmla="*/ 3 h 199"/>
              <a:gd name="T16" fmla="*/ 1068 w 1073"/>
              <a:gd name="T17" fmla="*/ 0 h 199"/>
              <a:gd name="T18" fmla="*/ 1063 w 1073"/>
              <a:gd name="T19" fmla="*/ 0 h 199"/>
              <a:gd name="T20" fmla="*/ 1065 w 1073"/>
              <a:gd name="T21" fmla="*/ 3 h 199"/>
              <a:gd name="T22" fmla="*/ 1065 w 1073"/>
              <a:gd name="T23" fmla="*/ 8 h 199"/>
              <a:gd name="T24" fmla="*/ 1065 w 1073"/>
              <a:gd name="T25" fmla="*/ 11 h 199"/>
              <a:gd name="T26" fmla="*/ 1066 w 1073"/>
              <a:gd name="T27" fmla="*/ 16 h 199"/>
              <a:gd name="T28" fmla="*/ 1066 w 1073"/>
              <a:gd name="T29" fmla="*/ 20 h 199"/>
              <a:gd name="T30" fmla="*/ 1068 w 1073"/>
              <a:gd name="T31" fmla="*/ 25 h 199"/>
              <a:gd name="T32" fmla="*/ 1068 w 1073"/>
              <a:gd name="T33" fmla="*/ 28 h 199"/>
              <a:gd name="T34" fmla="*/ 1068 w 1073"/>
              <a:gd name="T35" fmla="*/ 31 h 199"/>
              <a:gd name="T36" fmla="*/ 1073 w 1073"/>
              <a:gd name="T37" fmla="*/ 30 h 199"/>
              <a:gd name="T38" fmla="*/ 0 w 1073"/>
              <a:gd name="T39" fmla="*/ 167 h 199"/>
              <a:gd name="T40" fmla="*/ 0 w 1073"/>
              <a:gd name="T41" fmla="*/ 170 h 199"/>
              <a:gd name="T42" fmla="*/ 0 w 1073"/>
              <a:gd name="T43" fmla="*/ 174 h 199"/>
              <a:gd name="T44" fmla="*/ 1 w 1073"/>
              <a:gd name="T45" fmla="*/ 179 h 199"/>
              <a:gd name="T46" fmla="*/ 1 w 1073"/>
              <a:gd name="T47" fmla="*/ 182 h 199"/>
              <a:gd name="T48" fmla="*/ 1 w 1073"/>
              <a:gd name="T49" fmla="*/ 187 h 199"/>
              <a:gd name="T50" fmla="*/ 3 w 1073"/>
              <a:gd name="T51" fmla="*/ 190 h 199"/>
              <a:gd name="T52" fmla="*/ 3 w 1073"/>
              <a:gd name="T53" fmla="*/ 195 h 199"/>
              <a:gd name="T54" fmla="*/ 5 w 1073"/>
              <a:gd name="T55" fmla="*/ 199 h 199"/>
              <a:gd name="T56" fmla="*/ 10 w 1073"/>
              <a:gd name="T57" fmla="*/ 199 h 199"/>
              <a:gd name="T58" fmla="*/ 8 w 1073"/>
              <a:gd name="T59" fmla="*/ 194 h 199"/>
              <a:gd name="T60" fmla="*/ 8 w 1073"/>
              <a:gd name="T61" fmla="*/ 190 h 199"/>
              <a:gd name="T62" fmla="*/ 6 w 1073"/>
              <a:gd name="T63" fmla="*/ 185 h 199"/>
              <a:gd name="T64" fmla="*/ 6 w 1073"/>
              <a:gd name="T65" fmla="*/ 182 h 199"/>
              <a:gd name="T66" fmla="*/ 5 w 1073"/>
              <a:gd name="T67" fmla="*/ 177 h 199"/>
              <a:gd name="T68" fmla="*/ 5 w 1073"/>
              <a:gd name="T69" fmla="*/ 174 h 199"/>
              <a:gd name="T70" fmla="*/ 5 w 1073"/>
              <a:gd name="T71" fmla="*/ 169 h 199"/>
              <a:gd name="T72" fmla="*/ 3 w 1073"/>
              <a:gd name="T73" fmla="*/ 164 h 199"/>
              <a:gd name="T74" fmla="*/ 0 w 1073"/>
              <a:gd name="T75" fmla="*/ 16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73" h="199">
                <a:moveTo>
                  <a:pt x="1073" y="30"/>
                </a:moveTo>
                <a:lnTo>
                  <a:pt x="1073" y="26"/>
                </a:lnTo>
                <a:lnTo>
                  <a:pt x="1071" y="23"/>
                </a:lnTo>
                <a:lnTo>
                  <a:pt x="1071" y="18"/>
                </a:lnTo>
                <a:lnTo>
                  <a:pt x="1071" y="15"/>
                </a:lnTo>
                <a:lnTo>
                  <a:pt x="1070" y="11"/>
                </a:lnTo>
                <a:lnTo>
                  <a:pt x="1070" y="6"/>
                </a:lnTo>
                <a:lnTo>
                  <a:pt x="1070" y="3"/>
                </a:lnTo>
                <a:lnTo>
                  <a:pt x="1068" y="0"/>
                </a:lnTo>
                <a:lnTo>
                  <a:pt x="1063" y="0"/>
                </a:lnTo>
                <a:lnTo>
                  <a:pt x="1065" y="3"/>
                </a:lnTo>
                <a:lnTo>
                  <a:pt x="1065" y="8"/>
                </a:lnTo>
                <a:lnTo>
                  <a:pt x="1065" y="11"/>
                </a:lnTo>
                <a:lnTo>
                  <a:pt x="1066" y="16"/>
                </a:lnTo>
                <a:lnTo>
                  <a:pt x="1066" y="20"/>
                </a:lnTo>
                <a:lnTo>
                  <a:pt x="1068" y="25"/>
                </a:lnTo>
                <a:lnTo>
                  <a:pt x="1068" y="28"/>
                </a:lnTo>
                <a:lnTo>
                  <a:pt x="1068" y="31"/>
                </a:lnTo>
                <a:lnTo>
                  <a:pt x="1073" y="30"/>
                </a:lnTo>
                <a:close/>
                <a:moveTo>
                  <a:pt x="0" y="167"/>
                </a:moveTo>
                <a:lnTo>
                  <a:pt x="0" y="170"/>
                </a:lnTo>
                <a:lnTo>
                  <a:pt x="0" y="174"/>
                </a:lnTo>
                <a:lnTo>
                  <a:pt x="1" y="179"/>
                </a:lnTo>
                <a:lnTo>
                  <a:pt x="1" y="182"/>
                </a:lnTo>
                <a:lnTo>
                  <a:pt x="1" y="187"/>
                </a:lnTo>
                <a:lnTo>
                  <a:pt x="3" y="190"/>
                </a:lnTo>
                <a:lnTo>
                  <a:pt x="3" y="195"/>
                </a:lnTo>
                <a:lnTo>
                  <a:pt x="5" y="199"/>
                </a:lnTo>
                <a:lnTo>
                  <a:pt x="10" y="199"/>
                </a:lnTo>
                <a:lnTo>
                  <a:pt x="8" y="194"/>
                </a:lnTo>
                <a:lnTo>
                  <a:pt x="8" y="190"/>
                </a:lnTo>
                <a:lnTo>
                  <a:pt x="6" y="185"/>
                </a:lnTo>
                <a:lnTo>
                  <a:pt x="6" y="182"/>
                </a:lnTo>
                <a:lnTo>
                  <a:pt x="5" y="177"/>
                </a:lnTo>
                <a:lnTo>
                  <a:pt x="5" y="174"/>
                </a:lnTo>
                <a:lnTo>
                  <a:pt x="5" y="169"/>
                </a:lnTo>
                <a:lnTo>
                  <a:pt x="3" y="164"/>
                </a:lnTo>
                <a:lnTo>
                  <a:pt x="0" y="167"/>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93" name="Freeform 1198">
            <a:extLst>
              <a:ext uri="{FF2B5EF4-FFF2-40B4-BE49-F238E27FC236}">
                <a16:creationId xmlns:a16="http://schemas.microsoft.com/office/drawing/2014/main" id="{EDB6D1BD-56ED-AEBF-06CE-22B05315CFC6}"/>
              </a:ext>
            </a:extLst>
          </p:cNvPr>
          <p:cNvSpPr>
            <a:spLocks noEditPoints="1"/>
          </p:cNvSpPr>
          <p:nvPr/>
        </p:nvSpPr>
        <p:spPr bwMode="auto">
          <a:xfrm>
            <a:off x="2065338" y="2403475"/>
            <a:ext cx="1698625" cy="315913"/>
          </a:xfrm>
          <a:custGeom>
            <a:avLst/>
            <a:gdLst>
              <a:gd name="T0" fmla="*/ 1070 w 1070"/>
              <a:gd name="T1" fmla="*/ 31 h 199"/>
              <a:gd name="T2" fmla="*/ 1069 w 1070"/>
              <a:gd name="T3" fmla="*/ 26 h 199"/>
              <a:gd name="T4" fmla="*/ 1069 w 1070"/>
              <a:gd name="T5" fmla="*/ 23 h 199"/>
              <a:gd name="T6" fmla="*/ 1069 w 1070"/>
              <a:gd name="T7" fmla="*/ 20 h 199"/>
              <a:gd name="T8" fmla="*/ 1067 w 1070"/>
              <a:gd name="T9" fmla="*/ 15 h 199"/>
              <a:gd name="T10" fmla="*/ 1067 w 1070"/>
              <a:gd name="T11" fmla="*/ 11 h 199"/>
              <a:gd name="T12" fmla="*/ 1065 w 1070"/>
              <a:gd name="T13" fmla="*/ 8 h 199"/>
              <a:gd name="T14" fmla="*/ 1065 w 1070"/>
              <a:gd name="T15" fmla="*/ 3 h 199"/>
              <a:gd name="T16" fmla="*/ 1065 w 1070"/>
              <a:gd name="T17" fmla="*/ 0 h 199"/>
              <a:gd name="T18" fmla="*/ 1060 w 1070"/>
              <a:gd name="T19" fmla="*/ 0 h 199"/>
              <a:gd name="T20" fmla="*/ 1060 w 1070"/>
              <a:gd name="T21" fmla="*/ 3 h 199"/>
              <a:gd name="T22" fmla="*/ 1062 w 1070"/>
              <a:gd name="T23" fmla="*/ 8 h 199"/>
              <a:gd name="T24" fmla="*/ 1062 w 1070"/>
              <a:gd name="T25" fmla="*/ 11 h 199"/>
              <a:gd name="T26" fmla="*/ 1062 w 1070"/>
              <a:gd name="T27" fmla="*/ 16 h 199"/>
              <a:gd name="T28" fmla="*/ 1064 w 1070"/>
              <a:gd name="T29" fmla="*/ 20 h 199"/>
              <a:gd name="T30" fmla="*/ 1064 w 1070"/>
              <a:gd name="T31" fmla="*/ 25 h 199"/>
              <a:gd name="T32" fmla="*/ 1065 w 1070"/>
              <a:gd name="T33" fmla="*/ 30 h 199"/>
              <a:gd name="T34" fmla="*/ 1065 w 1070"/>
              <a:gd name="T35" fmla="*/ 33 h 199"/>
              <a:gd name="T36" fmla="*/ 1070 w 1070"/>
              <a:gd name="T37" fmla="*/ 31 h 199"/>
              <a:gd name="T38" fmla="*/ 0 w 1070"/>
              <a:gd name="T39" fmla="*/ 165 h 199"/>
              <a:gd name="T40" fmla="*/ 0 w 1070"/>
              <a:gd name="T41" fmla="*/ 170 h 199"/>
              <a:gd name="T42" fmla="*/ 2 w 1070"/>
              <a:gd name="T43" fmla="*/ 174 h 199"/>
              <a:gd name="T44" fmla="*/ 2 w 1070"/>
              <a:gd name="T45" fmla="*/ 179 h 199"/>
              <a:gd name="T46" fmla="*/ 2 w 1070"/>
              <a:gd name="T47" fmla="*/ 182 h 199"/>
              <a:gd name="T48" fmla="*/ 4 w 1070"/>
              <a:gd name="T49" fmla="*/ 185 h 199"/>
              <a:gd name="T50" fmla="*/ 4 w 1070"/>
              <a:gd name="T51" fmla="*/ 190 h 199"/>
              <a:gd name="T52" fmla="*/ 5 w 1070"/>
              <a:gd name="T53" fmla="*/ 194 h 199"/>
              <a:gd name="T54" fmla="*/ 5 w 1070"/>
              <a:gd name="T55" fmla="*/ 199 h 199"/>
              <a:gd name="T56" fmla="*/ 10 w 1070"/>
              <a:gd name="T57" fmla="*/ 199 h 199"/>
              <a:gd name="T58" fmla="*/ 10 w 1070"/>
              <a:gd name="T59" fmla="*/ 194 h 199"/>
              <a:gd name="T60" fmla="*/ 9 w 1070"/>
              <a:gd name="T61" fmla="*/ 190 h 199"/>
              <a:gd name="T62" fmla="*/ 9 w 1070"/>
              <a:gd name="T63" fmla="*/ 185 h 199"/>
              <a:gd name="T64" fmla="*/ 7 w 1070"/>
              <a:gd name="T65" fmla="*/ 180 h 199"/>
              <a:gd name="T66" fmla="*/ 7 w 1070"/>
              <a:gd name="T67" fmla="*/ 177 h 199"/>
              <a:gd name="T68" fmla="*/ 5 w 1070"/>
              <a:gd name="T69" fmla="*/ 172 h 199"/>
              <a:gd name="T70" fmla="*/ 5 w 1070"/>
              <a:gd name="T71" fmla="*/ 167 h 199"/>
              <a:gd name="T72" fmla="*/ 5 w 1070"/>
              <a:gd name="T73" fmla="*/ 164 h 199"/>
              <a:gd name="T74" fmla="*/ 0 w 1070"/>
              <a:gd name="T75" fmla="*/ 16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70" h="199">
                <a:moveTo>
                  <a:pt x="1070" y="31"/>
                </a:moveTo>
                <a:lnTo>
                  <a:pt x="1069" y="26"/>
                </a:lnTo>
                <a:lnTo>
                  <a:pt x="1069" y="23"/>
                </a:lnTo>
                <a:lnTo>
                  <a:pt x="1069" y="20"/>
                </a:lnTo>
                <a:lnTo>
                  <a:pt x="1067" y="15"/>
                </a:lnTo>
                <a:lnTo>
                  <a:pt x="1067" y="11"/>
                </a:lnTo>
                <a:lnTo>
                  <a:pt x="1065" y="8"/>
                </a:lnTo>
                <a:lnTo>
                  <a:pt x="1065" y="3"/>
                </a:lnTo>
                <a:lnTo>
                  <a:pt x="1065" y="0"/>
                </a:lnTo>
                <a:lnTo>
                  <a:pt x="1060" y="0"/>
                </a:lnTo>
                <a:lnTo>
                  <a:pt x="1060" y="3"/>
                </a:lnTo>
                <a:lnTo>
                  <a:pt x="1062" y="8"/>
                </a:lnTo>
                <a:lnTo>
                  <a:pt x="1062" y="11"/>
                </a:lnTo>
                <a:lnTo>
                  <a:pt x="1062" y="16"/>
                </a:lnTo>
                <a:lnTo>
                  <a:pt x="1064" y="20"/>
                </a:lnTo>
                <a:lnTo>
                  <a:pt x="1064" y="25"/>
                </a:lnTo>
                <a:lnTo>
                  <a:pt x="1065" y="30"/>
                </a:lnTo>
                <a:lnTo>
                  <a:pt x="1065" y="33"/>
                </a:lnTo>
                <a:lnTo>
                  <a:pt x="1070" y="31"/>
                </a:lnTo>
                <a:close/>
                <a:moveTo>
                  <a:pt x="0" y="165"/>
                </a:moveTo>
                <a:lnTo>
                  <a:pt x="0" y="170"/>
                </a:lnTo>
                <a:lnTo>
                  <a:pt x="2" y="174"/>
                </a:lnTo>
                <a:lnTo>
                  <a:pt x="2" y="179"/>
                </a:lnTo>
                <a:lnTo>
                  <a:pt x="2" y="182"/>
                </a:lnTo>
                <a:lnTo>
                  <a:pt x="4" y="185"/>
                </a:lnTo>
                <a:lnTo>
                  <a:pt x="4" y="190"/>
                </a:lnTo>
                <a:lnTo>
                  <a:pt x="5" y="194"/>
                </a:lnTo>
                <a:lnTo>
                  <a:pt x="5" y="199"/>
                </a:lnTo>
                <a:lnTo>
                  <a:pt x="10" y="199"/>
                </a:lnTo>
                <a:lnTo>
                  <a:pt x="10" y="194"/>
                </a:lnTo>
                <a:lnTo>
                  <a:pt x="9" y="190"/>
                </a:lnTo>
                <a:lnTo>
                  <a:pt x="9" y="185"/>
                </a:lnTo>
                <a:lnTo>
                  <a:pt x="7" y="180"/>
                </a:lnTo>
                <a:lnTo>
                  <a:pt x="7" y="177"/>
                </a:lnTo>
                <a:lnTo>
                  <a:pt x="5" y="172"/>
                </a:lnTo>
                <a:lnTo>
                  <a:pt x="5" y="167"/>
                </a:lnTo>
                <a:lnTo>
                  <a:pt x="5" y="164"/>
                </a:lnTo>
                <a:lnTo>
                  <a:pt x="0" y="165"/>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94" name="Freeform 1199">
            <a:extLst>
              <a:ext uri="{FF2B5EF4-FFF2-40B4-BE49-F238E27FC236}">
                <a16:creationId xmlns:a16="http://schemas.microsoft.com/office/drawing/2014/main" id="{085E6B50-00B0-2F69-8B3C-CBDAD3A41997}"/>
              </a:ext>
            </a:extLst>
          </p:cNvPr>
          <p:cNvSpPr>
            <a:spLocks noEditPoints="1"/>
          </p:cNvSpPr>
          <p:nvPr/>
        </p:nvSpPr>
        <p:spPr bwMode="auto">
          <a:xfrm>
            <a:off x="2068513" y="2403475"/>
            <a:ext cx="1690688" cy="315913"/>
          </a:xfrm>
          <a:custGeom>
            <a:avLst/>
            <a:gdLst>
              <a:gd name="T0" fmla="*/ 1065 w 1065"/>
              <a:gd name="T1" fmla="*/ 31 h 199"/>
              <a:gd name="T2" fmla="*/ 1065 w 1065"/>
              <a:gd name="T3" fmla="*/ 28 h 199"/>
              <a:gd name="T4" fmla="*/ 1065 w 1065"/>
              <a:gd name="T5" fmla="*/ 25 h 199"/>
              <a:gd name="T6" fmla="*/ 1063 w 1065"/>
              <a:gd name="T7" fmla="*/ 20 h 199"/>
              <a:gd name="T8" fmla="*/ 1063 w 1065"/>
              <a:gd name="T9" fmla="*/ 16 h 199"/>
              <a:gd name="T10" fmla="*/ 1062 w 1065"/>
              <a:gd name="T11" fmla="*/ 11 h 199"/>
              <a:gd name="T12" fmla="*/ 1062 w 1065"/>
              <a:gd name="T13" fmla="*/ 8 h 199"/>
              <a:gd name="T14" fmla="*/ 1062 w 1065"/>
              <a:gd name="T15" fmla="*/ 3 h 199"/>
              <a:gd name="T16" fmla="*/ 1060 w 1065"/>
              <a:gd name="T17" fmla="*/ 0 h 199"/>
              <a:gd name="T18" fmla="*/ 1055 w 1065"/>
              <a:gd name="T19" fmla="*/ 0 h 199"/>
              <a:gd name="T20" fmla="*/ 1057 w 1065"/>
              <a:gd name="T21" fmla="*/ 3 h 199"/>
              <a:gd name="T22" fmla="*/ 1057 w 1065"/>
              <a:gd name="T23" fmla="*/ 8 h 199"/>
              <a:gd name="T24" fmla="*/ 1058 w 1065"/>
              <a:gd name="T25" fmla="*/ 13 h 199"/>
              <a:gd name="T26" fmla="*/ 1058 w 1065"/>
              <a:gd name="T27" fmla="*/ 16 h 199"/>
              <a:gd name="T28" fmla="*/ 1058 w 1065"/>
              <a:gd name="T29" fmla="*/ 21 h 199"/>
              <a:gd name="T30" fmla="*/ 1060 w 1065"/>
              <a:gd name="T31" fmla="*/ 25 h 199"/>
              <a:gd name="T32" fmla="*/ 1060 w 1065"/>
              <a:gd name="T33" fmla="*/ 30 h 199"/>
              <a:gd name="T34" fmla="*/ 1060 w 1065"/>
              <a:gd name="T35" fmla="*/ 35 h 199"/>
              <a:gd name="T36" fmla="*/ 1065 w 1065"/>
              <a:gd name="T37" fmla="*/ 31 h 199"/>
              <a:gd name="T38" fmla="*/ 0 w 1065"/>
              <a:gd name="T39" fmla="*/ 164 h 199"/>
              <a:gd name="T40" fmla="*/ 2 w 1065"/>
              <a:gd name="T41" fmla="*/ 169 h 199"/>
              <a:gd name="T42" fmla="*/ 2 w 1065"/>
              <a:gd name="T43" fmla="*/ 174 h 199"/>
              <a:gd name="T44" fmla="*/ 2 w 1065"/>
              <a:gd name="T45" fmla="*/ 177 h 199"/>
              <a:gd name="T46" fmla="*/ 3 w 1065"/>
              <a:gd name="T47" fmla="*/ 182 h 199"/>
              <a:gd name="T48" fmla="*/ 3 w 1065"/>
              <a:gd name="T49" fmla="*/ 185 h 199"/>
              <a:gd name="T50" fmla="*/ 5 w 1065"/>
              <a:gd name="T51" fmla="*/ 190 h 199"/>
              <a:gd name="T52" fmla="*/ 5 w 1065"/>
              <a:gd name="T53" fmla="*/ 194 h 199"/>
              <a:gd name="T54" fmla="*/ 7 w 1065"/>
              <a:gd name="T55" fmla="*/ 199 h 199"/>
              <a:gd name="T56" fmla="*/ 10 w 1065"/>
              <a:gd name="T57" fmla="*/ 199 h 199"/>
              <a:gd name="T58" fmla="*/ 10 w 1065"/>
              <a:gd name="T59" fmla="*/ 194 h 199"/>
              <a:gd name="T60" fmla="*/ 8 w 1065"/>
              <a:gd name="T61" fmla="*/ 189 h 199"/>
              <a:gd name="T62" fmla="*/ 8 w 1065"/>
              <a:gd name="T63" fmla="*/ 185 h 199"/>
              <a:gd name="T64" fmla="*/ 8 w 1065"/>
              <a:gd name="T65" fmla="*/ 180 h 199"/>
              <a:gd name="T66" fmla="*/ 7 w 1065"/>
              <a:gd name="T67" fmla="*/ 175 h 199"/>
              <a:gd name="T68" fmla="*/ 7 w 1065"/>
              <a:gd name="T69" fmla="*/ 172 h 199"/>
              <a:gd name="T70" fmla="*/ 5 w 1065"/>
              <a:gd name="T71" fmla="*/ 167 h 199"/>
              <a:gd name="T72" fmla="*/ 5 w 1065"/>
              <a:gd name="T73" fmla="*/ 162 h 199"/>
              <a:gd name="T74" fmla="*/ 0 w 1065"/>
              <a:gd name="T75" fmla="*/ 16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65" h="199">
                <a:moveTo>
                  <a:pt x="1065" y="31"/>
                </a:moveTo>
                <a:lnTo>
                  <a:pt x="1065" y="28"/>
                </a:lnTo>
                <a:lnTo>
                  <a:pt x="1065" y="25"/>
                </a:lnTo>
                <a:lnTo>
                  <a:pt x="1063" y="20"/>
                </a:lnTo>
                <a:lnTo>
                  <a:pt x="1063" y="16"/>
                </a:lnTo>
                <a:lnTo>
                  <a:pt x="1062" y="11"/>
                </a:lnTo>
                <a:lnTo>
                  <a:pt x="1062" y="8"/>
                </a:lnTo>
                <a:lnTo>
                  <a:pt x="1062" y="3"/>
                </a:lnTo>
                <a:lnTo>
                  <a:pt x="1060" y="0"/>
                </a:lnTo>
                <a:lnTo>
                  <a:pt x="1055" y="0"/>
                </a:lnTo>
                <a:lnTo>
                  <a:pt x="1057" y="3"/>
                </a:lnTo>
                <a:lnTo>
                  <a:pt x="1057" y="8"/>
                </a:lnTo>
                <a:lnTo>
                  <a:pt x="1058" y="13"/>
                </a:lnTo>
                <a:lnTo>
                  <a:pt x="1058" y="16"/>
                </a:lnTo>
                <a:lnTo>
                  <a:pt x="1058" y="21"/>
                </a:lnTo>
                <a:lnTo>
                  <a:pt x="1060" y="25"/>
                </a:lnTo>
                <a:lnTo>
                  <a:pt x="1060" y="30"/>
                </a:lnTo>
                <a:lnTo>
                  <a:pt x="1060" y="35"/>
                </a:lnTo>
                <a:lnTo>
                  <a:pt x="1065" y="31"/>
                </a:lnTo>
                <a:close/>
                <a:moveTo>
                  <a:pt x="0" y="164"/>
                </a:moveTo>
                <a:lnTo>
                  <a:pt x="2" y="169"/>
                </a:lnTo>
                <a:lnTo>
                  <a:pt x="2" y="174"/>
                </a:lnTo>
                <a:lnTo>
                  <a:pt x="2" y="177"/>
                </a:lnTo>
                <a:lnTo>
                  <a:pt x="3" y="182"/>
                </a:lnTo>
                <a:lnTo>
                  <a:pt x="3" y="185"/>
                </a:lnTo>
                <a:lnTo>
                  <a:pt x="5" y="190"/>
                </a:lnTo>
                <a:lnTo>
                  <a:pt x="5" y="194"/>
                </a:lnTo>
                <a:lnTo>
                  <a:pt x="7" y="199"/>
                </a:lnTo>
                <a:lnTo>
                  <a:pt x="10" y="199"/>
                </a:lnTo>
                <a:lnTo>
                  <a:pt x="10" y="194"/>
                </a:lnTo>
                <a:lnTo>
                  <a:pt x="8" y="189"/>
                </a:lnTo>
                <a:lnTo>
                  <a:pt x="8" y="185"/>
                </a:lnTo>
                <a:lnTo>
                  <a:pt x="8" y="180"/>
                </a:lnTo>
                <a:lnTo>
                  <a:pt x="7" y="175"/>
                </a:lnTo>
                <a:lnTo>
                  <a:pt x="7" y="172"/>
                </a:lnTo>
                <a:lnTo>
                  <a:pt x="5" y="167"/>
                </a:lnTo>
                <a:lnTo>
                  <a:pt x="5" y="162"/>
                </a:lnTo>
                <a:lnTo>
                  <a:pt x="0" y="164"/>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95" name="Freeform 1200">
            <a:extLst>
              <a:ext uri="{FF2B5EF4-FFF2-40B4-BE49-F238E27FC236}">
                <a16:creationId xmlns:a16="http://schemas.microsoft.com/office/drawing/2014/main" id="{B8977CD9-01C2-7AF6-10E6-4E1992463258}"/>
              </a:ext>
            </a:extLst>
          </p:cNvPr>
          <p:cNvSpPr>
            <a:spLocks noEditPoints="1"/>
          </p:cNvSpPr>
          <p:nvPr/>
        </p:nvSpPr>
        <p:spPr bwMode="auto">
          <a:xfrm>
            <a:off x="2073275" y="2403475"/>
            <a:ext cx="1682750" cy="315913"/>
          </a:xfrm>
          <a:custGeom>
            <a:avLst/>
            <a:gdLst>
              <a:gd name="T0" fmla="*/ 1060 w 1060"/>
              <a:gd name="T1" fmla="*/ 33 h 199"/>
              <a:gd name="T2" fmla="*/ 1060 w 1060"/>
              <a:gd name="T3" fmla="*/ 30 h 199"/>
              <a:gd name="T4" fmla="*/ 1059 w 1060"/>
              <a:gd name="T5" fmla="*/ 25 h 199"/>
              <a:gd name="T6" fmla="*/ 1059 w 1060"/>
              <a:gd name="T7" fmla="*/ 20 h 199"/>
              <a:gd name="T8" fmla="*/ 1057 w 1060"/>
              <a:gd name="T9" fmla="*/ 16 h 199"/>
              <a:gd name="T10" fmla="*/ 1057 w 1060"/>
              <a:gd name="T11" fmla="*/ 11 h 199"/>
              <a:gd name="T12" fmla="*/ 1057 w 1060"/>
              <a:gd name="T13" fmla="*/ 8 h 199"/>
              <a:gd name="T14" fmla="*/ 1055 w 1060"/>
              <a:gd name="T15" fmla="*/ 3 h 199"/>
              <a:gd name="T16" fmla="*/ 1055 w 1060"/>
              <a:gd name="T17" fmla="*/ 0 h 199"/>
              <a:gd name="T18" fmla="*/ 1050 w 1060"/>
              <a:gd name="T19" fmla="*/ 0 h 199"/>
              <a:gd name="T20" fmla="*/ 1050 w 1060"/>
              <a:gd name="T21" fmla="*/ 5 h 199"/>
              <a:gd name="T22" fmla="*/ 1052 w 1060"/>
              <a:gd name="T23" fmla="*/ 8 h 199"/>
              <a:gd name="T24" fmla="*/ 1052 w 1060"/>
              <a:gd name="T25" fmla="*/ 13 h 199"/>
              <a:gd name="T26" fmla="*/ 1054 w 1060"/>
              <a:gd name="T27" fmla="*/ 18 h 199"/>
              <a:gd name="T28" fmla="*/ 1054 w 1060"/>
              <a:gd name="T29" fmla="*/ 21 h 199"/>
              <a:gd name="T30" fmla="*/ 1054 w 1060"/>
              <a:gd name="T31" fmla="*/ 26 h 199"/>
              <a:gd name="T32" fmla="*/ 1055 w 1060"/>
              <a:gd name="T33" fmla="*/ 31 h 199"/>
              <a:gd name="T34" fmla="*/ 1055 w 1060"/>
              <a:gd name="T35" fmla="*/ 35 h 199"/>
              <a:gd name="T36" fmla="*/ 1060 w 1060"/>
              <a:gd name="T37" fmla="*/ 33 h 199"/>
              <a:gd name="T38" fmla="*/ 0 w 1060"/>
              <a:gd name="T39" fmla="*/ 164 h 199"/>
              <a:gd name="T40" fmla="*/ 0 w 1060"/>
              <a:gd name="T41" fmla="*/ 167 h 199"/>
              <a:gd name="T42" fmla="*/ 0 w 1060"/>
              <a:gd name="T43" fmla="*/ 172 h 199"/>
              <a:gd name="T44" fmla="*/ 2 w 1060"/>
              <a:gd name="T45" fmla="*/ 177 h 199"/>
              <a:gd name="T46" fmla="*/ 2 w 1060"/>
              <a:gd name="T47" fmla="*/ 180 h 199"/>
              <a:gd name="T48" fmla="*/ 4 w 1060"/>
              <a:gd name="T49" fmla="*/ 185 h 199"/>
              <a:gd name="T50" fmla="*/ 4 w 1060"/>
              <a:gd name="T51" fmla="*/ 190 h 199"/>
              <a:gd name="T52" fmla="*/ 5 w 1060"/>
              <a:gd name="T53" fmla="*/ 194 h 199"/>
              <a:gd name="T54" fmla="*/ 5 w 1060"/>
              <a:gd name="T55" fmla="*/ 199 h 199"/>
              <a:gd name="T56" fmla="*/ 10 w 1060"/>
              <a:gd name="T57" fmla="*/ 199 h 199"/>
              <a:gd name="T58" fmla="*/ 9 w 1060"/>
              <a:gd name="T59" fmla="*/ 194 h 199"/>
              <a:gd name="T60" fmla="*/ 9 w 1060"/>
              <a:gd name="T61" fmla="*/ 189 h 199"/>
              <a:gd name="T62" fmla="*/ 7 w 1060"/>
              <a:gd name="T63" fmla="*/ 185 h 199"/>
              <a:gd name="T64" fmla="*/ 7 w 1060"/>
              <a:gd name="T65" fmla="*/ 180 h 199"/>
              <a:gd name="T66" fmla="*/ 7 w 1060"/>
              <a:gd name="T67" fmla="*/ 175 h 199"/>
              <a:gd name="T68" fmla="*/ 5 w 1060"/>
              <a:gd name="T69" fmla="*/ 170 h 199"/>
              <a:gd name="T70" fmla="*/ 5 w 1060"/>
              <a:gd name="T71" fmla="*/ 165 h 199"/>
              <a:gd name="T72" fmla="*/ 4 w 1060"/>
              <a:gd name="T73" fmla="*/ 160 h 199"/>
              <a:gd name="T74" fmla="*/ 0 w 1060"/>
              <a:gd name="T75" fmla="*/ 16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60" h="199">
                <a:moveTo>
                  <a:pt x="1060" y="33"/>
                </a:moveTo>
                <a:lnTo>
                  <a:pt x="1060" y="30"/>
                </a:lnTo>
                <a:lnTo>
                  <a:pt x="1059" y="25"/>
                </a:lnTo>
                <a:lnTo>
                  <a:pt x="1059" y="20"/>
                </a:lnTo>
                <a:lnTo>
                  <a:pt x="1057" y="16"/>
                </a:lnTo>
                <a:lnTo>
                  <a:pt x="1057" y="11"/>
                </a:lnTo>
                <a:lnTo>
                  <a:pt x="1057" y="8"/>
                </a:lnTo>
                <a:lnTo>
                  <a:pt x="1055" y="3"/>
                </a:lnTo>
                <a:lnTo>
                  <a:pt x="1055" y="0"/>
                </a:lnTo>
                <a:lnTo>
                  <a:pt x="1050" y="0"/>
                </a:lnTo>
                <a:lnTo>
                  <a:pt x="1050" y="5"/>
                </a:lnTo>
                <a:lnTo>
                  <a:pt x="1052" y="8"/>
                </a:lnTo>
                <a:lnTo>
                  <a:pt x="1052" y="13"/>
                </a:lnTo>
                <a:lnTo>
                  <a:pt x="1054" y="18"/>
                </a:lnTo>
                <a:lnTo>
                  <a:pt x="1054" y="21"/>
                </a:lnTo>
                <a:lnTo>
                  <a:pt x="1054" y="26"/>
                </a:lnTo>
                <a:lnTo>
                  <a:pt x="1055" y="31"/>
                </a:lnTo>
                <a:lnTo>
                  <a:pt x="1055" y="35"/>
                </a:lnTo>
                <a:lnTo>
                  <a:pt x="1060" y="33"/>
                </a:lnTo>
                <a:close/>
                <a:moveTo>
                  <a:pt x="0" y="164"/>
                </a:moveTo>
                <a:lnTo>
                  <a:pt x="0" y="167"/>
                </a:lnTo>
                <a:lnTo>
                  <a:pt x="0" y="172"/>
                </a:lnTo>
                <a:lnTo>
                  <a:pt x="2" y="177"/>
                </a:lnTo>
                <a:lnTo>
                  <a:pt x="2" y="180"/>
                </a:lnTo>
                <a:lnTo>
                  <a:pt x="4" y="185"/>
                </a:lnTo>
                <a:lnTo>
                  <a:pt x="4" y="190"/>
                </a:lnTo>
                <a:lnTo>
                  <a:pt x="5" y="194"/>
                </a:lnTo>
                <a:lnTo>
                  <a:pt x="5" y="199"/>
                </a:lnTo>
                <a:lnTo>
                  <a:pt x="10" y="199"/>
                </a:lnTo>
                <a:lnTo>
                  <a:pt x="9" y="194"/>
                </a:lnTo>
                <a:lnTo>
                  <a:pt x="9" y="189"/>
                </a:lnTo>
                <a:lnTo>
                  <a:pt x="7" y="185"/>
                </a:lnTo>
                <a:lnTo>
                  <a:pt x="7" y="180"/>
                </a:lnTo>
                <a:lnTo>
                  <a:pt x="7" y="175"/>
                </a:lnTo>
                <a:lnTo>
                  <a:pt x="5" y="170"/>
                </a:lnTo>
                <a:lnTo>
                  <a:pt x="5" y="165"/>
                </a:lnTo>
                <a:lnTo>
                  <a:pt x="4" y="160"/>
                </a:lnTo>
                <a:lnTo>
                  <a:pt x="0" y="164"/>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96" name="Freeform 1201">
            <a:extLst>
              <a:ext uri="{FF2B5EF4-FFF2-40B4-BE49-F238E27FC236}">
                <a16:creationId xmlns:a16="http://schemas.microsoft.com/office/drawing/2014/main" id="{6D1C466B-7BAA-B0E4-410E-341F9DD82CA7}"/>
              </a:ext>
            </a:extLst>
          </p:cNvPr>
          <p:cNvSpPr>
            <a:spLocks noEditPoints="1"/>
          </p:cNvSpPr>
          <p:nvPr/>
        </p:nvSpPr>
        <p:spPr bwMode="auto">
          <a:xfrm>
            <a:off x="2076450" y="2403475"/>
            <a:ext cx="1674813" cy="315913"/>
          </a:xfrm>
          <a:custGeom>
            <a:avLst/>
            <a:gdLst>
              <a:gd name="T0" fmla="*/ 1055 w 1055"/>
              <a:gd name="T1" fmla="*/ 35 h 199"/>
              <a:gd name="T2" fmla="*/ 1055 w 1055"/>
              <a:gd name="T3" fmla="*/ 30 h 199"/>
              <a:gd name="T4" fmla="*/ 1055 w 1055"/>
              <a:gd name="T5" fmla="*/ 25 h 199"/>
              <a:gd name="T6" fmla="*/ 1053 w 1055"/>
              <a:gd name="T7" fmla="*/ 21 h 199"/>
              <a:gd name="T8" fmla="*/ 1053 w 1055"/>
              <a:gd name="T9" fmla="*/ 16 h 199"/>
              <a:gd name="T10" fmla="*/ 1053 w 1055"/>
              <a:gd name="T11" fmla="*/ 13 h 199"/>
              <a:gd name="T12" fmla="*/ 1052 w 1055"/>
              <a:gd name="T13" fmla="*/ 8 h 199"/>
              <a:gd name="T14" fmla="*/ 1052 w 1055"/>
              <a:gd name="T15" fmla="*/ 3 h 199"/>
              <a:gd name="T16" fmla="*/ 1050 w 1055"/>
              <a:gd name="T17" fmla="*/ 0 h 199"/>
              <a:gd name="T18" fmla="*/ 1045 w 1055"/>
              <a:gd name="T19" fmla="*/ 0 h 199"/>
              <a:gd name="T20" fmla="*/ 1047 w 1055"/>
              <a:gd name="T21" fmla="*/ 5 h 199"/>
              <a:gd name="T22" fmla="*/ 1047 w 1055"/>
              <a:gd name="T23" fmla="*/ 8 h 199"/>
              <a:gd name="T24" fmla="*/ 1048 w 1055"/>
              <a:gd name="T25" fmla="*/ 13 h 199"/>
              <a:gd name="T26" fmla="*/ 1048 w 1055"/>
              <a:gd name="T27" fmla="*/ 18 h 199"/>
              <a:gd name="T28" fmla="*/ 1050 w 1055"/>
              <a:gd name="T29" fmla="*/ 23 h 199"/>
              <a:gd name="T30" fmla="*/ 1050 w 1055"/>
              <a:gd name="T31" fmla="*/ 26 h 199"/>
              <a:gd name="T32" fmla="*/ 1050 w 1055"/>
              <a:gd name="T33" fmla="*/ 31 h 199"/>
              <a:gd name="T34" fmla="*/ 1052 w 1055"/>
              <a:gd name="T35" fmla="*/ 36 h 199"/>
              <a:gd name="T36" fmla="*/ 1055 w 1055"/>
              <a:gd name="T37" fmla="*/ 35 h 199"/>
              <a:gd name="T38" fmla="*/ 0 w 1055"/>
              <a:gd name="T39" fmla="*/ 162 h 199"/>
              <a:gd name="T40" fmla="*/ 0 w 1055"/>
              <a:gd name="T41" fmla="*/ 167 h 199"/>
              <a:gd name="T42" fmla="*/ 2 w 1055"/>
              <a:gd name="T43" fmla="*/ 172 h 199"/>
              <a:gd name="T44" fmla="*/ 2 w 1055"/>
              <a:gd name="T45" fmla="*/ 175 h 199"/>
              <a:gd name="T46" fmla="*/ 3 w 1055"/>
              <a:gd name="T47" fmla="*/ 180 h 199"/>
              <a:gd name="T48" fmla="*/ 3 w 1055"/>
              <a:gd name="T49" fmla="*/ 185 h 199"/>
              <a:gd name="T50" fmla="*/ 3 w 1055"/>
              <a:gd name="T51" fmla="*/ 189 h 199"/>
              <a:gd name="T52" fmla="*/ 5 w 1055"/>
              <a:gd name="T53" fmla="*/ 194 h 199"/>
              <a:gd name="T54" fmla="*/ 5 w 1055"/>
              <a:gd name="T55" fmla="*/ 199 h 199"/>
              <a:gd name="T56" fmla="*/ 10 w 1055"/>
              <a:gd name="T57" fmla="*/ 199 h 199"/>
              <a:gd name="T58" fmla="*/ 10 w 1055"/>
              <a:gd name="T59" fmla="*/ 194 h 199"/>
              <a:gd name="T60" fmla="*/ 8 w 1055"/>
              <a:gd name="T61" fmla="*/ 189 h 199"/>
              <a:gd name="T62" fmla="*/ 8 w 1055"/>
              <a:gd name="T63" fmla="*/ 184 h 199"/>
              <a:gd name="T64" fmla="*/ 7 w 1055"/>
              <a:gd name="T65" fmla="*/ 179 h 199"/>
              <a:gd name="T66" fmla="*/ 7 w 1055"/>
              <a:gd name="T67" fmla="*/ 174 h 199"/>
              <a:gd name="T68" fmla="*/ 7 w 1055"/>
              <a:gd name="T69" fmla="*/ 170 h 199"/>
              <a:gd name="T70" fmla="*/ 5 w 1055"/>
              <a:gd name="T71" fmla="*/ 165 h 199"/>
              <a:gd name="T72" fmla="*/ 5 w 1055"/>
              <a:gd name="T73" fmla="*/ 160 h 199"/>
              <a:gd name="T74" fmla="*/ 0 w 1055"/>
              <a:gd name="T75" fmla="*/ 16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55" h="199">
                <a:moveTo>
                  <a:pt x="1055" y="35"/>
                </a:moveTo>
                <a:lnTo>
                  <a:pt x="1055" y="30"/>
                </a:lnTo>
                <a:lnTo>
                  <a:pt x="1055" y="25"/>
                </a:lnTo>
                <a:lnTo>
                  <a:pt x="1053" y="21"/>
                </a:lnTo>
                <a:lnTo>
                  <a:pt x="1053" y="16"/>
                </a:lnTo>
                <a:lnTo>
                  <a:pt x="1053" y="13"/>
                </a:lnTo>
                <a:lnTo>
                  <a:pt x="1052" y="8"/>
                </a:lnTo>
                <a:lnTo>
                  <a:pt x="1052" y="3"/>
                </a:lnTo>
                <a:lnTo>
                  <a:pt x="1050" y="0"/>
                </a:lnTo>
                <a:lnTo>
                  <a:pt x="1045" y="0"/>
                </a:lnTo>
                <a:lnTo>
                  <a:pt x="1047" y="5"/>
                </a:lnTo>
                <a:lnTo>
                  <a:pt x="1047" y="8"/>
                </a:lnTo>
                <a:lnTo>
                  <a:pt x="1048" y="13"/>
                </a:lnTo>
                <a:lnTo>
                  <a:pt x="1048" y="18"/>
                </a:lnTo>
                <a:lnTo>
                  <a:pt x="1050" y="23"/>
                </a:lnTo>
                <a:lnTo>
                  <a:pt x="1050" y="26"/>
                </a:lnTo>
                <a:lnTo>
                  <a:pt x="1050" y="31"/>
                </a:lnTo>
                <a:lnTo>
                  <a:pt x="1052" y="36"/>
                </a:lnTo>
                <a:lnTo>
                  <a:pt x="1055" y="35"/>
                </a:lnTo>
                <a:close/>
                <a:moveTo>
                  <a:pt x="0" y="162"/>
                </a:moveTo>
                <a:lnTo>
                  <a:pt x="0" y="167"/>
                </a:lnTo>
                <a:lnTo>
                  <a:pt x="2" y="172"/>
                </a:lnTo>
                <a:lnTo>
                  <a:pt x="2" y="175"/>
                </a:lnTo>
                <a:lnTo>
                  <a:pt x="3" y="180"/>
                </a:lnTo>
                <a:lnTo>
                  <a:pt x="3" y="185"/>
                </a:lnTo>
                <a:lnTo>
                  <a:pt x="3" y="189"/>
                </a:lnTo>
                <a:lnTo>
                  <a:pt x="5" y="194"/>
                </a:lnTo>
                <a:lnTo>
                  <a:pt x="5" y="199"/>
                </a:lnTo>
                <a:lnTo>
                  <a:pt x="10" y="199"/>
                </a:lnTo>
                <a:lnTo>
                  <a:pt x="10" y="194"/>
                </a:lnTo>
                <a:lnTo>
                  <a:pt x="8" y="189"/>
                </a:lnTo>
                <a:lnTo>
                  <a:pt x="8" y="184"/>
                </a:lnTo>
                <a:lnTo>
                  <a:pt x="7" y="179"/>
                </a:lnTo>
                <a:lnTo>
                  <a:pt x="7" y="174"/>
                </a:lnTo>
                <a:lnTo>
                  <a:pt x="7" y="170"/>
                </a:lnTo>
                <a:lnTo>
                  <a:pt x="5" y="165"/>
                </a:lnTo>
                <a:lnTo>
                  <a:pt x="5" y="160"/>
                </a:lnTo>
                <a:lnTo>
                  <a:pt x="0" y="162"/>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97" name="Freeform 1202">
            <a:extLst>
              <a:ext uri="{FF2B5EF4-FFF2-40B4-BE49-F238E27FC236}">
                <a16:creationId xmlns:a16="http://schemas.microsoft.com/office/drawing/2014/main" id="{B265B823-9983-6245-D0CF-E42C7183BD73}"/>
              </a:ext>
            </a:extLst>
          </p:cNvPr>
          <p:cNvSpPr>
            <a:spLocks noEditPoints="1"/>
          </p:cNvSpPr>
          <p:nvPr/>
        </p:nvSpPr>
        <p:spPr bwMode="auto">
          <a:xfrm>
            <a:off x="2079625" y="2403475"/>
            <a:ext cx="1668463" cy="315913"/>
          </a:xfrm>
          <a:custGeom>
            <a:avLst/>
            <a:gdLst>
              <a:gd name="T0" fmla="*/ 1051 w 1051"/>
              <a:gd name="T1" fmla="*/ 35 h 199"/>
              <a:gd name="T2" fmla="*/ 1051 w 1051"/>
              <a:gd name="T3" fmla="*/ 31 h 199"/>
              <a:gd name="T4" fmla="*/ 1050 w 1051"/>
              <a:gd name="T5" fmla="*/ 26 h 199"/>
              <a:gd name="T6" fmla="*/ 1050 w 1051"/>
              <a:gd name="T7" fmla="*/ 21 h 199"/>
              <a:gd name="T8" fmla="*/ 1050 w 1051"/>
              <a:gd name="T9" fmla="*/ 18 h 199"/>
              <a:gd name="T10" fmla="*/ 1048 w 1051"/>
              <a:gd name="T11" fmla="*/ 13 h 199"/>
              <a:gd name="T12" fmla="*/ 1048 w 1051"/>
              <a:gd name="T13" fmla="*/ 8 h 199"/>
              <a:gd name="T14" fmla="*/ 1046 w 1051"/>
              <a:gd name="T15" fmla="*/ 5 h 199"/>
              <a:gd name="T16" fmla="*/ 1046 w 1051"/>
              <a:gd name="T17" fmla="*/ 0 h 199"/>
              <a:gd name="T18" fmla="*/ 1041 w 1051"/>
              <a:gd name="T19" fmla="*/ 0 h 199"/>
              <a:gd name="T20" fmla="*/ 1041 w 1051"/>
              <a:gd name="T21" fmla="*/ 5 h 199"/>
              <a:gd name="T22" fmla="*/ 1043 w 1051"/>
              <a:gd name="T23" fmla="*/ 8 h 199"/>
              <a:gd name="T24" fmla="*/ 1043 w 1051"/>
              <a:gd name="T25" fmla="*/ 13 h 199"/>
              <a:gd name="T26" fmla="*/ 1045 w 1051"/>
              <a:gd name="T27" fmla="*/ 18 h 199"/>
              <a:gd name="T28" fmla="*/ 1045 w 1051"/>
              <a:gd name="T29" fmla="*/ 23 h 199"/>
              <a:gd name="T30" fmla="*/ 1046 w 1051"/>
              <a:gd name="T31" fmla="*/ 28 h 199"/>
              <a:gd name="T32" fmla="*/ 1046 w 1051"/>
              <a:gd name="T33" fmla="*/ 33 h 199"/>
              <a:gd name="T34" fmla="*/ 1046 w 1051"/>
              <a:gd name="T35" fmla="*/ 38 h 199"/>
              <a:gd name="T36" fmla="*/ 1051 w 1051"/>
              <a:gd name="T37" fmla="*/ 35 h 199"/>
              <a:gd name="T38" fmla="*/ 0 w 1051"/>
              <a:gd name="T39" fmla="*/ 160 h 199"/>
              <a:gd name="T40" fmla="*/ 1 w 1051"/>
              <a:gd name="T41" fmla="*/ 165 h 199"/>
              <a:gd name="T42" fmla="*/ 1 w 1051"/>
              <a:gd name="T43" fmla="*/ 170 h 199"/>
              <a:gd name="T44" fmla="*/ 3 w 1051"/>
              <a:gd name="T45" fmla="*/ 175 h 199"/>
              <a:gd name="T46" fmla="*/ 3 w 1051"/>
              <a:gd name="T47" fmla="*/ 180 h 199"/>
              <a:gd name="T48" fmla="*/ 3 w 1051"/>
              <a:gd name="T49" fmla="*/ 185 h 199"/>
              <a:gd name="T50" fmla="*/ 5 w 1051"/>
              <a:gd name="T51" fmla="*/ 189 h 199"/>
              <a:gd name="T52" fmla="*/ 5 w 1051"/>
              <a:gd name="T53" fmla="*/ 194 h 199"/>
              <a:gd name="T54" fmla="*/ 6 w 1051"/>
              <a:gd name="T55" fmla="*/ 199 h 199"/>
              <a:gd name="T56" fmla="*/ 11 w 1051"/>
              <a:gd name="T57" fmla="*/ 199 h 199"/>
              <a:gd name="T58" fmla="*/ 10 w 1051"/>
              <a:gd name="T59" fmla="*/ 194 h 199"/>
              <a:gd name="T60" fmla="*/ 10 w 1051"/>
              <a:gd name="T61" fmla="*/ 189 h 199"/>
              <a:gd name="T62" fmla="*/ 8 w 1051"/>
              <a:gd name="T63" fmla="*/ 184 h 199"/>
              <a:gd name="T64" fmla="*/ 8 w 1051"/>
              <a:gd name="T65" fmla="*/ 179 h 199"/>
              <a:gd name="T66" fmla="*/ 6 w 1051"/>
              <a:gd name="T67" fmla="*/ 174 h 199"/>
              <a:gd name="T68" fmla="*/ 6 w 1051"/>
              <a:gd name="T69" fmla="*/ 169 h 199"/>
              <a:gd name="T70" fmla="*/ 6 w 1051"/>
              <a:gd name="T71" fmla="*/ 164 h 199"/>
              <a:gd name="T72" fmla="*/ 5 w 1051"/>
              <a:gd name="T73" fmla="*/ 159 h 199"/>
              <a:gd name="T74" fmla="*/ 0 w 1051"/>
              <a:gd name="T75" fmla="*/ 16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51" h="199">
                <a:moveTo>
                  <a:pt x="1051" y="35"/>
                </a:moveTo>
                <a:lnTo>
                  <a:pt x="1051" y="31"/>
                </a:lnTo>
                <a:lnTo>
                  <a:pt x="1050" y="26"/>
                </a:lnTo>
                <a:lnTo>
                  <a:pt x="1050" y="21"/>
                </a:lnTo>
                <a:lnTo>
                  <a:pt x="1050" y="18"/>
                </a:lnTo>
                <a:lnTo>
                  <a:pt x="1048" y="13"/>
                </a:lnTo>
                <a:lnTo>
                  <a:pt x="1048" y="8"/>
                </a:lnTo>
                <a:lnTo>
                  <a:pt x="1046" y="5"/>
                </a:lnTo>
                <a:lnTo>
                  <a:pt x="1046" y="0"/>
                </a:lnTo>
                <a:lnTo>
                  <a:pt x="1041" y="0"/>
                </a:lnTo>
                <a:lnTo>
                  <a:pt x="1041" y="5"/>
                </a:lnTo>
                <a:lnTo>
                  <a:pt x="1043" y="8"/>
                </a:lnTo>
                <a:lnTo>
                  <a:pt x="1043" y="13"/>
                </a:lnTo>
                <a:lnTo>
                  <a:pt x="1045" y="18"/>
                </a:lnTo>
                <a:lnTo>
                  <a:pt x="1045" y="23"/>
                </a:lnTo>
                <a:lnTo>
                  <a:pt x="1046" y="28"/>
                </a:lnTo>
                <a:lnTo>
                  <a:pt x="1046" y="33"/>
                </a:lnTo>
                <a:lnTo>
                  <a:pt x="1046" y="38"/>
                </a:lnTo>
                <a:lnTo>
                  <a:pt x="1051" y="35"/>
                </a:lnTo>
                <a:close/>
                <a:moveTo>
                  <a:pt x="0" y="160"/>
                </a:moveTo>
                <a:lnTo>
                  <a:pt x="1" y="165"/>
                </a:lnTo>
                <a:lnTo>
                  <a:pt x="1" y="170"/>
                </a:lnTo>
                <a:lnTo>
                  <a:pt x="3" y="175"/>
                </a:lnTo>
                <a:lnTo>
                  <a:pt x="3" y="180"/>
                </a:lnTo>
                <a:lnTo>
                  <a:pt x="3" y="185"/>
                </a:lnTo>
                <a:lnTo>
                  <a:pt x="5" y="189"/>
                </a:lnTo>
                <a:lnTo>
                  <a:pt x="5" y="194"/>
                </a:lnTo>
                <a:lnTo>
                  <a:pt x="6" y="199"/>
                </a:lnTo>
                <a:lnTo>
                  <a:pt x="11" y="199"/>
                </a:lnTo>
                <a:lnTo>
                  <a:pt x="10" y="194"/>
                </a:lnTo>
                <a:lnTo>
                  <a:pt x="10" y="189"/>
                </a:lnTo>
                <a:lnTo>
                  <a:pt x="8" y="184"/>
                </a:lnTo>
                <a:lnTo>
                  <a:pt x="8" y="179"/>
                </a:lnTo>
                <a:lnTo>
                  <a:pt x="6" y="174"/>
                </a:lnTo>
                <a:lnTo>
                  <a:pt x="6" y="169"/>
                </a:lnTo>
                <a:lnTo>
                  <a:pt x="6" y="164"/>
                </a:lnTo>
                <a:lnTo>
                  <a:pt x="5" y="159"/>
                </a:lnTo>
                <a:lnTo>
                  <a:pt x="0" y="16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98" name="Freeform 1203">
            <a:extLst>
              <a:ext uri="{FF2B5EF4-FFF2-40B4-BE49-F238E27FC236}">
                <a16:creationId xmlns:a16="http://schemas.microsoft.com/office/drawing/2014/main" id="{677E1349-7D8E-8606-7AFE-1CA9120F5F2C}"/>
              </a:ext>
            </a:extLst>
          </p:cNvPr>
          <p:cNvSpPr>
            <a:spLocks noEditPoints="1"/>
          </p:cNvSpPr>
          <p:nvPr/>
        </p:nvSpPr>
        <p:spPr bwMode="auto">
          <a:xfrm>
            <a:off x="2084388" y="2403475"/>
            <a:ext cx="1662113" cy="315913"/>
          </a:xfrm>
          <a:custGeom>
            <a:avLst/>
            <a:gdLst>
              <a:gd name="T0" fmla="*/ 1047 w 1047"/>
              <a:gd name="T1" fmla="*/ 36 h 199"/>
              <a:gd name="T2" fmla="*/ 1045 w 1047"/>
              <a:gd name="T3" fmla="*/ 31 h 199"/>
              <a:gd name="T4" fmla="*/ 1045 w 1047"/>
              <a:gd name="T5" fmla="*/ 26 h 199"/>
              <a:gd name="T6" fmla="*/ 1045 w 1047"/>
              <a:gd name="T7" fmla="*/ 23 h 199"/>
              <a:gd name="T8" fmla="*/ 1043 w 1047"/>
              <a:gd name="T9" fmla="*/ 18 h 199"/>
              <a:gd name="T10" fmla="*/ 1043 w 1047"/>
              <a:gd name="T11" fmla="*/ 13 h 199"/>
              <a:gd name="T12" fmla="*/ 1042 w 1047"/>
              <a:gd name="T13" fmla="*/ 8 h 199"/>
              <a:gd name="T14" fmla="*/ 1042 w 1047"/>
              <a:gd name="T15" fmla="*/ 5 h 199"/>
              <a:gd name="T16" fmla="*/ 1040 w 1047"/>
              <a:gd name="T17" fmla="*/ 0 h 199"/>
              <a:gd name="T18" fmla="*/ 1035 w 1047"/>
              <a:gd name="T19" fmla="*/ 0 h 199"/>
              <a:gd name="T20" fmla="*/ 1037 w 1047"/>
              <a:gd name="T21" fmla="*/ 5 h 199"/>
              <a:gd name="T22" fmla="*/ 1037 w 1047"/>
              <a:gd name="T23" fmla="*/ 10 h 199"/>
              <a:gd name="T24" fmla="*/ 1038 w 1047"/>
              <a:gd name="T25" fmla="*/ 15 h 199"/>
              <a:gd name="T26" fmla="*/ 1038 w 1047"/>
              <a:gd name="T27" fmla="*/ 18 h 199"/>
              <a:gd name="T28" fmla="*/ 1040 w 1047"/>
              <a:gd name="T29" fmla="*/ 23 h 199"/>
              <a:gd name="T30" fmla="*/ 1040 w 1047"/>
              <a:gd name="T31" fmla="*/ 28 h 199"/>
              <a:gd name="T32" fmla="*/ 1042 w 1047"/>
              <a:gd name="T33" fmla="*/ 33 h 199"/>
              <a:gd name="T34" fmla="*/ 1042 w 1047"/>
              <a:gd name="T35" fmla="*/ 38 h 199"/>
              <a:gd name="T36" fmla="*/ 1047 w 1047"/>
              <a:gd name="T37" fmla="*/ 36 h 199"/>
              <a:gd name="T38" fmla="*/ 0 w 1047"/>
              <a:gd name="T39" fmla="*/ 160 h 199"/>
              <a:gd name="T40" fmla="*/ 0 w 1047"/>
              <a:gd name="T41" fmla="*/ 165 h 199"/>
              <a:gd name="T42" fmla="*/ 2 w 1047"/>
              <a:gd name="T43" fmla="*/ 170 h 199"/>
              <a:gd name="T44" fmla="*/ 2 w 1047"/>
              <a:gd name="T45" fmla="*/ 174 h 199"/>
              <a:gd name="T46" fmla="*/ 2 w 1047"/>
              <a:gd name="T47" fmla="*/ 179 h 199"/>
              <a:gd name="T48" fmla="*/ 3 w 1047"/>
              <a:gd name="T49" fmla="*/ 184 h 199"/>
              <a:gd name="T50" fmla="*/ 3 w 1047"/>
              <a:gd name="T51" fmla="*/ 189 h 199"/>
              <a:gd name="T52" fmla="*/ 5 w 1047"/>
              <a:gd name="T53" fmla="*/ 194 h 199"/>
              <a:gd name="T54" fmla="*/ 5 w 1047"/>
              <a:gd name="T55" fmla="*/ 199 h 199"/>
              <a:gd name="T56" fmla="*/ 10 w 1047"/>
              <a:gd name="T57" fmla="*/ 199 h 199"/>
              <a:gd name="T58" fmla="*/ 10 w 1047"/>
              <a:gd name="T59" fmla="*/ 194 h 199"/>
              <a:gd name="T60" fmla="*/ 8 w 1047"/>
              <a:gd name="T61" fmla="*/ 189 h 199"/>
              <a:gd name="T62" fmla="*/ 8 w 1047"/>
              <a:gd name="T63" fmla="*/ 184 h 199"/>
              <a:gd name="T64" fmla="*/ 7 w 1047"/>
              <a:gd name="T65" fmla="*/ 179 h 199"/>
              <a:gd name="T66" fmla="*/ 7 w 1047"/>
              <a:gd name="T67" fmla="*/ 174 h 199"/>
              <a:gd name="T68" fmla="*/ 5 w 1047"/>
              <a:gd name="T69" fmla="*/ 169 h 199"/>
              <a:gd name="T70" fmla="*/ 5 w 1047"/>
              <a:gd name="T71" fmla="*/ 164 h 199"/>
              <a:gd name="T72" fmla="*/ 5 w 1047"/>
              <a:gd name="T73" fmla="*/ 157 h 199"/>
              <a:gd name="T74" fmla="*/ 0 w 1047"/>
              <a:gd name="T75" fmla="*/ 16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47" h="199">
                <a:moveTo>
                  <a:pt x="1047" y="36"/>
                </a:moveTo>
                <a:lnTo>
                  <a:pt x="1045" y="31"/>
                </a:lnTo>
                <a:lnTo>
                  <a:pt x="1045" y="26"/>
                </a:lnTo>
                <a:lnTo>
                  <a:pt x="1045" y="23"/>
                </a:lnTo>
                <a:lnTo>
                  <a:pt x="1043" y="18"/>
                </a:lnTo>
                <a:lnTo>
                  <a:pt x="1043" y="13"/>
                </a:lnTo>
                <a:lnTo>
                  <a:pt x="1042" y="8"/>
                </a:lnTo>
                <a:lnTo>
                  <a:pt x="1042" y="5"/>
                </a:lnTo>
                <a:lnTo>
                  <a:pt x="1040" y="0"/>
                </a:lnTo>
                <a:lnTo>
                  <a:pt x="1035" y="0"/>
                </a:lnTo>
                <a:lnTo>
                  <a:pt x="1037" y="5"/>
                </a:lnTo>
                <a:lnTo>
                  <a:pt x="1037" y="10"/>
                </a:lnTo>
                <a:lnTo>
                  <a:pt x="1038" y="15"/>
                </a:lnTo>
                <a:lnTo>
                  <a:pt x="1038" y="18"/>
                </a:lnTo>
                <a:lnTo>
                  <a:pt x="1040" y="23"/>
                </a:lnTo>
                <a:lnTo>
                  <a:pt x="1040" y="28"/>
                </a:lnTo>
                <a:lnTo>
                  <a:pt x="1042" y="33"/>
                </a:lnTo>
                <a:lnTo>
                  <a:pt x="1042" y="38"/>
                </a:lnTo>
                <a:lnTo>
                  <a:pt x="1047" y="36"/>
                </a:lnTo>
                <a:close/>
                <a:moveTo>
                  <a:pt x="0" y="160"/>
                </a:moveTo>
                <a:lnTo>
                  <a:pt x="0" y="165"/>
                </a:lnTo>
                <a:lnTo>
                  <a:pt x="2" y="170"/>
                </a:lnTo>
                <a:lnTo>
                  <a:pt x="2" y="174"/>
                </a:lnTo>
                <a:lnTo>
                  <a:pt x="2" y="179"/>
                </a:lnTo>
                <a:lnTo>
                  <a:pt x="3" y="184"/>
                </a:lnTo>
                <a:lnTo>
                  <a:pt x="3" y="189"/>
                </a:lnTo>
                <a:lnTo>
                  <a:pt x="5" y="194"/>
                </a:lnTo>
                <a:lnTo>
                  <a:pt x="5" y="199"/>
                </a:lnTo>
                <a:lnTo>
                  <a:pt x="10" y="199"/>
                </a:lnTo>
                <a:lnTo>
                  <a:pt x="10" y="194"/>
                </a:lnTo>
                <a:lnTo>
                  <a:pt x="8" y="189"/>
                </a:lnTo>
                <a:lnTo>
                  <a:pt x="8" y="184"/>
                </a:lnTo>
                <a:lnTo>
                  <a:pt x="7" y="179"/>
                </a:lnTo>
                <a:lnTo>
                  <a:pt x="7" y="174"/>
                </a:lnTo>
                <a:lnTo>
                  <a:pt x="5" y="169"/>
                </a:lnTo>
                <a:lnTo>
                  <a:pt x="5" y="164"/>
                </a:lnTo>
                <a:lnTo>
                  <a:pt x="5" y="157"/>
                </a:lnTo>
                <a:lnTo>
                  <a:pt x="0" y="16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0999" name="Freeform 1204">
            <a:extLst>
              <a:ext uri="{FF2B5EF4-FFF2-40B4-BE49-F238E27FC236}">
                <a16:creationId xmlns:a16="http://schemas.microsoft.com/office/drawing/2014/main" id="{26662445-50BB-E73C-E611-9D53593D377F}"/>
              </a:ext>
            </a:extLst>
          </p:cNvPr>
          <p:cNvSpPr>
            <a:spLocks noEditPoints="1"/>
          </p:cNvSpPr>
          <p:nvPr/>
        </p:nvSpPr>
        <p:spPr bwMode="auto">
          <a:xfrm>
            <a:off x="2087563" y="2403475"/>
            <a:ext cx="1652588" cy="315913"/>
          </a:xfrm>
          <a:custGeom>
            <a:avLst/>
            <a:gdLst>
              <a:gd name="T0" fmla="*/ 1041 w 1041"/>
              <a:gd name="T1" fmla="*/ 38 h 199"/>
              <a:gd name="T2" fmla="*/ 1041 w 1041"/>
              <a:gd name="T3" fmla="*/ 33 h 199"/>
              <a:gd name="T4" fmla="*/ 1041 w 1041"/>
              <a:gd name="T5" fmla="*/ 28 h 199"/>
              <a:gd name="T6" fmla="*/ 1040 w 1041"/>
              <a:gd name="T7" fmla="*/ 23 h 199"/>
              <a:gd name="T8" fmla="*/ 1040 w 1041"/>
              <a:gd name="T9" fmla="*/ 18 h 199"/>
              <a:gd name="T10" fmla="*/ 1038 w 1041"/>
              <a:gd name="T11" fmla="*/ 13 h 199"/>
              <a:gd name="T12" fmla="*/ 1038 w 1041"/>
              <a:gd name="T13" fmla="*/ 8 h 199"/>
              <a:gd name="T14" fmla="*/ 1036 w 1041"/>
              <a:gd name="T15" fmla="*/ 5 h 199"/>
              <a:gd name="T16" fmla="*/ 1036 w 1041"/>
              <a:gd name="T17" fmla="*/ 0 h 199"/>
              <a:gd name="T18" fmla="*/ 1031 w 1041"/>
              <a:gd name="T19" fmla="*/ 0 h 199"/>
              <a:gd name="T20" fmla="*/ 1031 w 1041"/>
              <a:gd name="T21" fmla="*/ 5 h 199"/>
              <a:gd name="T22" fmla="*/ 1033 w 1041"/>
              <a:gd name="T23" fmla="*/ 10 h 199"/>
              <a:gd name="T24" fmla="*/ 1033 w 1041"/>
              <a:gd name="T25" fmla="*/ 15 h 199"/>
              <a:gd name="T26" fmla="*/ 1035 w 1041"/>
              <a:gd name="T27" fmla="*/ 20 h 199"/>
              <a:gd name="T28" fmla="*/ 1035 w 1041"/>
              <a:gd name="T29" fmla="*/ 25 h 199"/>
              <a:gd name="T30" fmla="*/ 1036 w 1041"/>
              <a:gd name="T31" fmla="*/ 30 h 199"/>
              <a:gd name="T32" fmla="*/ 1036 w 1041"/>
              <a:gd name="T33" fmla="*/ 35 h 199"/>
              <a:gd name="T34" fmla="*/ 1038 w 1041"/>
              <a:gd name="T35" fmla="*/ 40 h 199"/>
              <a:gd name="T36" fmla="*/ 1041 w 1041"/>
              <a:gd name="T37" fmla="*/ 38 h 199"/>
              <a:gd name="T38" fmla="*/ 0 w 1041"/>
              <a:gd name="T39" fmla="*/ 159 h 199"/>
              <a:gd name="T40" fmla="*/ 1 w 1041"/>
              <a:gd name="T41" fmla="*/ 164 h 199"/>
              <a:gd name="T42" fmla="*/ 1 w 1041"/>
              <a:gd name="T43" fmla="*/ 169 h 199"/>
              <a:gd name="T44" fmla="*/ 1 w 1041"/>
              <a:gd name="T45" fmla="*/ 174 h 199"/>
              <a:gd name="T46" fmla="*/ 3 w 1041"/>
              <a:gd name="T47" fmla="*/ 179 h 199"/>
              <a:gd name="T48" fmla="*/ 3 w 1041"/>
              <a:gd name="T49" fmla="*/ 184 h 199"/>
              <a:gd name="T50" fmla="*/ 5 w 1041"/>
              <a:gd name="T51" fmla="*/ 189 h 199"/>
              <a:gd name="T52" fmla="*/ 5 w 1041"/>
              <a:gd name="T53" fmla="*/ 194 h 199"/>
              <a:gd name="T54" fmla="*/ 6 w 1041"/>
              <a:gd name="T55" fmla="*/ 199 h 199"/>
              <a:gd name="T56" fmla="*/ 11 w 1041"/>
              <a:gd name="T57" fmla="*/ 199 h 199"/>
              <a:gd name="T58" fmla="*/ 10 w 1041"/>
              <a:gd name="T59" fmla="*/ 194 h 199"/>
              <a:gd name="T60" fmla="*/ 10 w 1041"/>
              <a:gd name="T61" fmla="*/ 189 h 199"/>
              <a:gd name="T62" fmla="*/ 8 w 1041"/>
              <a:gd name="T63" fmla="*/ 184 h 199"/>
              <a:gd name="T64" fmla="*/ 8 w 1041"/>
              <a:gd name="T65" fmla="*/ 177 h 199"/>
              <a:gd name="T66" fmla="*/ 6 w 1041"/>
              <a:gd name="T67" fmla="*/ 172 h 199"/>
              <a:gd name="T68" fmla="*/ 6 w 1041"/>
              <a:gd name="T69" fmla="*/ 167 h 199"/>
              <a:gd name="T70" fmla="*/ 5 w 1041"/>
              <a:gd name="T71" fmla="*/ 162 h 199"/>
              <a:gd name="T72" fmla="*/ 5 w 1041"/>
              <a:gd name="T73" fmla="*/ 157 h 199"/>
              <a:gd name="T74" fmla="*/ 0 w 1041"/>
              <a:gd name="T75" fmla="*/ 15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41" h="199">
                <a:moveTo>
                  <a:pt x="1041" y="38"/>
                </a:moveTo>
                <a:lnTo>
                  <a:pt x="1041" y="33"/>
                </a:lnTo>
                <a:lnTo>
                  <a:pt x="1041" y="28"/>
                </a:lnTo>
                <a:lnTo>
                  <a:pt x="1040" y="23"/>
                </a:lnTo>
                <a:lnTo>
                  <a:pt x="1040" y="18"/>
                </a:lnTo>
                <a:lnTo>
                  <a:pt x="1038" y="13"/>
                </a:lnTo>
                <a:lnTo>
                  <a:pt x="1038" y="8"/>
                </a:lnTo>
                <a:lnTo>
                  <a:pt x="1036" y="5"/>
                </a:lnTo>
                <a:lnTo>
                  <a:pt x="1036" y="0"/>
                </a:lnTo>
                <a:lnTo>
                  <a:pt x="1031" y="0"/>
                </a:lnTo>
                <a:lnTo>
                  <a:pt x="1031" y="5"/>
                </a:lnTo>
                <a:lnTo>
                  <a:pt x="1033" y="10"/>
                </a:lnTo>
                <a:lnTo>
                  <a:pt x="1033" y="15"/>
                </a:lnTo>
                <a:lnTo>
                  <a:pt x="1035" y="20"/>
                </a:lnTo>
                <a:lnTo>
                  <a:pt x="1035" y="25"/>
                </a:lnTo>
                <a:lnTo>
                  <a:pt x="1036" y="30"/>
                </a:lnTo>
                <a:lnTo>
                  <a:pt x="1036" y="35"/>
                </a:lnTo>
                <a:lnTo>
                  <a:pt x="1038" y="40"/>
                </a:lnTo>
                <a:lnTo>
                  <a:pt x="1041" y="38"/>
                </a:lnTo>
                <a:close/>
                <a:moveTo>
                  <a:pt x="0" y="159"/>
                </a:moveTo>
                <a:lnTo>
                  <a:pt x="1" y="164"/>
                </a:lnTo>
                <a:lnTo>
                  <a:pt x="1" y="169"/>
                </a:lnTo>
                <a:lnTo>
                  <a:pt x="1" y="174"/>
                </a:lnTo>
                <a:lnTo>
                  <a:pt x="3" y="179"/>
                </a:lnTo>
                <a:lnTo>
                  <a:pt x="3" y="184"/>
                </a:lnTo>
                <a:lnTo>
                  <a:pt x="5" y="189"/>
                </a:lnTo>
                <a:lnTo>
                  <a:pt x="5" y="194"/>
                </a:lnTo>
                <a:lnTo>
                  <a:pt x="6" y="199"/>
                </a:lnTo>
                <a:lnTo>
                  <a:pt x="11" y="199"/>
                </a:lnTo>
                <a:lnTo>
                  <a:pt x="10" y="194"/>
                </a:lnTo>
                <a:lnTo>
                  <a:pt x="10" y="189"/>
                </a:lnTo>
                <a:lnTo>
                  <a:pt x="8" y="184"/>
                </a:lnTo>
                <a:lnTo>
                  <a:pt x="8" y="177"/>
                </a:lnTo>
                <a:lnTo>
                  <a:pt x="6" y="172"/>
                </a:lnTo>
                <a:lnTo>
                  <a:pt x="6" y="167"/>
                </a:lnTo>
                <a:lnTo>
                  <a:pt x="5" y="162"/>
                </a:lnTo>
                <a:lnTo>
                  <a:pt x="5" y="157"/>
                </a:lnTo>
                <a:lnTo>
                  <a:pt x="0" y="159"/>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00" name="Freeform 1205">
            <a:extLst>
              <a:ext uri="{FF2B5EF4-FFF2-40B4-BE49-F238E27FC236}">
                <a16:creationId xmlns:a16="http://schemas.microsoft.com/office/drawing/2014/main" id="{984DF9BD-F27B-1FAF-625E-8F51AED9DBC2}"/>
              </a:ext>
            </a:extLst>
          </p:cNvPr>
          <p:cNvSpPr>
            <a:spLocks noEditPoints="1"/>
          </p:cNvSpPr>
          <p:nvPr/>
        </p:nvSpPr>
        <p:spPr bwMode="auto">
          <a:xfrm>
            <a:off x="2092325" y="2403475"/>
            <a:ext cx="1646238" cy="315913"/>
          </a:xfrm>
          <a:custGeom>
            <a:avLst/>
            <a:gdLst>
              <a:gd name="T0" fmla="*/ 1037 w 1037"/>
              <a:gd name="T1" fmla="*/ 38 h 199"/>
              <a:gd name="T2" fmla="*/ 1037 w 1037"/>
              <a:gd name="T3" fmla="*/ 33 h 199"/>
              <a:gd name="T4" fmla="*/ 1035 w 1037"/>
              <a:gd name="T5" fmla="*/ 28 h 199"/>
              <a:gd name="T6" fmla="*/ 1035 w 1037"/>
              <a:gd name="T7" fmla="*/ 23 h 199"/>
              <a:gd name="T8" fmla="*/ 1033 w 1037"/>
              <a:gd name="T9" fmla="*/ 18 h 199"/>
              <a:gd name="T10" fmla="*/ 1033 w 1037"/>
              <a:gd name="T11" fmla="*/ 15 h 199"/>
              <a:gd name="T12" fmla="*/ 1032 w 1037"/>
              <a:gd name="T13" fmla="*/ 10 h 199"/>
              <a:gd name="T14" fmla="*/ 1032 w 1037"/>
              <a:gd name="T15" fmla="*/ 5 h 199"/>
              <a:gd name="T16" fmla="*/ 1030 w 1037"/>
              <a:gd name="T17" fmla="*/ 0 h 199"/>
              <a:gd name="T18" fmla="*/ 1025 w 1037"/>
              <a:gd name="T19" fmla="*/ 0 h 199"/>
              <a:gd name="T20" fmla="*/ 1027 w 1037"/>
              <a:gd name="T21" fmla="*/ 5 h 199"/>
              <a:gd name="T22" fmla="*/ 1028 w 1037"/>
              <a:gd name="T23" fmla="*/ 10 h 199"/>
              <a:gd name="T24" fmla="*/ 1028 w 1037"/>
              <a:gd name="T25" fmla="*/ 15 h 199"/>
              <a:gd name="T26" fmla="*/ 1030 w 1037"/>
              <a:gd name="T27" fmla="*/ 20 h 199"/>
              <a:gd name="T28" fmla="*/ 1030 w 1037"/>
              <a:gd name="T29" fmla="*/ 25 h 199"/>
              <a:gd name="T30" fmla="*/ 1030 w 1037"/>
              <a:gd name="T31" fmla="*/ 30 h 199"/>
              <a:gd name="T32" fmla="*/ 1032 w 1037"/>
              <a:gd name="T33" fmla="*/ 35 h 199"/>
              <a:gd name="T34" fmla="*/ 1032 w 1037"/>
              <a:gd name="T35" fmla="*/ 40 h 199"/>
              <a:gd name="T36" fmla="*/ 1037 w 1037"/>
              <a:gd name="T37" fmla="*/ 38 h 199"/>
              <a:gd name="T38" fmla="*/ 0 w 1037"/>
              <a:gd name="T39" fmla="*/ 157 h 199"/>
              <a:gd name="T40" fmla="*/ 0 w 1037"/>
              <a:gd name="T41" fmla="*/ 164 h 199"/>
              <a:gd name="T42" fmla="*/ 0 w 1037"/>
              <a:gd name="T43" fmla="*/ 169 h 199"/>
              <a:gd name="T44" fmla="*/ 2 w 1037"/>
              <a:gd name="T45" fmla="*/ 174 h 199"/>
              <a:gd name="T46" fmla="*/ 2 w 1037"/>
              <a:gd name="T47" fmla="*/ 179 h 199"/>
              <a:gd name="T48" fmla="*/ 3 w 1037"/>
              <a:gd name="T49" fmla="*/ 184 h 199"/>
              <a:gd name="T50" fmla="*/ 3 w 1037"/>
              <a:gd name="T51" fmla="*/ 189 h 199"/>
              <a:gd name="T52" fmla="*/ 5 w 1037"/>
              <a:gd name="T53" fmla="*/ 194 h 199"/>
              <a:gd name="T54" fmla="*/ 5 w 1037"/>
              <a:gd name="T55" fmla="*/ 199 h 199"/>
              <a:gd name="T56" fmla="*/ 10 w 1037"/>
              <a:gd name="T57" fmla="*/ 199 h 199"/>
              <a:gd name="T58" fmla="*/ 10 w 1037"/>
              <a:gd name="T59" fmla="*/ 194 h 199"/>
              <a:gd name="T60" fmla="*/ 8 w 1037"/>
              <a:gd name="T61" fmla="*/ 189 h 199"/>
              <a:gd name="T62" fmla="*/ 8 w 1037"/>
              <a:gd name="T63" fmla="*/ 182 h 199"/>
              <a:gd name="T64" fmla="*/ 7 w 1037"/>
              <a:gd name="T65" fmla="*/ 177 h 199"/>
              <a:gd name="T66" fmla="*/ 7 w 1037"/>
              <a:gd name="T67" fmla="*/ 172 h 199"/>
              <a:gd name="T68" fmla="*/ 5 w 1037"/>
              <a:gd name="T69" fmla="*/ 167 h 199"/>
              <a:gd name="T70" fmla="*/ 5 w 1037"/>
              <a:gd name="T71" fmla="*/ 160 h 199"/>
              <a:gd name="T72" fmla="*/ 3 w 1037"/>
              <a:gd name="T73" fmla="*/ 155 h 199"/>
              <a:gd name="T74" fmla="*/ 0 w 1037"/>
              <a:gd name="T75" fmla="*/ 15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37" h="199">
                <a:moveTo>
                  <a:pt x="1037" y="38"/>
                </a:moveTo>
                <a:lnTo>
                  <a:pt x="1037" y="33"/>
                </a:lnTo>
                <a:lnTo>
                  <a:pt x="1035" y="28"/>
                </a:lnTo>
                <a:lnTo>
                  <a:pt x="1035" y="23"/>
                </a:lnTo>
                <a:lnTo>
                  <a:pt x="1033" y="18"/>
                </a:lnTo>
                <a:lnTo>
                  <a:pt x="1033" y="15"/>
                </a:lnTo>
                <a:lnTo>
                  <a:pt x="1032" y="10"/>
                </a:lnTo>
                <a:lnTo>
                  <a:pt x="1032" y="5"/>
                </a:lnTo>
                <a:lnTo>
                  <a:pt x="1030" y="0"/>
                </a:lnTo>
                <a:lnTo>
                  <a:pt x="1025" y="0"/>
                </a:lnTo>
                <a:lnTo>
                  <a:pt x="1027" y="5"/>
                </a:lnTo>
                <a:lnTo>
                  <a:pt x="1028" y="10"/>
                </a:lnTo>
                <a:lnTo>
                  <a:pt x="1028" y="15"/>
                </a:lnTo>
                <a:lnTo>
                  <a:pt x="1030" y="20"/>
                </a:lnTo>
                <a:lnTo>
                  <a:pt x="1030" y="25"/>
                </a:lnTo>
                <a:lnTo>
                  <a:pt x="1030" y="30"/>
                </a:lnTo>
                <a:lnTo>
                  <a:pt x="1032" y="35"/>
                </a:lnTo>
                <a:lnTo>
                  <a:pt x="1032" y="40"/>
                </a:lnTo>
                <a:lnTo>
                  <a:pt x="1037" y="38"/>
                </a:lnTo>
                <a:close/>
                <a:moveTo>
                  <a:pt x="0" y="157"/>
                </a:moveTo>
                <a:lnTo>
                  <a:pt x="0" y="164"/>
                </a:lnTo>
                <a:lnTo>
                  <a:pt x="0" y="169"/>
                </a:lnTo>
                <a:lnTo>
                  <a:pt x="2" y="174"/>
                </a:lnTo>
                <a:lnTo>
                  <a:pt x="2" y="179"/>
                </a:lnTo>
                <a:lnTo>
                  <a:pt x="3" y="184"/>
                </a:lnTo>
                <a:lnTo>
                  <a:pt x="3" y="189"/>
                </a:lnTo>
                <a:lnTo>
                  <a:pt x="5" y="194"/>
                </a:lnTo>
                <a:lnTo>
                  <a:pt x="5" y="199"/>
                </a:lnTo>
                <a:lnTo>
                  <a:pt x="10" y="199"/>
                </a:lnTo>
                <a:lnTo>
                  <a:pt x="10" y="194"/>
                </a:lnTo>
                <a:lnTo>
                  <a:pt x="8" y="189"/>
                </a:lnTo>
                <a:lnTo>
                  <a:pt x="8" y="182"/>
                </a:lnTo>
                <a:lnTo>
                  <a:pt x="7" y="177"/>
                </a:lnTo>
                <a:lnTo>
                  <a:pt x="7" y="172"/>
                </a:lnTo>
                <a:lnTo>
                  <a:pt x="5" y="167"/>
                </a:lnTo>
                <a:lnTo>
                  <a:pt x="5" y="160"/>
                </a:lnTo>
                <a:lnTo>
                  <a:pt x="3" y="155"/>
                </a:lnTo>
                <a:lnTo>
                  <a:pt x="0" y="157"/>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01" name="Freeform 1206">
            <a:extLst>
              <a:ext uri="{FF2B5EF4-FFF2-40B4-BE49-F238E27FC236}">
                <a16:creationId xmlns:a16="http://schemas.microsoft.com/office/drawing/2014/main" id="{A010D1C5-D71D-D9E2-267E-F835BF5DB793}"/>
              </a:ext>
            </a:extLst>
          </p:cNvPr>
          <p:cNvSpPr>
            <a:spLocks noEditPoints="1"/>
          </p:cNvSpPr>
          <p:nvPr/>
        </p:nvSpPr>
        <p:spPr bwMode="auto">
          <a:xfrm>
            <a:off x="2095500" y="2403475"/>
            <a:ext cx="1639888" cy="315913"/>
          </a:xfrm>
          <a:custGeom>
            <a:avLst/>
            <a:gdLst>
              <a:gd name="T0" fmla="*/ 1033 w 1033"/>
              <a:gd name="T1" fmla="*/ 40 h 199"/>
              <a:gd name="T2" fmla="*/ 1031 w 1033"/>
              <a:gd name="T3" fmla="*/ 35 h 199"/>
              <a:gd name="T4" fmla="*/ 1031 w 1033"/>
              <a:gd name="T5" fmla="*/ 30 h 199"/>
              <a:gd name="T6" fmla="*/ 1030 w 1033"/>
              <a:gd name="T7" fmla="*/ 25 h 199"/>
              <a:gd name="T8" fmla="*/ 1030 w 1033"/>
              <a:gd name="T9" fmla="*/ 20 h 199"/>
              <a:gd name="T10" fmla="*/ 1028 w 1033"/>
              <a:gd name="T11" fmla="*/ 15 h 199"/>
              <a:gd name="T12" fmla="*/ 1028 w 1033"/>
              <a:gd name="T13" fmla="*/ 10 h 199"/>
              <a:gd name="T14" fmla="*/ 1026 w 1033"/>
              <a:gd name="T15" fmla="*/ 5 h 199"/>
              <a:gd name="T16" fmla="*/ 1026 w 1033"/>
              <a:gd name="T17" fmla="*/ 0 h 199"/>
              <a:gd name="T18" fmla="*/ 1022 w 1033"/>
              <a:gd name="T19" fmla="*/ 0 h 199"/>
              <a:gd name="T20" fmla="*/ 1023 w 1033"/>
              <a:gd name="T21" fmla="*/ 5 h 199"/>
              <a:gd name="T22" fmla="*/ 1023 w 1033"/>
              <a:gd name="T23" fmla="*/ 10 h 199"/>
              <a:gd name="T24" fmla="*/ 1025 w 1033"/>
              <a:gd name="T25" fmla="*/ 15 h 199"/>
              <a:gd name="T26" fmla="*/ 1025 w 1033"/>
              <a:gd name="T27" fmla="*/ 20 h 199"/>
              <a:gd name="T28" fmla="*/ 1026 w 1033"/>
              <a:gd name="T29" fmla="*/ 26 h 199"/>
              <a:gd name="T30" fmla="*/ 1026 w 1033"/>
              <a:gd name="T31" fmla="*/ 31 h 199"/>
              <a:gd name="T32" fmla="*/ 1026 w 1033"/>
              <a:gd name="T33" fmla="*/ 36 h 199"/>
              <a:gd name="T34" fmla="*/ 1028 w 1033"/>
              <a:gd name="T35" fmla="*/ 41 h 199"/>
              <a:gd name="T36" fmla="*/ 1033 w 1033"/>
              <a:gd name="T37" fmla="*/ 40 h 199"/>
              <a:gd name="T38" fmla="*/ 0 w 1033"/>
              <a:gd name="T39" fmla="*/ 157 h 199"/>
              <a:gd name="T40" fmla="*/ 0 w 1033"/>
              <a:gd name="T41" fmla="*/ 162 h 199"/>
              <a:gd name="T42" fmla="*/ 1 w 1033"/>
              <a:gd name="T43" fmla="*/ 167 h 199"/>
              <a:gd name="T44" fmla="*/ 1 w 1033"/>
              <a:gd name="T45" fmla="*/ 172 h 199"/>
              <a:gd name="T46" fmla="*/ 3 w 1033"/>
              <a:gd name="T47" fmla="*/ 177 h 199"/>
              <a:gd name="T48" fmla="*/ 3 w 1033"/>
              <a:gd name="T49" fmla="*/ 184 h 199"/>
              <a:gd name="T50" fmla="*/ 5 w 1033"/>
              <a:gd name="T51" fmla="*/ 189 h 199"/>
              <a:gd name="T52" fmla="*/ 5 w 1033"/>
              <a:gd name="T53" fmla="*/ 194 h 199"/>
              <a:gd name="T54" fmla="*/ 6 w 1033"/>
              <a:gd name="T55" fmla="*/ 199 h 199"/>
              <a:gd name="T56" fmla="*/ 11 w 1033"/>
              <a:gd name="T57" fmla="*/ 199 h 199"/>
              <a:gd name="T58" fmla="*/ 10 w 1033"/>
              <a:gd name="T59" fmla="*/ 194 h 199"/>
              <a:gd name="T60" fmla="*/ 10 w 1033"/>
              <a:gd name="T61" fmla="*/ 187 h 199"/>
              <a:gd name="T62" fmla="*/ 8 w 1033"/>
              <a:gd name="T63" fmla="*/ 182 h 199"/>
              <a:gd name="T64" fmla="*/ 8 w 1033"/>
              <a:gd name="T65" fmla="*/ 177 h 199"/>
              <a:gd name="T66" fmla="*/ 6 w 1033"/>
              <a:gd name="T67" fmla="*/ 170 h 199"/>
              <a:gd name="T68" fmla="*/ 6 w 1033"/>
              <a:gd name="T69" fmla="*/ 165 h 199"/>
              <a:gd name="T70" fmla="*/ 5 w 1033"/>
              <a:gd name="T71" fmla="*/ 160 h 199"/>
              <a:gd name="T72" fmla="*/ 5 w 1033"/>
              <a:gd name="T73" fmla="*/ 155 h 199"/>
              <a:gd name="T74" fmla="*/ 0 w 1033"/>
              <a:gd name="T75" fmla="*/ 15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33" h="199">
                <a:moveTo>
                  <a:pt x="1033" y="40"/>
                </a:moveTo>
                <a:lnTo>
                  <a:pt x="1031" y="35"/>
                </a:lnTo>
                <a:lnTo>
                  <a:pt x="1031" y="30"/>
                </a:lnTo>
                <a:lnTo>
                  <a:pt x="1030" y="25"/>
                </a:lnTo>
                <a:lnTo>
                  <a:pt x="1030" y="20"/>
                </a:lnTo>
                <a:lnTo>
                  <a:pt x="1028" y="15"/>
                </a:lnTo>
                <a:lnTo>
                  <a:pt x="1028" y="10"/>
                </a:lnTo>
                <a:lnTo>
                  <a:pt x="1026" y="5"/>
                </a:lnTo>
                <a:lnTo>
                  <a:pt x="1026" y="0"/>
                </a:lnTo>
                <a:lnTo>
                  <a:pt x="1022" y="0"/>
                </a:lnTo>
                <a:lnTo>
                  <a:pt x="1023" y="5"/>
                </a:lnTo>
                <a:lnTo>
                  <a:pt x="1023" y="10"/>
                </a:lnTo>
                <a:lnTo>
                  <a:pt x="1025" y="15"/>
                </a:lnTo>
                <a:lnTo>
                  <a:pt x="1025" y="20"/>
                </a:lnTo>
                <a:lnTo>
                  <a:pt x="1026" y="26"/>
                </a:lnTo>
                <a:lnTo>
                  <a:pt x="1026" y="31"/>
                </a:lnTo>
                <a:lnTo>
                  <a:pt x="1026" y="36"/>
                </a:lnTo>
                <a:lnTo>
                  <a:pt x="1028" y="41"/>
                </a:lnTo>
                <a:lnTo>
                  <a:pt x="1033" y="40"/>
                </a:lnTo>
                <a:close/>
                <a:moveTo>
                  <a:pt x="0" y="157"/>
                </a:moveTo>
                <a:lnTo>
                  <a:pt x="0" y="162"/>
                </a:lnTo>
                <a:lnTo>
                  <a:pt x="1" y="167"/>
                </a:lnTo>
                <a:lnTo>
                  <a:pt x="1" y="172"/>
                </a:lnTo>
                <a:lnTo>
                  <a:pt x="3" y="177"/>
                </a:lnTo>
                <a:lnTo>
                  <a:pt x="3" y="184"/>
                </a:lnTo>
                <a:lnTo>
                  <a:pt x="5" y="189"/>
                </a:lnTo>
                <a:lnTo>
                  <a:pt x="5" y="194"/>
                </a:lnTo>
                <a:lnTo>
                  <a:pt x="6" y="199"/>
                </a:lnTo>
                <a:lnTo>
                  <a:pt x="11" y="199"/>
                </a:lnTo>
                <a:lnTo>
                  <a:pt x="10" y="194"/>
                </a:lnTo>
                <a:lnTo>
                  <a:pt x="10" y="187"/>
                </a:lnTo>
                <a:lnTo>
                  <a:pt x="8" y="182"/>
                </a:lnTo>
                <a:lnTo>
                  <a:pt x="8" y="177"/>
                </a:lnTo>
                <a:lnTo>
                  <a:pt x="6" y="170"/>
                </a:lnTo>
                <a:lnTo>
                  <a:pt x="6" y="165"/>
                </a:lnTo>
                <a:lnTo>
                  <a:pt x="5" y="160"/>
                </a:lnTo>
                <a:lnTo>
                  <a:pt x="5" y="155"/>
                </a:lnTo>
                <a:lnTo>
                  <a:pt x="0" y="157"/>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02" name="Freeform 1207">
            <a:extLst>
              <a:ext uri="{FF2B5EF4-FFF2-40B4-BE49-F238E27FC236}">
                <a16:creationId xmlns:a16="http://schemas.microsoft.com/office/drawing/2014/main" id="{162BA277-00FB-D0D9-9337-110B484BBB61}"/>
              </a:ext>
            </a:extLst>
          </p:cNvPr>
          <p:cNvSpPr>
            <a:spLocks noEditPoints="1"/>
          </p:cNvSpPr>
          <p:nvPr/>
        </p:nvSpPr>
        <p:spPr bwMode="auto">
          <a:xfrm>
            <a:off x="2097088" y="2403475"/>
            <a:ext cx="1633538" cy="315913"/>
          </a:xfrm>
          <a:custGeom>
            <a:avLst/>
            <a:gdLst>
              <a:gd name="T0" fmla="*/ 1029 w 1029"/>
              <a:gd name="T1" fmla="*/ 40 h 199"/>
              <a:gd name="T2" fmla="*/ 1029 w 1029"/>
              <a:gd name="T3" fmla="*/ 35 h 199"/>
              <a:gd name="T4" fmla="*/ 1027 w 1029"/>
              <a:gd name="T5" fmla="*/ 30 h 199"/>
              <a:gd name="T6" fmla="*/ 1027 w 1029"/>
              <a:gd name="T7" fmla="*/ 25 h 199"/>
              <a:gd name="T8" fmla="*/ 1027 w 1029"/>
              <a:gd name="T9" fmla="*/ 20 h 199"/>
              <a:gd name="T10" fmla="*/ 1025 w 1029"/>
              <a:gd name="T11" fmla="*/ 15 h 199"/>
              <a:gd name="T12" fmla="*/ 1025 w 1029"/>
              <a:gd name="T13" fmla="*/ 10 h 199"/>
              <a:gd name="T14" fmla="*/ 1024 w 1029"/>
              <a:gd name="T15" fmla="*/ 5 h 199"/>
              <a:gd name="T16" fmla="*/ 1022 w 1029"/>
              <a:gd name="T17" fmla="*/ 0 h 199"/>
              <a:gd name="T18" fmla="*/ 1017 w 1029"/>
              <a:gd name="T19" fmla="*/ 0 h 199"/>
              <a:gd name="T20" fmla="*/ 1019 w 1029"/>
              <a:gd name="T21" fmla="*/ 5 h 199"/>
              <a:gd name="T22" fmla="*/ 1021 w 1029"/>
              <a:gd name="T23" fmla="*/ 10 h 199"/>
              <a:gd name="T24" fmla="*/ 1021 w 1029"/>
              <a:gd name="T25" fmla="*/ 15 h 199"/>
              <a:gd name="T26" fmla="*/ 1022 w 1029"/>
              <a:gd name="T27" fmla="*/ 21 h 199"/>
              <a:gd name="T28" fmla="*/ 1022 w 1029"/>
              <a:gd name="T29" fmla="*/ 26 h 199"/>
              <a:gd name="T30" fmla="*/ 1024 w 1029"/>
              <a:gd name="T31" fmla="*/ 31 h 199"/>
              <a:gd name="T32" fmla="*/ 1024 w 1029"/>
              <a:gd name="T33" fmla="*/ 36 h 199"/>
              <a:gd name="T34" fmla="*/ 1024 w 1029"/>
              <a:gd name="T35" fmla="*/ 43 h 199"/>
              <a:gd name="T36" fmla="*/ 1029 w 1029"/>
              <a:gd name="T37" fmla="*/ 40 h 199"/>
              <a:gd name="T38" fmla="*/ 0 w 1029"/>
              <a:gd name="T39" fmla="*/ 155 h 199"/>
              <a:gd name="T40" fmla="*/ 2 w 1029"/>
              <a:gd name="T41" fmla="*/ 160 h 199"/>
              <a:gd name="T42" fmla="*/ 2 w 1029"/>
              <a:gd name="T43" fmla="*/ 167 h 199"/>
              <a:gd name="T44" fmla="*/ 4 w 1029"/>
              <a:gd name="T45" fmla="*/ 172 h 199"/>
              <a:gd name="T46" fmla="*/ 4 w 1029"/>
              <a:gd name="T47" fmla="*/ 177 h 199"/>
              <a:gd name="T48" fmla="*/ 5 w 1029"/>
              <a:gd name="T49" fmla="*/ 182 h 199"/>
              <a:gd name="T50" fmla="*/ 5 w 1029"/>
              <a:gd name="T51" fmla="*/ 189 h 199"/>
              <a:gd name="T52" fmla="*/ 7 w 1029"/>
              <a:gd name="T53" fmla="*/ 194 h 199"/>
              <a:gd name="T54" fmla="*/ 7 w 1029"/>
              <a:gd name="T55" fmla="*/ 199 h 199"/>
              <a:gd name="T56" fmla="*/ 12 w 1029"/>
              <a:gd name="T57" fmla="*/ 199 h 199"/>
              <a:gd name="T58" fmla="*/ 12 w 1029"/>
              <a:gd name="T59" fmla="*/ 194 h 199"/>
              <a:gd name="T60" fmla="*/ 10 w 1029"/>
              <a:gd name="T61" fmla="*/ 187 h 199"/>
              <a:gd name="T62" fmla="*/ 9 w 1029"/>
              <a:gd name="T63" fmla="*/ 182 h 199"/>
              <a:gd name="T64" fmla="*/ 9 w 1029"/>
              <a:gd name="T65" fmla="*/ 175 h 199"/>
              <a:gd name="T66" fmla="*/ 7 w 1029"/>
              <a:gd name="T67" fmla="*/ 170 h 199"/>
              <a:gd name="T68" fmla="*/ 7 w 1029"/>
              <a:gd name="T69" fmla="*/ 165 h 199"/>
              <a:gd name="T70" fmla="*/ 7 w 1029"/>
              <a:gd name="T71" fmla="*/ 159 h 199"/>
              <a:gd name="T72" fmla="*/ 5 w 1029"/>
              <a:gd name="T73" fmla="*/ 154 h 199"/>
              <a:gd name="T74" fmla="*/ 0 w 1029"/>
              <a:gd name="T75" fmla="*/ 15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29" h="199">
                <a:moveTo>
                  <a:pt x="1029" y="40"/>
                </a:moveTo>
                <a:lnTo>
                  <a:pt x="1029" y="35"/>
                </a:lnTo>
                <a:lnTo>
                  <a:pt x="1027" y="30"/>
                </a:lnTo>
                <a:lnTo>
                  <a:pt x="1027" y="25"/>
                </a:lnTo>
                <a:lnTo>
                  <a:pt x="1027" y="20"/>
                </a:lnTo>
                <a:lnTo>
                  <a:pt x="1025" y="15"/>
                </a:lnTo>
                <a:lnTo>
                  <a:pt x="1025" y="10"/>
                </a:lnTo>
                <a:lnTo>
                  <a:pt x="1024" y="5"/>
                </a:lnTo>
                <a:lnTo>
                  <a:pt x="1022" y="0"/>
                </a:lnTo>
                <a:lnTo>
                  <a:pt x="1017" y="0"/>
                </a:lnTo>
                <a:lnTo>
                  <a:pt x="1019" y="5"/>
                </a:lnTo>
                <a:lnTo>
                  <a:pt x="1021" y="10"/>
                </a:lnTo>
                <a:lnTo>
                  <a:pt x="1021" y="15"/>
                </a:lnTo>
                <a:lnTo>
                  <a:pt x="1022" y="21"/>
                </a:lnTo>
                <a:lnTo>
                  <a:pt x="1022" y="26"/>
                </a:lnTo>
                <a:lnTo>
                  <a:pt x="1024" y="31"/>
                </a:lnTo>
                <a:lnTo>
                  <a:pt x="1024" y="36"/>
                </a:lnTo>
                <a:lnTo>
                  <a:pt x="1024" y="43"/>
                </a:lnTo>
                <a:lnTo>
                  <a:pt x="1029" y="40"/>
                </a:lnTo>
                <a:close/>
                <a:moveTo>
                  <a:pt x="0" y="155"/>
                </a:moveTo>
                <a:lnTo>
                  <a:pt x="2" y="160"/>
                </a:lnTo>
                <a:lnTo>
                  <a:pt x="2" y="167"/>
                </a:lnTo>
                <a:lnTo>
                  <a:pt x="4" y="172"/>
                </a:lnTo>
                <a:lnTo>
                  <a:pt x="4" y="177"/>
                </a:lnTo>
                <a:lnTo>
                  <a:pt x="5" y="182"/>
                </a:lnTo>
                <a:lnTo>
                  <a:pt x="5" y="189"/>
                </a:lnTo>
                <a:lnTo>
                  <a:pt x="7" y="194"/>
                </a:lnTo>
                <a:lnTo>
                  <a:pt x="7" y="199"/>
                </a:lnTo>
                <a:lnTo>
                  <a:pt x="12" y="199"/>
                </a:lnTo>
                <a:lnTo>
                  <a:pt x="12" y="194"/>
                </a:lnTo>
                <a:lnTo>
                  <a:pt x="10" y="187"/>
                </a:lnTo>
                <a:lnTo>
                  <a:pt x="9" y="182"/>
                </a:lnTo>
                <a:lnTo>
                  <a:pt x="9" y="175"/>
                </a:lnTo>
                <a:lnTo>
                  <a:pt x="7" y="170"/>
                </a:lnTo>
                <a:lnTo>
                  <a:pt x="7" y="165"/>
                </a:lnTo>
                <a:lnTo>
                  <a:pt x="7" y="159"/>
                </a:lnTo>
                <a:lnTo>
                  <a:pt x="5" y="154"/>
                </a:lnTo>
                <a:lnTo>
                  <a:pt x="0" y="155"/>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03" name="Freeform 1208">
            <a:extLst>
              <a:ext uri="{FF2B5EF4-FFF2-40B4-BE49-F238E27FC236}">
                <a16:creationId xmlns:a16="http://schemas.microsoft.com/office/drawing/2014/main" id="{C1B99FC6-C43C-C358-94B0-EBD5E0A68D75}"/>
              </a:ext>
            </a:extLst>
          </p:cNvPr>
          <p:cNvSpPr>
            <a:spLocks noEditPoints="1"/>
          </p:cNvSpPr>
          <p:nvPr/>
        </p:nvSpPr>
        <p:spPr bwMode="auto">
          <a:xfrm>
            <a:off x="2103438" y="2403475"/>
            <a:ext cx="1624013" cy="315913"/>
          </a:xfrm>
          <a:custGeom>
            <a:avLst/>
            <a:gdLst>
              <a:gd name="T0" fmla="*/ 1023 w 1023"/>
              <a:gd name="T1" fmla="*/ 41 h 199"/>
              <a:gd name="T2" fmla="*/ 1021 w 1023"/>
              <a:gd name="T3" fmla="*/ 36 h 199"/>
              <a:gd name="T4" fmla="*/ 1021 w 1023"/>
              <a:gd name="T5" fmla="*/ 31 h 199"/>
              <a:gd name="T6" fmla="*/ 1021 w 1023"/>
              <a:gd name="T7" fmla="*/ 26 h 199"/>
              <a:gd name="T8" fmla="*/ 1020 w 1023"/>
              <a:gd name="T9" fmla="*/ 20 h 199"/>
              <a:gd name="T10" fmla="*/ 1020 w 1023"/>
              <a:gd name="T11" fmla="*/ 15 h 199"/>
              <a:gd name="T12" fmla="*/ 1018 w 1023"/>
              <a:gd name="T13" fmla="*/ 10 h 199"/>
              <a:gd name="T14" fmla="*/ 1018 w 1023"/>
              <a:gd name="T15" fmla="*/ 5 h 199"/>
              <a:gd name="T16" fmla="*/ 1017 w 1023"/>
              <a:gd name="T17" fmla="*/ 0 h 199"/>
              <a:gd name="T18" fmla="*/ 1012 w 1023"/>
              <a:gd name="T19" fmla="*/ 0 h 199"/>
              <a:gd name="T20" fmla="*/ 1013 w 1023"/>
              <a:gd name="T21" fmla="*/ 5 h 199"/>
              <a:gd name="T22" fmla="*/ 1013 w 1023"/>
              <a:gd name="T23" fmla="*/ 10 h 199"/>
              <a:gd name="T24" fmla="*/ 1015 w 1023"/>
              <a:gd name="T25" fmla="*/ 16 h 199"/>
              <a:gd name="T26" fmla="*/ 1015 w 1023"/>
              <a:gd name="T27" fmla="*/ 21 h 199"/>
              <a:gd name="T28" fmla="*/ 1017 w 1023"/>
              <a:gd name="T29" fmla="*/ 26 h 199"/>
              <a:gd name="T30" fmla="*/ 1017 w 1023"/>
              <a:gd name="T31" fmla="*/ 33 h 199"/>
              <a:gd name="T32" fmla="*/ 1018 w 1023"/>
              <a:gd name="T33" fmla="*/ 38 h 199"/>
              <a:gd name="T34" fmla="*/ 1018 w 1023"/>
              <a:gd name="T35" fmla="*/ 43 h 199"/>
              <a:gd name="T36" fmla="*/ 1023 w 1023"/>
              <a:gd name="T37" fmla="*/ 41 h 199"/>
              <a:gd name="T38" fmla="*/ 0 w 1023"/>
              <a:gd name="T39" fmla="*/ 155 h 199"/>
              <a:gd name="T40" fmla="*/ 0 w 1023"/>
              <a:gd name="T41" fmla="*/ 160 h 199"/>
              <a:gd name="T42" fmla="*/ 1 w 1023"/>
              <a:gd name="T43" fmla="*/ 165 h 199"/>
              <a:gd name="T44" fmla="*/ 1 w 1023"/>
              <a:gd name="T45" fmla="*/ 170 h 199"/>
              <a:gd name="T46" fmla="*/ 3 w 1023"/>
              <a:gd name="T47" fmla="*/ 177 h 199"/>
              <a:gd name="T48" fmla="*/ 3 w 1023"/>
              <a:gd name="T49" fmla="*/ 182 h 199"/>
              <a:gd name="T50" fmla="*/ 5 w 1023"/>
              <a:gd name="T51" fmla="*/ 187 h 199"/>
              <a:gd name="T52" fmla="*/ 5 w 1023"/>
              <a:gd name="T53" fmla="*/ 194 h 199"/>
              <a:gd name="T54" fmla="*/ 6 w 1023"/>
              <a:gd name="T55" fmla="*/ 199 h 199"/>
              <a:gd name="T56" fmla="*/ 11 w 1023"/>
              <a:gd name="T57" fmla="*/ 199 h 199"/>
              <a:gd name="T58" fmla="*/ 10 w 1023"/>
              <a:gd name="T59" fmla="*/ 192 h 199"/>
              <a:gd name="T60" fmla="*/ 8 w 1023"/>
              <a:gd name="T61" fmla="*/ 187 h 199"/>
              <a:gd name="T62" fmla="*/ 8 w 1023"/>
              <a:gd name="T63" fmla="*/ 182 h 199"/>
              <a:gd name="T64" fmla="*/ 6 w 1023"/>
              <a:gd name="T65" fmla="*/ 175 h 199"/>
              <a:gd name="T66" fmla="*/ 6 w 1023"/>
              <a:gd name="T67" fmla="*/ 170 h 199"/>
              <a:gd name="T68" fmla="*/ 5 w 1023"/>
              <a:gd name="T69" fmla="*/ 164 h 199"/>
              <a:gd name="T70" fmla="*/ 5 w 1023"/>
              <a:gd name="T71" fmla="*/ 159 h 199"/>
              <a:gd name="T72" fmla="*/ 5 w 1023"/>
              <a:gd name="T73" fmla="*/ 152 h 199"/>
              <a:gd name="T74" fmla="*/ 0 w 1023"/>
              <a:gd name="T75" fmla="*/ 15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23" h="199">
                <a:moveTo>
                  <a:pt x="1023" y="41"/>
                </a:moveTo>
                <a:lnTo>
                  <a:pt x="1021" y="36"/>
                </a:lnTo>
                <a:lnTo>
                  <a:pt x="1021" y="31"/>
                </a:lnTo>
                <a:lnTo>
                  <a:pt x="1021" y="26"/>
                </a:lnTo>
                <a:lnTo>
                  <a:pt x="1020" y="20"/>
                </a:lnTo>
                <a:lnTo>
                  <a:pt x="1020" y="15"/>
                </a:lnTo>
                <a:lnTo>
                  <a:pt x="1018" y="10"/>
                </a:lnTo>
                <a:lnTo>
                  <a:pt x="1018" y="5"/>
                </a:lnTo>
                <a:lnTo>
                  <a:pt x="1017" y="0"/>
                </a:lnTo>
                <a:lnTo>
                  <a:pt x="1012" y="0"/>
                </a:lnTo>
                <a:lnTo>
                  <a:pt x="1013" y="5"/>
                </a:lnTo>
                <a:lnTo>
                  <a:pt x="1013" y="10"/>
                </a:lnTo>
                <a:lnTo>
                  <a:pt x="1015" y="16"/>
                </a:lnTo>
                <a:lnTo>
                  <a:pt x="1015" y="21"/>
                </a:lnTo>
                <a:lnTo>
                  <a:pt x="1017" y="26"/>
                </a:lnTo>
                <a:lnTo>
                  <a:pt x="1017" y="33"/>
                </a:lnTo>
                <a:lnTo>
                  <a:pt x="1018" y="38"/>
                </a:lnTo>
                <a:lnTo>
                  <a:pt x="1018" y="43"/>
                </a:lnTo>
                <a:lnTo>
                  <a:pt x="1023" y="41"/>
                </a:lnTo>
                <a:close/>
                <a:moveTo>
                  <a:pt x="0" y="155"/>
                </a:moveTo>
                <a:lnTo>
                  <a:pt x="0" y="160"/>
                </a:lnTo>
                <a:lnTo>
                  <a:pt x="1" y="165"/>
                </a:lnTo>
                <a:lnTo>
                  <a:pt x="1" y="170"/>
                </a:lnTo>
                <a:lnTo>
                  <a:pt x="3" y="177"/>
                </a:lnTo>
                <a:lnTo>
                  <a:pt x="3" y="182"/>
                </a:lnTo>
                <a:lnTo>
                  <a:pt x="5" y="187"/>
                </a:lnTo>
                <a:lnTo>
                  <a:pt x="5" y="194"/>
                </a:lnTo>
                <a:lnTo>
                  <a:pt x="6" y="199"/>
                </a:lnTo>
                <a:lnTo>
                  <a:pt x="11" y="199"/>
                </a:lnTo>
                <a:lnTo>
                  <a:pt x="10" y="192"/>
                </a:lnTo>
                <a:lnTo>
                  <a:pt x="8" y="187"/>
                </a:lnTo>
                <a:lnTo>
                  <a:pt x="8" y="182"/>
                </a:lnTo>
                <a:lnTo>
                  <a:pt x="6" y="175"/>
                </a:lnTo>
                <a:lnTo>
                  <a:pt x="6" y="170"/>
                </a:lnTo>
                <a:lnTo>
                  <a:pt x="5" y="164"/>
                </a:lnTo>
                <a:lnTo>
                  <a:pt x="5" y="159"/>
                </a:lnTo>
                <a:lnTo>
                  <a:pt x="5" y="152"/>
                </a:lnTo>
                <a:lnTo>
                  <a:pt x="0" y="155"/>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04" name="Freeform 1209">
            <a:extLst>
              <a:ext uri="{FF2B5EF4-FFF2-40B4-BE49-F238E27FC236}">
                <a16:creationId xmlns:a16="http://schemas.microsoft.com/office/drawing/2014/main" id="{D02CF9D5-4B9B-3498-353A-E8CF734838EE}"/>
              </a:ext>
            </a:extLst>
          </p:cNvPr>
          <p:cNvSpPr>
            <a:spLocks noEditPoints="1"/>
          </p:cNvSpPr>
          <p:nvPr/>
        </p:nvSpPr>
        <p:spPr bwMode="auto">
          <a:xfrm>
            <a:off x="2105025" y="2403475"/>
            <a:ext cx="1617663" cy="315913"/>
          </a:xfrm>
          <a:custGeom>
            <a:avLst/>
            <a:gdLst>
              <a:gd name="T0" fmla="*/ 1019 w 1019"/>
              <a:gd name="T1" fmla="*/ 43 h 199"/>
              <a:gd name="T2" fmla="*/ 1019 w 1019"/>
              <a:gd name="T3" fmla="*/ 36 h 199"/>
              <a:gd name="T4" fmla="*/ 1019 w 1019"/>
              <a:gd name="T5" fmla="*/ 31 h 199"/>
              <a:gd name="T6" fmla="*/ 1017 w 1019"/>
              <a:gd name="T7" fmla="*/ 26 h 199"/>
              <a:gd name="T8" fmla="*/ 1017 w 1019"/>
              <a:gd name="T9" fmla="*/ 21 h 199"/>
              <a:gd name="T10" fmla="*/ 1016 w 1019"/>
              <a:gd name="T11" fmla="*/ 15 h 199"/>
              <a:gd name="T12" fmla="*/ 1016 w 1019"/>
              <a:gd name="T13" fmla="*/ 10 h 199"/>
              <a:gd name="T14" fmla="*/ 1014 w 1019"/>
              <a:gd name="T15" fmla="*/ 5 h 199"/>
              <a:gd name="T16" fmla="*/ 1012 w 1019"/>
              <a:gd name="T17" fmla="*/ 0 h 199"/>
              <a:gd name="T18" fmla="*/ 1007 w 1019"/>
              <a:gd name="T19" fmla="*/ 0 h 199"/>
              <a:gd name="T20" fmla="*/ 1009 w 1019"/>
              <a:gd name="T21" fmla="*/ 5 h 199"/>
              <a:gd name="T22" fmla="*/ 1011 w 1019"/>
              <a:gd name="T23" fmla="*/ 11 h 199"/>
              <a:gd name="T24" fmla="*/ 1011 w 1019"/>
              <a:gd name="T25" fmla="*/ 16 h 199"/>
              <a:gd name="T26" fmla="*/ 1012 w 1019"/>
              <a:gd name="T27" fmla="*/ 21 h 199"/>
              <a:gd name="T28" fmla="*/ 1012 w 1019"/>
              <a:gd name="T29" fmla="*/ 28 h 199"/>
              <a:gd name="T30" fmla="*/ 1014 w 1019"/>
              <a:gd name="T31" fmla="*/ 33 h 199"/>
              <a:gd name="T32" fmla="*/ 1014 w 1019"/>
              <a:gd name="T33" fmla="*/ 38 h 199"/>
              <a:gd name="T34" fmla="*/ 1016 w 1019"/>
              <a:gd name="T35" fmla="*/ 45 h 199"/>
              <a:gd name="T36" fmla="*/ 1019 w 1019"/>
              <a:gd name="T37" fmla="*/ 43 h 199"/>
              <a:gd name="T38" fmla="*/ 0 w 1019"/>
              <a:gd name="T39" fmla="*/ 154 h 199"/>
              <a:gd name="T40" fmla="*/ 2 w 1019"/>
              <a:gd name="T41" fmla="*/ 159 h 199"/>
              <a:gd name="T42" fmla="*/ 2 w 1019"/>
              <a:gd name="T43" fmla="*/ 165 h 199"/>
              <a:gd name="T44" fmla="*/ 2 w 1019"/>
              <a:gd name="T45" fmla="*/ 170 h 199"/>
              <a:gd name="T46" fmla="*/ 4 w 1019"/>
              <a:gd name="T47" fmla="*/ 175 h 199"/>
              <a:gd name="T48" fmla="*/ 4 w 1019"/>
              <a:gd name="T49" fmla="*/ 182 h 199"/>
              <a:gd name="T50" fmla="*/ 5 w 1019"/>
              <a:gd name="T51" fmla="*/ 187 h 199"/>
              <a:gd name="T52" fmla="*/ 7 w 1019"/>
              <a:gd name="T53" fmla="*/ 194 h 199"/>
              <a:gd name="T54" fmla="*/ 7 w 1019"/>
              <a:gd name="T55" fmla="*/ 199 h 199"/>
              <a:gd name="T56" fmla="*/ 12 w 1019"/>
              <a:gd name="T57" fmla="*/ 199 h 199"/>
              <a:gd name="T58" fmla="*/ 12 w 1019"/>
              <a:gd name="T59" fmla="*/ 192 h 199"/>
              <a:gd name="T60" fmla="*/ 10 w 1019"/>
              <a:gd name="T61" fmla="*/ 187 h 199"/>
              <a:gd name="T62" fmla="*/ 9 w 1019"/>
              <a:gd name="T63" fmla="*/ 180 h 199"/>
              <a:gd name="T64" fmla="*/ 9 w 1019"/>
              <a:gd name="T65" fmla="*/ 175 h 199"/>
              <a:gd name="T66" fmla="*/ 7 w 1019"/>
              <a:gd name="T67" fmla="*/ 169 h 199"/>
              <a:gd name="T68" fmla="*/ 7 w 1019"/>
              <a:gd name="T69" fmla="*/ 164 h 199"/>
              <a:gd name="T70" fmla="*/ 5 w 1019"/>
              <a:gd name="T71" fmla="*/ 157 h 199"/>
              <a:gd name="T72" fmla="*/ 5 w 1019"/>
              <a:gd name="T73" fmla="*/ 152 h 199"/>
              <a:gd name="T74" fmla="*/ 0 w 1019"/>
              <a:gd name="T75" fmla="*/ 15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19" h="199">
                <a:moveTo>
                  <a:pt x="1019" y="43"/>
                </a:moveTo>
                <a:lnTo>
                  <a:pt x="1019" y="36"/>
                </a:lnTo>
                <a:lnTo>
                  <a:pt x="1019" y="31"/>
                </a:lnTo>
                <a:lnTo>
                  <a:pt x="1017" y="26"/>
                </a:lnTo>
                <a:lnTo>
                  <a:pt x="1017" y="21"/>
                </a:lnTo>
                <a:lnTo>
                  <a:pt x="1016" y="15"/>
                </a:lnTo>
                <a:lnTo>
                  <a:pt x="1016" y="10"/>
                </a:lnTo>
                <a:lnTo>
                  <a:pt x="1014" y="5"/>
                </a:lnTo>
                <a:lnTo>
                  <a:pt x="1012" y="0"/>
                </a:lnTo>
                <a:lnTo>
                  <a:pt x="1007" y="0"/>
                </a:lnTo>
                <a:lnTo>
                  <a:pt x="1009" y="5"/>
                </a:lnTo>
                <a:lnTo>
                  <a:pt x="1011" y="11"/>
                </a:lnTo>
                <a:lnTo>
                  <a:pt x="1011" y="16"/>
                </a:lnTo>
                <a:lnTo>
                  <a:pt x="1012" y="21"/>
                </a:lnTo>
                <a:lnTo>
                  <a:pt x="1012" y="28"/>
                </a:lnTo>
                <a:lnTo>
                  <a:pt x="1014" y="33"/>
                </a:lnTo>
                <a:lnTo>
                  <a:pt x="1014" y="38"/>
                </a:lnTo>
                <a:lnTo>
                  <a:pt x="1016" y="45"/>
                </a:lnTo>
                <a:lnTo>
                  <a:pt x="1019" y="43"/>
                </a:lnTo>
                <a:close/>
                <a:moveTo>
                  <a:pt x="0" y="154"/>
                </a:moveTo>
                <a:lnTo>
                  <a:pt x="2" y="159"/>
                </a:lnTo>
                <a:lnTo>
                  <a:pt x="2" y="165"/>
                </a:lnTo>
                <a:lnTo>
                  <a:pt x="2" y="170"/>
                </a:lnTo>
                <a:lnTo>
                  <a:pt x="4" y="175"/>
                </a:lnTo>
                <a:lnTo>
                  <a:pt x="4" y="182"/>
                </a:lnTo>
                <a:lnTo>
                  <a:pt x="5" y="187"/>
                </a:lnTo>
                <a:lnTo>
                  <a:pt x="7" y="194"/>
                </a:lnTo>
                <a:lnTo>
                  <a:pt x="7" y="199"/>
                </a:lnTo>
                <a:lnTo>
                  <a:pt x="12" y="199"/>
                </a:lnTo>
                <a:lnTo>
                  <a:pt x="12" y="192"/>
                </a:lnTo>
                <a:lnTo>
                  <a:pt x="10" y="187"/>
                </a:lnTo>
                <a:lnTo>
                  <a:pt x="9" y="180"/>
                </a:lnTo>
                <a:lnTo>
                  <a:pt x="9" y="175"/>
                </a:lnTo>
                <a:lnTo>
                  <a:pt x="7" y="169"/>
                </a:lnTo>
                <a:lnTo>
                  <a:pt x="7" y="164"/>
                </a:lnTo>
                <a:lnTo>
                  <a:pt x="5" y="157"/>
                </a:lnTo>
                <a:lnTo>
                  <a:pt x="5" y="152"/>
                </a:lnTo>
                <a:lnTo>
                  <a:pt x="0" y="154"/>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05" name="Freeform 1210">
            <a:extLst>
              <a:ext uri="{FF2B5EF4-FFF2-40B4-BE49-F238E27FC236}">
                <a16:creationId xmlns:a16="http://schemas.microsoft.com/office/drawing/2014/main" id="{EA121CD1-45B7-0660-52B9-6A10C263EDA7}"/>
              </a:ext>
            </a:extLst>
          </p:cNvPr>
          <p:cNvSpPr>
            <a:spLocks noEditPoints="1"/>
          </p:cNvSpPr>
          <p:nvPr/>
        </p:nvSpPr>
        <p:spPr bwMode="auto">
          <a:xfrm>
            <a:off x="2111375" y="2403475"/>
            <a:ext cx="1608138" cy="315913"/>
          </a:xfrm>
          <a:custGeom>
            <a:avLst/>
            <a:gdLst>
              <a:gd name="T0" fmla="*/ 1013 w 1013"/>
              <a:gd name="T1" fmla="*/ 43 h 199"/>
              <a:gd name="T2" fmla="*/ 1013 w 1013"/>
              <a:gd name="T3" fmla="*/ 38 h 199"/>
              <a:gd name="T4" fmla="*/ 1012 w 1013"/>
              <a:gd name="T5" fmla="*/ 33 h 199"/>
              <a:gd name="T6" fmla="*/ 1012 w 1013"/>
              <a:gd name="T7" fmla="*/ 26 h 199"/>
              <a:gd name="T8" fmla="*/ 1010 w 1013"/>
              <a:gd name="T9" fmla="*/ 21 h 199"/>
              <a:gd name="T10" fmla="*/ 1010 w 1013"/>
              <a:gd name="T11" fmla="*/ 16 h 199"/>
              <a:gd name="T12" fmla="*/ 1008 w 1013"/>
              <a:gd name="T13" fmla="*/ 10 h 199"/>
              <a:gd name="T14" fmla="*/ 1008 w 1013"/>
              <a:gd name="T15" fmla="*/ 5 h 199"/>
              <a:gd name="T16" fmla="*/ 1007 w 1013"/>
              <a:gd name="T17" fmla="*/ 0 h 199"/>
              <a:gd name="T18" fmla="*/ 1002 w 1013"/>
              <a:gd name="T19" fmla="*/ 0 h 199"/>
              <a:gd name="T20" fmla="*/ 1003 w 1013"/>
              <a:gd name="T21" fmla="*/ 5 h 199"/>
              <a:gd name="T22" fmla="*/ 1003 w 1013"/>
              <a:gd name="T23" fmla="*/ 11 h 199"/>
              <a:gd name="T24" fmla="*/ 1005 w 1013"/>
              <a:gd name="T25" fmla="*/ 16 h 199"/>
              <a:gd name="T26" fmla="*/ 1005 w 1013"/>
              <a:gd name="T27" fmla="*/ 23 h 199"/>
              <a:gd name="T28" fmla="*/ 1007 w 1013"/>
              <a:gd name="T29" fmla="*/ 28 h 199"/>
              <a:gd name="T30" fmla="*/ 1007 w 1013"/>
              <a:gd name="T31" fmla="*/ 33 h 199"/>
              <a:gd name="T32" fmla="*/ 1008 w 1013"/>
              <a:gd name="T33" fmla="*/ 40 h 199"/>
              <a:gd name="T34" fmla="*/ 1008 w 1013"/>
              <a:gd name="T35" fmla="*/ 45 h 199"/>
              <a:gd name="T36" fmla="*/ 1013 w 1013"/>
              <a:gd name="T37" fmla="*/ 43 h 199"/>
              <a:gd name="T38" fmla="*/ 0 w 1013"/>
              <a:gd name="T39" fmla="*/ 152 h 199"/>
              <a:gd name="T40" fmla="*/ 0 w 1013"/>
              <a:gd name="T41" fmla="*/ 159 h 199"/>
              <a:gd name="T42" fmla="*/ 0 w 1013"/>
              <a:gd name="T43" fmla="*/ 164 h 199"/>
              <a:gd name="T44" fmla="*/ 1 w 1013"/>
              <a:gd name="T45" fmla="*/ 170 h 199"/>
              <a:gd name="T46" fmla="*/ 1 w 1013"/>
              <a:gd name="T47" fmla="*/ 175 h 199"/>
              <a:gd name="T48" fmla="*/ 3 w 1013"/>
              <a:gd name="T49" fmla="*/ 182 h 199"/>
              <a:gd name="T50" fmla="*/ 3 w 1013"/>
              <a:gd name="T51" fmla="*/ 187 h 199"/>
              <a:gd name="T52" fmla="*/ 5 w 1013"/>
              <a:gd name="T53" fmla="*/ 192 h 199"/>
              <a:gd name="T54" fmla="*/ 6 w 1013"/>
              <a:gd name="T55" fmla="*/ 199 h 199"/>
              <a:gd name="T56" fmla="*/ 11 w 1013"/>
              <a:gd name="T57" fmla="*/ 199 h 199"/>
              <a:gd name="T58" fmla="*/ 10 w 1013"/>
              <a:gd name="T59" fmla="*/ 192 h 199"/>
              <a:gd name="T60" fmla="*/ 8 w 1013"/>
              <a:gd name="T61" fmla="*/ 187 h 199"/>
              <a:gd name="T62" fmla="*/ 8 w 1013"/>
              <a:gd name="T63" fmla="*/ 180 h 199"/>
              <a:gd name="T64" fmla="*/ 6 w 1013"/>
              <a:gd name="T65" fmla="*/ 175 h 199"/>
              <a:gd name="T66" fmla="*/ 6 w 1013"/>
              <a:gd name="T67" fmla="*/ 169 h 199"/>
              <a:gd name="T68" fmla="*/ 5 w 1013"/>
              <a:gd name="T69" fmla="*/ 162 h 199"/>
              <a:gd name="T70" fmla="*/ 5 w 1013"/>
              <a:gd name="T71" fmla="*/ 157 h 199"/>
              <a:gd name="T72" fmla="*/ 3 w 1013"/>
              <a:gd name="T73" fmla="*/ 151 h 199"/>
              <a:gd name="T74" fmla="*/ 0 w 1013"/>
              <a:gd name="T75" fmla="*/ 15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13" h="199">
                <a:moveTo>
                  <a:pt x="1013" y="43"/>
                </a:moveTo>
                <a:lnTo>
                  <a:pt x="1013" y="38"/>
                </a:lnTo>
                <a:lnTo>
                  <a:pt x="1012" y="33"/>
                </a:lnTo>
                <a:lnTo>
                  <a:pt x="1012" y="26"/>
                </a:lnTo>
                <a:lnTo>
                  <a:pt x="1010" y="21"/>
                </a:lnTo>
                <a:lnTo>
                  <a:pt x="1010" y="16"/>
                </a:lnTo>
                <a:lnTo>
                  <a:pt x="1008" y="10"/>
                </a:lnTo>
                <a:lnTo>
                  <a:pt x="1008" y="5"/>
                </a:lnTo>
                <a:lnTo>
                  <a:pt x="1007" y="0"/>
                </a:lnTo>
                <a:lnTo>
                  <a:pt x="1002" y="0"/>
                </a:lnTo>
                <a:lnTo>
                  <a:pt x="1003" y="5"/>
                </a:lnTo>
                <a:lnTo>
                  <a:pt x="1003" y="11"/>
                </a:lnTo>
                <a:lnTo>
                  <a:pt x="1005" y="16"/>
                </a:lnTo>
                <a:lnTo>
                  <a:pt x="1005" y="23"/>
                </a:lnTo>
                <a:lnTo>
                  <a:pt x="1007" y="28"/>
                </a:lnTo>
                <a:lnTo>
                  <a:pt x="1007" y="33"/>
                </a:lnTo>
                <a:lnTo>
                  <a:pt x="1008" y="40"/>
                </a:lnTo>
                <a:lnTo>
                  <a:pt x="1008" y="45"/>
                </a:lnTo>
                <a:lnTo>
                  <a:pt x="1013" y="43"/>
                </a:lnTo>
                <a:close/>
                <a:moveTo>
                  <a:pt x="0" y="152"/>
                </a:moveTo>
                <a:lnTo>
                  <a:pt x="0" y="159"/>
                </a:lnTo>
                <a:lnTo>
                  <a:pt x="0" y="164"/>
                </a:lnTo>
                <a:lnTo>
                  <a:pt x="1" y="170"/>
                </a:lnTo>
                <a:lnTo>
                  <a:pt x="1" y="175"/>
                </a:lnTo>
                <a:lnTo>
                  <a:pt x="3" y="182"/>
                </a:lnTo>
                <a:lnTo>
                  <a:pt x="3" y="187"/>
                </a:lnTo>
                <a:lnTo>
                  <a:pt x="5" y="192"/>
                </a:lnTo>
                <a:lnTo>
                  <a:pt x="6" y="199"/>
                </a:lnTo>
                <a:lnTo>
                  <a:pt x="11" y="199"/>
                </a:lnTo>
                <a:lnTo>
                  <a:pt x="10" y="192"/>
                </a:lnTo>
                <a:lnTo>
                  <a:pt x="8" y="187"/>
                </a:lnTo>
                <a:lnTo>
                  <a:pt x="8" y="180"/>
                </a:lnTo>
                <a:lnTo>
                  <a:pt x="6" y="175"/>
                </a:lnTo>
                <a:lnTo>
                  <a:pt x="6" y="169"/>
                </a:lnTo>
                <a:lnTo>
                  <a:pt x="5" y="162"/>
                </a:lnTo>
                <a:lnTo>
                  <a:pt x="5" y="157"/>
                </a:lnTo>
                <a:lnTo>
                  <a:pt x="3" y="151"/>
                </a:lnTo>
                <a:lnTo>
                  <a:pt x="0" y="152"/>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06" name="Freeform 1211">
            <a:extLst>
              <a:ext uri="{FF2B5EF4-FFF2-40B4-BE49-F238E27FC236}">
                <a16:creationId xmlns:a16="http://schemas.microsoft.com/office/drawing/2014/main" id="{B096386A-EA31-A891-27D3-122CADE83006}"/>
              </a:ext>
            </a:extLst>
          </p:cNvPr>
          <p:cNvSpPr>
            <a:spLocks noEditPoints="1"/>
          </p:cNvSpPr>
          <p:nvPr/>
        </p:nvSpPr>
        <p:spPr bwMode="auto">
          <a:xfrm>
            <a:off x="2112963" y="2403475"/>
            <a:ext cx="1604963" cy="315913"/>
          </a:xfrm>
          <a:custGeom>
            <a:avLst/>
            <a:gdLst>
              <a:gd name="T0" fmla="*/ 1011 w 1011"/>
              <a:gd name="T1" fmla="*/ 45 h 199"/>
              <a:gd name="T2" fmla="*/ 1009 w 1011"/>
              <a:gd name="T3" fmla="*/ 38 h 199"/>
              <a:gd name="T4" fmla="*/ 1009 w 1011"/>
              <a:gd name="T5" fmla="*/ 33 h 199"/>
              <a:gd name="T6" fmla="*/ 1007 w 1011"/>
              <a:gd name="T7" fmla="*/ 28 h 199"/>
              <a:gd name="T8" fmla="*/ 1007 w 1011"/>
              <a:gd name="T9" fmla="*/ 21 h 199"/>
              <a:gd name="T10" fmla="*/ 1006 w 1011"/>
              <a:gd name="T11" fmla="*/ 16 h 199"/>
              <a:gd name="T12" fmla="*/ 1006 w 1011"/>
              <a:gd name="T13" fmla="*/ 11 h 199"/>
              <a:gd name="T14" fmla="*/ 1004 w 1011"/>
              <a:gd name="T15" fmla="*/ 5 h 199"/>
              <a:gd name="T16" fmla="*/ 1002 w 1011"/>
              <a:gd name="T17" fmla="*/ 0 h 199"/>
              <a:gd name="T18" fmla="*/ 999 w 1011"/>
              <a:gd name="T19" fmla="*/ 0 h 199"/>
              <a:gd name="T20" fmla="*/ 999 w 1011"/>
              <a:gd name="T21" fmla="*/ 5 h 199"/>
              <a:gd name="T22" fmla="*/ 1001 w 1011"/>
              <a:gd name="T23" fmla="*/ 11 h 199"/>
              <a:gd name="T24" fmla="*/ 1001 w 1011"/>
              <a:gd name="T25" fmla="*/ 16 h 199"/>
              <a:gd name="T26" fmla="*/ 1002 w 1011"/>
              <a:gd name="T27" fmla="*/ 23 h 199"/>
              <a:gd name="T28" fmla="*/ 1004 w 1011"/>
              <a:gd name="T29" fmla="*/ 28 h 199"/>
              <a:gd name="T30" fmla="*/ 1004 w 1011"/>
              <a:gd name="T31" fmla="*/ 35 h 199"/>
              <a:gd name="T32" fmla="*/ 1004 w 1011"/>
              <a:gd name="T33" fmla="*/ 41 h 199"/>
              <a:gd name="T34" fmla="*/ 1006 w 1011"/>
              <a:gd name="T35" fmla="*/ 46 h 199"/>
              <a:gd name="T36" fmla="*/ 1011 w 1011"/>
              <a:gd name="T37" fmla="*/ 45 h 199"/>
              <a:gd name="T38" fmla="*/ 0 w 1011"/>
              <a:gd name="T39" fmla="*/ 152 h 199"/>
              <a:gd name="T40" fmla="*/ 0 w 1011"/>
              <a:gd name="T41" fmla="*/ 157 h 199"/>
              <a:gd name="T42" fmla="*/ 2 w 1011"/>
              <a:gd name="T43" fmla="*/ 164 h 199"/>
              <a:gd name="T44" fmla="*/ 2 w 1011"/>
              <a:gd name="T45" fmla="*/ 169 h 199"/>
              <a:gd name="T46" fmla="*/ 4 w 1011"/>
              <a:gd name="T47" fmla="*/ 175 h 199"/>
              <a:gd name="T48" fmla="*/ 4 w 1011"/>
              <a:gd name="T49" fmla="*/ 180 h 199"/>
              <a:gd name="T50" fmla="*/ 5 w 1011"/>
              <a:gd name="T51" fmla="*/ 187 h 199"/>
              <a:gd name="T52" fmla="*/ 7 w 1011"/>
              <a:gd name="T53" fmla="*/ 192 h 199"/>
              <a:gd name="T54" fmla="*/ 7 w 1011"/>
              <a:gd name="T55" fmla="*/ 199 h 199"/>
              <a:gd name="T56" fmla="*/ 12 w 1011"/>
              <a:gd name="T57" fmla="*/ 199 h 199"/>
              <a:gd name="T58" fmla="*/ 10 w 1011"/>
              <a:gd name="T59" fmla="*/ 192 h 199"/>
              <a:gd name="T60" fmla="*/ 10 w 1011"/>
              <a:gd name="T61" fmla="*/ 187 h 199"/>
              <a:gd name="T62" fmla="*/ 9 w 1011"/>
              <a:gd name="T63" fmla="*/ 180 h 199"/>
              <a:gd name="T64" fmla="*/ 9 w 1011"/>
              <a:gd name="T65" fmla="*/ 174 h 199"/>
              <a:gd name="T66" fmla="*/ 7 w 1011"/>
              <a:gd name="T67" fmla="*/ 167 h 199"/>
              <a:gd name="T68" fmla="*/ 7 w 1011"/>
              <a:gd name="T69" fmla="*/ 162 h 199"/>
              <a:gd name="T70" fmla="*/ 5 w 1011"/>
              <a:gd name="T71" fmla="*/ 155 h 199"/>
              <a:gd name="T72" fmla="*/ 5 w 1011"/>
              <a:gd name="T73" fmla="*/ 149 h 199"/>
              <a:gd name="T74" fmla="*/ 0 w 1011"/>
              <a:gd name="T75" fmla="*/ 15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11" h="199">
                <a:moveTo>
                  <a:pt x="1011" y="45"/>
                </a:moveTo>
                <a:lnTo>
                  <a:pt x="1009" y="38"/>
                </a:lnTo>
                <a:lnTo>
                  <a:pt x="1009" y="33"/>
                </a:lnTo>
                <a:lnTo>
                  <a:pt x="1007" y="28"/>
                </a:lnTo>
                <a:lnTo>
                  <a:pt x="1007" y="21"/>
                </a:lnTo>
                <a:lnTo>
                  <a:pt x="1006" y="16"/>
                </a:lnTo>
                <a:lnTo>
                  <a:pt x="1006" y="11"/>
                </a:lnTo>
                <a:lnTo>
                  <a:pt x="1004" y="5"/>
                </a:lnTo>
                <a:lnTo>
                  <a:pt x="1002" y="0"/>
                </a:lnTo>
                <a:lnTo>
                  <a:pt x="999" y="0"/>
                </a:lnTo>
                <a:lnTo>
                  <a:pt x="999" y="5"/>
                </a:lnTo>
                <a:lnTo>
                  <a:pt x="1001" y="11"/>
                </a:lnTo>
                <a:lnTo>
                  <a:pt x="1001" y="16"/>
                </a:lnTo>
                <a:lnTo>
                  <a:pt x="1002" y="23"/>
                </a:lnTo>
                <a:lnTo>
                  <a:pt x="1004" y="28"/>
                </a:lnTo>
                <a:lnTo>
                  <a:pt x="1004" y="35"/>
                </a:lnTo>
                <a:lnTo>
                  <a:pt x="1004" y="41"/>
                </a:lnTo>
                <a:lnTo>
                  <a:pt x="1006" y="46"/>
                </a:lnTo>
                <a:lnTo>
                  <a:pt x="1011" y="45"/>
                </a:lnTo>
                <a:close/>
                <a:moveTo>
                  <a:pt x="0" y="152"/>
                </a:moveTo>
                <a:lnTo>
                  <a:pt x="0" y="157"/>
                </a:lnTo>
                <a:lnTo>
                  <a:pt x="2" y="164"/>
                </a:lnTo>
                <a:lnTo>
                  <a:pt x="2" y="169"/>
                </a:lnTo>
                <a:lnTo>
                  <a:pt x="4" y="175"/>
                </a:lnTo>
                <a:lnTo>
                  <a:pt x="4" y="180"/>
                </a:lnTo>
                <a:lnTo>
                  <a:pt x="5" y="187"/>
                </a:lnTo>
                <a:lnTo>
                  <a:pt x="7" y="192"/>
                </a:lnTo>
                <a:lnTo>
                  <a:pt x="7" y="199"/>
                </a:lnTo>
                <a:lnTo>
                  <a:pt x="12" y="199"/>
                </a:lnTo>
                <a:lnTo>
                  <a:pt x="10" y="192"/>
                </a:lnTo>
                <a:lnTo>
                  <a:pt x="10" y="187"/>
                </a:lnTo>
                <a:lnTo>
                  <a:pt x="9" y="180"/>
                </a:lnTo>
                <a:lnTo>
                  <a:pt x="9" y="174"/>
                </a:lnTo>
                <a:lnTo>
                  <a:pt x="7" y="167"/>
                </a:lnTo>
                <a:lnTo>
                  <a:pt x="7" y="162"/>
                </a:lnTo>
                <a:lnTo>
                  <a:pt x="5" y="155"/>
                </a:lnTo>
                <a:lnTo>
                  <a:pt x="5" y="149"/>
                </a:lnTo>
                <a:lnTo>
                  <a:pt x="0" y="152"/>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07" name="Freeform 1212">
            <a:extLst>
              <a:ext uri="{FF2B5EF4-FFF2-40B4-BE49-F238E27FC236}">
                <a16:creationId xmlns:a16="http://schemas.microsoft.com/office/drawing/2014/main" id="{65DD0148-2635-6BB0-9D2C-B6E2BBFFF683}"/>
              </a:ext>
            </a:extLst>
          </p:cNvPr>
          <p:cNvSpPr>
            <a:spLocks noEditPoints="1"/>
          </p:cNvSpPr>
          <p:nvPr/>
        </p:nvSpPr>
        <p:spPr bwMode="auto">
          <a:xfrm>
            <a:off x="2116138" y="2403475"/>
            <a:ext cx="1595438" cy="315913"/>
          </a:xfrm>
          <a:custGeom>
            <a:avLst/>
            <a:gdLst>
              <a:gd name="T0" fmla="*/ 1005 w 1005"/>
              <a:gd name="T1" fmla="*/ 45 h 199"/>
              <a:gd name="T2" fmla="*/ 1005 w 1005"/>
              <a:gd name="T3" fmla="*/ 40 h 199"/>
              <a:gd name="T4" fmla="*/ 1004 w 1005"/>
              <a:gd name="T5" fmla="*/ 33 h 199"/>
              <a:gd name="T6" fmla="*/ 1004 w 1005"/>
              <a:gd name="T7" fmla="*/ 28 h 199"/>
              <a:gd name="T8" fmla="*/ 1002 w 1005"/>
              <a:gd name="T9" fmla="*/ 23 h 199"/>
              <a:gd name="T10" fmla="*/ 1002 w 1005"/>
              <a:gd name="T11" fmla="*/ 16 h 199"/>
              <a:gd name="T12" fmla="*/ 1000 w 1005"/>
              <a:gd name="T13" fmla="*/ 11 h 199"/>
              <a:gd name="T14" fmla="*/ 1000 w 1005"/>
              <a:gd name="T15" fmla="*/ 5 h 199"/>
              <a:gd name="T16" fmla="*/ 999 w 1005"/>
              <a:gd name="T17" fmla="*/ 0 h 199"/>
              <a:gd name="T18" fmla="*/ 994 w 1005"/>
              <a:gd name="T19" fmla="*/ 0 h 199"/>
              <a:gd name="T20" fmla="*/ 995 w 1005"/>
              <a:gd name="T21" fmla="*/ 5 h 199"/>
              <a:gd name="T22" fmla="*/ 995 w 1005"/>
              <a:gd name="T23" fmla="*/ 11 h 199"/>
              <a:gd name="T24" fmla="*/ 997 w 1005"/>
              <a:gd name="T25" fmla="*/ 18 h 199"/>
              <a:gd name="T26" fmla="*/ 999 w 1005"/>
              <a:gd name="T27" fmla="*/ 23 h 199"/>
              <a:gd name="T28" fmla="*/ 999 w 1005"/>
              <a:gd name="T29" fmla="*/ 30 h 199"/>
              <a:gd name="T30" fmla="*/ 1000 w 1005"/>
              <a:gd name="T31" fmla="*/ 35 h 199"/>
              <a:gd name="T32" fmla="*/ 1000 w 1005"/>
              <a:gd name="T33" fmla="*/ 41 h 199"/>
              <a:gd name="T34" fmla="*/ 1000 w 1005"/>
              <a:gd name="T35" fmla="*/ 48 h 199"/>
              <a:gd name="T36" fmla="*/ 1005 w 1005"/>
              <a:gd name="T37" fmla="*/ 45 h 199"/>
              <a:gd name="T38" fmla="*/ 0 w 1005"/>
              <a:gd name="T39" fmla="*/ 151 h 199"/>
              <a:gd name="T40" fmla="*/ 2 w 1005"/>
              <a:gd name="T41" fmla="*/ 157 h 199"/>
              <a:gd name="T42" fmla="*/ 2 w 1005"/>
              <a:gd name="T43" fmla="*/ 162 h 199"/>
              <a:gd name="T44" fmla="*/ 3 w 1005"/>
              <a:gd name="T45" fmla="*/ 169 h 199"/>
              <a:gd name="T46" fmla="*/ 3 w 1005"/>
              <a:gd name="T47" fmla="*/ 175 h 199"/>
              <a:gd name="T48" fmla="*/ 5 w 1005"/>
              <a:gd name="T49" fmla="*/ 180 h 199"/>
              <a:gd name="T50" fmla="*/ 5 w 1005"/>
              <a:gd name="T51" fmla="*/ 187 h 199"/>
              <a:gd name="T52" fmla="*/ 7 w 1005"/>
              <a:gd name="T53" fmla="*/ 192 h 199"/>
              <a:gd name="T54" fmla="*/ 8 w 1005"/>
              <a:gd name="T55" fmla="*/ 199 h 199"/>
              <a:gd name="T56" fmla="*/ 13 w 1005"/>
              <a:gd name="T57" fmla="*/ 199 h 199"/>
              <a:gd name="T58" fmla="*/ 12 w 1005"/>
              <a:gd name="T59" fmla="*/ 192 h 199"/>
              <a:gd name="T60" fmla="*/ 10 w 1005"/>
              <a:gd name="T61" fmla="*/ 185 h 199"/>
              <a:gd name="T62" fmla="*/ 10 w 1005"/>
              <a:gd name="T63" fmla="*/ 180 h 199"/>
              <a:gd name="T64" fmla="*/ 8 w 1005"/>
              <a:gd name="T65" fmla="*/ 174 h 199"/>
              <a:gd name="T66" fmla="*/ 7 w 1005"/>
              <a:gd name="T67" fmla="*/ 167 h 199"/>
              <a:gd name="T68" fmla="*/ 7 w 1005"/>
              <a:gd name="T69" fmla="*/ 160 h 199"/>
              <a:gd name="T70" fmla="*/ 5 w 1005"/>
              <a:gd name="T71" fmla="*/ 154 h 199"/>
              <a:gd name="T72" fmla="*/ 5 w 1005"/>
              <a:gd name="T73" fmla="*/ 149 h 199"/>
              <a:gd name="T74" fmla="*/ 0 w 1005"/>
              <a:gd name="T75" fmla="*/ 15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05" h="199">
                <a:moveTo>
                  <a:pt x="1005" y="45"/>
                </a:moveTo>
                <a:lnTo>
                  <a:pt x="1005" y="40"/>
                </a:lnTo>
                <a:lnTo>
                  <a:pt x="1004" y="33"/>
                </a:lnTo>
                <a:lnTo>
                  <a:pt x="1004" y="28"/>
                </a:lnTo>
                <a:lnTo>
                  <a:pt x="1002" y="23"/>
                </a:lnTo>
                <a:lnTo>
                  <a:pt x="1002" y="16"/>
                </a:lnTo>
                <a:lnTo>
                  <a:pt x="1000" y="11"/>
                </a:lnTo>
                <a:lnTo>
                  <a:pt x="1000" y="5"/>
                </a:lnTo>
                <a:lnTo>
                  <a:pt x="999" y="0"/>
                </a:lnTo>
                <a:lnTo>
                  <a:pt x="994" y="0"/>
                </a:lnTo>
                <a:lnTo>
                  <a:pt x="995" y="5"/>
                </a:lnTo>
                <a:lnTo>
                  <a:pt x="995" y="11"/>
                </a:lnTo>
                <a:lnTo>
                  <a:pt x="997" y="18"/>
                </a:lnTo>
                <a:lnTo>
                  <a:pt x="999" y="23"/>
                </a:lnTo>
                <a:lnTo>
                  <a:pt x="999" y="30"/>
                </a:lnTo>
                <a:lnTo>
                  <a:pt x="1000" y="35"/>
                </a:lnTo>
                <a:lnTo>
                  <a:pt x="1000" y="41"/>
                </a:lnTo>
                <a:lnTo>
                  <a:pt x="1000" y="48"/>
                </a:lnTo>
                <a:lnTo>
                  <a:pt x="1005" y="45"/>
                </a:lnTo>
                <a:close/>
                <a:moveTo>
                  <a:pt x="0" y="151"/>
                </a:moveTo>
                <a:lnTo>
                  <a:pt x="2" y="157"/>
                </a:lnTo>
                <a:lnTo>
                  <a:pt x="2" y="162"/>
                </a:lnTo>
                <a:lnTo>
                  <a:pt x="3" y="169"/>
                </a:lnTo>
                <a:lnTo>
                  <a:pt x="3" y="175"/>
                </a:lnTo>
                <a:lnTo>
                  <a:pt x="5" y="180"/>
                </a:lnTo>
                <a:lnTo>
                  <a:pt x="5" y="187"/>
                </a:lnTo>
                <a:lnTo>
                  <a:pt x="7" y="192"/>
                </a:lnTo>
                <a:lnTo>
                  <a:pt x="8" y="199"/>
                </a:lnTo>
                <a:lnTo>
                  <a:pt x="13" y="199"/>
                </a:lnTo>
                <a:lnTo>
                  <a:pt x="12" y="192"/>
                </a:lnTo>
                <a:lnTo>
                  <a:pt x="10" y="185"/>
                </a:lnTo>
                <a:lnTo>
                  <a:pt x="10" y="180"/>
                </a:lnTo>
                <a:lnTo>
                  <a:pt x="8" y="174"/>
                </a:lnTo>
                <a:lnTo>
                  <a:pt x="7" y="167"/>
                </a:lnTo>
                <a:lnTo>
                  <a:pt x="7" y="160"/>
                </a:lnTo>
                <a:lnTo>
                  <a:pt x="5" y="154"/>
                </a:lnTo>
                <a:lnTo>
                  <a:pt x="5" y="149"/>
                </a:lnTo>
                <a:lnTo>
                  <a:pt x="0" y="151"/>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08" name="Freeform 1213">
            <a:extLst>
              <a:ext uri="{FF2B5EF4-FFF2-40B4-BE49-F238E27FC236}">
                <a16:creationId xmlns:a16="http://schemas.microsoft.com/office/drawing/2014/main" id="{0FD94569-1DB4-59AB-4778-09228ABF90AB}"/>
              </a:ext>
            </a:extLst>
          </p:cNvPr>
          <p:cNvSpPr>
            <a:spLocks noEditPoints="1"/>
          </p:cNvSpPr>
          <p:nvPr/>
        </p:nvSpPr>
        <p:spPr bwMode="auto">
          <a:xfrm>
            <a:off x="2120900" y="2403475"/>
            <a:ext cx="1589088" cy="315913"/>
          </a:xfrm>
          <a:custGeom>
            <a:avLst/>
            <a:gdLst>
              <a:gd name="T0" fmla="*/ 1001 w 1001"/>
              <a:gd name="T1" fmla="*/ 46 h 199"/>
              <a:gd name="T2" fmla="*/ 999 w 1001"/>
              <a:gd name="T3" fmla="*/ 41 h 199"/>
              <a:gd name="T4" fmla="*/ 999 w 1001"/>
              <a:gd name="T5" fmla="*/ 35 h 199"/>
              <a:gd name="T6" fmla="*/ 999 w 1001"/>
              <a:gd name="T7" fmla="*/ 28 h 199"/>
              <a:gd name="T8" fmla="*/ 997 w 1001"/>
              <a:gd name="T9" fmla="*/ 23 h 199"/>
              <a:gd name="T10" fmla="*/ 996 w 1001"/>
              <a:gd name="T11" fmla="*/ 16 h 199"/>
              <a:gd name="T12" fmla="*/ 996 w 1001"/>
              <a:gd name="T13" fmla="*/ 11 h 199"/>
              <a:gd name="T14" fmla="*/ 994 w 1001"/>
              <a:gd name="T15" fmla="*/ 5 h 199"/>
              <a:gd name="T16" fmla="*/ 994 w 1001"/>
              <a:gd name="T17" fmla="*/ 0 h 199"/>
              <a:gd name="T18" fmla="*/ 989 w 1001"/>
              <a:gd name="T19" fmla="*/ 0 h 199"/>
              <a:gd name="T20" fmla="*/ 989 w 1001"/>
              <a:gd name="T21" fmla="*/ 6 h 199"/>
              <a:gd name="T22" fmla="*/ 991 w 1001"/>
              <a:gd name="T23" fmla="*/ 11 h 199"/>
              <a:gd name="T24" fmla="*/ 992 w 1001"/>
              <a:gd name="T25" fmla="*/ 18 h 199"/>
              <a:gd name="T26" fmla="*/ 992 w 1001"/>
              <a:gd name="T27" fmla="*/ 23 h 199"/>
              <a:gd name="T28" fmla="*/ 994 w 1001"/>
              <a:gd name="T29" fmla="*/ 30 h 199"/>
              <a:gd name="T30" fmla="*/ 994 w 1001"/>
              <a:gd name="T31" fmla="*/ 36 h 199"/>
              <a:gd name="T32" fmla="*/ 996 w 1001"/>
              <a:gd name="T33" fmla="*/ 43 h 199"/>
              <a:gd name="T34" fmla="*/ 996 w 1001"/>
              <a:gd name="T35" fmla="*/ 48 h 199"/>
              <a:gd name="T36" fmla="*/ 1001 w 1001"/>
              <a:gd name="T37" fmla="*/ 46 h 199"/>
              <a:gd name="T38" fmla="*/ 0 w 1001"/>
              <a:gd name="T39" fmla="*/ 149 h 199"/>
              <a:gd name="T40" fmla="*/ 0 w 1001"/>
              <a:gd name="T41" fmla="*/ 155 h 199"/>
              <a:gd name="T42" fmla="*/ 2 w 1001"/>
              <a:gd name="T43" fmla="*/ 162 h 199"/>
              <a:gd name="T44" fmla="*/ 2 w 1001"/>
              <a:gd name="T45" fmla="*/ 167 h 199"/>
              <a:gd name="T46" fmla="*/ 4 w 1001"/>
              <a:gd name="T47" fmla="*/ 174 h 199"/>
              <a:gd name="T48" fmla="*/ 4 w 1001"/>
              <a:gd name="T49" fmla="*/ 180 h 199"/>
              <a:gd name="T50" fmla="*/ 5 w 1001"/>
              <a:gd name="T51" fmla="*/ 187 h 199"/>
              <a:gd name="T52" fmla="*/ 5 w 1001"/>
              <a:gd name="T53" fmla="*/ 192 h 199"/>
              <a:gd name="T54" fmla="*/ 7 w 1001"/>
              <a:gd name="T55" fmla="*/ 199 h 199"/>
              <a:gd name="T56" fmla="*/ 12 w 1001"/>
              <a:gd name="T57" fmla="*/ 199 h 199"/>
              <a:gd name="T58" fmla="*/ 10 w 1001"/>
              <a:gd name="T59" fmla="*/ 192 h 199"/>
              <a:gd name="T60" fmla="*/ 10 w 1001"/>
              <a:gd name="T61" fmla="*/ 185 h 199"/>
              <a:gd name="T62" fmla="*/ 9 w 1001"/>
              <a:gd name="T63" fmla="*/ 179 h 199"/>
              <a:gd name="T64" fmla="*/ 7 w 1001"/>
              <a:gd name="T65" fmla="*/ 174 h 199"/>
              <a:gd name="T66" fmla="*/ 7 w 1001"/>
              <a:gd name="T67" fmla="*/ 167 h 199"/>
              <a:gd name="T68" fmla="*/ 5 w 1001"/>
              <a:gd name="T69" fmla="*/ 160 h 199"/>
              <a:gd name="T70" fmla="*/ 5 w 1001"/>
              <a:gd name="T71" fmla="*/ 154 h 199"/>
              <a:gd name="T72" fmla="*/ 4 w 1001"/>
              <a:gd name="T73" fmla="*/ 147 h 199"/>
              <a:gd name="T74" fmla="*/ 0 w 1001"/>
              <a:gd name="T75" fmla="*/ 14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01" h="199">
                <a:moveTo>
                  <a:pt x="1001" y="46"/>
                </a:moveTo>
                <a:lnTo>
                  <a:pt x="999" y="41"/>
                </a:lnTo>
                <a:lnTo>
                  <a:pt x="999" y="35"/>
                </a:lnTo>
                <a:lnTo>
                  <a:pt x="999" y="28"/>
                </a:lnTo>
                <a:lnTo>
                  <a:pt x="997" y="23"/>
                </a:lnTo>
                <a:lnTo>
                  <a:pt x="996" y="16"/>
                </a:lnTo>
                <a:lnTo>
                  <a:pt x="996" y="11"/>
                </a:lnTo>
                <a:lnTo>
                  <a:pt x="994" y="5"/>
                </a:lnTo>
                <a:lnTo>
                  <a:pt x="994" y="0"/>
                </a:lnTo>
                <a:lnTo>
                  <a:pt x="989" y="0"/>
                </a:lnTo>
                <a:lnTo>
                  <a:pt x="989" y="6"/>
                </a:lnTo>
                <a:lnTo>
                  <a:pt x="991" y="11"/>
                </a:lnTo>
                <a:lnTo>
                  <a:pt x="992" y="18"/>
                </a:lnTo>
                <a:lnTo>
                  <a:pt x="992" y="23"/>
                </a:lnTo>
                <a:lnTo>
                  <a:pt x="994" y="30"/>
                </a:lnTo>
                <a:lnTo>
                  <a:pt x="994" y="36"/>
                </a:lnTo>
                <a:lnTo>
                  <a:pt x="996" y="43"/>
                </a:lnTo>
                <a:lnTo>
                  <a:pt x="996" y="48"/>
                </a:lnTo>
                <a:lnTo>
                  <a:pt x="1001" y="46"/>
                </a:lnTo>
                <a:close/>
                <a:moveTo>
                  <a:pt x="0" y="149"/>
                </a:moveTo>
                <a:lnTo>
                  <a:pt x="0" y="155"/>
                </a:lnTo>
                <a:lnTo>
                  <a:pt x="2" y="162"/>
                </a:lnTo>
                <a:lnTo>
                  <a:pt x="2" y="167"/>
                </a:lnTo>
                <a:lnTo>
                  <a:pt x="4" y="174"/>
                </a:lnTo>
                <a:lnTo>
                  <a:pt x="4" y="180"/>
                </a:lnTo>
                <a:lnTo>
                  <a:pt x="5" y="187"/>
                </a:lnTo>
                <a:lnTo>
                  <a:pt x="5" y="192"/>
                </a:lnTo>
                <a:lnTo>
                  <a:pt x="7" y="199"/>
                </a:lnTo>
                <a:lnTo>
                  <a:pt x="12" y="199"/>
                </a:lnTo>
                <a:lnTo>
                  <a:pt x="10" y="192"/>
                </a:lnTo>
                <a:lnTo>
                  <a:pt x="10" y="185"/>
                </a:lnTo>
                <a:lnTo>
                  <a:pt x="9" y="179"/>
                </a:lnTo>
                <a:lnTo>
                  <a:pt x="7" y="174"/>
                </a:lnTo>
                <a:lnTo>
                  <a:pt x="7" y="167"/>
                </a:lnTo>
                <a:lnTo>
                  <a:pt x="5" y="160"/>
                </a:lnTo>
                <a:lnTo>
                  <a:pt x="5" y="154"/>
                </a:lnTo>
                <a:lnTo>
                  <a:pt x="4" y="147"/>
                </a:lnTo>
                <a:lnTo>
                  <a:pt x="0" y="149"/>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09" name="Freeform 1214">
            <a:extLst>
              <a:ext uri="{FF2B5EF4-FFF2-40B4-BE49-F238E27FC236}">
                <a16:creationId xmlns:a16="http://schemas.microsoft.com/office/drawing/2014/main" id="{C0CA398B-CFA8-A7D7-A60A-5A647B95B4B7}"/>
              </a:ext>
            </a:extLst>
          </p:cNvPr>
          <p:cNvSpPr>
            <a:spLocks noEditPoints="1"/>
          </p:cNvSpPr>
          <p:nvPr/>
        </p:nvSpPr>
        <p:spPr bwMode="auto">
          <a:xfrm>
            <a:off x="2124075" y="2403475"/>
            <a:ext cx="1579563" cy="315913"/>
          </a:xfrm>
          <a:custGeom>
            <a:avLst/>
            <a:gdLst>
              <a:gd name="T0" fmla="*/ 995 w 995"/>
              <a:gd name="T1" fmla="*/ 48 h 199"/>
              <a:gd name="T2" fmla="*/ 995 w 995"/>
              <a:gd name="T3" fmla="*/ 41 h 199"/>
              <a:gd name="T4" fmla="*/ 995 w 995"/>
              <a:gd name="T5" fmla="*/ 35 h 199"/>
              <a:gd name="T6" fmla="*/ 994 w 995"/>
              <a:gd name="T7" fmla="*/ 30 h 199"/>
              <a:gd name="T8" fmla="*/ 994 w 995"/>
              <a:gd name="T9" fmla="*/ 23 h 199"/>
              <a:gd name="T10" fmla="*/ 992 w 995"/>
              <a:gd name="T11" fmla="*/ 18 h 199"/>
              <a:gd name="T12" fmla="*/ 990 w 995"/>
              <a:gd name="T13" fmla="*/ 11 h 199"/>
              <a:gd name="T14" fmla="*/ 990 w 995"/>
              <a:gd name="T15" fmla="*/ 5 h 199"/>
              <a:gd name="T16" fmla="*/ 989 w 995"/>
              <a:gd name="T17" fmla="*/ 0 h 199"/>
              <a:gd name="T18" fmla="*/ 984 w 995"/>
              <a:gd name="T19" fmla="*/ 0 h 199"/>
              <a:gd name="T20" fmla="*/ 985 w 995"/>
              <a:gd name="T21" fmla="*/ 6 h 199"/>
              <a:gd name="T22" fmla="*/ 987 w 995"/>
              <a:gd name="T23" fmla="*/ 11 h 199"/>
              <a:gd name="T24" fmla="*/ 987 w 995"/>
              <a:gd name="T25" fmla="*/ 18 h 199"/>
              <a:gd name="T26" fmla="*/ 989 w 995"/>
              <a:gd name="T27" fmla="*/ 25 h 199"/>
              <a:gd name="T28" fmla="*/ 989 w 995"/>
              <a:gd name="T29" fmla="*/ 31 h 199"/>
              <a:gd name="T30" fmla="*/ 990 w 995"/>
              <a:gd name="T31" fmla="*/ 36 h 199"/>
              <a:gd name="T32" fmla="*/ 990 w 995"/>
              <a:gd name="T33" fmla="*/ 43 h 199"/>
              <a:gd name="T34" fmla="*/ 992 w 995"/>
              <a:gd name="T35" fmla="*/ 50 h 199"/>
              <a:gd name="T36" fmla="*/ 995 w 995"/>
              <a:gd name="T37" fmla="*/ 48 h 199"/>
              <a:gd name="T38" fmla="*/ 0 w 995"/>
              <a:gd name="T39" fmla="*/ 149 h 199"/>
              <a:gd name="T40" fmla="*/ 0 w 995"/>
              <a:gd name="T41" fmla="*/ 154 h 199"/>
              <a:gd name="T42" fmla="*/ 2 w 995"/>
              <a:gd name="T43" fmla="*/ 160 h 199"/>
              <a:gd name="T44" fmla="*/ 2 w 995"/>
              <a:gd name="T45" fmla="*/ 167 h 199"/>
              <a:gd name="T46" fmla="*/ 3 w 995"/>
              <a:gd name="T47" fmla="*/ 174 h 199"/>
              <a:gd name="T48" fmla="*/ 5 w 995"/>
              <a:gd name="T49" fmla="*/ 180 h 199"/>
              <a:gd name="T50" fmla="*/ 5 w 995"/>
              <a:gd name="T51" fmla="*/ 185 h 199"/>
              <a:gd name="T52" fmla="*/ 7 w 995"/>
              <a:gd name="T53" fmla="*/ 192 h 199"/>
              <a:gd name="T54" fmla="*/ 8 w 995"/>
              <a:gd name="T55" fmla="*/ 199 h 199"/>
              <a:gd name="T56" fmla="*/ 13 w 995"/>
              <a:gd name="T57" fmla="*/ 199 h 199"/>
              <a:gd name="T58" fmla="*/ 12 w 995"/>
              <a:gd name="T59" fmla="*/ 192 h 199"/>
              <a:gd name="T60" fmla="*/ 10 w 995"/>
              <a:gd name="T61" fmla="*/ 185 h 199"/>
              <a:gd name="T62" fmla="*/ 8 w 995"/>
              <a:gd name="T63" fmla="*/ 179 h 199"/>
              <a:gd name="T64" fmla="*/ 8 w 995"/>
              <a:gd name="T65" fmla="*/ 172 h 199"/>
              <a:gd name="T66" fmla="*/ 7 w 995"/>
              <a:gd name="T67" fmla="*/ 165 h 199"/>
              <a:gd name="T68" fmla="*/ 7 w 995"/>
              <a:gd name="T69" fmla="*/ 159 h 199"/>
              <a:gd name="T70" fmla="*/ 5 w 995"/>
              <a:gd name="T71" fmla="*/ 152 h 199"/>
              <a:gd name="T72" fmla="*/ 5 w 995"/>
              <a:gd name="T73" fmla="*/ 146 h 199"/>
              <a:gd name="T74" fmla="*/ 0 w 995"/>
              <a:gd name="T75" fmla="*/ 14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95" h="199">
                <a:moveTo>
                  <a:pt x="995" y="48"/>
                </a:moveTo>
                <a:lnTo>
                  <a:pt x="995" y="41"/>
                </a:lnTo>
                <a:lnTo>
                  <a:pt x="995" y="35"/>
                </a:lnTo>
                <a:lnTo>
                  <a:pt x="994" y="30"/>
                </a:lnTo>
                <a:lnTo>
                  <a:pt x="994" y="23"/>
                </a:lnTo>
                <a:lnTo>
                  <a:pt x="992" y="18"/>
                </a:lnTo>
                <a:lnTo>
                  <a:pt x="990" y="11"/>
                </a:lnTo>
                <a:lnTo>
                  <a:pt x="990" y="5"/>
                </a:lnTo>
                <a:lnTo>
                  <a:pt x="989" y="0"/>
                </a:lnTo>
                <a:lnTo>
                  <a:pt x="984" y="0"/>
                </a:lnTo>
                <a:lnTo>
                  <a:pt x="985" y="6"/>
                </a:lnTo>
                <a:lnTo>
                  <a:pt x="987" y="11"/>
                </a:lnTo>
                <a:lnTo>
                  <a:pt x="987" y="18"/>
                </a:lnTo>
                <a:lnTo>
                  <a:pt x="989" y="25"/>
                </a:lnTo>
                <a:lnTo>
                  <a:pt x="989" y="31"/>
                </a:lnTo>
                <a:lnTo>
                  <a:pt x="990" y="36"/>
                </a:lnTo>
                <a:lnTo>
                  <a:pt x="990" y="43"/>
                </a:lnTo>
                <a:lnTo>
                  <a:pt x="992" y="50"/>
                </a:lnTo>
                <a:lnTo>
                  <a:pt x="995" y="48"/>
                </a:lnTo>
                <a:close/>
                <a:moveTo>
                  <a:pt x="0" y="149"/>
                </a:moveTo>
                <a:lnTo>
                  <a:pt x="0" y="154"/>
                </a:lnTo>
                <a:lnTo>
                  <a:pt x="2" y="160"/>
                </a:lnTo>
                <a:lnTo>
                  <a:pt x="2" y="167"/>
                </a:lnTo>
                <a:lnTo>
                  <a:pt x="3" y="174"/>
                </a:lnTo>
                <a:lnTo>
                  <a:pt x="5" y="180"/>
                </a:lnTo>
                <a:lnTo>
                  <a:pt x="5" y="185"/>
                </a:lnTo>
                <a:lnTo>
                  <a:pt x="7" y="192"/>
                </a:lnTo>
                <a:lnTo>
                  <a:pt x="8" y="199"/>
                </a:lnTo>
                <a:lnTo>
                  <a:pt x="13" y="199"/>
                </a:lnTo>
                <a:lnTo>
                  <a:pt x="12" y="192"/>
                </a:lnTo>
                <a:lnTo>
                  <a:pt x="10" y="185"/>
                </a:lnTo>
                <a:lnTo>
                  <a:pt x="8" y="179"/>
                </a:lnTo>
                <a:lnTo>
                  <a:pt x="8" y="172"/>
                </a:lnTo>
                <a:lnTo>
                  <a:pt x="7" y="165"/>
                </a:lnTo>
                <a:lnTo>
                  <a:pt x="7" y="159"/>
                </a:lnTo>
                <a:lnTo>
                  <a:pt x="5" y="152"/>
                </a:lnTo>
                <a:lnTo>
                  <a:pt x="5" y="146"/>
                </a:lnTo>
                <a:lnTo>
                  <a:pt x="0" y="149"/>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10" name="Freeform 1215">
            <a:extLst>
              <a:ext uri="{FF2B5EF4-FFF2-40B4-BE49-F238E27FC236}">
                <a16:creationId xmlns:a16="http://schemas.microsoft.com/office/drawing/2014/main" id="{53FC33DE-4987-A058-FDD9-D7936C77381B}"/>
              </a:ext>
            </a:extLst>
          </p:cNvPr>
          <p:cNvSpPr>
            <a:spLocks noEditPoints="1"/>
          </p:cNvSpPr>
          <p:nvPr/>
        </p:nvSpPr>
        <p:spPr bwMode="auto">
          <a:xfrm>
            <a:off x="2127250" y="2403475"/>
            <a:ext cx="1574800" cy="315913"/>
          </a:xfrm>
          <a:custGeom>
            <a:avLst/>
            <a:gdLst>
              <a:gd name="T0" fmla="*/ 992 w 992"/>
              <a:gd name="T1" fmla="*/ 48 h 199"/>
              <a:gd name="T2" fmla="*/ 992 w 992"/>
              <a:gd name="T3" fmla="*/ 43 h 199"/>
              <a:gd name="T4" fmla="*/ 990 w 992"/>
              <a:gd name="T5" fmla="*/ 36 h 199"/>
              <a:gd name="T6" fmla="*/ 990 w 992"/>
              <a:gd name="T7" fmla="*/ 30 h 199"/>
              <a:gd name="T8" fmla="*/ 988 w 992"/>
              <a:gd name="T9" fmla="*/ 23 h 199"/>
              <a:gd name="T10" fmla="*/ 988 w 992"/>
              <a:gd name="T11" fmla="*/ 18 h 199"/>
              <a:gd name="T12" fmla="*/ 987 w 992"/>
              <a:gd name="T13" fmla="*/ 11 h 199"/>
              <a:gd name="T14" fmla="*/ 985 w 992"/>
              <a:gd name="T15" fmla="*/ 6 h 199"/>
              <a:gd name="T16" fmla="*/ 985 w 992"/>
              <a:gd name="T17" fmla="*/ 0 h 199"/>
              <a:gd name="T18" fmla="*/ 980 w 992"/>
              <a:gd name="T19" fmla="*/ 0 h 199"/>
              <a:gd name="T20" fmla="*/ 980 w 992"/>
              <a:gd name="T21" fmla="*/ 6 h 199"/>
              <a:gd name="T22" fmla="*/ 982 w 992"/>
              <a:gd name="T23" fmla="*/ 11 h 199"/>
              <a:gd name="T24" fmla="*/ 983 w 992"/>
              <a:gd name="T25" fmla="*/ 18 h 199"/>
              <a:gd name="T26" fmla="*/ 983 w 992"/>
              <a:gd name="T27" fmla="*/ 25 h 199"/>
              <a:gd name="T28" fmla="*/ 985 w 992"/>
              <a:gd name="T29" fmla="*/ 31 h 199"/>
              <a:gd name="T30" fmla="*/ 985 w 992"/>
              <a:gd name="T31" fmla="*/ 38 h 199"/>
              <a:gd name="T32" fmla="*/ 987 w 992"/>
              <a:gd name="T33" fmla="*/ 45 h 199"/>
              <a:gd name="T34" fmla="*/ 987 w 992"/>
              <a:gd name="T35" fmla="*/ 51 h 199"/>
              <a:gd name="T36" fmla="*/ 992 w 992"/>
              <a:gd name="T37" fmla="*/ 48 h 199"/>
              <a:gd name="T38" fmla="*/ 0 w 992"/>
              <a:gd name="T39" fmla="*/ 147 h 199"/>
              <a:gd name="T40" fmla="*/ 1 w 992"/>
              <a:gd name="T41" fmla="*/ 154 h 199"/>
              <a:gd name="T42" fmla="*/ 1 w 992"/>
              <a:gd name="T43" fmla="*/ 160 h 199"/>
              <a:gd name="T44" fmla="*/ 3 w 992"/>
              <a:gd name="T45" fmla="*/ 167 h 199"/>
              <a:gd name="T46" fmla="*/ 3 w 992"/>
              <a:gd name="T47" fmla="*/ 174 h 199"/>
              <a:gd name="T48" fmla="*/ 5 w 992"/>
              <a:gd name="T49" fmla="*/ 179 h 199"/>
              <a:gd name="T50" fmla="*/ 6 w 992"/>
              <a:gd name="T51" fmla="*/ 185 h 199"/>
              <a:gd name="T52" fmla="*/ 6 w 992"/>
              <a:gd name="T53" fmla="*/ 192 h 199"/>
              <a:gd name="T54" fmla="*/ 8 w 992"/>
              <a:gd name="T55" fmla="*/ 199 h 199"/>
              <a:gd name="T56" fmla="*/ 13 w 992"/>
              <a:gd name="T57" fmla="*/ 199 h 199"/>
              <a:gd name="T58" fmla="*/ 11 w 992"/>
              <a:gd name="T59" fmla="*/ 192 h 199"/>
              <a:gd name="T60" fmla="*/ 11 w 992"/>
              <a:gd name="T61" fmla="*/ 185 h 199"/>
              <a:gd name="T62" fmla="*/ 10 w 992"/>
              <a:gd name="T63" fmla="*/ 179 h 199"/>
              <a:gd name="T64" fmla="*/ 8 w 992"/>
              <a:gd name="T65" fmla="*/ 172 h 199"/>
              <a:gd name="T66" fmla="*/ 8 w 992"/>
              <a:gd name="T67" fmla="*/ 165 h 199"/>
              <a:gd name="T68" fmla="*/ 6 w 992"/>
              <a:gd name="T69" fmla="*/ 159 h 199"/>
              <a:gd name="T70" fmla="*/ 6 w 992"/>
              <a:gd name="T71" fmla="*/ 152 h 199"/>
              <a:gd name="T72" fmla="*/ 5 w 992"/>
              <a:gd name="T73" fmla="*/ 146 h 199"/>
              <a:gd name="T74" fmla="*/ 0 w 992"/>
              <a:gd name="T75" fmla="*/ 14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92" h="199">
                <a:moveTo>
                  <a:pt x="992" y="48"/>
                </a:moveTo>
                <a:lnTo>
                  <a:pt x="992" y="43"/>
                </a:lnTo>
                <a:lnTo>
                  <a:pt x="990" y="36"/>
                </a:lnTo>
                <a:lnTo>
                  <a:pt x="990" y="30"/>
                </a:lnTo>
                <a:lnTo>
                  <a:pt x="988" y="23"/>
                </a:lnTo>
                <a:lnTo>
                  <a:pt x="988" y="18"/>
                </a:lnTo>
                <a:lnTo>
                  <a:pt x="987" y="11"/>
                </a:lnTo>
                <a:lnTo>
                  <a:pt x="985" y="6"/>
                </a:lnTo>
                <a:lnTo>
                  <a:pt x="985" y="0"/>
                </a:lnTo>
                <a:lnTo>
                  <a:pt x="980" y="0"/>
                </a:lnTo>
                <a:lnTo>
                  <a:pt x="980" y="6"/>
                </a:lnTo>
                <a:lnTo>
                  <a:pt x="982" y="11"/>
                </a:lnTo>
                <a:lnTo>
                  <a:pt x="983" y="18"/>
                </a:lnTo>
                <a:lnTo>
                  <a:pt x="983" y="25"/>
                </a:lnTo>
                <a:lnTo>
                  <a:pt x="985" y="31"/>
                </a:lnTo>
                <a:lnTo>
                  <a:pt x="985" y="38"/>
                </a:lnTo>
                <a:lnTo>
                  <a:pt x="987" y="45"/>
                </a:lnTo>
                <a:lnTo>
                  <a:pt x="987" y="51"/>
                </a:lnTo>
                <a:lnTo>
                  <a:pt x="992" y="48"/>
                </a:lnTo>
                <a:close/>
                <a:moveTo>
                  <a:pt x="0" y="147"/>
                </a:moveTo>
                <a:lnTo>
                  <a:pt x="1" y="154"/>
                </a:lnTo>
                <a:lnTo>
                  <a:pt x="1" y="160"/>
                </a:lnTo>
                <a:lnTo>
                  <a:pt x="3" y="167"/>
                </a:lnTo>
                <a:lnTo>
                  <a:pt x="3" y="174"/>
                </a:lnTo>
                <a:lnTo>
                  <a:pt x="5" y="179"/>
                </a:lnTo>
                <a:lnTo>
                  <a:pt x="6" y="185"/>
                </a:lnTo>
                <a:lnTo>
                  <a:pt x="6" y="192"/>
                </a:lnTo>
                <a:lnTo>
                  <a:pt x="8" y="199"/>
                </a:lnTo>
                <a:lnTo>
                  <a:pt x="13" y="199"/>
                </a:lnTo>
                <a:lnTo>
                  <a:pt x="11" y="192"/>
                </a:lnTo>
                <a:lnTo>
                  <a:pt x="11" y="185"/>
                </a:lnTo>
                <a:lnTo>
                  <a:pt x="10" y="179"/>
                </a:lnTo>
                <a:lnTo>
                  <a:pt x="8" y="172"/>
                </a:lnTo>
                <a:lnTo>
                  <a:pt x="8" y="165"/>
                </a:lnTo>
                <a:lnTo>
                  <a:pt x="6" y="159"/>
                </a:lnTo>
                <a:lnTo>
                  <a:pt x="6" y="152"/>
                </a:lnTo>
                <a:lnTo>
                  <a:pt x="5" y="146"/>
                </a:lnTo>
                <a:lnTo>
                  <a:pt x="0" y="147"/>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11" name="Freeform 1216">
            <a:extLst>
              <a:ext uri="{FF2B5EF4-FFF2-40B4-BE49-F238E27FC236}">
                <a16:creationId xmlns:a16="http://schemas.microsoft.com/office/drawing/2014/main" id="{983305FA-5632-6B99-B013-C762073AAAAC}"/>
              </a:ext>
            </a:extLst>
          </p:cNvPr>
          <p:cNvSpPr>
            <a:spLocks noEditPoints="1"/>
          </p:cNvSpPr>
          <p:nvPr/>
        </p:nvSpPr>
        <p:spPr bwMode="auto">
          <a:xfrm>
            <a:off x="2132013" y="2403475"/>
            <a:ext cx="1566863" cy="315913"/>
          </a:xfrm>
          <a:custGeom>
            <a:avLst/>
            <a:gdLst>
              <a:gd name="T0" fmla="*/ 987 w 987"/>
              <a:gd name="T1" fmla="*/ 50 h 199"/>
              <a:gd name="T2" fmla="*/ 985 w 987"/>
              <a:gd name="T3" fmla="*/ 43 h 199"/>
              <a:gd name="T4" fmla="*/ 985 w 987"/>
              <a:gd name="T5" fmla="*/ 36 h 199"/>
              <a:gd name="T6" fmla="*/ 984 w 987"/>
              <a:gd name="T7" fmla="*/ 31 h 199"/>
              <a:gd name="T8" fmla="*/ 984 w 987"/>
              <a:gd name="T9" fmla="*/ 25 h 199"/>
              <a:gd name="T10" fmla="*/ 982 w 987"/>
              <a:gd name="T11" fmla="*/ 18 h 199"/>
              <a:gd name="T12" fmla="*/ 982 w 987"/>
              <a:gd name="T13" fmla="*/ 11 h 199"/>
              <a:gd name="T14" fmla="*/ 980 w 987"/>
              <a:gd name="T15" fmla="*/ 6 h 199"/>
              <a:gd name="T16" fmla="*/ 979 w 987"/>
              <a:gd name="T17" fmla="*/ 0 h 199"/>
              <a:gd name="T18" fmla="*/ 974 w 987"/>
              <a:gd name="T19" fmla="*/ 0 h 199"/>
              <a:gd name="T20" fmla="*/ 975 w 987"/>
              <a:gd name="T21" fmla="*/ 6 h 199"/>
              <a:gd name="T22" fmla="*/ 977 w 987"/>
              <a:gd name="T23" fmla="*/ 13 h 199"/>
              <a:gd name="T24" fmla="*/ 977 w 987"/>
              <a:gd name="T25" fmla="*/ 18 h 199"/>
              <a:gd name="T26" fmla="*/ 979 w 987"/>
              <a:gd name="T27" fmla="*/ 25 h 199"/>
              <a:gd name="T28" fmla="*/ 980 w 987"/>
              <a:gd name="T29" fmla="*/ 31 h 199"/>
              <a:gd name="T30" fmla="*/ 980 w 987"/>
              <a:gd name="T31" fmla="*/ 38 h 199"/>
              <a:gd name="T32" fmla="*/ 980 w 987"/>
              <a:gd name="T33" fmla="*/ 45 h 199"/>
              <a:gd name="T34" fmla="*/ 982 w 987"/>
              <a:gd name="T35" fmla="*/ 51 h 199"/>
              <a:gd name="T36" fmla="*/ 987 w 987"/>
              <a:gd name="T37" fmla="*/ 50 h 199"/>
              <a:gd name="T38" fmla="*/ 0 w 987"/>
              <a:gd name="T39" fmla="*/ 146 h 199"/>
              <a:gd name="T40" fmla="*/ 0 w 987"/>
              <a:gd name="T41" fmla="*/ 152 h 199"/>
              <a:gd name="T42" fmla="*/ 2 w 987"/>
              <a:gd name="T43" fmla="*/ 159 h 199"/>
              <a:gd name="T44" fmla="*/ 2 w 987"/>
              <a:gd name="T45" fmla="*/ 165 h 199"/>
              <a:gd name="T46" fmla="*/ 3 w 987"/>
              <a:gd name="T47" fmla="*/ 172 h 199"/>
              <a:gd name="T48" fmla="*/ 3 w 987"/>
              <a:gd name="T49" fmla="*/ 179 h 199"/>
              <a:gd name="T50" fmla="*/ 5 w 987"/>
              <a:gd name="T51" fmla="*/ 185 h 199"/>
              <a:gd name="T52" fmla="*/ 7 w 987"/>
              <a:gd name="T53" fmla="*/ 192 h 199"/>
              <a:gd name="T54" fmla="*/ 8 w 987"/>
              <a:gd name="T55" fmla="*/ 199 h 199"/>
              <a:gd name="T56" fmla="*/ 13 w 987"/>
              <a:gd name="T57" fmla="*/ 199 h 199"/>
              <a:gd name="T58" fmla="*/ 11 w 987"/>
              <a:gd name="T59" fmla="*/ 192 h 199"/>
              <a:gd name="T60" fmla="*/ 10 w 987"/>
              <a:gd name="T61" fmla="*/ 185 h 199"/>
              <a:gd name="T62" fmla="*/ 8 w 987"/>
              <a:gd name="T63" fmla="*/ 179 h 199"/>
              <a:gd name="T64" fmla="*/ 8 w 987"/>
              <a:gd name="T65" fmla="*/ 172 h 199"/>
              <a:gd name="T66" fmla="*/ 7 w 987"/>
              <a:gd name="T67" fmla="*/ 164 h 199"/>
              <a:gd name="T68" fmla="*/ 7 w 987"/>
              <a:gd name="T69" fmla="*/ 157 h 199"/>
              <a:gd name="T70" fmla="*/ 5 w 987"/>
              <a:gd name="T71" fmla="*/ 151 h 199"/>
              <a:gd name="T72" fmla="*/ 5 w 987"/>
              <a:gd name="T73" fmla="*/ 144 h 199"/>
              <a:gd name="T74" fmla="*/ 0 w 987"/>
              <a:gd name="T75" fmla="*/ 14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87" h="199">
                <a:moveTo>
                  <a:pt x="987" y="50"/>
                </a:moveTo>
                <a:lnTo>
                  <a:pt x="985" y="43"/>
                </a:lnTo>
                <a:lnTo>
                  <a:pt x="985" y="36"/>
                </a:lnTo>
                <a:lnTo>
                  <a:pt x="984" y="31"/>
                </a:lnTo>
                <a:lnTo>
                  <a:pt x="984" y="25"/>
                </a:lnTo>
                <a:lnTo>
                  <a:pt x="982" y="18"/>
                </a:lnTo>
                <a:lnTo>
                  <a:pt x="982" y="11"/>
                </a:lnTo>
                <a:lnTo>
                  <a:pt x="980" y="6"/>
                </a:lnTo>
                <a:lnTo>
                  <a:pt x="979" y="0"/>
                </a:lnTo>
                <a:lnTo>
                  <a:pt x="974" y="0"/>
                </a:lnTo>
                <a:lnTo>
                  <a:pt x="975" y="6"/>
                </a:lnTo>
                <a:lnTo>
                  <a:pt x="977" y="13"/>
                </a:lnTo>
                <a:lnTo>
                  <a:pt x="977" y="18"/>
                </a:lnTo>
                <a:lnTo>
                  <a:pt x="979" y="25"/>
                </a:lnTo>
                <a:lnTo>
                  <a:pt x="980" y="31"/>
                </a:lnTo>
                <a:lnTo>
                  <a:pt x="980" y="38"/>
                </a:lnTo>
                <a:lnTo>
                  <a:pt x="980" y="45"/>
                </a:lnTo>
                <a:lnTo>
                  <a:pt x="982" y="51"/>
                </a:lnTo>
                <a:lnTo>
                  <a:pt x="987" y="50"/>
                </a:lnTo>
                <a:close/>
                <a:moveTo>
                  <a:pt x="0" y="146"/>
                </a:moveTo>
                <a:lnTo>
                  <a:pt x="0" y="152"/>
                </a:lnTo>
                <a:lnTo>
                  <a:pt x="2" y="159"/>
                </a:lnTo>
                <a:lnTo>
                  <a:pt x="2" y="165"/>
                </a:lnTo>
                <a:lnTo>
                  <a:pt x="3" y="172"/>
                </a:lnTo>
                <a:lnTo>
                  <a:pt x="3" y="179"/>
                </a:lnTo>
                <a:lnTo>
                  <a:pt x="5" y="185"/>
                </a:lnTo>
                <a:lnTo>
                  <a:pt x="7" y="192"/>
                </a:lnTo>
                <a:lnTo>
                  <a:pt x="8" y="199"/>
                </a:lnTo>
                <a:lnTo>
                  <a:pt x="13" y="199"/>
                </a:lnTo>
                <a:lnTo>
                  <a:pt x="11" y="192"/>
                </a:lnTo>
                <a:lnTo>
                  <a:pt x="10" y="185"/>
                </a:lnTo>
                <a:lnTo>
                  <a:pt x="8" y="179"/>
                </a:lnTo>
                <a:lnTo>
                  <a:pt x="8" y="172"/>
                </a:lnTo>
                <a:lnTo>
                  <a:pt x="7" y="164"/>
                </a:lnTo>
                <a:lnTo>
                  <a:pt x="7" y="157"/>
                </a:lnTo>
                <a:lnTo>
                  <a:pt x="5" y="151"/>
                </a:lnTo>
                <a:lnTo>
                  <a:pt x="5" y="144"/>
                </a:lnTo>
                <a:lnTo>
                  <a:pt x="0" y="146"/>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12" name="Freeform 1217">
            <a:extLst>
              <a:ext uri="{FF2B5EF4-FFF2-40B4-BE49-F238E27FC236}">
                <a16:creationId xmlns:a16="http://schemas.microsoft.com/office/drawing/2014/main" id="{9D0B992F-0568-68B4-B40B-D50D0C64AC83}"/>
              </a:ext>
            </a:extLst>
          </p:cNvPr>
          <p:cNvSpPr>
            <a:spLocks noEditPoints="1"/>
          </p:cNvSpPr>
          <p:nvPr/>
        </p:nvSpPr>
        <p:spPr bwMode="auto">
          <a:xfrm>
            <a:off x="2135188" y="2403475"/>
            <a:ext cx="1558925" cy="315913"/>
          </a:xfrm>
          <a:custGeom>
            <a:avLst/>
            <a:gdLst>
              <a:gd name="T0" fmla="*/ 982 w 982"/>
              <a:gd name="T1" fmla="*/ 51 h 199"/>
              <a:gd name="T2" fmla="*/ 982 w 982"/>
              <a:gd name="T3" fmla="*/ 45 h 199"/>
              <a:gd name="T4" fmla="*/ 980 w 982"/>
              <a:gd name="T5" fmla="*/ 38 h 199"/>
              <a:gd name="T6" fmla="*/ 980 w 982"/>
              <a:gd name="T7" fmla="*/ 31 h 199"/>
              <a:gd name="T8" fmla="*/ 978 w 982"/>
              <a:gd name="T9" fmla="*/ 25 h 199"/>
              <a:gd name="T10" fmla="*/ 978 w 982"/>
              <a:gd name="T11" fmla="*/ 18 h 199"/>
              <a:gd name="T12" fmla="*/ 977 w 982"/>
              <a:gd name="T13" fmla="*/ 11 h 199"/>
              <a:gd name="T14" fmla="*/ 975 w 982"/>
              <a:gd name="T15" fmla="*/ 6 h 199"/>
              <a:gd name="T16" fmla="*/ 975 w 982"/>
              <a:gd name="T17" fmla="*/ 0 h 199"/>
              <a:gd name="T18" fmla="*/ 970 w 982"/>
              <a:gd name="T19" fmla="*/ 0 h 199"/>
              <a:gd name="T20" fmla="*/ 970 w 982"/>
              <a:gd name="T21" fmla="*/ 6 h 199"/>
              <a:gd name="T22" fmla="*/ 972 w 982"/>
              <a:gd name="T23" fmla="*/ 13 h 199"/>
              <a:gd name="T24" fmla="*/ 973 w 982"/>
              <a:gd name="T25" fmla="*/ 20 h 199"/>
              <a:gd name="T26" fmla="*/ 975 w 982"/>
              <a:gd name="T27" fmla="*/ 26 h 199"/>
              <a:gd name="T28" fmla="*/ 975 w 982"/>
              <a:gd name="T29" fmla="*/ 33 h 199"/>
              <a:gd name="T30" fmla="*/ 977 w 982"/>
              <a:gd name="T31" fmla="*/ 40 h 199"/>
              <a:gd name="T32" fmla="*/ 977 w 982"/>
              <a:gd name="T33" fmla="*/ 46 h 199"/>
              <a:gd name="T34" fmla="*/ 977 w 982"/>
              <a:gd name="T35" fmla="*/ 53 h 199"/>
              <a:gd name="T36" fmla="*/ 982 w 982"/>
              <a:gd name="T37" fmla="*/ 51 h 199"/>
              <a:gd name="T38" fmla="*/ 0 w 982"/>
              <a:gd name="T39" fmla="*/ 146 h 199"/>
              <a:gd name="T40" fmla="*/ 1 w 982"/>
              <a:gd name="T41" fmla="*/ 152 h 199"/>
              <a:gd name="T42" fmla="*/ 1 w 982"/>
              <a:gd name="T43" fmla="*/ 159 h 199"/>
              <a:gd name="T44" fmla="*/ 3 w 982"/>
              <a:gd name="T45" fmla="*/ 165 h 199"/>
              <a:gd name="T46" fmla="*/ 3 w 982"/>
              <a:gd name="T47" fmla="*/ 172 h 199"/>
              <a:gd name="T48" fmla="*/ 5 w 982"/>
              <a:gd name="T49" fmla="*/ 179 h 199"/>
              <a:gd name="T50" fmla="*/ 6 w 982"/>
              <a:gd name="T51" fmla="*/ 185 h 199"/>
              <a:gd name="T52" fmla="*/ 6 w 982"/>
              <a:gd name="T53" fmla="*/ 192 h 199"/>
              <a:gd name="T54" fmla="*/ 8 w 982"/>
              <a:gd name="T55" fmla="*/ 199 h 199"/>
              <a:gd name="T56" fmla="*/ 13 w 982"/>
              <a:gd name="T57" fmla="*/ 199 h 199"/>
              <a:gd name="T58" fmla="*/ 11 w 982"/>
              <a:gd name="T59" fmla="*/ 192 h 199"/>
              <a:gd name="T60" fmla="*/ 9 w 982"/>
              <a:gd name="T61" fmla="*/ 185 h 199"/>
              <a:gd name="T62" fmla="*/ 9 w 982"/>
              <a:gd name="T63" fmla="*/ 177 h 199"/>
              <a:gd name="T64" fmla="*/ 8 w 982"/>
              <a:gd name="T65" fmla="*/ 170 h 199"/>
              <a:gd name="T66" fmla="*/ 6 w 982"/>
              <a:gd name="T67" fmla="*/ 164 h 199"/>
              <a:gd name="T68" fmla="*/ 6 w 982"/>
              <a:gd name="T69" fmla="*/ 157 h 199"/>
              <a:gd name="T70" fmla="*/ 5 w 982"/>
              <a:gd name="T71" fmla="*/ 151 h 199"/>
              <a:gd name="T72" fmla="*/ 5 w 982"/>
              <a:gd name="T73" fmla="*/ 142 h 199"/>
              <a:gd name="T74" fmla="*/ 0 w 982"/>
              <a:gd name="T75" fmla="*/ 14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82" h="199">
                <a:moveTo>
                  <a:pt x="982" y="51"/>
                </a:moveTo>
                <a:lnTo>
                  <a:pt x="982" y="45"/>
                </a:lnTo>
                <a:lnTo>
                  <a:pt x="980" y="38"/>
                </a:lnTo>
                <a:lnTo>
                  <a:pt x="980" y="31"/>
                </a:lnTo>
                <a:lnTo>
                  <a:pt x="978" y="25"/>
                </a:lnTo>
                <a:lnTo>
                  <a:pt x="978" y="18"/>
                </a:lnTo>
                <a:lnTo>
                  <a:pt x="977" y="11"/>
                </a:lnTo>
                <a:lnTo>
                  <a:pt x="975" y="6"/>
                </a:lnTo>
                <a:lnTo>
                  <a:pt x="975" y="0"/>
                </a:lnTo>
                <a:lnTo>
                  <a:pt x="970" y="0"/>
                </a:lnTo>
                <a:lnTo>
                  <a:pt x="970" y="6"/>
                </a:lnTo>
                <a:lnTo>
                  <a:pt x="972" y="13"/>
                </a:lnTo>
                <a:lnTo>
                  <a:pt x="973" y="20"/>
                </a:lnTo>
                <a:lnTo>
                  <a:pt x="975" y="26"/>
                </a:lnTo>
                <a:lnTo>
                  <a:pt x="975" y="33"/>
                </a:lnTo>
                <a:lnTo>
                  <a:pt x="977" y="40"/>
                </a:lnTo>
                <a:lnTo>
                  <a:pt x="977" y="46"/>
                </a:lnTo>
                <a:lnTo>
                  <a:pt x="977" y="53"/>
                </a:lnTo>
                <a:lnTo>
                  <a:pt x="982" y="51"/>
                </a:lnTo>
                <a:close/>
                <a:moveTo>
                  <a:pt x="0" y="146"/>
                </a:moveTo>
                <a:lnTo>
                  <a:pt x="1" y="152"/>
                </a:lnTo>
                <a:lnTo>
                  <a:pt x="1" y="159"/>
                </a:lnTo>
                <a:lnTo>
                  <a:pt x="3" y="165"/>
                </a:lnTo>
                <a:lnTo>
                  <a:pt x="3" y="172"/>
                </a:lnTo>
                <a:lnTo>
                  <a:pt x="5" y="179"/>
                </a:lnTo>
                <a:lnTo>
                  <a:pt x="6" y="185"/>
                </a:lnTo>
                <a:lnTo>
                  <a:pt x="6" y="192"/>
                </a:lnTo>
                <a:lnTo>
                  <a:pt x="8" y="199"/>
                </a:lnTo>
                <a:lnTo>
                  <a:pt x="13" y="199"/>
                </a:lnTo>
                <a:lnTo>
                  <a:pt x="11" y="192"/>
                </a:lnTo>
                <a:lnTo>
                  <a:pt x="9" y="185"/>
                </a:lnTo>
                <a:lnTo>
                  <a:pt x="9" y="177"/>
                </a:lnTo>
                <a:lnTo>
                  <a:pt x="8" y="170"/>
                </a:lnTo>
                <a:lnTo>
                  <a:pt x="6" y="164"/>
                </a:lnTo>
                <a:lnTo>
                  <a:pt x="6" y="157"/>
                </a:lnTo>
                <a:lnTo>
                  <a:pt x="5" y="151"/>
                </a:lnTo>
                <a:lnTo>
                  <a:pt x="5" y="142"/>
                </a:lnTo>
                <a:lnTo>
                  <a:pt x="0" y="146"/>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13" name="Freeform 1218">
            <a:extLst>
              <a:ext uri="{FF2B5EF4-FFF2-40B4-BE49-F238E27FC236}">
                <a16:creationId xmlns:a16="http://schemas.microsoft.com/office/drawing/2014/main" id="{5A9C6185-B7B6-DE8B-A681-E175BAF6B1AF}"/>
              </a:ext>
            </a:extLst>
          </p:cNvPr>
          <p:cNvSpPr>
            <a:spLocks noEditPoints="1"/>
          </p:cNvSpPr>
          <p:nvPr/>
        </p:nvSpPr>
        <p:spPr bwMode="auto">
          <a:xfrm>
            <a:off x="2139950" y="2403475"/>
            <a:ext cx="1550988" cy="315913"/>
          </a:xfrm>
          <a:custGeom>
            <a:avLst/>
            <a:gdLst>
              <a:gd name="T0" fmla="*/ 977 w 977"/>
              <a:gd name="T1" fmla="*/ 51 h 199"/>
              <a:gd name="T2" fmla="*/ 975 w 977"/>
              <a:gd name="T3" fmla="*/ 45 h 199"/>
              <a:gd name="T4" fmla="*/ 975 w 977"/>
              <a:gd name="T5" fmla="*/ 38 h 199"/>
              <a:gd name="T6" fmla="*/ 975 w 977"/>
              <a:gd name="T7" fmla="*/ 31 h 199"/>
              <a:gd name="T8" fmla="*/ 974 w 977"/>
              <a:gd name="T9" fmla="*/ 25 h 199"/>
              <a:gd name="T10" fmla="*/ 972 w 977"/>
              <a:gd name="T11" fmla="*/ 18 h 199"/>
              <a:gd name="T12" fmla="*/ 972 w 977"/>
              <a:gd name="T13" fmla="*/ 13 h 199"/>
              <a:gd name="T14" fmla="*/ 970 w 977"/>
              <a:gd name="T15" fmla="*/ 6 h 199"/>
              <a:gd name="T16" fmla="*/ 969 w 977"/>
              <a:gd name="T17" fmla="*/ 0 h 199"/>
              <a:gd name="T18" fmla="*/ 964 w 977"/>
              <a:gd name="T19" fmla="*/ 0 h 199"/>
              <a:gd name="T20" fmla="*/ 965 w 977"/>
              <a:gd name="T21" fmla="*/ 6 h 199"/>
              <a:gd name="T22" fmla="*/ 967 w 977"/>
              <a:gd name="T23" fmla="*/ 13 h 199"/>
              <a:gd name="T24" fmla="*/ 967 w 977"/>
              <a:gd name="T25" fmla="*/ 20 h 199"/>
              <a:gd name="T26" fmla="*/ 969 w 977"/>
              <a:gd name="T27" fmla="*/ 26 h 199"/>
              <a:gd name="T28" fmla="*/ 970 w 977"/>
              <a:gd name="T29" fmla="*/ 33 h 199"/>
              <a:gd name="T30" fmla="*/ 970 w 977"/>
              <a:gd name="T31" fmla="*/ 40 h 199"/>
              <a:gd name="T32" fmla="*/ 972 w 977"/>
              <a:gd name="T33" fmla="*/ 46 h 199"/>
              <a:gd name="T34" fmla="*/ 972 w 977"/>
              <a:gd name="T35" fmla="*/ 53 h 199"/>
              <a:gd name="T36" fmla="*/ 977 w 977"/>
              <a:gd name="T37" fmla="*/ 51 h 199"/>
              <a:gd name="T38" fmla="*/ 0 w 977"/>
              <a:gd name="T39" fmla="*/ 144 h 199"/>
              <a:gd name="T40" fmla="*/ 0 w 977"/>
              <a:gd name="T41" fmla="*/ 151 h 199"/>
              <a:gd name="T42" fmla="*/ 2 w 977"/>
              <a:gd name="T43" fmla="*/ 157 h 199"/>
              <a:gd name="T44" fmla="*/ 2 w 977"/>
              <a:gd name="T45" fmla="*/ 164 h 199"/>
              <a:gd name="T46" fmla="*/ 3 w 977"/>
              <a:gd name="T47" fmla="*/ 172 h 199"/>
              <a:gd name="T48" fmla="*/ 3 w 977"/>
              <a:gd name="T49" fmla="*/ 179 h 199"/>
              <a:gd name="T50" fmla="*/ 5 w 977"/>
              <a:gd name="T51" fmla="*/ 185 h 199"/>
              <a:gd name="T52" fmla="*/ 6 w 977"/>
              <a:gd name="T53" fmla="*/ 192 h 199"/>
              <a:gd name="T54" fmla="*/ 8 w 977"/>
              <a:gd name="T55" fmla="*/ 199 h 199"/>
              <a:gd name="T56" fmla="*/ 11 w 977"/>
              <a:gd name="T57" fmla="*/ 199 h 199"/>
              <a:gd name="T58" fmla="*/ 11 w 977"/>
              <a:gd name="T59" fmla="*/ 192 h 199"/>
              <a:gd name="T60" fmla="*/ 10 w 977"/>
              <a:gd name="T61" fmla="*/ 184 h 199"/>
              <a:gd name="T62" fmla="*/ 8 w 977"/>
              <a:gd name="T63" fmla="*/ 177 h 199"/>
              <a:gd name="T64" fmla="*/ 6 w 977"/>
              <a:gd name="T65" fmla="*/ 170 h 199"/>
              <a:gd name="T66" fmla="*/ 6 w 977"/>
              <a:gd name="T67" fmla="*/ 164 h 199"/>
              <a:gd name="T68" fmla="*/ 5 w 977"/>
              <a:gd name="T69" fmla="*/ 155 h 199"/>
              <a:gd name="T70" fmla="*/ 5 w 977"/>
              <a:gd name="T71" fmla="*/ 149 h 199"/>
              <a:gd name="T72" fmla="*/ 3 w 977"/>
              <a:gd name="T73" fmla="*/ 142 h 199"/>
              <a:gd name="T74" fmla="*/ 0 w 977"/>
              <a:gd name="T75" fmla="*/ 14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77" h="199">
                <a:moveTo>
                  <a:pt x="977" y="51"/>
                </a:moveTo>
                <a:lnTo>
                  <a:pt x="975" y="45"/>
                </a:lnTo>
                <a:lnTo>
                  <a:pt x="975" y="38"/>
                </a:lnTo>
                <a:lnTo>
                  <a:pt x="975" y="31"/>
                </a:lnTo>
                <a:lnTo>
                  <a:pt x="974" y="25"/>
                </a:lnTo>
                <a:lnTo>
                  <a:pt x="972" y="18"/>
                </a:lnTo>
                <a:lnTo>
                  <a:pt x="972" y="13"/>
                </a:lnTo>
                <a:lnTo>
                  <a:pt x="970" y="6"/>
                </a:lnTo>
                <a:lnTo>
                  <a:pt x="969" y="0"/>
                </a:lnTo>
                <a:lnTo>
                  <a:pt x="964" y="0"/>
                </a:lnTo>
                <a:lnTo>
                  <a:pt x="965" y="6"/>
                </a:lnTo>
                <a:lnTo>
                  <a:pt x="967" y="13"/>
                </a:lnTo>
                <a:lnTo>
                  <a:pt x="967" y="20"/>
                </a:lnTo>
                <a:lnTo>
                  <a:pt x="969" y="26"/>
                </a:lnTo>
                <a:lnTo>
                  <a:pt x="970" y="33"/>
                </a:lnTo>
                <a:lnTo>
                  <a:pt x="970" y="40"/>
                </a:lnTo>
                <a:lnTo>
                  <a:pt x="972" y="46"/>
                </a:lnTo>
                <a:lnTo>
                  <a:pt x="972" y="53"/>
                </a:lnTo>
                <a:lnTo>
                  <a:pt x="977" y="51"/>
                </a:lnTo>
                <a:close/>
                <a:moveTo>
                  <a:pt x="0" y="144"/>
                </a:moveTo>
                <a:lnTo>
                  <a:pt x="0" y="151"/>
                </a:lnTo>
                <a:lnTo>
                  <a:pt x="2" y="157"/>
                </a:lnTo>
                <a:lnTo>
                  <a:pt x="2" y="164"/>
                </a:lnTo>
                <a:lnTo>
                  <a:pt x="3" y="172"/>
                </a:lnTo>
                <a:lnTo>
                  <a:pt x="3" y="179"/>
                </a:lnTo>
                <a:lnTo>
                  <a:pt x="5" y="185"/>
                </a:lnTo>
                <a:lnTo>
                  <a:pt x="6" y="192"/>
                </a:lnTo>
                <a:lnTo>
                  <a:pt x="8" y="199"/>
                </a:lnTo>
                <a:lnTo>
                  <a:pt x="11" y="199"/>
                </a:lnTo>
                <a:lnTo>
                  <a:pt x="11" y="192"/>
                </a:lnTo>
                <a:lnTo>
                  <a:pt x="10" y="184"/>
                </a:lnTo>
                <a:lnTo>
                  <a:pt x="8" y="177"/>
                </a:lnTo>
                <a:lnTo>
                  <a:pt x="6" y="170"/>
                </a:lnTo>
                <a:lnTo>
                  <a:pt x="6" y="164"/>
                </a:lnTo>
                <a:lnTo>
                  <a:pt x="5" y="155"/>
                </a:lnTo>
                <a:lnTo>
                  <a:pt x="5" y="149"/>
                </a:lnTo>
                <a:lnTo>
                  <a:pt x="3" y="142"/>
                </a:lnTo>
                <a:lnTo>
                  <a:pt x="0" y="144"/>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14" name="Freeform 1219">
            <a:extLst>
              <a:ext uri="{FF2B5EF4-FFF2-40B4-BE49-F238E27FC236}">
                <a16:creationId xmlns:a16="http://schemas.microsoft.com/office/drawing/2014/main" id="{71A71D96-14C7-4CA6-878E-7781216E37BB}"/>
              </a:ext>
            </a:extLst>
          </p:cNvPr>
          <p:cNvSpPr>
            <a:spLocks noEditPoints="1"/>
          </p:cNvSpPr>
          <p:nvPr/>
        </p:nvSpPr>
        <p:spPr bwMode="auto">
          <a:xfrm>
            <a:off x="2143125" y="2403475"/>
            <a:ext cx="1543050" cy="315913"/>
          </a:xfrm>
          <a:custGeom>
            <a:avLst/>
            <a:gdLst>
              <a:gd name="T0" fmla="*/ 972 w 972"/>
              <a:gd name="T1" fmla="*/ 53 h 199"/>
              <a:gd name="T2" fmla="*/ 972 w 972"/>
              <a:gd name="T3" fmla="*/ 46 h 199"/>
              <a:gd name="T4" fmla="*/ 972 w 972"/>
              <a:gd name="T5" fmla="*/ 40 h 199"/>
              <a:gd name="T6" fmla="*/ 970 w 972"/>
              <a:gd name="T7" fmla="*/ 33 h 199"/>
              <a:gd name="T8" fmla="*/ 970 w 972"/>
              <a:gd name="T9" fmla="*/ 26 h 199"/>
              <a:gd name="T10" fmla="*/ 968 w 972"/>
              <a:gd name="T11" fmla="*/ 20 h 199"/>
              <a:gd name="T12" fmla="*/ 967 w 972"/>
              <a:gd name="T13" fmla="*/ 13 h 199"/>
              <a:gd name="T14" fmla="*/ 965 w 972"/>
              <a:gd name="T15" fmla="*/ 6 h 199"/>
              <a:gd name="T16" fmla="*/ 965 w 972"/>
              <a:gd name="T17" fmla="*/ 0 h 199"/>
              <a:gd name="T18" fmla="*/ 960 w 972"/>
              <a:gd name="T19" fmla="*/ 0 h 199"/>
              <a:gd name="T20" fmla="*/ 962 w 972"/>
              <a:gd name="T21" fmla="*/ 6 h 199"/>
              <a:gd name="T22" fmla="*/ 962 w 972"/>
              <a:gd name="T23" fmla="*/ 13 h 199"/>
              <a:gd name="T24" fmla="*/ 963 w 972"/>
              <a:gd name="T25" fmla="*/ 20 h 199"/>
              <a:gd name="T26" fmla="*/ 965 w 972"/>
              <a:gd name="T27" fmla="*/ 26 h 199"/>
              <a:gd name="T28" fmla="*/ 965 w 972"/>
              <a:gd name="T29" fmla="*/ 33 h 199"/>
              <a:gd name="T30" fmla="*/ 967 w 972"/>
              <a:gd name="T31" fmla="*/ 41 h 199"/>
              <a:gd name="T32" fmla="*/ 967 w 972"/>
              <a:gd name="T33" fmla="*/ 48 h 199"/>
              <a:gd name="T34" fmla="*/ 968 w 972"/>
              <a:gd name="T35" fmla="*/ 54 h 199"/>
              <a:gd name="T36" fmla="*/ 972 w 972"/>
              <a:gd name="T37" fmla="*/ 53 h 199"/>
              <a:gd name="T38" fmla="*/ 0 w 972"/>
              <a:gd name="T39" fmla="*/ 142 h 199"/>
              <a:gd name="T40" fmla="*/ 0 w 972"/>
              <a:gd name="T41" fmla="*/ 151 h 199"/>
              <a:gd name="T42" fmla="*/ 1 w 972"/>
              <a:gd name="T43" fmla="*/ 157 h 199"/>
              <a:gd name="T44" fmla="*/ 1 w 972"/>
              <a:gd name="T45" fmla="*/ 164 h 199"/>
              <a:gd name="T46" fmla="*/ 3 w 972"/>
              <a:gd name="T47" fmla="*/ 170 h 199"/>
              <a:gd name="T48" fmla="*/ 4 w 972"/>
              <a:gd name="T49" fmla="*/ 177 h 199"/>
              <a:gd name="T50" fmla="*/ 4 w 972"/>
              <a:gd name="T51" fmla="*/ 185 h 199"/>
              <a:gd name="T52" fmla="*/ 6 w 972"/>
              <a:gd name="T53" fmla="*/ 192 h 199"/>
              <a:gd name="T54" fmla="*/ 8 w 972"/>
              <a:gd name="T55" fmla="*/ 199 h 199"/>
              <a:gd name="T56" fmla="*/ 13 w 972"/>
              <a:gd name="T57" fmla="*/ 199 h 199"/>
              <a:gd name="T58" fmla="*/ 11 w 972"/>
              <a:gd name="T59" fmla="*/ 192 h 199"/>
              <a:gd name="T60" fmla="*/ 9 w 972"/>
              <a:gd name="T61" fmla="*/ 184 h 199"/>
              <a:gd name="T62" fmla="*/ 9 w 972"/>
              <a:gd name="T63" fmla="*/ 177 h 199"/>
              <a:gd name="T64" fmla="*/ 8 w 972"/>
              <a:gd name="T65" fmla="*/ 170 h 199"/>
              <a:gd name="T66" fmla="*/ 6 w 972"/>
              <a:gd name="T67" fmla="*/ 162 h 199"/>
              <a:gd name="T68" fmla="*/ 6 w 972"/>
              <a:gd name="T69" fmla="*/ 155 h 199"/>
              <a:gd name="T70" fmla="*/ 4 w 972"/>
              <a:gd name="T71" fmla="*/ 147 h 199"/>
              <a:gd name="T72" fmla="*/ 4 w 972"/>
              <a:gd name="T73" fmla="*/ 141 h 199"/>
              <a:gd name="T74" fmla="*/ 0 w 972"/>
              <a:gd name="T75" fmla="*/ 14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72" h="199">
                <a:moveTo>
                  <a:pt x="972" y="53"/>
                </a:moveTo>
                <a:lnTo>
                  <a:pt x="972" y="46"/>
                </a:lnTo>
                <a:lnTo>
                  <a:pt x="972" y="40"/>
                </a:lnTo>
                <a:lnTo>
                  <a:pt x="970" y="33"/>
                </a:lnTo>
                <a:lnTo>
                  <a:pt x="970" y="26"/>
                </a:lnTo>
                <a:lnTo>
                  <a:pt x="968" y="20"/>
                </a:lnTo>
                <a:lnTo>
                  <a:pt x="967" y="13"/>
                </a:lnTo>
                <a:lnTo>
                  <a:pt x="965" y="6"/>
                </a:lnTo>
                <a:lnTo>
                  <a:pt x="965" y="0"/>
                </a:lnTo>
                <a:lnTo>
                  <a:pt x="960" y="0"/>
                </a:lnTo>
                <a:lnTo>
                  <a:pt x="962" y="6"/>
                </a:lnTo>
                <a:lnTo>
                  <a:pt x="962" y="13"/>
                </a:lnTo>
                <a:lnTo>
                  <a:pt x="963" y="20"/>
                </a:lnTo>
                <a:lnTo>
                  <a:pt x="965" y="26"/>
                </a:lnTo>
                <a:lnTo>
                  <a:pt x="965" y="33"/>
                </a:lnTo>
                <a:lnTo>
                  <a:pt x="967" y="41"/>
                </a:lnTo>
                <a:lnTo>
                  <a:pt x="967" y="48"/>
                </a:lnTo>
                <a:lnTo>
                  <a:pt x="968" y="54"/>
                </a:lnTo>
                <a:lnTo>
                  <a:pt x="972" y="53"/>
                </a:lnTo>
                <a:close/>
                <a:moveTo>
                  <a:pt x="0" y="142"/>
                </a:moveTo>
                <a:lnTo>
                  <a:pt x="0" y="151"/>
                </a:lnTo>
                <a:lnTo>
                  <a:pt x="1" y="157"/>
                </a:lnTo>
                <a:lnTo>
                  <a:pt x="1" y="164"/>
                </a:lnTo>
                <a:lnTo>
                  <a:pt x="3" y="170"/>
                </a:lnTo>
                <a:lnTo>
                  <a:pt x="4" y="177"/>
                </a:lnTo>
                <a:lnTo>
                  <a:pt x="4" y="185"/>
                </a:lnTo>
                <a:lnTo>
                  <a:pt x="6" y="192"/>
                </a:lnTo>
                <a:lnTo>
                  <a:pt x="8" y="199"/>
                </a:lnTo>
                <a:lnTo>
                  <a:pt x="13" y="199"/>
                </a:lnTo>
                <a:lnTo>
                  <a:pt x="11" y="192"/>
                </a:lnTo>
                <a:lnTo>
                  <a:pt x="9" y="184"/>
                </a:lnTo>
                <a:lnTo>
                  <a:pt x="9" y="177"/>
                </a:lnTo>
                <a:lnTo>
                  <a:pt x="8" y="170"/>
                </a:lnTo>
                <a:lnTo>
                  <a:pt x="6" y="162"/>
                </a:lnTo>
                <a:lnTo>
                  <a:pt x="6" y="155"/>
                </a:lnTo>
                <a:lnTo>
                  <a:pt x="4" y="147"/>
                </a:lnTo>
                <a:lnTo>
                  <a:pt x="4" y="141"/>
                </a:lnTo>
                <a:lnTo>
                  <a:pt x="0" y="142"/>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15" name="Freeform 1220">
            <a:extLst>
              <a:ext uri="{FF2B5EF4-FFF2-40B4-BE49-F238E27FC236}">
                <a16:creationId xmlns:a16="http://schemas.microsoft.com/office/drawing/2014/main" id="{8A0E8C81-AC07-4555-195D-EA87AC82693B}"/>
              </a:ext>
            </a:extLst>
          </p:cNvPr>
          <p:cNvSpPr>
            <a:spLocks noEditPoints="1"/>
          </p:cNvSpPr>
          <p:nvPr/>
        </p:nvSpPr>
        <p:spPr bwMode="auto">
          <a:xfrm>
            <a:off x="2144713" y="2403475"/>
            <a:ext cx="1538288" cy="315913"/>
          </a:xfrm>
          <a:custGeom>
            <a:avLst/>
            <a:gdLst>
              <a:gd name="T0" fmla="*/ 969 w 969"/>
              <a:gd name="T1" fmla="*/ 53 h 199"/>
              <a:gd name="T2" fmla="*/ 969 w 969"/>
              <a:gd name="T3" fmla="*/ 46 h 199"/>
              <a:gd name="T4" fmla="*/ 967 w 969"/>
              <a:gd name="T5" fmla="*/ 40 h 199"/>
              <a:gd name="T6" fmla="*/ 967 w 969"/>
              <a:gd name="T7" fmla="*/ 33 h 199"/>
              <a:gd name="T8" fmla="*/ 966 w 969"/>
              <a:gd name="T9" fmla="*/ 26 h 199"/>
              <a:gd name="T10" fmla="*/ 964 w 969"/>
              <a:gd name="T11" fmla="*/ 20 h 199"/>
              <a:gd name="T12" fmla="*/ 964 w 969"/>
              <a:gd name="T13" fmla="*/ 13 h 199"/>
              <a:gd name="T14" fmla="*/ 962 w 969"/>
              <a:gd name="T15" fmla="*/ 6 h 199"/>
              <a:gd name="T16" fmla="*/ 961 w 969"/>
              <a:gd name="T17" fmla="*/ 0 h 199"/>
              <a:gd name="T18" fmla="*/ 956 w 969"/>
              <a:gd name="T19" fmla="*/ 0 h 199"/>
              <a:gd name="T20" fmla="*/ 957 w 969"/>
              <a:gd name="T21" fmla="*/ 6 h 199"/>
              <a:gd name="T22" fmla="*/ 959 w 969"/>
              <a:gd name="T23" fmla="*/ 13 h 199"/>
              <a:gd name="T24" fmla="*/ 961 w 969"/>
              <a:gd name="T25" fmla="*/ 20 h 199"/>
              <a:gd name="T26" fmla="*/ 961 w 969"/>
              <a:gd name="T27" fmla="*/ 28 h 199"/>
              <a:gd name="T28" fmla="*/ 962 w 969"/>
              <a:gd name="T29" fmla="*/ 35 h 199"/>
              <a:gd name="T30" fmla="*/ 962 w 969"/>
              <a:gd name="T31" fmla="*/ 41 h 199"/>
              <a:gd name="T32" fmla="*/ 964 w 969"/>
              <a:gd name="T33" fmla="*/ 48 h 199"/>
              <a:gd name="T34" fmla="*/ 964 w 969"/>
              <a:gd name="T35" fmla="*/ 56 h 199"/>
              <a:gd name="T36" fmla="*/ 969 w 969"/>
              <a:gd name="T37" fmla="*/ 53 h 199"/>
              <a:gd name="T38" fmla="*/ 0 w 969"/>
              <a:gd name="T39" fmla="*/ 142 h 199"/>
              <a:gd name="T40" fmla="*/ 2 w 969"/>
              <a:gd name="T41" fmla="*/ 149 h 199"/>
              <a:gd name="T42" fmla="*/ 2 w 969"/>
              <a:gd name="T43" fmla="*/ 155 h 199"/>
              <a:gd name="T44" fmla="*/ 3 w 969"/>
              <a:gd name="T45" fmla="*/ 164 h 199"/>
              <a:gd name="T46" fmla="*/ 3 w 969"/>
              <a:gd name="T47" fmla="*/ 170 h 199"/>
              <a:gd name="T48" fmla="*/ 5 w 969"/>
              <a:gd name="T49" fmla="*/ 177 h 199"/>
              <a:gd name="T50" fmla="*/ 7 w 969"/>
              <a:gd name="T51" fmla="*/ 184 h 199"/>
              <a:gd name="T52" fmla="*/ 8 w 969"/>
              <a:gd name="T53" fmla="*/ 192 h 199"/>
              <a:gd name="T54" fmla="*/ 8 w 969"/>
              <a:gd name="T55" fmla="*/ 199 h 199"/>
              <a:gd name="T56" fmla="*/ 13 w 969"/>
              <a:gd name="T57" fmla="*/ 199 h 199"/>
              <a:gd name="T58" fmla="*/ 13 w 969"/>
              <a:gd name="T59" fmla="*/ 192 h 199"/>
              <a:gd name="T60" fmla="*/ 12 w 969"/>
              <a:gd name="T61" fmla="*/ 184 h 199"/>
              <a:gd name="T62" fmla="*/ 10 w 969"/>
              <a:gd name="T63" fmla="*/ 177 h 199"/>
              <a:gd name="T64" fmla="*/ 8 w 969"/>
              <a:gd name="T65" fmla="*/ 169 h 199"/>
              <a:gd name="T66" fmla="*/ 8 w 969"/>
              <a:gd name="T67" fmla="*/ 162 h 199"/>
              <a:gd name="T68" fmla="*/ 7 w 969"/>
              <a:gd name="T69" fmla="*/ 154 h 199"/>
              <a:gd name="T70" fmla="*/ 7 w 969"/>
              <a:gd name="T71" fmla="*/ 147 h 199"/>
              <a:gd name="T72" fmla="*/ 5 w 969"/>
              <a:gd name="T73" fmla="*/ 139 h 199"/>
              <a:gd name="T74" fmla="*/ 0 w 969"/>
              <a:gd name="T75" fmla="*/ 14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69" h="199">
                <a:moveTo>
                  <a:pt x="969" y="53"/>
                </a:moveTo>
                <a:lnTo>
                  <a:pt x="969" y="46"/>
                </a:lnTo>
                <a:lnTo>
                  <a:pt x="967" y="40"/>
                </a:lnTo>
                <a:lnTo>
                  <a:pt x="967" y="33"/>
                </a:lnTo>
                <a:lnTo>
                  <a:pt x="966" y="26"/>
                </a:lnTo>
                <a:lnTo>
                  <a:pt x="964" y="20"/>
                </a:lnTo>
                <a:lnTo>
                  <a:pt x="964" y="13"/>
                </a:lnTo>
                <a:lnTo>
                  <a:pt x="962" y="6"/>
                </a:lnTo>
                <a:lnTo>
                  <a:pt x="961" y="0"/>
                </a:lnTo>
                <a:lnTo>
                  <a:pt x="956" y="0"/>
                </a:lnTo>
                <a:lnTo>
                  <a:pt x="957" y="6"/>
                </a:lnTo>
                <a:lnTo>
                  <a:pt x="959" y="13"/>
                </a:lnTo>
                <a:lnTo>
                  <a:pt x="961" y="20"/>
                </a:lnTo>
                <a:lnTo>
                  <a:pt x="961" y="28"/>
                </a:lnTo>
                <a:lnTo>
                  <a:pt x="962" y="35"/>
                </a:lnTo>
                <a:lnTo>
                  <a:pt x="962" y="41"/>
                </a:lnTo>
                <a:lnTo>
                  <a:pt x="964" y="48"/>
                </a:lnTo>
                <a:lnTo>
                  <a:pt x="964" y="56"/>
                </a:lnTo>
                <a:lnTo>
                  <a:pt x="969" y="53"/>
                </a:lnTo>
                <a:close/>
                <a:moveTo>
                  <a:pt x="0" y="142"/>
                </a:moveTo>
                <a:lnTo>
                  <a:pt x="2" y="149"/>
                </a:lnTo>
                <a:lnTo>
                  <a:pt x="2" y="155"/>
                </a:lnTo>
                <a:lnTo>
                  <a:pt x="3" y="164"/>
                </a:lnTo>
                <a:lnTo>
                  <a:pt x="3" y="170"/>
                </a:lnTo>
                <a:lnTo>
                  <a:pt x="5" y="177"/>
                </a:lnTo>
                <a:lnTo>
                  <a:pt x="7" y="184"/>
                </a:lnTo>
                <a:lnTo>
                  <a:pt x="8" y="192"/>
                </a:lnTo>
                <a:lnTo>
                  <a:pt x="8" y="199"/>
                </a:lnTo>
                <a:lnTo>
                  <a:pt x="13" y="199"/>
                </a:lnTo>
                <a:lnTo>
                  <a:pt x="13" y="192"/>
                </a:lnTo>
                <a:lnTo>
                  <a:pt x="12" y="184"/>
                </a:lnTo>
                <a:lnTo>
                  <a:pt x="10" y="177"/>
                </a:lnTo>
                <a:lnTo>
                  <a:pt x="8" y="169"/>
                </a:lnTo>
                <a:lnTo>
                  <a:pt x="8" y="162"/>
                </a:lnTo>
                <a:lnTo>
                  <a:pt x="7" y="154"/>
                </a:lnTo>
                <a:lnTo>
                  <a:pt x="7" y="147"/>
                </a:lnTo>
                <a:lnTo>
                  <a:pt x="5" y="139"/>
                </a:lnTo>
                <a:lnTo>
                  <a:pt x="0" y="142"/>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16" name="Freeform 1221">
            <a:extLst>
              <a:ext uri="{FF2B5EF4-FFF2-40B4-BE49-F238E27FC236}">
                <a16:creationId xmlns:a16="http://schemas.microsoft.com/office/drawing/2014/main" id="{7588BF55-0C93-D7C2-8E0A-1C60CE907427}"/>
              </a:ext>
            </a:extLst>
          </p:cNvPr>
          <p:cNvSpPr>
            <a:spLocks noEditPoints="1"/>
          </p:cNvSpPr>
          <p:nvPr/>
        </p:nvSpPr>
        <p:spPr bwMode="auto">
          <a:xfrm>
            <a:off x="2149475" y="2403475"/>
            <a:ext cx="1530350" cy="315913"/>
          </a:xfrm>
          <a:custGeom>
            <a:avLst/>
            <a:gdLst>
              <a:gd name="T0" fmla="*/ 964 w 964"/>
              <a:gd name="T1" fmla="*/ 54 h 199"/>
              <a:gd name="T2" fmla="*/ 963 w 964"/>
              <a:gd name="T3" fmla="*/ 48 h 199"/>
              <a:gd name="T4" fmla="*/ 963 w 964"/>
              <a:gd name="T5" fmla="*/ 41 h 199"/>
              <a:gd name="T6" fmla="*/ 961 w 964"/>
              <a:gd name="T7" fmla="*/ 33 h 199"/>
              <a:gd name="T8" fmla="*/ 961 w 964"/>
              <a:gd name="T9" fmla="*/ 26 h 199"/>
              <a:gd name="T10" fmla="*/ 959 w 964"/>
              <a:gd name="T11" fmla="*/ 20 h 199"/>
              <a:gd name="T12" fmla="*/ 958 w 964"/>
              <a:gd name="T13" fmla="*/ 13 h 199"/>
              <a:gd name="T14" fmla="*/ 958 w 964"/>
              <a:gd name="T15" fmla="*/ 6 h 199"/>
              <a:gd name="T16" fmla="*/ 956 w 964"/>
              <a:gd name="T17" fmla="*/ 0 h 199"/>
              <a:gd name="T18" fmla="*/ 951 w 964"/>
              <a:gd name="T19" fmla="*/ 0 h 199"/>
              <a:gd name="T20" fmla="*/ 953 w 964"/>
              <a:gd name="T21" fmla="*/ 6 h 199"/>
              <a:gd name="T22" fmla="*/ 953 w 964"/>
              <a:gd name="T23" fmla="*/ 13 h 199"/>
              <a:gd name="T24" fmla="*/ 954 w 964"/>
              <a:gd name="T25" fmla="*/ 21 h 199"/>
              <a:gd name="T26" fmla="*/ 956 w 964"/>
              <a:gd name="T27" fmla="*/ 28 h 199"/>
              <a:gd name="T28" fmla="*/ 956 w 964"/>
              <a:gd name="T29" fmla="*/ 35 h 199"/>
              <a:gd name="T30" fmla="*/ 958 w 964"/>
              <a:gd name="T31" fmla="*/ 43 h 199"/>
              <a:gd name="T32" fmla="*/ 958 w 964"/>
              <a:gd name="T33" fmla="*/ 50 h 199"/>
              <a:gd name="T34" fmla="*/ 959 w 964"/>
              <a:gd name="T35" fmla="*/ 56 h 199"/>
              <a:gd name="T36" fmla="*/ 964 w 964"/>
              <a:gd name="T37" fmla="*/ 54 h 199"/>
              <a:gd name="T38" fmla="*/ 0 w 964"/>
              <a:gd name="T39" fmla="*/ 141 h 199"/>
              <a:gd name="T40" fmla="*/ 0 w 964"/>
              <a:gd name="T41" fmla="*/ 147 h 199"/>
              <a:gd name="T42" fmla="*/ 2 w 964"/>
              <a:gd name="T43" fmla="*/ 155 h 199"/>
              <a:gd name="T44" fmla="*/ 2 w 964"/>
              <a:gd name="T45" fmla="*/ 162 h 199"/>
              <a:gd name="T46" fmla="*/ 4 w 964"/>
              <a:gd name="T47" fmla="*/ 170 h 199"/>
              <a:gd name="T48" fmla="*/ 5 w 964"/>
              <a:gd name="T49" fmla="*/ 177 h 199"/>
              <a:gd name="T50" fmla="*/ 5 w 964"/>
              <a:gd name="T51" fmla="*/ 184 h 199"/>
              <a:gd name="T52" fmla="*/ 7 w 964"/>
              <a:gd name="T53" fmla="*/ 192 h 199"/>
              <a:gd name="T54" fmla="*/ 9 w 964"/>
              <a:gd name="T55" fmla="*/ 199 h 199"/>
              <a:gd name="T56" fmla="*/ 14 w 964"/>
              <a:gd name="T57" fmla="*/ 199 h 199"/>
              <a:gd name="T58" fmla="*/ 12 w 964"/>
              <a:gd name="T59" fmla="*/ 190 h 199"/>
              <a:gd name="T60" fmla="*/ 10 w 964"/>
              <a:gd name="T61" fmla="*/ 184 h 199"/>
              <a:gd name="T62" fmla="*/ 9 w 964"/>
              <a:gd name="T63" fmla="*/ 177 h 199"/>
              <a:gd name="T64" fmla="*/ 9 w 964"/>
              <a:gd name="T65" fmla="*/ 169 h 199"/>
              <a:gd name="T66" fmla="*/ 7 w 964"/>
              <a:gd name="T67" fmla="*/ 160 h 199"/>
              <a:gd name="T68" fmla="*/ 7 w 964"/>
              <a:gd name="T69" fmla="*/ 154 h 199"/>
              <a:gd name="T70" fmla="*/ 5 w 964"/>
              <a:gd name="T71" fmla="*/ 146 h 199"/>
              <a:gd name="T72" fmla="*/ 5 w 964"/>
              <a:gd name="T73" fmla="*/ 139 h 199"/>
              <a:gd name="T74" fmla="*/ 0 w 964"/>
              <a:gd name="T75" fmla="*/ 14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64" h="199">
                <a:moveTo>
                  <a:pt x="964" y="54"/>
                </a:moveTo>
                <a:lnTo>
                  <a:pt x="963" y="48"/>
                </a:lnTo>
                <a:lnTo>
                  <a:pt x="963" y="41"/>
                </a:lnTo>
                <a:lnTo>
                  <a:pt x="961" y="33"/>
                </a:lnTo>
                <a:lnTo>
                  <a:pt x="961" y="26"/>
                </a:lnTo>
                <a:lnTo>
                  <a:pt x="959" y="20"/>
                </a:lnTo>
                <a:lnTo>
                  <a:pt x="958" y="13"/>
                </a:lnTo>
                <a:lnTo>
                  <a:pt x="958" y="6"/>
                </a:lnTo>
                <a:lnTo>
                  <a:pt x="956" y="0"/>
                </a:lnTo>
                <a:lnTo>
                  <a:pt x="951" y="0"/>
                </a:lnTo>
                <a:lnTo>
                  <a:pt x="953" y="6"/>
                </a:lnTo>
                <a:lnTo>
                  <a:pt x="953" y="13"/>
                </a:lnTo>
                <a:lnTo>
                  <a:pt x="954" y="21"/>
                </a:lnTo>
                <a:lnTo>
                  <a:pt x="956" y="28"/>
                </a:lnTo>
                <a:lnTo>
                  <a:pt x="956" y="35"/>
                </a:lnTo>
                <a:lnTo>
                  <a:pt x="958" y="43"/>
                </a:lnTo>
                <a:lnTo>
                  <a:pt x="958" y="50"/>
                </a:lnTo>
                <a:lnTo>
                  <a:pt x="959" y="56"/>
                </a:lnTo>
                <a:lnTo>
                  <a:pt x="964" y="54"/>
                </a:lnTo>
                <a:close/>
                <a:moveTo>
                  <a:pt x="0" y="141"/>
                </a:moveTo>
                <a:lnTo>
                  <a:pt x="0" y="147"/>
                </a:lnTo>
                <a:lnTo>
                  <a:pt x="2" y="155"/>
                </a:lnTo>
                <a:lnTo>
                  <a:pt x="2" y="162"/>
                </a:lnTo>
                <a:lnTo>
                  <a:pt x="4" y="170"/>
                </a:lnTo>
                <a:lnTo>
                  <a:pt x="5" y="177"/>
                </a:lnTo>
                <a:lnTo>
                  <a:pt x="5" y="184"/>
                </a:lnTo>
                <a:lnTo>
                  <a:pt x="7" y="192"/>
                </a:lnTo>
                <a:lnTo>
                  <a:pt x="9" y="199"/>
                </a:lnTo>
                <a:lnTo>
                  <a:pt x="14" y="199"/>
                </a:lnTo>
                <a:lnTo>
                  <a:pt x="12" y="190"/>
                </a:lnTo>
                <a:lnTo>
                  <a:pt x="10" y="184"/>
                </a:lnTo>
                <a:lnTo>
                  <a:pt x="9" y="177"/>
                </a:lnTo>
                <a:lnTo>
                  <a:pt x="9" y="169"/>
                </a:lnTo>
                <a:lnTo>
                  <a:pt x="7" y="160"/>
                </a:lnTo>
                <a:lnTo>
                  <a:pt x="7" y="154"/>
                </a:lnTo>
                <a:lnTo>
                  <a:pt x="5" y="146"/>
                </a:lnTo>
                <a:lnTo>
                  <a:pt x="5" y="139"/>
                </a:lnTo>
                <a:lnTo>
                  <a:pt x="0" y="141"/>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17" name="Freeform 1222">
            <a:extLst>
              <a:ext uri="{FF2B5EF4-FFF2-40B4-BE49-F238E27FC236}">
                <a16:creationId xmlns:a16="http://schemas.microsoft.com/office/drawing/2014/main" id="{7B28D447-E0C9-663B-1343-0209D0695FB2}"/>
              </a:ext>
            </a:extLst>
          </p:cNvPr>
          <p:cNvSpPr>
            <a:spLocks noEditPoints="1"/>
          </p:cNvSpPr>
          <p:nvPr/>
        </p:nvSpPr>
        <p:spPr bwMode="auto">
          <a:xfrm>
            <a:off x="2152650" y="2403475"/>
            <a:ext cx="1522413" cy="315913"/>
          </a:xfrm>
          <a:custGeom>
            <a:avLst/>
            <a:gdLst>
              <a:gd name="T0" fmla="*/ 959 w 959"/>
              <a:gd name="T1" fmla="*/ 56 h 199"/>
              <a:gd name="T2" fmla="*/ 959 w 959"/>
              <a:gd name="T3" fmla="*/ 48 h 199"/>
              <a:gd name="T4" fmla="*/ 957 w 959"/>
              <a:gd name="T5" fmla="*/ 41 h 199"/>
              <a:gd name="T6" fmla="*/ 957 w 959"/>
              <a:gd name="T7" fmla="*/ 35 h 199"/>
              <a:gd name="T8" fmla="*/ 956 w 959"/>
              <a:gd name="T9" fmla="*/ 28 h 199"/>
              <a:gd name="T10" fmla="*/ 956 w 959"/>
              <a:gd name="T11" fmla="*/ 20 h 199"/>
              <a:gd name="T12" fmla="*/ 954 w 959"/>
              <a:gd name="T13" fmla="*/ 13 h 199"/>
              <a:gd name="T14" fmla="*/ 952 w 959"/>
              <a:gd name="T15" fmla="*/ 6 h 199"/>
              <a:gd name="T16" fmla="*/ 951 w 959"/>
              <a:gd name="T17" fmla="*/ 0 h 199"/>
              <a:gd name="T18" fmla="*/ 946 w 959"/>
              <a:gd name="T19" fmla="*/ 0 h 199"/>
              <a:gd name="T20" fmla="*/ 947 w 959"/>
              <a:gd name="T21" fmla="*/ 6 h 199"/>
              <a:gd name="T22" fmla="*/ 949 w 959"/>
              <a:gd name="T23" fmla="*/ 15 h 199"/>
              <a:gd name="T24" fmla="*/ 951 w 959"/>
              <a:gd name="T25" fmla="*/ 21 h 199"/>
              <a:gd name="T26" fmla="*/ 951 w 959"/>
              <a:gd name="T27" fmla="*/ 28 h 199"/>
              <a:gd name="T28" fmla="*/ 952 w 959"/>
              <a:gd name="T29" fmla="*/ 36 h 199"/>
              <a:gd name="T30" fmla="*/ 954 w 959"/>
              <a:gd name="T31" fmla="*/ 43 h 199"/>
              <a:gd name="T32" fmla="*/ 954 w 959"/>
              <a:gd name="T33" fmla="*/ 50 h 199"/>
              <a:gd name="T34" fmla="*/ 956 w 959"/>
              <a:gd name="T35" fmla="*/ 58 h 199"/>
              <a:gd name="T36" fmla="*/ 959 w 959"/>
              <a:gd name="T37" fmla="*/ 56 h 199"/>
              <a:gd name="T38" fmla="*/ 0 w 959"/>
              <a:gd name="T39" fmla="*/ 139 h 199"/>
              <a:gd name="T40" fmla="*/ 2 w 959"/>
              <a:gd name="T41" fmla="*/ 147 h 199"/>
              <a:gd name="T42" fmla="*/ 2 w 959"/>
              <a:gd name="T43" fmla="*/ 154 h 199"/>
              <a:gd name="T44" fmla="*/ 3 w 959"/>
              <a:gd name="T45" fmla="*/ 162 h 199"/>
              <a:gd name="T46" fmla="*/ 3 w 959"/>
              <a:gd name="T47" fmla="*/ 169 h 199"/>
              <a:gd name="T48" fmla="*/ 5 w 959"/>
              <a:gd name="T49" fmla="*/ 177 h 199"/>
              <a:gd name="T50" fmla="*/ 7 w 959"/>
              <a:gd name="T51" fmla="*/ 184 h 199"/>
              <a:gd name="T52" fmla="*/ 8 w 959"/>
              <a:gd name="T53" fmla="*/ 192 h 199"/>
              <a:gd name="T54" fmla="*/ 8 w 959"/>
              <a:gd name="T55" fmla="*/ 199 h 199"/>
              <a:gd name="T56" fmla="*/ 13 w 959"/>
              <a:gd name="T57" fmla="*/ 199 h 199"/>
              <a:gd name="T58" fmla="*/ 12 w 959"/>
              <a:gd name="T59" fmla="*/ 190 h 199"/>
              <a:gd name="T60" fmla="*/ 12 w 959"/>
              <a:gd name="T61" fmla="*/ 184 h 199"/>
              <a:gd name="T62" fmla="*/ 10 w 959"/>
              <a:gd name="T63" fmla="*/ 175 h 199"/>
              <a:gd name="T64" fmla="*/ 8 w 959"/>
              <a:gd name="T65" fmla="*/ 169 h 199"/>
              <a:gd name="T66" fmla="*/ 7 w 959"/>
              <a:gd name="T67" fmla="*/ 160 h 199"/>
              <a:gd name="T68" fmla="*/ 7 w 959"/>
              <a:gd name="T69" fmla="*/ 152 h 199"/>
              <a:gd name="T70" fmla="*/ 5 w 959"/>
              <a:gd name="T71" fmla="*/ 146 h 199"/>
              <a:gd name="T72" fmla="*/ 5 w 959"/>
              <a:gd name="T73" fmla="*/ 137 h 199"/>
              <a:gd name="T74" fmla="*/ 0 w 959"/>
              <a:gd name="T75" fmla="*/ 13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59" h="199">
                <a:moveTo>
                  <a:pt x="959" y="56"/>
                </a:moveTo>
                <a:lnTo>
                  <a:pt x="959" y="48"/>
                </a:lnTo>
                <a:lnTo>
                  <a:pt x="957" y="41"/>
                </a:lnTo>
                <a:lnTo>
                  <a:pt x="957" y="35"/>
                </a:lnTo>
                <a:lnTo>
                  <a:pt x="956" y="28"/>
                </a:lnTo>
                <a:lnTo>
                  <a:pt x="956" y="20"/>
                </a:lnTo>
                <a:lnTo>
                  <a:pt x="954" y="13"/>
                </a:lnTo>
                <a:lnTo>
                  <a:pt x="952" y="6"/>
                </a:lnTo>
                <a:lnTo>
                  <a:pt x="951" y="0"/>
                </a:lnTo>
                <a:lnTo>
                  <a:pt x="946" y="0"/>
                </a:lnTo>
                <a:lnTo>
                  <a:pt x="947" y="6"/>
                </a:lnTo>
                <a:lnTo>
                  <a:pt x="949" y="15"/>
                </a:lnTo>
                <a:lnTo>
                  <a:pt x="951" y="21"/>
                </a:lnTo>
                <a:lnTo>
                  <a:pt x="951" y="28"/>
                </a:lnTo>
                <a:lnTo>
                  <a:pt x="952" y="36"/>
                </a:lnTo>
                <a:lnTo>
                  <a:pt x="954" y="43"/>
                </a:lnTo>
                <a:lnTo>
                  <a:pt x="954" y="50"/>
                </a:lnTo>
                <a:lnTo>
                  <a:pt x="956" y="58"/>
                </a:lnTo>
                <a:lnTo>
                  <a:pt x="959" y="56"/>
                </a:lnTo>
                <a:close/>
                <a:moveTo>
                  <a:pt x="0" y="139"/>
                </a:moveTo>
                <a:lnTo>
                  <a:pt x="2" y="147"/>
                </a:lnTo>
                <a:lnTo>
                  <a:pt x="2" y="154"/>
                </a:lnTo>
                <a:lnTo>
                  <a:pt x="3" y="162"/>
                </a:lnTo>
                <a:lnTo>
                  <a:pt x="3" y="169"/>
                </a:lnTo>
                <a:lnTo>
                  <a:pt x="5" y="177"/>
                </a:lnTo>
                <a:lnTo>
                  <a:pt x="7" y="184"/>
                </a:lnTo>
                <a:lnTo>
                  <a:pt x="8" y="192"/>
                </a:lnTo>
                <a:lnTo>
                  <a:pt x="8" y="199"/>
                </a:lnTo>
                <a:lnTo>
                  <a:pt x="13" y="199"/>
                </a:lnTo>
                <a:lnTo>
                  <a:pt x="12" y="190"/>
                </a:lnTo>
                <a:lnTo>
                  <a:pt x="12" y="184"/>
                </a:lnTo>
                <a:lnTo>
                  <a:pt x="10" y="175"/>
                </a:lnTo>
                <a:lnTo>
                  <a:pt x="8" y="169"/>
                </a:lnTo>
                <a:lnTo>
                  <a:pt x="7" y="160"/>
                </a:lnTo>
                <a:lnTo>
                  <a:pt x="7" y="152"/>
                </a:lnTo>
                <a:lnTo>
                  <a:pt x="5" y="146"/>
                </a:lnTo>
                <a:lnTo>
                  <a:pt x="5" y="137"/>
                </a:lnTo>
                <a:lnTo>
                  <a:pt x="0" y="139"/>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18" name="Freeform 1223">
            <a:extLst>
              <a:ext uri="{FF2B5EF4-FFF2-40B4-BE49-F238E27FC236}">
                <a16:creationId xmlns:a16="http://schemas.microsoft.com/office/drawing/2014/main" id="{44FDBF90-93B9-A62A-1096-ACF1B0A27CA0}"/>
              </a:ext>
            </a:extLst>
          </p:cNvPr>
          <p:cNvSpPr>
            <a:spLocks noEditPoints="1"/>
          </p:cNvSpPr>
          <p:nvPr/>
        </p:nvSpPr>
        <p:spPr bwMode="auto">
          <a:xfrm>
            <a:off x="2157413" y="2403475"/>
            <a:ext cx="1514475" cy="315913"/>
          </a:xfrm>
          <a:custGeom>
            <a:avLst/>
            <a:gdLst>
              <a:gd name="T0" fmla="*/ 954 w 954"/>
              <a:gd name="T1" fmla="*/ 56 h 199"/>
              <a:gd name="T2" fmla="*/ 953 w 954"/>
              <a:gd name="T3" fmla="*/ 50 h 199"/>
              <a:gd name="T4" fmla="*/ 953 w 954"/>
              <a:gd name="T5" fmla="*/ 43 h 199"/>
              <a:gd name="T6" fmla="*/ 951 w 954"/>
              <a:gd name="T7" fmla="*/ 35 h 199"/>
              <a:gd name="T8" fmla="*/ 951 w 954"/>
              <a:gd name="T9" fmla="*/ 28 h 199"/>
              <a:gd name="T10" fmla="*/ 949 w 954"/>
              <a:gd name="T11" fmla="*/ 21 h 199"/>
              <a:gd name="T12" fmla="*/ 948 w 954"/>
              <a:gd name="T13" fmla="*/ 13 h 199"/>
              <a:gd name="T14" fmla="*/ 948 w 954"/>
              <a:gd name="T15" fmla="*/ 6 h 199"/>
              <a:gd name="T16" fmla="*/ 946 w 954"/>
              <a:gd name="T17" fmla="*/ 0 h 199"/>
              <a:gd name="T18" fmla="*/ 941 w 954"/>
              <a:gd name="T19" fmla="*/ 0 h 199"/>
              <a:gd name="T20" fmla="*/ 943 w 954"/>
              <a:gd name="T21" fmla="*/ 6 h 199"/>
              <a:gd name="T22" fmla="*/ 944 w 954"/>
              <a:gd name="T23" fmla="*/ 15 h 199"/>
              <a:gd name="T24" fmla="*/ 944 w 954"/>
              <a:gd name="T25" fmla="*/ 21 h 199"/>
              <a:gd name="T26" fmla="*/ 946 w 954"/>
              <a:gd name="T27" fmla="*/ 30 h 199"/>
              <a:gd name="T28" fmla="*/ 948 w 954"/>
              <a:gd name="T29" fmla="*/ 36 h 199"/>
              <a:gd name="T30" fmla="*/ 948 w 954"/>
              <a:gd name="T31" fmla="*/ 45 h 199"/>
              <a:gd name="T32" fmla="*/ 949 w 954"/>
              <a:gd name="T33" fmla="*/ 51 h 199"/>
              <a:gd name="T34" fmla="*/ 949 w 954"/>
              <a:gd name="T35" fmla="*/ 59 h 199"/>
              <a:gd name="T36" fmla="*/ 954 w 954"/>
              <a:gd name="T37" fmla="*/ 56 h 199"/>
              <a:gd name="T38" fmla="*/ 0 w 954"/>
              <a:gd name="T39" fmla="*/ 139 h 199"/>
              <a:gd name="T40" fmla="*/ 0 w 954"/>
              <a:gd name="T41" fmla="*/ 146 h 199"/>
              <a:gd name="T42" fmla="*/ 2 w 954"/>
              <a:gd name="T43" fmla="*/ 154 h 199"/>
              <a:gd name="T44" fmla="*/ 2 w 954"/>
              <a:gd name="T45" fmla="*/ 160 h 199"/>
              <a:gd name="T46" fmla="*/ 4 w 954"/>
              <a:gd name="T47" fmla="*/ 169 h 199"/>
              <a:gd name="T48" fmla="*/ 4 w 954"/>
              <a:gd name="T49" fmla="*/ 177 h 199"/>
              <a:gd name="T50" fmla="*/ 5 w 954"/>
              <a:gd name="T51" fmla="*/ 184 h 199"/>
              <a:gd name="T52" fmla="*/ 7 w 954"/>
              <a:gd name="T53" fmla="*/ 190 h 199"/>
              <a:gd name="T54" fmla="*/ 9 w 954"/>
              <a:gd name="T55" fmla="*/ 199 h 199"/>
              <a:gd name="T56" fmla="*/ 14 w 954"/>
              <a:gd name="T57" fmla="*/ 199 h 199"/>
              <a:gd name="T58" fmla="*/ 12 w 954"/>
              <a:gd name="T59" fmla="*/ 190 h 199"/>
              <a:gd name="T60" fmla="*/ 10 w 954"/>
              <a:gd name="T61" fmla="*/ 184 h 199"/>
              <a:gd name="T62" fmla="*/ 9 w 954"/>
              <a:gd name="T63" fmla="*/ 175 h 199"/>
              <a:gd name="T64" fmla="*/ 9 w 954"/>
              <a:gd name="T65" fmla="*/ 167 h 199"/>
              <a:gd name="T66" fmla="*/ 7 w 954"/>
              <a:gd name="T67" fmla="*/ 160 h 199"/>
              <a:gd name="T68" fmla="*/ 5 w 954"/>
              <a:gd name="T69" fmla="*/ 152 h 199"/>
              <a:gd name="T70" fmla="*/ 5 w 954"/>
              <a:gd name="T71" fmla="*/ 144 h 199"/>
              <a:gd name="T72" fmla="*/ 4 w 954"/>
              <a:gd name="T73" fmla="*/ 136 h 199"/>
              <a:gd name="T74" fmla="*/ 0 w 954"/>
              <a:gd name="T75" fmla="*/ 13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54" h="199">
                <a:moveTo>
                  <a:pt x="954" y="56"/>
                </a:moveTo>
                <a:lnTo>
                  <a:pt x="953" y="50"/>
                </a:lnTo>
                <a:lnTo>
                  <a:pt x="953" y="43"/>
                </a:lnTo>
                <a:lnTo>
                  <a:pt x="951" y="35"/>
                </a:lnTo>
                <a:lnTo>
                  <a:pt x="951" y="28"/>
                </a:lnTo>
                <a:lnTo>
                  <a:pt x="949" y="21"/>
                </a:lnTo>
                <a:lnTo>
                  <a:pt x="948" y="13"/>
                </a:lnTo>
                <a:lnTo>
                  <a:pt x="948" y="6"/>
                </a:lnTo>
                <a:lnTo>
                  <a:pt x="946" y="0"/>
                </a:lnTo>
                <a:lnTo>
                  <a:pt x="941" y="0"/>
                </a:lnTo>
                <a:lnTo>
                  <a:pt x="943" y="6"/>
                </a:lnTo>
                <a:lnTo>
                  <a:pt x="944" y="15"/>
                </a:lnTo>
                <a:lnTo>
                  <a:pt x="944" y="21"/>
                </a:lnTo>
                <a:lnTo>
                  <a:pt x="946" y="30"/>
                </a:lnTo>
                <a:lnTo>
                  <a:pt x="948" y="36"/>
                </a:lnTo>
                <a:lnTo>
                  <a:pt x="948" y="45"/>
                </a:lnTo>
                <a:lnTo>
                  <a:pt x="949" y="51"/>
                </a:lnTo>
                <a:lnTo>
                  <a:pt x="949" y="59"/>
                </a:lnTo>
                <a:lnTo>
                  <a:pt x="954" y="56"/>
                </a:lnTo>
                <a:close/>
                <a:moveTo>
                  <a:pt x="0" y="139"/>
                </a:moveTo>
                <a:lnTo>
                  <a:pt x="0" y="146"/>
                </a:lnTo>
                <a:lnTo>
                  <a:pt x="2" y="154"/>
                </a:lnTo>
                <a:lnTo>
                  <a:pt x="2" y="160"/>
                </a:lnTo>
                <a:lnTo>
                  <a:pt x="4" y="169"/>
                </a:lnTo>
                <a:lnTo>
                  <a:pt x="4" y="177"/>
                </a:lnTo>
                <a:lnTo>
                  <a:pt x="5" y="184"/>
                </a:lnTo>
                <a:lnTo>
                  <a:pt x="7" y="190"/>
                </a:lnTo>
                <a:lnTo>
                  <a:pt x="9" y="199"/>
                </a:lnTo>
                <a:lnTo>
                  <a:pt x="14" y="199"/>
                </a:lnTo>
                <a:lnTo>
                  <a:pt x="12" y="190"/>
                </a:lnTo>
                <a:lnTo>
                  <a:pt x="10" y="184"/>
                </a:lnTo>
                <a:lnTo>
                  <a:pt x="9" y="175"/>
                </a:lnTo>
                <a:lnTo>
                  <a:pt x="9" y="167"/>
                </a:lnTo>
                <a:lnTo>
                  <a:pt x="7" y="160"/>
                </a:lnTo>
                <a:lnTo>
                  <a:pt x="5" y="152"/>
                </a:lnTo>
                <a:lnTo>
                  <a:pt x="5" y="144"/>
                </a:lnTo>
                <a:lnTo>
                  <a:pt x="4" y="136"/>
                </a:lnTo>
                <a:lnTo>
                  <a:pt x="0" y="139"/>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19" name="Freeform 1224">
            <a:extLst>
              <a:ext uri="{FF2B5EF4-FFF2-40B4-BE49-F238E27FC236}">
                <a16:creationId xmlns:a16="http://schemas.microsoft.com/office/drawing/2014/main" id="{18DA3508-241E-F0F1-9A1A-2086C5014905}"/>
              </a:ext>
            </a:extLst>
          </p:cNvPr>
          <p:cNvSpPr>
            <a:spLocks noEditPoints="1"/>
          </p:cNvSpPr>
          <p:nvPr/>
        </p:nvSpPr>
        <p:spPr bwMode="auto">
          <a:xfrm>
            <a:off x="2160588" y="2403475"/>
            <a:ext cx="1509713" cy="315913"/>
          </a:xfrm>
          <a:custGeom>
            <a:avLst/>
            <a:gdLst>
              <a:gd name="T0" fmla="*/ 951 w 951"/>
              <a:gd name="T1" fmla="*/ 58 h 199"/>
              <a:gd name="T2" fmla="*/ 949 w 951"/>
              <a:gd name="T3" fmla="*/ 50 h 199"/>
              <a:gd name="T4" fmla="*/ 949 w 951"/>
              <a:gd name="T5" fmla="*/ 43 h 199"/>
              <a:gd name="T6" fmla="*/ 947 w 951"/>
              <a:gd name="T7" fmla="*/ 36 h 199"/>
              <a:gd name="T8" fmla="*/ 946 w 951"/>
              <a:gd name="T9" fmla="*/ 28 h 199"/>
              <a:gd name="T10" fmla="*/ 946 w 951"/>
              <a:gd name="T11" fmla="*/ 21 h 199"/>
              <a:gd name="T12" fmla="*/ 944 w 951"/>
              <a:gd name="T13" fmla="*/ 15 h 199"/>
              <a:gd name="T14" fmla="*/ 942 w 951"/>
              <a:gd name="T15" fmla="*/ 6 h 199"/>
              <a:gd name="T16" fmla="*/ 941 w 951"/>
              <a:gd name="T17" fmla="*/ 0 h 199"/>
              <a:gd name="T18" fmla="*/ 936 w 951"/>
              <a:gd name="T19" fmla="*/ 0 h 199"/>
              <a:gd name="T20" fmla="*/ 937 w 951"/>
              <a:gd name="T21" fmla="*/ 6 h 199"/>
              <a:gd name="T22" fmla="*/ 939 w 951"/>
              <a:gd name="T23" fmla="*/ 15 h 199"/>
              <a:gd name="T24" fmla="*/ 941 w 951"/>
              <a:gd name="T25" fmla="*/ 21 h 199"/>
              <a:gd name="T26" fmla="*/ 942 w 951"/>
              <a:gd name="T27" fmla="*/ 30 h 199"/>
              <a:gd name="T28" fmla="*/ 942 w 951"/>
              <a:gd name="T29" fmla="*/ 36 h 199"/>
              <a:gd name="T30" fmla="*/ 944 w 951"/>
              <a:gd name="T31" fmla="*/ 45 h 199"/>
              <a:gd name="T32" fmla="*/ 944 w 951"/>
              <a:gd name="T33" fmla="*/ 53 h 199"/>
              <a:gd name="T34" fmla="*/ 946 w 951"/>
              <a:gd name="T35" fmla="*/ 59 h 199"/>
              <a:gd name="T36" fmla="*/ 951 w 951"/>
              <a:gd name="T37" fmla="*/ 58 h 199"/>
              <a:gd name="T38" fmla="*/ 0 w 951"/>
              <a:gd name="T39" fmla="*/ 137 h 199"/>
              <a:gd name="T40" fmla="*/ 0 w 951"/>
              <a:gd name="T41" fmla="*/ 146 h 199"/>
              <a:gd name="T42" fmla="*/ 2 w 951"/>
              <a:gd name="T43" fmla="*/ 152 h 199"/>
              <a:gd name="T44" fmla="*/ 2 w 951"/>
              <a:gd name="T45" fmla="*/ 160 h 199"/>
              <a:gd name="T46" fmla="*/ 3 w 951"/>
              <a:gd name="T47" fmla="*/ 169 h 199"/>
              <a:gd name="T48" fmla="*/ 5 w 951"/>
              <a:gd name="T49" fmla="*/ 175 h 199"/>
              <a:gd name="T50" fmla="*/ 7 w 951"/>
              <a:gd name="T51" fmla="*/ 184 h 199"/>
              <a:gd name="T52" fmla="*/ 7 w 951"/>
              <a:gd name="T53" fmla="*/ 190 h 199"/>
              <a:gd name="T54" fmla="*/ 8 w 951"/>
              <a:gd name="T55" fmla="*/ 199 h 199"/>
              <a:gd name="T56" fmla="*/ 13 w 951"/>
              <a:gd name="T57" fmla="*/ 199 h 199"/>
              <a:gd name="T58" fmla="*/ 12 w 951"/>
              <a:gd name="T59" fmla="*/ 190 h 199"/>
              <a:gd name="T60" fmla="*/ 10 w 951"/>
              <a:gd name="T61" fmla="*/ 184 h 199"/>
              <a:gd name="T62" fmla="*/ 10 w 951"/>
              <a:gd name="T63" fmla="*/ 175 h 199"/>
              <a:gd name="T64" fmla="*/ 8 w 951"/>
              <a:gd name="T65" fmla="*/ 167 h 199"/>
              <a:gd name="T66" fmla="*/ 7 w 951"/>
              <a:gd name="T67" fmla="*/ 159 h 199"/>
              <a:gd name="T68" fmla="*/ 7 w 951"/>
              <a:gd name="T69" fmla="*/ 151 h 199"/>
              <a:gd name="T70" fmla="*/ 5 w 951"/>
              <a:gd name="T71" fmla="*/ 144 h 199"/>
              <a:gd name="T72" fmla="*/ 5 w 951"/>
              <a:gd name="T73" fmla="*/ 136 h 199"/>
              <a:gd name="T74" fmla="*/ 0 w 951"/>
              <a:gd name="T75" fmla="*/ 13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51" h="199">
                <a:moveTo>
                  <a:pt x="951" y="58"/>
                </a:moveTo>
                <a:lnTo>
                  <a:pt x="949" y="50"/>
                </a:lnTo>
                <a:lnTo>
                  <a:pt x="949" y="43"/>
                </a:lnTo>
                <a:lnTo>
                  <a:pt x="947" y="36"/>
                </a:lnTo>
                <a:lnTo>
                  <a:pt x="946" y="28"/>
                </a:lnTo>
                <a:lnTo>
                  <a:pt x="946" y="21"/>
                </a:lnTo>
                <a:lnTo>
                  <a:pt x="944" y="15"/>
                </a:lnTo>
                <a:lnTo>
                  <a:pt x="942" y="6"/>
                </a:lnTo>
                <a:lnTo>
                  <a:pt x="941" y="0"/>
                </a:lnTo>
                <a:lnTo>
                  <a:pt x="936" y="0"/>
                </a:lnTo>
                <a:lnTo>
                  <a:pt x="937" y="6"/>
                </a:lnTo>
                <a:lnTo>
                  <a:pt x="939" y="15"/>
                </a:lnTo>
                <a:lnTo>
                  <a:pt x="941" y="21"/>
                </a:lnTo>
                <a:lnTo>
                  <a:pt x="942" y="30"/>
                </a:lnTo>
                <a:lnTo>
                  <a:pt x="942" y="36"/>
                </a:lnTo>
                <a:lnTo>
                  <a:pt x="944" y="45"/>
                </a:lnTo>
                <a:lnTo>
                  <a:pt x="944" y="53"/>
                </a:lnTo>
                <a:lnTo>
                  <a:pt x="946" y="59"/>
                </a:lnTo>
                <a:lnTo>
                  <a:pt x="951" y="58"/>
                </a:lnTo>
                <a:close/>
                <a:moveTo>
                  <a:pt x="0" y="137"/>
                </a:moveTo>
                <a:lnTo>
                  <a:pt x="0" y="146"/>
                </a:lnTo>
                <a:lnTo>
                  <a:pt x="2" y="152"/>
                </a:lnTo>
                <a:lnTo>
                  <a:pt x="2" y="160"/>
                </a:lnTo>
                <a:lnTo>
                  <a:pt x="3" y="169"/>
                </a:lnTo>
                <a:lnTo>
                  <a:pt x="5" y="175"/>
                </a:lnTo>
                <a:lnTo>
                  <a:pt x="7" y="184"/>
                </a:lnTo>
                <a:lnTo>
                  <a:pt x="7" y="190"/>
                </a:lnTo>
                <a:lnTo>
                  <a:pt x="8" y="199"/>
                </a:lnTo>
                <a:lnTo>
                  <a:pt x="13" y="199"/>
                </a:lnTo>
                <a:lnTo>
                  <a:pt x="12" y="190"/>
                </a:lnTo>
                <a:lnTo>
                  <a:pt x="10" y="184"/>
                </a:lnTo>
                <a:lnTo>
                  <a:pt x="10" y="175"/>
                </a:lnTo>
                <a:lnTo>
                  <a:pt x="8" y="167"/>
                </a:lnTo>
                <a:lnTo>
                  <a:pt x="7" y="159"/>
                </a:lnTo>
                <a:lnTo>
                  <a:pt x="7" y="151"/>
                </a:lnTo>
                <a:lnTo>
                  <a:pt x="5" y="144"/>
                </a:lnTo>
                <a:lnTo>
                  <a:pt x="5" y="136"/>
                </a:lnTo>
                <a:lnTo>
                  <a:pt x="0" y="137"/>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20" name="Freeform 1225">
            <a:extLst>
              <a:ext uri="{FF2B5EF4-FFF2-40B4-BE49-F238E27FC236}">
                <a16:creationId xmlns:a16="http://schemas.microsoft.com/office/drawing/2014/main" id="{04DF71B9-B475-896F-0BD0-CDC84D119930}"/>
              </a:ext>
            </a:extLst>
          </p:cNvPr>
          <p:cNvSpPr>
            <a:spLocks noEditPoints="1"/>
          </p:cNvSpPr>
          <p:nvPr/>
        </p:nvSpPr>
        <p:spPr bwMode="auto">
          <a:xfrm>
            <a:off x="2163763" y="2403475"/>
            <a:ext cx="1500188" cy="315913"/>
          </a:xfrm>
          <a:custGeom>
            <a:avLst/>
            <a:gdLst>
              <a:gd name="T0" fmla="*/ 945 w 945"/>
              <a:gd name="T1" fmla="*/ 59 h 199"/>
              <a:gd name="T2" fmla="*/ 945 w 945"/>
              <a:gd name="T3" fmla="*/ 51 h 199"/>
              <a:gd name="T4" fmla="*/ 944 w 945"/>
              <a:gd name="T5" fmla="*/ 45 h 199"/>
              <a:gd name="T6" fmla="*/ 944 w 945"/>
              <a:gd name="T7" fmla="*/ 36 h 199"/>
              <a:gd name="T8" fmla="*/ 942 w 945"/>
              <a:gd name="T9" fmla="*/ 30 h 199"/>
              <a:gd name="T10" fmla="*/ 940 w 945"/>
              <a:gd name="T11" fmla="*/ 21 h 199"/>
              <a:gd name="T12" fmla="*/ 940 w 945"/>
              <a:gd name="T13" fmla="*/ 15 h 199"/>
              <a:gd name="T14" fmla="*/ 939 w 945"/>
              <a:gd name="T15" fmla="*/ 6 h 199"/>
              <a:gd name="T16" fmla="*/ 937 w 945"/>
              <a:gd name="T17" fmla="*/ 0 h 199"/>
              <a:gd name="T18" fmla="*/ 932 w 945"/>
              <a:gd name="T19" fmla="*/ 0 h 199"/>
              <a:gd name="T20" fmla="*/ 934 w 945"/>
              <a:gd name="T21" fmla="*/ 6 h 199"/>
              <a:gd name="T22" fmla="*/ 935 w 945"/>
              <a:gd name="T23" fmla="*/ 15 h 199"/>
              <a:gd name="T24" fmla="*/ 935 w 945"/>
              <a:gd name="T25" fmla="*/ 23 h 199"/>
              <a:gd name="T26" fmla="*/ 937 w 945"/>
              <a:gd name="T27" fmla="*/ 30 h 199"/>
              <a:gd name="T28" fmla="*/ 939 w 945"/>
              <a:gd name="T29" fmla="*/ 38 h 199"/>
              <a:gd name="T30" fmla="*/ 939 w 945"/>
              <a:gd name="T31" fmla="*/ 45 h 199"/>
              <a:gd name="T32" fmla="*/ 940 w 945"/>
              <a:gd name="T33" fmla="*/ 53 h 199"/>
              <a:gd name="T34" fmla="*/ 940 w 945"/>
              <a:gd name="T35" fmla="*/ 61 h 199"/>
              <a:gd name="T36" fmla="*/ 945 w 945"/>
              <a:gd name="T37" fmla="*/ 59 h 199"/>
              <a:gd name="T38" fmla="*/ 0 w 945"/>
              <a:gd name="T39" fmla="*/ 136 h 199"/>
              <a:gd name="T40" fmla="*/ 1 w 945"/>
              <a:gd name="T41" fmla="*/ 144 h 199"/>
              <a:gd name="T42" fmla="*/ 1 w 945"/>
              <a:gd name="T43" fmla="*/ 152 h 199"/>
              <a:gd name="T44" fmla="*/ 3 w 945"/>
              <a:gd name="T45" fmla="*/ 160 h 199"/>
              <a:gd name="T46" fmla="*/ 5 w 945"/>
              <a:gd name="T47" fmla="*/ 167 h 199"/>
              <a:gd name="T48" fmla="*/ 5 w 945"/>
              <a:gd name="T49" fmla="*/ 175 h 199"/>
              <a:gd name="T50" fmla="*/ 6 w 945"/>
              <a:gd name="T51" fmla="*/ 184 h 199"/>
              <a:gd name="T52" fmla="*/ 8 w 945"/>
              <a:gd name="T53" fmla="*/ 190 h 199"/>
              <a:gd name="T54" fmla="*/ 10 w 945"/>
              <a:gd name="T55" fmla="*/ 199 h 199"/>
              <a:gd name="T56" fmla="*/ 15 w 945"/>
              <a:gd name="T57" fmla="*/ 199 h 199"/>
              <a:gd name="T58" fmla="*/ 13 w 945"/>
              <a:gd name="T59" fmla="*/ 190 h 199"/>
              <a:gd name="T60" fmla="*/ 11 w 945"/>
              <a:gd name="T61" fmla="*/ 182 h 199"/>
              <a:gd name="T62" fmla="*/ 10 w 945"/>
              <a:gd name="T63" fmla="*/ 175 h 199"/>
              <a:gd name="T64" fmla="*/ 8 w 945"/>
              <a:gd name="T65" fmla="*/ 167 h 199"/>
              <a:gd name="T66" fmla="*/ 8 w 945"/>
              <a:gd name="T67" fmla="*/ 159 h 199"/>
              <a:gd name="T68" fmla="*/ 6 w 945"/>
              <a:gd name="T69" fmla="*/ 151 h 199"/>
              <a:gd name="T70" fmla="*/ 6 w 945"/>
              <a:gd name="T71" fmla="*/ 142 h 199"/>
              <a:gd name="T72" fmla="*/ 5 w 945"/>
              <a:gd name="T73" fmla="*/ 134 h 199"/>
              <a:gd name="T74" fmla="*/ 0 w 945"/>
              <a:gd name="T75" fmla="*/ 13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45" h="199">
                <a:moveTo>
                  <a:pt x="945" y="59"/>
                </a:moveTo>
                <a:lnTo>
                  <a:pt x="945" y="51"/>
                </a:lnTo>
                <a:lnTo>
                  <a:pt x="944" y="45"/>
                </a:lnTo>
                <a:lnTo>
                  <a:pt x="944" y="36"/>
                </a:lnTo>
                <a:lnTo>
                  <a:pt x="942" y="30"/>
                </a:lnTo>
                <a:lnTo>
                  <a:pt x="940" y="21"/>
                </a:lnTo>
                <a:lnTo>
                  <a:pt x="940" y="15"/>
                </a:lnTo>
                <a:lnTo>
                  <a:pt x="939" y="6"/>
                </a:lnTo>
                <a:lnTo>
                  <a:pt x="937" y="0"/>
                </a:lnTo>
                <a:lnTo>
                  <a:pt x="932" y="0"/>
                </a:lnTo>
                <a:lnTo>
                  <a:pt x="934" y="6"/>
                </a:lnTo>
                <a:lnTo>
                  <a:pt x="935" y="15"/>
                </a:lnTo>
                <a:lnTo>
                  <a:pt x="935" y="23"/>
                </a:lnTo>
                <a:lnTo>
                  <a:pt x="937" y="30"/>
                </a:lnTo>
                <a:lnTo>
                  <a:pt x="939" y="38"/>
                </a:lnTo>
                <a:lnTo>
                  <a:pt x="939" y="45"/>
                </a:lnTo>
                <a:lnTo>
                  <a:pt x="940" y="53"/>
                </a:lnTo>
                <a:lnTo>
                  <a:pt x="940" y="61"/>
                </a:lnTo>
                <a:lnTo>
                  <a:pt x="945" y="59"/>
                </a:lnTo>
                <a:close/>
                <a:moveTo>
                  <a:pt x="0" y="136"/>
                </a:moveTo>
                <a:lnTo>
                  <a:pt x="1" y="144"/>
                </a:lnTo>
                <a:lnTo>
                  <a:pt x="1" y="152"/>
                </a:lnTo>
                <a:lnTo>
                  <a:pt x="3" y="160"/>
                </a:lnTo>
                <a:lnTo>
                  <a:pt x="5" y="167"/>
                </a:lnTo>
                <a:lnTo>
                  <a:pt x="5" y="175"/>
                </a:lnTo>
                <a:lnTo>
                  <a:pt x="6" y="184"/>
                </a:lnTo>
                <a:lnTo>
                  <a:pt x="8" y="190"/>
                </a:lnTo>
                <a:lnTo>
                  <a:pt x="10" y="199"/>
                </a:lnTo>
                <a:lnTo>
                  <a:pt x="15" y="199"/>
                </a:lnTo>
                <a:lnTo>
                  <a:pt x="13" y="190"/>
                </a:lnTo>
                <a:lnTo>
                  <a:pt x="11" y="182"/>
                </a:lnTo>
                <a:lnTo>
                  <a:pt x="10" y="175"/>
                </a:lnTo>
                <a:lnTo>
                  <a:pt x="8" y="167"/>
                </a:lnTo>
                <a:lnTo>
                  <a:pt x="8" y="159"/>
                </a:lnTo>
                <a:lnTo>
                  <a:pt x="6" y="151"/>
                </a:lnTo>
                <a:lnTo>
                  <a:pt x="6" y="142"/>
                </a:lnTo>
                <a:lnTo>
                  <a:pt x="5" y="134"/>
                </a:lnTo>
                <a:lnTo>
                  <a:pt x="0" y="136"/>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21" name="Freeform 1226">
            <a:extLst>
              <a:ext uri="{FF2B5EF4-FFF2-40B4-BE49-F238E27FC236}">
                <a16:creationId xmlns:a16="http://schemas.microsoft.com/office/drawing/2014/main" id="{9BC46864-34A9-1D0F-EDC2-CBA4B0356E88}"/>
              </a:ext>
            </a:extLst>
          </p:cNvPr>
          <p:cNvSpPr>
            <a:spLocks noEditPoints="1"/>
          </p:cNvSpPr>
          <p:nvPr/>
        </p:nvSpPr>
        <p:spPr bwMode="auto">
          <a:xfrm>
            <a:off x="2168525" y="2403475"/>
            <a:ext cx="1493838" cy="315913"/>
          </a:xfrm>
          <a:custGeom>
            <a:avLst/>
            <a:gdLst>
              <a:gd name="T0" fmla="*/ 941 w 941"/>
              <a:gd name="T1" fmla="*/ 59 h 199"/>
              <a:gd name="T2" fmla="*/ 939 w 941"/>
              <a:gd name="T3" fmla="*/ 53 h 199"/>
              <a:gd name="T4" fmla="*/ 939 w 941"/>
              <a:gd name="T5" fmla="*/ 45 h 199"/>
              <a:gd name="T6" fmla="*/ 937 w 941"/>
              <a:gd name="T7" fmla="*/ 36 h 199"/>
              <a:gd name="T8" fmla="*/ 937 w 941"/>
              <a:gd name="T9" fmla="*/ 30 h 199"/>
              <a:gd name="T10" fmla="*/ 936 w 941"/>
              <a:gd name="T11" fmla="*/ 21 h 199"/>
              <a:gd name="T12" fmla="*/ 934 w 941"/>
              <a:gd name="T13" fmla="*/ 15 h 199"/>
              <a:gd name="T14" fmla="*/ 932 w 941"/>
              <a:gd name="T15" fmla="*/ 6 h 199"/>
              <a:gd name="T16" fmla="*/ 931 w 941"/>
              <a:gd name="T17" fmla="*/ 0 h 199"/>
              <a:gd name="T18" fmla="*/ 926 w 941"/>
              <a:gd name="T19" fmla="*/ 0 h 199"/>
              <a:gd name="T20" fmla="*/ 927 w 941"/>
              <a:gd name="T21" fmla="*/ 6 h 199"/>
              <a:gd name="T22" fmla="*/ 929 w 941"/>
              <a:gd name="T23" fmla="*/ 15 h 199"/>
              <a:gd name="T24" fmla="*/ 931 w 941"/>
              <a:gd name="T25" fmla="*/ 23 h 199"/>
              <a:gd name="T26" fmla="*/ 932 w 941"/>
              <a:gd name="T27" fmla="*/ 30 h 199"/>
              <a:gd name="T28" fmla="*/ 932 w 941"/>
              <a:gd name="T29" fmla="*/ 38 h 199"/>
              <a:gd name="T30" fmla="*/ 934 w 941"/>
              <a:gd name="T31" fmla="*/ 46 h 199"/>
              <a:gd name="T32" fmla="*/ 934 w 941"/>
              <a:gd name="T33" fmla="*/ 54 h 199"/>
              <a:gd name="T34" fmla="*/ 936 w 941"/>
              <a:gd name="T35" fmla="*/ 61 h 199"/>
              <a:gd name="T36" fmla="*/ 941 w 941"/>
              <a:gd name="T37" fmla="*/ 59 h 199"/>
              <a:gd name="T38" fmla="*/ 0 w 941"/>
              <a:gd name="T39" fmla="*/ 136 h 199"/>
              <a:gd name="T40" fmla="*/ 0 w 941"/>
              <a:gd name="T41" fmla="*/ 144 h 199"/>
              <a:gd name="T42" fmla="*/ 2 w 941"/>
              <a:gd name="T43" fmla="*/ 151 h 199"/>
              <a:gd name="T44" fmla="*/ 2 w 941"/>
              <a:gd name="T45" fmla="*/ 159 h 199"/>
              <a:gd name="T46" fmla="*/ 3 w 941"/>
              <a:gd name="T47" fmla="*/ 167 h 199"/>
              <a:gd name="T48" fmla="*/ 5 w 941"/>
              <a:gd name="T49" fmla="*/ 175 h 199"/>
              <a:gd name="T50" fmla="*/ 5 w 941"/>
              <a:gd name="T51" fmla="*/ 184 h 199"/>
              <a:gd name="T52" fmla="*/ 7 w 941"/>
              <a:gd name="T53" fmla="*/ 190 h 199"/>
              <a:gd name="T54" fmla="*/ 8 w 941"/>
              <a:gd name="T55" fmla="*/ 199 h 199"/>
              <a:gd name="T56" fmla="*/ 13 w 941"/>
              <a:gd name="T57" fmla="*/ 199 h 199"/>
              <a:gd name="T58" fmla="*/ 12 w 941"/>
              <a:gd name="T59" fmla="*/ 190 h 199"/>
              <a:gd name="T60" fmla="*/ 10 w 941"/>
              <a:gd name="T61" fmla="*/ 182 h 199"/>
              <a:gd name="T62" fmla="*/ 10 w 941"/>
              <a:gd name="T63" fmla="*/ 174 h 199"/>
              <a:gd name="T64" fmla="*/ 8 w 941"/>
              <a:gd name="T65" fmla="*/ 165 h 199"/>
              <a:gd name="T66" fmla="*/ 7 w 941"/>
              <a:gd name="T67" fmla="*/ 157 h 199"/>
              <a:gd name="T68" fmla="*/ 7 w 941"/>
              <a:gd name="T69" fmla="*/ 149 h 199"/>
              <a:gd name="T70" fmla="*/ 5 w 941"/>
              <a:gd name="T71" fmla="*/ 141 h 199"/>
              <a:gd name="T72" fmla="*/ 5 w 941"/>
              <a:gd name="T73" fmla="*/ 132 h 199"/>
              <a:gd name="T74" fmla="*/ 0 w 941"/>
              <a:gd name="T75" fmla="*/ 13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41" h="199">
                <a:moveTo>
                  <a:pt x="941" y="59"/>
                </a:moveTo>
                <a:lnTo>
                  <a:pt x="939" y="53"/>
                </a:lnTo>
                <a:lnTo>
                  <a:pt x="939" y="45"/>
                </a:lnTo>
                <a:lnTo>
                  <a:pt x="937" y="36"/>
                </a:lnTo>
                <a:lnTo>
                  <a:pt x="937" y="30"/>
                </a:lnTo>
                <a:lnTo>
                  <a:pt x="936" y="21"/>
                </a:lnTo>
                <a:lnTo>
                  <a:pt x="934" y="15"/>
                </a:lnTo>
                <a:lnTo>
                  <a:pt x="932" y="6"/>
                </a:lnTo>
                <a:lnTo>
                  <a:pt x="931" y="0"/>
                </a:lnTo>
                <a:lnTo>
                  <a:pt x="926" y="0"/>
                </a:lnTo>
                <a:lnTo>
                  <a:pt x="927" y="6"/>
                </a:lnTo>
                <a:lnTo>
                  <a:pt x="929" y="15"/>
                </a:lnTo>
                <a:lnTo>
                  <a:pt x="931" y="23"/>
                </a:lnTo>
                <a:lnTo>
                  <a:pt x="932" y="30"/>
                </a:lnTo>
                <a:lnTo>
                  <a:pt x="932" y="38"/>
                </a:lnTo>
                <a:lnTo>
                  <a:pt x="934" y="46"/>
                </a:lnTo>
                <a:lnTo>
                  <a:pt x="934" y="54"/>
                </a:lnTo>
                <a:lnTo>
                  <a:pt x="936" y="61"/>
                </a:lnTo>
                <a:lnTo>
                  <a:pt x="941" y="59"/>
                </a:lnTo>
                <a:close/>
                <a:moveTo>
                  <a:pt x="0" y="136"/>
                </a:moveTo>
                <a:lnTo>
                  <a:pt x="0" y="144"/>
                </a:lnTo>
                <a:lnTo>
                  <a:pt x="2" y="151"/>
                </a:lnTo>
                <a:lnTo>
                  <a:pt x="2" y="159"/>
                </a:lnTo>
                <a:lnTo>
                  <a:pt x="3" y="167"/>
                </a:lnTo>
                <a:lnTo>
                  <a:pt x="5" y="175"/>
                </a:lnTo>
                <a:lnTo>
                  <a:pt x="5" y="184"/>
                </a:lnTo>
                <a:lnTo>
                  <a:pt x="7" y="190"/>
                </a:lnTo>
                <a:lnTo>
                  <a:pt x="8" y="199"/>
                </a:lnTo>
                <a:lnTo>
                  <a:pt x="13" y="199"/>
                </a:lnTo>
                <a:lnTo>
                  <a:pt x="12" y="190"/>
                </a:lnTo>
                <a:lnTo>
                  <a:pt x="10" y="182"/>
                </a:lnTo>
                <a:lnTo>
                  <a:pt x="10" y="174"/>
                </a:lnTo>
                <a:lnTo>
                  <a:pt x="8" y="165"/>
                </a:lnTo>
                <a:lnTo>
                  <a:pt x="7" y="157"/>
                </a:lnTo>
                <a:lnTo>
                  <a:pt x="7" y="149"/>
                </a:lnTo>
                <a:lnTo>
                  <a:pt x="5" y="141"/>
                </a:lnTo>
                <a:lnTo>
                  <a:pt x="5" y="132"/>
                </a:lnTo>
                <a:lnTo>
                  <a:pt x="0" y="136"/>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22" name="Freeform 1227">
            <a:extLst>
              <a:ext uri="{FF2B5EF4-FFF2-40B4-BE49-F238E27FC236}">
                <a16:creationId xmlns:a16="http://schemas.microsoft.com/office/drawing/2014/main" id="{6DF021C0-2EDB-8D31-3F89-B4BDE224A7B1}"/>
              </a:ext>
            </a:extLst>
          </p:cNvPr>
          <p:cNvSpPr>
            <a:spLocks noEditPoints="1"/>
          </p:cNvSpPr>
          <p:nvPr/>
        </p:nvSpPr>
        <p:spPr bwMode="auto">
          <a:xfrm>
            <a:off x="2171700" y="2403475"/>
            <a:ext cx="1484313" cy="315913"/>
          </a:xfrm>
          <a:custGeom>
            <a:avLst/>
            <a:gdLst>
              <a:gd name="T0" fmla="*/ 935 w 935"/>
              <a:gd name="T1" fmla="*/ 61 h 199"/>
              <a:gd name="T2" fmla="*/ 935 w 935"/>
              <a:gd name="T3" fmla="*/ 53 h 199"/>
              <a:gd name="T4" fmla="*/ 934 w 935"/>
              <a:gd name="T5" fmla="*/ 45 h 199"/>
              <a:gd name="T6" fmla="*/ 934 w 935"/>
              <a:gd name="T7" fmla="*/ 38 h 199"/>
              <a:gd name="T8" fmla="*/ 932 w 935"/>
              <a:gd name="T9" fmla="*/ 30 h 199"/>
              <a:gd name="T10" fmla="*/ 930 w 935"/>
              <a:gd name="T11" fmla="*/ 23 h 199"/>
              <a:gd name="T12" fmla="*/ 930 w 935"/>
              <a:gd name="T13" fmla="*/ 15 h 199"/>
              <a:gd name="T14" fmla="*/ 929 w 935"/>
              <a:gd name="T15" fmla="*/ 6 h 199"/>
              <a:gd name="T16" fmla="*/ 927 w 935"/>
              <a:gd name="T17" fmla="*/ 0 h 199"/>
              <a:gd name="T18" fmla="*/ 922 w 935"/>
              <a:gd name="T19" fmla="*/ 0 h 199"/>
              <a:gd name="T20" fmla="*/ 924 w 935"/>
              <a:gd name="T21" fmla="*/ 8 h 199"/>
              <a:gd name="T22" fmla="*/ 925 w 935"/>
              <a:gd name="T23" fmla="*/ 15 h 199"/>
              <a:gd name="T24" fmla="*/ 927 w 935"/>
              <a:gd name="T25" fmla="*/ 23 h 199"/>
              <a:gd name="T26" fmla="*/ 927 w 935"/>
              <a:gd name="T27" fmla="*/ 31 h 199"/>
              <a:gd name="T28" fmla="*/ 929 w 935"/>
              <a:gd name="T29" fmla="*/ 40 h 199"/>
              <a:gd name="T30" fmla="*/ 930 w 935"/>
              <a:gd name="T31" fmla="*/ 46 h 199"/>
              <a:gd name="T32" fmla="*/ 930 w 935"/>
              <a:gd name="T33" fmla="*/ 54 h 199"/>
              <a:gd name="T34" fmla="*/ 932 w 935"/>
              <a:gd name="T35" fmla="*/ 63 h 199"/>
              <a:gd name="T36" fmla="*/ 935 w 935"/>
              <a:gd name="T37" fmla="*/ 61 h 199"/>
              <a:gd name="T38" fmla="*/ 0 w 935"/>
              <a:gd name="T39" fmla="*/ 134 h 199"/>
              <a:gd name="T40" fmla="*/ 1 w 935"/>
              <a:gd name="T41" fmla="*/ 142 h 199"/>
              <a:gd name="T42" fmla="*/ 1 w 935"/>
              <a:gd name="T43" fmla="*/ 151 h 199"/>
              <a:gd name="T44" fmla="*/ 3 w 935"/>
              <a:gd name="T45" fmla="*/ 159 h 199"/>
              <a:gd name="T46" fmla="*/ 3 w 935"/>
              <a:gd name="T47" fmla="*/ 167 h 199"/>
              <a:gd name="T48" fmla="*/ 5 w 935"/>
              <a:gd name="T49" fmla="*/ 175 h 199"/>
              <a:gd name="T50" fmla="*/ 6 w 935"/>
              <a:gd name="T51" fmla="*/ 182 h 199"/>
              <a:gd name="T52" fmla="*/ 8 w 935"/>
              <a:gd name="T53" fmla="*/ 190 h 199"/>
              <a:gd name="T54" fmla="*/ 10 w 935"/>
              <a:gd name="T55" fmla="*/ 199 h 199"/>
              <a:gd name="T56" fmla="*/ 15 w 935"/>
              <a:gd name="T57" fmla="*/ 199 h 199"/>
              <a:gd name="T58" fmla="*/ 13 w 935"/>
              <a:gd name="T59" fmla="*/ 190 h 199"/>
              <a:gd name="T60" fmla="*/ 11 w 935"/>
              <a:gd name="T61" fmla="*/ 182 h 199"/>
              <a:gd name="T62" fmla="*/ 10 w 935"/>
              <a:gd name="T63" fmla="*/ 174 h 199"/>
              <a:gd name="T64" fmla="*/ 8 w 935"/>
              <a:gd name="T65" fmla="*/ 165 h 199"/>
              <a:gd name="T66" fmla="*/ 8 w 935"/>
              <a:gd name="T67" fmla="*/ 157 h 199"/>
              <a:gd name="T68" fmla="*/ 6 w 935"/>
              <a:gd name="T69" fmla="*/ 149 h 199"/>
              <a:gd name="T70" fmla="*/ 5 w 935"/>
              <a:gd name="T71" fmla="*/ 141 h 199"/>
              <a:gd name="T72" fmla="*/ 5 w 935"/>
              <a:gd name="T73" fmla="*/ 132 h 199"/>
              <a:gd name="T74" fmla="*/ 0 w 935"/>
              <a:gd name="T75" fmla="*/ 13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35" h="199">
                <a:moveTo>
                  <a:pt x="935" y="61"/>
                </a:moveTo>
                <a:lnTo>
                  <a:pt x="935" y="53"/>
                </a:lnTo>
                <a:lnTo>
                  <a:pt x="934" y="45"/>
                </a:lnTo>
                <a:lnTo>
                  <a:pt x="934" y="38"/>
                </a:lnTo>
                <a:lnTo>
                  <a:pt x="932" y="30"/>
                </a:lnTo>
                <a:lnTo>
                  <a:pt x="930" y="23"/>
                </a:lnTo>
                <a:lnTo>
                  <a:pt x="930" y="15"/>
                </a:lnTo>
                <a:lnTo>
                  <a:pt x="929" y="6"/>
                </a:lnTo>
                <a:lnTo>
                  <a:pt x="927" y="0"/>
                </a:lnTo>
                <a:lnTo>
                  <a:pt x="922" y="0"/>
                </a:lnTo>
                <a:lnTo>
                  <a:pt x="924" y="8"/>
                </a:lnTo>
                <a:lnTo>
                  <a:pt x="925" y="15"/>
                </a:lnTo>
                <a:lnTo>
                  <a:pt x="927" y="23"/>
                </a:lnTo>
                <a:lnTo>
                  <a:pt x="927" y="31"/>
                </a:lnTo>
                <a:lnTo>
                  <a:pt x="929" y="40"/>
                </a:lnTo>
                <a:lnTo>
                  <a:pt x="930" y="46"/>
                </a:lnTo>
                <a:lnTo>
                  <a:pt x="930" y="54"/>
                </a:lnTo>
                <a:lnTo>
                  <a:pt x="932" y="63"/>
                </a:lnTo>
                <a:lnTo>
                  <a:pt x="935" y="61"/>
                </a:lnTo>
                <a:close/>
                <a:moveTo>
                  <a:pt x="0" y="134"/>
                </a:moveTo>
                <a:lnTo>
                  <a:pt x="1" y="142"/>
                </a:lnTo>
                <a:lnTo>
                  <a:pt x="1" y="151"/>
                </a:lnTo>
                <a:lnTo>
                  <a:pt x="3" y="159"/>
                </a:lnTo>
                <a:lnTo>
                  <a:pt x="3" y="167"/>
                </a:lnTo>
                <a:lnTo>
                  <a:pt x="5" y="175"/>
                </a:lnTo>
                <a:lnTo>
                  <a:pt x="6" y="182"/>
                </a:lnTo>
                <a:lnTo>
                  <a:pt x="8" y="190"/>
                </a:lnTo>
                <a:lnTo>
                  <a:pt x="10" y="199"/>
                </a:lnTo>
                <a:lnTo>
                  <a:pt x="15" y="199"/>
                </a:lnTo>
                <a:lnTo>
                  <a:pt x="13" y="190"/>
                </a:lnTo>
                <a:lnTo>
                  <a:pt x="11" y="182"/>
                </a:lnTo>
                <a:lnTo>
                  <a:pt x="10" y="174"/>
                </a:lnTo>
                <a:lnTo>
                  <a:pt x="8" y="165"/>
                </a:lnTo>
                <a:lnTo>
                  <a:pt x="8" y="157"/>
                </a:lnTo>
                <a:lnTo>
                  <a:pt x="6" y="149"/>
                </a:lnTo>
                <a:lnTo>
                  <a:pt x="5" y="141"/>
                </a:lnTo>
                <a:lnTo>
                  <a:pt x="5" y="132"/>
                </a:lnTo>
                <a:lnTo>
                  <a:pt x="0" y="134"/>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23" name="Freeform 1228">
            <a:extLst>
              <a:ext uri="{FF2B5EF4-FFF2-40B4-BE49-F238E27FC236}">
                <a16:creationId xmlns:a16="http://schemas.microsoft.com/office/drawing/2014/main" id="{13D266F5-8CB9-1071-A717-02DB64BB5A4F}"/>
              </a:ext>
            </a:extLst>
          </p:cNvPr>
          <p:cNvSpPr>
            <a:spLocks noEditPoints="1"/>
          </p:cNvSpPr>
          <p:nvPr/>
        </p:nvSpPr>
        <p:spPr bwMode="auto">
          <a:xfrm>
            <a:off x="2176463" y="2403475"/>
            <a:ext cx="1477963" cy="315913"/>
          </a:xfrm>
          <a:custGeom>
            <a:avLst/>
            <a:gdLst>
              <a:gd name="T0" fmla="*/ 931 w 931"/>
              <a:gd name="T1" fmla="*/ 61 h 199"/>
              <a:gd name="T2" fmla="*/ 929 w 931"/>
              <a:gd name="T3" fmla="*/ 54 h 199"/>
              <a:gd name="T4" fmla="*/ 929 w 931"/>
              <a:gd name="T5" fmla="*/ 46 h 199"/>
              <a:gd name="T6" fmla="*/ 927 w 931"/>
              <a:gd name="T7" fmla="*/ 38 h 199"/>
              <a:gd name="T8" fmla="*/ 927 w 931"/>
              <a:gd name="T9" fmla="*/ 30 h 199"/>
              <a:gd name="T10" fmla="*/ 926 w 931"/>
              <a:gd name="T11" fmla="*/ 23 h 199"/>
              <a:gd name="T12" fmla="*/ 924 w 931"/>
              <a:gd name="T13" fmla="*/ 15 h 199"/>
              <a:gd name="T14" fmla="*/ 922 w 931"/>
              <a:gd name="T15" fmla="*/ 6 h 199"/>
              <a:gd name="T16" fmla="*/ 921 w 931"/>
              <a:gd name="T17" fmla="*/ 0 h 199"/>
              <a:gd name="T18" fmla="*/ 916 w 931"/>
              <a:gd name="T19" fmla="*/ 0 h 199"/>
              <a:gd name="T20" fmla="*/ 918 w 931"/>
              <a:gd name="T21" fmla="*/ 8 h 199"/>
              <a:gd name="T22" fmla="*/ 919 w 931"/>
              <a:gd name="T23" fmla="*/ 15 h 199"/>
              <a:gd name="T24" fmla="*/ 921 w 931"/>
              <a:gd name="T25" fmla="*/ 23 h 199"/>
              <a:gd name="T26" fmla="*/ 922 w 931"/>
              <a:gd name="T27" fmla="*/ 31 h 199"/>
              <a:gd name="T28" fmla="*/ 924 w 931"/>
              <a:gd name="T29" fmla="*/ 40 h 199"/>
              <a:gd name="T30" fmla="*/ 924 w 931"/>
              <a:gd name="T31" fmla="*/ 48 h 199"/>
              <a:gd name="T32" fmla="*/ 926 w 931"/>
              <a:gd name="T33" fmla="*/ 56 h 199"/>
              <a:gd name="T34" fmla="*/ 926 w 931"/>
              <a:gd name="T35" fmla="*/ 64 h 199"/>
              <a:gd name="T36" fmla="*/ 931 w 931"/>
              <a:gd name="T37" fmla="*/ 61 h 199"/>
              <a:gd name="T38" fmla="*/ 0 w 931"/>
              <a:gd name="T39" fmla="*/ 132 h 199"/>
              <a:gd name="T40" fmla="*/ 0 w 931"/>
              <a:gd name="T41" fmla="*/ 141 h 199"/>
              <a:gd name="T42" fmla="*/ 2 w 931"/>
              <a:gd name="T43" fmla="*/ 149 h 199"/>
              <a:gd name="T44" fmla="*/ 2 w 931"/>
              <a:gd name="T45" fmla="*/ 157 h 199"/>
              <a:gd name="T46" fmla="*/ 3 w 931"/>
              <a:gd name="T47" fmla="*/ 165 h 199"/>
              <a:gd name="T48" fmla="*/ 5 w 931"/>
              <a:gd name="T49" fmla="*/ 174 h 199"/>
              <a:gd name="T50" fmla="*/ 5 w 931"/>
              <a:gd name="T51" fmla="*/ 182 h 199"/>
              <a:gd name="T52" fmla="*/ 7 w 931"/>
              <a:gd name="T53" fmla="*/ 190 h 199"/>
              <a:gd name="T54" fmla="*/ 8 w 931"/>
              <a:gd name="T55" fmla="*/ 199 h 199"/>
              <a:gd name="T56" fmla="*/ 13 w 931"/>
              <a:gd name="T57" fmla="*/ 199 h 199"/>
              <a:gd name="T58" fmla="*/ 12 w 931"/>
              <a:gd name="T59" fmla="*/ 190 h 199"/>
              <a:gd name="T60" fmla="*/ 10 w 931"/>
              <a:gd name="T61" fmla="*/ 182 h 199"/>
              <a:gd name="T62" fmla="*/ 8 w 931"/>
              <a:gd name="T63" fmla="*/ 174 h 199"/>
              <a:gd name="T64" fmla="*/ 8 w 931"/>
              <a:gd name="T65" fmla="*/ 165 h 199"/>
              <a:gd name="T66" fmla="*/ 7 w 931"/>
              <a:gd name="T67" fmla="*/ 157 h 199"/>
              <a:gd name="T68" fmla="*/ 5 w 931"/>
              <a:gd name="T69" fmla="*/ 147 h 199"/>
              <a:gd name="T70" fmla="*/ 5 w 931"/>
              <a:gd name="T71" fmla="*/ 139 h 199"/>
              <a:gd name="T72" fmla="*/ 3 w 931"/>
              <a:gd name="T73" fmla="*/ 131 h 199"/>
              <a:gd name="T74" fmla="*/ 0 w 931"/>
              <a:gd name="T75" fmla="*/ 13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31" h="199">
                <a:moveTo>
                  <a:pt x="931" y="61"/>
                </a:moveTo>
                <a:lnTo>
                  <a:pt x="929" y="54"/>
                </a:lnTo>
                <a:lnTo>
                  <a:pt x="929" y="46"/>
                </a:lnTo>
                <a:lnTo>
                  <a:pt x="927" y="38"/>
                </a:lnTo>
                <a:lnTo>
                  <a:pt x="927" y="30"/>
                </a:lnTo>
                <a:lnTo>
                  <a:pt x="926" y="23"/>
                </a:lnTo>
                <a:lnTo>
                  <a:pt x="924" y="15"/>
                </a:lnTo>
                <a:lnTo>
                  <a:pt x="922" y="6"/>
                </a:lnTo>
                <a:lnTo>
                  <a:pt x="921" y="0"/>
                </a:lnTo>
                <a:lnTo>
                  <a:pt x="916" y="0"/>
                </a:lnTo>
                <a:lnTo>
                  <a:pt x="918" y="8"/>
                </a:lnTo>
                <a:lnTo>
                  <a:pt x="919" y="15"/>
                </a:lnTo>
                <a:lnTo>
                  <a:pt x="921" y="23"/>
                </a:lnTo>
                <a:lnTo>
                  <a:pt x="922" y="31"/>
                </a:lnTo>
                <a:lnTo>
                  <a:pt x="924" y="40"/>
                </a:lnTo>
                <a:lnTo>
                  <a:pt x="924" y="48"/>
                </a:lnTo>
                <a:lnTo>
                  <a:pt x="926" y="56"/>
                </a:lnTo>
                <a:lnTo>
                  <a:pt x="926" y="64"/>
                </a:lnTo>
                <a:lnTo>
                  <a:pt x="931" y="61"/>
                </a:lnTo>
                <a:close/>
                <a:moveTo>
                  <a:pt x="0" y="132"/>
                </a:moveTo>
                <a:lnTo>
                  <a:pt x="0" y="141"/>
                </a:lnTo>
                <a:lnTo>
                  <a:pt x="2" y="149"/>
                </a:lnTo>
                <a:lnTo>
                  <a:pt x="2" y="157"/>
                </a:lnTo>
                <a:lnTo>
                  <a:pt x="3" y="165"/>
                </a:lnTo>
                <a:lnTo>
                  <a:pt x="5" y="174"/>
                </a:lnTo>
                <a:lnTo>
                  <a:pt x="5" y="182"/>
                </a:lnTo>
                <a:lnTo>
                  <a:pt x="7" y="190"/>
                </a:lnTo>
                <a:lnTo>
                  <a:pt x="8" y="199"/>
                </a:lnTo>
                <a:lnTo>
                  <a:pt x="13" y="199"/>
                </a:lnTo>
                <a:lnTo>
                  <a:pt x="12" y="190"/>
                </a:lnTo>
                <a:lnTo>
                  <a:pt x="10" y="182"/>
                </a:lnTo>
                <a:lnTo>
                  <a:pt x="8" y="174"/>
                </a:lnTo>
                <a:lnTo>
                  <a:pt x="8" y="165"/>
                </a:lnTo>
                <a:lnTo>
                  <a:pt x="7" y="157"/>
                </a:lnTo>
                <a:lnTo>
                  <a:pt x="5" y="147"/>
                </a:lnTo>
                <a:lnTo>
                  <a:pt x="5" y="139"/>
                </a:lnTo>
                <a:lnTo>
                  <a:pt x="3" y="131"/>
                </a:lnTo>
                <a:lnTo>
                  <a:pt x="0" y="132"/>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24" name="Freeform 1229">
            <a:extLst>
              <a:ext uri="{FF2B5EF4-FFF2-40B4-BE49-F238E27FC236}">
                <a16:creationId xmlns:a16="http://schemas.microsoft.com/office/drawing/2014/main" id="{8DEBD332-2648-7B68-B98C-B2701F677E20}"/>
              </a:ext>
            </a:extLst>
          </p:cNvPr>
          <p:cNvSpPr>
            <a:spLocks noEditPoints="1"/>
          </p:cNvSpPr>
          <p:nvPr/>
        </p:nvSpPr>
        <p:spPr bwMode="auto">
          <a:xfrm>
            <a:off x="2179638" y="2403475"/>
            <a:ext cx="1471613" cy="315913"/>
          </a:xfrm>
          <a:custGeom>
            <a:avLst/>
            <a:gdLst>
              <a:gd name="T0" fmla="*/ 927 w 927"/>
              <a:gd name="T1" fmla="*/ 63 h 199"/>
              <a:gd name="T2" fmla="*/ 925 w 927"/>
              <a:gd name="T3" fmla="*/ 54 h 199"/>
              <a:gd name="T4" fmla="*/ 925 w 927"/>
              <a:gd name="T5" fmla="*/ 46 h 199"/>
              <a:gd name="T6" fmla="*/ 924 w 927"/>
              <a:gd name="T7" fmla="*/ 40 h 199"/>
              <a:gd name="T8" fmla="*/ 922 w 927"/>
              <a:gd name="T9" fmla="*/ 31 h 199"/>
              <a:gd name="T10" fmla="*/ 922 w 927"/>
              <a:gd name="T11" fmla="*/ 23 h 199"/>
              <a:gd name="T12" fmla="*/ 920 w 927"/>
              <a:gd name="T13" fmla="*/ 15 h 199"/>
              <a:gd name="T14" fmla="*/ 919 w 927"/>
              <a:gd name="T15" fmla="*/ 8 h 199"/>
              <a:gd name="T16" fmla="*/ 917 w 927"/>
              <a:gd name="T17" fmla="*/ 0 h 199"/>
              <a:gd name="T18" fmla="*/ 912 w 927"/>
              <a:gd name="T19" fmla="*/ 0 h 199"/>
              <a:gd name="T20" fmla="*/ 914 w 927"/>
              <a:gd name="T21" fmla="*/ 8 h 199"/>
              <a:gd name="T22" fmla="*/ 916 w 927"/>
              <a:gd name="T23" fmla="*/ 16 h 199"/>
              <a:gd name="T24" fmla="*/ 917 w 927"/>
              <a:gd name="T25" fmla="*/ 23 h 199"/>
              <a:gd name="T26" fmla="*/ 919 w 927"/>
              <a:gd name="T27" fmla="*/ 31 h 199"/>
              <a:gd name="T28" fmla="*/ 919 w 927"/>
              <a:gd name="T29" fmla="*/ 40 h 199"/>
              <a:gd name="T30" fmla="*/ 920 w 927"/>
              <a:gd name="T31" fmla="*/ 48 h 199"/>
              <a:gd name="T32" fmla="*/ 920 w 927"/>
              <a:gd name="T33" fmla="*/ 56 h 199"/>
              <a:gd name="T34" fmla="*/ 922 w 927"/>
              <a:gd name="T35" fmla="*/ 64 h 199"/>
              <a:gd name="T36" fmla="*/ 927 w 927"/>
              <a:gd name="T37" fmla="*/ 63 h 199"/>
              <a:gd name="T38" fmla="*/ 0 w 927"/>
              <a:gd name="T39" fmla="*/ 132 h 199"/>
              <a:gd name="T40" fmla="*/ 0 w 927"/>
              <a:gd name="T41" fmla="*/ 141 h 199"/>
              <a:gd name="T42" fmla="*/ 1 w 927"/>
              <a:gd name="T43" fmla="*/ 149 h 199"/>
              <a:gd name="T44" fmla="*/ 3 w 927"/>
              <a:gd name="T45" fmla="*/ 157 h 199"/>
              <a:gd name="T46" fmla="*/ 3 w 927"/>
              <a:gd name="T47" fmla="*/ 165 h 199"/>
              <a:gd name="T48" fmla="*/ 5 w 927"/>
              <a:gd name="T49" fmla="*/ 174 h 199"/>
              <a:gd name="T50" fmla="*/ 6 w 927"/>
              <a:gd name="T51" fmla="*/ 182 h 199"/>
              <a:gd name="T52" fmla="*/ 8 w 927"/>
              <a:gd name="T53" fmla="*/ 190 h 199"/>
              <a:gd name="T54" fmla="*/ 10 w 927"/>
              <a:gd name="T55" fmla="*/ 199 h 199"/>
              <a:gd name="T56" fmla="*/ 15 w 927"/>
              <a:gd name="T57" fmla="*/ 199 h 199"/>
              <a:gd name="T58" fmla="*/ 13 w 927"/>
              <a:gd name="T59" fmla="*/ 190 h 199"/>
              <a:gd name="T60" fmla="*/ 11 w 927"/>
              <a:gd name="T61" fmla="*/ 182 h 199"/>
              <a:gd name="T62" fmla="*/ 10 w 927"/>
              <a:gd name="T63" fmla="*/ 174 h 199"/>
              <a:gd name="T64" fmla="*/ 8 w 927"/>
              <a:gd name="T65" fmla="*/ 164 h 199"/>
              <a:gd name="T66" fmla="*/ 6 w 927"/>
              <a:gd name="T67" fmla="*/ 155 h 199"/>
              <a:gd name="T68" fmla="*/ 6 w 927"/>
              <a:gd name="T69" fmla="*/ 147 h 199"/>
              <a:gd name="T70" fmla="*/ 5 w 927"/>
              <a:gd name="T71" fmla="*/ 139 h 199"/>
              <a:gd name="T72" fmla="*/ 5 w 927"/>
              <a:gd name="T73" fmla="*/ 129 h 199"/>
              <a:gd name="T74" fmla="*/ 0 w 927"/>
              <a:gd name="T75" fmla="*/ 13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27" h="199">
                <a:moveTo>
                  <a:pt x="927" y="63"/>
                </a:moveTo>
                <a:lnTo>
                  <a:pt x="925" y="54"/>
                </a:lnTo>
                <a:lnTo>
                  <a:pt x="925" y="46"/>
                </a:lnTo>
                <a:lnTo>
                  <a:pt x="924" y="40"/>
                </a:lnTo>
                <a:lnTo>
                  <a:pt x="922" y="31"/>
                </a:lnTo>
                <a:lnTo>
                  <a:pt x="922" y="23"/>
                </a:lnTo>
                <a:lnTo>
                  <a:pt x="920" y="15"/>
                </a:lnTo>
                <a:lnTo>
                  <a:pt x="919" y="8"/>
                </a:lnTo>
                <a:lnTo>
                  <a:pt x="917" y="0"/>
                </a:lnTo>
                <a:lnTo>
                  <a:pt x="912" y="0"/>
                </a:lnTo>
                <a:lnTo>
                  <a:pt x="914" y="8"/>
                </a:lnTo>
                <a:lnTo>
                  <a:pt x="916" y="16"/>
                </a:lnTo>
                <a:lnTo>
                  <a:pt x="917" y="23"/>
                </a:lnTo>
                <a:lnTo>
                  <a:pt x="919" y="31"/>
                </a:lnTo>
                <a:lnTo>
                  <a:pt x="919" y="40"/>
                </a:lnTo>
                <a:lnTo>
                  <a:pt x="920" y="48"/>
                </a:lnTo>
                <a:lnTo>
                  <a:pt x="920" y="56"/>
                </a:lnTo>
                <a:lnTo>
                  <a:pt x="922" y="64"/>
                </a:lnTo>
                <a:lnTo>
                  <a:pt x="927" y="63"/>
                </a:lnTo>
                <a:close/>
                <a:moveTo>
                  <a:pt x="0" y="132"/>
                </a:moveTo>
                <a:lnTo>
                  <a:pt x="0" y="141"/>
                </a:lnTo>
                <a:lnTo>
                  <a:pt x="1" y="149"/>
                </a:lnTo>
                <a:lnTo>
                  <a:pt x="3" y="157"/>
                </a:lnTo>
                <a:lnTo>
                  <a:pt x="3" y="165"/>
                </a:lnTo>
                <a:lnTo>
                  <a:pt x="5" y="174"/>
                </a:lnTo>
                <a:lnTo>
                  <a:pt x="6" y="182"/>
                </a:lnTo>
                <a:lnTo>
                  <a:pt x="8" y="190"/>
                </a:lnTo>
                <a:lnTo>
                  <a:pt x="10" y="199"/>
                </a:lnTo>
                <a:lnTo>
                  <a:pt x="15" y="199"/>
                </a:lnTo>
                <a:lnTo>
                  <a:pt x="13" y="190"/>
                </a:lnTo>
                <a:lnTo>
                  <a:pt x="11" y="182"/>
                </a:lnTo>
                <a:lnTo>
                  <a:pt x="10" y="174"/>
                </a:lnTo>
                <a:lnTo>
                  <a:pt x="8" y="164"/>
                </a:lnTo>
                <a:lnTo>
                  <a:pt x="6" y="155"/>
                </a:lnTo>
                <a:lnTo>
                  <a:pt x="6" y="147"/>
                </a:lnTo>
                <a:lnTo>
                  <a:pt x="5" y="139"/>
                </a:lnTo>
                <a:lnTo>
                  <a:pt x="5" y="129"/>
                </a:lnTo>
                <a:lnTo>
                  <a:pt x="0" y="132"/>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25" name="Freeform 1230">
            <a:extLst>
              <a:ext uri="{FF2B5EF4-FFF2-40B4-BE49-F238E27FC236}">
                <a16:creationId xmlns:a16="http://schemas.microsoft.com/office/drawing/2014/main" id="{FD064A62-44DF-361C-C961-9D374560676E}"/>
              </a:ext>
            </a:extLst>
          </p:cNvPr>
          <p:cNvSpPr>
            <a:spLocks noEditPoints="1"/>
          </p:cNvSpPr>
          <p:nvPr/>
        </p:nvSpPr>
        <p:spPr bwMode="auto">
          <a:xfrm>
            <a:off x="2181225" y="2403475"/>
            <a:ext cx="1465263" cy="315913"/>
          </a:xfrm>
          <a:custGeom>
            <a:avLst/>
            <a:gdLst>
              <a:gd name="T0" fmla="*/ 923 w 923"/>
              <a:gd name="T1" fmla="*/ 64 h 199"/>
              <a:gd name="T2" fmla="*/ 923 w 923"/>
              <a:gd name="T3" fmla="*/ 56 h 199"/>
              <a:gd name="T4" fmla="*/ 921 w 923"/>
              <a:gd name="T5" fmla="*/ 48 h 199"/>
              <a:gd name="T6" fmla="*/ 921 w 923"/>
              <a:gd name="T7" fmla="*/ 40 h 199"/>
              <a:gd name="T8" fmla="*/ 919 w 923"/>
              <a:gd name="T9" fmla="*/ 31 h 199"/>
              <a:gd name="T10" fmla="*/ 918 w 923"/>
              <a:gd name="T11" fmla="*/ 23 h 199"/>
              <a:gd name="T12" fmla="*/ 916 w 923"/>
              <a:gd name="T13" fmla="*/ 15 h 199"/>
              <a:gd name="T14" fmla="*/ 915 w 923"/>
              <a:gd name="T15" fmla="*/ 8 h 199"/>
              <a:gd name="T16" fmla="*/ 913 w 923"/>
              <a:gd name="T17" fmla="*/ 0 h 199"/>
              <a:gd name="T18" fmla="*/ 908 w 923"/>
              <a:gd name="T19" fmla="*/ 0 h 199"/>
              <a:gd name="T20" fmla="*/ 911 w 923"/>
              <a:gd name="T21" fmla="*/ 8 h 199"/>
              <a:gd name="T22" fmla="*/ 911 w 923"/>
              <a:gd name="T23" fmla="*/ 16 h 199"/>
              <a:gd name="T24" fmla="*/ 913 w 923"/>
              <a:gd name="T25" fmla="*/ 25 h 199"/>
              <a:gd name="T26" fmla="*/ 915 w 923"/>
              <a:gd name="T27" fmla="*/ 33 h 199"/>
              <a:gd name="T28" fmla="*/ 916 w 923"/>
              <a:gd name="T29" fmla="*/ 41 h 199"/>
              <a:gd name="T30" fmla="*/ 916 w 923"/>
              <a:gd name="T31" fmla="*/ 50 h 199"/>
              <a:gd name="T32" fmla="*/ 918 w 923"/>
              <a:gd name="T33" fmla="*/ 58 h 199"/>
              <a:gd name="T34" fmla="*/ 918 w 923"/>
              <a:gd name="T35" fmla="*/ 66 h 199"/>
              <a:gd name="T36" fmla="*/ 923 w 923"/>
              <a:gd name="T37" fmla="*/ 64 h 199"/>
              <a:gd name="T38" fmla="*/ 0 w 923"/>
              <a:gd name="T39" fmla="*/ 131 h 199"/>
              <a:gd name="T40" fmla="*/ 2 w 923"/>
              <a:gd name="T41" fmla="*/ 139 h 199"/>
              <a:gd name="T42" fmla="*/ 2 w 923"/>
              <a:gd name="T43" fmla="*/ 147 h 199"/>
              <a:gd name="T44" fmla="*/ 4 w 923"/>
              <a:gd name="T45" fmla="*/ 157 h 199"/>
              <a:gd name="T46" fmla="*/ 5 w 923"/>
              <a:gd name="T47" fmla="*/ 165 h 199"/>
              <a:gd name="T48" fmla="*/ 5 w 923"/>
              <a:gd name="T49" fmla="*/ 174 h 199"/>
              <a:gd name="T50" fmla="*/ 7 w 923"/>
              <a:gd name="T51" fmla="*/ 182 h 199"/>
              <a:gd name="T52" fmla="*/ 9 w 923"/>
              <a:gd name="T53" fmla="*/ 190 h 199"/>
              <a:gd name="T54" fmla="*/ 10 w 923"/>
              <a:gd name="T55" fmla="*/ 199 h 199"/>
              <a:gd name="T56" fmla="*/ 15 w 923"/>
              <a:gd name="T57" fmla="*/ 199 h 199"/>
              <a:gd name="T58" fmla="*/ 14 w 923"/>
              <a:gd name="T59" fmla="*/ 190 h 199"/>
              <a:gd name="T60" fmla="*/ 12 w 923"/>
              <a:gd name="T61" fmla="*/ 182 h 199"/>
              <a:gd name="T62" fmla="*/ 10 w 923"/>
              <a:gd name="T63" fmla="*/ 172 h 199"/>
              <a:gd name="T64" fmla="*/ 9 w 923"/>
              <a:gd name="T65" fmla="*/ 164 h 199"/>
              <a:gd name="T66" fmla="*/ 9 w 923"/>
              <a:gd name="T67" fmla="*/ 155 h 199"/>
              <a:gd name="T68" fmla="*/ 7 w 923"/>
              <a:gd name="T69" fmla="*/ 146 h 199"/>
              <a:gd name="T70" fmla="*/ 7 w 923"/>
              <a:gd name="T71" fmla="*/ 137 h 199"/>
              <a:gd name="T72" fmla="*/ 5 w 923"/>
              <a:gd name="T73" fmla="*/ 129 h 199"/>
              <a:gd name="T74" fmla="*/ 0 w 923"/>
              <a:gd name="T75" fmla="*/ 13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23" h="199">
                <a:moveTo>
                  <a:pt x="923" y="64"/>
                </a:moveTo>
                <a:lnTo>
                  <a:pt x="923" y="56"/>
                </a:lnTo>
                <a:lnTo>
                  <a:pt x="921" y="48"/>
                </a:lnTo>
                <a:lnTo>
                  <a:pt x="921" y="40"/>
                </a:lnTo>
                <a:lnTo>
                  <a:pt x="919" y="31"/>
                </a:lnTo>
                <a:lnTo>
                  <a:pt x="918" y="23"/>
                </a:lnTo>
                <a:lnTo>
                  <a:pt x="916" y="15"/>
                </a:lnTo>
                <a:lnTo>
                  <a:pt x="915" y="8"/>
                </a:lnTo>
                <a:lnTo>
                  <a:pt x="913" y="0"/>
                </a:lnTo>
                <a:lnTo>
                  <a:pt x="908" y="0"/>
                </a:lnTo>
                <a:lnTo>
                  <a:pt x="911" y="8"/>
                </a:lnTo>
                <a:lnTo>
                  <a:pt x="911" y="16"/>
                </a:lnTo>
                <a:lnTo>
                  <a:pt x="913" y="25"/>
                </a:lnTo>
                <a:lnTo>
                  <a:pt x="915" y="33"/>
                </a:lnTo>
                <a:lnTo>
                  <a:pt x="916" y="41"/>
                </a:lnTo>
                <a:lnTo>
                  <a:pt x="916" y="50"/>
                </a:lnTo>
                <a:lnTo>
                  <a:pt x="918" y="58"/>
                </a:lnTo>
                <a:lnTo>
                  <a:pt x="918" y="66"/>
                </a:lnTo>
                <a:lnTo>
                  <a:pt x="923" y="64"/>
                </a:lnTo>
                <a:close/>
                <a:moveTo>
                  <a:pt x="0" y="131"/>
                </a:moveTo>
                <a:lnTo>
                  <a:pt x="2" y="139"/>
                </a:lnTo>
                <a:lnTo>
                  <a:pt x="2" y="147"/>
                </a:lnTo>
                <a:lnTo>
                  <a:pt x="4" y="157"/>
                </a:lnTo>
                <a:lnTo>
                  <a:pt x="5" y="165"/>
                </a:lnTo>
                <a:lnTo>
                  <a:pt x="5" y="174"/>
                </a:lnTo>
                <a:lnTo>
                  <a:pt x="7" y="182"/>
                </a:lnTo>
                <a:lnTo>
                  <a:pt x="9" y="190"/>
                </a:lnTo>
                <a:lnTo>
                  <a:pt x="10" y="199"/>
                </a:lnTo>
                <a:lnTo>
                  <a:pt x="15" y="199"/>
                </a:lnTo>
                <a:lnTo>
                  <a:pt x="14" y="190"/>
                </a:lnTo>
                <a:lnTo>
                  <a:pt x="12" y="182"/>
                </a:lnTo>
                <a:lnTo>
                  <a:pt x="10" y="172"/>
                </a:lnTo>
                <a:lnTo>
                  <a:pt x="9" y="164"/>
                </a:lnTo>
                <a:lnTo>
                  <a:pt x="9" y="155"/>
                </a:lnTo>
                <a:lnTo>
                  <a:pt x="7" y="146"/>
                </a:lnTo>
                <a:lnTo>
                  <a:pt x="7" y="137"/>
                </a:lnTo>
                <a:lnTo>
                  <a:pt x="5" y="129"/>
                </a:lnTo>
                <a:lnTo>
                  <a:pt x="0" y="131"/>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26" name="Freeform 1231">
            <a:extLst>
              <a:ext uri="{FF2B5EF4-FFF2-40B4-BE49-F238E27FC236}">
                <a16:creationId xmlns:a16="http://schemas.microsoft.com/office/drawing/2014/main" id="{D03B59F7-B622-2D5B-F9F7-75B8851A05B1}"/>
              </a:ext>
            </a:extLst>
          </p:cNvPr>
          <p:cNvSpPr>
            <a:spLocks noEditPoints="1"/>
          </p:cNvSpPr>
          <p:nvPr/>
        </p:nvSpPr>
        <p:spPr bwMode="auto">
          <a:xfrm>
            <a:off x="2187575" y="2403475"/>
            <a:ext cx="1455738" cy="315913"/>
          </a:xfrm>
          <a:custGeom>
            <a:avLst/>
            <a:gdLst>
              <a:gd name="T0" fmla="*/ 917 w 917"/>
              <a:gd name="T1" fmla="*/ 64 h 199"/>
              <a:gd name="T2" fmla="*/ 915 w 917"/>
              <a:gd name="T3" fmla="*/ 56 h 199"/>
              <a:gd name="T4" fmla="*/ 915 w 917"/>
              <a:gd name="T5" fmla="*/ 48 h 199"/>
              <a:gd name="T6" fmla="*/ 914 w 917"/>
              <a:gd name="T7" fmla="*/ 40 h 199"/>
              <a:gd name="T8" fmla="*/ 914 w 917"/>
              <a:gd name="T9" fmla="*/ 31 h 199"/>
              <a:gd name="T10" fmla="*/ 912 w 917"/>
              <a:gd name="T11" fmla="*/ 23 h 199"/>
              <a:gd name="T12" fmla="*/ 911 w 917"/>
              <a:gd name="T13" fmla="*/ 16 h 199"/>
              <a:gd name="T14" fmla="*/ 909 w 917"/>
              <a:gd name="T15" fmla="*/ 8 h 199"/>
              <a:gd name="T16" fmla="*/ 907 w 917"/>
              <a:gd name="T17" fmla="*/ 0 h 199"/>
              <a:gd name="T18" fmla="*/ 902 w 917"/>
              <a:gd name="T19" fmla="*/ 0 h 199"/>
              <a:gd name="T20" fmla="*/ 904 w 917"/>
              <a:gd name="T21" fmla="*/ 8 h 199"/>
              <a:gd name="T22" fmla="*/ 906 w 917"/>
              <a:gd name="T23" fmla="*/ 16 h 199"/>
              <a:gd name="T24" fmla="*/ 907 w 917"/>
              <a:gd name="T25" fmla="*/ 25 h 199"/>
              <a:gd name="T26" fmla="*/ 909 w 917"/>
              <a:gd name="T27" fmla="*/ 33 h 199"/>
              <a:gd name="T28" fmla="*/ 909 w 917"/>
              <a:gd name="T29" fmla="*/ 41 h 199"/>
              <a:gd name="T30" fmla="*/ 911 w 917"/>
              <a:gd name="T31" fmla="*/ 50 h 199"/>
              <a:gd name="T32" fmla="*/ 911 w 917"/>
              <a:gd name="T33" fmla="*/ 58 h 199"/>
              <a:gd name="T34" fmla="*/ 912 w 917"/>
              <a:gd name="T35" fmla="*/ 68 h 199"/>
              <a:gd name="T36" fmla="*/ 917 w 917"/>
              <a:gd name="T37" fmla="*/ 64 h 199"/>
              <a:gd name="T38" fmla="*/ 0 w 917"/>
              <a:gd name="T39" fmla="*/ 129 h 199"/>
              <a:gd name="T40" fmla="*/ 0 w 917"/>
              <a:gd name="T41" fmla="*/ 139 h 199"/>
              <a:gd name="T42" fmla="*/ 1 w 917"/>
              <a:gd name="T43" fmla="*/ 147 h 199"/>
              <a:gd name="T44" fmla="*/ 1 w 917"/>
              <a:gd name="T45" fmla="*/ 155 h 199"/>
              <a:gd name="T46" fmla="*/ 3 w 917"/>
              <a:gd name="T47" fmla="*/ 164 h 199"/>
              <a:gd name="T48" fmla="*/ 5 w 917"/>
              <a:gd name="T49" fmla="*/ 174 h 199"/>
              <a:gd name="T50" fmla="*/ 6 w 917"/>
              <a:gd name="T51" fmla="*/ 182 h 199"/>
              <a:gd name="T52" fmla="*/ 8 w 917"/>
              <a:gd name="T53" fmla="*/ 190 h 199"/>
              <a:gd name="T54" fmla="*/ 10 w 917"/>
              <a:gd name="T55" fmla="*/ 199 h 199"/>
              <a:gd name="T56" fmla="*/ 15 w 917"/>
              <a:gd name="T57" fmla="*/ 199 h 199"/>
              <a:gd name="T58" fmla="*/ 13 w 917"/>
              <a:gd name="T59" fmla="*/ 190 h 199"/>
              <a:gd name="T60" fmla="*/ 11 w 917"/>
              <a:gd name="T61" fmla="*/ 180 h 199"/>
              <a:gd name="T62" fmla="*/ 10 w 917"/>
              <a:gd name="T63" fmla="*/ 172 h 199"/>
              <a:gd name="T64" fmla="*/ 8 w 917"/>
              <a:gd name="T65" fmla="*/ 164 h 199"/>
              <a:gd name="T66" fmla="*/ 6 w 917"/>
              <a:gd name="T67" fmla="*/ 154 h 199"/>
              <a:gd name="T68" fmla="*/ 6 w 917"/>
              <a:gd name="T69" fmla="*/ 146 h 199"/>
              <a:gd name="T70" fmla="*/ 5 w 917"/>
              <a:gd name="T71" fmla="*/ 137 h 199"/>
              <a:gd name="T72" fmla="*/ 5 w 917"/>
              <a:gd name="T73" fmla="*/ 127 h 199"/>
              <a:gd name="T74" fmla="*/ 0 w 917"/>
              <a:gd name="T75" fmla="*/ 12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17" h="199">
                <a:moveTo>
                  <a:pt x="917" y="64"/>
                </a:moveTo>
                <a:lnTo>
                  <a:pt x="915" y="56"/>
                </a:lnTo>
                <a:lnTo>
                  <a:pt x="915" y="48"/>
                </a:lnTo>
                <a:lnTo>
                  <a:pt x="914" y="40"/>
                </a:lnTo>
                <a:lnTo>
                  <a:pt x="914" y="31"/>
                </a:lnTo>
                <a:lnTo>
                  <a:pt x="912" y="23"/>
                </a:lnTo>
                <a:lnTo>
                  <a:pt x="911" y="16"/>
                </a:lnTo>
                <a:lnTo>
                  <a:pt x="909" y="8"/>
                </a:lnTo>
                <a:lnTo>
                  <a:pt x="907" y="0"/>
                </a:lnTo>
                <a:lnTo>
                  <a:pt x="902" y="0"/>
                </a:lnTo>
                <a:lnTo>
                  <a:pt x="904" y="8"/>
                </a:lnTo>
                <a:lnTo>
                  <a:pt x="906" y="16"/>
                </a:lnTo>
                <a:lnTo>
                  <a:pt x="907" y="25"/>
                </a:lnTo>
                <a:lnTo>
                  <a:pt x="909" y="33"/>
                </a:lnTo>
                <a:lnTo>
                  <a:pt x="909" y="41"/>
                </a:lnTo>
                <a:lnTo>
                  <a:pt x="911" y="50"/>
                </a:lnTo>
                <a:lnTo>
                  <a:pt x="911" y="58"/>
                </a:lnTo>
                <a:lnTo>
                  <a:pt x="912" y="68"/>
                </a:lnTo>
                <a:lnTo>
                  <a:pt x="917" y="64"/>
                </a:lnTo>
                <a:close/>
                <a:moveTo>
                  <a:pt x="0" y="129"/>
                </a:moveTo>
                <a:lnTo>
                  <a:pt x="0" y="139"/>
                </a:lnTo>
                <a:lnTo>
                  <a:pt x="1" y="147"/>
                </a:lnTo>
                <a:lnTo>
                  <a:pt x="1" y="155"/>
                </a:lnTo>
                <a:lnTo>
                  <a:pt x="3" y="164"/>
                </a:lnTo>
                <a:lnTo>
                  <a:pt x="5" y="174"/>
                </a:lnTo>
                <a:lnTo>
                  <a:pt x="6" y="182"/>
                </a:lnTo>
                <a:lnTo>
                  <a:pt x="8" y="190"/>
                </a:lnTo>
                <a:lnTo>
                  <a:pt x="10" y="199"/>
                </a:lnTo>
                <a:lnTo>
                  <a:pt x="15" y="199"/>
                </a:lnTo>
                <a:lnTo>
                  <a:pt x="13" y="190"/>
                </a:lnTo>
                <a:lnTo>
                  <a:pt x="11" y="180"/>
                </a:lnTo>
                <a:lnTo>
                  <a:pt x="10" y="172"/>
                </a:lnTo>
                <a:lnTo>
                  <a:pt x="8" y="164"/>
                </a:lnTo>
                <a:lnTo>
                  <a:pt x="6" y="154"/>
                </a:lnTo>
                <a:lnTo>
                  <a:pt x="6" y="146"/>
                </a:lnTo>
                <a:lnTo>
                  <a:pt x="5" y="137"/>
                </a:lnTo>
                <a:lnTo>
                  <a:pt x="5" y="127"/>
                </a:lnTo>
                <a:lnTo>
                  <a:pt x="0" y="129"/>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27" name="Freeform 1232">
            <a:extLst>
              <a:ext uri="{FF2B5EF4-FFF2-40B4-BE49-F238E27FC236}">
                <a16:creationId xmlns:a16="http://schemas.microsoft.com/office/drawing/2014/main" id="{C411AA04-5307-FA4F-E852-5F989FAA701F}"/>
              </a:ext>
            </a:extLst>
          </p:cNvPr>
          <p:cNvSpPr>
            <a:spLocks noEditPoints="1"/>
          </p:cNvSpPr>
          <p:nvPr/>
        </p:nvSpPr>
        <p:spPr bwMode="auto">
          <a:xfrm>
            <a:off x="2189163" y="2403475"/>
            <a:ext cx="1449388" cy="315913"/>
          </a:xfrm>
          <a:custGeom>
            <a:avLst/>
            <a:gdLst>
              <a:gd name="T0" fmla="*/ 913 w 913"/>
              <a:gd name="T1" fmla="*/ 66 h 199"/>
              <a:gd name="T2" fmla="*/ 913 w 913"/>
              <a:gd name="T3" fmla="*/ 58 h 199"/>
              <a:gd name="T4" fmla="*/ 911 w 913"/>
              <a:gd name="T5" fmla="*/ 50 h 199"/>
              <a:gd name="T6" fmla="*/ 911 w 913"/>
              <a:gd name="T7" fmla="*/ 41 h 199"/>
              <a:gd name="T8" fmla="*/ 910 w 913"/>
              <a:gd name="T9" fmla="*/ 33 h 199"/>
              <a:gd name="T10" fmla="*/ 908 w 913"/>
              <a:gd name="T11" fmla="*/ 25 h 199"/>
              <a:gd name="T12" fmla="*/ 906 w 913"/>
              <a:gd name="T13" fmla="*/ 16 h 199"/>
              <a:gd name="T14" fmla="*/ 906 w 913"/>
              <a:gd name="T15" fmla="*/ 8 h 199"/>
              <a:gd name="T16" fmla="*/ 903 w 913"/>
              <a:gd name="T17" fmla="*/ 0 h 199"/>
              <a:gd name="T18" fmla="*/ 900 w 913"/>
              <a:gd name="T19" fmla="*/ 0 h 199"/>
              <a:gd name="T20" fmla="*/ 901 w 913"/>
              <a:gd name="T21" fmla="*/ 8 h 199"/>
              <a:gd name="T22" fmla="*/ 903 w 913"/>
              <a:gd name="T23" fmla="*/ 16 h 199"/>
              <a:gd name="T24" fmla="*/ 903 w 913"/>
              <a:gd name="T25" fmla="*/ 25 h 199"/>
              <a:gd name="T26" fmla="*/ 905 w 913"/>
              <a:gd name="T27" fmla="*/ 33 h 199"/>
              <a:gd name="T28" fmla="*/ 906 w 913"/>
              <a:gd name="T29" fmla="*/ 41 h 199"/>
              <a:gd name="T30" fmla="*/ 908 w 913"/>
              <a:gd name="T31" fmla="*/ 51 h 199"/>
              <a:gd name="T32" fmla="*/ 908 w 913"/>
              <a:gd name="T33" fmla="*/ 59 h 199"/>
              <a:gd name="T34" fmla="*/ 908 w 913"/>
              <a:gd name="T35" fmla="*/ 68 h 199"/>
              <a:gd name="T36" fmla="*/ 913 w 913"/>
              <a:gd name="T37" fmla="*/ 66 h 199"/>
              <a:gd name="T38" fmla="*/ 0 w 913"/>
              <a:gd name="T39" fmla="*/ 129 h 199"/>
              <a:gd name="T40" fmla="*/ 2 w 913"/>
              <a:gd name="T41" fmla="*/ 137 h 199"/>
              <a:gd name="T42" fmla="*/ 2 w 913"/>
              <a:gd name="T43" fmla="*/ 146 h 199"/>
              <a:gd name="T44" fmla="*/ 4 w 913"/>
              <a:gd name="T45" fmla="*/ 155 h 199"/>
              <a:gd name="T46" fmla="*/ 4 w 913"/>
              <a:gd name="T47" fmla="*/ 164 h 199"/>
              <a:gd name="T48" fmla="*/ 5 w 913"/>
              <a:gd name="T49" fmla="*/ 172 h 199"/>
              <a:gd name="T50" fmla="*/ 7 w 913"/>
              <a:gd name="T51" fmla="*/ 182 h 199"/>
              <a:gd name="T52" fmla="*/ 9 w 913"/>
              <a:gd name="T53" fmla="*/ 190 h 199"/>
              <a:gd name="T54" fmla="*/ 10 w 913"/>
              <a:gd name="T55" fmla="*/ 199 h 199"/>
              <a:gd name="T56" fmla="*/ 15 w 913"/>
              <a:gd name="T57" fmla="*/ 199 h 199"/>
              <a:gd name="T58" fmla="*/ 14 w 913"/>
              <a:gd name="T59" fmla="*/ 190 h 199"/>
              <a:gd name="T60" fmla="*/ 12 w 913"/>
              <a:gd name="T61" fmla="*/ 180 h 199"/>
              <a:gd name="T62" fmla="*/ 10 w 913"/>
              <a:gd name="T63" fmla="*/ 172 h 199"/>
              <a:gd name="T64" fmla="*/ 9 w 913"/>
              <a:gd name="T65" fmla="*/ 162 h 199"/>
              <a:gd name="T66" fmla="*/ 9 w 913"/>
              <a:gd name="T67" fmla="*/ 154 h 199"/>
              <a:gd name="T68" fmla="*/ 7 w 913"/>
              <a:gd name="T69" fmla="*/ 146 h 199"/>
              <a:gd name="T70" fmla="*/ 5 w 913"/>
              <a:gd name="T71" fmla="*/ 136 h 199"/>
              <a:gd name="T72" fmla="*/ 5 w 913"/>
              <a:gd name="T73" fmla="*/ 126 h 199"/>
              <a:gd name="T74" fmla="*/ 0 w 913"/>
              <a:gd name="T75" fmla="*/ 12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13" h="199">
                <a:moveTo>
                  <a:pt x="913" y="66"/>
                </a:moveTo>
                <a:lnTo>
                  <a:pt x="913" y="58"/>
                </a:lnTo>
                <a:lnTo>
                  <a:pt x="911" y="50"/>
                </a:lnTo>
                <a:lnTo>
                  <a:pt x="911" y="41"/>
                </a:lnTo>
                <a:lnTo>
                  <a:pt x="910" y="33"/>
                </a:lnTo>
                <a:lnTo>
                  <a:pt x="908" y="25"/>
                </a:lnTo>
                <a:lnTo>
                  <a:pt x="906" y="16"/>
                </a:lnTo>
                <a:lnTo>
                  <a:pt x="906" y="8"/>
                </a:lnTo>
                <a:lnTo>
                  <a:pt x="903" y="0"/>
                </a:lnTo>
                <a:lnTo>
                  <a:pt x="900" y="0"/>
                </a:lnTo>
                <a:lnTo>
                  <a:pt x="901" y="8"/>
                </a:lnTo>
                <a:lnTo>
                  <a:pt x="903" y="16"/>
                </a:lnTo>
                <a:lnTo>
                  <a:pt x="903" y="25"/>
                </a:lnTo>
                <a:lnTo>
                  <a:pt x="905" y="33"/>
                </a:lnTo>
                <a:lnTo>
                  <a:pt x="906" y="41"/>
                </a:lnTo>
                <a:lnTo>
                  <a:pt x="908" y="51"/>
                </a:lnTo>
                <a:lnTo>
                  <a:pt x="908" y="59"/>
                </a:lnTo>
                <a:lnTo>
                  <a:pt x="908" y="68"/>
                </a:lnTo>
                <a:lnTo>
                  <a:pt x="913" y="66"/>
                </a:lnTo>
                <a:close/>
                <a:moveTo>
                  <a:pt x="0" y="129"/>
                </a:moveTo>
                <a:lnTo>
                  <a:pt x="2" y="137"/>
                </a:lnTo>
                <a:lnTo>
                  <a:pt x="2" y="146"/>
                </a:lnTo>
                <a:lnTo>
                  <a:pt x="4" y="155"/>
                </a:lnTo>
                <a:lnTo>
                  <a:pt x="4" y="164"/>
                </a:lnTo>
                <a:lnTo>
                  <a:pt x="5" y="172"/>
                </a:lnTo>
                <a:lnTo>
                  <a:pt x="7" y="182"/>
                </a:lnTo>
                <a:lnTo>
                  <a:pt x="9" y="190"/>
                </a:lnTo>
                <a:lnTo>
                  <a:pt x="10" y="199"/>
                </a:lnTo>
                <a:lnTo>
                  <a:pt x="15" y="199"/>
                </a:lnTo>
                <a:lnTo>
                  <a:pt x="14" y="190"/>
                </a:lnTo>
                <a:lnTo>
                  <a:pt x="12" y="180"/>
                </a:lnTo>
                <a:lnTo>
                  <a:pt x="10" y="172"/>
                </a:lnTo>
                <a:lnTo>
                  <a:pt x="9" y="162"/>
                </a:lnTo>
                <a:lnTo>
                  <a:pt x="9" y="154"/>
                </a:lnTo>
                <a:lnTo>
                  <a:pt x="7" y="146"/>
                </a:lnTo>
                <a:lnTo>
                  <a:pt x="5" y="136"/>
                </a:lnTo>
                <a:lnTo>
                  <a:pt x="5" y="126"/>
                </a:lnTo>
                <a:lnTo>
                  <a:pt x="0" y="129"/>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28" name="Freeform 1233">
            <a:extLst>
              <a:ext uri="{FF2B5EF4-FFF2-40B4-BE49-F238E27FC236}">
                <a16:creationId xmlns:a16="http://schemas.microsoft.com/office/drawing/2014/main" id="{77835127-ABC1-33DF-42AE-A50EF0CEC807}"/>
              </a:ext>
            </a:extLst>
          </p:cNvPr>
          <p:cNvSpPr>
            <a:spLocks noEditPoints="1"/>
          </p:cNvSpPr>
          <p:nvPr/>
        </p:nvSpPr>
        <p:spPr bwMode="auto">
          <a:xfrm>
            <a:off x="2195513" y="2403475"/>
            <a:ext cx="1439863" cy="315913"/>
          </a:xfrm>
          <a:custGeom>
            <a:avLst/>
            <a:gdLst>
              <a:gd name="T0" fmla="*/ 907 w 907"/>
              <a:gd name="T1" fmla="*/ 68 h 199"/>
              <a:gd name="T2" fmla="*/ 906 w 907"/>
              <a:gd name="T3" fmla="*/ 58 h 199"/>
              <a:gd name="T4" fmla="*/ 906 w 907"/>
              <a:gd name="T5" fmla="*/ 50 h 199"/>
              <a:gd name="T6" fmla="*/ 904 w 907"/>
              <a:gd name="T7" fmla="*/ 41 h 199"/>
              <a:gd name="T8" fmla="*/ 904 w 907"/>
              <a:gd name="T9" fmla="*/ 33 h 199"/>
              <a:gd name="T10" fmla="*/ 902 w 907"/>
              <a:gd name="T11" fmla="*/ 25 h 199"/>
              <a:gd name="T12" fmla="*/ 901 w 907"/>
              <a:gd name="T13" fmla="*/ 16 h 199"/>
              <a:gd name="T14" fmla="*/ 899 w 907"/>
              <a:gd name="T15" fmla="*/ 8 h 199"/>
              <a:gd name="T16" fmla="*/ 897 w 907"/>
              <a:gd name="T17" fmla="*/ 0 h 199"/>
              <a:gd name="T18" fmla="*/ 892 w 907"/>
              <a:gd name="T19" fmla="*/ 0 h 199"/>
              <a:gd name="T20" fmla="*/ 894 w 907"/>
              <a:gd name="T21" fmla="*/ 8 h 199"/>
              <a:gd name="T22" fmla="*/ 896 w 907"/>
              <a:gd name="T23" fmla="*/ 16 h 199"/>
              <a:gd name="T24" fmla="*/ 897 w 907"/>
              <a:gd name="T25" fmla="*/ 25 h 199"/>
              <a:gd name="T26" fmla="*/ 899 w 907"/>
              <a:gd name="T27" fmla="*/ 35 h 199"/>
              <a:gd name="T28" fmla="*/ 901 w 907"/>
              <a:gd name="T29" fmla="*/ 43 h 199"/>
              <a:gd name="T30" fmla="*/ 901 w 907"/>
              <a:gd name="T31" fmla="*/ 51 h 199"/>
              <a:gd name="T32" fmla="*/ 902 w 907"/>
              <a:gd name="T33" fmla="*/ 59 h 199"/>
              <a:gd name="T34" fmla="*/ 902 w 907"/>
              <a:gd name="T35" fmla="*/ 69 h 199"/>
              <a:gd name="T36" fmla="*/ 907 w 907"/>
              <a:gd name="T37" fmla="*/ 68 h 199"/>
              <a:gd name="T38" fmla="*/ 0 w 907"/>
              <a:gd name="T39" fmla="*/ 127 h 199"/>
              <a:gd name="T40" fmla="*/ 0 w 907"/>
              <a:gd name="T41" fmla="*/ 137 h 199"/>
              <a:gd name="T42" fmla="*/ 1 w 907"/>
              <a:gd name="T43" fmla="*/ 146 h 199"/>
              <a:gd name="T44" fmla="*/ 1 w 907"/>
              <a:gd name="T45" fmla="*/ 154 h 199"/>
              <a:gd name="T46" fmla="*/ 3 w 907"/>
              <a:gd name="T47" fmla="*/ 164 h 199"/>
              <a:gd name="T48" fmla="*/ 5 w 907"/>
              <a:gd name="T49" fmla="*/ 172 h 199"/>
              <a:gd name="T50" fmla="*/ 6 w 907"/>
              <a:gd name="T51" fmla="*/ 180 h 199"/>
              <a:gd name="T52" fmla="*/ 8 w 907"/>
              <a:gd name="T53" fmla="*/ 190 h 199"/>
              <a:gd name="T54" fmla="*/ 10 w 907"/>
              <a:gd name="T55" fmla="*/ 199 h 199"/>
              <a:gd name="T56" fmla="*/ 15 w 907"/>
              <a:gd name="T57" fmla="*/ 199 h 199"/>
              <a:gd name="T58" fmla="*/ 13 w 907"/>
              <a:gd name="T59" fmla="*/ 190 h 199"/>
              <a:gd name="T60" fmla="*/ 10 w 907"/>
              <a:gd name="T61" fmla="*/ 180 h 199"/>
              <a:gd name="T62" fmla="*/ 10 w 907"/>
              <a:gd name="T63" fmla="*/ 172 h 199"/>
              <a:gd name="T64" fmla="*/ 8 w 907"/>
              <a:gd name="T65" fmla="*/ 162 h 199"/>
              <a:gd name="T66" fmla="*/ 6 w 907"/>
              <a:gd name="T67" fmla="*/ 154 h 199"/>
              <a:gd name="T68" fmla="*/ 5 w 907"/>
              <a:gd name="T69" fmla="*/ 144 h 199"/>
              <a:gd name="T70" fmla="*/ 5 w 907"/>
              <a:gd name="T71" fmla="*/ 134 h 199"/>
              <a:gd name="T72" fmla="*/ 3 w 907"/>
              <a:gd name="T73" fmla="*/ 126 h 199"/>
              <a:gd name="T74" fmla="*/ 0 w 907"/>
              <a:gd name="T75" fmla="*/ 12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07" h="199">
                <a:moveTo>
                  <a:pt x="907" y="68"/>
                </a:moveTo>
                <a:lnTo>
                  <a:pt x="906" y="58"/>
                </a:lnTo>
                <a:lnTo>
                  <a:pt x="906" y="50"/>
                </a:lnTo>
                <a:lnTo>
                  <a:pt x="904" y="41"/>
                </a:lnTo>
                <a:lnTo>
                  <a:pt x="904" y="33"/>
                </a:lnTo>
                <a:lnTo>
                  <a:pt x="902" y="25"/>
                </a:lnTo>
                <a:lnTo>
                  <a:pt x="901" y="16"/>
                </a:lnTo>
                <a:lnTo>
                  <a:pt x="899" y="8"/>
                </a:lnTo>
                <a:lnTo>
                  <a:pt x="897" y="0"/>
                </a:lnTo>
                <a:lnTo>
                  <a:pt x="892" y="0"/>
                </a:lnTo>
                <a:lnTo>
                  <a:pt x="894" y="8"/>
                </a:lnTo>
                <a:lnTo>
                  <a:pt x="896" y="16"/>
                </a:lnTo>
                <a:lnTo>
                  <a:pt x="897" y="25"/>
                </a:lnTo>
                <a:lnTo>
                  <a:pt x="899" y="35"/>
                </a:lnTo>
                <a:lnTo>
                  <a:pt x="901" y="43"/>
                </a:lnTo>
                <a:lnTo>
                  <a:pt x="901" y="51"/>
                </a:lnTo>
                <a:lnTo>
                  <a:pt x="902" y="59"/>
                </a:lnTo>
                <a:lnTo>
                  <a:pt x="902" y="69"/>
                </a:lnTo>
                <a:lnTo>
                  <a:pt x="907" y="68"/>
                </a:lnTo>
                <a:close/>
                <a:moveTo>
                  <a:pt x="0" y="127"/>
                </a:moveTo>
                <a:lnTo>
                  <a:pt x="0" y="137"/>
                </a:lnTo>
                <a:lnTo>
                  <a:pt x="1" y="146"/>
                </a:lnTo>
                <a:lnTo>
                  <a:pt x="1" y="154"/>
                </a:lnTo>
                <a:lnTo>
                  <a:pt x="3" y="164"/>
                </a:lnTo>
                <a:lnTo>
                  <a:pt x="5" y="172"/>
                </a:lnTo>
                <a:lnTo>
                  <a:pt x="6" y="180"/>
                </a:lnTo>
                <a:lnTo>
                  <a:pt x="8" y="190"/>
                </a:lnTo>
                <a:lnTo>
                  <a:pt x="10" y="199"/>
                </a:lnTo>
                <a:lnTo>
                  <a:pt x="15" y="199"/>
                </a:lnTo>
                <a:lnTo>
                  <a:pt x="13" y="190"/>
                </a:lnTo>
                <a:lnTo>
                  <a:pt x="10" y="180"/>
                </a:lnTo>
                <a:lnTo>
                  <a:pt x="10" y="172"/>
                </a:lnTo>
                <a:lnTo>
                  <a:pt x="8" y="162"/>
                </a:lnTo>
                <a:lnTo>
                  <a:pt x="6" y="154"/>
                </a:lnTo>
                <a:lnTo>
                  <a:pt x="5" y="144"/>
                </a:lnTo>
                <a:lnTo>
                  <a:pt x="5" y="134"/>
                </a:lnTo>
                <a:lnTo>
                  <a:pt x="3" y="126"/>
                </a:lnTo>
                <a:lnTo>
                  <a:pt x="0" y="127"/>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29" name="Freeform 1234">
            <a:extLst>
              <a:ext uri="{FF2B5EF4-FFF2-40B4-BE49-F238E27FC236}">
                <a16:creationId xmlns:a16="http://schemas.microsoft.com/office/drawing/2014/main" id="{1B5E61D4-0148-F81D-8FAC-233CE476EF8D}"/>
              </a:ext>
            </a:extLst>
          </p:cNvPr>
          <p:cNvSpPr>
            <a:spLocks noEditPoints="1"/>
          </p:cNvSpPr>
          <p:nvPr/>
        </p:nvSpPr>
        <p:spPr bwMode="auto">
          <a:xfrm>
            <a:off x="2197100" y="2403475"/>
            <a:ext cx="1433513" cy="315913"/>
          </a:xfrm>
          <a:custGeom>
            <a:avLst/>
            <a:gdLst>
              <a:gd name="T0" fmla="*/ 903 w 903"/>
              <a:gd name="T1" fmla="*/ 68 h 199"/>
              <a:gd name="T2" fmla="*/ 903 w 903"/>
              <a:gd name="T3" fmla="*/ 59 h 199"/>
              <a:gd name="T4" fmla="*/ 903 w 903"/>
              <a:gd name="T5" fmla="*/ 51 h 199"/>
              <a:gd name="T6" fmla="*/ 901 w 903"/>
              <a:gd name="T7" fmla="*/ 41 h 199"/>
              <a:gd name="T8" fmla="*/ 900 w 903"/>
              <a:gd name="T9" fmla="*/ 33 h 199"/>
              <a:gd name="T10" fmla="*/ 898 w 903"/>
              <a:gd name="T11" fmla="*/ 25 h 199"/>
              <a:gd name="T12" fmla="*/ 898 w 903"/>
              <a:gd name="T13" fmla="*/ 16 h 199"/>
              <a:gd name="T14" fmla="*/ 896 w 903"/>
              <a:gd name="T15" fmla="*/ 8 h 199"/>
              <a:gd name="T16" fmla="*/ 895 w 903"/>
              <a:gd name="T17" fmla="*/ 0 h 199"/>
              <a:gd name="T18" fmla="*/ 890 w 903"/>
              <a:gd name="T19" fmla="*/ 0 h 199"/>
              <a:gd name="T20" fmla="*/ 891 w 903"/>
              <a:gd name="T21" fmla="*/ 8 h 199"/>
              <a:gd name="T22" fmla="*/ 893 w 903"/>
              <a:gd name="T23" fmla="*/ 16 h 199"/>
              <a:gd name="T24" fmla="*/ 895 w 903"/>
              <a:gd name="T25" fmla="*/ 26 h 199"/>
              <a:gd name="T26" fmla="*/ 895 w 903"/>
              <a:gd name="T27" fmla="*/ 35 h 199"/>
              <a:gd name="T28" fmla="*/ 896 w 903"/>
              <a:gd name="T29" fmla="*/ 43 h 199"/>
              <a:gd name="T30" fmla="*/ 898 w 903"/>
              <a:gd name="T31" fmla="*/ 53 h 199"/>
              <a:gd name="T32" fmla="*/ 898 w 903"/>
              <a:gd name="T33" fmla="*/ 61 h 199"/>
              <a:gd name="T34" fmla="*/ 900 w 903"/>
              <a:gd name="T35" fmla="*/ 69 h 199"/>
              <a:gd name="T36" fmla="*/ 903 w 903"/>
              <a:gd name="T37" fmla="*/ 68 h 199"/>
              <a:gd name="T38" fmla="*/ 0 w 903"/>
              <a:gd name="T39" fmla="*/ 126 h 199"/>
              <a:gd name="T40" fmla="*/ 0 w 903"/>
              <a:gd name="T41" fmla="*/ 136 h 199"/>
              <a:gd name="T42" fmla="*/ 2 w 903"/>
              <a:gd name="T43" fmla="*/ 146 h 199"/>
              <a:gd name="T44" fmla="*/ 4 w 903"/>
              <a:gd name="T45" fmla="*/ 154 h 199"/>
              <a:gd name="T46" fmla="*/ 4 w 903"/>
              <a:gd name="T47" fmla="*/ 162 h 199"/>
              <a:gd name="T48" fmla="*/ 5 w 903"/>
              <a:gd name="T49" fmla="*/ 172 h 199"/>
              <a:gd name="T50" fmla="*/ 7 w 903"/>
              <a:gd name="T51" fmla="*/ 180 h 199"/>
              <a:gd name="T52" fmla="*/ 9 w 903"/>
              <a:gd name="T53" fmla="*/ 190 h 199"/>
              <a:gd name="T54" fmla="*/ 10 w 903"/>
              <a:gd name="T55" fmla="*/ 199 h 199"/>
              <a:gd name="T56" fmla="*/ 15 w 903"/>
              <a:gd name="T57" fmla="*/ 199 h 199"/>
              <a:gd name="T58" fmla="*/ 14 w 903"/>
              <a:gd name="T59" fmla="*/ 189 h 199"/>
              <a:gd name="T60" fmla="*/ 12 w 903"/>
              <a:gd name="T61" fmla="*/ 180 h 199"/>
              <a:gd name="T62" fmla="*/ 10 w 903"/>
              <a:gd name="T63" fmla="*/ 170 h 199"/>
              <a:gd name="T64" fmla="*/ 9 w 903"/>
              <a:gd name="T65" fmla="*/ 162 h 199"/>
              <a:gd name="T66" fmla="*/ 7 w 903"/>
              <a:gd name="T67" fmla="*/ 152 h 199"/>
              <a:gd name="T68" fmla="*/ 7 w 903"/>
              <a:gd name="T69" fmla="*/ 144 h 199"/>
              <a:gd name="T70" fmla="*/ 5 w 903"/>
              <a:gd name="T71" fmla="*/ 134 h 199"/>
              <a:gd name="T72" fmla="*/ 5 w 903"/>
              <a:gd name="T73" fmla="*/ 124 h 199"/>
              <a:gd name="T74" fmla="*/ 0 w 903"/>
              <a:gd name="T75" fmla="*/ 12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903" h="199">
                <a:moveTo>
                  <a:pt x="903" y="68"/>
                </a:moveTo>
                <a:lnTo>
                  <a:pt x="903" y="59"/>
                </a:lnTo>
                <a:lnTo>
                  <a:pt x="903" y="51"/>
                </a:lnTo>
                <a:lnTo>
                  <a:pt x="901" y="41"/>
                </a:lnTo>
                <a:lnTo>
                  <a:pt x="900" y="33"/>
                </a:lnTo>
                <a:lnTo>
                  <a:pt x="898" y="25"/>
                </a:lnTo>
                <a:lnTo>
                  <a:pt x="898" y="16"/>
                </a:lnTo>
                <a:lnTo>
                  <a:pt x="896" y="8"/>
                </a:lnTo>
                <a:lnTo>
                  <a:pt x="895" y="0"/>
                </a:lnTo>
                <a:lnTo>
                  <a:pt x="890" y="0"/>
                </a:lnTo>
                <a:lnTo>
                  <a:pt x="891" y="8"/>
                </a:lnTo>
                <a:lnTo>
                  <a:pt x="893" y="16"/>
                </a:lnTo>
                <a:lnTo>
                  <a:pt x="895" y="26"/>
                </a:lnTo>
                <a:lnTo>
                  <a:pt x="895" y="35"/>
                </a:lnTo>
                <a:lnTo>
                  <a:pt x="896" y="43"/>
                </a:lnTo>
                <a:lnTo>
                  <a:pt x="898" y="53"/>
                </a:lnTo>
                <a:lnTo>
                  <a:pt x="898" y="61"/>
                </a:lnTo>
                <a:lnTo>
                  <a:pt x="900" y="69"/>
                </a:lnTo>
                <a:lnTo>
                  <a:pt x="903" y="68"/>
                </a:lnTo>
                <a:close/>
                <a:moveTo>
                  <a:pt x="0" y="126"/>
                </a:moveTo>
                <a:lnTo>
                  <a:pt x="0" y="136"/>
                </a:lnTo>
                <a:lnTo>
                  <a:pt x="2" y="146"/>
                </a:lnTo>
                <a:lnTo>
                  <a:pt x="4" y="154"/>
                </a:lnTo>
                <a:lnTo>
                  <a:pt x="4" y="162"/>
                </a:lnTo>
                <a:lnTo>
                  <a:pt x="5" y="172"/>
                </a:lnTo>
                <a:lnTo>
                  <a:pt x="7" y="180"/>
                </a:lnTo>
                <a:lnTo>
                  <a:pt x="9" y="190"/>
                </a:lnTo>
                <a:lnTo>
                  <a:pt x="10" y="199"/>
                </a:lnTo>
                <a:lnTo>
                  <a:pt x="15" y="199"/>
                </a:lnTo>
                <a:lnTo>
                  <a:pt x="14" y="189"/>
                </a:lnTo>
                <a:lnTo>
                  <a:pt x="12" y="180"/>
                </a:lnTo>
                <a:lnTo>
                  <a:pt x="10" y="170"/>
                </a:lnTo>
                <a:lnTo>
                  <a:pt x="9" y="162"/>
                </a:lnTo>
                <a:lnTo>
                  <a:pt x="7" y="152"/>
                </a:lnTo>
                <a:lnTo>
                  <a:pt x="7" y="144"/>
                </a:lnTo>
                <a:lnTo>
                  <a:pt x="5" y="134"/>
                </a:lnTo>
                <a:lnTo>
                  <a:pt x="5" y="124"/>
                </a:lnTo>
                <a:lnTo>
                  <a:pt x="0" y="126"/>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30" name="Freeform 1235">
            <a:extLst>
              <a:ext uri="{FF2B5EF4-FFF2-40B4-BE49-F238E27FC236}">
                <a16:creationId xmlns:a16="http://schemas.microsoft.com/office/drawing/2014/main" id="{30AB4D1D-87DA-A070-9CCC-10688349B75D}"/>
              </a:ext>
            </a:extLst>
          </p:cNvPr>
          <p:cNvSpPr>
            <a:spLocks noEditPoints="1"/>
          </p:cNvSpPr>
          <p:nvPr/>
        </p:nvSpPr>
        <p:spPr bwMode="auto">
          <a:xfrm>
            <a:off x="2200275" y="2403475"/>
            <a:ext cx="1427163" cy="315913"/>
          </a:xfrm>
          <a:custGeom>
            <a:avLst/>
            <a:gdLst>
              <a:gd name="T0" fmla="*/ 899 w 899"/>
              <a:gd name="T1" fmla="*/ 69 h 199"/>
              <a:gd name="T2" fmla="*/ 899 w 899"/>
              <a:gd name="T3" fmla="*/ 59 h 199"/>
              <a:gd name="T4" fmla="*/ 898 w 899"/>
              <a:gd name="T5" fmla="*/ 51 h 199"/>
              <a:gd name="T6" fmla="*/ 898 w 899"/>
              <a:gd name="T7" fmla="*/ 43 h 199"/>
              <a:gd name="T8" fmla="*/ 896 w 899"/>
              <a:gd name="T9" fmla="*/ 35 h 199"/>
              <a:gd name="T10" fmla="*/ 894 w 899"/>
              <a:gd name="T11" fmla="*/ 25 h 199"/>
              <a:gd name="T12" fmla="*/ 893 w 899"/>
              <a:gd name="T13" fmla="*/ 16 h 199"/>
              <a:gd name="T14" fmla="*/ 891 w 899"/>
              <a:gd name="T15" fmla="*/ 8 h 199"/>
              <a:gd name="T16" fmla="*/ 889 w 899"/>
              <a:gd name="T17" fmla="*/ 0 h 199"/>
              <a:gd name="T18" fmla="*/ 884 w 899"/>
              <a:gd name="T19" fmla="*/ 0 h 199"/>
              <a:gd name="T20" fmla="*/ 886 w 899"/>
              <a:gd name="T21" fmla="*/ 8 h 199"/>
              <a:gd name="T22" fmla="*/ 888 w 899"/>
              <a:gd name="T23" fmla="*/ 16 h 199"/>
              <a:gd name="T24" fmla="*/ 889 w 899"/>
              <a:gd name="T25" fmla="*/ 26 h 199"/>
              <a:gd name="T26" fmla="*/ 891 w 899"/>
              <a:gd name="T27" fmla="*/ 35 h 199"/>
              <a:gd name="T28" fmla="*/ 893 w 899"/>
              <a:gd name="T29" fmla="*/ 45 h 199"/>
              <a:gd name="T30" fmla="*/ 893 w 899"/>
              <a:gd name="T31" fmla="*/ 53 h 199"/>
              <a:gd name="T32" fmla="*/ 894 w 899"/>
              <a:gd name="T33" fmla="*/ 63 h 199"/>
              <a:gd name="T34" fmla="*/ 894 w 899"/>
              <a:gd name="T35" fmla="*/ 71 h 199"/>
              <a:gd name="T36" fmla="*/ 899 w 899"/>
              <a:gd name="T37" fmla="*/ 69 h 199"/>
              <a:gd name="T38" fmla="*/ 0 w 899"/>
              <a:gd name="T39" fmla="*/ 126 h 199"/>
              <a:gd name="T40" fmla="*/ 2 w 899"/>
              <a:gd name="T41" fmla="*/ 134 h 199"/>
              <a:gd name="T42" fmla="*/ 2 w 899"/>
              <a:gd name="T43" fmla="*/ 144 h 199"/>
              <a:gd name="T44" fmla="*/ 3 w 899"/>
              <a:gd name="T45" fmla="*/ 154 h 199"/>
              <a:gd name="T46" fmla="*/ 5 w 899"/>
              <a:gd name="T47" fmla="*/ 162 h 199"/>
              <a:gd name="T48" fmla="*/ 7 w 899"/>
              <a:gd name="T49" fmla="*/ 172 h 199"/>
              <a:gd name="T50" fmla="*/ 7 w 899"/>
              <a:gd name="T51" fmla="*/ 180 h 199"/>
              <a:gd name="T52" fmla="*/ 10 w 899"/>
              <a:gd name="T53" fmla="*/ 190 h 199"/>
              <a:gd name="T54" fmla="*/ 12 w 899"/>
              <a:gd name="T55" fmla="*/ 199 h 199"/>
              <a:gd name="T56" fmla="*/ 17 w 899"/>
              <a:gd name="T57" fmla="*/ 199 h 199"/>
              <a:gd name="T58" fmla="*/ 13 w 899"/>
              <a:gd name="T59" fmla="*/ 189 h 199"/>
              <a:gd name="T60" fmla="*/ 12 w 899"/>
              <a:gd name="T61" fmla="*/ 180 h 199"/>
              <a:gd name="T62" fmla="*/ 10 w 899"/>
              <a:gd name="T63" fmla="*/ 170 h 199"/>
              <a:gd name="T64" fmla="*/ 10 w 899"/>
              <a:gd name="T65" fmla="*/ 160 h 199"/>
              <a:gd name="T66" fmla="*/ 8 w 899"/>
              <a:gd name="T67" fmla="*/ 152 h 199"/>
              <a:gd name="T68" fmla="*/ 7 w 899"/>
              <a:gd name="T69" fmla="*/ 142 h 199"/>
              <a:gd name="T70" fmla="*/ 7 w 899"/>
              <a:gd name="T71" fmla="*/ 132 h 199"/>
              <a:gd name="T72" fmla="*/ 5 w 899"/>
              <a:gd name="T73" fmla="*/ 122 h 199"/>
              <a:gd name="T74" fmla="*/ 0 w 899"/>
              <a:gd name="T75" fmla="*/ 12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99" h="199">
                <a:moveTo>
                  <a:pt x="899" y="69"/>
                </a:moveTo>
                <a:lnTo>
                  <a:pt x="899" y="59"/>
                </a:lnTo>
                <a:lnTo>
                  <a:pt x="898" y="51"/>
                </a:lnTo>
                <a:lnTo>
                  <a:pt x="898" y="43"/>
                </a:lnTo>
                <a:lnTo>
                  <a:pt x="896" y="35"/>
                </a:lnTo>
                <a:lnTo>
                  <a:pt x="894" y="25"/>
                </a:lnTo>
                <a:lnTo>
                  <a:pt x="893" y="16"/>
                </a:lnTo>
                <a:lnTo>
                  <a:pt x="891" y="8"/>
                </a:lnTo>
                <a:lnTo>
                  <a:pt x="889" y="0"/>
                </a:lnTo>
                <a:lnTo>
                  <a:pt x="884" y="0"/>
                </a:lnTo>
                <a:lnTo>
                  <a:pt x="886" y="8"/>
                </a:lnTo>
                <a:lnTo>
                  <a:pt x="888" y="16"/>
                </a:lnTo>
                <a:lnTo>
                  <a:pt x="889" y="26"/>
                </a:lnTo>
                <a:lnTo>
                  <a:pt x="891" y="35"/>
                </a:lnTo>
                <a:lnTo>
                  <a:pt x="893" y="45"/>
                </a:lnTo>
                <a:lnTo>
                  <a:pt x="893" y="53"/>
                </a:lnTo>
                <a:lnTo>
                  <a:pt x="894" y="63"/>
                </a:lnTo>
                <a:lnTo>
                  <a:pt x="894" y="71"/>
                </a:lnTo>
                <a:lnTo>
                  <a:pt x="899" y="69"/>
                </a:lnTo>
                <a:close/>
                <a:moveTo>
                  <a:pt x="0" y="126"/>
                </a:moveTo>
                <a:lnTo>
                  <a:pt x="2" y="134"/>
                </a:lnTo>
                <a:lnTo>
                  <a:pt x="2" y="144"/>
                </a:lnTo>
                <a:lnTo>
                  <a:pt x="3" y="154"/>
                </a:lnTo>
                <a:lnTo>
                  <a:pt x="5" y="162"/>
                </a:lnTo>
                <a:lnTo>
                  <a:pt x="7" y="172"/>
                </a:lnTo>
                <a:lnTo>
                  <a:pt x="7" y="180"/>
                </a:lnTo>
                <a:lnTo>
                  <a:pt x="10" y="190"/>
                </a:lnTo>
                <a:lnTo>
                  <a:pt x="12" y="199"/>
                </a:lnTo>
                <a:lnTo>
                  <a:pt x="17" y="199"/>
                </a:lnTo>
                <a:lnTo>
                  <a:pt x="13" y="189"/>
                </a:lnTo>
                <a:lnTo>
                  <a:pt x="12" y="180"/>
                </a:lnTo>
                <a:lnTo>
                  <a:pt x="10" y="170"/>
                </a:lnTo>
                <a:lnTo>
                  <a:pt x="10" y="160"/>
                </a:lnTo>
                <a:lnTo>
                  <a:pt x="8" y="152"/>
                </a:lnTo>
                <a:lnTo>
                  <a:pt x="7" y="142"/>
                </a:lnTo>
                <a:lnTo>
                  <a:pt x="7" y="132"/>
                </a:lnTo>
                <a:lnTo>
                  <a:pt x="5" y="122"/>
                </a:lnTo>
                <a:lnTo>
                  <a:pt x="0" y="126"/>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31" name="Freeform 1236">
            <a:extLst>
              <a:ext uri="{FF2B5EF4-FFF2-40B4-BE49-F238E27FC236}">
                <a16:creationId xmlns:a16="http://schemas.microsoft.com/office/drawing/2014/main" id="{808E0A18-097C-8BD7-E46D-28842D140107}"/>
              </a:ext>
            </a:extLst>
          </p:cNvPr>
          <p:cNvSpPr>
            <a:spLocks noEditPoints="1"/>
          </p:cNvSpPr>
          <p:nvPr/>
        </p:nvSpPr>
        <p:spPr bwMode="auto">
          <a:xfrm>
            <a:off x="2205038" y="2403475"/>
            <a:ext cx="1420813" cy="315913"/>
          </a:xfrm>
          <a:custGeom>
            <a:avLst/>
            <a:gdLst>
              <a:gd name="T0" fmla="*/ 895 w 895"/>
              <a:gd name="T1" fmla="*/ 69 h 199"/>
              <a:gd name="T2" fmla="*/ 893 w 895"/>
              <a:gd name="T3" fmla="*/ 61 h 199"/>
              <a:gd name="T4" fmla="*/ 893 w 895"/>
              <a:gd name="T5" fmla="*/ 53 h 199"/>
              <a:gd name="T6" fmla="*/ 891 w 895"/>
              <a:gd name="T7" fmla="*/ 43 h 199"/>
              <a:gd name="T8" fmla="*/ 890 w 895"/>
              <a:gd name="T9" fmla="*/ 35 h 199"/>
              <a:gd name="T10" fmla="*/ 890 w 895"/>
              <a:gd name="T11" fmla="*/ 26 h 199"/>
              <a:gd name="T12" fmla="*/ 888 w 895"/>
              <a:gd name="T13" fmla="*/ 16 h 199"/>
              <a:gd name="T14" fmla="*/ 886 w 895"/>
              <a:gd name="T15" fmla="*/ 8 h 199"/>
              <a:gd name="T16" fmla="*/ 885 w 895"/>
              <a:gd name="T17" fmla="*/ 0 h 199"/>
              <a:gd name="T18" fmla="*/ 880 w 895"/>
              <a:gd name="T19" fmla="*/ 0 h 199"/>
              <a:gd name="T20" fmla="*/ 881 w 895"/>
              <a:gd name="T21" fmla="*/ 8 h 199"/>
              <a:gd name="T22" fmla="*/ 883 w 895"/>
              <a:gd name="T23" fmla="*/ 18 h 199"/>
              <a:gd name="T24" fmla="*/ 885 w 895"/>
              <a:gd name="T25" fmla="*/ 26 h 199"/>
              <a:gd name="T26" fmla="*/ 886 w 895"/>
              <a:gd name="T27" fmla="*/ 35 h 199"/>
              <a:gd name="T28" fmla="*/ 886 w 895"/>
              <a:gd name="T29" fmla="*/ 45 h 199"/>
              <a:gd name="T30" fmla="*/ 888 w 895"/>
              <a:gd name="T31" fmla="*/ 54 h 199"/>
              <a:gd name="T32" fmla="*/ 888 w 895"/>
              <a:gd name="T33" fmla="*/ 63 h 199"/>
              <a:gd name="T34" fmla="*/ 890 w 895"/>
              <a:gd name="T35" fmla="*/ 73 h 199"/>
              <a:gd name="T36" fmla="*/ 895 w 895"/>
              <a:gd name="T37" fmla="*/ 69 h 199"/>
              <a:gd name="T38" fmla="*/ 0 w 895"/>
              <a:gd name="T39" fmla="*/ 124 h 199"/>
              <a:gd name="T40" fmla="*/ 0 w 895"/>
              <a:gd name="T41" fmla="*/ 134 h 199"/>
              <a:gd name="T42" fmla="*/ 2 w 895"/>
              <a:gd name="T43" fmla="*/ 144 h 199"/>
              <a:gd name="T44" fmla="*/ 2 w 895"/>
              <a:gd name="T45" fmla="*/ 152 h 199"/>
              <a:gd name="T46" fmla="*/ 4 w 895"/>
              <a:gd name="T47" fmla="*/ 162 h 199"/>
              <a:gd name="T48" fmla="*/ 5 w 895"/>
              <a:gd name="T49" fmla="*/ 170 h 199"/>
              <a:gd name="T50" fmla="*/ 7 w 895"/>
              <a:gd name="T51" fmla="*/ 180 h 199"/>
              <a:gd name="T52" fmla="*/ 9 w 895"/>
              <a:gd name="T53" fmla="*/ 189 h 199"/>
              <a:gd name="T54" fmla="*/ 10 w 895"/>
              <a:gd name="T55" fmla="*/ 199 h 199"/>
              <a:gd name="T56" fmla="*/ 15 w 895"/>
              <a:gd name="T57" fmla="*/ 199 h 199"/>
              <a:gd name="T58" fmla="*/ 14 w 895"/>
              <a:gd name="T59" fmla="*/ 189 h 199"/>
              <a:gd name="T60" fmla="*/ 12 w 895"/>
              <a:gd name="T61" fmla="*/ 180 h 199"/>
              <a:gd name="T62" fmla="*/ 10 w 895"/>
              <a:gd name="T63" fmla="*/ 170 h 199"/>
              <a:gd name="T64" fmla="*/ 9 w 895"/>
              <a:gd name="T65" fmla="*/ 160 h 199"/>
              <a:gd name="T66" fmla="*/ 7 w 895"/>
              <a:gd name="T67" fmla="*/ 151 h 199"/>
              <a:gd name="T68" fmla="*/ 7 w 895"/>
              <a:gd name="T69" fmla="*/ 142 h 199"/>
              <a:gd name="T70" fmla="*/ 5 w 895"/>
              <a:gd name="T71" fmla="*/ 132 h 199"/>
              <a:gd name="T72" fmla="*/ 5 w 895"/>
              <a:gd name="T73" fmla="*/ 122 h 199"/>
              <a:gd name="T74" fmla="*/ 0 w 895"/>
              <a:gd name="T75" fmla="*/ 12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95" h="199">
                <a:moveTo>
                  <a:pt x="895" y="69"/>
                </a:moveTo>
                <a:lnTo>
                  <a:pt x="893" y="61"/>
                </a:lnTo>
                <a:lnTo>
                  <a:pt x="893" y="53"/>
                </a:lnTo>
                <a:lnTo>
                  <a:pt x="891" y="43"/>
                </a:lnTo>
                <a:lnTo>
                  <a:pt x="890" y="35"/>
                </a:lnTo>
                <a:lnTo>
                  <a:pt x="890" y="26"/>
                </a:lnTo>
                <a:lnTo>
                  <a:pt x="888" y="16"/>
                </a:lnTo>
                <a:lnTo>
                  <a:pt x="886" y="8"/>
                </a:lnTo>
                <a:lnTo>
                  <a:pt x="885" y="0"/>
                </a:lnTo>
                <a:lnTo>
                  <a:pt x="880" y="0"/>
                </a:lnTo>
                <a:lnTo>
                  <a:pt x="881" y="8"/>
                </a:lnTo>
                <a:lnTo>
                  <a:pt x="883" y="18"/>
                </a:lnTo>
                <a:lnTo>
                  <a:pt x="885" y="26"/>
                </a:lnTo>
                <a:lnTo>
                  <a:pt x="886" y="35"/>
                </a:lnTo>
                <a:lnTo>
                  <a:pt x="886" y="45"/>
                </a:lnTo>
                <a:lnTo>
                  <a:pt x="888" y="54"/>
                </a:lnTo>
                <a:lnTo>
                  <a:pt x="888" y="63"/>
                </a:lnTo>
                <a:lnTo>
                  <a:pt x="890" y="73"/>
                </a:lnTo>
                <a:lnTo>
                  <a:pt x="895" y="69"/>
                </a:lnTo>
                <a:close/>
                <a:moveTo>
                  <a:pt x="0" y="124"/>
                </a:moveTo>
                <a:lnTo>
                  <a:pt x="0" y="134"/>
                </a:lnTo>
                <a:lnTo>
                  <a:pt x="2" y="144"/>
                </a:lnTo>
                <a:lnTo>
                  <a:pt x="2" y="152"/>
                </a:lnTo>
                <a:lnTo>
                  <a:pt x="4" y="162"/>
                </a:lnTo>
                <a:lnTo>
                  <a:pt x="5" y="170"/>
                </a:lnTo>
                <a:lnTo>
                  <a:pt x="7" y="180"/>
                </a:lnTo>
                <a:lnTo>
                  <a:pt x="9" y="189"/>
                </a:lnTo>
                <a:lnTo>
                  <a:pt x="10" y="199"/>
                </a:lnTo>
                <a:lnTo>
                  <a:pt x="15" y="199"/>
                </a:lnTo>
                <a:lnTo>
                  <a:pt x="14" y="189"/>
                </a:lnTo>
                <a:lnTo>
                  <a:pt x="12" y="180"/>
                </a:lnTo>
                <a:lnTo>
                  <a:pt x="10" y="170"/>
                </a:lnTo>
                <a:lnTo>
                  <a:pt x="9" y="160"/>
                </a:lnTo>
                <a:lnTo>
                  <a:pt x="7" y="151"/>
                </a:lnTo>
                <a:lnTo>
                  <a:pt x="7" y="142"/>
                </a:lnTo>
                <a:lnTo>
                  <a:pt x="5" y="132"/>
                </a:lnTo>
                <a:lnTo>
                  <a:pt x="5" y="122"/>
                </a:lnTo>
                <a:lnTo>
                  <a:pt x="0" y="124"/>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32" name="Freeform 1237">
            <a:extLst>
              <a:ext uri="{FF2B5EF4-FFF2-40B4-BE49-F238E27FC236}">
                <a16:creationId xmlns:a16="http://schemas.microsoft.com/office/drawing/2014/main" id="{62C14F65-F5A8-0C12-FDC3-EF0EF4835CD1}"/>
              </a:ext>
            </a:extLst>
          </p:cNvPr>
          <p:cNvSpPr>
            <a:spLocks noEditPoints="1"/>
          </p:cNvSpPr>
          <p:nvPr/>
        </p:nvSpPr>
        <p:spPr bwMode="auto">
          <a:xfrm>
            <a:off x="2208213" y="2403475"/>
            <a:ext cx="1411288" cy="315913"/>
          </a:xfrm>
          <a:custGeom>
            <a:avLst/>
            <a:gdLst>
              <a:gd name="T0" fmla="*/ 889 w 889"/>
              <a:gd name="T1" fmla="*/ 71 h 199"/>
              <a:gd name="T2" fmla="*/ 889 w 889"/>
              <a:gd name="T3" fmla="*/ 63 h 199"/>
              <a:gd name="T4" fmla="*/ 888 w 889"/>
              <a:gd name="T5" fmla="*/ 53 h 199"/>
              <a:gd name="T6" fmla="*/ 888 w 889"/>
              <a:gd name="T7" fmla="*/ 45 h 199"/>
              <a:gd name="T8" fmla="*/ 886 w 889"/>
              <a:gd name="T9" fmla="*/ 35 h 199"/>
              <a:gd name="T10" fmla="*/ 884 w 889"/>
              <a:gd name="T11" fmla="*/ 26 h 199"/>
              <a:gd name="T12" fmla="*/ 883 w 889"/>
              <a:gd name="T13" fmla="*/ 16 h 199"/>
              <a:gd name="T14" fmla="*/ 881 w 889"/>
              <a:gd name="T15" fmla="*/ 8 h 199"/>
              <a:gd name="T16" fmla="*/ 879 w 889"/>
              <a:gd name="T17" fmla="*/ 0 h 199"/>
              <a:gd name="T18" fmla="*/ 874 w 889"/>
              <a:gd name="T19" fmla="*/ 0 h 199"/>
              <a:gd name="T20" fmla="*/ 876 w 889"/>
              <a:gd name="T21" fmla="*/ 8 h 199"/>
              <a:gd name="T22" fmla="*/ 878 w 889"/>
              <a:gd name="T23" fmla="*/ 18 h 199"/>
              <a:gd name="T24" fmla="*/ 879 w 889"/>
              <a:gd name="T25" fmla="*/ 26 h 199"/>
              <a:gd name="T26" fmla="*/ 881 w 889"/>
              <a:gd name="T27" fmla="*/ 36 h 199"/>
              <a:gd name="T28" fmla="*/ 883 w 889"/>
              <a:gd name="T29" fmla="*/ 45 h 199"/>
              <a:gd name="T30" fmla="*/ 884 w 889"/>
              <a:gd name="T31" fmla="*/ 54 h 199"/>
              <a:gd name="T32" fmla="*/ 884 w 889"/>
              <a:gd name="T33" fmla="*/ 64 h 199"/>
              <a:gd name="T34" fmla="*/ 884 w 889"/>
              <a:gd name="T35" fmla="*/ 73 h 199"/>
              <a:gd name="T36" fmla="*/ 889 w 889"/>
              <a:gd name="T37" fmla="*/ 71 h 199"/>
              <a:gd name="T38" fmla="*/ 0 w 889"/>
              <a:gd name="T39" fmla="*/ 122 h 199"/>
              <a:gd name="T40" fmla="*/ 2 w 889"/>
              <a:gd name="T41" fmla="*/ 132 h 199"/>
              <a:gd name="T42" fmla="*/ 2 w 889"/>
              <a:gd name="T43" fmla="*/ 142 h 199"/>
              <a:gd name="T44" fmla="*/ 3 w 889"/>
              <a:gd name="T45" fmla="*/ 152 h 199"/>
              <a:gd name="T46" fmla="*/ 5 w 889"/>
              <a:gd name="T47" fmla="*/ 160 h 199"/>
              <a:gd name="T48" fmla="*/ 5 w 889"/>
              <a:gd name="T49" fmla="*/ 170 h 199"/>
              <a:gd name="T50" fmla="*/ 7 w 889"/>
              <a:gd name="T51" fmla="*/ 180 h 199"/>
              <a:gd name="T52" fmla="*/ 8 w 889"/>
              <a:gd name="T53" fmla="*/ 189 h 199"/>
              <a:gd name="T54" fmla="*/ 12 w 889"/>
              <a:gd name="T55" fmla="*/ 199 h 199"/>
              <a:gd name="T56" fmla="*/ 16 w 889"/>
              <a:gd name="T57" fmla="*/ 199 h 199"/>
              <a:gd name="T58" fmla="*/ 13 w 889"/>
              <a:gd name="T59" fmla="*/ 189 h 199"/>
              <a:gd name="T60" fmla="*/ 12 w 889"/>
              <a:gd name="T61" fmla="*/ 179 h 199"/>
              <a:gd name="T62" fmla="*/ 10 w 889"/>
              <a:gd name="T63" fmla="*/ 170 h 199"/>
              <a:gd name="T64" fmla="*/ 8 w 889"/>
              <a:gd name="T65" fmla="*/ 160 h 199"/>
              <a:gd name="T66" fmla="*/ 8 w 889"/>
              <a:gd name="T67" fmla="*/ 151 h 199"/>
              <a:gd name="T68" fmla="*/ 7 w 889"/>
              <a:gd name="T69" fmla="*/ 141 h 199"/>
              <a:gd name="T70" fmla="*/ 5 w 889"/>
              <a:gd name="T71" fmla="*/ 131 h 199"/>
              <a:gd name="T72" fmla="*/ 5 w 889"/>
              <a:gd name="T73" fmla="*/ 121 h 199"/>
              <a:gd name="T74" fmla="*/ 0 w 889"/>
              <a:gd name="T75" fmla="*/ 12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89" h="199">
                <a:moveTo>
                  <a:pt x="889" y="71"/>
                </a:moveTo>
                <a:lnTo>
                  <a:pt x="889" y="63"/>
                </a:lnTo>
                <a:lnTo>
                  <a:pt x="888" y="53"/>
                </a:lnTo>
                <a:lnTo>
                  <a:pt x="888" y="45"/>
                </a:lnTo>
                <a:lnTo>
                  <a:pt x="886" y="35"/>
                </a:lnTo>
                <a:lnTo>
                  <a:pt x="884" y="26"/>
                </a:lnTo>
                <a:lnTo>
                  <a:pt x="883" y="16"/>
                </a:lnTo>
                <a:lnTo>
                  <a:pt x="881" y="8"/>
                </a:lnTo>
                <a:lnTo>
                  <a:pt x="879" y="0"/>
                </a:lnTo>
                <a:lnTo>
                  <a:pt x="874" y="0"/>
                </a:lnTo>
                <a:lnTo>
                  <a:pt x="876" y="8"/>
                </a:lnTo>
                <a:lnTo>
                  <a:pt x="878" y="18"/>
                </a:lnTo>
                <a:lnTo>
                  <a:pt x="879" y="26"/>
                </a:lnTo>
                <a:lnTo>
                  <a:pt x="881" y="36"/>
                </a:lnTo>
                <a:lnTo>
                  <a:pt x="883" y="45"/>
                </a:lnTo>
                <a:lnTo>
                  <a:pt x="884" y="54"/>
                </a:lnTo>
                <a:lnTo>
                  <a:pt x="884" y="64"/>
                </a:lnTo>
                <a:lnTo>
                  <a:pt x="884" y="73"/>
                </a:lnTo>
                <a:lnTo>
                  <a:pt x="889" y="71"/>
                </a:lnTo>
                <a:close/>
                <a:moveTo>
                  <a:pt x="0" y="122"/>
                </a:moveTo>
                <a:lnTo>
                  <a:pt x="2" y="132"/>
                </a:lnTo>
                <a:lnTo>
                  <a:pt x="2" y="142"/>
                </a:lnTo>
                <a:lnTo>
                  <a:pt x="3" y="152"/>
                </a:lnTo>
                <a:lnTo>
                  <a:pt x="5" y="160"/>
                </a:lnTo>
                <a:lnTo>
                  <a:pt x="5" y="170"/>
                </a:lnTo>
                <a:lnTo>
                  <a:pt x="7" y="180"/>
                </a:lnTo>
                <a:lnTo>
                  <a:pt x="8" y="189"/>
                </a:lnTo>
                <a:lnTo>
                  <a:pt x="12" y="199"/>
                </a:lnTo>
                <a:lnTo>
                  <a:pt x="16" y="199"/>
                </a:lnTo>
                <a:lnTo>
                  <a:pt x="13" y="189"/>
                </a:lnTo>
                <a:lnTo>
                  <a:pt x="12" y="179"/>
                </a:lnTo>
                <a:lnTo>
                  <a:pt x="10" y="170"/>
                </a:lnTo>
                <a:lnTo>
                  <a:pt x="8" y="160"/>
                </a:lnTo>
                <a:lnTo>
                  <a:pt x="8" y="151"/>
                </a:lnTo>
                <a:lnTo>
                  <a:pt x="7" y="141"/>
                </a:lnTo>
                <a:lnTo>
                  <a:pt x="5" y="131"/>
                </a:lnTo>
                <a:lnTo>
                  <a:pt x="5" y="121"/>
                </a:lnTo>
                <a:lnTo>
                  <a:pt x="0" y="122"/>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33" name="Freeform 1238">
            <a:extLst>
              <a:ext uri="{FF2B5EF4-FFF2-40B4-BE49-F238E27FC236}">
                <a16:creationId xmlns:a16="http://schemas.microsoft.com/office/drawing/2014/main" id="{20ACCD29-5F09-A893-C771-D176BAD555B4}"/>
              </a:ext>
            </a:extLst>
          </p:cNvPr>
          <p:cNvSpPr>
            <a:spLocks noEditPoints="1"/>
          </p:cNvSpPr>
          <p:nvPr/>
        </p:nvSpPr>
        <p:spPr bwMode="auto">
          <a:xfrm>
            <a:off x="2212975" y="2403475"/>
            <a:ext cx="1404938" cy="315913"/>
          </a:xfrm>
          <a:custGeom>
            <a:avLst/>
            <a:gdLst>
              <a:gd name="T0" fmla="*/ 885 w 885"/>
              <a:gd name="T1" fmla="*/ 73 h 199"/>
              <a:gd name="T2" fmla="*/ 883 w 885"/>
              <a:gd name="T3" fmla="*/ 63 h 199"/>
              <a:gd name="T4" fmla="*/ 883 w 885"/>
              <a:gd name="T5" fmla="*/ 54 h 199"/>
              <a:gd name="T6" fmla="*/ 881 w 885"/>
              <a:gd name="T7" fmla="*/ 45 h 199"/>
              <a:gd name="T8" fmla="*/ 881 w 885"/>
              <a:gd name="T9" fmla="*/ 35 h 199"/>
              <a:gd name="T10" fmla="*/ 880 w 885"/>
              <a:gd name="T11" fmla="*/ 26 h 199"/>
              <a:gd name="T12" fmla="*/ 878 w 885"/>
              <a:gd name="T13" fmla="*/ 18 h 199"/>
              <a:gd name="T14" fmla="*/ 876 w 885"/>
              <a:gd name="T15" fmla="*/ 8 h 199"/>
              <a:gd name="T16" fmla="*/ 875 w 885"/>
              <a:gd name="T17" fmla="*/ 0 h 199"/>
              <a:gd name="T18" fmla="*/ 870 w 885"/>
              <a:gd name="T19" fmla="*/ 0 h 199"/>
              <a:gd name="T20" fmla="*/ 871 w 885"/>
              <a:gd name="T21" fmla="*/ 8 h 199"/>
              <a:gd name="T22" fmla="*/ 873 w 885"/>
              <a:gd name="T23" fmla="*/ 18 h 199"/>
              <a:gd name="T24" fmla="*/ 875 w 885"/>
              <a:gd name="T25" fmla="*/ 26 h 199"/>
              <a:gd name="T26" fmla="*/ 876 w 885"/>
              <a:gd name="T27" fmla="*/ 36 h 199"/>
              <a:gd name="T28" fmla="*/ 878 w 885"/>
              <a:gd name="T29" fmla="*/ 46 h 199"/>
              <a:gd name="T30" fmla="*/ 878 w 885"/>
              <a:gd name="T31" fmla="*/ 54 h 199"/>
              <a:gd name="T32" fmla="*/ 880 w 885"/>
              <a:gd name="T33" fmla="*/ 64 h 199"/>
              <a:gd name="T34" fmla="*/ 880 w 885"/>
              <a:gd name="T35" fmla="*/ 74 h 199"/>
              <a:gd name="T36" fmla="*/ 885 w 885"/>
              <a:gd name="T37" fmla="*/ 73 h 199"/>
              <a:gd name="T38" fmla="*/ 0 w 885"/>
              <a:gd name="T39" fmla="*/ 122 h 199"/>
              <a:gd name="T40" fmla="*/ 0 w 885"/>
              <a:gd name="T41" fmla="*/ 132 h 199"/>
              <a:gd name="T42" fmla="*/ 2 w 885"/>
              <a:gd name="T43" fmla="*/ 142 h 199"/>
              <a:gd name="T44" fmla="*/ 2 w 885"/>
              <a:gd name="T45" fmla="*/ 151 h 199"/>
              <a:gd name="T46" fmla="*/ 4 w 885"/>
              <a:gd name="T47" fmla="*/ 160 h 199"/>
              <a:gd name="T48" fmla="*/ 5 w 885"/>
              <a:gd name="T49" fmla="*/ 170 h 199"/>
              <a:gd name="T50" fmla="*/ 7 w 885"/>
              <a:gd name="T51" fmla="*/ 180 h 199"/>
              <a:gd name="T52" fmla="*/ 9 w 885"/>
              <a:gd name="T53" fmla="*/ 189 h 199"/>
              <a:gd name="T54" fmla="*/ 10 w 885"/>
              <a:gd name="T55" fmla="*/ 199 h 199"/>
              <a:gd name="T56" fmla="*/ 15 w 885"/>
              <a:gd name="T57" fmla="*/ 199 h 199"/>
              <a:gd name="T58" fmla="*/ 13 w 885"/>
              <a:gd name="T59" fmla="*/ 189 h 199"/>
              <a:gd name="T60" fmla="*/ 12 w 885"/>
              <a:gd name="T61" fmla="*/ 179 h 199"/>
              <a:gd name="T62" fmla="*/ 10 w 885"/>
              <a:gd name="T63" fmla="*/ 169 h 199"/>
              <a:gd name="T64" fmla="*/ 9 w 885"/>
              <a:gd name="T65" fmla="*/ 160 h 199"/>
              <a:gd name="T66" fmla="*/ 7 w 885"/>
              <a:gd name="T67" fmla="*/ 151 h 199"/>
              <a:gd name="T68" fmla="*/ 5 w 885"/>
              <a:gd name="T69" fmla="*/ 141 h 199"/>
              <a:gd name="T70" fmla="*/ 5 w 885"/>
              <a:gd name="T71" fmla="*/ 131 h 199"/>
              <a:gd name="T72" fmla="*/ 5 w 885"/>
              <a:gd name="T73" fmla="*/ 119 h 199"/>
              <a:gd name="T74" fmla="*/ 0 w 885"/>
              <a:gd name="T75" fmla="*/ 12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85" h="199">
                <a:moveTo>
                  <a:pt x="885" y="73"/>
                </a:moveTo>
                <a:lnTo>
                  <a:pt x="883" y="63"/>
                </a:lnTo>
                <a:lnTo>
                  <a:pt x="883" y="54"/>
                </a:lnTo>
                <a:lnTo>
                  <a:pt x="881" y="45"/>
                </a:lnTo>
                <a:lnTo>
                  <a:pt x="881" y="35"/>
                </a:lnTo>
                <a:lnTo>
                  <a:pt x="880" y="26"/>
                </a:lnTo>
                <a:lnTo>
                  <a:pt x="878" y="18"/>
                </a:lnTo>
                <a:lnTo>
                  <a:pt x="876" y="8"/>
                </a:lnTo>
                <a:lnTo>
                  <a:pt x="875" y="0"/>
                </a:lnTo>
                <a:lnTo>
                  <a:pt x="870" y="0"/>
                </a:lnTo>
                <a:lnTo>
                  <a:pt x="871" y="8"/>
                </a:lnTo>
                <a:lnTo>
                  <a:pt x="873" y="18"/>
                </a:lnTo>
                <a:lnTo>
                  <a:pt x="875" y="26"/>
                </a:lnTo>
                <a:lnTo>
                  <a:pt x="876" y="36"/>
                </a:lnTo>
                <a:lnTo>
                  <a:pt x="878" y="46"/>
                </a:lnTo>
                <a:lnTo>
                  <a:pt x="878" y="54"/>
                </a:lnTo>
                <a:lnTo>
                  <a:pt x="880" y="64"/>
                </a:lnTo>
                <a:lnTo>
                  <a:pt x="880" y="74"/>
                </a:lnTo>
                <a:lnTo>
                  <a:pt x="885" y="73"/>
                </a:lnTo>
                <a:close/>
                <a:moveTo>
                  <a:pt x="0" y="122"/>
                </a:moveTo>
                <a:lnTo>
                  <a:pt x="0" y="132"/>
                </a:lnTo>
                <a:lnTo>
                  <a:pt x="2" y="142"/>
                </a:lnTo>
                <a:lnTo>
                  <a:pt x="2" y="151"/>
                </a:lnTo>
                <a:lnTo>
                  <a:pt x="4" y="160"/>
                </a:lnTo>
                <a:lnTo>
                  <a:pt x="5" y="170"/>
                </a:lnTo>
                <a:lnTo>
                  <a:pt x="7" y="180"/>
                </a:lnTo>
                <a:lnTo>
                  <a:pt x="9" y="189"/>
                </a:lnTo>
                <a:lnTo>
                  <a:pt x="10" y="199"/>
                </a:lnTo>
                <a:lnTo>
                  <a:pt x="15" y="199"/>
                </a:lnTo>
                <a:lnTo>
                  <a:pt x="13" y="189"/>
                </a:lnTo>
                <a:lnTo>
                  <a:pt x="12" y="179"/>
                </a:lnTo>
                <a:lnTo>
                  <a:pt x="10" y="169"/>
                </a:lnTo>
                <a:lnTo>
                  <a:pt x="9" y="160"/>
                </a:lnTo>
                <a:lnTo>
                  <a:pt x="7" y="151"/>
                </a:lnTo>
                <a:lnTo>
                  <a:pt x="5" y="141"/>
                </a:lnTo>
                <a:lnTo>
                  <a:pt x="5" y="131"/>
                </a:lnTo>
                <a:lnTo>
                  <a:pt x="5" y="119"/>
                </a:lnTo>
                <a:lnTo>
                  <a:pt x="0" y="122"/>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34" name="Freeform 1239">
            <a:extLst>
              <a:ext uri="{FF2B5EF4-FFF2-40B4-BE49-F238E27FC236}">
                <a16:creationId xmlns:a16="http://schemas.microsoft.com/office/drawing/2014/main" id="{C80B01E1-C035-29BB-D0B2-2B783855B17C}"/>
              </a:ext>
            </a:extLst>
          </p:cNvPr>
          <p:cNvSpPr>
            <a:spLocks noEditPoints="1"/>
          </p:cNvSpPr>
          <p:nvPr/>
        </p:nvSpPr>
        <p:spPr bwMode="auto">
          <a:xfrm>
            <a:off x="2216150" y="2403475"/>
            <a:ext cx="1395413" cy="315913"/>
          </a:xfrm>
          <a:custGeom>
            <a:avLst/>
            <a:gdLst>
              <a:gd name="T0" fmla="*/ 879 w 879"/>
              <a:gd name="T1" fmla="*/ 73 h 199"/>
              <a:gd name="T2" fmla="*/ 879 w 879"/>
              <a:gd name="T3" fmla="*/ 64 h 199"/>
              <a:gd name="T4" fmla="*/ 879 w 879"/>
              <a:gd name="T5" fmla="*/ 54 h 199"/>
              <a:gd name="T6" fmla="*/ 878 w 879"/>
              <a:gd name="T7" fmla="*/ 45 h 199"/>
              <a:gd name="T8" fmla="*/ 876 w 879"/>
              <a:gd name="T9" fmla="*/ 36 h 199"/>
              <a:gd name="T10" fmla="*/ 874 w 879"/>
              <a:gd name="T11" fmla="*/ 26 h 199"/>
              <a:gd name="T12" fmla="*/ 873 w 879"/>
              <a:gd name="T13" fmla="*/ 18 h 199"/>
              <a:gd name="T14" fmla="*/ 871 w 879"/>
              <a:gd name="T15" fmla="*/ 8 h 199"/>
              <a:gd name="T16" fmla="*/ 869 w 879"/>
              <a:gd name="T17" fmla="*/ 0 h 199"/>
              <a:gd name="T18" fmla="*/ 864 w 879"/>
              <a:gd name="T19" fmla="*/ 0 h 199"/>
              <a:gd name="T20" fmla="*/ 866 w 879"/>
              <a:gd name="T21" fmla="*/ 8 h 199"/>
              <a:gd name="T22" fmla="*/ 868 w 879"/>
              <a:gd name="T23" fmla="*/ 18 h 199"/>
              <a:gd name="T24" fmla="*/ 869 w 879"/>
              <a:gd name="T25" fmla="*/ 28 h 199"/>
              <a:gd name="T26" fmla="*/ 871 w 879"/>
              <a:gd name="T27" fmla="*/ 36 h 199"/>
              <a:gd name="T28" fmla="*/ 873 w 879"/>
              <a:gd name="T29" fmla="*/ 46 h 199"/>
              <a:gd name="T30" fmla="*/ 874 w 879"/>
              <a:gd name="T31" fmla="*/ 56 h 199"/>
              <a:gd name="T32" fmla="*/ 874 w 879"/>
              <a:gd name="T33" fmla="*/ 66 h 199"/>
              <a:gd name="T34" fmla="*/ 876 w 879"/>
              <a:gd name="T35" fmla="*/ 76 h 199"/>
              <a:gd name="T36" fmla="*/ 879 w 879"/>
              <a:gd name="T37" fmla="*/ 73 h 199"/>
              <a:gd name="T38" fmla="*/ 0 w 879"/>
              <a:gd name="T39" fmla="*/ 121 h 199"/>
              <a:gd name="T40" fmla="*/ 0 w 879"/>
              <a:gd name="T41" fmla="*/ 131 h 199"/>
              <a:gd name="T42" fmla="*/ 2 w 879"/>
              <a:gd name="T43" fmla="*/ 141 h 199"/>
              <a:gd name="T44" fmla="*/ 3 w 879"/>
              <a:gd name="T45" fmla="*/ 151 h 199"/>
              <a:gd name="T46" fmla="*/ 3 w 879"/>
              <a:gd name="T47" fmla="*/ 160 h 199"/>
              <a:gd name="T48" fmla="*/ 5 w 879"/>
              <a:gd name="T49" fmla="*/ 170 h 199"/>
              <a:gd name="T50" fmla="*/ 7 w 879"/>
              <a:gd name="T51" fmla="*/ 179 h 199"/>
              <a:gd name="T52" fmla="*/ 8 w 879"/>
              <a:gd name="T53" fmla="*/ 189 h 199"/>
              <a:gd name="T54" fmla="*/ 11 w 879"/>
              <a:gd name="T55" fmla="*/ 199 h 199"/>
              <a:gd name="T56" fmla="*/ 16 w 879"/>
              <a:gd name="T57" fmla="*/ 199 h 199"/>
              <a:gd name="T58" fmla="*/ 13 w 879"/>
              <a:gd name="T59" fmla="*/ 189 h 199"/>
              <a:gd name="T60" fmla="*/ 11 w 879"/>
              <a:gd name="T61" fmla="*/ 179 h 199"/>
              <a:gd name="T62" fmla="*/ 10 w 879"/>
              <a:gd name="T63" fmla="*/ 169 h 199"/>
              <a:gd name="T64" fmla="*/ 8 w 879"/>
              <a:gd name="T65" fmla="*/ 159 h 199"/>
              <a:gd name="T66" fmla="*/ 7 w 879"/>
              <a:gd name="T67" fmla="*/ 149 h 199"/>
              <a:gd name="T68" fmla="*/ 7 w 879"/>
              <a:gd name="T69" fmla="*/ 139 h 199"/>
              <a:gd name="T70" fmla="*/ 5 w 879"/>
              <a:gd name="T71" fmla="*/ 129 h 199"/>
              <a:gd name="T72" fmla="*/ 5 w 879"/>
              <a:gd name="T73" fmla="*/ 119 h 199"/>
              <a:gd name="T74" fmla="*/ 0 w 879"/>
              <a:gd name="T75" fmla="*/ 12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79" h="199">
                <a:moveTo>
                  <a:pt x="879" y="73"/>
                </a:moveTo>
                <a:lnTo>
                  <a:pt x="879" y="64"/>
                </a:lnTo>
                <a:lnTo>
                  <a:pt x="879" y="54"/>
                </a:lnTo>
                <a:lnTo>
                  <a:pt x="878" y="45"/>
                </a:lnTo>
                <a:lnTo>
                  <a:pt x="876" y="36"/>
                </a:lnTo>
                <a:lnTo>
                  <a:pt x="874" y="26"/>
                </a:lnTo>
                <a:lnTo>
                  <a:pt x="873" y="18"/>
                </a:lnTo>
                <a:lnTo>
                  <a:pt x="871" y="8"/>
                </a:lnTo>
                <a:lnTo>
                  <a:pt x="869" y="0"/>
                </a:lnTo>
                <a:lnTo>
                  <a:pt x="864" y="0"/>
                </a:lnTo>
                <a:lnTo>
                  <a:pt x="866" y="8"/>
                </a:lnTo>
                <a:lnTo>
                  <a:pt x="868" y="18"/>
                </a:lnTo>
                <a:lnTo>
                  <a:pt x="869" y="28"/>
                </a:lnTo>
                <a:lnTo>
                  <a:pt x="871" y="36"/>
                </a:lnTo>
                <a:lnTo>
                  <a:pt x="873" y="46"/>
                </a:lnTo>
                <a:lnTo>
                  <a:pt x="874" y="56"/>
                </a:lnTo>
                <a:lnTo>
                  <a:pt x="874" y="66"/>
                </a:lnTo>
                <a:lnTo>
                  <a:pt x="876" y="76"/>
                </a:lnTo>
                <a:lnTo>
                  <a:pt x="879" y="73"/>
                </a:lnTo>
                <a:close/>
                <a:moveTo>
                  <a:pt x="0" y="121"/>
                </a:moveTo>
                <a:lnTo>
                  <a:pt x="0" y="131"/>
                </a:lnTo>
                <a:lnTo>
                  <a:pt x="2" y="141"/>
                </a:lnTo>
                <a:lnTo>
                  <a:pt x="3" y="151"/>
                </a:lnTo>
                <a:lnTo>
                  <a:pt x="3" y="160"/>
                </a:lnTo>
                <a:lnTo>
                  <a:pt x="5" y="170"/>
                </a:lnTo>
                <a:lnTo>
                  <a:pt x="7" y="179"/>
                </a:lnTo>
                <a:lnTo>
                  <a:pt x="8" y="189"/>
                </a:lnTo>
                <a:lnTo>
                  <a:pt x="11" y="199"/>
                </a:lnTo>
                <a:lnTo>
                  <a:pt x="16" y="199"/>
                </a:lnTo>
                <a:lnTo>
                  <a:pt x="13" y="189"/>
                </a:lnTo>
                <a:lnTo>
                  <a:pt x="11" y="179"/>
                </a:lnTo>
                <a:lnTo>
                  <a:pt x="10" y="169"/>
                </a:lnTo>
                <a:lnTo>
                  <a:pt x="8" y="159"/>
                </a:lnTo>
                <a:lnTo>
                  <a:pt x="7" y="149"/>
                </a:lnTo>
                <a:lnTo>
                  <a:pt x="7" y="139"/>
                </a:lnTo>
                <a:lnTo>
                  <a:pt x="5" y="129"/>
                </a:lnTo>
                <a:lnTo>
                  <a:pt x="5" y="119"/>
                </a:lnTo>
                <a:lnTo>
                  <a:pt x="0" y="121"/>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35" name="Freeform 1240">
            <a:extLst>
              <a:ext uri="{FF2B5EF4-FFF2-40B4-BE49-F238E27FC236}">
                <a16:creationId xmlns:a16="http://schemas.microsoft.com/office/drawing/2014/main" id="{3570E7DE-51F0-7DDD-369F-2C93B1EE74F0}"/>
              </a:ext>
            </a:extLst>
          </p:cNvPr>
          <p:cNvSpPr>
            <a:spLocks noEditPoints="1"/>
          </p:cNvSpPr>
          <p:nvPr/>
        </p:nvSpPr>
        <p:spPr bwMode="auto">
          <a:xfrm>
            <a:off x="2220913" y="2403475"/>
            <a:ext cx="1389063" cy="315913"/>
          </a:xfrm>
          <a:custGeom>
            <a:avLst/>
            <a:gdLst>
              <a:gd name="T0" fmla="*/ 875 w 875"/>
              <a:gd name="T1" fmla="*/ 74 h 199"/>
              <a:gd name="T2" fmla="*/ 875 w 875"/>
              <a:gd name="T3" fmla="*/ 64 h 199"/>
              <a:gd name="T4" fmla="*/ 873 w 875"/>
              <a:gd name="T5" fmla="*/ 54 h 199"/>
              <a:gd name="T6" fmla="*/ 873 w 875"/>
              <a:gd name="T7" fmla="*/ 46 h 199"/>
              <a:gd name="T8" fmla="*/ 871 w 875"/>
              <a:gd name="T9" fmla="*/ 36 h 199"/>
              <a:gd name="T10" fmla="*/ 870 w 875"/>
              <a:gd name="T11" fmla="*/ 26 h 199"/>
              <a:gd name="T12" fmla="*/ 868 w 875"/>
              <a:gd name="T13" fmla="*/ 18 h 199"/>
              <a:gd name="T14" fmla="*/ 866 w 875"/>
              <a:gd name="T15" fmla="*/ 8 h 199"/>
              <a:gd name="T16" fmla="*/ 865 w 875"/>
              <a:gd name="T17" fmla="*/ 0 h 199"/>
              <a:gd name="T18" fmla="*/ 860 w 875"/>
              <a:gd name="T19" fmla="*/ 0 h 199"/>
              <a:gd name="T20" fmla="*/ 861 w 875"/>
              <a:gd name="T21" fmla="*/ 10 h 199"/>
              <a:gd name="T22" fmla="*/ 863 w 875"/>
              <a:gd name="T23" fmla="*/ 18 h 199"/>
              <a:gd name="T24" fmla="*/ 865 w 875"/>
              <a:gd name="T25" fmla="*/ 28 h 199"/>
              <a:gd name="T26" fmla="*/ 866 w 875"/>
              <a:gd name="T27" fmla="*/ 38 h 199"/>
              <a:gd name="T28" fmla="*/ 868 w 875"/>
              <a:gd name="T29" fmla="*/ 48 h 199"/>
              <a:gd name="T30" fmla="*/ 868 w 875"/>
              <a:gd name="T31" fmla="*/ 56 h 199"/>
              <a:gd name="T32" fmla="*/ 870 w 875"/>
              <a:gd name="T33" fmla="*/ 66 h 199"/>
              <a:gd name="T34" fmla="*/ 870 w 875"/>
              <a:gd name="T35" fmla="*/ 76 h 199"/>
              <a:gd name="T36" fmla="*/ 875 w 875"/>
              <a:gd name="T37" fmla="*/ 74 h 199"/>
              <a:gd name="T38" fmla="*/ 0 w 875"/>
              <a:gd name="T39" fmla="*/ 119 h 199"/>
              <a:gd name="T40" fmla="*/ 0 w 875"/>
              <a:gd name="T41" fmla="*/ 131 h 199"/>
              <a:gd name="T42" fmla="*/ 0 w 875"/>
              <a:gd name="T43" fmla="*/ 141 h 199"/>
              <a:gd name="T44" fmla="*/ 2 w 875"/>
              <a:gd name="T45" fmla="*/ 151 h 199"/>
              <a:gd name="T46" fmla="*/ 4 w 875"/>
              <a:gd name="T47" fmla="*/ 160 h 199"/>
              <a:gd name="T48" fmla="*/ 5 w 875"/>
              <a:gd name="T49" fmla="*/ 169 h 199"/>
              <a:gd name="T50" fmla="*/ 7 w 875"/>
              <a:gd name="T51" fmla="*/ 179 h 199"/>
              <a:gd name="T52" fmla="*/ 8 w 875"/>
              <a:gd name="T53" fmla="*/ 189 h 199"/>
              <a:gd name="T54" fmla="*/ 10 w 875"/>
              <a:gd name="T55" fmla="*/ 199 h 199"/>
              <a:gd name="T56" fmla="*/ 15 w 875"/>
              <a:gd name="T57" fmla="*/ 199 h 199"/>
              <a:gd name="T58" fmla="*/ 13 w 875"/>
              <a:gd name="T59" fmla="*/ 189 h 199"/>
              <a:gd name="T60" fmla="*/ 12 w 875"/>
              <a:gd name="T61" fmla="*/ 179 h 199"/>
              <a:gd name="T62" fmla="*/ 10 w 875"/>
              <a:gd name="T63" fmla="*/ 169 h 199"/>
              <a:gd name="T64" fmla="*/ 8 w 875"/>
              <a:gd name="T65" fmla="*/ 159 h 199"/>
              <a:gd name="T66" fmla="*/ 7 w 875"/>
              <a:gd name="T67" fmla="*/ 149 h 199"/>
              <a:gd name="T68" fmla="*/ 5 w 875"/>
              <a:gd name="T69" fmla="*/ 139 h 199"/>
              <a:gd name="T70" fmla="*/ 5 w 875"/>
              <a:gd name="T71" fmla="*/ 127 h 199"/>
              <a:gd name="T72" fmla="*/ 4 w 875"/>
              <a:gd name="T73" fmla="*/ 117 h 199"/>
              <a:gd name="T74" fmla="*/ 0 w 875"/>
              <a:gd name="T75" fmla="*/ 11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75" h="199">
                <a:moveTo>
                  <a:pt x="875" y="74"/>
                </a:moveTo>
                <a:lnTo>
                  <a:pt x="875" y="64"/>
                </a:lnTo>
                <a:lnTo>
                  <a:pt x="873" y="54"/>
                </a:lnTo>
                <a:lnTo>
                  <a:pt x="873" y="46"/>
                </a:lnTo>
                <a:lnTo>
                  <a:pt x="871" y="36"/>
                </a:lnTo>
                <a:lnTo>
                  <a:pt x="870" y="26"/>
                </a:lnTo>
                <a:lnTo>
                  <a:pt x="868" y="18"/>
                </a:lnTo>
                <a:lnTo>
                  <a:pt x="866" y="8"/>
                </a:lnTo>
                <a:lnTo>
                  <a:pt x="865" y="0"/>
                </a:lnTo>
                <a:lnTo>
                  <a:pt x="860" y="0"/>
                </a:lnTo>
                <a:lnTo>
                  <a:pt x="861" y="10"/>
                </a:lnTo>
                <a:lnTo>
                  <a:pt x="863" y="18"/>
                </a:lnTo>
                <a:lnTo>
                  <a:pt x="865" y="28"/>
                </a:lnTo>
                <a:lnTo>
                  <a:pt x="866" y="38"/>
                </a:lnTo>
                <a:lnTo>
                  <a:pt x="868" y="48"/>
                </a:lnTo>
                <a:lnTo>
                  <a:pt x="868" y="56"/>
                </a:lnTo>
                <a:lnTo>
                  <a:pt x="870" y="66"/>
                </a:lnTo>
                <a:lnTo>
                  <a:pt x="870" y="76"/>
                </a:lnTo>
                <a:lnTo>
                  <a:pt x="875" y="74"/>
                </a:lnTo>
                <a:close/>
                <a:moveTo>
                  <a:pt x="0" y="119"/>
                </a:moveTo>
                <a:lnTo>
                  <a:pt x="0" y="131"/>
                </a:lnTo>
                <a:lnTo>
                  <a:pt x="0" y="141"/>
                </a:lnTo>
                <a:lnTo>
                  <a:pt x="2" y="151"/>
                </a:lnTo>
                <a:lnTo>
                  <a:pt x="4" y="160"/>
                </a:lnTo>
                <a:lnTo>
                  <a:pt x="5" y="169"/>
                </a:lnTo>
                <a:lnTo>
                  <a:pt x="7" y="179"/>
                </a:lnTo>
                <a:lnTo>
                  <a:pt x="8" y="189"/>
                </a:lnTo>
                <a:lnTo>
                  <a:pt x="10" y="199"/>
                </a:lnTo>
                <a:lnTo>
                  <a:pt x="15" y="199"/>
                </a:lnTo>
                <a:lnTo>
                  <a:pt x="13" y="189"/>
                </a:lnTo>
                <a:lnTo>
                  <a:pt x="12" y="179"/>
                </a:lnTo>
                <a:lnTo>
                  <a:pt x="10" y="169"/>
                </a:lnTo>
                <a:lnTo>
                  <a:pt x="8" y="159"/>
                </a:lnTo>
                <a:lnTo>
                  <a:pt x="7" y="149"/>
                </a:lnTo>
                <a:lnTo>
                  <a:pt x="5" y="139"/>
                </a:lnTo>
                <a:lnTo>
                  <a:pt x="5" y="127"/>
                </a:lnTo>
                <a:lnTo>
                  <a:pt x="4" y="117"/>
                </a:lnTo>
                <a:lnTo>
                  <a:pt x="0" y="119"/>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36" name="Freeform 1241">
            <a:extLst>
              <a:ext uri="{FF2B5EF4-FFF2-40B4-BE49-F238E27FC236}">
                <a16:creationId xmlns:a16="http://schemas.microsoft.com/office/drawing/2014/main" id="{0DED4CF2-8DE1-C268-008F-9BE0887E0C8A}"/>
              </a:ext>
            </a:extLst>
          </p:cNvPr>
          <p:cNvSpPr>
            <a:spLocks noEditPoints="1"/>
          </p:cNvSpPr>
          <p:nvPr/>
        </p:nvSpPr>
        <p:spPr bwMode="auto">
          <a:xfrm>
            <a:off x="2224088" y="2403475"/>
            <a:ext cx="1382713" cy="315913"/>
          </a:xfrm>
          <a:custGeom>
            <a:avLst/>
            <a:gdLst>
              <a:gd name="T0" fmla="*/ 871 w 871"/>
              <a:gd name="T1" fmla="*/ 76 h 199"/>
              <a:gd name="T2" fmla="*/ 869 w 871"/>
              <a:gd name="T3" fmla="*/ 66 h 199"/>
              <a:gd name="T4" fmla="*/ 869 w 871"/>
              <a:gd name="T5" fmla="*/ 56 h 199"/>
              <a:gd name="T6" fmla="*/ 868 w 871"/>
              <a:gd name="T7" fmla="*/ 46 h 199"/>
              <a:gd name="T8" fmla="*/ 866 w 871"/>
              <a:gd name="T9" fmla="*/ 36 h 199"/>
              <a:gd name="T10" fmla="*/ 864 w 871"/>
              <a:gd name="T11" fmla="*/ 28 h 199"/>
              <a:gd name="T12" fmla="*/ 863 w 871"/>
              <a:gd name="T13" fmla="*/ 18 h 199"/>
              <a:gd name="T14" fmla="*/ 861 w 871"/>
              <a:gd name="T15" fmla="*/ 8 h 199"/>
              <a:gd name="T16" fmla="*/ 859 w 871"/>
              <a:gd name="T17" fmla="*/ 0 h 199"/>
              <a:gd name="T18" fmla="*/ 854 w 871"/>
              <a:gd name="T19" fmla="*/ 0 h 199"/>
              <a:gd name="T20" fmla="*/ 856 w 871"/>
              <a:gd name="T21" fmla="*/ 10 h 199"/>
              <a:gd name="T22" fmla="*/ 859 w 871"/>
              <a:gd name="T23" fmla="*/ 18 h 199"/>
              <a:gd name="T24" fmla="*/ 861 w 871"/>
              <a:gd name="T25" fmla="*/ 28 h 199"/>
              <a:gd name="T26" fmla="*/ 863 w 871"/>
              <a:gd name="T27" fmla="*/ 38 h 199"/>
              <a:gd name="T28" fmla="*/ 863 w 871"/>
              <a:gd name="T29" fmla="*/ 48 h 199"/>
              <a:gd name="T30" fmla="*/ 864 w 871"/>
              <a:gd name="T31" fmla="*/ 58 h 199"/>
              <a:gd name="T32" fmla="*/ 864 w 871"/>
              <a:gd name="T33" fmla="*/ 68 h 199"/>
              <a:gd name="T34" fmla="*/ 866 w 871"/>
              <a:gd name="T35" fmla="*/ 78 h 199"/>
              <a:gd name="T36" fmla="*/ 871 w 871"/>
              <a:gd name="T37" fmla="*/ 76 h 199"/>
              <a:gd name="T38" fmla="*/ 0 w 871"/>
              <a:gd name="T39" fmla="*/ 119 h 199"/>
              <a:gd name="T40" fmla="*/ 0 w 871"/>
              <a:gd name="T41" fmla="*/ 129 h 199"/>
              <a:gd name="T42" fmla="*/ 2 w 871"/>
              <a:gd name="T43" fmla="*/ 139 h 199"/>
              <a:gd name="T44" fmla="*/ 2 w 871"/>
              <a:gd name="T45" fmla="*/ 149 h 199"/>
              <a:gd name="T46" fmla="*/ 3 w 871"/>
              <a:gd name="T47" fmla="*/ 159 h 199"/>
              <a:gd name="T48" fmla="*/ 5 w 871"/>
              <a:gd name="T49" fmla="*/ 169 h 199"/>
              <a:gd name="T50" fmla="*/ 6 w 871"/>
              <a:gd name="T51" fmla="*/ 179 h 199"/>
              <a:gd name="T52" fmla="*/ 8 w 871"/>
              <a:gd name="T53" fmla="*/ 189 h 199"/>
              <a:gd name="T54" fmla="*/ 11 w 871"/>
              <a:gd name="T55" fmla="*/ 199 h 199"/>
              <a:gd name="T56" fmla="*/ 16 w 871"/>
              <a:gd name="T57" fmla="*/ 199 h 199"/>
              <a:gd name="T58" fmla="*/ 13 w 871"/>
              <a:gd name="T59" fmla="*/ 189 h 199"/>
              <a:gd name="T60" fmla="*/ 11 w 871"/>
              <a:gd name="T61" fmla="*/ 179 h 199"/>
              <a:gd name="T62" fmla="*/ 10 w 871"/>
              <a:gd name="T63" fmla="*/ 169 h 199"/>
              <a:gd name="T64" fmla="*/ 8 w 871"/>
              <a:gd name="T65" fmla="*/ 159 h 199"/>
              <a:gd name="T66" fmla="*/ 6 w 871"/>
              <a:gd name="T67" fmla="*/ 147 h 199"/>
              <a:gd name="T68" fmla="*/ 6 w 871"/>
              <a:gd name="T69" fmla="*/ 137 h 199"/>
              <a:gd name="T70" fmla="*/ 5 w 871"/>
              <a:gd name="T71" fmla="*/ 127 h 199"/>
              <a:gd name="T72" fmla="*/ 5 w 871"/>
              <a:gd name="T73" fmla="*/ 116 h 199"/>
              <a:gd name="T74" fmla="*/ 0 w 871"/>
              <a:gd name="T75" fmla="*/ 11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71" h="199">
                <a:moveTo>
                  <a:pt x="871" y="76"/>
                </a:moveTo>
                <a:lnTo>
                  <a:pt x="869" y="66"/>
                </a:lnTo>
                <a:lnTo>
                  <a:pt x="869" y="56"/>
                </a:lnTo>
                <a:lnTo>
                  <a:pt x="868" y="46"/>
                </a:lnTo>
                <a:lnTo>
                  <a:pt x="866" y="36"/>
                </a:lnTo>
                <a:lnTo>
                  <a:pt x="864" y="28"/>
                </a:lnTo>
                <a:lnTo>
                  <a:pt x="863" y="18"/>
                </a:lnTo>
                <a:lnTo>
                  <a:pt x="861" y="8"/>
                </a:lnTo>
                <a:lnTo>
                  <a:pt x="859" y="0"/>
                </a:lnTo>
                <a:lnTo>
                  <a:pt x="854" y="0"/>
                </a:lnTo>
                <a:lnTo>
                  <a:pt x="856" y="10"/>
                </a:lnTo>
                <a:lnTo>
                  <a:pt x="859" y="18"/>
                </a:lnTo>
                <a:lnTo>
                  <a:pt x="861" y="28"/>
                </a:lnTo>
                <a:lnTo>
                  <a:pt x="863" y="38"/>
                </a:lnTo>
                <a:lnTo>
                  <a:pt x="863" y="48"/>
                </a:lnTo>
                <a:lnTo>
                  <a:pt x="864" y="58"/>
                </a:lnTo>
                <a:lnTo>
                  <a:pt x="864" y="68"/>
                </a:lnTo>
                <a:lnTo>
                  <a:pt x="866" y="78"/>
                </a:lnTo>
                <a:lnTo>
                  <a:pt x="871" y="76"/>
                </a:lnTo>
                <a:close/>
                <a:moveTo>
                  <a:pt x="0" y="119"/>
                </a:moveTo>
                <a:lnTo>
                  <a:pt x="0" y="129"/>
                </a:lnTo>
                <a:lnTo>
                  <a:pt x="2" y="139"/>
                </a:lnTo>
                <a:lnTo>
                  <a:pt x="2" y="149"/>
                </a:lnTo>
                <a:lnTo>
                  <a:pt x="3" y="159"/>
                </a:lnTo>
                <a:lnTo>
                  <a:pt x="5" y="169"/>
                </a:lnTo>
                <a:lnTo>
                  <a:pt x="6" y="179"/>
                </a:lnTo>
                <a:lnTo>
                  <a:pt x="8" y="189"/>
                </a:lnTo>
                <a:lnTo>
                  <a:pt x="11" y="199"/>
                </a:lnTo>
                <a:lnTo>
                  <a:pt x="16" y="199"/>
                </a:lnTo>
                <a:lnTo>
                  <a:pt x="13" y="189"/>
                </a:lnTo>
                <a:lnTo>
                  <a:pt x="11" y="179"/>
                </a:lnTo>
                <a:lnTo>
                  <a:pt x="10" y="169"/>
                </a:lnTo>
                <a:lnTo>
                  <a:pt x="8" y="159"/>
                </a:lnTo>
                <a:lnTo>
                  <a:pt x="6" y="147"/>
                </a:lnTo>
                <a:lnTo>
                  <a:pt x="6" y="137"/>
                </a:lnTo>
                <a:lnTo>
                  <a:pt x="5" y="127"/>
                </a:lnTo>
                <a:lnTo>
                  <a:pt x="5" y="116"/>
                </a:lnTo>
                <a:lnTo>
                  <a:pt x="0" y="119"/>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37" name="Freeform 1242">
            <a:extLst>
              <a:ext uri="{FF2B5EF4-FFF2-40B4-BE49-F238E27FC236}">
                <a16:creationId xmlns:a16="http://schemas.microsoft.com/office/drawing/2014/main" id="{B777E21D-CD26-2BFB-73D9-F37D28FD395A}"/>
              </a:ext>
            </a:extLst>
          </p:cNvPr>
          <p:cNvSpPr>
            <a:spLocks noEditPoints="1"/>
          </p:cNvSpPr>
          <p:nvPr/>
        </p:nvSpPr>
        <p:spPr bwMode="auto">
          <a:xfrm>
            <a:off x="2227263" y="2403475"/>
            <a:ext cx="1374775" cy="315913"/>
          </a:xfrm>
          <a:custGeom>
            <a:avLst/>
            <a:gdLst>
              <a:gd name="T0" fmla="*/ 866 w 866"/>
              <a:gd name="T1" fmla="*/ 76 h 199"/>
              <a:gd name="T2" fmla="*/ 866 w 866"/>
              <a:gd name="T3" fmla="*/ 66 h 199"/>
              <a:gd name="T4" fmla="*/ 864 w 866"/>
              <a:gd name="T5" fmla="*/ 56 h 199"/>
              <a:gd name="T6" fmla="*/ 864 w 866"/>
              <a:gd name="T7" fmla="*/ 48 h 199"/>
              <a:gd name="T8" fmla="*/ 862 w 866"/>
              <a:gd name="T9" fmla="*/ 38 h 199"/>
              <a:gd name="T10" fmla="*/ 861 w 866"/>
              <a:gd name="T11" fmla="*/ 28 h 199"/>
              <a:gd name="T12" fmla="*/ 859 w 866"/>
              <a:gd name="T13" fmla="*/ 18 h 199"/>
              <a:gd name="T14" fmla="*/ 857 w 866"/>
              <a:gd name="T15" fmla="*/ 10 h 199"/>
              <a:gd name="T16" fmla="*/ 856 w 866"/>
              <a:gd name="T17" fmla="*/ 0 h 199"/>
              <a:gd name="T18" fmla="*/ 851 w 866"/>
              <a:gd name="T19" fmla="*/ 0 h 199"/>
              <a:gd name="T20" fmla="*/ 852 w 866"/>
              <a:gd name="T21" fmla="*/ 10 h 199"/>
              <a:gd name="T22" fmla="*/ 854 w 866"/>
              <a:gd name="T23" fmla="*/ 20 h 199"/>
              <a:gd name="T24" fmla="*/ 856 w 866"/>
              <a:gd name="T25" fmla="*/ 28 h 199"/>
              <a:gd name="T26" fmla="*/ 857 w 866"/>
              <a:gd name="T27" fmla="*/ 38 h 199"/>
              <a:gd name="T28" fmla="*/ 859 w 866"/>
              <a:gd name="T29" fmla="*/ 48 h 199"/>
              <a:gd name="T30" fmla="*/ 861 w 866"/>
              <a:gd name="T31" fmla="*/ 58 h 199"/>
              <a:gd name="T32" fmla="*/ 861 w 866"/>
              <a:gd name="T33" fmla="*/ 68 h 199"/>
              <a:gd name="T34" fmla="*/ 861 w 866"/>
              <a:gd name="T35" fmla="*/ 78 h 199"/>
              <a:gd name="T36" fmla="*/ 866 w 866"/>
              <a:gd name="T37" fmla="*/ 76 h 199"/>
              <a:gd name="T38" fmla="*/ 0 w 866"/>
              <a:gd name="T39" fmla="*/ 117 h 199"/>
              <a:gd name="T40" fmla="*/ 1 w 866"/>
              <a:gd name="T41" fmla="*/ 127 h 199"/>
              <a:gd name="T42" fmla="*/ 1 w 866"/>
              <a:gd name="T43" fmla="*/ 139 h 199"/>
              <a:gd name="T44" fmla="*/ 3 w 866"/>
              <a:gd name="T45" fmla="*/ 149 h 199"/>
              <a:gd name="T46" fmla="*/ 4 w 866"/>
              <a:gd name="T47" fmla="*/ 159 h 199"/>
              <a:gd name="T48" fmla="*/ 6 w 866"/>
              <a:gd name="T49" fmla="*/ 169 h 199"/>
              <a:gd name="T50" fmla="*/ 8 w 866"/>
              <a:gd name="T51" fmla="*/ 179 h 199"/>
              <a:gd name="T52" fmla="*/ 9 w 866"/>
              <a:gd name="T53" fmla="*/ 189 h 199"/>
              <a:gd name="T54" fmla="*/ 11 w 866"/>
              <a:gd name="T55" fmla="*/ 199 h 199"/>
              <a:gd name="T56" fmla="*/ 16 w 866"/>
              <a:gd name="T57" fmla="*/ 199 h 199"/>
              <a:gd name="T58" fmla="*/ 14 w 866"/>
              <a:gd name="T59" fmla="*/ 189 h 199"/>
              <a:gd name="T60" fmla="*/ 11 w 866"/>
              <a:gd name="T61" fmla="*/ 179 h 199"/>
              <a:gd name="T62" fmla="*/ 9 w 866"/>
              <a:gd name="T63" fmla="*/ 167 h 199"/>
              <a:gd name="T64" fmla="*/ 8 w 866"/>
              <a:gd name="T65" fmla="*/ 157 h 199"/>
              <a:gd name="T66" fmla="*/ 8 w 866"/>
              <a:gd name="T67" fmla="*/ 147 h 199"/>
              <a:gd name="T68" fmla="*/ 6 w 866"/>
              <a:gd name="T69" fmla="*/ 137 h 199"/>
              <a:gd name="T70" fmla="*/ 6 w 866"/>
              <a:gd name="T71" fmla="*/ 126 h 199"/>
              <a:gd name="T72" fmla="*/ 4 w 866"/>
              <a:gd name="T73" fmla="*/ 116 h 199"/>
              <a:gd name="T74" fmla="*/ 0 w 866"/>
              <a:gd name="T75" fmla="*/ 11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66" h="199">
                <a:moveTo>
                  <a:pt x="866" y="76"/>
                </a:moveTo>
                <a:lnTo>
                  <a:pt x="866" y="66"/>
                </a:lnTo>
                <a:lnTo>
                  <a:pt x="864" y="56"/>
                </a:lnTo>
                <a:lnTo>
                  <a:pt x="864" y="48"/>
                </a:lnTo>
                <a:lnTo>
                  <a:pt x="862" y="38"/>
                </a:lnTo>
                <a:lnTo>
                  <a:pt x="861" y="28"/>
                </a:lnTo>
                <a:lnTo>
                  <a:pt x="859" y="18"/>
                </a:lnTo>
                <a:lnTo>
                  <a:pt x="857" y="10"/>
                </a:lnTo>
                <a:lnTo>
                  <a:pt x="856" y="0"/>
                </a:lnTo>
                <a:lnTo>
                  <a:pt x="851" y="0"/>
                </a:lnTo>
                <a:lnTo>
                  <a:pt x="852" y="10"/>
                </a:lnTo>
                <a:lnTo>
                  <a:pt x="854" y="20"/>
                </a:lnTo>
                <a:lnTo>
                  <a:pt x="856" y="28"/>
                </a:lnTo>
                <a:lnTo>
                  <a:pt x="857" y="38"/>
                </a:lnTo>
                <a:lnTo>
                  <a:pt x="859" y="48"/>
                </a:lnTo>
                <a:lnTo>
                  <a:pt x="861" y="58"/>
                </a:lnTo>
                <a:lnTo>
                  <a:pt x="861" y="68"/>
                </a:lnTo>
                <a:lnTo>
                  <a:pt x="861" y="78"/>
                </a:lnTo>
                <a:lnTo>
                  <a:pt x="866" y="76"/>
                </a:lnTo>
                <a:close/>
                <a:moveTo>
                  <a:pt x="0" y="117"/>
                </a:moveTo>
                <a:lnTo>
                  <a:pt x="1" y="127"/>
                </a:lnTo>
                <a:lnTo>
                  <a:pt x="1" y="139"/>
                </a:lnTo>
                <a:lnTo>
                  <a:pt x="3" y="149"/>
                </a:lnTo>
                <a:lnTo>
                  <a:pt x="4" y="159"/>
                </a:lnTo>
                <a:lnTo>
                  <a:pt x="6" y="169"/>
                </a:lnTo>
                <a:lnTo>
                  <a:pt x="8" y="179"/>
                </a:lnTo>
                <a:lnTo>
                  <a:pt x="9" y="189"/>
                </a:lnTo>
                <a:lnTo>
                  <a:pt x="11" y="199"/>
                </a:lnTo>
                <a:lnTo>
                  <a:pt x="16" y="199"/>
                </a:lnTo>
                <a:lnTo>
                  <a:pt x="14" y="189"/>
                </a:lnTo>
                <a:lnTo>
                  <a:pt x="11" y="179"/>
                </a:lnTo>
                <a:lnTo>
                  <a:pt x="9" y="167"/>
                </a:lnTo>
                <a:lnTo>
                  <a:pt x="8" y="157"/>
                </a:lnTo>
                <a:lnTo>
                  <a:pt x="8" y="147"/>
                </a:lnTo>
                <a:lnTo>
                  <a:pt x="6" y="137"/>
                </a:lnTo>
                <a:lnTo>
                  <a:pt x="6" y="126"/>
                </a:lnTo>
                <a:lnTo>
                  <a:pt x="4" y="116"/>
                </a:lnTo>
                <a:lnTo>
                  <a:pt x="0" y="117"/>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38" name="Freeform 1243">
            <a:extLst>
              <a:ext uri="{FF2B5EF4-FFF2-40B4-BE49-F238E27FC236}">
                <a16:creationId xmlns:a16="http://schemas.microsoft.com/office/drawing/2014/main" id="{9C30E401-EBB4-22AD-7F82-2863B2A7D3C7}"/>
              </a:ext>
            </a:extLst>
          </p:cNvPr>
          <p:cNvSpPr>
            <a:spLocks noEditPoints="1"/>
          </p:cNvSpPr>
          <p:nvPr/>
        </p:nvSpPr>
        <p:spPr bwMode="auto">
          <a:xfrm>
            <a:off x="2232025" y="2403475"/>
            <a:ext cx="1366838" cy="315913"/>
          </a:xfrm>
          <a:custGeom>
            <a:avLst/>
            <a:gdLst>
              <a:gd name="T0" fmla="*/ 861 w 861"/>
              <a:gd name="T1" fmla="*/ 78 h 199"/>
              <a:gd name="T2" fmla="*/ 859 w 861"/>
              <a:gd name="T3" fmla="*/ 68 h 199"/>
              <a:gd name="T4" fmla="*/ 859 w 861"/>
              <a:gd name="T5" fmla="*/ 58 h 199"/>
              <a:gd name="T6" fmla="*/ 858 w 861"/>
              <a:gd name="T7" fmla="*/ 48 h 199"/>
              <a:gd name="T8" fmla="*/ 858 w 861"/>
              <a:gd name="T9" fmla="*/ 38 h 199"/>
              <a:gd name="T10" fmla="*/ 856 w 861"/>
              <a:gd name="T11" fmla="*/ 28 h 199"/>
              <a:gd name="T12" fmla="*/ 854 w 861"/>
              <a:gd name="T13" fmla="*/ 18 h 199"/>
              <a:gd name="T14" fmla="*/ 851 w 861"/>
              <a:gd name="T15" fmla="*/ 10 h 199"/>
              <a:gd name="T16" fmla="*/ 849 w 861"/>
              <a:gd name="T17" fmla="*/ 0 h 199"/>
              <a:gd name="T18" fmla="*/ 844 w 861"/>
              <a:gd name="T19" fmla="*/ 0 h 199"/>
              <a:gd name="T20" fmla="*/ 848 w 861"/>
              <a:gd name="T21" fmla="*/ 10 h 199"/>
              <a:gd name="T22" fmla="*/ 849 w 861"/>
              <a:gd name="T23" fmla="*/ 20 h 199"/>
              <a:gd name="T24" fmla="*/ 851 w 861"/>
              <a:gd name="T25" fmla="*/ 30 h 199"/>
              <a:gd name="T26" fmla="*/ 853 w 861"/>
              <a:gd name="T27" fmla="*/ 40 h 199"/>
              <a:gd name="T28" fmla="*/ 853 w 861"/>
              <a:gd name="T29" fmla="*/ 50 h 199"/>
              <a:gd name="T30" fmla="*/ 854 w 861"/>
              <a:gd name="T31" fmla="*/ 59 h 199"/>
              <a:gd name="T32" fmla="*/ 856 w 861"/>
              <a:gd name="T33" fmla="*/ 69 h 199"/>
              <a:gd name="T34" fmla="*/ 856 w 861"/>
              <a:gd name="T35" fmla="*/ 79 h 199"/>
              <a:gd name="T36" fmla="*/ 861 w 861"/>
              <a:gd name="T37" fmla="*/ 78 h 199"/>
              <a:gd name="T38" fmla="*/ 0 w 861"/>
              <a:gd name="T39" fmla="*/ 116 h 199"/>
              <a:gd name="T40" fmla="*/ 0 w 861"/>
              <a:gd name="T41" fmla="*/ 127 h 199"/>
              <a:gd name="T42" fmla="*/ 1 w 861"/>
              <a:gd name="T43" fmla="*/ 137 h 199"/>
              <a:gd name="T44" fmla="*/ 1 w 861"/>
              <a:gd name="T45" fmla="*/ 147 h 199"/>
              <a:gd name="T46" fmla="*/ 3 w 861"/>
              <a:gd name="T47" fmla="*/ 159 h 199"/>
              <a:gd name="T48" fmla="*/ 5 w 861"/>
              <a:gd name="T49" fmla="*/ 169 h 199"/>
              <a:gd name="T50" fmla="*/ 6 w 861"/>
              <a:gd name="T51" fmla="*/ 179 h 199"/>
              <a:gd name="T52" fmla="*/ 8 w 861"/>
              <a:gd name="T53" fmla="*/ 189 h 199"/>
              <a:gd name="T54" fmla="*/ 11 w 861"/>
              <a:gd name="T55" fmla="*/ 199 h 199"/>
              <a:gd name="T56" fmla="*/ 16 w 861"/>
              <a:gd name="T57" fmla="*/ 199 h 199"/>
              <a:gd name="T58" fmla="*/ 13 w 861"/>
              <a:gd name="T59" fmla="*/ 189 h 199"/>
              <a:gd name="T60" fmla="*/ 11 w 861"/>
              <a:gd name="T61" fmla="*/ 179 h 199"/>
              <a:gd name="T62" fmla="*/ 10 w 861"/>
              <a:gd name="T63" fmla="*/ 167 h 199"/>
              <a:gd name="T64" fmla="*/ 8 w 861"/>
              <a:gd name="T65" fmla="*/ 157 h 199"/>
              <a:gd name="T66" fmla="*/ 6 w 861"/>
              <a:gd name="T67" fmla="*/ 147 h 199"/>
              <a:gd name="T68" fmla="*/ 5 w 861"/>
              <a:gd name="T69" fmla="*/ 136 h 199"/>
              <a:gd name="T70" fmla="*/ 5 w 861"/>
              <a:gd name="T71" fmla="*/ 126 h 199"/>
              <a:gd name="T72" fmla="*/ 5 w 861"/>
              <a:gd name="T73" fmla="*/ 114 h 199"/>
              <a:gd name="T74" fmla="*/ 0 w 861"/>
              <a:gd name="T75" fmla="*/ 11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61" h="199">
                <a:moveTo>
                  <a:pt x="861" y="78"/>
                </a:moveTo>
                <a:lnTo>
                  <a:pt x="859" y="68"/>
                </a:lnTo>
                <a:lnTo>
                  <a:pt x="859" y="58"/>
                </a:lnTo>
                <a:lnTo>
                  <a:pt x="858" y="48"/>
                </a:lnTo>
                <a:lnTo>
                  <a:pt x="858" y="38"/>
                </a:lnTo>
                <a:lnTo>
                  <a:pt x="856" y="28"/>
                </a:lnTo>
                <a:lnTo>
                  <a:pt x="854" y="18"/>
                </a:lnTo>
                <a:lnTo>
                  <a:pt x="851" y="10"/>
                </a:lnTo>
                <a:lnTo>
                  <a:pt x="849" y="0"/>
                </a:lnTo>
                <a:lnTo>
                  <a:pt x="844" y="0"/>
                </a:lnTo>
                <a:lnTo>
                  <a:pt x="848" y="10"/>
                </a:lnTo>
                <a:lnTo>
                  <a:pt x="849" y="20"/>
                </a:lnTo>
                <a:lnTo>
                  <a:pt x="851" y="30"/>
                </a:lnTo>
                <a:lnTo>
                  <a:pt x="853" y="40"/>
                </a:lnTo>
                <a:lnTo>
                  <a:pt x="853" y="50"/>
                </a:lnTo>
                <a:lnTo>
                  <a:pt x="854" y="59"/>
                </a:lnTo>
                <a:lnTo>
                  <a:pt x="856" y="69"/>
                </a:lnTo>
                <a:lnTo>
                  <a:pt x="856" y="79"/>
                </a:lnTo>
                <a:lnTo>
                  <a:pt x="861" y="78"/>
                </a:lnTo>
                <a:close/>
                <a:moveTo>
                  <a:pt x="0" y="116"/>
                </a:moveTo>
                <a:lnTo>
                  <a:pt x="0" y="127"/>
                </a:lnTo>
                <a:lnTo>
                  <a:pt x="1" y="137"/>
                </a:lnTo>
                <a:lnTo>
                  <a:pt x="1" y="147"/>
                </a:lnTo>
                <a:lnTo>
                  <a:pt x="3" y="159"/>
                </a:lnTo>
                <a:lnTo>
                  <a:pt x="5" y="169"/>
                </a:lnTo>
                <a:lnTo>
                  <a:pt x="6" y="179"/>
                </a:lnTo>
                <a:lnTo>
                  <a:pt x="8" y="189"/>
                </a:lnTo>
                <a:lnTo>
                  <a:pt x="11" y="199"/>
                </a:lnTo>
                <a:lnTo>
                  <a:pt x="16" y="199"/>
                </a:lnTo>
                <a:lnTo>
                  <a:pt x="13" y="189"/>
                </a:lnTo>
                <a:lnTo>
                  <a:pt x="11" y="179"/>
                </a:lnTo>
                <a:lnTo>
                  <a:pt x="10" y="167"/>
                </a:lnTo>
                <a:lnTo>
                  <a:pt x="8" y="157"/>
                </a:lnTo>
                <a:lnTo>
                  <a:pt x="6" y="147"/>
                </a:lnTo>
                <a:lnTo>
                  <a:pt x="5" y="136"/>
                </a:lnTo>
                <a:lnTo>
                  <a:pt x="5" y="126"/>
                </a:lnTo>
                <a:lnTo>
                  <a:pt x="5" y="114"/>
                </a:lnTo>
                <a:lnTo>
                  <a:pt x="0" y="116"/>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39" name="Freeform 1244">
            <a:extLst>
              <a:ext uri="{FF2B5EF4-FFF2-40B4-BE49-F238E27FC236}">
                <a16:creationId xmlns:a16="http://schemas.microsoft.com/office/drawing/2014/main" id="{0E5BCEB5-4BF6-3AA9-6D83-7FE22FD140E9}"/>
              </a:ext>
            </a:extLst>
          </p:cNvPr>
          <p:cNvSpPr>
            <a:spLocks noEditPoints="1"/>
          </p:cNvSpPr>
          <p:nvPr/>
        </p:nvSpPr>
        <p:spPr bwMode="auto">
          <a:xfrm>
            <a:off x="2233613" y="2403475"/>
            <a:ext cx="1360488" cy="315913"/>
          </a:xfrm>
          <a:custGeom>
            <a:avLst/>
            <a:gdLst>
              <a:gd name="T0" fmla="*/ 857 w 857"/>
              <a:gd name="T1" fmla="*/ 78 h 199"/>
              <a:gd name="T2" fmla="*/ 857 w 857"/>
              <a:gd name="T3" fmla="*/ 68 h 199"/>
              <a:gd name="T4" fmla="*/ 857 w 857"/>
              <a:gd name="T5" fmla="*/ 58 h 199"/>
              <a:gd name="T6" fmla="*/ 855 w 857"/>
              <a:gd name="T7" fmla="*/ 48 h 199"/>
              <a:gd name="T8" fmla="*/ 853 w 857"/>
              <a:gd name="T9" fmla="*/ 38 h 199"/>
              <a:gd name="T10" fmla="*/ 852 w 857"/>
              <a:gd name="T11" fmla="*/ 28 h 199"/>
              <a:gd name="T12" fmla="*/ 850 w 857"/>
              <a:gd name="T13" fmla="*/ 20 h 199"/>
              <a:gd name="T14" fmla="*/ 848 w 857"/>
              <a:gd name="T15" fmla="*/ 10 h 199"/>
              <a:gd name="T16" fmla="*/ 847 w 857"/>
              <a:gd name="T17" fmla="*/ 0 h 199"/>
              <a:gd name="T18" fmla="*/ 842 w 857"/>
              <a:gd name="T19" fmla="*/ 0 h 199"/>
              <a:gd name="T20" fmla="*/ 843 w 857"/>
              <a:gd name="T21" fmla="*/ 10 h 199"/>
              <a:gd name="T22" fmla="*/ 845 w 857"/>
              <a:gd name="T23" fmla="*/ 20 h 199"/>
              <a:gd name="T24" fmla="*/ 847 w 857"/>
              <a:gd name="T25" fmla="*/ 30 h 199"/>
              <a:gd name="T26" fmla="*/ 848 w 857"/>
              <a:gd name="T27" fmla="*/ 40 h 199"/>
              <a:gd name="T28" fmla="*/ 850 w 857"/>
              <a:gd name="T29" fmla="*/ 50 h 199"/>
              <a:gd name="T30" fmla="*/ 852 w 857"/>
              <a:gd name="T31" fmla="*/ 59 h 199"/>
              <a:gd name="T32" fmla="*/ 852 w 857"/>
              <a:gd name="T33" fmla="*/ 69 h 199"/>
              <a:gd name="T34" fmla="*/ 853 w 857"/>
              <a:gd name="T35" fmla="*/ 81 h 199"/>
              <a:gd name="T36" fmla="*/ 857 w 857"/>
              <a:gd name="T37" fmla="*/ 78 h 199"/>
              <a:gd name="T38" fmla="*/ 0 w 857"/>
              <a:gd name="T39" fmla="*/ 116 h 199"/>
              <a:gd name="T40" fmla="*/ 2 w 857"/>
              <a:gd name="T41" fmla="*/ 126 h 199"/>
              <a:gd name="T42" fmla="*/ 2 w 857"/>
              <a:gd name="T43" fmla="*/ 137 h 199"/>
              <a:gd name="T44" fmla="*/ 4 w 857"/>
              <a:gd name="T45" fmla="*/ 147 h 199"/>
              <a:gd name="T46" fmla="*/ 4 w 857"/>
              <a:gd name="T47" fmla="*/ 157 h 199"/>
              <a:gd name="T48" fmla="*/ 5 w 857"/>
              <a:gd name="T49" fmla="*/ 167 h 199"/>
              <a:gd name="T50" fmla="*/ 7 w 857"/>
              <a:gd name="T51" fmla="*/ 179 h 199"/>
              <a:gd name="T52" fmla="*/ 10 w 857"/>
              <a:gd name="T53" fmla="*/ 189 h 199"/>
              <a:gd name="T54" fmla="*/ 12 w 857"/>
              <a:gd name="T55" fmla="*/ 199 h 199"/>
              <a:gd name="T56" fmla="*/ 17 w 857"/>
              <a:gd name="T57" fmla="*/ 199 h 199"/>
              <a:gd name="T58" fmla="*/ 15 w 857"/>
              <a:gd name="T59" fmla="*/ 189 h 199"/>
              <a:gd name="T60" fmla="*/ 12 w 857"/>
              <a:gd name="T61" fmla="*/ 177 h 199"/>
              <a:gd name="T62" fmla="*/ 10 w 857"/>
              <a:gd name="T63" fmla="*/ 167 h 199"/>
              <a:gd name="T64" fmla="*/ 9 w 857"/>
              <a:gd name="T65" fmla="*/ 157 h 199"/>
              <a:gd name="T66" fmla="*/ 7 w 857"/>
              <a:gd name="T67" fmla="*/ 146 h 199"/>
              <a:gd name="T68" fmla="*/ 7 w 857"/>
              <a:gd name="T69" fmla="*/ 136 h 199"/>
              <a:gd name="T70" fmla="*/ 5 w 857"/>
              <a:gd name="T71" fmla="*/ 124 h 199"/>
              <a:gd name="T72" fmla="*/ 5 w 857"/>
              <a:gd name="T73" fmla="*/ 112 h 199"/>
              <a:gd name="T74" fmla="*/ 0 w 857"/>
              <a:gd name="T75" fmla="*/ 11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57" h="199">
                <a:moveTo>
                  <a:pt x="857" y="78"/>
                </a:moveTo>
                <a:lnTo>
                  <a:pt x="857" y="68"/>
                </a:lnTo>
                <a:lnTo>
                  <a:pt x="857" y="58"/>
                </a:lnTo>
                <a:lnTo>
                  <a:pt x="855" y="48"/>
                </a:lnTo>
                <a:lnTo>
                  <a:pt x="853" y="38"/>
                </a:lnTo>
                <a:lnTo>
                  <a:pt x="852" y="28"/>
                </a:lnTo>
                <a:lnTo>
                  <a:pt x="850" y="20"/>
                </a:lnTo>
                <a:lnTo>
                  <a:pt x="848" y="10"/>
                </a:lnTo>
                <a:lnTo>
                  <a:pt x="847" y="0"/>
                </a:lnTo>
                <a:lnTo>
                  <a:pt x="842" y="0"/>
                </a:lnTo>
                <a:lnTo>
                  <a:pt x="843" y="10"/>
                </a:lnTo>
                <a:lnTo>
                  <a:pt x="845" y="20"/>
                </a:lnTo>
                <a:lnTo>
                  <a:pt x="847" y="30"/>
                </a:lnTo>
                <a:lnTo>
                  <a:pt x="848" y="40"/>
                </a:lnTo>
                <a:lnTo>
                  <a:pt x="850" y="50"/>
                </a:lnTo>
                <a:lnTo>
                  <a:pt x="852" y="59"/>
                </a:lnTo>
                <a:lnTo>
                  <a:pt x="852" y="69"/>
                </a:lnTo>
                <a:lnTo>
                  <a:pt x="853" y="81"/>
                </a:lnTo>
                <a:lnTo>
                  <a:pt x="857" y="78"/>
                </a:lnTo>
                <a:close/>
                <a:moveTo>
                  <a:pt x="0" y="116"/>
                </a:moveTo>
                <a:lnTo>
                  <a:pt x="2" y="126"/>
                </a:lnTo>
                <a:lnTo>
                  <a:pt x="2" y="137"/>
                </a:lnTo>
                <a:lnTo>
                  <a:pt x="4" y="147"/>
                </a:lnTo>
                <a:lnTo>
                  <a:pt x="4" y="157"/>
                </a:lnTo>
                <a:lnTo>
                  <a:pt x="5" y="167"/>
                </a:lnTo>
                <a:lnTo>
                  <a:pt x="7" y="179"/>
                </a:lnTo>
                <a:lnTo>
                  <a:pt x="10" y="189"/>
                </a:lnTo>
                <a:lnTo>
                  <a:pt x="12" y="199"/>
                </a:lnTo>
                <a:lnTo>
                  <a:pt x="17" y="199"/>
                </a:lnTo>
                <a:lnTo>
                  <a:pt x="15" y="189"/>
                </a:lnTo>
                <a:lnTo>
                  <a:pt x="12" y="177"/>
                </a:lnTo>
                <a:lnTo>
                  <a:pt x="10" y="167"/>
                </a:lnTo>
                <a:lnTo>
                  <a:pt x="9" y="157"/>
                </a:lnTo>
                <a:lnTo>
                  <a:pt x="7" y="146"/>
                </a:lnTo>
                <a:lnTo>
                  <a:pt x="7" y="136"/>
                </a:lnTo>
                <a:lnTo>
                  <a:pt x="5" y="124"/>
                </a:lnTo>
                <a:lnTo>
                  <a:pt x="5" y="112"/>
                </a:lnTo>
                <a:lnTo>
                  <a:pt x="0" y="116"/>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40" name="Freeform 1245">
            <a:extLst>
              <a:ext uri="{FF2B5EF4-FFF2-40B4-BE49-F238E27FC236}">
                <a16:creationId xmlns:a16="http://schemas.microsoft.com/office/drawing/2014/main" id="{9522327D-F188-B400-DEF5-612953B30CCD}"/>
              </a:ext>
            </a:extLst>
          </p:cNvPr>
          <p:cNvSpPr>
            <a:spLocks noEditPoints="1"/>
          </p:cNvSpPr>
          <p:nvPr/>
        </p:nvSpPr>
        <p:spPr bwMode="auto">
          <a:xfrm>
            <a:off x="2239963" y="2403475"/>
            <a:ext cx="1350963" cy="315913"/>
          </a:xfrm>
          <a:custGeom>
            <a:avLst/>
            <a:gdLst>
              <a:gd name="T0" fmla="*/ 851 w 851"/>
              <a:gd name="T1" fmla="*/ 79 h 199"/>
              <a:gd name="T2" fmla="*/ 851 w 851"/>
              <a:gd name="T3" fmla="*/ 69 h 199"/>
              <a:gd name="T4" fmla="*/ 849 w 851"/>
              <a:gd name="T5" fmla="*/ 59 h 199"/>
              <a:gd name="T6" fmla="*/ 848 w 851"/>
              <a:gd name="T7" fmla="*/ 50 h 199"/>
              <a:gd name="T8" fmla="*/ 848 w 851"/>
              <a:gd name="T9" fmla="*/ 40 h 199"/>
              <a:gd name="T10" fmla="*/ 846 w 851"/>
              <a:gd name="T11" fmla="*/ 30 h 199"/>
              <a:gd name="T12" fmla="*/ 844 w 851"/>
              <a:gd name="T13" fmla="*/ 20 h 199"/>
              <a:gd name="T14" fmla="*/ 843 w 851"/>
              <a:gd name="T15" fmla="*/ 10 h 199"/>
              <a:gd name="T16" fmla="*/ 839 w 851"/>
              <a:gd name="T17" fmla="*/ 0 h 199"/>
              <a:gd name="T18" fmla="*/ 834 w 851"/>
              <a:gd name="T19" fmla="*/ 0 h 199"/>
              <a:gd name="T20" fmla="*/ 838 w 851"/>
              <a:gd name="T21" fmla="*/ 10 h 199"/>
              <a:gd name="T22" fmla="*/ 839 w 851"/>
              <a:gd name="T23" fmla="*/ 20 h 199"/>
              <a:gd name="T24" fmla="*/ 841 w 851"/>
              <a:gd name="T25" fmla="*/ 30 h 199"/>
              <a:gd name="T26" fmla="*/ 843 w 851"/>
              <a:gd name="T27" fmla="*/ 40 h 199"/>
              <a:gd name="T28" fmla="*/ 844 w 851"/>
              <a:gd name="T29" fmla="*/ 50 h 199"/>
              <a:gd name="T30" fmla="*/ 844 w 851"/>
              <a:gd name="T31" fmla="*/ 61 h 199"/>
              <a:gd name="T32" fmla="*/ 846 w 851"/>
              <a:gd name="T33" fmla="*/ 71 h 199"/>
              <a:gd name="T34" fmla="*/ 846 w 851"/>
              <a:gd name="T35" fmla="*/ 81 h 199"/>
              <a:gd name="T36" fmla="*/ 851 w 851"/>
              <a:gd name="T37" fmla="*/ 79 h 199"/>
              <a:gd name="T38" fmla="*/ 0 w 851"/>
              <a:gd name="T39" fmla="*/ 114 h 199"/>
              <a:gd name="T40" fmla="*/ 0 w 851"/>
              <a:gd name="T41" fmla="*/ 126 h 199"/>
              <a:gd name="T42" fmla="*/ 0 w 851"/>
              <a:gd name="T43" fmla="*/ 136 h 199"/>
              <a:gd name="T44" fmla="*/ 1 w 851"/>
              <a:gd name="T45" fmla="*/ 147 h 199"/>
              <a:gd name="T46" fmla="*/ 3 w 851"/>
              <a:gd name="T47" fmla="*/ 157 h 199"/>
              <a:gd name="T48" fmla="*/ 5 w 851"/>
              <a:gd name="T49" fmla="*/ 167 h 199"/>
              <a:gd name="T50" fmla="*/ 6 w 851"/>
              <a:gd name="T51" fmla="*/ 179 h 199"/>
              <a:gd name="T52" fmla="*/ 8 w 851"/>
              <a:gd name="T53" fmla="*/ 189 h 199"/>
              <a:gd name="T54" fmla="*/ 11 w 851"/>
              <a:gd name="T55" fmla="*/ 199 h 199"/>
              <a:gd name="T56" fmla="*/ 15 w 851"/>
              <a:gd name="T57" fmla="*/ 199 h 199"/>
              <a:gd name="T58" fmla="*/ 13 w 851"/>
              <a:gd name="T59" fmla="*/ 189 h 199"/>
              <a:gd name="T60" fmla="*/ 11 w 851"/>
              <a:gd name="T61" fmla="*/ 177 h 199"/>
              <a:gd name="T62" fmla="*/ 10 w 851"/>
              <a:gd name="T63" fmla="*/ 167 h 199"/>
              <a:gd name="T64" fmla="*/ 8 w 851"/>
              <a:gd name="T65" fmla="*/ 155 h 199"/>
              <a:gd name="T66" fmla="*/ 6 w 851"/>
              <a:gd name="T67" fmla="*/ 146 h 199"/>
              <a:gd name="T68" fmla="*/ 5 w 851"/>
              <a:gd name="T69" fmla="*/ 134 h 199"/>
              <a:gd name="T70" fmla="*/ 5 w 851"/>
              <a:gd name="T71" fmla="*/ 122 h 199"/>
              <a:gd name="T72" fmla="*/ 3 w 851"/>
              <a:gd name="T73" fmla="*/ 112 h 199"/>
              <a:gd name="T74" fmla="*/ 0 w 851"/>
              <a:gd name="T75" fmla="*/ 11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51" h="199">
                <a:moveTo>
                  <a:pt x="851" y="79"/>
                </a:moveTo>
                <a:lnTo>
                  <a:pt x="851" y="69"/>
                </a:lnTo>
                <a:lnTo>
                  <a:pt x="849" y="59"/>
                </a:lnTo>
                <a:lnTo>
                  <a:pt x="848" y="50"/>
                </a:lnTo>
                <a:lnTo>
                  <a:pt x="848" y="40"/>
                </a:lnTo>
                <a:lnTo>
                  <a:pt x="846" y="30"/>
                </a:lnTo>
                <a:lnTo>
                  <a:pt x="844" y="20"/>
                </a:lnTo>
                <a:lnTo>
                  <a:pt x="843" y="10"/>
                </a:lnTo>
                <a:lnTo>
                  <a:pt x="839" y="0"/>
                </a:lnTo>
                <a:lnTo>
                  <a:pt x="834" y="0"/>
                </a:lnTo>
                <a:lnTo>
                  <a:pt x="838" y="10"/>
                </a:lnTo>
                <a:lnTo>
                  <a:pt x="839" y="20"/>
                </a:lnTo>
                <a:lnTo>
                  <a:pt x="841" y="30"/>
                </a:lnTo>
                <a:lnTo>
                  <a:pt x="843" y="40"/>
                </a:lnTo>
                <a:lnTo>
                  <a:pt x="844" y="50"/>
                </a:lnTo>
                <a:lnTo>
                  <a:pt x="844" y="61"/>
                </a:lnTo>
                <a:lnTo>
                  <a:pt x="846" y="71"/>
                </a:lnTo>
                <a:lnTo>
                  <a:pt x="846" y="81"/>
                </a:lnTo>
                <a:lnTo>
                  <a:pt x="851" y="79"/>
                </a:lnTo>
                <a:close/>
                <a:moveTo>
                  <a:pt x="0" y="114"/>
                </a:moveTo>
                <a:lnTo>
                  <a:pt x="0" y="126"/>
                </a:lnTo>
                <a:lnTo>
                  <a:pt x="0" y="136"/>
                </a:lnTo>
                <a:lnTo>
                  <a:pt x="1" y="147"/>
                </a:lnTo>
                <a:lnTo>
                  <a:pt x="3" y="157"/>
                </a:lnTo>
                <a:lnTo>
                  <a:pt x="5" y="167"/>
                </a:lnTo>
                <a:lnTo>
                  <a:pt x="6" y="179"/>
                </a:lnTo>
                <a:lnTo>
                  <a:pt x="8" y="189"/>
                </a:lnTo>
                <a:lnTo>
                  <a:pt x="11" y="199"/>
                </a:lnTo>
                <a:lnTo>
                  <a:pt x="15" y="199"/>
                </a:lnTo>
                <a:lnTo>
                  <a:pt x="13" y="189"/>
                </a:lnTo>
                <a:lnTo>
                  <a:pt x="11" y="177"/>
                </a:lnTo>
                <a:lnTo>
                  <a:pt x="10" y="167"/>
                </a:lnTo>
                <a:lnTo>
                  <a:pt x="8" y="155"/>
                </a:lnTo>
                <a:lnTo>
                  <a:pt x="6" y="146"/>
                </a:lnTo>
                <a:lnTo>
                  <a:pt x="5" y="134"/>
                </a:lnTo>
                <a:lnTo>
                  <a:pt x="5" y="122"/>
                </a:lnTo>
                <a:lnTo>
                  <a:pt x="3" y="112"/>
                </a:lnTo>
                <a:lnTo>
                  <a:pt x="0" y="114"/>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41" name="Freeform 1246">
            <a:extLst>
              <a:ext uri="{FF2B5EF4-FFF2-40B4-BE49-F238E27FC236}">
                <a16:creationId xmlns:a16="http://schemas.microsoft.com/office/drawing/2014/main" id="{0FFDDB6E-E018-95AE-F3B4-9F0D2CD37A12}"/>
              </a:ext>
            </a:extLst>
          </p:cNvPr>
          <p:cNvSpPr>
            <a:spLocks noEditPoints="1"/>
          </p:cNvSpPr>
          <p:nvPr/>
        </p:nvSpPr>
        <p:spPr bwMode="auto">
          <a:xfrm>
            <a:off x="2241550" y="2403475"/>
            <a:ext cx="1346200" cy="315913"/>
          </a:xfrm>
          <a:custGeom>
            <a:avLst/>
            <a:gdLst>
              <a:gd name="T0" fmla="*/ 848 w 848"/>
              <a:gd name="T1" fmla="*/ 81 h 199"/>
              <a:gd name="T2" fmla="*/ 847 w 848"/>
              <a:gd name="T3" fmla="*/ 69 h 199"/>
              <a:gd name="T4" fmla="*/ 847 w 848"/>
              <a:gd name="T5" fmla="*/ 59 h 199"/>
              <a:gd name="T6" fmla="*/ 845 w 848"/>
              <a:gd name="T7" fmla="*/ 50 h 199"/>
              <a:gd name="T8" fmla="*/ 843 w 848"/>
              <a:gd name="T9" fmla="*/ 40 h 199"/>
              <a:gd name="T10" fmla="*/ 842 w 848"/>
              <a:gd name="T11" fmla="*/ 30 h 199"/>
              <a:gd name="T12" fmla="*/ 840 w 848"/>
              <a:gd name="T13" fmla="*/ 20 h 199"/>
              <a:gd name="T14" fmla="*/ 838 w 848"/>
              <a:gd name="T15" fmla="*/ 10 h 199"/>
              <a:gd name="T16" fmla="*/ 837 w 848"/>
              <a:gd name="T17" fmla="*/ 0 h 199"/>
              <a:gd name="T18" fmla="*/ 832 w 848"/>
              <a:gd name="T19" fmla="*/ 0 h 199"/>
              <a:gd name="T20" fmla="*/ 833 w 848"/>
              <a:gd name="T21" fmla="*/ 10 h 199"/>
              <a:gd name="T22" fmla="*/ 835 w 848"/>
              <a:gd name="T23" fmla="*/ 20 h 199"/>
              <a:gd name="T24" fmla="*/ 837 w 848"/>
              <a:gd name="T25" fmla="*/ 30 h 199"/>
              <a:gd name="T26" fmla="*/ 838 w 848"/>
              <a:gd name="T27" fmla="*/ 41 h 199"/>
              <a:gd name="T28" fmla="*/ 840 w 848"/>
              <a:gd name="T29" fmla="*/ 51 h 199"/>
              <a:gd name="T30" fmla="*/ 842 w 848"/>
              <a:gd name="T31" fmla="*/ 61 h 199"/>
              <a:gd name="T32" fmla="*/ 842 w 848"/>
              <a:gd name="T33" fmla="*/ 73 h 199"/>
              <a:gd name="T34" fmla="*/ 843 w 848"/>
              <a:gd name="T35" fmla="*/ 83 h 199"/>
              <a:gd name="T36" fmla="*/ 848 w 848"/>
              <a:gd name="T37" fmla="*/ 81 h 199"/>
              <a:gd name="T38" fmla="*/ 0 w 848"/>
              <a:gd name="T39" fmla="*/ 112 h 199"/>
              <a:gd name="T40" fmla="*/ 0 w 848"/>
              <a:gd name="T41" fmla="*/ 124 h 199"/>
              <a:gd name="T42" fmla="*/ 2 w 848"/>
              <a:gd name="T43" fmla="*/ 136 h 199"/>
              <a:gd name="T44" fmla="*/ 2 w 848"/>
              <a:gd name="T45" fmla="*/ 146 h 199"/>
              <a:gd name="T46" fmla="*/ 4 w 848"/>
              <a:gd name="T47" fmla="*/ 157 h 199"/>
              <a:gd name="T48" fmla="*/ 5 w 848"/>
              <a:gd name="T49" fmla="*/ 167 h 199"/>
              <a:gd name="T50" fmla="*/ 7 w 848"/>
              <a:gd name="T51" fmla="*/ 177 h 199"/>
              <a:gd name="T52" fmla="*/ 10 w 848"/>
              <a:gd name="T53" fmla="*/ 189 h 199"/>
              <a:gd name="T54" fmla="*/ 12 w 848"/>
              <a:gd name="T55" fmla="*/ 199 h 199"/>
              <a:gd name="T56" fmla="*/ 17 w 848"/>
              <a:gd name="T57" fmla="*/ 199 h 199"/>
              <a:gd name="T58" fmla="*/ 15 w 848"/>
              <a:gd name="T59" fmla="*/ 189 h 199"/>
              <a:gd name="T60" fmla="*/ 12 w 848"/>
              <a:gd name="T61" fmla="*/ 177 h 199"/>
              <a:gd name="T62" fmla="*/ 10 w 848"/>
              <a:gd name="T63" fmla="*/ 167 h 199"/>
              <a:gd name="T64" fmla="*/ 9 w 848"/>
              <a:gd name="T65" fmla="*/ 155 h 199"/>
              <a:gd name="T66" fmla="*/ 7 w 848"/>
              <a:gd name="T67" fmla="*/ 144 h 199"/>
              <a:gd name="T68" fmla="*/ 7 w 848"/>
              <a:gd name="T69" fmla="*/ 134 h 199"/>
              <a:gd name="T70" fmla="*/ 5 w 848"/>
              <a:gd name="T71" fmla="*/ 122 h 199"/>
              <a:gd name="T72" fmla="*/ 5 w 848"/>
              <a:gd name="T73" fmla="*/ 111 h 199"/>
              <a:gd name="T74" fmla="*/ 0 w 848"/>
              <a:gd name="T75" fmla="*/ 11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48" h="199">
                <a:moveTo>
                  <a:pt x="848" y="81"/>
                </a:moveTo>
                <a:lnTo>
                  <a:pt x="847" y="69"/>
                </a:lnTo>
                <a:lnTo>
                  <a:pt x="847" y="59"/>
                </a:lnTo>
                <a:lnTo>
                  <a:pt x="845" y="50"/>
                </a:lnTo>
                <a:lnTo>
                  <a:pt x="843" y="40"/>
                </a:lnTo>
                <a:lnTo>
                  <a:pt x="842" y="30"/>
                </a:lnTo>
                <a:lnTo>
                  <a:pt x="840" y="20"/>
                </a:lnTo>
                <a:lnTo>
                  <a:pt x="838" y="10"/>
                </a:lnTo>
                <a:lnTo>
                  <a:pt x="837" y="0"/>
                </a:lnTo>
                <a:lnTo>
                  <a:pt x="832" y="0"/>
                </a:lnTo>
                <a:lnTo>
                  <a:pt x="833" y="10"/>
                </a:lnTo>
                <a:lnTo>
                  <a:pt x="835" y="20"/>
                </a:lnTo>
                <a:lnTo>
                  <a:pt x="837" y="30"/>
                </a:lnTo>
                <a:lnTo>
                  <a:pt x="838" y="41"/>
                </a:lnTo>
                <a:lnTo>
                  <a:pt x="840" y="51"/>
                </a:lnTo>
                <a:lnTo>
                  <a:pt x="842" y="61"/>
                </a:lnTo>
                <a:lnTo>
                  <a:pt x="842" y="73"/>
                </a:lnTo>
                <a:lnTo>
                  <a:pt x="843" y="83"/>
                </a:lnTo>
                <a:lnTo>
                  <a:pt x="848" y="81"/>
                </a:lnTo>
                <a:close/>
                <a:moveTo>
                  <a:pt x="0" y="112"/>
                </a:moveTo>
                <a:lnTo>
                  <a:pt x="0" y="124"/>
                </a:lnTo>
                <a:lnTo>
                  <a:pt x="2" y="136"/>
                </a:lnTo>
                <a:lnTo>
                  <a:pt x="2" y="146"/>
                </a:lnTo>
                <a:lnTo>
                  <a:pt x="4" y="157"/>
                </a:lnTo>
                <a:lnTo>
                  <a:pt x="5" y="167"/>
                </a:lnTo>
                <a:lnTo>
                  <a:pt x="7" y="177"/>
                </a:lnTo>
                <a:lnTo>
                  <a:pt x="10" y="189"/>
                </a:lnTo>
                <a:lnTo>
                  <a:pt x="12" y="199"/>
                </a:lnTo>
                <a:lnTo>
                  <a:pt x="17" y="199"/>
                </a:lnTo>
                <a:lnTo>
                  <a:pt x="15" y="189"/>
                </a:lnTo>
                <a:lnTo>
                  <a:pt x="12" y="177"/>
                </a:lnTo>
                <a:lnTo>
                  <a:pt x="10" y="167"/>
                </a:lnTo>
                <a:lnTo>
                  <a:pt x="9" y="155"/>
                </a:lnTo>
                <a:lnTo>
                  <a:pt x="7" y="144"/>
                </a:lnTo>
                <a:lnTo>
                  <a:pt x="7" y="134"/>
                </a:lnTo>
                <a:lnTo>
                  <a:pt x="5" y="122"/>
                </a:lnTo>
                <a:lnTo>
                  <a:pt x="5" y="111"/>
                </a:lnTo>
                <a:lnTo>
                  <a:pt x="0" y="112"/>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42" name="Freeform 1247">
            <a:extLst>
              <a:ext uri="{FF2B5EF4-FFF2-40B4-BE49-F238E27FC236}">
                <a16:creationId xmlns:a16="http://schemas.microsoft.com/office/drawing/2014/main" id="{22AB3D49-A14F-D9BE-3634-690C787367A9}"/>
              </a:ext>
            </a:extLst>
          </p:cNvPr>
          <p:cNvSpPr>
            <a:spLocks noEditPoints="1"/>
          </p:cNvSpPr>
          <p:nvPr/>
        </p:nvSpPr>
        <p:spPr bwMode="auto">
          <a:xfrm>
            <a:off x="2244725" y="2403475"/>
            <a:ext cx="1338263" cy="315913"/>
          </a:xfrm>
          <a:custGeom>
            <a:avLst/>
            <a:gdLst>
              <a:gd name="T0" fmla="*/ 843 w 843"/>
              <a:gd name="T1" fmla="*/ 81 h 199"/>
              <a:gd name="T2" fmla="*/ 843 w 843"/>
              <a:gd name="T3" fmla="*/ 71 h 199"/>
              <a:gd name="T4" fmla="*/ 841 w 843"/>
              <a:gd name="T5" fmla="*/ 61 h 199"/>
              <a:gd name="T6" fmla="*/ 841 w 843"/>
              <a:gd name="T7" fmla="*/ 50 h 199"/>
              <a:gd name="T8" fmla="*/ 840 w 843"/>
              <a:gd name="T9" fmla="*/ 40 h 199"/>
              <a:gd name="T10" fmla="*/ 838 w 843"/>
              <a:gd name="T11" fmla="*/ 30 h 199"/>
              <a:gd name="T12" fmla="*/ 836 w 843"/>
              <a:gd name="T13" fmla="*/ 20 h 199"/>
              <a:gd name="T14" fmla="*/ 835 w 843"/>
              <a:gd name="T15" fmla="*/ 10 h 199"/>
              <a:gd name="T16" fmla="*/ 831 w 843"/>
              <a:gd name="T17" fmla="*/ 0 h 199"/>
              <a:gd name="T18" fmla="*/ 826 w 843"/>
              <a:gd name="T19" fmla="*/ 0 h 199"/>
              <a:gd name="T20" fmla="*/ 830 w 843"/>
              <a:gd name="T21" fmla="*/ 10 h 199"/>
              <a:gd name="T22" fmla="*/ 831 w 843"/>
              <a:gd name="T23" fmla="*/ 20 h 199"/>
              <a:gd name="T24" fmla="*/ 833 w 843"/>
              <a:gd name="T25" fmla="*/ 31 h 199"/>
              <a:gd name="T26" fmla="*/ 835 w 843"/>
              <a:gd name="T27" fmla="*/ 41 h 199"/>
              <a:gd name="T28" fmla="*/ 836 w 843"/>
              <a:gd name="T29" fmla="*/ 51 h 199"/>
              <a:gd name="T30" fmla="*/ 836 w 843"/>
              <a:gd name="T31" fmla="*/ 63 h 199"/>
              <a:gd name="T32" fmla="*/ 838 w 843"/>
              <a:gd name="T33" fmla="*/ 73 h 199"/>
              <a:gd name="T34" fmla="*/ 838 w 843"/>
              <a:gd name="T35" fmla="*/ 84 h 199"/>
              <a:gd name="T36" fmla="*/ 843 w 843"/>
              <a:gd name="T37" fmla="*/ 81 h 199"/>
              <a:gd name="T38" fmla="*/ 0 w 843"/>
              <a:gd name="T39" fmla="*/ 112 h 199"/>
              <a:gd name="T40" fmla="*/ 2 w 843"/>
              <a:gd name="T41" fmla="*/ 122 h 199"/>
              <a:gd name="T42" fmla="*/ 2 w 843"/>
              <a:gd name="T43" fmla="*/ 134 h 199"/>
              <a:gd name="T44" fmla="*/ 3 w 843"/>
              <a:gd name="T45" fmla="*/ 146 h 199"/>
              <a:gd name="T46" fmla="*/ 5 w 843"/>
              <a:gd name="T47" fmla="*/ 155 h 199"/>
              <a:gd name="T48" fmla="*/ 7 w 843"/>
              <a:gd name="T49" fmla="*/ 167 h 199"/>
              <a:gd name="T50" fmla="*/ 8 w 843"/>
              <a:gd name="T51" fmla="*/ 177 h 199"/>
              <a:gd name="T52" fmla="*/ 10 w 843"/>
              <a:gd name="T53" fmla="*/ 189 h 199"/>
              <a:gd name="T54" fmla="*/ 12 w 843"/>
              <a:gd name="T55" fmla="*/ 199 h 199"/>
              <a:gd name="T56" fmla="*/ 17 w 843"/>
              <a:gd name="T57" fmla="*/ 199 h 199"/>
              <a:gd name="T58" fmla="*/ 15 w 843"/>
              <a:gd name="T59" fmla="*/ 187 h 199"/>
              <a:gd name="T60" fmla="*/ 13 w 843"/>
              <a:gd name="T61" fmla="*/ 177 h 199"/>
              <a:gd name="T62" fmla="*/ 10 w 843"/>
              <a:gd name="T63" fmla="*/ 165 h 199"/>
              <a:gd name="T64" fmla="*/ 10 w 843"/>
              <a:gd name="T65" fmla="*/ 155 h 199"/>
              <a:gd name="T66" fmla="*/ 8 w 843"/>
              <a:gd name="T67" fmla="*/ 144 h 199"/>
              <a:gd name="T68" fmla="*/ 7 w 843"/>
              <a:gd name="T69" fmla="*/ 132 h 199"/>
              <a:gd name="T70" fmla="*/ 7 w 843"/>
              <a:gd name="T71" fmla="*/ 121 h 199"/>
              <a:gd name="T72" fmla="*/ 5 w 843"/>
              <a:gd name="T73" fmla="*/ 109 h 199"/>
              <a:gd name="T74" fmla="*/ 0 w 843"/>
              <a:gd name="T75" fmla="*/ 11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43" h="199">
                <a:moveTo>
                  <a:pt x="843" y="81"/>
                </a:moveTo>
                <a:lnTo>
                  <a:pt x="843" y="71"/>
                </a:lnTo>
                <a:lnTo>
                  <a:pt x="841" y="61"/>
                </a:lnTo>
                <a:lnTo>
                  <a:pt x="841" y="50"/>
                </a:lnTo>
                <a:lnTo>
                  <a:pt x="840" y="40"/>
                </a:lnTo>
                <a:lnTo>
                  <a:pt x="838" y="30"/>
                </a:lnTo>
                <a:lnTo>
                  <a:pt x="836" y="20"/>
                </a:lnTo>
                <a:lnTo>
                  <a:pt x="835" y="10"/>
                </a:lnTo>
                <a:lnTo>
                  <a:pt x="831" y="0"/>
                </a:lnTo>
                <a:lnTo>
                  <a:pt x="826" y="0"/>
                </a:lnTo>
                <a:lnTo>
                  <a:pt x="830" y="10"/>
                </a:lnTo>
                <a:lnTo>
                  <a:pt x="831" y="20"/>
                </a:lnTo>
                <a:lnTo>
                  <a:pt x="833" y="31"/>
                </a:lnTo>
                <a:lnTo>
                  <a:pt x="835" y="41"/>
                </a:lnTo>
                <a:lnTo>
                  <a:pt x="836" y="51"/>
                </a:lnTo>
                <a:lnTo>
                  <a:pt x="836" y="63"/>
                </a:lnTo>
                <a:lnTo>
                  <a:pt x="838" y="73"/>
                </a:lnTo>
                <a:lnTo>
                  <a:pt x="838" y="84"/>
                </a:lnTo>
                <a:lnTo>
                  <a:pt x="843" y="81"/>
                </a:lnTo>
                <a:close/>
                <a:moveTo>
                  <a:pt x="0" y="112"/>
                </a:moveTo>
                <a:lnTo>
                  <a:pt x="2" y="122"/>
                </a:lnTo>
                <a:lnTo>
                  <a:pt x="2" y="134"/>
                </a:lnTo>
                <a:lnTo>
                  <a:pt x="3" y="146"/>
                </a:lnTo>
                <a:lnTo>
                  <a:pt x="5" y="155"/>
                </a:lnTo>
                <a:lnTo>
                  <a:pt x="7" y="167"/>
                </a:lnTo>
                <a:lnTo>
                  <a:pt x="8" y="177"/>
                </a:lnTo>
                <a:lnTo>
                  <a:pt x="10" y="189"/>
                </a:lnTo>
                <a:lnTo>
                  <a:pt x="12" y="199"/>
                </a:lnTo>
                <a:lnTo>
                  <a:pt x="17" y="199"/>
                </a:lnTo>
                <a:lnTo>
                  <a:pt x="15" y="187"/>
                </a:lnTo>
                <a:lnTo>
                  <a:pt x="13" y="177"/>
                </a:lnTo>
                <a:lnTo>
                  <a:pt x="10" y="165"/>
                </a:lnTo>
                <a:lnTo>
                  <a:pt x="10" y="155"/>
                </a:lnTo>
                <a:lnTo>
                  <a:pt x="8" y="144"/>
                </a:lnTo>
                <a:lnTo>
                  <a:pt x="7" y="132"/>
                </a:lnTo>
                <a:lnTo>
                  <a:pt x="7" y="121"/>
                </a:lnTo>
                <a:lnTo>
                  <a:pt x="5" y="109"/>
                </a:lnTo>
                <a:lnTo>
                  <a:pt x="0" y="112"/>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43" name="Freeform 1248">
            <a:extLst>
              <a:ext uri="{FF2B5EF4-FFF2-40B4-BE49-F238E27FC236}">
                <a16:creationId xmlns:a16="http://schemas.microsoft.com/office/drawing/2014/main" id="{C1ED283B-B2BF-48F1-E6B4-73F95EF5FDB4}"/>
              </a:ext>
            </a:extLst>
          </p:cNvPr>
          <p:cNvSpPr>
            <a:spLocks noEditPoints="1"/>
          </p:cNvSpPr>
          <p:nvPr/>
        </p:nvSpPr>
        <p:spPr bwMode="auto">
          <a:xfrm>
            <a:off x="2249488" y="2403475"/>
            <a:ext cx="1330325" cy="315913"/>
          </a:xfrm>
          <a:custGeom>
            <a:avLst/>
            <a:gdLst>
              <a:gd name="T0" fmla="*/ 838 w 838"/>
              <a:gd name="T1" fmla="*/ 83 h 199"/>
              <a:gd name="T2" fmla="*/ 837 w 838"/>
              <a:gd name="T3" fmla="*/ 73 h 199"/>
              <a:gd name="T4" fmla="*/ 837 w 838"/>
              <a:gd name="T5" fmla="*/ 61 h 199"/>
              <a:gd name="T6" fmla="*/ 835 w 838"/>
              <a:gd name="T7" fmla="*/ 51 h 199"/>
              <a:gd name="T8" fmla="*/ 833 w 838"/>
              <a:gd name="T9" fmla="*/ 41 h 199"/>
              <a:gd name="T10" fmla="*/ 832 w 838"/>
              <a:gd name="T11" fmla="*/ 30 h 199"/>
              <a:gd name="T12" fmla="*/ 830 w 838"/>
              <a:gd name="T13" fmla="*/ 20 h 199"/>
              <a:gd name="T14" fmla="*/ 828 w 838"/>
              <a:gd name="T15" fmla="*/ 10 h 199"/>
              <a:gd name="T16" fmla="*/ 827 w 838"/>
              <a:gd name="T17" fmla="*/ 0 h 199"/>
              <a:gd name="T18" fmla="*/ 822 w 838"/>
              <a:gd name="T19" fmla="*/ 0 h 199"/>
              <a:gd name="T20" fmla="*/ 823 w 838"/>
              <a:gd name="T21" fmla="*/ 10 h 199"/>
              <a:gd name="T22" fmla="*/ 825 w 838"/>
              <a:gd name="T23" fmla="*/ 20 h 199"/>
              <a:gd name="T24" fmla="*/ 828 w 838"/>
              <a:gd name="T25" fmla="*/ 31 h 199"/>
              <a:gd name="T26" fmla="*/ 830 w 838"/>
              <a:gd name="T27" fmla="*/ 41 h 199"/>
              <a:gd name="T28" fmla="*/ 830 w 838"/>
              <a:gd name="T29" fmla="*/ 53 h 199"/>
              <a:gd name="T30" fmla="*/ 832 w 838"/>
              <a:gd name="T31" fmla="*/ 63 h 199"/>
              <a:gd name="T32" fmla="*/ 833 w 838"/>
              <a:gd name="T33" fmla="*/ 74 h 199"/>
              <a:gd name="T34" fmla="*/ 833 w 838"/>
              <a:gd name="T35" fmla="*/ 84 h 199"/>
              <a:gd name="T36" fmla="*/ 838 w 838"/>
              <a:gd name="T37" fmla="*/ 83 h 199"/>
              <a:gd name="T38" fmla="*/ 0 w 838"/>
              <a:gd name="T39" fmla="*/ 111 h 199"/>
              <a:gd name="T40" fmla="*/ 0 w 838"/>
              <a:gd name="T41" fmla="*/ 122 h 199"/>
              <a:gd name="T42" fmla="*/ 2 w 838"/>
              <a:gd name="T43" fmla="*/ 134 h 199"/>
              <a:gd name="T44" fmla="*/ 2 w 838"/>
              <a:gd name="T45" fmla="*/ 144 h 199"/>
              <a:gd name="T46" fmla="*/ 4 w 838"/>
              <a:gd name="T47" fmla="*/ 155 h 199"/>
              <a:gd name="T48" fmla="*/ 5 w 838"/>
              <a:gd name="T49" fmla="*/ 167 h 199"/>
              <a:gd name="T50" fmla="*/ 7 w 838"/>
              <a:gd name="T51" fmla="*/ 177 h 199"/>
              <a:gd name="T52" fmla="*/ 10 w 838"/>
              <a:gd name="T53" fmla="*/ 189 h 199"/>
              <a:gd name="T54" fmla="*/ 12 w 838"/>
              <a:gd name="T55" fmla="*/ 199 h 199"/>
              <a:gd name="T56" fmla="*/ 17 w 838"/>
              <a:gd name="T57" fmla="*/ 199 h 199"/>
              <a:gd name="T58" fmla="*/ 14 w 838"/>
              <a:gd name="T59" fmla="*/ 187 h 199"/>
              <a:gd name="T60" fmla="*/ 12 w 838"/>
              <a:gd name="T61" fmla="*/ 177 h 199"/>
              <a:gd name="T62" fmla="*/ 10 w 838"/>
              <a:gd name="T63" fmla="*/ 165 h 199"/>
              <a:gd name="T64" fmla="*/ 9 w 838"/>
              <a:gd name="T65" fmla="*/ 154 h 199"/>
              <a:gd name="T66" fmla="*/ 7 w 838"/>
              <a:gd name="T67" fmla="*/ 144 h 199"/>
              <a:gd name="T68" fmla="*/ 5 w 838"/>
              <a:gd name="T69" fmla="*/ 132 h 199"/>
              <a:gd name="T70" fmla="*/ 5 w 838"/>
              <a:gd name="T71" fmla="*/ 121 h 199"/>
              <a:gd name="T72" fmla="*/ 5 w 838"/>
              <a:gd name="T73" fmla="*/ 109 h 199"/>
              <a:gd name="T74" fmla="*/ 0 w 838"/>
              <a:gd name="T75" fmla="*/ 11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38" h="199">
                <a:moveTo>
                  <a:pt x="838" y="83"/>
                </a:moveTo>
                <a:lnTo>
                  <a:pt x="837" y="73"/>
                </a:lnTo>
                <a:lnTo>
                  <a:pt x="837" y="61"/>
                </a:lnTo>
                <a:lnTo>
                  <a:pt x="835" y="51"/>
                </a:lnTo>
                <a:lnTo>
                  <a:pt x="833" y="41"/>
                </a:lnTo>
                <a:lnTo>
                  <a:pt x="832" y="30"/>
                </a:lnTo>
                <a:lnTo>
                  <a:pt x="830" y="20"/>
                </a:lnTo>
                <a:lnTo>
                  <a:pt x="828" y="10"/>
                </a:lnTo>
                <a:lnTo>
                  <a:pt x="827" y="0"/>
                </a:lnTo>
                <a:lnTo>
                  <a:pt x="822" y="0"/>
                </a:lnTo>
                <a:lnTo>
                  <a:pt x="823" y="10"/>
                </a:lnTo>
                <a:lnTo>
                  <a:pt x="825" y="20"/>
                </a:lnTo>
                <a:lnTo>
                  <a:pt x="828" y="31"/>
                </a:lnTo>
                <a:lnTo>
                  <a:pt x="830" y="41"/>
                </a:lnTo>
                <a:lnTo>
                  <a:pt x="830" y="53"/>
                </a:lnTo>
                <a:lnTo>
                  <a:pt x="832" y="63"/>
                </a:lnTo>
                <a:lnTo>
                  <a:pt x="833" y="74"/>
                </a:lnTo>
                <a:lnTo>
                  <a:pt x="833" y="84"/>
                </a:lnTo>
                <a:lnTo>
                  <a:pt x="838" y="83"/>
                </a:lnTo>
                <a:close/>
                <a:moveTo>
                  <a:pt x="0" y="111"/>
                </a:moveTo>
                <a:lnTo>
                  <a:pt x="0" y="122"/>
                </a:lnTo>
                <a:lnTo>
                  <a:pt x="2" y="134"/>
                </a:lnTo>
                <a:lnTo>
                  <a:pt x="2" y="144"/>
                </a:lnTo>
                <a:lnTo>
                  <a:pt x="4" y="155"/>
                </a:lnTo>
                <a:lnTo>
                  <a:pt x="5" y="167"/>
                </a:lnTo>
                <a:lnTo>
                  <a:pt x="7" y="177"/>
                </a:lnTo>
                <a:lnTo>
                  <a:pt x="10" y="189"/>
                </a:lnTo>
                <a:lnTo>
                  <a:pt x="12" y="199"/>
                </a:lnTo>
                <a:lnTo>
                  <a:pt x="17" y="199"/>
                </a:lnTo>
                <a:lnTo>
                  <a:pt x="14" y="187"/>
                </a:lnTo>
                <a:lnTo>
                  <a:pt x="12" y="177"/>
                </a:lnTo>
                <a:lnTo>
                  <a:pt x="10" y="165"/>
                </a:lnTo>
                <a:lnTo>
                  <a:pt x="9" y="154"/>
                </a:lnTo>
                <a:lnTo>
                  <a:pt x="7" y="144"/>
                </a:lnTo>
                <a:lnTo>
                  <a:pt x="5" y="132"/>
                </a:lnTo>
                <a:lnTo>
                  <a:pt x="5" y="121"/>
                </a:lnTo>
                <a:lnTo>
                  <a:pt x="5" y="109"/>
                </a:lnTo>
                <a:lnTo>
                  <a:pt x="0" y="111"/>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44" name="Freeform 1249">
            <a:extLst>
              <a:ext uri="{FF2B5EF4-FFF2-40B4-BE49-F238E27FC236}">
                <a16:creationId xmlns:a16="http://schemas.microsoft.com/office/drawing/2014/main" id="{FEFB5F4E-5543-AE14-12DF-F7D067763115}"/>
              </a:ext>
            </a:extLst>
          </p:cNvPr>
          <p:cNvSpPr>
            <a:spLocks noEditPoints="1"/>
          </p:cNvSpPr>
          <p:nvPr/>
        </p:nvSpPr>
        <p:spPr bwMode="auto">
          <a:xfrm>
            <a:off x="2252663" y="2403475"/>
            <a:ext cx="1322388" cy="315913"/>
          </a:xfrm>
          <a:custGeom>
            <a:avLst/>
            <a:gdLst>
              <a:gd name="T0" fmla="*/ 833 w 833"/>
              <a:gd name="T1" fmla="*/ 84 h 199"/>
              <a:gd name="T2" fmla="*/ 833 w 833"/>
              <a:gd name="T3" fmla="*/ 73 h 199"/>
              <a:gd name="T4" fmla="*/ 831 w 833"/>
              <a:gd name="T5" fmla="*/ 63 h 199"/>
              <a:gd name="T6" fmla="*/ 831 w 833"/>
              <a:gd name="T7" fmla="*/ 51 h 199"/>
              <a:gd name="T8" fmla="*/ 830 w 833"/>
              <a:gd name="T9" fmla="*/ 41 h 199"/>
              <a:gd name="T10" fmla="*/ 828 w 833"/>
              <a:gd name="T11" fmla="*/ 31 h 199"/>
              <a:gd name="T12" fmla="*/ 826 w 833"/>
              <a:gd name="T13" fmla="*/ 20 h 199"/>
              <a:gd name="T14" fmla="*/ 825 w 833"/>
              <a:gd name="T15" fmla="*/ 10 h 199"/>
              <a:gd name="T16" fmla="*/ 821 w 833"/>
              <a:gd name="T17" fmla="*/ 0 h 199"/>
              <a:gd name="T18" fmla="*/ 817 w 833"/>
              <a:gd name="T19" fmla="*/ 0 h 199"/>
              <a:gd name="T20" fmla="*/ 820 w 833"/>
              <a:gd name="T21" fmla="*/ 10 h 199"/>
              <a:gd name="T22" fmla="*/ 821 w 833"/>
              <a:gd name="T23" fmla="*/ 21 h 199"/>
              <a:gd name="T24" fmla="*/ 823 w 833"/>
              <a:gd name="T25" fmla="*/ 31 h 199"/>
              <a:gd name="T26" fmla="*/ 825 w 833"/>
              <a:gd name="T27" fmla="*/ 41 h 199"/>
              <a:gd name="T28" fmla="*/ 826 w 833"/>
              <a:gd name="T29" fmla="*/ 53 h 199"/>
              <a:gd name="T30" fmla="*/ 828 w 833"/>
              <a:gd name="T31" fmla="*/ 64 h 199"/>
              <a:gd name="T32" fmla="*/ 828 w 833"/>
              <a:gd name="T33" fmla="*/ 74 h 199"/>
              <a:gd name="T34" fmla="*/ 828 w 833"/>
              <a:gd name="T35" fmla="*/ 86 h 199"/>
              <a:gd name="T36" fmla="*/ 833 w 833"/>
              <a:gd name="T37" fmla="*/ 84 h 199"/>
              <a:gd name="T38" fmla="*/ 0 w 833"/>
              <a:gd name="T39" fmla="*/ 109 h 199"/>
              <a:gd name="T40" fmla="*/ 2 w 833"/>
              <a:gd name="T41" fmla="*/ 121 h 199"/>
              <a:gd name="T42" fmla="*/ 2 w 833"/>
              <a:gd name="T43" fmla="*/ 132 h 199"/>
              <a:gd name="T44" fmla="*/ 3 w 833"/>
              <a:gd name="T45" fmla="*/ 144 h 199"/>
              <a:gd name="T46" fmla="*/ 5 w 833"/>
              <a:gd name="T47" fmla="*/ 155 h 199"/>
              <a:gd name="T48" fmla="*/ 5 w 833"/>
              <a:gd name="T49" fmla="*/ 165 h 199"/>
              <a:gd name="T50" fmla="*/ 8 w 833"/>
              <a:gd name="T51" fmla="*/ 177 h 199"/>
              <a:gd name="T52" fmla="*/ 10 w 833"/>
              <a:gd name="T53" fmla="*/ 187 h 199"/>
              <a:gd name="T54" fmla="*/ 12 w 833"/>
              <a:gd name="T55" fmla="*/ 199 h 199"/>
              <a:gd name="T56" fmla="*/ 17 w 833"/>
              <a:gd name="T57" fmla="*/ 199 h 199"/>
              <a:gd name="T58" fmla="*/ 15 w 833"/>
              <a:gd name="T59" fmla="*/ 187 h 199"/>
              <a:gd name="T60" fmla="*/ 13 w 833"/>
              <a:gd name="T61" fmla="*/ 177 h 199"/>
              <a:gd name="T62" fmla="*/ 10 w 833"/>
              <a:gd name="T63" fmla="*/ 165 h 199"/>
              <a:gd name="T64" fmla="*/ 8 w 833"/>
              <a:gd name="T65" fmla="*/ 154 h 199"/>
              <a:gd name="T66" fmla="*/ 8 w 833"/>
              <a:gd name="T67" fmla="*/ 142 h 199"/>
              <a:gd name="T68" fmla="*/ 7 w 833"/>
              <a:gd name="T69" fmla="*/ 131 h 199"/>
              <a:gd name="T70" fmla="*/ 5 w 833"/>
              <a:gd name="T71" fmla="*/ 119 h 199"/>
              <a:gd name="T72" fmla="*/ 5 w 833"/>
              <a:gd name="T73" fmla="*/ 107 h 199"/>
              <a:gd name="T74" fmla="*/ 0 w 833"/>
              <a:gd name="T75" fmla="*/ 10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33" h="199">
                <a:moveTo>
                  <a:pt x="833" y="84"/>
                </a:moveTo>
                <a:lnTo>
                  <a:pt x="833" y="73"/>
                </a:lnTo>
                <a:lnTo>
                  <a:pt x="831" y="63"/>
                </a:lnTo>
                <a:lnTo>
                  <a:pt x="831" y="51"/>
                </a:lnTo>
                <a:lnTo>
                  <a:pt x="830" y="41"/>
                </a:lnTo>
                <a:lnTo>
                  <a:pt x="828" y="31"/>
                </a:lnTo>
                <a:lnTo>
                  <a:pt x="826" y="20"/>
                </a:lnTo>
                <a:lnTo>
                  <a:pt x="825" y="10"/>
                </a:lnTo>
                <a:lnTo>
                  <a:pt x="821" y="0"/>
                </a:lnTo>
                <a:lnTo>
                  <a:pt x="817" y="0"/>
                </a:lnTo>
                <a:lnTo>
                  <a:pt x="820" y="10"/>
                </a:lnTo>
                <a:lnTo>
                  <a:pt x="821" y="21"/>
                </a:lnTo>
                <a:lnTo>
                  <a:pt x="823" y="31"/>
                </a:lnTo>
                <a:lnTo>
                  <a:pt x="825" y="41"/>
                </a:lnTo>
                <a:lnTo>
                  <a:pt x="826" y="53"/>
                </a:lnTo>
                <a:lnTo>
                  <a:pt x="828" y="64"/>
                </a:lnTo>
                <a:lnTo>
                  <a:pt x="828" y="74"/>
                </a:lnTo>
                <a:lnTo>
                  <a:pt x="828" y="86"/>
                </a:lnTo>
                <a:lnTo>
                  <a:pt x="833" y="84"/>
                </a:lnTo>
                <a:close/>
                <a:moveTo>
                  <a:pt x="0" y="109"/>
                </a:moveTo>
                <a:lnTo>
                  <a:pt x="2" y="121"/>
                </a:lnTo>
                <a:lnTo>
                  <a:pt x="2" y="132"/>
                </a:lnTo>
                <a:lnTo>
                  <a:pt x="3" y="144"/>
                </a:lnTo>
                <a:lnTo>
                  <a:pt x="5" y="155"/>
                </a:lnTo>
                <a:lnTo>
                  <a:pt x="5" y="165"/>
                </a:lnTo>
                <a:lnTo>
                  <a:pt x="8" y="177"/>
                </a:lnTo>
                <a:lnTo>
                  <a:pt x="10" y="187"/>
                </a:lnTo>
                <a:lnTo>
                  <a:pt x="12" y="199"/>
                </a:lnTo>
                <a:lnTo>
                  <a:pt x="17" y="199"/>
                </a:lnTo>
                <a:lnTo>
                  <a:pt x="15" y="187"/>
                </a:lnTo>
                <a:lnTo>
                  <a:pt x="13" y="177"/>
                </a:lnTo>
                <a:lnTo>
                  <a:pt x="10" y="165"/>
                </a:lnTo>
                <a:lnTo>
                  <a:pt x="8" y="154"/>
                </a:lnTo>
                <a:lnTo>
                  <a:pt x="8" y="142"/>
                </a:lnTo>
                <a:lnTo>
                  <a:pt x="7" y="131"/>
                </a:lnTo>
                <a:lnTo>
                  <a:pt x="5" y="119"/>
                </a:lnTo>
                <a:lnTo>
                  <a:pt x="5" y="107"/>
                </a:lnTo>
                <a:lnTo>
                  <a:pt x="0" y="109"/>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45" name="Freeform 1250">
            <a:extLst>
              <a:ext uri="{FF2B5EF4-FFF2-40B4-BE49-F238E27FC236}">
                <a16:creationId xmlns:a16="http://schemas.microsoft.com/office/drawing/2014/main" id="{3DB02433-35A0-0AD4-5603-DB8689BDB038}"/>
              </a:ext>
            </a:extLst>
          </p:cNvPr>
          <p:cNvSpPr>
            <a:spLocks noEditPoints="1"/>
          </p:cNvSpPr>
          <p:nvPr/>
        </p:nvSpPr>
        <p:spPr bwMode="auto">
          <a:xfrm>
            <a:off x="2257425" y="2403475"/>
            <a:ext cx="1314450" cy="315913"/>
          </a:xfrm>
          <a:custGeom>
            <a:avLst/>
            <a:gdLst>
              <a:gd name="T0" fmla="*/ 828 w 828"/>
              <a:gd name="T1" fmla="*/ 84 h 199"/>
              <a:gd name="T2" fmla="*/ 828 w 828"/>
              <a:gd name="T3" fmla="*/ 74 h 199"/>
              <a:gd name="T4" fmla="*/ 827 w 828"/>
              <a:gd name="T5" fmla="*/ 63 h 199"/>
              <a:gd name="T6" fmla="*/ 825 w 828"/>
              <a:gd name="T7" fmla="*/ 53 h 199"/>
              <a:gd name="T8" fmla="*/ 825 w 828"/>
              <a:gd name="T9" fmla="*/ 41 h 199"/>
              <a:gd name="T10" fmla="*/ 823 w 828"/>
              <a:gd name="T11" fmla="*/ 31 h 199"/>
              <a:gd name="T12" fmla="*/ 820 w 828"/>
              <a:gd name="T13" fmla="*/ 20 h 199"/>
              <a:gd name="T14" fmla="*/ 818 w 828"/>
              <a:gd name="T15" fmla="*/ 10 h 199"/>
              <a:gd name="T16" fmla="*/ 817 w 828"/>
              <a:gd name="T17" fmla="*/ 0 h 199"/>
              <a:gd name="T18" fmla="*/ 812 w 828"/>
              <a:gd name="T19" fmla="*/ 0 h 199"/>
              <a:gd name="T20" fmla="*/ 814 w 828"/>
              <a:gd name="T21" fmla="*/ 10 h 199"/>
              <a:gd name="T22" fmla="*/ 817 w 828"/>
              <a:gd name="T23" fmla="*/ 21 h 199"/>
              <a:gd name="T24" fmla="*/ 818 w 828"/>
              <a:gd name="T25" fmla="*/ 31 h 199"/>
              <a:gd name="T26" fmla="*/ 820 w 828"/>
              <a:gd name="T27" fmla="*/ 43 h 199"/>
              <a:gd name="T28" fmla="*/ 822 w 828"/>
              <a:gd name="T29" fmla="*/ 53 h 199"/>
              <a:gd name="T30" fmla="*/ 822 w 828"/>
              <a:gd name="T31" fmla="*/ 64 h 199"/>
              <a:gd name="T32" fmla="*/ 823 w 828"/>
              <a:gd name="T33" fmla="*/ 76 h 199"/>
              <a:gd name="T34" fmla="*/ 823 w 828"/>
              <a:gd name="T35" fmla="*/ 88 h 199"/>
              <a:gd name="T36" fmla="*/ 828 w 828"/>
              <a:gd name="T37" fmla="*/ 84 h 199"/>
              <a:gd name="T38" fmla="*/ 0 w 828"/>
              <a:gd name="T39" fmla="*/ 109 h 199"/>
              <a:gd name="T40" fmla="*/ 0 w 828"/>
              <a:gd name="T41" fmla="*/ 121 h 199"/>
              <a:gd name="T42" fmla="*/ 0 w 828"/>
              <a:gd name="T43" fmla="*/ 132 h 199"/>
              <a:gd name="T44" fmla="*/ 2 w 828"/>
              <a:gd name="T45" fmla="*/ 144 h 199"/>
              <a:gd name="T46" fmla="*/ 4 w 828"/>
              <a:gd name="T47" fmla="*/ 154 h 199"/>
              <a:gd name="T48" fmla="*/ 5 w 828"/>
              <a:gd name="T49" fmla="*/ 165 h 199"/>
              <a:gd name="T50" fmla="*/ 7 w 828"/>
              <a:gd name="T51" fmla="*/ 177 h 199"/>
              <a:gd name="T52" fmla="*/ 9 w 828"/>
              <a:gd name="T53" fmla="*/ 187 h 199"/>
              <a:gd name="T54" fmla="*/ 12 w 828"/>
              <a:gd name="T55" fmla="*/ 199 h 199"/>
              <a:gd name="T56" fmla="*/ 17 w 828"/>
              <a:gd name="T57" fmla="*/ 199 h 199"/>
              <a:gd name="T58" fmla="*/ 14 w 828"/>
              <a:gd name="T59" fmla="*/ 187 h 199"/>
              <a:gd name="T60" fmla="*/ 12 w 828"/>
              <a:gd name="T61" fmla="*/ 175 h 199"/>
              <a:gd name="T62" fmla="*/ 10 w 828"/>
              <a:gd name="T63" fmla="*/ 165 h 199"/>
              <a:gd name="T64" fmla="*/ 9 w 828"/>
              <a:gd name="T65" fmla="*/ 154 h 199"/>
              <a:gd name="T66" fmla="*/ 7 w 828"/>
              <a:gd name="T67" fmla="*/ 142 h 199"/>
              <a:gd name="T68" fmla="*/ 5 w 828"/>
              <a:gd name="T69" fmla="*/ 131 h 199"/>
              <a:gd name="T70" fmla="*/ 5 w 828"/>
              <a:gd name="T71" fmla="*/ 119 h 199"/>
              <a:gd name="T72" fmla="*/ 5 w 828"/>
              <a:gd name="T73" fmla="*/ 106 h 199"/>
              <a:gd name="T74" fmla="*/ 0 w 828"/>
              <a:gd name="T75" fmla="*/ 10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28" h="199">
                <a:moveTo>
                  <a:pt x="828" y="84"/>
                </a:moveTo>
                <a:lnTo>
                  <a:pt x="828" y="74"/>
                </a:lnTo>
                <a:lnTo>
                  <a:pt x="827" y="63"/>
                </a:lnTo>
                <a:lnTo>
                  <a:pt x="825" y="53"/>
                </a:lnTo>
                <a:lnTo>
                  <a:pt x="825" y="41"/>
                </a:lnTo>
                <a:lnTo>
                  <a:pt x="823" y="31"/>
                </a:lnTo>
                <a:lnTo>
                  <a:pt x="820" y="20"/>
                </a:lnTo>
                <a:lnTo>
                  <a:pt x="818" y="10"/>
                </a:lnTo>
                <a:lnTo>
                  <a:pt x="817" y="0"/>
                </a:lnTo>
                <a:lnTo>
                  <a:pt x="812" y="0"/>
                </a:lnTo>
                <a:lnTo>
                  <a:pt x="814" y="10"/>
                </a:lnTo>
                <a:lnTo>
                  <a:pt x="817" y="21"/>
                </a:lnTo>
                <a:lnTo>
                  <a:pt x="818" y="31"/>
                </a:lnTo>
                <a:lnTo>
                  <a:pt x="820" y="43"/>
                </a:lnTo>
                <a:lnTo>
                  <a:pt x="822" y="53"/>
                </a:lnTo>
                <a:lnTo>
                  <a:pt x="822" y="64"/>
                </a:lnTo>
                <a:lnTo>
                  <a:pt x="823" y="76"/>
                </a:lnTo>
                <a:lnTo>
                  <a:pt x="823" y="88"/>
                </a:lnTo>
                <a:lnTo>
                  <a:pt x="828" y="84"/>
                </a:lnTo>
                <a:close/>
                <a:moveTo>
                  <a:pt x="0" y="109"/>
                </a:moveTo>
                <a:lnTo>
                  <a:pt x="0" y="121"/>
                </a:lnTo>
                <a:lnTo>
                  <a:pt x="0" y="132"/>
                </a:lnTo>
                <a:lnTo>
                  <a:pt x="2" y="144"/>
                </a:lnTo>
                <a:lnTo>
                  <a:pt x="4" y="154"/>
                </a:lnTo>
                <a:lnTo>
                  <a:pt x="5" y="165"/>
                </a:lnTo>
                <a:lnTo>
                  <a:pt x="7" y="177"/>
                </a:lnTo>
                <a:lnTo>
                  <a:pt x="9" y="187"/>
                </a:lnTo>
                <a:lnTo>
                  <a:pt x="12" y="199"/>
                </a:lnTo>
                <a:lnTo>
                  <a:pt x="17" y="199"/>
                </a:lnTo>
                <a:lnTo>
                  <a:pt x="14" y="187"/>
                </a:lnTo>
                <a:lnTo>
                  <a:pt x="12" y="175"/>
                </a:lnTo>
                <a:lnTo>
                  <a:pt x="10" y="165"/>
                </a:lnTo>
                <a:lnTo>
                  <a:pt x="9" y="154"/>
                </a:lnTo>
                <a:lnTo>
                  <a:pt x="7" y="142"/>
                </a:lnTo>
                <a:lnTo>
                  <a:pt x="5" y="131"/>
                </a:lnTo>
                <a:lnTo>
                  <a:pt x="5" y="119"/>
                </a:lnTo>
                <a:lnTo>
                  <a:pt x="5" y="106"/>
                </a:lnTo>
                <a:lnTo>
                  <a:pt x="0" y="109"/>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46" name="Freeform 1251">
            <a:extLst>
              <a:ext uri="{FF2B5EF4-FFF2-40B4-BE49-F238E27FC236}">
                <a16:creationId xmlns:a16="http://schemas.microsoft.com/office/drawing/2014/main" id="{E325DB56-EE6F-AFC1-6CFF-4E325CF34729}"/>
              </a:ext>
            </a:extLst>
          </p:cNvPr>
          <p:cNvSpPr>
            <a:spLocks noEditPoints="1"/>
          </p:cNvSpPr>
          <p:nvPr/>
        </p:nvSpPr>
        <p:spPr bwMode="auto">
          <a:xfrm>
            <a:off x="2260600" y="2403475"/>
            <a:ext cx="1306513" cy="315913"/>
          </a:xfrm>
          <a:custGeom>
            <a:avLst/>
            <a:gdLst>
              <a:gd name="T0" fmla="*/ 823 w 823"/>
              <a:gd name="T1" fmla="*/ 86 h 199"/>
              <a:gd name="T2" fmla="*/ 823 w 823"/>
              <a:gd name="T3" fmla="*/ 74 h 199"/>
              <a:gd name="T4" fmla="*/ 823 w 823"/>
              <a:gd name="T5" fmla="*/ 64 h 199"/>
              <a:gd name="T6" fmla="*/ 821 w 823"/>
              <a:gd name="T7" fmla="*/ 53 h 199"/>
              <a:gd name="T8" fmla="*/ 820 w 823"/>
              <a:gd name="T9" fmla="*/ 41 h 199"/>
              <a:gd name="T10" fmla="*/ 818 w 823"/>
              <a:gd name="T11" fmla="*/ 31 h 199"/>
              <a:gd name="T12" fmla="*/ 816 w 823"/>
              <a:gd name="T13" fmla="*/ 21 h 199"/>
              <a:gd name="T14" fmla="*/ 815 w 823"/>
              <a:gd name="T15" fmla="*/ 10 h 199"/>
              <a:gd name="T16" fmla="*/ 812 w 823"/>
              <a:gd name="T17" fmla="*/ 0 h 199"/>
              <a:gd name="T18" fmla="*/ 807 w 823"/>
              <a:gd name="T19" fmla="*/ 0 h 199"/>
              <a:gd name="T20" fmla="*/ 810 w 823"/>
              <a:gd name="T21" fmla="*/ 10 h 199"/>
              <a:gd name="T22" fmla="*/ 812 w 823"/>
              <a:gd name="T23" fmla="*/ 21 h 199"/>
              <a:gd name="T24" fmla="*/ 813 w 823"/>
              <a:gd name="T25" fmla="*/ 31 h 199"/>
              <a:gd name="T26" fmla="*/ 815 w 823"/>
              <a:gd name="T27" fmla="*/ 43 h 199"/>
              <a:gd name="T28" fmla="*/ 816 w 823"/>
              <a:gd name="T29" fmla="*/ 54 h 199"/>
              <a:gd name="T30" fmla="*/ 818 w 823"/>
              <a:gd name="T31" fmla="*/ 66 h 199"/>
              <a:gd name="T32" fmla="*/ 818 w 823"/>
              <a:gd name="T33" fmla="*/ 76 h 199"/>
              <a:gd name="T34" fmla="*/ 820 w 823"/>
              <a:gd name="T35" fmla="*/ 88 h 199"/>
              <a:gd name="T36" fmla="*/ 823 w 823"/>
              <a:gd name="T37" fmla="*/ 86 h 199"/>
              <a:gd name="T38" fmla="*/ 0 w 823"/>
              <a:gd name="T39" fmla="*/ 107 h 199"/>
              <a:gd name="T40" fmla="*/ 0 w 823"/>
              <a:gd name="T41" fmla="*/ 119 h 199"/>
              <a:gd name="T42" fmla="*/ 2 w 823"/>
              <a:gd name="T43" fmla="*/ 131 h 199"/>
              <a:gd name="T44" fmla="*/ 3 w 823"/>
              <a:gd name="T45" fmla="*/ 142 h 199"/>
              <a:gd name="T46" fmla="*/ 3 w 823"/>
              <a:gd name="T47" fmla="*/ 154 h 199"/>
              <a:gd name="T48" fmla="*/ 5 w 823"/>
              <a:gd name="T49" fmla="*/ 165 h 199"/>
              <a:gd name="T50" fmla="*/ 8 w 823"/>
              <a:gd name="T51" fmla="*/ 177 h 199"/>
              <a:gd name="T52" fmla="*/ 10 w 823"/>
              <a:gd name="T53" fmla="*/ 187 h 199"/>
              <a:gd name="T54" fmla="*/ 12 w 823"/>
              <a:gd name="T55" fmla="*/ 199 h 199"/>
              <a:gd name="T56" fmla="*/ 17 w 823"/>
              <a:gd name="T57" fmla="*/ 199 h 199"/>
              <a:gd name="T58" fmla="*/ 15 w 823"/>
              <a:gd name="T59" fmla="*/ 187 h 199"/>
              <a:gd name="T60" fmla="*/ 12 w 823"/>
              <a:gd name="T61" fmla="*/ 175 h 199"/>
              <a:gd name="T62" fmla="*/ 10 w 823"/>
              <a:gd name="T63" fmla="*/ 164 h 199"/>
              <a:gd name="T64" fmla="*/ 8 w 823"/>
              <a:gd name="T65" fmla="*/ 152 h 199"/>
              <a:gd name="T66" fmla="*/ 7 w 823"/>
              <a:gd name="T67" fmla="*/ 141 h 199"/>
              <a:gd name="T68" fmla="*/ 7 w 823"/>
              <a:gd name="T69" fmla="*/ 129 h 199"/>
              <a:gd name="T70" fmla="*/ 5 w 823"/>
              <a:gd name="T71" fmla="*/ 117 h 199"/>
              <a:gd name="T72" fmla="*/ 5 w 823"/>
              <a:gd name="T73" fmla="*/ 106 h 199"/>
              <a:gd name="T74" fmla="*/ 0 w 823"/>
              <a:gd name="T75" fmla="*/ 107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23" h="199">
                <a:moveTo>
                  <a:pt x="823" y="86"/>
                </a:moveTo>
                <a:lnTo>
                  <a:pt x="823" y="74"/>
                </a:lnTo>
                <a:lnTo>
                  <a:pt x="823" y="64"/>
                </a:lnTo>
                <a:lnTo>
                  <a:pt x="821" y="53"/>
                </a:lnTo>
                <a:lnTo>
                  <a:pt x="820" y="41"/>
                </a:lnTo>
                <a:lnTo>
                  <a:pt x="818" y="31"/>
                </a:lnTo>
                <a:lnTo>
                  <a:pt x="816" y="21"/>
                </a:lnTo>
                <a:lnTo>
                  <a:pt x="815" y="10"/>
                </a:lnTo>
                <a:lnTo>
                  <a:pt x="812" y="0"/>
                </a:lnTo>
                <a:lnTo>
                  <a:pt x="807" y="0"/>
                </a:lnTo>
                <a:lnTo>
                  <a:pt x="810" y="10"/>
                </a:lnTo>
                <a:lnTo>
                  <a:pt x="812" y="21"/>
                </a:lnTo>
                <a:lnTo>
                  <a:pt x="813" y="31"/>
                </a:lnTo>
                <a:lnTo>
                  <a:pt x="815" y="43"/>
                </a:lnTo>
                <a:lnTo>
                  <a:pt x="816" y="54"/>
                </a:lnTo>
                <a:lnTo>
                  <a:pt x="818" y="66"/>
                </a:lnTo>
                <a:lnTo>
                  <a:pt x="818" y="76"/>
                </a:lnTo>
                <a:lnTo>
                  <a:pt x="820" y="88"/>
                </a:lnTo>
                <a:lnTo>
                  <a:pt x="823" y="86"/>
                </a:lnTo>
                <a:close/>
                <a:moveTo>
                  <a:pt x="0" y="107"/>
                </a:moveTo>
                <a:lnTo>
                  <a:pt x="0" y="119"/>
                </a:lnTo>
                <a:lnTo>
                  <a:pt x="2" y="131"/>
                </a:lnTo>
                <a:lnTo>
                  <a:pt x="3" y="142"/>
                </a:lnTo>
                <a:lnTo>
                  <a:pt x="3" y="154"/>
                </a:lnTo>
                <a:lnTo>
                  <a:pt x="5" y="165"/>
                </a:lnTo>
                <a:lnTo>
                  <a:pt x="8" y="177"/>
                </a:lnTo>
                <a:lnTo>
                  <a:pt x="10" y="187"/>
                </a:lnTo>
                <a:lnTo>
                  <a:pt x="12" y="199"/>
                </a:lnTo>
                <a:lnTo>
                  <a:pt x="17" y="199"/>
                </a:lnTo>
                <a:lnTo>
                  <a:pt x="15" y="187"/>
                </a:lnTo>
                <a:lnTo>
                  <a:pt x="12" y="175"/>
                </a:lnTo>
                <a:lnTo>
                  <a:pt x="10" y="164"/>
                </a:lnTo>
                <a:lnTo>
                  <a:pt x="8" y="152"/>
                </a:lnTo>
                <a:lnTo>
                  <a:pt x="7" y="141"/>
                </a:lnTo>
                <a:lnTo>
                  <a:pt x="7" y="129"/>
                </a:lnTo>
                <a:lnTo>
                  <a:pt x="5" y="117"/>
                </a:lnTo>
                <a:lnTo>
                  <a:pt x="5" y="106"/>
                </a:lnTo>
                <a:lnTo>
                  <a:pt x="0" y="107"/>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47" name="Freeform 1252">
            <a:extLst>
              <a:ext uri="{FF2B5EF4-FFF2-40B4-BE49-F238E27FC236}">
                <a16:creationId xmlns:a16="http://schemas.microsoft.com/office/drawing/2014/main" id="{58BEA6DF-AFF0-2EF7-1B4E-4FBB913AD14D}"/>
              </a:ext>
            </a:extLst>
          </p:cNvPr>
          <p:cNvSpPr>
            <a:spLocks noEditPoints="1"/>
          </p:cNvSpPr>
          <p:nvPr/>
        </p:nvSpPr>
        <p:spPr bwMode="auto">
          <a:xfrm>
            <a:off x="2265363" y="2403475"/>
            <a:ext cx="1298575" cy="315913"/>
          </a:xfrm>
          <a:custGeom>
            <a:avLst/>
            <a:gdLst>
              <a:gd name="T0" fmla="*/ 818 w 818"/>
              <a:gd name="T1" fmla="*/ 88 h 199"/>
              <a:gd name="T2" fmla="*/ 818 w 818"/>
              <a:gd name="T3" fmla="*/ 76 h 199"/>
              <a:gd name="T4" fmla="*/ 817 w 818"/>
              <a:gd name="T5" fmla="*/ 64 h 199"/>
              <a:gd name="T6" fmla="*/ 817 w 818"/>
              <a:gd name="T7" fmla="*/ 53 h 199"/>
              <a:gd name="T8" fmla="*/ 815 w 818"/>
              <a:gd name="T9" fmla="*/ 43 h 199"/>
              <a:gd name="T10" fmla="*/ 813 w 818"/>
              <a:gd name="T11" fmla="*/ 31 h 199"/>
              <a:gd name="T12" fmla="*/ 812 w 818"/>
              <a:gd name="T13" fmla="*/ 21 h 199"/>
              <a:gd name="T14" fmla="*/ 809 w 818"/>
              <a:gd name="T15" fmla="*/ 10 h 199"/>
              <a:gd name="T16" fmla="*/ 807 w 818"/>
              <a:gd name="T17" fmla="*/ 0 h 199"/>
              <a:gd name="T18" fmla="*/ 802 w 818"/>
              <a:gd name="T19" fmla="*/ 0 h 199"/>
              <a:gd name="T20" fmla="*/ 804 w 818"/>
              <a:gd name="T21" fmla="*/ 10 h 199"/>
              <a:gd name="T22" fmla="*/ 807 w 818"/>
              <a:gd name="T23" fmla="*/ 21 h 199"/>
              <a:gd name="T24" fmla="*/ 809 w 818"/>
              <a:gd name="T25" fmla="*/ 33 h 199"/>
              <a:gd name="T26" fmla="*/ 810 w 818"/>
              <a:gd name="T27" fmla="*/ 43 h 199"/>
              <a:gd name="T28" fmla="*/ 812 w 818"/>
              <a:gd name="T29" fmla="*/ 54 h 199"/>
              <a:gd name="T30" fmla="*/ 812 w 818"/>
              <a:gd name="T31" fmla="*/ 66 h 199"/>
              <a:gd name="T32" fmla="*/ 813 w 818"/>
              <a:gd name="T33" fmla="*/ 78 h 199"/>
              <a:gd name="T34" fmla="*/ 813 w 818"/>
              <a:gd name="T35" fmla="*/ 89 h 199"/>
              <a:gd name="T36" fmla="*/ 818 w 818"/>
              <a:gd name="T37" fmla="*/ 88 h 199"/>
              <a:gd name="T38" fmla="*/ 0 w 818"/>
              <a:gd name="T39" fmla="*/ 106 h 199"/>
              <a:gd name="T40" fmla="*/ 0 w 818"/>
              <a:gd name="T41" fmla="*/ 119 h 199"/>
              <a:gd name="T42" fmla="*/ 0 w 818"/>
              <a:gd name="T43" fmla="*/ 131 h 199"/>
              <a:gd name="T44" fmla="*/ 2 w 818"/>
              <a:gd name="T45" fmla="*/ 142 h 199"/>
              <a:gd name="T46" fmla="*/ 4 w 818"/>
              <a:gd name="T47" fmla="*/ 154 h 199"/>
              <a:gd name="T48" fmla="*/ 5 w 818"/>
              <a:gd name="T49" fmla="*/ 165 h 199"/>
              <a:gd name="T50" fmla="*/ 7 w 818"/>
              <a:gd name="T51" fmla="*/ 175 h 199"/>
              <a:gd name="T52" fmla="*/ 9 w 818"/>
              <a:gd name="T53" fmla="*/ 187 h 199"/>
              <a:gd name="T54" fmla="*/ 12 w 818"/>
              <a:gd name="T55" fmla="*/ 199 h 199"/>
              <a:gd name="T56" fmla="*/ 17 w 818"/>
              <a:gd name="T57" fmla="*/ 199 h 199"/>
              <a:gd name="T58" fmla="*/ 14 w 818"/>
              <a:gd name="T59" fmla="*/ 187 h 199"/>
              <a:gd name="T60" fmla="*/ 12 w 818"/>
              <a:gd name="T61" fmla="*/ 175 h 199"/>
              <a:gd name="T62" fmla="*/ 10 w 818"/>
              <a:gd name="T63" fmla="*/ 164 h 199"/>
              <a:gd name="T64" fmla="*/ 9 w 818"/>
              <a:gd name="T65" fmla="*/ 152 h 199"/>
              <a:gd name="T66" fmla="*/ 7 w 818"/>
              <a:gd name="T67" fmla="*/ 141 h 199"/>
              <a:gd name="T68" fmla="*/ 5 w 818"/>
              <a:gd name="T69" fmla="*/ 129 h 199"/>
              <a:gd name="T70" fmla="*/ 5 w 818"/>
              <a:gd name="T71" fmla="*/ 116 h 199"/>
              <a:gd name="T72" fmla="*/ 5 w 818"/>
              <a:gd name="T73" fmla="*/ 104 h 199"/>
              <a:gd name="T74" fmla="*/ 0 w 818"/>
              <a:gd name="T75" fmla="*/ 10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8" h="199">
                <a:moveTo>
                  <a:pt x="818" y="88"/>
                </a:moveTo>
                <a:lnTo>
                  <a:pt x="818" y="76"/>
                </a:lnTo>
                <a:lnTo>
                  <a:pt x="817" y="64"/>
                </a:lnTo>
                <a:lnTo>
                  <a:pt x="817" y="53"/>
                </a:lnTo>
                <a:lnTo>
                  <a:pt x="815" y="43"/>
                </a:lnTo>
                <a:lnTo>
                  <a:pt x="813" y="31"/>
                </a:lnTo>
                <a:lnTo>
                  <a:pt x="812" y="21"/>
                </a:lnTo>
                <a:lnTo>
                  <a:pt x="809" y="10"/>
                </a:lnTo>
                <a:lnTo>
                  <a:pt x="807" y="0"/>
                </a:lnTo>
                <a:lnTo>
                  <a:pt x="802" y="0"/>
                </a:lnTo>
                <a:lnTo>
                  <a:pt x="804" y="10"/>
                </a:lnTo>
                <a:lnTo>
                  <a:pt x="807" y="21"/>
                </a:lnTo>
                <a:lnTo>
                  <a:pt x="809" y="33"/>
                </a:lnTo>
                <a:lnTo>
                  <a:pt x="810" y="43"/>
                </a:lnTo>
                <a:lnTo>
                  <a:pt x="812" y="54"/>
                </a:lnTo>
                <a:lnTo>
                  <a:pt x="812" y="66"/>
                </a:lnTo>
                <a:lnTo>
                  <a:pt x="813" y="78"/>
                </a:lnTo>
                <a:lnTo>
                  <a:pt x="813" y="89"/>
                </a:lnTo>
                <a:lnTo>
                  <a:pt x="818" y="88"/>
                </a:lnTo>
                <a:close/>
                <a:moveTo>
                  <a:pt x="0" y="106"/>
                </a:moveTo>
                <a:lnTo>
                  <a:pt x="0" y="119"/>
                </a:lnTo>
                <a:lnTo>
                  <a:pt x="0" y="131"/>
                </a:lnTo>
                <a:lnTo>
                  <a:pt x="2" y="142"/>
                </a:lnTo>
                <a:lnTo>
                  <a:pt x="4" y="154"/>
                </a:lnTo>
                <a:lnTo>
                  <a:pt x="5" y="165"/>
                </a:lnTo>
                <a:lnTo>
                  <a:pt x="7" y="175"/>
                </a:lnTo>
                <a:lnTo>
                  <a:pt x="9" y="187"/>
                </a:lnTo>
                <a:lnTo>
                  <a:pt x="12" y="199"/>
                </a:lnTo>
                <a:lnTo>
                  <a:pt x="17" y="199"/>
                </a:lnTo>
                <a:lnTo>
                  <a:pt x="14" y="187"/>
                </a:lnTo>
                <a:lnTo>
                  <a:pt x="12" y="175"/>
                </a:lnTo>
                <a:lnTo>
                  <a:pt x="10" y="164"/>
                </a:lnTo>
                <a:lnTo>
                  <a:pt x="9" y="152"/>
                </a:lnTo>
                <a:lnTo>
                  <a:pt x="7" y="141"/>
                </a:lnTo>
                <a:lnTo>
                  <a:pt x="5" y="129"/>
                </a:lnTo>
                <a:lnTo>
                  <a:pt x="5" y="116"/>
                </a:lnTo>
                <a:lnTo>
                  <a:pt x="5" y="104"/>
                </a:lnTo>
                <a:lnTo>
                  <a:pt x="0" y="106"/>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48" name="Freeform 1253">
            <a:extLst>
              <a:ext uri="{FF2B5EF4-FFF2-40B4-BE49-F238E27FC236}">
                <a16:creationId xmlns:a16="http://schemas.microsoft.com/office/drawing/2014/main" id="{95C45E4A-FE56-9E24-D55F-C46EA30FED74}"/>
              </a:ext>
            </a:extLst>
          </p:cNvPr>
          <p:cNvSpPr>
            <a:spLocks noEditPoints="1"/>
          </p:cNvSpPr>
          <p:nvPr/>
        </p:nvSpPr>
        <p:spPr bwMode="auto">
          <a:xfrm>
            <a:off x="2268538" y="2403475"/>
            <a:ext cx="1293813" cy="315913"/>
          </a:xfrm>
          <a:custGeom>
            <a:avLst/>
            <a:gdLst>
              <a:gd name="T0" fmla="*/ 815 w 815"/>
              <a:gd name="T1" fmla="*/ 88 h 199"/>
              <a:gd name="T2" fmla="*/ 813 w 815"/>
              <a:gd name="T3" fmla="*/ 76 h 199"/>
              <a:gd name="T4" fmla="*/ 813 w 815"/>
              <a:gd name="T5" fmla="*/ 66 h 199"/>
              <a:gd name="T6" fmla="*/ 811 w 815"/>
              <a:gd name="T7" fmla="*/ 54 h 199"/>
              <a:gd name="T8" fmla="*/ 810 w 815"/>
              <a:gd name="T9" fmla="*/ 43 h 199"/>
              <a:gd name="T10" fmla="*/ 808 w 815"/>
              <a:gd name="T11" fmla="*/ 31 h 199"/>
              <a:gd name="T12" fmla="*/ 807 w 815"/>
              <a:gd name="T13" fmla="*/ 21 h 199"/>
              <a:gd name="T14" fmla="*/ 805 w 815"/>
              <a:gd name="T15" fmla="*/ 10 h 199"/>
              <a:gd name="T16" fmla="*/ 802 w 815"/>
              <a:gd name="T17" fmla="*/ 0 h 199"/>
              <a:gd name="T18" fmla="*/ 797 w 815"/>
              <a:gd name="T19" fmla="*/ 0 h 199"/>
              <a:gd name="T20" fmla="*/ 800 w 815"/>
              <a:gd name="T21" fmla="*/ 10 h 199"/>
              <a:gd name="T22" fmla="*/ 802 w 815"/>
              <a:gd name="T23" fmla="*/ 21 h 199"/>
              <a:gd name="T24" fmla="*/ 803 w 815"/>
              <a:gd name="T25" fmla="*/ 33 h 199"/>
              <a:gd name="T26" fmla="*/ 807 w 815"/>
              <a:gd name="T27" fmla="*/ 45 h 199"/>
              <a:gd name="T28" fmla="*/ 807 w 815"/>
              <a:gd name="T29" fmla="*/ 56 h 199"/>
              <a:gd name="T30" fmla="*/ 808 w 815"/>
              <a:gd name="T31" fmla="*/ 66 h 199"/>
              <a:gd name="T32" fmla="*/ 808 w 815"/>
              <a:gd name="T33" fmla="*/ 78 h 199"/>
              <a:gd name="T34" fmla="*/ 810 w 815"/>
              <a:gd name="T35" fmla="*/ 89 h 199"/>
              <a:gd name="T36" fmla="*/ 815 w 815"/>
              <a:gd name="T37" fmla="*/ 88 h 199"/>
              <a:gd name="T38" fmla="*/ 0 w 815"/>
              <a:gd name="T39" fmla="*/ 106 h 199"/>
              <a:gd name="T40" fmla="*/ 0 w 815"/>
              <a:gd name="T41" fmla="*/ 117 h 199"/>
              <a:gd name="T42" fmla="*/ 2 w 815"/>
              <a:gd name="T43" fmla="*/ 129 h 199"/>
              <a:gd name="T44" fmla="*/ 2 w 815"/>
              <a:gd name="T45" fmla="*/ 141 h 199"/>
              <a:gd name="T46" fmla="*/ 3 w 815"/>
              <a:gd name="T47" fmla="*/ 152 h 199"/>
              <a:gd name="T48" fmla="*/ 5 w 815"/>
              <a:gd name="T49" fmla="*/ 164 h 199"/>
              <a:gd name="T50" fmla="*/ 7 w 815"/>
              <a:gd name="T51" fmla="*/ 175 h 199"/>
              <a:gd name="T52" fmla="*/ 10 w 815"/>
              <a:gd name="T53" fmla="*/ 187 h 199"/>
              <a:gd name="T54" fmla="*/ 12 w 815"/>
              <a:gd name="T55" fmla="*/ 199 h 199"/>
              <a:gd name="T56" fmla="*/ 17 w 815"/>
              <a:gd name="T57" fmla="*/ 199 h 199"/>
              <a:gd name="T58" fmla="*/ 15 w 815"/>
              <a:gd name="T59" fmla="*/ 187 h 199"/>
              <a:gd name="T60" fmla="*/ 12 w 815"/>
              <a:gd name="T61" fmla="*/ 175 h 199"/>
              <a:gd name="T62" fmla="*/ 10 w 815"/>
              <a:gd name="T63" fmla="*/ 164 h 199"/>
              <a:gd name="T64" fmla="*/ 8 w 815"/>
              <a:gd name="T65" fmla="*/ 152 h 199"/>
              <a:gd name="T66" fmla="*/ 7 w 815"/>
              <a:gd name="T67" fmla="*/ 139 h 199"/>
              <a:gd name="T68" fmla="*/ 7 w 815"/>
              <a:gd name="T69" fmla="*/ 127 h 199"/>
              <a:gd name="T70" fmla="*/ 5 w 815"/>
              <a:gd name="T71" fmla="*/ 116 h 199"/>
              <a:gd name="T72" fmla="*/ 5 w 815"/>
              <a:gd name="T73" fmla="*/ 102 h 199"/>
              <a:gd name="T74" fmla="*/ 0 w 815"/>
              <a:gd name="T75" fmla="*/ 10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15" h="199">
                <a:moveTo>
                  <a:pt x="815" y="88"/>
                </a:moveTo>
                <a:lnTo>
                  <a:pt x="813" y="76"/>
                </a:lnTo>
                <a:lnTo>
                  <a:pt x="813" y="66"/>
                </a:lnTo>
                <a:lnTo>
                  <a:pt x="811" y="54"/>
                </a:lnTo>
                <a:lnTo>
                  <a:pt x="810" y="43"/>
                </a:lnTo>
                <a:lnTo>
                  <a:pt x="808" y="31"/>
                </a:lnTo>
                <a:lnTo>
                  <a:pt x="807" y="21"/>
                </a:lnTo>
                <a:lnTo>
                  <a:pt x="805" y="10"/>
                </a:lnTo>
                <a:lnTo>
                  <a:pt x="802" y="0"/>
                </a:lnTo>
                <a:lnTo>
                  <a:pt x="797" y="0"/>
                </a:lnTo>
                <a:lnTo>
                  <a:pt x="800" y="10"/>
                </a:lnTo>
                <a:lnTo>
                  <a:pt x="802" y="21"/>
                </a:lnTo>
                <a:lnTo>
                  <a:pt x="803" y="33"/>
                </a:lnTo>
                <a:lnTo>
                  <a:pt x="807" y="45"/>
                </a:lnTo>
                <a:lnTo>
                  <a:pt x="807" y="56"/>
                </a:lnTo>
                <a:lnTo>
                  <a:pt x="808" y="66"/>
                </a:lnTo>
                <a:lnTo>
                  <a:pt x="808" y="78"/>
                </a:lnTo>
                <a:lnTo>
                  <a:pt x="810" y="89"/>
                </a:lnTo>
                <a:lnTo>
                  <a:pt x="815" y="88"/>
                </a:lnTo>
                <a:close/>
                <a:moveTo>
                  <a:pt x="0" y="106"/>
                </a:moveTo>
                <a:lnTo>
                  <a:pt x="0" y="117"/>
                </a:lnTo>
                <a:lnTo>
                  <a:pt x="2" y="129"/>
                </a:lnTo>
                <a:lnTo>
                  <a:pt x="2" y="141"/>
                </a:lnTo>
                <a:lnTo>
                  <a:pt x="3" y="152"/>
                </a:lnTo>
                <a:lnTo>
                  <a:pt x="5" y="164"/>
                </a:lnTo>
                <a:lnTo>
                  <a:pt x="7" y="175"/>
                </a:lnTo>
                <a:lnTo>
                  <a:pt x="10" y="187"/>
                </a:lnTo>
                <a:lnTo>
                  <a:pt x="12" y="199"/>
                </a:lnTo>
                <a:lnTo>
                  <a:pt x="17" y="199"/>
                </a:lnTo>
                <a:lnTo>
                  <a:pt x="15" y="187"/>
                </a:lnTo>
                <a:lnTo>
                  <a:pt x="12" y="175"/>
                </a:lnTo>
                <a:lnTo>
                  <a:pt x="10" y="164"/>
                </a:lnTo>
                <a:lnTo>
                  <a:pt x="8" y="152"/>
                </a:lnTo>
                <a:lnTo>
                  <a:pt x="7" y="139"/>
                </a:lnTo>
                <a:lnTo>
                  <a:pt x="7" y="127"/>
                </a:lnTo>
                <a:lnTo>
                  <a:pt x="5" y="116"/>
                </a:lnTo>
                <a:lnTo>
                  <a:pt x="5" y="102"/>
                </a:lnTo>
                <a:lnTo>
                  <a:pt x="0" y="106"/>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49" name="Freeform 1254">
            <a:extLst>
              <a:ext uri="{FF2B5EF4-FFF2-40B4-BE49-F238E27FC236}">
                <a16:creationId xmlns:a16="http://schemas.microsoft.com/office/drawing/2014/main" id="{F5C23FE7-AF21-06D9-1B71-9027F8EA17AD}"/>
              </a:ext>
            </a:extLst>
          </p:cNvPr>
          <p:cNvSpPr>
            <a:spLocks noEditPoints="1"/>
          </p:cNvSpPr>
          <p:nvPr/>
        </p:nvSpPr>
        <p:spPr bwMode="auto">
          <a:xfrm>
            <a:off x="2273300" y="2403475"/>
            <a:ext cx="1282700" cy="315913"/>
          </a:xfrm>
          <a:custGeom>
            <a:avLst/>
            <a:gdLst>
              <a:gd name="T0" fmla="*/ 808 w 808"/>
              <a:gd name="T1" fmla="*/ 89 h 199"/>
              <a:gd name="T2" fmla="*/ 808 w 808"/>
              <a:gd name="T3" fmla="*/ 78 h 199"/>
              <a:gd name="T4" fmla="*/ 807 w 808"/>
              <a:gd name="T5" fmla="*/ 66 h 199"/>
              <a:gd name="T6" fmla="*/ 807 w 808"/>
              <a:gd name="T7" fmla="*/ 54 h 199"/>
              <a:gd name="T8" fmla="*/ 805 w 808"/>
              <a:gd name="T9" fmla="*/ 43 h 199"/>
              <a:gd name="T10" fmla="*/ 804 w 808"/>
              <a:gd name="T11" fmla="*/ 33 h 199"/>
              <a:gd name="T12" fmla="*/ 802 w 808"/>
              <a:gd name="T13" fmla="*/ 21 h 199"/>
              <a:gd name="T14" fmla="*/ 799 w 808"/>
              <a:gd name="T15" fmla="*/ 10 h 199"/>
              <a:gd name="T16" fmla="*/ 797 w 808"/>
              <a:gd name="T17" fmla="*/ 0 h 199"/>
              <a:gd name="T18" fmla="*/ 792 w 808"/>
              <a:gd name="T19" fmla="*/ 0 h 199"/>
              <a:gd name="T20" fmla="*/ 794 w 808"/>
              <a:gd name="T21" fmla="*/ 11 h 199"/>
              <a:gd name="T22" fmla="*/ 797 w 808"/>
              <a:gd name="T23" fmla="*/ 21 h 199"/>
              <a:gd name="T24" fmla="*/ 799 w 808"/>
              <a:gd name="T25" fmla="*/ 33 h 199"/>
              <a:gd name="T26" fmla="*/ 800 w 808"/>
              <a:gd name="T27" fmla="*/ 45 h 199"/>
              <a:gd name="T28" fmla="*/ 802 w 808"/>
              <a:gd name="T29" fmla="*/ 56 h 199"/>
              <a:gd name="T30" fmla="*/ 804 w 808"/>
              <a:gd name="T31" fmla="*/ 68 h 199"/>
              <a:gd name="T32" fmla="*/ 804 w 808"/>
              <a:gd name="T33" fmla="*/ 79 h 199"/>
              <a:gd name="T34" fmla="*/ 804 w 808"/>
              <a:gd name="T35" fmla="*/ 91 h 199"/>
              <a:gd name="T36" fmla="*/ 808 w 808"/>
              <a:gd name="T37" fmla="*/ 89 h 199"/>
              <a:gd name="T38" fmla="*/ 0 w 808"/>
              <a:gd name="T39" fmla="*/ 104 h 199"/>
              <a:gd name="T40" fmla="*/ 0 w 808"/>
              <a:gd name="T41" fmla="*/ 116 h 199"/>
              <a:gd name="T42" fmla="*/ 0 w 808"/>
              <a:gd name="T43" fmla="*/ 129 h 199"/>
              <a:gd name="T44" fmla="*/ 2 w 808"/>
              <a:gd name="T45" fmla="*/ 141 h 199"/>
              <a:gd name="T46" fmla="*/ 4 w 808"/>
              <a:gd name="T47" fmla="*/ 152 h 199"/>
              <a:gd name="T48" fmla="*/ 5 w 808"/>
              <a:gd name="T49" fmla="*/ 164 h 199"/>
              <a:gd name="T50" fmla="*/ 7 w 808"/>
              <a:gd name="T51" fmla="*/ 175 h 199"/>
              <a:gd name="T52" fmla="*/ 9 w 808"/>
              <a:gd name="T53" fmla="*/ 187 h 199"/>
              <a:gd name="T54" fmla="*/ 12 w 808"/>
              <a:gd name="T55" fmla="*/ 199 h 199"/>
              <a:gd name="T56" fmla="*/ 17 w 808"/>
              <a:gd name="T57" fmla="*/ 199 h 199"/>
              <a:gd name="T58" fmla="*/ 14 w 808"/>
              <a:gd name="T59" fmla="*/ 187 h 199"/>
              <a:gd name="T60" fmla="*/ 12 w 808"/>
              <a:gd name="T61" fmla="*/ 175 h 199"/>
              <a:gd name="T62" fmla="*/ 9 w 808"/>
              <a:gd name="T63" fmla="*/ 164 h 199"/>
              <a:gd name="T64" fmla="*/ 7 w 808"/>
              <a:gd name="T65" fmla="*/ 151 h 199"/>
              <a:gd name="T66" fmla="*/ 7 w 808"/>
              <a:gd name="T67" fmla="*/ 139 h 199"/>
              <a:gd name="T68" fmla="*/ 5 w 808"/>
              <a:gd name="T69" fmla="*/ 127 h 199"/>
              <a:gd name="T70" fmla="*/ 5 w 808"/>
              <a:gd name="T71" fmla="*/ 114 h 199"/>
              <a:gd name="T72" fmla="*/ 4 w 808"/>
              <a:gd name="T73" fmla="*/ 102 h 199"/>
              <a:gd name="T74" fmla="*/ 0 w 808"/>
              <a:gd name="T75" fmla="*/ 10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08" h="199">
                <a:moveTo>
                  <a:pt x="808" y="89"/>
                </a:moveTo>
                <a:lnTo>
                  <a:pt x="808" y="78"/>
                </a:lnTo>
                <a:lnTo>
                  <a:pt x="807" y="66"/>
                </a:lnTo>
                <a:lnTo>
                  <a:pt x="807" y="54"/>
                </a:lnTo>
                <a:lnTo>
                  <a:pt x="805" y="43"/>
                </a:lnTo>
                <a:lnTo>
                  <a:pt x="804" y="33"/>
                </a:lnTo>
                <a:lnTo>
                  <a:pt x="802" y="21"/>
                </a:lnTo>
                <a:lnTo>
                  <a:pt x="799" y="10"/>
                </a:lnTo>
                <a:lnTo>
                  <a:pt x="797" y="0"/>
                </a:lnTo>
                <a:lnTo>
                  <a:pt x="792" y="0"/>
                </a:lnTo>
                <a:lnTo>
                  <a:pt x="794" y="11"/>
                </a:lnTo>
                <a:lnTo>
                  <a:pt x="797" y="21"/>
                </a:lnTo>
                <a:lnTo>
                  <a:pt x="799" y="33"/>
                </a:lnTo>
                <a:lnTo>
                  <a:pt x="800" y="45"/>
                </a:lnTo>
                <a:lnTo>
                  <a:pt x="802" y="56"/>
                </a:lnTo>
                <a:lnTo>
                  <a:pt x="804" y="68"/>
                </a:lnTo>
                <a:lnTo>
                  <a:pt x="804" y="79"/>
                </a:lnTo>
                <a:lnTo>
                  <a:pt x="804" y="91"/>
                </a:lnTo>
                <a:lnTo>
                  <a:pt x="808" y="89"/>
                </a:lnTo>
                <a:close/>
                <a:moveTo>
                  <a:pt x="0" y="104"/>
                </a:moveTo>
                <a:lnTo>
                  <a:pt x="0" y="116"/>
                </a:lnTo>
                <a:lnTo>
                  <a:pt x="0" y="129"/>
                </a:lnTo>
                <a:lnTo>
                  <a:pt x="2" y="141"/>
                </a:lnTo>
                <a:lnTo>
                  <a:pt x="4" y="152"/>
                </a:lnTo>
                <a:lnTo>
                  <a:pt x="5" y="164"/>
                </a:lnTo>
                <a:lnTo>
                  <a:pt x="7" y="175"/>
                </a:lnTo>
                <a:lnTo>
                  <a:pt x="9" y="187"/>
                </a:lnTo>
                <a:lnTo>
                  <a:pt x="12" y="199"/>
                </a:lnTo>
                <a:lnTo>
                  <a:pt x="17" y="199"/>
                </a:lnTo>
                <a:lnTo>
                  <a:pt x="14" y="187"/>
                </a:lnTo>
                <a:lnTo>
                  <a:pt x="12" y="175"/>
                </a:lnTo>
                <a:lnTo>
                  <a:pt x="9" y="164"/>
                </a:lnTo>
                <a:lnTo>
                  <a:pt x="7" y="151"/>
                </a:lnTo>
                <a:lnTo>
                  <a:pt x="7" y="139"/>
                </a:lnTo>
                <a:lnTo>
                  <a:pt x="5" y="127"/>
                </a:lnTo>
                <a:lnTo>
                  <a:pt x="5" y="114"/>
                </a:lnTo>
                <a:lnTo>
                  <a:pt x="4" y="102"/>
                </a:lnTo>
                <a:lnTo>
                  <a:pt x="0" y="104"/>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50" name="Freeform 1255">
            <a:extLst>
              <a:ext uri="{FF2B5EF4-FFF2-40B4-BE49-F238E27FC236}">
                <a16:creationId xmlns:a16="http://schemas.microsoft.com/office/drawing/2014/main" id="{FA21D3C5-7D5B-CB4C-87FE-F30A457097E6}"/>
              </a:ext>
            </a:extLst>
          </p:cNvPr>
          <p:cNvSpPr>
            <a:spLocks noEditPoints="1"/>
          </p:cNvSpPr>
          <p:nvPr/>
        </p:nvSpPr>
        <p:spPr bwMode="auto">
          <a:xfrm>
            <a:off x="2276475" y="2403475"/>
            <a:ext cx="1277938" cy="315913"/>
          </a:xfrm>
          <a:custGeom>
            <a:avLst/>
            <a:gdLst>
              <a:gd name="T0" fmla="*/ 805 w 805"/>
              <a:gd name="T1" fmla="*/ 89 h 199"/>
              <a:gd name="T2" fmla="*/ 803 w 805"/>
              <a:gd name="T3" fmla="*/ 78 h 199"/>
              <a:gd name="T4" fmla="*/ 803 w 805"/>
              <a:gd name="T5" fmla="*/ 66 h 199"/>
              <a:gd name="T6" fmla="*/ 802 w 805"/>
              <a:gd name="T7" fmla="*/ 56 h 199"/>
              <a:gd name="T8" fmla="*/ 802 w 805"/>
              <a:gd name="T9" fmla="*/ 45 h 199"/>
              <a:gd name="T10" fmla="*/ 798 w 805"/>
              <a:gd name="T11" fmla="*/ 33 h 199"/>
              <a:gd name="T12" fmla="*/ 797 w 805"/>
              <a:gd name="T13" fmla="*/ 21 h 199"/>
              <a:gd name="T14" fmla="*/ 795 w 805"/>
              <a:gd name="T15" fmla="*/ 10 h 199"/>
              <a:gd name="T16" fmla="*/ 792 w 805"/>
              <a:gd name="T17" fmla="*/ 0 h 199"/>
              <a:gd name="T18" fmla="*/ 787 w 805"/>
              <a:gd name="T19" fmla="*/ 0 h 199"/>
              <a:gd name="T20" fmla="*/ 790 w 805"/>
              <a:gd name="T21" fmla="*/ 11 h 199"/>
              <a:gd name="T22" fmla="*/ 792 w 805"/>
              <a:gd name="T23" fmla="*/ 21 h 199"/>
              <a:gd name="T24" fmla="*/ 795 w 805"/>
              <a:gd name="T25" fmla="*/ 33 h 199"/>
              <a:gd name="T26" fmla="*/ 797 w 805"/>
              <a:gd name="T27" fmla="*/ 45 h 199"/>
              <a:gd name="T28" fmla="*/ 798 w 805"/>
              <a:gd name="T29" fmla="*/ 56 h 199"/>
              <a:gd name="T30" fmla="*/ 798 w 805"/>
              <a:gd name="T31" fmla="*/ 68 h 199"/>
              <a:gd name="T32" fmla="*/ 800 w 805"/>
              <a:gd name="T33" fmla="*/ 81 h 199"/>
              <a:gd name="T34" fmla="*/ 800 w 805"/>
              <a:gd name="T35" fmla="*/ 93 h 199"/>
              <a:gd name="T36" fmla="*/ 805 w 805"/>
              <a:gd name="T37" fmla="*/ 89 h 199"/>
              <a:gd name="T38" fmla="*/ 0 w 805"/>
              <a:gd name="T39" fmla="*/ 102 h 199"/>
              <a:gd name="T40" fmla="*/ 0 w 805"/>
              <a:gd name="T41" fmla="*/ 116 h 199"/>
              <a:gd name="T42" fmla="*/ 2 w 805"/>
              <a:gd name="T43" fmla="*/ 127 h 199"/>
              <a:gd name="T44" fmla="*/ 2 w 805"/>
              <a:gd name="T45" fmla="*/ 139 h 199"/>
              <a:gd name="T46" fmla="*/ 3 w 805"/>
              <a:gd name="T47" fmla="*/ 152 h 199"/>
              <a:gd name="T48" fmla="*/ 5 w 805"/>
              <a:gd name="T49" fmla="*/ 164 h 199"/>
              <a:gd name="T50" fmla="*/ 7 w 805"/>
              <a:gd name="T51" fmla="*/ 175 h 199"/>
              <a:gd name="T52" fmla="*/ 10 w 805"/>
              <a:gd name="T53" fmla="*/ 187 h 199"/>
              <a:gd name="T54" fmla="*/ 12 w 805"/>
              <a:gd name="T55" fmla="*/ 199 h 199"/>
              <a:gd name="T56" fmla="*/ 17 w 805"/>
              <a:gd name="T57" fmla="*/ 199 h 199"/>
              <a:gd name="T58" fmla="*/ 15 w 805"/>
              <a:gd name="T59" fmla="*/ 187 h 199"/>
              <a:gd name="T60" fmla="*/ 12 w 805"/>
              <a:gd name="T61" fmla="*/ 175 h 199"/>
              <a:gd name="T62" fmla="*/ 10 w 805"/>
              <a:gd name="T63" fmla="*/ 162 h 199"/>
              <a:gd name="T64" fmla="*/ 8 w 805"/>
              <a:gd name="T65" fmla="*/ 151 h 199"/>
              <a:gd name="T66" fmla="*/ 7 w 805"/>
              <a:gd name="T67" fmla="*/ 139 h 199"/>
              <a:gd name="T68" fmla="*/ 5 w 805"/>
              <a:gd name="T69" fmla="*/ 126 h 199"/>
              <a:gd name="T70" fmla="*/ 5 w 805"/>
              <a:gd name="T71" fmla="*/ 114 h 199"/>
              <a:gd name="T72" fmla="*/ 5 w 805"/>
              <a:gd name="T73" fmla="*/ 101 h 199"/>
              <a:gd name="T74" fmla="*/ 0 w 805"/>
              <a:gd name="T75" fmla="*/ 10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05" h="199">
                <a:moveTo>
                  <a:pt x="805" y="89"/>
                </a:moveTo>
                <a:lnTo>
                  <a:pt x="803" y="78"/>
                </a:lnTo>
                <a:lnTo>
                  <a:pt x="803" y="66"/>
                </a:lnTo>
                <a:lnTo>
                  <a:pt x="802" y="56"/>
                </a:lnTo>
                <a:lnTo>
                  <a:pt x="802" y="45"/>
                </a:lnTo>
                <a:lnTo>
                  <a:pt x="798" y="33"/>
                </a:lnTo>
                <a:lnTo>
                  <a:pt x="797" y="21"/>
                </a:lnTo>
                <a:lnTo>
                  <a:pt x="795" y="10"/>
                </a:lnTo>
                <a:lnTo>
                  <a:pt x="792" y="0"/>
                </a:lnTo>
                <a:lnTo>
                  <a:pt x="787" y="0"/>
                </a:lnTo>
                <a:lnTo>
                  <a:pt x="790" y="11"/>
                </a:lnTo>
                <a:lnTo>
                  <a:pt x="792" y="21"/>
                </a:lnTo>
                <a:lnTo>
                  <a:pt x="795" y="33"/>
                </a:lnTo>
                <a:lnTo>
                  <a:pt x="797" y="45"/>
                </a:lnTo>
                <a:lnTo>
                  <a:pt x="798" y="56"/>
                </a:lnTo>
                <a:lnTo>
                  <a:pt x="798" y="68"/>
                </a:lnTo>
                <a:lnTo>
                  <a:pt x="800" y="81"/>
                </a:lnTo>
                <a:lnTo>
                  <a:pt x="800" y="93"/>
                </a:lnTo>
                <a:lnTo>
                  <a:pt x="805" y="89"/>
                </a:lnTo>
                <a:close/>
                <a:moveTo>
                  <a:pt x="0" y="102"/>
                </a:moveTo>
                <a:lnTo>
                  <a:pt x="0" y="116"/>
                </a:lnTo>
                <a:lnTo>
                  <a:pt x="2" y="127"/>
                </a:lnTo>
                <a:lnTo>
                  <a:pt x="2" y="139"/>
                </a:lnTo>
                <a:lnTo>
                  <a:pt x="3" y="152"/>
                </a:lnTo>
                <a:lnTo>
                  <a:pt x="5" y="164"/>
                </a:lnTo>
                <a:lnTo>
                  <a:pt x="7" y="175"/>
                </a:lnTo>
                <a:lnTo>
                  <a:pt x="10" y="187"/>
                </a:lnTo>
                <a:lnTo>
                  <a:pt x="12" y="199"/>
                </a:lnTo>
                <a:lnTo>
                  <a:pt x="17" y="199"/>
                </a:lnTo>
                <a:lnTo>
                  <a:pt x="15" y="187"/>
                </a:lnTo>
                <a:lnTo>
                  <a:pt x="12" y="175"/>
                </a:lnTo>
                <a:lnTo>
                  <a:pt x="10" y="162"/>
                </a:lnTo>
                <a:lnTo>
                  <a:pt x="8" y="151"/>
                </a:lnTo>
                <a:lnTo>
                  <a:pt x="7" y="139"/>
                </a:lnTo>
                <a:lnTo>
                  <a:pt x="5" y="126"/>
                </a:lnTo>
                <a:lnTo>
                  <a:pt x="5" y="114"/>
                </a:lnTo>
                <a:lnTo>
                  <a:pt x="5" y="101"/>
                </a:lnTo>
                <a:lnTo>
                  <a:pt x="0" y="102"/>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51" name="Freeform 1256">
            <a:extLst>
              <a:ext uri="{FF2B5EF4-FFF2-40B4-BE49-F238E27FC236}">
                <a16:creationId xmlns:a16="http://schemas.microsoft.com/office/drawing/2014/main" id="{3622E6D5-4C05-7A7C-5DE8-30AA18C6B2A8}"/>
              </a:ext>
            </a:extLst>
          </p:cNvPr>
          <p:cNvSpPr>
            <a:spLocks noEditPoints="1"/>
          </p:cNvSpPr>
          <p:nvPr/>
        </p:nvSpPr>
        <p:spPr bwMode="auto">
          <a:xfrm>
            <a:off x="2279650" y="2403475"/>
            <a:ext cx="1270000" cy="315913"/>
          </a:xfrm>
          <a:custGeom>
            <a:avLst/>
            <a:gdLst>
              <a:gd name="T0" fmla="*/ 800 w 800"/>
              <a:gd name="T1" fmla="*/ 91 h 199"/>
              <a:gd name="T2" fmla="*/ 800 w 800"/>
              <a:gd name="T3" fmla="*/ 79 h 199"/>
              <a:gd name="T4" fmla="*/ 800 w 800"/>
              <a:gd name="T5" fmla="*/ 68 h 199"/>
              <a:gd name="T6" fmla="*/ 798 w 800"/>
              <a:gd name="T7" fmla="*/ 56 h 199"/>
              <a:gd name="T8" fmla="*/ 796 w 800"/>
              <a:gd name="T9" fmla="*/ 45 h 199"/>
              <a:gd name="T10" fmla="*/ 795 w 800"/>
              <a:gd name="T11" fmla="*/ 33 h 199"/>
              <a:gd name="T12" fmla="*/ 793 w 800"/>
              <a:gd name="T13" fmla="*/ 21 h 199"/>
              <a:gd name="T14" fmla="*/ 790 w 800"/>
              <a:gd name="T15" fmla="*/ 11 h 199"/>
              <a:gd name="T16" fmla="*/ 788 w 800"/>
              <a:gd name="T17" fmla="*/ 0 h 199"/>
              <a:gd name="T18" fmla="*/ 783 w 800"/>
              <a:gd name="T19" fmla="*/ 0 h 199"/>
              <a:gd name="T20" fmla="*/ 785 w 800"/>
              <a:gd name="T21" fmla="*/ 11 h 199"/>
              <a:gd name="T22" fmla="*/ 788 w 800"/>
              <a:gd name="T23" fmla="*/ 23 h 199"/>
              <a:gd name="T24" fmla="*/ 790 w 800"/>
              <a:gd name="T25" fmla="*/ 35 h 199"/>
              <a:gd name="T26" fmla="*/ 791 w 800"/>
              <a:gd name="T27" fmla="*/ 46 h 199"/>
              <a:gd name="T28" fmla="*/ 793 w 800"/>
              <a:gd name="T29" fmla="*/ 58 h 199"/>
              <a:gd name="T30" fmla="*/ 795 w 800"/>
              <a:gd name="T31" fmla="*/ 69 h 199"/>
              <a:gd name="T32" fmla="*/ 795 w 800"/>
              <a:gd name="T33" fmla="*/ 81 h 199"/>
              <a:gd name="T34" fmla="*/ 795 w 800"/>
              <a:gd name="T35" fmla="*/ 93 h 199"/>
              <a:gd name="T36" fmla="*/ 800 w 800"/>
              <a:gd name="T37" fmla="*/ 91 h 199"/>
              <a:gd name="T38" fmla="*/ 0 w 800"/>
              <a:gd name="T39" fmla="*/ 102 h 199"/>
              <a:gd name="T40" fmla="*/ 1 w 800"/>
              <a:gd name="T41" fmla="*/ 114 h 199"/>
              <a:gd name="T42" fmla="*/ 1 w 800"/>
              <a:gd name="T43" fmla="*/ 127 h 199"/>
              <a:gd name="T44" fmla="*/ 3 w 800"/>
              <a:gd name="T45" fmla="*/ 139 h 199"/>
              <a:gd name="T46" fmla="*/ 3 w 800"/>
              <a:gd name="T47" fmla="*/ 151 h 199"/>
              <a:gd name="T48" fmla="*/ 5 w 800"/>
              <a:gd name="T49" fmla="*/ 164 h 199"/>
              <a:gd name="T50" fmla="*/ 8 w 800"/>
              <a:gd name="T51" fmla="*/ 175 h 199"/>
              <a:gd name="T52" fmla="*/ 10 w 800"/>
              <a:gd name="T53" fmla="*/ 187 h 199"/>
              <a:gd name="T54" fmla="*/ 13 w 800"/>
              <a:gd name="T55" fmla="*/ 199 h 199"/>
              <a:gd name="T56" fmla="*/ 18 w 800"/>
              <a:gd name="T57" fmla="*/ 199 h 199"/>
              <a:gd name="T58" fmla="*/ 15 w 800"/>
              <a:gd name="T59" fmla="*/ 187 h 199"/>
              <a:gd name="T60" fmla="*/ 13 w 800"/>
              <a:gd name="T61" fmla="*/ 174 h 199"/>
              <a:gd name="T62" fmla="*/ 10 w 800"/>
              <a:gd name="T63" fmla="*/ 162 h 199"/>
              <a:gd name="T64" fmla="*/ 8 w 800"/>
              <a:gd name="T65" fmla="*/ 151 h 199"/>
              <a:gd name="T66" fmla="*/ 6 w 800"/>
              <a:gd name="T67" fmla="*/ 137 h 199"/>
              <a:gd name="T68" fmla="*/ 6 w 800"/>
              <a:gd name="T69" fmla="*/ 126 h 199"/>
              <a:gd name="T70" fmla="*/ 5 w 800"/>
              <a:gd name="T71" fmla="*/ 112 h 199"/>
              <a:gd name="T72" fmla="*/ 5 w 800"/>
              <a:gd name="T73" fmla="*/ 99 h 199"/>
              <a:gd name="T74" fmla="*/ 0 w 800"/>
              <a:gd name="T75" fmla="*/ 10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00" h="199">
                <a:moveTo>
                  <a:pt x="800" y="91"/>
                </a:moveTo>
                <a:lnTo>
                  <a:pt x="800" y="79"/>
                </a:lnTo>
                <a:lnTo>
                  <a:pt x="800" y="68"/>
                </a:lnTo>
                <a:lnTo>
                  <a:pt x="798" y="56"/>
                </a:lnTo>
                <a:lnTo>
                  <a:pt x="796" y="45"/>
                </a:lnTo>
                <a:lnTo>
                  <a:pt x="795" y="33"/>
                </a:lnTo>
                <a:lnTo>
                  <a:pt x="793" y="21"/>
                </a:lnTo>
                <a:lnTo>
                  <a:pt x="790" y="11"/>
                </a:lnTo>
                <a:lnTo>
                  <a:pt x="788" y="0"/>
                </a:lnTo>
                <a:lnTo>
                  <a:pt x="783" y="0"/>
                </a:lnTo>
                <a:lnTo>
                  <a:pt x="785" y="11"/>
                </a:lnTo>
                <a:lnTo>
                  <a:pt x="788" y="23"/>
                </a:lnTo>
                <a:lnTo>
                  <a:pt x="790" y="35"/>
                </a:lnTo>
                <a:lnTo>
                  <a:pt x="791" y="46"/>
                </a:lnTo>
                <a:lnTo>
                  <a:pt x="793" y="58"/>
                </a:lnTo>
                <a:lnTo>
                  <a:pt x="795" y="69"/>
                </a:lnTo>
                <a:lnTo>
                  <a:pt x="795" y="81"/>
                </a:lnTo>
                <a:lnTo>
                  <a:pt x="795" y="93"/>
                </a:lnTo>
                <a:lnTo>
                  <a:pt x="800" y="91"/>
                </a:lnTo>
                <a:close/>
                <a:moveTo>
                  <a:pt x="0" y="102"/>
                </a:moveTo>
                <a:lnTo>
                  <a:pt x="1" y="114"/>
                </a:lnTo>
                <a:lnTo>
                  <a:pt x="1" y="127"/>
                </a:lnTo>
                <a:lnTo>
                  <a:pt x="3" y="139"/>
                </a:lnTo>
                <a:lnTo>
                  <a:pt x="3" y="151"/>
                </a:lnTo>
                <a:lnTo>
                  <a:pt x="5" y="164"/>
                </a:lnTo>
                <a:lnTo>
                  <a:pt x="8" y="175"/>
                </a:lnTo>
                <a:lnTo>
                  <a:pt x="10" y="187"/>
                </a:lnTo>
                <a:lnTo>
                  <a:pt x="13" y="199"/>
                </a:lnTo>
                <a:lnTo>
                  <a:pt x="18" y="199"/>
                </a:lnTo>
                <a:lnTo>
                  <a:pt x="15" y="187"/>
                </a:lnTo>
                <a:lnTo>
                  <a:pt x="13" y="174"/>
                </a:lnTo>
                <a:lnTo>
                  <a:pt x="10" y="162"/>
                </a:lnTo>
                <a:lnTo>
                  <a:pt x="8" y="151"/>
                </a:lnTo>
                <a:lnTo>
                  <a:pt x="6" y="137"/>
                </a:lnTo>
                <a:lnTo>
                  <a:pt x="6" y="126"/>
                </a:lnTo>
                <a:lnTo>
                  <a:pt x="5" y="112"/>
                </a:lnTo>
                <a:lnTo>
                  <a:pt x="5" y="99"/>
                </a:lnTo>
                <a:lnTo>
                  <a:pt x="0" y="102"/>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52" name="Freeform 1257">
            <a:extLst>
              <a:ext uri="{FF2B5EF4-FFF2-40B4-BE49-F238E27FC236}">
                <a16:creationId xmlns:a16="http://schemas.microsoft.com/office/drawing/2014/main" id="{BF87CBF0-D6A2-D575-E324-62629F406F5C}"/>
              </a:ext>
            </a:extLst>
          </p:cNvPr>
          <p:cNvSpPr>
            <a:spLocks noEditPoints="1"/>
          </p:cNvSpPr>
          <p:nvPr/>
        </p:nvSpPr>
        <p:spPr bwMode="auto">
          <a:xfrm>
            <a:off x="2284413" y="2403475"/>
            <a:ext cx="1262063" cy="315913"/>
          </a:xfrm>
          <a:custGeom>
            <a:avLst/>
            <a:gdLst>
              <a:gd name="T0" fmla="*/ 795 w 795"/>
              <a:gd name="T1" fmla="*/ 93 h 199"/>
              <a:gd name="T2" fmla="*/ 795 w 795"/>
              <a:gd name="T3" fmla="*/ 81 h 199"/>
              <a:gd name="T4" fmla="*/ 793 w 795"/>
              <a:gd name="T5" fmla="*/ 68 h 199"/>
              <a:gd name="T6" fmla="*/ 793 w 795"/>
              <a:gd name="T7" fmla="*/ 56 h 199"/>
              <a:gd name="T8" fmla="*/ 792 w 795"/>
              <a:gd name="T9" fmla="*/ 45 h 199"/>
              <a:gd name="T10" fmla="*/ 790 w 795"/>
              <a:gd name="T11" fmla="*/ 33 h 199"/>
              <a:gd name="T12" fmla="*/ 787 w 795"/>
              <a:gd name="T13" fmla="*/ 21 h 199"/>
              <a:gd name="T14" fmla="*/ 785 w 795"/>
              <a:gd name="T15" fmla="*/ 11 h 199"/>
              <a:gd name="T16" fmla="*/ 782 w 795"/>
              <a:gd name="T17" fmla="*/ 0 h 199"/>
              <a:gd name="T18" fmla="*/ 777 w 795"/>
              <a:gd name="T19" fmla="*/ 0 h 199"/>
              <a:gd name="T20" fmla="*/ 780 w 795"/>
              <a:gd name="T21" fmla="*/ 11 h 199"/>
              <a:gd name="T22" fmla="*/ 782 w 795"/>
              <a:gd name="T23" fmla="*/ 23 h 199"/>
              <a:gd name="T24" fmla="*/ 785 w 795"/>
              <a:gd name="T25" fmla="*/ 35 h 199"/>
              <a:gd name="T26" fmla="*/ 787 w 795"/>
              <a:gd name="T27" fmla="*/ 46 h 199"/>
              <a:gd name="T28" fmla="*/ 788 w 795"/>
              <a:gd name="T29" fmla="*/ 58 h 199"/>
              <a:gd name="T30" fmla="*/ 788 w 795"/>
              <a:gd name="T31" fmla="*/ 69 h 199"/>
              <a:gd name="T32" fmla="*/ 790 w 795"/>
              <a:gd name="T33" fmla="*/ 83 h 199"/>
              <a:gd name="T34" fmla="*/ 790 w 795"/>
              <a:gd name="T35" fmla="*/ 94 h 199"/>
              <a:gd name="T36" fmla="*/ 795 w 795"/>
              <a:gd name="T37" fmla="*/ 93 h 199"/>
              <a:gd name="T38" fmla="*/ 0 w 795"/>
              <a:gd name="T39" fmla="*/ 101 h 199"/>
              <a:gd name="T40" fmla="*/ 0 w 795"/>
              <a:gd name="T41" fmla="*/ 114 h 199"/>
              <a:gd name="T42" fmla="*/ 0 w 795"/>
              <a:gd name="T43" fmla="*/ 126 h 199"/>
              <a:gd name="T44" fmla="*/ 2 w 795"/>
              <a:gd name="T45" fmla="*/ 139 h 199"/>
              <a:gd name="T46" fmla="*/ 3 w 795"/>
              <a:gd name="T47" fmla="*/ 151 h 199"/>
              <a:gd name="T48" fmla="*/ 5 w 795"/>
              <a:gd name="T49" fmla="*/ 162 h 199"/>
              <a:gd name="T50" fmla="*/ 7 w 795"/>
              <a:gd name="T51" fmla="*/ 175 h 199"/>
              <a:gd name="T52" fmla="*/ 10 w 795"/>
              <a:gd name="T53" fmla="*/ 187 h 199"/>
              <a:gd name="T54" fmla="*/ 12 w 795"/>
              <a:gd name="T55" fmla="*/ 199 h 199"/>
              <a:gd name="T56" fmla="*/ 17 w 795"/>
              <a:gd name="T57" fmla="*/ 199 h 199"/>
              <a:gd name="T58" fmla="*/ 15 w 795"/>
              <a:gd name="T59" fmla="*/ 187 h 199"/>
              <a:gd name="T60" fmla="*/ 12 w 795"/>
              <a:gd name="T61" fmla="*/ 174 h 199"/>
              <a:gd name="T62" fmla="*/ 10 w 795"/>
              <a:gd name="T63" fmla="*/ 162 h 199"/>
              <a:gd name="T64" fmla="*/ 8 w 795"/>
              <a:gd name="T65" fmla="*/ 149 h 199"/>
              <a:gd name="T66" fmla="*/ 7 w 795"/>
              <a:gd name="T67" fmla="*/ 137 h 199"/>
              <a:gd name="T68" fmla="*/ 5 w 795"/>
              <a:gd name="T69" fmla="*/ 124 h 199"/>
              <a:gd name="T70" fmla="*/ 5 w 795"/>
              <a:gd name="T71" fmla="*/ 112 h 199"/>
              <a:gd name="T72" fmla="*/ 5 w 795"/>
              <a:gd name="T73" fmla="*/ 99 h 199"/>
              <a:gd name="T74" fmla="*/ 0 w 795"/>
              <a:gd name="T75" fmla="*/ 10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95" h="199">
                <a:moveTo>
                  <a:pt x="795" y="93"/>
                </a:moveTo>
                <a:lnTo>
                  <a:pt x="795" y="81"/>
                </a:lnTo>
                <a:lnTo>
                  <a:pt x="793" y="68"/>
                </a:lnTo>
                <a:lnTo>
                  <a:pt x="793" y="56"/>
                </a:lnTo>
                <a:lnTo>
                  <a:pt x="792" y="45"/>
                </a:lnTo>
                <a:lnTo>
                  <a:pt x="790" y="33"/>
                </a:lnTo>
                <a:lnTo>
                  <a:pt x="787" y="21"/>
                </a:lnTo>
                <a:lnTo>
                  <a:pt x="785" y="11"/>
                </a:lnTo>
                <a:lnTo>
                  <a:pt x="782" y="0"/>
                </a:lnTo>
                <a:lnTo>
                  <a:pt x="777" y="0"/>
                </a:lnTo>
                <a:lnTo>
                  <a:pt x="780" y="11"/>
                </a:lnTo>
                <a:lnTo>
                  <a:pt x="782" y="23"/>
                </a:lnTo>
                <a:lnTo>
                  <a:pt x="785" y="35"/>
                </a:lnTo>
                <a:lnTo>
                  <a:pt x="787" y="46"/>
                </a:lnTo>
                <a:lnTo>
                  <a:pt x="788" y="58"/>
                </a:lnTo>
                <a:lnTo>
                  <a:pt x="788" y="69"/>
                </a:lnTo>
                <a:lnTo>
                  <a:pt x="790" y="83"/>
                </a:lnTo>
                <a:lnTo>
                  <a:pt x="790" y="94"/>
                </a:lnTo>
                <a:lnTo>
                  <a:pt x="795" y="93"/>
                </a:lnTo>
                <a:close/>
                <a:moveTo>
                  <a:pt x="0" y="101"/>
                </a:moveTo>
                <a:lnTo>
                  <a:pt x="0" y="114"/>
                </a:lnTo>
                <a:lnTo>
                  <a:pt x="0" y="126"/>
                </a:lnTo>
                <a:lnTo>
                  <a:pt x="2" y="139"/>
                </a:lnTo>
                <a:lnTo>
                  <a:pt x="3" y="151"/>
                </a:lnTo>
                <a:lnTo>
                  <a:pt x="5" y="162"/>
                </a:lnTo>
                <a:lnTo>
                  <a:pt x="7" y="175"/>
                </a:lnTo>
                <a:lnTo>
                  <a:pt x="10" y="187"/>
                </a:lnTo>
                <a:lnTo>
                  <a:pt x="12" y="199"/>
                </a:lnTo>
                <a:lnTo>
                  <a:pt x="17" y="199"/>
                </a:lnTo>
                <a:lnTo>
                  <a:pt x="15" y="187"/>
                </a:lnTo>
                <a:lnTo>
                  <a:pt x="12" y="174"/>
                </a:lnTo>
                <a:lnTo>
                  <a:pt x="10" y="162"/>
                </a:lnTo>
                <a:lnTo>
                  <a:pt x="8" y="149"/>
                </a:lnTo>
                <a:lnTo>
                  <a:pt x="7" y="137"/>
                </a:lnTo>
                <a:lnTo>
                  <a:pt x="5" y="124"/>
                </a:lnTo>
                <a:lnTo>
                  <a:pt x="5" y="112"/>
                </a:lnTo>
                <a:lnTo>
                  <a:pt x="5" y="99"/>
                </a:lnTo>
                <a:lnTo>
                  <a:pt x="0" y="101"/>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53" name="Freeform 1258">
            <a:extLst>
              <a:ext uri="{FF2B5EF4-FFF2-40B4-BE49-F238E27FC236}">
                <a16:creationId xmlns:a16="http://schemas.microsoft.com/office/drawing/2014/main" id="{FD1C653B-1FDB-4E0A-B1DA-FE07A1180422}"/>
              </a:ext>
            </a:extLst>
          </p:cNvPr>
          <p:cNvSpPr>
            <a:spLocks noEditPoints="1"/>
          </p:cNvSpPr>
          <p:nvPr/>
        </p:nvSpPr>
        <p:spPr bwMode="auto">
          <a:xfrm>
            <a:off x="2287588" y="2403475"/>
            <a:ext cx="1254125" cy="315913"/>
          </a:xfrm>
          <a:custGeom>
            <a:avLst/>
            <a:gdLst>
              <a:gd name="T0" fmla="*/ 790 w 790"/>
              <a:gd name="T1" fmla="*/ 93 h 199"/>
              <a:gd name="T2" fmla="*/ 790 w 790"/>
              <a:gd name="T3" fmla="*/ 81 h 199"/>
              <a:gd name="T4" fmla="*/ 790 w 790"/>
              <a:gd name="T5" fmla="*/ 69 h 199"/>
              <a:gd name="T6" fmla="*/ 788 w 790"/>
              <a:gd name="T7" fmla="*/ 58 h 199"/>
              <a:gd name="T8" fmla="*/ 786 w 790"/>
              <a:gd name="T9" fmla="*/ 46 h 199"/>
              <a:gd name="T10" fmla="*/ 785 w 790"/>
              <a:gd name="T11" fmla="*/ 35 h 199"/>
              <a:gd name="T12" fmla="*/ 783 w 790"/>
              <a:gd name="T13" fmla="*/ 23 h 199"/>
              <a:gd name="T14" fmla="*/ 780 w 790"/>
              <a:gd name="T15" fmla="*/ 11 h 199"/>
              <a:gd name="T16" fmla="*/ 778 w 790"/>
              <a:gd name="T17" fmla="*/ 0 h 199"/>
              <a:gd name="T18" fmla="*/ 773 w 790"/>
              <a:gd name="T19" fmla="*/ 0 h 199"/>
              <a:gd name="T20" fmla="*/ 776 w 790"/>
              <a:gd name="T21" fmla="*/ 11 h 199"/>
              <a:gd name="T22" fmla="*/ 778 w 790"/>
              <a:gd name="T23" fmla="*/ 23 h 199"/>
              <a:gd name="T24" fmla="*/ 780 w 790"/>
              <a:gd name="T25" fmla="*/ 35 h 199"/>
              <a:gd name="T26" fmla="*/ 781 w 790"/>
              <a:gd name="T27" fmla="*/ 46 h 199"/>
              <a:gd name="T28" fmla="*/ 783 w 790"/>
              <a:gd name="T29" fmla="*/ 58 h 199"/>
              <a:gd name="T30" fmla="*/ 785 w 790"/>
              <a:gd name="T31" fmla="*/ 71 h 199"/>
              <a:gd name="T32" fmla="*/ 785 w 790"/>
              <a:gd name="T33" fmla="*/ 83 h 199"/>
              <a:gd name="T34" fmla="*/ 786 w 790"/>
              <a:gd name="T35" fmla="*/ 96 h 199"/>
              <a:gd name="T36" fmla="*/ 790 w 790"/>
              <a:gd name="T37" fmla="*/ 93 h 199"/>
              <a:gd name="T38" fmla="*/ 0 w 790"/>
              <a:gd name="T39" fmla="*/ 99 h 199"/>
              <a:gd name="T40" fmla="*/ 0 w 790"/>
              <a:gd name="T41" fmla="*/ 112 h 199"/>
              <a:gd name="T42" fmla="*/ 1 w 790"/>
              <a:gd name="T43" fmla="*/ 126 h 199"/>
              <a:gd name="T44" fmla="*/ 1 w 790"/>
              <a:gd name="T45" fmla="*/ 137 h 199"/>
              <a:gd name="T46" fmla="*/ 3 w 790"/>
              <a:gd name="T47" fmla="*/ 151 h 199"/>
              <a:gd name="T48" fmla="*/ 5 w 790"/>
              <a:gd name="T49" fmla="*/ 162 h 199"/>
              <a:gd name="T50" fmla="*/ 8 w 790"/>
              <a:gd name="T51" fmla="*/ 174 h 199"/>
              <a:gd name="T52" fmla="*/ 10 w 790"/>
              <a:gd name="T53" fmla="*/ 187 h 199"/>
              <a:gd name="T54" fmla="*/ 13 w 790"/>
              <a:gd name="T55" fmla="*/ 199 h 199"/>
              <a:gd name="T56" fmla="*/ 18 w 790"/>
              <a:gd name="T57" fmla="*/ 199 h 199"/>
              <a:gd name="T58" fmla="*/ 15 w 790"/>
              <a:gd name="T59" fmla="*/ 187 h 199"/>
              <a:gd name="T60" fmla="*/ 13 w 790"/>
              <a:gd name="T61" fmla="*/ 174 h 199"/>
              <a:gd name="T62" fmla="*/ 10 w 790"/>
              <a:gd name="T63" fmla="*/ 162 h 199"/>
              <a:gd name="T64" fmla="*/ 8 w 790"/>
              <a:gd name="T65" fmla="*/ 149 h 199"/>
              <a:gd name="T66" fmla="*/ 6 w 790"/>
              <a:gd name="T67" fmla="*/ 137 h 199"/>
              <a:gd name="T68" fmla="*/ 6 w 790"/>
              <a:gd name="T69" fmla="*/ 124 h 199"/>
              <a:gd name="T70" fmla="*/ 5 w 790"/>
              <a:gd name="T71" fmla="*/ 112 h 199"/>
              <a:gd name="T72" fmla="*/ 5 w 790"/>
              <a:gd name="T73" fmla="*/ 99 h 199"/>
              <a:gd name="T74" fmla="*/ 5 w 790"/>
              <a:gd name="T75" fmla="*/ 98 h 199"/>
              <a:gd name="T76" fmla="*/ 0 w 790"/>
              <a:gd name="T77" fmla="*/ 9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90" h="199">
                <a:moveTo>
                  <a:pt x="790" y="93"/>
                </a:moveTo>
                <a:lnTo>
                  <a:pt x="790" y="81"/>
                </a:lnTo>
                <a:lnTo>
                  <a:pt x="790" y="69"/>
                </a:lnTo>
                <a:lnTo>
                  <a:pt x="788" y="58"/>
                </a:lnTo>
                <a:lnTo>
                  <a:pt x="786" y="46"/>
                </a:lnTo>
                <a:lnTo>
                  <a:pt x="785" y="35"/>
                </a:lnTo>
                <a:lnTo>
                  <a:pt x="783" y="23"/>
                </a:lnTo>
                <a:lnTo>
                  <a:pt x="780" y="11"/>
                </a:lnTo>
                <a:lnTo>
                  <a:pt x="778" y="0"/>
                </a:lnTo>
                <a:lnTo>
                  <a:pt x="773" y="0"/>
                </a:lnTo>
                <a:lnTo>
                  <a:pt x="776" y="11"/>
                </a:lnTo>
                <a:lnTo>
                  <a:pt x="778" y="23"/>
                </a:lnTo>
                <a:lnTo>
                  <a:pt x="780" y="35"/>
                </a:lnTo>
                <a:lnTo>
                  <a:pt x="781" y="46"/>
                </a:lnTo>
                <a:lnTo>
                  <a:pt x="783" y="58"/>
                </a:lnTo>
                <a:lnTo>
                  <a:pt x="785" y="71"/>
                </a:lnTo>
                <a:lnTo>
                  <a:pt x="785" y="83"/>
                </a:lnTo>
                <a:lnTo>
                  <a:pt x="786" y="96"/>
                </a:lnTo>
                <a:lnTo>
                  <a:pt x="790" y="93"/>
                </a:lnTo>
                <a:close/>
                <a:moveTo>
                  <a:pt x="0" y="99"/>
                </a:moveTo>
                <a:lnTo>
                  <a:pt x="0" y="112"/>
                </a:lnTo>
                <a:lnTo>
                  <a:pt x="1" y="126"/>
                </a:lnTo>
                <a:lnTo>
                  <a:pt x="1" y="137"/>
                </a:lnTo>
                <a:lnTo>
                  <a:pt x="3" y="151"/>
                </a:lnTo>
                <a:lnTo>
                  <a:pt x="5" y="162"/>
                </a:lnTo>
                <a:lnTo>
                  <a:pt x="8" y="174"/>
                </a:lnTo>
                <a:lnTo>
                  <a:pt x="10" y="187"/>
                </a:lnTo>
                <a:lnTo>
                  <a:pt x="13" y="199"/>
                </a:lnTo>
                <a:lnTo>
                  <a:pt x="18" y="199"/>
                </a:lnTo>
                <a:lnTo>
                  <a:pt x="15" y="187"/>
                </a:lnTo>
                <a:lnTo>
                  <a:pt x="13" y="174"/>
                </a:lnTo>
                <a:lnTo>
                  <a:pt x="10" y="162"/>
                </a:lnTo>
                <a:lnTo>
                  <a:pt x="8" y="149"/>
                </a:lnTo>
                <a:lnTo>
                  <a:pt x="6" y="137"/>
                </a:lnTo>
                <a:lnTo>
                  <a:pt x="6" y="124"/>
                </a:lnTo>
                <a:lnTo>
                  <a:pt x="5" y="112"/>
                </a:lnTo>
                <a:lnTo>
                  <a:pt x="5" y="99"/>
                </a:lnTo>
                <a:lnTo>
                  <a:pt x="5" y="98"/>
                </a:lnTo>
                <a:lnTo>
                  <a:pt x="0" y="99"/>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54" name="Freeform 1259">
            <a:extLst>
              <a:ext uri="{FF2B5EF4-FFF2-40B4-BE49-F238E27FC236}">
                <a16:creationId xmlns:a16="http://schemas.microsoft.com/office/drawing/2014/main" id="{B30B8F2C-3DF8-626F-1634-2D8CACFF958C}"/>
              </a:ext>
            </a:extLst>
          </p:cNvPr>
          <p:cNvSpPr>
            <a:spLocks noEditPoints="1"/>
          </p:cNvSpPr>
          <p:nvPr/>
        </p:nvSpPr>
        <p:spPr bwMode="auto">
          <a:xfrm>
            <a:off x="2292350" y="2403475"/>
            <a:ext cx="1246188" cy="315913"/>
          </a:xfrm>
          <a:custGeom>
            <a:avLst/>
            <a:gdLst>
              <a:gd name="T0" fmla="*/ 785 w 785"/>
              <a:gd name="T1" fmla="*/ 94 h 199"/>
              <a:gd name="T2" fmla="*/ 785 w 785"/>
              <a:gd name="T3" fmla="*/ 83 h 199"/>
              <a:gd name="T4" fmla="*/ 783 w 785"/>
              <a:gd name="T5" fmla="*/ 69 h 199"/>
              <a:gd name="T6" fmla="*/ 783 w 785"/>
              <a:gd name="T7" fmla="*/ 58 h 199"/>
              <a:gd name="T8" fmla="*/ 782 w 785"/>
              <a:gd name="T9" fmla="*/ 46 h 199"/>
              <a:gd name="T10" fmla="*/ 780 w 785"/>
              <a:gd name="T11" fmla="*/ 35 h 199"/>
              <a:gd name="T12" fmla="*/ 777 w 785"/>
              <a:gd name="T13" fmla="*/ 23 h 199"/>
              <a:gd name="T14" fmla="*/ 775 w 785"/>
              <a:gd name="T15" fmla="*/ 11 h 199"/>
              <a:gd name="T16" fmla="*/ 772 w 785"/>
              <a:gd name="T17" fmla="*/ 0 h 199"/>
              <a:gd name="T18" fmla="*/ 767 w 785"/>
              <a:gd name="T19" fmla="*/ 0 h 199"/>
              <a:gd name="T20" fmla="*/ 770 w 785"/>
              <a:gd name="T21" fmla="*/ 11 h 199"/>
              <a:gd name="T22" fmla="*/ 773 w 785"/>
              <a:gd name="T23" fmla="*/ 23 h 199"/>
              <a:gd name="T24" fmla="*/ 775 w 785"/>
              <a:gd name="T25" fmla="*/ 35 h 199"/>
              <a:gd name="T26" fmla="*/ 777 w 785"/>
              <a:gd name="T27" fmla="*/ 48 h 199"/>
              <a:gd name="T28" fmla="*/ 778 w 785"/>
              <a:gd name="T29" fmla="*/ 59 h 199"/>
              <a:gd name="T30" fmla="*/ 778 w 785"/>
              <a:gd name="T31" fmla="*/ 71 h 199"/>
              <a:gd name="T32" fmla="*/ 780 w 785"/>
              <a:gd name="T33" fmla="*/ 84 h 199"/>
              <a:gd name="T34" fmla="*/ 780 w 785"/>
              <a:gd name="T35" fmla="*/ 96 h 199"/>
              <a:gd name="T36" fmla="*/ 785 w 785"/>
              <a:gd name="T37" fmla="*/ 94 h 199"/>
              <a:gd name="T38" fmla="*/ 0 w 785"/>
              <a:gd name="T39" fmla="*/ 99 h 199"/>
              <a:gd name="T40" fmla="*/ 0 w 785"/>
              <a:gd name="T41" fmla="*/ 99 h 199"/>
              <a:gd name="T42" fmla="*/ 0 w 785"/>
              <a:gd name="T43" fmla="*/ 112 h 199"/>
              <a:gd name="T44" fmla="*/ 0 w 785"/>
              <a:gd name="T45" fmla="*/ 124 h 199"/>
              <a:gd name="T46" fmla="*/ 2 w 785"/>
              <a:gd name="T47" fmla="*/ 137 h 199"/>
              <a:gd name="T48" fmla="*/ 3 w 785"/>
              <a:gd name="T49" fmla="*/ 149 h 199"/>
              <a:gd name="T50" fmla="*/ 5 w 785"/>
              <a:gd name="T51" fmla="*/ 162 h 199"/>
              <a:gd name="T52" fmla="*/ 7 w 785"/>
              <a:gd name="T53" fmla="*/ 174 h 199"/>
              <a:gd name="T54" fmla="*/ 10 w 785"/>
              <a:gd name="T55" fmla="*/ 187 h 199"/>
              <a:gd name="T56" fmla="*/ 12 w 785"/>
              <a:gd name="T57" fmla="*/ 199 h 199"/>
              <a:gd name="T58" fmla="*/ 16 w 785"/>
              <a:gd name="T59" fmla="*/ 199 h 199"/>
              <a:gd name="T60" fmla="*/ 15 w 785"/>
              <a:gd name="T61" fmla="*/ 187 h 199"/>
              <a:gd name="T62" fmla="*/ 12 w 785"/>
              <a:gd name="T63" fmla="*/ 174 h 199"/>
              <a:gd name="T64" fmla="*/ 10 w 785"/>
              <a:gd name="T65" fmla="*/ 162 h 199"/>
              <a:gd name="T66" fmla="*/ 8 w 785"/>
              <a:gd name="T67" fmla="*/ 149 h 199"/>
              <a:gd name="T68" fmla="*/ 7 w 785"/>
              <a:gd name="T69" fmla="*/ 137 h 199"/>
              <a:gd name="T70" fmla="*/ 5 w 785"/>
              <a:gd name="T71" fmla="*/ 124 h 199"/>
              <a:gd name="T72" fmla="*/ 5 w 785"/>
              <a:gd name="T73" fmla="*/ 112 h 199"/>
              <a:gd name="T74" fmla="*/ 5 w 785"/>
              <a:gd name="T75" fmla="*/ 99 h 199"/>
              <a:gd name="T76" fmla="*/ 5 w 785"/>
              <a:gd name="T77" fmla="*/ 98 h 199"/>
              <a:gd name="T78" fmla="*/ 5 w 785"/>
              <a:gd name="T79" fmla="*/ 96 h 199"/>
              <a:gd name="T80" fmla="*/ 0 w 785"/>
              <a:gd name="T81" fmla="*/ 9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5" h="199">
                <a:moveTo>
                  <a:pt x="785" y="94"/>
                </a:moveTo>
                <a:lnTo>
                  <a:pt x="785" y="83"/>
                </a:lnTo>
                <a:lnTo>
                  <a:pt x="783" y="69"/>
                </a:lnTo>
                <a:lnTo>
                  <a:pt x="783" y="58"/>
                </a:lnTo>
                <a:lnTo>
                  <a:pt x="782" y="46"/>
                </a:lnTo>
                <a:lnTo>
                  <a:pt x="780" y="35"/>
                </a:lnTo>
                <a:lnTo>
                  <a:pt x="777" y="23"/>
                </a:lnTo>
                <a:lnTo>
                  <a:pt x="775" y="11"/>
                </a:lnTo>
                <a:lnTo>
                  <a:pt x="772" y="0"/>
                </a:lnTo>
                <a:lnTo>
                  <a:pt x="767" y="0"/>
                </a:lnTo>
                <a:lnTo>
                  <a:pt x="770" y="11"/>
                </a:lnTo>
                <a:lnTo>
                  <a:pt x="773" y="23"/>
                </a:lnTo>
                <a:lnTo>
                  <a:pt x="775" y="35"/>
                </a:lnTo>
                <a:lnTo>
                  <a:pt x="777" y="48"/>
                </a:lnTo>
                <a:lnTo>
                  <a:pt x="778" y="59"/>
                </a:lnTo>
                <a:lnTo>
                  <a:pt x="778" y="71"/>
                </a:lnTo>
                <a:lnTo>
                  <a:pt x="780" y="84"/>
                </a:lnTo>
                <a:lnTo>
                  <a:pt x="780" y="96"/>
                </a:lnTo>
                <a:lnTo>
                  <a:pt x="785" y="94"/>
                </a:lnTo>
                <a:close/>
                <a:moveTo>
                  <a:pt x="0" y="99"/>
                </a:moveTo>
                <a:lnTo>
                  <a:pt x="0" y="99"/>
                </a:lnTo>
                <a:lnTo>
                  <a:pt x="0" y="112"/>
                </a:lnTo>
                <a:lnTo>
                  <a:pt x="0" y="124"/>
                </a:lnTo>
                <a:lnTo>
                  <a:pt x="2" y="137"/>
                </a:lnTo>
                <a:lnTo>
                  <a:pt x="3" y="149"/>
                </a:lnTo>
                <a:lnTo>
                  <a:pt x="5" y="162"/>
                </a:lnTo>
                <a:lnTo>
                  <a:pt x="7" y="174"/>
                </a:lnTo>
                <a:lnTo>
                  <a:pt x="10" y="187"/>
                </a:lnTo>
                <a:lnTo>
                  <a:pt x="12" y="199"/>
                </a:lnTo>
                <a:lnTo>
                  <a:pt x="16" y="199"/>
                </a:lnTo>
                <a:lnTo>
                  <a:pt x="15" y="187"/>
                </a:lnTo>
                <a:lnTo>
                  <a:pt x="12" y="174"/>
                </a:lnTo>
                <a:lnTo>
                  <a:pt x="10" y="162"/>
                </a:lnTo>
                <a:lnTo>
                  <a:pt x="8" y="149"/>
                </a:lnTo>
                <a:lnTo>
                  <a:pt x="7" y="137"/>
                </a:lnTo>
                <a:lnTo>
                  <a:pt x="5" y="124"/>
                </a:lnTo>
                <a:lnTo>
                  <a:pt x="5" y="112"/>
                </a:lnTo>
                <a:lnTo>
                  <a:pt x="5" y="99"/>
                </a:lnTo>
                <a:lnTo>
                  <a:pt x="5" y="98"/>
                </a:lnTo>
                <a:lnTo>
                  <a:pt x="5" y="96"/>
                </a:lnTo>
                <a:lnTo>
                  <a:pt x="0" y="99"/>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55" name="Freeform 1260">
            <a:extLst>
              <a:ext uri="{FF2B5EF4-FFF2-40B4-BE49-F238E27FC236}">
                <a16:creationId xmlns:a16="http://schemas.microsoft.com/office/drawing/2014/main" id="{5A769137-A3BB-CFBC-0F5B-DBD2EBE909D9}"/>
              </a:ext>
            </a:extLst>
          </p:cNvPr>
          <p:cNvSpPr>
            <a:spLocks noEditPoints="1"/>
          </p:cNvSpPr>
          <p:nvPr/>
        </p:nvSpPr>
        <p:spPr bwMode="auto">
          <a:xfrm>
            <a:off x="2295525" y="2403475"/>
            <a:ext cx="1239838" cy="315913"/>
          </a:xfrm>
          <a:custGeom>
            <a:avLst/>
            <a:gdLst>
              <a:gd name="T0" fmla="*/ 781 w 781"/>
              <a:gd name="T1" fmla="*/ 96 h 199"/>
              <a:gd name="T2" fmla="*/ 780 w 781"/>
              <a:gd name="T3" fmla="*/ 83 h 199"/>
              <a:gd name="T4" fmla="*/ 780 w 781"/>
              <a:gd name="T5" fmla="*/ 71 h 199"/>
              <a:gd name="T6" fmla="*/ 778 w 781"/>
              <a:gd name="T7" fmla="*/ 58 h 199"/>
              <a:gd name="T8" fmla="*/ 776 w 781"/>
              <a:gd name="T9" fmla="*/ 46 h 199"/>
              <a:gd name="T10" fmla="*/ 775 w 781"/>
              <a:gd name="T11" fmla="*/ 35 h 199"/>
              <a:gd name="T12" fmla="*/ 773 w 781"/>
              <a:gd name="T13" fmla="*/ 23 h 199"/>
              <a:gd name="T14" fmla="*/ 771 w 781"/>
              <a:gd name="T15" fmla="*/ 11 h 199"/>
              <a:gd name="T16" fmla="*/ 768 w 781"/>
              <a:gd name="T17" fmla="*/ 0 h 199"/>
              <a:gd name="T18" fmla="*/ 763 w 781"/>
              <a:gd name="T19" fmla="*/ 0 h 199"/>
              <a:gd name="T20" fmla="*/ 766 w 781"/>
              <a:gd name="T21" fmla="*/ 11 h 199"/>
              <a:gd name="T22" fmla="*/ 768 w 781"/>
              <a:gd name="T23" fmla="*/ 23 h 199"/>
              <a:gd name="T24" fmla="*/ 770 w 781"/>
              <a:gd name="T25" fmla="*/ 35 h 199"/>
              <a:gd name="T26" fmla="*/ 773 w 781"/>
              <a:gd name="T27" fmla="*/ 48 h 199"/>
              <a:gd name="T28" fmla="*/ 773 w 781"/>
              <a:gd name="T29" fmla="*/ 59 h 199"/>
              <a:gd name="T30" fmla="*/ 775 w 781"/>
              <a:gd name="T31" fmla="*/ 73 h 199"/>
              <a:gd name="T32" fmla="*/ 775 w 781"/>
              <a:gd name="T33" fmla="*/ 84 h 199"/>
              <a:gd name="T34" fmla="*/ 776 w 781"/>
              <a:gd name="T35" fmla="*/ 98 h 199"/>
              <a:gd name="T36" fmla="*/ 781 w 781"/>
              <a:gd name="T37" fmla="*/ 96 h 199"/>
              <a:gd name="T38" fmla="*/ 0 w 781"/>
              <a:gd name="T39" fmla="*/ 98 h 199"/>
              <a:gd name="T40" fmla="*/ 0 w 781"/>
              <a:gd name="T41" fmla="*/ 98 h 199"/>
              <a:gd name="T42" fmla="*/ 0 w 781"/>
              <a:gd name="T43" fmla="*/ 99 h 199"/>
              <a:gd name="T44" fmla="*/ 0 w 781"/>
              <a:gd name="T45" fmla="*/ 112 h 199"/>
              <a:gd name="T46" fmla="*/ 1 w 781"/>
              <a:gd name="T47" fmla="*/ 124 h 199"/>
              <a:gd name="T48" fmla="*/ 1 w 781"/>
              <a:gd name="T49" fmla="*/ 137 h 199"/>
              <a:gd name="T50" fmla="*/ 3 w 781"/>
              <a:gd name="T51" fmla="*/ 149 h 199"/>
              <a:gd name="T52" fmla="*/ 5 w 781"/>
              <a:gd name="T53" fmla="*/ 162 h 199"/>
              <a:gd name="T54" fmla="*/ 8 w 781"/>
              <a:gd name="T55" fmla="*/ 174 h 199"/>
              <a:gd name="T56" fmla="*/ 10 w 781"/>
              <a:gd name="T57" fmla="*/ 187 h 199"/>
              <a:gd name="T58" fmla="*/ 13 w 781"/>
              <a:gd name="T59" fmla="*/ 199 h 199"/>
              <a:gd name="T60" fmla="*/ 18 w 781"/>
              <a:gd name="T61" fmla="*/ 199 h 199"/>
              <a:gd name="T62" fmla="*/ 14 w 781"/>
              <a:gd name="T63" fmla="*/ 187 h 199"/>
              <a:gd name="T64" fmla="*/ 11 w 781"/>
              <a:gd name="T65" fmla="*/ 174 h 199"/>
              <a:gd name="T66" fmla="*/ 10 w 781"/>
              <a:gd name="T67" fmla="*/ 162 h 199"/>
              <a:gd name="T68" fmla="*/ 8 w 781"/>
              <a:gd name="T69" fmla="*/ 149 h 199"/>
              <a:gd name="T70" fmla="*/ 6 w 781"/>
              <a:gd name="T71" fmla="*/ 137 h 199"/>
              <a:gd name="T72" fmla="*/ 6 w 781"/>
              <a:gd name="T73" fmla="*/ 124 h 199"/>
              <a:gd name="T74" fmla="*/ 5 w 781"/>
              <a:gd name="T75" fmla="*/ 112 h 199"/>
              <a:gd name="T76" fmla="*/ 5 w 781"/>
              <a:gd name="T77" fmla="*/ 99 h 199"/>
              <a:gd name="T78" fmla="*/ 5 w 781"/>
              <a:gd name="T79" fmla="*/ 98 h 199"/>
              <a:gd name="T80" fmla="*/ 5 w 781"/>
              <a:gd name="T81" fmla="*/ 96 h 199"/>
              <a:gd name="T82" fmla="*/ 0 w 781"/>
              <a:gd name="T83" fmla="*/ 9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81" h="199">
                <a:moveTo>
                  <a:pt x="781" y="96"/>
                </a:moveTo>
                <a:lnTo>
                  <a:pt x="780" y="83"/>
                </a:lnTo>
                <a:lnTo>
                  <a:pt x="780" y="71"/>
                </a:lnTo>
                <a:lnTo>
                  <a:pt x="778" y="58"/>
                </a:lnTo>
                <a:lnTo>
                  <a:pt x="776" y="46"/>
                </a:lnTo>
                <a:lnTo>
                  <a:pt x="775" y="35"/>
                </a:lnTo>
                <a:lnTo>
                  <a:pt x="773" y="23"/>
                </a:lnTo>
                <a:lnTo>
                  <a:pt x="771" y="11"/>
                </a:lnTo>
                <a:lnTo>
                  <a:pt x="768" y="0"/>
                </a:lnTo>
                <a:lnTo>
                  <a:pt x="763" y="0"/>
                </a:lnTo>
                <a:lnTo>
                  <a:pt x="766" y="11"/>
                </a:lnTo>
                <a:lnTo>
                  <a:pt x="768" y="23"/>
                </a:lnTo>
                <a:lnTo>
                  <a:pt x="770" y="35"/>
                </a:lnTo>
                <a:lnTo>
                  <a:pt x="773" y="48"/>
                </a:lnTo>
                <a:lnTo>
                  <a:pt x="773" y="59"/>
                </a:lnTo>
                <a:lnTo>
                  <a:pt x="775" y="73"/>
                </a:lnTo>
                <a:lnTo>
                  <a:pt x="775" y="84"/>
                </a:lnTo>
                <a:lnTo>
                  <a:pt x="776" y="98"/>
                </a:lnTo>
                <a:lnTo>
                  <a:pt x="781" y="96"/>
                </a:lnTo>
                <a:close/>
                <a:moveTo>
                  <a:pt x="0" y="98"/>
                </a:moveTo>
                <a:lnTo>
                  <a:pt x="0" y="98"/>
                </a:lnTo>
                <a:lnTo>
                  <a:pt x="0" y="99"/>
                </a:lnTo>
                <a:lnTo>
                  <a:pt x="0" y="112"/>
                </a:lnTo>
                <a:lnTo>
                  <a:pt x="1" y="124"/>
                </a:lnTo>
                <a:lnTo>
                  <a:pt x="1" y="137"/>
                </a:lnTo>
                <a:lnTo>
                  <a:pt x="3" y="149"/>
                </a:lnTo>
                <a:lnTo>
                  <a:pt x="5" y="162"/>
                </a:lnTo>
                <a:lnTo>
                  <a:pt x="8" y="174"/>
                </a:lnTo>
                <a:lnTo>
                  <a:pt x="10" y="187"/>
                </a:lnTo>
                <a:lnTo>
                  <a:pt x="13" y="199"/>
                </a:lnTo>
                <a:lnTo>
                  <a:pt x="18" y="199"/>
                </a:lnTo>
                <a:lnTo>
                  <a:pt x="14" y="187"/>
                </a:lnTo>
                <a:lnTo>
                  <a:pt x="11" y="174"/>
                </a:lnTo>
                <a:lnTo>
                  <a:pt x="10" y="162"/>
                </a:lnTo>
                <a:lnTo>
                  <a:pt x="8" y="149"/>
                </a:lnTo>
                <a:lnTo>
                  <a:pt x="6" y="137"/>
                </a:lnTo>
                <a:lnTo>
                  <a:pt x="6" y="124"/>
                </a:lnTo>
                <a:lnTo>
                  <a:pt x="5" y="112"/>
                </a:lnTo>
                <a:lnTo>
                  <a:pt x="5" y="99"/>
                </a:lnTo>
                <a:lnTo>
                  <a:pt x="5" y="98"/>
                </a:lnTo>
                <a:lnTo>
                  <a:pt x="5" y="96"/>
                </a:lnTo>
                <a:lnTo>
                  <a:pt x="0" y="98"/>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56" name="Freeform 1261">
            <a:extLst>
              <a:ext uri="{FF2B5EF4-FFF2-40B4-BE49-F238E27FC236}">
                <a16:creationId xmlns:a16="http://schemas.microsoft.com/office/drawing/2014/main" id="{9BC7FA71-B3FF-0EAE-D3D6-0A05DCF8C7A7}"/>
              </a:ext>
            </a:extLst>
          </p:cNvPr>
          <p:cNvSpPr>
            <a:spLocks noEditPoints="1"/>
          </p:cNvSpPr>
          <p:nvPr/>
        </p:nvSpPr>
        <p:spPr bwMode="auto">
          <a:xfrm>
            <a:off x="2300288" y="2403475"/>
            <a:ext cx="1230313" cy="315913"/>
          </a:xfrm>
          <a:custGeom>
            <a:avLst/>
            <a:gdLst>
              <a:gd name="T0" fmla="*/ 775 w 775"/>
              <a:gd name="T1" fmla="*/ 96 h 199"/>
              <a:gd name="T2" fmla="*/ 775 w 775"/>
              <a:gd name="T3" fmla="*/ 84 h 199"/>
              <a:gd name="T4" fmla="*/ 773 w 775"/>
              <a:gd name="T5" fmla="*/ 71 h 199"/>
              <a:gd name="T6" fmla="*/ 773 w 775"/>
              <a:gd name="T7" fmla="*/ 59 h 199"/>
              <a:gd name="T8" fmla="*/ 772 w 775"/>
              <a:gd name="T9" fmla="*/ 48 h 199"/>
              <a:gd name="T10" fmla="*/ 770 w 775"/>
              <a:gd name="T11" fmla="*/ 35 h 199"/>
              <a:gd name="T12" fmla="*/ 768 w 775"/>
              <a:gd name="T13" fmla="*/ 23 h 199"/>
              <a:gd name="T14" fmla="*/ 765 w 775"/>
              <a:gd name="T15" fmla="*/ 11 h 199"/>
              <a:gd name="T16" fmla="*/ 762 w 775"/>
              <a:gd name="T17" fmla="*/ 0 h 199"/>
              <a:gd name="T18" fmla="*/ 757 w 775"/>
              <a:gd name="T19" fmla="*/ 0 h 199"/>
              <a:gd name="T20" fmla="*/ 760 w 775"/>
              <a:gd name="T21" fmla="*/ 11 h 199"/>
              <a:gd name="T22" fmla="*/ 763 w 775"/>
              <a:gd name="T23" fmla="*/ 23 h 199"/>
              <a:gd name="T24" fmla="*/ 765 w 775"/>
              <a:gd name="T25" fmla="*/ 36 h 199"/>
              <a:gd name="T26" fmla="*/ 767 w 775"/>
              <a:gd name="T27" fmla="*/ 48 h 199"/>
              <a:gd name="T28" fmla="*/ 768 w 775"/>
              <a:gd name="T29" fmla="*/ 61 h 199"/>
              <a:gd name="T30" fmla="*/ 770 w 775"/>
              <a:gd name="T31" fmla="*/ 73 h 199"/>
              <a:gd name="T32" fmla="*/ 770 w 775"/>
              <a:gd name="T33" fmla="*/ 86 h 199"/>
              <a:gd name="T34" fmla="*/ 770 w 775"/>
              <a:gd name="T35" fmla="*/ 99 h 199"/>
              <a:gd name="T36" fmla="*/ 775 w 775"/>
              <a:gd name="T37" fmla="*/ 96 h 199"/>
              <a:gd name="T38" fmla="*/ 0 w 775"/>
              <a:gd name="T39" fmla="*/ 96 h 199"/>
              <a:gd name="T40" fmla="*/ 0 w 775"/>
              <a:gd name="T41" fmla="*/ 98 h 199"/>
              <a:gd name="T42" fmla="*/ 0 w 775"/>
              <a:gd name="T43" fmla="*/ 99 h 199"/>
              <a:gd name="T44" fmla="*/ 0 w 775"/>
              <a:gd name="T45" fmla="*/ 112 h 199"/>
              <a:gd name="T46" fmla="*/ 0 w 775"/>
              <a:gd name="T47" fmla="*/ 124 h 199"/>
              <a:gd name="T48" fmla="*/ 2 w 775"/>
              <a:gd name="T49" fmla="*/ 137 h 199"/>
              <a:gd name="T50" fmla="*/ 3 w 775"/>
              <a:gd name="T51" fmla="*/ 149 h 199"/>
              <a:gd name="T52" fmla="*/ 5 w 775"/>
              <a:gd name="T53" fmla="*/ 162 h 199"/>
              <a:gd name="T54" fmla="*/ 7 w 775"/>
              <a:gd name="T55" fmla="*/ 174 h 199"/>
              <a:gd name="T56" fmla="*/ 10 w 775"/>
              <a:gd name="T57" fmla="*/ 187 h 199"/>
              <a:gd name="T58" fmla="*/ 11 w 775"/>
              <a:gd name="T59" fmla="*/ 199 h 199"/>
              <a:gd name="T60" fmla="*/ 16 w 775"/>
              <a:gd name="T61" fmla="*/ 199 h 199"/>
              <a:gd name="T62" fmla="*/ 15 w 775"/>
              <a:gd name="T63" fmla="*/ 187 h 199"/>
              <a:gd name="T64" fmla="*/ 11 w 775"/>
              <a:gd name="T65" fmla="*/ 174 h 199"/>
              <a:gd name="T66" fmla="*/ 10 w 775"/>
              <a:gd name="T67" fmla="*/ 162 h 199"/>
              <a:gd name="T68" fmla="*/ 8 w 775"/>
              <a:gd name="T69" fmla="*/ 151 h 199"/>
              <a:gd name="T70" fmla="*/ 7 w 775"/>
              <a:gd name="T71" fmla="*/ 137 h 199"/>
              <a:gd name="T72" fmla="*/ 5 w 775"/>
              <a:gd name="T73" fmla="*/ 124 h 199"/>
              <a:gd name="T74" fmla="*/ 5 w 775"/>
              <a:gd name="T75" fmla="*/ 112 h 199"/>
              <a:gd name="T76" fmla="*/ 3 w 775"/>
              <a:gd name="T77" fmla="*/ 99 h 199"/>
              <a:gd name="T78" fmla="*/ 3 w 775"/>
              <a:gd name="T79" fmla="*/ 98 h 199"/>
              <a:gd name="T80" fmla="*/ 5 w 775"/>
              <a:gd name="T81" fmla="*/ 96 h 199"/>
              <a:gd name="T82" fmla="*/ 5 w 775"/>
              <a:gd name="T83" fmla="*/ 94 h 199"/>
              <a:gd name="T84" fmla="*/ 0 w 775"/>
              <a:gd name="T85" fmla="*/ 9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75" h="199">
                <a:moveTo>
                  <a:pt x="775" y="96"/>
                </a:moveTo>
                <a:lnTo>
                  <a:pt x="775" y="84"/>
                </a:lnTo>
                <a:lnTo>
                  <a:pt x="773" y="71"/>
                </a:lnTo>
                <a:lnTo>
                  <a:pt x="773" y="59"/>
                </a:lnTo>
                <a:lnTo>
                  <a:pt x="772" y="48"/>
                </a:lnTo>
                <a:lnTo>
                  <a:pt x="770" y="35"/>
                </a:lnTo>
                <a:lnTo>
                  <a:pt x="768" y="23"/>
                </a:lnTo>
                <a:lnTo>
                  <a:pt x="765" y="11"/>
                </a:lnTo>
                <a:lnTo>
                  <a:pt x="762" y="0"/>
                </a:lnTo>
                <a:lnTo>
                  <a:pt x="757" y="0"/>
                </a:lnTo>
                <a:lnTo>
                  <a:pt x="760" y="11"/>
                </a:lnTo>
                <a:lnTo>
                  <a:pt x="763" y="23"/>
                </a:lnTo>
                <a:lnTo>
                  <a:pt x="765" y="36"/>
                </a:lnTo>
                <a:lnTo>
                  <a:pt x="767" y="48"/>
                </a:lnTo>
                <a:lnTo>
                  <a:pt x="768" y="61"/>
                </a:lnTo>
                <a:lnTo>
                  <a:pt x="770" y="73"/>
                </a:lnTo>
                <a:lnTo>
                  <a:pt x="770" y="86"/>
                </a:lnTo>
                <a:lnTo>
                  <a:pt x="770" y="99"/>
                </a:lnTo>
                <a:lnTo>
                  <a:pt x="775" y="96"/>
                </a:lnTo>
                <a:close/>
                <a:moveTo>
                  <a:pt x="0" y="96"/>
                </a:moveTo>
                <a:lnTo>
                  <a:pt x="0" y="98"/>
                </a:lnTo>
                <a:lnTo>
                  <a:pt x="0" y="99"/>
                </a:lnTo>
                <a:lnTo>
                  <a:pt x="0" y="112"/>
                </a:lnTo>
                <a:lnTo>
                  <a:pt x="0" y="124"/>
                </a:lnTo>
                <a:lnTo>
                  <a:pt x="2" y="137"/>
                </a:lnTo>
                <a:lnTo>
                  <a:pt x="3" y="149"/>
                </a:lnTo>
                <a:lnTo>
                  <a:pt x="5" y="162"/>
                </a:lnTo>
                <a:lnTo>
                  <a:pt x="7" y="174"/>
                </a:lnTo>
                <a:lnTo>
                  <a:pt x="10" y="187"/>
                </a:lnTo>
                <a:lnTo>
                  <a:pt x="11" y="199"/>
                </a:lnTo>
                <a:lnTo>
                  <a:pt x="16" y="199"/>
                </a:lnTo>
                <a:lnTo>
                  <a:pt x="15" y="187"/>
                </a:lnTo>
                <a:lnTo>
                  <a:pt x="11" y="174"/>
                </a:lnTo>
                <a:lnTo>
                  <a:pt x="10" y="162"/>
                </a:lnTo>
                <a:lnTo>
                  <a:pt x="8" y="151"/>
                </a:lnTo>
                <a:lnTo>
                  <a:pt x="7" y="137"/>
                </a:lnTo>
                <a:lnTo>
                  <a:pt x="5" y="124"/>
                </a:lnTo>
                <a:lnTo>
                  <a:pt x="5" y="112"/>
                </a:lnTo>
                <a:lnTo>
                  <a:pt x="3" y="99"/>
                </a:lnTo>
                <a:lnTo>
                  <a:pt x="3" y="98"/>
                </a:lnTo>
                <a:lnTo>
                  <a:pt x="5" y="96"/>
                </a:lnTo>
                <a:lnTo>
                  <a:pt x="5" y="94"/>
                </a:lnTo>
                <a:lnTo>
                  <a:pt x="0" y="96"/>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57" name="Freeform 1262">
            <a:extLst>
              <a:ext uri="{FF2B5EF4-FFF2-40B4-BE49-F238E27FC236}">
                <a16:creationId xmlns:a16="http://schemas.microsoft.com/office/drawing/2014/main" id="{95A63123-EEF2-B02A-6C2A-AF6114331C1A}"/>
              </a:ext>
            </a:extLst>
          </p:cNvPr>
          <p:cNvSpPr>
            <a:spLocks noEditPoints="1"/>
          </p:cNvSpPr>
          <p:nvPr/>
        </p:nvSpPr>
        <p:spPr bwMode="auto">
          <a:xfrm>
            <a:off x="2303463" y="2403475"/>
            <a:ext cx="1223963" cy="315913"/>
          </a:xfrm>
          <a:custGeom>
            <a:avLst/>
            <a:gdLst>
              <a:gd name="T0" fmla="*/ 771 w 771"/>
              <a:gd name="T1" fmla="*/ 98 h 199"/>
              <a:gd name="T2" fmla="*/ 770 w 771"/>
              <a:gd name="T3" fmla="*/ 84 h 199"/>
              <a:gd name="T4" fmla="*/ 770 w 771"/>
              <a:gd name="T5" fmla="*/ 73 h 199"/>
              <a:gd name="T6" fmla="*/ 768 w 771"/>
              <a:gd name="T7" fmla="*/ 59 h 199"/>
              <a:gd name="T8" fmla="*/ 768 w 771"/>
              <a:gd name="T9" fmla="*/ 48 h 199"/>
              <a:gd name="T10" fmla="*/ 765 w 771"/>
              <a:gd name="T11" fmla="*/ 35 h 199"/>
              <a:gd name="T12" fmla="*/ 763 w 771"/>
              <a:gd name="T13" fmla="*/ 23 h 199"/>
              <a:gd name="T14" fmla="*/ 761 w 771"/>
              <a:gd name="T15" fmla="*/ 11 h 199"/>
              <a:gd name="T16" fmla="*/ 758 w 771"/>
              <a:gd name="T17" fmla="*/ 0 h 199"/>
              <a:gd name="T18" fmla="*/ 753 w 771"/>
              <a:gd name="T19" fmla="*/ 0 h 199"/>
              <a:gd name="T20" fmla="*/ 756 w 771"/>
              <a:gd name="T21" fmla="*/ 11 h 199"/>
              <a:gd name="T22" fmla="*/ 758 w 771"/>
              <a:gd name="T23" fmla="*/ 23 h 199"/>
              <a:gd name="T24" fmla="*/ 761 w 771"/>
              <a:gd name="T25" fmla="*/ 36 h 199"/>
              <a:gd name="T26" fmla="*/ 763 w 771"/>
              <a:gd name="T27" fmla="*/ 48 h 199"/>
              <a:gd name="T28" fmla="*/ 765 w 771"/>
              <a:gd name="T29" fmla="*/ 61 h 199"/>
              <a:gd name="T30" fmla="*/ 765 w 771"/>
              <a:gd name="T31" fmla="*/ 73 h 199"/>
              <a:gd name="T32" fmla="*/ 766 w 771"/>
              <a:gd name="T33" fmla="*/ 86 h 199"/>
              <a:gd name="T34" fmla="*/ 766 w 771"/>
              <a:gd name="T35" fmla="*/ 99 h 199"/>
              <a:gd name="T36" fmla="*/ 771 w 771"/>
              <a:gd name="T37" fmla="*/ 98 h 199"/>
              <a:gd name="T38" fmla="*/ 0 w 771"/>
              <a:gd name="T39" fmla="*/ 96 h 199"/>
              <a:gd name="T40" fmla="*/ 0 w 771"/>
              <a:gd name="T41" fmla="*/ 96 h 199"/>
              <a:gd name="T42" fmla="*/ 0 w 771"/>
              <a:gd name="T43" fmla="*/ 98 h 199"/>
              <a:gd name="T44" fmla="*/ 0 w 771"/>
              <a:gd name="T45" fmla="*/ 99 h 199"/>
              <a:gd name="T46" fmla="*/ 0 w 771"/>
              <a:gd name="T47" fmla="*/ 112 h 199"/>
              <a:gd name="T48" fmla="*/ 1 w 771"/>
              <a:gd name="T49" fmla="*/ 124 h 199"/>
              <a:gd name="T50" fmla="*/ 1 w 771"/>
              <a:gd name="T51" fmla="*/ 137 h 199"/>
              <a:gd name="T52" fmla="*/ 3 w 771"/>
              <a:gd name="T53" fmla="*/ 149 h 199"/>
              <a:gd name="T54" fmla="*/ 5 w 771"/>
              <a:gd name="T55" fmla="*/ 162 h 199"/>
              <a:gd name="T56" fmla="*/ 6 w 771"/>
              <a:gd name="T57" fmla="*/ 174 h 199"/>
              <a:gd name="T58" fmla="*/ 9 w 771"/>
              <a:gd name="T59" fmla="*/ 187 h 199"/>
              <a:gd name="T60" fmla="*/ 13 w 771"/>
              <a:gd name="T61" fmla="*/ 199 h 199"/>
              <a:gd name="T62" fmla="*/ 18 w 771"/>
              <a:gd name="T63" fmla="*/ 199 h 199"/>
              <a:gd name="T64" fmla="*/ 14 w 771"/>
              <a:gd name="T65" fmla="*/ 187 h 199"/>
              <a:gd name="T66" fmla="*/ 11 w 771"/>
              <a:gd name="T67" fmla="*/ 174 h 199"/>
              <a:gd name="T68" fmla="*/ 9 w 771"/>
              <a:gd name="T69" fmla="*/ 162 h 199"/>
              <a:gd name="T70" fmla="*/ 8 w 771"/>
              <a:gd name="T71" fmla="*/ 151 h 199"/>
              <a:gd name="T72" fmla="*/ 6 w 771"/>
              <a:gd name="T73" fmla="*/ 137 h 199"/>
              <a:gd name="T74" fmla="*/ 5 w 771"/>
              <a:gd name="T75" fmla="*/ 124 h 199"/>
              <a:gd name="T76" fmla="*/ 5 w 771"/>
              <a:gd name="T77" fmla="*/ 112 h 199"/>
              <a:gd name="T78" fmla="*/ 5 w 771"/>
              <a:gd name="T79" fmla="*/ 99 h 199"/>
              <a:gd name="T80" fmla="*/ 5 w 771"/>
              <a:gd name="T81" fmla="*/ 98 h 199"/>
              <a:gd name="T82" fmla="*/ 5 w 771"/>
              <a:gd name="T83" fmla="*/ 96 h 199"/>
              <a:gd name="T84" fmla="*/ 5 w 771"/>
              <a:gd name="T85" fmla="*/ 94 h 199"/>
              <a:gd name="T86" fmla="*/ 5 w 771"/>
              <a:gd name="T87" fmla="*/ 93 h 199"/>
              <a:gd name="T88" fmla="*/ 0 w 771"/>
              <a:gd name="T89" fmla="*/ 9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71" h="199">
                <a:moveTo>
                  <a:pt x="771" y="98"/>
                </a:moveTo>
                <a:lnTo>
                  <a:pt x="770" y="84"/>
                </a:lnTo>
                <a:lnTo>
                  <a:pt x="770" y="73"/>
                </a:lnTo>
                <a:lnTo>
                  <a:pt x="768" y="59"/>
                </a:lnTo>
                <a:lnTo>
                  <a:pt x="768" y="48"/>
                </a:lnTo>
                <a:lnTo>
                  <a:pt x="765" y="35"/>
                </a:lnTo>
                <a:lnTo>
                  <a:pt x="763" y="23"/>
                </a:lnTo>
                <a:lnTo>
                  <a:pt x="761" y="11"/>
                </a:lnTo>
                <a:lnTo>
                  <a:pt x="758" y="0"/>
                </a:lnTo>
                <a:lnTo>
                  <a:pt x="753" y="0"/>
                </a:lnTo>
                <a:lnTo>
                  <a:pt x="756" y="11"/>
                </a:lnTo>
                <a:lnTo>
                  <a:pt x="758" y="23"/>
                </a:lnTo>
                <a:lnTo>
                  <a:pt x="761" y="36"/>
                </a:lnTo>
                <a:lnTo>
                  <a:pt x="763" y="48"/>
                </a:lnTo>
                <a:lnTo>
                  <a:pt x="765" y="61"/>
                </a:lnTo>
                <a:lnTo>
                  <a:pt x="765" y="73"/>
                </a:lnTo>
                <a:lnTo>
                  <a:pt x="766" y="86"/>
                </a:lnTo>
                <a:lnTo>
                  <a:pt x="766" y="99"/>
                </a:lnTo>
                <a:lnTo>
                  <a:pt x="771" y="98"/>
                </a:lnTo>
                <a:close/>
                <a:moveTo>
                  <a:pt x="0" y="96"/>
                </a:moveTo>
                <a:lnTo>
                  <a:pt x="0" y="96"/>
                </a:lnTo>
                <a:lnTo>
                  <a:pt x="0" y="98"/>
                </a:lnTo>
                <a:lnTo>
                  <a:pt x="0" y="99"/>
                </a:lnTo>
                <a:lnTo>
                  <a:pt x="0" y="112"/>
                </a:lnTo>
                <a:lnTo>
                  <a:pt x="1" y="124"/>
                </a:lnTo>
                <a:lnTo>
                  <a:pt x="1" y="137"/>
                </a:lnTo>
                <a:lnTo>
                  <a:pt x="3" y="149"/>
                </a:lnTo>
                <a:lnTo>
                  <a:pt x="5" y="162"/>
                </a:lnTo>
                <a:lnTo>
                  <a:pt x="6" y="174"/>
                </a:lnTo>
                <a:lnTo>
                  <a:pt x="9" y="187"/>
                </a:lnTo>
                <a:lnTo>
                  <a:pt x="13" y="199"/>
                </a:lnTo>
                <a:lnTo>
                  <a:pt x="18" y="199"/>
                </a:lnTo>
                <a:lnTo>
                  <a:pt x="14" y="187"/>
                </a:lnTo>
                <a:lnTo>
                  <a:pt x="11" y="174"/>
                </a:lnTo>
                <a:lnTo>
                  <a:pt x="9" y="162"/>
                </a:lnTo>
                <a:lnTo>
                  <a:pt x="8" y="151"/>
                </a:lnTo>
                <a:lnTo>
                  <a:pt x="6" y="137"/>
                </a:lnTo>
                <a:lnTo>
                  <a:pt x="5" y="124"/>
                </a:lnTo>
                <a:lnTo>
                  <a:pt x="5" y="112"/>
                </a:lnTo>
                <a:lnTo>
                  <a:pt x="5" y="99"/>
                </a:lnTo>
                <a:lnTo>
                  <a:pt x="5" y="98"/>
                </a:lnTo>
                <a:lnTo>
                  <a:pt x="5" y="96"/>
                </a:lnTo>
                <a:lnTo>
                  <a:pt x="5" y="94"/>
                </a:lnTo>
                <a:lnTo>
                  <a:pt x="5" y="93"/>
                </a:lnTo>
                <a:lnTo>
                  <a:pt x="0" y="96"/>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58" name="Freeform 1263">
            <a:extLst>
              <a:ext uri="{FF2B5EF4-FFF2-40B4-BE49-F238E27FC236}">
                <a16:creationId xmlns:a16="http://schemas.microsoft.com/office/drawing/2014/main" id="{65663669-AF98-6336-6AC7-482084B6F74F}"/>
              </a:ext>
            </a:extLst>
          </p:cNvPr>
          <p:cNvSpPr>
            <a:spLocks noEditPoints="1"/>
          </p:cNvSpPr>
          <p:nvPr/>
        </p:nvSpPr>
        <p:spPr bwMode="auto">
          <a:xfrm>
            <a:off x="2305050" y="2403475"/>
            <a:ext cx="1217613" cy="315913"/>
          </a:xfrm>
          <a:custGeom>
            <a:avLst/>
            <a:gdLst>
              <a:gd name="T0" fmla="*/ 767 w 767"/>
              <a:gd name="T1" fmla="*/ 99 h 199"/>
              <a:gd name="T2" fmla="*/ 767 w 767"/>
              <a:gd name="T3" fmla="*/ 86 h 199"/>
              <a:gd name="T4" fmla="*/ 767 w 767"/>
              <a:gd name="T5" fmla="*/ 73 h 199"/>
              <a:gd name="T6" fmla="*/ 765 w 767"/>
              <a:gd name="T7" fmla="*/ 61 h 199"/>
              <a:gd name="T8" fmla="*/ 764 w 767"/>
              <a:gd name="T9" fmla="*/ 48 h 199"/>
              <a:gd name="T10" fmla="*/ 762 w 767"/>
              <a:gd name="T11" fmla="*/ 36 h 199"/>
              <a:gd name="T12" fmla="*/ 760 w 767"/>
              <a:gd name="T13" fmla="*/ 23 h 199"/>
              <a:gd name="T14" fmla="*/ 757 w 767"/>
              <a:gd name="T15" fmla="*/ 11 h 199"/>
              <a:gd name="T16" fmla="*/ 754 w 767"/>
              <a:gd name="T17" fmla="*/ 0 h 199"/>
              <a:gd name="T18" fmla="*/ 749 w 767"/>
              <a:gd name="T19" fmla="*/ 0 h 199"/>
              <a:gd name="T20" fmla="*/ 752 w 767"/>
              <a:gd name="T21" fmla="*/ 11 h 199"/>
              <a:gd name="T22" fmla="*/ 755 w 767"/>
              <a:gd name="T23" fmla="*/ 23 h 199"/>
              <a:gd name="T24" fmla="*/ 757 w 767"/>
              <a:gd name="T25" fmla="*/ 36 h 199"/>
              <a:gd name="T26" fmla="*/ 759 w 767"/>
              <a:gd name="T27" fmla="*/ 48 h 199"/>
              <a:gd name="T28" fmla="*/ 760 w 767"/>
              <a:gd name="T29" fmla="*/ 61 h 199"/>
              <a:gd name="T30" fmla="*/ 762 w 767"/>
              <a:gd name="T31" fmla="*/ 73 h 199"/>
              <a:gd name="T32" fmla="*/ 762 w 767"/>
              <a:gd name="T33" fmla="*/ 86 h 199"/>
              <a:gd name="T34" fmla="*/ 762 w 767"/>
              <a:gd name="T35" fmla="*/ 99 h 199"/>
              <a:gd name="T36" fmla="*/ 762 w 767"/>
              <a:gd name="T37" fmla="*/ 101 h 199"/>
              <a:gd name="T38" fmla="*/ 767 w 767"/>
              <a:gd name="T39" fmla="*/ 99 h 199"/>
              <a:gd name="T40" fmla="*/ 2 w 767"/>
              <a:gd name="T41" fmla="*/ 94 h 199"/>
              <a:gd name="T42" fmla="*/ 2 w 767"/>
              <a:gd name="T43" fmla="*/ 94 h 199"/>
              <a:gd name="T44" fmla="*/ 2 w 767"/>
              <a:gd name="T45" fmla="*/ 96 h 199"/>
              <a:gd name="T46" fmla="*/ 0 w 767"/>
              <a:gd name="T47" fmla="*/ 98 h 199"/>
              <a:gd name="T48" fmla="*/ 0 w 767"/>
              <a:gd name="T49" fmla="*/ 99 h 199"/>
              <a:gd name="T50" fmla="*/ 2 w 767"/>
              <a:gd name="T51" fmla="*/ 112 h 199"/>
              <a:gd name="T52" fmla="*/ 2 w 767"/>
              <a:gd name="T53" fmla="*/ 124 h 199"/>
              <a:gd name="T54" fmla="*/ 4 w 767"/>
              <a:gd name="T55" fmla="*/ 137 h 199"/>
              <a:gd name="T56" fmla="*/ 5 w 767"/>
              <a:gd name="T57" fmla="*/ 151 h 199"/>
              <a:gd name="T58" fmla="*/ 7 w 767"/>
              <a:gd name="T59" fmla="*/ 162 h 199"/>
              <a:gd name="T60" fmla="*/ 8 w 767"/>
              <a:gd name="T61" fmla="*/ 174 h 199"/>
              <a:gd name="T62" fmla="*/ 12 w 767"/>
              <a:gd name="T63" fmla="*/ 187 h 199"/>
              <a:gd name="T64" fmla="*/ 13 w 767"/>
              <a:gd name="T65" fmla="*/ 199 h 199"/>
              <a:gd name="T66" fmla="*/ 18 w 767"/>
              <a:gd name="T67" fmla="*/ 199 h 199"/>
              <a:gd name="T68" fmla="*/ 17 w 767"/>
              <a:gd name="T69" fmla="*/ 187 h 199"/>
              <a:gd name="T70" fmla="*/ 13 w 767"/>
              <a:gd name="T71" fmla="*/ 174 h 199"/>
              <a:gd name="T72" fmla="*/ 12 w 767"/>
              <a:gd name="T73" fmla="*/ 162 h 199"/>
              <a:gd name="T74" fmla="*/ 8 w 767"/>
              <a:gd name="T75" fmla="*/ 151 h 199"/>
              <a:gd name="T76" fmla="*/ 8 w 767"/>
              <a:gd name="T77" fmla="*/ 137 h 199"/>
              <a:gd name="T78" fmla="*/ 7 w 767"/>
              <a:gd name="T79" fmla="*/ 124 h 199"/>
              <a:gd name="T80" fmla="*/ 7 w 767"/>
              <a:gd name="T81" fmla="*/ 112 h 199"/>
              <a:gd name="T82" fmla="*/ 5 w 767"/>
              <a:gd name="T83" fmla="*/ 99 h 199"/>
              <a:gd name="T84" fmla="*/ 5 w 767"/>
              <a:gd name="T85" fmla="*/ 98 h 199"/>
              <a:gd name="T86" fmla="*/ 5 w 767"/>
              <a:gd name="T87" fmla="*/ 96 h 199"/>
              <a:gd name="T88" fmla="*/ 5 w 767"/>
              <a:gd name="T89" fmla="*/ 94 h 199"/>
              <a:gd name="T90" fmla="*/ 5 w 767"/>
              <a:gd name="T91" fmla="*/ 93 h 199"/>
              <a:gd name="T92" fmla="*/ 2 w 767"/>
              <a:gd name="T93" fmla="*/ 9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67" h="199">
                <a:moveTo>
                  <a:pt x="767" y="99"/>
                </a:moveTo>
                <a:lnTo>
                  <a:pt x="767" y="86"/>
                </a:lnTo>
                <a:lnTo>
                  <a:pt x="767" y="73"/>
                </a:lnTo>
                <a:lnTo>
                  <a:pt x="765" y="61"/>
                </a:lnTo>
                <a:lnTo>
                  <a:pt x="764" y="48"/>
                </a:lnTo>
                <a:lnTo>
                  <a:pt x="762" y="36"/>
                </a:lnTo>
                <a:lnTo>
                  <a:pt x="760" y="23"/>
                </a:lnTo>
                <a:lnTo>
                  <a:pt x="757" y="11"/>
                </a:lnTo>
                <a:lnTo>
                  <a:pt x="754" y="0"/>
                </a:lnTo>
                <a:lnTo>
                  <a:pt x="749" y="0"/>
                </a:lnTo>
                <a:lnTo>
                  <a:pt x="752" y="11"/>
                </a:lnTo>
                <a:lnTo>
                  <a:pt x="755" y="23"/>
                </a:lnTo>
                <a:lnTo>
                  <a:pt x="757" y="36"/>
                </a:lnTo>
                <a:lnTo>
                  <a:pt x="759" y="48"/>
                </a:lnTo>
                <a:lnTo>
                  <a:pt x="760" y="61"/>
                </a:lnTo>
                <a:lnTo>
                  <a:pt x="762" y="73"/>
                </a:lnTo>
                <a:lnTo>
                  <a:pt x="762" y="86"/>
                </a:lnTo>
                <a:lnTo>
                  <a:pt x="762" y="99"/>
                </a:lnTo>
                <a:lnTo>
                  <a:pt x="762" y="101"/>
                </a:lnTo>
                <a:lnTo>
                  <a:pt x="767" y="99"/>
                </a:lnTo>
                <a:close/>
                <a:moveTo>
                  <a:pt x="2" y="94"/>
                </a:moveTo>
                <a:lnTo>
                  <a:pt x="2" y="94"/>
                </a:lnTo>
                <a:lnTo>
                  <a:pt x="2" y="96"/>
                </a:lnTo>
                <a:lnTo>
                  <a:pt x="0" y="98"/>
                </a:lnTo>
                <a:lnTo>
                  <a:pt x="0" y="99"/>
                </a:lnTo>
                <a:lnTo>
                  <a:pt x="2" y="112"/>
                </a:lnTo>
                <a:lnTo>
                  <a:pt x="2" y="124"/>
                </a:lnTo>
                <a:lnTo>
                  <a:pt x="4" y="137"/>
                </a:lnTo>
                <a:lnTo>
                  <a:pt x="5" y="151"/>
                </a:lnTo>
                <a:lnTo>
                  <a:pt x="7" y="162"/>
                </a:lnTo>
                <a:lnTo>
                  <a:pt x="8" y="174"/>
                </a:lnTo>
                <a:lnTo>
                  <a:pt x="12" y="187"/>
                </a:lnTo>
                <a:lnTo>
                  <a:pt x="13" y="199"/>
                </a:lnTo>
                <a:lnTo>
                  <a:pt x="18" y="199"/>
                </a:lnTo>
                <a:lnTo>
                  <a:pt x="17" y="187"/>
                </a:lnTo>
                <a:lnTo>
                  <a:pt x="13" y="174"/>
                </a:lnTo>
                <a:lnTo>
                  <a:pt x="12" y="162"/>
                </a:lnTo>
                <a:lnTo>
                  <a:pt x="8" y="151"/>
                </a:lnTo>
                <a:lnTo>
                  <a:pt x="8" y="137"/>
                </a:lnTo>
                <a:lnTo>
                  <a:pt x="7" y="124"/>
                </a:lnTo>
                <a:lnTo>
                  <a:pt x="7" y="112"/>
                </a:lnTo>
                <a:lnTo>
                  <a:pt x="5" y="99"/>
                </a:lnTo>
                <a:lnTo>
                  <a:pt x="5" y="98"/>
                </a:lnTo>
                <a:lnTo>
                  <a:pt x="5" y="96"/>
                </a:lnTo>
                <a:lnTo>
                  <a:pt x="5" y="94"/>
                </a:lnTo>
                <a:lnTo>
                  <a:pt x="5" y="93"/>
                </a:lnTo>
                <a:lnTo>
                  <a:pt x="2" y="94"/>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59" name="Freeform 1264">
            <a:extLst>
              <a:ext uri="{FF2B5EF4-FFF2-40B4-BE49-F238E27FC236}">
                <a16:creationId xmlns:a16="http://schemas.microsoft.com/office/drawing/2014/main" id="{AEB2317B-5453-91F7-44D0-E11F6E8CD8AA}"/>
              </a:ext>
            </a:extLst>
          </p:cNvPr>
          <p:cNvSpPr>
            <a:spLocks noEditPoints="1"/>
          </p:cNvSpPr>
          <p:nvPr/>
        </p:nvSpPr>
        <p:spPr bwMode="auto">
          <a:xfrm>
            <a:off x="2311400" y="2403475"/>
            <a:ext cx="1208088" cy="315913"/>
          </a:xfrm>
          <a:custGeom>
            <a:avLst/>
            <a:gdLst>
              <a:gd name="T0" fmla="*/ 761 w 761"/>
              <a:gd name="T1" fmla="*/ 99 h 199"/>
              <a:gd name="T2" fmla="*/ 761 w 761"/>
              <a:gd name="T3" fmla="*/ 86 h 199"/>
              <a:gd name="T4" fmla="*/ 760 w 761"/>
              <a:gd name="T5" fmla="*/ 73 h 199"/>
              <a:gd name="T6" fmla="*/ 760 w 761"/>
              <a:gd name="T7" fmla="*/ 61 h 199"/>
              <a:gd name="T8" fmla="*/ 758 w 761"/>
              <a:gd name="T9" fmla="*/ 48 h 199"/>
              <a:gd name="T10" fmla="*/ 756 w 761"/>
              <a:gd name="T11" fmla="*/ 36 h 199"/>
              <a:gd name="T12" fmla="*/ 753 w 761"/>
              <a:gd name="T13" fmla="*/ 23 h 199"/>
              <a:gd name="T14" fmla="*/ 751 w 761"/>
              <a:gd name="T15" fmla="*/ 11 h 199"/>
              <a:gd name="T16" fmla="*/ 748 w 761"/>
              <a:gd name="T17" fmla="*/ 0 h 199"/>
              <a:gd name="T18" fmla="*/ 743 w 761"/>
              <a:gd name="T19" fmla="*/ 0 h 199"/>
              <a:gd name="T20" fmla="*/ 746 w 761"/>
              <a:gd name="T21" fmla="*/ 11 h 199"/>
              <a:gd name="T22" fmla="*/ 748 w 761"/>
              <a:gd name="T23" fmla="*/ 23 h 199"/>
              <a:gd name="T24" fmla="*/ 751 w 761"/>
              <a:gd name="T25" fmla="*/ 36 h 199"/>
              <a:gd name="T26" fmla="*/ 753 w 761"/>
              <a:gd name="T27" fmla="*/ 48 h 199"/>
              <a:gd name="T28" fmla="*/ 755 w 761"/>
              <a:gd name="T29" fmla="*/ 61 h 199"/>
              <a:gd name="T30" fmla="*/ 755 w 761"/>
              <a:gd name="T31" fmla="*/ 73 h 199"/>
              <a:gd name="T32" fmla="*/ 756 w 761"/>
              <a:gd name="T33" fmla="*/ 86 h 199"/>
              <a:gd name="T34" fmla="*/ 756 w 761"/>
              <a:gd name="T35" fmla="*/ 99 h 199"/>
              <a:gd name="T36" fmla="*/ 756 w 761"/>
              <a:gd name="T37" fmla="*/ 101 h 199"/>
              <a:gd name="T38" fmla="*/ 756 w 761"/>
              <a:gd name="T39" fmla="*/ 102 h 199"/>
              <a:gd name="T40" fmla="*/ 761 w 761"/>
              <a:gd name="T41" fmla="*/ 99 h 199"/>
              <a:gd name="T42" fmla="*/ 0 w 761"/>
              <a:gd name="T43" fmla="*/ 93 h 199"/>
              <a:gd name="T44" fmla="*/ 0 w 761"/>
              <a:gd name="T45" fmla="*/ 94 h 199"/>
              <a:gd name="T46" fmla="*/ 0 w 761"/>
              <a:gd name="T47" fmla="*/ 96 h 199"/>
              <a:gd name="T48" fmla="*/ 0 w 761"/>
              <a:gd name="T49" fmla="*/ 98 h 199"/>
              <a:gd name="T50" fmla="*/ 0 w 761"/>
              <a:gd name="T51" fmla="*/ 99 h 199"/>
              <a:gd name="T52" fmla="*/ 0 w 761"/>
              <a:gd name="T53" fmla="*/ 112 h 199"/>
              <a:gd name="T54" fmla="*/ 0 w 761"/>
              <a:gd name="T55" fmla="*/ 124 h 199"/>
              <a:gd name="T56" fmla="*/ 1 w 761"/>
              <a:gd name="T57" fmla="*/ 137 h 199"/>
              <a:gd name="T58" fmla="*/ 3 w 761"/>
              <a:gd name="T59" fmla="*/ 151 h 199"/>
              <a:gd name="T60" fmla="*/ 4 w 761"/>
              <a:gd name="T61" fmla="*/ 162 h 199"/>
              <a:gd name="T62" fmla="*/ 6 w 761"/>
              <a:gd name="T63" fmla="*/ 174 h 199"/>
              <a:gd name="T64" fmla="*/ 9 w 761"/>
              <a:gd name="T65" fmla="*/ 187 h 199"/>
              <a:gd name="T66" fmla="*/ 13 w 761"/>
              <a:gd name="T67" fmla="*/ 199 h 199"/>
              <a:gd name="T68" fmla="*/ 18 w 761"/>
              <a:gd name="T69" fmla="*/ 199 h 199"/>
              <a:gd name="T70" fmla="*/ 14 w 761"/>
              <a:gd name="T71" fmla="*/ 187 h 199"/>
              <a:gd name="T72" fmla="*/ 11 w 761"/>
              <a:gd name="T73" fmla="*/ 174 h 199"/>
              <a:gd name="T74" fmla="*/ 9 w 761"/>
              <a:gd name="T75" fmla="*/ 162 h 199"/>
              <a:gd name="T76" fmla="*/ 8 w 761"/>
              <a:gd name="T77" fmla="*/ 151 h 199"/>
              <a:gd name="T78" fmla="*/ 6 w 761"/>
              <a:gd name="T79" fmla="*/ 137 h 199"/>
              <a:gd name="T80" fmla="*/ 4 w 761"/>
              <a:gd name="T81" fmla="*/ 124 h 199"/>
              <a:gd name="T82" fmla="*/ 4 w 761"/>
              <a:gd name="T83" fmla="*/ 112 h 199"/>
              <a:gd name="T84" fmla="*/ 4 w 761"/>
              <a:gd name="T85" fmla="*/ 99 h 199"/>
              <a:gd name="T86" fmla="*/ 4 w 761"/>
              <a:gd name="T87" fmla="*/ 98 h 199"/>
              <a:gd name="T88" fmla="*/ 4 w 761"/>
              <a:gd name="T89" fmla="*/ 96 h 199"/>
              <a:gd name="T90" fmla="*/ 4 w 761"/>
              <a:gd name="T91" fmla="*/ 94 h 199"/>
              <a:gd name="T92" fmla="*/ 4 w 761"/>
              <a:gd name="T93" fmla="*/ 93 h 199"/>
              <a:gd name="T94" fmla="*/ 4 w 761"/>
              <a:gd name="T95" fmla="*/ 91 h 199"/>
              <a:gd name="T96" fmla="*/ 0 w 761"/>
              <a:gd name="T97" fmla="*/ 9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61" h="199">
                <a:moveTo>
                  <a:pt x="761" y="99"/>
                </a:moveTo>
                <a:lnTo>
                  <a:pt x="761" y="86"/>
                </a:lnTo>
                <a:lnTo>
                  <a:pt x="760" y="73"/>
                </a:lnTo>
                <a:lnTo>
                  <a:pt x="760" y="61"/>
                </a:lnTo>
                <a:lnTo>
                  <a:pt x="758" y="48"/>
                </a:lnTo>
                <a:lnTo>
                  <a:pt x="756" y="36"/>
                </a:lnTo>
                <a:lnTo>
                  <a:pt x="753" y="23"/>
                </a:lnTo>
                <a:lnTo>
                  <a:pt x="751" y="11"/>
                </a:lnTo>
                <a:lnTo>
                  <a:pt x="748" y="0"/>
                </a:lnTo>
                <a:lnTo>
                  <a:pt x="743" y="0"/>
                </a:lnTo>
                <a:lnTo>
                  <a:pt x="746" y="11"/>
                </a:lnTo>
                <a:lnTo>
                  <a:pt x="748" y="23"/>
                </a:lnTo>
                <a:lnTo>
                  <a:pt x="751" y="36"/>
                </a:lnTo>
                <a:lnTo>
                  <a:pt x="753" y="48"/>
                </a:lnTo>
                <a:lnTo>
                  <a:pt x="755" y="61"/>
                </a:lnTo>
                <a:lnTo>
                  <a:pt x="755" y="73"/>
                </a:lnTo>
                <a:lnTo>
                  <a:pt x="756" y="86"/>
                </a:lnTo>
                <a:lnTo>
                  <a:pt x="756" y="99"/>
                </a:lnTo>
                <a:lnTo>
                  <a:pt x="756" y="101"/>
                </a:lnTo>
                <a:lnTo>
                  <a:pt x="756" y="102"/>
                </a:lnTo>
                <a:lnTo>
                  <a:pt x="761" y="99"/>
                </a:lnTo>
                <a:close/>
                <a:moveTo>
                  <a:pt x="0" y="93"/>
                </a:moveTo>
                <a:lnTo>
                  <a:pt x="0" y="94"/>
                </a:lnTo>
                <a:lnTo>
                  <a:pt x="0" y="96"/>
                </a:lnTo>
                <a:lnTo>
                  <a:pt x="0" y="98"/>
                </a:lnTo>
                <a:lnTo>
                  <a:pt x="0" y="99"/>
                </a:lnTo>
                <a:lnTo>
                  <a:pt x="0" y="112"/>
                </a:lnTo>
                <a:lnTo>
                  <a:pt x="0" y="124"/>
                </a:lnTo>
                <a:lnTo>
                  <a:pt x="1" y="137"/>
                </a:lnTo>
                <a:lnTo>
                  <a:pt x="3" y="151"/>
                </a:lnTo>
                <a:lnTo>
                  <a:pt x="4" y="162"/>
                </a:lnTo>
                <a:lnTo>
                  <a:pt x="6" y="174"/>
                </a:lnTo>
                <a:lnTo>
                  <a:pt x="9" y="187"/>
                </a:lnTo>
                <a:lnTo>
                  <a:pt x="13" y="199"/>
                </a:lnTo>
                <a:lnTo>
                  <a:pt x="18" y="199"/>
                </a:lnTo>
                <a:lnTo>
                  <a:pt x="14" y="187"/>
                </a:lnTo>
                <a:lnTo>
                  <a:pt x="11" y="174"/>
                </a:lnTo>
                <a:lnTo>
                  <a:pt x="9" y="162"/>
                </a:lnTo>
                <a:lnTo>
                  <a:pt x="8" y="151"/>
                </a:lnTo>
                <a:lnTo>
                  <a:pt x="6" y="137"/>
                </a:lnTo>
                <a:lnTo>
                  <a:pt x="4" y="124"/>
                </a:lnTo>
                <a:lnTo>
                  <a:pt x="4" y="112"/>
                </a:lnTo>
                <a:lnTo>
                  <a:pt x="4" y="99"/>
                </a:lnTo>
                <a:lnTo>
                  <a:pt x="4" y="98"/>
                </a:lnTo>
                <a:lnTo>
                  <a:pt x="4" y="96"/>
                </a:lnTo>
                <a:lnTo>
                  <a:pt x="4" y="94"/>
                </a:lnTo>
                <a:lnTo>
                  <a:pt x="4" y="93"/>
                </a:lnTo>
                <a:lnTo>
                  <a:pt x="4" y="91"/>
                </a:lnTo>
                <a:lnTo>
                  <a:pt x="0" y="93"/>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60" name="Freeform 1265">
            <a:extLst>
              <a:ext uri="{FF2B5EF4-FFF2-40B4-BE49-F238E27FC236}">
                <a16:creationId xmlns:a16="http://schemas.microsoft.com/office/drawing/2014/main" id="{D9265952-B59A-E410-BBA6-E1D35DA90B30}"/>
              </a:ext>
            </a:extLst>
          </p:cNvPr>
          <p:cNvSpPr>
            <a:spLocks noEditPoints="1"/>
          </p:cNvSpPr>
          <p:nvPr/>
        </p:nvSpPr>
        <p:spPr bwMode="auto">
          <a:xfrm>
            <a:off x="2312988" y="2403475"/>
            <a:ext cx="1201738" cy="315913"/>
          </a:xfrm>
          <a:custGeom>
            <a:avLst/>
            <a:gdLst>
              <a:gd name="T0" fmla="*/ 757 w 757"/>
              <a:gd name="T1" fmla="*/ 99 h 199"/>
              <a:gd name="T2" fmla="*/ 757 w 757"/>
              <a:gd name="T3" fmla="*/ 86 h 199"/>
              <a:gd name="T4" fmla="*/ 757 w 757"/>
              <a:gd name="T5" fmla="*/ 73 h 199"/>
              <a:gd name="T6" fmla="*/ 755 w 757"/>
              <a:gd name="T7" fmla="*/ 61 h 199"/>
              <a:gd name="T8" fmla="*/ 754 w 757"/>
              <a:gd name="T9" fmla="*/ 48 h 199"/>
              <a:gd name="T10" fmla="*/ 752 w 757"/>
              <a:gd name="T11" fmla="*/ 36 h 199"/>
              <a:gd name="T12" fmla="*/ 750 w 757"/>
              <a:gd name="T13" fmla="*/ 23 h 199"/>
              <a:gd name="T14" fmla="*/ 747 w 757"/>
              <a:gd name="T15" fmla="*/ 11 h 199"/>
              <a:gd name="T16" fmla="*/ 744 w 757"/>
              <a:gd name="T17" fmla="*/ 0 h 199"/>
              <a:gd name="T18" fmla="*/ 739 w 757"/>
              <a:gd name="T19" fmla="*/ 0 h 199"/>
              <a:gd name="T20" fmla="*/ 742 w 757"/>
              <a:gd name="T21" fmla="*/ 11 h 199"/>
              <a:gd name="T22" fmla="*/ 745 w 757"/>
              <a:gd name="T23" fmla="*/ 23 h 199"/>
              <a:gd name="T24" fmla="*/ 747 w 757"/>
              <a:gd name="T25" fmla="*/ 36 h 199"/>
              <a:gd name="T26" fmla="*/ 749 w 757"/>
              <a:gd name="T27" fmla="*/ 48 h 199"/>
              <a:gd name="T28" fmla="*/ 750 w 757"/>
              <a:gd name="T29" fmla="*/ 61 h 199"/>
              <a:gd name="T30" fmla="*/ 752 w 757"/>
              <a:gd name="T31" fmla="*/ 73 h 199"/>
              <a:gd name="T32" fmla="*/ 752 w 757"/>
              <a:gd name="T33" fmla="*/ 86 h 199"/>
              <a:gd name="T34" fmla="*/ 752 w 757"/>
              <a:gd name="T35" fmla="*/ 99 h 199"/>
              <a:gd name="T36" fmla="*/ 752 w 757"/>
              <a:gd name="T37" fmla="*/ 101 h 199"/>
              <a:gd name="T38" fmla="*/ 752 w 757"/>
              <a:gd name="T39" fmla="*/ 102 h 199"/>
              <a:gd name="T40" fmla="*/ 757 w 757"/>
              <a:gd name="T41" fmla="*/ 101 h 199"/>
              <a:gd name="T42" fmla="*/ 757 w 757"/>
              <a:gd name="T43" fmla="*/ 99 h 199"/>
              <a:gd name="T44" fmla="*/ 0 w 757"/>
              <a:gd name="T45" fmla="*/ 93 h 199"/>
              <a:gd name="T46" fmla="*/ 0 w 757"/>
              <a:gd name="T47" fmla="*/ 93 h 199"/>
              <a:gd name="T48" fmla="*/ 0 w 757"/>
              <a:gd name="T49" fmla="*/ 94 h 199"/>
              <a:gd name="T50" fmla="*/ 0 w 757"/>
              <a:gd name="T51" fmla="*/ 96 h 199"/>
              <a:gd name="T52" fmla="*/ 0 w 757"/>
              <a:gd name="T53" fmla="*/ 98 h 199"/>
              <a:gd name="T54" fmla="*/ 0 w 757"/>
              <a:gd name="T55" fmla="*/ 99 h 199"/>
              <a:gd name="T56" fmla="*/ 2 w 757"/>
              <a:gd name="T57" fmla="*/ 112 h 199"/>
              <a:gd name="T58" fmla="*/ 2 w 757"/>
              <a:gd name="T59" fmla="*/ 124 h 199"/>
              <a:gd name="T60" fmla="*/ 3 w 757"/>
              <a:gd name="T61" fmla="*/ 137 h 199"/>
              <a:gd name="T62" fmla="*/ 3 w 757"/>
              <a:gd name="T63" fmla="*/ 151 h 199"/>
              <a:gd name="T64" fmla="*/ 7 w 757"/>
              <a:gd name="T65" fmla="*/ 162 h 199"/>
              <a:gd name="T66" fmla="*/ 8 w 757"/>
              <a:gd name="T67" fmla="*/ 174 h 199"/>
              <a:gd name="T68" fmla="*/ 12 w 757"/>
              <a:gd name="T69" fmla="*/ 187 h 199"/>
              <a:gd name="T70" fmla="*/ 13 w 757"/>
              <a:gd name="T71" fmla="*/ 199 h 199"/>
              <a:gd name="T72" fmla="*/ 18 w 757"/>
              <a:gd name="T73" fmla="*/ 199 h 199"/>
              <a:gd name="T74" fmla="*/ 17 w 757"/>
              <a:gd name="T75" fmla="*/ 187 h 199"/>
              <a:gd name="T76" fmla="*/ 13 w 757"/>
              <a:gd name="T77" fmla="*/ 174 h 199"/>
              <a:gd name="T78" fmla="*/ 10 w 757"/>
              <a:gd name="T79" fmla="*/ 162 h 199"/>
              <a:gd name="T80" fmla="*/ 8 w 757"/>
              <a:gd name="T81" fmla="*/ 151 h 199"/>
              <a:gd name="T82" fmla="*/ 7 w 757"/>
              <a:gd name="T83" fmla="*/ 137 h 199"/>
              <a:gd name="T84" fmla="*/ 7 w 757"/>
              <a:gd name="T85" fmla="*/ 124 h 199"/>
              <a:gd name="T86" fmla="*/ 5 w 757"/>
              <a:gd name="T87" fmla="*/ 112 h 199"/>
              <a:gd name="T88" fmla="*/ 5 w 757"/>
              <a:gd name="T89" fmla="*/ 99 h 199"/>
              <a:gd name="T90" fmla="*/ 5 w 757"/>
              <a:gd name="T91" fmla="*/ 98 h 199"/>
              <a:gd name="T92" fmla="*/ 5 w 757"/>
              <a:gd name="T93" fmla="*/ 96 h 199"/>
              <a:gd name="T94" fmla="*/ 5 w 757"/>
              <a:gd name="T95" fmla="*/ 94 h 199"/>
              <a:gd name="T96" fmla="*/ 5 w 757"/>
              <a:gd name="T97" fmla="*/ 93 h 199"/>
              <a:gd name="T98" fmla="*/ 5 w 757"/>
              <a:gd name="T99" fmla="*/ 91 h 199"/>
              <a:gd name="T100" fmla="*/ 5 w 757"/>
              <a:gd name="T101" fmla="*/ 89 h 199"/>
              <a:gd name="T102" fmla="*/ 0 w 757"/>
              <a:gd name="T103" fmla="*/ 9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57" h="199">
                <a:moveTo>
                  <a:pt x="757" y="99"/>
                </a:moveTo>
                <a:lnTo>
                  <a:pt x="757" y="86"/>
                </a:lnTo>
                <a:lnTo>
                  <a:pt x="757" y="73"/>
                </a:lnTo>
                <a:lnTo>
                  <a:pt x="755" y="61"/>
                </a:lnTo>
                <a:lnTo>
                  <a:pt x="754" y="48"/>
                </a:lnTo>
                <a:lnTo>
                  <a:pt x="752" y="36"/>
                </a:lnTo>
                <a:lnTo>
                  <a:pt x="750" y="23"/>
                </a:lnTo>
                <a:lnTo>
                  <a:pt x="747" y="11"/>
                </a:lnTo>
                <a:lnTo>
                  <a:pt x="744" y="0"/>
                </a:lnTo>
                <a:lnTo>
                  <a:pt x="739" y="0"/>
                </a:lnTo>
                <a:lnTo>
                  <a:pt x="742" y="11"/>
                </a:lnTo>
                <a:lnTo>
                  <a:pt x="745" y="23"/>
                </a:lnTo>
                <a:lnTo>
                  <a:pt x="747" y="36"/>
                </a:lnTo>
                <a:lnTo>
                  <a:pt x="749" y="48"/>
                </a:lnTo>
                <a:lnTo>
                  <a:pt x="750" y="61"/>
                </a:lnTo>
                <a:lnTo>
                  <a:pt x="752" y="73"/>
                </a:lnTo>
                <a:lnTo>
                  <a:pt x="752" y="86"/>
                </a:lnTo>
                <a:lnTo>
                  <a:pt x="752" y="99"/>
                </a:lnTo>
                <a:lnTo>
                  <a:pt x="752" y="101"/>
                </a:lnTo>
                <a:lnTo>
                  <a:pt x="752" y="102"/>
                </a:lnTo>
                <a:lnTo>
                  <a:pt x="757" y="101"/>
                </a:lnTo>
                <a:lnTo>
                  <a:pt x="757" y="99"/>
                </a:lnTo>
                <a:close/>
                <a:moveTo>
                  <a:pt x="0" y="93"/>
                </a:moveTo>
                <a:lnTo>
                  <a:pt x="0" y="93"/>
                </a:lnTo>
                <a:lnTo>
                  <a:pt x="0" y="94"/>
                </a:lnTo>
                <a:lnTo>
                  <a:pt x="0" y="96"/>
                </a:lnTo>
                <a:lnTo>
                  <a:pt x="0" y="98"/>
                </a:lnTo>
                <a:lnTo>
                  <a:pt x="0" y="99"/>
                </a:lnTo>
                <a:lnTo>
                  <a:pt x="2" y="112"/>
                </a:lnTo>
                <a:lnTo>
                  <a:pt x="2" y="124"/>
                </a:lnTo>
                <a:lnTo>
                  <a:pt x="3" y="137"/>
                </a:lnTo>
                <a:lnTo>
                  <a:pt x="3" y="151"/>
                </a:lnTo>
                <a:lnTo>
                  <a:pt x="7" y="162"/>
                </a:lnTo>
                <a:lnTo>
                  <a:pt x="8" y="174"/>
                </a:lnTo>
                <a:lnTo>
                  <a:pt x="12" y="187"/>
                </a:lnTo>
                <a:lnTo>
                  <a:pt x="13" y="199"/>
                </a:lnTo>
                <a:lnTo>
                  <a:pt x="18" y="199"/>
                </a:lnTo>
                <a:lnTo>
                  <a:pt x="17" y="187"/>
                </a:lnTo>
                <a:lnTo>
                  <a:pt x="13" y="174"/>
                </a:lnTo>
                <a:lnTo>
                  <a:pt x="10" y="162"/>
                </a:lnTo>
                <a:lnTo>
                  <a:pt x="8" y="151"/>
                </a:lnTo>
                <a:lnTo>
                  <a:pt x="7" y="137"/>
                </a:lnTo>
                <a:lnTo>
                  <a:pt x="7" y="124"/>
                </a:lnTo>
                <a:lnTo>
                  <a:pt x="5" y="112"/>
                </a:lnTo>
                <a:lnTo>
                  <a:pt x="5" y="99"/>
                </a:lnTo>
                <a:lnTo>
                  <a:pt x="5" y="98"/>
                </a:lnTo>
                <a:lnTo>
                  <a:pt x="5" y="96"/>
                </a:lnTo>
                <a:lnTo>
                  <a:pt x="5" y="94"/>
                </a:lnTo>
                <a:lnTo>
                  <a:pt x="5" y="93"/>
                </a:lnTo>
                <a:lnTo>
                  <a:pt x="5" y="91"/>
                </a:lnTo>
                <a:lnTo>
                  <a:pt x="5" y="89"/>
                </a:lnTo>
                <a:lnTo>
                  <a:pt x="0" y="93"/>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61" name="Freeform 1266">
            <a:extLst>
              <a:ext uri="{FF2B5EF4-FFF2-40B4-BE49-F238E27FC236}">
                <a16:creationId xmlns:a16="http://schemas.microsoft.com/office/drawing/2014/main" id="{F175BF4D-FA50-F8BF-AE72-399FEB04783A}"/>
              </a:ext>
            </a:extLst>
          </p:cNvPr>
          <p:cNvSpPr>
            <a:spLocks noEditPoints="1"/>
          </p:cNvSpPr>
          <p:nvPr/>
        </p:nvSpPr>
        <p:spPr bwMode="auto">
          <a:xfrm>
            <a:off x="2317750" y="2403475"/>
            <a:ext cx="1193800" cy="315913"/>
          </a:xfrm>
          <a:custGeom>
            <a:avLst/>
            <a:gdLst>
              <a:gd name="T0" fmla="*/ 752 w 752"/>
              <a:gd name="T1" fmla="*/ 99 h 199"/>
              <a:gd name="T2" fmla="*/ 752 w 752"/>
              <a:gd name="T3" fmla="*/ 86 h 199"/>
              <a:gd name="T4" fmla="*/ 751 w 752"/>
              <a:gd name="T5" fmla="*/ 73 h 199"/>
              <a:gd name="T6" fmla="*/ 751 w 752"/>
              <a:gd name="T7" fmla="*/ 61 h 199"/>
              <a:gd name="T8" fmla="*/ 749 w 752"/>
              <a:gd name="T9" fmla="*/ 48 h 199"/>
              <a:gd name="T10" fmla="*/ 747 w 752"/>
              <a:gd name="T11" fmla="*/ 36 h 199"/>
              <a:gd name="T12" fmla="*/ 744 w 752"/>
              <a:gd name="T13" fmla="*/ 23 h 199"/>
              <a:gd name="T14" fmla="*/ 742 w 752"/>
              <a:gd name="T15" fmla="*/ 11 h 199"/>
              <a:gd name="T16" fmla="*/ 739 w 752"/>
              <a:gd name="T17" fmla="*/ 0 h 199"/>
              <a:gd name="T18" fmla="*/ 734 w 752"/>
              <a:gd name="T19" fmla="*/ 0 h 199"/>
              <a:gd name="T20" fmla="*/ 737 w 752"/>
              <a:gd name="T21" fmla="*/ 11 h 199"/>
              <a:gd name="T22" fmla="*/ 739 w 752"/>
              <a:gd name="T23" fmla="*/ 23 h 199"/>
              <a:gd name="T24" fmla="*/ 742 w 752"/>
              <a:gd name="T25" fmla="*/ 36 h 199"/>
              <a:gd name="T26" fmla="*/ 744 w 752"/>
              <a:gd name="T27" fmla="*/ 48 h 199"/>
              <a:gd name="T28" fmla="*/ 746 w 752"/>
              <a:gd name="T29" fmla="*/ 61 h 199"/>
              <a:gd name="T30" fmla="*/ 746 w 752"/>
              <a:gd name="T31" fmla="*/ 73 h 199"/>
              <a:gd name="T32" fmla="*/ 747 w 752"/>
              <a:gd name="T33" fmla="*/ 86 h 199"/>
              <a:gd name="T34" fmla="*/ 747 w 752"/>
              <a:gd name="T35" fmla="*/ 99 h 199"/>
              <a:gd name="T36" fmla="*/ 747 w 752"/>
              <a:gd name="T37" fmla="*/ 101 h 199"/>
              <a:gd name="T38" fmla="*/ 747 w 752"/>
              <a:gd name="T39" fmla="*/ 102 h 199"/>
              <a:gd name="T40" fmla="*/ 747 w 752"/>
              <a:gd name="T41" fmla="*/ 104 h 199"/>
              <a:gd name="T42" fmla="*/ 752 w 752"/>
              <a:gd name="T43" fmla="*/ 102 h 199"/>
              <a:gd name="T44" fmla="*/ 752 w 752"/>
              <a:gd name="T45" fmla="*/ 101 h 199"/>
              <a:gd name="T46" fmla="*/ 752 w 752"/>
              <a:gd name="T47" fmla="*/ 99 h 199"/>
              <a:gd name="T48" fmla="*/ 0 w 752"/>
              <a:gd name="T49" fmla="*/ 91 h 199"/>
              <a:gd name="T50" fmla="*/ 0 w 752"/>
              <a:gd name="T51" fmla="*/ 93 h 199"/>
              <a:gd name="T52" fmla="*/ 0 w 752"/>
              <a:gd name="T53" fmla="*/ 94 h 199"/>
              <a:gd name="T54" fmla="*/ 0 w 752"/>
              <a:gd name="T55" fmla="*/ 96 h 199"/>
              <a:gd name="T56" fmla="*/ 0 w 752"/>
              <a:gd name="T57" fmla="*/ 98 h 199"/>
              <a:gd name="T58" fmla="*/ 0 w 752"/>
              <a:gd name="T59" fmla="*/ 99 h 199"/>
              <a:gd name="T60" fmla="*/ 0 w 752"/>
              <a:gd name="T61" fmla="*/ 112 h 199"/>
              <a:gd name="T62" fmla="*/ 0 w 752"/>
              <a:gd name="T63" fmla="*/ 124 h 199"/>
              <a:gd name="T64" fmla="*/ 2 w 752"/>
              <a:gd name="T65" fmla="*/ 137 h 199"/>
              <a:gd name="T66" fmla="*/ 4 w 752"/>
              <a:gd name="T67" fmla="*/ 151 h 199"/>
              <a:gd name="T68" fmla="*/ 5 w 752"/>
              <a:gd name="T69" fmla="*/ 162 h 199"/>
              <a:gd name="T70" fmla="*/ 7 w 752"/>
              <a:gd name="T71" fmla="*/ 174 h 199"/>
              <a:gd name="T72" fmla="*/ 10 w 752"/>
              <a:gd name="T73" fmla="*/ 187 h 199"/>
              <a:gd name="T74" fmla="*/ 14 w 752"/>
              <a:gd name="T75" fmla="*/ 199 h 199"/>
              <a:gd name="T76" fmla="*/ 19 w 752"/>
              <a:gd name="T77" fmla="*/ 199 h 199"/>
              <a:gd name="T78" fmla="*/ 15 w 752"/>
              <a:gd name="T79" fmla="*/ 187 h 199"/>
              <a:gd name="T80" fmla="*/ 12 w 752"/>
              <a:gd name="T81" fmla="*/ 174 h 199"/>
              <a:gd name="T82" fmla="*/ 10 w 752"/>
              <a:gd name="T83" fmla="*/ 162 h 199"/>
              <a:gd name="T84" fmla="*/ 9 w 752"/>
              <a:gd name="T85" fmla="*/ 151 h 199"/>
              <a:gd name="T86" fmla="*/ 7 w 752"/>
              <a:gd name="T87" fmla="*/ 137 h 199"/>
              <a:gd name="T88" fmla="*/ 5 w 752"/>
              <a:gd name="T89" fmla="*/ 124 h 199"/>
              <a:gd name="T90" fmla="*/ 5 w 752"/>
              <a:gd name="T91" fmla="*/ 112 h 199"/>
              <a:gd name="T92" fmla="*/ 5 w 752"/>
              <a:gd name="T93" fmla="*/ 99 h 199"/>
              <a:gd name="T94" fmla="*/ 5 w 752"/>
              <a:gd name="T95" fmla="*/ 98 h 199"/>
              <a:gd name="T96" fmla="*/ 5 w 752"/>
              <a:gd name="T97" fmla="*/ 96 h 199"/>
              <a:gd name="T98" fmla="*/ 5 w 752"/>
              <a:gd name="T99" fmla="*/ 94 h 199"/>
              <a:gd name="T100" fmla="*/ 5 w 752"/>
              <a:gd name="T101" fmla="*/ 93 h 199"/>
              <a:gd name="T102" fmla="*/ 5 w 752"/>
              <a:gd name="T103" fmla="*/ 91 h 199"/>
              <a:gd name="T104" fmla="*/ 5 w 752"/>
              <a:gd name="T105" fmla="*/ 89 h 199"/>
              <a:gd name="T106" fmla="*/ 0 w 752"/>
              <a:gd name="T107" fmla="*/ 9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752" h="199">
                <a:moveTo>
                  <a:pt x="752" y="99"/>
                </a:moveTo>
                <a:lnTo>
                  <a:pt x="752" y="86"/>
                </a:lnTo>
                <a:lnTo>
                  <a:pt x="751" y="73"/>
                </a:lnTo>
                <a:lnTo>
                  <a:pt x="751" y="61"/>
                </a:lnTo>
                <a:lnTo>
                  <a:pt x="749" y="48"/>
                </a:lnTo>
                <a:lnTo>
                  <a:pt x="747" y="36"/>
                </a:lnTo>
                <a:lnTo>
                  <a:pt x="744" y="23"/>
                </a:lnTo>
                <a:lnTo>
                  <a:pt x="742" y="11"/>
                </a:lnTo>
                <a:lnTo>
                  <a:pt x="739" y="0"/>
                </a:lnTo>
                <a:lnTo>
                  <a:pt x="734" y="0"/>
                </a:lnTo>
                <a:lnTo>
                  <a:pt x="737" y="11"/>
                </a:lnTo>
                <a:lnTo>
                  <a:pt x="739" y="23"/>
                </a:lnTo>
                <a:lnTo>
                  <a:pt x="742" y="36"/>
                </a:lnTo>
                <a:lnTo>
                  <a:pt x="744" y="48"/>
                </a:lnTo>
                <a:lnTo>
                  <a:pt x="746" y="61"/>
                </a:lnTo>
                <a:lnTo>
                  <a:pt x="746" y="73"/>
                </a:lnTo>
                <a:lnTo>
                  <a:pt x="747" y="86"/>
                </a:lnTo>
                <a:lnTo>
                  <a:pt x="747" y="99"/>
                </a:lnTo>
                <a:lnTo>
                  <a:pt x="747" y="101"/>
                </a:lnTo>
                <a:lnTo>
                  <a:pt x="747" y="102"/>
                </a:lnTo>
                <a:lnTo>
                  <a:pt x="747" y="104"/>
                </a:lnTo>
                <a:lnTo>
                  <a:pt x="752" y="102"/>
                </a:lnTo>
                <a:lnTo>
                  <a:pt x="752" y="101"/>
                </a:lnTo>
                <a:lnTo>
                  <a:pt x="752" y="99"/>
                </a:lnTo>
                <a:close/>
                <a:moveTo>
                  <a:pt x="0" y="91"/>
                </a:moveTo>
                <a:lnTo>
                  <a:pt x="0" y="93"/>
                </a:lnTo>
                <a:lnTo>
                  <a:pt x="0" y="94"/>
                </a:lnTo>
                <a:lnTo>
                  <a:pt x="0" y="96"/>
                </a:lnTo>
                <a:lnTo>
                  <a:pt x="0" y="98"/>
                </a:lnTo>
                <a:lnTo>
                  <a:pt x="0" y="99"/>
                </a:lnTo>
                <a:lnTo>
                  <a:pt x="0" y="112"/>
                </a:lnTo>
                <a:lnTo>
                  <a:pt x="0" y="124"/>
                </a:lnTo>
                <a:lnTo>
                  <a:pt x="2" y="137"/>
                </a:lnTo>
                <a:lnTo>
                  <a:pt x="4" y="151"/>
                </a:lnTo>
                <a:lnTo>
                  <a:pt x="5" y="162"/>
                </a:lnTo>
                <a:lnTo>
                  <a:pt x="7" y="174"/>
                </a:lnTo>
                <a:lnTo>
                  <a:pt x="10" y="187"/>
                </a:lnTo>
                <a:lnTo>
                  <a:pt x="14" y="199"/>
                </a:lnTo>
                <a:lnTo>
                  <a:pt x="19" y="199"/>
                </a:lnTo>
                <a:lnTo>
                  <a:pt x="15" y="187"/>
                </a:lnTo>
                <a:lnTo>
                  <a:pt x="12" y="174"/>
                </a:lnTo>
                <a:lnTo>
                  <a:pt x="10" y="162"/>
                </a:lnTo>
                <a:lnTo>
                  <a:pt x="9" y="151"/>
                </a:lnTo>
                <a:lnTo>
                  <a:pt x="7" y="137"/>
                </a:lnTo>
                <a:lnTo>
                  <a:pt x="5" y="124"/>
                </a:lnTo>
                <a:lnTo>
                  <a:pt x="5" y="112"/>
                </a:lnTo>
                <a:lnTo>
                  <a:pt x="5" y="99"/>
                </a:lnTo>
                <a:lnTo>
                  <a:pt x="5" y="98"/>
                </a:lnTo>
                <a:lnTo>
                  <a:pt x="5" y="96"/>
                </a:lnTo>
                <a:lnTo>
                  <a:pt x="5" y="94"/>
                </a:lnTo>
                <a:lnTo>
                  <a:pt x="5" y="93"/>
                </a:lnTo>
                <a:lnTo>
                  <a:pt x="5" y="91"/>
                </a:lnTo>
                <a:lnTo>
                  <a:pt x="5" y="89"/>
                </a:lnTo>
                <a:lnTo>
                  <a:pt x="0" y="91"/>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62" name="Freeform 1267">
            <a:extLst>
              <a:ext uri="{FF2B5EF4-FFF2-40B4-BE49-F238E27FC236}">
                <a16:creationId xmlns:a16="http://schemas.microsoft.com/office/drawing/2014/main" id="{EA789B8A-1112-32BB-4C81-5F44027FDB59}"/>
              </a:ext>
            </a:extLst>
          </p:cNvPr>
          <p:cNvSpPr>
            <a:spLocks noEditPoints="1"/>
          </p:cNvSpPr>
          <p:nvPr/>
        </p:nvSpPr>
        <p:spPr bwMode="auto">
          <a:xfrm>
            <a:off x="2320925" y="2403475"/>
            <a:ext cx="1185863" cy="315913"/>
          </a:xfrm>
          <a:custGeom>
            <a:avLst/>
            <a:gdLst>
              <a:gd name="T0" fmla="*/ 747 w 747"/>
              <a:gd name="T1" fmla="*/ 99 h 199"/>
              <a:gd name="T2" fmla="*/ 747 w 747"/>
              <a:gd name="T3" fmla="*/ 86 h 199"/>
              <a:gd name="T4" fmla="*/ 747 w 747"/>
              <a:gd name="T5" fmla="*/ 73 h 199"/>
              <a:gd name="T6" fmla="*/ 745 w 747"/>
              <a:gd name="T7" fmla="*/ 61 h 199"/>
              <a:gd name="T8" fmla="*/ 744 w 747"/>
              <a:gd name="T9" fmla="*/ 48 h 199"/>
              <a:gd name="T10" fmla="*/ 742 w 747"/>
              <a:gd name="T11" fmla="*/ 36 h 199"/>
              <a:gd name="T12" fmla="*/ 740 w 747"/>
              <a:gd name="T13" fmla="*/ 23 h 199"/>
              <a:gd name="T14" fmla="*/ 737 w 747"/>
              <a:gd name="T15" fmla="*/ 11 h 199"/>
              <a:gd name="T16" fmla="*/ 734 w 747"/>
              <a:gd name="T17" fmla="*/ 0 h 199"/>
              <a:gd name="T18" fmla="*/ 729 w 747"/>
              <a:gd name="T19" fmla="*/ 0 h 199"/>
              <a:gd name="T20" fmla="*/ 732 w 747"/>
              <a:gd name="T21" fmla="*/ 11 h 199"/>
              <a:gd name="T22" fmla="*/ 735 w 747"/>
              <a:gd name="T23" fmla="*/ 23 h 199"/>
              <a:gd name="T24" fmla="*/ 737 w 747"/>
              <a:gd name="T25" fmla="*/ 36 h 199"/>
              <a:gd name="T26" fmla="*/ 739 w 747"/>
              <a:gd name="T27" fmla="*/ 48 h 199"/>
              <a:gd name="T28" fmla="*/ 740 w 747"/>
              <a:gd name="T29" fmla="*/ 61 h 199"/>
              <a:gd name="T30" fmla="*/ 742 w 747"/>
              <a:gd name="T31" fmla="*/ 73 h 199"/>
              <a:gd name="T32" fmla="*/ 742 w 747"/>
              <a:gd name="T33" fmla="*/ 86 h 199"/>
              <a:gd name="T34" fmla="*/ 744 w 747"/>
              <a:gd name="T35" fmla="*/ 99 h 199"/>
              <a:gd name="T36" fmla="*/ 744 w 747"/>
              <a:gd name="T37" fmla="*/ 101 h 199"/>
              <a:gd name="T38" fmla="*/ 744 w 747"/>
              <a:gd name="T39" fmla="*/ 102 h 199"/>
              <a:gd name="T40" fmla="*/ 742 w 747"/>
              <a:gd name="T41" fmla="*/ 104 h 199"/>
              <a:gd name="T42" fmla="*/ 747 w 747"/>
              <a:gd name="T43" fmla="*/ 102 h 199"/>
              <a:gd name="T44" fmla="*/ 747 w 747"/>
              <a:gd name="T45" fmla="*/ 101 h 199"/>
              <a:gd name="T46" fmla="*/ 747 w 747"/>
              <a:gd name="T47" fmla="*/ 99 h 199"/>
              <a:gd name="T48" fmla="*/ 0 w 747"/>
              <a:gd name="T49" fmla="*/ 89 h 199"/>
              <a:gd name="T50" fmla="*/ 0 w 747"/>
              <a:gd name="T51" fmla="*/ 91 h 199"/>
              <a:gd name="T52" fmla="*/ 0 w 747"/>
              <a:gd name="T53" fmla="*/ 93 h 199"/>
              <a:gd name="T54" fmla="*/ 0 w 747"/>
              <a:gd name="T55" fmla="*/ 94 h 199"/>
              <a:gd name="T56" fmla="*/ 0 w 747"/>
              <a:gd name="T57" fmla="*/ 96 h 199"/>
              <a:gd name="T58" fmla="*/ 0 w 747"/>
              <a:gd name="T59" fmla="*/ 98 h 199"/>
              <a:gd name="T60" fmla="*/ 0 w 747"/>
              <a:gd name="T61" fmla="*/ 99 h 199"/>
              <a:gd name="T62" fmla="*/ 0 w 747"/>
              <a:gd name="T63" fmla="*/ 112 h 199"/>
              <a:gd name="T64" fmla="*/ 2 w 747"/>
              <a:gd name="T65" fmla="*/ 124 h 199"/>
              <a:gd name="T66" fmla="*/ 2 w 747"/>
              <a:gd name="T67" fmla="*/ 137 h 199"/>
              <a:gd name="T68" fmla="*/ 3 w 747"/>
              <a:gd name="T69" fmla="*/ 151 h 199"/>
              <a:gd name="T70" fmla="*/ 5 w 747"/>
              <a:gd name="T71" fmla="*/ 162 h 199"/>
              <a:gd name="T72" fmla="*/ 8 w 747"/>
              <a:gd name="T73" fmla="*/ 174 h 199"/>
              <a:gd name="T74" fmla="*/ 12 w 747"/>
              <a:gd name="T75" fmla="*/ 187 h 199"/>
              <a:gd name="T76" fmla="*/ 13 w 747"/>
              <a:gd name="T77" fmla="*/ 199 h 199"/>
              <a:gd name="T78" fmla="*/ 18 w 747"/>
              <a:gd name="T79" fmla="*/ 199 h 199"/>
              <a:gd name="T80" fmla="*/ 15 w 747"/>
              <a:gd name="T81" fmla="*/ 187 h 199"/>
              <a:gd name="T82" fmla="*/ 13 w 747"/>
              <a:gd name="T83" fmla="*/ 174 h 199"/>
              <a:gd name="T84" fmla="*/ 10 w 747"/>
              <a:gd name="T85" fmla="*/ 162 h 199"/>
              <a:gd name="T86" fmla="*/ 8 w 747"/>
              <a:gd name="T87" fmla="*/ 151 h 199"/>
              <a:gd name="T88" fmla="*/ 7 w 747"/>
              <a:gd name="T89" fmla="*/ 137 h 199"/>
              <a:gd name="T90" fmla="*/ 7 w 747"/>
              <a:gd name="T91" fmla="*/ 124 h 199"/>
              <a:gd name="T92" fmla="*/ 5 w 747"/>
              <a:gd name="T93" fmla="*/ 112 h 199"/>
              <a:gd name="T94" fmla="*/ 5 w 747"/>
              <a:gd name="T95" fmla="*/ 99 h 199"/>
              <a:gd name="T96" fmla="*/ 5 w 747"/>
              <a:gd name="T97" fmla="*/ 98 h 199"/>
              <a:gd name="T98" fmla="*/ 5 w 747"/>
              <a:gd name="T99" fmla="*/ 96 h 199"/>
              <a:gd name="T100" fmla="*/ 5 w 747"/>
              <a:gd name="T101" fmla="*/ 94 h 199"/>
              <a:gd name="T102" fmla="*/ 5 w 747"/>
              <a:gd name="T103" fmla="*/ 93 h 199"/>
              <a:gd name="T104" fmla="*/ 5 w 747"/>
              <a:gd name="T105" fmla="*/ 91 h 199"/>
              <a:gd name="T106" fmla="*/ 5 w 747"/>
              <a:gd name="T107" fmla="*/ 89 h 199"/>
              <a:gd name="T108" fmla="*/ 5 w 747"/>
              <a:gd name="T109" fmla="*/ 88 h 199"/>
              <a:gd name="T110" fmla="*/ 0 w 747"/>
              <a:gd name="T111" fmla="*/ 8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747" h="199">
                <a:moveTo>
                  <a:pt x="747" y="99"/>
                </a:moveTo>
                <a:lnTo>
                  <a:pt x="747" y="86"/>
                </a:lnTo>
                <a:lnTo>
                  <a:pt x="747" y="73"/>
                </a:lnTo>
                <a:lnTo>
                  <a:pt x="745" y="61"/>
                </a:lnTo>
                <a:lnTo>
                  <a:pt x="744" y="48"/>
                </a:lnTo>
                <a:lnTo>
                  <a:pt x="742" y="36"/>
                </a:lnTo>
                <a:lnTo>
                  <a:pt x="740" y="23"/>
                </a:lnTo>
                <a:lnTo>
                  <a:pt x="737" y="11"/>
                </a:lnTo>
                <a:lnTo>
                  <a:pt x="734" y="0"/>
                </a:lnTo>
                <a:lnTo>
                  <a:pt x="729" y="0"/>
                </a:lnTo>
                <a:lnTo>
                  <a:pt x="732" y="11"/>
                </a:lnTo>
                <a:lnTo>
                  <a:pt x="735" y="23"/>
                </a:lnTo>
                <a:lnTo>
                  <a:pt x="737" y="36"/>
                </a:lnTo>
                <a:lnTo>
                  <a:pt x="739" y="48"/>
                </a:lnTo>
                <a:lnTo>
                  <a:pt x="740" y="61"/>
                </a:lnTo>
                <a:lnTo>
                  <a:pt x="742" y="73"/>
                </a:lnTo>
                <a:lnTo>
                  <a:pt x="742" y="86"/>
                </a:lnTo>
                <a:lnTo>
                  <a:pt x="744" y="99"/>
                </a:lnTo>
                <a:lnTo>
                  <a:pt x="744" y="101"/>
                </a:lnTo>
                <a:lnTo>
                  <a:pt x="744" y="102"/>
                </a:lnTo>
                <a:lnTo>
                  <a:pt x="742" y="104"/>
                </a:lnTo>
                <a:lnTo>
                  <a:pt x="747" y="102"/>
                </a:lnTo>
                <a:lnTo>
                  <a:pt x="747" y="101"/>
                </a:lnTo>
                <a:lnTo>
                  <a:pt x="747" y="99"/>
                </a:lnTo>
                <a:close/>
                <a:moveTo>
                  <a:pt x="0" y="89"/>
                </a:moveTo>
                <a:lnTo>
                  <a:pt x="0" y="91"/>
                </a:lnTo>
                <a:lnTo>
                  <a:pt x="0" y="93"/>
                </a:lnTo>
                <a:lnTo>
                  <a:pt x="0" y="94"/>
                </a:lnTo>
                <a:lnTo>
                  <a:pt x="0" y="96"/>
                </a:lnTo>
                <a:lnTo>
                  <a:pt x="0" y="98"/>
                </a:lnTo>
                <a:lnTo>
                  <a:pt x="0" y="99"/>
                </a:lnTo>
                <a:lnTo>
                  <a:pt x="0" y="112"/>
                </a:lnTo>
                <a:lnTo>
                  <a:pt x="2" y="124"/>
                </a:lnTo>
                <a:lnTo>
                  <a:pt x="2" y="137"/>
                </a:lnTo>
                <a:lnTo>
                  <a:pt x="3" y="151"/>
                </a:lnTo>
                <a:lnTo>
                  <a:pt x="5" y="162"/>
                </a:lnTo>
                <a:lnTo>
                  <a:pt x="8" y="174"/>
                </a:lnTo>
                <a:lnTo>
                  <a:pt x="12" y="187"/>
                </a:lnTo>
                <a:lnTo>
                  <a:pt x="13" y="199"/>
                </a:lnTo>
                <a:lnTo>
                  <a:pt x="18" y="199"/>
                </a:lnTo>
                <a:lnTo>
                  <a:pt x="15" y="187"/>
                </a:lnTo>
                <a:lnTo>
                  <a:pt x="13" y="174"/>
                </a:lnTo>
                <a:lnTo>
                  <a:pt x="10" y="162"/>
                </a:lnTo>
                <a:lnTo>
                  <a:pt x="8" y="151"/>
                </a:lnTo>
                <a:lnTo>
                  <a:pt x="7" y="137"/>
                </a:lnTo>
                <a:lnTo>
                  <a:pt x="7" y="124"/>
                </a:lnTo>
                <a:lnTo>
                  <a:pt x="5" y="112"/>
                </a:lnTo>
                <a:lnTo>
                  <a:pt x="5" y="99"/>
                </a:lnTo>
                <a:lnTo>
                  <a:pt x="5" y="98"/>
                </a:lnTo>
                <a:lnTo>
                  <a:pt x="5" y="96"/>
                </a:lnTo>
                <a:lnTo>
                  <a:pt x="5" y="94"/>
                </a:lnTo>
                <a:lnTo>
                  <a:pt x="5" y="93"/>
                </a:lnTo>
                <a:lnTo>
                  <a:pt x="5" y="91"/>
                </a:lnTo>
                <a:lnTo>
                  <a:pt x="5" y="89"/>
                </a:lnTo>
                <a:lnTo>
                  <a:pt x="5" y="88"/>
                </a:lnTo>
                <a:lnTo>
                  <a:pt x="0" y="89"/>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63" name="Freeform 1268">
            <a:extLst>
              <a:ext uri="{FF2B5EF4-FFF2-40B4-BE49-F238E27FC236}">
                <a16:creationId xmlns:a16="http://schemas.microsoft.com/office/drawing/2014/main" id="{EF2711DA-4482-4C2B-3B5D-C713DA563B2E}"/>
              </a:ext>
            </a:extLst>
          </p:cNvPr>
          <p:cNvSpPr>
            <a:spLocks noEditPoints="1"/>
          </p:cNvSpPr>
          <p:nvPr/>
        </p:nvSpPr>
        <p:spPr bwMode="auto">
          <a:xfrm>
            <a:off x="2325688" y="2403475"/>
            <a:ext cx="1177925" cy="315913"/>
          </a:xfrm>
          <a:custGeom>
            <a:avLst/>
            <a:gdLst>
              <a:gd name="T0" fmla="*/ 742 w 742"/>
              <a:gd name="T1" fmla="*/ 99 h 199"/>
              <a:gd name="T2" fmla="*/ 742 w 742"/>
              <a:gd name="T3" fmla="*/ 86 h 199"/>
              <a:gd name="T4" fmla="*/ 741 w 742"/>
              <a:gd name="T5" fmla="*/ 73 h 199"/>
              <a:gd name="T6" fmla="*/ 741 w 742"/>
              <a:gd name="T7" fmla="*/ 61 h 199"/>
              <a:gd name="T8" fmla="*/ 739 w 742"/>
              <a:gd name="T9" fmla="*/ 48 h 199"/>
              <a:gd name="T10" fmla="*/ 737 w 742"/>
              <a:gd name="T11" fmla="*/ 36 h 199"/>
              <a:gd name="T12" fmla="*/ 734 w 742"/>
              <a:gd name="T13" fmla="*/ 23 h 199"/>
              <a:gd name="T14" fmla="*/ 732 w 742"/>
              <a:gd name="T15" fmla="*/ 11 h 199"/>
              <a:gd name="T16" fmla="*/ 729 w 742"/>
              <a:gd name="T17" fmla="*/ 0 h 199"/>
              <a:gd name="T18" fmla="*/ 724 w 742"/>
              <a:gd name="T19" fmla="*/ 0 h 199"/>
              <a:gd name="T20" fmla="*/ 727 w 742"/>
              <a:gd name="T21" fmla="*/ 11 h 199"/>
              <a:gd name="T22" fmla="*/ 729 w 742"/>
              <a:gd name="T23" fmla="*/ 23 h 199"/>
              <a:gd name="T24" fmla="*/ 732 w 742"/>
              <a:gd name="T25" fmla="*/ 36 h 199"/>
              <a:gd name="T26" fmla="*/ 734 w 742"/>
              <a:gd name="T27" fmla="*/ 48 h 199"/>
              <a:gd name="T28" fmla="*/ 736 w 742"/>
              <a:gd name="T29" fmla="*/ 61 h 199"/>
              <a:gd name="T30" fmla="*/ 737 w 742"/>
              <a:gd name="T31" fmla="*/ 73 h 199"/>
              <a:gd name="T32" fmla="*/ 737 w 742"/>
              <a:gd name="T33" fmla="*/ 86 h 199"/>
              <a:gd name="T34" fmla="*/ 737 w 742"/>
              <a:gd name="T35" fmla="*/ 99 h 199"/>
              <a:gd name="T36" fmla="*/ 737 w 742"/>
              <a:gd name="T37" fmla="*/ 101 h 199"/>
              <a:gd name="T38" fmla="*/ 737 w 742"/>
              <a:gd name="T39" fmla="*/ 102 h 199"/>
              <a:gd name="T40" fmla="*/ 737 w 742"/>
              <a:gd name="T41" fmla="*/ 104 h 199"/>
              <a:gd name="T42" fmla="*/ 737 w 742"/>
              <a:gd name="T43" fmla="*/ 106 h 199"/>
              <a:gd name="T44" fmla="*/ 742 w 742"/>
              <a:gd name="T45" fmla="*/ 104 h 199"/>
              <a:gd name="T46" fmla="*/ 742 w 742"/>
              <a:gd name="T47" fmla="*/ 102 h 199"/>
              <a:gd name="T48" fmla="*/ 742 w 742"/>
              <a:gd name="T49" fmla="*/ 101 h 199"/>
              <a:gd name="T50" fmla="*/ 742 w 742"/>
              <a:gd name="T51" fmla="*/ 99 h 199"/>
              <a:gd name="T52" fmla="*/ 0 w 742"/>
              <a:gd name="T53" fmla="*/ 89 h 199"/>
              <a:gd name="T54" fmla="*/ 0 w 742"/>
              <a:gd name="T55" fmla="*/ 89 h 199"/>
              <a:gd name="T56" fmla="*/ 0 w 742"/>
              <a:gd name="T57" fmla="*/ 91 h 199"/>
              <a:gd name="T58" fmla="*/ 0 w 742"/>
              <a:gd name="T59" fmla="*/ 93 h 199"/>
              <a:gd name="T60" fmla="*/ 0 w 742"/>
              <a:gd name="T61" fmla="*/ 94 h 199"/>
              <a:gd name="T62" fmla="*/ 0 w 742"/>
              <a:gd name="T63" fmla="*/ 96 h 199"/>
              <a:gd name="T64" fmla="*/ 0 w 742"/>
              <a:gd name="T65" fmla="*/ 98 h 199"/>
              <a:gd name="T66" fmla="*/ 0 w 742"/>
              <a:gd name="T67" fmla="*/ 99 h 199"/>
              <a:gd name="T68" fmla="*/ 0 w 742"/>
              <a:gd name="T69" fmla="*/ 112 h 199"/>
              <a:gd name="T70" fmla="*/ 0 w 742"/>
              <a:gd name="T71" fmla="*/ 124 h 199"/>
              <a:gd name="T72" fmla="*/ 2 w 742"/>
              <a:gd name="T73" fmla="*/ 137 h 199"/>
              <a:gd name="T74" fmla="*/ 4 w 742"/>
              <a:gd name="T75" fmla="*/ 151 h 199"/>
              <a:gd name="T76" fmla="*/ 5 w 742"/>
              <a:gd name="T77" fmla="*/ 162 h 199"/>
              <a:gd name="T78" fmla="*/ 7 w 742"/>
              <a:gd name="T79" fmla="*/ 174 h 199"/>
              <a:gd name="T80" fmla="*/ 10 w 742"/>
              <a:gd name="T81" fmla="*/ 187 h 199"/>
              <a:gd name="T82" fmla="*/ 14 w 742"/>
              <a:gd name="T83" fmla="*/ 199 h 199"/>
              <a:gd name="T84" fmla="*/ 19 w 742"/>
              <a:gd name="T85" fmla="*/ 199 h 199"/>
              <a:gd name="T86" fmla="*/ 15 w 742"/>
              <a:gd name="T87" fmla="*/ 187 h 199"/>
              <a:gd name="T88" fmla="*/ 12 w 742"/>
              <a:gd name="T89" fmla="*/ 174 h 199"/>
              <a:gd name="T90" fmla="*/ 10 w 742"/>
              <a:gd name="T91" fmla="*/ 162 h 199"/>
              <a:gd name="T92" fmla="*/ 9 w 742"/>
              <a:gd name="T93" fmla="*/ 151 h 199"/>
              <a:gd name="T94" fmla="*/ 7 w 742"/>
              <a:gd name="T95" fmla="*/ 137 h 199"/>
              <a:gd name="T96" fmla="*/ 5 w 742"/>
              <a:gd name="T97" fmla="*/ 124 h 199"/>
              <a:gd name="T98" fmla="*/ 5 w 742"/>
              <a:gd name="T99" fmla="*/ 112 h 199"/>
              <a:gd name="T100" fmla="*/ 5 w 742"/>
              <a:gd name="T101" fmla="*/ 99 h 199"/>
              <a:gd name="T102" fmla="*/ 5 w 742"/>
              <a:gd name="T103" fmla="*/ 98 h 199"/>
              <a:gd name="T104" fmla="*/ 5 w 742"/>
              <a:gd name="T105" fmla="*/ 96 h 199"/>
              <a:gd name="T106" fmla="*/ 5 w 742"/>
              <a:gd name="T107" fmla="*/ 94 h 199"/>
              <a:gd name="T108" fmla="*/ 5 w 742"/>
              <a:gd name="T109" fmla="*/ 93 h 199"/>
              <a:gd name="T110" fmla="*/ 5 w 742"/>
              <a:gd name="T111" fmla="*/ 91 h 199"/>
              <a:gd name="T112" fmla="*/ 5 w 742"/>
              <a:gd name="T113" fmla="*/ 89 h 199"/>
              <a:gd name="T114" fmla="*/ 5 w 742"/>
              <a:gd name="T115" fmla="*/ 88 h 199"/>
              <a:gd name="T116" fmla="*/ 5 w 742"/>
              <a:gd name="T117" fmla="*/ 86 h 199"/>
              <a:gd name="T118" fmla="*/ 0 w 742"/>
              <a:gd name="T119" fmla="*/ 8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42" h="199">
                <a:moveTo>
                  <a:pt x="742" y="99"/>
                </a:moveTo>
                <a:lnTo>
                  <a:pt x="742" y="86"/>
                </a:lnTo>
                <a:lnTo>
                  <a:pt x="741" y="73"/>
                </a:lnTo>
                <a:lnTo>
                  <a:pt x="741" y="61"/>
                </a:lnTo>
                <a:lnTo>
                  <a:pt x="739" y="48"/>
                </a:lnTo>
                <a:lnTo>
                  <a:pt x="737" y="36"/>
                </a:lnTo>
                <a:lnTo>
                  <a:pt x="734" y="23"/>
                </a:lnTo>
                <a:lnTo>
                  <a:pt x="732" y="11"/>
                </a:lnTo>
                <a:lnTo>
                  <a:pt x="729" y="0"/>
                </a:lnTo>
                <a:lnTo>
                  <a:pt x="724" y="0"/>
                </a:lnTo>
                <a:lnTo>
                  <a:pt x="727" y="11"/>
                </a:lnTo>
                <a:lnTo>
                  <a:pt x="729" y="23"/>
                </a:lnTo>
                <a:lnTo>
                  <a:pt x="732" y="36"/>
                </a:lnTo>
                <a:lnTo>
                  <a:pt x="734" y="48"/>
                </a:lnTo>
                <a:lnTo>
                  <a:pt x="736" y="61"/>
                </a:lnTo>
                <a:lnTo>
                  <a:pt x="737" y="73"/>
                </a:lnTo>
                <a:lnTo>
                  <a:pt x="737" y="86"/>
                </a:lnTo>
                <a:lnTo>
                  <a:pt x="737" y="99"/>
                </a:lnTo>
                <a:lnTo>
                  <a:pt x="737" y="101"/>
                </a:lnTo>
                <a:lnTo>
                  <a:pt x="737" y="102"/>
                </a:lnTo>
                <a:lnTo>
                  <a:pt x="737" y="104"/>
                </a:lnTo>
                <a:lnTo>
                  <a:pt x="737" y="106"/>
                </a:lnTo>
                <a:lnTo>
                  <a:pt x="742" y="104"/>
                </a:lnTo>
                <a:lnTo>
                  <a:pt x="742" y="102"/>
                </a:lnTo>
                <a:lnTo>
                  <a:pt x="742" y="101"/>
                </a:lnTo>
                <a:lnTo>
                  <a:pt x="742" y="99"/>
                </a:lnTo>
                <a:close/>
                <a:moveTo>
                  <a:pt x="0" y="89"/>
                </a:moveTo>
                <a:lnTo>
                  <a:pt x="0" y="89"/>
                </a:lnTo>
                <a:lnTo>
                  <a:pt x="0" y="91"/>
                </a:lnTo>
                <a:lnTo>
                  <a:pt x="0" y="93"/>
                </a:lnTo>
                <a:lnTo>
                  <a:pt x="0" y="94"/>
                </a:lnTo>
                <a:lnTo>
                  <a:pt x="0" y="96"/>
                </a:lnTo>
                <a:lnTo>
                  <a:pt x="0" y="98"/>
                </a:lnTo>
                <a:lnTo>
                  <a:pt x="0" y="99"/>
                </a:lnTo>
                <a:lnTo>
                  <a:pt x="0" y="112"/>
                </a:lnTo>
                <a:lnTo>
                  <a:pt x="0" y="124"/>
                </a:lnTo>
                <a:lnTo>
                  <a:pt x="2" y="137"/>
                </a:lnTo>
                <a:lnTo>
                  <a:pt x="4" y="151"/>
                </a:lnTo>
                <a:lnTo>
                  <a:pt x="5" y="162"/>
                </a:lnTo>
                <a:lnTo>
                  <a:pt x="7" y="174"/>
                </a:lnTo>
                <a:lnTo>
                  <a:pt x="10" y="187"/>
                </a:lnTo>
                <a:lnTo>
                  <a:pt x="14" y="199"/>
                </a:lnTo>
                <a:lnTo>
                  <a:pt x="19" y="199"/>
                </a:lnTo>
                <a:lnTo>
                  <a:pt x="15" y="187"/>
                </a:lnTo>
                <a:lnTo>
                  <a:pt x="12" y="174"/>
                </a:lnTo>
                <a:lnTo>
                  <a:pt x="10" y="162"/>
                </a:lnTo>
                <a:lnTo>
                  <a:pt x="9" y="151"/>
                </a:lnTo>
                <a:lnTo>
                  <a:pt x="7" y="137"/>
                </a:lnTo>
                <a:lnTo>
                  <a:pt x="5" y="124"/>
                </a:lnTo>
                <a:lnTo>
                  <a:pt x="5" y="112"/>
                </a:lnTo>
                <a:lnTo>
                  <a:pt x="5" y="99"/>
                </a:lnTo>
                <a:lnTo>
                  <a:pt x="5" y="98"/>
                </a:lnTo>
                <a:lnTo>
                  <a:pt x="5" y="96"/>
                </a:lnTo>
                <a:lnTo>
                  <a:pt x="5" y="94"/>
                </a:lnTo>
                <a:lnTo>
                  <a:pt x="5" y="93"/>
                </a:lnTo>
                <a:lnTo>
                  <a:pt x="5" y="91"/>
                </a:lnTo>
                <a:lnTo>
                  <a:pt x="5" y="89"/>
                </a:lnTo>
                <a:lnTo>
                  <a:pt x="5" y="88"/>
                </a:lnTo>
                <a:lnTo>
                  <a:pt x="5" y="86"/>
                </a:lnTo>
                <a:lnTo>
                  <a:pt x="0" y="89"/>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64" name="Freeform 1269">
            <a:extLst>
              <a:ext uri="{FF2B5EF4-FFF2-40B4-BE49-F238E27FC236}">
                <a16:creationId xmlns:a16="http://schemas.microsoft.com/office/drawing/2014/main" id="{22EE3587-FB90-BF73-C28B-C3B483F9F35C}"/>
              </a:ext>
            </a:extLst>
          </p:cNvPr>
          <p:cNvSpPr>
            <a:spLocks noEditPoints="1"/>
          </p:cNvSpPr>
          <p:nvPr/>
        </p:nvSpPr>
        <p:spPr bwMode="auto">
          <a:xfrm>
            <a:off x="2328863" y="2403475"/>
            <a:ext cx="1173163" cy="315913"/>
          </a:xfrm>
          <a:custGeom>
            <a:avLst/>
            <a:gdLst>
              <a:gd name="T0" fmla="*/ 739 w 739"/>
              <a:gd name="T1" fmla="*/ 99 h 199"/>
              <a:gd name="T2" fmla="*/ 737 w 739"/>
              <a:gd name="T3" fmla="*/ 86 h 199"/>
              <a:gd name="T4" fmla="*/ 737 w 739"/>
              <a:gd name="T5" fmla="*/ 73 h 199"/>
              <a:gd name="T6" fmla="*/ 735 w 739"/>
              <a:gd name="T7" fmla="*/ 61 h 199"/>
              <a:gd name="T8" fmla="*/ 734 w 739"/>
              <a:gd name="T9" fmla="*/ 48 h 199"/>
              <a:gd name="T10" fmla="*/ 732 w 739"/>
              <a:gd name="T11" fmla="*/ 36 h 199"/>
              <a:gd name="T12" fmla="*/ 730 w 739"/>
              <a:gd name="T13" fmla="*/ 23 h 199"/>
              <a:gd name="T14" fmla="*/ 727 w 739"/>
              <a:gd name="T15" fmla="*/ 11 h 199"/>
              <a:gd name="T16" fmla="*/ 724 w 739"/>
              <a:gd name="T17" fmla="*/ 0 h 199"/>
              <a:gd name="T18" fmla="*/ 719 w 739"/>
              <a:gd name="T19" fmla="*/ 0 h 199"/>
              <a:gd name="T20" fmla="*/ 722 w 739"/>
              <a:gd name="T21" fmla="*/ 11 h 199"/>
              <a:gd name="T22" fmla="*/ 725 w 739"/>
              <a:gd name="T23" fmla="*/ 23 h 199"/>
              <a:gd name="T24" fmla="*/ 727 w 739"/>
              <a:gd name="T25" fmla="*/ 36 h 199"/>
              <a:gd name="T26" fmla="*/ 730 w 739"/>
              <a:gd name="T27" fmla="*/ 48 h 199"/>
              <a:gd name="T28" fmla="*/ 730 w 739"/>
              <a:gd name="T29" fmla="*/ 61 h 199"/>
              <a:gd name="T30" fmla="*/ 732 w 739"/>
              <a:gd name="T31" fmla="*/ 73 h 199"/>
              <a:gd name="T32" fmla="*/ 732 w 739"/>
              <a:gd name="T33" fmla="*/ 86 h 199"/>
              <a:gd name="T34" fmla="*/ 734 w 739"/>
              <a:gd name="T35" fmla="*/ 99 h 199"/>
              <a:gd name="T36" fmla="*/ 734 w 739"/>
              <a:gd name="T37" fmla="*/ 101 h 199"/>
              <a:gd name="T38" fmla="*/ 734 w 739"/>
              <a:gd name="T39" fmla="*/ 102 h 199"/>
              <a:gd name="T40" fmla="*/ 734 w 739"/>
              <a:gd name="T41" fmla="*/ 104 h 199"/>
              <a:gd name="T42" fmla="*/ 734 w 739"/>
              <a:gd name="T43" fmla="*/ 106 h 199"/>
              <a:gd name="T44" fmla="*/ 734 w 739"/>
              <a:gd name="T45" fmla="*/ 107 h 199"/>
              <a:gd name="T46" fmla="*/ 737 w 739"/>
              <a:gd name="T47" fmla="*/ 104 h 199"/>
              <a:gd name="T48" fmla="*/ 737 w 739"/>
              <a:gd name="T49" fmla="*/ 102 h 199"/>
              <a:gd name="T50" fmla="*/ 739 w 739"/>
              <a:gd name="T51" fmla="*/ 102 h 199"/>
              <a:gd name="T52" fmla="*/ 739 w 739"/>
              <a:gd name="T53" fmla="*/ 101 h 199"/>
              <a:gd name="T54" fmla="*/ 739 w 739"/>
              <a:gd name="T55" fmla="*/ 99 h 199"/>
              <a:gd name="T56" fmla="*/ 0 w 739"/>
              <a:gd name="T57" fmla="*/ 88 h 199"/>
              <a:gd name="T58" fmla="*/ 0 w 739"/>
              <a:gd name="T59" fmla="*/ 89 h 199"/>
              <a:gd name="T60" fmla="*/ 0 w 739"/>
              <a:gd name="T61" fmla="*/ 91 h 199"/>
              <a:gd name="T62" fmla="*/ 0 w 739"/>
              <a:gd name="T63" fmla="*/ 93 h 199"/>
              <a:gd name="T64" fmla="*/ 0 w 739"/>
              <a:gd name="T65" fmla="*/ 94 h 199"/>
              <a:gd name="T66" fmla="*/ 0 w 739"/>
              <a:gd name="T67" fmla="*/ 96 h 199"/>
              <a:gd name="T68" fmla="*/ 0 w 739"/>
              <a:gd name="T69" fmla="*/ 98 h 199"/>
              <a:gd name="T70" fmla="*/ 0 w 739"/>
              <a:gd name="T71" fmla="*/ 99 h 199"/>
              <a:gd name="T72" fmla="*/ 0 w 739"/>
              <a:gd name="T73" fmla="*/ 112 h 199"/>
              <a:gd name="T74" fmla="*/ 2 w 739"/>
              <a:gd name="T75" fmla="*/ 124 h 199"/>
              <a:gd name="T76" fmla="*/ 2 w 739"/>
              <a:gd name="T77" fmla="*/ 137 h 199"/>
              <a:gd name="T78" fmla="*/ 3 w 739"/>
              <a:gd name="T79" fmla="*/ 151 h 199"/>
              <a:gd name="T80" fmla="*/ 5 w 739"/>
              <a:gd name="T81" fmla="*/ 162 h 199"/>
              <a:gd name="T82" fmla="*/ 8 w 739"/>
              <a:gd name="T83" fmla="*/ 174 h 199"/>
              <a:gd name="T84" fmla="*/ 10 w 739"/>
              <a:gd name="T85" fmla="*/ 187 h 199"/>
              <a:gd name="T86" fmla="*/ 13 w 739"/>
              <a:gd name="T87" fmla="*/ 199 h 199"/>
              <a:gd name="T88" fmla="*/ 18 w 739"/>
              <a:gd name="T89" fmla="*/ 199 h 199"/>
              <a:gd name="T90" fmla="*/ 15 w 739"/>
              <a:gd name="T91" fmla="*/ 187 h 199"/>
              <a:gd name="T92" fmla="*/ 13 w 739"/>
              <a:gd name="T93" fmla="*/ 174 h 199"/>
              <a:gd name="T94" fmla="*/ 10 w 739"/>
              <a:gd name="T95" fmla="*/ 162 h 199"/>
              <a:gd name="T96" fmla="*/ 8 w 739"/>
              <a:gd name="T97" fmla="*/ 151 h 199"/>
              <a:gd name="T98" fmla="*/ 7 w 739"/>
              <a:gd name="T99" fmla="*/ 137 h 199"/>
              <a:gd name="T100" fmla="*/ 7 w 739"/>
              <a:gd name="T101" fmla="*/ 124 h 199"/>
              <a:gd name="T102" fmla="*/ 5 w 739"/>
              <a:gd name="T103" fmla="*/ 112 h 199"/>
              <a:gd name="T104" fmla="*/ 5 w 739"/>
              <a:gd name="T105" fmla="*/ 99 h 199"/>
              <a:gd name="T106" fmla="*/ 5 w 739"/>
              <a:gd name="T107" fmla="*/ 98 h 199"/>
              <a:gd name="T108" fmla="*/ 5 w 739"/>
              <a:gd name="T109" fmla="*/ 96 h 199"/>
              <a:gd name="T110" fmla="*/ 5 w 739"/>
              <a:gd name="T111" fmla="*/ 94 h 199"/>
              <a:gd name="T112" fmla="*/ 5 w 739"/>
              <a:gd name="T113" fmla="*/ 93 h 199"/>
              <a:gd name="T114" fmla="*/ 5 w 739"/>
              <a:gd name="T115" fmla="*/ 91 h 199"/>
              <a:gd name="T116" fmla="*/ 5 w 739"/>
              <a:gd name="T117" fmla="*/ 89 h 199"/>
              <a:gd name="T118" fmla="*/ 5 w 739"/>
              <a:gd name="T119" fmla="*/ 88 h 199"/>
              <a:gd name="T120" fmla="*/ 5 w 739"/>
              <a:gd name="T121" fmla="*/ 84 h 199"/>
              <a:gd name="T122" fmla="*/ 0 w 739"/>
              <a:gd name="T123" fmla="*/ 8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39" h="199">
                <a:moveTo>
                  <a:pt x="739" y="99"/>
                </a:moveTo>
                <a:lnTo>
                  <a:pt x="737" y="86"/>
                </a:lnTo>
                <a:lnTo>
                  <a:pt x="737" y="73"/>
                </a:lnTo>
                <a:lnTo>
                  <a:pt x="735" y="61"/>
                </a:lnTo>
                <a:lnTo>
                  <a:pt x="734" y="48"/>
                </a:lnTo>
                <a:lnTo>
                  <a:pt x="732" y="36"/>
                </a:lnTo>
                <a:lnTo>
                  <a:pt x="730" y="23"/>
                </a:lnTo>
                <a:lnTo>
                  <a:pt x="727" y="11"/>
                </a:lnTo>
                <a:lnTo>
                  <a:pt x="724" y="0"/>
                </a:lnTo>
                <a:lnTo>
                  <a:pt x="719" y="0"/>
                </a:lnTo>
                <a:lnTo>
                  <a:pt x="722" y="11"/>
                </a:lnTo>
                <a:lnTo>
                  <a:pt x="725" y="23"/>
                </a:lnTo>
                <a:lnTo>
                  <a:pt x="727" y="36"/>
                </a:lnTo>
                <a:lnTo>
                  <a:pt x="730" y="48"/>
                </a:lnTo>
                <a:lnTo>
                  <a:pt x="730" y="61"/>
                </a:lnTo>
                <a:lnTo>
                  <a:pt x="732" y="73"/>
                </a:lnTo>
                <a:lnTo>
                  <a:pt x="732" y="86"/>
                </a:lnTo>
                <a:lnTo>
                  <a:pt x="734" y="99"/>
                </a:lnTo>
                <a:lnTo>
                  <a:pt x="734" y="101"/>
                </a:lnTo>
                <a:lnTo>
                  <a:pt x="734" y="102"/>
                </a:lnTo>
                <a:lnTo>
                  <a:pt x="734" y="104"/>
                </a:lnTo>
                <a:lnTo>
                  <a:pt x="734" y="106"/>
                </a:lnTo>
                <a:lnTo>
                  <a:pt x="734" y="107"/>
                </a:lnTo>
                <a:lnTo>
                  <a:pt x="737" y="104"/>
                </a:lnTo>
                <a:lnTo>
                  <a:pt x="737" y="102"/>
                </a:lnTo>
                <a:lnTo>
                  <a:pt x="739" y="102"/>
                </a:lnTo>
                <a:lnTo>
                  <a:pt x="739" y="101"/>
                </a:lnTo>
                <a:lnTo>
                  <a:pt x="739" y="99"/>
                </a:lnTo>
                <a:close/>
                <a:moveTo>
                  <a:pt x="0" y="88"/>
                </a:moveTo>
                <a:lnTo>
                  <a:pt x="0" y="89"/>
                </a:lnTo>
                <a:lnTo>
                  <a:pt x="0" y="91"/>
                </a:lnTo>
                <a:lnTo>
                  <a:pt x="0" y="93"/>
                </a:lnTo>
                <a:lnTo>
                  <a:pt x="0" y="94"/>
                </a:lnTo>
                <a:lnTo>
                  <a:pt x="0" y="96"/>
                </a:lnTo>
                <a:lnTo>
                  <a:pt x="0" y="98"/>
                </a:lnTo>
                <a:lnTo>
                  <a:pt x="0" y="99"/>
                </a:lnTo>
                <a:lnTo>
                  <a:pt x="0" y="112"/>
                </a:lnTo>
                <a:lnTo>
                  <a:pt x="2"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7" y="124"/>
                </a:lnTo>
                <a:lnTo>
                  <a:pt x="5" y="112"/>
                </a:lnTo>
                <a:lnTo>
                  <a:pt x="5" y="99"/>
                </a:lnTo>
                <a:lnTo>
                  <a:pt x="5" y="98"/>
                </a:lnTo>
                <a:lnTo>
                  <a:pt x="5" y="96"/>
                </a:lnTo>
                <a:lnTo>
                  <a:pt x="5" y="94"/>
                </a:lnTo>
                <a:lnTo>
                  <a:pt x="5" y="93"/>
                </a:lnTo>
                <a:lnTo>
                  <a:pt x="5" y="91"/>
                </a:lnTo>
                <a:lnTo>
                  <a:pt x="5" y="89"/>
                </a:lnTo>
                <a:lnTo>
                  <a:pt x="5" y="88"/>
                </a:lnTo>
                <a:lnTo>
                  <a:pt x="5" y="84"/>
                </a:lnTo>
                <a:lnTo>
                  <a:pt x="0" y="88"/>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65" name="Freeform 1270">
            <a:extLst>
              <a:ext uri="{FF2B5EF4-FFF2-40B4-BE49-F238E27FC236}">
                <a16:creationId xmlns:a16="http://schemas.microsoft.com/office/drawing/2014/main" id="{CB018FF6-D9FE-48F2-A228-28A6E9A18821}"/>
              </a:ext>
            </a:extLst>
          </p:cNvPr>
          <p:cNvSpPr>
            <a:spLocks noEditPoints="1"/>
          </p:cNvSpPr>
          <p:nvPr/>
        </p:nvSpPr>
        <p:spPr bwMode="auto">
          <a:xfrm>
            <a:off x="2333625" y="2403475"/>
            <a:ext cx="1162050" cy="315913"/>
          </a:xfrm>
          <a:custGeom>
            <a:avLst/>
            <a:gdLst>
              <a:gd name="T0" fmla="*/ 732 w 732"/>
              <a:gd name="T1" fmla="*/ 99 h 199"/>
              <a:gd name="T2" fmla="*/ 732 w 732"/>
              <a:gd name="T3" fmla="*/ 86 h 199"/>
              <a:gd name="T4" fmla="*/ 732 w 732"/>
              <a:gd name="T5" fmla="*/ 73 h 199"/>
              <a:gd name="T6" fmla="*/ 731 w 732"/>
              <a:gd name="T7" fmla="*/ 61 h 199"/>
              <a:gd name="T8" fmla="*/ 729 w 732"/>
              <a:gd name="T9" fmla="*/ 48 h 199"/>
              <a:gd name="T10" fmla="*/ 727 w 732"/>
              <a:gd name="T11" fmla="*/ 36 h 199"/>
              <a:gd name="T12" fmla="*/ 724 w 732"/>
              <a:gd name="T13" fmla="*/ 23 h 199"/>
              <a:gd name="T14" fmla="*/ 722 w 732"/>
              <a:gd name="T15" fmla="*/ 11 h 199"/>
              <a:gd name="T16" fmla="*/ 719 w 732"/>
              <a:gd name="T17" fmla="*/ 0 h 199"/>
              <a:gd name="T18" fmla="*/ 714 w 732"/>
              <a:gd name="T19" fmla="*/ 0 h 199"/>
              <a:gd name="T20" fmla="*/ 717 w 732"/>
              <a:gd name="T21" fmla="*/ 11 h 199"/>
              <a:gd name="T22" fmla="*/ 719 w 732"/>
              <a:gd name="T23" fmla="*/ 23 h 199"/>
              <a:gd name="T24" fmla="*/ 722 w 732"/>
              <a:gd name="T25" fmla="*/ 36 h 199"/>
              <a:gd name="T26" fmla="*/ 724 w 732"/>
              <a:gd name="T27" fmla="*/ 48 h 199"/>
              <a:gd name="T28" fmla="*/ 726 w 732"/>
              <a:gd name="T29" fmla="*/ 61 h 199"/>
              <a:gd name="T30" fmla="*/ 727 w 732"/>
              <a:gd name="T31" fmla="*/ 73 h 199"/>
              <a:gd name="T32" fmla="*/ 727 w 732"/>
              <a:gd name="T33" fmla="*/ 86 h 199"/>
              <a:gd name="T34" fmla="*/ 727 w 732"/>
              <a:gd name="T35" fmla="*/ 99 h 199"/>
              <a:gd name="T36" fmla="*/ 727 w 732"/>
              <a:gd name="T37" fmla="*/ 101 h 199"/>
              <a:gd name="T38" fmla="*/ 727 w 732"/>
              <a:gd name="T39" fmla="*/ 102 h 199"/>
              <a:gd name="T40" fmla="*/ 727 w 732"/>
              <a:gd name="T41" fmla="*/ 104 h 199"/>
              <a:gd name="T42" fmla="*/ 727 w 732"/>
              <a:gd name="T43" fmla="*/ 106 h 199"/>
              <a:gd name="T44" fmla="*/ 727 w 732"/>
              <a:gd name="T45" fmla="*/ 107 h 199"/>
              <a:gd name="T46" fmla="*/ 732 w 732"/>
              <a:gd name="T47" fmla="*/ 106 h 199"/>
              <a:gd name="T48" fmla="*/ 732 w 732"/>
              <a:gd name="T49" fmla="*/ 104 h 199"/>
              <a:gd name="T50" fmla="*/ 732 w 732"/>
              <a:gd name="T51" fmla="*/ 102 h 199"/>
              <a:gd name="T52" fmla="*/ 732 w 732"/>
              <a:gd name="T53" fmla="*/ 101 h 199"/>
              <a:gd name="T54" fmla="*/ 732 w 732"/>
              <a:gd name="T55" fmla="*/ 99 h 199"/>
              <a:gd name="T56" fmla="*/ 0 w 732"/>
              <a:gd name="T57" fmla="*/ 86 h 199"/>
              <a:gd name="T58" fmla="*/ 0 w 732"/>
              <a:gd name="T59" fmla="*/ 88 h 199"/>
              <a:gd name="T60" fmla="*/ 0 w 732"/>
              <a:gd name="T61" fmla="*/ 89 h 199"/>
              <a:gd name="T62" fmla="*/ 0 w 732"/>
              <a:gd name="T63" fmla="*/ 91 h 199"/>
              <a:gd name="T64" fmla="*/ 0 w 732"/>
              <a:gd name="T65" fmla="*/ 93 h 199"/>
              <a:gd name="T66" fmla="*/ 0 w 732"/>
              <a:gd name="T67" fmla="*/ 94 h 199"/>
              <a:gd name="T68" fmla="*/ 0 w 732"/>
              <a:gd name="T69" fmla="*/ 96 h 199"/>
              <a:gd name="T70" fmla="*/ 0 w 732"/>
              <a:gd name="T71" fmla="*/ 98 h 199"/>
              <a:gd name="T72" fmla="*/ 0 w 732"/>
              <a:gd name="T73" fmla="*/ 99 h 199"/>
              <a:gd name="T74" fmla="*/ 0 w 732"/>
              <a:gd name="T75" fmla="*/ 112 h 199"/>
              <a:gd name="T76" fmla="*/ 0 w 732"/>
              <a:gd name="T77" fmla="*/ 124 h 199"/>
              <a:gd name="T78" fmla="*/ 2 w 732"/>
              <a:gd name="T79" fmla="*/ 137 h 199"/>
              <a:gd name="T80" fmla="*/ 4 w 732"/>
              <a:gd name="T81" fmla="*/ 151 h 199"/>
              <a:gd name="T82" fmla="*/ 5 w 732"/>
              <a:gd name="T83" fmla="*/ 162 h 199"/>
              <a:gd name="T84" fmla="*/ 7 w 732"/>
              <a:gd name="T85" fmla="*/ 174 h 199"/>
              <a:gd name="T86" fmla="*/ 10 w 732"/>
              <a:gd name="T87" fmla="*/ 187 h 199"/>
              <a:gd name="T88" fmla="*/ 14 w 732"/>
              <a:gd name="T89" fmla="*/ 199 h 199"/>
              <a:gd name="T90" fmla="*/ 19 w 732"/>
              <a:gd name="T91" fmla="*/ 199 h 199"/>
              <a:gd name="T92" fmla="*/ 15 w 732"/>
              <a:gd name="T93" fmla="*/ 187 h 199"/>
              <a:gd name="T94" fmla="*/ 12 w 732"/>
              <a:gd name="T95" fmla="*/ 174 h 199"/>
              <a:gd name="T96" fmla="*/ 10 w 732"/>
              <a:gd name="T97" fmla="*/ 162 h 199"/>
              <a:gd name="T98" fmla="*/ 9 w 732"/>
              <a:gd name="T99" fmla="*/ 151 h 199"/>
              <a:gd name="T100" fmla="*/ 7 w 732"/>
              <a:gd name="T101" fmla="*/ 137 h 199"/>
              <a:gd name="T102" fmla="*/ 5 w 732"/>
              <a:gd name="T103" fmla="*/ 124 h 199"/>
              <a:gd name="T104" fmla="*/ 5 w 732"/>
              <a:gd name="T105" fmla="*/ 112 h 199"/>
              <a:gd name="T106" fmla="*/ 5 w 732"/>
              <a:gd name="T107" fmla="*/ 99 h 199"/>
              <a:gd name="T108" fmla="*/ 5 w 732"/>
              <a:gd name="T109" fmla="*/ 98 h 199"/>
              <a:gd name="T110" fmla="*/ 5 w 732"/>
              <a:gd name="T111" fmla="*/ 96 h 199"/>
              <a:gd name="T112" fmla="*/ 5 w 732"/>
              <a:gd name="T113" fmla="*/ 93 h 199"/>
              <a:gd name="T114" fmla="*/ 5 w 732"/>
              <a:gd name="T115" fmla="*/ 91 h 199"/>
              <a:gd name="T116" fmla="*/ 5 w 732"/>
              <a:gd name="T117" fmla="*/ 89 h 199"/>
              <a:gd name="T118" fmla="*/ 5 w 732"/>
              <a:gd name="T119" fmla="*/ 88 h 199"/>
              <a:gd name="T120" fmla="*/ 5 w 732"/>
              <a:gd name="T121" fmla="*/ 86 h 199"/>
              <a:gd name="T122" fmla="*/ 5 w 732"/>
              <a:gd name="T123" fmla="*/ 84 h 199"/>
              <a:gd name="T124" fmla="*/ 0 w 732"/>
              <a:gd name="T125" fmla="*/ 8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32" h="199">
                <a:moveTo>
                  <a:pt x="732" y="99"/>
                </a:moveTo>
                <a:lnTo>
                  <a:pt x="732" y="86"/>
                </a:lnTo>
                <a:lnTo>
                  <a:pt x="732" y="73"/>
                </a:lnTo>
                <a:lnTo>
                  <a:pt x="731" y="61"/>
                </a:lnTo>
                <a:lnTo>
                  <a:pt x="729" y="48"/>
                </a:lnTo>
                <a:lnTo>
                  <a:pt x="727" y="36"/>
                </a:lnTo>
                <a:lnTo>
                  <a:pt x="724" y="23"/>
                </a:lnTo>
                <a:lnTo>
                  <a:pt x="722" y="11"/>
                </a:lnTo>
                <a:lnTo>
                  <a:pt x="719" y="0"/>
                </a:lnTo>
                <a:lnTo>
                  <a:pt x="714" y="0"/>
                </a:lnTo>
                <a:lnTo>
                  <a:pt x="717" y="11"/>
                </a:lnTo>
                <a:lnTo>
                  <a:pt x="719" y="23"/>
                </a:lnTo>
                <a:lnTo>
                  <a:pt x="722" y="36"/>
                </a:lnTo>
                <a:lnTo>
                  <a:pt x="724" y="48"/>
                </a:lnTo>
                <a:lnTo>
                  <a:pt x="726" y="61"/>
                </a:lnTo>
                <a:lnTo>
                  <a:pt x="727" y="73"/>
                </a:lnTo>
                <a:lnTo>
                  <a:pt x="727" y="86"/>
                </a:lnTo>
                <a:lnTo>
                  <a:pt x="727" y="99"/>
                </a:lnTo>
                <a:lnTo>
                  <a:pt x="727" y="101"/>
                </a:lnTo>
                <a:lnTo>
                  <a:pt x="727" y="102"/>
                </a:lnTo>
                <a:lnTo>
                  <a:pt x="727" y="104"/>
                </a:lnTo>
                <a:lnTo>
                  <a:pt x="727" y="106"/>
                </a:lnTo>
                <a:lnTo>
                  <a:pt x="727" y="107"/>
                </a:lnTo>
                <a:lnTo>
                  <a:pt x="732" y="106"/>
                </a:lnTo>
                <a:lnTo>
                  <a:pt x="732" y="104"/>
                </a:lnTo>
                <a:lnTo>
                  <a:pt x="732" y="102"/>
                </a:lnTo>
                <a:lnTo>
                  <a:pt x="732" y="101"/>
                </a:lnTo>
                <a:lnTo>
                  <a:pt x="732" y="99"/>
                </a:lnTo>
                <a:close/>
                <a:moveTo>
                  <a:pt x="0" y="86"/>
                </a:moveTo>
                <a:lnTo>
                  <a:pt x="0" y="88"/>
                </a:lnTo>
                <a:lnTo>
                  <a:pt x="0" y="89"/>
                </a:lnTo>
                <a:lnTo>
                  <a:pt x="0" y="91"/>
                </a:lnTo>
                <a:lnTo>
                  <a:pt x="0" y="93"/>
                </a:lnTo>
                <a:lnTo>
                  <a:pt x="0" y="94"/>
                </a:lnTo>
                <a:lnTo>
                  <a:pt x="0" y="96"/>
                </a:lnTo>
                <a:lnTo>
                  <a:pt x="0" y="98"/>
                </a:lnTo>
                <a:lnTo>
                  <a:pt x="0" y="99"/>
                </a:lnTo>
                <a:lnTo>
                  <a:pt x="0" y="112"/>
                </a:lnTo>
                <a:lnTo>
                  <a:pt x="0" y="124"/>
                </a:lnTo>
                <a:lnTo>
                  <a:pt x="2" y="137"/>
                </a:lnTo>
                <a:lnTo>
                  <a:pt x="4" y="151"/>
                </a:lnTo>
                <a:lnTo>
                  <a:pt x="5" y="162"/>
                </a:lnTo>
                <a:lnTo>
                  <a:pt x="7" y="174"/>
                </a:lnTo>
                <a:lnTo>
                  <a:pt x="10" y="187"/>
                </a:lnTo>
                <a:lnTo>
                  <a:pt x="14" y="199"/>
                </a:lnTo>
                <a:lnTo>
                  <a:pt x="19" y="199"/>
                </a:lnTo>
                <a:lnTo>
                  <a:pt x="15" y="187"/>
                </a:lnTo>
                <a:lnTo>
                  <a:pt x="12" y="174"/>
                </a:lnTo>
                <a:lnTo>
                  <a:pt x="10" y="162"/>
                </a:lnTo>
                <a:lnTo>
                  <a:pt x="9" y="151"/>
                </a:lnTo>
                <a:lnTo>
                  <a:pt x="7" y="137"/>
                </a:lnTo>
                <a:lnTo>
                  <a:pt x="5" y="124"/>
                </a:lnTo>
                <a:lnTo>
                  <a:pt x="5" y="112"/>
                </a:lnTo>
                <a:lnTo>
                  <a:pt x="5" y="99"/>
                </a:lnTo>
                <a:lnTo>
                  <a:pt x="5" y="98"/>
                </a:lnTo>
                <a:lnTo>
                  <a:pt x="5" y="96"/>
                </a:lnTo>
                <a:lnTo>
                  <a:pt x="5" y="93"/>
                </a:lnTo>
                <a:lnTo>
                  <a:pt x="5" y="91"/>
                </a:lnTo>
                <a:lnTo>
                  <a:pt x="5" y="89"/>
                </a:lnTo>
                <a:lnTo>
                  <a:pt x="5" y="88"/>
                </a:lnTo>
                <a:lnTo>
                  <a:pt x="5" y="86"/>
                </a:lnTo>
                <a:lnTo>
                  <a:pt x="5" y="84"/>
                </a:lnTo>
                <a:lnTo>
                  <a:pt x="0" y="86"/>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66" name="Freeform 1271">
            <a:extLst>
              <a:ext uri="{FF2B5EF4-FFF2-40B4-BE49-F238E27FC236}">
                <a16:creationId xmlns:a16="http://schemas.microsoft.com/office/drawing/2014/main" id="{BD6D1DCA-1FA3-5D60-0D9C-BBDE455F07B8}"/>
              </a:ext>
            </a:extLst>
          </p:cNvPr>
          <p:cNvSpPr>
            <a:spLocks noEditPoints="1"/>
          </p:cNvSpPr>
          <p:nvPr/>
        </p:nvSpPr>
        <p:spPr bwMode="auto">
          <a:xfrm>
            <a:off x="2336800" y="2403475"/>
            <a:ext cx="1157288" cy="315913"/>
          </a:xfrm>
          <a:custGeom>
            <a:avLst/>
            <a:gdLst>
              <a:gd name="T0" fmla="*/ 727 w 729"/>
              <a:gd name="T1" fmla="*/ 86 h 199"/>
              <a:gd name="T2" fmla="*/ 725 w 729"/>
              <a:gd name="T3" fmla="*/ 61 h 199"/>
              <a:gd name="T4" fmla="*/ 722 w 729"/>
              <a:gd name="T5" fmla="*/ 36 h 199"/>
              <a:gd name="T6" fmla="*/ 717 w 729"/>
              <a:gd name="T7" fmla="*/ 11 h 199"/>
              <a:gd name="T8" fmla="*/ 709 w 729"/>
              <a:gd name="T9" fmla="*/ 0 h 199"/>
              <a:gd name="T10" fmla="*/ 715 w 729"/>
              <a:gd name="T11" fmla="*/ 23 h 199"/>
              <a:gd name="T12" fmla="*/ 720 w 729"/>
              <a:gd name="T13" fmla="*/ 48 h 199"/>
              <a:gd name="T14" fmla="*/ 722 w 729"/>
              <a:gd name="T15" fmla="*/ 73 h 199"/>
              <a:gd name="T16" fmla="*/ 724 w 729"/>
              <a:gd name="T17" fmla="*/ 99 h 199"/>
              <a:gd name="T18" fmla="*/ 724 w 729"/>
              <a:gd name="T19" fmla="*/ 102 h 199"/>
              <a:gd name="T20" fmla="*/ 724 w 729"/>
              <a:gd name="T21" fmla="*/ 106 h 199"/>
              <a:gd name="T22" fmla="*/ 724 w 729"/>
              <a:gd name="T23" fmla="*/ 109 h 199"/>
              <a:gd name="T24" fmla="*/ 729 w 729"/>
              <a:gd name="T25" fmla="*/ 106 h 199"/>
              <a:gd name="T26" fmla="*/ 729 w 729"/>
              <a:gd name="T27" fmla="*/ 102 h 199"/>
              <a:gd name="T28" fmla="*/ 729 w 729"/>
              <a:gd name="T29" fmla="*/ 99 h 199"/>
              <a:gd name="T30" fmla="*/ 0 w 729"/>
              <a:gd name="T31" fmla="*/ 88 h 199"/>
              <a:gd name="T32" fmla="*/ 0 w 729"/>
              <a:gd name="T33" fmla="*/ 91 h 199"/>
              <a:gd name="T34" fmla="*/ 0 w 729"/>
              <a:gd name="T35" fmla="*/ 94 h 199"/>
              <a:gd name="T36" fmla="*/ 0 w 729"/>
              <a:gd name="T37" fmla="*/ 98 h 199"/>
              <a:gd name="T38" fmla="*/ 0 w 729"/>
              <a:gd name="T39" fmla="*/ 112 h 199"/>
              <a:gd name="T40" fmla="*/ 2 w 729"/>
              <a:gd name="T41" fmla="*/ 137 h 199"/>
              <a:gd name="T42" fmla="*/ 5 w 729"/>
              <a:gd name="T43" fmla="*/ 162 h 199"/>
              <a:gd name="T44" fmla="*/ 10 w 729"/>
              <a:gd name="T45" fmla="*/ 187 h 199"/>
              <a:gd name="T46" fmla="*/ 18 w 729"/>
              <a:gd name="T47" fmla="*/ 199 h 199"/>
              <a:gd name="T48" fmla="*/ 13 w 729"/>
              <a:gd name="T49" fmla="*/ 174 h 199"/>
              <a:gd name="T50" fmla="*/ 8 w 729"/>
              <a:gd name="T51" fmla="*/ 151 h 199"/>
              <a:gd name="T52" fmla="*/ 5 w 729"/>
              <a:gd name="T53" fmla="*/ 124 h 199"/>
              <a:gd name="T54" fmla="*/ 5 w 729"/>
              <a:gd name="T55" fmla="*/ 99 h 199"/>
              <a:gd name="T56" fmla="*/ 5 w 729"/>
              <a:gd name="T57" fmla="*/ 94 h 199"/>
              <a:gd name="T58" fmla="*/ 5 w 729"/>
              <a:gd name="T59" fmla="*/ 91 h 199"/>
              <a:gd name="T60" fmla="*/ 5 w 729"/>
              <a:gd name="T61" fmla="*/ 88 h 199"/>
              <a:gd name="T62" fmla="*/ 5 w 729"/>
              <a:gd name="T63" fmla="*/ 8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29" h="199">
                <a:moveTo>
                  <a:pt x="729" y="99"/>
                </a:moveTo>
                <a:lnTo>
                  <a:pt x="727" y="86"/>
                </a:lnTo>
                <a:lnTo>
                  <a:pt x="727" y="73"/>
                </a:lnTo>
                <a:lnTo>
                  <a:pt x="725" y="61"/>
                </a:lnTo>
                <a:lnTo>
                  <a:pt x="725" y="48"/>
                </a:lnTo>
                <a:lnTo>
                  <a:pt x="722" y="36"/>
                </a:lnTo>
                <a:lnTo>
                  <a:pt x="720" y="23"/>
                </a:lnTo>
                <a:lnTo>
                  <a:pt x="717" y="11"/>
                </a:lnTo>
                <a:lnTo>
                  <a:pt x="714" y="0"/>
                </a:lnTo>
                <a:lnTo>
                  <a:pt x="709" y="0"/>
                </a:lnTo>
                <a:lnTo>
                  <a:pt x="712" y="11"/>
                </a:lnTo>
                <a:lnTo>
                  <a:pt x="715" y="23"/>
                </a:lnTo>
                <a:lnTo>
                  <a:pt x="717" y="36"/>
                </a:lnTo>
                <a:lnTo>
                  <a:pt x="720" y="48"/>
                </a:lnTo>
                <a:lnTo>
                  <a:pt x="722" y="61"/>
                </a:lnTo>
                <a:lnTo>
                  <a:pt x="722" y="73"/>
                </a:lnTo>
                <a:lnTo>
                  <a:pt x="724" y="86"/>
                </a:lnTo>
                <a:lnTo>
                  <a:pt x="724" y="99"/>
                </a:lnTo>
                <a:lnTo>
                  <a:pt x="724" y="101"/>
                </a:lnTo>
                <a:lnTo>
                  <a:pt x="724" y="102"/>
                </a:lnTo>
                <a:lnTo>
                  <a:pt x="724" y="104"/>
                </a:lnTo>
                <a:lnTo>
                  <a:pt x="724" y="106"/>
                </a:lnTo>
                <a:lnTo>
                  <a:pt x="724" y="107"/>
                </a:lnTo>
                <a:lnTo>
                  <a:pt x="724" y="109"/>
                </a:lnTo>
                <a:lnTo>
                  <a:pt x="729" y="107"/>
                </a:lnTo>
                <a:lnTo>
                  <a:pt x="729" y="106"/>
                </a:lnTo>
                <a:lnTo>
                  <a:pt x="729" y="104"/>
                </a:lnTo>
                <a:lnTo>
                  <a:pt x="729" y="102"/>
                </a:lnTo>
                <a:lnTo>
                  <a:pt x="729" y="101"/>
                </a:lnTo>
                <a:lnTo>
                  <a:pt x="729" y="99"/>
                </a:lnTo>
                <a:close/>
                <a:moveTo>
                  <a:pt x="0" y="84"/>
                </a:moveTo>
                <a:lnTo>
                  <a:pt x="0" y="88"/>
                </a:lnTo>
                <a:lnTo>
                  <a:pt x="0" y="89"/>
                </a:lnTo>
                <a:lnTo>
                  <a:pt x="0" y="91"/>
                </a:lnTo>
                <a:lnTo>
                  <a:pt x="0" y="93"/>
                </a:lnTo>
                <a:lnTo>
                  <a:pt x="0" y="94"/>
                </a:lnTo>
                <a:lnTo>
                  <a:pt x="0" y="96"/>
                </a:lnTo>
                <a:lnTo>
                  <a:pt x="0" y="98"/>
                </a:lnTo>
                <a:lnTo>
                  <a:pt x="0" y="99"/>
                </a:lnTo>
                <a:lnTo>
                  <a:pt x="0" y="112"/>
                </a:lnTo>
                <a:lnTo>
                  <a:pt x="2"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8"/>
                </a:lnTo>
                <a:lnTo>
                  <a:pt x="5" y="94"/>
                </a:lnTo>
                <a:lnTo>
                  <a:pt x="5" y="93"/>
                </a:lnTo>
                <a:lnTo>
                  <a:pt x="5" y="91"/>
                </a:lnTo>
                <a:lnTo>
                  <a:pt x="5" y="89"/>
                </a:lnTo>
                <a:lnTo>
                  <a:pt x="5" y="88"/>
                </a:lnTo>
                <a:lnTo>
                  <a:pt x="5" y="84"/>
                </a:lnTo>
                <a:lnTo>
                  <a:pt x="5" y="83"/>
                </a:lnTo>
                <a:lnTo>
                  <a:pt x="0" y="84"/>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67" name="Freeform 1272">
            <a:extLst>
              <a:ext uri="{FF2B5EF4-FFF2-40B4-BE49-F238E27FC236}">
                <a16:creationId xmlns:a16="http://schemas.microsoft.com/office/drawing/2014/main" id="{6FB3A2F5-E2E5-6C45-7BAC-A4EFD3CD6271}"/>
              </a:ext>
            </a:extLst>
          </p:cNvPr>
          <p:cNvSpPr>
            <a:spLocks noEditPoints="1"/>
          </p:cNvSpPr>
          <p:nvPr/>
        </p:nvSpPr>
        <p:spPr bwMode="auto">
          <a:xfrm>
            <a:off x="2341563" y="2403475"/>
            <a:ext cx="1146175" cy="315913"/>
          </a:xfrm>
          <a:custGeom>
            <a:avLst/>
            <a:gdLst>
              <a:gd name="T0" fmla="*/ 722 w 722"/>
              <a:gd name="T1" fmla="*/ 86 h 199"/>
              <a:gd name="T2" fmla="*/ 721 w 722"/>
              <a:gd name="T3" fmla="*/ 61 h 199"/>
              <a:gd name="T4" fmla="*/ 717 w 722"/>
              <a:gd name="T5" fmla="*/ 36 h 199"/>
              <a:gd name="T6" fmla="*/ 712 w 722"/>
              <a:gd name="T7" fmla="*/ 11 h 199"/>
              <a:gd name="T8" fmla="*/ 704 w 722"/>
              <a:gd name="T9" fmla="*/ 0 h 199"/>
              <a:gd name="T10" fmla="*/ 709 w 722"/>
              <a:gd name="T11" fmla="*/ 23 h 199"/>
              <a:gd name="T12" fmla="*/ 714 w 722"/>
              <a:gd name="T13" fmla="*/ 48 h 199"/>
              <a:gd name="T14" fmla="*/ 717 w 722"/>
              <a:gd name="T15" fmla="*/ 73 h 199"/>
              <a:gd name="T16" fmla="*/ 717 w 722"/>
              <a:gd name="T17" fmla="*/ 99 h 199"/>
              <a:gd name="T18" fmla="*/ 717 w 722"/>
              <a:gd name="T19" fmla="*/ 102 h 199"/>
              <a:gd name="T20" fmla="*/ 717 w 722"/>
              <a:gd name="T21" fmla="*/ 106 h 199"/>
              <a:gd name="T22" fmla="*/ 717 w 722"/>
              <a:gd name="T23" fmla="*/ 109 h 199"/>
              <a:gd name="T24" fmla="*/ 722 w 722"/>
              <a:gd name="T25" fmla="*/ 107 h 199"/>
              <a:gd name="T26" fmla="*/ 722 w 722"/>
              <a:gd name="T27" fmla="*/ 104 h 199"/>
              <a:gd name="T28" fmla="*/ 722 w 722"/>
              <a:gd name="T29" fmla="*/ 101 h 199"/>
              <a:gd name="T30" fmla="*/ 0 w 722"/>
              <a:gd name="T31" fmla="*/ 84 h 199"/>
              <a:gd name="T32" fmla="*/ 0 w 722"/>
              <a:gd name="T33" fmla="*/ 88 h 199"/>
              <a:gd name="T34" fmla="*/ 0 w 722"/>
              <a:gd name="T35" fmla="*/ 91 h 199"/>
              <a:gd name="T36" fmla="*/ 0 w 722"/>
              <a:gd name="T37" fmla="*/ 96 h 199"/>
              <a:gd name="T38" fmla="*/ 0 w 722"/>
              <a:gd name="T39" fmla="*/ 99 h 199"/>
              <a:gd name="T40" fmla="*/ 0 w 722"/>
              <a:gd name="T41" fmla="*/ 124 h 199"/>
              <a:gd name="T42" fmla="*/ 4 w 722"/>
              <a:gd name="T43" fmla="*/ 151 h 199"/>
              <a:gd name="T44" fmla="*/ 7 w 722"/>
              <a:gd name="T45" fmla="*/ 174 h 199"/>
              <a:gd name="T46" fmla="*/ 14 w 722"/>
              <a:gd name="T47" fmla="*/ 199 h 199"/>
              <a:gd name="T48" fmla="*/ 15 w 722"/>
              <a:gd name="T49" fmla="*/ 187 h 199"/>
              <a:gd name="T50" fmla="*/ 10 w 722"/>
              <a:gd name="T51" fmla="*/ 162 h 199"/>
              <a:gd name="T52" fmla="*/ 7 w 722"/>
              <a:gd name="T53" fmla="*/ 137 h 199"/>
              <a:gd name="T54" fmla="*/ 5 w 722"/>
              <a:gd name="T55" fmla="*/ 112 h 199"/>
              <a:gd name="T56" fmla="*/ 4 w 722"/>
              <a:gd name="T57" fmla="*/ 98 h 199"/>
              <a:gd name="T58" fmla="*/ 4 w 722"/>
              <a:gd name="T59" fmla="*/ 93 h 199"/>
              <a:gd name="T60" fmla="*/ 4 w 722"/>
              <a:gd name="T61" fmla="*/ 88 h 199"/>
              <a:gd name="T62" fmla="*/ 5 w 722"/>
              <a:gd name="T63" fmla="*/ 84 h 199"/>
              <a:gd name="T64" fmla="*/ 0 w 722"/>
              <a:gd name="T65" fmla="*/ 8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22" h="199">
                <a:moveTo>
                  <a:pt x="722" y="99"/>
                </a:moveTo>
                <a:lnTo>
                  <a:pt x="722" y="86"/>
                </a:lnTo>
                <a:lnTo>
                  <a:pt x="722" y="73"/>
                </a:lnTo>
                <a:lnTo>
                  <a:pt x="721" y="61"/>
                </a:lnTo>
                <a:lnTo>
                  <a:pt x="719" y="48"/>
                </a:lnTo>
                <a:lnTo>
                  <a:pt x="717" y="36"/>
                </a:lnTo>
                <a:lnTo>
                  <a:pt x="714" y="23"/>
                </a:lnTo>
                <a:lnTo>
                  <a:pt x="712" y="11"/>
                </a:lnTo>
                <a:lnTo>
                  <a:pt x="709" y="0"/>
                </a:lnTo>
                <a:lnTo>
                  <a:pt x="704" y="0"/>
                </a:lnTo>
                <a:lnTo>
                  <a:pt x="708" y="11"/>
                </a:lnTo>
                <a:lnTo>
                  <a:pt x="709" y="23"/>
                </a:lnTo>
                <a:lnTo>
                  <a:pt x="712" y="36"/>
                </a:lnTo>
                <a:lnTo>
                  <a:pt x="714" y="48"/>
                </a:lnTo>
                <a:lnTo>
                  <a:pt x="716" y="61"/>
                </a:lnTo>
                <a:lnTo>
                  <a:pt x="717" y="73"/>
                </a:lnTo>
                <a:lnTo>
                  <a:pt x="717" y="86"/>
                </a:lnTo>
                <a:lnTo>
                  <a:pt x="717" y="99"/>
                </a:lnTo>
                <a:lnTo>
                  <a:pt x="717" y="101"/>
                </a:lnTo>
                <a:lnTo>
                  <a:pt x="717" y="102"/>
                </a:lnTo>
                <a:lnTo>
                  <a:pt x="717" y="104"/>
                </a:lnTo>
                <a:lnTo>
                  <a:pt x="717" y="106"/>
                </a:lnTo>
                <a:lnTo>
                  <a:pt x="717" y="107"/>
                </a:lnTo>
                <a:lnTo>
                  <a:pt x="717" y="109"/>
                </a:lnTo>
                <a:lnTo>
                  <a:pt x="717" y="111"/>
                </a:lnTo>
                <a:lnTo>
                  <a:pt x="722" y="107"/>
                </a:lnTo>
                <a:lnTo>
                  <a:pt x="722" y="106"/>
                </a:lnTo>
                <a:lnTo>
                  <a:pt x="722" y="104"/>
                </a:lnTo>
                <a:lnTo>
                  <a:pt x="722" y="102"/>
                </a:lnTo>
                <a:lnTo>
                  <a:pt x="722" y="101"/>
                </a:lnTo>
                <a:lnTo>
                  <a:pt x="722" y="99"/>
                </a:lnTo>
                <a:close/>
                <a:moveTo>
                  <a:pt x="0" y="84"/>
                </a:moveTo>
                <a:lnTo>
                  <a:pt x="0" y="86"/>
                </a:lnTo>
                <a:lnTo>
                  <a:pt x="0" y="88"/>
                </a:lnTo>
                <a:lnTo>
                  <a:pt x="0" y="89"/>
                </a:lnTo>
                <a:lnTo>
                  <a:pt x="0" y="91"/>
                </a:lnTo>
                <a:lnTo>
                  <a:pt x="0" y="93"/>
                </a:lnTo>
                <a:lnTo>
                  <a:pt x="0" y="96"/>
                </a:lnTo>
                <a:lnTo>
                  <a:pt x="0" y="98"/>
                </a:lnTo>
                <a:lnTo>
                  <a:pt x="0" y="99"/>
                </a:lnTo>
                <a:lnTo>
                  <a:pt x="0" y="112"/>
                </a:lnTo>
                <a:lnTo>
                  <a:pt x="0" y="124"/>
                </a:lnTo>
                <a:lnTo>
                  <a:pt x="2" y="137"/>
                </a:lnTo>
                <a:lnTo>
                  <a:pt x="4" y="151"/>
                </a:lnTo>
                <a:lnTo>
                  <a:pt x="5" y="162"/>
                </a:lnTo>
                <a:lnTo>
                  <a:pt x="7" y="174"/>
                </a:lnTo>
                <a:lnTo>
                  <a:pt x="10" y="187"/>
                </a:lnTo>
                <a:lnTo>
                  <a:pt x="14" y="199"/>
                </a:lnTo>
                <a:lnTo>
                  <a:pt x="19" y="199"/>
                </a:lnTo>
                <a:lnTo>
                  <a:pt x="15" y="187"/>
                </a:lnTo>
                <a:lnTo>
                  <a:pt x="12" y="174"/>
                </a:lnTo>
                <a:lnTo>
                  <a:pt x="10" y="162"/>
                </a:lnTo>
                <a:lnTo>
                  <a:pt x="9" y="151"/>
                </a:lnTo>
                <a:lnTo>
                  <a:pt x="7" y="137"/>
                </a:lnTo>
                <a:lnTo>
                  <a:pt x="5" y="124"/>
                </a:lnTo>
                <a:lnTo>
                  <a:pt x="5" y="112"/>
                </a:lnTo>
                <a:lnTo>
                  <a:pt x="4" y="99"/>
                </a:lnTo>
                <a:lnTo>
                  <a:pt x="4" y="98"/>
                </a:lnTo>
                <a:lnTo>
                  <a:pt x="4" y="94"/>
                </a:lnTo>
                <a:lnTo>
                  <a:pt x="4" y="93"/>
                </a:lnTo>
                <a:lnTo>
                  <a:pt x="4" y="91"/>
                </a:lnTo>
                <a:lnTo>
                  <a:pt x="4" y="88"/>
                </a:lnTo>
                <a:lnTo>
                  <a:pt x="5" y="86"/>
                </a:lnTo>
                <a:lnTo>
                  <a:pt x="5" y="84"/>
                </a:lnTo>
                <a:lnTo>
                  <a:pt x="5" y="81"/>
                </a:lnTo>
                <a:lnTo>
                  <a:pt x="0" y="84"/>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68" name="Freeform 1273">
            <a:extLst>
              <a:ext uri="{FF2B5EF4-FFF2-40B4-BE49-F238E27FC236}">
                <a16:creationId xmlns:a16="http://schemas.microsoft.com/office/drawing/2014/main" id="{8FD95454-C95E-C3A8-CD75-04894BC99AF8}"/>
              </a:ext>
            </a:extLst>
          </p:cNvPr>
          <p:cNvSpPr>
            <a:spLocks noEditPoints="1"/>
          </p:cNvSpPr>
          <p:nvPr/>
        </p:nvSpPr>
        <p:spPr bwMode="auto">
          <a:xfrm>
            <a:off x="2344738" y="2403475"/>
            <a:ext cx="1141413" cy="315913"/>
          </a:xfrm>
          <a:custGeom>
            <a:avLst/>
            <a:gdLst>
              <a:gd name="T0" fmla="*/ 719 w 719"/>
              <a:gd name="T1" fmla="*/ 86 h 199"/>
              <a:gd name="T2" fmla="*/ 717 w 719"/>
              <a:gd name="T3" fmla="*/ 61 h 199"/>
              <a:gd name="T4" fmla="*/ 712 w 719"/>
              <a:gd name="T5" fmla="*/ 36 h 199"/>
              <a:gd name="T6" fmla="*/ 707 w 719"/>
              <a:gd name="T7" fmla="*/ 11 h 199"/>
              <a:gd name="T8" fmla="*/ 699 w 719"/>
              <a:gd name="T9" fmla="*/ 0 h 199"/>
              <a:gd name="T10" fmla="*/ 706 w 719"/>
              <a:gd name="T11" fmla="*/ 23 h 199"/>
              <a:gd name="T12" fmla="*/ 710 w 719"/>
              <a:gd name="T13" fmla="*/ 48 h 199"/>
              <a:gd name="T14" fmla="*/ 712 w 719"/>
              <a:gd name="T15" fmla="*/ 73 h 199"/>
              <a:gd name="T16" fmla="*/ 714 w 719"/>
              <a:gd name="T17" fmla="*/ 99 h 199"/>
              <a:gd name="T18" fmla="*/ 714 w 719"/>
              <a:gd name="T19" fmla="*/ 102 h 199"/>
              <a:gd name="T20" fmla="*/ 714 w 719"/>
              <a:gd name="T21" fmla="*/ 106 h 199"/>
              <a:gd name="T22" fmla="*/ 714 w 719"/>
              <a:gd name="T23" fmla="*/ 109 h 199"/>
              <a:gd name="T24" fmla="*/ 719 w 719"/>
              <a:gd name="T25" fmla="*/ 109 h 199"/>
              <a:gd name="T26" fmla="*/ 719 w 719"/>
              <a:gd name="T27" fmla="*/ 106 h 199"/>
              <a:gd name="T28" fmla="*/ 719 w 719"/>
              <a:gd name="T29" fmla="*/ 102 h 199"/>
              <a:gd name="T30" fmla="*/ 719 w 719"/>
              <a:gd name="T31" fmla="*/ 99 h 199"/>
              <a:gd name="T32" fmla="*/ 0 w 719"/>
              <a:gd name="T33" fmla="*/ 84 h 199"/>
              <a:gd name="T34" fmla="*/ 0 w 719"/>
              <a:gd name="T35" fmla="*/ 89 h 199"/>
              <a:gd name="T36" fmla="*/ 0 w 719"/>
              <a:gd name="T37" fmla="*/ 93 h 199"/>
              <a:gd name="T38" fmla="*/ 0 w 719"/>
              <a:gd name="T39" fmla="*/ 98 h 199"/>
              <a:gd name="T40" fmla="*/ 0 w 719"/>
              <a:gd name="T41" fmla="*/ 112 h 199"/>
              <a:gd name="T42" fmla="*/ 2 w 719"/>
              <a:gd name="T43" fmla="*/ 137 h 199"/>
              <a:gd name="T44" fmla="*/ 5 w 719"/>
              <a:gd name="T45" fmla="*/ 162 h 199"/>
              <a:gd name="T46" fmla="*/ 10 w 719"/>
              <a:gd name="T47" fmla="*/ 187 h 199"/>
              <a:gd name="T48" fmla="*/ 18 w 719"/>
              <a:gd name="T49" fmla="*/ 199 h 199"/>
              <a:gd name="T50" fmla="*/ 13 w 719"/>
              <a:gd name="T51" fmla="*/ 174 h 199"/>
              <a:gd name="T52" fmla="*/ 8 w 719"/>
              <a:gd name="T53" fmla="*/ 151 h 199"/>
              <a:gd name="T54" fmla="*/ 5 w 719"/>
              <a:gd name="T55" fmla="*/ 124 h 199"/>
              <a:gd name="T56" fmla="*/ 5 w 719"/>
              <a:gd name="T57" fmla="*/ 99 h 199"/>
              <a:gd name="T58" fmla="*/ 5 w 719"/>
              <a:gd name="T59" fmla="*/ 94 h 199"/>
              <a:gd name="T60" fmla="*/ 5 w 719"/>
              <a:gd name="T61" fmla="*/ 89 h 199"/>
              <a:gd name="T62" fmla="*/ 5 w 719"/>
              <a:gd name="T63" fmla="*/ 84 h 199"/>
              <a:gd name="T64" fmla="*/ 5 w 719"/>
              <a:gd name="T65" fmla="*/ 8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19" h="199">
                <a:moveTo>
                  <a:pt x="719" y="99"/>
                </a:moveTo>
                <a:lnTo>
                  <a:pt x="719" y="86"/>
                </a:lnTo>
                <a:lnTo>
                  <a:pt x="717" y="73"/>
                </a:lnTo>
                <a:lnTo>
                  <a:pt x="717" y="61"/>
                </a:lnTo>
                <a:lnTo>
                  <a:pt x="715" y="48"/>
                </a:lnTo>
                <a:lnTo>
                  <a:pt x="712" y="36"/>
                </a:lnTo>
                <a:lnTo>
                  <a:pt x="710" y="23"/>
                </a:lnTo>
                <a:lnTo>
                  <a:pt x="707" y="11"/>
                </a:lnTo>
                <a:lnTo>
                  <a:pt x="704" y="0"/>
                </a:lnTo>
                <a:lnTo>
                  <a:pt x="699" y="0"/>
                </a:lnTo>
                <a:lnTo>
                  <a:pt x="702" y="11"/>
                </a:lnTo>
                <a:lnTo>
                  <a:pt x="706" y="23"/>
                </a:lnTo>
                <a:lnTo>
                  <a:pt x="707" y="36"/>
                </a:lnTo>
                <a:lnTo>
                  <a:pt x="710" y="48"/>
                </a:lnTo>
                <a:lnTo>
                  <a:pt x="712" y="61"/>
                </a:lnTo>
                <a:lnTo>
                  <a:pt x="712" y="73"/>
                </a:lnTo>
                <a:lnTo>
                  <a:pt x="714" y="86"/>
                </a:lnTo>
                <a:lnTo>
                  <a:pt x="714" y="99"/>
                </a:lnTo>
                <a:lnTo>
                  <a:pt x="714" y="101"/>
                </a:lnTo>
                <a:lnTo>
                  <a:pt x="714" y="102"/>
                </a:lnTo>
                <a:lnTo>
                  <a:pt x="714" y="104"/>
                </a:lnTo>
                <a:lnTo>
                  <a:pt x="714" y="106"/>
                </a:lnTo>
                <a:lnTo>
                  <a:pt x="714" y="107"/>
                </a:lnTo>
                <a:lnTo>
                  <a:pt x="714" y="109"/>
                </a:lnTo>
                <a:lnTo>
                  <a:pt x="714" y="111"/>
                </a:lnTo>
                <a:lnTo>
                  <a:pt x="719" y="109"/>
                </a:lnTo>
                <a:lnTo>
                  <a:pt x="719" y="107"/>
                </a:lnTo>
                <a:lnTo>
                  <a:pt x="719" y="106"/>
                </a:lnTo>
                <a:lnTo>
                  <a:pt x="719" y="104"/>
                </a:lnTo>
                <a:lnTo>
                  <a:pt x="719" y="102"/>
                </a:lnTo>
                <a:lnTo>
                  <a:pt x="719" y="101"/>
                </a:lnTo>
                <a:lnTo>
                  <a:pt x="719" y="99"/>
                </a:lnTo>
                <a:close/>
                <a:moveTo>
                  <a:pt x="0" y="83"/>
                </a:moveTo>
                <a:lnTo>
                  <a:pt x="0" y="84"/>
                </a:lnTo>
                <a:lnTo>
                  <a:pt x="0" y="88"/>
                </a:lnTo>
                <a:lnTo>
                  <a:pt x="0" y="89"/>
                </a:lnTo>
                <a:lnTo>
                  <a:pt x="0" y="91"/>
                </a:lnTo>
                <a:lnTo>
                  <a:pt x="0" y="93"/>
                </a:lnTo>
                <a:lnTo>
                  <a:pt x="0" y="94"/>
                </a:lnTo>
                <a:lnTo>
                  <a:pt x="0" y="98"/>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6"/>
                </a:lnTo>
                <a:lnTo>
                  <a:pt x="5" y="94"/>
                </a:lnTo>
                <a:lnTo>
                  <a:pt x="5" y="93"/>
                </a:lnTo>
                <a:lnTo>
                  <a:pt x="5" y="89"/>
                </a:lnTo>
                <a:lnTo>
                  <a:pt x="5" y="88"/>
                </a:lnTo>
                <a:lnTo>
                  <a:pt x="5" y="84"/>
                </a:lnTo>
                <a:lnTo>
                  <a:pt x="5" y="83"/>
                </a:lnTo>
                <a:lnTo>
                  <a:pt x="5" y="81"/>
                </a:lnTo>
                <a:lnTo>
                  <a:pt x="0" y="83"/>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69" name="Freeform 1274">
            <a:extLst>
              <a:ext uri="{FF2B5EF4-FFF2-40B4-BE49-F238E27FC236}">
                <a16:creationId xmlns:a16="http://schemas.microsoft.com/office/drawing/2014/main" id="{6E2C15DC-860E-805F-85F4-AB7EA9D16846}"/>
              </a:ext>
            </a:extLst>
          </p:cNvPr>
          <p:cNvSpPr>
            <a:spLocks noEditPoints="1"/>
          </p:cNvSpPr>
          <p:nvPr/>
        </p:nvSpPr>
        <p:spPr bwMode="auto">
          <a:xfrm>
            <a:off x="2347913" y="2403475"/>
            <a:ext cx="1131888" cy="315913"/>
          </a:xfrm>
          <a:custGeom>
            <a:avLst/>
            <a:gdLst>
              <a:gd name="T0" fmla="*/ 713 w 713"/>
              <a:gd name="T1" fmla="*/ 86 h 199"/>
              <a:gd name="T2" fmla="*/ 712 w 713"/>
              <a:gd name="T3" fmla="*/ 61 h 199"/>
              <a:gd name="T4" fmla="*/ 708 w 713"/>
              <a:gd name="T5" fmla="*/ 36 h 199"/>
              <a:gd name="T6" fmla="*/ 704 w 713"/>
              <a:gd name="T7" fmla="*/ 11 h 199"/>
              <a:gd name="T8" fmla="*/ 695 w 713"/>
              <a:gd name="T9" fmla="*/ 0 h 199"/>
              <a:gd name="T10" fmla="*/ 700 w 713"/>
              <a:gd name="T11" fmla="*/ 23 h 199"/>
              <a:gd name="T12" fmla="*/ 705 w 713"/>
              <a:gd name="T13" fmla="*/ 48 h 199"/>
              <a:gd name="T14" fmla="*/ 708 w 713"/>
              <a:gd name="T15" fmla="*/ 73 h 199"/>
              <a:gd name="T16" fmla="*/ 708 w 713"/>
              <a:gd name="T17" fmla="*/ 99 h 199"/>
              <a:gd name="T18" fmla="*/ 708 w 713"/>
              <a:gd name="T19" fmla="*/ 102 h 199"/>
              <a:gd name="T20" fmla="*/ 708 w 713"/>
              <a:gd name="T21" fmla="*/ 106 h 199"/>
              <a:gd name="T22" fmla="*/ 708 w 713"/>
              <a:gd name="T23" fmla="*/ 109 h 199"/>
              <a:gd name="T24" fmla="*/ 708 w 713"/>
              <a:gd name="T25" fmla="*/ 112 h 199"/>
              <a:gd name="T26" fmla="*/ 713 w 713"/>
              <a:gd name="T27" fmla="*/ 109 h 199"/>
              <a:gd name="T28" fmla="*/ 713 w 713"/>
              <a:gd name="T29" fmla="*/ 106 h 199"/>
              <a:gd name="T30" fmla="*/ 713 w 713"/>
              <a:gd name="T31" fmla="*/ 102 h 199"/>
              <a:gd name="T32" fmla="*/ 713 w 713"/>
              <a:gd name="T33" fmla="*/ 99 h 199"/>
              <a:gd name="T34" fmla="*/ 1 w 713"/>
              <a:gd name="T35" fmla="*/ 84 h 199"/>
              <a:gd name="T36" fmla="*/ 0 w 713"/>
              <a:gd name="T37" fmla="*/ 88 h 199"/>
              <a:gd name="T38" fmla="*/ 0 w 713"/>
              <a:gd name="T39" fmla="*/ 93 h 199"/>
              <a:gd name="T40" fmla="*/ 0 w 713"/>
              <a:gd name="T41" fmla="*/ 98 h 199"/>
              <a:gd name="T42" fmla="*/ 1 w 713"/>
              <a:gd name="T43" fmla="*/ 112 h 199"/>
              <a:gd name="T44" fmla="*/ 3 w 713"/>
              <a:gd name="T45" fmla="*/ 137 h 199"/>
              <a:gd name="T46" fmla="*/ 6 w 713"/>
              <a:gd name="T47" fmla="*/ 162 h 199"/>
              <a:gd name="T48" fmla="*/ 11 w 713"/>
              <a:gd name="T49" fmla="*/ 187 h 199"/>
              <a:gd name="T50" fmla="*/ 20 w 713"/>
              <a:gd name="T51" fmla="*/ 199 h 199"/>
              <a:gd name="T52" fmla="*/ 13 w 713"/>
              <a:gd name="T53" fmla="*/ 174 h 199"/>
              <a:gd name="T54" fmla="*/ 8 w 713"/>
              <a:gd name="T55" fmla="*/ 151 h 199"/>
              <a:gd name="T56" fmla="*/ 6 w 713"/>
              <a:gd name="T57" fmla="*/ 124 h 199"/>
              <a:gd name="T58" fmla="*/ 5 w 713"/>
              <a:gd name="T59" fmla="*/ 99 h 199"/>
              <a:gd name="T60" fmla="*/ 5 w 713"/>
              <a:gd name="T61" fmla="*/ 94 h 199"/>
              <a:gd name="T62" fmla="*/ 5 w 713"/>
              <a:gd name="T63" fmla="*/ 89 h 199"/>
              <a:gd name="T64" fmla="*/ 5 w 713"/>
              <a:gd name="T65" fmla="*/ 84 h 199"/>
              <a:gd name="T66" fmla="*/ 6 w 713"/>
              <a:gd name="T67" fmla="*/ 7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13" h="199">
                <a:moveTo>
                  <a:pt x="713" y="99"/>
                </a:moveTo>
                <a:lnTo>
                  <a:pt x="713" y="86"/>
                </a:lnTo>
                <a:lnTo>
                  <a:pt x="713" y="73"/>
                </a:lnTo>
                <a:lnTo>
                  <a:pt x="712" y="61"/>
                </a:lnTo>
                <a:lnTo>
                  <a:pt x="710" y="48"/>
                </a:lnTo>
                <a:lnTo>
                  <a:pt x="708" y="36"/>
                </a:lnTo>
                <a:lnTo>
                  <a:pt x="705" y="23"/>
                </a:lnTo>
                <a:lnTo>
                  <a:pt x="704" y="11"/>
                </a:lnTo>
                <a:lnTo>
                  <a:pt x="700" y="0"/>
                </a:lnTo>
                <a:lnTo>
                  <a:pt x="695" y="0"/>
                </a:lnTo>
                <a:lnTo>
                  <a:pt x="699" y="11"/>
                </a:lnTo>
                <a:lnTo>
                  <a:pt x="700" y="23"/>
                </a:lnTo>
                <a:lnTo>
                  <a:pt x="704" y="36"/>
                </a:lnTo>
                <a:lnTo>
                  <a:pt x="705" y="48"/>
                </a:lnTo>
                <a:lnTo>
                  <a:pt x="707" y="61"/>
                </a:lnTo>
                <a:lnTo>
                  <a:pt x="708" y="73"/>
                </a:lnTo>
                <a:lnTo>
                  <a:pt x="708" y="86"/>
                </a:lnTo>
                <a:lnTo>
                  <a:pt x="708" y="99"/>
                </a:lnTo>
                <a:lnTo>
                  <a:pt x="708" y="101"/>
                </a:lnTo>
                <a:lnTo>
                  <a:pt x="708" y="102"/>
                </a:lnTo>
                <a:lnTo>
                  <a:pt x="708" y="104"/>
                </a:lnTo>
                <a:lnTo>
                  <a:pt x="708" y="106"/>
                </a:lnTo>
                <a:lnTo>
                  <a:pt x="708" y="107"/>
                </a:lnTo>
                <a:lnTo>
                  <a:pt x="708" y="109"/>
                </a:lnTo>
                <a:lnTo>
                  <a:pt x="708" y="111"/>
                </a:lnTo>
                <a:lnTo>
                  <a:pt x="708" y="112"/>
                </a:lnTo>
                <a:lnTo>
                  <a:pt x="713" y="111"/>
                </a:lnTo>
                <a:lnTo>
                  <a:pt x="713" y="109"/>
                </a:lnTo>
                <a:lnTo>
                  <a:pt x="713" y="107"/>
                </a:lnTo>
                <a:lnTo>
                  <a:pt x="713" y="106"/>
                </a:lnTo>
                <a:lnTo>
                  <a:pt x="713" y="104"/>
                </a:lnTo>
                <a:lnTo>
                  <a:pt x="713" y="102"/>
                </a:lnTo>
                <a:lnTo>
                  <a:pt x="713" y="101"/>
                </a:lnTo>
                <a:lnTo>
                  <a:pt x="713" y="99"/>
                </a:lnTo>
                <a:close/>
                <a:moveTo>
                  <a:pt x="1" y="81"/>
                </a:moveTo>
                <a:lnTo>
                  <a:pt x="1" y="84"/>
                </a:lnTo>
                <a:lnTo>
                  <a:pt x="1" y="86"/>
                </a:lnTo>
                <a:lnTo>
                  <a:pt x="0" y="88"/>
                </a:lnTo>
                <a:lnTo>
                  <a:pt x="0" y="91"/>
                </a:lnTo>
                <a:lnTo>
                  <a:pt x="0" y="93"/>
                </a:lnTo>
                <a:lnTo>
                  <a:pt x="0" y="94"/>
                </a:lnTo>
                <a:lnTo>
                  <a:pt x="0" y="98"/>
                </a:lnTo>
                <a:lnTo>
                  <a:pt x="0" y="99"/>
                </a:lnTo>
                <a:lnTo>
                  <a:pt x="1" y="112"/>
                </a:lnTo>
                <a:lnTo>
                  <a:pt x="1" y="124"/>
                </a:lnTo>
                <a:lnTo>
                  <a:pt x="3" y="137"/>
                </a:lnTo>
                <a:lnTo>
                  <a:pt x="5" y="151"/>
                </a:lnTo>
                <a:lnTo>
                  <a:pt x="6" y="162"/>
                </a:lnTo>
                <a:lnTo>
                  <a:pt x="8" y="174"/>
                </a:lnTo>
                <a:lnTo>
                  <a:pt x="11" y="187"/>
                </a:lnTo>
                <a:lnTo>
                  <a:pt x="15" y="199"/>
                </a:lnTo>
                <a:lnTo>
                  <a:pt x="20" y="199"/>
                </a:lnTo>
                <a:lnTo>
                  <a:pt x="16" y="187"/>
                </a:lnTo>
                <a:lnTo>
                  <a:pt x="13" y="174"/>
                </a:lnTo>
                <a:lnTo>
                  <a:pt x="11" y="162"/>
                </a:lnTo>
                <a:lnTo>
                  <a:pt x="8" y="151"/>
                </a:lnTo>
                <a:lnTo>
                  <a:pt x="8" y="137"/>
                </a:lnTo>
                <a:lnTo>
                  <a:pt x="6" y="124"/>
                </a:lnTo>
                <a:lnTo>
                  <a:pt x="5" y="112"/>
                </a:lnTo>
                <a:lnTo>
                  <a:pt x="5" y="99"/>
                </a:lnTo>
                <a:lnTo>
                  <a:pt x="5" y="96"/>
                </a:lnTo>
                <a:lnTo>
                  <a:pt x="5" y="94"/>
                </a:lnTo>
                <a:lnTo>
                  <a:pt x="5" y="91"/>
                </a:lnTo>
                <a:lnTo>
                  <a:pt x="5" y="89"/>
                </a:lnTo>
                <a:lnTo>
                  <a:pt x="5" y="86"/>
                </a:lnTo>
                <a:lnTo>
                  <a:pt x="5" y="84"/>
                </a:lnTo>
                <a:lnTo>
                  <a:pt x="6" y="81"/>
                </a:lnTo>
                <a:lnTo>
                  <a:pt x="6" y="79"/>
                </a:lnTo>
                <a:lnTo>
                  <a:pt x="1" y="81"/>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70" name="Freeform 1275">
            <a:extLst>
              <a:ext uri="{FF2B5EF4-FFF2-40B4-BE49-F238E27FC236}">
                <a16:creationId xmlns:a16="http://schemas.microsoft.com/office/drawing/2014/main" id="{4D5DC4FA-E5D7-F21F-9492-6F9417F0C1D4}"/>
              </a:ext>
            </a:extLst>
          </p:cNvPr>
          <p:cNvSpPr>
            <a:spLocks noEditPoints="1"/>
          </p:cNvSpPr>
          <p:nvPr/>
        </p:nvSpPr>
        <p:spPr bwMode="auto">
          <a:xfrm>
            <a:off x="2352675" y="2403475"/>
            <a:ext cx="1125538" cy="315913"/>
          </a:xfrm>
          <a:custGeom>
            <a:avLst/>
            <a:gdLst>
              <a:gd name="T0" fmla="*/ 709 w 709"/>
              <a:gd name="T1" fmla="*/ 86 h 199"/>
              <a:gd name="T2" fmla="*/ 707 w 709"/>
              <a:gd name="T3" fmla="*/ 61 h 199"/>
              <a:gd name="T4" fmla="*/ 702 w 709"/>
              <a:gd name="T5" fmla="*/ 36 h 199"/>
              <a:gd name="T6" fmla="*/ 697 w 709"/>
              <a:gd name="T7" fmla="*/ 11 h 199"/>
              <a:gd name="T8" fmla="*/ 689 w 709"/>
              <a:gd name="T9" fmla="*/ 0 h 199"/>
              <a:gd name="T10" fmla="*/ 696 w 709"/>
              <a:gd name="T11" fmla="*/ 23 h 199"/>
              <a:gd name="T12" fmla="*/ 701 w 709"/>
              <a:gd name="T13" fmla="*/ 48 h 199"/>
              <a:gd name="T14" fmla="*/ 702 w 709"/>
              <a:gd name="T15" fmla="*/ 73 h 199"/>
              <a:gd name="T16" fmla="*/ 704 w 709"/>
              <a:gd name="T17" fmla="*/ 99 h 199"/>
              <a:gd name="T18" fmla="*/ 704 w 709"/>
              <a:gd name="T19" fmla="*/ 102 h 199"/>
              <a:gd name="T20" fmla="*/ 704 w 709"/>
              <a:gd name="T21" fmla="*/ 106 h 199"/>
              <a:gd name="T22" fmla="*/ 704 w 709"/>
              <a:gd name="T23" fmla="*/ 111 h 199"/>
              <a:gd name="T24" fmla="*/ 704 w 709"/>
              <a:gd name="T25" fmla="*/ 114 h 199"/>
              <a:gd name="T26" fmla="*/ 709 w 709"/>
              <a:gd name="T27" fmla="*/ 109 h 199"/>
              <a:gd name="T28" fmla="*/ 709 w 709"/>
              <a:gd name="T29" fmla="*/ 106 h 199"/>
              <a:gd name="T30" fmla="*/ 709 w 709"/>
              <a:gd name="T31" fmla="*/ 102 h 199"/>
              <a:gd name="T32" fmla="*/ 709 w 709"/>
              <a:gd name="T33" fmla="*/ 99 h 199"/>
              <a:gd name="T34" fmla="*/ 0 w 709"/>
              <a:gd name="T35" fmla="*/ 83 h 199"/>
              <a:gd name="T36" fmla="*/ 0 w 709"/>
              <a:gd name="T37" fmla="*/ 88 h 199"/>
              <a:gd name="T38" fmla="*/ 0 w 709"/>
              <a:gd name="T39" fmla="*/ 93 h 199"/>
              <a:gd name="T40" fmla="*/ 0 w 709"/>
              <a:gd name="T41" fmla="*/ 96 h 199"/>
              <a:gd name="T42" fmla="*/ 0 w 709"/>
              <a:gd name="T43" fmla="*/ 112 h 199"/>
              <a:gd name="T44" fmla="*/ 2 w 709"/>
              <a:gd name="T45" fmla="*/ 137 h 199"/>
              <a:gd name="T46" fmla="*/ 5 w 709"/>
              <a:gd name="T47" fmla="*/ 162 h 199"/>
              <a:gd name="T48" fmla="*/ 10 w 709"/>
              <a:gd name="T49" fmla="*/ 187 h 199"/>
              <a:gd name="T50" fmla="*/ 18 w 709"/>
              <a:gd name="T51" fmla="*/ 199 h 199"/>
              <a:gd name="T52" fmla="*/ 13 w 709"/>
              <a:gd name="T53" fmla="*/ 174 h 199"/>
              <a:gd name="T54" fmla="*/ 8 w 709"/>
              <a:gd name="T55" fmla="*/ 151 h 199"/>
              <a:gd name="T56" fmla="*/ 5 w 709"/>
              <a:gd name="T57" fmla="*/ 124 h 199"/>
              <a:gd name="T58" fmla="*/ 5 w 709"/>
              <a:gd name="T59" fmla="*/ 99 h 199"/>
              <a:gd name="T60" fmla="*/ 5 w 709"/>
              <a:gd name="T61" fmla="*/ 94 h 199"/>
              <a:gd name="T62" fmla="*/ 5 w 709"/>
              <a:gd name="T63" fmla="*/ 89 h 199"/>
              <a:gd name="T64" fmla="*/ 5 w 709"/>
              <a:gd name="T65" fmla="*/ 83 h 199"/>
              <a:gd name="T66" fmla="*/ 5 w 709"/>
              <a:gd name="T67" fmla="*/ 7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09" h="199">
                <a:moveTo>
                  <a:pt x="709" y="99"/>
                </a:moveTo>
                <a:lnTo>
                  <a:pt x="709" y="86"/>
                </a:lnTo>
                <a:lnTo>
                  <a:pt x="707" y="73"/>
                </a:lnTo>
                <a:lnTo>
                  <a:pt x="707" y="61"/>
                </a:lnTo>
                <a:lnTo>
                  <a:pt x="705" y="48"/>
                </a:lnTo>
                <a:lnTo>
                  <a:pt x="702" y="36"/>
                </a:lnTo>
                <a:lnTo>
                  <a:pt x="701" y="23"/>
                </a:lnTo>
                <a:lnTo>
                  <a:pt x="697" y="11"/>
                </a:lnTo>
                <a:lnTo>
                  <a:pt x="694" y="0"/>
                </a:lnTo>
                <a:lnTo>
                  <a:pt x="689" y="0"/>
                </a:lnTo>
                <a:lnTo>
                  <a:pt x="692" y="11"/>
                </a:lnTo>
                <a:lnTo>
                  <a:pt x="696" y="23"/>
                </a:lnTo>
                <a:lnTo>
                  <a:pt x="699" y="36"/>
                </a:lnTo>
                <a:lnTo>
                  <a:pt x="701" y="48"/>
                </a:lnTo>
                <a:lnTo>
                  <a:pt x="702" y="61"/>
                </a:lnTo>
                <a:lnTo>
                  <a:pt x="702" y="73"/>
                </a:lnTo>
                <a:lnTo>
                  <a:pt x="704" y="86"/>
                </a:lnTo>
                <a:lnTo>
                  <a:pt x="704" y="99"/>
                </a:lnTo>
                <a:lnTo>
                  <a:pt x="704" y="101"/>
                </a:lnTo>
                <a:lnTo>
                  <a:pt x="704" y="102"/>
                </a:lnTo>
                <a:lnTo>
                  <a:pt x="704" y="104"/>
                </a:lnTo>
                <a:lnTo>
                  <a:pt x="704" y="106"/>
                </a:lnTo>
                <a:lnTo>
                  <a:pt x="704" y="107"/>
                </a:lnTo>
                <a:lnTo>
                  <a:pt x="704" y="111"/>
                </a:lnTo>
                <a:lnTo>
                  <a:pt x="704" y="112"/>
                </a:lnTo>
                <a:lnTo>
                  <a:pt x="704" y="114"/>
                </a:lnTo>
                <a:lnTo>
                  <a:pt x="709" y="111"/>
                </a:lnTo>
                <a:lnTo>
                  <a:pt x="709" y="109"/>
                </a:lnTo>
                <a:lnTo>
                  <a:pt x="709" y="107"/>
                </a:lnTo>
                <a:lnTo>
                  <a:pt x="709" y="106"/>
                </a:lnTo>
                <a:lnTo>
                  <a:pt x="709" y="104"/>
                </a:lnTo>
                <a:lnTo>
                  <a:pt x="709" y="102"/>
                </a:lnTo>
                <a:lnTo>
                  <a:pt x="709" y="101"/>
                </a:lnTo>
                <a:lnTo>
                  <a:pt x="709" y="99"/>
                </a:lnTo>
                <a:close/>
                <a:moveTo>
                  <a:pt x="0" y="81"/>
                </a:moveTo>
                <a:lnTo>
                  <a:pt x="0" y="83"/>
                </a:lnTo>
                <a:lnTo>
                  <a:pt x="0" y="84"/>
                </a:lnTo>
                <a:lnTo>
                  <a:pt x="0" y="88"/>
                </a:lnTo>
                <a:lnTo>
                  <a:pt x="0" y="89"/>
                </a:lnTo>
                <a:lnTo>
                  <a:pt x="0" y="93"/>
                </a:lnTo>
                <a:lnTo>
                  <a:pt x="0" y="94"/>
                </a:lnTo>
                <a:lnTo>
                  <a:pt x="0" y="96"/>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6"/>
                </a:lnTo>
                <a:lnTo>
                  <a:pt x="5" y="94"/>
                </a:lnTo>
                <a:lnTo>
                  <a:pt x="5" y="91"/>
                </a:lnTo>
                <a:lnTo>
                  <a:pt x="5" y="89"/>
                </a:lnTo>
                <a:lnTo>
                  <a:pt x="5" y="86"/>
                </a:lnTo>
                <a:lnTo>
                  <a:pt x="5" y="83"/>
                </a:lnTo>
                <a:lnTo>
                  <a:pt x="5" y="81"/>
                </a:lnTo>
                <a:lnTo>
                  <a:pt x="5" y="78"/>
                </a:lnTo>
                <a:lnTo>
                  <a:pt x="0" y="81"/>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71" name="Freeform 1276">
            <a:extLst>
              <a:ext uri="{FF2B5EF4-FFF2-40B4-BE49-F238E27FC236}">
                <a16:creationId xmlns:a16="http://schemas.microsoft.com/office/drawing/2014/main" id="{FD3F98A7-2F24-291A-DDAB-484D1BA64E13}"/>
              </a:ext>
            </a:extLst>
          </p:cNvPr>
          <p:cNvSpPr>
            <a:spLocks noEditPoints="1"/>
          </p:cNvSpPr>
          <p:nvPr/>
        </p:nvSpPr>
        <p:spPr bwMode="auto">
          <a:xfrm>
            <a:off x="2355850" y="2403475"/>
            <a:ext cx="1116013" cy="315913"/>
          </a:xfrm>
          <a:custGeom>
            <a:avLst/>
            <a:gdLst>
              <a:gd name="T0" fmla="*/ 703 w 703"/>
              <a:gd name="T1" fmla="*/ 86 h 199"/>
              <a:gd name="T2" fmla="*/ 702 w 703"/>
              <a:gd name="T3" fmla="*/ 61 h 199"/>
              <a:gd name="T4" fmla="*/ 699 w 703"/>
              <a:gd name="T5" fmla="*/ 36 h 199"/>
              <a:gd name="T6" fmla="*/ 694 w 703"/>
              <a:gd name="T7" fmla="*/ 11 h 199"/>
              <a:gd name="T8" fmla="*/ 685 w 703"/>
              <a:gd name="T9" fmla="*/ 0 h 199"/>
              <a:gd name="T10" fmla="*/ 692 w 703"/>
              <a:gd name="T11" fmla="*/ 23 h 199"/>
              <a:gd name="T12" fmla="*/ 695 w 703"/>
              <a:gd name="T13" fmla="*/ 48 h 199"/>
              <a:gd name="T14" fmla="*/ 699 w 703"/>
              <a:gd name="T15" fmla="*/ 73 h 199"/>
              <a:gd name="T16" fmla="*/ 700 w 703"/>
              <a:gd name="T17" fmla="*/ 99 h 199"/>
              <a:gd name="T18" fmla="*/ 699 w 703"/>
              <a:gd name="T19" fmla="*/ 102 h 199"/>
              <a:gd name="T20" fmla="*/ 699 w 703"/>
              <a:gd name="T21" fmla="*/ 107 h 199"/>
              <a:gd name="T22" fmla="*/ 699 w 703"/>
              <a:gd name="T23" fmla="*/ 111 h 199"/>
              <a:gd name="T24" fmla="*/ 699 w 703"/>
              <a:gd name="T25" fmla="*/ 114 h 199"/>
              <a:gd name="T26" fmla="*/ 703 w 703"/>
              <a:gd name="T27" fmla="*/ 111 h 199"/>
              <a:gd name="T28" fmla="*/ 703 w 703"/>
              <a:gd name="T29" fmla="*/ 107 h 199"/>
              <a:gd name="T30" fmla="*/ 703 w 703"/>
              <a:gd name="T31" fmla="*/ 104 h 199"/>
              <a:gd name="T32" fmla="*/ 703 w 703"/>
              <a:gd name="T33" fmla="*/ 101 h 199"/>
              <a:gd name="T34" fmla="*/ 1 w 703"/>
              <a:gd name="T35" fmla="*/ 79 h 199"/>
              <a:gd name="T36" fmla="*/ 0 w 703"/>
              <a:gd name="T37" fmla="*/ 84 h 199"/>
              <a:gd name="T38" fmla="*/ 0 w 703"/>
              <a:gd name="T39" fmla="*/ 89 h 199"/>
              <a:gd name="T40" fmla="*/ 0 w 703"/>
              <a:gd name="T41" fmla="*/ 94 h 199"/>
              <a:gd name="T42" fmla="*/ 0 w 703"/>
              <a:gd name="T43" fmla="*/ 99 h 199"/>
              <a:gd name="T44" fmla="*/ 1 w 703"/>
              <a:gd name="T45" fmla="*/ 124 h 199"/>
              <a:gd name="T46" fmla="*/ 3 w 703"/>
              <a:gd name="T47" fmla="*/ 151 h 199"/>
              <a:gd name="T48" fmla="*/ 8 w 703"/>
              <a:gd name="T49" fmla="*/ 174 h 199"/>
              <a:gd name="T50" fmla="*/ 15 w 703"/>
              <a:gd name="T51" fmla="*/ 199 h 199"/>
              <a:gd name="T52" fmla="*/ 16 w 703"/>
              <a:gd name="T53" fmla="*/ 187 h 199"/>
              <a:gd name="T54" fmla="*/ 11 w 703"/>
              <a:gd name="T55" fmla="*/ 162 h 199"/>
              <a:gd name="T56" fmla="*/ 6 w 703"/>
              <a:gd name="T57" fmla="*/ 137 h 199"/>
              <a:gd name="T58" fmla="*/ 5 w 703"/>
              <a:gd name="T59" fmla="*/ 112 h 199"/>
              <a:gd name="T60" fmla="*/ 5 w 703"/>
              <a:gd name="T61" fmla="*/ 96 h 199"/>
              <a:gd name="T62" fmla="*/ 5 w 703"/>
              <a:gd name="T63" fmla="*/ 91 h 199"/>
              <a:gd name="T64" fmla="*/ 5 w 703"/>
              <a:gd name="T65" fmla="*/ 86 h 199"/>
              <a:gd name="T66" fmla="*/ 6 w 703"/>
              <a:gd name="T67" fmla="*/ 79 h 199"/>
              <a:gd name="T68" fmla="*/ 1 w 703"/>
              <a:gd name="T69" fmla="*/ 7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3" h="199">
                <a:moveTo>
                  <a:pt x="703" y="99"/>
                </a:moveTo>
                <a:lnTo>
                  <a:pt x="703" y="86"/>
                </a:lnTo>
                <a:lnTo>
                  <a:pt x="703" y="73"/>
                </a:lnTo>
                <a:lnTo>
                  <a:pt x="702" y="61"/>
                </a:lnTo>
                <a:lnTo>
                  <a:pt x="700" y="48"/>
                </a:lnTo>
                <a:lnTo>
                  <a:pt x="699" y="36"/>
                </a:lnTo>
                <a:lnTo>
                  <a:pt x="695" y="23"/>
                </a:lnTo>
                <a:lnTo>
                  <a:pt x="694" y="11"/>
                </a:lnTo>
                <a:lnTo>
                  <a:pt x="690" y="0"/>
                </a:lnTo>
                <a:lnTo>
                  <a:pt x="685" y="0"/>
                </a:lnTo>
                <a:lnTo>
                  <a:pt x="689" y="11"/>
                </a:lnTo>
                <a:lnTo>
                  <a:pt x="692" y="23"/>
                </a:lnTo>
                <a:lnTo>
                  <a:pt x="694" y="36"/>
                </a:lnTo>
                <a:lnTo>
                  <a:pt x="695" y="48"/>
                </a:lnTo>
                <a:lnTo>
                  <a:pt x="697" y="61"/>
                </a:lnTo>
                <a:lnTo>
                  <a:pt x="699" y="73"/>
                </a:lnTo>
                <a:lnTo>
                  <a:pt x="699" y="86"/>
                </a:lnTo>
                <a:lnTo>
                  <a:pt x="700" y="99"/>
                </a:lnTo>
                <a:lnTo>
                  <a:pt x="700" y="101"/>
                </a:lnTo>
                <a:lnTo>
                  <a:pt x="699" y="102"/>
                </a:lnTo>
                <a:lnTo>
                  <a:pt x="699" y="104"/>
                </a:lnTo>
                <a:lnTo>
                  <a:pt x="699" y="107"/>
                </a:lnTo>
                <a:lnTo>
                  <a:pt x="699" y="109"/>
                </a:lnTo>
                <a:lnTo>
                  <a:pt x="699" y="111"/>
                </a:lnTo>
                <a:lnTo>
                  <a:pt x="699" y="112"/>
                </a:lnTo>
                <a:lnTo>
                  <a:pt x="699" y="114"/>
                </a:lnTo>
                <a:lnTo>
                  <a:pt x="703" y="112"/>
                </a:lnTo>
                <a:lnTo>
                  <a:pt x="703" y="111"/>
                </a:lnTo>
                <a:lnTo>
                  <a:pt x="703" y="109"/>
                </a:lnTo>
                <a:lnTo>
                  <a:pt x="703" y="107"/>
                </a:lnTo>
                <a:lnTo>
                  <a:pt x="703" y="106"/>
                </a:lnTo>
                <a:lnTo>
                  <a:pt x="703" y="104"/>
                </a:lnTo>
                <a:lnTo>
                  <a:pt x="703" y="102"/>
                </a:lnTo>
                <a:lnTo>
                  <a:pt x="703" y="101"/>
                </a:lnTo>
                <a:lnTo>
                  <a:pt x="703" y="99"/>
                </a:lnTo>
                <a:close/>
                <a:moveTo>
                  <a:pt x="1" y="79"/>
                </a:moveTo>
                <a:lnTo>
                  <a:pt x="1" y="81"/>
                </a:lnTo>
                <a:lnTo>
                  <a:pt x="0" y="84"/>
                </a:lnTo>
                <a:lnTo>
                  <a:pt x="0" y="86"/>
                </a:lnTo>
                <a:lnTo>
                  <a:pt x="0" y="89"/>
                </a:lnTo>
                <a:lnTo>
                  <a:pt x="0" y="91"/>
                </a:lnTo>
                <a:lnTo>
                  <a:pt x="0" y="94"/>
                </a:lnTo>
                <a:lnTo>
                  <a:pt x="0" y="96"/>
                </a:lnTo>
                <a:lnTo>
                  <a:pt x="0" y="99"/>
                </a:lnTo>
                <a:lnTo>
                  <a:pt x="0" y="112"/>
                </a:lnTo>
                <a:lnTo>
                  <a:pt x="1" y="124"/>
                </a:lnTo>
                <a:lnTo>
                  <a:pt x="3" y="137"/>
                </a:lnTo>
                <a:lnTo>
                  <a:pt x="3" y="151"/>
                </a:lnTo>
                <a:lnTo>
                  <a:pt x="6" y="162"/>
                </a:lnTo>
                <a:lnTo>
                  <a:pt x="8" y="174"/>
                </a:lnTo>
                <a:lnTo>
                  <a:pt x="11" y="187"/>
                </a:lnTo>
                <a:lnTo>
                  <a:pt x="15" y="199"/>
                </a:lnTo>
                <a:lnTo>
                  <a:pt x="20" y="199"/>
                </a:lnTo>
                <a:lnTo>
                  <a:pt x="16" y="187"/>
                </a:lnTo>
                <a:lnTo>
                  <a:pt x="13" y="174"/>
                </a:lnTo>
                <a:lnTo>
                  <a:pt x="11" y="162"/>
                </a:lnTo>
                <a:lnTo>
                  <a:pt x="8" y="151"/>
                </a:lnTo>
                <a:lnTo>
                  <a:pt x="6" y="137"/>
                </a:lnTo>
                <a:lnTo>
                  <a:pt x="6" y="124"/>
                </a:lnTo>
                <a:lnTo>
                  <a:pt x="5" y="112"/>
                </a:lnTo>
                <a:lnTo>
                  <a:pt x="5" y="99"/>
                </a:lnTo>
                <a:lnTo>
                  <a:pt x="5" y="96"/>
                </a:lnTo>
                <a:lnTo>
                  <a:pt x="5" y="94"/>
                </a:lnTo>
                <a:lnTo>
                  <a:pt x="5" y="91"/>
                </a:lnTo>
                <a:lnTo>
                  <a:pt x="5" y="88"/>
                </a:lnTo>
                <a:lnTo>
                  <a:pt x="5" y="86"/>
                </a:lnTo>
                <a:lnTo>
                  <a:pt x="5" y="83"/>
                </a:lnTo>
                <a:lnTo>
                  <a:pt x="6" y="79"/>
                </a:lnTo>
                <a:lnTo>
                  <a:pt x="6" y="78"/>
                </a:lnTo>
                <a:lnTo>
                  <a:pt x="1" y="79"/>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72" name="Freeform 1277">
            <a:extLst>
              <a:ext uri="{FF2B5EF4-FFF2-40B4-BE49-F238E27FC236}">
                <a16:creationId xmlns:a16="http://schemas.microsoft.com/office/drawing/2014/main" id="{CF31A299-80EF-5561-7D32-F0E1FA7B2F6D}"/>
              </a:ext>
            </a:extLst>
          </p:cNvPr>
          <p:cNvSpPr>
            <a:spLocks noEditPoints="1"/>
          </p:cNvSpPr>
          <p:nvPr/>
        </p:nvSpPr>
        <p:spPr bwMode="auto">
          <a:xfrm>
            <a:off x="2360613" y="2403475"/>
            <a:ext cx="1109663" cy="315913"/>
          </a:xfrm>
          <a:custGeom>
            <a:avLst/>
            <a:gdLst>
              <a:gd name="T0" fmla="*/ 699 w 699"/>
              <a:gd name="T1" fmla="*/ 86 h 199"/>
              <a:gd name="T2" fmla="*/ 697 w 699"/>
              <a:gd name="T3" fmla="*/ 61 h 199"/>
              <a:gd name="T4" fmla="*/ 694 w 699"/>
              <a:gd name="T5" fmla="*/ 36 h 199"/>
              <a:gd name="T6" fmla="*/ 687 w 699"/>
              <a:gd name="T7" fmla="*/ 11 h 199"/>
              <a:gd name="T8" fmla="*/ 679 w 699"/>
              <a:gd name="T9" fmla="*/ 0 h 199"/>
              <a:gd name="T10" fmla="*/ 686 w 699"/>
              <a:gd name="T11" fmla="*/ 23 h 199"/>
              <a:gd name="T12" fmla="*/ 691 w 699"/>
              <a:gd name="T13" fmla="*/ 48 h 199"/>
              <a:gd name="T14" fmla="*/ 692 w 699"/>
              <a:gd name="T15" fmla="*/ 73 h 199"/>
              <a:gd name="T16" fmla="*/ 694 w 699"/>
              <a:gd name="T17" fmla="*/ 99 h 199"/>
              <a:gd name="T18" fmla="*/ 694 w 699"/>
              <a:gd name="T19" fmla="*/ 102 h 199"/>
              <a:gd name="T20" fmla="*/ 694 w 699"/>
              <a:gd name="T21" fmla="*/ 107 h 199"/>
              <a:gd name="T22" fmla="*/ 694 w 699"/>
              <a:gd name="T23" fmla="*/ 112 h 199"/>
              <a:gd name="T24" fmla="*/ 694 w 699"/>
              <a:gd name="T25" fmla="*/ 116 h 199"/>
              <a:gd name="T26" fmla="*/ 699 w 699"/>
              <a:gd name="T27" fmla="*/ 112 h 199"/>
              <a:gd name="T28" fmla="*/ 699 w 699"/>
              <a:gd name="T29" fmla="*/ 107 h 199"/>
              <a:gd name="T30" fmla="*/ 699 w 699"/>
              <a:gd name="T31" fmla="*/ 104 h 199"/>
              <a:gd name="T32" fmla="*/ 699 w 699"/>
              <a:gd name="T33" fmla="*/ 101 h 199"/>
              <a:gd name="T34" fmla="*/ 0 w 699"/>
              <a:gd name="T35" fmla="*/ 78 h 199"/>
              <a:gd name="T36" fmla="*/ 0 w 699"/>
              <a:gd name="T37" fmla="*/ 83 h 199"/>
              <a:gd name="T38" fmla="*/ 0 w 699"/>
              <a:gd name="T39" fmla="*/ 89 h 199"/>
              <a:gd name="T40" fmla="*/ 0 w 699"/>
              <a:gd name="T41" fmla="*/ 94 h 199"/>
              <a:gd name="T42" fmla="*/ 0 w 699"/>
              <a:gd name="T43" fmla="*/ 99 h 199"/>
              <a:gd name="T44" fmla="*/ 0 w 699"/>
              <a:gd name="T45" fmla="*/ 124 h 199"/>
              <a:gd name="T46" fmla="*/ 3 w 699"/>
              <a:gd name="T47" fmla="*/ 151 h 199"/>
              <a:gd name="T48" fmla="*/ 8 w 699"/>
              <a:gd name="T49" fmla="*/ 174 h 199"/>
              <a:gd name="T50" fmla="*/ 13 w 699"/>
              <a:gd name="T51" fmla="*/ 199 h 199"/>
              <a:gd name="T52" fmla="*/ 15 w 699"/>
              <a:gd name="T53" fmla="*/ 187 h 199"/>
              <a:gd name="T54" fmla="*/ 10 w 699"/>
              <a:gd name="T55" fmla="*/ 162 h 199"/>
              <a:gd name="T56" fmla="*/ 7 w 699"/>
              <a:gd name="T57" fmla="*/ 137 h 199"/>
              <a:gd name="T58" fmla="*/ 5 w 699"/>
              <a:gd name="T59" fmla="*/ 112 h 199"/>
              <a:gd name="T60" fmla="*/ 5 w 699"/>
              <a:gd name="T61" fmla="*/ 96 h 199"/>
              <a:gd name="T62" fmla="*/ 5 w 699"/>
              <a:gd name="T63" fmla="*/ 91 h 199"/>
              <a:gd name="T64" fmla="*/ 5 w 699"/>
              <a:gd name="T65" fmla="*/ 84 h 199"/>
              <a:gd name="T66" fmla="*/ 5 w 699"/>
              <a:gd name="T67" fmla="*/ 79 h 199"/>
              <a:gd name="T68" fmla="*/ 0 w 699"/>
              <a:gd name="T69" fmla="*/ 7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9" h="199">
                <a:moveTo>
                  <a:pt x="699" y="99"/>
                </a:moveTo>
                <a:lnTo>
                  <a:pt x="699" y="86"/>
                </a:lnTo>
                <a:lnTo>
                  <a:pt x="697" y="73"/>
                </a:lnTo>
                <a:lnTo>
                  <a:pt x="697" y="61"/>
                </a:lnTo>
                <a:lnTo>
                  <a:pt x="696" y="48"/>
                </a:lnTo>
                <a:lnTo>
                  <a:pt x="694" y="36"/>
                </a:lnTo>
                <a:lnTo>
                  <a:pt x="691" y="23"/>
                </a:lnTo>
                <a:lnTo>
                  <a:pt x="687" y="11"/>
                </a:lnTo>
                <a:lnTo>
                  <a:pt x="684" y="0"/>
                </a:lnTo>
                <a:lnTo>
                  <a:pt x="679" y="0"/>
                </a:lnTo>
                <a:lnTo>
                  <a:pt x="682" y="11"/>
                </a:lnTo>
                <a:lnTo>
                  <a:pt x="686" y="23"/>
                </a:lnTo>
                <a:lnTo>
                  <a:pt x="689" y="36"/>
                </a:lnTo>
                <a:lnTo>
                  <a:pt x="691" y="48"/>
                </a:lnTo>
                <a:lnTo>
                  <a:pt x="692" y="61"/>
                </a:lnTo>
                <a:lnTo>
                  <a:pt x="692" y="73"/>
                </a:lnTo>
                <a:lnTo>
                  <a:pt x="694" y="86"/>
                </a:lnTo>
                <a:lnTo>
                  <a:pt x="694" y="99"/>
                </a:lnTo>
                <a:lnTo>
                  <a:pt x="694" y="101"/>
                </a:lnTo>
                <a:lnTo>
                  <a:pt x="694" y="102"/>
                </a:lnTo>
                <a:lnTo>
                  <a:pt x="694" y="106"/>
                </a:lnTo>
                <a:lnTo>
                  <a:pt x="694" y="107"/>
                </a:lnTo>
                <a:lnTo>
                  <a:pt x="694" y="109"/>
                </a:lnTo>
                <a:lnTo>
                  <a:pt x="694" y="112"/>
                </a:lnTo>
                <a:lnTo>
                  <a:pt x="694" y="114"/>
                </a:lnTo>
                <a:lnTo>
                  <a:pt x="694" y="116"/>
                </a:lnTo>
                <a:lnTo>
                  <a:pt x="699" y="114"/>
                </a:lnTo>
                <a:lnTo>
                  <a:pt x="699" y="112"/>
                </a:lnTo>
                <a:lnTo>
                  <a:pt x="699" y="111"/>
                </a:lnTo>
                <a:lnTo>
                  <a:pt x="699" y="107"/>
                </a:lnTo>
                <a:lnTo>
                  <a:pt x="699" y="106"/>
                </a:lnTo>
                <a:lnTo>
                  <a:pt x="699" y="104"/>
                </a:lnTo>
                <a:lnTo>
                  <a:pt x="699" y="102"/>
                </a:lnTo>
                <a:lnTo>
                  <a:pt x="699" y="101"/>
                </a:lnTo>
                <a:lnTo>
                  <a:pt x="699" y="99"/>
                </a:lnTo>
                <a:close/>
                <a:moveTo>
                  <a:pt x="0" y="78"/>
                </a:moveTo>
                <a:lnTo>
                  <a:pt x="0" y="81"/>
                </a:lnTo>
                <a:lnTo>
                  <a:pt x="0" y="83"/>
                </a:lnTo>
                <a:lnTo>
                  <a:pt x="0" y="86"/>
                </a:lnTo>
                <a:lnTo>
                  <a:pt x="0" y="89"/>
                </a:lnTo>
                <a:lnTo>
                  <a:pt x="0" y="91"/>
                </a:lnTo>
                <a:lnTo>
                  <a:pt x="0" y="94"/>
                </a:lnTo>
                <a:lnTo>
                  <a:pt x="0" y="96"/>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6"/>
                </a:lnTo>
                <a:lnTo>
                  <a:pt x="5" y="93"/>
                </a:lnTo>
                <a:lnTo>
                  <a:pt x="5" y="91"/>
                </a:lnTo>
                <a:lnTo>
                  <a:pt x="5" y="88"/>
                </a:lnTo>
                <a:lnTo>
                  <a:pt x="5" y="84"/>
                </a:lnTo>
                <a:lnTo>
                  <a:pt x="5" y="81"/>
                </a:lnTo>
                <a:lnTo>
                  <a:pt x="5" y="79"/>
                </a:lnTo>
                <a:lnTo>
                  <a:pt x="5" y="76"/>
                </a:lnTo>
                <a:lnTo>
                  <a:pt x="0" y="78"/>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73" name="Freeform 1278">
            <a:extLst>
              <a:ext uri="{FF2B5EF4-FFF2-40B4-BE49-F238E27FC236}">
                <a16:creationId xmlns:a16="http://schemas.microsoft.com/office/drawing/2014/main" id="{2E8322FB-8EA1-F2AA-9943-52C0DA08147B}"/>
              </a:ext>
            </a:extLst>
          </p:cNvPr>
          <p:cNvSpPr>
            <a:spLocks noEditPoints="1"/>
          </p:cNvSpPr>
          <p:nvPr/>
        </p:nvSpPr>
        <p:spPr bwMode="auto">
          <a:xfrm>
            <a:off x="2363788" y="2403475"/>
            <a:ext cx="1103313" cy="315913"/>
          </a:xfrm>
          <a:custGeom>
            <a:avLst/>
            <a:gdLst>
              <a:gd name="T0" fmla="*/ 694 w 695"/>
              <a:gd name="T1" fmla="*/ 86 h 199"/>
              <a:gd name="T2" fmla="*/ 692 w 695"/>
              <a:gd name="T3" fmla="*/ 61 h 199"/>
              <a:gd name="T4" fmla="*/ 689 w 695"/>
              <a:gd name="T5" fmla="*/ 36 h 199"/>
              <a:gd name="T6" fmla="*/ 684 w 695"/>
              <a:gd name="T7" fmla="*/ 11 h 199"/>
              <a:gd name="T8" fmla="*/ 675 w 695"/>
              <a:gd name="T9" fmla="*/ 0 h 199"/>
              <a:gd name="T10" fmla="*/ 682 w 695"/>
              <a:gd name="T11" fmla="*/ 23 h 199"/>
              <a:gd name="T12" fmla="*/ 685 w 695"/>
              <a:gd name="T13" fmla="*/ 48 h 199"/>
              <a:gd name="T14" fmla="*/ 689 w 695"/>
              <a:gd name="T15" fmla="*/ 73 h 199"/>
              <a:gd name="T16" fmla="*/ 690 w 695"/>
              <a:gd name="T17" fmla="*/ 99 h 199"/>
              <a:gd name="T18" fmla="*/ 690 w 695"/>
              <a:gd name="T19" fmla="*/ 104 h 199"/>
              <a:gd name="T20" fmla="*/ 690 w 695"/>
              <a:gd name="T21" fmla="*/ 107 h 199"/>
              <a:gd name="T22" fmla="*/ 689 w 695"/>
              <a:gd name="T23" fmla="*/ 112 h 199"/>
              <a:gd name="T24" fmla="*/ 689 w 695"/>
              <a:gd name="T25" fmla="*/ 117 h 199"/>
              <a:gd name="T26" fmla="*/ 694 w 695"/>
              <a:gd name="T27" fmla="*/ 112 h 199"/>
              <a:gd name="T28" fmla="*/ 694 w 695"/>
              <a:gd name="T29" fmla="*/ 109 h 199"/>
              <a:gd name="T30" fmla="*/ 694 w 695"/>
              <a:gd name="T31" fmla="*/ 104 h 199"/>
              <a:gd name="T32" fmla="*/ 695 w 695"/>
              <a:gd name="T33" fmla="*/ 101 h 199"/>
              <a:gd name="T34" fmla="*/ 1 w 695"/>
              <a:gd name="T35" fmla="*/ 78 h 199"/>
              <a:gd name="T36" fmla="*/ 0 w 695"/>
              <a:gd name="T37" fmla="*/ 83 h 199"/>
              <a:gd name="T38" fmla="*/ 0 w 695"/>
              <a:gd name="T39" fmla="*/ 88 h 199"/>
              <a:gd name="T40" fmla="*/ 0 w 695"/>
              <a:gd name="T41" fmla="*/ 94 h 199"/>
              <a:gd name="T42" fmla="*/ 0 w 695"/>
              <a:gd name="T43" fmla="*/ 99 h 199"/>
              <a:gd name="T44" fmla="*/ 1 w 695"/>
              <a:gd name="T45" fmla="*/ 124 h 199"/>
              <a:gd name="T46" fmla="*/ 3 w 695"/>
              <a:gd name="T47" fmla="*/ 151 h 199"/>
              <a:gd name="T48" fmla="*/ 8 w 695"/>
              <a:gd name="T49" fmla="*/ 174 h 199"/>
              <a:gd name="T50" fmla="*/ 15 w 695"/>
              <a:gd name="T51" fmla="*/ 199 h 199"/>
              <a:gd name="T52" fmla="*/ 16 w 695"/>
              <a:gd name="T53" fmla="*/ 187 h 199"/>
              <a:gd name="T54" fmla="*/ 11 w 695"/>
              <a:gd name="T55" fmla="*/ 162 h 199"/>
              <a:gd name="T56" fmla="*/ 6 w 695"/>
              <a:gd name="T57" fmla="*/ 137 h 199"/>
              <a:gd name="T58" fmla="*/ 5 w 695"/>
              <a:gd name="T59" fmla="*/ 112 h 199"/>
              <a:gd name="T60" fmla="*/ 5 w 695"/>
              <a:gd name="T61" fmla="*/ 96 h 199"/>
              <a:gd name="T62" fmla="*/ 5 w 695"/>
              <a:gd name="T63" fmla="*/ 89 h 199"/>
              <a:gd name="T64" fmla="*/ 5 w 695"/>
              <a:gd name="T65" fmla="*/ 84 h 199"/>
              <a:gd name="T66" fmla="*/ 5 w 695"/>
              <a:gd name="T67" fmla="*/ 78 h 199"/>
              <a:gd name="T68" fmla="*/ 1 w 695"/>
              <a:gd name="T69" fmla="*/ 7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5" h="199">
                <a:moveTo>
                  <a:pt x="695" y="99"/>
                </a:moveTo>
                <a:lnTo>
                  <a:pt x="694" y="86"/>
                </a:lnTo>
                <a:lnTo>
                  <a:pt x="694" y="73"/>
                </a:lnTo>
                <a:lnTo>
                  <a:pt x="692" y="61"/>
                </a:lnTo>
                <a:lnTo>
                  <a:pt x="690" y="48"/>
                </a:lnTo>
                <a:lnTo>
                  <a:pt x="689" y="36"/>
                </a:lnTo>
                <a:lnTo>
                  <a:pt x="687" y="23"/>
                </a:lnTo>
                <a:lnTo>
                  <a:pt x="684" y="11"/>
                </a:lnTo>
                <a:lnTo>
                  <a:pt x="680" y="0"/>
                </a:lnTo>
                <a:lnTo>
                  <a:pt x="675" y="0"/>
                </a:lnTo>
                <a:lnTo>
                  <a:pt x="679" y="11"/>
                </a:lnTo>
                <a:lnTo>
                  <a:pt x="682" y="23"/>
                </a:lnTo>
                <a:lnTo>
                  <a:pt x="684" y="36"/>
                </a:lnTo>
                <a:lnTo>
                  <a:pt x="685" y="48"/>
                </a:lnTo>
                <a:lnTo>
                  <a:pt x="687" y="61"/>
                </a:lnTo>
                <a:lnTo>
                  <a:pt x="689" y="73"/>
                </a:lnTo>
                <a:lnTo>
                  <a:pt x="689" y="86"/>
                </a:lnTo>
                <a:lnTo>
                  <a:pt x="690" y="99"/>
                </a:lnTo>
                <a:lnTo>
                  <a:pt x="690" y="101"/>
                </a:lnTo>
                <a:lnTo>
                  <a:pt x="690" y="104"/>
                </a:lnTo>
                <a:lnTo>
                  <a:pt x="690" y="106"/>
                </a:lnTo>
                <a:lnTo>
                  <a:pt x="690" y="107"/>
                </a:lnTo>
                <a:lnTo>
                  <a:pt x="690" y="111"/>
                </a:lnTo>
                <a:lnTo>
                  <a:pt x="689" y="112"/>
                </a:lnTo>
                <a:lnTo>
                  <a:pt x="689" y="114"/>
                </a:lnTo>
                <a:lnTo>
                  <a:pt x="689" y="117"/>
                </a:lnTo>
                <a:lnTo>
                  <a:pt x="694" y="114"/>
                </a:lnTo>
                <a:lnTo>
                  <a:pt x="694" y="112"/>
                </a:lnTo>
                <a:lnTo>
                  <a:pt x="694" y="111"/>
                </a:lnTo>
                <a:lnTo>
                  <a:pt x="694" y="109"/>
                </a:lnTo>
                <a:lnTo>
                  <a:pt x="694" y="107"/>
                </a:lnTo>
                <a:lnTo>
                  <a:pt x="694" y="104"/>
                </a:lnTo>
                <a:lnTo>
                  <a:pt x="694" y="102"/>
                </a:lnTo>
                <a:lnTo>
                  <a:pt x="695" y="101"/>
                </a:lnTo>
                <a:lnTo>
                  <a:pt x="695" y="99"/>
                </a:lnTo>
                <a:close/>
                <a:moveTo>
                  <a:pt x="1" y="78"/>
                </a:moveTo>
                <a:lnTo>
                  <a:pt x="1" y="79"/>
                </a:lnTo>
                <a:lnTo>
                  <a:pt x="0" y="83"/>
                </a:lnTo>
                <a:lnTo>
                  <a:pt x="0" y="86"/>
                </a:lnTo>
                <a:lnTo>
                  <a:pt x="0" y="88"/>
                </a:lnTo>
                <a:lnTo>
                  <a:pt x="0" y="91"/>
                </a:lnTo>
                <a:lnTo>
                  <a:pt x="0" y="94"/>
                </a:lnTo>
                <a:lnTo>
                  <a:pt x="0" y="96"/>
                </a:lnTo>
                <a:lnTo>
                  <a:pt x="0" y="99"/>
                </a:lnTo>
                <a:lnTo>
                  <a:pt x="0" y="112"/>
                </a:lnTo>
                <a:lnTo>
                  <a:pt x="1" y="124"/>
                </a:lnTo>
                <a:lnTo>
                  <a:pt x="1" y="137"/>
                </a:lnTo>
                <a:lnTo>
                  <a:pt x="3" y="151"/>
                </a:lnTo>
                <a:lnTo>
                  <a:pt x="6" y="162"/>
                </a:lnTo>
                <a:lnTo>
                  <a:pt x="8" y="174"/>
                </a:lnTo>
                <a:lnTo>
                  <a:pt x="11" y="187"/>
                </a:lnTo>
                <a:lnTo>
                  <a:pt x="15" y="199"/>
                </a:lnTo>
                <a:lnTo>
                  <a:pt x="20" y="199"/>
                </a:lnTo>
                <a:lnTo>
                  <a:pt x="16" y="187"/>
                </a:lnTo>
                <a:lnTo>
                  <a:pt x="13" y="174"/>
                </a:lnTo>
                <a:lnTo>
                  <a:pt x="11" y="162"/>
                </a:lnTo>
                <a:lnTo>
                  <a:pt x="8" y="151"/>
                </a:lnTo>
                <a:lnTo>
                  <a:pt x="6" y="137"/>
                </a:lnTo>
                <a:lnTo>
                  <a:pt x="6" y="124"/>
                </a:lnTo>
                <a:lnTo>
                  <a:pt x="5" y="112"/>
                </a:lnTo>
                <a:lnTo>
                  <a:pt x="5" y="99"/>
                </a:lnTo>
                <a:lnTo>
                  <a:pt x="5" y="96"/>
                </a:lnTo>
                <a:lnTo>
                  <a:pt x="5" y="93"/>
                </a:lnTo>
                <a:lnTo>
                  <a:pt x="5" y="89"/>
                </a:lnTo>
                <a:lnTo>
                  <a:pt x="5" y="88"/>
                </a:lnTo>
                <a:lnTo>
                  <a:pt x="5" y="84"/>
                </a:lnTo>
                <a:lnTo>
                  <a:pt x="5" y="81"/>
                </a:lnTo>
                <a:lnTo>
                  <a:pt x="5" y="78"/>
                </a:lnTo>
                <a:lnTo>
                  <a:pt x="6" y="74"/>
                </a:lnTo>
                <a:lnTo>
                  <a:pt x="1" y="78"/>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74" name="Freeform 1279">
            <a:extLst>
              <a:ext uri="{FF2B5EF4-FFF2-40B4-BE49-F238E27FC236}">
                <a16:creationId xmlns:a16="http://schemas.microsoft.com/office/drawing/2014/main" id="{8A6BC62D-5EE4-D37C-EEE4-AFF27E90BF6E}"/>
              </a:ext>
            </a:extLst>
          </p:cNvPr>
          <p:cNvSpPr>
            <a:spLocks noEditPoints="1"/>
          </p:cNvSpPr>
          <p:nvPr/>
        </p:nvSpPr>
        <p:spPr bwMode="auto">
          <a:xfrm>
            <a:off x="2368550" y="2403475"/>
            <a:ext cx="1093788" cy="315913"/>
          </a:xfrm>
          <a:custGeom>
            <a:avLst/>
            <a:gdLst>
              <a:gd name="T0" fmla="*/ 689 w 689"/>
              <a:gd name="T1" fmla="*/ 86 h 199"/>
              <a:gd name="T2" fmla="*/ 687 w 689"/>
              <a:gd name="T3" fmla="*/ 61 h 199"/>
              <a:gd name="T4" fmla="*/ 684 w 689"/>
              <a:gd name="T5" fmla="*/ 36 h 199"/>
              <a:gd name="T6" fmla="*/ 677 w 689"/>
              <a:gd name="T7" fmla="*/ 11 h 199"/>
              <a:gd name="T8" fmla="*/ 669 w 689"/>
              <a:gd name="T9" fmla="*/ 0 h 199"/>
              <a:gd name="T10" fmla="*/ 676 w 689"/>
              <a:gd name="T11" fmla="*/ 23 h 199"/>
              <a:gd name="T12" fmla="*/ 681 w 689"/>
              <a:gd name="T13" fmla="*/ 48 h 199"/>
              <a:gd name="T14" fmla="*/ 684 w 689"/>
              <a:gd name="T15" fmla="*/ 73 h 199"/>
              <a:gd name="T16" fmla="*/ 684 w 689"/>
              <a:gd name="T17" fmla="*/ 99 h 199"/>
              <a:gd name="T18" fmla="*/ 684 w 689"/>
              <a:gd name="T19" fmla="*/ 104 h 199"/>
              <a:gd name="T20" fmla="*/ 684 w 689"/>
              <a:gd name="T21" fmla="*/ 109 h 199"/>
              <a:gd name="T22" fmla="*/ 684 w 689"/>
              <a:gd name="T23" fmla="*/ 114 h 199"/>
              <a:gd name="T24" fmla="*/ 684 w 689"/>
              <a:gd name="T25" fmla="*/ 117 h 199"/>
              <a:gd name="T26" fmla="*/ 689 w 689"/>
              <a:gd name="T27" fmla="*/ 114 h 199"/>
              <a:gd name="T28" fmla="*/ 689 w 689"/>
              <a:gd name="T29" fmla="*/ 109 h 199"/>
              <a:gd name="T30" fmla="*/ 689 w 689"/>
              <a:gd name="T31" fmla="*/ 106 h 199"/>
              <a:gd name="T32" fmla="*/ 689 w 689"/>
              <a:gd name="T33" fmla="*/ 101 h 199"/>
              <a:gd name="T34" fmla="*/ 0 w 689"/>
              <a:gd name="T35" fmla="*/ 76 h 199"/>
              <a:gd name="T36" fmla="*/ 0 w 689"/>
              <a:gd name="T37" fmla="*/ 81 h 199"/>
              <a:gd name="T38" fmla="*/ 0 w 689"/>
              <a:gd name="T39" fmla="*/ 88 h 199"/>
              <a:gd name="T40" fmla="*/ 0 w 689"/>
              <a:gd name="T41" fmla="*/ 93 h 199"/>
              <a:gd name="T42" fmla="*/ 0 w 689"/>
              <a:gd name="T43" fmla="*/ 99 h 199"/>
              <a:gd name="T44" fmla="*/ 0 w 689"/>
              <a:gd name="T45" fmla="*/ 124 h 199"/>
              <a:gd name="T46" fmla="*/ 3 w 689"/>
              <a:gd name="T47" fmla="*/ 151 h 199"/>
              <a:gd name="T48" fmla="*/ 8 w 689"/>
              <a:gd name="T49" fmla="*/ 174 h 199"/>
              <a:gd name="T50" fmla="*/ 13 w 689"/>
              <a:gd name="T51" fmla="*/ 199 h 199"/>
              <a:gd name="T52" fmla="*/ 15 w 689"/>
              <a:gd name="T53" fmla="*/ 187 h 199"/>
              <a:gd name="T54" fmla="*/ 10 w 689"/>
              <a:gd name="T55" fmla="*/ 162 h 199"/>
              <a:gd name="T56" fmla="*/ 7 w 689"/>
              <a:gd name="T57" fmla="*/ 137 h 199"/>
              <a:gd name="T58" fmla="*/ 5 w 689"/>
              <a:gd name="T59" fmla="*/ 112 h 199"/>
              <a:gd name="T60" fmla="*/ 5 w 689"/>
              <a:gd name="T61" fmla="*/ 96 h 199"/>
              <a:gd name="T62" fmla="*/ 5 w 689"/>
              <a:gd name="T63" fmla="*/ 89 h 199"/>
              <a:gd name="T64" fmla="*/ 5 w 689"/>
              <a:gd name="T65" fmla="*/ 83 h 199"/>
              <a:gd name="T66" fmla="*/ 5 w 689"/>
              <a:gd name="T67" fmla="*/ 76 h 199"/>
              <a:gd name="T68" fmla="*/ 0 w 689"/>
              <a:gd name="T69" fmla="*/ 7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9" h="199">
                <a:moveTo>
                  <a:pt x="689" y="99"/>
                </a:moveTo>
                <a:lnTo>
                  <a:pt x="689" y="86"/>
                </a:lnTo>
                <a:lnTo>
                  <a:pt x="687" y="73"/>
                </a:lnTo>
                <a:lnTo>
                  <a:pt x="687" y="61"/>
                </a:lnTo>
                <a:lnTo>
                  <a:pt x="686" y="48"/>
                </a:lnTo>
                <a:lnTo>
                  <a:pt x="684" y="36"/>
                </a:lnTo>
                <a:lnTo>
                  <a:pt x="681" y="23"/>
                </a:lnTo>
                <a:lnTo>
                  <a:pt x="677" y="11"/>
                </a:lnTo>
                <a:lnTo>
                  <a:pt x="674" y="0"/>
                </a:lnTo>
                <a:lnTo>
                  <a:pt x="669" y="0"/>
                </a:lnTo>
                <a:lnTo>
                  <a:pt x="672" y="11"/>
                </a:lnTo>
                <a:lnTo>
                  <a:pt x="676" y="23"/>
                </a:lnTo>
                <a:lnTo>
                  <a:pt x="679" y="36"/>
                </a:lnTo>
                <a:lnTo>
                  <a:pt x="681" y="48"/>
                </a:lnTo>
                <a:lnTo>
                  <a:pt x="682" y="61"/>
                </a:lnTo>
                <a:lnTo>
                  <a:pt x="684" y="73"/>
                </a:lnTo>
                <a:lnTo>
                  <a:pt x="684" y="86"/>
                </a:lnTo>
                <a:lnTo>
                  <a:pt x="684" y="99"/>
                </a:lnTo>
                <a:lnTo>
                  <a:pt x="684" y="101"/>
                </a:lnTo>
                <a:lnTo>
                  <a:pt x="684" y="104"/>
                </a:lnTo>
                <a:lnTo>
                  <a:pt x="684" y="106"/>
                </a:lnTo>
                <a:lnTo>
                  <a:pt x="684" y="109"/>
                </a:lnTo>
                <a:lnTo>
                  <a:pt x="684" y="111"/>
                </a:lnTo>
                <a:lnTo>
                  <a:pt x="684" y="114"/>
                </a:lnTo>
                <a:lnTo>
                  <a:pt x="684" y="116"/>
                </a:lnTo>
                <a:lnTo>
                  <a:pt x="684" y="117"/>
                </a:lnTo>
                <a:lnTo>
                  <a:pt x="689" y="116"/>
                </a:lnTo>
                <a:lnTo>
                  <a:pt x="689" y="114"/>
                </a:lnTo>
                <a:lnTo>
                  <a:pt x="689" y="112"/>
                </a:lnTo>
                <a:lnTo>
                  <a:pt x="689" y="109"/>
                </a:lnTo>
                <a:lnTo>
                  <a:pt x="689" y="107"/>
                </a:lnTo>
                <a:lnTo>
                  <a:pt x="689" y="106"/>
                </a:lnTo>
                <a:lnTo>
                  <a:pt x="689" y="102"/>
                </a:lnTo>
                <a:lnTo>
                  <a:pt x="689" y="101"/>
                </a:lnTo>
                <a:lnTo>
                  <a:pt x="689" y="99"/>
                </a:lnTo>
                <a:close/>
                <a:moveTo>
                  <a:pt x="0" y="76"/>
                </a:moveTo>
                <a:lnTo>
                  <a:pt x="0" y="79"/>
                </a:lnTo>
                <a:lnTo>
                  <a:pt x="0" y="81"/>
                </a:lnTo>
                <a:lnTo>
                  <a:pt x="0" y="84"/>
                </a:lnTo>
                <a:lnTo>
                  <a:pt x="0" y="88"/>
                </a:lnTo>
                <a:lnTo>
                  <a:pt x="0" y="91"/>
                </a:lnTo>
                <a:lnTo>
                  <a:pt x="0" y="93"/>
                </a:lnTo>
                <a:lnTo>
                  <a:pt x="0" y="96"/>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5" y="99"/>
                </a:lnTo>
                <a:lnTo>
                  <a:pt x="5" y="96"/>
                </a:lnTo>
                <a:lnTo>
                  <a:pt x="5" y="93"/>
                </a:lnTo>
                <a:lnTo>
                  <a:pt x="5" y="89"/>
                </a:lnTo>
                <a:lnTo>
                  <a:pt x="5" y="86"/>
                </a:lnTo>
                <a:lnTo>
                  <a:pt x="5" y="83"/>
                </a:lnTo>
                <a:lnTo>
                  <a:pt x="5" y="79"/>
                </a:lnTo>
                <a:lnTo>
                  <a:pt x="5" y="76"/>
                </a:lnTo>
                <a:lnTo>
                  <a:pt x="5" y="73"/>
                </a:lnTo>
                <a:lnTo>
                  <a:pt x="0" y="76"/>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75" name="Freeform 1280">
            <a:extLst>
              <a:ext uri="{FF2B5EF4-FFF2-40B4-BE49-F238E27FC236}">
                <a16:creationId xmlns:a16="http://schemas.microsoft.com/office/drawing/2014/main" id="{01B628D0-CD64-9AA3-9043-637F999FBFF4}"/>
              </a:ext>
            </a:extLst>
          </p:cNvPr>
          <p:cNvSpPr>
            <a:spLocks noEditPoints="1"/>
          </p:cNvSpPr>
          <p:nvPr/>
        </p:nvSpPr>
        <p:spPr bwMode="auto">
          <a:xfrm>
            <a:off x="2371725" y="2403475"/>
            <a:ext cx="1087438" cy="315913"/>
          </a:xfrm>
          <a:custGeom>
            <a:avLst/>
            <a:gdLst>
              <a:gd name="T0" fmla="*/ 684 w 685"/>
              <a:gd name="T1" fmla="*/ 86 h 199"/>
              <a:gd name="T2" fmla="*/ 682 w 685"/>
              <a:gd name="T3" fmla="*/ 61 h 199"/>
              <a:gd name="T4" fmla="*/ 679 w 685"/>
              <a:gd name="T5" fmla="*/ 36 h 199"/>
              <a:gd name="T6" fmla="*/ 674 w 685"/>
              <a:gd name="T7" fmla="*/ 11 h 199"/>
              <a:gd name="T8" fmla="*/ 665 w 685"/>
              <a:gd name="T9" fmla="*/ 0 h 199"/>
              <a:gd name="T10" fmla="*/ 672 w 685"/>
              <a:gd name="T11" fmla="*/ 23 h 199"/>
              <a:gd name="T12" fmla="*/ 675 w 685"/>
              <a:gd name="T13" fmla="*/ 48 h 199"/>
              <a:gd name="T14" fmla="*/ 679 w 685"/>
              <a:gd name="T15" fmla="*/ 73 h 199"/>
              <a:gd name="T16" fmla="*/ 680 w 685"/>
              <a:gd name="T17" fmla="*/ 99 h 199"/>
              <a:gd name="T18" fmla="*/ 680 w 685"/>
              <a:gd name="T19" fmla="*/ 104 h 199"/>
              <a:gd name="T20" fmla="*/ 680 w 685"/>
              <a:gd name="T21" fmla="*/ 109 h 199"/>
              <a:gd name="T22" fmla="*/ 680 w 685"/>
              <a:gd name="T23" fmla="*/ 114 h 199"/>
              <a:gd name="T24" fmla="*/ 679 w 685"/>
              <a:gd name="T25" fmla="*/ 119 h 199"/>
              <a:gd name="T26" fmla="*/ 684 w 685"/>
              <a:gd name="T27" fmla="*/ 114 h 199"/>
              <a:gd name="T28" fmla="*/ 685 w 685"/>
              <a:gd name="T29" fmla="*/ 111 h 199"/>
              <a:gd name="T30" fmla="*/ 685 w 685"/>
              <a:gd name="T31" fmla="*/ 106 h 199"/>
              <a:gd name="T32" fmla="*/ 685 w 685"/>
              <a:gd name="T33" fmla="*/ 101 h 199"/>
              <a:gd name="T34" fmla="*/ 1 w 685"/>
              <a:gd name="T35" fmla="*/ 74 h 199"/>
              <a:gd name="T36" fmla="*/ 0 w 685"/>
              <a:gd name="T37" fmla="*/ 81 h 199"/>
              <a:gd name="T38" fmla="*/ 0 w 685"/>
              <a:gd name="T39" fmla="*/ 88 h 199"/>
              <a:gd name="T40" fmla="*/ 0 w 685"/>
              <a:gd name="T41" fmla="*/ 93 h 199"/>
              <a:gd name="T42" fmla="*/ 0 w 685"/>
              <a:gd name="T43" fmla="*/ 99 h 199"/>
              <a:gd name="T44" fmla="*/ 1 w 685"/>
              <a:gd name="T45" fmla="*/ 124 h 199"/>
              <a:gd name="T46" fmla="*/ 3 w 685"/>
              <a:gd name="T47" fmla="*/ 151 h 199"/>
              <a:gd name="T48" fmla="*/ 8 w 685"/>
              <a:gd name="T49" fmla="*/ 174 h 199"/>
              <a:gd name="T50" fmla="*/ 15 w 685"/>
              <a:gd name="T51" fmla="*/ 199 h 199"/>
              <a:gd name="T52" fmla="*/ 16 w 685"/>
              <a:gd name="T53" fmla="*/ 187 h 199"/>
              <a:gd name="T54" fmla="*/ 11 w 685"/>
              <a:gd name="T55" fmla="*/ 162 h 199"/>
              <a:gd name="T56" fmla="*/ 6 w 685"/>
              <a:gd name="T57" fmla="*/ 137 h 199"/>
              <a:gd name="T58" fmla="*/ 5 w 685"/>
              <a:gd name="T59" fmla="*/ 112 h 199"/>
              <a:gd name="T60" fmla="*/ 5 w 685"/>
              <a:gd name="T61" fmla="*/ 96 h 199"/>
              <a:gd name="T62" fmla="*/ 5 w 685"/>
              <a:gd name="T63" fmla="*/ 89 h 199"/>
              <a:gd name="T64" fmla="*/ 5 w 685"/>
              <a:gd name="T65" fmla="*/ 83 h 199"/>
              <a:gd name="T66" fmla="*/ 5 w 685"/>
              <a:gd name="T67" fmla="*/ 76 h 199"/>
              <a:gd name="T68" fmla="*/ 1 w 685"/>
              <a:gd name="T69" fmla="*/ 7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5" h="199">
                <a:moveTo>
                  <a:pt x="685" y="99"/>
                </a:moveTo>
                <a:lnTo>
                  <a:pt x="684" y="86"/>
                </a:lnTo>
                <a:lnTo>
                  <a:pt x="684" y="73"/>
                </a:lnTo>
                <a:lnTo>
                  <a:pt x="682" y="61"/>
                </a:lnTo>
                <a:lnTo>
                  <a:pt x="680" y="48"/>
                </a:lnTo>
                <a:lnTo>
                  <a:pt x="679" y="36"/>
                </a:lnTo>
                <a:lnTo>
                  <a:pt x="677" y="23"/>
                </a:lnTo>
                <a:lnTo>
                  <a:pt x="674" y="11"/>
                </a:lnTo>
                <a:lnTo>
                  <a:pt x="670" y="0"/>
                </a:lnTo>
                <a:lnTo>
                  <a:pt x="665" y="0"/>
                </a:lnTo>
                <a:lnTo>
                  <a:pt x="669" y="11"/>
                </a:lnTo>
                <a:lnTo>
                  <a:pt x="672" y="23"/>
                </a:lnTo>
                <a:lnTo>
                  <a:pt x="674" y="36"/>
                </a:lnTo>
                <a:lnTo>
                  <a:pt x="675" y="48"/>
                </a:lnTo>
                <a:lnTo>
                  <a:pt x="677" y="61"/>
                </a:lnTo>
                <a:lnTo>
                  <a:pt x="679" y="73"/>
                </a:lnTo>
                <a:lnTo>
                  <a:pt x="680" y="86"/>
                </a:lnTo>
                <a:lnTo>
                  <a:pt x="680" y="99"/>
                </a:lnTo>
                <a:lnTo>
                  <a:pt x="680" y="101"/>
                </a:lnTo>
                <a:lnTo>
                  <a:pt x="680" y="104"/>
                </a:lnTo>
                <a:lnTo>
                  <a:pt x="680" y="106"/>
                </a:lnTo>
                <a:lnTo>
                  <a:pt x="680" y="109"/>
                </a:lnTo>
                <a:lnTo>
                  <a:pt x="680" y="111"/>
                </a:lnTo>
                <a:lnTo>
                  <a:pt x="680" y="114"/>
                </a:lnTo>
                <a:lnTo>
                  <a:pt x="679" y="117"/>
                </a:lnTo>
                <a:lnTo>
                  <a:pt x="679" y="119"/>
                </a:lnTo>
                <a:lnTo>
                  <a:pt x="684" y="117"/>
                </a:lnTo>
                <a:lnTo>
                  <a:pt x="684" y="114"/>
                </a:lnTo>
                <a:lnTo>
                  <a:pt x="684" y="112"/>
                </a:lnTo>
                <a:lnTo>
                  <a:pt x="685" y="111"/>
                </a:lnTo>
                <a:lnTo>
                  <a:pt x="685" y="107"/>
                </a:lnTo>
                <a:lnTo>
                  <a:pt x="685" y="106"/>
                </a:lnTo>
                <a:lnTo>
                  <a:pt x="685" y="104"/>
                </a:lnTo>
                <a:lnTo>
                  <a:pt x="685" y="101"/>
                </a:lnTo>
                <a:lnTo>
                  <a:pt x="685" y="99"/>
                </a:lnTo>
                <a:close/>
                <a:moveTo>
                  <a:pt x="1" y="74"/>
                </a:moveTo>
                <a:lnTo>
                  <a:pt x="0" y="78"/>
                </a:lnTo>
                <a:lnTo>
                  <a:pt x="0" y="81"/>
                </a:lnTo>
                <a:lnTo>
                  <a:pt x="0" y="84"/>
                </a:lnTo>
                <a:lnTo>
                  <a:pt x="0" y="88"/>
                </a:lnTo>
                <a:lnTo>
                  <a:pt x="0" y="89"/>
                </a:lnTo>
                <a:lnTo>
                  <a:pt x="0" y="93"/>
                </a:lnTo>
                <a:lnTo>
                  <a:pt x="0" y="96"/>
                </a:lnTo>
                <a:lnTo>
                  <a:pt x="0" y="99"/>
                </a:lnTo>
                <a:lnTo>
                  <a:pt x="0" y="112"/>
                </a:lnTo>
                <a:lnTo>
                  <a:pt x="1" y="124"/>
                </a:lnTo>
                <a:lnTo>
                  <a:pt x="1" y="137"/>
                </a:lnTo>
                <a:lnTo>
                  <a:pt x="3" y="151"/>
                </a:lnTo>
                <a:lnTo>
                  <a:pt x="6" y="162"/>
                </a:lnTo>
                <a:lnTo>
                  <a:pt x="8" y="174"/>
                </a:lnTo>
                <a:lnTo>
                  <a:pt x="11" y="187"/>
                </a:lnTo>
                <a:lnTo>
                  <a:pt x="15" y="199"/>
                </a:lnTo>
                <a:lnTo>
                  <a:pt x="19" y="199"/>
                </a:lnTo>
                <a:lnTo>
                  <a:pt x="16" y="187"/>
                </a:lnTo>
                <a:lnTo>
                  <a:pt x="13" y="174"/>
                </a:lnTo>
                <a:lnTo>
                  <a:pt x="11" y="162"/>
                </a:lnTo>
                <a:lnTo>
                  <a:pt x="8" y="151"/>
                </a:lnTo>
                <a:lnTo>
                  <a:pt x="6" y="137"/>
                </a:lnTo>
                <a:lnTo>
                  <a:pt x="6" y="124"/>
                </a:lnTo>
                <a:lnTo>
                  <a:pt x="5" y="112"/>
                </a:lnTo>
                <a:lnTo>
                  <a:pt x="5" y="99"/>
                </a:lnTo>
                <a:lnTo>
                  <a:pt x="5" y="96"/>
                </a:lnTo>
                <a:lnTo>
                  <a:pt x="5" y="93"/>
                </a:lnTo>
                <a:lnTo>
                  <a:pt x="5" y="89"/>
                </a:lnTo>
                <a:lnTo>
                  <a:pt x="5" y="86"/>
                </a:lnTo>
                <a:lnTo>
                  <a:pt x="5" y="83"/>
                </a:lnTo>
                <a:lnTo>
                  <a:pt x="5" y="79"/>
                </a:lnTo>
                <a:lnTo>
                  <a:pt x="5" y="76"/>
                </a:lnTo>
                <a:lnTo>
                  <a:pt x="6" y="73"/>
                </a:lnTo>
                <a:lnTo>
                  <a:pt x="1" y="74"/>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76" name="Freeform 1281">
            <a:extLst>
              <a:ext uri="{FF2B5EF4-FFF2-40B4-BE49-F238E27FC236}">
                <a16:creationId xmlns:a16="http://schemas.microsoft.com/office/drawing/2014/main" id="{F73EA3FC-C048-9330-B307-16787F7ECC7A}"/>
              </a:ext>
            </a:extLst>
          </p:cNvPr>
          <p:cNvSpPr>
            <a:spLocks noEditPoints="1"/>
          </p:cNvSpPr>
          <p:nvPr/>
        </p:nvSpPr>
        <p:spPr bwMode="auto">
          <a:xfrm>
            <a:off x="2376488" y="2403475"/>
            <a:ext cx="1077913" cy="315913"/>
          </a:xfrm>
          <a:custGeom>
            <a:avLst/>
            <a:gdLst>
              <a:gd name="T0" fmla="*/ 679 w 679"/>
              <a:gd name="T1" fmla="*/ 86 h 199"/>
              <a:gd name="T2" fmla="*/ 677 w 679"/>
              <a:gd name="T3" fmla="*/ 61 h 199"/>
              <a:gd name="T4" fmla="*/ 674 w 679"/>
              <a:gd name="T5" fmla="*/ 36 h 199"/>
              <a:gd name="T6" fmla="*/ 667 w 679"/>
              <a:gd name="T7" fmla="*/ 11 h 199"/>
              <a:gd name="T8" fmla="*/ 659 w 679"/>
              <a:gd name="T9" fmla="*/ 0 h 199"/>
              <a:gd name="T10" fmla="*/ 666 w 679"/>
              <a:gd name="T11" fmla="*/ 23 h 199"/>
              <a:gd name="T12" fmla="*/ 671 w 679"/>
              <a:gd name="T13" fmla="*/ 48 h 199"/>
              <a:gd name="T14" fmla="*/ 674 w 679"/>
              <a:gd name="T15" fmla="*/ 73 h 199"/>
              <a:gd name="T16" fmla="*/ 674 w 679"/>
              <a:gd name="T17" fmla="*/ 99 h 199"/>
              <a:gd name="T18" fmla="*/ 674 w 679"/>
              <a:gd name="T19" fmla="*/ 104 h 199"/>
              <a:gd name="T20" fmla="*/ 674 w 679"/>
              <a:gd name="T21" fmla="*/ 109 h 199"/>
              <a:gd name="T22" fmla="*/ 674 w 679"/>
              <a:gd name="T23" fmla="*/ 116 h 199"/>
              <a:gd name="T24" fmla="*/ 674 w 679"/>
              <a:gd name="T25" fmla="*/ 121 h 199"/>
              <a:gd name="T26" fmla="*/ 679 w 679"/>
              <a:gd name="T27" fmla="*/ 116 h 199"/>
              <a:gd name="T28" fmla="*/ 679 w 679"/>
              <a:gd name="T29" fmla="*/ 111 h 199"/>
              <a:gd name="T30" fmla="*/ 679 w 679"/>
              <a:gd name="T31" fmla="*/ 106 h 199"/>
              <a:gd name="T32" fmla="*/ 679 w 679"/>
              <a:gd name="T33" fmla="*/ 101 h 199"/>
              <a:gd name="T34" fmla="*/ 0 w 679"/>
              <a:gd name="T35" fmla="*/ 73 h 199"/>
              <a:gd name="T36" fmla="*/ 0 w 679"/>
              <a:gd name="T37" fmla="*/ 79 h 199"/>
              <a:gd name="T38" fmla="*/ 0 w 679"/>
              <a:gd name="T39" fmla="*/ 86 h 199"/>
              <a:gd name="T40" fmla="*/ 0 w 679"/>
              <a:gd name="T41" fmla="*/ 93 h 199"/>
              <a:gd name="T42" fmla="*/ 0 w 679"/>
              <a:gd name="T43" fmla="*/ 99 h 199"/>
              <a:gd name="T44" fmla="*/ 0 w 679"/>
              <a:gd name="T45" fmla="*/ 124 h 199"/>
              <a:gd name="T46" fmla="*/ 3 w 679"/>
              <a:gd name="T47" fmla="*/ 151 h 199"/>
              <a:gd name="T48" fmla="*/ 8 w 679"/>
              <a:gd name="T49" fmla="*/ 174 h 199"/>
              <a:gd name="T50" fmla="*/ 13 w 679"/>
              <a:gd name="T51" fmla="*/ 199 h 199"/>
              <a:gd name="T52" fmla="*/ 15 w 679"/>
              <a:gd name="T53" fmla="*/ 187 h 199"/>
              <a:gd name="T54" fmla="*/ 10 w 679"/>
              <a:gd name="T55" fmla="*/ 162 h 199"/>
              <a:gd name="T56" fmla="*/ 7 w 679"/>
              <a:gd name="T57" fmla="*/ 137 h 199"/>
              <a:gd name="T58" fmla="*/ 5 w 679"/>
              <a:gd name="T59" fmla="*/ 112 h 199"/>
              <a:gd name="T60" fmla="*/ 3 w 679"/>
              <a:gd name="T61" fmla="*/ 96 h 199"/>
              <a:gd name="T62" fmla="*/ 5 w 679"/>
              <a:gd name="T63" fmla="*/ 89 h 199"/>
              <a:gd name="T64" fmla="*/ 5 w 679"/>
              <a:gd name="T65" fmla="*/ 81 h 199"/>
              <a:gd name="T66" fmla="*/ 5 w 679"/>
              <a:gd name="T67" fmla="*/ 74 h 199"/>
              <a:gd name="T68" fmla="*/ 0 w 679"/>
              <a:gd name="T69" fmla="*/ 7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9" h="199">
                <a:moveTo>
                  <a:pt x="679" y="99"/>
                </a:moveTo>
                <a:lnTo>
                  <a:pt x="679" y="86"/>
                </a:lnTo>
                <a:lnTo>
                  <a:pt x="679" y="73"/>
                </a:lnTo>
                <a:lnTo>
                  <a:pt x="677" y="61"/>
                </a:lnTo>
                <a:lnTo>
                  <a:pt x="676" y="48"/>
                </a:lnTo>
                <a:lnTo>
                  <a:pt x="674" y="36"/>
                </a:lnTo>
                <a:lnTo>
                  <a:pt x="671" y="23"/>
                </a:lnTo>
                <a:lnTo>
                  <a:pt x="667" y="11"/>
                </a:lnTo>
                <a:lnTo>
                  <a:pt x="664" y="0"/>
                </a:lnTo>
                <a:lnTo>
                  <a:pt x="659" y="0"/>
                </a:lnTo>
                <a:lnTo>
                  <a:pt x="662" y="11"/>
                </a:lnTo>
                <a:lnTo>
                  <a:pt x="666" y="23"/>
                </a:lnTo>
                <a:lnTo>
                  <a:pt x="669" y="36"/>
                </a:lnTo>
                <a:lnTo>
                  <a:pt x="671" y="48"/>
                </a:lnTo>
                <a:lnTo>
                  <a:pt x="672" y="61"/>
                </a:lnTo>
                <a:lnTo>
                  <a:pt x="674" y="73"/>
                </a:lnTo>
                <a:lnTo>
                  <a:pt x="674" y="86"/>
                </a:lnTo>
                <a:lnTo>
                  <a:pt x="674" y="99"/>
                </a:lnTo>
                <a:lnTo>
                  <a:pt x="674" y="101"/>
                </a:lnTo>
                <a:lnTo>
                  <a:pt x="674" y="104"/>
                </a:lnTo>
                <a:lnTo>
                  <a:pt x="674" y="107"/>
                </a:lnTo>
                <a:lnTo>
                  <a:pt x="674" y="109"/>
                </a:lnTo>
                <a:lnTo>
                  <a:pt x="674" y="112"/>
                </a:lnTo>
                <a:lnTo>
                  <a:pt x="674" y="116"/>
                </a:lnTo>
                <a:lnTo>
                  <a:pt x="674" y="117"/>
                </a:lnTo>
                <a:lnTo>
                  <a:pt x="674" y="121"/>
                </a:lnTo>
                <a:lnTo>
                  <a:pt x="679" y="117"/>
                </a:lnTo>
                <a:lnTo>
                  <a:pt x="679" y="116"/>
                </a:lnTo>
                <a:lnTo>
                  <a:pt x="679" y="114"/>
                </a:lnTo>
                <a:lnTo>
                  <a:pt x="679" y="111"/>
                </a:lnTo>
                <a:lnTo>
                  <a:pt x="679" y="109"/>
                </a:lnTo>
                <a:lnTo>
                  <a:pt x="679" y="106"/>
                </a:lnTo>
                <a:lnTo>
                  <a:pt x="679" y="104"/>
                </a:lnTo>
                <a:lnTo>
                  <a:pt x="679" y="101"/>
                </a:lnTo>
                <a:lnTo>
                  <a:pt x="679" y="99"/>
                </a:lnTo>
                <a:close/>
                <a:moveTo>
                  <a:pt x="0" y="73"/>
                </a:moveTo>
                <a:lnTo>
                  <a:pt x="0" y="76"/>
                </a:lnTo>
                <a:lnTo>
                  <a:pt x="0" y="79"/>
                </a:lnTo>
                <a:lnTo>
                  <a:pt x="0" y="83"/>
                </a:lnTo>
                <a:lnTo>
                  <a:pt x="0" y="86"/>
                </a:lnTo>
                <a:lnTo>
                  <a:pt x="0" y="89"/>
                </a:lnTo>
                <a:lnTo>
                  <a:pt x="0" y="93"/>
                </a:lnTo>
                <a:lnTo>
                  <a:pt x="0" y="96"/>
                </a:lnTo>
                <a:lnTo>
                  <a:pt x="0" y="99"/>
                </a:lnTo>
                <a:lnTo>
                  <a:pt x="0" y="112"/>
                </a:lnTo>
                <a:lnTo>
                  <a:pt x="0" y="124"/>
                </a:lnTo>
                <a:lnTo>
                  <a:pt x="2" y="137"/>
                </a:lnTo>
                <a:lnTo>
                  <a:pt x="3" y="151"/>
                </a:lnTo>
                <a:lnTo>
                  <a:pt x="5" y="162"/>
                </a:lnTo>
                <a:lnTo>
                  <a:pt x="8" y="174"/>
                </a:lnTo>
                <a:lnTo>
                  <a:pt x="10" y="187"/>
                </a:lnTo>
                <a:lnTo>
                  <a:pt x="13" y="199"/>
                </a:lnTo>
                <a:lnTo>
                  <a:pt x="18" y="199"/>
                </a:lnTo>
                <a:lnTo>
                  <a:pt x="15" y="187"/>
                </a:lnTo>
                <a:lnTo>
                  <a:pt x="13" y="174"/>
                </a:lnTo>
                <a:lnTo>
                  <a:pt x="10" y="162"/>
                </a:lnTo>
                <a:lnTo>
                  <a:pt x="8" y="151"/>
                </a:lnTo>
                <a:lnTo>
                  <a:pt x="7" y="137"/>
                </a:lnTo>
                <a:lnTo>
                  <a:pt x="5" y="124"/>
                </a:lnTo>
                <a:lnTo>
                  <a:pt x="5" y="112"/>
                </a:lnTo>
                <a:lnTo>
                  <a:pt x="3" y="99"/>
                </a:lnTo>
                <a:lnTo>
                  <a:pt x="3" y="96"/>
                </a:lnTo>
                <a:lnTo>
                  <a:pt x="3" y="93"/>
                </a:lnTo>
                <a:lnTo>
                  <a:pt x="5" y="89"/>
                </a:lnTo>
                <a:lnTo>
                  <a:pt x="5" y="84"/>
                </a:lnTo>
                <a:lnTo>
                  <a:pt x="5" y="81"/>
                </a:lnTo>
                <a:lnTo>
                  <a:pt x="5" y="78"/>
                </a:lnTo>
                <a:lnTo>
                  <a:pt x="5" y="74"/>
                </a:lnTo>
                <a:lnTo>
                  <a:pt x="5" y="71"/>
                </a:lnTo>
                <a:lnTo>
                  <a:pt x="0" y="73"/>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77" name="Freeform 1282">
            <a:extLst>
              <a:ext uri="{FF2B5EF4-FFF2-40B4-BE49-F238E27FC236}">
                <a16:creationId xmlns:a16="http://schemas.microsoft.com/office/drawing/2014/main" id="{F3DAA451-85D5-A37B-D3A2-E8503C9426F1}"/>
              </a:ext>
            </a:extLst>
          </p:cNvPr>
          <p:cNvSpPr>
            <a:spLocks noEditPoints="1"/>
          </p:cNvSpPr>
          <p:nvPr/>
        </p:nvSpPr>
        <p:spPr bwMode="auto">
          <a:xfrm>
            <a:off x="2379663" y="2403475"/>
            <a:ext cx="1071563" cy="315913"/>
          </a:xfrm>
          <a:custGeom>
            <a:avLst/>
            <a:gdLst>
              <a:gd name="T0" fmla="*/ 675 w 675"/>
              <a:gd name="T1" fmla="*/ 86 h 199"/>
              <a:gd name="T2" fmla="*/ 672 w 675"/>
              <a:gd name="T3" fmla="*/ 61 h 199"/>
              <a:gd name="T4" fmla="*/ 669 w 675"/>
              <a:gd name="T5" fmla="*/ 36 h 199"/>
              <a:gd name="T6" fmla="*/ 664 w 675"/>
              <a:gd name="T7" fmla="*/ 11 h 199"/>
              <a:gd name="T8" fmla="*/ 655 w 675"/>
              <a:gd name="T9" fmla="*/ 0 h 199"/>
              <a:gd name="T10" fmla="*/ 662 w 675"/>
              <a:gd name="T11" fmla="*/ 23 h 199"/>
              <a:gd name="T12" fmla="*/ 665 w 675"/>
              <a:gd name="T13" fmla="*/ 48 h 199"/>
              <a:gd name="T14" fmla="*/ 669 w 675"/>
              <a:gd name="T15" fmla="*/ 73 h 199"/>
              <a:gd name="T16" fmla="*/ 670 w 675"/>
              <a:gd name="T17" fmla="*/ 99 h 199"/>
              <a:gd name="T18" fmla="*/ 670 w 675"/>
              <a:gd name="T19" fmla="*/ 104 h 199"/>
              <a:gd name="T20" fmla="*/ 670 w 675"/>
              <a:gd name="T21" fmla="*/ 111 h 199"/>
              <a:gd name="T22" fmla="*/ 670 w 675"/>
              <a:gd name="T23" fmla="*/ 116 h 199"/>
              <a:gd name="T24" fmla="*/ 669 w 675"/>
              <a:gd name="T25" fmla="*/ 121 h 199"/>
              <a:gd name="T26" fmla="*/ 674 w 675"/>
              <a:gd name="T27" fmla="*/ 117 h 199"/>
              <a:gd name="T28" fmla="*/ 675 w 675"/>
              <a:gd name="T29" fmla="*/ 111 h 199"/>
              <a:gd name="T30" fmla="*/ 675 w 675"/>
              <a:gd name="T31" fmla="*/ 106 h 199"/>
              <a:gd name="T32" fmla="*/ 675 w 675"/>
              <a:gd name="T33" fmla="*/ 101 h 199"/>
              <a:gd name="T34" fmla="*/ 1 w 675"/>
              <a:gd name="T35" fmla="*/ 73 h 199"/>
              <a:gd name="T36" fmla="*/ 0 w 675"/>
              <a:gd name="T37" fmla="*/ 79 h 199"/>
              <a:gd name="T38" fmla="*/ 0 w 675"/>
              <a:gd name="T39" fmla="*/ 86 h 199"/>
              <a:gd name="T40" fmla="*/ 0 w 675"/>
              <a:gd name="T41" fmla="*/ 93 h 199"/>
              <a:gd name="T42" fmla="*/ 0 w 675"/>
              <a:gd name="T43" fmla="*/ 99 h 199"/>
              <a:gd name="T44" fmla="*/ 1 w 675"/>
              <a:gd name="T45" fmla="*/ 124 h 199"/>
              <a:gd name="T46" fmla="*/ 3 w 675"/>
              <a:gd name="T47" fmla="*/ 151 h 199"/>
              <a:gd name="T48" fmla="*/ 8 w 675"/>
              <a:gd name="T49" fmla="*/ 174 h 199"/>
              <a:gd name="T50" fmla="*/ 14 w 675"/>
              <a:gd name="T51" fmla="*/ 199 h 199"/>
              <a:gd name="T52" fmla="*/ 16 w 675"/>
              <a:gd name="T53" fmla="*/ 187 h 199"/>
              <a:gd name="T54" fmla="*/ 10 w 675"/>
              <a:gd name="T55" fmla="*/ 162 h 199"/>
              <a:gd name="T56" fmla="*/ 6 w 675"/>
              <a:gd name="T57" fmla="*/ 137 h 199"/>
              <a:gd name="T58" fmla="*/ 5 w 675"/>
              <a:gd name="T59" fmla="*/ 112 h 199"/>
              <a:gd name="T60" fmla="*/ 5 w 675"/>
              <a:gd name="T61" fmla="*/ 96 h 199"/>
              <a:gd name="T62" fmla="*/ 5 w 675"/>
              <a:gd name="T63" fmla="*/ 88 h 199"/>
              <a:gd name="T64" fmla="*/ 5 w 675"/>
              <a:gd name="T65" fmla="*/ 81 h 199"/>
              <a:gd name="T66" fmla="*/ 5 w 675"/>
              <a:gd name="T67" fmla="*/ 74 h 199"/>
              <a:gd name="T68" fmla="*/ 1 w 675"/>
              <a:gd name="T69" fmla="*/ 7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5" h="199">
                <a:moveTo>
                  <a:pt x="675" y="99"/>
                </a:moveTo>
                <a:lnTo>
                  <a:pt x="675" y="86"/>
                </a:lnTo>
                <a:lnTo>
                  <a:pt x="674" y="73"/>
                </a:lnTo>
                <a:lnTo>
                  <a:pt x="672" y="61"/>
                </a:lnTo>
                <a:lnTo>
                  <a:pt x="670" y="48"/>
                </a:lnTo>
                <a:lnTo>
                  <a:pt x="669" y="36"/>
                </a:lnTo>
                <a:lnTo>
                  <a:pt x="667" y="23"/>
                </a:lnTo>
                <a:lnTo>
                  <a:pt x="664" y="11"/>
                </a:lnTo>
                <a:lnTo>
                  <a:pt x="660" y="0"/>
                </a:lnTo>
                <a:lnTo>
                  <a:pt x="655" y="0"/>
                </a:lnTo>
                <a:lnTo>
                  <a:pt x="659" y="11"/>
                </a:lnTo>
                <a:lnTo>
                  <a:pt x="662" y="23"/>
                </a:lnTo>
                <a:lnTo>
                  <a:pt x="664" y="36"/>
                </a:lnTo>
                <a:lnTo>
                  <a:pt x="665" y="48"/>
                </a:lnTo>
                <a:lnTo>
                  <a:pt x="669" y="61"/>
                </a:lnTo>
                <a:lnTo>
                  <a:pt x="669" y="73"/>
                </a:lnTo>
                <a:lnTo>
                  <a:pt x="670" y="86"/>
                </a:lnTo>
                <a:lnTo>
                  <a:pt x="670" y="99"/>
                </a:lnTo>
                <a:lnTo>
                  <a:pt x="670" y="102"/>
                </a:lnTo>
                <a:lnTo>
                  <a:pt x="670" y="104"/>
                </a:lnTo>
                <a:lnTo>
                  <a:pt x="670" y="107"/>
                </a:lnTo>
                <a:lnTo>
                  <a:pt x="670" y="111"/>
                </a:lnTo>
                <a:lnTo>
                  <a:pt x="670" y="112"/>
                </a:lnTo>
                <a:lnTo>
                  <a:pt x="670" y="116"/>
                </a:lnTo>
                <a:lnTo>
                  <a:pt x="669" y="119"/>
                </a:lnTo>
                <a:lnTo>
                  <a:pt x="669" y="121"/>
                </a:lnTo>
                <a:lnTo>
                  <a:pt x="674" y="119"/>
                </a:lnTo>
                <a:lnTo>
                  <a:pt x="674" y="117"/>
                </a:lnTo>
                <a:lnTo>
                  <a:pt x="675" y="114"/>
                </a:lnTo>
                <a:lnTo>
                  <a:pt x="675" y="111"/>
                </a:lnTo>
                <a:lnTo>
                  <a:pt x="675" y="109"/>
                </a:lnTo>
                <a:lnTo>
                  <a:pt x="675" y="106"/>
                </a:lnTo>
                <a:lnTo>
                  <a:pt x="675" y="104"/>
                </a:lnTo>
                <a:lnTo>
                  <a:pt x="675" y="101"/>
                </a:lnTo>
                <a:lnTo>
                  <a:pt x="675" y="99"/>
                </a:lnTo>
                <a:close/>
                <a:moveTo>
                  <a:pt x="1" y="73"/>
                </a:moveTo>
                <a:lnTo>
                  <a:pt x="0" y="76"/>
                </a:lnTo>
                <a:lnTo>
                  <a:pt x="0" y="79"/>
                </a:lnTo>
                <a:lnTo>
                  <a:pt x="0" y="83"/>
                </a:lnTo>
                <a:lnTo>
                  <a:pt x="0" y="86"/>
                </a:lnTo>
                <a:lnTo>
                  <a:pt x="0" y="89"/>
                </a:lnTo>
                <a:lnTo>
                  <a:pt x="0" y="93"/>
                </a:lnTo>
                <a:lnTo>
                  <a:pt x="0" y="96"/>
                </a:lnTo>
                <a:lnTo>
                  <a:pt x="0" y="99"/>
                </a:lnTo>
                <a:lnTo>
                  <a:pt x="0" y="112"/>
                </a:lnTo>
                <a:lnTo>
                  <a:pt x="1" y="124"/>
                </a:lnTo>
                <a:lnTo>
                  <a:pt x="1" y="137"/>
                </a:lnTo>
                <a:lnTo>
                  <a:pt x="3" y="151"/>
                </a:lnTo>
                <a:lnTo>
                  <a:pt x="6" y="162"/>
                </a:lnTo>
                <a:lnTo>
                  <a:pt x="8" y="174"/>
                </a:lnTo>
                <a:lnTo>
                  <a:pt x="11" y="187"/>
                </a:lnTo>
                <a:lnTo>
                  <a:pt x="14" y="199"/>
                </a:lnTo>
                <a:lnTo>
                  <a:pt x="19" y="199"/>
                </a:lnTo>
                <a:lnTo>
                  <a:pt x="16" y="187"/>
                </a:lnTo>
                <a:lnTo>
                  <a:pt x="13" y="174"/>
                </a:lnTo>
                <a:lnTo>
                  <a:pt x="10" y="162"/>
                </a:lnTo>
                <a:lnTo>
                  <a:pt x="8" y="151"/>
                </a:lnTo>
                <a:lnTo>
                  <a:pt x="6" y="137"/>
                </a:lnTo>
                <a:lnTo>
                  <a:pt x="5" y="124"/>
                </a:lnTo>
                <a:lnTo>
                  <a:pt x="5" y="112"/>
                </a:lnTo>
                <a:lnTo>
                  <a:pt x="5" y="99"/>
                </a:lnTo>
                <a:lnTo>
                  <a:pt x="5" y="96"/>
                </a:lnTo>
                <a:lnTo>
                  <a:pt x="5" y="91"/>
                </a:lnTo>
                <a:lnTo>
                  <a:pt x="5" y="88"/>
                </a:lnTo>
                <a:lnTo>
                  <a:pt x="5" y="84"/>
                </a:lnTo>
                <a:lnTo>
                  <a:pt x="5" y="81"/>
                </a:lnTo>
                <a:lnTo>
                  <a:pt x="5" y="78"/>
                </a:lnTo>
                <a:lnTo>
                  <a:pt x="5" y="74"/>
                </a:lnTo>
                <a:lnTo>
                  <a:pt x="6" y="69"/>
                </a:lnTo>
                <a:lnTo>
                  <a:pt x="1" y="73"/>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78" name="Freeform 1283">
            <a:extLst>
              <a:ext uri="{FF2B5EF4-FFF2-40B4-BE49-F238E27FC236}">
                <a16:creationId xmlns:a16="http://schemas.microsoft.com/office/drawing/2014/main" id="{DA7BCDF4-BE0C-EBB1-C283-6A5B4BA9CB70}"/>
              </a:ext>
            </a:extLst>
          </p:cNvPr>
          <p:cNvSpPr>
            <a:spLocks noEditPoints="1"/>
          </p:cNvSpPr>
          <p:nvPr/>
        </p:nvSpPr>
        <p:spPr bwMode="auto">
          <a:xfrm>
            <a:off x="2381250" y="2403475"/>
            <a:ext cx="1065213" cy="315913"/>
          </a:xfrm>
          <a:custGeom>
            <a:avLst/>
            <a:gdLst>
              <a:gd name="T0" fmla="*/ 671 w 671"/>
              <a:gd name="T1" fmla="*/ 86 h 199"/>
              <a:gd name="T2" fmla="*/ 669 w 671"/>
              <a:gd name="T3" fmla="*/ 61 h 199"/>
              <a:gd name="T4" fmla="*/ 666 w 671"/>
              <a:gd name="T5" fmla="*/ 36 h 199"/>
              <a:gd name="T6" fmla="*/ 659 w 671"/>
              <a:gd name="T7" fmla="*/ 11 h 199"/>
              <a:gd name="T8" fmla="*/ 651 w 671"/>
              <a:gd name="T9" fmla="*/ 0 h 199"/>
              <a:gd name="T10" fmla="*/ 658 w 671"/>
              <a:gd name="T11" fmla="*/ 23 h 199"/>
              <a:gd name="T12" fmla="*/ 663 w 671"/>
              <a:gd name="T13" fmla="*/ 48 h 199"/>
              <a:gd name="T14" fmla="*/ 666 w 671"/>
              <a:gd name="T15" fmla="*/ 73 h 199"/>
              <a:gd name="T16" fmla="*/ 666 w 671"/>
              <a:gd name="T17" fmla="*/ 99 h 199"/>
              <a:gd name="T18" fmla="*/ 666 w 671"/>
              <a:gd name="T19" fmla="*/ 104 h 199"/>
              <a:gd name="T20" fmla="*/ 666 w 671"/>
              <a:gd name="T21" fmla="*/ 111 h 199"/>
              <a:gd name="T22" fmla="*/ 666 w 671"/>
              <a:gd name="T23" fmla="*/ 117 h 199"/>
              <a:gd name="T24" fmla="*/ 666 w 671"/>
              <a:gd name="T25" fmla="*/ 122 h 199"/>
              <a:gd name="T26" fmla="*/ 671 w 671"/>
              <a:gd name="T27" fmla="*/ 117 h 199"/>
              <a:gd name="T28" fmla="*/ 671 w 671"/>
              <a:gd name="T29" fmla="*/ 112 h 199"/>
              <a:gd name="T30" fmla="*/ 671 w 671"/>
              <a:gd name="T31" fmla="*/ 107 h 199"/>
              <a:gd name="T32" fmla="*/ 671 w 671"/>
              <a:gd name="T33" fmla="*/ 101 h 199"/>
              <a:gd name="T34" fmla="*/ 2 w 671"/>
              <a:gd name="T35" fmla="*/ 71 h 199"/>
              <a:gd name="T36" fmla="*/ 2 w 671"/>
              <a:gd name="T37" fmla="*/ 78 h 199"/>
              <a:gd name="T38" fmla="*/ 2 w 671"/>
              <a:gd name="T39" fmla="*/ 84 h 199"/>
              <a:gd name="T40" fmla="*/ 0 w 671"/>
              <a:gd name="T41" fmla="*/ 93 h 199"/>
              <a:gd name="T42" fmla="*/ 0 w 671"/>
              <a:gd name="T43" fmla="*/ 99 h 199"/>
              <a:gd name="T44" fmla="*/ 2 w 671"/>
              <a:gd name="T45" fmla="*/ 124 h 199"/>
              <a:gd name="T46" fmla="*/ 5 w 671"/>
              <a:gd name="T47" fmla="*/ 151 h 199"/>
              <a:gd name="T48" fmla="*/ 10 w 671"/>
              <a:gd name="T49" fmla="*/ 174 h 199"/>
              <a:gd name="T50" fmla="*/ 15 w 671"/>
              <a:gd name="T51" fmla="*/ 199 h 199"/>
              <a:gd name="T52" fmla="*/ 17 w 671"/>
              <a:gd name="T53" fmla="*/ 187 h 199"/>
              <a:gd name="T54" fmla="*/ 12 w 671"/>
              <a:gd name="T55" fmla="*/ 162 h 199"/>
              <a:gd name="T56" fmla="*/ 9 w 671"/>
              <a:gd name="T57" fmla="*/ 137 h 199"/>
              <a:gd name="T58" fmla="*/ 5 w 671"/>
              <a:gd name="T59" fmla="*/ 112 h 199"/>
              <a:gd name="T60" fmla="*/ 5 w 671"/>
              <a:gd name="T61" fmla="*/ 96 h 199"/>
              <a:gd name="T62" fmla="*/ 5 w 671"/>
              <a:gd name="T63" fmla="*/ 88 h 199"/>
              <a:gd name="T64" fmla="*/ 7 w 671"/>
              <a:gd name="T65" fmla="*/ 79 h 199"/>
              <a:gd name="T66" fmla="*/ 7 w 671"/>
              <a:gd name="T67" fmla="*/ 73 h 199"/>
              <a:gd name="T68" fmla="*/ 2 w 671"/>
              <a:gd name="T69" fmla="*/ 7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1" h="199">
                <a:moveTo>
                  <a:pt x="671" y="99"/>
                </a:moveTo>
                <a:lnTo>
                  <a:pt x="671" y="86"/>
                </a:lnTo>
                <a:lnTo>
                  <a:pt x="671" y="73"/>
                </a:lnTo>
                <a:lnTo>
                  <a:pt x="669" y="61"/>
                </a:lnTo>
                <a:lnTo>
                  <a:pt x="668" y="48"/>
                </a:lnTo>
                <a:lnTo>
                  <a:pt x="666" y="36"/>
                </a:lnTo>
                <a:lnTo>
                  <a:pt x="663" y="23"/>
                </a:lnTo>
                <a:lnTo>
                  <a:pt x="659" y="11"/>
                </a:lnTo>
                <a:lnTo>
                  <a:pt x="656" y="0"/>
                </a:lnTo>
                <a:lnTo>
                  <a:pt x="651" y="0"/>
                </a:lnTo>
                <a:lnTo>
                  <a:pt x="654" y="11"/>
                </a:lnTo>
                <a:lnTo>
                  <a:pt x="658" y="23"/>
                </a:lnTo>
                <a:lnTo>
                  <a:pt x="661" y="36"/>
                </a:lnTo>
                <a:lnTo>
                  <a:pt x="663" y="48"/>
                </a:lnTo>
                <a:lnTo>
                  <a:pt x="664" y="61"/>
                </a:lnTo>
                <a:lnTo>
                  <a:pt x="666" y="73"/>
                </a:lnTo>
                <a:lnTo>
                  <a:pt x="666" y="86"/>
                </a:lnTo>
                <a:lnTo>
                  <a:pt x="666" y="99"/>
                </a:lnTo>
                <a:lnTo>
                  <a:pt x="666" y="102"/>
                </a:lnTo>
                <a:lnTo>
                  <a:pt x="666" y="104"/>
                </a:lnTo>
                <a:lnTo>
                  <a:pt x="666" y="107"/>
                </a:lnTo>
                <a:lnTo>
                  <a:pt x="666" y="111"/>
                </a:lnTo>
                <a:lnTo>
                  <a:pt x="666" y="114"/>
                </a:lnTo>
                <a:lnTo>
                  <a:pt x="666" y="117"/>
                </a:lnTo>
                <a:lnTo>
                  <a:pt x="666" y="119"/>
                </a:lnTo>
                <a:lnTo>
                  <a:pt x="666" y="122"/>
                </a:lnTo>
                <a:lnTo>
                  <a:pt x="671" y="121"/>
                </a:lnTo>
                <a:lnTo>
                  <a:pt x="671" y="117"/>
                </a:lnTo>
                <a:lnTo>
                  <a:pt x="671" y="116"/>
                </a:lnTo>
                <a:lnTo>
                  <a:pt x="671" y="112"/>
                </a:lnTo>
                <a:lnTo>
                  <a:pt x="671" y="109"/>
                </a:lnTo>
                <a:lnTo>
                  <a:pt x="671" y="107"/>
                </a:lnTo>
                <a:lnTo>
                  <a:pt x="671" y="104"/>
                </a:lnTo>
                <a:lnTo>
                  <a:pt x="671" y="101"/>
                </a:lnTo>
                <a:lnTo>
                  <a:pt x="671" y="99"/>
                </a:lnTo>
                <a:close/>
                <a:moveTo>
                  <a:pt x="2" y="71"/>
                </a:moveTo>
                <a:lnTo>
                  <a:pt x="2" y="74"/>
                </a:lnTo>
                <a:lnTo>
                  <a:pt x="2" y="78"/>
                </a:lnTo>
                <a:lnTo>
                  <a:pt x="2" y="81"/>
                </a:lnTo>
                <a:lnTo>
                  <a:pt x="2" y="84"/>
                </a:lnTo>
                <a:lnTo>
                  <a:pt x="2" y="89"/>
                </a:lnTo>
                <a:lnTo>
                  <a:pt x="0" y="93"/>
                </a:lnTo>
                <a:lnTo>
                  <a:pt x="0" y="96"/>
                </a:lnTo>
                <a:lnTo>
                  <a:pt x="0" y="99"/>
                </a:lnTo>
                <a:lnTo>
                  <a:pt x="2" y="112"/>
                </a:lnTo>
                <a:lnTo>
                  <a:pt x="2" y="124"/>
                </a:lnTo>
                <a:lnTo>
                  <a:pt x="4" y="137"/>
                </a:lnTo>
                <a:lnTo>
                  <a:pt x="5" y="151"/>
                </a:lnTo>
                <a:lnTo>
                  <a:pt x="7" y="162"/>
                </a:lnTo>
                <a:lnTo>
                  <a:pt x="10" y="174"/>
                </a:lnTo>
                <a:lnTo>
                  <a:pt x="12" y="187"/>
                </a:lnTo>
                <a:lnTo>
                  <a:pt x="15" y="199"/>
                </a:lnTo>
                <a:lnTo>
                  <a:pt x="20" y="199"/>
                </a:lnTo>
                <a:lnTo>
                  <a:pt x="17" y="187"/>
                </a:lnTo>
                <a:lnTo>
                  <a:pt x="15" y="174"/>
                </a:lnTo>
                <a:lnTo>
                  <a:pt x="12" y="162"/>
                </a:lnTo>
                <a:lnTo>
                  <a:pt x="10" y="151"/>
                </a:lnTo>
                <a:lnTo>
                  <a:pt x="9" y="137"/>
                </a:lnTo>
                <a:lnTo>
                  <a:pt x="7" y="124"/>
                </a:lnTo>
                <a:lnTo>
                  <a:pt x="5" y="112"/>
                </a:lnTo>
                <a:lnTo>
                  <a:pt x="5" y="99"/>
                </a:lnTo>
                <a:lnTo>
                  <a:pt x="5" y="96"/>
                </a:lnTo>
                <a:lnTo>
                  <a:pt x="5" y="91"/>
                </a:lnTo>
                <a:lnTo>
                  <a:pt x="5" y="88"/>
                </a:lnTo>
                <a:lnTo>
                  <a:pt x="7" y="84"/>
                </a:lnTo>
                <a:lnTo>
                  <a:pt x="7" y="79"/>
                </a:lnTo>
                <a:lnTo>
                  <a:pt x="7" y="76"/>
                </a:lnTo>
                <a:lnTo>
                  <a:pt x="7" y="73"/>
                </a:lnTo>
                <a:lnTo>
                  <a:pt x="7" y="69"/>
                </a:lnTo>
                <a:lnTo>
                  <a:pt x="2" y="71"/>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79" name="Freeform 1284">
            <a:extLst>
              <a:ext uri="{FF2B5EF4-FFF2-40B4-BE49-F238E27FC236}">
                <a16:creationId xmlns:a16="http://schemas.microsoft.com/office/drawing/2014/main" id="{2B6AB1D1-202F-8EC5-4DE4-F7CB6E90CD29}"/>
              </a:ext>
            </a:extLst>
          </p:cNvPr>
          <p:cNvSpPr>
            <a:spLocks noEditPoints="1"/>
          </p:cNvSpPr>
          <p:nvPr/>
        </p:nvSpPr>
        <p:spPr bwMode="auto">
          <a:xfrm>
            <a:off x="2387600" y="2403475"/>
            <a:ext cx="1055688" cy="315913"/>
          </a:xfrm>
          <a:custGeom>
            <a:avLst/>
            <a:gdLst>
              <a:gd name="T0" fmla="*/ 665 w 665"/>
              <a:gd name="T1" fmla="*/ 86 h 199"/>
              <a:gd name="T2" fmla="*/ 664 w 665"/>
              <a:gd name="T3" fmla="*/ 61 h 199"/>
              <a:gd name="T4" fmla="*/ 659 w 665"/>
              <a:gd name="T5" fmla="*/ 36 h 199"/>
              <a:gd name="T6" fmla="*/ 654 w 665"/>
              <a:gd name="T7" fmla="*/ 11 h 199"/>
              <a:gd name="T8" fmla="*/ 645 w 665"/>
              <a:gd name="T9" fmla="*/ 0 h 199"/>
              <a:gd name="T10" fmla="*/ 652 w 665"/>
              <a:gd name="T11" fmla="*/ 23 h 199"/>
              <a:gd name="T12" fmla="*/ 657 w 665"/>
              <a:gd name="T13" fmla="*/ 48 h 199"/>
              <a:gd name="T14" fmla="*/ 659 w 665"/>
              <a:gd name="T15" fmla="*/ 73 h 199"/>
              <a:gd name="T16" fmla="*/ 660 w 665"/>
              <a:gd name="T17" fmla="*/ 99 h 199"/>
              <a:gd name="T18" fmla="*/ 660 w 665"/>
              <a:gd name="T19" fmla="*/ 106 h 199"/>
              <a:gd name="T20" fmla="*/ 660 w 665"/>
              <a:gd name="T21" fmla="*/ 111 h 199"/>
              <a:gd name="T22" fmla="*/ 660 w 665"/>
              <a:gd name="T23" fmla="*/ 117 h 199"/>
              <a:gd name="T24" fmla="*/ 659 w 665"/>
              <a:gd name="T25" fmla="*/ 124 h 199"/>
              <a:gd name="T26" fmla="*/ 664 w 665"/>
              <a:gd name="T27" fmla="*/ 119 h 199"/>
              <a:gd name="T28" fmla="*/ 665 w 665"/>
              <a:gd name="T29" fmla="*/ 112 h 199"/>
              <a:gd name="T30" fmla="*/ 665 w 665"/>
              <a:gd name="T31" fmla="*/ 107 h 199"/>
              <a:gd name="T32" fmla="*/ 665 w 665"/>
              <a:gd name="T33" fmla="*/ 102 h 199"/>
              <a:gd name="T34" fmla="*/ 1 w 665"/>
              <a:gd name="T35" fmla="*/ 69 h 199"/>
              <a:gd name="T36" fmla="*/ 0 w 665"/>
              <a:gd name="T37" fmla="*/ 78 h 199"/>
              <a:gd name="T38" fmla="*/ 0 w 665"/>
              <a:gd name="T39" fmla="*/ 84 h 199"/>
              <a:gd name="T40" fmla="*/ 0 w 665"/>
              <a:gd name="T41" fmla="*/ 91 h 199"/>
              <a:gd name="T42" fmla="*/ 0 w 665"/>
              <a:gd name="T43" fmla="*/ 99 h 199"/>
              <a:gd name="T44" fmla="*/ 0 w 665"/>
              <a:gd name="T45" fmla="*/ 124 h 199"/>
              <a:gd name="T46" fmla="*/ 3 w 665"/>
              <a:gd name="T47" fmla="*/ 151 h 199"/>
              <a:gd name="T48" fmla="*/ 8 w 665"/>
              <a:gd name="T49" fmla="*/ 174 h 199"/>
              <a:gd name="T50" fmla="*/ 14 w 665"/>
              <a:gd name="T51" fmla="*/ 199 h 199"/>
              <a:gd name="T52" fmla="*/ 16 w 665"/>
              <a:gd name="T53" fmla="*/ 187 h 199"/>
              <a:gd name="T54" fmla="*/ 9 w 665"/>
              <a:gd name="T55" fmla="*/ 162 h 199"/>
              <a:gd name="T56" fmla="*/ 6 w 665"/>
              <a:gd name="T57" fmla="*/ 137 h 199"/>
              <a:gd name="T58" fmla="*/ 5 w 665"/>
              <a:gd name="T59" fmla="*/ 112 h 199"/>
              <a:gd name="T60" fmla="*/ 5 w 665"/>
              <a:gd name="T61" fmla="*/ 94 h 199"/>
              <a:gd name="T62" fmla="*/ 5 w 665"/>
              <a:gd name="T63" fmla="*/ 88 h 199"/>
              <a:gd name="T64" fmla="*/ 5 w 665"/>
              <a:gd name="T65" fmla="*/ 79 h 199"/>
              <a:gd name="T66" fmla="*/ 5 w 665"/>
              <a:gd name="T67" fmla="*/ 71 h 199"/>
              <a:gd name="T68" fmla="*/ 1 w 665"/>
              <a:gd name="T69" fmla="*/ 6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5" h="199">
                <a:moveTo>
                  <a:pt x="665" y="99"/>
                </a:moveTo>
                <a:lnTo>
                  <a:pt x="665" y="86"/>
                </a:lnTo>
                <a:lnTo>
                  <a:pt x="664" y="73"/>
                </a:lnTo>
                <a:lnTo>
                  <a:pt x="664" y="61"/>
                </a:lnTo>
                <a:lnTo>
                  <a:pt x="660" y="48"/>
                </a:lnTo>
                <a:lnTo>
                  <a:pt x="659" y="36"/>
                </a:lnTo>
                <a:lnTo>
                  <a:pt x="657" y="23"/>
                </a:lnTo>
                <a:lnTo>
                  <a:pt x="654" y="11"/>
                </a:lnTo>
                <a:lnTo>
                  <a:pt x="650" y="0"/>
                </a:lnTo>
                <a:lnTo>
                  <a:pt x="645" y="0"/>
                </a:lnTo>
                <a:lnTo>
                  <a:pt x="649" y="11"/>
                </a:lnTo>
                <a:lnTo>
                  <a:pt x="652" y="23"/>
                </a:lnTo>
                <a:lnTo>
                  <a:pt x="654" y="36"/>
                </a:lnTo>
                <a:lnTo>
                  <a:pt x="657" y="48"/>
                </a:lnTo>
                <a:lnTo>
                  <a:pt x="659" y="61"/>
                </a:lnTo>
                <a:lnTo>
                  <a:pt x="659" y="73"/>
                </a:lnTo>
                <a:lnTo>
                  <a:pt x="660" y="86"/>
                </a:lnTo>
                <a:lnTo>
                  <a:pt x="660" y="99"/>
                </a:lnTo>
                <a:lnTo>
                  <a:pt x="660" y="102"/>
                </a:lnTo>
                <a:lnTo>
                  <a:pt x="660" y="106"/>
                </a:lnTo>
                <a:lnTo>
                  <a:pt x="660" y="107"/>
                </a:lnTo>
                <a:lnTo>
                  <a:pt x="660" y="111"/>
                </a:lnTo>
                <a:lnTo>
                  <a:pt x="660" y="114"/>
                </a:lnTo>
                <a:lnTo>
                  <a:pt x="660" y="117"/>
                </a:lnTo>
                <a:lnTo>
                  <a:pt x="660" y="121"/>
                </a:lnTo>
                <a:lnTo>
                  <a:pt x="659" y="124"/>
                </a:lnTo>
                <a:lnTo>
                  <a:pt x="664" y="121"/>
                </a:lnTo>
                <a:lnTo>
                  <a:pt x="664" y="119"/>
                </a:lnTo>
                <a:lnTo>
                  <a:pt x="665" y="116"/>
                </a:lnTo>
                <a:lnTo>
                  <a:pt x="665" y="112"/>
                </a:lnTo>
                <a:lnTo>
                  <a:pt x="665" y="111"/>
                </a:lnTo>
                <a:lnTo>
                  <a:pt x="665" y="107"/>
                </a:lnTo>
                <a:lnTo>
                  <a:pt x="665" y="104"/>
                </a:lnTo>
                <a:lnTo>
                  <a:pt x="665" y="102"/>
                </a:lnTo>
                <a:lnTo>
                  <a:pt x="665" y="99"/>
                </a:lnTo>
                <a:close/>
                <a:moveTo>
                  <a:pt x="1" y="69"/>
                </a:moveTo>
                <a:lnTo>
                  <a:pt x="0" y="74"/>
                </a:lnTo>
                <a:lnTo>
                  <a:pt x="0" y="78"/>
                </a:lnTo>
                <a:lnTo>
                  <a:pt x="0" y="81"/>
                </a:lnTo>
                <a:lnTo>
                  <a:pt x="0" y="84"/>
                </a:lnTo>
                <a:lnTo>
                  <a:pt x="0" y="88"/>
                </a:lnTo>
                <a:lnTo>
                  <a:pt x="0" y="91"/>
                </a:lnTo>
                <a:lnTo>
                  <a:pt x="0" y="96"/>
                </a:lnTo>
                <a:lnTo>
                  <a:pt x="0" y="99"/>
                </a:lnTo>
                <a:lnTo>
                  <a:pt x="0" y="112"/>
                </a:lnTo>
                <a:lnTo>
                  <a:pt x="0" y="124"/>
                </a:lnTo>
                <a:lnTo>
                  <a:pt x="1" y="137"/>
                </a:lnTo>
                <a:lnTo>
                  <a:pt x="3" y="151"/>
                </a:lnTo>
                <a:lnTo>
                  <a:pt x="5" y="162"/>
                </a:lnTo>
                <a:lnTo>
                  <a:pt x="8" y="174"/>
                </a:lnTo>
                <a:lnTo>
                  <a:pt x="11" y="187"/>
                </a:lnTo>
                <a:lnTo>
                  <a:pt x="14" y="199"/>
                </a:lnTo>
                <a:lnTo>
                  <a:pt x="19" y="199"/>
                </a:lnTo>
                <a:lnTo>
                  <a:pt x="16" y="187"/>
                </a:lnTo>
                <a:lnTo>
                  <a:pt x="13" y="174"/>
                </a:lnTo>
                <a:lnTo>
                  <a:pt x="9" y="162"/>
                </a:lnTo>
                <a:lnTo>
                  <a:pt x="8" y="151"/>
                </a:lnTo>
                <a:lnTo>
                  <a:pt x="6" y="137"/>
                </a:lnTo>
                <a:lnTo>
                  <a:pt x="5" y="124"/>
                </a:lnTo>
                <a:lnTo>
                  <a:pt x="5" y="112"/>
                </a:lnTo>
                <a:lnTo>
                  <a:pt x="5" y="99"/>
                </a:lnTo>
                <a:lnTo>
                  <a:pt x="5" y="94"/>
                </a:lnTo>
                <a:lnTo>
                  <a:pt x="5" y="91"/>
                </a:lnTo>
                <a:lnTo>
                  <a:pt x="5" y="88"/>
                </a:lnTo>
                <a:lnTo>
                  <a:pt x="5" y="83"/>
                </a:lnTo>
                <a:lnTo>
                  <a:pt x="5" y="79"/>
                </a:lnTo>
                <a:lnTo>
                  <a:pt x="5" y="76"/>
                </a:lnTo>
                <a:lnTo>
                  <a:pt x="5" y="71"/>
                </a:lnTo>
                <a:lnTo>
                  <a:pt x="6" y="68"/>
                </a:lnTo>
                <a:lnTo>
                  <a:pt x="1" y="69"/>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80" name="Freeform 1285">
            <a:extLst>
              <a:ext uri="{FF2B5EF4-FFF2-40B4-BE49-F238E27FC236}">
                <a16:creationId xmlns:a16="http://schemas.microsoft.com/office/drawing/2014/main" id="{3F2E1B96-4D72-34BF-ED39-FECD1BB4C2DC}"/>
              </a:ext>
            </a:extLst>
          </p:cNvPr>
          <p:cNvSpPr>
            <a:spLocks noEditPoints="1"/>
          </p:cNvSpPr>
          <p:nvPr/>
        </p:nvSpPr>
        <p:spPr bwMode="auto">
          <a:xfrm>
            <a:off x="2389188" y="2403475"/>
            <a:ext cx="1049338" cy="315913"/>
          </a:xfrm>
          <a:custGeom>
            <a:avLst/>
            <a:gdLst>
              <a:gd name="T0" fmla="*/ 661 w 661"/>
              <a:gd name="T1" fmla="*/ 86 h 199"/>
              <a:gd name="T2" fmla="*/ 659 w 661"/>
              <a:gd name="T3" fmla="*/ 61 h 199"/>
              <a:gd name="T4" fmla="*/ 656 w 661"/>
              <a:gd name="T5" fmla="*/ 36 h 199"/>
              <a:gd name="T6" fmla="*/ 649 w 661"/>
              <a:gd name="T7" fmla="*/ 11 h 199"/>
              <a:gd name="T8" fmla="*/ 641 w 661"/>
              <a:gd name="T9" fmla="*/ 0 h 199"/>
              <a:gd name="T10" fmla="*/ 648 w 661"/>
              <a:gd name="T11" fmla="*/ 23 h 199"/>
              <a:gd name="T12" fmla="*/ 653 w 661"/>
              <a:gd name="T13" fmla="*/ 48 h 199"/>
              <a:gd name="T14" fmla="*/ 656 w 661"/>
              <a:gd name="T15" fmla="*/ 73 h 199"/>
              <a:gd name="T16" fmla="*/ 656 w 661"/>
              <a:gd name="T17" fmla="*/ 99 h 199"/>
              <a:gd name="T18" fmla="*/ 656 w 661"/>
              <a:gd name="T19" fmla="*/ 106 h 199"/>
              <a:gd name="T20" fmla="*/ 656 w 661"/>
              <a:gd name="T21" fmla="*/ 112 h 199"/>
              <a:gd name="T22" fmla="*/ 656 w 661"/>
              <a:gd name="T23" fmla="*/ 119 h 199"/>
              <a:gd name="T24" fmla="*/ 656 w 661"/>
              <a:gd name="T25" fmla="*/ 124 h 199"/>
              <a:gd name="T26" fmla="*/ 661 w 661"/>
              <a:gd name="T27" fmla="*/ 119 h 199"/>
              <a:gd name="T28" fmla="*/ 661 w 661"/>
              <a:gd name="T29" fmla="*/ 114 h 199"/>
              <a:gd name="T30" fmla="*/ 661 w 661"/>
              <a:gd name="T31" fmla="*/ 107 h 199"/>
              <a:gd name="T32" fmla="*/ 661 w 661"/>
              <a:gd name="T33" fmla="*/ 102 h 199"/>
              <a:gd name="T34" fmla="*/ 2 w 661"/>
              <a:gd name="T35" fmla="*/ 69 h 199"/>
              <a:gd name="T36" fmla="*/ 2 w 661"/>
              <a:gd name="T37" fmla="*/ 76 h 199"/>
              <a:gd name="T38" fmla="*/ 2 w 661"/>
              <a:gd name="T39" fmla="*/ 84 h 199"/>
              <a:gd name="T40" fmla="*/ 0 w 661"/>
              <a:gd name="T41" fmla="*/ 91 h 199"/>
              <a:gd name="T42" fmla="*/ 0 w 661"/>
              <a:gd name="T43" fmla="*/ 99 h 199"/>
              <a:gd name="T44" fmla="*/ 2 w 661"/>
              <a:gd name="T45" fmla="*/ 124 h 199"/>
              <a:gd name="T46" fmla="*/ 5 w 661"/>
              <a:gd name="T47" fmla="*/ 151 h 199"/>
              <a:gd name="T48" fmla="*/ 10 w 661"/>
              <a:gd name="T49" fmla="*/ 174 h 199"/>
              <a:gd name="T50" fmla="*/ 15 w 661"/>
              <a:gd name="T51" fmla="*/ 199 h 199"/>
              <a:gd name="T52" fmla="*/ 17 w 661"/>
              <a:gd name="T53" fmla="*/ 187 h 199"/>
              <a:gd name="T54" fmla="*/ 12 w 661"/>
              <a:gd name="T55" fmla="*/ 162 h 199"/>
              <a:gd name="T56" fmla="*/ 8 w 661"/>
              <a:gd name="T57" fmla="*/ 137 h 199"/>
              <a:gd name="T58" fmla="*/ 5 w 661"/>
              <a:gd name="T59" fmla="*/ 112 h 199"/>
              <a:gd name="T60" fmla="*/ 5 w 661"/>
              <a:gd name="T61" fmla="*/ 94 h 199"/>
              <a:gd name="T62" fmla="*/ 5 w 661"/>
              <a:gd name="T63" fmla="*/ 86 h 199"/>
              <a:gd name="T64" fmla="*/ 7 w 661"/>
              <a:gd name="T65" fmla="*/ 79 h 199"/>
              <a:gd name="T66" fmla="*/ 7 w 661"/>
              <a:gd name="T67" fmla="*/ 71 h 199"/>
              <a:gd name="T68" fmla="*/ 2 w 661"/>
              <a:gd name="T69" fmla="*/ 6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1" h="199">
                <a:moveTo>
                  <a:pt x="661" y="99"/>
                </a:moveTo>
                <a:lnTo>
                  <a:pt x="661" y="86"/>
                </a:lnTo>
                <a:lnTo>
                  <a:pt x="661" y="73"/>
                </a:lnTo>
                <a:lnTo>
                  <a:pt x="659" y="61"/>
                </a:lnTo>
                <a:lnTo>
                  <a:pt x="658" y="48"/>
                </a:lnTo>
                <a:lnTo>
                  <a:pt x="656" y="36"/>
                </a:lnTo>
                <a:lnTo>
                  <a:pt x="653" y="23"/>
                </a:lnTo>
                <a:lnTo>
                  <a:pt x="649" y="11"/>
                </a:lnTo>
                <a:lnTo>
                  <a:pt x="646" y="0"/>
                </a:lnTo>
                <a:lnTo>
                  <a:pt x="641" y="0"/>
                </a:lnTo>
                <a:lnTo>
                  <a:pt x="644" y="11"/>
                </a:lnTo>
                <a:lnTo>
                  <a:pt x="648" y="23"/>
                </a:lnTo>
                <a:lnTo>
                  <a:pt x="651" y="36"/>
                </a:lnTo>
                <a:lnTo>
                  <a:pt x="653" y="48"/>
                </a:lnTo>
                <a:lnTo>
                  <a:pt x="654" y="61"/>
                </a:lnTo>
                <a:lnTo>
                  <a:pt x="656" y="73"/>
                </a:lnTo>
                <a:lnTo>
                  <a:pt x="656" y="86"/>
                </a:lnTo>
                <a:lnTo>
                  <a:pt x="656" y="99"/>
                </a:lnTo>
                <a:lnTo>
                  <a:pt x="656" y="102"/>
                </a:lnTo>
                <a:lnTo>
                  <a:pt x="656" y="106"/>
                </a:lnTo>
                <a:lnTo>
                  <a:pt x="656" y="109"/>
                </a:lnTo>
                <a:lnTo>
                  <a:pt x="656" y="112"/>
                </a:lnTo>
                <a:lnTo>
                  <a:pt x="656" y="116"/>
                </a:lnTo>
                <a:lnTo>
                  <a:pt x="656" y="119"/>
                </a:lnTo>
                <a:lnTo>
                  <a:pt x="656" y="121"/>
                </a:lnTo>
                <a:lnTo>
                  <a:pt x="656" y="124"/>
                </a:lnTo>
                <a:lnTo>
                  <a:pt x="661" y="122"/>
                </a:lnTo>
                <a:lnTo>
                  <a:pt x="661" y="119"/>
                </a:lnTo>
                <a:lnTo>
                  <a:pt x="661" y="117"/>
                </a:lnTo>
                <a:lnTo>
                  <a:pt x="661" y="114"/>
                </a:lnTo>
                <a:lnTo>
                  <a:pt x="661" y="111"/>
                </a:lnTo>
                <a:lnTo>
                  <a:pt x="661" y="107"/>
                </a:lnTo>
                <a:lnTo>
                  <a:pt x="661" y="104"/>
                </a:lnTo>
                <a:lnTo>
                  <a:pt x="661" y="102"/>
                </a:lnTo>
                <a:lnTo>
                  <a:pt x="661" y="99"/>
                </a:lnTo>
                <a:close/>
                <a:moveTo>
                  <a:pt x="2" y="69"/>
                </a:moveTo>
                <a:lnTo>
                  <a:pt x="2" y="73"/>
                </a:lnTo>
                <a:lnTo>
                  <a:pt x="2" y="76"/>
                </a:lnTo>
                <a:lnTo>
                  <a:pt x="2" y="79"/>
                </a:lnTo>
                <a:lnTo>
                  <a:pt x="2" y="84"/>
                </a:lnTo>
                <a:lnTo>
                  <a:pt x="0" y="88"/>
                </a:lnTo>
                <a:lnTo>
                  <a:pt x="0" y="91"/>
                </a:lnTo>
                <a:lnTo>
                  <a:pt x="0" y="96"/>
                </a:lnTo>
                <a:lnTo>
                  <a:pt x="0" y="99"/>
                </a:lnTo>
                <a:lnTo>
                  <a:pt x="0" y="112"/>
                </a:lnTo>
                <a:lnTo>
                  <a:pt x="2" y="124"/>
                </a:lnTo>
                <a:lnTo>
                  <a:pt x="4" y="137"/>
                </a:lnTo>
                <a:lnTo>
                  <a:pt x="5" y="151"/>
                </a:lnTo>
                <a:lnTo>
                  <a:pt x="7" y="162"/>
                </a:lnTo>
                <a:lnTo>
                  <a:pt x="10" y="174"/>
                </a:lnTo>
                <a:lnTo>
                  <a:pt x="12" y="187"/>
                </a:lnTo>
                <a:lnTo>
                  <a:pt x="15" y="199"/>
                </a:lnTo>
                <a:lnTo>
                  <a:pt x="22" y="199"/>
                </a:lnTo>
                <a:lnTo>
                  <a:pt x="17" y="187"/>
                </a:lnTo>
                <a:lnTo>
                  <a:pt x="15" y="174"/>
                </a:lnTo>
                <a:lnTo>
                  <a:pt x="12" y="162"/>
                </a:lnTo>
                <a:lnTo>
                  <a:pt x="10" y="151"/>
                </a:lnTo>
                <a:lnTo>
                  <a:pt x="8" y="137"/>
                </a:lnTo>
                <a:lnTo>
                  <a:pt x="7" y="124"/>
                </a:lnTo>
                <a:lnTo>
                  <a:pt x="5" y="112"/>
                </a:lnTo>
                <a:lnTo>
                  <a:pt x="5" y="99"/>
                </a:lnTo>
                <a:lnTo>
                  <a:pt x="5" y="94"/>
                </a:lnTo>
                <a:lnTo>
                  <a:pt x="5" y="91"/>
                </a:lnTo>
                <a:lnTo>
                  <a:pt x="5" y="86"/>
                </a:lnTo>
                <a:lnTo>
                  <a:pt x="5" y="83"/>
                </a:lnTo>
                <a:lnTo>
                  <a:pt x="7" y="79"/>
                </a:lnTo>
                <a:lnTo>
                  <a:pt x="7" y="74"/>
                </a:lnTo>
                <a:lnTo>
                  <a:pt x="7" y="71"/>
                </a:lnTo>
                <a:lnTo>
                  <a:pt x="7" y="66"/>
                </a:lnTo>
                <a:lnTo>
                  <a:pt x="2" y="69"/>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81" name="Freeform 1286">
            <a:extLst>
              <a:ext uri="{FF2B5EF4-FFF2-40B4-BE49-F238E27FC236}">
                <a16:creationId xmlns:a16="http://schemas.microsoft.com/office/drawing/2014/main" id="{70C9A7FF-C9D7-2F14-F885-A387FC3004D4}"/>
              </a:ext>
            </a:extLst>
          </p:cNvPr>
          <p:cNvSpPr>
            <a:spLocks noEditPoints="1"/>
          </p:cNvSpPr>
          <p:nvPr/>
        </p:nvSpPr>
        <p:spPr bwMode="auto">
          <a:xfrm>
            <a:off x="2395538" y="2403475"/>
            <a:ext cx="1039813" cy="315913"/>
          </a:xfrm>
          <a:custGeom>
            <a:avLst/>
            <a:gdLst>
              <a:gd name="T0" fmla="*/ 655 w 655"/>
              <a:gd name="T1" fmla="*/ 86 h 199"/>
              <a:gd name="T2" fmla="*/ 654 w 655"/>
              <a:gd name="T3" fmla="*/ 61 h 199"/>
              <a:gd name="T4" fmla="*/ 649 w 655"/>
              <a:gd name="T5" fmla="*/ 36 h 199"/>
              <a:gd name="T6" fmla="*/ 644 w 655"/>
              <a:gd name="T7" fmla="*/ 11 h 199"/>
              <a:gd name="T8" fmla="*/ 635 w 655"/>
              <a:gd name="T9" fmla="*/ 0 h 199"/>
              <a:gd name="T10" fmla="*/ 642 w 655"/>
              <a:gd name="T11" fmla="*/ 23 h 199"/>
              <a:gd name="T12" fmla="*/ 647 w 655"/>
              <a:gd name="T13" fmla="*/ 48 h 199"/>
              <a:gd name="T14" fmla="*/ 649 w 655"/>
              <a:gd name="T15" fmla="*/ 73 h 199"/>
              <a:gd name="T16" fmla="*/ 650 w 655"/>
              <a:gd name="T17" fmla="*/ 99 h 199"/>
              <a:gd name="T18" fmla="*/ 650 w 655"/>
              <a:gd name="T19" fmla="*/ 106 h 199"/>
              <a:gd name="T20" fmla="*/ 650 w 655"/>
              <a:gd name="T21" fmla="*/ 112 h 199"/>
              <a:gd name="T22" fmla="*/ 650 w 655"/>
              <a:gd name="T23" fmla="*/ 119 h 199"/>
              <a:gd name="T24" fmla="*/ 649 w 655"/>
              <a:gd name="T25" fmla="*/ 126 h 199"/>
              <a:gd name="T26" fmla="*/ 655 w 655"/>
              <a:gd name="T27" fmla="*/ 121 h 199"/>
              <a:gd name="T28" fmla="*/ 655 w 655"/>
              <a:gd name="T29" fmla="*/ 114 h 199"/>
              <a:gd name="T30" fmla="*/ 655 w 655"/>
              <a:gd name="T31" fmla="*/ 107 h 199"/>
              <a:gd name="T32" fmla="*/ 655 w 655"/>
              <a:gd name="T33" fmla="*/ 102 h 199"/>
              <a:gd name="T34" fmla="*/ 1 w 655"/>
              <a:gd name="T35" fmla="*/ 68 h 199"/>
              <a:gd name="T36" fmla="*/ 0 w 655"/>
              <a:gd name="T37" fmla="*/ 76 h 199"/>
              <a:gd name="T38" fmla="*/ 0 w 655"/>
              <a:gd name="T39" fmla="*/ 83 h 199"/>
              <a:gd name="T40" fmla="*/ 0 w 655"/>
              <a:gd name="T41" fmla="*/ 91 h 199"/>
              <a:gd name="T42" fmla="*/ 0 w 655"/>
              <a:gd name="T43" fmla="*/ 99 h 199"/>
              <a:gd name="T44" fmla="*/ 0 w 655"/>
              <a:gd name="T45" fmla="*/ 124 h 199"/>
              <a:gd name="T46" fmla="*/ 3 w 655"/>
              <a:gd name="T47" fmla="*/ 151 h 199"/>
              <a:gd name="T48" fmla="*/ 8 w 655"/>
              <a:gd name="T49" fmla="*/ 174 h 199"/>
              <a:gd name="T50" fmla="*/ 14 w 655"/>
              <a:gd name="T51" fmla="*/ 199 h 199"/>
              <a:gd name="T52" fmla="*/ 16 w 655"/>
              <a:gd name="T53" fmla="*/ 187 h 199"/>
              <a:gd name="T54" fmla="*/ 9 w 655"/>
              <a:gd name="T55" fmla="*/ 162 h 199"/>
              <a:gd name="T56" fmla="*/ 6 w 655"/>
              <a:gd name="T57" fmla="*/ 137 h 199"/>
              <a:gd name="T58" fmla="*/ 4 w 655"/>
              <a:gd name="T59" fmla="*/ 112 h 199"/>
              <a:gd name="T60" fmla="*/ 4 w 655"/>
              <a:gd name="T61" fmla="*/ 94 h 199"/>
              <a:gd name="T62" fmla="*/ 4 w 655"/>
              <a:gd name="T63" fmla="*/ 86 h 199"/>
              <a:gd name="T64" fmla="*/ 4 w 655"/>
              <a:gd name="T65" fmla="*/ 78 h 199"/>
              <a:gd name="T66" fmla="*/ 4 w 655"/>
              <a:gd name="T67" fmla="*/ 69 h 199"/>
              <a:gd name="T68" fmla="*/ 1 w 655"/>
              <a:gd name="T69" fmla="*/ 6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5" h="199">
                <a:moveTo>
                  <a:pt x="655" y="99"/>
                </a:moveTo>
                <a:lnTo>
                  <a:pt x="655" y="86"/>
                </a:lnTo>
                <a:lnTo>
                  <a:pt x="654" y="73"/>
                </a:lnTo>
                <a:lnTo>
                  <a:pt x="654" y="61"/>
                </a:lnTo>
                <a:lnTo>
                  <a:pt x="652" y="48"/>
                </a:lnTo>
                <a:lnTo>
                  <a:pt x="649" y="36"/>
                </a:lnTo>
                <a:lnTo>
                  <a:pt x="647" y="23"/>
                </a:lnTo>
                <a:lnTo>
                  <a:pt x="644" y="11"/>
                </a:lnTo>
                <a:lnTo>
                  <a:pt x="640" y="0"/>
                </a:lnTo>
                <a:lnTo>
                  <a:pt x="635" y="0"/>
                </a:lnTo>
                <a:lnTo>
                  <a:pt x="639" y="11"/>
                </a:lnTo>
                <a:lnTo>
                  <a:pt x="642" y="23"/>
                </a:lnTo>
                <a:lnTo>
                  <a:pt x="644" y="36"/>
                </a:lnTo>
                <a:lnTo>
                  <a:pt x="647" y="48"/>
                </a:lnTo>
                <a:lnTo>
                  <a:pt x="649" y="61"/>
                </a:lnTo>
                <a:lnTo>
                  <a:pt x="649" y="73"/>
                </a:lnTo>
                <a:lnTo>
                  <a:pt x="650" y="86"/>
                </a:lnTo>
                <a:lnTo>
                  <a:pt x="650" y="99"/>
                </a:lnTo>
                <a:lnTo>
                  <a:pt x="650" y="102"/>
                </a:lnTo>
                <a:lnTo>
                  <a:pt x="650" y="106"/>
                </a:lnTo>
                <a:lnTo>
                  <a:pt x="650" y="109"/>
                </a:lnTo>
                <a:lnTo>
                  <a:pt x="650" y="112"/>
                </a:lnTo>
                <a:lnTo>
                  <a:pt x="650" y="116"/>
                </a:lnTo>
                <a:lnTo>
                  <a:pt x="650" y="119"/>
                </a:lnTo>
                <a:lnTo>
                  <a:pt x="650" y="122"/>
                </a:lnTo>
                <a:lnTo>
                  <a:pt x="649" y="126"/>
                </a:lnTo>
                <a:lnTo>
                  <a:pt x="654" y="124"/>
                </a:lnTo>
                <a:lnTo>
                  <a:pt x="655" y="121"/>
                </a:lnTo>
                <a:lnTo>
                  <a:pt x="655" y="117"/>
                </a:lnTo>
                <a:lnTo>
                  <a:pt x="655" y="114"/>
                </a:lnTo>
                <a:lnTo>
                  <a:pt x="655" y="111"/>
                </a:lnTo>
                <a:lnTo>
                  <a:pt x="655" y="107"/>
                </a:lnTo>
                <a:lnTo>
                  <a:pt x="655" y="106"/>
                </a:lnTo>
                <a:lnTo>
                  <a:pt x="655" y="102"/>
                </a:lnTo>
                <a:lnTo>
                  <a:pt x="655" y="99"/>
                </a:lnTo>
                <a:close/>
                <a:moveTo>
                  <a:pt x="1" y="68"/>
                </a:moveTo>
                <a:lnTo>
                  <a:pt x="0" y="71"/>
                </a:lnTo>
                <a:lnTo>
                  <a:pt x="0" y="76"/>
                </a:lnTo>
                <a:lnTo>
                  <a:pt x="0" y="79"/>
                </a:lnTo>
                <a:lnTo>
                  <a:pt x="0" y="83"/>
                </a:lnTo>
                <a:lnTo>
                  <a:pt x="0" y="88"/>
                </a:lnTo>
                <a:lnTo>
                  <a:pt x="0" y="91"/>
                </a:lnTo>
                <a:lnTo>
                  <a:pt x="0" y="94"/>
                </a:lnTo>
                <a:lnTo>
                  <a:pt x="0" y="99"/>
                </a:lnTo>
                <a:lnTo>
                  <a:pt x="0" y="112"/>
                </a:lnTo>
                <a:lnTo>
                  <a:pt x="0" y="124"/>
                </a:lnTo>
                <a:lnTo>
                  <a:pt x="1" y="137"/>
                </a:lnTo>
                <a:lnTo>
                  <a:pt x="3" y="151"/>
                </a:lnTo>
                <a:lnTo>
                  <a:pt x="4" y="162"/>
                </a:lnTo>
                <a:lnTo>
                  <a:pt x="8" y="174"/>
                </a:lnTo>
                <a:lnTo>
                  <a:pt x="11" y="187"/>
                </a:lnTo>
                <a:lnTo>
                  <a:pt x="14" y="199"/>
                </a:lnTo>
                <a:lnTo>
                  <a:pt x="19" y="199"/>
                </a:lnTo>
                <a:lnTo>
                  <a:pt x="16" y="187"/>
                </a:lnTo>
                <a:lnTo>
                  <a:pt x="13" y="174"/>
                </a:lnTo>
                <a:lnTo>
                  <a:pt x="9" y="162"/>
                </a:lnTo>
                <a:lnTo>
                  <a:pt x="8" y="151"/>
                </a:lnTo>
                <a:lnTo>
                  <a:pt x="6" y="137"/>
                </a:lnTo>
                <a:lnTo>
                  <a:pt x="4" y="124"/>
                </a:lnTo>
                <a:lnTo>
                  <a:pt x="4" y="112"/>
                </a:lnTo>
                <a:lnTo>
                  <a:pt x="4" y="99"/>
                </a:lnTo>
                <a:lnTo>
                  <a:pt x="4" y="94"/>
                </a:lnTo>
                <a:lnTo>
                  <a:pt x="4" y="91"/>
                </a:lnTo>
                <a:lnTo>
                  <a:pt x="4" y="86"/>
                </a:lnTo>
                <a:lnTo>
                  <a:pt x="4" y="83"/>
                </a:lnTo>
                <a:lnTo>
                  <a:pt x="4" y="78"/>
                </a:lnTo>
                <a:lnTo>
                  <a:pt x="4" y="74"/>
                </a:lnTo>
                <a:lnTo>
                  <a:pt x="4" y="69"/>
                </a:lnTo>
                <a:lnTo>
                  <a:pt x="6" y="66"/>
                </a:lnTo>
                <a:lnTo>
                  <a:pt x="1" y="68"/>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82" name="Freeform 1287">
            <a:extLst>
              <a:ext uri="{FF2B5EF4-FFF2-40B4-BE49-F238E27FC236}">
                <a16:creationId xmlns:a16="http://schemas.microsoft.com/office/drawing/2014/main" id="{D587E5C8-54DF-715C-D452-787C89E836C0}"/>
              </a:ext>
            </a:extLst>
          </p:cNvPr>
          <p:cNvSpPr>
            <a:spLocks noEditPoints="1"/>
          </p:cNvSpPr>
          <p:nvPr/>
        </p:nvSpPr>
        <p:spPr bwMode="auto">
          <a:xfrm>
            <a:off x="2397125" y="2403475"/>
            <a:ext cx="1033463" cy="315913"/>
          </a:xfrm>
          <a:custGeom>
            <a:avLst/>
            <a:gdLst>
              <a:gd name="T0" fmla="*/ 651 w 651"/>
              <a:gd name="T1" fmla="*/ 86 h 199"/>
              <a:gd name="T2" fmla="*/ 649 w 651"/>
              <a:gd name="T3" fmla="*/ 61 h 199"/>
              <a:gd name="T4" fmla="*/ 646 w 651"/>
              <a:gd name="T5" fmla="*/ 36 h 199"/>
              <a:gd name="T6" fmla="*/ 639 w 651"/>
              <a:gd name="T7" fmla="*/ 11 h 199"/>
              <a:gd name="T8" fmla="*/ 631 w 651"/>
              <a:gd name="T9" fmla="*/ 0 h 199"/>
              <a:gd name="T10" fmla="*/ 638 w 651"/>
              <a:gd name="T11" fmla="*/ 23 h 199"/>
              <a:gd name="T12" fmla="*/ 643 w 651"/>
              <a:gd name="T13" fmla="*/ 48 h 199"/>
              <a:gd name="T14" fmla="*/ 646 w 651"/>
              <a:gd name="T15" fmla="*/ 73 h 199"/>
              <a:gd name="T16" fmla="*/ 648 w 651"/>
              <a:gd name="T17" fmla="*/ 99 h 199"/>
              <a:gd name="T18" fmla="*/ 648 w 651"/>
              <a:gd name="T19" fmla="*/ 106 h 199"/>
              <a:gd name="T20" fmla="*/ 646 w 651"/>
              <a:gd name="T21" fmla="*/ 112 h 199"/>
              <a:gd name="T22" fmla="*/ 646 w 651"/>
              <a:gd name="T23" fmla="*/ 121 h 199"/>
              <a:gd name="T24" fmla="*/ 646 w 651"/>
              <a:gd name="T25" fmla="*/ 127 h 199"/>
              <a:gd name="T26" fmla="*/ 651 w 651"/>
              <a:gd name="T27" fmla="*/ 121 h 199"/>
              <a:gd name="T28" fmla="*/ 651 w 651"/>
              <a:gd name="T29" fmla="*/ 116 h 199"/>
              <a:gd name="T30" fmla="*/ 651 w 651"/>
              <a:gd name="T31" fmla="*/ 109 h 199"/>
              <a:gd name="T32" fmla="*/ 651 w 651"/>
              <a:gd name="T33" fmla="*/ 102 h 199"/>
              <a:gd name="T34" fmla="*/ 2 w 651"/>
              <a:gd name="T35" fmla="*/ 66 h 199"/>
              <a:gd name="T36" fmla="*/ 2 w 651"/>
              <a:gd name="T37" fmla="*/ 74 h 199"/>
              <a:gd name="T38" fmla="*/ 0 w 651"/>
              <a:gd name="T39" fmla="*/ 83 h 199"/>
              <a:gd name="T40" fmla="*/ 0 w 651"/>
              <a:gd name="T41" fmla="*/ 91 h 199"/>
              <a:gd name="T42" fmla="*/ 0 w 651"/>
              <a:gd name="T43" fmla="*/ 99 h 199"/>
              <a:gd name="T44" fmla="*/ 2 w 651"/>
              <a:gd name="T45" fmla="*/ 124 h 199"/>
              <a:gd name="T46" fmla="*/ 5 w 651"/>
              <a:gd name="T47" fmla="*/ 151 h 199"/>
              <a:gd name="T48" fmla="*/ 10 w 651"/>
              <a:gd name="T49" fmla="*/ 174 h 199"/>
              <a:gd name="T50" fmla="*/ 17 w 651"/>
              <a:gd name="T51" fmla="*/ 199 h 199"/>
              <a:gd name="T52" fmla="*/ 17 w 651"/>
              <a:gd name="T53" fmla="*/ 187 h 199"/>
              <a:gd name="T54" fmla="*/ 12 w 651"/>
              <a:gd name="T55" fmla="*/ 162 h 199"/>
              <a:gd name="T56" fmla="*/ 7 w 651"/>
              <a:gd name="T57" fmla="*/ 137 h 199"/>
              <a:gd name="T58" fmla="*/ 5 w 651"/>
              <a:gd name="T59" fmla="*/ 112 h 199"/>
              <a:gd name="T60" fmla="*/ 5 w 651"/>
              <a:gd name="T61" fmla="*/ 94 h 199"/>
              <a:gd name="T62" fmla="*/ 5 w 651"/>
              <a:gd name="T63" fmla="*/ 86 h 199"/>
              <a:gd name="T64" fmla="*/ 7 w 651"/>
              <a:gd name="T65" fmla="*/ 78 h 199"/>
              <a:gd name="T66" fmla="*/ 7 w 651"/>
              <a:gd name="T67" fmla="*/ 68 h 199"/>
              <a:gd name="T68" fmla="*/ 2 w 651"/>
              <a:gd name="T69" fmla="*/ 6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1" h="199">
                <a:moveTo>
                  <a:pt x="651" y="99"/>
                </a:moveTo>
                <a:lnTo>
                  <a:pt x="651" y="86"/>
                </a:lnTo>
                <a:lnTo>
                  <a:pt x="651" y="73"/>
                </a:lnTo>
                <a:lnTo>
                  <a:pt x="649" y="61"/>
                </a:lnTo>
                <a:lnTo>
                  <a:pt x="648" y="48"/>
                </a:lnTo>
                <a:lnTo>
                  <a:pt x="646" y="36"/>
                </a:lnTo>
                <a:lnTo>
                  <a:pt x="643" y="23"/>
                </a:lnTo>
                <a:lnTo>
                  <a:pt x="639" y="11"/>
                </a:lnTo>
                <a:lnTo>
                  <a:pt x="636" y="0"/>
                </a:lnTo>
                <a:lnTo>
                  <a:pt x="631" y="0"/>
                </a:lnTo>
                <a:lnTo>
                  <a:pt x="634" y="11"/>
                </a:lnTo>
                <a:lnTo>
                  <a:pt x="638" y="23"/>
                </a:lnTo>
                <a:lnTo>
                  <a:pt x="641" y="36"/>
                </a:lnTo>
                <a:lnTo>
                  <a:pt x="643" y="48"/>
                </a:lnTo>
                <a:lnTo>
                  <a:pt x="644" y="61"/>
                </a:lnTo>
                <a:lnTo>
                  <a:pt x="646" y="73"/>
                </a:lnTo>
                <a:lnTo>
                  <a:pt x="646" y="86"/>
                </a:lnTo>
                <a:lnTo>
                  <a:pt x="648" y="99"/>
                </a:lnTo>
                <a:lnTo>
                  <a:pt x="648" y="102"/>
                </a:lnTo>
                <a:lnTo>
                  <a:pt x="648" y="106"/>
                </a:lnTo>
                <a:lnTo>
                  <a:pt x="646" y="109"/>
                </a:lnTo>
                <a:lnTo>
                  <a:pt x="646" y="112"/>
                </a:lnTo>
                <a:lnTo>
                  <a:pt x="646" y="116"/>
                </a:lnTo>
                <a:lnTo>
                  <a:pt x="646" y="121"/>
                </a:lnTo>
                <a:lnTo>
                  <a:pt x="646" y="124"/>
                </a:lnTo>
                <a:lnTo>
                  <a:pt x="646" y="127"/>
                </a:lnTo>
                <a:lnTo>
                  <a:pt x="651" y="124"/>
                </a:lnTo>
                <a:lnTo>
                  <a:pt x="651" y="121"/>
                </a:lnTo>
                <a:lnTo>
                  <a:pt x="651" y="119"/>
                </a:lnTo>
                <a:lnTo>
                  <a:pt x="651" y="116"/>
                </a:lnTo>
                <a:lnTo>
                  <a:pt x="651" y="112"/>
                </a:lnTo>
                <a:lnTo>
                  <a:pt x="651" y="109"/>
                </a:lnTo>
                <a:lnTo>
                  <a:pt x="651" y="106"/>
                </a:lnTo>
                <a:lnTo>
                  <a:pt x="651" y="102"/>
                </a:lnTo>
                <a:lnTo>
                  <a:pt x="651" y="99"/>
                </a:lnTo>
                <a:close/>
                <a:moveTo>
                  <a:pt x="2" y="66"/>
                </a:moveTo>
                <a:lnTo>
                  <a:pt x="2" y="71"/>
                </a:lnTo>
                <a:lnTo>
                  <a:pt x="2" y="74"/>
                </a:lnTo>
                <a:lnTo>
                  <a:pt x="2" y="79"/>
                </a:lnTo>
                <a:lnTo>
                  <a:pt x="0" y="83"/>
                </a:lnTo>
                <a:lnTo>
                  <a:pt x="0" y="86"/>
                </a:lnTo>
                <a:lnTo>
                  <a:pt x="0" y="91"/>
                </a:lnTo>
                <a:lnTo>
                  <a:pt x="0" y="94"/>
                </a:lnTo>
                <a:lnTo>
                  <a:pt x="0" y="99"/>
                </a:lnTo>
                <a:lnTo>
                  <a:pt x="0" y="112"/>
                </a:lnTo>
                <a:lnTo>
                  <a:pt x="2" y="124"/>
                </a:lnTo>
                <a:lnTo>
                  <a:pt x="3" y="137"/>
                </a:lnTo>
                <a:lnTo>
                  <a:pt x="5" y="151"/>
                </a:lnTo>
                <a:lnTo>
                  <a:pt x="7" y="162"/>
                </a:lnTo>
                <a:lnTo>
                  <a:pt x="10" y="174"/>
                </a:lnTo>
                <a:lnTo>
                  <a:pt x="12" y="187"/>
                </a:lnTo>
                <a:lnTo>
                  <a:pt x="17" y="199"/>
                </a:lnTo>
                <a:lnTo>
                  <a:pt x="22" y="199"/>
                </a:lnTo>
                <a:lnTo>
                  <a:pt x="17" y="187"/>
                </a:lnTo>
                <a:lnTo>
                  <a:pt x="13" y="175"/>
                </a:lnTo>
                <a:lnTo>
                  <a:pt x="12" y="162"/>
                </a:lnTo>
                <a:lnTo>
                  <a:pt x="10" y="151"/>
                </a:lnTo>
                <a:lnTo>
                  <a:pt x="7" y="137"/>
                </a:lnTo>
                <a:lnTo>
                  <a:pt x="7" y="124"/>
                </a:lnTo>
                <a:lnTo>
                  <a:pt x="5" y="112"/>
                </a:lnTo>
                <a:lnTo>
                  <a:pt x="5" y="99"/>
                </a:lnTo>
                <a:lnTo>
                  <a:pt x="5" y="94"/>
                </a:lnTo>
                <a:lnTo>
                  <a:pt x="5" y="91"/>
                </a:lnTo>
                <a:lnTo>
                  <a:pt x="5" y="86"/>
                </a:lnTo>
                <a:lnTo>
                  <a:pt x="5" y="81"/>
                </a:lnTo>
                <a:lnTo>
                  <a:pt x="7" y="78"/>
                </a:lnTo>
                <a:lnTo>
                  <a:pt x="7" y="73"/>
                </a:lnTo>
                <a:lnTo>
                  <a:pt x="7" y="68"/>
                </a:lnTo>
                <a:lnTo>
                  <a:pt x="7" y="64"/>
                </a:lnTo>
                <a:lnTo>
                  <a:pt x="2" y="66"/>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83" name="Freeform 1288">
            <a:extLst>
              <a:ext uri="{FF2B5EF4-FFF2-40B4-BE49-F238E27FC236}">
                <a16:creationId xmlns:a16="http://schemas.microsoft.com/office/drawing/2014/main" id="{2AF34C78-9479-63A2-7488-D98FB763EBEF}"/>
              </a:ext>
            </a:extLst>
          </p:cNvPr>
          <p:cNvSpPr>
            <a:spLocks noEditPoints="1"/>
          </p:cNvSpPr>
          <p:nvPr/>
        </p:nvSpPr>
        <p:spPr bwMode="auto">
          <a:xfrm>
            <a:off x="2401888" y="2403475"/>
            <a:ext cx="1025525" cy="315913"/>
          </a:xfrm>
          <a:custGeom>
            <a:avLst/>
            <a:gdLst>
              <a:gd name="T0" fmla="*/ 646 w 646"/>
              <a:gd name="T1" fmla="*/ 86 h 199"/>
              <a:gd name="T2" fmla="*/ 645 w 646"/>
              <a:gd name="T3" fmla="*/ 61 h 199"/>
              <a:gd name="T4" fmla="*/ 640 w 646"/>
              <a:gd name="T5" fmla="*/ 36 h 199"/>
              <a:gd name="T6" fmla="*/ 635 w 646"/>
              <a:gd name="T7" fmla="*/ 11 h 199"/>
              <a:gd name="T8" fmla="*/ 626 w 646"/>
              <a:gd name="T9" fmla="*/ 0 h 199"/>
              <a:gd name="T10" fmla="*/ 633 w 646"/>
              <a:gd name="T11" fmla="*/ 23 h 199"/>
              <a:gd name="T12" fmla="*/ 638 w 646"/>
              <a:gd name="T13" fmla="*/ 48 h 199"/>
              <a:gd name="T14" fmla="*/ 641 w 646"/>
              <a:gd name="T15" fmla="*/ 73 h 199"/>
              <a:gd name="T16" fmla="*/ 641 w 646"/>
              <a:gd name="T17" fmla="*/ 99 h 199"/>
              <a:gd name="T18" fmla="*/ 641 w 646"/>
              <a:gd name="T19" fmla="*/ 106 h 199"/>
              <a:gd name="T20" fmla="*/ 641 w 646"/>
              <a:gd name="T21" fmla="*/ 114 h 199"/>
              <a:gd name="T22" fmla="*/ 641 w 646"/>
              <a:gd name="T23" fmla="*/ 121 h 199"/>
              <a:gd name="T24" fmla="*/ 640 w 646"/>
              <a:gd name="T25" fmla="*/ 127 h 199"/>
              <a:gd name="T26" fmla="*/ 646 w 646"/>
              <a:gd name="T27" fmla="*/ 122 h 199"/>
              <a:gd name="T28" fmla="*/ 646 w 646"/>
              <a:gd name="T29" fmla="*/ 116 h 199"/>
              <a:gd name="T30" fmla="*/ 646 w 646"/>
              <a:gd name="T31" fmla="*/ 109 h 199"/>
              <a:gd name="T32" fmla="*/ 646 w 646"/>
              <a:gd name="T33" fmla="*/ 102 h 199"/>
              <a:gd name="T34" fmla="*/ 2 w 646"/>
              <a:gd name="T35" fmla="*/ 66 h 199"/>
              <a:gd name="T36" fmla="*/ 0 w 646"/>
              <a:gd name="T37" fmla="*/ 74 h 199"/>
              <a:gd name="T38" fmla="*/ 0 w 646"/>
              <a:gd name="T39" fmla="*/ 83 h 199"/>
              <a:gd name="T40" fmla="*/ 0 w 646"/>
              <a:gd name="T41" fmla="*/ 91 h 199"/>
              <a:gd name="T42" fmla="*/ 0 w 646"/>
              <a:gd name="T43" fmla="*/ 99 h 199"/>
              <a:gd name="T44" fmla="*/ 0 w 646"/>
              <a:gd name="T45" fmla="*/ 124 h 199"/>
              <a:gd name="T46" fmla="*/ 4 w 646"/>
              <a:gd name="T47" fmla="*/ 151 h 199"/>
              <a:gd name="T48" fmla="*/ 9 w 646"/>
              <a:gd name="T49" fmla="*/ 174 h 199"/>
              <a:gd name="T50" fmla="*/ 15 w 646"/>
              <a:gd name="T51" fmla="*/ 199 h 199"/>
              <a:gd name="T52" fmla="*/ 17 w 646"/>
              <a:gd name="T53" fmla="*/ 187 h 199"/>
              <a:gd name="T54" fmla="*/ 10 w 646"/>
              <a:gd name="T55" fmla="*/ 162 h 199"/>
              <a:gd name="T56" fmla="*/ 7 w 646"/>
              <a:gd name="T57" fmla="*/ 137 h 199"/>
              <a:gd name="T58" fmla="*/ 5 w 646"/>
              <a:gd name="T59" fmla="*/ 112 h 199"/>
              <a:gd name="T60" fmla="*/ 5 w 646"/>
              <a:gd name="T61" fmla="*/ 94 h 199"/>
              <a:gd name="T62" fmla="*/ 5 w 646"/>
              <a:gd name="T63" fmla="*/ 86 h 199"/>
              <a:gd name="T64" fmla="*/ 5 w 646"/>
              <a:gd name="T65" fmla="*/ 76 h 199"/>
              <a:gd name="T66" fmla="*/ 5 w 646"/>
              <a:gd name="T67" fmla="*/ 68 h 199"/>
              <a:gd name="T68" fmla="*/ 2 w 646"/>
              <a:gd name="T69" fmla="*/ 6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6" h="199">
                <a:moveTo>
                  <a:pt x="646" y="99"/>
                </a:moveTo>
                <a:lnTo>
                  <a:pt x="646" y="86"/>
                </a:lnTo>
                <a:lnTo>
                  <a:pt x="645" y="73"/>
                </a:lnTo>
                <a:lnTo>
                  <a:pt x="645" y="61"/>
                </a:lnTo>
                <a:lnTo>
                  <a:pt x="643" y="48"/>
                </a:lnTo>
                <a:lnTo>
                  <a:pt x="640" y="36"/>
                </a:lnTo>
                <a:lnTo>
                  <a:pt x="638" y="23"/>
                </a:lnTo>
                <a:lnTo>
                  <a:pt x="635" y="11"/>
                </a:lnTo>
                <a:lnTo>
                  <a:pt x="631" y="0"/>
                </a:lnTo>
                <a:lnTo>
                  <a:pt x="626" y="0"/>
                </a:lnTo>
                <a:lnTo>
                  <a:pt x="630" y="11"/>
                </a:lnTo>
                <a:lnTo>
                  <a:pt x="633" y="23"/>
                </a:lnTo>
                <a:lnTo>
                  <a:pt x="635" y="36"/>
                </a:lnTo>
                <a:lnTo>
                  <a:pt x="638" y="48"/>
                </a:lnTo>
                <a:lnTo>
                  <a:pt x="640" y="61"/>
                </a:lnTo>
                <a:lnTo>
                  <a:pt x="641" y="73"/>
                </a:lnTo>
                <a:lnTo>
                  <a:pt x="641" y="86"/>
                </a:lnTo>
                <a:lnTo>
                  <a:pt x="641" y="99"/>
                </a:lnTo>
                <a:lnTo>
                  <a:pt x="641" y="102"/>
                </a:lnTo>
                <a:lnTo>
                  <a:pt x="641" y="106"/>
                </a:lnTo>
                <a:lnTo>
                  <a:pt x="641" y="109"/>
                </a:lnTo>
                <a:lnTo>
                  <a:pt x="641" y="114"/>
                </a:lnTo>
                <a:lnTo>
                  <a:pt x="641" y="117"/>
                </a:lnTo>
                <a:lnTo>
                  <a:pt x="641" y="121"/>
                </a:lnTo>
                <a:lnTo>
                  <a:pt x="641" y="124"/>
                </a:lnTo>
                <a:lnTo>
                  <a:pt x="640" y="127"/>
                </a:lnTo>
                <a:lnTo>
                  <a:pt x="645" y="126"/>
                </a:lnTo>
                <a:lnTo>
                  <a:pt x="646" y="122"/>
                </a:lnTo>
                <a:lnTo>
                  <a:pt x="646" y="119"/>
                </a:lnTo>
                <a:lnTo>
                  <a:pt x="646" y="116"/>
                </a:lnTo>
                <a:lnTo>
                  <a:pt x="646" y="112"/>
                </a:lnTo>
                <a:lnTo>
                  <a:pt x="646" y="109"/>
                </a:lnTo>
                <a:lnTo>
                  <a:pt x="646" y="106"/>
                </a:lnTo>
                <a:lnTo>
                  <a:pt x="646" y="102"/>
                </a:lnTo>
                <a:lnTo>
                  <a:pt x="646" y="99"/>
                </a:lnTo>
                <a:close/>
                <a:moveTo>
                  <a:pt x="2" y="66"/>
                </a:moveTo>
                <a:lnTo>
                  <a:pt x="0" y="69"/>
                </a:lnTo>
                <a:lnTo>
                  <a:pt x="0" y="74"/>
                </a:lnTo>
                <a:lnTo>
                  <a:pt x="0" y="78"/>
                </a:lnTo>
                <a:lnTo>
                  <a:pt x="0" y="83"/>
                </a:lnTo>
                <a:lnTo>
                  <a:pt x="0" y="86"/>
                </a:lnTo>
                <a:lnTo>
                  <a:pt x="0" y="91"/>
                </a:lnTo>
                <a:lnTo>
                  <a:pt x="0" y="94"/>
                </a:lnTo>
                <a:lnTo>
                  <a:pt x="0" y="99"/>
                </a:lnTo>
                <a:lnTo>
                  <a:pt x="0" y="112"/>
                </a:lnTo>
                <a:lnTo>
                  <a:pt x="0" y="124"/>
                </a:lnTo>
                <a:lnTo>
                  <a:pt x="2" y="137"/>
                </a:lnTo>
                <a:lnTo>
                  <a:pt x="4" y="151"/>
                </a:lnTo>
                <a:lnTo>
                  <a:pt x="5" y="162"/>
                </a:lnTo>
                <a:lnTo>
                  <a:pt x="9" y="174"/>
                </a:lnTo>
                <a:lnTo>
                  <a:pt x="12" y="187"/>
                </a:lnTo>
                <a:lnTo>
                  <a:pt x="15" y="199"/>
                </a:lnTo>
                <a:lnTo>
                  <a:pt x="20" y="199"/>
                </a:lnTo>
                <a:lnTo>
                  <a:pt x="17" y="187"/>
                </a:lnTo>
                <a:lnTo>
                  <a:pt x="14" y="175"/>
                </a:lnTo>
                <a:lnTo>
                  <a:pt x="10" y="162"/>
                </a:lnTo>
                <a:lnTo>
                  <a:pt x="9" y="151"/>
                </a:lnTo>
                <a:lnTo>
                  <a:pt x="7" y="137"/>
                </a:lnTo>
                <a:lnTo>
                  <a:pt x="5" y="124"/>
                </a:lnTo>
                <a:lnTo>
                  <a:pt x="5" y="112"/>
                </a:lnTo>
                <a:lnTo>
                  <a:pt x="5" y="99"/>
                </a:lnTo>
                <a:lnTo>
                  <a:pt x="5" y="94"/>
                </a:lnTo>
                <a:lnTo>
                  <a:pt x="5" y="89"/>
                </a:lnTo>
                <a:lnTo>
                  <a:pt x="5" y="86"/>
                </a:lnTo>
                <a:lnTo>
                  <a:pt x="5" y="81"/>
                </a:lnTo>
                <a:lnTo>
                  <a:pt x="5" y="76"/>
                </a:lnTo>
                <a:lnTo>
                  <a:pt x="5" y="71"/>
                </a:lnTo>
                <a:lnTo>
                  <a:pt x="5" y="68"/>
                </a:lnTo>
                <a:lnTo>
                  <a:pt x="7" y="63"/>
                </a:lnTo>
                <a:lnTo>
                  <a:pt x="2" y="66"/>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84" name="Freeform 1289">
            <a:extLst>
              <a:ext uri="{FF2B5EF4-FFF2-40B4-BE49-F238E27FC236}">
                <a16:creationId xmlns:a16="http://schemas.microsoft.com/office/drawing/2014/main" id="{BAB4F012-4035-AB3C-AA6B-3BA202A7B0FE}"/>
              </a:ext>
            </a:extLst>
          </p:cNvPr>
          <p:cNvSpPr>
            <a:spLocks noEditPoints="1"/>
          </p:cNvSpPr>
          <p:nvPr/>
        </p:nvSpPr>
        <p:spPr bwMode="auto">
          <a:xfrm>
            <a:off x="2405063" y="2403475"/>
            <a:ext cx="1020763" cy="315913"/>
          </a:xfrm>
          <a:custGeom>
            <a:avLst/>
            <a:gdLst>
              <a:gd name="T0" fmla="*/ 641 w 643"/>
              <a:gd name="T1" fmla="*/ 86 h 199"/>
              <a:gd name="T2" fmla="*/ 639 w 643"/>
              <a:gd name="T3" fmla="*/ 61 h 199"/>
              <a:gd name="T4" fmla="*/ 636 w 643"/>
              <a:gd name="T5" fmla="*/ 36 h 199"/>
              <a:gd name="T6" fmla="*/ 629 w 643"/>
              <a:gd name="T7" fmla="*/ 11 h 199"/>
              <a:gd name="T8" fmla="*/ 621 w 643"/>
              <a:gd name="T9" fmla="*/ 0 h 199"/>
              <a:gd name="T10" fmla="*/ 628 w 643"/>
              <a:gd name="T11" fmla="*/ 23 h 199"/>
              <a:gd name="T12" fmla="*/ 633 w 643"/>
              <a:gd name="T13" fmla="*/ 48 h 199"/>
              <a:gd name="T14" fmla="*/ 636 w 643"/>
              <a:gd name="T15" fmla="*/ 73 h 199"/>
              <a:gd name="T16" fmla="*/ 638 w 643"/>
              <a:gd name="T17" fmla="*/ 99 h 199"/>
              <a:gd name="T18" fmla="*/ 638 w 643"/>
              <a:gd name="T19" fmla="*/ 106 h 199"/>
              <a:gd name="T20" fmla="*/ 636 w 643"/>
              <a:gd name="T21" fmla="*/ 114 h 199"/>
              <a:gd name="T22" fmla="*/ 636 w 643"/>
              <a:gd name="T23" fmla="*/ 122 h 199"/>
              <a:gd name="T24" fmla="*/ 636 w 643"/>
              <a:gd name="T25" fmla="*/ 129 h 199"/>
              <a:gd name="T26" fmla="*/ 641 w 643"/>
              <a:gd name="T27" fmla="*/ 124 h 199"/>
              <a:gd name="T28" fmla="*/ 641 w 643"/>
              <a:gd name="T29" fmla="*/ 116 h 199"/>
              <a:gd name="T30" fmla="*/ 641 w 643"/>
              <a:gd name="T31" fmla="*/ 109 h 199"/>
              <a:gd name="T32" fmla="*/ 643 w 643"/>
              <a:gd name="T33" fmla="*/ 102 h 199"/>
              <a:gd name="T34" fmla="*/ 2 w 643"/>
              <a:gd name="T35" fmla="*/ 64 h 199"/>
              <a:gd name="T36" fmla="*/ 2 w 643"/>
              <a:gd name="T37" fmla="*/ 73 h 199"/>
              <a:gd name="T38" fmla="*/ 0 w 643"/>
              <a:gd name="T39" fmla="*/ 81 h 199"/>
              <a:gd name="T40" fmla="*/ 0 w 643"/>
              <a:gd name="T41" fmla="*/ 91 h 199"/>
              <a:gd name="T42" fmla="*/ 0 w 643"/>
              <a:gd name="T43" fmla="*/ 99 h 199"/>
              <a:gd name="T44" fmla="*/ 2 w 643"/>
              <a:gd name="T45" fmla="*/ 124 h 199"/>
              <a:gd name="T46" fmla="*/ 5 w 643"/>
              <a:gd name="T47" fmla="*/ 151 h 199"/>
              <a:gd name="T48" fmla="*/ 8 w 643"/>
              <a:gd name="T49" fmla="*/ 175 h 199"/>
              <a:gd name="T50" fmla="*/ 17 w 643"/>
              <a:gd name="T51" fmla="*/ 199 h 199"/>
              <a:gd name="T52" fmla="*/ 17 w 643"/>
              <a:gd name="T53" fmla="*/ 187 h 199"/>
              <a:gd name="T54" fmla="*/ 12 w 643"/>
              <a:gd name="T55" fmla="*/ 162 h 199"/>
              <a:gd name="T56" fmla="*/ 7 w 643"/>
              <a:gd name="T57" fmla="*/ 137 h 199"/>
              <a:gd name="T58" fmla="*/ 5 w 643"/>
              <a:gd name="T59" fmla="*/ 112 h 199"/>
              <a:gd name="T60" fmla="*/ 5 w 643"/>
              <a:gd name="T61" fmla="*/ 94 h 199"/>
              <a:gd name="T62" fmla="*/ 5 w 643"/>
              <a:gd name="T63" fmla="*/ 84 h 199"/>
              <a:gd name="T64" fmla="*/ 7 w 643"/>
              <a:gd name="T65" fmla="*/ 76 h 199"/>
              <a:gd name="T66" fmla="*/ 7 w 643"/>
              <a:gd name="T67" fmla="*/ 66 h 199"/>
              <a:gd name="T68" fmla="*/ 2 w 643"/>
              <a:gd name="T69" fmla="*/ 6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3" h="199">
                <a:moveTo>
                  <a:pt x="643" y="99"/>
                </a:moveTo>
                <a:lnTo>
                  <a:pt x="641" y="86"/>
                </a:lnTo>
                <a:lnTo>
                  <a:pt x="641" y="73"/>
                </a:lnTo>
                <a:lnTo>
                  <a:pt x="639" y="61"/>
                </a:lnTo>
                <a:lnTo>
                  <a:pt x="638" y="48"/>
                </a:lnTo>
                <a:lnTo>
                  <a:pt x="636" y="36"/>
                </a:lnTo>
                <a:lnTo>
                  <a:pt x="633" y="23"/>
                </a:lnTo>
                <a:lnTo>
                  <a:pt x="629" y="11"/>
                </a:lnTo>
                <a:lnTo>
                  <a:pt x="626" y="0"/>
                </a:lnTo>
                <a:lnTo>
                  <a:pt x="621" y="0"/>
                </a:lnTo>
                <a:lnTo>
                  <a:pt x="624" y="11"/>
                </a:lnTo>
                <a:lnTo>
                  <a:pt x="628" y="23"/>
                </a:lnTo>
                <a:lnTo>
                  <a:pt x="631" y="36"/>
                </a:lnTo>
                <a:lnTo>
                  <a:pt x="633" y="48"/>
                </a:lnTo>
                <a:lnTo>
                  <a:pt x="634" y="61"/>
                </a:lnTo>
                <a:lnTo>
                  <a:pt x="636" y="73"/>
                </a:lnTo>
                <a:lnTo>
                  <a:pt x="638" y="86"/>
                </a:lnTo>
                <a:lnTo>
                  <a:pt x="638" y="99"/>
                </a:lnTo>
                <a:lnTo>
                  <a:pt x="638" y="102"/>
                </a:lnTo>
                <a:lnTo>
                  <a:pt x="638" y="106"/>
                </a:lnTo>
                <a:lnTo>
                  <a:pt x="638" y="111"/>
                </a:lnTo>
                <a:lnTo>
                  <a:pt x="636" y="114"/>
                </a:lnTo>
                <a:lnTo>
                  <a:pt x="636" y="117"/>
                </a:lnTo>
                <a:lnTo>
                  <a:pt x="636" y="122"/>
                </a:lnTo>
                <a:lnTo>
                  <a:pt x="636" y="126"/>
                </a:lnTo>
                <a:lnTo>
                  <a:pt x="636" y="129"/>
                </a:lnTo>
                <a:lnTo>
                  <a:pt x="641" y="127"/>
                </a:lnTo>
                <a:lnTo>
                  <a:pt x="641" y="124"/>
                </a:lnTo>
                <a:lnTo>
                  <a:pt x="641" y="121"/>
                </a:lnTo>
                <a:lnTo>
                  <a:pt x="641" y="116"/>
                </a:lnTo>
                <a:lnTo>
                  <a:pt x="641" y="112"/>
                </a:lnTo>
                <a:lnTo>
                  <a:pt x="641" y="109"/>
                </a:lnTo>
                <a:lnTo>
                  <a:pt x="643" y="106"/>
                </a:lnTo>
                <a:lnTo>
                  <a:pt x="643" y="102"/>
                </a:lnTo>
                <a:lnTo>
                  <a:pt x="643" y="99"/>
                </a:lnTo>
                <a:close/>
                <a:moveTo>
                  <a:pt x="2" y="64"/>
                </a:moveTo>
                <a:lnTo>
                  <a:pt x="2" y="68"/>
                </a:lnTo>
                <a:lnTo>
                  <a:pt x="2" y="73"/>
                </a:lnTo>
                <a:lnTo>
                  <a:pt x="2" y="78"/>
                </a:lnTo>
                <a:lnTo>
                  <a:pt x="0" y="81"/>
                </a:lnTo>
                <a:lnTo>
                  <a:pt x="0" y="86"/>
                </a:lnTo>
                <a:lnTo>
                  <a:pt x="0" y="91"/>
                </a:lnTo>
                <a:lnTo>
                  <a:pt x="0" y="94"/>
                </a:lnTo>
                <a:lnTo>
                  <a:pt x="0" y="99"/>
                </a:lnTo>
                <a:lnTo>
                  <a:pt x="0" y="112"/>
                </a:lnTo>
                <a:lnTo>
                  <a:pt x="2" y="124"/>
                </a:lnTo>
                <a:lnTo>
                  <a:pt x="2" y="137"/>
                </a:lnTo>
                <a:lnTo>
                  <a:pt x="5" y="151"/>
                </a:lnTo>
                <a:lnTo>
                  <a:pt x="7" y="162"/>
                </a:lnTo>
                <a:lnTo>
                  <a:pt x="8" y="175"/>
                </a:lnTo>
                <a:lnTo>
                  <a:pt x="12" y="187"/>
                </a:lnTo>
                <a:lnTo>
                  <a:pt x="17" y="199"/>
                </a:lnTo>
                <a:lnTo>
                  <a:pt x="22" y="199"/>
                </a:lnTo>
                <a:lnTo>
                  <a:pt x="17" y="187"/>
                </a:lnTo>
                <a:lnTo>
                  <a:pt x="13" y="175"/>
                </a:lnTo>
                <a:lnTo>
                  <a:pt x="12" y="162"/>
                </a:lnTo>
                <a:lnTo>
                  <a:pt x="8" y="151"/>
                </a:lnTo>
                <a:lnTo>
                  <a:pt x="7" y="137"/>
                </a:lnTo>
                <a:lnTo>
                  <a:pt x="7" y="124"/>
                </a:lnTo>
                <a:lnTo>
                  <a:pt x="5" y="112"/>
                </a:lnTo>
                <a:lnTo>
                  <a:pt x="5" y="99"/>
                </a:lnTo>
                <a:lnTo>
                  <a:pt x="5" y="94"/>
                </a:lnTo>
                <a:lnTo>
                  <a:pt x="5" y="89"/>
                </a:lnTo>
                <a:lnTo>
                  <a:pt x="5" y="84"/>
                </a:lnTo>
                <a:lnTo>
                  <a:pt x="5" y="81"/>
                </a:lnTo>
                <a:lnTo>
                  <a:pt x="7" y="76"/>
                </a:lnTo>
                <a:lnTo>
                  <a:pt x="7" y="71"/>
                </a:lnTo>
                <a:lnTo>
                  <a:pt x="7" y="66"/>
                </a:lnTo>
                <a:lnTo>
                  <a:pt x="7" y="61"/>
                </a:lnTo>
                <a:lnTo>
                  <a:pt x="2" y="64"/>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85" name="Freeform 1290">
            <a:extLst>
              <a:ext uri="{FF2B5EF4-FFF2-40B4-BE49-F238E27FC236}">
                <a16:creationId xmlns:a16="http://schemas.microsoft.com/office/drawing/2014/main" id="{F8CDC32F-0BD4-7A84-23A1-EDC4E7A4A2A1}"/>
              </a:ext>
            </a:extLst>
          </p:cNvPr>
          <p:cNvSpPr>
            <a:spLocks noEditPoints="1"/>
          </p:cNvSpPr>
          <p:nvPr/>
        </p:nvSpPr>
        <p:spPr bwMode="auto">
          <a:xfrm>
            <a:off x="2409825" y="2403475"/>
            <a:ext cx="1009650" cy="315913"/>
          </a:xfrm>
          <a:custGeom>
            <a:avLst/>
            <a:gdLst>
              <a:gd name="T0" fmla="*/ 636 w 636"/>
              <a:gd name="T1" fmla="*/ 86 h 199"/>
              <a:gd name="T2" fmla="*/ 635 w 636"/>
              <a:gd name="T3" fmla="*/ 61 h 199"/>
              <a:gd name="T4" fmla="*/ 630 w 636"/>
              <a:gd name="T5" fmla="*/ 36 h 199"/>
              <a:gd name="T6" fmla="*/ 625 w 636"/>
              <a:gd name="T7" fmla="*/ 11 h 199"/>
              <a:gd name="T8" fmla="*/ 617 w 636"/>
              <a:gd name="T9" fmla="*/ 0 h 199"/>
              <a:gd name="T10" fmla="*/ 623 w 636"/>
              <a:gd name="T11" fmla="*/ 23 h 199"/>
              <a:gd name="T12" fmla="*/ 628 w 636"/>
              <a:gd name="T13" fmla="*/ 48 h 199"/>
              <a:gd name="T14" fmla="*/ 631 w 636"/>
              <a:gd name="T15" fmla="*/ 73 h 199"/>
              <a:gd name="T16" fmla="*/ 631 w 636"/>
              <a:gd name="T17" fmla="*/ 99 h 199"/>
              <a:gd name="T18" fmla="*/ 631 w 636"/>
              <a:gd name="T19" fmla="*/ 107 h 199"/>
              <a:gd name="T20" fmla="*/ 631 w 636"/>
              <a:gd name="T21" fmla="*/ 114 h 199"/>
              <a:gd name="T22" fmla="*/ 631 w 636"/>
              <a:gd name="T23" fmla="*/ 122 h 199"/>
              <a:gd name="T24" fmla="*/ 630 w 636"/>
              <a:gd name="T25" fmla="*/ 131 h 199"/>
              <a:gd name="T26" fmla="*/ 636 w 636"/>
              <a:gd name="T27" fmla="*/ 124 h 199"/>
              <a:gd name="T28" fmla="*/ 636 w 636"/>
              <a:gd name="T29" fmla="*/ 117 h 199"/>
              <a:gd name="T30" fmla="*/ 636 w 636"/>
              <a:gd name="T31" fmla="*/ 109 h 199"/>
              <a:gd name="T32" fmla="*/ 636 w 636"/>
              <a:gd name="T33" fmla="*/ 102 h 199"/>
              <a:gd name="T34" fmla="*/ 2 w 636"/>
              <a:gd name="T35" fmla="*/ 63 h 199"/>
              <a:gd name="T36" fmla="*/ 0 w 636"/>
              <a:gd name="T37" fmla="*/ 71 h 199"/>
              <a:gd name="T38" fmla="*/ 0 w 636"/>
              <a:gd name="T39" fmla="*/ 81 h 199"/>
              <a:gd name="T40" fmla="*/ 0 w 636"/>
              <a:gd name="T41" fmla="*/ 89 h 199"/>
              <a:gd name="T42" fmla="*/ 0 w 636"/>
              <a:gd name="T43" fmla="*/ 99 h 199"/>
              <a:gd name="T44" fmla="*/ 0 w 636"/>
              <a:gd name="T45" fmla="*/ 124 h 199"/>
              <a:gd name="T46" fmla="*/ 4 w 636"/>
              <a:gd name="T47" fmla="*/ 151 h 199"/>
              <a:gd name="T48" fmla="*/ 9 w 636"/>
              <a:gd name="T49" fmla="*/ 175 h 199"/>
              <a:gd name="T50" fmla="*/ 15 w 636"/>
              <a:gd name="T51" fmla="*/ 199 h 199"/>
              <a:gd name="T52" fmla="*/ 17 w 636"/>
              <a:gd name="T53" fmla="*/ 187 h 199"/>
              <a:gd name="T54" fmla="*/ 10 w 636"/>
              <a:gd name="T55" fmla="*/ 162 h 199"/>
              <a:gd name="T56" fmla="*/ 7 w 636"/>
              <a:gd name="T57" fmla="*/ 137 h 199"/>
              <a:gd name="T58" fmla="*/ 5 w 636"/>
              <a:gd name="T59" fmla="*/ 112 h 199"/>
              <a:gd name="T60" fmla="*/ 4 w 636"/>
              <a:gd name="T61" fmla="*/ 94 h 199"/>
              <a:gd name="T62" fmla="*/ 5 w 636"/>
              <a:gd name="T63" fmla="*/ 84 h 199"/>
              <a:gd name="T64" fmla="*/ 5 w 636"/>
              <a:gd name="T65" fmla="*/ 74 h 199"/>
              <a:gd name="T66" fmla="*/ 7 w 636"/>
              <a:gd name="T67" fmla="*/ 64 h 199"/>
              <a:gd name="T68" fmla="*/ 2 w 636"/>
              <a:gd name="T69" fmla="*/ 6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6" h="199">
                <a:moveTo>
                  <a:pt x="636" y="99"/>
                </a:moveTo>
                <a:lnTo>
                  <a:pt x="636" y="86"/>
                </a:lnTo>
                <a:lnTo>
                  <a:pt x="636" y="73"/>
                </a:lnTo>
                <a:lnTo>
                  <a:pt x="635" y="61"/>
                </a:lnTo>
                <a:lnTo>
                  <a:pt x="633" y="48"/>
                </a:lnTo>
                <a:lnTo>
                  <a:pt x="630" y="36"/>
                </a:lnTo>
                <a:lnTo>
                  <a:pt x="628" y="23"/>
                </a:lnTo>
                <a:lnTo>
                  <a:pt x="625" y="11"/>
                </a:lnTo>
                <a:lnTo>
                  <a:pt x="621" y="0"/>
                </a:lnTo>
                <a:lnTo>
                  <a:pt x="617" y="0"/>
                </a:lnTo>
                <a:lnTo>
                  <a:pt x="620" y="11"/>
                </a:lnTo>
                <a:lnTo>
                  <a:pt x="623" y="23"/>
                </a:lnTo>
                <a:lnTo>
                  <a:pt x="625" y="36"/>
                </a:lnTo>
                <a:lnTo>
                  <a:pt x="628" y="48"/>
                </a:lnTo>
                <a:lnTo>
                  <a:pt x="630" y="61"/>
                </a:lnTo>
                <a:lnTo>
                  <a:pt x="631" y="73"/>
                </a:lnTo>
                <a:lnTo>
                  <a:pt x="631" y="86"/>
                </a:lnTo>
                <a:lnTo>
                  <a:pt x="631" y="99"/>
                </a:lnTo>
                <a:lnTo>
                  <a:pt x="631" y="102"/>
                </a:lnTo>
                <a:lnTo>
                  <a:pt x="631" y="107"/>
                </a:lnTo>
                <a:lnTo>
                  <a:pt x="631" y="111"/>
                </a:lnTo>
                <a:lnTo>
                  <a:pt x="631" y="114"/>
                </a:lnTo>
                <a:lnTo>
                  <a:pt x="631" y="119"/>
                </a:lnTo>
                <a:lnTo>
                  <a:pt x="631" y="122"/>
                </a:lnTo>
                <a:lnTo>
                  <a:pt x="631" y="126"/>
                </a:lnTo>
                <a:lnTo>
                  <a:pt x="630" y="131"/>
                </a:lnTo>
                <a:lnTo>
                  <a:pt x="635" y="127"/>
                </a:lnTo>
                <a:lnTo>
                  <a:pt x="636" y="124"/>
                </a:lnTo>
                <a:lnTo>
                  <a:pt x="636" y="121"/>
                </a:lnTo>
                <a:lnTo>
                  <a:pt x="636" y="117"/>
                </a:lnTo>
                <a:lnTo>
                  <a:pt x="636" y="114"/>
                </a:lnTo>
                <a:lnTo>
                  <a:pt x="636" y="109"/>
                </a:lnTo>
                <a:lnTo>
                  <a:pt x="636" y="106"/>
                </a:lnTo>
                <a:lnTo>
                  <a:pt x="636" y="102"/>
                </a:lnTo>
                <a:lnTo>
                  <a:pt x="636" y="99"/>
                </a:lnTo>
                <a:close/>
                <a:moveTo>
                  <a:pt x="2" y="63"/>
                </a:moveTo>
                <a:lnTo>
                  <a:pt x="0" y="68"/>
                </a:lnTo>
                <a:lnTo>
                  <a:pt x="0" y="71"/>
                </a:lnTo>
                <a:lnTo>
                  <a:pt x="0" y="76"/>
                </a:lnTo>
                <a:lnTo>
                  <a:pt x="0" y="81"/>
                </a:lnTo>
                <a:lnTo>
                  <a:pt x="0" y="86"/>
                </a:lnTo>
                <a:lnTo>
                  <a:pt x="0" y="89"/>
                </a:lnTo>
                <a:lnTo>
                  <a:pt x="0" y="94"/>
                </a:lnTo>
                <a:lnTo>
                  <a:pt x="0" y="99"/>
                </a:lnTo>
                <a:lnTo>
                  <a:pt x="0" y="112"/>
                </a:lnTo>
                <a:lnTo>
                  <a:pt x="0" y="124"/>
                </a:lnTo>
                <a:lnTo>
                  <a:pt x="2" y="137"/>
                </a:lnTo>
                <a:lnTo>
                  <a:pt x="4" y="151"/>
                </a:lnTo>
                <a:lnTo>
                  <a:pt x="5" y="162"/>
                </a:lnTo>
                <a:lnTo>
                  <a:pt x="9" y="175"/>
                </a:lnTo>
                <a:lnTo>
                  <a:pt x="12" y="187"/>
                </a:lnTo>
                <a:lnTo>
                  <a:pt x="15" y="199"/>
                </a:lnTo>
                <a:lnTo>
                  <a:pt x="20" y="199"/>
                </a:lnTo>
                <a:lnTo>
                  <a:pt x="17" y="187"/>
                </a:lnTo>
                <a:lnTo>
                  <a:pt x="14" y="175"/>
                </a:lnTo>
                <a:lnTo>
                  <a:pt x="10" y="162"/>
                </a:lnTo>
                <a:lnTo>
                  <a:pt x="9" y="151"/>
                </a:lnTo>
                <a:lnTo>
                  <a:pt x="7" y="137"/>
                </a:lnTo>
                <a:lnTo>
                  <a:pt x="5" y="124"/>
                </a:lnTo>
                <a:lnTo>
                  <a:pt x="5" y="112"/>
                </a:lnTo>
                <a:lnTo>
                  <a:pt x="4" y="99"/>
                </a:lnTo>
                <a:lnTo>
                  <a:pt x="4" y="94"/>
                </a:lnTo>
                <a:lnTo>
                  <a:pt x="5" y="89"/>
                </a:lnTo>
                <a:lnTo>
                  <a:pt x="5" y="84"/>
                </a:lnTo>
                <a:lnTo>
                  <a:pt x="5" y="79"/>
                </a:lnTo>
                <a:lnTo>
                  <a:pt x="5" y="74"/>
                </a:lnTo>
                <a:lnTo>
                  <a:pt x="5" y="69"/>
                </a:lnTo>
                <a:lnTo>
                  <a:pt x="7" y="64"/>
                </a:lnTo>
                <a:lnTo>
                  <a:pt x="7" y="61"/>
                </a:lnTo>
                <a:lnTo>
                  <a:pt x="2" y="63"/>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86" name="Freeform 1291">
            <a:extLst>
              <a:ext uri="{FF2B5EF4-FFF2-40B4-BE49-F238E27FC236}">
                <a16:creationId xmlns:a16="http://schemas.microsoft.com/office/drawing/2014/main" id="{B5D8581D-57D2-D4EF-C696-126263789E2E}"/>
              </a:ext>
            </a:extLst>
          </p:cNvPr>
          <p:cNvSpPr>
            <a:spLocks noEditPoints="1"/>
          </p:cNvSpPr>
          <p:nvPr/>
        </p:nvSpPr>
        <p:spPr bwMode="auto">
          <a:xfrm>
            <a:off x="2413000" y="2403475"/>
            <a:ext cx="1004888" cy="315913"/>
          </a:xfrm>
          <a:custGeom>
            <a:avLst/>
            <a:gdLst>
              <a:gd name="T0" fmla="*/ 633 w 633"/>
              <a:gd name="T1" fmla="*/ 86 h 199"/>
              <a:gd name="T2" fmla="*/ 629 w 633"/>
              <a:gd name="T3" fmla="*/ 61 h 199"/>
              <a:gd name="T4" fmla="*/ 626 w 633"/>
              <a:gd name="T5" fmla="*/ 36 h 199"/>
              <a:gd name="T6" fmla="*/ 619 w 633"/>
              <a:gd name="T7" fmla="*/ 11 h 199"/>
              <a:gd name="T8" fmla="*/ 611 w 633"/>
              <a:gd name="T9" fmla="*/ 0 h 199"/>
              <a:gd name="T10" fmla="*/ 618 w 633"/>
              <a:gd name="T11" fmla="*/ 23 h 199"/>
              <a:gd name="T12" fmla="*/ 623 w 633"/>
              <a:gd name="T13" fmla="*/ 48 h 199"/>
              <a:gd name="T14" fmla="*/ 626 w 633"/>
              <a:gd name="T15" fmla="*/ 73 h 199"/>
              <a:gd name="T16" fmla="*/ 628 w 633"/>
              <a:gd name="T17" fmla="*/ 99 h 199"/>
              <a:gd name="T18" fmla="*/ 628 w 633"/>
              <a:gd name="T19" fmla="*/ 107 h 199"/>
              <a:gd name="T20" fmla="*/ 628 w 633"/>
              <a:gd name="T21" fmla="*/ 116 h 199"/>
              <a:gd name="T22" fmla="*/ 626 w 633"/>
              <a:gd name="T23" fmla="*/ 124 h 199"/>
              <a:gd name="T24" fmla="*/ 626 w 633"/>
              <a:gd name="T25" fmla="*/ 131 h 199"/>
              <a:gd name="T26" fmla="*/ 631 w 633"/>
              <a:gd name="T27" fmla="*/ 126 h 199"/>
              <a:gd name="T28" fmla="*/ 631 w 633"/>
              <a:gd name="T29" fmla="*/ 117 h 199"/>
              <a:gd name="T30" fmla="*/ 633 w 633"/>
              <a:gd name="T31" fmla="*/ 111 h 199"/>
              <a:gd name="T32" fmla="*/ 633 w 633"/>
              <a:gd name="T33" fmla="*/ 102 h 199"/>
              <a:gd name="T34" fmla="*/ 2 w 633"/>
              <a:gd name="T35" fmla="*/ 61 h 199"/>
              <a:gd name="T36" fmla="*/ 2 w 633"/>
              <a:gd name="T37" fmla="*/ 71 h 199"/>
              <a:gd name="T38" fmla="*/ 0 w 633"/>
              <a:gd name="T39" fmla="*/ 81 h 199"/>
              <a:gd name="T40" fmla="*/ 0 w 633"/>
              <a:gd name="T41" fmla="*/ 89 h 199"/>
              <a:gd name="T42" fmla="*/ 0 w 633"/>
              <a:gd name="T43" fmla="*/ 99 h 199"/>
              <a:gd name="T44" fmla="*/ 2 w 633"/>
              <a:gd name="T45" fmla="*/ 124 h 199"/>
              <a:gd name="T46" fmla="*/ 3 w 633"/>
              <a:gd name="T47" fmla="*/ 151 h 199"/>
              <a:gd name="T48" fmla="*/ 8 w 633"/>
              <a:gd name="T49" fmla="*/ 175 h 199"/>
              <a:gd name="T50" fmla="*/ 17 w 633"/>
              <a:gd name="T51" fmla="*/ 199 h 199"/>
              <a:gd name="T52" fmla="*/ 17 w 633"/>
              <a:gd name="T53" fmla="*/ 187 h 199"/>
              <a:gd name="T54" fmla="*/ 12 w 633"/>
              <a:gd name="T55" fmla="*/ 162 h 199"/>
              <a:gd name="T56" fmla="*/ 7 w 633"/>
              <a:gd name="T57" fmla="*/ 137 h 199"/>
              <a:gd name="T58" fmla="*/ 5 w 633"/>
              <a:gd name="T59" fmla="*/ 112 h 199"/>
              <a:gd name="T60" fmla="*/ 5 w 633"/>
              <a:gd name="T61" fmla="*/ 94 h 199"/>
              <a:gd name="T62" fmla="*/ 5 w 633"/>
              <a:gd name="T63" fmla="*/ 84 h 199"/>
              <a:gd name="T64" fmla="*/ 5 w 633"/>
              <a:gd name="T65" fmla="*/ 74 h 199"/>
              <a:gd name="T66" fmla="*/ 7 w 633"/>
              <a:gd name="T67" fmla="*/ 64 h 199"/>
              <a:gd name="T68" fmla="*/ 2 w 633"/>
              <a:gd name="T69" fmla="*/ 6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3" h="199">
                <a:moveTo>
                  <a:pt x="633" y="99"/>
                </a:moveTo>
                <a:lnTo>
                  <a:pt x="633" y="86"/>
                </a:lnTo>
                <a:lnTo>
                  <a:pt x="631" y="73"/>
                </a:lnTo>
                <a:lnTo>
                  <a:pt x="629" y="61"/>
                </a:lnTo>
                <a:lnTo>
                  <a:pt x="628" y="48"/>
                </a:lnTo>
                <a:lnTo>
                  <a:pt x="626" y="36"/>
                </a:lnTo>
                <a:lnTo>
                  <a:pt x="623" y="23"/>
                </a:lnTo>
                <a:lnTo>
                  <a:pt x="619" y="11"/>
                </a:lnTo>
                <a:lnTo>
                  <a:pt x="616" y="0"/>
                </a:lnTo>
                <a:lnTo>
                  <a:pt x="611" y="0"/>
                </a:lnTo>
                <a:lnTo>
                  <a:pt x="615" y="11"/>
                </a:lnTo>
                <a:lnTo>
                  <a:pt x="618" y="23"/>
                </a:lnTo>
                <a:lnTo>
                  <a:pt x="621" y="36"/>
                </a:lnTo>
                <a:lnTo>
                  <a:pt x="623" y="48"/>
                </a:lnTo>
                <a:lnTo>
                  <a:pt x="624" y="61"/>
                </a:lnTo>
                <a:lnTo>
                  <a:pt x="626" y="73"/>
                </a:lnTo>
                <a:lnTo>
                  <a:pt x="628" y="86"/>
                </a:lnTo>
                <a:lnTo>
                  <a:pt x="628" y="99"/>
                </a:lnTo>
                <a:lnTo>
                  <a:pt x="628" y="102"/>
                </a:lnTo>
                <a:lnTo>
                  <a:pt x="628" y="107"/>
                </a:lnTo>
                <a:lnTo>
                  <a:pt x="628" y="111"/>
                </a:lnTo>
                <a:lnTo>
                  <a:pt x="628" y="116"/>
                </a:lnTo>
                <a:lnTo>
                  <a:pt x="626" y="119"/>
                </a:lnTo>
                <a:lnTo>
                  <a:pt x="626" y="124"/>
                </a:lnTo>
                <a:lnTo>
                  <a:pt x="626" y="127"/>
                </a:lnTo>
                <a:lnTo>
                  <a:pt x="626" y="131"/>
                </a:lnTo>
                <a:lnTo>
                  <a:pt x="631" y="129"/>
                </a:lnTo>
                <a:lnTo>
                  <a:pt x="631" y="126"/>
                </a:lnTo>
                <a:lnTo>
                  <a:pt x="631" y="122"/>
                </a:lnTo>
                <a:lnTo>
                  <a:pt x="631" y="117"/>
                </a:lnTo>
                <a:lnTo>
                  <a:pt x="631" y="114"/>
                </a:lnTo>
                <a:lnTo>
                  <a:pt x="633" y="111"/>
                </a:lnTo>
                <a:lnTo>
                  <a:pt x="633" y="106"/>
                </a:lnTo>
                <a:lnTo>
                  <a:pt x="633" y="102"/>
                </a:lnTo>
                <a:lnTo>
                  <a:pt x="633" y="99"/>
                </a:lnTo>
                <a:close/>
                <a:moveTo>
                  <a:pt x="2" y="61"/>
                </a:moveTo>
                <a:lnTo>
                  <a:pt x="2" y="66"/>
                </a:lnTo>
                <a:lnTo>
                  <a:pt x="2" y="71"/>
                </a:lnTo>
                <a:lnTo>
                  <a:pt x="2" y="76"/>
                </a:lnTo>
                <a:lnTo>
                  <a:pt x="0" y="81"/>
                </a:lnTo>
                <a:lnTo>
                  <a:pt x="0" y="84"/>
                </a:lnTo>
                <a:lnTo>
                  <a:pt x="0" y="89"/>
                </a:lnTo>
                <a:lnTo>
                  <a:pt x="0" y="94"/>
                </a:lnTo>
                <a:lnTo>
                  <a:pt x="0" y="99"/>
                </a:lnTo>
                <a:lnTo>
                  <a:pt x="0" y="112"/>
                </a:lnTo>
                <a:lnTo>
                  <a:pt x="2" y="124"/>
                </a:lnTo>
                <a:lnTo>
                  <a:pt x="2" y="137"/>
                </a:lnTo>
                <a:lnTo>
                  <a:pt x="3" y="151"/>
                </a:lnTo>
                <a:lnTo>
                  <a:pt x="7" y="162"/>
                </a:lnTo>
                <a:lnTo>
                  <a:pt x="8" y="175"/>
                </a:lnTo>
                <a:lnTo>
                  <a:pt x="12" y="187"/>
                </a:lnTo>
                <a:lnTo>
                  <a:pt x="17" y="199"/>
                </a:lnTo>
                <a:lnTo>
                  <a:pt x="22" y="199"/>
                </a:lnTo>
                <a:lnTo>
                  <a:pt x="17" y="187"/>
                </a:lnTo>
                <a:lnTo>
                  <a:pt x="13" y="175"/>
                </a:lnTo>
                <a:lnTo>
                  <a:pt x="12" y="162"/>
                </a:lnTo>
                <a:lnTo>
                  <a:pt x="8" y="151"/>
                </a:lnTo>
                <a:lnTo>
                  <a:pt x="7" y="137"/>
                </a:lnTo>
                <a:lnTo>
                  <a:pt x="7" y="124"/>
                </a:lnTo>
                <a:lnTo>
                  <a:pt x="5" y="112"/>
                </a:lnTo>
                <a:lnTo>
                  <a:pt x="5" y="99"/>
                </a:lnTo>
                <a:lnTo>
                  <a:pt x="5" y="94"/>
                </a:lnTo>
                <a:lnTo>
                  <a:pt x="5" y="89"/>
                </a:lnTo>
                <a:lnTo>
                  <a:pt x="5" y="84"/>
                </a:lnTo>
                <a:lnTo>
                  <a:pt x="5" y="79"/>
                </a:lnTo>
                <a:lnTo>
                  <a:pt x="5" y="74"/>
                </a:lnTo>
                <a:lnTo>
                  <a:pt x="7" y="69"/>
                </a:lnTo>
                <a:lnTo>
                  <a:pt x="7" y="64"/>
                </a:lnTo>
                <a:lnTo>
                  <a:pt x="7" y="59"/>
                </a:lnTo>
                <a:lnTo>
                  <a:pt x="2" y="61"/>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87" name="Freeform 1292">
            <a:extLst>
              <a:ext uri="{FF2B5EF4-FFF2-40B4-BE49-F238E27FC236}">
                <a16:creationId xmlns:a16="http://schemas.microsoft.com/office/drawing/2014/main" id="{B7051D78-AA16-919D-85F7-9969056A6682}"/>
              </a:ext>
            </a:extLst>
          </p:cNvPr>
          <p:cNvSpPr>
            <a:spLocks noEditPoints="1"/>
          </p:cNvSpPr>
          <p:nvPr/>
        </p:nvSpPr>
        <p:spPr bwMode="auto">
          <a:xfrm>
            <a:off x="2416175" y="2403475"/>
            <a:ext cx="995363" cy="315913"/>
          </a:xfrm>
          <a:custGeom>
            <a:avLst/>
            <a:gdLst>
              <a:gd name="T0" fmla="*/ 627 w 627"/>
              <a:gd name="T1" fmla="*/ 86 h 199"/>
              <a:gd name="T2" fmla="*/ 626 w 627"/>
              <a:gd name="T3" fmla="*/ 61 h 199"/>
              <a:gd name="T4" fmla="*/ 621 w 627"/>
              <a:gd name="T5" fmla="*/ 36 h 199"/>
              <a:gd name="T6" fmla="*/ 616 w 627"/>
              <a:gd name="T7" fmla="*/ 11 h 199"/>
              <a:gd name="T8" fmla="*/ 608 w 627"/>
              <a:gd name="T9" fmla="*/ 0 h 199"/>
              <a:gd name="T10" fmla="*/ 614 w 627"/>
              <a:gd name="T11" fmla="*/ 23 h 199"/>
              <a:gd name="T12" fmla="*/ 619 w 627"/>
              <a:gd name="T13" fmla="*/ 48 h 199"/>
              <a:gd name="T14" fmla="*/ 622 w 627"/>
              <a:gd name="T15" fmla="*/ 73 h 199"/>
              <a:gd name="T16" fmla="*/ 622 w 627"/>
              <a:gd name="T17" fmla="*/ 99 h 199"/>
              <a:gd name="T18" fmla="*/ 622 w 627"/>
              <a:gd name="T19" fmla="*/ 107 h 199"/>
              <a:gd name="T20" fmla="*/ 622 w 627"/>
              <a:gd name="T21" fmla="*/ 116 h 199"/>
              <a:gd name="T22" fmla="*/ 622 w 627"/>
              <a:gd name="T23" fmla="*/ 124 h 199"/>
              <a:gd name="T24" fmla="*/ 621 w 627"/>
              <a:gd name="T25" fmla="*/ 132 h 199"/>
              <a:gd name="T26" fmla="*/ 627 w 627"/>
              <a:gd name="T27" fmla="*/ 126 h 199"/>
              <a:gd name="T28" fmla="*/ 627 w 627"/>
              <a:gd name="T29" fmla="*/ 119 h 199"/>
              <a:gd name="T30" fmla="*/ 627 w 627"/>
              <a:gd name="T31" fmla="*/ 111 h 199"/>
              <a:gd name="T32" fmla="*/ 627 w 627"/>
              <a:gd name="T33" fmla="*/ 102 h 199"/>
              <a:gd name="T34" fmla="*/ 3 w 627"/>
              <a:gd name="T35" fmla="*/ 61 h 199"/>
              <a:gd name="T36" fmla="*/ 1 w 627"/>
              <a:gd name="T37" fmla="*/ 69 h 199"/>
              <a:gd name="T38" fmla="*/ 1 w 627"/>
              <a:gd name="T39" fmla="*/ 79 h 199"/>
              <a:gd name="T40" fmla="*/ 1 w 627"/>
              <a:gd name="T41" fmla="*/ 89 h 199"/>
              <a:gd name="T42" fmla="*/ 0 w 627"/>
              <a:gd name="T43" fmla="*/ 99 h 199"/>
              <a:gd name="T44" fmla="*/ 1 w 627"/>
              <a:gd name="T45" fmla="*/ 124 h 199"/>
              <a:gd name="T46" fmla="*/ 5 w 627"/>
              <a:gd name="T47" fmla="*/ 151 h 199"/>
              <a:gd name="T48" fmla="*/ 10 w 627"/>
              <a:gd name="T49" fmla="*/ 175 h 199"/>
              <a:gd name="T50" fmla="*/ 16 w 627"/>
              <a:gd name="T51" fmla="*/ 199 h 199"/>
              <a:gd name="T52" fmla="*/ 18 w 627"/>
              <a:gd name="T53" fmla="*/ 187 h 199"/>
              <a:gd name="T54" fmla="*/ 11 w 627"/>
              <a:gd name="T55" fmla="*/ 162 h 199"/>
              <a:gd name="T56" fmla="*/ 8 w 627"/>
              <a:gd name="T57" fmla="*/ 137 h 199"/>
              <a:gd name="T58" fmla="*/ 5 w 627"/>
              <a:gd name="T59" fmla="*/ 112 h 199"/>
              <a:gd name="T60" fmla="*/ 5 w 627"/>
              <a:gd name="T61" fmla="*/ 94 h 199"/>
              <a:gd name="T62" fmla="*/ 6 w 627"/>
              <a:gd name="T63" fmla="*/ 84 h 199"/>
              <a:gd name="T64" fmla="*/ 6 w 627"/>
              <a:gd name="T65" fmla="*/ 73 h 199"/>
              <a:gd name="T66" fmla="*/ 8 w 627"/>
              <a:gd name="T67" fmla="*/ 63 h 199"/>
              <a:gd name="T68" fmla="*/ 3 w 627"/>
              <a:gd name="T69" fmla="*/ 6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7" h="199">
                <a:moveTo>
                  <a:pt x="627" y="99"/>
                </a:moveTo>
                <a:lnTo>
                  <a:pt x="627" y="86"/>
                </a:lnTo>
                <a:lnTo>
                  <a:pt x="627" y="73"/>
                </a:lnTo>
                <a:lnTo>
                  <a:pt x="626" y="61"/>
                </a:lnTo>
                <a:lnTo>
                  <a:pt x="624" y="48"/>
                </a:lnTo>
                <a:lnTo>
                  <a:pt x="621" y="36"/>
                </a:lnTo>
                <a:lnTo>
                  <a:pt x="619" y="23"/>
                </a:lnTo>
                <a:lnTo>
                  <a:pt x="616" y="11"/>
                </a:lnTo>
                <a:lnTo>
                  <a:pt x="613" y="0"/>
                </a:lnTo>
                <a:lnTo>
                  <a:pt x="608" y="0"/>
                </a:lnTo>
                <a:lnTo>
                  <a:pt x="611" y="11"/>
                </a:lnTo>
                <a:lnTo>
                  <a:pt x="614" y="23"/>
                </a:lnTo>
                <a:lnTo>
                  <a:pt x="616" y="36"/>
                </a:lnTo>
                <a:lnTo>
                  <a:pt x="619" y="48"/>
                </a:lnTo>
                <a:lnTo>
                  <a:pt x="621" y="61"/>
                </a:lnTo>
                <a:lnTo>
                  <a:pt x="622" y="73"/>
                </a:lnTo>
                <a:lnTo>
                  <a:pt x="622" y="86"/>
                </a:lnTo>
                <a:lnTo>
                  <a:pt x="622" y="99"/>
                </a:lnTo>
                <a:lnTo>
                  <a:pt x="622" y="102"/>
                </a:lnTo>
                <a:lnTo>
                  <a:pt x="622" y="107"/>
                </a:lnTo>
                <a:lnTo>
                  <a:pt x="622" y="112"/>
                </a:lnTo>
                <a:lnTo>
                  <a:pt x="622" y="116"/>
                </a:lnTo>
                <a:lnTo>
                  <a:pt x="622" y="121"/>
                </a:lnTo>
                <a:lnTo>
                  <a:pt x="622" y="124"/>
                </a:lnTo>
                <a:lnTo>
                  <a:pt x="622" y="129"/>
                </a:lnTo>
                <a:lnTo>
                  <a:pt x="621" y="132"/>
                </a:lnTo>
                <a:lnTo>
                  <a:pt x="626" y="131"/>
                </a:lnTo>
                <a:lnTo>
                  <a:pt x="627" y="126"/>
                </a:lnTo>
                <a:lnTo>
                  <a:pt x="627" y="122"/>
                </a:lnTo>
                <a:lnTo>
                  <a:pt x="627" y="119"/>
                </a:lnTo>
                <a:lnTo>
                  <a:pt x="627" y="114"/>
                </a:lnTo>
                <a:lnTo>
                  <a:pt x="627" y="111"/>
                </a:lnTo>
                <a:lnTo>
                  <a:pt x="627" y="107"/>
                </a:lnTo>
                <a:lnTo>
                  <a:pt x="627" y="102"/>
                </a:lnTo>
                <a:lnTo>
                  <a:pt x="627" y="99"/>
                </a:lnTo>
                <a:close/>
                <a:moveTo>
                  <a:pt x="3" y="61"/>
                </a:moveTo>
                <a:lnTo>
                  <a:pt x="3" y="64"/>
                </a:lnTo>
                <a:lnTo>
                  <a:pt x="1" y="69"/>
                </a:lnTo>
                <a:lnTo>
                  <a:pt x="1" y="74"/>
                </a:lnTo>
                <a:lnTo>
                  <a:pt x="1" y="79"/>
                </a:lnTo>
                <a:lnTo>
                  <a:pt x="1" y="84"/>
                </a:lnTo>
                <a:lnTo>
                  <a:pt x="1" y="89"/>
                </a:lnTo>
                <a:lnTo>
                  <a:pt x="0" y="94"/>
                </a:lnTo>
                <a:lnTo>
                  <a:pt x="0" y="99"/>
                </a:lnTo>
                <a:lnTo>
                  <a:pt x="1" y="112"/>
                </a:lnTo>
                <a:lnTo>
                  <a:pt x="1" y="124"/>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8" y="137"/>
                </a:lnTo>
                <a:lnTo>
                  <a:pt x="6" y="124"/>
                </a:lnTo>
                <a:lnTo>
                  <a:pt x="5" y="112"/>
                </a:lnTo>
                <a:lnTo>
                  <a:pt x="5" y="99"/>
                </a:lnTo>
                <a:lnTo>
                  <a:pt x="5" y="94"/>
                </a:lnTo>
                <a:lnTo>
                  <a:pt x="5" y="89"/>
                </a:lnTo>
                <a:lnTo>
                  <a:pt x="6" y="84"/>
                </a:lnTo>
                <a:lnTo>
                  <a:pt x="6" y="78"/>
                </a:lnTo>
                <a:lnTo>
                  <a:pt x="6" y="73"/>
                </a:lnTo>
                <a:lnTo>
                  <a:pt x="6" y="68"/>
                </a:lnTo>
                <a:lnTo>
                  <a:pt x="8" y="63"/>
                </a:lnTo>
                <a:lnTo>
                  <a:pt x="8" y="58"/>
                </a:lnTo>
                <a:lnTo>
                  <a:pt x="3" y="61"/>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88" name="Freeform 1293">
            <a:extLst>
              <a:ext uri="{FF2B5EF4-FFF2-40B4-BE49-F238E27FC236}">
                <a16:creationId xmlns:a16="http://schemas.microsoft.com/office/drawing/2014/main" id="{2BFD6DFA-8BD6-D91F-C237-4EB096C078E1}"/>
              </a:ext>
            </a:extLst>
          </p:cNvPr>
          <p:cNvSpPr>
            <a:spLocks noEditPoints="1"/>
          </p:cNvSpPr>
          <p:nvPr/>
        </p:nvSpPr>
        <p:spPr bwMode="auto">
          <a:xfrm>
            <a:off x="2420938" y="2403475"/>
            <a:ext cx="989013" cy="315913"/>
          </a:xfrm>
          <a:custGeom>
            <a:avLst/>
            <a:gdLst>
              <a:gd name="T0" fmla="*/ 623 w 623"/>
              <a:gd name="T1" fmla="*/ 86 h 199"/>
              <a:gd name="T2" fmla="*/ 619 w 623"/>
              <a:gd name="T3" fmla="*/ 61 h 199"/>
              <a:gd name="T4" fmla="*/ 616 w 623"/>
              <a:gd name="T5" fmla="*/ 36 h 199"/>
              <a:gd name="T6" fmla="*/ 610 w 623"/>
              <a:gd name="T7" fmla="*/ 11 h 199"/>
              <a:gd name="T8" fmla="*/ 601 w 623"/>
              <a:gd name="T9" fmla="*/ 0 h 199"/>
              <a:gd name="T10" fmla="*/ 608 w 623"/>
              <a:gd name="T11" fmla="*/ 23 h 199"/>
              <a:gd name="T12" fmla="*/ 613 w 623"/>
              <a:gd name="T13" fmla="*/ 48 h 199"/>
              <a:gd name="T14" fmla="*/ 616 w 623"/>
              <a:gd name="T15" fmla="*/ 73 h 199"/>
              <a:gd name="T16" fmla="*/ 618 w 623"/>
              <a:gd name="T17" fmla="*/ 99 h 199"/>
              <a:gd name="T18" fmla="*/ 618 w 623"/>
              <a:gd name="T19" fmla="*/ 107 h 199"/>
              <a:gd name="T20" fmla="*/ 618 w 623"/>
              <a:gd name="T21" fmla="*/ 116 h 199"/>
              <a:gd name="T22" fmla="*/ 616 w 623"/>
              <a:gd name="T23" fmla="*/ 126 h 199"/>
              <a:gd name="T24" fmla="*/ 616 w 623"/>
              <a:gd name="T25" fmla="*/ 134 h 199"/>
              <a:gd name="T26" fmla="*/ 621 w 623"/>
              <a:gd name="T27" fmla="*/ 127 h 199"/>
              <a:gd name="T28" fmla="*/ 621 w 623"/>
              <a:gd name="T29" fmla="*/ 119 h 199"/>
              <a:gd name="T30" fmla="*/ 623 w 623"/>
              <a:gd name="T31" fmla="*/ 111 h 199"/>
              <a:gd name="T32" fmla="*/ 623 w 623"/>
              <a:gd name="T33" fmla="*/ 102 h 199"/>
              <a:gd name="T34" fmla="*/ 2 w 623"/>
              <a:gd name="T35" fmla="*/ 59 h 199"/>
              <a:gd name="T36" fmla="*/ 2 w 623"/>
              <a:gd name="T37" fmla="*/ 69 h 199"/>
              <a:gd name="T38" fmla="*/ 0 w 623"/>
              <a:gd name="T39" fmla="*/ 79 h 199"/>
              <a:gd name="T40" fmla="*/ 0 w 623"/>
              <a:gd name="T41" fmla="*/ 89 h 199"/>
              <a:gd name="T42" fmla="*/ 0 w 623"/>
              <a:gd name="T43" fmla="*/ 99 h 199"/>
              <a:gd name="T44" fmla="*/ 2 w 623"/>
              <a:gd name="T45" fmla="*/ 124 h 199"/>
              <a:gd name="T46" fmla="*/ 3 w 623"/>
              <a:gd name="T47" fmla="*/ 151 h 199"/>
              <a:gd name="T48" fmla="*/ 8 w 623"/>
              <a:gd name="T49" fmla="*/ 175 h 199"/>
              <a:gd name="T50" fmla="*/ 17 w 623"/>
              <a:gd name="T51" fmla="*/ 199 h 199"/>
              <a:gd name="T52" fmla="*/ 17 w 623"/>
              <a:gd name="T53" fmla="*/ 187 h 199"/>
              <a:gd name="T54" fmla="*/ 12 w 623"/>
              <a:gd name="T55" fmla="*/ 162 h 199"/>
              <a:gd name="T56" fmla="*/ 7 w 623"/>
              <a:gd name="T57" fmla="*/ 137 h 199"/>
              <a:gd name="T58" fmla="*/ 5 w 623"/>
              <a:gd name="T59" fmla="*/ 112 h 199"/>
              <a:gd name="T60" fmla="*/ 5 w 623"/>
              <a:gd name="T61" fmla="*/ 94 h 199"/>
              <a:gd name="T62" fmla="*/ 5 w 623"/>
              <a:gd name="T63" fmla="*/ 83 h 199"/>
              <a:gd name="T64" fmla="*/ 5 w 623"/>
              <a:gd name="T65" fmla="*/ 73 h 199"/>
              <a:gd name="T66" fmla="*/ 7 w 623"/>
              <a:gd name="T67" fmla="*/ 63 h 199"/>
              <a:gd name="T68" fmla="*/ 2 w 623"/>
              <a:gd name="T69" fmla="*/ 5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3" h="199">
                <a:moveTo>
                  <a:pt x="623" y="99"/>
                </a:moveTo>
                <a:lnTo>
                  <a:pt x="623" y="86"/>
                </a:lnTo>
                <a:lnTo>
                  <a:pt x="621" y="73"/>
                </a:lnTo>
                <a:lnTo>
                  <a:pt x="619" y="61"/>
                </a:lnTo>
                <a:lnTo>
                  <a:pt x="618" y="48"/>
                </a:lnTo>
                <a:lnTo>
                  <a:pt x="616" y="36"/>
                </a:lnTo>
                <a:lnTo>
                  <a:pt x="613" y="23"/>
                </a:lnTo>
                <a:lnTo>
                  <a:pt x="610" y="11"/>
                </a:lnTo>
                <a:lnTo>
                  <a:pt x="606" y="0"/>
                </a:lnTo>
                <a:lnTo>
                  <a:pt x="601" y="0"/>
                </a:lnTo>
                <a:lnTo>
                  <a:pt x="605" y="11"/>
                </a:lnTo>
                <a:lnTo>
                  <a:pt x="608" y="23"/>
                </a:lnTo>
                <a:lnTo>
                  <a:pt x="611" y="36"/>
                </a:lnTo>
                <a:lnTo>
                  <a:pt x="613" y="48"/>
                </a:lnTo>
                <a:lnTo>
                  <a:pt x="614" y="61"/>
                </a:lnTo>
                <a:lnTo>
                  <a:pt x="616" y="73"/>
                </a:lnTo>
                <a:lnTo>
                  <a:pt x="618" y="86"/>
                </a:lnTo>
                <a:lnTo>
                  <a:pt x="618" y="99"/>
                </a:lnTo>
                <a:lnTo>
                  <a:pt x="618" y="104"/>
                </a:lnTo>
                <a:lnTo>
                  <a:pt x="618" y="107"/>
                </a:lnTo>
                <a:lnTo>
                  <a:pt x="618" y="112"/>
                </a:lnTo>
                <a:lnTo>
                  <a:pt x="618" y="116"/>
                </a:lnTo>
                <a:lnTo>
                  <a:pt x="616" y="121"/>
                </a:lnTo>
                <a:lnTo>
                  <a:pt x="616" y="126"/>
                </a:lnTo>
                <a:lnTo>
                  <a:pt x="616" y="129"/>
                </a:lnTo>
                <a:lnTo>
                  <a:pt x="616" y="134"/>
                </a:lnTo>
                <a:lnTo>
                  <a:pt x="621" y="131"/>
                </a:lnTo>
                <a:lnTo>
                  <a:pt x="621" y="127"/>
                </a:lnTo>
                <a:lnTo>
                  <a:pt x="621" y="124"/>
                </a:lnTo>
                <a:lnTo>
                  <a:pt x="621" y="119"/>
                </a:lnTo>
                <a:lnTo>
                  <a:pt x="623" y="116"/>
                </a:lnTo>
                <a:lnTo>
                  <a:pt x="623" y="111"/>
                </a:lnTo>
                <a:lnTo>
                  <a:pt x="623" y="107"/>
                </a:lnTo>
                <a:lnTo>
                  <a:pt x="623" y="102"/>
                </a:lnTo>
                <a:lnTo>
                  <a:pt x="623" y="99"/>
                </a:lnTo>
                <a:close/>
                <a:moveTo>
                  <a:pt x="2" y="59"/>
                </a:moveTo>
                <a:lnTo>
                  <a:pt x="2" y="64"/>
                </a:lnTo>
                <a:lnTo>
                  <a:pt x="2" y="69"/>
                </a:lnTo>
                <a:lnTo>
                  <a:pt x="0" y="74"/>
                </a:lnTo>
                <a:lnTo>
                  <a:pt x="0" y="79"/>
                </a:lnTo>
                <a:lnTo>
                  <a:pt x="0" y="84"/>
                </a:lnTo>
                <a:lnTo>
                  <a:pt x="0" y="89"/>
                </a:lnTo>
                <a:lnTo>
                  <a:pt x="0" y="94"/>
                </a:lnTo>
                <a:lnTo>
                  <a:pt x="0" y="99"/>
                </a:lnTo>
                <a:lnTo>
                  <a:pt x="0" y="112"/>
                </a:lnTo>
                <a:lnTo>
                  <a:pt x="2" y="124"/>
                </a:lnTo>
                <a:lnTo>
                  <a:pt x="2" y="137"/>
                </a:lnTo>
                <a:lnTo>
                  <a:pt x="3" y="151"/>
                </a:lnTo>
                <a:lnTo>
                  <a:pt x="7" y="162"/>
                </a:lnTo>
                <a:lnTo>
                  <a:pt x="8" y="175"/>
                </a:lnTo>
                <a:lnTo>
                  <a:pt x="12" y="187"/>
                </a:lnTo>
                <a:lnTo>
                  <a:pt x="17" y="199"/>
                </a:lnTo>
                <a:lnTo>
                  <a:pt x="22" y="199"/>
                </a:lnTo>
                <a:lnTo>
                  <a:pt x="17" y="187"/>
                </a:lnTo>
                <a:lnTo>
                  <a:pt x="13" y="175"/>
                </a:lnTo>
                <a:lnTo>
                  <a:pt x="12" y="162"/>
                </a:lnTo>
                <a:lnTo>
                  <a:pt x="8" y="151"/>
                </a:lnTo>
                <a:lnTo>
                  <a:pt x="7" y="137"/>
                </a:lnTo>
                <a:lnTo>
                  <a:pt x="5" y="124"/>
                </a:lnTo>
                <a:lnTo>
                  <a:pt x="5" y="112"/>
                </a:lnTo>
                <a:lnTo>
                  <a:pt x="5" y="99"/>
                </a:lnTo>
                <a:lnTo>
                  <a:pt x="5" y="94"/>
                </a:lnTo>
                <a:lnTo>
                  <a:pt x="5" y="88"/>
                </a:lnTo>
                <a:lnTo>
                  <a:pt x="5" y="83"/>
                </a:lnTo>
                <a:lnTo>
                  <a:pt x="5" y="78"/>
                </a:lnTo>
                <a:lnTo>
                  <a:pt x="5" y="73"/>
                </a:lnTo>
                <a:lnTo>
                  <a:pt x="7" y="68"/>
                </a:lnTo>
                <a:lnTo>
                  <a:pt x="7" y="63"/>
                </a:lnTo>
                <a:lnTo>
                  <a:pt x="8" y="56"/>
                </a:lnTo>
                <a:lnTo>
                  <a:pt x="2" y="59"/>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89" name="Freeform 1294">
            <a:extLst>
              <a:ext uri="{FF2B5EF4-FFF2-40B4-BE49-F238E27FC236}">
                <a16:creationId xmlns:a16="http://schemas.microsoft.com/office/drawing/2014/main" id="{AD5D5CAF-E4B3-BB92-82DF-BF1C40298BBA}"/>
              </a:ext>
            </a:extLst>
          </p:cNvPr>
          <p:cNvSpPr>
            <a:spLocks noEditPoints="1"/>
          </p:cNvSpPr>
          <p:nvPr/>
        </p:nvSpPr>
        <p:spPr bwMode="auto">
          <a:xfrm>
            <a:off x="2424113" y="2403475"/>
            <a:ext cx="979488" cy="315913"/>
          </a:xfrm>
          <a:custGeom>
            <a:avLst/>
            <a:gdLst>
              <a:gd name="T0" fmla="*/ 617 w 617"/>
              <a:gd name="T1" fmla="*/ 86 h 199"/>
              <a:gd name="T2" fmla="*/ 616 w 617"/>
              <a:gd name="T3" fmla="*/ 61 h 199"/>
              <a:gd name="T4" fmla="*/ 611 w 617"/>
              <a:gd name="T5" fmla="*/ 36 h 199"/>
              <a:gd name="T6" fmla="*/ 606 w 617"/>
              <a:gd name="T7" fmla="*/ 11 h 199"/>
              <a:gd name="T8" fmla="*/ 596 w 617"/>
              <a:gd name="T9" fmla="*/ 0 h 199"/>
              <a:gd name="T10" fmla="*/ 604 w 617"/>
              <a:gd name="T11" fmla="*/ 23 h 199"/>
              <a:gd name="T12" fmla="*/ 609 w 617"/>
              <a:gd name="T13" fmla="*/ 48 h 199"/>
              <a:gd name="T14" fmla="*/ 612 w 617"/>
              <a:gd name="T15" fmla="*/ 73 h 199"/>
              <a:gd name="T16" fmla="*/ 612 w 617"/>
              <a:gd name="T17" fmla="*/ 99 h 199"/>
              <a:gd name="T18" fmla="*/ 612 w 617"/>
              <a:gd name="T19" fmla="*/ 107 h 199"/>
              <a:gd name="T20" fmla="*/ 612 w 617"/>
              <a:gd name="T21" fmla="*/ 117 h 199"/>
              <a:gd name="T22" fmla="*/ 612 w 617"/>
              <a:gd name="T23" fmla="*/ 126 h 199"/>
              <a:gd name="T24" fmla="*/ 611 w 617"/>
              <a:gd name="T25" fmla="*/ 134 h 199"/>
              <a:gd name="T26" fmla="*/ 617 w 617"/>
              <a:gd name="T27" fmla="*/ 129 h 199"/>
              <a:gd name="T28" fmla="*/ 617 w 617"/>
              <a:gd name="T29" fmla="*/ 121 h 199"/>
              <a:gd name="T30" fmla="*/ 617 w 617"/>
              <a:gd name="T31" fmla="*/ 112 h 199"/>
              <a:gd name="T32" fmla="*/ 617 w 617"/>
              <a:gd name="T33" fmla="*/ 102 h 199"/>
              <a:gd name="T34" fmla="*/ 3 w 617"/>
              <a:gd name="T35" fmla="*/ 58 h 199"/>
              <a:gd name="T36" fmla="*/ 1 w 617"/>
              <a:gd name="T37" fmla="*/ 68 h 199"/>
              <a:gd name="T38" fmla="*/ 1 w 617"/>
              <a:gd name="T39" fmla="*/ 78 h 199"/>
              <a:gd name="T40" fmla="*/ 0 w 617"/>
              <a:gd name="T41" fmla="*/ 89 h 199"/>
              <a:gd name="T42" fmla="*/ 0 w 617"/>
              <a:gd name="T43" fmla="*/ 99 h 199"/>
              <a:gd name="T44" fmla="*/ 1 w 617"/>
              <a:gd name="T45" fmla="*/ 124 h 199"/>
              <a:gd name="T46" fmla="*/ 5 w 617"/>
              <a:gd name="T47" fmla="*/ 151 h 199"/>
              <a:gd name="T48" fmla="*/ 10 w 617"/>
              <a:gd name="T49" fmla="*/ 175 h 199"/>
              <a:gd name="T50" fmla="*/ 16 w 617"/>
              <a:gd name="T51" fmla="*/ 199 h 199"/>
              <a:gd name="T52" fmla="*/ 18 w 617"/>
              <a:gd name="T53" fmla="*/ 187 h 199"/>
              <a:gd name="T54" fmla="*/ 11 w 617"/>
              <a:gd name="T55" fmla="*/ 162 h 199"/>
              <a:gd name="T56" fmla="*/ 8 w 617"/>
              <a:gd name="T57" fmla="*/ 137 h 199"/>
              <a:gd name="T58" fmla="*/ 5 w 617"/>
              <a:gd name="T59" fmla="*/ 112 h 199"/>
              <a:gd name="T60" fmla="*/ 5 w 617"/>
              <a:gd name="T61" fmla="*/ 94 h 199"/>
              <a:gd name="T62" fmla="*/ 5 w 617"/>
              <a:gd name="T63" fmla="*/ 83 h 199"/>
              <a:gd name="T64" fmla="*/ 6 w 617"/>
              <a:gd name="T65" fmla="*/ 71 h 199"/>
              <a:gd name="T66" fmla="*/ 8 w 617"/>
              <a:gd name="T67" fmla="*/ 61 h 199"/>
              <a:gd name="T68" fmla="*/ 3 w 617"/>
              <a:gd name="T69" fmla="*/ 5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7" h="199">
                <a:moveTo>
                  <a:pt x="617" y="99"/>
                </a:moveTo>
                <a:lnTo>
                  <a:pt x="617" y="86"/>
                </a:lnTo>
                <a:lnTo>
                  <a:pt x="617" y="73"/>
                </a:lnTo>
                <a:lnTo>
                  <a:pt x="616" y="61"/>
                </a:lnTo>
                <a:lnTo>
                  <a:pt x="614" y="48"/>
                </a:lnTo>
                <a:lnTo>
                  <a:pt x="611" y="36"/>
                </a:lnTo>
                <a:lnTo>
                  <a:pt x="609" y="23"/>
                </a:lnTo>
                <a:lnTo>
                  <a:pt x="606" y="11"/>
                </a:lnTo>
                <a:lnTo>
                  <a:pt x="603" y="0"/>
                </a:lnTo>
                <a:lnTo>
                  <a:pt x="596" y="0"/>
                </a:lnTo>
                <a:lnTo>
                  <a:pt x="601" y="11"/>
                </a:lnTo>
                <a:lnTo>
                  <a:pt x="604" y="23"/>
                </a:lnTo>
                <a:lnTo>
                  <a:pt x="606" y="36"/>
                </a:lnTo>
                <a:lnTo>
                  <a:pt x="609" y="48"/>
                </a:lnTo>
                <a:lnTo>
                  <a:pt x="611" y="61"/>
                </a:lnTo>
                <a:lnTo>
                  <a:pt x="612" y="73"/>
                </a:lnTo>
                <a:lnTo>
                  <a:pt x="612" y="86"/>
                </a:lnTo>
                <a:lnTo>
                  <a:pt x="612" y="99"/>
                </a:lnTo>
                <a:lnTo>
                  <a:pt x="612" y="104"/>
                </a:lnTo>
                <a:lnTo>
                  <a:pt x="612" y="107"/>
                </a:lnTo>
                <a:lnTo>
                  <a:pt x="612" y="112"/>
                </a:lnTo>
                <a:lnTo>
                  <a:pt x="612" y="117"/>
                </a:lnTo>
                <a:lnTo>
                  <a:pt x="612" y="121"/>
                </a:lnTo>
                <a:lnTo>
                  <a:pt x="612" y="126"/>
                </a:lnTo>
                <a:lnTo>
                  <a:pt x="612" y="131"/>
                </a:lnTo>
                <a:lnTo>
                  <a:pt x="611" y="134"/>
                </a:lnTo>
                <a:lnTo>
                  <a:pt x="616" y="132"/>
                </a:lnTo>
                <a:lnTo>
                  <a:pt x="617" y="129"/>
                </a:lnTo>
                <a:lnTo>
                  <a:pt x="617" y="124"/>
                </a:lnTo>
                <a:lnTo>
                  <a:pt x="617" y="121"/>
                </a:lnTo>
                <a:lnTo>
                  <a:pt x="617" y="116"/>
                </a:lnTo>
                <a:lnTo>
                  <a:pt x="617" y="112"/>
                </a:lnTo>
                <a:lnTo>
                  <a:pt x="617" y="107"/>
                </a:lnTo>
                <a:lnTo>
                  <a:pt x="617" y="102"/>
                </a:lnTo>
                <a:lnTo>
                  <a:pt x="617" y="99"/>
                </a:lnTo>
                <a:close/>
                <a:moveTo>
                  <a:pt x="3" y="58"/>
                </a:moveTo>
                <a:lnTo>
                  <a:pt x="3" y="63"/>
                </a:lnTo>
                <a:lnTo>
                  <a:pt x="1" y="68"/>
                </a:lnTo>
                <a:lnTo>
                  <a:pt x="1" y="73"/>
                </a:lnTo>
                <a:lnTo>
                  <a:pt x="1" y="78"/>
                </a:lnTo>
                <a:lnTo>
                  <a:pt x="1" y="84"/>
                </a:lnTo>
                <a:lnTo>
                  <a:pt x="0" y="89"/>
                </a:lnTo>
                <a:lnTo>
                  <a:pt x="0" y="94"/>
                </a:lnTo>
                <a:lnTo>
                  <a:pt x="0" y="99"/>
                </a:lnTo>
                <a:lnTo>
                  <a:pt x="0" y="112"/>
                </a:lnTo>
                <a:lnTo>
                  <a:pt x="1" y="124"/>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8" y="137"/>
                </a:lnTo>
                <a:lnTo>
                  <a:pt x="6" y="124"/>
                </a:lnTo>
                <a:lnTo>
                  <a:pt x="5" y="112"/>
                </a:lnTo>
                <a:lnTo>
                  <a:pt x="5" y="99"/>
                </a:lnTo>
                <a:lnTo>
                  <a:pt x="5" y="94"/>
                </a:lnTo>
                <a:lnTo>
                  <a:pt x="5" y="88"/>
                </a:lnTo>
                <a:lnTo>
                  <a:pt x="5" y="83"/>
                </a:lnTo>
                <a:lnTo>
                  <a:pt x="6" y="78"/>
                </a:lnTo>
                <a:lnTo>
                  <a:pt x="6" y="71"/>
                </a:lnTo>
                <a:lnTo>
                  <a:pt x="6" y="66"/>
                </a:lnTo>
                <a:lnTo>
                  <a:pt x="8" y="61"/>
                </a:lnTo>
                <a:lnTo>
                  <a:pt x="8" y="56"/>
                </a:lnTo>
                <a:lnTo>
                  <a:pt x="3" y="58"/>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90" name="Freeform 1295">
            <a:extLst>
              <a:ext uri="{FF2B5EF4-FFF2-40B4-BE49-F238E27FC236}">
                <a16:creationId xmlns:a16="http://schemas.microsoft.com/office/drawing/2014/main" id="{DDFA1A60-41F2-AB46-B7BD-1729FEA0780C}"/>
              </a:ext>
            </a:extLst>
          </p:cNvPr>
          <p:cNvSpPr>
            <a:spLocks noEditPoints="1"/>
          </p:cNvSpPr>
          <p:nvPr/>
        </p:nvSpPr>
        <p:spPr bwMode="auto">
          <a:xfrm>
            <a:off x="2428875" y="2403475"/>
            <a:ext cx="973138" cy="315913"/>
          </a:xfrm>
          <a:custGeom>
            <a:avLst/>
            <a:gdLst>
              <a:gd name="T0" fmla="*/ 613 w 613"/>
              <a:gd name="T1" fmla="*/ 86 h 199"/>
              <a:gd name="T2" fmla="*/ 609 w 613"/>
              <a:gd name="T3" fmla="*/ 61 h 199"/>
              <a:gd name="T4" fmla="*/ 606 w 613"/>
              <a:gd name="T5" fmla="*/ 36 h 199"/>
              <a:gd name="T6" fmla="*/ 600 w 613"/>
              <a:gd name="T7" fmla="*/ 11 h 199"/>
              <a:gd name="T8" fmla="*/ 591 w 613"/>
              <a:gd name="T9" fmla="*/ 0 h 199"/>
              <a:gd name="T10" fmla="*/ 598 w 613"/>
              <a:gd name="T11" fmla="*/ 23 h 199"/>
              <a:gd name="T12" fmla="*/ 603 w 613"/>
              <a:gd name="T13" fmla="*/ 48 h 199"/>
              <a:gd name="T14" fmla="*/ 606 w 613"/>
              <a:gd name="T15" fmla="*/ 73 h 199"/>
              <a:gd name="T16" fmla="*/ 608 w 613"/>
              <a:gd name="T17" fmla="*/ 99 h 199"/>
              <a:gd name="T18" fmla="*/ 608 w 613"/>
              <a:gd name="T19" fmla="*/ 109 h 199"/>
              <a:gd name="T20" fmla="*/ 608 w 613"/>
              <a:gd name="T21" fmla="*/ 117 h 199"/>
              <a:gd name="T22" fmla="*/ 606 w 613"/>
              <a:gd name="T23" fmla="*/ 127 h 199"/>
              <a:gd name="T24" fmla="*/ 606 w 613"/>
              <a:gd name="T25" fmla="*/ 136 h 199"/>
              <a:gd name="T26" fmla="*/ 611 w 613"/>
              <a:gd name="T27" fmla="*/ 129 h 199"/>
              <a:gd name="T28" fmla="*/ 611 w 613"/>
              <a:gd name="T29" fmla="*/ 121 h 199"/>
              <a:gd name="T30" fmla="*/ 613 w 613"/>
              <a:gd name="T31" fmla="*/ 112 h 199"/>
              <a:gd name="T32" fmla="*/ 613 w 613"/>
              <a:gd name="T33" fmla="*/ 104 h 199"/>
              <a:gd name="T34" fmla="*/ 3 w 613"/>
              <a:gd name="T35" fmla="*/ 56 h 199"/>
              <a:gd name="T36" fmla="*/ 2 w 613"/>
              <a:gd name="T37" fmla="*/ 68 h 199"/>
              <a:gd name="T38" fmla="*/ 0 w 613"/>
              <a:gd name="T39" fmla="*/ 78 h 199"/>
              <a:gd name="T40" fmla="*/ 0 w 613"/>
              <a:gd name="T41" fmla="*/ 88 h 199"/>
              <a:gd name="T42" fmla="*/ 0 w 613"/>
              <a:gd name="T43" fmla="*/ 99 h 199"/>
              <a:gd name="T44" fmla="*/ 0 w 613"/>
              <a:gd name="T45" fmla="*/ 124 h 199"/>
              <a:gd name="T46" fmla="*/ 3 w 613"/>
              <a:gd name="T47" fmla="*/ 151 h 199"/>
              <a:gd name="T48" fmla="*/ 8 w 613"/>
              <a:gd name="T49" fmla="*/ 175 h 199"/>
              <a:gd name="T50" fmla="*/ 17 w 613"/>
              <a:gd name="T51" fmla="*/ 199 h 199"/>
              <a:gd name="T52" fmla="*/ 17 w 613"/>
              <a:gd name="T53" fmla="*/ 187 h 199"/>
              <a:gd name="T54" fmla="*/ 12 w 613"/>
              <a:gd name="T55" fmla="*/ 162 h 199"/>
              <a:gd name="T56" fmla="*/ 7 w 613"/>
              <a:gd name="T57" fmla="*/ 137 h 199"/>
              <a:gd name="T58" fmla="*/ 5 w 613"/>
              <a:gd name="T59" fmla="*/ 112 h 199"/>
              <a:gd name="T60" fmla="*/ 5 w 613"/>
              <a:gd name="T61" fmla="*/ 93 h 199"/>
              <a:gd name="T62" fmla="*/ 5 w 613"/>
              <a:gd name="T63" fmla="*/ 83 h 199"/>
              <a:gd name="T64" fmla="*/ 5 w 613"/>
              <a:gd name="T65" fmla="*/ 71 h 199"/>
              <a:gd name="T66" fmla="*/ 7 w 613"/>
              <a:gd name="T67" fmla="*/ 59 h 199"/>
              <a:gd name="T68" fmla="*/ 3 w 613"/>
              <a:gd name="T69" fmla="*/ 5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3" h="199">
                <a:moveTo>
                  <a:pt x="613" y="99"/>
                </a:moveTo>
                <a:lnTo>
                  <a:pt x="613" y="86"/>
                </a:lnTo>
                <a:lnTo>
                  <a:pt x="611" y="73"/>
                </a:lnTo>
                <a:lnTo>
                  <a:pt x="609" y="61"/>
                </a:lnTo>
                <a:lnTo>
                  <a:pt x="608" y="48"/>
                </a:lnTo>
                <a:lnTo>
                  <a:pt x="606" y="36"/>
                </a:lnTo>
                <a:lnTo>
                  <a:pt x="603" y="23"/>
                </a:lnTo>
                <a:lnTo>
                  <a:pt x="600" y="11"/>
                </a:lnTo>
                <a:lnTo>
                  <a:pt x="596" y="0"/>
                </a:lnTo>
                <a:lnTo>
                  <a:pt x="591" y="0"/>
                </a:lnTo>
                <a:lnTo>
                  <a:pt x="595" y="11"/>
                </a:lnTo>
                <a:lnTo>
                  <a:pt x="598" y="23"/>
                </a:lnTo>
                <a:lnTo>
                  <a:pt x="601" y="36"/>
                </a:lnTo>
                <a:lnTo>
                  <a:pt x="603" y="48"/>
                </a:lnTo>
                <a:lnTo>
                  <a:pt x="606" y="61"/>
                </a:lnTo>
                <a:lnTo>
                  <a:pt x="606" y="73"/>
                </a:lnTo>
                <a:lnTo>
                  <a:pt x="608" y="86"/>
                </a:lnTo>
                <a:lnTo>
                  <a:pt x="608" y="99"/>
                </a:lnTo>
                <a:lnTo>
                  <a:pt x="608" y="104"/>
                </a:lnTo>
                <a:lnTo>
                  <a:pt x="608" y="109"/>
                </a:lnTo>
                <a:lnTo>
                  <a:pt x="608" y="112"/>
                </a:lnTo>
                <a:lnTo>
                  <a:pt x="608" y="117"/>
                </a:lnTo>
                <a:lnTo>
                  <a:pt x="608" y="122"/>
                </a:lnTo>
                <a:lnTo>
                  <a:pt x="606" y="127"/>
                </a:lnTo>
                <a:lnTo>
                  <a:pt x="606" y="131"/>
                </a:lnTo>
                <a:lnTo>
                  <a:pt x="606" y="136"/>
                </a:lnTo>
                <a:lnTo>
                  <a:pt x="611" y="134"/>
                </a:lnTo>
                <a:lnTo>
                  <a:pt x="611" y="129"/>
                </a:lnTo>
                <a:lnTo>
                  <a:pt x="611" y="126"/>
                </a:lnTo>
                <a:lnTo>
                  <a:pt x="611" y="121"/>
                </a:lnTo>
                <a:lnTo>
                  <a:pt x="613" y="116"/>
                </a:lnTo>
                <a:lnTo>
                  <a:pt x="613" y="112"/>
                </a:lnTo>
                <a:lnTo>
                  <a:pt x="613" y="107"/>
                </a:lnTo>
                <a:lnTo>
                  <a:pt x="613" y="104"/>
                </a:lnTo>
                <a:lnTo>
                  <a:pt x="613" y="99"/>
                </a:lnTo>
                <a:close/>
                <a:moveTo>
                  <a:pt x="3" y="56"/>
                </a:moveTo>
                <a:lnTo>
                  <a:pt x="2" y="63"/>
                </a:lnTo>
                <a:lnTo>
                  <a:pt x="2" y="68"/>
                </a:lnTo>
                <a:lnTo>
                  <a:pt x="0" y="73"/>
                </a:lnTo>
                <a:lnTo>
                  <a:pt x="0" y="78"/>
                </a:lnTo>
                <a:lnTo>
                  <a:pt x="0" y="83"/>
                </a:lnTo>
                <a:lnTo>
                  <a:pt x="0" y="88"/>
                </a:lnTo>
                <a:lnTo>
                  <a:pt x="0" y="94"/>
                </a:lnTo>
                <a:lnTo>
                  <a:pt x="0" y="99"/>
                </a:lnTo>
                <a:lnTo>
                  <a:pt x="0" y="112"/>
                </a:lnTo>
                <a:lnTo>
                  <a:pt x="0" y="124"/>
                </a:lnTo>
                <a:lnTo>
                  <a:pt x="2" y="137"/>
                </a:lnTo>
                <a:lnTo>
                  <a:pt x="3" y="151"/>
                </a:lnTo>
                <a:lnTo>
                  <a:pt x="7" y="162"/>
                </a:lnTo>
                <a:lnTo>
                  <a:pt x="8" y="175"/>
                </a:lnTo>
                <a:lnTo>
                  <a:pt x="12" y="187"/>
                </a:lnTo>
                <a:lnTo>
                  <a:pt x="17" y="199"/>
                </a:lnTo>
                <a:lnTo>
                  <a:pt x="22" y="199"/>
                </a:lnTo>
                <a:lnTo>
                  <a:pt x="17" y="187"/>
                </a:lnTo>
                <a:lnTo>
                  <a:pt x="13" y="175"/>
                </a:lnTo>
                <a:lnTo>
                  <a:pt x="12" y="162"/>
                </a:lnTo>
                <a:lnTo>
                  <a:pt x="8" y="151"/>
                </a:lnTo>
                <a:lnTo>
                  <a:pt x="7" y="137"/>
                </a:lnTo>
                <a:lnTo>
                  <a:pt x="5" y="124"/>
                </a:lnTo>
                <a:lnTo>
                  <a:pt x="5" y="112"/>
                </a:lnTo>
                <a:lnTo>
                  <a:pt x="5" y="99"/>
                </a:lnTo>
                <a:lnTo>
                  <a:pt x="5" y="93"/>
                </a:lnTo>
                <a:lnTo>
                  <a:pt x="5" y="88"/>
                </a:lnTo>
                <a:lnTo>
                  <a:pt x="5" y="83"/>
                </a:lnTo>
                <a:lnTo>
                  <a:pt x="5" y="76"/>
                </a:lnTo>
                <a:lnTo>
                  <a:pt x="5" y="71"/>
                </a:lnTo>
                <a:lnTo>
                  <a:pt x="7" y="66"/>
                </a:lnTo>
                <a:lnTo>
                  <a:pt x="7" y="59"/>
                </a:lnTo>
                <a:lnTo>
                  <a:pt x="8" y="54"/>
                </a:lnTo>
                <a:lnTo>
                  <a:pt x="3" y="56"/>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91" name="Freeform 1296">
            <a:extLst>
              <a:ext uri="{FF2B5EF4-FFF2-40B4-BE49-F238E27FC236}">
                <a16:creationId xmlns:a16="http://schemas.microsoft.com/office/drawing/2014/main" id="{4E5C9558-3F01-1A2D-BB10-11E93C7EB8B5}"/>
              </a:ext>
            </a:extLst>
          </p:cNvPr>
          <p:cNvSpPr>
            <a:spLocks noEditPoints="1"/>
          </p:cNvSpPr>
          <p:nvPr/>
        </p:nvSpPr>
        <p:spPr bwMode="auto">
          <a:xfrm>
            <a:off x="2432050" y="2403475"/>
            <a:ext cx="963613" cy="315913"/>
          </a:xfrm>
          <a:custGeom>
            <a:avLst/>
            <a:gdLst>
              <a:gd name="T0" fmla="*/ 607 w 607"/>
              <a:gd name="T1" fmla="*/ 86 h 199"/>
              <a:gd name="T2" fmla="*/ 606 w 607"/>
              <a:gd name="T3" fmla="*/ 61 h 199"/>
              <a:gd name="T4" fmla="*/ 601 w 607"/>
              <a:gd name="T5" fmla="*/ 36 h 199"/>
              <a:gd name="T6" fmla="*/ 596 w 607"/>
              <a:gd name="T7" fmla="*/ 11 h 199"/>
              <a:gd name="T8" fmla="*/ 586 w 607"/>
              <a:gd name="T9" fmla="*/ 0 h 199"/>
              <a:gd name="T10" fmla="*/ 594 w 607"/>
              <a:gd name="T11" fmla="*/ 23 h 199"/>
              <a:gd name="T12" fmla="*/ 599 w 607"/>
              <a:gd name="T13" fmla="*/ 48 h 199"/>
              <a:gd name="T14" fmla="*/ 603 w 607"/>
              <a:gd name="T15" fmla="*/ 73 h 199"/>
              <a:gd name="T16" fmla="*/ 604 w 607"/>
              <a:gd name="T17" fmla="*/ 99 h 199"/>
              <a:gd name="T18" fmla="*/ 603 w 607"/>
              <a:gd name="T19" fmla="*/ 109 h 199"/>
              <a:gd name="T20" fmla="*/ 603 w 607"/>
              <a:gd name="T21" fmla="*/ 117 h 199"/>
              <a:gd name="T22" fmla="*/ 603 w 607"/>
              <a:gd name="T23" fmla="*/ 127 h 199"/>
              <a:gd name="T24" fmla="*/ 601 w 607"/>
              <a:gd name="T25" fmla="*/ 137 h 199"/>
              <a:gd name="T26" fmla="*/ 607 w 607"/>
              <a:gd name="T27" fmla="*/ 131 h 199"/>
              <a:gd name="T28" fmla="*/ 607 w 607"/>
              <a:gd name="T29" fmla="*/ 121 h 199"/>
              <a:gd name="T30" fmla="*/ 607 w 607"/>
              <a:gd name="T31" fmla="*/ 112 h 199"/>
              <a:gd name="T32" fmla="*/ 607 w 607"/>
              <a:gd name="T33" fmla="*/ 104 h 199"/>
              <a:gd name="T34" fmla="*/ 3 w 607"/>
              <a:gd name="T35" fmla="*/ 56 h 199"/>
              <a:gd name="T36" fmla="*/ 1 w 607"/>
              <a:gd name="T37" fmla="*/ 66 h 199"/>
              <a:gd name="T38" fmla="*/ 1 w 607"/>
              <a:gd name="T39" fmla="*/ 78 h 199"/>
              <a:gd name="T40" fmla="*/ 0 w 607"/>
              <a:gd name="T41" fmla="*/ 88 h 199"/>
              <a:gd name="T42" fmla="*/ 0 w 607"/>
              <a:gd name="T43" fmla="*/ 99 h 199"/>
              <a:gd name="T44" fmla="*/ 1 w 607"/>
              <a:gd name="T45" fmla="*/ 124 h 199"/>
              <a:gd name="T46" fmla="*/ 5 w 607"/>
              <a:gd name="T47" fmla="*/ 151 h 199"/>
              <a:gd name="T48" fmla="*/ 10 w 607"/>
              <a:gd name="T49" fmla="*/ 175 h 199"/>
              <a:gd name="T50" fmla="*/ 16 w 607"/>
              <a:gd name="T51" fmla="*/ 199 h 199"/>
              <a:gd name="T52" fmla="*/ 18 w 607"/>
              <a:gd name="T53" fmla="*/ 187 h 199"/>
              <a:gd name="T54" fmla="*/ 11 w 607"/>
              <a:gd name="T55" fmla="*/ 162 h 199"/>
              <a:gd name="T56" fmla="*/ 8 w 607"/>
              <a:gd name="T57" fmla="*/ 137 h 199"/>
              <a:gd name="T58" fmla="*/ 5 w 607"/>
              <a:gd name="T59" fmla="*/ 112 h 199"/>
              <a:gd name="T60" fmla="*/ 5 w 607"/>
              <a:gd name="T61" fmla="*/ 93 h 199"/>
              <a:gd name="T62" fmla="*/ 5 w 607"/>
              <a:gd name="T63" fmla="*/ 81 h 199"/>
              <a:gd name="T64" fmla="*/ 6 w 607"/>
              <a:gd name="T65" fmla="*/ 69 h 199"/>
              <a:gd name="T66" fmla="*/ 8 w 607"/>
              <a:gd name="T67" fmla="*/ 59 h 199"/>
              <a:gd name="T68" fmla="*/ 3 w 607"/>
              <a:gd name="T69" fmla="*/ 5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7" h="199">
                <a:moveTo>
                  <a:pt x="607" y="99"/>
                </a:moveTo>
                <a:lnTo>
                  <a:pt x="607" y="86"/>
                </a:lnTo>
                <a:lnTo>
                  <a:pt x="607" y="73"/>
                </a:lnTo>
                <a:lnTo>
                  <a:pt x="606" y="61"/>
                </a:lnTo>
                <a:lnTo>
                  <a:pt x="604" y="48"/>
                </a:lnTo>
                <a:lnTo>
                  <a:pt x="601" y="36"/>
                </a:lnTo>
                <a:lnTo>
                  <a:pt x="599" y="23"/>
                </a:lnTo>
                <a:lnTo>
                  <a:pt x="596" y="11"/>
                </a:lnTo>
                <a:lnTo>
                  <a:pt x="591" y="0"/>
                </a:lnTo>
                <a:lnTo>
                  <a:pt x="586" y="0"/>
                </a:lnTo>
                <a:lnTo>
                  <a:pt x="591" y="11"/>
                </a:lnTo>
                <a:lnTo>
                  <a:pt x="594" y="23"/>
                </a:lnTo>
                <a:lnTo>
                  <a:pt x="598" y="36"/>
                </a:lnTo>
                <a:lnTo>
                  <a:pt x="599" y="48"/>
                </a:lnTo>
                <a:lnTo>
                  <a:pt x="601" y="61"/>
                </a:lnTo>
                <a:lnTo>
                  <a:pt x="603" y="73"/>
                </a:lnTo>
                <a:lnTo>
                  <a:pt x="603" y="86"/>
                </a:lnTo>
                <a:lnTo>
                  <a:pt x="604" y="99"/>
                </a:lnTo>
                <a:lnTo>
                  <a:pt x="604" y="104"/>
                </a:lnTo>
                <a:lnTo>
                  <a:pt x="603" y="109"/>
                </a:lnTo>
                <a:lnTo>
                  <a:pt x="603" y="114"/>
                </a:lnTo>
                <a:lnTo>
                  <a:pt x="603" y="117"/>
                </a:lnTo>
                <a:lnTo>
                  <a:pt x="603" y="122"/>
                </a:lnTo>
                <a:lnTo>
                  <a:pt x="603" y="127"/>
                </a:lnTo>
                <a:lnTo>
                  <a:pt x="601" y="132"/>
                </a:lnTo>
                <a:lnTo>
                  <a:pt x="601" y="137"/>
                </a:lnTo>
                <a:lnTo>
                  <a:pt x="606" y="134"/>
                </a:lnTo>
                <a:lnTo>
                  <a:pt x="607" y="131"/>
                </a:lnTo>
                <a:lnTo>
                  <a:pt x="607" y="126"/>
                </a:lnTo>
                <a:lnTo>
                  <a:pt x="607" y="121"/>
                </a:lnTo>
                <a:lnTo>
                  <a:pt x="607" y="117"/>
                </a:lnTo>
                <a:lnTo>
                  <a:pt x="607" y="112"/>
                </a:lnTo>
                <a:lnTo>
                  <a:pt x="607" y="107"/>
                </a:lnTo>
                <a:lnTo>
                  <a:pt x="607" y="104"/>
                </a:lnTo>
                <a:lnTo>
                  <a:pt x="607" y="99"/>
                </a:lnTo>
                <a:close/>
                <a:moveTo>
                  <a:pt x="3" y="56"/>
                </a:moveTo>
                <a:lnTo>
                  <a:pt x="3" y="61"/>
                </a:lnTo>
                <a:lnTo>
                  <a:pt x="1" y="66"/>
                </a:lnTo>
                <a:lnTo>
                  <a:pt x="1" y="71"/>
                </a:lnTo>
                <a:lnTo>
                  <a:pt x="1" y="78"/>
                </a:lnTo>
                <a:lnTo>
                  <a:pt x="0" y="83"/>
                </a:lnTo>
                <a:lnTo>
                  <a:pt x="0" y="88"/>
                </a:lnTo>
                <a:lnTo>
                  <a:pt x="0" y="94"/>
                </a:lnTo>
                <a:lnTo>
                  <a:pt x="0" y="99"/>
                </a:lnTo>
                <a:lnTo>
                  <a:pt x="0" y="112"/>
                </a:lnTo>
                <a:lnTo>
                  <a:pt x="1" y="124"/>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8" y="137"/>
                </a:lnTo>
                <a:lnTo>
                  <a:pt x="6" y="126"/>
                </a:lnTo>
                <a:lnTo>
                  <a:pt x="5" y="112"/>
                </a:lnTo>
                <a:lnTo>
                  <a:pt x="5" y="99"/>
                </a:lnTo>
                <a:lnTo>
                  <a:pt x="5" y="93"/>
                </a:lnTo>
                <a:lnTo>
                  <a:pt x="5" y="88"/>
                </a:lnTo>
                <a:lnTo>
                  <a:pt x="5" y="81"/>
                </a:lnTo>
                <a:lnTo>
                  <a:pt x="6" y="76"/>
                </a:lnTo>
                <a:lnTo>
                  <a:pt x="6" y="69"/>
                </a:lnTo>
                <a:lnTo>
                  <a:pt x="6" y="64"/>
                </a:lnTo>
                <a:lnTo>
                  <a:pt x="8" y="59"/>
                </a:lnTo>
                <a:lnTo>
                  <a:pt x="8" y="53"/>
                </a:lnTo>
                <a:lnTo>
                  <a:pt x="3" y="56"/>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92" name="Freeform 1297">
            <a:extLst>
              <a:ext uri="{FF2B5EF4-FFF2-40B4-BE49-F238E27FC236}">
                <a16:creationId xmlns:a16="http://schemas.microsoft.com/office/drawing/2014/main" id="{E3E6540B-A025-C3B9-C199-CC70F438BA71}"/>
              </a:ext>
            </a:extLst>
          </p:cNvPr>
          <p:cNvSpPr>
            <a:spLocks noEditPoints="1"/>
          </p:cNvSpPr>
          <p:nvPr/>
        </p:nvSpPr>
        <p:spPr bwMode="auto">
          <a:xfrm>
            <a:off x="2436813" y="2403475"/>
            <a:ext cx="957263" cy="315913"/>
          </a:xfrm>
          <a:custGeom>
            <a:avLst/>
            <a:gdLst>
              <a:gd name="T0" fmla="*/ 603 w 603"/>
              <a:gd name="T1" fmla="*/ 86 h 199"/>
              <a:gd name="T2" fmla="*/ 601 w 603"/>
              <a:gd name="T3" fmla="*/ 61 h 199"/>
              <a:gd name="T4" fmla="*/ 596 w 603"/>
              <a:gd name="T5" fmla="*/ 36 h 199"/>
              <a:gd name="T6" fmla="*/ 590 w 603"/>
              <a:gd name="T7" fmla="*/ 11 h 199"/>
              <a:gd name="T8" fmla="*/ 581 w 603"/>
              <a:gd name="T9" fmla="*/ 0 h 199"/>
              <a:gd name="T10" fmla="*/ 588 w 603"/>
              <a:gd name="T11" fmla="*/ 23 h 199"/>
              <a:gd name="T12" fmla="*/ 593 w 603"/>
              <a:gd name="T13" fmla="*/ 48 h 199"/>
              <a:gd name="T14" fmla="*/ 596 w 603"/>
              <a:gd name="T15" fmla="*/ 73 h 199"/>
              <a:gd name="T16" fmla="*/ 598 w 603"/>
              <a:gd name="T17" fmla="*/ 99 h 199"/>
              <a:gd name="T18" fmla="*/ 598 w 603"/>
              <a:gd name="T19" fmla="*/ 109 h 199"/>
              <a:gd name="T20" fmla="*/ 598 w 603"/>
              <a:gd name="T21" fmla="*/ 119 h 199"/>
              <a:gd name="T22" fmla="*/ 596 w 603"/>
              <a:gd name="T23" fmla="*/ 129 h 199"/>
              <a:gd name="T24" fmla="*/ 596 w 603"/>
              <a:gd name="T25" fmla="*/ 139 h 199"/>
              <a:gd name="T26" fmla="*/ 601 w 603"/>
              <a:gd name="T27" fmla="*/ 131 h 199"/>
              <a:gd name="T28" fmla="*/ 603 w 603"/>
              <a:gd name="T29" fmla="*/ 122 h 199"/>
              <a:gd name="T30" fmla="*/ 603 w 603"/>
              <a:gd name="T31" fmla="*/ 112 h 199"/>
              <a:gd name="T32" fmla="*/ 603 w 603"/>
              <a:gd name="T33" fmla="*/ 104 h 199"/>
              <a:gd name="T34" fmla="*/ 3 w 603"/>
              <a:gd name="T35" fmla="*/ 54 h 199"/>
              <a:gd name="T36" fmla="*/ 2 w 603"/>
              <a:gd name="T37" fmla="*/ 66 h 199"/>
              <a:gd name="T38" fmla="*/ 0 w 603"/>
              <a:gd name="T39" fmla="*/ 76 h 199"/>
              <a:gd name="T40" fmla="*/ 0 w 603"/>
              <a:gd name="T41" fmla="*/ 88 h 199"/>
              <a:gd name="T42" fmla="*/ 0 w 603"/>
              <a:gd name="T43" fmla="*/ 99 h 199"/>
              <a:gd name="T44" fmla="*/ 0 w 603"/>
              <a:gd name="T45" fmla="*/ 124 h 199"/>
              <a:gd name="T46" fmla="*/ 3 w 603"/>
              <a:gd name="T47" fmla="*/ 151 h 199"/>
              <a:gd name="T48" fmla="*/ 8 w 603"/>
              <a:gd name="T49" fmla="*/ 175 h 199"/>
              <a:gd name="T50" fmla="*/ 17 w 603"/>
              <a:gd name="T51" fmla="*/ 199 h 199"/>
              <a:gd name="T52" fmla="*/ 17 w 603"/>
              <a:gd name="T53" fmla="*/ 187 h 199"/>
              <a:gd name="T54" fmla="*/ 12 w 603"/>
              <a:gd name="T55" fmla="*/ 162 h 199"/>
              <a:gd name="T56" fmla="*/ 7 w 603"/>
              <a:gd name="T57" fmla="*/ 137 h 199"/>
              <a:gd name="T58" fmla="*/ 5 w 603"/>
              <a:gd name="T59" fmla="*/ 112 h 199"/>
              <a:gd name="T60" fmla="*/ 5 w 603"/>
              <a:gd name="T61" fmla="*/ 93 h 199"/>
              <a:gd name="T62" fmla="*/ 5 w 603"/>
              <a:gd name="T63" fmla="*/ 81 h 199"/>
              <a:gd name="T64" fmla="*/ 5 w 603"/>
              <a:gd name="T65" fmla="*/ 69 h 199"/>
              <a:gd name="T66" fmla="*/ 7 w 603"/>
              <a:gd name="T67" fmla="*/ 58 h 199"/>
              <a:gd name="T68" fmla="*/ 3 w 603"/>
              <a:gd name="T69" fmla="*/ 54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3" h="199">
                <a:moveTo>
                  <a:pt x="603" y="99"/>
                </a:moveTo>
                <a:lnTo>
                  <a:pt x="603" y="86"/>
                </a:lnTo>
                <a:lnTo>
                  <a:pt x="601" y="73"/>
                </a:lnTo>
                <a:lnTo>
                  <a:pt x="601" y="61"/>
                </a:lnTo>
                <a:lnTo>
                  <a:pt x="598" y="48"/>
                </a:lnTo>
                <a:lnTo>
                  <a:pt x="596" y="36"/>
                </a:lnTo>
                <a:lnTo>
                  <a:pt x="593" y="23"/>
                </a:lnTo>
                <a:lnTo>
                  <a:pt x="590" y="11"/>
                </a:lnTo>
                <a:lnTo>
                  <a:pt x="586" y="0"/>
                </a:lnTo>
                <a:lnTo>
                  <a:pt x="581" y="0"/>
                </a:lnTo>
                <a:lnTo>
                  <a:pt x="585" y="11"/>
                </a:lnTo>
                <a:lnTo>
                  <a:pt x="588" y="23"/>
                </a:lnTo>
                <a:lnTo>
                  <a:pt x="591" y="36"/>
                </a:lnTo>
                <a:lnTo>
                  <a:pt x="593" y="48"/>
                </a:lnTo>
                <a:lnTo>
                  <a:pt x="596" y="61"/>
                </a:lnTo>
                <a:lnTo>
                  <a:pt x="596" y="73"/>
                </a:lnTo>
                <a:lnTo>
                  <a:pt x="598" y="86"/>
                </a:lnTo>
                <a:lnTo>
                  <a:pt x="598" y="99"/>
                </a:lnTo>
                <a:lnTo>
                  <a:pt x="598" y="104"/>
                </a:lnTo>
                <a:lnTo>
                  <a:pt x="598" y="109"/>
                </a:lnTo>
                <a:lnTo>
                  <a:pt x="598" y="114"/>
                </a:lnTo>
                <a:lnTo>
                  <a:pt x="598" y="119"/>
                </a:lnTo>
                <a:lnTo>
                  <a:pt x="598" y="124"/>
                </a:lnTo>
                <a:lnTo>
                  <a:pt x="596" y="129"/>
                </a:lnTo>
                <a:lnTo>
                  <a:pt x="596" y="134"/>
                </a:lnTo>
                <a:lnTo>
                  <a:pt x="596" y="139"/>
                </a:lnTo>
                <a:lnTo>
                  <a:pt x="601" y="136"/>
                </a:lnTo>
                <a:lnTo>
                  <a:pt x="601" y="131"/>
                </a:lnTo>
                <a:lnTo>
                  <a:pt x="601" y="127"/>
                </a:lnTo>
                <a:lnTo>
                  <a:pt x="603" y="122"/>
                </a:lnTo>
                <a:lnTo>
                  <a:pt x="603" y="117"/>
                </a:lnTo>
                <a:lnTo>
                  <a:pt x="603" y="112"/>
                </a:lnTo>
                <a:lnTo>
                  <a:pt x="603" y="109"/>
                </a:lnTo>
                <a:lnTo>
                  <a:pt x="603" y="104"/>
                </a:lnTo>
                <a:lnTo>
                  <a:pt x="603" y="99"/>
                </a:lnTo>
                <a:close/>
                <a:moveTo>
                  <a:pt x="3" y="54"/>
                </a:moveTo>
                <a:lnTo>
                  <a:pt x="2" y="59"/>
                </a:lnTo>
                <a:lnTo>
                  <a:pt x="2" y="66"/>
                </a:lnTo>
                <a:lnTo>
                  <a:pt x="0" y="71"/>
                </a:lnTo>
                <a:lnTo>
                  <a:pt x="0" y="76"/>
                </a:lnTo>
                <a:lnTo>
                  <a:pt x="0" y="83"/>
                </a:lnTo>
                <a:lnTo>
                  <a:pt x="0" y="88"/>
                </a:lnTo>
                <a:lnTo>
                  <a:pt x="0" y="93"/>
                </a:lnTo>
                <a:lnTo>
                  <a:pt x="0" y="99"/>
                </a:lnTo>
                <a:lnTo>
                  <a:pt x="0" y="112"/>
                </a:lnTo>
                <a:lnTo>
                  <a:pt x="0" y="124"/>
                </a:lnTo>
                <a:lnTo>
                  <a:pt x="2" y="137"/>
                </a:lnTo>
                <a:lnTo>
                  <a:pt x="3" y="151"/>
                </a:lnTo>
                <a:lnTo>
                  <a:pt x="7" y="162"/>
                </a:lnTo>
                <a:lnTo>
                  <a:pt x="8" y="175"/>
                </a:lnTo>
                <a:lnTo>
                  <a:pt x="12" y="187"/>
                </a:lnTo>
                <a:lnTo>
                  <a:pt x="17" y="199"/>
                </a:lnTo>
                <a:lnTo>
                  <a:pt x="22" y="199"/>
                </a:lnTo>
                <a:lnTo>
                  <a:pt x="17" y="187"/>
                </a:lnTo>
                <a:lnTo>
                  <a:pt x="13" y="175"/>
                </a:lnTo>
                <a:lnTo>
                  <a:pt x="12" y="162"/>
                </a:lnTo>
                <a:lnTo>
                  <a:pt x="8" y="151"/>
                </a:lnTo>
                <a:lnTo>
                  <a:pt x="7" y="137"/>
                </a:lnTo>
                <a:lnTo>
                  <a:pt x="5" y="126"/>
                </a:lnTo>
                <a:lnTo>
                  <a:pt x="5" y="112"/>
                </a:lnTo>
                <a:lnTo>
                  <a:pt x="5" y="99"/>
                </a:lnTo>
                <a:lnTo>
                  <a:pt x="5" y="93"/>
                </a:lnTo>
                <a:lnTo>
                  <a:pt x="5" y="88"/>
                </a:lnTo>
                <a:lnTo>
                  <a:pt x="5" y="81"/>
                </a:lnTo>
                <a:lnTo>
                  <a:pt x="5" y="76"/>
                </a:lnTo>
                <a:lnTo>
                  <a:pt x="5" y="69"/>
                </a:lnTo>
                <a:lnTo>
                  <a:pt x="7" y="63"/>
                </a:lnTo>
                <a:lnTo>
                  <a:pt x="7" y="58"/>
                </a:lnTo>
                <a:lnTo>
                  <a:pt x="8" y="51"/>
                </a:lnTo>
                <a:lnTo>
                  <a:pt x="3" y="54"/>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93" name="Freeform 1298">
            <a:extLst>
              <a:ext uri="{FF2B5EF4-FFF2-40B4-BE49-F238E27FC236}">
                <a16:creationId xmlns:a16="http://schemas.microsoft.com/office/drawing/2014/main" id="{AE72773A-3759-BE6A-3A17-072F99FC7243}"/>
              </a:ext>
            </a:extLst>
          </p:cNvPr>
          <p:cNvSpPr>
            <a:spLocks noEditPoints="1"/>
          </p:cNvSpPr>
          <p:nvPr/>
        </p:nvSpPr>
        <p:spPr bwMode="auto">
          <a:xfrm>
            <a:off x="2439988" y="2403475"/>
            <a:ext cx="950913" cy="315913"/>
          </a:xfrm>
          <a:custGeom>
            <a:avLst/>
            <a:gdLst>
              <a:gd name="T0" fmla="*/ 598 w 599"/>
              <a:gd name="T1" fmla="*/ 86 h 199"/>
              <a:gd name="T2" fmla="*/ 596 w 599"/>
              <a:gd name="T3" fmla="*/ 61 h 199"/>
              <a:gd name="T4" fmla="*/ 593 w 599"/>
              <a:gd name="T5" fmla="*/ 36 h 199"/>
              <a:gd name="T6" fmla="*/ 586 w 599"/>
              <a:gd name="T7" fmla="*/ 11 h 199"/>
              <a:gd name="T8" fmla="*/ 576 w 599"/>
              <a:gd name="T9" fmla="*/ 0 h 199"/>
              <a:gd name="T10" fmla="*/ 584 w 599"/>
              <a:gd name="T11" fmla="*/ 23 h 199"/>
              <a:gd name="T12" fmla="*/ 589 w 599"/>
              <a:gd name="T13" fmla="*/ 48 h 199"/>
              <a:gd name="T14" fmla="*/ 593 w 599"/>
              <a:gd name="T15" fmla="*/ 73 h 199"/>
              <a:gd name="T16" fmla="*/ 594 w 599"/>
              <a:gd name="T17" fmla="*/ 99 h 199"/>
              <a:gd name="T18" fmla="*/ 594 w 599"/>
              <a:gd name="T19" fmla="*/ 109 h 199"/>
              <a:gd name="T20" fmla="*/ 593 w 599"/>
              <a:gd name="T21" fmla="*/ 119 h 199"/>
              <a:gd name="T22" fmla="*/ 593 w 599"/>
              <a:gd name="T23" fmla="*/ 129 h 199"/>
              <a:gd name="T24" fmla="*/ 591 w 599"/>
              <a:gd name="T25" fmla="*/ 139 h 199"/>
              <a:gd name="T26" fmla="*/ 596 w 599"/>
              <a:gd name="T27" fmla="*/ 132 h 199"/>
              <a:gd name="T28" fmla="*/ 598 w 599"/>
              <a:gd name="T29" fmla="*/ 122 h 199"/>
              <a:gd name="T30" fmla="*/ 598 w 599"/>
              <a:gd name="T31" fmla="*/ 114 h 199"/>
              <a:gd name="T32" fmla="*/ 599 w 599"/>
              <a:gd name="T33" fmla="*/ 104 h 199"/>
              <a:gd name="T34" fmla="*/ 3 w 599"/>
              <a:gd name="T35" fmla="*/ 53 h 199"/>
              <a:gd name="T36" fmla="*/ 1 w 599"/>
              <a:gd name="T37" fmla="*/ 64 h 199"/>
              <a:gd name="T38" fmla="*/ 1 w 599"/>
              <a:gd name="T39" fmla="*/ 76 h 199"/>
              <a:gd name="T40" fmla="*/ 0 w 599"/>
              <a:gd name="T41" fmla="*/ 88 h 199"/>
              <a:gd name="T42" fmla="*/ 0 w 599"/>
              <a:gd name="T43" fmla="*/ 99 h 199"/>
              <a:gd name="T44" fmla="*/ 1 w 599"/>
              <a:gd name="T45" fmla="*/ 126 h 199"/>
              <a:gd name="T46" fmla="*/ 5 w 599"/>
              <a:gd name="T47" fmla="*/ 151 h 199"/>
              <a:gd name="T48" fmla="*/ 10 w 599"/>
              <a:gd name="T49" fmla="*/ 175 h 199"/>
              <a:gd name="T50" fmla="*/ 16 w 599"/>
              <a:gd name="T51" fmla="*/ 199 h 199"/>
              <a:gd name="T52" fmla="*/ 18 w 599"/>
              <a:gd name="T53" fmla="*/ 187 h 199"/>
              <a:gd name="T54" fmla="*/ 11 w 599"/>
              <a:gd name="T55" fmla="*/ 162 h 199"/>
              <a:gd name="T56" fmla="*/ 8 w 599"/>
              <a:gd name="T57" fmla="*/ 137 h 199"/>
              <a:gd name="T58" fmla="*/ 5 w 599"/>
              <a:gd name="T59" fmla="*/ 112 h 199"/>
              <a:gd name="T60" fmla="*/ 5 w 599"/>
              <a:gd name="T61" fmla="*/ 93 h 199"/>
              <a:gd name="T62" fmla="*/ 5 w 599"/>
              <a:gd name="T63" fmla="*/ 81 h 199"/>
              <a:gd name="T64" fmla="*/ 6 w 599"/>
              <a:gd name="T65" fmla="*/ 69 h 199"/>
              <a:gd name="T66" fmla="*/ 8 w 599"/>
              <a:gd name="T67" fmla="*/ 56 h 199"/>
              <a:gd name="T68" fmla="*/ 3 w 599"/>
              <a:gd name="T69" fmla="*/ 5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9" h="199">
                <a:moveTo>
                  <a:pt x="599" y="99"/>
                </a:moveTo>
                <a:lnTo>
                  <a:pt x="598" y="86"/>
                </a:lnTo>
                <a:lnTo>
                  <a:pt x="598" y="73"/>
                </a:lnTo>
                <a:lnTo>
                  <a:pt x="596" y="61"/>
                </a:lnTo>
                <a:lnTo>
                  <a:pt x="594" y="48"/>
                </a:lnTo>
                <a:lnTo>
                  <a:pt x="593" y="36"/>
                </a:lnTo>
                <a:lnTo>
                  <a:pt x="589" y="23"/>
                </a:lnTo>
                <a:lnTo>
                  <a:pt x="586" y="11"/>
                </a:lnTo>
                <a:lnTo>
                  <a:pt x="581" y="0"/>
                </a:lnTo>
                <a:lnTo>
                  <a:pt x="576" y="0"/>
                </a:lnTo>
                <a:lnTo>
                  <a:pt x="581" y="11"/>
                </a:lnTo>
                <a:lnTo>
                  <a:pt x="584" y="23"/>
                </a:lnTo>
                <a:lnTo>
                  <a:pt x="588" y="36"/>
                </a:lnTo>
                <a:lnTo>
                  <a:pt x="589" y="48"/>
                </a:lnTo>
                <a:lnTo>
                  <a:pt x="591" y="61"/>
                </a:lnTo>
                <a:lnTo>
                  <a:pt x="593" y="73"/>
                </a:lnTo>
                <a:lnTo>
                  <a:pt x="594" y="86"/>
                </a:lnTo>
                <a:lnTo>
                  <a:pt x="594" y="99"/>
                </a:lnTo>
                <a:lnTo>
                  <a:pt x="594" y="104"/>
                </a:lnTo>
                <a:lnTo>
                  <a:pt x="594" y="109"/>
                </a:lnTo>
                <a:lnTo>
                  <a:pt x="593" y="114"/>
                </a:lnTo>
                <a:lnTo>
                  <a:pt x="593" y="119"/>
                </a:lnTo>
                <a:lnTo>
                  <a:pt x="593" y="124"/>
                </a:lnTo>
                <a:lnTo>
                  <a:pt x="593" y="129"/>
                </a:lnTo>
                <a:lnTo>
                  <a:pt x="591" y="134"/>
                </a:lnTo>
                <a:lnTo>
                  <a:pt x="591" y="139"/>
                </a:lnTo>
                <a:lnTo>
                  <a:pt x="596" y="137"/>
                </a:lnTo>
                <a:lnTo>
                  <a:pt x="596" y="132"/>
                </a:lnTo>
                <a:lnTo>
                  <a:pt x="598" y="127"/>
                </a:lnTo>
                <a:lnTo>
                  <a:pt x="598" y="122"/>
                </a:lnTo>
                <a:lnTo>
                  <a:pt x="598" y="117"/>
                </a:lnTo>
                <a:lnTo>
                  <a:pt x="598" y="114"/>
                </a:lnTo>
                <a:lnTo>
                  <a:pt x="598" y="109"/>
                </a:lnTo>
                <a:lnTo>
                  <a:pt x="599" y="104"/>
                </a:lnTo>
                <a:lnTo>
                  <a:pt x="599" y="99"/>
                </a:lnTo>
                <a:close/>
                <a:moveTo>
                  <a:pt x="3" y="53"/>
                </a:moveTo>
                <a:lnTo>
                  <a:pt x="3" y="59"/>
                </a:lnTo>
                <a:lnTo>
                  <a:pt x="1" y="64"/>
                </a:lnTo>
                <a:lnTo>
                  <a:pt x="1" y="69"/>
                </a:lnTo>
                <a:lnTo>
                  <a:pt x="1" y="76"/>
                </a:lnTo>
                <a:lnTo>
                  <a:pt x="0" y="81"/>
                </a:lnTo>
                <a:lnTo>
                  <a:pt x="0" y="88"/>
                </a:lnTo>
                <a:lnTo>
                  <a:pt x="0" y="93"/>
                </a:lnTo>
                <a:lnTo>
                  <a:pt x="0" y="99"/>
                </a:lnTo>
                <a:lnTo>
                  <a:pt x="0" y="112"/>
                </a:lnTo>
                <a:lnTo>
                  <a:pt x="1" y="126"/>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8" y="137"/>
                </a:lnTo>
                <a:lnTo>
                  <a:pt x="6" y="126"/>
                </a:lnTo>
                <a:lnTo>
                  <a:pt x="5" y="112"/>
                </a:lnTo>
                <a:lnTo>
                  <a:pt x="5" y="99"/>
                </a:lnTo>
                <a:lnTo>
                  <a:pt x="5" y="93"/>
                </a:lnTo>
                <a:lnTo>
                  <a:pt x="5" y="86"/>
                </a:lnTo>
                <a:lnTo>
                  <a:pt x="5" y="81"/>
                </a:lnTo>
                <a:lnTo>
                  <a:pt x="6" y="74"/>
                </a:lnTo>
                <a:lnTo>
                  <a:pt x="6" y="69"/>
                </a:lnTo>
                <a:lnTo>
                  <a:pt x="6" y="63"/>
                </a:lnTo>
                <a:lnTo>
                  <a:pt x="8" y="56"/>
                </a:lnTo>
                <a:lnTo>
                  <a:pt x="8" y="51"/>
                </a:lnTo>
                <a:lnTo>
                  <a:pt x="3" y="53"/>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94" name="Freeform 1299">
            <a:extLst>
              <a:ext uri="{FF2B5EF4-FFF2-40B4-BE49-F238E27FC236}">
                <a16:creationId xmlns:a16="http://schemas.microsoft.com/office/drawing/2014/main" id="{CCADAF0B-3FD6-A53C-2B95-0931BCCBBCEB}"/>
              </a:ext>
            </a:extLst>
          </p:cNvPr>
          <p:cNvSpPr>
            <a:spLocks noEditPoints="1"/>
          </p:cNvSpPr>
          <p:nvPr/>
        </p:nvSpPr>
        <p:spPr bwMode="auto">
          <a:xfrm>
            <a:off x="2444750" y="2403475"/>
            <a:ext cx="941388" cy="315913"/>
          </a:xfrm>
          <a:custGeom>
            <a:avLst/>
            <a:gdLst>
              <a:gd name="T0" fmla="*/ 593 w 593"/>
              <a:gd name="T1" fmla="*/ 86 h 199"/>
              <a:gd name="T2" fmla="*/ 591 w 593"/>
              <a:gd name="T3" fmla="*/ 61 h 199"/>
              <a:gd name="T4" fmla="*/ 586 w 593"/>
              <a:gd name="T5" fmla="*/ 36 h 199"/>
              <a:gd name="T6" fmla="*/ 580 w 593"/>
              <a:gd name="T7" fmla="*/ 11 h 199"/>
              <a:gd name="T8" fmla="*/ 571 w 593"/>
              <a:gd name="T9" fmla="*/ 0 h 199"/>
              <a:gd name="T10" fmla="*/ 578 w 593"/>
              <a:gd name="T11" fmla="*/ 23 h 199"/>
              <a:gd name="T12" fmla="*/ 585 w 593"/>
              <a:gd name="T13" fmla="*/ 48 h 199"/>
              <a:gd name="T14" fmla="*/ 588 w 593"/>
              <a:gd name="T15" fmla="*/ 73 h 199"/>
              <a:gd name="T16" fmla="*/ 588 w 593"/>
              <a:gd name="T17" fmla="*/ 99 h 199"/>
              <a:gd name="T18" fmla="*/ 588 w 593"/>
              <a:gd name="T19" fmla="*/ 109 h 199"/>
              <a:gd name="T20" fmla="*/ 588 w 593"/>
              <a:gd name="T21" fmla="*/ 121 h 199"/>
              <a:gd name="T22" fmla="*/ 586 w 593"/>
              <a:gd name="T23" fmla="*/ 131 h 199"/>
              <a:gd name="T24" fmla="*/ 585 w 593"/>
              <a:gd name="T25" fmla="*/ 141 h 199"/>
              <a:gd name="T26" fmla="*/ 591 w 593"/>
              <a:gd name="T27" fmla="*/ 134 h 199"/>
              <a:gd name="T28" fmla="*/ 593 w 593"/>
              <a:gd name="T29" fmla="*/ 124 h 199"/>
              <a:gd name="T30" fmla="*/ 593 w 593"/>
              <a:gd name="T31" fmla="*/ 114 h 199"/>
              <a:gd name="T32" fmla="*/ 593 w 593"/>
              <a:gd name="T33" fmla="*/ 104 h 199"/>
              <a:gd name="T34" fmla="*/ 3 w 593"/>
              <a:gd name="T35" fmla="*/ 51 h 199"/>
              <a:gd name="T36" fmla="*/ 2 w 593"/>
              <a:gd name="T37" fmla="*/ 63 h 199"/>
              <a:gd name="T38" fmla="*/ 0 w 593"/>
              <a:gd name="T39" fmla="*/ 76 h 199"/>
              <a:gd name="T40" fmla="*/ 0 w 593"/>
              <a:gd name="T41" fmla="*/ 88 h 199"/>
              <a:gd name="T42" fmla="*/ 0 w 593"/>
              <a:gd name="T43" fmla="*/ 99 h 199"/>
              <a:gd name="T44" fmla="*/ 0 w 593"/>
              <a:gd name="T45" fmla="*/ 126 h 199"/>
              <a:gd name="T46" fmla="*/ 3 w 593"/>
              <a:gd name="T47" fmla="*/ 151 h 199"/>
              <a:gd name="T48" fmla="*/ 8 w 593"/>
              <a:gd name="T49" fmla="*/ 175 h 199"/>
              <a:gd name="T50" fmla="*/ 17 w 593"/>
              <a:gd name="T51" fmla="*/ 199 h 199"/>
              <a:gd name="T52" fmla="*/ 18 w 593"/>
              <a:gd name="T53" fmla="*/ 187 h 199"/>
              <a:gd name="T54" fmla="*/ 12 w 593"/>
              <a:gd name="T55" fmla="*/ 162 h 199"/>
              <a:gd name="T56" fmla="*/ 7 w 593"/>
              <a:gd name="T57" fmla="*/ 137 h 199"/>
              <a:gd name="T58" fmla="*/ 5 w 593"/>
              <a:gd name="T59" fmla="*/ 112 h 199"/>
              <a:gd name="T60" fmla="*/ 3 w 593"/>
              <a:gd name="T61" fmla="*/ 93 h 199"/>
              <a:gd name="T62" fmla="*/ 5 w 593"/>
              <a:gd name="T63" fmla="*/ 81 h 199"/>
              <a:gd name="T64" fmla="*/ 5 w 593"/>
              <a:gd name="T65" fmla="*/ 68 h 199"/>
              <a:gd name="T66" fmla="*/ 7 w 593"/>
              <a:gd name="T67" fmla="*/ 56 h 199"/>
              <a:gd name="T68" fmla="*/ 3 w 593"/>
              <a:gd name="T69" fmla="*/ 5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3" h="199">
                <a:moveTo>
                  <a:pt x="593" y="99"/>
                </a:moveTo>
                <a:lnTo>
                  <a:pt x="593" y="86"/>
                </a:lnTo>
                <a:lnTo>
                  <a:pt x="591" y="73"/>
                </a:lnTo>
                <a:lnTo>
                  <a:pt x="591" y="61"/>
                </a:lnTo>
                <a:lnTo>
                  <a:pt x="588" y="48"/>
                </a:lnTo>
                <a:lnTo>
                  <a:pt x="586" y="36"/>
                </a:lnTo>
                <a:lnTo>
                  <a:pt x="583" y="23"/>
                </a:lnTo>
                <a:lnTo>
                  <a:pt x="580" y="11"/>
                </a:lnTo>
                <a:lnTo>
                  <a:pt x="576" y="0"/>
                </a:lnTo>
                <a:lnTo>
                  <a:pt x="571" y="0"/>
                </a:lnTo>
                <a:lnTo>
                  <a:pt x="575" y="11"/>
                </a:lnTo>
                <a:lnTo>
                  <a:pt x="578" y="23"/>
                </a:lnTo>
                <a:lnTo>
                  <a:pt x="581" y="36"/>
                </a:lnTo>
                <a:lnTo>
                  <a:pt x="585" y="48"/>
                </a:lnTo>
                <a:lnTo>
                  <a:pt x="586" y="61"/>
                </a:lnTo>
                <a:lnTo>
                  <a:pt x="588" y="73"/>
                </a:lnTo>
                <a:lnTo>
                  <a:pt x="588" y="86"/>
                </a:lnTo>
                <a:lnTo>
                  <a:pt x="588" y="99"/>
                </a:lnTo>
                <a:lnTo>
                  <a:pt x="588" y="104"/>
                </a:lnTo>
                <a:lnTo>
                  <a:pt x="588" y="109"/>
                </a:lnTo>
                <a:lnTo>
                  <a:pt x="588" y="114"/>
                </a:lnTo>
                <a:lnTo>
                  <a:pt x="588" y="121"/>
                </a:lnTo>
                <a:lnTo>
                  <a:pt x="588" y="126"/>
                </a:lnTo>
                <a:lnTo>
                  <a:pt x="586" y="131"/>
                </a:lnTo>
                <a:lnTo>
                  <a:pt x="586" y="136"/>
                </a:lnTo>
                <a:lnTo>
                  <a:pt x="585" y="141"/>
                </a:lnTo>
                <a:lnTo>
                  <a:pt x="591" y="139"/>
                </a:lnTo>
                <a:lnTo>
                  <a:pt x="591" y="134"/>
                </a:lnTo>
                <a:lnTo>
                  <a:pt x="591" y="129"/>
                </a:lnTo>
                <a:lnTo>
                  <a:pt x="593" y="124"/>
                </a:lnTo>
                <a:lnTo>
                  <a:pt x="593" y="119"/>
                </a:lnTo>
                <a:lnTo>
                  <a:pt x="593" y="114"/>
                </a:lnTo>
                <a:lnTo>
                  <a:pt x="593" y="109"/>
                </a:lnTo>
                <a:lnTo>
                  <a:pt x="593" y="104"/>
                </a:lnTo>
                <a:lnTo>
                  <a:pt x="593" y="99"/>
                </a:lnTo>
                <a:close/>
                <a:moveTo>
                  <a:pt x="3" y="51"/>
                </a:moveTo>
                <a:lnTo>
                  <a:pt x="2" y="58"/>
                </a:lnTo>
                <a:lnTo>
                  <a:pt x="2" y="63"/>
                </a:lnTo>
                <a:lnTo>
                  <a:pt x="0" y="69"/>
                </a:lnTo>
                <a:lnTo>
                  <a:pt x="0" y="76"/>
                </a:lnTo>
                <a:lnTo>
                  <a:pt x="0" y="81"/>
                </a:lnTo>
                <a:lnTo>
                  <a:pt x="0" y="88"/>
                </a:lnTo>
                <a:lnTo>
                  <a:pt x="0" y="93"/>
                </a:lnTo>
                <a:lnTo>
                  <a:pt x="0" y="99"/>
                </a:lnTo>
                <a:lnTo>
                  <a:pt x="0" y="112"/>
                </a:lnTo>
                <a:lnTo>
                  <a:pt x="0" y="126"/>
                </a:lnTo>
                <a:lnTo>
                  <a:pt x="2" y="137"/>
                </a:lnTo>
                <a:lnTo>
                  <a:pt x="3" y="151"/>
                </a:lnTo>
                <a:lnTo>
                  <a:pt x="7" y="162"/>
                </a:lnTo>
                <a:lnTo>
                  <a:pt x="8" y="175"/>
                </a:lnTo>
                <a:lnTo>
                  <a:pt x="12" y="187"/>
                </a:lnTo>
                <a:lnTo>
                  <a:pt x="17" y="199"/>
                </a:lnTo>
                <a:lnTo>
                  <a:pt x="22" y="199"/>
                </a:lnTo>
                <a:lnTo>
                  <a:pt x="18" y="187"/>
                </a:lnTo>
                <a:lnTo>
                  <a:pt x="13" y="175"/>
                </a:lnTo>
                <a:lnTo>
                  <a:pt x="12" y="162"/>
                </a:lnTo>
                <a:lnTo>
                  <a:pt x="8" y="151"/>
                </a:lnTo>
                <a:lnTo>
                  <a:pt x="7" y="137"/>
                </a:lnTo>
                <a:lnTo>
                  <a:pt x="5" y="126"/>
                </a:lnTo>
                <a:lnTo>
                  <a:pt x="5" y="112"/>
                </a:lnTo>
                <a:lnTo>
                  <a:pt x="3" y="99"/>
                </a:lnTo>
                <a:lnTo>
                  <a:pt x="3" y="93"/>
                </a:lnTo>
                <a:lnTo>
                  <a:pt x="5" y="86"/>
                </a:lnTo>
                <a:lnTo>
                  <a:pt x="5" y="81"/>
                </a:lnTo>
                <a:lnTo>
                  <a:pt x="5" y="74"/>
                </a:lnTo>
                <a:lnTo>
                  <a:pt x="5" y="68"/>
                </a:lnTo>
                <a:lnTo>
                  <a:pt x="7" y="61"/>
                </a:lnTo>
                <a:lnTo>
                  <a:pt x="7" y="56"/>
                </a:lnTo>
                <a:lnTo>
                  <a:pt x="8" y="50"/>
                </a:lnTo>
                <a:lnTo>
                  <a:pt x="3" y="51"/>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95" name="Freeform 1300">
            <a:extLst>
              <a:ext uri="{FF2B5EF4-FFF2-40B4-BE49-F238E27FC236}">
                <a16:creationId xmlns:a16="http://schemas.microsoft.com/office/drawing/2014/main" id="{024BBD10-C86A-2B50-5C87-7CB0F0E7DBB6}"/>
              </a:ext>
            </a:extLst>
          </p:cNvPr>
          <p:cNvSpPr>
            <a:spLocks noEditPoints="1"/>
          </p:cNvSpPr>
          <p:nvPr/>
        </p:nvSpPr>
        <p:spPr bwMode="auto">
          <a:xfrm>
            <a:off x="2447925" y="2403475"/>
            <a:ext cx="935038" cy="315913"/>
          </a:xfrm>
          <a:custGeom>
            <a:avLst/>
            <a:gdLst>
              <a:gd name="T0" fmla="*/ 589 w 589"/>
              <a:gd name="T1" fmla="*/ 86 h 199"/>
              <a:gd name="T2" fmla="*/ 586 w 589"/>
              <a:gd name="T3" fmla="*/ 61 h 199"/>
              <a:gd name="T4" fmla="*/ 583 w 589"/>
              <a:gd name="T5" fmla="*/ 36 h 199"/>
              <a:gd name="T6" fmla="*/ 576 w 589"/>
              <a:gd name="T7" fmla="*/ 11 h 199"/>
              <a:gd name="T8" fmla="*/ 566 w 589"/>
              <a:gd name="T9" fmla="*/ 0 h 199"/>
              <a:gd name="T10" fmla="*/ 574 w 589"/>
              <a:gd name="T11" fmla="*/ 23 h 199"/>
              <a:gd name="T12" fmla="*/ 579 w 589"/>
              <a:gd name="T13" fmla="*/ 48 h 199"/>
              <a:gd name="T14" fmla="*/ 583 w 589"/>
              <a:gd name="T15" fmla="*/ 73 h 199"/>
              <a:gd name="T16" fmla="*/ 584 w 589"/>
              <a:gd name="T17" fmla="*/ 99 h 199"/>
              <a:gd name="T18" fmla="*/ 584 w 589"/>
              <a:gd name="T19" fmla="*/ 109 h 199"/>
              <a:gd name="T20" fmla="*/ 583 w 589"/>
              <a:gd name="T21" fmla="*/ 121 h 199"/>
              <a:gd name="T22" fmla="*/ 583 w 589"/>
              <a:gd name="T23" fmla="*/ 131 h 199"/>
              <a:gd name="T24" fmla="*/ 581 w 589"/>
              <a:gd name="T25" fmla="*/ 142 h 199"/>
              <a:gd name="T26" fmla="*/ 586 w 589"/>
              <a:gd name="T27" fmla="*/ 134 h 199"/>
              <a:gd name="T28" fmla="*/ 588 w 589"/>
              <a:gd name="T29" fmla="*/ 124 h 199"/>
              <a:gd name="T30" fmla="*/ 588 w 589"/>
              <a:gd name="T31" fmla="*/ 114 h 199"/>
              <a:gd name="T32" fmla="*/ 589 w 589"/>
              <a:gd name="T33" fmla="*/ 104 h 199"/>
              <a:gd name="T34" fmla="*/ 3 w 589"/>
              <a:gd name="T35" fmla="*/ 51 h 199"/>
              <a:gd name="T36" fmla="*/ 1 w 589"/>
              <a:gd name="T37" fmla="*/ 63 h 199"/>
              <a:gd name="T38" fmla="*/ 1 w 589"/>
              <a:gd name="T39" fmla="*/ 74 h 199"/>
              <a:gd name="T40" fmla="*/ 0 w 589"/>
              <a:gd name="T41" fmla="*/ 86 h 199"/>
              <a:gd name="T42" fmla="*/ 0 w 589"/>
              <a:gd name="T43" fmla="*/ 99 h 199"/>
              <a:gd name="T44" fmla="*/ 1 w 589"/>
              <a:gd name="T45" fmla="*/ 126 h 199"/>
              <a:gd name="T46" fmla="*/ 5 w 589"/>
              <a:gd name="T47" fmla="*/ 151 h 199"/>
              <a:gd name="T48" fmla="*/ 10 w 589"/>
              <a:gd name="T49" fmla="*/ 175 h 199"/>
              <a:gd name="T50" fmla="*/ 16 w 589"/>
              <a:gd name="T51" fmla="*/ 199 h 199"/>
              <a:gd name="T52" fmla="*/ 18 w 589"/>
              <a:gd name="T53" fmla="*/ 187 h 199"/>
              <a:gd name="T54" fmla="*/ 11 w 589"/>
              <a:gd name="T55" fmla="*/ 162 h 199"/>
              <a:gd name="T56" fmla="*/ 6 w 589"/>
              <a:gd name="T57" fmla="*/ 137 h 199"/>
              <a:gd name="T58" fmla="*/ 5 w 589"/>
              <a:gd name="T59" fmla="*/ 112 h 199"/>
              <a:gd name="T60" fmla="*/ 5 w 589"/>
              <a:gd name="T61" fmla="*/ 93 h 199"/>
              <a:gd name="T62" fmla="*/ 5 w 589"/>
              <a:gd name="T63" fmla="*/ 79 h 199"/>
              <a:gd name="T64" fmla="*/ 6 w 589"/>
              <a:gd name="T65" fmla="*/ 68 h 199"/>
              <a:gd name="T66" fmla="*/ 8 w 589"/>
              <a:gd name="T67" fmla="*/ 54 h 199"/>
              <a:gd name="T68" fmla="*/ 3 w 589"/>
              <a:gd name="T69" fmla="*/ 5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9" h="199">
                <a:moveTo>
                  <a:pt x="589" y="99"/>
                </a:moveTo>
                <a:lnTo>
                  <a:pt x="589" y="86"/>
                </a:lnTo>
                <a:lnTo>
                  <a:pt x="588" y="73"/>
                </a:lnTo>
                <a:lnTo>
                  <a:pt x="586" y="61"/>
                </a:lnTo>
                <a:lnTo>
                  <a:pt x="584" y="48"/>
                </a:lnTo>
                <a:lnTo>
                  <a:pt x="583" y="36"/>
                </a:lnTo>
                <a:lnTo>
                  <a:pt x="579" y="23"/>
                </a:lnTo>
                <a:lnTo>
                  <a:pt x="576" y="11"/>
                </a:lnTo>
                <a:lnTo>
                  <a:pt x="571" y="0"/>
                </a:lnTo>
                <a:lnTo>
                  <a:pt x="566" y="0"/>
                </a:lnTo>
                <a:lnTo>
                  <a:pt x="571" y="11"/>
                </a:lnTo>
                <a:lnTo>
                  <a:pt x="574" y="23"/>
                </a:lnTo>
                <a:lnTo>
                  <a:pt x="578" y="36"/>
                </a:lnTo>
                <a:lnTo>
                  <a:pt x="579" y="48"/>
                </a:lnTo>
                <a:lnTo>
                  <a:pt x="581" y="61"/>
                </a:lnTo>
                <a:lnTo>
                  <a:pt x="583" y="73"/>
                </a:lnTo>
                <a:lnTo>
                  <a:pt x="584" y="86"/>
                </a:lnTo>
                <a:lnTo>
                  <a:pt x="584" y="99"/>
                </a:lnTo>
                <a:lnTo>
                  <a:pt x="584" y="104"/>
                </a:lnTo>
                <a:lnTo>
                  <a:pt x="584" y="109"/>
                </a:lnTo>
                <a:lnTo>
                  <a:pt x="584" y="116"/>
                </a:lnTo>
                <a:lnTo>
                  <a:pt x="583" y="121"/>
                </a:lnTo>
                <a:lnTo>
                  <a:pt x="583" y="126"/>
                </a:lnTo>
                <a:lnTo>
                  <a:pt x="583" y="131"/>
                </a:lnTo>
                <a:lnTo>
                  <a:pt x="581" y="136"/>
                </a:lnTo>
                <a:lnTo>
                  <a:pt x="581" y="142"/>
                </a:lnTo>
                <a:lnTo>
                  <a:pt x="586" y="139"/>
                </a:lnTo>
                <a:lnTo>
                  <a:pt x="586" y="134"/>
                </a:lnTo>
                <a:lnTo>
                  <a:pt x="588" y="129"/>
                </a:lnTo>
                <a:lnTo>
                  <a:pt x="588" y="124"/>
                </a:lnTo>
                <a:lnTo>
                  <a:pt x="588" y="119"/>
                </a:lnTo>
                <a:lnTo>
                  <a:pt x="588" y="114"/>
                </a:lnTo>
                <a:lnTo>
                  <a:pt x="589" y="109"/>
                </a:lnTo>
                <a:lnTo>
                  <a:pt x="589" y="104"/>
                </a:lnTo>
                <a:lnTo>
                  <a:pt x="589" y="99"/>
                </a:lnTo>
                <a:close/>
                <a:moveTo>
                  <a:pt x="3" y="51"/>
                </a:moveTo>
                <a:lnTo>
                  <a:pt x="3" y="56"/>
                </a:lnTo>
                <a:lnTo>
                  <a:pt x="1" y="63"/>
                </a:lnTo>
                <a:lnTo>
                  <a:pt x="1" y="69"/>
                </a:lnTo>
                <a:lnTo>
                  <a:pt x="1" y="74"/>
                </a:lnTo>
                <a:lnTo>
                  <a:pt x="0" y="81"/>
                </a:lnTo>
                <a:lnTo>
                  <a:pt x="0" y="86"/>
                </a:lnTo>
                <a:lnTo>
                  <a:pt x="0" y="93"/>
                </a:lnTo>
                <a:lnTo>
                  <a:pt x="0" y="99"/>
                </a:lnTo>
                <a:lnTo>
                  <a:pt x="0" y="112"/>
                </a:lnTo>
                <a:lnTo>
                  <a:pt x="1" y="126"/>
                </a:lnTo>
                <a:lnTo>
                  <a:pt x="3" y="137"/>
                </a:lnTo>
                <a:lnTo>
                  <a:pt x="5" y="151"/>
                </a:lnTo>
                <a:lnTo>
                  <a:pt x="6" y="162"/>
                </a:lnTo>
                <a:lnTo>
                  <a:pt x="10" y="175"/>
                </a:lnTo>
                <a:lnTo>
                  <a:pt x="13" y="187"/>
                </a:lnTo>
                <a:lnTo>
                  <a:pt x="16" y="199"/>
                </a:lnTo>
                <a:lnTo>
                  <a:pt x="21" y="199"/>
                </a:lnTo>
                <a:lnTo>
                  <a:pt x="18" y="187"/>
                </a:lnTo>
                <a:lnTo>
                  <a:pt x="15" y="175"/>
                </a:lnTo>
                <a:lnTo>
                  <a:pt x="11" y="162"/>
                </a:lnTo>
                <a:lnTo>
                  <a:pt x="10" y="151"/>
                </a:lnTo>
                <a:lnTo>
                  <a:pt x="6" y="137"/>
                </a:lnTo>
                <a:lnTo>
                  <a:pt x="6" y="126"/>
                </a:lnTo>
                <a:lnTo>
                  <a:pt x="5" y="112"/>
                </a:lnTo>
                <a:lnTo>
                  <a:pt x="5" y="99"/>
                </a:lnTo>
                <a:lnTo>
                  <a:pt x="5" y="93"/>
                </a:lnTo>
                <a:lnTo>
                  <a:pt x="5" y="86"/>
                </a:lnTo>
                <a:lnTo>
                  <a:pt x="5" y="79"/>
                </a:lnTo>
                <a:lnTo>
                  <a:pt x="6" y="73"/>
                </a:lnTo>
                <a:lnTo>
                  <a:pt x="6" y="68"/>
                </a:lnTo>
                <a:lnTo>
                  <a:pt x="6" y="61"/>
                </a:lnTo>
                <a:lnTo>
                  <a:pt x="8" y="54"/>
                </a:lnTo>
                <a:lnTo>
                  <a:pt x="10" y="48"/>
                </a:lnTo>
                <a:lnTo>
                  <a:pt x="3" y="51"/>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96" name="Freeform 1301">
            <a:extLst>
              <a:ext uri="{FF2B5EF4-FFF2-40B4-BE49-F238E27FC236}">
                <a16:creationId xmlns:a16="http://schemas.microsoft.com/office/drawing/2014/main" id="{1A40031A-54C1-D57B-74B2-0995A71A4AD7}"/>
              </a:ext>
            </a:extLst>
          </p:cNvPr>
          <p:cNvSpPr>
            <a:spLocks noEditPoints="1"/>
          </p:cNvSpPr>
          <p:nvPr/>
        </p:nvSpPr>
        <p:spPr bwMode="auto">
          <a:xfrm>
            <a:off x="2449513" y="2403475"/>
            <a:ext cx="928688" cy="315913"/>
          </a:xfrm>
          <a:custGeom>
            <a:avLst/>
            <a:gdLst>
              <a:gd name="T0" fmla="*/ 585 w 585"/>
              <a:gd name="T1" fmla="*/ 86 h 199"/>
              <a:gd name="T2" fmla="*/ 583 w 585"/>
              <a:gd name="T3" fmla="*/ 61 h 199"/>
              <a:gd name="T4" fmla="*/ 578 w 585"/>
              <a:gd name="T5" fmla="*/ 36 h 199"/>
              <a:gd name="T6" fmla="*/ 572 w 585"/>
              <a:gd name="T7" fmla="*/ 11 h 199"/>
              <a:gd name="T8" fmla="*/ 563 w 585"/>
              <a:gd name="T9" fmla="*/ 0 h 199"/>
              <a:gd name="T10" fmla="*/ 570 w 585"/>
              <a:gd name="T11" fmla="*/ 23 h 199"/>
              <a:gd name="T12" fmla="*/ 577 w 585"/>
              <a:gd name="T13" fmla="*/ 48 h 199"/>
              <a:gd name="T14" fmla="*/ 580 w 585"/>
              <a:gd name="T15" fmla="*/ 73 h 199"/>
              <a:gd name="T16" fmla="*/ 580 w 585"/>
              <a:gd name="T17" fmla="*/ 99 h 199"/>
              <a:gd name="T18" fmla="*/ 580 w 585"/>
              <a:gd name="T19" fmla="*/ 111 h 199"/>
              <a:gd name="T20" fmla="*/ 580 w 585"/>
              <a:gd name="T21" fmla="*/ 121 h 199"/>
              <a:gd name="T22" fmla="*/ 578 w 585"/>
              <a:gd name="T23" fmla="*/ 132 h 199"/>
              <a:gd name="T24" fmla="*/ 577 w 585"/>
              <a:gd name="T25" fmla="*/ 142 h 199"/>
              <a:gd name="T26" fmla="*/ 583 w 585"/>
              <a:gd name="T27" fmla="*/ 136 h 199"/>
              <a:gd name="T28" fmla="*/ 585 w 585"/>
              <a:gd name="T29" fmla="*/ 126 h 199"/>
              <a:gd name="T30" fmla="*/ 585 w 585"/>
              <a:gd name="T31" fmla="*/ 114 h 199"/>
              <a:gd name="T32" fmla="*/ 585 w 585"/>
              <a:gd name="T33" fmla="*/ 104 h 199"/>
              <a:gd name="T34" fmla="*/ 5 w 585"/>
              <a:gd name="T35" fmla="*/ 50 h 199"/>
              <a:gd name="T36" fmla="*/ 4 w 585"/>
              <a:gd name="T37" fmla="*/ 61 h 199"/>
              <a:gd name="T38" fmla="*/ 2 w 585"/>
              <a:gd name="T39" fmla="*/ 74 h 199"/>
              <a:gd name="T40" fmla="*/ 2 w 585"/>
              <a:gd name="T41" fmla="*/ 86 h 199"/>
              <a:gd name="T42" fmla="*/ 0 w 585"/>
              <a:gd name="T43" fmla="*/ 99 h 199"/>
              <a:gd name="T44" fmla="*/ 2 w 585"/>
              <a:gd name="T45" fmla="*/ 126 h 199"/>
              <a:gd name="T46" fmla="*/ 5 w 585"/>
              <a:gd name="T47" fmla="*/ 151 h 199"/>
              <a:gd name="T48" fmla="*/ 10 w 585"/>
              <a:gd name="T49" fmla="*/ 175 h 199"/>
              <a:gd name="T50" fmla="*/ 19 w 585"/>
              <a:gd name="T51" fmla="*/ 199 h 199"/>
              <a:gd name="T52" fmla="*/ 20 w 585"/>
              <a:gd name="T53" fmla="*/ 187 h 199"/>
              <a:gd name="T54" fmla="*/ 14 w 585"/>
              <a:gd name="T55" fmla="*/ 162 h 199"/>
              <a:gd name="T56" fmla="*/ 9 w 585"/>
              <a:gd name="T57" fmla="*/ 137 h 199"/>
              <a:gd name="T58" fmla="*/ 7 w 585"/>
              <a:gd name="T59" fmla="*/ 112 h 199"/>
              <a:gd name="T60" fmla="*/ 5 w 585"/>
              <a:gd name="T61" fmla="*/ 93 h 199"/>
              <a:gd name="T62" fmla="*/ 7 w 585"/>
              <a:gd name="T63" fmla="*/ 79 h 199"/>
              <a:gd name="T64" fmla="*/ 7 w 585"/>
              <a:gd name="T65" fmla="*/ 66 h 199"/>
              <a:gd name="T66" fmla="*/ 10 w 585"/>
              <a:gd name="T67" fmla="*/ 53 h 199"/>
              <a:gd name="T68" fmla="*/ 5 w 585"/>
              <a:gd name="T69" fmla="*/ 5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5" h="199">
                <a:moveTo>
                  <a:pt x="585" y="99"/>
                </a:moveTo>
                <a:lnTo>
                  <a:pt x="585" y="86"/>
                </a:lnTo>
                <a:lnTo>
                  <a:pt x="585" y="73"/>
                </a:lnTo>
                <a:lnTo>
                  <a:pt x="583" y="61"/>
                </a:lnTo>
                <a:lnTo>
                  <a:pt x="582" y="48"/>
                </a:lnTo>
                <a:lnTo>
                  <a:pt x="578" y="36"/>
                </a:lnTo>
                <a:lnTo>
                  <a:pt x="575" y="23"/>
                </a:lnTo>
                <a:lnTo>
                  <a:pt x="572" y="11"/>
                </a:lnTo>
                <a:lnTo>
                  <a:pt x="568" y="0"/>
                </a:lnTo>
                <a:lnTo>
                  <a:pt x="563" y="0"/>
                </a:lnTo>
                <a:lnTo>
                  <a:pt x="567" y="11"/>
                </a:lnTo>
                <a:lnTo>
                  <a:pt x="570" y="23"/>
                </a:lnTo>
                <a:lnTo>
                  <a:pt x="573" y="36"/>
                </a:lnTo>
                <a:lnTo>
                  <a:pt x="577" y="48"/>
                </a:lnTo>
                <a:lnTo>
                  <a:pt x="578" y="61"/>
                </a:lnTo>
                <a:lnTo>
                  <a:pt x="580" y="73"/>
                </a:lnTo>
                <a:lnTo>
                  <a:pt x="580" y="86"/>
                </a:lnTo>
                <a:lnTo>
                  <a:pt x="580" y="99"/>
                </a:lnTo>
                <a:lnTo>
                  <a:pt x="580" y="104"/>
                </a:lnTo>
                <a:lnTo>
                  <a:pt x="580" y="111"/>
                </a:lnTo>
                <a:lnTo>
                  <a:pt x="580" y="116"/>
                </a:lnTo>
                <a:lnTo>
                  <a:pt x="580" y="121"/>
                </a:lnTo>
                <a:lnTo>
                  <a:pt x="580" y="127"/>
                </a:lnTo>
                <a:lnTo>
                  <a:pt x="578" y="132"/>
                </a:lnTo>
                <a:lnTo>
                  <a:pt x="578" y="137"/>
                </a:lnTo>
                <a:lnTo>
                  <a:pt x="577" y="142"/>
                </a:lnTo>
                <a:lnTo>
                  <a:pt x="582" y="141"/>
                </a:lnTo>
                <a:lnTo>
                  <a:pt x="583" y="136"/>
                </a:lnTo>
                <a:lnTo>
                  <a:pt x="583" y="131"/>
                </a:lnTo>
                <a:lnTo>
                  <a:pt x="585" y="126"/>
                </a:lnTo>
                <a:lnTo>
                  <a:pt x="585" y="121"/>
                </a:lnTo>
                <a:lnTo>
                  <a:pt x="585" y="114"/>
                </a:lnTo>
                <a:lnTo>
                  <a:pt x="585" y="109"/>
                </a:lnTo>
                <a:lnTo>
                  <a:pt x="585" y="104"/>
                </a:lnTo>
                <a:lnTo>
                  <a:pt x="585" y="99"/>
                </a:lnTo>
                <a:close/>
                <a:moveTo>
                  <a:pt x="5" y="50"/>
                </a:moveTo>
                <a:lnTo>
                  <a:pt x="4" y="56"/>
                </a:lnTo>
                <a:lnTo>
                  <a:pt x="4" y="61"/>
                </a:lnTo>
                <a:lnTo>
                  <a:pt x="2" y="68"/>
                </a:lnTo>
                <a:lnTo>
                  <a:pt x="2" y="74"/>
                </a:lnTo>
                <a:lnTo>
                  <a:pt x="2" y="81"/>
                </a:lnTo>
                <a:lnTo>
                  <a:pt x="2" y="86"/>
                </a:lnTo>
                <a:lnTo>
                  <a:pt x="0" y="93"/>
                </a:lnTo>
                <a:lnTo>
                  <a:pt x="0" y="99"/>
                </a:lnTo>
                <a:lnTo>
                  <a:pt x="2" y="112"/>
                </a:lnTo>
                <a:lnTo>
                  <a:pt x="2" y="126"/>
                </a:lnTo>
                <a:lnTo>
                  <a:pt x="4" y="137"/>
                </a:lnTo>
                <a:lnTo>
                  <a:pt x="5" y="151"/>
                </a:lnTo>
                <a:lnTo>
                  <a:pt x="9" y="162"/>
                </a:lnTo>
                <a:lnTo>
                  <a:pt x="10" y="175"/>
                </a:lnTo>
                <a:lnTo>
                  <a:pt x="15" y="187"/>
                </a:lnTo>
                <a:lnTo>
                  <a:pt x="19" y="199"/>
                </a:lnTo>
                <a:lnTo>
                  <a:pt x="23" y="199"/>
                </a:lnTo>
                <a:lnTo>
                  <a:pt x="20" y="187"/>
                </a:lnTo>
                <a:lnTo>
                  <a:pt x="15" y="175"/>
                </a:lnTo>
                <a:lnTo>
                  <a:pt x="14" y="162"/>
                </a:lnTo>
                <a:lnTo>
                  <a:pt x="10" y="151"/>
                </a:lnTo>
                <a:lnTo>
                  <a:pt x="9" y="137"/>
                </a:lnTo>
                <a:lnTo>
                  <a:pt x="7" y="126"/>
                </a:lnTo>
                <a:lnTo>
                  <a:pt x="7" y="112"/>
                </a:lnTo>
                <a:lnTo>
                  <a:pt x="5" y="99"/>
                </a:lnTo>
                <a:lnTo>
                  <a:pt x="5" y="93"/>
                </a:lnTo>
                <a:lnTo>
                  <a:pt x="7" y="86"/>
                </a:lnTo>
                <a:lnTo>
                  <a:pt x="7" y="79"/>
                </a:lnTo>
                <a:lnTo>
                  <a:pt x="7" y="73"/>
                </a:lnTo>
                <a:lnTo>
                  <a:pt x="7" y="66"/>
                </a:lnTo>
                <a:lnTo>
                  <a:pt x="9" y="59"/>
                </a:lnTo>
                <a:lnTo>
                  <a:pt x="10" y="53"/>
                </a:lnTo>
                <a:lnTo>
                  <a:pt x="10" y="46"/>
                </a:lnTo>
                <a:lnTo>
                  <a:pt x="5" y="5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97" name="Freeform 1302">
            <a:extLst>
              <a:ext uri="{FF2B5EF4-FFF2-40B4-BE49-F238E27FC236}">
                <a16:creationId xmlns:a16="http://schemas.microsoft.com/office/drawing/2014/main" id="{AF07F772-8F22-6C60-5E44-C9C4140805FE}"/>
              </a:ext>
            </a:extLst>
          </p:cNvPr>
          <p:cNvSpPr>
            <a:spLocks noEditPoints="1"/>
          </p:cNvSpPr>
          <p:nvPr/>
        </p:nvSpPr>
        <p:spPr bwMode="auto">
          <a:xfrm>
            <a:off x="2455863" y="2403475"/>
            <a:ext cx="919163" cy="315913"/>
          </a:xfrm>
          <a:custGeom>
            <a:avLst/>
            <a:gdLst>
              <a:gd name="T0" fmla="*/ 579 w 579"/>
              <a:gd name="T1" fmla="*/ 86 h 199"/>
              <a:gd name="T2" fmla="*/ 576 w 579"/>
              <a:gd name="T3" fmla="*/ 61 h 199"/>
              <a:gd name="T4" fmla="*/ 573 w 579"/>
              <a:gd name="T5" fmla="*/ 36 h 199"/>
              <a:gd name="T6" fmla="*/ 566 w 579"/>
              <a:gd name="T7" fmla="*/ 11 h 199"/>
              <a:gd name="T8" fmla="*/ 556 w 579"/>
              <a:gd name="T9" fmla="*/ 0 h 199"/>
              <a:gd name="T10" fmla="*/ 564 w 579"/>
              <a:gd name="T11" fmla="*/ 23 h 199"/>
              <a:gd name="T12" fmla="*/ 569 w 579"/>
              <a:gd name="T13" fmla="*/ 48 h 199"/>
              <a:gd name="T14" fmla="*/ 573 w 579"/>
              <a:gd name="T15" fmla="*/ 73 h 199"/>
              <a:gd name="T16" fmla="*/ 574 w 579"/>
              <a:gd name="T17" fmla="*/ 99 h 199"/>
              <a:gd name="T18" fmla="*/ 574 w 579"/>
              <a:gd name="T19" fmla="*/ 111 h 199"/>
              <a:gd name="T20" fmla="*/ 573 w 579"/>
              <a:gd name="T21" fmla="*/ 122 h 199"/>
              <a:gd name="T22" fmla="*/ 573 w 579"/>
              <a:gd name="T23" fmla="*/ 132 h 199"/>
              <a:gd name="T24" fmla="*/ 571 w 579"/>
              <a:gd name="T25" fmla="*/ 144 h 199"/>
              <a:gd name="T26" fmla="*/ 576 w 579"/>
              <a:gd name="T27" fmla="*/ 136 h 199"/>
              <a:gd name="T28" fmla="*/ 578 w 579"/>
              <a:gd name="T29" fmla="*/ 126 h 199"/>
              <a:gd name="T30" fmla="*/ 579 w 579"/>
              <a:gd name="T31" fmla="*/ 116 h 199"/>
              <a:gd name="T32" fmla="*/ 579 w 579"/>
              <a:gd name="T33" fmla="*/ 104 h 199"/>
              <a:gd name="T34" fmla="*/ 5 w 579"/>
              <a:gd name="T35" fmla="*/ 48 h 199"/>
              <a:gd name="T36" fmla="*/ 1 w 579"/>
              <a:gd name="T37" fmla="*/ 61 h 199"/>
              <a:gd name="T38" fmla="*/ 1 w 579"/>
              <a:gd name="T39" fmla="*/ 73 h 199"/>
              <a:gd name="T40" fmla="*/ 0 w 579"/>
              <a:gd name="T41" fmla="*/ 86 h 199"/>
              <a:gd name="T42" fmla="*/ 0 w 579"/>
              <a:gd name="T43" fmla="*/ 99 h 199"/>
              <a:gd name="T44" fmla="*/ 1 w 579"/>
              <a:gd name="T45" fmla="*/ 126 h 199"/>
              <a:gd name="T46" fmla="*/ 5 w 579"/>
              <a:gd name="T47" fmla="*/ 151 h 199"/>
              <a:gd name="T48" fmla="*/ 10 w 579"/>
              <a:gd name="T49" fmla="*/ 175 h 199"/>
              <a:gd name="T50" fmla="*/ 16 w 579"/>
              <a:gd name="T51" fmla="*/ 199 h 199"/>
              <a:gd name="T52" fmla="*/ 18 w 579"/>
              <a:gd name="T53" fmla="*/ 187 h 199"/>
              <a:gd name="T54" fmla="*/ 11 w 579"/>
              <a:gd name="T55" fmla="*/ 162 h 199"/>
              <a:gd name="T56" fmla="*/ 6 w 579"/>
              <a:gd name="T57" fmla="*/ 137 h 199"/>
              <a:gd name="T58" fmla="*/ 5 w 579"/>
              <a:gd name="T59" fmla="*/ 112 h 199"/>
              <a:gd name="T60" fmla="*/ 5 w 579"/>
              <a:gd name="T61" fmla="*/ 93 h 199"/>
              <a:gd name="T62" fmla="*/ 5 w 579"/>
              <a:gd name="T63" fmla="*/ 79 h 199"/>
              <a:gd name="T64" fmla="*/ 6 w 579"/>
              <a:gd name="T65" fmla="*/ 66 h 199"/>
              <a:gd name="T66" fmla="*/ 8 w 579"/>
              <a:gd name="T67" fmla="*/ 53 h 199"/>
              <a:gd name="T68" fmla="*/ 5 w 579"/>
              <a:gd name="T69" fmla="*/ 4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9" h="199">
                <a:moveTo>
                  <a:pt x="579" y="99"/>
                </a:moveTo>
                <a:lnTo>
                  <a:pt x="579" y="86"/>
                </a:lnTo>
                <a:lnTo>
                  <a:pt x="578" y="73"/>
                </a:lnTo>
                <a:lnTo>
                  <a:pt x="576" y="61"/>
                </a:lnTo>
                <a:lnTo>
                  <a:pt x="574" y="48"/>
                </a:lnTo>
                <a:lnTo>
                  <a:pt x="573" y="36"/>
                </a:lnTo>
                <a:lnTo>
                  <a:pt x="569" y="23"/>
                </a:lnTo>
                <a:lnTo>
                  <a:pt x="566" y="11"/>
                </a:lnTo>
                <a:lnTo>
                  <a:pt x="561" y="0"/>
                </a:lnTo>
                <a:lnTo>
                  <a:pt x="556" y="0"/>
                </a:lnTo>
                <a:lnTo>
                  <a:pt x="561" y="11"/>
                </a:lnTo>
                <a:lnTo>
                  <a:pt x="564" y="23"/>
                </a:lnTo>
                <a:lnTo>
                  <a:pt x="568" y="36"/>
                </a:lnTo>
                <a:lnTo>
                  <a:pt x="569" y="48"/>
                </a:lnTo>
                <a:lnTo>
                  <a:pt x="571" y="61"/>
                </a:lnTo>
                <a:lnTo>
                  <a:pt x="573" y="73"/>
                </a:lnTo>
                <a:lnTo>
                  <a:pt x="574" y="86"/>
                </a:lnTo>
                <a:lnTo>
                  <a:pt x="574" y="99"/>
                </a:lnTo>
                <a:lnTo>
                  <a:pt x="574" y="104"/>
                </a:lnTo>
                <a:lnTo>
                  <a:pt x="574" y="111"/>
                </a:lnTo>
                <a:lnTo>
                  <a:pt x="574" y="116"/>
                </a:lnTo>
                <a:lnTo>
                  <a:pt x="573" y="122"/>
                </a:lnTo>
                <a:lnTo>
                  <a:pt x="573" y="127"/>
                </a:lnTo>
                <a:lnTo>
                  <a:pt x="573" y="132"/>
                </a:lnTo>
                <a:lnTo>
                  <a:pt x="571" y="139"/>
                </a:lnTo>
                <a:lnTo>
                  <a:pt x="571" y="144"/>
                </a:lnTo>
                <a:lnTo>
                  <a:pt x="576" y="142"/>
                </a:lnTo>
                <a:lnTo>
                  <a:pt x="576" y="136"/>
                </a:lnTo>
                <a:lnTo>
                  <a:pt x="578" y="131"/>
                </a:lnTo>
                <a:lnTo>
                  <a:pt x="578" y="126"/>
                </a:lnTo>
                <a:lnTo>
                  <a:pt x="578" y="121"/>
                </a:lnTo>
                <a:lnTo>
                  <a:pt x="579" y="116"/>
                </a:lnTo>
                <a:lnTo>
                  <a:pt x="579" y="109"/>
                </a:lnTo>
                <a:lnTo>
                  <a:pt x="579" y="104"/>
                </a:lnTo>
                <a:lnTo>
                  <a:pt x="579" y="99"/>
                </a:lnTo>
                <a:close/>
                <a:moveTo>
                  <a:pt x="5" y="48"/>
                </a:moveTo>
                <a:lnTo>
                  <a:pt x="3" y="54"/>
                </a:lnTo>
                <a:lnTo>
                  <a:pt x="1" y="61"/>
                </a:lnTo>
                <a:lnTo>
                  <a:pt x="1" y="68"/>
                </a:lnTo>
                <a:lnTo>
                  <a:pt x="1" y="73"/>
                </a:lnTo>
                <a:lnTo>
                  <a:pt x="0" y="79"/>
                </a:lnTo>
                <a:lnTo>
                  <a:pt x="0" y="86"/>
                </a:lnTo>
                <a:lnTo>
                  <a:pt x="0" y="93"/>
                </a:lnTo>
                <a:lnTo>
                  <a:pt x="0" y="99"/>
                </a:lnTo>
                <a:lnTo>
                  <a:pt x="0" y="112"/>
                </a:lnTo>
                <a:lnTo>
                  <a:pt x="1" y="126"/>
                </a:lnTo>
                <a:lnTo>
                  <a:pt x="1" y="137"/>
                </a:lnTo>
                <a:lnTo>
                  <a:pt x="5" y="151"/>
                </a:lnTo>
                <a:lnTo>
                  <a:pt x="6" y="162"/>
                </a:lnTo>
                <a:lnTo>
                  <a:pt x="10" y="175"/>
                </a:lnTo>
                <a:lnTo>
                  <a:pt x="13" y="187"/>
                </a:lnTo>
                <a:lnTo>
                  <a:pt x="16" y="199"/>
                </a:lnTo>
                <a:lnTo>
                  <a:pt x="23" y="199"/>
                </a:lnTo>
                <a:lnTo>
                  <a:pt x="18" y="187"/>
                </a:lnTo>
                <a:lnTo>
                  <a:pt x="15" y="175"/>
                </a:lnTo>
                <a:lnTo>
                  <a:pt x="11" y="162"/>
                </a:lnTo>
                <a:lnTo>
                  <a:pt x="10" y="151"/>
                </a:lnTo>
                <a:lnTo>
                  <a:pt x="6" y="137"/>
                </a:lnTo>
                <a:lnTo>
                  <a:pt x="5" y="126"/>
                </a:lnTo>
                <a:lnTo>
                  <a:pt x="5" y="112"/>
                </a:lnTo>
                <a:lnTo>
                  <a:pt x="5" y="99"/>
                </a:lnTo>
                <a:lnTo>
                  <a:pt x="5" y="93"/>
                </a:lnTo>
                <a:lnTo>
                  <a:pt x="5" y="86"/>
                </a:lnTo>
                <a:lnTo>
                  <a:pt x="5" y="79"/>
                </a:lnTo>
                <a:lnTo>
                  <a:pt x="6" y="73"/>
                </a:lnTo>
                <a:lnTo>
                  <a:pt x="6" y="66"/>
                </a:lnTo>
                <a:lnTo>
                  <a:pt x="6" y="59"/>
                </a:lnTo>
                <a:lnTo>
                  <a:pt x="8" y="53"/>
                </a:lnTo>
                <a:lnTo>
                  <a:pt x="10" y="46"/>
                </a:lnTo>
                <a:lnTo>
                  <a:pt x="5" y="48"/>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98" name="Freeform 1303">
            <a:extLst>
              <a:ext uri="{FF2B5EF4-FFF2-40B4-BE49-F238E27FC236}">
                <a16:creationId xmlns:a16="http://schemas.microsoft.com/office/drawing/2014/main" id="{C1743005-FB41-D372-B885-159E1FD014FD}"/>
              </a:ext>
            </a:extLst>
          </p:cNvPr>
          <p:cNvSpPr>
            <a:spLocks noEditPoints="1"/>
          </p:cNvSpPr>
          <p:nvPr/>
        </p:nvSpPr>
        <p:spPr bwMode="auto">
          <a:xfrm>
            <a:off x="2457450" y="2403475"/>
            <a:ext cx="912813" cy="315913"/>
          </a:xfrm>
          <a:custGeom>
            <a:avLst/>
            <a:gdLst>
              <a:gd name="T0" fmla="*/ 575 w 575"/>
              <a:gd name="T1" fmla="*/ 86 h 199"/>
              <a:gd name="T2" fmla="*/ 573 w 575"/>
              <a:gd name="T3" fmla="*/ 61 h 199"/>
              <a:gd name="T4" fmla="*/ 568 w 575"/>
              <a:gd name="T5" fmla="*/ 36 h 199"/>
              <a:gd name="T6" fmla="*/ 562 w 575"/>
              <a:gd name="T7" fmla="*/ 11 h 199"/>
              <a:gd name="T8" fmla="*/ 553 w 575"/>
              <a:gd name="T9" fmla="*/ 0 h 199"/>
              <a:gd name="T10" fmla="*/ 560 w 575"/>
              <a:gd name="T11" fmla="*/ 23 h 199"/>
              <a:gd name="T12" fmla="*/ 567 w 575"/>
              <a:gd name="T13" fmla="*/ 48 h 199"/>
              <a:gd name="T14" fmla="*/ 570 w 575"/>
              <a:gd name="T15" fmla="*/ 73 h 199"/>
              <a:gd name="T16" fmla="*/ 570 w 575"/>
              <a:gd name="T17" fmla="*/ 99 h 199"/>
              <a:gd name="T18" fmla="*/ 570 w 575"/>
              <a:gd name="T19" fmla="*/ 111 h 199"/>
              <a:gd name="T20" fmla="*/ 570 w 575"/>
              <a:gd name="T21" fmla="*/ 122 h 199"/>
              <a:gd name="T22" fmla="*/ 568 w 575"/>
              <a:gd name="T23" fmla="*/ 134 h 199"/>
              <a:gd name="T24" fmla="*/ 567 w 575"/>
              <a:gd name="T25" fmla="*/ 146 h 199"/>
              <a:gd name="T26" fmla="*/ 573 w 575"/>
              <a:gd name="T27" fmla="*/ 137 h 199"/>
              <a:gd name="T28" fmla="*/ 575 w 575"/>
              <a:gd name="T29" fmla="*/ 127 h 199"/>
              <a:gd name="T30" fmla="*/ 575 w 575"/>
              <a:gd name="T31" fmla="*/ 116 h 199"/>
              <a:gd name="T32" fmla="*/ 575 w 575"/>
              <a:gd name="T33" fmla="*/ 104 h 199"/>
              <a:gd name="T34" fmla="*/ 5 w 575"/>
              <a:gd name="T35" fmla="*/ 46 h 199"/>
              <a:gd name="T36" fmla="*/ 4 w 575"/>
              <a:gd name="T37" fmla="*/ 59 h 199"/>
              <a:gd name="T38" fmla="*/ 2 w 575"/>
              <a:gd name="T39" fmla="*/ 73 h 199"/>
              <a:gd name="T40" fmla="*/ 2 w 575"/>
              <a:gd name="T41" fmla="*/ 86 h 199"/>
              <a:gd name="T42" fmla="*/ 0 w 575"/>
              <a:gd name="T43" fmla="*/ 99 h 199"/>
              <a:gd name="T44" fmla="*/ 2 w 575"/>
              <a:gd name="T45" fmla="*/ 126 h 199"/>
              <a:gd name="T46" fmla="*/ 5 w 575"/>
              <a:gd name="T47" fmla="*/ 151 h 199"/>
              <a:gd name="T48" fmla="*/ 10 w 575"/>
              <a:gd name="T49" fmla="*/ 175 h 199"/>
              <a:gd name="T50" fmla="*/ 18 w 575"/>
              <a:gd name="T51" fmla="*/ 199 h 199"/>
              <a:gd name="T52" fmla="*/ 20 w 575"/>
              <a:gd name="T53" fmla="*/ 187 h 199"/>
              <a:gd name="T54" fmla="*/ 14 w 575"/>
              <a:gd name="T55" fmla="*/ 162 h 199"/>
              <a:gd name="T56" fmla="*/ 9 w 575"/>
              <a:gd name="T57" fmla="*/ 137 h 199"/>
              <a:gd name="T58" fmla="*/ 5 w 575"/>
              <a:gd name="T59" fmla="*/ 112 h 199"/>
              <a:gd name="T60" fmla="*/ 5 w 575"/>
              <a:gd name="T61" fmla="*/ 93 h 199"/>
              <a:gd name="T62" fmla="*/ 7 w 575"/>
              <a:gd name="T63" fmla="*/ 78 h 199"/>
              <a:gd name="T64" fmla="*/ 7 w 575"/>
              <a:gd name="T65" fmla="*/ 64 h 199"/>
              <a:gd name="T66" fmla="*/ 10 w 575"/>
              <a:gd name="T67" fmla="*/ 51 h 199"/>
              <a:gd name="T68" fmla="*/ 5 w 575"/>
              <a:gd name="T69" fmla="*/ 4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5" h="199">
                <a:moveTo>
                  <a:pt x="575" y="99"/>
                </a:moveTo>
                <a:lnTo>
                  <a:pt x="575" y="86"/>
                </a:lnTo>
                <a:lnTo>
                  <a:pt x="575" y="73"/>
                </a:lnTo>
                <a:lnTo>
                  <a:pt x="573" y="61"/>
                </a:lnTo>
                <a:lnTo>
                  <a:pt x="572" y="48"/>
                </a:lnTo>
                <a:lnTo>
                  <a:pt x="568" y="36"/>
                </a:lnTo>
                <a:lnTo>
                  <a:pt x="565" y="23"/>
                </a:lnTo>
                <a:lnTo>
                  <a:pt x="562" y="11"/>
                </a:lnTo>
                <a:lnTo>
                  <a:pt x="558" y="0"/>
                </a:lnTo>
                <a:lnTo>
                  <a:pt x="553" y="0"/>
                </a:lnTo>
                <a:lnTo>
                  <a:pt x="557" y="11"/>
                </a:lnTo>
                <a:lnTo>
                  <a:pt x="560" y="23"/>
                </a:lnTo>
                <a:lnTo>
                  <a:pt x="563" y="35"/>
                </a:lnTo>
                <a:lnTo>
                  <a:pt x="567" y="48"/>
                </a:lnTo>
                <a:lnTo>
                  <a:pt x="568" y="61"/>
                </a:lnTo>
                <a:lnTo>
                  <a:pt x="570" y="73"/>
                </a:lnTo>
                <a:lnTo>
                  <a:pt x="570" y="86"/>
                </a:lnTo>
                <a:lnTo>
                  <a:pt x="570" y="99"/>
                </a:lnTo>
                <a:lnTo>
                  <a:pt x="570" y="104"/>
                </a:lnTo>
                <a:lnTo>
                  <a:pt x="570" y="111"/>
                </a:lnTo>
                <a:lnTo>
                  <a:pt x="570" y="116"/>
                </a:lnTo>
                <a:lnTo>
                  <a:pt x="570" y="122"/>
                </a:lnTo>
                <a:lnTo>
                  <a:pt x="570" y="127"/>
                </a:lnTo>
                <a:lnTo>
                  <a:pt x="568" y="134"/>
                </a:lnTo>
                <a:lnTo>
                  <a:pt x="568" y="139"/>
                </a:lnTo>
                <a:lnTo>
                  <a:pt x="567" y="146"/>
                </a:lnTo>
                <a:lnTo>
                  <a:pt x="572" y="142"/>
                </a:lnTo>
                <a:lnTo>
                  <a:pt x="573" y="137"/>
                </a:lnTo>
                <a:lnTo>
                  <a:pt x="573" y="132"/>
                </a:lnTo>
                <a:lnTo>
                  <a:pt x="575" y="127"/>
                </a:lnTo>
                <a:lnTo>
                  <a:pt x="575" y="121"/>
                </a:lnTo>
                <a:lnTo>
                  <a:pt x="575" y="116"/>
                </a:lnTo>
                <a:lnTo>
                  <a:pt x="575" y="111"/>
                </a:lnTo>
                <a:lnTo>
                  <a:pt x="575" y="104"/>
                </a:lnTo>
                <a:lnTo>
                  <a:pt x="575" y="99"/>
                </a:lnTo>
                <a:close/>
                <a:moveTo>
                  <a:pt x="5" y="46"/>
                </a:moveTo>
                <a:lnTo>
                  <a:pt x="5" y="53"/>
                </a:lnTo>
                <a:lnTo>
                  <a:pt x="4" y="59"/>
                </a:lnTo>
                <a:lnTo>
                  <a:pt x="2" y="66"/>
                </a:lnTo>
                <a:lnTo>
                  <a:pt x="2" y="73"/>
                </a:lnTo>
                <a:lnTo>
                  <a:pt x="2" y="79"/>
                </a:lnTo>
                <a:lnTo>
                  <a:pt x="2" y="86"/>
                </a:lnTo>
                <a:lnTo>
                  <a:pt x="0" y="93"/>
                </a:lnTo>
                <a:lnTo>
                  <a:pt x="0" y="99"/>
                </a:lnTo>
                <a:lnTo>
                  <a:pt x="2" y="112"/>
                </a:lnTo>
                <a:lnTo>
                  <a:pt x="2" y="126"/>
                </a:lnTo>
                <a:lnTo>
                  <a:pt x="4" y="137"/>
                </a:lnTo>
                <a:lnTo>
                  <a:pt x="5" y="151"/>
                </a:lnTo>
                <a:lnTo>
                  <a:pt x="9" y="162"/>
                </a:lnTo>
                <a:lnTo>
                  <a:pt x="10" y="175"/>
                </a:lnTo>
                <a:lnTo>
                  <a:pt x="15" y="187"/>
                </a:lnTo>
                <a:lnTo>
                  <a:pt x="18" y="199"/>
                </a:lnTo>
                <a:lnTo>
                  <a:pt x="23" y="199"/>
                </a:lnTo>
                <a:lnTo>
                  <a:pt x="20" y="187"/>
                </a:lnTo>
                <a:lnTo>
                  <a:pt x="15" y="175"/>
                </a:lnTo>
                <a:lnTo>
                  <a:pt x="14" y="162"/>
                </a:lnTo>
                <a:lnTo>
                  <a:pt x="10" y="151"/>
                </a:lnTo>
                <a:lnTo>
                  <a:pt x="9" y="137"/>
                </a:lnTo>
                <a:lnTo>
                  <a:pt x="7" y="126"/>
                </a:lnTo>
                <a:lnTo>
                  <a:pt x="5" y="112"/>
                </a:lnTo>
                <a:lnTo>
                  <a:pt x="5" y="99"/>
                </a:lnTo>
                <a:lnTo>
                  <a:pt x="5" y="93"/>
                </a:lnTo>
                <a:lnTo>
                  <a:pt x="5" y="84"/>
                </a:lnTo>
                <a:lnTo>
                  <a:pt x="7" y="78"/>
                </a:lnTo>
                <a:lnTo>
                  <a:pt x="7" y="71"/>
                </a:lnTo>
                <a:lnTo>
                  <a:pt x="7" y="64"/>
                </a:lnTo>
                <a:lnTo>
                  <a:pt x="9" y="58"/>
                </a:lnTo>
                <a:lnTo>
                  <a:pt x="10" y="51"/>
                </a:lnTo>
                <a:lnTo>
                  <a:pt x="10" y="45"/>
                </a:lnTo>
                <a:lnTo>
                  <a:pt x="5" y="46"/>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099" name="Freeform 1304">
            <a:extLst>
              <a:ext uri="{FF2B5EF4-FFF2-40B4-BE49-F238E27FC236}">
                <a16:creationId xmlns:a16="http://schemas.microsoft.com/office/drawing/2014/main" id="{9237013B-A01C-56F8-3F86-E604BD346407}"/>
              </a:ext>
            </a:extLst>
          </p:cNvPr>
          <p:cNvSpPr>
            <a:spLocks noEditPoints="1"/>
          </p:cNvSpPr>
          <p:nvPr/>
        </p:nvSpPr>
        <p:spPr bwMode="auto">
          <a:xfrm>
            <a:off x="2463800" y="2403475"/>
            <a:ext cx="903288" cy="315913"/>
          </a:xfrm>
          <a:custGeom>
            <a:avLst/>
            <a:gdLst>
              <a:gd name="T0" fmla="*/ 569 w 569"/>
              <a:gd name="T1" fmla="*/ 86 h 199"/>
              <a:gd name="T2" fmla="*/ 566 w 569"/>
              <a:gd name="T3" fmla="*/ 61 h 199"/>
              <a:gd name="T4" fmla="*/ 563 w 569"/>
              <a:gd name="T5" fmla="*/ 36 h 199"/>
              <a:gd name="T6" fmla="*/ 556 w 569"/>
              <a:gd name="T7" fmla="*/ 11 h 199"/>
              <a:gd name="T8" fmla="*/ 546 w 569"/>
              <a:gd name="T9" fmla="*/ 0 h 199"/>
              <a:gd name="T10" fmla="*/ 554 w 569"/>
              <a:gd name="T11" fmla="*/ 23 h 199"/>
              <a:gd name="T12" fmla="*/ 559 w 569"/>
              <a:gd name="T13" fmla="*/ 48 h 199"/>
              <a:gd name="T14" fmla="*/ 563 w 569"/>
              <a:gd name="T15" fmla="*/ 73 h 199"/>
              <a:gd name="T16" fmla="*/ 564 w 569"/>
              <a:gd name="T17" fmla="*/ 99 h 199"/>
              <a:gd name="T18" fmla="*/ 564 w 569"/>
              <a:gd name="T19" fmla="*/ 111 h 199"/>
              <a:gd name="T20" fmla="*/ 563 w 569"/>
              <a:gd name="T21" fmla="*/ 122 h 199"/>
              <a:gd name="T22" fmla="*/ 563 w 569"/>
              <a:gd name="T23" fmla="*/ 134 h 199"/>
              <a:gd name="T24" fmla="*/ 561 w 569"/>
              <a:gd name="T25" fmla="*/ 146 h 199"/>
              <a:gd name="T26" fmla="*/ 566 w 569"/>
              <a:gd name="T27" fmla="*/ 139 h 199"/>
              <a:gd name="T28" fmla="*/ 568 w 569"/>
              <a:gd name="T29" fmla="*/ 127 h 199"/>
              <a:gd name="T30" fmla="*/ 569 w 569"/>
              <a:gd name="T31" fmla="*/ 116 h 199"/>
              <a:gd name="T32" fmla="*/ 569 w 569"/>
              <a:gd name="T33" fmla="*/ 104 h 199"/>
              <a:gd name="T34" fmla="*/ 5 w 569"/>
              <a:gd name="T35" fmla="*/ 46 h 199"/>
              <a:gd name="T36" fmla="*/ 1 w 569"/>
              <a:gd name="T37" fmla="*/ 59 h 199"/>
              <a:gd name="T38" fmla="*/ 1 w 569"/>
              <a:gd name="T39" fmla="*/ 73 h 199"/>
              <a:gd name="T40" fmla="*/ 0 w 569"/>
              <a:gd name="T41" fmla="*/ 86 h 199"/>
              <a:gd name="T42" fmla="*/ 0 w 569"/>
              <a:gd name="T43" fmla="*/ 99 h 199"/>
              <a:gd name="T44" fmla="*/ 0 w 569"/>
              <a:gd name="T45" fmla="*/ 126 h 199"/>
              <a:gd name="T46" fmla="*/ 5 w 569"/>
              <a:gd name="T47" fmla="*/ 151 h 199"/>
              <a:gd name="T48" fmla="*/ 10 w 569"/>
              <a:gd name="T49" fmla="*/ 175 h 199"/>
              <a:gd name="T50" fmla="*/ 18 w 569"/>
              <a:gd name="T51" fmla="*/ 199 h 199"/>
              <a:gd name="T52" fmla="*/ 18 w 569"/>
              <a:gd name="T53" fmla="*/ 187 h 199"/>
              <a:gd name="T54" fmla="*/ 11 w 569"/>
              <a:gd name="T55" fmla="*/ 162 h 199"/>
              <a:gd name="T56" fmla="*/ 6 w 569"/>
              <a:gd name="T57" fmla="*/ 137 h 199"/>
              <a:gd name="T58" fmla="*/ 5 w 569"/>
              <a:gd name="T59" fmla="*/ 112 h 199"/>
              <a:gd name="T60" fmla="*/ 5 w 569"/>
              <a:gd name="T61" fmla="*/ 93 h 199"/>
              <a:gd name="T62" fmla="*/ 5 w 569"/>
              <a:gd name="T63" fmla="*/ 78 h 199"/>
              <a:gd name="T64" fmla="*/ 6 w 569"/>
              <a:gd name="T65" fmla="*/ 64 h 199"/>
              <a:gd name="T66" fmla="*/ 8 w 569"/>
              <a:gd name="T67" fmla="*/ 50 h 199"/>
              <a:gd name="T68" fmla="*/ 5 w 569"/>
              <a:gd name="T69" fmla="*/ 4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9" h="199">
                <a:moveTo>
                  <a:pt x="569" y="99"/>
                </a:moveTo>
                <a:lnTo>
                  <a:pt x="569" y="86"/>
                </a:lnTo>
                <a:lnTo>
                  <a:pt x="568" y="73"/>
                </a:lnTo>
                <a:lnTo>
                  <a:pt x="566" y="61"/>
                </a:lnTo>
                <a:lnTo>
                  <a:pt x="564" y="48"/>
                </a:lnTo>
                <a:lnTo>
                  <a:pt x="563" y="36"/>
                </a:lnTo>
                <a:lnTo>
                  <a:pt x="559" y="23"/>
                </a:lnTo>
                <a:lnTo>
                  <a:pt x="556" y="11"/>
                </a:lnTo>
                <a:lnTo>
                  <a:pt x="551" y="0"/>
                </a:lnTo>
                <a:lnTo>
                  <a:pt x="546" y="0"/>
                </a:lnTo>
                <a:lnTo>
                  <a:pt x="551" y="11"/>
                </a:lnTo>
                <a:lnTo>
                  <a:pt x="554" y="23"/>
                </a:lnTo>
                <a:lnTo>
                  <a:pt x="558" y="35"/>
                </a:lnTo>
                <a:lnTo>
                  <a:pt x="559" y="48"/>
                </a:lnTo>
                <a:lnTo>
                  <a:pt x="561" y="61"/>
                </a:lnTo>
                <a:lnTo>
                  <a:pt x="563" y="73"/>
                </a:lnTo>
                <a:lnTo>
                  <a:pt x="564" y="86"/>
                </a:lnTo>
                <a:lnTo>
                  <a:pt x="564" y="99"/>
                </a:lnTo>
                <a:lnTo>
                  <a:pt x="564" y="106"/>
                </a:lnTo>
                <a:lnTo>
                  <a:pt x="564" y="111"/>
                </a:lnTo>
                <a:lnTo>
                  <a:pt x="564" y="117"/>
                </a:lnTo>
                <a:lnTo>
                  <a:pt x="563" y="122"/>
                </a:lnTo>
                <a:lnTo>
                  <a:pt x="563" y="129"/>
                </a:lnTo>
                <a:lnTo>
                  <a:pt x="563" y="134"/>
                </a:lnTo>
                <a:lnTo>
                  <a:pt x="561" y="141"/>
                </a:lnTo>
                <a:lnTo>
                  <a:pt x="561" y="146"/>
                </a:lnTo>
                <a:lnTo>
                  <a:pt x="566" y="144"/>
                </a:lnTo>
                <a:lnTo>
                  <a:pt x="566" y="139"/>
                </a:lnTo>
                <a:lnTo>
                  <a:pt x="568" y="132"/>
                </a:lnTo>
                <a:lnTo>
                  <a:pt x="568" y="127"/>
                </a:lnTo>
                <a:lnTo>
                  <a:pt x="568" y="122"/>
                </a:lnTo>
                <a:lnTo>
                  <a:pt x="569" y="116"/>
                </a:lnTo>
                <a:lnTo>
                  <a:pt x="569" y="111"/>
                </a:lnTo>
                <a:lnTo>
                  <a:pt x="569" y="104"/>
                </a:lnTo>
                <a:lnTo>
                  <a:pt x="569" y="99"/>
                </a:lnTo>
                <a:close/>
                <a:moveTo>
                  <a:pt x="5" y="46"/>
                </a:moveTo>
                <a:lnTo>
                  <a:pt x="3" y="53"/>
                </a:lnTo>
                <a:lnTo>
                  <a:pt x="1" y="59"/>
                </a:lnTo>
                <a:lnTo>
                  <a:pt x="1" y="66"/>
                </a:lnTo>
                <a:lnTo>
                  <a:pt x="1" y="73"/>
                </a:lnTo>
                <a:lnTo>
                  <a:pt x="0" y="79"/>
                </a:lnTo>
                <a:lnTo>
                  <a:pt x="0" y="86"/>
                </a:lnTo>
                <a:lnTo>
                  <a:pt x="0" y="93"/>
                </a:lnTo>
                <a:lnTo>
                  <a:pt x="0" y="99"/>
                </a:lnTo>
                <a:lnTo>
                  <a:pt x="0" y="112"/>
                </a:lnTo>
                <a:lnTo>
                  <a:pt x="0" y="126"/>
                </a:lnTo>
                <a:lnTo>
                  <a:pt x="1" y="137"/>
                </a:lnTo>
                <a:lnTo>
                  <a:pt x="5" y="151"/>
                </a:lnTo>
                <a:lnTo>
                  <a:pt x="6" y="162"/>
                </a:lnTo>
                <a:lnTo>
                  <a:pt x="10" y="175"/>
                </a:lnTo>
                <a:lnTo>
                  <a:pt x="13" y="187"/>
                </a:lnTo>
                <a:lnTo>
                  <a:pt x="18" y="199"/>
                </a:lnTo>
                <a:lnTo>
                  <a:pt x="23" y="199"/>
                </a:lnTo>
                <a:lnTo>
                  <a:pt x="18" y="187"/>
                </a:lnTo>
                <a:lnTo>
                  <a:pt x="14" y="175"/>
                </a:lnTo>
                <a:lnTo>
                  <a:pt x="11" y="162"/>
                </a:lnTo>
                <a:lnTo>
                  <a:pt x="8" y="151"/>
                </a:lnTo>
                <a:lnTo>
                  <a:pt x="6" y="137"/>
                </a:lnTo>
                <a:lnTo>
                  <a:pt x="5" y="126"/>
                </a:lnTo>
                <a:lnTo>
                  <a:pt x="5" y="112"/>
                </a:lnTo>
                <a:lnTo>
                  <a:pt x="5" y="99"/>
                </a:lnTo>
                <a:lnTo>
                  <a:pt x="5" y="93"/>
                </a:lnTo>
                <a:lnTo>
                  <a:pt x="5" y="84"/>
                </a:lnTo>
                <a:lnTo>
                  <a:pt x="5" y="78"/>
                </a:lnTo>
                <a:lnTo>
                  <a:pt x="6" y="71"/>
                </a:lnTo>
                <a:lnTo>
                  <a:pt x="6" y="64"/>
                </a:lnTo>
                <a:lnTo>
                  <a:pt x="8" y="56"/>
                </a:lnTo>
                <a:lnTo>
                  <a:pt x="8" y="50"/>
                </a:lnTo>
                <a:lnTo>
                  <a:pt x="10" y="43"/>
                </a:lnTo>
                <a:lnTo>
                  <a:pt x="5" y="46"/>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00" name="Freeform 1305">
            <a:extLst>
              <a:ext uri="{FF2B5EF4-FFF2-40B4-BE49-F238E27FC236}">
                <a16:creationId xmlns:a16="http://schemas.microsoft.com/office/drawing/2014/main" id="{5E0E241A-9937-EB99-DD48-C1816E6673B0}"/>
              </a:ext>
            </a:extLst>
          </p:cNvPr>
          <p:cNvSpPr>
            <a:spLocks noEditPoints="1"/>
          </p:cNvSpPr>
          <p:nvPr/>
        </p:nvSpPr>
        <p:spPr bwMode="auto">
          <a:xfrm>
            <a:off x="2465388" y="2403475"/>
            <a:ext cx="896938" cy="315913"/>
          </a:xfrm>
          <a:custGeom>
            <a:avLst/>
            <a:gdLst>
              <a:gd name="T0" fmla="*/ 565 w 565"/>
              <a:gd name="T1" fmla="*/ 86 h 199"/>
              <a:gd name="T2" fmla="*/ 563 w 565"/>
              <a:gd name="T3" fmla="*/ 61 h 199"/>
              <a:gd name="T4" fmla="*/ 558 w 565"/>
              <a:gd name="T5" fmla="*/ 35 h 199"/>
              <a:gd name="T6" fmla="*/ 552 w 565"/>
              <a:gd name="T7" fmla="*/ 11 h 199"/>
              <a:gd name="T8" fmla="*/ 543 w 565"/>
              <a:gd name="T9" fmla="*/ 0 h 199"/>
              <a:gd name="T10" fmla="*/ 550 w 565"/>
              <a:gd name="T11" fmla="*/ 23 h 199"/>
              <a:gd name="T12" fmla="*/ 557 w 565"/>
              <a:gd name="T13" fmla="*/ 48 h 199"/>
              <a:gd name="T14" fmla="*/ 560 w 565"/>
              <a:gd name="T15" fmla="*/ 73 h 199"/>
              <a:gd name="T16" fmla="*/ 562 w 565"/>
              <a:gd name="T17" fmla="*/ 99 h 199"/>
              <a:gd name="T18" fmla="*/ 560 w 565"/>
              <a:gd name="T19" fmla="*/ 111 h 199"/>
              <a:gd name="T20" fmla="*/ 560 w 565"/>
              <a:gd name="T21" fmla="*/ 124 h 199"/>
              <a:gd name="T22" fmla="*/ 558 w 565"/>
              <a:gd name="T23" fmla="*/ 136 h 199"/>
              <a:gd name="T24" fmla="*/ 557 w 565"/>
              <a:gd name="T25" fmla="*/ 147 h 199"/>
              <a:gd name="T26" fmla="*/ 563 w 565"/>
              <a:gd name="T27" fmla="*/ 139 h 199"/>
              <a:gd name="T28" fmla="*/ 565 w 565"/>
              <a:gd name="T29" fmla="*/ 127 h 199"/>
              <a:gd name="T30" fmla="*/ 565 w 565"/>
              <a:gd name="T31" fmla="*/ 116 h 199"/>
              <a:gd name="T32" fmla="*/ 565 w 565"/>
              <a:gd name="T33" fmla="*/ 104 h 199"/>
              <a:gd name="T34" fmla="*/ 5 w 565"/>
              <a:gd name="T35" fmla="*/ 45 h 199"/>
              <a:gd name="T36" fmla="*/ 4 w 565"/>
              <a:gd name="T37" fmla="*/ 58 h 199"/>
              <a:gd name="T38" fmla="*/ 2 w 565"/>
              <a:gd name="T39" fmla="*/ 71 h 199"/>
              <a:gd name="T40" fmla="*/ 0 w 565"/>
              <a:gd name="T41" fmla="*/ 84 h 199"/>
              <a:gd name="T42" fmla="*/ 0 w 565"/>
              <a:gd name="T43" fmla="*/ 99 h 199"/>
              <a:gd name="T44" fmla="*/ 2 w 565"/>
              <a:gd name="T45" fmla="*/ 126 h 199"/>
              <a:gd name="T46" fmla="*/ 5 w 565"/>
              <a:gd name="T47" fmla="*/ 151 h 199"/>
              <a:gd name="T48" fmla="*/ 10 w 565"/>
              <a:gd name="T49" fmla="*/ 175 h 199"/>
              <a:gd name="T50" fmla="*/ 18 w 565"/>
              <a:gd name="T51" fmla="*/ 199 h 199"/>
              <a:gd name="T52" fmla="*/ 20 w 565"/>
              <a:gd name="T53" fmla="*/ 187 h 199"/>
              <a:gd name="T54" fmla="*/ 13 w 565"/>
              <a:gd name="T55" fmla="*/ 162 h 199"/>
              <a:gd name="T56" fmla="*/ 9 w 565"/>
              <a:gd name="T57" fmla="*/ 137 h 199"/>
              <a:gd name="T58" fmla="*/ 5 w 565"/>
              <a:gd name="T59" fmla="*/ 112 h 199"/>
              <a:gd name="T60" fmla="*/ 5 w 565"/>
              <a:gd name="T61" fmla="*/ 91 h 199"/>
              <a:gd name="T62" fmla="*/ 7 w 565"/>
              <a:gd name="T63" fmla="*/ 78 h 199"/>
              <a:gd name="T64" fmla="*/ 9 w 565"/>
              <a:gd name="T65" fmla="*/ 63 h 199"/>
              <a:gd name="T66" fmla="*/ 10 w 565"/>
              <a:gd name="T67" fmla="*/ 50 h 199"/>
              <a:gd name="T68" fmla="*/ 5 w 565"/>
              <a:gd name="T69" fmla="*/ 4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5" h="199">
                <a:moveTo>
                  <a:pt x="565" y="99"/>
                </a:moveTo>
                <a:lnTo>
                  <a:pt x="565" y="86"/>
                </a:lnTo>
                <a:lnTo>
                  <a:pt x="565" y="73"/>
                </a:lnTo>
                <a:lnTo>
                  <a:pt x="563" y="61"/>
                </a:lnTo>
                <a:lnTo>
                  <a:pt x="562" y="48"/>
                </a:lnTo>
                <a:lnTo>
                  <a:pt x="558" y="35"/>
                </a:lnTo>
                <a:lnTo>
                  <a:pt x="555" y="23"/>
                </a:lnTo>
                <a:lnTo>
                  <a:pt x="552" y="11"/>
                </a:lnTo>
                <a:lnTo>
                  <a:pt x="548" y="0"/>
                </a:lnTo>
                <a:lnTo>
                  <a:pt x="543" y="0"/>
                </a:lnTo>
                <a:lnTo>
                  <a:pt x="547" y="11"/>
                </a:lnTo>
                <a:lnTo>
                  <a:pt x="550" y="23"/>
                </a:lnTo>
                <a:lnTo>
                  <a:pt x="553" y="35"/>
                </a:lnTo>
                <a:lnTo>
                  <a:pt x="557" y="48"/>
                </a:lnTo>
                <a:lnTo>
                  <a:pt x="558" y="61"/>
                </a:lnTo>
                <a:lnTo>
                  <a:pt x="560" y="73"/>
                </a:lnTo>
                <a:lnTo>
                  <a:pt x="560" y="86"/>
                </a:lnTo>
                <a:lnTo>
                  <a:pt x="562" y="99"/>
                </a:lnTo>
                <a:lnTo>
                  <a:pt x="562" y="106"/>
                </a:lnTo>
                <a:lnTo>
                  <a:pt x="560" y="111"/>
                </a:lnTo>
                <a:lnTo>
                  <a:pt x="560" y="117"/>
                </a:lnTo>
                <a:lnTo>
                  <a:pt x="560" y="124"/>
                </a:lnTo>
                <a:lnTo>
                  <a:pt x="560" y="129"/>
                </a:lnTo>
                <a:lnTo>
                  <a:pt x="558" y="136"/>
                </a:lnTo>
                <a:lnTo>
                  <a:pt x="558" y="142"/>
                </a:lnTo>
                <a:lnTo>
                  <a:pt x="557" y="147"/>
                </a:lnTo>
                <a:lnTo>
                  <a:pt x="562" y="146"/>
                </a:lnTo>
                <a:lnTo>
                  <a:pt x="563" y="139"/>
                </a:lnTo>
                <a:lnTo>
                  <a:pt x="563" y="134"/>
                </a:lnTo>
                <a:lnTo>
                  <a:pt x="565" y="127"/>
                </a:lnTo>
                <a:lnTo>
                  <a:pt x="565" y="122"/>
                </a:lnTo>
                <a:lnTo>
                  <a:pt x="565" y="116"/>
                </a:lnTo>
                <a:lnTo>
                  <a:pt x="565" y="111"/>
                </a:lnTo>
                <a:lnTo>
                  <a:pt x="565" y="104"/>
                </a:lnTo>
                <a:lnTo>
                  <a:pt x="565" y="99"/>
                </a:lnTo>
                <a:close/>
                <a:moveTo>
                  <a:pt x="5" y="45"/>
                </a:moveTo>
                <a:lnTo>
                  <a:pt x="5" y="51"/>
                </a:lnTo>
                <a:lnTo>
                  <a:pt x="4" y="58"/>
                </a:lnTo>
                <a:lnTo>
                  <a:pt x="2" y="64"/>
                </a:lnTo>
                <a:lnTo>
                  <a:pt x="2" y="71"/>
                </a:lnTo>
                <a:lnTo>
                  <a:pt x="2" y="78"/>
                </a:lnTo>
                <a:lnTo>
                  <a:pt x="0" y="84"/>
                </a:lnTo>
                <a:lnTo>
                  <a:pt x="0" y="93"/>
                </a:lnTo>
                <a:lnTo>
                  <a:pt x="0" y="99"/>
                </a:lnTo>
                <a:lnTo>
                  <a:pt x="0" y="112"/>
                </a:lnTo>
                <a:lnTo>
                  <a:pt x="2" y="126"/>
                </a:lnTo>
                <a:lnTo>
                  <a:pt x="4" y="137"/>
                </a:lnTo>
                <a:lnTo>
                  <a:pt x="5" y="151"/>
                </a:lnTo>
                <a:lnTo>
                  <a:pt x="9" y="162"/>
                </a:lnTo>
                <a:lnTo>
                  <a:pt x="10" y="175"/>
                </a:lnTo>
                <a:lnTo>
                  <a:pt x="15" y="187"/>
                </a:lnTo>
                <a:lnTo>
                  <a:pt x="18" y="199"/>
                </a:lnTo>
                <a:lnTo>
                  <a:pt x="23" y="199"/>
                </a:lnTo>
                <a:lnTo>
                  <a:pt x="20" y="187"/>
                </a:lnTo>
                <a:lnTo>
                  <a:pt x="15" y="175"/>
                </a:lnTo>
                <a:lnTo>
                  <a:pt x="13" y="162"/>
                </a:lnTo>
                <a:lnTo>
                  <a:pt x="10" y="151"/>
                </a:lnTo>
                <a:lnTo>
                  <a:pt x="9" y="137"/>
                </a:lnTo>
                <a:lnTo>
                  <a:pt x="7" y="126"/>
                </a:lnTo>
                <a:lnTo>
                  <a:pt x="5" y="112"/>
                </a:lnTo>
                <a:lnTo>
                  <a:pt x="5" y="99"/>
                </a:lnTo>
                <a:lnTo>
                  <a:pt x="5" y="91"/>
                </a:lnTo>
                <a:lnTo>
                  <a:pt x="5" y="84"/>
                </a:lnTo>
                <a:lnTo>
                  <a:pt x="7" y="78"/>
                </a:lnTo>
                <a:lnTo>
                  <a:pt x="7" y="69"/>
                </a:lnTo>
                <a:lnTo>
                  <a:pt x="9" y="63"/>
                </a:lnTo>
                <a:lnTo>
                  <a:pt x="9" y="56"/>
                </a:lnTo>
                <a:lnTo>
                  <a:pt x="10" y="50"/>
                </a:lnTo>
                <a:lnTo>
                  <a:pt x="12" y="41"/>
                </a:lnTo>
                <a:lnTo>
                  <a:pt x="5" y="45"/>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01" name="Freeform 1306">
            <a:extLst>
              <a:ext uri="{FF2B5EF4-FFF2-40B4-BE49-F238E27FC236}">
                <a16:creationId xmlns:a16="http://schemas.microsoft.com/office/drawing/2014/main" id="{E0A68CE5-31F8-57B2-FEBD-700A83907A2C}"/>
              </a:ext>
            </a:extLst>
          </p:cNvPr>
          <p:cNvSpPr>
            <a:spLocks noEditPoints="1"/>
          </p:cNvSpPr>
          <p:nvPr/>
        </p:nvSpPr>
        <p:spPr bwMode="auto">
          <a:xfrm>
            <a:off x="2471738" y="2403475"/>
            <a:ext cx="887413" cy="315913"/>
          </a:xfrm>
          <a:custGeom>
            <a:avLst/>
            <a:gdLst>
              <a:gd name="T0" fmla="*/ 559 w 559"/>
              <a:gd name="T1" fmla="*/ 86 h 199"/>
              <a:gd name="T2" fmla="*/ 556 w 559"/>
              <a:gd name="T3" fmla="*/ 61 h 199"/>
              <a:gd name="T4" fmla="*/ 553 w 559"/>
              <a:gd name="T5" fmla="*/ 35 h 199"/>
              <a:gd name="T6" fmla="*/ 546 w 559"/>
              <a:gd name="T7" fmla="*/ 11 h 199"/>
              <a:gd name="T8" fmla="*/ 536 w 559"/>
              <a:gd name="T9" fmla="*/ 0 h 199"/>
              <a:gd name="T10" fmla="*/ 544 w 559"/>
              <a:gd name="T11" fmla="*/ 23 h 199"/>
              <a:gd name="T12" fmla="*/ 549 w 559"/>
              <a:gd name="T13" fmla="*/ 48 h 199"/>
              <a:gd name="T14" fmla="*/ 553 w 559"/>
              <a:gd name="T15" fmla="*/ 73 h 199"/>
              <a:gd name="T16" fmla="*/ 554 w 559"/>
              <a:gd name="T17" fmla="*/ 99 h 199"/>
              <a:gd name="T18" fmla="*/ 554 w 559"/>
              <a:gd name="T19" fmla="*/ 112 h 199"/>
              <a:gd name="T20" fmla="*/ 553 w 559"/>
              <a:gd name="T21" fmla="*/ 124 h 199"/>
              <a:gd name="T22" fmla="*/ 553 w 559"/>
              <a:gd name="T23" fmla="*/ 136 h 199"/>
              <a:gd name="T24" fmla="*/ 549 w 559"/>
              <a:gd name="T25" fmla="*/ 149 h 199"/>
              <a:gd name="T26" fmla="*/ 556 w 559"/>
              <a:gd name="T27" fmla="*/ 141 h 199"/>
              <a:gd name="T28" fmla="*/ 558 w 559"/>
              <a:gd name="T29" fmla="*/ 129 h 199"/>
              <a:gd name="T30" fmla="*/ 559 w 559"/>
              <a:gd name="T31" fmla="*/ 117 h 199"/>
              <a:gd name="T32" fmla="*/ 559 w 559"/>
              <a:gd name="T33" fmla="*/ 106 h 199"/>
              <a:gd name="T34" fmla="*/ 5 w 559"/>
              <a:gd name="T35" fmla="*/ 43 h 199"/>
              <a:gd name="T36" fmla="*/ 3 w 559"/>
              <a:gd name="T37" fmla="*/ 56 h 199"/>
              <a:gd name="T38" fmla="*/ 1 w 559"/>
              <a:gd name="T39" fmla="*/ 71 h 199"/>
              <a:gd name="T40" fmla="*/ 0 w 559"/>
              <a:gd name="T41" fmla="*/ 84 h 199"/>
              <a:gd name="T42" fmla="*/ 0 w 559"/>
              <a:gd name="T43" fmla="*/ 99 h 199"/>
              <a:gd name="T44" fmla="*/ 0 w 559"/>
              <a:gd name="T45" fmla="*/ 126 h 199"/>
              <a:gd name="T46" fmla="*/ 3 w 559"/>
              <a:gd name="T47" fmla="*/ 151 h 199"/>
              <a:gd name="T48" fmla="*/ 9 w 559"/>
              <a:gd name="T49" fmla="*/ 175 h 199"/>
              <a:gd name="T50" fmla="*/ 18 w 559"/>
              <a:gd name="T51" fmla="*/ 199 h 199"/>
              <a:gd name="T52" fmla="*/ 18 w 559"/>
              <a:gd name="T53" fmla="*/ 187 h 199"/>
              <a:gd name="T54" fmla="*/ 11 w 559"/>
              <a:gd name="T55" fmla="*/ 162 h 199"/>
              <a:gd name="T56" fmla="*/ 6 w 559"/>
              <a:gd name="T57" fmla="*/ 137 h 199"/>
              <a:gd name="T58" fmla="*/ 5 w 559"/>
              <a:gd name="T59" fmla="*/ 112 h 199"/>
              <a:gd name="T60" fmla="*/ 5 w 559"/>
              <a:gd name="T61" fmla="*/ 91 h 199"/>
              <a:gd name="T62" fmla="*/ 5 w 559"/>
              <a:gd name="T63" fmla="*/ 76 h 199"/>
              <a:gd name="T64" fmla="*/ 6 w 559"/>
              <a:gd name="T65" fmla="*/ 63 h 199"/>
              <a:gd name="T66" fmla="*/ 8 w 559"/>
              <a:gd name="T67" fmla="*/ 48 h 199"/>
              <a:gd name="T68" fmla="*/ 5 w 559"/>
              <a:gd name="T69" fmla="*/ 4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9" h="199">
                <a:moveTo>
                  <a:pt x="559" y="99"/>
                </a:moveTo>
                <a:lnTo>
                  <a:pt x="559" y="86"/>
                </a:lnTo>
                <a:lnTo>
                  <a:pt x="558" y="73"/>
                </a:lnTo>
                <a:lnTo>
                  <a:pt x="556" y="61"/>
                </a:lnTo>
                <a:lnTo>
                  <a:pt x="554" y="48"/>
                </a:lnTo>
                <a:lnTo>
                  <a:pt x="553" y="35"/>
                </a:lnTo>
                <a:lnTo>
                  <a:pt x="549" y="23"/>
                </a:lnTo>
                <a:lnTo>
                  <a:pt x="546" y="11"/>
                </a:lnTo>
                <a:lnTo>
                  <a:pt x="541" y="0"/>
                </a:lnTo>
                <a:lnTo>
                  <a:pt x="536" y="0"/>
                </a:lnTo>
                <a:lnTo>
                  <a:pt x="541" y="11"/>
                </a:lnTo>
                <a:lnTo>
                  <a:pt x="544" y="23"/>
                </a:lnTo>
                <a:lnTo>
                  <a:pt x="548" y="35"/>
                </a:lnTo>
                <a:lnTo>
                  <a:pt x="549" y="48"/>
                </a:lnTo>
                <a:lnTo>
                  <a:pt x="551" y="61"/>
                </a:lnTo>
                <a:lnTo>
                  <a:pt x="553" y="73"/>
                </a:lnTo>
                <a:lnTo>
                  <a:pt x="554" y="86"/>
                </a:lnTo>
                <a:lnTo>
                  <a:pt x="554" y="99"/>
                </a:lnTo>
                <a:lnTo>
                  <a:pt x="554" y="106"/>
                </a:lnTo>
                <a:lnTo>
                  <a:pt x="554" y="112"/>
                </a:lnTo>
                <a:lnTo>
                  <a:pt x="554" y="117"/>
                </a:lnTo>
                <a:lnTo>
                  <a:pt x="553" y="124"/>
                </a:lnTo>
                <a:lnTo>
                  <a:pt x="553" y="131"/>
                </a:lnTo>
                <a:lnTo>
                  <a:pt x="553" y="136"/>
                </a:lnTo>
                <a:lnTo>
                  <a:pt x="551" y="142"/>
                </a:lnTo>
                <a:lnTo>
                  <a:pt x="549" y="149"/>
                </a:lnTo>
                <a:lnTo>
                  <a:pt x="556" y="146"/>
                </a:lnTo>
                <a:lnTo>
                  <a:pt x="556" y="141"/>
                </a:lnTo>
                <a:lnTo>
                  <a:pt x="558" y="134"/>
                </a:lnTo>
                <a:lnTo>
                  <a:pt x="558" y="129"/>
                </a:lnTo>
                <a:lnTo>
                  <a:pt x="558" y="122"/>
                </a:lnTo>
                <a:lnTo>
                  <a:pt x="559" y="117"/>
                </a:lnTo>
                <a:lnTo>
                  <a:pt x="559" y="111"/>
                </a:lnTo>
                <a:lnTo>
                  <a:pt x="559" y="106"/>
                </a:lnTo>
                <a:lnTo>
                  <a:pt x="559" y="99"/>
                </a:lnTo>
                <a:close/>
                <a:moveTo>
                  <a:pt x="5" y="43"/>
                </a:moveTo>
                <a:lnTo>
                  <a:pt x="3" y="50"/>
                </a:lnTo>
                <a:lnTo>
                  <a:pt x="3" y="56"/>
                </a:lnTo>
                <a:lnTo>
                  <a:pt x="1" y="64"/>
                </a:lnTo>
                <a:lnTo>
                  <a:pt x="1" y="71"/>
                </a:lnTo>
                <a:lnTo>
                  <a:pt x="0" y="78"/>
                </a:lnTo>
                <a:lnTo>
                  <a:pt x="0" y="84"/>
                </a:lnTo>
                <a:lnTo>
                  <a:pt x="0" y="93"/>
                </a:lnTo>
                <a:lnTo>
                  <a:pt x="0" y="99"/>
                </a:lnTo>
                <a:lnTo>
                  <a:pt x="0" y="112"/>
                </a:lnTo>
                <a:lnTo>
                  <a:pt x="0" y="126"/>
                </a:lnTo>
                <a:lnTo>
                  <a:pt x="1" y="137"/>
                </a:lnTo>
                <a:lnTo>
                  <a:pt x="3" y="151"/>
                </a:lnTo>
                <a:lnTo>
                  <a:pt x="6" y="162"/>
                </a:lnTo>
                <a:lnTo>
                  <a:pt x="9" y="175"/>
                </a:lnTo>
                <a:lnTo>
                  <a:pt x="13" y="187"/>
                </a:lnTo>
                <a:lnTo>
                  <a:pt x="18" y="199"/>
                </a:lnTo>
                <a:lnTo>
                  <a:pt x="23" y="199"/>
                </a:lnTo>
                <a:lnTo>
                  <a:pt x="18" y="187"/>
                </a:lnTo>
                <a:lnTo>
                  <a:pt x="14" y="175"/>
                </a:lnTo>
                <a:lnTo>
                  <a:pt x="11" y="162"/>
                </a:lnTo>
                <a:lnTo>
                  <a:pt x="8" y="151"/>
                </a:lnTo>
                <a:lnTo>
                  <a:pt x="6" y="137"/>
                </a:lnTo>
                <a:lnTo>
                  <a:pt x="5" y="126"/>
                </a:lnTo>
                <a:lnTo>
                  <a:pt x="5" y="112"/>
                </a:lnTo>
                <a:lnTo>
                  <a:pt x="5" y="99"/>
                </a:lnTo>
                <a:lnTo>
                  <a:pt x="5" y="91"/>
                </a:lnTo>
                <a:lnTo>
                  <a:pt x="5" y="84"/>
                </a:lnTo>
                <a:lnTo>
                  <a:pt x="5" y="76"/>
                </a:lnTo>
                <a:lnTo>
                  <a:pt x="6" y="69"/>
                </a:lnTo>
                <a:lnTo>
                  <a:pt x="6" y="63"/>
                </a:lnTo>
                <a:lnTo>
                  <a:pt x="8" y="54"/>
                </a:lnTo>
                <a:lnTo>
                  <a:pt x="8" y="48"/>
                </a:lnTo>
                <a:lnTo>
                  <a:pt x="9" y="41"/>
                </a:lnTo>
                <a:lnTo>
                  <a:pt x="5" y="43"/>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02" name="Freeform 1307">
            <a:extLst>
              <a:ext uri="{FF2B5EF4-FFF2-40B4-BE49-F238E27FC236}">
                <a16:creationId xmlns:a16="http://schemas.microsoft.com/office/drawing/2014/main" id="{EEA1FD6D-6627-F2D4-3E08-8A51629860D9}"/>
              </a:ext>
            </a:extLst>
          </p:cNvPr>
          <p:cNvSpPr>
            <a:spLocks noEditPoints="1"/>
          </p:cNvSpPr>
          <p:nvPr/>
        </p:nvSpPr>
        <p:spPr bwMode="auto">
          <a:xfrm>
            <a:off x="2473325" y="2403475"/>
            <a:ext cx="884238" cy="315913"/>
          </a:xfrm>
          <a:custGeom>
            <a:avLst/>
            <a:gdLst>
              <a:gd name="T0" fmla="*/ 555 w 557"/>
              <a:gd name="T1" fmla="*/ 86 h 199"/>
              <a:gd name="T2" fmla="*/ 553 w 557"/>
              <a:gd name="T3" fmla="*/ 61 h 199"/>
              <a:gd name="T4" fmla="*/ 548 w 557"/>
              <a:gd name="T5" fmla="*/ 35 h 199"/>
              <a:gd name="T6" fmla="*/ 542 w 557"/>
              <a:gd name="T7" fmla="*/ 11 h 199"/>
              <a:gd name="T8" fmla="*/ 532 w 557"/>
              <a:gd name="T9" fmla="*/ 0 h 199"/>
              <a:gd name="T10" fmla="*/ 540 w 557"/>
              <a:gd name="T11" fmla="*/ 23 h 199"/>
              <a:gd name="T12" fmla="*/ 547 w 557"/>
              <a:gd name="T13" fmla="*/ 48 h 199"/>
              <a:gd name="T14" fmla="*/ 550 w 557"/>
              <a:gd name="T15" fmla="*/ 73 h 199"/>
              <a:gd name="T16" fmla="*/ 552 w 557"/>
              <a:gd name="T17" fmla="*/ 99 h 199"/>
              <a:gd name="T18" fmla="*/ 550 w 557"/>
              <a:gd name="T19" fmla="*/ 112 h 199"/>
              <a:gd name="T20" fmla="*/ 550 w 557"/>
              <a:gd name="T21" fmla="*/ 124 h 199"/>
              <a:gd name="T22" fmla="*/ 548 w 557"/>
              <a:gd name="T23" fmla="*/ 137 h 199"/>
              <a:gd name="T24" fmla="*/ 547 w 557"/>
              <a:gd name="T25" fmla="*/ 151 h 199"/>
              <a:gd name="T26" fmla="*/ 553 w 557"/>
              <a:gd name="T27" fmla="*/ 142 h 199"/>
              <a:gd name="T28" fmla="*/ 555 w 557"/>
              <a:gd name="T29" fmla="*/ 129 h 199"/>
              <a:gd name="T30" fmla="*/ 555 w 557"/>
              <a:gd name="T31" fmla="*/ 117 h 199"/>
              <a:gd name="T32" fmla="*/ 557 w 557"/>
              <a:gd name="T33" fmla="*/ 106 h 199"/>
              <a:gd name="T34" fmla="*/ 7 w 557"/>
              <a:gd name="T35" fmla="*/ 41 h 199"/>
              <a:gd name="T36" fmla="*/ 4 w 557"/>
              <a:gd name="T37" fmla="*/ 56 h 199"/>
              <a:gd name="T38" fmla="*/ 2 w 557"/>
              <a:gd name="T39" fmla="*/ 69 h 199"/>
              <a:gd name="T40" fmla="*/ 0 w 557"/>
              <a:gd name="T41" fmla="*/ 84 h 199"/>
              <a:gd name="T42" fmla="*/ 0 w 557"/>
              <a:gd name="T43" fmla="*/ 99 h 199"/>
              <a:gd name="T44" fmla="*/ 2 w 557"/>
              <a:gd name="T45" fmla="*/ 126 h 199"/>
              <a:gd name="T46" fmla="*/ 5 w 557"/>
              <a:gd name="T47" fmla="*/ 151 h 199"/>
              <a:gd name="T48" fmla="*/ 10 w 557"/>
              <a:gd name="T49" fmla="*/ 175 h 199"/>
              <a:gd name="T50" fmla="*/ 18 w 557"/>
              <a:gd name="T51" fmla="*/ 199 h 199"/>
              <a:gd name="T52" fmla="*/ 20 w 557"/>
              <a:gd name="T53" fmla="*/ 187 h 199"/>
              <a:gd name="T54" fmla="*/ 13 w 557"/>
              <a:gd name="T55" fmla="*/ 162 h 199"/>
              <a:gd name="T56" fmla="*/ 8 w 557"/>
              <a:gd name="T57" fmla="*/ 137 h 199"/>
              <a:gd name="T58" fmla="*/ 5 w 557"/>
              <a:gd name="T59" fmla="*/ 112 h 199"/>
              <a:gd name="T60" fmla="*/ 5 w 557"/>
              <a:gd name="T61" fmla="*/ 91 h 199"/>
              <a:gd name="T62" fmla="*/ 7 w 557"/>
              <a:gd name="T63" fmla="*/ 76 h 199"/>
              <a:gd name="T64" fmla="*/ 8 w 557"/>
              <a:gd name="T65" fmla="*/ 61 h 199"/>
              <a:gd name="T66" fmla="*/ 10 w 557"/>
              <a:gd name="T67" fmla="*/ 46 h 199"/>
              <a:gd name="T68" fmla="*/ 7 w 557"/>
              <a:gd name="T69" fmla="*/ 4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7" h="199">
                <a:moveTo>
                  <a:pt x="557" y="99"/>
                </a:moveTo>
                <a:lnTo>
                  <a:pt x="555" y="86"/>
                </a:lnTo>
                <a:lnTo>
                  <a:pt x="555" y="73"/>
                </a:lnTo>
                <a:lnTo>
                  <a:pt x="553" y="61"/>
                </a:lnTo>
                <a:lnTo>
                  <a:pt x="552" y="48"/>
                </a:lnTo>
                <a:lnTo>
                  <a:pt x="548" y="35"/>
                </a:lnTo>
                <a:lnTo>
                  <a:pt x="545" y="23"/>
                </a:lnTo>
                <a:lnTo>
                  <a:pt x="542" y="11"/>
                </a:lnTo>
                <a:lnTo>
                  <a:pt x="538" y="0"/>
                </a:lnTo>
                <a:lnTo>
                  <a:pt x="532" y="0"/>
                </a:lnTo>
                <a:lnTo>
                  <a:pt x="537" y="11"/>
                </a:lnTo>
                <a:lnTo>
                  <a:pt x="540" y="23"/>
                </a:lnTo>
                <a:lnTo>
                  <a:pt x="543" y="35"/>
                </a:lnTo>
                <a:lnTo>
                  <a:pt x="547" y="48"/>
                </a:lnTo>
                <a:lnTo>
                  <a:pt x="548" y="59"/>
                </a:lnTo>
                <a:lnTo>
                  <a:pt x="550" y="73"/>
                </a:lnTo>
                <a:lnTo>
                  <a:pt x="550" y="86"/>
                </a:lnTo>
                <a:lnTo>
                  <a:pt x="552" y="99"/>
                </a:lnTo>
                <a:lnTo>
                  <a:pt x="552" y="106"/>
                </a:lnTo>
                <a:lnTo>
                  <a:pt x="550" y="112"/>
                </a:lnTo>
                <a:lnTo>
                  <a:pt x="550" y="119"/>
                </a:lnTo>
                <a:lnTo>
                  <a:pt x="550" y="124"/>
                </a:lnTo>
                <a:lnTo>
                  <a:pt x="550" y="131"/>
                </a:lnTo>
                <a:lnTo>
                  <a:pt x="548" y="137"/>
                </a:lnTo>
                <a:lnTo>
                  <a:pt x="547" y="144"/>
                </a:lnTo>
                <a:lnTo>
                  <a:pt x="547" y="151"/>
                </a:lnTo>
                <a:lnTo>
                  <a:pt x="552" y="147"/>
                </a:lnTo>
                <a:lnTo>
                  <a:pt x="553" y="142"/>
                </a:lnTo>
                <a:lnTo>
                  <a:pt x="553" y="136"/>
                </a:lnTo>
                <a:lnTo>
                  <a:pt x="555" y="129"/>
                </a:lnTo>
                <a:lnTo>
                  <a:pt x="555" y="124"/>
                </a:lnTo>
                <a:lnTo>
                  <a:pt x="555" y="117"/>
                </a:lnTo>
                <a:lnTo>
                  <a:pt x="555" y="111"/>
                </a:lnTo>
                <a:lnTo>
                  <a:pt x="557" y="106"/>
                </a:lnTo>
                <a:lnTo>
                  <a:pt x="557" y="99"/>
                </a:lnTo>
                <a:close/>
                <a:moveTo>
                  <a:pt x="7" y="41"/>
                </a:moveTo>
                <a:lnTo>
                  <a:pt x="5" y="50"/>
                </a:lnTo>
                <a:lnTo>
                  <a:pt x="4" y="56"/>
                </a:lnTo>
                <a:lnTo>
                  <a:pt x="4" y="63"/>
                </a:lnTo>
                <a:lnTo>
                  <a:pt x="2" y="69"/>
                </a:lnTo>
                <a:lnTo>
                  <a:pt x="2" y="78"/>
                </a:lnTo>
                <a:lnTo>
                  <a:pt x="0" y="84"/>
                </a:lnTo>
                <a:lnTo>
                  <a:pt x="0" y="91"/>
                </a:lnTo>
                <a:lnTo>
                  <a:pt x="0" y="99"/>
                </a:lnTo>
                <a:lnTo>
                  <a:pt x="0" y="112"/>
                </a:lnTo>
                <a:lnTo>
                  <a:pt x="2" y="126"/>
                </a:lnTo>
                <a:lnTo>
                  <a:pt x="4" y="137"/>
                </a:lnTo>
                <a:lnTo>
                  <a:pt x="5" y="151"/>
                </a:lnTo>
                <a:lnTo>
                  <a:pt x="8" y="162"/>
                </a:lnTo>
                <a:lnTo>
                  <a:pt x="10" y="175"/>
                </a:lnTo>
                <a:lnTo>
                  <a:pt x="15" y="187"/>
                </a:lnTo>
                <a:lnTo>
                  <a:pt x="18" y="199"/>
                </a:lnTo>
                <a:lnTo>
                  <a:pt x="23" y="199"/>
                </a:lnTo>
                <a:lnTo>
                  <a:pt x="20" y="187"/>
                </a:lnTo>
                <a:lnTo>
                  <a:pt x="15" y="175"/>
                </a:lnTo>
                <a:lnTo>
                  <a:pt x="13" y="162"/>
                </a:lnTo>
                <a:lnTo>
                  <a:pt x="10" y="151"/>
                </a:lnTo>
                <a:lnTo>
                  <a:pt x="8" y="137"/>
                </a:lnTo>
                <a:lnTo>
                  <a:pt x="7" y="126"/>
                </a:lnTo>
                <a:lnTo>
                  <a:pt x="5" y="112"/>
                </a:lnTo>
                <a:lnTo>
                  <a:pt x="5" y="99"/>
                </a:lnTo>
                <a:lnTo>
                  <a:pt x="5" y="91"/>
                </a:lnTo>
                <a:lnTo>
                  <a:pt x="5" y="84"/>
                </a:lnTo>
                <a:lnTo>
                  <a:pt x="7" y="76"/>
                </a:lnTo>
                <a:lnTo>
                  <a:pt x="7" y="69"/>
                </a:lnTo>
                <a:lnTo>
                  <a:pt x="8" y="61"/>
                </a:lnTo>
                <a:lnTo>
                  <a:pt x="8" y="54"/>
                </a:lnTo>
                <a:lnTo>
                  <a:pt x="10" y="46"/>
                </a:lnTo>
                <a:lnTo>
                  <a:pt x="12" y="40"/>
                </a:lnTo>
                <a:lnTo>
                  <a:pt x="7" y="41"/>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03" name="Freeform 1308">
            <a:extLst>
              <a:ext uri="{FF2B5EF4-FFF2-40B4-BE49-F238E27FC236}">
                <a16:creationId xmlns:a16="http://schemas.microsoft.com/office/drawing/2014/main" id="{9884E4C9-40B1-494F-4E10-4188B697C009}"/>
              </a:ext>
            </a:extLst>
          </p:cNvPr>
          <p:cNvSpPr>
            <a:spLocks noEditPoints="1"/>
          </p:cNvSpPr>
          <p:nvPr/>
        </p:nvSpPr>
        <p:spPr bwMode="auto">
          <a:xfrm>
            <a:off x="2479675" y="2403475"/>
            <a:ext cx="871538" cy="315913"/>
          </a:xfrm>
          <a:custGeom>
            <a:avLst/>
            <a:gdLst>
              <a:gd name="T0" fmla="*/ 549 w 549"/>
              <a:gd name="T1" fmla="*/ 86 h 199"/>
              <a:gd name="T2" fmla="*/ 546 w 549"/>
              <a:gd name="T3" fmla="*/ 61 h 199"/>
              <a:gd name="T4" fmla="*/ 543 w 549"/>
              <a:gd name="T5" fmla="*/ 35 h 199"/>
              <a:gd name="T6" fmla="*/ 536 w 549"/>
              <a:gd name="T7" fmla="*/ 11 h 199"/>
              <a:gd name="T8" fmla="*/ 526 w 549"/>
              <a:gd name="T9" fmla="*/ 0 h 199"/>
              <a:gd name="T10" fmla="*/ 534 w 549"/>
              <a:gd name="T11" fmla="*/ 23 h 199"/>
              <a:gd name="T12" fmla="*/ 539 w 549"/>
              <a:gd name="T13" fmla="*/ 48 h 199"/>
              <a:gd name="T14" fmla="*/ 543 w 549"/>
              <a:gd name="T15" fmla="*/ 73 h 199"/>
              <a:gd name="T16" fmla="*/ 544 w 549"/>
              <a:gd name="T17" fmla="*/ 99 h 199"/>
              <a:gd name="T18" fmla="*/ 544 w 549"/>
              <a:gd name="T19" fmla="*/ 112 h 199"/>
              <a:gd name="T20" fmla="*/ 543 w 549"/>
              <a:gd name="T21" fmla="*/ 126 h 199"/>
              <a:gd name="T22" fmla="*/ 543 w 549"/>
              <a:gd name="T23" fmla="*/ 139 h 199"/>
              <a:gd name="T24" fmla="*/ 539 w 549"/>
              <a:gd name="T25" fmla="*/ 151 h 199"/>
              <a:gd name="T26" fmla="*/ 546 w 549"/>
              <a:gd name="T27" fmla="*/ 142 h 199"/>
              <a:gd name="T28" fmla="*/ 548 w 549"/>
              <a:gd name="T29" fmla="*/ 131 h 199"/>
              <a:gd name="T30" fmla="*/ 549 w 549"/>
              <a:gd name="T31" fmla="*/ 117 h 199"/>
              <a:gd name="T32" fmla="*/ 549 w 549"/>
              <a:gd name="T33" fmla="*/ 106 h 199"/>
              <a:gd name="T34" fmla="*/ 4 w 549"/>
              <a:gd name="T35" fmla="*/ 41 h 199"/>
              <a:gd name="T36" fmla="*/ 3 w 549"/>
              <a:gd name="T37" fmla="*/ 54 h 199"/>
              <a:gd name="T38" fmla="*/ 1 w 549"/>
              <a:gd name="T39" fmla="*/ 69 h 199"/>
              <a:gd name="T40" fmla="*/ 0 w 549"/>
              <a:gd name="T41" fmla="*/ 84 h 199"/>
              <a:gd name="T42" fmla="*/ 0 w 549"/>
              <a:gd name="T43" fmla="*/ 99 h 199"/>
              <a:gd name="T44" fmla="*/ 0 w 549"/>
              <a:gd name="T45" fmla="*/ 126 h 199"/>
              <a:gd name="T46" fmla="*/ 3 w 549"/>
              <a:gd name="T47" fmla="*/ 151 h 199"/>
              <a:gd name="T48" fmla="*/ 9 w 549"/>
              <a:gd name="T49" fmla="*/ 175 h 199"/>
              <a:gd name="T50" fmla="*/ 18 w 549"/>
              <a:gd name="T51" fmla="*/ 199 h 199"/>
              <a:gd name="T52" fmla="*/ 18 w 549"/>
              <a:gd name="T53" fmla="*/ 187 h 199"/>
              <a:gd name="T54" fmla="*/ 11 w 549"/>
              <a:gd name="T55" fmla="*/ 162 h 199"/>
              <a:gd name="T56" fmla="*/ 6 w 549"/>
              <a:gd name="T57" fmla="*/ 137 h 199"/>
              <a:gd name="T58" fmla="*/ 4 w 549"/>
              <a:gd name="T59" fmla="*/ 112 h 199"/>
              <a:gd name="T60" fmla="*/ 4 w 549"/>
              <a:gd name="T61" fmla="*/ 91 h 199"/>
              <a:gd name="T62" fmla="*/ 4 w 549"/>
              <a:gd name="T63" fmla="*/ 76 h 199"/>
              <a:gd name="T64" fmla="*/ 6 w 549"/>
              <a:gd name="T65" fmla="*/ 61 h 199"/>
              <a:gd name="T66" fmla="*/ 9 w 549"/>
              <a:gd name="T67" fmla="*/ 46 h 199"/>
              <a:gd name="T68" fmla="*/ 4 w 549"/>
              <a:gd name="T69" fmla="*/ 4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9" h="199">
                <a:moveTo>
                  <a:pt x="549" y="99"/>
                </a:moveTo>
                <a:lnTo>
                  <a:pt x="549" y="86"/>
                </a:lnTo>
                <a:lnTo>
                  <a:pt x="548" y="73"/>
                </a:lnTo>
                <a:lnTo>
                  <a:pt x="546" y="61"/>
                </a:lnTo>
                <a:lnTo>
                  <a:pt x="544" y="48"/>
                </a:lnTo>
                <a:lnTo>
                  <a:pt x="543" y="35"/>
                </a:lnTo>
                <a:lnTo>
                  <a:pt x="539" y="23"/>
                </a:lnTo>
                <a:lnTo>
                  <a:pt x="536" y="11"/>
                </a:lnTo>
                <a:lnTo>
                  <a:pt x="531" y="0"/>
                </a:lnTo>
                <a:lnTo>
                  <a:pt x="526" y="0"/>
                </a:lnTo>
                <a:lnTo>
                  <a:pt x="529" y="11"/>
                </a:lnTo>
                <a:lnTo>
                  <a:pt x="534" y="23"/>
                </a:lnTo>
                <a:lnTo>
                  <a:pt x="538" y="35"/>
                </a:lnTo>
                <a:lnTo>
                  <a:pt x="539" y="48"/>
                </a:lnTo>
                <a:lnTo>
                  <a:pt x="543" y="59"/>
                </a:lnTo>
                <a:lnTo>
                  <a:pt x="543" y="73"/>
                </a:lnTo>
                <a:lnTo>
                  <a:pt x="544" y="86"/>
                </a:lnTo>
                <a:lnTo>
                  <a:pt x="544" y="99"/>
                </a:lnTo>
                <a:lnTo>
                  <a:pt x="544" y="106"/>
                </a:lnTo>
                <a:lnTo>
                  <a:pt x="544" y="112"/>
                </a:lnTo>
                <a:lnTo>
                  <a:pt x="544" y="119"/>
                </a:lnTo>
                <a:lnTo>
                  <a:pt x="543" y="126"/>
                </a:lnTo>
                <a:lnTo>
                  <a:pt x="543" y="132"/>
                </a:lnTo>
                <a:lnTo>
                  <a:pt x="543" y="139"/>
                </a:lnTo>
                <a:lnTo>
                  <a:pt x="541" y="144"/>
                </a:lnTo>
                <a:lnTo>
                  <a:pt x="539" y="151"/>
                </a:lnTo>
                <a:lnTo>
                  <a:pt x="544" y="149"/>
                </a:lnTo>
                <a:lnTo>
                  <a:pt x="546" y="142"/>
                </a:lnTo>
                <a:lnTo>
                  <a:pt x="548" y="136"/>
                </a:lnTo>
                <a:lnTo>
                  <a:pt x="548" y="131"/>
                </a:lnTo>
                <a:lnTo>
                  <a:pt x="548" y="124"/>
                </a:lnTo>
                <a:lnTo>
                  <a:pt x="549" y="117"/>
                </a:lnTo>
                <a:lnTo>
                  <a:pt x="549" y="112"/>
                </a:lnTo>
                <a:lnTo>
                  <a:pt x="549" y="106"/>
                </a:lnTo>
                <a:lnTo>
                  <a:pt x="549" y="99"/>
                </a:lnTo>
                <a:close/>
                <a:moveTo>
                  <a:pt x="4" y="41"/>
                </a:moveTo>
                <a:lnTo>
                  <a:pt x="3" y="48"/>
                </a:lnTo>
                <a:lnTo>
                  <a:pt x="3" y="54"/>
                </a:lnTo>
                <a:lnTo>
                  <a:pt x="1" y="63"/>
                </a:lnTo>
                <a:lnTo>
                  <a:pt x="1" y="69"/>
                </a:lnTo>
                <a:lnTo>
                  <a:pt x="0" y="76"/>
                </a:lnTo>
                <a:lnTo>
                  <a:pt x="0" y="84"/>
                </a:lnTo>
                <a:lnTo>
                  <a:pt x="0" y="91"/>
                </a:lnTo>
                <a:lnTo>
                  <a:pt x="0" y="99"/>
                </a:lnTo>
                <a:lnTo>
                  <a:pt x="0" y="112"/>
                </a:lnTo>
                <a:lnTo>
                  <a:pt x="0" y="126"/>
                </a:lnTo>
                <a:lnTo>
                  <a:pt x="1" y="137"/>
                </a:lnTo>
                <a:lnTo>
                  <a:pt x="3" y="151"/>
                </a:lnTo>
                <a:lnTo>
                  <a:pt x="6" y="162"/>
                </a:lnTo>
                <a:lnTo>
                  <a:pt x="9" y="175"/>
                </a:lnTo>
                <a:lnTo>
                  <a:pt x="13" y="187"/>
                </a:lnTo>
                <a:lnTo>
                  <a:pt x="18" y="199"/>
                </a:lnTo>
                <a:lnTo>
                  <a:pt x="23" y="199"/>
                </a:lnTo>
                <a:lnTo>
                  <a:pt x="18" y="187"/>
                </a:lnTo>
                <a:lnTo>
                  <a:pt x="14" y="175"/>
                </a:lnTo>
                <a:lnTo>
                  <a:pt x="11" y="162"/>
                </a:lnTo>
                <a:lnTo>
                  <a:pt x="8" y="151"/>
                </a:lnTo>
                <a:lnTo>
                  <a:pt x="6" y="137"/>
                </a:lnTo>
                <a:lnTo>
                  <a:pt x="4" y="126"/>
                </a:lnTo>
                <a:lnTo>
                  <a:pt x="4" y="112"/>
                </a:lnTo>
                <a:lnTo>
                  <a:pt x="3" y="99"/>
                </a:lnTo>
                <a:lnTo>
                  <a:pt x="4" y="91"/>
                </a:lnTo>
                <a:lnTo>
                  <a:pt x="4" y="83"/>
                </a:lnTo>
                <a:lnTo>
                  <a:pt x="4" y="76"/>
                </a:lnTo>
                <a:lnTo>
                  <a:pt x="6" y="68"/>
                </a:lnTo>
                <a:lnTo>
                  <a:pt x="6" y="61"/>
                </a:lnTo>
                <a:lnTo>
                  <a:pt x="8" y="53"/>
                </a:lnTo>
                <a:lnTo>
                  <a:pt x="9" y="46"/>
                </a:lnTo>
                <a:lnTo>
                  <a:pt x="11" y="38"/>
                </a:lnTo>
                <a:lnTo>
                  <a:pt x="4" y="41"/>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04" name="Freeform 1309">
            <a:extLst>
              <a:ext uri="{FF2B5EF4-FFF2-40B4-BE49-F238E27FC236}">
                <a16:creationId xmlns:a16="http://schemas.microsoft.com/office/drawing/2014/main" id="{0C75D9DA-2455-2CBD-D165-5B1B7CBF4AF9}"/>
              </a:ext>
            </a:extLst>
          </p:cNvPr>
          <p:cNvSpPr>
            <a:spLocks noEditPoints="1"/>
          </p:cNvSpPr>
          <p:nvPr/>
        </p:nvSpPr>
        <p:spPr bwMode="auto">
          <a:xfrm>
            <a:off x="2481263" y="2403475"/>
            <a:ext cx="868363" cy="315913"/>
          </a:xfrm>
          <a:custGeom>
            <a:avLst/>
            <a:gdLst>
              <a:gd name="T0" fmla="*/ 545 w 547"/>
              <a:gd name="T1" fmla="*/ 86 h 199"/>
              <a:gd name="T2" fmla="*/ 543 w 547"/>
              <a:gd name="T3" fmla="*/ 59 h 199"/>
              <a:gd name="T4" fmla="*/ 538 w 547"/>
              <a:gd name="T5" fmla="*/ 35 h 199"/>
              <a:gd name="T6" fmla="*/ 532 w 547"/>
              <a:gd name="T7" fmla="*/ 11 h 199"/>
              <a:gd name="T8" fmla="*/ 522 w 547"/>
              <a:gd name="T9" fmla="*/ 0 h 199"/>
              <a:gd name="T10" fmla="*/ 530 w 547"/>
              <a:gd name="T11" fmla="*/ 23 h 199"/>
              <a:gd name="T12" fmla="*/ 537 w 547"/>
              <a:gd name="T13" fmla="*/ 48 h 199"/>
              <a:gd name="T14" fmla="*/ 540 w 547"/>
              <a:gd name="T15" fmla="*/ 73 h 199"/>
              <a:gd name="T16" fmla="*/ 542 w 547"/>
              <a:gd name="T17" fmla="*/ 99 h 199"/>
              <a:gd name="T18" fmla="*/ 542 w 547"/>
              <a:gd name="T19" fmla="*/ 112 h 199"/>
              <a:gd name="T20" fmla="*/ 540 w 547"/>
              <a:gd name="T21" fmla="*/ 126 h 199"/>
              <a:gd name="T22" fmla="*/ 538 w 547"/>
              <a:gd name="T23" fmla="*/ 139 h 199"/>
              <a:gd name="T24" fmla="*/ 537 w 547"/>
              <a:gd name="T25" fmla="*/ 152 h 199"/>
              <a:gd name="T26" fmla="*/ 542 w 547"/>
              <a:gd name="T27" fmla="*/ 144 h 199"/>
              <a:gd name="T28" fmla="*/ 545 w 547"/>
              <a:gd name="T29" fmla="*/ 131 h 199"/>
              <a:gd name="T30" fmla="*/ 545 w 547"/>
              <a:gd name="T31" fmla="*/ 119 h 199"/>
              <a:gd name="T32" fmla="*/ 547 w 547"/>
              <a:gd name="T33" fmla="*/ 106 h 199"/>
              <a:gd name="T34" fmla="*/ 7 w 547"/>
              <a:gd name="T35" fmla="*/ 40 h 199"/>
              <a:gd name="T36" fmla="*/ 3 w 547"/>
              <a:gd name="T37" fmla="*/ 54 h 199"/>
              <a:gd name="T38" fmla="*/ 2 w 547"/>
              <a:gd name="T39" fmla="*/ 69 h 199"/>
              <a:gd name="T40" fmla="*/ 0 w 547"/>
              <a:gd name="T41" fmla="*/ 84 h 199"/>
              <a:gd name="T42" fmla="*/ 0 w 547"/>
              <a:gd name="T43" fmla="*/ 99 h 199"/>
              <a:gd name="T44" fmla="*/ 2 w 547"/>
              <a:gd name="T45" fmla="*/ 126 h 199"/>
              <a:gd name="T46" fmla="*/ 5 w 547"/>
              <a:gd name="T47" fmla="*/ 151 h 199"/>
              <a:gd name="T48" fmla="*/ 10 w 547"/>
              <a:gd name="T49" fmla="*/ 175 h 199"/>
              <a:gd name="T50" fmla="*/ 18 w 547"/>
              <a:gd name="T51" fmla="*/ 199 h 199"/>
              <a:gd name="T52" fmla="*/ 20 w 547"/>
              <a:gd name="T53" fmla="*/ 187 h 199"/>
              <a:gd name="T54" fmla="*/ 12 w 547"/>
              <a:gd name="T55" fmla="*/ 162 h 199"/>
              <a:gd name="T56" fmla="*/ 8 w 547"/>
              <a:gd name="T57" fmla="*/ 137 h 199"/>
              <a:gd name="T58" fmla="*/ 5 w 547"/>
              <a:gd name="T59" fmla="*/ 112 h 199"/>
              <a:gd name="T60" fmla="*/ 5 w 547"/>
              <a:gd name="T61" fmla="*/ 91 h 199"/>
              <a:gd name="T62" fmla="*/ 7 w 547"/>
              <a:gd name="T63" fmla="*/ 76 h 199"/>
              <a:gd name="T64" fmla="*/ 8 w 547"/>
              <a:gd name="T65" fmla="*/ 59 h 199"/>
              <a:gd name="T66" fmla="*/ 10 w 547"/>
              <a:gd name="T67" fmla="*/ 45 h 199"/>
              <a:gd name="T68" fmla="*/ 7 w 547"/>
              <a:gd name="T69" fmla="*/ 4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7" h="199">
                <a:moveTo>
                  <a:pt x="547" y="99"/>
                </a:moveTo>
                <a:lnTo>
                  <a:pt x="545" y="86"/>
                </a:lnTo>
                <a:lnTo>
                  <a:pt x="545" y="73"/>
                </a:lnTo>
                <a:lnTo>
                  <a:pt x="543" y="59"/>
                </a:lnTo>
                <a:lnTo>
                  <a:pt x="542" y="48"/>
                </a:lnTo>
                <a:lnTo>
                  <a:pt x="538" y="35"/>
                </a:lnTo>
                <a:lnTo>
                  <a:pt x="535" y="23"/>
                </a:lnTo>
                <a:lnTo>
                  <a:pt x="532" y="11"/>
                </a:lnTo>
                <a:lnTo>
                  <a:pt x="527" y="0"/>
                </a:lnTo>
                <a:lnTo>
                  <a:pt x="522" y="0"/>
                </a:lnTo>
                <a:lnTo>
                  <a:pt x="527" y="11"/>
                </a:lnTo>
                <a:lnTo>
                  <a:pt x="530" y="23"/>
                </a:lnTo>
                <a:lnTo>
                  <a:pt x="533" y="35"/>
                </a:lnTo>
                <a:lnTo>
                  <a:pt x="537" y="48"/>
                </a:lnTo>
                <a:lnTo>
                  <a:pt x="538" y="59"/>
                </a:lnTo>
                <a:lnTo>
                  <a:pt x="540" y="73"/>
                </a:lnTo>
                <a:lnTo>
                  <a:pt x="542" y="86"/>
                </a:lnTo>
                <a:lnTo>
                  <a:pt x="542" y="99"/>
                </a:lnTo>
                <a:lnTo>
                  <a:pt x="542" y="106"/>
                </a:lnTo>
                <a:lnTo>
                  <a:pt x="542" y="112"/>
                </a:lnTo>
                <a:lnTo>
                  <a:pt x="540" y="119"/>
                </a:lnTo>
                <a:lnTo>
                  <a:pt x="540" y="126"/>
                </a:lnTo>
                <a:lnTo>
                  <a:pt x="540" y="132"/>
                </a:lnTo>
                <a:lnTo>
                  <a:pt x="538" y="139"/>
                </a:lnTo>
                <a:lnTo>
                  <a:pt x="537" y="146"/>
                </a:lnTo>
                <a:lnTo>
                  <a:pt x="537" y="152"/>
                </a:lnTo>
                <a:lnTo>
                  <a:pt x="542" y="151"/>
                </a:lnTo>
                <a:lnTo>
                  <a:pt x="542" y="144"/>
                </a:lnTo>
                <a:lnTo>
                  <a:pt x="543" y="137"/>
                </a:lnTo>
                <a:lnTo>
                  <a:pt x="545" y="131"/>
                </a:lnTo>
                <a:lnTo>
                  <a:pt x="545" y="124"/>
                </a:lnTo>
                <a:lnTo>
                  <a:pt x="545" y="119"/>
                </a:lnTo>
                <a:lnTo>
                  <a:pt x="545" y="112"/>
                </a:lnTo>
                <a:lnTo>
                  <a:pt x="547" y="106"/>
                </a:lnTo>
                <a:lnTo>
                  <a:pt x="547" y="99"/>
                </a:lnTo>
                <a:close/>
                <a:moveTo>
                  <a:pt x="7" y="40"/>
                </a:moveTo>
                <a:lnTo>
                  <a:pt x="5" y="46"/>
                </a:lnTo>
                <a:lnTo>
                  <a:pt x="3" y="54"/>
                </a:lnTo>
                <a:lnTo>
                  <a:pt x="3" y="61"/>
                </a:lnTo>
                <a:lnTo>
                  <a:pt x="2" y="69"/>
                </a:lnTo>
                <a:lnTo>
                  <a:pt x="2" y="76"/>
                </a:lnTo>
                <a:lnTo>
                  <a:pt x="0" y="84"/>
                </a:lnTo>
                <a:lnTo>
                  <a:pt x="0" y="91"/>
                </a:lnTo>
                <a:lnTo>
                  <a:pt x="0" y="99"/>
                </a:lnTo>
                <a:lnTo>
                  <a:pt x="0" y="112"/>
                </a:lnTo>
                <a:lnTo>
                  <a:pt x="2" y="126"/>
                </a:lnTo>
                <a:lnTo>
                  <a:pt x="3" y="137"/>
                </a:lnTo>
                <a:lnTo>
                  <a:pt x="5" y="151"/>
                </a:lnTo>
                <a:lnTo>
                  <a:pt x="8" y="162"/>
                </a:lnTo>
                <a:lnTo>
                  <a:pt x="10" y="175"/>
                </a:lnTo>
                <a:lnTo>
                  <a:pt x="15" y="187"/>
                </a:lnTo>
                <a:lnTo>
                  <a:pt x="18" y="199"/>
                </a:lnTo>
                <a:lnTo>
                  <a:pt x="23" y="199"/>
                </a:lnTo>
                <a:lnTo>
                  <a:pt x="20" y="187"/>
                </a:lnTo>
                <a:lnTo>
                  <a:pt x="15" y="175"/>
                </a:lnTo>
                <a:lnTo>
                  <a:pt x="12" y="162"/>
                </a:lnTo>
                <a:lnTo>
                  <a:pt x="10" y="151"/>
                </a:lnTo>
                <a:lnTo>
                  <a:pt x="8" y="137"/>
                </a:lnTo>
                <a:lnTo>
                  <a:pt x="7" y="126"/>
                </a:lnTo>
                <a:lnTo>
                  <a:pt x="5" y="112"/>
                </a:lnTo>
                <a:lnTo>
                  <a:pt x="5" y="99"/>
                </a:lnTo>
                <a:lnTo>
                  <a:pt x="5" y="91"/>
                </a:lnTo>
                <a:lnTo>
                  <a:pt x="5" y="83"/>
                </a:lnTo>
                <a:lnTo>
                  <a:pt x="7" y="76"/>
                </a:lnTo>
                <a:lnTo>
                  <a:pt x="7" y="68"/>
                </a:lnTo>
                <a:lnTo>
                  <a:pt x="8" y="59"/>
                </a:lnTo>
                <a:lnTo>
                  <a:pt x="8" y="51"/>
                </a:lnTo>
                <a:lnTo>
                  <a:pt x="10" y="45"/>
                </a:lnTo>
                <a:lnTo>
                  <a:pt x="12" y="36"/>
                </a:lnTo>
                <a:lnTo>
                  <a:pt x="7" y="4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05" name="Freeform 1310">
            <a:extLst>
              <a:ext uri="{FF2B5EF4-FFF2-40B4-BE49-F238E27FC236}">
                <a16:creationId xmlns:a16="http://schemas.microsoft.com/office/drawing/2014/main" id="{E495268F-B9A5-F62C-2D61-9EE766972EF0}"/>
              </a:ext>
            </a:extLst>
          </p:cNvPr>
          <p:cNvSpPr>
            <a:spLocks noEditPoints="1"/>
          </p:cNvSpPr>
          <p:nvPr/>
        </p:nvSpPr>
        <p:spPr bwMode="auto">
          <a:xfrm>
            <a:off x="2484438" y="2403475"/>
            <a:ext cx="858838" cy="315913"/>
          </a:xfrm>
          <a:custGeom>
            <a:avLst/>
            <a:gdLst>
              <a:gd name="T0" fmla="*/ 541 w 541"/>
              <a:gd name="T1" fmla="*/ 86 h 199"/>
              <a:gd name="T2" fmla="*/ 540 w 541"/>
              <a:gd name="T3" fmla="*/ 59 h 199"/>
              <a:gd name="T4" fmla="*/ 535 w 541"/>
              <a:gd name="T5" fmla="*/ 35 h 199"/>
              <a:gd name="T6" fmla="*/ 526 w 541"/>
              <a:gd name="T7" fmla="*/ 11 h 199"/>
              <a:gd name="T8" fmla="*/ 518 w 541"/>
              <a:gd name="T9" fmla="*/ 0 h 199"/>
              <a:gd name="T10" fmla="*/ 526 w 541"/>
              <a:gd name="T11" fmla="*/ 23 h 199"/>
              <a:gd name="T12" fmla="*/ 531 w 541"/>
              <a:gd name="T13" fmla="*/ 48 h 199"/>
              <a:gd name="T14" fmla="*/ 536 w 541"/>
              <a:gd name="T15" fmla="*/ 73 h 199"/>
              <a:gd name="T16" fmla="*/ 536 w 541"/>
              <a:gd name="T17" fmla="*/ 99 h 199"/>
              <a:gd name="T18" fmla="*/ 536 w 541"/>
              <a:gd name="T19" fmla="*/ 112 h 199"/>
              <a:gd name="T20" fmla="*/ 535 w 541"/>
              <a:gd name="T21" fmla="*/ 127 h 199"/>
              <a:gd name="T22" fmla="*/ 533 w 541"/>
              <a:gd name="T23" fmla="*/ 141 h 199"/>
              <a:gd name="T24" fmla="*/ 531 w 541"/>
              <a:gd name="T25" fmla="*/ 154 h 199"/>
              <a:gd name="T26" fmla="*/ 538 w 541"/>
              <a:gd name="T27" fmla="*/ 144 h 199"/>
              <a:gd name="T28" fmla="*/ 540 w 541"/>
              <a:gd name="T29" fmla="*/ 132 h 199"/>
              <a:gd name="T30" fmla="*/ 541 w 541"/>
              <a:gd name="T31" fmla="*/ 119 h 199"/>
              <a:gd name="T32" fmla="*/ 541 w 541"/>
              <a:gd name="T33" fmla="*/ 106 h 199"/>
              <a:gd name="T34" fmla="*/ 8 w 541"/>
              <a:gd name="T35" fmla="*/ 38 h 199"/>
              <a:gd name="T36" fmla="*/ 5 w 541"/>
              <a:gd name="T37" fmla="*/ 53 h 199"/>
              <a:gd name="T38" fmla="*/ 3 w 541"/>
              <a:gd name="T39" fmla="*/ 68 h 199"/>
              <a:gd name="T40" fmla="*/ 1 w 541"/>
              <a:gd name="T41" fmla="*/ 83 h 199"/>
              <a:gd name="T42" fmla="*/ 0 w 541"/>
              <a:gd name="T43" fmla="*/ 99 h 199"/>
              <a:gd name="T44" fmla="*/ 1 w 541"/>
              <a:gd name="T45" fmla="*/ 126 h 199"/>
              <a:gd name="T46" fmla="*/ 5 w 541"/>
              <a:gd name="T47" fmla="*/ 151 h 199"/>
              <a:gd name="T48" fmla="*/ 11 w 541"/>
              <a:gd name="T49" fmla="*/ 175 h 199"/>
              <a:gd name="T50" fmla="*/ 20 w 541"/>
              <a:gd name="T51" fmla="*/ 199 h 199"/>
              <a:gd name="T52" fmla="*/ 20 w 541"/>
              <a:gd name="T53" fmla="*/ 187 h 199"/>
              <a:gd name="T54" fmla="*/ 13 w 541"/>
              <a:gd name="T55" fmla="*/ 162 h 199"/>
              <a:gd name="T56" fmla="*/ 8 w 541"/>
              <a:gd name="T57" fmla="*/ 137 h 199"/>
              <a:gd name="T58" fmla="*/ 6 w 541"/>
              <a:gd name="T59" fmla="*/ 112 h 199"/>
              <a:gd name="T60" fmla="*/ 5 w 541"/>
              <a:gd name="T61" fmla="*/ 91 h 199"/>
              <a:gd name="T62" fmla="*/ 6 w 541"/>
              <a:gd name="T63" fmla="*/ 74 h 199"/>
              <a:gd name="T64" fmla="*/ 8 w 541"/>
              <a:gd name="T65" fmla="*/ 59 h 199"/>
              <a:gd name="T66" fmla="*/ 11 w 541"/>
              <a:gd name="T67" fmla="*/ 43 h 199"/>
              <a:gd name="T68" fmla="*/ 8 w 541"/>
              <a:gd name="T69" fmla="*/ 3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1" h="199">
                <a:moveTo>
                  <a:pt x="541" y="99"/>
                </a:moveTo>
                <a:lnTo>
                  <a:pt x="541" y="86"/>
                </a:lnTo>
                <a:lnTo>
                  <a:pt x="540" y="73"/>
                </a:lnTo>
                <a:lnTo>
                  <a:pt x="540" y="59"/>
                </a:lnTo>
                <a:lnTo>
                  <a:pt x="536" y="48"/>
                </a:lnTo>
                <a:lnTo>
                  <a:pt x="535" y="35"/>
                </a:lnTo>
                <a:lnTo>
                  <a:pt x="531" y="23"/>
                </a:lnTo>
                <a:lnTo>
                  <a:pt x="526" y="11"/>
                </a:lnTo>
                <a:lnTo>
                  <a:pt x="523" y="0"/>
                </a:lnTo>
                <a:lnTo>
                  <a:pt x="518" y="0"/>
                </a:lnTo>
                <a:lnTo>
                  <a:pt x="521" y="11"/>
                </a:lnTo>
                <a:lnTo>
                  <a:pt x="526" y="23"/>
                </a:lnTo>
                <a:lnTo>
                  <a:pt x="530" y="35"/>
                </a:lnTo>
                <a:lnTo>
                  <a:pt x="531" y="48"/>
                </a:lnTo>
                <a:lnTo>
                  <a:pt x="535" y="59"/>
                </a:lnTo>
                <a:lnTo>
                  <a:pt x="536" y="73"/>
                </a:lnTo>
                <a:lnTo>
                  <a:pt x="536" y="86"/>
                </a:lnTo>
                <a:lnTo>
                  <a:pt x="536" y="99"/>
                </a:lnTo>
                <a:lnTo>
                  <a:pt x="536" y="106"/>
                </a:lnTo>
                <a:lnTo>
                  <a:pt x="536" y="112"/>
                </a:lnTo>
                <a:lnTo>
                  <a:pt x="536" y="119"/>
                </a:lnTo>
                <a:lnTo>
                  <a:pt x="535" y="127"/>
                </a:lnTo>
                <a:lnTo>
                  <a:pt x="535" y="134"/>
                </a:lnTo>
                <a:lnTo>
                  <a:pt x="533" y="141"/>
                </a:lnTo>
                <a:lnTo>
                  <a:pt x="533" y="147"/>
                </a:lnTo>
                <a:lnTo>
                  <a:pt x="531" y="154"/>
                </a:lnTo>
                <a:lnTo>
                  <a:pt x="536" y="151"/>
                </a:lnTo>
                <a:lnTo>
                  <a:pt x="538" y="144"/>
                </a:lnTo>
                <a:lnTo>
                  <a:pt x="540" y="139"/>
                </a:lnTo>
                <a:lnTo>
                  <a:pt x="540" y="132"/>
                </a:lnTo>
                <a:lnTo>
                  <a:pt x="540" y="126"/>
                </a:lnTo>
                <a:lnTo>
                  <a:pt x="541" y="119"/>
                </a:lnTo>
                <a:lnTo>
                  <a:pt x="541" y="112"/>
                </a:lnTo>
                <a:lnTo>
                  <a:pt x="541" y="106"/>
                </a:lnTo>
                <a:lnTo>
                  <a:pt x="541" y="99"/>
                </a:lnTo>
                <a:close/>
                <a:moveTo>
                  <a:pt x="8" y="38"/>
                </a:moveTo>
                <a:lnTo>
                  <a:pt x="6" y="46"/>
                </a:lnTo>
                <a:lnTo>
                  <a:pt x="5" y="53"/>
                </a:lnTo>
                <a:lnTo>
                  <a:pt x="3" y="61"/>
                </a:lnTo>
                <a:lnTo>
                  <a:pt x="3" y="68"/>
                </a:lnTo>
                <a:lnTo>
                  <a:pt x="1" y="76"/>
                </a:lnTo>
                <a:lnTo>
                  <a:pt x="1" y="83"/>
                </a:lnTo>
                <a:lnTo>
                  <a:pt x="1" y="91"/>
                </a:lnTo>
                <a:lnTo>
                  <a:pt x="0" y="99"/>
                </a:lnTo>
                <a:lnTo>
                  <a:pt x="1" y="112"/>
                </a:lnTo>
                <a:lnTo>
                  <a:pt x="1" y="126"/>
                </a:lnTo>
                <a:lnTo>
                  <a:pt x="3" y="137"/>
                </a:lnTo>
                <a:lnTo>
                  <a:pt x="5" y="151"/>
                </a:lnTo>
                <a:lnTo>
                  <a:pt x="8" y="162"/>
                </a:lnTo>
                <a:lnTo>
                  <a:pt x="11" y="175"/>
                </a:lnTo>
                <a:lnTo>
                  <a:pt x="15" y="187"/>
                </a:lnTo>
                <a:lnTo>
                  <a:pt x="20" y="199"/>
                </a:lnTo>
                <a:lnTo>
                  <a:pt x="25" y="199"/>
                </a:lnTo>
                <a:lnTo>
                  <a:pt x="20" y="187"/>
                </a:lnTo>
                <a:lnTo>
                  <a:pt x="16" y="175"/>
                </a:lnTo>
                <a:lnTo>
                  <a:pt x="13" y="162"/>
                </a:lnTo>
                <a:lnTo>
                  <a:pt x="10" y="151"/>
                </a:lnTo>
                <a:lnTo>
                  <a:pt x="8" y="137"/>
                </a:lnTo>
                <a:lnTo>
                  <a:pt x="6" y="126"/>
                </a:lnTo>
                <a:lnTo>
                  <a:pt x="6" y="112"/>
                </a:lnTo>
                <a:lnTo>
                  <a:pt x="5" y="99"/>
                </a:lnTo>
                <a:lnTo>
                  <a:pt x="5" y="91"/>
                </a:lnTo>
                <a:lnTo>
                  <a:pt x="6" y="83"/>
                </a:lnTo>
                <a:lnTo>
                  <a:pt x="6" y="74"/>
                </a:lnTo>
                <a:lnTo>
                  <a:pt x="8" y="66"/>
                </a:lnTo>
                <a:lnTo>
                  <a:pt x="8" y="59"/>
                </a:lnTo>
                <a:lnTo>
                  <a:pt x="10" y="51"/>
                </a:lnTo>
                <a:lnTo>
                  <a:pt x="11" y="43"/>
                </a:lnTo>
                <a:lnTo>
                  <a:pt x="13" y="36"/>
                </a:lnTo>
                <a:lnTo>
                  <a:pt x="8" y="38"/>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06" name="Freeform 1311">
            <a:extLst>
              <a:ext uri="{FF2B5EF4-FFF2-40B4-BE49-F238E27FC236}">
                <a16:creationId xmlns:a16="http://schemas.microsoft.com/office/drawing/2014/main" id="{26FF4E6E-099D-215D-E07B-FF263CC759FE}"/>
              </a:ext>
            </a:extLst>
          </p:cNvPr>
          <p:cNvSpPr>
            <a:spLocks noEditPoints="1"/>
          </p:cNvSpPr>
          <p:nvPr/>
        </p:nvSpPr>
        <p:spPr bwMode="auto">
          <a:xfrm>
            <a:off x="2489200" y="2403475"/>
            <a:ext cx="852488" cy="315913"/>
          </a:xfrm>
          <a:custGeom>
            <a:avLst/>
            <a:gdLst>
              <a:gd name="T0" fmla="*/ 537 w 537"/>
              <a:gd name="T1" fmla="*/ 86 h 199"/>
              <a:gd name="T2" fmla="*/ 533 w 537"/>
              <a:gd name="T3" fmla="*/ 59 h 199"/>
              <a:gd name="T4" fmla="*/ 528 w 537"/>
              <a:gd name="T5" fmla="*/ 35 h 199"/>
              <a:gd name="T6" fmla="*/ 522 w 537"/>
              <a:gd name="T7" fmla="*/ 11 h 199"/>
              <a:gd name="T8" fmla="*/ 512 w 537"/>
              <a:gd name="T9" fmla="*/ 0 h 199"/>
              <a:gd name="T10" fmla="*/ 520 w 537"/>
              <a:gd name="T11" fmla="*/ 23 h 199"/>
              <a:gd name="T12" fmla="*/ 527 w 537"/>
              <a:gd name="T13" fmla="*/ 48 h 199"/>
              <a:gd name="T14" fmla="*/ 530 w 537"/>
              <a:gd name="T15" fmla="*/ 73 h 199"/>
              <a:gd name="T16" fmla="*/ 532 w 537"/>
              <a:gd name="T17" fmla="*/ 99 h 199"/>
              <a:gd name="T18" fmla="*/ 532 w 537"/>
              <a:gd name="T19" fmla="*/ 112 h 199"/>
              <a:gd name="T20" fmla="*/ 530 w 537"/>
              <a:gd name="T21" fmla="*/ 127 h 199"/>
              <a:gd name="T22" fmla="*/ 528 w 537"/>
              <a:gd name="T23" fmla="*/ 141 h 199"/>
              <a:gd name="T24" fmla="*/ 525 w 537"/>
              <a:gd name="T25" fmla="*/ 154 h 199"/>
              <a:gd name="T26" fmla="*/ 532 w 537"/>
              <a:gd name="T27" fmla="*/ 146 h 199"/>
              <a:gd name="T28" fmla="*/ 535 w 537"/>
              <a:gd name="T29" fmla="*/ 132 h 199"/>
              <a:gd name="T30" fmla="*/ 535 w 537"/>
              <a:gd name="T31" fmla="*/ 119 h 199"/>
              <a:gd name="T32" fmla="*/ 537 w 537"/>
              <a:gd name="T33" fmla="*/ 106 h 199"/>
              <a:gd name="T34" fmla="*/ 7 w 537"/>
              <a:gd name="T35" fmla="*/ 36 h 199"/>
              <a:gd name="T36" fmla="*/ 3 w 537"/>
              <a:gd name="T37" fmla="*/ 51 h 199"/>
              <a:gd name="T38" fmla="*/ 2 w 537"/>
              <a:gd name="T39" fmla="*/ 68 h 199"/>
              <a:gd name="T40" fmla="*/ 0 w 537"/>
              <a:gd name="T41" fmla="*/ 83 h 199"/>
              <a:gd name="T42" fmla="*/ 0 w 537"/>
              <a:gd name="T43" fmla="*/ 99 h 199"/>
              <a:gd name="T44" fmla="*/ 2 w 537"/>
              <a:gd name="T45" fmla="*/ 126 h 199"/>
              <a:gd name="T46" fmla="*/ 5 w 537"/>
              <a:gd name="T47" fmla="*/ 151 h 199"/>
              <a:gd name="T48" fmla="*/ 10 w 537"/>
              <a:gd name="T49" fmla="*/ 175 h 199"/>
              <a:gd name="T50" fmla="*/ 18 w 537"/>
              <a:gd name="T51" fmla="*/ 199 h 199"/>
              <a:gd name="T52" fmla="*/ 20 w 537"/>
              <a:gd name="T53" fmla="*/ 187 h 199"/>
              <a:gd name="T54" fmla="*/ 12 w 537"/>
              <a:gd name="T55" fmla="*/ 162 h 199"/>
              <a:gd name="T56" fmla="*/ 8 w 537"/>
              <a:gd name="T57" fmla="*/ 137 h 199"/>
              <a:gd name="T58" fmla="*/ 5 w 537"/>
              <a:gd name="T59" fmla="*/ 112 h 199"/>
              <a:gd name="T60" fmla="*/ 5 w 537"/>
              <a:gd name="T61" fmla="*/ 91 h 199"/>
              <a:gd name="T62" fmla="*/ 5 w 537"/>
              <a:gd name="T63" fmla="*/ 74 h 199"/>
              <a:gd name="T64" fmla="*/ 8 w 537"/>
              <a:gd name="T65" fmla="*/ 58 h 199"/>
              <a:gd name="T66" fmla="*/ 12 w 537"/>
              <a:gd name="T67" fmla="*/ 41 h 199"/>
              <a:gd name="T68" fmla="*/ 7 w 537"/>
              <a:gd name="T69" fmla="*/ 3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7" h="199">
                <a:moveTo>
                  <a:pt x="537" y="99"/>
                </a:moveTo>
                <a:lnTo>
                  <a:pt x="537" y="86"/>
                </a:lnTo>
                <a:lnTo>
                  <a:pt x="535" y="73"/>
                </a:lnTo>
                <a:lnTo>
                  <a:pt x="533" y="59"/>
                </a:lnTo>
                <a:lnTo>
                  <a:pt x="532" y="48"/>
                </a:lnTo>
                <a:lnTo>
                  <a:pt x="528" y="35"/>
                </a:lnTo>
                <a:lnTo>
                  <a:pt x="525" y="23"/>
                </a:lnTo>
                <a:lnTo>
                  <a:pt x="522" y="11"/>
                </a:lnTo>
                <a:lnTo>
                  <a:pt x="517" y="0"/>
                </a:lnTo>
                <a:lnTo>
                  <a:pt x="512" y="0"/>
                </a:lnTo>
                <a:lnTo>
                  <a:pt x="517" y="11"/>
                </a:lnTo>
                <a:lnTo>
                  <a:pt x="520" y="23"/>
                </a:lnTo>
                <a:lnTo>
                  <a:pt x="523" y="35"/>
                </a:lnTo>
                <a:lnTo>
                  <a:pt x="527" y="48"/>
                </a:lnTo>
                <a:lnTo>
                  <a:pt x="528" y="59"/>
                </a:lnTo>
                <a:lnTo>
                  <a:pt x="530" y="73"/>
                </a:lnTo>
                <a:lnTo>
                  <a:pt x="532" y="86"/>
                </a:lnTo>
                <a:lnTo>
                  <a:pt x="532" y="99"/>
                </a:lnTo>
                <a:lnTo>
                  <a:pt x="532" y="106"/>
                </a:lnTo>
                <a:lnTo>
                  <a:pt x="532" y="112"/>
                </a:lnTo>
                <a:lnTo>
                  <a:pt x="530" y="121"/>
                </a:lnTo>
                <a:lnTo>
                  <a:pt x="530" y="127"/>
                </a:lnTo>
                <a:lnTo>
                  <a:pt x="528" y="134"/>
                </a:lnTo>
                <a:lnTo>
                  <a:pt x="528" y="141"/>
                </a:lnTo>
                <a:lnTo>
                  <a:pt x="527" y="147"/>
                </a:lnTo>
                <a:lnTo>
                  <a:pt x="525" y="154"/>
                </a:lnTo>
                <a:lnTo>
                  <a:pt x="532" y="152"/>
                </a:lnTo>
                <a:lnTo>
                  <a:pt x="532" y="146"/>
                </a:lnTo>
                <a:lnTo>
                  <a:pt x="533" y="139"/>
                </a:lnTo>
                <a:lnTo>
                  <a:pt x="535" y="132"/>
                </a:lnTo>
                <a:lnTo>
                  <a:pt x="535" y="126"/>
                </a:lnTo>
                <a:lnTo>
                  <a:pt x="535" y="119"/>
                </a:lnTo>
                <a:lnTo>
                  <a:pt x="537" y="112"/>
                </a:lnTo>
                <a:lnTo>
                  <a:pt x="537" y="106"/>
                </a:lnTo>
                <a:lnTo>
                  <a:pt x="537" y="99"/>
                </a:lnTo>
                <a:close/>
                <a:moveTo>
                  <a:pt x="7" y="36"/>
                </a:moveTo>
                <a:lnTo>
                  <a:pt x="5" y="45"/>
                </a:lnTo>
                <a:lnTo>
                  <a:pt x="3" y="51"/>
                </a:lnTo>
                <a:lnTo>
                  <a:pt x="3" y="59"/>
                </a:lnTo>
                <a:lnTo>
                  <a:pt x="2" y="68"/>
                </a:lnTo>
                <a:lnTo>
                  <a:pt x="2" y="76"/>
                </a:lnTo>
                <a:lnTo>
                  <a:pt x="0" y="83"/>
                </a:lnTo>
                <a:lnTo>
                  <a:pt x="0" y="91"/>
                </a:lnTo>
                <a:lnTo>
                  <a:pt x="0" y="99"/>
                </a:lnTo>
                <a:lnTo>
                  <a:pt x="0" y="112"/>
                </a:lnTo>
                <a:lnTo>
                  <a:pt x="2" y="126"/>
                </a:lnTo>
                <a:lnTo>
                  <a:pt x="3" y="137"/>
                </a:lnTo>
                <a:lnTo>
                  <a:pt x="5" y="151"/>
                </a:lnTo>
                <a:lnTo>
                  <a:pt x="7" y="162"/>
                </a:lnTo>
                <a:lnTo>
                  <a:pt x="10" y="175"/>
                </a:lnTo>
                <a:lnTo>
                  <a:pt x="15" y="187"/>
                </a:lnTo>
                <a:lnTo>
                  <a:pt x="18" y="199"/>
                </a:lnTo>
                <a:lnTo>
                  <a:pt x="25" y="199"/>
                </a:lnTo>
                <a:lnTo>
                  <a:pt x="20" y="187"/>
                </a:lnTo>
                <a:lnTo>
                  <a:pt x="15" y="175"/>
                </a:lnTo>
                <a:lnTo>
                  <a:pt x="12" y="162"/>
                </a:lnTo>
                <a:lnTo>
                  <a:pt x="10" y="151"/>
                </a:lnTo>
                <a:lnTo>
                  <a:pt x="8" y="137"/>
                </a:lnTo>
                <a:lnTo>
                  <a:pt x="7" y="126"/>
                </a:lnTo>
                <a:lnTo>
                  <a:pt x="5" y="112"/>
                </a:lnTo>
                <a:lnTo>
                  <a:pt x="5" y="99"/>
                </a:lnTo>
                <a:lnTo>
                  <a:pt x="5" y="91"/>
                </a:lnTo>
                <a:lnTo>
                  <a:pt x="5" y="83"/>
                </a:lnTo>
                <a:lnTo>
                  <a:pt x="5" y="74"/>
                </a:lnTo>
                <a:lnTo>
                  <a:pt x="7" y="66"/>
                </a:lnTo>
                <a:lnTo>
                  <a:pt x="8" y="58"/>
                </a:lnTo>
                <a:lnTo>
                  <a:pt x="10" y="50"/>
                </a:lnTo>
                <a:lnTo>
                  <a:pt x="12" y="41"/>
                </a:lnTo>
                <a:lnTo>
                  <a:pt x="13" y="35"/>
                </a:lnTo>
                <a:lnTo>
                  <a:pt x="7" y="36"/>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07" name="Freeform 1312">
            <a:extLst>
              <a:ext uri="{FF2B5EF4-FFF2-40B4-BE49-F238E27FC236}">
                <a16:creationId xmlns:a16="http://schemas.microsoft.com/office/drawing/2014/main" id="{60987866-99D2-1D0F-697E-4ED5ECB59580}"/>
              </a:ext>
            </a:extLst>
          </p:cNvPr>
          <p:cNvSpPr>
            <a:spLocks noEditPoints="1"/>
          </p:cNvSpPr>
          <p:nvPr/>
        </p:nvSpPr>
        <p:spPr bwMode="auto">
          <a:xfrm>
            <a:off x="2492375" y="2403475"/>
            <a:ext cx="842963" cy="315913"/>
          </a:xfrm>
          <a:custGeom>
            <a:avLst/>
            <a:gdLst>
              <a:gd name="T0" fmla="*/ 531 w 531"/>
              <a:gd name="T1" fmla="*/ 86 h 199"/>
              <a:gd name="T2" fmla="*/ 530 w 531"/>
              <a:gd name="T3" fmla="*/ 59 h 199"/>
              <a:gd name="T4" fmla="*/ 525 w 531"/>
              <a:gd name="T5" fmla="*/ 35 h 199"/>
              <a:gd name="T6" fmla="*/ 516 w 531"/>
              <a:gd name="T7" fmla="*/ 11 h 199"/>
              <a:gd name="T8" fmla="*/ 508 w 531"/>
              <a:gd name="T9" fmla="*/ 0 h 199"/>
              <a:gd name="T10" fmla="*/ 516 w 531"/>
              <a:gd name="T11" fmla="*/ 23 h 199"/>
              <a:gd name="T12" fmla="*/ 521 w 531"/>
              <a:gd name="T13" fmla="*/ 48 h 199"/>
              <a:gd name="T14" fmla="*/ 526 w 531"/>
              <a:gd name="T15" fmla="*/ 73 h 199"/>
              <a:gd name="T16" fmla="*/ 526 w 531"/>
              <a:gd name="T17" fmla="*/ 99 h 199"/>
              <a:gd name="T18" fmla="*/ 526 w 531"/>
              <a:gd name="T19" fmla="*/ 114 h 199"/>
              <a:gd name="T20" fmla="*/ 526 w 531"/>
              <a:gd name="T21" fmla="*/ 127 h 199"/>
              <a:gd name="T22" fmla="*/ 523 w 531"/>
              <a:gd name="T23" fmla="*/ 142 h 199"/>
              <a:gd name="T24" fmla="*/ 521 w 531"/>
              <a:gd name="T25" fmla="*/ 155 h 199"/>
              <a:gd name="T26" fmla="*/ 528 w 531"/>
              <a:gd name="T27" fmla="*/ 147 h 199"/>
              <a:gd name="T28" fmla="*/ 530 w 531"/>
              <a:gd name="T29" fmla="*/ 134 h 199"/>
              <a:gd name="T30" fmla="*/ 531 w 531"/>
              <a:gd name="T31" fmla="*/ 119 h 199"/>
              <a:gd name="T32" fmla="*/ 531 w 531"/>
              <a:gd name="T33" fmla="*/ 106 h 199"/>
              <a:gd name="T34" fmla="*/ 8 w 531"/>
              <a:gd name="T35" fmla="*/ 36 h 199"/>
              <a:gd name="T36" fmla="*/ 5 w 531"/>
              <a:gd name="T37" fmla="*/ 51 h 199"/>
              <a:gd name="T38" fmla="*/ 3 w 531"/>
              <a:gd name="T39" fmla="*/ 66 h 199"/>
              <a:gd name="T40" fmla="*/ 1 w 531"/>
              <a:gd name="T41" fmla="*/ 83 h 199"/>
              <a:gd name="T42" fmla="*/ 0 w 531"/>
              <a:gd name="T43" fmla="*/ 99 h 199"/>
              <a:gd name="T44" fmla="*/ 1 w 531"/>
              <a:gd name="T45" fmla="*/ 126 h 199"/>
              <a:gd name="T46" fmla="*/ 5 w 531"/>
              <a:gd name="T47" fmla="*/ 151 h 199"/>
              <a:gd name="T48" fmla="*/ 11 w 531"/>
              <a:gd name="T49" fmla="*/ 175 h 199"/>
              <a:gd name="T50" fmla="*/ 20 w 531"/>
              <a:gd name="T51" fmla="*/ 199 h 199"/>
              <a:gd name="T52" fmla="*/ 20 w 531"/>
              <a:gd name="T53" fmla="*/ 187 h 199"/>
              <a:gd name="T54" fmla="*/ 13 w 531"/>
              <a:gd name="T55" fmla="*/ 162 h 199"/>
              <a:gd name="T56" fmla="*/ 8 w 531"/>
              <a:gd name="T57" fmla="*/ 137 h 199"/>
              <a:gd name="T58" fmla="*/ 5 w 531"/>
              <a:gd name="T59" fmla="*/ 112 h 199"/>
              <a:gd name="T60" fmla="*/ 5 w 531"/>
              <a:gd name="T61" fmla="*/ 91 h 199"/>
              <a:gd name="T62" fmla="*/ 6 w 531"/>
              <a:gd name="T63" fmla="*/ 74 h 199"/>
              <a:gd name="T64" fmla="*/ 8 w 531"/>
              <a:gd name="T65" fmla="*/ 58 h 199"/>
              <a:gd name="T66" fmla="*/ 11 w 531"/>
              <a:gd name="T67" fmla="*/ 41 h 199"/>
              <a:gd name="T68" fmla="*/ 8 w 531"/>
              <a:gd name="T69" fmla="*/ 3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1" h="199">
                <a:moveTo>
                  <a:pt x="531" y="99"/>
                </a:moveTo>
                <a:lnTo>
                  <a:pt x="531" y="86"/>
                </a:lnTo>
                <a:lnTo>
                  <a:pt x="531" y="73"/>
                </a:lnTo>
                <a:lnTo>
                  <a:pt x="530" y="59"/>
                </a:lnTo>
                <a:lnTo>
                  <a:pt x="526" y="48"/>
                </a:lnTo>
                <a:lnTo>
                  <a:pt x="525" y="35"/>
                </a:lnTo>
                <a:lnTo>
                  <a:pt x="521" y="23"/>
                </a:lnTo>
                <a:lnTo>
                  <a:pt x="516" y="11"/>
                </a:lnTo>
                <a:lnTo>
                  <a:pt x="513" y="0"/>
                </a:lnTo>
                <a:lnTo>
                  <a:pt x="508" y="0"/>
                </a:lnTo>
                <a:lnTo>
                  <a:pt x="512" y="11"/>
                </a:lnTo>
                <a:lnTo>
                  <a:pt x="516" y="23"/>
                </a:lnTo>
                <a:lnTo>
                  <a:pt x="520" y="35"/>
                </a:lnTo>
                <a:lnTo>
                  <a:pt x="521" y="48"/>
                </a:lnTo>
                <a:lnTo>
                  <a:pt x="525" y="59"/>
                </a:lnTo>
                <a:lnTo>
                  <a:pt x="526" y="73"/>
                </a:lnTo>
                <a:lnTo>
                  <a:pt x="526" y="86"/>
                </a:lnTo>
                <a:lnTo>
                  <a:pt x="526" y="99"/>
                </a:lnTo>
                <a:lnTo>
                  <a:pt x="526" y="106"/>
                </a:lnTo>
                <a:lnTo>
                  <a:pt x="526" y="114"/>
                </a:lnTo>
                <a:lnTo>
                  <a:pt x="526" y="121"/>
                </a:lnTo>
                <a:lnTo>
                  <a:pt x="526" y="127"/>
                </a:lnTo>
                <a:lnTo>
                  <a:pt x="525" y="136"/>
                </a:lnTo>
                <a:lnTo>
                  <a:pt x="523" y="142"/>
                </a:lnTo>
                <a:lnTo>
                  <a:pt x="523" y="149"/>
                </a:lnTo>
                <a:lnTo>
                  <a:pt x="521" y="155"/>
                </a:lnTo>
                <a:lnTo>
                  <a:pt x="526" y="154"/>
                </a:lnTo>
                <a:lnTo>
                  <a:pt x="528" y="147"/>
                </a:lnTo>
                <a:lnTo>
                  <a:pt x="528" y="141"/>
                </a:lnTo>
                <a:lnTo>
                  <a:pt x="530" y="134"/>
                </a:lnTo>
                <a:lnTo>
                  <a:pt x="530" y="127"/>
                </a:lnTo>
                <a:lnTo>
                  <a:pt x="531" y="119"/>
                </a:lnTo>
                <a:lnTo>
                  <a:pt x="531" y="112"/>
                </a:lnTo>
                <a:lnTo>
                  <a:pt x="531" y="106"/>
                </a:lnTo>
                <a:lnTo>
                  <a:pt x="531" y="99"/>
                </a:lnTo>
                <a:close/>
                <a:moveTo>
                  <a:pt x="8" y="36"/>
                </a:moveTo>
                <a:lnTo>
                  <a:pt x="6" y="43"/>
                </a:lnTo>
                <a:lnTo>
                  <a:pt x="5" y="51"/>
                </a:lnTo>
                <a:lnTo>
                  <a:pt x="3" y="59"/>
                </a:lnTo>
                <a:lnTo>
                  <a:pt x="3" y="66"/>
                </a:lnTo>
                <a:lnTo>
                  <a:pt x="1" y="74"/>
                </a:lnTo>
                <a:lnTo>
                  <a:pt x="1" y="83"/>
                </a:lnTo>
                <a:lnTo>
                  <a:pt x="0" y="91"/>
                </a:lnTo>
                <a:lnTo>
                  <a:pt x="0" y="99"/>
                </a:lnTo>
                <a:lnTo>
                  <a:pt x="1" y="112"/>
                </a:lnTo>
                <a:lnTo>
                  <a:pt x="1" y="126"/>
                </a:lnTo>
                <a:lnTo>
                  <a:pt x="3" y="137"/>
                </a:lnTo>
                <a:lnTo>
                  <a:pt x="5" y="151"/>
                </a:lnTo>
                <a:lnTo>
                  <a:pt x="8" y="162"/>
                </a:lnTo>
                <a:lnTo>
                  <a:pt x="11" y="175"/>
                </a:lnTo>
                <a:lnTo>
                  <a:pt x="15" y="187"/>
                </a:lnTo>
                <a:lnTo>
                  <a:pt x="20" y="199"/>
                </a:lnTo>
                <a:lnTo>
                  <a:pt x="25" y="199"/>
                </a:lnTo>
                <a:lnTo>
                  <a:pt x="20" y="187"/>
                </a:lnTo>
                <a:lnTo>
                  <a:pt x="16" y="175"/>
                </a:lnTo>
                <a:lnTo>
                  <a:pt x="13" y="162"/>
                </a:lnTo>
                <a:lnTo>
                  <a:pt x="10" y="151"/>
                </a:lnTo>
                <a:lnTo>
                  <a:pt x="8" y="137"/>
                </a:lnTo>
                <a:lnTo>
                  <a:pt x="6" y="126"/>
                </a:lnTo>
                <a:lnTo>
                  <a:pt x="5" y="112"/>
                </a:lnTo>
                <a:lnTo>
                  <a:pt x="5" y="99"/>
                </a:lnTo>
                <a:lnTo>
                  <a:pt x="5" y="91"/>
                </a:lnTo>
                <a:lnTo>
                  <a:pt x="6" y="83"/>
                </a:lnTo>
                <a:lnTo>
                  <a:pt x="6" y="74"/>
                </a:lnTo>
                <a:lnTo>
                  <a:pt x="8" y="66"/>
                </a:lnTo>
                <a:lnTo>
                  <a:pt x="8" y="58"/>
                </a:lnTo>
                <a:lnTo>
                  <a:pt x="10" y="50"/>
                </a:lnTo>
                <a:lnTo>
                  <a:pt x="11" y="41"/>
                </a:lnTo>
                <a:lnTo>
                  <a:pt x="13" y="33"/>
                </a:lnTo>
                <a:lnTo>
                  <a:pt x="8" y="36"/>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08" name="Freeform 1313">
            <a:extLst>
              <a:ext uri="{FF2B5EF4-FFF2-40B4-BE49-F238E27FC236}">
                <a16:creationId xmlns:a16="http://schemas.microsoft.com/office/drawing/2014/main" id="{7209E013-3045-6720-F45F-1B71AB6C52ED}"/>
              </a:ext>
            </a:extLst>
          </p:cNvPr>
          <p:cNvSpPr>
            <a:spLocks noEditPoints="1"/>
          </p:cNvSpPr>
          <p:nvPr/>
        </p:nvSpPr>
        <p:spPr bwMode="auto">
          <a:xfrm>
            <a:off x="2497138" y="2403475"/>
            <a:ext cx="836613" cy="315913"/>
          </a:xfrm>
          <a:custGeom>
            <a:avLst/>
            <a:gdLst>
              <a:gd name="T0" fmla="*/ 527 w 527"/>
              <a:gd name="T1" fmla="*/ 86 h 199"/>
              <a:gd name="T2" fmla="*/ 523 w 527"/>
              <a:gd name="T3" fmla="*/ 59 h 199"/>
              <a:gd name="T4" fmla="*/ 518 w 527"/>
              <a:gd name="T5" fmla="*/ 35 h 199"/>
              <a:gd name="T6" fmla="*/ 512 w 527"/>
              <a:gd name="T7" fmla="*/ 11 h 199"/>
              <a:gd name="T8" fmla="*/ 502 w 527"/>
              <a:gd name="T9" fmla="*/ 0 h 199"/>
              <a:gd name="T10" fmla="*/ 510 w 527"/>
              <a:gd name="T11" fmla="*/ 23 h 199"/>
              <a:gd name="T12" fmla="*/ 517 w 527"/>
              <a:gd name="T13" fmla="*/ 48 h 199"/>
              <a:gd name="T14" fmla="*/ 520 w 527"/>
              <a:gd name="T15" fmla="*/ 73 h 199"/>
              <a:gd name="T16" fmla="*/ 522 w 527"/>
              <a:gd name="T17" fmla="*/ 99 h 199"/>
              <a:gd name="T18" fmla="*/ 522 w 527"/>
              <a:gd name="T19" fmla="*/ 114 h 199"/>
              <a:gd name="T20" fmla="*/ 520 w 527"/>
              <a:gd name="T21" fmla="*/ 129 h 199"/>
              <a:gd name="T22" fmla="*/ 518 w 527"/>
              <a:gd name="T23" fmla="*/ 142 h 199"/>
              <a:gd name="T24" fmla="*/ 515 w 527"/>
              <a:gd name="T25" fmla="*/ 157 h 199"/>
              <a:gd name="T26" fmla="*/ 522 w 527"/>
              <a:gd name="T27" fmla="*/ 147 h 199"/>
              <a:gd name="T28" fmla="*/ 523 w 527"/>
              <a:gd name="T29" fmla="*/ 134 h 199"/>
              <a:gd name="T30" fmla="*/ 525 w 527"/>
              <a:gd name="T31" fmla="*/ 121 h 199"/>
              <a:gd name="T32" fmla="*/ 527 w 527"/>
              <a:gd name="T33" fmla="*/ 106 h 199"/>
              <a:gd name="T34" fmla="*/ 8 w 527"/>
              <a:gd name="T35" fmla="*/ 35 h 199"/>
              <a:gd name="T36" fmla="*/ 5 w 527"/>
              <a:gd name="T37" fmla="*/ 50 h 199"/>
              <a:gd name="T38" fmla="*/ 2 w 527"/>
              <a:gd name="T39" fmla="*/ 66 h 199"/>
              <a:gd name="T40" fmla="*/ 0 w 527"/>
              <a:gd name="T41" fmla="*/ 83 h 199"/>
              <a:gd name="T42" fmla="*/ 0 w 527"/>
              <a:gd name="T43" fmla="*/ 99 h 199"/>
              <a:gd name="T44" fmla="*/ 2 w 527"/>
              <a:gd name="T45" fmla="*/ 126 h 199"/>
              <a:gd name="T46" fmla="*/ 5 w 527"/>
              <a:gd name="T47" fmla="*/ 151 h 199"/>
              <a:gd name="T48" fmla="*/ 10 w 527"/>
              <a:gd name="T49" fmla="*/ 175 h 199"/>
              <a:gd name="T50" fmla="*/ 20 w 527"/>
              <a:gd name="T51" fmla="*/ 199 h 199"/>
              <a:gd name="T52" fmla="*/ 20 w 527"/>
              <a:gd name="T53" fmla="*/ 187 h 199"/>
              <a:gd name="T54" fmla="*/ 12 w 527"/>
              <a:gd name="T55" fmla="*/ 162 h 199"/>
              <a:gd name="T56" fmla="*/ 7 w 527"/>
              <a:gd name="T57" fmla="*/ 137 h 199"/>
              <a:gd name="T58" fmla="*/ 5 w 527"/>
              <a:gd name="T59" fmla="*/ 112 h 199"/>
              <a:gd name="T60" fmla="*/ 5 w 527"/>
              <a:gd name="T61" fmla="*/ 91 h 199"/>
              <a:gd name="T62" fmla="*/ 5 w 527"/>
              <a:gd name="T63" fmla="*/ 73 h 199"/>
              <a:gd name="T64" fmla="*/ 8 w 527"/>
              <a:gd name="T65" fmla="*/ 56 h 199"/>
              <a:gd name="T66" fmla="*/ 12 w 527"/>
              <a:gd name="T67" fmla="*/ 40 h 199"/>
              <a:gd name="T68" fmla="*/ 8 w 527"/>
              <a:gd name="T69" fmla="*/ 3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7" h="199">
                <a:moveTo>
                  <a:pt x="527" y="99"/>
                </a:moveTo>
                <a:lnTo>
                  <a:pt x="527" y="86"/>
                </a:lnTo>
                <a:lnTo>
                  <a:pt x="525" y="73"/>
                </a:lnTo>
                <a:lnTo>
                  <a:pt x="523" y="59"/>
                </a:lnTo>
                <a:lnTo>
                  <a:pt x="522" y="48"/>
                </a:lnTo>
                <a:lnTo>
                  <a:pt x="518" y="35"/>
                </a:lnTo>
                <a:lnTo>
                  <a:pt x="515" y="23"/>
                </a:lnTo>
                <a:lnTo>
                  <a:pt x="512" y="11"/>
                </a:lnTo>
                <a:lnTo>
                  <a:pt x="507" y="0"/>
                </a:lnTo>
                <a:lnTo>
                  <a:pt x="502" y="0"/>
                </a:lnTo>
                <a:lnTo>
                  <a:pt x="507" y="11"/>
                </a:lnTo>
                <a:lnTo>
                  <a:pt x="510" y="23"/>
                </a:lnTo>
                <a:lnTo>
                  <a:pt x="513" y="35"/>
                </a:lnTo>
                <a:lnTo>
                  <a:pt x="517" y="48"/>
                </a:lnTo>
                <a:lnTo>
                  <a:pt x="518" y="59"/>
                </a:lnTo>
                <a:lnTo>
                  <a:pt x="520" y="73"/>
                </a:lnTo>
                <a:lnTo>
                  <a:pt x="522" y="86"/>
                </a:lnTo>
                <a:lnTo>
                  <a:pt x="522" y="99"/>
                </a:lnTo>
                <a:lnTo>
                  <a:pt x="522" y="106"/>
                </a:lnTo>
                <a:lnTo>
                  <a:pt x="522" y="114"/>
                </a:lnTo>
                <a:lnTo>
                  <a:pt x="520" y="121"/>
                </a:lnTo>
                <a:lnTo>
                  <a:pt x="520" y="129"/>
                </a:lnTo>
                <a:lnTo>
                  <a:pt x="518" y="136"/>
                </a:lnTo>
                <a:lnTo>
                  <a:pt x="518" y="142"/>
                </a:lnTo>
                <a:lnTo>
                  <a:pt x="517" y="151"/>
                </a:lnTo>
                <a:lnTo>
                  <a:pt x="515" y="157"/>
                </a:lnTo>
                <a:lnTo>
                  <a:pt x="520" y="154"/>
                </a:lnTo>
                <a:lnTo>
                  <a:pt x="522" y="147"/>
                </a:lnTo>
                <a:lnTo>
                  <a:pt x="523" y="141"/>
                </a:lnTo>
                <a:lnTo>
                  <a:pt x="523" y="134"/>
                </a:lnTo>
                <a:lnTo>
                  <a:pt x="525" y="127"/>
                </a:lnTo>
                <a:lnTo>
                  <a:pt x="525" y="121"/>
                </a:lnTo>
                <a:lnTo>
                  <a:pt x="527" y="112"/>
                </a:lnTo>
                <a:lnTo>
                  <a:pt x="527" y="106"/>
                </a:lnTo>
                <a:lnTo>
                  <a:pt x="527" y="99"/>
                </a:lnTo>
                <a:close/>
                <a:moveTo>
                  <a:pt x="8" y="35"/>
                </a:moveTo>
                <a:lnTo>
                  <a:pt x="7" y="41"/>
                </a:lnTo>
                <a:lnTo>
                  <a:pt x="5" y="50"/>
                </a:lnTo>
                <a:lnTo>
                  <a:pt x="3" y="58"/>
                </a:lnTo>
                <a:lnTo>
                  <a:pt x="2" y="66"/>
                </a:lnTo>
                <a:lnTo>
                  <a:pt x="0" y="74"/>
                </a:lnTo>
                <a:lnTo>
                  <a:pt x="0" y="83"/>
                </a:lnTo>
                <a:lnTo>
                  <a:pt x="0" y="91"/>
                </a:lnTo>
                <a:lnTo>
                  <a:pt x="0" y="99"/>
                </a:lnTo>
                <a:lnTo>
                  <a:pt x="0" y="112"/>
                </a:lnTo>
                <a:lnTo>
                  <a:pt x="2" y="126"/>
                </a:lnTo>
                <a:lnTo>
                  <a:pt x="3" y="137"/>
                </a:lnTo>
                <a:lnTo>
                  <a:pt x="5" y="151"/>
                </a:lnTo>
                <a:lnTo>
                  <a:pt x="7" y="162"/>
                </a:lnTo>
                <a:lnTo>
                  <a:pt x="10" y="175"/>
                </a:lnTo>
                <a:lnTo>
                  <a:pt x="15" y="187"/>
                </a:lnTo>
                <a:lnTo>
                  <a:pt x="20" y="199"/>
                </a:lnTo>
                <a:lnTo>
                  <a:pt x="25" y="199"/>
                </a:lnTo>
                <a:lnTo>
                  <a:pt x="20" y="187"/>
                </a:lnTo>
                <a:lnTo>
                  <a:pt x="17" y="175"/>
                </a:lnTo>
                <a:lnTo>
                  <a:pt x="12" y="162"/>
                </a:lnTo>
                <a:lnTo>
                  <a:pt x="10" y="151"/>
                </a:lnTo>
                <a:lnTo>
                  <a:pt x="7" y="137"/>
                </a:lnTo>
                <a:lnTo>
                  <a:pt x="5" y="126"/>
                </a:lnTo>
                <a:lnTo>
                  <a:pt x="5" y="112"/>
                </a:lnTo>
                <a:lnTo>
                  <a:pt x="5" y="99"/>
                </a:lnTo>
                <a:lnTo>
                  <a:pt x="5" y="91"/>
                </a:lnTo>
                <a:lnTo>
                  <a:pt x="5" y="81"/>
                </a:lnTo>
                <a:lnTo>
                  <a:pt x="5" y="73"/>
                </a:lnTo>
                <a:lnTo>
                  <a:pt x="7" y="64"/>
                </a:lnTo>
                <a:lnTo>
                  <a:pt x="8" y="56"/>
                </a:lnTo>
                <a:lnTo>
                  <a:pt x="10" y="48"/>
                </a:lnTo>
                <a:lnTo>
                  <a:pt x="12" y="40"/>
                </a:lnTo>
                <a:lnTo>
                  <a:pt x="13" y="31"/>
                </a:lnTo>
                <a:lnTo>
                  <a:pt x="8" y="35"/>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09" name="Freeform 1314">
            <a:extLst>
              <a:ext uri="{FF2B5EF4-FFF2-40B4-BE49-F238E27FC236}">
                <a16:creationId xmlns:a16="http://schemas.microsoft.com/office/drawing/2014/main" id="{485D6A88-67EF-6463-B664-83D4AAA58B7A}"/>
              </a:ext>
            </a:extLst>
          </p:cNvPr>
          <p:cNvSpPr>
            <a:spLocks noEditPoints="1"/>
          </p:cNvSpPr>
          <p:nvPr/>
        </p:nvSpPr>
        <p:spPr bwMode="auto">
          <a:xfrm>
            <a:off x="2500313" y="2403475"/>
            <a:ext cx="827088" cy="315913"/>
          </a:xfrm>
          <a:custGeom>
            <a:avLst/>
            <a:gdLst>
              <a:gd name="T0" fmla="*/ 521 w 521"/>
              <a:gd name="T1" fmla="*/ 86 h 199"/>
              <a:gd name="T2" fmla="*/ 520 w 521"/>
              <a:gd name="T3" fmla="*/ 59 h 199"/>
              <a:gd name="T4" fmla="*/ 515 w 521"/>
              <a:gd name="T5" fmla="*/ 35 h 199"/>
              <a:gd name="T6" fmla="*/ 507 w 521"/>
              <a:gd name="T7" fmla="*/ 11 h 199"/>
              <a:gd name="T8" fmla="*/ 497 w 521"/>
              <a:gd name="T9" fmla="*/ 0 h 199"/>
              <a:gd name="T10" fmla="*/ 507 w 521"/>
              <a:gd name="T11" fmla="*/ 23 h 199"/>
              <a:gd name="T12" fmla="*/ 511 w 521"/>
              <a:gd name="T13" fmla="*/ 48 h 199"/>
              <a:gd name="T14" fmla="*/ 516 w 521"/>
              <a:gd name="T15" fmla="*/ 73 h 199"/>
              <a:gd name="T16" fmla="*/ 518 w 521"/>
              <a:gd name="T17" fmla="*/ 99 h 199"/>
              <a:gd name="T18" fmla="*/ 516 w 521"/>
              <a:gd name="T19" fmla="*/ 114 h 199"/>
              <a:gd name="T20" fmla="*/ 516 w 521"/>
              <a:gd name="T21" fmla="*/ 129 h 199"/>
              <a:gd name="T22" fmla="*/ 513 w 521"/>
              <a:gd name="T23" fmla="*/ 144 h 199"/>
              <a:gd name="T24" fmla="*/ 510 w 521"/>
              <a:gd name="T25" fmla="*/ 159 h 199"/>
              <a:gd name="T26" fmla="*/ 518 w 521"/>
              <a:gd name="T27" fmla="*/ 149 h 199"/>
              <a:gd name="T28" fmla="*/ 520 w 521"/>
              <a:gd name="T29" fmla="*/ 136 h 199"/>
              <a:gd name="T30" fmla="*/ 521 w 521"/>
              <a:gd name="T31" fmla="*/ 121 h 199"/>
              <a:gd name="T32" fmla="*/ 521 w 521"/>
              <a:gd name="T33" fmla="*/ 106 h 199"/>
              <a:gd name="T34" fmla="*/ 8 w 521"/>
              <a:gd name="T35" fmla="*/ 33 h 199"/>
              <a:gd name="T36" fmla="*/ 5 w 521"/>
              <a:gd name="T37" fmla="*/ 50 h 199"/>
              <a:gd name="T38" fmla="*/ 3 w 521"/>
              <a:gd name="T39" fmla="*/ 66 h 199"/>
              <a:gd name="T40" fmla="*/ 1 w 521"/>
              <a:gd name="T41" fmla="*/ 83 h 199"/>
              <a:gd name="T42" fmla="*/ 0 w 521"/>
              <a:gd name="T43" fmla="*/ 99 h 199"/>
              <a:gd name="T44" fmla="*/ 1 w 521"/>
              <a:gd name="T45" fmla="*/ 126 h 199"/>
              <a:gd name="T46" fmla="*/ 5 w 521"/>
              <a:gd name="T47" fmla="*/ 151 h 199"/>
              <a:gd name="T48" fmla="*/ 11 w 521"/>
              <a:gd name="T49" fmla="*/ 175 h 199"/>
              <a:gd name="T50" fmla="*/ 20 w 521"/>
              <a:gd name="T51" fmla="*/ 199 h 199"/>
              <a:gd name="T52" fmla="*/ 20 w 521"/>
              <a:gd name="T53" fmla="*/ 187 h 199"/>
              <a:gd name="T54" fmla="*/ 13 w 521"/>
              <a:gd name="T55" fmla="*/ 162 h 199"/>
              <a:gd name="T56" fmla="*/ 8 w 521"/>
              <a:gd name="T57" fmla="*/ 137 h 199"/>
              <a:gd name="T58" fmla="*/ 5 w 521"/>
              <a:gd name="T59" fmla="*/ 112 h 199"/>
              <a:gd name="T60" fmla="*/ 5 w 521"/>
              <a:gd name="T61" fmla="*/ 91 h 199"/>
              <a:gd name="T62" fmla="*/ 6 w 521"/>
              <a:gd name="T63" fmla="*/ 73 h 199"/>
              <a:gd name="T64" fmla="*/ 8 w 521"/>
              <a:gd name="T65" fmla="*/ 54 h 199"/>
              <a:gd name="T66" fmla="*/ 11 w 521"/>
              <a:gd name="T67" fmla="*/ 38 h 199"/>
              <a:gd name="T68" fmla="*/ 8 w 521"/>
              <a:gd name="T69" fmla="*/ 3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1" h="199">
                <a:moveTo>
                  <a:pt x="521" y="99"/>
                </a:moveTo>
                <a:lnTo>
                  <a:pt x="521" y="86"/>
                </a:lnTo>
                <a:lnTo>
                  <a:pt x="521" y="73"/>
                </a:lnTo>
                <a:lnTo>
                  <a:pt x="520" y="59"/>
                </a:lnTo>
                <a:lnTo>
                  <a:pt x="516" y="48"/>
                </a:lnTo>
                <a:lnTo>
                  <a:pt x="515" y="35"/>
                </a:lnTo>
                <a:lnTo>
                  <a:pt x="511" y="23"/>
                </a:lnTo>
                <a:lnTo>
                  <a:pt x="507" y="11"/>
                </a:lnTo>
                <a:lnTo>
                  <a:pt x="503" y="0"/>
                </a:lnTo>
                <a:lnTo>
                  <a:pt x="497" y="0"/>
                </a:lnTo>
                <a:lnTo>
                  <a:pt x="502" y="11"/>
                </a:lnTo>
                <a:lnTo>
                  <a:pt x="507" y="23"/>
                </a:lnTo>
                <a:lnTo>
                  <a:pt x="510" y="35"/>
                </a:lnTo>
                <a:lnTo>
                  <a:pt x="511" y="48"/>
                </a:lnTo>
                <a:lnTo>
                  <a:pt x="515" y="59"/>
                </a:lnTo>
                <a:lnTo>
                  <a:pt x="516" y="73"/>
                </a:lnTo>
                <a:lnTo>
                  <a:pt x="516" y="86"/>
                </a:lnTo>
                <a:lnTo>
                  <a:pt x="518" y="99"/>
                </a:lnTo>
                <a:lnTo>
                  <a:pt x="516" y="106"/>
                </a:lnTo>
                <a:lnTo>
                  <a:pt x="516" y="114"/>
                </a:lnTo>
                <a:lnTo>
                  <a:pt x="516" y="122"/>
                </a:lnTo>
                <a:lnTo>
                  <a:pt x="516" y="129"/>
                </a:lnTo>
                <a:lnTo>
                  <a:pt x="515" y="137"/>
                </a:lnTo>
                <a:lnTo>
                  <a:pt x="513" y="144"/>
                </a:lnTo>
                <a:lnTo>
                  <a:pt x="511" y="151"/>
                </a:lnTo>
                <a:lnTo>
                  <a:pt x="510" y="159"/>
                </a:lnTo>
                <a:lnTo>
                  <a:pt x="516" y="155"/>
                </a:lnTo>
                <a:lnTo>
                  <a:pt x="518" y="149"/>
                </a:lnTo>
                <a:lnTo>
                  <a:pt x="518" y="142"/>
                </a:lnTo>
                <a:lnTo>
                  <a:pt x="520" y="136"/>
                </a:lnTo>
                <a:lnTo>
                  <a:pt x="520" y="127"/>
                </a:lnTo>
                <a:lnTo>
                  <a:pt x="521" y="121"/>
                </a:lnTo>
                <a:lnTo>
                  <a:pt x="521" y="114"/>
                </a:lnTo>
                <a:lnTo>
                  <a:pt x="521" y="106"/>
                </a:lnTo>
                <a:lnTo>
                  <a:pt x="521" y="99"/>
                </a:lnTo>
                <a:close/>
                <a:moveTo>
                  <a:pt x="8" y="33"/>
                </a:moveTo>
                <a:lnTo>
                  <a:pt x="6" y="41"/>
                </a:lnTo>
                <a:lnTo>
                  <a:pt x="5" y="50"/>
                </a:lnTo>
                <a:lnTo>
                  <a:pt x="3" y="58"/>
                </a:lnTo>
                <a:lnTo>
                  <a:pt x="3" y="66"/>
                </a:lnTo>
                <a:lnTo>
                  <a:pt x="1" y="74"/>
                </a:lnTo>
                <a:lnTo>
                  <a:pt x="1" y="83"/>
                </a:lnTo>
                <a:lnTo>
                  <a:pt x="0" y="91"/>
                </a:lnTo>
                <a:lnTo>
                  <a:pt x="0" y="99"/>
                </a:lnTo>
                <a:lnTo>
                  <a:pt x="0" y="112"/>
                </a:lnTo>
                <a:lnTo>
                  <a:pt x="1" y="126"/>
                </a:lnTo>
                <a:lnTo>
                  <a:pt x="3" y="137"/>
                </a:lnTo>
                <a:lnTo>
                  <a:pt x="5" y="151"/>
                </a:lnTo>
                <a:lnTo>
                  <a:pt x="8" y="162"/>
                </a:lnTo>
                <a:lnTo>
                  <a:pt x="11" y="175"/>
                </a:lnTo>
                <a:lnTo>
                  <a:pt x="15" y="187"/>
                </a:lnTo>
                <a:lnTo>
                  <a:pt x="20" y="199"/>
                </a:lnTo>
                <a:lnTo>
                  <a:pt x="25" y="199"/>
                </a:lnTo>
                <a:lnTo>
                  <a:pt x="20" y="187"/>
                </a:lnTo>
                <a:lnTo>
                  <a:pt x="16" y="175"/>
                </a:lnTo>
                <a:lnTo>
                  <a:pt x="13" y="162"/>
                </a:lnTo>
                <a:lnTo>
                  <a:pt x="10" y="151"/>
                </a:lnTo>
                <a:lnTo>
                  <a:pt x="8" y="137"/>
                </a:lnTo>
                <a:lnTo>
                  <a:pt x="6" y="126"/>
                </a:lnTo>
                <a:lnTo>
                  <a:pt x="5" y="112"/>
                </a:lnTo>
                <a:lnTo>
                  <a:pt x="5" y="99"/>
                </a:lnTo>
                <a:lnTo>
                  <a:pt x="5" y="91"/>
                </a:lnTo>
                <a:lnTo>
                  <a:pt x="5" y="81"/>
                </a:lnTo>
                <a:lnTo>
                  <a:pt x="6" y="73"/>
                </a:lnTo>
                <a:lnTo>
                  <a:pt x="8" y="64"/>
                </a:lnTo>
                <a:lnTo>
                  <a:pt x="8" y="54"/>
                </a:lnTo>
                <a:lnTo>
                  <a:pt x="10" y="46"/>
                </a:lnTo>
                <a:lnTo>
                  <a:pt x="11" y="38"/>
                </a:lnTo>
                <a:lnTo>
                  <a:pt x="15" y="30"/>
                </a:lnTo>
                <a:lnTo>
                  <a:pt x="8" y="33"/>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10" name="Freeform 1315">
            <a:extLst>
              <a:ext uri="{FF2B5EF4-FFF2-40B4-BE49-F238E27FC236}">
                <a16:creationId xmlns:a16="http://schemas.microsoft.com/office/drawing/2014/main" id="{7886A034-5D35-30D0-99EE-F6F81B7EDD8C}"/>
              </a:ext>
            </a:extLst>
          </p:cNvPr>
          <p:cNvSpPr>
            <a:spLocks noEditPoints="1"/>
          </p:cNvSpPr>
          <p:nvPr/>
        </p:nvSpPr>
        <p:spPr bwMode="auto">
          <a:xfrm>
            <a:off x="2505075" y="2403475"/>
            <a:ext cx="820738" cy="315913"/>
          </a:xfrm>
          <a:custGeom>
            <a:avLst/>
            <a:gdLst>
              <a:gd name="T0" fmla="*/ 517 w 517"/>
              <a:gd name="T1" fmla="*/ 86 h 199"/>
              <a:gd name="T2" fmla="*/ 513 w 517"/>
              <a:gd name="T3" fmla="*/ 59 h 199"/>
              <a:gd name="T4" fmla="*/ 508 w 517"/>
              <a:gd name="T5" fmla="*/ 35 h 199"/>
              <a:gd name="T6" fmla="*/ 502 w 517"/>
              <a:gd name="T7" fmla="*/ 11 h 199"/>
              <a:gd name="T8" fmla="*/ 492 w 517"/>
              <a:gd name="T9" fmla="*/ 0 h 199"/>
              <a:gd name="T10" fmla="*/ 500 w 517"/>
              <a:gd name="T11" fmla="*/ 23 h 199"/>
              <a:gd name="T12" fmla="*/ 507 w 517"/>
              <a:gd name="T13" fmla="*/ 48 h 199"/>
              <a:gd name="T14" fmla="*/ 510 w 517"/>
              <a:gd name="T15" fmla="*/ 73 h 199"/>
              <a:gd name="T16" fmla="*/ 512 w 517"/>
              <a:gd name="T17" fmla="*/ 99 h 199"/>
              <a:gd name="T18" fmla="*/ 512 w 517"/>
              <a:gd name="T19" fmla="*/ 114 h 199"/>
              <a:gd name="T20" fmla="*/ 510 w 517"/>
              <a:gd name="T21" fmla="*/ 129 h 199"/>
              <a:gd name="T22" fmla="*/ 508 w 517"/>
              <a:gd name="T23" fmla="*/ 146 h 199"/>
              <a:gd name="T24" fmla="*/ 505 w 517"/>
              <a:gd name="T25" fmla="*/ 159 h 199"/>
              <a:gd name="T26" fmla="*/ 512 w 517"/>
              <a:gd name="T27" fmla="*/ 151 h 199"/>
              <a:gd name="T28" fmla="*/ 513 w 517"/>
              <a:gd name="T29" fmla="*/ 136 h 199"/>
              <a:gd name="T30" fmla="*/ 515 w 517"/>
              <a:gd name="T31" fmla="*/ 121 h 199"/>
              <a:gd name="T32" fmla="*/ 517 w 517"/>
              <a:gd name="T33" fmla="*/ 106 h 199"/>
              <a:gd name="T34" fmla="*/ 8 w 517"/>
              <a:gd name="T35" fmla="*/ 31 h 199"/>
              <a:gd name="T36" fmla="*/ 5 w 517"/>
              <a:gd name="T37" fmla="*/ 48 h 199"/>
              <a:gd name="T38" fmla="*/ 2 w 517"/>
              <a:gd name="T39" fmla="*/ 64 h 199"/>
              <a:gd name="T40" fmla="*/ 0 w 517"/>
              <a:gd name="T41" fmla="*/ 81 h 199"/>
              <a:gd name="T42" fmla="*/ 0 w 517"/>
              <a:gd name="T43" fmla="*/ 99 h 199"/>
              <a:gd name="T44" fmla="*/ 0 w 517"/>
              <a:gd name="T45" fmla="*/ 126 h 199"/>
              <a:gd name="T46" fmla="*/ 5 w 517"/>
              <a:gd name="T47" fmla="*/ 151 h 199"/>
              <a:gd name="T48" fmla="*/ 12 w 517"/>
              <a:gd name="T49" fmla="*/ 175 h 199"/>
              <a:gd name="T50" fmla="*/ 20 w 517"/>
              <a:gd name="T51" fmla="*/ 199 h 199"/>
              <a:gd name="T52" fmla="*/ 20 w 517"/>
              <a:gd name="T53" fmla="*/ 187 h 199"/>
              <a:gd name="T54" fmla="*/ 12 w 517"/>
              <a:gd name="T55" fmla="*/ 162 h 199"/>
              <a:gd name="T56" fmla="*/ 7 w 517"/>
              <a:gd name="T57" fmla="*/ 137 h 199"/>
              <a:gd name="T58" fmla="*/ 5 w 517"/>
              <a:gd name="T59" fmla="*/ 112 h 199"/>
              <a:gd name="T60" fmla="*/ 5 w 517"/>
              <a:gd name="T61" fmla="*/ 89 h 199"/>
              <a:gd name="T62" fmla="*/ 5 w 517"/>
              <a:gd name="T63" fmla="*/ 73 h 199"/>
              <a:gd name="T64" fmla="*/ 8 w 517"/>
              <a:gd name="T65" fmla="*/ 54 h 199"/>
              <a:gd name="T66" fmla="*/ 12 w 517"/>
              <a:gd name="T67" fmla="*/ 38 h 199"/>
              <a:gd name="T68" fmla="*/ 8 w 517"/>
              <a:gd name="T69" fmla="*/ 3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7" h="199">
                <a:moveTo>
                  <a:pt x="517" y="99"/>
                </a:moveTo>
                <a:lnTo>
                  <a:pt x="517" y="86"/>
                </a:lnTo>
                <a:lnTo>
                  <a:pt x="515" y="73"/>
                </a:lnTo>
                <a:lnTo>
                  <a:pt x="513" y="59"/>
                </a:lnTo>
                <a:lnTo>
                  <a:pt x="512" y="48"/>
                </a:lnTo>
                <a:lnTo>
                  <a:pt x="508" y="35"/>
                </a:lnTo>
                <a:lnTo>
                  <a:pt x="505" y="23"/>
                </a:lnTo>
                <a:lnTo>
                  <a:pt x="502" y="11"/>
                </a:lnTo>
                <a:lnTo>
                  <a:pt x="497" y="0"/>
                </a:lnTo>
                <a:lnTo>
                  <a:pt x="492" y="0"/>
                </a:lnTo>
                <a:lnTo>
                  <a:pt x="497" y="11"/>
                </a:lnTo>
                <a:lnTo>
                  <a:pt x="500" y="23"/>
                </a:lnTo>
                <a:lnTo>
                  <a:pt x="504" y="35"/>
                </a:lnTo>
                <a:lnTo>
                  <a:pt x="507" y="48"/>
                </a:lnTo>
                <a:lnTo>
                  <a:pt x="508" y="59"/>
                </a:lnTo>
                <a:lnTo>
                  <a:pt x="510" y="73"/>
                </a:lnTo>
                <a:lnTo>
                  <a:pt x="512" y="86"/>
                </a:lnTo>
                <a:lnTo>
                  <a:pt x="512" y="99"/>
                </a:lnTo>
                <a:lnTo>
                  <a:pt x="512" y="107"/>
                </a:lnTo>
                <a:lnTo>
                  <a:pt x="512" y="114"/>
                </a:lnTo>
                <a:lnTo>
                  <a:pt x="510" y="122"/>
                </a:lnTo>
                <a:lnTo>
                  <a:pt x="510" y="129"/>
                </a:lnTo>
                <a:lnTo>
                  <a:pt x="508" y="137"/>
                </a:lnTo>
                <a:lnTo>
                  <a:pt x="508" y="146"/>
                </a:lnTo>
                <a:lnTo>
                  <a:pt x="507" y="152"/>
                </a:lnTo>
                <a:lnTo>
                  <a:pt x="505" y="159"/>
                </a:lnTo>
                <a:lnTo>
                  <a:pt x="510" y="157"/>
                </a:lnTo>
                <a:lnTo>
                  <a:pt x="512" y="151"/>
                </a:lnTo>
                <a:lnTo>
                  <a:pt x="513" y="142"/>
                </a:lnTo>
                <a:lnTo>
                  <a:pt x="513" y="136"/>
                </a:lnTo>
                <a:lnTo>
                  <a:pt x="515" y="129"/>
                </a:lnTo>
                <a:lnTo>
                  <a:pt x="515" y="121"/>
                </a:lnTo>
                <a:lnTo>
                  <a:pt x="517" y="114"/>
                </a:lnTo>
                <a:lnTo>
                  <a:pt x="517" y="106"/>
                </a:lnTo>
                <a:lnTo>
                  <a:pt x="517" y="99"/>
                </a:lnTo>
                <a:close/>
                <a:moveTo>
                  <a:pt x="8" y="31"/>
                </a:moveTo>
                <a:lnTo>
                  <a:pt x="7" y="40"/>
                </a:lnTo>
                <a:lnTo>
                  <a:pt x="5" y="48"/>
                </a:lnTo>
                <a:lnTo>
                  <a:pt x="3" y="56"/>
                </a:lnTo>
                <a:lnTo>
                  <a:pt x="2" y="64"/>
                </a:lnTo>
                <a:lnTo>
                  <a:pt x="0" y="73"/>
                </a:lnTo>
                <a:lnTo>
                  <a:pt x="0" y="81"/>
                </a:lnTo>
                <a:lnTo>
                  <a:pt x="0" y="91"/>
                </a:lnTo>
                <a:lnTo>
                  <a:pt x="0" y="99"/>
                </a:lnTo>
                <a:lnTo>
                  <a:pt x="0" y="112"/>
                </a:lnTo>
                <a:lnTo>
                  <a:pt x="0" y="126"/>
                </a:lnTo>
                <a:lnTo>
                  <a:pt x="2" y="137"/>
                </a:lnTo>
                <a:lnTo>
                  <a:pt x="5" y="151"/>
                </a:lnTo>
                <a:lnTo>
                  <a:pt x="7" y="162"/>
                </a:lnTo>
                <a:lnTo>
                  <a:pt x="12" y="175"/>
                </a:lnTo>
                <a:lnTo>
                  <a:pt x="15" y="187"/>
                </a:lnTo>
                <a:lnTo>
                  <a:pt x="20" y="199"/>
                </a:lnTo>
                <a:lnTo>
                  <a:pt x="25" y="199"/>
                </a:lnTo>
                <a:lnTo>
                  <a:pt x="20" y="187"/>
                </a:lnTo>
                <a:lnTo>
                  <a:pt x="17" y="175"/>
                </a:lnTo>
                <a:lnTo>
                  <a:pt x="12" y="162"/>
                </a:lnTo>
                <a:lnTo>
                  <a:pt x="10" y="151"/>
                </a:lnTo>
                <a:lnTo>
                  <a:pt x="7" y="137"/>
                </a:lnTo>
                <a:lnTo>
                  <a:pt x="5" y="126"/>
                </a:lnTo>
                <a:lnTo>
                  <a:pt x="5" y="112"/>
                </a:lnTo>
                <a:lnTo>
                  <a:pt x="5" y="99"/>
                </a:lnTo>
                <a:lnTo>
                  <a:pt x="5" y="89"/>
                </a:lnTo>
                <a:lnTo>
                  <a:pt x="5" y="81"/>
                </a:lnTo>
                <a:lnTo>
                  <a:pt x="5" y="73"/>
                </a:lnTo>
                <a:lnTo>
                  <a:pt x="7" y="63"/>
                </a:lnTo>
                <a:lnTo>
                  <a:pt x="8" y="54"/>
                </a:lnTo>
                <a:lnTo>
                  <a:pt x="10" y="46"/>
                </a:lnTo>
                <a:lnTo>
                  <a:pt x="12" y="38"/>
                </a:lnTo>
                <a:lnTo>
                  <a:pt x="15" y="30"/>
                </a:lnTo>
                <a:lnTo>
                  <a:pt x="8" y="31"/>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11" name="Freeform 1316">
            <a:extLst>
              <a:ext uri="{FF2B5EF4-FFF2-40B4-BE49-F238E27FC236}">
                <a16:creationId xmlns:a16="http://schemas.microsoft.com/office/drawing/2014/main" id="{85C04107-E3E4-8276-80EF-61F8676C71F5}"/>
              </a:ext>
            </a:extLst>
          </p:cNvPr>
          <p:cNvSpPr>
            <a:spLocks noEditPoints="1"/>
          </p:cNvSpPr>
          <p:nvPr/>
        </p:nvSpPr>
        <p:spPr bwMode="auto">
          <a:xfrm>
            <a:off x="2508250" y="2403475"/>
            <a:ext cx="814388" cy="315913"/>
          </a:xfrm>
          <a:custGeom>
            <a:avLst/>
            <a:gdLst>
              <a:gd name="T0" fmla="*/ 511 w 513"/>
              <a:gd name="T1" fmla="*/ 86 h 199"/>
              <a:gd name="T2" fmla="*/ 510 w 513"/>
              <a:gd name="T3" fmla="*/ 59 h 199"/>
              <a:gd name="T4" fmla="*/ 505 w 513"/>
              <a:gd name="T5" fmla="*/ 35 h 199"/>
              <a:gd name="T6" fmla="*/ 497 w 513"/>
              <a:gd name="T7" fmla="*/ 11 h 199"/>
              <a:gd name="T8" fmla="*/ 487 w 513"/>
              <a:gd name="T9" fmla="*/ 0 h 199"/>
              <a:gd name="T10" fmla="*/ 497 w 513"/>
              <a:gd name="T11" fmla="*/ 23 h 199"/>
              <a:gd name="T12" fmla="*/ 502 w 513"/>
              <a:gd name="T13" fmla="*/ 48 h 199"/>
              <a:gd name="T14" fmla="*/ 506 w 513"/>
              <a:gd name="T15" fmla="*/ 73 h 199"/>
              <a:gd name="T16" fmla="*/ 508 w 513"/>
              <a:gd name="T17" fmla="*/ 99 h 199"/>
              <a:gd name="T18" fmla="*/ 506 w 513"/>
              <a:gd name="T19" fmla="*/ 114 h 199"/>
              <a:gd name="T20" fmla="*/ 505 w 513"/>
              <a:gd name="T21" fmla="*/ 131 h 199"/>
              <a:gd name="T22" fmla="*/ 503 w 513"/>
              <a:gd name="T23" fmla="*/ 146 h 199"/>
              <a:gd name="T24" fmla="*/ 500 w 513"/>
              <a:gd name="T25" fmla="*/ 160 h 199"/>
              <a:gd name="T26" fmla="*/ 506 w 513"/>
              <a:gd name="T27" fmla="*/ 151 h 199"/>
              <a:gd name="T28" fmla="*/ 510 w 513"/>
              <a:gd name="T29" fmla="*/ 137 h 199"/>
              <a:gd name="T30" fmla="*/ 511 w 513"/>
              <a:gd name="T31" fmla="*/ 122 h 199"/>
              <a:gd name="T32" fmla="*/ 511 w 513"/>
              <a:gd name="T33" fmla="*/ 106 h 199"/>
              <a:gd name="T34" fmla="*/ 10 w 513"/>
              <a:gd name="T35" fmla="*/ 30 h 199"/>
              <a:gd name="T36" fmla="*/ 5 w 513"/>
              <a:gd name="T37" fmla="*/ 46 h 199"/>
              <a:gd name="T38" fmla="*/ 3 w 513"/>
              <a:gd name="T39" fmla="*/ 64 h 199"/>
              <a:gd name="T40" fmla="*/ 0 w 513"/>
              <a:gd name="T41" fmla="*/ 81 h 199"/>
              <a:gd name="T42" fmla="*/ 0 w 513"/>
              <a:gd name="T43" fmla="*/ 99 h 199"/>
              <a:gd name="T44" fmla="*/ 1 w 513"/>
              <a:gd name="T45" fmla="*/ 126 h 199"/>
              <a:gd name="T46" fmla="*/ 5 w 513"/>
              <a:gd name="T47" fmla="*/ 151 h 199"/>
              <a:gd name="T48" fmla="*/ 11 w 513"/>
              <a:gd name="T49" fmla="*/ 175 h 199"/>
              <a:gd name="T50" fmla="*/ 20 w 513"/>
              <a:gd name="T51" fmla="*/ 199 h 199"/>
              <a:gd name="T52" fmla="*/ 21 w 513"/>
              <a:gd name="T53" fmla="*/ 187 h 199"/>
              <a:gd name="T54" fmla="*/ 13 w 513"/>
              <a:gd name="T55" fmla="*/ 162 h 199"/>
              <a:gd name="T56" fmla="*/ 8 w 513"/>
              <a:gd name="T57" fmla="*/ 137 h 199"/>
              <a:gd name="T58" fmla="*/ 5 w 513"/>
              <a:gd name="T59" fmla="*/ 112 h 199"/>
              <a:gd name="T60" fmla="*/ 5 w 513"/>
              <a:gd name="T61" fmla="*/ 89 h 199"/>
              <a:gd name="T62" fmla="*/ 6 w 513"/>
              <a:gd name="T63" fmla="*/ 71 h 199"/>
              <a:gd name="T64" fmla="*/ 10 w 513"/>
              <a:gd name="T65" fmla="*/ 53 h 199"/>
              <a:gd name="T66" fmla="*/ 13 w 513"/>
              <a:gd name="T67" fmla="*/ 36 h 199"/>
              <a:gd name="T68" fmla="*/ 10 w 513"/>
              <a:gd name="T69" fmla="*/ 3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3" h="199">
                <a:moveTo>
                  <a:pt x="513" y="99"/>
                </a:moveTo>
                <a:lnTo>
                  <a:pt x="511" y="86"/>
                </a:lnTo>
                <a:lnTo>
                  <a:pt x="511" y="73"/>
                </a:lnTo>
                <a:lnTo>
                  <a:pt x="510" y="59"/>
                </a:lnTo>
                <a:lnTo>
                  <a:pt x="506" y="48"/>
                </a:lnTo>
                <a:lnTo>
                  <a:pt x="505" y="35"/>
                </a:lnTo>
                <a:lnTo>
                  <a:pt x="502" y="23"/>
                </a:lnTo>
                <a:lnTo>
                  <a:pt x="497" y="11"/>
                </a:lnTo>
                <a:lnTo>
                  <a:pt x="492" y="0"/>
                </a:lnTo>
                <a:lnTo>
                  <a:pt x="487" y="0"/>
                </a:lnTo>
                <a:lnTo>
                  <a:pt x="492" y="11"/>
                </a:lnTo>
                <a:lnTo>
                  <a:pt x="497" y="23"/>
                </a:lnTo>
                <a:lnTo>
                  <a:pt x="500" y="35"/>
                </a:lnTo>
                <a:lnTo>
                  <a:pt x="502" y="48"/>
                </a:lnTo>
                <a:lnTo>
                  <a:pt x="505" y="59"/>
                </a:lnTo>
                <a:lnTo>
                  <a:pt x="506" y="73"/>
                </a:lnTo>
                <a:lnTo>
                  <a:pt x="506" y="86"/>
                </a:lnTo>
                <a:lnTo>
                  <a:pt x="508" y="99"/>
                </a:lnTo>
                <a:lnTo>
                  <a:pt x="508" y="107"/>
                </a:lnTo>
                <a:lnTo>
                  <a:pt x="506" y="114"/>
                </a:lnTo>
                <a:lnTo>
                  <a:pt x="506" y="122"/>
                </a:lnTo>
                <a:lnTo>
                  <a:pt x="505" y="131"/>
                </a:lnTo>
                <a:lnTo>
                  <a:pt x="505" y="137"/>
                </a:lnTo>
                <a:lnTo>
                  <a:pt x="503" y="146"/>
                </a:lnTo>
                <a:lnTo>
                  <a:pt x="502" y="154"/>
                </a:lnTo>
                <a:lnTo>
                  <a:pt x="500" y="160"/>
                </a:lnTo>
                <a:lnTo>
                  <a:pt x="505" y="159"/>
                </a:lnTo>
                <a:lnTo>
                  <a:pt x="506" y="151"/>
                </a:lnTo>
                <a:lnTo>
                  <a:pt x="508" y="144"/>
                </a:lnTo>
                <a:lnTo>
                  <a:pt x="510" y="137"/>
                </a:lnTo>
                <a:lnTo>
                  <a:pt x="511" y="129"/>
                </a:lnTo>
                <a:lnTo>
                  <a:pt x="511" y="122"/>
                </a:lnTo>
                <a:lnTo>
                  <a:pt x="511" y="114"/>
                </a:lnTo>
                <a:lnTo>
                  <a:pt x="511" y="106"/>
                </a:lnTo>
                <a:lnTo>
                  <a:pt x="513" y="99"/>
                </a:lnTo>
                <a:close/>
                <a:moveTo>
                  <a:pt x="10" y="30"/>
                </a:moveTo>
                <a:lnTo>
                  <a:pt x="6" y="38"/>
                </a:lnTo>
                <a:lnTo>
                  <a:pt x="5" y="46"/>
                </a:lnTo>
                <a:lnTo>
                  <a:pt x="3" y="54"/>
                </a:lnTo>
                <a:lnTo>
                  <a:pt x="3" y="64"/>
                </a:lnTo>
                <a:lnTo>
                  <a:pt x="1" y="73"/>
                </a:lnTo>
                <a:lnTo>
                  <a:pt x="0" y="81"/>
                </a:lnTo>
                <a:lnTo>
                  <a:pt x="0" y="91"/>
                </a:lnTo>
                <a:lnTo>
                  <a:pt x="0" y="99"/>
                </a:lnTo>
                <a:lnTo>
                  <a:pt x="0" y="112"/>
                </a:lnTo>
                <a:lnTo>
                  <a:pt x="1" y="126"/>
                </a:lnTo>
                <a:lnTo>
                  <a:pt x="3" y="137"/>
                </a:lnTo>
                <a:lnTo>
                  <a:pt x="5" y="151"/>
                </a:lnTo>
                <a:lnTo>
                  <a:pt x="8" y="162"/>
                </a:lnTo>
                <a:lnTo>
                  <a:pt x="11" y="175"/>
                </a:lnTo>
                <a:lnTo>
                  <a:pt x="15" y="187"/>
                </a:lnTo>
                <a:lnTo>
                  <a:pt x="20" y="199"/>
                </a:lnTo>
                <a:lnTo>
                  <a:pt x="25" y="199"/>
                </a:lnTo>
                <a:lnTo>
                  <a:pt x="21" y="187"/>
                </a:lnTo>
                <a:lnTo>
                  <a:pt x="16" y="175"/>
                </a:lnTo>
                <a:lnTo>
                  <a:pt x="13" y="162"/>
                </a:lnTo>
                <a:lnTo>
                  <a:pt x="10" y="151"/>
                </a:lnTo>
                <a:lnTo>
                  <a:pt x="8" y="137"/>
                </a:lnTo>
                <a:lnTo>
                  <a:pt x="6" y="126"/>
                </a:lnTo>
                <a:lnTo>
                  <a:pt x="5" y="112"/>
                </a:lnTo>
                <a:lnTo>
                  <a:pt x="5" y="99"/>
                </a:lnTo>
                <a:lnTo>
                  <a:pt x="5" y="89"/>
                </a:lnTo>
                <a:lnTo>
                  <a:pt x="5" y="81"/>
                </a:lnTo>
                <a:lnTo>
                  <a:pt x="6" y="71"/>
                </a:lnTo>
                <a:lnTo>
                  <a:pt x="8" y="63"/>
                </a:lnTo>
                <a:lnTo>
                  <a:pt x="10" y="53"/>
                </a:lnTo>
                <a:lnTo>
                  <a:pt x="11" y="45"/>
                </a:lnTo>
                <a:lnTo>
                  <a:pt x="13" y="36"/>
                </a:lnTo>
                <a:lnTo>
                  <a:pt x="15" y="28"/>
                </a:lnTo>
                <a:lnTo>
                  <a:pt x="10" y="3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12" name="Freeform 1317">
            <a:extLst>
              <a:ext uri="{FF2B5EF4-FFF2-40B4-BE49-F238E27FC236}">
                <a16:creationId xmlns:a16="http://schemas.microsoft.com/office/drawing/2014/main" id="{B589C1F4-D441-6D79-D864-29F4987ABC53}"/>
              </a:ext>
            </a:extLst>
          </p:cNvPr>
          <p:cNvSpPr>
            <a:spLocks noEditPoints="1"/>
          </p:cNvSpPr>
          <p:nvPr/>
        </p:nvSpPr>
        <p:spPr bwMode="auto">
          <a:xfrm>
            <a:off x="2513013" y="2403475"/>
            <a:ext cx="804863" cy="315913"/>
          </a:xfrm>
          <a:custGeom>
            <a:avLst/>
            <a:gdLst>
              <a:gd name="T0" fmla="*/ 507 w 507"/>
              <a:gd name="T1" fmla="*/ 86 h 199"/>
              <a:gd name="T2" fmla="*/ 503 w 507"/>
              <a:gd name="T3" fmla="*/ 59 h 199"/>
              <a:gd name="T4" fmla="*/ 499 w 507"/>
              <a:gd name="T5" fmla="*/ 35 h 199"/>
              <a:gd name="T6" fmla="*/ 492 w 507"/>
              <a:gd name="T7" fmla="*/ 11 h 199"/>
              <a:gd name="T8" fmla="*/ 482 w 507"/>
              <a:gd name="T9" fmla="*/ 0 h 199"/>
              <a:gd name="T10" fmla="*/ 490 w 507"/>
              <a:gd name="T11" fmla="*/ 23 h 199"/>
              <a:gd name="T12" fmla="*/ 497 w 507"/>
              <a:gd name="T13" fmla="*/ 48 h 199"/>
              <a:gd name="T14" fmla="*/ 500 w 507"/>
              <a:gd name="T15" fmla="*/ 73 h 199"/>
              <a:gd name="T16" fmla="*/ 502 w 507"/>
              <a:gd name="T17" fmla="*/ 99 h 199"/>
              <a:gd name="T18" fmla="*/ 502 w 507"/>
              <a:gd name="T19" fmla="*/ 116 h 199"/>
              <a:gd name="T20" fmla="*/ 500 w 507"/>
              <a:gd name="T21" fmla="*/ 131 h 199"/>
              <a:gd name="T22" fmla="*/ 497 w 507"/>
              <a:gd name="T23" fmla="*/ 147 h 199"/>
              <a:gd name="T24" fmla="*/ 494 w 507"/>
              <a:gd name="T25" fmla="*/ 162 h 199"/>
              <a:gd name="T26" fmla="*/ 502 w 507"/>
              <a:gd name="T27" fmla="*/ 152 h 199"/>
              <a:gd name="T28" fmla="*/ 503 w 507"/>
              <a:gd name="T29" fmla="*/ 137 h 199"/>
              <a:gd name="T30" fmla="*/ 505 w 507"/>
              <a:gd name="T31" fmla="*/ 122 h 199"/>
              <a:gd name="T32" fmla="*/ 507 w 507"/>
              <a:gd name="T33" fmla="*/ 107 h 199"/>
              <a:gd name="T34" fmla="*/ 10 w 507"/>
              <a:gd name="T35" fmla="*/ 30 h 199"/>
              <a:gd name="T36" fmla="*/ 5 w 507"/>
              <a:gd name="T37" fmla="*/ 46 h 199"/>
              <a:gd name="T38" fmla="*/ 2 w 507"/>
              <a:gd name="T39" fmla="*/ 63 h 199"/>
              <a:gd name="T40" fmla="*/ 0 w 507"/>
              <a:gd name="T41" fmla="*/ 81 h 199"/>
              <a:gd name="T42" fmla="*/ 0 w 507"/>
              <a:gd name="T43" fmla="*/ 99 h 199"/>
              <a:gd name="T44" fmla="*/ 0 w 507"/>
              <a:gd name="T45" fmla="*/ 126 h 199"/>
              <a:gd name="T46" fmla="*/ 5 w 507"/>
              <a:gd name="T47" fmla="*/ 151 h 199"/>
              <a:gd name="T48" fmla="*/ 12 w 507"/>
              <a:gd name="T49" fmla="*/ 175 h 199"/>
              <a:gd name="T50" fmla="*/ 20 w 507"/>
              <a:gd name="T51" fmla="*/ 199 h 199"/>
              <a:gd name="T52" fmla="*/ 20 w 507"/>
              <a:gd name="T53" fmla="*/ 187 h 199"/>
              <a:gd name="T54" fmla="*/ 12 w 507"/>
              <a:gd name="T55" fmla="*/ 162 h 199"/>
              <a:gd name="T56" fmla="*/ 7 w 507"/>
              <a:gd name="T57" fmla="*/ 137 h 199"/>
              <a:gd name="T58" fmla="*/ 5 w 507"/>
              <a:gd name="T59" fmla="*/ 112 h 199"/>
              <a:gd name="T60" fmla="*/ 5 w 507"/>
              <a:gd name="T61" fmla="*/ 89 h 199"/>
              <a:gd name="T62" fmla="*/ 5 w 507"/>
              <a:gd name="T63" fmla="*/ 71 h 199"/>
              <a:gd name="T64" fmla="*/ 8 w 507"/>
              <a:gd name="T65" fmla="*/ 53 h 199"/>
              <a:gd name="T66" fmla="*/ 13 w 507"/>
              <a:gd name="T67" fmla="*/ 35 h 199"/>
              <a:gd name="T68" fmla="*/ 10 w 507"/>
              <a:gd name="T69" fmla="*/ 3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7" h="199">
                <a:moveTo>
                  <a:pt x="507" y="99"/>
                </a:moveTo>
                <a:lnTo>
                  <a:pt x="507" y="86"/>
                </a:lnTo>
                <a:lnTo>
                  <a:pt x="505" y="73"/>
                </a:lnTo>
                <a:lnTo>
                  <a:pt x="503" y="59"/>
                </a:lnTo>
                <a:lnTo>
                  <a:pt x="502" y="48"/>
                </a:lnTo>
                <a:lnTo>
                  <a:pt x="499" y="35"/>
                </a:lnTo>
                <a:lnTo>
                  <a:pt x="495" y="23"/>
                </a:lnTo>
                <a:lnTo>
                  <a:pt x="492" y="11"/>
                </a:lnTo>
                <a:lnTo>
                  <a:pt x="487" y="0"/>
                </a:lnTo>
                <a:lnTo>
                  <a:pt x="482" y="0"/>
                </a:lnTo>
                <a:lnTo>
                  <a:pt x="487" y="11"/>
                </a:lnTo>
                <a:lnTo>
                  <a:pt x="490" y="23"/>
                </a:lnTo>
                <a:lnTo>
                  <a:pt x="494" y="35"/>
                </a:lnTo>
                <a:lnTo>
                  <a:pt x="497" y="48"/>
                </a:lnTo>
                <a:lnTo>
                  <a:pt x="499" y="59"/>
                </a:lnTo>
                <a:lnTo>
                  <a:pt x="500" y="73"/>
                </a:lnTo>
                <a:lnTo>
                  <a:pt x="502" y="86"/>
                </a:lnTo>
                <a:lnTo>
                  <a:pt x="502" y="99"/>
                </a:lnTo>
                <a:lnTo>
                  <a:pt x="502" y="107"/>
                </a:lnTo>
                <a:lnTo>
                  <a:pt x="502" y="116"/>
                </a:lnTo>
                <a:lnTo>
                  <a:pt x="502" y="122"/>
                </a:lnTo>
                <a:lnTo>
                  <a:pt x="500" y="131"/>
                </a:lnTo>
                <a:lnTo>
                  <a:pt x="499" y="139"/>
                </a:lnTo>
                <a:lnTo>
                  <a:pt x="497" y="147"/>
                </a:lnTo>
                <a:lnTo>
                  <a:pt x="495" y="154"/>
                </a:lnTo>
                <a:lnTo>
                  <a:pt x="494" y="162"/>
                </a:lnTo>
                <a:lnTo>
                  <a:pt x="500" y="159"/>
                </a:lnTo>
                <a:lnTo>
                  <a:pt x="502" y="152"/>
                </a:lnTo>
                <a:lnTo>
                  <a:pt x="503" y="146"/>
                </a:lnTo>
                <a:lnTo>
                  <a:pt x="503" y="137"/>
                </a:lnTo>
                <a:lnTo>
                  <a:pt x="505" y="129"/>
                </a:lnTo>
                <a:lnTo>
                  <a:pt x="505" y="122"/>
                </a:lnTo>
                <a:lnTo>
                  <a:pt x="507" y="114"/>
                </a:lnTo>
                <a:lnTo>
                  <a:pt x="507" y="107"/>
                </a:lnTo>
                <a:lnTo>
                  <a:pt x="507" y="99"/>
                </a:lnTo>
                <a:close/>
                <a:moveTo>
                  <a:pt x="10" y="30"/>
                </a:moveTo>
                <a:lnTo>
                  <a:pt x="7" y="38"/>
                </a:lnTo>
                <a:lnTo>
                  <a:pt x="5" y="46"/>
                </a:lnTo>
                <a:lnTo>
                  <a:pt x="3" y="54"/>
                </a:lnTo>
                <a:lnTo>
                  <a:pt x="2" y="63"/>
                </a:lnTo>
                <a:lnTo>
                  <a:pt x="0" y="73"/>
                </a:lnTo>
                <a:lnTo>
                  <a:pt x="0" y="81"/>
                </a:lnTo>
                <a:lnTo>
                  <a:pt x="0" y="89"/>
                </a:lnTo>
                <a:lnTo>
                  <a:pt x="0" y="99"/>
                </a:lnTo>
                <a:lnTo>
                  <a:pt x="0" y="112"/>
                </a:lnTo>
                <a:lnTo>
                  <a:pt x="0" y="126"/>
                </a:lnTo>
                <a:lnTo>
                  <a:pt x="2" y="137"/>
                </a:lnTo>
                <a:lnTo>
                  <a:pt x="5" y="151"/>
                </a:lnTo>
                <a:lnTo>
                  <a:pt x="7" y="162"/>
                </a:lnTo>
                <a:lnTo>
                  <a:pt x="12" y="175"/>
                </a:lnTo>
                <a:lnTo>
                  <a:pt x="15" y="187"/>
                </a:lnTo>
                <a:lnTo>
                  <a:pt x="20" y="199"/>
                </a:lnTo>
                <a:lnTo>
                  <a:pt x="25" y="199"/>
                </a:lnTo>
                <a:lnTo>
                  <a:pt x="20" y="187"/>
                </a:lnTo>
                <a:lnTo>
                  <a:pt x="17" y="175"/>
                </a:lnTo>
                <a:lnTo>
                  <a:pt x="12" y="162"/>
                </a:lnTo>
                <a:lnTo>
                  <a:pt x="10" y="151"/>
                </a:lnTo>
                <a:lnTo>
                  <a:pt x="7" y="137"/>
                </a:lnTo>
                <a:lnTo>
                  <a:pt x="5" y="126"/>
                </a:lnTo>
                <a:lnTo>
                  <a:pt x="5" y="112"/>
                </a:lnTo>
                <a:lnTo>
                  <a:pt x="3" y="99"/>
                </a:lnTo>
                <a:lnTo>
                  <a:pt x="5" y="89"/>
                </a:lnTo>
                <a:lnTo>
                  <a:pt x="5" y="81"/>
                </a:lnTo>
                <a:lnTo>
                  <a:pt x="5" y="71"/>
                </a:lnTo>
                <a:lnTo>
                  <a:pt x="7" y="61"/>
                </a:lnTo>
                <a:lnTo>
                  <a:pt x="8" y="53"/>
                </a:lnTo>
                <a:lnTo>
                  <a:pt x="10" y="43"/>
                </a:lnTo>
                <a:lnTo>
                  <a:pt x="13" y="35"/>
                </a:lnTo>
                <a:lnTo>
                  <a:pt x="15" y="26"/>
                </a:lnTo>
                <a:lnTo>
                  <a:pt x="10" y="3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13" name="Freeform 1318">
            <a:extLst>
              <a:ext uri="{FF2B5EF4-FFF2-40B4-BE49-F238E27FC236}">
                <a16:creationId xmlns:a16="http://schemas.microsoft.com/office/drawing/2014/main" id="{C274A7D4-7FCA-3D75-CD2A-D5C2F4F2DD2D}"/>
              </a:ext>
            </a:extLst>
          </p:cNvPr>
          <p:cNvSpPr>
            <a:spLocks noEditPoints="1"/>
          </p:cNvSpPr>
          <p:nvPr/>
        </p:nvSpPr>
        <p:spPr bwMode="auto">
          <a:xfrm>
            <a:off x="2516188" y="2403475"/>
            <a:ext cx="798513" cy="315913"/>
          </a:xfrm>
          <a:custGeom>
            <a:avLst/>
            <a:gdLst>
              <a:gd name="T0" fmla="*/ 501 w 503"/>
              <a:gd name="T1" fmla="*/ 86 h 199"/>
              <a:gd name="T2" fmla="*/ 500 w 503"/>
              <a:gd name="T3" fmla="*/ 59 h 199"/>
              <a:gd name="T4" fmla="*/ 495 w 503"/>
              <a:gd name="T5" fmla="*/ 35 h 199"/>
              <a:gd name="T6" fmla="*/ 487 w 503"/>
              <a:gd name="T7" fmla="*/ 11 h 199"/>
              <a:gd name="T8" fmla="*/ 477 w 503"/>
              <a:gd name="T9" fmla="*/ 0 h 199"/>
              <a:gd name="T10" fmla="*/ 487 w 503"/>
              <a:gd name="T11" fmla="*/ 23 h 199"/>
              <a:gd name="T12" fmla="*/ 493 w 503"/>
              <a:gd name="T13" fmla="*/ 48 h 199"/>
              <a:gd name="T14" fmla="*/ 497 w 503"/>
              <a:gd name="T15" fmla="*/ 73 h 199"/>
              <a:gd name="T16" fmla="*/ 498 w 503"/>
              <a:gd name="T17" fmla="*/ 99 h 199"/>
              <a:gd name="T18" fmla="*/ 497 w 503"/>
              <a:gd name="T19" fmla="*/ 116 h 199"/>
              <a:gd name="T20" fmla="*/ 495 w 503"/>
              <a:gd name="T21" fmla="*/ 132 h 199"/>
              <a:gd name="T22" fmla="*/ 493 w 503"/>
              <a:gd name="T23" fmla="*/ 147 h 199"/>
              <a:gd name="T24" fmla="*/ 490 w 503"/>
              <a:gd name="T25" fmla="*/ 164 h 199"/>
              <a:gd name="T26" fmla="*/ 497 w 503"/>
              <a:gd name="T27" fmla="*/ 154 h 199"/>
              <a:gd name="T28" fmla="*/ 500 w 503"/>
              <a:gd name="T29" fmla="*/ 137 h 199"/>
              <a:gd name="T30" fmla="*/ 501 w 503"/>
              <a:gd name="T31" fmla="*/ 122 h 199"/>
              <a:gd name="T32" fmla="*/ 503 w 503"/>
              <a:gd name="T33" fmla="*/ 107 h 199"/>
              <a:gd name="T34" fmla="*/ 10 w 503"/>
              <a:gd name="T35" fmla="*/ 28 h 199"/>
              <a:gd name="T36" fmla="*/ 6 w 503"/>
              <a:gd name="T37" fmla="*/ 45 h 199"/>
              <a:gd name="T38" fmla="*/ 3 w 503"/>
              <a:gd name="T39" fmla="*/ 63 h 199"/>
              <a:gd name="T40" fmla="*/ 0 w 503"/>
              <a:gd name="T41" fmla="*/ 81 h 199"/>
              <a:gd name="T42" fmla="*/ 0 w 503"/>
              <a:gd name="T43" fmla="*/ 99 h 199"/>
              <a:gd name="T44" fmla="*/ 1 w 503"/>
              <a:gd name="T45" fmla="*/ 126 h 199"/>
              <a:gd name="T46" fmla="*/ 5 w 503"/>
              <a:gd name="T47" fmla="*/ 151 h 199"/>
              <a:gd name="T48" fmla="*/ 11 w 503"/>
              <a:gd name="T49" fmla="*/ 175 h 199"/>
              <a:gd name="T50" fmla="*/ 20 w 503"/>
              <a:gd name="T51" fmla="*/ 199 h 199"/>
              <a:gd name="T52" fmla="*/ 21 w 503"/>
              <a:gd name="T53" fmla="*/ 187 h 199"/>
              <a:gd name="T54" fmla="*/ 13 w 503"/>
              <a:gd name="T55" fmla="*/ 162 h 199"/>
              <a:gd name="T56" fmla="*/ 8 w 503"/>
              <a:gd name="T57" fmla="*/ 137 h 199"/>
              <a:gd name="T58" fmla="*/ 5 w 503"/>
              <a:gd name="T59" fmla="*/ 112 h 199"/>
              <a:gd name="T60" fmla="*/ 5 w 503"/>
              <a:gd name="T61" fmla="*/ 89 h 199"/>
              <a:gd name="T62" fmla="*/ 6 w 503"/>
              <a:gd name="T63" fmla="*/ 71 h 199"/>
              <a:gd name="T64" fmla="*/ 10 w 503"/>
              <a:gd name="T65" fmla="*/ 51 h 199"/>
              <a:gd name="T66" fmla="*/ 13 w 503"/>
              <a:gd name="T67" fmla="*/ 33 h 199"/>
              <a:gd name="T68" fmla="*/ 10 w 503"/>
              <a:gd name="T69" fmla="*/ 2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3" h="199">
                <a:moveTo>
                  <a:pt x="503" y="99"/>
                </a:moveTo>
                <a:lnTo>
                  <a:pt x="501" y="86"/>
                </a:lnTo>
                <a:lnTo>
                  <a:pt x="501" y="73"/>
                </a:lnTo>
                <a:lnTo>
                  <a:pt x="500" y="59"/>
                </a:lnTo>
                <a:lnTo>
                  <a:pt x="497" y="48"/>
                </a:lnTo>
                <a:lnTo>
                  <a:pt x="495" y="35"/>
                </a:lnTo>
                <a:lnTo>
                  <a:pt x="492" y="23"/>
                </a:lnTo>
                <a:lnTo>
                  <a:pt x="487" y="11"/>
                </a:lnTo>
                <a:lnTo>
                  <a:pt x="482" y="0"/>
                </a:lnTo>
                <a:lnTo>
                  <a:pt x="477" y="0"/>
                </a:lnTo>
                <a:lnTo>
                  <a:pt x="482" y="11"/>
                </a:lnTo>
                <a:lnTo>
                  <a:pt x="487" y="23"/>
                </a:lnTo>
                <a:lnTo>
                  <a:pt x="490" y="35"/>
                </a:lnTo>
                <a:lnTo>
                  <a:pt x="493" y="48"/>
                </a:lnTo>
                <a:lnTo>
                  <a:pt x="495" y="59"/>
                </a:lnTo>
                <a:lnTo>
                  <a:pt x="497" y="73"/>
                </a:lnTo>
                <a:lnTo>
                  <a:pt x="498" y="86"/>
                </a:lnTo>
                <a:lnTo>
                  <a:pt x="498" y="99"/>
                </a:lnTo>
                <a:lnTo>
                  <a:pt x="498" y="107"/>
                </a:lnTo>
                <a:lnTo>
                  <a:pt x="497" y="116"/>
                </a:lnTo>
                <a:lnTo>
                  <a:pt x="497" y="124"/>
                </a:lnTo>
                <a:lnTo>
                  <a:pt x="495" y="132"/>
                </a:lnTo>
                <a:lnTo>
                  <a:pt x="495" y="139"/>
                </a:lnTo>
                <a:lnTo>
                  <a:pt x="493" y="147"/>
                </a:lnTo>
                <a:lnTo>
                  <a:pt x="492" y="155"/>
                </a:lnTo>
                <a:lnTo>
                  <a:pt x="490" y="164"/>
                </a:lnTo>
                <a:lnTo>
                  <a:pt x="495" y="160"/>
                </a:lnTo>
                <a:lnTo>
                  <a:pt x="497" y="154"/>
                </a:lnTo>
                <a:lnTo>
                  <a:pt x="498" y="146"/>
                </a:lnTo>
                <a:lnTo>
                  <a:pt x="500" y="137"/>
                </a:lnTo>
                <a:lnTo>
                  <a:pt x="500" y="131"/>
                </a:lnTo>
                <a:lnTo>
                  <a:pt x="501" y="122"/>
                </a:lnTo>
                <a:lnTo>
                  <a:pt x="501" y="114"/>
                </a:lnTo>
                <a:lnTo>
                  <a:pt x="503" y="107"/>
                </a:lnTo>
                <a:lnTo>
                  <a:pt x="503" y="99"/>
                </a:lnTo>
                <a:close/>
                <a:moveTo>
                  <a:pt x="10" y="28"/>
                </a:moveTo>
                <a:lnTo>
                  <a:pt x="8" y="36"/>
                </a:lnTo>
                <a:lnTo>
                  <a:pt x="6" y="45"/>
                </a:lnTo>
                <a:lnTo>
                  <a:pt x="5" y="53"/>
                </a:lnTo>
                <a:lnTo>
                  <a:pt x="3" y="63"/>
                </a:lnTo>
                <a:lnTo>
                  <a:pt x="1" y="71"/>
                </a:lnTo>
                <a:lnTo>
                  <a:pt x="0" y="81"/>
                </a:lnTo>
                <a:lnTo>
                  <a:pt x="0" y="89"/>
                </a:lnTo>
                <a:lnTo>
                  <a:pt x="0" y="99"/>
                </a:lnTo>
                <a:lnTo>
                  <a:pt x="0" y="112"/>
                </a:lnTo>
                <a:lnTo>
                  <a:pt x="1" y="126"/>
                </a:lnTo>
                <a:lnTo>
                  <a:pt x="3" y="137"/>
                </a:lnTo>
                <a:lnTo>
                  <a:pt x="5" y="151"/>
                </a:lnTo>
                <a:lnTo>
                  <a:pt x="8" y="162"/>
                </a:lnTo>
                <a:lnTo>
                  <a:pt x="11" y="175"/>
                </a:lnTo>
                <a:lnTo>
                  <a:pt x="16" y="187"/>
                </a:lnTo>
                <a:lnTo>
                  <a:pt x="20" y="199"/>
                </a:lnTo>
                <a:lnTo>
                  <a:pt x="26" y="199"/>
                </a:lnTo>
                <a:lnTo>
                  <a:pt x="21" y="187"/>
                </a:lnTo>
                <a:lnTo>
                  <a:pt x="16" y="175"/>
                </a:lnTo>
                <a:lnTo>
                  <a:pt x="13" y="162"/>
                </a:lnTo>
                <a:lnTo>
                  <a:pt x="10" y="151"/>
                </a:lnTo>
                <a:lnTo>
                  <a:pt x="8" y="137"/>
                </a:lnTo>
                <a:lnTo>
                  <a:pt x="6" y="126"/>
                </a:lnTo>
                <a:lnTo>
                  <a:pt x="5" y="112"/>
                </a:lnTo>
                <a:lnTo>
                  <a:pt x="5" y="99"/>
                </a:lnTo>
                <a:lnTo>
                  <a:pt x="5" y="89"/>
                </a:lnTo>
                <a:lnTo>
                  <a:pt x="5" y="79"/>
                </a:lnTo>
                <a:lnTo>
                  <a:pt x="6" y="71"/>
                </a:lnTo>
                <a:lnTo>
                  <a:pt x="8" y="61"/>
                </a:lnTo>
                <a:lnTo>
                  <a:pt x="10" y="51"/>
                </a:lnTo>
                <a:lnTo>
                  <a:pt x="11" y="43"/>
                </a:lnTo>
                <a:lnTo>
                  <a:pt x="13" y="33"/>
                </a:lnTo>
                <a:lnTo>
                  <a:pt x="16" y="25"/>
                </a:lnTo>
                <a:lnTo>
                  <a:pt x="10" y="28"/>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14" name="Freeform 1319">
            <a:extLst>
              <a:ext uri="{FF2B5EF4-FFF2-40B4-BE49-F238E27FC236}">
                <a16:creationId xmlns:a16="http://schemas.microsoft.com/office/drawing/2014/main" id="{21EFA901-094E-DD03-3EA9-5665E5470F6B}"/>
              </a:ext>
            </a:extLst>
          </p:cNvPr>
          <p:cNvSpPr>
            <a:spLocks noEditPoints="1"/>
          </p:cNvSpPr>
          <p:nvPr/>
        </p:nvSpPr>
        <p:spPr bwMode="auto">
          <a:xfrm>
            <a:off x="2517775" y="2403475"/>
            <a:ext cx="792163" cy="315913"/>
          </a:xfrm>
          <a:custGeom>
            <a:avLst/>
            <a:gdLst>
              <a:gd name="T0" fmla="*/ 499 w 499"/>
              <a:gd name="T1" fmla="*/ 86 h 199"/>
              <a:gd name="T2" fmla="*/ 496 w 499"/>
              <a:gd name="T3" fmla="*/ 59 h 199"/>
              <a:gd name="T4" fmla="*/ 491 w 499"/>
              <a:gd name="T5" fmla="*/ 35 h 199"/>
              <a:gd name="T6" fmla="*/ 484 w 499"/>
              <a:gd name="T7" fmla="*/ 11 h 199"/>
              <a:gd name="T8" fmla="*/ 474 w 499"/>
              <a:gd name="T9" fmla="*/ 0 h 199"/>
              <a:gd name="T10" fmla="*/ 482 w 499"/>
              <a:gd name="T11" fmla="*/ 23 h 199"/>
              <a:gd name="T12" fmla="*/ 489 w 499"/>
              <a:gd name="T13" fmla="*/ 48 h 199"/>
              <a:gd name="T14" fmla="*/ 492 w 499"/>
              <a:gd name="T15" fmla="*/ 73 h 199"/>
              <a:gd name="T16" fmla="*/ 494 w 499"/>
              <a:gd name="T17" fmla="*/ 99 h 199"/>
              <a:gd name="T18" fmla="*/ 494 w 499"/>
              <a:gd name="T19" fmla="*/ 116 h 199"/>
              <a:gd name="T20" fmla="*/ 492 w 499"/>
              <a:gd name="T21" fmla="*/ 132 h 199"/>
              <a:gd name="T22" fmla="*/ 489 w 499"/>
              <a:gd name="T23" fmla="*/ 149 h 199"/>
              <a:gd name="T24" fmla="*/ 486 w 499"/>
              <a:gd name="T25" fmla="*/ 164 h 199"/>
              <a:gd name="T26" fmla="*/ 492 w 499"/>
              <a:gd name="T27" fmla="*/ 154 h 199"/>
              <a:gd name="T28" fmla="*/ 496 w 499"/>
              <a:gd name="T29" fmla="*/ 139 h 199"/>
              <a:gd name="T30" fmla="*/ 499 w 499"/>
              <a:gd name="T31" fmla="*/ 122 h 199"/>
              <a:gd name="T32" fmla="*/ 499 w 499"/>
              <a:gd name="T33" fmla="*/ 107 h 199"/>
              <a:gd name="T34" fmla="*/ 12 w 499"/>
              <a:gd name="T35" fmla="*/ 26 h 199"/>
              <a:gd name="T36" fmla="*/ 7 w 499"/>
              <a:gd name="T37" fmla="*/ 43 h 199"/>
              <a:gd name="T38" fmla="*/ 4 w 499"/>
              <a:gd name="T39" fmla="*/ 61 h 199"/>
              <a:gd name="T40" fmla="*/ 2 w 499"/>
              <a:gd name="T41" fmla="*/ 81 h 199"/>
              <a:gd name="T42" fmla="*/ 0 w 499"/>
              <a:gd name="T43" fmla="*/ 99 h 199"/>
              <a:gd name="T44" fmla="*/ 2 w 499"/>
              <a:gd name="T45" fmla="*/ 126 h 199"/>
              <a:gd name="T46" fmla="*/ 7 w 499"/>
              <a:gd name="T47" fmla="*/ 151 h 199"/>
              <a:gd name="T48" fmla="*/ 14 w 499"/>
              <a:gd name="T49" fmla="*/ 175 h 199"/>
              <a:gd name="T50" fmla="*/ 22 w 499"/>
              <a:gd name="T51" fmla="*/ 199 h 199"/>
              <a:gd name="T52" fmla="*/ 22 w 499"/>
              <a:gd name="T53" fmla="*/ 187 h 199"/>
              <a:gd name="T54" fmla="*/ 14 w 499"/>
              <a:gd name="T55" fmla="*/ 162 h 199"/>
              <a:gd name="T56" fmla="*/ 9 w 499"/>
              <a:gd name="T57" fmla="*/ 137 h 199"/>
              <a:gd name="T58" fmla="*/ 7 w 499"/>
              <a:gd name="T59" fmla="*/ 112 h 199"/>
              <a:gd name="T60" fmla="*/ 5 w 499"/>
              <a:gd name="T61" fmla="*/ 89 h 199"/>
              <a:gd name="T62" fmla="*/ 7 w 499"/>
              <a:gd name="T63" fmla="*/ 69 h 199"/>
              <a:gd name="T64" fmla="*/ 10 w 499"/>
              <a:gd name="T65" fmla="*/ 51 h 199"/>
              <a:gd name="T66" fmla="*/ 15 w 499"/>
              <a:gd name="T67" fmla="*/ 33 h 199"/>
              <a:gd name="T68" fmla="*/ 12 w 499"/>
              <a:gd name="T69" fmla="*/ 2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9" h="199">
                <a:moveTo>
                  <a:pt x="499" y="99"/>
                </a:moveTo>
                <a:lnTo>
                  <a:pt x="499" y="86"/>
                </a:lnTo>
                <a:lnTo>
                  <a:pt x="497" y="73"/>
                </a:lnTo>
                <a:lnTo>
                  <a:pt x="496" y="59"/>
                </a:lnTo>
                <a:lnTo>
                  <a:pt x="494" y="48"/>
                </a:lnTo>
                <a:lnTo>
                  <a:pt x="491" y="35"/>
                </a:lnTo>
                <a:lnTo>
                  <a:pt x="487" y="23"/>
                </a:lnTo>
                <a:lnTo>
                  <a:pt x="484" y="11"/>
                </a:lnTo>
                <a:lnTo>
                  <a:pt x="479" y="0"/>
                </a:lnTo>
                <a:lnTo>
                  <a:pt x="474" y="0"/>
                </a:lnTo>
                <a:lnTo>
                  <a:pt x="477" y="11"/>
                </a:lnTo>
                <a:lnTo>
                  <a:pt x="482" y="23"/>
                </a:lnTo>
                <a:lnTo>
                  <a:pt x="486" y="35"/>
                </a:lnTo>
                <a:lnTo>
                  <a:pt x="489" y="48"/>
                </a:lnTo>
                <a:lnTo>
                  <a:pt x="491" y="59"/>
                </a:lnTo>
                <a:lnTo>
                  <a:pt x="492" y="73"/>
                </a:lnTo>
                <a:lnTo>
                  <a:pt x="494" y="86"/>
                </a:lnTo>
                <a:lnTo>
                  <a:pt x="494" y="99"/>
                </a:lnTo>
                <a:lnTo>
                  <a:pt x="494" y="107"/>
                </a:lnTo>
                <a:lnTo>
                  <a:pt x="494" y="116"/>
                </a:lnTo>
                <a:lnTo>
                  <a:pt x="494" y="124"/>
                </a:lnTo>
                <a:lnTo>
                  <a:pt x="492" y="132"/>
                </a:lnTo>
                <a:lnTo>
                  <a:pt x="491" y="141"/>
                </a:lnTo>
                <a:lnTo>
                  <a:pt x="489" y="149"/>
                </a:lnTo>
                <a:lnTo>
                  <a:pt x="487" y="157"/>
                </a:lnTo>
                <a:lnTo>
                  <a:pt x="486" y="164"/>
                </a:lnTo>
                <a:lnTo>
                  <a:pt x="491" y="162"/>
                </a:lnTo>
                <a:lnTo>
                  <a:pt x="492" y="154"/>
                </a:lnTo>
                <a:lnTo>
                  <a:pt x="494" y="147"/>
                </a:lnTo>
                <a:lnTo>
                  <a:pt x="496" y="139"/>
                </a:lnTo>
                <a:lnTo>
                  <a:pt x="497" y="131"/>
                </a:lnTo>
                <a:lnTo>
                  <a:pt x="499" y="122"/>
                </a:lnTo>
                <a:lnTo>
                  <a:pt x="499" y="116"/>
                </a:lnTo>
                <a:lnTo>
                  <a:pt x="499" y="107"/>
                </a:lnTo>
                <a:lnTo>
                  <a:pt x="499" y="99"/>
                </a:lnTo>
                <a:close/>
                <a:moveTo>
                  <a:pt x="12" y="26"/>
                </a:moveTo>
                <a:lnTo>
                  <a:pt x="10" y="35"/>
                </a:lnTo>
                <a:lnTo>
                  <a:pt x="7" y="43"/>
                </a:lnTo>
                <a:lnTo>
                  <a:pt x="5" y="53"/>
                </a:lnTo>
                <a:lnTo>
                  <a:pt x="4" y="61"/>
                </a:lnTo>
                <a:lnTo>
                  <a:pt x="2" y="71"/>
                </a:lnTo>
                <a:lnTo>
                  <a:pt x="2" y="81"/>
                </a:lnTo>
                <a:lnTo>
                  <a:pt x="2" y="89"/>
                </a:lnTo>
                <a:lnTo>
                  <a:pt x="0" y="99"/>
                </a:lnTo>
                <a:lnTo>
                  <a:pt x="2" y="112"/>
                </a:lnTo>
                <a:lnTo>
                  <a:pt x="2" y="126"/>
                </a:lnTo>
                <a:lnTo>
                  <a:pt x="4" y="137"/>
                </a:lnTo>
                <a:lnTo>
                  <a:pt x="7" y="151"/>
                </a:lnTo>
                <a:lnTo>
                  <a:pt x="9" y="162"/>
                </a:lnTo>
                <a:lnTo>
                  <a:pt x="14" y="175"/>
                </a:lnTo>
                <a:lnTo>
                  <a:pt x="17" y="187"/>
                </a:lnTo>
                <a:lnTo>
                  <a:pt x="22" y="199"/>
                </a:lnTo>
                <a:lnTo>
                  <a:pt x="27" y="199"/>
                </a:lnTo>
                <a:lnTo>
                  <a:pt x="22" y="187"/>
                </a:lnTo>
                <a:lnTo>
                  <a:pt x="19" y="175"/>
                </a:lnTo>
                <a:lnTo>
                  <a:pt x="14" y="162"/>
                </a:lnTo>
                <a:lnTo>
                  <a:pt x="12" y="151"/>
                </a:lnTo>
                <a:lnTo>
                  <a:pt x="9" y="137"/>
                </a:lnTo>
                <a:lnTo>
                  <a:pt x="7" y="126"/>
                </a:lnTo>
                <a:lnTo>
                  <a:pt x="7" y="112"/>
                </a:lnTo>
                <a:lnTo>
                  <a:pt x="5" y="99"/>
                </a:lnTo>
                <a:lnTo>
                  <a:pt x="5" y="89"/>
                </a:lnTo>
                <a:lnTo>
                  <a:pt x="7" y="79"/>
                </a:lnTo>
                <a:lnTo>
                  <a:pt x="7" y="69"/>
                </a:lnTo>
                <a:lnTo>
                  <a:pt x="9" y="59"/>
                </a:lnTo>
                <a:lnTo>
                  <a:pt x="10" y="51"/>
                </a:lnTo>
                <a:lnTo>
                  <a:pt x="12" y="41"/>
                </a:lnTo>
                <a:lnTo>
                  <a:pt x="15" y="33"/>
                </a:lnTo>
                <a:lnTo>
                  <a:pt x="19" y="23"/>
                </a:lnTo>
                <a:lnTo>
                  <a:pt x="12" y="26"/>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15" name="Freeform 1320">
            <a:extLst>
              <a:ext uri="{FF2B5EF4-FFF2-40B4-BE49-F238E27FC236}">
                <a16:creationId xmlns:a16="http://schemas.microsoft.com/office/drawing/2014/main" id="{A71BD42F-004D-05FE-F5A5-440B543DA6C2}"/>
              </a:ext>
            </a:extLst>
          </p:cNvPr>
          <p:cNvSpPr>
            <a:spLocks noEditPoints="1"/>
          </p:cNvSpPr>
          <p:nvPr/>
        </p:nvSpPr>
        <p:spPr bwMode="auto">
          <a:xfrm>
            <a:off x="2524125" y="2403475"/>
            <a:ext cx="782638" cy="315913"/>
          </a:xfrm>
          <a:custGeom>
            <a:avLst/>
            <a:gdLst>
              <a:gd name="T0" fmla="*/ 493 w 493"/>
              <a:gd name="T1" fmla="*/ 86 h 199"/>
              <a:gd name="T2" fmla="*/ 490 w 493"/>
              <a:gd name="T3" fmla="*/ 59 h 199"/>
              <a:gd name="T4" fmla="*/ 485 w 493"/>
              <a:gd name="T5" fmla="*/ 35 h 199"/>
              <a:gd name="T6" fmla="*/ 477 w 493"/>
              <a:gd name="T7" fmla="*/ 11 h 199"/>
              <a:gd name="T8" fmla="*/ 467 w 493"/>
              <a:gd name="T9" fmla="*/ 0 h 199"/>
              <a:gd name="T10" fmla="*/ 477 w 493"/>
              <a:gd name="T11" fmla="*/ 23 h 199"/>
              <a:gd name="T12" fmla="*/ 483 w 493"/>
              <a:gd name="T13" fmla="*/ 48 h 199"/>
              <a:gd name="T14" fmla="*/ 487 w 493"/>
              <a:gd name="T15" fmla="*/ 73 h 199"/>
              <a:gd name="T16" fmla="*/ 488 w 493"/>
              <a:gd name="T17" fmla="*/ 99 h 199"/>
              <a:gd name="T18" fmla="*/ 488 w 493"/>
              <a:gd name="T19" fmla="*/ 116 h 199"/>
              <a:gd name="T20" fmla="*/ 485 w 493"/>
              <a:gd name="T21" fmla="*/ 132 h 199"/>
              <a:gd name="T22" fmla="*/ 483 w 493"/>
              <a:gd name="T23" fmla="*/ 149 h 199"/>
              <a:gd name="T24" fmla="*/ 478 w 493"/>
              <a:gd name="T25" fmla="*/ 165 h 199"/>
              <a:gd name="T26" fmla="*/ 487 w 493"/>
              <a:gd name="T27" fmla="*/ 155 h 199"/>
              <a:gd name="T28" fmla="*/ 490 w 493"/>
              <a:gd name="T29" fmla="*/ 139 h 199"/>
              <a:gd name="T30" fmla="*/ 492 w 493"/>
              <a:gd name="T31" fmla="*/ 124 h 199"/>
              <a:gd name="T32" fmla="*/ 493 w 493"/>
              <a:gd name="T33" fmla="*/ 107 h 199"/>
              <a:gd name="T34" fmla="*/ 11 w 493"/>
              <a:gd name="T35" fmla="*/ 25 h 199"/>
              <a:gd name="T36" fmla="*/ 6 w 493"/>
              <a:gd name="T37" fmla="*/ 43 h 199"/>
              <a:gd name="T38" fmla="*/ 3 w 493"/>
              <a:gd name="T39" fmla="*/ 61 h 199"/>
              <a:gd name="T40" fmla="*/ 0 w 493"/>
              <a:gd name="T41" fmla="*/ 79 h 199"/>
              <a:gd name="T42" fmla="*/ 0 w 493"/>
              <a:gd name="T43" fmla="*/ 99 h 199"/>
              <a:gd name="T44" fmla="*/ 1 w 493"/>
              <a:gd name="T45" fmla="*/ 126 h 199"/>
              <a:gd name="T46" fmla="*/ 5 w 493"/>
              <a:gd name="T47" fmla="*/ 151 h 199"/>
              <a:gd name="T48" fmla="*/ 11 w 493"/>
              <a:gd name="T49" fmla="*/ 175 h 199"/>
              <a:gd name="T50" fmla="*/ 21 w 493"/>
              <a:gd name="T51" fmla="*/ 199 h 199"/>
              <a:gd name="T52" fmla="*/ 21 w 493"/>
              <a:gd name="T53" fmla="*/ 187 h 199"/>
              <a:gd name="T54" fmla="*/ 13 w 493"/>
              <a:gd name="T55" fmla="*/ 164 h 199"/>
              <a:gd name="T56" fmla="*/ 8 w 493"/>
              <a:gd name="T57" fmla="*/ 137 h 199"/>
              <a:gd name="T58" fmla="*/ 5 w 493"/>
              <a:gd name="T59" fmla="*/ 112 h 199"/>
              <a:gd name="T60" fmla="*/ 5 w 493"/>
              <a:gd name="T61" fmla="*/ 89 h 199"/>
              <a:gd name="T62" fmla="*/ 6 w 493"/>
              <a:gd name="T63" fmla="*/ 69 h 199"/>
              <a:gd name="T64" fmla="*/ 10 w 493"/>
              <a:gd name="T65" fmla="*/ 50 h 199"/>
              <a:gd name="T66" fmla="*/ 15 w 493"/>
              <a:gd name="T67" fmla="*/ 31 h 199"/>
              <a:gd name="T68" fmla="*/ 11 w 493"/>
              <a:gd name="T69" fmla="*/ 2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3" h="199">
                <a:moveTo>
                  <a:pt x="493" y="99"/>
                </a:moveTo>
                <a:lnTo>
                  <a:pt x="493" y="86"/>
                </a:lnTo>
                <a:lnTo>
                  <a:pt x="492" y="73"/>
                </a:lnTo>
                <a:lnTo>
                  <a:pt x="490" y="59"/>
                </a:lnTo>
                <a:lnTo>
                  <a:pt x="488" y="48"/>
                </a:lnTo>
                <a:lnTo>
                  <a:pt x="485" y="35"/>
                </a:lnTo>
                <a:lnTo>
                  <a:pt x="482" y="23"/>
                </a:lnTo>
                <a:lnTo>
                  <a:pt x="477" y="11"/>
                </a:lnTo>
                <a:lnTo>
                  <a:pt x="472" y="0"/>
                </a:lnTo>
                <a:lnTo>
                  <a:pt x="467" y="0"/>
                </a:lnTo>
                <a:lnTo>
                  <a:pt x="472" y="11"/>
                </a:lnTo>
                <a:lnTo>
                  <a:pt x="477" y="23"/>
                </a:lnTo>
                <a:lnTo>
                  <a:pt x="480" y="35"/>
                </a:lnTo>
                <a:lnTo>
                  <a:pt x="483" y="48"/>
                </a:lnTo>
                <a:lnTo>
                  <a:pt x="485" y="59"/>
                </a:lnTo>
                <a:lnTo>
                  <a:pt x="487" y="73"/>
                </a:lnTo>
                <a:lnTo>
                  <a:pt x="488" y="86"/>
                </a:lnTo>
                <a:lnTo>
                  <a:pt x="488" y="99"/>
                </a:lnTo>
                <a:lnTo>
                  <a:pt x="488" y="107"/>
                </a:lnTo>
                <a:lnTo>
                  <a:pt x="488" y="116"/>
                </a:lnTo>
                <a:lnTo>
                  <a:pt x="487" y="124"/>
                </a:lnTo>
                <a:lnTo>
                  <a:pt x="485" y="132"/>
                </a:lnTo>
                <a:lnTo>
                  <a:pt x="485" y="141"/>
                </a:lnTo>
                <a:lnTo>
                  <a:pt x="483" y="149"/>
                </a:lnTo>
                <a:lnTo>
                  <a:pt x="482" y="157"/>
                </a:lnTo>
                <a:lnTo>
                  <a:pt x="478" y="165"/>
                </a:lnTo>
                <a:lnTo>
                  <a:pt x="485" y="164"/>
                </a:lnTo>
                <a:lnTo>
                  <a:pt x="487" y="155"/>
                </a:lnTo>
                <a:lnTo>
                  <a:pt x="488" y="147"/>
                </a:lnTo>
                <a:lnTo>
                  <a:pt x="490" y="139"/>
                </a:lnTo>
                <a:lnTo>
                  <a:pt x="490" y="132"/>
                </a:lnTo>
                <a:lnTo>
                  <a:pt x="492" y="124"/>
                </a:lnTo>
                <a:lnTo>
                  <a:pt x="492" y="116"/>
                </a:lnTo>
                <a:lnTo>
                  <a:pt x="493" y="107"/>
                </a:lnTo>
                <a:lnTo>
                  <a:pt x="493" y="99"/>
                </a:lnTo>
                <a:close/>
                <a:moveTo>
                  <a:pt x="11" y="25"/>
                </a:moveTo>
                <a:lnTo>
                  <a:pt x="8" y="33"/>
                </a:lnTo>
                <a:lnTo>
                  <a:pt x="6" y="43"/>
                </a:lnTo>
                <a:lnTo>
                  <a:pt x="5" y="51"/>
                </a:lnTo>
                <a:lnTo>
                  <a:pt x="3" y="61"/>
                </a:lnTo>
                <a:lnTo>
                  <a:pt x="1" y="71"/>
                </a:lnTo>
                <a:lnTo>
                  <a:pt x="0" y="79"/>
                </a:lnTo>
                <a:lnTo>
                  <a:pt x="0" y="89"/>
                </a:lnTo>
                <a:lnTo>
                  <a:pt x="0" y="99"/>
                </a:lnTo>
                <a:lnTo>
                  <a:pt x="0" y="112"/>
                </a:lnTo>
                <a:lnTo>
                  <a:pt x="1" y="126"/>
                </a:lnTo>
                <a:lnTo>
                  <a:pt x="3" y="137"/>
                </a:lnTo>
                <a:lnTo>
                  <a:pt x="5" y="151"/>
                </a:lnTo>
                <a:lnTo>
                  <a:pt x="8" y="162"/>
                </a:lnTo>
                <a:lnTo>
                  <a:pt x="11" y="175"/>
                </a:lnTo>
                <a:lnTo>
                  <a:pt x="16" y="187"/>
                </a:lnTo>
                <a:lnTo>
                  <a:pt x="21" y="199"/>
                </a:lnTo>
                <a:lnTo>
                  <a:pt x="26" y="199"/>
                </a:lnTo>
                <a:lnTo>
                  <a:pt x="21" y="187"/>
                </a:lnTo>
                <a:lnTo>
                  <a:pt x="16" y="175"/>
                </a:lnTo>
                <a:lnTo>
                  <a:pt x="13" y="164"/>
                </a:lnTo>
                <a:lnTo>
                  <a:pt x="10" y="151"/>
                </a:lnTo>
                <a:lnTo>
                  <a:pt x="8" y="137"/>
                </a:lnTo>
                <a:lnTo>
                  <a:pt x="6" y="126"/>
                </a:lnTo>
                <a:lnTo>
                  <a:pt x="5" y="112"/>
                </a:lnTo>
                <a:lnTo>
                  <a:pt x="5" y="99"/>
                </a:lnTo>
                <a:lnTo>
                  <a:pt x="5" y="89"/>
                </a:lnTo>
                <a:lnTo>
                  <a:pt x="5" y="79"/>
                </a:lnTo>
                <a:lnTo>
                  <a:pt x="6" y="69"/>
                </a:lnTo>
                <a:lnTo>
                  <a:pt x="8" y="59"/>
                </a:lnTo>
                <a:lnTo>
                  <a:pt x="10" y="50"/>
                </a:lnTo>
                <a:lnTo>
                  <a:pt x="11" y="41"/>
                </a:lnTo>
                <a:lnTo>
                  <a:pt x="15" y="31"/>
                </a:lnTo>
                <a:lnTo>
                  <a:pt x="16" y="21"/>
                </a:lnTo>
                <a:lnTo>
                  <a:pt x="11" y="25"/>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16" name="Freeform 1321">
            <a:extLst>
              <a:ext uri="{FF2B5EF4-FFF2-40B4-BE49-F238E27FC236}">
                <a16:creationId xmlns:a16="http://schemas.microsoft.com/office/drawing/2014/main" id="{FF4E4CC0-02FA-F4A7-026D-50FF0570FCD7}"/>
              </a:ext>
            </a:extLst>
          </p:cNvPr>
          <p:cNvSpPr>
            <a:spLocks noEditPoints="1"/>
          </p:cNvSpPr>
          <p:nvPr/>
        </p:nvSpPr>
        <p:spPr bwMode="auto">
          <a:xfrm>
            <a:off x="2525713" y="2403475"/>
            <a:ext cx="776288" cy="315913"/>
          </a:xfrm>
          <a:custGeom>
            <a:avLst/>
            <a:gdLst>
              <a:gd name="T0" fmla="*/ 489 w 489"/>
              <a:gd name="T1" fmla="*/ 86 h 199"/>
              <a:gd name="T2" fmla="*/ 486 w 489"/>
              <a:gd name="T3" fmla="*/ 59 h 199"/>
              <a:gd name="T4" fmla="*/ 481 w 489"/>
              <a:gd name="T5" fmla="*/ 35 h 199"/>
              <a:gd name="T6" fmla="*/ 472 w 489"/>
              <a:gd name="T7" fmla="*/ 11 h 199"/>
              <a:gd name="T8" fmla="*/ 462 w 489"/>
              <a:gd name="T9" fmla="*/ 0 h 199"/>
              <a:gd name="T10" fmla="*/ 472 w 489"/>
              <a:gd name="T11" fmla="*/ 23 h 199"/>
              <a:gd name="T12" fmla="*/ 479 w 489"/>
              <a:gd name="T13" fmla="*/ 48 h 199"/>
              <a:gd name="T14" fmla="*/ 484 w 489"/>
              <a:gd name="T15" fmla="*/ 73 h 199"/>
              <a:gd name="T16" fmla="*/ 484 w 489"/>
              <a:gd name="T17" fmla="*/ 99 h 199"/>
              <a:gd name="T18" fmla="*/ 484 w 489"/>
              <a:gd name="T19" fmla="*/ 116 h 199"/>
              <a:gd name="T20" fmla="*/ 482 w 489"/>
              <a:gd name="T21" fmla="*/ 134 h 199"/>
              <a:gd name="T22" fmla="*/ 479 w 489"/>
              <a:gd name="T23" fmla="*/ 151 h 199"/>
              <a:gd name="T24" fmla="*/ 476 w 489"/>
              <a:gd name="T25" fmla="*/ 167 h 199"/>
              <a:gd name="T26" fmla="*/ 482 w 489"/>
              <a:gd name="T27" fmla="*/ 157 h 199"/>
              <a:gd name="T28" fmla="*/ 486 w 489"/>
              <a:gd name="T29" fmla="*/ 141 h 199"/>
              <a:gd name="T30" fmla="*/ 489 w 489"/>
              <a:gd name="T31" fmla="*/ 124 h 199"/>
              <a:gd name="T32" fmla="*/ 489 w 489"/>
              <a:gd name="T33" fmla="*/ 107 h 199"/>
              <a:gd name="T34" fmla="*/ 14 w 489"/>
              <a:gd name="T35" fmla="*/ 23 h 199"/>
              <a:gd name="T36" fmla="*/ 7 w 489"/>
              <a:gd name="T37" fmla="*/ 41 h 199"/>
              <a:gd name="T38" fmla="*/ 4 w 489"/>
              <a:gd name="T39" fmla="*/ 59 h 199"/>
              <a:gd name="T40" fmla="*/ 2 w 489"/>
              <a:gd name="T41" fmla="*/ 79 h 199"/>
              <a:gd name="T42" fmla="*/ 0 w 489"/>
              <a:gd name="T43" fmla="*/ 99 h 199"/>
              <a:gd name="T44" fmla="*/ 2 w 489"/>
              <a:gd name="T45" fmla="*/ 126 h 199"/>
              <a:gd name="T46" fmla="*/ 7 w 489"/>
              <a:gd name="T47" fmla="*/ 151 h 199"/>
              <a:gd name="T48" fmla="*/ 14 w 489"/>
              <a:gd name="T49" fmla="*/ 175 h 199"/>
              <a:gd name="T50" fmla="*/ 22 w 489"/>
              <a:gd name="T51" fmla="*/ 199 h 199"/>
              <a:gd name="T52" fmla="*/ 22 w 489"/>
              <a:gd name="T53" fmla="*/ 187 h 199"/>
              <a:gd name="T54" fmla="*/ 14 w 489"/>
              <a:gd name="T55" fmla="*/ 164 h 199"/>
              <a:gd name="T56" fmla="*/ 9 w 489"/>
              <a:gd name="T57" fmla="*/ 137 h 199"/>
              <a:gd name="T58" fmla="*/ 5 w 489"/>
              <a:gd name="T59" fmla="*/ 112 h 199"/>
              <a:gd name="T60" fmla="*/ 5 w 489"/>
              <a:gd name="T61" fmla="*/ 89 h 199"/>
              <a:gd name="T62" fmla="*/ 7 w 489"/>
              <a:gd name="T63" fmla="*/ 69 h 199"/>
              <a:gd name="T64" fmla="*/ 10 w 489"/>
              <a:gd name="T65" fmla="*/ 50 h 199"/>
              <a:gd name="T66" fmla="*/ 15 w 489"/>
              <a:gd name="T67" fmla="*/ 30 h 199"/>
              <a:gd name="T68" fmla="*/ 14 w 489"/>
              <a:gd name="T69" fmla="*/ 2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9" h="199">
                <a:moveTo>
                  <a:pt x="489" y="99"/>
                </a:moveTo>
                <a:lnTo>
                  <a:pt x="489" y="86"/>
                </a:lnTo>
                <a:lnTo>
                  <a:pt x="487" y="73"/>
                </a:lnTo>
                <a:lnTo>
                  <a:pt x="486" y="59"/>
                </a:lnTo>
                <a:lnTo>
                  <a:pt x="484" y="48"/>
                </a:lnTo>
                <a:lnTo>
                  <a:pt x="481" y="35"/>
                </a:lnTo>
                <a:lnTo>
                  <a:pt x="477" y="23"/>
                </a:lnTo>
                <a:lnTo>
                  <a:pt x="472" y="11"/>
                </a:lnTo>
                <a:lnTo>
                  <a:pt x="469" y="0"/>
                </a:lnTo>
                <a:lnTo>
                  <a:pt x="462" y="0"/>
                </a:lnTo>
                <a:lnTo>
                  <a:pt x="467" y="11"/>
                </a:lnTo>
                <a:lnTo>
                  <a:pt x="472" y="23"/>
                </a:lnTo>
                <a:lnTo>
                  <a:pt x="476" y="35"/>
                </a:lnTo>
                <a:lnTo>
                  <a:pt x="479" y="48"/>
                </a:lnTo>
                <a:lnTo>
                  <a:pt x="482" y="59"/>
                </a:lnTo>
                <a:lnTo>
                  <a:pt x="484" y="73"/>
                </a:lnTo>
                <a:lnTo>
                  <a:pt x="484" y="86"/>
                </a:lnTo>
                <a:lnTo>
                  <a:pt x="484" y="99"/>
                </a:lnTo>
                <a:lnTo>
                  <a:pt x="484" y="107"/>
                </a:lnTo>
                <a:lnTo>
                  <a:pt x="484" y="116"/>
                </a:lnTo>
                <a:lnTo>
                  <a:pt x="484" y="126"/>
                </a:lnTo>
                <a:lnTo>
                  <a:pt x="482" y="134"/>
                </a:lnTo>
                <a:lnTo>
                  <a:pt x="481" y="142"/>
                </a:lnTo>
                <a:lnTo>
                  <a:pt x="479" y="151"/>
                </a:lnTo>
                <a:lnTo>
                  <a:pt x="477" y="159"/>
                </a:lnTo>
                <a:lnTo>
                  <a:pt x="476" y="167"/>
                </a:lnTo>
                <a:lnTo>
                  <a:pt x="481" y="164"/>
                </a:lnTo>
                <a:lnTo>
                  <a:pt x="482" y="157"/>
                </a:lnTo>
                <a:lnTo>
                  <a:pt x="484" y="149"/>
                </a:lnTo>
                <a:lnTo>
                  <a:pt x="486" y="141"/>
                </a:lnTo>
                <a:lnTo>
                  <a:pt x="487" y="132"/>
                </a:lnTo>
                <a:lnTo>
                  <a:pt x="489" y="124"/>
                </a:lnTo>
                <a:lnTo>
                  <a:pt x="489" y="116"/>
                </a:lnTo>
                <a:lnTo>
                  <a:pt x="489" y="107"/>
                </a:lnTo>
                <a:lnTo>
                  <a:pt x="489" y="99"/>
                </a:lnTo>
                <a:close/>
                <a:moveTo>
                  <a:pt x="14" y="23"/>
                </a:moveTo>
                <a:lnTo>
                  <a:pt x="10" y="33"/>
                </a:lnTo>
                <a:lnTo>
                  <a:pt x="7" y="41"/>
                </a:lnTo>
                <a:lnTo>
                  <a:pt x="5" y="51"/>
                </a:lnTo>
                <a:lnTo>
                  <a:pt x="4" y="59"/>
                </a:lnTo>
                <a:lnTo>
                  <a:pt x="2" y="69"/>
                </a:lnTo>
                <a:lnTo>
                  <a:pt x="2" y="79"/>
                </a:lnTo>
                <a:lnTo>
                  <a:pt x="0" y="89"/>
                </a:lnTo>
                <a:lnTo>
                  <a:pt x="0" y="99"/>
                </a:lnTo>
                <a:lnTo>
                  <a:pt x="2" y="112"/>
                </a:lnTo>
                <a:lnTo>
                  <a:pt x="2" y="126"/>
                </a:lnTo>
                <a:lnTo>
                  <a:pt x="4" y="137"/>
                </a:lnTo>
                <a:lnTo>
                  <a:pt x="7" y="151"/>
                </a:lnTo>
                <a:lnTo>
                  <a:pt x="9" y="162"/>
                </a:lnTo>
                <a:lnTo>
                  <a:pt x="14" y="175"/>
                </a:lnTo>
                <a:lnTo>
                  <a:pt x="17" y="187"/>
                </a:lnTo>
                <a:lnTo>
                  <a:pt x="22" y="199"/>
                </a:lnTo>
                <a:lnTo>
                  <a:pt x="27" y="199"/>
                </a:lnTo>
                <a:lnTo>
                  <a:pt x="22" y="187"/>
                </a:lnTo>
                <a:lnTo>
                  <a:pt x="19" y="175"/>
                </a:lnTo>
                <a:lnTo>
                  <a:pt x="14" y="164"/>
                </a:lnTo>
                <a:lnTo>
                  <a:pt x="12" y="151"/>
                </a:lnTo>
                <a:lnTo>
                  <a:pt x="9" y="137"/>
                </a:lnTo>
                <a:lnTo>
                  <a:pt x="7" y="126"/>
                </a:lnTo>
                <a:lnTo>
                  <a:pt x="5" y="112"/>
                </a:lnTo>
                <a:lnTo>
                  <a:pt x="5" y="99"/>
                </a:lnTo>
                <a:lnTo>
                  <a:pt x="5" y="89"/>
                </a:lnTo>
                <a:lnTo>
                  <a:pt x="7" y="79"/>
                </a:lnTo>
                <a:lnTo>
                  <a:pt x="7" y="69"/>
                </a:lnTo>
                <a:lnTo>
                  <a:pt x="9" y="59"/>
                </a:lnTo>
                <a:lnTo>
                  <a:pt x="10" y="50"/>
                </a:lnTo>
                <a:lnTo>
                  <a:pt x="14" y="40"/>
                </a:lnTo>
                <a:lnTo>
                  <a:pt x="15" y="30"/>
                </a:lnTo>
                <a:lnTo>
                  <a:pt x="19" y="20"/>
                </a:lnTo>
                <a:lnTo>
                  <a:pt x="14" y="23"/>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17" name="Freeform 1322">
            <a:extLst>
              <a:ext uri="{FF2B5EF4-FFF2-40B4-BE49-F238E27FC236}">
                <a16:creationId xmlns:a16="http://schemas.microsoft.com/office/drawing/2014/main" id="{86336367-374C-C1C9-EB71-688D742DBE5B}"/>
              </a:ext>
            </a:extLst>
          </p:cNvPr>
          <p:cNvSpPr>
            <a:spLocks noEditPoints="1"/>
          </p:cNvSpPr>
          <p:nvPr/>
        </p:nvSpPr>
        <p:spPr bwMode="auto">
          <a:xfrm>
            <a:off x="2532063" y="2403475"/>
            <a:ext cx="766763" cy="315913"/>
          </a:xfrm>
          <a:custGeom>
            <a:avLst/>
            <a:gdLst>
              <a:gd name="T0" fmla="*/ 483 w 483"/>
              <a:gd name="T1" fmla="*/ 86 h 199"/>
              <a:gd name="T2" fmla="*/ 480 w 483"/>
              <a:gd name="T3" fmla="*/ 59 h 199"/>
              <a:gd name="T4" fmla="*/ 475 w 483"/>
              <a:gd name="T5" fmla="*/ 35 h 199"/>
              <a:gd name="T6" fmla="*/ 467 w 483"/>
              <a:gd name="T7" fmla="*/ 11 h 199"/>
              <a:gd name="T8" fmla="*/ 457 w 483"/>
              <a:gd name="T9" fmla="*/ 0 h 199"/>
              <a:gd name="T10" fmla="*/ 465 w 483"/>
              <a:gd name="T11" fmla="*/ 23 h 199"/>
              <a:gd name="T12" fmla="*/ 473 w 483"/>
              <a:gd name="T13" fmla="*/ 48 h 199"/>
              <a:gd name="T14" fmla="*/ 477 w 483"/>
              <a:gd name="T15" fmla="*/ 73 h 199"/>
              <a:gd name="T16" fmla="*/ 478 w 483"/>
              <a:gd name="T17" fmla="*/ 99 h 199"/>
              <a:gd name="T18" fmla="*/ 478 w 483"/>
              <a:gd name="T19" fmla="*/ 117 h 199"/>
              <a:gd name="T20" fmla="*/ 475 w 483"/>
              <a:gd name="T21" fmla="*/ 134 h 199"/>
              <a:gd name="T22" fmla="*/ 472 w 483"/>
              <a:gd name="T23" fmla="*/ 152 h 199"/>
              <a:gd name="T24" fmla="*/ 468 w 483"/>
              <a:gd name="T25" fmla="*/ 169 h 199"/>
              <a:gd name="T26" fmla="*/ 477 w 483"/>
              <a:gd name="T27" fmla="*/ 157 h 199"/>
              <a:gd name="T28" fmla="*/ 480 w 483"/>
              <a:gd name="T29" fmla="*/ 141 h 199"/>
              <a:gd name="T30" fmla="*/ 482 w 483"/>
              <a:gd name="T31" fmla="*/ 124 h 199"/>
              <a:gd name="T32" fmla="*/ 483 w 483"/>
              <a:gd name="T33" fmla="*/ 107 h 199"/>
              <a:gd name="T34" fmla="*/ 11 w 483"/>
              <a:gd name="T35" fmla="*/ 21 h 199"/>
              <a:gd name="T36" fmla="*/ 6 w 483"/>
              <a:gd name="T37" fmla="*/ 41 h 199"/>
              <a:gd name="T38" fmla="*/ 3 w 483"/>
              <a:gd name="T39" fmla="*/ 59 h 199"/>
              <a:gd name="T40" fmla="*/ 0 w 483"/>
              <a:gd name="T41" fmla="*/ 79 h 199"/>
              <a:gd name="T42" fmla="*/ 0 w 483"/>
              <a:gd name="T43" fmla="*/ 99 h 199"/>
              <a:gd name="T44" fmla="*/ 1 w 483"/>
              <a:gd name="T45" fmla="*/ 126 h 199"/>
              <a:gd name="T46" fmla="*/ 5 w 483"/>
              <a:gd name="T47" fmla="*/ 151 h 199"/>
              <a:gd name="T48" fmla="*/ 11 w 483"/>
              <a:gd name="T49" fmla="*/ 175 h 199"/>
              <a:gd name="T50" fmla="*/ 21 w 483"/>
              <a:gd name="T51" fmla="*/ 199 h 199"/>
              <a:gd name="T52" fmla="*/ 21 w 483"/>
              <a:gd name="T53" fmla="*/ 187 h 199"/>
              <a:gd name="T54" fmla="*/ 13 w 483"/>
              <a:gd name="T55" fmla="*/ 164 h 199"/>
              <a:gd name="T56" fmla="*/ 8 w 483"/>
              <a:gd name="T57" fmla="*/ 137 h 199"/>
              <a:gd name="T58" fmla="*/ 5 w 483"/>
              <a:gd name="T59" fmla="*/ 112 h 199"/>
              <a:gd name="T60" fmla="*/ 5 w 483"/>
              <a:gd name="T61" fmla="*/ 89 h 199"/>
              <a:gd name="T62" fmla="*/ 6 w 483"/>
              <a:gd name="T63" fmla="*/ 68 h 199"/>
              <a:gd name="T64" fmla="*/ 10 w 483"/>
              <a:gd name="T65" fmla="*/ 48 h 199"/>
              <a:gd name="T66" fmla="*/ 15 w 483"/>
              <a:gd name="T67" fmla="*/ 28 h 199"/>
              <a:gd name="T68" fmla="*/ 11 w 483"/>
              <a:gd name="T69" fmla="*/ 2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3" h="199">
                <a:moveTo>
                  <a:pt x="483" y="99"/>
                </a:moveTo>
                <a:lnTo>
                  <a:pt x="483" y="86"/>
                </a:lnTo>
                <a:lnTo>
                  <a:pt x="482" y="73"/>
                </a:lnTo>
                <a:lnTo>
                  <a:pt x="480" y="59"/>
                </a:lnTo>
                <a:lnTo>
                  <a:pt x="478" y="48"/>
                </a:lnTo>
                <a:lnTo>
                  <a:pt x="475" y="35"/>
                </a:lnTo>
                <a:lnTo>
                  <a:pt x="472" y="23"/>
                </a:lnTo>
                <a:lnTo>
                  <a:pt x="467" y="11"/>
                </a:lnTo>
                <a:lnTo>
                  <a:pt x="462" y="0"/>
                </a:lnTo>
                <a:lnTo>
                  <a:pt x="457" y="0"/>
                </a:lnTo>
                <a:lnTo>
                  <a:pt x="462" y="11"/>
                </a:lnTo>
                <a:lnTo>
                  <a:pt x="465" y="23"/>
                </a:lnTo>
                <a:lnTo>
                  <a:pt x="470" y="35"/>
                </a:lnTo>
                <a:lnTo>
                  <a:pt x="473" y="48"/>
                </a:lnTo>
                <a:lnTo>
                  <a:pt x="475" y="59"/>
                </a:lnTo>
                <a:lnTo>
                  <a:pt x="477" y="73"/>
                </a:lnTo>
                <a:lnTo>
                  <a:pt x="478" y="86"/>
                </a:lnTo>
                <a:lnTo>
                  <a:pt x="478" y="99"/>
                </a:lnTo>
                <a:lnTo>
                  <a:pt x="478" y="107"/>
                </a:lnTo>
                <a:lnTo>
                  <a:pt x="478" y="117"/>
                </a:lnTo>
                <a:lnTo>
                  <a:pt x="477" y="126"/>
                </a:lnTo>
                <a:lnTo>
                  <a:pt x="475" y="134"/>
                </a:lnTo>
                <a:lnTo>
                  <a:pt x="475" y="144"/>
                </a:lnTo>
                <a:lnTo>
                  <a:pt x="472" y="152"/>
                </a:lnTo>
                <a:lnTo>
                  <a:pt x="470" y="160"/>
                </a:lnTo>
                <a:lnTo>
                  <a:pt x="468" y="169"/>
                </a:lnTo>
                <a:lnTo>
                  <a:pt x="473" y="165"/>
                </a:lnTo>
                <a:lnTo>
                  <a:pt x="477" y="157"/>
                </a:lnTo>
                <a:lnTo>
                  <a:pt x="478" y="149"/>
                </a:lnTo>
                <a:lnTo>
                  <a:pt x="480" y="141"/>
                </a:lnTo>
                <a:lnTo>
                  <a:pt x="480" y="132"/>
                </a:lnTo>
                <a:lnTo>
                  <a:pt x="482" y="124"/>
                </a:lnTo>
                <a:lnTo>
                  <a:pt x="483" y="116"/>
                </a:lnTo>
                <a:lnTo>
                  <a:pt x="483" y="107"/>
                </a:lnTo>
                <a:lnTo>
                  <a:pt x="483" y="99"/>
                </a:lnTo>
                <a:close/>
                <a:moveTo>
                  <a:pt x="11" y="21"/>
                </a:moveTo>
                <a:lnTo>
                  <a:pt x="10" y="31"/>
                </a:lnTo>
                <a:lnTo>
                  <a:pt x="6" y="41"/>
                </a:lnTo>
                <a:lnTo>
                  <a:pt x="5" y="50"/>
                </a:lnTo>
                <a:lnTo>
                  <a:pt x="3" y="59"/>
                </a:lnTo>
                <a:lnTo>
                  <a:pt x="1" y="69"/>
                </a:lnTo>
                <a:lnTo>
                  <a:pt x="0" y="79"/>
                </a:lnTo>
                <a:lnTo>
                  <a:pt x="0" y="89"/>
                </a:lnTo>
                <a:lnTo>
                  <a:pt x="0" y="99"/>
                </a:lnTo>
                <a:lnTo>
                  <a:pt x="0" y="112"/>
                </a:lnTo>
                <a:lnTo>
                  <a:pt x="1" y="126"/>
                </a:lnTo>
                <a:lnTo>
                  <a:pt x="3" y="137"/>
                </a:lnTo>
                <a:lnTo>
                  <a:pt x="5" y="151"/>
                </a:lnTo>
                <a:lnTo>
                  <a:pt x="8" y="164"/>
                </a:lnTo>
                <a:lnTo>
                  <a:pt x="11" y="175"/>
                </a:lnTo>
                <a:lnTo>
                  <a:pt x="16" y="187"/>
                </a:lnTo>
                <a:lnTo>
                  <a:pt x="21" y="199"/>
                </a:lnTo>
                <a:lnTo>
                  <a:pt x="26" y="199"/>
                </a:lnTo>
                <a:lnTo>
                  <a:pt x="21" y="187"/>
                </a:lnTo>
                <a:lnTo>
                  <a:pt x="16" y="175"/>
                </a:lnTo>
                <a:lnTo>
                  <a:pt x="13" y="164"/>
                </a:lnTo>
                <a:lnTo>
                  <a:pt x="10" y="151"/>
                </a:lnTo>
                <a:lnTo>
                  <a:pt x="8" y="137"/>
                </a:lnTo>
                <a:lnTo>
                  <a:pt x="6" y="126"/>
                </a:lnTo>
                <a:lnTo>
                  <a:pt x="5" y="112"/>
                </a:lnTo>
                <a:lnTo>
                  <a:pt x="5" y="99"/>
                </a:lnTo>
                <a:lnTo>
                  <a:pt x="5" y="89"/>
                </a:lnTo>
                <a:lnTo>
                  <a:pt x="5" y="78"/>
                </a:lnTo>
                <a:lnTo>
                  <a:pt x="6" y="68"/>
                </a:lnTo>
                <a:lnTo>
                  <a:pt x="8" y="58"/>
                </a:lnTo>
                <a:lnTo>
                  <a:pt x="10" y="48"/>
                </a:lnTo>
                <a:lnTo>
                  <a:pt x="11" y="38"/>
                </a:lnTo>
                <a:lnTo>
                  <a:pt x="15" y="28"/>
                </a:lnTo>
                <a:lnTo>
                  <a:pt x="18" y="20"/>
                </a:lnTo>
                <a:lnTo>
                  <a:pt x="11" y="21"/>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18" name="Freeform 1323">
            <a:extLst>
              <a:ext uri="{FF2B5EF4-FFF2-40B4-BE49-F238E27FC236}">
                <a16:creationId xmlns:a16="http://schemas.microsoft.com/office/drawing/2014/main" id="{B3024813-7DB9-B4AF-BDDD-C2920B291342}"/>
              </a:ext>
            </a:extLst>
          </p:cNvPr>
          <p:cNvSpPr>
            <a:spLocks noEditPoints="1"/>
          </p:cNvSpPr>
          <p:nvPr/>
        </p:nvSpPr>
        <p:spPr bwMode="auto">
          <a:xfrm>
            <a:off x="2533650" y="2403475"/>
            <a:ext cx="760413" cy="315913"/>
          </a:xfrm>
          <a:custGeom>
            <a:avLst/>
            <a:gdLst>
              <a:gd name="T0" fmla="*/ 479 w 479"/>
              <a:gd name="T1" fmla="*/ 86 h 199"/>
              <a:gd name="T2" fmla="*/ 477 w 479"/>
              <a:gd name="T3" fmla="*/ 59 h 199"/>
              <a:gd name="T4" fmla="*/ 471 w 479"/>
              <a:gd name="T5" fmla="*/ 35 h 199"/>
              <a:gd name="T6" fmla="*/ 462 w 479"/>
              <a:gd name="T7" fmla="*/ 11 h 199"/>
              <a:gd name="T8" fmla="*/ 452 w 479"/>
              <a:gd name="T9" fmla="*/ 0 h 199"/>
              <a:gd name="T10" fmla="*/ 462 w 479"/>
              <a:gd name="T11" fmla="*/ 23 h 199"/>
              <a:gd name="T12" fmla="*/ 469 w 479"/>
              <a:gd name="T13" fmla="*/ 48 h 199"/>
              <a:gd name="T14" fmla="*/ 474 w 479"/>
              <a:gd name="T15" fmla="*/ 73 h 199"/>
              <a:gd name="T16" fmla="*/ 476 w 479"/>
              <a:gd name="T17" fmla="*/ 99 h 199"/>
              <a:gd name="T18" fmla="*/ 474 w 479"/>
              <a:gd name="T19" fmla="*/ 117 h 199"/>
              <a:gd name="T20" fmla="*/ 472 w 479"/>
              <a:gd name="T21" fmla="*/ 136 h 199"/>
              <a:gd name="T22" fmla="*/ 469 w 479"/>
              <a:gd name="T23" fmla="*/ 152 h 199"/>
              <a:gd name="T24" fmla="*/ 464 w 479"/>
              <a:gd name="T25" fmla="*/ 169 h 199"/>
              <a:gd name="T26" fmla="*/ 472 w 479"/>
              <a:gd name="T27" fmla="*/ 159 h 199"/>
              <a:gd name="T28" fmla="*/ 476 w 479"/>
              <a:gd name="T29" fmla="*/ 142 h 199"/>
              <a:gd name="T30" fmla="*/ 479 w 479"/>
              <a:gd name="T31" fmla="*/ 126 h 199"/>
              <a:gd name="T32" fmla="*/ 479 w 479"/>
              <a:gd name="T33" fmla="*/ 107 h 199"/>
              <a:gd name="T34" fmla="*/ 14 w 479"/>
              <a:gd name="T35" fmla="*/ 20 h 199"/>
              <a:gd name="T36" fmla="*/ 9 w 479"/>
              <a:gd name="T37" fmla="*/ 40 h 199"/>
              <a:gd name="T38" fmla="*/ 4 w 479"/>
              <a:gd name="T39" fmla="*/ 59 h 199"/>
              <a:gd name="T40" fmla="*/ 2 w 479"/>
              <a:gd name="T41" fmla="*/ 79 h 199"/>
              <a:gd name="T42" fmla="*/ 0 w 479"/>
              <a:gd name="T43" fmla="*/ 99 h 199"/>
              <a:gd name="T44" fmla="*/ 2 w 479"/>
              <a:gd name="T45" fmla="*/ 126 h 199"/>
              <a:gd name="T46" fmla="*/ 7 w 479"/>
              <a:gd name="T47" fmla="*/ 151 h 199"/>
              <a:gd name="T48" fmla="*/ 14 w 479"/>
              <a:gd name="T49" fmla="*/ 175 h 199"/>
              <a:gd name="T50" fmla="*/ 22 w 479"/>
              <a:gd name="T51" fmla="*/ 199 h 199"/>
              <a:gd name="T52" fmla="*/ 22 w 479"/>
              <a:gd name="T53" fmla="*/ 187 h 199"/>
              <a:gd name="T54" fmla="*/ 14 w 479"/>
              <a:gd name="T55" fmla="*/ 164 h 199"/>
              <a:gd name="T56" fmla="*/ 9 w 479"/>
              <a:gd name="T57" fmla="*/ 139 h 199"/>
              <a:gd name="T58" fmla="*/ 5 w 479"/>
              <a:gd name="T59" fmla="*/ 112 h 199"/>
              <a:gd name="T60" fmla="*/ 5 w 479"/>
              <a:gd name="T61" fmla="*/ 88 h 199"/>
              <a:gd name="T62" fmla="*/ 7 w 479"/>
              <a:gd name="T63" fmla="*/ 68 h 199"/>
              <a:gd name="T64" fmla="*/ 12 w 479"/>
              <a:gd name="T65" fmla="*/ 46 h 199"/>
              <a:gd name="T66" fmla="*/ 17 w 479"/>
              <a:gd name="T67" fmla="*/ 28 h 199"/>
              <a:gd name="T68" fmla="*/ 14 w 479"/>
              <a:gd name="T69" fmla="*/ 2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9" h="199">
                <a:moveTo>
                  <a:pt x="479" y="99"/>
                </a:moveTo>
                <a:lnTo>
                  <a:pt x="479" y="86"/>
                </a:lnTo>
                <a:lnTo>
                  <a:pt x="479" y="73"/>
                </a:lnTo>
                <a:lnTo>
                  <a:pt x="477" y="59"/>
                </a:lnTo>
                <a:lnTo>
                  <a:pt x="474" y="48"/>
                </a:lnTo>
                <a:lnTo>
                  <a:pt x="471" y="35"/>
                </a:lnTo>
                <a:lnTo>
                  <a:pt x="467" y="23"/>
                </a:lnTo>
                <a:lnTo>
                  <a:pt x="462" y="11"/>
                </a:lnTo>
                <a:lnTo>
                  <a:pt x="457" y="0"/>
                </a:lnTo>
                <a:lnTo>
                  <a:pt x="452" y="0"/>
                </a:lnTo>
                <a:lnTo>
                  <a:pt x="457" y="11"/>
                </a:lnTo>
                <a:lnTo>
                  <a:pt x="462" y="23"/>
                </a:lnTo>
                <a:lnTo>
                  <a:pt x="466" y="35"/>
                </a:lnTo>
                <a:lnTo>
                  <a:pt x="469" y="48"/>
                </a:lnTo>
                <a:lnTo>
                  <a:pt x="472" y="59"/>
                </a:lnTo>
                <a:lnTo>
                  <a:pt x="474" y="73"/>
                </a:lnTo>
                <a:lnTo>
                  <a:pt x="474" y="86"/>
                </a:lnTo>
                <a:lnTo>
                  <a:pt x="476" y="99"/>
                </a:lnTo>
                <a:lnTo>
                  <a:pt x="474" y="107"/>
                </a:lnTo>
                <a:lnTo>
                  <a:pt x="474" y="117"/>
                </a:lnTo>
                <a:lnTo>
                  <a:pt x="474" y="126"/>
                </a:lnTo>
                <a:lnTo>
                  <a:pt x="472" y="136"/>
                </a:lnTo>
                <a:lnTo>
                  <a:pt x="471" y="144"/>
                </a:lnTo>
                <a:lnTo>
                  <a:pt x="469" y="152"/>
                </a:lnTo>
                <a:lnTo>
                  <a:pt x="467" y="160"/>
                </a:lnTo>
                <a:lnTo>
                  <a:pt x="464" y="169"/>
                </a:lnTo>
                <a:lnTo>
                  <a:pt x="471" y="167"/>
                </a:lnTo>
                <a:lnTo>
                  <a:pt x="472" y="159"/>
                </a:lnTo>
                <a:lnTo>
                  <a:pt x="474" y="151"/>
                </a:lnTo>
                <a:lnTo>
                  <a:pt x="476" y="142"/>
                </a:lnTo>
                <a:lnTo>
                  <a:pt x="477" y="134"/>
                </a:lnTo>
                <a:lnTo>
                  <a:pt x="479" y="126"/>
                </a:lnTo>
                <a:lnTo>
                  <a:pt x="479" y="116"/>
                </a:lnTo>
                <a:lnTo>
                  <a:pt x="479" y="107"/>
                </a:lnTo>
                <a:lnTo>
                  <a:pt x="479" y="99"/>
                </a:lnTo>
                <a:close/>
                <a:moveTo>
                  <a:pt x="14" y="20"/>
                </a:moveTo>
                <a:lnTo>
                  <a:pt x="10" y="30"/>
                </a:lnTo>
                <a:lnTo>
                  <a:pt x="9" y="40"/>
                </a:lnTo>
                <a:lnTo>
                  <a:pt x="5" y="50"/>
                </a:lnTo>
                <a:lnTo>
                  <a:pt x="4" y="59"/>
                </a:lnTo>
                <a:lnTo>
                  <a:pt x="2" y="69"/>
                </a:lnTo>
                <a:lnTo>
                  <a:pt x="2" y="79"/>
                </a:lnTo>
                <a:lnTo>
                  <a:pt x="0" y="89"/>
                </a:lnTo>
                <a:lnTo>
                  <a:pt x="0" y="99"/>
                </a:lnTo>
                <a:lnTo>
                  <a:pt x="0" y="112"/>
                </a:lnTo>
                <a:lnTo>
                  <a:pt x="2" y="126"/>
                </a:lnTo>
                <a:lnTo>
                  <a:pt x="4" y="137"/>
                </a:lnTo>
                <a:lnTo>
                  <a:pt x="7" y="151"/>
                </a:lnTo>
                <a:lnTo>
                  <a:pt x="9" y="164"/>
                </a:lnTo>
                <a:lnTo>
                  <a:pt x="14" y="175"/>
                </a:lnTo>
                <a:lnTo>
                  <a:pt x="17" y="187"/>
                </a:lnTo>
                <a:lnTo>
                  <a:pt x="22" y="199"/>
                </a:lnTo>
                <a:lnTo>
                  <a:pt x="27" y="199"/>
                </a:lnTo>
                <a:lnTo>
                  <a:pt x="22" y="187"/>
                </a:lnTo>
                <a:lnTo>
                  <a:pt x="18" y="175"/>
                </a:lnTo>
                <a:lnTo>
                  <a:pt x="14" y="164"/>
                </a:lnTo>
                <a:lnTo>
                  <a:pt x="12" y="151"/>
                </a:lnTo>
                <a:lnTo>
                  <a:pt x="9" y="139"/>
                </a:lnTo>
                <a:lnTo>
                  <a:pt x="7" y="126"/>
                </a:lnTo>
                <a:lnTo>
                  <a:pt x="5" y="112"/>
                </a:lnTo>
                <a:lnTo>
                  <a:pt x="5" y="99"/>
                </a:lnTo>
                <a:lnTo>
                  <a:pt x="5" y="88"/>
                </a:lnTo>
                <a:lnTo>
                  <a:pt x="7" y="78"/>
                </a:lnTo>
                <a:lnTo>
                  <a:pt x="7" y="68"/>
                </a:lnTo>
                <a:lnTo>
                  <a:pt x="9" y="58"/>
                </a:lnTo>
                <a:lnTo>
                  <a:pt x="12" y="46"/>
                </a:lnTo>
                <a:lnTo>
                  <a:pt x="14" y="36"/>
                </a:lnTo>
                <a:lnTo>
                  <a:pt x="17" y="28"/>
                </a:lnTo>
                <a:lnTo>
                  <a:pt x="20" y="18"/>
                </a:lnTo>
                <a:lnTo>
                  <a:pt x="14" y="2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19" name="Freeform 1324">
            <a:extLst>
              <a:ext uri="{FF2B5EF4-FFF2-40B4-BE49-F238E27FC236}">
                <a16:creationId xmlns:a16="http://schemas.microsoft.com/office/drawing/2014/main" id="{337E20A5-ED0E-4E75-0213-06C2A3DC4772}"/>
              </a:ext>
            </a:extLst>
          </p:cNvPr>
          <p:cNvSpPr>
            <a:spLocks noEditPoints="1"/>
          </p:cNvSpPr>
          <p:nvPr/>
        </p:nvSpPr>
        <p:spPr bwMode="auto">
          <a:xfrm>
            <a:off x="2540000" y="2403475"/>
            <a:ext cx="750888" cy="315913"/>
          </a:xfrm>
          <a:custGeom>
            <a:avLst/>
            <a:gdLst>
              <a:gd name="T0" fmla="*/ 473 w 473"/>
              <a:gd name="T1" fmla="*/ 86 h 199"/>
              <a:gd name="T2" fmla="*/ 470 w 473"/>
              <a:gd name="T3" fmla="*/ 59 h 199"/>
              <a:gd name="T4" fmla="*/ 465 w 473"/>
              <a:gd name="T5" fmla="*/ 35 h 199"/>
              <a:gd name="T6" fmla="*/ 457 w 473"/>
              <a:gd name="T7" fmla="*/ 11 h 199"/>
              <a:gd name="T8" fmla="*/ 447 w 473"/>
              <a:gd name="T9" fmla="*/ 0 h 199"/>
              <a:gd name="T10" fmla="*/ 455 w 473"/>
              <a:gd name="T11" fmla="*/ 23 h 199"/>
              <a:gd name="T12" fmla="*/ 463 w 473"/>
              <a:gd name="T13" fmla="*/ 48 h 199"/>
              <a:gd name="T14" fmla="*/ 467 w 473"/>
              <a:gd name="T15" fmla="*/ 73 h 199"/>
              <a:gd name="T16" fmla="*/ 468 w 473"/>
              <a:gd name="T17" fmla="*/ 99 h 199"/>
              <a:gd name="T18" fmla="*/ 468 w 473"/>
              <a:gd name="T19" fmla="*/ 117 h 199"/>
              <a:gd name="T20" fmla="*/ 465 w 473"/>
              <a:gd name="T21" fmla="*/ 136 h 199"/>
              <a:gd name="T22" fmla="*/ 462 w 473"/>
              <a:gd name="T23" fmla="*/ 154 h 199"/>
              <a:gd name="T24" fmla="*/ 457 w 473"/>
              <a:gd name="T25" fmla="*/ 170 h 199"/>
              <a:gd name="T26" fmla="*/ 465 w 473"/>
              <a:gd name="T27" fmla="*/ 160 h 199"/>
              <a:gd name="T28" fmla="*/ 470 w 473"/>
              <a:gd name="T29" fmla="*/ 144 h 199"/>
              <a:gd name="T30" fmla="*/ 472 w 473"/>
              <a:gd name="T31" fmla="*/ 126 h 199"/>
              <a:gd name="T32" fmla="*/ 473 w 473"/>
              <a:gd name="T33" fmla="*/ 107 h 199"/>
              <a:gd name="T34" fmla="*/ 13 w 473"/>
              <a:gd name="T35" fmla="*/ 20 h 199"/>
              <a:gd name="T36" fmla="*/ 6 w 473"/>
              <a:gd name="T37" fmla="*/ 38 h 199"/>
              <a:gd name="T38" fmla="*/ 3 w 473"/>
              <a:gd name="T39" fmla="*/ 58 h 199"/>
              <a:gd name="T40" fmla="*/ 0 w 473"/>
              <a:gd name="T41" fmla="*/ 78 h 199"/>
              <a:gd name="T42" fmla="*/ 0 w 473"/>
              <a:gd name="T43" fmla="*/ 99 h 199"/>
              <a:gd name="T44" fmla="*/ 1 w 473"/>
              <a:gd name="T45" fmla="*/ 126 h 199"/>
              <a:gd name="T46" fmla="*/ 5 w 473"/>
              <a:gd name="T47" fmla="*/ 151 h 199"/>
              <a:gd name="T48" fmla="*/ 11 w 473"/>
              <a:gd name="T49" fmla="*/ 175 h 199"/>
              <a:gd name="T50" fmla="*/ 21 w 473"/>
              <a:gd name="T51" fmla="*/ 199 h 199"/>
              <a:gd name="T52" fmla="*/ 21 w 473"/>
              <a:gd name="T53" fmla="*/ 187 h 199"/>
              <a:gd name="T54" fmla="*/ 13 w 473"/>
              <a:gd name="T55" fmla="*/ 164 h 199"/>
              <a:gd name="T56" fmla="*/ 8 w 473"/>
              <a:gd name="T57" fmla="*/ 139 h 199"/>
              <a:gd name="T58" fmla="*/ 5 w 473"/>
              <a:gd name="T59" fmla="*/ 112 h 199"/>
              <a:gd name="T60" fmla="*/ 5 w 473"/>
              <a:gd name="T61" fmla="*/ 88 h 199"/>
              <a:gd name="T62" fmla="*/ 6 w 473"/>
              <a:gd name="T63" fmla="*/ 66 h 199"/>
              <a:gd name="T64" fmla="*/ 10 w 473"/>
              <a:gd name="T65" fmla="*/ 46 h 199"/>
              <a:gd name="T66" fmla="*/ 16 w 473"/>
              <a:gd name="T67" fmla="*/ 26 h 199"/>
              <a:gd name="T68" fmla="*/ 13 w 473"/>
              <a:gd name="T69" fmla="*/ 2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3" h="199">
                <a:moveTo>
                  <a:pt x="473" y="99"/>
                </a:moveTo>
                <a:lnTo>
                  <a:pt x="473" y="86"/>
                </a:lnTo>
                <a:lnTo>
                  <a:pt x="472" y="73"/>
                </a:lnTo>
                <a:lnTo>
                  <a:pt x="470" y="59"/>
                </a:lnTo>
                <a:lnTo>
                  <a:pt x="468" y="48"/>
                </a:lnTo>
                <a:lnTo>
                  <a:pt x="465" y="35"/>
                </a:lnTo>
                <a:lnTo>
                  <a:pt x="460" y="23"/>
                </a:lnTo>
                <a:lnTo>
                  <a:pt x="457" y="11"/>
                </a:lnTo>
                <a:lnTo>
                  <a:pt x="452" y="0"/>
                </a:lnTo>
                <a:lnTo>
                  <a:pt x="447" y="0"/>
                </a:lnTo>
                <a:lnTo>
                  <a:pt x="452" y="11"/>
                </a:lnTo>
                <a:lnTo>
                  <a:pt x="455" y="23"/>
                </a:lnTo>
                <a:lnTo>
                  <a:pt x="460" y="35"/>
                </a:lnTo>
                <a:lnTo>
                  <a:pt x="463" y="48"/>
                </a:lnTo>
                <a:lnTo>
                  <a:pt x="465" y="59"/>
                </a:lnTo>
                <a:lnTo>
                  <a:pt x="467" y="73"/>
                </a:lnTo>
                <a:lnTo>
                  <a:pt x="468" y="86"/>
                </a:lnTo>
                <a:lnTo>
                  <a:pt x="468" y="99"/>
                </a:lnTo>
                <a:lnTo>
                  <a:pt x="468" y="109"/>
                </a:lnTo>
                <a:lnTo>
                  <a:pt x="468" y="117"/>
                </a:lnTo>
                <a:lnTo>
                  <a:pt x="467" y="127"/>
                </a:lnTo>
                <a:lnTo>
                  <a:pt x="465" y="136"/>
                </a:lnTo>
                <a:lnTo>
                  <a:pt x="463" y="146"/>
                </a:lnTo>
                <a:lnTo>
                  <a:pt x="462" y="154"/>
                </a:lnTo>
                <a:lnTo>
                  <a:pt x="460" y="162"/>
                </a:lnTo>
                <a:lnTo>
                  <a:pt x="457" y="170"/>
                </a:lnTo>
                <a:lnTo>
                  <a:pt x="463" y="169"/>
                </a:lnTo>
                <a:lnTo>
                  <a:pt x="465" y="160"/>
                </a:lnTo>
                <a:lnTo>
                  <a:pt x="467" y="152"/>
                </a:lnTo>
                <a:lnTo>
                  <a:pt x="470" y="144"/>
                </a:lnTo>
                <a:lnTo>
                  <a:pt x="470" y="134"/>
                </a:lnTo>
                <a:lnTo>
                  <a:pt x="472" y="126"/>
                </a:lnTo>
                <a:lnTo>
                  <a:pt x="473" y="117"/>
                </a:lnTo>
                <a:lnTo>
                  <a:pt x="473" y="107"/>
                </a:lnTo>
                <a:lnTo>
                  <a:pt x="473" y="99"/>
                </a:lnTo>
                <a:close/>
                <a:moveTo>
                  <a:pt x="13" y="20"/>
                </a:moveTo>
                <a:lnTo>
                  <a:pt x="10" y="28"/>
                </a:lnTo>
                <a:lnTo>
                  <a:pt x="6" y="38"/>
                </a:lnTo>
                <a:lnTo>
                  <a:pt x="5" y="48"/>
                </a:lnTo>
                <a:lnTo>
                  <a:pt x="3" y="58"/>
                </a:lnTo>
                <a:lnTo>
                  <a:pt x="1" y="68"/>
                </a:lnTo>
                <a:lnTo>
                  <a:pt x="0" y="78"/>
                </a:lnTo>
                <a:lnTo>
                  <a:pt x="0" y="89"/>
                </a:lnTo>
                <a:lnTo>
                  <a:pt x="0" y="99"/>
                </a:lnTo>
                <a:lnTo>
                  <a:pt x="0" y="112"/>
                </a:lnTo>
                <a:lnTo>
                  <a:pt x="1" y="126"/>
                </a:lnTo>
                <a:lnTo>
                  <a:pt x="3" y="137"/>
                </a:lnTo>
                <a:lnTo>
                  <a:pt x="5" y="151"/>
                </a:lnTo>
                <a:lnTo>
                  <a:pt x="8" y="164"/>
                </a:lnTo>
                <a:lnTo>
                  <a:pt x="11" y="175"/>
                </a:lnTo>
                <a:lnTo>
                  <a:pt x="16" y="187"/>
                </a:lnTo>
                <a:lnTo>
                  <a:pt x="21" y="199"/>
                </a:lnTo>
                <a:lnTo>
                  <a:pt x="26" y="199"/>
                </a:lnTo>
                <a:lnTo>
                  <a:pt x="21" y="187"/>
                </a:lnTo>
                <a:lnTo>
                  <a:pt x="16" y="175"/>
                </a:lnTo>
                <a:lnTo>
                  <a:pt x="13" y="164"/>
                </a:lnTo>
                <a:lnTo>
                  <a:pt x="10" y="151"/>
                </a:lnTo>
                <a:lnTo>
                  <a:pt x="8" y="139"/>
                </a:lnTo>
                <a:lnTo>
                  <a:pt x="5" y="126"/>
                </a:lnTo>
                <a:lnTo>
                  <a:pt x="5" y="112"/>
                </a:lnTo>
                <a:lnTo>
                  <a:pt x="5" y="99"/>
                </a:lnTo>
                <a:lnTo>
                  <a:pt x="5" y="88"/>
                </a:lnTo>
                <a:lnTo>
                  <a:pt x="5" y="78"/>
                </a:lnTo>
                <a:lnTo>
                  <a:pt x="6" y="66"/>
                </a:lnTo>
                <a:lnTo>
                  <a:pt x="8" y="56"/>
                </a:lnTo>
                <a:lnTo>
                  <a:pt x="10" y="46"/>
                </a:lnTo>
                <a:lnTo>
                  <a:pt x="13" y="36"/>
                </a:lnTo>
                <a:lnTo>
                  <a:pt x="16" y="26"/>
                </a:lnTo>
                <a:lnTo>
                  <a:pt x="19" y="16"/>
                </a:lnTo>
                <a:lnTo>
                  <a:pt x="13" y="2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20" name="Freeform 1325">
            <a:extLst>
              <a:ext uri="{FF2B5EF4-FFF2-40B4-BE49-F238E27FC236}">
                <a16:creationId xmlns:a16="http://schemas.microsoft.com/office/drawing/2014/main" id="{2CD790D3-2FC0-688F-A400-D7F2D4B99081}"/>
              </a:ext>
            </a:extLst>
          </p:cNvPr>
          <p:cNvSpPr>
            <a:spLocks noEditPoints="1"/>
          </p:cNvSpPr>
          <p:nvPr/>
        </p:nvSpPr>
        <p:spPr bwMode="auto">
          <a:xfrm>
            <a:off x="2541588" y="2403475"/>
            <a:ext cx="747713" cy="315913"/>
          </a:xfrm>
          <a:custGeom>
            <a:avLst/>
            <a:gdLst>
              <a:gd name="T0" fmla="*/ 469 w 471"/>
              <a:gd name="T1" fmla="*/ 86 h 199"/>
              <a:gd name="T2" fmla="*/ 467 w 471"/>
              <a:gd name="T3" fmla="*/ 59 h 199"/>
              <a:gd name="T4" fmla="*/ 461 w 471"/>
              <a:gd name="T5" fmla="*/ 35 h 199"/>
              <a:gd name="T6" fmla="*/ 452 w 471"/>
              <a:gd name="T7" fmla="*/ 11 h 199"/>
              <a:gd name="T8" fmla="*/ 442 w 471"/>
              <a:gd name="T9" fmla="*/ 0 h 199"/>
              <a:gd name="T10" fmla="*/ 452 w 471"/>
              <a:gd name="T11" fmla="*/ 23 h 199"/>
              <a:gd name="T12" fmla="*/ 459 w 471"/>
              <a:gd name="T13" fmla="*/ 48 h 199"/>
              <a:gd name="T14" fmla="*/ 464 w 471"/>
              <a:gd name="T15" fmla="*/ 73 h 199"/>
              <a:gd name="T16" fmla="*/ 466 w 471"/>
              <a:gd name="T17" fmla="*/ 99 h 199"/>
              <a:gd name="T18" fmla="*/ 464 w 471"/>
              <a:gd name="T19" fmla="*/ 117 h 199"/>
              <a:gd name="T20" fmla="*/ 462 w 471"/>
              <a:gd name="T21" fmla="*/ 137 h 199"/>
              <a:gd name="T22" fmla="*/ 459 w 471"/>
              <a:gd name="T23" fmla="*/ 154 h 199"/>
              <a:gd name="T24" fmla="*/ 452 w 471"/>
              <a:gd name="T25" fmla="*/ 172 h 199"/>
              <a:gd name="T26" fmla="*/ 462 w 471"/>
              <a:gd name="T27" fmla="*/ 160 h 199"/>
              <a:gd name="T28" fmla="*/ 466 w 471"/>
              <a:gd name="T29" fmla="*/ 144 h 199"/>
              <a:gd name="T30" fmla="*/ 469 w 471"/>
              <a:gd name="T31" fmla="*/ 126 h 199"/>
              <a:gd name="T32" fmla="*/ 469 w 471"/>
              <a:gd name="T33" fmla="*/ 107 h 199"/>
              <a:gd name="T34" fmla="*/ 15 w 471"/>
              <a:gd name="T35" fmla="*/ 18 h 199"/>
              <a:gd name="T36" fmla="*/ 9 w 471"/>
              <a:gd name="T37" fmla="*/ 36 h 199"/>
              <a:gd name="T38" fmla="*/ 4 w 471"/>
              <a:gd name="T39" fmla="*/ 58 h 199"/>
              <a:gd name="T40" fmla="*/ 2 w 471"/>
              <a:gd name="T41" fmla="*/ 78 h 199"/>
              <a:gd name="T42" fmla="*/ 0 w 471"/>
              <a:gd name="T43" fmla="*/ 99 h 199"/>
              <a:gd name="T44" fmla="*/ 2 w 471"/>
              <a:gd name="T45" fmla="*/ 126 h 199"/>
              <a:gd name="T46" fmla="*/ 7 w 471"/>
              <a:gd name="T47" fmla="*/ 151 h 199"/>
              <a:gd name="T48" fmla="*/ 13 w 471"/>
              <a:gd name="T49" fmla="*/ 175 h 199"/>
              <a:gd name="T50" fmla="*/ 22 w 471"/>
              <a:gd name="T51" fmla="*/ 199 h 199"/>
              <a:gd name="T52" fmla="*/ 23 w 471"/>
              <a:gd name="T53" fmla="*/ 187 h 199"/>
              <a:gd name="T54" fmla="*/ 15 w 471"/>
              <a:gd name="T55" fmla="*/ 164 h 199"/>
              <a:gd name="T56" fmla="*/ 9 w 471"/>
              <a:gd name="T57" fmla="*/ 139 h 199"/>
              <a:gd name="T58" fmla="*/ 5 w 471"/>
              <a:gd name="T59" fmla="*/ 112 h 199"/>
              <a:gd name="T60" fmla="*/ 5 w 471"/>
              <a:gd name="T61" fmla="*/ 88 h 199"/>
              <a:gd name="T62" fmla="*/ 7 w 471"/>
              <a:gd name="T63" fmla="*/ 66 h 199"/>
              <a:gd name="T64" fmla="*/ 12 w 471"/>
              <a:gd name="T65" fmla="*/ 45 h 199"/>
              <a:gd name="T66" fmla="*/ 17 w 471"/>
              <a:gd name="T67" fmla="*/ 25 h 199"/>
              <a:gd name="T68" fmla="*/ 15 w 471"/>
              <a:gd name="T69" fmla="*/ 1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1" h="199">
                <a:moveTo>
                  <a:pt x="471" y="99"/>
                </a:moveTo>
                <a:lnTo>
                  <a:pt x="469" y="86"/>
                </a:lnTo>
                <a:lnTo>
                  <a:pt x="469" y="73"/>
                </a:lnTo>
                <a:lnTo>
                  <a:pt x="467" y="59"/>
                </a:lnTo>
                <a:lnTo>
                  <a:pt x="464" y="48"/>
                </a:lnTo>
                <a:lnTo>
                  <a:pt x="461" y="35"/>
                </a:lnTo>
                <a:lnTo>
                  <a:pt x="457" y="23"/>
                </a:lnTo>
                <a:lnTo>
                  <a:pt x="452" y="11"/>
                </a:lnTo>
                <a:lnTo>
                  <a:pt x="447" y="0"/>
                </a:lnTo>
                <a:lnTo>
                  <a:pt x="442" y="0"/>
                </a:lnTo>
                <a:lnTo>
                  <a:pt x="447" y="11"/>
                </a:lnTo>
                <a:lnTo>
                  <a:pt x="452" y="23"/>
                </a:lnTo>
                <a:lnTo>
                  <a:pt x="456" y="35"/>
                </a:lnTo>
                <a:lnTo>
                  <a:pt x="459" y="48"/>
                </a:lnTo>
                <a:lnTo>
                  <a:pt x="462" y="59"/>
                </a:lnTo>
                <a:lnTo>
                  <a:pt x="464" y="73"/>
                </a:lnTo>
                <a:lnTo>
                  <a:pt x="464" y="86"/>
                </a:lnTo>
                <a:lnTo>
                  <a:pt x="466" y="99"/>
                </a:lnTo>
                <a:lnTo>
                  <a:pt x="466" y="109"/>
                </a:lnTo>
                <a:lnTo>
                  <a:pt x="464" y="117"/>
                </a:lnTo>
                <a:lnTo>
                  <a:pt x="464" y="127"/>
                </a:lnTo>
                <a:lnTo>
                  <a:pt x="462" y="137"/>
                </a:lnTo>
                <a:lnTo>
                  <a:pt x="461" y="146"/>
                </a:lnTo>
                <a:lnTo>
                  <a:pt x="459" y="154"/>
                </a:lnTo>
                <a:lnTo>
                  <a:pt x="456" y="164"/>
                </a:lnTo>
                <a:lnTo>
                  <a:pt x="452" y="172"/>
                </a:lnTo>
                <a:lnTo>
                  <a:pt x="459" y="169"/>
                </a:lnTo>
                <a:lnTo>
                  <a:pt x="462" y="160"/>
                </a:lnTo>
                <a:lnTo>
                  <a:pt x="464" y="152"/>
                </a:lnTo>
                <a:lnTo>
                  <a:pt x="466" y="144"/>
                </a:lnTo>
                <a:lnTo>
                  <a:pt x="467" y="136"/>
                </a:lnTo>
                <a:lnTo>
                  <a:pt x="469" y="126"/>
                </a:lnTo>
                <a:lnTo>
                  <a:pt x="469" y="117"/>
                </a:lnTo>
                <a:lnTo>
                  <a:pt x="469" y="107"/>
                </a:lnTo>
                <a:lnTo>
                  <a:pt x="471" y="99"/>
                </a:lnTo>
                <a:close/>
                <a:moveTo>
                  <a:pt x="15" y="18"/>
                </a:moveTo>
                <a:lnTo>
                  <a:pt x="12" y="28"/>
                </a:lnTo>
                <a:lnTo>
                  <a:pt x="9" y="36"/>
                </a:lnTo>
                <a:lnTo>
                  <a:pt x="7" y="46"/>
                </a:lnTo>
                <a:lnTo>
                  <a:pt x="4" y="58"/>
                </a:lnTo>
                <a:lnTo>
                  <a:pt x="2" y="68"/>
                </a:lnTo>
                <a:lnTo>
                  <a:pt x="2" y="78"/>
                </a:lnTo>
                <a:lnTo>
                  <a:pt x="0" y="88"/>
                </a:lnTo>
                <a:lnTo>
                  <a:pt x="0" y="99"/>
                </a:lnTo>
                <a:lnTo>
                  <a:pt x="0" y="112"/>
                </a:lnTo>
                <a:lnTo>
                  <a:pt x="2" y="126"/>
                </a:lnTo>
                <a:lnTo>
                  <a:pt x="4" y="139"/>
                </a:lnTo>
                <a:lnTo>
                  <a:pt x="7" y="151"/>
                </a:lnTo>
                <a:lnTo>
                  <a:pt x="9" y="164"/>
                </a:lnTo>
                <a:lnTo>
                  <a:pt x="13" y="175"/>
                </a:lnTo>
                <a:lnTo>
                  <a:pt x="17" y="187"/>
                </a:lnTo>
                <a:lnTo>
                  <a:pt x="22" y="199"/>
                </a:lnTo>
                <a:lnTo>
                  <a:pt x="28" y="199"/>
                </a:lnTo>
                <a:lnTo>
                  <a:pt x="23" y="187"/>
                </a:lnTo>
                <a:lnTo>
                  <a:pt x="18" y="175"/>
                </a:lnTo>
                <a:lnTo>
                  <a:pt x="15" y="164"/>
                </a:lnTo>
                <a:lnTo>
                  <a:pt x="12" y="151"/>
                </a:lnTo>
                <a:lnTo>
                  <a:pt x="9" y="139"/>
                </a:lnTo>
                <a:lnTo>
                  <a:pt x="7" y="126"/>
                </a:lnTo>
                <a:lnTo>
                  <a:pt x="5" y="112"/>
                </a:lnTo>
                <a:lnTo>
                  <a:pt x="5" y="99"/>
                </a:lnTo>
                <a:lnTo>
                  <a:pt x="5" y="88"/>
                </a:lnTo>
                <a:lnTo>
                  <a:pt x="7" y="78"/>
                </a:lnTo>
                <a:lnTo>
                  <a:pt x="7" y="66"/>
                </a:lnTo>
                <a:lnTo>
                  <a:pt x="10" y="56"/>
                </a:lnTo>
                <a:lnTo>
                  <a:pt x="12" y="45"/>
                </a:lnTo>
                <a:lnTo>
                  <a:pt x="15" y="35"/>
                </a:lnTo>
                <a:lnTo>
                  <a:pt x="17" y="25"/>
                </a:lnTo>
                <a:lnTo>
                  <a:pt x="22" y="15"/>
                </a:lnTo>
                <a:lnTo>
                  <a:pt x="15" y="18"/>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21" name="Freeform 1326">
            <a:extLst>
              <a:ext uri="{FF2B5EF4-FFF2-40B4-BE49-F238E27FC236}">
                <a16:creationId xmlns:a16="http://schemas.microsoft.com/office/drawing/2014/main" id="{ABEC8E51-36FB-CA4E-3D21-318BA8CE4C8C}"/>
              </a:ext>
            </a:extLst>
          </p:cNvPr>
          <p:cNvSpPr>
            <a:spLocks noEditPoints="1"/>
          </p:cNvSpPr>
          <p:nvPr/>
        </p:nvSpPr>
        <p:spPr bwMode="auto">
          <a:xfrm>
            <a:off x="2547938" y="2403475"/>
            <a:ext cx="735013" cy="315913"/>
          </a:xfrm>
          <a:custGeom>
            <a:avLst/>
            <a:gdLst>
              <a:gd name="T0" fmla="*/ 463 w 463"/>
              <a:gd name="T1" fmla="*/ 86 h 199"/>
              <a:gd name="T2" fmla="*/ 460 w 463"/>
              <a:gd name="T3" fmla="*/ 59 h 199"/>
              <a:gd name="T4" fmla="*/ 455 w 463"/>
              <a:gd name="T5" fmla="*/ 35 h 199"/>
              <a:gd name="T6" fmla="*/ 447 w 463"/>
              <a:gd name="T7" fmla="*/ 11 h 199"/>
              <a:gd name="T8" fmla="*/ 435 w 463"/>
              <a:gd name="T9" fmla="*/ 0 h 199"/>
              <a:gd name="T10" fmla="*/ 445 w 463"/>
              <a:gd name="T11" fmla="*/ 23 h 199"/>
              <a:gd name="T12" fmla="*/ 453 w 463"/>
              <a:gd name="T13" fmla="*/ 48 h 199"/>
              <a:gd name="T14" fmla="*/ 457 w 463"/>
              <a:gd name="T15" fmla="*/ 73 h 199"/>
              <a:gd name="T16" fmla="*/ 458 w 463"/>
              <a:gd name="T17" fmla="*/ 99 h 199"/>
              <a:gd name="T18" fmla="*/ 458 w 463"/>
              <a:gd name="T19" fmla="*/ 119 h 199"/>
              <a:gd name="T20" fmla="*/ 455 w 463"/>
              <a:gd name="T21" fmla="*/ 137 h 199"/>
              <a:gd name="T22" fmla="*/ 452 w 463"/>
              <a:gd name="T23" fmla="*/ 155 h 199"/>
              <a:gd name="T24" fmla="*/ 447 w 463"/>
              <a:gd name="T25" fmla="*/ 174 h 199"/>
              <a:gd name="T26" fmla="*/ 455 w 463"/>
              <a:gd name="T27" fmla="*/ 162 h 199"/>
              <a:gd name="T28" fmla="*/ 458 w 463"/>
              <a:gd name="T29" fmla="*/ 146 h 199"/>
              <a:gd name="T30" fmla="*/ 462 w 463"/>
              <a:gd name="T31" fmla="*/ 127 h 199"/>
              <a:gd name="T32" fmla="*/ 463 w 463"/>
              <a:gd name="T33" fmla="*/ 109 h 199"/>
              <a:gd name="T34" fmla="*/ 14 w 463"/>
              <a:gd name="T35" fmla="*/ 16 h 199"/>
              <a:gd name="T36" fmla="*/ 8 w 463"/>
              <a:gd name="T37" fmla="*/ 36 h 199"/>
              <a:gd name="T38" fmla="*/ 3 w 463"/>
              <a:gd name="T39" fmla="*/ 56 h 199"/>
              <a:gd name="T40" fmla="*/ 0 w 463"/>
              <a:gd name="T41" fmla="*/ 78 h 199"/>
              <a:gd name="T42" fmla="*/ 0 w 463"/>
              <a:gd name="T43" fmla="*/ 99 h 199"/>
              <a:gd name="T44" fmla="*/ 0 w 463"/>
              <a:gd name="T45" fmla="*/ 126 h 199"/>
              <a:gd name="T46" fmla="*/ 5 w 463"/>
              <a:gd name="T47" fmla="*/ 151 h 199"/>
              <a:gd name="T48" fmla="*/ 11 w 463"/>
              <a:gd name="T49" fmla="*/ 175 h 199"/>
              <a:gd name="T50" fmla="*/ 21 w 463"/>
              <a:gd name="T51" fmla="*/ 199 h 199"/>
              <a:gd name="T52" fmla="*/ 21 w 463"/>
              <a:gd name="T53" fmla="*/ 187 h 199"/>
              <a:gd name="T54" fmla="*/ 13 w 463"/>
              <a:gd name="T55" fmla="*/ 164 h 199"/>
              <a:gd name="T56" fmla="*/ 8 w 463"/>
              <a:gd name="T57" fmla="*/ 139 h 199"/>
              <a:gd name="T58" fmla="*/ 5 w 463"/>
              <a:gd name="T59" fmla="*/ 112 h 199"/>
              <a:gd name="T60" fmla="*/ 5 w 463"/>
              <a:gd name="T61" fmla="*/ 88 h 199"/>
              <a:gd name="T62" fmla="*/ 6 w 463"/>
              <a:gd name="T63" fmla="*/ 66 h 199"/>
              <a:gd name="T64" fmla="*/ 11 w 463"/>
              <a:gd name="T65" fmla="*/ 45 h 199"/>
              <a:gd name="T66" fmla="*/ 16 w 463"/>
              <a:gd name="T67" fmla="*/ 23 h 199"/>
              <a:gd name="T68" fmla="*/ 14 w 463"/>
              <a:gd name="T69" fmla="*/ 1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3" h="199">
                <a:moveTo>
                  <a:pt x="463" y="99"/>
                </a:moveTo>
                <a:lnTo>
                  <a:pt x="463" y="86"/>
                </a:lnTo>
                <a:lnTo>
                  <a:pt x="462" y="73"/>
                </a:lnTo>
                <a:lnTo>
                  <a:pt x="460" y="59"/>
                </a:lnTo>
                <a:lnTo>
                  <a:pt x="458" y="48"/>
                </a:lnTo>
                <a:lnTo>
                  <a:pt x="455" y="35"/>
                </a:lnTo>
                <a:lnTo>
                  <a:pt x="450" y="23"/>
                </a:lnTo>
                <a:lnTo>
                  <a:pt x="447" y="11"/>
                </a:lnTo>
                <a:lnTo>
                  <a:pt x="442" y="0"/>
                </a:lnTo>
                <a:lnTo>
                  <a:pt x="435" y="0"/>
                </a:lnTo>
                <a:lnTo>
                  <a:pt x="442" y="11"/>
                </a:lnTo>
                <a:lnTo>
                  <a:pt x="445" y="23"/>
                </a:lnTo>
                <a:lnTo>
                  <a:pt x="450" y="35"/>
                </a:lnTo>
                <a:lnTo>
                  <a:pt x="453" y="48"/>
                </a:lnTo>
                <a:lnTo>
                  <a:pt x="455" y="59"/>
                </a:lnTo>
                <a:lnTo>
                  <a:pt x="457" y="73"/>
                </a:lnTo>
                <a:lnTo>
                  <a:pt x="458" y="86"/>
                </a:lnTo>
                <a:lnTo>
                  <a:pt x="458" y="99"/>
                </a:lnTo>
                <a:lnTo>
                  <a:pt x="458" y="109"/>
                </a:lnTo>
                <a:lnTo>
                  <a:pt x="458" y="119"/>
                </a:lnTo>
                <a:lnTo>
                  <a:pt x="457" y="127"/>
                </a:lnTo>
                <a:lnTo>
                  <a:pt x="455" y="137"/>
                </a:lnTo>
                <a:lnTo>
                  <a:pt x="453" y="147"/>
                </a:lnTo>
                <a:lnTo>
                  <a:pt x="452" y="155"/>
                </a:lnTo>
                <a:lnTo>
                  <a:pt x="448" y="165"/>
                </a:lnTo>
                <a:lnTo>
                  <a:pt x="447" y="174"/>
                </a:lnTo>
                <a:lnTo>
                  <a:pt x="452" y="170"/>
                </a:lnTo>
                <a:lnTo>
                  <a:pt x="455" y="162"/>
                </a:lnTo>
                <a:lnTo>
                  <a:pt x="457" y="154"/>
                </a:lnTo>
                <a:lnTo>
                  <a:pt x="458" y="146"/>
                </a:lnTo>
                <a:lnTo>
                  <a:pt x="460" y="136"/>
                </a:lnTo>
                <a:lnTo>
                  <a:pt x="462" y="127"/>
                </a:lnTo>
                <a:lnTo>
                  <a:pt x="463" y="117"/>
                </a:lnTo>
                <a:lnTo>
                  <a:pt x="463" y="109"/>
                </a:lnTo>
                <a:lnTo>
                  <a:pt x="463" y="99"/>
                </a:lnTo>
                <a:close/>
                <a:moveTo>
                  <a:pt x="14" y="16"/>
                </a:moveTo>
                <a:lnTo>
                  <a:pt x="11" y="26"/>
                </a:lnTo>
                <a:lnTo>
                  <a:pt x="8" y="36"/>
                </a:lnTo>
                <a:lnTo>
                  <a:pt x="5" y="46"/>
                </a:lnTo>
                <a:lnTo>
                  <a:pt x="3" y="56"/>
                </a:lnTo>
                <a:lnTo>
                  <a:pt x="1" y="66"/>
                </a:lnTo>
                <a:lnTo>
                  <a:pt x="0" y="78"/>
                </a:lnTo>
                <a:lnTo>
                  <a:pt x="0" y="88"/>
                </a:lnTo>
                <a:lnTo>
                  <a:pt x="0" y="99"/>
                </a:lnTo>
                <a:lnTo>
                  <a:pt x="0" y="112"/>
                </a:lnTo>
                <a:lnTo>
                  <a:pt x="0" y="126"/>
                </a:lnTo>
                <a:lnTo>
                  <a:pt x="3" y="139"/>
                </a:lnTo>
                <a:lnTo>
                  <a:pt x="5" y="151"/>
                </a:lnTo>
                <a:lnTo>
                  <a:pt x="8" y="164"/>
                </a:lnTo>
                <a:lnTo>
                  <a:pt x="11" y="175"/>
                </a:lnTo>
                <a:lnTo>
                  <a:pt x="16" y="187"/>
                </a:lnTo>
                <a:lnTo>
                  <a:pt x="21" y="199"/>
                </a:lnTo>
                <a:lnTo>
                  <a:pt x="26" y="199"/>
                </a:lnTo>
                <a:lnTo>
                  <a:pt x="21" y="187"/>
                </a:lnTo>
                <a:lnTo>
                  <a:pt x="16" y="175"/>
                </a:lnTo>
                <a:lnTo>
                  <a:pt x="13" y="164"/>
                </a:lnTo>
                <a:lnTo>
                  <a:pt x="9" y="151"/>
                </a:lnTo>
                <a:lnTo>
                  <a:pt x="8" y="139"/>
                </a:lnTo>
                <a:lnTo>
                  <a:pt x="5" y="126"/>
                </a:lnTo>
                <a:lnTo>
                  <a:pt x="5" y="112"/>
                </a:lnTo>
                <a:lnTo>
                  <a:pt x="3" y="99"/>
                </a:lnTo>
                <a:lnTo>
                  <a:pt x="5" y="88"/>
                </a:lnTo>
                <a:lnTo>
                  <a:pt x="5" y="76"/>
                </a:lnTo>
                <a:lnTo>
                  <a:pt x="6" y="66"/>
                </a:lnTo>
                <a:lnTo>
                  <a:pt x="8" y="54"/>
                </a:lnTo>
                <a:lnTo>
                  <a:pt x="11" y="45"/>
                </a:lnTo>
                <a:lnTo>
                  <a:pt x="13" y="33"/>
                </a:lnTo>
                <a:lnTo>
                  <a:pt x="16" y="23"/>
                </a:lnTo>
                <a:lnTo>
                  <a:pt x="21" y="13"/>
                </a:lnTo>
                <a:lnTo>
                  <a:pt x="14" y="16"/>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22" name="Freeform 1327">
            <a:extLst>
              <a:ext uri="{FF2B5EF4-FFF2-40B4-BE49-F238E27FC236}">
                <a16:creationId xmlns:a16="http://schemas.microsoft.com/office/drawing/2014/main" id="{7CB9BF02-2870-AF24-5437-29B640E0BC52}"/>
              </a:ext>
            </a:extLst>
          </p:cNvPr>
          <p:cNvSpPr>
            <a:spLocks noEditPoints="1"/>
          </p:cNvSpPr>
          <p:nvPr/>
        </p:nvSpPr>
        <p:spPr bwMode="auto">
          <a:xfrm>
            <a:off x="2549525" y="2403475"/>
            <a:ext cx="731838" cy="315913"/>
          </a:xfrm>
          <a:custGeom>
            <a:avLst/>
            <a:gdLst>
              <a:gd name="T0" fmla="*/ 459 w 461"/>
              <a:gd name="T1" fmla="*/ 86 h 199"/>
              <a:gd name="T2" fmla="*/ 457 w 461"/>
              <a:gd name="T3" fmla="*/ 59 h 199"/>
              <a:gd name="T4" fmla="*/ 451 w 461"/>
              <a:gd name="T5" fmla="*/ 35 h 199"/>
              <a:gd name="T6" fmla="*/ 442 w 461"/>
              <a:gd name="T7" fmla="*/ 11 h 199"/>
              <a:gd name="T8" fmla="*/ 432 w 461"/>
              <a:gd name="T9" fmla="*/ 0 h 199"/>
              <a:gd name="T10" fmla="*/ 442 w 461"/>
              <a:gd name="T11" fmla="*/ 23 h 199"/>
              <a:gd name="T12" fmla="*/ 449 w 461"/>
              <a:gd name="T13" fmla="*/ 48 h 199"/>
              <a:gd name="T14" fmla="*/ 454 w 461"/>
              <a:gd name="T15" fmla="*/ 73 h 199"/>
              <a:gd name="T16" fmla="*/ 456 w 461"/>
              <a:gd name="T17" fmla="*/ 99 h 199"/>
              <a:gd name="T18" fmla="*/ 454 w 461"/>
              <a:gd name="T19" fmla="*/ 119 h 199"/>
              <a:gd name="T20" fmla="*/ 452 w 461"/>
              <a:gd name="T21" fmla="*/ 137 h 199"/>
              <a:gd name="T22" fmla="*/ 447 w 461"/>
              <a:gd name="T23" fmla="*/ 157 h 199"/>
              <a:gd name="T24" fmla="*/ 442 w 461"/>
              <a:gd name="T25" fmla="*/ 175 h 199"/>
              <a:gd name="T26" fmla="*/ 451 w 461"/>
              <a:gd name="T27" fmla="*/ 164 h 199"/>
              <a:gd name="T28" fmla="*/ 456 w 461"/>
              <a:gd name="T29" fmla="*/ 146 h 199"/>
              <a:gd name="T30" fmla="*/ 459 w 461"/>
              <a:gd name="T31" fmla="*/ 127 h 199"/>
              <a:gd name="T32" fmla="*/ 461 w 461"/>
              <a:gd name="T33" fmla="*/ 109 h 199"/>
              <a:gd name="T34" fmla="*/ 17 w 461"/>
              <a:gd name="T35" fmla="*/ 15 h 199"/>
              <a:gd name="T36" fmla="*/ 10 w 461"/>
              <a:gd name="T37" fmla="*/ 35 h 199"/>
              <a:gd name="T38" fmla="*/ 5 w 461"/>
              <a:gd name="T39" fmla="*/ 56 h 199"/>
              <a:gd name="T40" fmla="*/ 2 w 461"/>
              <a:gd name="T41" fmla="*/ 78 h 199"/>
              <a:gd name="T42" fmla="*/ 0 w 461"/>
              <a:gd name="T43" fmla="*/ 99 h 199"/>
              <a:gd name="T44" fmla="*/ 2 w 461"/>
              <a:gd name="T45" fmla="*/ 126 h 199"/>
              <a:gd name="T46" fmla="*/ 7 w 461"/>
              <a:gd name="T47" fmla="*/ 151 h 199"/>
              <a:gd name="T48" fmla="*/ 13 w 461"/>
              <a:gd name="T49" fmla="*/ 175 h 199"/>
              <a:gd name="T50" fmla="*/ 23 w 461"/>
              <a:gd name="T51" fmla="*/ 199 h 199"/>
              <a:gd name="T52" fmla="*/ 23 w 461"/>
              <a:gd name="T53" fmla="*/ 187 h 199"/>
              <a:gd name="T54" fmla="*/ 15 w 461"/>
              <a:gd name="T55" fmla="*/ 164 h 199"/>
              <a:gd name="T56" fmla="*/ 8 w 461"/>
              <a:gd name="T57" fmla="*/ 139 h 199"/>
              <a:gd name="T58" fmla="*/ 5 w 461"/>
              <a:gd name="T59" fmla="*/ 112 h 199"/>
              <a:gd name="T60" fmla="*/ 5 w 461"/>
              <a:gd name="T61" fmla="*/ 88 h 199"/>
              <a:gd name="T62" fmla="*/ 7 w 461"/>
              <a:gd name="T63" fmla="*/ 64 h 199"/>
              <a:gd name="T64" fmla="*/ 12 w 461"/>
              <a:gd name="T65" fmla="*/ 43 h 199"/>
              <a:gd name="T66" fmla="*/ 18 w 461"/>
              <a:gd name="T67" fmla="*/ 21 h 199"/>
              <a:gd name="T68" fmla="*/ 17 w 461"/>
              <a:gd name="T69" fmla="*/ 1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1" h="199">
                <a:moveTo>
                  <a:pt x="461" y="99"/>
                </a:moveTo>
                <a:lnTo>
                  <a:pt x="459" y="86"/>
                </a:lnTo>
                <a:lnTo>
                  <a:pt x="459" y="73"/>
                </a:lnTo>
                <a:lnTo>
                  <a:pt x="457" y="59"/>
                </a:lnTo>
                <a:lnTo>
                  <a:pt x="454" y="48"/>
                </a:lnTo>
                <a:lnTo>
                  <a:pt x="451" y="35"/>
                </a:lnTo>
                <a:lnTo>
                  <a:pt x="447" y="23"/>
                </a:lnTo>
                <a:lnTo>
                  <a:pt x="442" y="11"/>
                </a:lnTo>
                <a:lnTo>
                  <a:pt x="437" y="0"/>
                </a:lnTo>
                <a:lnTo>
                  <a:pt x="432" y="0"/>
                </a:lnTo>
                <a:lnTo>
                  <a:pt x="437" y="11"/>
                </a:lnTo>
                <a:lnTo>
                  <a:pt x="442" y="23"/>
                </a:lnTo>
                <a:lnTo>
                  <a:pt x="446" y="35"/>
                </a:lnTo>
                <a:lnTo>
                  <a:pt x="449" y="48"/>
                </a:lnTo>
                <a:lnTo>
                  <a:pt x="452" y="59"/>
                </a:lnTo>
                <a:lnTo>
                  <a:pt x="454" y="73"/>
                </a:lnTo>
                <a:lnTo>
                  <a:pt x="456" y="86"/>
                </a:lnTo>
                <a:lnTo>
                  <a:pt x="456" y="99"/>
                </a:lnTo>
                <a:lnTo>
                  <a:pt x="456" y="109"/>
                </a:lnTo>
                <a:lnTo>
                  <a:pt x="454" y="119"/>
                </a:lnTo>
                <a:lnTo>
                  <a:pt x="454" y="129"/>
                </a:lnTo>
                <a:lnTo>
                  <a:pt x="452" y="137"/>
                </a:lnTo>
                <a:lnTo>
                  <a:pt x="451" y="147"/>
                </a:lnTo>
                <a:lnTo>
                  <a:pt x="447" y="157"/>
                </a:lnTo>
                <a:lnTo>
                  <a:pt x="446" y="165"/>
                </a:lnTo>
                <a:lnTo>
                  <a:pt x="442" y="175"/>
                </a:lnTo>
                <a:lnTo>
                  <a:pt x="447" y="172"/>
                </a:lnTo>
                <a:lnTo>
                  <a:pt x="451" y="164"/>
                </a:lnTo>
                <a:lnTo>
                  <a:pt x="454" y="154"/>
                </a:lnTo>
                <a:lnTo>
                  <a:pt x="456" y="146"/>
                </a:lnTo>
                <a:lnTo>
                  <a:pt x="457" y="137"/>
                </a:lnTo>
                <a:lnTo>
                  <a:pt x="459" y="127"/>
                </a:lnTo>
                <a:lnTo>
                  <a:pt x="459" y="117"/>
                </a:lnTo>
                <a:lnTo>
                  <a:pt x="461" y="109"/>
                </a:lnTo>
                <a:lnTo>
                  <a:pt x="461" y="99"/>
                </a:lnTo>
                <a:close/>
                <a:moveTo>
                  <a:pt x="17" y="15"/>
                </a:moveTo>
                <a:lnTo>
                  <a:pt x="12" y="25"/>
                </a:lnTo>
                <a:lnTo>
                  <a:pt x="10" y="35"/>
                </a:lnTo>
                <a:lnTo>
                  <a:pt x="7" y="45"/>
                </a:lnTo>
                <a:lnTo>
                  <a:pt x="5" y="56"/>
                </a:lnTo>
                <a:lnTo>
                  <a:pt x="2" y="66"/>
                </a:lnTo>
                <a:lnTo>
                  <a:pt x="2" y="78"/>
                </a:lnTo>
                <a:lnTo>
                  <a:pt x="0" y="88"/>
                </a:lnTo>
                <a:lnTo>
                  <a:pt x="0" y="99"/>
                </a:lnTo>
                <a:lnTo>
                  <a:pt x="0" y="112"/>
                </a:lnTo>
                <a:lnTo>
                  <a:pt x="2" y="126"/>
                </a:lnTo>
                <a:lnTo>
                  <a:pt x="4" y="139"/>
                </a:lnTo>
                <a:lnTo>
                  <a:pt x="7" y="151"/>
                </a:lnTo>
                <a:lnTo>
                  <a:pt x="10" y="164"/>
                </a:lnTo>
                <a:lnTo>
                  <a:pt x="13" y="175"/>
                </a:lnTo>
                <a:lnTo>
                  <a:pt x="18" y="187"/>
                </a:lnTo>
                <a:lnTo>
                  <a:pt x="23" y="199"/>
                </a:lnTo>
                <a:lnTo>
                  <a:pt x="28" y="199"/>
                </a:lnTo>
                <a:lnTo>
                  <a:pt x="23" y="187"/>
                </a:lnTo>
                <a:lnTo>
                  <a:pt x="18" y="175"/>
                </a:lnTo>
                <a:lnTo>
                  <a:pt x="15" y="164"/>
                </a:lnTo>
                <a:lnTo>
                  <a:pt x="12" y="151"/>
                </a:lnTo>
                <a:lnTo>
                  <a:pt x="8" y="139"/>
                </a:lnTo>
                <a:lnTo>
                  <a:pt x="7" y="126"/>
                </a:lnTo>
                <a:lnTo>
                  <a:pt x="5" y="112"/>
                </a:lnTo>
                <a:lnTo>
                  <a:pt x="5" y="99"/>
                </a:lnTo>
                <a:lnTo>
                  <a:pt x="5" y="88"/>
                </a:lnTo>
                <a:lnTo>
                  <a:pt x="7" y="76"/>
                </a:lnTo>
                <a:lnTo>
                  <a:pt x="7" y="64"/>
                </a:lnTo>
                <a:lnTo>
                  <a:pt x="10" y="54"/>
                </a:lnTo>
                <a:lnTo>
                  <a:pt x="12" y="43"/>
                </a:lnTo>
                <a:lnTo>
                  <a:pt x="15" y="33"/>
                </a:lnTo>
                <a:lnTo>
                  <a:pt x="18" y="21"/>
                </a:lnTo>
                <a:lnTo>
                  <a:pt x="23" y="11"/>
                </a:lnTo>
                <a:lnTo>
                  <a:pt x="17" y="15"/>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23" name="Freeform 1328">
            <a:extLst>
              <a:ext uri="{FF2B5EF4-FFF2-40B4-BE49-F238E27FC236}">
                <a16:creationId xmlns:a16="http://schemas.microsoft.com/office/drawing/2014/main" id="{D5D465D8-C178-F702-1B95-A32165332524}"/>
              </a:ext>
            </a:extLst>
          </p:cNvPr>
          <p:cNvSpPr>
            <a:spLocks noEditPoints="1"/>
          </p:cNvSpPr>
          <p:nvPr/>
        </p:nvSpPr>
        <p:spPr bwMode="auto">
          <a:xfrm>
            <a:off x="2552700" y="2403475"/>
            <a:ext cx="722313" cy="315913"/>
          </a:xfrm>
          <a:custGeom>
            <a:avLst/>
            <a:gdLst>
              <a:gd name="T0" fmla="*/ 455 w 455"/>
              <a:gd name="T1" fmla="*/ 86 h 199"/>
              <a:gd name="T2" fmla="*/ 452 w 455"/>
              <a:gd name="T3" fmla="*/ 59 h 199"/>
              <a:gd name="T4" fmla="*/ 447 w 455"/>
              <a:gd name="T5" fmla="*/ 35 h 199"/>
              <a:gd name="T6" fmla="*/ 439 w 455"/>
              <a:gd name="T7" fmla="*/ 11 h 199"/>
              <a:gd name="T8" fmla="*/ 427 w 455"/>
              <a:gd name="T9" fmla="*/ 0 h 199"/>
              <a:gd name="T10" fmla="*/ 437 w 455"/>
              <a:gd name="T11" fmla="*/ 23 h 199"/>
              <a:gd name="T12" fmla="*/ 445 w 455"/>
              <a:gd name="T13" fmla="*/ 48 h 199"/>
              <a:gd name="T14" fmla="*/ 449 w 455"/>
              <a:gd name="T15" fmla="*/ 73 h 199"/>
              <a:gd name="T16" fmla="*/ 450 w 455"/>
              <a:gd name="T17" fmla="*/ 99 h 199"/>
              <a:gd name="T18" fmla="*/ 450 w 455"/>
              <a:gd name="T19" fmla="*/ 119 h 199"/>
              <a:gd name="T20" fmla="*/ 447 w 455"/>
              <a:gd name="T21" fmla="*/ 139 h 199"/>
              <a:gd name="T22" fmla="*/ 444 w 455"/>
              <a:gd name="T23" fmla="*/ 157 h 199"/>
              <a:gd name="T24" fmla="*/ 437 w 455"/>
              <a:gd name="T25" fmla="*/ 177 h 199"/>
              <a:gd name="T26" fmla="*/ 445 w 455"/>
              <a:gd name="T27" fmla="*/ 165 h 199"/>
              <a:gd name="T28" fmla="*/ 450 w 455"/>
              <a:gd name="T29" fmla="*/ 147 h 199"/>
              <a:gd name="T30" fmla="*/ 454 w 455"/>
              <a:gd name="T31" fmla="*/ 127 h 199"/>
              <a:gd name="T32" fmla="*/ 455 w 455"/>
              <a:gd name="T33" fmla="*/ 109 h 199"/>
              <a:gd name="T34" fmla="*/ 18 w 455"/>
              <a:gd name="T35" fmla="*/ 13 h 199"/>
              <a:gd name="T36" fmla="*/ 10 w 455"/>
              <a:gd name="T37" fmla="*/ 33 h 199"/>
              <a:gd name="T38" fmla="*/ 5 w 455"/>
              <a:gd name="T39" fmla="*/ 54 h 199"/>
              <a:gd name="T40" fmla="*/ 2 w 455"/>
              <a:gd name="T41" fmla="*/ 76 h 199"/>
              <a:gd name="T42" fmla="*/ 0 w 455"/>
              <a:gd name="T43" fmla="*/ 99 h 199"/>
              <a:gd name="T44" fmla="*/ 2 w 455"/>
              <a:gd name="T45" fmla="*/ 126 h 199"/>
              <a:gd name="T46" fmla="*/ 6 w 455"/>
              <a:gd name="T47" fmla="*/ 151 h 199"/>
              <a:gd name="T48" fmla="*/ 13 w 455"/>
              <a:gd name="T49" fmla="*/ 175 h 199"/>
              <a:gd name="T50" fmla="*/ 23 w 455"/>
              <a:gd name="T51" fmla="*/ 199 h 199"/>
              <a:gd name="T52" fmla="*/ 23 w 455"/>
              <a:gd name="T53" fmla="*/ 187 h 199"/>
              <a:gd name="T54" fmla="*/ 15 w 455"/>
              <a:gd name="T55" fmla="*/ 164 h 199"/>
              <a:gd name="T56" fmla="*/ 8 w 455"/>
              <a:gd name="T57" fmla="*/ 139 h 199"/>
              <a:gd name="T58" fmla="*/ 6 w 455"/>
              <a:gd name="T59" fmla="*/ 112 h 199"/>
              <a:gd name="T60" fmla="*/ 6 w 455"/>
              <a:gd name="T61" fmla="*/ 88 h 199"/>
              <a:gd name="T62" fmla="*/ 8 w 455"/>
              <a:gd name="T63" fmla="*/ 64 h 199"/>
              <a:gd name="T64" fmla="*/ 13 w 455"/>
              <a:gd name="T65" fmla="*/ 41 h 199"/>
              <a:gd name="T66" fmla="*/ 20 w 455"/>
              <a:gd name="T67" fmla="*/ 20 h 199"/>
              <a:gd name="T68" fmla="*/ 18 w 455"/>
              <a:gd name="T69" fmla="*/ 1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5" h="199">
                <a:moveTo>
                  <a:pt x="455" y="99"/>
                </a:moveTo>
                <a:lnTo>
                  <a:pt x="455" y="86"/>
                </a:lnTo>
                <a:lnTo>
                  <a:pt x="454" y="73"/>
                </a:lnTo>
                <a:lnTo>
                  <a:pt x="452" y="59"/>
                </a:lnTo>
                <a:lnTo>
                  <a:pt x="450" y="48"/>
                </a:lnTo>
                <a:lnTo>
                  <a:pt x="447" y="35"/>
                </a:lnTo>
                <a:lnTo>
                  <a:pt x="442" y="23"/>
                </a:lnTo>
                <a:lnTo>
                  <a:pt x="439" y="11"/>
                </a:lnTo>
                <a:lnTo>
                  <a:pt x="432" y="0"/>
                </a:lnTo>
                <a:lnTo>
                  <a:pt x="427" y="0"/>
                </a:lnTo>
                <a:lnTo>
                  <a:pt x="432" y="11"/>
                </a:lnTo>
                <a:lnTo>
                  <a:pt x="437" y="23"/>
                </a:lnTo>
                <a:lnTo>
                  <a:pt x="442" y="35"/>
                </a:lnTo>
                <a:lnTo>
                  <a:pt x="445" y="48"/>
                </a:lnTo>
                <a:lnTo>
                  <a:pt x="447" y="59"/>
                </a:lnTo>
                <a:lnTo>
                  <a:pt x="449" y="73"/>
                </a:lnTo>
                <a:lnTo>
                  <a:pt x="450" y="86"/>
                </a:lnTo>
                <a:lnTo>
                  <a:pt x="450" y="99"/>
                </a:lnTo>
                <a:lnTo>
                  <a:pt x="450" y="109"/>
                </a:lnTo>
                <a:lnTo>
                  <a:pt x="450" y="119"/>
                </a:lnTo>
                <a:lnTo>
                  <a:pt x="449" y="129"/>
                </a:lnTo>
                <a:lnTo>
                  <a:pt x="447" y="139"/>
                </a:lnTo>
                <a:lnTo>
                  <a:pt x="445" y="149"/>
                </a:lnTo>
                <a:lnTo>
                  <a:pt x="444" y="157"/>
                </a:lnTo>
                <a:lnTo>
                  <a:pt x="440" y="167"/>
                </a:lnTo>
                <a:lnTo>
                  <a:pt x="437" y="177"/>
                </a:lnTo>
                <a:lnTo>
                  <a:pt x="444" y="174"/>
                </a:lnTo>
                <a:lnTo>
                  <a:pt x="445" y="165"/>
                </a:lnTo>
                <a:lnTo>
                  <a:pt x="449" y="155"/>
                </a:lnTo>
                <a:lnTo>
                  <a:pt x="450" y="147"/>
                </a:lnTo>
                <a:lnTo>
                  <a:pt x="452" y="137"/>
                </a:lnTo>
                <a:lnTo>
                  <a:pt x="454" y="127"/>
                </a:lnTo>
                <a:lnTo>
                  <a:pt x="455" y="119"/>
                </a:lnTo>
                <a:lnTo>
                  <a:pt x="455" y="109"/>
                </a:lnTo>
                <a:lnTo>
                  <a:pt x="455" y="99"/>
                </a:lnTo>
                <a:close/>
                <a:moveTo>
                  <a:pt x="18" y="13"/>
                </a:moveTo>
                <a:lnTo>
                  <a:pt x="13" y="23"/>
                </a:lnTo>
                <a:lnTo>
                  <a:pt x="10" y="33"/>
                </a:lnTo>
                <a:lnTo>
                  <a:pt x="8" y="45"/>
                </a:lnTo>
                <a:lnTo>
                  <a:pt x="5" y="54"/>
                </a:lnTo>
                <a:lnTo>
                  <a:pt x="3" y="66"/>
                </a:lnTo>
                <a:lnTo>
                  <a:pt x="2" y="76"/>
                </a:lnTo>
                <a:lnTo>
                  <a:pt x="2" y="88"/>
                </a:lnTo>
                <a:lnTo>
                  <a:pt x="0" y="99"/>
                </a:lnTo>
                <a:lnTo>
                  <a:pt x="2" y="112"/>
                </a:lnTo>
                <a:lnTo>
                  <a:pt x="2" y="126"/>
                </a:lnTo>
                <a:lnTo>
                  <a:pt x="5" y="139"/>
                </a:lnTo>
                <a:lnTo>
                  <a:pt x="6" y="151"/>
                </a:lnTo>
                <a:lnTo>
                  <a:pt x="10" y="164"/>
                </a:lnTo>
                <a:lnTo>
                  <a:pt x="13" y="175"/>
                </a:lnTo>
                <a:lnTo>
                  <a:pt x="18" y="187"/>
                </a:lnTo>
                <a:lnTo>
                  <a:pt x="23" y="199"/>
                </a:lnTo>
                <a:lnTo>
                  <a:pt x="28" y="199"/>
                </a:lnTo>
                <a:lnTo>
                  <a:pt x="23" y="187"/>
                </a:lnTo>
                <a:lnTo>
                  <a:pt x="18" y="175"/>
                </a:lnTo>
                <a:lnTo>
                  <a:pt x="15" y="164"/>
                </a:lnTo>
                <a:lnTo>
                  <a:pt x="11" y="151"/>
                </a:lnTo>
                <a:lnTo>
                  <a:pt x="8" y="139"/>
                </a:lnTo>
                <a:lnTo>
                  <a:pt x="6" y="126"/>
                </a:lnTo>
                <a:lnTo>
                  <a:pt x="6" y="112"/>
                </a:lnTo>
                <a:lnTo>
                  <a:pt x="5" y="99"/>
                </a:lnTo>
                <a:lnTo>
                  <a:pt x="6" y="88"/>
                </a:lnTo>
                <a:lnTo>
                  <a:pt x="6" y="76"/>
                </a:lnTo>
                <a:lnTo>
                  <a:pt x="8" y="64"/>
                </a:lnTo>
                <a:lnTo>
                  <a:pt x="10" y="53"/>
                </a:lnTo>
                <a:lnTo>
                  <a:pt x="13" y="41"/>
                </a:lnTo>
                <a:lnTo>
                  <a:pt x="16" y="31"/>
                </a:lnTo>
                <a:lnTo>
                  <a:pt x="20" y="20"/>
                </a:lnTo>
                <a:lnTo>
                  <a:pt x="25" y="10"/>
                </a:lnTo>
                <a:lnTo>
                  <a:pt x="18" y="13"/>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24" name="Freeform 1329">
            <a:extLst>
              <a:ext uri="{FF2B5EF4-FFF2-40B4-BE49-F238E27FC236}">
                <a16:creationId xmlns:a16="http://schemas.microsoft.com/office/drawing/2014/main" id="{283AC8AF-33F3-59F6-4D02-40F48D7C1E01}"/>
              </a:ext>
            </a:extLst>
          </p:cNvPr>
          <p:cNvSpPr>
            <a:spLocks noEditPoints="1"/>
          </p:cNvSpPr>
          <p:nvPr/>
        </p:nvSpPr>
        <p:spPr bwMode="auto">
          <a:xfrm>
            <a:off x="2557463" y="2403475"/>
            <a:ext cx="715963" cy="315913"/>
          </a:xfrm>
          <a:custGeom>
            <a:avLst/>
            <a:gdLst>
              <a:gd name="T0" fmla="*/ 451 w 451"/>
              <a:gd name="T1" fmla="*/ 86 h 199"/>
              <a:gd name="T2" fmla="*/ 447 w 451"/>
              <a:gd name="T3" fmla="*/ 59 h 199"/>
              <a:gd name="T4" fmla="*/ 441 w 451"/>
              <a:gd name="T5" fmla="*/ 35 h 199"/>
              <a:gd name="T6" fmla="*/ 432 w 451"/>
              <a:gd name="T7" fmla="*/ 11 h 199"/>
              <a:gd name="T8" fmla="*/ 422 w 451"/>
              <a:gd name="T9" fmla="*/ 0 h 199"/>
              <a:gd name="T10" fmla="*/ 432 w 451"/>
              <a:gd name="T11" fmla="*/ 23 h 199"/>
              <a:gd name="T12" fmla="*/ 439 w 451"/>
              <a:gd name="T13" fmla="*/ 48 h 199"/>
              <a:gd name="T14" fmla="*/ 444 w 451"/>
              <a:gd name="T15" fmla="*/ 73 h 199"/>
              <a:gd name="T16" fmla="*/ 446 w 451"/>
              <a:gd name="T17" fmla="*/ 99 h 199"/>
              <a:gd name="T18" fmla="*/ 444 w 451"/>
              <a:gd name="T19" fmla="*/ 119 h 199"/>
              <a:gd name="T20" fmla="*/ 442 w 451"/>
              <a:gd name="T21" fmla="*/ 139 h 199"/>
              <a:gd name="T22" fmla="*/ 437 w 451"/>
              <a:gd name="T23" fmla="*/ 159 h 199"/>
              <a:gd name="T24" fmla="*/ 431 w 451"/>
              <a:gd name="T25" fmla="*/ 177 h 199"/>
              <a:gd name="T26" fmla="*/ 441 w 451"/>
              <a:gd name="T27" fmla="*/ 165 h 199"/>
              <a:gd name="T28" fmla="*/ 446 w 451"/>
              <a:gd name="T29" fmla="*/ 147 h 199"/>
              <a:gd name="T30" fmla="*/ 449 w 451"/>
              <a:gd name="T31" fmla="*/ 129 h 199"/>
              <a:gd name="T32" fmla="*/ 451 w 451"/>
              <a:gd name="T33" fmla="*/ 109 h 199"/>
              <a:gd name="T34" fmla="*/ 18 w 451"/>
              <a:gd name="T35" fmla="*/ 11 h 199"/>
              <a:gd name="T36" fmla="*/ 10 w 451"/>
              <a:gd name="T37" fmla="*/ 33 h 199"/>
              <a:gd name="T38" fmla="*/ 5 w 451"/>
              <a:gd name="T39" fmla="*/ 54 h 199"/>
              <a:gd name="T40" fmla="*/ 2 w 451"/>
              <a:gd name="T41" fmla="*/ 76 h 199"/>
              <a:gd name="T42" fmla="*/ 0 w 451"/>
              <a:gd name="T43" fmla="*/ 99 h 199"/>
              <a:gd name="T44" fmla="*/ 2 w 451"/>
              <a:gd name="T45" fmla="*/ 126 h 199"/>
              <a:gd name="T46" fmla="*/ 7 w 451"/>
              <a:gd name="T47" fmla="*/ 151 h 199"/>
              <a:gd name="T48" fmla="*/ 13 w 451"/>
              <a:gd name="T49" fmla="*/ 175 h 199"/>
              <a:gd name="T50" fmla="*/ 23 w 451"/>
              <a:gd name="T51" fmla="*/ 199 h 199"/>
              <a:gd name="T52" fmla="*/ 23 w 451"/>
              <a:gd name="T53" fmla="*/ 187 h 199"/>
              <a:gd name="T54" fmla="*/ 15 w 451"/>
              <a:gd name="T55" fmla="*/ 164 h 199"/>
              <a:gd name="T56" fmla="*/ 8 w 451"/>
              <a:gd name="T57" fmla="*/ 139 h 199"/>
              <a:gd name="T58" fmla="*/ 5 w 451"/>
              <a:gd name="T59" fmla="*/ 112 h 199"/>
              <a:gd name="T60" fmla="*/ 5 w 451"/>
              <a:gd name="T61" fmla="*/ 88 h 199"/>
              <a:gd name="T62" fmla="*/ 8 w 451"/>
              <a:gd name="T63" fmla="*/ 63 h 199"/>
              <a:gd name="T64" fmla="*/ 13 w 451"/>
              <a:gd name="T65" fmla="*/ 41 h 199"/>
              <a:gd name="T66" fmla="*/ 20 w 451"/>
              <a:gd name="T67" fmla="*/ 20 h 199"/>
              <a:gd name="T68" fmla="*/ 18 w 451"/>
              <a:gd name="T69" fmla="*/ 11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1" h="199">
                <a:moveTo>
                  <a:pt x="451" y="99"/>
                </a:moveTo>
                <a:lnTo>
                  <a:pt x="451" y="86"/>
                </a:lnTo>
                <a:lnTo>
                  <a:pt x="449" y="73"/>
                </a:lnTo>
                <a:lnTo>
                  <a:pt x="447" y="59"/>
                </a:lnTo>
                <a:lnTo>
                  <a:pt x="444" y="48"/>
                </a:lnTo>
                <a:lnTo>
                  <a:pt x="441" y="35"/>
                </a:lnTo>
                <a:lnTo>
                  <a:pt x="437" y="23"/>
                </a:lnTo>
                <a:lnTo>
                  <a:pt x="432" y="11"/>
                </a:lnTo>
                <a:lnTo>
                  <a:pt x="427" y="0"/>
                </a:lnTo>
                <a:lnTo>
                  <a:pt x="422" y="0"/>
                </a:lnTo>
                <a:lnTo>
                  <a:pt x="427" y="11"/>
                </a:lnTo>
                <a:lnTo>
                  <a:pt x="432" y="23"/>
                </a:lnTo>
                <a:lnTo>
                  <a:pt x="436" y="35"/>
                </a:lnTo>
                <a:lnTo>
                  <a:pt x="439" y="48"/>
                </a:lnTo>
                <a:lnTo>
                  <a:pt x="442" y="59"/>
                </a:lnTo>
                <a:lnTo>
                  <a:pt x="444" y="73"/>
                </a:lnTo>
                <a:lnTo>
                  <a:pt x="446" y="86"/>
                </a:lnTo>
                <a:lnTo>
                  <a:pt x="446" y="99"/>
                </a:lnTo>
                <a:lnTo>
                  <a:pt x="446" y="109"/>
                </a:lnTo>
                <a:lnTo>
                  <a:pt x="444" y="119"/>
                </a:lnTo>
                <a:lnTo>
                  <a:pt x="444" y="129"/>
                </a:lnTo>
                <a:lnTo>
                  <a:pt x="442" y="139"/>
                </a:lnTo>
                <a:lnTo>
                  <a:pt x="439" y="149"/>
                </a:lnTo>
                <a:lnTo>
                  <a:pt x="437" y="159"/>
                </a:lnTo>
                <a:lnTo>
                  <a:pt x="434" y="169"/>
                </a:lnTo>
                <a:lnTo>
                  <a:pt x="431" y="177"/>
                </a:lnTo>
                <a:lnTo>
                  <a:pt x="437" y="175"/>
                </a:lnTo>
                <a:lnTo>
                  <a:pt x="441" y="165"/>
                </a:lnTo>
                <a:lnTo>
                  <a:pt x="442" y="157"/>
                </a:lnTo>
                <a:lnTo>
                  <a:pt x="446" y="147"/>
                </a:lnTo>
                <a:lnTo>
                  <a:pt x="447" y="137"/>
                </a:lnTo>
                <a:lnTo>
                  <a:pt x="449" y="129"/>
                </a:lnTo>
                <a:lnTo>
                  <a:pt x="449" y="119"/>
                </a:lnTo>
                <a:lnTo>
                  <a:pt x="451" y="109"/>
                </a:lnTo>
                <a:lnTo>
                  <a:pt x="451" y="99"/>
                </a:lnTo>
                <a:close/>
                <a:moveTo>
                  <a:pt x="18" y="11"/>
                </a:moveTo>
                <a:lnTo>
                  <a:pt x="13" y="21"/>
                </a:lnTo>
                <a:lnTo>
                  <a:pt x="10" y="33"/>
                </a:lnTo>
                <a:lnTo>
                  <a:pt x="7" y="43"/>
                </a:lnTo>
                <a:lnTo>
                  <a:pt x="5" y="54"/>
                </a:lnTo>
                <a:lnTo>
                  <a:pt x="2" y="64"/>
                </a:lnTo>
                <a:lnTo>
                  <a:pt x="2" y="76"/>
                </a:lnTo>
                <a:lnTo>
                  <a:pt x="0" y="88"/>
                </a:lnTo>
                <a:lnTo>
                  <a:pt x="0" y="99"/>
                </a:lnTo>
                <a:lnTo>
                  <a:pt x="0" y="112"/>
                </a:lnTo>
                <a:lnTo>
                  <a:pt x="2" y="126"/>
                </a:lnTo>
                <a:lnTo>
                  <a:pt x="3" y="139"/>
                </a:lnTo>
                <a:lnTo>
                  <a:pt x="7" y="151"/>
                </a:lnTo>
                <a:lnTo>
                  <a:pt x="10" y="164"/>
                </a:lnTo>
                <a:lnTo>
                  <a:pt x="13" y="175"/>
                </a:lnTo>
                <a:lnTo>
                  <a:pt x="18" y="187"/>
                </a:lnTo>
                <a:lnTo>
                  <a:pt x="23" y="199"/>
                </a:lnTo>
                <a:lnTo>
                  <a:pt x="28" y="199"/>
                </a:lnTo>
                <a:lnTo>
                  <a:pt x="23" y="187"/>
                </a:lnTo>
                <a:lnTo>
                  <a:pt x="18" y="175"/>
                </a:lnTo>
                <a:lnTo>
                  <a:pt x="15" y="164"/>
                </a:lnTo>
                <a:lnTo>
                  <a:pt x="12" y="151"/>
                </a:lnTo>
                <a:lnTo>
                  <a:pt x="8" y="139"/>
                </a:lnTo>
                <a:lnTo>
                  <a:pt x="7" y="126"/>
                </a:lnTo>
                <a:lnTo>
                  <a:pt x="5" y="112"/>
                </a:lnTo>
                <a:lnTo>
                  <a:pt x="5" y="99"/>
                </a:lnTo>
                <a:lnTo>
                  <a:pt x="5" y="88"/>
                </a:lnTo>
                <a:lnTo>
                  <a:pt x="7" y="74"/>
                </a:lnTo>
                <a:lnTo>
                  <a:pt x="8" y="63"/>
                </a:lnTo>
                <a:lnTo>
                  <a:pt x="10" y="53"/>
                </a:lnTo>
                <a:lnTo>
                  <a:pt x="13" y="41"/>
                </a:lnTo>
                <a:lnTo>
                  <a:pt x="17" y="30"/>
                </a:lnTo>
                <a:lnTo>
                  <a:pt x="20" y="20"/>
                </a:lnTo>
                <a:lnTo>
                  <a:pt x="23" y="8"/>
                </a:lnTo>
                <a:lnTo>
                  <a:pt x="18" y="11"/>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25" name="Freeform 1330">
            <a:extLst>
              <a:ext uri="{FF2B5EF4-FFF2-40B4-BE49-F238E27FC236}">
                <a16:creationId xmlns:a16="http://schemas.microsoft.com/office/drawing/2014/main" id="{F5B18932-F990-0C49-B3F2-179405709133}"/>
              </a:ext>
            </a:extLst>
          </p:cNvPr>
          <p:cNvSpPr>
            <a:spLocks noEditPoints="1"/>
          </p:cNvSpPr>
          <p:nvPr/>
        </p:nvSpPr>
        <p:spPr bwMode="auto">
          <a:xfrm>
            <a:off x="2560638" y="2403475"/>
            <a:ext cx="706438" cy="315913"/>
          </a:xfrm>
          <a:custGeom>
            <a:avLst/>
            <a:gdLst>
              <a:gd name="T0" fmla="*/ 445 w 445"/>
              <a:gd name="T1" fmla="*/ 86 h 199"/>
              <a:gd name="T2" fmla="*/ 442 w 445"/>
              <a:gd name="T3" fmla="*/ 59 h 199"/>
              <a:gd name="T4" fmla="*/ 437 w 445"/>
              <a:gd name="T5" fmla="*/ 35 h 199"/>
              <a:gd name="T6" fmla="*/ 427 w 445"/>
              <a:gd name="T7" fmla="*/ 11 h 199"/>
              <a:gd name="T8" fmla="*/ 417 w 445"/>
              <a:gd name="T9" fmla="*/ 0 h 199"/>
              <a:gd name="T10" fmla="*/ 427 w 445"/>
              <a:gd name="T11" fmla="*/ 23 h 199"/>
              <a:gd name="T12" fmla="*/ 435 w 445"/>
              <a:gd name="T13" fmla="*/ 48 h 199"/>
              <a:gd name="T14" fmla="*/ 439 w 445"/>
              <a:gd name="T15" fmla="*/ 73 h 199"/>
              <a:gd name="T16" fmla="*/ 440 w 445"/>
              <a:gd name="T17" fmla="*/ 99 h 199"/>
              <a:gd name="T18" fmla="*/ 440 w 445"/>
              <a:gd name="T19" fmla="*/ 121 h 199"/>
              <a:gd name="T20" fmla="*/ 437 w 445"/>
              <a:gd name="T21" fmla="*/ 141 h 199"/>
              <a:gd name="T22" fmla="*/ 432 w 445"/>
              <a:gd name="T23" fmla="*/ 160 h 199"/>
              <a:gd name="T24" fmla="*/ 425 w 445"/>
              <a:gd name="T25" fmla="*/ 179 h 199"/>
              <a:gd name="T26" fmla="*/ 435 w 445"/>
              <a:gd name="T27" fmla="*/ 167 h 199"/>
              <a:gd name="T28" fmla="*/ 440 w 445"/>
              <a:gd name="T29" fmla="*/ 149 h 199"/>
              <a:gd name="T30" fmla="*/ 444 w 445"/>
              <a:gd name="T31" fmla="*/ 129 h 199"/>
              <a:gd name="T32" fmla="*/ 445 w 445"/>
              <a:gd name="T33" fmla="*/ 109 h 199"/>
              <a:gd name="T34" fmla="*/ 20 w 445"/>
              <a:gd name="T35" fmla="*/ 10 h 199"/>
              <a:gd name="T36" fmla="*/ 11 w 445"/>
              <a:gd name="T37" fmla="*/ 31 h 199"/>
              <a:gd name="T38" fmla="*/ 5 w 445"/>
              <a:gd name="T39" fmla="*/ 53 h 199"/>
              <a:gd name="T40" fmla="*/ 1 w 445"/>
              <a:gd name="T41" fmla="*/ 76 h 199"/>
              <a:gd name="T42" fmla="*/ 0 w 445"/>
              <a:gd name="T43" fmla="*/ 99 h 199"/>
              <a:gd name="T44" fmla="*/ 1 w 445"/>
              <a:gd name="T45" fmla="*/ 126 h 199"/>
              <a:gd name="T46" fmla="*/ 6 w 445"/>
              <a:gd name="T47" fmla="*/ 151 h 199"/>
              <a:gd name="T48" fmla="*/ 13 w 445"/>
              <a:gd name="T49" fmla="*/ 175 h 199"/>
              <a:gd name="T50" fmla="*/ 23 w 445"/>
              <a:gd name="T51" fmla="*/ 199 h 199"/>
              <a:gd name="T52" fmla="*/ 23 w 445"/>
              <a:gd name="T53" fmla="*/ 187 h 199"/>
              <a:gd name="T54" fmla="*/ 15 w 445"/>
              <a:gd name="T55" fmla="*/ 164 h 199"/>
              <a:gd name="T56" fmla="*/ 8 w 445"/>
              <a:gd name="T57" fmla="*/ 139 h 199"/>
              <a:gd name="T58" fmla="*/ 6 w 445"/>
              <a:gd name="T59" fmla="*/ 112 h 199"/>
              <a:gd name="T60" fmla="*/ 5 w 445"/>
              <a:gd name="T61" fmla="*/ 86 h 199"/>
              <a:gd name="T62" fmla="*/ 8 w 445"/>
              <a:gd name="T63" fmla="*/ 63 h 199"/>
              <a:gd name="T64" fmla="*/ 13 w 445"/>
              <a:gd name="T65" fmla="*/ 40 h 199"/>
              <a:gd name="T66" fmla="*/ 21 w 445"/>
              <a:gd name="T67" fmla="*/ 18 h 199"/>
              <a:gd name="T68" fmla="*/ 20 w 445"/>
              <a:gd name="T69" fmla="*/ 1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5" h="199">
                <a:moveTo>
                  <a:pt x="445" y="99"/>
                </a:moveTo>
                <a:lnTo>
                  <a:pt x="445" y="86"/>
                </a:lnTo>
                <a:lnTo>
                  <a:pt x="444" y="73"/>
                </a:lnTo>
                <a:lnTo>
                  <a:pt x="442" y="59"/>
                </a:lnTo>
                <a:lnTo>
                  <a:pt x="440" y="48"/>
                </a:lnTo>
                <a:lnTo>
                  <a:pt x="437" y="35"/>
                </a:lnTo>
                <a:lnTo>
                  <a:pt x="432" y="23"/>
                </a:lnTo>
                <a:lnTo>
                  <a:pt x="427" y="11"/>
                </a:lnTo>
                <a:lnTo>
                  <a:pt x="422" y="0"/>
                </a:lnTo>
                <a:lnTo>
                  <a:pt x="417" y="0"/>
                </a:lnTo>
                <a:lnTo>
                  <a:pt x="422" y="11"/>
                </a:lnTo>
                <a:lnTo>
                  <a:pt x="427" y="23"/>
                </a:lnTo>
                <a:lnTo>
                  <a:pt x="432" y="35"/>
                </a:lnTo>
                <a:lnTo>
                  <a:pt x="435" y="48"/>
                </a:lnTo>
                <a:lnTo>
                  <a:pt x="437" y="59"/>
                </a:lnTo>
                <a:lnTo>
                  <a:pt x="439" y="73"/>
                </a:lnTo>
                <a:lnTo>
                  <a:pt x="440" y="86"/>
                </a:lnTo>
                <a:lnTo>
                  <a:pt x="440" y="99"/>
                </a:lnTo>
                <a:lnTo>
                  <a:pt x="440" y="109"/>
                </a:lnTo>
                <a:lnTo>
                  <a:pt x="440" y="121"/>
                </a:lnTo>
                <a:lnTo>
                  <a:pt x="439" y="131"/>
                </a:lnTo>
                <a:lnTo>
                  <a:pt x="437" y="141"/>
                </a:lnTo>
                <a:lnTo>
                  <a:pt x="435" y="151"/>
                </a:lnTo>
                <a:lnTo>
                  <a:pt x="432" y="160"/>
                </a:lnTo>
                <a:lnTo>
                  <a:pt x="429" y="170"/>
                </a:lnTo>
                <a:lnTo>
                  <a:pt x="425" y="179"/>
                </a:lnTo>
                <a:lnTo>
                  <a:pt x="432" y="177"/>
                </a:lnTo>
                <a:lnTo>
                  <a:pt x="435" y="167"/>
                </a:lnTo>
                <a:lnTo>
                  <a:pt x="439" y="157"/>
                </a:lnTo>
                <a:lnTo>
                  <a:pt x="440" y="149"/>
                </a:lnTo>
                <a:lnTo>
                  <a:pt x="442" y="139"/>
                </a:lnTo>
                <a:lnTo>
                  <a:pt x="444" y="129"/>
                </a:lnTo>
                <a:lnTo>
                  <a:pt x="445" y="119"/>
                </a:lnTo>
                <a:lnTo>
                  <a:pt x="445" y="109"/>
                </a:lnTo>
                <a:lnTo>
                  <a:pt x="445" y="99"/>
                </a:lnTo>
                <a:close/>
                <a:moveTo>
                  <a:pt x="20" y="10"/>
                </a:moveTo>
                <a:lnTo>
                  <a:pt x="15" y="20"/>
                </a:lnTo>
                <a:lnTo>
                  <a:pt x="11" y="31"/>
                </a:lnTo>
                <a:lnTo>
                  <a:pt x="8" y="41"/>
                </a:lnTo>
                <a:lnTo>
                  <a:pt x="5" y="53"/>
                </a:lnTo>
                <a:lnTo>
                  <a:pt x="3" y="64"/>
                </a:lnTo>
                <a:lnTo>
                  <a:pt x="1" y="76"/>
                </a:lnTo>
                <a:lnTo>
                  <a:pt x="1" y="88"/>
                </a:lnTo>
                <a:lnTo>
                  <a:pt x="0" y="99"/>
                </a:lnTo>
                <a:lnTo>
                  <a:pt x="1" y="112"/>
                </a:lnTo>
                <a:lnTo>
                  <a:pt x="1" y="126"/>
                </a:lnTo>
                <a:lnTo>
                  <a:pt x="3" y="139"/>
                </a:lnTo>
                <a:lnTo>
                  <a:pt x="6" y="151"/>
                </a:lnTo>
                <a:lnTo>
                  <a:pt x="10" y="164"/>
                </a:lnTo>
                <a:lnTo>
                  <a:pt x="13" y="175"/>
                </a:lnTo>
                <a:lnTo>
                  <a:pt x="18" y="187"/>
                </a:lnTo>
                <a:lnTo>
                  <a:pt x="23" y="199"/>
                </a:lnTo>
                <a:lnTo>
                  <a:pt x="30" y="199"/>
                </a:lnTo>
                <a:lnTo>
                  <a:pt x="23" y="187"/>
                </a:lnTo>
                <a:lnTo>
                  <a:pt x="20" y="175"/>
                </a:lnTo>
                <a:lnTo>
                  <a:pt x="15" y="164"/>
                </a:lnTo>
                <a:lnTo>
                  <a:pt x="11" y="151"/>
                </a:lnTo>
                <a:lnTo>
                  <a:pt x="8" y="139"/>
                </a:lnTo>
                <a:lnTo>
                  <a:pt x="6" y="126"/>
                </a:lnTo>
                <a:lnTo>
                  <a:pt x="6" y="112"/>
                </a:lnTo>
                <a:lnTo>
                  <a:pt x="5" y="99"/>
                </a:lnTo>
                <a:lnTo>
                  <a:pt x="5" y="86"/>
                </a:lnTo>
                <a:lnTo>
                  <a:pt x="6" y="74"/>
                </a:lnTo>
                <a:lnTo>
                  <a:pt x="8" y="63"/>
                </a:lnTo>
                <a:lnTo>
                  <a:pt x="10" y="51"/>
                </a:lnTo>
                <a:lnTo>
                  <a:pt x="13" y="40"/>
                </a:lnTo>
                <a:lnTo>
                  <a:pt x="16" y="28"/>
                </a:lnTo>
                <a:lnTo>
                  <a:pt x="21" y="18"/>
                </a:lnTo>
                <a:lnTo>
                  <a:pt x="26" y="6"/>
                </a:lnTo>
                <a:lnTo>
                  <a:pt x="20" y="1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26" name="Freeform 1331">
            <a:extLst>
              <a:ext uri="{FF2B5EF4-FFF2-40B4-BE49-F238E27FC236}">
                <a16:creationId xmlns:a16="http://schemas.microsoft.com/office/drawing/2014/main" id="{17C7A97D-DC8D-2242-09C0-6B9378A7DA7D}"/>
              </a:ext>
            </a:extLst>
          </p:cNvPr>
          <p:cNvSpPr>
            <a:spLocks noEditPoints="1"/>
          </p:cNvSpPr>
          <p:nvPr/>
        </p:nvSpPr>
        <p:spPr bwMode="auto">
          <a:xfrm>
            <a:off x="2565400" y="2403475"/>
            <a:ext cx="700088" cy="315913"/>
          </a:xfrm>
          <a:custGeom>
            <a:avLst/>
            <a:gdLst>
              <a:gd name="T0" fmla="*/ 441 w 441"/>
              <a:gd name="T1" fmla="*/ 86 h 199"/>
              <a:gd name="T2" fmla="*/ 437 w 441"/>
              <a:gd name="T3" fmla="*/ 59 h 199"/>
              <a:gd name="T4" fmla="*/ 431 w 441"/>
              <a:gd name="T5" fmla="*/ 35 h 199"/>
              <a:gd name="T6" fmla="*/ 422 w 441"/>
              <a:gd name="T7" fmla="*/ 11 h 199"/>
              <a:gd name="T8" fmla="*/ 411 w 441"/>
              <a:gd name="T9" fmla="*/ 0 h 199"/>
              <a:gd name="T10" fmla="*/ 422 w 441"/>
              <a:gd name="T11" fmla="*/ 23 h 199"/>
              <a:gd name="T12" fmla="*/ 429 w 441"/>
              <a:gd name="T13" fmla="*/ 46 h 199"/>
              <a:gd name="T14" fmla="*/ 434 w 441"/>
              <a:gd name="T15" fmla="*/ 73 h 199"/>
              <a:gd name="T16" fmla="*/ 436 w 441"/>
              <a:gd name="T17" fmla="*/ 99 h 199"/>
              <a:gd name="T18" fmla="*/ 434 w 441"/>
              <a:gd name="T19" fmla="*/ 121 h 199"/>
              <a:gd name="T20" fmla="*/ 431 w 441"/>
              <a:gd name="T21" fmla="*/ 141 h 199"/>
              <a:gd name="T22" fmla="*/ 426 w 441"/>
              <a:gd name="T23" fmla="*/ 160 h 199"/>
              <a:gd name="T24" fmla="*/ 419 w 441"/>
              <a:gd name="T25" fmla="*/ 180 h 199"/>
              <a:gd name="T26" fmla="*/ 429 w 441"/>
              <a:gd name="T27" fmla="*/ 169 h 199"/>
              <a:gd name="T28" fmla="*/ 434 w 441"/>
              <a:gd name="T29" fmla="*/ 149 h 199"/>
              <a:gd name="T30" fmla="*/ 439 w 441"/>
              <a:gd name="T31" fmla="*/ 129 h 199"/>
              <a:gd name="T32" fmla="*/ 441 w 441"/>
              <a:gd name="T33" fmla="*/ 109 h 199"/>
              <a:gd name="T34" fmla="*/ 18 w 441"/>
              <a:gd name="T35" fmla="*/ 8 h 199"/>
              <a:gd name="T36" fmla="*/ 12 w 441"/>
              <a:gd name="T37" fmla="*/ 30 h 199"/>
              <a:gd name="T38" fmla="*/ 5 w 441"/>
              <a:gd name="T39" fmla="*/ 53 h 199"/>
              <a:gd name="T40" fmla="*/ 2 w 441"/>
              <a:gd name="T41" fmla="*/ 74 h 199"/>
              <a:gd name="T42" fmla="*/ 0 w 441"/>
              <a:gd name="T43" fmla="*/ 99 h 199"/>
              <a:gd name="T44" fmla="*/ 2 w 441"/>
              <a:gd name="T45" fmla="*/ 126 h 199"/>
              <a:gd name="T46" fmla="*/ 7 w 441"/>
              <a:gd name="T47" fmla="*/ 151 h 199"/>
              <a:gd name="T48" fmla="*/ 13 w 441"/>
              <a:gd name="T49" fmla="*/ 175 h 199"/>
              <a:gd name="T50" fmla="*/ 23 w 441"/>
              <a:gd name="T51" fmla="*/ 199 h 199"/>
              <a:gd name="T52" fmla="*/ 23 w 441"/>
              <a:gd name="T53" fmla="*/ 187 h 199"/>
              <a:gd name="T54" fmla="*/ 15 w 441"/>
              <a:gd name="T55" fmla="*/ 164 h 199"/>
              <a:gd name="T56" fmla="*/ 8 w 441"/>
              <a:gd name="T57" fmla="*/ 139 h 199"/>
              <a:gd name="T58" fmla="*/ 5 w 441"/>
              <a:gd name="T59" fmla="*/ 112 h 199"/>
              <a:gd name="T60" fmla="*/ 5 w 441"/>
              <a:gd name="T61" fmla="*/ 86 h 199"/>
              <a:gd name="T62" fmla="*/ 8 w 441"/>
              <a:gd name="T63" fmla="*/ 63 h 199"/>
              <a:gd name="T64" fmla="*/ 13 w 441"/>
              <a:gd name="T65" fmla="*/ 38 h 199"/>
              <a:gd name="T66" fmla="*/ 22 w 441"/>
              <a:gd name="T67" fmla="*/ 16 h 199"/>
              <a:gd name="T68" fmla="*/ 18 w 441"/>
              <a:gd name="T69" fmla="*/ 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1" h="199">
                <a:moveTo>
                  <a:pt x="441" y="99"/>
                </a:moveTo>
                <a:lnTo>
                  <a:pt x="441" y="86"/>
                </a:lnTo>
                <a:lnTo>
                  <a:pt x="439" y="73"/>
                </a:lnTo>
                <a:lnTo>
                  <a:pt x="437" y="59"/>
                </a:lnTo>
                <a:lnTo>
                  <a:pt x="434" y="48"/>
                </a:lnTo>
                <a:lnTo>
                  <a:pt x="431" y="35"/>
                </a:lnTo>
                <a:lnTo>
                  <a:pt x="427" y="23"/>
                </a:lnTo>
                <a:lnTo>
                  <a:pt x="422" y="11"/>
                </a:lnTo>
                <a:lnTo>
                  <a:pt x="417" y="0"/>
                </a:lnTo>
                <a:lnTo>
                  <a:pt x="411" y="0"/>
                </a:lnTo>
                <a:lnTo>
                  <a:pt x="417" y="11"/>
                </a:lnTo>
                <a:lnTo>
                  <a:pt x="422" y="23"/>
                </a:lnTo>
                <a:lnTo>
                  <a:pt x="426" y="35"/>
                </a:lnTo>
                <a:lnTo>
                  <a:pt x="429" y="46"/>
                </a:lnTo>
                <a:lnTo>
                  <a:pt x="432" y="59"/>
                </a:lnTo>
                <a:lnTo>
                  <a:pt x="434" y="73"/>
                </a:lnTo>
                <a:lnTo>
                  <a:pt x="436" y="86"/>
                </a:lnTo>
                <a:lnTo>
                  <a:pt x="436" y="99"/>
                </a:lnTo>
                <a:lnTo>
                  <a:pt x="436" y="109"/>
                </a:lnTo>
                <a:lnTo>
                  <a:pt x="434" y="121"/>
                </a:lnTo>
                <a:lnTo>
                  <a:pt x="434" y="131"/>
                </a:lnTo>
                <a:lnTo>
                  <a:pt x="431" y="141"/>
                </a:lnTo>
                <a:lnTo>
                  <a:pt x="429" y="151"/>
                </a:lnTo>
                <a:lnTo>
                  <a:pt x="426" y="160"/>
                </a:lnTo>
                <a:lnTo>
                  <a:pt x="424" y="170"/>
                </a:lnTo>
                <a:lnTo>
                  <a:pt x="419" y="180"/>
                </a:lnTo>
                <a:lnTo>
                  <a:pt x="426" y="177"/>
                </a:lnTo>
                <a:lnTo>
                  <a:pt x="429" y="169"/>
                </a:lnTo>
                <a:lnTo>
                  <a:pt x="432" y="159"/>
                </a:lnTo>
                <a:lnTo>
                  <a:pt x="434" y="149"/>
                </a:lnTo>
                <a:lnTo>
                  <a:pt x="437" y="139"/>
                </a:lnTo>
                <a:lnTo>
                  <a:pt x="439" y="129"/>
                </a:lnTo>
                <a:lnTo>
                  <a:pt x="439" y="119"/>
                </a:lnTo>
                <a:lnTo>
                  <a:pt x="441" y="109"/>
                </a:lnTo>
                <a:lnTo>
                  <a:pt x="441" y="99"/>
                </a:lnTo>
                <a:close/>
                <a:moveTo>
                  <a:pt x="18" y="8"/>
                </a:moveTo>
                <a:lnTo>
                  <a:pt x="15" y="20"/>
                </a:lnTo>
                <a:lnTo>
                  <a:pt x="12" y="30"/>
                </a:lnTo>
                <a:lnTo>
                  <a:pt x="8" y="41"/>
                </a:lnTo>
                <a:lnTo>
                  <a:pt x="5" y="53"/>
                </a:lnTo>
                <a:lnTo>
                  <a:pt x="3" y="63"/>
                </a:lnTo>
                <a:lnTo>
                  <a:pt x="2" y="74"/>
                </a:lnTo>
                <a:lnTo>
                  <a:pt x="0" y="88"/>
                </a:lnTo>
                <a:lnTo>
                  <a:pt x="0" y="99"/>
                </a:lnTo>
                <a:lnTo>
                  <a:pt x="0" y="112"/>
                </a:lnTo>
                <a:lnTo>
                  <a:pt x="2" y="126"/>
                </a:lnTo>
                <a:lnTo>
                  <a:pt x="3" y="139"/>
                </a:lnTo>
                <a:lnTo>
                  <a:pt x="7" y="151"/>
                </a:lnTo>
                <a:lnTo>
                  <a:pt x="10" y="164"/>
                </a:lnTo>
                <a:lnTo>
                  <a:pt x="13" y="175"/>
                </a:lnTo>
                <a:lnTo>
                  <a:pt x="18" y="187"/>
                </a:lnTo>
                <a:lnTo>
                  <a:pt x="23" y="199"/>
                </a:lnTo>
                <a:lnTo>
                  <a:pt x="28" y="199"/>
                </a:lnTo>
                <a:lnTo>
                  <a:pt x="23" y="187"/>
                </a:lnTo>
                <a:lnTo>
                  <a:pt x="18" y="175"/>
                </a:lnTo>
                <a:lnTo>
                  <a:pt x="15" y="164"/>
                </a:lnTo>
                <a:lnTo>
                  <a:pt x="12" y="151"/>
                </a:lnTo>
                <a:lnTo>
                  <a:pt x="8" y="139"/>
                </a:lnTo>
                <a:lnTo>
                  <a:pt x="7" y="126"/>
                </a:lnTo>
                <a:lnTo>
                  <a:pt x="5" y="112"/>
                </a:lnTo>
                <a:lnTo>
                  <a:pt x="5" y="99"/>
                </a:lnTo>
                <a:lnTo>
                  <a:pt x="5" y="86"/>
                </a:lnTo>
                <a:lnTo>
                  <a:pt x="7" y="74"/>
                </a:lnTo>
                <a:lnTo>
                  <a:pt x="8" y="63"/>
                </a:lnTo>
                <a:lnTo>
                  <a:pt x="10" y="50"/>
                </a:lnTo>
                <a:lnTo>
                  <a:pt x="13" y="38"/>
                </a:lnTo>
                <a:lnTo>
                  <a:pt x="17" y="28"/>
                </a:lnTo>
                <a:lnTo>
                  <a:pt x="22" y="16"/>
                </a:lnTo>
                <a:lnTo>
                  <a:pt x="27" y="5"/>
                </a:lnTo>
                <a:lnTo>
                  <a:pt x="18" y="8"/>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27" name="Freeform 1332">
            <a:extLst>
              <a:ext uri="{FF2B5EF4-FFF2-40B4-BE49-F238E27FC236}">
                <a16:creationId xmlns:a16="http://schemas.microsoft.com/office/drawing/2014/main" id="{DD913443-BDF6-78F8-3152-77587E429F70}"/>
              </a:ext>
            </a:extLst>
          </p:cNvPr>
          <p:cNvSpPr>
            <a:spLocks noEditPoints="1"/>
          </p:cNvSpPr>
          <p:nvPr/>
        </p:nvSpPr>
        <p:spPr bwMode="auto">
          <a:xfrm>
            <a:off x="2568575" y="2403475"/>
            <a:ext cx="690563" cy="315913"/>
          </a:xfrm>
          <a:custGeom>
            <a:avLst/>
            <a:gdLst>
              <a:gd name="T0" fmla="*/ 435 w 435"/>
              <a:gd name="T1" fmla="*/ 86 h 199"/>
              <a:gd name="T2" fmla="*/ 432 w 435"/>
              <a:gd name="T3" fmla="*/ 59 h 199"/>
              <a:gd name="T4" fmla="*/ 427 w 435"/>
              <a:gd name="T5" fmla="*/ 35 h 199"/>
              <a:gd name="T6" fmla="*/ 417 w 435"/>
              <a:gd name="T7" fmla="*/ 11 h 199"/>
              <a:gd name="T8" fmla="*/ 407 w 435"/>
              <a:gd name="T9" fmla="*/ 0 h 199"/>
              <a:gd name="T10" fmla="*/ 417 w 435"/>
              <a:gd name="T11" fmla="*/ 23 h 199"/>
              <a:gd name="T12" fmla="*/ 425 w 435"/>
              <a:gd name="T13" fmla="*/ 46 h 199"/>
              <a:gd name="T14" fmla="*/ 430 w 435"/>
              <a:gd name="T15" fmla="*/ 73 h 199"/>
              <a:gd name="T16" fmla="*/ 432 w 435"/>
              <a:gd name="T17" fmla="*/ 99 h 199"/>
              <a:gd name="T18" fmla="*/ 430 w 435"/>
              <a:gd name="T19" fmla="*/ 121 h 199"/>
              <a:gd name="T20" fmla="*/ 427 w 435"/>
              <a:gd name="T21" fmla="*/ 142 h 199"/>
              <a:gd name="T22" fmla="*/ 422 w 435"/>
              <a:gd name="T23" fmla="*/ 162 h 199"/>
              <a:gd name="T24" fmla="*/ 414 w 435"/>
              <a:gd name="T25" fmla="*/ 182 h 199"/>
              <a:gd name="T26" fmla="*/ 424 w 435"/>
              <a:gd name="T27" fmla="*/ 170 h 199"/>
              <a:gd name="T28" fmla="*/ 430 w 435"/>
              <a:gd name="T29" fmla="*/ 151 h 199"/>
              <a:gd name="T30" fmla="*/ 434 w 435"/>
              <a:gd name="T31" fmla="*/ 131 h 199"/>
              <a:gd name="T32" fmla="*/ 435 w 435"/>
              <a:gd name="T33" fmla="*/ 109 h 199"/>
              <a:gd name="T34" fmla="*/ 21 w 435"/>
              <a:gd name="T35" fmla="*/ 6 h 199"/>
              <a:gd name="T36" fmla="*/ 11 w 435"/>
              <a:gd name="T37" fmla="*/ 28 h 199"/>
              <a:gd name="T38" fmla="*/ 5 w 435"/>
              <a:gd name="T39" fmla="*/ 51 h 199"/>
              <a:gd name="T40" fmla="*/ 1 w 435"/>
              <a:gd name="T41" fmla="*/ 74 h 199"/>
              <a:gd name="T42" fmla="*/ 0 w 435"/>
              <a:gd name="T43" fmla="*/ 99 h 199"/>
              <a:gd name="T44" fmla="*/ 1 w 435"/>
              <a:gd name="T45" fmla="*/ 126 h 199"/>
              <a:gd name="T46" fmla="*/ 6 w 435"/>
              <a:gd name="T47" fmla="*/ 151 h 199"/>
              <a:gd name="T48" fmla="*/ 15 w 435"/>
              <a:gd name="T49" fmla="*/ 175 h 199"/>
              <a:gd name="T50" fmla="*/ 25 w 435"/>
              <a:gd name="T51" fmla="*/ 199 h 199"/>
              <a:gd name="T52" fmla="*/ 25 w 435"/>
              <a:gd name="T53" fmla="*/ 187 h 199"/>
              <a:gd name="T54" fmla="*/ 15 w 435"/>
              <a:gd name="T55" fmla="*/ 164 h 199"/>
              <a:gd name="T56" fmla="*/ 8 w 435"/>
              <a:gd name="T57" fmla="*/ 139 h 199"/>
              <a:gd name="T58" fmla="*/ 5 w 435"/>
              <a:gd name="T59" fmla="*/ 112 h 199"/>
              <a:gd name="T60" fmla="*/ 5 w 435"/>
              <a:gd name="T61" fmla="*/ 86 h 199"/>
              <a:gd name="T62" fmla="*/ 8 w 435"/>
              <a:gd name="T63" fmla="*/ 61 h 199"/>
              <a:gd name="T64" fmla="*/ 15 w 435"/>
              <a:gd name="T65" fmla="*/ 38 h 199"/>
              <a:gd name="T66" fmla="*/ 23 w 435"/>
              <a:gd name="T67" fmla="*/ 15 h 199"/>
              <a:gd name="T68" fmla="*/ 21 w 435"/>
              <a:gd name="T69" fmla="*/ 6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5" h="199">
                <a:moveTo>
                  <a:pt x="435" y="99"/>
                </a:moveTo>
                <a:lnTo>
                  <a:pt x="435" y="86"/>
                </a:lnTo>
                <a:lnTo>
                  <a:pt x="434" y="73"/>
                </a:lnTo>
                <a:lnTo>
                  <a:pt x="432" y="59"/>
                </a:lnTo>
                <a:lnTo>
                  <a:pt x="430" y="48"/>
                </a:lnTo>
                <a:lnTo>
                  <a:pt x="427" y="35"/>
                </a:lnTo>
                <a:lnTo>
                  <a:pt x="422" y="23"/>
                </a:lnTo>
                <a:lnTo>
                  <a:pt x="417" y="11"/>
                </a:lnTo>
                <a:lnTo>
                  <a:pt x="412" y="0"/>
                </a:lnTo>
                <a:lnTo>
                  <a:pt x="407" y="0"/>
                </a:lnTo>
                <a:lnTo>
                  <a:pt x="412" y="11"/>
                </a:lnTo>
                <a:lnTo>
                  <a:pt x="417" y="23"/>
                </a:lnTo>
                <a:lnTo>
                  <a:pt x="422" y="35"/>
                </a:lnTo>
                <a:lnTo>
                  <a:pt x="425" y="46"/>
                </a:lnTo>
                <a:lnTo>
                  <a:pt x="427" y="59"/>
                </a:lnTo>
                <a:lnTo>
                  <a:pt x="430" y="73"/>
                </a:lnTo>
                <a:lnTo>
                  <a:pt x="430" y="86"/>
                </a:lnTo>
                <a:lnTo>
                  <a:pt x="432" y="99"/>
                </a:lnTo>
                <a:lnTo>
                  <a:pt x="430" y="109"/>
                </a:lnTo>
                <a:lnTo>
                  <a:pt x="430" y="121"/>
                </a:lnTo>
                <a:lnTo>
                  <a:pt x="429" y="131"/>
                </a:lnTo>
                <a:lnTo>
                  <a:pt x="427" y="142"/>
                </a:lnTo>
                <a:lnTo>
                  <a:pt x="425" y="152"/>
                </a:lnTo>
                <a:lnTo>
                  <a:pt x="422" y="162"/>
                </a:lnTo>
                <a:lnTo>
                  <a:pt x="419" y="172"/>
                </a:lnTo>
                <a:lnTo>
                  <a:pt x="414" y="182"/>
                </a:lnTo>
                <a:lnTo>
                  <a:pt x="420" y="179"/>
                </a:lnTo>
                <a:lnTo>
                  <a:pt x="424" y="170"/>
                </a:lnTo>
                <a:lnTo>
                  <a:pt x="427" y="160"/>
                </a:lnTo>
                <a:lnTo>
                  <a:pt x="430" y="151"/>
                </a:lnTo>
                <a:lnTo>
                  <a:pt x="432" y="141"/>
                </a:lnTo>
                <a:lnTo>
                  <a:pt x="434" y="131"/>
                </a:lnTo>
                <a:lnTo>
                  <a:pt x="435" y="121"/>
                </a:lnTo>
                <a:lnTo>
                  <a:pt x="435" y="109"/>
                </a:lnTo>
                <a:lnTo>
                  <a:pt x="435" y="99"/>
                </a:lnTo>
                <a:close/>
                <a:moveTo>
                  <a:pt x="21" y="6"/>
                </a:moveTo>
                <a:lnTo>
                  <a:pt x="16" y="18"/>
                </a:lnTo>
                <a:lnTo>
                  <a:pt x="11" y="28"/>
                </a:lnTo>
                <a:lnTo>
                  <a:pt x="8" y="40"/>
                </a:lnTo>
                <a:lnTo>
                  <a:pt x="5" y="51"/>
                </a:lnTo>
                <a:lnTo>
                  <a:pt x="3" y="63"/>
                </a:lnTo>
                <a:lnTo>
                  <a:pt x="1" y="74"/>
                </a:lnTo>
                <a:lnTo>
                  <a:pt x="0" y="86"/>
                </a:lnTo>
                <a:lnTo>
                  <a:pt x="0" y="99"/>
                </a:lnTo>
                <a:lnTo>
                  <a:pt x="1" y="112"/>
                </a:lnTo>
                <a:lnTo>
                  <a:pt x="1" y="126"/>
                </a:lnTo>
                <a:lnTo>
                  <a:pt x="3" y="139"/>
                </a:lnTo>
                <a:lnTo>
                  <a:pt x="6" y="151"/>
                </a:lnTo>
                <a:lnTo>
                  <a:pt x="10" y="164"/>
                </a:lnTo>
                <a:lnTo>
                  <a:pt x="15" y="175"/>
                </a:lnTo>
                <a:lnTo>
                  <a:pt x="18" y="187"/>
                </a:lnTo>
                <a:lnTo>
                  <a:pt x="25" y="199"/>
                </a:lnTo>
                <a:lnTo>
                  <a:pt x="30" y="199"/>
                </a:lnTo>
                <a:lnTo>
                  <a:pt x="25" y="187"/>
                </a:lnTo>
                <a:lnTo>
                  <a:pt x="20" y="175"/>
                </a:lnTo>
                <a:lnTo>
                  <a:pt x="15" y="164"/>
                </a:lnTo>
                <a:lnTo>
                  <a:pt x="11" y="151"/>
                </a:lnTo>
                <a:lnTo>
                  <a:pt x="8" y="139"/>
                </a:lnTo>
                <a:lnTo>
                  <a:pt x="6" y="126"/>
                </a:lnTo>
                <a:lnTo>
                  <a:pt x="5" y="112"/>
                </a:lnTo>
                <a:lnTo>
                  <a:pt x="5" y="99"/>
                </a:lnTo>
                <a:lnTo>
                  <a:pt x="5" y="86"/>
                </a:lnTo>
                <a:lnTo>
                  <a:pt x="6" y="74"/>
                </a:lnTo>
                <a:lnTo>
                  <a:pt x="8" y="61"/>
                </a:lnTo>
                <a:lnTo>
                  <a:pt x="11" y="50"/>
                </a:lnTo>
                <a:lnTo>
                  <a:pt x="15" y="38"/>
                </a:lnTo>
                <a:lnTo>
                  <a:pt x="18" y="26"/>
                </a:lnTo>
                <a:lnTo>
                  <a:pt x="23" y="15"/>
                </a:lnTo>
                <a:lnTo>
                  <a:pt x="28" y="3"/>
                </a:lnTo>
                <a:lnTo>
                  <a:pt x="21" y="6"/>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28" name="Freeform 1333">
            <a:extLst>
              <a:ext uri="{FF2B5EF4-FFF2-40B4-BE49-F238E27FC236}">
                <a16:creationId xmlns:a16="http://schemas.microsoft.com/office/drawing/2014/main" id="{95021D8D-AF7E-44FC-48D1-03B936468BA5}"/>
              </a:ext>
            </a:extLst>
          </p:cNvPr>
          <p:cNvSpPr>
            <a:spLocks noEditPoints="1"/>
          </p:cNvSpPr>
          <p:nvPr/>
        </p:nvSpPr>
        <p:spPr bwMode="auto">
          <a:xfrm>
            <a:off x="2573338" y="2403475"/>
            <a:ext cx="684213" cy="315913"/>
          </a:xfrm>
          <a:custGeom>
            <a:avLst/>
            <a:gdLst>
              <a:gd name="T0" fmla="*/ 431 w 431"/>
              <a:gd name="T1" fmla="*/ 86 h 199"/>
              <a:gd name="T2" fmla="*/ 427 w 431"/>
              <a:gd name="T3" fmla="*/ 59 h 199"/>
              <a:gd name="T4" fmla="*/ 421 w 431"/>
              <a:gd name="T5" fmla="*/ 35 h 199"/>
              <a:gd name="T6" fmla="*/ 412 w 431"/>
              <a:gd name="T7" fmla="*/ 11 h 199"/>
              <a:gd name="T8" fmla="*/ 401 w 431"/>
              <a:gd name="T9" fmla="*/ 0 h 199"/>
              <a:gd name="T10" fmla="*/ 411 w 431"/>
              <a:gd name="T11" fmla="*/ 23 h 199"/>
              <a:gd name="T12" fmla="*/ 419 w 431"/>
              <a:gd name="T13" fmla="*/ 46 h 199"/>
              <a:gd name="T14" fmla="*/ 424 w 431"/>
              <a:gd name="T15" fmla="*/ 73 h 199"/>
              <a:gd name="T16" fmla="*/ 426 w 431"/>
              <a:gd name="T17" fmla="*/ 99 h 199"/>
              <a:gd name="T18" fmla="*/ 424 w 431"/>
              <a:gd name="T19" fmla="*/ 121 h 199"/>
              <a:gd name="T20" fmla="*/ 421 w 431"/>
              <a:gd name="T21" fmla="*/ 142 h 199"/>
              <a:gd name="T22" fmla="*/ 416 w 431"/>
              <a:gd name="T23" fmla="*/ 164 h 199"/>
              <a:gd name="T24" fmla="*/ 409 w 431"/>
              <a:gd name="T25" fmla="*/ 184 h 199"/>
              <a:gd name="T26" fmla="*/ 419 w 431"/>
              <a:gd name="T27" fmla="*/ 170 h 199"/>
              <a:gd name="T28" fmla="*/ 424 w 431"/>
              <a:gd name="T29" fmla="*/ 151 h 199"/>
              <a:gd name="T30" fmla="*/ 429 w 431"/>
              <a:gd name="T31" fmla="*/ 131 h 199"/>
              <a:gd name="T32" fmla="*/ 431 w 431"/>
              <a:gd name="T33" fmla="*/ 109 h 199"/>
              <a:gd name="T34" fmla="*/ 22 w 431"/>
              <a:gd name="T35" fmla="*/ 5 h 199"/>
              <a:gd name="T36" fmla="*/ 12 w 431"/>
              <a:gd name="T37" fmla="*/ 28 h 199"/>
              <a:gd name="T38" fmla="*/ 5 w 431"/>
              <a:gd name="T39" fmla="*/ 50 h 199"/>
              <a:gd name="T40" fmla="*/ 2 w 431"/>
              <a:gd name="T41" fmla="*/ 74 h 199"/>
              <a:gd name="T42" fmla="*/ 0 w 431"/>
              <a:gd name="T43" fmla="*/ 99 h 199"/>
              <a:gd name="T44" fmla="*/ 2 w 431"/>
              <a:gd name="T45" fmla="*/ 126 h 199"/>
              <a:gd name="T46" fmla="*/ 7 w 431"/>
              <a:gd name="T47" fmla="*/ 151 h 199"/>
              <a:gd name="T48" fmla="*/ 13 w 431"/>
              <a:gd name="T49" fmla="*/ 175 h 199"/>
              <a:gd name="T50" fmla="*/ 23 w 431"/>
              <a:gd name="T51" fmla="*/ 199 h 199"/>
              <a:gd name="T52" fmla="*/ 23 w 431"/>
              <a:gd name="T53" fmla="*/ 187 h 199"/>
              <a:gd name="T54" fmla="*/ 15 w 431"/>
              <a:gd name="T55" fmla="*/ 164 h 199"/>
              <a:gd name="T56" fmla="*/ 8 w 431"/>
              <a:gd name="T57" fmla="*/ 139 h 199"/>
              <a:gd name="T58" fmla="*/ 5 w 431"/>
              <a:gd name="T59" fmla="*/ 112 h 199"/>
              <a:gd name="T60" fmla="*/ 5 w 431"/>
              <a:gd name="T61" fmla="*/ 86 h 199"/>
              <a:gd name="T62" fmla="*/ 8 w 431"/>
              <a:gd name="T63" fmla="*/ 61 h 199"/>
              <a:gd name="T64" fmla="*/ 13 w 431"/>
              <a:gd name="T65" fmla="*/ 36 h 199"/>
              <a:gd name="T66" fmla="*/ 23 w 431"/>
              <a:gd name="T67" fmla="*/ 13 h 199"/>
              <a:gd name="T68" fmla="*/ 22 w 431"/>
              <a:gd name="T69" fmla="*/ 5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1" h="199">
                <a:moveTo>
                  <a:pt x="431" y="99"/>
                </a:moveTo>
                <a:lnTo>
                  <a:pt x="431" y="86"/>
                </a:lnTo>
                <a:lnTo>
                  <a:pt x="429" y="73"/>
                </a:lnTo>
                <a:lnTo>
                  <a:pt x="427" y="59"/>
                </a:lnTo>
                <a:lnTo>
                  <a:pt x="424" y="46"/>
                </a:lnTo>
                <a:lnTo>
                  <a:pt x="421" y="35"/>
                </a:lnTo>
                <a:lnTo>
                  <a:pt x="417" y="23"/>
                </a:lnTo>
                <a:lnTo>
                  <a:pt x="412" y="11"/>
                </a:lnTo>
                <a:lnTo>
                  <a:pt x="406" y="0"/>
                </a:lnTo>
                <a:lnTo>
                  <a:pt x="401" y="0"/>
                </a:lnTo>
                <a:lnTo>
                  <a:pt x="406" y="11"/>
                </a:lnTo>
                <a:lnTo>
                  <a:pt x="411" y="23"/>
                </a:lnTo>
                <a:lnTo>
                  <a:pt x="416" y="35"/>
                </a:lnTo>
                <a:lnTo>
                  <a:pt x="419" y="46"/>
                </a:lnTo>
                <a:lnTo>
                  <a:pt x="422" y="59"/>
                </a:lnTo>
                <a:lnTo>
                  <a:pt x="424" y="73"/>
                </a:lnTo>
                <a:lnTo>
                  <a:pt x="426" y="86"/>
                </a:lnTo>
                <a:lnTo>
                  <a:pt x="426" y="99"/>
                </a:lnTo>
                <a:lnTo>
                  <a:pt x="426" y="111"/>
                </a:lnTo>
                <a:lnTo>
                  <a:pt x="424" y="121"/>
                </a:lnTo>
                <a:lnTo>
                  <a:pt x="424" y="132"/>
                </a:lnTo>
                <a:lnTo>
                  <a:pt x="421" y="142"/>
                </a:lnTo>
                <a:lnTo>
                  <a:pt x="419" y="154"/>
                </a:lnTo>
                <a:lnTo>
                  <a:pt x="416" y="164"/>
                </a:lnTo>
                <a:lnTo>
                  <a:pt x="412" y="174"/>
                </a:lnTo>
                <a:lnTo>
                  <a:pt x="409" y="184"/>
                </a:lnTo>
                <a:lnTo>
                  <a:pt x="414" y="180"/>
                </a:lnTo>
                <a:lnTo>
                  <a:pt x="419" y="170"/>
                </a:lnTo>
                <a:lnTo>
                  <a:pt x="421" y="160"/>
                </a:lnTo>
                <a:lnTo>
                  <a:pt x="424" y="151"/>
                </a:lnTo>
                <a:lnTo>
                  <a:pt x="426" y="141"/>
                </a:lnTo>
                <a:lnTo>
                  <a:pt x="429" y="131"/>
                </a:lnTo>
                <a:lnTo>
                  <a:pt x="429" y="121"/>
                </a:lnTo>
                <a:lnTo>
                  <a:pt x="431" y="109"/>
                </a:lnTo>
                <a:lnTo>
                  <a:pt x="431" y="99"/>
                </a:lnTo>
                <a:close/>
                <a:moveTo>
                  <a:pt x="22" y="5"/>
                </a:moveTo>
                <a:lnTo>
                  <a:pt x="17" y="16"/>
                </a:lnTo>
                <a:lnTo>
                  <a:pt x="12" y="28"/>
                </a:lnTo>
                <a:lnTo>
                  <a:pt x="8" y="38"/>
                </a:lnTo>
                <a:lnTo>
                  <a:pt x="5" y="50"/>
                </a:lnTo>
                <a:lnTo>
                  <a:pt x="3" y="63"/>
                </a:lnTo>
                <a:lnTo>
                  <a:pt x="2" y="74"/>
                </a:lnTo>
                <a:lnTo>
                  <a:pt x="0" y="86"/>
                </a:lnTo>
                <a:lnTo>
                  <a:pt x="0" y="99"/>
                </a:lnTo>
                <a:lnTo>
                  <a:pt x="0" y="112"/>
                </a:lnTo>
                <a:lnTo>
                  <a:pt x="2" y="126"/>
                </a:lnTo>
                <a:lnTo>
                  <a:pt x="3" y="139"/>
                </a:lnTo>
                <a:lnTo>
                  <a:pt x="7" y="151"/>
                </a:lnTo>
                <a:lnTo>
                  <a:pt x="10" y="164"/>
                </a:lnTo>
                <a:lnTo>
                  <a:pt x="13" y="175"/>
                </a:lnTo>
                <a:lnTo>
                  <a:pt x="18" y="187"/>
                </a:lnTo>
                <a:lnTo>
                  <a:pt x="23" y="199"/>
                </a:lnTo>
                <a:lnTo>
                  <a:pt x="30" y="199"/>
                </a:lnTo>
                <a:lnTo>
                  <a:pt x="23" y="187"/>
                </a:lnTo>
                <a:lnTo>
                  <a:pt x="18" y="175"/>
                </a:lnTo>
                <a:lnTo>
                  <a:pt x="15" y="164"/>
                </a:lnTo>
                <a:lnTo>
                  <a:pt x="12" y="151"/>
                </a:lnTo>
                <a:lnTo>
                  <a:pt x="8" y="139"/>
                </a:lnTo>
                <a:lnTo>
                  <a:pt x="7" y="126"/>
                </a:lnTo>
                <a:lnTo>
                  <a:pt x="5" y="112"/>
                </a:lnTo>
                <a:lnTo>
                  <a:pt x="5" y="99"/>
                </a:lnTo>
                <a:lnTo>
                  <a:pt x="5" y="86"/>
                </a:lnTo>
                <a:lnTo>
                  <a:pt x="7" y="73"/>
                </a:lnTo>
                <a:lnTo>
                  <a:pt x="8" y="61"/>
                </a:lnTo>
                <a:lnTo>
                  <a:pt x="10" y="48"/>
                </a:lnTo>
                <a:lnTo>
                  <a:pt x="13" y="36"/>
                </a:lnTo>
                <a:lnTo>
                  <a:pt x="18" y="25"/>
                </a:lnTo>
                <a:lnTo>
                  <a:pt x="23" y="13"/>
                </a:lnTo>
                <a:lnTo>
                  <a:pt x="28" y="1"/>
                </a:lnTo>
                <a:lnTo>
                  <a:pt x="22" y="5"/>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29" name="Freeform 1334">
            <a:extLst>
              <a:ext uri="{FF2B5EF4-FFF2-40B4-BE49-F238E27FC236}">
                <a16:creationId xmlns:a16="http://schemas.microsoft.com/office/drawing/2014/main" id="{93137DDE-39D6-8E0A-5D3E-C675F81F3C6B}"/>
              </a:ext>
            </a:extLst>
          </p:cNvPr>
          <p:cNvSpPr>
            <a:spLocks noEditPoints="1"/>
          </p:cNvSpPr>
          <p:nvPr/>
        </p:nvSpPr>
        <p:spPr bwMode="auto">
          <a:xfrm>
            <a:off x="2576513" y="2403475"/>
            <a:ext cx="677863" cy="315913"/>
          </a:xfrm>
          <a:custGeom>
            <a:avLst/>
            <a:gdLst>
              <a:gd name="T0" fmla="*/ 425 w 427"/>
              <a:gd name="T1" fmla="*/ 86 h 199"/>
              <a:gd name="T2" fmla="*/ 422 w 427"/>
              <a:gd name="T3" fmla="*/ 59 h 199"/>
              <a:gd name="T4" fmla="*/ 417 w 427"/>
              <a:gd name="T5" fmla="*/ 35 h 199"/>
              <a:gd name="T6" fmla="*/ 407 w 427"/>
              <a:gd name="T7" fmla="*/ 11 h 199"/>
              <a:gd name="T8" fmla="*/ 396 w 427"/>
              <a:gd name="T9" fmla="*/ 0 h 199"/>
              <a:gd name="T10" fmla="*/ 407 w 427"/>
              <a:gd name="T11" fmla="*/ 23 h 199"/>
              <a:gd name="T12" fmla="*/ 415 w 427"/>
              <a:gd name="T13" fmla="*/ 46 h 199"/>
              <a:gd name="T14" fmla="*/ 420 w 427"/>
              <a:gd name="T15" fmla="*/ 73 h 199"/>
              <a:gd name="T16" fmla="*/ 422 w 427"/>
              <a:gd name="T17" fmla="*/ 99 h 199"/>
              <a:gd name="T18" fmla="*/ 420 w 427"/>
              <a:gd name="T19" fmla="*/ 122 h 199"/>
              <a:gd name="T20" fmla="*/ 417 w 427"/>
              <a:gd name="T21" fmla="*/ 144 h 199"/>
              <a:gd name="T22" fmla="*/ 410 w 427"/>
              <a:gd name="T23" fmla="*/ 164 h 199"/>
              <a:gd name="T24" fmla="*/ 404 w 427"/>
              <a:gd name="T25" fmla="*/ 185 h 199"/>
              <a:gd name="T26" fmla="*/ 414 w 427"/>
              <a:gd name="T27" fmla="*/ 172 h 199"/>
              <a:gd name="T28" fmla="*/ 419 w 427"/>
              <a:gd name="T29" fmla="*/ 152 h 199"/>
              <a:gd name="T30" fmla="*/ 424 w 427"/>
              <a:gd name="T31" fmla="*/ 131 h 199"/>
              <a:gd name="T32" fmla="*/ 425 w 427"/>
              <a:gd name="T33" fmla="*/ 109 h 199"/>
              <a:gd name="T34" fmla="*/ 23 w 427"/>
              <a:gd name="T35" fmla="*/ 3 h 199"/>
              <a:gd name="T36" fmla="*/ 13 w 427"/>
              <a:gd name="T37" fmla="*/ 26 h 199"/>
              <a:gd name="T38" fmla="*/ 6 w 427"/>
              <a:gd name="T39" fmla="*/ 50 h 199"/>
              <a:gd name="T40" fmla="*/ 1 w 427"/>
              <a:gd name="T41" fmla="*/ 74 h 199"/>
              <a:gd name="T42" fmla="*/ 0 w 427"/>
              <a:gd name="T43" fmla="*/ 99 h 199"/>
              <a:gd name="T44" fmla="*/ 1 w 427"/>
              <a:gd name="T45" fmla="*/ 126 h 199"/>
              <a:gd name="T46" fmla="*/ 6 w 427"/>
              <a:gd name="T47" fmla="*/ 151 h 199"/>
              <a:gd name="T48" fmla="*/ 15 w 427"/>
              <a:gd name="T49" fmla="*/ 175 h 199"/>
              <a:gd name="T50" fmla="*/ 25 w 427"/>
              <a:gd name="T51" fmla="*/ 199 h 199"/>
              <a:gd name="T52" fmla="*/ 25 w 427"/>
              <a:gd name="T53" fmla="*/ 187 h 199"/>
              <a:gd name="T54" fmla="*/ 15 w 427"/>
              <a:gd name="T55" fmla="*/ 164 h 199"/>
              <a:gd name="T56" fmla="*/ 8 w 427"/>
              <a:gd name="T57" fmla="*/ 139 h 199"/>
              <a:gd name="T58" fmla="*/ 5 w 427"/>
              <a:gd name="T59" fmla="*/ 112 h 199"/>
              <a:gd name="T60" fmla="*/ 5 w 427"/>
              <a:gd name="T61" fmla="*/ 86 h 199"/>
              <a:gd name="T62" fmla="*/ 8 w 427"/>
              <a:gd name="T63" fmla="*/ 59 h 199"/>
              <a:gd name="T64" fmla="*/ 15 w 427"/>
              <a:gd name="T65" fmla="*/ 35 h 199"/>
              <a:gd name="T66" fmla="*/ 25 w 427"/>
              <a:gd name="T67" fmla="*/ 11 h 199"/>
              <a:gd name="T68" fmla="*/ 23 w 427"/>
              <a:gd name="T69" fmla="*/ 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7" h="199">
                <a:moveTo>
                  <a:pt x="427" y="99"/>
                </a:moveTo>
                <a:lnTo>
                  <a:pt x="425" y="86"/>
                </a:lnTo>
                <a:lnTo>
                  <a:pt x="425" y="73"/>
                </a:lnTo>
                <a:lnTo>
                  <a:pt x="422" y="59"/>
                </a:lnTo>
                <a:lnTo>
                  <a:pt x="420" y="46"/>
                </a:lnTo>
                <a:lnTo>
                  <a:pt x="417" y="35"/>
                </a:lnTo>
                <a:lnTo>
                  <a:pt x="412" y="23"/>
                </a:lnTo>
                <a:lnTo>
                  <a:pt x="407" y="11"/>
                </a:lnTo>
                <a:lnTo>
                  <a:pt x="402" y="0"/>
                </a:lnTo>
                <a:lnTo>
                  <a:pt x="396" y="0"/>
                </a:lnTo>
                <a:lnTo>
                  <a:pt x="402" y="11"/>
                </a:lnTo>
                <a:lnTo>
                  <a:pt x="407" y="23"/>
                </a:lnTo>
                <a:lnTo>
                  <a:pt x="412" y="35"/>
                </a:lnTo>
                <a:lnTo>
                  <a:pt x="415" y="46"/>
                </a:lnTo>
                <a:lnTo>
                  <a:pt x="417" y="59"/>
                </a:lnTo>
                <a:lnTo>
                  <a:pt x="420" y="73"/>
                </a:lnTo>
                <a:lnTo>
                  <a:pt x="420" y="86"/>
                </a:lnTo>
                <a:lnTo>
                  <a:pt x="422" y="99"/>
                </a:lnTo>
                <a:lnTo>
                  <a:pt x="420" y="111"/>
                </a:lnTo>
                <a:lnTo>
                  <a:pt x="420" y="122"/>
                </a:lnTo>
                <a:lnTo>
                  <a:pt x="419" y="132"/>
                </a:lnTo>
                <a:lnTo>
                  <a:pt x="417" y="144"/>
                </a:lnTo>
                <a:lnTo>
                  <a:pt x="414" y="154"/>
                </a:lnTo>
                <a:lnTo>
                  <a:pt x="410" y="164"/>
                </a:lnTo>
                <a:lnTo>
                  <a:pt x="407" y="175"/>
                </a:lnTo>
                <a:lnTo>
                  <a:pt x="404" y="185"/>
                </a:lnTo>
                <a:lnTo>
                  <a:pt x="409" y="182"/>
                </a:lnTo>
                <a:lnTo>
                  <a:pt x="414" y="172"/>
                </a:lnTo>
                <a:lnTo>
                  <a:pt x="417" y="162"/>
                </a:lnTo>
                <a:lnTo>
                  <a:pt x="419" y="152"/>
                </a:lnTo>
                <a:lnTo>
                  <a:pt x="422" y="142"/>
                </a:lnTo>
                <a:lnTo>
                  <a:pt x="424" y="131"/>
                </a:lnTo>
                <a:lnTo>
                  <a:pt x="425" y="121"/>
                </a:lnTo>
                <a:lnTo>
                  <a:pt x="425" y="109"/>
                </a:lnTo>
                <a:lnTo>
                  <a:pt x="427" y="99"/>
                </a:lnTo>
                <a:close/>
                <a:moveTo>
                  <a:pt x="23" y="3"/>
                </a:moveTo>
                <a:lnTo>
                  <a:pt x="18" y="15"/>
                </a:lnTo>
                <a:lnTo>
                  <a:pt x="13" y="26"/>
                </a:lnTo>
                <a:lnTo>
                  <a:pt x="10" y="38"/>
                </a:lnTo>
                <a:lnTo>
                  <a:pt x="6" y="50"/>
                </a:lnTo>
                <a:lnTo>
                  <a:pt x="3" y="61"/>
                </a:lnTo>
                <a:lnTo>
                  <a:pt x="1" y="74"/>
                </a:lnTo>
                <a:lnTo>
                  <a:pt x="0" y="86"/>
                </a:lnTo>
                <a:lnTo>
                  <a:pt x="0" y="99"/>
                </a:lnTo>
                <a:lnTo>
                  <a:pt x="0" y="112"/>
                </a:lnTo>
                <a:lnTo>
                  <a:pt x="1" y="126"/>
                </a:lnTo>
                <a:lnTo>
                  <a:pt x="3" y="139"/>
                </a:lnTo>
                <a:lnTo>
                  <a:pt x="6" y="151"/>
                </a:lnTo>
                <a:lnTo>
                  <a:pt x="10" y="164"/>
                </a:lnTo>
                <a:lnTo>
                  <a:pt x="15" y="175"/>
                </a:lnTo>
                <a:lnTo>
                  <a:pt x="20" y="187"/>
                </a:lnTo>
                <a:lnTo>
                  <a:pt x="25" y="199"/>
                </a:lnTo>
                <a:lnTo>
                  <a:pt x="30" y="199"/>
                </a:lnTo>
                <a:lnTo>
                  <a:pt x="25" y="187"/>
                </a:lnTo>
                <a:lnTo>
                  <a:pt x="20" y="175"/>
                </a:lnTo>
                <a:lnTo>
                  <a:pt x="15" y="164"/>
                </a:lnTo>
                <a:lnTo>
                  <a:pt x="11" y="151"/>
                </a:lnTo>
                <a:lnTo>
                  <a:pt x="8" y="139"/>
                </a:lnTo>
                <a:lnTo>
                  <a:pt x="6" y="126"/>
                </a:lnTo>
                <a:lnTo>
                  <a:pt x="5" y="112"/>
                </a:lnTo>
                <a:lnTo>
                  <a:pt x="5" y="99"/>
                </a:lnTo>
                <a:lnTo>
                  <a:pt x="5" y="86"/>
                </a:lnTo>
                <a:lnTo>
                  <a:pt x="6" y="73"/>
                </a:lnTo>
                <a:lnTo>
                  <a:pt x="8" y="59"/>
                </a:lnTo>
                <a:lnTo>
                  <a:pt x="11" y="48"/>
                </a:lnTo>
                <a:lnTo>
                  <a:pt x="15" y="35"/>
                </a:lnTo>
                <a:lnTo>
                  <a:pt x="20" y="23"/>
                </a:lnTo>
                <a:lnTo>
                  <a:pt x="25" y="11"/>
                </a:lnTo>
                <a:lnTo>
                  <a:pt x="30" y="0"/>
                </a:lnTo>
                <a:lnTo>
                  <a:pt x="23" y="3"/>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30" name="Freeform 1335">
            <a:extLst>
              <a:ext uri="{FF2B5EF4-FFF2-40B4-BE49-F238E27FC236}">
                <a16:creationId xmlns:a16="http://schemas.microsoft.com/office/drawing/2014/main" id="{8660FF66-B2A3-8F52-CC5E-E379BFF5FD75}"/>
              </a:ext>
            </a:extLst>
          </p:cNvPr>
          <p:cNvSpPr>
            <a:spLocks noEditPoints="1"/>
          </p:cNvSpPr>
          <p:nvPr/>
        </p:nvSpPr>
        <p:spPr bwMode="auto">
          <a:xfrm>
            <a:off x="2581275" y="2403475"/>
            <a:ext cx="668338" cy="315913"/>
          </a:xfrm>
          <a:custGeom>
            <a:avLst/>
            <a:gdLst>
              <a:gd name="T0" fmla="*/ 421 w 421"/>
              <a:gd name="T1" fmla="*/ 86 h 199"/>
              <a:gd name="T2" fmla="*/ 417 w 421"/>
              <a:gd name="T3" fmla="*/ 59 h 199"/>
              <a:gd name="T4" fmla="*/ 411 w 421"/>
              <a:gd name="T5" fmla="*/ 35 h 199"/>
              <a:gd name="T6" fmla="*/ 401 w 421"/>
              <a:gd name="T7" fmla="*/ 11 h 199"/>
              <a:gd name="T8" fmla="*/ 391 w 421"/>
              <a:gd name="T9" fmla="*/ 0 h 199"/>
              <a:gd name="T10" fmla="*/ 401 w 421"/>
              <a:gd name="T11" fmla="*/ 23 h 199"/>
              <a:gd name="T12" fmla="*/ 409 w 421"/>
              <a:gd name="T13" fmla="*/ 46 h 199"/>
              <a:gd name="T14" fmla="*/ 414 w 421"/>
              <a:gd name="T15" fmla="*/ 73 h 199"/>
              <a:gd name="T16" fmla="*/ 416 w 421"/>
              <a:gd name="T17" fmla="*/ 99 h 199"/>
              <a:gd name="T18" fmla="*/ 414 w 421"/>
              <a:gd name="T19" fmla="*/ 122 h 199"/>
              <a:gd name="T20" fmla="*/ 411 w 421"/>
              <a:gd name="T21" fmla="*/ 144 h 199"/>
              <a:gd name="T22" fmla="*/ 406 w 421"/>
              <a:gd name="T23" fmla="*/ 165 h 199"/>
              <a:gd name="T24" fmla="*/ 398 w 421"/>
              <a:gd name="T25" fmla="*/ 187 h 199"/>
              <a:gd name="T26" fmla="*/ 407 w 421"/>
              <a:gd name="T27" fmla="*/ 174 h 199"/>
              <a:gd name="T28" fmla="*/ 414 w 421"/>
              <a:gd name="T29" fmla="*/ 154 h 199"/>
              <a:gd name="T30" fmla="*/ 419 w 421"/>
              <a:gd name="T31" fmla="*/ 132 h 199"/>
              <a:gd name="T32" fmla="*/ 421 w 421"/>
              <a:gd name="T33" fmla="*/ 111 h 199"/>
              <a:gd name="T34" fmla="*/ 23 w 421"/>
              <a:gd name="T35" fmla="*/ 1 h 199"/>
              <a:gd name="T36" fmla="*/ 13 w 421"/>
              <a:gd name="T37" fmla="*/ 25 h 199"/>
              <a:gd name="T38" fmla="*/ 5 w 421"/>
              <a:gd name="T39" fmla="*/ 48 h 199"/>
              <a:gd name="T40" fmla="*/ 2 w 421"/>
              <a:gd name="T41" fmla="*/ 73 h 199"/>
              <a:gd name="T42" fmla="*/ 0 w 421"/>
              <a:gd name="T43" fmla="*/ 99 h 199"/>
              <a:gd name="T44" fmla="*/ 2 w 421"/>
              <a:gd name="T45" fmla="*/ 126 h 199"/>
              <a:gd name="T46" fmla="*/ 7 w 421"/>
              <a:gd name="T47" fmla="*/ 151 h 199"/>
              <a:gd name="T48" fmla="*/ 13 w 421"/>
              <a:gd name="T49" fmla="*/ 175 h 199"/>
              <a:gd name="T50" fmla="*/ 25 w 421"/>
              <a:gd name="T51" fmla="*/ 199 h 199"/>
              <a:gd name="T52" fmla="*/ 23 w 421"/>
              <a:gd name="T53" fmla="*/ 187 h 199"/>
              <a:gd name="T54" fmla="*/ 15 w 421"/>
              <a:gd name="T55" fmla="*/ 164 h 199"/>
              <a:gd name="T56" fmla="*/ 8 w 421"/>
              <a:gd name="T57" fmla="*/ 139 h 199"/>
              <a:gd name="T58" fmla="*/ 5 w 421"/>
              <a:gd name="T59" fmla="*/ 112 h 199"/>
              <a:gd name="T60" fmla="*/ 5 w 421"/>
              <a:gd name="T61" fmla="*/ 86 h 199"/>
              <a:gd name="T62" fmla="*/ 8 w 421"/>
              <a:gd name="T63" fmla="*/ 59 h 199"/>
              <a:gd name="T64" fmla="*/ 15 w 421"/>
              <a:gd name="T65" fmla="*/ 35 h 199"/>
              <a:gd name="T66" fmla="*/ 23 w 421"/>
              <a:gd name="T67" fmla="*/ 11 h 199"/>
              <a:gd name="T68" fmla="*/ 28 w 42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1" h="199">
                <a:moveTo>
                  <a:pt x="421" y="99"/>
                </a:moveTo>
                <a:lnTo>
                  <a:pt x="421" y="86"/>
                </a:lnTo>
                <a:lnTo>
                  <a:pt x="419" y="73"/>
                </a:lnTo>
                <a:lnTo>
                  <a:pt x="417" y="59"/>
                </a:lnTo>
                <a:lnTo>
                  <a:pt x="414" y="46"/>
                </a:lnTo>
                <a:lnTo>
                  <a:pt x="411" y="35"/>
                </a:lnTo>
                <a:lnTo>
                  <a:pt x="406" y="23"/>
                </a:lnTo>
                <a:lnTo>
                  <a:pt x="401" y="11"/>
                </a:lnTo>
                <a:lnTo>
                  <a:pt x="396" y="0"/>
                </a:lnTo>
                <a:lnTo>
                  <a:pt x="391" y="0"/>
                </a:lnTo>
                <a:lnTo>
                  <a:pt x="396" y="11"/>
                </a:lnTo>
                <a:lnTo>
                  <a:pt x="401" y="23"/>
                </a:lnTo>
                <a:lnTo>
                  <a:pt x="406" y="35"/>
                </a:lnTo>
                <a:lnTo>
                  <a:pt x="409" y="46"/>
                </a:lnTo>
                <a:lnTo>
                  <a:pt x="412" y="59"/>
                </a:lnTo>
                <a:lnTo>
                  <a:pt x="414" y="73"/>
                </a:lnTo>
                <a:lnTo>
                  <a:pt x="416" y="86"/>
                </a:lnTo>
                <a:lnTo>
                  <a:pt x="416" y="99"/>
                </a:lnTo>
                <a:lnTo>
                  <a:pt x="416" y="111"/>
                </a:lnTo>
                <a:lnTo>
                  <a:pt x="414" y="122"/>
                </a:lnTo>
                <a:lnTo>
                  <a:pt x="412" y="134"/>
                </a:lnTo>
                <a:lnTo>
                  <a:pt x="411" y="144"/>
                </a:lnTo>
                <a:lnTo>
                  <a:pt x="409" y="155"/>
                </a:lnTo>
                <a:lnTo>
                  <a:pt x="406" y="165"/>
                </a:lnTo>
                <a:lnTo>
                  <a:pt x="401" y="175"/>
                </a:lnTo>
                <a:lnTo>
                  <a:pt x="398" y="187"/>
                </a:lnTo>
                <a:lnTo>
                  <a:pt x="404" y="184"/>
                </a:lnTo>
                <a:lnTo>
                  <a:pt x="407" y="174"/>
                </a:lnTo>
                <a:lnTo>
                  <a:pt x="411" y="164"/>
                </a:lnTo>
                <a:lnTo>
                  <a:pt x="414" y="154"/>
                </a:lnTo>
                <a:lnTo>
                  <a:pt x="416" y="142"/>
                </a:lnTo>
                <a:lnTo>
                  <a:pt x="419" y="132"/>
                </a:lnTo>
                <a:lnTo>
                  <a:pt x="419" y="121"/>
                </a:lnTo>
                <a:lnTo>
                  <a:pt x="421" y="111"/>
                </a:lnTo>
                <a:lnTo>
                  <a:pt x="421" y="99"/>
                </a:lnTo>
                <a:close/>
                <a:moveTo>
                  <a:pt x="23" y="1"/>
                </a:moveTo>
                <a:lnTo>
                  <a:pt x="18" y="13"/>
                </a:lnTo>
                <a:lnTo>
                  <a:pt x="13" y="25"/>
                </a:lnTo>
                <a:lnTo>
                  <a:pt x="8" y="36"/>
                </a:lnTo>
                <a:lnTo>
                  <a:pt x="5" y="48"/>
                </a:lnTo>
                <a:lnTo>
                  <a:pt x="3" y="61"/>
                </a:lnTo>
                <a:lnTo>
                  <a:pt x="2" y="73"/>
                </a:lnTo>
                <a:lnTo>
                  <a:pt x="0" y="86"/>
                </a:lnTo>
                <a:lnTo>
                  <a:pt x="0" y="99"/>
                </a:lnTo>
                <a:lnTo>
                  <a:pt x="0" y="112"/>
                </a:lnTo>
                <a:lnTo>
                  <a:pt x="2" y="126"/>
                </a:lnTo>
                <a:lnTo>
                  <a:pt x="3" y="139"/>
                </a:lnTo>
                <a:lnTo>
                  <a:pt x="7" y="151"/>
                </a:lnTo>
                <a:lnTo>
                  <a:pt x="10" y="164"/>
                </a:lnTo>
                <a:lnTo>
                  <a:pt x="13" y="175"/>
                </a:lnTo>
                <a:lnTo>
                  <a:pt x="18" y="187"/>
                </a:lnTo>
                <a:lnTo>
                  <a:pt x="25" y="199"/>
                </a:lnTo>
                <a:lnTo>
                  <a:pt x="30" y="199"/>
                </a:lnTo>
                <a:lnTo>
                  <a:pt x="23" y="187"/>
                </a:lnTo>
                <a:lnTo>
                  <a:pt x="18" y="175"/>
                </a:lnTo>
                <a:lnTo>
                  <a:pt x="15" y="164"/>
                </a:lnTo>
                <a:lnTo>
                  <a:pt x="12" y="151"/>
                </a:lnTo>
                <a:lnTo>
                  <a:pt x="8" y="139"/>
                </a:lnTo>
                <a:lnTo>
                  <a:pt x="7" y="126"/>
                </a:lnTo>
                <a:lnTo>
                  <a:pt x="5" y="112"/>
                </a:lnTo>
                <a:lnTo>
                  <a:pt x="3" y="99"/>
                </a:lnTo>
                <a:lnTo>
                  <a:pt x="5" y="86"/>
                </a:lnTo>
                <a:lnTo>
                  <a:pt x="7" y="73"/>
                </a:lnTo>
                <a:lnTo>
                  <a:pt x="8" y="59"/>
                </a:lnTo>
                <a:lnTo>
                  <a:pt x="12" y="46"/>
                </a:lnTo>
                <a:lnTo>
                  <a:pt x="15" y="35"/>
                </a:lnTo>
                <a:lnTo>
                  <a:pt x="18" y="23"/>
                </a:lnTo>
                <a:lnTo>
                  <a:pt x="23" y="11"/>
                </a:lnTo>
                <a:lnTo>
                  <a:pt x="30" y="0"/>
                </a:lnTo>
                <a:lnTo>
                  <a:pt x="28" y="0"/>
                </a:lnTo>
                <a:lnTo>
                  <a:pt x="23" y="1"/>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31" name="Freeform 1336">
            <a:extLst>
              <a:ext uri="{FF2B5EF4-FFF2-40B4-BE49-F238E27FC236}">
                <a16:creationId xmlns:a16="http://schemas.microsoft.com/office/drawing/2014/main" id="{E785ADC4-F525-7613-83E1-B6C378600478}"/>
              </a:ext>
            </a:extLst>
          </p:cNvPr>
          <p:cNvSpPr>
            <a:spLocks noEditPoints="1"/>
          </p:cNvSpPr>
          <p:nvPr/>
        </p:nvSpPr>
        <p:spPr bwMode="auto">
          <a:xfrm>
            <a:off x="2584450" y="2403475"/>
            <a:ext cx="661988" cy="315913"/>
          </a:xfrm>
          <a:custGeom>
            <a:avLst/>
            <a:gdLst>
              <a:gd name="T0" fmla="*/ 415 w 417"/>
              <a:gd name="T1" fmla="*/ 86 h 199"/>
              <a:gd name="T2" fmla="*/ 412 w 417"/>
              <a:gd name="T3" fmla="*/ 59 h 199"/>
              <a:gd name="T4" fmla="*/ 407 w 417"/>
              <a:gd name="T5" fmla="*/ 35 h 199"/>
              <a:gd name="T6" fmla="*/ 397 w 417"/>
              <a:gd name="T7" fmla="*/ 11 h 199"/>
              <a:gd name="T8" fmla="*/ 386 w 417"/>
              <a:gd name="T9" fmla="*/ 0 h 199"/>
              <a:gd name="T10" fmla="*/ 397 w 417"/>
              <a:gd name="T11" fmla="*/ 23 h 199"/>
              <a:gd name="T12" fmla="*/ 405 w 417"/>
              <a:gd name="T13" fmla="*/ 46 h 199"/>
              <a:gd name="T14" fmla="*/ 410 w 417"/>
              <a:gd name="T15" fmla="*/ 73 h 199"/>
              <a:gd name="T16" fmla="*/ 412 w 417"/>
              <a:gd name="T17" fmla="*/ 99 h 199"/>
              <a:gd name="T18" fmla="*/ 410 w 417"/>
              <a:gd name="T19" fmla="*/ 122 h 199"/>
              <a:gd name="T20" fmla="*/ 407 w 417"/>
              <a:gd name="T21" fmla="*/ 146 h 199"/>
              <a:gd name="T22" fmla="*/ 401 w 417"/>
              <a:gd name="T23" fmla="*/ 167 h 199"/>
              <a:gd name="T24" fmla="*/ 392 w 417"/>
              <a:gd name="T25" fmla="*/ 187 h 199"/>
              <a:gd name="T26" fmla="*/ 402 w 417"/>
              <a:gd name="T27" fmla="*/ 175 h 199"/>
              <a:gd name="T28" fmla="*/ 409 w 417"/>
              <a:gd name="T29" fmla="*/ 154 h 199"/>
              <a:gd name="T30" fmla="*/ 414 w 417"/>
              <a:gd name="T31" fmla="*/ 132 h 199"/>
              <a:gd name="T32" fmla="*/ 415 w 417"/>
              <a:gd name="T33" fmla="*/ 111 h 199"/>
              <a:gd name="T34" fmla="*/ 25 w 417"/>
              <a:gd name="T35" fmla="*/ 0 h 199"/>
              <a:gd name="T36" fmla="*/ 15 w 417"/>
              <a:gd name="T37" fmla="*/ 23 h 199"/>
              <a:gd name="T38" fmla="*/ 6 w 417"/>
              <a:gd name="T39" fmla="*/ 48 h 199"/>
              <a:gd name="T40" fmla="*/ 1 w 417"/>
              <a:gd name="T41" fmla="*/ 73 h 199"/>
              <a:gd name="T42" fmla="*/ 0 w 417"/>
              <a:gd name="T43" fmla="*/ 99 h 199"/>
              <a:gd name="T44" fmla="*/ 1 w 417"/>
              <a:gd name="T45" fmla="*/ 126 h 199"/>
              <a:gd name="T46" fmla="*/ 6 w 417"/>
              <a:gd name="T47" fmla="*/ 151 h 199"/>
              <a:gd name="T48" fmla="*/ 15 w 417"/>
              <a:gd name="T49" fmla="*/ 175 h 199"/>
              <a:gd name="T50" fmla="*/ 25 w 417"/>
              <a:gd name="T51" fmla="*/ 199 h 199"/>
              <a:gd name="T52" fmla="*/ 25 w 417"/>
              <a:gd name="T53" fmla="*/ 187 h 199"/>
              <a:gd name="T54" fmla="*/ 15 w 417"/>
              <a:gd name="T55" fmla="*/ 164 h 199"/>
              <a:gd name="T56" fmla="*/ 8 w 417"/>
              <a:gd name="T57" fmla="*/ 139 h 199"/>
              <a:gd name="T58" fmla="*/ 5 w 417"/>
              <a:gd name="T59" fmla="*/ 112 h 199"/>
              <a:gd name="T60" fmla="*/ 5 w 417"/>
              <a:gd name="T61" fmla="*/ 86 h 199"/>
              <a:gd name="T62" fmla="*/ 8 w 417"/>
              <a:gd name="T63" fmla="*/ 59 h 199"/>
              <a:gd name="T64" fmla="*/ 15 w 417"/>
              <a:gd name="T65" fmla="*/ 35 h 199"/>
              <a:gd name="T66" fmla="*/ 25 w 417"/>
              <a:gd name="T67" fmla="*/ 11 h 199"/>
              <a:gd name="T68" fmla="*/ 26 w 41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7" h="199">
                <a:moveTo>
                  <a:pt x="417" y="99"/>
                </a:moveTo>
                <a:lnTo>
                  <a:pt x="415" y="86"/>
                </a:lnTo>
                <a:lnTo>
                  <a:pt x="415" y="73"/>
                </a:lnTo>
                <a:lnTo>
                  <a:pt x="412" y="59"/>
                </a:lnTo>
                <a:lnTo>
                  <a:pt x="410" y="46"/>
                </a:lnTo>
                <a:lnTo>
                  <a:pt x="407" y="35"/>
                </a:lnTo>
                <a:lnTo>
                  <a:pt x="402" y="23"/>
                </a:lnTo>
                <a:lnTo>
                  <a:pt x="397" y="11"/>
                </a:lnTo>
                <a:lnTo>
                  <a:pt x="391" y="0"/>
                </a:lnTo>
                <a:lnTo>
                  <a:pt x="386" y="0"/>
                </a:lnTo>
                <a:lnTo>
                  <a:pt x="392" y="11"/>
                </a:lnTo>
                <a:lnTo>
                  <a:pt x="397" y="23"/>
                </a:lnTo>
                <a:lnTo>
                  <a:pt x="401" y="35"/>
                </a:lnTo>
                <a:lnTo>
                  <a:pt x="405" y="46"/>
                </a:lnTo>
                <a:lnTo>
                  <a:pt x="407" y="59"/>
                </a:lnTo>
                <a:lnTo>
                  <a:pt x="410" y="73"/>
                </a:lnTo>
                <a:lnTo>
                  <a:pt x="410" y="86"/>
                </a:lnTo>
                <a:lnTo>
                  <a:pt x="412" y="99"/>
                </a:lnTo>
                <a:lnTo>
                  <a:pt x="412" y="111"/>
                </a:lnTo>
                <a:lnTo>
                  <a:pt x="410" y="122"/>
                </a:lnTo>
                <a:lnTo>
                  <a:pt x="409" y="134"/>
                </a:lnTo>
                <a:lnTo>
                  <a:pt x="407" y="146"/>
                </a:lnTo>
                <a:lnTo>
                  <a:pt x="404" y="155"/>
                </a:lnTo>
                <a:lnTo>
                  <a:pt x="401" y="167"/>
                </a:lnTo>
                <a:lnTo>
                  <a:pt x="396" y="177"/>
                </a:lnTo>
                <a:lnTo>
                  <a:pt x="392" y="187"/>
                </a:lnTo>
                <a:lnTo>
                  <a:pt x="399" y="185"/>
                </a:lnTo>
                <a:lnTo>
                  <a:pt x="402" y="175"/>
                </a:lnTo>
                <a:lnTo>
                  <a:pt x="405" y="164"/>
                </a:lnTo>
                <a:lnTo>
                  <a:pt x="409" y="154"/>
                </a:lnTo>
                <a:lnTo>
                  <a:pt x="412" y="144"/>
                </a:lnTo>
                <a:lnTo>
                  <a:pt x="414" y="132"/>
                </a:lnTo>
                <a:lnTo>
                  <a:pt x="415" y="122"/>
                </a:lnTo>
                <a:lnTo>
                  <a:pt x="415" y="111"/>
                </a:lnTo>
                <a:lnTo>
                  <a:pt x="417" y="99"/>
                </a:lnTo>
                <a:close/>
                <a:moveTo>
                  <a:pt x="25" y="0"/>
                </a:moveTo>
                <a:lnTo>
                  <a:pt x="20" y="11"/>
                </a:lnTo>
                <a:lnTo>
                  <a:pt x="15" y="23"/>
                </a:lnTo>
                <a:lnTo>
                  <a:pt x="10" y="35"/>
                </a:lnTo>
                <a:lnTo>
                  <a:pt x="6" y="48"/>
                </a:lnTo>
                <a:lnTo>
                  <a:pt x="3" y="59"/>
                </a:lnTo>
                <a:lnTo>
                  <a:pt x="1" y="73"/>
                </a:lnTo>
                <a:lnTo>
                  <a:pt x="0" y="86"/>
                </a:lnTo>
                <a:lnTo>
                  <a:pt x="0" y="99"/>
                </a:lnTo>
                <a:lnTo>
                  <a:pt x="0" y="112"/>
                </a:lnTo>
                <a:lnTo>
                  <a:pt x="1" y="126"/>
                </a:lnTo>
                <a:lnTo>
                  <a:pt x="3" y="139"/>
                </a:lnTo>
                <a:lnTo>
                  <a:pt x="6" y="151"/>
                </a:lnTo>
                <a:lnTo>
                  <a:pt x="10" y="164"/>
                </a:lnTo>
                <a:lnTo>
                  <a:pt x="15" y="175"/>
                </a:lnTo>
                <a:lnTo>
                  <a:pt x="20" y="187"/>
                </a:lnTo>
                <a:lnTo>
                  <a:pt x="25" y="199"/>
                </a:lnTo>
                <a:lnTo>
                  <a:pt x="31" y="199"/>
                </a:lnTo>
                <a:lnTo>
                  <a:pt x="25" y="187"/>
                </a:lnTo>
                <a:lnTo>
                  <a:pt x="20" y="175"/>
                </a:lnTo>
                <a:lnTo>
                  <a:pt x="15" y="164"/>
                </a:lnTo>
                <a:lnTo>
                  <a:pt x="11" y="151"/>
                </a:lnTo>
                <a:lnTo>
                  <a:pt x="8" y="139"/>
                </a:lnTo>
                <a:lnTo>
                  <a:pt x="6" y="126"/>
                </a:lnTo>
                <a:lnTo>
                  <a:pt x="5" y="112"/>
                </a:lnTo>
                <a:lnTo>
                  <a:pt x="5" y="99"/>
                </a:lnTo>
                <a:lnTo>
                  <a:pt x="5" y="86"/>
                </a:lnTo>
                <a:lnTo>
                  <a:pt x="6" y="73"/>
                </a:lnTo>
                <a:lnTo>
                  <a:pt x="8" y="59"/>
                </a:lnTo>
                <a:lnTo>
                  <a:pt x="11" y="46"/>
                </a:lnTo>
                <a:lnTo>
                  <a:pt x="15" y="35"/>
                </a:lnTo>
                <a:lnTo>
                  <a:pt x="20" y="23"/>
                </a:lnTo>
                <a:lnTo>
                  <a:pt x="25" y="11"/>
                </a:lnTo>
                <a:lnTo>
                  <a:pt x="31" y="0"/>
                </a:lnTo>
                <a:lnTo>
                  <a:pt x="26" y="0"/>
                </a:lnTo>
                <a:lnTo>
                  <a:pt x="25"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32" name="Freeform 1337">
            <a:extLst>
              <a:ext uri="{FF2B5EF4-FFF2-40B4-BE49-F238E27FC236}">
                <a16:creationId xmlns:a16="http://schemas.microsoft.com/office/drawing/2014/main" id="{C33C2073-9033-1ECE-5B61-0679D007D0B8}"/>
              </a:ext>
            </a:extLst>
          </p:cNvPr>
          <p:cNvSpPr>
            <a:spLocks noEditPoints="1"/>
          </p:cNvSpPr>
          <p:nvPr/>
        </p:nvSpPr>
        <p:spPr bwMode="auto">
          <a:xfrm>
            <a:off x="2586038" y="2403475"/>
            <a:ext cx="655638" cy="315913"/>
          </a:xfrm>
          <a:custGeom>
            <a:avLst/>
            <a:gdLst>
              <a:gd name="T0" fmla="*/ 413 w 413"/>
              <a:gd name="T1" fmla="*/ 86 h 199"/>
              <a:gd name="T2" fmla="*/ 409 w 413"/>
              <a:gd name="T3" fmla="*/ 59 h 199"/>
              <a:gd name="T4" fmla="*/ 403 w 413"/>
              <a:gd name="T5" fmla="*/ 35 h 199"/>
              <a:gd name="T6" fmla="*/ 393 w 413"/>
              <a:gd name="T7" fmla="*/ 11 h 199"/>
              <a:gd name="T8" fmla="*/ 381 w 413"/>
              <a:gd name="T9" fmla="*/ 0 h 199"/>
              <a:gd name="T10" fmla="*/ 393 w 413"/>
              <a:gd name="T11" fmla="*/ 23 h 199"/>
              <a:gd name="T12" fmla="*/ 401 w 413"/>
              <a:gd name="T13" fmla="*/ 46 h 199"/>
              <a:gd name="T14" fmla="*/ 406 w 413"/>
              <a:gd name="T15" fmla="*/ 73 h 199"/>
              <a:gd name="T16" fmla="*/ 408 w 413"/>
              <a:gd name="T17" fmla="*/ 99 h 199"/>
              <a:gd name="T18" fmla="*/ 406 w 413"/>
              <a:gd name="T19" fmla="*/ 122 h 199"/>
              <a:gd name="T20" fmla="*/ 403 w 413"/>
              <a:gd name="T21" fmla="*/ 146 h 199"/>
              <a:gd name="T22" fmla="*/ 396 w 413"/>
              <a:gd name="T23" fmla="*/ 169 h 199"/>
              <a:gd name="T24" fmla="*/ 386 w 413"/>
              <a:gd name="T25" fmla="*/ 189 h 199"/>
              <a:gd name="T26" fmla="*/ 398 w 413"/>
              <a:gd name="T27" fmla="*/ 175 h 199"/>
              <a:gd name="T28" fmla="*/ 406 w 413"/>
              <a:gd name="T29" fmla="*/ 155 h 199"/>
              <a:gd name="T30" fmla="*/ 409 w 413"/>
              <a:gd name="T31" fmla="*/ 134 h 199"/>
              <a:gd name="T32" fmla="*/ 413 w 413"/>
              <a:gd name="T33" fmla="*/ 111 h 199"/>
              <a:gd name="T34" fmla="*/ 27 w 413"/>
              <a:gd name="T35" fmla="*/ 0 h 199"/>
              <a:gd name="T36" fmla="*/ 15 w 413"/>
              <a:gd name="T37" fmla="*/ 23 h 199"/>
              <a:gd name="T38" fmla="*/ 9 w 413"/>
              <a:gd name="T39" fmla="*/ 46 h 199"/>
              <a:gd name="T40" fmla="*/ 4 w 413"/>
              <a:gd name="T41" fmla="*/ 73 h 199"/>
              <a:gd name="T42" fmla="*/ 0 w 413"/>
              <a:gd name="T43" fmla="*/ 99 h 199"/>
              <a:gd name="T44" fmla="*/ 4 w 413"/>
              <a:gd name="T45" fmla="*/ 126 h 199"/>
              <a:gd name="T46" fmla="*/ 9 w 413"/>
              <a:gd name="T47" fmla="*/ 151 h 199"/>
              <a:gd name="T48" fmla="*/ 15 w 413"/>
              <a:gd name="T49" fmla="*/ 175 h 199"/>
              <a:gd name="T50" fmla="*/ 27 w 413"/>
              <a:gd name="T51" fmla="*/ 199 h 199"/>
              <a:gd name="T52" fmla="*/ 27 w 413"/>
              <a:gd name="T53" fmla="*/ 187 h 199"/>
              <a:gd name="T54" fmla="*/ 17 w 413"/>
              <a:gd name="T55" fmla="*/ 164 h 199"/>
              <a:gd name="T56" fmla="*/ 10 w 413"/>
              <a:gd name="T57" fmla="*/ 139 h 199"/>
              <a:gd name="T58" fmla="*/ 7 w 413"/>
              <a:gd name="T59" fmla="*/ 112 h 199"/>
              <a:gd name="T60" fmla="*/ 7 w 413"/>
              <a:gd name="T61" fmla="*/ 86 h 199"/>
              <a:gd name="T62" fmla="*/ 10 w 413"/>
              <a:gd name="T63" fmla="*/ 59 h 199"/>
              <a:gd name="T64" fmla="*/ 17 w 413"/>
              <a:gd name="T65" fmla="*/ 35 h 199"/>
              <a:gd name="T66" fmla="*/ 27 w 413"/>
              <a:gd name="T67" fmla="*/ 11 h 199"/>
              <a:gd name="T68" fmla="*/ 27 w 41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3" h="199">
                <a:moveTo>
                  <a:pt x="413" y="99"/>
                </a:moveTo>
                <a:lnTo>
                  <a:pt x="413" y="86"/>
                </a:lnTo>
                <a:lnTo>
                  <a:pt x="411" y="73"/>
                </a:lnTo>
                <a:lnTo>
                  <a:pt x="409" y="59"/>
                </a:lnTo>
                <a:lnTo>
                  <a:pt x="406" y="46"/>
                </a:lnTo>
                <a:lnTo>
                  <a:pt x="403" y="35"/>
                </a:lnTo>
                <a:lnTo>
                  <a:pt x="398" y="23"/>
                </a:lnTo>
                <a:lnTo>
                  <a:pt x="393" y="11"/>
                </a:lnTo>
                <a:lnTo>
                  <a:pt x="388" y="0"/>
                </a:lnTo>
                <a:lnTo>
                  <a:pt x="381" y="0"/>
                </a:lnTo>
                <a:lnTo>
                  <a:pt x="388" y="11"/>
                </a:lnTo>
                <a:lnTo>
                  <a:pt x="393" y="23"/>
                </a:lnTo>
                <a:lnTo>
                  <a:pt x="398" y="35"/>
                </a:lnTo>
                <a:lnTo>
                  <a:pt x="401" y="46"/>
                </a:lnTo>
                <a:lnTo>
                  <a:pt x="404" y="59"/>
                </a:lnTo>
                <a:lnTo>
                  <a:pt x="406" y="73"/>
                </a:lnTo>
                <a:lnTo>
                  <a:pt x="408" y="86"/>
                </a:lnTo>
                <a:lnTo>
                  <a:pt x="408" y="99"/>
                </a:lnTo>
                <a:lnTo>
                  <a:pt x="408" y="111"/>
                </a:lnTo>
                <a:lnTo>
                  <a:pt x="406" y="122"/>
                </a:lnTo>
                <a:lnTo>
                  <a:pt x="404" y="134"/>
                </a:lnTo>
                <a:lnTo>
                  <a:pt x="403" y="146"/>
                </a:lnTo>
                <a:lnTo>
                  <a:pt x="400" y="157"/>
                </a:lnTo>
                <a:lnTo>
                  <a:pt x="396" y="169"/>
                </a:lnTo>
                <a:lnTo>
                  <a:pt x="391" y="179"/>
                </a:lnTo>
                <a:lnTo>
                  <a:pt x="386" y="189"/>
                </a:lnTo>
                <a:lnTo>
                  <a:pt x="395" y="187"/>
                </a:lnTo>
                <a:lnTo>
                  <a:pt x="398" y="175"/>
                </a:lnTo>
                <a:lnTo>
                  <a:pt x="403" y="165"/>
                </a:lnTo>
                <a:lnTo>
                  <a:pt x="406" y="155"/>
                </a:lnTo>
                <a:lnTo>
                  <a:pt x="408" y="144"/>
                </a:lnTo>
                <a:lnTo>
                  <a:pt x="409" y="134"/>
                </a:lnTo>
                <a:lnTo>
                  <a:pt x="411" y="122"/>
                </a:lnTo>
                <a:lnTo>
                  <a:pt x="413" y="111"/>
                </a:lnTo>
                <a:lnTo>
                  <a:pt x="413" y="99"/>
                </a:lnTo>
                <a:close/>
                <a:moveTo>
                  <a:pt x="27" y="0"/>
                </a:moveTo>
                <a:lnTo>
                  <a:pt x="20" y="11"/>
                </a:lnTo>
                <a:lnTo>
                  <a:pt x="15" y="23"/>
                </a:lnTo>
                <a:lnTo>
                  <a:pt x="12" y="35"/>
                </a:lnTo>
                <a:lnTo>
                  <a:pt x="9" y="46"/>
                </a:lnTo>
                <a:lnTo>
                  <a:pt x="5" y="59"/>
                </a:lnTo>
                <a:lnTo>
                  <a:pt x="4" y="73"/>
                </a:lnTo>
                <a:lnTo>
                  <a:pt x="2" y="86"/>
                </a:lnTo>
                <a:lnTo>
                  <a:pt x="0" y="99"/>
                </a:lnTo>
                <a:lnTo>
                  <a:pt x="2" y="112"/>
                </a:lnTo>
                <a:lnTo>
                  <a:pt x="4" y="126"/>
                </a:lnTo>
                <a:lnTo>
                  <a:pt x="5" y="139"/>
                </a:lnTo>
                <a:lnTo>
                  <a:pt x="9" y="151"/>
                </a:lnTo>
                <a:lnTo>
                  <a:pt x="12" y="164"/>
                </a:lnTo>
                <a:lnTo>
                  <a:pt x="15" y="175"/>
                </a:lnTo>
                <a:lnTo>
                  <a:pt x="20" y="187"/>
                </a:lnTo>
                <a:lnTo>
                  <a:pt x="27" y="199"/>
                </a:lnTo>
                <a:lnTo>
                  <a:pt x="32" y="199"/>
                </a:lnTo>
                <a:lnTo>
                  <a:pt x="27" y="187"/>
                </a:lnTo>
                <a:lnTo>
                  <a:pt x="22" y="175"/>
                </a:lnTo>
                <a:lnTo>
                  <a:pt x="17" y="164"/>
                </a:lnTo>
                <a:lnTo>
                  <a:pt x="14" y="151"/>
                </a:lnTo>
                <a:lnTo>
                  <a:pt x="10" y="139"/>
                </a:lnTo>
                <a:lnTo>
                  <a:pt x="7" y="126"/>
                </a:lnTo>
                <a:lnTo>
                  <a:pt x="7" y="112"/>
                </a:lnTo>
                <a:lnTo>
                  <a:pt x="5" y="99"/>
                </a:lnTo>
                <a:lnTo>
                  <a:pt x="7" y="86"/>
                </a:lnTo>
                <a:lnTo>
                  <a:pt x="7" y="73"/>
                </a:lnTo>
                <a:lnTo>
                  <a:pt x="10" y="59"/>
                </a:lnTo>
                <a:lnTo>
                  <a:pt x="14" y="46"/>
                </a:lnTo>
                <a:lnTo>
                  <a:pt x="17" y="35"/>
                </a:lnTo>
                <a:lnTo>
                  <a:pt x="22" y="23"/>
                </a:lnTo>
                <a:lnTo>
                  <a:pt x="27" y="11"/>
                </a:lnTo>
                <a:lnTo>
                  <a:pt x="32" y="0"/>
                </a:lnTo>
                <a:lnTo>
                  <a:pt x="27"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33" name="Freeform 1338">
            <a:extLst>
              <a:ext uri="{FF2B5EF4-FFF2-40B4-BE49-F238E27FC236}">
                <a16:creationId xmlns:a16="http://schemas.microsoft.com/office/drawing/2014/main" id="{E8C0D165-7683-91B7-E676-2C663590FDCA}"/>
              </a:ext>
            </a:extLst>
          </p:cNvPr>
          <p:cNvSpPr>
            <a:spLocks noEditPoints="1"/>
          </p:cNvSpPr>
          <p:nvPr/>
        </p:nvSpPr>
        <p:spPr bwMode="auto">
          <a:xfrm>
            <a:off x="2592388" y="2403475"/>
            <a:ext cx="646113" cy="315913"/>
          </a:xfrm>
          <a:custGeom>
            <a:avLst/>
            <a:gdLst>
              <a:gd name="T0" fmla="*/ 405 w 407"/>
              <a:gd name="T1" fmla="*/ 86 h 199"/>
              <a:gd name="T2" fmla="*/ 402 w 407"/>
              <a:gd name="T3" fmla="*/ 59 h 199"/>
              <a:gd name="T4" fmla="*/ 396 w 407"/>
              <a:gd name="T5" fmla="*/ 35 h 199"/>
              <a:gd name="T6" fmla="*/ 387 w 407"/>
              <a:gd name="T7" fmla="*/ 11 h 199"/>
              <a:gd name="T8" fmla="*/ 376 w 407"/>
              <a:gd name="T9" fmla="*/ 0 h 199"/>
              <a:gd name="T10" fmla="*/ 387 w 407"/>
              <a:gd name="T11" fmla="*/ 23 h 199"/>
              <a:gd name="T12" fmla="*/ 396 w 407"/>
              <a:gd name="T13" fmla="*/ 46 h 199"/>
              <a:gd name="T14" fmla="*/ 400 w 407"/>
              <a:gd name="T15" fmla="*/ 73 h 199"/>
              <a:gd name="T16" fmla="*/ 402 w 407"/>
              <a:gd name="T17" fmla="*/ 99 h 199"/>
              <a:gd name="T18" fmla="*/ 400 w 407"/>
              <a:gd name="T19" fmla="*/ 124 h 199"/>
              <a:gd name="T20" fmla="*/ 396 w 407"/>
              <a:gd name="T21" fmla="*/ 147 h 199"/>
              <a:gd name="T22" fmla="*/ 389 w 407"/>
              <a:gd name="T23" fmla="*/ 169 h 199"/>
              <a:gd name="T24" fmla="*/ 379 w 407"/>
              <a:gd name="T25" fmla="*/ 190 h 199"/>
              <a:gd name="T26" fmla="*/ 391 w 407"/>
              <a:gd name="T27" fmla="*/ 177 h 199"/>
              <a:gd name="T28" fmla="*/ 399 w 407"/>
              <a:gd name="T29" fmla="*/ 155 h 199"/>
              <a:gd name="T30" fmla="*/ 404 w 407"/>
              <a:gd name="T31" fmla="*/ 134 h 199"/>
              <a:gd name="T32" fmla="*/ 407 w 407"/>
              <a:gd name="T33" fmla="*/ 111 h 199"/>
              <a:gd name="T34" fmla="*/ 26 w 407"/>
              <a:gd name="T35" fmla="*/ 0 h 199"/>
              <a:gd name="T36" fmla="*/ 15 w 407"/>
              <a:gd name="T37" fmla="*/ 23 h 199"/>
              <a:gd name="T38" fmla="*/ 6 w 407"/>
              <a:gd name="T39" fmla="*/ 46 h 199"/>
              <a:gd name="T40" fmla="*/ 1 w 407"/>
              <a:gd name="T41" fmla="*/ 73 h 199"/>
              <a:gd name="T42" fmla="*/ 0 w 407"/>
              <a:gd name="T43" fmla="*/ 99 h 199"/>
              <a:gd name="T44" fmla="*/ 1 w 407"/>
              <a:gd name="T45" fmla="*/ 126 h 199"/>
              <a:gd name="T46" fmla="*/ 6 w 407"/>
              <a:gd name="T47" fmla="*/ 151 h 199"/>
              <a:gd name="T48" fmla="*/ 15 w 407"/>
              <a:gd name="T49" fmla="*/ 175 h 199"/>
              <a:gd name="T50" fmla="*/ 26 w 407"/>
              <a:gd name="T51" fmla="*/ 199 h 199"/>
              <a:gd name="T52" fmla="*/ 25 w 407"/>
              <a:gd name="T53" fmla="*/ 187 h 199"/>
              <a:gd name="T54" fmla="*/ 15 w 407"/>
              <a:gd name="T55" fmla="*/ 164 h 199"/>
              <a:gd name="T56" fmla="*/ 8 w 407"/>
              <a:gd name="T57" fmla="*/ 139 h 199"/>
              <a:gd name="T58" fmla="*/ 5 w 407"/>
              <a:gd name="T59" fmla="*/ 112 h 199"/>
              <a:gd name="T60" fmla="*/ 5 w 407"/>
              <a:gd name="T61" fmla="*/ 86 h 199"/>
              <a:gd name="T62" fmla="*/ 8 w 407"/>
              <a:gd name="T63" fmla="*/ 59 h 199"/>
              <a:gd name="T64" fmla="*/ 15 w 407"/>
              <a:gd name="T65" fmla="*/ 35 h 199"/>
              <a:gd name="T66" fmla="*/ 25 w 407"/>
              <a:gd name="T67" fmla="*/ 11 h 199"/>
              <a:gd name="T68" fmla="*/ 26 w 40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7" h="199">
                <a:moveTo>
                  <a:pt x="407" y="99"/>
                </a:moveTo>
                <a:lnTo>
                  <a:pt x="405" y="86"/>
                </a:lnTo>
                <a:lnTo>
                  <a:pt x="405" y="73"/>
                </a:lnTo>
                <a:lnTo>
                  <a:pt x="402" y="59"/>
                </a:lnTo>
                <a:lnTo>
                  <a:pt x="400" y="46"/>
                </a:lnTo>
                <a:lnTo>
                  <a:pt x="396" y="35"/>
                </a:lnTo>
                <a:lnTo>
                  <a:pt x="392" y="23"/>
                </a:lnTo>
                <a:lnTo>
                  <a:pt x="387" y="11"/>
                </a:lnTo>
                <a:lnTo>
                  <a:pt x="381" y="0"/>
                </a:lnTo>
                <a:lnTo>
                  <a:pt x="376" y="0"/>
                </a:lnTo>
                <a:lnTo>
                  <a:pt x="381" y="11"/>
                </a:lnTo>
                <a:lnTo>
                  <a:pt x="387" y="23"/>
                </a:lnTo>
                <a:lnTo>
                  <a:pt x="391" y="35"/>
                </a:lnTo>
                <a:lnTo>
                  <a:pt x="396" y="46"/>
                </a:lnTo>
                <a:lnTo>
                  <a:pt x="397" y="59"/>
                </a:lnTo>
                <a:lnTo>
                  <a:pt x="400" y="73"/>
                </a:lnTo>
                <a:lnTo>
                  <a:pt x="402" y="86"/>
                </a:lnTo>
                <a:lnTo>
                  <a:pt x="402" y="99"/>
                </a:lnTo>
                <a:lnTo>
                  <a:pt x="402" y="111"/>
                </a:lnTo>
                <a:lnTo>
                  <a:pt x="400" y="124"/>
                </a:lnTo>
                <a:lnTo>
                  <a:pt x="399" y="136"/>
                </a:lnTo>
                <a:lnTo>
                  <a:pt x="396" y="147"/>
                </a:lnTo>
                <a:lnTo>
                  <a:pt x="392" y="159"/>
                </a:lnTo>
                <a:lnTo>
                  <a:pt x="389" y="169"/>
                </a:lnTo>
                <a:lnTo>
                  <a:pt x="384" y="180"/>
                </a:lnTo>
                <a:lnTo>
                  <a:pt x="379" y="190"/>
                </a:lnTo>
                <a:lnTo>
                  <a:pt x="387" y="187"/>
                </a:lnTo>
                <a:lnTo>
                  <a:pt x="391" y="177"/>
                </a:lnTo>
                <a:lnTo>
                  <a:pt x="396" y="167"/>
                </a:lnTo>
                <a:lnTo>
                  <a:pt x="399" y="155"/>
                </a:lnTo>
                <a:lnTo>
                  <a:pt x="402" y="146"/>
                </a:lnTo>
                <a:lnTo>
                  <a:pt x="404" y="134"/>
                </a:lnTo>
                <a:lnTo>
                  <a:pt x="405" y="122"/>
                </a:lnTo>
                <a:lnTo>
                  <a:pt x="407" y="111"/>
                </a:lnTo>
                <a:lnTo>
                  <a:pt x="407" y="99"/>
                </a:lnTo>
                <a:close/>
                <a:moveTo>
                  <a:pt x="26" y="0"/>
                </a:moveTo>
                <a:lnTo>
                  <a:pt x="20" y="11"/>
                </a:lnTo>
                <a:lnTo>
                  <a:pt x="15" y="23"/>
                </a:lnTo>
                <a:lnTo>
                  <a:pt x="10" y="35"/>
                </a:lnTo>
                <a:lnTo>
                  <a:pt x="6" y="46"/>
                </a:lnTo>
                <a:lnTo>
                  <a:pt x="3" y="59"/>
                </a:lnTo>
                <a:lnTo>
                  <a:pt x="1" y="73"/>
                </a:lnTo>
                <a:lnTo>
                  <a:pt x="0" y="86"/>
                </a:lnTo>
                <a:lnTo>
                  <a:pt x="0" y="99"/>
                </a:lnTo>
                <a:lnTo>
                  <a:pt x="0" y="112"/>
                </a:lnTo>
                <a:lnTo>
                  <a:pt x="1" y="126"/>
                </a:lnTo>
                <a:lnTo>
                  <a:pt x="3" y="139"/>
                </a:lnTo>
                <a:lnTo>
                  <a:pt x="6" y="151"/>
                </a:lnTo>
                <a:lnTo>
                  <a:pt x="10" y="164"/>
                </a:lnTo>
                <a:lnTo>
                  <a:pt x="15" y="175"/>
                </a:lnTo>
                <a:lnTo>
                  <a:pt x="20" y="187"/>
                </a:lnTo>
                <a:lnTo>
                  <a:pt x="26" y="199"/>
                </a:lnTo>
                <a:lnTo>
                  <a:pt x="31" y="199"/>
                </a:lnTo>
                <a:lnTo>
                  <a:pt x="25" y="187"/>
                </a:lnTo>
                <a:lnTo>
                  <a:pt x="20" y="175"/>
                </a:lnTo>
                <a:lnTo>
                  <a:pt x="15" y="164"/>
                </a:lnTo>
                <a:lnTo>
                  <a:pt x="11" y="151"/>
                </a:lnTo>
                <a:lnTo>
                  <a:pt x="8" y="139"/>
                </a:lnTo>
                <a:lnTo>
                  <a:pt x="6" y="126"/>
                </a:lnTo>
                <a:lnTo>
                  <a:pt x="5" y="112"/>
                </a:lnTo>
                <a:lnTo>
                  <a:pt x="5" y="99"/>
                </a:lnTo>
                <a:lnTo>
                  <a:pt x="5" y="86"/>
                </a:lnTo>
                <a:lnTo>
                  <a:pt x="6" y="73"/>
                </a:lnTo>
                <a:lnTo>
                  <a:pt x="8" y="59"/>
                </a:lnTo>
                <a:lnTo>
                  <a:pt x="11" y="46"/>
                </a:lnTo>
                <a:lnTo>
                  <a:pt x="15" y="35"/>
                </a:lnTo>
                <a:lnTo>
                  <a:pt x="20" y="23"/>
                </a:lnTo>
                <a:lnTo>
                  <a:pt x="25" y="11"/>
                </a:lnTo>
                <a:lnTo>
                  <a:pt x="31" y="0"/>
                </a:lnTo>
                <a:lnTo>
                  <a:pt x="26"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34" name="Freeform 1339">
            <a:extLst>
              <a:ext uri="{FF2B5EF4-FFF2-40B4-BE49-F238E27FC236}">
                <a16:creationId xmlns:a16="http://schemas.microsoft.com/office/drawing/2014/main" id="{615791B6-0C50-15E4-CBA5-774104744D8C}"/>
              </a:ext>
            </a:extLst>
          </p:cNvPr>
          <p:cNvSpPr>
            <a:spLocks noEditPoints="1"/>
          </p:cNvSpPr>
          <p:nvPr/>
        </p:nvSpPr>
        <p:spPr bwMode="auto">
          <a:xfrm>
            <a:off x="2593975" y="2403475"/>
            <a:ext cx="639763" cy="315913"/>
          </a:xfrm>
          <a:custGeom>
            <a:avLst/>
            <a:gdLst>
              <a:gd name="T0" fmla="*/ 403 w 403"/>
              <a:gd name="T1" fmla="*/ 86 h 199"/>
              <a:gd name="T2" fmla="*/ 399 w 403"/>
              <a:gd name="T3" fmla="*/ 59 h 199"/>
              <a:gd name="T4" fmla="*/ 393 w 403"/>
              <a:gd name="T5" fmla="*/ 35 h 199"/>
              <a:gd name="T6" fmla="*/ 383 w 403"/>
              <a:gd name="T7" fmla="*/ 11 h 199"/>
              <a:gd name="T8" fmla="*/ 371 w 403"/>
              <a:gd name="T9" fmla="*/ 0 h 199"/>
              <a:gd name="T10" fmla="*/ 383 w 403"/>
              <a:gd name="T11" fmla="*/ 23 h 199"/>
              <a:gd name="T12" fmla="*/ 391 w 403"/>
              <a:gd name="T13" fmla="*/ 46 h 199"/>
              <a:gd name="T14" fmla="*/ 396 w 403"/>
              <a:gd name="T15" fmla="*/ 73 h 199"/>
              <a:gd name="T16" fmla="*/ 398 w 403"/>
              <a:gd name="T17" fmla="*/ 99 h 199"/>
              <a:gd name="T18" fmla="*/ 396 w 403"/>
              <a:gd name="T19" fmla="*/ 124 h 199"/>
              <a:gd name="T20" fmla="*/ 393 w 403"/>
              <a:gd name="T21" fmla="*/ 147 h 199"/>
              <a:gd name="T22" fmla="*/ 385 w 403"/>
              <a:gd name="T23" fmla="*/ 170 h 199"/>
              <a:gd name="T24" fmla="*/ 375 w 403"/>
              <a:gd name="T25" fmla="*/ 192 h 199"/>
              <a:gd name="T26" fmla="*/ 386 w 403"/>
              <a:gd name="T27" fmla="*/ 179 h 199"/>
              <a:gd name="T28" fmla="*/ 395 w 403"/>
              <a:gd name="T29" fmla="*/ 157 h 199"/>
              <a:gd name="T30" fmla="*/ 399 w 403"/>
              <a:gd name="T31" fmla="*/ 134 h 199"/>
              <a:gd name="T32" fmla="*/ 403 w 403"/>
              <a:gd name="T33" fmla="*/ 111 h 199"/>
              <a:gd name="T34" fmla="*/ 27 w 403"/>
              <a:gd name="T35" fmla="*/ 0 h 199"/>
              <a:gd name="T36" fmla="*/ 17 w 403"/>
              <a:gd name="T37" fmla="*/ 23 h 199"/>
              <a:gd name="T38" fmla="*/ 9 w 403"/>
              <a:gd name="T39" fmla="*/ 46 h 199"/>
              <a:gd name="T40" fmla="*/ 2 w 403"/>
              <a:gd name="T41" fmla="*/ 73 h 199"/>
              <a:gd name="T42" fmla="*/ 0 w 403"/>
              <a:gd name="T43" fmla="*/ 99 h 199"/>
              <a:gd name="T44" fmla="*/ 2 w 403"/>
              <a:gd name="T45" fmla="*/ 126 h 199"/>
              <a:gd name="T46" fmla="*/ 9 w 403"/>
              <a:gd name="T47" fmla="*/ 151 h 199"/>
              <a:gd name="T48" fmla="*/ 17 w 403"/>
              <a:gd name="T49" fmla="*/ 175 h 199"/>
              <a:gd name="T50" fmla="*/ 27 w 403"/>
              <a:gd name="T51" fmla="*/ 199 h 199"/>
              <a:gd name="T52" fmla="*/ 27 w 403"/>
              <a:gd name="T53" fmla="*/ 187 h 199"/>
              <a:gd name="T54" fmla="*/ 17 w 403"/>
              <a:gd name="T55" fmla="*/ 164 h 199"/>
              <a:gd name="T56" fmla="*/ 10 w 403"/>
              <a:gd name="T57" fmla="*/ 139 h 199"/>
              <a:gd name="T58" fmla="*/ 7 w 403"/>
              <a:gd name="T59" fmla="*/ 112 h 199"/>
              <a:gd name="T60" fmla="*/ 7 w 403"/>
              <a:gd name="T61" fmla="*/ 86 h 199"/>
              <a:gd name="T62" fmla="*/ 10 w 403"/>
              <a:gd name="T63" fmla="*/ 59 h 199"/>
              <a:gd name="T64" fmla="*/ 17 w 403"/>
              <a:gd name="T65" fmla="*/ 35 h 199"/>
              <a:gd name="T66" fmla="*/ 27 w 403"/>
              <a:gd name="T67" fmla="*/ 11 h 199"/>
              <a:gd name="T68" fmla="*/ 27 w 40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3" h="199">
                <a:moveTo>
                  <a:pt x="403" y="99"/>
                </a:moveTo>
                <a:lnTo>
                  <a:pt x="403" y="86"/>
                </a:lnTo>
                <a:lnTo>
                  <a:pt x="401" y="73"/>
                </a:lnTo>
                <a:lnTo>
                  <a:pt x="399" y="59"/>
                </a:lnTo>
                <a:lnTo>
                  <a:pt x="396" y="46"/>
                </a:lnTo>
                <a:lnTo>
                  <a:pt x="393" y="35"/>
                </a:lnTo>
                <a:lnTo>
                  <a:pt x="388" y="23"/>
                </a:lnTo>
                <a:lnTo>
                  <a:pt x="383" y="11"/>
                </a:lnTo>
                <a:lnTo>
                  <a:pt x="376" y="0"/>
                </a:lnTo>
                <a:lnTo>
                  <a:pt x="371" y="0"/>
                </a:lnTo>
                <a:lnTo>
                  <a:pt x="378" y="11"/>
                </a:lnTo>
                <a:lnTo>
                  <a:pt x="383" y="23"/>
                </a:lnTo>
                <a:lnTo>
                  <a:pt x="388" y="35"/>
                </a:lnTo>
                <a:lnTo>
                  <a:pt x="391" y="46"/>
                </a:lnTo>
                <a:lnTo>
                  <a:pt x="395" y="59"/>
                </a:lnTo>
                <a:lnTo>
                  <a:pt x="396" y="73"/>
                </a:lnTo>
                <a:lnTo>
                  <a:pt x="398" y="86"/>
                </a:lnTo>
                <a:lnTo>
                  <a:pt x="398" y="99"/>
                </a:lnTo>
                <a:lnTo>
                  <a:pt x="398" y="111"/>
                </a:lnTo>
                <a:lnTo>
                  <a:pt x="396" y="124"/>
                </a:lnTo>
                <a:lnTo>
                  <a:pt x="395" y="136"/>
                </a:lnTo>
                <a:lnTo>
                  <a:pt x="393" y="147"/>
                </a:lnTo>
                <a:lnTo>
                  <a:pt x="390" y="159"/>
                </a:lnTo>
                <a:lnTo>
                  <a:pt x="385" y="170"/>
                </a:lnTo>
                <a:lnTo>
                  <a:pt x="380" y="182"/>
                </a:lnTo>
                <a:lnTo>
                  <a:pt x="375" y="192"/>
                </a:lnTo>
                <a:lnTo>
                  <a:pt x="381" y="189"/>
                </a:lnTo>
                <a:lnTo>
                  <a:pt x="386" y="179"/>
                </a:lnTo>
                <a:lnTo>
                  <a:pt x="391" y="169"/>
                </a:lnTo>
                <a:lnTo>
                  <a:pt x="395" y="157"/>
                </a:lnTo>
                <a:lnTo>
                  <a:pt x="398" y="146"/>
                </a:lnTo>
                <a:lnTo>
                  <a:pt x="399" y="134"/>
                </a:lnTo>
                <a:lnTo>
                  <a:pt x="401" y="122"/>
                </a:lnTo>
                <a:lnTo>
                  <a:pt x="403" y="111"/>
                </a:lnTo>
                <a:lnTo>
                  <a:pt x="403" y="99"/>
                </a:lnTo>
                <a:close/>
                <a:moveTo>
                  <a:pt x="27" y="0"/>
                </a:moveTo>
                <a:lnTo>
                  <a:pt x="22" y="11"/>
                </a:lnTo>
                <a:lnTo>
                  <a:pt x="17" y="23"/>
                </a:lnTo>
                <a:lnTo>
                  <a:pt x="12" y="35"/>
                </a:lnTo>
                <a:lnTo>
                  <a:pt x="9" y="46"/>
                </a:lnTo>
                <a:lnTo>
                  <a:pt x="5" y="59"/>
                </a:lnTo>
                <a:lnTo>
                  <a:pt x="2" y="73"/>
                </a:lnTo>
                <a:lnTo>
                  <a:pt x="2" y="86"/>
                </a:lnTo>
                <a:lnTo>
                  <a:pt x="0" y="99"/>
                </a:lnTo>
                <a:lnTo>
                  <a:pt x="2" y="112"/>
                </a:lnTo>
                <a:lnTo>
                  <a:pt x="2" y="126"/>
                </a:lnTo>
                <a:lnTo>
                  <a:pt x="5" y="139"/>
                </a:lnTo>
                <a:lnTo>
                  <a:pt x="9" y="151"/>
                </a:lnTo>
                <a:lnTo>
                  <a:pt x="12" y="164"/>
                </a:lnTo>
                <a:lnTo>
                  <a:pt x="17" y="175"/>
                </a:lnTo>
                <a:lnTo>
                  <a:pt x="22" y="187"/>
                </a:lnTo>
                <a:lnTo>
                  <a:pt x="27" y="199"/>
                </a:lnTo>
                <a:lnTo>
                  <a:pt x="33" y="199"/>
                </a:lnTo>
                <a:lnTo>
                  <a:pt x="27" y="187"/>
                </a:lnTo>
                <a:lnTo>
                  <a:pt x="22" y="175"/>
                </a:lnTo>
                <a:lnTo>
                  <a:pt x="17" y="164"/>
                </a:lnTo>
                <a:lnTo>
                  <a:pt x="14" y="152"/>
                </a:lnTo>
                <a:lnTo>
                  <a:pt x="10" y="139"/>
                </a:lnTo>
                <a:lnTo>
                  <a:pt x="7" y="126"/>
                </a:lnTo>
                <a:lnTo>
                  <a:pt x="7" y="112"/>
                </a:lnTo>
                <a:lnTo>
                  <a:pt x="5" y="99"/>
                </a:lnTo>
                <a:lnTo>
                  <a:pt x="7" y="86"/>
                </a:lnTo>
                <a:lnTo>
                  <a:pt x="7" y="73"/>
                </a:lnTo>
                <a:lnTo>
                  <a:pt x="10" y="59"/>
                </a:lnTo>
                <a:lnTo>
                  <a:pt x="14" y="46"/>
                </a:lnTo>
                <a:lnTo>
                  <a:pt x="17" y="35"/>
                </a:lnTo>
                <a:lnTo>
                  <a:pt x="22" y="23"/>
                </a:lnTo>
                <a:lnTo>
                  <a:pt x="27" y="11"/>
                </a:lnTo>
                <a:lnTo>
                  <a:pt x="33" y="0"/>
                </a:lnTo>
                <a:lnTo>
                  <a:pt x="27"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35" name="Freeform 1340">
            <a:extLst>
              <a:ext uri="{FF2B5EF4-FFF2-40B4-BE49-F238E27FC236}">
                <a16:creationId xmlns:a16="http://schemas.microsoft.com/office/drawing/2014/main" id="{A8D4D4C4-96C2-30F5-2027-1470BC0CFABC}"/>
              </a:ext>
            </a:extLst>
          </p:cNvPr>
          <p:cNvSpPr>
            <a:spLocks noEditPoints="1"/>
          </p:cNvSpPr>
          <p:nvPr/>
        </p:nvSpPr>
        <p:spPr bwMode="auto">
          <a:xfrm>
            <a:off x="2600325" y="2403475"/>
            <a:ext cx="630238" cy="315913"/>
          </a:xfrm>
          <a:custGeom>
            <a:avLst/>
            <a:gdLst>
              <a:gd name="T0" fmla="*/ 397 w 397"/>
              <a:gd name="T1" fmla="*/ 86 h 199"/>
              <a:gd name="T2" fmla="*/ 392 w 397"/>
              <a:gd name="T3" fmla="*/ 59 h 199"/>
              <a:gd name="T4" fmla="*/ 386 w 397"/>
              <a:gd name="T5" fmla="*/ 35 h 199"/>
              <a:gd name="T6" fmla="*/ 376 w 397"/>
              <a:gd name="T7" fmla="*/ 11 h 199"/>
              <a:gd name="T8" fmla="*/ 364 w 397"/>
              <a:gd name="T9" fmla="*/ 0 h 199"/>
              <a:gd name="T10" fmla="*/ 376 w 397"/>
              <a:gd name="T11" fmla="*/ 23 h 199"/>
              <a:gd name="T12" fmla="*/ 386 w 397"/>
              <a:gd name="T13" fmla="*/ 46 h 199"/>
              <a:gd name="T14" fmla="*/ 391 w 397"/>
              <a:gd name="T15" fmla="*/ 73 h 199"/>
              <a:gd name="T16" fmla="*/ 392 w 397"/>
              <a:gd name="T17" fmla="*/ 99 h 199"/>
              <a:gd name="T18" fmla="*/ 391 w 397"/>
              <a:gd name="T19" fmla="*/ 124 h 199"/>
              <a:gd name="T20" fmla="*/ 386 w 397"/>
              <a:gd name="T21" fmla="*/ 149 h 199"/>
              <a:gd name="T22" fmla="*/ 377 w 397"/>
              <a:gd name="T23" fmla="*/ 172 h 199"/>
              <a:gd name="T24" fmla="*/ 367 w 397"/>
              <a:gd name="T25" fmla="*/ 194 h 199"/>
              <a:gd name="T26" fmla="*/ 379 w 397"/>
              <a:gd name="T27" fmla="*/ 180 h 199"/>
              <a:gd name="T28" fmla="*/ 387 w 397"/>
              <a:gd name="T29" fmla="*/ 159 h 199"/>
              <a:gd name="T30" fmla="*/ 394 w 397"/>
              <a:gd name="T31" fmla="*/ 136 h 199"/>
              <a:gd name="T32" fmla="*/ 397 w 397"/>
              <a:gd name="T33" fmla="*/ 111 h 199"/>
              <a:gd name="T34" fmla="*/ 26 w 397"/>
              <a:gd name="T35" fmla="*/ 0 h 199"/>
              <a:gd name="T36" fmla="*/ 15 w 397"/>
              <a:gd name="T37" fmla="*/ 23 h 199"/>
              <a:gd name="T38" fmla="*/ 6 w 397"/>
              <a:gd name="T39" fmla="*/ 46 h 199"/>
              <a:gd name="T40" fmla="*/ 1 w 397"/>
              <a:gd name="T41" fmla="*/ 73 h 199"/>
              <a:gd name="T42" fmla="*/ 0 w 397"/>
              <a:gd name="T43" fmla="*/ 99 h 199"/>
              <a:gd name="T44" fmla="*/ 1 w 397"/>
              <a:gd name="T45" fmla="*/ 126 h 199"/>
              <a:gd name="T46" fmla="*/ 6 w 397"/>
              <a:gd name="T47" fmla="*/ 151 h 199"/>
              <a:gd name="T48" fmla="*/ 15 w 397"/>
              <a:gd name="T49" fmla="*/ 175 h 199"/>
              <a:gd name="T50" fmla="*/ 26 w 397"/>
              <a:gd name="T51" fmla="*/ 199 h 199"/>
              <a:gd name="T52" fmla="*/ 26 w 397"/>
              <a:gd name="T53" fmla="*/ 187 h 199"/>
              <a:gd name="T54" fmla="*/ 15 w 397"/>
              <a:gd name="T55" fmla="*/ 164 h 199"/>
              <a:gd name="T56" fmla="*/ 8 w 397"/>
              <a:gd name="T57" fmla="*/ 139 h 199"/>
              <a:gd name="T58" fmla="*/ 5 w 397"/>
              <a:gd name="T59" fmla="*/ 112 h 199"/>
              <a:gd name="T60" fmla="*/ 5 w 397"/>
              <a:gd name="T61" fmla="*/ 86 h 199"/>
              <a:gd name="T62" fmla="*/ 8 w 397"/>
              <a:gd name="T63" fmla="*/ 59 h 199"/>
              <a:gd name="T64" fmla="*/ 15 w 397"/>
              <a:gd name="T65" fmla="*/ 35 h 199"/>
              <a:gd name="T66" fmla="*/ 26 w 397"/>
              <a:gd name="T67" fmla="*/ 11 h 199"/>
              <a:gd name="T68" fmla="*/ 26 w 39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7" h="199">
                <a:moveTo>
                  <a:pt x="397" y="99"/>
                </a:moveTo>
                <a:lnTo>
                  <a:pt x="397" y="86"/>
                </a:lnTo>
                <a:lnTo>
                  <a:pt x="395" y="73"/>
                </a:lnTo>
                <a:lnTo>
                  <a:pt x="392" y="59"/>
                </a:lnTo>
                <a:lnTo>
                  <a:pt x="391" y="46"/>
                </a:lnTo>
                <a:lnTo>
                  <a:pt x="386" y="35"/>
                </a:lnTo>
                <a:lnTo>
                  <a:pt x="382" y="23"/>
                </a:lnTo>
                <a:lnTo>
                  <a:pt x="376" y="11"/>
                </a:lnTo>
                <a:lnTo>
                  <a:pt x="371" y="0"/>
                </a:lnTo>
                <a:lnTo>
                  <a:pt x="364" y="0"/>
                </a:lnTo>
                <a:lnTo>
                  <a:pt x="371" y="11"/>
                </a:lnTo>
                <a:lnTo>
                  <a:pt x="376" y="23"/>
                </a:lnTo>
                <a:lnTo>
                  <a:pt x="381" y="35"/>
                </a:lnTo>
                <a:lnTo>
                  <a:pt x="386" y="46"/>
                </a:lnTo>
                <a:lnTo>
                  <a:pt x="389" y="59"/>
                </a:lnTo>
                <a:lnTo>
                  <a:pt x="391" y="73"/>
                </a:lnTo>
                <a:lnTo>
                  <a:pt x="392" y="86"/>
                </a:lnTo>
                <a:lnTo>
                  <a:pt x="392" y="99"/>
                </a:lnTo>
                <a:lnTo>
                  <a:pt x="392" y="112"/>
                </a:lnTo>
                <a:lnTo>
                  <a:pt x="391" y="124"/>
                </a:lnTo>
                <a:lnTo>
                  <a:pt x="389" y="137"/>
                </a:lnTo>
                <a:lnTo>
                  <a:pt x="386" y="149"/>
                </a:lnTo>
                <a:lnTo>
                  <a:pt x="382" y="160"/>
                </a:lnTo>
                <a:lnTo>
                  <a:pt x="377" y="172"/>
                </a:lnTo>
                <a:lnTo>
                  <a:pt x="372" y="184"/>
                </a:lnTo>
                <a:lnTo>
                  <a:pt x="367" y="194"/>
                </a:lnTo>
                <a:lnTo>
                  <a:pt x="374" y="190"/>
                </a:lnTo>
                <a:lnTo>
                  <a:pt x="379" y="180"/>
                </a:lnTo>
                <a:lnTo>
                  <a:pt x="384" y="169"/>
                </a:lnTo>
                <a:lnTo>
                  <a:pt x="387" y="159"/>
                </a:lnTo>
                <a:lnTo>
                  <a:pt x="391" y="147"/>
                </a:lnTo>
                <a:lnTo>
                  <a:pt x="394" y="136"/>
                </a:lnTo>
                <a:lnTo>
                  <a:pt x="395" y="124"/>
                </a:lnTo>
                <a:lnTo>
                  <a:pt x="397" y="111"/>
                </a:lnTo>
                <a:lnTo>
                  <a:pt x="397" y="99"/>
                </a:lnTo>
                <a:close/>
                <a:moveTo>
                  <a:pt x="26" y="0"/>
                </a:moveTo>
                <a:lnTo>
                  <a:pt x="20" y="11"/>
                </a:lnTo>
                <a:lnTo>
                  <a:pt x="15" y="23"/>
                </a:lnTo>
                <a:lnTo>
                  <a:pt x="10" y="35"/>
                </a:lnTo>
                <a:lnTo>
                  <a:pt x="6" y="46"/>
                </a:lnTo>
                <a:lnTo>
                  <a:pt x="3" y="59"/>
                </a:lnTo>
                <a:lnTo>
                  <a:pt x="1" y="73"/>
                </a:lnTo>
                <a:lnTo>
                  <a:pt x="0" y="86"/>
                </a:lnTo>
                <a:lnTo>
                  <a:pt x="0" y="99"/>
                </a:lnTo>
                <a:lnTo>
                  <a:pt x="0" y="112"/>
                </a:lnTo>
                <a:lnTo>
                  <a:pt x="1" y="126"/>
                </a:lnTo>
                <a:lnTo>
                  <a:pt x="3" y="139"/>
                </a:lnTo>
                <a:lnTo>
                  <a:pt x="6" y="151"/>
                </a:lnTo>
                <a:lnTo>
                  <a:pt x="10" y="164"/>
                </a:lnTo>
                <a:lnTo>
                  <a:pt x="15" y="175"/>
                </a:lnTo>
                <a:lnTo>
                  <a:pt x="20" y="187"/>
                </a:lnTo>
                <a:lnTo>
                  <a:pt x="26" y="199"/>
                </a:lnTo>
                <a:lnTo>
                  <a:pt x="31" y="199"/>
                </a:lnTo>
                <a:lnTo>
                  <a:pt x="26" y="187"/>
                </a:lnTo>
                <a:lnTo>
                  <a:pt x="20" y="175"/>
                </a:lnTo>
                <a:lnTo>
                  <a:pt x="15" y="164"/>
                </a:lnTo>
                <a:lnTo>
                  <a:pt x="11" y="152"/>
                </a:lnTo>
                <a:lnTo>
                  <a:pt x="8" y="139"/>
                </a:lnTo>
                <a:lnTo>
                  <a:pt x="6" y="126"/>
                </a:lnTo>
                <a:lnTo>
                  <a:pt x="5" y="112"/>
                </a:lnTo>
                <a:lnTo>
                  <a:pt x="5" y="99"/>
                </a:lnTo>
                <a:lnTo>
                  <a:pt x="5" y="86"/>
                </a:lnTo>
                <a:lnTo>
                  <a:pt x="6" y="73"/>
                </a:lnTo>
                <a:lnTo>
                  <a:pt x="8" y="59"/>
                </a:lnTo>
                <a:lnTo>
                  <a:pt x="11" y="46"/>
                </a:lnTo>
                <a:lnTo>
                  <a:pt x="15" y="35"/>
                </a:lnTo>
                <a:lnTo>
                  <a:pt x="20" y="23"/>
                </a:lnTo>
                <a:lnTo>
                  <a:pt x="26" y="11"/>
                </a:lnTo>
                <a:lnTo>
                  <a:pt x="31" y="0"/>
                </a:lnTo>
                <a:lnTo>
                  <a:pt x="26"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36" name="Freeform 1341">
            <a:extLst>
              <a:ext uri="{FF2B5EF4-FFF2-40B4-BE49-F238E27FC236}">
                <a16:creationId xmlns:a16="http://schemas.microsoft.com/office/drawing/2014/main" id="{433D97A7-065B-9655-6FF4-0E2A0983FD75}"/>
              </a:ext>
            </a:extLst>
          </p:cNvPr>
          <p:cNvSpPr>
            <a:spLocks noEditPoints="1"/>
          </p:cNvSpPr>
          <p:nvPr/>
        </p:nvSpPr>
        <p:spPr bwMode="auto">
          <a:xfrm>
            <a:off x="2601913" y="2403475"/>
            <a:ext cx="623888" cy="315913"/>
          </a:xfrm>
          <a:custGeom>
            <a:avLst/>
            <a:gdLst>
              <a:gd name="T0" fmla="*/ 393 w 393"/>
              <a:gd name="T1" fmla="*/ 86 h 199"/>
              <a:gd name="T2" fmla="*/ 390 w 393"/>
              <a:gd name="T3" fmla="*/ 59 h 199"/>
              <a:gd name="T4" fmla="*/ 383 w 393"/>
              <a:gd name="T5" fmla="*/ 35 h 199"/>
              <a:gd name="T6" fmla="*/ 373 w 393"/>
              <a:gd name="T7" fmla="*/ 11 h 199"/>
              <a:gd name="T8" fmla="*/ 361 w 393"/>
              <a:gd name="T9" fmla="*/ 0 h 199"/>
              <a:gd name="T10" fmla="*/ 373 w 393"/>
              <a:gd name="T11" fmla="*/ 23 h 199"/>
              <a:gd name="T12" fmla="*/ 381 w 393"/>
              <a:gd name="T13" fmla="*/ 46 h 199"/>
              <a:gd name="T14" fmla="*/ 386 w 393"/>
              <a:gd name="T15" fmla="*/ 73 h 199"/>
              <a:gd name="T16" fmla="*/ 390 w 393"/>
              <a:gd name="T17" fmla="*/ 99 h 199"/>
              <a:gd name="T18" fmla="*/ 386 w 393"/>
              <a:gd name="T19" fmla="*/ 126 h 199"/>
              <a:gd name="T20" fmla="*/ 381 w 393"/>
              <a:gd name="T21" fmla="*/ 151 h 199"/>
              <a:gd name="T22" fmla="*/ 373 w 393"/>
              <a:gd name="T23" fmla="*/ 174 h 199"/>
              <a:gd name="T24" fmla="*/ 363 w 393"/>
              <a:gd name="T25" fmla="*/ 195 h 199"/>
              <a:gd name="T26" fmla="*/ 375 w 393"/>
              <a:gd name="T27" fmla="*/ 182 h 199"/>
              <a:gd name="T28" fmla="*/ 385 w 393"/>
              <a:gd name="T29" fmla="*/ 159 h 199"/>
              <a:gd name="T30" fmla="*/ 390 w 393"/>
              <a:gd name="T31" fmla="*/ 136 h 199"/>
              <a:gd name="T32" fmla="*/ 393 w 393"/>
              <a:gd name="T33" fmla="*/ 111 h 199"/>
              <a:gd name="T34" fmla="*/ 28 w 393"/>
              <a:gd name="T35" fmla="*/ 0 h 199"/>
              <a:gd name="T36" fmla="*/ 17 w 393"/>
              <a:gd name="T37" fmla="*/ 23 h 199"/>
              <a:gd name="T38" fmla="*/ 9 w 393"/>
              <a:gd name="T39" fmla="*/ 46 h 199"/>
              <a:gd name="T40" fmla="*/ 2 w 393"/>
              <a:gd name="T41" fmla="*/ 73 h 199"/>
              <a:gd name="T42" fmla="*/ 0 w 393"/>
              <a:gd name="T43" fmla="*/ 99 h 199"/>
              <a:gd name="T44" fmla="*/ 2 w 393"/>
              <a:gd name="T45" fmla="*/ 126 h 199"/>
              <a:gd name="T46" fmla="*/ 9 w 393"/>
              <a:gd name="T47" fmla="*/ 152 h 199"/>
              <a:gd name="T48" fmla="*/ 17 w 393"/>
              <a:gd name="T49" fmla="*/ 175 h 199"/>
              <a:gd name="T50" fmla="*/ 28 w 393"/>
              <a:gd name="T51" fmla="*/ 199 h 199"/>
              <a:gd name="T52" fmla="*/ 27 w 393"/>
              <a:gd name="T53" fmla="*/ 187 h 199"/>
              <a:gd name="T54" fmla="*/ 17 w 393"/>
              <a:gd name="T55" fmla="*/ 164 h 199"/>
              <a:gd name="T56" fmla="*/ 10 w 393"/>
              <a:gd name="T57" fmla="*/ 139 h 199"/>
              <a:gd name="T58" fmla="*/ 5 w 393"/>
              <a:gd name="T59" fmla="*/ 112 h 199"/>
              <a:gd name="T60" fmla="*/ 5 w 393"/>
              <a:gd name="T61" fmla="*/ 86 h 199"/>
              <a:gd name="T62" fmla="*/ 10 w 393"/>
              <a:gd name="T63" fmla="*/ 59 h 199"/>
              <a:gd name="T64" fmla="*/ 17 w 393"/>
              <a:gd name="T65" fmla="*/ 35 h 199"/>
              <a:gd name="T66" fmla="*/ 27 w 393"/>
              <a:gd name="T67" fmla="*/ 11 h 199"/>
              <a:gd name="T68" fmla="*/ 28 w 39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3" h="199">
                <a:moveTo>
                  <a:pt x="393" y="99"/>
                </a:moveTo>
                <a:lnTo>
                  <a:pt x="393" y="86"/>
                </a:lnTo>
                <a:lnTo>
                  <a:pt x="391" y="73"/>
                </a:lnTo>
                <a:lnTo>
                  <a:pt x="390" y="59"/>
                </a:lnTo>
                <a:lnTo>
                  <a:pt x="386" y="46"/>
                </a:lnTo>
                <a:lnTo>
                  <a:pt x="383" y="35"/>
                </a:lnTo>
                <a:lnTo>
                  <a:pt x="378" y="23"/>
                </a:lnTo>
                <a:lnTo>
                  <a:pt x="373" y="11"/>
                </a:lnTo>
                <a:lnTo>
                  <a:pt x="366" y="0"/>
                </a:lnTo>
                <a:lnTo>
                  <a:pt x="361" y="0"/>
                </a:lnTo>
                <a:lnTo>
                  <a:pt x="368" y="11"/>
                </a:lnTo>
                <a:lnTo>
                  <a:pt x="373" y="23"/>
                </a:lnTo>
                <a:lnTo>
                  <a:pt x="378" y="35"/>
                </a:lnTo>
                <a:lnTo>
                  <a:pt x="381" y="46"/>
                </a:lnTo>
                <a:lnTo>
                  <a:pt x="385" y="59"/>
                </a:lnTo>
                <a:lnTo>
                  <a:pt x="386" y="73"/>
                </a:lnTo>
                <a:lnTo>
                  <a:pt x="388" y="86"/>
                </a:lnTo>
                <a:lnTo>
                  <a:pt x="390" y="99"/>
                </a:lnTo>
                <a:lnTo>
                  <a:pt x="388" y="112"/>
                </a:lnTo>
                <a:lnTo>
                  <a:pt x="386" y="126"/>
                </a:lnTo>
                <a:lnTo>
                  <a:pt x="385" y="137"/>
                </a:lnTo>
                <a:lnTo>
                  <a:pt x="381" y="151"/>
                </a:lnTo>
                <a:lnTo>
                  <a:pt x="378" y="162"/>
                </a:lnTo>
                <a:lnTo>
                  <a:pt x="373" y="174"/>
                </a:lnTo>
                <a:lnTo>
                  <a:pt x="368" y="185"/>
                </a:lnTo>
                <a:lnTo>
                  <a:pt x="363" y="195"/>
                </a:lnTo>
                <a:lnTo>
                  <a:pt x="370" y="192"/>
                </a:lnTo>
                <a:lnTo>
                  <a:pt x="375" y="182"/>
                </a:lnTo>
                <a:lnTo>
                  <a:pt x="380" y="170"/>
                </a:lnTo>
                <a:lnTo>
                  <a:pt x="385" y="159"/>
                </a:lnTo>
                <a:lnTo>
                  <a:pt x="388" y="147"/>
                </a:lnTo>
                <a:lnTo>
                  <a:pt x="390" y="136"/>
                </a:lnTo>
                <a:lnTo>
                  <a:pt x="391" y="124"/>
                </a:lnTo>
                <a:lnTo>
                  <a:pt x="393" y="111"/>
                </a:lnTo>
                <a:lnTo>
                  <a:pt x="393" y="99"/>
                </a:lnTo>
                <a:close/>
                <a:moveTo>
                  <a:pt x="28" y="0"/>
                </a:moveTo>
                <a:lnTo>
                  <a:pt x="22" y="11"/>
                </a:lnTo>
                <a:lnTo>
                  <a:pt x="17" y="23"/>
                </a:lnTo>
                <a:lnTo>
                  <a:pt x="12" y="35"/>
                </a:lnTo>
                <a:lnTo>
                  <a:pt x="9" y="46"/>
                </a:lnTo>
                <a:lnTo>
                  <a:pt x="5" y="59"/>
                </a:lnTo>
                <a:lnTo>
                  <a:pt x="2" y="73"/>
                </a:lnTo>
                <a:lnTo>
                  <a:pt x="2" y="86"/>
                </a:lnTo>
                <a:lnTo>
                  <a:pt x="0" y="99"/>
                </a:lnTo>
                <a:lnTo>
                  <a:pt x="2" y="112"/>
                </a:lnTo>
                <a:lnTo>
                  <a:pt x="2" y="126"/>
                </a:lnTo>
                <a:lnTo>
                  <a:pt x="5" y="139"/>
                </a:lnTo>
                <a:lnTo>
                  <a:pt x="9" y="152"/>
                </a:lnTo>
                <a:lnTo>
                  <a:pt x="12" y="164"/>
                </a:lnTo>
                <a:lnTo>
                  <a:pt x="17" y="175"/>
                </a:lnTo>
                <a:lnTo>
                  <a:pt x="22" y="187"/>
                </a:lnTo>
                <a:lnTo>
                  <a:pt x="28" y="199"/>
                </a:lnTo>
                <a:lnTo>
                  <a:pt x="33" y="199"/>
                </a:lnTo>
                <a:lnTo>
                  <a:pt x="27" y="187"/>
                </a:lnTo>
                <a:lnTo>
                  <a:pt x="22" y="175"/>
                </a:lnTo>
                <a:lnTo>
                  <a:pt x="17" y="164"/>
                </a:lnTo>
                <a:lnTo>
                  <a:pt x="14" y="152"/>
                </a:lnTo>
                <a:lnTo>
                  <a:pt x="10" y="139"/>
                </a:lnTo>
                <a:lnTo>
                  <a:pt x="7" y="126"/>
                </a:lnTo>
                <a:lnTo>
                  <a:pt x="5" y="112"/>
                </a:lnTo>
                <a:lnTo>
                  <a:pt x="5" y="99"/>
                </a:lnTo>
                <a:lnTo>
                  <a:pt x="5" y="86"/>
                </a:lnTo>
                <a:lnTo>
                  <a:pt x="7" y="73"/>
                </a:lnTo>
                <a:lnTo>
                  <a:pt x="10" y="59"/>
                </a:lnTo>
                <a:lnTo>
                  <a:pt x="14" y="46"/>
                </a:lnTo>
                <a:lnTo>
                  <a:pt x="17" y="35"/>
                </a:lnTo>
                <a:lnTo>
                  <a:pt x="22" y="23"/>
                </a:lnTo>
                <a:lnTo>
                  <a:pt x="27" y="11"/>
                </a:lnTo>
                <a:lnTo>
                  <a:pt x="33" y="0"/>
                </a:lnTo>
                <a:lnTo>
                  <a:pt x="28"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37" name="Freeform 1342">
            <a:extLst>
              <a:ext uri="{FF2B5EF4-FFF2-40B4-BE49-F238E27FC236}">
                <a16:creationId xmlns:a16="http://schemas.microsoft.com/office/drawing/2014/main" id="{02706801-A90F-21C1-58FC-A4897B62E1A6}"/>
              </a:ext>
            </a:extLst>
          </p:cNvPr>
          <p:cNvSpPr>
            <a:spLocks noEditPoints="1"/>
          </p:cNvSpPr>
          <p:nvPr/>
        </p:nvSpPr>
        <p:spPr bwMode="auto">
          <a:xfrm>
            <a:off x="2608263" y="2403475"/>
            <a:ext cx="614363" cy="315913"/>
          </a:xfrm>
          <a:custGeom>
            <a:avLst/>
            <a:gdLst>
              <a:gd name="T0" fmla="*/ 387 w 387"/>
              <a:gd name="T1" fmla="*/ 86 h 199"/>
              <a:gd name="T2" fmla="*/ 384 w 387"/>
              <a:gd name="T3" fmla="*/ 59 h 199"/>
              <a:gd name="T4" fmla="*/ 376 w 387"/>
              <a:gd name="T5" fmla="*/ 35 h 199"/>
              <a:gd name="T6" fmla="*/ 366 w 387"/>
              <a:gd name="T7" fmla="*/ 11 h 199"/>
              <a:gd name="T8" fmla="*/ 354 w 387"/>
              <a:gd name="T9" fmla="*/ 0 h 199"/>
              <a:gd name="T10" fmla="*/ 366 w 387"/>
              <a:gd name="T11" fmla="*/ 23 h 199"/>
              <a:gd name="T12" fmla="*/ 376 w 387"/>
              <a:gd name="T13" fmla="*/ 46 h 199"/>
              <a:gd name="T14" fmla="*/ 381 w 387"/>
              <a:gd name="T15" fmla="*/ 73 h 199"/>
              <a:gd name="T16" fmla="*/ 382 w 387"/>
              <a:gd name="T17" fmla="*/ 99 h 199"/>
              <a:gd name="T18" fmla="*/ 381 w 387"/>
              <a:gd name="T19" fmla="*/ 126 h 199"/>
              <a:gd name="T20" fmla="*/ 376 w 387"/>
              <a:gd name="T21" fmla="*/ 151 h 199"/>
              <a:gd name="T22" fmla="*/ 367 w 387"/>
              <a:gd name="T23" fmla="*/ 175 h 199"/>
              <a:gd name="T24" fmla="*/ 354 w 387"/>
              <a:gd name="T25" fmla="*/ 197 h 199"/>
              <a:gd name="T26" fmla="*/ 367 w 387"/>
              <a:gd name="T27" fmla="*/ 184 h 199"/>
              <a:gd name="T28" fmla="*/ 377 w 387"/>
              <a:gd name="T29" fmla="*/ 160 h 199"/>
              <a:gd name="T30" fmla="*/ 384 w 387"/>
              <a:gd name="T31" fmla="*/ 137 h 199"/>
              <a:gd name="T32" fmla="*/ 387 w 387"/>
              <a:gd name="T33" fmla="*/ 112 h 199"/>
              <a:gd name="T34" fmla="*/ 26 w 387"/>
              <a:gd name="T35" fmla="*/ 0 h 199"/>
              <a:gd name="T36" fmla="*/ 15 w 387"/>
              <a:gd name="T37" fmla="*/ 23 h 199"/>
              <a:gd name="T38" fmla="*/ 6 w 387"/>
              <a:gd name="T39" fmla="*/ 46 h 199"/>
              <a:gd name="T40" fmla="*/ 1 w 387"/>
              <a:gd name="T41" fmla="*/ 73 h 199"/>
              <a:gd name="T42" fmla="*/ 0 w 387"/>
              <a:gd name="T43" fmla="*/ 99 h 199"/>
              <a:gd name="T44" fmla="*/ 1 w 387"/>
              <a:gd name="T45" fmla="*/ 126 h 199"/>
              <a:gd name="T46" fmla="*/ 6 w 387"/>
              <a:gd name="T47" fmla="*/ 152 h 199"/>
              <a:gd name="T48" fmla="*/ 15 w 387"/>
              <a:gd name="T49" fmla="*/ 175 h 199"/>
              <a:gd name="T50" fmla="*/ 26 w 387"/>
              <a:gd name="T51" fmla="*/ 199 h 199"/>
              <a:gd name="T52" fmla="*/ 26 w 387"/>
              <a:gd name="T53" fmla="*/ 187 h 199"/>
              <a:gd name="T54" fmla="*/ 16 w 387"/>
              <a:gd name="T55" fmla="*/ 164 h 199"/>
              <a:gd name="T56" fmla="*/ 8 w 387"/>
              <a:gd name="T57" fmla="*/ 139 h 199"/>
              <a:gd name="T58" fmla="*/ 5 w 387"/>
              <a:gd name="T59" fmla="*/ 112 h 199"/>
              <a:gd name="T60" fmla="*/ 5 w 387"/>
              <a:gd name="T61" fmla="*/ 86 h 199"/>
              <a:gd name="T62" fmla="*/ 8 w 387"/>
              <a:gd name="T63" fmla="*/ 59 h 199"/>
              <a:gd name="T64" fmla="*/ 16 w 387"/>
              <a:gd name="T65" fmla="*/ 35 h 199"/>
              <a:gd name="T66" fmla="*/ 26 w 387"/>
              <a:gd name="T67" fmla="*/ 11 h 199"/>
              <a:gd name="T68" fmla="*/ 26 w 38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7" h="199">
                <a:moveTo>
                  <a:pt x="387" y="99"/>
                </a:moveTo>
                <a:lnTo>
                  <a:pt x="387" y="86"/>
                </a:lnTo>
                <a:lnTo>
                  <a:pt x="386" y="73"/>
                </a:lnTo>
                <a:lnTo>
                  <a:pt x="384" y="59"/>
                </a:lnTo>
                <a:lnTo>
                  <a:pt x="381" y="46"/>
                </a:lnTo>
                <a:lnTo>
                  <a:pt x="376" y="35"/>
                </a:lnTo>
                <a:lnTo>
                  <a:pt x="371" y="23"/>
                </a:lnTo>
                <a:lnTo>
                  <a:pt x="366" y="11"/>
                </a:lnTo>
                <a:lnTo>
                  <a:pt x="359" y="0"/>
                </a:lnTo>
                <a:lnTo>
                  <a:pt x="354" y="0"/>
                </a:lnTo>
                <a:lnTo>
                  <a:pt x="361" y="11"/>
                </a:lnTo>
                <a:lnTo>
                  <a:pt x="366" y="23"/>
                </a:lnTo>
                <a:lnTo>
                  <a:pt x="371" y="35"/>
                </a:lnTo>
                <a:lnTo>
                  <a:pt x="376" y="46"/>
                </a:lnTo>
                <a:lnTo>
                  <a:pt x="379" y="59"/>
                </a:lnTo>
                <a:lnTo>
                  <a:pt x="381" y="73"/>
                </a:lnTo>
                <a:lnTo>
                  <a:pt x="382" y="86"/>
                </a:lnTo>
                <a:lnTo>
                  <a:pt x="382" y="99"/>
                </a:lnTo>
                <a:lnTo>
                  <a:pt x="382" y="112"/>
                </a:lnTo>
                <a:lnTo>
                  <a:pt x="381" y="126"/>
                </a:lnTo>
                <a:lnTo>
                  <a:pt x="379" y="139"/>
                </a:lnTo>
                <a:lnTo>
                  <a:pt x="376" y="151"/>
                </a:lnTo>
                <a:lnTo>
                  <a:pt x="371" y="164"/>
                </a:lnTo>
                <a:lnTo>
                  <a:pt x="367" y="175"/>
                </a:lnTo>
                <a:lnTo>
                  <a:pt x="361" y="187"/>
                </a:lnTo>
                <a:lnTo>
                  <a:pt x="354" y="197"/>
                </a:lnTo>
                <a:lnTo>
                  <a:pt x="362" y="194"/>
                </a:lnTo>
                <a:lnTo>
                  <a:pt x="367" y="184"/>
                </a:lnTo>
                <a:lnTo>
                  <a:pt x="372" y="172"/>
                </a:lnTo>
                <a:lnTo>
                  <a:pt x="377" y="160"/>
                </a:lnTo>
                <a:lnTo>
                  <a:pt x="381" y="149"/>
                </a:lnTo>
                <a:lnTo>
                  <a:pt x="384" y="137"/>
                </a:lnTo>
                <a:lnTo>
                  <a:pt x="386" y="124"/>
                </a:lnTo>
                <a:lnTo>
                  <a:pt x="387" y="112"/>
                </a:lnTo>
                <a:lnTo>
                  <a:pt x="387" y="99"/>
                </a:lnTo>
                <a:close/>
                <a:moveTo>
                  <a:pt x="26" y="0"/>
                </a:moveTo>
                <a:lnTo>
                  <a:pt x="21" y="11"/>
                </a:lnTo>
                <a:lnTo>
                  <a:pt x="15" y="23"/>
                </a:lnTo>
                <a:lnTo>
                  <a:pt x="10" y="35"/>
                </a:lnTo>
                <a:lnTo>
                  <a:pt x="6" y="46"/>
                </a:lnTo>
                <a:lnTo>
                  <a:pt x="3" y="59"/>
                </a:lnTo>
                <a:lnTo>
                  <a:pt x="1" y="73"/>
                </a:lnTo>
                <a:lnTo>
                  <a:pt x="0" y="86"/>
                </a:lnTo>
                <a:lnTo>
                  <a:pt x="0" y="99"/>
                </a:lnTo>
                <a:lnTo>
                  <a:pt x="0" y="112"/>
                </a:lnTo>
                <a:lnTo>
                  <a:pt x="1" y="126"/>
                </a:lnTo>
                <a:lnTo>
                  <a:pt x="3" y="139"/>
                </a:lnTo>
                <a:lnTo>
                  <a:pt x="6" y="152"/>
                </a:lnTo>
                <a:lnTo>
                  <a:pt x="10" y="164"/>
                </a:lnTo>
                <a:lnTo>
                  <a:pt x="15" y="175"/>
                </a:lnTo>
                <a:lnTo>
                  <a:pt x="21" y="187"/>
                </a:lnTo>
                <a:lnTo>
                  <a:pt x="26" y="199"/>
                </a:lnTo>
                <a:lnTo>
                  <a:pt x="33" y="199"/>
                </a:lnTo>
                <a:lnTo>
                  <a:pt x="26" y="187"/>
                </a:lnTo>
                <a:lnTo>
                  <a:pt x="20" y="175"/>
                </a:lnTo>
                <a:lnTo>
                  <a:pt x="16" y="164"/>
                </a:lnTo>
                <a:lnTo>
                  <a:pt x="11" y="152"/>
                </a:lnTo>
                <a:lnTo>
                  <a:pt x="8" y="139"/>
                </a:lnTo>
                <a:lnTo>
                  <a:pt x="6" y="126"/>
                </a:lnTo>
                <a:lnTo>
                  <a:pt x="5" y="112"/>
                </a:lnTo>
                <a:lnTo>
                  <a:pt x="5" y="99"/>
                </a:lnTo>
                <a:lnTo>
                  <a:pt x="5" y="86"/>
                </a:lnTo>
                <a:lnTo>
                  <a:pt x="6" y="73"/>
                </a:lnTo>
                <a:lnTo>
                  <a:pt x="8" y="59"/>
                </a:lnTo>
                <a:lnTo>
                  <a:pt x="11" y="46"/>
                </a:lnTo>
                <a:lnTo>
                  <a:pt x="16" y="35"/>
                </a:lnTo>
                <a:lnTo>
                  <a:pt x="20" y="23"/>
                </a:lnTo>
                <a:lnTo>
                  <a:pt x="26" y="11"/>
                </a:lnTo>
                <a:lnTo>
                  <a:pt x="33" y="0"/>
                </a:lnTo>
                <a:lnTo>
                  <a:pt x="26"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38" name="Freeform 1343">
            <a:extLst>
              <a:ext uri="{FF2B5EF4-FFF2-40B4-BE49-F238E27FC236}">
                <a16:creationId xmlns:a16="http://schemas.microsoft.com/office/drawing/2014/main" id="{7C57A302-5DE0-8AB1-2711-133082AFBAA5}"/>
              </a:ext>
            </a:extLst>
          </p:cNvPr>
          <p:cNvSpPr>
            <a:spLocks noEditPoints="1"/>
          </p:cNvSpPr>
          <p:nvPr/>
        </p:nvSpPr>
        <p:spPr bwMode="auto">
          <a:xfrm>
            <a:off x="2609850" y="2403475"/>
            <a:ext cx="611188" cy="315913"/>
          </a:xfrm>
          <a:custGeom>
            <a:avLst/>
            <a:gdLst>
              <a:gd name="T0" fmla="*/ 383 w 385"/>
              <a:gd name="T1" fmla="*/ 86 h 199"/>
              <a:gd name="T2" fmla="*/ 380 w 385"/>
              <a:gd name="T3" fmla="*/ 59 h 199"/>
              <a:gd name="T4" fmla="*/ 373 w 385"/>
              <a:gd name="T5" fmla="*/ 35 h 199"/>
              <a:gd name="T6" fmla="*/ 363 w 385"/>
              <a:gd name="T7" fmla="*/ 11 h 199"/>
              <a:gd name="T8" fmla="*/ 350 w 385"/>
              <a:gd name="T9" fmla="*/ 0 h 199"/>
              <a:gd name="T10" fmla="*/ 363 w 385"/>
              <a:gd name="T11" fmla="*/ 21 h 199"/>
              <a:gd name="T12" fmla="*/ 371 w 385"/>
              <a:gd name="T13" fmla="*/ 46 h 199"/>
              <a:gd name="T14" fmla="*/ 376 w 385"/>
              <a:gd name="T15" fmla="*/ 73 h 199"/>
              <a:gd name="T16" fmla="*/ 380 w 385"/>
              <a:gd name="T17" fmla="*/ 99 h 199"/>
              <a:gd name="T18" fmla="*/ 376 w 385"/>
              <a:gd name="T19" fmla="*/ 126 h 199"/>
              <a:gd name="T20" fmla="*/ 371 w 385"/>
              <a:gd name="T21" fmla="*/ 152 h 199"/>
              <a:gd name="T22" fmla="*/ 363 w 385"/>
              <a:gd name="T23" fmla="*/ 175 h 199"/>
              <a:gd name="T24" fmla="*/ 350 w 385"/>
              <a:gd name="T25" fmla="*/ 199 h 199"/>
              <a:gd name="T26" fmla="*/ 358 w 385"/>
              <a:gd name="T27" fmla="*/ 195 h 199"/>
              <a:gd name="T28" fmla="*/ 368 w 385"/>
              <a:gd name="T29" fmla="*/ 174 h 199"/>
              <a:gd name="T30" fmla="*/ 376 w 385"/>
              <a:gd name="T31" fmla="*/ 151 h 199"/>
              <a:gd name="T32" fmla="*/ 381 w 385"/>
              <a:gd name="T33" fmla="*/ 126 h 199"/>
              <a:gd name="T34" fmla="*/ 385 w 385"/>
              <a:gd name="T35" fmla="*/ 99 h 199"/>
              <a:gd name="T36" fmla="*/ 22 w 385"/>
              <a:gd name="T37" fmla="*/ 11 h 199"/>
              <a:gd name="T38" fmla="*/ 12 w 385"/>
              <a:gd name="T39" fmla="*/ 35 h 199"/>
              <a:gd name="T40" fmla="*/ 5 w 385"/>
              <a:gd name="T41" fmla="*/ 59 h 199"/>
              <a:gd name="T42" fmla="*/ 0 w 385"/>
              <a:gd name="T43" fmla="*/ 86 h 199"/>
              <a:gd name="T44" fmla="*/ 0 w 385"/>
              <a:gd name="T45" fmla="*/ 112 h 199"/>
              <a:gd name="T46" fmla="*/ 5 w 385"/>
              <a:gd name="T47" fmla="*/ 139 h 199"/>
              <a:gd name="T48" fmla="*/ 12 w 385"/>
              <a:gd name="T49" fmla="*/ 164 h 199"/>
              <a:gd name="T50" fmla="*/ 22 w 385"/>
              <a:gd name="T51" fmla="*/ 187 h 199"/>
              <a:gd name="T52" fmla="*/ 33 w 385"/>
              <a:gd name="T53" fmla="*/ 199 h 199"/>
              <a:gd name="T54" fmla="*/ 22 w 385"/>
              <a:gd name="T55" fmla="*/ 175 h 199"/>
              <a:gd name="T56" fmla="*/ 14 w 385"/>
              <a:gd name="T57" fmla="*/ 152 h 199"/>
              <a:gd name="T58" fmla="*/ 7 w 385"/>
              <a:gd name="T59" fmla="*/ 126 h 199"/>
              <a:gd name="T60" fmla="*/ 5 w 385"/>
              <a:gd name="T61" fmla="*/ 99 h 199"/>
              <a:gd name="T62" fmla="*/ 7 w 385"/>
              <a:gd name="T63" fmla="*/ 73 h 199"/>
              <a:gd name="T64" fmla="*/ 14 w 385"/>
              <a:gd name="T65" fmla="*/ 46 h 199"/>
              <a:gd name="T66" fmla="*/ 22 w 385"/>
              <a:gd name="T67" fmla="*/ 21 h 199"/>
              <a:gd name="T68" fmla="*/ 33 w 38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5" h="199">
                <a:moveTo>
                  <a:pt x="385" y="99"/>
                </a:moveTo>
                <a:lnTo>
                  <a:pt x="383" y="86"/>
                </a:lnTo>
                <a:lnTo>
                  <a:pt x="381" y="73"/>
                </a:lnTo>
                <a:lnTo>
                  <a:pt x="380" y="59"/>
                </a:lnTo>
                <a:lnTo>
                  <a:pt x="376" y="46"/>
                </a:lnTo>
                <a:lnTo>
                  <a:pt x="373" y="35"/>
                </a:lnTo>
                <a:lnTo>
                  <a:pt x="368" y="23"/>
                </a:lnTo>
                <a:lnTo>
                  <a:pt x="363" y="11"/>
                </a:lnTo>
                <a:lnTo>
                  <a:pt x="356" y="0"/>
                </a:lnTo>
                <a:lnTo>
                  <a:pt x="350" y="0"/>
                </a:lnTo>
                <a:lnTo>
                  <a:pt x="356" y="11"/>
                </a:lnTo>
                <a:lnTo>
                  <a:pt x="363" y="21"/>
                </a:lnTo>
                <a:lnTo>
                  <a:pt x="368" y="35"/>
                </a:lnTo>
                <a:lnTo>
                  <a:pt x="371" y="46"/>
                </a:lnTo>
                <a:lnTo>
                  <a:pt x="375" y="59"/>
                </a:lnTo>
                <a:lnTo>
                  <a:pt x="376" y="73"/>
                </a:lnTo>
                <a:lnTo>
                  <a:pt x="378" y="86"/>
                </a:lnTo>
                <a:lnTo>
                  <a:pt x="380" y="99"/>
                </a:lnTo>
                <a:lnTo>
                  <a:pt x="378" y="112"/>
                </a:lnTo>
                <a:lnTo>
                  <a:pt x="376" y="126"/>
                </a:lnTo>
                <a:lnTo>
                  <a:pt x="375" y="139"/>
                </a:lnTo>
                <a:lnTo>
                  <a:pt x="371" y="152"/>
                </a:lnTo>
                <a:lnTo>
                  <a:pt x="368" y="164"/>
                </a:lnTo>
                <a:lnTo>
                  <a:pt x="363" y="175"/>
                </a:lnTo>
                <a:lnTo>
                  <a:pt x="356" y="187"/>
                </a:lnTo>
                <a:lnTo>
                  <a:pt x="350" y="199"/>
                </a:lnTo>
                <a:lnTo>
                  <a:pt x="351" y="199"/>
                </a:lnTo>
                <a:lnTo>
                  <a:pt x="358" y="195"/>
                </a:lnTo>
                <a:lnTo>
                  <a:pt x="363" y="185"/>
                </a:lnTo>
                <a:lnTo>
                  <a:pt x="368" y="174"/>
                </a:lnTo>
                <a:lnTo>
                  <a:pt x="373" y="162"/>
                </a:lnTo>
                <a:lnTo>
                  <a:pt x="376" y="151"/>
                </a:lnTo>
                <a:lnTo>
                  <a:pt x="380" y="137"/>
                </a:lnTo>
                <a:lnTo>
                  <a:pt x="381" y="126"/>
                </a:lnTo>
                <a:lnTo>
                  <a:pt x="383" y="112"/>
                </a:lnTo>
                <a:lnTo>
                  <a:pt x="385" y="99"/>
                </a:lnTo>
                <a:close/>
                <a:moveTo>
                  <a:pt x="28" y="0"/>
                </a:moveTo>
                <a:lnTo>
                  <a:pt x="22" y="11"/>
                </a:lnTo>
                <a:lnTo>
                  <a:pt x="17" y="23"/>
                </a:lnTo>
                <a:lnTo>
                  <a:pt x="12" y="35"/>
                </a:lnTo>
                <a:lnTo>
                  <a:pt x="9" y="46"/>
                </a:lnTo>
                <a:lnTo>
                  <a:pt x="5" y="59"/>
                </a:lnTo>
                <a:lnTo>
                  <a:pt x="2" y="73"/>
                </a:lnTo>
                <a:lnTo>
                  <a:pt x="0" y="86"/>
                </a:lnTo>
                <a:lnTo>
                  <a:pt x="0" y="99"/>
                </a:lnTo>
                <a:lnTo>
                  <a:pt x="0" y="112"/>
                </a:lnTo>
                <a:lnTo>
                  <a:pt x="2" y="126"/>
                </a:lnTo>
                <a:lnTo>
                  <a:pt x="5" y="139"/>
                </a:lnTo>
                <a:lnTo>
                  <a:pt x="9" y="152"/>
                </a:lnTo>
                <a:lnTo>
                  <a:pt x="12" y="164"/>
                </a:lnTo>
                <a:lnTo>
                  <a:pt x="17" y="175"/>
                </a:lnTo>
                <a:lnTo>
                  <a:pt x="22" y="187"/>
                </a:lnTo>
                <a:lnTo>
                  <a:pt x="28" y="199"/>
                </a:lnTo>
                <a:lnTo>
                  <a:pt x="33" y="199"/>
                </a:lnTo>
                <a:lnTo>
                  <a:pt x="27" y="187"/>
                </a:lnTo>
                <a:lnTo>
                  <a:pt x="22" y="175"/>
                </a:lnTo>
                <a:lnTo>
                  <a:pt x="17" y="164"/>
                </a:lnTo>
                <a:lnTo>
                  <a:pt x="14" y="152"/>
                </a:lnTo>
                <a:lnTo>
                  <a:pt x="10" y="139"/>
                </a:lnTo>
                <a:lnTo>
                  <a:pt x="7" y="126"/>
                </a:lnTo>
                <a:lnTo>
                  <a:pt x="5" y="112"/>
                </a:lnTo>
                <a:lnTo>
                  <a:pt x="5" y="99"/>
                </a:lnTo>
                <a:lnTo>
                  <a:pt x="5" y="86"/>
                </a:lnTo>
                <a:lnTo>
                  <a:pt x="7" y="73"/>
                </a:lnTo>
                <a:lnTo>
                  <a:pt x="10" y="59"/>
                </a:lnTo>
                <a:lnTo>
                  <a:pt x="14" y="46"/>
                </a:lnTo>
                <a:lnTo>
                  <a:pt x="17" y="35"/>
                </a:lnTo>
                <a:lnTo>
                  <a:pt x="22" y="21"/>
                </a:lnTo>
                <a:lnTo>
                  <a:pt x="27" y="11"/>
                </a:lnTo>
                <a:lnTo>
                  <a:pt x="33" y="0"/>
                </a:lnTo>
                <a:lnTo>
                  <a:pt x="28"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39" name="Freeform 1344">
            <a:extLst>
              <a:ext uri="{FF2B5EF4-FFF2-40B4-BE49-F238E27FC236}">
                <a16:creationId xmlns:a16="http://schemas.microsoft.com/office/drawing/2014/main" id="{816BA5BD-E30D-D67F-DD3D-6B0E6A78C34C}"/>
              </a:ext>
            </a:extLst>
          </p:cNvPr>
          <p:cNvSpPr>
            <a:spLocks noEditPoints="1"/>
          </p:cNvSpPr>
          <p:nvPr/>
        </p:nvSpPr>
        <p:spPr bwMode="auto">
          <a:xfrm>
            <a:off x="2616200" y="2403475"/>
            <a:ext cx="598488" cy="315913"/>
          </a:xfrm>
          <a:custGeom>
            <a:avLst/>
            <a:gdLst>
              <a:gd name="T0" fmla="*/ 377 w 377"/>
              <a:gd name="T1" fmla="*/ 86 h 199"/>
              <a:gd name="T2" fmla="*/ 374 w 377"/>
              <a:gd name="T3" fmla="*/ 59 h 199"/>
              <a:gd name="T4" fmla="*/ 366 w 377"/>
              <a:gd name="T5" fmla="*/ 35 h 199"/>
              <a:gd name="T6" fmla="*/ 356 w 377"/>
              <a:gd name="T7" fmla="*/ 11 h 199"/>
              <a:gd name="T8" fmla="*/ 344 w 377"/>
              <a:gd name="T9" fmla="*/ 0 h 199"/>
              <a:gd name="T10" fmla="*/ 356 w 377"/>
              <a:gd name="T11" fmla="*/ 21 h 199"/>
              <a:gd name="T12" fmla="*/ 366 w 377"/>
              <a:gd name="T13" fmla="*/ 46 h 199"/>
              <a:gd name="T14" fmla="*/ 371 w 377"/>
              <a:gd name="T15" fmla="*/ 73 h 199"/>
              <a:gd name="T16" fmla="*/ 372 w 377"/>
              <a:gd name="T17" fmla="*/ 99 h 199"/>
              <a:gd name="T18" fmla="*/ 371 w 377"/>
              <a:gd name="T19" fmla="*/ 126 h 199"/>
              <a:gd name="T20" fmla="*/ 366 w 377"/>
              <a:gd name="T21" fmla="*/ 152 h 199"/>
              <a:gd name="T22" fmla="*/ 356 w 377"/>
              <a:gd name="T23" fmla="*/ 175 h 199"/>
              <a:gd name="T24" fmla="*/ 344 w 377"/>
              <a:gd name="T25" fmla="*/ 199 h 199"/>
              <a:gd name="T26" fmla="*/ 349 w 377"/>
              <a:gd name="T27" fmla="*/ 197 h 199"/>
              <a:gd name="T28" fmla="*/ 362 w 377"/>
              <a:gd name="T29" fmla="*/ 175 h 199"/>
              <a:gd name="T30" fmla="*/ 371 w 377"/>
              <a:gd name="T31" fmla="*/ 151 h 199"/>
              <a:gd name="T32" fmla="*/ 376 w 377"/>
              <a:gd name="T33" fmla="*/ 126 h 199"/>
              <a:gd name="T34" fmla="*/ 377 w 377"/>
              <a:gd name="T35" fmla="*/ 99 h 199"/>
              <a:gd name="T36" fmla="*/ 21 w 377"/>
              <a:gd name="T37" fmla="*/ 11 h 199"/>
              <a:gd name="T38" fmla="*/ 11 w 377"/>
              <a:gd name="T39" fmla="*/ 35 h 199"/>
              <a:gd name="T40" fmla="*/ 3 w 377"/>
              <a:gd name="T41" fmla="*/ 59 h 199"/>
              <a:gd name="T42" fmla="*/ 0 w 377"/>
              <a:gd name="T43" fmla="*/ 86 h 199"/>
              <a:gd name="T44" fmla="*/ 0 w 377"/>
              <a:gd name="T45" fmla="*/ 112 h 199"/>
              <a:gd name="T46" fmla="*/ 3 w 377"/>
              <a:gd name="T47" fmla="*/ 139 h 199"/>
              <a:gd name="T48" fmla="*/ 11 w 377"/>
              <a:gd name="T49" fmla="*/ 164 h 199"/>
              <a:gd name="T50" fmla="*/ 21 w 377"/>
              <a:gd name="T51" fmla="*/ 187 h 199"/>
              <a:gd name="T52" fmla="*/ 33 w 377"/>
              <a:gd name="T53" fmla="*/ 199 h 199"/>
              <a:gd name="T54" fmla="*/ 21 w 377"/>
              <a:gd name="T55" fmla="*/ 175 h 199"/>
              <a:gd name="T56" fmla="*/ 11 w 377"/>
              <a:gd name="T57" fmla="*/ 152 h 199"/>
              <a:gd name="T58" fmla="*/ 6 w 377"/>
              <a:gd name="T59" fmla="*/ 126 h 199"/>
              <a:gd name="T60" fmla="*/ 5 w 377"/>
              <a:gd name="T61" fmla="*/ 99 h 199"/>
              <a:gd name="T62" fmla="*/ 6 w 377"/>
              <a:gd name="T63" fmla="*/ 73 h 199"/>
              <a:gd name="T64" fmla="*/ 11 w 377"/>
              <a:gd name="T65" fmla="*/ 46 h 199"/>
              <a:gd name="T66" fmla="*/ 21 w 377"/>
              <a:gd name="T67" fmla="*/ 21 h 199"/>
              <a:gd name="T68" fmla="*/ 33 w 37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7" h="199">
                <a:moveTo>
                  <a:pt x="377" y="99"/>
                </a:moveTo>
                <a:lnTo>
                  <a:pt x="377" y="86"/>
                </a:lnTo>
                <a:lnTo>
                  <a:pt x="376" y="73"/>
                </a:lnTo>
                <a:lnTo>
                  <a:pt x="374" y="59"/>
                </a:lnTo>
                <a:lnTo>
                  <a:pt x="371" y="46"/>
                </a:lnTo>
                <a:lnTo>
                  <a:pt x="366" y="35"/>
                </a:lnTo>
                <a:lnTo>
                  <a:pt x="361" y="23"/>
                </a:lnTo>
                <a:lnTo>
                  <a:pt x="356" y="11"/>
                </a:lnTo>
                <a:lnTo>
                  <a:pt x="349" y="0"/>
                </a:lnTo>
                <a:lnTo>
                  <a:pt x="344" y="0"/>
                </a:lnTo>
                <a:lnTo>
                  <a:pt x="351" y="11"/>
                </a:lnTo>
                <a:lnTo>
                  <a:pt x="356" y="21"/>
                </a:lnTo>
                <a:lnTo>
                  <a:pt x="361" y="35"/>
                </a:lnTo>
                <a:lnTo>
                  <a:pt x="366" y="46"/>
                </a:lnTo>
                <a:lnTo>
                  <a:pt x="369" y="59"/>
                </a:lnTo>
                <a:lnTo>
                  <a:pt x="371" y="73"/>
                </a:lnTo>
                <a:lnTo>
                  <a:pt x="372" y="86"/>
                </a:lnTo>
                <a:lnTo>
                  <a:pt x="372" y="99"/>
                </a:lnTo>
                <a:lnTo>
                  <a:pt x="372" y="112"/>
                </a:lnTo>
                <a:lnTo>
                  <a:pt x="371" y="126"/>
                </a:lnTo>
                <a:lnTo>
                  <a:pt x="369" y="139"/>
                </a:lnTo>
                <a:lnTo>
                  <a:pt x="366" y="152"/>
                </a:lnTo>
                <a:lnTo>
                  <a:pt x="361" y="164"/>
                </a:lnTo>
                <a:lnTo>
                  <a:pt x="356" y="175"/>
                </a:lnTo>
                <a:lnTo>
                  <a:pt x="351" y="187"/>
                </a:lnTo>
                <a:lnTo>
                  <a:pt x="344" y="199"/>
                </a:lnTo>
                <a:lnTo>
                  <a:pt x="347" y="199"/>
                </a:lnTo>
                <a:lnTo>
                  <a:pt x="349" y="197"/>
                </a:lnTo>
                <a:lnTo>
                  <a:pt x="356" y="187"/>
                </a:lnTo>
                <a:lnTo>
                  <a:pt x="362" y="175"/>
                </a:lnTo>
                <a:lnTo>
                  <a:pt x="366" y="164"/>
                </a:lnTo>
                <a:lnTo>
                  <a:pt x="371" y="151"/>
                </a:lnTo>
                <a:lnTo>
                  <a:pt x="374" y="139"/>
                </a:lnTo>
                <a:lnTo>
                  <a:pt x="376" y="126"/>
                </a:lnTo>
                <a:lnTo>
                  <a:pt x="377" y="112"/>
                </a:lnTo>
                <a:lnTo>
                  <a:pt x="377" y="99"/>
                </a:lnTo>
                <a:close/>
                <a:moveTo>
                  <a:pt x="28" y="0"/>
                </a:moveTo>
                <a:lnTo>
                  <a:pt x="21" y="11"/>
                </a:lnTo>
                <a:lnTo>
                  <a:pt x="15" y="23"/>
                </a:lnTo>
                <a:lnTo>
                  <a:pt x="11" y="35"/>
                </a:lnTo>
                <a:lnTo>
                  <a:pt x="6" y="46"/>
                </a:lnTo>
                <a:lnTo>
                  <a:pt x="3" y="59"/>
                </a:lnTo>
                <a:lnTo>
                  <a:pt x="1" y="73"/>
                </a:lnTo>
                <a:lnTo>
                  <a:pt x="0" y="86"/>
                </a:lnTo>
                <a:lnTo>
                  <a:pt x="0" y="99"/>
                </a:lnTo>
                <a:lnTo>
                  <a:pt x="0" y="112"/>
                </a:lnTo>
                <a:lnTo>
                  <a:pt x="1" y="126"/>
                </a:lnTo>
                <a:lnTo>
                  <a:pt x="3" y="139"/>
                </a:lnTo>
                <a:lnTo>
                  <a:pt x="6" y="152"/>
                </a:lnTo>
                <a:lnTo>
                  <a:pt x="11" y="164"/>
                </a:lnTo>
                <a:lnTo>
                  <a:pt x="15" y="175"/>
                </a:lnTo>
                <a:lnTo>
                  <a:pt x="21" y="187"/>
                </a:lnTo>
                <a:lnTo>
                  <a:pt x="28" y="199"/>
                </a:lnTo>
                <a:lnTo>
                  <a:pt x="33" y="199"/>
                </a:lnTo>
                <a:lnTo>
                  <a:pt x="26" y="187"/>
                </a:lnTo>
                <a:lnTo>
                  <a:pt x="21" y="175"/>
                </a:lnTo>
                <a:lnTo>
                  <a:pt x="16" y="164"/>
                </a:lnTo>
                <a:lnTo>
                  <a:pt x="11" y="152"/>
                </a:lnTo>
                <a:lnTo>
                  <a:pt x="8" y="139"/>
                </a:lnTo>
                <a:lnTo>
                  <a:pt x="6" y="126"/>
                </a:lnTo>
                <a:lnTo>
                  <a:pt x="5" y="112"/>
                </a:lnTo>
                <a:lnTo>
                  <a:pt x="5" y="99"/>
                </a:lnTo>
                <a:lnTo>
                  <a:pt x="5" y="86"/>
                </a:lnTo>
                <a:lnTo>
                  <a:pt x="6" y="73"/>
                </a:lnTo>
                <a:lnTo>
                  <a:pt x="8" y="59"/>
                </a:lnTo>
                <a:lnTo>
                  <a:pt x="11" y="46"/>
                </a:lnTo>
                <a:lnTo>
                  <a:pt x="16" y="35"/>
                </a:lnTo>
                <a:lnTo>
                  <a:pt x="21" y="21"/>
                </a:lnTo>
                <a:lnTo>
                  <a:pt x="26" y="11"/>
                </a:lnTo>
                <a:lnTo>
                  <a:pt x="33" y="0"/>
                </a:lnTo>
                <a:lnTo>
                  <a:pt x="28"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40" name="Freeform 1345">
            <a:extLst>
              <a:ext uri="{FF2B5EF4-FFF2-40B4-BE49-F238E27FC236}">
                <a16:creationId xmlns:a16="http://schemas.microsoft.com/office/drawing/2014/main" id="{274A1AE2-5B0B-8EDF-867C-67C08CC06577}"/>
              </a:ext>
            </a:extLst>
          </p:cNvPr>
          <p:cNvSpPr>
            <a:spLocks noEditPoints="1"/>
          </p:cNvSpPr>
          <p:nvPr/>
        </p:nvSpPr>
        <p:spPr bwMode="auto">
          <a:xfrm>
            <a:off x="2617788" y="2403475"/>
            <a:ext cx="595313" cy="315913"/>
          </a:xfrm>
          <a:custGeom>
            <a:avLst/>
            <a:gdLst>
              <a:gd name="T0" fmla="*/ 373 w 375"/>
              <a:gd name="T1" fmla="*/ 86 h 199"/>
              <a:gd name="T2" fmla="*/ 370 w 375"/>
              <a:gd name="T3" fmla="*/ 59 h 199"/>
              <a:gd name="T4" fmla="*/ 363 w 375"/>
              <a:gd name="T5" fmla="*/ 35 h 199"/>
              <a:gd name="T6" fmla="*/ 351 w 375"/>
              <a:gd name="T7" fmla="*/ 11 h 199"/>
              <a:gd name="T8" fmla="*/ 340 w 375"/>
              <a:gd name="T9" fmla="*/ 0 h 199"/>
              <a:gd name="T10" fmla="*/ 351 w 375"/>
              <a:gd name="T11" fmla="*/ 21 h 199"/>
              <a:gd name="T12" fmla="*/ 361 w 375"/>
              <a:gd name="T13" fmla="*/ 46 h 199"/>
              <a:gd name="T14" fmla="*/ 368 w 375"/>
              <a:gd name="T15" fmla="*/ 73 h 199"/>
              <a:gd name="T16" fmla="*/ 370 w 375"/>
              <a:gd name="T17" fmla="*/ 99 h 199"/>
              <a:gd name="T18" fmla="*/ 368 w 375"/>
              <a:gd name="T19" fmla="*/ 126 h 199"/>
              <a:gd name="T20" fmla="*/ 361 w 375"/>
              <a:gd name="T21" fmla="*/ 152 h 199"/>
              <a:gd name="T22" fmla="*/ 351 w 375"/>
              <a:gd name="T23" fmla="*/ 175 h 199"/>
              <a:gd name="T24" fmla="*/ 340 w 375"/>
              <a:gd name="T25" fmla="*/ 199 h 199"/>
              <a:gd name="T26" fmla="*/ 351 w 375"/>
              <a:gd name="T27" fmla="*/ 187 h 199"/>
              <a:gd name="T28" fmla="*/ 363 w 375"/>
              <a:gd name="T29" fmla="*/ 164 h 199"/>
              <a:gd name="T30" fmla="*/ 370 w 375"/>
              <a:gd name="T31" fmla="*/ 139 h 199"/>
              <a:gd name="T32" fmla="*/ 373 w 375"/>
              <a:gd name="T33" fmla="*/ 112 h 199"/>
              <a:gd name="T34" fmla="*/ 28 w 375"/>
              <a:gd name="T35" fmla="*/ 0 h 199"/>
              <a:gd name="T36" fmla="*/ 17 w 375"/>
              <a:gd name="T37" fmla="*/ 21 h 199"/>
              <a:gd name="T38" fmla="*/ 9 w 375"/>
              <a:gd name="T39" fmla="*/ 46 h 199"/>
              <a:gd name="T40" fmla="*/ 2 w 375"/>
              <a:gd name="T41" fmla="*/ 73 h 199"/>
              <a:gd name="T42" fmla="*/ 0 w 375"/>
              <a:gd name="T43" fmla="*/ 99 h 199"/>
              <a:gd name="T44" fmla="*/ 2 w 375"/>
              <a:gd name="T45" fmla="*/ 126 h 199"/>
              <a:gd name="T46" fmla="*/ 9 w 375"/>
              <a:gd name="T47" fmla="*/ 152 h 199"/>
              <a:gd name="T48" fmla="*/ 17 w 375"/>
              <a:gd name="T49" fmla="*/ 175 h 199"/>
              <a:gd name="T50" fmla="*/ 28 w 375"/>
              <a:gd name="T51" fmla="*/ 199 h 199"/>
              <a:gd name="T52" fmla="*/ 28 w 375"/>
              <a:gd name="T53" fmla="*/ 187 h 199"/>
              <a:gd name="T54" fmla="*/ 17 w 375"/>
              <a:gd name="T55" fmla="*/ 164 h 199"/>
              <a:gd name="T56" fmla="*/ 10 w 375"/>
              <a:gd name="T57" fmla="*/ 139 h 199"/>
              <a:gd name="T58" fmla="*/ 5 w 375"/>
              <a:gd name="T59" fmla="*/ 112 h 199"/>
              <a:gd name="T60" fmla="*/ 5 w 375"/>
              <a:gd name="T61" fmla="*/ 86 h 199"/>
              <a:gd name="T62" fmla="*/ 10 w 375"/>
              <a:gd name="T63" fmla="*/ 59 h 199"/>
              <a:gd name="T64" fmla="*/ 17 w 375"/>
              <a:gd name="T65" fmla="*/ 35 h 199"/>
              <a:gd name="T66" fmla="*/ 28 w 375"/>
              <a:gd name="T67" fmla="*/ 10 h 199"/>
              <a:gd name="T68" fmla="*/ 28 w 37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5" h="199">
                <a:moveTo>
                  <a:pt x="375" y="99"/>
                </a:moveTo>
                <a:lnTo>
                  <a:pt x="373" y="86"/>
                </a:lnTo>
                <a:lnTo>
                  <a:pt x="371" y="73"/>
                </a:lnTo>
                <a:lnTo>
                  <a:pt x="370" y="59"/>
                </a:lnTo>
                <a:lnTo>
                  <a:pt x="366" y="46"/>
                </a:lnTo>
                <a:lnTo>
                  <a:pt x="363" y="35"/>
                </a:lnTo>
                <a:lnTo>
                  <a:pt x="358" y="21"/>
                </a:lnTo>
                <a:lnTo>
                  <a:pt x="351" y="11"/>
                </a:lnTo>
                <a:lnTo>
                  <a:pt x="345" y="0"/>
                </a:lnTo>
                <a:lnTo>
                  <a:pt x="340" y="0"/>
                </a:lnTo>
                <a:lnTo>
                  <a:pt x="346" y="10"/>
                </a:lnTo>
                <a:lnTo>
                  <a:pt x="351" y="21"/>
                </a:lnTo>
                <a:lnTo>
                  <a:pt x="358" y="35"/>
                </a:lnTo>
                <a:lnTo>
                  <a:pt x="361" y="46"/>
                </a:lnTo>
                <a:lnTo>
                  <a:pt x="365" y="59"/>
                </a:lnTo>
                <a:lnTo>
                  <a:pt x="368" y="73"/>
                </a:lnTo>
                <a:lnTo>
                  <a:pt x="368" y="86"/>
                </a:lnTo>
                <a:lnTo>
                  <a:pt x="370" y="99"/>
                </a:lnTo>
                <a:lnTo>
                  <a:pt x="368" y="112"/>
                </a:lnTo>
                <a:lnTo>
                  <a:pt x="368" y="126"/>
                </a:lnTo>
                <a:lnTo>
                  <a:pt x="365" y="139"/>
                </a:lnTo>
                <a:lnTo>
                  <a:pt x="361" y="152"/>
                </a:lnTo>
                <a:lnTo>
                  <a:pt x="358" y="164"/>
                </a:lnTo>
                <a:lnTo>
                  <a:pt x="351" y="175"/>
                </a:lnTo>
                <a:lnTo>
                  <a:pt x="346" y="187"/>
                </a:lnTo>
                <a:lnTo>
                  <a:pt x="340" y="199"/>
                </a:lnTo>
                <a:lnTo>
                  <a:pt x="345" y="199"/>
                </a:lnTo>
                <a:lnTo>
                  <a:pt x="351" y="187"/>
                </a:lnTo>
                <a:lnTo>
                  <a:pt x="358" y="175"/>
                </a:lnTo>
                <a:lnTo>
                  <a:pt x="363" y="164"/>
                </a:lnTo>
                <a:lnTo>
                  <a:pt x="366" y="152"/>
                </a:lnTo>
                <a:lnTo>
                  <a:pt x="370" y="139"/>
                </a:lnTo>
                <a:lnTo>
                  <a:pt x="371" y="126"/>
                </a:lnTo>
                <a:lnTo>
                  <a:pt x="373" y="112"/>
                </a:lnTo>
                <a:lnTo>
                  <a:pt x="375" y="99"/>
                </a:lnTo>
                <a:close/>
                <a:moveTo>
                  <a:pt x="28" y="0"/>
                </a:moveTo>
                <a:lnTo>
                  <a:pt x="22" y="11"/>
                </a:lnTo>
                <a:lnTo>
                  <a:pt x="17" y="21"/>
                </a:lnTo>
                <a:lnTo>
                  <a:pt x="12" y="35"/>
                </a:lnTo>
                <a:lnTo>
                  <a:pt x="9" y="46"/>
                </a:lnTo>
                <a:lnTo>
                  <a:pt x="5" y="59"/>
                </a:lnTo>
                <a:lnTo>
                  <a:pt x="2" y="73"/>
                </a:lnTo>
                <a:lnTo>
                  <a:pt x="0" y="86"/>
                </a:lnTo>
                <a:lnTo>
                  <a:pt x="0" y="99"/>
                </a:lnTo>
                <a:lnTo>
                  <a:pt x="0" y="112"/>
                </a:lnTo>
                <a:lnTo>
                  <a:pt x="2" y="126"/>
                </a:lnTo>
                <a:lnTo>
                  <a:pt x="5" y="139"/>
                </a:lnTo>
                <a:lnTo>
                  <a:pt x="9" y="152"/>
                </a:lnTo>
                <a:lnTo>
                  <a:pt x="12" y="164"/>
                </a:lnTo>
                <a:lnTo>
                  <a:pt x="17" y="175"/>
                </a:lnTo>
                <a:lnTo>
                  <a:pt x="22" y="187"/>
                </a:lnTo>
                <a:lnTo>
                  <a:pt x="28" y="199"/>
                </a:lnTo>
                <a:lnTo>
                  <a:pt x="35" y="199"/>
                </a:lnTo>
                <a:lnTo>
                  <a:pt x="28" y="187"/>
                </a:lnTo>
                <a:lnTo>
                  <a:pt x="22" y="175"/>
                </a:lnTo>
                <a:lnTo>
                  <a:pt x="17" y="164"/>
                </a:lnTo>
                <a:lnTo>
                  <a:pt x="14" y="152"/>
                </a:lnTo>
                <a:lnTo>
                  <a:pt x="10" y="139"/>
                </a:lnTo>
                <a:lnTo>
                  <a:pt x="7" y="126"/>
                </a:lnTo>
                <a:lnTo>
                  <a:pt x="5" y="112"/>
                </a:lnTo>
                <a:lnTo>
                  <a:pt x="5" y="99"/>
                </a:lnTo>
                <a:lnTo>
                  <a:pt x="5" y="86"/>
                </a:lnTo>
                <a:lnTo>
                  <a:pt x="7" y="73"/>
                </a:lnTo>
                <a:lnTo>
                  <a:pt x="10" y="59"/>
                </a:lnTo>
                <a:lnTo>
                  <a:pt x="14" y="46"/>
                </a:lnTo>
                <a:lnTo>
                  <a:pt x="17" y="35"/>
                </a:lnTo>
                <a:lnTo>
                  <a:pt x="22" y="21"/>
                </a:lnTo>
                <a:lnTo>
                  <a:pt x="28" y="10"/>
                </a:lnTo>
                <a:lnTo>
                  <a:pt x="35" y="0"/>
                </a:lnTo>
                <a:lnTo>
                  <a:pt x="28"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41" name="Freeform 1346">
            <a:extLst>
              <a:ext uri="{FF2B5EF4-FFF2-40B4-BE49-F238E27FC236}">
                <a16:creationId xmlns:a16="http://schemas.microsoft.com/office/drawing/2014/main" id="{BEC639D2-E173-3E6D-C6AC-1A863212104E}"/>
              </a:ext>
            </a:extLst>
          </p:cNvPr>
          <p:cNvSpPr>
            <a:spLocks noEditPoints="1"/>
          </p:cNvSpPr>
          <p:nvPr/>
        </p:nvSpPr>
        <p:spPr bwMode="auto">
          <a:xfrm>
            <a:off x="2624138" y="2403475"/>
            <a:ext cx="582613" cy="315913"/>
          </a:xfrm>
          <a:custGeom>
            <a:avLst/>
            <a:gdLst>
              <a:gd name="T0" fmla="*/ 367 w 367"/>
              <a:gd name="T1" fmla="*/ 86 h 199"/>
              <a:gd name="T2" fmla="*/ 364 w 367"/>
              <a:gd name="T3" fmla="*/ 59 h 199"/>
              <a:gd name="T4" fmla="*/ 356 w 367"/>
              <a:gd name="T5" fmla="*/ 35 h 199"/>
              <a:gd name="T6" fmla="*/ 346 w 367"/>
              <a:gd name="T7" fmla="*/ 11 h 199"/>
              <a:gd name="T8" fmla="*/ 332 w 367"/>
              <a:gd name="T9" fmla="*/ 0 h 199"/>
              <a:gd name="T10" fmla="*/ 346 w 367"/>
              <a:gd name="T11" fmla="*/ 21 h 199"/>
              <a:gd name="T12" fmla="*/ 356 w 367"/>
              <a:gd name="T13" fmla="*/ 46 h 199"/>
              <a:gd name="T14" fmla="*/ 361 w 367"/>
              <a:gd name="T15" fmla="*/ 73 h 199"/>
              <a:gd name="T16" fmla="*/ 362 w 367"/>
              <a:gd name="T17" fmla="*/ 99 h 199"/>
              <a:gd name="T18" fmla="*/ 361 w 367"/>
              <a:gd name="T19" fmla="*/ 126 h 199"/>
              <a:gd name="T20" fmla="*/ 356 w 367"/>
              <a:gd name="T21" fmla="*/ 152 h 199"/>
              <a:gd name="T22" fmla="*/ 346 w 367"/>
              <a:gd name="T23" fmla="*/ 175 h 199"/>
              <a:gd name="T24" fmla="*/ 332 w 367"/>
              <a:gd name="T25" fmla="*/ 199 h 199"/>
              <a:gd name="T26" fmla="*/ 346 w 367"/>
              <a:gd name="T27" fmla="*/ 187 h 199"/>
              <a:gd name="T28" fmla="*/ 356 w 367"/>
              <a:gd name="T29" fmla="*/ 164 h 199"/>
              <a:gd name="T30" fmla="*/ 364 w 367"/>
              <a:gd name="T31" fmla="*/ 139 h 199"/>
              <a:gd name="T32" fmla="*/ 367 w 367"/>
              <a:gd name="T33" fmla="*/ 112 h 199"/>
              <a:gd name="T34" fmla="*/ 28 w 367"/>
              <a:gd name="T35" fmla="*/ 0 h 199"/>
              <a:gd name="T36" fmla="*/ 16 w 367"/>
              <a:gd name="T37" fmla="*/ 21 h 199"/>
              <a:gd name="T38" fmla="*/ 6 w 367"/>
              <a:gd name="T39" fmla="*/ 46 h 199"/>
              <a:gd name="T40" fmla="*/ 1 w 367"/>
              <a:gd name="T41" fmla="*/ 73 h 199"/>
              <a:gd name="T42" fmla="*/ 0 w 367"/>
              <a:gd name="T43" fmla="*/ 99 h 199"/>
              <a:gd name="T44" fmla="*/ 1 w 367"/>
              <a:gd name="T45" fmla="*/ 126 h 199"/>
              <a:gd name="T46" fmla="*/ 6 w 367"/>
              <a:gd name="T47" fmla="*/ 152 h 199"/>
              <a:gd name="T48" fmla="*/ 16 w 367"/>
              <a:gd name="T49" fmla="*/ 175 h 199"/>
              <a:gd name="T50" fmla="*/ 28 w 367"/>
              <a:gd name="T51" fmla="*/ 199 h 199"/>
              <a:gd name="T52" fmla="*/ 26 w 367"/>
              <a:gd name="T53" fmla="*/ 187 h 199"/>
              <a:gd name="T54" fmla="*/ 16 w 367"/>
              <a:gd name="T55" fmla="*/ 164 h 199"/>
              <a:gd name="T56" fmla="*/ 8 w 367"/>
              <a:gd name="T57" fmla="*/ 139 h 199"/>
              <a:gd name="T58" fmla="*/ 5 w 367"/>
              <a:gd name="T59" fmla="*/ 112 h 199"/>
              <a:gd name="T60" fmla="*/ 5 w 367"/>
              <a:gd name="T61" fmla="*/ 86 h 199"/>
              <a:gd name="T62" fmla="*/ 8 w 367"/>
              <a:gd name="T63" fmla="*/ 59 h 199"/>
              <a:gd name="T64" fmla="*/ 16 w 367"/>
              <a:gd name="T65" fmla="*/ 35 h 199"/>
              <a:gd name="T66" fmla="*/ 26 w 367"/>
              <a:gd name="T67" fmla="*/ 10 h 199"/>
              <a:gd name="T68" fmla="*/ 28 w 36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7" h="199">
                <a:moveTo>
                  <a:pt x="367" y="99"/>
                </a:moveTo>
                <a:lnTo>
                  <a:pt x="367" y="86"/>
                </a:lnTo>
                <a:lnTo>
                  <a:pt x="366" y="73"/>
                </a:lnTo>
                <a:lnTo>
                  <a:pt x="364" y="59"/>
                </a:lnTo>
                <a:lnTo>
                  <a:pt x="361" y="46"/>
                </a:lnTo>
                <a:lnTo>
                  <a:pt x="356" y="35"/>
                </a:lnTo>
                <a:lnTo>
                  <a:pt x="351" y="21"/>
                </a:lnTo>
                <a:lnTo>
                  <a:pt x="346" y="11"/>
                </a:lnTo>
                <a:lnTo>
                  <a:pt x="339" y="0"/>
                </a:lnTo>
                <a:lnTo>
                  <a:pt x="332" y="0"/>
                </a:lnTo>
                <a:lnTo>
                  <a:pt x="339" y="10"/>
                </a:lnTo>
                <a:lnTo>
                  <a:pt x="346" y="21"/>
                </a:lnTo>
                <a:lnTo>
                  <a:pt x="351" y="35"/>
                </a:lnTo>
                <a:lnTo>
                  <a:pt x="356" y="46"/>
                </a:lnTo>
                <a:lnTo>
                  <a:pt x="359" y="59"/>
                </a:lnTo>
                <a:lnTo>
                  <a:pt x="361" y="73"/>
                </a:lnTo>
                <a:lnTo>
                  <a:pt x="362" y="86"/>
                </a:lnTo>
                <a:lnTo>
                  <a:pt x="362" y="99"/>
                </a:lnTo>
                <a:lnTo>
                  <a:pt x="362" y="112"/>
                </a:lnTo>
                <a:lnTo>
                  <a:pt x="361" y="126"/>
                </a:lnTo>
                <a:lnTo>
                  <a:pt x="359" y="139"/>
                </a:lnTo>
                <a:lnTo>
                  <a:pt x="356" y="152"/>
                </a:lnTo>
                <a:lnTo>
                  <a:pt x="351" y="164"/>
                </a:lnTo>
                <a:lnTo>
                  <a:pt x="346" y="175"/>
                </a:lnTo>
                <a:lnTo>
                  <a:pt x="339" y="187"/>
                </a:lnTo>
                <a:lnTo>
                  <a:pt x="332" y="199"/>
                </a:lnTo>
                <a:lnTo>
                  <a:pt x="339" y="199"/>
                </a:lnTo>
                <a:lnTo>
                  <a:pt x="346" y="187"/>
                </a:lnTo>
                <a:lnTo>
                  <a:pt x="351" y="175"/>
                </a:lnTo>
                <a:lnTo>
                  <a:pt x="356" y="164"/>
                </a:lnTo>
                <a:lnTo>
                  <a:pt x="361" y="152"/>
                </a:lnTo>
                <a:lnTo>
                  <a:pt x="364" y="139"/>
                </a:lnTo>
                <a:lnTo>
                  <a:pt x="366" y="126"/>
                </a:lnTo>
                <a:lnTo>
                  <a:pt x="367" y="112"/>
                </a:lnTo>
                <a:lnTo>
                  <a:pt x="367" y="99"/>
                </a:lnTo>
                <a:close/>
                <a:moveTo>
                  <a:pt x="28" y="0"/>
                </a:moveTo>
                <a:lnTo>
                  <a:pt x="21" y="11"/>
                </a:lnTo>
                <a:lnTo>
                  <a:pt x="16" y="21"/>
                </a:lnTo>
                <a:lnTo>
                  <a:pt x="11" y="35"/>
                </a:lnTo>
                <a:lnTo>
                  <a:pt x="6" y="46"/>
                </a:lnTo>
                <a:lnTo>
                  <a:pt x="3" y="59"/>
                </a:lnTo>
                <a:lnTo>
                  <a:pt x="1" y="73"/>
                </a:lnTo>
                <a:lnTo>
                  <a:pt x="0" y="86"/>
                </a:lnTo>
                <a:lnTo>
                  <a:pt x="0" y="99"/>
                </a:lnTo>
                <a:lnTo>
                  <a:pt x="0" y="112"/>
                </a:lnTo>
                <a:lnTo>
                  <a:pt x="1" y="126"/>
                </a:lnTo>
                <a:lnTo>
                  <a:pt x="3" y="139"/>
                </a:lnTo>
                <a:lnTo>
                  <a:pt x="6" y="152"/>
                </a:lnTo>
                <a:lnTo>
                  <a:pt x="11" y="164"/>
                </a:lnTo>
                <a:lnTo>
                  <a:pt x="16" y="175"/>
                </a:lnTo>
                <a:lnTo>
                  <a:pt x="21" y="187"/>
                </a:lnTo>
                <a:lnTo>
                  <a:pt x="28" y="199"/>
                </a:lnTo>
                <a:lnTo>
                  <a:pt x="34" y="199"/>
                </a:lnTo>
                <a:lnTo>
                  <a:pt x="26" y="187"/>
                </a:lnTo>
                <a:lnTo>
                  <a:pt x="21" y="175"/>
                </a:lnTo>
                <a:lnTo>
                  <a:pt x="16" y="164"/>
                </a:lnTo>
                <a:lnTo>
                  <a:pt x="11" y="152"/>
                </a:lnTo>
                <a:lnTo>
                  <a:pt x="8" y="139"/>
                </a:lnTo>
                <a:lnTo>
                  <a:pt x="6" y="126"/>
                </a:lnTo>
                <a:lnTo>
                  <a:pt x="5" y="112"/>
                </a:lnTo>
                <a:lnTo>
                  <a:pt x="3" y="99"/>
                </a:lnTo>
                <a:lnTo>
                  <a:pt x="5" y="86"/>
                </a:lnTo>
                <a:lnTo>
                  <a:pt x="6" y="73"/>
                </a:lnTo>
                <a:lnTo>
                  <a:pt x="8" y="59"/>
                </a:lnTo>
                <a:lnTo>
                  <a:pt x="11" y="46"/>
                </a:lnTo>
                <a:lnTo>
                  <a:pt x="16" y="35"/>
                </a:lnTo>
                <a:lnTo>
                  <a:pt x="21" y="21"/>
                </a:lnTo>
                <a:lnTo>
                  <a:pt x="26" y="10"/>
                </a:lnTo>
                <a:lnTo>
                  <a:pt x="34" y="0"/>
                </a:lnTo>
                <a:lnTo>
                  <a:pt x="28"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42" name="Freeform 1347">
            <a:extLst>
              <a:ext uri="{FF2B5EF4-FFF2-40B4-BE49-F238E27FC236}">
                <a16:creationId xmlns:a16="http://schemas.microsoft.com/office/drawing/2014/main" id="{4939D9AF-4CF8-3330-D5EB-E96764B1AA8D}"/>
              </a:ext>
            </a:extLst>
          </p:cNvPr>
          <p:cNvSpPr>
            <a:spLocks noEditPoints="1"/>
          </p:cNvSpPr>
          <p:nvPr/>
        </p:nvSpPr>
        <p:spPr bwMode="auto">
          <a:xfrm>
            <a:off x="2625725" y="2403475"/>
            <a:ext cx="579438" cy="315913"/>
          </a:xfrm>
          <a:custGeom>
            <a:avLst/>
            <a:gdLst>
              <a:gd name="T0" fmla="*/ 363 w 365"/>
              <a:gd name="T1" fmla="*/ 86 h 199"/>
              <a:gd name="T2" fmla="*/ 360 w 365"/>
              <a:gd name="T3" fmla="*/ 59 h 199"/>
              <a:gd name="T4" fmla="*/ 353 w 365"/>
              <a:gd name="T5" fmla="*/ 35 h 199"/>
              <a:gd name="T6" fmla="*/ 341 w 365"/>
              <a:gd name="T7" fmla="*/ 10 h 199"/>
              <a:gd name="T8" fmla="*/ 328 w 365"/>
              <a:gd name="T9" fmla="*/ 0 h 199"/>
              <a:gd name="T10" fmla="*/ 341 w 365"/>
              <a:gd name="T11" fmla="*/ 21 h 199"/>
              <a:gd name="T12" fmla="*/ 351 w 365"/>
              <a:gd name="T13" fmla="*/ 46 h 199"/>
              <a:gd name="T14" fmla="*/ 358 w 365"/>
              <a:gd name="T15" fmla="*/ 73 h 199"/>
              <a:gd name="T16" fmla="*/ 360 w 365"/>
              <a:gd name="T17" fmla="*/ 99 h 199"/>
              <a:gd name="T18" fmla="*/ 358 w 365"/>
              <a:gd name="T19" fmla="*/ 126 h 199"/>
              <a:gd name="T20" fmla="*/ 351 w 365"/>
              <a:gd name="T21" fmla="*/ 152 h 199"/>
              <a:gd name="T22" fmla="*/ 341 w 365"/>
              <a:gd name="T23" fmla="*/ 175 h 199"/>
              <a:gd name="T24" fmla="*/ 328 w 365"/>
              <a:gd name="T25" fmla="*/ 199 h 199"/>
              <a:gd name="T26" fmla="*/ 341 w 365"/>
              <a:gd name="T27" fmla="*/ 187 h 199"/>
              <a:gd name="T28" fmla="*/ 353 w 365"/>
              <a:gd name="T29" fmla="*/ 164 h 199"/>
              <a:gd name="T30" fmla="*/ 360 w 365"/>
              <a:gd name="T31" fmla="*/ 139 h 199"/>
              <a:gd name="T32" fmla="*/ 363 w 365"/>
              <a:gd name="T33" fmla="*/ 112 h 199"/>
              <a:gd name="T34" fmla="*/ 30 w 365"/>
              <a:gd name="T35" fmla="*/ 0 h 199"/>
              <a:gd name="T36" fmla="*/ 17 w 365"/>
              <a:gd name="T37" fmla="*/ 21 h 199"/>
              <a:gd name="T38" fmla="*/ 9 w 365"/>
              <a:gd name="T39" fmla="*/ 46 h 199"/>
              <a:gd name="T40" fmla="*/ 2 w 365"/>
              <a:gd name="T41" fmla="*/ 73 h 199"/>
              <a:gd name="T42" fmla="*/ 0 w 365"/>
              <a:gd name="T43" fmla="*/ 99 h 199"/>
              <a:gd name="T44" fmla="*/ 2 w 365"/>
              <a:gd name="T45" fmla="*/ 126 h 199"/>
              <a:gd name="T46" fmla="*/ 9 w 365"/>
              <a:gd name="T47" fmla="*/ 152 h 199"/>
              <a:gd name="T48" fmla="*/ 17 w 365"/>
              <a:gd name="T49" fmla="*/ 175 h 199"/>
              <a:gd name="T50" fmla="*/ 30 w 365"/>
              <a:gd name="T51" fmla="*/ 199 h 199"/>
              <a:gd name="T52" fmla="*/ 28 w 365"/>
              <a:gd name="T53" fmla="*/ 187 h 199"/>
              <a:gd name="T54" fmla="*/ 17 w 365"/>
              <a:gd name="T55" fmla="*/ 164 h 199"/>
              <a:gd name="T56" fmla="*/ 10 w 365"/>
              <a:gd name="T57" fmla="*/ 139 h 199"/>
              <a:gd name="T58" fmla="*/ 5 w 365"/>
              <a:gd name="T59" fmla="*/ 112 h 199"/>
              <a:gd name="T60" fmla="*/ 5 w 365"/>
              <a:gd name="T61" fmla="*/ 86 h 199"/>
              <a:gd name="T62" fmla="*/ 10 w 365"/>
              <a:gd name="T63" fmla="*/ 59 h 199"/>
              <a:gd name="T64" fmla="*/ 17 w 365"/>
              <a:gd name="T65" fmla="*/ 35 h 199"/>
              <a:gd name="T66" fmla="*/ 28 w 365"/>
              <a:gd name="T67" fmla="*/ 10 h 199"/>
              <a:gd name="T68" fmla="*/ 30 w 36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5" h="199">
                <a:moveTo>
                  <a:pt x="365" y="99"/>
                </a:moveTo>
                <a:lnTo>
                  <a:pt x="363" y="86"/>
                </a:lnTo>
                <a:lnTo>
                  <a:pt x="363" y="73"/>
                </a:lnTo>
                <a:lnTo>
                  <a:pt x="360" y="59"/>
                </a:lnTo>
                <a:lnTo>
                  <a:pt x="356" y="46"/>
                </a:lnTo>
                <a:lnTo>
                  <a:pt x="353" y="35"/>
                </a:lnTo>
                <a:lnTo>
                  <a:pt x="346" y="21"/>
                </a:lnTo>
                <a:lnTo>
                  <a:pt x="341" y="10"/>
                </a:lnTo>
                <a:lnTo>
                  <a:pt x="335" y="0"/>
                </a:lnTo>
                <a:lnTo>
                  <a:pt x="328" y="0"/>
                </a:lnTo>
                <a:lnTo>
                  <a:pt x="336" y="10"/>
                </a:lnTo>
                <a:lnTo>
                  <a:pt x="341" y="21"/>
                </a:lnTo>
                <a:lnTo>
                  <a:pt x="346" y="35"/>
                </a:lnTo>
                <a:lnTo>
                  <a:pt x="351" y="46"/>
                </a:lnTo>
                <a:lnTo>
                  <a:pt x="355" y="59"/>
                </a:lnTo>
                <a:lnTo>
                  <a:pt x="358" y="73"/>
                </a:lnTo>
                <a:lnTo>
                  <a:pt x="360" y="86"/>
                </a:lnTo>
                <a:lnTo>
                  <a:pt x="360" y="99"/>
                </a:lnTo>
                <a:lnTo>
                  <a:pt x="360" y="112"/>
                </a:lnTo>
                <a:lnTo>
                  <a:pt x="358" y="126"/>
                </a:lnTo>
                <a:lnTo>
                  <a:pt x="355" y="139"/>
                </a:lnTo>
                <a:lnTo>
                  <a:pt x="351" y="152"/>
                </a:lnTo>
                <a:lnTo>
                  <a:pt x="346" y="164"/>
                </a:lnTo>
                <a:lnTo>
                  <a:pt x="341" y="175"/>
                </a:lnTo>
                <a:lnTo>
                  <a:pt x="336" y="187"/>
                </a:lnTo>
                <a:lnTo>
                  <a:pt x="328" y="199"/>
                </a:lnTo>
                <a:lnTo>
                  <a:pt x="335" y="199"/>
                </a:lnTo>
                <a:lnTo>
                  <a:pt x="341" y="187"/>
                </a:lnTo>
                <a:lnTo>
                  <a:pt x="346" y="175"/>
                </a:lnTo>
                <a:lnTo>
                  <a:pt x="353" y="164"/>
                </a:lnTo>
                <a:lnTo>
                  <a:pt x="356" y="152"/>
                </a:lnTo>
                <a:lnTo>
                  <a:pt x="360" y="139"/>
                </a:lnTo>
                <a:lnTo>
                  <a:pt x="363" y="126"/>
                </a:lnTo>
                <a:lnTo>
                  <a:pt x="363" y="112"/>
                </a:lnTo>
                <a:lnTo>
                  <a:pt x="365" y="99"/>
                </a:lnTo>
                <a:close/>
                <a:moveTo>
                  <a:pt x="30" y="0"/>
                </a:moveTo>
                <a:lnTo>
                  <a:pt x="23" y="10"/>
                </a:lnTo>
                <a:lnTo>
                  <a:pt x="17" y="21"/>
                </a:lnTo>
                <a:lnTo>
                  <a:pt x="12" y="35"/>
                </a:lnTo>
                <a:lnTo>
                  <a:pt x="9" y="46"/>
                </a:lnTo>
                <a:lnTo>
                  <a:pt x="5" y="59"/>
                </a:lnTo>
                <a:lnTo>
                  <a:pt x="2" y="73"/>
                </a:lnTo>
                <a:lnTo>
                  <a:pt x="0" y="86"/>
                </a:lnTo>
                <a:lnTo>
                  <a:pt x="0" y="99"/>
                </a:lnTo>
                <a:lnTo>
                  <a:pt x="0" y="112"/>
                </a:lnTo>
                <a:lnTo>
                  <a:pt x="2" y="126"/>
                </a:lnTo>
                <a:lnTo>
                  <a:pt x="5" y="139"/>
                </a:lnTo>
                <a:lnTo>
                  <a:pt x="9" y="152"/>
                </a:lnTo>
                <a:lnTo>
                  <a:pt x="12" y="164"/>
                </a:lnTo>
                <a:lnTo>
                  <a:pt x="17" y="175"/>
                </a:lnTo>
                <a:lnTo>
                  <a:pt x="23" y="187"/>
                </a:lnTo>
                <a:lnTo>
                  <a:pt x="30" y="199"/>
                </a:lnTo>
                <a:lnTo>
                  <a:pt x="35" y="199"/>
                </a:lnTo>
                <a:lnTo>
                  <a:pt x="28" y="187"/>
                </a:lnTo>
                <a:lnTo>
                  <a:pt x="22" y="175"/>
                </a:lnTo>
                <a:lnTo>
                  <a:pt x="17" y="164"/>
                </a:lnTo>
                <a:lnTo>
                  <a:pt x="13" y="152"/>
                </a:lnTo>
                <a:lnTo>
                  <a:pt x="10" y="139"/>
                </a:lnTo>
                <a:lnTo>
                  <a:pt x="7" y="126"/>
                </a:lnTo>
                <a:lnTo>
                  <a:pt x="5" y="112"/>
                </a:lnTo>
                <a:lnTo>
                  <a:pt x="5" y="99"/>
                </a:lnTo>
                <a:lnTo>
                  <a:pt x="5" y="86"/>
                </a:lnTo>
                <a:lnTo>
                  <a:pt x="7" y="73"/>
                </a:lnTo>
                <a:lnTo>
                  <a:pt x="10" y="59"/>
                </a:lnTo>
                <a:lnTo>
                  <a:pt x="13" y="46"/>
                </a:lnTo>
                <a:lnTo>
                  <a:pt x="17" y="35"/>
                </a:lnTo>
                <a:lnTo>
                  <a:pt x="22" y="21"/>
                </a:lnTo>
                <a:lnTo>
                  <a:pt x="28" y="10"/>
                </a:lnTo>
                <a:lnTo>
                  <a:pt x="35" y="0"/>
                </a:lnTo>
                <a:lnTo>
                  <a:pt x="30"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43" name="Freeform 1348">
            <a:extLst>
              <a:ext uri="{FF2B5EF4-FFF2-40B4-BE49-F238E27FC236}">
                <a16:creationId xmlns:a16="http://schemas.microsoft.com/office/drawing/2014/main" id="{6272892A-AD10-900D-E526-405DA8373E77}"/>
              </a:ext>
            </a:extLst>
          </p:cNvPr>
          <p:cNvSpPr>
            <a:spLocks noEditPoints="1"/>
          </p:cNvSpPr>
          <p:nvPr/>
        </p:nvSpPr>
        <p:spPr bwMode="auto">
          <a:xfrm>
            <a:off x="2628900" y="2403475"/>
            <a:ext cx="569913" cy="315913"/>
          </a:xfrm>
          <a:custGeom>
            <a:avLst/>
            <a:gdLst>
              <a:gd name="T0" fmla="*/ 359 w 359"/>
              <a:gd name="T1" fmla="*/ 86 h 199"/>
              <a:gd name="T2" fmla="*/ 356 w 359"/>
              <a:gd name="T3" fmla="*/ 59 h 199"/>
              <a:gd name="T4" fmla="*/ 348 w 359"/>
              <a:gd name="T5" fmla="*/ 35 h 199"/>
              <a:gd name="T6" fmla="*/ 336 w 359"/>
              <a:gd name="T7" fmla="*/ 10 h 199"/>
              <a:gd name="T8" fmla="*/ 324 w 359"/>
              <a:gd name="T9" fmla="*/ 0 h 199"/>
              <a:gd name="T10" fmla="*/ 338 w 359"/>
              <a:gd name="T11" fmla="*/ 21 h 199"/>
              <a:gd name="T12" fmla="*/ 346 w 359"/>
              <a:gd name="T13" fmla="*/ 46 h 199"/>
              <a:gd name="T14" fmla="*/ 353 w 359"/>
              <a:gd name="T15" fmla="*/ 73 h 199"/>
              <a:gd name="T16" fmla="*/ 354 w 359"/>
              <a:gd name="T17" fmla="*/ 99 h 199"/>
              <a:gd name="T18" fmla="*/ 353 w 359"/>
              <a:gd name="T19" fmla="*/ 126 h 199"/>
              <a:gd name="T20" fmla="*/ 346 w 359"/>
              <a:gd name="T21" fmla="*/ 152 h 199"/>
              <a:gd name="T22" fmla="*/ 338 w 359"/>
              <a:gd name="T23" fmla="*/ 175 h 199"/>
              <a:gd name="T24" fmla="*/ 324 w 359"/>
              <a:gd name="T25" fmla="*/ 199 h 199"/>
              <a:gd name="T26" fmla="*/ 336 w 359"/>
              <a:gd name="T27" fmla="*/ 187 h 199"/>
              <a:gd name="T28" fmla="*/ 348 w 359"/>
              <a:gd name="T29" fmla="*/ 164 h 199"/>
              <a:gd name="T30" fmla="*/ 356 w 359"/>
              <a:gd name="T31" fmla="*/ 139 h 199"/>
              <a:gd name="T32" fmla="*/ 359 w 359"/>
              <a:gd name="T33" fmla="*/ 112 h 199"/>
              <a:gd name="T34" fmla="*/ 31 w 359"/>
              <a:gd name="T35" fmla="*/ 0 h 199"/>
              <a:gd name="T36" fmla="*/ 18 w 359"/>
              <a:gd name="T37" fmla="*/ 21 h 199"/>
              <a:gd name="T38" fmla="*/ 8 w 359"/>
              <a:gd name="T39" fmla="*/ 46 h 199"/>
              <a:gd name="T40" fmla="*/ 3 w 359"/>
              <a:gd name="T41" fmla="*/ 73 h 199"/>
              <a:gd name="T42" fmla="*/ 0 w 359"/>
              <a:gd name="T43" fmla="*/ 99 h 199"/>
              <a:gd name="T44" fmla="*/ 3 w 359"/>
              <a:gd name="T45" fmla="*/ 126 h 199"/>
              <a:gd name="T46" fmla="*/ 8 w 359"/>
              <a:gd name="T47" fmla="*/ 152 h 199"/>
              <a:gd name="T48" fmla="*/ 18 w 359"/>
              <a:gd name="T49" fmla="*/ 175 h 199"/>
              <a:gd name="T50" fmla="*/ 31 w 359"/>
              <a:gd name="T51" fmla="*/ 199 h 199"/>
              <a:gd name="T52" fmla="*/ 30 w 359"/>
              <a:gd name="T53" fmla="*/ 187 h 199"/>
              <a:gd name="T54" fmla="*/ 18 w 359"/>
              <a:gd name="T55" fmla="*/ 164 h 199"/>
              <a:gd name="T56" fmla="*/ 10 w 359"/>
              <a:gd name="T57" fmla="*/ 139 h 199"/>
              <a:gd name="T58" fmla="*/ 7 w 359"/>
              <a:gd name="T59" fmla="*/ 112 h 199"/>
              <a:gd name="T60" fmla="*/ 7 w 359"/>
              <a:gd name="T61" fmla="*/ 86 h 199"/>
              <a:gd name="T62" fmla="*/ 10 w 359"/>
              <a:gd name="T63" fmla="*/ 59 h 199"/>
              <a:gd name="T64" fmla="*/ 18 w 359"/>
              <a:gd name="T65" fmla="*/ 33 h 199"/>
              <a:gd name="T66" fmla="*/ 30 w 359"/>
              <a:gd name="T67" fmla="*/ 10 h 199"/>
              <a:gd name="T68" fmla="*/ 31 w 35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9" h="199">
                <a:moveTo>
                  <a:pt x="359" y="99"/>
                </a:moveTo>
                <a:lnTo>
                  <a:pt x="359" y="86"/>
                </a:lnTo>
                <a:lnTo>
                  <a:pt x="358" y="73"/>
                </a:lnTo>
                <a:lnTo>
                  <a:pt x="356" y="59"/>
                </a:lnTo>
                <a:lnTo>
                  <a:pt x="353" y="46"/>
                </a:lnTo>
                <a:lnTo>
                  <a:pt x="348" y="35"/>
                </a:lnTo>
                <a:lnTo>
                  <a:pt x="343" y="21"/>
                </a:lnTo>
                <a:lnTo>
                  <a:pt x="336" y="10"/>
                </a:lnTo>
                <a:lnTo>
                  <a:pt x="329" y="0"/>
                </a:lnTo>
                <a:lnTo>
                  <a:pt x="324" y="0"/>
                </a:lnTo>
                <a:lnTo>
                  <a:pt x="331" y="10"/>
                </a:lnTo>
                <a:lnTo>
                  <a:pt x="338" y="21"/>
                </a:lnTo>
                <a:lnTo>
                  <a:pt x="343" y="33"/>
                </a:lnTo>
                <a:lnTo>
                  <a:pt x="346" y="46"/>
                </a:lnTo>
                <a:lnTo>
                  <a:pt x="351" y="59"/>
                </a:lnTo>
                <a:lnTo>
                  <a:pt x="353" y="73"/>
                </a:lnTo>
                <a:lnTo>
                  <a:pt x="354" y="86"/>
                </a:lnTo>
                <a:lnTo>
                  <a:pt x="354" y="99"/>
                </a:lnTo>
                <a:lnTo>
                  <a:pt x="354" y="112"/>
                </a:lnTo>
                <a:lnTo>
                  <a:pt x="353" y="126"/>
                </a:lnTo>
                <a:lnTo>
                  <a:pt x="351" y="139"/>
                </a:lnTo>
                <a:lnTo>
                  <a:pt x="346" y="152"/>
                </a:lnTo>
                <a:lnTo>
                  <a:pt x="343" y="164"/>
                </a:lnTo>
                <a:lnTo>
                  <a:pt x="338" y="175"/>
                </a:lnTo>
                <a:lnTo>
                  <a:pt x="331" y="187"/>
                </a:lnTo>
                <a:lnTo>
                  <a:pt x="324" y="199"/>
                </a:lnTo>
                <a:lnTo>
                  <a:pt x="329" y="199"/>
                </a:lnTo>
                <a:lnTo>
                  <a:pt x="336" y="187"/>
                </a:lnTo>
                <a:lnTo>
                  <a:pt x="343" y="175"/>
                </a:lnTo>
                <a:lnTo>
                  <a:pt x="348" y="164"/>
                </a:lnTo>
                <a:lnTo>
                  <a:pt x="353" y="152"/>
                </a:lnTo>
                <a:lnTo>
                  <a:pt x="356" y="139"/>
                </a:lnTo>
                <a:lnTo>
                  <a:pt x="358" y="126"/>
                </a:lnTo>
                <a:lnTo>
                  <a:pt x="359" y="112"/>
                </a:lnTo>
                <a:lnTo>
                  <a:pt x="359" y="99"/>
                </a:lnTo>
                <a:close/>
                <a:moveTo>
                  <a:pt x="31" y="0"/>
                </a:moveTo>
                <a:lnTo>
                  <a:pt x="23" y="10"/>
                </a:lnTo>
                <a:lnTo>
                  <a:pt x="18" y="21"/>
                </a:lnTo>
                <a:lnTo>
                  <a:pt x="13" y="35"/>
                </a:lnTo>
                <a:lnTo>
                  <a:pt x="8" y="46"/>
                </a:lnTo>
                <a:lnTo>
                  <a:pt x="5" y="59"/>
                </a:lnTo>
                <a:lnTo>
                  <a:pt x="3" y="73"/>
                </a:lnTo>
                <a:lnTo>
                  <a:pt x="2" y="86"/>
                </a:lnTo>
                <a:lnTo>
                  <a:pt x="0" y="99"/>
                </a:lnTo>
                <a:lnTo>
                  <a:pt x="2" y="112"/>
                </a:lnTo>
                <a:lnTo>
                  <a:pt x="3" y="126"/>
                </a:lnTo>
                <a:lnTo>
                  <a:pt x="5" y="139"/>
                </a:lnTo>
                <a:lnTo>
                  <a:pt x="8" y="152"/>
                </a:lnTo>
                <a:lnTo>
                  <a:pt x="13" y="164"/>
                </a:lnTo>
                <a:lnTo>
                  <a:pt x="18" y="175"/>
                </a:lnTo>
                <a:lnTo>
                  <a:pt x="23" y="187"/>
                </a:lnTo>
                <a:lnTo>
                  <a:pt x="31" y="199"/>
                </a:lnTo>
                <a:lnTo>
                  <a:pt x="36" y="199"/>
                </a:lnTo>
                <a:lnTo>
                  <a:pt x="30" y="187"/>
                </a:lnTo>
                <a:lnTo>
                  <a:pt x="23" y="175"/>
                </a:lnTo>
                <a:lnTo>
                  <a:pt x="18" y="164"/>
                </a:lnTo>
                <a:lnTo>
                  <a:pt x="13" y="152"/>
                </a:lnTo>
                <a:lnTo>
                  <a:pt x="10" y="139"/>
                </a:lnTo>
                <a:lnTo>
                  <a:pt x="8" y="126"/>
                </a:lnTo>
                <a:lnTo>
                  <a:pt x="7" y="112"/>
                </a:lnTo>
                <a:lnTo>
                  <a:pt x="5" y="99"/>
                </a:lnTo>
                <a:lnTo>
                  <a:pt x="7" y="86"/>
                </a:lnTo>
                <a:lnTo>
                  <a:pt x="8" y="73"/>
                </a:lnTo>
                <a:lnTo>
                  <a:pt x="10" y="59"/>
                </a:lnTo>
                <a:lnTo>
                  <a:pt x="13" y="46"/>
                </a:lnTo>
                <a:lnTo>
                  <a:pt x="18" y="33"/>
                </a:lnTo>
                <a:lnTo>
                  <a:pt x="23" y="21"/>
                </a:lnTo>
                <a:lnTo>
                  <a:pt x="30" y="10"/>
                </a:lnTo>
                <a:lnTo>
                  <a:pt x="36" y="0"/>
                </a:lnTo>
                <a:lnTo>
                  <a:pt x="31"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44" name="Freeform 1349">
            <a:extLst>
              <a:ext uri="{FF2B5EF4-FFF2-40B4-BE49-F238E27FC236}">
                <a16:creationId xmlns:a16="http://schemas.microsoft.com/office/drawing/2014/main" id="{A6028C9B-CCE5-18A4-E7B2-DF8E628AD3B3}"/>
              </a:ext>
            </a:extLst>
          </p:cNvPr>
          <p:cNvSpPr>
            <a:spLocks noEditPoints="1"/>
          </p:cNvSpPr>
          <p:nvPr/>
        </p:nvSpPr>
        <p:spPr bwMode="auto">
          <a:xfrm>
            <a:off x="2633663" y="2403475"/>
            <a:ext cx="563563" cy="315913"/>
          </a:xfrm>
          <a:custGeom>
            <a:avLst/>
            <a:gdLst>
              <a:gd name="T0" fmla="*/ 355 w 355"/>
              <a:gd name="T1" fmla="*/ 86 h 199"/>
              <a:gd name="T2" fmla="*/ 350 w 355"/>
              <a:gd name="T3" fmla="*/ 59 h 199"/>
              <a:gd name="T4" fmla="*/ 341 w 355"/>
              <a:gd name="T5" fmla="*/ 35 h 199"/>
              <a:gd name="T6" fmla="*/ 331 w 355"/>
              <a:gd name="T7" fmla="*/ 10 h 199"/>
              <a:gd name="T8" fmla="*/ 318 w 355"/>
              <a:gd name="T9" fmla="*/ 0 h 199"/>
              <a:gd name="T10" fmla="*/ 331 w 355"/>
              <a:gd name="T11" fmla="*/ 21 h 199"/>
              <a:gd name="T12" fmla="*/ 341 w 355"/>
              <a:gd name="T13" fmla="*/ 46 h 199"/>
              <a:gd name="T14" fmla="*/ 348 w 355"/>
              <a:gd name="T15" fmla="*/ 71 h 199"/>
              <a:gd name="T16" fmla="*/ 350 w 355"/>
              <a:gd name="T17" fmla="*/ 99 h 199"/>
              <a:gd name="T18" fmla="*/ 348 w 355"/>
              <a:gd name="T19" fmla="*/ 126 h 199"/>
              <a:gd name="T20" fmla="*/ 341 w 355"/>
              <a:gd name="T21" fmla="*/ 152 h 199"/>
              <a:gd name="T22" fmla="*/ 331 w 355"/>
              <a:gd name="T23" fmla="*/ 177 h 199"/>
              <a:gd name="T24" fmla="*/ 318 w 355"/>
              <a:gd name="T25" fmla="*/ 199 h 199"/>
              <a:gd name="T26" fmla="*/ 331 w 355"/>
              <a:gd name="T27" fmla="*/ 187 h 199"/>
              <a:gd name="T28" fmla="*/ 341 w 355"/>
              <a:gd name="T29" fmla="*/ 164 h 199"/>
              <a:gd name="T30" fmla="*/ 350 w 355"/>
              <a:gd name="T31" fmla="*/ 139 h 199"/>
              <a:gd name="T32" fmla="*/ 355 w 355"/>
              <a:gd name="T33" fmla="*/ 112 h 199"/>
              <a:gd name="T34" fmla="*/ 30 w 355"/>
              <a:gd name="T35" fmla="*/ 0 h 199"/>
              <a:gd name="T36" fmla="*/ 17 w 355"/>
              <a:gd name="T37" fmla="*/ 21 h 199"/>
              <a:gd name="T38" fmla="*/ 8 w 355"/>
              <a:gd name="T39" fmla="*/ 46 h 199"/>
              <a:gd name="T40" fmla="*/ 2 w 355"/>
              <a:gd name="T41" fmla="*/ 73 h 199"/>
              <a:gd name="T42" fmla="*/ 0 w 355"/>
              <a:gd name="T43" fmla="*/ 99 h 199"/>
              <a:gd name="T44" fmla="*/ 2 w 355"/>
              <a:gd name="T45" fmla="*/ 126 h 199"/>
              <a:gd name="T46" fmla="*/ 8 w 355"/>
              <a:gd name="T47" fmla="*/ 152 h 199"/>
              <a:gd name="T48" fmla="*/ 17 w 355"/>
              <a:gd name="T49" fmla="*/ 175 h 199"/>
              <a:gd name="T50" fmla="*/ 30 w 355"/>
              <a:gd name="T51" fmla="*/ 199 h 199"/>
              <a:gd name="T52" fmla="*/ 30 w 355"/>
              <a:gd name="T53" fmla="*/ 187 h 199"/>
              <a:gd name="T54" fmla="*/ 17 w 355"/>
              <a:gd name="T55" fmla="*/ 164 h 199"/>
              <a:gd name="T56" fmla="*/ 10 w 355"/>
              <a:gd name="T57" fmla="*/ 139 h 199"/>
              <a:gd name="T58" fmla="*/ 5 w 355"/>
              <a:gd name="T59" fmla="*/ 112 h 199"/>
              <a:gd name="T60" fmla="*/ 5 w 355"/>
              <a:gd name="T61" fmla="*/ 86 h 199"/>
              <a:gd name="T62" fmla="*/ 10 w 355"/>
              <a:gd name="T63" fmla="*/ 59 h 199"/>
              <a:gd name="T64" fmla="*/ 17 w 355"/>
              <a:gd name="T65" fmla="*/ 33 h 199"/>
              <a:gd name="T66" fmla="*/ 30 w 355"/>
              <a:gd name="T67" fmla="*/ 10 h 199"/>
              <a:gd name="T68" fmla="*/ 30 w 35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5" h="199">
                <a:moveTo>
                  <a:pt x="355" y="99"/>
                </a:moveTo>
                <a:lnTo>
                  <a:pt x="355" y="86"/>
                </a:lnTo>
                <a:lnTo>
                  <a:pt x="353" y="73"/>
                </a:lnTo>
                <a:lnTo>
                  <a:pt x="350" y="59"/>
                </a:lnTo>
                <a:lnTo>
                  <a:pt x="346" y="46"/>
                </a:lnTo>
                <a:lnTo>
                  <a:pt x="341" y="35"/>
                </a:lnTo>
                <a:lnTo>
                  <a:pt x="336" y="21"/>
                </a:lnTo>
                <a:lnTo>
                  <a:pt x="331" y="10"/>
                </a:lnTo>
                <a:lnTo>
                  <a:pt x="323" y="0"/>
                </a:lnTo>
                <a:lnTo>
                  <a:pt x="318" y="0"/>
                </a:lnTo>
                <a:lnTo>
                  <a:pt x="325" y="10"/>
                </a:lnTo>
                <a:lnTo>
                  <a:pt x="331" y="21"/>
                </a:lnTo>
                <a:lnTo>
                  <a:pt x="336" y="33"/>
                </a:lnTo>
                <a:lnTo>
                  <a:pt x="341" y="46"/>
                </a:lnTo>
                <a:lnTo>
                  <a:pt x="345" y="59"/>
                </a:lnTo>
                <a:lnTo>
                  <a:pt x="348" y="71"/>
                </a:lnTo>
                <a:lnTo>
                  <a:pt x="350" y="86"/>
                </a:lnTo>
                <a:lnTo>
                  <a:pt x="350" y="99"/>
                </a:lnTo>
                <a:lnTo>
                  <a:pt x="350" y="112"/>
                </a:lnTo>
                <a:lnTo>
                  <a:pt x="348" y="126"/>
                </a:lnTo>
                <a:lnTo>
                  <a:pt x="345" y="139"/>
                </a:lnTo>
                <a:lnTo>
                  <a:pt x="341" y="152"/>
                </a:lnTo>
                <a:lnTo>
                  <a:pt x="336" y="164"/>
                </a:lnTo>
                <a:lnTo>
                  <a:pt x="331" y="177"/>
                </a:lnTo>
                <a:lnTo>
                  <a:pt x="325" y="187"/>
                </a:lnTo>
                <a:lnTo>
                  <a:pt x="318" y="199"/>
                </a:lnTo>
                <a:lnTo>
                  <a:pt x="323" y="199"/>
                </a:lnTo>
                <a:lnTo>
                  <a:pt x="331" y="187"/>
                </a:lnTo>
                <a:lnTo>
                  <a:pt x="336" y="175"/>
                </a:lnTo>
                <a:lnTo>
                  <a:pt x="341" y="164"/>
                </a:lnTo>
                <a:lnTo>
                  <a:pt x="346" y="152"/>
                </a:lnTo>
                <a:lnTo>
                  <a:pt x="350" y="139"/>
                </a:lnTo>
                <a:lnTo>
                  <a:pt x="353" y="126"/>
                </a:lnTo>
                <a:lnTo>
                  <a:pt x="355" y="112"/>
                </a:lnTo>
                <a:lnTo>
                  <a:pt x="355" y="99"/>
                </a:lnTo>
                <a:close/>
                <a:moveTo>
                  <a:pt x="30" y="0"/>
                </a:moveTo>
                <a:lnTo>
                  <a:pt x="23" y="10"/>
                </a:lnTo>
                <a:lnTo>
                  <a:pt x="17" y="21"/>
                </a:lnTo>
                <a:lnTo>
                  <a:pt x="12" y="35"/>
                </a:lnTo>
                <a:lnTo>
                  <a:pt x="8" y="46"/>
                </a:lnTo>
                <a:lnTo>
                  <a:pt x="5" y="59"/>
                </a:lnTo>
                <a:lnTo>
                  <a:pt x="2" y="73"/>
                </a:lnTo>
                <a:lnTo>
                  <a:pt x="0" y="86"/>
                </a:lnTo>
                <a:lnTo>
                  <a:pt x="0" y="99"/>
                </a:lnTo>
                <a:lnTo>
                  <a:pt x="0" y="112"/>
                </a:lnTo>
                <a:lnTo>
                  <a:pt x="2" y="126"/>
                </a:lnTo>
                <a:lnTo>
                  <a:pt x="5" y="139"/>
                </a:lnTo>
                <a:lnTo>
                  <a:pt x="8" y="152"/>
                </a:lnTo>
                <a:lnTo>
                  <a:pt x="12" y="164"/>
                </a:lnTo>
                <a:lnTo>
                  <a:pt x="17" y="175"/>
                </a:lnTo>
                <a:lnTo>
                  <a:pt x="23" y="187"/>
                </a:lnTo>
                <a:lnTo>
                  <a:pt x="30" y="199"/>
                </a:lnTo>
                <a:lnTo>
                  <a:pt x="37" y="199"/>
                </a:lnTo>
                <a:lnTo>
                  <a:pt x="30" y="187"/>
                </a:lnTo>
                <a:lnTo>
                  <a:pt x="23" y="177"/>
                </a:lnTo>
                <a:lnTo>
                  <a:pt x="17" y="164"/>
                </a:lnTo>
                <a:lnTo>
                  <a:pt x="13" y="152"/>
                </a:lnTo>
                <a:lnTo>
                  <a:pt x="10" y="139"/>
                </a:lnTo>
                <a:lnTo>
                  <a:pt x="7" y="126"/>
                </a:lnTo>
                <a:lnTo>
                  <a:pt x="5" y="112"/>
                </a:lnTo>
                <a:lnTo>
                  <a:pt x="5" y="99"/>
                </a:lnTo>
                <a:lnTo>
                  <a:pt x="5" y="86"/>
                </a:lnTo>
                <a:lnTo>
                  <a:pt x="7" y="71"/>
                </a:lnTo>
                <a:lnTo>
                  <a:pt x="10" y="59"/>
                </a:lnTo>
                <a:lnTo>
                  <a:pt x="13" y="46"/>
                </a:lnTo>
                <a:lnTo>
                  <a:pt x="17" y="33"/>
                </a:lnTo>
                <a:lnTo>
                  <a:pt x="23" y="21"/>
                </a:lnTo>
                <a:lnTo>
                  <a:pt x="30" y="10"/>
                </a:lnTo>
                <a:lnTo>
                  <a:pt x="37" y="0"/>
                </a:lnTo>
                <a:lnTo>
                  <a:pt x="30"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45" name="Freeform 1350">
            <a:extLst>
              <a:ext uri="{FF2B5EF4-FFF2-40B4-BE49-F238E27FC236}">
                <a16:creationId xmlns:a16="http://schemas.microsoft.com/office/drawing/2014/main" id="{4A8A90A7-A7BF-92A6-C024-88B6B5A36CB3}"/>
              </a:ext>
            </a:extLst>
          </p:cNvPr>
          <p:cNvSpPr>
            <a:spLocks noEditPoints="1"/>
          </p:cNvSpPr>
          <p:nvPr/>
        </p:nvSpPr>
        <p:spPr bwMode="auto">
          <a:xfrm>
            <a:off x="2636838" y="2403475"/>
            <a:ext cx="554038" cy="315913"/>
          </a:xfrm>
          <a:custGeom>
            <a:avLst/>
            <a:gdLst>
              <a:gd name="T0" fmla="*/ 349 w 349"/>
              <a:gd name="T1" fmla="*/ 86 h 199"/>
              <a:gd name="T2" fmla="*/ 346 w 349"/>
              <a:gd name="T3" fmla="*/ 59 h 199"/>
              <a:gd name="T4" fmla="*/ 338 w 349"/>
              <a:gd name="T5" fmla="*/ 33 h 199"/>
              <a:gd name="T6" fmla="*/ 326 w 349"/>
              <a:gd name="T7" fmla="*/ 10 h 199"/>
              <a:gd name="T8" fmla="*/ 313 w 349"/>
              <a:gd name="T9" fmla="*/ 0 h 199"/>
              <a:gd name="T10" fmla="*/ 326 w 349"/>
              <a:gd name="T11" fmla="*/ 21 h 199"/>
              <a:gd name="T12" fmla="*/ 336 w 349"/>
              <a:gd name="T13" fmla="*/ 46 h 199"/>
              <a:gd name="T14" fmla="*/ 343 w 349"/>
              <a:gd name="T15" fmla="*/ 71 h 199"/>
              <a:gd name="T16" fmla="*/ 346 w 349"/>
              <a:gd name="T17" fmla="*/ 99 h 199"/>
              <a:gd name="T18" fmla="*/ 343 w 349"/>
              <a:gd name="T19" fmla="*/ 126 h 199"/>
              <a:gd name="T20" fmla="*/ 336 w 349"/>
              <a:gd name="T21" fmla="*/ 152 h 199"/>
              <a:gd name="T22" fmla="*/ 326 w 349"/>
              <a:gd name="T23" fmla="*/ 177 h 199"/>
              <a:gd name="T24" fmla="*/ 313 w 349"/>
              <a:gd name="T25" fmla="*/ 199 h 199"/>
              <a:gd name="T26" fmla="*/ 326 w 349"/>
              <a:gd name="T27" fmla="*/ 187 h 199"/>
              <a:gd name="T28" fmla="*/ 338 w 349"/>
              <a:gd name="T29" fmla="*/ 164 h 199"/>
              <a:gd name="T30" fmla="*/ 346 w 349"/>
              <a:gd name="T31" fmla="*/ 139 h 199"/>
              <a:gd name="T32" fmla="*/ 349 w 349"/>
              <a:gd name="T33" fmla="*/ 112 h 199"/>
              <a:gd name="T34" fmla="*/ 31 w 349"/>
              <a:gd name="T35" fmla="*/ 0 h 199"/>
              <a:gd name="T36" fmla="*/ 18 w 349"/>
              <a:gd name="T37" fmla="*/ 21 h 199"/>
              <a:gd name="T38" fmla="*/ 8 w 349"/>
              <a:gd name="T39" fmla="*/ 46 h 199"/>
              <a:gd name="T40" fmla="*/ 3 w 349"/>
              <a:gd name="T41" fmla="*/ 73 h 199"/>
              <a:gd name="T42" fmla="*/ 0 w 349"/>
              <a:gd name="T43" fmla="*/ 99 h 199"/>
              <a:gd name="T44" fmla="*/ 3 w 349"/>
              <a:gd name="T45" fmla="*/ 126 h 199"/>
              <a:gd name="T46" fmla="*/ 8 w 349"/>
              <a:gd name="T47" fmla="*/ 152 h 199"/>
              <a:gd name="T48" fmla="*/ 18 w 349"/>
              <a:gd name="T49" fmla="*/ 175 h 199"/>
              <a:gd name="T50" fmla="*/ 31 w 349"/>
              <a:gd name="T51" fmla="*/ 199 h 199"/>
              <a:gd name="T52" fmla="*/ 30 w 349"/>
              <a:gd name="T53" fmla="*/ 187 h 199"/>
              <a:gd name="T54" fmla="*/ 18 w 349"/>
              <a:gd name="T55" fmla="*/ 164 h 199"/>
              <a:gd name="T56" fmla="*/ 10 w 349"/>
              <a:gd name="T57" fmla="*/ 139 h 199"/>
              <a:gd name="T58" fmla="*/ 6 w 349"/>
              <a:gd name="T59" fmla="*/ 112 h 199"/>
              <a:gd name="T60" fmla="*/ 6 w 349"/>
              <a:gd name="T61" fmla="*/ 86 h 199"/>
              <a:gd name="T62" fmla="*/ 10 w 349"/>
              <a:gd name="T63" fmla="*/ 59 h 199"/>
              <a:gd name="T64" fmla="*/ 18 w 349"/>
              <a:gd name="T65" fmla="*/ 33 h 199"/>
              <a:gd name="T66" fmla="*/ 30 w 349"/>
              <a:gd name="T67" fmla="*/ 10 h 199"/>
              <a:gd name="T68" fmla="*/ 31 w 34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9" h="199">
                <a:moveTo>
                  <a:pt x="349" y="99"/>
                </a:moveTo>
                <a:lnTo>
                  <a:pt x="349" y="86"/>
                </a:lnTo>
                <a:lnTo>
                  <a:pt x="348" y="73"/>
                </a:lnTo>
                <a:lnTo>
                  <a:pt x="346" y="59"/>
                </a:lnTo>
                <a:lnTo>
                  <a:pt x="341" y="46"/>
                </a:lnTo>
                <a:lnTo>
                  <a:pt x="338" y="33"/>
                </a:lnTo>
                <a:lnTo>
                  <a:pt x="333" y="21"/>
                </a:lnTo>
                <a:lnTo>
                  <a:pt x="326" y="10"/>
                </a:lnTo>
                <a:lnTo>
                  <a:pt x="319" y="0"/>
                </a:lnTo>
                <a:lnTo>
                  <a:pt x="313" y="0"/>
                </a:lnTo>
                <a:lnTo>
                  <a:pt x="319" y="10"/>
                </a:lnTo>
                <a:lnTo>
                  <a:pt x="326" y="21"/>
                </a:lnTo>
                <a:lnTo>
                  <a:pt x="333" y="33"/>
                </a:lnTo>
                <a:lnTo>
                  <a:pt x="336" y="46"/>
                </a:lnTo>
                <a:lnTo>
                  <a:pt x="341" y="59"/>
                </a:lnTo>
                <a:lnTo>
                  <a:pt x="343" y="71"/>
                </a:lnTo>
                <a:lnTo>
                  <a:pt x="344" y="86"/>
                </a:lnTo>
                <a:lnTo>
                  <a:pt x="346" y="99"/>
                </a:lnTo>
                <a:lnTo>
                  <a:pt x="344" y="112"/>
                </a:lnTo>
                <a:lnTo>
                  <a:pt x="343" y="126"/>
                </a:lnTo>
                <a:lnTo>
                  <a:pt x="341" y="139"/>
                </a:lnTo>
                <a:lnTo>
                  <a:pt x="336" y="152"/>
                </a:lnTo>
                <a:lnTo>
                  <a:pt x="333" y="164"/>
                </a:lnTo>
                <a:lnTo>
                  <a:pt x="326" y="177"/>
                </a:lnTo>
                <a:lnTo>
                  <a:pt x="319" y="187"/>
                </a:lnTo>
                <a:lnTo>
                  <a:pt x="313" y="199"/>
                </a:lnTo>
                <a:lnTo>
                  <a:pt x="319" y="199"/>
                </a:lnTo>
                <a:lnTo>
                  <a:pt x="326" y="187"/>
                </a:lnTo>
                <a:lnTo>
                  <a:pt x="333" y="175"/>
                </a:lnTo>
                <a:lnTo>
                  <a:pt x="338" y="164"/>
                </a:lnTo>
                <a:lnTo>
                  <a:pt x="341" y="152"/>
                </a:lnTo>
                <a:lnTo>
                  <a:pt x="346" y="139"/>
                </a:lnTo>
                <a:lnTo>
                  <a:pt x="348" y="126"/>
                </a:lnTo>
                <a:lnTo>
                  <a:pt x="349" y="112"/>
                </a:lnTo>
                <a:lnTo>
                  <a:pt x="349" y="99"/>
                </a:lnTo>
                <a:close/>
                <a:moveTo>
                  <a:pt x="31" y="0"/>
                </a:moveTo>
                <a:lnTo>
                  <a:pt x="25" y="10"/>
                </a:lnTo>
                <a:lnTo>
                  <a:pt x="18" y="21"/>
                </a:lnTo>
                <a:lnTo>
                  <a:pt x="13" y="33"/>
                </a:lnTo>
                <a:lnTo>
                  <a:pt x="8" y="46"/>
                </a:lnTo>
                <a:lnTo>
                  <a:pt x="5" y="59"/>
                </a:lnTo>
                <a:lnTo>
                  <a:pt x="3" y="73"/>
                </a:lnTo>
                <a:lnTo>
                  <a:pt x="2" y="86"/>
                </a:lnTo>
                <a:lnTo>
                  <a:pt x="0" y="99"/>
                </a:lnTo>
                <a:lnTo>
                  <a:pt x="2" y="112"/>
                </a:lnTo>
                <a:lnTo>
                  <a:pt x="3" y="126"/>
                </a:lnTo>
                <a:lnTo>
                  <a:pt x="5" y="139"/>
                </a:lnTo>
                <a:lnTo>
                  <a:pt x="8" y="152"/>
                </a:lnTo>
                <a:lnTo>
                  <a:pt x="13" y="164"/>
                </a:lnTo>
                <a:lnTo>
                  <a:pt x="18" y="175"/>
                </a:lnTo>
                <a:lnTo>
                  <a:pt x="25" y="187"/>
                </a:lnTo>
                <a:lnTo>
                  <a:pt x="31" y="199"/>
                </a:lnTo>
                <a:lnTo>
                  <a:pt x="38" y="199"/>
                </a:lnTo>
                <a:lnTo>
                  <a:pt x="30" y="187"/>
                </a:lnTo>
                <a:lnTo>
                  <a:pt x="23" y="177"/>
                </a:lnTo>
                <a:lnTo>
                  <a:pt x="18" y="164"/>
                </a:lnTo>
                <a:lnTo>
                  <a:pt x="13" y="152"/>
                </a:lnTo>
                <a:lnTo>
                  <a:pt x="10" y="139"/>
                </a:lnTo>
                <a:lnTo>
                  <a:pt x="6" y="126"/>
                </a:lnTo>
                <a:lnTo>
                  <a:pt x="6" y="112"/>
                </a:lnTo>
                <a:lnTo>
                  <a:pt x="5" y="99"/>
                </a:lnTo>
                <a:lnTo>
                  <a:pt x="6" y="86"/>
                </a:lnTo>
                <a:lnTo>
                  <a:pt x="6" y="71"/>
                </a:lnTo>
                <a:lnTo>
                  <a:pt x="10" y="59"/>
                </a:lnTo>
                <a:lnTo>
                  <a:pt x="13" y="46"/>
                </a:lnTo>
                <a:lnTo>
                  <a:pt x="18" y="33"/>
                </a:lnTo>
                <a:lnTo>
                  <a:pt x="23" y="21"/>
                </a:lnTo>
                <a:lnTo>
                  <a:pt x="30" y="10"/>
                </a:lnTo>
                <a:lnTo>
                  <a:pt x="38" y="0"/>
                </a:lnTo>
                <a:lnTo>
                  <a:pt x="31"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46" name="Freeform 1351">
            <a:extLst>
              <a:ext uri="{FF2B5EF4-FFF2-40B4-BE49-F238E27FC236}">
                <a16:creationId xmlns:a16="http://schemas.microsoft.com/office/drawing/2014/main" id="{04786B9A-C9A2-F316-E13E-606E924FDE0C}"/>
              </a:ext>
            </a:extLst>
          </p:cNvPr>
          <p:cNvSpPr>
            <a:spLocks noEditPoints="1"/>
          </p:cNvSpPr>
          <p:nvPr/>
        </p:nvSpPr>
        <p:spPr bwMode="auto">
          <a:xfrm>
            <a:off x="2641600" y="2403475"/>
            <a:ext cx="547688" cy="315913"/>
          </a:xfrm>
          <a:custGeom>
            <a:avLst/>
            <a:gdLst>
              <a:gd name="T0" fmla="*/ 345 w 345"/>
              <a:gd name="T1" fmla="*/ 86 h 199"/>
              <a:gd name="T2" fmla="*/ 340 w 345"/>
              <a:gd name="T3" fmla="*/ 59 h 199"/>
              <a:gd name="T4" fmla="*/ 331 w 345"/>
              <a:gd name="T5" fmla="*/ 33 h 199"/>
              <a:gd name="T6" fmla="*/ 320 w 345"/>
              <a:gd name="T7" fmla="*/ 10 h 199"/>
              <a:gd name="T8" fmla="*/ 307 w 345"/>
              <a:gd name="T9" fmla="*/ 0 h 199"/>
              <a:gd name="T10" fmla="*/ 321 w 345"/>
              <a:gd name="T11" fmla="*/ 21 h 199"/>
              <a:gd name="T12" fmla="*/ 331 w 345"/>
              <a:gd name="T13" fmla="*/ 46 h 199"/>
              <a:gd name="T14" fmla="*/ 338 w 345"/>
              <a:gd name="T15" fmla="*/ 71 h 199"/>
              <a:gd name="T16" fmla="*/ 340 w 345"/>
              <a:gd name="T17" fmla="*/ 99 h 199"/>
              <a:gd name="T18" fmla="*/ 338 w 345"/>
              <a:gd name="T19" fmla="*/ 126 h 199"/>
              <a:gd name="T20" fmla="*/ 331 w 345"/>
              <a:gd name="T21" fmla="*/ 152 h 199"/>
              <a:gd name="T22" fmla="*/ 321 w 345"/>
              <a:gd name="T23" fmla="*/ 177 h 199"/>
              <a:gd name="T24" fmla="*/ 307 w 345"/>
              <a:gd name="T25" fmla="*/ 199 h 199"/>
              <a:gd name="T26" fmla="*/ 320 w 345"/>
              <a:gd name="T27" fmla="*/ 187 h 199"/>
              <a:gd name="T28" fmla="*/ 331 w 345"/>
              <a:gd name="T29" fmla="*/ 164 h 199"/>
              <a:gd name="T30" fmla="*/ 340 w 345"/>
              <a:gd name="T31" fmla="*/ 139 h 199"/>
              <a:gd name="T32" fmla="*/ 345 w 345"/>
              <a:gd name="T33" fmla="*/ 112 h 199"/>
              <a:gd name="T34" fmla="*/ 32 w 345"/>
              <a:gd name="T35" fmla="*/ 0 h 199"/>
              <a:gd name="T36" fmla="*/ 18 w 345"/>
              <a:gd name="T37" fmla="*/ 21 h 199"/>
              <a:gd name="T38" fmla="*/ 8 w 345"/>
              <a:gd name="T39" fmla="*/ 46 h 199"/>
              <a:gd name="T40" fmla="*/ 2 w 345"/>
              <a:gd name="T41" fmla="*/ 71 h 199"/>
              <a:gd name="T42" fmla="*/ 0 w 345"/>
              <a:gd name="T43" fmla="*/ 99 h 199"/>
              <a:gd name="T44" fmla="*/ 2 w 345"/>
              <a:gd name="T45" fmla="*/ 126 h 199"/>
              <a:gd name="T46" fmla="*/ 8 w 345"/>
              <a:gd name="T47" fmla="*/ 152 h 199"/>
              <a:gd name="T48" fmla="*/ 18 w 345"/>
              <a:gd name="T49" fmla="*/ 177 h 199"/>
              <a:gd name="T50" fmla="*/ 32 w 345"/>
              <a:gd name="T51" fmla="*/ 199 h 199"/>
              <a:gd name="T52" fmla="*/ 30 w 345"/>
              <a:gd name="T53" fmla="*/ 187 h 199"/>
              <a:gd name="T54" fmla="*/ 18 w 345"/>
              <a:gd name="T55" fmla="*/ 164 h 199"/>
              <a:gd name="T56" fmla="*/ 10 w 345"/>
              <a:gd name="T57" fmla="*/ 139 h 199"/>
              <a:gd name="T58" fmla="*/ 5 w 345"/>
              <a:gd name="T59" fmla="*/ 112 h 199"/>
              <a:gd name="T60" fmla="*/ 5 w 345"/>
              <a:gd name="T61" fmla="*/ 86 h 199"/>
              <a:gd name="T62" fmla="*/ 10 w 345"/>
              <a:gd name="T63" fmla="*/ 58 h 199"/>
              <a:gd name="T64" fmla="*/ 18 w 345"/>
              <a:gd name="T65" fmla="*/ 33 h 199"/>
              <a:gd name="T66" fmla="*/ 30 w 345"/>
              <a:gd name="T67" fmla="*/ 10 h 199"/>
              <a:gd name="T68" fmla="*/ 32 w 34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5" h="199">
                <a:moveTo>
                  <a:pt x="345" y="99"/>
                </a:moveTo>
                <a:lnTo>
                  <a:pt x="345" y="86"/>
                </a:lnTo>
                <a:lnTo>
                  <a:pt x="343" y="71"/>
                </a:lnTo>
                <a:lnTo>
                  <a:pt x="340" y="59"/>
                </a:lnTo>
                <a:lnTo>
                  <a:pt x="336" y="46"/>
                </a:lnTo>
                <a:lnTo>
                  <a:pt x="331" y="33"/>
                </a:lnTo>
                <a:lnTo>
                  <a:pt x="326" y="21"/>
                </a:lnTo>
                <a:lnTo>
                  <a:pt x="320" y="10"/>
                </a:lnTo>
                <a:lnTo>
                  <a:pt x="313" y="0"/>
                </a:lnTo>
                <a:lnTo>
                  <a:pt x="307" y="0"/>
                </a:lnTo>
                <a:lnTo>
                  <a:pt x="315" y="10"/>
                </a:lnTo>
                <a:lnTo>
                  <a:pt x="321" y="21"/>
                </a:lnTo>
                <a:lnTo>
                  <a:pt x="326" y="33"/>
                </a:lnTo>
                <a:lnTo>
                  <a:pt x="331" y="46"/>
                </a:lnTo>
                <a:lnTo>
                  <a:pt x="335" y="58"/>
                </a:lnTo>
                <a:lnTo>
                  <a:pt x="338" y="71"/>
                </a:lnTo>
                <a:lnTo>
                  <a:pt x="340" y="86"/>
                </a:lnTo>
                <a:lnTo>
                  <a:pt x="340" y="99"/>
                </a:lnTo>
                <a:lnTo>
                  <a:pt x="340" y="112"/>
                </a:lnTo>
                <a:lnTo>
                  <a:pt x="338" y="126"/>
                </a:lnTo>
                <a:lnTo>
                  <a:pt x="335" y="139"/>
                </a:lnTo>
                <a:lnTo>
                  <a:pt x="331" y="152"/>
                </a:lnTo>
                <a:lnTo>
                  <a:pt x="326" y="164"/>
                </a:lnTo>
                <a:lnTo>
                  <a:pt x="321" y="177"/>
                </a:lnTo>
                <a:lnTo>
                  <a:pt x="315" y="187"/>
                </a:lnTo>
                <a:lnTo>
                  <a:pt x="307" y="199"/>
                </a:lnTo>
                <a:lnTo>
                  <a:pt x="313" y="199"/>
                </a:lnTo>
                <a:lnTo>
                  <a:pt x="320" y="187"/>
                </a:lnTo>
                <a:lnTo>
                  <a:pt x="326" y="177"/>
                </a:lnTo>
                <a:lnTo>
                  <a:pt x="331" y="164"/>
                </a:lnTo>
                <a:lnTo>
                  <a:pt x="336" y="152"/>
                </a:lnTo>
                <a:lnTo>
                  <a:pt x="340" y="139"/>
                </a:lnTo>
                <a:lnTo>
                  <a:pt x="343" y="126"/>
                </a:lnTo>
                <a:lnTo>
                  <a:pt x="345" y="112"/>
                </a:lnTo>
                <a:lnTo>
                  <a:pt x="345" y="99"/>
                </a:lnTo>
                <a:close/>
                <a:moveTo>
                  <a:pt x="32" y="0"/>
                </a:moveTo>
                <a:lnTo>
                  <a:pt x="25" y="10"/>
                </a:lnTo>
                <a:lnTo>
                  <a:pt x="18" y="21"/>
                </a:lnTo>
                <a:lnTo>
                  <a:pt x="12" y="33"/>
                </a:lnTo>
                <a:lnTo>
                  <a:pt x="8" y="46"/>
                </a:lnTo>
                <a:lnTo>
                  <a:pt x="5" y="59"/>
                </a:lnTo>
                <a:lnTo>
                  <a:pt x="2" y="71"/>
                </a:lnTo>
                <a:lnTo>
                  <a:pt x="0" y="86"/>
                </a:lnTo>
                <a:lnTo>
                  <a:pt x="0" y="99"/>
                </a:lnTo>
                <a:lnTo>
                  <a:pt x="0" y="112"/>
                </a:lnTo>
                <a:lnTo>
                  <a:pt x="2" y="126"/>
                </a:lnTo>
                <a:lnTo>
                  <a:pt x="5" y="139"/>
                </a:lnTo>
                <a:lnTo>
                  <a:pt x="8" y="152"/>
                </a:lnTo>
                <a:lnTo>
                  <a:pt x="12" y="164"/>
                </a:lnTo>
                <a:lnTo>
                  <a:pt x="18" y="177"/>
                </a:lnTo>
                <a:lnTo>
                  <a:pt x="25" y="187"/>
                </a:lnTo>
                <a:lnTo>
                  <a:pt x="32" y="199"/>
                </a:lnTo>
                <a:lnTo>
                  <a:pt x="37" y="199"/>
                </a:lnTo>
                <a:lnTo>
                  <a:pt x="30" y="187"/>
                </a:lnTo>
                <a:lnTo>
                  <a:pt x="23" y="177"/>
                </a:lnTo>
                <a:lnTo>
                  <a:pt x="18" y="164"/>
                </a:lnTo>
                <a:lnTo>
                  <a:pt x="13" y="152"/>
                </a:lnTo>
                <a:lnTo>
                  <a:pt x="10" y="139"/>
                </a:lnTo>
                <a:lnTo>
                  <a:pt x="7" y="126"/>
                </a:lnTo>
                <a:lnTo>
                  <a:pt x="5" y="112"/>
                </a:lnTo>
                <a:lnTo>
                  <a:pt x="5" y="99"/>
                </a:lnTo>
                <a:lnTo>
                  <a:pt x="5" y="86"/>
                </a:lnTo>
                <a:lnTo>
                  <a:pt x="7" y="71"/>
                </a:lnTo>
                <a:lnTo>
                  <a:pt x="10" y="58"/>
                </a:lnTo>
                <a:lnTo>
                  <a:pt x="13" y="46"/>
                </a:lnTo>
                <a:lnTo>
                  <a:pt x="18" y="33"/>
                </a:lnTo>
                <a:lnTo>
                  <a:pt x="23" y="21"/>
                </a:lnTo>
                <a:lnTo>
                  <a:pt x="30" y="10"/>
                </a:lnTo>
                <a:lnTo>
                  <a:pt x="37" y="0"/>
                </a:lnTo>
                <a:lnTo>
                  <a:pt x="32"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47" name="Freeform 1352">
            <a:extLst>
              <a:ext uri="{FF2B5EF4-FFF2-40B4-BE49-F238E27FC236}">
                <a16:creationId xmlns:a16="http://schemas.microsoft.com/office/drawing/2014/main" id="{87E1E0E6-4465-66B0-15FF-516E081AF80D}"/>
              </a:ext>
            </a:extLst>
          </p:cNvPr>
          <p:cNvSpPr>
            <a:spLocks noEditPoints="1"/>
          </p:cNvSpPr>
          <p:nvPr/>
        </p:nvSpPr>
        <p:spPr bwMode="auto">
          <a:xfrm>
            <a:off x="2644775" y="2403475"/>
            <a:ext cx="541338" cy="315913"/>
          </a:xfrm>
          <a:custGeom>
            <a:avLst/>
            <a:gdLst>
              <a:gd name="T0" fmla="*/ 339 w 341"/>
              <a:gd name="T1" fmla="*/ 86 h 199"/>
              <a:gd name="T2" fmla="*/ 336 w 341"/>
              <a:gd name="T3" fmla="*/ 59 h 199"/>
              <a:gd name="T4" fmla="*/ 328 w 341"/>
              <a:gd name="T5" fmla="*/ 33 h 199"/>
              <a:gd name="T6" fmla="*/ 314 w 341"/>
              <a:gd name="T7" fmla="*/ 10 h 199"/>
              <a:gd name="T8" fmla="*/ 303 w 341"/>
              <a:gd name="T9" fmla="*/ 0 h 199"/>
              <a:gd name="T10" fmla="*/ 316 w 341"/>
              <a:gd name="T11" fmla="*/ 21 h 199"/>
              <a:gd name="T12" fmla="*/ 326 w 341"/>
              <a:gd name="T13" fmla="*/ 46 h 199"/>
              <a:gd name="T14" fmla="*/ 333 w 341"/>
              <a:gd name="T15" fmla="*/ 71 h 199"/>
              <a:gd name="T16" fmla="*/ 336 w 341"/>
              <a:gd name="T17" fmla="*/ 99 h 199"/>
              <a:gd name="T18" fmla="*/ 333 w 341"/>
              <a:gd name="T19" fmla="*/ 126 h 199"/>
              <a:gd name="T20" fmla="*/ 326 w 341"/>
              <a:gd name="T21" fmla="*/ 152 h 199"/>
              <a:gd name="T22" fmla="*/ 316 w 341"/>
              <a:gd name="T23" fmla="*/ 177 h 199"/>
              <a:gd name="T24" fmla="*/ 303 w 341"/>
              <a:gd name="T25" fmla="*/ 199 h 199"/>
              <a:gd name="T26" fmla="*/ 314 w 341"/>
              <a:gd name="T27" fmla="*/ 187 h 199"/>
              <a:gd name="T28" fmla="*/ 328 w 341"/>
              <a:gd name="T29" fmla="*/ 164 h 199"/>
              <a:gd name="T30" fmla="*/ 336 w 341"/>
              <a:gd name="T31" fmla="*/ 139 h 199"/>
              <a:gd name="T32" fmla="*/ 339 w 341"/>
              <a:gd name="T33" fmla="*/ 112 h 199"/>
              <a:gd name="T34" fmla="*/ 33 w 341"/>
              <a:gd name="T35" fmla="*/ 0 h 199"/>
              <a:gd name="T36" fmla="*/ 18 w 341"/>
              <a:gd name="T37" fmla="*/ 21 h 199"/>
              <a:gd name="T38" fmla="*/ 8 w 341"/>
              <a:gd name="T39" fmla="*/ 46 h 199"/>
              <a:gd name="T40" fmla="*/ 1 w 341"/>
              <a:gd name="T41" fmla="*/ 71 h 199"/>
              <a:gd name="T42" fmla="*/ 0 w 341"/>
              <a:gd name="T43" fmla="*/ 99 h 199"/>
              <a:gd name="T44" fmla="*/ 1 w 341"/>
              <a:gd name="T45" fmla="*/ 126 h 199"/>
              <a:gd name="T46" fmla="*/ 8 w 341"/>
              <a:gd name="T47" fmla="*/ 152 h 199"/>
              <a:gd name="T48" fmla="*/ 18 w 341"/>
              <a:gd name="T49" fmla="*/ 177 h 199"/>
              <a:gd name="T50" fmla="*/ 33 w 341"/>
              <a:gd name="T51" fmla="*/ 199 h 199"/>
              <a:gd name="T52" fmla="*/ 31 w 341"/>
              <a:gd name="T53" fmla="*/ 187 h 199"/>
              <a:gd name="T54" fmla="*/ 18 w 341"/>
              <a:gd name="T55" fmla="*/ 165 h 199"/>
              <a:gd name="T56" fmla="*/ 10 w 341"/>
              <a:gd name="T57" fmla="*/ 139 h 199"/>
              <a:gd name="T58" fmla="*/ 5 w 341"/>
              <a:gd name="T59" fmla="*/ 112 h 199"/>
              <a:gd name="T60" fmla="*/ 5 w 341"/>
              <a:gd name="T61" fmla="*/ 86 h 199"/>
              <a:gd name="T62" fmla="*/ 10 w 341"/>
              <a:gd name="T63" fmla="*/ 58 h 199"/>
              <a:gd name="T64" fmla="*/ 18 w 341"/>
              <a:gd name="T65" fmla="*/ 33 h 199"/>
              <a:gd name="T66" fmla="*/ 31 w 341"/>
              <a:gd name="T67" fmla="*/ 10 h 199"/>
              <a:gd name="T68" fmla="*/ 33 w 34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1" h="199">
                <a:moveTo>
                  <a:pt x="341" y="99"/>
                </a:moveTo>
                <a:lnTo>
                  <a:pt x="339" y="86"/>
                </a:lnTo>
                <a:lnTo>
                  <a:pt x="338" y="71"/>
                </a:lnTo>
                <a:lnTo>
                  <a:pt x="336" y="59"/>
                </a:lnTo>
                <a:lnTo>
                  <a:pt x="331" y="46"/>
                </a:lnTo>
                <a:lnTo>
                  <a:pt x="328" y="33"/>
                </a:lnTo>
                <a:lnTo>
                  <a:pt x="321" y="21"/>
                </a:lnTo>
                <a:lnTo>
                  <a:pt x="314" y="10"/>
                </a:lnTo>
                <a:lnTo>
                  <a:pt x="308" y="0"/>
                </a:lnTo>
                <a:lnTo>
                  <a:pt x="303" y="0"/>
                </a:lnTo>
                <a:lnTo>
                  <a:pt x="310" y="10"/>
                </a:lnTo>
                <a:lnTo>
                  <a:pt x="316" y="21"/>
                </a:lnTo>
                <a:lnTo>
                  <a:pt x="321" y="33"/>
                </a:lnTo>
                <a:lnTo>
                  <a:pt x="326" y="46"/>
                </a:lnTo>
                <a:lnTo>
                  <a:pt x="331" y="58"/>
                </a:lnTo>
                <a:lnTo>
                  <a:pt x="333" y="71"/>
                </a:lnTo>
                <a:lnTo>
                  <a:pt x="334" y="86"/>
                </a:lnTo>
                <a:lnTo>
                  <a:pt x="336" y="99"/>
                </a:lnTo>
                <a:lnTo>
                  <a:pt x="334" y="112"/>
                </a:lnTo>
                <a:lnTo>
                  <a:pt x="333" y="126"/>
                </a:lnTo>
                <a:lnTo>
                  <a:pt x="331" y="139"/>
                </a:lnTo>
                <a:lnTo>
                  <a:pt x="326" y="152"/>
                </a:lnTo>
                <a:lnTo>
                  <a:pt x="321" y="165"/>
                </a:lnTo>
                <a:lnTo>
                  <a:pt x="316" y="177"/>
                </a:lnTo>
                <a:lnTo>
                  <a:pt x="310" y="187"/>
                </a:lnTo>
                <a:lnTo>
                  <a:pt x="303" y="199"/>
                </a:lnTo>
                <a:lnTo>
                  <a:pt x="308" y="199"/>
                </a:lnTo>
                <a:lnTo>
                  <a:pt x="314" y="187"/>
                </a:lnTo>
                <a:lnTo>
                  <a:pt x="321" y="177"/>
                </a:lnTo>
                <a:lnTo>
                  <a:pt x="328" y="164"/>
                </a:lnTo>
                <a:lnTo>
                  <a:pt x="331" y="152"/>
                </a:lnTo>
                <a:lnTo>
                  <a:pt x="336" y="139"/>
                </a:lnTo>
                <a:lnTo>
                  <a:pt x="338" y="126"/>
                </a:lnTo>
                <a:lnTo>
                  <a:pt x="339" y="112"/>
                </a:lnTo>
                <a:lnTo>
                  <a:pt x="341" y="99"/>
                </a:lnTo>
                <a:close/>
                <a:moveTo>
                  <a:pt x="33" y="0"/>
                </a:moveTo>
                <a:lnTo>
                  <a:pt x="25" y="10"/>
                </a:lnTo>
                <a:lnTo>
                  <a:pt x="18" y="21"/>
                </a:lnTo>
                <a:lnTo>
                  <a:pt x="13" y="33"/>
                </a:lnTo>
                <a:lnTo>
                  <a:pt x="8" y="46"/>
                </a:lnTo>
                <a:lnTo>
                  <a:pt x="5" y="59"/>
                </a:lnTo>
                <a:lnTo>
                  <a:pt x="1" y="71"/>
                </a:lnTo>
                <a:lnTo>
                  <a:pt x="1" y="86"/>
                </a:lnTo>
                <a:lnTo>
                  <a:pt x="0" y="99"/>
                </a:lnTo>
                <a:lnTo>
                  <a:pt x="1" y="112"/>
                </a:lnTo>
                <a:lnTo>
                  <a:pt x="1" y="126"/>
                </a:lnTo>
                <a:lnTo>
                  <a:pt x="5" y="139"/>
                </a:lnTo>
                <a:lnTo>
                  <a:pt x="8" y="152"/>
                </a:lnTo>
                <a:lnTo>
                  <a:pt x="13" y="164"/>
                </a:lnTo>
                <a:lnTo>
                  <a:pt x="18" y="177"/>
                </a:lnTo>
                <a:lnTo>
                  <a:pt x="25" y="187"/>
                </a:lnTo>
                <a:lnTo>
                  <a:pt x="33" y="199"/>
                </a:lnTo>
                <a:lnTo>
                  <a:pt x="38" y="199"/>
                </a:lnTo>
                <a:lnTo>
                  <a:pt x="31" y="187"/>
                </a:lnTo>
                <a:lnTo>
                  <a:pt x="25" y="177"/>
                </a:lnTo>
                <a:lnTo>
                  <a:pt x="18" y="165"/>
                </a:lnTo>
                <a:lnTo>
                  <a:pt x="13" y="152"/>
                </a:lnTo>
                <a:lnTo>
                  <a:pt x="10" y="139"/>
                </a:lnTo>
                <a:lnTo>
                  <a:pt x="6" y="126"/>
                </a:lnTo>
                <a:lnTo>
                  <a:pt x="5" y="112"/>
                </a:lnTo>
                <a:lnTo>
                  <a:pt x="5" y="99"/>
                </a:lnTo>
                <a:lnTo>
                  <a:pt x="5" y="86"/>
                </a:lnTo>
                <a:lnTo>
                  <a:pt x="6" y="71"/>
                </a:lnTo>
                <a:lnTo>
                  <a:pt x="10" y="58"/>
                </a:lnTo>
                <a:lnTo>
                  <a:pt x="13" y="46"/>
                </a:lnTo>
                <a:lnTo>
                  <a:pt x="18" y="33"/>
                </a:lnTo>
                <a:lnTo>
                  <a:pt x="25" y="21"/>
                </a:lnTo>
                <a:lnTo>
                  <a:pt x="31" y="10"/>
                </a:lnTo>
                <a:lnTo>
                  <a:pt x="38" y="0"/>
                </a:lnTo>
                <a:lnTo>
                  <a:pt x="3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48" name="Freeform 1353">
            <a:extLst>
              <a:ext uri="{FF2B5EF4-FFF2-40B4-BE49-F238E27FC236}">
                <a16:creationId xmlns:a16="http://schemas.microsoft.com/office/drawing/2014/main" id="{F0893106-60B8-7150-13AA-4676E8330EC4}"/>
              </a:ext>
            </a:extLst>
          </p:cNvPr>
          <p:cNvSpPr>
            <a:spLocks noEditPoints="1"/>
          </p:cNvSpPr>
          <p:nvPr/>
        </p:nvSpPr>
        <p:spPr bwMode="auto">
          <a:xfrm>
            <a:off x="2649538" y="2403475"/>
            <a:ext cx="531813" cy="315913"/>
          </a:xfrm>
          <a:custGeom>
            <a:avLst/>
            <a:gdLst>
              <a:gd name="T0" fmla="*/ 335 w 335"/>
              <a:gd name="T1" fmla="*/ 86 h 199"/>
              <a:gd name="T2" fmla="*/ 330 w 335"/>
              <a:gd name="T3" fmla="*/ 58 h 199"/>
              <a:gd name="T4" fmla="*/ 321 w 335"/>
              <a:gd name="T5" fmla="*/ 33 h 199"/>
              <a:gd name="T6" fmla="*/ 310 w 335"/>
              <a:gd name="T7" fmla="*/ 10 h 199"/>
              <a:gd name="T8" fmla="*/ 297 w 335"/>
              <a:gd name="T9" fmla="*/ 0 h 199"/>
              <a:gd name="T10" fmla="*/ 310 w 335"/>
              <a:gd name="T11" fmla="*/ 21 h 199"/>
              <a:gd name="T12" fmla="*/ 321 w 335"/>
              <a:gd name="T13" fmla="*/ 46 h 199"/>
              <a:gd name="T14" fmla="*/ 328 w 335"/>
              <a:gd name="T15" fmla="*/ 71 h 199"/>
              <a:gd name="T16" fmla="*/ 330 w 335"/>
              <a:gd name="T17" fmla="*/ 99 h 199"/>
              <a:gd name="T18" fmla="*/ 328 w 335"/>
              <a:gd name="T19" fmla="*/ 126 h 199"/>
              <a:gd name="T20" fmla="*/ 321 w 335"/>
              <a:gd name="T21" fmla="*/ 152 h 199"/>
              <a:gd name="T22" fmla="*/ 310 w 335"/>
              <a:gd name="T23" fmla="*/ 177 h 199"/>
              <a:gd name="T24" fmla="*/ 297 w 335"/>
              <a:gd name="T25" fmla="*/ 199 h 199"/>
              <a:gd name="T26" fmla="*/ 310 w 335"/>
              <a:gd name="T27" fmla="*/ 187 h 199"/>
              <a:gd name="T28" fmla="*/ 321 w 335"/>
              <a:gd name="T29" fmla="*/ 164 h 199"/>
              <a:gd name="T30" fmla="*/ 330 w 335"/>
              <a:gd name="T31" fmla="*/ 139 h 199"/>
              <a:gd name="T32" fmla="*/ 335 w 335"/>
              <a:gd name="T33" fmla="*/ 112 h 199"/>
              <a:gd name="T34" fmla="*/ 32 w 335"/>
              <a:gd name="T35" fmla="*/ 0 h 199"/>
              <a:gd name="T36" fmla="*/ 18 w 335"/>
              <a:gd name="T37" fmla="*/ 21 h 199"/>
              <a:gd name="T38" fmla="*/ 8 w 335"/>
              <a:gd name="T39" fmla="*/ 46 h 199"/>
              <a:gd name="T40" fmla="*/ 2 w 335"/>
              <a:gd name="T41" fmla="*/ 71 h 199"/>
              <a:gd name="T42" fmla="*/ 0 w 335"/>
              <a:gd name="T43" fmla="*/ 99 h 199"/>
              <a:gd name="T44" fmla="*/ 2 w 335"/>
              <a:gd name="T45" fmla="*/ 126 h 199"/>
              <a:gd name="T46" fmla="*/ 8 w 335"/>
              <a:gd name="T47" fmla="*/ 152 h 199"/>
              <a:gd name="T48" fmla="*/ 18 w 335"/>
              <a:gd name="T49" fmla="*/ 177 h 199"/>
              <a:gd name="T50" fmla="*/ 32 w 335"/>
              <a:gd name="T51" fmla="*/ 199 h 199"/>
              <a:gd name="T52" fmla="*/ 30 w 335"/>
              <a:gd name="T53" fmla="*/ 187 h 199"/>
              <a:gd name="T54" fmla="*/ 18 w 335"/>
              <a:gd name="T55" fmla="*/ 165 h 199"/>
              <a:gd name="T56" fmla="*/ 10 w 335"/>
              <a:gd name="T57" fmla="*/ 139 h 199"/>
              <a:gd name="T58" fmla="*/ 5 w 335"/>
              <a:gd name="T59" fmla="*/ 112 h 199"/>
              <a:gd name="T60" fmla="*/ 5 w 335"/>
              <a:gd name="T61" fmla="*/ 86 h 199"/>
              <a:gd name="T62" fmla="*/ 10 w 335"/>
              <a:gd name="T63" fmla="*/ 58 h 199"/>
              <a:gd name="T64" fmla="*/ 18 w 335"/>
              <a:gd name="T65" fmla="*/ 33 h 199"/>
              <a:gd name="T66" fmla="*/ 30 w 335"/>
              <a:gd name="T67" fmla="*/ 10 h 199"/>
              <a:gd name="T68" fmla="*/ 32 w 33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5" h="199">
                <a:moveTo>
                  <a:pt x="335" y="99"/>
                </a:moveTo>
                <a:lnTo>
                  <a:pt x="335" y="86"/>
                </a:lnTo>
                <a:lnTo>
                  <a:pt x="333" y="71"/>
                </a:lnTo>
                <a:lnTo>
                  <a:pt x="330" y="58"/>
                </a:lnTo>
                <a:lnTo>
                  <a:pt x="326" y="46"/>
                </a:lnTo>
                <a:lnTo>
                  <a:pt x="321" y="33"/>
                </a:lnTo>
                <a:lnTo>
                  <a:pt x="316" y="21"/>
                </a:lnTo>
                <a:lnTo>
                  <a:pt x="310" y="10"/>
                </a:lnTo>
                <a:lnTo>
                  <a:pt x="302" y="0"/>
                </a:lnTo>
                <a:lnTo>
                  <a:pt x="297" y="0"/>
                </a:lnTo>
                <a:lnTo>
                  <a:pt x="303" y="10"/>
                </a:lnTo>
                <a:lnTo>
                  <a:pt x="310" y="21"/>
                </a:lnTo>
                <a:lnTo>
                  <a:pt x="316" y="33"/>
                </a:lnTo>
                <a:lnTo>
                  <a:pt x="321" y="46"/>
                </a:lnTo>
                <a:lnTo>
                  <a:pt x="325" y="58"/>
                </a:lnTo>
                <a:lnTo>
                  <a:pt x="328" y="71"/>
                </a:lnTo>
                <a:lnTo>
                  <a:pt x="330" y="86"/>
                </a:lnTo>
                <a:lnTo>
                  <a:pt x="330" y="99"/>
                </a:lnTo>
                <a:lnTo>
                  <a:pt x="330" y="112"/>
                </a:lnTo>
                <a:lnTo>
                  <a:pt x="328" y="126"/>
                </a:lnTo>
                <a:lnTo>
                  <a:pt x="325" y="139"/>
                </a:lnTo>
                <a:lnTo>
                  <a:pt x="321" y="152"/>
                </a:lnTo>
                <a:lnTo>
                  <a:pt x="316" y="165"/>
                </a:lnTo>
                <a:lnTo>
                  <a:pt x="310" y="177"/>
                </a:lnTo>
                <a:lnTo>
                  <a:pt x="303" y="187"/>
                </a:lnTo>
                <a:lnTo>
                  <a:pt x="297" y="199"/>
                </a:lnTo>
                <a:lnTo>
                  <a:pt x="302" y="199"/>
                </a:lnTo>
                <a:lnTo>
                  <a:pt x="310" y="187"/>
                </a:lnTo>
                <a:lnTo>
                  <a:pt x="316" y="177"/>
                </a:lnTo>
                <a:lnTo>
                  <a:pt x="321" y="164"/>
                </a:lnTo>
                <a:lnTo>
                  <a:pt x="326" y="152"/>
                </a:lnTo>
                <a:lnTo>
                  <a:pt x="330" y="139"/>
                </a:lnTo>
                <a:lnTo>
                  <a:pt x="333" y="126"/>
                </a:lnTo>
                <a:lnTo>
                  <a:pt x="335" y="112"/>
                </a:lnTo>
                <a:lnTo>
                  <a:pt x="335" y="99"/>
                </a:lnTo>
                <a:close/>
                <a:moveTo>
                  <a:pt x="32" y="0"/>
                </a:moveTo>
                <a:lnTo>
                  <a:pt x="25" y="10"/>
                </a:lnTo>
                <a:lnTo>
                  <a:pt x="18" y="21"/>
                </a:lnTo>
                <a:lnTo>
                  <a:pt x="13" y="33"/>
                </a:lnTo>
                <a:lnTo>
                  <a:pt x="8" y="46"/>
                </a:lnTo>
                <a:lnTo>
                  <a:pt x="5" y="58"/>
                </a:lnTo>
                <a:lnTo>
                  <a:pt x="2" y="71"/>
                </a:lnTo>
                <a:lnTo>
                  <a:pt x="0" y="86"/>
                </a:lnTo>
                <a:lnTo>
                  <a:pt x="0" y="99"/>
                </a:lnTo>
                <a:lnTo>
                  <a:pt x="0" y="112"/>
                </a:lnTo>
                <a:lnTo>
                  <a:pt x="2" y="126"/>
                </a:lnTo>
                <a:lnTo>
                  <a:pt x="5" y="139"/>
                </a:lnTo>
                <a:lnTo>
                  <a:pt x="8" y="152"/>
                </a:lnTo>
                <a:lnTo>
                  <a:pt x="13" y="164"/>
                </a:lnTo>
                <a:lnTo>
                  <a:pt x="18" y="177"/>
                </a:lnTo>
                <a:lnTo>
                  <a:pt x="25" y="187"/>
                </a:lnTo>
                <a:lnTo>
                  <a:pt x="32" y="199"/>
                </a:lnTo>
                <a:lnTo>
                  <a:pt x="38" y="199"/>
                </a:lnTo>
                <a:lnTo>
                  <a:pt x="30" y="187"/>
                </a:lnTo>
                <a:lnTo>
                  <a:pt x="23" y="177"/>
                </a:lnTo>
                <a:lnTo>
                  <a:pt x="18" y="165"/>
                </a:lnTo>
                <a:lnTo>
                  <a:pt x="13" y="152"/>
                </a:lnTo>
                <a:lnTo>
                  <a:pt x="10" y="139"/>
                </a:lnTo>
                <a:lnTo>
                  <a:pt x="7" y="126"/>
                </a:lnTo>
                <a:lnTo>
                  <a:pt x="5" y="112"/>
                </a:lnTo>
                <a:lnTo>
                  <a:pt x="5" y="99"/>
                </a:lnTo>
                <a:lnTo>
                  <a:pt x="5" y="86"/>
                </a:lnTo>
                <a:lnTo>
                  <a:pt x="7" y="71"/>
                </a:lnTo>
                <a:lnTo>
                  <a:pt x="10" y="58"/>
                </a:lnTo>
                <a:lnTo>
                  <a:pt x="13" y="46"/>
                </a:lnTo>
                <a:lnTo>
                  <a:pt x="18" y="33"/>
                </a:lnTo>
                <a:lnTo>
                  <a:pt x="23" y="21"/>
                </a:lnTo>
                <a:lnTo>
                  <a:pt x="30" y="10"/>
                </a:lnTo>
                <a:lnTo>
                  <a:pt x="38" y="0"/>
                </a:lnTo>
                <a:lnTo>
                  <a:pt x="32"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49" name="Freeform 1354">
            <a:extLst>
              <a:ext uri="{FF2B5EF4-FFF2-40B4-BE49-F238E27FC236}">
                <a16:creationId xmlns:a16="http://schemas.microsoft.com/office/drawing/2014/main" id="{4AAEE58D-92D4-817D-E094-8C8FB06BF099}"/>
              </a:ext>
            </a:extLst>
          </p:cNvPr>
          <p:cNvSpPr>
            <a:spLocks noEditPoints="1"/>
          </p:cNvSpPr>
          <p:nvPr/>
        </p:nvSpPr>
        <p:spPr bwMode="auto">
          <a:xfrm>
            <a:off x="2652713" y="2403475"/>
            <a:ext cx="525463" cy="315913"/>
          </a:xfrm>
          <a:custGeom>
            <a:avLst/>
            <a:gdLst>
              <a:gd name="T0" fmla="*/ 329 w 331"/>
              <a:gd name="T1" fmla="*/ 86 h 199"/>
              <a:gd name="T2" fmla="*/ 326 w 331"/>
              <a:gd name="T3" fmla="*/ 58 h 199"/>
              <a:gd name="T4" fmla="*/ 316 w 331"/>
              <a:gd name="T5" fmla="*/ 33 h 199"/>
              <a:gd name="T6" fmla="*/ 305 w 331"/>
              <a:gd name="T7" fmla="*/ 10 h 199"/>
              <a:gd name="T8" fmla="*/ 291 w 331"/>
              <a:gd name="T9" fmla="*/ 0 h 199"/>
              <a:gd name="T10" fmla="*/ 306 w 331"/>
              <a:gd name="T11" fmla="*/ 21 h 199"/>
              <a:gd name="T12" fmla="*/ 316 w 331"/>
              <a:gd name="T13" fmla="*/ 46 h 199"/>
              <a:gd name="T14" fmla="*/ 323 w 331"/>
              <a:gd name="T15" fmla="*/ 71 h 199"/>
              <a:gd name="T16" fmla="*/ 326 w 331"/>
              <a:gd name="T17" fmla="*/ 99 h 199"/>
              <a:gd name="T18" fmla="*/ 323 w 331"/>
              <a:gd name="T19" fmla="*/ 127 h 199"/>
              <a:gd name="T20" fmla="*/ 316 w 331"/>
              <a:gd name="T21" fmla="*/ 152 h 199"/>
              <a:gd name="T22" fmla="*/ 306 w 331"/>
              <a:gd name="T23" fmla="*/ 177 h 199"/>
              <a:gd name="T24" fmla="*/ 291 w 331"/>
              <a:gd name="T25" fmla="*/ 199 h 199"/>
              <a:gd name="T26" fmla="*/ 305 w 331"/>
              <a:gd name="T27" fmla="*/ 187 h 199"/>
              <a:gd name="T28" fmla="*/ 316 w 331"/>
              <a:gd name="T29" fmla="*/ 165 h 199"/>
              <a:gd name="T30" fmla="*/ 326 w 331"/>
              <a:gd name="T31" fmla="*/ 139 h 199"/>
              <a:gd name="T32" fmla="*/ 329 w 331"/>
              <a:gd name="T33" fmla="*/ 112 h 199"/>
              <a:gd name="T34" fmla="*/ 33 w 331"/>
              <a:gd name="T35" fmla="*/ 0 h 199"/>
              <a:gd name="T36" fmla="*/ 20 w 331"/>
              <a:gd name="T37" fmla="*/ 21 h 199"/>
              <a:gd name="T38" fmla="*/ 8 w 331"/>
              <a:gd name="T39" fmla="*/ 46 h 199"/>
              <a:gd name="T40" fmla="*/ 1 w 331"/>
              <a:gd name="T41" fmla="*/ 71 h 199"/>
              <a:gd name="T42" fmla="*/ 0 w 331"/>
              <a:gd name="T43" fmla="*/ 99 h 199"/>
              <a:gd name="T44" fmla="*/ 1 w 331"/>
              <a:gd name="T45" fmla="*/ 126 h 199"/>
              <a:gd name="T46" fmla="*/ 8 w 331"/>
              <a:gd name="T47" fmla="*/ 152 h 199"/>
              <a:gd name="T48" fmla="*/ 20 w 331"/>
              <a:gd name="T49" fmla="*/ 177 h 199"/>
              <a:gd name="T50" fmla="*/ 33 w 331"/>
              <a:gd name="T51" fmla="*/ 199 h 199"/>
              <a:gd name="T52" fmla="*/ 31 w 331"/>
              <a:gd name="T53" fmla="*/ 189 h 199"/>
              <a:gd name="T54" fmla="*/ 18 w 331"/>
              <a:gd name="T55" fmla="*/ 165 h 199"/>
              <a:gd name="T56" fmla="*/ 10 w 331"/>
              <a:gd name="T57" fmla="*/ 139 h 199"/>
              <a:gd name="T58" fmla="*/ 5 w 331"/>
              <a:gd name="T59" fmla="*/ 112 h 199"/>
              <a:gd name="T60" fmla="*/ 5 w 331"/>
              <a:gd name="T61" fmla="*/ 84 h 199"/>
              <a:gd name="T62" fmla="*/ 10 w 331"/>
              <a:gd name="T63" fmla="*/ 58 h 199"/>
              <a:gd name="T64" fmla="*/ 18 w 331"/>
              <a:gd name="T65" fmla="*/ 33 h 199"/>
              <a:gd name="T66" fmla="*/ 31 w 331"/>
              <a:gd name="T67" fmla="*/ 10 h 199"/>
              <a:gd name="T68" fmla="*/ 33 w 33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1" h="199">
                <a:moveTo>
                  <a:pt x="331" y="99"/>
                </a:moveTo>
                <a:lnTo>
                  <a:pt x="329" y="86"/>
                </a:lnTo>
                <a:lnTo>
                  <a:pt x="328" y="71"/>
                </a:lnTo>
                <a:lnTo>
                  <a:pt x="326" y="58"/>
                </a:lnTo>
                <a:lnTo>
                  <a:pt x="321" y="46"/>
                </a:lnTo>
                <a:lnTo>
                  <a:pt x="316" y="33"/>
                </a:lnTo>
                <a:lnTo>
                  <a:pt x="311" y="21"/>
                </a:lnTo>
                <a:lnTo>
                  <a:pt x="305" y="10"/>
                </a:lnTo>
                <a:lnTo>
                  <a:pt x="298" y="0"/>
                </a:lnTo>
                <a:lnTo>
                  <a:pt x="291" y="0"/>
                </a:lnTo>
                <a:lnTo>
                  <a:pt x="300" y="10"/>
                </a:lnTo>
                <a:lnTo>
                  <a:pt x="306" y="21"/>
                </a:lnTo>
                <a:lnTo>
                  <a:pt x="311" y="33"/>
                </a:lnTo>
                <a:lnTo>
                  <a:pt x="316" y="46"/>
                </a:lnTo>
                <a:lnTo>
                  <a:pt x="321" y="58"/>
                </a:lnTo>
                <a:lnTo>
                  <a:pt x="323" y="71"/>
                </a:lnTo>
                <a:lnTo>
                  <a:pt x="324" y="84"/>
                </a:lnTo>
                <a:lnTo>
                  <a:pt x="326" y="99"/>
                </a:lnTo>
                <a:lnTo>
                  <a:pt x="324" y="112"/>
                </a:lnTo>
                <a:lnTo>
                  <a:pt x="323" y="127"/>
                </a:lnTo>
                <a:lnTo>
                  <a:pt x="321" y="139"/>
                </a:lnTo>
                <a:lnTo>
                  <a:pt x="316" y="152"/>
                </a:lnTo>
                <a:lnTo>
                  <a:pt x="311" y="165"/>
                </a:lnTo>
                <a:lnTo>
                  <a:pt x="306" y="177"/>
                </a:lnTo>
                <a:lnTo>
                  <a:pt x="300" y="189"/>
                </a:lnTo>
                <a:lnTo>
                  <a:pt x="291" y="199"/>
                </a:lnTo>
                <a:lnTo>
                  <a:pt x="298" y="199"/>
                </a:lnTo>
                <a:lnTo>
                  <a:pt x="305" y="187"/>
                </a:lnTo>
                <a:lnTo>
                  <a:pt x="311" y="177"/>
                </a:lnTo>
                <a:lnTo>
                  <a:pt x="316" y="165"/>
                </a:lnTo>
                <a:lnTo>
                  <a:pt x="321" y="152"/>
                </a:lnTo>
                <a:lnTo>
                  <a:pt x="326" y="139"/>
                </a:lnTo>
                <a:lnTo>
                  <a:pt x="328" y="126"/>
                </a:lnTo>
                <a:lnTo>
                  <a:pt x="329" y="112"/>
                </a:lnTo>
                <a:lnTo>
                  <a:pt x="331" y="99"/>
                </a:lnTo>
                <a:close/>
                <a:moveTo>
                  <a:pt x="33" y="0"/>
                </a:moveTo>
                <a:lnTo>
                  <a:pt x="26" y="10"/>
                </a:lnTo>
                <a:lnTo>
                  <a:pt x="20" y="21"/>
                </a:lnTo>
                <a:lnTo>
                  <a:pt x="13" y="33"/>
                </a:lnTo>
                <a:lnTo>
                  <a:pt x="8" y="46"/>
                </a:lnTo>
                <a:lnTo>
                  <a:pt x="5" y="58"/>
                </a:lnTo>
                <a:lnTo>
                  <a:pt x="1" y="71"/>
                </a:lnTo>
                <a:lnTo>
                  <a:pt x="0" y="86"/>
                </a:lnTo>
                <a:lnTo>
                  <a:pt x="0" y="99"/>
                </a:lnTo>
                <a:lnTo>
                  <a:pt x="0" y="112"/>
                </a:lnTo>
                <a:lnTo>
                  <a:pt x="1" y="126"/>
                </a:lnTo>
                <a:lnTo>
                  <a:pt x="5" y="139"/>
                </a:lnTo>
                <a:lnTo>
                  <a:pt x="8" y="152"/>
                </a:lnTo>
                <a:lnTo>
                  <a:pt x="13" y="165"/>
                </a:lnTo>
                <a:lnTo>
                  <a:pt x="20" y="177"/>
                </a:lnTo>
                <a:lnTo>
                  <a:pt x="26" y="187"/>
                </a:lnTo>
                <a:lnTo>
                  <a:pt x="33" y="199"/>
                </a:lnTo>
                <a:lnTo>
                  <a:pt x="40" y="199"/>
                </a:lnTo>
                <a:lnTo>
                  <a:pt x="31" y="189"/>
                </a:lnTo>
                <a:lnTo>
                  <a:pt x="25" y="177"/>
                </a:lnTo>
                <a:lnTo>
                  <a:pt x="18" y="165"/>
                </a:lnTo>
                <a:lnTo>
                  <a:pt x="13" y="152"/>
                </a:lnTo>
                <a:lnTo>
                  <a:pt x="10" y="139"/>
                </a:lnTo>
                <a:lnTo>
                  <a:pt x="6" y="127"/>
                </a:lnTo>
                <a:lnTo>
                  <a:pt x="5" y="112"/>
                </a:lnTo>
                <a:lnTo>
                  <a:pt x="5" y="99"/>
                </a:lnTo>
                <a:lnTo>
                  <a:pt x="5" y="84"/>
                </a:lnTo>
                <a:lnTo>
                  <a:pt x="6" y="71"/>
                </a:lnTo>
                <a:lnTo>
                  <a:pt x="10" y="58"/>
                </a:lnTo>
                <a:lnTo>
                  <a:pt x="13" y="46"/>
                </a:lnTo>
                <a:lnTo>
                  <a:pt x="18" y="33"/>
                </a:lnTo>
                <a:lnTo>
                  <a:pt x="25" y="21"/>
                </a:lnTo>
                <a:lnTo>
                  <a:pt x="31" y="10"/>
                </a:lnTo>
                <a:lnTo>
                  <a:pt x="40" y="0"/>
                </a:lnTo>
                <a:lnTo>
                  <a:pt x="3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50" name="Freeform 1355">
            <a:extLst>
              <a:ext uri="{FF2B5EF4-FFF2-40B4-BE49-F238E27FC236}">
                <a16:creationId xmlns:a16="http://schemas.microsoft.com/office/drawing/2014/main" id="{D8EC7097-CC95-56DC-30D1-E0BA252FE473}"/>
              </a:ext>
            </a:extLst>
          </p:cNvPr>
          <p:cNvSpPr>
            <a:spLocks noEditPoints="1"/>
          </p:cNvSpPr>
          <p:nvPr/>
        </p:nvSpPr>
        <p:spPr bwMode="auto">
          <a:xfrm>
            <a:off x="2657475" y="2403475"/>
            <a:ext cx="515938" cy="315913"/>
          </a:xfrm>
          <a:custGeom>
            <a:avLst/>
            <a:gdLst>
              <a:gd name="T0" fmla="*/ 325 w 325"/>
              <a:gd name="T1" fmla="*/ 86 h 199"/>
              <a:gd name="T2" fmla="*/ 320 w 325"/>
              <a:gd name="T3" fmla="*/ 58 h 199"/>
              <a:gd name="T4" fmla="*/ 311 w 325"/>
              <a:gd name="T5" fmla="*/ 33 h 199"/>
              <a:gd name="T6" fmla="*/ 298 w 325"/>
              <a:gd name="T7" fmla="*/ 10 h 199"/>
              <a:gd name="T8" fmla="*/ 285 w 325"/>
              <a:gd name="T9" fmla="*/ 0 h 199"/>
              <a:gd name="T10" fmla="*/ 300 w 325"/>
              <a:gd name="T11" fmla="*/ 21 h 199"/>
              <a:gd name="T12" fmla="*/ 311 w 325"/>
              <a:gd name="T13" fmla="*/ 46 h 199"/>
              <a:gd name="T14" fmla="*/ 318 w 325"/>
              <a:gd name="T15" fmla="*/ 71 h 199"/>
              <a:gd name="T16" fmla="*/ 320 w 325"/>
              <a:gd name="T17" fmla="*/ 99 h 199"/>
              <a:gd name="T18" fmla="*/ 318 w 325"/>
              <a:gd name="T19" fmla="*/ 127 h 199"/>
              <a:gd name="T20" fmla="*/ 311 w 325"/>
              <a:gd name="T21" fmla="*/ 152 h 199"/>
              <a:gd name="T22" fmla="*/ 300 w 325"/>
              <a:gd name="T23" fmla="*/ 177 h 199"/>
              <a:gd name="T24" fmla="*/ 285 w 325"/>
              <a:gd name="T25" fmla="*/ 199 h 199"/>
              <a:gd name="T26" fmla="*/ 298 w 325"/>
              <a:gd name="T27" fmla="*/ 187 h 199"/>
              <a:gd name="T28" fmla="*/ 311 w 325"/>
              <a:gd name="T29" fmla="*/ 165 h 199"/>
              <a:gd name="T30" fmla="*/ 320 w 325"/>
              <a:gd name="T31" fmla="*/ 139 h 199"/>
              <a:gd name="T32" fmla="*/ 325 w 325"/>
              <a:gd name="T33" fmla="*/ 112 h 199"/>
              <a:gd name="T34" fmla="*/ 33 w 325"/>
              <a:gd name="T35" fmla="*/ 0 h 199"/>
              <a:gd name="T36" fmla="*/ 18 w 325"/>
              <a:gd name="T37" fmla="*/ 21 h 199"/>
              <a:gd name="T38" fmla="*/ 8 w 325"/>
              <a:gd name="T39" fmla="*/ 46 h 199"/>
              <a:gd name="T40" fmla="*/ 2 w 325"/>
              <a:gd name="T41" fmla="*/ 71 h 199"/>
              <a:gd name="T42" fmla="*/ 0 w 325"/>
              <a:gd name="T43" fmla="*/ 99 h 199"/>
              <a:gd name="T44" fmla="*/ 2 w 325"/>
              <a:gd name="T45" fmla="*/ 126 h 199"/>
              <a:gd name="T46" fmla="*/ 8 w 325"/>
              <a:gd name="T47" fmla="*/ 152 h 199"/>
              <a:gd name="T48" fmla="*/ 18 w 325"/>
              <a:gd name="T49" fmla="*/ 177 h 199"/>
              <a:gd name="T50" fmla="*/ 33 w 325"/>
              <a:gd name="T51" fmla="*/ 199 h 199"/>
              <a:gd name="T52" fmla="*/ 32 w 325"/>
              <a:gd name="T53" fmla="*/ 189 h 199"/>
              <a:gd name="T54" fmla="*/ 18 w 325"/>
              <a:gd name="T55" fmla="*/ 165 h 199"/>
              <a:gd name="T56" fmla="*/ 10 w 325"/>
              <a:gd name="T57" fmla="*/ 141 h 199"/>
              <a:gd name="T58" fmla="*/ 5 w 325"/>
              <a:gd name="T59" fmla="*/ 112 h 199"/>
              <a:gd name="T60" fmla="*/ 5 w 325"/>
              <a:gd name="T61" fmla="*/ 84 h 199"/>
              <a:gd name="T62" fmla="*/ 10 w 325"/>
              <a:gd name="T63" fmla="*/ 58 h 199"/>
              <a:gd name="T64" fmla="*/ 18 w 325"/>
              <a:gd name="T65" fmla="*/ 33 h 199"/>
              <a:gd name="T66" fmla="*/ 32 w 325"/>
              <a:gd name="T67" fmla="*/ 10 h 199"/>
              <a:gd name="T68" fmla="*/ 33 w 32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5" h="199">
                <a:moveTo>
                  <a:pt x="325" y="99"/>
                </a:moveTo>
                <a:lnTo>
                  <a:pt x="325" y="86"/>
                </a:lnTo>
                <a:lnTo>
                  <a:pt x="323" y="71"/>
                </a:lnTo>
                <a:lnTo>
                  <a:pt x="320" y="58"/>
                </a:lnTo>
                <a:lnTo>
                  <a:pt x="316" y="46"/>
                </a:lnTo>
                <a:lnTo>
                  <a:pt x="311" y="33"/>
                </a:lnTo>
                <a:lnTo>
                  <a:pt x="305" y="21"/>
                </a:lnTo>
                <a:lnTo>
                  <a:pt x="298" y="10"/>
                </a:lnTo>
                <a:lnTo>
                  <a:pt x="292" y="0"/>
                </a:lnTo>
                <a:lnTo>
                  <a:pt x="285" y="0"/>
                </a:lnTo>
                <a:lnTo>
                  <a:pt x="293" y="10"/>
                </a:lnTo>
                <a:lnTo>
                  <a:pt x="300" y="21"/>
                </a:lnTo>
                <a:lnTo>
                  <a:pt x="306" y="33"/>
                </a:lnTo>
                <a:lnTo>
                  <a:pt x="311" y="46"/>
                </a:lnTo>
                <a:lnTo>
                  <a:pt x="315" y="58"/>
                </a:lnTo>
                <a:lnTo>
                  <a:pt x="318" y="71"/>
                </a:lnTo>
                <a:lnTo>
                  <a:pt x="320" y="84"/>
                </a:lnTo>
                <a:lnTo>
                  <a:pt x="320" y="99"/>
                </a:lnTo>
                <a:lnTo>
                  <a:pt x="320" y="112"/>
                </a:lnTo>
                <a:lnTo>
                  <a:pt x="318" y="127"/>
                </a:lnTo>
                <a:lnTo>
                  <a:pt x="315" y="141"/>
                </a:lnTo>
                <a:lnTo>
                  <a:pt x="311" y="152"/>
                </a:lnTo>
                <a:lnTo>
                  <a:pt x="306" y="165"/>
                </a:lnTo>
                <a:lnTo>
                  <a:pt x="300" y="177"/>
                </a:lnTo>
                <a:lnTo>
                  <a:pt x="293" y="189"/>
                </a:lnTo>
                <a:lnTo>
                  <a:pt x="285" y="199"/>
                </a:lnTo>
                <a:lnTo>
                  <a:pt x="292" y="199"/>
                </a:lnTo>
                <a:lnTo>
                  <a:pt x="298" y="187"/>
                </a:lnTo>
                <a:lnTo>
                  <a:pt x="305" y="177"/>
                </a:lnTo>
                <a:lnTo>
                  <a:pt x="311" y="165"/>
                </a:lnTo>
                <a:lnTo>
                  <a:pt x="316" y="152"/>
                </a:lnTo>
                <a:lnTo>
                  <a:pt x="320" y="139"/>
                </a:lnTo>
                <a:lnTo>
                  <a:pt x="323" y="126"/>
                </a:lnTo>
                <a:lnTo>
                  <a:pt x="325" y="112"/>
                </a:lnTo>
                <a:lnTo>
                  <a:pt x="325" y="99"/>
                </a:lnTo>
                <a:close/>
                <a:moveTo>
                  <a:pt x="33" y="0"/>
                </a:moveTo>
                <a:lnTo>
                  <a:pt x="25" y="10"/>
                </a:lnTo>
                <a:lnTo>
                  <a:pt x="18" y="21"/>
                </a:lnTo>
                <a:lnTo>
                  <a:pt x="13" y="33"/>
                </a:lnTo>
                <a:lnTo>
                  <a:pt x="8" y="46"/>
                </a:lnTo>
                <a:lnTo>
                  <a:pt x="5" y="58"/>
                </a:lnTo>
                <a:lnTo>
                  <a:pt x="2" y="71"/>
                </a:lnTo>
                <a:lnTo>
                  <a:pt x="0" y="86"/>
                </a:lnTo>
                <a:lnTo>
                  <a:pt x="0" y="99"/>
                </a:lnTo>
                <a:lnTo>
                  <a:pt x="0" y="112"/>
                </a:lnTo>
                <a:lnTo>
                  <a:pt x="2" y="126"/>
                </a:lnTo>
                <a:lnTo>
                  <a:pt x="5" y="139"/>
                </a:lnTo>
                <a:lnTo>
                  <a:pt x="8" y="152"/>
                </a:lnTo>
                <a:lnTo>
                  <a:pt x="13" y="165"/>
                </a:lnTo>
                <a:lnTo>
                  <a:pt x="18" y="177"/>
                </a:lnTo>
                <a:lnTo>
                  <a:pt x="25" y="187"/>
                </a:lnTo>
                <a:lnTo>
                  <a:pt x="33" y="199"/>
                </a:lnTo>
                <a:lnTo>
                  <a:pt x="40" y="199"/>
                </a:lnTo>
                <a:lnTo>
                  <a:pt x="32" y="189"/>
                </a:lnTo>
                <a:lnTo>
                  <a:pt x="25" y="177"/>
                </a:lnTo>
                <a:lnTo>
                  <a:pt x="18" y="165"/>
                </a:lnTo>
                <a:lnTo>
                  <a:pt x="13" y="152"/>
                </a:lnTo>
                <a:lnTo>
                  <a:pt x="10" y="141"/>
                </a:lnTo>
                <a:lnTo>
                  <a:pt x="7" y="127"/>
                </a:lnTo>
                <a:lnTo>
                  <a:pt x="5" y="112"/>
                </a:lnTo>
                <a:lnTo>
                  <a:pt x="3" y="99"/>
                </a:lnTo>
                <a:lnTo>
                  <a:pt x="5" y="84"/>
                </a:lnTo>
                <a:lnTo>
                  <a:pt x="7" y="71"/>
                </a:lnTo>
                <a:lnTo>
                  <a:pt x="10" y="58"/>
                </a:lnTo>
                <a:lnTo>
                  <a:pt x="13" y="46"/>
                </a:lnTo>
                <a:lnTo>
                  <a:pt x="18" y="33"/>
                </a:lnTo>
                <a:lnTo>
                  <a:pt x="25" y="21"/>
                </a:lnTo>
                <a:lnTo>
                  <a:pt x="32" y="10"/>
                </a:lnTo>
                <a:lnTo>
                  <a:pt x="40" y="0"/>
                </a:lnTo>
                <a:lnTo>
                  <a:pt x="3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51" name="Freeform 1356">
            <a:extLst>
              <a:ext uri="{FF2B5EF4-FFF2-40B4-BE49-F238E27FC236}">
                <a16:creationId xmlns:a16="http://schemas.microsoft.com/office/drawing/2014/main" id="{DE2C1FC8-6B5D-9192-E063-3A4DC9C6AC7C}"/>
              </a:ext>
            </a:extLst>
          </p:cNvPr>
          <p:cNvSpPr>
            <a:spLocks noEditPoints="1"/>
          </p:cNvSpPr>
          <p:nvPr/>
        </p:nvSpPr>
        <p:spPr bwMode="auto">
          <a:xfrm>
            <a:off x="2660650" y="2403475"/>
            <a:ext cx="509588" cy="315913"/>
          </a:xfrm>
          <a:custGeom>
            <a:avLst/>
            <a:gdLst>
              <a:gd name="T0" fmla="*/ 319 w 321"/>
              <a:gd name="T1" fmla="*/ 84 h 199"/>
              <a:gd name="T2" fmla="*/ 316 w 321"/>
              <a:gd name="T3" fmla="*/ 58 h 199"/>
              <a:gd name="T4" fmla="*/ 306 w 321"/>
              <a:gd name="T5" fmla="*/ 33 h 199"/>
              <a:gd name="T6" fmla="*/ 295 w 321"/>
              <a:gd name="T7" fmla="*/ 10 h 199"/>
              <a:gd name="T8" fmla="*/ 280 w 321"/>
              <a:gd name="T9" fmla="*/ 0 h 199"/>
              <a:gd name="T10" fmla="*/ 295 w 321"/>
              <a:gd name="T11" fmla="*/ 21 h 199"/>
              <a:gd name="T12" fmla="*/ 306 w 321"/>
              <a:gd name="T13" fmla="*/ 45 h 199"/>
              <a:gd name="T14" fmla="*/ 313 w 321"/>
              <a:gd name="T15" fmla="*/ 71 h 199"/>
              <a:gd name="T16" fmla="*/ 316 w 321"/>
              <a:gd name="T17" fmla="*/ 99 h 199"/>
              <a:gd name="T18" fmla="*/ 313 w 321"/>
              <a:gd name="T19" fmla="*/ 127 h 199"/>
              <a:gd name="T20" fmla="*/ 306 w 321"/>
              <a:gd name="T21" fmla="*/ 152 h 199"/>
              <a:gd name="T22" fmla="*/ 295 w 321"/>
              <a:gd name="T23" fmla="*/ 177 h 199"/>
              <a:gd name="T24" fmla="*/ 280 w 321"/>
              <a:gd name="T25" fmla="*/ 199 h 199"/>
              <a:gd name="T26" fmla="*/ 295 w 321"/>
              <a:gd name="T27" fmla="*/ 189 h 199"/>
              <a:gd name="T28" fmla="*/ 306 w 321"/>
              <a:gd name="T29" fmla="*/ 165 h 199"/>
              <a:gd name="T30" fmla="*/ 316 w 321"/>
              <a:gd name="T31" fmla="*/ 139 h 199"/>
              <a:gd name="T32" fmla="*/ 319 w 321"/>
              <a:gd name="T33" fmla="*/ 112 h 199"/>
              <a:gd name="T34" fmla="*/ 35 w 321"/>
              <a:gd name="T35" fmla="*/ 0 h 199"/>
              <a:gd name="T36" fmla="*/ 20 w 321"/>
              <a:gd name="T37" fmla="*/ 21 h 199"/>
              <a:gd name="T38" fmla="*/ 8 w 321"/>
              <a:gd name="T39" fmla="*/ 46 h 199"/>
              <a:gd name="T40" fmla="*/ 1 w 321"/>
              <a:gd name="T41" fmla="*/ 71 h 199"/>
              <a:gd name="T42" fmla="*/ 0 w 321"/>
              <a:gd name="T43" fmla="*/ 99 h 199"/>
              <a:gd name="T44" fmla="*/ 1 w 321"/>
              <a:gd name="T45" fmla="*/ 127 h 199"/>
              <a:gd name="T46" fmla="*/ 8 w 321"/>
              <a:gd name="T47" fmla="*/ 152 h 199"/>
              <a:gd name="T48" fmla="*/ 20 w 321"/>
              <a:gd name="T49" fmla="*/ 177 h 199"/>
              <a:gd name="T50" fmla="*/ 35 w 321"/>
              <a:gd name="T51" fmla="*/ 199 h 199"/>
              <a:gd name="T52" fmla="*/ 33 w 321"/>
              <a:gd name="T53" fmla="*/ 189 h 199"/>
              <a:gd name="T54" fmla="*/ 20 w 321"/>
              <a:gd name="T55" fmla="*/ 165 h 199"/>
              <a:gd name="T56" fmla="*/ 10 w 321"/>
              <a:gd name="T57" fmla="*/ 141 h 199"/>
              <a:gd name="T58" fmla="*/ 5 w 321"/>
              <a:gd name="T59" fmla="*/ 112 h 199"/>
              <a:gd name="T60" fmla="*/ 5 w 321"/>
              <a:gd name="T61" fmla="*/ 84 h 199"/>
              <a:gd name="T62" fmla="*/ 10 w 321"/>
              <a:gd name="T63" fmla="*/ 58 h 199"/>
              <a:gd name="T64" fmla="*/ 20 w 321"/>
              <a:gd name="T65" fmla="*/ 33 h 199"/>
              <a:gd name="T66" fmla="*/ 33 w 321"/>
              <a:gd name="T67" fmla="*/ 10 h 199"/>
              <a:gd name="T68" fmla="*/ 35 w 32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1" h="199">
                <a:moveTo>
                  <a:pt x="321" y="99"/>
                </a:moveTo>
                <a:lnTo>
                  <a:pt x="319" y="84"/>
                </a:lnTo>
                <a:lnTo>
                  <a:pt x="318" y="71"/>
                </a:lnTo>
                <a:lnTo>
                  <a:pt x="316" y="58"/>
                </a:lnTo>
                <a:lnTo>
                  <a:pt x="311" y="46"/>
                </a:lnTo>
                <a:lnTo>
                  <a:pt x="306" y="33"/>
                </a:lnTo>
                <a:lnTo>
                  <a:pt x="301" y="21"/>
                </a:lnTo>
                <a:lnTo>
                  <a:pt x="295" y="10"/>
                </a:lnTo>
                <a:lnTo>
                  <a:pt x="286" y="0"/>
                </a:lnTo>
                <a:lnTo>
                  <a:pt x="280" y="0"/>
                </a:lnTo>
                <a:lnTo>
                  <a:pt x="288" y="10"/>
                </a:lnTo>
                <a:lnTo>
                  <a:pt x="295" y="21"/>
                </a:lnTo>
                <a:lnTo>
                  <a:pt x="301" y="33"/>
                </a:lnTo>
                <a:lnTo>
                  <a:pt x="306" y="45"/>
                </a:lnTo>
                <a:lnTo>
                  <a:pt x="311" y="58"/>
                </a:lnTo>
                <a:lnTo>
                  <a:pt x="313" y="71"/>
                </a:lnTo>
                <a:lnTo>
                  <a:pt x="314" y="84"/>
                </a:lnTo>
                <a:lnTo>
                  <a:pt x="316" y="99"/>
                </a:lnTo>
                <a:lnTo>
                  <a:pt x="314" y="112"/>
                </a:lnTo>
                <a:lnTo>
                  <a:pt x="313" y="127"/>
                </a:lnTo>
                <a:lnTo>
                  <a:pt x="311" y="141"/>
                </a:lnTo>
                <a:lnTo>
                  <a:pt x="306" y="152"/>
                </a:lnTo>
                <a:lnTo>
                  <a:pt x="301" y="165"/>
                </a:lnTo>
                <a:lnTo>
                  <a:pt x="295" y="177"/>
                </a:lnTo>
                <a:lnTo>
                  <a:pt x="288" y="189"/>
                </a:lnTo>
                <a:lnTo>
                  <a:pt x="280" y="199"/>
                </a:lnTo>
                <a:lnTo>
                  <a:pt x="286" y="199"/>
                </a:lnTo>
                <a:lnTo>
                  <a:pt x="295" y="189"/>
                </a:lnTo>
                <a:lnTo>
                  <a:pt x="301" y="177"/>
                </a:lnTo>
                <a:lnTo>
                  <a:pt x="306" y="165"/>
                </a:lnTo>
                <a:lnTo>
                  <a:pt x="311" y="152"/>
                </a:lnTo>
                <a:lnTo>
                  <a:pt x="316" y="139"/>
                </a:lnTo>
                <a:lnTo>
                  <a:pt x="318" y="127"/>
                </a:lnTo>
                <a:lnTo>
                  <a:pt x="319" y="112"/>
                </a:lnTo>
                <a:lnTo>
                  <a:pt x="321" y="99"/>
                </a:lnTo>
                <a:close/>
                <a:moveTo>
                  <a:pt x="35" y="0"/>
                </a:moveTo>
                <a:lnTo>
                  <a:pt x="26" y="10"/>
                </a:lnTo>
                <a:lnTo>
                  <a:pt x="20" y="21"/>
                </a:lnTo>
                <a:lnTo>
                  <a:pt x="13" y="33"/>
                </a:lnTo>
                <a:lnTo>
                  <a:pt x="8" y="46"/>
                </a:lnTo>
                <a:lnTo>
                  <a:pt x="5" y="58"/>
                </a:lnTo>
                <a:lnTo>
                  <a:pt x="1" y="71"/>
                </a:lnTo>
                <a:lnTo>
                  <a:pt x="0" y="84"/>
                </a:lnTo>
                <a:lnTo>
                  <a:pt x="0" y="99"/>
                </a:lnTo>
                <a:lnTo>
                  <a:pt x="0" y="112"/>
                </a:lnTo>
                <a:lnTo>
                  <a:pt x="1" y="127"/>
                </a:lnTo>
                <a:lnTo>
                  <a:pt x="5" y="139"/>
                </a:lnTo>
                <a:lnTo>
                  <a:pt x="8" y="152"/>
                </a:lnTo>
                <a:lnTo>
                  <a:pt x="13" y="165"/>
                </a:lnTo>
                <a:lnTo>
                  <a:pt x="20" y="177"/>
                </a:lnTo>
                <a:lnTo>
                  <a:pt x="26" y="189"/>
                </a:lnTo>
                <a:lnTo>
                  <a:pt x="35" y="199"/>
                </a:lnTo>
                <a:lnTo>
                  <a:pt x="41" y="199"/>
                </a:lnTo>
                <a:lnTo>
                  <a:pt x="33" y="189"/>
                </a:lnTo>
                <a:lnTo>
                  <a:pt x="25" y="177"/>
                </a:lnTo>
                <a:lnTo>
                  <a:pt x="20" y="165"/>
                </a:lnTo>
                <a:lnTo>
                  <a:pt x="15" y="152"/>
                </a:lnTo>
                <a:lnTo>
                  <a:pt x="10" y="141"/>
                </a:lnTo>
                <a:lnTo>
                  <a:pt x="6" y="127"/>
                </a:lnTo>
                <a:lnTo>
                  <a:pt x="5" y="112"/>
                </a:lnTo>
                <a:lnTo>
                  <a:pt x="5" y="99"/>
                </a:lnTo>
                <a:lnTo>
                  <a:pt x="5" y="84"/>
                </a:lnTo>
                <a:lnTo>
                  <a:pt x="6" y="71"/>
                </a:lnTo>
                <a:lnTo>
                  <a:pt x="10" y="58"/>
                </a:lnTo>
                <a:lnTo>
                  <a:pt x="15" y="45"/>
                </a:lnTo>
                <a:lnTo>
                  <a:pt x="20" y="33"/>
                </a:lnTo>
                <a:lnTo>
                  <a:pt x="25" y="21"/>
                </a:lnTo>
                <a:lnTo>
                  <a:pt x="33" y="10"/>
                </a:lnTo>
                <a:lnTo>
                  <a:pt x="41" y="0"/>
                </a:lnTo>
                <a:lnTo>
                  <a:pt x="35"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52" name="Freeform 1357">
            <a:extLst>
              <a:ext uri="{FF2B5EF4-FFF2-40B4-BE49-F238E27FC236}">
                <a16:creationId xmlns:a16="http://schemas.microsoft.com/office/drawing/2014/main" id="{28384EF3-B5C2-894F-1738-F73CF3B69A70}"/>
              </a:ext>
            </a:extLst>
          </p:cNvPr>
          <p:cNvSpPr>
            <a:spLocks noEditPoints="1"/>
          </p:cNvSpPr>
          <p:nvPr/>
        </p:nvSpPr>
        <p:spPr bwMode="auto">
          <a:xfrm>
            <a:off x="2662238" y="2403475"/>
            <a:ext cx="503238" cy="315913"/>
          </a:xfrm>
          <a:custGeom>
            <a:avLst/>
            <a:gdLst>
              <a:gd name="T0" fmla="*/ 317 w 317"/>
              <a:gd name="T1" fmla="*/ 84 h 199"/>
              <a:gd name="T2" fmla="*/ 312 w 317"/>
              <a:gd name="T3" fmla="*/ 58 h 199"/>
              <a:gd name="T4" fmla="*/ 303 w 317"/>
              <a:gd name="T5" fmla="*/ 33 h 199"/>
              <a:gd name="T6" fmla="*/ 290 w 317"/>
              <a:gd name="T7" fmla="*/ 10 h 199"/>
              <a:gd name="T8" fmla="*/ 275 w 317"/>
              <a:gd name="T9" fmla="*/ 0 h 199"/>
              <a:gd name="T10" fmla="*/ 292 w 317"/>
              <a:gd name="T11" fmla="*/ 21 h 199"/>
              <a:gd name="T12" fmla="*/ 303 w 317"/>
              <a:gd name="T13" fmla="*/ 45 h 199"/>
              <a:gd name="T14" fmla="*/ 310 w 317"/>
              <a:gd name="T15" fmla="*/ 71 h 199"/>
              <a:gd name="T16" fmla="*/ 312 w 317"/>
              <a:gd name="T17" fmla="*/ 99 h 199"/>
              <a:gd name="T18" fmla="*/ 310 w 317"/>
              <a:gd name="T19" fmla="*/ 127 h 199"/>
              <a:gd name="T20" fmla="*/ 303 w 317"/>
              <a:gd name="T21" fmla="*/ 152 h 199"/>
              <a:gd name="T22" fmla="*/ 292 w 317"/>
              <a:gd name="T23" fmla="*/ 177 h 199"/>
              <a:gd name="T24" fmla="*/ 275 w 317"/>
              <a:gd name="T25" fmla="*/ 199 h 199"/>
              <a:gd name="T26" fmla="*/ 290 w 317"/>
              <a:gd name="T27" fmla="*/ 189 h 199"/>
              <a:gd name="T28" fmla="*/ 303 w 317"/>
              <a:gd name="T29" fmla="*/ 165 h 199"/>
              <a:gd name="T30" fmla="*/ 312 w 317"/>
              <a:gd name="T31" fmla="*/ 141 h 199"/>
              <a:gd name="T32" fmla="*/ 317 w 317"/>
              <a:gd name="T33" fmla="*/ 112 h 199"/>
              <a:gd name="T34" fmla="*/ 37 w 317"/>
              <a:gd name="T35" fmla="*/ 0 h 199"/>
              <a:gd name="T36" fmla="*/ 22 w 317"/>
              <a:gd name="T37" fmla="*/ 21 h 199"/>
              <a:gd name="T38" fmla="*/ 10 w 317"/>
              <a:gd name="T39" fmla="*/ 46 h 199"/>
              <a:gd name="T40" fmla="*/ 4 w 317"/>
              <a:gd name="T41" fmla="*/ 71 h 199"/>
              <a:gd name="T42" fmla="*/ 0 w 317"/>
              <a:gd name="T43" fmla="*/ 99 h 199"/>
              <a:gd name="T44" fmla="*/ 4 w 317"/>
              <a:gd name="T45" fmla="*/ 127 h 199"/>
              <a:gd name="T46" fmla="*/ 10 w 317"/>
              <a:gd name="T47" fmla="*/ 152 h 199"/>
              <a:gd name="T48" fmla="*/ 22 w 317"/>
              <a:gd name="T49" fmla="*/ 177 h 199"/>
              <a:gd name="T50" fmla="*/ 37 w 317"/>
              <a:gd name="T51" fmla="*/ 199 h 199"/>
              <a:gd name="T52" fmla="*/ 35 w 317"/>
              <a:gd name="T53" fmla="*/ 189 h 199"/>
              <a:gd name="T54" fmla="*/ 20 w 317"/>
              <a:gd name="T55" fmla="*/ 165 h 199"/>
              <a:gd name="T56" fmla="*/ 12 w 317"/>
              <a:gd name="T57" fmla="*/ 141 h 199"/>
              <a:gd name="T58" fmla="*/ 7 w 317"/>
              <a:gd name="T59" fmla="*/ 112 h 199"/>
              <a:gd name="T60" fmla="*/ 7 w 317"/>
              <a:gd name="T61" fmla="*/ 84 h 199"/>
              <a:gd name="T62" fmla="*/ 12 w 317"/>
              <a:gd name="T63" fmla="*/ 58 h 199"/>
              <a:gd name="T64" fmla="*/ 20 w 317"/>
              <a:gd name="T65" fmla="*/ 33 h 199"/>
              <a:gd name="T66" fmla="*/ 35 w 317"/>
              <a:gd name="T67" fmla="*/ 10 h 199"/>
              <a:gd name="T68" fmla="*/ 37 w 31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7" h="199">
                <a:moveTo>
                  <a:pt x="317" y="99"/>
                </a:moveTo>
                <a:lnTo>
                  <a:pt x="317" y="84"/>
                </a:lnTo>
                <a:lnTo>
                  <a:pt x="315" y="71"/>
                </a:lnTo>
                <a:lnTo>
                  <a:pt x="312" y="58"/>
                </a:lnTo>
                <a:lnTo>
                  <a:pt x="308" y="46"/>
                </a:lnTo>
                <a:lnTo>
                  <a:pt x="303" y="33"/>
                </a:lnTo>
                <a:lnTo>
                  <a:pt x="297" y="21"/>
                </a:lnTo>
                <a:lnTo>
                  <a:pt x="290" y="10"/>
                </a:lnTo>
                <a:lnTo>
                  <a:pt x="282" y="0"/>
                </a:lnTo>
                <a:lnTo>
                  <a:pt x="275" y="0"/>
                </a:lnTo>
                <a:lnTo>
                  <a:pt x="284" y="10"/>
                </a:lnTo>
                <a:lnTo>
                  <a:pt x="292" y="21"/>
                </a:lnTo>
                <a:lnTo>
                  <a:pt x="297" y="33"/>
                </a:lnTo>
                <a:lnTo>
                  <a:pt x="303" y="45"/>
                </a:lnTo>
                <a:lnTo>
                  <a:pt x="307" y="58"/>
                </a:lnTo>
                <a:lnTo>
                  <a:pt x="310" y="71"/>
                </a:lnTo>
                <a:lnTo>
                  <a:pt x="312" y="84"/>
                </a:lnTo>
                <a:lnTo>
                  <a:pt x="312" y="99"/>
                </a:lnTo>
                <a:lnTo>
                  <a:pt x="312" y="112"/>
                </a:lnTo>
                <a:lnTo>
                  <a:pt x="310" y="127"/>
                </a:lnTo>
                <a:lnTo>
                  <a:pt x="307" y="141"/>
                </a:lnTo>
                <a:lnTo>
                  <a:pt x="303" y="152"/>
                </a:lnTo>
                <a:lnTo>
                  <a:pt x="297" y="165"/>
                </a:lnTo>
                <a:lnTo>
                  <a:pt x="292" y="177"/>
                </a:lnTo>
                <a:lnTo>
                  <a:pt x="284" y="189"/>
                </a:lnTo>
                <a:lnTo>
                  <a:pt x="275" y="199"/>
                </a:lnTo>
                <a:lnTo>
                  <a:pt x="282" y="199"/>
                </a:lnTo>
                <a:lnTo>
                  <a:pt x="290" y="189"/>
                </a:lnTo>
                <a:lnTo>
                  <a:pt x="297" y="177"/>
                </a:lnTo>
                <a:lnTo>
                  <a:pt x="303" y="165"/>
                </a:lnTo>
                <a:lnTo>
                  <a:pt x="308" y="152"/>
                </a:lnTo>
                <a:lnTo>
                  <a:pt x="312" y="141"/>
                </a:lnTo>
                <a:lnTo>
                  <a:pt x="315" y="127"/>
                </a:lnTo>
                <a:lnTo>
                  <a:pt x="317" y="112"/>
                </a:lnTo>
                <a:lnTo>
                  <a:pt x="317" y="99"/>
                </a:lnTo>
                <a:close/>
                <a:moveTo>
                  <a:pt x="37" y="0"/>
                </a:moveTo>
                <a:lnTo>
                  <a:pt x="29" y="10"/>
                </a:lnTo>
                <a:lnTo>
                  <a:pt x="22" y="21"/>
                </a:lnTo>
                <a:lnTo>
                  <a:pt x="15" y="33"/>
                </a:lnTo>
                <a:lnTo>
                  <a:pt x="10" y="46"/>
                </a:lnTo>
                <a:lnTo>
                  <a:pt x="7" y="58"/>
                </a:lnTo>
                <a:lnTo>
                  <a:pt x="4" y="71"/>
                </a:lnTo>
                <a:lnTo>
                  <a:pt x="2" y="84"/>
                </a:lnTo>
                <a:lnTo>
                  <a:pt x="0" y="99"/>
                </a:lnTo>
                <a:lnTo>
                  <a:pt x="2" y="112"/>
                </a:lnTo>
                <a:lnTo>
                  <a:pt x="4" y="127"/>
                </a:lnTo>
                <a:lnTo>
                  <a:pt x="7" y="141"/>
                </a:lnTo>
                <a:lnTo>
                  <a:pt x="10" y="152"/>
                </a:lnTo>
                <a:lnTo>
                  <a:pt x="15" y="165"/>
                </a:lnTo>
                <a:lnTo>
                  <a:pt x="22" y="177"/>
                </a:lnTo>
                <a:lnTo>
                  <a:pt x="29" y="189"/>
                </a:lnTo>
                <a:lnTo>
                  <a:pt x="37" y="199"/>
                </a:lnTo>
                <a:lnTo>
                  <a:pt x="42" y="199"/>
                </a:lnTo>
                <a:lnTo>
                  <a:pt x="35" y="189"/>
                </a:lnTo>
                <a:lnTo>
                  <a:pt x="27" y="177"/>
                </a:lnTo>
                <a:lnTo>
                  <a:pt x="20" y="165"/>
                </a:lnTo>
                <a:lnTo>
                  <a:pt x="15" y="152"/>
                </a:lnTo>
                <a:lnTo>
                  <a:pt x="12" y="141"/>
                </a:lnTo>
                <a:lnTo>
                  <a:pt x="9" y="127"/>
                </a:lnTo>
                <a:lnTo>
                  <a:pt x="7" y="112"/>
                </a:lnTo>
                <a:lnTo>
                  <a:pt x="5" y="99"/>
                </a:lnTo>
                <a:lnTo>
                  <a:pt x="7" y="84"/>
                </a:lnTo>
                <a:lnTo>
                  <a:pt x="9" y="71"/>
                </a:lnTo>
                <a:lnTo>
                  <a:pt x="12" y="58"/>
                </a:lnTo>
                <a:lnTo>
                  <a:pt x="15" y="45"/>
                </a:lnTo>
                <a:lnTo>
                  <a:pt x="20" y="33"/>
                </a:lnTo>
                <a:lnTo>
                  <a:pt x="27" y="21"/>
                </a:lnTo>
                <a:lnTo>
                  <a:pt x="35" y="10"/>
                </a:lnTo>
                <a:lnTo>
                  <a:pt x="42" y="0"/>
                </a:lnTo>
                <a:lnTo>
                  <a:pt x="37"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53" name="Freeform 1358">
            <a:extLst>
              <a:ext uri="{FF2B5EF4-FFF2-40B4-BE49-F238E27FC236}">
                <a16:creationId xmlns:a16="http://schemas.microsoft.com/office/drawing/2014/main" id="{508D1097-9326-5FFD-F434-5BC6EDECA708}"/>
              </a:ext>
            </a:extLst>
          </p:cNvPr>
          <p:cNvSpPr>
            <a:spLocks noEditPoints="1"/>
          </p:cNvSpPr>
          <p:nvPr/>
        </p:nvSpPr>
        <p:spPr bwMode="auto">
          <a:xfrm>
            <a:off x="2668588" y="2403475"/>
            <a:ext cx="493713" cy="315913"/>
          </a:xfrm>
          <a:custGeom>
            <a:avLst/>
            <a:gdLst>
              <a:gd name="T0" fmla="*/ 309 w 311"/>
              <a:gd name="T1" fmla="*/ 84 h 199"/>
              <a:gd name="T2" fmla="*/ 306 w 311"/>
              <a:gd name="T3" fmla="*/ 58 h 199"/>
              <a:gd name="T4" fmla="*/ 296 w 311"/>
              <a:gd name="T5" fmla="*/ 33 h 199"/>
              <a:gd name="T6" fmla="*/ 283 w 311"/>
              <a:gd name="T7" fmla="*/ 10 h 199"/>
              <a:gd name="T8" fmla="*/ 268 w 311"/>
              <a:gd name="T9" fmla="*/ 0 h 199"/>
              <a:gd name="T10" fmla="*/ 285 w 311"/>
              <a:gd name="T11" fmla="*/ 21 h 199"/>
              <a:gd name="T12" fmla="*/ 296 w 311"/>
              <a:gd name="T13" fmla="*/ 45 h 199"/>
              <a:gd name="T14" fmla="*/ 303 w 311"/>
              <a:gd name="T15" fmla="*/ 71 h 199"/>
              <a:gd name="T16" fmla="*/ 306 w 311"/>
              <a:gd name="T17" fmla="*/ 99 h 199"/>
              <a:gd name="T18" fmla="*/ 303 w 311"/>
              <a:gd name="T19" fmla="*/ 127 h 199"/>
              <a:gd name="T20" fmla="*/ 296 w 311"/>
              <a:gd name="T21" fmla="*/ 154 h 199"/>
              <a:gd name="T22" fmla="*/ 285 w 311"/>
              <a:gd name="T23" fmla="*/ 177 h 199"/>
              <a:gd name="T24" fmla="*/ 268 w 311"/>
              <a:gd name="T25" fmla="*/ 199 h 199"/>
              <a:gd name="T26" fmla="*/ 283 w 311"/>
              <a:gd name="T27" fmla="*/ 189 h 199"/>
              <a:gd name="T28" fmla="*/ 296 w 311"/>
              <a:gd name="T29" fmla="*/ 165 h 199"/>
              <a:gd name="T30" fmla="*/ 306 w 311"/>
              <a:gd name="T31" fmla="*/ 141 h 199"/>
              <a:gd name="T32" fmla="*/ 309 w 311"/>
              <a:gd name="T33" fmla="*/ 112 h 199"/>
              <a:gd name="T34" fmla="*/ 36 w 311"/>
              <a:gd name="T35" fmla="*/ 0 h 199"/>
              <a:gd name="T36" fmla="*/ 20 w 311"/>
              <a:gd name="T37" fmla="*/ 21 h 199"/>
              <a:gd name="T38" fmla="*/ 10 w 311"/>
              <a:gd name="T39" fmla="*/ 45 h 199"/>
              <a:gd name="T40" fmla="*/ 1 w 311"/>
              <a:gd name="T41" fmla="*/ 71 h 199"/>
              <a:gd name="T42" fmla="*/ 0 w 311"/>
              <a:gd name="T43" fmla="*/ 99 h 199"/>
              <a:gd name="T44" fmla="*/ 1 w 311"/>
              <a:gd name="T45" fmla="*/ 127 h 199"/>
              <a:gd name="T46" fmla="*/ 10 w 311"/>
              <a:gd name="T47" fmla="*/ 152 h 199"/>
              <a:gd name="T48" fmla="*/ 20 w 311"/>
              <a:gd name="T49" fmla="*/ 177 h 199"/>
              <a:gd name="T50" fmla="*/ 36 w 311"/>
              <a:gd name="T51" fmla="*/ 199 h 199"/>
              <a:gd name="T52" fmla="*/ 33 w 311"/>
              <a:gd name="T53" fmla="*/ 189 h 199"/>
              <a:gd name="T54" fmla="*/ 20 w 311"/>
              <a:gd name="T55" fmla="*/ 165 h 199"/>
              <a:gd name="T56" fmla="*/ 10 w 311"/>
              <a:gd name="T57" fmla="*/ 141 h 199"/>
              <a:gd name="T58" fmla="*/ 5 w 311"/>
              <a:gd name="T59" fmla="*/ 112 h 199"/>
              <a:gd name="T60" fmla="*/ 5 w 311"/>
              <a:gd name="T61" fmla="*/ 84 h 199"/>
              <a:gd name="T62" fmla="*/ 10 w 311"/>
              <a:gd name="T63" fmla="*/ 58 h 199"/>
              <a:gd name="T64" fmla="*/ 20 w 311"/>
              <a:gd name="T65" fmla="*/ 33 h 199"/>
              <a:gd name="T66" fmla="*/ 33 w 311"/>
              <a:gd name="T67" fmla="*/ 10 h 199"/>
              <a:gd name="T68" fmla="*/ 36 w 31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1" h="199">
                <a:moveTo>
                  <a:pt x="311" y="99"/>
                </a:moveTo>
                <a:lnTo>
                  <a:pt x="309" y="84"/>
                </a:lnTo>
                <a:lnTo>
                  <a:pt x="308" y="71"/>
                </a:lnTo>
                <a:lnTo>
                  <a:pt x="306" y="58"/>
                </a:lnTo>
                <a:lnTo>
                  <a:pt x="301" y="45"/>
                </a:lnTo>
                <a:lnTo>
                  <a:pt x="296" y="33"/>
                </a:lnTo>
                <a:lnTo>
                  <a:pt x="290" y="21"/>
                </a:lnTo>
                <a:lnTo>
                  <a:pt x="283" y="10"/>
                </a:lnTo>
                <a:lnTo>
                  <a:pt x="275" y="0"/>
                </a:lnTo>
                <a:lnTo>
                  <a:pt x="268" y="0"/>
                </a:lnTo>
                <a:lnTo>
                  <a:pt x="276" y="10"/>
                </a:lnTo>
                <a:lnTo>
                  <a:pt x="285" y="21"/>
                </a:lnTo>
                <a:lnTo>
                  <a:pt x="291" y="33"/>
                </a:lnTo>
                <a:lnTo>
                  <a:pt x="296" y="45"/>
                </a:lnTo>
                <a:lnTo>
                  <a:pt x="301" y="58"/>
                </a:lnTo>
                <a:lnTo>
                  <a:pt x="303" y="71"/>
                </a:lnTo>
                <a:lnTo>
                  <a:pt x="306" y="84"/>
                </a:lnTo>
                <a:lnTo>
                  <a:pt x="306" y="99"/>
                </a:lnTo>
                <a:lnTo>
                  <a:pt x="306" y="112"/>
                </a:lnTo>
                <a:lnTo>
                  <a:pt x="303" y="127"/>
                </a:lnTo>
                <a:lnTo>
                  <a:pt x="301" y="141"/>
                </a:lnTo>
                <a:lnTo>
                  <a:pt x="296" y="154"/>
                </a:lnTo>
                <a:lnTo>
                  <a:pt x="291" y="165"/>
                </a:lnTo>
                <a:lnTo>
                  <a:pt x="285" y="177"/>
                </a:lnTo>
                <a:lnTo>
                  <a:pt x="276" y="189"/>
                </a:lnTo>
                <a:lnTo>
                  <a:pt x="268" y="199"/>
                </a:lnTo>
                <a:lnTo>
                  <a:pt x="275" y="199"/>
                </a:lnTo>
                <a:lnTo>
                  <a:pt x="283" y="189"/>
                </a:lnTo>
                <a:lnTo>
                  <a:pt x="290" y="177"/>
                </a:lnTo>
                <a:lnTo>
                  <a:pt x="296" y="165"/>
                </a:lnTo>
                <a:lnTo>
                  <a:pt x="301" y="152"/>
                </a:lnTo>
                <a:lnTo>
                  <a:pt x="306" y="141"/>
                </a:lnTo>
                <a:lnTo>
                  <a:pt x="308" y="127"/>
                </a:lnTo>
                <a:lnTo>
                  <a:pt x="309" y="112"/>
                </a:lnTo>
                <a:lnTo>
                  <a:pt x="311" y="99"/>
                </a:lnTo>
                <a:close/>
                <a:moveTo>
                  <a:pt x="36" y="0"/>
                </a:moveTo>
                <a:lnTo>
                  <a:pt x="28" y="10"/>
                </a:lnTo>
                <a:lnTo>
                  <a:pt x="20" y="21"/>
                </a:lnTo>
                <a:lnTo>
                  <a:pt x="15" y="33"/>
                </a:lnTo>
                <a:lnTo>
                  <a:pt x="10" y="45"/>
                </a:lnTo>
                <a:lnTo>
                  <a:pt x="5" y="58"/>
                </a:lnTo>
                <a:lnTo>
                  <a:pt x="1" y="71"/>
                </a:lnTo>
                <a:lnTo>
                  <a:pt x="0" y="84"/>
                </a:lnTo>
                <a:lnTo>
                  <a:pt x="0" y="99"/>
                </a:lnTo>
                <a:lnTo>
                  <a:pt x="0" y="112"/>
                </a:lnTo>
                <a:lnTo>
                  <a:pt x="1" y="127"/>
                </a:lnTo>
                <a:lnTo>
                  <a:pt x="5" y="141"/>
                </a:lnTo>
                <a:lnTo>
                  <a:pt x="10" y="152"/>
                </a:lnTo>
                <a:lnTo>
                  <a:pt x="15" y="165"/>
                </a:lnTo>
                <a:lnTo>
                  <a:pt x="20" y="177"/>
                </a:lnTo>
                <a:lnTo>
                  <a:pt x="28" y="189"/>
                </a:lnTo>
                <a:lnTo>
                  <a:pt x="36" y="199"/>
                </a:lnTo>
                <a:lnTo>
                  <a:pt x="41" y="199"/>
                </a:lnTo>
                <a:lnTo>
                  <a:pt x="33" y="189"/>
                </a:lnTo>
                <a:lnTo>
                  <a:pt x="26" y="177"/>
                </a:lnTo>
                <a:lnTo>
                  <a:pt x="20" y="165"/>
                </a:lnTo>
                <a:lnTo>
                  <a:pt x="15" y="154"/>
                </a:lnTo>
                <a:lnTo>
                  <a:pt x="10" y="141"/>
                </a:lnTo>
                <a:lnTo>
                  <a:pt x="6" y="127"/>
                </a:lnTo>
                <a:lnTo>
                  <a:pt x="5" y="112"/>
                </a:lnTo>
                <a:lnTo>
                  <a:pt x="5" y="99"/>
                </a:lnTo>
                <a:lnTo>
                  <a:pt x="5" y="84"/>
                </a:lnTo>
                <a:lnTo>
                  <a:pt x="6" y="71"/>
                </a:lnTo>
                <a:lnTo>
                  <a:pt x="10" y="58"/>
                </a:lnTo>
                <a:lnTo>
                  <a:pt x="15" y="45"/>
                </a:lnTo>
                <a:lnTo>
                  <a:pt x="20" y="33"/>
                </a:lnTo>
                <a:lnTo>
                  <a:pt x="26" y="21"/>
                </a:lnTo>
                <a:lnTo>
                  <a:pt x="33" y="10"/>
                </a:lnTo>
                <a:lnTo>
                  <a:pt x="41" y="0"/>
                </a:lnTo>
                <a:lnTo>
                  <a:pt x="36"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54" name="Freeform 1359">
            <a:extLst>
              <a:ext uri="{FF2B5EF4-FFF2-40B4-BE49-F238E27FC236}">
                <a16:creationId xmlns:a16="http://schemas.microsoft.com/office/drawing/2014/main" id="{ECF021A5-82C8-6258-510B-E135ADCF0D3D}"/>
              </a:ext>
            </a:extLst>
          </p:cNvPr>
          <p:cNvSpPr>
            <a:spLocks noEditPoints="1"/>
          </p:cNvSpPr>
          <p:nvPr/>
        </p:nvSpPr>
        <p:spPr bwMode="auto">
          <a:xfrm>
            <a:off x="2670175" y="2403475"/>
            <a:ext cx="487363" cy="315913"/>
          </a:xfrm>
          <a:custGeom>
            <a:avLst/>
            <a:gdLst>
              <a:gd name="T0" fmla="*/ 307 w 307"/>
              <a:gd name="T1" fmla="*/ 84 h 199"/>
              <a:gd name="T2" fmla="*/ 302 w 307"/>
              <a:gd name="T3" fmla="*/ 58 h 199"/>
              <a:gd name="T4" fmla="*/ 292 w 307"/>
              <a:gd name="T5" fmla="*/ 33 h 199"/>
              <a:gd name="T6" fmla="*/ 279 w 307"/>
              <a:gd name="T7" fmla="*/ 10 h 199"/>
              <a:gd name="T8" fmla="*/ 264 w 307"/>
              <a:gd name="T9" fmla="*/ 0 h 199"/>
              <a:gd name="T10" fmla="*/ 280 w 307"/>
              <a:gd name="T11" fmla="*/ 21 h 199"/>
              <a:gd name="T12" fmla="*/ 292 w 307"/>
              <a:gd name="T13" fmla="*/ 45 h 199"/>
              <a:gd name="T14" fmla="*/ 300 w 307"/>
              <a:gd name="T15" fmla="*/ 71 h 199"/>
              <a:gd name="T16" fmla="*/ 302 w 307"/>
              <a:gd name="T17" fmla="*/ 99 h 199"/>
              <a:gd name="T18" fmla="*/ 300 w 307"/>
              <a:gd name="T19" fmla="*/ 127 h 199"/>
              <a:gd name="T20" fmla="*/ 292 w 307"/>
              <a:gd name="T21" fmla="*/ 154 h 199"/>
              <a:gd name="T22" fmla="*/ 280 w 307"/>
              <a:gd name="T23" fmla="*/ 177 h 199"/>
              <a:gd name="T24" fmla="*/ 264 w 307"/>
              <a:gd name="T25" fmla="*/ 199 h 199"/>
              <a:gd name="T26" fmla="*/ 279 w 307"/>
              <a:gd name="T27" fmla="*/ 189 h 199"/>
              <a:gd name="T28" fmla="*/ 292 w 307"/>
              <a:gd name="T29" fmla="*/ 165 h 199"/>
              <a:gd name="T30" fmla="*/ 302 w 307"/>
              <a:gd name="T31" fmla="*/ 141 h 199"/>
              <a:gd name="T32" fmla="*/ 307 w 307"/>
              <a:gd name="T33" fmla="*/ 112 h 199"/>
              <a:gd name="T34" fmla="*/ 37 w 307"/>
              <a:gd name="T35" fmla="*/ 0 h 199"/>
              <a:gd name="T36" fmla="*/ 22 w 307"/>
              <a:gd name="T37" fmla="*/ 21 h 199"/>
              <a:gd name="T38" fmla="*/ 10 w 307"/>
              <a:gd name="T39" fmla="*/ 45 h 199"/>
              <a:gd name="T40" fmla="*/ 4 w 307"/>
              <a:gd name="T41" fmla="*/ 71 h 199"/>
              <a:gd name="T42" fmla="*/ 0 w 307"/>
              <a:gd name="T43" fmla="*/ 99 h 199"/>
              <a:gd name="T44" fmla="*/ 4 w 307"/>
              <a:gd name="T45" fmla="*/ 127 h 199"/>
              <a:gd name="T46" fmla="*/ 10 w 307"/>
              <a:gd name="T47" fmla="*/ 152 h 199"/>
              <a:gd name="T48" fmla="*/ 22 w 307"/>
              <a:gd name="T49" fmla="*/ 177 h 199"/>
              <a:gd name="T50" fmla="*/ 37 w 307"/>
              <a:gd name="T51" fmla="*/ 199 h 199"/>
              <a:gd name="T52" fmla="*/ 35 w 307"/>
              <a:gd name="T53" fmla="*/ 189 h 199"/>
              <a:gd name="T54" fmla="*/ 22 w 307"/>
              <a:gd name="T55" fmla="*/ 165 h 199"/>
              <a:gd name="T56" fmla="*/ 12 w 307"/>
              <a:gd name="T57" fmla="*/ 141 h 199"/>
              <a:gd name="T58" fmla="*/ 7 w 307"/>
              <a:gd name="T59" fmla="*/ 112 h 199"/>
              <a:gd name="T60" fmla="*/ 7 w 307"/>
              <a:gd name="T61" fmla="*/ 84 h 199"/>
              <a:gd name="T62" fmla="*/ 12 w 307"/>
              <a:gd name="T63" fmla="*/ 58 h 199"/>
              <a:gd name="T64" fmla="*/ 22 w 307"/>
              <a:gd name="T65" fmla="*/ 33 h 199"/>
              <a:gd name="T66" fmla="*/ 35 w 307"/>
              <a:gd name="T67" fmla="*/ 10 h 199"/>
              <a:gd name="T68" fmla="*/ 37 w 30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7" h="199">
                <a:moveTo>
                  <a:pt x="307" y="99"/>
                </a:moveTo>
                <a:lnTo>
                  <a:pt x="307" y="84"/>
                </a:lnTo>
                <a:lnTo>
                  <a:pt x="305" y="71"/>
                </a:lnTo>
                <a:lnTo>
                  <a:pt x="302" y="58"/>
                </a:lnTo>
                <a:lnTo>
                  <a:pt x="298" y="45"/>
                </a:lnTo>
                <a:lnTo>
                  <a:pt x="292" y="33"/>
                </a:lnTo>
                <a:lnTo>
                  <a:pt x="287" y="21"/>
                </a:lnTo>
                <a:lnTo>
                  <a:pt x="279" y="10"/>
                </a:lnTo>
                <a:lnTo>
                  <a:pt x="270" y="0"/>
                </a:lnTo>
                <a:lnTo>
                  <a:pt x="264" y="0"/>
                </a:lnTo>
                <a:lnTo>
                  <a:pt x="274" y="10"/>
                </a:lnTo>
                <a:lnTo>
                  <a:pt x="280" y="21"/>
                </a:lnTo>
                <a:lnTo>
                  <a:pt x="287" y="33"/>
                </a:lnTo>
                <a:lnTo>
                  <a:pt x="292" y="45"/>
                </a:lnTo>
                <a:lnTo>
                  <a:pt x="297" y="58"/>
                </a:lnTo>
                <a:lnTo>
                  <a:pt x="300" y="71"/>
                </a:lnTo>
                <a:lnTo>
                  <a:pt x="302" y="84"/>
                </a:lnTo>
                <a:lnTo>
                  <a:pt x="302" y="99"/>
                </a:lnTo>
                <a:lnTo>
                  <a:pt x="302" y="112"/>
                </a:lnTo>
                <a:lnTo>
                  <a:pt x="300" y="127"/>
                </a:lnTo>
                <a:lnTo>
                  <a:pt x="297" y="141"/>
                </a:lnTo>
                <a:lnTo>
                  <a:pt x="292" y="154"/>
                </a:lnTo>
                <a:lnTo>
                  <a:pt x="287" y="165"/>
                </a:lnTo>
                <a:lnTo>
                  <a:pt x="280" y="177"/>
                </a:lnTo>
                <a:lnTo>
                  <a:pt x="274" y="189"/>
                </a:lnTo>
                <a:lnTo>
                  <a:pt x="264" y="199"/>
                </a:lnTo>
                <a:lnTo>
                  <a:pt x="270" y="199"/>
                </a:lnTo>
                <a:lnTo>
                  <a:pt x="279" y="189"/>
                </a:lnTo>
                <a:lnTo>
                  <a:pt x="287" y="177"/>
                </a:lnTo>
                <a:lnTo>
                  <a:pt x="292" y="165"/>
                </a:lnTo>
                <a:lnTo>
                  <a:pt x="298" y="152"/>
                </a:lnTo>
                <a:lnTo>
                  <a:pt x="302" y="141"/>
                </a:lnTo>
                <a:lnTo>
                  <a:pt x="305" y="127"/>
                </a:lnTo>
                <a:lnTo>
                  <a:pt x="307" y="112"/>
                </a:lnTo>
                <a:lnTo>
                  <a:pt x="307" y="99"/>
                </a:lnTo>
                <a:close/>
                <a:moveTo>
                  <a:pt x="37" y="0"/>
                </a:moveTo>
                <a:lnTo>
                  <a:pt x="30" y="10"/>
                </a:lnTo>
                <a:lnTo>
                  <a:pt x="22" y="21"/>
                </a:lnTo>
                <a:lnTo>
                  <a:pt x="15" y="33"/>
                </a:lnTo>
                <a:lnTo>
                  <a:pt x="10" y="45"/>
                </a:lnTo>
                <a:lnTo>
                  <a:pt x="7" y="58"/>
                </a:lnTo>
                <a:lnTo>
                  <a:pt x="4" y="71"/>
                </a:lnTo>
                <a:lnTo>
                  <a:pt x="2" y="84"/>
                </a:lnTo>
                <a:lnTo>
                  <a:pt x="0" y="99"/>
                </a:lnTo>
                <a:lnTo>
                  <a:pt x="2" y="112"/>
                </a:lnTo>
                <a:lnTo>
                  <a:pt x="4" y="127"/>
                </a:lnTo>
                <a:lnTo>
                  <a:pt x="7" y="141"/>
                </a:lnTo>
                <a:lnTo>
                  <a:pt x="10" y="152"/>
                </a:lnTo>
                <a:lnTo>
                  <a:pt x="15" y="165"/>
                </a:lnTo>
                <a:lnTo>
                  <a:pt x="22" y="177"/>
                </a:lnTo>
                <a:lnTo>
                  <a:pt x="30" y="189"/>
                </a:lnTo>
                <a:lnTo>
                  <a:pt x="37" y="199"/>
                </a:lnTo>
                <a:lnTo>
                  <a:pt x="43" y="199"/>
                </a:lnTo>
                <a:lnTo>
                  <a:pt x="35" y="189"/>
                </a:lnTo>
                <a:lnTo>
                  <a:pt x="29" y="177"/>
                </a:lnTo>
                <a:lnTo>
                  <a:pt x="22" y="165"/>
                </a:lnTo>
                <a:lnTo>
                  <a:pt x="15" y="154"/>
                </a:lnTo>
                <a:lnTo>
                  <a:pt x="12" y="141"/>
                </a:lnTo>
                <a:lnTo>
                  <a:pt x="9" y="127"/>
                </a:lnTo>
                <a:lnTo>
                  <a:pt x="7" y="112"/>
                </a:lnTo>
                <a:lnTo>
                  <a:pt x="5" y="99"/>
                </a:lnTo>
                <a:lnTo>
                  <a:pt x="7" y="84"/>
                </a:lnTo>
                <a:lnTo>
                  <a:pt x="9" y="71"/>
                </a:lnTo>
                <a:lnTo>
                  <a:pt x="12" y="58"/>
                </a:lnTo>
                <a:lnTo>
                  <a:pt x="15" y="45"/>
                </a:lnTo>
                <a:lnTo>
                  <a:pt x="22" y="33"/>
                </a:lnTo>
                <a:lnTo>
                  <a:pt x="29" y="21"/>
                </a:lnTo>
                <a:lnTo>
                  <a:pt x="35" y="10"/>
                </a:lnTo>
                <a:lnTo>
                  <a:pt x="43" y="0"/>
                </a:lnTo>
                <a:lnTo>
                  <a:pt x="37"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55" name="Freeform 1360">
            <a:extLst>
              <a:ext uri="{FF2B5EF4-FFF2-40B4-BE49-F238E27FC236}">
                <a16:creationId xmlns:a16="http://schemas.microsoft.com/office/drawing/2014/main" id="{2D129661-4514-A519-2244-FA31B4C85B56}"/>
              </a:ext>
            </a:extLst>
          </p:cNvPr>
          <p:cNvSpPr>
            <a:spLocks noEditPoints="1"/>
          </p:cNvSpPr>
          <p:nvPr/>
        </p:nvSpPr>
        <p:spPr bwMode="auto">
          <a:xfrm>
            <a:off x="2676525" y="2403475"/>
            <a:ext cx="477838" cy="315913"/>
          </a:xfrm>
          <a:custGeom>
            <a:avLst/>
            <a:gdLst>
              <a:gd name="T0" fmla="*/ 301 w 301"/>
              <a:gd name="T1" fmla="*/ 84 h 199"/>
              <a:gd name="T2" fmla="*/ 296 w 301"/>
              <a:gd name="T3" fmla="*/ 58 h 199"/>
              <a:gd name="T4" fmla="*/ 286 w 301"/>
              <a:gd name="T5" fmla="*/ 33 h 199"/>
              <a:gd name="T6" fmla="*/ 271 w 301"/>
              <a:gd name="T7" fmla="*/ 10 h 199"/>
              <a:gd name="T8" fmla="*/ 256 w 301"/>
              <a:gd name="T9" fmla="*/ 0 h 199"/>
              <a:gd name="T10" fmla="*/ 273 w 301"/>
              <a:gd name="T11" fmla="*/ 21 h 199"/>
              <a:gd name="T12" fmla="*/ 286 w 301"/>
              <a:gd name="T13" fmla="*/ 45 h 199"/>
              <a:gd name="T14" fmla="*/ 293 w 301"/>
              <a:gd name="T15" fmla="*/ 71 h 199"/>
              <a:gd name="T16" fmla="*/ 296 w 301"/>
              <a:gd name="T17" fmla="*/ 99 h 199"/>
              <a:gd name="T18" fmla="*/ 293 w 301"/>
              <a:gd name="T19" fmla="*/ 127 h 199"/>
              <a:gd name="T20" fmla="*/ 286 w 301"/>
              <a:gd name="T21" fmla="*/ 154 h 199"/>
              <a:gd name="T22" fmla="*/ 273 w 301"/>
              <a:gd name="T23" fmla="*/ 177 h 199"/>
              <a:gd name="T24" fmla="*/ 256 w 301"/>
              <a:gd name="T25" fmla="*/ 199 h 199"/>
              <a:gd name="T26" fmla="*/ 271 w 301"/>
              <a:gd name="T27" fmla="*/ 189 h 199"/>
              <a:gd name="T28" fmla="*/ 286 w 301"/>
              <a:gd name="T29" fmla="*/ 165 h 199"/>
              <a:gd name="T30" fmla="*/ 296 w 301"/>
              <a:gd name="T31" fmla="*/ 141 h 199"/>
              <a:gd name="T32" fmla="*/ 301 w 301"/>
              <a:gd name="T33" fmla="*/ 112 h 199"/>
              <a:gd name="T34" fmla="*/ 36 w 301"/>
              <a:gd name="T35" fmla="*/ 0 h 199"/>
              <a:gd name="T36" fmla="*/ 21 w 301"/>
              <a:gd name="T37" fmla="*/ 21 h 199"/>
              <a:gd name="T38" fmla="*/ 10 w 301"/>
              <a:gd name="T39" fmla="*/ 45 h 199"/>
              <a:gd name="T40" fmla="*/ 1 w 301"/>
              <a:gd name="T41" fmla="*/ 71 h 199"/>
              <a:gd name="T42" fmla="*/ 0 w 301"/>
              <a:gd name="T43" fmla="*/ 99 h 199"/>
              <a:gd name="T44" fmla="*/ 1 w 301"/>
              <a:gd name="T45" fmla="*/ 127 h 199"/>
              <a:gd name="T46" fmla="*/ 10 w 301"/>
              <a:gd name="T47" fmla="*/ 154 h 199"/>
              <a:gd name="T48" fmla="*/ 21 w 301"/>
              <a:gd name="T49" fmla="*/ 177 h 199"/>
              <a:gd name="T50" fmla="*/ 36 w 301"/>
              <a:gd name="T51" fmla="*/ 199 h 199"/>
              <a:gd name="T52" fmla="*/ 34 w 301"/>
              <a:gd name="T53" fmla="*/ 189 h 199"/>
              <a:gd name="T54" fmla="*/ 20 w 301"/>
              <a:gd name="T55" fmla="*/ 165 h 199"/>
              <a:gd name="T56" fmla="*/ 10 w 301"/>
              <a:gd name="T57" fmla="*/ 141 h 199"/>
              <a:gd name="T58" fmla="*/ 5 w 301"/>
              <a:gd name="T59" fmla="*/ 112 h 199"/>
              <a:gd name="T60" fmla="*/ 5 w 301"/>
              <a:gd name="T61" fmla="*/ 84 h 199"/>
              <a:gd name="T62" fmla="*/ 10 w 301"/>
              <a:gd name="T63" fmla="*/ 58 h 199"/>
              <a:gd name="T64" fmla="*/ 20 w 301"/>
              <a:gd name="T65" fmla="*/ 33 h 199"/>
              <a:gd name="T66" fmla="*/ 34 w 301"/>
              <a:gd name="T67" fmla="*/ 10 h 199"/>
              <a:gd name="T68" fmla="*/ 36 w 30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1" h="199">
                <a:moveTo>
                  <a:pt x="301" y="99"/>
                </a:moveTo>
                <a:lnTo>
                  <a:pt x="301" y="84"/>
                </a:lnTo>
                <a:lnTo>
                  <a:pt x="298" y="71"/>
                </a:lnTo>
                <a:lnTo>
                  <a:pt x="296" y="58"/>
                </a:lnTo>
                <a:lnTo>
                  <a:pt x="291" y="45"/>
                </a:lnTo>
                <a:lnTo>
                  <a:pt x="286" y="33"/>
                </a:lnTo>
                <a:lnTo>
                  <a:pt x="280" y="21"/>
                </a:lnTo>
                <a:lnTo>
                  <a:pt x="271" y="10"/>
                </a:lnTo>
                <a:lnTo>
                  <a:pt x="263" y="0"/>
                </a:lnTo>
                <a:lnTo>
                  <a:pt x="256" y="0"/>
                </a:lnTo>
                <a:lnTo>
                  <a:pt x="266" y="10"/>
                </a:lnTo>
                <a:lnTo>
                  <a:pt x="273" y="21"/>
                </a:lnTo>
                <a:lnTo>
                  <a:pt x="280" y="33"/>
                </a:lnTo>
                <a:lnTo>
                  <a:pt x="286" y="45"/>
                </a:lnTo>
                <a:lnTo>
                  <a:pt x="290" y="58"/>
                </a:lnTo>
                <a:lnTo>
                  <a:pt x="293" y="71"/>
                </a:lnTo>
                <a:lnTo>
                  <a:pt x="296" y="84"/>
                </a:lnTo>
                <a:lnTo>
                  <a:pt x="296" y="99"/>
                </a:lnTo>
                <a:lnTo>
                  <a:pt x="296" y="112"/>
                </a:lnTo>
                <a:lnTo>
                  <a:pt x="293" y="127"/>
                </a:lnTo>
                <a:lnTo>
                  <a:pt x="290" y="141"/>
                </a:lnTo>
                <a:lnTo>
                  <a:pt x="286" y="154"/>
                </a:lnTo>
                <a:lnTo>
                  <a:pt x="280" y="165"/>
                </a:lnTo>
                <a:lnTo>
                  <a:pt x="273" y="177"/>
                </a:lnTo>
                <a:lnTo>
                  <a:pt x="266" y="189"/>
                </a:lnTo>
                <a:lnTo>
                  <a:pt x="256" y="199"/>
                </a:lnTo>
                <a:lnTo>
                  <a:pt x="263" y="199"/>
                </a:lnTo>
                <a:lnTo>
                  <a:pt x="271" y="189"/>
                </a:lnTo>
                <a:lnTo>
                  <a:pt x="280" y="177"/>
                </a:lnTo>
                <a:lnTo>
                  <a:pt x="286" y="165"/>
                </a:lnTo>
                <a:lnTo>
                  <a:pt x="291" y="154"/>
                </a:lnTo>
                <a:lnTo>
                  <a:pt x="296" y="141"/>
                </a:lnTo>
                <a:lnTo>
                  <a:pt x="298" y="127"/>
                </a:lnTo>
                <a:lnTo>
                  <a:pt x="301" y="112"/>
                </a:lnTo>
                <a:lnTo>
                  <a:pt x="301" y="99"/>
                </a:lnTo>
                <a:close/>
                <a:moveTo>
                  <a:pt x="36" y="0"/>
                </a:moveTo>
                <a:lnTo>
                  <a:pt x="28" y="10"/>
                </a:lnTo>
                <a:lnTo>
                  <a:pt x="21" y="21"/>
                </a:lnTo>
                <a:lnTo>
                  <a:pt x="15" y="33"/>
                </a:lnTo>
                <a:lnTo>
                  <a:pt x="10" y="45"/>
                </a:lnTo>
                <a:lnTo>
                  <a:pt x="5" y="58"/>
                </a:lnTo>
                <a:lnTo>
                  <a:pt x="1" y="71"/>
                </a:lnTo>
                <a:lnTo>
                  <a:pt x="0" y="84"/>
                </a:lnTo>
                <a:lnTo>
                  <a:pt x="0" y="99"/>
                </a:lnTo>
                <a:lnTo>
                  <a:pt x="0" y="112"/>
                </a:lnTo>
                <a:lnTo>
                  <a:pt x="1" y="127"/>
                </a:lnTo>
                <a:lnTo>
                  <a:pt x="5" y="141"/>
                </a:lnTo>
                <a:lnTo>
                  <a:pt x="10" y="154"/>
                </a:lnTo>
                <a:lnTo>
                  <a:pt x="15" y="165"/>
                </a:lnTo>
                <a:lnTo>
                  <a:pt x="21" y="177"/>
                </a:lnTo>
                <a:lnTo>
                  <a:pt x="28" y="189"/>
                </a:lnTo>
                <a:lnTo>
                  <a:pt x="36" y="199"/>
                </a:lnTo>
                <a:lnTo>
                  <a:pt x="43" y="199"/>
                </a:lnTo>
                <a:lnTo>
                  <a:pt x="34" y="189"/>
                </a:lnTo>
                <a:lnTo>
                  <a:pt x="26" y="177"/>
                </a:lnTo>
                <a:lnTo>
                  <a:pt x="20" y="165"/>
                </a:lnTo>
                <a:lnTo>
                  <a:pt x="15" y="154"/>
                </a:lnTo>
                <a:lnTo>
                  <a:pt x="10" y="141"/>
                </a:lnTo>
                <a:lnTo>
                  <a:pt x="6" y="127"/>
                </a:lnTo>
                <a:lnTo>
                  <a:pt x="5" y="112"/>
                </a:lnTo>
                <a:lnTo>
                  <a:pt x="5" y="99"/>
                </a:lnTo>
                <a:lnTo>
                  <a:pt x="5" y="84"/>
                </a:lnTo>
                <a:lnTo>
                  <a:pt x="6" y="71"/>
                </a:lnTo>
                <a:lnTo>
                  <a:pt x="10" y="58"/>
                </a:lnTo>
                <a:lnTo>
                  <a:pt x="15" y="45"/>
                </a:lnTo>
                <a:lnTo>
                  <a:pt x="20" y="33"/>
                </a:lnTo>
                <a:lnTo>
                  <a:pt x="26" y="21"/>
                </a:lnTo>
                <a:lnTo>
                  <a:pt x="34" y="10"/>
                </a:lnTo>
                <a:lnTo>
                  <a:pt x="43" y="0"/>
                </a:lnTo>
                <a:lnTo>
                  <a:pt x="36"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56" name="Freeform 1361">
            <a:extLst>
              <a:ext uri="{FF2B5EF4-FFF2-40B4-BE49-F238E27FC236}">
                <a16:creationId xmlns:a16="http://schemas.microsoft.com/office/drawing/2014/main" id="{112F7B95-4A24-32B1-6981-F615BF8ED030}"/>
              </a:ext>
            </a:extLst>
          </p:cNvPr>
          <p:cNvSpPr>
            <a:spLocks noEditPoints="1"/>
          </p:cNvSpPr>
          <p:nvPr/>
        </p:nvSpPr>
        <p:spPr bwMode="auto">
          <a:xfrm>
            <a:off x="2678113" y="2403475"/>
            <a:ext cx="471488" cy="315913"/>
          </a:xfrm>
          <a:custGeom>
            <a:avLst/>
            <a:gdLst>
              <a:gd name="T0" fmla="*/ 297 w 297"/>
              <a:gd name="T1" fmla="*/ 84 h 199"/>
              <a:gd name="T2" fmla="*/ 292 w 297"/>
              <a:gd name="T3" fmla="*/ 58 h 199"/>
              <a:gd name="T4" fmla="*/ 282 w 297"/>
              <a:gd name="T5" fmla="*/ 33 h 199"/>
              <a:gd name="T6" fmla="*/ 269 w 297"/>
              <a:gd name="T7" fmla="*/ 10 h 199"/>
              <a:gd name="T8" fmla="*/ 252 w 297"/>
              <a:gd name="T9" fmla="*/ 0 h 199"/>
              <a:gd name="T10" fmla="*/ 270 w 297"/>
              <a:gd name="T11" fmla="*/ 21 h 199"/>
              <a:gd name="T12" fmla="*/ 282 w 297"/>
              <a:gd name="T13" fmla="*/ 45 h 199"/>
              <a:gd name="T14" fmla="*/ 290 w 297"/>
              <a:gd name="T15" fmla="*/ 71 h 199"/>
              <a:gd name="T16" fmla="*/ 293 w 297"/>
              <a:gd name="T17" fmla="*/ 99 h 199"/>
              <a:gd name="T18" fmla="*/ 290 w 297"/>
              <a:gd name="T19" fmla="*/ 127 h 199"/>
              <a:gd name="T20" fmla="*/ 282 w 297"/>
              <a:gd name="T21" fmla="*/ 154 h 199"/>
              <a:gd name="T22" fmla="*/ 270 w 297"/>
              <a:gd name="T23" fmla="*/ 177 h 199"/>
              <a:gd name="T24" fmla="*/ 252 w 297"/>
              <a:gd name="T25" fmla="*/ 199 h 199"/>
              <a:gd name="T26" fmla="*/ 269 w 297"/>
              <a:gd name="T27" fmla="*/ 189 h 199"/>
              <a:gd name="T28" fmla="*/ 282 w 297"/>
              <a:gd name="T29" fmla="*/ 165 h 199"/>
              <a:gd name="T30" fmla="*/ 292 w 297"/>
              <a:gd name="T31" fmla="*/ 141 h 199"/>
              <a:gd name="T32" fmla="*/ 297 w 297"/>
              <a:gd name="T33" fmla="*/ 112 h 199"/>
              <a:gd name="T34" fmla="*/ 38 w 297"/>
              <a:gd name="T35" fmla="*/ 0 h 199"/>
              <a:gd name="T36" fmla="*/ 24 w 297"/>
              <a:gd name="T37" fmla="*/ 21 h 199"/>
              <a:gd name="T38" fmla="*/ 10 w 297"/>
              <a:gd name="T39" fmla="*/ 45 h 199"/>
              <a:gd name="T40" fmla="*/ 4 w 297"/>
              <a:gd name="T41" fmla="*/ 71 h 199"/>
              <a:gd name="T42" fmla="*/ 0 w 297"/>
              <a:gd name="T43" fmla="*/ 99 h 199"/>
              <a:gd name="T44" fmla="*/ 4 w 297"/>
              <a:gd name="T45" fmla="*/ 127 h 199"/>
              <a:gd name="T46" fmla="*/ 10 w 297"/>
              <a:gd name="T47" fmla="*/ 154 h 199"/>
              <a:gd name="T48" fmla="*/ 24 w 297"/>
              <a:gd name="T49" fmla="*/ 177 h 199"/>
              <a:gd name="T50" fmla="*/ 38 w 297"/>
              <a:gd name="T51" fmla="*/ 199 h 199"/>
              <a:gd name="T52" fmla="*/ 37 w 297"/>
              <a:gd name="T53" fmla="*/ 189 h 199"/>
              <a:gd name="T54" fmla="*/ 22 w 297"/>
              <a:gd name="T55" fmla="*/ 165 h 199"/>
              <a:gd name="T56" fmla="*/ 12 w 297"/>
              <a:gd name="T57" fmla="*/ 141 h 199"/>
              <a:gd name="T58" fmla="*/ 7 w 297"/>
              <a:gd name="T59" fmla="*/ 114 h 199"/>
              <a:gd name="T60" fmla="*/ 7 w 297"/>
              <a:gd name="T61" fmla="*/ 84 h 199"/>
              <a:gd name="T62" fmla="*/ 12 w 297"/>
              <a:gd name="T63" fmla="*/ 58 h 199"/>
              <a:gd name="T64" fmla="*/ 22 w 297"/>
              <a:gd name="T65" fmla="*/ 33 h 199"/>
              <a:gd name="T66" fmla="*/ 37 w 297"/>
              <a:gd name="T67" fmla="*/ 10 h 199"/>
              <a:gd name="T68" fmla="*/ 38 w 297"/>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7" h="199">
                <a:moveTo>
                  <a:pt x="297" y="99"/>
                </a:moveTo>
                <a:lnTo>
                  <a:pt x="297" y="84"/>
                </a:lnTo>
                <a:lnTo>
                  <a:pt x="295" y="71"/>
                </a:lnTo>
                <a:lnTo>
                  <a:pt x="292" y="58"/>
                </a:lnTo>
                <a:lnTo>
                  <a:pt x="287" y="45"/>
                </a:lnTo>
                <a:lnTo>
                  <a:pt x="282" y="33"/>
                </a:lnTo>
                <a:lnTo>
                  <a:pt x="275" y="21"/>
                </a:lnTo>
                <a:lnTo>
                  <a:pt x="269" y="10"/>
                </a:lnTo>
                <a:lnTo>
                  <a:pt x="259" y="0"/>
                </a:lnTo>
                <a:lnTo>
                  <a:pt x="252" y="0"/>
                </a:lnTo>
                <a:lnTo>
                  <a:pt x="262" y="10"/>
                </a:lnTo>
                <a:lnTo>
                  <a:pt x="270" y="21"/>
                </a:lnTo>
                <a:lnTo>
                  <a:pt x="277" y="33"/>
                </a:lnTo>
                <a:lnTo>
                  <a:pt x="282" y="45"/>
                </a:lnTo>
                <a:lnTo>
                  <a:pt x="287" y="58"/>
                </a:lnTo>
                <a:lnTo>
                  <a:pt x="290" y="71"/>
                </a:lnTo>
                <a:lnTo>
                  <a:pt x="292" y="84"/>
                </a:lnTo>
                <a:lnTo>
                  <a:pt x="293" y="99"/>
                </a:lnTo>
                <a:lnTo>
                  <a:pt x="292" y="114"/>
                </a:lnTo>
                <a:lnTo>
                  <a:pt x="290" y="127"/>
                </a:lnTo>
                <a:lnTo>
                  <a:pt x="287" y="141"/>
                </a:lnTo>
                <a:lnTo>
                  <a:pt x="282" y="154"/>
                </a:lnTo>
                <a:lnTo>
                  <a:pt x="277" y="165"/>
                </a:lnTo>
                <a:lnTo>
                  <a:pt x="270" y="177"/>
                </a:lnTo>
                <a:lnTo>
                  <a:pt x="262" y="189"/>
                </a:lnTo>
                <a:lnTo>
                  <a:pt x="252" y="199"/>
                </a:lnTo>
                <a:lnTo>
                  <a:pt x="259" y="199"/>
                </a:lnTo>
                <a:lnTo>
                  <a:pt x="269" y="189"/>
                </a:lnTo>
                <a:lnTo>
                  <a:pt x="275" y="177"/>
                </a:lnTo>
                <a:lnTo>
                  <a:pt x="282" y="165"/>
                </a:lnTo>
                <a:lnTo>
                  <a:pt x="287" y="154"/>
                </a:lnTo>
                <a:lnTo>
                  <a:pt x="292" y="141"/>
                </a:lnTo>
                <a:lnTo>
                  <a:pt x="295" y="127"/>
                </a:lnTo>
                <a:lnTo>
                  <a:pt x="297" y="112"/>
                </a:lnTo>
                <a:lnTo>
                  <a:pt x="297" y="99"/>
                </a:lnTo>
                <a:close/>
                <a:moveTo>
                  <a:pt x="38" y="0"/>
                </a:moveTo>
                <a:lnTo>
                  <a:pt x="30" y="10"/>
                </a:lnTo>
                <a:lnTo>
                  <a:pt x="24" y="21"/>
                </a:lnTo>
                <a:lnTo>
                  <a:pt x="17" y="33"/>
                </a:lnTo>
                <a:lnTo>
                  <a:pt x="10" y="45"/>
                </a:lnTo>
                <a:lnTo>
                  <a:pt x="7" y="58"/>
                </a:lnTo>
                <a:lnTo>
                  <a:pt x="4" y="71"/>
                </a:lnTo>
                <a:lnTo>
                  <a:pt x="2" y="84"/>
                </a:lnTo>
                <a:lnTo>
                  <a:pt x="0" y="99"/>
                </a:lnTo>
                <a:lnTo>
                  <a:pt x="2" y="112"/>
                </a:lnTo>
                <a:lnTo>
                  <a:pt x="4" y="127"/>
                </a:lnTo>
                <a:lnTo>
                  <a:pt x="7" y="141"/>
                </a:lnTo>
                <a:lnTo>
                  <a:pt x="10" y="154"/>
                </a:lnTo>
                <a:lnTo>
                  <a:pt x="17" y="165"/>
                </a:lnTo>
                <a:lnTo>
                  <a:pt x="24" y="177"/>
                </a:lnTo>
                <a:lnTo>
                  <a:pt x="30" y="189"/>
                </a:lnTo>
                <a:lnTo>
                  <a:pt x="38" y="199"/>
                </a:lnTo>
                <a:lnTo>
                  <a:pt x="45" y="199"/>
                </a:lnTo>
                <a:lnTo>
                  <a:pt x="37" y="189"/>
                </a:lnTo>
                <a:lnTo>
                  <a:pt x="29" y="177"/>
                </a:lnTo>
                <a:lnTo>
                  <a:pt x="22" y="165"/>
                </a:lnTo>
                <a:lnTo>
                  <a:pt x="17" y="154"/>
                </a:lnTo>
                <a:lnTo>
                  <a:pt x="12" y="141"/>
                </a:lnTo>
                <a:lnTo>
                  <a:pt x="9" y="127"/>
                </a:lnTo>
                <a:lnTo>
                  <a:pt x="7" y="114"/>
                </a:lnTo>
                <a:lnTo>
                  <a:pt x="5" y="99"/>
                </a:lnTo>
                <a:lnTo>
                  <a:pt x="7" y="84"/>
                </a:lnTo>
                <a:lnTo>
                  <a:pt x="9" y="71"/>
                </a:lnTo>
                <a:lnTo>
                  <a:pt x="12" y="58"/>
                </a:lnTo>
                <a:lnTo>
                  <a:pt x="17" y="45"/>
                </a:lnTo>
                <a:lnTo>
                  <a:pt x="22" y="33"/>
                </a:lnTo>
                <a:lnTo>
                  <a:pt x="29" y="21"/>
                </a:lnTo>
                <a:lnTo>
                  <a:pt x="37" y="10"/>
                </a:lnTo>
                <a:lnTo>
                  <a:pt x="45" y="0"/>
                </a:lnTo>
                <a:lnTo>
                  <a:pt x="38"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57" name="Freeform 1362">
            <a:extLst>
              <a:ext uri="{FF2B5EF4-FFF2-40B4-BE49-F238E27FC236}">
                <a16:creationId xmlns:a16="http://schemas.microsoft.com/office/drawing/2014/main" id="{64F3752E-2C10-6521-48D7-2063B2246775}"/>
              </a:ext>
            </a:extLst>
          </p:cNvPr>
          <p:cNvSpPr>
            <a:spLocks noEditPoints="1"/>
          </p:cNvSpPr>
          <p:nvPr/>
        </p:nvSpPr>
        <p:spPr bwMode="auto">
          <a:xfrm>
            <a:off x="2684463" y="2403475"/>
            <a:ext cx="461963" cy="315913"/>
          </a:xfrm>
          <a:custGeom>
            <a:avLst/>
            <a:gdLst>
              <a:gd name="T0" fmla="*/ 291 w 291"/>
              <a:gd name="T1" fmla="*/ 84 h 199"/>
              <a:gd name="T2" fmla="*/ 285 w 291"/>
              <a:gd name="T3" fmla="*/ 58 h 199"/>
              <a:gd name="T4" fmla="*/ 275 w 291"/>
              <a:gd name="T5" fmla="*/ 33 h 199"/>
              <a:gd name="T6" fmla="*/ 261 w 291"/>
              <a:gd name="T7" fmla="*/ 10 h 199"/>
              <a:gd name="T8" fmla="*/ 245 w 291"/>
              <a:gd name="T9" fmla="*/ 0 h 199"/>
              <a:gd name="T10" fmla="*/ 263 w 291"/>
              <a:gd name="T11" fmla="*/ 20 h 199"/>
              <a:gd name="T12" fmla="*/ 276 w 291"/>
              <a:gd name="T13" fmla="*/ 45 h 199"/>
              <a:gd name="T14" fmla="*/ 283 w 291"/>
              <a:gd name="T15" fmla="*/ 71 h 199"/>
              <a:gd name="T16" fmla="*/ 286 w 291"/>
              <a:gd name="T17" fmla="*/ 99 h 199"/>
              <a:gd name="T18" fmla="*/ 283 w 291"/>
              <a:gd name="T19" fmla="*/ 127 h 199"/>
              <a:gd name="T20" fmla="*/ 276 w 291"/>
              <a:gd name="T21" fmla="*/ 154 h 199"/>
              <a:gd name="T22" fmla="*/ 263 w 291"/>
              <a:gd name="T23" fmla="*/ 177 h 199"/>
              <a:gd name="T24" fmla="*/ 245 w 291"/>
              <a:gd name="T25" fmla="*/ 199 h 199"/>
              <a:gd name="T26" fmla="*/ 261 w 291"/>
              <a:gd name="T27" fmla="*/ 189 h 199"/>
              <a:gd name="T28" fmla="*/ 275 w 291"/>
              <a:gd name="T29" fmla="*/ 165 h 199"/>
              <a:gd name="T30" fmla="*/ 285 w 291"/>
              <a:gd name="T31" fmla="*/ 141 h 199"/>
              <a:gd name="T32" fmla="*/ 291 w 291"/>
              <a:gd name="T33" fmla="*/ 112 h 199"/>
              <a:gd name="T34" fmla="*/ 38 w 291"/>
              <a:gd name="T35" fmla="*/ 0 h 199"/>
              <a:gd name="T36" fmla="*/ 21 w 291"/>
              <a:gd name="T37" fmla="*/ 21 h 199"/>
              <a:gd name="T38" fmla="*/ 10 w 291"/>
              <a:gd name="T39" fmla="*/ 45 h 199"/>
              <a:gd name="T40" fmla="*/ 1 w 291"/>
              <a:gd name="T41" fmla="*/ 71 h 199"/>
              <a:gd name="T42" fmla="*/ 0 w 291"/>
              <a:gd name="T43" fmla="*/ 99 h 199"/>
              <a:gd name="T44" fmla="*/ 1 w 291"/>
              <a:gd name="T45" fmla="*/ 127 h 199"/>
              <a:gd name="T46" fmla="*/ 10 w 291"/>
              <a:gd name="T47" fmla="*/ 154 h 199"/>
              <a:gd name="T48" fmla="*/ 21 w 291"/>
              <a:gd name="T49" fmla="*/ 177 h 199"/>
              <a:gd name="T50" fmla="*/ 38 w 291"/>
              <a:gd name="T51" fmla="*/ 199 h 199"/>
              <a:gd name="T52" fmla="*/ 36 w 291"/>
              <a:gd name="T53" fmla="*/ 189 h 199"/>
              <a:gd name="T54" fmla="*/ 21 w 291"/>
              <a:gd name="T55" fmla="*/ 165 h 199"/>
              <a:gd name="T56" fmla="*/ 10 w 291"/>
              <a:gd name="T57" fmla="*/ 141 h 199"/>
              <a:gd name="T58" fmla="*/ 5 w 291"/>
              <a:gd name="T59" fmla="*/ 114 h 199"/>
              <a:gd name="T60" fmla="*/ 5 w 291"/>
              <a:gd name="T61" fmla="*/ 84 h 199"/>
              <a:gd name="T62" fmla="*/ 10 w 291"/>
              <a:gd name="T63" fmla="*/ 58 h 199"/>
              <a:gd name="T64" fmla="*/ 21 w 291"/>
              <a:gd name="T65" fmla="*/ 31 h 199"/>
              <a:gd name="T66" fmla="*/ 36 w 291"/>
              <a:gd name="T67" fmla="*/ 10 h 199"/>
              <a:gd name="T68" fmla="*/ 38 w 29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1" h="199">
                <a:moveTo>
                  <a:pt x="291" y="99"/>
                </a:moveTo>
                <a:lnTo>
                  <a:pt x="291" y="84"/>
                </a:lnTo>
                <a:lnTo>
                  <a:pt x="288" y="71"/>
                </a:lnTo>
                <a:lnTo>
                  <a:pt x="285" y="58"/>
                </a:lnTo>
                <a:lnTo>
                  <a:pt x="281" y="45"/>
                </a:lnTo>
                <a:lnTo>
                  <a:pt x="275" y="33"/>
                </a:lnTo>
                <a:lnTo>
                  <a:pt x="268" y="21"/>
                </a:lnTo>
                <a:lnTo>
                  <a:pt x="261" y="10"/>
                </a:lnTo>
                <a:lnTo>
                  <a:pt x="251" y="0"/>
                </a:lnTo>
                <a:lnTo>
                  <a:pt x="245" y="0"/>
                </a:lnTo>
                <a:lnTo>
                  <a:pt x="255" y="10"/>
                </a:lnTo>
                <a:lnTo>
                  <a:pt x="263" y="20"/>
                </a:lnTo>
                <a:lnTo>
                  <a:pt x="270" y="31"/>
                </a:lnTo>
                <a:lnTo>
                  <a:pt x="276" y="45"/>
                </a:lnTo>
                <a:lnTo>
                  <a:pt x="280" y="58"/>
                </a:lnTo>
                <a:lnTo>
                  <a:pt x="283" y="71"/>
                </a:lnTo>
                <a:lnTo>
                  <a:pt x="286" y="84"/>
                </a:lnTo>
                <a:lnTo>
                  <a:pt x="286" y="99"/>
                </a:lnTo>
                <a:lnTo>
                  <a:pt x="286" y="114"/>
                </a:lnTo>
                <a:lnTo>
                  <a:pt x="283" y="127"/>
                </a:lnTo>
                <a:lnTo>
                  <a:pt x="280" y="141"/>
                </a:lnTo>
                <a:lnTo>
                  <a:pt x="276" y="154"/>
                </a:lnTo>
                <a:lnTo>
                  <a:pt x="270" y="165"/>
                </a:lnTo>
                <a:lnTo>
                  <a:pt x="263" y="177"/>
                </a:lnTo>
                <a:lnTo>
                  <a:pt x="255" y="189"/>
                </a:lnTo>
                <a:lnTo>
                  <a:pt x="245" y="199"/>
                </a:lnTo>
                <a:lnTo>
                  <a:pt x="251" y="199"/>
                </a:lnTo>
                <a:lnTo>
                  <a:pt x="261" y="189"/>
                </a:lnTo>
                <a:lnTo>
                  <a:pt x="268" y="177"/>
                </a:lnTo>
                <a:lnTo>
                  <a:pt x="275" y="165"/>
                </a:lnTo>
                <a:lnTo>
                  <a:pt x="281" y="154"/>
                </a:lnTo>
                <a:lnTo>
                  <a:pt x="285" y="141"/>
                </a:lnTo>
                <a:lnTo>
                  <a:pt x="288" y="127"/>
                </a:lnTo>
                <a:lnTo>
                  <a:pt x="291" y="112"/>
                </a:lnTo>
                <a:lnTo>
                  <a:pt x="291" y="99"/>
                </a:lnTo>
                <a:close/>
                <a:moveTo>
                  <a:pt x="38" y="0"/>
                </a:moveTo>
                <a:lnTo>
                  <a:pt x="29" y="10"/>
                </a:lnTo>
                <a:lnTo>
                  <a:pt x="21" y="21"/>
                </a:lnTo>
                <a:lnTo>
                  <a:pt x="15" y="33"/>
                </a:lnTo>
                <a:lnTo>
                  <a:pt x="10" y="45"/>
                </a:lnTo>
                <a:lnTo>
                  <a:pt x="5" y="58"/>
                </a:lnTo>
                <a:lnTo>
                  <a:pt x="1" y="71"/>
                </a:lnTo>
                <a:lnTo>
                  <a:pt x="0" y="84"/>
                </a:lnTo>
                <a:lnTo>
                  <a:pt x="0" y="99"/>
                </a:lnTo>
                <a:lnTo>
                  <a:pt x="0" y="112"/>
                </a:lnTo>
                <a:lnTo>
                  <a:pt x="1" y="127"/>
                </a:lnTo>
                <a:lnTo>
                  <a:pt x="5" y="141"/>
                </a:lnTo>
                <a:lnTo>
                  <a:pt x="10" y="154"/>
                </a:lnTo>
                <a:lnTo>
                  <a:pt x="15" y="165"/>
                </a:lnTo>
                <a:lnTo>
                  <a:pt x="21" y="177"/>
                </a:lnTo>
                <a:lnTo>
                  <a:pt x="29" y="189"/>
                </a:lnTo>
                <a:lnTo>
                  <a:pt x="38" y="199"/>
                </a:lnTo>
                <a:lnTo>
                  <a:pt x="44" y="199"/>
                </a:lnTo>
                <a:lnTo>
                  <a:pt x="36" y="189"/>
                </a:lnTo>
                <a:lnTo>
                  <a:pt x="28" y="177"/>
                </a:lnTo>
                <a:lnTo>
                  <a:pt x="21" y="165"/>
                </a:lnTo>
                <a:lnTo>
                  <a:pt x="15" y="154"/>
                </a:lnTo>
                <a:lnTo>
                  <a:pt x="10" y="141"/>
                </a:lnTo>
                <a:lnTo>
                  <a:pt x="6" y="127"/>
                </a:lnTo>
                <a:lnTo>
                  <a:pt x="5" y="114"/>
                </a:lnTo>
                <a:lnTo>
                  <a:pt x="5" y="99"/>
                </a:lnTo>
                <a:lnTo>
                  <a:pt x="5" y="84"/>
                </a:lnTo>
                <a:lnTo>
                  <a:pt x="6" y="71"/>
                </a:lnTo>
                <a:lnTo>
                  <a:pt x="10" y="58"/>
                </a:lnTo>
                <a:lnTo>
                  <a:pt x="15" y="45"/>
                </a:lnTo>
                <a:lnTo>
                  <a:pt x="21" y="31"/>
                </a:lnTo>
                <a:lnTo>
                  <a:pt x="28" y="20"/>
                </a:lnTo>
                <a:lnTo>
                  <a:pt x="36" y="10"/>
                </a:lnTo>
                <a:lnTo>
                  <a:pt x="44" y="0"/>
                </a:lnTo>
                <a:lnTo>
                  <a:pt x="38"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58" name="Freeform 1363">
            <a:extLst>
              <a:ext uri="{FF2B5EF4-FFF2-40B4-BE49-F238E27FC236}">
                <a16:creationId xmlns:a16="http://schemas.microsoft.com/office/drawing/2014/main" id="{456C5CD4-3D8A-8992-5C81-3E016DE57DE8}"/>
              </a:ext>
            </a:extLst>
          </p:cNvPr>
          <p:cNvSpPr>
            <a:spLocks noEditPoints="1"/>
          </p:cNvSpPr>
          <p:nvPr/>
        </p:nvSpPr>
        <p:spPr bwMode="auto">
          <a:xfrm>
            <a:off x="2686050" y="2403475"/>
            <a:ext cx="457200" cy="315913"/>
          </a:xfrm>
          <a:custGeom>
            <a:avLst/>
            <a:gdLst>
              <a:gd name="T0" fmla="*/ 287 w 288"/>
              <a:gd name="T1" fmla="*/ 84 h 199"/>
              <a:gd name="T2" fmla="*/ 282 w 288"/>
              <a:gd name="T3" fmla="*/ 58 h 199"/>
              <a:gd name="T4" fmla="*/ 272 w 288"/>
              <a:gd name="T5" fmla="*/ 33 h 199"/>
              <a:gd name="T6" fmla="*/ 257 w 288"/>
              <a:gd name="T7" fmla="*/ 10 h 199"/>
              <a:gd name="T8" fmla="*/ 240 w 288"/>
              <a:gd name="T9" fmla="*/ 0 h 199"/>
              <a:gd name="T10" fmla="*/ 259 w 288"/>
              <a:gd name="T11" fmla="*/ 20 h 199"/>
              <a:gd name="T12" fmla="*/ 272 w 288"/>
              <a:gd name="T13" fmla="*/ 45 h 199"/>
              <a:gd name="T14" fmla="*/ 280 w 288"/>
              <a:gd name="T15" fmla="*/ 71 h 199"/>
              <a:gd name="T16" fmla="*/ 284 w 288"/>
              <a:gd name="T17" fmla="*/ 99 h 199"/>
              <a:gd name="T18" fmla="*/ 280 w 288"/>
              <a:gd name="T19" fmla="*/ 127 h 199"/>
              <a:gd name="T20" fmla="*/ 272 w 288"/>
              <a:gd name="T21" fmla="*/ 154 h 199"/>
              <a:gd name="T22" fmla="*/ 259 w 288"/>
              <a:gd name="T23" fmla="*/ 177 h 199"/>
              <a:gd name="T24" fmla="*/ 240 w 288"/>
              <a:gd name="T25" fmla="*/ 199 h 199"/>
              <a:gd name="T26" fmla="*/ 257 w 288"/>
              <a:gd name="T27" fmla="*/ 189 h 199"/>
              <a:gd name="T28" fmla="*/ 272 w 288"/>
              <a:gd name="T29" fmla="*/ 165 h 199"/>
              <a:gd name="T30" fmla="*/ 282 w 288"/>
              <a:gd name="T31" fmla="*/ 141 h 199"/>
              <a:gd name="T32" fmla="*/ 287 w 288"/>
              <a:gd name="T33" fmla="*/ 114 h 199"/>
              <a:gd name="T34" fmla="*/ 40 w 288"/>
              <a:gd name="T35" fmla="*/ 0 h 199"/>
              <a:gd name="T36" fmla="*/ 24 w 288"/>
              <a:gd name="T37" fmla="*/ 21 h 199"/>
              <a:gd name="T38" fmla="*/ 12 w 288"/>
              <a:gd name="T39" fmla="*/ 45 h 199"/>
              <a:gd name="T40" fmla="*/ 4 w 288"/>
              <a:gd name="T41" fmla="*/ 71 h 199"/>
              <a:gd name="T42" fmla="*/ 0 w 288"/>
              <a:gd name="T43" fmla="*/ 99 h 199"/>
              <a:gd name="T44" fmla="*/ 4 w 288"/>
              <a:gd name="T45" fmla="*/ 127 h 199"/>
              <a:gd name="T46" fmla="*/ 12 w 288"/>
              <a:gd name="T47" fmla="*/ 154 h 199"/>
              <a:gd name="T48" fmla="*/ 24 w 288"/>
              <a:gd name="T49" fmla="*/ 177 h 199"/>
              <a:gd name="T50" fmla="*/ 40 w 288"/>
              <a:gd name="T51" fmla="*/ 199 h 199"/>
              <a:gd name="T52" fmla="*/ 38 w 288"/>
              <a:gd name="T53" fmla="*/ 189 h 199"/>
              <a:gd name="T54" fmla="*/ 22 w 288"/>
              <a:gd name="T55" fmla="*/ 165 h 199"/>
              <a:gd name="T56" fmla="*/ 12 w 288"/>
              <a:gd name="T57" fmla="*/ 141 h 199"/>
              <a:gd name="T58" fmla="*/ 5 w 288"/>
              <a:gd name="T59" fmla="*/ 114 h 199"/>
              <a:gd name="T60" fmla="*/ 5 w 288"/>
              <a:gd name="T61" fmla="*/ 84 h 199"/>
              <a:gd name="T62" fmla="*/ 12 w 288"/>
              <a:gd name="T63" fmla="*/ 58 h 199"/>
              <a:gd name="T64" fmla="*/ 22 w 288"/>
              <a:gd name="T65" fmla="*/ 31 h 199"/>
              <a:gd name="T66" fmla="*/ 38 w 288"/>
              <a:gd name="T67" fmla="*/ 10 h 199"/>
              <a:gd name="T68" fmla="*/ 40 w 288"/>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8" h="199">
                <a:moveTo>
                  <a:pt x="288" y="99"/>
                </a:moveTo>
                <a:lnTo>
                  <a:pt x="287" y="84"/>
                </a:lnTo>
                <a:lnTo>
                  <a:pt x="285" y="71"/>
                </a:lnTo>
                <a:lnTo>
                  <a:pt x="282" y="58"/>
                </a:lnTo>
                <a:lnTo>
                  <a:pt x="277" y="45"/>
                </a:lnTo>
                <a:lnTo>
                  <a:pt x="272" y="33"/>
                </a:lnTo>
                <a:lnTo>
                  <a:pt x="265" y="21"/>
                </a:lnTo>
                <a:lnTo>
                  <a:pt x="257" y="10"/>
                </a:lnTo>
                <a:lnTo>
                  <a:pt x="247" y="0"/>
                </a:lnTo>
                <a:lnTo>
                  <a:pt x="240" y="0"/>
                </a:lnTo>
                <a:lnTo>
                  <a:pt x="250" y="10"/>
                </a:lnTo>
                <a:lnTo>
                  <a:pt x="259" y="20"/>
                </a:lnTo>
                <a:lnTo>
                  <a:pt x="265" y="31"/>
                </a:lnTo>
                <a:lnTo>
                  <a:pt x="272" y="45"/>
                </a:lnTo>
                <a:lnTo>
                  <a:pt x="277" y="58"/>
                </a:lnTo>
                <a:lnTo>
                  <a:pt x="280" y="71"/>
                </a:lnTo>
                <a:lnTo>
                  <a:pt x="282" y="84"/>
                </a:lnTo>
                <a:lnTo>
                  <a:pt x="284" y="99"/>
                </a:lnTo>
                <a:lnTo>
                  <a:pt x="282" y="114"/>
                </a:lnTo>
                <a:lnTo>
                  <a:pt x="280" y="127"/>
                </a:lnTo>
                <a:lnTo>
                  <a:pt x="277" y="141"/>
                </a:lnTo>
                <a:lnTo>
                  <a:pt x="272" y="154"/>
                </a:lnTo>
                <a:lnTo>
                  <a:pt x="265" y="165"/>
                </a:lnTo>
                <a:lnTo>
                  <a:pt x="259" y="177"/>
                </a:lnTo>
                <a:lnTo>
                  <a:pt x="250" y="189"/>
                </a:lnTo>
                <a:lnTo>
                  <a:pt x="240" y="199"/>
                </a:lnTo>
                <a:lnTo>
                  <a:pt x="247" y="199"/>
                </a:lnTo>
                <a:lnTo>
                  <a:pt x="257" y="189"/>
                </a:lnTo>
                <a:lnTo>
                  <a:pt x="265" y="177"/>
                </a:lnTo>
                <a:lnTo>
                  <a:pt x="272" y="165"/>
                </a:lnTo>
                <a:lnTo>
                  <a:pt x="277" y="154"/>
                </a:lnTo>
                <a:lnTo>
                  <a:pt x="282" y="141"/>
                </a:lnTo>
                <a:lnTo>
                  <a:pt x="285" y="127"/>
                </a:lnTo>
                <a:lnTo>
                  <a:pt x="287" y="114"/>
                </a:lnTo>
                <a:lnTo>
                  <a:pt x="288" y="99"/>
                </a:lnTo>
                <a:close/>
                <a:moveTo>
                  <a:pt x="40" y="0"/>
                </a:moveTo>
                <a:lnTo>
                  <a:pt x="32" y="10"/>
                </a:lnTo>
                <a:lnTo>
                  <a:pt x="24" y="21"/>
                </a:lnTo>
                <a:lnTo>
                  <a:pt x="17" y="33"/>
                </a:lnTo>
                <a:lnTo>
                  <a:pt x="12" y="45"/>
                </a:lnTo>
                <a:lnTo>
                  <a:pt x="7" y="58"/>
                </a:lnTo>
                <a:lnTo>
                  <a:pt x="4" y="71"/>
                </a:lnTo>
                <a:lnTo>
                  <a:pt x="2" y="84"/>
                </a:lnTo>
                <a:lnTo>
                  <a:pt x="0" y="99"/>
                </a:lnTo>
                <a:lnTo>
                  <a:pt x="2" y="114"/>
                </a:lnTo>
                <a:lnTo>
                  <a:pt x="4" y="127"/>
                </a:lnTo>
                <a:lnTo>
                  <a:pt x="7" y="141"/>
                </a:lnTo>
                <a:lnTo>
                  <a:pt x="12" y="154"/>
                </a:lnTo>
                <a:lnTo>
                  <a:pt x="17" y="165"/>
                </a:lnTo>
                <a:lnTo>
                  <a:pt x="24" y="177"/>
                </a:lnTo>
                <a:lnTo>
                  <a:pt x="32" y="189"/>
                </a:lnTo>
                <a:lnTo>
                  <a:pt x="40" y="199"/>
                </a:lnTo>
                <a:lnTo>
                  <a:pt x="47" y="199"/>
                </a:lnTo>
                <a:lnTo>
                  <a:pt x="38" y="189"/>
                </a:lnTo>
                <a:lnTo>
                  <a:pt x="30" y="177"/>
                </a:lnTo>
                <a:lnTo>
                  <a:pt x="22" y="165"/>
                </a:lnTo>
                <a:lnTo>
                  <a:pt x="17" y="154"/>
                </a:lnTo>
                <a:lnTo>
                  <a:pt x="12" y="141"/>
                </a:lnTo>
                <a:lnTo>
                  <a:pt x="9" y="127"/>
                </a:lnTo>
                <a:lnTo>
                  <a:pt x="5" y="114"/>
                </a:lnTo>
                <a:lnTo>
                  <a:pt x="5" y="99"/>
                </a:lnTo>
                <a:lnTo>
                  <a:pt x="5" y="84"/>
                </a:lnTo>
                <a:lnTo>
                  <a:pt x="9" y="71"/>
                </a:lnTo>
                <a:lnTo>
                  <a:pt x="12" y="58"/>
                </a:lnTo>
                <a:lnTo>
                  <a:pt x="17" y="45"/>
                </a:lnTo>
                <a:lnTo>
                  <a:pt x="22" y="31"/>
                </a:lnTo>
                <a:lnTo>
                  <a:pt x="30" y="20"/>
                </a:lnTo>
                <a:lnTo>
                  <a:pt x="38" y="10"/>
                </a:lnTo>
                <a:lnTo>
                  <a:pt x="47" y="0"/>
                </a:lnTo>
                <a:lnTo>
                  <a:pt x="40"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59" name="Freeform 1364">
            <a:extLst>
              <a:ext uri="{FF2B5EF4-FFF2-40B4-BE49-F238E27FC236}">
                <a16:creationId xmlns:a16="http://schemas.microsoft.com/office/drawing/2014/main" id="{B3AD94F3-0CE7-E481-1DBD-183C52816C8A}"/>
              </a:ext>
            </a:extLst>
          </p:cNvPr>
          <p:cNvSpPr>
            <a:spLocks noEditPoints="1"/>
          </p:cNvSpPr>
          <p:nvPr/>
        </p:nvSpPr>
        <p:spPr bwMode="auto">
          <a:xfrm>
            <a:off x="2692400" y="2403475"/>
            <a:ext cx="446088" cy="315913"/>
          </a:xfrm>
          <a:custGeom>
            <a:avLst/>
            <a:gdLst>
              <a:gd name="T0" fmla="*/ 281 w 281"/>
              <a:gd name="T1" fmla="*/ 84 h 199"/>
              <a:gd name="T2" fmla="*/ 275 w 281"/>
              <a:gd name="T3" fmla="*/ 58 h 199"/>
              <a:gd name="T4" fmla="*/ 265 w 281"/>
              <a:gd name="T5" fmla="*/ 31 h 199"/>
              <a:gd name="T6" fmla="*/ 250 w 281"/>
              <a:gd name="T7" fmla="*/ 10 h 199"/>
              <a:gd name="T8" fmla="*/ 233 w 281"/>
              <a:gd name="T9" fmla="*/ 0 h 199"/>
              <a:gd name="T10" fmla="*/ 251 w 281"/>
              <a:gd name="T11" fmla="*/ 20 h 199"/>
              <a:gd name="T12" fmla="*/ 265 w 281"/>
              <a:gd name="T13" fmla="*/ 45 h 199"/>
              <a:gd name="T14" fmla="*/ 273 w 281"/>
              <a:gd name="T15" fmla="*/ 71 h 199"/>
              <a:gd name="T16" fmla="*/ 276 w 281"/>
              <a:gd name="T17" fmla="*/ 99 h 199"/>
              <a:gd name="T18" fmla="*/ 273 w 281"/>
              <a:gd name="T19" fmla="*/ 127 h 199"/>
              <a:gd name="T20" fmla="*/ 265 w 281"/>
              <a:gd name="T21" fmla="*/ 154 h 199"/>
              <a:gd name="T22" fmla="*/ 251 w 281"/>
              <a:gd name="T23" fmla="*/ 179 h 199"/>
              <a:gd name="T24" fmla="*/ 233 w 281"/>
              <a:gd name="T25" fmla="*/ 199 h 199"/>
              <a:gd name="T26" fmla="*/ 250 w 281"/>
              <a:gd name="T27" fmla="*/ 189 h 199"/>
              <a:gd name="T28" fmla="*/ 265 w 281"/>
              <a:gd name="T29" fmla="*/ 165 h 199"/>
              <a:gd name="T30" fmla="*/ 275 w 281"/>
              <a:gd name="T31" fmla="*/ 141 h 199"/>
              <a:gd name="T32" fmla="*/ 281 w 281"/>
              <a:gd name="T33" fmla="*/ 114 h 199"/>
              <a:gd name="T34" fmla="*/ 39 w 281"/>
              <a:gd name="T35" fmla="*/ 0 h 199"/>
              <a:gd name="T36" fmla="*/ 23 w 281"/>
              <a:gd name="T37" fmla="*/ 20 h 199"/>
              <a:gd name="T38" fmla="*/ 10 w 281"/>
              <a:gd name="T39" fmla="*/ 45 h 199"/>
              <a:gd name="T40" fmla="*/ 1 w 281"/>
              <a:gd name="T41" fmla="*/ 71 h 199"/>
              <a:gd name="T42" fmla="*/ 0 w 281"/>
              <a:gd name="T43" fmla="*/ 99 h 199"/>
              <a:gd name="T44" fmla="*/ 1 w 281"/>
              <a:gd name="T45" fmla="*/ 127 h 199"/>
              <a:gd name="T46" fmla="*/ 10 w 281"/>
              <a:gd name="T47" fmla="*/ 154 h 199"/>
              <a:gd name="T48" fmla="*/ 23 w 281"/>
              <a:gd name="T49" fmla="*/ 177 h 199"/>
              <a:gd name="T50" fmla="*/ 39 w 281"/>
              <a:gd name="T51" fmla="*/ 199 h 199"/>
              <a:gd name="T52" fmla="*/ 38 w 281"/>
              <a:gd name="T53" fmla="*/ 189 h 199"/>
              <a:gd name="T54" fmla="*/ 21 w 281"/>
              <a:gd name="T55" fmla="*/ 167 h 199"/>
              <a:gd name="T56" fmla="*/ 10 w 281"/>
              <a:gd name="T57" fmla="*/ 141 h 199"/>
              <a:gd name="T58" fmla="*/ 5 w 281"/>
              <a:gd name="T59" fmla="*/ 114 h 199"/>
              <a:gd name="T60" fmla="*/ 5 w 281"/>
              <a:gd name="T61" fmla="*/ 84 h 199"/>
              <a:gd name="T62" fmla="*/ 10 w 281"/>
              <a:gd name="T63" fmla="*/ 56 h 199"/>
              <a:gd name="T64" fmla="*/ 21 w 281"/>
              <a:gd name="T65" fmla="*/ 31 h 199"/>
              <a:gd name="T66" fmla="*/ 38 w 281"/>
              <a:gd name="T67" fmla="*/ 10 h 199"/>
              <a:gd name="T68" fmla="*/ 39 w 28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1" h="199">
                <a:moveTo>
                  <a:pt x="281" y="99"/>
                </a:moveTo>
                <a:lnTo>
                  <a:pt x="281" y="84"/>
                </a:lnTo>
                <a:lnTo>
                  <a:pt x="278" y="71"/>
                </a:lnTo>
                <a:lnTo>
                  <a:pt x="275" y="58"/>
                </a:lnTo>
                <a:lnTo>
                  <a:pt x="271" y="45"/>
                </a:lnTo>
                <a:lnTo>
                  <a:pt x="265" y="31"/>
                </a:lnTo>
                <a:lnTo>
                  <a:pt x="258" y="20"/>
                </a:lnTo>
                <a:lnTo>
                  <a:pt x="250" y="10"/>
                </a:lnTo>
                <a:lnTo>
                  <a:pt x="240" y="0"/>
                </a:lnTo>
                <a:lnTo>
                  <a:pt x="233" y="0"/>
                </a:lnTo>
                <a:lnTo>
                  <a:pt x="243" y="10"/>
                </a:lnTo>
                <a:lnTo>
                  <a:pt x="251" y="20"/>
                </a:lnTo>
                <a:lnTo>
                  <a:pt x="260" y="31"/>
                </a:lnTo>
                <a:lnTo>
                  <a:pt x="265" y="45"/>
                </a:lnTo>
                <a:lnTo>
                  <a:pt x="270" y="56"/>
                </a:lnTo>
                <a:lnTo>
                  <a:pt x="273" y="71"/>
                </a:lnTo>
                <a:lnTo>
                  <a:pt x="276" y="84"/>
                </a:lnTo>
                <a:lnTo>
                  <a:pt x="276" y="99"/>
                </a:lnTo>
                <a:lnTo>
                  <a:pt x="276" y="114"/>
                </a:lnTo>
                <a:lnTo>
                  <a:pt x="273" y="127"/>
                </a:lnTo>
                <a:lnTo>
                  <a:pt x="270" y="141"/>
                </a:lnTo>
                <a:lnTo>
                  <a:pt x="265" y="154"/>
                </a:lnTo>
                <a:lnTo>
                  <a:pt x="260" y="167"/>
                </a:lnTo>
                <a:lnTo>
                  <a:pt x="251" y="179"/>
                </a:lnTo>
                <a:lnTo>
                  <a:pt x="243" y="189"/>
                </a:lnTo>
                <a:lnTo>
                  <a:pt x="233" y="199"/>
                </a:lnTo>
                <a:lnTo>
                  <a:pt x="240" y="199"/>
                </a:lnTo>
                <a:lnTo>
                  <a:pt x="250" y="189"/>
                </a:lnTo>
                <a:lnTo>
                  <a:pt x="258" y="177"/>
                </a:lnTo>
                <a:lnTo>
                  <a:pt x="265" y="165"/>
                </a:lnTo>
                <a:lnTo>
                  <a:pt x="271" y="154"/>
                </a:lnTo>
                <a:lnTo>
                  <a:pt x="275" y="141"/>
                </a:lnTo>
                <a:lnTo>
                  <a:pt x="278" y="127"/>
                </a:lnTo>
                <a:lnTo>
                  <a:pt x="281" y="114"/>
                </a:lnTo>
                <a:lnTo>
                  <a:pt x="281" y="99"/>
                </a:lnTo>
                <a:close/>
                <a:moveTo>
                  <a:pt x="39" y="0"/>
                </a:moveTo>
                <a:lnTo>
                  <a:pt x="31" y="10"/>
                </a:lnTo>
                <a:lnTo>
                  <a:pt x="23" y="20"/>
                </a:lnTo>
                <a:lnTo>
                  <a:pt x="16" y="31"/>
                </a:lnTo>
                <a:lnTo>
                  <a:pt x="10" y="45"/>
                </a:lnTo>
                <a:lnTo>
                  <a:pt x="5" y="58"/>
                </a:lnTo>
                <a:lnTo>
                  <a:pt x="1" y="71"/>
                </a:lnTo>
                <a:lnTo>
                  <a:pt x="0" y="84"/>
                </a:lnTo>
                <a:lnTo>
                  <a:pt x="0" y="99"/>
                </a:lnTo>
                <a:lnTo>
                  <a:pt x="0" y="114"/>
                </a:lnTo>
                <a:lnTo>
                  <a:pt x="1" y="127"/>
                </a:lnTo>
                <a:lnTo>
                  <a:pt x="5" y="141"/>
                </a:lnTo>
                <a:lnTo>
                  <a:pt x="10" y="154"/>
                </a:lnTo>
                <a:lnTo>
                  <a:pt x="16" y="165"/>
                </a:lnTo>
                <a:lnTo>
                  <a:pt x="23" y="177"/>
                </a:lnTo>
                <a:lnTo>
                  <a:pt x="31" y="189"/>
                </a:lnTo>
                <a:lnTo>
                  <a:pt x="39" y="199"/>
                </a:lnTo>
                <a:lnTo>
                  <a:pt x="46" y="199"/>
                </a:lnTo>
                <a:lnTo>
                  <a:pt x="38" y="189"/>
                </a:lnTo>
                <a:lnTo>
                  <a:pt x="29" y="179"/>
                </a:lnTo>
                <a:lnTo>
                  <a:pt x="21" y="167"/>
                </a:lnTo>
                <a:lnTo>
                  <a:pt x="15" y="154"/>
                </a:lnTo>
                <a:lnTo>
                  <a:pt x="10" y="141"/>
                </a:lnTo>
                <a:lnTo>
                  <a:pt x="6" y="127"/>
                </a:lnTo>
                <a:lnTo>
                  <a:pt x="5" y="114"/>
                </a:lnTo>
                <a:lnTo>
                  <a:pt x="3" y="99"/>
                </a:lnTo>
                <a:lnTo>
                  <a:pt x="5" y="84"/>
                </a:lnTo>
                <a:lnTo>
                  <a:pt x="6" y="71"/>
                </a:lnTo>
                <a:lnTo>
                  <a:pt x="10" y="56"/>
                </a:lnTo>
                <a:lnTo>
                  <a:pt x="15" y="45"/>
                </a:lnTo>
                <a:lnTo>
                  <a:pt x="21" y="31"/>
                </a:lnTo>
                <a:lnTo>
                  <a:pt x="29" y="20"/>
                </a:lnTo>
                <a:lnTo>
                  <a:pt x="38" y="10"/>
                </a:lnTo>
                <a:lnTo>
                  <a:pt x="46" y="0"/>
                </a:lnTo>
                <a:lnTo>
                  <a:pt x="39"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60" name="Freeform 1365">
            <a:extLst>
              <a:ext uri="{FF2B5EF4-FFF2-40B4-BE49-F238E27FC236}">
                <a16:creationId xmlns:a16="http://schemas.microsoft.com/office/drawing/2014/main" id="{502F9164-B3B0-A96C-9613-406C5672A55F}"/>
              </a:ext>
            </a:extLst>
          </p:cNvPr>
          <p:cNvSpPr>
            <a:spLocks noEditPoints="1"/>
          </p:cNvSpPr>
          <p:nvPr/>
        </p:nvSpPr>
        <p:spPr bwMode="auto">
          <a:xfrm>
            <a:off x="2693988" y="2403475"/>
            <a:ext cx="442913" cy="315913"/>
          </a:xfrm>
          <a:custGeom>
            <a:avLst/>
            <a:gdLst>
              <a:gd name="T0" fmla="*/ 277 w 279"/>
              <a:gd name="T1" fmla="*/ 84 h 199"/>
              <a:gd name="T2" fmla="*/ 272 w 279"/>
              <a:gd name="T3" fmla="*/ 58 h 199"/>
              <a:gd name="T4" fmla="*/ 260 w 279"/>
              <a:gd name="T5" fmla="*/ 31 h 199"/>
              <a:gd name="T6" fmla="*/ 245 w 279"/>
              <a:gd name="T7" fmla="*/ 10 h 199"/>
              <a:gd name="T8" fmla="*/ 229 w 279"/>
              <a:gd name="T9" fmla="*/ 0 h 199"/>
              <a:gd name="T10" fmla="*/ 247 w 279"/>
              <a:gd name="T11" fmla="*/ 20 h 199"/>
              <a:gd name="T12" fmla="*/ 262 w 279"/>
              <a:gd name="T13" fmla="*/ 45 h 199"/>
              <a:gd name="T14" fmla="*/ 270 w 279"/>
              <a:gd name="T15" fmla="*/ 71 h 199"/>
              <a:gd name="T16" fmla="*/ 274 w 279"/>
              <a:gd name="T17" fmla="*/ 99 h 199"/>
              <a:gd name="T18" fmla="*/ 270 w 279"/>
              <a:gd name="T19" fmla="*/ 127 h 199"/>
              <a:gd name="T20" fmla="*/ 262 w 279"/>
              <a:gd name="T21" fmla="*/ 154 h 199"/>
              <a:gd name="T22" fmla="*/ 247 w 279"/>
              <a:gd name="T23" fmla="*/ 179 h 199"/>
              <a:gd name="T24" fmla="*/ 229 w 279"/>
              <a:gd name="T25" fmla="*/ 199 h 199"/>
              <a:gd name="T26" fmla="*/ 245 w 279"/>
              <a:gd name="T27" fmla="*/ 189 h 199"/>
              <a:gd name="T28" fmla="*/ 260 w 279"/>
              <a:gd name="T29" fmla="*/ 165 h 199"/>
              <a:gd name="T30" fmla="*/ 272 w 279"/>
              <a:gd name="T31" fmla="*/ 141 h 199"/>
              <a:gd name="T32" fmla="*/ 277 w 279"/>
              <a:gd name="T33" fmla="*/ 114 h 199"/>
              <a:gd name="T34" fmla="*/ 42 w 279"/>
              <a:gd name="T35" fmla="*/ 0 h 199"/>
              <a:gd name="T36" fmla="*/ 25 w 279"/>
              <a:gd name="T37" fmla="*/ 20 h 199"/>
              <a:gd name="T38" fmla="*/ 12 w 279"/>
              <a:gd name="T39" fmla="*/ 45 h 199"/>
              <a:gd name="T40" fmla="*/ 4 w 279"/>
              <a:gd name="T41" fmla="*/ 71 h 199"/>
              <a:gd name="T42" fmla="*/ 0 w 279"/>
              <a:gd name="T43" fmla="*/ 99 h 199"/>
              <a:gd name="T44" fmla="*/ 4 w 279"/>
              <a:gd name="T45" fmla="*/ 127 h 199"/>
              <a:gd name="T46" fmla="*/ 12 w 279"/>
              <a:gd name="T47" fmla="*/ 154 h 199"/>
              <a:gd name="T48" fmla="*/ 25 w 279"/>
              <a:gd name="T49" fmla="*/ 177 h 199"/>
              <a:gd name="T50" fmla="*/ 42 w 279"/>
              <a:gd name="T51" fmla="*/ 199 h 199"/>
              <a:gd name="T52" fmla="*/ 40 w 279"/>
              <a:gd name="T53" fmla="*/ 189 h 199"/>
              <a:gd name="T54" fmla="*/ 23 w 279"/>
              <a:gd name="T55" fmla="*/ 167 h 199"/>
              <a:gd name="T56" fmla="*/ 12 w 279"/>
              <a:gd name="T57" fmla="*/ 141 h 199"/>
              <a:gd name="T58" fmla="*/ 5 w 279"/>
              <a:gd name="T59" fmla="*/ 114 h 199"/>
              <a:gd name="T60" fmla="*/ 5 w 279"/>
              <a:gd name="T61" fmla="*/ 84 h 199"/>
              <a:gd name="T62" fmla="*/ 12 w 279"/>
              <a:gd name="T63" fmla="*/ 56 h 199"/>
              <a:gd name="T64" fmla="*/ 23 w 279"/>
              <a:gd name="T65" fmla="*/ 31 h 199"/>
              <a:gd name="T66" fmla="*/ 40 w 279"/>
              <a:gd name="T67" fmla="*/ 10 h 199"/>
              <a:gd name="T68" fmla="*/ 42 w 27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9" h="199">
                <a:moveTo>
                  <a:pt x="279" y="99"/>
                </a:moveTo>
                <a:lnTo>
                  <a:pt x="277" y="84"/>
                </a:lnTo>
                <a:lnTo>
                  <a:pt x="275" y="71"/>
                </a:lnTo>
                <a:lnTo>
                  <a:pt x="272" y="58"/>
                </a:lnTo>
                <a:lnTo>
                  <a:pt x="267" y="45"/>
                </a:lnTo>
                <a:lnTo>
                  <a:pt x="260" y="31"/>
                </a:lnTo>
                <a:lnTo>
                  <a:pt x="254" y="20"/>
                </a:lnTo>
                <a:lnTo>
                  <a:pt x="245" y="10"/>
                </a:lnTo>
                <a:lnTo>
                  <a:pt x="235" y="0"/>
                </a:lnTo>
                <a:lnTo>
                  <a:pt x="229" y="0"/>
                </a:lnTo>
                <a:lnTo>
                  <a:pt x="239" y="10"/>
                </a:lnTo>
                <a:lnTo>
                  <a:pt x="247" y="20"/>
                </a:lnTo>
                <a:lnTo>
                  <a:pt x="255" y="31"/>
                </a:lnTo>
                <a:lnTo>
                  <a:pt x="262" y="45"/>
                </a:lnTo>
                <a:lnTo>
                  <a:pt x="267" y="56"/>
                </a:lnTo>
                <a:lnTo>
                  <a:pt x="270" y="71"/>
                </a:lnTo>
                <a:lnTo>
                  <a:pt x="272" y="84"/>
                </a:lnTo>
                <a:lnTo>
                  <a:pt x="274" y="99"/>
                </a:lnTo>
                <a:lnTo>
                  <a:pt x="272" y="114"/>
                </a:lnTo>
                <a:lnTo>
                  <a:pt x="270" y="127"/>
                </a:lnTo>
                <a:lnTo>
                  <a:pt x="267" y="141"/>
                </a:lnTo>
                <a:lnTo>
                  <a:pt x="262" y="154"/>
                </a:lnTo>
                <a:lnTo>
                  <a:pt x="255" y="167"/>
                </a:lnTo>
                <a:lnTo>
                  <a:pt x="247" y="179"/>
                </a:lnTo>
                <a:lnTo>
                  <a:pt x="239" y="189"/>
                </a:lnTo>
                <a:lnTo>
                  <a:pt x="229" y="199"/>
                </a:lnTo>
                <a:lnTo>
                  <a:pt x="235" y="199"/>
                </a:lnTo>
                <a:lnTo>
                  <a:pt x="245" y="189"/>
                </a:lnTo>
                <a:lnTo>
                  <a:pt x="254" y="177"/>
                </a:lnTo>
                <a:lnTo>
                  <a:pt x="260" y="165"/>
                </a:lnTo>
                <a:lnTo>
                  <a:pt x="267" y="154"/>
                </a:lnTo>
                <a:lnTo>
                  <a:pt x="272" y="141"/>
                </a:lnTo>
                <a:lnTo>
                  <a:pt x="275" y="127"/>
                </a:lnTo>
                <a:lnTo>
                  <a:pt x="277" y="114"/>
                </a:lnTo>
                <a:lnTo>
                  <a:pt x="279" y="99"/>
                </a:lnTo>
                <a:close/>
                <a:moveTo>
                  <a:pt x="42" y="0"/>
                </a:moveTo>
                <a:lnTo>
                  <a:pt x="33" y="10"/>
                </a:lnTo>
                <a:lnTo>
                  <a:pt x="25" y="20"/>
                </a:lnTo>
                <a:lnTo>
                  <a:pt x="17" y="31"/>
                </a:lnTo>
                <a:lnTo>
                  <a:pt x="12" y="45"/>
                </a:lnTo>
                <a:lnTo>
                  <a:pt x="7" y="58"/>
                </a:lnTo>
                <a:lnTo>
                  <a:pt x="4" y="71"/>
                </a:lnTo>
                <a:lnTo>
                  <a:pt x="0" y="84"/>
                </a:lnTo>
                <a:lnTo>
                  <a:pt x="0" y="99"/>
                </a:lnTo>
                <a:lnTo>
                  <a:pt x="0" y="114"/>
                </a:lnTo>
                <a:lnTo>
                  <a:pt x="4" y="127"/>
                </a:lnTo>
                <a:lnTo>
                  <a:pt x="7" y="141"/>
                </a:lnTo>
                <a:lnTo>
                  <a:pt x="12" y="154"/>
                </a:lnTo>
                <a:lnTo>
                  <a:pt x="17" y="165"/>
                </a:lnTo>
                <a:lnTo>
                  <a:pt x="25" y="177"/>
                </a:lnTo>
                <a:lnTo>
                  <a:pt x="33" y="189"/>
                </a:lnTo>
                <a:lnTo>
                  <a:pt x="42" y="199"/>
                </a:lnTo>
                <a:lnTo>
                  <a:pt x="48" y="199"/>
                </a:lnTo>
                <a:lnTo>
                  <a:pt x="40" y="189"/>
                </a:lnTo>
                <a:lnTo>
                  <a:pt x="30" y="179"/>
                </a:lnTo>
                <a:lnTo>
                  <a:pt x="23" y="167"/>
                </a:lnTo>
                <a:lnTo>
                  <a:pt x="17" y="154"/>
                </a:lnTo>
                <a:lnTo>
                  <a:pt x="12" y="141"/>
                </a:lnTo>
                <a:lnTo>
                  <a:pt x="9" y="127"/>
                </a:lnTo>
                <a:lnTo>
                  <a:pt x="5" y="114"/>
                </a:lnTo>
                <a:lnTo>
                  <a:pt x="5" y="99"/>
                </a:lnTo>
                <a:lnTo>
                  <a:pt x="5" y="84"/>
                </a:lnTo>
                <a:lnTo>
                  <a:pt x="9" y="71"/>
                </a:lnTo>
                <a:lnTo>
                  <a:pt x="12" y="56"/>
                </a:lnTo>
                <a:lnTo>
                  <a:pt x="17" y="45"/>
                </a:lnTo>
                <a:lnTo>
                  <a:pt x="23" y="31"/>
                </a:lnTo>
                <a:lnTo>
                  <a:pt x="30" y="20"/>
                </a:lnTo>
                <a:lnTo>
                  <a:pt x="40" y="10"/>
                </a:lnTo>
                <a:lnTo>
                  <a:pt x="48" y="0"/>
                </a:lnTo>
                <a:lnTo>
                  <a:pt x="42"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61" name="Freeform 1366">
            <a:extLst>
              <a:ext uri="{FF2B5EF4-FFF2-40B4-BE49-F238E27FC236}">
                <a16:creationId xmlns:a16="http://schemas.microsoft.com/office/drawing/2014/main" id="{4C52DB27-6B36-EABB-C780-7D8382E37676}"/>
              </a:ext>
            </a:extLst>
          </p:cNvPr>
          <p:cNvSpPr>
            <a:spLocks noEditPoints="1"/>
          </p:cNvSpPr>
          <p:nvPr/>
        </p:nvSpPr>
        <p:spPr bwMode="auto">
          <a:xfrm>
            <a:off x="2697163" y="2403475"/>
            <a:ext cx="433388" cy="315913"/>
          </a:xfrm>
          <a:custGeom>
            <a:avLst/>
            <a:gdLst>
              <a:gd name="T0" fmla="*/ 273 w 273"/>
              <a:gd name="T1" fmla="*/ 84 h 199"/>
              <a:gd name="T2" fmla="*/ 267 w 273"/>
              <a:gd name="T3" fmla="*/ 56 h 199"/>
              <a:gd name="T4" fmla="*/ 257 w 273"/>
              <a:gd name="T5" fmla="*/ 31 h 199"/>
              <a:gd name="T6" fmla="*/ 240 w 273"/>
              <a:gd name="T7" fmla="*/ 10 h 199"/>
              <a:gd name="T8" fmla="*/ 224 w 273"/>
              <a:gd name="T9" fmla="*/ 0 h 199"/>
              <a:gd name="T10" fmla="*/ 242 w 273"/>
              <a:gd name="T11" fmla="*/ 20 h 199"/>
              <a:gd name="T12" fmla="*/ 257 w 273"/>
              <a:gd name="T13" fmla="*/ 43 h 199"/>
              <a:gd name="T14" fmla="*/ 265 w 273"/>
              <a:gd name="T15" fmla="*/ 69 h 199"/>
              <a:gd name="T16" fmla="*/ 268 w 273"/>
              <a:gd name="T17" fmla="*/ 99 h 199"/>
              <a:gd name="T18" fmla="*/ 265 w 273"/>
              <a:gd name="T19" fmla="*/ 127 h 199"/>
              <a:gd name="T20" fmla="*/ 257 w 273"/>
              <a:gd name="T21" fmla="*/ 154 h 199"/>
              <a:gd name="T22" fmla="*/ 242 w 273"/>
              <a:gd name="T23" fmla="*/ 179 h 199"/>
              <a:gd name="T24" fmla="*/ 224 w 273"/>
              <a:gd name="T25" fmla="*/ 199 h 199"/>
              <a:gd name="T26" fmla="*/ 240 w 273"/>
              <a:gd name="T27" fmla="*/ 189 h 199"/>
              <a:gd name="T28" fmla="*/ 257 w 273"/>
              <a:gd name="T29" fmla="*/ 167 h 199"/>
              <a:gd name="T30" fmla="*/ 267 w 273"/>
              <a:gd name="T31" fmla="*/ 141 h 199"/>
              <a:gd name="T32" fmla="*/ 273 w 273"/>
              <a:gd name="T33" fmla="*/ 114 h 199"/>
              <a:gd name="T34" fmla="*/ 43 w 273"/>
              <a:gd name="T35" fmla="*/ 0 h 199"/>
              <a:gd name="T36" fmla="*/ 26 w 273"/>
              <a:gd name="T37" fmla="*/ 20 h 199"/>
              <a:gd name="T38" fmla="*/ 12 w 273"/>
              <a:gd name="T39" fmla="*/ 45 h 199"/>
              <a:gd name="T40" fmla="*/ 3 w 273"/>
              <a:gd name="T41" fmla="*/ 71 h 199"/>
              <a:gd name="T42" fmla="*/ 0 w 273"/>
              <a:gd name="T43" fmla="*/ 99 h 199"/>
              <a:gd name="T44" fmla="*/ 3 w 273"/>
              <a:gd name="T45" fmla="*/ 127 h 199"/>
              <a:gd name="T46" fmla="*/ 12 w 273"/>
              <a:gd name="T47" fmla="*/ 154 h 199"/>
              <a:gd name="T48" fmla="*/ 26 w 273"/>
              <a:gd name="T49" fmla="*/ 179 h 199"/>
              <a:gd name="T50" fmla="*/ 43 w 273"/>
              <a:gd name="T51" fmla="*/ 199 h 199"/>
              <a:gd name="T52" fmla="*/ 41 w 273"/>
              <a:gd name="T53" fmla="*/ 189 h 199"/>
              <a:gd name="T54" fmla="*/ 25 w 273"/>
              <a:gd name="T55" fmla="*/ 167 h 199"/>
              <a:gd name="T56" fmla="*/ 13 w 273"/>
              <a:gd name="T57" fmla="*/ 142 h 199"/>
              <a:gd name="T58" fmla="*/ 7 w 273"/>
              <a:gd name="T59" fmla="*/ 114 h 199"/>
              <a:gd name="T60" fmla="*/ 7 w 273"/>
              <a:gd name="T61" fmla="*/ 84 h 199"/>
              <a:gd name="T62" fmla="*/ 13 w 273"/>
              <a:gd name="T63" fmla="*/ 56 h 199"/>
              <a:gd name="T64" fmla="*/ 25 w 273"/>
              <a:gd name="T65" fmla="*/ 31 h 199"/>
              <a:gd name="T66" fmla="*/ 41 w 273"/>
              <a:gd name="T67" fmla="*/ 10 h 199"/>
              <a:gd name="T68" fmla="*/ 43 w 27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3" h="199">
                <a:moveTo>
                  <a:pt x="273" y="99"/>
                </a:moveTo>
                <a:lnTo>
                  <a:pt x="273" y="84"/>
                </a:lnTo>
                <a:lnTo>
                  <a:pt x="270" y="71"/>
                </a:lnTo>
                <a:lnTo>
                  <a:pt x="267" y="56"/>
                </a:lnTo>
                <a:lnTo>
                  <a:pt x="262" y="45"/>
                </a:lnTo>
                <a:lnTo>
                  <a:pt x="257" y="31"/>
                </a:lnTo>
                <a:lnTo>
                  <a:pt x="248" y="20"/>
                </a:lnTo>
                <a:lnTo>
                  <a:pt x="240" y="10"/>
                </a:lnTo>
                <a:lnTo>
                  <a:pt x="230" y="0"/>
                </a:lnTo>
                <a:lnTo>
                  <a:pt x="224" y="0"/>
                </a:lnTo>
                <a:lnTo>
                  <a:pt x="233" y="10"/>
                </a:lnTo>
                <a:lnTo>
                  <a:pt x="242" y="20"/>
                </a:lnTo>
                <a:lnTo>
                  <a:pt x="250" y="31"/>
                </a:lnTo>
                <a:lnTo>
                  <a:pt x="257" y="43"/>
                </a:lnTo>
                <a:lnTo>
                  <a:pt x="262" y="56"/>
                </a:lnTo>
                <a:lnTo>
                  <a:pt x="265" y="69"/>
                </a:lnTo>
                <a:lnTo>
                  <a:pt x="268" y="84"/>
                </a:lnTo>
                <a:lnTo>
                  <a:pt x="268" y="99"/>
                </a:lnTo>
                <a:lnTo>
                  <a:pt x="268" y="114"/>
                </a:lnTo>
                <a:lnTo>
                  <a:pt x="265" y="127"/>
                </a:lnTo>
                <a:lnTo>
                  <a:pt x="262" y="142"/>
                </a:lnTo>
                <a:lnTo>
                  <a:pt x="257" y="154"/>
                </a:lnTo>
                <a:lnTo>
                  <a:pt x="250" y="167"/>
                </a:lnTo>
                <a:lnTo>
                  <a:pt x="242" y="179"/>
                </a:lnTo>
                <a:lnTo>
                  <a:pt x="233" y="189"/>
                </a:lnTo>
                <a:lnTo>
                  <a:pt x="224" y="199"/>
                </a:lnTo>
                <a:lnTo>
                  <a:pt x="230" y="199"/>
                </a:lnTo>
                <a:lnTo>
                  <a:pt x="240" y="189"/>
                </a:lnTo>
                <a:lnTo>
                  <a:pt x="248" y="179"/>
                </a:lnTo>
                <a:lnTo>
                  <a:pt x="257" y="167"/>
                </a:lnTo>
                <a:lnTo>
                  <a:pt x="262" y="154"/>
                </a:lnTo>
                <a:lnTo>
                  <a:pt x="267" y="141"/>
                </a:lnTo>
                <a:lnTo>
                  <a:pt x="270" y="127"/>
                </a:lnTo>
                <a:lnTo>
                  <a:pt x="273" y="114"/>
                </a:lnTo>
                <a:lnTo>
                  <a:pt x="273" y="99"/>
                </a:lnTo>
                <a:close/>
                <a:moveTo>
                  <a:pt x="43" y="0"/>
                </a:moveTo>
                <a:lnTo>
                  <a:pt x="35" y="10"/>
                </a:lnTo>
                <a:lnTo>
                  <a:pt x="26" y="20"/>
                </a:lnTo>
                <a:lnTo>
                  <a:pt x="18" y="31"/>
                </a:lnTo>
                <a:lnTo>
                  <a:pt x="12" y="45"/>
                </a:lnTo>
                <a:lnTo>
                  <a:pt x="7" y="56"/>
                </a:lnTo>
                <a:lnTo>
                  <a:pt x="3" y="71"/>
                </a:lnTo>
                <a:lnTo>
                  <a:pt x="2" y="84"/>
                </a:lnTo>
                <a:lnTo>
                  <a:pt x="0" y="99"/>
                </a:lnTo>
                <a:lnTo>
                  <a:pt x="2" y="114"/>
                </a:lnTo>
                <a:lnTo>
                  <a:pt x="3" y="127"/>
                </a:lnTo>
                <a:lnTo>
                  <a:pt x="7" y="141"/>
                </a:lnTo>
                <a:lnTo>
                  <a:pt x="12" y="154"/>
                </a:lnTo>
                <a:lnTo>
                  <a:pt x="18" y="167"/>
                </a:lnTo>
                <a:lnTo>
                  <a:pt x="26" y="179"/>
                </a:lnTo>
                <a:lnTo>
                  <a:pt x="35" y="189"/>
                </a:lnTo>
                <a:lnTo>
                  <a:pt x="43" y="199"/>
                </a:lnTo>
                <a:lnTo>
                  <a:pt x="51" y="199"/>
                </a:lnTo>
                <a:lnTo>
                  <a:pt x="41" y="189"/>
                </a:lnTo>
                <a:lnTo>
                  <a:pt x="31" y="179"/>
                </a:lnTo>
                <a:lnTo>
                  <a:pt x="25" y="167"/>
                </a:lnTo>
                <a:lnTo>
                  <a:pt x="18" y="154"/>
                </a:lnTo>
                <a:lnTo>
                  <a:pt x="13" y="142"/>
                </a:lnTo>
                <a:lnTo>
                  <a:pt x="8" y="127"/>
                </a:lnTo>
                <a:lnTo>
                  <a:pt x="7" y="114"/>
                </a:lnTo>
                <a:lnTo>
                  <a:pt x="5" y="99"/>
                </a:lnTo>
                <a:lnTo>
                  <a:pt x="7" y="84"/>
                </a:lnTo>
                <a:lnTo>
                  <a:pt x="8" y="69"/>
                </a:lnTo>
                <a:lnTo>
                  <a:pt x="13" y="56"/>
                </a:lnTo>
                <a:lnTo>
                  <a:pt x="18" y="43"/>
                </a:lnTo>
                <a:lnTo>
                  <a:pt x="25" y="31"/>
                </a:lnTo>
                <a:lnTo>
                  <a:pt x="31" y="20"/>
                </a:lnTo>
                <a:lnTo>
                  <a:pt x="41" y="10"/>
                </a:lnTo>
                <a:lnTo>
                  <a:pt x="51" y="0"/>
                </a:lnTo>
                <a:lnTo>
                  <a:pt x="43"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62" name="Freeform 1367">
            <a:extLst>
              <a:ext uri="{FF2B5EF4-FFF2-40B4-BE49-F238E27FC236}">
                <a16:creationId xmlns:a16="http://schemas.microsoft.com/office/drawing/2014/main" id="{0424FEA9-111E-D63F-52B4-4F0A1B51CD3E}"/>
              </a:ext>
            </a:extLst>
          </p:cNvPr>
          <p:cNvSpPr>
            <a:spLocks noEditPoints="1"/>
          </p:cNvSpPr>
          <p:nvPr/>
        </p:nvSpPr>
        <p:spPr bwMode="auto">
          <a:xfrm>
            <a:off x="2701925" y="2403475"/>
            <a:ext cx="427038" cy="315913"/>
          </a:xfrm>
          <a:custGeom>
            <a:avLst/>
            <a:gdLst>
              <a:gd name="T0" fmla="*/ 267 w 269"/>
              <a:gd name="T1" fmla="*/ 84 h 199"/>
              <a:gd name="T2" fmla="*/ 262 w 269"/>
              <a:gd name="T3" fmla="*/ 56 h 199"/>
              <a:gd name="T4" fmla="*/ 250 w 269"/>
              <a:gd name="T5" fmla="*/ 31 h 199"/>
              <a:gd name="T6" fmla="*/ 234 w 269"/>
              <a:gd name="T7" fmla="*/ 10 h 199"/>
              <a:gd name="T8" fmla="*/ 217 w 269"/>
              <a:gd name="T9" fmla="*/ 0 h 199"/>
              <a:gd name="T10" fmla="*/ 235 w 269"/>
              <a:gd name="T11" fmla="*/ 20 h 199"/>
              <a:gd name="T12" fmla="*/ 250 w 269"/>
              <a:gd name="T13" fmla="*/ 43 h 199"/>
              <a:gd name="T14" fmla="*/ 260 w 269"/>
              <a:gd name="T15" fmla="*/ 69 h 199"/>
              <a:gd name="T16" fmla="*/ 264 w 269"/>
              <a:gd name="T17" fmla="*/ 99 h 199"/>
              <a:gd name="T18" fmla="*/ 260 w 269"/>
              <a:gd name="T19" fmla="*/ 127 h 199"/>
              <a:gd name="T20" fmla="*/ 250 w 269"/>
              <a:gd name="T21" fmla="*/ 155 h 199"/>
              <a:gd name="T22" fmla="*/ 235 w 269"/>
              <a:gd name="T23" fmla="*/ 179 h 199"/>
              <a:gd name="T24" fmla="*/ 217 w 269"/>
              <a:gd name="T25" fmla="*/ 199 h 199"/>
              <a:gd name="T26" fmla="*/ 234 w 269"/>
              <a:gd name="T27" fmla="*/ 189 h 199"/>
              <a:gd name="T28" fmla="*/ 250 w 269"/>
              <a:gd name="T29" fmla="*/ 167 h 199"/>
              <a:gd name="T30" fmla="*/ 262 w 269"/>
              <a:gd name="T31" fmla="*/ 141 h 199"/>
              <a:gd name="T32" fmla="*/ 267 w 269"/>
              <a:gd name="T33" fmla="*/ 114 h 199"/>
              <a:gd name="T34" fmla="*/ 43 w 269"/>
              <a:gd name="T35" fmla="*/ 0 h 199"/>
              <a:gd name="T36" fmla="*/ 25 w 269"/>
              <a:gd name="T37" fmla="*/ 20 h 199"/>
              <a:gd name="T38" fmla="*/ 12 w 269"/>
              <a:gd name="T39" fmla="*/ 45 h 199"/>
              <a:gd name="T40" fmla="*/ 4 w 269"/>
              <a:gd name="T41" fmla="*/ 71 h 199"/>
              <a:gd name="T42" fmla="*/ 0 w 269"/>
              <a:gd name="T43" fmla="*/ 99 h 199"/>
              <a:gd name="T44" fmla="*/ 4 w 269"/>
              <a:gd name="T45" fmla="*/ 127 h 199"/>
              <a:gd name="T46" fmla="*/ 12 w 269"/>
              <a:gd name="T47" fmla="*/ 154 h 199"/>
              <a:gd name="T48" fmla="*/ 25 w 269"/>
              <a:gd name="T49" fmla="*/ 179 h 199"/>
              <a:gd name="T50" fmla="*/ 43 w 269"/>
              <a:gd name="T51" fmla="*/ 199 h 199"/>
              <a:gd name="T52" fmla="*/ 42 w 269"/>
              <a:gd name="T53" fmla="*/ 189 h 199"/>
              <a:gd name="T54" fmla="*/ 23 w 269"/>
              <a:gd name="T55" fmla="*/ 167 h 199"/>
              <a:gd name="T56" fmla="*/ 12 w 269"/>
              <a:gd name="T57" fmla="*/ 142 h 199"/>
              <a:gd name="T58" fmla="*/ 5 w 269"/>
              <a:gd name="T59" fmla="*/ 114 h 199"/>
              <a:gd name="T60" fmla="*/ 5 w 269"/>
              <a:gd name="T61" fmla="*/ 84 h 199"/>
              <a:gd name="T62" fmla="*/ 12 w 269"/>
              <a:gd name="T63" fmla="*/ 56 h 199"/>
              <a:gd name="T64" fmla="*/ 23 w 269"/>
              <a:gd name="T65" fmla="*/ 31 h 199"/>
              <a:gd name="T66" fmla="*/ 42 w 269"/>
              <a:gd name="T67" fmla="*/ 10 h 199"/>
              <a:gd name="T68" fmla="*/ 43 w 26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9" h="199">
                <a:moveTo>
                  <a:pt x="269" y="99"/>
                </a:moveTo>
                <a:lnTo>
                  <a:pt x="267" y="84"/>
                </a:lnTo>
                <a:lnTo>
                  <a:pt x="265" y="71"/>
                </a:lnTo>
                <a:lnTo>
                  <a:pt x="262" y="56"/>
                </a:lnTo>
                <a:lnTo>
                  <a:pt x="257" y="45"/>
                </a:lnTo>
                <a:lnTo>
                  <a:pt x="250" y="31"/>
                </a:lnTo>
                <a:lnTo>
                  <a:pt x="242" y="20"/>
                </a:lnTo>
                <a:lnTo>
                  <a:pt x="234" y="10"/>
                </a:lnTo>
                <a:lnTo>
                  <a:pt x="224" y="0"/>
                </a:lnTo>
                <a:lnTo>
                  <a:pt x="217" y="0"/>
                </a:lnTo>
                <a:lnTo>
                  <a:pt x="227" y="10"/>
                </a:lnTo>
                <a:lnTo>
                  <a:pt x="235" y="20"/>
                </a:lnTo>
                <a:lnTo>
                  <a:pt x="244" y="31"/>
                </a:lnTo>
                <a:lnTo>
                  <a:pt x="250" y="43"/>
                </a:lnTo>
                <a:lnTo>
                  <a:pt x="257" y="56"/>
                </a:lnTo>
                <a:lnTo>
                  <a:pt x="260" y="69"/>
                </a:lnTo>
                <a:lnTo>
                  <a:pt x="262" y="84"/>
                </a:lnTo>
                <a:lnTo>
                  <a:pt x="264" y="99"/>
                </a:lnTo>
                <a:lnTo>
                  <a:pt x="262" y="114"/>
                </a:lnTo>
                <a:lnTo>
                  <a:pt x="260" y="127"/>
                </a:lnTo>
                <a:lnTo>
                  <a:pt x="257" y="142"/>
                </a:lnTo>
                <a:lnTo>
                  <a:pt x="250" y="155"/>
                </a:lnTo>
                <a:lnTo>
                  <a:pt x="244" y="167"/>
                </a:lnTo>
                <a:lnTo>
                  <a:pt x="235" y="179"/>
                </a:lnTo>
                <a:lnTo>
                  <a:pt x="227" y="189"/>
                </a:lnTo>
                <a:lnTo>
                  <a:pt x="217" y="199"/>
                </a:lnTo>
                <a:lnTo>
                  <a:pt x="224" y="199"/>
                </a:lnTo>
                <a:lnTo>
                  <a:pt x="234" y="189"/>
                </a:lnTo>
                <a:lnTo>
                  <a:pt x="242" y="179"/>
                </a:lnTo>
                <a:lnTo>
                  <a:pt x="250" y="167"/>
                </a:lnTo>
                <a:lnTo>
                  <a:pt x="257" y="154"/>
                </a:lnTo>
                <a:lnTo>
                  <a:pt x="262" y="141"/>
                </a:lnTo>
                <a:lnTo>
                  <a:pt x="265" y="127"/>
                </a:lnTo>
                <a:lnTo>
                  <a:pt x="267" y="114"/>
                </a:lnTo>
                <a:lnTo>
                  <a:pt x="269" y="99"/>
                </a:lnTo>
                <a:close/>
                <a:moveTo>
                  <a:pt x="43" y="0"/>
                </a:moveTo>
                <a:lnTo>
                  <a:pt x="35" y="10"/>
                </a:lnTo>
                <a:lnTo>
                  <a:pt x="25" y="20"/>
                </a:lnTo>
                <a:lnTo>
                  <a:pt x="18" y="31"/>
                </a:lnTo>
                <a:lnTo>
                  <a:pt x="12" y="45"/>
                </a:lnTo>
                <a:lnTo>
                  <a:pt x="7" y="56"/>
                </a:lnTo>
                <a:lnTo>
                  <a:pt x="4" y="71"/>
                </a:lnTo>
                <a:lnTo>
                  <a:pt x="0" y="84"/>
                </a:lnTo>
                <a:lnTo>
                  <a:pt x="0" y="99"/>
                </a:lnTo>
                <a:lnTo>
                  <a:pt x="0" y="114"/>
                </a:lnTo>
                <a:lnTo>
                  <a:pt x="4" y="127"/>
                </a:lnTo>
                <a:lnTo>
                  <a:pt x="7" y="141"/>
                </a:lnTo>
                <a:lnTo>
                  <a:pt x="12" y="154"/>
                </a:lnTo>
                <a:lnTo>
                  <a:pt x="18" y="167"/>
                </a:lnTo>
                <a:lnTo>
                  <a:pt x="25" y="179"/>
                </a:lnTo>
                <a:lnTo>
                  <a:pt x="35" y="189"/>
                </a:lnTo>
                <a:lnTo>
                  <a:pt x="43" y="199"/>
                </a:lnTo>
                <a:lnTo>
                  <a:pt x="52" y="199"/>
                </a:lnTo>
                <a:lnTo>
                  <a:pt x="42" y="189"/>
                </a:lnTo>
                <a:lnTo>
                  <a:pt x="32" y="179"/>
                </a:lnTo>
                <a:lnTo>
                  <a:pt x="23" y="167"/>
                </a:lnTo>
                <a:lnTo>
                  <a:pt x="17" y="155"/>
                </a:lnTo>
                <a:lnTo>
                  <a:pt x="12" y="142"/>
                </a:lnTo>
                <a:lnTo>
                  <a:pt x="9" y="127"/>
                </a:lnTo>
                <a:lnTo>
                  <a:pt x="5" y="114"/>
                </a:lnTo>
                <a:lnTo>
                  <a:pt x="5" y="99"/>
                </a:lnTo>
                <a:lnTo>
                  <a:pt x="5" y="84"/>
                </a:lnTo>
                <a:lnTo>
                  <a:pt x="9" y="69"/>
                </a:lnTo>
                <a:lnTo>
                  <a:pt x="12" y="56"/>
                </a:lnTo>
                <a:lnTo>
                  <a:pt x="17" y="43"/>
                </a:lnTo>
                <a:lnTo>
                  <a:pt x="23" y="31"/>
                </a:lnTo>
                <a:lnTo>
                  <a:pt x="32" y="20"/>
                </a:lnTo>
                <a:lnTo>
                  <a:pt x="42" y="10"/>
                </a:lnTo>
                <a:lnTo>
                  <a:pt x="52" y="0"/>
                </a:lnTo>
                <a:lnTo>
                  <a:pt x="43"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63" name="Freeform 1368">
            <a:extLst>
              <a:ext uri="{FF2B5EF4-FFF2-40B4-BE49-F238E27FC236}">
                <a16:creationId xmlns:a16="http://schemas.microsoft.com/office/drawing/2014/main" id="{4589326B-06AB-173A-9751-0ADF2075FDB2}"/>
              </a:ext>
            </a:extLst>
          </p:cNvPr>
          <p:cNvSpPr>
            <a:spLocks noEditPoints="1"/>
          </p:cNvSpPr>
          <p:nvPr/>
        </p:nvSpPr>
        <p:spPr bwMode="auto">
          <a:xfrm>
            <a:off x="2705100" y="2403475"/>
            <a:ext cx="417513" cy="315913"/>
          </a:xfrm>
          <a:custGeom>
            <a:avLst/>
            <a:gdLst>
              <a:gd name="T0" fmla="*/ 263 w 263"/>
              <a:gd name="T1" fmla="*/ 84 h 199"/>
              <a:gd name="T2" fmla="*/ 257 w 263"/>
              <a:gd name="T3" fmla="*/ 56 h 199"/>
              <a:gd name="T4" fmla="*/ 245 w 263"/>
              <a:gd name="T5" fmla="*/ 31 h 199"/>
              <a:gd name="T6" fmla="*/ 228 w 263"/>
              <a:gd name="T7" fmla="*/ 10 h 199"/>
              <a:gd name="T8" fmla="*/ 212 w 263"/>
              <a:gd name="T9" fmla="*/ 0 h 199"/>
              <a:gd name="T10" fmla="*/ 230 w 263"/>
              <a:gd name="T11" fmla="*/ 20 h 199"/>
              <a:gd name="T12" fmla="*/ 247 w 263"/>
              <a:gd name="T13" fmla="*/ 43 h 199"/>
              <a:gd name="T14" fmla="*/ 255 w 263"/>
              <a:gd name="T15" fmla="*/ 69 h 199"/>
              <a:gd name="T16" fmla="*/ 258 w 263"/>
              <a:gd name="T17" fmla="*/ 99 h 199"/>
              <a:gd name="T18" fmla="*/ 255 w 263"/>
              <a:gd name="T19" fmla="*/ 129 h 199"/>
              <a:gd name="T20" fmla="*/ 247 w 263"/>
              <a:gd name="T21" fmla="*/ 155 h 199"/>
              <a:gd name="T22" fmla="*/ 230 w 263"/>
              <a:gd name="T23" fmla="*/ 179 h 199"/>
              <a:gd name="T24" fmla="*/ 212 w 263"/>
              <a:gd name="T25" fmla="*/ 199 h 199"/>
              <a:gd name="T26" fmla="*/ 228 w 263"/>
              <a:gd name="T27" fmla="*/ 189 h 199"/>
              <a:gd name="T28" fmla="*/ 245 w 263"/>
              <a:gd name="T29" fmla="*/ 167 h 199"/>
              <a:gd name="T30" fmla="*/ 257 w 263"/>
              <a:gd name="T31" fmla="*/ 142 h 199"/>
              <a:gd name="T32" fmla="*/ 263 w 263"/>
              <a:gd name="T33" fmla="*/ 114 h 199"/>
              <a:gd name="T34" fmla="*/ 46 w 263"/>
              <a:gd name="T35" fmla="*/ 0 h 199"/>
              <a:gd name="T36" fmla="*/ 26 w 263"/>
              <a:gd name="T37" fmla="*/ 20 h 199"/>
              <a:gd name="T38" fmla="*/ 13 w 263"/>
              <a:gd name="T39" fmla="*/ 43 h 199"/>
              <a:gd name="T40" fmla="*/ 3 w 263"/>
              <a:gd name="T41" fmla="*/ 69 h 199"/>
              <a:gd name="T42" fmla="*/ 0 w 263"/>
              <a:gd name="T43" fmla="*/ 99 h 199"/>
              <a:gd name="T44" fmla="*/ 3 w 263"/>
              <a:gd name="T45" fmla="*/ 127 h 199"/>
              <a:gd name="T46" fmla="*/ 13 w 263"/>
              <a:gd name="T47" fmla="*/ 154 h 199"/>
              <a:gd name="T48" fmla="*/ 26 w 263"/>
              <a:gd name="T49" fmla="*/ 179 h 199"/>
              <a:gd name="T50" fmla="*/ 46 w 263"/>
              <a:gd name="T51" fmla="*/ 199 h 199"/>
              <a:gd name="T52" fmla="*/ 43 w 263"/>
              <a:gd name="T53" fmla="*/ 189 h 199"/>
              <a:gd name="T54" fmla="*/ 25 w 263"/>
              <a:gd name="T55" fmla="*/ 167 h 199"/>
              <a:gd name="T56" fmla="*/ 13 w 263"/>
              <a:gd name="T57" fmla="*/ 142 h 199"/>
              <a:gd name="T58" fmla="*/ 7 w 263"/>
              <a:gd name="T59" fmla="*/ 114 h 199"/>
              <a:gd name="T60" fmla="*/ 7 w 263"/>
              <a:gd name="T61" fmla="*/ 84 h 199"/>
              <a:gd name="T62" fmla="*/ 13 w 263"/>
              <a:gd name="T63" fmla="*/ 56 h 199"/>
              <a:gd name="T64" fmla="*/ 25 w 263"/>
              <a:gd name="T65" fmla="*/ 31 h 199"/>
              <a:gd name="T66" fmla="*/ 43 w 263"/>
              <a:gd name="T67" fmla="*/ 8 h 199"/>
              <a:gd name="T68" fmla="*/ 46 w 26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3" h="199">
                <a:moveTo>
                  <a:pt x="263" y="99"/>
                </a:moveTo>
                <a:lnTo>
                  <a:pt x="263" y="84"/>
                </a:lnTo>
                <a:lnTo>
                  <a:pt x="260" y="69"/>
                </a:lnTo>
                <a:lnTo>
                  <a:pt x="257" y="56"/>
                </a:lnTo>
                <a:lnTo>
                  <a:pt x="252" y="43"/>
                </a:lnTo>
                <a:lnTo>
                  <a:pt x="245" y="31"/>
                </a:lnTo>
                <a:lnTo>
                  <a:pt x="237" y="20"/>
                </a:lnTo>
                <a:lnTo>
                  <a:pt x="228" y="10"/>
                </a:lnTo>
                <a:lnTo>
                  <a:pt x="219" y="0"/>
                </a:lnTo>
                <a:lnTo>
                  <a:pt x="212" y="0"/>
                </a:lnTo>
                <a:lnTo>
                  <a:pt x="222" y="8"/>
                </a:lnTo>
                <a:lnTo>
                  <a:pt x="230" y="20"/>
                </a:lnTo>
                <a:lnTo>
                  <a:pt x="238" y="31"/>
                </a:lnTo>
                <a:lnTo>
                  <a:pt x="247" y="43"/>
                </a:lnTo>
                <a:lnTo>
                  <a:pt x="252" y="56"/>
                </a:lnTo>
                <a:lnTo>
                  <a:pt x="255" y="69"/>
                </a:lnTo>
                <a:lnTo>
                  <a:pt x="258" y="84"/>
                </a:lnTo>
                <a:lnTo>
                  <a:pt x="258" y="99"/>
                </a:lnTo>
                <a:lnTo>
                  <a:pt x="258" y="114"/>
                </a:lnTo>
                <a:lnTo>
                  <a:pt x="255" y="129"/>
                </a:lnTo>
                <a:lnTo>
                  <a:pt x="252" y="142"/>
                </a:lnTo>
                <a:lnTo>
                  <a:pt x="247" y="155"/>
                </a:lnTo>
                <a:lnTo>
                  <a:pt x="238" y="167"/>
                </a:lnTo>
                <a:lnTo>
                  <a:pt x="230" y="179"/>
                </a:lnTo>
                <a:lnTo>
                  <a:pt x="222" y="189"/>
                </a:lnTo>
                <a:lnTo>
                  <a:pt x="212" y="199"/>
                </a:lnTo>
                <a:lnTo>
                  <a:pt x="219" y="199"/>
                </a:lnTo>
                <a:lnTo>
                  <a:pt x="228" y="189"/>
                </a:lnTo>
                <a:lnTo>
                  <a:pt x="237" y="179"/>
                </a:lnTo>
                <a:lnTo>
                  <a:pt x="245" y="167"/>
                </a:lnTo>
                <a:lnTo>
                  <a:pt x="252" y="154"/>
                </a:lnTo>
                <a:lnTo>
                  <a:pt x="257" y="142"/>
                </a:lnTo>
                <a:lnTo>
                  <a:pt x="260" y="127"/>
                </a:lnTo>
                <a:lnTo>
                  <a:pt x="263" y="114"/>
                </a:lnTo>
                <a:lnTo>
                  <a:pt x="263" y="99"/>
                </a:lnTo>
                <a:close/>
                <a:moveTo>
                  <a:pt x="46" y="0"/>
                </a:moveTo>
                <a:lnTo>
                  <a:pt x="36" y="10"/>
                </a:lnTo>
                <a:lnTo>
                  <a:pt x="26" y="20"/>
                </a:lnTo>
                <a:lnTo>
                  <a:pt x="20" y="31"/>
                </a:lnTo>
                <a:lnTo>
                  <a:pt x="13" y="43"/>
                </a:lnTo>
                <a:lnTo>
                  <a:pt x="8" y="56"/>
                </a:lnTo>
                <a:lnTo>
                  <a:pt x="3" y="69"/>
                </a:lnTo>
                <a:lnTo>
                  <a:pt x="2" y="84"/>
                </a:lnTo>
                <a:lnTo>
                  <a:pt x="0" y="99"/>
                </a:lnTo>
                <a:lnTo>
                  <a:pt x="2" y="114"/>
                </a:lnTo>
                <a:lnTo>
                  <a:pt x="3" y="127"/>
                </a:lnTo>
                <a:lnTo>
                  <a:pt x="8" y="142"/>
                </a:lnTo>
                <a:lnTo>
                  <a:pt x="13" y="154"/>
                </a:lnTo>
                <a:lnTo>
                  <a:pt x="20" y="167"/>
                </a:lnTo>
                <a:lnTo>
                  <a:pt x="26" y="179"/>
                </a:lnTo>
                <a:lnTo>
                  <a:pt x="36" y="189"/>
                </a:lnTo>
                <a:lnTo>
                  <a:pt x="46" y="199"/>
                </a:lnTo>
                <a:lnTo>
                  <a:pt x="53" y="199"/>
                </a:lnTo>
                <a:lnTo>
                  <a:pt x="43" y="189"/>
                </a:lnTo>
                <a:lnTo>
                  <a:pt x="33" y="179"/>
                </a:lnTo>
                <a:lnTo>
                  <a:pt x="25" y="167"/>
                </a:lnTo>
                <a:lnTo>
                  <a:pt x="18" y="155"/>
                </a:lnTo>
                <a:lnTo>
                  <a:pt x="13" y="142"/>
                </a:lnTo>
                <a:lnTo>
                  <a:pt x="8" y="129"/>
                </a:lnTo>
                <a:lnTo>
                  <a:pt x="7" y="114"/>
                </a:lnTo>
                <a:lnTo>
                  <a:pt x="5" y="99"/>
                </a:lnTo>
                <a:lnTo>
                  <a:pt x="7" y="84"/>
                </a:lnTo>
                <a:lnTo>
                  <a:pt x="8" y="69"/>
                </a:lnTo>
                <a:lnTo>
                  <a:pt x="13" y="56"/>
                </a:lnTo>
                <a:lnTo>
                  <a:pt x="18" y="43"/>
                </a:lnTo>
                <a:lnTo>
                  <a:pt x="25" y="31"/>
                </a:lnTo>
                <a:lnTo>
                  <a:pt x="33" y="20"/>
                </a:lnTo>
                <a:lnTo>
                  <a:pt x="43" y="8"/>
                </a:lnTo>
                <a:lnTo>
                  <a:pt x="53" y="0"/>
                </a:lnTo>
                <a:lnTo>
                  <a:pt x="46"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64" name="Freeform 1369">
            <a:extLst>
              <a:ext uri="{FF2B5EF4-FFF2-40B4-BE49-F238E27FC236}">
                <a16:creationId xmlns:a16="http://schemas.microsoft.com/office/drawing/2014/main" id="{B493BA85-3324-3DB5-3E88-6351007626C3}"/>
              </a:ext>
            </a:extLst>
          </p:cNvPr>
          <p:cNvSpPr>
            <a:spLocks noEditPoints="1"/>
          </p:cNvSpPr>
          <p:nvPr/>
        </p:nvSpPr>
        <p:spPr bwMode="auto">
          <a:xfrm>
            <a:off x="2709863" y="2403475"/>
            <a:ext cx="411163" cy="315913"/>
          </a:xfrm>
          <a:custGeom>
            <a:avLst/>
            <a:gdLst>
              <a:gd name="T0" fmla="*/ 257 w 259"/>
              <a:gd name="T1" fmla="*/ 84 h 199"/>
              <a:gd name="T2" fmla="*/ 252 w 259"/>
              <a:gd name="T3" fmla="*/ 56 h 199"/>
              <a:gd name="T4" fmla="*/ 239 w 259"/>
              <a:gd name="T5" fmla="*/ 31 h 199"/>
              <a:gd name="T6" fmla="*/ 222 w 259"/>
              <a:gd name="T7" fmla="*/ 10 h 199"/>
              <a:gd name="T8" fmla="*/ 204 w 259"/>
              <a:gd name="T9" fmla="*/ 0 h 199"/>
              <a:gd name="T10" fmla="*/ 224 w 259"/>
              <a:gd name="T11" fmla="*/ 20 h 199"/>
              <a:gd name="T12" fmla="*/ 240 w 259"/>
              <a:gd name="T13" fmla="*/ 43 h 199"/>
              <a:gd name="T14" fmla="*/ 250 w 259"/>
              <a:gd name="T15" fmla="*/ 69 h 199"/>
              <a:gd name="T16" fmla="*/ 254 w 259"/>
              <a:gd name="T17" fmla="*/ 99 h 199"/>
              <a:gd name="T18" fmla="*/ 250 w 259"/>
              <a:gd name="T19" fmla="*/ 129 h 199"/>
              <a:gd name="T20" fmla="*/ 240 w 259"/>
              <a:gd name="T21" fmla="*/ 155 h 199"/>
              <a:gd name="T22" fmla="*/ 224 w 259"/>
              <a:gd name="T23" fmla="*/ 179 h 199"/>
              <a:gd name="T24" fmla="*/ 204 w 259"/>
              <a:gd name="T25" fmla="*/ 199 h 199"/>
              <a:gd name="T26" fmla="*/ 222 w 259"/>
              <a:gd name="T27" fmla="*/ 189 h 199"/>
              <a:gd name="T28" fmla="*/ 239 w 259"/>
              <a:gd name="T29" fmla="*/ 167 h 199"/>
              <a:gd name="T30" fmla="*/ 252 w 259"/>
              <a:gd name="T31" fmla="*/ 142 h 199"/>
              <a:gd name="T32" fmla="*/ 257 w 259"/>
              <a:gd name="T33" fmla="*/ 114 h 199"/>
              <a:gd name="T34" fmla="*/ 47 w 259"/>
              <a:gd name="T35" fmla="*/ 0 h 199"/>
              <a:gd name="T36" fmla="*/ 27 w 259"/>
              <a:gd name="T37" fmla="*/ 20 h 199"/>
              <a:gd name="T38" fmla="*/ 12 w 259"/>
              <a:gd name="T39" fmla="*/ 43 h 199"/>
              <a:gd name="T40" fmla="*/ 4 w 259"/>
              <a:gd name="T41" fmla="*/ 69 h 199"/>
              <a:gd name="T42" fmla="*/ 0 w 259"/>
              <a:gd name="T43" fmla="*/ 99 h 199"/>
              <a:gd name="T44" fmla="*/ 4 w 259"/>
              <a:gd name="T45" fmla="*/ 127 h 199"/>
              <a:gd name="T46" fmla="*/ 12 w 259"/>
              <a:gd name="T47" fmla="*/ 155 h 199"/>
              <a:gd name="T48" fmla="*/ 27 w 259"/>
              <a:gd name="T49" fmla="*/ 179 h 199"/>
              <a:gd name="T50" fmla="*/ 47 w 259"/>
              <a:gd name="T51" fmla="*/ 199 h 199"/>
              <a:gd name="T52" fmla="*/ 43 w 259"/>
              <a:gd name="T53" fmla="*/ 189 h 199"/>
              <a:gd name="T54" fmla="*/ 25 w 259"/>
              <a:gd name="T55" fmla="*/ 167 h 199"/>
              <a:gd name="T56" fmla="*/ 12 w 259"/>
              <a:gd name="T57" fmla="*/ 142 h 199"/>
              <a:gd name="T58" fmla="*/ 5 w 259"/>
              <a:gd name="T59" fmla="*/ 114 h 199"/>
              <a:gd name="T60" fmla="*/ 5 w 259"/>
              <a:gd name="T61" fmla="*/ 84 h 199"/>
              <a:gd name="T62" fmla="*/ 12 w 259"/>
              <a:gd name="T63" fmla="*/ 56 h 199"/>
              <a:gd name="T64" fmla="*/ 25 w 259"/>
              <a:gd name="T65" fmla="*/ 30 h 199"/>
              <a:gd name="T66" fmla="*/ 43 w 259"/>
              <a:gd name="T67" fmla="*/ 8 h 199"/>
              <a:gd name="T68" fmla="*/ 47 w 25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9" h="199">
                <a:moveTo>
                  <a:pt x="259" y="99"/>
                </a:moveTo>
                <a:lnTo>
                  <a:pt x="257" y="84"/>
                </a:lnTo>
                <a:lnTo>
                  <a:pt x="255" y="69"/>
                </a:lnTo>
                <a:lnTo>
                  <a:pt x="252" y="56"/>
                </a:lnTo>
                <a:lnTo>
                  <a:pt x="245" y="43"/>
                </a:lnTo>
                <a:lnTo>
                  <a:pt x="239" y="31"/>
                </a:lnTo>
                <a:lnTo>
                  <a:pt x="230" y="20"/>
                </a:lnTo>
                <a:lnTo>
                  <a:pt x="222" y="10"/>
                </a:lnTo>
                <a:lnTo>
                  <a:pt x="212" y="0"/>
                </a:lnTo>
                <a:lnTo>
                  <a:pt x="204" y="0"/>
                </a:lnTo>
                <a:lnTo>
                  <a:pt x="216" y="8"/>
                </a:lnTo>
                <a:lnTo>
                  <a:pt x="224" y="20"/>
                </a:lnTo>
                <a:lnTo>
                  <a:pt x="234" y="30"/>
                </a:lnTo>
                <a:lnTo>
                  <a:pt x="240" y="43"/>
                </a:lnTo>
                <a:lnTo>
                  <a:pt x="245" y="56"/>
                </a:lnTo>
                <a:lnTo>
                  <a:pt x="250" y="69"/>
                </a:lnTo>
                <a:lnTo>
                  <a:pt x="252" y="84"/>
                </a:lnTo>
                <a:lnTo>
                  <a:pt x="254" y="99"/>
                </a:lnTo>
                <a:lnTo>
                  <a:pt x="252" y="114"/>
                </a:lnTo>
                <a:lnTo>
                  <a:pt x="250" y="129"/>
                </a:lnTo>
                <a:lnTo>
                  <a:pt x="245" y="142"/>
                </a:lnTo>
                <a:lnTo>
                  <a:pt x="240" y="155"/>
                </a:lnTo>
                <a:lnTo>
                  <a:pt x="234" y="167"/>
                </a:lnTo>
                <a:lnTo>
                  <a:pt x="224" y="179"/>
                </a:lnTo>
                <a:lnTo>
                  <a:pt x="216" y="189"/>
                </a:lnTo>
                <a:lnTo>
                  <a:pt x="204" y="199"/>
                </a:lnTo>
                <a:lnTo>
                  <a:pt x="212" y="199"/>
                </a:lnTo>
                <a:lnTo>
                  <a:pt x="222" y="189"/>
                </a:lnTo>
                <a:lnTo>
                  <a:pt x="230" y="179"/>
                </a:lnTo>
                <a:lnTo>
                  <a:pt x="239" y="167"/>
                </a:lnTo>
                <a:lnTo>
                  <a:pt x="245" y="155"/>
                </a:lnTo>
                <a:lnTo>
                  <a:pt x="252" y="142"/>
                </a:lnTo>
                <a:lnTo>
                  <a:pt x="255" y="127"/>
                </a:lnTo>
                <a:lnTo>
                  <a:pt x="257" y="114"/>
                </a:lnTo>
                <a:lnTo>
                  <a:pt x="259" y="99"/>
                </a:lnTo>
                <a:close/>
                <a:moveTo>
                  <a:pt x="47" y="0"/>
                </a:moveTo>
                <a:lnTo>
                  <a:pt x="37" y="10"/>
                </a:lnTo>
                <a:lnTo>
                  <a:pt x="27" y="20"/>
                </a:lnTo>
                <a:lnTo>
                  <a:pt x="18" y="31"/>
                </a:lnTo>
                <a:lnTo>
                  <a:pt x="12" y="43"/>
                </a:lnTo>
                <a:lnTo>
                  <a:pt x="7" y="56"/>
                </a:lnTo>
                <a:lnTo>
                  <a:pt x="4" y="69"/>
                </a:lnTo>
                <a:lnTo>
                  <a:pt x="0" y="84"/>
                </a:lnTo>
                <a:lnTo>
                  <a:pt x="0" y="99"/>
                </a:lnTo>
                <a:lnTo>
                  <a:pt x="0" y="114"/>
                </a:lnTo>
                <a:lnTo>
                  <a:pt x="4" y="127"/>
                </a:lnTo>
                <a:lnTo>
                  <a:pt x="7" y="142"/>
                </a:lnTo>
                <a:lnTo>
                  <a:pt x="12" y="155"/>
                </a:lnTo>
                <a:lnTo>
                  <a:pt x="18" y="167"/>
                </a:lnTo>
                <a:lnTo>
                  <a:pt x="27" y="179"/>
                </a:lnTo>
                <a:lnTo>
                  <a:pt x="37" y="189"/>
                </a:lnTo>
                <a:lnTo>
                  <a:pt x="47" y="199"/>
                </a:lnTo>
                <a:lnTo>
                  <a:pt x="55" y="199"/>
                </a:lnTo>
                <a:lnTo>
                  <a:pt x="43" y="189"/>
                </a:lnTo>
                <a:lnTo>
                  <a:pt x="33" y="179"/>
                </a:lnTo>
                <a:lnTo>
                  <a:pt x="25" y="167"/>
                </a:lnTo>
                <a:lnTo>
                  <a:pt x="18" y="155"/>
                </a:lnTo>
                <a:lnTo>
                  <a:pt x="12" y="142"/>
                </a:lnTo>
                <a:lnTo>
                  <a:pt x="9" y="129"/>
                </a:lnTo>
                <a:lnTo>
                  <a:pt x="5" y="114"/>
                </a:lnTo>
                <a:lnTo>
                  <a:pt x="5" y="99"/>
                </a:lnTo>
                <a:lnTo>
                  <a:pt x="5" y="84"/>
                </a:lnTo>
                <a:lnTo>
                  <a:pt x="9" y="69"/>
                </a:lnTo>
                <a:lnTo>
                  <a:pt x="12" y="56"/>
                </a:lnTo>
                <a:lnTo>
                  <a:pt x="18" y="43"/>
                </a:lnTo>
                <a:lnTo>
                  <a:pt x="25" y="30"/>
                </a:lnTo>
                <a:lnTo>
                  <a:pt x="33" y="20"/>
                </a:lnTo>
                <a:lnTo>
                  <a:pt x="43" y="8"/>
                </a:lnTo>
                <a:lnTo>
                  <a:pt x="55" y="0"/>
                </a:lnTo>
                <a:lnTo>
                  <a:pt x="47"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65" name="Freeform 1370">
            <a:extLst>
              <a:ext uri="{FF2B5EF4-FFF2-40B4-BE49-F238E27FC236}">
                <a16:creationId xmlns:a16="http://schemas.microsoft.com/office/drawing/2014/main" id="{EC88FCE2-CACC-AB9E-EB13-9BB222F61CB5}"/>
              </a:ext>
            </a:extLst>
          </p:cNvPr>
          <p:cNvSpPr>
            <a:spLocks noEditPoints="1"/>
          </p:cNvSpPr>
          <p:nvPr/>
        </p:nvSpPr>
        <p:spPr bwMode="auto">
          <a:xfrm>
            <a:off x="2713038" y="2403475"/>
            <a:ext cx="401638" cy="315913"/>
          </a:xfrm>
          <a:custGeom>
            <a:avLst/>
            <a:gdLst>
              <a:gd name="T0" fmla="*/ 253 w 253"/>
              <a:gd name="T1" fmla="*/ 84 h 199"/>
              <a:gd name="T2" fmla="*/ 247 w 253"/>
              <a:gd name="T3" fmla="*/ 56 h 199"/>
              <a:gd name="T4" fmla="*/ 233 w 253"/>
              <a:gd name="T5" fmla="*/ 31 h 199"/>
              <a:gd name="T6" fmla="*/ 217 w 253"/>
              <a:gd name="T7" fmla="*/ 8 h 199"/>
              <a:gd name="T8" fmla="*/ 199 w 253"/>
              <a:gd name="T9" fmla="*/ 0 h 199"/>
              <a:gd name="T10" fmla="*/ 218 w 253"/>
              <a:gd name="T11" fmla="*/ 18 h 199"/>
              <a:gd name="T12" fmla="*/ 235 w 253"/>
              <a:gd name="T13" fmla="*/ 43 h 199"/>
              <a:gd name="T14" fmla="*/ 245 w 253"/>
              <a:gd name="T15" fmla="*/ 69 h 199"/>
              <a:gd name="T16" fmla="*/ 250 w 253"/>
              <a:gd name="T17" fmla="*/ 99 h 199"/>
              <a:gd name="T18" fmla="*/ 245 w 253"/>
              <a:gd name="T19" fmla="*/ 129 h 199"/>
              <a:gd name="T20" fmla="*/ 235 w 253"/>
              <a:gd name="T21" fmla="*/ 155 h 199"/>
              <a:gd name="T22" fmla="*/ 218 w 253"/>
              <a:gd name="T23" fmla="*/ 179 h 199"/>
              <a:gd name="T24" fmla="*/ 199 w 253"/>
              <a:gd name="T25" fmla="*/ 199 h 199"/>
              <a:gd name="T26" fmla="*/ 217 w 253"/>
              <a:gd name="T27" fmla="*/ 189 h 199"/>
              <a:gd name="T28" fmla="*/ 233 w 253"/>
              <a:gd name="T29" fmla="*/ 167 h 199"/>
              <a:gd name="T30" fmla="*/ 247 w 253"/>
              <a:gd name="T31" fmla="*/ 142 h 199"/>
              <a:gd name="T32" fmla="*/ 253 w 253"/>
              <a:gd name="T33" fmla="*/ 114 h 199"/>
              <a:gd name="T34" fmla="*/ 48 w 253"/>
              <a:gd name="T35" fmla="*/ 0 h 199"/>
              <a:gd name="T36" fmla="*/ 28 w 253"/>
              <a:gd name="T37" fmla="*/ 20 h 199"/>
              <a:gd name="T38" fmla="*/ 13 w 253"/>
              <a:gd name="T39" fmla="*/ 43 h 199"/>
              <a:gd name="T40" fmla="*/ 3 w 253"/>
              <a:gd name="T41" fmla="*/ 69 h 199"/>
              <a:gd name="T42" fmla="*/ 0 w 253"/>
              <a:gd name="T43" fmla="*/ 99 h 199"/>
              <a:gd name="T44" fmla="*/ 3 w 253"/>
              <a:gd name="T45" fmla="*/ 129 h 199"/>
              <a:gd name="T46" fmla="*/ 13 w 253"/>
              <a:gd name="T47" fmla="*/ 155 h 199"/>
              <a:gd name="T48" fmla="*/ 28 w 253"/>
              <a:gd name="T49" fmla="*/ 179 h 199"/>
              <a:gd name="T50" fmla="*/ 48 w 253"/>
              <a:gd name="T51" fmla="*/ 199 h 199"/>
              <a:gd name="T52" fmla="*/ 45 w 253"/>
              <a:gd name="T53" fmla="*/ 189 h 199"/>
              <a:gd name="T54" fmla="*/ 26 w 253"/>
              <a:gd name="T55" fmla="*/ 169 h 199"/>
              <a:gd name="T56" fmla="*/ 13 w 253"/>
              <a:gd name="T57" fmla="*/ 142 h 199"/>
              <a:gd name="T58" fmla="*/ 7 w 253"/>
              <a:gd name="T59" fmla="*/ 114 h 199"/>
              <a:gd name="T60" fmla="*/ 7 w 253"/>
              <a:gd name="T61" fmla="*/ 84 h 199"/>
              <a:gd name="T62" fmla="*/ 13 w 253"/>
              <a:gd name="T63" fmla="*/ 56 h 199"/>
              <a:gd name="T64" fmla="*/ 26 w 253"/>
              <a:gd name="T65" fmla="*/ 30 h 199"/>
              <a:gd name="T66" fmla="*/ 45 w 253"/>
              <a:gd name="T67" fmla="*/ 8 h 199"/>
              <a:gd name="T68" fmla="*/ 48 w 25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3" h="199">
                <a:moveTo>
                  <a:pt x="253" y="99"/>
                </a:moveTo>
                <a:lnTo>
                  <a:pt x="253" y="84"/>
                </a:lnTo>
                <a:lnTo>
                  <a:pt x="250" y="69"/>
                </a:lnTo>
                <a:lnTo>
                  <a:pt x="247" y="56"/>
                </a:lnTo>
                <a:lnTo>
                  <a:pt x="242" y="43"/>
                </a:lnTo>
                <a:lnTo>
                  <a:pt x="233" y="31"/>
                </a:lnTo>
                <a:lnTo>
                  <a:pt x="225" y="20"/>
                </a:lnTo>
                <a:lnTo>
                  <a:pt x="217" y="8"/>
                </a:lnTo>
                <a:lnTo>
                  <a:pt x="207" y="0"/>
                </a:lnTo>
                <a:lnTo>
                  <a:pt x="199" y="0"/>
                </a:lnTo>
                <a:lnTo>
                  <a:pt x="209" y="8"/>
                </a:lnTo>
                <a:lnTo>
                  <a:pt x="218" y="18"/>
                </a:lnTo>
                <a:lnTo>
                  <a:pt x="228" y="30"/>
                </a:lnTo>
                <a:lnTo>
                  <a:pt x="235" y="43"/>
                </a:lnTo>
                <a:lnTo>
                  <a:pt x="242" y="56"/>
                </a:lnTo>
                <a:lnTo>
                  <a:pt x="245" y="69"/>
                </a:lnTo>
                <a:lnTo>
                  <a:pt x="248" y="84"/>
                </a:lnTo>
                <a:lnTo>
                  <a:pt x="250" y="99"/>
                </a:lnTo>
                <a:lnTo>
                  <a:pt x="248" y="114"/>
                </a:lnTo>
                <a:lnTo>
                  <a:pt x="245" y="129"/>
                </a:lnTo>
                <a:lnTo>
                  <a:pt x="242" y="142"/>
                </a:lnTo>
                <a:lnTo>
                  <a:pt x="235" y="155"/>
                </a:lnTo>
                <a:lnTo>
                  <a:pt x="228" y="169"/>
                </a:lnTo>
                <a:lnTo>
                  <a:pt x="218" y="179"/>
                </a:lnTo>
                <a:lnTo>
                  <a:pt x="209" y="189"/>
                </a:lnTo>
                <a:lnTo>
                  <a:pt x="199" y="199"/>
                </a:lnTo>
                <a:lnTo>
                  <a:pt x="207" y="199"/>
                </a:lnTo>
                <a:lnTo>
                  <a:pt x="217" y="189"/>
                </a:lnTo>
                <a:lnTo>
                  <a:pt x="225" y="179"/>
                </a:lnTo>
                <a:lnTo>
                  <a:pt x="233" y="167"/>
                </a:lnTo>
                <a:lnTo>
                  <a:pt x="242" y="155"/>
                </a:lnTo>
                <a:lnTo>
                  <a:pt x="247" y="142"/>
                </a:lnTo>
                <a:lnTo>
                  <a:pt x="250" y="129"/>
                </a:lnTo>
                <a:lnTo>
                  <a:pt x="253" y="114"/>
                </a:lnTo>
                <a:lnTo>
                  <a:pt x="253" y="99"/>
                </a:lnTo>
                <a:close/>
                <a:moveTo>
                  <a:pt x="48" y="0"/>
                </a:moveTo>
                <a:lnTo>
                  <a:pt x="38" y="8"/>
                </a:lnTo>
                <a:lnTo>
                  <a:pt x="28" y="20"/>
                </a:lnTo>
                <a:lnTo>
                  <a:pt x="20" y="31"/>
                </a:lnTo>
                <a:lnTo>
                  <a:pt x="13" y="43"/>
                </a:lnTo>
                <a:lnTo>
                  <a:pt x="8" y="56"/>
                </a:lnTo>
                <a:lnTo>
                  <a:pt x="3" y="69"/>
                </a:lnTo>
                <a:lnTo>
                  <a:pt x="2" y="84"/>
                </a:lnTo>
                <a:lnTo>
                  <a:pt x="0" y="99"/>
                </a:lnTo>
                <a:lnTo>
                  <a:pt x="2" y="114"/>
                </a:lnTo>
                <a:lnTo>
                  <a:pt x="3" y="129"/>
                </a:lnTo>
                <a:lnTo>
                  <a:pt x="8" y="142"/>
                </a:lnTo>
                <a:lnTo>
                  <a:pt x="13" y="155"/>
                </a:lnTo>
                <a:lnTo>
                  <a:pt x="20" y="167"/>
                </a:lnTo>
                <a:lnTo>
                  <a:pt x="28" y="179"/>
                </a:lnTo>
                <a:lnTo>
                  <a:pt x="38" y="189"/>
                </a:lnTo>
                <a:lnTo>
                  <a:pt x="48" y="199"/>
                </a:lnTo>
                <a:lnTo>
                  <a:pt x="56" y="199"/>
                </a:lnTo>
                <a:lnTo>
                  <a:pt x="45" y="189"/>
                </a:lnTo>
                <a:lnTo>
                  <a:pt x="35" y="179"/>
                </a:lnTo>
                <a:lnTo>
                  <a:pt x="26" y="169"/>
                </a:lnTo>
                <a:lnTo>
                  <a:pt x="20" y="155"/>
                </a:lnTo>
                <a:lnTo>
                  <a:pt x="13" y="142"/>
                </a:lnTo>
                <a:lnTo>
                  <a:pt x="8" y="129"/>
                </a:lnTo>
                <a:lnTo>
                  <a:pt x="7" y="114"/>
                </a:lnTo>
                <a:lnTo>
                  <a:pt x="5" y="99"/>
                </a:lnTo>
                <a:lnTo>
                  <a:pt x="7" y="84"/>
                </a:lnTo>
                <a:lnTo>
                  <a:pt x="8" y="69"/>
                </a:lnTo>
                <a:lnTo>
                  <a:pt x="13" y="56"/>
                </a:lnTo>
                <a:lnTo>
                  <a:pt x="20" y="43"/>
                </a:lnTo>
                <a:lnTo>
                  <a:pt x="26" y="30"/>
                </a:lnTo>
                <a:lnTo>
                  <a:pt x="35" y="18"/>
                </a:lnTo>
                <a:lnTo>
                  <a:pt x="45" y="8"/>
                </a:lnTo>
                <a:lnTo>
                  <a:pt x="56" y="0"/>
                </a:lnTo>
                <a:lnTo>
                  <a:pt x="48"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66" name="Freeform 1371">
            <a:extLst>
              <a:ext uri="{FF2B5EF4-FFF2-40B4-BE49-F238E27FC236}">
                <a16:creationId xmlns:a16="http://schemas.microsoft.com/office/drawing/2014/main" id="{138F1E44-D86B-CC48-4191-DBB373EA43E6}"/>
              </a:ext>
            </a:extLst>
          </p:cNvPr>
          <p:cNvSpPr>
            <a:spLocks noEditPoints="1"/>
          </p:cNvSpPr>
          <p:nvPr/>
        </p:nvSpPr>
        <p:spPr bwMode="auto">
          <a:xfrm>
            <a:off x="2717800" y="2403475"/>
            <a:ext cx="395288" cy="315913"/>
          </a:xfrm>
          <a:custGeom>
            <a:avLst/>
            <a:gdLst>
              <a:gd name="T0" fmla="*/ 247 w 249"/>
              <a:gd name="T1" fmla="*/ 84 h 199"/>
              <a:gd name="T2" fmla="*/ 240 w 249"/>
              <a:gd name="T3" fmla="*/ 56 h 199"/>
              <a:gd name="T4" fmla="*/ 229 w 249"/>
              <a:gd name="T5" fmla="*/ 30 h 199"/>
              <a:gd name="T6" fmla="*/ 211 w 249"/>
              <a:gd name="T7" fmla="*/ 8 h 199"/>
              <a:gd name="T8" fmla="*/ 191 w 249"/>
              <a:gd name="T9" fmla="*/ 0 h 199"/>
              <a:gd name="T10" fmla="*/ 212 w 249"/>
              <a:gd name="T11" fmla="*/ 18 h 199"/>
              <a:gd name="T12" fmla="*/ 229 w 249"/>
              <a:gd name="T13" fmla="*/ 41 h 199"/>
              <a:gd name="T14" fmla="*/ 240 w 249"/>
              <a:gd name="T15" fmla="*/ 69 h 199"/>
              <a:gd name="T16" fmla="*/ 244 w 249"/>
              <a:gd name="T17" fmla="*/ 99 h 199"/>
              <a:gd name="T18" fmla="*/ 240 w 249"/>
              <a:gd name="T19" fmla="*/ 129 h 199"/>
              <a:gd name="T20" fmla="*/ 229 w 249"/>
              <a:gd name="T21" fmla="*/ 155 h 199"/>
              <a:gd name="T22" fmla="*/ 212 w 249"/>
              <a:gd name="T23" fmla="*/ 180 h 199"/>
              <a:gd name="T24" fmla="*/ 191 w 249"/>
              <a:gd name="T25" fmla="*/ 199 h 199"/>
              <a:gd name="T26" fmla="*/ 211 w 249"/>
              <a:gd name="T27" fmla="*/ 189 h 199"/>
              <a:gd name="T28" fmla="*/ 229 w 249"/>
              <a:gd name="T29" fmla="*/ 167 h 199"/>
              <a:gd name="T30" fmla="*/ 240 w 249"/>
              <a:gd name="T31" fmla="*/ 142 h 199"/>
              <a:gd name="T32" fmla="*/ 247 w 249"/>
              <a:gd name="T33" fmla="*/ 114 h 199"/>
              <a:gd name="T34" fmla="*/ 50 w 249"/>
              <a:gd name="T35" fmla="*/ 0 h 199"/>
              <a:gd name="T36" fmla="*/ 28 w 249"/>
              <a:gd name="T37" fmla="*/ 20 h 199"/>
              <a:gd name="T38" fmla="*/ 13 w 249"/>
              <a:gd name="T39" fmla="*/ 43 h 199"/>
              <a:gd name="T40" fmla="*/ 4 w 249"/>
              <a:gd name="T41" fmla="*/ 69 h 199"/>
              <a:gd name="T42" fmla="*/ 0 w 249"/>
              <a:gd name="T43" fmla="*/ 99 h 199"/>
              <a:gd name="T44" fmla="*/ 4 w 249"/>
              <a:gd name="T45" fmla="*/ 129 h 199"/>
              <a:gd name="T46" fmla="*/ 13 w 249"/>
              <a:gd name="T47" fmla="*/ 155 h 199"/>
              <a:gd name="T48" fmla="*/ 28 w 249"/>
              <a:gd name="T49" fmla="*/ 179 h 199"/>
              <a:gd name="T50" fmla="*/ 50 w 249"/>
              <a:gd name="T51" fmla="*/ 199 h 199"/>
              <a:gd name="T52" fmla="*/ 47 w 249"/>
              <a:gd name="T53" fmla="*/ 190 h 199"/>
              <a:gd name="T54" fmla="*/ 27 w 249"/>
              <a:gd name="T55" fmla="*/ 169 h 199"/>
              <a:gd name="T56" fmla="*/ 13 w 249"/>
              <a:gd name="T57" fmla="*/ 142 h 199"/>
              <a:gd name="T58" fmla="*/ 5 w 249"/>
              <a:gd name="T59" fmla="*/ 114 h 199"/>
              <a:gd name="T60" fmla="*/ 5 w 249"/>
              <a:gd name="T61" fmla="*/ 84 h 199"/>
              <a:gd name="T62" fmla="*/ 13 w 249"/>
              <a:gd name="T63" fmla="*/ 54 h 199"/>
              <a:gd name="T64" fmla="*/ 27 w 249"/>
              <a:gd name="T65" fmla="*/ 30 h 199"/>
              <a:gd name="T66" fmla="*/ 47 w 249"/>
              <a:gd name="T67" fmla="*/ 8 h 199"/>
              <a:gd name="T68" fmla="*/ 50 w 24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9" h="199">
                <a:moveTo>
                  <a:pt x="249" y="99"/>
                </a:moveTo>
                <a:lnTo>
                  <a:pt x="247" y="84"/>
                </a:lnTo>
                <a:lnTo>
                  <a:pt x="245" y="69"/>
                </a:lnTo>
                <a:lnTo>
                  <a:pt x="240" y="56"/>
                </a:lnTo>
                <a:lnTo>
                  <a:pt x="235" y="43"/>
                </a:lnTo>
                <a:lnTo>
                  <a:pt x="229" y="30"/>
                </a:lnTo>
                <a:lnTo>
                  <a:pt x="219" y="20"/>
                </a:lnTo>
                <a:lnTo>
                  <a:pt x="211" y="8"/>
                </a:lnTo>
                <a:lnTo>
                  <a:pt x="199" y="0"/>
                </a:lnTo>
                <a:lnTo>
                  <a:pt x="191" y="0"/>
                </a:lnTo>
                <a:lnTo>
                  <a:pt x="202" y="8"/>
                </a:lnTo>
                <a:lnTo>
                  <a:pt x="212" y="18"/>
                </a:lnTo>
                <a:lnTo>
                  <a:pt x="222" y="30"/>
                </a:lnTo>
                <a:lnTo>
                  <a:pt x="229" y="41"/>
                </a:lnTo>
                <a:lnTo>
                  <a:pt x="235" y="54"/>
                </a:lnTo>
                <a:lnTo>
                  <a:pt x="240" y="69"/>
                </a:lnTo>
                <a:lnTo>
                  <a:pt x="244" y="84"/>
                </a:lnTo>
                <a:lnTo>
                  <a:pt x="244" y="99"/>
                </a:lnTo>
                <a:lnTo>
                  <a:pt x="244" y="114"/>
                </a:lnTo>
                <a:lnTo>
                  <a:pt x="240" y="129"/>
                </a:lnTo>
                <a:lnTo>
                  <a:pt x="235" y="142"/>
                </a:lnTo>
                <a:lnTo>
                  <a:pt x="229" y="155"/>
                </a:lnTo>
                <a:lnTo>
                  <a:pt x="222" y="169"/>
                </a:lnTo>
                <a:lnTo>
                  <a:pt x="212" y="180"/>
                </a:lnTo>
                <a:lnTo>
                  <a:pt x="202" y="190"/>
                </a:lnTo>
                <a:lnTo>
                  <a:pt x="191" y="199"/>
                </a:lnTo>
                <a:lnTo>
                  <a:pt x="199" y="199"/>
                </a:lnTo>
                <a:lnTo>
                  <a:pt x="211" y="189"/>
                </a:lnTo>
                <a:lnTo>
                  <a:pt x="219" y="179"/>
                </a:lnTo>
                <a:lnTo>
                  <a:pt x="229" y="167"/>
                </a:lnTo>
                <a:lnTo>
                  <a:pt x="235" y="155"/>
                </a:lnTo>
                <a:lnTo>
                  <a:pt x="240" y="142"/>
                </a:lnTo>
                <a:lnTo>
                  <a:pt x="245" y="129"/>
                </a:lnTo>
                <a:lnTo>
                  <a:pt x="247" y="114"/>
                </a:lnTo>
                <a:lnTo>
                  <a:pt x="249" y="99"/>
                </a:lnTo>
                <a:close/>
                <a:moveTo>
                  <a:pt x="50" y="0"/>
                </a:moveTo>
                <a:lnTo>
                  <a:pt x="38" y="8"/>
                </a:lnTo>
                <a:lnTo>
                  <a:pt x="28" y="20"/>
                </a:lnTo>
                <a:lnTo>
                  <a:pt x="20" y="30"/>
                </a:lnTo>
                <a:lnTo>
                  <a:pt x="13" y="43"/>
                </a:lnTo>
                <a:lnTo>
                  <a:pt x="7" y="56"/>
                </a:lnTo>
                <a:lnTo>
                  <a:pt x="4" y="69"/>
                </a:lnTo>
                <a:lnTo>
                  <a:pt x="0" y="84"/>
                </a:lnTo>
                <a:lnTo>
                  <a:pt x="0" y="99"/>
                </a:lnTo>
                <a:lnTo>
                  <a:pt x="0" y="114"/>
                </a:lnTo>
                <a:lnTo>
                  <a:pt x="4" y="129"/>
                </a:lnTo>
                <a:lnTo>
                  <a:pt x="7" y="142"/>
                </a:lnTo>
                <a:lnTo>
                  <a:pt x="13" y="155"/>
                </a:lnTo>
                <a:lnTo>
                  <a:pt x="20" y="167"/>
                </a:lnTo>
                <a:lnTo>
                  <a:pt x="28" y="179"/>
                </a:lnTo>
                <a:lnTo>
                  <a:pt x="38" y="189"/>
                </a:lnTo>
                <a:lnTo>
                  <a:pt x="50" y="199"/>
                </a:lnTo>
                <a:lnTo>
                  <a:pt x="58" y="199"/>
                </a:lnTo>
                <a:lnTo>
                  <a:pt x="47" y="190"/>
                </a:lnTo>
                <a:lnTo>
                  <a:pt x="35" y="180"/>
                </a:lnTo>
                <a:lnTo>
                  <a:pt x="27" y="169"/>
                </a:lnTo>
                <a:lnTo>
                  <a:pt x="18" y="155"/>
                </a:lnTo>
                <a:lnTo>
                  <a:pt x="13" y="142"/>
                </a:lnTo>
                <a:lnTo>
                  <a:pt x="8" y="129"/>
                </a:lnTo>
                <a:lnTo>
                  <a:pt x="5" y="114"/>
                </a:lnTo>
                <a:lnTo>
                  <a:pt x="5" y="99"/>
                </a:lnTo>
                <a:lnTo>
                  <a:pt x="5" y="84"/>
                </a:lnTo>
                <a:lnTo>
                  <a:pt x="8" y="69"/>
                </a:lnTo>
                <a:lnTo>
                  <a:pt x="13" y="54"/>
                </a:lnTo>
                <a:lnTo>
                  <a:pt x="18" y="41"/>
                </a:lnTo>
                <a:lnTo>
                  <a:pt x="27" y="30"/>
                </a:lnTo>
                <a:lnTo>
                  <a:pt x="35" y="18"/>
                </a:lnTo>
                <a:lnTo>
                  <a:pt x="47" y="8"/>
                </a:lnTo>
                <a:lnTo>
                  <a:pt x="58" y="0"/>
                </a:lnTo>
                <a:lnTo>
                  <a:pt x="50"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67" name="Freeform 1372">
            <a:extLst>
              <a:ext uri="{FF2B5EF4-FFF2-40B4-BE49-F238E27FC236}">
                <a16:creationId xmlns:a16="http://schemas.microsoft.com/office/drawing/2014/main" id="{444D24BA-99FA-AB5A-EE8D-1C7504AF3FD5}"/>
              </a:ext>
            </a:extLst>
          </p:cNvPr>
          <p:cNvSpPr>
            <a:spLocks noEditPoints="1"/>
          </p:cNvSpPr>
          <p:nvPr/>
        </p:nvSpPr>
        <p:spPr bwMode="auto">
          <a:xfrm>
            <a:off x="2720975" y="2403475"/>
            <a:ext cx="388938" cy="315913"/>
          </a:xfrm>
          <a:custGeom>
            <a:avLst/>
            <a:gdLst>
              <a:gd name="T0" fmla="*/ 243 w 245"/>
              <a:gd name="T1" fmla="*/ 84 h 199"/>
              <a:gd name="T2" fmla="*/ 237 w 245"/>
              <a:gd name="T3" fmla="*/ 56 h 199"/>
              <a:gd name="T4" fmla="*/ 223 w 245"/>
              <a:gd name="T5" fmla="*/ 30 h 199"/>
              <a:gd name="T6" fmla="*/ 204 w 245"/>
              <a:gd name="T7" fmla="*/ 8 h 199"/>
              <a:gd name="T8" fmla="*/ 185 w 245"/>
              <a:gd name="T9" fmla="*/ 0 h 199"/>
              <a:gd name="T10" fmla="*/ 207 w 245"/>
              <a:gd name="T11" fmla="*/ 18 h 199"/>
              <a:gd name="T12" fmla="*/ 225 w 245"/>
              <a:gd name="T13" fmla="*/ 41 h 199"/>
              <a:gd name="T14" fmla="*/ 235 w 245"/>
              <a:gd name="T15" fmla="*/ 69 h 199"/>
              <a:gd name="T16" fmla="*/ 240 w 245"/>
              <a:gd name="T17" fmla="*/ 99 h 199"/>
              <a:gd name="T18" fmla="*/ 235 w 245"/>
              <a:gd name="T19" fmla="*/ 129 h 199"/>
              <a:gd name="T20" fmla="*/ 225 w 245"/>
              <a:gd name="T21" fmla="*/ 157 h 199"/>
              <a:gd name="T22" fmla="*/ 207 w 245"/>
              <a:gd name="T23" fmla="*/ 180 h 199"/>
              <a:gd name="T24" fmla="*/ 185 w 245"/>
              <a:gd name="T25" fmla="*/ 199 h 199"/>
              <a:gd name="T26" fmla="*/ 204 w 245"/>
              <a:gd name="T27" fmla="*/ 189 h 199"/>
              <a:gd name="T28" fmla="*/ 223 w 245"/>
              <a:gd name="T29" fmla="*/ 169 h 199"/>
              <a:gd name="T30" fmla="*/ 237 w 245"/>
              <a:gd name="T31" fmla="*/ 142 h 199"/>
              <a:gd name="T32" fmla="*/ 243 w 245"/>
              <a:gd name="T33" fmla="*/ 114 h 199"/>
              <a:gd name="T34" fmla="*/ 51 w 245"/>
              <a:gd name="T35" fmla="*/ 0 h 199"/>
              <a:gd name="T36" fmla="*/ 30 w 245"/>
              <a:gd name="T37" fmla="*/ 18 h 199"/>
              <a:gd name="T38" fmla="*/ 15 w 245"/>
              <a:gd name="T39" fmla="*/ 43 h 199"/>
              <a:gd name="T40" fmla="*/ 3 w 245"/>
              <a:gd name="T41" fmla="*/ 69 h 199"/>
              <a:gd name="T42" fmla="*/ 0 w 245"/>
              <a:gd name="T43" fmla="*/ 99 h 199"/>
              <a:gd name="T44" fmla="*/ 3 w 245"/>
              <a:gd name="T45" fmla="*/ 129 h 199"/>
              <a:gd name="T46" fmla="*/ 15 w 245"/>
              <a:gd name="T47" fmla="*/ 155 h 199"/>
              <a:gd name="T48" fmla="*/ 30 w 245"/>
              <a:gd name="T49" fmla="*/ 179 h 199"/>
              <a:gd name="T50" fmla="*/ 51 w 245"/>
              <a:gd name="T51" fmla="*/ 199 h 199"/>
              <a:gd name="T52" fmla="*/ 48 w 245"/>
              <a:gd name="T53" fmla="*/ 190 h 199"/>
              <a:gd name="T54" fmla="*/ 28 w 245"/>
              <a:gd name="T55" fmla="*/ 169 h 199"/>
              <a:gd name="T56" fmla="*/ 13 w 245"/>
              <a:gd name="T57" fmla="*/ 144 h 199"/>
              <a:gd name="T58" fmla="*/ 6 w 245"/>
              <a:gd name="T59" fmla="*/ 114 h 199"/>
              <a:gd name="T60" fmla="*/ 6 w 245"/>
              <a:gd name="T61" fmla="*/ 84 h 199"/>
              <a:gd name="T62" fmla="*/ 13 w 245"/>
              <a:gd name="T63" fmla="*/ 54 h 199"/>
              <a:gd name="T64" fmla="*/ 28 w 245"/>
              <a:gd name="T65" fmla="*/ 30 h 199"/>
              <a:gd name="T66" fmla="*/ 48 w 245"/>
              <a:gd name="T67" fmla="*/ 8 h 199"/>
              <a:gd name="T68" fmla="*/ 51 w 24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5" h="199">
                <a:moveTo>
                  <a:pt x="245" y="99"/>
                </a:moveTo>
                <a:lnTo>
                  <a:pt x="243" y="84"/>
                </a:lnTo>
                <a:lnTo>
                  <a:pt x="240" y="69"/>
                </a:lnTo>
                <a:lnTo>
                  <a:pt x="237" y="56"/>
                </a:lnTo>
                <a:lnTo>
                  <a:pt x="230" y="43"/>
                </a:lnTo>
                <a:lnTo>
                  <a:pt x="223" y="30"/>
                </a:lnTo>
                <a:lnTo>
                  <a:pt x="213" y="18"/>
                </a:lnTo>
                <a:lnTo>
                  <a:pt x="204" y="8"/>
                </a:lnTo>
                <a:lnTo>
                  <a:pt x="194" y="0"/>
                </a:lnTo>
                <a:lnTo>
                  <a:pt x="185" y="0"/>
                </a:lnTo>
                <a:lnTo>
                  <a:pt x="197" y="8"/>
                </a:lnTo>
                <a:lnTo>
                  <a:pt x="207" y="18"/>
                </a:lnTo>
                <a:lnTo>
                  <a:pt x="217" y="30"/>
                </a:lnTo>
                <a:lnTo>
                  <a:pt x="225" y="41"/>
                </a:lnTo>
                <a:lnTo>
                  <a:pt x="230" y="54"/>
                </a:lnTo>
                <a:lnTo>
                  <a:pt x="235" y="69"/>
                </a:lnTo>
                <a:lnTo>
                  <a:pt x="238" y="84"/>
                </a:lnTo>
                <a:lnTo>
                  <a:pt x="240" y="99"/>
                </a:lnTo>
                <a:lnTo>
                  <a:pt x="238" y="114"/>
                </a:lnTo>
                <a:lnTo>
                  <a:pt x="235" y="129"/>
                </a:lnTo>
                <a:lnTo>
                  <a:pt x="230" y="144"/>
                </a:lnTo>
                <a:lnTo>
                  <a:pt x="225" y="157"/>
                </a:lnTo>
                <a:lnTo>
                  <a:pt x="217" y="169"/>
                </a:lnTo>
                <a:lnTo>
                  <a:pt x="207" y="180"/>
                </a:lnTo>
                <a:lnTo>
                  <a:pt x="197" y="190"/>
                </a:lnTo>
                <a:lnTo>
                  <a:pt x="185" y="199"/>
                </a:lnTo>
                <a:lnTo>
                  <a:pt x="194" y="199"/>
                </a:lnTo>
                <a:lnTo>
                  <a:pt x="204" y="189"/>
                </a:lnTo>
                <a:lnTo>
                  <a:pt x="213" y="179"/>
                </a:lnTo>
                <a:lnTo>
                  <a:pt x="223" y="169"/>
                </a:lnTo>
                <a:lnTo>
                  <a:pt x="230" y="155"/>
                </a:lnTo>
                <a:lnTo>
                  <a:pt x="237" y="142"/>
                </a:lnTo>
                <a:lnTo>
                  <a:pt x="240" y="129"/>
                </a:lnTo>
                <a:lnTo>
                  <a:pt x="243" y="114"/>
                </a:lnTo>
                <a:lnTo>
                  <a:pt x="245" y="99"/>
                </a:lnTo>
                <a:close/>
                <a:moveTo>
                  <a:pt x="51" y="0"/>
                </a:moveTo>
                <a:lnTo>
                  <a:pt x="40" y="8"/>
                </a:lnTo>
                <a:lnTo>
                  <a:pt x="30" y="18"/>
                </a:lnTo>
                <a:lnTo>
                  <a:pt x="21" y="30"/>
                </a:lnTo>
                <a:lnTo>
                  <a:pt x="15" y="43"/>
                </a:lnTo>
                <a:lnTo>
                  <a:pt x="8" y="56"/>
                </a:lnTo>
                <a:lnTo>
                  <a:pt x="3" y="69"/>
                </a:lnTo>
                <a:lnTo>
                  <a:pt x="2" y="84"/>
                </a:lnTo>
                <a:lnTo>
                  <a:pt x="0" y="99"/>
                </a:lnTo>
                <a:lnTo>
                  <a:pt x="2" y="114"/>
                </a:lnTo>
                <a:lnTo>
                  <a:pt x="3" y="129"/>
                </a:lnTo>
                <a:lnTo>
                  <a:pt x="8" y="142"/>
                </a:lnTo>
                <a:lnTo>
                  <a:pt x="15" y="155"/>
                </a:lnTo>
                <a:lnTo>
                  <a:pt x="21" y="169"/>
                </a:lnTo>
                <a:lnTo>
                  <a:pt x="30" y="179"/>
                </a:lnTo>
                <a:lnTo>
                  <a:pt x="40" y="189"/>
                </a:lnTo>
                <a:lnTo>
                  <a:pt x="51" y="199"/>
                </a:lnTo>
                <a:lnTo>
                  <a:pt x="59" y="199"/>
                </a:lnTo>
                <a:lnTo>
                  <a:pt x="48" y="190"/>
                </a:lnTo>
                <a:lnTo>
                  <a:pt x="38" y="180"/>
                </a:lnTo>
                <a:lnTo>
                  <a:pt x="28" y="169"/>
                </a:lnTo>
                <a:lnTo>
                  <a:pt x="20" y="157"/>
                </a:lnTo>
                <a:lnTo>
                  <a:pt x="13" y="144"/>
                </a:lnTo>
                <a:lnTo>
                  <a:pt x="8" y="129"/>
                </a:lnTo>
                <a:lnTo>
                  <a:pt x="6" y="114"/>
                </a:lnTo>
                <a:lnTo>
                  <a:pt x="5" y="99"/>
                </a:lnTo>
                <a:lnTo>
                  <a:pt x="6" y="84"/>
                </a:lnTo>
                <a:lnTo>
                  <a:pt x="8" y="69"/>
                </a:lnTo>
                <a:lnTo>
                  <a:pt x="13" y="54"/>
                </a:lnTo>
                <a:lnTo>
                  <a:pt x="20" y="41"/>
                </a:lnTo>
                <a:lnTo>
                  <a:pt x="28" y="30"/>
                </a:lnTo>
                <a:lnTo>
                  <a:pt x="38" y="18"/>
                </a:lnTo>
                <a:lnTo>
                  <a:pt x="48" y="8"/>
                </a:lnTo>
                <a:lnTo>
                  <a:pt x="59" y="0"/>
                </a:lnTo>
                <a:lnTo>
                  <a:pt x="51"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68" name="Freeform 1373">
            <a:extLst>
              <a:ext uri="{FF2B5EF4-FFF2-40B4-BE49-F238E27FC236}">
                <a16:creationId xmlns:a16="http://schemas.microsoft.com/office/drawing/2014/main" id="{B1754A4D-AC5A-1F32-2B02-5436548AF004}"/>
              </a:ext>
            </a:extLst>
          </p:cNvPr>
          <p:cNvSpPr>
            <a:spLocks noEditPoints="1"/>
          </p:cNvSpPr>
          <p:nvPr/>
        </p:nvSpPr>
        <p:spPr bwMode="auto">
          <a:xfrm>
            <a:off x="2725738" y="2403475"/>
            <a:ext cx="379413" cy="315913"/>
          </a:xfrm>
          <a:custGeom>
            <a:avLst/>
            <a:gdLst>
              <a:gd name="T0" fmla="*/ 239 w 239"/>
              <a:gd name="T1" fmla="*/ 84 h 199"/>
              <a:gd name="T2" fmla="*/ 230 w 239"/>
              <a:gd name="T3" fmla="*/ 54 h 199"/>
              <a:gd name="T4" fmla="*/ 217 w 239"/>
              <a:gd name="T5" fmla="*/ 30 h 199"/>
              <a:gd name="T6" fmla="*/ 197 w 239"/>
              <a:gd name="T7" fmla="*/ 8 h 199"/>
              <a:gd name="T8" fmla="*/ 177 w 239"/>
              <a:gd name="T9" fmla="*/ 0 h 199"/>
              <a:gd name="T10" fmla="*/ 201 w 239"/>
              <a:gd name="T11" fmla="*/ 18 h 199"/>
              <a:gd name="T12" fmla="*/ 219 w 239"/>
              <a:gd name="T13" fmla="*/ 41 h 199"/>
              <a:gd name="T14" fmla="*/ 230 w 239"/>
              <a:gd name="T15" fmla="*/ 68 h 199"/>
              <a:gd name="T16" fmla="*/ 234 w 239"/>
              <a:gd name="T17" fmla="*/ 99 h 199"/>
              <a:gd name="T18" fmla="*/ 230 w 239"/>
              <a:gd name="T19" fmla="*/ 129 h 199"/>
              <a:gd name="T20" fmla="*/ 219 w 239"/>
              <a:gd name="T21" fmla="*/ 157 h 199"/>
              <a:gd name="T22" fmla="*/ 201 w 239"/>
              <a:gd name="T23" fmla="*/ 180 h 199"/>
              <a:gd name="T24" fmla="*/ 177 w 239"/>
              <a:gd name="T25" fmla="*/ 199 h 199"/>
              <a:gd name="T26" fmla="*/ 197 w 239"/>
              <a:gd name="T27" fmla="*/ 190 h 199"/>
              <a:gd name="T28" fmla="*/ 217 w 239"/>
              <a:gd name="T29" fmla="*/ 169 h 199"/>
              <a:gd name="T30" fmla="*/ 230 w 239"/>
              <a:gd name="T31" fmla="*/ 142 h 199"/>
              <a:gd name="T32" fmla="*/ 239 w 239"/>
              <a:gd name="T33" fmla="*/ 114 h 199"/>
              <a:gd name="T34" fmla="*/ 53 w 239"/>
              <a:gd name="T35" fmla="*/ 0 h 199"/>
              <a:gd name="T36" fmla="*/ 30 w 239"/>
              <a:gd name="T37" fmla="*/ 18 h 199"/>
              <a:gd name="T38" fmla="*/ 13 w 239"/>
              <a:gd name="T39" fmla="*/ 41 h 199"/>
              <a:gd name="T40" fmla="*/ 3 w 239"/>
              <a:gd name="T41" fmla="*/ 69 h 199"/>
              <a:gd name="T42" fmla="*/ 0 w 239"/>
              <a:gd name="T43" fmla="*/ 99 h 199"/>
              <a:gd name="T44" fmla="*/ 3 w 239"/>
              <a:gd name="T45" fmla="*/ 129 h 199"/>
              <a:gd name="T46" fmla="*/ 13 w 239"/>
              <a:gd name="T47" fmla="*/ 155 h 199"/>
              <a:gd name="T48" fmla="*/ 30 w 239"/>
              <a:gd name="T49" fmla="*/ 180 h 199"/>
              <a:gd name="T50" fmla="*/ 53 w 239"/>
              <a:gd name="T51" fmla="*/ 199 h 199"/>
              <a:gd name="T52" fmla="*/ 50 w 239"/>
              <a:gd name="T53" fmla="*/ 190 h 199"/>
              <a:gd name="T54" fmla="*/ 28 w 239"/>
              <a:gd name="T55" fmla="*/ 169 h 199"/>
              <a:gd name="T56" fmla="*/ 13 w 239"/>
              <a:gd name="T57" fmla="*/ 144 h 199"/>
              <a:gd name="T58" fmla="*/ 5 w 239"/>
              <a:gd name="T59" fmla="*/ 114 h 199"/>
              <a:gd name="T60" fmla="*/ 5 w 239"/>
              <a:gd name="T61" fmla="*/ 83 h 199"/>
              <a:gd name="T62" fmla="*/ 13 w 239"/>
              <a:gd name="T63" fmla="*/ 54 h 199"/>
              <a:gd name="T64" fmla="*/ 28 w 239"/>
              <a:gd name="T65" fmla="*/ 28 h 199"/>
              <a:gd name="T66" fmla="*/ 50 w 239"/>
              <a:gd name="T67" fmla="*/ 8 h 199"/>
              <a:gd name="T68" fmla="*/ 53 w 23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9" h="199">
                <a:moveTo>
                  <a:pt x="239" y="99"/>
                </a:moveTo>
                <a:lnTo>
                  <a:pt x="239" y="84"/>
                </a:lnTo>
                <a:lnTo>
                  <a:pt x="235" y="69"/>
                </a:lnTo>
                <a:lnTo>
                  <a:pt x="230" y="54"/>
                </a:lnTo>
                <a:lnTo>
                  <a:pt x="224" y="41"/>
                </a:lnTo>
                <a:lnTo>
                  <a:pt x="217" y="30"/>
                </a:lnTo>
                <a:lnTo>
                  <a:pt x="207" y="18"/>
                </a:lnTo>
                <a:lnTo>
                  <a:pt x="197" y="8"/>
                </a:lnTo>
                <a:lnTo>
                  <a:pt x="186" y="0"/>
                </a:lnTo>
                <a:lnTo>
                  <a:pt x="177" y="0"/>
                </a:lnTo>
                <a:lnTo>
                  <a:pt x="189" y="8"/>
                </a:lnTo>
                <a:lnTo>
                  <a:pt x="201" y="18"/>
                </a:lnTo>
                <a:lnTo>
                  <a:pt x="210" y="28"/>
                </a:lnTo>
                <a:lnTo>
                  <a:pt x="219" y="41"/>
                </a:lnTo>
                <a:lnTo>
                  <a:pt x="225" y="54"/>
                </a:lnTo>
                <a:lnTo>
                  <a:pt x="230" y="68"/>
                </a:lnTo>
                <a:lnTo>
                  <a:pt x="234" y="83"/>
                </a:lnTo>
                <a:lnTo>
                  <a:pt x="234" y="99"/>
                </a:lnTo>
                <a:lnTo>
                  <a:pt x="234" y="114"/>
                </a:lnTo>
                <a:lnTo>
                  <a:pt x="230" y="129"/>
                </a:lnTo>
                <a:lnTo>
                  <a:pt x="225" y="144"/>
                </a:lnTo>
                <a:lnTo>
                  <a:pt x="219" y="157"/>
                </a:lnTo>
                <a:lnTo>
                  <a:pt x="210" y="169"/>
                </a:lnTo>
                <a:lnTo>
                  <a:pt x="201" y="180"/>
                </a:lnTo>
                <a:lnTo>
                  <a:pt x="189" y="190"/>
                </a:lnTo>
                <a:lnTo>
                  <a:pt x="177" y="199"/>
                </a:lnTo>
                <a:lnTo>
                  <a:pt x="186" y="199"/>
                </a:lnTo>
                <a:lnTo>
                  <a:pt x="197" y="190"/>
                </a:lnTo>
                <a:lnTo>
                  <a:pt x="207" y="180"/>
                </a:lnTo>
                <a:lnTo>
                  <a:pt x="217" y="169"/>
                </a:lnTo>
                <a:lnTo>
                  <a:pt x="224" y="155"/>
                </a:lnTo>
                <a:lnTo>
                  <a:pt x="230" y="142"/>
                </a:lnTo>
                <a:lnTo>
                  <a:pt x="235" y="129"/>
                </a:lnTo>
                <a:lnTo>
                  <a:pt x="239" y="114"/>
                </a:lnTo>
                <a:lnTo>
                  <a:pt x="239" y="99"/>
                </a:lnTo>
                <a:close/>
                <a:moveTo>
                  <a:pt x="53" y="0"/>
                </a:moveTo>
                <a:lnTo>
                  <a:pt x="42" y="8"/>
                </a:lnTo>
                <a:lnTo>
                  <a:pt x="30" y="18"/>
                </a:lnTo>
                <a:lnTo>
                  <a:pt x="22" y="30"/>
                </a:lnTo>
                <a:lnTo>
                  <a:pt x="13" y="41"/>
                </a:lnTo>
                <a:lnTo>
                  <a:pt x="8" y="54"/>
                </a:lnTo>
                <a:lnTo>
                  <a:pt x="3" y="69"/>
                </a:lnTo>
                <a:lnTo>
                  <a:pt x="0" y="84"/>
                </a:lnTo>
                <a:lnTo>
                  <a:pt x="0" y="99"/>
                </a:lnTo>
                <a:lnTo>
                  <a:pt x="0" y="114"/>
                </a:lnTo>
                <a:lnTo>
                  <a:pt x="3" y="129"/>
                </a:lnTo>
                <a:lnTo>
                  <a:pt x="8" y="142"/>
                </a:lnTo>
                <a:lnTo>
                  <a:pt x="13" y="155"/>
                </a:lnTo>
                <a:lnTo>
                  <a:pt x="22" y="169"/>
                </a:lnTo>
                <a:lnTo>
                  <a:pt x="30" y="180"/>
                </a:lnTo>
                <a:lnTo>
                  <a:pt x="42" y="190"/>
                </a:lnTo>
                <a:lnTo>
                  <a:pt x="53" y="199"/>
                </a:lnTo>
                <a:lnTo>
                  <a:pt x="61" y="199"/>
                </a:lnTo>
                <a:lnTo>
                  <a:pt x="50" y="190"/>
                </a:lnTo>
                <a:lnTo>
                  <a:pt x="38" y="180"/>
                </a:lnTo>
                <a:lnTo>
                  <a:pt x="28" y="169"/>
                </a:lnTo>
                <a:lnTo>
                  <a:pt x="20" y="157"/>
                </a:lnTo>
                <a:lnTo>
                  <a:pt x="13" y="144"/>
                </a:lnTo>
                <a:lnTo>
                  <a:pt x="8" y="129"/>
                </a:lnTo>
                <a:lnTo>
                  <a:pt x="5" y="114"/>
                </a:lnTo>
                <a:lnTo>
                  <a:pt x="3" y="99"/>
                </a:lnTo>
                <a:lnTo>
                  <a:pt x="5" y="83"/>
                </a:lnTo>
                <a:lnTo>
                  <a:pt x="8" y="68"/>
                </a:lnTo>
                <a:lnTo>
                  <a:pt x="13" y="54"/>
                </a:lnTo>
                <a:lnTo>
                  <a:pt x="20" y="41"/>
                </a:lnTo>
                <a:lnTo>
                  <a:pt x="28" y="28"/>
                </a:lnTo>
                <a:lnTo>
                  <a:pt x="38" y="18"/>
                </a:lnTo>
                <a:lnTo>
                  <a:pt x="50" y="8"/>
                </a:lnTo>
                <a:lnTo>
                  <a:pt x="61" y="0"/>
                </a:lnTo>
                <a:lnTo>
                  <a:pt x="53"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69" name="Freeform 1374">
            <a:extLst>
              <a:ext uri="{FF2B5EF4-FFF2-40B4-BE49-F238E27FC236}">
                <a16:creationId xmlns:a16="http://schemas.microsoft.com/office/drawing/2014/main" id="{8AB296F1-D029-839B-2D2C-F12539AF014E}"/>
              </a:ext>
            </a:extLst>
          </p:cNvPr>
          <p:cNvSpPr>
            <a:spLocks noEditPoints="1"/>
          </p:cNvSpPr>
          <p:nvPr/>
        </p:nvSpPr>
        <p:spPr bwMode="auto">
          <a:xfrm>
            <a:off x="2728913" y="2403475"/>
            <a:ext cx="373063" cy="315913"/>
          </a:xfrm>
          <a:custGeom>
            <a:avLst/>
            <a:gdLst>
              <a:gd name="T0" fmla="*/ 233 w 235"/>
              <a:gd name="T1" fmla="*/ 84 h 199"/>
              <a:gd name="T2" fmla="*/ 225 w 235"/>
              <a:gd name="T3" fmla="*/ 54 h 199"/>
              <a:gd name="T4" fmla="*/ 212 w 235"/>
              <a:gd name="T5" fmla="*/ 30 h 199"/>
              <a:gd name="T6" fmla="*/ 192 w 235"/>
              <a:gd name="T7" fmla="*/ 8 h 199"/>
              <a:gd name="T8" fmla="*/ 170 w 235"/>
              <a:gd name="T9" fmla="*/ 0 h 199"/>
              <a:gd name="T10" fmla="*/ 194 w 235"/>
              <a:gd name="T11" fmla="*/ 16 h 199"/>
              <a:gd name="T12" fmla="*/ 213 w 235"/>
              <a:gd name="T13" fmla="*/ 40 h 199"/>
              <a:gd name="T14" fmla="*/ 225 w 235"/>
              <a:gd name="T15" fmla="*/ 68 h 199"/>
              <a:gd name="T16" fmla="*/ 230 w 235"/>
              <a:gd name="T17" fmla="*/ 99 h 199"/>
              <a:gd name="T18" fmla="*/ 225 w 235"/>
              <a:gd name="T19" fmla="*/ 131 h 199"/>
              <a:gd name="T20" fmla="*/ 213 w 235"/>
              <a:gd name="T21" fmla="*/ 157 h 199"/>
              <a:gd name="T22" fmla="*/ 194 w 235"/>
              <a:gd name="T23" fmla="*/ 180 h 199"/>
              <a:gd name="T24" fmla="*/ 170 w 235"/>
              <a:gd name="T25" fmla="*/ 199 h 199"/>
              <a:gd name="T26" fmla="*/ 192 w 235"/>
              <a:gd name="T27" fmla="*/ 190 h 199"/>
              <a:gd name="T28" fmla="*/ 212 w 235"/>
              <a:gd name="T29" fmla="*/ 169 h 199"/>
              <a:gd name="T30" fmla="*/ 225 w 235"/>
              <a:gd name="T31" fmla="*/ 144 h 199"/>
              <a:gd name="T32" fmla="*/ 233 w 235"/>
              <a:gd name="T33" fmla="*/ 114 h 199"/>
              <a:gd name="T34" fmla="*/ 54 w 235"/>
              <a:gd name="T35" fmla="*/ 0 h 199"/>
              <a:gd name="T36" fmla="*/ 33 w 235"/>
              <a:gd name="T37" fmla="*/ 18 h 199"/>
              <a:gd name="T38" fmla="*/ 15 w 235"/>
              <a:gd name="T39" fmla="*/ 41 h 199"/>
              <a:gd name="T40" fmla="*/ 3 w 235"/>
              <a:gd name="T41" fmla="*/ 69 h 199"/>
              <a:gd name="T42" fmla="*/ 0 w 235"/>
              <a:gd name="T43" fmla="*/ 99 h 199"/>
              <a:gd name="T44" fmla="*/ 3 w 235"/>
              <a:gd name="T45" fmla="*/ 129 h 199"/>
              <a:gd name="T46" fmla="*/ 15 w 235"/>
              <a:gd name="T47" fmla="*/ 157 h 199"/>
              <a:gd name="T48" fmla="*/ 33 w 235"/>
              <a:gd name="T49" fmla="*/ 180 h 199"/>
              <a:gd name="T50" fmla="*/ 54 w 235"/>
              <a:gd name="T51" fmla="*/ 199 h 199"/>
              <a:gd name="T52" fmla="*/ 51 w 235"/>
              <a:gd name="T53" fmla="*/ 190 h 199"/>
              <a:gd name="T54" fmla="*/ 30 w 235"/>
              <a:gd name="T55" fmla="*/ 170 h 199"/>
              <a:gd name="T56" fmla="*/ 15 w 235"/>
              <a:gd name="T57" fmla="*/ 144 h 199"/>
              <a:gd name="T58" fmla="*/ 6 w 235"/>
              <a:gd name="T59" fmla="*/ 114 h 199"/>
              <a:gd name="T60" fmla="*/ 6 w 235"/>
              <a:gd name="T61" fmla="*/ 83 h 199"/>
              <a:gd name="T62" fmla="*/ 15 w 235"/>
              <a:gd name="T63" fmla="*/ 53 h 199"/>
              <a:gd name="T64" fmla="*/ 30 w 235"/>
              <a:gd name="T65" fmla="*/ 28 h 199"/>
              <a:gd name="T66" fmla="*/ 51 w 235"/>
              <a:gd name="T67" fmla="*/ 8 h 199"/>
              <a:gd name="T68" fmla="*/ 54 w 23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5" h="199">
                <a:moveTo>
                  <a:pt x="235" y="99"/>
                </a:moveTo>
                <a:lnTo>
                  <a:pt x="233" y="84"/>
                </a:lnTo>
                <a:lnTo>
                  <a:pt x="230" y="69"/>
                </a:lnTo>
                <a:lnTo>
                  <a:pt x="225" y="54"/>
                </a:lnTo>
                <a:lnTo>
                  <a:pt x="220" y="41"/>
                </a:lnTo>
                <a:lnTo>
                  <a:pt x="212" y="30"/>
                </a:lnTo>
                <a:lnTo>
                  <a:pt x="202" y="18"/>
                </a:lnTo>
                <a:lnTo>
                  <a:pt x="192" y="8"/>
                </a:lnTo>
                <a:lnTo>
                  <a:pt x="180" y="0"/>
                </a:lnTo>
                <a:lnTo>
                  <a:pt x="170" y="0"/>
                </a:lnTo>
                <a:lnTo>
                  <a:pt x="182" y="8"/>
                </a:lnTo>
                <a:lnTo>
                  <a:pt x="194" y="16"/>
                </a:lnTo>
                <a:lnTo>
                  <a:pt x="205" y="28"/>
                </a:lnTo>
                <a:lnTo>
                  <a:pt x="213" y="40"/>
                </a:lnTo>
                <a:lnTo>
                  <a:pt x="220" y="53"/>
                </a:lnTo>
                <a:lnTo>
                  <a:pt x="225" y="68"/>
                </a:lnTo>
                <a:lnTo>
                  <a:pt x="228" y="83"/>
                </a:lnTo>
                <a:lnTo>
                  <a:pt x="230" y="99"/>
                </a:lnTo>
                <a:lnTo>
                  <a:pt x="228" y="114"/>
                </a:lnTo>
                <a:lnTo>
                  <a:pt x="225" y="131"/>
                </a:lnTo>
                <a:lnTo>
                  <a:pt x="220" y="144"/>
                </a:lnTo>
                <a:lnTo>
                  <a:pt x="213" y="157"/>
                </a:lnTo>
                <a:lnTo>
                  <a:pt x="205" y="170"/>
                </a:lnTo>
                <a:lnTo>
                  <a:pt x="194" y="180"/>
                </a:lnTo>
                <a:lnTo>
                  <a:pt x="182" y="190"/>
                </a:lnTo>
                <a:lnTo>
                  <a:pt x="170" y="199"/>
                </a:lnTo>
                <a:lnTo>
                  <a:pt x="180" y="199"/>
                </a:lnTo>
                <a:lnTo>
                  <a:pt x="192" y="190"/>
                </a:lnTo>
                <a:lnTo>
                  <a:pt x="202" y="180"/>
                </a:lnTo>
                <a:lnTo>
                  <a:pt x="212" y="169"/>
                </a:lnTo>
                <a:lnTo>
                  <a:pt x="220" y="157"/>
                </a:lnTo>
                <a:lnTo>
                  <a:pt x="225" y="144"/>
                </a:lnTo>
                <a:lnTo>
                  <a:pt x="230" y="129"/>
                </a:lnTo>
                <a:lnTo>
                  <a:pt x="233" y="114"/>
                </a:lnTo>
                <a:lnTo>
                  <a:pt x="235" y="99"/>
                </a:lnTo>
                <a:close/>
                <a:moveTo>
                  <a:pt x="54" y="0"/>
                </a:moveTo>
                <a:lnTo>
                  <a:pt x="43" y="8"/>
                </a:lnTo>
                <a:lnTo>
                  <a:pt x="33" y="18"/>
                </a:lnTo>
                <a:lnTo>
                  <a:pt x="23" y="30"/>
                </a:lnTo>
                <a:lnTo>
                  <a:pt x="15" y="41"/>
                </a:lnTo>
                <a:lnTo>
                  <a:pt x="8" y="54"/>
                </a:lnTo>
                <a:lnTo>
                  <a:pt x="3" y="69"/>
                </a:lnTo>
                <a:lnTo>
                  <a:pt x="1" y="84"/>
                </a:lnTo>
                <a:lnTo>
                  <a:pt x="0" y="99"/>
                </a:lnTo>
                <a:lnTo>
                  <a:pt x="1" y="114"/>
                </a:lnTo>
                <a:lnTo>
                  <a:pt x="3" y="129"/>
                </a:lnTo>
                <a:lnTo>
                  <a:pt x="8" y="144"/>
                </a:lnTo>
                <a:lnTo>
                  <a:pt x="15" y="157"/>
                </a:lnTo>
                <a:lnTo>
                  <a:pt x="23" y="169"/>
                </a:lnTo>
                <a:lnTo>
                  <a:pt x="33" y="180"/>
                </a:lnTo>
                <a:lnTo>
                  <a:pt x="43" y="190"/>
                </a:lnTo>
                <a:lnTo>
                  <a:pt x="54" y="199"/>
                </a:lnTo>
                <a:lnTo>
                  <a:pt x="64" y="199"/>
                </a:lnTo>
                <a:lnTo>
                  <a:pt x="51" y="190"/>
                </a:lnTo>
                <a:lnTo>
                  <a:pt x="40" y="180"/>
                </a:lnTo>
                <a:lnTo>
                  <a:pt x="30" y="170"/>
                </a:lnTo>
                <a:lnTo>
                  <a:pt x="21" y="157"/>
                </a:lnTo>
                <a:lnTo>
                  <a:pt x="15" y="144"/>
                </a:lnTo>
                <a:lnTo>
                  <a:pt x="10" y="131"/>
                </a:lnTo>
                <a:lnTo>
                  <a:pt x="6" y="114"/>
                </a:lnTo>
                <a:lnTo>
                  <a:pt x="5" y="99"/>
                </a:lnTo>
                <a:lnTo>
                  <a:pt x="6" y="83"/>
                </a:lnTo>
                <a:lnTo>
                  <a:pt x="10" y="68"/>
                </a:lnTo>
                <a:lnTo>
                  <a:pt x="15" y="53"/>
                </a:lnTo>
                <a:lnTo>
                  <a:pt x="21" y="40"/>
                </a:lnTo>
                <a:lnTo>
                  <a:pt x="30" y="28"/>
                </a:lnTo>
                <a:lnTo>
                  <a:pt x="40" y="16"/>
                </a:lnTo>
                <a:lnTo>
                  <a:pt x="51" y="8"/>
                </a:lnTo>
                <a:lnTo>
                  <a:pt x="64" y="0"/>
                </a:lnTo>
                <a:lnTo>
                  <a:pt x="54"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70" name="Freeform 1375">
            <a:extLst>
              <a:ext uri="{FF2B5EF4-FFF2-40B4-BE49-F238E27FC236}">
                <a16:creationId xmlns:a16="http://schemas.microsoft.com/office/drawing/2014/main" id="{FF91C967-0451-117D-F022-D9542BA18EFC}"/>
              </a:ext>
            </a:extLst>
          </p:cNvPr>
          <p:cNvSpPr>
            <a:spLocks noEditPoints="1"/>
          </p:cNvSpPr>
          <p:nvPr/>
        </p:nvSpPr>
        <p:spPr bwMode="auto">
          <a:xfrm>
            <a:off x="2730500" y="2403475"/>
            <a:ext cx="366713" cy="315913"/>
          </a:xfrm>
          <a:custGeom>
            <a:avLst/>
            <a:gdLst>
              <a:gd name="T0" fmla="*/ 231 w 231"/>
              <a:gd name="T1" fmla="*/ 83 h 199"/>
              <a:gd name="T2" fmla="*/ 222 w 231"/>
              <a:gd name="T3" fmla="*/ 54 h 199"/>
              <a:gd name="T4" fmla="*/ 207 w 231"/>
              <a:gd name="T5" fmla="*/ 28 h 199"/>
              <a:gd name="T6" fmla="*/ 186 w 231"/>
              <a:gd name="T7" fmla="*/ 8 h 199"/>
              <a:gd name="T8" fmla="*/ 164 w 231"/>
              <a:gd name="T9" fmla="*/ 0 h 199"/>
              <a:gd name="T10" fmla="*/ 189 w 231"/>
              <a:gd name="T11" fmla="*/ 16 h 199"/>
              <a:gd name="T12" fmla="*/ 209 w 231"/>
              <a:gd name="T13" fmla="*/ 40 h 199"/>
              <a:gd name="T14" fmla="*/ 222 w 231"/>
              <a:gd name="T15" fmla="*/ 68 h 199"/>
              <a:gd name="T16" fmla="*/ 226 w 231"/>
              <a:gd name="T17" fmla="*/ 99 h 199"/>
              <a:gd name="T18" fmla="*/ 222 w 231"/>
              <a:gd name="T19" fmla="*/ 131 h 199"/>
              <a:gd name="T20" fmla="*/ 209 w 231"/>
              <a:gd name="T21" fmla="*/ 159 h 199"/>
              <a:gd name="T22" fmla="*/ 189 w 231"/>
              <a:gd name="T23" fmla="*/ 182 h 199"/>
              <a:gd name="T24" fmla="*/ 164 w 231"/>
              <a:gd name="T25" fmla="*/ 199 h 199"/>
              <a:gd name="T26" fmla="*/ 186 w 231"/>
              <a:gd name="T27" fmla="*/ 190 h 199"/>
              <a:gd name="T28" fmla="*/ 207 w 231"/>
              <a:gd name="T29" fmla="*/ 169 h 199"/>
              <a:gd name="T30" fmla="*/ 222 w 231"/>
              <a:gd name="T31" fmla="*/ 144 h 199"/>
              <a:gd name="T32" fmla="*/ 231 w 231"/>
              <a:gd name="T33" fmla="*/ 114 h 199"/>
              <a:gd name="T34" fmla="*/ 58 w 231"/>
              <a:gd name="T35" fmla="*/ 0 h 199"/>
              <a:gd name="T36" fmla="*/ 35 w 231"/>
              <a:gd name="T37" fmla="*/ 18 h 199"/>
              <a:gd name="T38" fmla="*/ 17 w 231"/>
              <a:gd name="T39" fmla="*/ 41 h 199"/>
              <a:gd name="T40" fmla="*/ 5 w 231"/>
              <a:gd name="T41" fmla="*/ 68 h 199"/>
              <a:gd name="T42" fmla="*/ 0 w 231"/>
              <a:gd name="T43" fmla="*/ 99 h 199"/>
              <a:gd name="T44" fmla="*/ 5 w 231"/>
              <a:gd name="T45" fmla="*/ 129 h 199"/>
              <a:gd name="T46" fmla="*/ 17 w 231"/>
              <a:gd name="T47" fmla="*/ 157 h 199"/>
              <a:gd name="T48" fmla="*/ 35 w 231"/>
              <a:gd name="T49" fmla="*/ 180 h 199"/>
              <a:gd name="T50" fmla="*/ 58 w 231"/>
              <a:gd name="T51" fmla="*/ 199 h 199"/>
              <a:gd name="T52" fmla="*/ 55 w 231"/>
              <a:gd name="T53" fmla="*/ 190 h 199"/>
              <a:gd name="T54" fmla="*/ 32 w 231"/>
              <a:gd name="T55" fmla="*/ 170 h 199"/>
              <a:gd name="T56" fmla="*/ 15 w 231"/>
              <a:gd name="T57" fmla="*/ 146 h 199"/>
              <a:gd name="T58" fmla="*/ 7 w 231"/>
              <a:gd name="T59" fmla="*/ 116 h 199"/>
              <a:gd name="T60" fmla="*/ 7 w 231"/>
              <a:gd name="T61" fmla="*/ 83 h 199"/>
              <a:gd name="T62" fmla="*/ 15 w 231"/>
              <a:gd name="T63" fmla="*/ 53 h 199"/>
              <a:gd name="T64" fmla="*/ 32 w 231"/>
              <a:gd name="T65" fmla="*/ 28 h 199"/>
              <a:gd name="T66" fmla="*/ 55 w 231"/>
              <a:gd name="T67" fmla="*/ 6 h 199"/>
              <a:gd name="T68" fmla="*/ 58 w 23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1" h="199">
                <a:moveTo>
                  <a:pt x="231" y="99"/>
                </a:moveTo>
                <a:lnTo>
                  <a:pt x="231" y="83"/>
                </a:lnTo>
                <a:lnTo>
                  <a:pt x="227" y="68"/>
                </a:lnTo>
                <a:lnTo>
                  <a:pt x="222" y="54"/>
                </a:lnTo>
                <a:lnTo>
                  <a:pt x="216" y="41"/>
                </a:lnTo>
                <a:lnTo>
                  <a:pt x="207" y="28"/>
                </a:lnTo>
                <a:lnTo>
                  <a:pt x="198" y="18"/>
                </a:lnTo>
                <a:lnTo>
                  <a:pt x="186" y="8"/>
                </a:lnTo>
                <a:lnTo>
                  <a:pt x="174" y="0"/>
                </a:lnTo>
                <a:lnTo>
                  <a:pt x="164" y="0"/>
                </a:lnTo>
                <a:lnTo>
                  <a:pt x="178" y="6"/>
                </a:lnTo>
                <a:lnTo>
                  <a:pt x="189" y="16"/>
                </a:lnTo>
                <a:lnTo>
                  <a:pt x="199" y="28"/>
                </a:lnTo>
                <a:lnTo>
                  <a:pt x="209" y="40"/>
                </a:lnTo>
                <a:lnTo>
                  <a:pt x="216" y="53"/>
                </a:lnTo>
                <a:lnTo>
                  <a:pt x="222" y="68"/>
                </a:lnTo>
                <a:lnTo>
                  <a:pt x="226" y="83"/>
                </a:lnTo>
                <a:lnTo>
                  <a:pt x="226" y="99"/>
                </a:lnTo>
                <a:lnTo>
                  <a:pt x="226" y="116"/>
                </a:lnTo>
                <a:lnTo>
                  <a:pt x="222" y="131"/>
                </a:lnTo>
                <a:lnTo>
                  <a:pt x="216" y="146"/>
                </a:lnTo>
                <a:lnTo>
                  <a:pt x="209" y="159"/>
                </a:lnTo>
                <a:lnTo>
                  <a:pt x="199" y="170"/>
                </a:lnTo>
                <a:lnTo>
                  <a:pt x="189" y="182"/>
                </a:lnTo>
                <a:lnTo>
                  <a:pt x="178" y="190"/>
                </a:lnTo>
                <a:lnTo>
                  <a:pt x="164" y="199"/>
                </a:lnTo>
                <a:lnTo>
                  <a:pt x="174" y="199"/>
                </a:lnTo>
                <a:lnTo>
                  <a:pt x="186" y="190"/>
                </a:lnTo>
                <a:lnTo>
                  <a:pt x="198" y="180"/>
                </a:lnTo>
                <a:lnTo>
                  <a:pt x="207" y="169"/>
                </a:lnTo>
                <a:lnTo>
                  <a:pt x="216" y="157"/>
                </a:lnTo>
                <a:lnTo>
                  <a:pt x="222" y="144"/>
                </a:lnTo>
                <a:lnTo>
                  <a:pt x="227" y="129"/>
                </a:lnTo>
                <a:lnTo>
                  <a:pt x="231" y="114"/>
                </a:lnTo>
                <a:lnTo>
                  <a:pt x="231" y="99"/>
                </a:lnTo>
                <a:close/>
                <a:moveTo>
                  <a:pt x="58" y="0"/>
                </a:moveTo>
                <a:lnTo>
                  <a:pt x="47" y="8"/>
                </a:lnTo>
                <a:lnTo>
                  <a:pt x="35" y="18"/>
                </a:lnTo>
                <a:lnTo>
                  <a:pt x="25" y="28"/>
                </a:lnTo>
                <a:lnTo>
                  <a:pt x="17" y="41"/>
                </a:lnTo>
                <a:lnTo>
                  <a:pt x="10" y="54"/>
                </a:lnTo>
                <a:lnTo>
                  <a:pt x="5" y="68"/>
                </a:lnTo>
                <a:lnTo>
                  <a:pt x="2" y="83"/>
                </a:lnTo>
                <a:lnTo>
                  <a:pt x="0" y="99"/>
                </a:lnTo>
                <a:lnTo>
                  <a:pt x="2" y="114"/>
                </a:lnTo>
                <a:lnTo>
                  <a:pt x="5" y="129"/>
                </a:lnTo>
                <a:lnTo>
                  <a:pt x="10" y="144"/>
                </a:lnTo>
                <a:lnTo>
                  <a:pt x="17" y="157"/>
                </a:lnTo>
                <a:lnTo>
                  <a:pt x="25" y="169"/>
                </a:lnTo>
                <a:lnTo>
                  <a:pt x="35" y="180"/>
                </a:lnTo>
                <a:lnTo>
                  <a:pt x="47" y="190"/>
                </a:lnTo>
                <a:lnTo>
                  <a:pt x="58" y="199"/>
                </a:lnTo>
                <a:lnTo>
                  <a:pt x="68" y="199"/>
                </a:lnTo>
                <a:lnTo>
                  <a:pt x="55" y="190"/>
                </a:lnTo>
                <a:lnTo>
                  <a:pt x="44" y="182"/>
                </a:lnTo>
                <a:lnTo>
                  <a:pt x="32" y="170"/>
                </a:lnTo>
                <a:lnTo>
                  <a:pt x="24" y="159"/>
                </a:lnTo>
                <a:lnTo>
                  <a:pt x="15" y="146"/>
                </a:lnTo>
                <a:lnTo>
                  <a:pt x="10" y="131"/>
                </a:lnTo>
                <a:lnTo>
                  <a:pt x="7" y="116"/>
                </a:lnTo>
                <a:lnTo>
                  <a:pt x="5" y="99"/>
                </a:lnTo>
                <a:lnTo>
                  <a:pt x="7" y="83"/>
                </a:lnTo>
                <a:lnTo>
                  <a:pt x="10" y="68"/>
                </a:lnTo>
                <a:lnTo>
                  <a:pt x="15" y="53"/>
                </a:lnTo>
                <a:lnTo>
                  <a:pt x="24" y="40"/>
                </a:lnTo>
                <a:lnTo>
                  <a:pt x="32" y="28"/>
                </a:lnTo>
                <a:lnTo>
                  <a:pt x="44" y="16"/>
                </a:lnTo>
                <a:lnTo>
                  <a:pt x="55" y="6"/>
                </a:lnTo>
                <a:lnTo>
                  <a:pt x="68" y="0"/>
                </a:lnTo>
                <a:lnTo>
                  <a:pt x="58"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71" name="Freeform 1376">
            <a:extLst>
              <a:ext uri="{FF2B5EF4-FFF2-40B4-BE49-F238E27FC236}">
                <a16:creationId xmlns:a16="http://schemas.microsoft.com/office/drawing/2014/main" id="{65F71A3B-5888-AD6B-7B27-B0253ADA8BBD}"/>
              </a:ext>
            </a:extLst>
          </p:cNvPr>
          <p:cNvSpPr>
            <a:spLocks noEditPoints="1"/>
          </p:cNvSpPr>
          <p:nvPr/>
        </p:nvSpPr>
        <p:spPr bwMode="auto">
          <a:xfrm>
            <a:off x="2736850" y="2403475"/>
            <a:ext cx="357188" cy="315913"/>
          </a:xfrm>
          <a:custGeom>
            <a:avLst/>
            <a:gdLst>
              <a:gd name="T0" fmla="*/ 223 w 225"/>
              <a:gd name="T1" fmla="*/ 83 h 199"/>
              <a:gd name="T2" fmla="*/ 215 w 225"/>
              <a:gd name="T3" fmla="*/ 53 h 199"/>
              <a:gd name="T4" fmla="*/ 200 w 225"/>
              <a:gd name="T5" fmla="*/ 28 h 199"/>
              <a:gd name="T6" fmla="*/ 177 w 225"/>
              <a:gd name="T7" fmla="*/ 8 h 199"/>
              <a:gd name="T8" fmla="*/ 154 w 225"/>
              <a:gd name="T9" fmla="*/ 0 h 199"/>
              <a:gd name="T10" fmla="*/ 180 w 225"/>
              <a:gd name="T11" fmla="*/ 16 h 199"/>
              <a:gd name="T12" fmla="*/ 202 w 225"/>
              <a:gd name="T13" fmla="*/ 38 h 199"/>
              <a:gd name="T14" fmla="*/ 215 w 225"/>
              <a:gd name="T15" fmla="*/ 68 h 199"/>
              <a:gd name="T16" fmla="*/ 220 w 225"/>
              <a:gd name="T17" fmla="*/ 99 h 199"/>
              <a:gd name="T18" fmla="*/ 215 w 225"/>
              <a:gd name="T19" fmla="*/ 131 h 199"/>
              <a:gd name="T20" fmla="*/ 202 w 225"/>
              <a:gd name="T21" fmla="*/ 159 h 199"/>
              <a:gd name="T22" fmla="*/ 180 w 225"/>
              <a:gd name="T23" fmla="*/ 182 h 199"/>
              <a:gd name="T24" fmla="*/ 154 w 225"/>
              <a:gd name="T25" fmla="*/ 199 h 199"/>
              <a:gd name="T26" fmla="*/ 177 w 225"/>
              <a:gd name="T27" fmla="*/ 190 h 199"/>
              <a:gd name="T28" fmla="*/ 200 w 225"/>
              <a:gd name="T29" fmla="*/ 170 h 199"/>
              <a:gd name="T30" fmla="*/ 215 w 225"/>
              <a:gd name="T31" fmla="*/ 144 h 199"/>
              <a:gd name="T32" fmla="*/ 223 w 225"/>
              <a:gd name="T33" fmla="*/ 114 h 199"/>
              <a:gd name="T34" fmla="*/ 59 w 225"/>
              <a:gd name="T35" fmla="*/ 0 h 199"/>
              <a:gd name="T36" fmla="*/ 35 w 225"/>
              <a:gd name="T37" fmla="*/ 16 h 199"/>
              <a:gd name="T38" fmla="*/ 16 w 225"/>
              <a:gd name="T39" fmla="*/ 40 h 199"/>
              <a:gd name="T40" fmla="*/ 5 w 225"/>
              <a:gd name="T41" fmla="*/ 68 h 199"/>
              <a:gd name="T42" fmla="*/ 0 w 225"/>
              <a:gd name="T43" fmla="*/ 99 h 199"/>
              <a:gd name="T44" fmla="*/ 5 w 225"/>
              <a:gd name="T45" fmla="*/ 131 h 199"/>
              <a:gd name="T46" fmla="*/ 16 w 225"/>
              <a:gd name="T47" fmla="*/ 157 h 199"/>
              <a:gd name="T48" fmla="*/ 35 w 225"/>
              <a:gd name="T49" fmla="*/ 180 h 199"/>
              <a:gd name="T50" fmla="*/ 59 w 225"/>
              <a:gd name="T51" fmla="*/ 199 h 199"/>
              <a:gd name="T52" fmla="*/ 56 w 225"/>
              <a:gd name="T53" fmla="*/ 192 h 199"/>
              <a:gd name="T54" fmla="*/ 33 w 225"/>
              <a:gd name="T55" fmla="*/ 172 h 199"/>
              <a:gd name="T56" fmla="*/ 15 w 225"/>
              <a:gd name="T57" fmla="*/ 146 h 199"/>
              <a:gd name="T58" fmla="*/ 6 w 225"/>
              <a:gd name="T59" fmla="*/ 116 h 199"/>
              <a:gd name="T60" fmla="*/ 6 w 225"/>
              <a:gd name="T61" fmla="*/ 83 h 199"/>
              <a:gd name="T62" fmla="*/ 15 w 225"/>
              <a:gd name="T63" fmla="*/ 53 h 199"/>
              <a:gd name="T64" fmla="*/ 33 w 225"/>
              <a:gd name="T65" fmla="*/ 26 h 199"/>
              <a:gd name="T66" fmla="*/ 56 w 225"/>
              <a:gd name="T67" fmla="*/ 6 h 199"/>
              <a:gd name="T68" fmla="*/ 59 w 22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5" h="199">
                <a:moveTo>
                  <a:pt x="225" y="99"/>
                </a:moveTo>
                <a:lnTo>
                  <a:pt x="223" y="83"/>
                </a:lnTo>
                <a:lnTo>
                  <a:pt x="220" y="68"/>
                </a:lnTo>
                <a:lnTo>
                  <a:pt x="215" y="53"/>
                </a:lnTo>
                <a:lnTo>
                  <a:pt x="208" y="40"/>
                </a:lnTo>
                <a:lnTo>
                  <a:pt x="200" y="28"/>
                </a:lnTo>
                <a:lnTo>
                  <a:pt x="189" y="16"/>
                </a:lnTo>
                <a:lnTo>
                  <a:pt x="177" y="8"/>
                </a:lnTo>
                <a:lnTo>
                  <a:pt x="165" y="0"/>
                </a:lnTo>
                <a:lnTo>
                  <a:pt x="154" y="0"/>
                </a:lnTo>
                <a:lnTo>
                  <a:pt x="167" y="6"/>
                </a:lnTo>
                <a:lnTo>
                  <a:pt x="180" y="16"/>
                </a:lnTo>
                <a:lnTo>
                  <a:pt x="192" y="26"/>
                </a:lnTo>
                <a:lnTo>
                  <a:pt x="202" y="38"/>
                </a:lnTo>
                <a:lnTo>
                  <a:pt x="208" y="53"/>
                </a:lnTo>
                <a:lnTo>
                  <a:pt x="215" y="68"/>
                </a:lnTo>
                <a:lnTo>
                  <a:pt x="218" y="83"/>
                </a:lnTo>
                <a:lnTo>
                  <a:pt x="220" y="99"/>
                </a:lnTo>
                <a:lnTo>
                  <a:pt x="218" y="116"/>
                </a:lnTo>
                <a:lnTo>
                  <a:pt x="215" y="131"/>
                </a:lnTo>
                <a:lnTo>
                  <a:pt x="208" y="146"/>
                </a:lnTo>
                <a:lnTo>
                  <a:pt x="202" y="159"/>
                </a:lnTo>
                <a:lnTo>
                  <a:pt x="192" y="172"/>
                </a:lnTo>
                <a:lnTo>
                  <a:pt x="180" y="182"/>
                </a:lnTo>
                <a:lnTo>
                  <a:pt x="167" y="192"/>
                </a:lnTo>
                <a:lnTo>
                  <a:pt x="154" y="199"/>
                </a:lnTo>
                <a:lnTo>
                  <a:pt x="165" y="199"/>
                </a:lnTo>
                <a:lnTo>
                  <a:pt x="177" y="190"/>
                </a:lnTo>
                <a:lnTo>
                  <a:pt x="189" y="180"/>
                </a:lnTo>
                <a:lnTo>
                  <a:pt x="200" y="170"/>
                </a:lnTo>
                <a:lnTo>
                  <a:pt x="208" y="157"/>
                </a:lnTo>
                <a:lnTo>
                  <a:pt x="215" y="144"/>
                </a:lnTo>
                <a:lnTo>
                  <a:pt x="220" y="131"/>
                </a:lnTo>
                <a:lnTo>
                  <a:pt x="223" y="114"/>
                </a:lnTo>
                <a:lnTo>
                  <a:pt x="225" y="99"/>
                </a:lnTo>
                <a:close/>
                <a:moveTo>
                  <a:pt x="59" y="0"/>
                </a:moveTo>
                <a:lnTo>
                  <a:pt x="46" y="8"/>
                </a:lnTo>
                <a:lnTo>
                  <a:pt x="35" y="16"/>
                </a:lnTo>
                <a:lnTo>
                  <a:pt x="25" y="28"/>
                </a:lnTo>
                <a:lnTo>
                  <a:pt x="16" y="40"/>
                </a:lnTo>
                <a:lnTo>
                  <a:pt x="10" y="53"/>
                </a:lnTo>
                <a:lnTo>
                  <a:pt x="5" y="68"/>
                </a:lnTo>
                <a:lnTo>
                  <a:pt x="1" y="83"/>
                </a:lnTo>
                <a:lnTo>
                  <a:pt x="0" y="99"/>
                </a:lnTo>
                <a:lnTo>
                  <a:pt x="1" y="114"/>
                </a:lnTo>
                <a:lnTo>
                  <a:pt x="5" y="131"/>
                </a:lnTo>
                <a:lnTo>
                  <a:pt x="10" y="144"/>
                </a:lnTo>
                <a:lnTo>
                  <a:pt x="16" y="157"/>
                </a:lnTo>
                <a:lnTo>
                  <a:pt x="25" y="170"/>
                </a:lnTo>
                <a:lnTo>
                  <a:pt x="35" y="180"/>
                </a:lnTo>
                <a:lnTo>
                  <a:pt x="46" y="190"/>
                </a:lnTo>
                <a:lnTo>
                  <a:pt x="59" y="199"/>
                </a:lnTo>
                <a:lnTo>
                  <a:pt x="71" y="199"/>
                </a:lnTo>
                <a:lnTo>
                  <a:pt x="56" y="192"/>
                </a:lnTo>
                <a:lnTo>
                  <a:pt x="45" y="182"/>
                </a:lnTo>
                <a:lnTo>
                  <a:pt x="33" y="172"/>
                </a:lnTo>
                <a:lnTo>
                  <a:pt x="23" y="159"/>
                </a:lnTo>
                <a:lnTo>
                  <a:pt x="15" y="146"/>
                </a:lnTo>
                <a:lnTo>
                  <a:pt x="10" y="131"/>
                </a:lnTo>
                <a:lnTo>
                  <a:pt x="6" y="116"/>
                </a:lnTo>
                <a:lnTo>
                  <a:pt x="5" y="99"/>
                </a:lnTo>
                <a:lnTo>
                  <a:pt x="6" y="83"/>
                </a:lnTo>
                <a:lnTo>
                  <a:pt x="10" y="68"/>
                </a:lnTo>
                <a:lnTo>
                  <a:pt x="15" y="53"/>
                </a:lnTo>
                <a:lnTo>
                  <a:pt x="23" y="38"/>
                </a:lnTo>
                <a:lnTo>
                  <a:pt x="33" y="26"/>
                </a:lnTo>
                <a:lnTo>
                  <a:pt x="45" y="16"/>
                </a:lnTo>
                <a:lnTo>
                  <a:pt x="56" y="6"/>
                </a:lnTo>
                <a:lnTo>
                  <a:pt x="71" y="0"/>
                </a:lnTo>
                <a:lnTo>
                  <a:pt x="59"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72" name="Freeform 1377">
            <a:extLst>
              <a:ext uri="{FF2B5EF4-FFF2-40B4-BE49-F238E27FC236}">
                <a16:creationId xmlns:a16="http://schemas.microsoft.com/office/drawing/2014/main" id="{055981E1-014D-CBD4-B482-BE3BCF413267}"/>
              </a:ext>
            </a:extLst>
          </p:cNvPr>
          <p:cNvSpPr>
            <a:spLocks noEditPoints="1"/>
          </p:cNvSpPr>
          <p:nvPr/>
        </p:nvSpPr>
        <p:spPr bwMode="auto">
          <a:xfrm>
            <a:off x="2738438" y="2403475"/>
            <a:ext cx="350838" cy="315913"/>
          </a:xfrm>
          <a:custGeom>
            <a:avLst/>
            <a:gdLst>
              <a:gd name="T0" fmla="*/ 221 w 221"/>
              <a:gd name="T1" fmla="*/ 83 h 199"/>
              <a:gd name="T2" fmla="*/ 211 w 221"/>
              <a:gd name="T3" fmla="*/ 53 h 199"/>
              <a:gd name="T4" fmla="*/ 194 w 221"/>
              <a:gd name="T5" fmla="*/ 28 h 199"/>
              <a:gd name="T6" fmla="*/ 173 w 221"/>
              <a:gd name="T7" fmla="*/ 6 h 199"/>
              <a:gd name="T8" fmla="*/ 146 w 221"/>
              <a:gd name="T9" fmla="*/ 0 h 199"/>
              <a:gd name="T10" fmla="*/ 174 w 221"/>
              <a:gd name="T11" fmla="*/ 15 h 199"/>
              <a:gd name="T12" fmla="*/ 198 w 221"/>
              <a:gd name="T13" fmla="*/ 38 h 199"/>
              <a:gd name="T14" fmla="*/ 211 w 221"/>
              <a:gd name="T15" fmla="*/ 66 h 199"/>
              <a:gd name="T16" fmla="*/ 216 w 221"/>
              <a:gd name="T17" fmla="*/ 99 h 199"/>
              <a:gd name="T18" fmla="*/ 211 w 221"/>
              <a:gd name="T19" fmla="*/ 132 h 199"/>
              <a:gd name="T20" fmla="*/ 198 w 221"/>
              <a:gd name="T21" fmla="*/ 160 h 199"/>
              <a:gd name="T22" fmla="*/ 174 w 221"/>
              <a:gd name="T23" fmla="*/ 184 h 199"/>
              <a:gd name="T24" fmla="*/ 146 w 221"/>
              <a:gd name="T25" fmla="*/ 199 h 199"/>
              <a:gd name="T26" fmla="*/ 173 w 221"/>
              <a:gd name="T27" fmla="*/ 190 h 199"/>
              <a:gd name="T28" fmla="*/ 194 w 221"/>
              <a:gd name="T29" fmla="*/ 170 h 199"/>
              <a:gd name="T30" fmla="*/ 211 w 221"/>
              <a:gd name="T31" fmla="*/ 146 h 199"/>
              <a:gd name="T32" fmla="*/ 221 w 221"/>
              <a:gd name="T33" fmla="*/ 116 h 199"/>
              <a:gd name="T34" fmla="*/ 63 w 221"/>
              <a:gd name="T35" fmla="*/ 0 h 199"/>
              <a:gd name="T36" fmla="*/ 39 w 221"/>
              <a:gd name="T37" fmla="*/ 16 h 199"/>
              <a:gd name="T38" fmla="*/ 19 w 221"/>
              <a:gd name="T39" fmla="*/ 40 h 199"/>
              <a:gd name="T40" fmla="*/ 5 w 221"/>
              <a:gd name="T41" fmla="*/ 68 h 199"/>
              <a:gd name="T42" fmla="*/ 0 w 221"/>
              <a:gd name="T43" fmla="*/ 99 h 199"/>
              <a:gd name="T44" fmla="*/ 5 w 221"/>
              <a:gd name="T45" fmla="*/ 131 h 199"/>
              <a:gd name="T46" fmla="*/ 19 w 221"/>
              <a:gd name="T47" fmla="*/ 159 h 199"/>
              <a:gd name="T48" fmla="*/ 39 w 221"/>
              <a:gd name="T49" fmla="*/ 182 h 199"/>
              <a:gd name="T50" fmla="*/ 63 w 221"/>
              <a:gd name="T51" fmla="*/ 199 h 199"/>
              <a:gd name="T52" fmla="*/ 62 w 221"/>
              <a:gd name="T53" fmla="*/ 192 h 199"/>
              <a:gd name="T54" fmla="*/ 35 w 221"/>
              <a:gd name="T55" fmla="*/ 172 h 199"/>
              <a:gd name="T56" fmla="*/ 17 w 221"/>
              <a:gd name="T57" fmla="*/ 147 h 199"/>
              <a:gd name="T58" fmla="*/ 7 w 221"/>
              <a:gd name="T59" fmla="*/ 116 h 199"/>
              <a:gd name="T60" fmla="*/ 7 w 221"/>
              <a:gd name="T61" fmla="*/ 83 h 199"/>
              <a:gd name="T62" fmla="*/ 17 w 221"/>
              <a:gd name="T63" fmla="*/ 51 h 199"/>
              <a:gd name="T64" fmla="*/ 35 w 221"/>
              <a:gd name="T65" fmla="*/ 25 h 199"/>
              <a:gd name="T66" fmla="*/ 62 w 221"/>
              <a:gd name="T67" fmla="*/ 6 h 199"/>
              <a:gd name="T68" fmla="*/ 63 w 22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1" h="199">
                <a:moveTo>
                  <a:pt x="221" y="99"/>
                </a:moveTo>
                <a:lnTo>
                  <a:pt x="221" y="83"/>
                </a:lnTo>
                <a:lnTo>
                  <a:pt x="217" y="68"/>
                </a:lnTo>
                <a:lnTo>
                  <a:pt x="211" y="53"/>
                </a:lnTo>
                <a:lnTo>
                  <a:pt x="204" y="40"/>
                </a:lnTo>
                <a:lnTo>
                  <a:pt x="194" y="28"/>
                </a:lnTo>
                <a:lnTo>
                  <a:pt x="184" y="16"/>
                </a:lnTo>
                <a:lnTo>
                  <a:pt x="173" y="6"/>
                </a:lnTo>
                <a:lnTo>
                  <a:pt x="159" y="0"/>
                </a:lnTo>
                <a:lnTo>
                  <a:pt x="146" y="0"/>
                </a:lnTo>
                <a:lnTo>
                  <a:pt x="161" y="6"/>
                </a:lnTo>
                <a:lnTo>
                  <a:pt x="174" y="15"/>
                </a:lnTo>
                <a:lnTo>
                  <a:pt x="186" y="25"/>
                </a:lnTo>
                <a:lnTo>
                  <a:pt x="198" y="38"/>
                </a:lnTo>
                <a:lnTo>
                  <a:pt x="206" y="51"/>
                </a:lnTo>
                <a:lnTo>
                  <a:pt x="211" y="66"/>
                </a:lnTo>
                <a:lnTo>
                  <a:pt x="216" y="83"/>
                </a:lnTo>
                <a:lnTo>
                  <a:pt x="216" y="99"/>
                </a:lnTo>
                <a:lnTo>
                  <a:pt x="216" y="116"/>
                </a:lnTo>
                <a:lnTo>
                  <a:pt x="211" y="132"/>
                </a:lnTo>
                <a:lnTo>
                  <a:pt x="206" y="147"/>
                </a:lnTo>
                <a:lnTo>
                  <a:pt x="198" y="160"/>
                </a:lnTo>
                <a:lnTo>
                  <a:pt x="186" y="172"/>
                </a:lnTo>
                <a:lnTo>
                  <a:pt x="174" y="184"/>
                </a:lnTo>
                <a:lnTo>
                  <a:pt x="161" y="192"/>
                </a:lnTo>
                <a:lnTo>
                  <a:pt x="146" y="199"/>
                </a:lnTo>
                <a:lnTo>
                  <a:pt x="159" y="199"/>
                </a:lnTo>
                <a:lnTo>
                  <a:pt x="173" y="190"/>
                </a:lnTo>
                <a:lnTo>
                  <a:pt x="184" y="182"/>
                </a:lnTo>
                <a:lnTo>
                  <a:pt x="194" y="170"/>
                </a:lnTo>
                <a:lnTo>
                  <a:pt x="204" y="159"/>
                </a:lnTo>
                <a:lnTo>
                  <a:pt x="211" y="146"/>
                </a:lnTo>
                <a:lnTo>
                  <a:pt x="217" y="131"/>
                </a:lnTo>
                <a:lnTo>
                  <a:pt x="221" y="116"/>
                </a:lnTo>
                <a:lnTo>
                  <a:pt x="221" y="99"/>
                </a:lnTo>
                <a:close/>
                <a:moveTo>
                  <a:pt x="63" y="0"/>
                </a:moveTo>
                <a:lnTo>
                  <a:pt x="50" y="6"/>
                </a:lnTo>
                <a:lnTo>
                  <a:pt x="39" y="16"/>
                </a:lnTo>
                <a:lnTo>
                  <a:pt x="27" y="28"/>
                </a:lnTo>
                <a:lnTo>
                  <a:pt x="19" y="40"/>
                </a:lnTo>
                <a:lnTo>
                  <a:pt x="10" y="53"/>
                </a:lnTo>
                <a:lnTo>
                  <a:pt x="5" y="68"/>
                </a:lnTo>
                <a:lnTo>
                  <a:pt x="2" y="83"/>
                </a:lnTo>
                <a:lnTo>
                  <a:pt x="0" y="99"/>
                </a:lnTo>
                <a:lnTo>
                  <a:pt x="2" y="116"/>
                </a:lnTo>
                <a:lnTo>
                  <a:pt x="5" y="131"/>
                </a:lnTo>
                <a:lnTo>
                  <a:pt x="10" y="146"/>
                </a:lnTo>
                <a:lnTo>
                  <a:pt x="19" y="159"/>
                </a:lnTo>
                <a:lnTo>
                  <a:pt x="27" y="170"/>
                </a:lnTo>
                <a:lnTo>
                  <a:pt x="39" y="182"/>
                </a:lnTo>
                <a:lnTo>
                  <a:pt x="50" y="190"/>
                </a:lnTo>
                <a:lnTo>
                  <a:pt x="63" y="199"/>
                </a:lnTo>
                <a:lnTo>
                  <a:pt x="77" y="199"/>
                </a:lnTo>
                <a:lnTo>
                  <a:pt x="62" y="192"/>
                </a:lnTo>
                <a:lnTo>
                  <a:pt x="48" y="184"/>
                </a:lnTo>
                <a:lnTo>
                  <a:pt x="35" y="172"/>
                </a:lnTo>
                <a:lnTo>
                  <a:pt x="25" y="160"/>
                </a:lnTo>
                <a:lnTo>
                  <a:pt x="17" y="147"/>
                </a:lnTo>
                <a:lnTo>
                  <a:pt x="10" y="132"/>
                </a:lnTo>
                <a:lnTo>
                  <a:pt x="7" y="116"/>
                </a:lnTo>
                <a:lnTo>
                  <a:pt x="5" y="99"/>
                </a:lnTo>
                <a:lnTo>
                  <a:pt x="7" y="83"/>
                </a:lnTo>
                <a:lnTo>
                  <a:pt x="10" y="66"/>
                </a:lnTo>
                <a:lnTo>
                  <a:pt x="17" y="51"/>
                </a:lnTo>
                <a:lnTo>
                  <a:pt x="25" y="38"/>
                </a:lnTo>
                <a:lnTo>
                  <a:pt x="35" y="25"/>
                </a:lnTo>
                <a:lnTo>
                  <a:pt x="48" y="15"/>
                </a:lnTo>
                <a:lnTo>
                  <a:pt x="62" y="6"/>
                </a:lnTo>
                <a:lnTo>
                  <a:pt x="77" y="0"/>
                </a:lnTo>
                <a:lnTo>
                  <a:pt x="63"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73" name="Freeform 1378">
            <a:extLst>
              <a:ext uri="{FF2B5EF4-FFF2-40B4-BE49-F238E27FC236}">
                <a16:creationId xmlns:a16="http://schemas.microsoft.com/office/drawing/2014/main" id="{D7DB2EFA-EABC-8CF8-A490-1A619A696B55}"/>
              </a:ext>
            </a:extLst>
          </p:cNvPr>
          <p:cNvSpPr>
            <a:spLocks noEditPoints="1"/>
          </p:cNvSpPr>
          <p:nvPr/>
        </p:nvSpPr>
        <p:spPr bwMode="auto">
          <a:xfrm>
            <a:off x="2744788" y="2403475"/>
            <a:ext cx="341313" cy="315913"/>
          </a:xfrm>
          <a:custGeom>
            <a:avLst/>
            <a:gdLst>
              <a:gd name="T0" fmla="*/ 213 w 215"/>
              <a:gd name="T1" fmla="*/ 83 h 199"/>
              <a:gd name="T2" fmla="*/ 203 w 215"/>
              <a:gd name="T3" fmla="*/ 53 h 199"/>
              <a:gd name="T4" fmla="*/ 187 w 215"/>
              <a:gd name="T5" fmla="*/ 26 h 199"/>
              <a:gd name="T6" fmla="*/ 162 w 215"/>
              <a:gd name="T7" fmla="*/ 6 h 199"/>
              <a:gd name="T8" fmla="*/ 134 w 215"/>
              <a:gd name="T9" fmla="*/ 0 h 199"/>
              <a:gd name="T10" fmla="*/ 164 w 215"/>
              <a:gd name="T11" fmla="*/ 13 h 199"/>
              <a:gd name="T12" fmla="*/ 189 w 215"/>
              <a:gd name="T13" fmla="*/ 36 h 199"/>
              <a:gd name="T14" fmla="*/ 205 w 215"/>
              <a:gd name="T15" fmla="*/ 64 h 199"/>
              <a:gd name="T16" fmla="*/ 210 w 215"/>
              <a:gd name="T17" fmla="*/ 99 h 199"/>
              <a:gd name="T18" fmla="*/ 205 w 215"/>
              <a:gd name="T19" fmla="*/ 132 h 199"/>
              <a:gd name="T20" fmla="*/ 189 w 215"/>
              <a:gd name="T21" fmla="*/ 162 h 199"/>
              <a:gd name="T22" fmla="*/ 164 w 215"/>
              <a:gd name="T23" fmla="*/ 185 h 199"/>
              <a:gd name="T24" fmla="*/ 134 w 215"/>
              <a:gd name="T25" fmla="*/ 199 h 199"/>
              <a:gd name="T26" fmla="*/ 162 w 215"/>
              <a:gd name="T27" fmla="*/ 192 h 199"/>
              <a:gd name="T28" fmla="*/ 187 w 215"/>
              <a:gd name="T29" fmla="*/ 172 h 199"/>
              <a:gd name="T30" fmla="*/ 203 w 215"/>
              <a:gd name="T31" fmla="*/ 146 h 199"/>
              <a:gd name="T32" fmla="*/ 213 w 215"/>
              <a:gd name="T33" fmla="*/ 116 h 199"/>
              <a:gd name="T34" fmla="*/ 66 w 215"/>
              <a:gd name="T35" fmla="*/ 0 h 199"/>
              <a:gd name="T36" fmla="*/ 40 w 215"/>
              <a:gd name="T37" fmla="*/ 16 h 199"/>
              <a:gd name="T38" fmla="*/ 18 w 215"/>
              <a:gd name="T39" fmla="*/ 38 h 199"/>
              <a:gd name="T40" fmla="*/ 5 w 215"/>
              <a:gd name="T41" fmla="*/ 68 h 199"/>
              <a:gd name="T42" fmla="*/ 0 w 215"/>
              <a:gd name="T43" fmla="*/ 99 h 199"/>
              <a:gd name="T44" fmla="*/ 5 w 215"/>
              <a:gd name="T45" fmla="*/ 131 h 199"/>
              <a:gd name="T46" fmla="*/ 18 w 215"/>
              <a:gd name="T47" fmla="*/ 159 h 199"/>
              <a:gd name="T48" fmla="*/ 40 w 215"/>
              <a:gd name="T49" fmla="*/ 182 h 199"/>
              <a:gd name="T50" fmla="*/ 66 w 215"/>
              <a:gd name="T51" fmla="*/ 199 h 199"/>
              <a:gd name="T52" fmla="*/ 64 w 215"/>
              <a:gd name="T53" fmla="*/ 192 h 199"/>
              <a:gd name="T54" fmla="*/ 36 w 215"/>
              <a:gd name="T55" fmla="*/ 174 h 199"/>
              <a:gd name="T56" fmla="*/ 16 w 215"/>
              <a:gd name="T57" fmla="*/ 149 h 199"/>
              <a:gd name="T58" fmla="*/ 6 w 215"/>
              <a:gd name="T59" fmla="*/ 116 h 199"/>
              <a:gd name="T60" fmla="*/ 6 w 215"/>
              <a:gd name="T61" fmla="*/ 81 h 199"/>
              <a:gd name="T62" fmla="*/ 16 w 215"/>
              <a:gd name="T63" fmla="*/ 50 h 199"/>
              <a:gd name="T64" fmla="*/ 36 w 215"/>
              <a:gd name="T65" fmla="*/ 23 h 199"/>
              <a:gd name="T66" fmla="*/ 64 w 215"/>
              <a:gd name="T67" fmla="*/ 5 h 199"/>
              <a:gd name="T68" fmla="*/ 66 w 21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5" h="199">
                <a:moveTo>
                  <a:pt x="215" y="99"/>
                </a:moveTo>
                <a:lnTo>
                  <a:pt x="213" y="83"/>
                </a:lnTo>
                <a:lnTo>
                  <a:pt x="210" y="68"/>
                </a:lnTo>
                <a:lnTo>
                  <a:pt x="203" y="53"/>
                </a:lnTo>
                <a:lnTo>
                  <a:pt x="197" y="38"/>
                </a:lnTo>
                <a:lnTo>
                  <a:pt x="187" y="26"/>
                </a:lnTo>
                <a:lnTo>
                  <a:pt x="175" y="16"/>
                </a:lnTo>
                <a:lnTo>
                  <a:pt x="162" y="6"/>
                </a:lnTo>
                <a:lnTo>
                  <a:pt x="149" y="0"/>
                </a:lnTo>
                <a:lnTo>
                  <a:pt x="134" y="0"/>
                </a:lnTo>
                <a:lnTo>
                  <a:pt x="150" y="5"/>
                </a:lnTo>
                <a:lnTo>
                  <a:pt x="164" y="13"/>
                </a:lnTo>
                <a:lnTo>
                  <a:pt x="177" y="23"/>
                </a:lnTo>
                <a:lnTo>
                  <a:pt x="189" y="36"/>
                </a:lnTo>
                <a:lnTo>
                  <a:pt x="197" y="50"/>
                </a:lnTo>
                <a:lnTo>
                  <a:pt x="205" y="64"/>
                </a:lnTo>
                <a:lnTo>
                  <a:pt x="208" y="81"/>
                </a:lnTo>
                <a:lnTo>
                  <a:pt x="210" y="99"/>
                </a:lnTo>
                <a:lnTo>
                  <a:pt x="208" y="116"/>
                </a:lnTo>
                <a:lnTo>
                  <a:pt x="205" y="132"/>
                </a:lnTo>
                <a:lnTo>
                  <a:pt x="197" y="149"/>
                </a:lnTo>
                <a:lnTo>
                  <a:pt x="189" y="162"/>
                </a:lnTo>
                <a:lnTo>
                  <a:pt x="177" y="174"/>
                </a:lnTo>
                <a:lnTo>
                  <a:pt x="164" y="185"/>
                </a:lnTo>
                <a:lnTo>
                  <a:pt x="150" y="192"/>
                </a:lnTo>
                <a:lnTo>
                  <a:pt x="134" y="199"/>
                </a:lnTo>
                <a:lnTo>
                  <a:pt x="149" y="199"/>
                </a:lnTo>
                <a:lnTo>
                  <a:pt x="162" y="192"/>
                </a:lnTo>
                <a:lnTo>
                  <a:pt x="175" y="182"/>
                </a:lnTo>
                <a:lnTo>
                  <a:pt x="187" y="172"/>
                </a:lnTo>
                <a:lnTo>
                  <a:pt x="197" y="159"/>
                </a:lnTo>
                <a:lnTo>
                  <a:pt x="203" y="146"/>
                </a:lnTo>
                <a:lnTo>
                  <a:pt x="210" y="131"/>
                </a:lnTo>
                <a:lnTo>
                  <a:pt x="213" y="116"/>
                </a:lnTo>
                <a:lnTo>
                  <a:pt x="215" y="99"/>
                </a:lnTo>
                <a:close/>
                <a:moveTo>
                  <a:pt x="66" y="0"/>
                </a:moveTo>
                <a:lnTo>
                  <a:pt x="51" y="6"/>
                </a:lnTo>
                <a:lnTo>
                  <a:pt x="40" y="16"/>
                </a:lnTo>
                <a:lnTo>
                  <a:pt x="28" y="26"/>
                </a:lnTo>
                <a:lnTo>
                  <a:pt x="18" y="38"/>
                </a:lnTo>
                <a:lnTo>
                  <a:pt x="10" y="53"/>
                </a:lnTo>
                <a:lnTo>
                  <a:pt x="5" y="68"/>
                </a:lnTo>
                <a:lnTo>
                  <a:pt x="1" y="83"/>
                </a:lnTo>
                <a:lnTo>
                  <a:pt x="0" y="99"/>
                </a:lnTo>
                <a:lnTo>
                  <a:pt x="1" y="116"/>
                </a:lnTo>
                <a:lnTo>
                  <a:pt x="5" y="131"/>
                </a:lnTo>
                <a:lnTo>
                  <a:pt x="10" y="146"/>
                </a:lnTo>
                <a:lnTo>
                  <a:pt x="18" y="159"/>
                </a:lnTo>
                <a:lnTo>
                  <a:pt x="28" y="172"/>
                </a:lnTo>
                <a:lnTo>
                  <a:pt x="40" y="182"/>
                </a:lnTo>
                <a:lnTo>
                  <a:pt x="51" y="192"/>
                </a:lnTo>
                <a:lnTo>
                  <a:pt x="66" y="199"/>
                </a:lnTo>
                <a:lnTo>
                  <a:pt x="81" y="199"/>
                </a:lnTo>
                <a:lnTo>
                  <a:pt x="64" y="192"/>
                </a:lnTo>
                <a:lnTo>
                  <a:pt x="49" y="185"/>
                </a:lnTo>
                <a:lnTo>
                  <a:pt x="36" y="174"/>
                </a:lnTo>
                <a:lnTo>
                  <a:pt x="26" y="162"/>
                </a:lnTo>
                <a:lnTo>
                  <a:pt x="16" y="149"/>
                </a:lnTo>
                <a:lnTo>
                  <a:pt x="10" y="132"/>
                </a:lnTo>
                <a:lnTo>
                  <a:pt x="6" y="116"/>
                </a:lnTo>
                <a:lnTo>
                  <a:pt x="5" y="99"/>
                </a:lnTo>
                <a:lnTo>
                  <a:pt x="6" y="81"/>
                </a:lnTo>
                <a:lnTo>
                  <a:pt x="10" y="64"/>
                </a:lnTo>
                <a:lnTo>
                  <a:pt x="16" y="50"/>
                </a:lnTo>
                <a:lnTo>
                  <a:pt x="26" y="36"/>
                </a:lnTo>
                <a:lnTo>
                  <a:pt x="36" y="23"/>
                </a:lnTo>
                <a:lnTo>
                  <a:pt x="49" y="13"/>
                </a:lnTo>
                <a:lnTo>
                  <a:pt x="64" y="5"/>
                </a:lnTo>
                <a:lnTo>
                  <a:pt x="81" y="0"/>
                </a:lnTo>
                <a:lnTo>
                  <a:pt x="66"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74" name="Freeform 1379">
            <a:extLst>
              <a:ext uri="{FF2B5EF4-FFF2-40B4-BE49-F238E27FC236}">
                <a16:creationId xmlns:a16="http://schemas.microsoft.com/office/drawing/2014/main" id="{064BB483-2D5E-8F25-6B27-D75C8674DDEA}"/>
              </a:ext>
            </a:extLst>
          </p:cNvPr>
          <p:cNvSpPr>
            <a:spLocks noEditPoints="1"/>
          </p:cNvSpPr>
          <p:nvPr/>
        </p:nvSpPr>
        <p:spPr bwMode="auto">
          <a:xfrm>
            <a:off x="2746375" y="2403475"/>
            <a:ext cx="334963" cy="315913"/>
          </a:xfrm>
          <a:custGeom>
            <a:avLst/>
            <a:gdLst>
              <a:gd name="T0" fmla="*/ 211 w 211"/>
              <a:gd name="T1" fmla="*/ 83 h 199"/>
              <a:gd name="T2" fmla="*/ 201 w 211"/>
              <a:gd name="T3" fmla="*/ 51 h 199"/>
              <a:gd name="T4" fmla="*/ 181 w 211"/>
              <a:gd name="T5" fmla="*/ 25 h 199"/>
              <a:gd name="T6" fmla="*/ 156 w 211"/>
              <a:gd name="T7" fmla="*/ 6 h 199"/>
              <a:gd name="T8" fmla="*/ 121 w 211"/>
              <a:gd name="T9" fmla="*/ 0 h 199"/>
              <a:gd name="T10" fmla="*/ 154 w 211"/>
              <a:gd name="T11" fmla="*/ 11 h 199"/>
              <a:gd name="T12" fmla="*/ 183 w 211"/>
              <a:gd name="T13" fmla="*/ 33 h 199"/>
              <a:gd name="T14" fmla="*/ 201 w 211"/>
              <a:gd name="T15" fmla="*/ 63 h 199"/>
              <a:gd name="T16" fmla="*/ 207 w 211"/>
              <a:gd name="T17" fmla="*/ 99 h 199"/>
              <a:gd name="T18" fmla="*/ 201 w 211"/>
              <a:gd name="T19" fmla="*/ 134 h 199"/>
              <a:gd name="T20" fmla="*/ 183 w 211"/>
              <a:gd name="T21" fmla="*/ 165 h 199"/>
              <a:gd name="T22" fmla="*/ 156 w 211"/>
              <a:gd name="T23" fmla="*/ 187 h 199"/>
              <a:gd name="T24" fmla="*/ 121 w 211"/>
              <a:gd name="T25" fmla="*/ 199 h 199"/>
              <a:gd name="T26" fmla="*/ 156 w 211"/>
              <a:gd name="T27" fmla="*/ 192 h 199"/>
              <a:gd name="T28" fmla="*/ 181 w 211"/>
              <a:gd name="T29" fmla="*/ 172 h 199"/>
              <a:gd name="T30" fmla="*/ 201 w 211"/>
              <a:gd name="T31" fmla="*/ 147 h 199"/>
              <a:gd name="T32" fmla="*/ 211 w 211"/>
              <a:gd name="T33" fmla="*/ 116 h 199"/>
              <a:gd name="T34" fmla="*/ 72 w 211"/>
              <a:gd name="T35" fmla="*/ 0 h 199"/>
              <a:gd name="T36" fmla="*/ 43 w 211"/>
              <a:gd name="T37" fmla="*/ 15 h 199"/>
              <a:gd name="T38" fmla="*/ 20 w 211"/>
              <a:gd name="T39" fmla="*/ 38 h 199"/>
              <a:gd name="T40" fmla="*/ 5 w 211"/>
              <a:gd name="T41" fmla="*/ 66 h 199"/>
              <a:gd name="T42" fmla="*/ 0 w 211"/>
              <a:gd name="T43" fmla="*/ 99 h 199"/>
              <a:gd name="T44" fmla="*/ 5 w 211"/>
              <a:gd name="T45" fmla="*/ 132 h 199"/>
              <a:gd name="T46" fmla="*/ 20 w 211"/>
              <a:gd name="T47" fmla="*/ 160 h 199"/>
              <a:gd name="T48" fmla="*/ 43 w 211"/>
              <a:gd name="T49" fmla="*/ 184 h 199"/>
              <a:gd name="T50" fmla="*/ 72 w 211"/>
              <a:gd name="T51" fmla="*/ 199 h 199"/>
              <a:gd name="T52" fmla="*/ 73 w 211"/>
              <a:gd name="T53" fmla="*/ 194 h 199"/>
              <a:gd name="T54" fmla="*/ 42 w 211"/>
              <a:gd name="T55" fmla="*/ 177 h 199"/>
              <a:gd name="T56" fmla="*/ 20 w 211"/>
              <a:gd name="T57" fmla="*/ 151 h 199"/>
              <a:gd name="T58" fmla="*/ 7 w 211"/>
              <a:gd name="T59" fmla="*/ 117 h 199"/>
              <a:gd name="T60" fmla="*/ 7 w 211"/>
              <a:gd name="T61" fmla="*/ 81 h 199"/>
              <a:gd name="T62" fmla="*/ 20 w 211"/>
              <a:gd name="T63" fmla="*/ 48 h 199"/>
              <a:gd name="T64" fmla="*/ 42 w 211"/>
              <a:gd name="T65" fmla="*/ 21 h 199"/>
              <a:gd name="T66" fmla="*/ 73 w 211"/>
              <a:gd name="T67" fmla="*/ 3 h 199"/>
              <a:gd name="T68" fmla="*/ 72 w 21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1" h="199">
                <a:moveTo>
                  <a:pt x="211" y="99"/>
                </a:moveTo>
                <a:lnTo>
                  <a:pt x="211" y="83"/>
                </a:lnTo>
                <a:lnTo>
                  <a:pt x="206" y="66"/>
                </a:lnTo>
                <a:lnTo>
                  <a:pt x="201" y="51"/>
                </a:lnTo>
                <a:lnTo>
                  <a:pt x="193" y="38"/>
                </a:lnTo>
                <a:lnTo>
                  <a:pt x="181" y="25"/>
                </a:lnTo>
                <a:lnTo>
                  <a:pt x="169" y="15"/>
                </a:lnTo>
                <a:lnTo>
                  <a:pt x="156" y="6"/>
                </a:lnTo>
                <a:lnTo>
                  <a:pt x="141" y="0"/>
                </a:lnTo>
                <a:lnTo>
                  <a:pt x="121" y="0"/>
                </a:lnTo>
                <a:lnTo>
                  <a:pt x="140" y="3"/>
                </a:lnTo>
                <a:lnTo>
                  <a:pt x="154" y="11"/>
                </a:lnTo>
                <a:lnTo>
                  <a:pt x="169" y="21"/>
                </a:lnTo>
                <a:lnTo>
                  <a:pt x="183" y="33"/>
                </a:lnTo>
                <a:lnTo>
                  <a:pt x="193" y="48"/>
                </a:lnTo>
                <a:lnTo>
                  <a:pt x="201" y="63"/>
                </a:lnTo>
                <a:lnTo>
                  <a:pt x="206" y="81"/>
                </a:lnTo>
                <a:lnTo>
                  <a:pt x="207" y="99"/>
                </a:lnTo>
                <a:lnTo>
                  <a:pt x="206" y="117"/>
                </a:lnTo>
                <a:lnTo>
                  <a:pt x="201" y="134"/>
                </a:lnTo>
                <a:lnTo>
                  <a:pt x="193" y="151"/>
                </a:lnTo>
                <a:lnTo>
                  <a:pt x="183" y="165"/>
                </a:lnTo>
                <a:lnTo>
                  <a:pt x="169" y="177"/>
                </a:lnTo>
                <a:lnTo>
                  <a:pt x="156" y="187"/>
                </a:lnTo>
                <a:lnTo>
                  <a:pt x="140" y="194"/>
                </a:lnTo>
                <a:lnTo>
                  <a:pt x="121" y="199"/>
                </a:lnTo>
                <a:lnTo>
                  <a:pt x="141" y="199"/>
                </a:lnTo>
                <a:lnTo>
                  <a:pt x="156" y="192"/>
                </a:lnTo>
                <a:lnTo>
                  <a:pt x="169" y="184"/>
                </a:lnTo>
                <a:lnTo>
                  <a:pt x="181" y="172"/>
                </a:lnTo>
                <a:lnTo>
                  <a:pt x="193" y="160"/>
                </a:lnTo>
                <a:lnTo>
                  <a:pt x="201" y="147"/>
                </a:lnTo>
                <a:lnTo>
                  <a:pt x="206" y="132"/>
                </a:lnTo>
                <a:lnTo>
                  <a:pt x="211" y="116"/>
                </a:lnTo>
                <a:lnTo>
                  <a:pt x="211" y="99"/>
                </a:lnTo>
                <a:close/>
                <a:moveTo>
                  <a:pt x="72" y="0"/>
                </a:moveTo>
                <a:lnTo>
                  <a:pt x="57" y="6"/>
                </a:lnTo>
                <a:lnTo>
                  <a:pt x="43" y="15"/>
                </a:lnTo>
                <a:lnTo>
                  <a:pt x="30" y="25"/>
                </a:lnTo>
                <a:lnTo>
                  <a:pt x="20" y="38"/>
                </a:lnTo>
                <a:lnTo>
                  <a:pt x="12" y="51"/>
                </a:lnTo>
                <a:lnTo>
                  <a:pt x="5" y="66"/>
                </a:lnTo>
                <a:lnTo>
                  <a:pt x="2" y="83"/>
                </a:lnTo>
                <a:lnTo>
                  <a:pt x="0" y="99"/>
                </a:lnTo>
                <a:lnTo>
                  <a:pt x="2" y="116"/>
                </a:lnTo>
                <a:lnTo>
                  <a:pt x="5" y="132"/>
                </a:lnTo>
                <a:lnTo>
                  <a:pt x="12" y="147"/>
                </a:lnTo>
                <a:lnTo>
                  <a:pt x="20" y="160"/>
                </a:lnTo>
                <a:lnTo>
                  <a:pt x="30" y="172"/>
                </a:lnTo>
                <a:lnTo>
                  <a:pt x="43" y="184"/>
                </a:lnTo>
                <a:lnTo>
                  <a:pt x="57" y="192"/>
                </a:lnTo>
                <a:lnTo>
                  <a:pt x="72" y="199"/>
                </a:lnTo>
                <a:lnTo>
                  <a:pt x="90" y="199"/>
                </a:lnTo>
                <a:lnTo>
                  <a:pt x="73" y="194"/>
                </a:lnTo>
                <a:lnTo>
                  <a:pt x="57" y="187"/>
                </a:lnTo>
                <a:lnTo>
                  <a:pt x="42" y="177"/>
                </a:lnTo>
                <a:lnTo>
                  <a:pt x="30" y="165"/>
                </a:lnTo>
                <a:lnTo>
                  <a:pt x="20" y="151"/>
                </a:lnTo>
                <a:lnTo>
                  <a:pt x="12" y="134"/>
                </a:lnTo>
                <a:lnTo>
                  <a:pt x="7" y="117"/>
                </a:lnTo>
                <a:lnTo>
                  <a:pt x="5" y="99"/>
                </a:lnTo>
                <a:lnTo>
                  <a:pt x="7" y="81"/>
                </a:lnTo>
                <a:lnTo>
                  <a:pt x="12" y="63"/>
                </a:lnTo>
                <a:lnTo>
                  <a:pt x="20" y="48"/>
                </a:lnTo>
                <a:lnTo>
                  <a:pt x="30" y="33"/>
                </a:lnTo>
                <a:lnTo>
                  <a:pt x="42" y="21"/>
                </a:lnTo>
                <a:lnTo>
                  <a:pt x="57" y="11"/>
                </a:lnTo>
                <a:lnTo>
                  <a:pt x="73" y="3"/>
                </a:lnTo>
                <a:lnTo>
                  <a:pt x="92" y="0"/>
                </a:lnTo>
                <a:lnTo>
                  <a:pt x="72"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75" name="Freeform 1380">
            <a:extLst>
              <a:ext uri="{FF2B5EF4-FFF2-40B4-BE49-F238E27FC236}">
                <a16:creationId xmlns:a16="http://schemas.microsoft.com/office/drawing/2014/main" id="{2F7690BB-2AFD-1F48-FC7B-6C28B00CD3ED}"/>
              </a:ext>
            </a:extLst>
          </p:cNvPr>
          <p:cNvSpPr>
            <a:spLocks noEditPoints="1"/>
          </p:cNvSpPr>
          <p:nvPr/>
        </p:nvSpPr>
        <p:spPr bwMode="auto">
          <a:xfrm>
            <a:off x="2752725" y="2403475"/>
            <a:ext cx="325438" cy="315913"/>
          </a:xfrm>
          <a:custGeom>
            <a:avLst/>
            <a:gdLst>
              <a:gd name="T0" fmla="*/ 203 w 205"/>
              <a:gd name="T1" fmla="*/ 81 h 199"/>
              <a:gd name="T2" fmla="*/ 192 w 205"/>
              <a:gd name="T3" fmla="*/ 50 h 199"/>
              <a:gd name="T4" fmla="*/ 172 w 205"/>
              <a:gd name="T5" fmla="*/ 23 h 199"/>
              <a:gd name="T6" fmla="*/ 145 w 205"/>
              <a:gd name="T7" fmla="*/ 5 h 199"/>
              <a:gd name="T8" fmla="*/ 76 w 205"/>
              <a:gd name="T9" fmla="*/ 0 h 199"/>
              <a:gd name="T10" fmla="*/ 44 w 205"/>
              <a:gd name="T11" fmla="*/ 13 h 199"/>
              <a:gd name="T12" fmla="*/ 21 w 205"/>
              <a:gd name="T13" fmla="*/ 36 h 199"/>
              <a:gd name="T14" fmla="*/ 5 w 205"/>
              <a:gd name="T15" fmla="*/ 64 h 199"/>
              <a:gd name="T16" fmla="*/ 0 w 205"/>
              <a:gd name="T17" fmla="*/ 99 h 199"/>
              <a:gd name="T18" fmla="*/ 5 w 205"/>
              <a:gd name="T19" fmla="*/ 132 h 199"/>
              <a:gd name="T20" fmla="*/ 21 w 205"/>
              <a:gd name="T21" fmla="*/ 162 h 199"/>
              <a:gd name="T22" fmla="*/ 44 w 205"/>
              <a:gd name="T23" fmla="*/ 185 h 199"/>
              <a:gd name="T24" fmla="*/ 76 w 205"/>
              <a:gd name="T25" fmla="*/ 199 h 199"/>
              <a:gd name="T26" fmla="*/ 145 w 205"/>
              <a:gd name="T27" fmla="*/ 192 h 199"/>
              <a:gd name="T28" fmla="*/ 172 w 205"/>
              <a:gd name="T29" fmla="*/ 174 h 199"/>
              <a:gd name="T30" fmla="*/ 192 w 205"/>
              <a:gd name="T31" fmla="*/ 149 h 199"/>
              <a:gd name="T32" fmla="*/ 203 w 205"/>
              <a:gd name="T33" fmla="*/ 116 h 199"/>
              <a:gd name="T34" fmla="*/ 200 w 205"/>
              <a:gd name="T35" fmla="*/ 99 h 199"/>
              <a:gd name="T36" fmla="*/ 198 w 205"/>
              <a:gd name="T37" fmla="*/ 119 h 199"/>
              <a:gd name="T38" fmla="*/ 192 w 205"/>
              <a:gd name="T39" fmla="*/ 137 h 199"/>
              <a:gd name="T40" fmla="*/ 184 w 205"/>
              <a:gd name="T41" fmla="*/ 154 h 199"/>
              <a:gd name="T42" fmla="*/ 172 w 205"/>
              <a:gd name="T43" fmla="*/ 169 h 199"/>
              <a:gd name="T44" fmla="*/ 157 w 205"/>
              <a:gd name="T45" fmla="*/ 180 h 199"/>
              <a:gd name="T46" fmla="*/ 140 w 205"/>
              <a:gd name="T47" fmla="*/ 190 h 199"/>
              <a:gd name="T48" fmla="*/ 122 w 205"/>
              <a:gd name="T49" fmla="*/ 195 h 199"/>
              <a:gd name="T50" fmla="*/ 102 w 205"/>
              <a:gd name="T51" fmla="*/ 197 h 199"/>
              <a:gd name="T52" fmla="*/ 83 w 205"/>
              <a:gd name="T53" fmla="*/ 195 h 199"/>
              <a:gd name="T54" fmla="*/ 64 w 205"/>
              <a:gd name="T55" fmla="*/ 190 h 199"/>
              <a:gd name="T56" fmla="*/ 48 w 205"/>
              <a:gd name="T57" fmla="*/ 180 h 199"/>
              <a:gd name="T58" fmla="*/ 33 w 205"/>
              <a:gd name="T59" fmla="*/ 169 h 199"/>
              <a:gd name="T60" fmla="*/ 21 w 205"/>
              <a:gd name="T61" fmla="*/ 154 h 199"/>
              <a:gd name="T62" fmla="*/ 11 w 205"/>
              <a:gd name="T63" fmla="*/ 137 h 199"/>
              <a:gd name="T64" fmla="*/ 6 w 205"/>
              <a:gd name="T65" fmla="*/ 119 h 199"/>
              <a:gd name="T66" fmla="*/ 5 w 205"/>
              <a:gd name="T67" fmla="*/ 99 h 199"/>
              <a:gd name="T68" fmla="*/ 6 w 205"/>
              <a:gd name="T69" fmla="*/ 79 h 199"/>
              <a:gd name="T70" fmla="*/ 11 w 205"/>
              <a:gd name="T71" fmla="*/ 61 h 199"/>
              <a:gd name="T72" fmla="*/ 21 w 205"/>
              <a:gd name="T73" fmla="*/ 45 h 199"/>
              <a:gd name="T74" fmla="*/ 33 w 205"/>
              <a:gd name="T75" fmla="*/ 30 h 199"/>
              <a:gd name="T76" fmla="*/ 48 w 205"/>
              <a:gd name="T77" fmla="*/ 18 h 199"/>
              <a:gd name="T78" fmla="*/ 64 w 205"/>
              <a:gd name="T79" fmla="*/ 8 h 199"/>
              <a:gd name="T80" fmla="*/ 83 w 205"/>
              <a:gd name="T81" fmla="*/ 3 h 199"/>
              <a:gd name="T82" fmla="*/ 102 w 205"/>
              <a:gd name="T83" fmla="*/ 1 h 199"/>
              <a:gd name="T84" fmla="*/ 122 w 205"/>
              <a:gd name="T85" fmla="*/ 3 h 199"/>
              <a:gd name="T86" fmla="*/ 140 w 205"/>
              <a:gd name="T87" fmla="*/ 8 h 199"/>
              <a:gd name="T88" fmla="*/ 157 w 205"/>
              <a:gd name="T89" fmla="*/ 18 h 199"/>
              <a:gd name="T90" fmla="*/ 172 w 205"/>
              <a:gd name="T91" fmla="*/ 30 h 199"/>
              <a:gd name="T92" fmla="*/ 184 w 205"/>
              <a:gd name="T93" fmla="*/ 45 h 199"/>
              <a:gd name="T94" fmla="*/ 192 w 205"/>
              <a:gd name="T95" fmla="*/ 61 h 199"/>
              <a:gd name="T96" fmla="*/ 198 w 205"/>
              <a:gd name="T97" fmla="*/ 79 h 199"/>
              <a:gd name="T98" fmla="*/ 200 w 205"/>
              <a:gd name="T99" fmla="*/ 9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5" h="199">
                <a:moveTo>
                  <a:pt x="205" y="99"/>
                </a:moveTo>
                <a:lnTo>
                  <a:pt x="203" y="81"/>
                </a:lnTo>
                <a:lnTo>
                  <a:pt x="200" y="64"/>
                </a:lnTo>
                <a:lnTo>
                  <a:pt x="192" y="50"/>
                </a:lnTo>
                <a:lnTo>
                  <a:pt x="184" y="36"/>
                </a:lnTo>
                <a:lnTo>
                  <a:pt x="172" y="23"/>
                </a:lnTo>
                <a:lnTo>
                  <a:pt x="159" y="13"/>
                </a:lnTo>
                <a:lnTo>
                  <a:pt x="145" y="5"/>
                </a:lnTo>
                <a:lnTo>
                  <a:pt x="129" y="0"/>
                </a:lnTo>
                <a:lnTo>
                  <a:pt x="76" y="0"/>
                </a:lnTo>
                <a:lnTo>
                  <a:pt x="59" y="5"/>
                </a:lnTo>
                <a:lnTo>
                  <a:pt x="44" y="13"/>
                </a:lnTo>
                <a:lnTo>
                  <a:pt x="31" y="23"/>
                </a:lnTo>
                <a:lnTo>
                  <a:pt x="21" y="36"/>
                </a:lnTo>
                <a:lnTo>
                  <a:pt x="11" y="50"/>
                </a:lnTo>
                <a:lnTo>
                  <a:pt x="5" y="64"/>
                </a:lnTo>
                <a:lnTo>
                  <a:pt x="1" y="81"/>
                </a:lnTo>
                <a:lnTo>
                  <a:pt x="0" y="99"/>
                </a:lnTo>
                <a:lnTo>
                  <a:pt x="1" y="116"/>
                </a:lnTo>
                <a:lnTo>
                  <a:pt x="5" y="132"/>
                </a:lnTo>
                <a:lnTo>
                  <a:pt x="11" y="149"/>
                </a:lnTo>
                <a:lnTo>
                  <a:pt x="21" y="162"/>
                </a:lnTo>
                <a:lnTo>
                  <a:pt x="31" y="174"/>
                </a:lnTo>
                <a:lnTo>
                  <a:pt x="44" y="185"/>
                </a:lnTo>
                <a:lnTo>
                  <a:pt x="59" y="192"/>
                </a:lnTo>
                <a:lnTo>
                  <a:pt x="76" y="199"/>
                </a:lnTo>
                <a:lnTo>
                  <a:pt x="129" y="199"/>
                </a:lnTo>
                <a:lnTo>
                  <a:pt x="145" y="192"/>
                </a:lnTo>
                <a:lnTo>
                  <a:pt x="159" y="185"/>
                </a:lnTo>
                <a:lnTo>
                  <a:pt x="172" y="174"/>
                </a:lnTo>
                <a:lnTo>
                  <a:pt x="184" y="162"/>
                </a:lnTo>
                <a:lnTo>
                  <a:pt x="192" y="149"/>
                </a:lnTo>
                <a:lnTo>
                  <a:pt x="200" y="132"/>
                </a:lnTo>
                <a:lnTo>
                  <a:pt x="203" y="116"/>
                </a:lnTo>
                <a:lnTo>
                  <a:pt x="205" y="99"/>
                </a:lnTo>
                <a:close/>
                <a:moveTo>
                  <a:pt x="200" y="99"/>
                </a:moveTo>
                <a:lnTo>
                  <a:pt x="200" y="109"/>
                </a:lnTo>
                <a:lnTo>
                  <a:pt x="198" y="119"/>
                </a:lnTo>
                <a:lnTo>
                  <a:pt x="195" y="129"/>
                </a:lnTo>
                <a:lnTo>
                  <a:pt x="192" y="137"/>
                </a:lnTo>
                <a:lnTo>
                  <a:pt x="189" y="146"/>
                </a:lnTo>
                <a:lnTo>
                  <a:pt x="184" y="154"/>
                </a:lnTo>
                <a:lnTo>
                  <a:pt x="179" y="162"/>
                </a:lnTo>
                <a:lnTo>
                  <a:pt x="172" y="169"/>
                </a:lnTo>
                <a:lnTo>
                  <a:pt x="165" y="175"/>
                </a:lnTo>
                <a:lnTo>
                  <a:pt x="157" y="180"/>
                </a:lnTo>
                <a:lnTo>
                  <a:pt x="149" y="185"/>
                </a:lnTo>
                <a:lnTo>
                  <a:pt x="140" y="190"/>
                </a:lnTo>
                <a:lnTo>
                  <a:pt x="131" y="194"/>
                </a:lnTo>
                <a:lnTo>
                  <a:pt x="122" y="195"/>
                </a:lnTo>
                <a:lnTo>
                  <a:pt x="112" y="197"/>
                </a:lnTo>
                <a:lnTo>
                  <a:pt x="102" y="197"/>
                </a:lnTo>
                <a:lnTo>
                  <a:pt x="92" y="197"/>
                </a:lnTo>
                <a:lnTo>
                  <a:pt x="83" y="195"/>
                </a:lnTo>
                <a:lnTo>
                  <a:pt x="73" y="194"/>
                </a:lnTo>
                <a:lnTo>
                  <a:pt x="64" y="190"/>
                </a:lnTo>
                <a:lnTo>
                  <a:pt x="56" y="185"/>
                </a:lnTo>
                <a:lnTo>
                  <a:pt x="48" y="180"/>
                </a:lnTo>
                <a:lnTo>
                  <a:pt x="39" y="175"/>
                </a:lnTo>
                <a:lnTo>
                  <a:pt x="33" y="169"/>
                </a:lnTo>
                <a:lnTo>
                  <a:pt x="26" y="162"/>
                </a:lnTo>
                <a:lnTo>
                  <a:pt x="21" y="154"/>
                </a:lnTo>
                <a:lnTo>
                  <a:pt x="16" y="146"/>
                </a:lnTo>
                <a:lnTo>
                  <a:pt x="11" y="137"/>
                </a:lnTo>
                <a:lnTo>
                  <a:pt x="8" y="129"/>
                </a:lnTo>
                <a:lnTo>
                  <a:pt x="6" y="119"/>
                </a:lnTo>
                <a:lnTo>
                  <a:pt x="5" y="109"/>
                </a:lnTo>
                <a:lnTo>
                  <a:pt x="5" y="99"/>
                </a:lnTo>
                <a:lnTo>
                  <a:pt x="5" y="89"/>
                </a:lnTo>
                <a:lnTo>
                  <a:pt x="6" y="79"/>
                </a:lnTo>
                <a:lnTo>
                  <a:pt x="8" y="69"/>
                </a:lnTo>
                <a:lnTo>
                  <a:pt x="11" y="61"/>
                </a:lnTo>
                <a:lnTo>
                  <a:pt x="16" y="53"/>
                </a:lnTo>
                <a:lnTo>
                  <a:pt x="21" y="45"/>
                </a:lnTo>
                <a:lnTo>
                  <a:pt x="26" y="36"/>
                </a:lnTo>
                <a:lnTo>
                  <a:pt x="33" y="30"/>
                </a:lnTo>
                <a:lnTo>
                  <a:pt x="39" y="23"/>
                </a:lnTo>
                <a:lnTo>
                  <a:pt x="48" y="18"/>
                </a:lnTo>
                <a:lnTo>
                  <a:pt x="56" y="13"/>
                </a:lnTo>
                <a:lnTo>
                  <a:pt x="64" y="8"/>
                </a:lnTo>
                <a:lnTo>
                  <a:pt x="73" y="5"/>
                </a:lnTo>
                <a:lnTo>
                  <a:pt x="83" y="3"/>
                </a:lnTo>
                <a:lnTo>
                  <a:pt x="92" y="1"/>
                </a:lnTo>
                <a:lnTo>
                  <a:pt x="102" y="1"/>
                </a:lnTo>
                <a:lnTo>
                  <a:pt x="112" y="1"/>
                </a:lnTo>
                <a:lnTo>
                  <a:pt x="122" y="3"/>
                </a:lnTo>
                <a:lnTo>
                  <a:pt x="131" y="5"/>
                </a:lnTo>
                <a:lnTo>
                  <a:pt x="140" y="8"/>
                </a:lnTo>
                <a:lnTo>
                  <a:pt x="149" y="13"/>
                </a:lnTo>
                <a:lnTo>
                  <a:pt x="157" y="18"/>
                </a:lnTo>
                <a:lnTo>
                  <a:pt x="165" y="23"/>
                </a:lnTo>
                <a:lnTo>
                  <a:pt x="172" y="30"/>
                </a:lnTo>
                <a:lnTo>
                  <a:pt x="179" y="36"/>
                </a:lnTo>
                <a:lnTo>
                  <a:pt x="184" y="45"/>
                </a:lnTo>
                <a:lnTo>
                  <a:pt x="189" y="53"/>
                </a:lnTo>
                <a:lnTo>
                  <a:pt x="192" y="61"/>
                </a:lnTo>
                <a:lnTo>
                  <a:pt x="195" y="69"/>
                </a:lnTo>
                <a:lnTo>
                  <a:pt x="198" y="79"/>
                </a:lnTo>
                <a:lnTo>
                  <a:pt x="200" y="89"/>
                </a:lnTo>
                <a:lnTo>
                  <a:pt x="200" y="99"/>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76" name="Freeform 1381">
            <a:extLst>
              <a:ext uri="{FF2B5EF4-FFF2-40B4-BE49-F238E27FC236}">
                <a16:creationId xmlns:a16="http://schemas.microsoft.com/office/drawing/2014/main" id="{7640FBEB-EED2-917F-C4ED-F44B4F74E3C9}"/>
              </a:ext>
            </a:extLst>
          </p:cNvPr>
          <p:cNvSpPr>
            <a:spLocks noEditPoints="1"/>
          </p:cNvSpPr>
          <p:nvPr/>
        </p:nvSpPr>
        <p:spPr bwMode="auto">
          <a:xfrm>
            <a:off x="2754313" y="2403475"/>
            <a:ext cx="320675" cy="315913"/>
          </a:xfrm>
          <a:custGeom>
            <a:avLst/>
            <a:gdLst>
              <a:gd name="T0" fmla="*/ 201 w 202"/>
              <a:gd name="T1" fmla="*/ 81 h 199"/>
              <a:gd name="T2" fmla="*/ 188 w 202"/>
              <a:gd name="T3" fmla="*/ 48 h 199"/>
              <a:gd name="T4" fmla="*/ 164 w 202"/>
              <a:gd name="T5" fmla="*/ 21 h 199"/>
              <a:gd name="T6" fmla="*/ 135 w 202"/>
              <a:gd name="T7" fmla="*/ 3 h 199"/>
              <a:gd name="T8" fmla="*/ 87 w 202"/>
              <a:gd name="T9" fmla="*/ 0 h 199"/>
              <a:gd name="T10" fmla="*/ 52 w 202"/>
              <a:gd name="T11" fmla="*/ 11 h 199"/>
              <a:gd name="T12" fmla="*/ 25 w 202"/>
              <a:gd name="T13" fmla="*/ 33 h 199"/>
              <a:gd name="T14" fmla="*/ 7 w 202"/>
              <a:gd name="T15" fmla="*/ 63 h 199"/>
              <a:gd name="T16" fmla="*/ 2 w 202"/>
              <a:gd name="T17" fmla="*/ 81 h 199"/>
              <a:gd name="T18" fmla="*/ 0 w 202"/>
              <a:gd name="T19" fmla="*/ 99 h 199"/>
              <a:gd name="T20" fmla="*/ 7 w 202"/>
              <a:gd name="T21" fmla="*/ 134 h 199"/>
              <a:gd name="T22" fmla="*/ 25 w 202"/>
              <a:gd name="T23" fmla="*/ 165 h 199"/>
              <a:gd name="T24" fmla="*/ 52 w 202"/>
              <a:gd name="T25" fmla="*/ 187 h 199"/>
              <a:gd name="T26" fmla="*/ 85 w 202"/>
              <a:gd name="T27" fmla="*/ 199 h 199"/>
              <a:gd name="T28" fmla="*/ 135 w 202"/>
              <a:gd name="T29" fmla="*/ 194 h 199"/>
              <a:gd name="T30" fmla="*/ 164 w 202"/>
              <a:gd name="T31" fmla="*/ 177 h 199"/>
              <a:gd name="T32" fmla="*/ 188 w 202"/>
              <a:gd name="T33" fmla="*/ 151 h 199"/>
              <a:gd name="T34" fmla="*/ 201 w 202"/>
              <a:gd name="T35" fmla="*/ 117 h 199"/>
              <a:gd name="T36" fmla="*/ 197 w 202"/>
              <a:gd name="T37" fmla="*/ 99 h 199"/>
              <a:gd name="T38" fmla="*/ 196 w 202"/>
              <a:gd name="T39" fmla="*/ 119 h 199"/>
              <a:gd name="T40" fmla="*/ 189 w 202"/>
              <a:gd name="T41" fmla="*/ 136 h 199"/>
              <a:gd name="T42" fmla="*/ 181 w 202"/>
              <a:gd name="T43" fmla="*/ 152 h 199"/>
              <a:gd name="T44" fmla="*/ 169 w 202"/>
              <a:gd name="T45" fmla="*/ 167 h 199"/>
              <a:gd name="T46" fmla="*/ 154 w 202"/>
              <a:gd name="T47" fmla="*/ 179 h 199"/>
              <a:gd name="T48" fmla="*/ 138 w 202"/>
              <a:gd name="T49" fmla="*/ 187 h 199"/>
              <a:gd name="T50" fmla="*/ 120 w 202"/>
              <a:gd name="T51" fmla="*/ 194 h 199"/>
              <a:gd name="T52" fmla="*/ 101 w 202"/>
              <a:gd name="T53" fmla="*/ 195 h 199"/>
              <a:gd name="T54" fmla="*/ 82 w 202"/>
              <a:gd name="T55" fmla="*/ 194 h 199"/>
              <a:gd name="T56" fmla="*/ 63 w 202"/>
              <a:gd name="T57" fmla="*/ 187 h 199"/>
              <a:gd name="T58" fmla="*/ 48 w 202"/>
              <a:gd name="T59" fmla="*/ 179 h 199"/>
              <a:gd name="T60" fmla="*/ 34 w 202"/>
              <a:gd name="T61" fmla="*/ 167 h 199"/>
              <a:gd name="T62" fmla="*/ 22 w 202"/>
              <a:gd name="T63" fmla="*/ 152 h 199"/>
              <a:gd name="T64" fmla="*/ 14 w 202"/>
              <a:gd name="T65" fmla="*/ 136 h 199"/>
              <a:gd name="T66" fmla="*/ 7 w 202"/>
              <a:gd name="T67" fmla="*/ 119 h 199"/>
              <a:gd name="T68" fmla="*/ 5 w 202"/>
              <a:gd name="T69" fmla="*/ 99 h 199"/>
              <a:gd name="T70" fmla="*/ 7 w 202"/>
              <a:gd name="T71" fmla="*/ 79 h 199"/>
              <a:gd name="T72" fmla="*/ 14 w 202"/>
              <a:gd name="T73" fmla="*/ 61 h 199"/>
              <a:gd name="T74" fmla="*/ 22 w 202"/>
              <a:gd name="T75" fmla="*/ 46 h 199"/>
              <a:gd name="T76" fmla="*/ 34 w 202"/>
              <a:gd name="T77" fmla="*/ 31 h 199"/>
              <a:gd name="T78" fmla="*/ 48 w 202"/>
              <a:gd name="T79" fmla="*/ 20 h 199"/>
              <a:gd name="T80" fmla="*/ 63 w 202"/>
              <a:gd name="T81" fmla="*/ 11 h 199"/>
              <a:gd name="T82" fmla="*/ 82 w 202"/>
              <a:gd name="T83" fmla="*/ 5 h 199"/>
              <a:gd name="T84" fmla="*/ 101 w 202"/>
              <a:gd name="T85" fmla="*/ 3 h 199"/>
              <a:gd name="T86" fmla="*/ 120 w 202"/>
              <a:gd name="T87" fmla="*/ 5 h 199"/>
              <a:gd name="T88" fmla="*/ 138 w 202"/>
              <a:gd name="T89" fmla="*/ 11 h 199"/>
              <a:gd name="T90" fmla="*/ 154 w 202"/>
              <a:gd name="T91" fmla="*/ 20 h 199"/>
              <a:gd name="T92" fmla="*/ 169 w 202"/>
              <a:gd name="T93" fmla="*/ 31 h 199"/>
              <a:gd name="T94" fmla="*/ 181 w 202"/>
              <a:gd name="T95" fmla="*/ 46 h 199"/>
              <a:gd name="T96" fmla="*/ 189 w 202"/>
              <a:gd name="T97" fmla="*/ 61 h 199"/>
              <a:gd name="T98" fmla="*/ 196 w 202"/>
              <a:gd name="T99" fmla="*/ 79 h 199"/>
              <a:gd name="T100" fmla="*/ 197 w 202"/>
              <a:gd name="T101" fmla="*/ 9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02" h="199">
                <a:moveTo>
                  <a:pt x="202" y="99"/>
                </a:moveTo>
                <a:lnTo>
                  <a:pt x="201" y="81"/>
                </a:lnTo>
                <a:lnTo>
                  <a:pt x="196" y="63"/>
                </a:lnTo>
                <a:lnTo>
                  <a:pt x="188" y="48"/>
                </a:lnTo>
                <a:lnTo>
                  <a:pt x="178" y="33"/>
                </a:lnTo>
                <a:lnTo>
                  <a:pt x="164" y="21"/>
                </a:lnTo>
                <a:lnTo>
                  <a:pt x="149" y="11"/>
                </a:lnTo>
                <a:lnTo>
                  <a:pt x="135" y="3"/>
                </a:lnTo>
                <a:lnTo>
                  <a:pt x="116" y="0"/>
                </a:lnTo>
                <a:lnTo>
                  <a:pt x="87" y="0"/>
                </a:lnTo>
                <a:lnTo>
                  <a:pt x="68" y="3"/>
                </a:lnTo>
                <a:lnTo>
                  <a:pt x="52" y="11"/>
                </a:lnTo>
                <a:lnTo>
                  <a:pt x="37" y="21"/>
                </a:lnTo>
                <a:lnTo>
                  <a:pt x="25" y="33"/>
                </a:lnTo>
                <a:lnTo>
                  <a:pt x="15" y="48"/>
                </a:lnTo>
                <a:lnTo>
                  <a:pt x="7" y="63"/>
                </a:lnTo>
                <a:lnTo>
                  <a:pt x="4" y="71"/>
                </a:lnTo>
                <a:lnTo>
                  <a:pt x="2" y="81"/>
                </a:lnTo>
                <a:lnTo>
                  <a:pt x="0" y="89"/>
                </a:lnTo>
                <a:lnTo>
                  <a:pt x="0" y="99"/>
                </a:lnTo>
                <a:lnTo>
                  <a:pt x="2" y="117"/>
                </a:lnTo>
                <a:lnTo>
                  <a:pt x="7" y="134"/>
                </a:lnTo>
                <a:lnTo>
                  <a:pt x="15" y="151"/>
                </a:lnTo>
                <a:lnTo>
                  <a:pt x="25" y="165"/>
                </a:lnTo>
                <a:lnTo>
                  <a:pt x="37" y="177"/>
                </a:lnTo>
                <a:lnTo>
                  <a:pt x="52" y="187"/>
                </a:lnTo>
                <a:lnTo>
                  <a:pt x="68" y="194"/>
                </a:lnTo>
                <a:lnTo>
                  <a:pt x="85" y="199"/>
                </a:lnTo>
                <a:lnTo>
                  <a:pt x="116" y="199"/>
                </a:lnTo>
                <a:lnTo>
                  <a:pt x="135" y="194"/>
                </a:lnTo>
                <a:lnTo>
                  <a:pt x="151" y="187"/>
                </a:lnTo>
                <a:lnTo>
                  <a:pt x="164" y="177"/>
                </a:lnTo>
                <a:lnTo>
                  <a:pt x="178" y="165"/>
                </a:lnTo>
                <a:lnTo>
                  <a:pt x="188" y="151"/>
                </a:lnTo>
                <a:lnTo>
                  <a:pt x="196" y="134"/>
                </a:lnTo>
                <a:lnTo>
                  <a:pt x="201" y="117"/>
                </a:lnTo>
                <a:lnTo>
                  <a:pt x="202" y="99"/>
                </a:lnTo>
                <a:close/>
                <a:moveTo>
                  <a:pt x="197" y="99"/>
                </a:moveTo>
                <a:lnTo>
                  <a:pt x="196" y="109"/>
                </a:lnTo>
                <a:lnTo>
                  <a:pt x="196" y="119"/>
                </a:lnTo>
                <a:lnTo>
                  <a:pt x="192" y="127"/>
                </a:lnTo>
                <a:lnTo>
                  <a:pt x="189" y="136"/>
                </a:lnTo>
                <a:lnTo>
                  <a:pt x="186" y="144"/>
                </a:lnTo>
                <a:lnTo>
                  <a:pt x="181" y="152"/>
                </a:lnTo>
                <a:lnTo>
                  <a:pt x="174" y="160"/>
                </a:lnTo>
                <a:lnTo>
                  <a:pt x="169" y="167"/>
                </a:lnTo>
                <a:lnTo>
                  <a:pt x="163" y="174"/>
                </a:lnTo>
                <a:lnTo>
                  <a:pt x="154" y="179"/>
                </a:lnTo>
                <a:lnTo>
                  <a:pt x="146" y="184"/>
                </a:lnTo>
                <a:lnTo>
                  <a:pt x="138" y="187"/>
                </a:lnTo>
                <a:lnTo>
                  <a:pt x="130" y="190"/>
                </a:lnTo>
                <a:lnTo>
                  <a:pt x="120" y="194"/>
                </a:lnTo>
                <a:lnTo>
                  <a:pt x="111" y="194"/>
                </a:lnTo>
                <a:lnTo>
                  <a:pt x="101" y="195"/>
                </a:lnTo>
                <a:lnTo>
                  <a:pt x="91" y="194"/>
                </a:lnTo>
                <a:lnTo>
                  <a:pt x="82" y="194"/>
                </a:lnTo>
                <a:lnTo>
                  <a:pt x="73" y="190"/>
                </a:lnTo>
                <a:lnTo>
                  <a:pt x="63" y="187"/>
                </a:lnTo>
                <a:lnTo>
                  <a:pt x="55" y="184"/>
                </a:lnTo>
                <a:lnTo>
                  <a:pt x="48" y="179"/>
                </a:lnTo>
                <a:lnTo>
                  <a:pt x="40" y="174"/>
                </a:lnTo>
                <a:lnTo>
                  <a:pt x="34" y="167"/>
                </a:lnTo>
                <a:lnTo>
                  <a:pt x="27" y="160"/>
                </a:lnTo>
                <a:lnTo>
                  <a:pt x="22" y="152"/>
                </a:lnTo>
                <a:lnTo>
                  <a:pt x="17" y="144"/>
                </a:lnTo>
                <a:lnTo>
                  <a:pt x="14" y="136"/>
                </a:lnTo>
                <a:lnTo>
                  <a:pt x="10" y="127"/>
                </a:lnTo>
                <a:lnTo>
                  <a:pt x="7" y="119"/>
                </a:lnTo>
                <a:lnTo>
                  <a:pt x="5" y="109"/>
                </a:lnTo>
                <a:lnTo>
                  <a:pt x="5" y="99"/>
                </a:lnTo>
                <a:lnTo>
                  <a:pt x="5" y="89"/>
                </a:lnTo>
                <a:lnTo>
                  <a:pt x="7" y="79"/>
                </a:lnTo>
                <a:lnTo>
                  <a:pt x="10" y="71"/>
                </a:lnTo>
                <a:lnTo>
                  <a:pt x="14" y="61"/>
                </a:lnTo>
                <a:lnTo>
                  <a:pt x="17" y="53"/>
                </a:lnTo>
                <a:lnTo>
                  <a:pt x="22" y="46"/>
                </a:lnTo>
                <a:lnTo>
                  <a:pt x="27" y="38"/>
                </a:lnTo>
                <a:lnTo>
                  <a:pt x="34" y="31"/>
                </a:lnTo>
                <a:lnTo>
                  <a:pt x="40" y="25"/>
                </a:lnTo>
                <a:lnTo>
                  <a:pt x="48" y="20"/>
                </a:lnTo>
                <a:lnTo>
                  <a:pt x="55" y="15"/>
                </a:lnTo>
                <a:lnTo>
                  <a:pt x="63" y="11"/>
                </a:lnTo>
                <a:lnTo>
                  <a:pt x="73" y="8"/>
                </a:lnTo>
                <a:lnTo>
                  <a:pt x="82" y="5"/>
                </a:lnTo>
                <a:lnTo>
                  <a:pt x="91" y="3"/>
                </a:lnTo>
                <a:lnTo>
                  <a:pt x="101" y="3"/>
                </a:lnTo>
                <a:lnTo>
                  <a:pt x="111" y="3"/>
                </a:lnTo>
                <a:lnTo>
                  <a:pt x="120" y="5"/>
                </a:lnTo>
                <a:lnTo>
                  <a:pt x="130" y="8"/>
                </a:lnTo>
                <a:lnTo>
                  <a:pt x="138" y="11"/>
                </a:lnTo>
                <a:lnTo>
                  <a:pt x="146" y="15"/>
                </a:lnTo>
                <a:lnTo>
                  <a:pt x="154" y="20"/>
                </a:lnTo>
                <a:lnTo>
                  <a:pt x="163" y="25"/>
                </a:lnTo>
                <a:lnTo>
                  <a:pt x="169" y="31"/>
                </a:lnTo>
                <a:lnTo>
                  <a:pt x="174" y="38"/>
                </a:lnTo>
                <a:lnTo>
                  <a:pt x="181" y="46"/>
                </a:lnTo>
                <a:lnTo>
                  <a:pt x="186" y="53"/>
                </a:lnTo>
                <a:lnTo>
                  <a:pt x="189" y="61"/>
                </a:lnTo>
                <a:lnTo>
                  <a:pt x="192" y="71"/>
                </a:lnTo>
                <a:lnTo>
                  <a:pt x="196" y="79"/>
                </a:lnTo>
                <a:lnTo>
                  <a:pt x="196" y="89"/>
                </a:lnTo>
                <a:lnTo>
                  <a:pt x="197" y="99"/>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77" name="Freeform 1382">
            <a:extLst>
              <a:ext uri="{FF2B5EF4-FFF2-40B4-BE49-F238E27FC236}">
                <a16:creationId xmlns:a16="http://schemas.microsoft.com/office/drawing/2014/main" id="{61E32385-357D-38BA-7614-5349D7813E98}"/>
              </a:ext>
            </a:extLst>
          </p:cNvPr>
          <p:cNvSpPr>
            <a:spLocks noEditPoints="1"/>
          </p:cNvSpPr>
          <p:nvPr/>
        </p:nvSpPr>
        <p:spPr bwMode="auto">
          <a:xfrm>
            <a:off x="2760663" y="2405063"/>
            <a:ext cx="309563" cy="311150"/>
          </a:xfrm>
          <a:custGeom>
            <a:avLst/>
            <a:gdLst>
              <a:gd name="T0" fmla="*/ 193 w 195"/>
              <a:gd name="T1" fmla="*/ 78 h 196"/>
              <a:gd name="T2" fmla="*/ 184 w 195"/>
              <a:gd name="T3" fmla="*/ 52 h 196"/>
              <a:gd name="T4" fmla="*/ 167 w 195"/>
              <a:gd name="T5" fmla="*/ 29 h 196"/>
              <a:gd name="T6" fmla="*/ 144 w 195"/>
              <a:gd name="T7" fmla="*/ 12 h 196"/>
              <a:gd name="T8" fmla="*/ 117 w 195"/>
              <a:gd name="T9" fmla="*/ 2 h 196"/>
              <a:gd name="T10" fmla="*/ 87 w 195"/>
              <a:gd name="T11" fmla="*/ 0 h 196"/>
              <a:gd name="T12" fmla="*/ 59 w 195"/>
              <a:gd name="T13" fmla="*/ 7 h 196"/>
              <a:gd name="T14" fmla="*/ 34 w 195"/>
              <a:gd name="T15" fmla="*/ 22 h 196"/>
              <a:gd name="T16" fmla="*/ 16 w 195"/>
              <a:gd name="T17" fmla="*/ 44 h 196"/>
              <a:gd name="T18" fmla="*/ 3 w 195"/>
              <a:gd name="T19" fmla="*/ 68 h 196"/>
              <a:gd name="T20" fmla="*/ 0 w 195"/>
              <a:gd name="T21" fmla="*/ 98 h 196"/>
              <a:gd name="T22" fmla="*/ 3 w 195"/>
              <a:gd name="T23" fmla="*/ 128 h 196"/>
              <a:gd name="T24" fmla="*/ 16 w 195"/>
              <a:gd name="T25" fmla="*/ 153 h 196"/>
              <a:gd name="T26" fmla="*/ 34 w 195"/>
              <a:gd name="T27" fmla="*/ 174 h 196"/>
              <a:gd name="T28" fmla="*/ 59 w 195"/>
              <a:gd name="T29" fmla="*/ 189 h 196"/>
              <a:gd name="T30" fmla="*/ 87 w 195"/>
              <a:gd name="T31" fmla="*/ 196 h 196"/>
              <a:gd name="T32" fmla="*/ 117 w 195"/>
              <a:gd name="T33" fmla="*/ 194 h 196"/>
              <a:gd name="T34" fmla="*/ 144 w 195"/>
              <a:gd name="T35" fmla="*/ 184 h 196"/>
              <a:gd name="T36" fmla="*/ 167 w 195"/>
              <a:gd name="T37" fmla="*/ 168 h 196"/>
              <a:gd name="T38" fmla="*/ 184 w 195"/>
              <a:gd name="T39" fmla="*/ 145 h 196"/>
              <a:gd name="T40" fmla="*/ 193 w 195"/>
              <a:gd name="T41" fmla="*/ 118 h 196"/>
              <a:gd name="T42" fmla="*/ 190 w 195"/>
              <a:gd name="T43" fmla="*/ 98 h 196"/>
              <a:gd name="T44" fmla="*/ 187 w 195"/>
              <a:gd name="T45" fmla="*/ 126 h 196"/>
              <a:gd name="T46" fmla="*/ 175 w 195"/>
              <a:gd name="T47" fmla="*/ 150 h 196"/>
              <a:gd name="T48" fmla="*/ 157 w 195"/>
              <a:gd name="T49" fmla="*/ 169 h 196"/>
              <a:gd name="T50" fmla="*/ 134 w 195"/>
              <a:gd name="T51" fmla="*/ 184 h 196"/>
              <a:gd name="T52" fmla="*/ 107 w 195"/>
              <a:gd name="T53" fmla="*/ 191 h 196"/>
              <a:gd name="T54" fmla="*/ 78 w 195"/>
              <a:gd name="T55" fmla="*/ 189 h 196"/>
              <a:gd name="T56" fmla="*/ 53 w 195"/>
              <a:gd name="T57" fmla="*/ 179 h 196"/>
              <a:gd name="T58" fmla="*/ 31 w 195"/>
              <a:gd name="T59" fmla="*/ 164 h 196"/>
              <a:gd name="T60" fmla="*/ 15 w 195"/>
              <a:gd name="T61" fmla="*/ 143 h 196"/>
              <a:gd name="T62" fmla="*/ 6 w 195"/>
              <a:gd name="T63" fmla="*/ 116 h 196"/>
              <a:gd name="T64" fmla="*/ 5 w 195"/>
              <a:gd name="T65" fmla="*/ 88 h 196"/>
              <a:gd name="T66" fmla="*/ 11 w 195"/>
              <a:gd name="T67" fmla="*/ 62 h 196"/>
              <a:gd name="T68" fmla="*/ 25 w 195"/>
              <a:gd name="T69" fmla="*/ 39 h 196"/>
              <a:gd name="T70" fmla="*/ 44 w 195"/>
              <a:gd name="T71" fmla="*/ 20 h 196"/>
              <a:gd name="T72" fmla="*/ 69 w 195"/>
              <a:gd name="T73" fmla="*/ 9 h 196"/>
              <a:gd name="T74" fmla="*/ 97 w 195"/>
              <a:gd name="T75" fmla="*/ 4 h 196"/>
              <a:gd name="T76" fmla="*/ 126 w 195"/>
              <a:gd name="T77" fmla="*/ 9 h 196"/>
              <a:gd name="T78" fmla="*/ 149 w 195"/>
              <a:gd name="T79" fmla="*/ 20 h 196"/>
              <a:gd name="T80" fmla="*/ 169 w 195"/>
              <a:gd name="T81" fmla="*/ 39 h 196"/>
              <a:gd name="T82" fmla="*/ 184 w 195"/>
              <a:gd name="T83" fmla="*/ 62 h 196"/>
              <a:gd name="T84" fmla="*/ 190 w 195"/>
              <a:gd name="T85" fmla="*/ 88 h 1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95" h="196">
                <a:moveTo>
                  <a:pt x="195" y="98"/>
                </a:moveTo>
                <a:lnTo>
                  <a:pt x="195" y="88"/>
                </a:lnTo>
                <a:lnTo>
                  <a:pt x="193" y="78"/>
                </a:lnTo>
                <a:lnTo>
                  <a:pt x="190" y="68"/>
                </a:lnTo>
                <a:lnTo>
                  <a:pt x="187" y="60"/>
                </a:lnTo>
                <a:lnTo>
                  <a:pt x="184" y="52"/>
                </a:lnTo>
                <a:lnTo>
                  <a:pt x="179" y="44"/>
                </a:lnTo>
                <a:lnTo>
                  <a:pt x="174" y="35"/>
                </a:lnTo>
                <a:lnTo>
                  <a:pt x="167" y="29"/>
                </a:lnTo>
                <a:lnTo>
                  <a:pt x="160" y="22"/>
                </a:lnTo>
                <a:lnTo>
                  <a:pt x="152" y="17"/>
                </a:lnTo>
                <a:lnTo>
                  <a:pt x="144" y="12"/>
                </a:lnTo>
                <a:lnTo>
                  <a:pt x="135" y="7"/>
                </a:lnTo>
                <a:lnTo>
                  <a:pt x="126" y="4"/>
                </a:lnTo>
                <a:lnTo>
                  <a:pt x="117" y="2"/>
                </a:lnTo>
                <a:lnTo>
                  <a:pt x="107" y="0"/>
                </a:lnTo>
                <a:lnTo>
                  <a:pt x="97" y="0"/>
                </a:lnTo>
                <a:lnTo>
                  <a:pt x="87" y="0"/>
                </a:lnTo>
                <a:lnTo>
                  <a:pt x="78" y="2"/>
                </a:lnTo>
                <a:lnTo>
                  <a:pt x="68" y="4"/>
                </a:lnTo>
                <a:lnTo>
                  <a:pt x="59" y="7"/>
                </a:lnTo>
                <a:lnTo>
                  <a:pt x="51" y="12"/>
                </a:lnTo>
                <a:lnTo>
                  <a:pt x="43" y="17"/>
                </a:lnTo>
                <a:lnTo>
                  <a:pt x="34" y="22"/>
                </a:lnTo>
                <a:lnTo>
                  <a:pt x="28" y="29"/>
                </a:lnTo>
                <a:lnTo>
                  <a:pt x="21" y="35"/>
                </a:lnTo>
                <a:lnTo>
                  <a:pt x="16" y="44"/>
                </a:lnTo>
                <a:lnTo>
                  <a:pt x="11" y="52"/>
                </a:lnTo>
                <a:lnTo>
                  <a:pt x="6" y="60"/>
                </a:lnTo>
                <a:lnTo>
                  <a:pt x="3" y="68"/>
                </a:lnTo>
                <a:lnTo>
                  <a:pt x="1" y="78"/>
                </a:lnTo>
                <a:lnTo>
                  <a:pt x="0" y="88"/>
                </a:lnTo>
                <a:lnTo>
                  <a:pt x="0" y="98"/>
                </a:lnTo>
                <a:lnTo>
                  <a:pt x="0" y="108"/>
                </a:lnTo>
                <a:lnTo>
                  <a:pt x="1" y="118"/>
                </a:lnTo>
                <a:lnTo>
                  <a:pt x="3" y="128"/>
                </a:lnTo>
                <a:lnTo>
                  <a:pt x="6" y="136"/>
                </a:lnTo>
                <a:lnTo>
                  <a:pt x="11" y="145"/>
                </a:lnTo>
                <a:lnTo>
                  <a:pt x="16" y="153"/>
                </a:lnTo>
                <a:lnTo>
                  <a:pt x="21" y="161"/>
                </a:lnTo>
                <a:lnTo>
                  <a:pt x="28" y="168"/>
                </a:lnTo>
                <a:lnTo>
                  <a:pt x="34" y="174"/>
                </a:lnTo>
                <a:lnTo>
                  <a:pt x="43" y="179"/>
                </a:lnTo>
                <a:lnTo>
                  <a:pt x="51" y="184"/>
                </a:lnTo>
                <a:lnTo>
                  <a:pt x="59" y="189"/>
                </a:lnTo>
                <a:lnTo>
                  <a:pt x="68" y="193"/>
                </a:lnTo>
                <a:lnTo>
                  <a:pt x="78" y="194"/>
                </a:lnTo>
                <a:lnTo>
                  <a:pt x="87" y="196"/>
                </a:lnTo>
                <a:lnTo>
                  <a:pt x="97" y="196"/>
                </a:lnTo>
                <a:lnTo>
                  <a:pt x="107" y="196"/>
                </a:lnTo>
                <a:lnTo>
                  <a:pt x="117" y="194"/>
                </a:lnTo>
                <a:lnTo>
                  <a:pt x="126" y="193"/>
                </a:lnTo>
                <a:lnTo>
                  <a:pt x="135" y="189"/>
                </a:lnTo>
                <a:lnTo>
                  <a:pt x="144" y="184"/>
                </a:lnTo>
                <a:lnTo>
                  <a:pt x="152" y="179"/>
                </a:lnTo>
                <a:lnTo>
                  <a:pt x="160" y="174"/>
                </a:lnTo>
                <a:lnTo>
                  <a:pt x="167" y="168"/>
                </a:lnTo>
                <a:lnTo>
                  <a:pt x="174" y="161"/>
                </a:lnTo>
                <a:lnTo>
                  <a:pt x="179" y="153"/>
                </a:lnTo>
                <a:lnTo>
                  <a:pt x="184" y="145"/>
                </a:lnTo>
                <a:lnTo>
                  <a:pt x="187" y="136"/>
                </a:lnTo>
                <a:lnTo>
                  <a:pt x="190" y="128"/>
                </a:lnTo>
                <a:lnTo>
                  <a:pt x="193" y="118"/>
                </a:lnTo>
                <a:lnTo>
                  <a:pt x="195" y="108"/>
                </a:lnTo>
                <a:lnTo>
                  <a:pt x="195" y="98"/>
                </a:lnTo>
                <a:close/>
                <a:moveTo>
                  <a:pt x="190" y="98"/>
                </a:moveTo>
                <a:lnTo>
                  <a:pt x="190" y="108"/>
                </a:lnTo>
                <a:lnTo>
                  <a:pt x="188" y="116"/>
                </a:lnTo>
                <a:lnTo>
                  <a:pt x="187" y="126"/>
                </a:lnTo>
                <a:lnTo>
                  <a:pt x="184" y="135"/>
                </a:lnTo>
                <a:lnTo>
                  <a:pt x="179" y="143"/>
                </a:lnTo>
                <a:lnTo>
                  <a:pt x="175" y="150"/>
                </a:lnTo>
                <a:lnTo>
                  <a:pt x="169" y="158"/>
                </a:lnTo>
                <a:lnTo>
                  <a:pt x="164" y="164"/>
                </a:lnTo>
                <a:lnTo>
                  <a:pt x="157" y="169"/>
                </a:lnTo>
                <a:lnTo>
                  <a:pt x="149" y="176"/>
                </a:lnTo>
                <a:lnTo>
                  <a:pt x="142" y="179"/>
                </a:lnTo>
                <a:lnTo>
                  <a:pt x="134" y="184"/>
                </a:lnTo>
                <a:lnTo>
                  <a:pt x="126" y="188"/>
                </a:lnTo>
                <a:lnTo>
                  <a:pt x="116" y="189"/>
                </a:lnTo>
                <a:lnTo>
                  <a:pt x="107" y="191"/>
                </a:lnTo>
                <a:lnTo>
                  <a:pt x="97" y="191"/>
                </a:lnTo>
                <a:lnTo>
                  <a:pt x="87" y="191"/>
                </a:lnTo>
                <a:lnTo>
                  <a:pt x="78" y="189"/>
                </a:lnTo>
                <a:lnTo>
                  <a:pt x="69" y="188"/>
                </a:lnTo>
                <a:lnTo>
                  <a:pt x="61" y="184"/>
                </a:lnTo>
                <a:lnTo>
                  <a:pt x="53" y="179"/>
                </a:lnTo>
                <a:lnTo>
                  <a:pt x="44" y="176"/>
                </a:lnTo>
                <a:lnTo>
                  <a:pt x="38" y="169"/>
                </a:lnTo>
                <a:lnTo>
                  <a:pt x="31" y="164"/>
                </a:lnTo>
                <a:lnTo>
                  <a:pt x="25" y="158"/>
                </a:lnTo>
                <a:lnTo>
                  <a:pt x="20" y="150"/>
                </a:lnTo>
                <a:lnTo>
                  <a:pt x="15" y="143"/>
                </a:lnTo>
                <a:lnTo>
                  <a:pt x="11" y="135"/>
                </a:lnTo>
                <a:lnTo>
                  <a:pt x="8" y="126"/>
                </a:lnTo>
                <a:lnTo>
                  <a:pt x="6" y="116"/>
                </a:lnTo>
                <a:lnTo>
                  <a:pt x="5" y="108"/>
                </a:lnTo>
                <a:lnTo>
                  <a:pt x="3" y="98"/>
                </a:lnTo>
                <a:lnTo>
                  <a:pt x="5" y="88"/>
                </a:lnTo>
                <a:lnTo>
                  <a:pt x="6" y="80"/>
                </a:lnTo>
                <a:lnTo>
                  <a:pt x="8" y="70"/>
                </a:lnTo>
                <a:lnTo>
                  <a:pt x="11" y="62"/>
                </a:lnTo>
                <a:lnTo>
                  <a:pt x="15" y="53"/>
                </a:lnTo>
                <a:lnTo>
                  <a:pt x="20" y="45"/>
                </a:lnTo>
                <a:lnTo>
                  <a:pt x="25" y="39"/>
                </a:lnTo>
                <a:lnTo>
                  <a:pt x="31" y="32"/>
                </a:lnTo>
                <a:lnTo>
                  <a:pt x="38" y="25"/>
                </a:lnTo>
                <a:lnTo>
                  <a:pt x="44" y="20"/>
                </a:lnTo>
                <a:lnTo>
                  <a:pt x="53" y="15"/>
                </a:lnTo>
                <a:lnTo>
                  <a:pt x="61" y="12"/>
                </a:lnTo>
                <a:lnTo>
                  <a:pt x="69" y="9"/>
                </a:lnTo>
                <a:lnTo>
                  <a:pt x="78" y="7"/>
                </a:lnTo>
                <a:lnTo>
                  <a:pt x="87" y="5"/>
                </a:lnTo>
                <a:lnTo>
                  <a:pt x="97" y="4"/>
                </a:lnTo>
                <a:lnTo>
                  <a:pt x="107" y="5"/>
                </a:lnTo>
                <a:lnTo>
                  <a:pt x="116" y="7"/>
                </a:lnTo>
                <a:lnTo>
                  <a:pt x="126" y="9"/>
                </a:lnTo>
                <a:lnTo>
                  <a:pt x="134" y="12"/>
                </a:lnTo>
                <a:lnTo>
                  <a:pt x="142" y="15"/>
                </a:lnTo>
                <a:lnTo>
                  <a:pt x="149" y="20"/>
                </a:lnTo>
                <a:lnTo>
                  <a:pt x="157" y="25"/>
                </a:lnTo>
                <a:lnTo>
                  <a:pt x="164" y="32"/>
                </a:lnTo>
                <a:lnTo>
                  <a:pt x="169" y="39"/>
                </a:lnTo>
                <a:lnTo>
                  <a:pt x="175" y="45"/>
                </a:lnTo>
                <a:lnTo>
                  <a:pt x="179" y="53"/>
                </a:lnTo>
                <a:lnTo>
                  <a:pt x="184" y="62"/>
                </a:lnTo>
                <a:lnTo>
                  <a:pt x="187" y="70"/>
                </a:lnTo>
                <a:lnTo>
                  <a:pt x="188" y="80"/>
                </a:lnTo>
                <a:lnTo>
                  <a:pt x="190" y="88"/>
                </a:lnTo>
                <a:lnTo>
                  <a:pt x="190" y="98"/>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78" name="Freeform 1383">
            <a:extLst>
              <a:ext uri="{FF2B5EF4-FFF2-40B4-BE49-F238E27FC236}">
                <a16:creationId xmlns:a16="http://schemas.microsoft.com/office/drawing/2014/main" id="{95BAF04D-C114-E980-6A67-277228B358E2}"/>
              </a:ext>
            </a:extLst>
          </p:cNvPr>
          <p:cNvSpPr>
            <a:spLocks noEditPoints="1"/>
          </p:cNvSpPr>
          <p:nvPr/>
        </p:nvSpPr>
        <p:spPr bwMode="auto">
          <a:xfrm>
            <a:off x="2762250" y="2408238"/>
            <a:ext cx="304800" cy="304800"/>
          </a:xfrm>
          <a:custGeom>
            <a:avLst/>
            <a:gdLst>
              <a:gd name="T0" fmla="*/ 191 w 192"/>
              <a:gd name="T1" fmla="*/ 76 h 192"/>
              <a:gd name="T2" fmla="*/ 181 w 192"/>
              <a:gd name="T3" fmla="*/ 50 h 192"/>
              <a:gd name="T4" fmla="*/ 164 w 192"/>
              <a:gd name="T5" fmla="*/ 28 h 192"/>
              <a:gd name="T6" fmla="*/ 141 w 192"/>
              <a:gd name="T7" fmla="*/ 12 h 192"/>
              <a:gd name="T8" fmla="*/ 115 w 192"/>
              <a:gd name="T9" fmla="*/ 2 h 192"/>
              <a:gd name="T10" fmla="*/ 86 w 192"/>
              <a:gd name="T11" fmla="*/ 0 h 192"/>
              <a:gd name="T12" fmla="*/ 58 w 192"/>
              <a:gd name="T13" fmla="*/ 8 h 192"/>
              <a:gd name="T14" fmla="*/ 35 w 192"/>
              <a:gd name="T15" fmla="*/ 22 h 192"/>
              <a:gd name="T16" fmla="*/ 17 w 192"/>
              <a:gd name="T17" fmla="*/ 43 h 192"/>
              <a:gd name="T18" fmla="*/ 5 w 192"/>
              <a:gd name="T19" fmla="*/ 68 h 192"/>
              <a:gd name="T20" fmla="*/ 0 w 192"/>
              <a:gd name="T21" fmla="*/ 96 h 192"/>
              <a:gd name="T22" fmla="*/ 5 w 192"/>
              <a:gd name="T23" fmla="*/ 124 h 192"/>
              <a:gd name="T24" fmla="*/ 17 w 192"/>
              <a:gd name="T25" fmla="*/ 149 h 192"/>
              <a:gd name="T26" fmla="*/ 35 w 192"/>
              <a:gd name="T27" fmla="*/ 171 h 192"/>
              <a:gd name="T28" fmla="*/ 58 w 192"/>
              <a:gd name="T29" fmla="*/ 184 h 192"/>
              <a:gd name="T30" fmla="*/ 86 w 192"/>
              <a:gd name="T31" fmla="*/ 191 h 192"/>
              <a:gd name="T32" fmla="*/ 115 w 192"/>
              <a:gd name="T33" fmla="*/ 191 h 192"/>
              <a:gd name="T34" fmla="*/ 141 w 192"/>
              <a:gd name="T35" fmla="*/ 181 h 192"/>
              <a:gd name="T36" fmla="*/ 164 w 192"/>
              <a:gd name="T37" fmla="*/ 164 h 192"/>
              <a:gd name="T38" fmla="*/ 181 w 192"/>
              <a:gd name="T39" fmla="*/ 141 h 192"/>
              <a:gd name="T40" fmla="*/ 191 w 192"/>
              <a:gd name="T41" fmla="*/ 116 h 192"/>
              <a:gd name="T42" fmla="*/ 187 w 192"/>
              <a:gd name="T43" fmla="*/ 96 h 192"/>
              <a:gd name="T44" fmla="*/ 183 w 192"/>
              <a:gd name="T45" fmla="*/ 123 h 192"/>
              <a:gd name="T46" fmla="*/ 171 w 192"/>
              <a:gd name="T47" fmla="*/ 148 h 192"/>
              <a:gd name="T48" fmla="*/ 154 w 192"/>
              <a:gd name="T49" fmla="*/ 166 h 192"/>
              <a:gd name="T50" fmla="*/ 131 w 192"/>
              <a:gd name="T51" fmla="*/ 181 h 192"/>
              <a:gd name="T52" fmla="*/ 105 w 192"/>
              <a:gd name="T53" fmla="*/ 187 h 192"/>
              <a:gd name="T54" fmla="*/ 78 w 192"/>
              <a:gd name="T55" fmla="*/ 186 h 192"/>
              <a:gd name="T56" fmla="*/ 53 w 192"/>
              <a:gd name="T57" fmla="*/ 176 h 192"/>
              <a:gd name="T58" fmla="*/ 32 w 192"/>
              <a:gd name="T59" fmla="*/ 161 h 192"/>
              <a:gd name="T60" fmla="*/ 17 w 192"/>
              <a:gd name="T61" fmla="*/ 139 h 192"/>
              <a:gd name="T62" fmla="*/ 7 w 192"/>
              <a:gd name="T63" fmla="*/ 114 h 192"/>
              <a:gd name="T64" fmla="*/ 5 w 192"/>
              <a:gd name="T65" fmla="*/ 86 h 192"/>
              <a:gd name="T66" fmla="*/ 12 w 192"/>
              <a:gd name="T67" fmla="*/ 61 h 192"/>
              <a:gd name="T68" fmla="*/ 25 w 192"/>
              <a:gd name="T69" fmla="*/ 38 h 192"/>
              <a:gd name="T70" fmla="*/ 45 w 192"/>
              <a:gd name="T71" fmla="*/ 20 h 192"/>
              <a:gd name="T72" fmla="*/ 70 w 192"/>
              <a:gd name="T73" fmla="*/ 8 h 192"/>
              <a:gd name="T74" fmla="*/ 96 w 192"/>
              <a:gd name="T75" fmla="*/ 5 h 192"/>
              <a:gd name="T76" fmla="*/ 123 w 192"/>
              <a:gd name="T77" fmla="*/ 8 h 192"/>
              <a:gd name="T78" fmla="*/ 148 w 192"/>
              <a:gd name="T79" fmla="*/ 20 h 192"/>
              <a:gd name="T80" fmla="*/ 166 w 192"/>
              <a:gd name="T81" fmla="*/ 38 h 192"/>
              <a:gd name="T82" fmla="*/ 179 w 192"/>
              <a:gd name="T83" fmla="*/ 61 h 192"/>
              <a:gd name="T84" fmla="*/ 187 w 192"/>
              <a:gd name="T85" fmla="*/ 8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92" h="192">
                <a:moveTo>
                  <a:pt x="192" y="96"/>
                </a:moveTo>
                <a:lnTo>
                  <a:pt x="191" y="86"/>
                </a:lnTo>
                <a:lnTo>
                  <a:pt x="191" y="76"/>
                </a:lnTo>
                <a:lnTo>
                  <a:pt x="187" y="68"/>
                </a:lnTo>
                <a:lnTo>
                  <a:pt x="184" y="58"/>
                </a:lnTo>
                <a:lnTo>
                  <a:pt x="181" y="50"/>
                </a:lnTo>
                <a:lnTo>
                  <a:pt x="176" y="43"/>
                </a:lnTo>
                <a:lnTo>
                  <a:pt x="169" y="35"/>
                </a:lnTo>
                <a:lnTo>
                  <a:pt x="164" y="28"/>
                </a:lnTo>
                <a:lnTo>
                  <a:pt x="158" y="22"/>
                </a:lnTo>
                <a:lnTo>
                  <a:pt x="149" y="17"/>
                </a:lnTo>
                <a:lnTo>
                  <a:pt x="141" y="12"/>
                </a:lnTo>
                <a:lnTo>
                  <a:pt x="133" y="8"/>
                </a:lnTo>
                <a:lnTo>
                  <a:pt x="125" y="5"/>
                </a:lnTo>
                <a:lnTo>
                  <a:pt x="115" y="2"/>
                </a:lnTo>
                <a:lnTo>
                  <a:pt x="106" y="0"/>
                </a:lnTo>
                <a:lnTo>
                  <a:pt x="96" y="0"/>
                </a:lnTo>
                <a:lnTo>
                  <a:pt x="86" y="0"/>
                </a:lnTo>
                <a:lnTo>
                  <a:pt x="77" y="2"/>
                </a:lnTo>
                <a:lnTo>
                  <a:pt x="68" y="5"/>
                </a:lnTo>
                <a:lnTo>
                  <a:pt x="58" y="8"/>
                </a:lnTo>
                <a:lnTo>
                  <a:pt x="50" y="12"/>
                </a:lnTo>
                <a:lnTo>
                  <a:pt x="43" y="17"/>
                </a:lnTo>
                <a:lnTo>
                  <a:pt x="35" y="22"/>
                </a:lnTo>
                <a:lnTo>
                  <a:pt x="29" y="28"/>
                </a:lnTo>
                <a:lnTo>
                  <a:pt x="22" y="35"/>
                </a:lnTo>
                <a:lnTo>
                  <a:pt x="17" y="43"/>
                </a:lnTo>
                <a:lnTo>
                  <a:pt x="12" y="50"/>
                </a:lnTo>
                <a:lnTo>
                  <a:pt x="9" y="58"/>
                </a:lnTo>
                <a:lnTo>
                  <a:pt x="5" y="68"/>
                </a:lnTo>
                <a:lnTo>
                  <a:pt x="2" y="76"/>
                </a:lnTo>
                <a:lnTo>
                  <a:pt x="0" y="86"/>
                </a:lnTo>
                <a:lnTo>
                  <a:pt x="0" y="96"/>
                </a:lnTo>
                <a:lnTo>
                  <a:pt x="0" y="106"/>
                </a:lnTo>
                <a:lnTo>
                  <a:pt x="2" y="116"/>
                </a:lnTo>
                <a:lnTo>
                  <a:pt x="5" y="124"/>
                </a:lnTo>
                <a:lnTo>
                  <a:pt x="9" y="133"/>
                </a:lnTo>
                <a:lnTo>
                  <a:pt x="12" y="141"/>
                </a:lnTo>
                <a:lnTo>
                  <a:pt x="17" y="149"/>
                </a:lnTo>
                <a:lnTo>
                  <a:pt x="22" y="157"/>
                </a:lnTo>
                <a:lnTo>
                  <a:pt x="29" y="164"/>
                </a:lnTo>
                <a:lnTo>
                  <a:pt x="35" y="171"/>
                </a:lnTo>
                <a:lnTo>
                  <a:pt x="43" y="176"/>
                </a:lnTo>
                <a:lnTo>
                  <a:pt x="50" y="181"/>
                </a:lnTo>
                <a:lnTo>
                  <a:pt x="58" y="184"/>
                </a:lnTo>
                <a:lnTo>
                  <a:pt x="68" y="187"/>
                </a:lnTo>
                <a:lnTo>
                  <a:pt x="77" y="191"/>
                </a:lnTo>
                <a:lnTo>
                  <a:pt x="86" y="191"/>
                </a:lnTo>
                <a:lnTo>
                  <a:pt x="96" y="192"/>
                </a:lnTo>
                <a:lnTo>
                  <a:pt x="106" y="191"/>
                </a:lnTo>
                <a:lnTo>
                  <a:pt x="115" y="191"/>
                </a:lnTo>
                <a:lnTo>
                  <a:pt x="125" y="187"/>
                </a:lnTo>
                <a:lnTo>
                  <a:pt x="133" y="184"/>
                </a:lnTo>
                <a:lnTo>
                  <a:pt x="141" y="181"/>
                </a:lnTo>
                <a:lnTo>
                  <a:pt x="149" y="176"/>
                </a:lnTo>
                <a:lnTo>
                  <a:pt x="158" y="171"/>
                </a:lnTo>
                <a:lnTo>
                  <a:pt x="164" y="164"/>
                </a:lnTo>
                <a:lnTo>
                  <a:pt x="169" y="157"/>
                </a:lnTo>
                <a:lnTo>
                  <a:pt x="176" y="149"/>
                </a:lnTo>
                <a:lnTo>
                  <a:pt x="181" y="141"/>
                </a:lnTo>
                <a:lnTo>
                  <a:pt x="184" y="133"/>
                </a:lnTo>
                <a:lnTo>
                  <a:pt x="187" y="124"/>
                </a:lnTo>
                <a:lnTo>
                  <a:pt x="191" y="116"/>
                </a:lnTo>
                <a:lnTo>
                  <a:pt x="191" y="106"/>
                </a:lnTo>
                <a:lnTo>
                  <a:pt x="192" y="96"/>
                </a:lnTo>
                <a:close/>
                <a:moveTo>
                  <a:pt x="187" y="96"/>
                </a:moveTo>
                <a:lnTo>
                  <a:pt x="187" y="106"/>
                </a:lnTo>
                <a:lnTo>
                  <a:pt x="186" y="114"/>
                </a:lnTo>
                <a:lnTo>
                  <a:pt x="183" y="123"/>
                </a:lnTo>
                <a:lnTo>
                  <a:pt x="179" y="131"/>
                </a:lnTo>
                <a:lnTo>
                  <a:pt x="176" y="139"/>
                </a:lnTo>
                <a:lnTo>
                  <a:pt x="171" y="148"/>
                </a:lnTo>
                <a:lnTo>
                  <a:pt x="166" y="154"/>
                </a:lnTo>
                <a:lnTo>
                  <a:pt x="161" y="161"/>
                </a:lnTo>
                <a:lnTo>
                  <a:pt x="154" y="166"/>
                </a:lnTo>
                <a:lnTo>
                  <a:pt x="148" y="171"/>
                </a:lnTo>
                <a:lnTo>
                  <a:pt x="139" y="176"/>
                </a:lnTo>
                <a:lnTo>
                  <a:pt x="131" y="181"/>
                </a:lnTo>
                <a:lnTo>
                  <a:pt x="123" y="182"/>
                </a:lnTo>
                <a:lnTo>
                  <a:pt x="115" y="186"/>
                </a:lnTo>
                <a:lnTo>
                  <a:pt x="105" y="187"/>
                </a:lnTo>
                <a:lnTo>
                  <a:pt x="96" y="187"/>
                </a:lnTo>
                <a:lnTo>
                  <a:pt x="86" y="187"/>
                </a:lnTo>
                <a:lnTo>
                  <a:pt x="78" y="186"/>
                </a:lnTo>
                <a:lnTo>
                  <a:pt x="70" y="182"/>
                </a:lnTo>
                <a:lnTo>
                  <a:pt x="60" y="181"/>
                </a:lnTo>
                <a:lnTo>
                  <a:pt x="53" y="176"/>
                </a:lnTo>
                <a:lnTo>
                  <a:pt x="45" y="171"/>
                </a:lnTo>
                <a:lnTo>
                  <a:pt x="38" y="166"/>
                </a:lnTo>
                <a:lnTo>
                  <a:pt x="32" y="161"/>
                </a:lnTo>
                <a:lnTo>
                  <a:pt x="25" y="154"/>
                </a:lnTo>
                <a:lnTo>
                  <a:pt x="20" y="148"/>
                </a:lnTo>
                <a:lnTo>
                  <a:pt x="17" y="139"/>
                </a:lnTo>
                <a:lnTo>
                  <a:pt x="12" y="131"/>
                </a:lnTo>
                <a:lnTo>
                  <a:pt x="9" y="123"/>
                </a:lnTo>
                <a:lnTo>
                  <a:pt x="7" y="114"/>
                </a:lnTo>
                <a:lnTo>
                  <a:pt x="5" y="106"/>
                </a:lnTo>
                <a:lnTo>
                  <a:pt x="5" y="96"/>
                </a:lnTo>
                <a:lnTo>
                  <a:pt x="5" y="86"/>
                </a:lnTo>
                <a:lnTo>
                  <a:pt x="7" y="78"/>
                </a:lnTo>
                <a:lnTo>
                  <a:pt x="9" y="70"/>
                </a:lnTo>
                <a:lnTo>
                  <a:pt x="12" y="61"/>
                </a:lnTo>
                <a:lnTo>
                  <a:pt x="17" y="53"/>
                </a:lnTo>
                <a:lnTo>
                  <a:pt x="20" y="45"/>
                </a:lnTo>
                <a:lnTo>
                  <a:pt x="25" y="38"/>
                </a:lnTo>
                <a:lnTo>
                  <a:pt x="32" y="32"/>
                </a:lnTo>
                <a:lnTo>
                  <a:pt x="38" y="25"/>
                </a:lnTo>
                <a:lnTo>
                  <a:pt x="45" y="20"/>
                </a:lnTo>
                <a:lnTo>
                  <a:pt x="53" y="17"/>
                </a:lnTo>
                <a:lnTo>
                  <a:pt x="60" y="12"/>
                </a:lnTo>
                <a:lnTo>
                  <a:pt x="70" y="8"/>
                </a:lnTo>
                <a:lnTo>
                  <a:pt x="78" y="7"/>
                </a:lnTo>
                <a:lnTo>
                  <a:pt x="86" y="5"/>
                </a:lnTo>
                <a:lnTo>
                  <a:pt x="96" y="5"/>
                </a:lnTo>
                <a:lnTo>
                  <a:pt x="105" y="5"/>
                </a:lnTo>
                <a:lnTo>
                  <a:pt x="115" y="7"/>
                </a:lnTo>
                <a:lnTo>
                  <a:pt x="123" y="8"/>
                </a:lnTo>
                <a:lnTo>
                  <a:pt x="131" y="12"/>
                </a:lnTo>
                <a:lnTo>
                  <a:pt x="139" y="17"/>
                </a:lnTo>
                <a:lnTo>
                  <a:pt x="148" y="20"/>
                </a:lnTo>
                <a:lnTo>
                  <a:pt x="154" y="25"/>
                </a:lnTo>
                <a:lnTo>
                  <a:pt x="161" y="32"/>
                </a:lnTo>
                <a:lnTo>
                  <a:pt x="166" y="38"/>
                </a:lnTo>
                <a:lnTo>
                  <a:pt x="171" y="45"/>
                </a:lnTo>
                <a:lnTo>
                  <a:pt x="176" y="53"/>
                </a:lnTo>
                <a:lnTo>
                  <a:pt x="179" y="61"/>
                </a:lnTo>
                <a:lnTo>
                  <a:pt x="183" y="70"/>
                </a:lnTo>
                <a:lnTo>
                  <a:pt x="186" y="78"/>
                </a:lnTo>
                <a:lnTo>
                  <a:pt x="187" y="86"/>
                </a:lnTo>
                <a:lnTo>
                  <a:pt x="187" y="96"/>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79" name="Freeform 1384">
            <a:extLst>
              <a:ext uri="{FF2B5EF4-FFF2-40B4-BE49-F238E27FC236}">
                <a16:creationId xmlns:a16="http://schemas.microsoft.com/office/drawing/2014/main" id="{EFAEA459-84AA-BB2D-A2F9-71A06E502C28}"/>
              </a:ext>
            </a:extLst>
          </p:cNvPr>
          <p:cNvSpPr>
            <a:spLocks noEditPoints="1"/>
          </p:cNvSpPr>
          <p:nvPr/>
        </p:nvSpPr>
        <p:spPr bwMode="auto">
          <a:xfrm>
            <a:off x="2765425" y="2411413"/>
            <a:ext cx="296863" cy="296863"/>
          </a:xfrm>
          <a:custGeom>
            <a:avLst/>
            <a:gdLst>
              <a:gd name="T0" fmla="*/ 187 w 187"/>
              <a:gd name="T1" fmla="*/ 84 h 187"/>
              <a:gd name="T2" fmla="*/ 184 w 187"/>
              <a:gd name="T3" fmla="*/ 66 h 187"/>
              <a:gd name="T4" fmla="*/ 176 w 187"/>
              <a:gd name="T5" fmla="*/ 49 h 187"/>
              <a:gd name="T6" fmla="*/ 166 w 187"/>
              <a:gd name="T7" fmla="*/ 35 h 187"/>
              <a:gd name="T8" fmla="*/ 154 w 187"/>
              <a:gd name="T9" fmla="*/ 21 h 187"/>
              <a:gd name="T10" fmla="*/ 139 w 187"/>
              <a:gd name="T11" fmla="*/ 11 h 187"/>
              <a:gd name="T12" fmla="*/ 123 w 187"/>
              <a:gd name="T13" fmla="*/ 5 h 187"/>
              <a:gd name="T14" fmla="*/ 104 w 187"/>
              <a:gd name="T15" fmla="*/ 1 h 187"/>
              <a:gd name="T16" fmla="*/ 84 w 187"/>
              <a:gd name="T17" fmla="*/ 1 h 187"/>
              <a:gd name="T18" fmla="*/ 66 w 187"/>
              <a:gd name="T19" fmla="*/ 5 h 187"/>
              <a:gd name="T20" fmla="*/ 50 w 187"/>
              <a:gd name="T21" fmla="*/ 11 h 187"/>
              <a:gd name="T22" fmla="*/ 35 w 187"/>
              <a:gd name="T23" fmla="*/ 21 h 187"/>
              <a:gd name="T24" fmla="*/ 22 w 187"/>
              <a:gd name="T25" fmla="*/ 35 h 187"/>
              <a:gd name="T26" fmla="*/ 12 w 187"/>
              <a:gd name="T27" fmla="*/ 49 h 187"/>
              <a:gd name="T28" fmla="*/ 5 w 187"/>
              <a:gd name="T29" fmla="*/ 66 h 187"/>
              <a:gd name="T30" fmla="*/ 2 w 187"/>
              <a:gd name="T31" fmla="*/ 84 h 187"/>
              <a:gd name="T32" fmla="*/ 2 w 187"/>
              <a:gd name="T33" fmla="*/ 104 h 187"/>
              <a:gd name="T34" fmla="*/ 5 w 187"/>
              <a:gd name="T35" fmla="*/ 122 h 187"/>
              <a:gd name="T36" fmla="*/ 12 w 187"/>
              <a:gd name="T37" fmla="*/ 139 h 187"/>
              <a:gd name="T38" fmla="*/ 22 w 187"/>
              <a:gd name="T39" fmla="*/ 154 h 187"/>
              <a:gd name="T40" fmla="*/ 35 w 187"/>
              <a:gd name="T41" fmla="*/ 165 h 187"/>
              <a:gd name="T42" fmla="*/ 50 w 187"/>
              <a:gd name="T43" fmla="*/ 175 h 187"/>
              <a:gd name="T44" fmla="*/ 66 w 187"/>
              <a:gd name="T45" fmla="*/ 184 h 187"/>
              <a:gd name="T46" fmla="*/ 84 w 187"/>
              <a:gd name="T47" fmla="*/ 187 h 187"/>
              <a:gd name="T48" fmla="*/ 104 w 187"/>
              <a:gd name="T49" fmla="*/ 187 h 187"/>
              <a:gd name="T50" fmla="*/ 123 w 187"/>
              <a:gd name="T51" fmla="*/ 184 h 187"/>
              <a:gd name="T52" fmla="*/ 139 w 187"/>
              <a:gd name="T53" fmla="*/ 175 h 187"/>
              <a:gd name="T54" fmla="*/ 154 w 187"/>
              <a:gd name="T55" fmla="*/ 165 h 187"/>
              <a:gd name="T56" fmla="*/ 166 w 187"/>
              <a:gd name="T57" fmla="*/ 154 h 187"/>
              <a:gd name="T58" fmla="*/ 176 w 187"/>
              <a:gd name="T59" fmla="*/ 139 h 187"/>
              <a:gd name="T60" fmla="*/ 184 w 187"/>
              <a:gd name="T61" fmla="*/ 122 h 187"/>
              <a:gd name="T62" fmla="*/ 187 w 187"/>
              <a:gd name="T63" fmla="*/ 104 h 187"/>
              <a:gd name="T64" fmla="*/ 182 w 187"/>
              <a:gd name="T65" fmla="*/ 94 h 187"/>
              <a:gd name="T66" fmla="*/ 181 w 187"/>
              <a:gd name="T67" fmla="*/ 112 h 187"/>
              <a:gd name="T68" fmla="*/ 176 w 187"/>
              <a:gd name="T69" fmla="*/ 129 h 187"/>
              <a:gd name="T70" fmla="*/ 157 w 187"/>
              <a:gd name="T71" fmla="*/ 157 h 187"/>
              <a:gd name="T72" fmla="*/ 129 w 187"/>
              <a:gd name="T73" fmla="*/ 175 h 187"/>
              <a:gd name="T74" fmla="*/ 113 w 187"/>
              <a:gd name="T75" fmla="*/ 180 h 187"/>
              <a:gd name="T76" fmla="*/ 94 w 187"/>
              <a:gd name="T77" fmla="*/ 182 h 187"/>
              <a:gd name="T78" fmla="*/ 76 w 187"/>
              <a:gd name="T79" fmla="*/ 180 h 187"/>
              <a:gd name="T80" fmla="*/ 60 w 187"/>
              <a:gd name="T81" fmla="*/ 175 h 187"/>
              <a:gd name="T82" fmla="*/ 31 w 187"/>
              <a:gd name="T83" fmla="*/ 157 h 187"/>
              <a:gd name="T84" fmla="*/ 13 w 187"/>
              <a:gd name="T85" fmla="*/ 129 h 187"/>
              <a:gd name="T86" fmla="*/ 7 w 187"/>
              <a:gd name="T87" fmla="*/ 112 h 187"/>
              <a:gd name="T88" fmla="*/ 5 w 187"/>
              <a:gd name="T89" fmla="*/ 94 h 187"/>
              <a:gd name="T90" fmla="*/ 7 w 187"/>
              <a:gd name="T91" fmla="*/ 76 h 187"/>
              <a:gd name="T92" fmla="*/ 13 w 187"/>
              <a:gd name="T93" fmla="*/ 59 h 187"/>
              <a:gd name="T94" fmla="*/ 31 w 187"/>
              <a:gd name="T95" fmla="*/ 31 h 187"/>
              <a:gd name="T96" fmla="*/ 60 w 187"/>
              <a:gd name="T97" fmla="*/ 13 h 187"/>
              <a:gd name="T98" fmla="*/ 76 w 187"/>
              <a:gd name="T99" fmla="*/ 6 h 187"/>
              <a:gd name="T100" fmla="*/ 94 w 187"/>
              <a:gd name="T101" fmla="*/ 5 h 187"/>
              <a:gd name="T102" fmla="*/ 113 w 187"/>
              <a:gd name="T103" fmla="*/ 6 h 187"/>
              <a:gd name="T104" fmla="*/ 129 w 187"/>
              <a:gd name="T105" fmla="*/ 13 h 187"/>
              <a:gd name="T106" fmla="*/ 157 w 187"/>
              <a:gd name="T107" fmla="*/ 31 h 187"/>
              <a:gd name="T108" fmla="*/ 176 w 187"/>
              <a:gd name="T109" fmla="*/ 59 h 187"/>
              <a:gd name="T110" fmla="*/ 181 w 187"/>
              <a:gd name="T111" fmla="*/ 76 h 187"/>
              <a:gd name="T112" fmla="*/ 182 w 187"/>
              <a:gd name="T113" fmla="*/ 94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87" h="187">
                <a:moveTo>
                  <a:pt x="187" y="94"/>
                </a:moveTo>
                <a:lnTo>
                  <a:pt x="187" y="84"/>
                </a:lnTo>
                <a:lnTo>
                  <a:pt x="185" y="76"/>
                </a:lnTo>
                <a:lnTo>
                  <a:pt x="184" y="66"/>
                </a:lnTo>
                <a:lnTo>
                  <a:pt x="181" y="58"/>
                </a:lnTo>
                <a:lnTo>
                  <a:pt x="176" y="49"/>
                </a:lnTo>
                <a:lnTo>
                  <a:pt x="172" y="41"/>
                </a:lnTo>
                <a:lnTo>
                  <a:pt x="166" y="35"/>
                </a:lnTo>
                <a:lnTo>
                  <a:pt x="161" y="28"/>
                </a:lnTo>
                <a:lnTo>
                  <a:pt x="154" y="21"/>
                </a:lnTo>
                <a:lnTo>
                  <a:pt x="146" y="16"/>
                </a:lnTo>
                <a:lnTo>
                  <a:pt x="139" y="11"/>
                </a:lnTo>
                <a:lnTo>
                  <a:pt x="131" y="8"/>
                </a:lnTo>
                <a:lnTo>
                  <a:pt x="123" y="5"/>
                </a:lnTo>
                <a:lnTo>
                  <a:pt x="113" y="3"/>
                </a:lnTo>
                <a:lnTo>
                  <a:pt x="104" y="1"/>
                </a:lnTo>
                <a:lnTo>
                  <a:pt x="94" y="0"/>
                </a:lnTo>
                <a:lnTo>
                  <a:pt x="84" y="1"/>
                </a:lnTo>
                <a:lnTo>
                  <a:pt x="75" y="3"/>
                </a:lnTo>
                <a:lnTo>
                  <a:pt x="66" y="5"/>
                </a:lnTo>
                <a:lnTo>
                  <a:pt x="58" y="8"/>
                </a:lnTo>
                <a:lnTo>
                  <a:pt x="50" y="11"/>
                </a:lnTo>
                <a:lnTo>
                  <a:pt x="41" y="16"/>
                </a:lnTo>
                <a:lnTo>
                  <a:pt x="35" y="21"/>
                </a:lnTo>
                <a:lnTo>
                  <a:pt x="28" y="28"/>
                </a:lnTo>
                <a:lnTo>
                  <a:pt x="22" y="35"/>
                </a:lnTo>
                <a:lnTo>
                  <a:pt x="17" y="41"/>
                </a:lnTo>
                <a:lnTo>
                  <a:pt x="12" y="49"/>
                </a:lnTo>
                <a:lnTo>
                  <a:pt x="8" y="58"/>
                </a:lnTo>
                <a:lnTo>
                  <a:pt x="5" y="66"/>
                </a:lnTo>
                <a:lnTo>
                  <a:pt x="3" y="76"/>
                </a:lnTo>
                <a:lnTo>
                  <a:pt x="2" y="84"/>
                </a:lnTo>
                <a:lnTo>
                  <a:pt x="0" y="94"/>
                </a:lnTo>
                <a:lnTo>
                  <a:pt x="2" y="104"/>
                </a:lnTo>
                <a:lnTo>
                  <a:pt x="3" y="112"/>
                </a:lnTo>
                <a:lnTo>
                  <a:pt x="5" y="122"/>
                </a:lnTo>
                <a:lnTo>
                  <a:pt x="8" y="131"/>
                </a:lnTo>
                <a:lnTo>
                  <a:pt x="12" y="139"/>
                </a:lnTo>
                <a:lnTo>
                  <a:pt x="17" y="146"/>
                </a:lnTo>
                <a:lnTo>
                  <a:pt x="22" y="154"/>
                </a:lnTo>
                <a:lnTo>
                  <a:pt x="28" y="160"/>
                </a:lnTo>
                <a:lnTo>
                  <a:pt x="35" y="165"/>
                </a:lnTo>
                <a:lnTo>
                  <a:pt x="41" y="172"/>
                </a:lnTo>
                <a:lnTo>
                  <a:pt x="50" y="175"/>
                </a:lnTo>
                <a:lnTo>
                  <a:pt x="58" y="180"/>
                </a:lnTo>
                <a:lnTo>
                  <a:pt x="66" y="184"/>
                </a:lnTo>
                <a:lnTo>
                  <a:pt x="75" y="185"/>
                </a:lnTo>
                <a:lnTo>
                  <a:pt x="84" y="187"/>
                </a:lnTo>
                <a:lnTo>
                  <a:pt x="94" y="187"/>
                </a:lnTo>
                <a:lnTo>
                  <a:pt x="104" y="187"/>
                </a:lnTo>
                <a:lnTo>
                  <a:pt x="113" y="185"/>
                </a:lnTo>
                <a:lnTo>
                  <a:pt x="123" y="184"/>
                </a:lnTo>
                <a:lnTo>
                  <a:pt x="131" y="180"/>
                </a:lnTo>
                <a:lnTo>
                  <a:pt x="139" y="175"/>
                </a:lnTo>
                <a:lnTo>
                  <a:pt x="146" y="172"/>
                </a:lnTo>
                <a:lnTo>
                  <a:pt x="154" y="165"/>
                </a:lnTo>
                <a:lnTo>
                  <a:pt x="161" y="160"/>
                </a:lnTo>
                <a:lnTo>
                  <a:pt x="166" y="154"/>
                </a:lnTo>
                <a:lnTo>
                  <a:pt x="172" y="146"/>
                </a:lnTo>
                <a:lnTo>
                  <a:pt x="176" y="139"/>
                </a:lnTo>
                <a:lnTo>
                  <a:pt x="181" y="131"/>
                </a:lnTo>
                <a:lnTo>
                  <a:pt x="184" y="122"/>
                </a:lnTo>
                <a:lnTo>
                  <a:pt x="185" y="112"/>
                </a:lnTo>
                <a:lnTo>
                  <a:pt x="187" y="104"/>
                </a:lnTo>
                <a:lnTo>
                  <a:pt x="187" y="94"/>
                </a:lnTo>
                <a:close/>
                <a:moveTo>
                  <a:pt x="182" y="94"/>
                </a:moveTo>
                <a:lnTo>
                  <a:pt x="182" y="102"/>
                </a:lnTo>
                <a:lnTo>
                  <a:pt x="181" y="112"/>
                </a:lnTo>
                <a:lnTo>
                  <a:pt x="179" y="121"/>
                </a:lnTo>
                <a:lnTo>
                  <a:pt x="176" y="129"/>
                </a:lnTo>
                <a:lnTo>
                  <a:pt x="167" y="144"/>
                </a:lnTo>
                <a:lnTo>
                  <a:pt x="157" y="157"/>
                </a:lnTo>
                <a:lnTo>
                  <a:pt x="144" y="167"/>
                </a:lnTo>
                <a:lnTo>
                  <a:pt x="129" y="175"/>
                </a:lnTo>
                <a:lnTo>
                  <a:pt x="121" y="179"/>
                </a:lnTo>
                <a:lnTo>
                  <a:pt x="113" y="180"/>
                </a:lnTo>
                <a:lnTo>
                  <a:pt x="103" y="182"/>
                </a:lnTo>
                <a:lnTo>
                  <a:pt x="94" y="182"/>
                </a:lnTo>
                <a:lnTo>
                  <a:pt x="84" y="182"/>
                </a:lnTo>
                <a:lnTo>
                  <a:pt x="76" y="180"/>
                </a:lnTo>
                <a:lnTo>
                  <a:pt x="68" y="179"/>
                </a:lnTo>
                <a:lnTo>
                  <a:pt x="60" y="175"/>
                </a:lnTo>
                <a:lnTo>
                  <a:pt x="45" y="167"/>
                </a:lnTo>
                <a:lnTo>
                  <a:pt x="31" y="157"/>
                </a:lnTo>
                <a:lnTo>
                  <a:pt x="20" y="144"/>
                </a:lnTo>
                <a:lnTo>
                  <a:pt x="13" y="129"/>
                </a:lnTo>
                <a:lnTo>
                  <a:pt x="10" y="121"/>
                </a:lnTo>
                <a:lnTo>
                  <a:pt x="7" y="112"/>
                </a:lnTo>
                <a:lnTo>
                  <a:pt x="7" y="102"/>
                </a:lnTo>
                <a:lnTo>
                  <a:pt x="5" y="94"/>
                </a:lnTo>
                <a:lnTo>
                  <a:pt x="7" y="84"/>
                </a:lnTo>
                <a:lnTo>
                  <a:pt x="7" y="76"/>
                </a:lnTo>
                <a:lnTo>
                  <a:pt x="10" y="68"/>
                </a:lnTo>
                <a:lnTo>
                  <a:pt x="13" y="59"/>
                </a:lnTo>
                <a:lnTo>
                  <a:pt x="20" y="45"/>
                </a:lnTo>
                <a:lnTo>
                  <a:pt x="31" y="31"/>
                </a:lnTo>
                <a:lnTo>
                  <a:pt x="45" y="21"/>
                </a:lnTo>
                <a:lnTo>
                  <a:pt x="60" y="13"/>
                </a:lnTo>
                <a:lnTo>
                  <a:pt x="68" y="10"/>
                </a:lnTo>
                <a:lnTo>
                  <a:pt x="76" y="6"/>
                </a:lnTo>
                <a:lnTo>
                  <a:pt x="84" y="6"/>
                </a:lnTo>
                <a:lnTo>
                  <a:pt x="94" y="5"/>
                </a:lnTo>
                <a:lnTo>
                  <a:pt x="103" y="6"/>
                </a:lnTo>
                <a:lnTo>
                  <a:pt x="113" y="6"/>
                </a:lnTo>
                <a:lnTo>
                  <a:pt x="121" y="10"/>
                </a:lnTo>
                <a:lnTo>
                  <a:pt x="129" y="13"/>
                </a:lnTo>
                <a:lnTo>
                  <a:pt x="144" y="21"/>
                </a:lnTo>
                <a:lnTo>
                  <a:pt x="157" y="31"/>
                </a:lnTo>
                <a:lnTo>
                  <a:pt x="167" y="45"/>
                </a:lnTo>
                <a:lnTo>
                  <a:pt x="176" y="59"/>
                </a:lnTo>
                <a:lnTo>
                  <a:pt x="179" y="68"/>
                </a:lnTo>
                <a:lnTo>
                  <a:pt x="181" y="76"/>
                </a:lnTo>
                <a:lnTo>
                  <a:pt x="182" y="84"/>
                </a:lnTo>
                <a:lnTo>
                  <a:pt x="182" y="94"/>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80" name="Freeform 1385">
            <a:extLst>
              <a:ext uri="{FF2B5EF4-FFF2-40B4-BE49-F238E27FC236}">
                <a16:creationId xmlns:a16="http://schemas.microsoft.com/office/drawing/2014/main" id="{03D799CC-4A33-E89B-2761-9957F56F15C3}"/>
              </a:ext>
            </a:extLst>
          </p:cNvPr>
          <p:cNvSpPr>
            <a:spLocks noEditPoints="1"/>
          </p:cNvSpPr>
          <p:nvPr/>
        </p:nvSpPr>
        <p:spPr bwMode="auto">
          <a:xfrm>
            <a:off x="2770188" y="2416175"/>
            <a:ext cx="288925" cy="288925"/>
          </a:xfrm>
          <a:custGeom>
            <a:avLst/>
            <a:gdLst>
              <a:gd name="T0" fmla="*/ 182 w 182"/>
              <a:gd name="T1" fmla="*/ 81 h 182"/>
              <a:gd name="T2" fmla="*/ 178 w 182"/>
              <a:gd name="T3" fmla="*/ 65 h 182"/>
              <a:gd name="T4" fmla="*/ 171 w 182"/>
              <a:gd name="T5" fmla="*/ 48 h 182"/>
              <a:gd name="T6" fmla="*/ 161 w 182"/>
              <a:gd name="T7" fmla="*/ 33 h 182"/>
              <a:gd name="T8" fmla="*/ 149 w 182"/>
              <a:gd name="T9" fmla="*/ 20 h 182"/>
              <a:gd name="T10" fmla="*/ 134 w 182"/>
              <a:gd name="T11" fmla="*/ 12 h 182"/>
              <a:gd name="T12" fmla="*/ 118 w 182"/>
              <a:gd name="T13" fmla="*/ 3 h 182"/>
              <a:gd name="T14" fmla="*/ 100 w 182"/>
              <a:gd name="T15" fmla="*/ 0 h 182"/>
              <a:gd name="T16" fmla="*/ 81 w 182"/>
              <a:gd name="T17" fmla="*/ 0 h 182"/>
              <a:gd name="T18" fmla="*/ 65 w 182"/>
              <a:gd name="T19" fmla="*/ 3 h 182"/>
              <a:gd name="T20" fmla="*/ 48 w 182"/>
              <a:gd name="T21" fmla="*/ 12 h 182"/>
              <a:gd name="T22" fmla="*/ 33 w 182"/>
              <a:gd name="T23" fmla="*/ 20 h 182"/>
              <a:gd name="T24" fmla="*/ 20 w 182"/>
              <a:gd name="T25" fmla="*/ 33 h 182"/>
              <a:gd name="T26" fmla="*/ 12 w 182"/>
              <a:gd name="T27" fmla="*/ 48 h 182"/>
              <a:gd name="T28" fmla="*/ 4 w 182"/>
              <a:gd name="T29" fmla="*/ 65 h 182"/>
              <a:gd name="T30" fmla="*/ 0 w 182"/>
              <a:gd name="T31" fmla="*/ 81 h 182"/>
              <a:gd name="T32" fmla="*/ 0 w 182"/>
              <a:gd name="T33" fmla="*/ 101 h 182"/>
              <a:gd name="T34" fmla="*/ 4 w 182"/>
              <a:gd name="T35" fmla="*/ 118 h 182"/>
              <a:gd name="T36" fmla="*/ 12 w 182"/>
              <a:gd name="T37" fmla="*/ 134 h 182"/>
              <a:gd name="T38" fmla="*/ 20 w 182"/>
              <a:gd name="T39" fmla="*/ 149 h 182"/>
              <a:gd name="T40" fmla="*/ 33 w 182"/>
              <a:gd name="T41" fmla="*/ 161 h 182"/>
              <a:gd name="T42" fmla="*/ 48 w 182"/>
              <a:gd name="T43" fmla="*/ 171 h 182"/>
              <a:gd name="T44" fmla="*/ 65 w 182"/>
              <a:gd name="T45" fmla="*/ 177 h 182"/>
              <a:gd name="T46" fmla="*/ 81 w 182"/>
              <a:gd name="T47" fmla="*/ 182 h 182"/>
              <a:gd name="T48" fmla="*/ 100 w 182"/>
              <a:gd name="T49" fmla="*/ 182 h 182"/>
              <a:gd name="T50" fmla="*/ 118 w 182"/>
              <a:gd name="T51" fmla="*/ 177 h 182"/>
              <a:gd name="T52" fmla="*/ 134 w 182"/>
              <a:gd name="T53" fmla="*/ 171 h 182"/>
              <a:gd name="T54" fmla="*/ 149 w 182"/>
              <a:gd name="T55" fmla="*/ 161 h 182"/>
              <a:gd name="T56" fmla="*/ 161 w 182"/>
              <a:gd name="T57" fmla="*/ 149 h 182"/>
              <a:gd name="T58" fmla="*/ 171 w 182"/>
              <a:gd name="T59" fmla="*/ 134 h 182"/>
              <a:gd name="T60" fmla="*/ 178 w 182"/>
              <a:gd name="T61" fmla="*/ 118 h 182"/>
              <a:gd name="T62" fmla="*/ 182 w 182"/>
              <a:gd name="T63" fmla="*/ 101 h 182"/>
              <a:gd name="T64" fmla="*/ 178 w 182"/>
              <a:gd name="T65" fmla="*/ 91 h 182"/>
              <a:gd name="T66" fmla="*/ 176 w 182"/>
              <a:gd name="T67" fmla="*/ 108 h 182"/>
              <a:gd name="T68" fmla="*/ 171 w 182"/>
              <a:gd name="T69" fmla="*/ 124 h 182"/>
              <a:gd name="T70" fmla="*/ 153 w 182"/>
              <a:gd name="T71" fmla="*/ 152 h 182"/>
              <a:gd name="T72" fmla="*/ 125 w 182"/>
              <a:gd name="T73" fmla="*/ 171 h 182"/>
              <a:gd name="T74" fmla="*/ 108 w 182"/>
              <a:gd name="T75" fmla="*/ 176 h 182"/>
              <a:gd name="T76" fmla="*/ 91 w 182"/>
              <a:gd name="T77" fmla="*/ 177 h 182"/>
              <a:gd name="T78" fmla="*/ 73 w 182"/>
              <a:gd name="T79" fmla="*/ 176 h 182"/>
              <a:gd name="T80" fmla="*/ 58 w 182"/>
              <a:gd name="T81" fmla="*/ 171 h 182"/>
              <a:gd name="T82" fmla="*/ 30 w 182"/>
              <a:gd name="T83" fmla="*/ 152 h 182"/>
              <a:gd name="T84" fmla="*/ 12 w 182"/>
              <a:gd name="T85" fmla="*/ 124 h 182"/>
              <a:gd name="T86" fmla="*/ 7 w 182"/>
              <a:gd name="T87" fmla="*/ 108 h 182"/>
              <a:gd name="T88" fmla="*/ 5 w 182"/>
              <a:gd name="T89" fmla="*/ 91 h 182"/>
              <a:gd name="T90" fmla="*/ 7 w 182"/>
              <a:gd name="T91" fmla="*/ 73 h 182"/>
              <a:gd name="T92" fmla="*/ 12 w 182"/>
              <a:gd name="T93" fmla="*/ 58 h 182"/>
              <a:gd name="T94" fmla="*/ 30 w 182"/>
              <a:gd name="T95" fmla="*/ 30 h 182"/>
              <a:gd name="T96" fmla="*/ 58 w 182"/>
              <a:gd name="T97" fmla="*/ 12 h 182"/>
              <a:gd name="T98" fmla="*/ 73 w 182"/>
              <a:gd name="T99" fmla="*/ 7 h 182"/>
              <a:gd name="T100" fmla="*/ 91 w 182"/>
              <a:gd name="T101" fmla="*/ 5 h 182"/>
              <a:gd name="T102" fmla="*/ 108 w 182"/>
              <a:gd name="T103" fmla="*/ 7 h 182"/>
              <a:gd name="T104" fmla="*/ 125 w 182"/>
              <a:gd name="T105" fmla="*/ 12 h 182"/>
              <a:gd name="T106" fmla="*/ 153 w 182"/>
              <a:gd name="T107" fmla="*/ 30 h 182"/>
              <a:gd name="T108" fmla="*/ 171 w 182"/>
              <a:gd name="T109" fmla="*/ 58 h 182"/>
              <a:gd name="T110" fmla="*/ 176 w 182"/>
              <a:gd name="T111" fmla="*/ 73 h 182"/>
              <a:gd name="T112" fmla="*/ 178 w 182"/>
              <a:gd name="T113" fmla="*/ 91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82" h="182">
                <a:moveTo>
                  <a:pt x="182" y="91"/>
                </a:moveTo>
                <a:lnTo>
                  <a:pt x="182" y="81"/>
                </a:lnTo>
                <a:lnTo>
                  <a:pt x="181" y="73"/>
                </a:lnTo>
                <a:lnTo>
                  <a:pt x="178" y="65"/>
                </a:lnTo>
                <a:lnTo>
                  <a:pt x="174" y="55"/>
                </a:lnTo>
                <a:lnTo>
                  <a:pt x="171" y="48"/>
                </a:lnTo>
                <a:lnTo>
                  <a:pt x="166" y="40"/>
                </a:lnTo>
                <a:lnTo>
                  <a:pt x="161" y="33"/>
                </a:lnTo>
                <a:lnTo>
                  <a:pt x="156" y="27"/>
                </a:lnTo>
                <a:lnTo>
                  <a:pt x="149" y="20"/>
                </a:lnTo>
                <a:lnTo>
                  <a:pt x="143" y="15"/>
                </a:lnTo>
                <a:lnTo>
                  <a:pt x="134" y="12"/>
                </a:lnTo>
                <a:lnTo>
                  <a:pt x="126" y="7"/>
                </a:lnTo>
                <a:lnTo>
                  <a:pt x="118" y="3"/>
                </a:lnTo>
                <a:lnTo>
                  <a:pt x="110" y="2"/>
                </a:lnTo>
                <a:lnTo>
                  <a:pt x="100" y="0"/>
                </a:lnTo>
                <a:lnTo>
                  <a:pt x="91" y="0"/>
                </a:lnTo>
                <a:lnTo>
                  <a:pt x="81" y="0"/>
                </a:lnTo>
                <a:lnTo>
                  <a:pt x="73" y="2"/>
                </a:lnTo>
                <a:lnTo>
                  <a:pt x="65" y="3"/>
                </a:lnTo>
                <a:lnTo>
                  <a:pt x="55" y="7"/>
                </a:lnTo>
                <a:lnTo>
                  <a:pt x="48" y="12"/>
                </a:lnTo>
                <a:lnTo>
                  <a:pt x="40" y="15"/>
                </a:lnTo>
                <a:lnTo>
                  <a:pt x="33" y="20"/>
                </a:lnTo>
                <a:lnTo>
                  <a:pt x="27" y="27"/>
                </a:lnTo>
                <a:lnTo>
                  <a:pt x="20" y="33"/>
                </a:lnTo>
                <a:lnTo>
                  <a:pt x="15" y="40"/>
                </a:lnTo>
                <a:lnTo>
                  <a:pt x="12" y="48"/>
                </a:lnTo>
                <a:lnTo>
                  <a:pt x="7" y="55"/>
                </a:lnTo>
                <a:lnTo>
                  <a:pt x="4" y="65"/>
                </a:lnTo>
                <a:lnTo>
                  <a:pt x="2" y="73"/>
                </a:lnTo>
                <a:lnTo>
                  <a:pt x="0" y="81"/>
                </a:lnTo>
                <a:lnTo>
                  <a:pt x="0" y="91"/>
                </a:lnTo>
                <a:lnTo>
                  <a:pt x="0" y="101"/>
                </a:lnTo>
                <a:lnTo>
                  <a:pt x="2" y="109"/>
                </a:lnTo>
                <a:lnTo>
                  <a:pt x="4" y="118"/>
                </a:lnTo>
                <a:lnTo>
                  <a:pt x="7" y="126"/>
                </a:lnTo>
                <a:lnTo>
                  <a:pt x="12" y="134"/>
                </a:lnTo>
                <a:lnTo>
                  <a:pt x="15" y="143"/>
                </a:lnTo>
                <a:lnTo>
                  <a:pt x="20" y="149"/>
                </a:lnTo>
                <a:lnTo>
                  <a:pt x="27" y="156"/>
                </a:lnTo>
                <a:lnTo>
                  <a:pt x="33" y="161"/>
                </a:lnTo>
                <a:lnTo>
                  <a:pt x="40" y="166"/>
                </a:lnTo>
                <a:lnTo>
                  <a:pt x="48" y="171"/>
                </a:lnTo>
                <a:lnTo>
                  <a:pt x="55" y="176"/>
                </a:lnTo>
                <a:lnTo>
                  <a:pt x="65" y="177"/>
                </a:lnTo>
                <a:lnTo>
                  <a:pt x="73" y="181"/>
                </a:lnTo>
                <a:lnTo>
                  <a:pt x="81" y="182"/>
                </a:lnTo>
                <a:lnTo>
                  <a:pt x="91" y="182"/>
                </a:lnTo>
                <a:lnTo>
                  <a:pt x="100" y="182"/>
                </a:lnTo>
                <a:lnTo>
                  <a:pt x="110" y="181"/>
                </a:lnTo>
                <a:lnTo>
                  <a:pt x="118" y="177"/>
                </a:lnTo>
                <a:lnTo>
                  <a:pt x="126" y="176"/>
                </a:lnTo>
                <a:lnTo>
                  <a:pt x="134" y="171"/>
                </a:lnTo>
                <a:lnTo>
                  <a:pt x="143" y="166"/>
                </a:lnTo>
                <a:lnTo>
                  <a:pt x="149" y="161"/>
                </a:lnTo>
                <a:lnTo>
                  <a:pt x="156" y="156"/>
                </a:lnTo>
                <a:lnTo>
                  <a:pt x="161" y="149"/>
                </a:lnTo>
                <a:lnTo>
                  <a:pt x="166" y="143"/>
                </a:lnTo>
                <a:lnTo>
                  <a:pt x="171" y="134"/>
                </a:lnTo>
                <a:lnTo>
                  <a:pt x="174" y="126"/>
                </a:lnTo>
                <a:lnTo>
                  <a:pt x="178" y="118"/>
                </a:lnTo>
                <a:lnTo>
                  <a:pt x="181" y="109"/>
                </a:lnTo>
                <a:lnTo>
                  <a:pt x="182" y="101"/>
                </a:lnTo>
                <a:lnTo>
                  <a:pt x="182" y="91"/>
                </a:lnTo>
                <a:close/>
                <a:moveTo>
                  <a:pt x="178" y="91"/>
                </a:moveTo>
                <a:lnTo>
                  <a:pt x="178" y="99"/>
                </a:lnTo>
                <a:lnTo>
                  <a:pt x="176" y="108"/>
                </a:lnTo>
                <a:lnTo>
                  <a:pt x="174" y="116"/>
                </a:lnTo>
                <a:lnTo>
                  <a:pt x="171" y="124"/>
                </a:lnTo>
                <a:lnTo>
                  <a:pt x="163" y="139"/>
                </a:lnTo>
                <a:lnTo>
                  <a:pt x="153" y="152"/>
                </a:lnTo>
                <a:lnTo>
                  <a:pt x="139" y="162"/>
                </a:lnTo>
                <a:lnTo>
                  <a:pt x="125" y="171"/>
                </a:lnTo>
                <a:lnTo>
                  <a:pt x="116" y="174"/>
                </a:lnTo>
                <a:lnTo>
                  <a:pt x="108" y="176"/>
                </a:lnTo>
                <a:lnTo>
                  <a:pt x="100" y="177"/>
                </a:lnTo>
                <a:lnTo>
                  <a:pt x="91" y="177"/>
                </a:lnTo>
                <a:lnTo>
                  <a:pt x="83" y="177"/>
                </a:lnTo>
                <a:lnTo>
                  <a:pt x="73" y="176"/>
                </a:lnTo>
                <a:lnTo>
                  <a:pt x="65" y="174"/>
                </a:lnTo>
                <a:lnTo>
                  <a:pt x="58" y="171"/>
                </a:lnTo>
                <a:lnTo>
                  <a:pt x="43" y="162"/>
                </a:lnTo>
                <a:lnTo>
                  <a:pt x="30" y="152"/>
                </a:lnTo>
                <a:lnTo>
                  <a:pt x="20" y="139"/>
                </a:lnTo>
                <a:lnTo>
                  <a:pt x="12" y="124"/>
                </a:lnTo>
                <a:lnTo>
                  <a:pt x="9" y="116"/>
                </a:lnTo>
                <a:lnTo>
                  <a:pt x="7" y="108"/>
                </a:lnTo>
                <a:lnTo>
                  <a:pt x="5" y="99"/>
                </a:lnTo>
                <a:lnTo>
                  <a:pt x="5" y="91"/>
                </a:lnTo>
                <a:lnTo>
                  <a:pt x="5" y="83"/>
                </a:lnTo>
                <a:lnTo>
                  <a:pt x="7" y="73"/>
                </a:lnTo>
                <a:lnTo>
                  <a:pt x="9" y="65"/>
                </a:lnTo>
                <a:lnTo>
                  <a:pt x="12" y="58"/>
                </a:lnTo>
                <a:lnTo>
                  <a:pt x="20" y="43"/>
                </a:lnTo>
                <a:lnTo>
                  <a:pt x="30" y="30"/>
                </a:lnTo>
                <a:lnTo>
                  <a:pt x="43" y="20"/>
                </a:lnTo>
                <a:lnTo>
                  <a:pt x="58" y="12"/>
                </a:lnTo>
                <a:lnTo>
                  <a:pt x="65" y="8"/>
                </a:lnTo>
                <a:lnTo>
                  <a:pt x="73" y="7"/>
                </a:lnTo>
                <a:lnTo>
                  <a:pt x="83" y="5"/>
                </a:lnTo>
                <a:lnTo>
                  <a:pt x="91" y="5"/>
                </a:lnTo>
                <a:lnTo>
                  <a:pt x="100" y="5"/>
                </a:lnTo>
                <a:lnTo>
                  <a:pt x="108" y="7"/>
                </a:lnTo>
                <a:lnTo>
                  <a:pt x="116" y="8"/>
                </a:lnTo>
                <a:lnTo>
                  <a:pt x="125" y="12"/>
                </a:lnTo>
                <a:lnTo>
                  <a:pt x="139" y="20"/>
                </a:lnTo>
                <a:lnTo>
                  <a:pt x="153" y="30"/>
                </a:lnTo>
                <a:lnTo>
                  <a:pt x="163" y="43"/>
                </a:lnTo>
                <a:lnTo>
                  <a:pt x="171" y="58"/>
                </a:lnTo>
                <a:lnTo>
                  <a:pt x="174" y="65"/>
                </a:lnTo>
                <a:lnTo>
                  <a:pt x="176" y="73"/>
                </a:lnTo>
                <a:lnTo>
                  <a:pt x="178" y="83"/>
                </a:lnTo>
                <a:lnTo>
                  <a:pt x="178" y="91"/>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81" name="Freeform 1386">
            <a:extLst>
              <a:ext uri="{FF2B5EF4-FFF2-40B4-BE49-F238E27FC236}">
                <a16:creationId xmlns:a16="http://schemas.microsoft.com/office/drawing/2014/main" id="{2BC70B88-5A4A-620C-4125-FD5B34344E02}"/>
              </a:ext>
            </a:extLst>
          </p:cNvPr>
          <p:cNvSpPr>
            <a:spLocks noEditPoints="1"/>
          </p:cNvSpPr>
          <p:nvPr/>
        </p:nvSpPr>
        <p:spPr bwMode="auto">
          <a:xfrm>
            <a:off x="2773363" y="2419350"/>
            <a:ext cx="280988" cy="280988"/>
          </a:xfrm>
          <a:custGeom>
            <a:avLst/>
            <a:gdLst>
              <a:gd name="T0" fmla="*/ 177 w 177"/>
              <a:gd name="T1" fmla="*/ 79 h 177"/>
              <a:gd name="T2" fmla="*/ 174 w 177"/>
              <a:gd name="T3" fmla="*/ 63 h 177"/>
              <a:gd name="T4" fmla="*/ 162 w 177"/>
              <a:gd name="T5" fmla="*/ 40 h 177"/>
              <a:gd name="T6" fmla="*/ 139 w 177"/>
              <a:gd name="T7" fmla="*/ 16 h 177"/>
              <a:gd name="T8" fmla="*/ 116 w 177"/>
              <a:gd name="T9" fmla="*/ 5 h 177"/>
              <a:gd name="T10" fmla="*/ 98 w 177"/>
              <a:gd name="T11" fmla="*/ 1 h 177"/>
              <a:gd name="T12" fmla="*/ 79 w 177"/>
              <a:gd name="T13" fmla="*/ 1 h 177"/>
              <a:gd name="T14" fmla="*/ 63 w 177"/>
              <a:gd name="T15" fmla="*/ 5 h 177"/>
              <a:gd name="T16" fmla="*/ 40 w 177"/>
              <a:gd name="T17" fmla="*/ 16 h 177"/>
              <a:gd name="T18" fmla="*/ 15 w 177"/>
              <a:gd name="T19" fmla="*/ 40 h 177"/>
              <a:gd name="T20" fmla="*/ 5 w 177"/>
              <a:gd name="T21" fmla="*/ 63 h 177"/>
              <a:gd name="T22" fmla="*/ 2 w 177"/>
              <a:gd name="T23" fmla="*/ 79 h 177"/>
              <a:gd name="T24" fmla="*/ 2 w 177"/>
              <a:gd name="T25" fmla="*/ 97 h 177"/>
              <a:gd name="T26" fmla="*/ 5 w 177"/>
              <a:gd name="T27" fmla="*/ 116 h 177"/>
              <a:gd name="T28" fmla="*/ 15 w 177"/>
              <a:gd name="T29" fmla="*/ 139 h 177"/>
              <a:gd name="T30" fmla="*/ 40 w 177"/>
              <a:gd name="T31" fmla="*/ 162 h 177"/>
              <a:gd name="T32" fmla="*/ 63 w 177"/>
              <a:gd name="T33" fmla="*/ 174 h 177"/>
              <a:gd name="T34" fmla="*/ 79 w 177"/>
              <a:gd name="T35" fmla="*/ 177 h 177"/>
              <a:gd name="T36" fmla="*/ 98 w 177"/>
              <a:gd name="T37" fmla="*/ 177 h 177"/>
              <a:gd name="T38" fmla="*/ 116 w 177"/>
              <a:gd name="T39" fmla="*/ 174 h 177"/>
              <a:gd name="T40" fmla="*/ 139 w 177"/>
              <a:gd name="T41" fmla="*/ 162 h 177"/>
              <a:gd name="T42" fmla="*/ 162 w 177"/>
              <a:gd name="T43" fmla="*/ 139 h 177"/>
              <a:gd name="T44" fmla="*/ 174 w 177"/>
              <a:gd name="T45" fmla="*/ 116 h 177"/>
              <a:gd name="T46" fmla="*/ 177 w 177"/>
              <a:gd name="T47" fmla="*/ 97 h 177"/>
              <a:gd name="T48" fmla="*/ 172 w 177"/>
              <a:gd name="T49" fmla="*/ 89 h 177"/>
              <a:gd name="T50" fmla="*/ 171 w 177"/>
              <a:gd name="T51" fmla="*/ 106 h 177"/>
              <a:gd name="T52" fmla="*/ 166 w 177"/>
              <a:gd name="T53" fmla="*/ 122 h 177"/>
              <a:gd name="T54" fmla="*/ 149 w 177"/>
              <a:gd name="T55" fmla="*/ 149 h 177"/>
              <a:gd name="T56" fmla="*/ 123 w 177"/>
              <a:gd name="T57" fmla="*/ 167 h 177"/>
              <a:gd name="T58" fmla="*/ 106 w 177"/>
              <a:gd name="T59" fmla="*/ 170 h 177"/>
              <a:gd name="T60" fmla="*/ 89 w 177"/>
              <a:gd name="T61" fmla="*/ 172 h 177"/>
              <a:gd name="T62" fmla="*/ 73 w 177"/>
              <a:gd name="T63" fmla="*/ 170 h 177"/>
              <a:gd name="T64" fmla="*/ 56 w 177"/>
              <a:gd name="T65" fmla="*/ 167 h 177"/>
              <a:gd name="T66" fmla="*/ 30 w 177"/>
              <a:gd name="T67" fmla="*/ 149 h 177"/>
              <a:gd name="T68" fmla="*/ 12 w 177"/>
              <a:gd name="T69" fmla="*/ 122 h 177"/>
              <a:gd name="T70" fmla="*/ 7 w 177"/>
              <a:gd name="T71" fmla="*/ 106 h 177"/>
              <a:gd name="T72" fmla="*/ 5 w 177"/>
              <a:gd name="T73" fmla="*/ 89 h 177"/>
              <a:gd name="T74" fmla="*/ 7 w 177"/>
              <a:gd name="T75" fmla="*/ 73 h 177"/>
              <a:gd name="T76" fmla="*/ 12 w 177"/>
              <a:gd name="T77" fmla="*/ 56 h 177"/>
              <a:gd name="T78" fmla="*/ 30 w 177"/>
              <a:gd name="T79" fmla="*/ 30 h 177"/>
              <a:gd name="T80" fmla="*/ 56 w 177"/>
              <a:gd name="T81" fmla="*/ 11 h 177"/>
              <a:gd name="T82" fmla="*/ 73 w 177"/>
              <a:gd name="T83" fmla="*/ 6 h 177"/>
              <a:gd name="T84" fmla="*/ 89 w 177"/>
              <a:gd name="T85" fmla="*/ 5 h 177"/>
              <a:gd name="T86" fmla="*/ 106 w 177"/>
              <a:gd name="T87" fmla="*/ 6 h 177"/>
              <a:gd name="T88" fmla="*/ 123 w 177"/>
              <a:gd name="T89" fmla="*/ 11 h 177"/>
              <a:gd name="T90" fmla="*/ 149 w 177"/>
              <a:gd name="T91" fmla="*/ 30 h 177"/>
              <a:gd name="T92" fmla="*/ 166 w 177"/>
              <a:gd name="T93" fmla="*/ 56 h 177"/>
              <a:gd name="T94" fmla="*/ 171 w 177"/>
              <a:gd name="T95" fmla="*/ 73 h 177"/>
              <a:gd name="T96" fmla="*/ 172 w 177"/>
              <a:gd name="T97" fmla="*/ 89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77" h="177">
                <a:moveTo>
                  <a:pt x="177" y="89"/>
                </a:moveTo>
                <a:lnTo>
                  <a:pt x="177" y="79"/>
                </a:lnTo>
                <a:lnTo>
                  <a:pt x="176" y="71"/>
                </a:lnTo>
                <a:lnTo>
                  <a:pt x="174" y="63"/>
                </a:lnTo>
                <a:lnTo>
                  <a:pt x="171" y="54"/>
                </a:lnTo>
                <a:lnTo>
                  <a:pt x="162" y="40"/>
                </a:lnTo>
                <a:lnTo>
                  <a:pt x="152" y="26"/>
                </a:lnTo>
                <a:lnTo>
                  <a:pt x="139" y="16"/>
                </a:lnTo>
                <a:lnTo>
                  <a:pt x="124" y="8"/>
                </a:lnTo>
                <a:lnTo>
                  <a:pt x="116" y="5"/>
                </a:lnTo>
                <a:lnTo>
                  <a:pt x="108" y="1"/>
                </a:lnTo>
                <a:lnTo>
                  <a:pt x="98" y="1"/>
                </a:lnTo>
                <a:lnTo>
                  <a:pt x="89" y="0"/>
                </a:lnTo>
                <a:lnTo>
                  <a:pt x="79" y="1"/>
                </a:lnTo>
                <a:lnTo>
                  <a:pt x="71" y="1"/>
                </a:lnTo>
                <a:lnTo>
                  <a:pt x="63" y="5"/>
                </a:lnTo>
                <a:lnTo>
                  <a:pt x="55" y="8"/>
                </a:lnTo>
                <a:lnTo>
                  <a:pt x="40" y="16"/>
                </a:lnTo>
                <a:lnTo>
                  <a:pt x="26" y="26"/>
                </a:lnTo>
                <a:lnTo>
                  <a:pt x="15" y="40"/>
                </a:lnTo>
                <a:lnTo>
                  <a:pt x="8" y="54"/>
                </a:lnTo>
                <a:lnTo>
                  <a:pt x="5" y="63"/>
                </a:lnTo>
                <a:lnTo>
                  <a:pt x="2" y="71"/>
                </a:lnTo>
                <a:lnTo>
                  <a:pt x="2" y="79"/>
                </a:lnTo>
                <a:lnTo>
                  <a:pt x="0" y="89"/>
                </a:lnTo>
                <a:lnTo>
                  <a:pt x="2" y="97"/>
                </a:lnTo>
                <a:lnTo>
                  <a:pt x="2" y="107"/>
                </a:lnTo>
                <a:lnTo>
                  <a:pt x="5" y="116"/>
                </a:lnTo>
                <a:lnTo>
                  <a:pt x="8" y="124"/>
                </a:lnTo>
                <a:lnTo>
                  <a:pt x="15" y="139"/>
                </a:lnTo>
                <a:lnTo>
                  <a:pt x="26" y="152"/>
                </a:lnTo>
                <a:lnTo>
                  <a:pt x="40" y="162"/>
                </a:lnTo>
                <a:lnTo>
                  <a:pt x="55" y="170"/>
                </a:lnTo>
                <a:lnTo>
                  <a:pt x="63" y="174"/>
                </a:lnTo>
                <a:lnTo>
                  <a:pt x="71" y="175"/>
                </a:lnTo>
                <a:lnTo>
                  <a:pt x="79" y="177"/>
                </a:lnTo>
                <a:lnTo>
                  <a:pt x="89" y="177"/>
                </a:lnTo>
                <a:lnTo>
                  <a:pt x="98" y="177"/>
                </a:lnTo>
                <a:lnTo>
                  <a:pt x="108" y="175"/>
                </a:lnTo>
                <a:lnTo>
                  <a:pt x="116" y="174"/>
                </a:lnTo>
                <a:lnTo>
                  <a:pt x="124" y="170"/>
                </a:lnTo>
                <a:lnTo>
                  <a:pt x="139" y="162"/>
                </a:lnTo>
                <a:lnTo>
                  <a:pt x="152" y="152"/>
                </a:lnTo>
                <a:lnTo>
                  <a:pt x="162" y="139"/>
                </a:lnTo>
                <a:lnTo>
                  <a:pt x="171" y="124"/>
                </a:lnTo>
                <a:lnTo>
                  <a:pt x="174" y="116"/>
                </a:lnTo>
                <a:lnTo>
                  <a:pt x="176" y="107"/>
                </a:lnTo>
                <a:lnTo>
                  <a:pt x="177" y="97"/>
                </a:lnTo>
                <a:lnTo>
                  <a:pt x="177" y="89"/>
                </a:lnTo>
                <a:close/>
                <a:moveTo>
                  <a:pt x="172" y="89"/>
                </a:moveTo>
                <a:lnTo>
                  <a:pt x="172" y="97"/>
                </a:lnTo>
                <a:lnTo>
                  <a:pt x="171" y="106"/>
                </a:lnTo>
                <a:lnTo>
                  <a:pt x="169" y="114"/>
                </a:lnTo>
                <a:lnTo>
                  <a:pt x="166" y="122"/>
                </a:lnTo>
                <a:lnTo>
                  <a:pt x="159" y="136"/>
                </a:lnTo>
                <a:lnTo>
                  <a:pt x="149" y="149"/>
                </a:lnTo>
                <a:lnTo>
                  <a:pt x="136" y="159"/>
                </a:lnTo>
                <a:lnTo>
                  <a:pt x="123" y="167"/>
                </a:lnTo>
                <a:lnTo>
                  <a:pt x="114" y="169"/>
                </a:lnTo>
                <a:lnTo>
                  <a:pt x="106" y="170"/>
                </a:lnTo>
                <a:lnTo>
                  <a:pt x="98" y="172"/>
                </a:lnTo>
                <a:lnTo>
                  <a:pt x="89" y="172"/>
                </a:lnTo>
                <a:lnTo>
                  <a:pt x="81" y="172"/>
                </a:lnTo>
                <a:lnTo>
                  <a:pt x="73" y="170"/>
                </a:lnTo>
                <a:lnTo>
                  <a:pt x="65" y="169"/>
                </a:lnTo>
                <a:lnTo>
                  <a:pt x="56" y="167"/>
                </a:lnTo>
                <a:lnTo>
                  <a:pt x="43" y="159"/>
                </a:lnTo>
                <a:lnTo>
                  <a:pt x="30" y="149"/>
                </a:lnTo>
                <a:lnTo>
                  <a:pt x="20" y="136"/>
                </a:lnTo>
                <a:lnTo>
                  <a:pt x="12" y="122"/>
                </a:lnTo>
                <a:lnTo>
                  <a:pt x="10" y="114"/>
                </a:lnTo>
                <a:lnTo>
                  <a:pt x="7" y="106"/>
                </a:lnTo>
                <a:lnTo>
                  <a:pt x="5" y="97"/>
                </a:lnTo>
                <a:lnTo>
                  <a:pt x="5" y="89"/>
                </a:lnTo>
                <a:lnTo>
                  <a:pt x="5" y="81"/>
                </a:lnTo>
                <a:lnTo>
                  <a:pt x="7" y="73"/>
                </a:lnTo>
                <a:lnTo>
                  <a:pt x="10" y="64"/>
                </a:lnTo>
                <a:lnTo>
                  <a:pt x="12" y="56"/>
                </a:lnTo>
                <a:lnTo>
                  <a:pt x="20" y="43"/>
                </a:lnTo>
                <a:lnTo>
                  <a:pt x="30" y="30"/>
                </a:lnTo>
                <a:lnTo>
                  <a:pt x="43" y="20"/>
                </a:lnTo>
                <a:lnTo>
                  <a:pt x="56" y="11"/>
                </a:lnTo>
                <a:lnTo>
                  <a:pt x="65" y="10"/>
                </a:lnTo>
                <a:lnTo>
                  <a:pt x="73" y="6"/>
                </a:lnTo>
                <a:lnTo>
                  <a:pt x="81" y="6"/>
                </a:lnTo>
                <a:lnTo>
                  <a:pt x="89" y="5"/>
                </a:lnTo>
                <a:lnTo>
                  <a:pt x="98" y="6"/>
                </a:lnTo>
                <a:lnTo>
                  <a:pt x="106" y="6"/>
                </a:lnTo>
                <a:lnTo>
                  <a:pt x="114" y="10"/>
                </a:lnTo>
                <a:lnTo>
                  <a:pt x="123" y="11"/>
                </a:lnTo>
                <a:lnTo>
                  <a:pt x="136" y="20"/>
                </a:lnTo>
                <a:lnTo>
                  <a:pt x="149" y="30"/>
                </a:lnTo>
                <a:lnTo>
                  <a:pt x="159" y="43"/>
                </a:lnTo>
                <a:lnTo>
                  <a:pt x="166" y="56"/>
                </a:lnTo>
                <a:lnTo>
                  <a:pt x="169" y="64"/>
                </a:lnTo>
                <a:lnTo>
                  <a:pt x="171" y="73"/>
                </a:lnTo>
                <a:lnTo>
                  <a:pt x="172" y="81"/>
                </a:lnTo>
                <a:lnTo>
                  <a:pt x="172" y="89"/>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82" name="Freeform 1387">
            <a:extLst>
              <a:ext uri="{FF2B5EF4-FFF2-40B4-BE49-F238E27FC236}">
                <a16:creationId xmlns:a16="http://schemas.microsoft.com/office/drawing/2014/main" id="{A8CB5456-C98C-C85E-059C-401CBDC4D99A}"/>
              </a:ext>
            </a:extLst>
          </p:cNvPr>
          <p:cNvSpPr>
            <a:spLocks noEditPoints="1"/>
          </p:cNvSpPr>
          <p:nvPr/>
        </p:nvSpPr>
        <p:spPr bwMode="auto">
          <a:xfrm>
            <a:off x="2778125" y="2424113"/>
            <a:ext cx="274638" cy="273050"/>
          </a:xfrm>
          <a:custGeom>
            <a:avLst/>
            <a:gdLst>
              <a:gd name="T0" fmla="*/ 173 w 173"/>
              <a:gd name="T1" fmla="*/ 78 h 172"/>
              <a:gd name="T2" fmla="*/ 169 w 173"/>
              <a:gd name="T3" fmla="*/ 60 h 172"/>
              <a:gd name="T4" fmla="*/ 158 w 173"/>
              <a:gd name="T5" fmla="*/ 38 h 172"/>
              <a:gd name="T6" fmla="*/ 134 w 173"/>
              <a:gd name="T7" fmla="*/ 15 h 172"/>
              <a:gd name="T8" fmla="*/ 111 w 173"/>
              <a:gd name="T9" fmla="*/ 3 h 172"/>
              <a:gd name="T10" fmla="*/ 95 w 173"/>
              <a:gd name="T11" fmla="*/ 0 h 172"/>
              <a:gd name="T12" fmla="*/ 78 w 173"/>
              <a:gd name="T13" fmla="*/ 0 h 172"/>
              <a:gd name="T14" fmla="*/ 60 w 173"/>
              <a:gd name="T15" fmla="*/ 3 h 172"/>
              <a:gd name="T16" fmla="*/ 38 w 173"/>
              <a:gd name="T17" fmla="*/ 15 h 172"/>
              <a:gd name="T18" fmla="*/ 15 w 173"/>
              <a:gd name="T19" fmla="*/ 38 h 172"/>
              <a:gd name="T20" fmla="*/ 4 w 173"/>
              <a:gd name="T21" fmla="*/ 60 h 172"/>
              <a:gd name="T22" fmla="*/ 0 w 173"/>
              <a:gd name="T23" fmla="*/ 78 h 172"/>
              <a:gd name="T24" fmla="*/ 0 w 173"/>
              <a:gd name="T25" fmla="*/ 94 h 172"/>
              <a:gd name="T26" fmla="*/ 4 w 173"/>
              <a:gd name="T27" fmla="*/ 111 h 172"/>
              <a:gd name="T28" fmla="*/ 15 w 173"/>
              <a:gd name="T29" fmla="*/ 134 h 172"/>
              <a:gd name="T30" fmla="*/ 38 w 173"/>
              <a:gd name="T31" fmla="*/ 157 h 172"/>
              <a:gd name="T32" fmla="*/ 60 w 173"/>
              <a:gd name="T33" fmla="*/ 169 h 172"/>
              <a:gd name="T34" fmla="*/ 78 w 173"/>
              <a:gd name="T35" fmla="*/ 172 h 172"/>
              <a:gd name="T36" fmla="*/ 95 w 173"/>
              <a:gd name="T37" fmla="*/ 172 h 172"/>
              <a:gd name="T38" fmla="*/ 111 w 173"/>
              <a:gd name="T39" fmla="*/ 169 h 172"/>
              <a:gd name="T40" fmla="*/ 134 w 173"/>
              <a:gd name="T41" fmla="*/ 157 h 172"/>
              <a:gd name="T42" fmla="*/ 158 w 173"/>
              <a:gd name="T43" fmla="*/ 134 h 172"/>
              <a:gd name="T44" fmla="*/ 169 w 173"/>
              <a:gd name="T45" fmla="*/ 111 h 172"/>
              <a:gd name="T46" fmla="*/ 173 w 173"/>
              <a:gd name="T47" fmla="*/ 94 h 172"/>
              <a:gd name="T48" fmla="*/ 168 w 173"/>
              <a:gd name="T49" fmla="*/ 86 h 172"/>
              <a:gd name="T50" fmla="*/ 161 w 173"/>
              <a:gd name="T51" fmla="*/ 118 h 172"/>
              <a:gd name="T52" fmla="*/ 144 w 173"/>
              <a:gd name="T53" fmla="*/ 144 h 172"/>
              <a:gd name="T54" fmla="*/ 118 w 173"/>
              <a:gd name="T55" fmla="*/ 161 h 172"/>
              <a:gd name="T56" fmla="*/ 86 w 173"/>
              <a:gd name="T57" fmla="*/ 167 h 172"/>
              <a:gd name="T58" fmla="*/ 55 w 173"/>
              <a:gd name="T59" fmla="*/ 161 h 172"/>
              <a:gd name="T60" fmla="*/ 28 w 173"/>
              <a:gd name="T61" fmla="*/ 144 h 172"/>
              <a:gd name="T62" fmla="*/ 12 w 173"/>
              <a:gd name="T63" fmla="*/ 118 h 172"/>
              <a:gd name="T64" fmla="*/ 5 w 173"/>
              <a:gd name="T65" fmla="*/ 86 h 172"/>
              <a:gd name="T66" fmla="*/ 12 w 173"/>
              <a:gd name="T67" fmla="*/ 55 h 172"/>
              <a:gd name="T68" fmla="*/ 28 w 173"/>
              <a:gd name="T69" fmla="*/ 28 h 172"/>
              <a:gd name="T70" fmla="*/ 55 w 173"/>
              <a:gd name="T71" fmla="*/ 12 h 172"/>
              <a:gd name="T72" fmla="*/ 86 w 173"/>
              <a:gd name="T73" fmla="*/ 5 h 172"/>
              <a:gd name="T74" fmla="*/ 118 w 173"/>
              <a:gd name="T75" fmla="*/ 12 h 172"/>
              <a:gd name="T76" fmla="*/ 144 w 173"/>
              <a:gd name="T77" fmla="*/ 28 h 172"/>
              <a:gd name="T78" fmla="*/ 161 w 173"/>
              <a:gd name="T79" fmla="*/ 55 h 172"/>
              <a:gd name="T80" fmla="*/ 168 w 173"/>
              <a:gd name="T81" fmla="*/ 86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73" h="172">
                <a:moveTo>
                  <a:pt x="173" y="86"/>
                </a:moveTo>
                <a:lnTo>
                  <a:pt x="173" y="78"/>
                </a:lnTo>
                <a:lnTo>
                  <a:pt x="171" y="68"/>
                </a:lnTo>
                <a:lnTo>
                  <a:pt x="169" y="60"/>
                </a:lnTo>
                <a:lnTo>
                  <a:pt x="166" y="53"/>
                </a:lnTo>
                <a:lnTo>
                  <a:pt x="158" y="38"/>
                </a:lnTo>
                <a:lnTo>
                  <a:pt x="148" y="25"/>
                </a:lnTo>
                <a:lnTo>
                  <a:pt x="134" y="15"/>
                </a:lnTo>
                <a:lnTo>
                  <a:pt x="120" y="7"/>
                </a:lnTo>
                <a:lnTo>
                  <a:pt x="111" y="3"/>
                </a:lnTo>
                <a:lnTo>
                  <a:pt x="103" y="2"/>
                </a:lnTo>
                <a:lnTo>
                  <a:pt x="95" y="0"/>
                </a:lnTo>
                <a:lnTo>
                  <a:pt x="86" y="0"/>
                </a:lnTo>
                <a:lnTo>
                  <a:pt x="78" y="0"/>
                </a:lnTo>
                <a:lnTo>
                  <a:pt x="68" y="2"/>
                </a:lnTo>
                <a:lnTo>
                  <a:pt x="60" y="3"/>
                </a:lnTo>
                <a:lnTo>
                  <a:pt x="53" y="7"/>
                </a:lnTo>
                <a:lnTo>
                  <a:pt x="38" y="15"/>
                </a:lnTo>
                <a:lnTo>
                  <a:pt x="25" y="25"/>
                </a:lnTo>
                <a:lnTo>
                  <a:pt x="15" y="38"/>
                </a:lnTo>
                <a:lnTo>
                  <a:pt x="7" y="53"/>
                </a:lnTo>
                <a:lnTo>
                  <a:pt x="4" y="60"/>
                </a:lnTo>
                <a:lnTo>
                  <a:pt x="2" y="68"/>
                </a:lnTo>
                <a:lnTo>
                  <a:pt x="0" y="78"/>
                </a:lnTo>
                <a:lnTo>
                  <a:pt x="0" y="86"/>
                </a:lnTo>
                <a:lnTo>
                  <a:pt x="0" y="94"/>
                </a:lnTo>
                <a:lnTo>
                  <a:pt x="2" y="103"/>
                </a:lnTo>
                <a:lnTo>
                  <a:pt x="4" y="111"/>
                </a:lnTo>
                <a:lnTo>
                  <a:pt x="7" y="119"/>
                </a:lnTo>
                <a:lnTo>
                  <a:pt x="15" y="134"/>
                </a:lnTo>
                <a:lnTo>
                  <a:pt x="25" y="147"/>
                </a:lnTo>
                <a:lnTo>
                  <a:pt x="38" y="157"/>
                </a:lnTo>
                <a:lnTo>
                  <a:pt x="53" y="166"/>
                </a:lnTo>
                <a:lnTo>
                  <a:pt x="60" y="169"/>
                </a:lnTo>
                <a:lnTo>
                  <a:pt x="68" y="171"/>
                </a:lnTo>
                <a:lnTo>
                  <a:pt x="78" y="172"/>
                </a:lnTo>
                <a:lnTo>
                  <a:pt x="86" y="172"/>
                </a:lnTo>
                <a:lnTo>
                  <a:pt x="95" y="172"/>
                </a:lnTo>
                <a:lnTo>
                  <a:pt x="103" y="171"/>
                </a:lnTo>
                <a:lnTo>
                  <a:pt x="111" y="169"/>
                </a:lnTo>
                <a:lnTo>
                  <a:pt x="120" y="166"/>
                </a:lnTo>
                <a:lnTo>
                  <a:pt x="134" y="157"/>
                </a:lnTo>
                <a:lnTo>
                  <a:pt x="148" y="147"/>
                </a:lnTo>
                <a:lnTo>
                  <a:pt x="158" y="134"/>
                </a:lnTo>
                <a:lnTo>
                  <a:pt x="166" y="119"/>
                </a:lnTo>
                <a:lnTo>
                  <a:pt x="169" y="111"/>
                </a:lnTo>
                <a:lnTo>
                  <a:pt x="171" y="103"/>
                </a:lnTo>
                <a:lnTo>
                  <a:pt x="173" y="94"/>
                </a:lnTo>
                <a:lnTo>
                  <a:pt x="173" y="86"/>
                </a:lnTo>
                <a:close/>
                <a:moveTo>
                  <a:pt x="168" y="86"/>
                </a:moveTo>
                <a:lnTo>
                  <a:pt x="166" y="103"/>
                </a:lnTo>
                <a:lnTo>
                  <a:pt x="161" y="118"/>
                </a:lnTo>
                <a:lnTo>
                  <a:pt x="154" y="131"/>
                </a:lnTo>
                <a:lnTo>
                  <a:pt x="144" y="144"/>
                </a:lnTo>
                <a:lnTo>
                  <a:pt x="131" y="154"/>
                </a:lnTo>
                <a:lnTo>
                  <a:pt x="118" y="161"/>
                </a:lnTo>
                <a:lnTo>
                  <a:pt x="103" y="166"/>
                </a:lnTo>
                <a:lnTo>
                  <a:pt x="86" y="167"/>
                </a:lnTo>
                <a:lnTo>
                  <a:pt x="70" y="166"/>
                </a:lnTo>
                <a:lnTo>
                  <a:pt x="55" y="161"/>
                </a:lnTo>
                <a:lnTo>
                  <a:pt x="40" y="154"/>
                </a:lnTo>
                <a:lnTo>
                  <a:pt x="28" y="144"/>
                </a:lnTo>
                <a:lnTo>
                  <a:pt x="19" y="131"/>
                </a:lnTo>
                <a:lnTo>
                  <a:pt x="12" y="118"/>
                </a:lnTo>
                <a:lnTo>
                  <a:pt x="7" y="103"/>
                </a:lnTo>
                <a:lnTo>
                  <a:pt x="5" y="86"/>
                </a:lnTo>
                <a:lnTo>
                  <a:pt x="7" y="70"/>
                </a:lnTo>
                <a:lnTo>
                  <a:pt x="12" y="55"/>
                </a:lnTo>
                <a:lnTo>
                  <a:pt x="19" y="40"/>
                </a:lnTo>
                <a:lnTo>
                  <a:pt x="28" y="28"/>
                </a:lnTo>
                <a:lnTo>
                  <a:pt x="40" y="18"/>
                </a:lnTo>
                <a:lnTo>
                  <a:pt x="55" y="12"/>
                </a:lnTo>
                <a:lnTo>
                  <a:pt x="70" y="7"/>
                </a:lnTo>
                <a:lnTo>
                  <a:pt x="86" y="5"/>
                </a:lnTo>
                <a:lnTo>
                  <a:pt x="103" y="7"/>
                </a:lnTo>
                <a:lnTo>
                  <a:pt x="118" y="12"/>
                </a:lnTo>
                <a:lnTo>
                  <a:pt x="131" y="18"/>
                </a:lnTo>
                <a:lnTo>
                  <a:pt x="144" y="28"/>
                </a:lnTo>
                <a:lnTo>
                  <a:pt x="154" y="40"/>
                </a:lnTo>
                <a:lnTo>
                  <a:pt x="161" y="55"/>
                </a:lnTo>
                <a:lnTo>
                  <a:pt x="166" y="70"/>
                </a:lnTo>
                <a:lnTo>
                  <a:pt x="168" y="86"/>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83" name="Freeform 1388">
            <a:extLst>
              <a:ext uri="{FF2B5EF4-FFF2-40B4-BE49-F238E27FC236}">
                <a16:creationId xmlns:a16="http://schemas.microsoft.com/office/drawing/2014/main" id="{BF02AE44-5D09-B03E-5F41-3FD2BC20D4A4}"/>
              </a:ext>
            </a:extLst>
          </p:cNvPr>
          <p:cNvSpPr>
            <a:spLocks noEditPoints="1"/>
          </p:cNvSpPr>
          <p:nvPr/>
        </p:nvSpPr>
        <p:spPr bwMode="auto">
          <a:xfrm>
            <a:off x="2781300" y="2427288"/>
            <a:ext cx="265113" cy="268288"/>
          </a:xfrm>
          <a:custGeom>
            <a:avLst/>
            <a:gdLst>
              <a:gd name="T0" fmla="*/ 167 w 167"/>
              <a:gd name="T1" fmla="*/ 76 h 169"/>
              <a:gd name="T2" fmla="*/ 164 w 167"/>
              <a:gd name="T3" fmla="*/ 59 h 169"/>
              <a:gd name="T4" fmla="*/ 154 w 167"/>
              <a:gd name="T5" fmla="*/ 38 h 169"/>
              <a:gd name="T6" fmla="*/ 131 w 167"/>
              <a:gd name="T7" fmla="*/ 15 h 169"/>
              <a:gd name="T8" fmla="*/ 109 w 167"/>
              <a:gd name="T9" fmla="*/ 5 h 169"/>
              <a:gd name="T10" fmla="*/ 93 w 167"/>
              <a:gd name="T11" fmla="*/ 1 h 169"/>
              <a:gd name="T12" fmla="*/ 76 w 167"/>
              <a:gd name="T13" fmla="*/ 1 h 169"/>
              <a:gd name="T14" fmla="*/ 60 w 167"/>
              <a:gd name="T15" fmla="*/ 5 h 169"/>
              <a:gd name="T16" fmla="*/ 38 w 167"/>
              <a:gd name="T17" fmla="*/ 15 h 169"/>
              <a:gd name="T18" fmla="*/ 15 w 167"/>
              <a:gd name="T19" fmla="*/ 38 h 169"/>
              <a:gd name="T20" fmla="*/ 5 w 167"/>
              <a:gd name="T21" fmla="*/ 59 h 169"/>
              <a:gd name="T22" fmla="*/ 0 w 167"/>
              <a:gd name="T23" fmla="*/ 76 h 169"/>
              <a:gd name="T24" fmla="*/ 0 w 167"/>
              <a:gd name="T25" fmla="*/ 92 h 169"/>
              <a:gd name="T26" fmla="*/ 5 w 167"/>
              <a:gd name="T27" fmla="*/ 109 h 169"/>
              <a:gd name="T28" fmla="*/ 15 w 167"/>
              <a:gd name="T29" fmla="*/ 131 h 169"/>
              <a:gd name="T30" fmla="*/ 38 w 167"/>
              <a:gd name="T31" fmla="*/ 154 h 169"/>
              <a:gd name="T32" fmla="*/ 60 w 167"/>
              <a:gd name="T33" fmla="*/ 164 h 169"/>
              <a:gd name="T34" fmla="*/ 76 w 167"/>
              <a:gd name="T35" fmla="*/ 167 h 169"/>
              <a:gd name="T36" fmla="*/ 93 w 167"/>
              <a:gd name="T37" fmla="*/ 167 h 169"/>
              <a:gd name="T38" fmla="*/ 109 w 167"/>
              <a:gd name="T39" fmla="*/ 164 h 169"/>
              <a:gd name="T40" fmla="*/ 131 w 167"/>
              <a:gd name="T41" fmla="*/ 154 h 169"/>
              <a:gd name="T42" fmla="*/ 154 w 167"/>
              <a:gd name="T43" fmla="*/ 131 h 169"/>
              <a:gd name="T44" fmla="*/ 164 w 167"/>
              <a:gd name="T45" fmla="*/ 109 h 169"/>
              <a:gd name="T46" fmla="*/ 167 w 167"/>
              <a:gd name="T47" fmla="*/ 92 h 169"/>
              <a:gd name="T48" fmla="*/ 164 w 167"/>
              <a:gd name="T49" fmla="*/ 84 h 169"/>
              <a:gd name="T50" fmla="*/ 157 w 167"/>
              <a:gd name="T51" fmla="*/ 114 h 169"/>
              <a:gd name="T52" fmla="*/ 141 w 167"/>
              <a:gd name="T53" fmla="*/ 140 h 169"/>
              <a:gd name="T54" fmla="*/ 114 w 167"/>
              <a:gd name="T55" fmla="*/ 157 h 169"/>
              <a:gd name="T56" fmla="*/ 84 w 167"/>
              <a:gd name="T57" fmla="*/ 164 h 169"/>
              <a:gd name="T58" fmla="*/ 53 w 167"/>
              <a:gd name="T59" fmla="*/ 157 h 169"/>
              <a:gd name="T60" fmla="*/ 28 w 167"/>
              <a:gd name="T61" fmla="*/ 140 h 169"/>
              <a:gd name="T62" fmla="*/ 12 w 167"/>
              <a:gd name="T63" fmla="*/ 114 h 169"/>
              <a:gd name="T64" fmla="*/ 5 w 167"/>
              <a:gd name="T65" fmla="*/ 84 h 169"/>
              <a:gd name="T66" fmla="*/ 12 w 167"/>
              <a:gd name="T67" fmla="*/ 53 h 169"/>
              <a:gd name="T68" fmla="*/ 28 w 167"/>
              <a:gd name="T69" fmla="*/ 28 h 169"/>
              <a:gd name="T70" fmla="*/ 53 w 167"/>
              <a:gd name="T71" fmla="*/ 11 h 169"/>
              <a:gd name="T72" fmla="*/ 84 w 167"/>
              <a:gd name="T73" fmla="*/ 5 h 169"/>
              <a:gd name="T74" fmla="*/ 114 w 167"/>
              <a:gd name="T75" fmla="*/ 11 h 169"/>
              <a:gd name="T76" fmla="*/ 141 w 167"/>
              <a:gd name="T77" fmla="*/ 28 h 169"/>
              <a:gd name="T78" fmla="*/ 157 w 167"/>
              <a:gd name="T79" fmla="*/ 53 h 169"/>
              <a:gd name="T80" fmla="*/ 164 w 167"/>
              <a:gd name="T81" fmla="*/ 84 h 1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67" h="169">
                <a:moveTo>
                  <a:pt x="167" y="84"/>
                </a:moveTo>
                <a:lnTo>
                  <a:pt x="167" y="76"/>
                </a:lnTo>
                <a:lnTo>
                  <a:pt x="166" y="68"/>
                </a:lnTo>
                <a:lnTo>
                  <a:pt x="164" y="59"/>
                </a:lnTo>
                <a:lnTo>
                  <a:pt x="161" y="51"/>
                </a:lnTo>
                <a:lnTo>
                  <a:pt x="154" y="38"/>
                </a:lnTo>
                <a:lnTo>
                  <a:pt x="144" y="25"/>
                </a:lnTo>
                <a:lnTo>
                  <a:pt x="131" y="15"/>
                </a:lnTo>
                <a:lnTo>
                  <a:pt x="118" y="6"/>
                </a:lnTo>
                <a:lnTo>
                  <a:pt x="109" y="5"/>
                </a:lnTo>
                <a:lnTo>
                  <a:pt x="101" y="1"/>
                </a:lnTo>
                <a:lnTo>
                  <a:pt x="93" y="1"/>
                </a:lnTo>
                <a:lnTo>
                  <a:pt x="84" y="0"/>
                </a:lnTo>
                <a:lnTo>
                  <a:pt x="76" y="1"/>
                </a:lnTo>
                <a:lnTo>
                  <a:pt x="68" y="1"/>
                </a:lnTo>
                <a:lnTo>
                  <a:pt x="60" y="5"/>
                </a:lnTo>
                <a:lnTo>
                  <a:pt x="51" y="6"/>
                </a:lnTo>
                <a:lnTo>
                  <a:pt x="38" y="15"/>
                </a:lnTo>
                <a:lnTo>
                  <a:pt x="25" y="25"/>
                </a:lnTo>
                <a:lnTo>
                  <a:pt x="15" y="38"/>
                </a:lnTo>
                <a:lnTo>
                  <a:pt x="7" y="51"/>
                </a:lnTo>
                <a:lnTo>
                  <a:pt x="5" y="59"/>
                </a:lnTo>
                <a:lnTo>
                  <a:pt x="2" y="68"/>
                </a:lnTo>
                <a:lnTo>
                  <a:pt x="0" y="76"/>
                </a:lnTo>
                <a:lnTo>
                  <a:pt x="0" y="84"/>
                </a:lnTo>
                <a:lnTo>
                  <a:pt x="0" y="92"/>
                </a:lnTo>
                <a:lnTo>
                  <a:pt x="2" y="101"/>
                </a:lnTo>
                <a:lnTo>
                  <a:pt x="5" y="109"/>
                </a:lnTo>
                <a:lnTo>
                  <a:pt x="7" y="117"/>
                </a:lnTo>
                <a:lnTo>
                  <a:pt x="15" y="131"/>
                </a:lnTo>
                <a:lnTo>
                  <a:pt x="25" y="144"/>
                </a:lnTo>
                <a:lnTo>
                  <a:pt x="38" y="154"/>
                </a:lnTo>
                <a:lnTo>
                  <a:pt x="51" y="162"/>
                </a:lnTo>
                <a:lnTo>
                  <a:pt x="60" y="164"/>
                </a:lnTo>
                <a:lnTo>
                  <a:pt x="68" y="165"/>
                </a:lnTo>
                <a:lnTo>
                  <a:pt x="76" y="167"/>
                </a:lnTo>
                <a:lnTo>
                  <a:pt x="84" y="169"/>
                </a:lnTo>
                <a:lnTo>
                  <a:pt x="93" y="167"/>
                </a:lnTo>
                <a:lnTo>
                  <a:pt x="101" y="165"/>
                </a:lnTo>
                <a:lnTo>
                  <a:pt x="109" y="164"/>
                </a:lnTo>
                <a:lnTo>
                  <a:pt x="118" y="162"/>
                </a:lnTo>
                <a:lnTo>
                  <a:pt x="131" y="154"/>
                </a:lnTo>
                <a:lnTo>
                  <a:pt x="144" y="144"/>
                </a:lnTo>
                <a:lnTo>
                  <a:pt x="154" y="131"/>
                </a:lnTo>
                <a:lnTo>
                  <a:pt x="161" y="117"/>
                </a:lnTo>
                <a:lnTo>
                  <a:pt x="164" y="109"/>
                </a:lnTo>
                <a:lnTo>
                  <a:pt x="166" y="101"/>
                </a:lnTo>
                <a:lnTo>
                  <a:pt x="167" y="92"/>
                </a:lnTo>
                <a:lnTo>
                  <a:pt x="167" y="84"/>
                </a:lnTo>
                <a:close/>
                <a:moveTo>
                  <a:pt x="164" y="84"/>
                </a:moveTo>
                <a:lnTo>
                  <a:pt x="162" y="101"/>
                </a:lnTo>
                <a:lnTo>
                  <a:pt x="157" y="114"/>
                </a:lnTo>
                <a:lnTo>
                  <a:pt x="149" y="129"/>
                </a:lnTo>
                <a:lnTo>
                  <a:pt x="141" y="140"/>
                </a:lnTo>
                <a:lnTo>
                  <a:pt x="129" y="149"/>
                </a:lnTo>
                <a:lnTo>
                  <a:pt x="114" y="157"/>
                </a:lnTo>
                <a:lnTo>
                  <a:pt x="99" y="162"/>
                </a:lnTo>
                <a:lnTo>
                  <a:pt x="84" y="164"/>
                </a:lnTo>
                <a:lnTo>
                  <a:pt x="68" y="162"/>
                </a:lnTo>
                <a:lnTo>
                  <a:pt x="53" y="157"/>
                </a:lnTo>
                <a:lnTo>
                  <a:pt x="40" y="149"/>
                </a:lnTo>
                <a:lnTo>
                  <a:pt x="28" y="140"/>
                </a:lnTo>
                <a:lnTo>
                  <a:pt x="18" y="129"/>
                </a:lnTo>
                <a:lnTo>
                  <a:pt x="12" y="114"/>
                </a:lnTo>
                <a:lnTo>
                  <a:pt x="7" y="101"/>
                </a:lnTo>
                <a:lnTo>
                  <a:pt x="5" y="84"/>
                </a:lnTo>
                <a:lnTo>
                  <a:pt x="7" y="68"/>
                </a:lnTo>
                <a:lnTo>
                  <a:pt x="12" y="53"/>
                </a:lnTo>
                <a:lnTo>
                  <a:pt x="18" y="39"/>
                </a:lnTo>
                <a:lnTo>
                  <a:pt x="28" y="28"/>
                </a:lnTo>
                <a:lnTo>
                  <a:pt x="40" y="18"/>
                </a:lnTo>
                <a:lnTo>
                  <a:pt x="53" y="11"/>
                </a:lnTo>
                <a:lnTo>
                  <a:pt x="68" y="6"/>
                </a:lnTo>
                <a:lnTo>
                  <a:pt x="84" y="5"/>
                </a:lnTo>
                <a:lnTo>
                  <a:pt x="99" y="6"/>
                </a:lnTo>
                <a:lnTo>
                  <a:pt x="114" y="11"/>
                </a:lnTo>
                <a:lnTo>
                  <a:pt x="129" y="18"/>
                </a:lnTo>
                <a:lnTo>
                  <a:pt x="141" y="28"/>
                </a:lnTo>
                <a:lnTo>
                  <a:pt x="149" y="39"/>
                </a:lnTo>
                <a:lnTo>
                  <a:pt x="157" y="53"/>
                </a:lnTo>
                <a:lnTo>
                  <a:pt x="162" y="68"/>
                </a:lnTo>
                <a:lnTo>
                  <a:pt x="164" y="84"/>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84" name="Freeform 1389">
            <a:extLst>
              <a:ext uri="{FF2B5EF4-FFF2-40B4-BE49-F238E27FC236}">
                <a16:creationId xmlns:a16="http://schemas.microsoft.com/office/drawing/2014/main" id="{8340305F-C681-3898-C76D-2A00427E45C8}"/>
              </a:ext>
            </a:extLst>
          </p:cNvPr>
          <p:cNvSpPr>
            <a:spLocks noEditPoints="1"/>
          </p:cNvSpPr>
          <p:nvPr/>
        </p:nvSpPr>
        <p:spPr bwMode="auto">
          <a:xfrm>
            <a:off x="2786063" y="2432050"/>
            <a:ext cx="258763" cy="257175"/>
          </a:xfrm>
          <a:custGeom>
            <a:avLst/>
            <a:gdLst>
              <a:gd name="T0" fmla="*/ 161 w 163"/>
              <a:gd name="T1" fmla="*/ 65 h 162"/>
              <a:gd name="T2" fmla="*/ 149 w 163"/>
              <a:gd name="T3" fmla="*/ 35 h 162"/>
              <a:gd name="T4" fmla="*/ 126 w 163"/>
              <a:gd name="T5" fmla="*/ 13 h 162"/>
              <a:gd name="T6" fmla="*/ 98 w 163"/>
              <a:gd name="T7" fmla="*/ 2 h 162"/>
              <a:gd name="T8" fmla="*/ 65 w 163"/>
              <a:gd name="T9" fmla="*/ 2 h 162"/>
              <a:gd name="T10" fmla="*/ 35 w 163"/>
              <a:gd name="T11" fmla="*/ 13 h 162"/>
              <a:gd name="T12" fmla="*/ 14 w 163"/>
              <a:gd name="T13" fmla="*/ 35 h 162"/>
              <a:gd name="T14" fmla="*/ 2 w 163"/>
              <a:gd name="T15" fmla="*/ 65 h 162"/>
              <a:gd name="T16" fmla="*/ 2 w 163"/>
              <a:gd name="T17" fmla="*/ 98 h 162"/>
              <a:gd name="T18" fmla="*/ 14 w 163"/>
              <a:gd name="T19" fmla="*/ 126 h 162"/>
              <a:gd name="T20" fmla="*/ 35 w 163"/>
              <a:gd name="T21" fmla="*/ 149 h 162"/>
              <a:gd name="T22" fmla="*/ 65 w 163"/>
              <a:gd name="T23" fmla="*/ 161 h 162"/>
              <a:gd name="T24" fmla="*/ 98 w 163"/>
              <a:gd name="T25" fmla="*/ 161 h 162"/>
              <a:gd name="T26" fmla="*/ 126 w 163"/>
              <a:gd name="T27" fmla="*/ 149 h 162"/>
              <a:gd name="T28" fmla="*/ 149 w 163"/>
              <a:gd name="T29" fmla="*/ 126 h 162"/>
              <a:gd name="T30" fmla="*/ 161 w 163"/>
              <a:gd name="T31" fmla="*/ 98 h 162"/>
              <a:gd name="T32" fmla="*/ 158 w 163"/>
              <a:gd name="T33" fmla="*/ 81 h 162"/>
              <a:gd name="T34" fmla="*/ 151 w 163"/>
              <a:gd name="T35" fmla="*/ 111 h 162"/>
              <a:gd name="T36" fmla="*/ 136 w 163"/>
              <a:gd name="T37" fmla="*/ 136 h 162"/>
              <a:gd name="T38" fmla="*/ 111 w 163"/>
              <a:gd name="T39" fmla="*/ 152 h 162"/>
              <a:gd name="T40" fmla="*/ 81 w 163"/>
              <a:gd name="T41" fmla="*/ 157 h 162"/>
              <a:gd name="T42" fmla="*/ 52 w 163"/>
              <a:gd name="T43" fmla="*/ 152 h 162"/>
              <a:gd name="T44" fmla="*/ 27 w 163"/>
              <a:gd name="T45" fmla="*/ 136 h 162"/>
              <a:gd name="T46" fmla="*/ 10 w 163"/>
              <a:gd name="T47" fmla="*/ 111 h 162"/>
              <a:gd name="T48" fmla="*/ 5 w 163"/>
              <a:gd name="T49" fmla="*/ 81 h 162"/>
              <a:gd name="T50" fmla="*/ 10 w 163"/>
              <a:gd name="T51" fmla="*/ 51 h 162"/>
              <a:gd name="T52" fmla="*/ 27 w 163"/>
              <a:gd name="T53" fmla="*/ 27 h 162"/>
              <a:gd name="T54" fmla="*/ 52 w 163"/>
              <a:gd name="T55" fmla="*/ 10 h 162"/>
              <a:gd name="T56" fmla="*/ 81 w 163"/>
              <a:gd name="T57" fmla="*/ 5 h 162"/>
              <a:gd name="T58" fmla="*/ 111 w 163"/>
              <a:gd name="T59" fmla="*/ 10 h 162"/>
              <a:gd name="T60" fmla="*/ 136 w 163"/>
              <a:gd name="T61" fmla="*/ 27 h 162"/>
              <a:gd name="T62" fmla="*/ 151 w 163"/>
              <a:gd name="T63" fmla="*/ 51 h 162"/>
              <a:gd name="T64" fmla="*/ 158 w 163"/>
              <a:gd name="T65" fmla="*/ 81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63" h="162">
                <a:moveTo>
                  <a:pt x="163" y="81"/>
                </a:moveTo>
                <a:lnTo>
                  <a:pt x="161" y="65"/>
                </a:lnTo>
                <a:lnTo>
                  <a:pt x="156" y="50"/>
                </a:lnTo>
                <a:lnTo>
                  <a:pt x="149" y="35"/>
                </a:lnTo>
                <a:lnTo>
                  <a:pt x="139" y="23"/>
                </a:lnTo>
                <a:lnTo>
                  <a:pt x="126" y="13"/>
                </a:lnTo>
                <a:lnTo>
                  <a:pt x="113" y="7"/>
                </a:lnTo>
                <a:lnTo>
                  <a:pt x="98" y="2"/>
                </a:lnTo>
                <a:lnTo>
                  <a:pt x="81" y="0"/>
                </a:lnTo>
                <a:lnTo>
                  <a:pt x="65" y="2"/>
                </a:lnTo>
                <a:lnTo>
                  <a:pt x="50" y="7"/>
                </a:lnTo>
                <a:lnTo>
                  <a:pt x="35" y="13"/>
                </a:lnTo>
                <a:lnTo>
                  <a:pt x="23" y="23"/>
                </a:lnTo>
                <a:lnTo>
                  <a:pt x="14" y="35"/>
                </a:lnTo>
                <a:lnTo>
                  <a:pt x="7" y="50"/>
                </a:lnTo>
                <a:lnTo>
                  <a:pt x="2" y="65"/>
                </a:lnTo>
                <a:lnTo>
                  <a:pt x="0" y="81"/>
                </a:lnTo>
                <a:lnTo>
                  <a:pt x="2" y="98"/>
                </a:lnTo>
                <a:lnTo>
                  <a:pt x="7" y="113"/>
                </a:lnTo>
                <a:lnTo>
                  <a:pt x="14" y="126"/>
                </a:lnTo>
                <a:lnTo>
                  <a:pt x="23" y="139"/>
                </a:lnTo>
                <a:lnTo>
                  <a:pt x="35" y="149"/>
                </a:lnTo>
                <a:lnTo>
                  <a:pt x="50" y="156"/>
                </a:lnTo>
                <a:lnTo>
                  <a:pt x="65" y="161"/>
                </a:lnTo>
                <a:lnTo>
                  <a:pt x="81" y="162"/>
                </a:lnTo>
                <a:lnTo>
                  <a:pt x="98" y="161"/>
                </a:lnTo>
                <a:lnTo>
                  <a:pt x="113" y="156"/>
                </a:lnTo>
                <a:lnTo>
                  <a:pt x="126" y="149"/>
                </a:lnTo>
                <a:lnTo>
                  <a:pt x="139" y="139"/>
                </a:lnTo>
                <a:lnTo>
                  <a:pt x="149" y="126"/>
                </a:lnTo>
                <a:lnTo>
                  <a:pt x="156" y="113"/>
                </a:lnTo>
                <a:lnTo>
                  <a:pt x="161" y="98"/>
                </a:lnTo>
                <a:lnTo>
                  <a:pt x="163" y="81"/>
                </a:lnTo>
                <a:close/>
                <a:moveTo>
                  <a:pt x="158" y="81"/>
                </a:moveTo>
                <a:lnTo>
                  <a:pt x="156" y="96"/>
                </a:lnTo>
                <a:lnTo>
                  <a:pt x="151" y="111"/>
                </a:lnTo>
                <a:lnTo>
                  <a:pt x="144" y="124"/>
                </a:lnTo>
                <a:lnTo>
                  <a:pt x="136" y="136"/>
                </a:lnTo>
                <a:lnTo>
                  <a:pt x="124" y="144"/>
                </a:lnTo>
                <a:lnTo>
                  <a:pt x="111" y="152"/>
                </a:lnTo>
                <a:lnTo>
                  <a:pt x="96" y="156"/>
                </a:lnTo>
                <a:lnTo>
                  <a:pt x="81" y="157"/>
                </a:lnTo>
                <a:lnTo>
                  <a:pt x="67" y="156"/>
                </a:lnTo>
                <a:lnTo>
                  <a:pt x="52" y="152"/>
                </a:lnTo>
                <a:lnTo>
                  <a:pt x="38" y="144"/>
                </a:lnTo>
                <a:lnTo>
                  <a:pt x="27" y="136"/>
                </a:lnTo>
                <a:lnTo>
                  <a:pt x="17" y="124"/>
                </a:lnTo>
                <a:lnTo>
                  <a:pt x="10" y="111"/>
                </a:lnTo>
                <a:lnTo>
                  <a:pt x="7" y="96"/>
                </a:lnTo>
                <a:lnTo>
                  <a:pt x="5" y="81"/>
                </a:lnTo>
                <a:lnTo>
                  <a:pt x="7" y="66"/>
                </a:lnTo>
                <a:lnTo>
                  <a:pt x="10" y="51"/>
                </a:lnTo>
                <a:lnTo>
                  <a:pt x="17" y="38"/>
                </a:lnTo>
                <a:lnTo>
                  <a:pt x="27" y="27"/>
                </a:lnTo>
                <a:lnTo>
                  <a:pt x="38" y="18"/>
                </a:lnTo>
                <a:lnTo>
                  <a:pt x="52" y="10"/>
                </a:lnTo>
                <a:lnTo>
                  <a:pt x="67" y="7"/>
                </a:lnTo>
                <a:lnTo>
                  <a:pt x="81" y="5"/>
                </a:lnTo>
                <a:lnTo>
                  <a:pt x="96" y="7"/>
                </a:lnTo>
                <a:lnTo>
                  <a:pt x="111" y="10"/>
                </a:lnTo>
                <a:lnTo>
                  <a:pt x="124" y="18"/>
                </a:lnTo>
                <a:lnTo>
                  <a:pt x="136" y="27"/>
                </a:lnTo>
                <a:lnTo>
                  <a:pt x="144" y="38"/>
                </a:lnTo>
                <a:lnTo>
                  <a:pt x="151" y="51"/>
                </a:lnTo>
                <a:lnTo>
                  <a:pt x="156" y="66"/>
                </a:lnTo>
                <a:lnTo>
                  <a:pt x="158" y="81"/>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85" name="Freeform 1390">
            <a:extLst>
              <a:ext uri="{FF2B5EF4-FFF2-40B4-BE49-F238E27FC236}">
                <a16:creationId xmlns:a16="http://schemas.microsoft.com/office/drawing/2014/main" id="{08D777F1-E756-CA7B-CB9A-BE88F9DD4EEC}"/>
              </a:ext>
            </a:extLst>
          </p:cNvPr>
          <p:cNvSpPr>
            <a:spLocks noEditPoints="1"/>
          </p:cNvSpPr>
          <p:nvPr/>
        </p:nvSpPr>
        <p:spPr bwMode="auto">
          <a:xfrm>
            <a:off x="2789238" y="2435225"/>
            <a:ext cx="252413" cy="252413"/>
          </a:xfrm>
          <a:custGeom>
            <a:avLst/>
            <a:gdLst>
              <a:gd name="T0" fmla="*/ 157 w 159"/>
              <a:gd name="T1" fmla="*/ 63 h 159"/>
              <a:gd name="T2" fmla="*/ 144 w 159"/>
              <a:gd name="T3" fmla="*/ 34 h 159"/>
              <a:gd name="T4" fmla="*/ 124 w 159"/>
              <a:gd name="T5" fmla="*/ 13 h 159"/>
              <a:gd name="T6" fmla="*/ 94 w 159"/>
              <a:gd name="T7" fmla="*/ 1 h 159"/>
              <a:gd name="T8" fmla="*/ 63 w 159"/>
              <a:gd name="T9" fmla="*/ 1 h 159"/>
              <a:gd name="T10" fmla="*/ 35 w 159"/>
              <a:gd name="T11" fmla="*/ 13 h 159"/>
              <a:gd name="T12" fmla="*/ 13 w 159"/>
              <a:gd name="T13" fmla="*/ 34 h 159"/>
              <a:gd name="T14" fmla="*/ 2 w 159"/>
              <a:gd name="T15" fmla="*/ 63 h 159"/>
              <a:gd name="T16" fmla="*/ 2 w 159"/>
              <a:gd name="T17" fmla="*/ 96 h 159"/>
              <a:gd name="T18" fmla="*/ 13 w 159"/>
              <a:gd name="T19" fmla="*/ 124 h 159"/>
              <a:gd name="T20" fmla="*/ 35 w 159"/>
              <a:gd name="T21" fmla="*/ 144 h 159"/>
              <a:gd name="T22" fmla="*/ 63 w 159"/>
              <a:gd name="T23" fmla="*/ 157 h 159"/>
              <a:gd name="T24" fmla="*/ 94 w 159"/>
              <a:gd name="T25" fmla="*/ 157 h 159"/>
              <a:gd name="T26" fmla="*/ 124 w 159"/>
              <a:gd name="T27" fmla="*/ 144 h 159"/>
              <a:gd name="T28" fmla="*/ 144 w 159"/>
              <a:gd name="T29" fmla="*/ 124 h 159"/>
              <a:gd name="T30" fmla="*/ 157 w 159"/>
              <a:gd name="T31" fmla="*/ 96 h 159"/>
              <a:gd name="T32" fmla="*/ 154 w 159"/>
              <a:gd name="T33" fmla="*/ 79 h 159"/>
              <a:gd name="T34" fmla="*/ 147 w 159"/>
              <a:gd name="T35" fmla="*/ 107 h 159"/>
              <a:gd name="T36" fmla="*/ 132 w 159"/>
              <a:gd name="T37" fmla="*/ 132 h 159"/>
              <a:gd name="T38" fmla="*/ 108 w 159"/>
              <a:gd name="T39" fmla="*/ 147 h 159"/>
              <a:gd name="T40" fmla="*/ 79 w 159"/>
              <a:gd name="T41" fmla="*/ 154 h 159"/>
              <a:gd name="T42" fmla="*/ 50 w 159"/>
              <a:gd name="T43" fmla="*/ 147 h 159"/>
              <a:gd name="T44" fmla="*/ 26 w 159"/>
              <a:gd name="T45" fmla="*/ 132 h 159"/>
              <a:gd name="T46" fmla="*/ 12 w 159"/>
              <a:gd name="T47" fmla="*/ 107 h 159"/>
              <a:gd name="T48" fmla="*/ 5 w 159"/>
              <a:gd name="T49" fmla="*/ 79 h 159"/>
              <a:gd name="T50" fmla="*/ 12 w 159"/>
              <a:gd name="T51" fmla="*/ 49 h 159"/>
              <a:gd name="T52" fmla="*/ 26 w 159"/>
              <a:gd name="T53" fmla="*/ 26 h 159"/>
              <a:gd name="T54" fmla="*/ 50 w 159"/>
              <a:gd name="T55" fmla="*/ 11 h 159"/>
              <a:gd name="T56" fmla="*/ 79 w 159"/>
              <a:gd name="T57" fmla="*/ 5 h 159"/>
              <a:gd name="T58" fmla="*/ 108 w 159"/>
              <a:gd name="T59" fmla="*/ 11 h 159"/>
              <a:gd name="T60" fmla="*/ 132 w 159"/>
              <a:gd name="T61" fmla="*/ 26 h 159"/>
              <a:gd name="T62" fmla="*/ 147 w 159"/>
              <a:gd name="T63" fmla="*/ 49 h 159"/>
              <a:gd name="T64" fmla="*/ 154 w 159"/>
              <a:gd name="T65" fmla="*/ 7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9" h="159">
                <a:moveTo>
                  <a:pt x="159" y="79"/>
                </a:moveTo>
                <a:lnTo>
                  <a:pt x="157" y="63"/>
                </a:lnTo>
                <a:lnTo>
                  <a:pt x="152" y="48"/>
                </a:lnTo>
                <a:lnTo>
                  <a:pt x="144" y="34"/>
                </a:lnTo>
                <a:lnTo>
                  <a:pt x="136" y="23"/>
                </a:lnTo>
                <a:lnTo>
                  <a:pt x="124" y="13"/>
                </a:lnTo>
                <a:lnTo>
                  <a:pt x="109" y="6"/>
                </a:lnTo>
                <a:lnTo>
                  <a:pt x="94" y="1"/>
                </a:lnTo>
                <a:lnTo>
                  <a:pt x="79" y="0"/>
                </a:lnTo>
                <a:lnTo>
                  <a:pt x="63" y="1"/>
                </a:lnTo>
                <a:lnTo>
                  <a:pt x="48" y="6"/>
                </a:lnTo>
                <a:lnTo>
                  <a:pt x="35" y="13"/>
                </a:lnTo>
                <a:lnTo>
                  <a:pt x="23" y="23"/>
                </a:lnTo>
                <a:lnTo>
                  <a:pt x="13" y="34"/>
                </a:lnTo>
                <a:lnTo>
                  <a:pt x="7" y="48"/>
                </a:lnTo>
                <a:lnTo>
                  <a:pt x="2" y="63"/>
                </a:lnTo>
                <a:lnTo>
                  <a:pt x="0" y="79"/>
                </a:lnTo>
                <a:lnTo>
                  <a:pt x="2" y="96"/>
                </a:lnTo>
                <a:lnTo>
                  <a:pt x="7" y="109"/>
                </a:lnTo>
                <a:lnTo>
                  <a:pt x="13" y="124"/>
                </a:lnTo>
                <a:lnTo>
                  <a:pt x="23" y="135"/>
                </a:lnTo>
                <a:lnTo>
                  <a:pt x="35" y="144"/>
                </a:lnTo>
                <a:lnTo>
                  <a:pt x="48" y="152"/>
                </a:lnTo>
                <a:lnTo>
                  <a:pt x="63" y="157"/>
                </a:lnTo>
                <a:lnTo>
                  <a:pt x="79" y="159"/>
                </a:lnTo>
                <a:lnTo>
                  <a:pt x="94" y="157"/>
                </a:lnTo>
                <a:lnTo>
                  <a:pt x="109" y="152"/>
                </a:lnTo>
                <a:lnTo>
                  <a:pt x="124" y="144"/>
                </a:lnTo>
                <a:lnTo>
                  <a:pt x="136" y="135"/>
                </a:lnTo>
                <a:lnTo>
                  <a:pt x="144" y="124"/>
                </a:lnTo>
                <a:lnTo>
                  <a:pt x="152" y="109"/>
                </a:lnTo>
                <a:lnTo>
                  <a:pt x="157" y="96"/>
                </a:lnTo>
                <a:lnTo>
                  <a:pt x="159" y="79"/>
                </a:lnTo>
                <a:close/>
                <a:moveTo>
                  <a:pt x="154" y="79"/>
                </a:moveTo>
                <a:lnTo>
                  <a:pt x="152" y="94"/>
                </a:lnTo>
                <a:lnTo>
                  <a:pt x="147" y="107"/>
                </a:lnTo>
                <a:lnTo>
                  <a:pt x="141" y="121"/>
                </a:lnTo>
                <a:lnTo>
                  <a:pt x="132" y="132"/>
                </a:lnTo>
                <a:lnTo>
                  <a:pt x="121" y="140"/>
                </a:lnTo>
                <a:lnTo>
                  <a:pt x="108" y="147"/>
                </a:lnTo>
                <a:lnTo>
                  <a:pt x="94" y="152"/>
                </a:lnTo>
                <a:lnTo>
                  <a:pt x="79" y="154"/>
                </a:lnTo>
                <a:lnTo>
                  <a:pt x="65" y="152"/>
                </a:lnTo>
                <a:lnTo>
                  <a:pt x="50" y="147"/>
                </a:lnTo>
                <a:lnTo>
                  <a:pt x="38" y="140"/>
                </a:lnTo>
                <a:lnTo>
                  <a:pt x="26" y="132"/>
                </a:lnTo>
                <a:lnTo>
                  <a:pt x="18" y="121"/>
                </a:lnTo>
                <a:lnTo>
                  <a:pt x="12" y="107"/>
                </a:lnTo>
                <a:lnTo>
                  <a:pt x="7" y="94"/>
                </a:lnTo>
                <a:lnTo>
                  <a:pt x="5" y="79"/>
                </a:lnTo>
                <a:lnTo>
                  <a:pt x="7" y="64"/>
                </a:lnTo>
                <a:lnTo>
                  <a:pt x="12" y="49"/>
                </a:lnTo>
                <a:lnTo>
                  <a:pt x="18" y="38"/>
                </a:lnTo>
                <a:lnTo>
                  <a:pt x="26" y="26"/>
                </a:lnTo>
                <a:lnTo>
                  <a:pt x="38" y="18"/>
                </a:lnTo>
                <a:lnTo>
                  <a:pt x="50" y="11"/>
                </a:lnTo>
                <a:lnTo>
                  <a:pt x="65" y="6"/>
                </a:lnTo>
                <a:lnTo>
                  <a:pt x="79" y="5"/>
                </a:lnTo>
                <a:lnTo>
                  <a:pt x="94" y="6"/>
                </a:lnTo>
                <a:lnTo>
                  <a:pt x="108" y="11"/>
                </a:lnTo>
                <a:lnTo>
                  <a:pt x="121" y="18"/>
                </a:lnTo>
                <a:lnTo>
                  <a:pt x="132" y="26"/>
                </a:lnTo>
                <a:lnTo>
                  <a:pt x="141" y="38"/>
                </a:lnTo>
                <a:lnTo>
                  <a:pt x="147" y="49"/>
                </a:lnTo>
                <a:lnTo>
                  <a:pt x="152" y="64"/>
                </a:lnTo>
                <a:lnTo>
                  <a:pt x="154" y="79"/>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86" name="Freeform 1391">
            <a:extLst>
              <a:ext uri="{FF2B5EF4-FFF2-40B4-BE49-F238E27FC236}">
                <a16:creationId xmlns:a16="http://schemas.microsoft.com/office/drawing/2014/main" id="{AF1E0437-BF5A-D666-4476-FC344CD44D6E}"/>
              </a:ext>
            </a:extLst>
          </p:cNvPr>
          <p:cNvSpPr>
            <a:spLocks noEditPoints="1"/>
          </p:cNvSpPr>
          <p:nvPr/>
        </p:nvSpPr>
        <p:spPr bwMode="auto">
          <a:xfrm>
            <a:off x="2794000" y="2439988"/>
            <a:ext cx="242888" cy="241300"/>
          </a:xfrm>
          <a:custGeom>
            <a:avLst/>
            <a:gdLst>
              <a:gd name="T0" fmla="*/ 151 w 153"/>
              <a:gd name="T1" fmla="*/ 61 h 152"/>
              <a:gd name="T2" fmla="*/ 139 w 153"/>
              <a:gd name="T3" fmla="*/ 33 h 152"/>
              <a:gd name="T4" fmla="*/ 119 w 153"/>
              <a:gd name="T5" fmla="*/ 13 h 152"/>
              <a:gd name="T6" fmla="*/ 91 w 153"/>
              <a:gd name="T7" fmla="*/ 2 h 152"/>
              <a:gd name="T8" fmla="*/ 62 w 153"/>
              <a:gd name="T9" fmla="*/ 2 h 152"/>
              <a:gd name="T10" fmla="*/ 33 w 153"/>
              <a:gd name="T11" fmla="*/ 13 h 152"/>
              <a:gd name="T12" fmla="*/ 12 w 153"/>
              <a:gd name="T13" fmla="*/ 33 h 152"/>
              <a:gd name="T14" fmla="*/ 2 w 153"/>
              <a:gd name="T15" fmla="*/ 61 h 152"/>
              <a:gd name="T16" fmla="*/ 2 w 153"/>
              <a:gd name="T17" fmla="*/ 91 h 152"/>
              <a:gd name="T18" fmla="*/ 12 w 153"/>
              <a:gd name="T19" fmla="*/ 119 h 152"/>
              <a:gd name="T20" fmla="*/ 33 w 153"/>
              <a:gd name="T21" fmla="*/ 139 h 152"/>
              <a:gd name="T22" fmla="*/ 62 w 153"/>
              <a:gd name="T23" fmla="*/ 151 h 152"/>
              <a:gd name="T24" fmla="*/ 91 w 153"/>
              <a:gd name="T25" fmla="*/ 151 h 152"/>
              <a:gd name="T26" fmla="*/ 119 w 153"/>
              <a:gd name="T27" fmla="*/ 139 h 152"/>
              <a:gd name="T28" fmla="*/ 139 w 153"/>
              <a:gd name="T29" fmla="*/ 119 h 152"/>
              <a:gd name="T30" fmla="*/ 151 w 153"/>
              <a:gd name="T31" fmla="*/ 91 h 152"/>
              <a:gd name="T32" fmla="*/ 148 w 153"/>
              <a:gd name="T33" fmla="*/ 76 h 152"/>
              <a:gd name="T34" fmla="*/ 143 w 153"/>
              <a:gd name="T35" fmla="*/ 104 h 152"/>
              <a:gd name="T36" fmla="*/ 128 w 153"/>
              <a:gd name="T37" fmla="*/ 128 h 152"/>
              <a:gd name="T38" fmla="*/ 105 w 153"/>
              <a:gd name="T39" fmla="*/ 142 h 152"/>
              <a:gd name="T40" fmla="*/ 76 w 153"/>
              <a:gd name="T41" fmla="*/ 147 h 152"/>
              <a:gd name="T42" fmla="*/ 48 w 153"/>
              <a:gd name="T43" fmla="*/ 142 h 152"/>
              <a:gd name="T44" fmla="*/ 25 w 153"/>
              <a:gd name="T45" fmla="*/ 128 h 152"/>
              <a:gd name="T46" fmla="*/ 10 w 153"/>
              <a:gd name="T47" fmla="*/ 104 h 152"/>
              <a:gd name="T48" fmla="*/ 4 w 153"/>
              <a:gd name="T49" fmla="*/ 76 h 152"/>
              <a:gd name="T50" fmla="*/ 10 w 153"/>
              <a:gd name="T51" fmla="*/ 48 h 152"/>
              <a:gd name="T52" fmla="*/ 25 w 153"/>
              <a:gd name="T53" fmla="*/ 25 h 152"/>
              <a:gd name="T54" fmla="*/ 48 w 153"/>
              <a:gd name="T55" fmla="*/ 10 h 152"/>
              <a:gd name="T56" fmla="*/ 76 w 153"/>
              <a:gd name="T57" fmla="*/ 5 h 152"/>
              <a:gd name="T58" fmla="*/ 105 w 153"/>
              <a:gd name="T59" fmla="*/ 10 h 152"/>
              <a:gd name="T60" fmla="*/ 128 w 153"/>
              <a:gd name="T61" fmla="*/ 25 h 152"/>
              <a:gd name="T62" fmla="*/ 143 w 153"/>
              <a:gd name="T63" fmla="*/ 48 h 152"/>
              <a:gd name="T64" fmla="*/ 148 w 153"/>
              <a:gd name="T65" fmla="*/ 7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3" h="152">
                <a:moveTo>
                  <a:pt x="153" y="76"/>
                </a:moveTo>
                <a:lnTo>
                  <a:pt x="151" y="61"/>
                </a:lnTo>
                <a:lnTo>
                  <a:pt x="146" y="46"/>
                </a:lnTo>
                <a:lnTo>
                  <a:pt x="139" y="33"/>
                </a:lnTo>
                <a:lnTo>
                  <a:pt x="131" y="22"/>
                </a:lnTo>
                <a:lnTo>
                  <a:pt x="119" y="13"/>
                </a:lnTo>
                <a:lnTo>
                  <a:pt x="106" y="5"/>
                </a:lnTo>
                <a:lnTo>
                  <a:pt x="91" y="2"/>
                </a:lnTo>
                <a:lnTo>
                  <a:pt x="76" y="0"/>
                </a:lnTo>
                <a:lnTo>
                  <a:pt x="62" y="2"/>
                </a:lnTo>
                <a:lnTo>
                  <a:pt x="47" y="5"/>
                </a:lnTo>
                <a:lnTo>
                  <a:pt x="33" y="13"/>
                </a:lnTo>
                <a:lnTo>
                  <a:pt x="22" y="22"/>
                </a:lnTo>
                <a:lnTo>
                  <a:pt x="12" y="33"/>
                </a:lnTo>
                <a:lnTo>
                  <a:pt x="5" y="46"/>
                </a:lnTo>
                <a:lnTo>
                  <a:pt x="2" y="61"/>
                </a:lnTo>
                <a:lnTo>
                  <a:pt x="0" y="76"/>
                </a:lnTo>
                <a:lnTo>
                  <a:pt x="2" y="91"/>
                </a:lnTo>
                <a:lnTo>
                  <a:pt x="5" y="106"/>
                </a:lnTo>
                <a:lnTo>
                  <a:pt x="12" y="119"/>
                </a:lnTo>
                <a:lnTo>
                  <a:pt x="22" y="131"/>
                </a:lnTo>
                <a:lnTo>
                  <a:pt x="33" y="139"/>
                </a:lnTo>
                <a:lnTo>
                  <a:pt x="47" y="147"/>
                </a:lnTo>
                <a:lnTo>
                  <a:pt x="62" y="151"/>
                </a:lnTo>
                <a:lnTo>
                  <a:pt x="76" y="152"/>
                </a:lnTo>
                <a:lnTo>
                  <a:pt x="91" y="151"/>
                </a:lnTo>
                <a:lnTo>
                  <a:pt x="106" y="147"/>
                </a:lnTo>
                <a:lnTo>
                  <a:pt x="119" y="139"/>
                </a:lnTo>
                <a:lnTo>
                  <a:pt x="131" y="131"/>
                </a:lnTo>
                <a:lnTo>
                  <a:pt x="139" y="119"/>
                </a:lnTo>
                <a:lnTo>
                  <a:pt x="146" y="106"/>
                </a:lnTo>
                <a:lnTo>
                  <a:pt x="151" y="91"/>
                </a:lnTo>
                <a:lnTo>
                  <a:pt x="153" y="76"/>
                </a:lnTo>
                <a:close/>
                <a:moveTo>
                  <a:pt x="148" y="76"/>
                </a:moveTo>
                <a:lnTo>
                  <a:pt x="146" y="91"/>
                </a:lnTo>
                <a:lnTo>
                  <a:pt x="143" y="104"/>
                </a:lnTo>
                <a:lnTo>
                  <a:pt x="136" y="116"/>
                </a:lnTo>
                <a:lnTo>
                  <a:pt x="128" y="128"/>
                </a:lnTo>
                <a:lnTo>
                  <a:pt x="116" y="136"/>
                </a:lnTo>
                <a:lnTo>
                  <a:pt x="105" y="142"/>
                </a:lnTo>
                <a:lnTo>
                  <a:pt x="91" y="146"/>
                </a:lnTo>
                <a:lnTo>
                  <a:pt x="76" y="147"/>
                </a:lnTo>
                <a:lnTo>
                  <a:pt x="62" y="146"/>
                </a:lnTo>
                <a:lnTo>
                  <a:pt x="48" y="142"/>
                </a:lnTo>
                <a:lnTo>
                  <a:pt x="37" y="136"/>
                </a:lnTo>
                <a:lnTo>
                  <a:pt x="25" y="128"/>
                </a:lnTo>
                <a:lnTo>
                  <a:pt x="17" y="116"/>
                </a:lnTo>
                <a:lnTo>
                  <a:pt x="10" y="104"/>
                </a:lnTo>
                <a:lnTo>
                  <a:pt x="5" y="91"/>
                </a:lnTo>
                <a:lnTo>
                  <a:pt x="4" y="76"/>
                </a:lnTo>
                <a:lnTo>
                  <a:pt x="5" y="61"/>
                </a:lnTo>
                <a:lnTo>
                  <a:pt x="10" y="48"/>
                </a:lnTo>
                <a:lnTo>
                  <a:pt x="17" y="36"/>
                </a:lnTo>
                <a:lnTo>
                  <a:pt x="25" y="25"/>
                </a:lnTo>
                <a:lnTo>
                  <a:pt x="37" y="17"/>
                </a:lnTo>
                <a:lnTo>
                  <a:pt x="48" y="10"/>
                </a:lnTo>
                <a:lnTo>
                  <a:pt x="62" y="5"/>
                </a:lnTo>
                <a:lnTo>
                  <a:pt x="76" y="5"/>
                </a:lnTo>
                <a:lnTo>
                  <a:pt x="91" y="5"/>
                </a:lnTo>
                <a:lnTo>
                  <a:pt x="105" y="10"/>
                </a:lnTo>
                <a:lnTo>
                  <a:pt x="116" y="17"/>
                </a:lnTo>
                <a:lnTo>
                  <a:pt x="128" y="25"/>
                </a:lnTo>
                <a:lnTo>
                  <a:pt x="136" y="36"/>
                </a:lnTo>
                <a:lnTo>
                  <a:pt x="143" y="48"/>
                </a:lnTo>
                <a:lnTo>
                  <a:pt x="146" y="61"/>
                </a:lnTo>
                <a:lnTo>
                  <a:pt x="148" y="76"/>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87" name="Freeform 1392">
            <a:extLst>
              <a:ext uri="{FF2B5EF4-FFF2-40B4-BE49-F238E27FC236}">
                <a16:creationId xmlns:a16="http://schemas.microsoft.com/office/drawing/2014/main" id="{CC6BB43C-4B35-BDB2-8A33-9988AC62CCC4}"/>
              </a:ext>
            </a:extLst>
          </p:cNvPr>
          <p:cNvSpPr>
            <a:spLocks noEditPoints="1"/>
          </p:cNvSpPr>
          <p:nvPr/>
        </p:nvSpPr>
        <p:spPr bwMode="auto">
          <a:xfrm>
            <a:off x="2797175" y="2443163"/>
            <a:ext cx="236538" cy="236538"/>
          </a:xfrm>
          <a:custGeom>
            <a:avLst/>
            <a:gdLst>
              <a:gd name="T0" fmla="*/ 147 w 149"/>
              <a:gd name="T1" fmla="*/ 59 h 149"/>
              <a:gd name="T2" fmla="*/ 136 w 149"/>
              <a:gd name="T3" fmla="*/ 33 h 149"/>
              <a:gd name="T4" fmla="*/ 116 w 149"/>
              <a:gd name="T5" fmla="*/ 13 h 149"/>
              <a:gd name="T6" fmla="*/ 89 w 149"/>
              <a:gd name="T7" fmla="*/ 1 h 149"/>
              <a:gd name="T8" fmla="*/ 60 w 149"/>
              <a:gd name="T9" fmla="*/ 1 h 149"/>
              <a:gd name="T10" fmla="*/ 33 w 149"/>
              <a:gd name="T11" fmla="*/ 13 h 149"/>
              <a:gd name="T12" fmla="*/ 13 w 149"/>
              <a:gd name="T13" fmla="*/ 33 h 149"/>
              <a:gd name="T14" fmla="*/ 2 w 149"/>
              <a:gd name="T15" fmla="*/ 59 h 149"/>
              <a:gd name="T16" fmla="*/ 2 w 149"/>
              <a:gd name="T17" fmla="*/ 89 h 149"/>
              <a:gd name="T18" fmla="*/ 13 w 149"/>
              <a:gd name="T19" fmla="*/ 116 h 149"/>
              <a:gd name="T20" fmla="*/ 33 w 149"/>
              <a:gd name="T21" fmla="*/ 135 h 149"/>
              <a:gd name="T22" fmla="*/ 60 w 149"/>
              <a:gd name="T23" fmla="*/ 147 h 149"/>
              <a:gd name="T24" fmla="*/ 89 w 149"/>
              <a:gd name="T25" fmla="*/ 147 h 149"/>
              <a:gd name="T26" fmla="*/ 116 w 149"/>
              <a:gd name="T27" fmla="*/ 135 h 149"/>
              <a:gd name="T28" fmla="*/ 136 w 149"/>
              <a:gd name="T29" fmla="*/ 116 h 149"/>
              <a:gd name="T30" fmla="*/ 147 w 149"/>
              <a:gd name="T31" fmla="*/ 89 h 149"/>
              <a:gd name="T32" fmla="*/ 144 w 149"/>
              <a:gd name="T33" fmla="*/ 74 h 149"/>
              <a:gd name="T34" fmla="*/ 137 w 149"/>
              <a:gd name="T35" fmla="*/ 101 h 149"/>
              <a:gd name="T36" fmla="*/ 122 w 149"/>
              <a:gd name="T37" fmla="*/ 124 h 149"/>
              <a:gd name="T38" fmla="*/ 101 w 149"/>
              <a:gd name="T39" fmla="*/ 139 h 149"/>
              <a:gd name="T40" fmla="*/ 74 w 149"/>
              <a:gd name="T41" fmla="*/ 144 h 149"/>
              <a:gd name="T42" fmla="*/ 48 w 149"/>
              <a:gd name="T43" fmla="*/ 139 h 149"/>
              <a:gd name="T44" fmla="*/ 25 w 149"/>
              <a:gd name="T45" fmla="*/ 124 h 149"/>
              <a:gd name="T46" fmla="*/ 10 w 149"/>
              <a:gd name="T47" fmla="*/ 101 h 149"/>
              <a:gd name="T48" fmla="*/ 5 w 149"/>
              <a:gd name="T49" fmla="*/ 74 h 149"/>
              <a:gd name="T50" fmla="*/ 10 w 149"/>
              <a:gd name="T51" fmla="*/ 48 h 149"/>
              <a:gd name="T52" fmla="*/ 25 w 149"/>
              <a:gd name="T53" fmla="*/ 25 h 149"/>
              <a:gd name="T54" fmla="*/ 48 w 149"/>
              <a:gd name="T55" fmla="*/ 10 h 149"/>
              <a:gd name="T56" fmla="*/ 74 w 149"/>
              <a:gd name="T57" fmla="*/ 5 h 149"/>
              <a:gd name="T58" fmla="*/ 101 w 149"/>
              <a:gd name="T59" fmla="*/ 10 h 149"/>
              <a:gd name="T60" fmla="*/ 122 w 149"/>
              <a:gd name="T61" fmla="*/ 25 h 149"/>
              <a:gd name="T62" fmla="*/ 137 w 149"/>
              <a:gd name="T63" fmla="*/ 48 h 149"/>
              <a:gd name="T64" fmla="*/ 144 w 149"/>
              <a:gd name="T65"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49" h="149">
                <a:moveTo>
                  <a:pt x="149" y="74"/>
                </a:moveTo>
                <a:lnTo>
                  <a:pt x="147" y="59"/>
                </a:lnTo>
                <a:lnTo>
                  <a:pt x="142" y="44"/>
                </a:lnTo>
                <a:lnTo>
                  <a:pt x="136" y="33"/>
                </a:lnTo>
                <a:lnTo>
                  <a:pt x="127" y="21"/>
                </a:lnTo>
                <a:lnTo>
                  <a:pt x="116" y="13"/>
                </a:lnTo>
                <a:lnTo>
                  <a:pt x="103" y="6"/>
                </a:lnTo>
                <a:lnTo>
                  <a:pt x="89" y="1"/>
                </a:lnTo>
                <a:lnTo>
                  <a:pt x="74" y="0"/>
                </a:lnTo>
                <a:lnTo>
                  <a:pt x="60" y="1"/>
                </a:lnTo>
                <a:lnTo>
                  <a:pt x="45" y="6"/>
                </a:lnTo>
                <a:lnTo>
                  <a:pt x="33" y="13"/>
                </a:lnTo>
                <a:lnTo>
                  <a:pt x="21" y="21"/>
                </a:lnTo>
                <a:lnTo>
                  <a:pt x="13" y="33"/>
                </a:lnTo>
                <a:lnTo>
                  <a:pt x="7" y="44"/>
                </a:lnTo>
                <a:lnTo>
                  <a:pt x="2" y="59"/>
                </a:lnTo>
                <a:lnTo>
                  <a:pt x="0" y="74"/>
                </a:lnTo>
                <a:lnTo>
                  <a:pt x="2" y="89"/>
                </a:lnTo>
                <a:lnTo>
                  <a:pt x="7" y="102"/>
                </a:lnTo>
                <a:lnTo>
                  <a:pt x="13" y="116"/>
                </a:lnTo>
                <a:lnTo>
                  <a:pt x="21" y="127"/>
                </a:lnTo>
                <a:lnTo>
                  <a:pt x="33" y="135"/>
                </a:lnTo>
                <a:lnTo>
                  <a:pt x="45" y="142"/>
                </a:lnTo>
                <a:lnTo>
                  <a:pt x="60" y="147"/>
                </a:lnTo>
                <a:lnTo>
                  <a:pt x="74" y="149"/>
                </a:lnTo>
                <a:lnTo>
                  <a:pt x="89" y="147"/>
                </a:lnTo>
                <a:lnTo>
                  <a:pt x="103" y="142"/>
                </a:lnTo>
                <a:lnTo>
                  <a:pt x="116" y="135"/>
                </a:lnTo>
                <a:lnTo>
                  <a:pt x="127" y="127"/>
                </a:lnTo>
                <a:lnTo>
                  <a:pt x="136" y="116"/>
                </a:lnTo>
                <a:lnTo>
                  <a:pt x="142" y="102"/>
                </a:lnTo>
                <a:lnTo>
                  <a:pt x="147" y="89"/>
                </a:lnTo>
                <a:lnTo>
                  <a:pt x="149" y="74"/>
                </a:lnTo>
                <a:close/>
                <a:moveTo>
                  <a:pt x="144" y="74"/>
                </a:moveTo>
                <a:lnTo>
                  <a:pt x="142" y="87"/>
                </a:lnTo>
                <a:lnTo>
                  <a:pt x="137" y="101"/>
                </a:lnTo>
                <a:lnTo>
                  <a:pt x="132" y="112"/>
                </a:lnTo>
                <a:lnTo>
                  <a:pt x="122" y="124"/>
                </a:lnTo>
                <a:lnTo>
                  <a:pt x="112" y="132"/>
                </a:lnTo>
                <a:lnTo>
                  <a:pt x="101" y="139"/>
                </a:lnTo>
                <a:lnTo>
                  <a:pt x="88" y="142"/>
                </a:lnTo>
                <a:lnTo>
                  <a:pt x="74" y="144"/>
                </a:lnTo>
                <a:lnTo>
                  <a:pt x="60" y="142"/>
                </a:lnTo>
                <a:lnTo>
                  <a:pt x="48" y="139"/>
                </a:lnTo>
                <a:lnTo>
                  <a:pt x="35" y="132"/>
                </a:lnTo>
                <a:lnTo>
                  <a:pt x="25" y="124"/>
                </a:lnTo>
                <a:lnTo>
                  <a:pt x="16" y="112"/>
                </a:lnTo>
                <a:lnTo>
                  <a:pt x="10" y="101"/>
                </a:lnTo>
                <a:lnTo>
                  <a:pt x="7" y="87"/>
                </a:lnTo>
                <a:lnTo>
                  <a:pt x="5" y="74"/>
                </a:lnTo>
                <a:lnTo>
                  <a:pt x="7" y="59"/>
                </a:lnTo>
                <a:lnTo>
                  <a:pt x="10" y="48"/>
                </a:lnTo>
                <a:lnTo>
                  <a:pt x="16" y="34"/>
                </a:lnTo>
                <a:lnTo>
                  <a:pt x="25" y="25"/>
                </a:lnTo>
                <a:lnTo>
                  <a:pt x="35" y="16"/>
                </a:lnTo>
                <a:lnTo>
                  <a:pt x="48" y="10"/>
                </a:lnTo>
                <a:lnTo>
                  <a:pt x="60" y="6"/>
                </a:lnTo>
                <a:lnTo>
                  <a:pt x="74" y="5"/>
                </a:lnTo>
                <a:lnTo>
                  <a:pt x="88" y="6"/>
                </a:lnTo>
                <a:lnTo>
                  <a:pt x="101" y="10"/>
                </a:lnTo>
                <a:lnTo>
                  <a:pt x="112" y="16"/>
                </a:lnTo>
                <a:lnTo>
                  <a:pt x="122" y="25"/>
                </a:lnTo>
                <a:lnTo>
                  <a:pt x="132" y="34"/>
                </a:lnTo>
                <a:lnTo>
                  <a:pt x="137" y="48"/>
                </a:lnTo>
                <a:lnTo>
                  <a:pt x="142" y="59"/>
                </a:lnTo>
                <a:lnTo>
                  <a:pt x="144" y="74"/>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88" name="Freeform 1393">
            <a:extLst>
              <a:ext uri="{FF2B5EF4-FFF2-40B4-BE49-F238E27FC236}">
                <a16:creationId xmlns:a16="http://schemas.microsoft.com/office/drawing/2014/main" id="{04638168-AF45-6F9A-FCFB-3EE88092937C}"/>
              </a:ext>
            </a:extLst>
          </p:cNvPr>
          <p:cNvSpPr>
            <a:spLocks noEditPoints="1"/>
          </p:cNvSpPr>
          <p:nvPr/>
        </p:nvSpPr>
        <p:spPr bwMode="auto">
          <a:xfrm>
            <a:off x="2800350" y="2447925"/>
            <a:ext cx="228600" cy="225425"/>
          </a:xfrm>
          <a:custGeom>
            <a:avLst/>
            <a:gdLst>
              <a:gd name="T0" fmla="*/ 142 w 144"/>
              <a:gd name="T1" fmla="*/ 56 h 142"/>
              <a:gd name="T2" fmla="*/ 132 w 144"/>
              <a:gd name="T3" fmla="*/ 31 h 142"/>
              <a:gd name="T4" fmla="*/ 112 w 144"/>
              <a:gd name="T5" fmla="*/ 12 h 142"/>
              <a:gd name="T6" fmla="*/ 87 w 144"/>
              <a:gd name="T7" fmla="*/ 0 h 142"/>
              <a:gd name="T8" fmla="*/ 58 w 144"/>
              <a:gd name="T9" fmla="*/ 0 h 142"/>
              <a:gd name="T10" fmla="*/ 33 w 144"/>
              <a:gd name="T11" fmla="*/ 12 h 142"/>
              <a:gd name="T12" fmla="*/ 13 w 144"/>
              <a:gd name="T13" fmla="*/ 31 h 142"/>
              <a:gd name="T14" fmla="*/ 1 w 144"/>
              <a:gd name="T15" fmla="*/ 56 h 142"/>
              <a:gd name="T16" fmla="*/ 1 w 144"/>
              <a:gd name="T17" fmla="*/ 86 h 142"/>
              <a:gd name="T18" fmla="*/ 13 w 144"/>
              <a:gd name="T19" fmla="*/ 111 h 142"/>
              <a:gd name="T20" fmla="*/ 33 w 144"/>
              <a:gd name="T21" fmla="*/ 131 h 142"/>
              <a:gd name="T22" fmla="*/ 58 w 144"/>
              <a:gd name="T23" fmla="*/ 141 h 142"/>
              <a:gd name="T24" fmla="*/ 87 w 144"/>
              <a:gd name="T25" fmla="*/ 141 h 142"/>
              <a:gd name="T26" fmla="*/ 112 w 144"/>
              <a:gd name="T27" fmla="*/ 131 h 142"/>
              <a:gd name="T28" fmla="*/ 132 w 144"/>
              <a:gd name="T29" fmla="*/ 111 h 142"/>
              <a:gd name="T30" fmla="*/ 142 w 144"/>
              <a:gd name="T31" fmla="*/ 86 h 142"/>
              <a:gd name="T32" fmla="*/ 139 w 144"/>
              <a:gd name="T33" fmla="*/ 71 h 142"/>
              <a:gd name="T34" fmla="*/ 134 w 144"/>
              <a:gd name="T35" fmla="*/ 98 h 142"/>
              <a:gd name="T36" fmla="*/ 119 w 144"/>
              <a:gd name="T37" fmla="*/ 119 h 142"/>
              <a:gd name="T38" fmla="*/ 99 w 144"/>
              <a:gd name="T39" fmla="*/ 132 h 142"/>
              <a:gd name="T40" fmla="*/ 72 w 144"/>
              <a:gd name="T41" fmla="*/ 137 h 142"/>
              <a:gd name="T42" fmla="*/ 46 w 144"/>
              <a:gd name="T43" fmla="*/ 132 h 142"/>
              <a:gd name="T44" fmla="*/ 24 w 144"/>
              <a:gd name="T45" fmla="*/ 119 h 142"/>
              <a:gd name="T46" fmla="*/ 11 w 144"/>
              <a:gd name="T47" fmla="*/ 98 h 142"/>
              <a:gd name="T48" fmla="*/ 5 w 144"/>
              <a:gd name="T49" fmla="*/ 71 h 142"/>
              <a:gd name="T50" fmla="*/ 11 w 144"/>
              <a:gd name="T51" fmla="*/ 45 h 142"/>
              <a:gd name="T52" fmla="*/ 24 w 144"/>
              <a:gd name="T53" fmla="*/ 23 h 142"/>
              <a:gd name="T54" fmla="*/ 46 w 144"/>
              <a:gd name="T55" fmla="*/ 10 h 142"/>
              <a:gd name="T56" fmla="*/ 72 w 144"/>
              <a:gd name="T57" fmla="*/ 3 h 142"/>
              <a:gd name="T58" fmla="*/ 99 w 144"/>
              <a:gd name="T59" fmla="*/ 10 h 142"/>
              <a:gd name="T60" fmla="*/ 119 w 144"/>
              <a:gd name="T61" fmla="*/ 23 h 142"/>
              <a:gd name="T62" fmla="*/ 134 w 144"/>
              <a:gd name="T63" fmla="*/ 45 h 142"/>
              <a:gd name="T64" fmla="*/ 139 w 144"/>
              <a:gd name="T65" fmla="*/ 71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44" h="142">
                <a:moveTo>
                  <a:pt x="144" y="71"/>
                </a:moveTo>
                <a:lnTo>
                  <a:pt x="142" y="56"/>
                </a:lnTo>
                <a:lnTo>
                  <a:pt x="139" y="43"/>
                </a:lnTo>
                <a:lnTo>
                  <a:pt x="132" y="31"/>
                </a:lnTo>
                <a:lnTo>
                  <a:pt x="124" y="20"/>
                </a:lnTo>
                <a:lnTo>
                  <a:pt x="112" y="12"/>
                </a:lnTo>
                <a:lnTo>
                  <a:pt x="101" y="5"/>
                </a:lnTo>
                <a:lnTo>
                  <a:pt x="87" y="0"/>
                </a:lnTo>
                <a:lnTo>
                  <a:pt x="72" y="0"/>
                </a:lnTo>
                <a:lnTo>
                  <a:pt x="58" y="0"/>
                </a:lnTo>
                <a:lnTo>
                  <a:pt x="44" y="5"/>
                </a:lnTo>
                <a:lnTo>
                  <a:pt x="33" y="12"/>
                </a:lnTo>
                <a:lnTo>
                  <a:pt x="21" y="20"/>
                </a:lnTo>
                <a:lnTo>
                  <a:pt x="13" y="31"/>
                </a:lnTo>
                <a:lnTo>
                  <a:pt x="6" y="43"/>
                </a:lnTo>
                <a:lnTo>
                  <a:pt x="1" y="56"/>
                </a:lnTo>
                <a:lnTo>
                  <a:pt x="0" y="71"/>
                </a:lnTo>
                <a:lnTo>
                  <a:pt x="1" y="86"/>
                </a:lnTo>
                <a:lnTo>
                  <a:pt x="6" y="99"/>
                </a:lnTo>
                <a:lnTo>
                  <a:pt x="13" y="111"/>
                </a:lnTo>
                <a:lnTo>
                  <a:pt x="21" y="123"/>
                </a:lnTo>
                <a:lnTo>
                  <a:pt x="33" y="131"/>
                </a:lnTo>
                <a:lnTo>
                  <a:pt x="44" y="137"/>
                </a:lnTo>
                <a:lnTo>
                  <a:pt x="58" y="141"/>
                </a:lnTo>
                <a:lnTo>
                  <a:pt x="72" y="142"/>
                </a:lnTo>
                <a:lnTo>
                  <a:pt x="87" y="141"/>
                </a:lnTo>
                <a:lnTo>
                  <a:pt x="101" y="137"/>
                </a:lnTo>
                <a:lnTo>
                  <a:pt x="112" y="131"/>
                </a:lnTo>
                <a:lnTo>
                  <a:pt x="124" y="123"/>
                </a:lnTo>
                <a:lnTo>
                  <a:pt x="132" y="111"/>
                </a:lnTo>
                <a:lnTo>
                  <a:pt x="139" y="99"/>
                </a:lnTo>
                <a:lnTo>
                  <a:pt x="142" y="86"/>
                </a:lnTo>
                <a:lnTo>
                  <a:pt x="144" y="71"/>
                </a:lnTo>
                <a:close/>
                <a:moveTo>
                  <a:pt x="139" y="71"/>
                </a:moveTo>
                <a:lnTo>
                  <a:pt x="139" y="84"/>
                </a:lnTo>
                <a:lnTo>
                  <a:pt x="134" y="98"/>
                </a:lnTo>
                <a:lnTo>
                  <a:pt x="127" y="109"/>
                </a:lnTo>
                <a:lnTo>
                  <a:pt x="119" y="119"/>
                </a:lnTo>
                <a:lnTo>
                  <a:pt x="109" y="126"/>
                </a:lnTo>
                <a:lnTo>
                  <a:pt x="99" y="132"/>
                </a:lnTo>
                <a:lnTo>
                  <a:pt x="86" y="137"/>
                </a:lnTo>
                <a:lnTo>
                  <a:pt x="72" y="137"/>
                </a:lnTo>
                <a:lnTo>
                  <a:pt x="59" y="137"/>
                </a:lnTo>
                <a:lnTo>
                  <a:pt x="46" y="132"/>
                </a:lnTo>
                <a:lnTo>
                  <a:pt x="34" y="126"/>
                </a:lnTo>
                <a:lnTo>
                  <a:pt x="24" y="119"/>
                </a:lnTo>
                <a:lnTo>
                  <a:pt x="16" y="109"/>
                </a:lnTo>
                <a:lnTo>
                  <a:pt x="11" y="98"/>
                </a:lnTo>
                <a:lnTo>
                  <a:pt x="6" y="84"/>
                </a:lnTo>
                <a:lnTo>
                  <a:pt x="5" y="71"/>
                </a:lnTo>
                <a:lnTo>
                  <a:pt x="6" y="58"/>
                </a:lnTo>
                <a:lnTo>
                  <a:pt x="11" y="45"/>
                </a:lnTo>
                <a:lnTo>
                  <a:pt x="16" y="33"/>
                </a:lnTo>
                <a:lnTo>
                  <a:pt x="24" y="23"/>
                </a:lnTo>
                <a:lnTo>
                  <a:pt x="34" y="15"/>
                </a:lnTo>
                <a:lnTo>
                  <a:pt x="46" y="10"/>
                </a:lnTo>
                <a:lnTo>
                  <a:pt x="59" y="5"/>
                </a:lnTo>
                <a:lnTo>
                  <a:pt x="72" y="3"/>
                </a:lnTo>
                <a:lnTo>
                  <a:pt x="86" y="5"/>
                </a:lnTo>
                <a:lnTo>
                  <a:pt x="99" y="10"/>
                </a:lnTo>
                <a:lnTo>
                  <a:pt x="109" y="15"/>
                </a:lnTo>
                <a:lnTo>
                  <a:pt x="119" y="23"/>
                </a:lnTo>
                <a:lnTo>
                  <a:pt x="127" y="33"/>
                </a:lnTo>
                <a:lnTo>
                  <a:pt x="134" y="45"/>
                </a:lnTo>
                <a:lnTo>
                  <a:pt x="139" y="58"/>
                </a:lnTo>
                <a:lnTo>
                  <a:pt x="139" y="71"/>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89" name="Freeform 1394">
            <a:extLst>
              <a:ext uri="{FF2B5EF4-FFF2-40B4-BE49-F238E27FC236}">
                <a16:creationId xmlns:a16="http://schemas.microsoft.com/office/drawing/2014/main" id="{AF621C71-7455-E95E-8035-6DB40AB3606A}"/>
              </a:ext>
            </a:extLst>
          </p:cNvPr>
          <p:cNvSpPr>
            <a:spLocks noEditPoints="1"/>
          </p:cNvSpPr>
          <p:nvPr/>
        </p:nvSpPr>
        <p:spPr bwMode="auto">
          <a:xfrm>
            <a:off x="2805113" y="2451100"/>
            <a:ext cx="220663" cy="220663"/>
          </a:xfrm>
          <a:custGeom>
            <a:avLst/>
            <a:gdLst>
              <a:gd name="T0" fmla="*/ 137 w 139"/>
              <a:gd name="T1" fmla="*/ 54 h 139"/>
              <a:gd name="T2" fmla="*/ 127 w 139"/>
              <a:gd name="T3" fmla="*/ 29 h 139"/>
              <a:gd name="T4" fmla="*/ 107 w 139"/>
              <a:gd name="T5" fmla="*/ 11 h 139"/>
              <a:gd name="T6" fmla="*/ 83 w 139"/>
              <a:gd name="T7" fmla="*/ 1 h 139"/>
              <a:gd name="T8" fmla="*/ 55 w 139"/>
              <a:gd name="T9" fmla="*/ 1 h 139"/>
              <a:gd name="T10" fmla="*/ 30 w 139"/>
              <a:gd name="T11" fmla="*/ 11 h 139"/>
              <a:gd name="T12" fmla="*/ 11 w 139"/>
              <a:gd name="T13" fmla="*/ 29 h 139"/>
              <a:gd name="T14" fmla="*/ 2 w 139"/>
              <a:gd name="T15" fmla="*/ 54 h 139"/>
              <a:gd name="T16" fmla="*/ 2 w 139"/>
              <a:gd name="T17" fmla="*/ 82 h 139"/>
              <a:gd name="T18" fmla="*/ 11 w 139"/>
              <a:gd name="T19" fmla="*/ 107 h 139"/>
              <a:gd name="T20" fmla="*/ 30 w 139"/>
              <a:gd name="T21" fmla="*/ 127 h 139"/>
              <a:gd name="T22" fmla="*/ 55 w 139"/>
              <a:gd name="T23" fmla="*/ 137 h 139"/>
              <a:gd name="T24" fmla="*/ 83 w 139"/>
              <a:gd name="T25" fmla="*/ 137 h 139"/>
              <a:gd name="T26" fmla="*/ 107 w 139"/>
              <a:gd name="T27" fmla="*/ 127 h 139"/>
              <a:gd name="T28" fmla="*/ 127 w 139"/>
              <a:gd name="T29" fmla="*/ 107 h 139"/>
              <a:gd name="T30" fmla="*/ 137 w 139"/>
              <a:gd name="T31" fmla="*/ 82 h 139"/>
              <a:gd name="T32" fmla="*/ 134 w 139"/>
              <a:gd name="T33" fmla="*/ 69 h 139"/>
              <a:gd name="T34" fmla="*/ 129 w 139"/>
              <a:gd name="T35" fmla="*/ 94 h 139"/>
              <a:gd name="T36" fmla="*/ 114 w 139"/>
              <a:gd name="T37" fmla="*/ 114 h 139"/>
              <a:gd name="T38" fmla="*/ 94 w 139"/>
              <a:gd name="T39" fmla="*/ 129 h 139"/>
              <a:gd name="T40" fmla="*/ 69 w 139"/>
              <a:gd name="T41" fmla="*/ 134 h 139"/>
              <a:gd name="T42" fmla="*/ 45 w 139"/>
              <a:gd name="T43" fmla="*/ 129 h 139"/>
              <a:gd name="T44" fmla="*/ 23 w 139"/>
              <a:gd name="T45" fmla="*/ 114 h 139"/>
              <a:gd name="T46" fmla="*/ 10 w 139"/>
              <a:gd name="T47" fmla="*/ 94 h 139"/>
              <a:gd name="T48" fmla="*/ 5 w 139"/>
              <a:gd name="T49" fmla="*/ 69 h 139"/>
              <a:gd name="T50" fmla="*/ 10 w 139"/>
              <a:gd name="T51" fmla="*/ 44 h 139"/>
              <a:gd name="T52" fmla="*/ 23 w 139"/>
              <a:gd name="T53" fmla="*/ 23 h 139"/>
              <a:gd name="T54" fmla="*/ 45 w 139"/>
              <a:gd name="T55" fmla="*/ 10 h 139"/>
              <a:gd name="T56" fmla="*/ 69 w 139"/>
              <a:gd name="T57" fmla="*/ 5 h 139"/>
              <a:gd name="T58" fmla="*/ 94 w 139"/>
              <a:gd name="T59" fmla="*/ 10 h 139"/>
              <a:gd name="T60" fmla="*/ 114 w 139"/>
              <a:gd name="T61" fmla="*/ 23 h 139"/>
              <a:gd name="T62" fmla="*/ 129 w 139"/>
              <a:gd name="T63" fmla="*/ 44 h 139"/>
              <a:gd name="T64" fmla="*/ 134 w 139"/>
              <a:gd name="T65" fmla="*/ 69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39">
                <a:moveTo>
                  <a:pt x="139" y="69"/>
                </a:moveTo>
                <a:lnTo>
                  <a:pt x="137" y="54"/>
                </a:lnTo>
                <a:lnTo>
                  <a:pt x="132" y="43"/>
                </a:lnTo>
                <a:lnTo>
                  <a:pt x="127" y="29"/>
                </a:lnTo>
                <a:lnTo>
                  <a:pt x="117" y="20"/>
                </a:lnTo>
                <a:lnTo>
                  <a:pt x="107" y="11"/>
                </a:lnTo>
                <a:lnTo>
                  <a:pt x="96" y="5"/>
                </a:lnTo>
                <a:lnTo>
                  <a:pt x="83" y="1"/>
                </a:lnTo>
                <a:lnTo>
                  <a:pt x="69" y="0"/>
                </a:lnTo>
                <a:lnTo>
                  <a:pt x="55" y="1"/>
                </a:lnTo>
                <a:lnTo>
                  <a:pt x="43" y="5"/>
                </a:lnTo>
                <a:lnTo>
                  <a:pt x="30" y="11"/>
                </a:lnTo>
                <a:lnTo>
                  <a:pt x="20" y="20"/>
                </a:lnTo>
                <a:lnTo>
                  <a:pt x="11" y="29"/>
                </a:lnTo>
                <a:lnTo>
                  <a:pt x="5" y="43"/>
                </a:lnTo>
                <a:lnTo>
                  <a:pt x="2" y="54"/>
                </a:lnTo>
                <a:lnTo>
                  <a:pt x="0" y="69"/>
                </a:lnTo>
                <a:lnTo>
                  <a:pt x="2" y="82"/>
                </a:lnTo>
                <a:lnTo>
                  <a:pt x="5" y="96"/>
                </a:lnTo>
                <a:lnTo>
                  <a:pt x="11" y="107"/>
                </a:lnTo>
                <a:lnTo>
                  <a:pt x="20" y="119"/>
                </a:lnTo>
                <a:lnTo>
                  <a:pt x="30" y="127"/>
                </a:lnTo>
                <a:lnTo>
                  <a:pt x="43" y="134"/>
                </a:lnTo>
                <a:lnTo>
                  <a:pt x="55" y="137"/>
                </a:lnTo>
                <a:lnTo>
                  <a:pt x="69" y="139"/>
                </a:lnTo>
                <a:lnTo>
                  <a:pt x="83" y="137"/>
                </a:lnTo>
                <a:lnTo>
                  <a:pt x="96" y="134"/>
                </a:lnTo>
                <a:lnTo>
                  <a:pt x="107" y="127"/>
                </a:lnTo>
                <a:lnTo>
                  <a:pt x="117" y="119"/>
                </a:lnTo>
                <a:lnTo>
                  <a:pt x="127" y="107"/>
                </a:lnTo>
                <a:lnTo>
                  <a:pt x="132" y="96"/>
                </a:lnTo>
                <a:lnTo>
                  <a:pt x="137" y="82"/>
                </a:lnTo>
                <a:lnTo>
                  <a:pt x="139" y="69"/>
                </a:lnTo>
                <a:close/>
                <a:moveTo>
                  <a:pt x="134" y="69"/>
                </a:moveTo>
                <a:lnTo>
                  <a:pt x="132" y="82"/>
                </a:lnTo>
                <a:lnTo>
                  <a:pt x="129" y="94"/>
                </a:lnTo>
                <a:lnTo>
                  <a:pt x="122" y="106"/>
                </a:lnTo>
                <a:lnTo>
                  <a:pt x="114" y="114"/>
                </a:lnTo>
                <a:lnTo>
                  <a:pt x="106" y="122"/>
                </a:lnTo>
                <a:lnTo>
                  <a:pt x="94" y="129"/>
                </a:lnTo>
                <a:lnTo>
                  <a:pt x="83" y="132"/>
                </a:lnTo>
                <a:lnTo>
                  <a:pt x="69" y="134"/>
                </a:lnTo>
                <a:lnTo>
                  <a:pt x="56" y="132"/>
                </a:lnTo>
                <a:lnTo>
                  <a:pt x="45" y="129"/>
                </a:lnTo>
                <a:lnTo>
                  <a:pt x="33" y="122"/>
                </a:lnTo>
                <a:lnTo>
                  <a:pt x="23" y="114"/>
                </a:lnTo>
                <a:lnTo>
                  <a:pt x="15" y="106"/>
                </a:lnTo>
                <a:lnTo>
                  <a:pt x="10" y="94"/>
                </a:lnTo>
                <a:lnTo>
                  <a:pt x="6" y="82"/>
                </a:lnTo>
                <a:lnTo>
                  <a:pt x="5" y="69"/>
                </a:lnTo>
                <a:lnTo>
                  <a:pt x="6" y="56"/>
                </a:lnTo>
                <a:lnTo>
                  <a:pt x="10" y="44"/>
                </a:lnTo>
                <a:lnTo>
                  <a:pt x="15" y="33"/>
                </a:lnTo>
                <a:lnTo>
                  <a:pt x="23" y="23"/>
                </a:lnTo>
                <a:lnTo>
                  <a:pt x="33" y="16"/>
                </a:lnTo>
                <a:lnTo>
                  <a:pt x="45" y="10"/>
                </a:lnTo>
                <a:lnTo>
                  <a:pt x="56" y="6"/>
                </a:lnTo>
                <a:lnTo>
                  <a:pt x="69" y="5"/>
                </a:lnTo>
                <a:lnTo>
                  <a:pt x="83" y="6"/>
                </a:lnTo>
                <a:lnTo>
                  <a:pt x="94" y="10"/>
                </a:lnTo>
                <a:lnTo>
                  <a:pt x="106" y="16"/>
                </a:lnTo>
                <a:lnTo>
                  <a:pt x="114" y="23"/>
                </a:lnTo>
                <a:lnTo>
                  <a:pt x="122" y="33"/>
                </a:lnTo>
                <a:lnTo>
                  <a:pt x="129" y="44"/>
                </a:lnTo>
                <a:lnTo>
                  <a:pt x="132" y="56"/>
                </a:lnTo>
                <a:lnTo>
                  <a:pt x="134" y="69"/>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90" name="Freeform 1395">
            <a:extLst>
              <a:ext uri="{FF2B5EF4-FFF2-40B4-BE49-F238E27FC236}">
                <a16:creationId xmlns:a16="http://schemas.microsoft.com/office/drawing/2014/main" id="{2C1BD3AA-6B50-04B6-172E-1B3F42D42DAB}"/>
              </a:ext>
            </a:extLst>
          </p:cNvPr>
          <p:cNvSpPr>
            <a:spLocks noEditPoints="1"/>
          </p:cNvSpPr>
          <p:nvPr/>
        </p:nvSpPr>
        <p:spPr bwMode="auto">
          <a:xfrm>
            <a:off x="2808288" y="2452688"/>
            <a:ext cx="212725" cy="212725"/>
          </a:xfrm>
          <a:custGeom>
            <a:avLst/>
            <a:gdLst>
              <a:gd name="T0" fmla="*/ 134 w 134"/>
              <a:gd name="T1" fmla="*/ 55 h 134"/>
              <a:gd name="T2" fmla="*/ 122 w 134"/>
              <a:gd name="T3" fmla="*/ 30 h 134"/>
              <a:gd name="T4" fmla="*/ 104 w 134"/>
              <a:gd name="T5" fmla="*/ 12 h 134"/>
              <a:gd name="T6" fmla="*/ 81 w 134"/>
              <a:gd name="T7" fmla="*/ 2 h 134"/>
              <a:gd name="T8" fmla="*/ 54 w 134"/>
              <a:gd name="T9" fmla="*/ 2 h 134"/>
              <a:gd name="T10" fmla="*/ 29 w 134"/>
              <a:gd name="T11" fmla="*/ 12 h 134"/>
              <a:gd name="T12" fmla="*/ 11 w 134"/>
              <a:gd name="T13" fmla="*/ 30 h 134"/>
              <a:gd name="T14" fmla="*/ 1 w 134"/>
              <a:gd name="T15" fmla="*/ 55 h 134"/>
              <a:gd name="T16" fmla="*/ 1 w 134"/>
              <a:gd name="T17" fmla="*/ 81 h 134"/>
              <a:gd name="T18" fmla="*/ 11 w 134"/>
              <a:gd name="T19" fmla="*/ 106 h 134"/>
              <a:gd name="T20" fmla="*/ 29 w 134"/>
              <a:gd name="T21" fmla="*/ 123 h 134"/>
              <a:gd name="T22" fmla="*/ 54 w 134"/>
              <a:gd name="T23" fmla="*/ 134 h 134"/>
              <a:gd name="T24" fmla="*/ 81 w 134"/>
              <a:gd name="T25" fmla="*/ 134 h 134"/>
              <a:gd name="T26" fmla="*/ 104 w 134"/>
              <a:gd name="T27" fmla="*/ 123 h 134"/>
              <a:gd name="T28" fmla="*/ 122 w 134"/>
              <a:gd name="T29" fmla="*/ 106 h 134"/>
              <a:gd name="T30" fmla="*/ 134 w 134"/>
              <a:gd name="T31" fmla="*/ 81 h 134"/>
              <a:gd name="T32" fmla="*/ 129 w 134"/>
              <a:gd name="T33" fmla="*/ 68 h 134"/>
              <a:gd name="T34" fmla="*/ 124 w 134"/>
              <a:gd name="T35" fmla="*/ 93 h 134"/>
              <a:gd name="T36" fmla="*/ 110 w 134"/>
              <a:gd name="T37" fmla="*/ 111 h 134"/>
              <a:gd name="T38" fmla="*/ 91 w 134"/>
              <a:gd name="T39" fmla="*/ 126 h 134"/>
              <a:gd name="T40" fmla="*/ 67 w 134"/>
              <a:gd name="T41" fmla="*/ 129 h 134"/>
              <a:gd name="T42" fmla="*/ 43 w 134"/>
              <a:gd name="T43" fmla="*/ 126 h 134"/>
              <a:gd name="T44" fmla="*/ 23 w 134"/>
              <a:gd name="T45" fmla="*/ 111 h 134"/>
              <a:gd name="T46" fmla="*/ 9 w 134"/>
              <a:gd name="T47" fmla="*/ 93 h 134"/>
              <a:gd name="T48" fmla="*/ 4 w 134"/>
              <a:gd name="T49" fmla="*/ 68 h 134"/>
              <a:gd name="T50" fmla="*/ 9 w 134"/>
              <a:gd name="T51" fmla="*/ 43 h 134"/>
              <a:gd name="T52" fmla="*/ 23 w 134"/>
              <a:gd name="T53" fmla="*/ 23 h 134"/>
              <a:gd name="T54" fmla="*/ 43 w 134"/>
              <a:gd name="T55" fmla="*/ 10 h 134"/>
              <a:gd name="T56" fmla="*/ 67 w 134"/>
              <a:gd name="T57" fmla="*/ 5 h 134"/>
              <a:gd name="T58" fmla="*/ 91 w 134"/>
              <a:gd name="T59" fmla="*/ 10 h 134"/>
              <a:gd name="T60" fmla="*/ 110 w 134"/>
              <a:gd name="T61" fmla="*/ 23 h 134"/>
              <a:gd name="T62" fmla="*/ 124 w 134"/>
              <a:gd name="T63" fmla="*/ 43 h 134"/>
              <a:gd name="T64" fmla="*/ 129 w 134"/>
              <a:gd name="T65" fmla="*/ 6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4" h="134">
                <a:moveTo>
                  <a:pt x="134" y="68"/>
                </a:moveTo>
                <a:lnTo>
                  <a:pt x="134" y="55"/>
                </a:lnTo>
                <a:lnTo>
                  <a:pt x="129" y="42"/>
                </a:lnTo>
                <a:lnTo>
                  <a:pt x="122" y="30"/>
                </a:lnTo>
                <a:lnTo>
                  <a:pt x="114" y="20"/>
                </a:lnTo>
                <a:lnTo>
                  <a:pt x="104" y="12"/>
                </a:lnTo>
                <a:lnTo>
                  <a:pt x="94" y="7"/>
                </a:lnTo>
                <a:lnTo>
                  <a:pt x="81" y="2"/>
                </a:lnTo>
                <a:lnTo>
                  <a:pt x="67" y="0"/>
                </a:lnTo>
                <a:lnTo>
                  <a:pt x="54" y="2"/>
                </a:lnTo>
                <a:lnTo>
                  <a:pt x="41" y="7"/>
                </a:lnTo>
                <a:lnTo>
                  <a:pt x="29" y="12"/>
                </a:lnTo>
                <a:lnTo>
                  <a:pt x="19" y="20"/>
                </a:lnTo>
                <a:lnTo>
                  <a:pt x="11" y="30"/>
                </a:lnTo>
                <a:lnTo>
                  <a:pt x="6" y="42"/>
                </a:lnTo>
                <a:lnTo>
                  <a:pt x="1" y="55"/>
                </a:lnTo>
                <a:lnTo>
                  <a:pt x="0" y="68"/>
                </a:lnTo>
                <a:lnTo>
                  <a:pt x="1" y="81"/>
                </a:lnTo>
                <a:lnTo>
                  <a:pt x="6" y="95"/>
                </a:lnTo>
                <a:lnTo>
                  <a:pt x="11" y="106"/>
                </a:lnTo>
                <a:lnTo>
                  <a:pt x="19" y="116"/>
                </a:lnTo>
                <a:lnTo>
                  <a:pt x="29" y="123"/>
                </a:lnTo>
                <a:lnTo>
                  <a:pt x="41" y="129"/>
                </a:lnTo>
                <a:lnTo>
                  <a:pt x="54" y="134"/>
                </a:lnTo>
                <a:lnTo>
                  <a:pt x="67" y="134"/>
                </a:lnTo>
                <a:lnTo>
                  <a:pt x="81" y="134"/>
                </a:lnTo>
                <a:lnTo>
                  <a:pt x="94" y="129"/>
                </a:lnTo>
                <a:lnTo>
                  <a:pt x="104" y="123"/>
                </a:lnTo>
                <a:lnTo>
                  <a:pt x="114" y="116"/>
                </a:lnTo>
                <a:lnTo>
                  <a:pt x="122" y="106"/>
                </a:lnTo>
                <a:lnTo>
                  <a:pt x="129" y="95"/>
                </a:lnTo>
                <a:lnTo>
                  <a:pt x="134" y="81"/>
                </a:lnTo>
                <a:lnTo>
                  <a:pt x="134" y="68"/>
                </a:lnTo>
                <a:close/>
                <a:moveTo>
                  <a:pt x="129" y="68"/>
                </a:moveTo>
                <a:lnTo>
                  <a:pt x="129" y="80"/>
                </a:lnTo>
                <a:lnTo>
                  <a:pt x="124" y="93"/>
                </a:lnTo>
                <a:lnTo>
                  <a:pt x="119" y="103"/>
                </a:lnTo>
                <a:lnTo>
                  <a:pt x="110" y="111"/>
                </a:lnTo>
                <a:lnTo>
                  <a:pt x="102" y="120"/>
                </a:lnTo>
                <a:lnTo>
                  <a:pt x="91" y="126"/>
                </a:lnTo>
                <a:lnTo>
                  <a:pt x="79" y="129"/>
                </a:lnTo>
                <a:lnTo>
                  <a:pt x="67" y="129"/>
                </a:lnTo>
                <a:lnTo>
                  <a:pt x="54" y="129"/>
                </a:lnTo>
                <a:lnTo>
                  <a:pt x="43" y="126"/>
                </a:lnTo>
                <a:lnTo>
                  <a:pt x="33" y="120"/>
                </a:lnTo>
                <a:lnTo>
                  <a:pt x="23" y="111"/>
                </a:lnTo>
                <a:lnTo>
                  <a:pt x="16" y="103"/>
                </a:lnTo>
                <a:lnTo>
                  <a:pt x="9" y="93"/>
                </a:lnTo>
                <a:lnTo>
                  <a:pt x="6" y="80"/>
                </a:lnTo>
                <a:lnTo>
                  <a:pt x="4" y="68"/>
                </a:lnTo>
                <a:lnTo>
                  <a:pt x="6" y="55"/>
                </a:lnTo>
                <a:lnTo>
                  <a:pt x="9" y="43"/>
                </a:lnTo>
                <a:lnTo>
                  <a:pt x="16" y="33"/>
                </a:lnTo>
                <a:lnTo>
                  <a:pt x="23" y="23"/>
                </a:lnTo>
                <a:lnTo>
                  <a:pt x="33" y="17"/>
                </a:lnTo>
                <a:lnTo>
                  <a:pt x="43" y="10"/>
                </a:lnTo>
                <a:lnTo>
                  <a:pt x="54" y="7"/>
                </a:lnTo>
                <a:lnTo>
                  <a:pt x="67" y="5"/>
                </a:lnTo>
                <a:lnTo>
                  <a:pt x="79" y="7"/>
                </a:lnTo>
                <a:lnTo>
                  <a:pt x="91" y="10"/>
                </a:lnTo>
                <a:lnTo>
                  <a:pt x="102" y="17"/>
                </a:lnTo>
                <a:lnTo>
                  <a:pt x="110" y="23"/>
                </a:lnTo>
                <a:lnTo>
                  <a:pt x="119" y="33"/>
                </a:lnTo>
                <a:lnTo>
                  <a:pt x="124" y="43"/>
                </a:lnTo>
                <a:lnTo>
                  <a:pt x="129" y="55"/>
                </a:lnTo>
                <a:lnTo>
                  <a:pt x="129" y="68"/>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91" name="Freeform 1396">
            <a:extLst>
              <a:ext uri="{FF2B5EF4-FFF2-40B4-BE49-F238E27FC236}">
                <a16:creationId xmlns:a16="http://schemas.microsoft.com/office/drawing/2014/main" id="{F3818769-3EB9-E380-C4A2-ECFB6939AC53}"/>
              </a:ext>
            </a:extLst>
          </p:cNvPr>
          <p:cNvSpPr>
            <a:spLocks noEditPoints="1"/>
          </p:cNvSpPr>
          <p:nvPr/>
        </p:nvSpPr>
        <p:spPr bwMode="auto">
          <a:xfrm>
            <a:off x="2813050" y="2459038"/>
            <a:ext cx="204788" cy="204788"/>
          </a:xfrm>
          <a:custGeom>
            <a:avLst/>
            <a:gdLst>
              <a:gd name="T0" fmla="*/ 127 w 129"/>
              <a:gd name="T1" fmla="*/ 51 h 129"/>
              <a:gd name="T2" fmla="*/ 117 w 129"/>
              <a:gd name="T3" fmla="*/ 28 h 129"/>
              <a:gd name="T4" fmla="*/ 101 w 129"/>
              <a:gd name="T5" fmla="*/ 11 h 129"/>
              <a:gd name="T6" fmla="*/ 78 w 129"/>
              <a:gd name="T7" fmla="*/ 1 h 129"/>
              <a:gd name="T8" fmla="*/ 51 w 129"/>
              <a:gd name="T9" fmla="*/ 1 h 129"/>
              <a:gd name="T10" fmla="*/ 28 w 129"/>
              <a:gd name="T11" fmla="*/ 11 h 129"/>
              <a:gd name="T12" fmla="*/ 10 w 129"/>
              <a:gd name="T13" fmla="*/ 28 h 129"/>
              <a:gd name="T14" fmla="*/ 1 w 129"/>
              <a:gd name="T15" fmla="*/ 51 h 129"/>
              <a:gd name="T16" fmla="*/ 1 w 129"/>
              <a:gd name="T17" fmla="*/ 77 h 129"/>
              <a:gd name="T18" fmla="*/ 10 w 129"/>
              <a:gd name="T19" fmla="*/ 101 h 129"/>
              <a:gd name="T20" fmla="*/ 28 w 129"/>
              <a:gd name="T21" fmla="*/ 117 h 129"/>
              <a:gd name="T22" fmla="*/ 51 w 129"/>
              <a:gd name="T23" fmla="*/ 127 h 129"/>
              <a:gd name="T24" fmla="*/ 78 w 129"/>
              <a:gd name="T25" fmla="*/ 127 h 129"/>
              <a:gd name="T26" fmla="*/ 101 w 129"/>
              <a:gd name="T27" fmla="*/ 117 h 129"/>
              <a:gd name="T28" fmla="*/ 117 w 129"/>
              <a:gd name="T29" fmla="*/ 101 h 129"/>
              <a:gd name="T30" fmla="*/ 127 w 129"/>
              <a:gd name="T31" fmla="*/ 77 h 129"/>
              <a:gd name="T32" fmla="*/ 124 w 129"/>
              <a:gd name="T33" fmla="*/ 64 h 129"/>
              <a:gd name="T34" fmla="*/ 119 w 129"/>
              <a:gd name="T35" fmla="*/ 87 h 129"/>
              <a:gd name="T36" fmla="*/ 106 w 129"/>
              <a:gd name="T37" fmla="*/ 106 h 129"/>
              <a:gd name="T38" fmla="*/ 88 w 129"/>
              <a:gd name="T39" fmla="*/ 119 h 129"/>
              <a:gd name="T40" fmla="*/ 64 w 129"/>
              <a:gd name="T41" fmla="*/ 124 h 129"/>
              <a:gd name="T42" fmla="*/ 41 w 129"/>
              <a:gd name="T43" fmla="*/ 119 h 129"/>
              <a:gd name="T44" fmla="*/ 21 w 129"/>
              <a:gd name="T45" fmla="*/ 106 h 129"/>
              <a:gd name="T46" fmla="*/ 10 w 129"/>
              <a:gd name="T47" fmla="*/ 87 h 129"/>
              <a:gd name="T48" fmla="*/ 5 w 129"/>
              <a:gd name="T49" fmla="*/ 64 h 129"/>
              <a:gd name="T50" fmla="*/ 10 w 129"/>
              <a:gd name="T51" fmla="*/ 41 h 129"/>
              <a:gd name="T52" fmla="*/ 21 w 129"/>
              <a:gd name="T53" fmla="*/ 21 h 129"/>
              <a:gd name="T54" fmla="*/ 41 w 129"/>
              <a:gd name="T55" fmla="*/ 10 h 129"/>
              <a:gd name="T56" fmla="*/ 64 w 129"/>
              <a:gd name="T57" fmla="*/ 5 h 129"/>
              <a:gd name="T58" fmla="*/ 88 w 129"/>
              <a:gd name="T59" fmla="*/ 10 h 129"/>
              <a:gd name="T60" fmla="*/ 106 w 129"/>
              <a:gd name="T61" fmla="*/ 21 h 129"/>
              <a:gd name="T62" fmla="*/ 119 w 129"/>
              <a:gd name="T63" fmla="*/ 41 h 129"/>
              <a:gd name="T64" fmla="*/ 124 w 129"/>
              <a:gd name="T65" fmla="*/ 64 h 1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29" h="129">
                <a:moveTo>
                  <a:pt x="129" y="64"/>
                </a:moveTo>
                <a:lnTo>
                  <a:pt x="127" y="51"/>
                </a:lnTo>
                <a:lnTo>
                  <a:pt x="124" y="39"/>
                </a:lnTo>
                <a:lnTo>
                  <a:pt x="117" y="28"/>
                </a:lnTo>
                <a:lnTo>
                  <a:pt x="109" y="18"/>
                </a:lnTo>
                <a:lnTo>
                  <a:pt x="101" y="11"/>
                </a:lnTo>
                <a:lnTo>
                  <a:pt x="89" y="5"/>
                </a:lnTo>
                <a:lnTo>
                  <a:pt x="78" y="1"/>
                </a:lnTo>
                <a:lnTo>
                  <a:pt x="64" y="0"/>
                </a:lnTo>
                <a:lnTo>
                  <a:pt x="51" y="1"/>
                </a:lnTo>
                <a:lnTo>
                  <a:pt x="40" y="5"/>
                </a:lnTo>
                <a:lnTo>
                  <a:pt x="28" y="11"/>
                </a:lnTo>
                <a:lnTo>
                  <a:pt x="18" y="18"/>
                </a:lnTo>
                <a:lnTo>
                  <a:pt x="10" y="28"/>
                </a:lnTo>
                <a:lnTo>
                  <a:pt x="5" y="39"/>
                </a:lnTo>
                <a:lnTo>
                  <a:pt x="1" y="51"/>
                </a:lnTo>
                <a:lnTo>
                  <a:pt x="0" y="64"/>
                </a:lnTo>
                <a:lnTo>
                  <a:pt x="1" y="77"/>
                </a:lnTo>
                <a:lnTo>
                  <a:pt x="5" y="89"/>
                </a:lnTo>
                <a:lnTo>
                  <a:pt x="10" y="101"/>
                </a:lnTo>
                <a:lnTo>
                  <a:pt x="18" y="109"/>
                </a:lnTo>
                <a:lnTo>
                  <a:pt x="28" y="117"/>
                </a:lnTo>
                <a:lnTo>
                  <a:pt x="40" y="124"/>
                </a:lnTo>
                <a:lnTo>
                  <a:pt x="51" y="127"/>
                </a:lnTo>
                <a:lnTo>
                  <a:pt x="64" y="129"/>
                </a:lnTo>
                <a:lnTo>
                  <a:pt x="78" y="127"/>
                </a:lnTo>
                <a:lnTo>
                  <a:pt x="89" y="124"/>
                </a:lnTo>
                <a:lnTo>
                  <a:pt x="101" y="117"/>
                </a:lnTo>
                <a:lnTo>
                  <a:pt x="109" y="109"/>
                </a:lnTo>
                <a:lnTo>
                  <a:pt x="117" y="101"/>
                </a:lnTo>
                <a:lnTo>
                  <a:pt x="124" y="89"/>
                </a:lnTo>
                <a:lnTo>
                  <a:pt x="127" y="77"/>
                </a:lnTo>
                <a:lnTo>
                  <a:pt x="129" y="64"/>
                </a:lnTo>
                <a:close/>
                <a:moveTo>
                  <a:pt x="124" y="64"/>
                </a:moveTo>
                <a:lnTo>
                  <a:pt x="122" y="76"/>
                </a:lnTo>
                <a:lnTo>
                  <a:pt x="119" y="87"/>
                </a:lnTo>
                <a:lnTo>
                  <a:pt x="114" y="97"/>
                </a:lnTo>
                <a:lnTo>
                  <a:pt x="106" y="106"/>
                </a:lnTo>
                <a:lnTo>
                  <a:pt x="98" y="114"/>
                </a:lnTo>
                <a:lnTo>
                  <a:pt x="88" y="119"/>
                </a:lnTo>
                <a:lnTo>
                  <a:pt x="76" y="122"/>
                </a:lnTo>
                <a:lnTo>
                  <a:pt x="64" y="124"/>
                </a:lnTo>
                <a:lnTo>
                  <a:pt x="53" y="122"/>
                </a:lnTo>
                <a:lnTo>
                  <a:pt x="41" y="119"/>
                </a:lnTo>
                <a:lnTo>
                  <a:pt x="31" y="114"/>
                </a:lnTo>
                <a:lnTo>
                  <a:pt x="21" y="106"/>
                </a:lnTo>
                <a:lnTo>
                  <a:pt x="15" y="97"/>
                </a:lnTo>
                <a:lnTo>
                  <a:pt x="10" y="87"/>
                </a:lnTo>
                <a:lnTo>
                  <a:pt x="5" y="76"/>
                </a:lnTo>
                <a:lnTo>
                  <a:pt x="5" y="64"/>
                </a:lnTo>
                <a:lnTo>
                  <a:pt x="5" y="53"/>
                </a:lnTo>
                <a:lnTo>
                  <a:pt x="10" y="41"/>
                </a:lnTo>
                <a:lnTo>
                  <a:pt x="15" y="31"/>
                </a:lnTo>
                <a:lnTo>
                  <a:pt x="21" y="21"/>
                </a:lnTo>
                <a:lnTo>
                  <a:pt x="31" y="15"/>
                </a:lnTo>
                <a:lnTo>
                  <a:pt x="41" y="10"/>
                </a:lnTo>
                <a:lnTo>
                  <a:pt x="53" y="5"/>
                </a:lnTo>
                <a:lnTo>
                  <a:pt x="64" y="5"/>
                </a:lnTo>
                <a:lnTo>
                  <a:pt x="76" y="5"/>
                </a:lnTo>
                <a:lnTo>
                  <a:pt x="88" y="10"/>
                </a:lnTo>
                <a:lnTo>
                  <a:pt x="98" y="15"/>
                </a:lnTo>
                <a:lnTo>
                  <a:pt x="106" y="21"/>
                </a:lnTo>
                <a:lnTo>
                  <a:pt x="114" y="31"/>
                </a:lnTo>
                <a:lnTo>
                  <a:pt x="119" y="41"/>
                </a:lnTo>
                <a:lnTo>
                  <a:pt x="122" y="53"/>
                </a:lnTo>
                <a:lnTo>
                  <a:pt x="124" y="64"/>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92" name="Freeform 1397">
            <a:extLst>
              <a:ext uri="{FF2B5EF4-FFF2-40B4-BE49-F238E27FC236}">
                <a16:creationId xmlns:a16="http://schemas.microsoft.com/office/drawing/2014/main" id="{8774BFC7-98E1-BAD2-157A-B64201202B8B}"/>
              </a:ext>
            </a:extLst>
          </p:cNvPr>
          <p:cNvSpPr>
            <a:spLocks noEditPoints="1"/>
          </p:cNvSpPr>
          <p:nvPr/>
        </p:nvSpPr>
        <p:spPr bwMode="auto">
          <a:xfrm>
            <a:off x="2814638" y="2460625"/>
            <a:ext cx="198438" cy="196850"/>
          </a:xfrm>
          <a:custGeom>
            <a:avLst/>
            <a:gdLst>
              <a:gd name="T0" fmla="*/ 125 w 125"/>
              <a:gd name="T1" fmla="*/ 50 h 124"/>
              <a:gd name="T2" fmla="*/ 115 w 125"/>
              <a:gd name="T3" fmla="*/ 28 h 124"/>
              <a:gd name="T4" fmla="*/ 98 w 125"/>
              <a:gd name="T5" fmla="*/ 12 h 124"/>
              <a:gd name="T6" fmla="*/ 75 w 125"/>
              <a:gd name="T7" fmla="*/ 2 h 124"/>
              <a:gd name="T8" fmla="*/ 50 w 125"/>
              <a:gd name="T9" fmla="*/ 2 h 124"/>
              <a:gd name="T10" fmla="*/ 29 w 125"/>
              <a:gd name="T11" fmla="*/ 12 h 124"/>
              <a:gd name="T12" fmla="*/ 12 w 125"/>
              <a:gd name="T13" fmla="*/ 28 h 124"/>
              <a:gd name="T14" fmla="*/ 2 w 125"/>
              <a:gd name="T15" fmla="*/ 50 h 124"/>
              <a:gd name="T16" fmla="*/ 2 w 125"/>
              <a:gd name="T17" fmla="*/ 75 h 124"/>
              <a:gd name="T18" fmla="*/ 12 w 125"/>
              <a:gd name="T19" fmla="*/ 98 h 124"/>
              <a:gd name="T20" fmla="*/ 29 w 125"/>
              <a:gd name="T21" fmla="*/ 115 h 124"/>
              <a:gd name="T22" fmla="*/ 50 w 125"/>
              <a:gd name="T23" fmla="*/ 124 h 124"/>
              <a:gd name="T24" fmla="*/ 75 w 125"/>
              <a:gd name="T25" fmla="*/ 124 h 124"/>
              <a:gd name="T26" fmla="*/ 98 w 125"/>
              <a:gd name="T27" fmla="*/ 115 h 124"/>
              <a:gd name="T28" fmla="*/ 115 w 125"/>
              <a:gd name="T29" fmla="*/ 98 h 124"/>
              <a:gd name="T30" fmla="*/ 125 w 125"/>
              <a:gd name="T31" fmla="*/ 75 h 124"/>
              <a:gd name="T32" fmla="*/ 121 w 125"/>
              <a:gd name="T33" fmla="*/ 63 h 124"/>
              <a:gd name="T34" fmla="*/ 116 w 125"/>
              <a:gd name="T35" fmla="*/ 85 h 124"/>
              <a:gd name="T36" fmla="*/ 103 w 125"/>
              <a:gd name="T37" fmla="*/ 103 h 124"/>
              <a:gd name="T38" fmla="*/ 85 w 125"/>
              <a:gd name="T39" fmla="*/ 116 h 124"/>
              <a:gd name="T40" fmla="*/ 63 w 125"/>
              <a:gd name="T41" fmla="*/ 121 h 124"/>
              <a:gd name="T42" fmla="*/ 40 w 125"/>
              <a:gd name="T43" fmla="*/ 116 h 124"/>
              <a:gd name="T44" fmla="*/ 22 w 125"/>
              <a:gd name="T45" fmla="*/ 103 h 124"/>
              <a:gd name="T46" fmla="*/ 10 w 125"/>
              <a:gd name="T47" fmla="*/ 85 h 124"/>
              <a:gd name="T48" fmla="*/ 5 w 125"/>
              <a:gd name="T49" fmla="*/ 63 h 124"/>
              <a:gd name="T50" fmla="*/ 10 w 125"/>
              <a:gd name="T51" fmla="*/ 40 h 124"/>
              <a:gd name="T52" fmla="*/ 22 w 125"/>
              <a:gd name="T53" fmla="*/ 22 h 124"/>
              <a:gd name="T54" fmla="*/ 40 w 125"/>
              <a:gd name="T55" fmla="*/ 10 h 124"/>
              <a:gd name="T56" fmla="*/ 63 w 125"/>
              <a:gd name="T57" fmla="*/ 5 h 124"/>
              <a:gd name="T58" fmla="*/ 85 w 125"/>
              <a:gd name="T59" fmla="*/ 10 h 124"/>
              <a:gd name="T60" fmla="*/ 103 w 125"/>
              <a:gd name="T61" fmla="*/ 22 h 124"/>
              <a:gd name="T62" fmla="*/ 116 w 125"/>
              <a:gd name="T63" fmla="*/ 40 h 124"/>
              <a:gd name="T64" fmla="*/ 121 w 125"/>
              <a:gd name="T65" fmla="*/ 63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25" h="124">
                <a:moveTo>
                  <a:pt x="125" y="63"/>
                </a:moveTo>
                <a:lnTo>
                  <a:pt x="125" y="50"/>
                </a:lnTo>
                <a:lnTo>
                  <a:pt x="120" y="38"/>
                </a:lnTo>
                <a:lnTo>
                  <a:pt x="115" y="28"/>
                </a:lnTo>
                <a:lnTo>
                  <a:pt x="106" y="18"/>
                </a:lnTo>
                <a:lnTo>
                  <a:pt x="98" y="12"/>
                </a:lnTo>
                <a:lnTo>
                  <a:pt x="87" y="5"/>
                </a:lnTo>
                <a:lnTo>
                  <a:pt x="75" y="2"/>
                </a:lnTo>
                <a:lnTo>
                  <a:pt x="63" y="0"/>
                </a:lnTo>
                <a:lnTo>
                  <a:pt x="50" y="2"/>
                </a:lnTo>
                <a:lnTo>
                  <a:pt x="39" y="5"/>
                </a:lnTo>
                <a:lnTo>
                  <a:pt x="29" y="12"/>
                </a:lnTo>
                <a:lnTo>
                  <a:pt x="19" y="18"/>
                </a:lnTo>
                <a:lnTo>
                  <a:pt x="12" y="28"/>
                </a:lnTo>
                <a:lnTo>
                  <a:pt x="5" y="38"/>
                </a:lnTo>
                <a:lnTo>
                  <a:pt x="2" y="50"/>
                </a:lnTo>
                <a:lnTo>
                  <a:pt x="0" y="63"/>
                </a:lnTo>
                <a:lnTo>
                  <a:pt x="2" y="75"/>
                </a:lnTo>
                <a:lnTo>
                  <a:pt x="5" y="88"/>
                </a:lnTo>
                <a:lnTo>
                  <a:pt x="12" y="98"/>
                </a:lnTo>
                <a:lnTo>
                  <a:pt x="19" y="106"/>
                </a:lnTo>
                <a:lnTo>
                  <a:pt x="29" y="115"/>
                </a:lnTo>
                <a:lnTo>
                  <a:pt x="39" y="121"/>
                </a:lnTo>
                <a:lnTo>
                  <a:pt x="50" y="124"/>
                </a:lnTo>
                <a:lnTo>
                  <a:pt x="63" y="124"/>
                </a:lnTo>
                <a:lnTo>
                  <a:pt x="75" y="124"/>
                </a:lnTo>
                <a:lnTo>
                  <a:pt x="87" y="121"/>
                </a:lnTo>
                <a:lnTo>
                  <a:pt x="98" y="115"/>
                </a:lnTo>
                <a:lnTo>
                  <a:pt x="106" y="106"/>
                </a:lnTo>
                <a:lnTo>
                  <a:pt x="115" y="98"/>
                </a:lnTo>
                <a:lnTo>
                  <a:pt x="120" y="88"/>
                </a:lnTo>
                <a:lnTo>
                  <a:pt x="125" y="75"/>
                </a:lnTo>
                <a:lnTo>
                  <a:pt x="125" y="63"/>
                </a:lnTo>
                <a:close/>
                <a:moveTo>
                  <a:pt x="121" y="63"/>
                </a:moveTo>
                <a:lnTo>
                  <a:pt x="120" y="75"/>
                </a:lnTo>
                <a:lnTo>
                  <a:pt x="116" y="85"/>
                </a:lnTo>
                <a:lnTo>
                  <a:pt x="111" y="95"/>
                </a:lnTo>
                <a:lnTo>
                  <a:pt x="103" y="103"/>
                </a:lnTo>
                <a:lnTo>
                  <a:pt x="95" y="111"/>
                </a:lnTo>
                <a:lnTo>
                  <a:pt x="85" y="116"/>
                </a:lnTo>
                <a:lnTo>
                  <a:pt x="75" y="119"/>
                </a:lnTo>
                <a:lnTo>
                  <a:pt x="63" y="121"/>
                </a:lnTo>
                <a:lnTo>
                  <a:pt x="52" y="119"/>
                </a:lnTo>
                <a:lnTo>
                  <a:pt x="40" y="116"/>
                </a:lnTo>
                <a:lnTo>
                  <a:pt x="30" y="111"/>
                </a:lnTo>
                <a:lnTo>
                  <a:pt x="22" y="103"/>
                </a:lnTo>
                <a:lnTo>
                  <a:pt x="15" y="95"/>
                </a:lnTo>
                <a:lnTo>
                  <a:pt x="10" y="85"/>
                </a:lnTo>
                <a:lnTo>
                  <a:pt x="7" y="75"/>
                </a:lnTo>
                <a:lnTo>
                  <a:pt x="5" y="63"/>
                </a:lnTo>
                <a:lnTo>
                  <a:pt x="7" y="52"/>
                </a:lnTo>
                <a:lnTo>
                  <a:pt x="10" y="40"/>
                </a:lnTo>
                <a:lnTo>
                  <a:pt x="15" y="30"/>
                </a:lnTo>
                <a:lnTo>
                  <a:pt x="22" y="22"/>
                </a:lnTo>
                <a:lnTo>
                  <a:pt x="30" y="15"/>
                </a:lnTo>
                <a:lnTo>
                  <a:pt x="40" y="10"/>
                </a:lnTo>
                <a:lnTo>
                  <a:pt x="52" y="7"/>
                </a:lnTo>
                <a:lnTo>
                  <a:pt x="63" y="5"/>
                </a:lnTo>
                <a:lnTo>
                  <a:pt x="75" y="7"/>
                </a:lnTo>
                <a:lnTo>
                  <a:pt x="85" y="10"/>
                </a:lnTo>
                <a:lnTo>
                  <a:pt x="95" y="15"/>
                </a:lnTo>
                <a:lnTo>
                  <a:pt x="103" y="22"/>
                </a:lnTo>
                <a:lnTo>
                  <a:pt x="111" y="30"/>
                </a:lnTo>
                <a:lnTo>
                  <a:pt x="116" y="40"/>
                </a:lnTo>
                <a:lnTo>
                  <a:pt x="120" y="52"/>
                </a:lnTo>
                <a:lnTo>
                  <a:pt x="121" y="63"/>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93" name="Freeform 1398">
            <a:extLst>
              <a:ext uri="{FF2B5EF4-FFF2-40B4-BE49-F238E27FC236}">
                <a16:creationId xmlns:a16="http://schemas.microsoft.com/office/drawing/2014/main" id="{96EA1C6F-BD9D-0F39-10DF-020549FAE549}"/>
              </a:ext>
            </a:extLst>
          </p:cNvPr>
          <p:cNvSpPr>
            <a:spLocks noEditPoints="1"/>
          </p:cNvSpPr>
          <p:nvPr/>
        </p:nvSpPr>
        <p:spPr bwMode="auto">
          <a:xfrm>
            <a:off x="2820988" y="2466975"/>
            <a:ext cx="188913" cy="188913"/>
          </a:xfrm>
          <a:custGeom>
            <a:avLst/>
            <a:gdLst>
              <a:gd name="T0" fmla="*/ 117 w 119"/>
              <a:gd name="T1" fmla="*/ 48 h 119"/>
              <a:gd name="T2" fmla="*/ 109 w 119"/>
              <a:gd name="T3" fmla="*/ 26 h 119"/>
              <a:gd name="T4" fmla="*/ 93 w 119"/>
              <a:gd name="T5" fmla="*/ 10 h 119"/>
              <a:gd name="T6" fmla="*/ 71 w 119"/>
              <a:gd name="T7" fmla="*/ 0 h 119"/>
              <a:gd name="T8" fmla="*/ 48 w 119"/>
              <a:gd name="T9" fmla="*/ 0 h 119"/>
              <a:gd name="T10" fmla="*/ 26 w 119"/>
              <a:gd name="T11" fmla="*/ 10 h 119"/>
              <a:gd name="T12" fmla="*/ 10 w 119"/>
              <a:gd name="T13" fmla="*/ 26 h 119"/>
              <a:gd name="T14" fmla="*/ 0 w 119"/>
              <a:gd name="T15" fmla="*/ 48 h 119"/>
              <a:gd name="T16" fmla="*/ 0 w 119"/>
              <a:gd name="T17" fmla="*/ 71 h 119"/>
              <a:gd name="T18" fmla="*/ 10 w 119"/>
              <a:gd name="T19" fmla="*/ 92 h 119"/>
              <a:gd name="T20" fmla="*/ 26 w 119"/>
              <a:gd name="T21" fmla="*/ 109 h 119"/>
              <a:gd name="T22" fmla="*/ 48 w 119"/>
              <a:gd name="T23" fmla="*/ 117 h 119"/>
              <a:gd name="T24" fmla="*/ 71 w 119"/>
              <a:gd name="T25" fmla="*/ 117 h 119"/>
              <a:gd name="T26" fmla="*/ 93 w 119"/>
              <a:gd name="T27" fmla="*/ 109 h 119"/>
              <a:gd name="T28" fmla="*/ 109 w 119"/>
              <a:gd name="T29" fmla="*/ 92 h 119"/>
              <a:gd name="T30" fmla="*/ 117 w 119"/>
              <a:gd name="T31" fmla="*/ 71 h 119"/>
              <a:gd name="T32" fmla="*/ 114 w 119"/>
              <a:gd name="T33" fmla="*/ 59 h 119"/>
              <a:gd name="T34" fmla="*/ 109 w 119"/>
              <a:gd name="T35" fmla="*/ 81 h 119"/>
              <a:gd name="T36" fmla="*/ 97 w 119"/>
              <a:gd name="T37" fmla="*/ 97 h 119"/>
              <a:gd name="T38" fmla="*/ 81 w 119"/>
              <a:gd name="T39" fmla="*/ 111 h 119"/>
              <a:gd name="T40" fmla="*/ 59 w 119"/>
              <a:gd name="T41" fmla="*/ 114 h 119"/>
              <a:gd name="T42" fmla="*/ 38 w 119"/>
              <a:gd name="T43" fmla="*/ 111 h 119"/>
              <a:gd name="T44" fmla="*/ 20 w 119"/>
              <a:gd name="T45" fmla="*/ 97 h 119"/>
              <a:gd name="T46" fmla="*/ 8 w 119"/>
              <a:gd name="T47" fmla="*/ 81 h 119"/>
              <a:gd name="T48" fmla="*/ 5 w 119"/>
              <a:gd name="T49" fmla="*/ 59 h 119"/>
              <a:gd name="T50" fmla="*/ 8 w 119"/>
              <a:gd name="T51" fmla="*/ 38 h 119"/>
              <a:gd name="T52" fmla="*/ 20 w 119"/>
              <a:gd name="T53" fmla="*/ 19 h 119"/>
              <a:gd name="T54" fmla="*/ 38 w 119"/>
              <a:gd name="T55" fmla="*/ 8 h 119"/>
              <a:gd name="T56" fmla="*/ 59 w 119"/>
              <a:gd name="T57" fmla="*/ 5 h 119"/>
              <a:gd name="T58" fmla="*/ 81 w 119"/>
              <a:gd name="T59" fmla="*/ 8 h 119"/>
              <a:gd name="T60" fmla="*/ 97 w 119"/>
              <a:gd name="T61" fmla="*/ 19 h 119"/>
              <a:gd name="T62" fmla="*/ 109 w 119"/>
              <a:gd name="T63" fmla="*/ 38 h 119"/>
              <a:gd name="T64" fmla="*/ 114 w 119"/>
              <a:gd name="T65" fmla="*/ 59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9" h="119">
                <a:moveTo>
                  <a:pt x="119" y="59"/>
                </a:moveTo>
                <a:lnTo>
                  <a:pt x="117" y="48"/>
                </a:lnTo>
                <a:lnTo>
                  <a:pt x="114" y="36"/>
                </a:lnTo>
                <a:lnTo>
                  <a:pt x="109" y="26"/>
                </a:lnTo>
                <a:lnTo>
                  <a:pt x="101" y="16"/>
                </a:lnTo>
                <a:lnTo>
                  <a:pt x="93" y="10"/>
                </a:lnTo>
                <a:lnTo>
                  <a:pt x="83" y="5"/>
                </a:lnTo>
                <a:lnTo>
                  <a:pt x="71" y="0"/>
                </a:lnTo>
                <a:lnTo>
                  <a:pt x="59" y="0"/>
                </a:lnTo>
                <a:lnTo>
                  <a:pt x="48" y="0"/>
                </a:lnTo>
                <a:lnTo>
                  <a:pt x="36" y="5"/>
                </a:lnTo>
                <a:lnTo>
                  <a:pt x="26" y="10"/>
                </a:lnTo>
                <a:lnTo>
                  <a:pt x="16" y="16"/>
                </a:lnTo>
                <a:lnTo>
                  <a:pt x="10" y="26"/>
                </a:lnTo>
                <a:lnTo>
                  <a:pt x="5" y="36"/>
                </a:lnTo>
                <a:lnTo>
                  <a:pt x="0" y="48"/>
                </a:lnTo>
                <a:lnTo>
                  <a:pt x="0" y="59"/>
                </a:lnTo>
                <a:lnTo>
                  <a:pt x="0" y="71"/>
                </a:lnTo>
                <a:lnTo>
                  <a:pt x="5" y="82"/>
                </a:lnTo>
                <a:lnTo>
                  <a:pt x="10" y="92"/>
                </a:lnTo>
                <a:lnTo>
                  <a:pt x="16" y="101"/>
                </a:lnTo>
                <a:lnTo>
                  <a:pt x="26" y="109"/>
                </a:lnTo>
                <a:lnTo>
                  <a:pt x="36" y="114"/>
                </a:lnTo>
                <a:lnTo>
                  <a:pt x="48" y="117"/>
                </a:lnTo>
                <a:lnTo>
                  <a:pt x="59" y="119"/>
                </a:lnTo>
                <a:lnTo>
                  <a:pt x="71" y="117"/>
                </a:lnTo>
                <a:lnTo>
                  <a:pt x="83" y="114"/>
                </a:lnTo>
                <a:lnTo>
                  <a:pt x="93" y="109"/>
                </a:lnTo>
                <a:lnTo>
                  <a:pt x="101" y="101"/>
                </a:lnTo>
                <a:lnTo>
                  <a:pt x="109" y="92"/>
                </a:lnTo>
                <a:lnTo>
                  <a:pt x="114" y="82"/>
                </a:lnTo>
                <a:lnTo>
                  <a:pt x="117" y="71"/>
                </a:lnTo>
                <a:lnTo>
                  <a:pt x="119" y="59"/>
                </a:lnTo>
                <a:close/>
                <a:moveTo>
                  <a:pt x="114" y="59"/>
                </a:moveTo>
                <a:lnTo>
                  <a:pt x="112" y="71"/>
                </a:lnTo>
                <a:lnTo>
                  <a:pt x="109" y="81"/>
                </a:lnTo>
                <a:lnTo>
                  <a:pt x="104" y="89"/>
                </a:lnTo>
                <a:lnTo>
                  <a:pt x="97" y="97"/>
                </a:lnTo>
                <a:lnTo>
                  <a:pt x="89" y="104"/>
                </a:lnTo>
                <a:lnTo>
                  <a:pt x="81" y="111"/>
                </a:lnTo>
                <a:lnTo>
                  <a:pt x="71" y="112"/>
                </a:lnTo>
                <a:lnTo>
                  <a:pt x="59" y="114"/>
                </a:lnTo>
                <a:lnTo>
                  <a:pt x="48" y="112"/>
                </a:lnTo>
                <a:lnTo>
                  <a:pt x="38" y="111"/>
                </a:lnTo>
                <a:lnTo>
                  <a:pt x="28" y="104"/>
                </a:lnTo>
                <a:lnTo>
                  <a:pt x="20" y="97"/>
                </a:lnTo>
                <a:lnTo>
                  <a:pt x="13" y="89"/>
                </a:lnTo>
                <a:lnTo>
                  <a:pt x="8" y="81"/>
                </a:lnTo>
                <a:lnTo>
                  <a:pt x="5" y="71"/>
                </a:lnTo>
                <a:lnTo>
                  <a:pt x="5" y="59"/>
                </a:lnTo>
                <a:lnTo>
                  <a:pt x="5" y="48"/>
                </a:lnTo>
                <a:lnTo>
                  <a:pt x="8" y="38"/>
                </a:lnTo>
                <a:lnTo>
                  <a:pt x="13" y="28"/>
                </a:lnTo>
                <a:lnTo>
                  <a:pt x="20" y="19"/>
                </a:lnTo>
                <a:lnTo>
                  <a:pt x="28" y="13"/>
                </a:lnTo>
                <a:lnTo>
                  <a:pt x="38" y="8"/>
                </a:lnTo>
                <a:lnTo>
                  <a:pt x="48" y="5"/>
                </a:lnTo>
                <a:lnTo>
                  <a:pt x="59" y="5"/>
                </a:lnTo>
                <a:lnTo>
                  <a:pt x="71" y="5"/>
                </a:lnTo>
                <a:lnTo>
                  <a:pt x="81" y="8"/>
                </a:lnTo>
                <a:lnTo>
                  <a:pt x="89" y="13"/>
                </a:lnTo>
                <a:lnTo>
                  <a:pt x="97" y="19"/>
                </a:lnTo>
                <a:lnTo>
                  <a:pt x="104" y="28"/>
                </a:lnTo>
                <a:lnTo>
                  <a:pt x="109" y="38"/>
                </a:lnTo>
                <a:lnTo>
                  <a:pt x="112" y="48"/>
                </a:lnTo>
                <a:lnTo>
                  <a:pt x="114" y="59"/>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94" name="Freeform 1399">
            <a:extLst>
              <a:ext uri="{FF2B5EF4-FFF2-40B4-BE49-F238E27FC236}">
                <a16:creationId xmlns:a16="http://schemas.microsoft.com/office/drawing/2014/main" id="{A49FDA5D-21D2-5DF4-F088-929628CBDCAC}"/>
              </a:ext>
            </a:extLst>
          </p:cNvPr>
          <p:cNvSpPr>
            <a:spLocks noEditPoints="1"/>
          </p:cNvSpPr>
          <p:nvPr/>
        </p:nvSpPr>
        <p:spPr bwMode="auto">
          <a:xfrm>
            <a:off x="2822575" y="2468563"/>
            <a:ext cx="184150" cy="184150"/>
          </a:xfrm>
          <a:custGeom>
            <a:avLst/>
            <a:gdLst>
              <a:gd name="T0" fmla="*/ 115 w 116"/>
              <a:gd name="T1" fmla="*/ 47 h 116"/>
              <a:gd name="T2" fmla="*/ 106 w 116"/>
              <a:gd name="T3" fmla="*/ 25 h 116"/>
              <a:gd name="T4" fmla="*/ 90 w 116"/>
              <a:gd name="T5" fmla="*/ 10 h 116"/>
              <a:gd name="T6" fmla="*/ 70 w 116"/>
              <a:gd name="T7" fmla="*/ 2 h 116"/>
              <a:gd name="T8" fmla="*/ 47 w 116"/>
              <a:gd name="T9" fmla="*/ 2 h 116"/>
              <a:gd name="T10" fmla="*/ 25 w 116"/>
              <a:gd name="T11" fmla="*/ 10 h 116"/>
              <a:gd name="T12" fmla="*/ 10 w 116"/>
              <a:gd name="T13" fmla="*/ 25 h 116"/>
              <a:gd name="T14" fmla="*/ 2 w 116"/>
              <a:gd name="T15" fmla="*/ 47 h 116"/>
              <a:gd name="T16" fmla="*/ 2 w 116"/>
              <a:gd name="T17" fmla="*/ 70 h 116"/>
              <a:gd name="T18" fmla="*/ 10 w 116"/>
              <a:gd name="T19" fmla="*/ 90 h 116"/>
              <a:gd name="T20" fmla="*/ 25 w 116"/>
              <a:gd name="T21" fmla="*/ 106 h 116"/>
              <a:gd name="T22" fmla="*/ 47 w 116"/>
              <a:gd name="T23" fmla="*/ 114 h 116"/>
              <a:gd name="T24" fmla="*/ 70 w 116"/>
              <a:gd name="T25" fmla="*/ 114 h 116"/>
              <a:gd name="T26" fmla="*/ 90 w 116"/>
              <a:gd name="T27" fmla="*/ 106 h 116"/>
              <a:gd name="T28" fmla="*/ 106 w 116"/>
              <a:gd name="T29" fmla="*/ 90 h 116"/>
              <a:gd name="T30" fmla="*/ 115 w 116"/>
              <a:gd name="T31" fmla="*/ 70 h 116"/>
              <a:gd name="T32" fmla="*/ 111 w 116"/>
              <a:gd name="T33" fmla="*/ 58 h 116"/>
              <a:gd name="T34" fmla="*/ 106 w 116"/>
              <a:gd name="T35" fmla="*/ 78 h 116"/>
              <a:gd name="T36" fmla="*/ 95 w 116"/>
              <a:gd name="T37" fmla="*/ 95 h 116"/>
              <a:gd name="T38" fmla="*/ 78 w 116"/>
              <a:gd name="T39" fmla="*/ 106 h 116"/>
              <a:gd name="T40" fmla="*/ 58 w 116"/>
              <a:gd name="T41" fmla="*/ 111 h 116"/>
              <a:gd name="T42" fmla="*/ 37 w 116"/>
              <a:gd name="T43" fmla="*/ 106 h 116"/>
              <a:gd name="T44" fmla="*/ 20 w 116"/>
              <a:gd name="T45" fmla="*/ 95 h 116"/>
              <a:gd name="T46" fmla="*/ 10 w 116"/>
              <a:gd name="T47" fmla="*/ 78 h 116"/>
              <a:gd name="T48" fmla="*/ 5 w 116"/>
              <a:gd name="T49" fmla="*/ 58 h 116"/>
              <a:gd name="T50" fmla="*/ 10 w 116"/>
              <a:gd name="T51" fmla="*/ 38 h 116"/>
              <a:gd name="T52" fmla="*/ 20 w 116"/>
              <a:gd name="T53" fmla="*/ 20 h 116"/>
              <a:gd name="T54" fmla="*/ 37 w 116"/>
              <a:gd name="T55" fmla="*/ 10 h 116"/>
              <a:gd name="T56" fmla="*/ 58 w 116"/>
              <a:gd name="T57" fmla="*/ 5 h 116"/>
              <a:gd name="T58" fmla="*/ 78 w 116"/>
              <a:gd name="T59" fmla="*/ 10 h 116"/>
              <a:gd name="T60" fmla="*/ 95 w 116"/>
              <a:gd name="T61" fmla="*/ 20 h 116"/>
              <a:gd name="T62" fmla="*/ 106 w 116"/>
              <a:gd name="T63" fmla="*/ 38 h 116"/>
              <a:gd name="T64" fmla="*/ 111 w 116"/>
              <a:gd name="T65"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6" h="116">
                <a:moveTo>
                  <a:pt x="116" y="58"/>
                </a:moveTo>
                <a:lnTo>
                  <a:pt x="115" y="47"/>
                </a:lnTo>
                <a:lnTo>
                  <a:pt x="111" y="35"/>
                </a:lnTo>
                <a:lnTo>
                  <a:pt x="106" y="25"/>
                </a:lnTo>
                <a:lnTo>
                  <a:pt x="98" y="17"/>
                </a:lnTo>
                <a:lnTo>
                  <a:pt x="90" y="10"/>
                </a:lnTo>
                <a:lnTo>
                  <a:pt x="80" y="5"/>
                </a:lnTo>
                <a:lnTo>
                  <a:pt x="70" y="2"/>
                </a:lnTo>
                <a:lnTo>
                  <a:pt x="58" y="0"/>
                </a:lnTo>
                <a:lnTo>
                  <a:pt x="47" y="2"/>
                </a:lnTo>
                <a:lnTo>
                  <a:pt x="35" y="5"/>
                </a:lnTo>
                <a:lnTo>
                  <a:pt x="25" y="10"/>
                </a:lnTo>
                <a:lnTo>
                  <a:pt x="17" y="17"/>
                </a:lnTo>
                <a:lnTo>
                  <a:pt x="10" y="25"/>
                </a:lnTo>
                <a:lnTo>
                  <a:pt x="5" y="35"/>
                </a:lnTo>
                <a:lnTo>
                  <a:pt x="2" y="47"/>
                </a:lnTo>
                <a:lnTo>
                  <a:pt x="0" y="58"/>
                </a:lnTo>
                <a:lnTo>
                  <a:pt x="2" y="70"/>
                </a:lnTo>
                <a:lnTo>
                  <a:pt x="5" y="80"/>
                </a:lnTo>
                <a:lnTo>
                  <a:pt x="10" y="90"/>
                </a:lnTo>
                <a:lnTo>
                  <a:pt x="17" y="98"/>
                </a:lnTo>
                <a:lnTo>
                  <a:pt x="25" y="106"/>
                </a:lnTo>
                <a:lnTo>
                  <a:pt x="35" y="111"/>
                </a:lnTo>
                <a:lnTo>
                  <a:pt x="47" y="114"/>
                </a:lnTo>
                <a:lnTo>
                  <a:pt x="58" y="116"/>
                </a:lnTo>
                <a:lnTo>
                  <a:pt x="70" y="114"/>
                </a:lnTo>
                <a:lnTo>
                  <a:pt x="80" y="111"/>
                </a:lnTo>
                <a:lnTo>
                  <a:pt x="90" y="106"/>
                </a:lnTo>
                <a:lnTo>
                  <a:pt x="98" y="98"/>
                </a:lnTo>
                <a:lnTo>
                  <a:pt x="106" y="90"/>
                </a:lnTo>
                <a:lnTo>
                  <a:pt x="111" y="80"/>
                </a:lnTo>
                <a:lnTo>
                  <a:pt x="115" y="70"/>
                </a:lnTo>
                <a:lnTo>
                  <a:pt x="116" y="58"/>
                </a:lnTo>
                <a:close/>
                <a:moveTo>
                  <a:pt x="111" y="58"/>
                </a:moveTo>
                <a:lnTo>
                  <a:pt x="110" y="68"/>
                </a:lnTo>
                <a:lnTo>
                  <a:pt x="106" y="78"/>
                </a:lnTo>
                <a:lnTo>
                  <a:pt x="101" y="88"/>
                </a:lnTo>
                <a:lnTo>
                  <a:pt x="95" y="95"/>
                </a:lnTo>
                <a:lnTo>
                  <a:pt x="88" y="101"/>
                </a:lnTo>
                <a:lnTo>
                  <a:pt x="78" y="106"/>
                </a:lnTo>
                <a:lnTo>
                  <a:pt x="68" y="110"/>
                </a:lnTo>
                <a:lnTo>
                  <a:pt x="58" y="111"/>
                </a:lnTo>
                <a:lnTo>
                  <a:pt x="47" y="110"/>
                </a:lnTo>
                <a:lnTo>
                  <a:pt x="37" y="106"/>
                </a:lnTo>
                <a:lnTo>
                  <a:pt x="29" y="101"/>
                </a:lnTo>
                <a:lnTo>
                  <a:pt x="20" y="95"/>
                </a:lnTo>
                <a:lnTo>
                  <a:pt x="14" y="88"/>
                </a:lnTo>
                <a:lnTo>
                  <a:pt x="10" y="78"/>
                </a:lnTo>
                <a:lnTo>
                  <a:pt x="7" y="68"/>
                </a:lnTo>
                <a:lnTo>
                  <a:pt x="5" y="58"/>
                </a:lnTo>
                <a:lnTo>
                  <a:pt x="7" y="47"/>
                </a:lnTo>
                <a:lnTo>
                  <a:pt x="10" y="38"/>
                </a:lnTo>
                <a:lnTo>
                  <a:pt x="14" y="28"/>
                </a:lnTo>
                <a:lnTo>
                  <a:pt x="20" y="20"/>
                </a:lnTo>
                <a:lnTo>
                  <a:pt x="29" y="15"/>
                </a:lnTo>
                <a:lnTo>
                  <a:pt x="37" y="10"/>
                </a:lnTo>
                <a:lnTo>
                  <a:pt x="47" y="7"/>
                </a:lnTo>
                <a:lnTo>
                  <a:pt x="58" y="5"/>
                </a:lnTo>
                <a:lnTo>
                  <a:pt x="68" y="7"/>
                </a:lnTo>
                <a:lnTo>
                  <a:pt x="78" y="10"/>
                </a:lnTo>
                <a:lnTo>
                  <a:pt x="88" y="15"/>
                </a:lnTo>
                <a:lnTo>
                  <a:pt x="95" y="20"/>
                </a:lnTo>
                <a:lnTo>
                  <a:pt x="101" y="28"/>
                </a:lnTo>
                <a:lnTo>
                  <a:pt x="106" y="38"/>
                </a:lnTo>
                <a:lnTo>
                  <a:pt x="110" y="47"/>
                </a:lnTo>
                <a:lnTo>
                  <a:pt x="111" y="58"/>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95" name="Freeform 1400">
            <a:extLst>
              <a:ext uri="{FF2B5EF4-FFF2-40B4-BE49-F238E27FC236}">
                <a16:creationId xmlns:a16="http://schemas.microsoft.com/office/drawing/2014/main" id="{CB38F0C9-7C5B-5DD4-5934-875CD8AE7845}"/>
              </a:ext>
            </a:extLst>
          </p:cNvPr>
          <p:cNvSpPr>
            <a:spLocks noEditPoints="1"/>
          </p:cNvSpPr>
          <p:nvPr/>
        </p:nvSpPr>
        <p:spPr bwMode="auto">
          <a:xfrm>
            <a:off x="2828925" y="2474913"/>
            <a:ext cx="173038" cy="173038"/>
          </a:xfrm>
          <a:custGeom>
            <a:avLst/>
            <a:gdLst>
              <a:gd name="T0" fmla="*/ 107 w 109"/>
              <a:gd name="T1" fmla="*/ 43 h 109"/>
              <a:gd name="T2" fmla="*/ 99 w 109"/>
              <a:gd name="T3" fmla="*/ 23 h 109"/>
              <a:gd name="T4" fmla="*/ 84 w 109"/>
              <a:gd name="T5" fmla="*/ 8 h 109"/>
              <a:gd name="T6" fmla="*/ 66 w 109"/>
              <a:gd name="T7" fmla="*/ 0 h 109"/>
              <a:gd name="T8" fmla="*/ 43 w 109"/>
              <a:gd name="T9" fmla="*/ 0 h 109"/>
              <a:gd name="T10" fmla="*/ 23 w 109"/>
              <a:gd name="T11" fmla="*/ 8 h 109"/>
              <a:gd name="T12" fmla="*/ 8 w 109"/>
              <a:gd name="T13" fmla="*/ 23 h 109"/>
              <a:gd name="T14" fmla="*/ 0 w 109"/>
              <a:gd name="T15" fmla="*/ 43 h 109"/>
              <a:gd name="T16" fmla="*/ 0 w 109"/>
              <a:gd name="T17" fmla="*/ 66 h 109"/>
              <a:gd name="T18" fmla="*/ 8 w 109"/>
              <a:gd name="T19" fmla="*/ 84 h 109"/>
              <a:gd name="T20" fmla="*/ 23 w 109"/>
              <a:gd name="T21" fmla="*/ 99 h 109"/>
              <a:gd name="T22" fmla="*/ 43 w 109"/>
              <a:gd name="T23" fmla="*/ 107 h 109"/>
              <a:gd name="T24" fmla="*/ 66 w 109"/>
              <a:gd name="T25" fmla="*/ 107 h 109"/>
              <a:gd name="T26" fmla="*/ 84 w 109"/>
              <a:gd name="T27" fmla="*/ 99 h 109"/>
              <a:gd name="T28" fmla="*/ 99 w 109"/>
              <a:gd name="T29" fmla="*/ 84 h 109"/>
              <a:gd name="T30" fmla="*/ 107 w 109"/>
              <a:gd name="T31" fmla="*/ 66 h 109"/>
              <a:gd name="T32" fmla="*/ 104 w 109"/>
              <a:gd name="T33" fmla="*/ 54 h 109"/>
              <a:gd name="T34" fmla="*/ 101 w 109"/>
              <a:gd name="T35" fmla="*/ 74 h 109"/>
              <a:gd name="T36" fmla="*/ 89 w 109"/>
              <a:gd name="T37" fmla="*/ 89 h 109"/>
              <a:gd name="T38" fmla="*/ 74 w 109"/>
              <a:gd name="T39" fmla="*/ 101 h 109"/>
              <a:gd name="T40" fmla="*/ 54 w 109"/>
              <a:gd name="T41" fmla="*/ 104 h 109"/>
              <a:gd name="T42" fmla="*/ 35 w 109"/>
              <a:gd name="T43" fmla="*/ 101 h 109"/>
              <a:gd name="T44" fmla="*/ 18 w 109"/>
              <a:gd name="T45" fmla="*/ 89 h 109"/>
              <a:gd name="T46" fmla="*/ 8 w 109"/>
              <a:gd name="T47" fmla="*/ 74 h 109"/>
              <a:gd name="T48" fmla="*/ 3 w 109"/>
              <a:gd name="T49" fmla="*/ 54 h 109"/>
              <a:gd name="T50" fmla="*/ 8 w 109"/>
              <a:gd name="T51" fmla="*/ 34 h 109"/>
              <a:gd name="T52" fmla="*/ 18 w 109"/>
              <a:gd name="T53" fmla="*/ 18 h 109"/>
              <a:gd name="T54" fmla="*/ 35 w 109"/>
              <a:gd name="T55" fmla="*/ 8 h 109"/>
              <a:gd name="T56" fmla="*/ 54 w 109"/>
              <a:gd name="T57" fmla="*/ 5 h 109"/>
              <a:gd name="T58" fmla="*/ 74 w 109"/>
              <a:gd name="T59" fmla="*/ 8 h 109"/>
              <a:gd name="T60" fmla="*/ 89 w 109"/>
              <a:gd name="T61" fmla="*/ 18 h 109"/>
              <a:gd name="T62" fmla="*/ 101 w 109"/>
              <a:gd name="T63" fmla="*/ 34 h 109"/>
              <a:gd name="T64" fmla="*/ 104 w 109"/>
              <a:gd name="T65" fmla="*/ 54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09" h="109">
                <a:moveTo>
                  <a:pt x="109" y="54"/>
                </a:moveTo>
                <a:lnTo>
                  <a:pt x="107" y="43"/>
                </a:lnTo>
                <a:lnTo>
                  <a:pt x="104" y="33"/>
                </a:lnTo>
                <a:lnTo>
                  <a:pt x="99" y="23"/>
                </a:lnTo>
                <a:lnTo>
                  <a:pt x="92" y="14"/>
                </a:lnTo>
                <a:lnTo>
                  <a:pt x="84" y="8"/>
                </a:lnTo>
                <a:lnTo>
                  <a:pt x="76" y="3"/>
                </a:lnTo>
                <a:lnTo>
                  <a:pt x="66" y="0"/>
                </a:lnTo>
                <a:lnTo>
                  <a:pt x="54" y="0"/>
                </a:lnTo>
                <a:lnTo>
                  <a:pt x="43" y="0"/>
                </a:lnTo>
                <a:lnTo>
                  <a:pt x="33" y="3"/>
                </a:lnTo>
                <a:lnTo>
                  <a:pt x="23" y="8"/>
                </a:lnTo>
                <a:lnTo>
                  <a:pt x="15" y="14"/>
                </a:lnTo>
                <a:lnTo>
                  <a:pt x="8" y="23"/>
                </a:lnTo>
                <a:lnTo>
                  <a:pt x="3" y="33"/>
                </a:lnTo>
                <a:lnTo>
                  <a:pt x="0" y="43"/>
                </a:lnTo>
                <a:lnTo>
                  <a:pt x="0" y="54"/>
                </a:lnTo>
                <a:lnTo>
                  <a:pt x="0" y="66"/>
                </a:lnTo>
                <a:lnTo>
                  <a:pt x="3" y="76"/>
                </a:lnTo>
                <a:lnTo>
                  <a:pt x="8" y="84"/>
                </a:lnTo>
                <a:lnTo>
                  <a:pt x="15" y="92"/>
                </a:lnTo>
                <a:lnTo>
                  <a:pt x="23" y="99"/>
                </a:lnTo>
                <a:lnTo>
                  <a:pt x="33" y="106"/>
                </a:lnTo>
                <a:lnTo>
                  <a:pt x="43" y="107"/>
                </a:lnTo>
                <a:lnTo>
                  <a:pt x="54" y="109"/>
                </a:lnTo>
                <a:lnTo>
                  <a:pt x="66" y="107"/>
                </a:lnTo>
                <a:lnTo>
                  <a:pt x="76" y="106"/>
                </a:lnTo>
                <a:lnTo>
                  <a:pt x="84" y="99"/>
                </a:lnTo>
                <a:lnTo>
                  <a:pt x="92" y="92"/>
                </a:lnTo>
                <a:lnTo>
                  <a:pt x="99" y="84"/>
                </a:lnTo>
                <a:lnTo>
                  <a:pt x="104" y="76"/>
                </a:lnTo>
                <a:lnTo>
                  <a:pt x="107" y="66"/>
                </a:lnTo>
                <a:lnTo>
                  <a:pt x="109" y="54"/>
                </a:lnTo>
                <a:close/>
                <a:moveTo>
                  <a:pt x="104" y="54"/>
                </a:moveTo>
                <a:lnTo>
                  <a:pt x="104" y="64"/>
                </a:lnTo>
                <a:lnTo>
                  <a:pt x="101" y="74"/>
                </a:lnTo>
                <a:lnTo>
                  <a:pt x="96" y="82"/>
                </a:lnTo>
                <a:lnTo>
                  <a:pt x="89" y="89"/>
                </a:lnTo>
                <a:lnTo>
                  <a:pt x="83" y="96"/>
                </a:lnTo>
                <a:lnTo>
                  <a:pt x="74" y="101"/>
                </a:lnTo>
                <a:lnTo>
                  <a:pt x="64" y="104"/>
                </a:lnTo>
                <a:lnTo>
                  <a:pt x="54" y="104"/>
                </a:lnTo>
                <a:lnTo>
                  <a:pt x="44" y="104"/>
                </a:lnTo>
                <a:lnTo>
                  <a:pt x="35" y="101"/>
                </a:lnTo>
                <a:lnTo>
                  <a:pt x="26" y="96"/>
                </a:lnTo>
                <a:lnTo>
                  <a:pt x="18" y="89"/>
                </a:lnTo>
                <a:lnTo>
                  <a:pt x="13" y="82"/>
                </a:lnTo>
                <a:lnTo>
                  <a:pt x="8" y="74"/>
                </a:lnTo>
                <a:lnTo>
                  <a:pt x="5" y="64"/>
                </a:lnTo>
                <a:lnTo>
                  <a:pt x="3" y="54"/>
                </a:lnTo>
                <a:lnTo>
                  <a:pt x="5" y="44"/>
                </a:lnTo>
                <a:lnTo>
                  <a:pt x="8" y="34"/>
                </a:lnTo>
                <a:lnTo>
                  <a:pt x="13" y="26"/>
                </a:lnTo>
                <a:lnTo>
                  <a:pt x="18" y="18"/>
                </a:lnTo>
                <a:lnTo>
                  <a:pt x="26" y="13"/>
                </a:lnTo>
                <a:lnTo>
                  <a:pt x="35" y="8"/>
                </a:lnTo>
                <a:lnTo>
                  <a:pt x="44" y="5"/>
                </a:lnTo>
                <a:lnTo>
                  <a:pt x="54" y="5"/>
                </a:lnTo>
                <a:lnTo>
                  <a:pt x="64" y="5"/>
                </a:lnTo>
                <a:lnTo>
                  <a:pt x="74" y="8"/>
                </a:lnTo>
                <a:lnTo>
                  <a:pt x="83" y="13"/>
                </a:lnTo>
                <a:lnTo>
                  <a:pt x="89" y="18"/>
                </a:lnTo>
                <a:lnTo>
                  <a:pt x="96" y="26"/>
                </a:lnTo>
                <a:lnTo>
                  <a:pt x="101" y="34"/>
                </a:lnTo>
                <a:lnTo>
                  <a:pt x="104" y="44"/>
                </a:lnTo>
                <a:lnTo>
                  <a:pt x="104" y="54"/>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96" name="Freeform 1401">
            <a:extLst>
              <a:ext uri="{FF2B5EF4-FFF2-40B4-BE49-F238E27FC236}">
                <a16:creationId xmlns:a16="http://schemas.microsoft.com/office/drawing/2014/main" id="{9129B54C-4672-9634-364B-0E04D04D6045}"/>
              </a:ext>
            </a:extLst>
          </p:cNvPr>
          <p:cNvSpPr>
            <a:spLocks noEditPoints="1"/>
          </p:cNvSpPr>
          <p:nvPr/>
        </p:nvSpPr>
        <p:spPr bwMode="auto">
          <a:xfrm>
            <a:off x="2830513" y="2476500"/>
            <a:ext cx="168275" cy="168275"/>
          </a:xfrm>
          <a:custGeom>
            <a:avLst/>
            <a:gdLst>
              <a:gd name="T0" fmla="*/ 105 w 106"/>
              <a:gd name="T1" fmla="*/ 42 h 106"/>
              <a:gd name="T2" fmla="*/ 96 w 106"/>
              <a:gd name="T3" fmla="*/ 23 h 106"/>
              <a:gd name="T4" fmla="*/ 83 w 106"/>
              <a:gd name="T5" fmla="*/ 10 h 106"/>
              <a:gd name="T6" fmla="*/ 63 w 106"/>
              <a:gd name="T7" fmla="*/ 2 h 106"/>
              <a:gd name="T8" fmla="*/ 42 w 106"/>
              <a:gd name="T9" fmla="*/ 2 h 106"/>
              <a:gd name="T10" fmla="*/ 24 w 106"/>
              <a:gd name="T11" fmla="*/ 10 h 106"/>
              <a:gd name="T12" fmla="*/ 9 w 106"/>
              <a:gd name="T13" fmla="*/ 23 h 106"/>
              <a:gd name="T14" fmla="*/ 2 w 106"/>
              <a:gd name="T15" fmla="*/ 42 h 106"/>
              <a:gd name="T16" fmla="*/ 2 w 106"/>
              <a:gd name="T17" fmla="*/ 63 h 106"/>
              <a:gd name="T18" fmla="*/ 9 w 106"/>
              <a:gd name="T19" fmla="*/ 83 h 106"/>
              <a:gd name="T20" fmla="*/ 24 w 106"/>
              <a:gd name="T21" fmla="*/ 96 h 106"/>
              <a:gd name="T22" fmla="*/ 42 w 106"/>
              <a:gd name="T23" fmla="*/ 105 h 106"/>
              <a:gd name="T24" fmla="*/ 63 w 106"/>
              <a:gd name="T25" fmla="*/ 105 h 106"/>
              <a:gd name="T26" fmla="*/ 83 w 106"/>
              <a:gd name="T27" fmla="*/ 96 h 106"/>
              <a:gd name="T28" fmla="*/ 96 w 106"/>
              <a:gd name="T29" fmla="*/ 83 h 106"/>
              <a:gd name="T30" fmla="*/ 105 w 106"/>
              <a:gd name="T31" fmla="*/ 63 h 106"/>
              <a:gd name="T32" fmla="*/ 101 w 106"/>
              <a:gd name="T33" fmla="*/ 53 h 106"/>
              <a:gd name="T34" fmla="*/ 96 w 106"/>
              <a:gd name="T35" fmla="*/ 71 h 106"/>
              <a:gd name="T36" fmla="*/ 87 w 106"/>
              <a:gd name="T37" fmla="*/ 86 h 106"/>
              <a:gd name="T38" fmla="*/ 72 w 106"/>
              <a:gd name="T39" fmla="*/ 98 h 106"/>
              <a:gd name="T40" fmla="*/ 53 w 106"/>
              <a:gd name="T41" fmla="*/ 101 h 106"/>
              <a:gd name="T42" fmla="*/ 35 w 106"/>
              <a:gd name="T43" fmla="*/ 98 h 106"/>
              <a:gd name="T44" fmla="*/ 19 w 106"/>
              <a:gd name="T45" fmla="*/ 86 h 106"/>
              <a:gd name="T46" fmla="*/ 9 w 106"/>
              <a:gd name="T47" fmla="*/ 71 h 106"/>
              <a:gd name="T48" fmla="*/ 5 w 106"/>
              <a:gd name="T49" fmla="*/ 53 h 106"/>
              <a:gd name="T50" fmla="*/ 9 w 106"/>
              <a:gd name="T51" fmla="*/ 35 h 106"/>
              <a:gd name="T52" fmla="*/ 19 w 106"/>
              <a:gd name="T53" fmla="*/ 18 h 106"/>
              <a:gd name="T54" fmla="*/ 35 w 106"/>
              <a:gd name="T55" fmla="*/ 8 h 106"/>
              <a:gd name="T56" fmla="*/ 53 w 106"/>
              <a:gd name="T57" fmla="*/ 5 h 106"/>
              <a:gd name="T58" fmla="*/ 72 w 106"/>
              <a:gd name="T59" fmla="*/ 8 h 106"/>
              <a:gd name="T60" fmla="*/ 87 w 106"/>
              <a:gd name="T61" fmla="*/ 18 h 106"/>
              <a:gd name="T62" fmla="*/ 96 w 106"/>
              <a:gd name="T63" fmla="*/ 35 h 106"/>
              <a:gd name="T64" fmla="*/ 101 w 106"/>
              <a:gd name="T65" fmla="*/ 53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06" h="106">
                <a:moveTo>
                  <a:pt x="106" y="53"/>
                </a:moveTo>
                <a:lnTo>
                  <a:pt x="105" y="42"/>
                </a:lnTo>
                <a:lnTo>
                  <a:pt x="101" y="33"/>
                </a:lnTo>
                <a:lnTo>
                  <a:pt x="96" y="23"/>
                </a:lnTo>
                <a:lnTo>
                  <a:pt x="90" y="15"/>
                </a:lnTo>
                <a:lnTo>
                  <a:pt x="83" y="10"/>
                </a:lnTo>
                <a:lnTo>
                  <a:pt x="73" y="5"/>
                </a:lnTo>
                <a:lnTo>
                  <a:pt x="63" y="2"/>
                </a:lnTo>
                <a:lnTo>
                  <a:pt x="53" y="0"/>
                </a:lnTo>
                <a:lnTo>
                  <a:pt x="42" y="2"/>
                </a:lnTo>
                <a:lnTo>
                  <a:pt x="32" y="5"/>
                </a:lnTo>
                <a:lnTo>
                  <a:pt x="24" y="10"/>
                </a:lnTo>
                <a:lnTo>
                  <a:pt x="15" y="15"/>
                </a:lnTo>
                <a:lnTo>
                  <a:pt x="9" y="23"/>
                </a:lnTo>
                <a:lnTo>
                  <a:pt x="5" y="33"/>
                </a:lnTo>
                <a:lnTo>
                  <a:pt x="2" y="42"/>
                </a:lnTo>
                <a:lnTo>
                  <a:pt x="0" y="53"/>
                </a:lnTo>
                <a:lnTo>
                  <a:pt x="2" y="63"/>
                </a:lnTo>
                <a:lnTo>
                  <a:pt x="5" y="73"/>
                </a:lnTo>
                <a:lnTo>
                  <a:pt x="9" y="83"/>
                </a:lnTo>
                <a:lnTo>
                  <a:pt x="15" y="90"/>
                </a:lnTo>
                <a:lnTo>
                  <a:pt x="24" y="96"/>
                </a:lnTo>
                <a:lnTo>
                  <a:pt x="32" y="101"/>
                </a:lnTo>
                <a:lnTo>
                  <a:pt x="42" y="105"/>
                </a:lnTo>
                <a:lnTo>
                  <a:pt x="53" y="106"/>
                </a:lnTo>
                <a:lnTo>
                  <a:pt x="63" y="105"/>
                </a:lnTo>
                <a:lnTo>
                  <a:pt x="73" y="101"/>
                </a:lnTo>
                <a:lnTo>
                  <a:pt x="83" y="96"/>
                </a:lnTo>
                <a:lnTo>
                  <a:pt x="90" y="90"/>
                </a:lnTo>
                <a:lnTo>
                  <a:pt x="96" y="83"/>
                </a:lnTo>
                <a:lnTo>
                  <a:pt x="101" y="73"/>
                </a:lnTo>
                <a:lnTo>
                  <a:pt x="105" y="63"/>
                </a:lnTo>
                <a:lnTo>
                  <a:pt x="106" y="53"/>
                </a:lnTo>
                <a:close/>
                <a:moveTo>
                  <a:pt x="101" y="53"/>
                </a:moveTo>
                <a:lnTo>
                  <a:pt x="100" y="63"/>
                </a:lnTo>
                <a:lnTo>
                  <a:pt x="96" y="71"/>
                </a:lnTo>
                <a:lnTo>
                  <a:pt x="93" y="80"/>
                </a:lnTo>
                <a:lnTo>
                  <a:pt x="87" y="86"/>
                </a:lnTo>
                <a:lnTo>
                  <a:pt x="80" y="93"/>
                </a:lnTo>
                <a:lnTo>
                  <a:pt x="72" y="98"/>
                </a:lnTo>
                <a:lnTo>
                  <a:pt x="63" y="100"/>
                </a:lnTo>
                <a:lnTo>
                  <a:pt x="53" y="101"/>
                </a:lnTo>
                <a:lnTo>
                  <a:pt x="43" y="100"/>
                </a:lnTo>
                <a:lnTo>
                  <a:pt x="35" y="98"/>
                </a:lnTo>
                <a:lnTo>
                  <a:pt x="27" y="93"/>
                </a:lnTo>
                <a:lnTo>
                  <a:pt x="19" y="86"/>
                </a:lnTo>
                <a:lnTo>
                  <a:pt x="14" y="80"/>
                </a:lnTo>
                <a:lnTo>
                  <a:pt x="9" y="71"/>
                </a:lnTo>
                <a:lnTo>
                  <a:pt x="7" y="63"/>
                </a:lnTo>
                <a:lnTo>
                  <a:pt x="5" y="53"/>
                </a:lnTo>
                <a:lnTo>
                  <a:pt x="7" y="43"/>
                </a:lnTo>
                <a:lnTo>
                  <a:pt x="9" y="35"/>
                </a:lnTo>
                <a:lnTo>
                  <a:pt x="14" y="27"/>
                </a:lnTo>
                <a:lnTo>
                  <a:pt x="19" y="18"/>
                </a:lnTo>
                <a:lnTo>
                  <a:pt x="27" y="13"/>
                </a:lnTo>
                <a:lnTo>
                  <a:pt x="35" y="8"/>
                </a:lnTo>
                <a:lnTo>
                  <a:pt x="43" y="7"/>
                </a:lnTo>
                <a:lnTo>
                  <a:pt x="53" y="5"/>
                </a:lnTo>
                <a:lnTo>
                  <a:pt x="63" y="7"/>
                </a:lnTo>
                <a:lnTo>
                  <a:pt x="72" y="8"/>
                </a:lnTo>
                <a:lnTo>
                  <a:pt x="80" y="13"/>
                </a:lnTo>
                <a:lnTo>
                  <a:pt x="87" y="18"/>
                </a:lnTo>
                <a:lnTo>
                  <a:pt x="93" y="27"/>
                </a:lnTo>
                <a:lnTo>
                  <a:pt x="96" y="35"/>
                </a:lnTo>
                <a:lnTo>
                  <a:pt x="100" y="43"/>
                </a:lnTo>
                <a:lnTo>
                  <a:pt x="101" y="53"/>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97" name="Freeform 1402">
            <a:extLst>
              <a:ext uri="{FF2B5EF4-FFF2-40B4-BE49-F238E27FC236}">
                <a16:creationId xmlns:a16="http://schemas.microsoft.com/office/drawing/2014/main" id="{B624BC7C-8C50-8368-6E67-5C645F395DF0}"/>
              </a:ext>
            </a:extLst>
          </p:cNvPr>
          <p:cNvSpPr>
            <a:spLocks noEditPoints="1"/>
          </p:cNvSpPr>
          <p:nvPr/>
        </p:nvSpPr>
        <p:spPr bwMode="auto">
          <a:xfrm>
            <a:off x="2833688" y="2482850"/>
            <a:ext cx="160338" cy="157163"/>
          </a:xfrm>
          <a:custGeom>
            <a:avLst/>
            <a:gdLst>
              <a:gd name="T0" fmla="*/ 101 w 101"/>
              <a:gd name="T1" fmla="*/ 39 h 99"/>
              <a:gd name="T2" fmla="*/ 93 w 101"/>
              <a:gd name="T3" fmla="*/ 21 h 99"/>
              <a:gd name="T4" fmla="*/ 80 w 101"/>
              <a:gd name="T5" fmla="*/ 8 h 99"/>
              <a:gd name="T6" fmla="*/ 61 w 101"/>
              <a:gd name="T7" fmla="*/ 0 h 99"/>
              <a:gd name="T8" fmla="*/ 41 w 101"/>
              <a:gd name="T9" fmla="*/ 0 h 99"/>
              <a:gd name="T10" fmla="*/ 23 w 101"/>
              <a:gd name="T11" fmla="*/ 8 h 99"/>
              <a:gd name="T12" fmla="*/ 10 w 101"/>
              <a:gd name="T13" fmla="*/ 21 h 99"/>
              <a:gd name="T14" fmla="*/ 2 w 101"/>
              <a:gd name="T15" fmla="*/ 39 h 99"/>
              <a:gd name="T16" fmla="*/ 2 w 101"/>
              <a:gd name="T17" fmla="*/ 59 h 99"/>
              <a:gd name="T18" fmla="*/ 10 w 101"/>
              <a:gd name="T19" fmla="*/ 77 h 99"/>
              <a:gd name="T20" fmla="*/ 23 w 101"/>
              <a:gd name="T21" fmla="*/ 91 h 99"/>
              <a:gd name="T22" fmla="*/ 41 w 101"/>
              <a:gd name="T23" fmla="*/ 99 h 99"/>
              <a:gd name="T24" fmla="*/ 61 w 101"/>
              <a:gd name="T25" fmla="*/ 99 h 99"/>
              <a:gd name="T26" fmla="*/ 80 w 101"/>
              <a:gd name="T27" fmla="*/ 91 h 99"/>
              <a:gd name="T28" fmla="*/ 93 w 101"/>
              <a:gd name="T29" fmla="*/ 77 h 99"/>
              <a:gd name="T30" fmla="*/ 101 w 101"/>
              <a:gd name="T31" fmla="*/ 59 h 99"/>
              <a:gd name="T32" fmla="*/ 96 w 101"/>
              <a:gd name="T33" fmla="*/ 49 h 99"/>
              <a:gd name="T34" fmla="*/ 93 w 101"/>
              <a:gd name="T35" fmla="*/ 67 h 99"/>
              <a:gd name="T36" fmla="*/ 83 w 101"/>
              <a:gd name="T37" fmla="*/ 81 h 99"/>
              <a:gd name="T38" fmla="*/ 70 w 101"/>
              <a:gd name="T39" fmla="*/ 91 h 99"/>
              <a:gd name="T40" fmla="*/ 51 w 101"/>
              <a:gd name="T41" fmla="*/ 94 h 99"/>
              <a:gd name="T42" fmla="*/ 33 w 101"/>
              <a:gd name="T43" fmla="*/ 91 h 99"/>
              <a:gd name="T44" fmla="*/ 18 w 101"/>
              <a:gd name="T45" fmla="*/ 81 h 99"/>
              <a:gd name="T46" fmla="*/ 10 w 101"/>
              <a:gd name="T47" fmla="*/ 67 h 99"/>
              <a:gd name="T48" fmla="*/ 5 w 101"/>
              <a:gd name="T49" fmla="*/ 49 h 99"/>
              <a:gd name="T50" fmla="*/ 10 w 101"/>
              <a:gd name="T51" fmla="*/ 31 h 99"/>
              <a:gd name="T52" fmla="*/ 18 w 101"/>
              <a:gd name="T53" fmla="*/ 16 h 99"/>
              <a:gd name="T54" fmla="*/ 33 w 101"/>
              <a:gd name="T55" fmla="*/ 8 h 99"/>
              <a:gd name="T56" fmla="*/ 51 w 101"/>
              <a:gd name="T57" fmla="*/ 3 h 99"/>
              <a:gd name="T58" fmla="*/ 70 w 101"/>
              <a:gd name="T59" fmla="*/ 8 h 99"/>
              <a:gd name="T60" fmla="*/ 83 w 101"/>
              <a:gd name="T61" fmla="*/ 16 h 99"/>
              <a:gd name="T62" fmla="*/ 93 w 101"/>
              <a:gd name="T63" fmla="*/ 31 h 99"/>
              <a:gd name="T64" fmla="*/ 96 w 101"/>
              <a:gd name="T65" fmla="*/ 4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01" h="99">
                <a:moveTo>
                  <a:pt x="101" y="49"/>
                </a:moveTo>
                <a:lnTo>
                  <a:pt x="101" y="39"/>
                </a:lnTo>
                <a:lnTo>
                  <a:pt x="98" y="29"/>
                </a:lnTo>
                <a:lnTo>
                  <a:pt x="93" y="21"/>
                </a:lnTo>
                <a:lnTo>
                  <a:pt x="86" y="13"/>
                </a:lnTo>
                <a:lnTo>
                  <a:pt x="80" y="8"/>
                </a:lnTo>
                <a:lnTo>
                  <a:pt x="71" y="3"/>
                </a:lnTo>
                <a:lnTo>
                  <a:pt x="61" y="0"/>
                </a:lnTo>
                <a:lnTo>
                  <a:pt x="51" y="0"/>
                </a:lnTo>
                <a:lnTo>
                  <a:pt x="41" y="0"/>
                </a:lnTo>
                <a:lnTo>
                  <a:pt x="32" y="3"/>
                </a:lnTo>
                <a:lnTo>
                  <a:pt x="23" y="8"/>
                </a:lnTo>
                <a:lnTo>
                  <a:pt x="15" y="13"/>
                </a:lnTo>
                <a:lnTo>
                  <a:pt x="10" y="21"/>
                </a:lnTo>
                <a:lnTo>
                  <a:pt x="5" y="29"/>
                </a:lnTo>
                <a:lnTo>
                  <a:pt x="2" y="39"/>
                </a:lnTo>
                <a:lnTo>
                  <a:pt x="0" y="49"/>
                </a:lnTo>
                <a:lnTo>
                  <a:pt x="2" y="59"/>
                </a:lnTo>
                <a:lnTo>
                  <a:pt x="5" y="69"/>
                </a:lnTo>
                <a:lnTo>
                  <a:pt x="10" y="77"/>
                </a:lnTo>
                <a:lnTo>
                  <a:pt x="15" y="84"/>
                </a:lnTo>
                <a:lnTo>
                  <a:pt x="23" y="91"/>
                </a:lnTo>
                <a:lnTo>
                  <a:pt x="32" y="96"/>
                </a:lnTo>
                <a:lnTo>
                  <a:pt x="41" y="99"/>
                </a:lnTo>
                <a:lnTo>
                  <a:pt x="51" y="99"/>
                </a:lnTo>
                <a:lnTo>
                  <a:pt x="61" y="99"/>
                </a:lnTo>
                <a:lnTo>
                  <a:pt x="71" y="96"/>
                </a:lnTo>
                <a:lnTo>
                  <a:pt x="80" y="91"/>
                </a:lnTo>
                <a:lnTo>
                  <a:pt x="86" y="84"/>
                </a:lnTo>
                <a:lnTo>
                  <a:pt x="93" y="77"/>
                </a:lnTo>
                <a:lnTo>
                  <a:pt x="98" y="69"/>
                </a:lnTo>
                <a:lnTo>
                  <a:pt x="101" y="59"/>
                </a:lnTo>
                <a:lnTo>
                  <a:pt x="101" y="49"/>
                </a:lnTo>
                <a:close/>
                <a:moveTo>
                  <a:pt x="96" y="49"/>
                </a:moveTo>
                <a:lnTo>
                  <a:pt x="96" y="57"/>
                </a:lnTo>
                <a:lnTo>
                  <a:pt x="93" y="67"/>
                </a:lnTo>
                <a:lnTo>
                  <a:pt x="89" y="74"/>
                </a:lnTo>
                <a:lnTo>
                  <a:pt x="83" y="81"/>
                </a:lnTo>
                <a:lnTo>
                  <a:pt x="76" y="87"/>
                </a:lnTo>
                <a:lnTo>
                  <a:pt x="70" y="91"/>
                </a:lnTo>
                <a:lnTo>
                  <a:pt x="60" y="94"/>
                </a:lnTo>
                <a:lnTo>
                  <a:pt x="51" y="94"/>
                </a:lnTo>
                <a:lnTo>
                  <a:pt x="41" y="94"/>
                </a:lnTo>
                <a:lnTo>
                  <a:pt x="33" y="91"/>
                </a:lnTo>
                <a:lnTo>
                  <a:pt x="25" y="87"/>
                </a:lnTo>
                <a:lnTo>
                  <a:pt x="18" y="81"/>
                </a:lnTo>
                <a:lnTo>
                  <a:pt x="13" y="74"/>
                </a:lnTo>
                <a:lnTo>
                  <a:pt x="10" y="67"/>
                </a:lnTo>
                <a:lnTo>
                  <a:pt x="7" y="57"/>
                </a:lnTo>
                <a:lnTo>
                  <a:pt x="5" y="49"/>
                </a:lnTo>
                <a:lnTo>
                  <a:pt x="7" y="39"/>
                </a:lnTo>
                <a:lnTo>
                  <a:pt x="10" y="31"/>
                </a:lnTo>
                <a:lnTo>
                  <a:pt x="13" y="24"/>
                </a:lnTo>
                <a:lnTo>
                  <a:pt x="18" y="16"/>
                </a:lnTo>
                <a:lnTo>
                  <a:pt x="25" y="11"/>
                </a:lnTo>
                <a:lnTo>
                  <a:pt x="33" y="8"/>
                </a:lnTo>
                <a:lnTo>
                  <a:pt x="41" y="4"/>
                </a:lnTo>
                <a:lnTo>
                  <a:pt x="51" y="3"/>
                </a:lnTo>
                <a:lnTo>
                  <a:pt x="60" y="4"/>
                </a:lnTo>
                <a:lnTo>
                  <a:pt x="70" y="8"/>
                </a:lnTo>
                <a:lnTo>
                  <a:pt x="76" y="11"/>
                </a:lnTo>
                <a:lnTo>
                  <a:pt x="83" y="16"/>
                </a:lnTo>
                <a:lnTo>
                  <a:pt x="89" y="24"/>
                </a:lnTo>
                <a:lnTo>
                  <a:pt x="93" y="31"/>
                </a:lnTo>
                <a:lnTo>
                  <a:pt x="96" y="39"/>
                </a:lnTo>
                <a:lnTo>
                  <a:pt x="96" y="49"/>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98" name="Freeform 1403">
            <a:extLst>
              <a:ext uri="{FF2B5EF4-FFF2-40B4-BE49-F238E27FC236}">
                <a16:creationId xmlns:a16="http://schemas.microsoft.com/office/drawing/2014/main" id="{42FAC34E-F160-9FB4-715A-92A2EA390CC7}"/>
              </a:ext>
            </a:extLst>
          </p:cNvPr>
          <p:cNvSpPr>
            <a:spLocks noEditPoints="1"/>
          </p:cNvSpPr>
          <p:nvPr/>
        </p:nvSpPr>
        <p:spPr bwMode="auto">
          <a:xfrm>
            <a:off x="2838450" y="2484438"/>
            <a:ext cx="152400" cy="152400"/>
          </a:xfrm>
          <a:custGeom>
            <a:avLst/>
            <a:gdLst>
              <a:gd name="T0" fmla="*/ 95 w 96"/>
              <a:gd name="T1" fmla="*/ 38 h 96"/>
              <a:gd name="T2" fmla="*/ 88 w 96"/>
              <a:gd name="T3" fmla="*/ 22 h 96"/>
              <a:gd name="T4" fmla="*/ 75 w 96"/>
              <a:gd name="T5" fmla="*/ 8 h 96"/>
              <a:gd name="T6" fmla="*/ 58 w 96"/>
              <a:gd name="T7" fmla="*/ 2 h 96"/>
              <a:gd name="T8" fmla="*/ 38 w 96"/>
              <a:gd name="T9" fmla="*/ 2 h 96"/>
              <a:gd name="T10" fmla="*/ 22 w 96"/>
              <a:gd name="T11" fmla="*/ 8 h 96"/>
              <a:gd name="T12" fmla="*/ 9 w 96"/>
              <a:gd name="T13" fmla="*/ 22 h 96"/>
              <a:gd name="T14" fmla="*/ 2 w 96"/>
              <a:gd name="T15" fmla="*/ 38 h 96"/>
              <a:gd name="T16" fmla="*/ 2 w 96"/>
              <a:gd name="T17" fmla="*/ 58 h 96"/>
              <a:gd name="T18" fmla="*/ 9 w 96"/>
              <a:gd name="T19" fmla="*/ 75 h 96"/>
              <a:gd name="T20" fmla="*/ 22 w 96"/>
              <a:gd name="T21" fmla="*/ 88 h 96"/>
              <a:gd name="T22" fmla="*/ 38 w 96"/>
              <a:gd name="T23" fmla="*/ 95 h 96"/>
              <a:gd name="T24" fmla="*/ 58 w 96"/>
              <a:gd name="T25" fmla="*/ 95 h 96"/>
              <a:gd name="T26" fmla="*/ 75 w 96"/>
              <a:gd name="T27" fmla="*/ 88 h 96"/>
              <a:gd name="T28" fmla="*/ 88 w 96"/>
              <a:gd name="T29" fmla="*/ 75 h 96"/>
              <a:gd name="T30" fmla="*/ 95 w 96"/>
              <a:gd name="T31" fmla="*/ 58 h 96"/>
              <a:gd name="T32" fmla="*/ 91 w 96"/>
              <a:gd name="T33" fmla="*/ 48 h 96"/>
              <a:gd name="T34" fmla="*/ 88 w 96"/>
              <a:gd name="T35" fmla="*/ 65 h 96"/>
              <a:gd name="T36" fmla="*/ 78 w 96"/>
              <a:gd name="T37" fmla="*/ 78 h 96"/>
              <a:gd name="T38" fmla="*/ 65 w 96"/>
              <a:gd name="T39" fmla="*/ 88 h 96"/>
              <a:gd name="T40" fmla="*/ 48 w 96"/>
              <a:gd name="T41" fmla="*/ 91 h 96"/>
              <a:gd name="T42" fmla="*/ 32 w 96"/>
              <a:gd name="T43" fmla="*/ 88 h 96"/>
              <a:gd name="T44" fmla="*/ 17 w 96"/>
              <a:gd name="T45" fmla="*/ 78 h 96"/>
              <a:gd name="T46" fmla="*/ 9 w 96"/>
              <a:gd name="T47" fmla="*/ 65 h 96"/>
              <a:gd name="T48" fmla="*/ 5 w 96"/>
              <a:gd name="T49" fmla="*/ 48 h 96"/>
              <a:gd name="T50" fmla="*/ 9 w 96"/>
              <a:gd name="T51" fmla="*/ 32 h 96"/>
              <a:gd name="T52" fmla="*/ 17 w 96"/>
              <a:gd name="T53" fmla="*/ 17 h 96"/>
              <a:gd name="T54" fmla="*/ 32 w 96"/>
              <a:gd name="T55" fmla="*/ 8 h 96"/>
              <a:gd name="T56" fmla="*/ 48 w 96"/>
              <a:gd name="T57" fmla="*/ 5 h 96"/>
              <a:gd name="T58" fmla="*/ 65 w 96"/>
              <a:gd name="T59" fmla="*/ 8 h 96"/>
              <a:gd name="T60" fmla="*/ 78 w 96"/>
              <a:gd name="T61" fmla="*/ 17 h 96"/>
              <a:gd name="T62" fmla="*/ 88 w 96"/>
              <a:gd name="T63" fmla="*/ 32 h 96"/>
              <a:gd name="T64" fmla="*/ 91 w 96"/>
              <a:gd name="T65" fmla="*/ 48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96" h="96">
                <a:moveTo>
                  <a:pt x="96" y="48"/>
                </a:moveTo>
                <a:lnTo>
                  <a:pt x="95" y="38"/>
                </a:lnTo>
                <a:lnTo>
                  <a:pt x="91" y="30"/>
                </a:lnTo>
                <a:lnTo>
                  <a:pt x="88" y="22"/>
                </a:lnTo>
                <a:lnTo>
                  <a:pt x="82" y="13"/>
                </a:lnTo>
                <a:lnTo>
                  <a:pt x="75" y="8"/>
                </a:lnTo>
                <a:lnTo>
                  <a:pt x="67" y="3"/>
                </a:lnTo>
                <a:lnTo>
                  <a:pt x="58" y="2"/>
                </a:lnTo>
                <a:lnTo>
                  <a:pt x="48" y="0"/>
                </a:lnTo>
                <a:lnTo>
                  <a:pt x="38" y="2"/>
                </a:lnTo>
                <a:lnTo>
                  <a:pt x="30" y="3"/>
                </a:lnTo>
                <a:lnTo>
                  <a:pt x="22" y="8"/>
                </a:lnTo>
                <a:lnTo>
                  <a:pt x="14" y="13"/>
                </a:lnTo>
                <a:lnTo>
                  <a:pt x="9" y="22"/>
                </a:lnTo>
                <a:lnTo>
                  <a:pt x="4" y="30"/>
                </a:lnTo>
                <a:lnTo>
                  <a:pt x="2" y="38"/>
                </a:lnTo>
                <a:lnTo>
                  <a:pt x="0" y="48"/>
                </a:lnTo>
                <a:lnTo>
                  <a:pt x="2" y="58"/>
                </a:lnTo>
                <a:lnTo>
                  <a:pt x="4" y="66"/>
                </a:lnTo>
                <a:lnTo>
                  <a:pt x="9" y="75"/>
                </a:lnTo>
                <a:lnTo>
                  <a:pt x="14" y="81"/>
                </a:lnTo>
                <a:lnTo>
                  <a:pt x="22" y="88"/>
                </a:lnTo>
                <a:lnTo>
                  <a:pt x="30" y="93"/>
                </a:lnTo>
                <a:lnTo>
                  <a:pt x="38" y="95"/>
                </a:lnTo>
                <a:lnTo>
                  <a:pt x="48" y="96"/>
                </a:lnTo>
                <a:lnTo>
                  <a:pt x="58" y="95"/>
                </a:lnTo>
                <a:lnTo>
                  <a:pt x="67" y="93"/>
                </a:lnTo>
                <a:lnTo>
                  <a:pt x="75" y="88"/>
                </a:lnTo>
                <a:lnTo>
                  <a:pt x="82" y="81"/>
                </a:lnTo>
                <a:lnTo>
                  <a:pt x="88" y="75"/>
                </a:lnTo>
                <a:lnTo>
                  <a:pt x="91" y="66"/>
                </a:lnTo>
                <a:lnTo>
                  <a:pt x="95" y="58"/>
                </a:lnTo>
                <a:lnTo>
                  <a:pt x="96" y="48"/>
                </a:lnTo>
                <a:close/>
                <a:moveTo>
                  <a:pt x="91" y="48"/>
                </a:moveTo>
                <a:lnTo>
                  <a:pt x="90" y="56"/>
                </a:lnTo>
                <a:lnTo>
                  <a:pt x="88" y="65"/>
                </a:lnTo>
                <a:lnTo>
                  <a:pt x="83" y="71"/>
                </a:lnTo>
                <a:lnTo>
                  <a:pt x="78" y="78"/>
                </a:lnTo>
                <a:lnTo>
                  <a:pt x="72" y="83"/>
                </a:lnTo>
                <a:lnTo>
                  <a:pt x="65" y="88"/>
                </a:lnTo>
                <a:lnTo>
                  <a:pt x="57" y="90"/>
                </a:lnTo>
                <a:lnTo>
                  <a:pt x="48" y="91"/>
                </a:lnTo>
                <a:lnTo>
                  <a:pt x="40" y="90"/>
                </a:lnTo>
                <a:lnTo>
                  <a:pt x="32" y="88"/>
                </a:lnTo>
                <a:lnTo>
                  <a:pt x="24" y="83"/>
                </a:lnTo>
                <a:lnTo>
                  <a:pt x="17" y="78"/>
                </a:lnTo>
                <a:lnTo>
                  <a:pt x="12" y="71"/>
                </a:lnTo>
                <a:lnTo>
                  <a:pt x="9" y="65"/>
                </a:lnTo>
                <a:lnTo>
                  <a:pt x="5" y="56"/>
                </a:lnTo>
                <a:lnTo>
                  <a:pt x="5" y="48"/>
                </a:lnTo>
                <a:lnTo>
                  <a:pt x="5" y="40"/>
                </a:lnTo>
                <a:lnTo>
                  <a:pt x="9" y="32"/>
                </a:lnTo>
                <a:lnTo>
                  <a:pt x="12" y="23"/>
                </a:lnTo>
                <a:lnTo>
                  <a:pt x="17" y="17"/>
                </a:lnTo>
                <a:lnTo>
                  <a:pt x="24" y="12"/>
                </a:lnTo>
                <a:lnTo>
                  <a:pt x="32" y="8"/>
                </a:lnTo>
                <a:lnTo>
                  <a:pt x="40" y="5"/>
                </a:lnTo>
                <a:lnTo>
                  <a:pt x="48" y="5"/>
                </a:lnTo>
                <a:lnTo>
                  <a:pt x="57" y="5"/>
                </a:lnTo>
                <a:lnTo>
                  <a:pt x="65" y="8"/>
                </a:lnTo>
                <a:lnTo>
                  <a:pt x="72" y="12"/>
                </a:lnTo>
                <a:lnTo>
                  <a:pt x="78" y="17"/>
                </a:lnTo>
                <a:lnTo>
                  <a:pt x="83" y="23"/>
                </a:lnTo>
                <a:lnTo>
                  <a:pt x="88" y="32"/>
                </a:lnTo>
                <a:lnTo>
                  <a:pt x="90" y="40"/>
                </a:lnTo>
                <a:lnTo>
                  <a:pt x="91" y="48"/>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199" name="Freeform 1404">
            <a:extLst>
              <a:ext uri="{FF2B5EF4-FFF2-40B4-BE49-F238E27FC236}">
                <a16:creationId xmlns:a16="http://schemas.microsoft.com/office/drawing/2014/main" id="{F5E214A6-8FD5-D53D-2C1D-7005AF868E92}"/>
              </a:ext>
            </a:extLst>
          </p:cNvPr>
          <p:cNvSpPr>
            <a:spLocks noEditPoints="1"/>
          </p:cNvSpPr>
          <p:nvPr/>
        </p:nvSpPr>
        <p:spPr bwMode="auto">
          <a:xfrm>
            <a:off x="2841625" y="2487613"/>
            <a:ext cx="144463" cy="144463"/>
          </a:xfrm>
          <a:custGeom>
            <a:avLst/>
            <a:gdLst>
              <a:gd name="T0" fmla="*/ 91 w 91"/>
              <a:gd name="T1" fmla="*/ 36 h 91"/>
              <a:gd name="T2" fmla="*/ 84 w 91"/>
              <a:gd name="T3" fmla="*/ 21 h 91"/>
              <a:gd name="T4" fmla="*/ 71 w 91"/>
              <a:gd name="T5" fmla="*/ 8 h 91"/>
              <a:gd name="T6" fmla="*/ 55 w 91"/>
              <a:gd name="T7" fmla="*/ 1 h 91"/>
              <a:gd name="T8" fmla="*/ 36 w 91"/>
              <a:gd name="T9" fmla="*/ 1 h 91"/>
              <a:gd name="T10" fmla="*/ 20 w 91"/>
              <a:gd name="T11" fmla="*/ 8 h 91"/>
              <a:gd name="T12" fmla="*/ 8 w 91"/>
              <a:gd name="T13" fmla="*/ 21 h 91"/>
              <a:gd name="T14" fmla="*/ 2 w 91"/>
              <a:gd name="T15" fmla="*/ 36 h 91"/>
              <a:gd name="T16" fmla="*/ 2 w 91"/>
              <a:gd name="T17" fmla="*/ 54 h 91"/>
              <a:gd name="T18" fmla="*/ 8 w 91"/>
              <a:gd name="T19" fmla="*/ 71 h 91"/>
              <a:gd name="T20" fmla="*/ 20 w 91"/>
              <a:gd name="T21" fmla="*/ 84 h 91"/>
              <a:gd name="T22" fmla="*/ 36 w 91"/>
              <a:gd name="T23" fmla="*/ 91 h 91"/>
              <a:gd name="T24" fmla="*/ 55 w 91"/>
              <a:gd name="T25" fmla="*/ 91 h 91"/>
              <a:gd name="T26" fmla="*/ 71 w 91"/>
              <a:gd name="T27" fmla="*/ 84 h 91"/>
              <a:gd name="T28" fmla="*/ 84 w 91"/>
              <a:gd name="T29" fmla="*/ 71 h 91"/>
              <a:gd name="T30" fmla="*/ 91 w 91"/>
              <a:gd name="T31" fmla="*/ 54 h 91"/>
              <a:gd name="T32" fmla="*/ 86 w 91"/>
              <a:gd name="T33" fmla="*/ 46 h 91"/>
              <a:gd name="T34" fmla="*/ 83 w 91"/>
              <a:gd name="T35" fmla="*/ 61 h 91"/>
              <a:gd name="T36" fmla="*/ 75 w 91"/>
              <a:gd name="T37" fmla="*/ 74 h 91"/>
              <a:gd name="T38" fmla="*/ 61 w 91"/>
              <a:gd name="T39" fmla="*/ 84 h 91"/>
              <a:gd name="T40" fmla="*/ 46 w 91"/>
              <a:gd name="T41" fmla="*/ 86 h 91"/>
              <a:gd name="T42" fmla="*/ 30 w 91"/>
              <a:gd name="T43" fmla="*/ 84 h 91"/>
              <a:gd name="T44" fmla="*/ 17 w 91"/>
              <a:gd name="T45" fmla="*/ 74 h 91"/>
              <a:gd name="T46" fmla="*/ 8 w 91"/>
              <a:gd name="T47" fmla="*/ 61 h 91"/>
              <a:gd name="T48" fmla="*/ 5 w 91"/>
              <a:gd name="T49" fmla="*/ 46 h 91"/>
              <a:gd name="T50" fmla="*/ 8 w 91"/>
              <a:gd name="T51" fmla="*/ 30 h 91"/>
              <a:gd name="T52" fmla="*/ 17 w 91"/>
              <a:gd name="T53" fmla="*/ 18 h 91"/>
              <a:gd name="T54" fmla="*/ 30 w 91"/>
              <a:gd name="T55" fmla="*/ 8 h 91"/>
              <a:gd name="T56" fmla="*/ 46 w 91"/>
              <a:gd name="T57" fmla="*/ 5 h 91"/>
              <a:gd name="T58" fmla="*/ 61 w 91"/>
              <a:gd name="T59" fmla="*/ 8 h 91"/>
              <a:gd name="T60" fmla="*/ 75 w 91"/>
              <a:gd name="T61" fmla="*/ 18 h 91"/>
              <a:gd name="T62" fmla="*/ 83 w 91"/>
              <a:gd name="T63" fmla="*/ 30 h 91"/>
              <a:gd name="T64" fmla="*/ 86 w 91"/>
              <a:gd name="T65" fmla="*/ 46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91" h="91">
                <a:moveTo>
                  <a:pt x="91" y="46"/>
                </a:moveTo>
                <a:lnTo>
                  <a:pt x="91" y="36"/>
                </a:lnTo>
                <a:lnTo>
                  <a:pt x="88" y="28"/>
                </a:lnTo>
                <a:lnTo>
                  <a:pt x="84" y="21"/>
                </a:lnTo>
                <a:lnTo>
                  <a:pt x="78" y="13"/>
                </a:lnTo>
                <a:lnTo>
                  <a:pt x="71" y="8"/>
                </a:lnTo>
                <a:lnTo>
                  <a:pt x="65" y="5"/>
                </a:lnTo>
                <a:lnTo>
                  <a:pt x="55" y="1"/>
                </a:lnTo>
                <a:lnTo>
                  <a:pt x="46" y="0"/>
                </a:lnTo>
                <a:lnTo>
                  <a:pt x="36" y="1"/>
                </a:lnTo>
                <a:lnTo>
                  <a:pt x="28" y="5"/>
                </a:lnTo>
                <a:lnTo>
                  <a:pt x="20" y="8"/>
                </a:lnTo>
                <a:lnTo>
                  <a:pt x="13" y="13"/>
                </a:lnTo>
                <a:lnTo>
                  <a:pt x="8" y="21"/>
                </a:lnTo>
                <a:lnTo>
                  <a:pt x="5" y="28"/>
                </a:lnTo>
                <a:lnTo>
                  <a:pt x="2" y="36"/>
                </a:lnTo>
                <a:lnTo>
                  <a:pt x="0" y="46"/>
                </a:lnTo>
                <a:lnTo>
                  <a:pt x="2" y="54"/>
                </a:lnTo>
                <a:lnTo>
                  <a:pt x="5" y="64"/>
                </a:lnTo>
                <a:lnTo>
                  <a:pt x="8" y="71"/>
                </a:lnTo>
                <a:lnTo>
                  <a:pt x="13" y="78"/>
                </a:lnTo>
                <a:lnTo>
                  <a:pt x="20" y="84"/>
                </a:lnTo>
                <a:lnTo>
                  <a:pt x="28" y="88"/>
                </a:lnTo>
                <a:lnTo>
                  <a:pt x="36" y="91"/>
                </a:lnTo>
                <a:lnTo>
                  <a:pt x="46" y="91"/>
                </a:lnTo>
                <a:lnTo>
                  <a:pt x="55" y="91"/>
                </a:lnTo>
                <a:lnTo>
                  <a:pt x="65" y="88"/>
                </a:lnTo>
                <a:lnTo>
                  <a:pt x="71" y="84"/>
                </a:lnTo>
                <a:lnTo>
                  <a:pt x="78" y="78"/>
                </a:lnTo>
                <a:lnTo>
                  <a:pt x="84" y="71"/>
                </a:lnTo>
                <a:lnTo>
                  <a:pt x="88" y="64"/>
                </a:lnTo>
                <a:lnTo>
                  <a:pt x="91" y="54"/>
                </a:lnTo>
                <a:lnTo>
                  <a:pt x="91" y="46"/>
                </a:lnTo>
                <a:close/>
                <a:moveTo>
                  <a:pt x="86" y="46"/>
                </a:moveTo>
                <a:lnTo>
                  <a:pt x="86" y="54"/>
                </a:lnTo>
                <a:lnTo>
                  <a:pt x="83" y="61"/>
                </a:lnTo>
                <a:lnTo>
                  <a:pt x="80" y="69"/>
                </a:lnTo>
                <a:lnTo>
                  <a:pt x="75" y="74"/>
                </a:lnTo>
                <a:lnTo>
                  <a:pt x="70" y="79"/>
                </a:lnTo>
                <a:lnTo>
                  <a:pt x="61" y="84"/>
                </a:lnTo>
                <a:lnTo>
                  <a:pt x="55" y="86"/>
                </a:lnTo>
                <a:lnTo>
                  <a:pt x="46" y="86"/>
                </a:lnTo>
                <a:lnTo>
                  <a:pt x="38" y="86"/>
                </a:lnTo>
                <a:lnTo>
                  <a:pt x="30" y="84"/>
                </a:lnTo>
                <a:lnTo>
                  <a:pt x="23" y="79"/>
                </a:lnTo>
                <a:lnTo>
                  <a:pt x="17" y="74"/>
                </a:lnTo>
                <a:lnTo>
                  <a:pt x="12" y="69"/>
                </a:lnTo>
                <a:lnTo>
                  <a:pt x="8" y="61"/>
                </a:lnTo>
                <a:lnTo>
                  <a:pt x="7" y="54"/>
                </a:lnTo>
                <a:lnTo>
                  <a:pt x="5" y="46"/>
                </a:lnTo>
                <a:lnTo>
                  <a:pt x="7" y="38"/>
                </a:lnTo>
                <a:lnTo>
                  <a:pt x="8" y="30"/>
                </a:lnTo>
                <a:lnTo>
                  <a:pt x="12" y="23"/>
                </a:lnTo>
                <a:lnTo>
                  <a:pt x="17" y="18"/>
                </a:lnTo>
                <a:lnTo>
                  <a:pt x="23" y="13"/>
                </a:lnTo>
                <a:lnTo>
                  <a:pt x="30" y="8"/>
                </a:lnTo>
                <a:lnTo>
                  <a:pt x="38" y="6"/>
                </a:lnTo>
                <a:lnTo>
                  <a:pt x="46" y="5"/>
                </a:lnTo>
                <a:lnTo>
                  <a:pt x="55" y="6"/>
                </a:lnTo>
                <a:lnTo>
                  <a:pt x="61" y="8"/>
                </a:lnTo>
                <a:lnTo>
                  <a:pt x="70" y="13"/>
                </a:lnTo>
                <a:lnTo>
                  <a:pt x="75" y="18"/>
                </a:lnTo>
                <a:lnTo>
                  <a:pt x="80" y="23"/>
                </a:lnTo>
                <a:lnTo>
                  <a:pt x="83" y="30"/>
                </a:lnTo>
                <a:lnTo>
                  <a:pt x="86" y="38"/>
                </a:lnTo>
                <a:lnTo>
                  <a:pt x="86" y="46"/>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00" name="Freeform 1405">
            <a:extLst>
              <a:ext uri="{FF2B5EF4-FFF2-40B4-BE49-F238E27FC236}">
                <a16:creationId xmlns:a16="http://schemas.microsoft.com/office/drawing/2014/main" id="{21B7365F-3023-F6B3-D965-C9F0E077CD27}"/>
              </a:ext>
            </a:extLst>
          </p:cNvPr>
          <p:cNvSpPr>
            <a:spLocks noEditPoints="1"/>
          </p:cNvSpPr>
          <p:nvPr/>
        </p:nvSpPr>
        <p:spPr bwMode="auto">
          <a:xfrm>
            <a:off x="2846388" y="2492375"/>
            <a:ext cx="136525" cy="136525"/>
          </a:xfrm>
          <a:custGeom>
            <a:avLst/>
            <a:gdLst>
              <a:gd name="T0" fmla="*/ 85 w 86"/>
              <a:gd name="T1" fmla="*/ 35 h 86"/>
              <a:gd name="T2" fmla="*/ 78 w 86"/>
              <a:gd name="T3" fmla="*/ 18 h 86"/>
              <a:gd name="T4" fmla="*/ 67 w 86"/>
              <a:gd name="T5" fmla="*/ 7 h 86"/>
              <a:gd name="T6" fmla="*/ 52 w 86"/>
              <a:gd name="T7" fmla="*/ 0 h 86"/>
              <a:gd name="T8" fmla="*/ 35 w 86"/>
              <a:gd name="T9" fmla="*/ 0 h 86"/>
              <a:gd name="T10" fmla="*/ 19 w 86"/>
              <a:gd name="T11" fmla="*/ 7 h 86"/>
              <a:gd name="T12" fmla="*/ 7 w 86"/>
              <a:gd name="T13" fmla="*/ 18 h 86"/>
              <a:gd name="T14" fmla="*/ 0 w 86"/>
              <a:gd name="T15" fmla="*/ 35 h 86"/>
              <a:gd name="T16" fmla="*/ 0 w 86"/>
              <a:gd name="T17" fmla="*/ 51 h 86"/>
              <a:gd name="T18" fmla="*/ 7 w 86"/>
              <a:gd name="T19" fmla="*/ 66 h 86"/>
              <a:gd name="T20" fmla="*/ 19 w 86"/>
              <a:gd name="T21" fmla="*/ 78 h 86"/>
              <a:gd name="T22" fmla="*/ 35 w 86"/>
              <a:gd name="T23" fmla="*/ 85 h 86"/>
              <a:gd name="T24" fmla="*/ 52 w 86"/>
              <a:gd name="T25" fmla="*/ 85 h 86"/>
              <a:gd name="T26" fmla="*/ 67 w 86"/>
              <a:gd name="T27" fmla="*/ 78 h 86"/>
              <a:gd name="T28" fmla="*/ 78 w 86"/>
              <a:gd name="T29" fmla="*/ 66 h 86"/>
              <a:gd name="T30" fmla="*/ 85 w 86"/>
              <a:gd name="T31" fmla="*/ 51 h 86"/>
              <a:gd name="T32" fmla="*/ 81 w 86"/>
              <a:gd name="T33" fmla="*/ 43 h 86"/>
              <a:gd name="T34" fmla="*/ 78 w 86"/>
              <a:gd name="T35" fmla="*/ 58 h 86"/>
              <a:gd name="T36" fmla="*/ 70 w 86"/>
              <a:gd name="T37" fmla="*/ 70 h 86"/>
              <a:gd name="T38" fmla="*/ 58 w 86"/>
              <a:gd name="T39" fmla="*/ 78 h 86"/>
              <a:gd name="T40" fmla="*/ 43 w 86"/>
              <a:gd name="T41" fmla="*/ 81 h 86"/>
              <a:gd name="T42" fmla="*/ 29 w 86"/>
              <a:gd name="T43" fmla="*/ 78 h 86"/>
              <a:gd name="T44" fmla="*/ 15 w 86"/>
              <a:gd name="T45" fmla="*/ 70 h 86"/>
              <a:gd name="T46" fmla="*/ 9 w 86"/>
              <a:gd name="T47" fmla="*/ 58 h 86"/>
              <a:gd name="T48" fmla="*/ 5 w 86"/>
              <a:gd name="T49" fmla="*/ 43 h 86"/>
              <a:gd name="T50" fmla="*/ 9 w 86"/>
              <a:gd name="T51" fmla="*/ 28 h 86"/>
              <a:gd name="T52" fmla="*/ 15 w 86"/>
              <a:gd name="T53" fmla="*/ 17 h 86"/>
              <a:gd name="T54" fmla="*/ 29 w 86"/>
              <a:gd name="T55" fmla="*/ 8 h 86"/>
              <a:gd name="T56" fmla="*/ 43 w 86"/>
              <a:gd name="T57" fmla="*/ 5 h 86"/>
              <a:gd name="T58" fmla="*/ 58 w 86"/>
              <a:gd name="T59" fmla="*/ 8 h 86"/>
              <a:gd name="T60" fmla="*/ 70 w 86"/>
              <a:gd name="T61" fmla="*/ 17 h 86"/>
              <a:gd name="T62" fmla="*/ 78 w 86"/>
              <a:gd name="T63" fmla="*/ 28 h 86"/>
              <a:gd name="T64" fmla="*/ 81 w 86"/>
              <a:gd name="T65" fmla="*/ 43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6" h="86">
                <a:moveTo>
                  <a:pt x="86" y="43"/>
                </a:moveTo>
                <a:lnTo>
                  <a:pt x="85" y="35"/>
                </a:lnTo>
                <a:lnTo>
                  <a:pt x="83" y="27"/>
                </a:lnTo>
                <a:lnTo>
                  <a:pt x="78" y="18"/>
                </a:lnTo>
                <a:lnTo>
                  <a:pt x="73" y="12"/>
                </a:lnTo>
                <a:lnTo>
                  <a:pt x="67" y="7"/>
                </a:lnTo>
                <a:lnTo>
                  <a:pt x="60" y="3"/>
                </a:lnTo>
                <a:lnTo>
                  <a:pt x="52" y="0"/>
                </a:lnTo>
                <a:lnTo>
                  <a:pt x="43" y="0"/>
                </a:lnTo>
                <a:lnTo>
                  <a:pt x="35" y="0"/>
                </a:lnTo>
                <a:lnTo>
                  <a:pt x="27" y="3"/>
                </a:lnTo>
                <a:lnTo>
                  <a:pt x="19" y="7"/>
                </a:lnTo>
                <a:lnTo>
                  <a:pt x="12" y="12"/>
                </a:lnTo>
                <a:lnTo>
                  <a:pt x="7" y="18"/>
                </a:lnTo>
                <a:lnTo>
                  <a:pt x="4" y="27"/>
                </a:lnTo>
                <a:lnTo>
                  <a:pt x="0" y="35"/>
                </a:lnTo>
                <a:lnTo>
                  <a:pt x="0" y="43"/>
                </a:lnTo>
                <a:lnTo>
                  <a:pt x="0" y="51"/>
                </a:lnTo>
                <a:lnTo>
                  <a:pt x="4" y="60"/>
                </a:lnTo>
                <a:lnTo>
                  <a:pt x="7" y="66"/>
                </a:lnTo>
                <a:lnTo>
                  <a:pt x="12" y="73"/>
                </a:lnTo>
                <a:lnTo>
                  <a:pt x="19" y="78"/>
                </a:lnTo>
                <a:lnTo>
                  <a:pt x="27" y="83"/>
                </a:lnTo>
                <a:lnTo>
                  <a:pt x="35" y="85"/>
                </a:lnTo>
                <a:lnTo>
                  <a:pt x="43" y="86"/>
                </a:lnTo>
                <a:lnTo>
                  <a:pt x="52" y="85"/>
                </a:lnTo>
                <a:lnTo>
                  <a:pt x="60" y="83"/>
                </a:lnTo>
                <a:lnTo>
                  <a:pt x="67" y="78"/>
                </a:lnTo>
                <a:lnTo>
                  <a:pt x="73" y="73"/>
                </a:lnTo>
                <a:lnTo>
                  <a:pt x="78" y="66"/>
                </a:lnTo>
                <a:lnTo>
                  <a:pt x="83" y="60"/>
                </a:lnTo>
                <a:lnTo>
                  <a:pt x="85" y="51"/>
                </a:lnTo>
                <a:lnTo>
                  <a:pt x="86" y="43"/>
                </a:lnTo>
                <a:close/>
                <a:moveTo>
                  <a:pt x="81" y="43"/>
                </a:moveTo>
                <a:lnTo>
                  <a:pt x="81" y="51"/>
                </a:lnTo>
                <a:lnTo>
                  <a:pt x="78" y="58"/>
                </a:lnTo>
                <a:lnTo>
                  <a:pt x="75" y="65"/>
                </a:lnTo>
                <a:lnTo>
                  <a:pt x="70" y="70"/>
                </a:lnTo>
                <a:lnTo>
                  <a:pt x="65" y="75"/>
                </a:lnTo>
                <a:lnTo>
                  <a:pt x="58" y="78"/>
                </a:lnTo>
                <a:lnTo>
                  <a:pt x="52" y="81"/>
                </a:lnTo>
                <a:lnTo>
                  <a:pt x="43" y="81"/>
                </a:lnTo>
                <a:lnTo>
                  <a:pt x="35" y="81"/>
                </a:lnTo>
                <a:lnTo>
                  <a:pt x="29" y="78"/>
                </a:lnTo>
                <a:lnTo>
                  <a:pt x="22" y="75"/>
                </a:lnTo>
                <a:lnTo>
                  <a:pt x="15" y="70"/>
                </a:lnTo>
                <a:lnTo>
                  <a:pt x="12" y="65"/>
                </a:lnTo>
                <a:lnTo>
                  <a:pt x="9" y="58"/>
                </a:lnTo>
                <a:lnTo>
                  <a:pt x="5" y="51"/>
                </a:lnTo>
                <a:lnTo>
                  <a:pt x="5" y="43"/>
                </a:lnTo>
                <a:lnTo>
                  <a:pt x="5" y="35"/>
                </a:lnTo>
                <a:lnTo>
                  <a:pt x="9" y="28"/>
                </a:lnTo>
                <a:lnTo>
                  <a:pt x="12" y="22"/>
                </a:lnTo>
                <a:lnTo>
                  <a:pt x="15" y="17"/>
                </a:lnTo>
                <a:lnTo>
                  <a:pt x="22" y="12"/>
                </a:lnTo>
                <a:lnTo>
                  <a:pt x="29" y="8"/>
                </a:lnTo>
                <a:lnTo>
                  <a:pt x="35" y="5"/>
                </a:lnTo>
                <a:lnTo>
                  <a:pt x="43" y="5"/>
                </a:lnTo>
                <a:lnTo>
                  <a:pt x="52" y="5"/>
                </a:lnTo>
                <a:lnTo>
                  <a:pt x="58" y="8"/>
                </a:lnTo>
                <a:lnTo>
                  <a:pt x="65" y="12"/>
                </a:lnTo>
                <a:lnTo>
                  <a:pt x="70" y="17"/>
                </a:lnTo>
                <a:lnTo>
                  <a:pt x="75" y="22"/>
                </a:lnTo>
                <a:lnTo>
                  <a:pt x="78" y="28"/>
                </a:lnTo>
                <a:lnTo>
                  <a:pt x="81" y="35"/>
                </a:lnTo>
                <a:lnTo>
                  <a:pt x="81" y="43"/>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01" name="Freeform 1406">
            <a:extLst>
              <a:ext uri="{FF2B5EF4-FFF2-40B4-BE49-F238E27FC236}">
                <a16:creationId xmlns:a16="http://schemas.microsoft.com/office/drawing/2014/main" id="{189D0624-2348-F53D-17AF-CBF8C3F06BB7}"/>
              </a:ext>
            </a:extLst>
          </p:cNvPr>
          <p:cNvSpPr>
            <a:spLocks noEditPoints="1"/>
          </p:cNvSpPr>
          <p:nvPr/>
        </p:nvSpPr>
        <p:spPr bwMode="auto">
          <a:xfrm>
            <a:off x="2849563" y="2495550"/>
            <a:ext cx="128588" cy="128588"/>
          </a:xfrm>
          <a:custGeom>
            <a:avLst/>
            <a:gdLst>
              <a:gd name="T0" fmla="*/ 81 w 81"/>
              <a:gd name="T1" fmla="*/ 33 h 81"/>
              <a:gd name="T2" fmla="*/ 75 w 81"/>
              <a:gd name="T3" fmla="*/ 18 h 81"/>
              <a:gd name="T4" fmla="*/ 65 w 81"/>
              <a:gd name="T5" fmla="*/ 8 h 81"/>
              <a:gd name="T6" fmla="*/ 50 w 81"/>
              <a:gd name="T7" fmla="*/ 1 h 81"/>
              <a:gd name="T8" fmla="*/ 33 w 81"/>
              <a:gd name="T9" fmla="*/ 1 h 81"/>
              <a:gd name="T10" fmla="*/ 18 w 81"/>
              <a:gd name="T11" fmla="*/ 8 h 81"/>
              <a:gd name="T12" fmla="*/ 7 w 81"/>
              <a:gd name="T13" fmla="*/ 18 h 81"/>
              <a:gd name="T14" fmla="*/ 2 w 81"/>
              <a:gd name="T15" fmla="*/ 33 h 81"/>
              <a:gd name="T16" fmla="*/ 2 w 81"/>
              <a:gd name="T17" fmla="*/ 49 h 81"/>
              <a:gd name="T18" fmla="*/ 7 w 81"/>
              <a:gd name="T19" fmla="*/ 64 h 81"/>
              <a:gd name="T20" fmla="*/ 18 w 81"/>
              <a:gd name="T21" fmla="*/ 74 h 81"/>
              <a:gd name="T22" fmla="*/ 33 w 81"/>
              <a:gd name="T23" fmla="*/ 81 h 81"/>
              <a:gd name="T24" fmla="*/ 50 w 81"/>
              <a:gd name="T25" fmla="*/ 81 h 81"/>
              <a:gd name="T26" fmla="*/ 65 w 81"/>
              <a:gd name="T27" fmla="*/ 74 h 81"/>
              <a:gd name="T28" fmla="*/ 75 w 81"/>
              <a:gd name="T29" fmla="*/ 64 h 81"/>
              <a:gd name="T30" fmla="*/ 81 w 81"/>
              <a:gd name="T31" fmla="*/ 49 h 81"/>
              <a:gd name="T32" fmla="*/ 78 w 81"/>
              <a:gd name="T33" fmla="*/ 41 h 81"/>
              <a:gd name="T34" fmla="*/ 75 w 81"/>
              <a:gd name="T35" fmla="*/ 54 h 81"/>
              <a:gd name="T36" fmla="*/ 66 w 81"/>
              <a:gd name="T37" fmla="*/ 66 h 81"/>
              <a:gd name="T38" fmla="*/ 55 w 81"/>
              <a:gd name="T39" fmla="*/ 74 h 81"/>
              <a:gd name="T40" fmla="*/ 41 w 81"/>
              <a:gd name="T41" fmla="*/ 78 h 81"/>
              <a:gd name="T42" fmla="*/ 27 w 81"/>
              <a:gd name="T43" fmla="*/ 74 h 81"/>
              <a:gd name="T44" fmla="*/ 17 w 81"/>
              <a:gd name="T45" fmla="*/ 66 h 81"/>
              <a:gd name="T46" fmla="*/ 8 w 81"/>
              <a:gd name="T47" fmla="*/ 54 h 81"/>
              <a:gd name="T48" fmla="*/ 5 w 81"/>
              <a:gd name="T49" fmla="*/ 41 h 81"/>
              <a:gd name="T50" fmla="*/ 8 w 81"/>
              <a:gd name="T51" fmla="*/ 26 h 81"/>
              <a:gd name="T52" fmla="*/ 17 w 81"/>
              <a:gd name="T53" fmla="*/ 16 h 81"/>
              <a:gd name="T54" fmla="*/ 27 w 81"/>
              <a:gd name="T55" fmla="*/ 8 h 81"/>
              <a:gd name="T56" fmla="*/ 41 w 81"/>
              <a:gd name="T57" fmla="*/ 5 h 81"/>
              <a:gd name="T58" fmla="*/ 55 w 81"/>
              <a:gd name="T59" fmla="*/ 8 h 81"/>
              <a:gd name="T60" fmla="*/ 66 w 81"/>
              <a:gd name="T61" fmla="*/ 16 h 81"/>
              <a:gd name="T62" fmla="*/ 75 w 81"/>
              <a:gd name="T63" fmla="*/ 26 h 81"/>
              <a:gd name="T64" fmla="*/ 78 w 81"/>
              <a:gd name="T65" fmla="*/ 41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1" h="81">
                <a:moveTo>
                  <a:pt x="81" y="41"/>
                </a:moveTo>
                <a:lnTo>
                  <a:pt x="81" y="33"/>
                </a:lnTo>
                <a:lnTo>
                  <a:pt x="78" y="25"/>
                </a:lnTo>
                <a:lnTo>
                  <a:pt x="75" y="18"/>
                </a:lnTo>
                <a:lnTo>
                  <a:pt x="70" y="13"/>
                </a:lnTo>
                <a:lnTo>
                  <a:pt x="65" y="8"/>
                </a:lnTo>
                <a:lnTo>
                  <a:pt x="56" y="3"/>
                </a:lnTo>
                <a:lnTo>
                  <a:pt x="50" y="1"/>
                </a:lnTo>
                <a:lnTo>
                  <a:pt x="41" y="0"/>
                </a:lnTo>
                <a:lnTo>
                  <a:pt x="33" y="1"/>
                </a:lnTo>
                <a:lnTo>
                  <a:pt x="25" y="3"/>
                </a:lnTo>
                <a:lnTo>
                  <a:pt x="18" y="8"/>
                </a:lnTo>
                <a:lnTo>
                  <a:pt x="12" y="13"/>
                </a:lnTo>
                <a:lnTo>
                  <a:pt x="7" y="18"/>
                </a:lnTo>
                <a:lnTo>
                  <a:pt x="3" y="25"/>
                </a:lnTo>
                <a:lnTo>
                  <a:pt x="2" y="33"/>
                </a:lnTo>
                <a:lnTo>
                  <a:pt x="0" y="41"/>
                </a:lnTo>
                <a:lnTo>
                  <a:pt x="2" y="49"/>
                </a:lnTo>
                <a:lnTo>
                  <a:pt x="3" y="56"/>
                </a:lnTo>
                <a:lnTo>
                  <a:pt x="7" y="64"/>
                </a:lnTo>
                <a:lnTo>
                  <a:pt x="12" y="69"/>
                </a:lnTo>
                <a:lnTo>
                  <a:pt x="18" y="74"/>
                </a:lnTo>
                <a:lnTo>
                  <a:pt x="25" y="79"/>
                </a:lnTo>
                <a:lnTo>
                  <a:pt x="33" y="81"/>
                </a:lnTo>
                <a:lnTo>
                  <a:pt x="41" y="81"/>
                </a:lnTo>
                <a:lnTo>
                  <a:pt x="50" y="81"/>
                </a:lnTo>
                <a:lnTo>
                  <a:pt x="56" y="79"/>
                </a:lnTo>
                <a:lnTo>
                  <a:pt x="65" y="74"/>
                </a:lnTo>
                <a:lnTo>
                  <a:pt x="70" y="69"/>
                </a:lnTo>
                <a:lnTo>
                  <a:pt x="75" y="64"/>
                </a:lnTo>
                <a:lnTo>
                  <a:pt x="78" y="56"/>
                </a:lnTo>
                <a:lnTo>
                  <a:pt x="81" y="49"/>
                </a:lnTo>
                <a:lnTo>
                  <a:pt x="81" y="41"/>
                </a:lnTo>
                <a:close/>
                <a:moveTo>
                  <a:pt x="78" y="41"/>
                </a:moveTo>
                <a:lnTo>
                  <a:pt x="76" y="48"/>
                </a:lnTo>
                <a:lnTo>
                  <a:pt x="75" y="54"/>
                </a:lnTo>
                <a:lnTo>
                  <a:pt x="71" y="61"/>
                </a:lnTo>
                <a:lnTo>
                  <a:pt x="66" y="66"/>
                </a:lnTo>
                <a:lnTo>
                  <a:pt x="61" y="71"/>
                </a:lnTo>
                <a:lnTo>
                  <a:pt x="55" y="74"/>
                </a:lnTo>
                <a:lnTo>
                  <a:pt x="48" y="76"/>
                </a:lnTo>
                <a:lnTo>
                  <a:pt x="41" y="78"/>
                </a:lnTo>
                <a:lnTo>
                  <a:pt x="33" y="76"/>
                </a:lnTo>
                <a:lnTo>
                  <a:pt x="27" y="74"/>
                </a:lnTo>
                <a:lnTo>
                  <a:pt x="22" y="71"/>
                </a:lnTo>
                <a:lnTo>
                  <a:pt x="17" y="66"/>
                </a:lnTo>
                <a:lnTo>
                  <a:pt x="12" y="61"/>
                </a:lnTo>
                <a:lnTo>
                  <a:pt x="8" y="54"/>
                </a:lnTo>
                <a:lnTo>
                  <a:pt x="7" y="48"/>
                </a:lnTo>
                <a:lnTo>
                  <a:pt x="5" y="41"/>
                </a:lnTo>
                <a:lnTo>
                  <a:pt x="7" y="35"/>
                </a:lnTo>
                <a:lnTo>
                  <a:pt x="8" y="26"/>
                </a:lnTo>
                <a:lnTo>
                  <a:pt x="12" y="21"/>
                </a:lnTo>
                <a:lnTo>
                  <a:pt x="17" y="16"/>
                </a:lnTo>
                <a:lnTo>
                  <a:pt x="22" y="11"/>
                </a:lnTo>
                <a:lnTo>
                  <a:pt x="27" y="8"/>
                </a:lnTo>
                <a:lnTo>
                  <a:pt x="33" y="6"/>
                </a:lnTo>
                <a:lnTo>
                  <a:pt x="41" y="5"/>
                </a:lnTo>
                <a:lnTo>
                  <a:pt x="48" y="6"/>
                </a:lnTo>
                <a:lnTo>
                  <a:pt x="55" y="8"/>
                </a:lnTo>
                <a:lnTo>
                  <a:pt x="61" y="11"/>
                </a:lnTo>
                <a:lnTo>
                  <a:pt x="66" y="16"/>
                </a:lnTo>
                <a:lnTo>
                  <a:pt x="71" y="21"/>
                </a:lnTo>
                <a:lnTo>
                  <a:pt x="75" y="26"/>
                </a:lnTo>
                <a:lnTo>
                  <a:pt x="76" y="35"/>
                </a:lnTo>
                <a:lnTo>
                  <a:pt x="78" y="41"/>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02" name="Freeform 1407">
            <a:extLst>
              <a:ext uri="{FF2B5EF4-FFF2-40B4-BE49-F238E27FC236}">
                <a16:creationId xmlns:a16="http://schemas.microsoft.com/office/drawing/2014/main" id="{463A242D-4CAC-2767-37CE-E8CB3A93E311}"/>
              </a:ext>
            </a:extLst>
          </p:cNvPr>
          <p:cNvSpPr>
            <a:spLocks noEditPoints="1"/>
          </p:cNvSpPr>
          <p:nvPr/>
        </p:nvSpPr>
        <p:spPr bwMode="auto">
          <a:xfrm>
            <a:off x="2854325" y="2500313"/>
            <a:ext cx="120650" cy="120650"/>
          </a:xfrm>
          <a:custGeom>
            <a:avLst/>
            <a:gdLst>
              <a:gd name="T0" fmla="*/ 76 w 76"/>
              <a:gd name="T1" fmla="*/ 30 h 76"/>
              <a:gd name="T2" fmla="*/ 70 w 76"/>
              <a:gd name="T3" fmla="*/ 17 h 76"/>
              <a:gd name="T4" fmla="*/ 60 w 76"/>
              <a:gd name="T5" fmla="*/ 7 h 76"/>
              <a:gd name="T6" fmla="*/ 47 w 76"/>
              <a:gd name="T7" fmla="*/ 0 h 76"/>
              <a:gd name="T8" fmla="*/ 30 w 76"/>
              <a:gd name="T9" fmla="*/ 0 h 76"/>
              <a:gd name="T10" fmla="*/ 17 w 76"/>
              <a:gd name="T11" fmla="*/ 7 h 76"/>
              <a:gd name="T12" fmla="*/ 7 w 76"/>
              <a:gd name="T13" fmla="*/ 17 h 76"/>
              <a:gd name="T14" fmla="*/ 0 w 76"/>
              <a:gd name="T15" fmla="*/ 30 h 76"/>
              <a:gd name="T16" fmla="*/ 0 w 76"/>
              <a:gd name="T17" fmla="*/ 46 h 76"/>
              <a:gd name="T18" fmla="*/ 7 w 76"/>
              <a:gd name="T19" fmla="*/ 60 h 76"/>
              <a:gd name="T20" fmla="*/ 17 w 76"/>
              <a:gd name="T21" fmla="*/ 70 h 76"/>
              <a:gd name="T22" fmla="*/ 30 w 76"/>
              <a:gd name="T23" fmla="*/ 76 h 76"/>
              <a:gd name="T24" fmla="*/ 47 w 76"/>
              <a:gd name="T25" fmla="*/ 76 h 76"/>
              <a:gd name="T26" fmla="*/ 60 w 76"/>
              <a:gd name="T27" fmla="*/ 70 h 76"/>
              <a:gd name="T28" fmla="*/ 70 w 76"/>
              <a:gd name="T29" fmla="*/ 60 h 76"/>
              <a:gd name="T30" fmla="*/ 76 w 76"/>
              <a:gd name="T31" fmla="*/ 46 h 76"/>
              <a:gd name="T32" fmla="*/ 72 w 76"/>
              <a:gd name="T33" fmla="*/ 38 h 76"/>
              <a:gd name="T34" fmla="*/ 68 w 76"/>
              <a:gd name="T35" fmla="*/ 51 h 76"/>
              <a:gd name="T36" fmla="*/ 62 w 76"/>
              <a:gd name="T37" fmla="*/ 61 h 76"/>
              <a:gd name="T38" fmla="*/ 52 w 76"/>
              <a:gd name="T39" fmla="*/ 70 h 76"/>
              <a:gd name="T40" fmla="*/ 38 w 76"/>
              <a:gd name="T41" fmla="*/ 71 h 76"/>
              <a:gd name="T42" fmla="*/ 25 w 76"/>
              <a:gd name="T43" fmla="*/ 70 h 76"/>
              <a:gd name="T44" fmla="*/ 15 w 76"/>
              <a:gd name="T45" fmla="*/ 61 h 76"/>
              <a:gd name="T46" fmla="*/ 7 w 76"/>
              <a:gd name="T47" fmla="*/ 51 h 76"/>
              <a:gd name="T48" fmla="*/ 5 w 76"/>
              <a:gd name="T49" fmla="*/ 38 h 76"/>
              <a:gd name="T50" fmla="*/ 7 w 76"/>
              <a:gd name="T51" fmla="*/ 25 h 76"/>
              <a:gd name="T52" fmla="*/ 15 w 76"/>
              <a:gd name="T53" fmla="*/ 15 h 76"/>
              <a:gd name="T54" fmla="*/ 25 w 76"/>
              <a:gd name="T55" fmla="*/ 7 h 76"/>
              <a:gd name="T56" fmla="*/ 38 w 76"/>
              <a:gd name="T57" fmla="*/ 5 h 76"/>
              <a:gd name="T58" fmla="*/ 52 w 76"/>
              <a:gd name="T59" fmla="*/ 7 h 76"/>
              <a:gd name="T60" fmla="*/ 62 w 76"/>
              <a:gd name="T61" fmla="*/ 15 h 76"/>
              <a:gd name="T62" fmla="*/ 68 w 76"/>
              <a:gd name="T63" fmla="*/ 25 h 76"/>
              <a:gd name="T64" fmla="*/ 72 w 76"/>
              <a:gd name="T65" fmla="*/ 38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6" h="76">
                <a:moveTo>
                  <a:pt x="76" y="38"/>
                </a:moveTo>
                <a:lnTo>
                  <a:pt x="76" y="30"/>
                </a:lnTo>
                <a:lnTo>
                  <a:pt x="73" y="23"/>
                </a:lnTo>
                <a:lnTo>
                  <a:pt x="70" y="17"/>
                </a:lnTo>
                <a:lnTo>
                  <a:pt x="65" y="12"/>
                </a:lnTo>
                <a:lnTo>
                  <a:pt x="60" y="7"/>
                </a:lnTo>
                <a:lnTo>
                  <a:pt x="53" y="3"/>
                </a:lnTo>
                <a:lnTo>
                  <a:pt x="47" y="0"/>
                </a:lnTo>
                <a:lnTo>
                  <a:pt x="38" y="0"/>
                </a:lnTo>
                <a:lnTo>
                  <a:pt x="30" y="0"/>
                </a:lnTo>
                <a:lnTo>
                  <a:pt x="24" y="3"/>
                </a:lnTo>
                <a:lnTo>
                  <a:pt x="17" y="7"/>
                </a:lnTo>
                <a:lnTo>
                  <a:pt x="10" y="12"/>
                </a:lnTo>
                <a:lnTo>
                  <a:pt x="7" y="17"/>
                </a:lnTo>
                <a:lnTo>
                  <a:pt x="4" y="23"/>
                </a:lnTo>
                <a:lnTo>
                  <a:pt x="0" y="30"/>
                </a:lnTo>
                <a:lnTo>
                  <a:pt x="0" y="38"/>
                </a:lnTo>
                <a:lnTo>
                  <a:pt x="0" y="46"/>
                </a:lnTo>
                <a:lnTo>
                  <a:pt x="4" y="53"/>
                </a:lnTo>
                <a:lnTo>
                  <a:pt x="7" y="60"/>
                </a:lnTo>
                <a:lnTo>
                  <a:pt x="10" y="65"/>
                </a:lnTo>
                <a:lnTo>
                  <a:pt x="17" y="70"/>
                </a:lnTo>
                <a:lnTo>
                  <a:pt x="24" y="73"/>
                </a:lnTo>
                <a:lnTo>
                  <a:pt x="30" y="76"/>
                </a:lnTo>
                <a:lnTo>
                  <a:pt x="38" y="76"/>
                </a:lnTo>
                <a:lnTo>
                  <a:pt x="47" y="76"/>
                </a:lnTo>
                <a:lnTo>
                  <a:pt x="53" y="73"/>
                </a:lnTo>
                <a:lnTo>
                  <a:pt x="60" y="70"/>
                </a:lnTo>
                <a:lnTo>
                  <a:pt x="65" y="65"/>
                </a:lnTo>
                <a:lnTo>
                  <a:pt x="70" y="60"/>
                </a:lnTo>
                <a:lnTo>
                  <a:pt x="73" y="53"/>
                </a:lnTo>
                <a:lnTo>
                  <a:pt x="76" y="46"/>
                </a:lnTo>
                <a:lnTo>
                  <a:pt x="76" y="38"/>
                </a:lnTo>
                <a:close/>
                <a:moveTo>
                  <a:pt x="72" y="38"/>
                </a:moveTo>
                <a:lnTo>
                  <a:pt x="72" y="45"/>
                </a:lnTo>
                <a:lnTo>
                  <a:pt x="68" y="51"/>
                </a:lnTo>
                <a:lnTo>
                  <a:pt x="67" y="56"/>
                </a:lnTo>
                <a:lnTo>
                  <a:pt x="62" y="61"/>
                </a:lnTo>
                <a:lnTo>
                  <a:pt x="57" y="66"/>
                </a:lnTo>
                <a:lnTo>
                  <a:pt x="52" y="70"/>
                </a:lnTo>
                <a:lnTo>
                  <a:pt x="45" y="71"/>
                </a:lnTo>
                <a:lnTo>
                  <a:pt x="38" y="71"/>
                </a:lnTo>
                <a:lnTo>
                  <a:pt x="32" y="71"/>
                </a:lnTo>
                <a:lnTo>
                  <a:pt x="25" y="70"/>
                </a:lnTo>
                <a:lnTo>
                  <a:pt x="20" y="66"/>
                </a:lnTo>
                <a:lnTo>
                  <a:pt x="15" y="61"/>
                </a:lnTo>
                <a:lnTo>
                  <a:pt x="10" y="56"/>
                </a:lnTo>
                <a:lnTo>
                  <a:pt x="7" y="51"/>
                </a:lnTo>
                <a:lnTo>
                  <a:pt x="5" y="45"/>
                </a:lnTo>
                <a:lnTo>
                  <a:pt x="5" y="38"/>
                </a:lnTo>
                <a:lnTo>
                  <a:pt x="5" y="32"/>
                </a:lnTo>
                <a:lnTo>
                  <a:pt x="7" y="25"/>
                </a:lnTo>
                <a:lnTo>
                  <a:pt x="10" y="20"/>
                </a:lnTo>
                <a:lnTo>
                  <a:pt x="15" y="15"/>
                </a:lnTo>
                <a:lnTo>
                  <a:pt x="20" y="10"/>
                </a:lnTo>
                <a:lnTo>
                  <a:pt x="25" y="7"/>
                </a:lnTo>
                <a:lnTo>
                  <a:pt x="32" y="5"/>
                </a:lnTo>
                <a:lnTo>
                  <a:pt x="38" y="5"/>
                </a:lnTo>
                <a:lnTo>
                  <a:pt x="45" y="5"/>
                </a:lnTo>
                <a:lnTo>
                  <a:pt x="52" y="7"/>
                </a:lnTo>
                <a:lnTo>
                  <a:pt x="57" y="10"/>
                </a:lnTo>
                <a:lnTo>
                  <a:pt x="62" y="15"/>
                </a:lnTo>
                <a:lnTo>
                  <a:pt x="67" y="20"/>
                </a:lnTo>
                <a:lnTo>
                  <a:pt x="68" y="25"/>
                </a:lnTo>
                <a:lnTo>
                  <a:pt x="72" y="32"/>
                </a:lnTo>
                <a:lnTo>
                  <a:pt x="72" y="38"/>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03" name="Freeform 1408">
            <a:extLst>
              <a:ext uri="{FF2B5EF4-FFF2-40B4-BE49-F238E27FC236}">
                <a16:creationId xmlns:a16="http://schemas.microsoft.com/office/drawing/2014/main" id="{EA968DE4-FA91-25CF-68DE-65ED2BE1D28E}"/>
              </a:ext>
            </a:extLst>
          </p:cNvPr>
          <p:cNvSpPr>
            <a:spLocks noEditPoints="1"/>
          </p:cNvSpPr>
          <p:nvPr/>
        </p:nvSpPr>
        <p:spPr bwMode="auto">
          <a:xfrm>
            <a:off x="2857500" y="2503488"/>
            <a:ext cx="115888" cy="115888"/>
          </a:xfrm>
          <a:custGeom>
            <a:avLst/>
            <a:gdLst>
              <a:gd name="T0" fmla="*/ 71 w 73"/>
              <a:gd name="T1" fmla="*/ 30 h 73"/>
              <a:gd name="T2" fmla="*/ 66 w 73"/>
              <a:gd name="T3" fmla="*/ 16 h 73"/>
              <a:gd name="T4" fmla="*/ 56 w 73"/>
              <a:gd name="T5" fmla="*/ 6 h 73"/>
              <a:gd name="T6" fmla="*/ 43 w 73"/>
              <a:gd name="T7" fmla="*/ 1 h 73"/>
              <a:gd name="T8" fmla="*/ 28 w 73"/>
              <a:gd name="T9" fmla="*/ 1 h 73"/>
              <a:gd name="T10" fmla="*/ 17 w 73"/>
              <a:gd name="T11" fmla="*/ 6 h 73"/>
              <a:gd name="T12" fmla="*/ 7 w 73"/>
              <a:gd name="T13" fmla="*/ 16 h 73"/>
              <a:gd name="T14" fmla="*/ 2 w 73"/>
              <a:gd name="T15" fmla="*/ 30 h 73"/>
              <a:gd name="T16" fmla="*/ 2 w 73"/>
              <a:gd name="T17" fmla="*/ 43 h 73"/>
              <a:gd name="T18" fmla="*/ 7 w 73"/>
              <a:gd name="T19" fmla="*/ 56 h 73"/>
              <a:gd name="T20" fmla="*/ 17 w 73"/>
              <a:gd name="T21" fmla="*/ 66 h 73"/>
              <a:gd name="T22" fmla="*/ 28 w 73"/>
              <a:gd name="T23" fmla="*/ 71 h 73"/>
              <a:gd name="T24" fmla="*/ 43 w 73"/>
              <a:gd name="T25" fmla="*/ 71 h 73"/>
              <a:gd name="T26" fmla="*/ 56 w 73"/>
              <a:gd name="T27" fmla="*/ 66 h 73"/>
              <a:gd name="T28" fmla="*/ 66 w 73"/>
              <a:gd name="T29" fmla="*/ 56 h 73"/>
              <a:gd name="T30" fmla="*/ 71 w 73"/>
              <a:gd name="T31" fmla="*/ 43 h 73"/>
              <a:gd name="T32" fmla="*/ 68 w 73"/>
              <a:gd name="T33" fmla="*/ 36 h 73"/>
              <a:gd name="T34" fmla="*/ 65 w 73"/>
              <a:gd name="T35" fmla="*/ 48 h 73"/>
              <a:gd name="T36" fmla="*/ 58 w 73"/>
              <a:gd name="T37" fmla="*/ 58 h 73"/>
              <a:gd name="T38" fmla="*/ 48 w 73"/>
              <a:gd name="T39" fmla="*/ 64 h 73"/>
              <a:gd name="T40" fmla="*/ 36 w 73"/>
              <a:gd name="T41" fmla="*/ 68 h 73"/>
              <a:gd name="T42" fmla="*/ 25 w 73"/>
              <a:gd name="T43" fmla="*/ 64 h 73"/>
              <a:gd name="T44" fmla="*/ 15 w 73"/>
              <a:gd name="T45" fmla="*/ 58 h 73"/>
              <a:gd name="T46" fmla="*/ 8 w 73"/>
              <a:gd name="T47" fmla="*/ 48 h 73"/>
              <a:gd name="T48" fmla="*/ 5 w 73"/>
              <a:gd name="T49" fmla="*/ 36 h 73"/>
              <a:gd name="T50" fmla="*/ 8 w 73"/>
              <a:gd name="T51" fmla="*/ 25 h 73"/>
              <a:gd name="T52" fmla="*/ 15 w 73"/>
              <a:gd name="T53" fmla="*/ 15 h 73"/>
              <a:gd name="T54" fmla="*/ 25 w 73"/>
              <a:gd name="T55" fmla="*/ 8 h 73"/>
              <a:gd name="T56" fmla="*/ 36 w 73"/>
              <a:gd name="T57" fmla="*/ 5 h 73"/>
              <a:gd name="T58" fmla="*/ 48 w 73"/>
              <a:gd name="T59" fmla="*/ 8 h 73"/>
              <a:gd name="T60" fmla="*/ 58 w 73"/>
              <a:gd name="T61" fmla="*/ 15 h 73"/>
              <a:gd name="T62" fmla="*/ 65 w 73"/>
              <a:gd name="T63" fmla="*/ 25 h 73"/>
              <a:gd name="T64" fmla="*/ 68 w 73"/>
              <a:gd name="T65" fmla="*/ 36 h 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3" h="73">
                <a:moveTo>
                  <a:pt x="73" y="36"/>
                </a:moveTo>
                <a:lnTo>
                  <a:pt x="71" y="30"/>
                </a:lnTo>
                <a:lnTo>
                  <a:pt x="70" y="21"/>
                </a:lnTo>
                <a:lnTo>
                  <a:pt x="66" y="16"/>
                </a:lnTo>
                <a:lnTo>
                  <a:pt x="61" y="11"/>
                </a:lnTo>
                <a:lnTo>
                  <a:pt x="56" y="6"/>
                </a:lnTo>
                <a:lnTo>
                  <a:pt x="50" y="3"/>
                </a:lnTo>
                <a:lnTo>
                  <a:pt x="43" y="1"/>
                </a:lnTo>
                <a:lnTo>
                  <a:pt x="36" y="0"/>
                </a:lnTo>
                <a:lnTo>
                  <a:pt x="28" y="1"/>
                </a:lnTo>
                <a:lnTo>
                  <a:pt x="22" y="3"/>
                </a:lnTo>
                <a:lnTo>
                  <a:pt x="17" y="6"/>
                </a:lnTo>
                <a:lnTo>
                  <a:pt x="12" y="11"/>
                </a:lnTo>
                <a:lnTo>
                  <a:pt x="7" y="16"/>
                </a:lnTo>
                <a:lnTo>
                  <a:pt x="3" y="21"/>
                </a:lnTo>
                <a:lnTo>
                  <a:pt x="2" y="30"/>
                </a:lnTo>
                <a:lnTo>
                  <a:pt x="0" y="36"/>
                </a:lnTo>
                <a:lnTo>
                  <a:pt x="2" y="43"/>
                </a:lnTo>
                <a:lnTo>
                  <a:pt x="3" y="49"/>
                </a:lnTo>
                <a:lnTo>
                  <a:pt x="7" y="56"/>
                </a:lnTo>
                <a:lnTo>
                  <a:pt x="12" y="61"/>
                </a:lnTo>
                <a:lnTo>
                  <a:pt x="17" y="66"/>
                </a:lnTo>
                <a:lnTo>
                  <a:pt x="22" y="69"/>
                </a:lnTo>
                <a:lnTo>
                  <a:pt x="28" y="71"/>
                </a:lnTo>
                <a:lnTo>
                  <a:pt x="36" y="73"/>
                </a:lnTo>
                <a:lnTo>
                  <a:pt x="43" y="71"/>
                </a:lnTo>
                <a:lnTo>
                  <a:pt x="50" y="69"/>
                </a:lnTo>
                <a:lnTo>
                  <a:pt x="56" y="66"/>
                </a:lnTo>
                <a:lnTo>
                  <a:pt x="61" y="61"/>
                </a:lnTo>
                <a:lnTo>
                  <a:pt x="66" y="56"/>
                </a:lnTo>
                <a:lnTo>
                  <a:pt x="70" y="49"/>
                </a:lnTo>
                <a:lnTo>
                  <a:pt x="71" y="43"/>
                </a:lnTo>
                <a:lnTo>
                  <a:pt x="73" y="36"/>
                </a:lnTo>
                <a:close/>
                <a:moveTo>
                  <a:pt x="68" y="36"/>
                </a:moveTo>
                <a:lnTo>
                  <a:pt x="66" y="43"/>
                </a:lnTo>
                <a:lnTo>
                  <a:pt x="65" y="48"/>
                </a:lnTo>
                <a:lnTo>
                  <a:pt x="61" y="53"/>
                </a:lnTo>
                <a:lnTo>
                  <a:pt x="58" y="58"/>
                </a:lnTo>
                <a:lnTo>
                  <a:pt x="53" y="61"/>
                </a:lnTo>
                <a:lnTo>
                  <a:pt x="48" y="64"/>
                </a:lnTo>
                <a:lnTo>
                  <a:pt x="43" y="66"/>
                </a:lnTo>
                <a:lnTo>
                  <a:pt x="36" y="68"/>
                </a:lnTo>
                <a:lnTo>
                  <a:pt x="30" y="66"/>
                </a:lnTo>
                <a:lnTo>
                  <a:pt x="25" y="64"/>
                </a:lnTo>
                <a:lnTo>
                  <a:pt x="18" y="61"/>
                </a:lnTo>
                <a:lnTo>
                  <a:pt x="15" y="58"/>
                </a:lnTo>
                <a:lnTo>
                  <a:pt x="10" y="53"/>
                </a:lnTo>
                <a:lnTo>
                  <a:pt x="8" y="48"/>
                </a:lnTo>
                <a:lnTo>
                  <a:pt x="5" y="43"/>
                </a:lnTo>
                <a:lnTo>
                  <a:pt x="5" y="36"/>
                </a:lnTo>
                <a:lnTo>
                  <a:pt x="5" y="30"/>
                </a:lnTo>
                <a:lnTo>
                  <a:pt x="8" y="25"/>
                </a:lnTo>
                <a:lnTo>
                  <a:pt x="10" y="18"/>
                </a:lnTo>
                <a:lnTo>
                  <a:pt x="15" y="15"/>
                </a:lnTo>
                <a:lnTo>
                  <a:pt x="18" y="10"/>
                </a:lnTo>
                <a:lnTo>
                  <a:pt x="25" y="8"/>
                </a:lnTo>
                <a:lnTo>
                  <a:pt x="30" y="5"/>
                </a:lnTo>
                <a:lnTo>
                  <a:pt x="36" y="5"/>
                </a:lnTo>
                <a:lnTo>
                  <a:pt x="43" y="5"/>
                </a:lnTo>
                <a:lnTo>
                  <a:pt x="48" y="8"/>
                </a:lnTo>
                <a:lnTo>
                  <a:pt x="53" y="10"/>
                </a:lnTo>
                <a:lnTo>
                  <a:pt x="58" y="15"/>
                </a:lnTo>
                <a:lnTo>
                  <a:pt x="61" y="18"/>
                </a:lnTo>
                <a:lnTo>
                  <a:pt x="65" y="25"/>
                </a:lnTo>
                <a:lnTo>
                  <a:pt x="66" y="30"/>
                </a:lnTo>
                <a:lnTo>
                  <a:pt x="68" y="36"/>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04" name="Freeform 1409">
            <a:extLst>
              <a:ext uri="{FF2B5EF4-FFF2-40B4-BE49-F238E27FC236}">
                <a16:creationId xmlns:a16="http://schemas.microsoft.com/office/drawing/2014/main" id="{0E2C05A9-1A27-8A32-E48D-6CC9EF9D0E7C}"/>
              </a:ext>
            </a:extLst>
          </p:cNvPr>
          <p:cNvSpPr>
            <a:spLocks noEditPoints="1"/>
          </p:cNvSpPr>
          <p:nvPr/>
        </p:nvSpPr>
        <p:spPr bwMode="auto">
          <a:xfrm>
            <a:off x="2862263" y="2508250"/>
            <a:ext cx="106363" cy="104775"/>
          </a:xfrm>
          <a:custGeom>
            <a:avLst/>
            <a:gdLst>
              <a:gd name="T0" fmla="*/ 67 w 67"/>
              <a:gd name="T1" fmla="*/ 27 h 66"/>
              <a:gd name="T2" fmla="*/ 62 w 67"/>
              <a:gd name="T3" fmla="*/ 15 h 66"/>
              <a:gd name="T4" fmla="*/ 52 w 67"/>
              <a:gd name="T5" fmla="*/ 5 h 66"/>
              <a:gd name="T6" fmla="*/ 40 w 67"/>
              <a:gd name="T7" fmla="*/ 0 h 66"/>
              <a:gd name="T8" fmla="*/ 27 w 67"/>
              <a:gd name="T9" fmla="*/ 0 h 66"/>
              <a:gd name="T10" fmla="*/ 15 w 67"/>
              <a:gd name="T11" fmla="*/ 5 h 66"/>
              <a:gd name="T12" fmla="*/ 5 w 67"/>
              <a:gd name="T13" fmla="*/ 15 h 66"/>
              <a:gd name="T14" fmla="*/ 0 w 67"/>
              <a:gd name="T15" fmla="*/ 27 h 66"/>
              <a:gd name="T16" fmla="*/ 0 w 67"/>
              <a:gd name="T17" fmla="*/ 40 h 66"/>
              <a:gd name="T18" fmla="*/ 5 w 67"/>
              <a:gd name="T19" fmla="*/ 51 h 66"/>
              <a:gd name="T20" fmla="*/ 15 w 67"/>
              <a:gd name="T21" fmla="*/ 61 h 66"/>
              <a:gd name="T22" fmla="*/ 27 w 67"/>
              <a:gd name="T23" fmla="*/ 66 h 66"/>
              <a:gd name="T24" fmla="*/ 40 w 67"/>
              <a:gd name="T25" fmla="*/ 66 h 66"/>
              <a:gd name="T26" fmla="*/ 52 w 67"/>
              <a:gd name="T27" fmla="*/ 61 h 66"/>
              <a:gd name="T28" fmla="*/ 62 w 67"/>
              <a:gd name="T29" fmla="*/ 51 h 66"/>
              <a:gd name="T30" fmla="*/ 67 w 67"/>
              <a:gd name="T31" fmla="*/ 40 h 66"/>
              <a:gd name="T32" fmla="*/ 62 w 67"/>
              <a:gd name="T33" fmla="*/ 33 h 66"/>
              <a:gd name="T34" fmla="*/ 60 w 67"/>
              <a:gd name="T35" fmla="*/ 45 h 66"/>
              <a:gd name="T36" fmla="*/ 53 w 67"/>
              <a:gd name="T37" fmla="*/ 53 h 66"/>
              <a:gd name="T38" fmla="*/ 45 w 67"/>
              <a:gd name="T39" fmla="*/ 60 h 66"/>
              <a:gd name="T40" fmla="*/ 33 w 67"/>
              <a:gd name="T41" fmla="*/ 61 h 66"/>
              <a:gd name="T42" fmla="*/ 22 w 67"/>
              <a:gd name="T43" fmla="*/ 60 h 66"/>
              <a:gd name="T44" fmla="*/ 14 w 67"/>
              <a:gd name="T45" fmla="*/ 53 h 66"/>
              <a:gd name="T46" fmla="*/ 7 w 67"/>
              <a:gd name="T47" fmla="*/ 45 h 66"/>
              <a:gd name="T48" fmla="*/ 4 w 67"/>
              <a:gd name="T49" fmla="*/ 33 h 66"/>
              <a:gd name="T50" fmla="*/ 7 w 67"/>
              <a:gd name="T51" fmla="*/ 22 h 66"/>
              <a:gd name="T52" fmla="*/ 14 w 67"/>
              <a:gd name="T53" fmla="*/ 13 h 66"/>
              <a:gd name="T54" fmla="*/ 22 w 67"/>
              <a:gd name="T55" fmla="*/ 7 h 66"/>
              <a:gd name="T56" fmla="*/ 33 w 67"/>
              <a:gd name="T57" fmla="*/ 5 h 66"/>
              <a:gd name="T58" fmla="*/ 45 w 67"/>
              <a:gd name="T59" fmla="*/ 7 h 66"/>
              <a:gd name="T60" fmla="*/ 53 w 67"/>
              <a:gd name="T61" fmla="*/ 13 h 66"/>
              <a:gd name="T62" fmla="*/ 60 w 67"/>
              <a:gd name="T63" fmla="*/ 22 h 66"/>
              <a:gd name="T64" fmla="*/ 62 w 67"/>
              <a:gd name="T65" fmla="*/ 3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 h="66">
                <a:moveTo>
                  <a:pt x="67" y="33"/>
                </a:moveTo>
                <a:lnTo>
                  <a:pt x="67" y="27"/>
                </a:lnTo>
                <a:lnTo>
                  <a:pt x="63" y="20"/>
                </a:lnTo>
                <a:lnTo>
                  <a:pt x="62" y="15"/>
                </a:lnTo>
                <a:lnTo>
                  <a:pt x="57" y="10"/>
                </a:lnTo>
                <a:lnTo>
                  <a:pt x="52" y="5"/>
                </a:lnTo>
                <a:lnTo>
                  <a:pt x="47" y="2"/>
                </a:lnTo>
                <a:lnTo>
                  <a:pt x="40" y="0"/>
                </a:lnTo>
                <a:lnTo>
                  <a:pt x="33" y="0"/>
                </a:lnTo>
                <a:lnTo>
                  <a:pt x="27" y="0"/>
                </a:lnTo>
                <a:lnTo>
                  <a:pt x="20" y="2"/>
                </a:lnTo>
                <a:lnTo>
                  <a:pt x="15" y="5"/>
                </a:lnTo>
                <a:lnTo>
                  <a:pt x="10" y="10"/>
                </a:lnTo>
                <a:lnTo>
                  <a:pt x="5" y="15"/>
                </a:lnTo>
                <a:lnTo>
                  <a:pt x="2" y="20"/>
                </a:lnTo>
                <a:lnTo>
                  <a:pt x="0" y="27"/>
                </a:lnTo>
                <a:lnTo>
                  <a:pt x="0" y="33"/>
                </a:lnTo>
                <a:lnTo>
                  <a:pt x="0" y="40"/>
                </a:lnTo>
                <a:lnTo>
                  <a:pt x="2" y="46"/>
                </a:lnTo>
                <a:lnTo>
                  <a:pt x="5" y="51"/>
                </a:lnTo>
                <a:lnTo>
                  <a:pt x="10" y="56"/>
                </a:lnTo>
                <a:lnTo>
                  <a:pt x="15" y="61"/>
                </a:lnTo>
                <a:lnTo>
                  <a:pt x="20" y="65"/>
                </a:lnTo>
                <a:lnTo>
                  <a:pt x="27" y="66"/>
                </a:lnTo>
                <a:lnTo>
                  <a:pt x="33" y="66"/>
                </a:lnTo>
                <a:lnTo>
                  <a:pt x="40" y="66"/>
                </a:lnTo>
                <a:lnTo>
                  <a:pt x="47" y="65"/>
                </a:lnTo>
                <a:lnTo>
                  <a:pt x="52" y="61"/>
                </a:lnTo>
                <a:lnTo>
                  <a:pt x="57" y="56"/>
                </a:lnTo>
                <a:lnTo>
                  <a:pt x="62" y="51"/>
                </a:lnTo>
                <a:lnTo>
                  <a:pt x="63" y="46"/>
                </a:lnTo>
                <a:lnTo>
                  <a:pt x="67" y="40"/>
                </a:lnTo>
                <a:lnTo>
                  <a:pt x="67" y="33"/>
                </a:lnTo>
                <a:close/>
                <a:moveTo>
                  <a:pt x="62" y="33"/>
                </a:moveTo>
                <a:lnTo>
                  <a:pt x="62" y="38"/>
                </a:lnTo>
                <a:lnTo>
                  <a:pt x="60" y="45"/>
                </a:lnTo>
                <a:lnTo>
                  <a:pt x="57" y="50"/>
                </a:lnTo>
                <a:lnTo>
                  <a:pt x="53" y="53"/>
                </a:lnTo>
                <a:lnTo>
                  <a:pt x="50" y="56"/>
                </a:lnTo>
                <a:lnTo>
                  <a:pt x="45" y="60"/>
                </a:lnTo>
                <a:lnTo>
                  <a:pt x="38" y="61"/>
                </a:lnTo>
                <a:lnTo>
                  <a:pt x="33" y="61"/>
                </a:lnTo>
                <a:lnTo>
                  <a:pt x="27" y="61"/>
                </a:lnTo>
                <a:lnTo>
                  <a:pt x="22" y="60"/>
                </a:lnTo>
                <a:lnTo>
                  <a:pt x="17" y="56"/>
                </a:lnTo>
                <a:lnTo>
                  <a:pt x="14" y="53"/>
                </a:lnTo>
                <a:lnTo>
                  <a:pt x="9" y="50"/>
                </a:lnTo>
                <a:lnTo>
                  <a:pt x="7" y="45"/>
                </a:lnTo>
                <a:lnTo>
                  <a:pt x="5" y="38"/>
                </a:lnTo>
                <a:lnTo>
                  <a:pt x="4" y="33"/>
                </a:lnTo>
                <a:lnTo>
                  <a:pt x="5" y="27"/>
                </a:lnTo>
                <a:lnTo>
                  <a:pt x="7" y="22"/>
                </a:lnTo>
                <a:lnTo>
                  <a:pt x="9" y="17"/>
                </a:lnTo>
                <a:lnTo>
                  <a:pt x="14" y="13"/>
                </a:lnTo>
                <a:lnTo>
                  <a:pt x="17" y="10"/>
                </a:lnTo>
                <a:lnTo>
                  <a:pt x="22" y="7"/>
                </a:lnTo>
                <a:lnTo>
                  <a:pt x="27" y="5"/>
                </a:lnTo>
                <a:lnTo>
                  <a:pt x="33" y="5"/>
                </a:lnTo>
                <a:lnTo>
                  <a:pt x="38" y="5"/>
                </a:lnTo>
                <a:lnTo>
                  <a:pt x="45" y="7"/>
                </a:lnTo>
                <a:lnTo>
                  <a:pt x="50" y="10"/>
                </a:lnTo>
                <a:lnTo>
                  <a:pt x="53" y="13"/>
                </a:lnTo>
                <a:lnTo>
                  <a:pt x="57" y="17"/>
                </a:lnTo>
                <a:lnTo>
                  <a:pt x="60" y="22"/>
                </a:lnTo>
                <a:lnTo>
                  <a:pt x="62" y="27"/>
                </a:lnTo>
                <a:lnTo>
                  <a:pt x="62" y="33"/>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05" name="Freeform 1410">
            <a:extLst>
              <a:ext uri="{FF2B5EF4-FFF2-40B4-BE49-F238E27FC236}">
                <a16:creationId xmlns:a16="http://schemas.microsoft.com/office/drawing/2014/main" id="{AF840762-BAA9-FB97-6063-D7303427F5BD}"/>
              </a:ext>
            </a:extLst>
          </p:cNvPr>
          <p:cNvSpPr>
            <a:spLocks noEditPoints="1"/>
          </p:cNvSpPr>
          <p:nvPr/>
        </p:nvSpPr>
        <p:spPr bwMode="auto">
          <a:xfrm>
            <a:off x="2865438" y="2511425"/>
            <a:ext cx="100013" cy="100013"/>
          </a:xfrm>
          <a:custGeom>
            <a:avLst/>
            <a:gdLst>
              <a:gd name="T0" fmla="*/ 61 w 63"/>
              <a:gd name="T1" fmla="*/ 25 h 63"/>
              <a:gd name="T2" fmla="*/ 56 w 63"/>
              <a:gd name="T3" fmla="*/ 13 h 63"/>
              <a:gd name="T4" fmla="*/ 48 w 63"/>
              <a:gd name="T5" fmla="*/ 5 h 63"/>
              <a:gd name="T6" fmla="*/ 38 w 63"/>
              <a:gd name="T7" fmla="*/ 0 h 63"/>
              <a:gd name="T8" fmla="*/ 25 w 63"/>
              <a:gd name="T9" fmla="*/ 0 h 63"/>
              <a:gd name="T10" fmla="*/ 13 w 63"/>
              <a:gd name="T11" fmla="*/ 5 h 63"/>
              <a:gd name="T12" fmla="*/ 5 w 63"/>
              <a:gd name="T13" fmla="*/ 13 h 63"/>
              <a:gd name="T14" fmla="*/ 0 w 63"/>
              <a:gd name="T15" fmla="*/ 25 h 63"/>
              <a:gd name="T16" fmla="*/ 0 w 63"/>
              <a:gd name="T17" fmla="*/ 38 h 63"/>
              <a:gd name="T18" fmla="*/ 5 w 63"/>
              <a:gd name="T19" fmla="*/ 48 h 63"/>
              <a:gd name="T20" fmla="*/ 13 w 63"/>
              <a:gd name="T21" fmla="*/ 56 h 63"/>
              <a:gd name="T22" fmla="*/ 25 w 63"/>
              <a:gd name="T23" fmla="*/ 61 h 63"/>
              <a:gd name="T24" fmla="*/ 38 w 63"/>
              <a:gd name="T25" fmla="*/ 61 h 63"/>
              <a:gd name="T26" fmla="*/ 48 w 63"/>
              <a:gd name="T27" fmla="*/ 56 h 63"/>
              <a:gd name="T28" fmla="*/ 56 w 63"/>
              <a:gd name="T29" fmla="*/ 48 h 63"/>
              <a:gd name="T30" fmla="*/ 61 w 63"/>
              <a:gd name="T31" fmla="*/ 38 h 63"/>
              <a:gd name="T32" fmla="*/ 58 w 63"/>
              <a:gd name="T33" fmla="*/ 31 h 63"/>
              <a:gd name="T34" fmla="*/ 55 w 63"/>
              <a:gd name="T35" fmla="*/ 41 h 63"/>
              <a:gd name="T36" fmla="*/ 50 w 63"/>
              <a:gd name="T37" fmla="*/ 49 h 63"/>
              <a:gd name="T38" fmla="*/ 41 w 63"/>
              <a:gd name="T39" fmla="*/ 56 h 63"/>
              <a:gd name="T40" fmla="*/ 31 w 63"/>
              <a:gd name="T41" fmla="*/ 58 h 63"/>
              <a:gd name="T42" fmla="*/ 21 w 63"/>
              <a:gd name="T43" fmla="*/ 56 h 63"/>
              <a:gd name="T44" fmla="*/ 13 w 63"/>
              <a:gd name="T45" fmla="*/ 49 h 63"/>
              <a:gd name="T46" fmla="*/ 7 w 63"/>
              <a:gd name="T47" fmla="*/ 41 h 63"/>
              <a:gd name="T48" fmla="*/ 5 w 63"/>
              <a:gd name="T49" fmla="*/ 31 h 63"/>
              <a:gd name="T50" fmla="*/ 7 w 63"/>
              <a:gd name="T51" fmla="*/ 21 h 63"/>
              <a:gd name="T52" fmla="*/ 13 w 63"/>
              <a:gd name="T53" fmla="*/ 13 h 63"/>
              <a:gd name="T54" fmla="*/ 21 w 63"/>
              <a:gd name="T55" fmla="*/ 6 h 63"/>
              <a:gd name="T56" fmla="*/ 31 w 63"/>
              <a:gd name="T57" fmla="*/ 5 h 63"/>
              <a:gd name="T58" fmla="*/ 41 w 63"/>
              <a:gd name="T59" fmla="*/ 6 h 63"/>
              <a:gd name="T60" fmla="*/ 50 w 63"/>
              <a:gd name="T61" fmla="*/ 13 h 63"/>
              <a:gd name="T62" fmla="*/ 55 w 63"/>
              <a:gd name="T63" fmla="*/ 21 h 63"/>
              <a:gd name="T64" fmla="*/ 58 w 63"/>
              <a:gd name="T65" fmla="*/ 31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3" h="63">
                <a:moveTo>
                  <a:pt x="63" y="31"/>
                </a:moveTo>
                <a:lnTo>
                  <a:pt x="61" y="25"/>
                </a:lnTo>
                <a:lnTo>
                  <a:pt x="60" y="20"/>
                </a:lnTo>
                <a:lnTo>
                  <a:pt x="56" y="13"/>
                </a:lnTo>
                <a:lnTo>
                  <a:pt x="53" y="10"/>
                </a:lnTo>
                <a:lnTo>
                  <a:pt x="48" y="5"/>
                </a:lnTo>
                <a:lnTo>
                  <a:pt x="43" y="3"/>
                </a:lnTo>
                <a:lnTo>
                  <a:pt x="38" y="0"/>
                </a:lnTo>
                <a:lnTo>
                  <a:pt x="31" y="0"/>
                </a:lnTo>
                <a:lnTo>
                  <a:pt x="25" y="0"/>
                </a:lnTo>
                <a:lnTo>
                  <a:pt x="20" y="3"/>
                </a:lnTo>
                <a:lnTo>
                  <a:pt x="13" y="5"/>
                </a:lnTo>
                <a:lnTo>
                  <a:pt x="10" y="10"/>
                </a:lnTo>
                <a:lnTo>
                  <a:pt x="5" y="13"/>
                </a:lnTo>
                <a:lnTo>
                  <a:pt x="3" y="20"/>
                </a:lnTo>
                <a:lnTo>
                  <a:pt x="0" y="25"/>
                </a:lnTo>
                <a:lnTo>
                  <a:pt x="0" y="31"/>
                </a:lnTo>
                <a:lnTo>
                  <a:pt x="0" y="38"/>
                </a:lnTo>
                <a:lnTo>
                  <a:pt x="3" y="43"/>
                </a:lnTo>
                <a:lnTo>
                  <a:pt x="5" y="48"/>
                </a:lnTo>
                <a:lnTo>
                  <a:pt x="10" y="53"/>
                </a:lnTo>
                <a:lnTo>
                  <a:pt x="13" y="56"/>
                </a:lnTo>
                <a:lnTo>
                  <a:pt x="20" y="59"/>
                </a:lnTo>
                <a:lnTo>
                  <a:pt x="25" y="61"/>
                </a:lnTo>
                <a:lnTo>
                  <a:pt x="31" y="63"/>
                </a:lnTo>
                <a:lnTo>
                  <a:pt x="38" y="61"/>
                </a:lnTo>
                <a:lnTo>
                  <a:pt x="43" y="59"/>
                </a:lnTo>
                <a:lnTo>
                  <a:pt x="48" y="56"/>
                </a:lnTo>
                <a:lnTo>
                  <a:pt x="53" y="53"/>
                </a:lnTo>
                <a:lnTo>
                  <a:pt x="56" y="48"/>
                </a:lnTo>
                <a:lnTo>
                  <a:pt x="60" y="43"/>
                </a:lnTo>
                <a:lnTo>
                  <a:pt x="61" y="38"/>
                </a:lnTo>
                <a:lnTo>
                  <a:pt x="63" y="31"/>
                </a:lnTo>
                <a:close/>
                <a:moveTo>
                  <a:pt x="58" y="31"/>
                </a:moveTo>
                <a:lnTo>
                  <a:pt x="56" y="36"/>
                </a:lnTo>
                <a:lnTo>
                  <a:pt x="55" y="41"/>
                </a:lnTo>
                <a:lnTo>
                  <a:pt x="53" y="46"/>
                </a:lnTo>
                <a:lnTo>
                  <a:pt x="50" y="49"/>
                </a:lnTo>
                <a:lnTo>
                  <a:pt x="46" y="53"/>
                </a:lnTo>
                <a:lnTo>
                  <a:pt x="41" y="56"/>
                </a:lnTo>
                <a:lnTo>
                  <a:pt x="36" y="56"/>
                </a:lnTo>
                <a:lnTo>
                  <a:pt x="31" y="58"/>
                </a:lnTo>
                <a:lnTo>
                  <a:pt x="26" y="56"/>
                </a:lnTo>
                <a:lnTo>
                  <a:pt x="21" y="56"/>
                </a:lnTo>
                <a:lnTo>
                  <a:pt x="17" y="53"/>
                </a:lnTo>
                <a:lnTo>
                  <a:pt x="13" y="49"/>
                </a:lnTo>
                <a:lnTo>
                  <a:pt x="10" y="46"/>
                </a:lnTo>
                <a:lnTo>
                  <a:pt x="7" y="41"/>
                </a:lnTo>
                <a:lnTo>
                  <a:pt x="5" y="36"/>
                </a:lnTo>
                <a:lnTo>
                  <a:pt x="5" y="31"/>
                </a:lnTo>
                <a:lnTo>
                  <a:pt x="5" y="26"/>
                </a:lnTo>
                <a:lnTo>
                  <a:pt x="7" y="21"/>
                </a:lnTo>
                <a:lnTo>
                  <a:pt x="10" y="16"/>
                </a:lnTo>
                <a:lnTo>
                  <a:pt x="13" y="13"/>
                </a:lnTo>
                <a:lnTo>
                  <a:pt x="17" y="10"/>
                </a:lnTo>
                <a:lnTo>
                  <a:pt x="21" y="6"/>
                </a:lnTo>
                <a:lnTo>
                  <a:pt x="26" y="5"/>
                </a:lnTo>
                <a:lnTo>
                  <a:pt x="31" y="5"/>
                </a:lnTo>
                <a:lnTo>
                  <a:pt x="36" y="5"/>
                </a:lnTo>
                <a:lnTo>
                  <a:pt x="41" y="6"/>
                </a:lnTo>
                <a:lnTo>
                  <a:pt x="46" y="10"/>
                </a:lnTo>
                <a:lnTo>
                  <a:pt x="50" y="13"/>
                </a:lnTo>
                <a:lnTo>
                  <a:pt x="53" y="16"/>
                </a:lnTo>
                <a:lnTo>
                  <a:pt x="55" y="21"/>
                </a:lnTo>
                <a:lnTo>
                  <a:pt x="56" y="26"/>
                </a:lnTo>
                <a:lnTo>
                  <a:pt x="58" y="31"/>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06" name="Freeform 1411">
            <a:extLst>
              <a:ext uri="{FF2B5EF4-FFF2-40B4-BE49-F238E27FC236}">
                <a16:creationId xmlns:a16="http://schemas.microsoft.com/office/drawing/2014/main" id="{A62AA3F9-62C7-3FE8-3DE7-AA8D00484DE2}"/>
              </a:ext>
            </a:extLst>
          </p:cNvPr>
          <p:cNvSpPr>
            <a:spLocks noEditPoints="1"/>
          </p:cNvSpPr>
          <p:nvPr/>
        </p:nvSpPr>
        <p:spPr bwMode="auto">
          <a:xfrm>
            <a:off x="2868613" y="2516188"/>
            <a:ext cx="92075" cy="88900"/>
          </a:xfrm>
          <a:custGeom>
            <a:avLst/>
            <a:gdLst>
              <a:gd name="T0" fmla="*/ 58 w 58"/>
              <a:gd name="T1" fmla="*/ 22 h 56"/>
              <a:gd name="T2" fmla="*/ 53 w 58"/>
              <a:gd name="T3" fmla="*/ 12 h 56"/>
              <a:gd name="T4" fmla="*/ 46 w 58"/>
              <a:gd name="T5" fmla="*/ 5 h 56"/>
              <a:gd name="T6" fmla="*/ 34 w 58"/>
              <a:gd name="T7" fmla="*/ 0 h 56"/>
              <a:gd name="T8" fmla="*/ 23 w 58"/>
              <a:gd name="T9" fmla="*/ 0 h 56"/>
              <a:gd name="T10" fmla="*/ 13 w 58"/>
              <a:gd name="T11" fmla="*/ 5 h 56"/>
              <a:gd name="T12" fmla="*/ 5 w 58"/>
              <a:gd name="T13" fmla="*/ 12 h 56"/>
              <a:gd name="T14" fmla="*/ 1 w 58"/>
              <a:gd name="T15" fmla="*/ 22 h 56"/>
              <a:gd name="T16" fmla="*/ 1 w 58"/>
              <a:gd name="T17" fmla="*/ 33 h 56"/>
              <a:gd name="T18" fmla="*/ 5 w 58"/>
              <a:gd name="T19" fmla="*/ 45 h 56"/>
              <a:gd name="T20" fmla="*/ 13 w 58"/>
              <a:gd name="T21" fmla="*/ 51 h 56"/>
              <a:gd name="T22" fmla="*/ 23 w 58"/>
              <a:gd name="T23" fmla="*/ 56 h 56"/>
              <a:gd name="T24" fmla="*/ 34 w 58"/>
              <a:gd name="T25" fmla="*/ 56 h 56"/>
              <a:gd name="T26" fmla="*/ 46 w 58"/>
              <a:gd name="T27" fmla="*/ 51 h 56"/>
              <a:gd name="T28" fmla="*/ 53 w 58"/>
              <a:gd name="T29" fmla="*/ 45 h 56"/>
              <a:gd name="T30" fmla="*/ 58 w 58"/>
              <a:gd name="T31" fmla="*/ 33 h 56"/>
              <a:gd name="T32" fmla="*/ 53 w 58"/>
              <a:gd name="T33" fmla="*/ 28 h 56"/>
              <a:gd name="T34" fmla="*/ 51 w 58"/>
              <a:gd name="T35" fmla="*/ 38 h 56"/>
              <a:gd name="T36" fmla="*/ 46 w 58"/>
              <a:gd name="T37" fmla="*/ 45 h 56"/>
              <a:gd name="T38" fmla="*/ 38 w 58"/>
              <a:gd name="T39" fmla="*/ 50 h 56"/>
              <a:gd name="T40" fmla="*/ 29 w 58"/>
              <a:gd name="T41" fmla="*/ 51 h 56"/>
              <a:gd name="T42" fmla="*/ 19 w 58"/>
              <a:gd name="T43" fmla="*/ 50 h 56"/>
              <a:gd name="T44" fmla="*/ 13 w 58"/>
              <a:gd name="T45" fmla="*/ 45 h 56"/>
              <a:gd name="T46" fmla="*/ 8 w 58"/>
              <a:gd name="T47" fmla="*/ 38 h 56"/>
              <a:gd name="T48" fmla="*/ 5 w 58"/>
              <a:gd name="T49" fmla="*/ 28 h 56"/>
              <a:gd name="T50" fmla="*/ 8 w 58"/>
              <a:gd name="T51" fmla="*/ 18 h 56"/>
              <a:gd name="T52" fmla="*/ 13 w 58"/>
              <a:gd name="T53" fmla="*/ 12 h 56"/>
              <a:gd name="T54" fmla="*/ 19 w 58"/>
              <a:gd name="T55" fmla="*/ 7 h 56"/>
              <a:gd name="T56" fmla="*/ 29 w 58"/>
              <a:gd name="T57" fmla="*/ 3 h 56"/>
              <a:gd name="T58" fmla="*/ 38 w 58"/>
              <a:gd name="T59" fmla="*/ 7 h 56"/>
              <a:gd name="T60" fmla="*/ 46 w 58"/>
              <a:gd name="T61" fmla="*/ 12 h 56"/>
              <a:gd name="T62" fmla="*/ 51 w 58"/>
              <a:gd name="T63" fmla="*/ 18 h 56"/>
              <a:gd name="T64" fmla="*/ 53 w 58"/>
              <a:gd name="T65" fmla="*/ 28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8" h="56">
                <a:moveTo>
                  <a:pt x="58" y="28"/>
                </a:moveTo>
                <a:lnTo>
                  <a:pt x="58" y="22"/>
                </a:lnTo>
                <a:lnTo>
                  <a:pt x="56" y="17"/>
                </a:lnTo>
                <a:lnTo>
                  <a:pt x="53" y="12"/>
                </a:lnTo>
                <a:lnTo>
                  <a:pt x="49" y="8"/>
                </a:lnTo>
                <a:lnTo>
                  <a:pt x="46" y="5"/>
                </a:lnTo>
                <a:lnTo>
                  <a:pt x="41" y="2"/>
                </a:lnTo>
                <a:lnTo>
                  <a:pt x="34" y="0"/>
                </a:lnTo>
                <a:lnTo>
                  <a:pt x="29" y="0"/>
                </a:lnTo>
                <a:lnTo>
                  <a:pt x="23" y="0"/>
                </a:lnTo>
                <a:lnTo>
                  <a:pt x="18" y="2"/>
                </a:lnTo>
                <a:lnTo>
                  <a:pt x="13" y="5"/>
                </a:lnTo>
                <a:lnTo>
                  <a:pt x="10" y="8"/>
                </a:lnTo>
                <a:lnTo>
                  <a:pt x="5" y="12"/>
                </a:lnTo>
                <a:lnTo>
                  <a:pt x="3" y="17"/>
                </a:lnTo>
                <a:lnTo>
                  <a:pt x="1" y="22"/>
                </a:lnTo>
                <a:lnTo>
                  <a:pt x="0" y="28"/>
                </a:lnTo>
                <a:lnTo>
                  <a:pt x="1" y="33"/>
                </a:lnTo>
                <a:lnTo>
                  <a:pt x="3" y="40"/>
                </a:lnTo>
                <a:lnTo>
                  <a:pt x="5" y="45"/>
                </a:lnTo>
                <a:lnTo>
                  <a:pt x="10" y="48"/>
                </a:lnTo>
                <a:lnTo>
                  <a:pt x="13" y="51"/>
                </a:lnTo>
                <a:lnTo>
                  <a:pt x="18" y="55"/>
                </a:lnTo>
                <a:lnTo>
                  <a:pt x="23" y="56"/>
                </a:lnTo>
                <a:lnTo>
                  <a:pt x="29" y="56"/>
                </a:lnTo>
                <a:lnTo>
                  <a:pt x="34" y="56"/>
                </a:lnTo>
                <a:lnTo>
                  <a:pt x="41" y="55"/>
                </a:lnTo>
                <a:lnTo>
                  <a:pt x="46" y="51"/>
                </a:lnTo>
                <a:lnTo>
                  <a:pt x="49" y="48"/>
                </a:lnTo>
                <a:lnTo>
                  <a:pt x="53" y="45"/>
                </a:lnTo>
                <a:lnTo>
                  <a:pt x="56" y="40"/>
                </a:lnTo>
                <a:lnTo>
                  <a:pt x="58" y="33"/>
                </a:lnTo>
                <a:lnTo>
                  <a:pt x="58" y="28"/>
                </a:lnTo>
                <a:close/>
                <a:moveTo>
                  <a:pt x="53" y="28"/>
                </a:moveTo>
                <a:lnTo>
                  <a:pt x="53" y="33"/>
                </a:lnTo>
                <a:lnTo>
                  <a:pt x="51" y="38"/>
                </a:lnTo>
                <a:lnTo>
                  <a:pt x="49" y="41"/>
                </a:lnTo>
                <a:lnTo>
                  <a:pt x="46" y="45"/>
                </a:lnTo>
                <a:lnTo>
                  <a:pt x="43" y="48"/>
                </a:lnTo>
                <a:lnTo>
                  <a:pt x="38" y="50"/>
                </a:lnTo>
                <a:lnTo>
                  <a:pt x="34" y="51"/>
                </a:lnTo>
                <a:lnTo>
                  <a:pt x="29" y="51"/>
                </a:lnTo>
                <a:lnTo>
                  <a:pt x="24" y="51"/>
                </a:lnTo>
                <a:lnTo>
                  <a:pt x="19" y="50"/>
                </a:lnTo>
                <a:lnTo>
                  <a:pt x="16" y="48"/>
                </a:lnTo>
                <a:lnTo>
                  <a:pt x="13" y="45"/>
                </a:lnTo>
                <a:lnTo>
                  <a:pt x="10" y="41"/>
                </a:lnTo>
                <a:lnTo>
                  <a:pt x="8" y="38"/>
                </a:lnTo>
                <a:lnTo>
                  <a:pt x="6" y="33"/>
                </a:lnTo>
                <a:lnTo>
                  <a:pt x="5" y="28"/>
                </a:lnTo>
                <a:lnTo>
                  <a:pt x="6" y="23"/>
                </a:lnTo>
                <a:lnTo>
                  <a:pt x="8" y="18"/>
                </a:lnTo>
                <a:lnTo>
                  <a:pt x="10" y="15"/>
                </a:lnTo>
                <a:lnTo>
                  <a:pt x="13" y="12"/>
                </a:lnTo>
                <a:lnTo>
                  <a:pt x="16" y="8"/>
                </a:lnTo>
                <a:lnTo>
                  <a:pt x="19" y="7"/>
                </a:lnTo>
                <a:lnTo>
                  <a:pt x="24" y="5"/>
                </a:lnTo>
                <a:lnTo>
                  <a:pt x="29" y="3"/>
                </a:lnTo>
                <a:lnTo>
                  <a:pt x="34" y="5"/>
                </a:lnTo>
                <a:lnTo>
                  <a:pt x="38" y="7"/>
                </a:lnTo>
                <a:lnTo>
                  <a:pt x="43" y="8"/>
                </a:lnTo>
                <a:lnTo>
                  <a:pt x="46" y="12"/>
                </a:lnTo>
                <a:lnTo>
                  <a:pt x="49" y="15"/>
                </a:lnTo>
                <a:lnTo>
                  <a:pt x="51" y="18"/>
                </a:lnTo>
                <a:lnTo>
                  <a:pt x="53" y="23"/>
                </a:lnTo>
                <a:lnTo>
                  <a:pt x="53" y="28"/>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07" name="Freeform 1412">
            <a:extLst>
              <a:ext uri="{FF2B5EF4-FFF2-40B4-BE49-F238E27FC236}">
                <a16:creationId xmlns:a16="http://schemas.microsoft.com/office/drawing/2014/main" id="{11B38E45-7571-9C61-2146-AE2B247AC26F}"/>
              </a:ext>
            </a:extLst>
          </p:cNvPr>
          <p:cNvSpPr>
            <a:spLocks noEditPoints="1"/>
          </p:cNvSpPr>
          <p:nvPr/>
        </p:nvSpPr>
        <p:spPr bwMode="auto">
          <a:xfrm>
            <a:off x="2873375" y="2519363"/>
            <a:ext cx="84138" cy="84138"/>
          </a:xfrm>
          <a:custGeom>
            <a:avLst/>
            <a:gdLst>
              <a:gd name="T0" fmla="*/ 51 w 53"/>
              <a:gd name="T1" fmla="*/ 21 h 53"/>
              <a:gd name="T2" fmla="*/ 48 w 53"/>
              <a:gd name="T3" fmla="*/ 11 h 53"/>
              <a:gd name="T4" fmla="*/ 41 w 53"/>
              <a:gd name="T5" fmla="*/ 5 h 53"/>
              <a:gd name="T6" fmla="*/ 31 w 53"/>
              <a:gd name="T7" fmla="*/ 0 h 53"/>
              <a:gd name="T8" fmla="*/ 21 w 53"/>
              <a:gd name="T9" fmla="*/ 0 h 53"/>
              <a:gd name="T10" fmla="*/ 12 w 53"/>
              <a:gd name="T11" fmla="*/ 5 h 53"/>
              <a:gd name="T12" fmla="*/ 5 w 53"/>
              <a:gd name="T13" fmla="*/ 11 h 53"/>
              <a:gd name="T14" fmla="*/ 0 w 53"/>
              <a:gd name="T15" fmla="*/ 21 h 53"/>
              <a:gd name="T16" fmla="*/ 0 w 53"/>
              <a:gd name="T17" fmla="*/ 31 h 53"/>
              <a:gd name="T18" fmla="*/ 5 w 53"/>
              <a:gd name="T19" fmla="*/ 41 h 53"/>
              <a:gd name="T20" fmla="*/ 12 w 53"/>
              <a:gd name="T21" fmla="*/ 48 h 53"/>
              <a:gd name="T22" fmla="*/ 21 w 53"/>
              <a:gd name="T23" fmla="*/ 51 h 53"/>
              <a:gd name="T24" fmla="*/ 31 w 53"/>
              <a:gd name="T25" fmla="*/ 51 h 53"/>
              <a:gd name="T26" fmla="*/ 41 w 53"/>
              <a:gd name="T27" fmla="*/ 48 h 53"/>
              <a:gd name="T28" fmla="*/ 48 w 53"/>
              <a:gd name="T29" fmla="*/ 41 h 53"/>
              <a:gd name="T30" fmla="*/ 51 w 53"/>
              <a:gd name="T31" fmla="*/ 31 h 53"/>
              <a:gd name="T32" fmla="*/ 48 w 53"/>
              <a:gd name="T33" fmla="*/ 26 h 53"/>
              <a:gd name="T34" fmla="*/ 46 w 53"/>
              <a:gd name="T35" fmla="*/ 34 h 53"/>
              <a:gd name="T36" fmla="*/ 41 w 53"/>
              <a:gd name="T37" fmla="*/ 41 h 53"/>
              <a:gd name="T38" fmla="*/ 35 w 53"/>
              <a:gd name="T39" fmla="*/ 46 h 53"/>
              <a:gd name="T40" fmla="*/ 26 w 53"/>
              <a:gd name="T41" fmla="*/ 48 h 53"/>
              <a:gd name="T42" fmla="*/ 18 w 53"/>
              <a:gd name="T43" fmla="*/ 46 h 53"/>
              <a:gd name="T44" fmla="*/ 12 w 53"/>
              <a:gd name="T45" fmla="*/ 41 h 53"/>
              <a:gd name="T46" fmla="*/ 7 w 53"/>
              <a:gd name="T47" fmla="*/ 34 h 53"/>
              <a:gd name="T48" fmla="*/ 5 w 53"/>
              <a:gd name="T49" fmla="*/ 26 h 53"/>
              <a:gd name="T50" fmla="*/ 7 w 53"/>
              <a:gd name="T51" fmla="*/ 18 h 53"/>
              <a:gd name="T52" fmla="*/ 12 w 53"/>
              <a:gd name="T53" fmla="*/ 11 h 53"/>
              <a:gd name="T54" fmla="*/ 18 w 53"/>
              <a:gd name="T55" fmla="*/ 6 h 53"/>
              <a:gd name="T56" fmla="*/ 26 w 53"/>
              <a:gd name="T57" fmla="*/ 5 h 53"/>
              <a:gd name="T58" fmla="*/ 35 w 53"/>
              <a:gd name="T59" fmla="*/ 6 h 53"/>
              <a:gd name="T60" fmla="*/ 41 w 53"/>
              <a:gd name="T61" fmla="*/ 11 h 53"/>
              <a:gd name="T62" fmla="*/ 46 w 53"/>
              <a:gd name="T63" fmla="*/ 18 h 53"/>
              <a:gd name="T64" fmla="*/ 48 w 53"/>
              <a:gd name="T65" fmla="*/ 26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3" h="53">
                <a:moveTo>
                  <a:pt x="53" y="26"/>
                </a:moveTo>
                <a:lnTo>
                  <a:pt x="51" y="21"/>
                </a:lnTo>
                <a:lnTo>
                  <a:pt x="50" y="16"/>
                </a:lnTo>
                <a:lnTo>
                  <a:pt x="48" y="11"/>
                </a:lnTo>
                <a:lnTo>
                  <a:pt x="45" y="8"/>
                </a:lnTo>
                <a:lnTo>
                  <a:pt x="41" y="5"/>
                </a:lnTo>
                <a:lnTo>
                  <a:pt x="36" y="1"/>
                </a:lnTo>
                <a:lnTo>
                  <a:pt x="31" y="0"/>
                </a:lnTo>
                <a:lnTo>
                  <a:pt x="26" y="0"/>
                </a:lnTo>
                <a:lnTo>
                  <a:pt x="21" y="0"/>
                </a:lnTo>
                <a:lnTo>
                  <a:pt x="16" y="1"/>
                </a:lnTo>
                <a:lnTo>
                  <a:pt x="12" y="5"/>
                </a:lnTo>
                <a:lnTo>
                  <a:pt x="8" y="8"/>
                </a:lnTo>
                <a:lnTo>
                  <a:pt x="5" y="11"/>
                </a:lnTo>
                <a:lnTo>
                  <a:pt x="2" y="16"/>
                </a:lnTo>
                <a:lnTo>
                  <a:pt x="0" y="21"/>
                </a:lnTo>
                <a:lnTo>
                  <a:pt x="0" y="26"/>
                </a:lnTo>
                <a:lnTo>
                  <a:pt x="0" y="31"/>
                </a:lnTo>
                <a:lnTo>
                  <a:pt x="2" y="36"/>
                </a:lnTo>
                <a:lnTo>
                  <a:pt x="5" y="41"/>
                </a:lnTo>
                <a:lnTo>
                  <a:pt x="8" y="44"/>
                </a:lnTo>
                <a:lnTo>
                  <a:pt x="12" y="48"/>
                </a:lnTo>
                <a:lnTo>
                  <a:pt x="16" y="51"/>
                </a:lnTo>
                <a:lnTo>
                  <a:pt x="21" y="51"/>
                </a:lnTo>
                <a:lnTo>
                  <a:pt x="26" y="53"/>
                </a:lnTo>
                <a:lnTo>
                  <a:pt x="31" y="51"/>
                </a:lnTo>
                <a:lnTo>
                  <a:pt x="36" y="51"/>
                </a:lnTo>
                <a:lnTo>
                  <a:pt x="41" y="48"/>
                </a:lnTo>
                <a:lnTo>
                  <a:pt x="45" y="44"/>
                </a:lnTo>
                <a:lnTo>
                  <a:pt x="48" y="41"/>
                </a:lnTo>
                <a:lnTo>
                  <a:pt x="50" y="36"/>
                </a:lnTo>
                <a:lnTo>
                  <a:pt x="51" y="31"/>
                </a:lnTo>
                <a:lnTo>
                  <a:pt x="53" y="26"/>
                </a:lnTo>
                <a:close/>
                <a:moveTo>
                  <a:pt x="48" y="26"/>
                </a:moveTo>
                <a:lnTo>
                  <a:pt x="48" y="31"/>
                </a:lnTo>
                <a:lnTo>
                  <a:pt x="46" y="34"/>
                </a:lnTo>
                <a:lnTo>
                  <a:pt x="45" y="38"/>
                </a:lnTo>
                <a:lnTo>
                  <a:pt x="41" y="41"/>
                </a:lnTo>
                <a:lnTo>
                  <a:pt x="38" y="44"/>
                </a:lnTo>
                <a:lnTo>
                  <a:pt x="35" y="46"/>
                </a:lnTo>
                <a:lnTo>
                  <a:pt x="30" y="48"/>
                </a:lnTo>
                <a:lnTo>
                  <a:pt x="26" y="48"/>
                </a:lnTo>
                <a:lnTo>
                  <a:pt x="21" y="48"/>
                </a:lnTo>
                <a:lnTo>
                  <a:pt x="18" y="46"/>
                </a:lnTo>
                <a:lnTo>
                  <a:pt x="15" y="44"/>
                </a:lnTo>
                <a:lnTo>
                  <a:pt x="12" y="41"/>
                </a:lnTo>
                <a:lnTo>
                  <a:pt x="8" y="38"/>
                </a:lnTo>
                <a:lnTo>
                  <a:pt x="7" y="34"/>
                </a:lnTo>
                <a:lnTo>
                  <a:pt x="5" y="31"/>
                </a:lnTo>
                <a:lnTo>
                  <a:pt x="5" y="26"/>
                </a:lnTo>
                <a:lnTo>
                  <a:pt x="5" y="21"/>
                </a:lnTo>
                <a:lnTo>
                  <a:pt x="7" y="18"/>
                </a:lnTo>
                <a:lnTo>
                  <a:pt x="8" y="15"/>
                </a:lnTo>
                <a:lnTo>
                  <a:pt x="12" y="11"/>
                </a:lnTo>
                <a:lnTo>
                  <a:pt x="15" y="8"/>
                </a:lnTo>
                <a:lnTo>
                  <a:pt x="18" y="6"/>
                </a:lnTo>
                <a:lnTo>
                  <a:pt x="21" y="5"/>
                </a:lnTo>
                <a:lnTo>
                  <a:pt x="26" y="5"/>
                </a:lnTo>
                <a:lnTo>
                  <a:pt x="30" y="5"/>
                </a:lnTo>
                <a:lnTo>
                  <a:pt x="35" y="6"/>
                </a:lnTo>
                <a:lnTo>
                  <a:pt x="38" y="8"/>
                </a:lnTo>
                <a:lnTo>
                  <a:pt x="41" y="11"/>
                </a:lnTo>
                <a:lnTo>
                  <a:pt x="45" y="15"/>
                </a:lnTo>
                <a:lnTo>
                  <a:pt x="46" y="18"/>
                </a:lnTo>
                <a:lnTo>
                  <a:pt x="48" y="21"/>
                </a:lnTo>
                <a:lnTo>
                  <a:pt x="48" y="26"/>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08" name="Freeform 1413">
            <a:extLst>
              <a:ext uri="{FF2B5EF4-FFF2-40B4-BE49-F238E27FC236}">
                <a16:creationId xmlns:a16="http://schemas.microsoft.com/office/drawing/2014/main" id="{EBC607A2-0237-F472-BA19-CCD22BBF4EBA}"/>
              </a:ext>
            </a:extLst>
          </p:cNvPr>
          <p:cNvSpPr>
            <a:spLocks noEditPoints="1"/>
          </p:cNvSpPr>
          <p:nvPr/>
        </p:nvSpPr>
        <p:spPr bwMode="auto">
          <a:xfrm>
            <a:off x="2876550" y="2520950"/>
            <a:ext cx="76200" cy="76200"/>
          </a:xfrm>
          <a:custGeom>
            <a:avLst/>
            <a:gdLst>
              <a:gd name="T0" fmla="*/ 48 w 48"/>
              <a:gd name="T1" fmla="*/ 20 h 48"/>
              <a:gd name="T2" fmla="*/ 44 w 48"/>
              <a:gd name="T3" fmla="*/ 12 h 48"/>
              <a:gd name="T4" fmla="*/ 38 w 48"/>
              <a:gd name="T5" fmla="*/ 5 h 48"/>
              <a:gd name="T6" fmla="*/ 29 w 48"/>
              <a:gd name="T7" fmla="*/ 2 h 48"/>
              <a:gd name="T8" fmla="*/ 19 w 48"/>
              <a:gd name="T9" fmla="*/ 2 h 48"/>
              <a:gd name="T10" fmla="*/ 11 w 48"/>
              <a:gd name="T11" fmla="*/ 5 h 48"/>
              <a:gd name="T12" fmla="*/ 5 w 48"/>
              <a:gd name="T13" fmla="*/ 12 h 48"/>
              <a:gd name="T14" fmla="*/ 1 w 48"/>
              <a:gd name="T15" fmla="*/ 20 h 48"/>
              <a:gd name="T16" fmla="*/ 1 w 48"/>
              <a:gd name="T17" fmla="*/ 30 h 48"/>
              <a:gd name="T18" fmla="*/ 5 w 48"/>
              <a:gd name="T19" fmla="*/ 38 h 48"/>
              <a:gd name="T20" fmla="*/ 11 w 48"/>
              <a:gd name="T21" fmla="*/ 45 h 48"/>
              <a:gd name="T22" fmla="*/ 19 w 48"/>
              <a:gd name="T23" fmla="*/ 48 h 48"/>
              <a:gd name="T24" fmla="*/ 29 w 48"/>
              <a:gd name="T25" fmla="*/ 48 h 48"/>
              <a:gd name="T26" fmla="*/ 38 w 48"/>
              <a:gd name="T27" fmla="*/ 45 h 48"/>
              <a:gd name="T28" fmla="*/ 44 w 48"/>
              <a:gd name="T29" fmla="*/ 38 h 48"/>
              <a:gd name="T30" fmla="*/ 48 w 48"/>
              <a:gd name="T31" fmla="*/ 30 h 48"/>
              <a:gd name="T32" fmla="*/ 43 w 48"/>
              <a:gd name="T33" fmla="*/ 25 h 48"/>
              <a:gd name="T34" fmla="*/ 43 w 48"/>
              <a:gd name="T35" fmla="*/ 32 h 48"/>
              <a:gd name="T36" fmla="*/ 38 w 48"/>
              <a:gd name="T37" fmla="*/ 38 h 48"/>
              <a:gd name="T38" fmla="*/ 31 w 48"/>
              <a:gd name="T39" fmla="*/ 43 h 48"/>
              <a:gd name="T40" fmla="*/ 24 w 48"/>
              <a:gd name="T41" fmla="*/ 43 h 48"/>
              <a:gd name="T42" fmla="*/ 16 w 48"/>
              <a:gd name="T43" fmla="*/ 43 h 48"/>
              <a:gd name="T44" fmla="*/ 11 w 48"/>
              <a:gd name="T45" fmla="*/ 38 h 48"/>
              <a:gd name="T46" fmla="*/ 6 w 48"/>
              <a:gd name="T47" fmla="*/ 32 h 48"/>
              <a:gd name="T48" fmla="*/ 5 w 48"/>
              <a:gd name="T49" fmla="*/ 25 h 48"/>
              <a:gd name="T50" fmla="*/ 6 w 48"/>
              <a:gd name="T51" fmla="*/ 17 h 48"/>
              <a:gd name="T52" fmla="*/ 11 w 48"/>
              <a:gd name="T53" fmla="*/ 12 h 48"/>
              <a:gd name="T54" fmla="*/ 16 w 48"/>
              <a:gd name="T55" fmla="*/ 7 h 48"/>
              <a:gd name="T56" fmla="*/ 24 w 48"/>
              <a:gd name="T57" fmla="*/ 5 h 48"/>
              <a:gd name="T58" fmla="*/ 31 w 48"/>
              <a:gd name="T59" fmla="*/ 7 h 48"/>
              <a:gd name="T60" fmla="*/ 38 w 48"/>
              <a:gd name="T61" fmla="*/ 12 h 48"/>
              <a:gd name="T62" fmla="*/ 43 w 48"/>
              <a:gd name="T63" fmla="*/ 17 h 48"/>
              <a:gd name="T64" fmla="*/ 43 w 48"/>
              <a:gd name="T65" fmla="*/ 25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8" h="48">
                <a:moveTo>
                  <a:pt x="48" y="25"/>
                </a:moveTo>
                <a:lnTo>
                  <a:pt x="48" y="20"/>
                </a:lnTo>
                <a:lnTo>
                  <a:pt x="46" y="15"/>
                </a:lnTo>
                <a:lnTo>
                  <a:pt x="44" y="12"/>
                </a:lnTo>
                <a:lnTo>
                  <a:pt x="41" y="9"/>
                </a:lnTo>
                <a:lnTo>
                  <a:pt x="38" y="5"/>
                </a:lnTo>
                <a:lnTo>
                  <a:pt x="33" y="4"/>
                </a:lnTo>
                <a:lnTo>
                  <a:pt x="29" y="2"/>
                </a:lnTo>
                <a:lnTo>
                  <a:pt x="24" y="0"/>
                </a:lnTo>
                <a:lnTo>
                  <a:pt x="19" y="2"/>
                </a:lnTo>
                <a:lnTo>
                  <a:pt x="14" y="4"/>
                </a:lnTo>
                <a:lnTo>
                  <a:pt x="11" y="5"/>
                </a:lnTo>
                <a:lnTo>
                  <a:pt x="8" y="9"/>
                </a:lnTo>
                <a:lnTo>
                  <a:pt x="5" y="12"/>
                </a:lnTo>
                <a:lnTo>
                  <a:pt x="3" y="15"/>
                </a:lnTo>
                <a:lnTo>
                  <a:pt x="1" y="20"/>
                </a:lnTo>
                <a:lnTo>
                  <a:pt x="0" y="25"/>
                </a:lnTo>
                <a:lnTo>
                  <a:pt x="1" y="30"/>
                </a:lnTo>
                <a:lnTo>
                  <a:pt x="3" y="35"/>
                </a:lnTo>
                <a:lnTo>
                  <a:pt x="5" y="38"/>
                </a:lnTo>
                <a:lnTo>
                  <a:pt x="8" y="42"/>
                </a:lnTo>
                <a:lnTo>
                  <a:pt x="11" y="45"/>
                </a:lnTo>
                <a:lnTo>
                  <a:pt x="14" y="47"/>
                </a:lnTo>
                <a:lnTo>
                  <a:pt x="19" y="48"/>
                </a:lnTo>
                <a:lnTo>
                  <a:pt x="24" y="48"/>
                </a:lnTo>
                <a:lnTo>
                  <a:pt x="29" y="48"/>
                </a:lnTo>
                <a:lnTo>
                  <a:pt x="33" y="47"/>
                </a:lnTo>
                <a:lnTo>
                  <a:pt x="38" y="45"/>
                </a:lnTo>
                <a:lnTo>
                  <a:pt x="41" y="42"/>
                </a:lnTo>
                <a:lnTo>
                  <a:pt x="44" y="38"/>
                </a:lnTo>
                <a:lnTo>
                  <a:pt x="46" y="35"/>
                </a:lnTo>
                <a:lnTo>
                  <a:pt x="48" y="30"/>
                </a:lnTo>
                <a:lnTo>
                  <a:pt x="48" y="25"/>
                </a:lnTo>
                <a:close/>
                <a:moveTo>
                  <a:pt x="43" y="25"/>
                </a:moveTo>
                <a:lnTo>
                  <a:pt x="43" y="28"/>
                </a:lnTo>
                <a:lnTo>
                  <a:pt x="43" y="32"/>
                </a:lnTo>
                <a:lnTo>
                  <a:pt x="39" y="35"/>
                </a:lnTo>
                <a:lnTo>
                  <a:pt x="38" y="38"/>
                </a:lnTo>
                <a:lnTo>
                  <a:pt x="34" y="40"/>
                </a:lnTo>
                <a:lnTo>
                  <a:pt x="31" y="43"/>
                </a:lnTo>
                <a:lnTo>
                  <a:pt x="28" y="43"/>
                </a:lnTo>
                <a:lnTo>
                  <a:pt x="24" y="43"/>
                </a:lnTo>
                <a:lnTo>
                  <a:pt x="21" y="43"/>
                </a:lnTo>
                <a:lnTo>
                  <a:pt x="16" y="43"/>
                </a:lnTo>
                <a:lnTo>
                  <a:pt x="13" y="40"/>
                </a:lnTo>
                <a:lnTo>
                  <a:pt x="11" y="38"/>
                </a:lnTo>
                <a:lnTo>
                  <a:pt x="8" y="35"/>
                </a:lnTo>
                <a:lnTo>
                  <a:pt x="6" y="32"/>
                </a:lnTo>
                <a:lnTo>
                  <a:pt x="6" y="28"/>
                </a:lnTo>
                <a:lnTo>
                  <a:pt x="5" y="25"/>
                </a:lnTo>
                <a:lnTo>
                  <a:pt x="6" y="22"/>
                </a:lnTo>
                <a:lnTo>
                  <a:pt x="6" y="17"/>
                </a:lnTo>
                <a:lnTo>
                  <a:pt x="8" y="14"/>
                </a:lnTo>
                <a:lnTo>
                  <a:pt x="11" y="12"/>
                </a:lnTo>
                <a:lnTo>
                  <a:pt x="13" y="9"/>
                </a:lnTo>
                <a:lnTo>
                  <a:pt x="16" y="7"/>
                </a:lnTo>
                <a:lnTo>
                  <a:pt x="21" y="7"/>
                </a:lnTo>
                <a:lnTo>
                  <a:pt x="24" y="5"/>
                </a:lnTo>
                <a:lnTo>
                  <a:pt x="28" y="7"/>
                </a:lnTo>
                <a:lnTo>
                  <a:pt x="31" y="7"/>
                </a:lnTo>
                <a:lnTo>
                  <a:pt x="34" y="9"/>
                </a:lnTo>
                <a:lnTo>
                  <a:pt x="38" y="12"/>
                </a:lnTo>
                <a:lnTo>
                  <a:pt x="39" y="14"/>
                </a:lnTo>
                <a:lnTo>
                  <a:pt x="43" y="17"/>
                </a:lnTo>
                <a:lnTo>
                  <a:pt x="43" y="22"/>
                </a:lnTo>
                <a:lnTo>
                  <a:pt x="43" y="25"/>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09" name="Freeform 1414">
            <a:extLst>
              <a:ext uri="{FF2B5EF4-FFF2-40B4-BE49-F238E27FC236}">
                <a16:creationId xmlns:a16="http://schemas.microsoft.com/office/drawing/2014/main" id="{98889045-37BC-7998-7596-2227E566F4AE}"/>
              </a:ext>
            </a:extLst>
          </p:cNvPr>
          <p:cNvSpPr>
            <a:spLocks noEditPoints="1"/>
          </p:cNvSpPr>
          <p:nvPr/>
        </p:nvSpPr>
        <p:spPr bwMode="auto">
          <a:xfrm>
            <a:off x="2881313" y="2527300"/>
            <a:ext cx="68263" cy="68263"/>
          </a:xfrm>
          <a:custGeom>
            <a:avLst/>
            <a:gdLst>
              <a:gd name="T0" fmla="*/ 43 w 43"/>
              <a:gd name="T1" fmla="*/ 16 h 43"/>
              <a:gd name="T2" fmla="*/ 40 w 43"/>
              <a:gd name="T3" fmla="*/ 10 h 43"/>
              <a:gd name="T4" fmla="*/ 33 w 43"/>
              <a:gd name="T5" fmla="*/ 3 h 43"/>
              <a:gd name="T6" fmla="*/ 25 w 43"/>
              <a:gd name="T7" fmla="*/ 0 h 43"/>
              <a:gd name="T8" fmla="*/ 16 w 43"/>
              <a:gd name="T9" fmla="*/ 0 h 43"/>
              <a:gd name="T10" fmla="*/ 10 w 43"/>
              <a:gd name="T11" fmla="*/ 3 h 43"/>
              <a:gd name="T12" fmla="*/ 3 w 43"/>
              <a:gd name="T13" fmla="*/ 10 h 43"/>
              <a:gd name="T14" fmla="*/ 0 w 43"/>
              <a:gd name="T15" fmla="*/ 16 h 43"/>
              <a:gd name="T16" fmla="*/ 0 w 43"/>
              <a:gd name="T17" fmla="*/ 26 h 43"/>
              <a:gd name="T18" fmla="*/ 3 w 43"/>
              <a:gd name="T19" fmla="*/ 33 h 43"/>
              <a:gd name="T20" fmla="*/ 10 w 43"/>
              <a:gd name="T21" fmla="*/ 39 h 43"/>
              <a:gd name="T22" fmla="*/ 16 w 43"/>
              <a:gd name="T23" fmla="*/ 43 h 43"/>
              <a:gd name="T24" fmla="*/ 25 w 43"/>
              <a:gd name="T25" fmla="*/ 43 h 43"/>
              <a:gd name="T26" fmla="*/ 33 w 43"/>
              <a:gd name="T27" fmla="*/ 39 h 43"/>
              <a:gd name="T28" fmla="*/ 40 w 43"/>
              <a:gd name="T29" fmla="*/ 33 h 43"/>
              <a:gd name="T30" fmla="*/ 43 w 43"/>
              <a:gd name="T31" fmla="*/ 26 h 43"/>
              <a:gd name="T32" fmla="*/ 38 w 43"/>
              <a:gd name="T33" fmla="*/ 21 h 43"/>
              <a:gd name="T34" fmla="*/ 36 w 43"/>
              <a:gd name="T35" fmla="*/ 28 h 43"/>
              <a:gd name="T36" fmla="*/ 33 w 43"/>
              <a:gd name="T37" fmla="*/ 33 h 43"/>
              <a:gd name="T38" fmla="*/ 28 w 43"/>
              <a:gd name="T39" fmla="*/ 36 h 43"/>
              <a:gd name="T40" fmla="*/ 21 w 43"/>
              <a:gd name="T41" fmla="*/ 38 h 43"/>
              <a:gd name="T42" fmla="*/ 15 w 43"/>
              <a:gd name="T43" fmla="*/ 36 h 43"/>
              <a:gd name="T44" fmla="*/ 10 w 43"/>
              <a:gd name="T45" fmla="*/ 33 h 43"/>
              <a:gd name="T46" fmla="*/ 7 w 43"/>
              <a:gd name="T47" fmla="*/ 28 h 43"/>
              <a:gd name="T48" fmla="*/ 5 w 43"/>
              <a:gd name="T49" fmla="*/ 21 h 43"/>
              <a:gd name="T50" fmla="*/ 7 w 43"/>
              <a:gd name="T51" fmla="*/ 15 h 43"/>
              <a:gd name="T52" fmla="*/ 10 w 43"/>
              <a:gd name="T53" fmla="*/ 10 h 43"/>
              <a:gd name="T54" fmla="*/ 15 w 43"/>
              <a:gd name="T55" fmla="*/ 6 h 43"/>
              <a:gd name="T56" fmla="*/ 21 w 43"/>
              <a:gd name="T57" fmla="*/ 5 h 43"/>
              <a:gd name="T58" fmla="*/ 28 w 43"/>
              <a:gd name="T59" fmla="*/ 6 h 43"/>
              <a:gd name="T60" fmla="*/ 33 w 43"/>
              <a:gd name="T61" fmla="*/ 10 h 43"/>
              <a:gd name="T62" fmla="*/ 36 w 43"/>
              <a:gd name="T63" fmla="*/ 15 h 43"/>
              <a:gd name="T64" fmla="*/ 38 w 43"/>
              <a:gd name="T65" fmla="*/ 21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3" h="43">
                <a:moveTo>
                  <a:pt x="43" y="21"/>
                </a:moveTo>
                <a:lnTo>
                  <a:pt x="43" y="16"/>
                </a:lnTo>
                <a:lnTo>
                  <a:pt x="41" y="13"/>
                </a:lnTo>
                <a:lnTo>
                  <a:pt x="40" y="10"/>
                </a:lnTo>
                <a:lnTo>
                  <a:pt x="36" y="6"/>
                </a:lnTo>
                <a:lnTo>
                  <a:pt x="33" y="3"/>
                </a:lnTo>
                <a:lnTo>
                  <a:pt x="30" y="1"/>
                </a:lnTo>
                <a:lnTo>
                  <a:pt x="25" y="0"/>
                </a:lnTo>
                <a:lnTo>
                  <a:pt x="21" y="0"/>
                </a:lnTo>
                <a:lnTo>
                  <a:pt x="16" y="0"/>
                </a:lnTo>
                <a:lnTo>
                  <a:pt x="13" y="1"/>
                </a:lnTo>
                <a:lnTo>
                  <a:pt x="10" y="3"/>
                </a:lnTo>
                <a:lnTo>
                  <a:pt x="7" y="6"/>
                </a:lnTo>
                <a:lnTo>
                  <a:pt x="3" y="10"/>
                </a:lnTo>
                <a:lnTo>
                  <a:pt x="2" y="13"/>
                </a:lnTo>
                <a:lnTo>
                  <a:pt x="0" y="16"/>
                </a:lnTo>
                <a:lnTo>
                  <a:pt x="0" y="21"/>
                </a:lnTo>
                <a:lnTo>
                  <a:pt x="0" y="26"/>
                </a:lnTo>
                <a:lnTo>
                  <a:pt x="2" y="29"/>
                </a:lnTo>
                <a:lnTo>
                  <a:pt x="3" y="33"/>
                </a:lnTo>
                <a:lnTo>
                  <a:pt x="7" y="36"/>
                </a:lnTo>
                <a:lnTo>
                  <a:pt x="10" y="39"/>
                </a:lnTo>
                <a:lnTo>
                  <a:pt x="13" y="41"/>
                </a:lnTo>
                <a:lnTo>
                  <a:pt x="16" y="43"/>
                </a:lnTo>
                <a:lnTo>
                  <a:pt x="21" y="43"/>
                </a:lnTo>
                <a:lnTo>
                  <a:pt x="25" y="43"/>
                </a:lnTo>
                <a:lnTo>
                  <a:pt x="30" y="41"/>
                </a:lnTo>
                <a:lnTo>
                  <a:pt x="33" y="39"/>
                </a:lnTo>
                <a:lnTo>
                  <a:pt x="36" y="36"/>
                </a:lnTo>
                <a:lnTo>
                  <a:pt x="40" y="33"/>
                </a:lnTo>
                <a:lnTo>
                  <a:pt x="41" y="29"/>
                </a:lnTo>
                <a:lnTo>
                  <a:pt x="43" y="26"/>
                </a:lnTo>
                <a:lnTo>
                  <a:pt x="43" y="21"/>
                </a:lnTo>
                <a:close/>
                <a:moveTo>
                  <a:pt x="38" y="21"/>
                </a:moveTo>
                <a:lnTo>
                  <a:pt x="38" y="24"/>
                </a:lnTo>
                <a:lnTo>
                  <a:pt x="36" y="28"/>
                </a:lnTo>
                <a:lnTo>
                  <a:pt x="35" y="31"/>
                </a:lnTo>
                <a:lnTo>
                  <a:pt x="33" y="33"/>
                </a:lnTo>
                <a:lnTo>
                  <a:pt x="31" y="34"/>
                </a:lnTo>
                <a:lnTo>
                  <a:pt x="28" y="36"/>
                </a:lnTo>
                <a:lnTo>
                  <a:pt x="25" y="38"/>
                </a:lnTo>
                <a:lnTo>
                  <a:pt x="21" y="38"/>
                </a:lnTo>
                <a:lnTo>
                  <a:pt x="18" y="38"/>
                </a:lnTo>
                <a:lnTo>
                  <a:pt x="15" y="36"/>
                </a:lnTo>
                <a:lnTo>
                  <a:pt x="11" y="34"/>
                </a:lnTo>
                <a:lnTo>
                  <a:pt x="10" y="33"/>
                </a:lnTo>
                <a:lnTo>
                  <a:pt x="7" y="31"/>
                </a:lnTo>
                <a:lnTo>
                  <a:pt x="7" y="28"/>
                </a:lnTo>
                <a:lnTo>
                  <a:pt x="5" y="24"/>
                </a:lnTo>
                <a:lnTo>
                  <a:pt x="5" y="21"/>
                </a:lnTo>
                <a:lnTo>
                  <a:pt x="5" y="18"/>
                </a:lnTo>
                <a:lnTo>
                  <a:pt x="7" y="15"/>
                </a:lnTo>
                <a:lnTo>
                  <a:pt x="7" y="11"/>
                </a:lnTo>
                <a:lnTo>
                  <a:pt x="10" y="10"/>
                </a:lnTo>
                <a:lnTo>
                  <a:pt x="11" y="6"/>
                </a:lnTo>
                <a:lnTo>
                  <a:pt x="15" y="6"/>
                </a:lnTo>
                <a:lnTo>
                  <a:pt x="18" y="5"/>
                </a:lnTo>
                <a:lnTo>
                  <a:pt x="21" y="5"/>
                </a:lnTo>
                <a:lnTo>
                  <a:pt x="25" y="5"/>
                </a:lnTo>
                <a:lnTo>
                  <a:pt x="28" y="6"/>
                </a:lnTo>
                <a:lnTo>
                  <a:pt x="31" y="6"/>
                </a:lnTo>
                <a:lnTo>
                  <a:pt x="33" y="10"/>
                </a:lnTo>
                <a:lnTo>
                  <a:pt x="35" y="11"/>
                </a:lnTo>
                <a:lnTo>
                  <a:pt x="36" y="15"/>
                </a:lnTo>
                <a:lnTo>
                  <a:pt x="38" y="18"/>
                </a:lnTo>
                <a:lnTo>
                  <a:pt x="38" y="21"/>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10" name="Freeform 1415">
            <a:extLst>
              <a:ext uri="{FF2B5EF4-FFF2-40B4-BE49-F238E27FC236}">
                <a16:creationId xmlns:a16="http://schemas.microsoft.com/office/drawing/2014/main" id="{BE56F3FC-2D9A-BF86-20DB-3E1943679F44}"/>
              </a:ext>
            </a:extLst>
          </p:cNvPr>
          <p:cNvSpPr>
            <a:spLocks noEditPoints="1"/>
          </p:cNvSpPr>
          <p:nvPr/>
        </p:nvSpPr>
        <p:spPr bwMode="auto">
          <a:xfrm>
            <a:off x="2884488" y="2528888"/>
            <a:ext cx="60325" cy="60325"/>
          </a:xfrm>
          <a:custGeom>
            <a:avLst/>
            <a:gdLst>
              <a:gd name="T0" fmla="*/ 38 w 38"/>
              <a:gd name="T1" fmla="*/ 17 h 38"/>
              <a:gd name="T2" fmla="*/ 34 w 38"/>
              <a:gd name="T3" fmla="*/ 9 h 38"/>
              <a:gd name="T4" fmla="*/ 29 w 38"/>
              <a:gd name="T5" fmla="*/ 4 h 38"/>
              <a:gd name="T6" fmla="*/ 23 w 38"/>
              <a:gd name="T7" fmla="*/ 2 h 38"/>
              <a:gd name="T8" fmla="*/ 16 w 38"/>
              <a:gd name="T9" fmla="*/ 2 h 38"/>
              <a:gd name="T10" fmla="*/ 8 w 38"/>
              <a:gd name="T11" fmla="*/ 4 h 38"/>
              <a:gd name="T12" fmla="*/ 3 w 38"/>
              <a:gd name="T13" fmla="*/ 9 h 38"/>
              <a:gd name="T14" fmla="*/ 1 w 38"/>
              <a:gd name="T15" fmla="*/ 17 h 38"/>
              <a:gd name="T16" fmla="*/ 1 w 38"/>
              <a:gd name="T17" fmla="*/ 23 h 38"/>
              <a:gd name="T18" fmla="*/ 3 w 38"/>
              <a:gd name="T19" fmla="*/ 30 h 38"/>
              <a:gd name="T20" fmla="*/ 8 w 38"/>
              <a:gd name="T21" fmla="*/ 35 h 38"/>
              <a:gd name="T22" fmla="*/ 16 w 38"/>
              <a:gd name="T23" fmla="*/ 38 h 38"/>
              <a:gd name="T24" fmla="*/ 23 w 38"/>
              <a:gd name="T25" fmla="*/ 38 h 38"/>
              <a:gd name="T26" fmla="*/ 29 w 38"/>
              <a:gd name="T27" fmla="*/ 35 h 38"/>
              <a:gd name="T28" fmla="*/ 34 w 38"/>
              <a:gd name="T29" fmla="*/ 30 h 38"/>
              <a:gd name="T30" fmla="*/ 38 w 38"/>
              <a:gd name="T31" fmla="*/ 23 h 38"/>
              <a:gd name="T32" fmla="*/ 34 w 38"/>
              <a:gd name="T33" fmla="*/ 20 h 38"/>
              <a:gd name="T34" fmla="*/ 33 w 38"/>
              <a:gd name="T35" fmla="*/ 25 h 38"/>
              <a:gd name="T36" fmla="*/ 29 w 38"/>
              <a:gd name="T37" fmla="*/ 30 h 38"/>
              <a:gd name="T38" fmla="*/ 24 w 38"/>
              <a:gd name="T39" fmla="*/ 33 h 38"/>
              <a:gd name="T40" fmla="*/ 19 w 38"/>
              <a:gd name="T41" fmla="*/ 35 h 38"/>
              <a:gd name="T42" fmla="*/ 13 w 38"/>
              <a:gd name="T43" fmla="*/ 33 h 38"/>
              <a:gd name="T44" fmla="*/ 9 w 38"/>
              <a:gd name="T45" fmla="*/ 30 h 38"/>
              <a:gd name="T46" fmla="*/ 6 w 38"/>
              <a:gd name="T47" fmla="*/ 25 h 38"/>
              <a:gd name="T48" fmla="*/ 5 w 38"/>
              <a:gd name="T49" fmla="*/ 20 h 38"/>
              <a:gd name="T50" fmla="*/ 6 w 38"/>
              <a:gd name="T51" fmla="*/ 15 h 38"/>
              <a:gd name="T52" fmla="*/ 9 w 38"/>
              <a:gd name="T53" fmla="*/ 10 h 38"/>
              <a:gd name="T54" fmla="*/ 13 w 38"/>
              <a:gd name="T55" fmla="*/ 7 h 38"/>
              <a:gd name="T56" fmla="*/ 19 w 38"/>
              <a:gd name="T57" fmla="*/ 5 h 38"/>
              <a:gd name="T58" fmla="*/ 24 w 38"/>
              <a:gd name="T59" fmla="*/ 7 h 38"/>
              <a:gd name="T60" fmla="*/ 29 w 38"/>
              <a:gd name="T61" fmla="*/ 10 h 38"/>
              <a:gd name="T62" fmla="*/ 33 w 38"/>
              <a:gd name="T63" fmla="*/ 15 h 38"/>
              <a:gd name="T64" fmla="*/ 34 w 38"/>
              <a:gd name="T65" fmla="*/ 20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8" h="38">
                <a:moveTo>
                  <a:pt x="38" y="20"/>
                </a:moveTo>
                <a:lnTo>
                  <a:pt x="38" y="17"/>
                </a:lnTo>
                <a:lnTo>
                  <a:pt x="38" y="12"/>
                </a:lnTo>
                <a:lnTo>
                  <a:pt x="34" y="9"/>
                </a:lnTo>
                <a:lnTo>
                  <a:pt x="33" y="7"/>
                </a:lnTo>
                <a:lnTo>
                  <a:pt x="29" y="4"/>
                </a:lnTo>
                <a:lnTo>
                  <a:pt x="26" y="2"/>
                </a:lnTo>
                <a:lnTo>
                  <a:pt x="23" y="2"/>
                </a:lnTo>
                <a:lnTo>
                  <a:pt x="19" y="0"/>
                </a:lnTo>
                <a:lnTo>
                  <a:pt x="16" y="2"/>
                </a:lnTo>
                <a:lnTo>
                  <a:pt x="11" y="2"/>
                </a:lnTo>
                <a:lnTo>
                  <a:pt x="8" y="4"/>
                </a:lnTo>
                <a:lnTo>
                  <a:pt x="6" y="7"/>
                </a:lnTo>
                <a:lnTo>
                  <a:pt x="3" y="9"/>
                </a:lnTo>
                <a:lnTo>
                  <a:pt x="1" y="12"/>
                </a:lnTo>
                <a:lnTo>
                  <a:pt x="1" y="17"/>
                </a:lnTo>
                <a:lnTo>
                  <a:pt x="0" y="20"/>
                </a:lnTo>
                <a:lnTo>
                  <a:pt x="1" y="23"/>
                </a:lnTo>
                <a:lnTo>
                  <a:pt x="1" y="27"/>
                </a:lnTo>
                <a:lnTo>
                  <a:pt x="3" y="30"/>
                </a:lnTo>
                <a:lnTo>
                  <a:pt x="6" y="33"/>
                </a:lnTo>
                <a:lnTo>
                  <a:pt x="8" y="35"/>
                </a:lnTo>
                <a:lnTo>
                  <a:pt x="11" y="38"/>
                </a:lnTo>
                <a:lnTo>
                  <a:pt x="16" y="38"/>
                </a:lnTo>
                <a:lnTo>
                  <a:pt x="19" y="38"/>
                </a:lnTo>
                <a:lnTo>
                  <a:pt x="23" y="38"/>
                </a:lnTo>
                <a:lnTo>
                  <a:pt x="26" y="38"/>
                </a:lnTo>
                <a:lnTo>
                  <a:pt x="29" y="35"/>
                </a:lnTo>
                <a:lnTo>
                  <a:pt x="33" y="33"/>
                </a:lnTo>
                <a:lnTo>
                  <a:pt x="34" y="30"/>
                </a:lnTo>
                <a:lnTo>
                  <a:pt x="38" y="27"/>
                </a:lnTo>
                <a:lnTo>
                  <a:pt x="38" y="23"/>
                </a:lnTo>
                <a:lnTo>
                  <a:pt x="38" y="20"/>
                </a:lnTo>
                <a:close/>
                <a:moveTo>
                  <a:pt x="34" y="20"/>
                </a:moveTo>
                <a:lnTo>
                  <a:pt x="33" y="23"/>
                </a:lnTo>
                <a:lnTo>
                  <a:pt x="33" y="25"/>
                </a:lnTo>
                <a:lnTo>
                  <a:pt x="31" y="28"/>
                </a:lnTo>
                <a:lnTo>
                  <a:pt x="29" y="30"/>
                </a:lnTo>
                <a:lnTo>
                  <a:pt x="28" y="32"/>
                </a:lnTo>
                <a:lnTo>
                  <a:pt x="24" y="33"/>
                </a:lnTo>
                <a:lnTo>
                  <a:pt x="23" y="33"/>
                </a:lnTo>
                <a:lnTo>
                  <a:pt x="19" y="35"/>
                </a:lnTo>
                <a:lnTo>
                  <a:pt x="16" y="33"/>
                </a:lnTo>
                <a:lnTo>
                  <a:pt x="13" y="33"/>
                </a:lnTo>
                <a:lnTo>
                  <a:pt x="11" y="32"/>
                </a:lnTo>
                <a:lnTo>
                  <a:pt x="9" y="30"/>
                </a:lnTo>
                <a:lnTo>
                  <a:pt x="8" y="28"/>
                </a:lnTo>
                <a:lnTo>
                  <a:pt x="6" y="25"/>
                </a:lnTo>
                <a:lnTo>
                  <a:pt x="5" y="23"/>
                </a:lnTo>
                <a:lnTo>
                  <a:pt x="5" y="20"/>
                </a:lnTo>
                <a:lnTo>
                  <a:pt x="5" y="17"/>
                </a:lnTo>
                <a:lnTo>
                  <a:pt x="6" y="15"/>
                </a:lnTo>
                <a:lnTo>
                  <a:pt x="8" y="12"/>
                </a:lnTo>
                <a:lnTo>
                  <a:pt x="9" y="10"/>
                </a:lnTo>
                <a:lnTo>
                  <a:pt x="11" y="9"/>
                </a:lnTo>
                <a:lnTo>
                  <a:pt x="13" y="7"/>
                </a:lnTo>
                <a:lnTo>
                  <a:pt x="16" y="5"/>
                </a:lnTo>
                <a:lnTo>
                  <a:pt x="19" y="5"/>
                </a:lnTo>
                <a:lnTo>
                  <a:pt x="23" y="5"/>
                </a:lnTo>
                <a:lnTo>
                  <a:pt x="24" y="7"/>
                </a:lnTo>
                <a:lnTo>
                  <a:pt x="28" y="9"/>
                </a:lnTo>
                <a:lnTo>
                  <a:pt x="29" y="10"/>
                </a:lnTo>
                <a:lnTo>
                  <a:pt x="31" y="12"/>
                </a:lnTo>
                <a:lnTo>
                  <a:pt x="33" y="15"/>
                </a:lnTo>
                <a:lnTo>
                  <a:pt x="33" y="17"/>
                </a:lnTo>
                <a:lnTo>
                  <a:pt x="34" y="20"/>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11" name="Freeform 1416">
            <a:extLst>
              <a:ext uri="{FF2B5EF4-FFF2-40B4-BE49-F238E27FC236}">
                <a16:creationId xmlns:a16="http://schemas.microsoft.com/office/drawing/2014/main" id="{0A7EE1A3-144F-1185-A692-01A4D7FB38A4}"/>
              </a:ext>
            </a:extLst>
          </p:cNvPr>
          <p:cNvSpPr>
            <a:spLocks noEditPoints="1"/>
          </p:cNvSpPr>
          <p:nvPr/>
        </p:nvSpPr>
        <p:spPr bwMode="auto">
          <a:xfrm>
            <a:off x="2889250" y="2535238"/>
            <a:ext cx="52388" cy="52388"/>
          </a:xfrm>
          <a:custGeom>
            <a:avLst/>
            <a:gdLst>
              <a:gd name="T0" fmla="*/ 33 w 33"/>
              <a:gd name="T1" fmla="*/ 13 h 33"/>
              <a:gd name="T2" fmla="*/ 30 w 33"/>
              <a:gd name="T3" fmla="*/ 6 h 33"/>
              <a:gd name="T4" fmla="*/ 26 w 33"/>
              <a:gd name="T5" fmla="*/ 1 h 33"/>
              <a:gd name="T6" fmla="*/ 20 w 33"/>
              <a:gd name="T7" fmla="*/ 0 h 33"/>
              <a:gd name="T8" fmla="*/ 13 w 33"/>
              <a:gd name="T9" fmla="*/ 0 h 33"/>
              <a:gd name="T10" fmla="*/ 6 w 33"/>
              <a:gd name="T11" fmla="*/ 1 h 33"/>
              <a:gd name="T12" fmla="*/ 2 w 33"/>
              <a:gd name="T13" fmla="*/ 6 h 33"/>
              <a:gd name="T14" fmla="*/ 0 w 33"/>
              <a:gd name="T15" fmla="*/ 13 h 33"/>
              <a:gd name="T16" fmla="*/ 0 w 33"/>
              <a:gd name="T17" fmla="*/ 19 h 33"/>
              <a:gd name="T18" fmla="*/ 2 w 33"/>
              <a:gd name="T19" fmla="*/ 26 h 33"/>
              <a:gd name="T20" fmla="*/ 6 w 33"/>
              <a:gd name="T21" fmla="*/ 29 h 33"/>
              <a:gd name="T22" fmla="*/ 13 w 33"/>
              <a:gd name="T23" fmla="*/ 33 h 33"/>
              <a:gd name="T24" fmla="*/ 20 w 33"/>
              <a:gd name="T25" fmla="*/ 33 h 33"/>
              <a:gd name="T26" fmla="*/ 26 w 33"/>
              <a:gd name="T27" fmla="*/ 29 h 33"/>
              <a:gd name="T28" fmla="*/ 30 w 33"/>
              <a:gd name="T29" fmla="*/ 26 h 33"/>
              <a:gd name="T30" fmla="*/ 33 w 33"/>
              <a:gd name="T31" fmla="*/ 19 h 33"/>
              <a:gd name="T32" fmla="*/ 28 w 33"/>
              <a:gd name="T33" fmla="*/ 16 h 33"/>
              <a:gd name="T34" fmla="*/ 28 w 33"/>
              <a:gd name="T35" fmla="*/ 21 h 33"/>
              <a:gd name="T36" fmla="*/ 25 w 33"/>
              <a:gd name="T37" fmla="*/ 24 h 33"/>
              <a:gd name="T38" fmla="*/ 21 w 33"/>
              <a:gd name="T39" fmla="*/ 28 h 33"/>
              <a:gd name="T40" fmla="*/ 16 w 33"/>
              <a:gd name="T41" fmla="*/ 28 h 33"/>
              <a:gd name="T42" fmla="*/ 11 w 33"/>
              <a:gd name="T43" fmla="*/ 28 h 33"/>
              <a:gd name="T44" fmla="*/ 8 w 33"/>
              <a:gd name="T45" fmla="*/ 24 h 33"/>
              <a:gd name="T46" fmla="*/ 5 w 33"/>
              <a:gd name="T47" fmla="*/ 21 h 33"/>
              <a:gd name="T48" fmla="*/ 5 w 33"/>
              <a:gd name="T49" fmla="*/ 16 h 33"/>
              <a:gd name="T50" fmla="*/ 5 w 33"/>
              <a:gd name="T51" fmla="*/ 11 h 33"/>
              <a:gd name="T52" fmla="*/ 8 w 33"/>
              <a:gd name="T53" fmla="*/ 8 h 33"/>
              <a:gd name="T54" fmla="*/ 11 w 33"/>
              <a:gd name="T55" fmla="*/ 5 h 33"/>
              <a:gd name="T56" fmla="*/ 16 w 33"/>
              <a:gd name="T57" fmla="*/ 5 h 33"/>
              <a:gd name="T58" fmla="*/ 21 w 33"/>
              <a:gd name="T59" fmla="*/ 5 h 33"/>
              <a:gd name="T60" fmla="*/ 25 w 33"/>
              <a:gd name="T61" fmla="*/ 8 h 33"/>
              <a:gd name="T62" fmla="*/ 28 w 33"/>
              <a:gd name="T63" fmla="*/ 11 h 33"/>
              <a:gd name="T64" fmla="*/ 28 w 33"/>
              <a:gd name="T65" fmla="*/ 16 h 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3" h="33">
                <a:moveTo>
                  <a:pt x="33" y="16"/>
                </a:moveTo>
                <a:lnTo>
                  <a:pt x="33" y="13"/>
                </a:lnTo>
                <a:lnTo>
                  <a:pt x="31" y="10"/>
                </a:lnTo>
                <a:lnTo>
                  <a:pt x="30" y="6"/>
                </a:lnTo>
                <a:lnTo>
                  <a:pt x="28" y="5"/>
                </a:lnTo>
                <a:lnTo>
                  <a:pt x="26" y="1"/>
                </a:lnTo>
                <a:lnTo>
                  <a:pt x="23" y="1"/>
                </a:lnTo>
                <a:lnTo>
                  <a:pt x="20" y="0"/>
                </a:lnTo>
                <a:lnTo>
                  <a:pt x="16" y="0"/>
                </a:lnTo>
                <a:lnTo>
                  <a:pt x="13" y="0"/>
                </a:lnTo>
                <a:lnTo>
                  <a:pt x="10" y="1"/>
                </a:lnTo>
                <a:lnTo>
                  <a:pt x="6" y="1"/>
                </a:lnTo>
                <a:lnTo>
                  <a:pt x="5" y="5"/>
                </a:lnTo>
                <a:lnTo>
                  <a:pt x="2" y="6"/>
                </a:lnTo>
                <a:lnTo>
                  <a:pt x="2" y="10"/>
                </a:lnTo>
                <a:lnTo>
                  <a:pt x="0" y="13"/>
                </a:lnTo>
                <a:lnTo>
                  <a:pt x="0" y="16"/>
                </a:lnTo>
                <a:lnTo>
                  <a:pt x="0" y="19"/>
                </a:lnTo>
                <a:lnTo>
                  <a:pt x="2" y="23"/>
                </a:lnTo>
                <a:lnTo>
                  <a:pt x="2" y="26"/>
                </a:lnTo>
                <a:lnTo>
                  <a:pt x="5" y="28"/>
                </a:lnTo>
                <a:lnTo>
                  <a:pt x="6" y="29"/>
                </a:lnTo>
                <a:lnTo>
                  <a:pt x="10" y="31"/>
                </a:lnTo>
                <a:lnTo>
                  <a:pt x="13" y="33"/>
                </a:lnTo>
                <a:lnTo>
                  <a:pt x="16" y="33"/>
                </a:lnTo>
                <a:lnTo>
                  <a:pt x="20" y="33"/>
                </a:lnTo>
                <a:lnTo>
                  <a:pt x="23" y="31"/>
                </a:lnTo>
                <a:lnTo>
                  <a:pt x="26" y="29"/>
                </a:lnTo>
                <a:lnTo>
                  <a:pt x="28" y="28"/>
                </a:lnTo>
                <a:lnTo>
                  <a:pt x="30" y="26"/>
                </a:lnTo>
                <a:lnTo>
                  <a:pt x="31" y="23"/>
                </a:lnTo>
                <a:lnTo>
                  <a:pt x="33" y="19"/>
                </a:lnTo>
                <a:lnTo>
                  <a:pt x="33" y="16"/>
                </a:lnTo>
                <a:close/>
                <a:moveTo>
                  <a:pt x="28" y="16"/>
                </a:moveTo>
                <a:lnTo>
                  <a:pt x="28" y="18"/>
                </a:lnTo>
                <a:lnTo>
                  <a:pt x="28" y="21"/>
                </a:lnTo>
                <a:lnTo>
                  <a:pt x="26" y="23"/>
                </a:lnTo>
                <a:lnTo>
                  <a:pt x="25" y="24"/>
                </a:lnTo>
                <a:lnTo>
                  <a:pt x="23" y="26"/>
                </a:lnTo>
                <a:lnTo>
                  <a:pt x="21" y="28"/>
                </a:lnTo>
                <a:lnTo>
                  <a:pt x="18" y="28"/>
                </a:lnTo>
                <a:lnTo>
                  <a:pt x="16" y="28"/>
                </a:lnTo>
                <a:lnTo>
                  <a:pt x="13" y="28"/>
                </a:lnTo>
                <a:lnTo>
                  <a:pt x="11" y="28"/>
                </a:lnTo>
                <a:lnTo>
                  <a:pt x="10" y="26"/>
                </a:lnTo>
                <a:lnTo>
                  <a:pt x="8" y="24"/>
                </a:lnTo>
                <a:lnTo>
                  <a:pt x="6" y="23"/>
                </a:lnTo>
                <a:lnTo>
                  <a:pt x="5" y="21"/>
                </a:lnTo>
                <a:lnTo>
                  <a:pt x="5" y="18"/>
                </a:lnTo>
                <a:lnTo>
                  <a:pt x="5" y="16"/>
                </a:lnTo>
                <a:lnTo>
                  <a:pt x="5" y="13"/>
                </a:lnTo>
                <a:lnTo>
                  <a:pt x="5" y="11"/>
                </a:lnTo>
                <a:lnTo>
                  <a:pt x="6" y="10"/>
                </a:lnTo>
                <a:lnTo>
                  <a:pt x="8" y="8"/>
                </a:lnTo>
                <a:lnTo>
                  <a:pt x="10" y="6"/>
                </a:lnTo>
                <a:lnTo>
                  <a:pt x="11" y="5"/>
                </a:lnTo>
                <a:lnTo>
                  <a:pt x="13" y="5"/>
                </a:lnTo>
                <a:lnTo>
                  <a:pt x="16" y="5"/>
                </a:lnTo>
                <a:lnTo>
                  <a:pt x="18" y="5"/>
                </a:lnTo>
                <a:lnTo>
                  <a:pt x="21" y="5"/>
                </a:lnTo>
                <a:lnTo>
                  <a:pt x="23" y="6"/>
                </a:lnTo>
                <a:lnTo>
                  <a:pt x="25" y="8"/>
                </a:lnTo>
                <a:lnTo>
                  <a:pt x="26" y="10"/>
                </a:lnTo>
                <a:lnTo>
                  <a:pt x="28" y="11"/>
                </a:lnTo>
                <a:lnTo>
                  <a:pt x="28" y="13"/>
                </a:lnTo>
                <a:lnTo>
                  <a:pt x="28" y="16"/>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12" name="Freeform 1417">
            <a:extLst>
              <a:ext uri="{FF2B5EF4-FFF2-40B4-BE49-F238E27FC236}">
                <a16:creationId xmlns:a16="http://schemas.microsoft.com/office/drawing/2014/main" id="{E7B1A67A-FCAF-48A8-7131-13333F166F34}"/>
              </a:ext>
            </a:extLst>
          </p:cNvPr>
          <p:cNvSpPr>
            <a:spLocks noEditPoints="1"/>
          </p:cNvSpPr>
          <p:nvPr/>
        </p:nvSpPr>
        <p:spPr bwMode="auto">
          <a:xfrm>
            <a:off x="2892425" y="2536825"/>
            <a:ext cx="46038" cy="47625"/>
          </a:xfrm>
          <a:custGeom>
            <a:avLst/>
            <a:gdLst>
              <a:gd name="T0" fmla="*/ 28 w 29"/>
              <a:gd name="T1" fmla="*/ 12 h 30"/>
              <a:gd name="T2" fmla="*/ 26 w 29"/>
              <a:gd name="T3" fmla="*/ 7 h 30"/>
              <a:gd name="T4" fmla="*/ 23 w 29"/>
              <a:gd name="T5" fmla="*/ 4 h 30"/>
              <a:gd name="T6" fmla="*/ 18 w 29"/>
              <a:gd name="T7" fmla="*/ 0 h 30"/>
              <a:gd name="T8" fmla="*/ 11 w 29"/>
              <a:gd name="T9" fmla="*/ 0 h 30"/>
              <a:gd name="T10" fmla="*/ 6 w 29"/>
              <a:gd name="T11" fmla="*/ 4 h 30"/>
              <a:gd name="T12" fmla="*/ 3 w 29"/>
              <a:gd name="T13" fmla="*/ 7 h 30"/>
              <a:gd name="T14" fmla="*/ 0 w 29"/>
              <a:gd name="T15" fmla="*/ 12 h 30"/>
              <a:gd name="T16" fmla="*/ 0 w 29"/>
              <a:gd name="T17" fmla="*/ 18 h 30"/>
              <a:gd name="T18" fmla="*/ 3 w 29"/>
              <a:gd name="T19" fmla="*/ 23 h 30"/>
              <a:gd name="T20" fmla="*/ 6 w 29"/>
              <a:gd name="T21" fmla="*/ 27 h 30"/>
              <a:gd name="T22" fmla="*/ 11 w 29"/>
              <a:gd name="T23" fmla="*/ 28 h 30"/>
              <a:gd name="T24" fmla="*/ 18 w 29"/>
              <a:gd name="T25" fmla="*/ 28 h 30"/>
              <a:gd name="T26" fmla="*/ 23 w 29"/>
              <a:gd name="T27" fmla="*/ 27 h 30"/>
              <a:gd name="T28" fmla="*/ 26 w 29"/>
              <a:gd name="T29" fmla="*/ 23 h 30"/>
              <a:gd name="T30" fmla="*/ 28 w 29"/>
              <a:gd name="T31" fmla="*/ 18 h 30"/>
              <a:gd name="T32" fmla="*/ 24 w 29"/>
              <a:gd name="T33" fmla="*/ 15 h 30"/>
              <a:gd name="T34" fmla="*/ 23 w 29"/>
              <a:gd name="T35" fmla="*/ 18 h 30"/>
              <a:gd name="T36" fmla="*/ 21 w 29"/>
              <a:gd name="T37" fmla="*/ 22 h 30"/>
              <a:gd name="T38" fmla="*/ 18 w 29"/>
              <a:gd name="T39" fmla="*/ 23 h 30"/>
              <a:gd name="T40" fmla="*/ 14 w 29"/>
              <a:gd name="T41" fmla="*/ 25 h 30"/>
              <a:gd name="T42" fmla="*/ 11 w 29"/>
              <a:gd name="T43" fmla="*/ 23 h 30"/>
              <a:gd name="T44" fmla="*/ 8 w 29"/>
              <a:gd name="T45" fmla="*/ 22 h 30"/>
              <a:gd name="T46" fmla="*/ 6 w 29"/>
              <a:gd name="T47" fmla="*/ 18 h 30"/>
              <a:gd name="T48" fmla="*/ 4 w 29"/>
              <a:gd name="T49" fmla="*/ 15 h 30"/>
              <a:gd name="T50" fmla="*/ 6 w 29"/>
              <a:gd name="T51" fmla="*/ 12 h 30"/>
              <a:gd name="T52" fmla="*/ 8 w 29"/>
              <a:gd name="T53" fmla="*/ 9 h 30"/>
              <a:gd name="T54" fmla="*/ 11 w 29"/>
              <a:gd name="T55" fmla="*/ 7 h 30"/>
              <a:gd name="T56" fmla="*/ 14 w 29"/>
              <a:gd name="T57" fmla="*/ 5 h 30"/>
              <a:gd name="T58" fmla="*/ 18 w 29"/>
              <a:gd name="T59" fmla="*/ 7 h 30"/>
              <a:gd name="T60" fmla="*/ 21 w 29"/>
              <a:gd name="T61" fmla="*/ 9 h 30"/>
              <a:gd name="T62" fmla="*/ 23 w 29"/>
              <a:gd name="T63" fmla="*/ 12 h 30"/>
              <a:gd name="T64" fmla="*/ 24 w 29"/>
              <a:gd name="T65" fmla="*/ 15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9" h="30">
                <a:moveTo>
                  <a:pt x="29" y="15"/>
                </a:moveTo>
                <a:lnTo>
                  <a:pt x="28" y="12"/>
                </a:lnTo>
                <a:lnTo>
                  <a:pt x="28" y="10"/>
                </a:lnTo>
                <a:lnTo>
                  <a:pt x="26" y="7"/>
                </a:lnTo>
                <a:lnTo>
                  <a:pt x="24" y="5"/>
                </a:lnTo>
                <a:lnTo>
                  <a:pt x="23" y="4"/>
                </a:lnTo>
                <a:lnTo>
                  <a:pt x="19" y="2"/>
                </a:lnTo>
                <a:lnTo>
                  <a:pt x="18" y="0"/>
                </a:lnTo>
                <a:lnTo>
                  <a:pt x="14" y="0"/>
                </a:lnTo>
                <a:lnTo>
                  <a:pt x="11" y="0"/>
                </a:lnTo>
                <a:lnTo>
                  <a:pt x="8" y="2"/>
                </a:lnTo>
                <a:lnTo>
                  <a:pt x="6" y="4"/>
                </a:lnTo>
                <a:lnTo>
                  <a:pt x="4" y="5"/>
                </a:lnTo>
                <a:lnTo>
                  <a:pt x="3" y="7"/>
                </a:lnTo>
                <a:lnTo>
                  <a:pt x="1" y="10"/>
                </a:lnTo>
                <a:lnTo>
                  <a:pt x="0" y="12"/>
                </a:lnTo>
                <a:lnTo>
                  <a:pt x="0" y="15"/>
                </a:lnTo>
                <a:lnTo>
                  <a:pt x="0" y="18"/>
                </a:lnTo>
                <a:lnTo>
                  <a:pt x="1" y="20"/>
                </a:lnTo>
                <a:lnTo>
                  <a:pt x="3" y="23"/>
                </a:lnTo>
                <a:lnTo>
                  <a:pt x="4" y="25"/>
                </a:lnTo>
                <a:lnTo>
                  <a:pt x="6" y="27"/>
                </a:lnTo>
                <a:lnTo>
                  <a:pt x="8" y="28"/>
                </a:lnTo>
                <a:lnTo>
                  <a:pt x="11" y="28"/>
                </a:lnTo>
                <a:lnTo>
                  <a:pt x="14" y="30"/>
                </a:lnTo>
                <a:lnTo>
                  <a:pt x="18" y="28"/>
                </a:lnTo>
                <a:lnTo>
                  <a:pt x="19" y="28"/>
                </a:lnTo>
                <a:lnTo>
                  <a:pt x="23" y="27"/>
                </a:lnTo>
                <a:lnTo>
                  <a:pt x="24" y="25"/>
                </a:lnTo>
                <a:lnTo>
                  <a:pt x="26" y="23"/>
                </a:lnTo>
                <a:lnTo>
                  <a:pt x="28" y="20"/>
                </a:lnTo>
                <a:lnTo>
                  <a:pt x="28" y="18"/>
                </a:lnTo>
                <a:lnTo>
                  <a:pt x="29" y="15"/>
                </a:lnTo>
                <a:close/>
                <a:moveTo>
                  <a:pt x="24" y="15"/>
                </a:moveTo>
                <a:lnTo>
                  <a:pt x="24" y="17"/>
                </a:lnTo>
                <a:lnTo>
                  <a:pt x="23" y="18"/>
                </a:lnTo>
                <a:lnTo>
                  <a:pt x="23" y="20"/>
                </a:lnTo>
                <a:lnTo>
                  <a:pt x="21" y="22"/>
                </a:lnTo>
                <a:lnTo>
                  <a:pt x="19" y="23"/>
                </a:lnTo>
                <a:lnTo>
                  <a:pt x="18" y="23"/>
                </a:lnTo>
                <a:lnTo>
                  <a:pt x="16" y="25"/>
                </a:lnTo>
                <a:lnTo>
                  <a:pt x="14" y="25"/>
                </a:lnTo>
                <a:lnTo>
                  <a:pt x="13" y="25"/>
                </a:lnTo>
                <a:lnTo>
                  <a:pt x="11" y="23"/>
                </a:lnTo>
                <a:lnTo>
                  <a:pt x="9" y="23"/>
                </a:lnTo>
                <a:lnTo>
                  <a:pt x="8" y="22"/>
                </a:lnTo>
                <a:lnTo>
                  <a:pt x="6" y="20"/>
                </a:lnTo>
                <a:lnTo>
                  <a:pt x="6" y="18"/>
                </a:lnTo>
                <a:lnTo>
                  <a:pt x="4" y="17"/>
                </a:lnTo>
                <a:lnTo>
                  <a:pt x="4" y="15"/>
                </a:lnTo>
                <a:lnTo>
                  <a:pt x="4" y="14"/>
                </a:lnTo>
                <a:lnTo>
                  <a:pt x="6" y="12"/>
                </a:lnTo>
                <a:lnTo>
                  <a:pt x="6" y="10"/>
                </a:lnTo>
                <a:lnTo>
                  <a:pt x="8" y="9"/>
                </a:lnTo>
                <a:lnTo>
                  <a:pt x="9" y="7"/>
                </a:lnTo>
                <a:lnTo>
                  <a:pt x="11" y="7"/>
                </a:lnTo>
                <a:lnTo>
                  <a:pt x="13" y="5"/>
                </a:lnTo>
                <a:lnTo>
                  <a:pt x="14" y="5"/>
                </a:lnTo>
                <a:lnTo>
                  <a:pt x="16" y="5"/>
                </a:lnTo>
                <a:lnTo>
                  <a:pt x="18" y="7"/>
                </a:lnTo>
                <a:lnTo>
                  <a:pt x="19" y="7"/>
                </a:lnTo>
                <a:lnTo>
                  <a:pt x="21" y="9"/>
                </a:lnTo>
                <a:lnTo>
                  <a:pt x="23" y="10"/>
                </a:lnTo>
                <a:lnTo>
                  <a:pt x="23" y="12"/>
                </a:lnTo>
                <a:lnTo>
                  <a:pt x="24" y="14"/>
                </a:lnTo>
                <a:lnTo>
                  <a:pt x="24" y="15"/>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13" name="Freeform 1418">
            <a:extLst>
              <a:ext uri="{FF2B5EF4-FFF2-40B4-BE49-F238E27FC236}">
                <a16:creationId xmlns:a16="http://schemas.microsoft.com/office/drawing/2014/main" id="{9B90E567-AEC4-6DD7-73CC-99F980A8E859}"/>
              </a:ext>
            </a:extLst>
          </p:cNvPr>
          <p:cNvSpPr>
            <a:spLocks noEditPoints="1"/>
          </p:cNvSpPr>
          <p:nvPr/>
        </p:nvSpPr>
        <p:spPr bwMode="auto">
          <a:xfrm>
            <a:off x="2897188" y="2543175"/>
            <a:ext cx="36513" cy="36513"/>
          </a:xfrm>
          <a:custGeom>
            <a:avLst/>
            <a:gdLst>
              <a:gd name="T0" fmla="*/ 23 w 23"/>
              <a:gd name="T1" fmla="*/ 11 h 23"/>
              <a:gd name="T2" fmla="*/ 23 w 23"/>
              <a:gd name="T3" fmla="*/ 8 h 23"/>
              <a:gd name="T4" fmla="*/ 23 w 23"/>
              <a:gd name="T5" fmla="*/ 6 h 23"/>
              <a:gd name="T6" fmla="*/ 21 w 23"/>
              <a:gd name="T7" fmla="*/ 5 h 23"/>
              <a:gd name="T8" fmla="*/ 20 w 23"/>
              <a:gd name="T9" fmla="*/ 3 h 23"/>
              <a:gd name="T10" fmla="*/ 18 w 23"/>
              <a:gd name="T11" fmla="*/ 1 h 23"/>
              <a:gd name="T12" fmla="*/ 16 w 23"/>
              <a:gd name="T13" fmla="*/ 0 h 23"/>
              <a:gd name="T14" fmla="*/ 13 w 23"/>
              <a:gd name="T15" fmla="*/ 0 h 23"/>
              <a:gd name="T16" fmla="*/ 11 w 23"/>
              <a:gd name="T17" fmla="*/ 0 h 23"/>
              <a:gd name="T18" fmla="*/ 8 w 23"/>
              <a:gd name="T19" fmla="*/ 0 h 23"/>
              <a:gd name="T20" fmla="*/ 6 w 23"/>
              <a:gd name="T21" fmla="*/ 0 h 23"/>
              <a:gd name="T22" fmla="*/ 5 w 23"/>
              <a:gd name="T23" fmla="*/ 1 h 23"/>
              <a:gd name="T24" fmla="*/ 3 w 23"/>
              <a:gd name="T25" fmla="*/ 3 h 23"/>
              <a:gd name="T26" fmla="*/ 1 w 23"/>
              <a:gd name="T27" fmla="*/ 5 h 23"/>
              <a:gd name="T28" fmla="*/ 0 w 23"/>
              <a:gd name="T29" fmla="*/ 6 h 23"/>
              <a:gd name="T30" fmla="*/ 0 w 23"/>
              <a:gd name="T31" fmla="*/ 8 h 23"/>
              <a:gd name="T32" fmla="*/ 0 w 23"/>
              <a:gd name="T33" fmla="*/ 11 h 23"/>
              <a:gd name="T34" fmla="*/ 0 w 23"/>
              <a:gd name="T35" fmla="*/ 13 h 23"/>
              <a:gd name="T36" fmla="*/ 0 w 23"/>
              <a:gd name="T37" fmla="*/ 16 h 23"/>
              <a:gd name="T38" fmla="*/ 1 w 23"/>
              <a:gd name="T39" fmla="*/ 18 h 23"/>
              <a:gd name="T40" fmla="*/ 3 w 23"/>
              <a:gd name="T41" fmla="*/ 19 h 23"/>
              <a:gd name="T42" fmla="*/ 5 w 23"/>
              <a:gd name="T43" fmla="*/ 21 h 23"/>
              <a:gd name="T44" fmla="*/ 6 w 23"/>
              <a:gd name="T45" fmla="*/ 23 h 23"/>
              <a:gd name="T46" fmla="*/ 8 w 23"/>
              <a:gd name="T47" fmla="*/ 23 h 23"/>
              <a:gd name="T48" fmla="*/ 11 w 23"/>
              <a:gd name="T49" fmla="*/ 23 h 23"/>
              <a:gd name="T50" fmla="*/ 13 w 23"/>
              <a:gd name="T51" fmla="*/ 23 h 23"/>
              <a:gd name="T52" fmla="*/ 16 w 23"/>
              <a:gd name="T53" fmla="*/ 23 h 23"/>
              <a:gd name="T54" fmla="*/ 18 w 23"/>
              <a:gd name="T55" fmla="*/ 21 h 23"/>
              <a:gd name="T56" fmla="*/ 20 w 23"/>
              <a:gd name="T57" fmla="*/ 19 h 23"/>
              <a:gd name="T58" fmla="*/ 21 w 23"/>
              <a:gd name="T59" fmla="*/ 18 h 23"/>
              <a:gd name="T60" fmla="*/ 23 w 23"/>
              <a:gd name="T61" fmla="*/ 16 h 23"/>
              <a:gd name="T62" fmla="*/ 23 w 23"/>
              <a:gd name="T63" fmla="*/ 13 h 23"/>
              <a:gd name="T64" fmla="*/ 23 w 23"/>
              <a:gd name="T65" fmla="*/ 11 h 23"/>
              <a:gd name="T66" fmla="*/ 18 w 23"/>
              <a:gd name="T67" fmla="*/ 11 h 23"/>
              <a:gd name="T68" fmla="*/ 18 w 23"/>
              <a:gd name="T69" fmla="*/ 13 h 23"/>
              <a:gd name="T70" fmla="*/ 18 w 23"/>
              <a:gd name="T71" fmla="*/ 14 h 23"/>
              <a:gd name="T72" fmla="*/ 16 w 23"/>
              <a:gd name="T73" fmla="*/ 14 h 23"/>
              <a:gd name="T74" fmla="*/ 16 w 23"/>
              <a:gd name="T75" fmla="*/ 16 h 23"/>
              <a:gd name="T76" fmla="*/ 15 w 23"/>
              <a:gd name="T77" fmla="*/ 16 h 23"/>
              <a:gd name="T78" fmla="*/ 15 w 23"/>
              <a:gd name="T79" fmla="*/ 18 h 23"/>
              <a:gd name="T80" fmla="*/ 13 w 23"/>
              <a:gd name="T81" fmla="*/ 18 h 23"/>
              <a:gd name="T82" fmla="*/ 11 w 23"/>
              <a:gd name="T83" fmla="*/ 18 h 23"/>
              <a:gd name="T84" fmla="*/ 10 w 23"/>
              <a:gd name="T85" fmla="*/ 18 h 23"/>
              <a:gd name="T86" fmla="*/ 8 w 23"/>
              <a:gd name="T87" fmla="*/ 18 h 23"/>
              <a:gd name="T88" fmla="*/ 6 w 23"/>
              <a:gd name="T89" fmla="*/ 16 h 23"/>
              <a:gd name="T90" fmla="*/ 5 w 23"/>
              <a:gd name="T91" fmla="*/ 14 h 23"/>
              <a:gd name="T92" fmla="*/ 5 w 23"/>
              <a:gd name="T93" fmla="*/ 13 h 23"/>
              <a:gd name="T94" fmla="*/ 5 w 23"/>
              <a:gd name="T95" fmla="*/ 11 h 23"/>
              <a:gd name="T96" fmla="*/ 5 w 23"/>
              <a:gd name="T97" fmla="*/ 10 h 23"/>
              <a:gd name="T98" fmla="*/ 5 w 23"/>
              <a:gd name="T99" fmla="*/ 8 h 23"/>
              <a:gd name="T100" fmla="*/ 5 w 23"/>
              <a:gd name="T101" fmla="*/ 6 h 23"/>
              <a:gd name="T102" fmla="*/ 6 w 23"/>
              <a:gd name="T103" fmla="*/ 6 h 23"/>
              <a:gd name="T104" fmla="*/ 6 w 23"/>
              <a:gd name="T105" fmla="*/ 5 h 23"/>
              <a:gd name="T106" fmla="*/ 8 w 23"/>
              <a:gd name="T107" fmla="*/ 5 h 23"/>
              <a:gd name="T108" fmla="*/ 10 w 23"/>
              <a:gd name="T109" fmla="*/ 5 h 23"/>
              <a:gd name="T110" fmla="*/ 11 w 23"/>
              <a:gd name="T111" fmla="*/ 5 h 23"/>
              <a:gd name="T112" fmla="*/ 13 w 23"/>
              <a:gd name="T113" fmla="*/ 5 h 23"/>
              <a:gd name="T114" fmla="*/ 15 w 23"/>
              <a:gd name="T115" fmla="*/ 5 h 23"/>
              <a:gd name="T116" fmla="*/ 16 w 23"/>
              <a:gd name="T117" fmla="*/ 6 h 23"/>
              <a:gd name="T118" fmla="*/ 18 w 23"/>
              <a:gd name="T119" fmla="*/ 8 h 23"/>
              <a:gd name="T120" fmla="*/ 18 w 23"/>
              <a:gd name="T121" fmla="*/ 10 h 23"/>
              <a:gd name="T122" fmla="*/ 18 w 23"/>
              <a:gd name="T123" fmla="*/ 11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3" h="23">
                <a:moveTo>
                  <a:pt x="23" y="11"/>
                </a:moveTo>
                <a:lnTo>
                  <a:pt x="23" y="8"/>
                </a:lnTo>
                <a:lnTo>
                  <a:pt x="23" y="6"/>
                </a:lnTo>
                <a:lnTo>
                  <a:pt x="21" y="5"/>
                </a:lnTo>
                <a:lnTo>
                  <a:pt x="20" y="3"/>
                </a:lnTo>
                <a:lnTo>
                  <a:pt x="18" y="1"/>
                </a:lnTo>
                <a:lnTo>
                  <a:pt x="16" y="0"/>
                </a:lnTo>
                <a:lnTo>
                  <a:pt x="13" y="0"/>
                </a:lnTo>
                <a:lnTo>
                  <a:pt x="11" y="0"/>
                </a:lnTo>
                <a:lnTo>
                  <a:pt x="8" y="0"/>
                </a:lnTo>
                <a:lnTo>
                  <a:pt x="6" y="0"/>
                </a:lnTo>
                <a:lnTo>
                  <a:pt x="5" y="1"/>
                </a:lnTo>
                <a:lnTo>
                  <a:pt x="3" y="3"/>
                </a:lnTo>
                <a:lnTo>
                  <a:pt x="1" y="5"/>
                </a:lnTo>
                <a:lnTo>
                  <a:pt x="0" y="6"/>
                </a:lnTo>
                <a:lnTo>
                  <a:pt x="0" y="8"/>
                </a:lnTo>
                <a:lnTo>
                  <a:pt x="0" y="11"/>
                </a:lnTo>
                <a:lnTo>
                  <a:pt x="0" y="13"/>
                </a:lnTo>
                <a:lnTo>
                  <a:pt x="0" y="16"/>
                </a:lnTo>
                <a:lnTo>
                  <a:pt x="1" y="18"/>
                </a:lnTo>
                <a:lnTo>
                  <a:pt x="3" y="19"/>
                </a:lnTo>
                <a:lnTo>
                  <a:pt x="5" y="21"/>
                </a:lnTo>
                <a:lnTo>
                  <a:pt x="6" y="23"/>
                </a:lnTo>
                <a:lnTo>
                  <a:pt x="8" y="23"/>
                </a:lnTo>
                <a:lnTo>
                  <a:pt x="11" y="23"/>
                </a:lnTo>
                <a:lnTo>
                  <a:pt x="13" y="23"/>
                </a:lnTo>
                <a:lnTo>
                  <a:pt x="16" y="23"/>
                </a:lnTo>
                <a:lnTo>
                  <a:pt x="18" y="21"/>
                </a:lnTo>
                <a:lnTo>
                  <a:pt x="20" y="19"/>
                </a:lnTo>
                <a:lnTo>
                  <a:pt x="21" y="18"/>
                </a:lnTo>
                <a:lnTo>
                  <a:pt x="23" y="16"/>
                </a:lnTo>
                <a:lnTo>
                  <a:pt x="23" y="13"/>
                </a:lnTo>
                <a:lnTo>
                  <a:pt x="23" y="11"/>
                </a:lnTo>
                <a:close/>
                <a:moveTo>
                  <a:pt x="18" y="11"/>
                </a:moveTo>
                <a:lnTo>
                  <a:pt x="18" y="13"/>
                </a:lnTo>
                <a:lnTo>
                  <a:pt x="18" y="14"/>
                </a:lnTo>
                <a:lnTo>
                  <a:pt x="16" y="14"/>
                </a:lnTo>
                <a:lnTo>
                  <a:pt x="16" y="16"/>
                </a:lnTo>
                <a:lnTo>
                  <a:pt x="15" y="16"/>
                </a:lnTo>
                <a:lnTo>
                  <a:pt x="15" y="18"/>
                </a:lnTo>
                <a:lnTo>
                  <a:pt x="13" y="18"/>
                </a:lnTo>
                <a:lnTo>
                  <a:pt x="11" y="18"/>
                </a:lnTo>
                <a:lnTo>
                  <a:pt x="10" y="18"/>
                </a:lnTo>
                <a:lnTo>
                  <a:pt x="8" y="18"/>
                </a:lnTo>
                <a:lnTo>
                  <a:pt x="6" y="16"/>
                </a:lnTo>
                <a:lnTo>
                  <a:pt x="5" y="14"/>
                </a:lnTo>
                <a:lnTo>
                  <a:pt x="5" y="13"/>
                </a:lnTo>
                <a:lnTo>
                  <a:pt x="5" y="11"/>
                </a:lnTo>
                <a:lnTo>
                  <a:pt x="5" y="10"/>
                </a:lnTo>
                <a:lnTo>
                  <a:pt x="5" y="8"/>
                </a:lnTo>
                <a:lnTo>
                  <a:pt x="5" y="6"/>
                </a:lnTo>
                <a:lnTo>
                  <a:pt x="6" y="6"/>
                </a:lnTo>
                <a:lnTo>
                  <a:pt x="6" y="5"/>
                </a:lnTo>
                <a:lnTo>
                  <a:pt x="8" y="5"/>
                </a:lnTo>
                <a:lnTo>
                  <a:pt x="10" y="5"/>
                </a:lnTo>
                <a:lnTo>
                  <a:pt x="11" y="5"/>
                </a:lnTo>
                <a:lnTo>
                  <a:pt x="13" y="5"/>
                </a:lnTo>
                <a:lnTo>
                  <a:pt x="15" y="5"/>
                </a:lnTo>
                <a:lnTo>
                  <a:pt x="16" y="6"/>
                </a:lnTo>
                <a:lnTo>
                  <a:pt x="18" y="8"/>
                </a:lnTo>
                <a:lnTo>
                  <a:pt x="18" y="10"/>
                </a:lnTo>
                <a:lnTo>
                  <a:pt x="18" y="11"/>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14" name="Freeform 1419">
            <a:extLst>
              <a:ext uri="{FF2B5EF4-FFF2-40B4-BE49-F238E27FC236}">
                <a16:creationId xmlns:a16="http://schemas.microsoft.com/office/drawing/2014/main" id="{6FA0E9C0-87E5-7EC9-D7F3-A66BB4DB3412}"/>
              </a:ext>
            </a:extLst>
          </p:cNvPr>
          <p:cNvSpPr>
            <a:spLocks noEditPoints="1"/>
          </p:cNvSpPr>
          <p:nvPr/>
        </p:nvSpPr>
        <p:spPr bwMode="auto">
          <a:xfrm>
            <a:off x="2898775" y="2544763"/>
            <a:ext cx="31750" cy="31750"/>
          </a:xfrm>
          <a:custGeom>
            <a:avLst/>
            <a:gdLst>
              <a:gd name="T0" fmla="*/ 20 w 20"/>
              <a:gd name="T1" fmla="*/ 10 h 20"/>
              <a:gd name="T2" fmla="*/ 20 w 20"/>
              <a:gd name="T3" fmla="*/ 9 h 20"/>
              <a:gd name="T4" fmla="*/ 19 w 20"/>
              <a:gd name="T5" fmla="*/ 7 h 20"/>
              <a:gd name="T6" fmla="*/ 19 w 20"/>
              <a:gd name="T7" fmla="*/ 5 h 20"/>
              <a:gd name="T8" fmla="*/ 17 w 20"/>
              <a:gd name="T9" fmla="*/ 4 h 20"/>
              <a:gd name="T10" fmla="*/ 15 w 20"/>
              <a:gd name="T11" fmla="*/ 2 h 20"/>
              <a:gd name="T12" fmla="*/ 14 w 20"/>
              <a:gd name="T13" fmla="*/ 2 h 20"/>
              <a:gd name="T14" fmla="*/ 12 w 20"/>
              <a:gd name="T15" fmla="*/ 0 h 20"/>
              <a:gd name="T16" fmla="*/ 10 w 20"/>
              <a:gd name="T17" fmla="*/ 0 h 20"/>
              <a:gd name="T18" fmla="*/ 9 w 20"/>
              <a:gd name="T19" fmla="*/ 0 h 20"/>
              <a:gd name="T20" fmla="*/ 7 w 20"/>
              <a:gd name="T21" fmla="*/ 2 h 20"/>
              <a:gd name="T22" fmla="*/ 5 w 20"/>
              <a:gd name="T23" fmla="*/ 2 h 20"/>
              <a:gd name="T24" fmla="*/ 4 w 20"/>
              <a:gd name="T25" fmla="*/ 4 h 20"/>
              <a:gd name="T26" fmla="*/ 2 w 20"/>
              <a:gd name="T27" fmla="*/ 5 h 20"/>
              <a:gd name="T28" fmla="*/ 2 w 20"/>
              <a:gd name="T29" fmla="*/ 7 h 20"/>
              <a:gd name="T30" fmla="*/ 0 w 20"/>
              <a:gd name="T31" fmla="*/ 9 h 20"/>
              <a:gd name="T32" fmla="*/ 0 w 20"/>
              <a:gd name="T33" fmla="*/ 10 h 20"/>
              <a:gd name="T34" fmla="*/ 0 w 20"/>
              <a:gd name="T35" fmla="*/ 12 h 20"/>
              <a:gd name="T36" fmla="*/ 2 w 20"/>
              <a:gd name="T37" fmla="*/ 13 h 20"/>
              <a:gd name="T38" fmla="*/ 2 w 20"/>
              <a:gd name="T39" fmla="*/ 15 h 20"/>
              <a:gd name="T40" fmla="*/ 4 w 20"/>
              <a:gd name="T41" fmla="*/ 17 h 20"/>
              <a:gd name="T42" fmla="*/ 5 w 20"/>
              <a:gd name="T43" fmla="*/ 18 h 20"/>
              <a:gd name="T44" fmla="*/ 7 w 20"/>
              <a:gd name="T45" fmla="*/ 18 h 20"/>
              <a:gd name="T46" fmla="*/ 9 w 20"/>
              <a:gd name="T47" fmla="*/ 20 h 20"/>
              <a:gd name="T48" fmla="*/ 10 w 20"/>
              <a:gd name="T49" fmla="*/ 20 h 20"/>
              <a:gd name="T50" fmla="*/ 12 w 20"/>
              <a:gd name="T51" fmla="*/ 20 h 20"/>
              <a:gd name="T52" fmla="*/ 14 w 20"/>
              <a:gd name="T53" fmla="*/ 18 h 20"/>
              <a:gd name="T54" fmla="*/ 15 w 20"/>
              <a:gd name="T55" fmla="*/ 18 h 20"/>
              <a:gd name="T56" fmla="*/ 17 w 20"/>
              <a:gd name="T57" fmla="*/ 17 h 20"/>
              <a:gd name="T58" fmla="*/ 19 w 20"/>
              <a:gd name="T59" fmla="*/ 15 h 20"/>
              <a:gd name="T60" fmla="*/ 19 w 20"/>
              <a:gd name="T61" fmla="*/ 13 h 20"/>
              <a:gd name="T62" fmla="*/ 20 w 20"/>
              <a:gd name="T63" fmla="*/ 12 h 20"/>
              <a:gd name="T64" fmla="*/ 20 w 20"/>
              <a:gd name="T65" fmla="*/ 10 h 20"/>
              <a:gd name="T66" fmla="*/ 15 w 20"/>
              <a:gd name="T67" fmla="*/ 10 h 20"/>
              <a:gd name="T68" fmla="*/ 15 w 20"/>
              <a:gd name="T69" fmla="*/ 10 h 20"/>
              <a:gd name="T70" fmla="*/ 15 w 20"/>
              <a:gd name="T71" fmla="*/ 12 h 20"/>
              <a:gd name="T72" fmla="*/ 14 w 20"/>
              <a:gd name="T73" fmla="*/ 13 h 20"/>
              <a:gd name="T74" fmla="*/ 12 w 20"/>
              <a:gd name="T75" fmla="*/ 13 h 20"/>
              <a:gd name="T76" fmla="*/ 12 w 20"/>
              <a:gd name="T77" fmla="*/ 15 h 20"/>
              <a:gd name="T78" fmla="*/ 10 w 20"/>
              <a:gd name="T79" fmla="*/ 15 h 20"/>
              <a:gd name="T80" fmla="*/ 9 w 20"/>
              <a:gd name="T81" fmla="*/ 15 h 20"/>
              <a:gd name="T82" fmla="*/ 7 w 20"/>
              <a:gd name="T83" fmla="*/ 13 h 20"/>
              <a:gd name="T84" fmla="*/ 5 w 20"/>
              <a:gd name="T85" fmla="*/ 13 h 20"/>
              <a:gd name="T86" fmla="*/ 5 w 20"/>
              <a:gd name="T87" fmla="*/ 12 h 20"/>
              <a:gd name="T88" fmla="*/ 5 w 20"/>
              <a:gd name="T89" fmla="*/ 10 h 20"/>
              <a:gd name="T90" fmla="*/ 5 w 20"/>
              <a:gd name="T91" fmla="*/ 9 h 20"/>
              <a:gd name="T92" fmla="*/ 5 w 20"/>
              <a:gd name="T93" fmla="*/ 7 h 20"/>
              <a:gd name="T94" fmla="*/ 7 w 20"/>
              <a:gd name="T95" fmla="*/ 7 h 20"/>
              <a:gd name="T96" fmla="*/ 7 w 20"/>
              <a:gd name="T97" fmla="*/ 5 h 20"/>
              <a:gd name="T98" fmla="*/ 9 w 20"/>
              <a:gd name="T99" fmla="*/ 5 h 20"/>
              <a:gd name="T100" fmla="*/ 10 w 20"/>
              <a:gd name="T101" fmla="*/ 5 h 20"/>
              <a:gd name="T102" fmla="*/ 12 w 20"/>
              <a:gd name="T103" fmla="*/ 5 h 20"/>
              <a:gd name="T104" fmla="*/ 14 w 20"/>
              <a:gd name="T105" fmla="*/ 7 h 20"/>
              <a:gd name="T106" fmla="*/ 15 w 20"/>
              <a:gd name="T107" fmla="*/ 9 h 20"/>
              <a:gd name="T108" fmla="*/ 15 w 20"/>
              <a:gd name="T109" fmla="*/ 1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0" h="20">
                <a:moveTo>
                  <a:pt x="20" y="10"/>
                </a:moveTo>
                <a:lnTo>
                  <a:pt x="20" y="9"/>
                </a:lnTo>
                <a:lnTo>
                  <a:pt x="19" y="7"/>
                </a:lnTo>
                <a:lnTo>
                  <a:pt x="19" y="5"/>
                </a:lnTo>
                <a:lnTo>
                  <a:pt x="17" y="4"/>
                </a:lnTo>
                <a:lnTo>
                  <a:pt x="15" y="2"/>
                </a:lnTo>
                <a:lnTo>
                  <a:pt x="14" y="2"/>
                </a:lnTo>
                <a:lnTo>
                  <a:pt x="12" y="0"/>
                </a:lnTo>
                <a:lnTo>
                  <a:pt x="10" y="0"/>
                </a:lnTo>
                <a:lnTo>
                  <a:pt x="9" y="0"/>
                </a:lnTo>
                <a:lnTo>
                  <a:pt x="7" y="2"/>
                </a:lnTo>
                <a:lnTo>
                  <a:pt x="5" y="2"/>
                </a:lnTo>
                <a:lnTo>
                  <a:pt x="4" y="4"/>
                </a:lnTo>
                <a:lnTo>
                  <a:pt x="2" y="5"/>
                </a:lnTo>
                <a:lnTo>
                  <a:pt x="2" y="7"/>
                </a:lnTo>
                <a:lnTo>
                  <a:pt x="0" y="9"/>
                </a:lnTo>
                <a:lnTo>
                  <a:pt x="0" y="10"/>
                </a:lnTo>
                <a:lnTo>
                  <a:pt x="0" y="12"/>
                </a:lnTo>
                <a:lnTo>
                  <a:pt x="2" y="13"/>
                </a:lnTo>
                <a:lnTo>
                  <a:pt x="2" y="15"/>
                </a:lnTo>
                <a:lnTo>
                  <a:pt x="4" y="17"/>
                </a:lnTo>
                <a:lnTo>
                  <a:pt x="5" y="18"/>
                </a:lnTo>
                <a:lnTo>
                  <a:pt x="7" y="18"/>
                </a:lnTo>
                <a:lnTo>
                  <a:pt x="9" y="20"/>
                </a:lnTo>
                <a:lnTo>
                  <a:pt x="10" y="20"/>
                </a:lnTo>
                <a:lnTo>
                  <a:pt x="12" y="20"/>
                </a:lnTo>
                <a:lnTo>
                  <a:pt x="14" y="18"/>
                </a:lnTo>
                <a:lnTo>
                  <a:pt x="15" y="18"/>
                </a:lnTo>
                <a:lnTo>
                  <a:pt x="17" y="17"/>
                </a:lnTo>
                <a:lnTo>
                  <a:pt x="19" y="15"/>
                </a:lnTo>
                <a:lnTo>
                  <a:pt x="19" y="13"/>
                </a:lnTo>
                <a:lnTo>
                  <a:pt x="20" y="12"/>
                </a:lnTo>
                <a:lnTo>
                  <a:pt x="20" y="10"/>
                </a:lnTo>
                <a:close/>
                <a:moveTo>
                  <a:pt x="15" y="10"/>
                </a:moveTo>
                <a:lnTo>
                  <a:pt x="15" y="10"/>
                </a:lnTo>
                <a:lnTo>
                  <a:pt x="15" y="12"/>
                </a:lnTo>
                <a:lnTo>
                  <a:pt x="14" y="13"/>
                </a:lnTo>
                <a:lnTo>
                  <a:pt x="12" y="13"/>
                </a:lnTo>
                <a:lnTo>
                  <a:pt x="12" y="15"/>
                </a:lnTo>
                <a:lnTo>
                  <a:pt x="10" y="15"/>
                </a:lnTo>
                <a:lnTo>
                  <a:pt x="9" y="15"/>
                </a:lnTo>
                <a:lnTo>
                  <a:pt x="7" y="13"/>
                </a:lnTo>
                <a:lnTo>
                  <a:pt x="5" y="13"/>
                </a:lnTo>
                <a:lnTo>
                  <a:pt x="5" y="12"/>
                </a:lnTo>
                <a:lnTo>
                  <a:pt x="5" y="10"/>
                </a:lnTo>
                <a:lnTo>
                  <a:pt x="5" y="9"/>
                </a:lnTo>
                <a:lnTo>
                  <a:pt x="5" y="7"/>
                </a:lnTo>
                <a:lnTo>
                  <a:pt x="7" y="7"/>
                </a:lnTo>
                <a:lnTo>
                  <a:pt x="7" y="5"/>
                </a:lnTo>
                <a:lnTo>
                  <a:pt x="9" y="5"/>
                </a:lnTo>
                <a:lnTo>
                  <a:pt x="10" y="5"/>
                </a:lnTo>
                <a:lnTo>
                  <a:pt x="12" y="5"/>
                </a:lnTo>
                <a:lnTo>
                  <a:pt x="14" y="7"/>
                </a:lnTo>
                <a:lnTo>
                  <a:pt x="15" y="9"/>
                </a:lnTo>
                <a:lnTo>
                  <a:pt x="15" y="10"/>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15" name="Freeform 1420">
            <a:extLst>
              <a:ext uri="{FF2B5EF4-FFF2-40B4-BE49-F238E27FC236}">
                <a16:creationId xmlns:a16="http://schemas.microsoft.com/office/drawing/2014/main" id="{A15B1F85-67AC-81C4-A7AF-3656815E2D04}"/>
              </a:ext>
            </a:extLst>
          </p:cNvPr>
          <p:cNvSpPr>
            <a:spLocks/>
          </p:cNvSpPr>
          <p:nvPr/>
        </p:nvSpPr>
        <p:spPr bwMode="auto">
          <a:xfrm>
            <a:off x="2905125" y="2551113"/>
            <a:ext cx="20638" cy="20638"/>
          </a:xfrm>
          <a:custGeom>
            <a:avLst/>
            <a:gdLst>
              <a:gd name="T0" fmla="*/ 13 w 13"/>
              <a:gd name="T1" fmla="*/ 6 h 13"/>
              <a:gd name="T2" fmla="*/ 13 w 13"/>
              <a:gd name="T3" fmla="*/ 5 h 13"/>
              <a:gd name="T4" fmla="*/ 13 w 13"/>
              <a:gd name="T5" fmla="*/ 3 h 13"/>
              <a:gd name="T6" fmla="*/ 11 w 13"/>
              <a:gd name="T7" fmla="*/ 1 h 13"/>
              <a:gd name="T8" fmla="*/ 10 w 13"/>
              <a:gd name="T9" fmla="*/ 0 h 13"/>
              <a:gd name="T10" fmla="*/ 8 w 13"/>
              <a:gd name="T11" fmla="*/ 0 h 13"/>
              <a:gd name="T12" fmla="*/ 6 w 13"/>
              <a:gd name="T13" fmla="*/ 0 h 13"/>
              <a:gd name="T14" fmla="*/ 5 w 13"/>
              <a:gd name="T15" fmla="*/ 0 h 13"/>
              <a:gd name="T16" fmla="*/ 3 w 13"/>
              <a:gd name="T17" fmla="*/ 0 h 13"/>
              <a:gd name="T18" fmla="*/ 1 w 13"/>
              <a:gd name="T19" fmla="*/ 0 h 13"/>
              <a:gd name="T20" fmla="*/ 1 w 13"/>
              <a:gd name="T21" fmla="*/ 1 h 13"/>
              <a:gd name="T22" fmla="*/ 0 w 13"/>
              <a:gd name="T23" fmla="*/ 1 h 13"/>
              <a:gd name="T24" fmla="*/ 0 w 13"/>
              <a:gd name="T25" fmla="*/ 3 h 13"/>
              <a:gd name="T26" fmla="*/ 0 w 13"/>
              <a:gd name="T27" fmla="*/ 5 h 13"/>
              <a:gd name="T28" fmla="*/ 0 w 13"/>
              <a:gd name="T29" fmla="*/ 6 h 13"/>
              <a:gd name="T30" fmla="*/ 0 w 13"/>
              <a:gd name="T31" fmla="*/ 8 h 13"/>
              <a:gd name="T32" fmla="*/ 0 w 13"/>
              <a:gd name="T33" fmla="*/ 9 h 13"/>
              <a:gd name="T34" fmla="*/ 1 w 13"/>
              <a:gd name="T35" fmla="*/ 11 h 13"/>
              <a:gd name="T36" fmla="*/ 3 w 13"/>
              <a:gd name="T37" fmla="*/ 13 h 13"/>
              <a:gd name="T38" fmla="*/ 5 w 13"/>
              <a:gd name="T39" fmla="*/ 13 h 13"/>
              <a:gd name="T40" fmla="*/ 6 w 13"/>
              <a:gd name="T41" fmla="*/ 13 h 13"/>
              <a:gd name="T42" fmla="*/ 8 w 13"/>
              <a:gd name="T43" fmla="*/ 13 h 13"/>
              <a:gd name="T44" fmla="*/ 10 w 13"/>
              <a:gd name="T45" fmla="*/ 13 h 13"/>
              <a:gd name="T46" fmla="*/ 10 w 13"/>
              <a:gd name="T47" fmla="*/ 11 h 13"/>
              <a:gd name="T48" fmla="*/ 11 w 13"/>
              <a:gd name="T49" fmla="*/ 11 h 13"/>
              <a:gd name="T50" fmla="*/ 11 w 13"/>
              <a:gd name="T51" fmla="*/ 9 h 13"/>
              <a:gd name="T52" fmla="*/ 13 w 13"/>
              <a:gd name="T53" fmla="*/ 9 h 13"/>
              <a:gd name="T54" fmla="*/ 13 w 13"/>
              <a:gd name="T55" fmla="*/ 8 h 13"/>
              <a:gd name="T56" fmla="*/ 13 w 13"/>
              <a:gd name="T57" fmla="*/ 6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 h="13">
                <a:moveTo>
                  <a:pt x="13" y="6"/>
                </a:moveTo>
                <a:lnTo>
                  <a:pt x="13" y="5"/>
                </a:lnTo>
                <a:lnTo>
                  <a:pt x="13" y="3"/>
                </a:lnTo>
                <a:lnTo>
                  <a:pt x="11" y="1"/>
                </a:lnTo>
                <a:lnTo>
                  <a:pt x="10" y="0"/>
                </a:lnTo>
                <a:lnTo>
                  <a:pt x="8" y="0"/>
                </a:lnTo>
                <a:lnTo>
                  <a:pt x="6" y="0"/>
                </a:lnTo>
                <a:lnTo>
                  <a:pt x="5" y="0"/>
                </a:lnTo>
                <a:lnTo>
                  <a:pt x="3" y="0"/>
                </a:lnTo>
                <a:lnTo>
                  <a:pt x="1" y="0"/>
                </a:lnTo>
                <a:lnTo>
                  <a:pt x="1" y="1"/>
                </a:lnTo>
                <a:lnTo>
                  <a:pt x="0" y="1"/>
                </a:lnTo>
                <a:lnTo>
                  <a:pt x="0" y="3"/>
                </a:lnTo>
                <a:lnTo>
                  <a:pt x="0" y="5"/>
                </a:lnTo>
                <a:lnTo>
                  <a:pt x="0" y="6"/>
                </a:lnTo>
                <a:lnTo>
                  <a:pt x="0" y="8"/>
                </a:lnTo>
                <a:lnTo>
                  <a:pt x="0" y="9"/>
                </a:lnTo>
                <a:lnTo>
                  <a:pt x="1" y="11"/>
                </a:lnTo>
                <a:lnTo>
                  <a:pt x="3" y="13"/>
                </a:lnTo>
                <a:lnTo>
                  <a:pt x="5" y="13"/>
                </a:lnTo>
                <a:lnTo>
                  <a:pt x="6" y="13"/>
                </a:lnTo>
                <a:lnTo>
                  <a:pt x="8" y="13"/>
                </a:lnTo>
                <a:lnTo>
                  <a:pt x="10" y="13"/>
                </a:lnTo>
                <a:lnTo>
                  <a:pt x="10" y="11"/>
                </a:lnTo>
                <a:lnTo>
                  <a:pt x="11" y="11"/>
                </a:lnTo>
                <a:lnTo>
                  <a:pt x="11" y="9"/>
                </a:lnTo>
                <a:lnTo>
                  <a:pt x="13" y="9"/>
                </a:lnTo>
                <a:lnTo>
                  <a:pt x="13" y="8"/>
                </a:lnTo>
                <a:lnTo>
                  <a:pt x="13" y="6"/>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16" name="Freeform 1421">
            <a:extLst>
              <a:ext uri="{FF2B5EF4-FFF2-40B4-BE49-F238E27FC236}">
                <a16:creationId xmlns:a16="http://schemas.microsoft.com/office/drawing/2014/main" id="{BCE80DB5-4B0A-F6C2-23EE-B25393243F8B}"/>
              </a:ext>
            </a:extLst>
          </p:cNvPr>
          <p:cNvSpPr>
            <a:spLocks/>
          </p:cNvSpPr>
          <p:nvPr/>
        </p:nvSpPr>
        <p:spPr bwMode="auto">
          <a:xfrm>
            <a:off x="2906713" y="2552700"/>
            <a:ext cx="15875" cy="15875"/>
          </a:xfrm>
          <a:custGeom>
            <a:avLst/>
            <a:gdLst>
              <a:gd name="T0" fmla="*/ 10 w 10"/>
              <a:gd name="T1" fmla="*/ 5 h 10"/>
              <a:gd name="T2" fmla="*/ 10 w 10"/>
              <a:gd name="T3" fmla="*/ 4 h 10"/>
              <a:gd name="T4" fmla="*/ 9 w 10"/>
              <a:gd name="T5" fmla="*/ 2 h 10"/>
              <a:gd name="T6" fmla="*/ 7 w 10"/>
              <a:gd name="T7" fmla="*/ 0 h 10"/>
              <a:gd name="T8" fmla="*/ 5 w 10"/>
              <a:gd name="T9" fmla="*/ 0 h 10"/>
              <a:gd name="T10" fmla="*/ 4 w 10"/>
              <a:gd name="T11" fmla="*/ 0 h 10"/>
              <a:gd name="T12" fmla="*/ 2 w 10"/>
              <a:gd name="T13" fmla="*/ 0 h 10"/>
              <a:gd name="T14" fmla="*/ 2 w 10"/>
              <a:gd name="T15" fmla="*/ 2 h 10"/>
              <a:gd name="T16" fmla="*/ 0 w 10"/>
              <a:gd name="T17" fmla="*/ 2 h 10"/>
              <a:gd name="T18" fmla="*/ 0 w 10"/>
              <a:gd name="T19" fmla="*/ 4 h 10"/>
              <a:gd name="T20" fmla="*/ 0 w 10"/>
              <a:gd name="T21" fmla="*/ 5 h 10"/>
              <a:gd name="T22" fmla="*/ 0 w 10"/>
              <a:gd name="T23" fmla="*/ 7 h 10"/>
              <a:gd name="T24" fmla="*/ 0 w 10"/>
              <a:gd name="T25" fmla="*/ 8 h 10"/>
              <a:gd name="T26" fmla="*/ 2 w 10"/>
              <a:gd name="T27" fmla="*/ 8 h 10"/>
              <a:gd name="T28" fmla="*/ 4 w 10"/>
              <a:gd name="T29" fmla="*/ 10 h 10"/>
              <a:gd name="T30" fmla="*/ 5 w 10"/>
              <a:gd name="T31" fmla="*/ 10 h 10"/>
              <a:gd name="T32" fmla="*/ 7 w 10"/>
              <a:gd name="T33" fmla="*/ 10 h 10"/>
              <a:gd name="T34" fmla="*/ 7 w 10"/>
              <a:gd name="T35" fmla="*/ 8 h 10"/>
              <a:gd name="T36" fmla="*/ 9 w 10"/>
              <a:gd name="T37" fmla="*/ 8 h 10"/>
              <a:gd name="T38" fmla="*/ 10 w 10"/>
              <a:gd name="T39" fmla="*/ 7 h 10"/>
              <a:gd name="T40" fmla="*/ 10 w 10"/>
              <a:gd name="T41" fmla="*/ 5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0" h="10">
                <a:moveTo>
                  <a:pt x="10" y="5"/>
                </a:moveTo>
                <a:lnTo>
                  <a:pt x="10" y="4"/>
                </a:lnTo>
                <a:lnTo>
                  <a:pt x="9" y="2"/>
                </a:lnTo>
                <a:lnTo>
                  <a:pt x="7" y="0"/>
                </a:lnTo>
                <a:lnTo>
                  <a:pt x="5" y="0"/>
                </a:lnTo>
                <a:lnTo>
                  <a:pt x="4" y="0"/>
                </a:lnTo>
                <a:lnTo>
                  <a:pt x="2" y="0"/>
                </a:lnTo>
                <a:lnTo>
                  <a:pt x="2" y="2"/>
                </a:lnTo>
                <a:lnTo>
                  <a:pt x="0" y="2"/>
                </a:lnTo>
                <a:lnTo>
                  <a:pt x="0" y="4"/>
                </a:lnTo>
                <a:lnTo>
                  <a:pt x="0" y="5"/>
                </a:lnTo>
                <a:lnTo>
                  <a:pt x="0" y="7"/>
                </a:lnTo>
                <a:lnTo>
                  <a:pt x="0" y="8"/>
                </a:lnTo>
                <a:lnTo>
                  <a:pt x="2" y="8"/>
                </a:lnTo>
                <a:lnTo>
                  <a:pt x="4" y="10"/>
                </a:lnTo>
                <a:lnTo>
                  <a:pt x="5" y="10"/>
                </a:lnTo>
                <a:lnTo>
                  <a:pt x="7" y="10"/>
                </a:lnTo>
                <a:lnTo>
                  <a:pt x="7" y="8"/>
                </a:lnTo>
                <a:lnTo>
                  <a:pt x="9" y="8"/>
                </a:lnTo>
                <a:lnTo>
                  <a:pt x="10" y="7"/>
                </a:lnTo>
                <a:lnTo>
                  <a:pt x="10" y="5"/>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17" name="Freeform 1422">
            <a:extLst>
              <a:ext uri="{FF2B5EF4-FFF2-40B4-BE49-F238E27FC236}">
                <a16:creationId xmlns:a16="http://schemas.microsoft.com/office/drawing/2014/main" id="{A599DBBA-F6ED-3336-CED6-8C29C16D3615}"/>
              </a:ext>
            </a:extLst>
          </p:cNvPr>
          <p:cNvSpPr>
            <a:spLocks/>
          </p:cNvSpPr>
          <p:nvPr/>
        </p:nvSpPr>
        <p:spPr bwMode="auto">
          <a:xfrm>
            <a:off x="2909888" y="2555875"/>
            <a:ext cx="7938" cy="7938"/>
          </a:xfrm>
          <a:custGeom>
            <a:avLst/>
            <a:gdLst>
              <a:gd name="T0" fmla="*/ 5 w 5"/>
              <a:gd name="T1" fmla="*/ 3 h 5"/>
              <a:gd name="T2" fmla="*/ 5 w 5"/>
              <a:gd name="T3" fmla="*/ 3 h 5"/>
              <a:gd name="T4" fmla="*/ 5 w 5"/>
              <a:gd name="T5" fmla="*/ 2 h 5"/>
              <a:gd name="T6" fmla="*/ 3 w 5"/>
              <a:gd name="T7" fmla="*/ 2 h 5"/>
              <a:gd name="T8" fmla="*/ 3 w 5"/>
              <a:gd name="T9" fmla="*/ 0 h 5"/>
              <a:gd name="T10" fmla="*/ 2 w 5"/>
              <a:gd name="T11" fmla="*/ 2 h 5"/>
              <a:gd name="T12" fmla="*/ 0 w 5"/>
              <a:gd name="T13" fmla="*/ 3 h 5"/>
              <a:gd name="T14" fmla="*/ 2 w 5"/>
              <a:gd name="T15" fmla="*/ 3 h 5"/>
              <a:gd name="T16" fmla="*/ 2 w 5"/>
              <a:gd name="T17" fmla="*/ 5 h 5"/>
              <a:gd name="T18" fmla="*/ 3 w 5"/>
              <a:gd name="T19" fmla="*/ 5 h 5"/>
              <a:gd name="T20" fmla="*/ 5 w 5"/>
              <a:gd name="T21" fmla="*/ 5 h 5"/>
              <a:gd name="T22" fmla="*/ 5 w 5"/>
              <a:gd name="T23" fmla="*/ 3 h 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5" h="5">
                <a:moveTo>
                  <a:pt x="5" y="3"/>
                </a:moveTo>
                <a:lnTo>
                  <a:pt x="5" y="3"/>
                </a:lnTo>
                <a:lnTo>
                  <a:pt x="5" y="2"/>
                </a:lnTo>
                <a:lnTo>
                  <a:pt x="3" y="2"/>
                </a:lnTo>
                <a:lnTo>
                  <a:pt x="3" y="0"/>
                </a:lnTo>
                <a:lnTo>
                  <a:pt x="2" y="2"/>
                </a:lnTo>
                <a:lnTo>
                  <a:pt x="0" y="3"/>
                </a:lnTo>
                <a:lnTo>
                  <a:pt x="2" y="3"/>
                </a:lnTo>
                <a:lnTo>
                  <a:pt x="2" y="5"/>
                </a:lnTo>
                <a:lnTo>
                  <a:pt x="3" y="5"/>
                </a:lnTo>
                <a:lnTo>
                  <a:pt x="5" y="5"/>
                </a:lnTo>
                <a:lnTo>
                  <a:pt x="5" y="3"/>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18" name="Freeform 1423">
            <a:extLst>
              <a:ext uri="{FF2B5EF4-FFF2-40B4-BE49-F238E27FC236}">
                <a16:creationId xmlns:a16="http://schemas.microsoft.com/office/drawing/2014/main" id="{A2EDE0B3-5C5A-DF35-D185-19B660FF3D0C}"/>
              </a:ext>
            </a:extLst>
          </p:cNvPr>
          <p:cNvSpPr>
            <a:spLocks/>
          </p:cNvSpPr>
          <p:nvPr/>
        </p:nvSpPr>
        <p:spPr bwMode="auto">
          <a:xfrm>
            <a:off x="1955800" y="2403475"/>
            <a:ext cx="1919288" cy="315913"/>
          </a:xfrm>
          <a:custGeom>
            <a:avLst/>
            <a:gdLst>
              <a:gd name="T0" fmla="*/ 422 w 1209"/>
              <a:gd name="T1" fmla="*/ 0 h 199"/>
              <a:gd name="T2" fmla="*/ 0 w 1209"/>
              <a:gd name="T3" fmla="*/ 199 h 199"/>
              <a:gd name="T4" fmla="*/ 763 w 1209"/>
              <a:gd name="T5" fmla="*/ 199 h 199"/>
              <a:gd name="T6" fmla="*/ 1209 w 1209"/>
              <a:gd name="T7" fmla="*/ 0 h 199"/>
              <a:gd name="T8" fmla="*/ 422 w 1209"/>
              <a:gd name="T9" fmla="*/ 0 h 199"/>
            </a:gdLst>
            <a:ahLst/>
            <a:cxnLst>
              <a:cxn ang="0">
                <a:pos x="T0" y="T1"/>
              </a:cxn>
              <a:cxn ang="0">
                <a:pos x="T2" y="T3"/>
              </a:cxn>
              <a:cxn ang="0">
                <a:pos x="T4" y="T5"/>
              </a:cxn>
              <a:cxn ang="0">
                <a:pos x="T6" y="T7"/>
              </a:cxn>
              <a:cxn ang="0">
                <a:pos x="T8" y="T9"/>
              </a:cxn>
            </a:cxnLst>
            <a:rect l="0" t="0" r="r" b="b"/>
            <a:pathLst>
              <a:path w="1209" h="199">
                <a:moveTo>
                  <a:pt x="422" y="0"/>
                </a:moveTo>
                <a:lnTo>
                  <a:pt x="0" y="199"/>
                </a:lnTo>
                <a:lnTo>
                  <a:pt x="763" y="199"/>
                </a:lnTo>
                <a:lnTo>
                  <a:pt x="1209" y="0"/>
                </a:lnTo>
                <a:lnTo>
                  <a:pt x="422"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1219" name="Freeform 1424">
            <a:extLst>
              <a:ext uri="{FF2B5EF4-FFF2-40B4-BE49-F238E27FC236}">
                <a16:creationId xmlns:a16="http://schemas.microsoft.com/office/drawing/2014/main" id="{8114AD41-E4BC-0A34-C7B3-D97FC6A6640A}"/>
              </a:ext>
            </a:extLst>
          </p:cNvPr>
          <p:cNvSpPr>
            <a:spLocks noEditPoints="1"/>
          </p:cNvSpPr>
          <p:nvPr/>
        </p:nvSpPr>
        <p:spPr bwMode="auto">
          <a:xfrm>
            <a:off x="1951038" y="2719388"/>
            <a:ext cx="1216025" cy="80963"/>
          </a:xfrm>
          <a:custGeom>
            <a:avLst/>
            <a:gdLst>
              <a:gd name="T0" fmla="*/ 766 w 766"/>
              <a:gd name="T1" fmla="*/ 0 h 51"/>
              <a:gd name="T2" fmla="*/ 766 w 766"/>
              <a:gd name="T3" fmla="*/ 0 h 51"/>
              <a:gd name="T4" fmla="*/ 763 w 766"/>
              <a:gd name="T5" fmla="*/ 0 h 51"/>
              <a:gd name="T6" fmla="*/ 763 w 766"/>
              <a:gd name="T7" fmla="*/ 3 h 51"/>
              <a:gd name="T8" fmla="*/ 763 w 766"/>
              <a:gd name="T9" fmla="*/ 6 h 51"/>
              <a:gd name="T10" fmla="*/ 763 w 766"/>
              <a:gd name="T11" fmla="*/ 9 h 51"/>
              <a:gd name="T12" fmla="*/ 763 w 766"/>
              <a:gd name="T13" fmla="*/ 11 h 51"/>
              <a:gd name="T14" fmla="*/ 763 w 766"/>
              <a:gd name="T15" fmla="*/ 14 h 51"/>
              <a:gd name="T16" fmla="*/ 763 w 766"/>
              <a:gd name="T17" fmla="*/ 18 h 51"/>
              <a:gd name="T18" fmla="*/ 763 w 766"/>
              <a:gd name="T19" fmla="*/ 21 h 51"/>
              <a:gd name="T20" fmla="*/ 763 w 766"/>
              <a:gd name="T21" fmla="*/ 24 h 51"/>
              <a:gd name="T22" fmla="*/ 763 w 766"/>
              <a:gd name="T23" fmla="*/ 28 h 51"/>
              <a:gd name="T24" fmla="*/ 763 w 766"/>
              <a:gd name="T25" fmla="*/ 31 h 51"/>
              <a:gd name="T26" fmla="*/ 763 w 766"/>
              <a:gd name="T27" fmla="*/ 34 h 51"/>
              <a:gd name="T28" fmla="*/ 763 w 766"/>
              <a:gd name="T29" fmla="*/ 38 h 51"/>
              <a:gd name="T30" fmla="*/ 763 w 766"/>
              <a:gd name="T31" fmla="*/ 41 h 51"/>
              <a:gd name="T32" fmla="*/ 763 w 766"/>
              <a:gd name="T33" fmla="*/ 44 h 51"/>
              <a:gd name="T34" fmla="*/ 763 w 766"/>
              <a:gd name="T35" fmla="*/ 48 h 51"/>
              <a:gd name="T36" fmla="*/ 763 w 766"/>
              <a:gd name="T37" fmla="*/ 51 h 51"/>
              <a:gd name="T38" fmla="*/ 766 w 766"/>
              <a:gd name="T39" fmla="*/ 51 h 51"/>
              <a:gd name="T40" fmla="*/ 766 w 766"/>
              <a:gd name="T41" fmla="*/ 0 h 51"/>
              <a:gd name="T42" fmla="*/ 0 w 766"/>
              <a:gd name="T43" fmla="*/ 0 h 51"/>
              <a:gd name="T44" fmla="*/ 0 w 766"/>
              <a:gd name="T45" fmla="*/ 0 h 51"/>
              <a:gd name="T46" fmla="*/ 0 w 766"/>
              <a:gd name="T47" fmla="*/ 51 h 51"/>
              <a:gd name="T48" fmla="*/ 3 w 766"/>
              <a:gd name="T49" fmla="*/ 51 h 51"/>
              <a:gd name="T50" fmla="*/ 1 w 766"/>
              <a:gd name="T51" fmla="*/ 48 h 51"/>
              <a:gd name="T52" fmla="*/ 1 w 766"/>
              <a:gd name="T53" fmla="*/ 44 h 51"/>
              <a:gd name="T54" fmla="*/ 1 w 766"/>
              <a:gd name="T55" fmla="*/ 41 h 51"/>
              <a:gd name="T56" fmla="*/ 1 w 766"/>
              <a:gd name="T57" fmla="*/ 38 h 51"/>
              <a:gd name="T58" fmla="*/ 1 w 766"/>
              <a:gd name="T59" fmla="*/ 34 h 51"/>
              <a:gd name="T60" fmla="*/ 1 w 766"/>
              <a:gd name="T61" fmla="*/ 31 h 51"/>
              <a:gd name="T62" fmla="*/ 1 w 766"/>
              <a:gd name="T63" fmla="*/ 28 h 51"/>
              <a:gd name="T64" fmla="*/ 1 w 766"/>
              <a:gd name="T65" fmla="*/ 24 h 51"/>
              <a:gd name="T66" fmla="*/ 1 w 766"/>
              <a:gd name="T67" fmla="*/ 21 h 51"/>
              <a:gd name="T68" fmla="*/ 1 w 766"/>
              <a:gd name="T69" fmla="*/ 18 h 51"/>
              <a:gd name="T70" fmla="*/ 1 w 766"/>
              <a:gd name="T71" fmla="*/ 14 h 51"/>
              <a:gd name="T72" fmla="*/ 1 w 766"/>
              <a:gd name="T73" fmla="*/ 11 h 51"/>
              <a:gd name="T74" fmla="*/ 1 w 766"/>
              <a:gd name="T75" fmla="*/ 9 h 51"/>
              <a:gd name="T76" fmla="*/ 1 w 766"/>
              <a:gd name="T77" fmla="*/ 6 h 51"/>
              <a:gd name="T78" fmla="*/ 1 w 766"/>
              <a:gd name="T79" fmla="*/ 3 h 51"/>
              <a:gd name="T80" fmla="*/ 3 w 766"/>
              <a:gd name="T81" fmla="*/ 0 h 51"/>
              <a:gd name="T82" fmla="*/ 0 w 766"/>
              <a:gd name="T83"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66" h="51">
                <a:moveTo>
                  <a:pt x="766" y="0"/>
                </a:moveTo>
                <a:lnTo>
                  <a:pt x="766" y="0"/>
                </a:lnTo>
                <a:lnTo>
                  <a:pt x="763" y="0"/>
                </a:lnTo>
                <a:lnTo>
                  <a:pt x="763" y="3"/>
                </a:lnTo>
                <a:lnTo>
                  <a:pt x="763" y="6"/>
                </a:lnTo>
                <a:lnTo>
                  <a:pt x="763" y="9"/>
                </a:lnTo>
                <a:lnTo>
                  <a:pt x="763" y="11"/>
                </a:lnTo>
                <a:lnTo>
                  <a:pt x="763" y="14"/>
                </a:lnTo>
                <a:lnTo>
                  <a:pt x="763" y="18"/>
                </a:lnTo>
                <a:lnTo>
                  <a:pt x="763" y="21"/>
                </a:lnTo>
                <a:lnTo>
                  <a:pt x="763" y="24"/>
                </a:lnTo>
                <a:lnTo>
                  <a:pt x="763" y="28"/>
                </a:lnTo>
                <a:lnTo>
                  <a:pt x="763" y="31"/>
                </a:lnTo>
                <a:lnTo>
                  <a:pt x="763" y="34"/>
                </a:lnTo>
                <a:lnTo>
                  <a:pt x="763" y="38"/>
                </a:lnTo>
                <a:lnTo>
                  <a:pt x="763" y="41"/>
                </a:lnTo>
                <a:lnTo>
                  <a:pt x="763" y="44"/>
                </a:lnTo>
                <a:lnTo>
                  <a:pt x="763" y="48"/>
                </a:lnTo>
                <a:lnTo>
                  <a:pt x="763" y="51"/>
                </a:lnTo>
                <a:lnTo>
                  <a:pt x="766" y="51"/>
                </a:lnTo>
                <a:lnTo>
                  <a:pt x="766" y="0"/>
                </a:lnTo>
                <a:close/>
                <a:moveTo>
                  <a:pt x="0" y="0"/>
                </a:moveTo>
                <a:lnTo>
                  <a:pt x="0" y="0"/>
                </a:lnTo>
                <a:lnTo>
                  <a:pt x="0" y="51"/>
                </a:lnTo>
                <a:lnTo>
                  <a:pt x="3" y="51"/>
                </a:lnTo>
                <a:lnTo>
                  <a:pt x="1" y="48"/>
                </a:lnTo>
                <a:lnTo>
                  <a:pt x="1" y="44"/>
                </a:lnTo>
                <a:lnTo>
                  <a:pt x="1" y="41"/>
                </a:lnTo>
                <a:lnTo>
                  <a:pt x="1" y="38"/>
                </a:lnTo>
                <a:lnTo>
                  <a:pt x="1" y="34"/>
                </a:lnTo>
                <a:lnTo>
                  <a:pt x="1" y="31"/>
                </a:lnTo>
                <a:lnTo>
                  <a:pt x="1" y="28"/>
                </a:lnTo>
                <a:lnTo>
                  <a:pt x="1" y="24"/>
                </a:lnTo>
                <a:lnTo>
                  <a:pt x="1" y="21"/>
                </a:lnTo>
                <a:lnTo>
                  <a:pt x="1" y="18"/>
                </a:lnTo>
                <a:lnTo>
                  <a:pt x="1" y="14"/>
                </a:lnTo>
                <a:lnTo>
                  <a:pt x="1" y="11"/>
                </a:lnTo>
                <a:lnTo>
                  <a:pt x="1" y="9"/>
                </a:lnTo>
                <a:lnTo>
                  <a:pt x="1" y="6"/>
                </a:lnTo>
                <a:lnTo>
                  <a:pt x="1" y="3"/>
                </a:lnTo>
                <a:lnTo>
                  <a:pt x="3" y="0"/>
                </a:lnTo>
                <a:lnTo>
                  <a:pt x="0"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20" name="Freeform 1425">
            <a:extLst>
              <a:ext uri="{FF2B5EF4-FFF2-40B4-BE49-F238E27FC236}">
                <a16:creationId xmlns:a16="http://schemas.microsoft.com/office/drawing/2014/main" id="{62B9993C-8B99-34AF-EDF6-2DB91E8E3C21}"/>
              </a:ext>
            </a:extLst>
          </p:cNvPr>
          <p:cNvSpPr>
            <a:spLocks noEditPoints="1"/>
          </p:cNvSpPr>
          <p:nvPr/>
        </p:nvSpPr>
        <p:spPr bwMode="auto">
          <a:xfrm>
            <a:off x="1951038" y="2719388"/>
            <a:ext cx="1214438" cy="80963"/>
          </a:xfrm>
          <a:custGeom>
            <a:avLst/>
            <a:gdLst>
              <a:gd name="T0" fmla="*/ 765 w 765"/>
              <a:gd name="T1" fmla="*/ 21 h 51"/>
              <a:gd name="T2" fmla="*/ 765 w 765"/>
              <a:gd name="T3" fmla="*/ 14 h 51"/>
              <a:gd name="T4" fmla="*/ 765 w 765"/>
              <a:gd name="T5" fmla="*/ 9 h 51"/>
              <a:gd name="T6" fmla="*/ 765 w 765"/>
              <a:gd name="T7" fmla="*/ 3 h 51"/>
              <a:gd name="T8" fmla="*/ 761 w 765"/>
              <a:gd name="T9" fmla="*/ 0 h 51"/>
              <a:gd name="T10" fmla="*/ 761 w 765"/>
              <a:gd name="T11" fmla="*/ 6 h 51"/>
              <a:gd name="T12" fmla="*/ 761 w 765"/>
              <a:gd name="T13" fmla="*/ 11 h 51"/>
              <a:gd name="T14" fmla="*/ 761 w 765"/>
              <a:gd name="T15" fmla="*/ 18 h 51"/>
              <a:gd name="T16" fmla="*/ 761 w 765"/>
              <a:gd name="T17" fmla="*/ 24 h 51"/>
              <a:gd name="T18" fmla="*/ 761 w 765"/>
              <a:gd name="T19" fmla="*/ 31 h 51"/>
              <a:gd name="T20" fmla="*/ 761 w 765"/>
              <a:gd name="T21" fmla="*/ 38 h 51"/>
              <a:gd name="T22" fmla="*/ 761 w 765"/>
              <a:gd name="T23" fmla="*/ 44 h 51"/>
              <a:gd name="T24" fmla="*/ 761 w 765"/>
              <a:gd name="T25" fmla="*/ 51 h 51"/>
              <a:gd name="T26" fmla="*/ 765 w 765"/>
              <a:gd name="T27" fmla="*/ 48 h 51"/>
              <a:gd name="T28" fmla="*/ 765 w 765"/>
              <a:gd name="T29" fmla="*/ 41 h 51"/>
              <a:gd name="T30" fmla="*/ 765 w 765"/>
              <a:gd name="T31" fmla="*/ 34 h 51"/>
              <a:gd name="T32" fmla="*/ 765 w 765"/>
              <a:gd name="T33" fmla="*/ 28 h 51"/>
              <a:gd name="T34" fmla="*/ 1 w 765"/>
              <a:gd name="T35" fmla="*/ 0 h 51"/>
              <a:gd name="T36" fmla="*/ 0 w 765"/>
              <a:gd name="T37" fmla="*/ 6 h 51"/>
              <a:gd name="T38" fmla="*/ 0 w 765"/>
              <a:gd name="T39" fmla="*/ 11 h 51"/>
              <a:gd name="T40" fmla="*/ 0 w 765"/>
              <a:gd name="T41" fmla="*/ 18 h 51"/>
              <a:gd name="T42" fmla="*/ 0 w 765"/>
              <a:gd name="T43" fmla="*/ 24 h 51"/>
              <a:gd name="T44" fmla="*/ 0 w 765"/>
              <a:gd name="T45" fmla="*/ 31 h 51"/>
              <a:gd name="T46" fmla="*/ 0 w 765"/>
              <a:gd name="T47" fmla="*/ 38 h 51"/>
              <a:gd name="T48" fmla="*/ 0 w 765"/>
              <a:gd name="T49" fmla="*/ 44 h 51"/>
              <a:gd name="T50" fmla="*/ 1 w 765"/>
              <a:gd name="T51" fmla="*/ 51 h 51"/>
              <a:gd name="T52" fmla="*/ 3 w 765"/>
              <a:gd name="T53" fmla="*/ 48 h 51"/>
              <a:gd name="T54" fmla="*/ 3 w 765"/>
              <a:gd name="T55" fmla="*/ 41 h 51"/>
              <a:gd name="T56" fmla="*/ 3 w 765"/>
              <a:gd name="T57" fmla="*/ 34 h 51"/>
              <a:gd name="T58" fmla="*/ 3 w 765"/>
              <a:gd name="T59" fmla="*/ 28 h 51"/>
              <a:gd name="T60" fmla="*/ 3 w 765"/>
              <a:gd name="T61" fmla="*/ 21 h 51"/>
              <a:gd name="T62" fmla="*/ 3 w 765"/>
              <a:gd name="T63" fmla="*/ 14 h 51"/>
              <a:gd name="T64" fmla="*/ 3 w 765"/>
              <a:gd name="T65" fmla="*/ 9 h 51"/>
              <a:gd name="T66" fmla="*/ 3 w 765"/>
              <a:gd name="T67" fmla="*/ 3 h 51"/>
              <a:gd name="T68" fmla="*/ 1 w 76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65" h="51">
                <a:moveTo>
                  <a:pt x="765" y="24"/>
                </a:moveTo>
                <a:lnTo>
                  <a:pt x="765" y="21"/>
                </a:lnTo>
                <a:lnTo>
                  <a:pt x="765" y="18"/>
                </a:lnTo>
                <a:lnTo>
                  <a:pt x="765" y="14"/>
                </a:lnTo>
                <a:lnTo>
                  <a:pt x="765" y="11"/>
                </a:lnTo>
                <a:lnTo>
                  <a:pt x="765" y="9"/>
                </a:lnTo>
                <a:lnTo>
                  <a:pt x="765" y="6"/>
                </a:lnTo>
                <a:lnTo>
                  <a:pt x="765" y="3"/>
                </a:lnTo>
                <a:lnTo>
                  <a:pt x="765" y="0"/>
                </a:lnTo>
                <a:lnTo>
                  <a:pt x="761" y="0"/>
                </a:lnTo>
                <a:lnTo>
                  <a:pt x="761" y="3"/>
                </a:lnTo>
                <a:lnTo>
                  <a:pt x="761" y="6"/>
                </a:lnTo>
                <a:lnTo>
                  <a:pt x="761" y="9"/>
                </a:lnTo>
                <a:lnTo>
                  <a:pt x="761" y="11"/>
                </a:lnTo>
                <a:lnTo>
                  <a:pt x="761" y="14"/>
                </a:lnTo>
                <a:lnTo>
                  <a:pt x="761" y="18"/>
                </a:lnTo>
                <a:lnTo>
                  <a:pt x="761" y="21"/>
                </a:lnTo>
                <a:lnTo>
                  <a:pt x="761" y="24"/>
                </a:lnTo>
                <a:lnTo>
                  <a:pt x="761" y="28"/>
                </a:lnTo>
                <a:lnTo>
                  <a:pt x="761" y="31"/>
                </a:lnTo>
                <a:lnTo>
                  <a:pt x="761" y="34"/>
                </a:lnTo>
                <a:lnTo>
                  <a:pt x="761" y="38"/>
                </a:lnTo>
                <a:lnTo>
                  <a:pt x="761" y="41"/>
                </a:lnTo>
                <a:lnTo>
                  <a:pt x="761" y="44"/>
                </a:lnTo>
                <a:lnTo>
                  <a:pt x="761" y="48"/>
                </a:lnTo>
                <a:lnTo>
                  <a:pt x="761" y="51"/>
                </a:lnTo>
                <a:lnTo>
                  <a:pt x="765" y="51"/>
                </a:lnTo>
                <a:lnTo>
                  <a:pt x="765" y="48"/>
                </a:lnTo>
                <a:lnTo>
                  <a:pt x="765" y="44"/>
                </a:lnTo>
                <a:lnTo>
                  <a:pt x="765" y="41"/>
                </a:lnTo>
                <a:lnTo>
                  <a:pt x="765" y="38"/>
                </a:lnTo>
                <a:lnTo>
                  <a:pt x="765" y="34"/>
                </a:lnTo>
                <a:lnTo>
                  <a:pt x="765" y="31"/>
                </a:lnTo>
                <a:lnTo>
                  <a:pt x="765" y="28"/>
                </a:lnTo>
                <a:lnTo>
                  <a:pt x="76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21" name="Freeform 1426">
            <a:extLst>
              <a:ext uri="{FF2B5EF4-FFF2-40B4-BE49-F238E27FC236}">
                <a16:creationId xmlns:a16="http://schemas.microsoft.com/office/drawing/2014/main" id="{06F6A5EE-C433-9480-643C-C9E5096607C4}"/>
              </a:ext>
            </a:extLst>
          </p:cNvPr>
          <p:cNvSpPr>
            <a:spLocks noEditPoints="1"/>
          </p:cNvSpPr>
          <p:nvPr/>
        </p:nvSpPr>
        <p:spPr bwMode="auto">
          <a:xfrm>
            <a:off x="1952625" y="2719388"/>
            <a:ext cx="1209675" cy="80963"/>
          </a:xfrm>
          <a:custGeom>
            <a:avLst/>
            <a:gdLst>
              <a:gd name="T0" fmla="*/ 762 w 762"/>
              <a:gd name="T1" fmla="*/ 21 h 51"/>
              <a:gd name="T2" fmla="*/ 762 w 762"/>
              <a:gd name="T3" fmla="*/ 14 h 51"/>
              <a:gd name="T4" fmla="*/ 762 w 762"/>
              <a:gd name="T5" fmla="*/ 9 h 51"/>
              <a:gd name="T6" fmla="*/ 762 w 762"/>
              <a:gd name="T7" fmla="*/ 3 h 51"/>
              <a:gd name="T8" fmla="*/ 759 w 762"/>
              <a:gd name="T9" fmla="*/ 0 h 51"/>
              <a:gd name="T10" fmla="*/ 759 w 762"/>
              <a:gd name="T11" fmla="*/ 6 h 51"/>
              <a:gd name="T12" fmla="*/ 759 w 762"/>
              <a:gd name="T13" fmla="*/ 11 h 51"/>
              <a:gd name="T14" fmla="*/ 759 w 762"/>
              <a:gd name="T15" fmla="*/ 18 h 51"/>
              <a:gd name="T16" fmla="*/ 759 w 762"/>
              <a:gd name="T17" fmla="*/ 24 h 51"/>
              <a:gd name="T18" fmla="*/ 759 w 762"/>
              <a:gd name="T19" fmla="*/ 31 h 51"/>
              <a:gd name="T20" fmla="*/ 759 w 762"/>
              <a:gd name="T21" fmla="*/ 38 h 51"/>
              <a:gd name="T22" fmla="*/ 759 w 762"/>
              <a:gd name="T23" fmla="*/ 44 h 51"/>
              <a:gd name="T24" fmla="*/ 759 w 762"/>
              <a:gd name="T25" fmla="*/ 51 h 51"/>
              <a:gd name="T26" fmla="*/ 762 w 762"/>
              <a:gd name="T27" fmla="*/ 48 h 51"/>
              <a:gd name="T28" fmla="*/ 762 w 762"/>
              <a:gd name="T29" fmla="*/ 41 h 51"/>
              <a:gd name="T30" fmla="*/ 762 w 762"/>
              <a:gd name="T31" fmla="*/ 34 h 51"/>
              <a:gd name="T32" fmla="*/ 762 w 762"/>
              <a:gd name="T33" fmla="*/ 28 h 51"/>
              <a:gd name="T34" fmla="*/ 2 w 762"/>
              <a:gd name="T35" fmla="*/ 0 h 51"/>
              <a:gd name="T36" fmla="*/ 0 w 762"/>
              <a:gd name="T37" fmla="*/ 6 h 51"/>
              <a:gd name="T38" fmla="*/ 0 w 762"/>
              <a:gd name="T39" fmla="*/ 11 h 51"/>
              <a:gd name="T40" fmla="*/ 0 w 762"/>
              <a:gd name="T41" fmla="*/ 18 h 51"/>
              <a:gd name="T42" fmla="*/ 0 w 762"/>
              <a:gd name="T43" fmla="*/ 24 h 51"/>
              <a:gd name="T44" fmla="*/ 0 w 762"/>
              <a:gd name="T45" fmla="*/ 31 h 51"/>
              <a:gd name="T46" fmla="*/ 0 w 762"/>
              <a:gd name="T47" fmla="*/ 38 h 51"/>
              <a:gd name="T48" fmla="*/ 0 w 762"/>
              <a:gd name="T49" fmla="*/ 44 h 51"/>
              <a:gd name="T50" fmla="*/ 2 w 762"/>
              <a:gd name="T51" fmla="*/ 51 h 51"/>
              <a:gd name="T52" fmla="*/ 4 w 762"/>
              <a:gd name="T53" fmla="*/ 48 h 51"/>
              <a:gd name="T54" fmla="*/ 4 w 762"/>
              <a:gd name="T55" fmla="*/ 41 h 51"/>
              <a:gd name="T56" fmla="*/ 4 w 762"/>
              <a:gd name="T57" fmla="*/ 34 h 51"/>
              <a:gd name="T58" fmla="*/ 4 w 762"/>
              <a:gd name="T59" fmla="*/ 28 h 51"/>
              <a:gd name="T60" fmla="*/ 4 w 762"/>
              <a:gd name="T61" fmla="*/ 21 h 51"/>
              <a:gd name="T62" fmla="*/ 4 w 762"/>
              <a:gd name="T63" fmla="*/ 14 h 51"/>
              <a:gd name="T64" fmla="*/ 4 w 762"/>
              <a:gd name="T65" fmla="*/ 9 h 51"/>
              <a:gd name="T66" fmla="*/ 4 w 762"/>
              <a:gd name="T67" fmla="*/ 3 h 51"/>
              <a:gd name="T68" fmla="*/ 2 w 7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62" h="51">
                <a:moveTo>
                  <a:pt x="762" y="24"/>
                </a:moveTo>
                <a:lnTo>
                  <a:pt x="762" y="21"/>
                </a:lnTo>
                <a:lnTo>
                  <a:pt x="762" y="18"/>
                </a:lnTo>
                <a:lnTo>
                  <a:pt x="762" y="14"/>
                </a:lnTo>
                <a:lnTo>
                  <a:pt x="762" y="11"/>
                </a:lnTo>
                <a:lnTo>
                  <a:pt x="762" y="9"/>
                </a:lnTo>
                <a:lnTo>
                  <a:pt x="762" y="6"/>
                </a:lnTo>
                <a:lnTo>
                  <a:pt x="762" y="3"/>
                </a:lnTo>
                <a:lnTo>
                  <a:pt x="762" y="0"/>
                </a:lnTo>
                <a:lnTo>
                  <a:pt x="759" y="0"/>
                </a:lnTo>
                <a:lnTo>
                  <a:pt x="759" y="3"/>
                </a:lnTo>
                <a:lnTo>
                  <a:pt x="759" y="6"/>
                </a:lnTo>
                <a:lnTo>
                  <a:pt x="759" y="9"/>
                </a:lnTo>
                <a:lnTo>
                  <a:pt x="759" y="11"/>
                </a:lnTo>
                <a:lnTo>
                  <a:pt x="759" y="14"/>
                </a:lnTo>
                <a:lnTo>
                  <a:pt x="759" y="18"/>
                </a:lnTo>
                <a:lnTo>
                  <a:pt x="759" y="21"/>
                </a:lnTo>
                <a:lnTo>
                  <a:pt x="759" y="24"/>
                </a:lnTo>
                <a:lnTo>
                  <a:pt x="759" y="28"/>
                </a:lnTo>
                <a:lnTo>
                  <a:pt x="759" y="31"/>
                </a:lnTo>
                <a:lnTo>
                  <a:pt x="759" y="34"/>
                </a:lnTo>
                <a:lnTo>
                  <a:pt x="759" y="38"/>
                </a:lnTo>
                <a:lnTo>
                  <a:pt x="759" y="41"/>
                </a:lnTo>
                <a:lnTo>
                  <a:pt x="759" y="44"/>
                </a:lnTo>
                <a:lnTo>
                  <a:pt x="759" y="48"/>
                </a:lnTo>
                <a:lnTo>
                  <a:pt x="759" y="51"/>
                </a:lnTo>
                <a:lnTo>
                  <a:pt x="762" y="51"/>
                </a:lnTo>
                <a:lnTo>
                  <a:pt x="762" y="48"/>
                </a:lnTo>
                <a:lnTo>
                  <a:pt x="762" y="44"/>
                </a:lnTo>
                <a:lnTo>
                  <a:pt x="762" y="41"/>
                </a:lnTo>
                <a:lnTo>
                  <a:pt x="762" y="38"/>
                </a:lnTo>
                <a:lnTo>
                  <a:pt x="762" y="34"/>
                </a:lnTo>
                <a:lnTo>
                  <a:pt x="762" y="31"/>
                </a:lnTo>
                <a:lnTo>
                  <a:pt x="762" y="28"/>
                </a:lnTo>
                <a:lnTo>
                  <a:pt x="76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22" name="Freeform 1427">
            <a:extLst>
              <a:ext uri="{FF2B5EF4-FFF2-40B4-BE49-F238E27FC236}">
                <a16:creationId xmlns:a16="http://schemas.microsoft.com/office/drawing/2014/main" id="{026E8553-4D07-BE5F-ACAC-67CB8A3A2481}"/>
              </a:ext>
            </a:extLst>
          </p:cNvPr>
          <p:cNvSpPr>
            <a:spLocks noEditPoints="1"/>
          </p:cNvSpPr>
          <p:nvPr/>
        </p:nvSpPr>
        <p:spPr bwMode="auto">
          <a:xfrm>
            <a:off x="1955800" y="2719388"/>
            <a:ext cx="1203325" cy="80963"/>
          </a:xfrm>
          <a:custGeom>
            <a:avLst/>
            <a:gdLst>
              <a:gd name="T0" fmla="*/ 758 w 758"/>
              <a:gd name="T1" fmla="*/ 21 h 51"/>
              <a:gd name="T2" fmla="*/ 758 w 758"/>
              <a:gd name="T3" fmla="*/ 14 h 51"/>
              <a:gd name="T4" fmla="*/ 758 w 758"/>
              <a:gd name="T5" fmla="*/ 9 h 51"/>
              <a:gd name="T6" fmla="*/ 758 w 758"/>
              <a:gd name="T7" fmla="*/ 3 h 51"/>
              <a:gd name="T8" fmla="*/ 755 w 758"/>
              <a:gd name="T9" fmla="*/ 0 h 51"/>
              <a:gd name="T10" fmla="*/ 755 w 758"/>
              <a:gd name="T11" fmla="*/ 6 h 51"/>
              <a:gd name="T12" fmla="*/ 755 w 758"/>
              <a:gd name="T13" fmla="*/ 11 h 51"/>
              <a:gd name="T14" fmla="*/ 755 w 758"/>
              <a:gd name="T15" fmla="*/ 18 h 51"/>
              <a:gd name="T16" fmla="*/ 755 w 758"/>
              <a:gd name="T17" fmla="*/ 24 h 51"/>
              <a:gd name="T18" fmla="*/ 755 w 758"/>
              <a:gd name="T19" fmla="*/ 31 h 51"/>
              <a:gd name="T20" fmla="*/ 755 w 758"/>
              <a:gd name="T21" fmla="*/ 38 h 51"/>
              <a:gd name="T22" fmla="*/ 755 w 758"/>
              <a:gd name="T23" fmla="*/ 44 h 51"/>
              <a:gd name="T24" fmla="*/ 755 w 758"/>
              <a:gd name="T25" fmla="*/ 51 h 51"/>
              <a:gd name="T26" fmla="*/ 758 w 758"/>
              <a:gd name="T27" fmla="*/ 48 h 51"/>
              <a:gd name="T28" fmla="*/ 758 w 758"/>
              <a:gd name="T29" fmla="*/ 41 h 51"/>
              <a:gd name="T30" fmla="*/ 758 w 758"/>
              <a:gd name="T31" fmla="*/ 34 h 51"/>
              <a:gd name="T32" fmla="*/ 758 w 758"/>
              <a:gd name="T33" fmla="*/ 28 h 51"/>
              <a:gd name="T34" fmla="*/ 2 w 758"/>
              <a:gd name="T35" fmla="*/ 0 h 51"/>
              <a:gd name="T36" fmla="*/ 0 w 758"/>
              <a:gd name="T37" fmla="*/ 6 h 51"/>
              <a:gd name="T38" fmla="*/ 0 w 758"/>
              <a:gd name="T39" fmla="*/ 11 h 51"/>
              <a:gd name="T40" fmla="*/ 0 w 758"/>
              <a:gd name="T41" fmla="*/ 18 h 51"/>
              <a:gd name="T42" fmla="*/ 0 w 758"/>
              <a:gd name="T43" fmla="*/ 24 h 51"/>
              <a:gd name="T44" fmla="*/ 0 w 758"/>
              <a:gd name="T45" fmla="*/ 31 h 51"/>
              <a:gd name="T46" fmla="*/ 0 w 758"/>
              <a:gd name="T47" fmla="*/ 38 h 51"/>
              <a:gd name="T48" fmla="*/ 0 w 758"/>
              <a:gd name="T49" fmla="*/ 44 h 51"/>
              <a:gd name="T50" fmla="*/ 2 w 758"/>
              <a:gd name="T51" fmla="*/ 51 h 51"/>
              <a:gd name="T52" fmla="*/ 3 w 758"/>
              <a:gd name="T53" fmla="*/ 48 h 51"/>
              <a:gd name="T54" fmla="*/ 3 w 758"/>
              <a:gd name="T55" fmla="*/ 41 h 51"/>
              <a:gd name="T56" fmla="*/ 3 w 758"/>
              <a:gd name="T57" fmla="*/ 34 h 51"/>
              <a:gd name="T58" fmla="*/ 3 w 758"/>
              <a:gd name="T59" fmla="*/ 28 h 51"/>
              <a:gd name="T60" fmla="*/ 3 w 758"/>
              <a:gd name="T61" fmla="*/ 21 h 51"/>
              <a:gd name="T62" fmla="*/ 3 w 758"/>
              <a:gd name="T63" fmla="*/ 14 h 51"/>
              <a:gd name="T64" fmla="*/ 3 w 758"/>
              <a:gd name="T65" fmla="*/ 9 h 51"/>
              <a:gd name="T66" fmla="*/ 3 w 758"/>
              <a:gd name="T67" fmla="*/ 3 h 51"/>
              <a:gd name="T68" fmla="*/ 2 w 75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58" h="51">
                <a:moveTo>
                  <a:pt x="758" y="24"/>
                </a:moveTo>
                <a:lnTo>
                  <a:pt x="758" y="21"/>
                </a:lnTo>
                <a:lnTo>
                  <a:pt x="758" y="18"/>
                </a:lnTo>
                <a:lnTo>
                  <a:pt x="758" y="14"/>
                </a:lnTo>
                <a:lnTo>
                  <a:pt x="758" y="11"/>
                </a:lnTo>
                <a:lnTo>
                  <a:pt x="758" y="9"/>
                </a:lnTo>
                <a:lnTo>
                  <a:pt x="758" y="6"/>
                </a:lnTo>
                <a:lnTo>
                  <a:pt x="758" y="3"/>
                </a:lnTo>
                <a:lnTo>
                  <a:pt x="758" y="0"/>
                </a:lnTo>
                <a:lnTo>
                  <a:pt x="755" y="0"/>
                </a:lnTo>
                <a:lnTo>
                  <a:pt x="755" y="3"/>
                </a:lnTo>
                <a:lnTo>
                  <a:pt x="755" y="6"/>
                </a:lnTo>
                <a:lnTo>
                  <a:pt x="755" y="9"/>
                </a:lnTo>
                <a:lnTo>
                  <a:pt x="755" y="11"/>
                </a:lnTo>
                <a:lnTo>
                  <a:pt x="755" y="14"/>
                </a:lnTo>
                <a:lnTo>
                  <a:pt x="755" y="18"/>
                </a:lnTo>
                <a:lnTo>
                  <a:pt x="755" y="21"/>
                </a:lnTo>
                <a:lnTo>
                  <a:pt x="755" y="24"/>
                </a:lnTo>
                <a:lnTo>
                  <a:pt x="755" y="28"/>
                </a:lnTo>
                <a:lnTo>
                  <a:pt x="755" y="31"/>
                </a:lnTo>
                <a:lnTo>
                  <a:pt x="755" y="34"/>
                </a:lnTo>
                <a:lnTo>
                  <a:pt x="755" y="38"/>
                </a:lnTo>
                <a:lnTo>
                  <a:pt x="755" y="41"/>
                </a:lnTo>
                <a:lnTo>
                  <a:pt x="755" y="44"/>
                </a:lnTo>
                <a:lnTo>
                  <a:pt x="755" y="48"/>
                </a:lnTo>
                <a:lnTo>
                  <a:pt x="755" y="51"/>
                </a:lnTo>
                <a:lnTo>
                  <a:pt x="758" y="51"/>
                </a:lnTo>
                <a:lnTo>
                  <a:pt x="758" y="48"/>
                </a:lnTo>
                <a:lnTo>
                  <a:pt x="758" y="44"/>
                </a:lnTo>
                <a:lnTo>
                  <a:pt x="758" y="41"/>
                </a:lnTo>
                <a:lnTo>
                  <a:pt x="758" y="38"/>
                </a:lnTo>
                <a:lnTo>
                  <a:pt x="758" y="34"/>
                </a:lnTo>
                <a:lnTo>
                  <a:pt x="758" y="31"/>
                </a:lnTo>
                <a:lnTo>
                  <a:pt x="758" y="28"/>
                </a:lnTo>
                <a:lnTo>
                  <a:pt x="758"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23" name="Freeform 1428">
            <a:extLst>
              <a:ext uri="{FF2B5EF4-FFF2-40B4-BE49-F238E27FC236}">
                <a16:creationId xmlns:a16="http://schemas.microsoft.com/office/drawing/2014/main" id="{65049994-718D-12C9-112E-7D149452B3B0}"/>
              </a:ext>
            </a:extLst>
          </p:cNvPr>
          <p:cNvSpPr>
            <a:spLocks noEditPoints="1"/>
          </p:cNvSpPr>
          <p:nvPr/>
        </p:nvSpPr>
        <p:spPr bwMode="auto">
          <a:xfrm>
            <a:off x="1958975" y="2719388"/>
            <a:ext cx="1198563" cy="80963"/>
          </a:xfrm>
          <a:custGeom>
            <a:avLst/>
            <a:gdLst>
              <a:gd name="T0" fmla="*/ 755 w 755"/>
              <a:gd name="T1" fmla="*/ 21 h 51"/>
              <a:gd name="T2" fmla="*/ 755 w 755"/>
              <a:gd name="T3" fmla="*/ 14 h 51"/>
              <a:gd name="T4" fmla="*/ 755 w 755"/>
              <a:gd name="T5" fmla="*/ 9 h 51"/>
              <a:gd name="T6" fmla="*/ 755 w 755"/>
              <a:gd name="T7" fmla="*/ 3 h 51"/>
              <a:gd name="T8" fmla="*/ 751 w 755"/>
              <a:gd name="T9" fmla="*/ 0 h 51"/>
              <a:gd name="T10" fmla="*/ 751 w 755"/>
              <a:gd name="T11" fmla="*/ 6 h 51"/>
              <a:gd name="T12" fmla="*/ 751 w 755"/>
              <a:gd name="T13" fmla="*/ 11 h 51"/>
              <a:gd name="T14" fmla="*/ 751 w 755"/>
              <a:gd name="T15" fmla="*/ 18 h 51"/>
              <a:gd name="T16" fmla="*/ 751 w 755"/>
              <a:gd name="T17" fmla="*/ 24 h 51"/>
              <a:gd name="T18" fmla="*/ 751 w 755"/>
              <a:gd name="T19" fmla="*/ 31 h 51"/>
              <a:gd name="T20" fmla="*/ 751 w 755"/>
              <a:gd name="T21" fmla="*/ 38 h 51"/>
              <a:gd name="T22" fmla="*/ 751 w 755"/>
              <a:gd name="T23" fmla="*/ 44 h 51"/>
              <a:gd name="T24" fmla="*/ 751 w 755"/>
              <a:gd name="T25" fmla="*/ 51 h 51"/>
              <a:gd name="T26" fmla="*/ 755 w 755"/>
              <a:gd name="T27" fmla="*/ 48 h 51"/>
              <a:gd name="T28" fmla="*/ 755 w 755"/>
              <a:gd name="T29" fmla="*/ 41 h 51"/>
              <a:gd name="T30" fmla="*/ 755 w 755"/>
              <a:gd name="T31" fmla="*/ 34 h 51"/>
              <a:gd name="T32" fmla="*/ 755 w 755"/>
              <a:gd name="T33" fmla="*/ 28 h 51"/>
              <a:gd name="T34" fmla="*/ 1 w 755"/>
              <a:gd name="T35" fmla="*/ 0 h 51"/>
              <a:gd name="T36" fmla="*/ 0 w 755"/>
              <a:gd name="T37" fmla="*/ 6 h 51"/>
              <a:gd name="T38" fmla="*/ 0 w 755"/>
              <a:gd name="T39" fmla="*/ 11 h 51"/>
              <a:gd name="T40" fmla="*/ 0 w 755"/>
              <a:gd name="T41" fmla="*/ 18 h 51"/>
              <a:gd name="T42" fmla="*/ 0 w 755"/>
              <a:gd name="T43" fmla="*/ 24 h 51"/>
              <a:gd name="T44" fmla="*/ 0 w 755"/>
              <a:gd name="T45" fmla="*/ 31 h 51"/>
              <a:gd name="T46" fmla="*/ 0 w 755"/>
              <a:gd name="T47" fmla="*/ 38 h 51"/>
              <a:gd name="T48" fmla="*/ 0 w 755"/>
              <a:gd name="T49" fmla="*/ 44 h 51"/>
              <a:gd name="T50" fmla="*/ 1 w 755"/>
              <a:gd name="T51" fmla="*/ 51 h 51"/>
              <a:gd name="T52" fmla="*/ 3 w 755"/>
              <a:gd name="T53" fmla="*/ 48 h 51"/>
              <a:gd name="T54" fmla="*/ 3 w 755"/>
              <a:gd name="T55" fmla="*/ 41 h 51"/>
              <a:gd name="T56" fmla="*/ 3 w 755"/>
              <a:gd name="T57" fmla="*/ 34 h 51"/>
              <a:gd name="T58" fmla="*/ 3 w 755"/>
              <a:gd name="T59" fmla="*/ 28 h 51"/>
              <a:gd name="T60" fmla="*/ 3 w 755"/>
              <a:gd name="T61" fmla="*/ 21 h 51"/>
              <a:gd name="T62" fmla="*/ 3 w 755"/>
              <a:gd name="T63" fmla="*/ 14 h 51"/>
              <a:gd name="T64" fmla="*/ 3 w 755"/>
              <a:gd name="T65" fmla="*/ 9 h 51"/>
              <a:gd name="T66" fmla="*/ 3 w 755"/>
              <a:gd name="T67" fmla="*/ 3 h 51"/>
              <a:gd name="T68" fmla="*/ 1 w 75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55" h="51">
                <a:moveTo>
                  <a:pt x="755" y="24"/>
                </a:moveTo>
                <a:lnTo>
                  <a:pt x="755" y="21"/>
                </a:lnTo>
                <a:lnTo>
                  <a:pt x="755" y="18"/>
                </a:lnTo>
                <a:lnTo>
                  <a:pt x="755" y="14"/>
                </a:lnTo>
                <a:lnTo>
                  <a:pt x="755" y="11"/>
                </a:lnTo>
                <a:lnTo>
                  <a:pt x="755" y="9"/>
                </a:lnTo>
                <a:lnTo>
                  <a:pt x="755" y="6"/>
                </a:lnTo>
                <a:lnTo>
                  <a:pt x="755" y="3"/>
                </a:lnTo>
                <a:lnTo>
                  <a:pt x="755" y="0"/>
                </a:lnTo>
                <a:lnTo>
                  <a:pt x="751" y="0"/>
                </a:lnTo>
                <a:lnTo>
                  <a:pt x="751" y="3"/>
                </a:lnTo>
                <a:lnTo>
                  <a:pt x="751" y="6"/>
                </a:lnTo>
                <a:lnTo>
                  <a:pt x="751" y="9"/>
                </a:lnTo>
                <a:lnTo>
                  <a:pt x="751" y="11"/>
                </a:lnTo>
                <a:lnTo>
                  <a:pt x="751" y="14"/>
                </a:lnTo>
                <a:lnTo>
                  <a:pt x="751" y="18"/>
                </a:lnTo>
                <a:lnTo>
                  <a:pt x="751" y="21"/>
                </a:lnTo>
                <a:lnTo>
                  <a:pt x="751" y="24"/>
                </a:lnTo>
                <a:lnTo>
                  <a:pt x="751" y="28"/>
                </a:lnTo>
                <a:lnTo>
                  <a:pt x="751" y="31"/>
                </a:lnTo>
                <a:lnTo>
                  <a:pt x="751" y="34"/>
                </a:lnTo>
                <a:lnTo>
                  <a:pt x="751" y="38"/>
                </a:lnTo>
                <a:lnTo>
                  <a:pt x="751" y="41"/>
                </a:lnTo>
                <a:lnTo>
                  <a:pt x="751" y="44"/>
                </a:lnTo>
                <a:lnTo>
                  <a:pt x="751" y="48"/>
                </a:lnTo>
                <a:lnTo>
                  <a:pt x="751" y="51"/>
                </a:lnTo>
                <a:lnTo>
                  <a:pt x="755" y="51"/>
                </a:lnTo>
                <a:lnTo>
                  <a:pt x="755" y="48"/>
                </a:lnTo>
                <a:lnTo>
                  <a:pt x="755" y="44"/>
                </a:lnTo>
                <a:lnTo>
                  <a:pt x="755" y="41"/>
                </a:lnTo>
                <a:lnTo>
                  <a:pt x="755" y="38"/>
                </a:lnTo>
                <a:lnTo>
                  <a:pt x="755" y="34"/>
                </a:lnTo>
                <a:lnTo>
                  <a:pt x="755" y="31"/>
                </a:lnTo>
                <a:lnTo>
                  <a:pt x="755" y="28"/>
                </a:lnTo>
                <a:lnTo>
                  <a:pt x="75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24" name="Freeform 1429">
            <a:extLst>
              <a:ext uri="{FF2B5EF4-FFF2-40B4-BE49-F238E27FC236}">
                <a16:creationId xmlns:a16="http://schemas.microsoft.com/office/drawing/2014/main" id="{77863BE1-479E-C980-A747-A22B926B5CE2}"/>
              </a:ext>
            </a:extLst>
          </p:cNvPr>
          <p:cNvSpPr>
            <a:spLocks noEditPoints="1"/>
          </p:cNvSpPr>
          <p:nvPr/>
        </p:nvSpPr>
        <p:spPr bwMode="auto">
          <a:xfrm>
            <a:off x="1960563" y="2719388"/>
            <a:ext cx="1193800" cy="80963"/>
          </a:xfrm>
          <a:custGeom>
            <a:avLst/>
            <a:gdLst>
              <a:gd name="T0" fmla="*/ 752 w 752"/>
              <a:gd name="T1" fmla="*/ 21 h 51"/>
              <a:gd name="T2" fmla="*/ 752 w 752"/>
              <a:gd name="T3" fmla="*/ 14 h 51"/>
              <a:gd name="T4" fmla="*/ 752 w 752"/>
              <a:gd name="T5" fmla="*/ 9 h 51"/>
              <a:gd name="T6" fmla="*/ 752 w 752"/>
              <a:gd name="T7" fmla="*/ 3 h 51"/>
              <a:gd name="T8" fmla="*/ 749 w 752"/>
              <a:gd name="T9" fmla="*/ 0 h 51"/>
              <a:gd name="T10" fmla="*/ 749 w 752"/>
              <a:gd name="T11" fmla="*/ 6 h 51"/>
              <a:gd name="T12" fmla="*/ 749 w 752"/>
              <a:gd name="T13" fmla="*/ 11 h 51"/>
              <a:gd name="T14" fmla="*/ 749 w 752"/>
              <a:gd name="T15" fmla="*/ 18 h 51"/>
              <a:gd name="T16" fmla="*/ 749 w 752"/>
              <a:gd name="T17" fmla="*/ 24 h 51"/>
              <a:gd name="T18" fmla="*/ 749 w 752"/>
              <a:gd name="T19" fmla="*/ 31 h 51"/>
              <a:gd name="T20" fmla="*/ 749 w 752"/>
              <a:gd name="T21" fmla="*/ 38 h 51"/>
              <a:gd name="T22" fmla="*/ 749 w 752"/>
              <a:gd name="T23" fmla="*/ 44 h 51"/>
              <a:gd name="T24" fmla="*/ 749 w 752"/>
              <a:gd name="T25" fmla="*/ 51 h 51"/>
              <a:gd name="T26" fmla="*/ 752 w 752"/>
              <a:gd name="T27" fmla="*/ 48 h 51"/>
              <a:gd name="T28" fmla="*/ 752 w 752"/>
              <a:gd name="T29" fmla="*/ 41 h 51"/>
              <a:gd name="T30" fmla="*/ 752 w 752"/>
              <a:gd name="T31" fmla="*/ 34 h 51"/>
              <a:gd name="T32" fmla="*/ 752 w 752"/>
              <a:gd name="T33" fmla="*/ 28 h 51"/>
              <a:gd name="T34" fmla="*/ 2 w 752"/>
              <a:gd name="T35" fmla="*/ 0 h 51"/>
              <a:gd name="T36" fmla="*/ 0 w 752"/>
              <a:gd name="T37" fmla="*/ 6 h 51"/>
              <a:gd name="T38" fmla="*/ 0 w 752"/>
              <a:gd name="T39" fmla="*/ 11 h 51"/>
              <a:gd name="T40" fmla="*/ 0 w 752"/>
              <a:gd name="T41" fmla="*/ 18 h 51"/>
              <a:gd name="T42" fmla="*/ 0 w 752"/>
              <a:gd name="T43" fmla="*/ 24 h 51"/>
              <a:gd name="T44" fmla="*/ 0 w 752"/>
              <a:gd name="T45" fmla="*/ 31 h 51"/>
              <a:gd name="T46" fmla="*/ 0 w 752"/>
              <a:gd name="T47" fmla="*/ 38 h 51"/>
              <a:gd name="T48" fmla="*/ 0 w 752"/>
              <a:gd name="T49" fmla="*/ 44 h 51"/>
              <a:gd name="T50" fmla="*/ 2 w 752"/>
              <a:gd name="T51" fmla="*/ 51 h 51"/>
              <a:gd name="T52" fmla="*/ 4 w 752"/>
              <a:gd name="T53" fmla="*/ 48 h 51"/>
              <a:gd name="T54" fmla="*/ 4 w 752"/>
              <a:gd name="T55" fmla="*/ 41 h 51"/>
              <a:gd name="T56" fmla="*/ 4 w 752"/>
              <a:gd name="T57" fmla="*/ 34 h 51"/>
              <a:gd name="T58" fmla="*/ 4 w 752"/>
              <a:gd name="T59" fmla="*/ 28 h 51"/>
              <a:gd name="T60" fmla="*/ 4 w 752"/>
              <a:gd name="T61" fmla="*/ 21 h 51"/>
              <a:gd name="T62" fmla="*/ 4 w 752"/>
              <a:gd name="T63" fmla="*/ 14 h 51"/>
              <a:gd name="T64" fmla="*/ 4 w 752"/>
              <a:gd name="T65" fmla="*/ 9 h 51"/>
              <a:gd name="T66" fmla="*/ 4 w 752"/>
              <a:gd name="T67" fmla="*/ 3 h 51"/>
              <a:gd name="T68" fmla="*/ 2 w 7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52" h="51">
                <a:moveTo>
                  <a:pt x="752" y="24"/>
                </a:moveTo>
                <a:lnTo>
                  <a:pt x="752" y="21"/>
                </a:lnTo>
                <a:lnTo>
                  <a:pt x="752" y="18"/>
                </a:lnTo>
                <a:lnTo>
                  <a:pt x="752" y="14"/>
                </a:lnTo>
                <a:lnTo>
                  <a:pt x="752" y="11"/>
                </a:lnTo>
                <a:lnTo>
                  <a:pt x="752" y="9"/>
                </a:lnTo>
                <a:lnTo>
                  <a:pt x="752" y="6"/>
                </a:lnTo>
                <a:lnTo>
                  <a:pt x="752" y="3"/>
                </a:lnTo>
                <a:lnTo>
                  <a:pt x="752" y="0"/>
                </a:lnTo>
                <a:lnTo>
                  <a:pt x="749" y="0"/>
                </a:lnTo>
                <a:lnTo>
                  <a:pt x="749" y="3"/>
                </a:lnTo>
                <a:lnTo>
                  <a:pt x="749" y="6"/>
                </a:lnTo>
                <a:lnTo>
                  <a:pt x="749" y="9"/>
                </a:lnTo>
                <a:lnTo>
                  <a:pt x="749" y="11"/>
                </a:lnTo>
                <a:lnTo>
                  <a:pt x="749" y="14"/>
                </a:lnTo>
                <a:lnTo>
                  <a:pt x="749" y="18"/>
                </a:lnTo>
                <a:lnTo>
                  <a:pt x="749" y="21"/>
                </a:lnTo>
                <a:lnTo>
                  <a:pt x="749" y="24"/>
                </a:lnTo>
                <a:lnTo>
                  <a:pt x="749" y="28"/>
                </a:lnTo>
                <a:lnTo>
                  <a:pt x="749" y="31"/>
                </a:lnTo>
                <a:lnTo>
                  <a:pt x="749" y="34"/>
                </a:lnTo>
                <a:lnTo>
                  <a:pt x="749" y="38"/>
                </a:lnTo>
                <a:lnTo>
                  <a:pt x="749" y="41"/>
                </a:lnTo>
                <a:lnTo>
                  <a:pt x="749" y="44"/>
                </a:lnTo>
                <a:lnTo>
                  <a:pt x="749" y="48"/>
                </a:lnTo>
                <a:lnTo>
                  <a:pt x="749" y="51"/>
                </a:lnTo>
                <a:lnTo>
                  <a:pt x="752" y="51"/>
                </a:lnTo>
                <a:lnTo>
                  <a:pt x="752" y="48"/>
                </a:lnTo>
                <a:lnTo>
                  <a:pt x="752" y="44"/>
                </a:lnTo>
                <a:lnTo>
                  <a:pt x="752" y="41"/>
                </a:lnTo>
                <a:lnTo>
                  <a:pt x="752" y="38"/>
                </a:lnTo>
                <a:lnTo>
                  <a:pt x="752" y="34"/>
                </a:lnTo>
                <a:lnTo>
                  <a:pt x="752" y="31"/>
                </a:lnTo>
                <a:lnTo>
                  <a:pt x="752" y="28"/>
                </a:lnTo>
                <a:lnTo>
                  <a:pt x="75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25" name="Freeform 1430">
            <a:extLst>
              <a:ext uri="{FF2B5EF4-FFF2-40B4-BE49-F238E27FC236}">
                <a16:creationId xmlns:a16="http://schemas.microsoft.com/office/drawing/2014/main" id="{0F9B4A0E-B435-D1A5-29C6-FEDD300052AC}"/>
              </a:ext>
            </a:extLst>
          </p:cNvPr>
          <p:cNvSpPr>
            <a:spLocks noEditPoints="1"/>
          </p:cNvSpPr>
          <p:nvPr/>
        </p:nvSpPr>
        <p:spPr bwMode="auto">
          <a:xfrm>
            <a:off x="1963738" y="2719388"/>
            <a:ext cx="1187450" cy="80963"/>
          </a:xfrm>
          <a:custGeom>
            <a:avLst/>
            <a:gdLst>
              <a:gd name="T0" fmla="*/ 748 w 748"/>
              <a:gd name="T1" fmla="*/ 21 h 51"/>
              <a:gd name="T2" fmla="*/ 748 w 748"/>
              <a:gd name="T3" fmla="*/ 14 h 51"/>
              <a:gd name="T4" fmla="*/ 748 w 748"/>
              <a:gd name="T5" fmla="*/ 9 h 51"/>
              <a:gd name="T6" fmla="*/ 748 w 748"/>
              <a:gd name="T7" fmla="*/ 3 h 51"/>
              <a:gd name="T8" fmla="*/ 745 w 748"/>
              <a:gd name="T9" fmla="*/ 0 h 51"/>
              <a:gd name="T10" fmla="*/ 745 w 748"/>
              <a:gd name="T11" fmla="*/ 6 h 51"/>
              <a:gd name="T12" fmla="*/ 745 w 748"/>
              <a:gd name="T13" fmla="*/ 11 h 51"/>
              <a:gd name="T14" fmla="*/ 745 w 748"/>
              <a:gd name="T15" fmla="*/ 18 h 51"/>
              <a:gd name="T16" fmla="*/ 745 w 748"/>
              <a:gd name="T17" fmla="*/ 24 h 51"/>
              <a:gd name="T18" fmla="*/ 745 w 748"/>
              <a:gd name="T19" fmla="*/ 31 h 51"/>
              <a:gd name="T20" fmla="*/ 745 w 748"/>
              <a:gd name="T21" fmla="*/ 38 h 51"/>
              <a:gd name="T22" fmla="*/ 745 w 748"/>
              <a:gd name="T23" fmla="*/ 44 h 51"/>
              <a:gd name="T24" fmla="*/ 745 w 748"/>
              <a:gd name="T25" fmla="*/ 51 h 51"/>
              <a:gd name="T26" fmla="*/ 748 w 748"/>
              <a:gd name="T27" fmla="*/ 48 h 51"/>
              <a:gd name="T28" fmla="*/ 748 w 748"/>
              <a:gd name="T29" fmla="*/ 41 h 51"/>
              <a:gd name="T30" fmla="*/ 748 w 748"/>
              <a:gd name="T31" fmla="*/ 34 h 51"/>
              <a:gd name="T32" fmla="*/ 748 w 748"/>
              <a:gd name="T33" fmla="*/ 28 h 51"/>
              <a:gd name="T34" fmla="*/ 2 w 748"/>
              <a:gd name="T35" fmla="*/ 0 h 51"/>
              <a:gd name="T36" fmla="*/ 0 w 748"/>
              <a:gd name="T37" fmla="*/ 6 h 51"/>
              <a:gd name="T38" fmla="*/ 0 w 748"/>
              <a:gd name="T39" fmla="*/ 11 h 51"/>
              <a:gd name="T40" fmla="*/ 0 w 748"/>
              <a:gd name="T41" fmla="*/ 18 h 51"/>
              <a:gd name="T42" fmla="*/ 0 w 748"/>
              <a:gd name="T43" fmla="*/ 24 h 51"/>
              <a:gd name="T44" fmla="*/ 0 w 748"/>
              <a:gd name="T45" fmla="*/ 31 h 51"/>
              <a:gd name="T46" fmla="*/ 0 w 748"/>
              <a:gd name="T47" fmla="*/ 38 h 51"/>
              <a:gd name="T48" fmla="*/ 0 w 748"/>
              <a:gd name="T49" fmla="*/ 44 h 51"/>
              <a:gd name="T50" fmla="*/ 2 w 748"/>
              <a:gd name="T51" fmla="*/ 51 h 51"/>
              <a:gd name="T52" fmla="*/ 3 w 748"/>
              <a:gd name="T53" fmla="*/ 48 h 51"/>
              <a:gd name="T54" fmla="*/ 3 w 748"/>
              <a:gd name="T55" fmla="*/ 41 h 51"/>
              <a:gd name="T56" fmla="*/ 3 w 748"/>
              <a:gd name="T57" fmla="*/ 34 h 51"/>
              <a:gd name="T58" fmla="*/ 3 w 748"/>
              <a:gd name="T59" fmla="*/ 28 h 51"/>
              <a:gd name="T60" fmla="*/ 3 w 748"/>
              <a:gd name="T61" fmla="*/ 21 h 51"/>
              <a:gd name="T62" fmla="*/ 3 w 748"/>
              <a:gd name="T63" fmla="*/ 14 h 51"/>
              <a:gd name="T64" fmla="*/ 3 w 748"/>
              <a:gd name="T65" fmla="*/ 9 h 51"/>
              <a:gd name="T66" fmla="*/ 3 w 748"/>
              <a:gd name="T67" fmla="*/ 3 h 51"/>
              <a:gd name="T68" fmla="*/ 2 w 74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48" h="51">
                <a:moveTo>
                  <a:pt x="748" y="24"/>
                </a:moveTo>
                <a:lnTo>
                  <a:pt x="748" y="21"/>
                </a:lnTo>
                <a:lnTo>
                  <a:pt x="748" y="18"/>
                </a:lnTo>
                <a:lnTo>
                  <a:pt x="748" y="14"/>
                </a:lnTo>
                <a:lnTo>
                  <a:pt x="748" y="11"/>
                </a:lnTo>
                <a:lnTo>
                  <a:pt x="748" y="9"/>
                </a:lnTo>
                <a:lnTo>
                  <a:pt x="748" y="6"/>
                </a:lnTo>
                <a:lnTo>
                  <a:pt x="748" y="3"/>
                </a:lnTo>
                <a:lnTo>
                  <a:pt x="748" y="0"/>
                </a:lnTo>
                <a:lnTo>
                  <a:pt x="745" y="0"/>
                </a:lnTo>
                <a:lnTo>
                  <a:pt x="745" y="3"/>
                </a:lnTo>
                <a:lnTo>
                  <a:pt x="745" y="6"/>
                </a:lnTo>
                <a:lnTo>
                  <a:pt x="745" y="9"/>
                </a:lnTo>
                <a:lnTo>
                  <a:pt x="745" y="11"/>
                </a:lnTo>
                <a:lnTo>
                  <a:pt x="745" y="14"/>
                </a:lnTo>
                <a:lnTo>
                  <a:pt x="745" y="18"/>
                </a:lnTo>
                <a:lnTo>
                  <a:pt x="745" y="21"/>
                </a:lnTo>
                <a:lnTo>
                  <a:pt x="745" y="24"/>
                </a:lnTo>
                <a:lnTo>
                  <a:pt x="745" y="28"/>
                </a:lnTo>
                <a:lnTo>
                  <a:pt x="745" y="31"/>
                </a:lnTo>
                <a:lnTo>
                  <a:pt x="745" y="34"/>
                </a:lnTo>
                <a:lnTo>
                  <a:pt x="745" y="38"/>
                </a:lnTo>
                <a:lnTo>
                  <a:pt x="745" y="41"/>
                </a:lnTo>
                <a:lnTo>
                  <a:pt x="745" y="44"/>
                </a:lnTo>
                <a:lnTo>
                  <a:pt x="745" y="48"/>
                </a:lnTo>
                <a:lnTo>
                  <a:pt x="745" y="51"/>
                </a:lnTo>
                <a:lnTo>
                  <a:pt x="748" y="51"/>
                </a:lnTo>
                <a:lnTo>
                  <a:pt x="748" y="48"/>
                </a:lnTo>
                <a:lnTo>
                  <a:pt x="748" y="44"/>
                </a:lnTo>
                <a:lnTo>
                  <a:pt x="748" y="41"/>
                </a:lnTo>
                <a:lnTo>
                  <a:pt x="748" y="38"/>
                </a:lnTo>
                <a:lnTo>
                  <a:pt x="748" y="34"/>
                </a:lnTo>
                <a:lnTo>
                  <a:pt x="748" y="31"/>
                </a:lnTo>
                <a:lnTo>
                  <a:pt x="748" y="28"/>
                </a:lnTo>
                <a:lnTo>
                  <a:pt x="748"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26" name="Freeform 1431">
            <a:extLst>
              <a:ext uri="{FF2B5EF4-FFF2-40B4-BE49-F238E27FC236}">
                <a16:creationId xmlns:a16="http://schemas.microsoft.com/office/drawing/2014/main" id="{DB9E8193-7649-43FF-078F-8BDE5373DA59}"/>
              </a:ext>
            </a:extLst>
          </p:cNvPr>
          <p:cNvSpPr>
            <a:spLocks noEditPoints="1"/>
          </p:cNvSpPr>
          <p:nvPr/>
        </p:nvSpPr>
        <p:spPr bwMode="auto">
          <a:xfrm>
            <a:off x="1966913" y="2719388"/>
            <a:ext cx="1182688" cy="80963"/>
          </a:xfrm>
          <a:custGeom>
            <a:avLst/>
            <a:gdLst>
              <a:gd name="T0" fmla="*/ 745 w 745"/>
              <a:gd name="T1" fmla="*/ 21 h 51"/>
              <a:gd name="T2" fmla="*/ 745 w 745"/>
              <a:gd name="T3" fmla="*/ 14 h 51"/>
              <a:gd name="T4" fmla="*/ 745 w 745"/>
              <a:gd name="T5" fmla="*/ 9 h 51"/>
              <a:gd name="T6" fmla="*/ 745 w 745"/>
              <a:gd name="T7" fmla="*/ 3 h 51"/>
              <a:gd name="T8" fmla="*/ 741 w 745"/>
              <a:gd name="T9" fmla="*/ 0 h 51"/>
              <a:gd name="T10" fmla="*/ 741 w 745"/>
              <a:gd name="T11" fmla="*/ 6 h 51"/>
              <a:gd name="T12" fmla="*/ 741 w 745"/>
              <a:gd name="T13" fmla="*/ 11 h 51"/>
              <a:gd name="T14" fmla="*/ 741 w 745"/>
              <a:gd name="T15" fmla="*/ 18 h 51"/>
              <a:gd name="T16" fmla="*/ 741 w 745"/>
              <a:gd name="T17" fmla="*/ 24 h 51"/>
              <a:gd name="T18" fmla="*/ 741 w 745"/>
              <a:gd name="T19" fmla="*/ 31 h 51"/>
              <a:gd name="T20" fmla="*/ 741 w 745"/>
              <a:gd name="T21" fmla="*/ 38 h 51"/>
              <a:gd name="T22" fmla="*/ 741 w 745"/>
              <a:gd name="T23" fmla="*/ 44 h 51"/>
              <a:gd name="T24" fmla="*/ 741 w 745"/>
              <a:gd name="T25" fmla="*/ 51 h 51"/>
              <a:gd name="T26" fmla="*/ 745 w 745"/>
              <a:gd name="T27" fmla="*/ 48 h 51"/>
              <a:gd name="T28" fmla="*/ 745 w 745"/>
              <a:gd name="T29" fmla="*/ 41 h 51"/>
              <a:gd name="T30" fmla="*/ 745 w 745"/>
              <a:gd name="T31" fmla="*/ 34 h 51"/>
              <a:gd name="T32" fmla="*/ 745 w 745"/>
              <a:gd name="T33" fmla="*/ 28 h 51"/>
              <a:gd name="T34" fmla="*/ 1 w 745"/>
              <a:gd name="T35" fmla="*/ 0 h 51"/>
              <a:gd name="T36" fmla="*/ 0 w 745"/>
              <a:gd name="T37" fmla="*/ 6 h 51"/>
              <a:gd name="T38" fmla="*/ 0 w 745"/>
              <a:gd name="T39" fmla="*/ 11 h 51"/>
              <a:gd name="T40" fmla="*/ 0 w 745"/>
              <a:gd name="T41" fmla="*/ 18 h 51"/>
              <a:gd name="T42" fmla="*/ 0 w 745"/>
              <a:gd name="T43" fmla="*/ 24 h 51"/>
              <a:gd name="T44" fmla="*/ 0 w 745"/>
              <a:gd name="T45" fmla="*/ 31 h 51"/>
              <a:gd name="T46" fmla="*/ 0 w 745"/>
              <a:gd name="T47" fmla="*/ 38 h 51"/>
              <a:gd name="T48" fmla="*/ 0 w 745"/>
              <a:gd name="T49" fmla="*/ 44 h 51"/>
              <a:gd name="T50" fmla="*/ 1 w 745"/>
              <a:gd name="T51" fmla="*/ 51 h 51"/>
              <a:gd name="T52" fmla="*/ 3 w 745"/>
              <a:gd name="T53" fmla="*/ 48 h 51"/>
              <a:gd name="T54" fmla="*/ 3 w 745"/>
              <a:gd name="T55" fmla="*/ 41 h 51"/>
              <a:gd name="T56" fmla="*/ 3 w 745"/>
              <a:gd name="T57" fmla="*/ 34 h 51"/>
              <a:gd name="T58" fmla="*/ 3 w 745"/>
              <a:gd name="T59" fmla="*/ 28 h 51"/>
              <a:gd name="T60" fmla="*/ 3 w 745"/>
              <a:gd name="T61" fmla="*/ 21 h 51"/>
              <a:gd name="T62" fmla="*/ 3 w 745"/>
              <a:gd name="T63" fmla="*/ 14 h 51"/>
              <a:gd name="T64" fmla="*/ 3 w 745"/>
              <a:gd name="T65" fmla="*/ 9 h 51"/>
              <a:gd name="T66" fmla="*/ 3 w 745"/>
              <a:gd name="T67" fmla="*/ 3 h 51"/>
              <a:gd name="T68" fmla="*/ 1 w 74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45" h="51">
                <a:moveTo>
                  <a:pt x="745" y="24"/>
                </a:moveTo>
                <a:lnTo>
                  <a:pt x="745" y="21"/>
                </a:lnTo>
                <a:lnTo>
                  <a:pt x="745" y="18"/>
                </a:lnTo>
                <a:lnTo>
                  <a:pt x="745" y="14"/>
                </a:lnTo>
                <a:lnTo>
                  <a:pt x="745" y="11"/>
                </a:lnTo>
                <a:lnTo>
                  <a:pt x="745" y="9"/>
                </a:lnTo>
                <a:lnTo>
                  <a:pt x="745" y="6"/>
                </a:lnTo>
                <a:lnTo>
                  <a:pt x="745" y="3"/>
                </a:lnTo>
                <a:lnTo>
                  <a:pt x="745" y="0"/>
                </a:lnTo>
                <a:lnTo>
                  <a:pt x="741" y="0"/>
                </a:lnTo>
                <a:lnTo>
                  <a:pt x="741" y="3"/>
                </a:lnTo>
                <a:lnTo>
                  <a:pt x="741" y="6"/>
                </a:lnTo>
                <a:lnTo>
                  <a:pt x="741" y="9"/>
                </a:lnTo>
                <a:lnTo>
                  <a:pt x="741" y="11"/>
                </a:lnTo>
                <a:lnTo>
                  <a:pt x="741" y="14"/>
                </a:lnTo>
                <a:lnTo>
                  <a:pt x="741" y="18"/>
                </a:lnTo>
                <a:lnTo>
                  <a:pt x="741" y="21"/>
                </a:lnTo>
                <a:lnTo>
                  <a:pt x="741" y="24"/>
                </a:lnTo>
                <a:lnTo>
                  <a:pt x="741" y="28"/>
                </a:lnTo>
                <a:lnTo>
                  <a:pt x="741" y="31"/>
                </a:lnTo>
                <a:lnTo>
                  <a:pt x="741" y="34"/>
                </a:lnTo>
                <a:lnTo>
                  <a:pt x="741" y="38"/>
                </a:lnTo>
                <a:lnTo>
                  <a:pt x="741" y="41"/>
                </a:lnTo>
                <a:lnTo>
                  <a:pt x="741" y="44"/>
                </a:lnTo>
                <a:lnTo>
                  <a:pt x="741" y="48"/>
                </a:lnTo>
                <a:lnTo>
                  <a:pt x="741" y="51"/>
                </a:lnTo>
                <a:lnTo>
                  <a:pt x="745" y="51"/>
                </a:lnTo>
                <a:lnTo>
                  <a:pt x="745" y="48"/>
                </a:lnTo>
                <a:lnTo>
                  <a:pt x="745" y="44"/>
                </a:lnTo>
                <a:lnTo>
                  <a:pt x="745" y="41"/>
                </a:lnTo>
                <a:lnTo>
                  <a:pt x="745" y="38"/>
                </a:lnTo>
                <a:lnTo>
                  <a:pt x="745" y="34"/>
                </a:lnTo>
                <a:lnTo>
                  <a:pt x="745" y="31"/>
                </a:lnTo>
                <a:lnTo>
                  <a:pt x="745" y="28"/>
                </a:lnTo>
                <a:lnTo>
                  <a:pt x="74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27" name="Freeform 1432">
            <a:extLst>
              <a:ext uri="{FF2B5EF4-FFF2-40B4-BE49-F238E27FC236}">
                <a16:creationId xmlns:a16="http://schemas.microsoft.com/office/drawing/2014/main" id="{2FD4F04B-85EE-8BB3-B38D-F5268FD8A05E}"/>
              </a:ext>
            </a:extLst>
          </p:cNvPr>
          <p:cNvSpPr>
            <a:spLocks noEditPoints="1"/>
          </p:cNvSpPr>
          <p:nvPr/>
        </p:nvSpPr>
        <p:spPr bwMode="auto">
          <a:xfrm>
            <a:off x="1968500" y="2719388"/>
            <a:ext cx="1177925" cy="80963"/>
          </a:xfrm>
          <a:custGeom>
            <a:avLst/>
            <a:gdLst>
              <a:gd name="T0" fmla="*/ 742 w 742"/>
              <a:gd name="T1" fmla="*/ 21 h 51"/>
              <a:gd name="T2" fmla="*/ 742 w 742"/>
              <a:gd name="T3" fmla="*/ 14 h 51"/>
              <a:gd name="T4" fmla="*/ 742 w 742"/>
              <a:gd name="T5" fmla="*/ 9 h 51"/>
              <a:gd name="T6" fmla="*/ 742 w 742"/>
              <a:gd name="T7" fmla="*/ 3 h 51"/>
              <a:gd name="T8" fmla="*/ 739 w 742"/>
              <a:gd name="T9" fmla="*/ 0 h 51"/>
              <a:gd name="T10" fmla="*/ 739 w 742"/>
              <a:gd name="T11" fmla="*/ 6 h 51"/>
              <a:gd name="T12" fmla="*/ 739 w 742"/>
              <a:gd name="T13" fmla="*/ 11 h 51"/>
              <a:gd name="T14" fmla="*/ 739 w 742"/>
              <a:gd name="T15" fmla="*/ 18 h 51"/>
              <a:gd name="T16" fmla="*/ 739 w 742"/>
              <a:gd name="T17" fmla="*/ 24 h 51"/>
              <a:gd name="T18" fmla="*/ 739 w 742"/>
              <a:gd name="T19" fmla="*/ 31 h 51"/>
              <a:gd name="T20" fmla="*/ 739 w 742"/>
              <a:gd name="T21" fmla="*/ 38 h 51"/>
              <a:gd name="T22" fmla="*/ 739 w 742"/>
              <a:gd name="T23" fmla="*/ 44 h 51"/>
              <a:gd name="T24" fmla="*/ 739 w 742"/>
              <a:gd name="T25" fmla="*/ 51 h 51"/>
              <a:gd name="T26" fmla="*/ 742 w 742"/>
              <a:gd name="T27" fmla="*/ 48 h 51"/>
              <a:gd name="T28" fmla="*/ 742 w 742"/>
              <a:gd name="T29" fmla="*/ 41 h 51"/>
              <a:gd name="T30" fmla="*/ 742 w 742"/>
              <a:gd name="T31" fmla="*/ 34 h 51"/>
              <a:gd name="T32" fmla="*/ 742 w 742"/>
              <a:gd name="T33" fmla="*/ 28 h 51"/>
              <a:gd name="T34" fmla="*/ 2 w 742"/>
              <a:gd name="T35" fmla="*/ 0 h 51"/>
              <a:gd name="T36" fmla="*/ 0 w 742"/>
              <a:gd name="T37" fmla="*/ 6 h 51"/>
              <a:gd name="T38" fmla="*/ 0 w 742"/>
              <a:gd name="T39" fmla="*/ 11 h 51"/>
              <a:gd name="T40" fmla="*/ 0 w 742"/>
              <a:gd name="T41" fmla="*/ 18 h 51"/>
              <a:gd name="T42" fmla="*/ 0 w 742"/>
              <a:gd name="T43" fmla="*/ 24 h 51"/>
              <a:gd name="T44" fmla="*/ 0 w 742"/>
              <a:gd name="T45" fmla="*/ 31 h 51"/>
              <a:gd name="T46" fmla="*/ 0 w 742"/>
              <a:gd name="T47" fmla="*/ 38 h 51"/>
              <a:gd name="T48" fmla="*/ 0 w 742"/>
              <a:gd name="T49" fmla="*/ 44 h 51"/>
              <a:gd name="T50" fmla="*/ 2 w 742"/>
              <a:gd name="T51" fmla="*/ 51 h 51"/>
              <a:gd name="T52" fmla="*/ 4 w 742"/>
              <a:gd name="T53" fmla="*/ 48 h 51"/>
              <a:gd name="T54" fmla="*/ 4 w 742"/>
              <a:gd name="T55" fmla="*/ 41 h 51"/>
              <a:gd name="T56" fmla="*/ 4 w 742"/>
              <a:gd name="T57" fmla="*/ 34 h 51"/>
              <a:gd name="T58" fmla="*/ 4 w 742"/>
              <a:gd name="T59" fmla="*/ 28 h 51"/>
              <a:gd name="T60" fmla="*/ 4 w 742"/>
              <a:gd name="T61" fmla="*/ 21 h 51"/>
              <a:gd name="T62" fmla="*/ 4 w 742"/>
              <a:gd name="T63" fmla="*/ 14 h 51"/>
              <a:gd name="T64" fmla="*/ 4 w 742"/>
              <a:gd name="T65" fmla="*/ 9 h 51"/>
              <a:gd name="T66" fmla="*/ 4 w 742"/>
              <a:gd name="T67" fmla="*/ 3 h 51"/>
              <a:gd name="T68" fmla="*/ 2 w 7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42" h="51">
                <a:moveTo>
                  <a:pt x="742" y="24"/>
                </a:moveTo>
                <a:lnTo>
                  <a:pt x="742" y="21"/>
                </a:lnTo>
                <a:lnTo>
                  <a:pt x="742" y="18"/>
                </a:lnTo>
                <a:lnTo>
                  <a:pt x="742" y="14"/>
                </a:lnTo>
                <a:lnTo>
                  <a:pt x="742" y="11"/>
                </a:lnTo>
                <a:lnTo>
                  <a:pt x="742" y="9"/>
                </a:lnTo>
                <a:lnTo>
                  <a:pt x="742" y="6"/>
                </a:lnTo>
                <a:lnTo>
                  <a:pt x="742" y="3"/>
                </a:lnTo>
                <a:lnTo>
                  <a:pt x="742" y="0"/>
                </a:lnTo>
                <a:lnTo>
                  <a:pt x="739" y="0"/>
                </a:lnTo>
                <a:lnTo>
                  <a:pt x="739" y="3"/>
                </a:lnTo>
                <a:lnTo>
                  <a:pt x="739" y="6"/>
                </a:lnTo>
                <a:lnTo>
                  <a:pt x="739" y="9"/>
                </a:lnTo>
                <a:lnTo>
                  <a:pt x="739" y="11"/>
                </a:lnTo>
                <a:lnTo>
                  <a:pt x="739" y="14"/>
                </a:lnTo>
                <a:lnTo>
                  <a:pt x="739" y="18"/>
                </a:lnTo>
                <a:lnTo>
                  <a:pt x="739" y="21"/>
                </a:lnTo>
                <a:lnTo>
                  <a:pt x="739" y="24"/>
                </a:lnTo>
                <a:lnTo>
                  <a:pt x="739" y="28"/>
                </a:lnTo>
                <a:lnTo>
                  <a:pt x="739" y="31"/>
                </a:lnTo>
                <a:lnTo>
                  <a:pt x="739" y="34"/>
                </a:lnTo>
                <a:lnTo>
                  <a:pt x="739" y="38"/>
                </a:lnTo>
                <a:lnTo>
                  <a:pt x="739" y="41"/>
                </a:lnTo>
                <a:lnTo>
                  <a:pt x="739" y="44"/>
                </a:lnTo>
                <a:lnTo>
                  <a:pt x="739" y="48"/>
                </a:lnTo>
                <a:lnTo>
                  <a:pt x="739" y="51"/>
                </a:lnTo>
                <a:lnTo>
                  <a:pt x="742" y="51"/>
                </a:lnTo>
                <a:lnTo>
                  <a:pt x="742" y="48"/>
                </a:lnTo>
                <a:lnTo>
                  <a:pt x="742" y="44"/>
                </a:lnTo>
                <a:lnTo>
                  <a:pt x="742" y="41"/>
                </a:lnTo>
                <a:lnTo>
                  <a:pt x="742" y="38"/>
                </a:lnTo>
                <a:lnTo>
                  <a:pt x="742" y="34"/>
                </a:lnTo>
                <a:lnTo>
                  <a:pt x="742" y="31"/>
                </a:lnTo>
                <a:lnTo>
                  <a:pt x="742" y="28"/>
                </a:lnTo>
                <a:lnTo>
                  <a:pt x="74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28" name="Freeform 1433">
            <a:extLst>
              <a:ext uri="{FF2B5EF4-FFF2-40B4-BE49-F238E27FC236}">
                <a16:creationId xmlns:a16="http://schemas.microsoft.com/office/drawing/2014/main" id="{A4FCCDCC-ACAD-80E8-90F5-8BF0D969F2F8}"/>
              </a:ext>
            </a:extLst>
          </p:cNvPr>
          <p:cNvSpPr>
            <a:spLocks noEditPoints="1"/>
          </p:cNvSpPr>
          <p:nvPr/>
        </p:nvSpPr>
        <p:spPr bwMode="auto">
          <a:xfrm>
            <a:off x="1971675" y="2719388"/>
            <a:ext cx="1171575" cy="80963"/>
          </a:xfrm>
          <a:custGeom>
            <a:avLst/>
            <a:gdLst>
              <a:gd name="T0" fmla="*/ 738 w 738"/>
              <a:gd name="T1" fmla="*/ 21 h 51"/>
              <a:gd name="T2" fmla="*/ 738 w 738"/>
              <a:gd name="T3" fmla="*/ 14 h 51"/>
              <a:gd name="T4" fmla="*/ 738 w 738"/>
              <a:gd name="T5" fmla="*/ 9 h 51"/>
              <a:gd name="T6" fmla="*/ 738 w 738"/>
              <a:gd name="T7" fmla="*/ 3 h 51"/>
              <a:gd name="T8" fmla="*/ 735 w 738"/>
              <a:gd name="T9" fmla="*/ 0 h 51"/>
              <a:gd name="T10" fmla="*/ 735 w 738"/>
              <a:gd name="T11" fmla="*/ 6 h 51"/>
              <a:gd name="T12" fmla="*/ 735 w 738"/>
              <a:gd name="T13" fmla="*/ 11 h 51"/>
              <a:gd name="T14" fmla="*/ 735 w 738"/>
              <a:gd name="T15" fmla="*/ 18 h 51"/>
              <a:gd name="T16" fmla="*/ 735 w 738"/>
              <a:gd name="T17" fmla="*/ 24 h 51"/>
              <a:gd name="T18" fmla="*/ 735 w 738"/>
              <a:gd name="T19" fmla="*/ 31 h 51"/>
              <a:gd name="T20" fmla="*/ 735 w 738"/>
              <a:gd name="T21" fmla="*/ 38 h 51"/>
              <a:gd name="T22" fmla="*/ 735 w 738"/>
              <a:gd name="T23" fmla="*/ 44 h 51"/>
              <a:gd name="T24" fmla="*/ 735 w 738"/>
              <a:gd name="T25" fmla="*/ 51 h 51"/>
              <a:gd name="T26" fmla="*/ 738 w 738"/>
              <a:gd name="T27" fmla="*/ 48 h 51"/>
              <a:gd name="T28" fmla="*/ 738 w 738"/>
              <a:gd name="T29" fmla="*/ 41 h 51"/>
              <a:gd name="T30" fmla="*/ 738 w 738"/>
              <a:gd name="T31" fmla="*/ 34 h 51"/>
              <a:gd name="T32" fmla="*/ 738 w 738"/>
              <a:gd name="T33" fmla="*/ 28 h 51"/>
              <a:gd name="T34" fmla="*/ 2 w 738"/>
              <a:gd name="T35" fmla="*/ 0 h 51"/>
              <a:gd name="T36" fmla="*/ 0 w 738"/>
              <a:gd name="T37" fmla="*/ 6 h 51"/>
              <a:gd name="T38" fmla="*/ 0 w 738"/>
              <a:gd name="T39" fmla="*/ 11 h 51"/>
              <a:gd name="T40" fmla="*/ 0 w 738"/>
              <a:gd name="T41" fmla="*/ 18 h 51"/>
              <a:gd name="T42" fmla="*/ 0 w 738"/>
              <a:gd name="T43" fmla="*/ 24 h 51"/>
              <a:gd name="T44" fmla="*/ 0 w 738"/>
              <a:gd name="T45" fmla="*/ 31 h 51"/>
              <a:gd name="T46" fmla="*/ 0 w 738"/>
              <a:gd name="T47" fmla="*/ 38 h 51"/>
              <a:gd name="T48" fmla="*/ 0 w 738"/>
              <a:gd name="T49" fmla="*/ 44 h 51"/>
              <a:gd name="T50" fmla="*/ 2 w 738"/>
              <a:gd name="T51" fmla="*/ 51 h 51"/>
              <a:gd name="T52" fmla="*/ 3 w 738"/>
              <a:gd name="T53" fmla="*/ 48 h 51"/>
              <a:gd name="T54" fmla="*/ 3 w 738"/>
              <a:gd name="T55" fmla="*/ 41 h 51"/>
              <a:gd name="T56" fmla="*/ 3 w 738"/>
              <a:gd name="T57" fmla="*/ 34 h 51"/>
              <a:gd name="T58" fmla="*/ 3 w 738"/>
              <a:gd name="T59" fmla="*/ 28 h 51"/>
              <a:gd name="T60" fmla="*/ 3 w 738"/>
              <a:gd name="T61" fmla="*/ 21 h 51"/>
              <a:gd name="T62" fmla="*/ 3 w 738"/>
              <a:gd name="T63" fmla="*/ 14 h 51"/>
              <a:gd name="T64" fmla="*/ 3 w 738"/>
              <a:gd name="T65" fmla="*/ 9 h 51"/>
              <a:gd name="T66" fmla="*/ 3 w 738"/>
              <a:gd name="T67" fmla="*/ 3 h 51"/>
              <a:gd name="T68" fmla="*/ 2 w 73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38" h="51">
                <a:moveTo>
                  <a:pt x="738" y="24"/>
                </a:moveTo>
                <a:lnTo>
                  <a:pt x="738" y="21"/>
                </a:lnTo>
                <a:lnTo>
                  <a:pt x="738" y="18"/>
                </a:lnTo>
                <a:lnTo>
                  <a:pt x="738" y="14"/>
                </a:lnTo>
                <a:lnTo>
                  <a:pt x="738" y="11"/>
                </a:lnTo>
                <a:lnTo>
                  <a:pt x="738" y="9"/>
                </a:lnTo>
                <a:lnTo>
                  <a:pt x="738" y="6"/>
                </a:lnTo>
                <a:lnTo>
                  <a:pt x="738" y="3"/>
                </a:lnTo>
                <a:lnTo>
                  <a:pt x="738" y="0"/>
                </a:lnTo>
                <a:lnTo>
                  <a:pt x="735" y="0"/>
                </a:lnTo>
                <a:lnTo>
                  <a:pt x="735" y="3"/>
                </a:lnTo>
                <a:lnTo>
                  <a:pt x="735" y="6"/>
                </a:lnTo>
                <a:lnTo>
                  <a:pt x="735" y="9"/>
                </a:lnTo>
                <a:lnTo>
                  <a:pt x="735" y="11"/>
                </a:lnTo>
                <a:lnTo>
                  <a:pt x="735" y="14"/>
                </a:lnTo>
                <a:lnTo>
                  <a:pt x="735" y="18"/>
                </a:lnTo>
                <a:lnTo>
                  <a:pt x="735" y="21"/>
                </a:lnTo>
                <a:lnTo>
                  <a:pt x="735" y="24"/>
                </a:lnTo>
                <a:lnTo>
                  <a:pt x="735" y="28"/>
                </a:lnTo>
                <a:lnTo>
                  <a:pt x="735" y="31"/>
                </a:lnTo>
                <a:lnTo>
                  <a:pt x="735" y="34"/>
                </a:lnTo>
                <a:lnTo>
                  <a:pt x="735" y="38"/>
                </a:lnTo>
                <a:lnTo>
                  <a:pt x="735" y="41"/>
                </a:lnTo>
                <a:lnTo>
                  <a:pt x="735" y="44"/>
                </a:lnTo>
                <a:lnTo>
                  <a:pt x="735" y="48"/>
                </a:lnTo>
                <a:lnTo>
                  <a:pt x="735" y="51"/>
                </a:lnTo>
                <a:lnTo>
                  <a:pt x="738" y="51"/>
                </a:lnTo>
                <a:lnTo>
                  <a:pt x="738" y="48"/>
                </a:lnTo>
                <a:lnTo>
                  <a:pt x="738" y="44"/>
                </a:lnTo>
                <a:lnTo>
                  <a:pt x="738" y="41"/>
                </a:lnTo>
                <a:lnTo>
                  <a:pt x="738" y="38"/>
                </a:lnTo>
                <a:lnTo>
                  <a:pt x="738" y="34"/>
                </a:lnTo>
                <a:lnTo>
                  <a:pt x="738" y="31"/>
                </a:lnTo>
                <a:lnTo>
                  <a:pt x="738" y="28"/>
                </a:lnTo>
                <a:lnTo>
                  <a:pt x="738"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29" name="Freeform 1434">
            <a:extLst>
              <a:ext uri="{FF2B5EF4-FFF2-40B4-BE49-F238E27FC236}">
                <a16:creationId xmlns:a16="http://schemas.microsoft.com/office/drawing/2014/main" id="{5B572172-2EE4-9236-23F2-4D204AD29439}"/>
              </a:ext>
            </a:extLst>
          </p:cNvPr>
          <p:cNvSpPr>
            <a:spLocks noEditPoints="1"/>
          </p:cNvSpPr>
          <p:nvPr/>
        </p:nvSpPr>
        <p:spPr bwMode="auto">
          <a:xfrm>
            <a:off x="1974850" y="2719388"/>
            <a:ext cx="1166813" cy="80963"/>
          </a:xfrm>
          <a:custGeom>
            <a:avLst/>
            <a:gdLst>
              <a:gd name="T0" fmla="*/ 735 w 735"/>
              <a:gd name="T1" fmla="*/ 21 h 51"/>
              <a:gd name="T2" fmla="*/ 735 w 735"/>
              <a:gd name="T3" fmla="*/ 14 h 51"/>
              <a:gd name="T4" fmla="*/ 735 w 735"/>
              <a:gd name="T5" fmla="*/ 9 h 51"/>
              <a:gd name="T6" fmla="*/ 735 w 735"/>
              <a:gd name="T7" fmla="*/ 3 h 51"/>
              <a:gd name="T8" fmla="*/ 732 w 735"/>
              <a:gd name="T9" fmla="*/ 0 h 51"/>
              <a:gd name="T10" fmla="*/ 732 w 735"/>
              <a:gd name="T11" fmla="*/ 6 h 51"/>
              <a:gd name="T12" fmla="*/ 732 w 735"/>
              <a:gd name="T13" fmla="*/ 11 h 51"/>
              <a:gd name="T14" fmla="*/ 732 w 735"/>
              <a:gd name="T15" fmla="*/ 18 h 51"/>
              <a:gd name="T16" fmla="*/ 732 w 735"/>
              <a:gd name="T17" fmla="*/ 24 h 51"/>
              <a:gd name="T18" fmla="*/ 732 w 735"/>
              <a:gd name="T19" fmla="*/ 31 h 51"/>
              <a:gd name="T20" fmla="*/ 732 w 735"/>
              <a:gd name="T21" fmla="*/ 38 h 51"/>
              <a:gd name="T22" fmla="*/ 732 w 735"/>
              <a:gd name="T23" fmla="*/ 44 h 51"/>
              <a:gd name="T24" fmla="*/ 732 w 735"/>
              <a:gd name="T25" fmla="*/ 51 h 51"/>
              <a:gd name="T26" fmla="*/ 735 w 735"/>
              <a:gd name="T27" fmla="*/ 48 h 51"/>
              <a:gd name="T28" fmla="*/ 735 w 735"/>
              <a:gd name="T29" fmla="*/ 41 h 51"/>
              <a:gd name="T30" fmla="*/ 735 w 735"/>
              <a:gd name="T31" fmla="*/ 34 h 51"/>
              <a:gd name="T32" fmla="*/ 735 w 735"/>
              <a:gd name="T33" fmla="*/ 28 h 51"/>
              <a:gd name="T34" fmla="*/ 1 w 735"/>
              <a:gd name="T35" fmla="*/ 0 h 51"/>
              <a:gd name="T36" fmla="*/ 0 w 735"/>
              <a:gd name="T37" fmla="*/ 6 h 51"/>
              <a:gd name="T38" fmla="*/ 0 w 735"/>
              <a:gd name="T39" fmla="*/ 11 h 51"/>
              <a:gd name="T40" fmla="*/ 0 w 735"/>
              <a:gd name="T41" fmla="*/ 18 h 51"/>
              <a:gd name="T42" fmla="*/ 0 w 735"/>
              <a:gd name="T43" fmla="*/ 24 h 51"/>
              <a:gd name="T44" fmla="*/ 0 w 735"/>
              <a:gd name="T45" fmla="*/ 31 h 51"/>
              <a:gd name="T46" fmla="*/ 0 w 735"/>
              <a:gd name="T47" fmla="*/ 38 h 51"/>
              <a:gd name="T48" fmla="*/ 0 w 735"/>
              <a:gd name="T49" fmla="*/ 44 h 51"/>
              <a:gd name="T50" fmla="*/ 1 w 735"/>
              <a:gd name="T51" fmla="*/ 51 h 51"/>
              <a:gd name="T52" fmla="*/ 3 w 735"/>
              <a:gd name="T53" fmla="*/ 48 h 51"/>
              <a:gd name="T54" fmla="*/ 3 w 735"/>
              <a:gd name="T55" fmla="*/ 41 h 51"/>
              <a:gd name="T56" fmla="*/ 3 w 735"/>
              <a:gd name="T57" fmla="*/ 34 h 51"/>
              <a:gd name="T58" fmla="*/ 3 w 735"/>
              <a:gd name="T59" fmla="*/ 28 h 51"/>
              <a:gd name="T60" fmla="*/ 3 w 735"/>
              <a:gd name="T61" fmla="*/ 21 h 51"/>
              <a:gd name="T62" fmla="*/ 3 w 735"/>
              <a:gd name="T63" fmla="*/ 14 h 51"/>
              <a:gd name="T64" fmla="*/ 3 w 735"/>
              <a:gd name="T65" fmla="*/ 9 h 51"/>
              <a:gd name="T66" fmla="*/ 3 w 735"/>
              <a:gd name="T67" fmla="*/ 3 h 51"/>
              <a:gd name="T68" fmla="*/ 1 w 73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35" h="51">
                <a:moveTo>
                  <a:pt x="735" y="24"/>
                </a:moveTo>
                <a:lnTo>
                  <a:pt x="735" y="21"/>
                </a:lnTo>
                <a:lnTo>
                  <a:pt x="735" y="18"/>
                </a:lnTo>
                <a:lnTo>
                  <a:pt x="735" y="14"/>
                </a:lnTo>
                <a:lnTo>
                  <a:pt x="735" y="11"/>
                </a:lnTo>
                <a:lnTo>
                  <a:pt x="735" y="9"/>
                </a:lnTo>
                <a:lnTo>
                  <a:pt x="735" y="6"/>
                </a:lnTo>
                <a:lnTo>
                  <a:pt x="735" y="3"/>
                </a:lnTo>
                <a:lnTo>
                  <a:pt x="735" y="0"/>
                </a:lnTo>
                <a:lnTo>
                  <a:pt x="732" y="0"/>
                </a:lnTo>
                <a:lnTo>
                  <a:pt x="732" y="3"/>
                </a:lnTo>
                <a:lnTo>
                  <a:pt x="732" y="6"/>
                </a:lnTo>
                <a:lnTo>
                  <a:pt x="732" y="9"/>
                </a:lnTo>
                <a:lnTo>
                  <a:pt x="732" y="11"/>
                </a:lnTo>
                <a:lnTo>
                  <a:pt x="732" y="14"/>
                </a:lnTo>
                <a:lnTo>
                  <a:pt x="732" y="18"/>
                </a:lnTo>
                <a:lnTo>
                  <a:pt x="732" y="21"/>
                </a:lnTo>
                <a:lnTo>
                  <a:pt x="732" y="24"/>
                </a:lnTo>
                <a:lnTo>
                  <a:pt x="732" y="28"/>
                </a:lnTo>
                <a:lnTo>
                  <a:pt x="732" y="31"/>
                </a:lnTo>
                <a:lnTo>
                  <a:pt x="732" y="34"/>
                </a:lnTo>
                <a:lnTo>
                  <a:pt x="732" y="38"/>
                </a:lnTo>
                <a:lnTo>
                  <a:pt x="732" y="41"/>
                </a:lnTo>
                <a:lnTo>
                  <a:pt x="732" y="44"/>
                </a:lnTo>
                <a:lnTo>
                  <a:pt x="732" y="48"/>
                </a:lnTo>
                <a:lnTo>
                  <a:pt x="732" y="51"/>
                </a:lnTo>
                <a:lnTo>
                  <a:pt x="735" y="51"/>
                </a:lnTo>
                <a:lnTo>
                  <a:pt x="735" y="48"/>
                </a:lnTo>
                <a:lnTo>
                  <a:pt x="735" y="44"/>
                </a:lnTo>
                <a:lnTo>
                  <a:pt x="735" y="41"/>
                </a:lnTo>
                <a:lnTo>
                  <a:pt x="735" y="38"/>
                </a:lnTo>
                <a:lnTo>
                  <a:pt x="735" y="34"/>
                </a:lnTo>
                <a:lnTo>
                  <a:pt x="735" y="31"/>
                </a:lnTo>
                <a:lnTo>
                  <a:pt x="735" y="28"/>
                </a:lnTo>
                <a:lnTo>
                  <a:pt x="73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30" name="Freeform 1435">
            <a:extLst>
              <a:ext uri="{FF2B5EF4-FFF2-40B4-BE49-F238E27FC236}">
                <a16:creationId xmlns:a16="http://schemas.microsoft.com/office/drawing/2014/main" id="{7FCB1FDE-C638-7663-8CB0-889C56383922}"/>
              </a:ext>
            </a:extLst>
          </p:cNvPr>
          <p:cNvSpPr>
            <a:spLocks noEditPoints="1"/>
          </p:cNvSpPr>
          <p:nvPr/>
        </p:nvSpPr>
        <p:spPr bwMode="auto">
          <a:xfrm>
            <a:off x="1976438" y="2719388"/>
            <a:ext cx="1162050" cy="80963"/>
          </a:xfrm>
          <a:custGeom>
            <a:avLst/>
            <a:gdLst>
              <a:gd name="T0" fmla="*/ 732 w 732"/>
              <a:gd name="T1" fmla="*/ 21 h 51"/>
              <a:gd name="T2" fmla="*/ 732 w 732"/>
              <a:gd name="T3" fmla="*/ 14 h 51"/>
              <a:gd name="T4" fmla="*/ 732 w 732"/>
              <a:gd name="T5" fmla="*/ 9 h 51"/>
              <a:gd name="T6" fmla="*/ 732 w 732"/>
              <a:gd name="T7" fmla="*/ 3 h 51"/>
              <a:gd name="T8" fmla="*/ 729 w 732"/>
              <a:gd name="T9" fmla="*/ 0 h 51"/>
              <a:gd name="T10" fmla="*/ 729 w 732"/>
              <a:gd name="T11" fmla="*/ 6 h 51"/>
              <a:gd name="T12" fmla="*/ 729 w 732"/>
              <a:gd name="T13" fmla="*/ 11 h 51"/>
              <a:gd name="T14" fmla="*/ 729 w 732"/>
              <a:gd name="T15" fmla="*/ 18 h 51"/>
              <a:gd name="T16" fmla="*/ 729 w 732"/>
              <a:gd name="T17" fmla="*/ 24 h 51"/>
              <a:gd name="T18" fmla="*/ 729 w 732"/>
              <a:gd name="T19" fmla="*/ 31 h 51"/>
              <a:gd name="T20" fmla="*/ 729 w 732"/>
              <a:gd name="T21" fmla="*/ 38 h 51"/>
              <a:gd name="T22" fmla="*/ 729 w 732"/>
              <a:gd name="T23" fmla="*/ 44 h 51"/>
              <a:gd name="T24" fmla="*/ 729 w 732"/>
              <a:gd name="T25" fmla="*/ 51 h 51"/>
              <a:gd name="T26" fmla="*/ 732 w 732"/>
              <a:gd name="T27" fmla="*/ 48 h 51"/>
              <a:gd name="T28" fmla="*/ 732 w 732"/>
              <a:gd name="T29" fmla="*/ 41 h 51"/>
              <a:gd name="T30" fmla="*/ 732 w 732"/>
              <a:gd name="T31" fmla="*/ 34 h 51"/>
              <a:gd name="T32" fmla="*/ 732 w 732"/>
              <a:gd name="T33" fmla="*/ 28 h 51"/>
              <a:gd name="T34" fmla="*/ 2 w 732"/>
              <a:gd name="T35" fmla="*/ 0 h 51"/>
              <a:gd name="T36" fmla="*/ 0 w 732"/>
              <a:gd name="T37" fmla="*/ 6 h 51"/>
              <a:gd name="T38" fmla="*/ 0 w 732"/>
              <a:gd name="T39" fmla="*/ 11 h 51"/>
              <a:gd name="T40" fmla="*/ 0 w 732"/>
              <a:gd name="T41" fmla="*/ 18 h 51"/>
              <a:gd name="T42" fmla="*/ 0 w 732"/>
              <a:gd name="T43" fmla="*/ 24 h 51"/>
              <a:gd name="T44" fmla="*/ 0 w 732"/>
              <a:gd name="T45" fmla="*/ 31 h 51"/>
              <a:gd name="T46" fmla="*/ 0 w 732"/>
              <a:gd name="T47" fmla="*/ 38 h 51"/>
              <a:gd name="T48" fmla="*/ 0 w 732"/>
              <a:gd name="T49" fmla="*/ 44 h 51"/>
              <a:gd name="T50" fmla="*/ 2 w 732"/>
              <a:gd name="T51" fmla="*/ 51 h 51"/>
              <a:gd name="T52" fmla="*/ 4 w 732"/>
              <a:gd name="T53" fmla="*/ 48 h 51"/>
              <a:gd name="T54" fmla="*/ 4 w 732"/>
              <a:gd name="T55" fmla="*/ 41 h 51"/>
              <a:gd name="T56" fmla="*/ 4 w 732"/>
              <a:gd name="T57" fmla="*/ 34 h 51"/>
              <a:gd name="T58" fmla="*/ 4 w 732"/>
              <a:gd name="T59" fmla="*/ 28 h 51"/>
              <a:gd name="T60" fmla="*/ 4 w 732"/>
              <a:gd name="T61" fmla="*/ 21 h 51"/>
              <a:gd name="T62" fmla="*/ 4 w 732"/>
              <a:gd name="T63" fmla="*/ 14 h 51"/>
              <a:gd name="T64" fmla="*/ 4 w 732"/>
              <a:gd name="T65" fmla="*/ 9 h 51"/>
              <a:gd name="T66" fmla="*/ 4 w 732"/>
              <a:gd name="T67" fmla="*/ 3 h 51"/>
              <a:gd name="T68" fmla="*/ 2 w 7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32" h="51">
                <a:moveTo>
                  <a:pt x="732" y="24"/>
                </a:moveTo>
                <a:lnTo>
                  <a:pt x="732" y="21"/>
                </a:lnTo>
                <a:lnTo>
                  <a:pt x="732" y="18"/>
                </a:lnTo>
                <a:lnTo>
                  <a:pt x="732" y="14"/>
                </a:lnTo>
                <a:lnTo>
                  <a:pt x="732" y="11"/>
                </a:lnTo>
                <a:lnTo>
                  <a:pt x="732" y="9"/>
                </a:lnTo>
                <a:lnTo>
                  <a:pt x="732" y="6"/>
                </a:lnTo>
                <a:lnTo>
                  <a:pt x="732" y="3"/>
                </a:lnTo>
                <a:lnTo>
                  <a:pt x="732" y="0"/>
                </a:lnTo>
                <a:lnTo>
                  <a:pt x="729" y="0"/>
                </a:lnTo>
                <a:lnTo>
                  <a:pt x="729" y="3"/>
                </a:lnTo>
                <a:lnTo>
                  <a:pt x="729" y="6"/>
                </a:lnTo>
                <a:lnTo>
                  <a:pt x="729" y="9"/>
                </a:lnTo>
                <a:lnTo>
                  <a:pt x="729" y="11"/>
                </a:lnTo>
                <a:lnTo>
                  <a:pt x="729" y="14"/>
                </a:lnTo>
                <a:lnTo>
                  <a:pt x="729" y="18"/>
                </a:lnTo>
                <a:lnTo>
                  <a:pt x="729" y="21"/>
                </a:lnTo>
                <a:lnTo>
                  <a:pt x="729" y="24"/>
                </a:lnTo>
                <a:lnTo>
                  <a:pt x="729" y="28"/>
                </a:lnTo>
                <a:lnTo>
                  <a:pt x="729" y="31"/>
                </a:lnTo>
                <a:lnTo>
                  <a:pt x="729" y="34"/>
                </a:lnTo>
                <a:lnTo>
                  <a:pt x="729" y="38"/>
                </a:lnTo>
                <a:lnTo>
                  <a:pt x="729" y="41"/>
                </a:lnTo>
                <a:lnTo>
                  <a:pt x="729" y="44"/>
                </a:lnTo>
                <a:lnTo>
                  <a:pt x="729" y="48"/>
                </a:lnTo>
                <a:lnTo>
                  <a:pt x="729" y="51"/>
                </a:lnTo>
                <a:lnTo>
                  <a:pt x="732" y="51"/>
                </a:lnTo>
                <a:lnTo>
                  <a:pt x="732" y="48"/>
                </a:lnTo>
                <a:lnTo>
                  <a:pt x="732" y="44"/>
                </a:lnTo>
                <a:lnTo>
                  <a:pt x="732" y="41"/>
                </a:lnTo>
                <a:lnTo>
                  <a:pt x="732" y="38"/>
                </a:lnTo>
                <a:lnTo>
                  <a:pt x="732" y="34"/>
                </a:lnTo>
                <a:lnTo>
                  <a:pt x="732" y="31"/>
                </a:lnTo>
                <a:lnTo>
                  <a:pt x="732" y="28"/>
                </a:lnTo>
                <a:lnTo>
                  <a:pt x="73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31" name="Freeform 1436">
            <a:extLst>
              <a:ext uri="{FF2B5EF4-FFF2-40B4-BE49-F238E27FC236}">
                <a16:creationId xmlns:a16="http://schemas.microsoft.com/office/drawing/2014/main" id="{257C6382-FFFA-5BED-35AD-E556904D6A34}"/>
              </a:ext>
            </a:extLst>
          </p:cNvPr>
          <p:cNvSpPr>
            <a:spLocks noEditPoints="1"/>
          </p:cNvSpPr>
          <p:nvPr/>
        </p:nvSpPr>
        <p:spPr bwMode="auto">
          <a:xfrm>
            <a:off x="1979613" y="2719388"/>
            <a:ext cx="1157288" cy="80963"/>
          </a:xfrm>
          <a:custGeom>
            <a:avLst/>
            <a:gdLst>
              <a:gd name="T0" fmla="*/ 729 w 729"/>
              <a:gd name="T1" fmla="*/ 21 h 51"/>
              <a:gd name="T2" fmla="*/ 729 w 729"/>
              <a:gd name="T3" fmla="*/ 14 h 51"/>
              <a:gd name="T4" fmla="*/ 729 w 729"/>
              <a:gd name="T5" fmla="*/ 9 h 51"/>
              <a:gd name="T6" fmla="*/ 729 w 729"/>
              <a:gd name="T7" fmla="*/ 3 h 51"/>
              <a:gd name="T8" fmla="*/ 725 w 729"/>
              <a:gd name="T9" fmla="*/ 0 h 51"/>
              <a:gd name="T10" fmla="*/ 725 w 729"/>
              <a:gd name="T11" fmla="*/ 6 h 51"/>
              <a:gd name="T12" fmla="*/ 725 w 729"/>
              <a:gd name="T13" fmla="*/ 11 h 51"/>
              <a:gd name="T14" fmla="*/ 725 w 729"/>
              <a:gd name="T15" fmla="*/ 18 h 51"/>
              <a:gd name="T16" fmla="*/ 725 w 729"/>
              <a:gd name="T17" fmla="*/ 24 h 51"/>
              <a:gd name="T18" fmla="*/ 725 w 729"/>
              <a:gd name="T19" fmla="*/ 31 h 51"/>
              <a:gd name="T20" fmla="*/ 725 w 729"/>
              <a:gd name="T21" fmla="*/ 38 h 51"/>
              <a:gd name="T22" fmla="*/ 725 w 729"/>
              <a:gd name="T23" fmla="*/ 44 h 51"/>
              <a:gd name="T24" fmla="*/ 725 w 729"/>
              <a:gd name="T25" fmla="*/ 51 h 51"/>
              <a:gd name="T26" fmla="*/ 729 w 729"/>
              <a:gd name="T27" fmla="*/ 48 h 51"/>
              <a:gd name="T28" fmla="*/ 729 w 729"/>
              <a:gd name="T29" fmla="*/ 41 h 51"/>
              <a:gd name="T30" fmla="*/ 729 w 729"/>
              <a:gd name="T31" fmla="*/ 34 h 51"/>
              <a:gd name="T32" fmla="*/ 729 w 729"/>
              <a:gd name="T33" fmla="*/ 28 h 51"/>
              <a:gd name="T34" fmla="*/ 2 w 729"/>
              <a:gd name="T35" fmla="*/ 0 h 51"/>
              <a:gd name="T36" fmla="*/ 0 w 729"/>
              <a:gd name="T37" fmla="*/ 6 h 51"/>
              <a:gd name="T38" fmla="*/ 0 w 729"/>
              <a:gd name="T39" fmla="*/ 11 h 51"/>
              <a:gd name="T40" fmla="*/ 0 w 729"/>
              <a:gd name="T41" fmla="*/ 18 h 51"/>
              <a:gd name="T42" fmla="*/ 0 w 729"/>
              <a:gd name="T43" fmla="*/ 24 h 51"/>
              <a:gd name="T44" fmla="*/ 0 w 729"/>
              <a:gd name="T45" fmla="*/ 31 h 51"/>
              <a:gd name="T46" fmla="*/ 0 w 729"/>
              <a:gd name="T47" fmla="*/ 38 h 51"/>
              <a:gd name="T48" fmla="*/ 0 w 729"/>
              <a:gd name="T49" fmla="*/ 44 h 51"/>
              <a:gd name="T50" fmla="*/ 2 w 729"/>
              <a:gd name="T51" fmla="*/ 51 h 51"/>
              <a:gd name="T52" fmla="*/ 3 w 729"/>
              <a:gd name="T53" fmla="*/ 48 h 51"/>
              <a:gd name="T54" fmla="*/ 3 w 729"/>
              <a:gd name="T55" fmla="*/ 41 h 51"/>
              <a:gd name="T56" fmla="*/ 3 w 729"/>
              <a:gd name="T57" fmla="*/ 34 h 51"/>
              <a:gd name="T58" fmla="*/ 3 w 729"/>
              <a:gd name="T59" fmla="*/ 28 h 51"/>
              <a:gd name="T60" fmla="*/ 3 w 729"/>
              <a:gd name="T61" fmla="*/ 21 h 51"/>
              <a:gd name="T62" fmla="*/ 3 w 729"/>
              <a:gd name="T63" fmla="*/ 14 h 51"/>
              <a:gd name="T64" fmla="*/ 3 w 729"/>
              <a:gd name="T65" fmla="*/ 9 h 51"/>
              <a:gd name="T66" fmla="*/ 3 w 729"/>
              <a:gd name="T67" fmla="*/ 3 h 51"/>
              <a:gd name="T68" fmla="*/ 2 w 72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29" h="51">
                <a:moveTo>
                  <a:pt x="729" y="24"/>
                </a:moveTo>
                <a:lnTo>
                  <a:pt x="729" y="21"/>
                </a:lnTo>
                <a:lnTo>
                  <a:pt x="729" y="18"/>
                </a:lnTo>
                <a:lnTo>
                  <a:pt x="729" y="14"/>
                </a:lnTo>
                <a:lnTo>
                  <a:pt x="729" y="11"/>
                </a:lnTo>
                <a:lnTo>
                  <a:pt x="729" y="9"/>
                </a:lnTo>
                <a:lnTo>
                  <a:pt x="729" y="6"/>
                </a:lnTo>
                <a:lnTo>
                  <a:pt x="729" y="3"/>
                </a:lnTo>
                <a:lnTo>
                  <a:pt x="729" y="0"/>
                </a:lnTo>
                <a:lnTo>
                  <a:pt x="725" y="0"/>
                </a:lnTo>
                <a:lnTo>
                  <a:pt x="725" y="3"/>
                </a:lnTo>
                <a:lnTo>
                  <a:pt x="725" y="6"/>
                </a:lnTo>
                <a:lnTo>
                  <a:pt x="725" y="9"/>
                </a:lnTo>
                <a:lnTo>
                  <a:pt x="725" y="11"/>
                </a:lnTo>
                <a:lnTo>
                  <a:pt x="725" y="14"/>
                </a:lnTo>
                <a:lnTo>
                  <a:pt x="725" y="18"/>
                </a:lnTo>
                <a:lnTo>
                  <a:pt x="725" y="21"/>
                </a:lnTo>
                <a:lnTo>
                  <a:pt x="725" y="24"/>
                </a:lnTo>
                <a:lnTo>
                  <a:pt x="725" y="28"/>
                </a:lnTo>
                <a:lnTo>
                  <a:pt x="725" y="31"/>
                </a:lnTo>
                <a:lnTo>
                  <a:pt x="725" y="34"/>
                </a:lnTo>
                <a:lnTo>
                  <a:pt x="725" y="38"/>
                </a:lnTo>
                <a:lnTo>
                  <a:pt x="725" y="41"/>
                </a:lnTo>
                <a:lnTo>
                  <a:pt x="725" y="44"/>
                </a:lnTo>
                <a:lnTo>
                  <a:pt x="725" y="48"/>
                </a:lnTo>
                <a:lnTo>
                  <a:pt x="725" y="51"/>
                </a:lnTo>
                <a:lnTo>
                  <a:pt x="729" y="51"/>
                </a:lnTo>
                <a:lnTo>
                  <a:pt x="729" y="48"/>
                </a:lnTo>
                <a:lnTo>
                  <a:pt x="729" y="44"/>
                </a:lnTo>
                <a:lnTo>
                  <a:pt x="729" y="41"/>
                </a:lnTo>
                <a:lnTo>
                  <a:pt x="729" y="38"/>
                </a:lnTo>
                <a:lnTo>
                  <a:pt x="729" y="34"/>
                </a:lnTo>
                <a:lnTo>
                  <a:pt x="729" y="31"/>
                </a:lnTo>
                <a:lnTo>
                  <a:pt x="729" y="28"/>
                </a:lnTo>
                <a:lnTo>
                  <a:pt x="729"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32" name="Freeform 1437">
            <a:extLst>
              <a:ext uri="{FF2B5EF4-FFF2-40B4-BE49-F238E27FC236}">
                <a16:creationId xmlns:a16="http://schemas.microsoft.com/office/drawing/2014/main" id="{3FDFF12B-87B2-1225-1EF2-25FBA30DD423}"/>
              </a:ext>
            </a:extLst>
          </p:cNvPr>
          <p:cNvSpPr>
            <a:spLocks noEditPoints="1"/>
          </p:cNvSpPr>
          <p:nvPr/>
        </p:nvSpPr>
        <p:spPr bwMode="auto">
          <a:xfrm>
            <a:off x="1982788" y="2719388"/>
            <a:ext cx="1150938" cy="80963"/>
          </a:xfrm>
          <a:custGeom>
            <a:avLst/>
            <a:gdLst>
              <a:gd name="T0" fmla="*/ 725 w 725"/>
              <a:gd name="T1" fmla="*/ 21 h 51"/>
              <a:gd name="T2" fmla="*/ 725 w 725"/>
              <a:gd name="T3" fmla="*/ 14 h 51"/>
              <a:gd name="T4" fmla="*/ 725 w 725"/>
              <a:gd name="T5" fmla="*/ 9 h 51"/>
              <a:gd name="T6" fmla="*/ 725 w 725"/>
              <a:gd name="T7" fmla="*/ 3 h 51"/>
              <a:gd name="T8" fmla="*/ 722 w 725"/>
              <a:gd name="T9" fmla="*/ 0 h 51"/>
              <a:gd name="T10" fmla="*/ 722 w 725"/>
              <a:gd name="T11" fmla="*/ 6 h 51"/>
              <a:gd name="T12" fmla="*/ 722 w 725"/>
              <a:gd name="T13" fmla="*/ 11 h 51"/>
              <a:gd name="T14" fmla="*/ 722 w 725"/>
              <a:gd name="T15" fmla="*/ 18 h 51"/>
              <a:gd name="T16" fmla="*/ 722 w 725"/>
              <a:gd name="T17" fmla="*/ 24 h 51"/>
              <a:gd name="T18" fmla="*/ 722 w 725"/>
              <a:gd name="T19" fmla="*/ 31 h 51"/>
              <a:gd name="T20" fmla="*/ 722 w 725"/>
              <a:gd name="T21" fmla="*/ 38 h 51"/>
              <a:gd name="T22" fmla="*/ 722 w 725"/>
              <a:gd name="T23" fmla="*/ 44 h 51"/>
              <a:gd name="T24" fmla="*/ 722 w 725"/>
              <a:gd name="T25" fmla="*/ 51 h 51"/>
              <a:gd name="T26" fmla="*/ 725 w 725"/>
              <a:gd name="T27" fmla="*/ 48 h 51"/>
              <a:gd name="T28" fmla="*/ 725 w 725"/>
              <a:gd name="T29" fmla="*/ 41 h 51"/>
              <a:gd name="T30" fmla="*/ 725 w 725"/>
              <a:gd name="T31" fmla="*/ 34 h 51"/>
              <a:gd name="T32" fmla="*/ 725 w 725"/>
              <a:gd name="T33" fmla="*/ 28 h 51"/>
              <a:gd name="T34" fmla="*/ 1 w 725"/>
              <a:gd name="T35" fmla="*/ 0 h 51"/>
              <a:gd name="T36" fmla="*/ 0 w 725"/>
              <a:gd name="T37" fmla="*/ 6 h 51"/>
              <a:gd name="T38" fmla="*/ 0 w 725"/>
              <a:gd name="T39" fmla="*/ 11 h 51"/>
              <a:gd name="T40" fmla="*/ 0 w 725"/>
              <a:gd name="T41" fmla="*/ 18 h 51"/>
              <a:gd name="T42" fmla="*/ 0 w 725"/>
              <a:gd name="T43" fmla="*/ 24 h 51"/>
              <a:gd name="T44" fmla="*/ 0 w 725"/>
              <a:gd name="T45" fmla="*/ 31 h 51"/>
              <a:gd name="T46" fmla="*/ 0 w 725"/>
              <a:gd name="T47" fmla="*/ 38 h 51"/>
              <a:gd name="T48" fmla="*/ 0 w 725"/>
              <a:gd name="T49" fmla="*/ 44 h 51"/>
              <a:gd name="T50" fmla="*/ 1 w 725"/>
              <a:gd name="T51" fmla="*/ 51 h 51"/>
              <a:gd name="T52" fmla="*/ 3 w 725"/>
              <a:gd name="T53" fmla="*/ 48 h 51"/>
              <a:gd name="T54" fmla="*/ 3 w 725"/>
              <a:gd name="T55" fmla="*/ 41 h 51"/>
              <a:gd name="T56" fmla="*/ 3 w 725"/>
              <a:gd name="T57" fmla="*/ 34 h 51"/>
              <a:gd name="T58" fmla="*/ 3 w 725"/>
              <a:gd name="T59" fmla="*/ 28 h 51"/>
              <a:gd name="T60" fmla="*/ 3 w 725"/>
              <a:gd name="T61" fmla="*/ 21 h 51"/>
              <a:gd name="T62" fmla="*/ 3 w 725"/>
              <a:gd name="T63" fmla="*/ 14 h 51"/>
              <a:gd name="T64" fmla="*/ 3 w 725"/>
              <a:gd name="T65" fmla="*/ 9 h 51"/>
              <a:gd name="T66" fmla="*/ 3 w 725"/>
              <a:gd name="T67" fmla="*/ 3 h 51"/>
              <a:gd name="T68" fmla="*/ 1 w 72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25" h="51">
                <a:moveTo>
                  <a:pt x="725" y="24"/>
                </a:moveTo>
                <a:lnTo>
                  <a:pt x="725" y="21"/>
                </a:lnTo>
                <a:lnTo>
                  <a:pt x="725" y="18"/>
                </a:lnTo>
                <a:lnTo>
                  <a:pt x="725" y="14"/>
                </a:lnTo>
                <a:lnTo>
                  <a:pt x="725" y="11"/>
                </a:lnTo>
                <a:lnTo>
                  <a:pt x="725" y="9"/>
                </a:lnTo>
                <a:lnTo>
                  <a:pt x="725" y="6"/>
                </a:lnTo>
                <a:lnTo>
                  <a:pt x="725" y="3"/>
                </a:lnTo>
                <a:lnTo>
                  <a:pt x="725" y="0"/>
                </a:lnTo>
                <a:lnTo>
                  <a:pt x="722" y="0"/>
                </a:lnTo>
                <a:lnTo>
                  <a:pt x="722" y="3"/>
                </a:lnTo>
                <a:lnTo>
                  <a:pt x="722" y="6"/>
                </a:lnTo>
                <a:lnTo>
                  <a:pt x="722" y="9"/>
                </a:lnTo>
                <a:lnTo>
                  <a:pt x="722" y="11"/>
                </a:lnTo>
                <a:lnTo>
                  <a:pt x="722" y="14"/>
                </a:lnTo>
                <a:lnTo>
                  <a:pt x="722" y="18"/>
                </a:lnTo>
                <a:lnTo>
                  <a:pt x="722" y="21"/>
                </a:lnTo>
                <a:lnTo>
                  <a:pt x="722" y="24"/>
                </a:lnTo>
                <a:lnTo>
                  <a:pt x="722" y="28"/>
                </a:lnTo>
                <a:lnTo>
                  <a:pt x="722" y="31"/>
                </a:lnTo>
                <a:lnTo>
                  <a:pt x="722" y="34"/>
                </a:lnTo>
                <a:lnTo>
                  <a:pt x="722" y="38"/>
                </a:lnTo>
                <a:lnTo>
                  <a:pt x="722" y="41"/>
                </a:lnTo>
                <a:lnTo>
                  <a:pt x="722" y="44"/>
                </a:lnTo>
                <a:lnTo>
                  <a:pt x="722" y="48"/>
                </a:lnTo>
                <a:lnTo>
                  <a:pt x="722" y="51"/>
                </a:lnTo>
                <a:lnTo>
                  <a:pt x="725" y="51"/>
                </a:lnTo>
                <a:lnTo>
                  <a:pt x="725" y="48"/>
                </a:lnTo>
                <a:lnTo>
                  <a:pt x="725" y="44"/>
                </a:lnTo>
                <a:lnTo>
                  <a:pt x="725" y="41"/>
                </a:lnTo>
                <a:lnTo>
                  <a:pt x="725" y="38"/>
                </a:lnTo>
                <a:lnTo>
                  <a:pt x="725" y="34"/>
                </a:lnTo>
                <a:lnTo>
                  <a:pt x="725" y="31"/>
                </a:lnTo>
                <a:lnTo>
                  <a:pt x="725" y="28"/>
                </a:lnTo>
                <a:lnTo>
                  <a:pt x="72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4"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4" y="0"/>
                </a:lnTo>
                <a:lnTo>
                  <a:pt x="1"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33" name="Freeform 1438">
            <a:extLst>
              <a:ext uri="{FF2B5EF4-FFF2-40B4-BE49-F238E27FC236}">
                <a16:creationId xmlns:a16="http://schemas.microsoft.com/office/drawing/2014/main" id="{AB7BBE6F-1AC9-CFA6-551E-6AB10D96FAC6}"/>
              </a:ext>
            </a:extLst>
          </p:cNvPr>
          <p:cNvSpPr>
            <a:spLocks noEditPoints="1"/>
          </p:cNvSpPr>
          <p:nvPr/>
        </p:nvSpPr>
        <p:spPr bwMode="auto">
          <a:xfrm>
            <a:off x="1984375" y="2719388"/>
            <a:ext cx="1146175" cy="80963"/>
          </a:xfrm>
          <a:custGeom>
            <a:avLst/>
            <a:gdLst>
              <a:gd name="T0" fmla="*/ 722 w 722"/>
              <a:gd name="T1" fmla="*/ 21 h 51"/>
              <a:gd name="T2" fmla="*/ 722 w 722"/>
              <a:gd name="T3" fmla="*/ 14 h 51"/>
              <a:gd name="T4" fmla="*/ 722 w 722"/>
              <a:gd name="T5" fmla="*/ 9 h 51"/>
              <a:gd name="T6" fmla="*/ 722 w 722"/>
              <a:gd name="T7" fmla="*/ 3 h 51"/>
              <a:gd name="T8" fmla="*/ 719 w 722"/>
              <a:gd name="T9" fmla="*/ 0 h 51"/>
              <a:gd name="T10" fmla="*/ 719 w 722"/>
              <a:gd name="T11" fmla="*/ 6 h 51"/>
              <a:gd name="T12" fmla="*/ 719 w 722"/>
              <a:gd name="T13" fmla="*/ 11 h 51"/>
              <a:gd name="T14" fmla="*/ 719 w 722"/>
              <a:gd name="T15" fmla="*/ 18 h 51"/>
              <a:gd name="T16" fmla="*/ 719 w 722"/>
              <a:gd name="T17" fmla="*/ 24 h 51"/>
              <a:gd name="T18" fmla="*/ 719 w 722"/>
              <a:gd name="T19" fmla="*/ 31 h 51"/>
              <a:gd name="T20" fmla="*/ 719 w 722"/>
              <a:gd name="T21" fmla="*/ 38 h 51"/>
              <a:gd name="T22" fmla="*/ 719 w 722"/>
              <a:gd name="T23" fmla="*/ 44 h 51"/>
              <a:gd name="T24" fmla="*/ 719 w 722"/>
              <a:gd name="T25" fmla="*/ 51 h 51"/>
              <a:gd name="T26" fmla="*/ 722 w 722"/>
              <a:gd name="T27" fmla="*/ 48 h 51"/>
              <a:gd name="T28" fmla="*/ 722 w 722"/>
              <a:gd name="T29" fmla="*/ 41 h 51"/>
              <a:gd name="T30" fmla="*/ 722 w 722"/>
              <a:gd name="T31" fmla="*/ 34 h 51"/>
              <a:gd name="T32" fmla="*/ 722 w 722"/>
              <a:gd name="T33" fmla="*/ 28 h 51"/>
              <a:gd name="T34" fmla="*/ 2 w 722"/>
              <a:gd name="T35" fmla="*/ 0 h 51"/>
              <a:gd name="T36" fmla="*/ 0 w 722"/>
              <a:gd name="T37" fmla="*/ 6 h 51"/>
              <a:gd name="T38" fmla="*/ 0 w 722"/>
              <a:gd name="T39" fmla="*/ 11 h 51"/>
              <a:gd name="T40" fmla="*/ 0 w 722"/>
              <a:gd name="T41" fmla="*/ 18 h 51"/>
              <a:gd name="T42" fmla="*/ 0 w 722"/>
              <a:gd name="T43" fmla="*/ 24 h 51"/>
              <a:gd name="T44" fmla="*/ 0 w 722"/>
              <a:gd name="T45" fmla="*/ 31 h 51"/>
              <a:gd name="T46" fmla="*/ 0 w 722"/>
              <a:gd name="T47" fmla="*/ 38 h 51"/>
              <a:gd name="T48" fmla="*/ 0 w 722"/>
              <a:gd name="T49" fmla="*/ 44 h 51"/>
              <a:gd name="T50" fmla="*/ 2 w 722"/>
              <a:gd name="T51" fmla="*/ 51 h 51"/>
              <a:gd name="T52" fmla="*/ 3 w 722"/>
              <a:gd name="T53" fmla="*/ 48 h 51"/>
              <a:gd name="T54" fmla="*/ 3 w 722"/>
              <a:gd name="T55" fmla="*/ 41 h 51"/>
              <a:gd name="T56" fmla="*/ 3 w 722"/>
              <a:gd name="T57" fmla="*/ 34 h 51"/>
              <a:gd name="T58" fmla="*/ 3 w 722"/>
              <a:gd name="T59" fmla="*/ 28 h 51"/>
              <a:gd name="T60" fmla="*/ 3 w 722"/>
              <a:gd name="T61" fmla="*/ 21 h 51"/>
              <a:gd name="T62" fmla="*/ 3 w 722"/>
              <a:gd name="T63" fmla="*/ 14 h 51"/>
              <a:gd name="T64" fmla="*/ 3 w 722"/>
              <a:gd name="T65" fmla="*/ 9 h 51"/>
              <a:gd name="T66" fmla="*/ 3 w 722"/>
              <a:gd name="T67" fmla="*/ 3 h 51"/>
              <a:gd name="T68" fmla="*/ 2 w 72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22" h="51">
                <a:moveTo>
                  <a:pt x="722" y="24"/>
                </a:moveTo>
                <a:lnTo>
                  <a:pt x="722" y="21"/>
                </a:lnTo>
                <a:lnTo>
                  <a:pt x="722" y="18"/>
                </a:lnTo>
                <a:lnTo>
                  <a:pt x="722" y="14"/>
                </a:lnTo>
                <a:lnTo>
                  <a:pt x="722" y="11"/>
                </a:lnTo>
                <a:lnTo>
                  <a:pt x="722" y="9"/>
                </a:lnTo>
                <a:lnTo>
                  <a:pt x="722" y="6"/>
                </a:lnTo>
                <a:lnTo>
                  <a:pt x="722" y="3"/>
                </a:lnTo>
                <a:lnTo>
                  <a:pt x="722" y="0"/>
                </a:lnTo>
                <a:lnTo>
                  <a:pt x="719" y="0"/>
                </a:lnTo>
                <a:lnTo>
                  <a:pt x="719" y="3"/>
                </a:lnTo>
                <a:lnTo>
                  <a:pt x="719" y="6"/>
                </a:lnTo>
                <a:lnTo>
                  <a:pt x="719" y="9"/>
                </a:lnTo>
                <a:lnTo>
                  <a:pt x="719" y="11"/>
                </a:lnTo>
                <a:lnTo>
                  <a:pt x="719" y="14"/>
                </a:lnTo>
                <a:lnTo>
                  <a:pt x="719" y="18"/>
                </a:lnTo>
                <a:lnTo>
                  <a:pt x="719" y="21"/>
                </a:lnTo>
                <a:lnTo>
                  <a:pt x="719" y="24"/>
                </a:lnTo>
                <a:lnTo>
                  <a:pt x="719" y="28"/>
                </a:lnTo>
                <a:lnTo>
                  <a:pt x="719" y="31"/>
                </a:lnTo>
                <a:lnTo>
                  <a:pt x="719" y="34"/>
                </a:lnTo>
                <a:lnTo>
                  <a:pt x="719" y="38"/>
                </a:lnTo>
                <a:lnTo>
                  <a:pt x="719" y="41"/>
                </a:lnTo>
                <a:lnTo>
                  <a:pt x="719" y="44"/>
                </a:lnTo>
                <a:lnTo>
                  <a:pt x="719" y="48"/>
                </a:lnTo>
                <a:lnTo>
                  <a:pt x="719" y="51"/>
                </a:lnTo>
                <a:lnTo>
                  <a:pt x="722" y="51"/>
                </a:lnTo>
                <a:lnTo>
                  <a:pt x="722" y="48"/>
                </a:lnTo>
                <a:lnTo>
                  <a:pt x="722" y="44"/>
                </a:lnTo>
                <a:lnTo>
                  <a:pt x="722" y="41"/>
                </a:lnTo>
                <a:lnTo>
                  <a:pt x="722" y="38"/>
                </a:lnTo>
                <a:lnTo>
                  <a:pt x="722" y="34"/>
                </a:lnTo>
                <a:lnTo>
                  <a:pt x="722" y="31"/>
                </a:lnTo>
                <a:lnTo>
                  <a:pt x="722" y="28"/>
                </a:lnTo>
                <a:lnTo>
                  <a:pt x="72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34" name="Freeform 1439">
            <a:extLst>
              <a:ext uri="{FF2B5EF4-FFF2-40B4-BE49-F238E27FC236}">
                <a16:creationId xmlns:a16="http://schemas.microsoft.com/office/drawing/2014/main" id="{C118B740-046A-723B-0F3B-4BDA7745F6B0}"/>
              </a:ext>
            </a:extLst>
          </p:cNvPr>
          <p:cNvSpPr>
            <a:spLocks noEditPoints="1"/>
          </p:cNvSpPr>
          <p:nvPr/>
        </p:nvSpPr>
        <p:spPr bwMode="auto">
          <a:xfrm>
            <a:off x="1987550" y="2719388"/>
            <a:ext cx="1141413" cy="80963"/>
          </a:xfrm>
          <a:custGeom>
            <a:avLst/>
            <a:gdLst>
              <a:gd name="T0" fmla="*/ 719 w 719"/>
              <a:gd name="T1" fmla="*/ 21 h 51"/>
              <a:gd name="T2" fmla="*/ 719 w 719"/>
              <a:gd name="T3" fmla="*/ 14 h 51"/>
              <a:gd name="T4" fmla="*/ 719 w 719"/>
              <a:gd name="T5" fmla="*/ 9 h 51"/>
              <a:gd name="T6" fmla="*/ 719 w 719"/>
              <a:gd name="T7" fmla="*/ 3 h 51"/>
              <a:gd name="T8" fmla="*/ 715 w 719"/>
              <a:gd name="T9" fmla="*/ 0 h 51"/>
              <a:gd name="T10" fmla="*/ 715 w 719"/>
              <a:gd name="T11" fmla="*/ 6 h 51"/>
              <a:gd name="T12" fmla="*/ 715 w 719"/>
              <a:gd name="T13" fmla="*/ 11 h 51"/>
              <a:gd name="T14" fmla="*/ 715 w 719"/>
              <a:gd name="T15" fmla="*/ 18 h 51"/>
              <a:gd name="T16" fmla="*/ 715 w 719"/>
              <a:gd name="T17" fmla="*/ 24 h 51"/>
              <a:gd name="T18" fmla="*/ 715 w 719"/>
              <a:gd name="T19" fmla="*/ 31 h 51"/>
              <a:gd name="T20" fmla="*/ 715 w 719"/>
              <a:gd name="T21" fmla="*/ 38 h 51"/>
              <a:gd name="T22" fmla="*/ 715 w 719"/>
              <a:gd name="T23" fmla="*/ 44 h 51"/>
              <a:gd name="T24" fmla="*/ 715 w 719"/>
              <a:gd name="T25" fmla="*/ 51 h 51"/>
              <a:gd name="T26" fmla="*/ 719 w 719"/>
              <a:gd name="T27" fmla="*/ 48 h 51"/>
              <a:gd name="T28" fmla="*/ 719 w 719"/>
              <a:gd name="T29" fmla="*/ 41 h 51"/>
              <a:gd name="T30" fmla="*/ 719 w 719"/>
              <a:gd name="T31" fmla="*/ 34 h 51"/>
              <a:gd name="T32" fmla="*/ 719 w 719"/>
              <a:gd name="T33" fmla="*/ 28 h 51"/>
              <a:gd name="T34" fmla="*/ 1 w 719"/>
              <a:gd name="T35" fmla="*/ 0 h 51"/>
              <a:gd name="T36" fmla="*/ 0 w 719"/>
              <a:gd name="T37" fmla="*/ 6 h 51"/>
              <a:gd name="T38" fmla="*/ 0 w 719"/>
              <a:gd name="T39" fmla="*/ 11 h 51"/>
              <a:gd name="T40" fmla="*/ 0 w 719"/>
              <a:gd name="T41" fmla="*/ 18 h 51"/>
              <a:gd name="T42" fmla="*/ 0 w 719"/>
              <a:gd name="T43" fmla="*/ 24 h 51"/>
              <a:gd name="T44" fmla="*/ 0 w 719"/>
              <a:gd name="T45" fmla="*/ 31 h 51"/>
              <a:gd name="T46" fmla="*/ 0 w 719"/>
              <a:gd name="T47" fmla="*/ 38 h 51"/>
              <a:gd name="T48" fmla="*/ 0 w 719"/>
              <a:gd name="T49" fmla="*/ 44 h 51"/>
              <a:gd name="T50" fmla="*/ 1 w 719"/>
              <a:gd name="T51" fmla="*/ 51 h 51"/>
              <a:gd name="T52" fmla="*/ 3 w 719"/>
              <a:gd name="T53" fmla="*/ 48 h 51"/>
              <a:gd name="T54" fmla="*/ 3 w 719"/>
              <a:gd name="T55" fmla="*/ 41 h 51"/>
              <a:gd name="T56" fmla="*/ 3 w 719"/>
              <a:gd name="T57" fmla="*/ 34 h 51"/>
              <a:gd name="T58" fmla="*/ 3 w 719"/>
              <a:gd name="T59" fmla="*/ 28 h 51"/>
              <a:gd name="T60" fmla="*/ 3 w 719"/>
              <a:gd name="T61" fmla="*/ 21 h 51"/>
              <a:gd name="T62" fmla="*/ 3 w 719"/>
              <a:gd name="T63" fmla="*/ 14 h 51"/>
              <a:gd name="T64" fmla="*/ 3 w 719"/>
              <a:gd name="T65" fmla="*/ 9 h 51"/>
              <a:gd name="T66" fmla="*/ 3 w 719"/>
              <a:gd name="T67" fmla="*/ 3 h 51"/>
              <a:gd name="T68" fmla="*/ 1 w 71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9" h="51">
                <a:moveTo>
                  <a:pt x="719" y="24"/>
                </a:moveTo>
                <a:lnTo>
                  <a:pt x="719" y="21"/>
                </a:lnTo>
                <a:lnTo>
                  <a:pt x="719" y="18"/>
                </a:lnTo>
                <a:lnTo>
                  <a:pt x="719" y="14"/>
                </a:lnTo>
                <a:lnTo>
                  <a:pt x="719" y="11"/>
                </a:lnTo>
                <a:lnTo>
                  <a:pt x="719" y="9"/>
                </a:lnTo>
                <a:lnTo>
                  <a:pt x="719" y="6"/>
                </a:lnTo>
                <a:lnTo>
                  <a:pt x="719" y="3"/>
                </a:lnTo>
                <a:lnTo>
                  <a:pt x="719" y="0"/>
                </a:lnTo>
                <a:lnTo>
                  <a:pt x="715" y="0"/>
                </a:lnTo>
                <a:lnTo>
                  <a:pt x="715" y="3"/>
                </a:lnTo>
                <a:lnTo>
                  <a:pt x="715" y="6"/>
                </a:lnTo>
                <a:lnTo>
                  <a:pt x="715" y="9"/>
                </a:lnTo>
                <a:lnTo>
                  <a:pt x="715" y="11"/>
                </a:lnTo>
                <a:lnTo>
                  <a:pt x="715" y="14"/>
                </a:lnTo>
                <a:lnTo>
                  <a:pt x="715" y="18"/>
                </a:lnTo>
                <a:lnTo>
                  <a:pt x="715" y="21"/>
                </a:lnTo>
                <a:lnTo>
                  <a:pt x="715" y="24"/>
                </a:lnTo>
                <a:lnTo>
                  <a:pt x="715" y="28"/>
                </a:lnTo>
                <a:lnTo>
                  <a:pt x="715" y="31"/>
                </a:lnTo>
                <a:lnTo>
                  <a:pt x="715" y="34"/>
                </a:lnTo>
                <a:lnTo>
                  <a:pt x="715" y="38"/>
                </a:lnTo>
                <a:lnTo>
                  <a:pt x="715" y="41"/>
                </a:lnTo>
                <a:lnTo>
                  <a:pt x="715" y="44"/>
                </a:lnTo>
                <a:lnTo>
                  <a:pt x="715" y="48"/>
                </a:lnTo>
                <a:lnTo>
                  <a:pt x="715" y="51"/>
                </a:lnTo>
                <a:lnTo>
                  <a:pt x="719" y="51"/>
                </a:lnTo>
                <a:lnTo>
                  <a:pt x="719" y="48"/>
                </a:lnTo>
                <a:lnTo>
                  <a:pt x="719" y="44"/>
                </a:lnTo>
                <a:lnTo>
                  <a:pt x="719" y="41"/>
                </a:lnTo>
                <a:lnTo>
                  <a:pt x="719" y="38"/>
                </a:lnTo>
                <a:lnTo>
                  <a:pt x="719" y="34"/>
                </a:lnTo>
                <a:lnTo>
                  <a:pt x="719" y="31"/>
                </a:lnTo>
                <a:lnTo>
                  <a:pt x="719" y="28"/>
                </a:lnTo>
                <a:lnTo>
                  <a:pt x="71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35" name="Freeform 1440">
            <a:extLst>
              <a:ext uri="{FF2B5EF4-FFF2-40B4-BE49-F238E27FC236}">
                <a16:creationId xmlns:a16="http://schemas.microsoft.com/office/drawing/2014/main" id="{C8649D4F-B7FD-27CB-4CF4-8D0EB3D02A37}"/>
              </a:ext>
            </a:extLst>
          </p:cNvPr>
          <p:cNvSpPr>
            <a:spLocks noEditPoints="1"/>
          </p:cNvSpPr>
          <p:nvPr/>
        </p:nvSpPr>
        <p:spPr bwMode="auto">
          <a:xfrm>
            <a:off x="1989138" y="2719388"/>
            <a:ext cx="1136650" cy="80963"/>
          </a:xfrm>
          <a:custGeom>
            <a:avLst/>
            <a:gdLst>
              <a:gd name="T0" fmla="*/ 716 w 716"/>
              <a:gd name="T1" fmla="*/ 21 h 51"/>
              <a:gd name="T2" fmla="*/ 716 w 716"/>
              <a:gd name="T3" fmla="*/ 14 h 51"/>
              <a:gd name="T4" fmla="*/ 716 w 716"/>
              <a:gd name="T5" fmla="*/ 9 h 51"/>
              <a:gd name="T6" fmla="*/ 716 w 716"/>
              <a:gd name="T7" fmla="*/ 3 h 51"/>
              <a:gd name="T8" fmla="*/ 713 w 716"/>
              <a:gd name="T9" fmla="*/ 0 h 51"/>
              <a:gd name="T10" fmla="*/ 713 w 716"/>
              <a:gd name="T11" fmla="*/ 6 h 51"/>
              <a:gd name="T12" fmla="*/ 713 w 716"/>
              <a:gd name="T13" fmla="*/ 11 h 51"/>
              <a:gd name="T14" fmla="*/ 713 w 716"/>
              <a:gd name="T15" fmla="*/ 18 h 51"/>
              <a:gd name="T16" fmla="*/ 713 w 716"/>
              <a:gd name="T17" fmla="*/ 24 h 51"/>
              <a:gd name="T18" fmla="*/ 713 w 716"/>
              <a:gd name="T19" fmla="*/ 31 h 51"/>
              <a:gd name="T20" fmla="*/ 713 w 716"/>
              <a:gd name="T21" fmla="*/ 38 h 51"/>
              <a:gd name="T22" fmla="*/ 713 w 716"/>
              <a:gd name="T23" fmla="*/ 44 h 51"/>
              <a:gd name="T24" fmla="*/ 713 w 716"/>
              <a:gd name="T25" fmla="*/ 51 h 51"/>
              <a:gd name="T26" fmla="*/ 716 w 716"/>
              <a:gd name="T27" fmla="*/ 48 h 51"/>
              <a:gd name="T28" fmla="*/ 716 w 716"/>
              <a:gd name="T29" fmla="*/ 41 h 51"/>
              <a:gd name="T30" fmla="*/ 716 w 716"/>
              <a:gd name="T31" fmla="*/ 34 h 51"/>
              <a:gd name="T32" fmla="*/ 716 w 716"/>
              <a:gd name="T33" fmla="*/ 28 h 51"/>
              <a:gd name="T34" fmla="*/ 2 w 716"/>
              <a:gd name="T35" fmla="*/ 0 h 51"/>
              <a:gd name="T36" fmla="*/ 0 w 716"/>
              <a:gd name="T37" fmla="*/ 6 h 51"/>
              <a:gd name="T38" fmla="*/ 0 w 716"/>
              <a:gd name="T39" fmla="*/ 11 h 51"/>
              <a:gd name="T40" fmla="*/ 0 w 716"/>
              <a:gd name="T41" fmla="*/ 18 h 51"/>
              <a:gd name="T42" fmla="*/ 0 w 716"/>
              <a:gd name="T43" fmla="*/ 24 h 51"/>
              <a:gd name="T44" fmla="*/ 0 w 716"/>
              <a:gd name="T45" fmla="*/ 31 h 51"/>
              <a:gd name="T46" fmla="*/ 0 w 716"/>
              <a:gd name="T47" fmla="*/ 38 h 51"/>
              <a:gd name="T48" fmla="*/ 0 w 716"/>
              <a:gd name="T49" fmla="*/ 44 h 51"/>
              <a:gd name="T50" fmla="*/ 2 w 716"/>
              <a:gd name="T51" fmla="*/ 51 h 51"/>
              <a:gd name="T52" fmla="*/ 4 w 716"/>
              <a:gd name="T53" fmla="*/ 48 h 51"/>
              <a:gd name="T54" fmla="*/ 4 w 716"/>
              <a:gd name="T55" fmla="*/ 41 h 51"/>
              <a:gd name="T56" fmla="*/ 4 w 716"/>
              <a:gd name="T57" fmla="*/ 34 h 51"/>
              <a:gd name="T58" fmla="*/ 4 w 716"/>
              <a:gd name="T59" fmla="*/ 28 h 51"/>
              <a:gd name="T60" fmla="*/ 4 w 716"/>
              <a:gd name="T61" fmla="*/ 21 h 51"/>
              <a:gd name="T62" fmla="*/ 4 w 716"/>
              <a:gd name="T63" fmla="*/ 14 h 51"/>
              <a:gd name="T64" fmla="*/ 4 w 716"/>
              <a:gd name="T65" fmla="*/ 9 h 51"/>
              <a:gd name="T66" fmla="*/ 4 w 716"/>
              <a:gd name="T67" fmla="*/ 3 h 51"/>
              <a:gd name="T68" fmla="*/ 2 w 71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6" h="51">
                <a:moveTo>
                  <a:pt x="716" y="24"/>
                </a:moveTo>
                <a:lnTo>
                  <a:pt x="716" y="21"/>
                </a:lnTo>
                <a:lnTo>
                  <a:pt x="716" y="18"/>
                </a:lnTo>
                <a:lnTo>
                  <a:pt x="716" y="14"/>
                </a:lnTo>
                <a:lnTo>
                  <a:pt x="716" y="11"/>
                </a:lnTo>
                <a:lnTo>
                  <a:pt x="716" y="9"/>
                </a:lnTo>
                <a:lnTo>
                  <a:pt x="716" y="6"/>
                </a:lnTo>
                <a:lnTo>
                  <a:pt x="716" y="3"/>
                </a:lnTo>
                <a:lnTo>
                  <a:pt x="716" y="0"/>
                </a:lnTo>
                <a:lnTo>
                  <a:pt x="713" y="0"/>
                </a:lnTo>
                <a:lnTo>
                  <a:pt x="713" y="3"/>
                </a:lnTo>
                <a:lnTo>
                  <a:pt x="713" y="6"/>
                </a:lnTo>
                <a:lnTo>
                  <a:pt x="713" y="9"/>
                </a:lnTo>
                <a:lnTo>
                  <a:pt x="713" y="11"/>
                </a:lnTo>
                <a:lnTo>
                  <a:pt x="713" y="14"/>
                </a:lnTo>
                <a:lnTo>
                  <a:pt x="713" y="18"/>
                </a:lnTo>
                <a:lnTo>
                  <a:pt x="713" y="21"/>
                </a:lnTo>
                <a:lnTo>
                  <a:pt x="713" y="24"/>
                </a:lnTo>
                <a:lnTo>
                  <a:pt x="713" y="28"/>
                </a:lnTo>
                <a:lnTo>
                  <a:pt x="713" y="31"/>
                </a:lnTo>
                <a:lnTo>
                  <a:pt x="713" y="34"/>
                </a:lnTo>
                <a:lnTo>
                  <a:pt x="713" y="38"/>
                </a:lnTo>
                <a:lnTo>
                  <a:pt x="713" y="41"/>
                </a:lnTo>
                <a:lnTo>
                  <a:pt x="713" y="44"/>
                </a:lnTo>
                <a:lnTo>
                  <a:pt x="713" y="48"/>
                </a:lnTo>
                <a:lnTo>
                  <a:pt x="713" y="51"/>
                </a:lnTo>
                <a:lnTo>
                  <a:pt x="716" y="51"/>
                </a:lnTo>
                <a:lnTo>
                  <a:pt x="716" y="48"/>
                </a:lnTo>
                <a:lnTo>
                  <a:pt x="716" y="44"/>
                </a:lnTo>
                <a:lnTo>
                  <a:pt x="716" y="41"/>
                </a:lnTo>
                <a:lnTo>
                  <a:pt x="716" y="38"/>
                </a:lnTo>
                <a:lnTo>
                  <a:pt x="716" y="34"/>
                </a:lnTo>
                <a:lnTo>
                  <a:pt x="716" y="31"/>
                </a:lnTo>
                <a:lnTo>
                  <a:pt x="716" y="28"/>
                </a:lnTo>
                <a:lnTo>
                  <a:pt x="71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36" name="Freeform 1441">
            <a:extLst>
              <a:ext uri="{FF2B5EF4-FFF2-40B4-BE49-F238E27FC236}">
                <a16:creationId xmlns:a16="http://schemas.microsoft.com/office/drawing/2014/main" id="{6F615204-C5EB-6F3C-3F18-D83AF2AB7722}"/>
              </a:ext>
            </a:extLst>
          </p:cNvPr>
          <p:cNvSpPr>
            <a:spLocks noEditPoints="1"/>
          </p:cNvSpPr>
          <p:nvPr/>
        </p:nvSpPr>
        <p:spPr bwMode="auto">
          <a:xfrm>
            <a:off x="1992313" y="2719388"/>
            <a:ext cx="1130300" cy="80963"/>
          </a:xfrm>
          <a:custGeom>
            <a:avLst/>
            <a:gdLst>
              <a:gd name="T0" fmla="*/ 712 w 712"/>
              <a:gd name="T1" fmla="*/ 21 h 51"/>
              <a:gd name="T2" fmla="*/ 712 w 712"/>
              <a:gd name="T3" fmla="*/ 14 h 51"/>
              <a:gd name="T4" fmla="*/ 712 w 712"/>
              <a:gd name="T5" fmla="*/ 9 h 51"/>
              <a:gd name="T6" fmla="*/ 712 w 712"/>
              <a:gd name="T7" fmla="*/ 3 h 51"/>
              <a:gd name="T8" fmla="*/ 709 w 712"/>
              <a:gd name="T9" fmla="*/ 0 h 51"/>
              <a:gd name="T10" fmla="*/ 709 w 712"/>
              <a:gd name="T11" fmla="*/ 6 h 51"/>
              <a:gd name="T12" fmla="*/ 709 w 712"/>
              <a:gd name="T13" fmla="*/ 11 h 51"/>
              <a:gd name="T14" fmla="*/ 709 w 712"/>
              <a:gd name="T15" fmla="*/ 18 h 51"/>
              <a:gd name="T16" fmla="*/ 709 w 712"/>
              <a:gd name="T17" fmla="*/ 24 h 51"/>
              <a:gd name="T18" fmla="*/ 709 w 712"/>
              <a:gd name="T19" fmla="*/ 31 h 51"/>
              <a:gd name="T20" fmla="*/ 709 w 712"/>
              <a:gd name="T21" fmla="*/ 38 h 51"/>
              <a:gd name="T22" fmla="*/ 709 w 712"/>
              <a:gd name="T23" fmla="*/ 44 h 51"/>
              <a:gd name="T24" fmla="*/ 709 w 712"/>
              <a:gd name="T25" fmla="*/ 51 h 51"/>
              <a:gd name="T26" fmla="*/ 712 w 712"/>
              <a:gd name="T27" fmla="*/ 48 h 51"/>
              <a:gd name="T28" fmla="*/ 712 w 712"/>
              <a:gd name="T29" fmla="*/ 41 h 51"/>
              <a:gd name="T30" fmla="*/ 712 w 712"/>
              <a:gd name="T31" fmla="*/ 34 h 51"/>
              <a:gd name="T32" fmla="*/ 712 w 712"/>
              <a:gd name="T33" fmla="*/ 28 h 51"/>
              <a:gd name="T34" fmla="*/ 2 w 712"/>
              <a:gd name="T35" fmla="*/ 0 h 51"/>
              <a:gd name="T36" fmla="*/ 0 w 712"/>
              <a:gd name="T37" fmla="*/ 6 h 51"/>
              <a:gd name="T38" fmla="*/ 0 w 712"/>
              <a:gd name="T39" fmla="*/ 11 h 51"/>
              <a:gd name="T40" fmla="*/ 0 w 712"/>
              <a:gd name="T41" fmla="*/ 18 h 51"/>
              <a:gd name="T42" fmla="*/ 0 w 712"/>
              <a:gd name="T43" fmla="*/ 24 h 51"/>
              <a:gd name="T44" fmla="*/ 0 w 712"/>
              <a:gd name="T45" fmla="*/ 31 h 51"/>
              <a:gd name="T46" fmla="*/ 0 w 712"/>
              <a:gd name="T47" fmla="*/ 38 h 51"/>
              <a:gd name="T48" fmla="*/ 0 w 712"/>
              <a:gd name="T49" fmla="*/ 44 h 51"/>
              <a:gd name="T50" fmla="*/ 2 w 712"/>
              <a:gd name="T51" fmla="*/ 51 h 51"/>
              <a:gd name="T52" fmla="*/ 3 w 712"/>
              <a:gd name="T53" fmla="*/ 48 h 51"/>
              <a:gd name="T54" fmla="*/ 3 w 712"/>
              <a:gd name="T55" fmla="*/ 41 h 51"/>
              <a:gd name="T56" fmla="*/ 3 w 712"/>
              <a:gd name="T57" fmla="*/ 34 h 51"/>
              <a:gd name="T58" fmla="*/ 3 w 712"/>
              <a:gd name="T59" fmla="*/ 28 h 51"/>
              <a:gd name="T60" fmla="*/ 3 w 712"/>
              <a:gd name="T61" fmla="*/ 21 h 51"/>
              <a:gd name="T62" fmla="*/ 3 w 712"/>
              <a:gd name="T63" fmla="*/ 14 h 51"/>
              <a:gd name="T64" fmla="*/ 3 w 712"/>
              <a:gd name="T65" fmla="*/ 9 h 51"/>
              <a:gd name="T66" fmla="*/ 3 w 712"/>
              <a:gd name="T67" fmla="*/ 3 h 51"/>
              <a:gd name="T68" fmla="*/ 2 w 71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2" h="51">
                <a:moveTo>
                  <a:pt x="712" y="24"/>
                </a:moveTo>
                <a:lnTo>
                  <a:pt x="712" y="21"/>
                </a:lnTo>
                <a:lnTo>
                  <a:pt x="712" y="18"/>
                </a:lnTo>
                <a:lnTo>
                  <a:pt x="712" y="14"/>
                </a:lnTo>
                <a:lnTo>
                  <a:pt x="712" y="11"/>
                </a:lnTo>
                <a:lnTo>
                  <a:pt x="712" y="9"/>
                </a:lnTo>
                <a:lnTo>
                  <a:pt x="712" y="6"/>
                </a:lnTo>
                <a:lnTo>
                  <a:pt x="712" y="3"/>
                </a:lnTo>
                <a:lnTo>
                  <a:pt x="712" y="0"/>
                </a:lnTo>
                <a:lnTo>
                  <a:pt x="709" y="0"/>
                </a:lnTo>
                <a:lnTo>
                  <a:pt x="709" y="3"/>
                </a:lnTo>
                <a:lnTo>
                  <a:pt x="709" y="6"/>
                </a:lnTo>
                <a:lnTo>
                  <a:pt x="709" y="9"/>
                </a:lnTo>
                <a:lnTo>
                  <a:pt x="709" y="11"/>
                </a:lnTo>
                <a:lnTo>
                  <a:pt x="709" y="14"/>
                </a:lnTo>
                <a:lnTo>
                  <a:pt x="709" y="18"/>
                </a:lnTo>
                <a:lnTo>
                  <a:pt x="709" y="21"/>
                </a:lnTo>
                <a:lnTo>
                  <a:pt x="709" y="24"/>
                </a:lnTo>
                <a:lnTo>
                  <a:pt x="709" y="28"/>
                </a:lnTo>
                <a:lnTo>
                  <a:pt x="709" y="31"/>
                </a:lnTo>
                <a:lnTo>
                  <a:pt x="709" y="34"/>
                </a:lnTo>
                <a:lnTo>
                  <a:pt x="709" y="38"/>
                </a:lnTo>
                <a:lnTo>
                  <a:pt x="709" y="41"/>
                </a:lnTo>
                <a:lnTo>
                  <a:pt x="709" y="44"/>
                </a:lnTo>
                <a:lnTo>
                  <a:pt x="709" y="48"/>
                </a:lnTo>
                <a:lnTo>
                  <a:pt x="709" y="51"/>
                </a:lnTo>
                <a:lnTo>
                  <a:pt x="712" y="51"/>
                </a:lnTo>
                <a:lnTo>
                  <a:pt x="712" y="48"/>
                </a:lnTo>
                <a:lnTo>
                  <a:pt x="712" y="44"/>
                </a:lnTo>
                <a:lnTo>
                  <a:pt x="712" y="41"/>
                </a:lnTo>
                <a:lnTo>
                  <a:pt x="712" y="38"/>
                </a:lnTo>
                <a:lnTo>
                  <a:pt x="712" y="34"/>
                </a:lnTo>
                <a:lnTo>
                  <a:pt x="712" y="31"/>
                </a:lnTo>
                <a:lnTo>
                  <a:pt x="712" y="28"/>
                </a:lnTo>
                <a:lnTo>
                  <a:pt x="71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37" name="Freeform 1442">
            <a:extLst>
              <a:ext uri="{FF2B5EF4-FFF2-40B4-BE49-F238E27FC236}">
                <a16:creationId xmlns:a16="http://schemas.microsoft.com/office/drawing/2014/main" id="{98D234A1-995E-368E-D45C-E7BEF4A87B9D}"/>
              </a:ext>
            </a:extLst>
          </p:cNvPr>
          <p:cNvSpPr>
            <a:spLocks noEditPoints="1"/>
          </p:cNvSpPr>
          <p:nvPr/>
        </p:nvSpPr>
        <p:spPr bwMode="auto">
          <a:xfrm>
            <a:off x="1995488" y="2719388"/>
            <a:ext cx="1125538" cy="80963"/>
          </a:xfrm>
          <a:custGeom>
            <a:avLst/>
            <a:gdLst>
              <a:gd name="T0" fmla="*/ 709 w 709"/>
              <a:gd name="T1" fmla="*/ 21 h 51"/>
              <a:gd name="T2" fmla="*/ 709 w 709"/>
              <a:gd name="T3" fmla="*/ 14 h 51"/>
              <a:gd name="T4" fmla="*/ 709 w 709"/>
              <a:gd name="T5" fmla="*/ 9 h 51"/>
              <a:gd name="T6" fmla="*/ 709 w 709"/>
              <a:gd name="T7" fmla="*/ 3 h 51"/>
              <a:gd name="T8" fmla="*/ 705 w 709"/>
              <a:gd name="T9" fmla="*/ 0 h 51"/>
              <a:gd name="T10" fmla="*/ 705 w 709"/>
              <a:gd name="T11" fmla="*/ 6 h 51"/>
              <a:gd name="T12" fmla="*/ 705 w 709"/>
              <a:gd name="T13" fmla="*/ 11 h 51"/>
              <a:gd name="T14" fmla="*/ 705 w 709"/>
              <a:gd name="T15" fmla="*/ 18 h 51"/>
              <a:gd name="T16" fmla="*/ 705 w 709"/>
              <a:gd name="T17" fmla="*/ 24 h 51"/>
              <a:gd name="T18" fmla="*/ 705 w 709"/>
              <a:gd name="T19" fmla="*/ 31 h 51"/>
              <a:gd name="T20" fmla="*/ 705 w 709"/>
              <a:gd name="T21" fmla="*/ 38 h 51"/>
              <a:gd name="T22" fmla="*/ 705 w 709"/>
              <a:gd name="T23" fmla="*/ 44 h 51"/>
              <a:gd name="T24" fmla="*/ 705 w 709"/>
              <a:gd name="T25" fmla="*/ 51 h 51"/>
              <a:gd name="T26" fmla="*/ 709 w 709"/>
              <a:gd name="T27" fmla="*/ 48 h 51"/>
              <a:gd name="T28" fmla="*/ 709 w 709"/>
              <a:gd name="T29" fmla="*/ 41 h 51"/>
              <a:gd name="T30" fmla="*/ 709 w 709"/>
              <a:gd name="T31" fmla="*/ 34 h 51"/>
              <a:gd name="T32" fmla="*/ 709 w 709"/>
              <a:gd name="T33" fmla="*/ 28 h 51"/>
              <a:gd name="T34" fmla="*/ 1 w 709"/>
              <a:gd name="T35" fmla="*/ 0 h 51"/>
              <a:gd name="T36" fmla="*/ 0 w 709"/>
              <a:gd name="T37" fmla="*/ 6 h 51"/>
              <a:gd name="T38" fmla="*/ 0 w 709"/>
              <a:gd name="T39" fmla="*/ 11 h 51"/>
              <a:gd name="T40" fmla="*/ 0 w 709"/>
              <a:gd name="T41" fmla="*/ 18 h 51"/>
              <a:gd name="T42" fmla="*/ 0 w 709"/>
              <a:gd name="T43" fmla="*/ 24 h 51"/>
              <a:gd name="T44" fmla="*/ 0 w 709"/>
              <a:gd name="T45" fmla="*/ 31 h 51"/>
              <a:gd name="T46" fmla="*/ 0 w 709"/>
              <a:gd name="T47" fmla="*/ 38 h 51"/>
              <a:gd name="T48" fmla="*/ 0 w 709"/>
              <a:gd name="T49" fmla="*/ 44 h 51"/>
              <a:gd name="T50" fmla="*/ 1 w 709"/>
              <a:gd name="T51" fmla="*/ 51 h 51"/>
              <a:gd name="T52" fmla="*/ 3 w 709"/>
              <a:gd name="T53" fmla="*/ 48 h 51"/>
              <a:gd name="T54" fmla="*/ 3 w 709"/>
              <a:gd name="T55" fmla="*/ 41 h 51"/>
              <a:gd name="T56" fmla="*/ 3 w 709"/>
              <a:gd name="T57" fmla="*/ 34 h 51"/>
              <a:gd name="T58" fmla="*/ 3 w 709"/>
              <a:gd name="T59" fmla="*/ 28 h 51"/>
              <a:gd name="T60" fmla="*/ 3 w 709"/>
              <a:gd name="T61" fmla="*/ 21 h 51"/>
              <a:gd name="T62" fmla="*/ 3 w 709"/>
              <a:gd name="T63" fmla="*/ 14 h 51"/>
              <a:gd name="T64" fmla="*/ 3 w 709"/>
              <a:gd name="T65" fmla="*/ 9 h 51"/>
              <a:gd name="T66" fmla="*/ 3 w 709"/>
              <a:gd name="T67" fmla="*/ 3 h 51"/>
              <a:gd name="T68" fmla="*/ 1 w 70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9" h="51">
                <a:moveTo>
                  <a:pt x="709" y="24"/>
                </a:moveTo>
                <a:lnTo>
                  <a:pt x="709" y="21"/>
                </a:lnTo>
                <a:lnTo>
                  <a:pt x="709" y="18"/>
                </a:lnTo>
                <a:lnTo>
                  <a:pt x="709" y="14"/>
                </a:lnTo>
                <a:lnTo>
                  <a:pt x="709" y="11"/>
                </a:lnTo>
                <a:lnTo>
                  <a:pt x="709" y="9"/>
                </a:lnTo>
                <a:lnTo>
                  <a:pt x="709" y="6"/>
                </a:lnTo>
                <a:lnTo>
                  <a:pt x="709" y="3"/>
                </a:lnTo>
                <a:lnTo>
                  <a:pt x="709" y="0"/>
                </a:lnTo>
                <a:lnTo>
                  <a:pt x="705" y="0"/>
                </a:lnTo>
                <a:lnTo>
                  <a:pt x="705" y="3"/>
                </a:lnTo>
                <a:lnTo>
                  <a:pt x="705" y="6"/>
                </a:lnTo>
                <a:lnTo>
                  <a:pt x="705" y="9"/>
                </a:lnTo>
                <a:lnTo>
                  <a:pt x="705" y="11"/>
                </a:lnTo>
                <a:lnTo>
                  <a:pt x="705" y="14"/>
                </a:lnTo>
                <a:lnTo>
                  <a:pt x="705" y="18"/>
                </a:lnTo>
                <a:lnTo>
                  <a:pt x="705" y="21"/>
                </a:lnTo>
                <a:lnTo>
                  <a:pt x="705" y="24"/>
                </a:lnTo>
                <a:lnTo>
                  <a:pt x="705" y="28"/>
                </a:lnTo>
                <a:lnTo>
                  <a:pt x="705" y="31"/>
                </a:lnTo>
                <a:lnTo>
                  <a:pt x="705" y="34"/>
                </a:lnTo>
                <a:lnTo>
                  <a:pt x="705" y="38"/>
                </a:lnTo>
                <a:lnTo>
                  <a:pt x="705" y="41"/>
                </a:lnTo>
                <a:lnTo>
                  <a:pt x="705" y="44"/>
                </a:lnTo>
                <a:lnTo>
                  <a:pt x="705" y="48"/>
                </a:lnTo>
                <a:lnTo>
                  <a:pt x="705" y="51"/>
                </a:lnTo>
                <a:lnTo>
                  <a:pt x="709" y="51"/>
                </a:lnTo>
                <a:lnTo>
                  <a:pt x="709" y="48"/>
                </a:lnTo>
                <a:lnTo>
                  <a:pt x="709" y="44"/>
                </a:lnTo>
                <a:lnTo>
                  <a:pt x="709" y="41"/>
                </a:lnTo>
                <a:lnTo>
                  <a:pt x="709" y="38"/>
                </a:lnTo>
                <a:lnTo>
                  <a:pt x="709" y="34"/>
                </a:lnTo>
                <a:lnTo>
                  <a:pt x="709" y="31"/>
                </a:lnTo>
                <a:lnTo>
                  <a:pt x="709" y="28"/>
                </a:lnTo>
                <a:lnTo>
                  <a:pt x="70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38" name="Freeform 1443">
            <a:extLst>
              <a:ext uri="{FF2B5EF4-FFF2-40B4-BE49-F238E27FC236}">
                <a16:creationId xmlns:a16="http://schemas.microsoft.com/office/drawing/2014/main" id="{FFD43984-BA83-27BA-91AB-4A6F9147EE4D}"/>
              </a:ext>
            </a:extLst>
          </p:cNvPr>
          <p:cNvSpPr>
            <a:spLocks noEditPoints="1"/>
          </p:cNvSpPr>
          <p:nvPr/>
        </p:nvSpPr>
        <p:spPr bwMode="auto">
          <a:xfrm>
            <a:off x="1997075" y="2719388"/>
            <a:ext cx="1120775" cy="80963"/>
          </a:xfrm>
          <a:custGeom>
            <a:avLst/>
            <a:gdLst>
              <a:gd name="T0" fmla="*/ 706 w 706"/>
              <a:gd name="T1" fmla="*/ 21 h 51"/>
              <a:gd name="T2" fmla="*/ 706 w 706"/>
              <a:gd name="T3" fmla="*/ 14 h 51"/>
              <a:gd name="T4" fmla="*/ 706 w 706"/>
              <a:gd name="T5" fmla="*/ 9 h 51"/>
              <a:gd name="T6" fmla="*/ 706 w 706"/>
              <a:gd name="T7" fmla="*/ 3 h 51"/>
              <a:gd name="T8" fmla="*/ 703 w 706"/>
              <a:gd name="T9" fmla="*/ 0 h 51"/>
              <a:gd name="T10" fmla="*/ 703 w 706"/>
              <a:gd name="T11" fmla="*/ 6 h 51"/>
              <a:gd name="T12" fmla="*/ 703 w 706"/>
              <a:gd name="T13" fmla="*/ 11 h 51"/>
              <a:gd name="T14" fmla="*/ 703 w 706"/>
              <a:gd name="T15" fmla="*/ 18 h 51"/>
              <a:gd name="T16" fmla="*/ 703 w 706"/>
              <a:gd name="T17" fmla="*/ 24 h 51"/>
              <a:gd name="T18" fmla="*/ 703 w 706"/>
              <a:gd name="T19" fmla="*/ 31 h 51"/>
              <a:gd name="T20" fmla="*/ 703 w 706"/>
              <a:gd name="T21" fmla="*/ 38 h 51"/>
              <a:gd name="T22" fmla="*/ 703 w 706"/>
              <a:gd name="T23" fmla="*/ 44 h 51"/>
              <a:gd name="T24" fmla="*/ 703 w 706"/>
              <a:gd name="T25" fmla="*/ 51 h 51"/>
              <a:gd name="T26" fmla="*/ 706 w 706"/>
              <a:gd name="T27" fmla="*/ 48 h 51"/>
              <a:gd name="T28" fmla="*/ 706 w 706"/>
              <a:gd name="T29" fmla="*/ 41 h 51"/>
              <a:gd name="T30" fmla="*/ 706 w 706"/>
              <a:gd name="T31" fmla="*/ 34 h 51"/>
              <a:gd name="T32" fmla="*/ 706 w 706"/>
              <a:gd name="T33" fmla="*/ 28 h 51"/>
              <a:gd name="T34" fmla="*/ 2 w 706"/>
              <a:gd name="T35" fmla="*/ 0 h 51"/>
              <a:gd name="T36" fmla="*/ 0 w 706"/>
              <a:gd name="T37" fmla="*/ 6 h 51"/>
              <a:gd name="T38" fmla="*/ 0 w 706"/>
              <a:gd name="T39" fmla="*/ 11 h 51"/>
              <a:gd name="T40" fmla="*/ 0 w 706"/>
              <a:gd name="T41" fmla="*/ 18 h 51"/>
              <a:gd name="T42" fmla="*/ 0 w 706"/>
              <a:gd name="T43" fmla="*/ 24 h 51"/>
              <a:gd name="T44" fmla="*/ 0 w 706"/>
              <a:gd name="T45" fmla="*/ 31 h 51"/>
              <a:gd name="T46" fmla="*/ 0 w 706"/>
              <a:gd name="T47" fmla="*/ 38 h 51"/>
              <a:gd name="T48" fmla="*/ 0 w 706"/>
              <a:gd name="T49" fmla="*/ 44 h 51"/>
              <a:gd name="T50" fmla="*/ 2 w 706"/>
              <a:gd name="T51" fmla="*/ 51 h 51"/>
              <a:gd name="T52" fmla="*/ 4 w 706"/>
              <a:gd name="T53" fmla="*/ 48 h 51"/>
              <a:gd name="T54" fmla="*/ 4 w 706"/>
              <a:gd name="T55" fmla="*/ 41 h 51"/>
              <a:gd name="T56" fmla="*/ 4 w 706"/>
              <a:gd name="T57" fmla="*/ 34 h 51"/>
              <a:gd name="T58" fmla="*/ 4 w 706"/>
              <a:gd name="T59" fmla="*/ 28 h 51"/>
              <a:gd name="T60" fmla="*/ 4 w 706"/>
              <a:gd name="T61" fmla="*/ 21 h 51"/>
              <a:gd name="T62" fmla="*/ 4 w 706"/>
              <a:gd name="T63" fmla="*/ 14 h 51"/>
              <a:gd name="T64" fmla="*/ 4 w 706"/>
              <a:gd name="T65" fmla="*/ 9 h 51"/>
              <a:gd name="T66" fmla="*/ 4 w 706"/>
              <a:gd name="T67" fmla="*/ 3 h 51"/>
              <a:gd name="T68" fmla="*/ 2 w 70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6" h="51">
                <a:moveTo>
                  <a:pt x="706" y="24"/>
                </a:moveTo>
                <a:lnTo>
                  <a:pt x="706" y="21"/>
                </a:lnTo>
                <a:lnTo>
                  <a:pt x="706" y="18"/>
                </a:lnTo>
                <a:lnTo>
                  <a:pt x="706" y="14"/>
                </a:lnTo>
                <a:lnTo>
                  <a:pt x="706" y="11"/>
                </a:lnTo>
                <a:lnTo>
                  <a:pt x="706" y="9"/>
                </a:lnTo>
                <a:lnTo>
                  <a:pt x="706" y="6"/>
                </a:lnTo>
                <a:lnTo>
                  <a:pt x="706" y="3"/>
                </a:lnTo>
                <a:lnTo>
                  <a:pt x="706" y="0"/>
                </a:lnTo>
                <a:lnTo>
                  <a:pt x="703" y="0"/>
                </a:lnTo>
                <a:lnTo>
                  <a:pt x="703" y="3"/>
                </a:lnTo>
                <a:lnTo>
                  <a:pt x="703" y="6"/>
                </a:lnTo>
                <a:lnTo>
                  <a:pt x="703" y="9"/>
                </a:lnTo>
                <a:lnTo>
                  <a:pt x="703" y="11"/>
                </a:lnTo>
                <a:lnTo>
                  <a:pt x="703" y="14"/>
                </a:lnTo>
                <a:lnTo>
                  <a:pt x="703" y="18"/>
                </a:lnTo>
                <a:lnTo>
                  <a:pt x="703" y="21"/>
                </a:lnTo>
                <a:lnTo>
                  <a:pt x="703" y="24"/>
                </a:lnTo>
                <a:lnTo>
                  <a:pt x="703" y="28"/>
                </a:lnTo>
                <a:lnTo>
                  <a:pt x="703" y="31"/>
                </a:lnTo>
                <a:lnTo>
                  <a:pt x="703" y="34"/>
                </a:lnTo>
                <a:lnTo>
                  <a:pt x="703" y="38"/>
                </a:lnTo>
                <a:lnTo>
                  <a:pt x="703" y="41"/>
                </a:lnTo>
                <a:lnTo>
                  <a:pt x="703" y="44"/>
                </a:lnTo>
                <a:lnTo>
                  <a:pt x="703" y="48"/>
                </a:lnTo>
                <a:lnTo>
                  <a:pt x="703" y="51"/>
                </a:lnTo>
                <a:lnTo>
                  <a:pt x="706" y="51"/>
                </a:lnTo>
                <a:lnTo>
                  <a:pt x="706" y="48"/>
                </a:lnTo>
                <a:lnTo>
                  <a:pt x="706" y="44"/>
                </a:lnTo>
                <a:lnTo>
                  <a:pt x="706" y="41"/>
                </a:lnTo>
                <a:lnTo>
                  <a:pt x="706" y="38"/>
                </a:lnTo>
                <a:lnTo>
                  <a:pt x="706" y="34"/>
                </a:lnTo>
                <a:lnTo>
                  <a:pt x="706" y="31"/>
                </a:lnTo>
                <a:lnTo>
                  <a:pt x="706" y="28"/>
                </a:lnTo>
                <a:lnTo>
                  <a:pt x="70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39" name="Freeform 1444">
            <a:extLst>
              <a:ext uri="{FF2B5EF4-FFF2-40B4-BE49-F238E27FC236}">
                <a16:creationId xmlns:a16="http://schemas.microsoft.com/office/drawing/2014/main" id="{20F58B2F-D0AC-C204-FBDC-52B97AF73121}"/>
              </a:ext>
            </a:extLst>
          </p:cNvPr>
          <p:cNvSpPr>
            <a:spLocks noEditPoints="1"/>
          </p:cNvSpPr>
          <p:nvPr/>
        </p:nvSpPr>
        <p:spPr bwMode="auto">
          <a:xfrm>
            <a:off x="2000250" y="2719388"/>
            <a:ext cx="1114425" cy="80963"/>
          </a:xfrm>
          <a:custGeom>
            <a:avLst/>
            <a:gdLst>
              <a:gd name="T0" fmla="*/ 702 w 702"/>
              <a:gd name="T1" fmla="*/ 21 h 51"/>
              <a:gd name="T2" fmla="*/ 702 w 702"/>
              <a:gd name="T3" fmla="*/ 14 h 51"/>
              <a:gd name="T4" fmla="*/ 702 w 702"/>
              <a:gd name="T5" fmla="*/ 9 h 51"/>
              <a:gd name="T6" fmla="*/ 702 w 702"/>
              <a:gd name="T7" fmla="*/ 3 h 51"/>
              <a:gd name="T8" fmla="*/ 699 w 702"/>
              <a:gd name="T9" fmla="*/ 0 h 51"/>
              <a:gd name="T10" fmla="*/ 699 w 702"/>
              <a:gd name="T11" fmla="*/ 6 h 51"/>
              <a:gd name="T12" fmla="*/ 699 w 702"/>
              <a:gd name="T13" fmla="*/ 11 h 51"/>
              <a:gd name="T14" fmla="*/ 699 w 702"/>
              <a:gd name="T15" fmla="*/ 18 h 51"/>
              <a:gd name="T16" fmla="*/ 699 w 702"/>
              <a:gd name="T17" fmla="*/ 24 h 51"/>
              <a:gd name="T18" fmla="*/ 699 w 702"/>
              <a:gd name="T19" fmla="*/ 31 h 51"/>
              <a:gd name="T20" fmla="*/ 699 w 702"/>
              <a:gd name="T21" fmla="*/ 38 h 51"/>
              <a:gd name="T22" fmla="*/ 699 w 702"/>
              <a:gd name="T23" fmla="*/ 44 h 51"/>
              <a:gd name="T24" fmla="*/ 699 w 702"/>
              <a:gd name="T25" fmla="*/ 51 h 51"/>
              <a:gd name="T26" fmla="*/ 702 w 702"/>
              <a:gd name="T27" fmla="*/ 48 h 51"/>
              <a:gd name="T28" fmla="*/ 702 w 702"/>
              <a:gd name="T29" fmla="*/ 41 h 51"/>
              <a:gd name="T30" fmla="*/ 702 w 702"/>
              <a:gd name="T31" fmla="*/ 34 h 51"/>
              <a:gd name="T32" fmla="*/ 702 w 702"/>
              <a:gd name="T33" fmla="*/ 28 h 51"/>
              <a:gd name="T34" fmla="*/ 2 w 702"/>
              <a:gd name="T35" fmla="*/ 0 h 51"/>
              <a:gd name="T36" fmla="*/ 0 w 702"/>
              <a:gd name="T37" fmla="*/ 6 h 51"/>
              <a:gd name="T38" fmla="*/ 0 w 702"/>
              <a:gd name="T39" fmla="*/ 11 h 51"/>
              <a:gd name="T40" fmla="*/ 0 w 702"/>
              <a:gd name="T41" fmla="*/ 18 h 51"/>
              <a:gd name="T42" fmla="*/ 0 w 702"/>
              <a:gd name="T43" fmla="*/ 24 h 51"/>
              <a:gd name="T44" fmla="*/ 0 w 702"/>
              <a:gd name="T45" fmla="*/ 31 h 51"/>
              <a:gd name="T46" fmla="*/ 0 w 702"/>
              <a:gd name="T47" fmla="*/ 38 h 51"/>
              <a:gd name="T48" fmla="*/ 0 w 702"/>
              <a:gd name="T49" fmla="*/ 44 h 51"/>
              <a:gd name="T50" fmla="*/ 2 w 702"/>
              <a:gd name="T51" fmla="*/ 51 h 51"/>
              <a:gd name="T52" fmla="*/ 3 w 702"/>
              <a:gd name="T53" fmla="*/ 48 h 51"/>
              <a:gd name="T54" fmla="*/ 3 w 702"/>
              <a:gd name="T55" fmla="*/ 41 h 51"/>
              <a:gd name="T56" fmla="*/ 3 w 702"/>
              <a:gd name="T57" fmla="*/ 34 h 51"/>
              <a:gd name="T58" fmla="*/ 3 w 702"/>
              <a:gd name="T59" fmla="*/ 28 h 51"/>
              <a:gd name="T60" fmla="*/ 3 w 702"/>
              <a:gd name="T61" fmla="*/ 21 h 51"/>
              <a:gd name="T62" fmla="*/ 3 w 702"/>
              <a:gd name="T63" fmla="*/ 14 h 51"/>
              <a:gd name="T64" fmla="*/ 3 w 702"/>
              <a:gd name="T65" fmla="*/ 9 h 51"/>
              <a:gd name="T66" fmla="*/ 3 w 702"/>
              <a:gd name="T67" fmla="*/ 3 h 51"/>
              <a:gd name="T68" fmla="*/ 2 w 70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2" h="51">
                <a:moveTo>
                  <a:pt x="702" y="24"/>
                </a:moveTo>
                <a:lnTo>
                  <a:pt x="702" y="21"/>
                </a:lnTo>
                <a:lnTo>
                  <a:pt x="702" y="18"/>
                </a:lnTo>
                <a:lnTo>
                  <a:pt x="702" y="14"/>
                </a:lnTo>
                <a:lnTo>
                  <a:pt x="702" y="11"/>
                </a:lnTo>
                <a:lnTo>
                  <a:pt x="702" y="9"/>
                </a:lnTo>
                <a:lnTo>
                  <a:pt x="702" y="6"/>
                </a:lnTo>
                <a:lnTo>
                  <a:pt x="702" y="3"/>
                </a:lnTo>
                <a:lnTo>
                  <a:pt x="702" y="0"/>
                </a:lnTo>
                <a:lnTo>
                  <a:pt x="699" y="0"/>
                </a:lnTo>
                <a:lnTo>
                  <a:pt x="699" y="3"/>
                </a:lnTo>
                <a:lnTo>
                  <a:pt x="699" y="6"/>
                </a:lnTo>
                <a:lnTo>
                  <a:pt x="699" y="9"/>
                </a:lnTo>
                <a:lnTo>
                  <a:pt x="699" y="11"/>
                </a:lnTo>
                <a:lnTo>
                  <a:pt x="699" y="14"/>
                </a:lnTo>
                <a:lnTo>
                  <a:pt x="699" y="18"/>
                </a:lnTo>
                <a:lnTo>
                  <a:pt x="699" y="21"/>
                </a:lnTo>
                <a:lnTo>
                  <a:pt x="699" y="24"/>
                </a:lnTo>
                <a:lnTo>
                  <a:pt x="699" y="28"/>
                </a:lnTo>
                <a:lnTo>
                  <a:pt x="699" y="31"/>
                </a:lnTo>
                <a:lnTo>
                  <a:pt x="699" y="34"/>
                </a:lnTo>
                <a:lnTo>
                  <a:pt x="699" y="38"/>
                </a:lnTo>
                <a:lnTo>
                  <a:pt x="699" y="41"/>
                </a:lnTo>
                <a:lnTo>
                  <a:pt x="699" y="44"/>
                </a:lnTo>
                <a:lnTo>
                  <a:pt x="699" y="48"/>
                </a:lnTo>
                <a:lnTo>
                  <a:pt x="699" y="51"/>
                </a:lnTo>
                <a:lnTo>
                  <a:pt x="702" y="51"/>
                </a:lnTo>
                <a:lnTo>
                  <a:pt x="702" y="48"/>
                </a:lnTo>
                <a:lnTo>
                  <a:pt x="702" y="44"/>
                </a:lnTo>
                <a:lnTo>
                  <a:pt x="702" y="41"/>
                </a:lnTo>
                <a:lnTo>
                  <a:pt x="702" y="38"/>
                </a:lnTo>
                <a:lnTo>
                  <a:pt x="702" y="34"/>
                </a:lnTo>
                <a:lnTo>
                  <a:pt x="702" y="31"/>
                </a:lnTo>
                <a:lnTo>
                  <a:pt x="702" y="28"/>
                </a:lnTo>
                <a:lnTo>
                  <a:pt x="70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40" name="Freeform 1445">
            <a:extLst>
              <a:ext uri="{FF2B5EF4-FFF2-40B4-BE49-F238E27FC236}">
                <a16:creationId xmlns:a16="http://schemas.microsoft.com/office/drawing/2014/main" id="{EB10147B-24BF-C2A0-B44D-C2A37B62AC98}"/>
              </a:ext>
            </a:extLst>
          </p:cNvPr>
          <p:cNvSpPr>
            <a:spLocks noEditPoints="1"/>
          </p:cNvSpPr>
          <p:nvPr/>
        </p:nvSpPr>
        <p:spPr bwMode="auto">
          <a:xfrm>
            <a:off x="2003425" y="2719388"/>
            <a:ext cx="1109663" cy="80963"/>
          </a:xfrm>
          <a:custGeom>
            <a:avLst/>
            <a:gdLst>
              <a:gd name="T0" fmla="*/ 699 w 699"/>
              <a:gd name="T1" fmla="*/ 21 h 51"/>
              <a:gd name="T2" fmla="*/ 699 w 699"/>
              <a:gd name="T3" fmla="*/ 14 h 51"/>
              <a:gd name="T4" fmla="*/ 699 w 699"/>
              <a:gd name="T5" fmla="*/ 9 h 51"/>
              <a:gd name="T6" fmla="*/ 699 w 699"/>
              <a:gd name="T7" fmla="*/ 3 h 51"/>
              <a:gd name="T8" fmla="*/ 695 w 699"/>
              <a:gd name="T9" fmla="*/ 0 h 51"/>
              <a:gd name="T10" fmla="*/ 695 w 699"/>
              <a:gd name="T11" fmla="*/ 6 h 51"/>
              <a:gd name="T12" fmla="*/ 695 w 699"/>
              <a:gd name="T13" fmla="*/ 11 h 51"/>
              <a:gd name="T14" fmla="*/ 695 w 699"/>
              <a:gd name="T15" fmla="*/ 18 h 51"/>
              <a:gd name="T16" fmla="*/ 695 w 699"/>
              <a:gd name="T17" fmla="*/ 24 h 51"/>
              <a:gd name="T18" fmla="*/ 695 w 699"/>
              <a:gd name="T19" fmla="*/ 31 h 51"/>
              <a:gd name="T20" fmla="*/ 695 w 699"/>
              <a:gd name="T21" fmla="*/ 38 h 51"/>
              <a:gd name="T22" fmla="*/ 695 w 699"/>
              <a:gd name="T23" fmla="*/ 44 h 51"/>
              <a:gd name="T24" fmla="*/ 695 w 699"/>
              <a:gd name="T25" fmla="*/ 51 h 51"/>
              <a:gd name="T26" fmla="*/ 699 w 699"/>
              <a:gd name="T27" fmla="*/ 48 h 51"/>
              <a:gd name="T28" fmla="*/ 699 w 699"/>
              <a:gd name="T29" fmla="*/ 41 h 51"/>
              <a:gd name="T30" fmla="*/ 699 w 699"/>
              <a:gd name="T31" fmla="*/ 34 h 51"/>
              <a:gd name="T32" fmla="*/ 699 w 699"/>
              <a:gd name="T33" fmla="*/ 28 h 51"/>
              <a:gd name="T34" fmla="*/ 1 w 699"/>
              <a:gd name="T35" fmla="*/ 0 h 51"/>
              <a:gd name="T36" fmla="*/ 0 w 699"/>
              <a:gd name="T37" fmla="*/ 6 h 51"/>
              <a:gd name="T38" fmla="*/ 0 w 699"/>
              <a:gd name="T39" fmla="*/ 11 h 51"/>
              <a:gd name="T40" fmla="*/ 0 w 699"/>
              <a:gd name="T41" fmla="*/ 18 h 51"/>
              <a:gd name="T42" fmla="*/ 0 w 699"/>
              <a:gd name="T43" fmla="*/ 24 h 51"/>
              <a:gd name="T44" fmla="*/ 0 w 699"/>
              <a:gd name="T45" fmla="*/ 31 h 51"/>
              <a:gd name="T46" fmla="*/ 0 w 699"/>
              <a:gd name="T47" fmla="*/ 38 h 51"/>
              <a:gd name="T48" fmla="*/ 0 w 699"/>
              <a:gd name="T49" fmla="*/ 44 h 51"/>
              <a:gd name="T50" fmla="*/ 1 w 699"/>
              <a:gd name="T51" fmla="*/ 51 h 51"/>
              <a:gd name="T52" fmla="*/ 3 w 699"/>
              <a:gd name="T53" fmla="*/ 48 h 51"/>
              <a:gd name="T54" fmla="*/ 3 w 699"/>
              <a:gd name="T55" fmla="*/ 41 h 51"/>
              <a:gd name="T56" fmla="*/ 3 w 699"/>
              <a:gd name="T57" fmla="*/ 34 h 51"/>
              <a:gd name="T58" fmla="*/ 3 w 699"/>
              <a:gd name="T59" fmla="*/ 28 h 51"/>
              <a:gd name="T60" fmla="*/ 3 w 699"/>
              <a:gd name="T61" fmla="*/ 21 h 51"/>
              <a:gd name="T62" fmla="*/ 3 w 699"/>
              <a:gd name="T63" fmla="*/ 14 h 51"/>
              <a:gd name="T64" fmla="*/ 3 w 699"/>
              <a:gd name="T65" fmla="*/ 9 h 51"/>
              <a:gd name="T66" fmla="*/ 3 w 699"/>
              <a:gd name="T67" fmla="*/ 3 h 51"/>
              <a:gd name="T68" fmla="*/ 1 w 69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9" h="51">
                <a:moveTo>
                  <a:pt x="699" y="24"/>
                </a:moveTo>
                <a:lnTo>
                  <a:pt x="699" y="21"/>
                </a:lnTo>
                <a:lnTo>
                  <a:pt x="699" y="18"/>
                </a:lnTo>
                <a:lnTo>
                  <a:pt x="699" y="14"/>
                </a:lnTo>
                <a:lnTo>
                  <a:pt x="699" y="11"/>
                </a:lnTo>
                <a:lnTo>
                  <a:pt x="699" y="9"/>
                </a:lnTo>
                <a:lnTo>
                  <a:pt x="699" y="6"/>
                </a:lnTo>
                <a:lnTo>
                  <a:pt x="699" y="3"/>
                </a:lnTo>
                <a:lnTo>
                  <a:pt x="699" y="0"/>
                </a:lnTo>
                <a:lnTo>
                  <a:pt x="695" y="0"/>
                </a:lnTo>
                <a:lnTo>
                  <a:pt x="695" y="3"/>
                </a:lnTo>
                <a:lnTo>
                  <a:pt x="695" y="6"/>
                </a:lnTo>
                <a:lnTo>
                  <a:pt x="695" y="9"/>
                </a:lnTo>
                <a:lnTo>
                  <a:pt x="695" y="11"/>
                </a:lnTo>
                <a:lnTo>
                  <a:pt x="695" y="14"/>
                </a:lnTo>
                <a:lnTo>
                  <a:pt x="695" y="18"/>
                </a:lnTo>
                <a:lnTo>
                  <a:pt x="695" y="21"/>
                </a:lnTo>
                <a:lnTo>
                  <a:pt x="695" y="24"/>
                </a:lnTo>
                <a:lnTo>
                  <a:pt x="695" y="28"/>
                </a:lnTo>
                <a:lnTo>
                  <a:pt x="695" y="31"/>
                </a:lnTo>
                <a:lnTo>
                  <a:pt x="695" y="34"/>
                </a:lnTo>
                <a:lnTo>
                  <a:pt x="695" y="38"/>
                </a:lnTo>
                <a:lnTo>
                  <a:pt x="695" y="41"/>
                </a:lnTo>
                <a:lnTo>
                  <a:pt x="695" y="44"/>
                </a:lnTo>
                <a:lnTo>
                  <a:pt x="695" y="48"/>
                </a:lnTo>
                <a:lnTo>
                  <a:pt x="695" y="51"/>
                </a:lnTo>
                <a:lnTo>
                  <a:pt x="699" y="51"/>
                </a:lnTo>
                <a:lnTo>
                  <a:pt x="699" y="48"/>
                </a:lnTo>
                <a:lnTo>
                  <a:pt x="699" y="44"/>
                </a:lnTo>
                <a:lnTo>
                  <a:pt x="699" y="41"/>
                </a:lnTo>
                <a:lnTo>
                  <a:pt x="699" y="38"/>
                </a:lnTo>
                <a:lnTo>
                  <a:pt x="699" y="34"/>
                </a:lnTo>
                <a:lnTo>
                  <a:pt x="699" y="31"/>
                </a:lnTo>
                <a:lnTo>
                  <a:pt x="699" y="28"/>
                </a:lnTo>
                <a:lnTo>
                  <a:pt x="69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41" name="Freeform 1446">
            <a:extLst>
              <a:ext uri="{FF2B5EF4-FFF2-40B4-BE49-F238E27FC236}">
                <a16:creationId xmlns:a16="http://schemas.microsoft.com/office/drawing/2014/main" id="{80234168-FFD8-955F-12BE-695116FEAC99}"/>
              </a:ext>
            </a:extLst>
          </p:cNvPr>
          <p:cNvSpPr>
            <a:spLocks noEditPoints="1"/>
          </p:cNvSpPr>
          <p:nvPr/>
        </p:nvSpPr>
        <p:spPr bwMode="auto">
          <a:xfrm>
            <a:off x="2005013" y="2719388"/>
            <a:ext cx="1104900" cy="80963"/>
          </a:xfrm>
          <a:custGeom>
            <a:avLst/>
            <a:gdLst>
              <a:gd name="T0" fmla="*/ 696 w 696"/>
              <a:gd name="T1" fmla="*/ 21 h 51"/>
              <a:gd name="T2" fmla="*/ 696 w 696"/>
              <a:gd name="T3" fmla="*/ 14 h 51"/>
              <a:gd name="T4" fmla="*/ 696 w 696"/>
              <a:gd name="T5" fmla="*/ 9 h 51"/>
              <a:gd name="T6" fmla="*/ 696 w 696"/>
              <a:gd name="T7" fmla="*/ 3 h 51"/>
              <a:gd name="T8" fmla="*/ 693 w 696"/>
              <a:gd name="T9" fmla="*/ 0 h 51"/>
              <a:gd name="T10" fmla="*/ 693 w 696"/>
              <a:gd name="T11" fmla="*/ 6 h 51"/>
              <a:gd name="T12" fmla="*/ 693 w 696"/>
              <a:gd name="T13" fmla="*/ 11 h 51"/>
              <a:gd name="T14" fmla="*/ 693 w 696"/>
              <a:gd name="T15" fmla="*/ 18 h 51"/>
              <a:gd name="T16" fmla="*/ 693 w 696"/>
              <a:gd name="T17" fmla="*/ 24 h 51"/>
              <a:gd name="T18" fmla="*/ 693 w 696"/>
              <a:gd name="T19" fmla="*/ 31 h 51"/>
              <a:gd name="T20" fmla="*/ 693 w 696"/>
              <a:gd name="T21" fmla="*/ 38 h 51"/>
              <a:gd name="T22" fmla="*/ 693 w 696"/>
              <a:gd name="T23" fmla="*/ 44 h 51"/>
              <a:gd name="T24" fmla="*/ 693 w 696"/>
              <a:gd name="T25" fmla="*/ 51 h 51"/>
              <a:gd name="T26" fmla="*/ 696 w 696"/>
              <a:gd name="T27" fmla="*/ 48 h 51"/>
              <a:gd name="T28" fmla="*/ 696 w 696"/>
              <a:gd name="T29" fmla="*/ 41 h 51"/>
              <a:gd name="T30" fmla="*/ 696 w 696"/>
              <a:gd name="T31" fmla="*/ 34 h 51"/>
              <a:gd name="T32" fmla="*/ 696 w 696"/>
              <a:gd name="T33" fmla="*/ 28 h 51"/>
              <a:gd name="T34" fmla="*/ 2 w 696"/>
              <a:gd name="T35" fmla="*/ 0 h 51"/>
              <a:gd name="T36" fmla="*/ 0 w 696"/>
              <a:gd name="T37" fmla="*/ 6 h 51"/>
              <a:gd name="T38" fmla="*/ 0 w 696"/>
              <a:gd name="T39" fmla="*/ 11 h 51"/>
              <a:gd name="T40" fmla="*/ 0 w 696"/>
              <a:gd name="T41" fmla="*/ 18 h 51"/>
              <a:gd name="T42" fmla="*/ 0 w 696"/>
              <a:gd name="T43" fmla="*/ 24 h 51"/>
              <a:gd name="T44" fmla="*/ 0 w 696"/>
              <a:gd name="T45" fmla="*/ 31 h 51"/>
              <a:gd name="T46" fmla="*/ 0 w 696"/>
              <a:gd name="T47" fmla="*/ 38 h 51"/>
              <a:gd name="T48" fmla="*/ 0 w 696"/>
              <a:gd name="T49" fmla="*/ 44 h 51"/>
              <a:gd name="T50" fmla="*/ 0 w 696"/>
              <a:gd name="T51" fmla="*/ 51 h 51"/>
              <a:gd name="T52" fmla="*/ 4 w 696"/>
              <a:gd name="T53" fmla="*/ 48 h 51"/>
              <a:gd name="T54" fmla="*/ 4 w 696"/>
              <a:gd name="T55" fmla="*/ 41 h 51"/>
              <a:gd name="T56" fmla="*/ 4 w 696"/>
              <a:gd name="T57" fmla="*/ 34 h 51"/>
              <a:gd name="T58" fmla="*/ 4 w 696"/>
              <a:gd name="T59" fmla="*/ 28 h 51"/>
              <a:gd name="T60" fmla="*/ 4 w 696"/>
              <a:gd name="T61" fmla="*/ 21 h 51"/>
              <a:gd name="T62" fmla="*/ 4 w 696"/>
              <a:gd name="T63" fmla="*/ 14 h 51"/>
              <a:gd name="T64" fmla="*/ 4 w 696"/>
              <a:gd name="T65" fmla="*/ 9 h 51"/>
              <a:gd name="T66" fmla="*/ 4 w 696"/>
              <a:gd name="T67" fmla="*/ 3 h 51"/>
              <a:gd name="T68" fmla="*/ 2 w 6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6" h="51">
                <a:moveTo>
                  <a:pt x="696" y="24"/>
                </a:moveTo>
                <a:lnTo>
                  <a:pt x="696" y="21"/>
                </a:lnTo>
                <a:lnTo>
                  <a:pt x="696" y="18"/>
                </a:lnTo>
                <a:lnTo>
                  <a:pt x="696" y="14"/>
                </a:lnTo>
                <a:lnTo>
                  <a:pt x="696" y="11"/>
                </a:lnTo>
                <a:lnTo>
                  <a:pt x="696" y="9"/>
                </a:lnTo>
                <a:lnTo>
                  <a:pt x="696" y="6"/>
                </a:lnTo>
                <a:lnTo>
                  <a:pt x="696" y="3"/>
                </a:lnTo>
                <a:lnTo>
                  <a:pt x="696" y="0"/>
                </a:lnTo>
                <a:lnTo>
                  <a:pt x="693" y="0"/>
                </a:lnTo>
                <a:lnTo>
                  <a:pt x="693" y="3"/>
                </a:lnTo>
                <a:lnTo>
                  <a:pt x="693" y="6"/>
                </a:lnTo>
                <a:lnTo>
                  <a:pt x="693" y="9"/>
                </a:lnTo>
                <a:lnTo>
                  <a:pt x="693" y="11"/>
                </a:lnTo>
                <a:lnTo>
                  <a:pt x="693" y="14"/>
                </a:lnTo>
                <a:lnTo>
                  <a:pt x="693" y="18"/>
                </a:lnTo>
                <a:lnTo>
                  <a:pt x="693" y="21"/>
                </a:lnTo>
                <a:lnTo>
                  <a:pt x="693" y="24"/>
                </a:lnTo>
                <a:lnTo>
                  <a:pt x="693" y="28"/>
                </a:lnTo>
                <a:lnTo>
                  <a:pt x="693" y="31"/>
                </a:lnTo>
                <a:lnTo>
                  <a:pt x="693" y="34"/>
                </a:lnTo>
                <a:lnTo>
                  <a:pt x="693" y="38"/>
                </a:lnTo>
                <a:lnTo>
                  <a:pt x="693" y="41"/>
                </a:lnTo>
                <a:lnTo>
                  <a:pt x="693" y="44"/>
                </a:lnTo>
                <a:lnTo>
                  <a:pt x="693" y="48"/>
                </a:lnTo>
                <a:lnTo>
                  <a:pt x="693" y="51"/>
                </a:lnTo>
                <a:lnTo>
                  <a:pt x="696" y="51"/>
                </a:lnTo>
                <a:lnTo>
                  <a:pt x="696" y="48"/>
                </a:lnTo>
                <a:lnTo>
                  <a:pt x="696" y="44"/>
                </a:lnTo>
                <a:lnTo>
                  <a:pt x="696" y="41"/>
                </a:lnTo>
                <a:lnTo>
                  <a:pt x="696" y="38"/>
                </a:lnTo>
                <a:lnTo>
                  <a:pt x="696" y="34"/>
                </a:lnTo>
                <a:lnTo>
                  <a:pt x="696" y="31"/>
                </a:lnTo>
                <a:lnTo>
                  <a:pt x="696" y="28"/>
                </a:lnTo>
                <a:lnTo>
                  <a:pt x="69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42" name="Freeform 1447">
            <a:extLst>
              <a:ext uri="{FF2B5EF4-FFF2-40B4-BE49-F238E27FC236}">
                <a16:creationId xmlns:a16="http://schemas.microsoft.com/office/drawing/2014/main" id="{A835FC52-5F88-3DD9-7390-8C89C95990CE}"/>
              </a:ext>
            </a:extLst>
          </p:cNvPr>
          <p:cNvSpPr>
            <a:spLocks noEditPoints="1"/>
          </p:cNvSpPr>
          <p:nvPr/>
        </p:nvSpPr>
        <p:spPr bwMode="auto">
          <a:xfrm>
            <a:off x="2008188" y="2719388"/>
            <a:ext cx="1098550" cy="80963"/>
          </a:xfrm>
          <a:custGeom>
            <a:avLst/>
            <a:gdLst>
              <a:gd name="T0" fmla="*/ 692 w 692"/>
              <a:gd name="T1" fmla="*/ 21 h 51"/>
              <a:gd name="T2" fmla="*/ 692 w 692"/>
              <a:gd name="T3" fmla="*/ 14 h 51"/>
              <a:gd name="T4" fmla="*/ 692 w 692"/>
              <a:gd name="T5" fmla="*/ 9 h 51"/>
              <a:gd name="T6" fmla="*/ 692 w 692"/>
              <a:gd name="T7" fmla="*/ 3 h 51"/>
              <a:gd name="T8" fmla="*/ 689 w 692"/>
              <a:gd name="T9" fmla="*/ 0 h 51"/>
              <a:gd name="T10" fmla="*/ 689 w 692"/>
              <a:gd name="T11" fmla="*/ 6 h 51"/>
              <a:gd name="T12" fmla="*/ 689 w 692"/>
              <a:gd name="T13" fmla="*/ 11 h 51"/>
              <a:gd name="T14" fmla="*/ 689 w 692"/>
              <a:gd name="T15" fmla="*/ 18 h 51"/>
              <a:gd name="T16" fmla="*/ 689 w 692"/>
              <a:gd name="T17" fmla="*/ 24 h 51"/>
              <a:gd name="T18" fmla="*/ 689 w 692"/>
              <a:gd name="T19" fmla="*/ 31 h 51"/>
              <a:gd name="T20" fmla="*/ 689 w 692"/>
              <a:gd name="T21" fmla="*/ 38 h 51"/>
              <a:gd name="T22" fmla="*/ 689 w 692"/>
              <a:gd name="T23" fmla="*/ 44 h 51"/>
              <a:gd name="T24" fmla="*/ 689 w 692"/>
              <a:gd name="T25" fmla="*/ 51 h 51"/>
              <a:gd name="T26" fmla="*/ 692 w 692"/>
              <a:gd name="T27" fmla="*/ 48 h 51"/>
              <a:gd name="T28" fmla="*/ 692 w 692"/>
              <a:gd name="T29" fmla="*/ 41 h 51"/>
              <a:gd name="T30" fmla="*/ 692 w 692"/>
              <a:gd name="T31" fmla="*/ 34 h 51"/>
              <a:gd name="T32" fmla="*/ 692 w 692"/>
              <a:gd name="T33" fmla="*/ 28 h 51"/>
              <a:gd name="T34" fmla="*/ 2 w 692"/>
              <a:gd name="T35" fmla="*/ 0 h 51"/>
              <a:gd name="T36" fmla="*/ 0 w 692"/>
              <a:gd name="T37" fmla="*/ 6 h 51"/>
              <a:gd name="T38" fmla="*/ 0 w 692"/>
              <a:gd name="T39" fmla="*/ 11 h 51"/>
              <a:gd name="T40" fmla="*/ 0 w 692"/>
              <a:gd name="T41" fmla="*/ 18 h 51"/>
              <a:gd name="T42" fmla="*/ 0 w 692"/>
              <a:gd name="T43" fmla="*/ 24 h 51"/>
              <a:gd name="T44" fmla="*/ 0 w 692"/>
              <a:gd name="T45" fmla="*/ 31 h 51"/>
              <a:gd name="T46" fmla="*/ 0 w 692"/>
              <a:gd name="T47" fmla="*/ 38 h 51"/>
              <a:gd name="T48" fmla="*/ 0 w 692"/>
              <a:gd name="T49" fmla="*/ 44 h 51"/>
              <a:gd name="T50" fmla="*/ 0 w 692"/>
              <a:gd name="T51" fmla="*/ 51 h 51"/>
              <a:gd name="T52" fmla="*/ 3 w 692"/>
              <a:gd name="T53" fmla="*/ 48 h 51"/>
              <a:gd name="T54" fmla="*/ 3 w 692"/>
              <a:gd name="T55" fmla="*/ 41 h 51"/>
              <a:gd name="T56" fmla="*/ 3 w 692"/>
              <a:gd name="T57" fmla="*/ 34 h 51"/>
              <a:gd name="T58" fmla="*/ 3 w 692"/>
              <a:gd name="T59" fmla="*/ 28 h 51"/>
              <a:gd name="T60" fmla="*/ 3 w 692"/>
              <a:gd name="T61" fmla="*/ 21 h 51"/>
              <a:gd name="T62" fmla="*/ 3 w 692"/>
              <a:gd name="T63" fmla="*/ 14 h 51"/>
              <a:gd name="T64" fmla="*/ 3 w 692"/>
              <a:gd name="T65" fmla="*/ 9 h 51"/>
              <a:gd name="T66" fmla="*/ 3 w 692"/>
              <a:gd name="T67" fmla="*/ 3 h 51"/>
              <a:gd name="T68" fmla="*/ 2 w 69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2" h="51">
                <a:moveTo>
                  <a:pt x="692" y="24"/>
                </a:moveTo>
                <a:lnTo>
                  <a:pt x="692" y="21"/>
                </a:lnTo>
                <a:lnTo>
                  <a:pt x="692" y="18"/>
                </a:lnTo>
                <a:lnTo>
                  <a:pt x="692" y="14"/>
                </a:lnTo>
                <a:lnTo>
                  <a:pt x="692" y="11"/>
                </a:lnTo>
                <a:lnTo>
                  <a:pt x="692" y="9"/>
                </a:lnTo>
                <a:lnTo>
                  <a:pt x="692" y="6"/>
                </a:lnTo>
                <a:lnTo>
                  <a:pt x="692" y="3"/>
                </a:lnTo>
                <a:lnTo>
                  <a:pt x="692" y="0"/>
                </a:lnTo>
                <a:lnTo>
                  <a:pt x="689" y="0"/>
                </a:lnTo>
                <a:lnTo>
                  <a:pt x="689" y="3"/>
                </a:lnTo>
                <a:lnTo>
                  <a:pt x="689" y="6"/>
                </a:lnTo>
                <a:lnTo>
                  <a:pt x="689" y="9"/>
                </a:lnTo>
                <a:lnTo>
                  <a:pt x="689" y="11"/>
                </a:lnTo>
                <a:lnTo>
                  <a:pt x="689" y="14"/>
                </a:lnTo>
                <a:lnTo>
                  <a:pt x="689" y="18"/>
                </a:lnTo>
                <a:lnTo>
                  <a:pt x="689" y="21"/>
                </a:lnTo>
                <a:lnTo>
                  <a:pt x="689" y="24"/>
                </a:lnTo>
                <a:lnTo>
                  <a:pt x="689" y="28"/>
                </a:lnTo>
                <a:lnTo>
                  <a:pt x="689" y="31"/>
                </a:lnTo>
                <a:lnTo>
                  <a:pt x="689" y="34"/>
                </a:lnTo>
                <a:lnTo>
                  <a:pt x="689" y="38"/>
                </a:lnTo>
                <a:lnTo>
                  <a:pt x="689" y="41"/>
                </a:lnTo>
                <a:lnTo>
                  <a:pt x="689" y="44"/>
                </a:lnTo>
                <a:lnTo>
                  <a:pt x="689" y="48"/>
                </a:lnTo>
                <a:lnTo>
                  <a:pt x="689" y="51"/>
                </a:lnTo>
                <a:lnTo>
                  <a:pt x="692" y="51"/>
                </a:lnTo>
                <a:lnTo>
                  <a:pt x="692" y="48"/>
                </a:lnTo>
                <a:lnTo>
                  <a:pt x="692" y="44"/>
                </a:lnTo>
                <a:lnTo>
                  <a:pt x="692" y="41"/>
                </a:lnTo>
                <a:lnTo>
                  <a:pt x="692" y="38"/>
                </a:lnTo>
                <a:lnTo>
                  <a:pt x="692" y="34"/>
                </a:lnTo>
                <a:lnTo>
                  <a:pt x="692" y="31"/>
                </a:lnTo>
                <a:lnTo>
                  <a:pt x="692" y="28"/>
                </a:lnTo>
                <a:lnTo>
                  <a:pt x="69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43" name="Freeform 1448">
            <a:extLst>
              <a:ext uri="{FF2B5EF4-FFF2-40B4-BE49-F238E27FC236}">
                <a16:creationId xmlns:a16="http://schemas.microsoft.com/office/drawing/2014/main" id="{333DDCF4-9CE0-6B32-49BB-0AEAE74E6E3B}"/>
              </a:ext>
            </a:extLst>
          </p:cNvPr>
          <p:cNvSpPr>
            <a:spLocks noEditPoints="1"/>
          </p:cNvSpPr>
          <p:nvPr/>
        </p:nvSpPr>
        <p:spPr bwMode="auto">
          <a:xfrm>
            <a:off x="2011363" y="2719388"/>
            <a:ext cx="1093788" cy="80963"/>
          </a:xfrm>
          <a:custGeom>
            <a:avLst/>
            <a:gdLst>
              <a:gd name="T0" fmla="*/ 689 w 689"/>
              <a:gd name="T1" fmla="*/ 21 h 51"/>
              <a:gd name="T2" fmla="*/ 689 w 689"/>
              <a:gd name="T3" fmla="*/ 14 h 51"/>
              <a:gd name="T4" fmla="*/ 689 w 689"/>
              <a:gd name="T5" fmla="*/ 9 h 51"/>
              <a:gd name="T6" fmla="*/ 689 w 689"/>
              <a:gd name="T7" fmla="*/ 3 h 51"/>
              <a:gd name="T8" fmla="*/ 685 w 689"/>
              <a:gd name="T9" fmla="*/ 0 h 51"/>
              <a:gd name="T10" fmla="*/ 685 w 689"/>
              <a:gd name="T11" fmla="*/ 6 h 51"/>
              <a:gd name="T12" fmla="*/ 685 w 689"/>
              <a:gd name="T13" fmla="*/ 11 h 51"/>
              <a:gd name="T14" fmla="*/ 685 w 689"/>
              <a:gd name="T15" fmla="*/ 18 h 51"/>
              <a:gd name="T16" fmla="*/ 685 w 689"/>
              <a:gd name="T17" fmla="*/ 24 h 51"/>
              <a:gd name="T18" fmla="*/ 685 w 689"/>
              <a:gd name="T19" fmla="*/ 31 h 51"/>
              <a:gd name="T20" fmla="*/ 685 w 689"/>
              <a:gd name="T21" fmla="*/ 38 h 51"/>
              <a:gd name="T22" fmla="*/ 685 w 689"/>
              <a:gd name="T23" fmla="*/ 44 h 51"/>
              <a:gd name="T24" fmla="*/ 685 w 689"/>
              <a:gd name="T25" fmla="*/ 51 h 51"/>
              <a:gd name="T26" fmla="*/ 689 w 689"/>
              <a:gd name="T27" fmla="*/ 48 h 51"/>
              <a:gd name="T28" fmla="*/ 689 w 689"/>
              <a:gd name="T29" fmla="*/ 41 h 51"/>
              <a:gd name="T30" fmla="*/ 689 w 689"/>
              <a:gd name="T31" fmla="*/ 34 h 51"/>
              <a:gd name="T32" fmla="*/ 689 w 689"/>
              <a:gd name="T33" fmla="*/ 28 h 51"/>
              <a:gd name="T34" fmla="*/ 1 w 689"/>
              <a:gd name="T35" fmla="*/ 0 h 51"/>
              <a:gd name="T36" fmla="*/ 0 w 689"/>
              <a:gd name="T37" fmla="*/ 6 h 51"/>
              <a:gd name="T38" fmla="*/ 0 w 689"/>
              <a:gd name="T39" fmla="*/ 11 h 51"/>
              <a:gd name="T40" fmla="*/ 0 w 689"/>
              <a:gd name="T41" fmla="*/ 18 h 51"/>
              <a:gd name="T42" fmla="*/ 0 w 689"/>
              <a:gd name="T43" fmla="*/ 24 h 51"/>
              <a:gd name="T44" fmla="*/ 0 w 689"/>
              <a:gd name="T45" fmla="*/ 31 h 51"/>
              <a:gd name="T46" fmla="*/ 0 w 689"/>
              <a:gd name="T47" fmla="*/ 38 h 51"/>
              <a:gd name="T48" fmla="*/ 0 w 689"/>
              <a:gd name="T49" fmla="*/ 44 h 51"/>
              <a:gd name="T50" fmla="*/ 0 w 689"/>
              <a:gd name="T51" fmla="*/ 51 h 51"/>
              <a:gd name="T52" fmla="*/ 3 w 689"/>
              <a:gd name="T53" fmla="*/ 48 h 51"/>
              <a:gd name="T54" fmla="*/ 3 w 689"/>
              <a:gd name="T55" fmla="*/ 41 h 51"/>
              <a:gd name="T56" fmla="*/ 3 w 689"/>
              <a:gd name="T57" fmla="*/ 34 h 51"/>
              <a:gd name="T58" fmla="*/ 3 w 689"/>
              <a:gd name="T59" fmla="*/ 28 h 51"/>
              <a:gd name="T60" fmla="*/ 3 w 689"/>
              <a:gd name="T61" fmla="*/ 21 h 51"/>
              <a:gd name="T62" fmla="*/ 3 w 689"/>
              <a:gd name="T63" fmla="*/ 14 h 51"/>
              <a:gd name="T64" fmla="*/ 3 w 689"/>
              <a:gd name="T65" fmla="*/ 9 h 51"/>
              <a:gd name="T66" fmla="*/ 3 w 689"/>
              <a:gd name="T67" fmla="*/ 3 h 51"/>
              <a:gd name="T68" fmla="*/ 1 w 68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9" h="51">
                <a:moveTo>
                  <a:pt x="689" y="24"/>
                </a:moveTo>
                <a:lnTo>
                  <a:pt x="689" y="21"/>
                </a:lnTo>
                <a:lnTo>
                  <a:pt x="689" y="18"/>
                </a:lnTo>
                <a:lnTo>
                  <a:pt x="689" y="14"/>
                </a:lnTo>
                <a:lnTo>
                  <a:pt x="689" y="11"/>
                </a:lnTo>
                <a:lnTo>
                  <a:pt x="689" y="9"/>
                </a:lnTo>
                <a:lnTo>
                  <a:pt x="689" y="6"/>
                </a:lnTo>
                <a:lnTo>
                  <a:pt x="689" y="3"/>
                </a:lnTo>
                <a:lnTo>
                  <a:pt x="689" y="0"/>
                </a:lnTo>
                <a:lnTo>
                  <a:pt x="685" y="0"/>
                </a:lnTo>
                <a:lnTo>
                  <a:pt x="685" y="3"/>
                </a:lnTo>
                <a:lnTo>
                  <a:pt x="685" y="6"/>
                </a:lnTo>
                <a:lnTo>
                  <a:pt x="685" y="9"/>
                </a:lnTo>
                <a:lnTo>
                  <a:pt x="685" y="11"/>
                </a:lnTo>
                <a:lnTo>
                  <a:pt x="685" y="14"/>
                </a:lnTo>
                <a:lnTo>
                  <a:pt x="685" y="18"/>
                </a:lnTo>
                <a:lnTo>
                  <a:pt x="685" y="21"/>
                </a:lnTo>
                <a:lnTo>
                  <a:pt x="685" y="24"/>
                </a:lnTo>
                <a:lnTo>
                  <a:pt x="685" y="28"/>
                </a:lnTo>
                <a:lnTo>
                  <a:pt x="685" y="31"/>
                </a:lnTo>
                <a:lnTo>
                  <a:pt x="685" y="34"/>
                </a:lnTo>
                <a:lnTo>
                  <a:pt x="685" y="38"/>
                </a:lnTo>
                <a:lnTo>
                  <a:pt x="685" y="41"/>
                </a:lnTo>
                <a:lnTo>
                  <a:pt x="685" y="44"/>
                </a:lnTo>
                <a:lnTo>
                  <a:pt x="685" y="48"/>
                </a:lnTo>
                <a:lnTo>
                  <a:pt x="685" y="51"/>
                </a:lnTo>
                <a:lnTo>
                  <a:pt x="689" y="51"/>
                </a:lnTo>
                <a:lnTo>
                  <a:pt x="689" y="48"/>
                </a:lnTo>
                <a:lnTo>
                  <a:pt x="689" y="44"/>
                </a:lnTo>
                <a:lnTo>
                  <a:pt x="689" y="41"/>
                </a:lnTo>
                <a:lnTo>
                  <a:pt x="689" y="38"/>
                </a:lnTo>
                <a:lnTo>
                  <a:pt x="689" y="34"/>
                </a:lnTo>
                <a:lnTo>
                  <a:pt x="689" y="31"/>
                </a:lnTo>
                <a:lnTo>
                  <a:pt x="689" y="28"/>
                </a:lnTo>
                <a:lnTo>
                  <a:pt x="68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44" name="Freeform 1449">
            <a:extLst>
              <a:ext uri="{FF2B5EF4-FFF2-40B4-BE49-F238E27FC236}">
                <a16:creationId xmlns:a16="http://schemas.microsoft.com/office/drawing/2014/main" id="{0BEB731D-B704-12F4-89FC-ABEE0D5A83FE}"/>
              </a:ext>
            </a:extLst>
          </p:cNvPr>
          <p:cNvSpPr>
            <a:spLocks noEditPoints="1"/>
          </p:cNvSpPr>
          <p:nvPr/>
        </p:nvSpPr>
        <p:spPr bwMode="auto">
          <a:xfrm>
            <a:off x="2012950" y="2719388"/>
            <a:ext cx="1089025" cy="80963"/>
          </a:xfrm>
          <a:custGeom>
            <a:avLst/>
            <a:gdLst>
              <a:gd name="T0" fmla="*/ 686 w 686"/>
              <a:gd name="T1" fmla="*/ 21 h 51"/>
              <a:gd name="T2" fmla="*/ 686 w 686"/>
              <a:gd name="T3" fmla="*/ 14 h 51"/>
              <a:gd name="T4" fmla="*/ 686 w 686"/>
              <a:gd name="T5" fmla="*/ 9 h 51"/>
              <a:gd name="T6" fmla="*/ 686 w 686"/>
              <a:gd name="T7" fmla="*/ 3 h 51"/>
              <a:gd name="T8" fmla="*/ 683 w 686"/>
              <a:gd name="T9" fmla="*/ 0 h 51"/>
              <a:gd name="T10" fmla="*/ 683 w 686"/>
              <a:gd name="T11" fmla="*/ 6 h 51"/>
              <a:gd name="T12" fmla="*/ 683 w 686"/>
              <a:gd name="T13" fmla="*/ 11 h 51"/>
              <a:gd name="T14" fmla="*/ 683 w 686"/>
              <a:gd name="T15" fmla="*/ 18 h 51"/>
              <a:gd name="T16" fmla="*/ 683 w 686"/>
              <a:gd name="T17" fmla="*/ 24 h 51"/>
              <a:gd name="T18" fmla="*/ 683 w 686"/>
              <a:gd name="T19" fmla="*/ 31 h 51"/>
              <a:gd name="T20" fmla="*/ 683 w 686"/>
              <a:gd name="T21" fmla="*/ 38 h 51"/>
              <a:gd name="T22" fmla="*/ 683 w 686"/>
              <a:gd name="T23" fmla="*/ 44 h 51"/>
              <a:gd name="T24" fmla="*/ 683 w 686"/>
              <a:gd name="T25" fmla="*/ 51 h 51"/>
              <a:gd name="T26" fmla="*/ 686 w 686"/>
              <a:gd name="T27" fmla="*/ 48 h 51"/>
              <a:gd name="T28" fmla="*/ 686 w 686"/>
              <a:gd name="T29" fmla="*/ 41 h 51"/>
              <a:gd name="T30" fmla="*/ 686 w 686"/>
              <a:gd name="T31" fmla="*/ 34 h 51"/>
              <a:gd name="T32" fmla="*/ 686 w 686"/>
              <a:gd name="T33" fmla="*/ 28 h 51"/>
              <a:gd name="T34" fmla="*/ 2 w 686"/>
              <a:gd name="T35" fmla="*/ 0 h 51"/>
              <a:gd name="T36" fmla="*/ 0 w 686"/>
              <a:gd name="T37" fmla="*/ 6 h 51"/>
              <a:gd name="T38" fmla="*/ 0 w 686"/>
              <a:gd name="T39" fmla="*/ 11 h 51"/>
              <a:gd name="T40" fmla="*/ 0 w 686"/>
              <a:gd name="T41" fmla="*/ 18 h 51"/>
              <a:gd name="T42" fmla="*/ 0 w 686"/>
              <a:gd name="T43" fmla="*/ 24 h 51"/>
              <a:gd name="T44" fmla="*/ 0 w 686"/>
              <a:gd name="T45" fmla="*/ 31 h 51"/>
              <a:gd name="T46" fmla="*/ 0 w 686"/>
              <a:gd name="T47" fmla="*/ 38 h 51"/>
              <a:gd name="T48" fmla="*/ 0 w 686"/>
              <a:gd name="T49" fmla="*/ 44 h 51"/>
              <a:gd name="T50" fmla="*/ 0 w 686"/>
              <a:gd name="T51" fmla="*/ 51 h 51"/>
              <a:gd name="T52" fmla="*/ 4 w 686"/>
              <a:gd name="T53" fmla="*/ 48 h 51"/>
              <a:gd name="T54" fmla="*/ 4 w 686"/>
              <a:gd name="T55" fmla="*/ 41 h 51"/>
              <a:gd name="T56" fmla="*/ 4 w 686"/>
              <a:gd name="T57" fmla="*/ 34 h 51"/>
              <a:gd name="T58" fmla="*/ 4 w 686"/>
              <a:gd name="T59" fmla="*/ 28 h 51"/>
              <a:gd name="T60" fmla="*/ 4 w 686"/>
              <a:gd name="T61" fmla="*/ 21 h 51"/>
              <a:gd name="T62" fmla="*/ 4 w 686"/>
              <a:gd name="T63" fmla="*/ 14 h 51"/>
              <a:gd name="T64" fmla="*/ 4 w 686"/>
              <a:gd name="T65" fmla="*/ 9 h 51"/>
              <a:gd name="T66" fmla="*/ 4 w 686"/>
              <a:gd name="T67" fmla="*/ 3 h 51"/>
              <a:gd name="T68" fmla="*/ 2 w 6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6" h="51">
                <a:moveTo>
                  <a:pt x="686" y="24"/>
                </a:moveTo>
                <a:lnTo>
                  <a:pt x="686" y="21"/>
                </a:lnTo>
                <a:lnTo>
                  <a:pt x="686" y="18"/>
                </a:lnTo>
                <a:lnTo>
                  <a:pt x="686" y="14"/>
                </a:lnTo>
                <a:lnTo>
                  <a:pt x="686" y="11"/>
                </a:lnTo>
                <a:lnTo>
                  <a:pt x="686" y="9"/>
                </a:lnTo>
                <a:lnTo>
                  <a:pt x="686" y="6"/>
                </a:lnTo>
                <a:lnTo>
                  <a:pt x="686" y="3"/>
                </a:lnTo>
                <a:lnTo>
                  <a:pt x="686" y="0"/>
                </a:lnTo>
                <a:lnTo>
                  <a:pt x="683" y="0"/>
                </a:lnTo>
                <a:lnTo>
                  <a:pt x="683" y="3"/>
                </a:lnTo>
                <a:lnTo>
                  <a:pt x="683" y="6"/>
                </a:lnTo>
                <a:lnTo>
                  <a:pt x="683" y="9"/>
                </a:lnTo>
                <a:lnTo>
                  <a:pt x="683" y="11"/>
                </a:lnTo>
                <a:lnTo>
                  <a:pt x="683" y="14"/>
                </a:lnTo>
                <a:lnTo>
                  <a:pt x="683" y="18"/>
                </a:lnTo>
                <a:lnTo>
                  <a:pt x="683" y="21"/>
                </a:lnTo>
                <a:lnTo>
                  <a:pt x="683" y="24"/>
                </a:lnTo>
                <a:lnTo>
                  <a:pt x="683" y="28"/>
                </a:lnTo>
                <a:lnTo>
                  <a:pt x="683" y="31"/>
                </a:lnTo>
                <a:lnTo>
                  <a:pt x="683" y="34"/>
                </a:lnTo>
                <a:lnTo>
                  <a:pt x="683" y="38"/>
                </a:lnTo>
                <a:lnTo>
                  <a:pt x="683" y="41"/>
                </a:lnTo>
                <a:lnTo>
                  <a:pt x="683" y="44"/>
                </a:lnTo>
                <a:lnTo>
                  <a:pt x="683" y="48"/>
                </a:lnTo>
                <a:lnTo>
                  <a:pt x="683" y="51"/>
                </a:lnTo>
                <a:lnTo>
                  <a:pt x="686" y="51"/>
                </a:lnTo>
                <a:lnTo>
                  <a:pt x="686" y="48"/>
                </a:lnTo>
                <a:lnTo>
                  <a:pt x="686" y="44"/>
                </a:lnTo>
                <a:lnTo>
                  <a:pt x="686" y="41"/>
                </a:lnTo>
                <a:lnTo>
                  <a:pt x="686" y="38"/>
                </a:lnTo>
                <a:lnTo>
                  <a:pt x="686" y="34"/>
                </a:lnTo>
                <a:lnTo>
                  <a:pt x="686" y="31"/>
                </a:lnTo>
                <a:lnTo>
                  <a:pt x="686" y="28"/>
                </a:lnTo>
                <a:lnTo>
                  <a:pt x="68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45" name="Freeform 1450">
            <a:extLst>
              <a:ext uri="{FF2B5EF4-FFF2-40B4-BE49-F238E27FC236}">
                <a16:creationId xmlns:a16="http://schemas.microsoft.com/office/drawing/2014/main" id="{7EBD7241-7DC9-2C5F-372F-244B9739961D}"/>
              </a:ext>
            </a:extLst>
          </p:cNvPr>
          <p:cNvSpPr>
            <a:spLocks noEditPoints="1"/>
          </p:cNvSpPr>
          <p:nvPr/>
        </p:nvSpPr>
        <p:spPr bwMode="auto">
          <a:xfrm>
            <a:off x="2016125" y="2719388"/>
            <a:ext cx="1082675" cy="80963"/>
          </a:xfrm>
          <a:custGeom>
            <a:avLst/>
            <a:gdLst>
              <a:gd name="T0" fmla="*/ 682 w 682"/>
              <a:gd name="T1" fmla="*/ 21 h 51"/>
              <a:gd name="T2" fmla="*/ 682 w 682"/>
              <a:gd name="T3" fmla="*/ 14 h 51"/>
              <a:gd name="T4" fmla="*/ 682 w 682"/>
              <a:gd name="T5" fmla="*/ 9 h 51"/>
              <a:gd name="T6" fmla="*/ 682 w 682"/>
              <a:gd name="T7" fmla="*/ 3 h 51"/>
              <a:gd name="T8" fmla="*/ 679 w 682"/>
              <a:gd name="T9" fmla="*/ 0 h 51"/>
              <a:gd name="T10" fmla="*/ 679 w 682"/>
              <a:gd name="T11" fmla="*/ 6 h 51"/>
              <a:gd name="T12" fmla="*/ 679 w 682"/>
              <a:gd name="T13" fmla="*/ 11 h 51"/>
              <a:gd name="T14" fmla="*/ 679 w 682"/>
              <a:gd name="T15" fmla="*/ 18 h 51"/>
              <a:gd name="T16" fmla="*/ 679 w 682"/>
              <a:gd name="T17" fmla="*/ 24 h 51"/>
              <a:gd name="T18" fmla="*/ 679 w 682"/>
              <a:gd name="T19" fmla="*/ 31 h 51"/>
              <a:gd name="T20" fmla="*/ 679 w 682"/>
              <a:gd name="T21" fmla="*/ 38 h 51"/>
              <a:gd name="T22" fmla="*/ 679 w 682"/>
              <a:gd name="T23" fmla="*/ 44 h 51"/>
              <a:gd name="T24" fmla="*/ 679 w 682"/>
              <a:gd name="T25" fmla="*/ 51 h 51"/>
              <a:gd name="T26" fmla="*/ 682 w 682"/>
              <a:gd name="T27" fmla="*/ 48 h 51"/>
              <a:gd name="T28" fmla="*/ 682 w 682"/>
              <a:gd name="T29" fmla="*/ 41 h 51"/>
              <a:gd name="T30" fmla="*/ 682 w 682"/>
              <a:gd name="T31" fmla="*/ 34 h 51"/>
              <a:gd name="T32" fmla="*/ 682 w 682"/>
              <a:gd name="T33" fmla="*/ 28 h 51"/>
              <a:gd name="T34" fmla="*/ 2 w 682"/>
              <a:gd name="T35" fmla="*/ 0 h 51"/>
              <a:gd name="T36" fmla="*/ 0 w 682"/>
              <a:gd name="T37" fmla="*/ 6 h 51"/>
              <a:gd name="T38" fmla="*/ 0 w 682"/>
              <a:gd name="T39" fmla="*/ 11 h 51"/>
              <a:gd name="T40" fmla="*/ 0 w 682"/>
              <a:gd name="T41" fmla="*/ 18 h 51"/>
              <a:gd name="T42" fmla="*/ 0 w 682"/>
              <a:gd name="T43" fmla="*/ 24 h 51"/>
              <a:gd name="T44" fmla="*/ 0 w 682"/>
              <a:gd name="T45" fmla="*/ 31 h 51"/>
              <a:gd name="T46" fmla="*/ 0 w 682"/>
              <a:gd name="T47" fmla="*/ 38 h 51"/>
              <a:gd name="T48" fmla="*/ 0 w 682"/>
              <a:gd name="T49" fmla="*/ 44 h 51"/>
              <a:gd name="T50" fmla="*/ 0 w 682"/>
              <a:gd name="T51" fmla="*/ 51 h 51"/>
              <a:gd name="T52" fmla="*/ 3 w 682"/>
              <a:gd name="T53" fmla="*/ 48 h 51"/>
              <a:gd name="T54" fmla="*/ 3 w 682"/>
              <a:gd name="T55" fmla="*/ 41 h 51"/>
              <a:gd name="T56" fmla="*/ 3 w 682"/>
              <a:gd name="T57" fmla="*/ 34 h 51"/>
              <a:gd name="T58" fmla="*/ 3 w 682"/>
              <a:gd name="T59" fmla="*/ 28 h 51"/>
              <a:gd name="T60" fmla="*/ 3 w 682"/>
              <a:gd name="T61" fmla="*/ 21 h 51"/>
              <a:gd name="T62" fmla="*/ 3 w 682"/>
              <a:gd name="T63" fmla="*/ 14 h 51"/>
              <a:gd name="T64" fmla="*/ 3 w 682"/>
              <a:gd name="T65" fmla="*/ 9 h 51"/>
              <a:gd name="T66" fmla="*/ 3 w 682"/>
              <a:gd name="T67" fmla="*/ 3 h 51"/>
              <a:gd name="T68" fmla="*/ 2 w 68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2" h="51">
                <a:moveTo>
                  <a:pt x="682" y="24"/>
                </a:moveTo>
                <a:lnTo>
                  <a:pt x="682" y="21"/>
                </a:lnTo>
                <a:lnTo>
                  <a:pt x="682" y="18"/>
                </a:lnTo>
                <a:lnTo>
                  <a:pt x="682" y="14"/>
                </a:lnTo>
                <a:lnTo>
                  <a:pt x="682" y="11"/>
                </a:lnTo>
                <a:lnTo>
                  <a:pt x="682" y="9"/>
                </a:lnTo>
                <a:lnTo>
                  <a:pt x="682" y="6"/>
                </a:lnTo>
                <a:lnTo>
                  <a:pt x="682" y="3"/>
                </a:lnTo>
                <a:lnTo>
                  <a:pt x="682" y="0"/>
                </a:lnTo>
                <a:lnTo>
                  <a:pt x="679" y="0"/>
                </a:lnTo>
                <a:lnTo>
                  <a:pt x="679" y="3"/>
                </a:lnTo>
                <a:lnTo>
                  <a:pt x="679" y="6"/>
                </a:lnTo>
                <a:lnTo>
                  <a:pt x="679" y="9"/>
                </a:lnTo>
                <a:lnTo>
                  <a:pt x="679" y="11"/>
                </a:lnTo>
                <a:lnTo>
                  <a:pt x="679" y="14"/>
                </a:lnTo>
                <a:lnTo>
                  <a:pt x="679" y="18"/>
                </a:lnTo>
                <a:lnTo>
                  <a:pt x="679" y="21"/>
                </a:lnTo>
                <a:lnTo>
                  <a:pt x="679" y="24"/>
                </a:lnTo>
                <a:lnTo>
                  <a:pt x="679" y="28"/>
                </a:lnTo>
                <a:lnTo>
                  <a:pt x="679" y="31"/>
                </a:lnTo>
                <a:lnTo>
                  <a:pt x="679" y="34"/>
                </a:lnTo>
                <a:lnTo>
                  <a:pt x="679" y="38"/>
                </a:lnTo>
                <a:lnTo>
                  <a:pt x="679" y="41"/>
                </a:lnTo>
                <a:lnTo>
                  <a:pt x="679" y="44"/>
                </a:lnTo>
                <a:lnTo>
                  <a:pt x="679" y="48"/>
                </a:lnTo>
                <a:lnTo>
                  <a:pt x="679" y="51"/>
                </a:lnTo>
                <a:lnTo>
                  <a:pt x="682" y="51"/>
                </a:lnTo>
                <a:lnTo>
                  <a:pt x="682" y="48"/>
                </a:lnTo>
                <a:lnTo>
                  <a:pt x="682" y="44"/>
                </a:lnTo>
                <a:lnTo>
                  <a:pt x="682" y="41"/>
                </a:lnTo>
                <a:lnTo>
                  <a:pt x="682" y="38"/>
                </a:lnTo>
                <a:lnTo>
                  <a:pt x="682" y="34"/>
                </a:lnTo>
                <a:lnTo>
                  <a:pt x="682" y="31"/>
                </a:lnTo>
                <a:lnTo>
                  <a:pt x="682" y="28"/>
                </a:lnTo>
                <a:lnTo>
                  <a:pt x="68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46" name="Freeform 1451">
            <a:extLst>
              <a:ext uri="{FF2B5EF4-FFF2-40B4-BE49-F238E27FC236}">
                <a16:creationId xmlns:a16="http://schemas.microsoft.com/office/drawing/2014/main" id="{243B2D55-FD1E-D462-D08A-B9B66F41F5A6}"/>
              </a:ext>
            </a:extLst>
          </p:cNvPr>
          <p:cNvSpPr>
            <a:spLocks noEditPoints="1"/>
          </p:cNvSpPr>
          <p:nvPr/>
        </p:nvSpPr>
        <p:spPr bwMode="auto">
          <a:xfrm>
            <a:off x="2019300" y="2719388"/>
            <a:ext cx="1077913" cy="80963"/>
          </a:xfrm>
          <a:custGeom>
            <a:avLst/>
            <a:gdLst>
              <a:gd name="T0" fmla="*/ 679 w 679"/>
              <a:gd name="T1" fmla="*/ 21 h 51"/>
              <a:gd name="T2" fmla="*/ 679 w 679"/>
              <a:gd name="T3" fmla="*/ 14 h 51"/>
              <a:gd name="T4" fmla="*/ 679 w 679"/>
              <a:gd name="T5" fmla="*/ 9 h 51"/>
              <a:gd name="T6" fmla="*/ 679 w 679"/>
              <a:gd name="T7" fmla="*/ 3 h 51"/>
              <a:gd name="T8" fmla="*/ 675 w 679"/>
              <a:gd name="T9" fmla="*/ 0 h 51"/>
              <a:gd name="T10" fmla="*/ 675 w 679"/>
              <a:gd name="T11" fmla="*/ 6 h 51"/>
              <a:gd name="T12" fmla="*/ 675 w 679"/>
              <a:gd name="T13" fmla="*/ 11 h 51"/>
              <a:gd name="T14" fmla="*/ 675 w 679"/>
              <a:gd name="T15" fmla="*/ 18 h 51"/>
              <a:gd name="T16" fmla="*/ 675 w 679"/>
              <a:gd name="T17" fmla="*/ 24 h 51"/>
              <a:gd name="T18" fmla="*/ 675 w 679"/>
              <a:gd name="T19" fmla="*/ 31 h 51"/>
              <a:gd name="T20" fmla="*/ 675 w 679"/>
              <a:gd name="T21" fmla="*/ 38 h 51"/>
              <a:gd name="T22" fmla="*/ 675 w 679"/>
              <a:gd name="T23" fmla="*/ 44 h 51"/>
              <a:gd name="T24" fmla="*/ 675 w 679"/>
              <a:gd name="T25" fmla="*/ 51 h 51"/>
              <a:gd name="T26" fmla="*/ 679 w 679"/>
              <a:gd name="T27" fmla="*/ 48 h 51"/>
              <a:gd name="T28" fmla="*/ 679 w 679"/>
              <a:gd name="T29" fmla="*/ 41 h 51"/>
              <a:gd name="T30" fmla="*/ 679 w 679"/>
              <a:gd name="T31" fmla="*/ 34 h 51"/>
              <a:gd name="T32" fmla="*/ 679 w 679"/>
              <a:gd name="T33" fmla="*/ 28 h 51"/>
              <a:gd name="T34" fmla="*/ 1 w 679"/>
              <a:gd name="T35" fmla="*/ 0 h 51"/>
              <a:gd name="T36" fmla="*/ 0 w 679"/>
              <a:gd name="T37" fmla="*/ 6 h 51"/>
              <a:gd name="T38" fmla="*/ 0 w 679"/>
              <a:gd name="T39" fmla="*/ 11 h 51"/>
              <a:gd name="T40" fmla="*/ 0 w 679"/>
              <a:gd name="T41" fmla="*/ 18 h 51"/>
              <a:gd name="T42" fmla="*/ 0 w 679"/>
              <a:gd name="T43" fmla="*/ 24 h 51"/>
              <a:gd name="T44" fmla="*/ 0 w 679"/>
              <a:gd name="T45" fmla="*/ 31 h 51"/>
              <a:gd name="T46" fmla="*/ 0 w 679"/>
              <a:gd name="T47" fmla="*/ 38 h 51"/>
              <a:gd name="T48" fmla="*/ 0 w 679"/>
              <a:gd name="T49" fmla="*/ 44 h 51"/>
              <a:gd name="T50" fmla="*/ 0 w 679"/>
              <a:gd name="T51" fmla="*/ 51 h 51"/>
              <a:gd name="T52" fmla="*/ 3 w 679"/>
              <a:gd name="T53" fmla="*/ 48 h 51"/>
              <a:gd name="T54" fmla="*/ 3 w 679"/>
              <a:gd name="T55" fmla="*/ 41 h 51"/>
              <a:gd name="T56" fmla="*/ 3 w 679"/>
              <a:gd name="T57" fmla="*/ 34 h 51"/>
              <a:gd name="T58" fmla="*/ 3 w 679"/>
              <a:gd name="T59" fmla="*/ 28 h 51"/>
              <a:gd name="T60" fmla="*/ 3 w 679"/>
              <a:gd name="T61" fmla="*/ 21 h 51"/>
              <a:gd name="T62" fmla="*/ 3 w 679"/>
              <a:gd name="T63" fmla="*/ 14 h 51"/>
              <a:gd name="T64" fmla="*/ 3 w 679"/>
              <a:gd name="T65" fmla="*/ 9 h 51"/>
              <a:gd name="T66" fmla="*/ 3 w 679"/>
              <a:gd name="T67" fmla="*/ 3 h 51"/>
              <a:gd name="T68" fmla="*/ 1 w 67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9" h="51">
                <a:moveTo>
                  <a:pt x="679" y="24"/>
                </a:moveTo>
                <a:lnTo>
                  <a:pt x="679" y="21"/>
                </a:lnTo>
                <a:lnTo>
                  <a:pt x="679" y="18"/>
                </a:lnTo>
                <a:lnTo>
                  <a:pt x="679" y="14"/>
                </a:lnTo>
                <a:lnTo>
                  <a:pt x="679" y="11"/>
                </a:lnTo>
                <a:lnTo>
                  <a:pt x="679" y="9"/>
                </a:lnTo>
                <a:lnTo>
                  <a:pt x="679" y="6"/>
                </a:lnTo>
                <a:lnTo>
                  <a:pt x="679" y="3"/>
                </a:lnTo>
                <a:lnTo>
                  <a:pt x="679" y="0"/>
                </a:lnTo>
                <a:lnTo>
                  <a:pt x="675" y="0"/>
                </a:lnTo>
                <a:lnTo>
                  <a:pt x="675" y="3"/>
                </a:lnTo>
                <a:lnTo>
                  <a:pt x="675" y="6"/>
                </a:lnTo>
                <a:lnTo>
                  <a:pt x="675" y="9"/>
                </a:lnTo>
                <a:lnTo>
                  <a:pt x="675" y="11"/>
                </a:lnTo>
                <a:lnTo>
                  <a:pt x="675" y="14"/>
                </a:lnTo>
                <a:lnTo>
                  <a:pt x="675" y="18"/>
                </a:lnTo>
                <a:lnTo>
                  <a:pt x="675" y="21"/>
                </a:lnTo>
                <a:lnTo>
                  <a:pt x="675" y="24"/>
                </a:lnTo>
                <a:lnTo>
                  <a:pt x="675" y="28"/>
                </a:lnTo>
                <a:lnTo>
                  <a:pt x="675" y="31"/>
                </a:lnTo>
                <a:lnTo>
                  <a:pt x="675" y="34"/>
                </a:lnTo>
                <a:lnTo>
                  <a:pt x="675" y="38"/>
                </a:lnTo>
                <a:lnTo>
                  <a:pt x="675" y="41"/>
                </a:lnTo>
                <a:lnTo>
                  <a:pt x="675" y="44"/>
                </a:lnTo>
                <a:lnTo>
                  <a:pt x="675" y="48"/>
                </a:lnTo>
                <a:lnTo>
                  <a:pt x="675" y="51"/>
                </a:lnTo>
                <a:lnTo>
                  <a:pt x="679" y="51"/>
                </a:lnTo>
                <a:lnTo>
                  <a:pt x="679" y="48"/>
                </a:lnTo>
                <a:lnTo>
                  <a:pt x="679" y="44"/>
                </a:lnTo>
                <a:lnTo>
                  <a:pt x="679" y="41"/>
                </a:lnTo>
                <a:lnTo>
                  <a:pt x="679" y="38"/>
                </a:lnTo>
                <a:lnTo>
                  <a:pt x="679" y="34"/>
                </a:lnTo>
                <a:lnTo>
                  <a:pt x="679" y="31"/>
                </a:lnTo>
                <a:lnTo>
                  <a:pt x="679" y="28"/>
                </a:lnTo>
                <a:lnTo>
                  <a:pt x="67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47" name="Freeform 1452">
            <a:extLst>
              <a:ext uri="{FF2B5EF4-FFF2-40B4-BE49-F238E27FC236}">
                <a16:creationId xmlns:a16="http://schemas.microsoft.com/office/drawing/2014/main" id="{B9D8005E-E84A-E6CE-FE5C-071F469BE9B9}"/>
              </a:ext>
            </a:extLst>
          </p:cNvPr>
          <p:cNvSpPr>
            <a:spLocks noEditPoints="1"/>
          </p:cNvSpPr>
          <p:nvPr/>
        </p:nvSpPr>
        <p:spPr bwMode="auto">
          <a:xfrm>
            <a:off x="2020888" y="2719388"/>
            <a:ext cx="1073150" cy="80963"/>
          </a:xfrm>
          <a:custGeom>
            <a:avLst/>
            <a:gdLst>
              <a:gd name="T0" fmla="*/ 676 w 676"/>
              <a:gd name="T1" fmla="*/ 21 h 51"/>
              <a:gd name="T2" fmla="*/ 676 w 676"/>
              <a:gd name="T3" fmla="*/ 14 h 51"/>
              <a:gd name="T4" fmla="*/ 676 w 676"/>
              <a:gd name="T5" fmla="*/ 9 h 51"/>
              <a:gd name="T6" fmla="*/ 676 w 676"/>
              <a:gd name="T7" fmla="*/ 3 h 51"/>
              <a:gd name="T8" fmla="*/ 673 w 676"/>
              <a:gd name="T9" fmla="*/ 0 h 51"/>
              <a:gd name="T10" fmla="*/ 673 w 676"/>
              <a:gd name="T11" fmla="*/ 6 h 51"/>
              <a:gd name="T12" fmla="*/ 673 w 676"/>
              <a:gd name="T13" fmla="*/ 11 h 51"/>
              <a:gd name="T14" fmla="*/ 673 w 676"/>
              <a:gd name="T15" fmla="*/ 18 h 51"/>
              <a:gd name="T16" fmla="*/ 673 w 676"/>
              <a:gd name="T17" fmla="*/ 24 h 51"/>
              <a:gd name="T18" fmla="*/ 673 w 676"/>
              <a:gd name="T19" fmla="*/ 31 h 51"/>
              <a:gd name="T20" fmla="*/ 673 w 676"/>
              <a:gd name="T21" fmla="*/ 38 h 51"/>
              <a:gd name="T22" fmla="*/ 673 w 676"/>
              <a:gd name="T23" fmla="*/ 44 h 51"/>
              <a:gd name="T24" fmla="*/ 673 w 676"/>
              <a:gd name="T25" fmla="*/ 51 h 51"/>
              <a:gd name="T26" fmla="*/ 676 w 676"/>
              <a:gd name="T27" fmla="*/ 48 h 51"/>
              <a:gd name="T28" fmla="*/ 676 w 676"/>
              <a:gd name="T29" fmla="*/ 41 h 51"/>
              <a:gd name="T30" fmla="*/ 676 w 676"/>
              <a:gd name="T31" fmla="*/ 34 h 51"/>
              <a:gd name="T32" fmla="*/ 676 w 676"/>
              <a:gd name="T33" fmla="*/ 28 h 51"/>
              <a:gd name="T34" fmla="*/ 2 w 676"/>
              <a:gd name="T35" fmla="*/ 0 h 51"/>
              <a:gd name="T36" fmla="*/ 0 w 676"/>
              <a:gd name="T37" fmla="*/ 6 h 51"/>
              <a:gd name="T38" fmla="*/ 0 w 676"/>
              <a:gd name="T39" fmla="*/ 11 h 51"/>
              <a:gd name="T40" fmla="*/ 0 w 676"/>
              <a:gd name="T41" fmla="*/ 18 h 51"/>
              <a:gd name="T42" fmla="*/ 0 w 676"/>
              <a:gd name="T43" fmla="*/ 24 h 51"/>
              <a:gd name="T44" fmla="*/ 0 w 676"/>
              <a:gd name="T45" fmla="*/ 31 h 51"/>
              <a:gd name="T46" fmla="*/ 0 w 676"/>
              <a:gd name="T47" fmla="*/ 38 h 51"/>
              <a:gd name="T48" fmla="*/ 0 w 676"/>
              <a:gd name="T49" fmla="*/ 44 h 51"/>
              <a:gd name="T50" fmla="*/ 0 w 676"/>
              <a:gd name="T51" fmla="*/ 51 h 51"/>
              <a:gd name="T52" fmla="*/ 4 w 676"/>
              <a:gd name="T53" fmla="*/ 48 h 51"/>
              <a:gd name="T54" fmla="*/ 4 w 676"/>
              <a:gd name="T55" fmla="*/ 41 h 51"/>
              <a:gd name="T56" fmla="*/ 4 w 676"/>
              <a:gd name="T57" fmla="*/ 34 h 51"/>
              <a:gd name="T58" fmla="*/ 4 w 676"/>
              <a:gd name="T59" fmla="*/ 28 h 51"/>
              <a:gd name="T60" fmla="*/ 4 w 676"/>
              <a:gd name="T61" fmla="*/ 21 h 51"/>
              <a:gd name="T62" fmla="*/ 4 w 676"/>
              <a:gd name="T63" fmla="*/ 14 h 51"/>
              <a:gd name="T64" fmla="*/ 4 w 676"/>
              <a:gd name="T65" fmla="*/ 9 h 51"/>
              <a:gd name="T66" fmla="*/ 4 w 676"/>
              <a:gd name="T67" fmla="*/ 3 h 51"/>
              <a:gd name="T68" fmla="*/ 2 w 6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6" h="51">
                <a:moveTo>
                  <a:pt x="676" y="24"/>
                </a:moveTo>
                <a:lnTo>
                  <a:pt x="676" y="21"/>
                </a:lnTo>
                <a:lnTo>
                  <a:pt x="676" y="18"/>
                </a:lnTo>
                <a:lnTo>
                  <a:pt x="676" y="14"/>
                </a:lnTo>
                <a:lnTo>
                  <a:pt x="676" y="11"/>
                </a:lnTo>
                <a:lnTo>
                  <a:pt x="676" y="9"/>
                </a:lnTo>
                <a:lnTo>
                  <a:pt x="676" y="6"/>
                </a:lnTo>
                <a:lnTo>
                  <a:pt x="676" y="3"/>
                </a:lnTo>
                <a:lnTo>
                  <a:pt x="676" y="0"/>
                </a:lnTo>
                <a:lnTo>
                  <a:pt x="673" y="0"/>
                </a:lnTo>
                <a:lnTo>
                  <a:pt x="673" y="3"/>
                </a:lnTo>
                <a:lnTo>
                  <a:pt x="673" y="6"/>
                </a:lnTo>
                <a:lnTo>
                  <a:pt x="673" y="9"/>
                </a:lnTo>
                <a:lnTo>
                  <a:pt x="673" y="11"/>
                </a:lnTo>
                <a:lnTo>
                  <a:pt x="673" y="14"/>
                </a:lnTo>
                <a:lnTo>
                  <a:pt x="673" y="18"/>
                </a:lnTo>
                <a:lnTo>
                  <a:pt x="673" y="21"/>
                </a:lnTo>
                <a:lnTo>
                  <a:pt x="673" y="24"/>
                </a:lnTo>
                <a:lnTo>
                  <a:pt x="673" y="28"/>
                </a:lnTo>
                <a:lnTo>
                  <a:pt x="673" y="31"/>
                </a:lnTo>
                <a:lnTo>
                  <a:pt x="673" y="34"/>
                </a:lnTo>
                <a:lnTo>
                  <a:pt x="673" y="38"/>
                </a:lnTo>
                <a:lnTo>
                  <a:pt x="673" y="41"/>
                </a:lnTo>
                <a:lnTo>
                  <a:pt x="673" y="44"/>
                </a:lnTo>
                <a:lnTo>
                  <a:pt x="673" y="48"/>
                </a:lnTo>
                <a:lnTo>
                  <a:pt x="673" y="51"/>
                </a:lnTo>
                <a:lnTo>
                  <a:pt x="676" y="51"/>
                </a:lnTo>
                <a:lnTo>
                  <a:pt x="676" y="48"/>
                </a:lnTo>
                <a:lnTo>
                  <a:pt x="676" y="44"/>
                </a:lnTo>
                <a:lnTo>
                  <a:pt x="676" y="41"/>
                </a:lnTo>
                <a:lnTo>
                  <a:pt x="676" y="38"/>
                </a:lnTo>
                <a:lnTo>
                  <a:pt x="676" y="34"/>
                </a:lnTo>
                <a:lnTo>
                  <a:pt x="676" y="31"/>
                </a:lnTo>
                <a:lnTo>
                  <a:pt x="676" y="28"/>
                </a:lnTo>
                <a:lnTo>
                  <a:pt x="67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48" name="Freeform 1453">
            <a:extLst>
              <a:ext uri="{FF2B5EF4-FFF2-40B4-BE49-F238E27FC236}">
                <a16:creationId xmlns:a16="http://schemas.microsoft.com/office/drawing/2014/main" id="{4F880506-E414-11DC-A552-EFBB5EFB544E}"/>
              </a:ext>
            </a:extLst>
          </p:cNvPr>
          <p:cNvSpPr>
            <a:spLocks noEditPoints="1"/>
          </p:cNvSpPr>
          <p:nvPr/>
        </p:nvSpPr>
        <p:spPr bwMode="auto">
          <a:xfrm>
            <a:off x="2024063" y="2719388"/>
            <a:ext cx="1066800" cy="80963"/>
          </a:xfrm>
          <a:custGeom>
            <a:avLst/>
            <a:gdLst>
              <a:gd name="T0" fmla="*/ 672 w 672"/>
              <a:gd name="T1" fmla="*/ 21 h 51"/>
              <a:gd name="T2" fmla="*/ 672 w 672"/>
              <a:gd name="T3" fmla="*/ 14 h 51"/>
              <a:gd name="T4" fmla="*/ 672 w 672"/>
              <a:gd name="T5" fmla="*/ 9 h 51"/>
              <a:gd name="T6" fmla="*/ 672 w 672"/>
              <a:gd name="T7" fmla="*/ 3 h 51"/>
              <a:gd name="T8" fmla="*/ 669 w 672"/>
              <a:gd name="T9" fmla="*/ 0 h 51"/>
              <a:gd name="T10" fmla="*/ 669 w 672"/>
              <a:gd name="T11" fmla="*/ 6 h 51"/>
              <a:gd name="T12" fmla="*/ 669 w 672"/>
              <a:gd name="T13" fmla="*/ 11 h 51"/>
              <a:gd name="T14" fmla="*/ 669 w 672"/>
              <a:gd name="T15" fmla="*/ 18 h 51"/>
              <a:gd name="T16" fmla="*/ 669 w 672"/>
              <a:gd name="T17" fmla="*/ 24 h 51"/>
              <a:gd name="T18" fmla="*/ 669 w 672"/>
              <a:gd name="T19" fmla="*/ 31 h 51"/>
              <a:gd name="T20" fmla="*/ 669 w 672"/>
              <a:gd name="T21" fmla="*/ 38 h 51"/>
              <a:gd name="T22" fmla="*/ 669 w 672"/>
              <a:gd name="T23" fmla="*/ 44 h 51"/>
              <a:gd name="T24" fmla="*/ 669 w 672"/>
              <a:gd name="T25" fmla="*/ 51 h 51"/>
              <a:gd name="T26" fmla="*/ 672 w 672"/>
              <a:gd name="T27" fmla="*/ 48 h 51"/>
              <a:gd name="T28" fmla="*/ 672 w 672"/>
              <a:gd name="T29" fmla="*/ 41 h 51"/>
              <a:gd name="T30" fmla="*/ 672 w 672"/>
              <a:gd name="T31" fmla="*/ 34 h 51"/>
              <a:gd name="T32" fmla="*/ 672 w 672"/>
              <a:gd name="T33" fmla="*/ 28 h 51"/>
              <a:gd name="T34" fmla="*/ 2 w 672"/>
              <a:gd name="T35" fmla="*/ 0 h 51"/>
              <a:gd name="T36" fmla="*/ 0 w 672"/>
              <a:gd name="T37" fmla="*/ 6 h 51"/>
              <a:gd name="T38" fmla="*/ 0 w 672"/>
              <a:gd name="T39" fmla="*/ 11 h 51"/>
              <a:gd name="T40" fmla="*/ 0 w 672"/>
              <a:gd name="T41" fmla="*/ 18 h 51"/>
              <a:gd name="T42" fmla="*/ 0 w 672"/>
              <a:gd name="T43" fmla="*/ 24 h 51"/>
              <a:gd name="T44" fmla="*/ 0 w 672"/>
              <a:gd name="T45" fmla="*/ 31 h 51"/>
              <a:gd name="T46" fmla="*/ 0 w 672"/>
              <a:gd name="T47" fmla="*/ 38 h 51"/>
              <a:gd name="T48" fmla="*/ 0 w 672"/>
              <a:gd name="T49" fmla="*/ 44 h 51"/>
              <a:gd name="T50" fmla="*/ 0 w 672"/>
              <a:gd name="T51" fmla="*/ 51 h 51"/>
              <a:gd name="T52" fmla="*/ 3 w 672"/>
              <a:gd name="T53" fmla="*/ 48 h 51"/>
              <a:gd name="T54" fmla="*/ 3 w 672"/>
              <a:gd name="T55" fmla="*/ 41 h 51"/>
              <a:gd name="T56" fmla="*/ 3 w 672"/>
              <a:gd name="T57" fmla="*/ 34 h 51"/>
              <a:gd name="T58" fmla="*/ 3 w 672"/>
              <a:gd name="T59" fmla="*/ 28 h 51"/>
              <a:gd name="T60" fmla="*/ 3 w 672"/>
              <a:gd name="T61" fmla="*/ 21 h 51"/>
              <a:gd name="T62" fmla="*/ 3 w 672"/>
              <a:gd name="T63" fmla="*/ 14 h 51"/>
              <a:gd name="T64" fmla="*/ 3 w 672"/>
              <a:gd name="T65" fmla="*/ 9 h 51"/>
              <a:gd name="T66" fmla="*/ 3 w 672"/>
              <a:gd name="T67" fmla="*/ 3 h 51"/>
              <a:gd name="T68" fmla="*/ 2 w 6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2" h="51">
                <a:moveTo>
                  <a:pt x="672" y="24"/>
                </a:moveTo>
                <a:lnTo>
                  <a:pt x="672" y="21"/>
                </a:lnTo>
                <a:lnTo>
                  <a:pt x="672" y="18"/>
                </a:lnTo>
                <a:lnTo>
                  <a:pt x="672" y="14"/>
                </a:lnTo>
                <a:lnTo>
                  <a:pt x="672" y="11"/>
                </a:lnTo>
                <a:lnTo>
                  <a:pt x="672" y="9"/>
                </a:lnTo>
                <a:lnTo>
                  <a:pt x="672" y="6"/>
                </a:lnTo>
                <a:lnTo>
                  <a:pt x="672" y="3"/>
                </a:lnTo>
                <a:lnTo>
                  <a:pt x="672" y="0"/>
                </a:lnTo>
                <a:lnTo>
                  <a:pt x="669" y="0"/>
                </a:lnTo>
                <a:lnTo>
                  <a:pt x="669" y="3"/>
                </a:lnTo>
                <a:lnTo>
                  <a:pt x="669" y="6"/>
                </a:lnTo>
                <a:lnTo>
                  <a:pt x="669" y="9"/>
                </a:lnTo>
                <a:lnTo>
                  <a:pt x="669" y="11"/>
                </a:lnTo>
                <a:lnTo>
                  <a:pt x="669" y="14"/>
                </a:lnTo>
                <a:lnTo>
                  <a:pt x="669" y="18"/>
                </a:lnTo>
                <a:lnTo>
                  <a:pt x="669" y="21"/>
                </a:lnTo>
                <a:lnTo>
                  <a:pt x="669" y="24"/>
                </a:lnTo>
                <a:lnTo>
                  <a:pt x="669" y="28"/>
                </a:lnTo>
                <a:lnTo>
                  <a:pt x="669" y="31"/>
                </a:lnTo>
                <a:lnTo>
                  <a:pt x="669" y="34"/>
                </a:lnTo>
                <a:lnTo>
                  <a:pt x="669" y="38"/>
                </a:lnTo>
                <a:lnTo>
                  <a:pt x="669" y="41"/>
                </a:lnTo>
                <a:lnTo>
                  <a:pt x="669" y="44"/>
                </a:lnTo>
                <a:lnTo>
                  <a:pt x="669" y="48"/>
                </a:lnTo>
                <a:lnTo>
                  <a:pt x="669" y="51"/>
                </a:lnTo>
                <a:lnTo>
                  <a:pt x="672" y="51"/>
                </a:lnTo>
                <a:lnTo>
                  <a:pt x="672" y="48"/>
                </a:lnTo>
                <a:lnTo>
                  <a:pt x="672" y="44"/>
                </a:lnTo>
                <a:lnTo>
                  <a:pt x="672" y="41"/>
                </a:lnTo>
                <a:lnTo>
                  <a:pt x="672" y="38"/>
                </a:lnTo>
                <a:lnTo>
                  <a:pt x="672" y="34"/>
                </a:lnTo>
                <a:lnTo>
                  <a:pt x="672" y="31"/>
                </a:lnTo>
                <a:lnTo>
                  <a:pt x="672" y="28"/>
                </a:lnTo>
                <a:lnTo>
                  <a:pt x="67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49" name="Freeform 1454">
            <a:extLst>
              <a:ext uri="{FF2B5EF4-FFF2-40B4-BE49-F238E27FC236}">
                <a16:creationId xmlns:a16="http://schemas.microsoft.com/office/drawing/2014/main" id="{99DAFF25-1A68-50EA-07BD-C238CAAE0069}"/>
              </a:ext>
            </a:extLst>
          </p:cNvPr>
          <p:cNvSpPr>
            <a:spLocks noEditPoints="1"/>
          </p:cNvSpPr>
          <p:nvPr/>
        </p:nvSpPr>
        <p:spPr bwMode="auto">
          <a:xfrm>
            <a:off x="2027238" y="2719388"/>
            <a:ext cx="1062038" cy="80963"/>
          </a:xfrm>
          <a:custGeom>
            <a:avLst/>
            <a:gdLst>
              <a:gd name="T0" fmla="*/ 669 w 669"/>
              <a:gd name="T1" fmla="*/ 21 h 51"/>
              <a:gd name="T2" fmla="*/ 669 w 669"/>
              <a:gd name="T3" fmla="*/ 14 h 51"/>
              <a:gd name="T4" fmla="*/ 669 w 669"/>
              <a:gd name="T5" fmla="*/ 9 h 51"/>
              <a:gd name="T6" fmla="*/ 669 w 669"/>
              <a:gd name="T7" fmla="*/ 3 h 51"/>
              <a:gd name="T8" fmla="*/ 665 w 669"/>
              <a:gd name="T9" fmla="*/ 0 h 51"/>
              <a:gd name="T10" fmla="*/ 665 w 669"/>
              <a:gd name="T11" fmla="*/ 6 h 51"/>
              <a:gd name="T12" fmla="*/ 665 w 669"/>
              <a:gd name="T13" fmla="*/ 11 h 51"/>
              <a:gd name="T14" fmla="*/ 665 w 669"/>
              <a:gd name="T15" fmla="*/ 18 h 51"/>
              <a:gd name="T16" fmla="*/ 665 w 669"/>
              <a:gd name="T17" fmla="*/ 24 h 51"/>
              <a:gd name="T18" fmla="*/ 665 w 669"/>
              <a:gd name="T19" fmla="*/ 31 h 51"/>
              <a:gd name="T20" fmla="*/ 665 w 669"/>
              <a:gd name="T21" fmla="*/ 38 h 51"/>
              <a:gd name="T22" fmla="*/ 665 w 669"/>
              <a:gd name="T23" fmla="*/ 44 h 51"/>
              <a:gd name="T24" fmla="*/ 665 w 669"/>
              <a:gd name="T25" fmla="*/ 51 h 51"/>
              <a:gd name="T26" fmla="*/ 669 w 669"/>
              <a:gd name="T27" fmla="*/ 48 h 51"/>
              <a:gd name="T28" fmla="*/ 669 w 669"/>
              <a:gd name="T29" fmla="*/ 41 h 51"/>
              <a:gd name="T30" fmla="*/ 669 w 669"/>
              <a:gd name="T31" fmla="*/ 34 h 51"/>
              <a:gd name="T32" fmla="*/ 669 w 669"/>
              <a:gd name="T33" fmla="*/ 28 h 51"/>
              <a:gd name="T34" fmla="*/ 1 w 669"/>
              <a:gd name="T35" fmla="*/ 0 h 51"/>
              <a:gd name="T36" fmla="*/ 0 w 669"/>
              <a:gd name="T37" fmla="*/ 6 h 51"/>
              <a:gd name="T38" fmla="*/ 0 w 669"/>
              <a:gd name="T39" fmla="*/ 11 h 51"/>
              <a:gd name="T40" fmla="*/ 0 w 669"/>
              <a:gd name="T41" fmla="*/ 18 h 51"/>
              <a:gd name="T42" fmla="*/ 0 w 669"/>
              <a:gd name="T43" fmla="*/ 24 h 51"/>
              <a:gd name="T44" fmla="*/ 0 w 669"/>
              <a:gd name="T45" fmla="*/ 31 h 51"/>
              <a:gd name="T46" fmla="*/ 0 w 669"/>
              <a:gd name="T47" fmla="*/ 38 h 51"/>
              <a:gd name="T48" fmla="*/ 0 w 669"/>
              <a:gd name="T49" fmla="*/ 44 h 51"/>
              <a:gd name="T50" fmla="*/ 0 w 669"/>
              <a:gd name="T51" fmla="*/ 51 h 51"/>
              <a:gd name="T52" fmla="*/ 3 w 669"/>
              <a:gd name="T53" fmla="*/ 48 h 51"/>
              <a:gd name="T54" fmla="*/ 3 w 669"/>
              <a:gd name="T55" fmla="*/ 41 h 51"/>
              <a:gd name="T56" fmla="*/ 3 w 669"/>
              <a:gd name="T57" fmla="*/ 34 h 51"/>
              <a:gd name="T58" fmla="*/ 3 w 669"/>
              <a:gd name="T59" fmla="*/ 28 h 51"/>
              <a:gd name="T60" fmla="*/ 3 w 669"/>
              <a:gd name="T61" fmla="*/ 21 h 51"/>
              <a:gd name="T62" fmla="*/ 3 w 669"/>
              <a:gd name="T63" fmla="*/ 14 h 51"/>
              <a:gd name="T64" fmla="*/ 3 w 669"/>
              <a:gd name="T65" fmla="*/ 9 h 51"/>
              <a:gd name="T66" fmla="*/ 3 w 669"/>
              <a:gd name="T67" fmla="*/ 3 h 51"/>
              <a:gd name="T68" fmla="*/ 1 w 66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9" h="51">
                <a:moveTo>
                  <a:pt x="669" y="24"/>
                </a:moveTo>
                <a:lnTo>
                  <a:pt x="669" y="21"/>
                </a:lnTo>
                <a:lnTo>
                  <a:pt x="669" y="18"/>
                </a:lnTo>
                <a:lnTo>
                  <a:pt x="669" y="14"/>
                </a:lnTo>
                <a:lnTo>
                  <a:pt x="669" y="11"/>
                </a:lnTo>
                <a:lnTo>
                  <a:pt x="669" y="9"/>
                </a:lnTo>
                <a:lnTo>
                  <a:pt x="669" y="6"/>
                </a:lnTo>
                <a:lnTo>
                  <a:pt x="669" y="3"/>
                </a:lnTo>
                <a:lnTo>
                  <a:pt x="669" y="0"/>
                </a:lnTo>
                <a:lnTo>
                  <a:pt x="665" y="0"/>
                </a:lnTo>
                <a:lnTo>
                  <a:pt x="665" y="3"/>
                </a:lnTo>
                <a:lnTo>
                  <a:pt x="665" y="6"/>
                </a:lnTo>
                <a:lnTo>
                  <a:pt x="665" y="9"/>
                </a:lnTo>
                <a:lnTo>
                  <a:pt x="665" y="11"/>
                </a:lnTo>
                <a:lnTo>
                  <a:pt x="665" y="14"/>
                </a:lnTo>
                <a:lnTo>
                  <a:pt x="665" y="18"/>
                </a:lnTo>
                <a:lnTo>
                  <a:pt x="665" y="21"/>
                </a:lnTo>
                <a:lnTo>
                  <a:pt x="665" y="24"/>
                </a:lnTo>
                <a:lnTo>
                  <a:pt x="665" y="28"/>
                </a:lnTo>
                <a:lnTo>
                  <a:pt x="665" y="31"/>
                </a:lnTo>
                <a:lnTo>
                  <a:pt x="665" y="34"/>
                </a:lnTo>
                <a:lnTo>
                  <a:pt x="665" y="38"/>
                </a:lnTo>
                <a:lnTo>
                  <a:pt x="665" y="41"/>
                </a:lnTo>
                <a:lnTo>
                  <a:pt x="665" y="44"/>
                </a:lnTo>
                <a:lnTo>
                  <a:pt x="665" y="48"/>
                </a:lnTo>
                <a:lnTo>
                  <a:pt x="665" y="51"/>
                </a:lnTo>
                <a:lnTo>
                  <a:pt x="669" y="51"/>
                </a:lnTo>
                <a:lnTo>
                  <a:pt x="669" y="48"/>
                </a:lnTo>
                <a:lnTo>
                  <a:pt x="669" y="44"/>
                </a:lnTo>
                <a:lnTo>
                  <a:pt x="669" y="41"/>
                </a:lnTo>
                <a:lnTo>
                  <a:pt x="669" y="38"/>
                </a:lnTo>
                <a:lnTo>
                  <a:pt x="669" y="34"/>
                </a:lnTo>
                <a:lnTo>
                  <a:pt x="669" y="31"/>
                </a:lnTo>
                <a:lnTo>
                  <a:pt x="669" y="28"/>
                </a:lnTo>
                <a:lnTo>
                  <a:pt x="66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50" name="Freeform 1455">
            <a:extLst>
              <a:ext uri="{FF2B5EF4-FFF2-40B4-BE49-F238E27FC236}">
                <a16:creationId xmlns:a16="http://schemas.microsoft.com/office/drawing/2014/main" id="{19E71F36-739C-CE3F-D8D9-38330A2BE2AD}"/>
              </a:ext>
            </a:extLst>
          </p:cNvPr>
          <p:cNvSpPr>
            <a:spLocks noEditPoints="1"/>
          </p:cNvSpPr>
          <p:nvPr/>
        </p:nvSpPr>
        <p:spPr bwMode="auto">
          <a:xfrm>
            <a:off x="2028825" y="2719388"/>
            <a:ext cx="1057275" cy="80963"/>
          </a:xfrm>
          <a:custGeom>
            <a:avLst/>
            <a:gdLst>
              <a:gd name="T0" fmla="*/ 666 w 666"/>
              <a:gd name="T1" fmla="*/ 21 h 51"/>
              <a:gd name="T2" fmla="*/ 666 w 666"/>
              <a:gd name="T3" fmla="*/ 14 h 51"/>
              <a:gd name="T4" fmla="*/ 666 w 666"/>
              <a:gd name="T5" fmla="*/ 9 h 51"/>
              <a:gd name="T6" fmla="*/ 666 w 666"/>
              <a:gd name="T7" fmla="*/ 3 h 51"/>
              <a:gd name="T8" fmla="*/ 663 w 666"/>
              <a:gd name="T9" fmla="*/ 0 h 51"/>
              <a:gd name="T10" fmla="*/ 663 w 666"/>
              <a:gd name="T11" fmla="*/ 6 h 51"/>
              <a:gd name="T12" fmla="*/ 663 w 666"/>
              <a:gd name="T13" fmla="*/ 11 h 51"/>
              <a:gd name="T14" fmla="*/ 663 w 666"/>
              <a:gd name="T15" fmla="*/ 18 h 51"/>
              <a:gd name="T16" fmla="*/ 663 w 666"/>
              <a:gd name="T17" fmla="*/ 24 h 51"/>
              <a:gd name="T18" fmla="*/ 663 w 666"/>
              <a:gd name="T19" fmla="*/ 31 h 51"/>
              <a:gd name="T20" fmla="*/ 663 w 666"/>
              <a:gd name="T21" fmla="*/ 38 h 51"/>
              <a:gd name="T22" fmla="*/ 663 w 666"/>
              <a:gd name="T23" fmla="*/ 44 h 51"/>
              <a:gd name="T24" fmla="*/ 663 w 666"/>
              <a:gd name="T25" fmla="*/ 51 h 51"/>
              <a:gd name="T26" fmla="*/ 666 w 666"/>
              <a:gd name="T27" fmla="*/ 48 h 51"/>
              <a:gd name="T28" fmla="*/ 666 w 666"/>
              <a:gd name="T29" fmla="*/ 41 h 51"/>
              <a:gd name="T30" fmla="*/ 666 w 666"/>
              <a:gd name="T31" fmla="*/ 34 h 51"/>
              <a:gd name="T32" fmla="*/ 666 w 666"/>
              <a:gd name="T33" fmla="*/ 28 h 51"/>
              <a:gd name="T34" fmla="*/ 2 w 666"/>
              <a:gd name="T35" fmla="*/ 0 h 51"/>
              <a:gd name="T36" fmla="*/ 0 w 666"/>
              <a:gd name="T37" fmla="*/ 6 h 51"/>
              <a:gd name="T38" fmla="*/ 0 w 666"/>
              <a:gd name="T39" fmla="*/ 11 h 51"/>
              <a:gd name="T40" fmla="*/ 0 w 666"/>
              <a:gd name="T41" fmla="*/ 18 h 51"/>
              <a:gd name="T42" fmla="*/ 0 w 666"/>
              <a:gd name="T43" fmla="*/ 24 h 51"/>
              <a:gd name="T44" fmla="*/ 0 w 666"/>
              <a:gd name="T45" fmla="*/ 31 h 51"/>
              <a:gd name="T46" fmla="*/ 0 w 666"/>
              <a:gd name="T47" fmla="*/ 38 h 51"/>
              <a:gd name="T48" fmla="*/ 0 w 666"/>
              <a:gd name="T49" fmla="*/ 44 h 51"/>
              <a:gd name="T50" fmla="*/ 0 w 666"/>
              <a:gd name="T51" fmla="*/ 51 h 51"/>
              <a:gd name="T52" fmla="*/ 4 w 666"/>
              <a:gd name="T53" fmla="*/ 48 h 51"/>
              <a:gd name="T54" fmla="*/ 4 w 666"/>
              <a:gd name="T55" fmla="*/ 41 h 51"/>
              <a:gd name="T56" fmla="*/ 4 w 666"/>
              <a:gd name="T57" fmla="*/ 34 h 51"/>
              <a:gd name="T58" fmla="*/ 4 w 666"/>
              <a:gd name="T59" fmla="*/ 28 h 51"/>
              <a:gd name="T60" fmla="*/ 4 w 666"/>
              <a:gd name="T61" fmla="*/ 21 h 51"/>
              <a:gd name="T62" fmla="*/ 4 w 666"/>
              <a:gd name="T63" fmla="*/ 14 h 51"/>
              <a:gd name="T64" fmla="*/ 4 w 666"/>
              <a:gd name="T65" fmla="*/ 9 h 51"/>
              <a:gd name="T66" fmla="*/ 4 w 666"/>
              <a:gd name="T67" fmla="*/ 3 h 51"/>
              <a:gd name="T68" fmla="*/ 2 w 6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6" h="51">
                <a:moveTo>
                  <a:pt x="666" y="24"/>
                </a:moveTo>
                <a:lnTo>
                  <a:pt x="666" y="21"/>
                </a:lnTo>
                <a:lnTo>
                  <a:pt x="666" y="18"/>
                </a:lnTo>
                <a:lnTo>
                  <a:pt x="666" y="14"/>
                </a:lnTo>
                <a:lnTo>
                  <a:pt x="666" y="11"/>
                </a:lnTo>
                <a:lnTo>
                  <a:pt x="666" y="9"/>
                </a:lnTo>
                <a:lnTo>
                  <a:pt x="666" y="6"/>
                </a:lnTo>
                <a:lnTo>
                  <a:pt x="666" y="3"/>
                </a:lnTo>
                <a:lnTo>
                  <a:pt x="666" y="0"/>
                </a:lnTo>
                <a:lnTo>
                  <a:pt x="663" y="0"/>
                </a:lnTo>
                <a:lnTo>
                  <a:pt x="663" y="3"/>
                </a:lnTo>
                <a:lnTo>
                  <a:pt x="663" y="6"/>
                </a:lnTo>
                <a:lnTo>
                  <a:pt x="663" y="9"/>
                </a:lnTo>
                <a:lnTo>
                  <a:pt x="663" y="11"/>
                </a:lnTo>
                <a:lnTo>
                  <a:pt x="663" y="14"/>
                </a:lnTo>
                <a:lnTo>
                  <a:pt x="663" y="18"/>
                </a:lnTo>
                <a:lnTo>
                  <a:pt x="663" y="21"/>
                </a:lnTo>
                <a:lnTo>
                  <a:pt x="663" y="24"/>
                </a:lnTo>
                <a:lnTo>
                  <a:pt x="663" y="28"/>
                </a:lnTo>
                <a:lnTo>
                  <a:pt x="663" y="31"/>
                </a:lnTo>
                <a:lnTo>
                  <a:pt x="663" y="34"/>
                </a:lnTo>
                <a:lnTo>
                  <a:pt x="663" y="38"/>
                </a:lnTo>
                <a:lnTo>
                  <a:pt x="663" y="41"/>
                </a:lnTo>
                <a:lnTo>
                  <a:pt x="663" y="44"/>
                </a:lnTo>
                <a:lnTo>
                  <a:pt x="663" y="48"/>
                </a:lnTo>
                <a:lnTo>
                  <a:pt x="663" y="51"/>
                </a:lnTo>
                <a:lnTo>
                  <a:pt x="666" y="51"/>
                </a:lnTo>
                <a:lnTo>
                  <a:pt x="666" y="48"/>
                </a:lnTo>
                <a:lnTo>
                  <a:pt x="666" y="44"/>
                </a:lnTo>
                <a:lnTo>
                  <a:pt x="666" y="41"/>
                </a:lnTo>
                <a:lnTo>
                  <a:pt x="666" y="38"/>
                </a:lnTo>
                <a:lnTo>
                  <a:pt x="666" y="34"/>
                </a:lnTo>
                <a:lnTo>
                  <a:pt x="666" y="31"/>
                </a:lnTo>
                <a:lnTo>
                  <a:pt x="666" y="28"/>
                </a:lnTo>
                <a:lnTo>
                  <a:pt x="66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51" name="Freeform 1456">
            <a:extLst>
              <a:ext uri="{FF2B5EF4-FFF2-40B4-BE49-F238E27FC236}">
                <a16:creationId xmlns:a16="http://schemas.microsoft.com/office/drawing/2014/main" id="{37AF6BBA-6650-B366-7086-3DA441400D82}"/>
              </a:ext>
            </a:extLst>
          </p:cNvPr>
          <p:cNvSpPr>
            <a:spLocks noEditPoints="1"/>
          </p:cNvSpPr>
          <p:nvPr/>
        </p:nvSpPr>
        <p:spPr bwMode="auto">
          <a:xfrm>
            <a:off x="2032000" y="2719388"/>
            <a:ext cx="1050925" cy="80963"/>
          </a:xfrm>
          <a:custGeom>
            <a:avLst/>
            <a:gdLst>
              <a:gd name="T0" fmla="*/ 662 w 662"/>
              <a:gd name="T1" fmla="*/ 21 h 51"/>
              <a:gd name="T2" fmla="*/ 662 w 662"/>
              <a:gd name="T3" fmla="*/ 14 h 51"/>
              <a:gd name="T4" fmla="*/ 662 w 662"/>
              <a:gd name="T5" fmla="*/ 9 h 51"/>
              <a:gd name="T6" fmla="*/ 662 w 662"/>
              <a:gd name="T7" fmla="*/ 3 h 51"/>
              <a:gd name="T8" fmla="*/ 659 w 662"/>
              <a:gd name="T9" fmla="*/ 0 h 51"/>
              <a:gd name="T10" fmla="*/ 659 w 662"/>
              <a:gd name="T11" fmla="*/ 6 h 51"/>
              <a:gd name="T12" fmla="*/ 659 w 662"/>
              <a:gd name="T13" fmla="*/ 11 h 51"/>
              <a:gd name="T14" fmla="*/ 659 w 662"/>
              <a:gd name="T15" fmla="*/ 18 h 51"/>
              <a:gd name="T16" fmla="*/ 659 w 662"/>
              <a:gd name="T17" fmla="*/ 24 h 51"/>
              <a:gd name="T18" fmla="*/ 659 w 662"/>
              <a:gd name="T19" fmla="*/ 31 h 51"/>
              <a:gd name="T20" fmla="*/ 659 w 662"/>
              <a:gd name="T21" fmla="*/ 38 h 51"/>
              <a:gd name="T22" fmla="*/ 659 w 662"/>
              <a:gd name="T23" fmla="*/ 44 h 51"/>
              <a:gd name="T24" fmla="*/ 659 w 662"/>
              <a:gd name="T25" fmla="*/ 51 h 51"/>
              <a:gd name="T26" fmla="*/ 662 w 662"/>
              <a:gd name="T27" fmla="*/ 48 h 51"/>
              <a:gd name="T28" fmla="*/ 662 w 662"/>
              <a:gd name="T29" fmla="*/ 41 h 51"/>
              <a:gd name="T30" fmla="*/ 662 w 662"/>
              <a:gd name="T31" fmla="*/ 34 h 51"/>
              <a:gd name="T32" fmla="*/ 662 w 662"/>
              <a:gd name="T33" fmla="*/ 28 h 51"/>
              <a:gd name="T34" fmla="*/ 2 w 662"/>
              <a:gd name="T35" fmla="*/ 0 h 51"/>
              <a:gd name="T36" fmla="*/ 0 w 662"/>
              <a:gd name="T37" fmla="*/ 6 h 51"/>
              <a:gd name="T38" fmla="*/ 0 w 662"/>
              <a:gd name="T39" fmla="*/ 11 h 51"/>
              <a:gd name="T40" fmla="*/ 0 w 662"/>
              <a:gd name="T41" fmla="*/ 18 h 51"/>
              <a:gd name="T42" fmla="*/ 0 w 662"/>
              <a:gd name="T43" fmla="*/ 24 h 51"/>
              <a:gd name="T44" fmla="*/ 0 w 662"/>
              <a:gd name="T45" fmla="*/ 31 h 51"/>
              <a:gd name="T46" fmla="*/ 0 w 662"/>
              <a:gd name="T47" fmla="*/ 38 h 51"/>
              <a:gd name="T48" fmla="*/ 0 w 662"/>
              <a:gd name="T49" fmla="*/ 44 h 51"/>
              <a:gd name="T50" fmla="*/ 0 w 662"/>
              <a:gd name="T51" fmla="*/ 51 h 51"/>
              <a:gd name="T52" fmla="*/ 3 w 662"/>
              <a:gd name="T53" fmla="*/ 48 h 51"/>
              <a:gd name="T54" fmla="*/ 3 w 662"/>
              <a:gd name="T55" fmla="*/ 41 h 51"/>
              <a:gd name="T56" fmla="*/ 3 w 662"/>
              <a:gd name="T57" fmla="*/ 34 h 51"/>
              <a:gd name="T58" fmla="*/ 3 w 662"/>
              <a:gd name="T59" fmla="*/ 28 h 51"/>
              <a:gd name="T60" fmla="*/ 3 w 662"/>
              <a:gd name="T61" fmla="*/ 21 h 51"/>
              <a:gd name="T62" fmla="*/ 3 w 662"/>
              <a:gd name="T63" fmla="*/ 14 h 51"/>
              <a:gd name="T64" fmla="*/ 3 w 662"/>
              <a:gd name="T65" fmla="*/ 9 h 51"/>
              <a:gd name="T66" fmla="*/ 3 w 662"/>
              <a:gd name="T67" fmla="*/ 3 h 51"/>
              <a:gd name="T68" fmla="*/ 2 w 6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2" h="51">
                <a:moveTo>
                  <a:pt x="662" y="24"/>
                </a:moveTo>
                <a:lnTo>
                  <a:pt x="662" y="21"/>
                </a:lnTo>
                <a:lnTo>
                  <a:pt x="662" y="18"/>
                </a:lnTo>
                <a:lnTo>
                  <a:pt x="662" y="14"/>
                </a:lnTo>
                <a:lnTo>
                  <a:pt x="662" y="11"/>
                </a:lnTo>
                <a:lnTo>
                  <a:pt x="662" y="9"/>
                </a:lnTo>
                <a:lnTo>
                  <a:pt x="662" y="6"/>
                </a:lnTo>
                <a:lnTo>
                  <a:pt x="662" y="3"/>
                </a:lnTo>
                <a:lnTo>
                  <a:pt x="662" y="0"/>
                </a:lnTo>
                <a:lnTo>
                  <a:pt x="659" y="0"/>
                </a:lnTo>
                <a:lnTo>
                  <a:pt x="659" y="3"/>
                </a:lnTo>
                <a:lnTo>
                  <a:pt x="659" y="6"/>
                </a:lnTo>
                <a:lnTo>
                  <a:pt x="659" y="9"/>
                </a:lnTo>
                <a:lnTo>
                  <a:pt x="659" y="11"/>
                </a:lnTo>
                <a:lnTo>
                  <a:pt x="659" y="14"/>
                </a:lnTo>
                <a:lnTo>
                  <a:pt x="659" y="18"/>
                </a:lnTo>
                <a:lnTo>
                  <a:pt x="659" y="21"/>
                </a:lnTo>
                <a:lnTo>
                  <a:pt x="659" y="24"/>
                </a:lnTo>
                <a:lnTo>
                  <a:pt x="659" y="28"/>
                </a:lnTo>
                <a:lnTo>
                  <a:pt x="659" y="31"/>
                </a:lnTo>
                <a:lnTo>
                  <a:pt x="659" y="34"/>
                </a:lnTo>
                <a:lnTo>
                  <a:pt x="659" y="38"/>
                </a:lnTo>
                <a:lnTo>
                  <a:pt x="659" y="41"/>
                </a:lnTo>
                <a:lnTo>
                  <a:pt x="659" y="44"/>
                </a:lnTo>
                <a:lnTo>
                  <a:pt x="659" y="48"/>
                </a:lnTo>
                <a:lnTo>
                  <a:pt x="659" y="51"/>
                </a:lnTo>
                <a:lnTo>
                  <a:pt x="662" y="51"/>
                </a:lnTo>
                <a:lnTo>
                  <a:pt x="662" y="48"/>
                </a:lnTo>
                <a:lnTo>
                  <a:pt x="662" y="44"/>
                </a:lnTo>
                <a:lnTo>
                  <a:pt x="662" y="41"/>
                </a:lnTo>
                <a:lnTo>
                  <a:pt x="662" y="38"/>
                </a:lnTo>
                <a:lnTo>
                  <a:pt x="662" y="34"/>
                </a:lnTo>
                <a:lnTo>
                  <a:pt x="662" y="31"/>
                </a:lnTo>
                <a:lnTo>
                  <a:pt x="662" y="28"/>
                </a:lnTo>
                <a:lnTo>
                  <a:pt x="66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52" name="Freeform 1457">
            <a:extLst>
              <a:ext uri="{FF2B5EF4-FFF2-40B4-BE49-F238E27FC236}">
                <a16:creationId xmlns:a16="http://schemas.microsoft.com/office/drawing/2014/main" id="{80616246-E8C5-40AD-A2E9-26B99CBF51E7}"/>
              </a:ext>
            </a:extLst>
          </p:cNvPr>
          <p:cNvSpPr>
            <a:spLocks noEditPoints="1"/>
          </p:cNvSpPr>
          <p:nvPr/>
        </p:nvSpPr>
        <p:spPr bwMode="auto">
          <a:xfrm>
            <a:off x="2035175" y="2719388"/>
            <a:ext cx="1046163" cy="80963"/>
          </a:xfrm>
          <a:custGeom>
            <a:avLst/>
            <a:gdLst>
              <a:gd name="T0" fmla="*/ 659 w 659"/>
              <a:gd name="T1" fmla="*/ 21 h 51"/>
              <a:gd name="T2" fmla="*/ 659 w 659"/>
              <a:gd name="T3" fmla="*/ 14 h 51"/>
              <a:gd name="T4" fmla="*/ 659 w 659"/>
              <a:gd name="T5" fmla="*/ 9 h 51"/>
              <a:gd name="T6" fmla="*/ 659 w 659"/>
              <a:gd name="T7" fmla="*/ 3 h 51"/>
              <a:gd name="T8" fmla="*/ 655 w 659"/>
              <a:gd name="T9" fmla="*/ 0 h 51"/>
              <a:gd name="T10" fmla="*/ 655 w 659"/>
              <a:gd name="T11" fmla="*/ 6 h 51"/>
              <a:gd name="T12" fmla="*/ 655 w 659"/>
              <a:gd name="T13" fmla="*/ 11 h 51"/>
              <a:gd name="T14" fmla="*/ 655 w 659"/>
              <a:gd name="T15" fmla="*/ 18 h 51"/>
              <a:gd name="T16" fmla="*/ 655 w 659"/>
              <a:gd name="T17" fmla="*/ 24 h 51"/>
              <a:gd name="T18" fmla="*/ 655 w 659"/>
              <a:gd name="T19" fmla="*/ 31 h 51"/>
              <a:gd name="T20" fmla="*/ 655 w 659"/>
              <a:gd name="T21" fmla="*/ 38 h 51"/>
              <a:gd name="T22" fmla="*/ 655 w 659"/>
              <a:gd name="T23" fmla="*/ 44 h 51"/>
              <a:gd name="T24" fmla="*/ 655 w 659"/>
              <a:gd name="T25" fmla="*/ 51 h 51"/>
              <a:gd name="T26" fmla="*/ 659 w 659"/>
              <a:gd name="T27" fmla="*/ 48 h 51"/>
              <a:gd name="T28" fmla="*/ 659 w 659"/>
              <a:gd name="T29" fmla="*/ 41 h 51"/>
              <a:gd name="T30" fmla="*/ 659 w 659"/>
              <a:gd name="T31" fmla="*/ 34 h 51"/>
              <a:gd name="T32" fmla="*/ 659 w 659"/>
              <a:gd name="T33" fmla="*/ 28 h 51"/>
              <a:gd name="T34" fmla="*/ 1 w 659"/>
              <a:gd name="T35" fmla="*/ 0 h 51"/>
              <a:gd name="T36" fmla="*/ 0 w 659"/>
              <a:gd name="T37" fmla="*/ 6 h 51"/>
              <a:gd name="T38" fmla="*/ 0 w 659"/>
              <a:gd name="T39" fmla="*/ 11 h 51"/>
              <a:gd name="T40" fmla="*/ 0 w 659"/>
              <a:gd name="T41" fmla="*/ 18 h 51"/>
              <a:gd name="T42" fmla="*/ 0 w 659"/>
              <a:gd name="T43" fmla="*/ 24 h 51"/>
              <a:gd name="T44" fmla="*/ 0 w 659"/>
              <a:gd name="T45" fmla="*/ 31 h 51"/>
              <a:gd name="T46" fmla="*/ 0 w 659"/>
              <a:gd name="T47" fmla="*/ 38 h 51"/>
              <a:gd name="T48" fmla="*/ 0 w 659"/>
              <a:gd name="T49" fmla="*/ 44 h 51"/>
              <a:gd name="T50" fmla="*/ 0 w 659"/>
              <a:gd name="T51" fmla="*/ 51 h 51"/>
              <a:gd name="T52" fmla="*/ 3 w 659"/>
              <a:gd name="T53" fmla="*/ 48 h 51"/>
              <a:gd name="T54" fmla="*/ 3 w 659"/>
              <a:gd name="T55" fmla="*/ 41 h 51"/>
              <a:gd name="T56" fmla="*/ 3 w 659"/>
              <a:gd name="T57" fmla="*/ 34 h 51"/>
              <a:gd name="T58" fmla="*/ 3 w 659"/>
              <a:gd name="T59" fmla="*/ 28 h 51"/>
              <a:gd name="T60" fmla="*/ 3 w 659"/>
              <a:gd name="T61" fmla="*/ 21 h 51"/>
              <a:gd name="T62" fmla="*/ 3 w 659"/>
              <a:gd name="T63" fmla="*/ 14 h 51"/>
              <a:gd name="T64" fmla="*/ 3 w 659"/>
              <a:gd name="T65" fmla="*/ 9 h 51"/>
              <a:gd name="T66" fmla="*/ 3 w 659"/>
              <a:gd name="T67" fmla="*/ 3 h 51"/>
              <a:gd name="T68" fmla="*/ 1 w 65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9" h="51">
                <a:moveTo>
                  <a:pt x="659" y="24"/>
                </a:moveTo>
                <a:lnTo>
                  <a:pt x="659" y="21"/>
                </a:lnTo>
                <a:lnTo>
                  <a:pt x="659" y="18"/>
                </a:lnTo>
                <a:lnTo>
                  <a:pt x="659" y="14"/>
                </a:lnTo>
                <a:lnTo>
                  <a:pt x="659" y="11"/>
                </a:lnTo>
                <a:lnTo>
                  <a:pt x="659" y="9"/>
                </a:lnTo>
                <a:lnTo>
                  <a:pt x="659" y="6"/>
                </a:lnTo>
                <a:lnTo>
                  <a:pt x="659" y="3"/>
                </a:lnTo>
                <a:lnTo>
                  <a:pt x="659" y="0"/>
                </a:lnTo>
                <a:lnTo>
                  <a:pt x="655" y="0"/>
                </a:lnTo>
                <a:lnTo>
                  <a:pt x="655" y="3"/>
                </a:lnTo>
                <a:lnTo>
                  <a:pt x="655" y="6"/>
                </a:lnTo>
                <a:lnTo>
                  <a:pt x="655" y="9"/>
                </a:lnTo>
                <a:lnTo>
                  <a:pt x="655" y="11"/>
                </a:lnTo>
                <a:lnTo>
                  <a:pt x="655" y="14"/>
                </a:lnTo>
                <a:lnTo>
                  <a:pt x="655" y="18"/>
                </a:lnTo>
                <a:lnTo>
                  <a:pt x="655" y="21"/>
                </a:lnTo>
                <a:lnTo>
                  <a:pt x="655" y="24"/>
                </a:lnTo>
                <a:lnTo>
                  <a:pt x="655" y="28"/>
                </a:lnTo>
                <a:lnTo>
                  <a:pt x="655" y="31"/>
                </a:lnTo>
                <a:lnTo>
                  <a:pt x="655" y="34"/>
                </a:lnTo>
                <a:lnTo>
                  <a:pt x="655" y="38"/>
                </a:lnTo>
                <a:lnTo>
                  <a:pt x="655" y="41"/>
                </a:lnTo>
                <a:lnTo>
                  <a:pt x="655" y="44"/>
                </a:lnTo>
                <a:lnTo>
                  <a:pt x="655" y="48"/>
                </a:lnTo>
                <a:lnTo>
                  <a:pt x="655" y="51"/>
                </a:lnTo>
                <a:lnTo>
                  <a:pt x="659" y="51"/>
                </a:lnTo>
                <a:lnTo>
                  <a:pt x="659" y="48"/>
                </a:lnTo>
                <a:lnTo>
                  <a:pt x="659" y="44"/>
                </a:lnTo>
                <a:lnTo>
                  <a:pt x="659" y="41"/>
                </a:lnTo>
                <a:lnTo>
                  <a:pt x="659" y="38"/>
                </a:lnTo>
                <a:lnTo>
                  <a:pt x="659" y="34"/>
                </a:lnTo>
                <a:lnTo>
                  <a:pt x="659" y="31"/>
                </a:lnTo>
                <a:lnTo>
                  <a:pt x="659" y="28"/>
                </a:lnTo>
                <a:lnTo>
                  <a:pt x="65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53" name="Freeform 1458">
            <a:extLst>
              <a:ext uri="{FF2B5EF4-FFF2-40B4-BE49-F238E27FC236}">
                <a16:creationId xmlns:a16="http://schemas.microsoft.com/office/drawing/2014/main" id="{D86649A4-7EC4-0D92-CD24-D0D21714AD9E}"/>
              </a:ext>
            </a:extLst>
          </p:cNvPr>
          <p:cNvSpPr>
            <a:spLocks noEditPoints="1"/>
          </p:cNvSpPr>
          <p:nvPr/>
        </p:nvSpPr>
        <p:spPr bwMode="auto">
          <a:xfrm>
            <a:off x="2036763" y="2719388"/>
            <a:ext cx="1041400" cy="80963"/>
          </a:xfrm>
          <a:custGeom>
            <a:avLst/>
            <a:gdLst>
              <a:gd name="T0" fmla="*/ 656 w 656"/>
              <a:gd name="T1" fmla="*/ 21 h 51"/>
              <a:gd name="T2" fmla="*/ 656 w 656"/>
              <a:gd name="T3" fmla="*/ 14 h 51"/>
              <a:gd name="T4" fmla="*/ 656 w 656"/>
              <a:gd name="T5" fmla="*/ 9 h 51"/>
              <a:gd name="T6" fmla="*/ 656 w 656"/>
              <a:gd name="T7" fmla="*/ 3 h 51"/>
              <a:gd name="T8" fmla="*/ 653 w 656"/>
              <a:gd name="T9" fmla="*/ 0 h 51"/>
              <a:gd name="T10" fmla="*/ 653 w 656"/>
              <a:gd name="T11" fmla="*/ 6 h 51"/>
              <a:gd name="T12" fmla="*/ 653 w 656"/>
              <a:gd name="T13" fmla="*/ 11 h 51"/>
              <a:gd name="T14" fmla="*/ 653 w 656"/>
              <a:gd name="T15" fmla="*/ 18 h 51"/>
              <a:gd name="T16" fmla="*/ 653 w 656"/>
              <a:gd name="T17" fmla="*/ 24 h 51"/>
              <a:gd name="T18" fmla="*/ 653 w 656"/>
              <a:gd name="T19" fmla="*/ 31 h 51"/>
              <a:gd name="T20" fmla="*/ 653 w 656"/>
              <a:gd name="T21" fmla="*/ 38 h 51"/>
              <a:gd name="T22" fmla="*/ 653 w 656"/>
              <a:gd name="T23" fmla="*/ 44 h 51"/>
              <a:gd name="T24" fmla="*/ 653 w 656"/>
              <a:gd name="T25" fmla="*/ 51 h 51"/>
              <a:gd name="T26" fmla="*/ 656 w 656"/>
              <a:gd name="T27" fmla="*/ 48 h 51"/>
              <a:gd name="T28" fmla="*/ 656 w 656"/>
              <a:gd name="T29" fmla="*/ 41 h 51"/>
              <a:gd name="T30" fmla="*/ 656 w 656"/>
              <a:gd name="T31" fmla="*/ 34 h 51"/>
              <a:gd name="T32" fmla="*/ 656 w 656"/>
              <a:gd name="T33" fmla="*/ 28 h 51"/>
              <a:gd name="T34" fmla="*/ 2 w 656"/>
              <a:gd name="T35" fmla="*/ 0 h 51"/>
              <a:gd name="T36" fmla="*/ 0 w 656"/>
              <a:gd name="T37" fmla="*/ 6 h 51"/>
              <a:gd name="T38" fmla="*/ 0 w 656"/>
              <a:gd name="T39" fmla="*/ 11 h 51"/>
              <a:gd name="T40" fmla="*/ 0 w 656"/>
              <a:gd name="T41" fmla="*/ 18 h 51"/>
              <a:gd name="T42" fmla="*/ 0 w 656"/>
              <a:gd name="T43" fmla="*/ 24 h 51"/>
              <a:gd name="T44" fmla="*/ 0 w 656"/>
              <a:gd name="T45" fmla="*/ 31 h 51"/>
              <a:gd name="T46" fmla="*/ 0 w 656"/>
              <a:gd name="T47" fmla="*/ 38 h 51"/>
              <a:gd name="T48" fmla="*/ 0 w 656"/>
              <a:gd name="T49" fmla="*/ 44 h 51"/>
              <a:gd name="T50" fmla="*/ 0 w 656"/>
              <a:gd name="T51" fmla="*/ 51 h 51"/>
              <a:gd name="T52" fmla="*/ 4 w 656"/>
              <a:gd name="T53" fmla="*/ 48 h 51"/>
              <a:gd name="T54" fmla="*/ 4 w 656"/>
              <a:gd name="T55" fmla="*/ 41 h 51"/>
              <a:gd name="T56" fmla="*/ 4 w 656"/>
              <a:gd name="T57" fmla="*/ 34 h 51"/>
              <a:gd name="T58" fmla="*/ 4 w 656"/>
              <a:gd name="T59" fmla="*/ 28 h 51"/>
              <a:gd name="T60" fmla="*/ 4 w 656"/>
              <a:gd name="T61" fmla="*/ 21 h 51"/>
              <a:gd name="T62" fmla="*/ 4 w 656"/>
              <a:gd name="T63" fmla="*/ 14 h 51"/>
              <a:gd name="T64" fmla="*/ 4 w 656"/>
              <a:gd name="T65" fmla="*/ 9 h 51"/>
              <a:gd name="T66" fmla="*/ 4 w 656"/>
              <a:gd name="T67" fmla="*/ 3 h 51"/>
              <a:gd name="T68" fmla="*/ 2 w 6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6" h="51">
                <a:moveTo>
                  <a:pt x="656" y="24"/>
                </a:moveTo>
                <a:lnTo>
                  <a:pt x="656" y="21"/>
                </a:lnTo>
                <a:lnTo>
                  <a:pt x="656" y="18"/>
                </a:lnTo>
                <a:lnTo>
                  <a:pt x="656" y="14"/>
                </a:lnTo>
                <a:lnTo>
                  <a:pt x="656" y="11"/>
                </a:lnTo>
                <a:lnTo>
                  <a:pt x="656" y="9"/>
                </a:lnTo>
                <a:lnTo>
                  <a:pt x="656" y="6"/>
                </a:lnTo>
                <a:lnTo>
                  <a:pt x="656" y="3"/>
                </a:lnTo>
                <a:lnTo>
                  <a:pt x="656" y="0"/>
                </a:lnTo>
                <a:lnTo>
                  <a:pt x="653" y="0"/>
                </a:lnTo>
                <a:lnTo>
                  <a:pt x="653" y="3"/>
                </a:lnTo>
                <a:lnTo>
                  <a:pt x="653" y="6"/>
                </a:lnTo>
                <a:lnTo>
                  <a:pt x="653" y="9"/>
                </a:lnTo>
                <a:lnTo>
                  <a:pt x="653" y="11"/>
                </a:lnTo>
                <a:lnTo>
                  <a:pt x="653" y="14"/>
                </a:lnTo>
                <a:lnTo>
                  <a:pt x="653" y="18"/>
                </a:lnTo>
                <a:lnTo>
                  <a:pt x="653" y="21"/>
                </a:lnTo>
                <a:lnTo>
                  <a:pt x="653" y="24"/>
                </a:lnTo>
                <a:lnTo>
                  <a:pt x="653" y="28"/>
                </a:lnTo>
                <a:lnTo>
                  <a:pt x="653" y="31"/>
                </a:lnTo>
                <a:lnTo>
                  <a:pt x="653" y="34"/>
                </a:lnTo>
                <a:lnTo>
                  <a:pt x="653" y="38"/>
                </a:lnTo>
                <a:lnTo>
                  <a:pt x="653" y="41"/>
                </a:lnTo>
                <a:lnTo>
                  <a:pt x="653" y="44"/>
                </a:lnTo>
                <a:lnTo>
                  <a:pt x="653" y="48"/>
                </a:lnTo>
                <a:lnTo>
                  <a:pt x="653" y="51"/>
                </a:lnTo>
                <a:lnTo>
                  <a:pt x="656" y="51"/>
                </a:lnTo>
                <a:lnTo>
                  <a:pt x="656" y="48"/>
                </a:lnTo>
                <a:lnTo>
                  <a:pt x="656" y="44"/>
                </a:lnTo>
                <a:lnTo>
                  <a:pt x="656" y="41"/>
                </a:lnTo>
                <a:lnTo>
                  <a:pt x="656" y="38"/>
                </a:lnTo>
                <a:lnTo>
                  <a:pt x="656" y="34"/>
                </a:lnTo>
                <a:lnTo>
                  <a:pt x="656" y="31"/>
                </a:lnTo>
                <a:lnTo>
                  <a:pt x="656" y="28"/>
                </a:lnTo>
                <a:lnTo>
                  <a:pt x="65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54" name="Freeform 1459">
            <a:extLst>
              <a:ext uri="{FF2B5EF4-FFF2-40B4-BE49-F238E27FC236}">
                <a16:creationId xmlns:a16="http://schemas.microsoft.com/office/drawing/2014/main" id="{3F684936-13B0-FFE4-0131-CC6892D2DB2A}"/>
              </a:ext>
            </a:extLst>
          </p:cNvPr>
          <p:cNvSpPr>
            <a:spLocks noEditPoints="1"/>
          </p:cNvSpPr>
          <p:nvPr/>
        </p:nvSpPr>
        <p:spPr bwMode="auto">
          <a:xfrm>
            <a:off x="2039938" y="2719388"/>
            <a:ext cx="1035050" cy="80963"/>
          </a:xfrm>
          <a:custGeom>
            <a:avLst/>
            <a:gdLst>
              <a:gd name="T0" fmla="*/ 652 w 652"/>
              <a:gd name="T1" fmla="*/ 21 h 51"/>
              <a:gd name="T2" fmla="*/ 652 w 652"/>
              <a:gd name="T3" fmla="*/ 14 h 51"/>
              <a:gd name="T4" fmla="*/ 652 w 652"/>
              <a:gd name="T5" fmla="*/ 9 h 51"/>
              <a:gd name="T6" fmla="*/ 652 w 652"/>
              <a:gd name="T7" fmla="*/ 3 h 51"/>
              <a:gd name="T8" fmla="*/ 649 w 652"/>
              <a:gd name="T9" fmla="*/ 0 h 51"/>
              <a:gd name="T10" fmla="*/ 649 w 652"/>
              <a:gd name="T11" fmla="*/ 6 h 51"/>
              <a:gd name="T12" fmla="*/ 649 w 652"/>
              <a:gd name="T13" fmla="*/ 11 h 51"/>
              <a:gd name="T14" fmla="*/ 649 w 652"/>
              <a:gd name="T15" fmla="*/ 18 h 51"/>
              <a:gd name="T16" fmla="*/ 649 w 652"/>
              <a:gd name="T17" fmla="*/ 24 h 51"/>
              <a:gd name="T18" fmla="*/ 649 w 652"/>
              <a:gd name="T19" fmla="*/ 31 h 51"/>
              <a:gd name="T20" fmla="*/ 649 w 652"/>
              <a:gd name="T21" fmla="*/ 38 h 51"/>
              <a:gd name="T22" fmla="*/ 649 w 652"/>
              <a:gd name="T23" fmla="*/ 44 h 51"/>
              <a:gd name="T24" fmla="*/ 649 w 652"/>
              <a:gd name="T25" fmla="*/ 51 h 51"/>
              <a:gd name="T26" fmla="*/ 652 w 652"/>
              <a:gd name="T27" fmla="*/ 48 h 51"/>
              <a:gd name="T28" fmla="*/ 652 w 652"/>
              <a:gd name="T29" fmla="*/ 41 h 51"/>
              <a:gd name="T30" fmla="*/ 652 w 652"/>
              <a:gd name="T31" fmla="*/ 34 h 51"/>
              <a:gd name="T32" fmla="*/ 652 w 652"/>
              <a:gd name="T33" fmla="*/ 28 h 51"/>
              <a:gd name="T34" fmla="*/ 2 w 652"/>
              <a:gd name="T35" fmla="*/ 0 h 51"/>
              <a:gd name="T36" fmla="*/ 0 w 652"/>
              <a:gd name="T37" fmla="*/ 6 h 51"/>
              <a:gd name="T38" fmla="*/ 0 w 652"/>
              <a:gd name="T39" fmla="*/ 11 h 51"/>
              <a:gd name="T40" fmla="*/ 0 w 652"/>
              <a:gd name="T41" fmla="*/ 18 h 51"/>
              <a:gd name="T42" fmla="*/ 0 w 652"/>
              <a:gd name="T43" fmla="*/ 24 h 51"/>
              <a:gd name="T44" fmla="*/ 0 w 652"/>
              <a:gd name="T45" fmla="*/ 31 h 51"/>
              <a:gd name="T46" fmla="*/ 0 w 652"/>
              <a:gd name="T47" fmla="*/ 38 h 51"/>
              <a:gd name="T48" fmla="*/ 0 w 652"/>
              <a:gd name="T49" fmla="*/ 44 h 51"/>
              <a:gd name="T50" fmla="*/ 0 w 652"/>
              <a:gd name="T51" fmla="*/ 51 h 51"/>
              <a:gd name="T52" fmla="*/ 3 w 652"/>
              <a:gd name="T53" fmla="*/ 48 h 51"/>
              <a:gd name="T54" fmla="*/ 3 w 652"/>
              <a:gd name="T55" fmla="*/ 41 h 51"/>
              <a:gd name="T56" fmla="*/ 3 w 652"/>
              <a:gd name="T57" fmla="*/ 34 h 51"/>
              <a:gd name="T58" fmla="*/ 3 w 652"/>
              <a:gd name="T59" fmla="*/ 28 h 51"/>
              <a:gd name="T60" fmla="*/ 3 w 652"/>
              <a:gd name="T61" fmla="*/ 21 h 51"/>
              <a:gd name="T62" fmla="*/ 3 w 652"/>
              <a:gd name="T63" fmla="*/ 14 h 51"/>
              <a:gd name="T64" fmla="*/ 3 w 652"/>
              <a:gd name="T65" fmla="*/ 9 h 51"/>
              <a:gd name="T66" fmla="*/ 3 w 652"/>
              <a:gd name="T67" fmla="*/ 3 h 51"/>
              <a:gd name="T68" fmla="*/ 2 w 6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2" h="51">
                <a:moveTo>
                  <a:pt x="652" y="24"/>
                </a:moveTo>
                <a:lnTo>
                  <a:pt x="652" y="21"/>
                </a:lnTo>
                <a:lnTo>
                  <a:pt x="652" y="18"/>
                </a:lnTo>
                <a:lnTo>
                  <a:pt x="652" y="14"/>
                </a:lnTo>
                <a:lnTo>
                  <a:pt x="652" y="11"/>
                </a:lnTo>
                <a:lnTo>
                  <a:pt x="652" y="9"/>
                </a:lnTo>
                <a:lnTo>
                  <a:pt x="652" y="6"/>
                </a:lnTo>
                <a:lnTo>
                  <a:pt x="652" y="3"/>
                </a:lnTo>
                <a:lnTo>
                  <a:pt x="652" y="0"/>
                </a:lnTo>
                <a:lnTo>
                  <a:pt x="649" y="0"/>
                </a:lnTo>
                <a:lnTo>
                  <a:pt x="649" y="3"/>
                </a:lnTo>
                <a:lnTo>
                  <a:pt x="649" y="6"/>
                </a:lnTo>
                <a:lnTo>
                  <a:pt x="649" y="9"/>
                </a:lnTo>
                <a:lnTo>
                  <a:pt x="649" y="11"/>
                </a:lnTo>
                <a:lnTo>
                  <a:pt x="649" y="14"/>
                </a:lnTo>
                <a:lnTo>
                  <a:pt x="649" y="18"/>
                </a:lnTo>
                <a:lnTo>
                  <a:pt x="649" y="21"/>
                </a:lnTo>
                <a:lnTo>
                  <a:pt x="649" y="24"/>
                </a:lnTo>
                <a:lnTo>
                  <a:pt x="649" y="28"/>
                </a:lnTo>
                <a:lnTo>
                  <a:pt x="649" y="31"/>
                </a:lnTo>
                <a:lnTo>
                  <a:pt x="649" y="34"/>
                </a:lnTo>
                <a:lnTo>
                  <a:pt x="649" y="38"/>
                </a:lnTo>
                <a:lnTo>
                  <a:pt x="649" y="41"/>
                </a:lnTo>
                <a:lnTo>
                  <a:pt x="649" y="44"/>
                </a:lnTo>
                <a:lnTo>
                  <a:pt x="649" y="48"/>
                </a:lnTo>
                <a:lnTo>
                  <a:pt x="649" y="51"/>
                </a:lnTo>
                <a:lnTo>
                  <a:pt x="652" y="51"/>
                </a:lnTo>
                <a:lnTo>
                  <a:pt x="652" y="48"/>
                </a:lnTo>
                <a:lnTo>
                  <a:pt x="652" y="44"/>
                </a:lnTo>
                <a:lnTo>
                  <a:pt x="652" y="41"/>
                </a:lnTo>
                <a:lnTo>
                  <a:pt x="652" y="38"/>
                </a:lnTo>
                <a:lnTo>
                  <a:pt x="652" y="34"/>
                </a:lnTo>
                <a:lnTo>
                  <a:pt x="652" y="31"/>
                </a:lnTo>
                <a:lnTo>
                  <a:pt x="652" y="28"/>
                </a:lnTo>
                <a:lnTo>
                  <a:pt x="65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55" name="Freeform 1460">
            <a:extLst>
              <a:ext uri="{FF2B5EF4-FFF2-40B4-BE49-F238E27FC236}">
                <a16:creationId xmlns:a16="http://schemas.microsoft.com/office/drawing/2014/main" id="{008A905B-80F5-EEEA-BF12-1318F96CDAC0}"/>
              </a:ext>
            </a:extLst>
          </p:cNvPr>
          <p:cNvSpPr>
            <a:spLocks noEditPoints="1"/>
          </p:cNvSpPr>
          <p:nvPr/>
        </p:nvSpPr>
        <p:spPr bwMode="auto">
          <a:xfrm>
            <a:off x="2043113" y="2719388"/>
            <a:ext cx="1030288" cy="80963"/>
          </a:xfrm>
          <a:custGeom>
            <a:avLst/>
            <a:gdLst>
              <a:gd name="T0" fmla="*/ 649 w 649"/>
              <a:gd name="T1" fmla="*/ 21 h 51"/>
              <a:gd name="T2" fmla="*/ 649 w 649"/>
              <a:gd name="T3" fmla="*/ 14 h 51"/>
              <a:gd name="T4" fmla="*/ 649 w 649"/>
              <a:gd name="T5" fmla="*/ 9 h 51"/>
              <a:gd name="T6" fmla="*/ 649 w 649"/>
              <a:gd name="T7" fmla="*/ 3 h 51"/>
              <a:gd name="T8" fmla="*/ 645 w 649"/>
              <a:gd name="T9" fmla="*/ 0 h 51"/>
              <a:gd name="T10" fmla="*/ 645 w 649"/>
              <a:gd name="T11" fmla="*/ 6 h 51"/>
              <a:gd name="T12" fmla="*/ 645 w 649"/>
              <a:gd name="T13" fmla="*/ 11 h 51"/>
              <a:gd name="T14" fmla="*/ 645 w 649"/>
              <a:gd name="T15" fmla="*/ 18 h 51"/>
              <a:gd name="T16" fmla="*/ 645 w 649"/>
              <a:gd name="T17" fmla="*/ 24 h 51"/>
              <a:gd name="T18" fmla="*/ 645 w 649"/>
              <a:gd name="T19" fmla="*/ 31 h 51"/>
              <a:gd name="T20" fmla="*/ 645 w 649"/>
              <a:gd name="T21" fmla="*/ 38 h 51"/>
              <a:gd name="T22" fmla="*/ 645 w 649"/>
              <a:gd name="T23" fmla="*/ 44 h 51"/>
              <a:gd name="T24" fmla="*/ 645 w 649"/>
              <a:gd name="T25" fmla="*/ 51 h 51"/>
              <a:gd name="T26" fmla="*/ 649 w 649"/>
              <a:gd name="T27" fmla="*/ 48 h 51"/>
              <a:gd name="T28" fmla="*/ 649 w 649"/>
              <a:gd name="T29" fmla="*/ 41 h 51"/>
              <a:gd name="T30" fmla="*/ 649 w 649"/>
              <a:gd name="T31" fmla="*/ 34 h 51"/>
              <a:gd name="T32" fmla="*/ 649 w 649"/>
              <a:gd name="T33" fmla="*/ 28 h 51"/>
              <a:gd name="T34" fmla="*/ 1 w 649"/>
              <a:gd name="T35" fmla="*/ 0 h 51"/>
              <a:gd name="T36" fmla="*/ 0 w 649"/>
              <a:gd name="T37" fmla="*/ 6 h 51"/>
              <a:gd name="T38" fmla="*/ 0 w 649"/>
              <a:gd name="T39" fmla="*/ 11 h 51"/>
              <a:gd name="T40" fmla="*/ 0 w 649"/>
              <a:gd name="T41" fmla="*/ 18 h 51"/>
              <a:gd name="T42" fmla="*/ 0 w 649"/>
              <a:gd name="T43" fmla="*/ 24 h 51"/>
              <a:gd name="T44" fmla="*/ 0 w 649"/>
              <a:gd name="T45" fmla="*/ 31 h 51"/>
              <a:gd name="T46" fmla="*/ 0 w 649"/>
              <a:gd name="T47" fmla="*/ 38 h 51"/>
              <a:gd name="T48" fmla="*/ 0 w 649"/>
              <a:gd name="T49" fmla="*/ 44 h 51"/>
              <a:gd name="T50" fmla="*/ 0 w 649"/>
              <a:gd name="T51" fmla="*/ 51 h 51"/>
              <a:gd name="T52" fmla="*/ 3 w 649"/>
              <a:gd name="T53" fmla="*/ 48 h 51"/>
              <a:gd name="T54" fmla="*/ 3 w 649"/>
              <a:gd name="T55" fmla="*/ 41 h 51"/>
              <a:gd name="T56" fmla="*/ 3 w 649"/>
              <a:gd name="T57" fmla="*/ 34 h 51"/>
              <a:gd name="T58" fmla="*/ 3 w 649"/>
              <a:gd name="T59" fmla="*/ 28 h 51"/>
              <a:gd name="T60" fmla="*/ 3 w 649"/>
              <a:gd name="T61" fmla="*/ 21 h 51"/>
              <a:gd name="T62" fmla="*/ 3 w 649"/>
              <a:gd name="T63" fmla="*/ 14 h 51"/>
              <a:gd name="T64" fmla="*/ 3 w 649"/>
              <a:gd name="T65" fmla="*/ 9 h 51"/>
              <a:gd name="T66" fmla="*/ 3 w 649"/>
              <a:gd name="T67" fmla="*/ 3 h 51"/>
              <a:gd name="T68" fmla="*/ 1 w 64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9" h="51">
                <a:moveTo>
                  <a:pt x="649" y="24"/>
                </a:moveTo>
                <a:lnTo>
                  <a:pt x="649" y="21"/>
                </a:lnTo>
                <a:lnTo>
                  <a:pt x="649" y="18"/>
                </a:lnTo>
                <a:lnTo>
                  <a:pt x="649" y="14"/>
                </a:lnTo>
                <a:lnTo>
                  <a:pt x="649" y="11"/>
                </a:lnTo>
                <a:lnTo>
                  <a:pt x="649" y="9"/>
                </a:lnTo>
                <a:lnTo>
                  <a:pt x="649" y="6"/>
                </a:lnTo>
                <a:lnTo>
                  <a:pt x="649" y="3"/>
                </a:lnTo>
                <a:lnTo>
                  <a:pt x="649" y="0"/>
                </a:lnTo>
                <a:lnTo>
                  <a:pt x="645" y="0"/>
                </a:lnTo>
                <a:lnTo>
                  <a:pt x="645" y="3"/>
                </a:lnTo>
                <a:lnTo>
                  <a:pt x="645" y="6"/>
                </a:lnTo>
                <a:lnTo>
                  <a:pt x="645" y="9"/>
                </a:lnTo>
                <a:lnTo>
                  <a:pt x="645" y="11"/>
                </a:lnTo>
                <a:lnTo>
                  <a:pt x="645" y="14"/>
                </a:lnTo>
                <a:lnTo>
                  <a:pt x="645" y="18"/>
                </a:lnTo>
                <a:lnTo>
                  <a:pt x="645" y="21"/>
                </a:lnTo>
                <a:lnTo>
                  <a:pt x="645" y="24"/>
                </a:lnTo>
                <a:lnTo>
                  <a:pt x="645" y="28"/>
                </a:lnTo>
                <a:lnTo>
                  <a:pt x="645" y="31"/>
                </a:lnTo>
                <a:lnTo>
                  <a:pt x="645" y="34"/>
                </a:lnTo>
                <a:lnTo>
                  <a:pt x="645" y="38"/>
                </a:lnTo>
                <a:lnTo>
                  <a:pt x="645" y="41"/>
                </a:lnTo>
                <a:lnTo>
                  <a:pt x="645" y="44"/>
                </a:lnTo>
                <a:lnTo>
                  <a:pt x="645" y="48"/>
                </a:lnTo>
                <a:lnTo>
                  <a:pt x="645" y="51"/>
                </a:lnTo>
                <a:lnTo>
                  <a:pt x="649" y="51"/>
                </a:lnTo>
                <a:lnTo>
                  <a:pt x="649" y="48"/>
                </a:lnTo>
                <a:lnTo>
                  <a:pt x="649" y="44"/>
                </a:lnTo>
                <a:lnTo>
                  <a:pt x="649" y="41"/>
                </a:lnTo>
                <a:lnTo>
                  <a:pt x="649" y="38"/>
                </a:lnTo>
                <a:lnTo>
                  <a:pt x="649" y="34"/>
                </a:lnTo>
                <a:lnTo>
                  <a:pt x="649" y="31"/>
                </a:lnTo>
                <a:lnTo>
                  <a:pt x="649" y="28"/>
                </a:lnTo>
                <a:lnTo>
                  <a:pt x="64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56" name="Freeform 1461">
            <a:extLst>
              <a:ext uri="{FF2B5EF4-FFF2-40B4-BE49-F238E27FC236}">
                <a16:creationId xmlns:a16="http://schemas.microsoft.com/office/drawing/2014/main" id="{6B025F4A-14BE-83F8-ED35-606322E842CB}"/>
              </a:ext>
            </a:extLst>
          </p:cNvPr>
          <p:cNvSpPr>
            <a:spLocks noEditPoints="1"/>
          </p:cNvSpPr>
          <p:nvPr/>
        </p:nvSpPr>
        <p:spPr bwMode="auto">
          <a:xfrm>
            <a:off x="2044700" y="2719388"/>
            <a:ext cx="1025525" cy="80963"/>
          </a:xfrm>
          <a:custGeom>
            <a:avLst/>
            <a:gdLst>
              <a:gd name="T0" fmla="*/ 646 w 646"/>
              <a:gd name="T1" fmla="*/ 21 h 51"/>
              <a:gd name="T2" fmla="*/ 646 w 646"/>
              <a:gd name="T3" fmla="*/ 14 h 51"/>
              <a:gd name="T4" fmla="*/ 646 w 646"/>
              <a:gd name="T5" fmla="*/ 9 h 51"/>
              <a:gd name="T6" fmla="*/ 646 w 646"/>
              <a:gd name="T7" fmla="*/ 3 h 51"/>
              <a:gd name="T8" fmla="*/ 643 w 646"/>
              <a:gd name="T9" fmla="*/ 0 h 51"/>
              <a:gd name="T10" fmla="*/ 643 w 646"/>
              <a:gd name="T11" fmla="*/ 6 h 51"/>
              <a:gd name="T12" fmla="*/ 643 w 646"/>
              <a:gd name="T13" fmla="*/ 11 h 51"/>
              <a:gd name="T14" fmla="*/ 643 w 646"/>
              <a:gd name="T15" fmla="*/ 18 h 51"/>
              <a:gd name="T16" fmla="*/ 643 w 646"/>
              <a:gd name="T17" fmla="*/ 24 h 51"/>
              <a:gd name="T18" fmla="*/ 643 w 646"/>
              <a:gd name="T19" fmla="*/ 31 h 51"/>
              <a:gd name="T20" fmla="*/ 643 w 646"/>
              <a:gd name="T21" fmla="*/ 38 h 51"/>
              <a:gd name="T22" fmla="*/ 643 w 646"/>
              <a:gd name="T23" fmla="*/ 44 h 51"/>
              <a:gd name="T24" fmla="*/ 643 w 646"/>
              <a:gd name="T25" fmla="*/ 51 h 51"/>
              <a:gd name="T26" fmla="*/ 646 w 646"/>
              <a:gd name="T27" fmla="*/ 48 h 51"/>
              <a:gd name="T28" fmla="*/ 646 w 646"/>
              <a:gd name="T29" fmla="*/ 41 h 51"/>
              <a:gd name="T30" fmla="*/ 646 w 646"/>
              <a:gd name="T31" fmla="*/ 34 h 51"/>
              <a:gd name="T32" fmla="*/ 646 w 646"/>
              <a:gd name="T33" fmla="*/ 28 h 51"/>
              <a:gd name="T34" fmla="*/ 2 w 646"/>
              <a:gd name="T35" fmla="*/ 0 h 51"/>
              <a:gd name="T36" fmla="*/ 0 w 646"/>
              <a:gd name="T37" fmla="*/ 6 h 51"/>
              <a:gd name="T38" fmla="*/ 0 w 646"/>
              <a:gd name="T39" fmla="*/ 11 h 51"/>
              <a:gd name="T40" fmla="*/ 0 w 646"/>
              <a:gd name="T41" fmla="*/ 18 h 51"/>
              <a:gd name="T42" fmla="*/ 0 w 646"/>
              <a:gd name="T43" fmla="*/ 24 h 51"/>
              <a:gd name="T44" fmla="*/ 0 w 646"/>
              <a:gd name="T45" fmla="*/ 31 h 51"/>
              <a:gd name="T46" fmla="*/ 0 w 646"/>
              <a:gd name="T47" fmla="*/ 38 h 51"/>
              <a:gd name="T48" fmla="*/ 0 w 646"/>
              <a:gd name="T49" fmla="*/ 44 h 51"/>
              <a:gd name="T50" fmla="*/ 0 w 646"/>
              <a:gd name="T51" fmla="*/ 51 h 51"/>
              <a:gd name="T52" fmla="*/ 4 w 646"/>
              <a:gd name="T53" fmla="*/ 48 h 51"/>
              <a:gd name="T54" fmla="*/ 4 w 646"/>
              <a:gd name="T55" fmla="*/ 41 h 51"/>
              <a:gd name="T56" fmla="*/ 4 w 646"/>
              <a:gd name="T57" fmla="*/ 34 h 51"/>
              <a:gd name="T58" fmla="*/ 4 w 646"/>
              <a:gd name="T59" fmla="*/ 28 h 51"/>
              <a:gd name="T60" fmla="*/ 4 w 646"/>
              <a:gd name="T61" fmla="*/ 21 h 51"/>
              <a:gd name="T62" fmla="*/ 4 w 646"/>
              <a:gd name="T63" fmla="*/ 14 h 51"/>
              <a:gd name="T64" fmla="*/ 4 w 646"/>
              <a:gd name="T65" fmla="*/ 9 h 51"/>
              <a:gd name="T66" fmla="*/ 4 w 646"/>
              <a:gd name="T67" fmla="*/ 3 h 51"/>
              <a:gd name="T68" fmla="*/ 2 w 6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6" h="51">
                <a:moveTo>
                  <a:pt x="646" y="24"/>
                </a:moveTo>
                <a:lnTo>
                  <a:pt x="646" y="21"/>
                </a:lnTo>
                <a:lnTo>
                  <a:pt x="646" y="18"/>
                </a:lnTo>
                <a:lnTo>
                  <a:pt x="646" y="14"/>
                </a:lnTo>
                <a:lnTo>
                  <a:pt x="646" y="11"/>
                </a:lnTo>
                <a:lnTo>
                  <a:pt x="646" y="9"/>
                </a:lnTo>
                <a:lnTo>
                  <a:pt x="646" y="6"/>
                </a:lnTo>
                <a:lnTo>
                  <a:pt x="646" y="3"/>
                </a:lnTo>
                <a:lnTo>
                  <a:pt x="646" y="0"/>
                </a:lnTo>
                <a:lnTo>
                  <a:pt x="643" y="0"/>
                </a:lnTo>
                <a:lnTo>
                  <a:pt x="643" y="3"/>
                </a:lnTo>
                <a:lnTo>
                  <a:pt x="643" y="6"/>
                </a:lnTo>
                <a:lnTo>
                  <a:pt x="643" y="9"/>
                </a:lnTo>
                <a:lnTo>
                  <a:pt x="643" y="11"/>
                </a:lnTo>
                <a:lnTo>
                  <a:pt x="643" y="14"/>
                </a:lnTo>
                <a:lnTo>
                  <a:pt x="643" y="18"/>
                </a:lnTo>
                <a:lnTo>
                  <a:pt x="643" y="21"/>
                </a:lnTo>
                <a:lnTo>
                  <a:pt x="643" y="24"/>
                </a:lnTo>
                <a:lnTo>
                  <a:pt x="643" y="28"/>
                </a:lnTo>
                <a:lnTo>
                  <a:pt x="643" y="31"/>
                </a:lnTo>
                <a:lnTo>
                  <a:pt x="643" y="34"/>
                </a:lnTo>
                <a:lnTo>
                  <a:pt x="643" y="38"/>
                </a:lnTo>
                <a:lnTo>
                  <a:pt x="643" y="41"/>
                </a:lnTo>
                <a:lnTo>
                  <a:pt x="643" y="44"/>
                </a:lnTo>
                <a:lnTo>
                  <a:pt x="643" y="48"/>
                </a:lnTo>
                <a:lnTo>
                  <a:pt x="643" y="51"/>
                </a:lnTo>
                <a:lnTo>
                  <a:pt x="646" y="51"/>
                </a:lnTo>
                <a:lnTo>
                  <a:pt x="646" y="48"/>
                </a:lnTo>
                <a:lnTo>
                  <a:pt x="646" y="44"/>
                </a:lnTo>
                <a:lnTo>
                  <a:pt x="646" y="41"/>
                </a:lnTo>
                <a:lnTo>
                  <a:pt x="646" y="38"/>
                </a:lnTo>
                <a:lnTo>
                  <a:pt x="646" y="34"/>
                </a:lnTo>
                <a:lnTo>
                  <a:pt x="646" y="31"/>
                </a:lnTo>
                <a:lnTo>
                  <a:pt x="646" y="28"/>
                </a:lnTo>
                <a:lnTo>
                  <a:pt x="64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57" name="Freeform 1462">
            <a:extLst>
              <a:ext uri="{FF2B5EF4-FFF2-40B4-BE49-F238E27FC236}">
                <a16:creationId xmlns:a16="http://schemas.microsoft.com/office/drawing/2014/main" id="{5D439628-1853-361B-EDAF-E8C32B234BF3}"/>
              </a:ext>
            </a:extLst>
          </p:cNvPr>
          <p:cNvSpPr>
            <a:spLocks noEditPoints="1"/>
          </p:cNvSpPr>
          <p:nvPr/>
        </p:nvSpPr>
        <p:spPr bwMode="auto">
          <a:xfrm>
            <a:off x="2047875" y="2719388"/>
            <a:ext cx="1019175" cy="80963"/>
          </a:xfrm>
          <a:custGeom>
            <a:avLst/>
            <a:gdLst>
              <a:gd name="T0" fmla="*/ 642 w 642"/>
              <a:gd name="T1" fmla="*/ 21 h 51"/>
              <a:gd name="T2" fmla="*/ 642 w 642"/>
              <a:gd name="T3" fmla="*/ 14 h 51"/>
              <a:gd name="T4" fmla="*/ 642 w 642"/>
              <a:gd name="T5" fmla="*/ 9 h 51"/>
              <a:gd name="T6" fmla="*/ 642 w 642"/>
              <a:gd name="T7" fmla="*/ 3 h 51"/>
              <a:gd name="T8" fmla="*/ 639 w 642"/>
              <a:gd name="T9" fmla="*/ 0 h 51"/>
              <a:gd name="T10" fmla="*/ 639 w 642"/>
              <a:gd name="T11" fmla="*/ 6 h 51"/>
              <a:gd name="T12" fmla="*/ 639 w 642"/>
              <a:gd name="T13" fmla="*/ 11 h 51"/>
              <a:gd name="T14" fmla="*/ 639 w 642"/>
              <a:gd name="T15" fmla="*/ 18 h 51"/>
              <a:gd name="T16" fmla="*/ 639 w 642"/>
              <a:gd name="T17" fmla="*/ 24 h 51"/>
              <a:gd name="T18" fmla="*/ 639 w 642"/>
              <a:gd name="T19" fmla="*/ 31 h 51"/>
              <a:gd name="T20" fmla="*/ 639 w 642"/>
              <a:gd name="T21" fmla="*/ 38 h 51"/>
              <a:gd name="T22" fmla="*/ 639 w 642"/>
              <a:gd name="T23" fmla="*/ 44 h 51"/>
              <a:gd name="T24" fmla="*/ 639 w 642"/>
              <a:gd name="T25" fmla="*/ 51 h 51"/>
              <a:gd name="T26" fmla="*/ 642 w 642"/>
              <a:gd name="T27" fmla="*/ 48 h 51"/>
              <a:gd name="T28" fmla="*/ 642 w 642"/>
              <a:gd name="T29" fmla="*/ 41 h 51"/>
              <a:gd name="T30" fmla="*/ 642 w 642"/>
              <a:gd name="T31" fmla="*/ 34 h 51"/>
              <a:gd name="T32" fmla="*/ 642 w 642"/>
              <a:gd name="T33" fmla="*/ 28 h 51"/>
              <a:gd name="T34" fmla="*/ 2 w 642"/>
              <a:gd name="T35" fmla="*/ 0 h 51"/>
              <a:gd name="T36" fmla="*/ 0 w 642"/>
              <a:gd name="T37" fmla="*/ 6 h 51"/>
              <a:gd name="T38" fmla="*/ 0 w 642"/>
              <a:gd name="T39" fmla="*/ 11 h 51"/>
              <a:gd name="T40" fmla="*/ 0 w 642"/>
              <a:gd name="T41" fmla="*/ 18 h 51"/>
              <a:gd name="T42" fmla="*/ 0 w 642"/>
              <a:gd name="T43" fmla="*/ 24 h 51"/>
              <a:gd name="T44" fmla="*/ 0 w 642"/>
              <a:gd name="T45" fmla="*/ 31 h 51"/>
              <a:gd name="T46" fmla="*/ 0 w 642"/>
              <a:gd name="T47" fmla="*/ 38 h 51"/>
              <a:gd name="T48" fmla="*/ 0 w 642"/>
              <a:gd name="T49" fmla="*/ 44 h 51"/>
              <a:gd name="T50" fmla="*/ 0 w 642"/>
              <a:gd name="T51" fmla="*/ 51 h 51"/>
              <a:gd name="T52" fmla="*/ 3 w 642"/>
              <a:gd name="T53" fmla="*/ 48 h 51"/>
              <a:gd name="T54" fmla="*/ 3 w 642"/>
              <a:gd name="T55" fmla="*/ 41 h 51"/>
              <a:gd name="T56" fmla="*/ 3 w 642"/>
              <a:gd name="T57" fmla="*/ 34 h 51"/>
              <a:gd name="T58" fmla="*/ 3 w 642"/>
              <a:gd name="T59" fmla="*/ 28 h 51"/>
              <a:gd name="T60" fmla="*/ 3 w 642"/>
              <a:gd name="T61" fmla="*/ 21 h 51"/>
              <a:gd name="T62" fmla="*/ 3 w 642"/>
              <a:gd name="T63" fmla="*/ 14 h 51"/>
              <a:gd name="T64" fmla="*/ 3 w 642"/>
              <a:gd name="T65" fmla="*/ 9 h 51"/>
              <a:gd name="T66" fmla="*/ 3 w 642"/>
              <a:gd name="T67" fmla="*/ 3 h 51"/>
              <a:gd name="T68" fmla="*/ 2 w 6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2" h="51">
                <a:moveTo>
                  <a:pt x="642" y="24"/>
                </a:moveTo>
                <a:lnTo>
                  <a:pt x="642" y="21"/>
                </a:lnTo>
                <a:lnTo>
                  <a:pt x="642" y="18"/>
                </a:lnTo>
                <a:lnTo>
                  <a:pt x="642" y="14"/>
                </a:lnTo>
                <a:lnTo>
                  <a:pt x="642" y="11"/>
                </a:lnTo>
                <a:lnTo>
                  <a:pt x="642" y="9"/>
                </a:lnTo>
                <a:lnTo>
                  <a:pt x="642" y="6"/>
                </a:lnTo>
                <a:lnTo>
                  <a:pt x="642" y="3"/>
                </a:lnTo>
                <a:lnTo>
                  <a:pt x="642" y="0"/>
                </a:lnTo>
                <a:lnTo>
                  <a:pt x="639" y="0"/>
                </a:lnTo>
                <a:lnTo>
                  <a:pt x="639" y="3"/>
                </a:lnTo>
                <a:lnTo>
                  <a:pt x="639" y="6"/>
                </a:lnTo>
                <a:lnTo>
                  <a:pt x="639" y="9"/>
                </a:lnTo>
                <a:lnTo>
                  <a:pt x="639" y="11"/>
                </a:lnTo>
                <a:lnTo>
                  <a:pt x="639" y="14"/>
                </a:lnTo>
                <a:lnTo>
                  <a:pt x="639" y="18"/>
                </a:lnTo>
                <a:lnTo>
                  <a:pt x="639" y="21"/>
                </a:lnTo>
                <a:lnTo>
                  <a:pt x="639" y="24"/>
                </a:lnTo>
                <a:lnTo>
                  <a:pt x="639" y="28"/>
                </a:lnTo>
                <a:lnTo>
                  <a:pt x="639" y="31"/>
                </a:lnTo>
                <a:lnTo>
                  <a:pt x="639" y="34"/>
                </a:lnTo>
                <a:lnTo>
                  <a:pt x="639" y="38"/>
                </a:lnTo>
                <a:lnTo>
                  <a:pt x="639" y="41"/>
                </a:lnTo>
                <a:lnTo>
                  <a:pt x="639" y="44"/>
                </a:lnTo>
                <a:lnTo>
                  <a:pt x="639" y="48"/>
                </a:lnTo>
                <a:lnTo>
                  <a:pt x="639" y="51"/>
                </a:lnTo>
                <a:lnTo>
                  <a:pt x="642" y="51"/>
                </a:lnTo>
                <a:lnTo>
                  <a:pt x="642" y="48"/>
                </a:lnTo>
                <a:lnTo>
                  <a:pt x="642" y="44"/>
                </a:lnTo>
                <a:lnTo>
                  <a:pt x="642" y="41"/>
                </a:lnTo>
                <a:lnTo>
                  <a:pt x="642" y="38"/>
                </a:lnTo>
                <a:lnTo>
                  <a:pt x="642" y="34"/>
                </a:lnTo>
                <a:lnTo>
                  <a:pt x="642" y="31"/>
                </a:lnTo>
                <a:lnTo>
                  <a:pt x="642" y="28"/>
                </a:lnTo>
                <a:lnTo>
                  <a:pt x="64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58" name="Freeform 1463">
            <a:extLst>
              <a:ext uri="{FF2B5EF4-FFF2-40B4-BE49-F238E27FC236}">
                <a16:creationId xmlns:a16="http://schemas.microsoft.com/office/drawing/2014/main" id="{F7D46A6F-5675-CDA6-D70D-A9C05856DA2B}"/>
              </a:ext>
            </a:extLst>
          </p:cNvPr>
          <p:cNvSpPr>
            <a:spLocks noEditPoints="1"/>
          </p:cNvSpPr>
          <p:nvPr/>
        </p:nvSpPr>
        <p:spPr bwMode="auto">
          <a:xfrm>
            <a:off x="2051050" y="2719388"/>
            <a:ext cx="1014413" cy="80963"/>
          </a:xfrm>
          <a:custGeom>
            <a:avLst/>
            <a:gdLst>
              <a:gd name="T0" fmla="*/ 639 w 639"/>
              <a:gd name="T1" fmla="*/ 21 h 51"/>
              <a:gd name="T2" fmla="*/ 639 w 639"/>
              <a:gd name="T3" fmla="*/ 14 h 51"/>
              <a:gd name="T4" fmla="*/ 639 w 639"/>
              <a:gd name="T5" fmla="*/ 9 h 51"/>
              <a:gd name="T6" fmla="*/ 639 w 639"/>
              <a:gd name="T7" fmla="*/ 3 h 51"/>
              <a:gd name="T8" fmla="*/ 635 w 639"/>
              <a:gd name="T9" fmla="*/ 0 h 51"/>
              <a:gd name="T10" fmla="*/ 635 w 639"/>
              <a:gd name="T11" fmla="*/ 6 h 51"/>
              <a:gd name="T12" fmla="*/ 635 w 639"/>
              <a:gd name="T13" fmla="*/ 11 h 51"/>
              <a:gd name="T14" fmla="*/ 635 w 639"/>
              <a:gd name="T15" fmla="*/ 18 h 51"/>
              <a:gd name="T16" fmla="*/ 635 w 639"/>
              <a:gd name="T17" fmla="*/ 24 h 51"/>
              <a:gd name="T18" fmla="*/ 635 w 639"/>
              <a:gd name="T19" fmla="*/ 31 h 51"/>
              <a:gd name="T20" fmla="*/ 635 w 639"/>
              <a:gd name="T21" fmla="*/ 38 h 51"/>
              <a:gd name="T22" fmla="*/ 635 w 639"/>
              <a:gd name="T23" fmla="*/ 44 h 51"/>
              <a:gd name="T24" fmla="*/ 635 w 639"/>
              <a:gd name="T25" fmla="*/ 51 h 51"/>
              <a:gd name="T26" fmla="*/ 639 w 639"/>
              <a:gd name="T27" fmla="*/ 48 h 51"/>
              <a:gd name="T28" fmla="*/ 639 w 639"/>
              <a:gd name="T29" fmla="*/ 41 h 51"/>
              <a:gd name="T30" fmla="*/ 639 w 639"/>
              <a:gd name="T31" fmla="*/ 34 h 51"/>
              <a:gd name="T32" fmla="*/ 639 w 639"/>
              <a:gd name="T33" fmla="*/ 28 h 51"/>
              <a:gd name="T34" fmla="*/ 1 w 639"/>
              <a:gd name="T35" fmla="*/ 0 h 51"/>
              <a:gd name="T36" fmla="*/ 0 w 639"/>
              <a:gd name="T37" fmla="*/ 6 h 51"/>
              <a:gd name="T38" fmla="*/ 0 w 639"/>
              <a:gd name="T39" fmla="*/ 11 h 51"/>
              <a:gd name="T40" fmla="*/ 0 w 639"/>
              <a:gd name="T41" fmla="*/ 18 h 51"/>
              <a:gd name="T42" fmla="*/ 0 w 639"/>
              <a:gd name="T43" fmla="*/ 24 h 51"/>
              <a:gd name="T44" fmla="*/ 0 w 639"/>
              <a:gd name="T45" fmla="*/ 31 h 51"/>
              <a:gd name="T46" fmla="*/ 0 w 639"/>
              <a:gd name="T47" fmla="*/ 38 h 51"/>
              <a:gd name="T48" fmla="*/ 0 w 639"/>
              <a:gd name="T49" fmla="*/ 44 h 51"/>
              <a:gd name="T50" fmla="*/ 0 w 639"/>
              <a:gd name="T51" fmla="*/ 51 h 51"/>
              <a:gd name="T52" fmla="*/ 3 w 639"/>
              <a:gd name="T53" fmla="*/ 48 h 51"/>
              <a:gd name="T54" fmla="*/ 3 w 639"/>
              <a:gd name="T55" fmla="*/ 41 h 51"/>
              <a:gd name="T56" fmla="*/ 3 w 639"/>
              <a:gd name="T57" fmla="*/ 34 h 51"/>
              <a:gd name="T58" fmla="*/ 3 w 639"/>
              <a:gd name="T59" fmla="*/ 28 h 51"/>
              <a:gd name="T60" fmla="*/ 3 w 639"/>
              <a:gd name="T61" fmla="*/ 21 h 51"/>
              <a:gd name="T62" fmla="*/ 3 w 639"/>
              <a:gd name="T63" fmla="*/ 14 h 51"/>
              <a:gd name="T64" fmla="*/ 3 w 639"/>
              <a:gd name="T65" fmla="*/ 9 h 51"/>
              <a:gd name="T66" fmla="*/ 3 w 639"/>
              <a:gd name="T67" fmla="*/ 3 h 51"/>
              <a:gd name="T68" fmla="*/ 1 w 63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9" h="51">
                <a:moveTo>
                  <a:pt x="639" y="24"/>
                </a:moveTo>
                <a:lnTo>
                  <a:pt x="639" y="21"/>
                </a:lnTo>
                <a:lnTo>
                  <a:pt x="639" y="18"/>
                </a:lnTo>
                <a:lnTo>
                  <a:pt x="639" y="14"/>
                </a:lnTo>
                <a:lnTo>
                  <a:pt x="639" y="11"/>
                </a:lnTo>
                <a:lnTo>
                  <a:pt x="639" y="9"/>
                </a:lnTo>
                <a:lnTo>
                  <a:pt x="639" y="6"/>
                </a:lnTo>
                <a:lnTo>
                  <a:pt x="639" y="3"/>
                </a:lnTo>
                <a:lnTo>
                  <a:pt x="639" y="0"/>
                </a:lnTo>
                <a:lnTo>
                  <a:pt x="635" y="0"/>
                </a:lnTo>
                <a:lnTo>
                  <a:pt x="635" y="3"/>
                </a:lnTo>
                <a:lnTo>
                  <a:pt x="635" y="6"/>
                </a:lnTo>
                <a:lnTo>
                  <a:pt x="635" y="9"/>
                </a:lnTo>
                <a:lnTo>
                  <a:pt x="635" y="11"/>
                </a:lnTo>
                <a:lnTo>
                  <a:pt x="635" y="14"/>
                </a:lnTo>
                <a:lnTo>
                  <a:pt x="635" y="18"/>
                </a:lnTo>
                <a:lnTo>
                  <a:pt x="635" y="21"/>
                </a:lnTo>
                <a:lnTo>
                  <a:pt x="635" y="24"/>
                </a:lnTo>
                <a:lnTo>
                  <a:pt x="635" y="28"/>
                </a:lnTo>
                <a:lnTo>
                  <a:pt x="635" y="31"/>
                </a:lnTo>
                <a:lnTo>
                  <a:pt x="635" y="34"/>
                </a:lnTo>
                <a:lnTo>
                  <a:pt x="635" y="38"/>
                </a:lnTo>
                <a:lnTo>
                  <a:pt x="635" y="41"/>
                </a:lnTo>
                <a:lnTo>
                  <a:pt x="635" y="44"/>
                </a:lnTo>
                <a:lnTo>
                  <a:pt x="635" y="48"/>
                </a:lnTo>
                <a:lnTo>
                  <a:pt x="635" y="51"/>
                </a:lnTo>
                <a:lnTo>
                  <a:pt x="639" y="51"/>
                </a:lnTo>
                <a:lnTo>
                  <a:pt x="639" y="48"/>
                </a:lnTo>
                <a:lnTo>
                  <a:pt x="639" y="44"/>
                </a:lnTo>
                <a:lnTo>
                  <a:pt x="639" y="41"/>
                </a:lnTo>
                <a:lnTo>
                  <a:pt x="639" y="38"/>
                </a:lnTo>
                <a:lnTo>
                  <a:pt x="639" y="34"/>
                </a:lnTo>
                <a:lnTo>
                  <a:pt x="639" y="31"/>
                </a:lnTo>
                <a:lnTo>
                  <a:pt x="639" y="28"/>
                </a:lnTo>
                <a:lnTo>
                  <a:pt x="63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59" name="Freeform 1464">
            <a:extLst>
              <a:ext uri="{FF2B5EF4-FFF2-40B4-BE49-F238E27FC236}">
                <a16:creationId xmlns:a16="http://schemas.microsoft.com/office/drawing/2014/main" id="{6250BF25-8A92-A504-9AF5-D585D1B73502}"/>
              </a:ext>
            </a:extLst>
          </p:cNvPr>
          <p:cNvSpPr>
            <a:spLocks noEditPoints="1"/>
          </p:cNvSpPr>
          <p:nvPr/>
        </p:nvSpPr>
        <p:spPr bwMode="auto">
          <a:xfrm>
            <a:off x="2052638" y="2719388"/>
            <a:ext cx="1009650" cy="80963"/>
          </a:xfrm>
          <a:custGeom>
            <a:avLst/>
            <a:gdLst>
              <a:gd name="T0" fmla="*/ 636 w 636"/>
              <a:gd name="T1" fmla="*/ 21 h 51"/>
              <a:gd name="T2" fmla="*/ 636 w 636"/>
              <a:gd name="T3" fmla="*/ 14 h 51"/>
              <a:gd name="T4" fmla="*/ 636 w 636"/>
              <a:gd name="T5" fmla="*/ 9 h 51"/>
              <a:gd name="T6" fmla="*/ 636 w 636"/>
              <a:gd name="T7" fmla="*/ 3 h 51"/>
              <a:gd name="T8" fmla="*/ 633 w 636"/>
              <a:gd name="T9" fmla="*/ 0 h 51"/>
              <a:gd name="T10" fmla="*/ 633 w 636"/>
              <a:gd name="T11" fmla="*/ 6 h 51"/>
              <a:gd name="T12" fmla="*/ 633 w 636"/>
              <a:gd name="T13" fmla="*/ 11 h 51"/>
              <a:gd name="T14" fmla="*/ 633 w 636"/>
              <a:gd name="T15" fmla="*/ 18 h 51"/>
              <a:gd name="T16" fmla="*/ 633 w 636"/>
              <a:gd name="T17" fmla="*/ 24 h 51"/>
              <a:gd name="T18" fmla="*/ 633 w 636"/>
              <a:gd name="T19" fmla="*/ 31 h 51"/>
              <a:gd name="T20" fmla="*/ 633 w 636"/>
              <a:gd name="T21" fmla="*/ 38 h 51"/>
              <a:gd name="T22" fmla="*/ 633 w 636"/>
              <a:gd name="T23" fmla="*/ 44 h 51"/>
              <a:gd name="T24" fmla="*/ 633 w 636"/>
              <a:gd name="T25" fmla="*/ 51 h 51"/>
              <a:gd name="T26" fmla="*/ 636 w 636"/>
              <a:gd name="T27" fmla="*/ 48 h 51"/>
              <a:gd name="T28" fmla="*/ 636 w 636"/>
              <a:gd name="T29" fmla="*/ 41 h 51"/>
              <a:gd name="T30" fmla="*/ 636 w 636"/>
              <a:gd name="T31" fmla="*/ 34 h 51"/>
              <a:gd name="T32" fmla="*/ 636 w 636"/>
              <a:gd name="T33" fmla="*/ 28 h 51"/>
              <a:gd name="T34" fmla="*/ 2 w 636"/>
              <a:gd name="T35" fmla="*/ 0 h 51"/>
              <a:gd name="T36" fmla="*/ 0 w 636"/>
              <a:gd name="T37" fmla="*/ 6 h 51"/>
              <a:gd name="T38" fmla="*/ 0 w 636"/>
              <a:gd name="T39" fmla="*/ 11 h 51"/>
              <a:gd name="T40" fmla="*/ 0 w 636"/>
              <a:gd name="T41" fmla="*/ 18 h 51"/>
              <a:gd name="T42" fmla="*/ 0 w 636"/>
              <a:gd name="T43" fmla="*/ 24 h 51"/>
              <a:gd name="T44" fmla="*/ 0 w 636"/>
              <a:gd name="T45" fmla="*/ 31 h 51"/>
              <a:gd name="T46" fmla="*/ 0 w 636"/>
              <a:gd name="T47" fmla="*/ 38 h 51"/>
              <a:gd name="T48" fmla="*/ 0 w 636"/>
              <a:gd name="T49" fmla="*/ 44 h 51"/>
              <a:gd name="T50" fmla="*/ 0 w 636"/>
              <a:gd name="T51" fmla="*/ 51 h 51"/>
              <a:gd name="T52" fmla="*/ 4 w 636"/>
              <a:gd name="T53" fmla="*/ 48 h 51"/>
              <a:gd name="T54" fmla="*/ 4 w 636"/>
              <a:gd name="T55" fmla="*/ 41 h 51"/>
              <a:gd name="T56" fmla="*/ 4 w 636"/>
              <a:gd name="T57" fmla="*/ 34 h 51"/>
              <a:gd name="T58" fmla="*/ 4 w 636"/>
              <a:gd name="T59" fmla="*/ 28 h 51"/>
              <a:gd name="T60" fmla="*/ 4 w 636"/>
              <a:gd name="T61" fmla="*/ 21 h 51"/>
              <a:gd name="T62" fmla="*/ 4 w 636"/>
              <a:gd name="T63" fmla="*/ 14 h 51"/>
              <a:gd name="T64" fmla="*/ 4 w 636"/>
              <a:gd name="T65" fmla="*/ 9 h 51"/>
              <a:gd name="T66" fmla="*/ 4 w 636"/>
              <a:gd name="T67" fmla="*/ 3 h 51"/>
              <a:gd name="T68" fmla="*/ 2 w 6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6" h="51">
                <a:moveTo>
                  <a:pt x="636" y="24"/>
                </a:moveTo>
                <a:lnTo>
                  <a:pt x="636" y="21"/>
                </a:lnTo>
                <a:lnTo>
                  <a:pt x="636" y="18"/>
                </a:lnTo>
                <a:lnTo>
                  <a:pt x="636" y="14"/>
                </a:lnTo>
                <a:lnTo>
                  <a:pt x="636" y="11"/>
                </a:lnTo>
                <a:lnTo>
                  <a:pt x="636" y="9"/>
                </a:lnTo>
                <a:lnTo>
                  <a:pt x="636" y="6"/>
                </a:lnTo>
                <a:lnTo>
                  <a:pt x="636" y="3"/>
                </a:lnTo>
                <a:lnTo>
                  <a:pt x="636" y="0"/>
                </a:lnTo>
                <a:lnTo>
                  <a:pt x="633" y="0"/>
                </a:lnTo>
                <a:lnTo>
                  <a:pt x="633" y="3"/>
                </a:lnTo>
                <a:lnTo>
                  <a:pt x="633" y="6"/>
                </a:lnTo>
                <a:lnTo>
                  <a:pt x="633" y="9"/>
                </a:lnTo>
                <a:lnTo>
                  <a:pt x="633" y="11"/>
                </a:lnTo>
                <a:lnTo>
                  <a:pt x="633" y="14"/>
                </a:lnTo>
                <a:lnTo>
                  <a:pt x="633" y="18"/>
                </a:lnTo>
                <a:lnTo>
                  <a:pt x="633" y="21"/>
                </a:lnTo>
                <a:lnTo>
                  <a:pt x="633" y="24"/>
                </a:lnTo>
                <a:lnTo>
                  <a:pt x="633" y="28"/>
                </a:lnTo>
                <a:lnTo>
                  <a:pt x="633" y="31"/>
                </a:lnTo>
                <a:lnTo>
                  <a:pt x="633" y="34"/>
                </a:lnTo>
                <a:lnTo>
                  <a:pt x="633" y="38"/>
                </a:lnTo>
                <a:lnTo>
                  <a:pt x="633" y="41"/>
                </a:lnTo>
                <a:lnTo>
                  <a:pt x="633" y="44"/>
                </a:lnTo>
                <a:lnTo>
                  <a:pt x="633" y="48"/>
                </a:lnTo>
                <a:lnTo>
                  <a:pt x="633" y="51"/>
                </a:lnTo>
                <a:lnTo>
                  <a:pt x="636" y="51"/>
                </a:lnTo>
                <a:lnTo>
                  <a:pt x="636" y="48"/>
                </a:lnTo>
                <a:lnTo>
                  <a:pt x="636" y="44"/>
                </a:lnTo>
                <a:lnTo>
                  <a:pt x="636" y="41"/>
                </a:lnTo>
                <a:lnTo>
                  <a:pt x="636" y="38"/>
                </a:lnTo>
                <a:lnTo>
                  <a:pt x="636" y="34"/>
                </a:lnTo>
                <a:lnTo>
                  <a:pt x="636" y="31"/>
                </a:lnTo>
                <a:lnTo>
                  <a:pt x="636" y="28"/>
                </a:lnTo>
                <a:lnTo>
                  <a:pt x="63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60" name="Freeform 1465">
            <a:extLst>
              <a:ext uri="{FF2B5EF4-FFF2-40B4-BE49-F238E27FC236}">
                <a16:creationId xmlns:a16="http://schemas.microsoft.com/office/drawing/2014/main" id="{E3C23F11-ED99-EFC7-45A9-D17634E223C4}"/>
              </a:ext>
            </a:extLst>
          </p:cNvPr>
          <p:cNvSpPr>
            <a:spLocks noEditPoints="1"/>
          </p:cNvSpPr>
          <p:nvPr/>
        </p:nvSpPr>
        <p:spPr bwMode="auto">
          <a:xfrm>
            <a:off x="2055813" y="2719388"/>
            <a:ext cx="1003300" cy="80963"/>
          </a:xfrm>
          <a:custGeom>
            <a:avLst/>
            <a:gdLst>
              <a:gd name="T0" fmla="*/ 632 w 632"/>
              <a:gd name="T1" fmla="*/ 21 h 51"/>
              <a:gd name="T2" fmla="*/ 632 w 632"/>
              <a:gd name="T3" fmla="*/ 14 h 51"/>
              <a:gd name="T4" fmla="*/ 632 w 632"/>
              <a:gd name="T5" fmla="*/ 9 h 51"/>
              <a:gd name="T6" fmla="*/ 632 w 632"/>
              <a:gd name="T7" fmla="*/ 3 h 51"/>
              <a:gd name="T8" fmla="*/ 629 w 632"/>
              <a:gd name="T9" fmla="*/ 0 h 51"/>
              <a:gd name="T10" fmla="*/ 629 w 632"/>
              <a:gd name="T11" fmla="*/ 6 h 51"/>
              <a:gd name="T12" fmla="*/ 629 w 632"/>
              <a:gd name="T13" fmla="*/ 11 h 51"/>
              <a:gd name="T14" fmla="*/ 629 w 632"/>
              <a:gd name="T15" fmla="*/ 18 h 51"/>
              <a:gd name="T16" fmla="*/ 629 w 632"/>
              <a:gd name="T17" fmla="*/ 24 h 51"/>
              <a:gd name="T18" fmla="*/ 629 w 632"/>
              <a:gd name="T19" fmla="*/ 31 h 51"/>
              <a:gd name="T20" fmla="*/ 629 w 632"/>
              <a:gd name="T21" fmla="*/ 38 h 51"/>
              <a:gd name="T22" fmla="*/ 629 w 632"/>
              <a:gd name="T23" fmla="*/ 44 h 51"/>
              <a:gd name="T24" fmla="*/ 629 w 632"/>
              <a:gd name="T25" fmla="*/ 51 h 51"/>
              <a:gd name="T26" fmla="*/ 632 w 632"/>
              <a:gd name="T27" fmla="*/ 48 h 51"/>
              <a:gd name="T28" fmla="*/ 632 w 632"/>
              <a:gd name="T29" fmla="*/ 41 h 51"/>
              <a:gd name="T30" fmla="*/ 632 w 632"/>
              <a:gd name="T31" fmla="*/ 34 h 51"/>
              <a:gd name="T32" fmla="*/ 632 w 632"/>
              <a:gd name="T33" fmla="*/ 28 h 51"/>
              <a:gd name="T34" fmla="*/ 2 w 632"/>
              <a:gd name="T35" fmla="*/ 0 h 51"/>
              <a:gd name="T36" fmla="*/ 0 w 632"/>
              <a:gd name="T37" fmla="*/ 6 h 51"/>
              <a:gd name="T38" fmla="*/ 0 w 632"/>
              <a:gd name="T39" fmla="*/ 11 h 51"/>
              <a:gd name="T40" fmla="*/ 0 w 632"/>
              <a:gd name="T41" fmla="*/ 18 h 51"/>
              <a:gd name="T42" fmla="*/ 0 w 632"/>
              <a:gd name="T43" fmla="*/ 24 h 51"/>
              <a:gd name="T44" fmla="*/ 0 w 632"/>
              <a:gd name="T45" fmla="*/ 31 h 51"/>
              <a:gd name="T46" fmla="*/ 0 w 632"/>
              <a:gd name="T47" fmla="*/ 38 h 51"/>
              <a:gd name="T48" fmla="*/ 0 w 632"/>
              <a:gd name="T49" fmla="*/ 44 h 51"/>
              <a:gd name="T50" fmla="*/ 0 w 632"/>
              <a:gd name="T51" fmla="*/ 51 h 51"/>
              <a:gd name="T52" fmla="*/ 3 w 632"/>
              <a:gd name="T53" fmla="*/ 48 h 51"/>
              <a:gd name="T54" fmla="*/ 3 w 632"/>
              <a:gd name="T55" fmla="*/ 41 h 51"/>
              <a:gd name="T56" fmla="*/ 3 w 632"/>
              <a:gd name="T57" fmla="*/ 34 h 51"/>
              <a:gd name="T58" fmla="*/ 3 w 632"/>
              <a:gd name="T59" fmla="*/ 28 h 51"/>
              <a:gd name="T60" fmla="*/ 3 w 632"/>
              <a:gd name="T61" fmla="*/ 21 h 51"/>
              <a:gd name="T62" fmla="*/ 3 w 632"/>
              <a:gd name="T63" fmla="*/ 14 h 51"/>
              <a:gd name="T64" fmla="*/ 3 w 632"/>
              <a:gd name="T65" fmla="*/ 9 h 51"/>
              <a:gd name="T66" fmla="*/ 3 w 632"/>
              <a:gd name="T67" fmla="*/ 3 h 51"/>
              <a:gd name="T68" fmla="*/ 2 w 6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2" h="51">
                <a:moveTo>
                  <a:pt x="632" y="24"/>
                </a:moveTo>
                <a:lnTo>
                  <a:pt x="632" y="21"/>
                </a:lnTo>
                <a:lnTo>
                  <a:pt x="632" y="18"/>
                </a:lnTo>
                <a:lnTo>
                  <a:pt x="632" y="14"/>
                </a:lnTo>
                <a:lnTo>
                  <a:pt x="632" y="11"/>
                </a:lnTo>
                <a:lnTo>
                  <a:pt x="632" y="9"/>
                </a:lnTo>
                <a:lnTo>
                  <a:pt x="632" y="6"/>
                </a:lnTo>
                <a:lnTo>
                  <a:pt x="632" y="3"/>
                </a:lnTo>
                <a:lnTo>
                  <a:pt x="632" y="0"/>
                </a:lnTo>
                <a:lnTo>
                  <a:pt x="629" y="0"/>
                </a:lnTo>
                <a:lnTo>
                  <a:pt x="629" y="3"/>
                </a:lnTo>
                <a:lnTo>
                  <a:pt x="629" y="6"/>
                </a:lnTo>
                <a:lnTo>
                  <a:pt x="629" y="9"/>
                </a:lnTo>
                <a:lnTo>
                  <a:pt x="629" y="11"/>
                </a:lnTo>
                <a:lnTo>
                  <a:pt x="629" y="14"/>
                </a:lnTo>
                <a:lnTo>
                  <a:pt x="629" y="18"/>
                </a:lnTo>
                <a:lnTo>
                  <a:pt x="629" y="21"/>
                </a:lnTo>
                <a:lnTo>
                  <a:pt x="629" y="24"/>
                </a:lnTo>
                <a:lnTo>
                  <a:pt x="629" y="28"/>
                </a:lnTo>
                <a:lnTo>
                  <a:pt x="629" y="31"/>
                </a:lnTo>
                <a:lnTo>
                  <a:pt x="629" y="34"/>
                </a:lnTo>
                <a:lnTo>
                  <a:pt x="629" y="38"/>
                </a:lnTo>
                <a:lnTo>
                  <a:pt x="629" y="41"/>
                </a:lnTo>
                <a:lnTo>
                  <a:pt x="629" y="44"/>
                </a:lnTo>
                <a:lnTo>
                  <a:pt x="629" y="48"/>
                </a:lnTo>
                <a:lnTo>
                  <a:pt x="629" y="51"/>
                </a:lnTo>
                <a:lnTo>
                  <a:pt x="632" y="51"/>
                </a:lnTo>
                <a:lnTo>
                  <a:pt x="632" y="48"/>
                </a:lnTo>
                <a:lnTo>
                  <a:pt x="632" y="44"/>
                </a:lnTo>
                <a:lnTo>
                  <a:pt x="632" y="41"/>
                </a:lnTo>
                <a:lnTo>
                  <a:pt x="632" y="38"/>
                </a:lnTo>
                <a:lnTo>
                  <a:pt x="632" y="34"/>
                </a:lnTo>
                <a:lnTo>
                  <a:pt x="632" y="31"/>
                </a:lnTo>
                <a:lnTo>
                  <a:pt x="632" y="28"/>
                </a:lnTo>
                <a:lnTo>
                  <a:pt x="63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61" name="Freeform 1466">
            <a:extLst>
              <a:ext uri="{FF2B5EF4-FFF2-40B4-BE49-F238E27FC236}">
                <a16:creationId xmlns:a16="http://schemas.microsoft.com/office/drawing/2014/main" id="{FFEB4374-FB21-AB13-750D-5992AD073FC8}"/>
              </a:ext>
            </a:extLst>
          </p:cNvPr>
          <p:cNvSpPr>
            <a:spLocks noEditPoints="1"/>
          </p:cNvSpPr>
          <p:nvPr/>
        </p:nvSpPr>
        <p:spPr bwMode="auto">
          <a:xfrm>
            <a:off x="2058988" y="2719388"/>
            <a:ext cx="998538" cy="80963"/>
          </a:xfrm>
          <a:custGeom>
            <a:avLst/>
            <a:gdLst>
              <a:gd name="T0" fmla="*/ 629 w 629"/>
              <a:gd name="T1" fmla="*/ 21 h 51"/>
              <a:gd name="T2" fmla="*/ 629 w 629"/>
              <a:gd name="T3" fmla="*/ 14 h 51"/>
              <a:gd name="T4" fmla="*/ 629 w 629"/>
              <a:gd name="T5" fmla="*/ 9 h 51"/>
              <a:gd name="T6" fmla="*/ 629 w 629"/>
              <a:gd name="T7" fmla="*/ 3 h 51"/>
              <a:gd name="T8" fmla="*/ 626 w 629"/>
              <a:gd name="T9" fmla="*/ 0 h 51"/>
              <a:gd name="T10" fmla="*/ 626 w 629"/>
              <a:gd name="T11" fmla="*/ 6 h 51"/>
              <a:gd name="T12" fmla="*/ 626 w 629"/>
              <a:gd name="T13" fmla="*/ 11 h 51"/>
              <a:gd name="T14" fmla="*/ 626 w 629"/>
              <a:gd name="T15" fmla="*/ 18 h 51"/>
              <a:gd name="T16" fmla="*/ 626 w 629"/>
              <a:gd name="T17" fmla="*/ 24 h 51"/>
              <a:gd name="T18" fmla="*/ 626 w 629"/>
              <a:gd name="T19" fmla="*/ 31 h 51"/>
              <a:gd name="T20" fmla="*/ 626 w 629"/>
              <a:gd name="T21" fmla="*/ 38 h 51"/>
              <a:gd name="T22" fmla="*/ 626 w 629"/>
              <a:gd name="T23" fmla="*/ 44 h 51"/>
              <a:gd name="T24" fmla="*/ 626 w 629"/>
              <a:gd name="T25" fmla="*/ 51 h 51"/>
              <a:gd name="T26" fmla="*/ 629 w 629"/>
              <a:gd name="T27" fmla="*/ 48 h 51"/>
              <a:gd name="T28" fmla="*/ 629 w 629"/>
              <a:gd name="T29" fmla="*/ 41 h 51"/>
              <a:gd name="T30" fmla="*/ 629 w 629"/>
              <a:gd name="T31" fmla="*/ 34 h 51"/>
              <a:gd name="T32" fmla="*/ 629 w 629"/>
              <a:gd name="T33" fmla="*/ 28 h 51"/>
              <a:gd name="T34" fmla="*/ 1 w 629"/>
              <a:gd name="T35" fmla="*/ 0 h 51"/>
              <a:gd name="T36" fmla="*/ 0 w 629"/>
              <a:gd name="T37" fmla="*/ 6 h 51"/>
              <a:gd name="T38" fmla="*/ 0 w 629"/>
              <a:gd name="T39" fmla="*/ 11 h 51"/>
              <a:gd name="T40" fmla="*/ 0 w 629"/>
              <a:gd name="T41" fmla="*/ 18 h 51"/>
              <a:gd name="T42" fmla="*/ 0 w 629"/>
              <a:gd name="T43" fmla="*/ 24 h 51"/>
              <a:gd name="T44" fmla="*/ 0 w 629"/>
              <a:gd name="T45" fmla="*/ 31 h 51"/>
              <a:gd name="T46" fmla="*/ 0 w 629"/>
              <a:gd name="T47" fmla="*/ 38 h 51"/>
              <a:gd name="T48" fmla="*/ 0 w 629"/>
              <a:gd name="T49" fmla="*/ 44 h 51"/>
              <a:gd name="T50" fmla="*/ 0 w 629"/>
              <a:gd name="T51" fmla="*/ 51 h 51"/>
              <a:gd name="T52" fmla="*/ 3 w 629"/>
              <a:gd name="T53" fmla="*/ 48 h 51"/>
              <a:gd name="T54" fmla="*/ 3 w 629"/>
              <a:gd name="T55" fmla="*/ 41 h 51"/>
              <a:gd name="T56" fmla="*/ 3 w 629"/>
              <a:gd name="T57" fmla="*/ 34 h 51"/>
              <a:gd name="T58" fmla="*/ 3 w 629"/>
              <a:gd name="T59" fmla="*/ 28 h 51"/>
              <a:gd name="T60" fmla="*/ 3 w 629"/>
              <a:gd name="T61" fmla="*/ 21 h 51"/>
              <a:gd name="T62" fmla="*/ 3 w 629"/>
              <a:gd name="T63" fmla="*/ 14 h 51"/>
              <a:gd name="T64" fmla="*/ 3 w 629"/>
              <a:gd name="T65" fmla="*/ 9 h 51"/>
              <a:gd name="T66" fmla="*/ 3 w 629"/>
              <a:gd name="T67" fmla="*/ 3 h 51"/>
              <a:gd name="T68" fmla="*/ 1 w 62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9" h="51">
                <a:moveTo>
                  <a:pt x="629" y="24"/>
                </a:moveTo>
                <a:lnTo>
                  <a:pt x="629" y="21"/>
                </a:lnTo>
                <a:lnTo>
                  <a:pt x="629" y="18"/>
                </a:lnTo>
                <a:lnTo>
                  <a:pt x="629" y="14"/>
                </a:lnTo>
                <a:lnTo>
                  <a:pt x="629" y="11"/>
                </a:lnTo>
                <a:lnTo>
                  <a:pt x="629" y="9"/>
                </a:lnTo>
                <a:lnTo>
                  <a:pt x="629" y="6"/>
                </a:lnTo>
                <a:lnTo>
                  <a:pt x="629" y="3"/>
                </a:lnTo>
                <a:lnTo>
                  <a:pt x="629" y="0"/>
                </a:lnTo>
                <a:lnTo>
                  <a:pt x="626" y="0"/>
                </a:lnTo>
                <a:lnTo>
                  <a:pt x="626" y="3"/>
                </a:lnTo>
                <a:lnTo>
                  <a:pt x="626" y="6"/>
                </a:lnTo>
                <a:lnTo>
                  <a:pt x="626" y="9"/>
                </a:lnTo>
                <a:lnTo>
                  <a:pt x="626" y="11"/>
                </a:lnTo>
                <a:lnTo>
                  <a:pt x="626" y="14"/>
                </a:lnTo>
                <a:lnTo>
                  <a:pt x="626" y="18"/>
                </a:lnTo>
                <a:lnTo>
                  <a:pt x="626" y="21"/>
                </a:lnTo>
                <a:lnTo>
                  <a:pt x="626" y="24"/>
                </a:lnTo>
                <a:lnTo>
                  <a:pt x="626" y="28"/>
                </a:lnTo>
                <a:lnTo>
                  <a:pt x="626" y="31"/>
                </a:lnTo>
                <a:lnTo>
                  <a:pt x="626" y="34"/>
                </a:lnTo>
                <a:lnTo>
                  <a:pt x="626" y="38"/>
                </a:lnTo>
                <a:lnTo>
                  <a:pt x="626" y="41"/>
                </a:lnTo>
                <a:lnTo>
                  <a:pt x="626" y="44"/>
                </a:lnTo>
                <a:lnTo>
                  <a:pt x="626" y="48"/>
                </a:lnTo>
                <a:lnTo>
                  <a:pt x="626" y="51"/>
                </a:lnTo>
                <a:lnTo>
                  <a:pt x="629" y="51"/>
                </a:lnTo>
                <a:lnTo>
                  <a:pt x="629" y="48"/>
                </a:lnTo>
                <a:lnTo>
                  <a:pt x="629" y="44"/>
                </a:lnTo>
                <a:lnTo>
                  <a:pt x="629" y="41"/>
                </a:lnTo>
                <a:lnTo>
                  <a:pt x="629" y="38"/>
                </a:lnTo>
                <a:lnTo>
                  <a:pt x="629" y="34"/>
                </a:lnTo>
                <a:lnTo>
                  <a:pt x="629" y="31"/>
                </a:lnTo>
                <a:lnTo>
                  <a:pt x="629" y="28"/>
                </a:lnTo>
                <a:lnTo>
                  <a:pt x="62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4" y="0"/>
                </a:lnTo>
                <a:lnTo>
                  <a:pt x="1"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62" name="Freeform 1467">
            <a:extLst>
              <a:ext uri="{FF2B5EF4-FFF2-40B4-BE49-F238E27FC236}">
                <a16:creationId xmlns:a16="http://schemas.microsoft.com/office/drawing/2014/main" id="{7021AEB3-C8D0-EB64-0AA0-A8E0370FA8A7}"/>
              </a:ext>
            </a:extLst>
          </p:cNvPr>
          <p:cNvSpPr>
            <a:spLocks noEditPoints="1"/>
          </p:cNvSpPr>
          <p:nvPr/>
        </p:nvSpPr>
        <p:spPr bwMode="auto">
          <a:xfrm>
            <a:off x="2060575" y="2719388"/>
            <a:ext cx="993775" cy="80963"/>
          </a:xfrm>
          <a:custGeom>
            <a:avLst/>
            <a:gdLst>
              <a:gd name="T0" fmla="*/ 626 w 626"/>
              <a:gd name="T1" fmla="*/ 21 h 51"/>
              <a:gd name="T2" fmla="*/ 626 w 626"/>
              <a:gd name="T3" fmla="*/ 14 h 51"/>
              <a:gd name="T4" fmla="*/ 626 w 626"/>
              <a:gd name="T5" fmla="*/ 9 h 51"/>
              <a:gd name="T6" fmla="*/ 626 w 626"/>
              <a:gd name="T7" fmla="*/ 3 h 51"/>
              <a:gd name="T8" fmla="*/ 623 w 626"/>
              <a:gd name="T9" fmla="*/ 0 h 51"/>
              <a:gd name="T10" fmla="*/ 623 w 626"/>
              <a:gd name="T11" fmla="*/ 6 h 51"/>
              <a:gd name="T12" fmla="*/ 623 w 626"/>
              <a:gd name="T13" fmla="*/ 11 h 51"/>
              <a:gd name="T14" fmla="*/ 623 w 626"/>
              <a:gd name="T15" fmla="*/ 18 h 51"/>
              <a:gd name="T16" fmla="*/ 623 w 626"/>
              <a:gd name="T17" fmla="*/ 24 h 51"/>
              <a:gd name="T18" fmla="*/ 623 w 626"/>
              <a:gd name="T19" fmla="*/ 31 h 51"/>
              <a:gd name="T20" fmla="*/ 623 w 626"/>
              <a:gd name="T21" fmla="*/ 38 h 51"/>
              <a:gd name="T22" fmla="*/ 623 w 626"/>
              <a:gd name="T23" fmla="*/ 44 h 51"/>
              <a:gd name="T24" fmla="*/ 623 w 626"/>
              <a:gd name="T25" fmla="*/ 51 h 51"/>
              <a:gd name="T26" fmla="*/ 626 w 626"/>
              <a:gd name="T27" fmla="*/ 48 h 51"/>
              <a:gd name="T28" fmla="*/ 626 w 626"/>
              <a:gd name="T29" fmla="*/ 41 h 51"/>
              <a:gd name="T30" fmla="*/ 626 w 626"/>
              <a:gd name="T31" fmla="*/ 34 h 51"/>
              <a:gd name="T32" fmla="*/ 626 w 626"/>
              <a:gd name="T33" fmla="*/ 28 h 51"/>
              <a:gd name="T34" fmla="*/ 2 w 626"/>
              <a:gd name="T35" fmla="*/ 0 h 51"/>
              <a:gd name="T36" fmla="*/ 0 w 626"/>
              <a:gd name="T37" fmla="*/ 6 h 51"/>
              <a:gd name="T38" fmla="*/ 0 w 626"/>
              <a:gd name="T39" fmla="*/ 11 h 51"/>
              <a:gd name="T40" fmla="*/ 0 w 626"/>
              <a:gd name="T41" fmla="*/ 18 h 51"/>
              <a:gd name="T42" fmla="*/ 0 w 626"/>
              <a:gd name="T43" fmla="*/ 24 h 51"/>
              <a:gd name="T44" fmla="*/ 0 w 626"/>
              <a:gd name="T45" fmla="*/ 31 h 51"/>
              <a:gd name="T46" fmla="*/ 0 w 626"/>
              <a:gd name="T47" fmla="*/ 38 h 51"/>
              <a:gd name="T48" fmla="*/ 0 w 626"/>
              <a:gd name="T49" fmla="*/ 44 h 51"/>
              <a:gd name="T50" fmla="*/ 0 w 626"/>
              <a:gd name="T51" fmla="*/ 51 h 51"/>
              <a:gd name="T52" fmla="*/ 3 w 626"/>
              <a:gd name="T53" fmla="*/ 48 h 51"/>
              <a:gd name="T54" fmla="*/ 3 w 626"/>
              <a:gd name="T55" fmla="*/ 41 h 51"/>
              <a:gd name="T56" fmla="*/ 3 w 626"/>
              <a:gd name="T57" fmla="*/ 34 h 51"/>
              <a:gd name="T58" fmla="*/ 3 w 626"/>
              <a:gd name="T59" fmla="*/ 28 h 51"/>
              <a:gd name="T60" fmla="*/ 3 w 626"/>
              <a:gd name="T61" fmla="*/ 21 h 51"/>
              <a:gd name="T62" fmla="*/ 3 w 626"/>
              <a:gd name="T63" fmla="*/ 14 h 51"/>
              <a:gd name="T64" fmla="*/ 3 w 626"/>
              <a:gd name="T65" fmla="*/ 9 h 51"/>
              <a:gd name="T66" fmla="*/ 3 w 626"/>
              <a:gd name="T67" fmla="*/ 3 h 51"/>
              <a:gd name="T68" fmla="*/ 2 w 62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6" h="51">
                <a:moveTo>
                  <a:pt x="626" y="24"/>
                </a:moveTo>
                <a:lnTo>
                  <a:pt x="626" y="21"/>
                </a:lnTo>
                <a:lnTo>
                  <a:pt x="626" y="18"/>
                </a:lnTo>
                <a:lnTo>
                  <a:pt x="626" y="14"/>
                </a:lnTo>
                <a:lnTo>
                  <a:pt x="626" y="11"/>
                </a:lnTo>
                <a:lnTo>
                  <a:pt x="626" y="9"/>
                </a:lnTo>
                <a:lnTo>
                  <a:pt x="626" y="6"/>
                </a:lnTo>
                <a:lnTo>
                  <a:pt x="626" y="3"/>
                </a:lnTo>
                <a:lnTo>
                  <a:pt x="626" y="0"/>
                </a:lnTo>
                <a:lnTo>
                  <a:pt x="623" y="0"/>
                </a:lnTo>
                <a:lnTo>
                  <a:pt x="623" y="3"/>
                </a:lnTo>
                <a:lnTo>
                  <a:pt x="623" y="6"/>
                </a:lnTo>
                <a:lnTo>
                  <a:pt x="623" y="9"/>
                </a:lnTo>
                <a:lnTo>
                  <a:pt x="623" y="11"/>
                </a:lnTo>
                <a:lnTo>
                  <a:pt x="623" y="14"/>
                </a:lnTo>
                <a:lnTo>
                  <a:pt x="623" y="18"/>
                </a:lnTo>
                <a:lnTo>
                  <a:pt x="623" y="21"/>
                </a:lnTo>
                <a:lnTo>
                  <a:pt x="623" y="24"/>
                </a:lnTo>
                <a:lnTo>
                  <a:pt x="623" y="28"/>
                </a:lnTo>
                <a:lnTo>
                  <a:pt x="623" y="31"/>
                </a:lnTo>
                <a:lnTo>
                  <a:pt x="623" y="34"/>
                </a:lnTo>
                <a:lnTo>
                  <a:pt x="623" y="38"/>
                </a:lnTo>
                <a:lnTo>
                  <a:pt x="623" y="41"/>
                </a:lnTo>
                <a:lnTo>
                  <a:pt x="623" y="44"/>
                </a:lnTo>
                <a:lnTo>
                  <a:pt x="623" y="48"/>
                </a:lnTo>
                <a:lnTo>
                  <a:pt x="623" y="51"/>
                </a:lnTo>
                <a:lnTo>
                  <a:pt x="626" y="51"/>
                </a:lnTo>
                <a:lnTo>
                  <a:pt x="626" y="48"/>
                </a:lnTo>
                <a:lnTo>
                  <a:pt x="626" y="44"/>
                </a:lnTo>
                <a:lnTo>
                  <a:pt x="626" y="41"/>
                </a:lnTo>
                <a:lnTo>
                  <a:pt x="626" y="38"/>
                </a:lnTo>
                <a:lnTo>
                  <a:pt x="626" y="34"/>
                </a:lnTo>
                <a:lnTo>
                  <a:pt x="626" y="31"/>
                </a:lnTo>
                <a:lnTo>
                  <a:pt x="626" y="28"/>
                </a:lnTo>
                <a:lnTo>
                  <a:pt x="62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63" name="Freeform 1468">
            <a:extLst>
              <a:ext uri="{FF2B5EF4-FFF2-40B4-BE49-F238E27FC236}">
                <a16:creationId xmlns:a16="http://schemas.microsoft.com/office/drawing/2014/main" id="{0647F913-F164-69BA-D069-B4968F92C086}"/>
              </a:ext>
            </a:extLst>
          </p:cNvPr>
          <p:cNvSpPr>
            <a:spLocks noEditPoints="1"/>
          </p:cNvSpPr>
          <p:nvPr/>
        </p:nvSpPr>
        <p:spPr bwMode="auto">
          <a:xfrm>
            <a:off x="2063750" y="2719388"/>
            <a:ext cx="989013" cy="80963"/>
          </a:xfrm>
          <a:custGeom>
            <a:avLst/>
            <a:gdLst>
              <a:gd name="T0" fmla="*/ 623 w 623"/>
              <a:gd name="T1" fmla="*/ 21 h 51"/>
              <a:gd name="T2" fmla="*/ 623 w 623"/>
              <a:gd name="T3" fmla="*/ 14 h 51"/>
              <a:gd name="T4" fmla="*/ 623 w 623"/>
              <a:gd name="T5" fmla="*/ 9 h 51"/>
              <a:gd name="T6" fmla="*/ 623 w 623"/>
              <a:gd name="T7" fmla="*/ 3 h 51"/>
              <a:gd name="T8" fmla="*/ 619 w 623"/>
              <a:gd name="T9" fmla="*/ 0 h 51"/>
              <a:gd name="T10" fmla="*/ 619 w 623"/>
              <a:gd name="T11" fmla="*/ 6 h 51"/>
              <a:gd name="T12" fmla="*/ 619 w 623"/>
              <a:gd name="T13" fmla="*/ 11 h 51"/>
              <a:gd name="T14" fmla="*/ 619 w 623"/>
              <a:gd name="T15" fmla="*/ 18 h 51"/>
              <a:gd name="T16" fmla="*/ 619 w 623"/>
              <a:gd name="T17" fmla="*/ 24 h 51"/>
              <a:gd name="T18" fmla="*/ 619 w 623"/>
              <a:gd name="T19" fmla="*/ 31 h 51"/>
              <a:gd name="T20" fmla="*/ 619 w 623"/>
              <a:gd name="T21" fmla="*/ 38 h 51"/>
              <a:gd name="T22" fmla="*/ 619 w 623"/>
              <a:gd name="T23" fmla="*/ 44 h 51"/>
              <a:gd name="T24" fmla="*/ 619 w 623"/>
              <a:gd name="T25" fmla="*/ 51 h 51"/>
              <a:gd name="T26" fmla="*/ 623 w 623"/>
              <a:gd name="T27" fmla="*/ 48 h 51"/>
              <a:gd name="T28" fmla="*/ 623 w 623"/>
              <a:gd name="T29" fmla="*/ 41 h 51"/>
              <a:gd name="T30" fmla="*/ 623 w 623"/>
              <a:gd name="T31" fmla="*/ 34 h 51"/>
              <a:gd name="T32" fmla="*/ 623 w 623"/>
              <a:gd name="T33" fmla="*/ 28 h 51"/>
              <a:gd name="T34" fmla="*/ 1 w 623"/>
              <a:gd name="T35" fmla="*/ 0 h 51"/>
              <a:gd name="T36" fmla="*/ 0 w 623"/>
              <a:gd name="T37" fmla="*/ 6 h 51"/>
              <a:gd name="T38" fmla="*/ 0 w 623"/>
              <a:gd name="T39" fmla="*/ 11 h 51"/>
              <a:gd name="T40" fmla="*/ 0 w 623"/>
              <a:gd name="T41" fmla="*/ 18 h 51"/>
              <a:gd name="T42" fmla="*/ 0 w 623"/>
              <a:gd name="T43" fmla="*/ 24 h 51"/>
              <a:gd name="T44" fmla="*/ 0 w 623"/>
              <a:gd name="T45" fmla="*/ 31 h 51"/>
              <a:gd name="T46" fmla="*/ 0 w 623"/>
              <a:gd name="T47" fmla="*/ 38 h 51"/>
              <a:gd name="T48" fmla="*/ 0 w 623"/>
              <a:gd name="T49" fmla="*/ 44 h 51"/>
              <a:gd name="T50" fmla="*/ 0 w 623"/>
              <a:gd name="T51" fmla="*/ 51 h 51"/>
              <a:gd name="T52" fmla="*/ 3 w 623"/>
              <a:gd name="T53" fmla="*/ 48 h 51"/>
              <a:gd name="T54" fmla="*/ 3 w 623"/>
              <a:gd name="T55" fmla="*/ 41 h 51"/>
              <a:gd name="T56" fmla="*/ 3 w 623"/>
              <a:gd name="T57" fmla="*/ 34 h 51"/>
              <a:gd name="T58" fmla="*/ 3 w 623"/>
              <a:gd name="T59" fmla="*/ 28 h 51"/>
              <a:gd name="T60" fmla="*/ 3 w 623"/>
              <a:gd name="T61" fmla="*/ 21 h 51"/>
              <a:gd name="T62" fmla="*/ 3 w 623"/>
              <a:gd name="T63" fmla="*/ 14 h 51"/>
              <a:gd name="T64" fmla="*/ 3 w 623"/>
              <a:gd name="T65" fmla="*/ 9 h 51"/>
              <a:gd name="T66" fmla="*/ 3 w 623"/>
              <a:gd name="T67" fmla="*/ 3 h 51"/>
              <a:gd name="T68" fmla="*/ 1 w 62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3" h="51">
                <a:moveTo>
                  <a:pt x="623" y="24"/>
                </a:moveTo>
                <a:lnTo>
                  <a:pt x="623" y="21"/>
                </a:lnTo>
                <a:lnTo>
                  <a:pt x="623" y="18"/>
                </a:lnTo>
                <a:lnTo>
                  <a:pt x="623" y="14"/>
                </a:lnTo>
                <a:lnTo>
                  <a:pt x="623" y="11"/>
                </a:lnTo>
                <a:lnTo>
                  <a:pt x="623" y="9"/>
                </a:lnTo>
                <a:lnTo>
                  <a:pt x="623" y="6"/>
                </a:lnTo>
                <a:lnTo>
                  <a:pt x="623" y="3"/>
                </a:lnTo>
                <a:lnTo>
                  <a:pt x="623" y="0"/>
                </a:lnTo>
                <a:lnTo>
                  <a:pt x="619" y="0"/>
                </a:lnTo>
                <a:lnTo>
                  <a:pt x="619" y="3"/>
                </a:lnTo>
                <a:lnTo>
                  <a:pt x="619" y="6"/>
                </a:lnTo>
                <a:lnTo>
                  <a:pt x="619" y="9"/>
                </a:lnTo>
                <a:lnTo>
                  <a:pt x="619" y="11"/>
                </a:lnTo>
                <a:lnTo>
                  <a:pt x="619" y="14"/>
                </a:lnTo>
                <a:lnTo>
                  <a:pt x="619" y="18"/>
                </a:lnTo>
                <a:lnTo>
                  <a:pt x="619" y="21"/>
                </a:lnTo>
                <a:lnTo>
                  <a:pt x="619" y="24"/>
                </a:lnTo>
                <a:lnTo>
                  <a:pt x="619" y="28"/>
                </a:lnTo>
                <a:lnTo>
                  <a:pt x="619" y="31"/>
                </a:lnTo>
                <a:lnTo>
                  <a:pt x="619" y="34"/>
                </a:lnTo>
                <a:lnTo>
                  <a:pt x="619" y="38"/>
                </a:lnTo>
                <a:lnTo>
                  <a:pt x="619" y="41"/>
                </a:lnTo>
                <a:lnTo>
                  <a:pt x="619" y="44"/>
                </a:lnTo>
                <a:lnTo>
                  <a:pt x="619" y="48"/>
                </a:lnTo>
                <a:lnTo>
                  <a:pt x="619" y="51"/>
                </a:lnTo>
                <a:lnTo>
                  <a:pt x="623" y="51"/>
                </a:lnTo>
                <a:lnTo>
                  <a:pt x="623" y="48"/>
                </a:lnTo>
                <a:lnTo>
                  <a:pt x="623" y="44"/>
                </a:lnTo>
                <a:lnTo>
                  <a:pt x="623" y="41"/>
                </a:lnTo>
                <a:lnTo>
                  <a:pt x="623" y="38"/>
                </a:lnTo>
                <a:lnTo>
                  <a:pt x="623" y="34"/>
                </a:lnTo>
                <a:lnTo>
                  <a:pt x="623" y="31"/>
                </a:lnTo>
                <a:lnTo>
                  <a:pt x="623" y="28"/>
                </a:lnTo>
                <a:lnTo>
                  <a:pt x="62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64" name="Freeform 1469">
            <a:extLst>
              <a:ext uri="{FF2B5EF4-FFF2-40B4-BE49-F238E27FC236}">
                <a16:creationId xmlns:a16="http://schemas.microsoft.com/office/drawing/2014/main" id="{268D71DF-B228-54A0-9C61-38012CEBF056}"/>
              </a:ext>
            </a:extLst>
          </p:cNvPr>
          <p:cNvSpPr>
            <a:spLocks noEditPoints="1"/>
          </p:cNvSpPr>
          <p:nvPr/>
        </p:nvSpPr>
        <p:spPr bwMode="auto">
          <a:xfrm>
            <a:off x="2065338" y="2719388"/>
            <a:ext cx="984250" cy="80963"/>
          </a:xfrm>
          <a:custGeom>
            <a:avLst/>
            <a:gdLst>
              <a:gd name="T0" fmla="*/ 620 w 620"/>
              <a:gd name="T1" fmla="*/ 21 h 51"/>
              <a:gd name="T2" fmla="*/ 620 w 620"/>
              <a:gd name="T3" fmla="*/ 14 h 51"/>
              <a:gd name="T4" fmla="*/ 620 w 620"/>
              <a:gd name="T5" fmla="*/ 9 h 51"/>
              <a:gd name="T6" fmla="*/ 620 w 620"/>
              <a:gd name="T7" fmla="*/ 3 h 51"/>
              <a:gd name="T8" fmla="*/ 617 w 620"/>
              <a:gd name="T9" fmla="*/ 0 h 51"/>
              <a:gd name="T10" fmla="*/ 617 w 620"/>
              <a:gd name="T11" fmla="*/ 6 h 51"/>
              <a:gd name="T12" fmla="*/ 617 w 620"/>
              <a:gd name="T13" fmla="*/ 11 h 51"/>
              <a:gd name="T14" fmla="*/ 617 w 620"/>
              <a:gd name="T15" fmla="*/ 18 h 51"/>
              <a:gd name="T16" fmla="*/ 617 w 620"/>
              <a:gd name="T17" fmla="*/ 24 h 51"/>
              <a:gd name="T18" fmla="*/ 617 w 620"/>
              <a:gd name="T19" fmla="*/ 31 h 51"/>
              <a:gd name="T20" fmla="*/ 617 w 620"/>
              <a:gd name="T21" fmla="*/ 38 h 51"/>
              <a:gd name="T22" fmla="*/ 617 w 620"/>
              <a:gd name="T23" fmla="*/ 44 h 51"/>
              <a:gd name="T24" fmla="*/ 617 w 620"/>
              <a:gd name="T25" fmla="*/ 51 h 51"/>
              <a:gd name="T26" fmla="*/ 620 w 620"/>
              <a:gd name="T27" fmla="*/ 48 h 51"/>
              <a:gd name="T28" fmla="*/ 620 w 620"/>
              <a:gd name="T29" fmla="*/ 41 h 51"/>
              <a:gd name="T30" fmla="*/ 620 w 620"/>
              <a:gd name="T31" fmla="*/ 34 h 51"/>
              <a:gd name="T32" fmla="*/ 620 w 620"/>
              <a:gd name="T33" fmla="*/ 28 h 51"/>
              <a:gd name="T34" fmla="*/ 2 w 620"/>
              <a:gd name="T35" fmla="*/ 0 h 51"/>
              <a:gd name="T36" fmla="*/ 0 w 620"/>
              <a:gd name="T37" fmla="*/ 6 h 51"/>
              <a:gd name="T38" fmla="*/ 0 w 620"/>
              <a:gd name="T39" fmla="*/ 11 h 51"/>
              <a:gd name="T40" fmla="*/ 0 w 620"/>
              <a:gd name="T41" fmla="*/ 18 h 51"/>
              <a:gd name="T42" fmla="*/ 0 w 620"/>
              <a:gd name="T43" fmla="*/ 24 h 51"/>
              <a:gd name="T44" fmla="*/ 0 w 620"/>
              <a:gd name="T45" fmla="*/ 31 h 51"/>
              <a:gd name="T46" fmla="*/ 0 w 620"/>
              <a:gd name="T47" fmla="*/ 38 h 51"/>
              <a:gd name="T48" fmla="*/ 0 w 620"/>
              <a:gd name="T49" fmla="*/ 44 h 51"/>
              <a:gd name="T50" fmla="*/ 0 w 620"/>
              <a:gd name="T51" fmla="*/ 51 h 51"/>
              <a:gd name="T52" fmla="*/ 4 w 620"/>
              <a:gd name="T53" fmla="*/ 48 h 51"/>
              <a:gd name="T54" fmla="*/ 4 w 620"/>
              <a:gd name="T55" fmla="*/ 41 h 51"/>
              <a:gd name="T56" fmla="*/ 4 w 620"/>
              <a:gd name="T57" fmla="*/ 34 h 51"/>
              <a:gd name="T58" fmla="*/ 4 w 620"/>
              <a:gd name="T59" fmla="*/ 28 h 51"/>
              <a:gd name="T60" fmla="*/ 4 w 620"/>
              <a:gd name="T61" fmla="*/ 21 h 51"/>
              <a:gd name="T62" fmla="*/ 4 w 620"/>
              <a:gd name="T63" fmla="*/ 14 h 51"/>
              <a:gd name="T64" fmla="*/ 4 w 620"/>
              <a:gd name="T65" fmla="*/ 9 h 51"/>
              <a:gd name="T66" fmla="*/ 4 w 620"/>
              <a:gd name="T67" fmla="*/ 3 h 51"/>
              <a:gd name="T68" fmla="*/ 2 w 62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0" h="51">
                <a:moveTo>
                  <a:pt x="620" y="24"/>
                </a:moveTo>
                <a:lnTo>
                  <a:pt x="620" y="21"/>
                </a:lnTo>
                <a:lnTo>
                  <a:pt x="620" y="18"/>
                </a:lnTo>
                <a:lnTo>
                  <a:pt x="620" y="14"/>
                </a:lnTo>
                <a:lnTo>
                  <a:pt x="620" y="11"/>
                </a:lnTo>
                <a:lnTo>
                  <a:pt x="620" y="9"/>
                </a:lnTo>
                <a:lnTo>
                  <a:pt x="620" y="6"/>
                </a:lnTo>
                <a:lnTo>
                  <a:pt x="620" y="3"/>
                </a:lnTo>
                <a:lnTo>
                  <a:pt x="620" y="0"/>
                </a:lnTo>
                <a:lnTo>
                  <a:pt x="617" y="0"/>
                </a:lnTo>
                <a:lnTo>
                  <a:pt x="617" y="3"/>
                </a:lnTo>
                <a:lnTo>
                  <a:pt x="617" y="6"/>
                </a:lnTo>
                <a:lnTo>
                  <a:pt x="617" y="9"/>
                </a:lnTo>
                <a:lnTo>
                  <a:pt x="617" y="11"/>
                </a:lnTo>
                <a:lnTo>
                  <a:pt x="617" y="14"/>
                </a:lnTo>
                <a:lnTo>
                  <a:pt x="617" y="18"/>
                </a:lnTo>
                <a:lnTo>
                  <a:pt x="617" y="21"/>
                </a:lnTo>
                <a:lnTo>
                  <a:pt x="617" y="24"/>
                </a:lnTo>
                <a:lnTo>
                  <a:pt x="617" y="28"/>
                </a:lnTo>
                <a:lnTo>
                  <a:pt x="617" y="31"/>
                </a:lnTo>
                <a:lnTo>
                  <a:pt x="617" y="34"/>
                </a:lnTo>
                <a:lnTo>
                  <a:pt x="617" y="38"/>
                </a:lnTo>
                <a:lnTo>
                  <a:pt x="617" y="41"/>
                </a:lnTo>
                <a:lnTo>
                  <a:pt x="617" y="44"/>
                </a:lnTo>
                <a:lnTo>
                  <a:pt x="617" y="48"/>
                </a:lnTo>
                <a:lnTo>
                  <a:pt x="617" y="51"/>
                </a:lnTo>
                <a:lnTo>
                  <a:pt x="620" y="51"/>
                </a:lnTo>
                <a:lnTo>
                  <a:pt x="620" y="48"/>
                </a:lnTo>
                <a:lnTo>
                  <a:pt x="620" y="44"/>
                </a:lnTo>
                <a:lnTo>
                  <a:pt x="620" y="41"/>
                </a:lnTo>
                <a:lnTo>
                  <a:pt x="620" y="38"/>
                </a:lnTo>
                <a:lnTo>
                  <a:pt x="620" y="34"/>
                </a:lnTo>
                <a:lnTo>
                  <a:pt x="620" y="31"/>
                </a:lnTo>
                <a:lnTo>
                  <a:pt x="620" y="28"/>
                </a:lnTo>
                <a:lnTo>
                  <a:pt x="62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65" name="Freeform 1470">
            <a:extLst>
              <a:ext uri="{FF2B5EF4-FFF2-40B4-BE49-F238E27FC236}">
                <a16:creationId xmlns:a16="http://schemas.microsoft.com/office/drawing/2014/main" id="{B6B3C805-9365-B249-4C20-66DE17EBD409}"/>
              </a:ext>
            </a:extLst>
          </p:cNvPr>
          <p:cNvSpPr>
            <a:spLocks noEditPoints="1"/>
          </p:cNvSpPr>
          <p:nvPr/>
        </p:nvSpPr>
        <p:spPr bwMode="auto">
          <a:xfrm>
            <a:off x="2068513" y="2719388"/>
            <a:ext cx="977900" cy="80963"/>
          </a:xfrm>
          <a:custGeom>
            <a:avLst/>
            <a:gdLst>
              <a:gd name="T0" fmla="*/ 616 w 616"/>
              <a:gd name="T1" fmla="*/ 21 h 51"/>
              <a:gd name="T2" fmla="*/ 616 w 616"/>
              <a:gd name="T3" fmla="*/ 14 h 51"/>
              <a:gd name="T4" fmla="*/ 616 w 616"/>
              <a:gd name="T5" fmla="*/ 9 h 51"/>
              <a:gd name="T6" fmla="*/ 616 w 616"/>
              <a:gd name="T7" fmla="*/ 3 h 51"/>
              <a:gd name="T8" fmla="*/ 613 w 616"/>
              <a:gd name="T9" fmla="*/ 0 h 51"/>
              <a:gd name="T10" fmla="*/ 613 w 616"/>
              <a:gd name="T11" fmla="*/ 6 h 51"/>
              <a:gd name="T12" fmla="*/ 613 w 616"/>
              <a:gd name="T13" fmla="*/ 11 h 51"/>
              <a:gd name="T14" fmla="*/ 613 w 616"/>
              <a:gd name="T15" fmla="*/ 18 h 51"/>
              <a:gd name="T16" fmla="*/ 613 w 616"/>
              <a:gd name="T17" fmla="*/ 24 h 51"/>
              <a:gd name="T18" fmla="*/ 613 w 616"/>
              <a:gd name="T19" fmla="*/ 31 h 51"/>
              <a:gd name="T20" fmla="*/ 613 w 616"/>
              <a:gd name="T21" fmla="*/ 38 h 51"/>
              <a:gd name="T22" fmla="*/ 613 w 616"/>
              <a:gd name="T23" fmla="*/ 44 h 51"/>
              <a:gd name="T24" fmla="*/ 613 w 616"/>
              <a:gd name="T25" fmla="*/ 51 h 51"/>
              <a:gd name="T26" fmla="*/ 616 w 616"/>
              <a:gd name="T27" fmla="*/ 48 h 51"/>
              <a:gd name="T28" fmla="*/ 616 w 616"/>
              <a:gd name="T29" fmla="*/ 41 h 51"/>
              <a:gd name="T30" fmla="*/ 616 w 616"/>
              <a:gd name="T31" fmla="*/ 34 h 51"/>
              <a:gd name="T32" fmla="*/ 616 w 616"/>
              <a:gd name="T33" fmla="*/ 28 h 51"/>
              <a:gd name="T34" fmla="*/ 2 w 616"/>
              <a:gd name="T35" fmla="*/ 0 h 51"/>
              <a:gd name="T36" fmla="*/ 0 w 616"/>
              <a:gd name="T37" fmla="*/ 6 h 51"/>
              <a:gd name="T38" fmla="*/ 0 w 616"/>
              <a:gd name="T39" fmla="*/ 11 h 51"/>
              <a:gd name="T40" fmla="*/ 0 w 616"/>
              <a:gd name="T41" fmla="*/ 18 h 51"/>
              <a:gd name="T42" fmla="*/ 0 w 616"/>
              <a:gd name="T43" fmla="*/ 24 h 51"/>
              <a:gd name="T44" fmla="*/ 0 w 616"/>
              <a:gd name="T45" fmla="*/ 31 h 51"/>
              <a:gd name="T46" fmla="*/ 0 w 616"/>
              <a:gd name="T47" fmla="*/ 38 h 51"/>
              <a:gd name="T48" fmla="*/ 0 w 616"/>
              <a:gd name="T49" fmla="*/ 44 h 51"/>
              <a:gd name="T50" fmla="*/ 0 w 616"/>
              <a:gd name="T51" fmla="*/ 51 h 51"/>
              <a:gd name="T52" fmla="*/ 3 w 616"/>
              <a:gd name="T53" fmla="*/ 48 h 51"/>
              <a:gd name="T54" fmla="*/ 3 w 616"/>
              <a:gd name="T55" fmla="*/ 41 h 51"/>
              <a:gd name="T56" fmla="*/ 3 w 616"/>
              <a:gd name="T57" fmla="*/ 34 h 51"/>
              <a:gd name="T58" fmla="*/ 3 w 616"/>
              <a:gd name="T59" fmla="*/ 28 h 51"/>
              <a:gd name="T60" fmla="*/ 3 w 616"/>
              <a:gd name="T61" fmla="*/ 21 h 51"/>
              <a:gd name="T62" fmla="*/ 3 w 616"/>
              <a:gd name="T63" fmla="*/ 14 h 51"/>
              <a:gd name="T64" fmla="*/ 3 w 616"/>
              <a:gd name="T65" fmla="*/ 9 h 51"/>
              <a:gd name="T66" fmla="*/ 3 w 616"/>
              <a:gd name="T67" fmla="*/ 3 h 51"/>
              <a:gd name="T68" fmla="*/ 2 w 61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6" h="51">
                <a:moveTo>
                  <a:pt x="616" y="24"/>
                </a:moveTo>
                <a:lnTo>
                  <a:pt x="616" y="21"/>
                </a:lnTo>
                <a:lnTo>
                  <a:pt x="616" y="18"/>
                </a:lnTo>
                <a:lnTo>
                  <a:pt x="616" y="14"/>
                </a:lnTo>
                <a:lnTo>
                  <a:pt x="616" y="11"/>
                </a:lnTo>
                <a:lnTo>
                  <a:pt x="616" y="9"/>
                </a:lnTo>
                <a:lnTo>
                  <a:pt x="616" y="6"/>
                </a:lnTo>
                <a:lnTo>
                  <a:pt x="616" y="3"/>
                </a:lnTo>
                <a:lnTo>
                  <a:pt x="616" y="0"/>
                </a:lnTo>
                <a:lnTo>
                  <a:pt x="613" y="0"/>
                </a:lnTo>
                <a:lnTo>
                  <a:pt x="613" y="3"/>
                </a:lnTo>
                <a:lnTo>
                  <a:pt x="613" y="6"/>
                </a:lnTo>
                <a:lnTo>
                  <a:pt x="613" y="9"/>
                </a:lnTo>
                <a:lnTo>
                  <a:pt x="613" y="11"/>
                </a:lnTo>
                <a:lnTo>
                  <a:pt x="613" y="14"/>
                </a:lnTo>
                <a:lnTo>
                  <a:pt x="613" y="18"/>
                </a:lnTo>
                <a:lnTo>
                  <a:pt x="613" y="21"/>
                </a:lnTo>
                <a:lnTo>
                  <a:pt x="613" y="24"/>
                </a:lnTo>
                <a:lnTo>
                  <a:pt x="613" y="28"/>
                </a:lnTo>
                <a:lnTo>
                  <a:pt x="613" y="31"/>
                </a:lnTo>
                <a:lnTo>
                  <a:pt x="613" y="34"/>
                </a:lnTo>
                <a:lnTo>
                  <a:pt x="613" y="38"/>
                </a:lnTo>
                <a:lnTo>
                  <a:pt x="613" y="41"/>
                </a:lnTo>
                <a:lnTo>
                  <a:pt x="613" y="44"/>
                </a:lnTo>
                <a:lnTo>
                  <a:pt x="613" y="48"/>
                </a:lnTo>
                <a:lnTo>
                  <a:pt x="613" y="51"/>
                </a:lnTo>
                <a:lnTo>
                  <a:pt x="616" y="51"/>
                </a:lnTo>
                <a:lnTo>
                  <a:pt x="616" y="48"/>
                </a:lnTo>
                <a:lnTo>
                  <a:pt x="616" y="44"/>
                </a:lnTo>
                <a:lnTo>
                  <a:pt x="616" y="41"/>
                </a:lnTo>
                <a:lnTo>
                  <a:pt x="616" y="38"/>
                </a:lnTo>
                <a:lnTo>
                  <a:pt x="616" y="34"/>
                </a:lnTo>
                <a:lnTo>
                  <a:pt x="616" y="31"/>
                </a:lnTo>
                <a:lnTo>
                  <a:pt x="616" y="28"/>
                </a:lnTo>
                <a:lnTo>
                  <a:pt x="61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66" name="Freeform 1471">
            <a:extLst>
              <a:ext uri="{FF2B5EF4-FFF2-40B4-BE49-F238E27FC236}">
                <a16:creationId xmlns:a16="http://schemas.microsoft.com/office/drawing/2014/main" id="{00C65DB2-27D6-80F3-B228-CE890FE23A19}"/>
              </a:ext>
            </a:extLst>
          </p:cNvPr>
          <p:cNvSpPr>
            <a:spLocks noEditPoints="1"/>
          </p:cNvSpPr>
          <p:nvPr/>
        </p:nvSpPr>
        <p:spPr bwMode="auto">
          <a:xfrm>
            <a:off x="2071688" y="2719388"/>
            <a:ext cx="973138" cy="80963"/>
          </a:xfrm>
          <a:custGeom>
            <a:avLst/>
            <a:gdLst>
              <a:gd name="T0" fmla="*/ 613 w 613"/>
              <a:gd name="T1" fmla="*/ 21 h 51"/>
              <a:gd name="T2" fmla="*/ 613 w 613"/>
              <a:gd name="T3" fmla="*/ 14 h 51"/>
              <a:gd name="T4" fmla="*/ 613 w 613"/>
              <a:gd name="T5" fmla="*/ 9 h 51"/>
              <a:gd name="T6" fmla="*/ 613 w 613"/>
              <a:gd name="T7" fmla="*/ 3 h 51"/>
              <a:gd name="T8" fmla="*/ 609 w 613"/>
              <a:gd name="T9" fmla="*/ 0 h 51"/>
              <a:gd name="T10" fmla="*/ 609 w 613"/>
              <a:gd name="T11" fmla="*/ 6 h 51"/>
              <a:gd name="T12" fmla="*/ 609 w 613"/>
              <a:gd name="T13" fmla="*/ 11 h 51"/>
              <a:gd name="T14" fmla="*/ 609 w 613"/>
              <a:gd name="T15" fmla="*/ 18 h 51"/>
              <a:gd name="T16" fmla="*/ 609 w 613"/>
              <a:gd name="T17" fmla="*/ 24 h 51"/>
              <a:gd name="T18" fmla="*/ 609 w 613"/>
              <a:gd name="T19" fmla="*/ 31 h 51"/>
              <a:gd name="T20" fmla="*/ 609 w 613"/>
              <a:gd name="T21" fmla="*/ 38 h 51"/>
              <a:gd name="T22" fmla="*/ 609 w 613"/>
              <a:gd name="T23" fmla="*/ 44 h 51"/>
              <a:gd name="T24" fmla="*/ 609 w 613"/>
              <a:gd name="T25" fmla="*/ 51 h 51"/>
              <a:gd name="T26" fmla="*/ 613 w 613"/>
              <a:gd name="T27" fmla="*/ 48 h 51"/>
              <a:gd name="T28" fmla="*/ 613 w 613"/>
              <a:gd name="T29" fmla="*/ 41 h 51"/>
              <a:gd name="T30" fmla="*/ 613 w 613"/>
              <a:gd name="T31" fmla="*/ 34 h 51"/>
              <a:gd name="T32" fmla="*/ 613 w 613"/>
              <a:gd name="T33" fmla="*/ 28 h 51"/>
              <a:gd name="T34" fmla="*/ 1 w 613"/>
              <a:gd name="T35" fmla="*/ 0 h 51"/>
              <a:gd name="T36" fmla="*/ 0 w 613"/>
              <a:gd name="T37" fmla="*/ 6 h 51"/>
              <a:gd name="T38" fmla="*/ 0 w 613"/>
              <a:gd name="T39" fmla="*/ 11 h 51"/>
              <a:gd name="T40" fmla="*/ 0 w 613"/>
              <a:gd name="T41" fmla="*/ 18 h 51"/>
              <a:gd name="T42" fmla="*/ 0 w 613"/>
              <a:gd name="T43" fmla="*/ 24 h 51"/>
              <a:gd name="T44" fmla="*/ 0 w 613"/>
              <a:gd name="T45" fmla="*/ 31 h 51"/>
              <a:gd name="T46" fmla="*/ 0 w 613"/>
              <a:gd name="T47" fmla="*/ 38 h 51"/>
              <a:gd name="T48" fmla="*/ 0 w 613"/>
              <a:gd name="T49" fmla="*/ 44 h 51"/>
              <a:gd name="T50" fmla="*/ 0 w 613"/>
              <a:gd name="T51" fmla="*/ 51 h 51"/>
              <a:gd name="T52" fmla="*/ 3 w 613"/>
              <a:gd name="T53" fmla="*/ 48 h 51"/>
              <a:gd name="T54" fmla="*/ 3 w 613"/>
              <a:gd name="T55" fmla="*/ 41 h 51"/>
              <a:gd name="T56" fmla="*/ 3 w 613"/>
              <a:gd name="T57" fmla="*/ 34 h 51"/>
              <a:gd name="T58" fmla="*/ 3 w 613"/>
              <a:gd name="T59" fmla="*/ 28 h 51"/>
              <a:gd name="T60" fmla="*/ 3 w 613"/>
              <a:gd name="T61" fmla="*/ 21 h 51"/>
              <a:gd name="T62" fmla="*/ 3 w 613"/>
              <a:gd name="T63" fmla="*/ 14 h 51"/>
              <a:gd name="T64" fmla="*/ 3 w 613"/>
              <a:gd name="T65" fmla="*/ 9 h 51"/>
              <a:gd name="T66" fmla="*/ 3 w 613"/>
              <a:gd name="T67" fmla="*/ 3 h 51"/>
              <a:gd name="T68" fmla="*/ 1 w 61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3" h="51">
                <a:moveTo>
                  <a:pt x="613" y="24"/>
                </a:moveTo>
                <a:lnTo>
                  <a:pt x="613" y="21"/>
                </a:lnTo>
                <a:lnTo>
                  <a:pt x="613" y="18"/>
                </a:lnTo>
                <a:lnTo>
                  <a:pt x="613" y="14"/>
                </a:lnTo>
                <a:lnTo>
                  <a:pt x="613" y="11"/>
                </a:lnTo>
                <a:lnTo>
                  <a:pt x="613" y="9"/>
                </a:lnTo>
                <a:lnTo>
                  <a:pt x="613" y="6"/>
                </a:lnTo>
                <a:lnTo>
                  <a:pt x="613" y="3"/>
                </a:lnTo>
                <a:lnTo>
                  <a:pt x="613" y="0"/>
                </a:lnTo>
                <a:lnTo>
                  <a:pt x="609" y="0"/>
                </a:lnTo>
                <a:lnTo>
                  <a:pt x="609" y="3"/>
                </a:lnTo>
                <a:lnTo>
                  <a:pt x="609" y="6"/>
                </a:lnTo>
                <a:lnTo>
                  <a:pt x="609" y="9"/>
                </a:lnTo>
                <a:lnTo>
                  <a:pt x="609" y="11"/>
                </a:lnTo>
                <a:lnTo>
                  <a:pt x="609" y="14"/>
                </a:lnTo>
                <a:lnTo>
                  <a:pt x="609" y="18"/>
                </a:lnTo>
                <a:lnTo>
                  <a:pt x="609" y="21"/>
                </a:lnTo>
                <a:lnTo>
                  <a:pt x="609" y="24"/>
                </a:lnTo>
                <a:lnTo>
                  <a:pt x="609" y="28"/>
                </a:lnTo>
                <a:lnTo>
                  <a:pt x="609" y="31"/>
                </a:lnTo>
                <a:lnTo>
                  <a:pt x="609" y="34"/>
                </a:lnTo>
                <a:lnTo>
                  <a:pt x="609" y="38"/>
                </a:lnTo>
                <a:lnTo>
                  <a:pt x="609" y="41"/>
                </a:lnTo>
                <a:lnTo>
                  <a:pt x="609" y="44"/>
                </a:lnTo>
                <a:lnTo>
                  <a:pt x="609" y="48"/>
                </a:lnTo>
                <a:lnTo>
                  <a:pt x="609" y="51"/>
                </a:lnTo>
                <a:lnTo>
                  <a:pt x="613" y="51"/>
                </a:lnTo>
                <a:lnTo>
                  <a:pt x="613" y="48"/>
                </a:lnTo>
                <a:lnTo>
                  <a:pt x="613" y="44"/>
                </a:lnTo>
                <a:lnTo>
                  <a:pt x="613" y="41"/>
                </a:lnTo>
                <a:lnTo>
                  <a:pt x="613" y="38"/>
                </a:lnTo>
                <a:lnTo>
                  <a:pt x="613" y="34"/>
                </a:lnTo>
                <a:lnTo>
                  <a:pt x="613" y="31"/>
                </a:lnTo>
                <a:lnTo>
                  <a:pt x="613" y="28"/>
                </a:lnTo>
                <a:lnTo>
                  <a:pt x="61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67" name="Freeform 1472">
            <a:extLst>
              <a:ext uri="{FF2B5EF4-FFF2-40B4-BE49-F238E27FC236}">
                <a16:creationId xmlns:a16="http://schemas.microsoft.com/office/drawing/2014/main" id="{5418AFCF-F251-7DE0-BF34-CD40CA1C6DE9}"/>
              </a:ext>
            </a:extLst>
          </p:cNvPr>
          <p:cNvSpPr>
            <a:spLocks noEditPoints="1"/>
          </p:cNvSpPr>
          <p:nvPr/>
        </p:nvSpPr>
        <p:spPr bwMode="auto">
          <a:xfrm>
            <a:off x="2073275" y="2719388"/>
            <a:ext cx="968375" cy="80963"/>
          </a:xfrm>
          <a:custGeom>
            <a:avLst/>
            <a:gdLst>
              <a:gd name="T0" fmla="*/ 610 w 610"/>
              <a:gd name="T1" fmla="*/ 21 h 51"/>
              <a:gd name="T2" fmla="*/ 610 w 610"/>
              <a:gd name="T3" fmla="*/ 14 h 51"/>
              <a:gd name="T4" fmla="*/ 610 w 610"/>
              <a:gd name="T5" fmla="*/ 9 h 51"/>
              <a:gd name="T6" fmla="*/ 610 w 610"/>
              <a:gd name="T7" fmla="*/ 3 h 51"/>
              <a:gd name="T8" fmla="*/ 607 w 610"/>
              <a:gd name="T9" fmla="*/ 0 h 51"/>
              <a:gd name="T10" fmla="*/ 607 w 610"/>
              <a:gd name="T11" fmla="*/ 6 h 51"/>
              <a:gd name="T12" fmla="*/ 607 w 610"/>
              <a:gd name="T13" fmla="*/ 11 h 51"/>
              <a:gd name="T14" fmla="*/ 607 w 610"/>
              <a:gd name="T15" fmla="*/ 18 h 51"/>
              <a:gd name="T16" fmla="*/ 607 w 610"/>
              <a:gd name="T17" fmla="*/ 24 h 51"/>
              <a:gd name="T18" fmla="*/ 607 w 610"/>
              <a:gd name="T19" fmla="*/ 31 h 51"/>
              <a:gd name="T20" fmla="*/ 607 w 610"/>
              <a:gd name="T21" fmla="*/ 38 h 51"/>
              <a:gd name="T22" fmla="*/ 607 w 610"/>
              <a:gd name="T23" fmla="*/ 44 h 51"/>
              <a:gd name="T24" fmla="*/ 607 w 610"/>
              <a:gd name="T25" fmla="*/ 51 h 51"/>
              <a:gd name="T26" fmla="*/ 610 w 610"/>
              <a:gd name="T27" fmla="*/ 48 h 51"/>
              <a:gd name="T28" fmla="*/ 610 w 610"/>
              <a:gd name="T29" fmla="*/ 41 h 51"/>
              <a:gd name="T30" fmla="*/ 610 w 610"/>
              <a:gd name="T31" fmla="*/ 34 h 51"/>
              <a:gd name="T32" fmla="*/ 610 w 610"/>
              <a:gd name="T33" fmla="*/ 28 h 51"/>
              <a:gd name="T34" fmla="*/ 2 w 610"/>
              <a:gd name="T35" fmla="*/ 0 h 51"/>
              <a:gd name="T36" fmla="*/ 0 w 610"/>
              <a:gd name="T37" fmla="*/ 6 h 51"/>
              <a:gd name="T38" fmla="*/ 0 w 610"/>
              <a:gd name="T39" fmla="*/ 11 h 51"/>
              <a:gd name="T40" fmla="*/ 0 w 610"/>
              <a:gd name="T41" fmla="*/ 18 h 51"/>
              <a:gd name="T42" fmla="*/ 0 w 610"/>
              <a:gd name="T43" fmla="*/ 24 h 51"/>
              <a:gd name="T44" fmla="*/ 0 w 610"/>
              <a:gd name="T45" fmla="*/ 31 h 51"/>
              <a:gd name="T46" fmla="*/ 0 w 610"/>
              <a:gd name="T47" fmla="*/ 38 h 51"/>
              <a:gd name="T48" fmla="*/ 0 w 610"/>
              <a:gd name="T49" fmla="*/ 44 h 51"/>
              <a:gd name="T50" fmla="*/ 0 w 610"/>
              <a:gd name="T51" fmla="*/ 51 h 51"/>
              <a:gd name="T52" fmla="*/ 4 w 610"/>
              <a:gd name="T53" fmla="*/ 48 h 51"/>
              <a:gd name="T54" fmla="*/ 4 w 610"/>
              <a:gd name="T55" fmla="*/ 41 h 51"/>
              <a:gd name="T56" fmla="*/ 4 w 610"/>
              <a:gd name="T57" fmla="*/ 34 h 51"/>
              <a:gd name="T58" fmla="*/ 4 w 610"/>
              <a:gd name="T59" fmla="*/ 28 h 51"/>
              <a:gd name="T60" fmla="*/ 4 w 610"/>
              <a:gd name="T61" fmla="*/ 21 h 51"/>
              <a:gd name="T62" fmla="*/ 4 w 610"/>
              <a:gd name="T63" fmla="*/ 14 h 51"/>
              <a:gd name="T64" fmla="*/ 4 w 610"/>
              <a:gd name="T65" fmla="*/ 9 h 51"/>
              <a:gd name="T66" fmla="*/ 4 w 610"/>
              <a:gd name="T67" fmla="*/ 3 h 51"/>
              <a:gd name="T68" fmla="*/ 2 w 61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0" h="51">
                <a:moveTo>
                  <a:pt x="610" y="24"/>
                </a:moveTo>
                <a:lnTo>
                  <a:pt x="610" y="21"/>
                </a:lnTo>
                <a:lnTo>
                  <a:pt x="610" y="18"/>
                </a:lnTo>
                <a:lnTo>
                  <a:pt x="610" y="14"/>
                </a:lnTo>
                <a:lnTo>
                  <a:pt x="610" y="11"/>
                </a:lnTo>
                <a:lnTo>
                  <a:pt x="610" y="9"/>
                </a:lnTo>
                <a:lnTo>
                  <a:pt x="610" y="6"/>
                </a:lnTo>
                <a:lnTo>
                  <a:pt x="610" y="3"/>
                </a:lnTo>
                <a:lnTo>
                  <a:pt x="610" y="0"/>
                </a:lnTo>
                <a:lnTo>
                  <a:pt x="607" y="0"/>
                </a:lnTo>
                <a:lnTo>
                  <a:pt x="607" y="3"/>
                </a:lnTo>
                <a:lnTo>
                  <a:pt x="607" y="6"/>
                </a:lnTo>
                <a:lnTo>
                  <a:pt x="607" y="9"/>
                </a:lnTo>
                <a:lnTo>
                  <a:pt x="607" y="11"/>
                </a:lnTo>
                <a:lnTo>
                  <a:pt x="607" y="14"/>
                </a:lnTo>
                <a:lnTo>
                  <a:pt x="607" y="18"/>
                </a:lnTo>
                <a:lnTo>
                  <a:pt x="607" y="21"/>
                </a:lnTo>
                <a:lnTo>
                  <a:pt x="607" y="24"/>
                </a:lnTo>
                <a:lnTo>
                  <a:pt x="607" y="28"/>
                </a:lnTo>
                <a:lnTo>
                  <a:pt x="607" y="31"/>
                </a:lnTo>
                <a:lnTo>
                  <a:pt x="607" y="34"/>
                </a:lnTo>
                <a:lnTo>
                  <a:pt x="607" y="38"/>
                </a:lnTo>
                <a:lnTo>
                  <a:pt x="607" y="41"/>
                </a:lnTo>
                <a:lnTo>
                  <a:pt x="607" y="44"/>
                </a:lnTo>
                <a:lnTo>
                  <a:pt x="607" y="48"/>
                </a:lnTo>
                <a:lnTo>
                  <a:pt x="607" y="51"/>
                </a:lnTo>
                <a:lnTo>
                  <a:pt x="610" y="51"/>
                </a:lnTo>
                <a:lnTo>
                  <a:pt x="610" y="48"/>
                </a:lnTo>
                <a:lnTo>
                  <a:pt x="610" y="44"/>
                </a:lnTo>
                <a:lnTo>
                  <a:pt x="610" y="41"/>
                </a:lnTo>
                <a:lnTo>
                  <a:pt x="610" y="38"/>
                </a:lnTo>
                <a:lnTo>
                  <a:pt x="610" y="34"/>
                </a:lnTo>
                <a:lnTo>
                  <a:pt x="610" y="31"/>
                </a:lnTo>
                <a:lnTo>
                  <a:pt x="610" y="28"/>
                </a:lnTo>
                <a:lnTo>
                  <a:pt x="61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68" name="Freeform 1473">
            <a:extLst>
              <a:ext uri="{FF2B5EF4-FFF2-40B4-BE49-F238E27FC236}">
                <a16:creationId xmlns:a16="http://schemas.microsoft.com/office/drawing/2014/main" id="{A21469A4-60A4-6EB4-3AA6-5D61BB97364F}"/>
              </a:ext>
            </a:extLst>
          </p:cNvPr>
          <p:cNvSpPr>
            <a:spLocks noEditPoints="1"/>
          </p:cNvSpPr>
          <p:nvPr/>
        </p:nvSpPr>
        <p:spPr bwMode="auto">
          <a:xfrm>
            <a:off x="2076450" y="2719388"/>
            <a:ext cx="962025" cy="80963"/>
          </a:xfrm>
          <a:custGeom>
            <a:avLst/>
            <a:gdLst>
              <a:gd name="T0" fmla="*/ 606 w 606"/>
              <a:gd name="T1" fmla="*/ 21 h 51"/>
              <a:gd name="T2" fmla="*/ 606 w 606"/>
              <a:gd name="T3" fmla="*/ 14 h 51"/>
              <a:gd name="T4" fmla="*/ 606 w 606"/>
              <a:gd name="T5" fmla="*/ 9 h 51"/>
              <a:gd name="T6" fmla="*/ 606 w 606"/>
              <a:gd name="T7" fmla="*/ 3 h 51"/>
              <a:gd name="T8" fmla="*/ 603 w 606"/>
              <a:gd name="T9" fmla="*/ 0 h 51"/>
              <a:gd name="T10" fmla="*/ 603 w 606"/>
              <a:gd name="T11" fmla="*/ 6 h 51"/>
              <a:gd name="T12" fmla="*/ 603 w 606"/>
              <a:gd name="T13" fmla="*/ 11 h 51"/>
              <a:gd name="T14" fmla="*/ 603 w 606"/>
              <a:gd name="T15" fmla="*/ 18 h 51"/>
              <a:gd name="T16" fmla="*/ 603 w 606"/>
              <a:gd name="T17" fmla="*/ 24 h 51"/>
              <a:gd name="T18" fmla="*/ 603 w 606"/>
              <a:gd name="T19" fmla="*/ 31 h 51"/>
              <a:gd name="T20" fmla="*/ 603 w 606"/>
              <a:gd name="T21" fmla="*/ 38 h 51"/>
              <a:gd name="T22" fmla="*/ 603 w 606"/>
              <a:gd name="T23" fmla="*/ 44 h 51"/>
              <a:gd name="T24" fmla="*/ 603 w 606"/>
              <a:gd name="T25" fmla="*/ 51 h 51"/>
              <a:gd name="T26" fmla="*/ 606 w 606"/>
              <a:gd name="T27" fmla="*/ 48 h 51"/>
              <a:gd name="T28" fmla="*/ 606 w 606"/>
              <a:gd name="T29" fmla="*/ 41 h 51"/>
              <a:gd name="T30" fmla="*/ 606 w 606"/>
              <a:gd name="T31" fmla="*/ 34 h 51"/>
              <a:gd name="T32" fmla="*/ 606 w 606"/>
              <a:gd name="T33" fmla="*/ 28 h 51"/>
              <a:gd name="T34" fmla="*/ 2 w 606"/>
              <a:gd name="T35" fmla="*/ 0 h 51"/>
              <a:gd name="T36" fmla="*/ 0 w 606"/>
              <a:gd name="T37" fmla="*/ 6 h 51"/>
              <a:gd name="T38" fmla="*/ 0 w 606"/>
              <a:gd name="T39" fmla="*/ 11 h 51"/>
              <a:gd name="T40" fmla="*/ 0 w 606"/>
              <a:gd name="T41" fmla="*/ 18 h 51"/>
              <a:gd name="T42" fmla="*/ 0 w 606"/>
              <a:gd name="T43" fmla="*/ 24 h 51"/>
              <a:gd name="T44" fmla="*/ 0 w 606"/>
              <a:gd name="T45" fmla="*/ 31 h 51"/>
              <a:gd name="T46" fmla="*/ 0 w 606"/>
              <a:gd name="T47" fmla="*/ 38 h 51"/>
              <a:gd name="T48" fmla="*/ 0 w 606"/>
              <a:gd name="T49" fmla="*/ 44 h 51"/>
              <a:gd name="T50" fmla="*/ 0 w 606"/>
              <a:gd name="T51" fmla="*/ 51 h 51"/>
              <a:gd name="T52" fmla="*/ 3 w 606"/>
              <a:gd name="T53" fmla="*/ 48 h 51"/>
              <a:gd name="T54" fmla="*/ 3 w 606"/>
              <a:gd name="T55" fmla="*/ 41 h 51"/>
              <a:gd name="T56" fmla="*/ 3 w 606"/>
              <a:gd name="T57" fmla="*/ 34 h 51"/>
              <a:gd name="T58" fmla="*/ 3 w 606"/>
              <a:gd name="T59" fmla="*/ 28 h 51"/>
              <a:gd name="T60" fmla="*/ 3 w 606"/>
              <a:gd name="T61" fmla="*/ 21 h 51"/>
              <a:gd name="T62" fmla="*/ 3 w 606"/>
              <a:gd name="T63" fmla="*/ 14 h 51"/>
              <a:gd name="T64" fmla="*/ 3 w 606"/>
              <a:gd name="T65" fmla="*/ 9 h 51"/>
              <a:gd name="T66" fmla="*/ 3 w 606"/>
              <a:gd name="T67" fmla="*/ 3 h 51"/>
              <a:gd name="T68" fmla="*/ 2 w 60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6" h="51">
                <a:moveTo>
                  <a:pt x="606" y="24"/>
                </a:moveTo>
                <a:lnTo>
                  <a:pt x="606" y="21"/>
                </a:lnTo>
                <a:lnTo>
                  <a:pt x="606" y="18"/>
                </a:lnTo>
                <a:lnTo>
                  <a:pt x="606" y="14"/>
                </a:lnTo>
                <a:lnTo>
                  <a:pt x="606" y="11"/>
                </a:lnTo>
                <a:lnTo>
                  <a:pt x="606" y="9"/>
                </a:lnTo>
                <a:lnTo>
                  <a:pt x="606" y="6"/>
                </a:lnTo>
                <a:lnTo>
                  <a:pt x="606" y="3"/>
                </a:lnTo>
                <a:lnTo>
                  <a:pt x="606" y="0"/>
                </a:lnTo>
                <a:lnTo>
                  <a:pt x="603" y="0"/>
                </a:lnTo>
                <a:lnTo>
                  <a:pt x="603" y="3"/>
                </a:lnTo>
                <a:lnTo>
                  <a:pt x="603" y="6"/>
                </a:lnTo>
                <a:lnTo>
                  <a:pt x="603" y="9"/>
                </a:lnTo>
                <a:lnTo>
                  <a:pt x="603" y="11"/>
                </a:lnTo>
                <a:lnTo>
                  <a:pt x="603" y="14"/>
                </a:lnTo>
                <a:lnTo>
                  <a:pt x="603" y="18"/>
                </a:lnTo>
                <a:lnTo>
                  <a:pt x="603" y="21"/>
                </a:lnTo>
                <a:lnTo>
                  <a:pt x="603" y="24"/>
                </a:lnTo>
                <a:lnTo>
                  <a:pt x="603" y="28"/>
                </a:lnTo>
                <a:lnTo>
                  <a:pt x="603" y="31"/>
                </a:lnTo>
                <a:lnTo>
                  <a:pt x="603" y="34"/>
                </a:lnTo>
                <a:lnTo>
                  <a:pt x="603" y="38"/>
                </a:lnTo>
                <a:lnTo>
                  <a:pt x="603" y="41"/>
                </a:lnTo>
                <a:lnTo>
                  <a:pt x="603" y="44"/>
                </a:lnTo>
                <a:lnTo>
                  <a:pt x="603" y="48"/>
                </a:lnTo>
                <a:lnTo>
                  <a:pt x="603" y="51"/>
                </a:lnTo>
                <a:lnTo>
                  <a:pt x="606" y="51"/>
                </a:lnTo>
                <a:lnTo>
                  <a:pt x="606" y="48"/>
                </a:lnTo>
                <a:lnTo>
                  <a:pt x="606" y="44"/>
                </a:lnTo>
                <a:lnTo>
                  <a:pt x="606" y="41"/>
                </a:lnTo>
                <a:lnTo>
                  <a:pt x="606" y="38"/>
                </a:lnTo>
                <a:lnTo>
                  <a:pt x="606" y="34"/>
                </a:lnTo>
                <a:lnTo>
                  <a:pt x="606" y="31"/>
                </a:lnTo>
                <a:lnTo>
                  <a:pt x="606" y="28"/>
                </a:lnTo>
                <a:lnTo>
                  <a:pt x="60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69" name="Freeform 1474">
            <a:extLst>
              <a:ext uri="{FF2B5EF4-FFF2-40B4-BE49-F238E27FC236}">
                <a16:creationId xmlns:a16="http://schemas.microsoft.com/office/drawing/2014/main" id="{834B06AA-C32D-6056-D6C5-7166FED3A62A}"/>
              </a:ext>
            </a:extLst>
          </p:cNvPr>
          <p:cNvSpPr>
            <a:spLocks noEditPoints="1"/>
          </p:cNvSpPr>
          <p:nvPr/>
        </p:nvSpPr>
        <p:spPr bwMode="auto">
          <a:xfrm>
            <a:off x="2079625" y="2719388"/>
            <a:ext cx="957263" cy="80963"/>
          </a:xfrm>
          <a:custGeom>
            <a:avLst/>
            <a:gdLst>
              <a:gd name="T0" fmla="*/ 603 w 603"/>
              <a:gd name="T1" fmla="*/ 21 h 51"/>
              <a:gd name="T2" fmla="*/ 603 w 603"/>
              <a:gd name="T3" fmla="*/ 14 h 51"/>
              <a:gd name="T4" fmla="*/ 603 w 603"/>
              <a:gd name="T5" fmla="*/ 9 h 51"/>
              <a:gd name="T6" fmla="*/ 603 w 603"/>
              <a:gd name="T7" fmla="*/ 3 h 51"/>
              <a:gd name="T8" fmla="*/ 599 w 603"/>
              <a:gd name="T9" fmla="*/ 0 h 51"/>
              <a:gd name="T10" fmla="*/ 599 w 603"/>
              <a:gd name="T11" fmla="*/ 6 h 51"/>
              <a:gd name="T12" fmla="*/ 599 w 603"/>
              <a:gd name="T13" fmla="*/ 11 h 51"/>
              <a:gd name="T14" fmla="*/ 599 w 603"/>
              <a:gd name="T15" fmla="*/ 18 h 51"/>
              <a:gd name="T16" fmla="*/ 599 w 603"/>
              <a:gd name="T17" fmla="*/ 24 h 51"/>
              <a:gd name="T18" fmla="*/ 599 w 603"/>
              <a:gd name="T19" fmla="*/ 31 h 51"/>
              <a:gd name="T20" fmla="*/ 599 w 603"/>
              <a:gd name="T21" fmla="*/ 38 h 51"/>
              <a:gd name="T22" fmla="*/ 599 w 603"/>
              <a:gd name="T23" fmla="*/ 44 h 51"/>
              <a:gd name="T24" fmla="*/ 599 w 603"/>
              <a:gd name="T25" fmla="*/ 51 h 51"/>
              <a:gd name="T26" fmla="*/ 603 w 603"/>
              <a:gd name="T27" fmla="*/ 48 h 51"/>
              <a:gd name="T28" fmla="*/ 603 w 603"/>
              <a:gd name="T29" fmla="*/ 41 h 51"/>
              <a:gd name="T30" fmla="*/ 603 w 603"/>
              <a:gd name="T31" fmla="*/ 34 h 51"/>
              <a:gd name="T32" fmla="*/ 603 w 603"/>
              <a:gd name="T33" fmla="*/ 28 h 51"/>
              <a:gd name="T34" fmla="*/ 1 w 603"/>
              <a:gd name="T35" fmla="*/ 0 h 51"/>
              <a:gd name="T36" fmla="*/ 0 w 603"/>
              <a:gd name="T37" fmla="*/ 6 h 51"/>
              <a:gd name="T38" fmla="*/ 0 w 603"/>
              <a:gd name="T39" fmla="*/ 11 h 51"/>
              <a:gd name="T40" fmla="*/ 0 w 603"/>
              <a:gd name="T41" fmla="*/ 18 h 51"/>
              <a:gd name="T42" fmla="*/ 0 w 603"/>
              <a:gd name="T43" fmla="*/ 24 h 51"/>
              <a:gd name="T44" fmla="*/ 0 w 603"/>
              <a:gd name="T45" fmla="*/ 31 h 51"/>
              <a:gd name="T46" fmla="*/ 0 w 603"/>
              <a:gd name="T47" fmla="*/ 38 h 51"/>
              <a:gd name="T48" fmla="*/ 0 w 603"/>
              <a:gd name="T49" fmla="*/ 44 h 51"/>
              <a:gd name="T50" fmla="*/ 0 w 603"/>
              <a:gd name="T51" fmla="*/ 51 h 51"/>
              <a:gd name="T52" fmla="*/ 3 w 603"/>
              <a:gd name="T53" fmla="*/ 48 h 51"/>
              <a:gd name="T54" fmla="*/ 3 w 603"/>
              <a:gd name="T55" fmla="*/ 41 h 51"/>
              <a:gd name="T56" fmla="*/ 3 w 603"/>
              <a:gd name="T57" fmla="*/ 34 h 51"/>
              <a:gd name="T58" fmla="*/ 3 w 603"/>
              <a:gd name="T59" fmla="*/ 28 h 51"/>
              <a:gd name="T60" fmla="*/ 3 w 603"/>
              <a:gd name="T61" fmla="*/ 21 h 51"/>
              <a:gd name="T62" fmla="*/ 3 w 603"/>
              <a:gd name="T63" fmla="*/ 14 h 51"/>
              <a:gd name="T64" fmla="*/ 3 w 603"/>
              <a:gd name="T65" fmla="*/ 9 h 51"/>
              <a:gd name="T66" fmla="*/ 3 w 603"/>
              <a:gd name="T67" fmla="*/ 3 h 51"/>
              <a:gd name="T68" fmla="*/ 1 w 60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3" h="51">
                <a:moveTo>
                  <a:pt x="603" y="24"/>
                </a:moveTo>
                <a:lnTo>
                  <a:pt x="603" y="21"/>
                </a:lnTo>
                <a:lnTo>
                  <a:pt x="603" y="18"/>
                </a:lnTo>
                <a:lnTo>
                  <a:pt x="603" y="14"/>
                </a:lnTo>
                <a:lnTo>
                  <a:pt x="603" y="11"/>
                </a:lnTo>
                <a:lnTo>
                  <a:pt x="603" y="9"/>
                </a:lnTo>
                <a:lnTo>
                  <a:pt x="603" y="6"/>
                </a:lnTo>
                <a:lnTo>
                  <a:pt x="603" y="3"/>
                </a:lnTo>
                <a:lnTo>
                  <a:pt x="603" y="0"/>
                </a:lnTo>
                <a:lnTo>
                  <a:pt x="599" y="0"/>
                </a:lnTo>
                <a:lnTo>
                  <a:pt x="599" y="3"/>
                </a:lnTo>
                <a:lnTo>
                  <a:pt x="599" y="6"/>
                </a:lnTo>
                <a:lnTo>
                  <a:pt x="599" y="9"/>
                </a:lnTo>
                <a:lnTo>
                  <a:pt x="599" y="11"/>
                </a:lnTo>
                <a:lnTo>
                  <a:pt x="599" y="14"/>
                </a:lnTo>
                <a:lnTo>
                  <a:pt x="599" y="18"/>
                </a:lnTo>
                <a:lnTo>
                  <a:pt x="599" y="21"/>
                </a:lnTo>
                <a:lnTo>
                  <a:pt x="599" y="24"/>
                </a:lnTo>
                <a:lnTo>
                  <a:pt x="599" y="28"/>
                </a:lnTo>
                <a:lnTo>
                  <a:pt x="599" y="31"/>
                </a:lnTo>
                <a:lnTo>
                  <a:pt x="599" y="34"/>
                </a:lnTo>
                <a:lnTo>
                  <a:pt x="599" y="38"/>
                </a:lnTo>
                <a:lnTo>
                  <a:pt x="599" y="41"/>
                </a:lnTo>
                <a:lnTo>
                  <a:pt x="599" y="44"/>
                </a:lnTo>
                <a:lnTo>
                  <a:pt x="599" y="48"/>
                </a:lnTo>
                <a:lnTo>
                  <a:pt x="599" y="51"/>
                </a:lnTo>
                <a:lnTo>
                  <a:pt x="603" y="51"/>
                </a:lnTo>
                <a:lnTo>
                  <a:pt x="603" y="48"/>
                </a:lnTo>
                <a:lnTo>
                  <a:pt x="603" y="44"/>
                </a:lnTo>
                <a:lnTo>
                  <a:pt x="603" y="41"/>
                </a:lnTo>
                <a:lnTo>
                  <a:pt x="603" y="38"/>
                </a:lnTo>
                <a:lnTo>
                  <a:pt x="603" y="34"/>
                </a:lnTo>
                <a:lnTo>
                  <a:pt x="603" y="31"/>
                </a:lnTo>
                <a:lnTo>
                  <a:pt x="603" y="28"/>
                </a:lnTo>
                <a:lnTo>
                  <a:pt x="60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70" name="Freeform 1475">
            <a:extLst>
              <a:ext uri="{FF2B5EF4-FFF2-40B4-BE49-F238E27FC236}">
                <a16:creationId xmlns:a16="http://schemas.microsoft.com/office/drawing/2014/main" id="{33A417C3-2C8E-70A0-6914-B27FCB1EE33C}"/>
              </a:ext>
            </a:extLst>
          </p:cNvPr>
          <p:cNvSpPr>
            <a:spLocks noEditPoints="1"/>
          </p:cNvSpPr>
          <p:nvPr/>
        </p:nvSpPr>
        <p:spPr bwMode="auto">
          <a:xfrm>
            <a:off x="2081213" y="2719388"/>
            <a:ext cx="952500" cy="80963"/>
          </a:xfrm>
          <a:custGeom>
            <a:avLst/>
            <a:gdLst>
              <a:gd name="T0" fmla="*/ 600 w 600"/>
              <a:gd name="T1" fmla="*/ 21 h 51"/>
              <a:gd name="T2" fmla="*/ 600 w 600"/>
              <a:gd name="T3" fmla="*/ 14 h 51"/>
              <a:gd name="T4" fmla="*/ 600 w 600"/>
              <a:gd name="T5" fmla="*/ 9 h 51"/>
              <a:gd name="T6" fmla="*/ 600 w 600"/>
              <a:gd name="T7" fmla="*/ 3 h 51"/>
              <a:gd name="T8" fmla="*/ 597 w 600"/>
              <a:gd name="T9" fmla="*/ 0 h 51"/>
              <a:gd name="T10" fmla="*/ 597 w 600"/>
              <a:gd name="T11" fmla="*/ 6 h 51"/>
              <a:gd name="T12" fmla="*/ 597 w 600"/>
              <a:gd name="T13" fmla="*/ 11 h 51"/>
              <a:gd name="T14" fmla="*/ 597 w 600"/>
              <a:gd name="T15" fmla="*/ 18 h 51"/>
              <a:gd name="T16" fmla="*/ 597 w 600"/>
              <a:gd name="T17" fmla="*/ 24 h 51"/>
              <a:gd name="T18" fmla="*/ 597 w 600"/>
              <a:gd name="T19" fmla="*/ 31 h 51"/>
              <a:gd name="T20" fmla="*/ 597 w 600"/>
              <a:gd name="T21" fmla="*/ 38 h 51"/>
              <a:gd name="T22" fmla="*/ 597 w 600"/>
              <a:gd name="T23" fmla="*/ 44 h 51"/>
              <a:gd name="T24" fmla="*/ 597 w 600"/>
              <a:gd name="T25" fmla="*/ 51 h 51"/>
              <a:gd name="T26" fmla="*/ 600 w 600"/>
              <a:gd name="T27" fmla="*/ 48 h 51"/>
              <a:gd name="T28" fmla="*/ 600 w 600"/>
              <a:gd name="T29" fmla="*/ 41 h 51"/>
              <a:gd name="T30" fmla="*/ 600 w 600"/>
              <a:gd name="T31" fmla="*/ 34 h 51"/>
              <a:gd name="T32" fmla="*/ 600 w 600"/>
              <a:gd name="T33" fmla="*/ 28 h 51"/>
              <a:gd name="T34" fmla="*/ 2 w 600"/>
              <a:gd name="T35" fmla="*/ 0 h 51"/>
              <a:gd name="T36" fmla="*/ 0 w 600"/>
              <a:gd name="T37" fmla="*/ 6 h 51"/>
              <a:gd name="T38" fmla="*/ 0 w 600"/>
              <a:gd name="T39" fmla="*/ 11 h 51"/>
              <a:gd name="T40" fmla="*/ 0 w 600"/>
              <a:gd name="T41" fmla="*/ 18 h 51"/>
              <a:gd name="T42" fmla="*/ 0 w 600"/>
              <a:gd name="T43" fmla="*/ 24 h 51"/>
              <a:gd name="T44" fmla="*/ 0 w 600"/>
              <a:gd name="T45" fmla="*/ 31 h 51"/>
              <a:gd name="T46" fmla="*/ 0 w 600"/>
              <a:gd name="T47" fmla="*/ 38 h 51"/>
              <a:gd name="T48" fmla="*/ 0 w 600"/>
              <a:gd name="T49" fmla="*/ 44 h 51"/>
              <a:gd name="T50" fmla="*/ 0 w 600"/>
              <a:gd name="T51" fmla="*/ 51 h 51"/>
              <a:gd name="T52" fmla="*/ 4 w 600"/>
              <a:gd name="T53" fmla="*/ 48 h 51"/>
              <a:gd name="T54" fmla="*/ 4 w 600"/>
              <a:gd name="T55" fmla="*/ 41 h 51"/>
              <a:gd name="T56" fmla="*/ 4 w 600"/>
              <a:gd name="T57" fmla="*/ 34 h 51"/>
              <a:gd name="T58" fmla="*/ 4 w 600"/>
              <a:gd name="T59" fmla="*/ 28 h 51"/>
              <a:gd name="T60" fmla="*/ 4 w 600"/>
              <a:gd name="T61" fmla="*/ 21 h 51"/>
              <a:gd name="T62" fmla="*/ 4 w 600"/>
              <a:gd name="T63" fmla="*/ 14 h 51"/>
              <a:gd name="T64" fmla="*/ 4 w 600"/>
              <a:gd name="T65" fmla="*/ 9 h 51"/>
              <a:gd name="T66" fmla="*/ 4 w 600"/>
              <a:gd name="T67" fmla="*/ 3 h 51"/>
              <a:gd name="T68" fmla="*/ 2 w 60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0" h="51">
                <a:moveTo>
                  <a:pt x="600" y="24"/>
                </a:moveTo>
                <a:lnTo>
                  <a:pt x="600" y="21"/>
                </a:lnTo>
                <a:lnTo>
                  <a:pt x="600" y="18"/>
                </a:lnTo>
                <a:lnTo>
                  <a:pt x="600" y="14"/>
                </a:lnTo>
                <a:lnTo>
                  <a:pt x="600" y="11"/>
                </a:lnTo>
                <a:lnTo>
                  <a:pt x="600" y="9"/>
                </a:lnTo>
                <a:lnTo>
                  <a:pt x="600" y="6"/>
                </a:lnTo>
                <a:lnTo>
                  <a:pt x="600" y="3"/>
                </a:lnTo>
                <a:lnTo>
                  <a:pt x="600" y="0"/>
                </a:lnTo>
                <a:lnTo>
                  <a:pt x="597" y="0"/>
                </a:lnTo>
                <a:lnTo>
                  <a:pt x="597" y="3"/>
                </a:lnTo>
                <a:lnTo>
                  <a:pt x="597" y="6"/>
                </a:lnTo>
                <a:lnTo>
                  <a:pt x="597" y="9"/>
                </a:lnTo>
                <a:lnTo>
                  <a:pt x="597" y="11"/>
                </a:lnTo>
                <a:lnTo>
                  <a:pt x="597" y="14"/>
                </a:lnTo>
                <a:lnTo>
                  <a:pt x="597" y="18"/>
                </a:lnTo>
                <a:lnTo>
                  <a:pt x="597" y="21"/>
                </a:lnTo>
                <a:lnTo>
                  <a:pt x="597" y="24"/>
                </a:lnTo>
                <a:lnTo>
                  <a:pt x="597" y="28"/>
                </a:lnTo>
                <a:lnTo>
                  <a:pt x="597" y="31"/>
                </a:lnTo>
                <a:lnTo>
                  <a:pt x="597" y="34"/>
                </a:lnTo>
                <a:lnTo>
                  <a:pt x="597" y="38"/>
                </a:lnTo>
                <a:lnTo>
                  <a:pt x="597" y="41"/>
                </a:lnTo>
                <a:lnTo>
                  <a:pt x="597" y="44"/>
                </a:lnTo>
                <a:lnTo>
                  <a:pt x="597" y="48"/>
                </a:lnTo>
                <a:lnTo>
                  <a:pt x="597" y="51"/>
                </a:lnTo>
                <a:lnTo>
                  <a:pt x="600" y="51"/>
                </a:lnTo>
                <a:lnTo>
                  <a:pt x="600" y="48"/>
                </a:lnTo>
                <a:lnTo>
                  <a:pt x="600" y="44"/>
                </a:lnTo>
                <a:lnTo>
                  <a:pt x="600" y="41"/>
                </a:lnTo>
                <a:lnTo>
                  <a:pt x="600" y="38"/>
                </a:lnTo>
                <a:lnTo>
                  <a:pt x="600" y="34"/>
                </a:lnTo>
                <a:lnTo>
                  <a:pt x="600" y="31"/>
                </a:lnTo>
                <a:lnTo>
                  <a:pt x="600" y="28"/>
                </a:lnTo>
                <a:lnTo>
                  <a:pt x="60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71" name="Freeform 1476">
            <a:extLst>
              <a:ext uri="{FF2B5EF4-FFF2-40B4-BE49-F238E27FC236}">
                <a16:creationId xmlns:a16="http://schemas.microsoft.com/office/drawing/2014/main" id="{E3858237-0AF7-3992-63E7-FFCE709FBD40}"/>
              </a:ext>
            </a:extLst>
          </p:cNvPr>
          <p:cNvSpPr>
            <a:spLocks noEditPoints="1"/>
          </p:cNvSpPr>
          <p:nvPr/>
        </p:nvSpPr>
        <p:spPr bwMode="auto">
          <a:xfrm>
            <a:off x="2084388" y="2719388"/>
            <a:ext cx="946150" cy="80963"/>
          </a:xfrm>
          <a:custGeom>
            <a:avLst/>
            <a:gdLst>
              <a:gd name="T0" fmla="*/ 596 w 596"/>
              <a:gd name="T1" fmla="*/ 21 h 51"/>
              <a:gd name="T2" fmla="*/ 596 w 596"/>
              <a:gd name="T3" fmla="*/ 14 h 51"/>
              <a:gd name="T4" fmla="*/ 596 w 596"/>
              <a:gd name="T5" fmla="*/ 9 h 51"/>
              <a:gd name="T6" fmla="*/ 596 w 596"/>
              <a:gd name="T7" fmla="*/ 3 h 51"/>
              <a:gd name="T8" fmla="*/ 593 w 596"/>
              <a:gd name="T9" fmla="*/ 0 h 51"/>
              <a:gd name="T10" fmla="*/ 593 w 596"/>
              <a:gd name="T11" fmla="*/ 6 h 51"/>
              <a:gd name="T12" fmla="*/ 593 w 596"/>
              <a:gd name="T13" fmla="*/ 11 h 51"/>
              <a:gd name="T14" fmla="*/ 593 w 596"/>
              <a:gd name="T15" fmla="*/ 18 h 51"/>
              <a:gd name="T16" fmla="*/ 593 w 596"/>
              <a:gd name="T17" fmla="*/ 24 h 51"/>
              <a:gd name="T18" fmla="*/ 593 w 596"/>
              <a:gd name="T19" fmla="*/ 31 h 51"/>
              <a:gd name="T20" fmla="*/ 593 w 596"/>
              <a:gd name="T21" fmla="*/ 38 h 51"/>
              <a:gd name="T22" fmla="*/ 593 w 596"/>
              <a:gd name="T23" fmla="*/ 44 h 51"/>
              <a:gd name="T24" fmla="*/ 593 w 596"/>
              <a:gd name="T25" fmla="*/ 51 h 51"/>
              <a:gd name="T26" fmla="*/ 596 w 596"/>
              <a:gd name="T27" fmla="*/ 48 h 51"/>
              <a:gd name="T28" fmla="*/ 596 w 596"/>
              <a:gd name="T29" fmla="*/ 41 h 51"/>
              <a:gd name="T30" fmla="*/ 596 w 596"/>
              <a:gd name="T31" fmla="*/ 34 h 51"/>
              <a:gd name="T32" fmla="*/ 596 w 596"/>
              <a:gd name="T33" fmla="*/ 28 h 51"/>
              <a:gd name="T34" fmla="*/ 2 w 596"/>
              <a:gd name="T35" fmla="*/ 0 h 51"/>
              <a:gd name="T36" fmla="*/ 0 w 596"/>
              <a:gd name="T37" fmla="*/ 6 h 51"/>
              <a:gd name="T38" fmla="*/ 0 w 596"/>
              <a:gd name="T39" fmla="*/ 11 h 51"/>
              <a:gd name="T40" fmla="*/ 0 w 596"/>
              <a:gd name="T41" fmla="*/ 18 h 51"/>
              <a:gd name="T42" fmla="*/ 0 w 596"/>
              <a:gd name="T43" fmla="*/ 24 h 51"/>
              <a:gd name="T44" fmla="*/ 0 w 596"/>
              <a:gd name="T45" fmla="*/ 31 h 51"/>
              <a:gd name="T46" fmla="*/ 0 w 596"/>
              <a:gd name="T47" fmla="*/ 38 h 51"/>
              <a:gd name="T48" fmla="*/ 0 w 596"/>
              <a:gd name="T49" fmla="*/ 44 h 51"/>
              <a:gd name="T50" fmla="*/ 0 w 596"/>
              <a:gd name="T51" fmla="*/ 51 h 51"/>
              <a:gd name="T52" fmla="*/ 3 w 596"/>
              <a:gd name="T53" fmla="*/ 48 h 51"/>
              <a:gd name="T54" fmla="*/ 3 w 596"/>
              <a:gd name="T55" fmla="*/ 41 h 51"/>
              <a:gd name="T56" fmla="*/ 3 w 596"/>
              <a:gd name="T57" fmla="*/ 34 h 51"/>
              <a:gd name="T58" fmla="*/ 3 w 596"/>
              <a:gd name="T59" fmla="*/ 28 h 51"/>
              <a:gd name="T60" fmla="*/ 3 w 596"/>
              <a:gd name="T61" fmla="*/ 21 h 51"/>
              <a:gd name="T62" fmla="*/ 3 w 596"/>
              <a:gd name="T63" fmla="*/ 14 h 51"/>
              <a:gd name="T64" fmla="*/ 3 w 596"/>
              <a:gd name="T65" fmla="*/ 9 h 51"/>
              <a:gd name="T66" fmla="*/ 3 w 596"/>
              <a:gd name="T67" fmla="*/ 3 h 51"/>
              <a:gd name="T68" fmla="*/ 2 w 5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6" h="51">
                <a:moveTo>
                  <a:pt x="596" y="24"/>
                </a:moveTo>
                <a:lnTo>
                  <a:pt x="596" y="21"/>
                </a:lnTo>
                <a:lnTo>
                  <a:pt x="596" y="18"/>
                </a:lnTo>
                <a:lnTo>
                  <a:pt x="596" y="14"/>
                </a:lnTo>
                <a:lnTo>
                  <a:pt x="596" y="11"/>
                </a:lnTo>
                <a:lnTo>
                  <a:pt x="596" y="9"/>
                </a:lnTo>
                <a:lnTo>
                  <a:pt x="596" y="6"/>
                </a:lnTo>
                <a:lnTo>
                  <a:pt x="596" y="3"/>
                </a:lnTo>
                <a:lnTo>
                  <a:pt x="596" y="0"/>
                </a:lnTo>
                <a:lnTo>
                  <a:pt x="593" y="0"/>
                </a:lnTo>
                <a:lnTo>
                  <a:pt x="593" y="3"/>
                </a:lnTo>
                <a:lnTo>
                  <a:pt x="593" y="6"/>
                </a:lnTo>
                <a:lnTo>
                  <a:pt x="593" y="9"/>
                </a:lnTo>
                <a:lnTo>
                  <a:pt x="593" y="11"/>
                </a:lnTo>
                <a:lnTo>
                  <a:pt x="593" y="14"/>
                </a:lnTo>
                <a:lnTo>
                  <a:pt x="593" y="18"/>
                </a:lnTo>
                <a:lnTo>
                  <a:pt x="593" y="21"/>
                </a:lnTo>
                <a:lnTo>
                  <a:pt x="593" y="24"/>
                </a:lnTo>
                <a:lnTo>
                  <a:pt x="593" y="28"/>
                </a:lnTo>
                <a:lnTo>
                  <a:pt x="593" y="31"/>
                </a:lnTo>
                <a:lnTo>
                  <a:pt x="593" y="34"/>
                </a:lnTo>
                <a:lnTo>
                  <a:pt x="593" y="38"/>
                </a:lnTo>
                <a:lnTo>
                  <a:pt x="593" y="41"/>
                </a:lnTo>
                <a:lnTo>
                  <a:pt x="593" y="44"/>
                </a:lnTo>
                <a:lnTo>
                  <a:pt x="593" y="48"/>
                </a:lnTo>
                <a:lnTo>
                  <a:pt x="593" y="51"/>
                </a:lnTo>
                <a:lnTo>
                  <a:pt x="596" y="51"/>
                </a:lnTo>
                <a:lnTo>
                  <a:pt x="596" y="48"/>
                </a:lnTo>
                <a:lnTo>
                  <a:pt x="596" y="44"/>
                </a:lnTo>
                <a:lnTo>
                  <a:pt x="596" y="41"/>
                </a:lnTo>
                <a:lnTo>
                  <a:pt x="596" y="38"/>
                </a:lnTo>
                <a:lnTo>
                  <a:pt x="596" y="34"/>
                </a:lnTo>
                <a:lnTo>
                  <a:pt x="596" y="31"/>
                </a:lnTo>
                <a:lnTo>
                  <a:pt x="596" y="28"/>
                </a:lnTo>
                <a:lnTo>
                  <a:pt x="59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72" name="Freeform 1477">
            <a:extLst>
              <a:ext uri="{FF2B5EF4-FFF2-40B4-BE49-F238E27FC236}">
                <a16:creationId xmlns:a16="http://schemas.microsoft.com/office/drawing/2014/main" id="{4CA55D1C-698E-45B0-1222-91A1302AF2D7}"/>
              </a:ext>
            </a:extLst>
          </p:cNvPr>
          <p:cNvSpPr>
            <a:spLocks noEditPoints="1"/>
          </p:cNvSpPr>
          <p:nvPr/>
        </p:nvSpPr>
        <p:spPr bwMode="auto">
          <a:xfrm>
            <a:off x="2087563" y="2719388"/>
            <a:ext cx="941388" cy="80963"/>
          </a:xfrm>
          <a:custGeom>
            <a:avLst/>
            <a:gdLst>
              <a:gd name="T0" fmla="*/ 593 w 593"/>
              <a:gd name="T1" fmla="*/ 21 h 51"/>
              <a:gd name="T2" fmla="*/ 593 w 593"/>
              <a:gd name="T3" fmla="*/ 14 h 51"/>
              <a:gd name="T4" fmla="*/ 593 w 593"/>
              <a:gd name="T5" fmla="*/ 9 h 51"/>
              <a:gd name="T6" fmla="*/ 593 w 593"/>
              <a:gd name="T7" fmla="*/ 3 h 51"/>
              <a:gd name="T8" fmla="*/ 589 w 593"/>
              <a:gd name="T9" fmla="*/ 0 h 51"/>
              <a:gd name="T10" fmla="*/ 589 w 593"/>
              <a:gd name="T11" fmla="*/ 6 h 51"/>
              <a:gd name="T12" fmla="*/ 589 w 593"/>
              <a:gd name="T13" fmla="*/ 11 h 51"/>
              <a:gd name="T14" fmla="*/ 589 w 593"/>
              <a:gd name="T15" fmla="*/ 18 h 51"/>
              <a:gd name="T16" fmla="*/ 589 w 593"/>
              <a:gd name="T17" fmla="*/ 24 h 51"/>
              <a:gd name="T18" fmla="*/ 589 w 593"/>
              <a:gd name="T19" fmla="*/ 31 h 51"/>
              <a:gd name="T20" fmla="*/ 589 w 593"/>
              <a:gd name="T21" fmla="*/ 38 h 51"/>
              <a:gd name="T22" fmla="*/ 589 w 593"/>
              <a:gd name="T23" fmla="*/ 44 h 51"/>
              <a:gd name="T24" fmla="*/ 589 w 593"/>
              <a:gd name="T25" fmla="*/ 51 h 51"/>
              <a:gd name="T26" fmla="*/ 593 w 593"/>
              <a:gd name="T27" fmla="*/ 48 h 51"/>
              <a:gd name="T28" fmla="*/ 593 w 593"/>
              <a:gd name="T29" fmla="*/ 41 h 51"/>
              <a:gd name="T30" fmla="*/ 593 w 593"/>
              <a:gd name="T31" fmla="*/ 34 h 51"/>
              <a:gd name="T32" fmla="*/ 593 w 593"/>
              <a:gd name="T33" fmla="*/ 28 h 51"/>
              <a:gd name="T34" fmla="*/ 1 w 593"/>
              <a:gd name="T35" fmla="*/ 0 h 51"/>
              <a:gd name="T36" fmla="*/ 0 w 593"/>
              <a:gd name="T37" fmla="*/ 6 h 51"/>
              <a:gd name="T38" fmla="*/ 0 w 593"/>
              <a:gd name="T39" fmla="*/ 11 h 51"/>
              <a:gd name="T40" fmla="*/ 0 w 593"/>
              <a:gd name="T41" fmla="*/ 18 h 51"/>
              <a:gd name="T42" fmla="*/ 0 w 593"/>
              <a:gd name="T43" fmla="*/ 24 h 51"/>
              <a:gd name="T44" fmla="*/ 0 w 593"/>
              <a:gd name="T45" fmla="*/ 31 h 51"/>
              <a:gd name="T46" fmla="*/ 0 w 593"/>
              <a:gd name="T47" fmla="*/ 38 h 51"/>
              <a:gd name="T48" fmla="*/ 0 w 593"/>
              <a:gd name="T49" fmla="*/ 44 h 51"/>
              <a:gd name="T50" fmla="*/ 0 w 593"/>
              <a:gd name="T51" fmla="*/ 51 h 51"/>
              <a:gd name="T52" fmla="*/ 3 w 593"/>
              <a:gd name="T53" fmla="*/ 48 h 51"/>
              <a:gd name="T54" fmla="*/ 3 w 593"/>
              <a:gd name="T55" fmla="*/ 41 h 51"/>
              <a:gd name="T56" fmla="*/ 3 w 593"/>
              <a:gd name="T57" fmla="*/ 34 h 51"/>
              <a:gd name="T58" fmla="*/ 3 w 593"/>
              <a:gd name="T59" fmla="*/ 28 h 51"/>
              <a:gd name="T60" fmla="*/ 3 w 593"/>
              <a:gd name="T61" fmla="*/ 21 h 51"/>
              <a:gd name="T62" fmla="*/ 3 w 593"/>
              <a:gd name="T63" fmla="*/ 14 h 51"/>
              <a:gd name="T64" fmla="*/ 3 w 593"/>
              <a:gd name="T65" fmla="*/ 9 h 51"/>
              <a:gd name="T66" fmla="*/ 3 w 593"/>
              <a:gd name="T67" fmla="*/ 3 h 51"/>
              <a:gd name="T68" fmla="*/ 1 w 59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3" h="51">
                <a:moveTo>
                  <a:pt x="593" y="24"/>
                </a:moveTo>
                <a:lnTo>
                  <a:pt x="593" y="21"/>
                </a:lnTo>
                <a:lnTo>
                  <a:pt x="593" y="18"/>
                </a:lnTo>
                <a:lnTo>
                  <a:pt x="593" y="14"/>
                </a:lnTo>
                <a:lnTo>
                  <a:pt x="593" y="11"/>
                </a:lnTo>
                <a:lnTo>
                  <a:pt x="593" y="9"/>
                </a:lnTo>
                <a:lnTo>
                  <a:pt x="593" y="6"/>
                </a:lnTo>
                <a:lnTo>
                  <a:pt x="593" y="3"/>
                </a:lnTo>
                <a:lnTo>
                  <a:pt x="593" y="0"/>
                </a:lnTo>
                <a:lnTo>
                  <a:pt x="589" y="0"/>
                </a:lnTo>
                <a:lnTo>
                  <a:pt x="589" y="3"/>
                </a:lnTo>
                <a:lnTo>
                  <a:pt x="589" y="6"/>
                </a:lnTo>
                <a:lnTo>
                  <a:pt x="589" y="9"/>
                </a:lnTo>
                <a:lnTo>
                  <a:pt x="589" y="11"/>
                </a:lnTo>
                <a:lnTo>
                  <a:pt x="589" y="14"/>
                </a:lnTo>
                <a:lnTo>
                  <a:pt x="589" y="18"/>
                </a:lnTo>
                <a:lnTo>
                  <a:pt x="589" y="21"/>
                </a:lnTo>
                <a:lnTo>
                  <a:pt x="589" y="24"/>
                </a:lnTo>
                <a:lnTo>
                  <a:pt x="589" y="28"/>
                </a:lnTo>
                <a:lnTo>
                  <a:pt x="589" y="31"/>
                </a:lnTo>
                <a:lnTo>
                  <a:pt x="589" y="34"/>
                </a:lnTo>
                <a:lnTo>
                  <a:pt x="589" y="38"/>
                </a:lnTo>
                <a:lnTo>
                  <a:pt x="589" y="41"/>
                </a:lnTo>
                <a:lnTo>
                  <a:pt x="589" y="44"/>
                </a:lnTo>
                <a:lnTo>
                  <a:pt x="589" y="48"/>
                </a:lnTo>
                <a:lnTo>
                  <a:pt x="589" y="51"/>
                </a:lnTo>
                <a:lnTo>
                  <a:pt x="593" y="51"/>
                </a:lnTo>
                <a:lnTo>
                  <a:pt x="593" y="48"/>
                </a:lnTo>
                <a:lnTo>
                  <a:pt x="593" y="44"/>
                </a:lnTo>
                <a:lnTo>
                  <a:pt x="593" y="41"/>
                </a:lnTo>
                <a:lnTo>
                  <a:pt x="593" y="38"/>
                </a:lnTo>
                <a:lnTo>
                  <a:pt x="593" y="34"/>
                </a:lnTo>
                <a:lnTo>
                  <a:pt x="593" y="31"/>
                </a:lnTo>
                <a:lnTo>
                  <a:pt x="593" y="28"/>
                </a:lnTo>
                <a:lnTo>
                  <a:pt x="59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73" name="Freeform 1478">
            <a:extLst>
              <a:ext uri="{FF2B5EF4-FFF2-40B4-BE49-F238E27FC236}">
                <a16:creationId xmlns:a16="http://schemas.microsoft.com/office/drawing/2014/main" id="{F08761A0-1E70-A7A6-7E9D-6C99C59B9752}"/>
              </a:ext>
            </a:extLst>
          </p:cNvPr>
          <p:cNvSpPr>
            <a:spLocks noEditPoints="1"/>
          </p:cNvSpPr>
          <p:nvPr/>
        </p:nvSpPr>
        <p:spPr bwMode="auto">
          <a:xfrm>
            <a:off x="2089150" y="2719388"/>
            <a:ext cx="936625" cy="80963"/>
          </a:xfrm>
          <a:custGeom>
            <a:avLst/>
            <a:gdLst>
              <a:gd name="T0" fmla="*/ 590 w 590"/>
              <a:gd name="T1" fmla="*/ 21 h 51"/>
              <a:gd name="T2" fmla="*/ 590 w 590"/>
              <a:gd name="T3" fmla="*/ 14 h 51"/>
              <a:gd name="T4" fmla="*/ 590 w 590"/>
              <a:gd name="T5" fmla="*/ 9 h 51"/>
              <a:gd name="T6" fmla="*/ 590 w 590"/>
              <a:gd name="T7" fmla="*/ 3 h 51"/>
              <a:gd name="T8" fmla="*/ 587 w 590"/>
              <a:gd name="T9" fmla="*/ 0 h 51"/>
              <a:gd name="T10" fmla="*/ 587 w 590"/>
              <a:gd name="T11" fmla="*/ 6 h 51"/>
              <a:gd name="T12" fmla="*/ 587 w 590"/>
              <a:gd name="T13" fmla="*/ 11 h 51"/>
              <a:gd name="T14" fmla="*/ 587 w 590"/>
              <a:gd name="T15" fmla="*/ 18 h 51"/>
              <a:gd name="T16" fmla="*/ 587 w 590"/>
              <a:gd name="T17" fmla="*/ 24 h 51"/>
              <a:gd name="T18" fmla="*/ 587 w 590"/>
              <a:gd name="T19" fmla="*/ 31 h 51"/>
              <a:gd name="T20" fmla="*/ 587 w 590"/>
              <a:gd name="T21" fmla="*/ 38 h 51"/>
              <a:gd name="T22" fmla="*/ 587 w 590"/>
              <a:gd name="T23" fmla="*/ 44 h 51"/>
              <a:gd name="T24" fmla="*/ 587 w 590"/>
              <a:gd name="T25" fmla="*/ 51 h 51"/>
              <a:gd name="T26" fmla="*/ 590 w 590"/>
              <a:gd name="T27" fmla="*/ 48 h 51"/>
              <a:gd name="T28" fmla="*/ 590 w 590"/>
              <a:gd name="T29" fmla="*/ 41 h 51"/>
              <a:gd name="T30" fmla="*/ 590 w 590"/>
              <a:gd name="T31" fmla="*/ 34 h 51"/>
              <a:gd name="T32" fmla="*/ 590 w 590"/>
              <a:gd name="T33" fmla="*/ 28 h 51"/>
              <a:gd name="T34" fmla="*/ 2 w 590"/>
              <a:gd name="T35" fmla="*/ 0 h 51"/>
              <a:gd name="T36" fmla="*/ 0 w 590"/>
              <a:gd name="T37" fmla="*/ 6 h 51"/>
              <a:gd name="T38" fmla="*/ 0 w 590"/>
              <a:gd name="T39" fmla="*/ 11 h 51"/>
              <a:gd name="T40" fmla="*/ 0 w 590"/>
              <a:gd name="T41" fmla="*/ 18 h 51"/>
              <a:gd name="T42" fmla="*/ 0 w 590"/>
              <a:gd name="T43" fmla="*/ 24 h 51"/>
              <a:gd name="T44" fmla="*/ 0 w 590"/>
              <a:gd name="T45" fmla="*/ 31 h 51"/>
              <a:gd name="T46" fmla="*/ 0 w 590"/>
              <a:gd name="T47" fmla="*/ 38 h 51"/>
              <a:gd name="T48" fmla="*/ 0 w 590"/>
              <a:gd name="T49" fmla="*/ 44 h 51"/>
              <a:gd name="T50" fmla="*/ 0 w 590"/>
              <a:gd name="T51" fmla="*/ 51 h 51"/>
              <a:gd name="T52" fmla="*/ 4 w 590"/>
              <a:gd name="T53" fmla="*/ 48 h 51"/>
              <a:gd name="T54" fmla="*/ 4 w 590"/>
              <a:gd name="T55" fmla="*/ 41 h 51"/>
              <a:gd name="T56" fmla="*/ 4 w 590"/>
              <a:gd name="T57" fmla="*/ 34 h 51"/>
              <a:gd name="T58" fmla="*/ 4 w 590"/>
              <a:gd name="T59" fmla="*/ 28 h 51"/>
              <a:gd name="T60" fmla="*/ 4 w 590"/>
              <a:gd name="T61" fmla="*/ 21 h 51"/>
              <a:gd name="T62" fmla="*/ 4 w 590"/>
              <a:gd name="T63" fmla="*/ 14 h 51"/>
              <a:gd name="T64" fmla="*/ 4 w 590"/>
              <a:gd name="T65" fmla="*/ 9 h 51"/>
              <a:gd name="T66" fmla="*/ 4 w 590"/>
              <a:gd name="T67" fmla="*/ 3 h 51"/>
              <a:gd name="T68" fmla="*/ 2 w 59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0" h="51">
                <a:moveTo>
                  <a:pt x="590" y="24"/>
                </a:moveTo>
                <a:lnTo>
                  <a:pt x="590" y="21"/>
                </a:lnTo>
                <a:lnTo>
                  <a:pt x="590" y="18"/>
                </a:lnTo>
                <a:lnTo>
                  <a:pt x="590" y="14"/>
                </a:lnTo>
                <a:lnTo>
                  <a:pt x="590" y="11"/>
                </a:lnTo>
                <a:lnTo>
                  <a:pt x="590" y="9"/>
                </a:lnTo>
                <a:lnTo>
                  <a:pt x="590" y="6"/>
                </a:lnTo>
                <a:lnTo>
                  <a:pt x="590" y="3"/>
                </a:lnTo>
                <a:lnTo>
                  <a:pt x="590" y="0"/>
                </a:lnTo>
                <a:lnTo>
                  <a:pt x="587" y="0"/>
                </a:lnTo>
                <a:lnTo>
                  <a:pt x="587" y="3"/>
                </a:lnTo>
                <a:lnTo>
                  <a:pt x="587" y="6"/>
                </a:lnTo>
                <a:lnTo>
                  <a:pt x="587" y="9"/>
                </a:lnTo>
                <a:lnTo>
                  <a:pt x="587" y="11"/>
                </a:lnTo>
                <a:lnTo>
                  <a:pt x="587" y="14"/>
                </a:lnTo>
                <a:lnTo>
                  <a:pt x="587" y="18"/>
                </a:lnTo>
                <a:lnTo>
                  <a:pt x="587" y="21"/>
                </a:lnTo>
                <a:lnTo>
                  <a:pt x="587" y="24"/>
                </a:lnTo>
                <a:lnTo>
                  <a:pt x="587" y="28"/>
                </a:lnTo>
                <a:lnTo>
                  <a:pt x="587" y="31"/>
                </a:lnTo>
                <a:lnTo>
                  <a:pt x="587" y="34"/>
                </a:lnTo>
                <a:lnTo>
                  <a:pt x="587" y="38"/>
                </a:lnTo>
                <a:lnTo>
                  <a:pt x="587" y="41"/>
                </a:lnTo>
                <a:lnTo>
                  <a:pt x="587" y="44"/>
                </a:lnTo>
                <a:lnTo>
                  <a:pt x="587" y="48"/>
                </a:lnTo>
                <a:lnTo>
                  <a:pt x="587" y="51"/>
                </a:lnTo>
                <a:lnTo>
                  <a:pt x="590" y="51"/>
                </a:lnTo>
                <a:lnTo>
                  <a:pt x="590" y="48"/>
                </a:lnTo>
                <a:lnTo>
                  <a:pt x="590" y="44"/>
                </a:lnTo>
                <a:lnTo>
                  <a:pt x="590" y="41"/>
                </a:lnTo>
                <a:lnTo>
                  <a:pt x="590" y="38"/>
                </a:lnTo>
                <a:lnTo>
                  <a:pt x="590" y="34"/>
                </a:lnTo>
                <a:lnTo>
                  <a:pt x="590" y="31"/>
                </a:lnTo>
                <a:lnTo>
                  <a:pt x="590" y="28"/>
                </a:lnTo>
                <a:lnTo>
                  <a:pt x="59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74" name="Freeform 1479">
            <a:extLst>
              <a:ext uri="{FF2B5EF4-FFF2-40B4-BE49-F238E27FC236}">
                <a16:creationId xmlns:a16="http://schemas.microsoft.com/office/drawing/2014/main" id="{EA6BF985-7EEE-FFE6-F0A2-06AF36FAA885}"/>
              </a:ext>
            </a:extLst>
          </p:cNvPr>
          <p:cNvSpPr>
            <a:spLocks noEditPoints="1"/>
          </p:cNvSpPr>
          <p:nvPr/>
        </p:nvSpPr>
        <p:spPr bwMode="auto">
          <a:xfrm>
            <a:off x="2092325" y="2719388"/>
            <a:ext cx="930275" cy="80963"/>
          </a:xfrm>
          <a:custGeom>
            <a:avLst/>
            <a:gdLst>
              <a:gd name="T0" fmla="*/ 586 w 586"/>
              <a:gd name="T1" fmla="*/ 21 h 51"/>
              <a:gd name="T2" fmla="*/ 586 w 586"/>
              <a:gd name="T3" fmla="*/ 14 h 51"/>
              <a:gd name="T4" fmla="*/ 586 w 586"/>
              <a:gd name="T5" fmla="*/ 9 h 51"/>
              <a:gd name="T6" fmla="*/ 586 w 586"/>
              <a:gd name="T7" fmla="*/ 3 h 51"/>
              <a:gd name="T8" fmla="*/ 583 w 586"/>
              <a:gd name="T9" fmla="*/ 0 h 51"/>
              <a:gd name="T10" fmla="*/ 583 w 586"/>
              <a:gd name="T11" fmla="*/ 6 h 51"/>
              <a:gd name="T12" fmla="*/ 583 w 586"/>
              <a:gd name="T13" fmla="*/ 11 h 51"/>
              <a:gd name="T14" fmla="*/ 583 w 586"/>
              <a:gd name="T15" fmla="*/ 18 h 51"/>
              <a:gd name="T16" fmla="*/ 583 w 586"/>
              <a:gd name="T17" fmla="*/ 24 h 51"/>
              <a:gd name="T18" fmla="*/ 583 w 586"/>
              <a:gd name="T19" fmla="*/ 31 h 51"/>
              <a:gd name="T20" fmla="*/ 583 w 586"/>
              <a:gd name="T21" fmla="*/ 38 h 51"/>
              <a:gd name="T22" fmla="*/ 583 w 586"/>
              <a:gd name="T23" fmla="*/ 44 h 51"/>
              <a:gd name="T24" fmla="*/ 583 w 586"/>
              <a:gd name="T25" fmla="*/ 51 h 51"/>
              <a:gd name="T26" fmla="*/ 586 w 586"/>
              <a:gd name="T27" fmla="*/ 48 h 51"/>
              <a:gd name="T28" fmla="*/ 586 w 586"/>
              <a:gd name="T29" fmla="*/ 41 h 51"/>
              <a:gd name="T30" fmla="*/ 586 w 586"/>
              <a:gd name="T31" fmla="*/ 34 h 51"/>
              <a:gd name="T32" fmla="*/ 586 w 586"/>
              <a:gd name="T33" fmla="*/ 28 h 51"/>
              <a:gd name="T34" fmla="*/ 2 w 586"/>
              <a:gd name="T35" fmla="*/ 0 h 51"/>
              <a:gd name="T36" fmla="*/ 0 w 586"/>
              <a:gd name="T37" fmla="*/ 6 h 51"/>
              <a:gd name="T38" fmla="*/ 0 w 586"/>
              <a:gd name="T39" fmla="*/ 11 h 51"/>
              <a:gd name="T40" fmla="*/ 0 w 586"/>
              <a:gd name="T41" fmla="*/ 18 h 51"/>
              <a:gd name="T42" fmla="*/ 0 w 586"/>
              <a:gd name="T43" fmla="*/ 24 h 51"/>
              <a:gd name="T44" fmla="*/ 0 w 586"/>
              <a:gd name="T45" fmla="*/ 31 h 51"/>
              <a:gd name="T46" fmla="*/ 0 w 586"/>
              <a:gd name="T47" fmla="*/ 38 h 51"/>
              <a:gd name="T48" fmla="*/ 0 w 586"/>
              <a:gd name="T49" fmla="*/ 44 h 51"/>
              <a:gd name="T50" fmla="*/ 0 w 586"/>
              <a:gd name="T51" fmla="*/ 51 h 51"/>
              <a:gd name="T52" fmla="*/ 3 w 586"/>
              <a:gd name="T53" fmla="*/ 48 h 51"/>
              <a:gd name="T54" fmla="*/ 3 w 586"/>
              <a:gd name="T55" fmla="*/ 41 h 51"/>
              <a:gd name="T56" fmla="*/ 3 w 586"/>
              <a:gd name="T57" fmla="*/ 34 h 51"/>
              <a:gd name="T58" fmla="*/ 3 w 586"/>
              <a:gd name="T59" fmla="*/ 28 h 51"/>
              <a:gd name="T60" fmla="*/ 3 w 586"/>
              <a:gd name="T61" fmla="*/ 21 h 51"/>
              <a:gd name="T62" fmla="*/ 3 w 586"/>
              <a:gd name="T63" fmla="*/ 14 h 51"/>
              <a:gd name="T64" fmla="*/ 3 w 586"/>
              <a:gd name="T65" fmla="*/ 9 h 51"/>
              <a:gd name="T66" fmla="*/ 3 w 586"/>
              <a:gd name="T67" fmla="*/ 3 h 51"/>
              <a:gd name="T68" fmla="*/ 2 w 5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6" h="51">
                <a:moveTo>
                  <a:pt x="586" y="24"/>
                </a:moveTo>
                <a:lnTo>
                  <a:pt x="586" y="21"/>
                </a:lnTo>
                <a:lnTo>
                  <a:pt x="586" y="18"/>
                </a:lnTo>
                <a:lnTo>
                  <a:pt x="586" y="14"/>
                </a:lnTo>
                <a:lnTo>
                  <a:pt x="586" y="11"/>
                </a:lnTo>
                <a:lnTo>
                  <a:pt x="586" y="9"/>
                </a:lnTo>
                <a:lnTo>
                  <a:pt x="586" y="6"/>
                </a:lnTo>
                <a:lnTo>
                  <a:pt x="586" y="3"/>
                </a:lnTo>
                <a:lnTo>
                  <a:pt x="586" y="0"/>
                </a:lnTo>
                <a:lnTo>
                  <a:pt x="583" y="0"/>
                </a:lnTo>
                <a:lnTo>
                  <a:pt x="583" y="3"/>
                </a:lnTo>
                <a:lnTo>
                  <a:pt x="583" y="6"/>
                </a:lnTo>
                <a:lnTo>
                  <a:pt x="583" y="9"/>
                </a:lnTo>
                <a:lnTo>
                  <a:pt x="583" y="11"/>
                </a:lnTo>
                <a:lnTo>
                  <a:pt x="583" y="14"/>
                </a:lnTo>
                <a:lnTo>
                  <a:pt x="583" y="18"/>
                </a:lnTo>
                <a:lnTo>
                  <a:pt x="583" y="21"/>
                </a:lnTo>
                <a:lnTo>
                  <a:pt x="583" y="24"/>
                </a:lnTo>
                <a:lnTo>
                  <a:pt x="583" y="28"/>
                </a:lnTo>
                <a:lnTo>
                  <a:pt x="583" y="31"/>
                </a:lnTo>
                <a:lnTo>
                  <a:pt x="583" y="34"/>
                </a:lnTo>
                <a:lnTo>
                  <a:pt x="583" y="38"/>
                </a:lnTo>
                <a:lnTo>
                  <a:pt x="583" y="41"/>
                </a:lnTo>
                <a:lnTo>
                  <a:pt x="583" y="44"/>
                </a:lnTo>
                <a:lnTo>
                  <a:pt x="583" y="48"/>
                </a:lnTo>
                <a:lnTo>
                  <a:pt x="583" y="51"/>
                </a:lnTo>
                <a:lnTo>
                  <a:pt x="586" y="51"/>
                </a:lnTo>
                <a:lnTo>
                  <a:pt x="586" y="48"/>
                </a:lnTo>
                <a:lnTo>
                  <a:pt x="586" y="44"/>
                </a:lnTo>
                <a:lnTo>
                  <a:pt x="586" y="41"/>
                </a:lnTo>
                <a:lnTo>
                  <a:pt x="586" y="38"/>
                </a:lnTo>
                <a:lnTo>
                  <a:pt x="586" y="34"/>
                </a:lnTo>
                <a:lnTo>
                  <a:pt x="586" y="31"/>
                </a:lnTo>
                <a:lnTo>
                  <a:pt x="586" y="28"/>
                </a:lnTo>
                <a:lnTo>
                  <a:pt x="58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75" name="Freeform 1480">
            <a:extLst>
              <a:ext uri="{FF2B5EF4-FFF2-40B4-BE49-F238E27FC236}">
                <a16:creationId xmlns:a16="http://schemas.microsoft.com/office/drawing/2014/main" id="{E9F51727-9A27-9F0C-E07D-528938EEC042}"/>
              </a:ext>
            </a:extLst>
          </p:cNvPr>
          <p:cNvSpPr>
            <a:spLocks noEditPoints="1"/>
          </p:cNvSpPr>
          <p:nvPr/>
        </p:nvSpPr>
        <p:spPr bwMode="auto">
          <a:xfrm>
            <a:off x="2095500" y="2719388"/>
            <a:ext cx="925513" cy="80963"/>
          </a:xfrm>
          <a:custGeom>
            <a:avLst/>
            <a:gdLst>
              <a:gd name="T0" fmla="*/ 583 w 583"/>
              <a:gd name="T1" fmla="*/ 21 h 51"/>
              <a:gd name="T2" fmla="*/ 583 w 583"/>
              <a:gd name="T3" fmla="*/ 14 h 51"/>
              <a:gd name="T4" fmla="*/ 583 w 583"/>
              <a:gd name="T5" fmla="*/ 9 h 51"/>
              <a:gd name="T6" fmla="*/ 583 w 583"/>
              <a:gd name="T7" fmla="*/ 3 h 51"/>
              <a:gd name="T8" fmla="*/ 579 w 583"/>
              <a:gd name="T9" fmla="*/ 0 h 51"/>
              <a:gd name="T10" fmla="*/ 579 w 583"/>
              <a:gd name="T11" fmla="*/ 6 h 51"/>
              <a:gd name="T12" fmla="*/ 579 w 583"/>
              <a:gd name="T13" fmla="*/ 11 h 51"/>
              <a:gd name="T14" fmla="*/ 579 w 583"/>
              <a:gd name="T15" fmla="*/ 18 h 51"/>
              <a:gd name="T16" fmla="*/ 579 w 583"/>
              <a:gd name="T17" fmla="*/ 24 h 51"/>
              <a:gd name="T18" fmla="*/ 579 w 583"/>
              <a:gd name="T19" fmla="*/ 31 h 51"/>
              <a:gd name="T20" fmla="*/ 579 w 583"/>
              <a:gd name="T21" fmla="*/ 38 h 51"/>
              <a:gd name="T22" fmla="*/ 579 w 583"/>
              <a:gd name="T23" fmla="*/ 44 h 51"/>
              <a:gd name="T24" fmla="*/ 579 w 583"/>
              <a:gd name="T25" fmla="*/ 51 h 51"/>
              <a:gd name="T26" fmla="*/ 583 w 583"/>
              <a:gd name="T27" fmla="*/ 48 h 51"/>
              <a:gd name="T28" fmla="*/ 583 w 583"/>
              <a:gd name="T29" fmla="*/ 41 h 51"/>
              <a:gd name="T30" fmla="*/ 583 w 583"/>
              <a:gd name="T31" fmla="*/ 34 h 51"/>
              <a:gd name="T32" fmla="*/ 583 w 583"/>
              <a:gd name="T33" fmla="*/ 28 h 51"/>
              <a:gd name="T34" fmla="*/ 1 w 583"/>
              <a:gd name="T35" fmla="*/ 0 h 51"/>
              <a:gd name="T36" fmla="*/ 0 w 583"/>
              <a:gd name="T37" fmla="*/ 6 h 51"/>
              <a:gd name="T38" fmla="*/ 0 w 583"/>
              <a:gd name="T39" fmla="*/ 11 h 51"/>
              <a:gd name="T40" fmla="*/ 0 w 583"/>
              <a:gd name="T41" fmla="*/ 18 h 51"/>
              <a:gd name="T42" fmla="*/ 0 w 583"/>
              <a:gd name="T43" fmla="*/ 24 h 51"/>
              <a:gd name="T44" fmla="*/ 0 w 583"/>
              <a:gd name="T45" fmla="*/ 31 h 51"/>
              <a:gd name="T46" fmla="*/ 0 w 583"/>
              <a:gd name="T47" fmla="*/ 38 h 51"/>
              <a:gd name="T48" fmla="*/ 0 w 583"/>
              <a:gd name="T49" fmla="*/ 44 h 51"/>
              <a:gd name="T50" fmla="*/ 0 w 583"/>
              <a:gd name="T51" fmla="*/ 51 h 51"/>
              <a:gd name="T52" fmla="*/ 3 w 583"/>
              <a:gd name="T53" fmla="*/ 48 h 51"/>
              <a:gd name="T54" fmla="*/ 3 w 583"/>
              <a:gd name="T55" fmla="*/ 41 h 51"/>
              <a:gd name="T56" fmla="*/ 3 w 583"/>
              <a:gd name="T57" fmla="*/ 34 h 51"/>
              <a:gd name="T58" fmla="*/ 3 w 583"/>
              <a:gd name="T59" fmla="*/ 28 h 51"/>
              <a:gd name="T60" fmla="*/ 3 w 583"/>
              <a:gd name="T61" fmla="*/ 21 h 51"/>
              <a:gd name="T62" fmla="*/ 3 w 583"/>
              <a:gd name="T63" fmla="*/ 14 h 51"/>
              <a:gd name="T64" fmla="*/ 3 w 583"/>
              <a:gd name="T65" fmla="*/ 9 h 51"/>
              <a:gd name="T66" fmla="*/ 3 w 583"/>
              <a:gd name="T67" fmla="*/ 3 h 51"/>
              <a:gd name="T68" fmla="*/ 1 w 58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3" h="51">
                <a:moveTo>
                  <a:pt x="583" y="24"/>
                </a:moveTo>
                <a:lnTo>
                  <a:pt x="583" y="21"/>
                </a:lnTo>
                <a:lnTo>
                  <a:pt x="583" y="18"/>
                </a:lnTo>
                <a:lnTo>
                  <a:pt x="583" y="14"/>
                </a:lnTo>
                <a:lnTo>
                  <a:pt x="583" y="11"/>
                </a:lnTo>
                <a:lnTo>
                  <a:pt x="583" y="9"/>
                </a:lnTo>
                <a:lnTo>
                  <a:pt x="583" y="6"/>
                </a:lnTo>
                <a:lnTo>
                  <a:pt x="583" y="3"/>
                </a:lnTo>
                <a:lnTo>
                  <a:pt x="583" y="0"/>
                </a:lnTo>
                <a:lnTo>
                  <a:pt x="579" y="0"/>
                </a:lnTo>
                <a:lnTo>
                  <a:pt x="579" y="3"/>
                </a:lnTo>
                <a:lnTo>
                  <a:pt x="579" y="6"/>
                </a:lnTo>
                <a:lnTo>
                  <a:pt x="579" y="9"/>
                </a:lnTo>
                <a:lnTo>
                  <a:pt x="579" y="11"/>
                </a:lnTo>
                <a:lnTo>
                  <a:pt x="579" y="14"/>
                </a:lnTo>
                <a:lnTo>
                  <a:pt x="579" y="18"/>
                </a:lnTo>
                <a:lnTo>
                  <a:pt x="579" y="21"/>
                </a:lnTo>
                <a:lnTo>
                  <a:pt x="579" y="24"/>
                </a:lnTo>
                <a:lnTo>
                  <a:pt x="579" y="28"/>
                </a:lnTo>
                <a:lnTo>
                  <a:pt x="579" y="31"/>
                </a:lnTo>
                <a:lnTo>
                  <a:pt x="579" y="34"/>
                </a:lnTo>
                <a:lnTo>
                  <a:pt x="579" y="38"/>
                </a:lnTo>
                <a:lnTo>
                  <a:pt x="579" y="41"/>
                </a:lnTo>
                <a:lnTo>
                  <a:pt x="579" y="44"/>
                </a:lnTo>
                <a:lnTo>
                  <a:pt x="579" y="48"/>
                </a:lnTo>
                <a:lnTo>
                  <a:pt x="579" y="51"/>
                </a:lnTo>
                <a:lnTo>
                  <a:pt x="583" y="51"/>
                </a:lnTo>
                <a:lnTo>
                  <a:pt x="583" y="48"/>
                </a:lnTo>
                <a:lnTo>
                  <a:pt x="583" y="44"/>
                </a:lnTo>
                <a:lnTo>
                  <a:pt x="583" y="41"/>
                </a:lnTo>
                <a:lnTo>
                  <a:pt x="583" y="38"/>
                </a:lnTo>
                <a:lnTo>
                  <a:pt x="583" y="34"/>
                </a:lnTo>
                <a:lnTo>
                  <a:pt x="583" y="31"/>
                </a:lnTo>
                <a:lnTo>
                  <a:pt x="583" y="28"/>
                </a:lnTo>
                <a:lnTo>
                  <a:pt x="58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76" name="Freeform 1481">
            <a:extLst>
              <a:ext uri="{FF2B5EF4-FFF2-40B4-BE49-F238E27FC236}">
                <a16:creationId xmlns:a16="http://schemas.microsoft.com/office/drawing/2014/main" id="{FF8E2EBA-074D-3AF6-8D16-14D6E73F411C}"/>
              </a:ext>
            </a:extLst>
          </p:cNvPr>
          <p:cNvSpPr>
            <a:spLocks noEditPoints="1"/>
          </p:cNvSpPr>
          <p:nvPr/>
        </p:nvSpPr>
        <p:spPr bwMode="auto">
          <a:xfrm>
            <a:off x="2097088" y="2719388"/>
            <a:ext cx="920750" cy="80963"/>
          </a:xfrm>
          <a:custGeom>
            <a:avLst/>
            <a:gdLst>
              <a:gd name="T0" fmla="*/ 580 w 580"/>
              <a:gd name="T1" fmla="*/ 21 h 51"/>
              <a:gd name="T2" fmla="*/ 580 w 580"/>
              <a:gd name="T3" fmla="*/ 14 h 51"/>
              <a:gd name="T4" fmla="*/ 580 w 580"/>
              <a:gd name="T5" fmla="*/ 9 h 51"/>
              <a:gd name="T6" fmla="*/ 580 w 580"/>
              <a:gd name="T7" fmla="*/ 3 h 51"/>
              <a:gd name="T8" fmla="*/ 577 w 580"/>
              <a:gd name="T9" fmla="*/ 0 h 51"/>
              <a:gd name="T10" fmla="*/ 577 w 580"/>
              <a:gd name="T11" fmla="*/ 6 h 51"/>
              <a:gd name="T12" fmla="*/ 577 w 580"/>
              <a:gd name="T13" fmla="*/ 11 h 51"/>
              <a:gd name="T14" fmla="*/ 577 w 580"/>
              <a:gd name="T15" fmla="*/ 18 h 51"/>
              <a:gd name="T16" fmla="*/ 577 w 580"/>
              <a:gd name="T17" fmla="*/ 24 h 51"/>
              <a:gd name="T18" fmla="*/ 577 w 580"/>
              <a:gd name="T19" fmla="*/ 31 h 51"/>
              <a:gd name="T20" fmla="*/ 577 w 580"/>
              <a:gd name="T21" fmla="*/ 38 h 51"/>
              <a:gd name="T22" fmla="*/ 577 w 580"/>
              <a:gd name="T23" fmla="*/ 44 h 51"/>
              <a:gd name="T24" fmla="*/ 577 w 580"/>
              <a:gd name="T25" fmla="*/ 51 h 51"/>
              <a:gd name="T26" fmla="*/ 580 w 580"/>
              <a:gd name="T27" fmla="*/ 48 h 51"/>
              <a:gd name="T28" fmla="*/ 580 w 580"/>
              <a:gd name="T29" fmla="*/ 41 h 51"/>
              <a:gd name="T30" fmla="*/ 580 w 580"/>
              <a:gd name="T31" fmla="*/ 34 h 51"/>
              <a:gd name="T32" fmla="*/ 580 w 580"/>
              <a:gd name="T33" fmla="*/ 28 h 51"/>
              <a:gd name="T34" fmla="*/ 2 w 580"/>
              <a:gd name="T35" fmla="*/ 0 h 51"/>
              <a:gd name="T36" fmla="*/ 0 w 580"/>
              <a:gd name="T37" fmla="*/ 6 h 51"/>
              <a:gd name="T38" fmla="*/ 0 w 580"/>
              <a:gd name="T39" fmla="*/ 11 h 51"/>
              <a:gd name="T40" fmla="*/ 0 w 580"/>
              <a:gd name="T41" fmla="*/ 18 h 51"/>
              <a:gd name="T42" fmla="*/ 0 w 580"/>
              <a:gd name="T43" fmla="*/ 24 h 51"/>
              <a:gd name="T44" fmla="*/ 0 w 580"/>
              <a:gd name="T45" fmla="*/ 31 h 51"/>
              <a:gd name="T46" fmla="*/ 0 w 580"/>
              <a:gd name="T47" fmla="*/ 38 h 51"/>
              <a:gd name="T48" fmla="*/ 0 w 580"/>
              <a:gd name="T49" fmla="*/ 44 h 51"/>
              <a:gd name="T50" fmla="*/ 0 w 580"/>
              <a:gd name="T51" fmla="*/ 51 h 51"/>
              <a:gd name="T52" fmla="*/ 4 w 580"/>
              <a:gd name="T53" fmla="*/ 48 h 51"/>
              <a:gd name="T54" fmla="*/ 4 w 580"/>
              <a:gd name="T55" fmla="*/ 41 h 51"/>
              <a:gd name="T56" fmla="*/ 4 w 580"/>
              <a:gd name="T57" fmla="*/ 34 h 51"/>
              <a:gd name="T58" fmla="*/ 4 w 580"/>
              <a:gd name="T59" fmla="*/ 28 h 51"/>
              <a:gd name="T60" fmla="*/ 4 w 580"/>
              <a:gd name="T61" fmla="*/ 21 h 51"/>
              <a:gd name="T62" fmla="*/ 4 w 580"/>
              <a:gd name="T63" fmla="*/ 14 h 51"/>
              <a:gd name="T64" fmla="*/ 4 w 580"/>
              <a:gd name="T65" fmla="*/ 9 h 51"/>
              <a:gd name="T66" fmla="*/ 4 w 580"/>
              <a:gd name="T67" fmla="*/ 3 h 51"/>
              <a:gd name="T68" fmla="*/ 2 w 58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0" h="51">
                <a:moveTo>
                  <a:pt x="580" y="24"/>
                </a:moveTo>
                <a:lnTo>
                  <a:pt x="580" y="21"/>
                </a:lnTo>
                <a:lnTo>
                  <a:pt x="580" y="18"/>
                </a:lnTo>
                <a:lnTo>
                  <a:pt x="580" y="14"/>
                </a:lnTo>
                <a:lnTo>
                  <a:pt x="580" y="11"/>
                </a:lnTo>
                <a:lnTo>
                  <a:pt x="580" y="9"/>
                </a:lnTo>
                <a:lnTo>
                  <a:pt x="580" y="6"/>
                </a:lnTo>
                <a:lnTo>
                  <a:pt x="580" y="3"/>
                </a:lnTo>
                <a:lnTo>
                  <a:pt x="580" y="0"/>
                </a:lnTo>
                <a:lnTo>
                  <a:pt x="577" y="0"/>
                </a:lnTo>
                <a:lnTo>
                  <a:pt x="577" y="3"/>
                </a:lnTo>
                <a:lnTo>
                  <a:pt x="577" y="6"/>
                </a:lnTo>
                <a:lnTo>
                  <a:pt x="577" y="9"/>
                </a:lnTo>
                <a:lnTo>
                  <a:pt x="577" y="11"/>
                </a:lnTo>
                <a:lnTo>
                  <a:pt x="577" y="14"/>
                </a:lnTo>
                <a:lnTo>
                  <a:pt x="577" y="18"/>
                </a:lnTo>
                <a:lnTo>
                  <a:pt x="577" y="21"/>
                </a:lnTo>
                <a:lnTo>
                  <a:pt x="577" y="24"/>
                </a:lnTo>
                <a:lnTo>
                  <a:pt x="577" y="28"/>
                </a:lnTo>
                <a:lnTo>
                  <a:pt x="577" y="31"/>
                </a:lnTo>
                <a:lnTo>
                  <a:pt x="577" y="34"/>
                </a:lnTo>
                <a:lnTo>
                  <a:pt x="577" y="38"/>
                </a:lnTo>
                <a:lnTo>
                  <a:pt x="577" y="41"/>
                </a:lnTo>
                <a:lnTo>
                  <a:pt x="577" y="44"/>
                </a:lnTo>
                <a:lnTo>
                  <a:pt x="577" y="48"/>
                </a:lnTo>
                <a:lnTo>
                  <a:pt x="577" y="51"/>
                </a:lnTo>
                <a:lnTo>
                  <a:pt x="580" y="51"/>
                </a:lnTo>
                <a:lnTo>
                  <a:pt x="580" y="48"/>
                </a:lnTo>
                <a:lnTo>
                  <a:pt x="580" y="44"/>
                </a:lnTo>
                <a:lnTo>
                  <a:pt x="580" y="41"/>
                </a:lnTo>
                <a:lnTo>
                  <a:pt x="580" y="38"/>
                </a:lnTo>
                <a:lnTo>
                  <a:pt x="580" y="34"/>
                </a:lnTo>
                <a:lnTo>
                  <a:pt x="580" y="31"/>
                </a:lnTo>
                <a:lnTo>
                  <a:pt x="580" y="28"/>
                </a:lnTo>
                <a:lnTo>
                  <a:pt x="58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77" name="Freeform 1482">
            <a:extLst>
              <a:ext uri="{FF2B5EF4-FFF2-40B4-BE49-F238E27FC236}">
                <a16:creationId xmlns:a16="http://schemas.microsoft.com/office/drawing/2014/main" id="{5629999F-7DBB-92CA-4ACF-75958C57846D}"/>
              </a:ext>
            </a:extLst>
          </p:cNvPr>
          <p:cNvSpPr>
            <a:spLocks noEditPoints="1"/>
          </p:cNvSpPr>
          <p:nvPr/>
        </p:nvSpPr>
        <p:spPr bwMode="auto">
          <a:xfrm>
            <a:off x="2100263" y="2719388"/>
            <a:ext cx="914400" cy="80963"/>
          </a:xfrm>
          <a:custGeom>
            <a:avLst/>
            <a:gdLst>
              <a:gd name="T0" fmla="*/ 576 w 576"/>
              <a:gd name="T1" fmla="*/ 21 h 51"/>
              <a:gd name="T2" fmla="*/ 576 w 576"/>
              <a:gd name="T3" fmla="*/ 14 h 51"/>
              <a:gd name="T4" fmla="*/ 576 w 576"/>
              <a:gd name="T5" fmla="*/ 9 h 51"/>
              <a:gd name="T6" fmla="*/ 576 w 576"/>
              <a:gd name="T7" fmla="*/ 3 h 51"/>
              <a:gd name="T8" fmla="*/ 573 w 576"/>
              <a:gd name="T9" fmla="*/ 0 h 51"/>
              <a:gd name="T10" fmla="*/ 573 w 576"/>
              <a:gd name="T11" fmla="*/ 6 h 51"/>
              <a:gd name="T12" fmla="*/ 573 w 576"/>
              <a:gd name="T13" fmla="*/ 11 h 51"/>
              <a:gd name="T14" fmla="*/ 573 w 576"/>
              <a:gd name="T15" fmla="*/ 18 h 51"/>
              <a:gd name="T16" fmla="*/ 573 w 576"/>
              <a:gd name="T17" fmla="*/ 24 h 51"/>
              <a:gd name="T18" fmla="*/ 573 w 576"/>
              <a:gd name="T19" fmla="*/ 31 h 51"/>
              <a:gd name="T20" fmla="*/ 573 w 576"/>
              <a:gd name="T21" fmla="*/ 38 h 51"/>
              <a:gd name="T22" fmla="*/ 573 w 576"/>
              <a:gd name="T23" fmla="*/ 44 h 51"/>
              <a:gd name="T24" fmla="*/ 573 w 576"/>
              <a:gd name="T25" fmla="*/ 51 h 51"/>
              <a:gd name="T26" fmla="*/ 576 w 576"/>
              <a:gd name="T27" fmla="*/ 48 h 51"/>
              <a:gd name="T28" fmla="*/ 576 w 576"/>
              <a:gd name="T29" fmla="*/ 41 h 51"/>
              <a:gd name="T30" fmla="*/ 576 w 576"/>
              <a:gd name="T31" fmla="*/ 34 h 51"/>
              <a:gd name="T32" fmla="*/ 576 w 576"/>
              <a:gd name="T33" fmla="*/ 28 h 51"/>
              <a:gd name="T34" fmla="*/ 2 w 576"/>
              <a:gd name="T35" fmla="*/ 0 h 51"/>
              <a:gd name="T36" fmla="*/ 0 w 576"/>
              <a:gd name="T37" fmla="*/ 6 h 51"/>
              <a:gd name="T38" fmla="*/ 0 w 576"/>
              <a:gd name="T39" fmla="*/ 11 h 51"/>
              <a:gd name="T40" fmla="*/ 0 w 576"/>
              <a:gd name="T41" fmla="*/ 18 h 51"/>
              <a:gd name="T42" fmla="*/ 0 w 576"/>
              <a:gd name="T43" fmla="*/ 24 h 51"/>
              <a:gd name="T44" fmla="*/ 0 w 576"/>
              <a:gd name="T45" fmla="*/ 31 h 51"/>
              <a:gd name="T46" fmla="*/ 0 w 576"/>
              <a:gd name="T47" fmla="*/ 38 h 51"/>
              <a:gd name="T48" fmla="*/ 0 w 576"/>
              <a:gd name="T49" fmla="*/ 44 h 51"/>
              <a:gd name="T50" fmla="*/ 0 w 576"/>
              <a:gd name="T51" fmla="*/ 51 h 51"/>
              <a:gd name="T52" fmla="*/ 3 w 576"/>
              <a:gd name="T53" fmla="*/ 48 h 51"/>
              <a:gd name="T54" fmla="*/ 3 w 576"/>
              <a:gd name="T55" fmla="*/ 41 h 51"/>
              <a:gd name="T56" fmla="*/ 3 w 576"/>
              <a:gd name="T57" fmla="*/ 34 h 51"/>
              <a:gd name="T58" fmla="*/ 3 w 576"/>
              <a:gd name="T59" fmla="*/ 28 h 51"/>
              <a:gd name="T60" fmla="*/ 3 w 576"/>
              <a:gd name="T61" fmla="*/ 21 h 51"/>
              <a:gd name="T62" fmla="*/ 3 w 576"/>
              <a:gd name="T63" fmla="*/ 14 h 51"/>
              <a:gd name="T64" fmla="*/ 3 w 576"/>
              <a:gd name="T65" fmla="*/ 9 h 51"/>
              <a:gd name="T66" fmla="*/ 3 w 576"/>
              <a:gd name="T67" fmla="*/ 3 h 51"/>
              <a:gd name="T68" fmla="*/ 2 w 5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6" h="51">
                <a:moveTo>
                  <a:pt x="576" y="24"/>
                </a:moveTo>
                <a:lnTo>
                  <a:pt x="576" y="21"/>
                </a:lnTo>
                <a:lnTo>
                  <a:pt x="576" y="18"/>
                </a:lnTo>
                <a:lnTo>
                  <a:pt x="576" y="14"/>
                </a:lnTo>
                <a:lnTo>
                  <a:pt x="576" y="11"/>
                </a:lnTo>
                <a:lnTo>
                  <a:pt x="576" y="9"/>
                </a:lnTo>
                <a:lnTo>
                  <a:pt x="576" y="6"/>
                </a:lnTo>
                <a:lnTo>
                  <a:pt x="576" y="3"/>
                </a:lnTo>
                <a:lnTo>
                  <a:pt x="576" y="0"/>
                </a:lnTo>
                <a:lnTo>
                  <a:pt x="573" y="0"/>
                </a:lnTo>
                <a:lnTo>
                  <a:pt x="573" y="3"/>
                </a:lnTo>
                <a:lnTo>
                  <a:pt x="573" y="6"/>
                </a:lnTo>
                <a:lnTo>
                  <a:pt x="573" y="9"/>
                </a:lnTo>
                <a:lnTo>
                  <a:pt x="573" y="11"/>
                </a:lnTo>
                <a:lnTo>
                  <a:pt x="573" y="14"/>
                </a:lnTo>
                <a:lnTo>
                  <a:pt x="573" y="18"/>
                </a:lnTo>
                <a:lnTo>
                  <a:pt x="573" y="21"/>
                </a:lnTo>
                <a:lnTo>
                  <a:pt x="573" y="24"/>
                </a:lnTo>
                <a:lnTo>
                  <a:pt x="573" y="28"/>
                </a:lnTo>
                <a:lnTo>
                  <a:pt x="573" y="31"/>
                </a:lnTo>
                <a:lnTo>
                  <a:pt x="573" y="34"/>
                </a:lnTo>
                <a:lnTo>
                  <a:pt x="573" y="38"/>
                </a:lnTo>
                <a:lnTo>
                  <a:pt x="573" y="41"/>
                </a:lnTo>
                <a:lnTo>
                  <a:pt x="573" y="44"/>
                </a:lnTo>
                <a:lnTo>
                  <a:pt x="573" y="48"/>
                </a:lnTo>
                <a:lnTo>
                  <a:pt x="573" y="51"/>
                </a:lnTo>
                <a:lnTo>
                  <a:pt x="576" y="51"/>
                </a:lnTo>
                <a:lnTo>
                  <a:pt x="576" y="48"/>
                </a:lnTo>
                <a:lnTo>
                  <a:pt x="576" y="44"/>
                </a:lnTo>
                <a:lnTo>
                  <a:pt x="576" y="41"/>
                </a:lnTo>
                <a:lnTo>
                  <a:pt x="576" y="38"/>
                </a:lnTo>
                <a:lnTo>
                  <a:pt x="576" y="34"/>
                </a:lnTo>
                <a:lnTo>
                  <a:pt x="576" y="31"/>
                </a:lnTo>
                <a:lnTo>
                  <a:pt x="576" y="28"/>
                </a:lnTo>
                <a:lnTo>
                  <a:pt x="57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78" name="Freeform 1483">
            <a:extLst>
              <a:ext uri="{FF2B5EF4-FFF2-40B4-BE49-F238E27FC236}">
                <a16:creationId xmlns:a16="http://schemas.microsoft.com/office/drawing/2014/main" id="{7C442BEA-B3BA-8925-662C-9B88F36AB77A}"/>
              </a:ext>
            </a:extLst>
          </p:cNvPr>
          <p:cNvSpPr>
            <a:spLocks noEditPoints="1"/>
          </p:cNvSpPr>
          <p:nvPr/>
        </p:nvSpPr>
        <p:spPr bwMode="auto">
          <a:xfrm>
            <a:off x="2103438" y="2719388"/>
            <a:ext cx="909638" cy="80963"/>
          </a:xfrm>
          <a:custGeom>
            <a:avLst/>
            <a:gdLst>
              <a:gd name="T0" fmla="*/ 573 w 573"/>
              <a:gd name="T1" fmla="*/ 21 h 51"/>
              <a:gd name="T2" fmla="*/ 573 w 573"/>
              <a:gd name="T3" fmla="*/ 14 h 51"/>
              <a:gd name="T4" fmla="*/ 573 w 573"/>
              <a:gd name="T5" fmla="*/ 9 h 51"/>
              <a:gd name="T6" fmla="*/ 573 w 573"/>
              <a:gd name="T7" fmla="*/ 3 h 51"/>
              <a:gd name="T8" fmla="*/ 569 w 573"/>
              <a:gd name="T9" fmla="*/ 0 h 51"/>
              <a:gd name="T10" fmla="*/ 569 w 573"/>
              <a:gd name="T11" fmla="*/ 6 h 51"/>
              <a:gd name="T12" fmla="*/ 569 w 573"/>
              <a:gd name="T13" fmla="*/ 11 h 51"/>
              <a:gd name="T14" fmla="*/ 569 w 573"/>
              <a:gd name="T15" fmla="*/ 18 h 51"/>
              <a:gd name="T16" fmla="*/ 569 w 573"/>
              <a:gd name="T17" fmla="*/ 24 h 51"/>
              <a:gd name="T18" fmla="*/ 569 w 573"/>
              <a:gd name="T19" fmla="*/ 31 h 51"/>
              <a:gd name="T20" fmla="*/ 569 w 573"/>
              <a:gd name="T21" fmla="*/ 38 h 51"/>
              <a:gd name="T22" fmla="*/ 569 w 573"/>
              <a:gd name="T23" fmla="*/ 44 h 51"/>
              <a:gd name="T24" fmla="*/ 569 w 573"/>
              <a:gd name="T25" fmla="*/ 51 h 51"/>
              <a:gd name="T26" fmla="*/ 573 w 573"/>
              <a:gd name="T27" fmla="*/ 48 h 51"/>
              <a:gd name="T28" fmla="*/ 573 w 573"/>
              <a:gd name="T29" fmla="*/ 41 h 51"/>
              <a:gd name="T30" fmla="*/ 573 w 573"/>
              <a:gd name="T31" fmla="*/ 34 h 51"/>
              <a:gd name="T32" fmla="*/ 573 w 573"/>
              <a:gd name="T33" fmla="*/ 28 h 51"/>
              <a:gd name="T34" fmla="*/ 1 w 573"/>
              <a:gd name="T35" fmla="*/ 0 h 51"/>
              <a:gd name="T36" fmla="*/ 0 w 573"/>
              <a:gd name="T37" fmla="*/ 6 h 51"/>
              <a:gd name="T38" fmla="*/ 0 w 573"/>
              <a:gd name="T39" fmla="*/ 11 h 51"/>
              <a:gd name="T40" fmla="*/ 0 w 573"/>
              <a:gd name="T41" fmla="*/ 18 h 51"/>
              <a:gd name="T42" fmla="*/ 0 w 573"/>
              <a:gd name="T43" fmla="*/ 24 h 51"/>
              <a:gd name="T44" fmla="*/ 0 w 573"/>
              <a:gd name="T45" fmla="*/ 31 h 51"/>
              <a:gd name="T46" fmla="*/ 0 w 573"/>
              <a:gd name="T47" fmla="*/ 38 h 51"/>
              <a:gd name="T48" fmla="*/ 0 w 573"/>
              <a:gd name="T49" fmla="*/ 44 h 51"/>
              <a:gd name="T50" fmla="*/ 0 w 573"/>
              <a:gd name="T51" fmla="*/ 51 h 51"/>
              <a:gd name="T52" fmla="*/ 3 w 573"/>
              <a:gd name="T53" fmla="*/ 48 h 51"/>
              <a:gd name="T54" fmla="*/ 3 w 573"/>
              <a:gd name="T55" fmla="*/ 41 h 51"/>
              <a:gd name="T56" fmla="*/ 3 w 573"/>
              <a:gd name="T57" fmla="*/ 34 h 51"/>
              <a:gd name="T58" fmla="*/ 3 w 573"/>
              <a:gd name="T59" fmla="*/ 28 h 51"/>
              <a:gd name="T60" fmla="*/ 3 w 573"/>
              <a:gd name="T61" fmla="*/ 21 h 51"/>
              <a:gd name="T62" fmla="*/ 3 w 573"/>
              <a:gd name="T63" fmla="*/ 14 h 51"/>
              <a:gd name="T64" fmla="*/ 3 w 573"/>
              <a:gd name="T65" fmla="*/ 9 h 51"/>
              <a:gd name="T66" fmla="*/ 3 w 573"/>
              <a:gd name="T67" fmla="*/ 3 h 51"/>
              <a:gd name="T68" fmla="*/ 1 w 57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3" h="51">
                <a:moveTo>
                  <a:pt x="573" y="24"/>
                </a:moveTo>
                <a:lnTo>
                  <a:pt x="573" y="21"/>
                </a:lnTo>
                <a:lnTo>
                  <a:pt x="573" y="18"/>
                </a:lnTo>
                <a:lnTo>
                  <a:pt x="573" y="14"/>
                </a:lnTo>
                <a:lnTo>
                  <a:pt x="573" y="11"/>
                </a:lnTo>
                <a:lnTo>
                  <a:pt x="573" y="9"/>
                </a:lnTo>
                <a:lnTo>
                  <a:pt x="573" y="6"/>
                </a:lnTo>
                <a:lnTo>
                  <a:pt x="573" y="3"/>
                </a:lnTo>
                <a:lnTo>
                  <a:pt x="573" y="0"/>
                </a:lnTo>
                <a:lnTo>
                  <a:pt x="569" y="0"/>
                </a:lnTo>
                <a:lnTo>
                  <a:pt x="569" y="3"/>
                </a:lnTo>
                <a:lnTo>
                  <a:pt x="569" y="6"/>
                </a:lnTo>
                <a:lnTo>
                  <a:pt x="569" y="9"/>
                </a:lnTo>
                <a:lnTo>
                  <a:pt x="569" y="11"/>
                </a:lnTo>
                <a:lnTo>
                  <a:pt x="569" y="14"/>
                </a:lnTo>
                <a:lnTo>
                  <a:pt x="569" y="18"/>
                </a:lnTo>
                <a:lnTo>
                  <a:pt x="569" y="21"/>
                </a:lnTo>
                <a:lnTo>
                  <a:pt x="569" y="24"/>
                </a:lnTo>
                <a:lnTo>
                  <a:pt x="569" y="28"/>
                </a:lnTo>
                <a:lnTo>
                  <a:pt x="569" y="31"/>
                </a:lnTo>
                <a:lnTo>
                  <a:pt x="569" y="34"/>
                </a:lnTo>
                <a:lnTo>
                  <a:pt x="569" y="38"/>
                </a:lnTo>
                <a:lnTo>
                  <a:pt x="569" y="41"/>
                </a:lnTo>
                <a:lnTo>
                  <a:pt x="569" y="44"/>
                </a:lnTo>
                <a:lnTo>
                  <a:pt x="569" y="48"/>
                </a:lnTo>
                <a:lnTo>
                  <a:pt x="569" y="51"/>
                </a:lnTo>
                <a:lnTo>
                  <a:pt x="573" y="51"/>
                </a:lnTo>
                <a:lnTo>
                  <a:pt x="573" y="48"/>
                </a:lnTo>
                <a:lnTo>
                  <a:pt x="573" y="44"/>
                </a:lnTo>
                <a:lnTo>
                  <a:pt x="573" y="41"/>
                </a:lnTo>
                <a:lnTo>
                  <a:pt x="573" y="38"/>
                </a:lnTo>
                <a:lnTo>
                  <a:pt x="573" y="34"/>
                </a:lnTo>
                <a:lnTo>
                  <a:pt x="573" y="31"/>
                </a:lnTo>
                <a:lnTo>
                  <a:pt x="573" y="28"/>
                </a:lnTo>
                <a:lnTo>
                  <a:pt x="57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79" name="Freeform 1484">
            <a:extLst>
              <a:ext uri="{FF2B5EF4-FFF2-40B4-BE49-F238E27FC236}">
                <a16:creationId xmlns:a16="http://schemas.microsoft.com/office/drawing/2014/main" id="{82B79F94-03AA-A717-6F7C-264E9DD26AC9}"/>
              </a:ext>
            </a:extLst>
          </p:cNvPr>
          <p:cNvSpPr>
            <a:spLocks noEditPoints="1"/>
          </p:cNvSpPr>
          <p:nvPr/>
        </p:nvSpPr>
        <p:spPr bwMode="auto">
          <a:xfrm>
            <a:off x="2105025" y="2719388"/>
            <a:ext cx="904875" cy="80963"/>
          </a:xfrm>
          <a:custGeom>
            <a:avLst/>
            <a:gdLst>
              <a:gd name="T0" fmla="*/ 570 w 570"/>
              <a:gd name="T1" fmla="*/ 21 h 51"/>
              <a:gd name="T2" fmla="*/ 570 w 570"/>
              <a:gd name="T3" fmla="*/ 14 h 51"/>
              <a:gd name="T4" fmla="*/ 570 w 570"/>
              <a:gd name="T5" fmla="*/ 9 h 51"/>
              <a:gd name="T6" fmla="*/ 570 w 570"/>
              <a:gd name="T7" fmla="*/ 3 h 51"/>
              <a:gd name="T8" fmla="*/ 567 w 570"/>
              <a:gd name="T9" fmla="*/ 0 h 51"/>
              <a:gd name="T10" fmla="*/ 567 w 570"/>
              <a:gd name="T11" fmla="*/ 6 h 51"/>
              <a:gd name="T12" fmla="*/ 567 w 570"/>
              <a:gd name="T13" fmla="*/ 11 h 51"/>
              <a:gd name="T14" fmla="*/ 567 w 570"/>
              <a:gd name="T15" fmla="*/ 18 h 51"/>
              <a:gd name="T16" fmla="*/ 567 w 570"/>
              <a:gd name="T17" fmla="*/ 24 h 51"/>
              <a:gd name="T18" fmla="*/ 567 w 570"/>
              <a:gd name="T19" fmla="*/ 31 h 51"/>
              <a:gd name="T20" fmla="*/ 567 w 570"/>
              <a:gd name="T21" fmla="*/ 38 h 51"/>
              <a:gd name="T22" fmla="*/ 567 w 570"/>
              <a:gd name="T23" fmla="*/ 44 h 51"/>
              <a:gd name="T24" fmla="*/ 567 w 570"/>
              <a:gd name="T25" fmla="*/ 51 h 51"/>
              <a:gd name="T26" fmla="*/ 570 w 570"/>
              <a:gd name="T27" fmla="*/ 48 h 51"/>
              <a:gd name="T28" fmla="*/ 570 w 570"/>
              <a:gd name="T29" fmla="*/ 41 h 51"/>
              <a:gd name="T30" fmla="*/ 570 w 570"/>
              <a:gd name="T31" fmla="*/ 34 h 51"/>
              <a:gd name="T32" fmla="*/ 570 w 570"/>
              <a:gd name="T33" fmla="*/ 28 h 51"/>
              <a:gd name="T34" fmla="*/ 2 w 570"/>
              <a:gd name="T35" fmla="*/ 0 h 51"/>
              <a:gd name="T36" fmla="*/ 0 w 570"/>
              <a:gd name="T37" fmla="*/ 6 h 51"/>
              <a:gd name="T38" fmla="*/ 0 w 570"/>
              <a:gd name="T39" fmla="*/ 11 h 51"/>
              <a:gd name="T40" fmla="*/ 0 w 570"/>
              <a:gd name="T41" fmla="*/ 18 h 51"/>
              <a:gd name="T42" fmla="*/ 0 w 570"/>
              <a:gd name="T43" fmla="*/ 24 h 51"/>
              <a:gd name="T44" fmla="*/ 0 w 570"/>
              <a:gd name="T45" fmla="*/ 31 h 51"/>
              <a:gd name="T46" fmla="*/ 0 w 570"/>
              <a:gd name="T47" fmla="*/ 38 h 51"/>
              <a:gd name="T48" fmla="*/ 0 w 570"/>
              <a:gd name="T49" fmla="*/ 44 h 51"/>
              <a:gd name="T50" fmla="*/ 0 w 570"/>
              <a:gd name="T51" fmla="*/ 51 h 51"/>
              <a:gd name="T52" fmla="*/ 4 w 570"/>
              <a:gd name="T53" fmla="*/ 48 h 51"/>
              <a:gd name="T54" fmla="*/ 4 w 570"/>
              <a:gd name="T55" fmla="*/ 41 h 51"/>
              <a:gd name="T56" fmla="*/ 4 w 570"/>
              <a:gd name="T57" fmla="*/ 34 h 51"/>
              <a:gd name="T58" fmla="*/ 4 w 570"/>
              <a:gd name="T59" fmla="*/ 28 h 51"/>
              <a:gd name="T60" fmla="*/ 4 w 570"/>
              <a:gd name="T61" fmla="*/ 21 h 51"/>
              <a:gd name="T62" fmla="*/ 4 w 570"/>
              <a:gd name="T63" fmla="*/ 14 h 51"/>
              <a:gd name="T64" fmla="*/ 4 w 570"/>
              <a:gd name="T65" fmla="*/ 9 h 51"/>
              <a:gd name="T66" fmla="*/ 4 w 570"/>
              <a:gd name="T67" fmla="*/ 3 h 51"/>
              <a:gd name="T68" fmla="*/ 2 w 57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0" h="51">
                <a:moveTo>
                  <a:pt x="570" y="24"/>
                </a:moveTo>
                <a:lnTo>
                  <a:pt x="570" y="21"/>
                </a:lnTo>
                <a:lnTo>
                  <a:pt x="570" y="18"/>
                </a:lnTo>
                <a:lnTo>
                  <a:pt x="570" y="14"/>
                </a:lnTo>
                <a:lnTo>
                  <a:pt x="570" y="11"/>
                </a:lnTo>
                <a:lnTo>
                  <a:pt x="570" y="9"/>
                </a:lnTo>
                <a:lnTo>
                  <a:pt x="570" y="6"/>
                </a:lnTo>
                <a:lnTo>
                  <a:pt x="570" y="3"/>
                </a:lnTo>
                <a:lnTo>
                  <a:pt x="570" y="0"/>
                </a:lnTo>
                <a:lnTo>
                  <a:pt x="567" y="0"/>
                </a:lnTo>
                <a:lnTo>
                  <a:pt x="567" y="3"/>
                </a:lnTo>
                <a:lnTo>
                  <a:pt x="567" y="6"/>
                </a:lnTo>
                <a:lnTo>
                  <a:pt x="567" y="9"/>
                </a:lnTo>
                <a:lnTo>
                  <a:pt x="567" y="11"/>
                </a:lnTo>
                <a:lnTo>
                  <a:pt x="567" y="14"/>
                </a:lnTo>
                <a:lnTo>
                  <a:pt x="567" y="18"/>
                </a:lnTo>
                <a:lnTo>
                  <a:pt x="567" y="21"/>
                </a:lnTo>
                <a:lnTo>
                  <a:pt x="567" y="24"/>
                </a:lnTo>
                <a:lnTo>
                  <a:pt x="567" y="28"/>
                </a:lnTo>
                <a:lnTo>
                  <a:pt x="567" y="31"/>
                </a:lnTo>
                <a:lnTo>
                  <a:pt x="567" y="34"/>
                </a:lnTo>
                <a:lnTo>
                  <a:pt x="567" y="38"/>
                </a:lnTo>
                <a:lnTo>
                  <a:pt x="567" y="41"/>
                </a:lnTo>
                <a:lnTo>
                  <a:pt x="567" y="44"/>
                </a:lnTo>
                <a:lnTo>
                  <a:pt x="567" y="48"/>
                </a:lnTo>
                <a:lnTo>
                  <a:pt x="567" y="51"/>
                </a:lnTo>
                <a:lnTo>
                  <a:pt x="570" y="51"/>
                </a:lnTo>
                <a:lnTo>
                  <a:pt x="570" y="48"/>
                </a:lnTo>
                <a:lnTo>
                  <a:pt x="570" y="44"/>
                </a:lnTo>
                <a:lnTo>
                  <a:pt x="570" y="41"/>
                </a:lnTo>
                <a:lnTo>
                  <a:pt x="570" y="38"/>
                </a:lnTo>
                <a:lnTo>
                  <a:pt x="570" y="34"/>
                </a:lnTo>
                <a:lnTo>
                  <a:pt x="570" y="31"/>
                </a:lnTo>
                <a:lnTo>
                  <a:pt x="570" y="28"/>
                </a:lnTo>
                <a:lnTo>
                  <a:pt x="57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80" name="Freeform 1485">
            <a:extLst>
              <a:ext uri="{FF2B5EF4-FFF2-40B4-BE49-F238E27FC236}">
                <a16:creationId xmlns:a16="http://schemas.microsoft.com/office/drawing/2014/main" id="{D483ABDD-831C-0F29-7DDE-0E696EF0399C}"/>
              </a:ext>
            </a:extLst>
          </p:cNvPr>
          <p:cNvSpPr>
            <a:spLocks noEditPoints="1"/>
          </p:cNvSpPr>
          <p:nvPr/>
        </p:nvSpPr>
        <p:spPr bwMode="auto">
          <a:xfrm>
            <a:off x="2108200" y="2719388"/>
            <a:ext cx="898525" cy="80963"/>
          </a:xfrm>
          <a:custGeom>
            <a:avLst/>
            <a:gdLst>
              <a:gd name="T0" fmla="*/ 566 w 566"/>
              <a:gd name="T1" fmla="*/ 21 h 51"/>
              <a:gd name="T2" fmla="*/ 566 w 566"/>
              <a:gd name="T3" fmla="*/ 14 h 51"/>
              <a:gd name="T4" fmla="*/ 566 w 566"/>
              <a:gd name="T5" fmla="*/ 9 h 51"/>
              <a:gd name="T6" fmla="*/ 566 w 566"/>
              <a:gd name="T7" fmla="*/ 3 h 51"/>
              <a:gd name="T8" fmla="*/ 563 w 566"/>
              <a:gd name="T9" fmla="*/ 0 h 51"/>
              <a:gd name="T10" fmla="*/ 563 w 566"/>
              <a:gd name="T11" fmla="*/ 6 h 51"/>
              <a:gd name="T12" fmla="*/ 563 w 566"/>
              <a:gd name="T13" fmla="*/ 11 h 51"/>
              <a:gd name="T14" fmla="*/ 563 w 566"/>
              <a:gd name="T15" fmla="*/ 18 h 51"/>
              <a:gd name="T16" fmla="*/ 563 w 566"/>
              <a:gd name="T17" fmla="*/ 24 h 51"/>
              <a:gd name="T18" fmla="*/ 563 w 566"/>
              <a:gd name="T19" fmla="*/ 31 h 51"/>
              <a:gd name="T20" fmla="*/ 563 w 566"/>
              <a:gd name="T21" fmla="*/ 38 h 51"/>
              <a:gd name="T22" fmla="*/ 563 w 566"/>
              <a:gd name="T23" fmla="*/ 44 h 51"/>
              <a:gd name="T24" fmla="*/ 563 w 566"/>
              <a:gd name="T25" fmla="*/ 51 h 51"/>
              <a:gd name="T26" fmla="*/ 566 w 566"/>
              <a:gd name="T27" fmla="*/ 48 h 51"/>
              <a:gd name="T28" fmla="*/ 566 w 566"/>
              <a:gd name="T29" fmla="*/ 41 h 51"/>
              <a:gd name="T30" fmla="*/ 566 w 566"/>
              <a:gd name="T31" fmla="*/ 34 h 51"/>
              <a:gd name="T32" fmla="*/ 566 w 566"/>
              <a:gd name="T33" fmla="*/ 28 h 51"/>
              <a:gd name="T34" fmla="*/ 2 w 566"/>
              <a:gd name="T35" fmla="*/ 0 h 51"/>
              <a:gd name="T36" fmla="*/ 0 w 566"/>
              <a:gd name="T37" fmla="*/ 6 h 51"/>
              <a:gd name="T38" fmla="*/ 0 w 566"/>
              <a:gd name="T39" fmla="*/ 11 h 51"/>
              <a:gd name="T40" fmla="*/ 0 w 566"/>
              <a:gd name="T41" fmla="*/ 18 h 51"/>
              <a:gd name="T42" fmla="*/ 0 w 566"/>
              <a:gd name="T43" fmla="*/ 24 h 51"/>
              <a:gd name="T44" fmla="*/ 0 w 566"/>
              <a:gd name="T45" fmla="*/ 31 h 51"/>
              <a:gd name="T46" fmla="*/ 0 w 566"/>
              <a:gd name="T47" fmla="*/ 38 h 51"/>
              <a:gd name="T48" fmla="*/ 0 w 566"/>
              <a:gd name="T49" fmla="*/ 44 h 51"/>
              <a:gd name="T50" fmla="*/ 0 w 566"/>
              <a:gd name="T51" fmla="*/ 51 h 51"/>
              <a:gd name="T52" fmla="*/ 3 w 566"/>
              <a:gd name="T53" fmla="*/ 48 h 51"/>
              <a:gd name="T54" fmla="*/ 3 w 566"/>
              <a:gd name="T55" fmla="*/ 41 h 51"/>
              <a:gd name="T56" fmla="*/ 3 w 566"/>
              <a:gd name="T57" fmla="*/ 34 h 51"/>
              <a:gd name="T58" fmla="*/ 3 w 566"/>
              <a:gd name="T59" fmla="*/ 28 h 51"/>
              <a:gd name="T60" fmla="*/ 3 w 566"/>
              <a:gd name="T61" fmla="*/ 21 h 51"/>
              <a:gd name="T62" fmla="*/ 3 w 566"/>
              <a:gd name="T63" fmla="*/ 14 h 51"/>
              <a:gd name="T64" fmla="*/ 3 w 566"/>
              <a:gd name="T65" fmla="*/ 9 h 51"/>
              <a:gd name="T66" fmla="*/ 3 w 566"/>
              <a:gd name="T67" fmla="*/ 3 h 51"/>
              <a:gd name="T68" fmla="*/ 2 w 5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6" h="51">
                <a:moveTo>
                  <a:pt x="566" y="24"/>
                </a:moveTo>
                <a:lnTo>
                  <a:pt x="566" y="21"/>
                </a:lnTo>
                <a:lnTo>
                  <a:pt x="566" y="18"/>
                </a:lnTo>
                <a:lnTo>
                  <a:pt x="566" y="14"/>
                </a:lnTo>
                <a:lnTo>
                  <a:pt x="566" y="11"/>
                </a:lnTo>
                <a:lnTo>
                  <a:pt x="566" y="9"/>
                </a:lnTo>
                <a:lnTo>
                  <a:pt x="566" y="6"/>
                </a:lnTo>
                <a:lnTo>
                  <a:pt x="566" y="3"/>
                </a:lnTo>
                <a:lnTo>
                  <a:pt x="566" y="0"/>
                </a:lnTo>
                <a:lnTo>
                  <a:pt x="563" y="0"/>
                </a:lnTo>
                <a:lnTo>
                  <a:pt x="563" y="3"/>
                </a:lnTo>
                <a:lnTo>
                  <a:pt x="563" y="6"/>
                </a:lnTo>
                <a:lnTo>
                  <a:pt x="563" y="9"/>
                </a:lnTo>
                <a:lnTo>
                  <a:pt x="563" y="11"/>
                </a:lnTo>
                <a:lnTo>
                  <a:pt x="563" y="14"/>
                </a:lnTo>
                <a:lnTo>
                  <a:pt x="563" y="18"/>
                </a:lnTo>
                <a:lnTo>
                  <a:pt x="563" y="21"/>
                </a:lnTo>
                <a:lnTo>
                  <a:pt x="563" y="24"/>
                </a:lnTo>
                <a:lnTo>
                  <a:pt x="563" y="28"/>
                </a:lnTo>
                <a:lnTo>
                  <a:pt x="563" y="31"/>
                </a:lnTo>
                <a:lnTo>
                  <a:pt x="563" y="34"/>
                </a:lnTo>
                <a:lnTo>
                  <a:pt x="563" y="38"/>
                </a:lnTo>
                <a:lnTo>
                  <a:pt x="563" y="41"/>
                </a:lnTo>
                <a:lnTo>
                  <a:pt x="563" y="44"/>
                </a:lnTo>
                <a:lnTo>
                  <a:pt x="563" y="48"/>
                </a:lnTo>
                <a:lnTo>
                  <a:pt x="563" y="51"/>
                </a:lnTo>
                <a:lnTo>
                  <a:pt x="566" y="51"/>
                </a:lnTo>
                <a:lnTo>
                  <a:pt x="566" y="48"/>
                </a:lnTo>
                <a:lnTo>
                  <a:pt x="566" y="44"/>
                </a:lnTo>
                <a:lnTo>
                  <a:pt x="566" y="41"/>
                </a:lnTo>
                <a:lnTo>
                  <a:pt x="566" y="38"/>
                </a:lnTo>
                <a:lnTo>
                  <a:pt x="566" y="34"/>
                </a:lnTo>
                <a:lnTo>
                  <a:pt x="566" y="31"/>
                </a:lnTo>
                <a:lnTo>
                  <a:pt x="566" y="28"/>
                </a:lnTo>
                <a:lnTo>
                  <a:pt x="56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81" name="Freeform 1486">
            <a:extLst>
              <a:ext uri="{FF2B5EF4-FFF2-40B4-BE49-F238E27FC236}">
                <a16:creationId xmlns:a16="http://schemas.microsoft.com/office/drawing/2014/main" id="{C300BD5E-813C-8EF3-77D1-7B7E76A5073F}"/>
              </a:ext>
            </a:extLst>
          </p:cNvPr>
          <p:cNvSpPr>
            <a:spLocks noEditPoints="1"/>
          </p:cNvSpPr>
          <p:nvPr/>
        </p:nvSpPr>
        <p:spPr bwMode="auto">
          <a:xfrm>
            <a:off x="2111375" y="2719388"/>
            <a:ext cx="893763" cy="80963"/>
          </a:xfrm>
          <a:custGeom>
            <a:avLst/>
            <a:gdLst>
              <a:gd name="T0" fmla="*/ 563 w 563"/>
              <a:gd name="T1" fmla="*/ 21 h 51"/>
              <a:gd name="T2" fmla="*/ 563 w 563"/>
              <a:gd name="T3" fmla="*/ 14 h 51"/>
              <a:gd name="T4" fmla="*/ 563 w 563"/>
              <a:gd name="T5" fmla="*/ 9 h 51"/>
              <a:gd name="T6" fmla="*/ 563 w 563"/>
              <a:gd name="T7" fmla="*/ 3 h 51"/>
              <a:gd name="T8" fmla="*/ 559 w 563"/>
              <a:gd name="T9" fmla="*/ 0 h 51"/>
              <a:gd name="T10" fmla="*/ 559 w 563"/>
              <a:gd name="T11" fmla="*/ 6 h 51"/>
              <a:gd name="T12" fmla="*/ 559 w 563"/>
              <a:gd name="T13" fmla="*/ 11 h 51"/>
              <a:gd name="T14" fmla="*/ 559 w 563"/>
              <a:gd name="T15" fmla="*/ 18 h 51"/>
              <a:gd name="T16" fmla="*/ 559 w 563"/>
              <a:gd name="T17" fmla="*/ 24 h 51"/>
              <a:gd name="T18" fmla="*/ 559 w 563"/>
              <a:gd name="T19" fmla="*/ 31 h 51"/>
              <a:gd name="T20" fmla="*/ 559 w 563"/>
              <a:gd name="T21" fmla="*/ 38 h 51"/>
              <a:gd name="T22" fmla="*/ 559 w 563"/>
              <a:gd name="T23" fmla="*/ 44 h 51"/>
              <a:gd name="T24" fmla="*/ 559 w 563"/>
              <a:gd name="T25" fmla="*/ 51 h 51"/>
              <a:gd name="T26" fmla="*/ 563 w 563"/>
              <a:gd name="T27" fmla="*/ 48 h 51"/>
              <a:gd name="T28" fmla="*/ 563 w 563"/>
              <a:gd name="T29" fmla="*/ 41 h 51"/>
              <a:gd name="T30" fmla="*/ 563 w 563"/>
              <a:gd name="T31" fmla="*/ 34 h 51"/>
              <a:gd name="T32" fmla="*/ 563 w 563"/>
              <a:gd name="T33" fmla="*/ 28 h 51"/>
              <a:gd name="T34" fmla="*/ 1 w 563"/>
              <a:gd name="T35" fmla="*/ 0 h 51"/>
              <a:gd name="T36" fmla="*/ 0 w 563"/>
              <a:gd name="T37" fmla="*/ 6 h 51"/>
              <a:gd name="T38" fmla="*/ 0 w 563"/>
              <a:gd name="T39" fmla="*/ 11 h 51"/>
              <a:gd name="T40" fmla="*/ 0 w 563"/>
              <a:gd name="T41" fmla="*/ 18 h 51"/>
              <a:gd name="T42" fmla="*/ 0 w 563"/>
              <a:gd name="T43" fmla="*/ 24 h 51"/>
              <a:gd name="T44" fmla="*/ 0 w 563"/>
              <a:gd name="T45" fmla="*/ 31 h 51"/>
              <a:gd name="T46" fmla="*/ 0 w 563"/>
              <a:gd name="T47" fmla="*/ 38 h 51"/>
              <a:gd name="T48" fmla="*/ 0 w 563"/>
              <a:gd name="T49" fmla="*/ 44 h 51"/>
              <a:gd name="T50" fmla="*/ 0 w 563"/>
              <a:gd name="T51" fmla="*/ 51 h 51"/>
              <a:gd name="T52" fmla="*/ 3 w 563"/>
              <a:gd name="T53" fmla="*/ 48 h 51"/>
              <a:gd name="T54" fmla="*/ 3 w 563"/>
              <a:gd name="T55" fmla="*/ 41 h 51"/>
              <a:gd name="T56" fmla="*/ 3 w 563"/>
              <a:gd name="T57" fmla="*/ 34 h 51"/>
              <a:gd name="T58" fmla="*/ 3 w 563"/>
              <a:gd name="T59" fmla="*/ 28 h 51"/>
              <a:gd name="T60" fmla="*/ 3 w 563"/>
              <a:gd name="T61" fmla="*/ 21 h 51"/>
              <a:gd name="T62" fmla="*/ 3 w 563"/>
              <a:gd name="T63" fmla="*/ 14 h 51"/>
              <a:gd name="T64" fmla="*/ 3 w 563"/>
              <a:gd name="T65" fmla="*/ 9 h 51"/>
              <a:gd name="T66" fmla="*/ 3 w 563"/>
              <a:gd name="T67" fmla="*/ 3 h 51"/>
              <a:gd name="T68" fmla="*/ 1 w 56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3" h="51">
                <a:moveTo>
                  <a:pt x="563" y="24"/>
                </a:moveTo>
                <a:lnTo>
                  <a:pt x="563" y="21"/>
                </a:lnTo>
                <a:lnTo>
                  <a:pt x="563" y="18"/>
                </a:lnTo>
                <a:lnTo>
                  <a:pt x="563" y="14"/>
                </a:lnTo>
                <a:lnTo>
                  <a:pt x="563" y="11"/>
                </a:lnTo>
                <a:lnTo>
                  <a:pt x="563" y="9"/>
                </a:lnTo>
                <a:lnTo>
                  <a:pt x="563" y="6"/>
                </a:lnTo>
                <a:lnTo>
                  <a:pt x="563" y="3"/>
                </a:lnTo>
                <a:lnTo>
                  <a:pt x="563" y="0"/>
                </a:lnTo>
                <a:lnTo>
                  <a:pt x="559" y="0"/>
                </a:lnTo>
                <a:lnTo>
                  <a:pt x="559" y="3"/>
                </a:lnTo>
                <a:lnTo>
                  <a:pt x="559" y="6"/>
                </a:lnTo>
                <a:lnTo>
                  <a:pt x="559" y="9"/>
                </a:lnTo>
                <a:lnTo>
                  <a:pt x="559" y="11"/>
                </a:lnTo>
                <a:lnTo>
                  <a:pt x="559" y="14"/>
                </a:lnTo>
                <a:lnTo>
                  <a:pt x="559" y="18"/>
                </a:lnTo>
                <a:lnTo>
                  <a:pt x="559" y="21"/>
                </a:lnTo>
                <a:lnTo>
                  <a:pt x="559" y="24"/>
                </a:lnTo>
                <a:lnTo>
                  <a:pt x="559" y="28"/>
                </a:lnTo>
                <a:lnTo>
                  <a:pt x="559" y="31"/>
                </a:lnTo>
                <a:lnTo>
                  <a:pt x="559" y="34"/>
                </a:lnTo>
                <a:lnTo>
                  <a:pt x="559" y="38"/>
                </a:lnTo>
                <a:lnTo>
                  <a:pt x="559" y="41"/>
                </a:lnTo>
                <a:lnTo>
                  <a:pt x="559" y="44"/>
                </a:lnTo>
                <a:lnTo>
                  <a:pt x="559" y="48"/>
                </a:lnTo>
                <a:lnTo>
                  <a:pt x="559" y="51"/>
                </a:lnTo>
                <a:lnTo>
                  <a:pt x="563" y="51"/>
                </a:lnTo>
                <a:lnTo>
                  <a:pt x="563" y="48"/>
                </a:lnTo>
                <a:lnTo>
                  <a:pt x="563" y="44"/>
                </a:lnTo>
                <a:lnTo>
                  <a:pt x="563" y="41"/>
                </a:lnTo>
                <a:lnTo>
                  <a:pt x="563" y="38"/>
                </a:lnTo>
                <a:lnTo>
                  <a:pt x="563" y="34"/>
                </a:lnTo>
                <a:lnTo>
                  <a:pt x="563" y="31"/>
                </a:lnTo>
                <a:lnTo>
                  <a:pt x="563" y="28"/>
                </a:lnTo>
                <a:lnTo>
                  <a:pt x="56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82" name="Freeform 1487">
            <a:extLst>
              <a:ext uri="{FF2B5EF4-FFF2-40B4-BE49-F238E27FC236}">
                <a16:creationId xmlns:a16="http://schemas.microsoft.com/office/drawing/2014/main" id="{EE6D581C-906A-11B7-3D8E-FF168E523C04}"/>
              </a:ext>
            </a:extLst>
          </p:cNvPr>
          <p:cNvSpPr>
            <a:spLocks noEditPoints="1"/>
          </p:cNvSpPr>
          <p:nvPr/>
        </p:nvSpPr>
        <p:spPr bwMode="auto">
          <a:xfrm>
            <a:off x="2112963" y="2719388"/>
            <a:ext cx="889000" cy="80963"/>
          </a:xfrm>
          <a:custGeom>
            <a:avLst/>
            <a:gdLst>
              <a:gd name="T0" fmla="*/ 560 w 560"/>
              <a:gd name="T1" fmla="*/ 21 h 51"/>
              <a:gd name="T2" fmla="*/ 560 w 560"/>
              <a:gd name="T3" fmla="*/ 14 h 51"/>
              <a:gd name="T4" fmla="*/ 560 w 560"/>
              <a:gd name="T5" fmla="*/ 9 h 51"/>
              <a:gd name="T6" fmla="*/ 560 w 560"/>
              <a:gd name="T7" fmla="*/ 3 h 51"/>
              <a:gd name="T8" fmla="*/ 557 w 560"/>
              <a:gd name="T9" fmla="*/ 0 h 51"/>
              <a:gd name="T10" fmla="*/ 557 w 560"/>
              <a:gd name="T11" fmla="*/ 6 h 51"/>
              <a:gd name="T12" fmla="*/ 557 w 560"/>
              <a:gd name="T13" fmla="*/ 11 h 51"/>
              <a:gd name="T14" fmla="*/ 557 w 560"/>
              <a:gd name="T15" fmla="*/ 18 h 51"/>
              <a:gd name="T16" fmla="*/ 557 w 560"/>
              <a:gd name="T17" fmla="*/ 24 h 51"/>
              <a:gd name="T18" fmla="*/ 557 w 560"/>
              <a:gd name="T19" fmla="*/ 31 h 51"/>
              <a:gd name="T20" fmla="*/ 557 w 560"/>
              <a:gd name="T21" fmla="*/ 38 h 51"/>
              <a:gd name="T22" fmla="*/ 557 w 560"/>
              <a:gd name="T23" fmla="*/ 44 h 51"/>
              <a:gd name="T24" fmla="*/ 557 w 560"/>
              <a:gd name="T25" fmla="*/ 51 h 51"/>
              <a:gd name="T26" fmla="*/ 560 w 560"/>
              <a:gd name="T27" fmla="*/ 48 h 51"/>
              <a:gd name="T28" fmla="*/ 560 w 560"/>
              <a:gd name="T29" fmla="*/ 41 h 51"/>
              <a:gd name="T30" fmla="*/ 560 w 560"/>
              <a:gd name="T31" fmla="*/ 34 h 51"/>
              <a:gd name="T32" fmla="*/ 560 w 560"/>
              <a:gd name="T33" fmla="*/ 28 h 51"/>
              <a:gd name="T34" fmla="*/ 2 w 560"/>
              <a:gd name="T35" fmla="*/ 0 h 51"/>
              <a:gd name="T36" fmla="*/ 0 w 560"/>
              <a:gd name="T37" fmla="*/ 6 h 51"/>
              <a:gd name="T38" fmla="*/ 0 w 560"/>
              <a:gd name="T39" fmla="*/ 11 h 51"/>
              <a:gd name="T40" fmla="*/ 0 w 560"/>
              <a:gd name="T41" fmla="*/ 18 h 51"/>
              <a:gd name="T42" fmla="*/ 0 w 560"/>
              <a:gd name="T43" fmla="*/ 24 h 51"/>
              <a:gd name="T44" fmla="*/ 0 w 560"/>
              <a:gd name="T45" fmla="*/ 31 h 51"/>
              <a:gd name="T46" fmla="*/ 0 w 560"/>
              <a:gd name="T47" fmla="*/ 38 h 51"/>
              <a:gd name="T48" fmla="*/ 0 w 560"/>
              <a:gd name="T49" fmla="*/ 44 h 51"/>
              <a:gd name="T50" fmla="*/ 0 w 560"/>
              <a:gd name="T51" fmla="*/ 51 h 51"/>
              <a:gd name="T52" fmla="*/ 4 w 560"/>
              <a:gd name="T53" fmla="*/ 48 h 51"/>
              <a:gd name="T54" fmla="*/ 4 w 560"/>
              <a:gd name="T55" fmla="*/ 41 h 51"/>
              <a:gd name="T56" fmla="*/ 4 w 560"/>
              <a:gd name="T57" fmla="*/ 34 h 51"/>
              <a:gd name="T58" fmla="*/ 4 w 560"/>
              <a:gd name="T59" fmla="*/ 28 h 51"/>
              <a:gd name="T60" fmla="*/ 4 w 560"/>
              <a:gd name="T61" fmla="*/ 21 h 51"/>
              <a:gd name="T62" fmla="*/ 4 w 560"/>
              <a:gd name="T63" fmla="*/ 14 h 51"/>
              <a:gd name="T64" fmla="*/ 4 w 560"/>
              <a:gd name="T65" fmla="*/ 9 h 51"/>
              <a:gd name="T66" fmla="*/ 4 w 560"/>
              <a:gd name="T67" fmla="*/ 3 h 51"/>
              <a:gd name="T68" fmla="*/ 2 w 56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0" h="51">
                <a:moveTo>
                  <a:pt x="560" y="24"/>
                </a:moveTo>
                <a:lnTo>
                  <a:pt x="560" y="21"/>
                </a:lnTo>
                <a:lnTo>
                  <a:pt x="560" y="18"/>
                </a:lnTo>
                <a:lnTo>
                  <a:pt x="560" y="14"/>
                </a:lnTo>
                <a:lnTo>
                  <a:pt x="560" y="11"/>
                </a:lnTo>
                <a:lnTo>
                  <a:pt x="560" y="9"/>
                </a:lnTo>
                <a:lnTo>
                  <a:pt x="560" y="6"/>
                </a:lnTo>
                <a:lnTo>
                  <a:pt x="560" y="3"/>
                </a:lnTo>
                <a:lnTo>
                  <a:pt x="560" y="0"/>
                </a:lnTo>
                <a:lnTo>
                  <a:pt x="557" y="0"/>
                </a:lnTo>
                <a:lnTo>
                  <a:pt x="557" y="3"/>
                </a:lnTo>
                <a:lnTo>
                  <a:pt x="557" y="6"/>
                </a:lnTo>
                <a:lnTo>
                  <a:pt x="557" y="9"/>
                </a:lnTo>
                <a:lnTo>
                  <a:pt x="557" y="11"/>
                </a:lnTo>
                <a:lnTo>
                  <a:pt x="557" y="14"/>
                </a:lnTo>
                <a:lnTo>
                  <a:pt x="557" y="18"/>
                </a:lnTo>
                <a:lnTo>
                  <a:pt x="557" y="21"/>
                </a:lnTo>
                <a:lnTo>
                  <a:pt x="557" y="24"/>
                </a:lnTo>
                <a:lnTo>
                  <a:pt x="557" y="28"/>
                </a:lnTo>
                <a:lnTo>
                  <a:pt x="557" y="31"/>
                </a:lnTo>
                <a:lnTo>
                  <a:pt x="557" y="34"/>
                </a:lnTo>
                <a:lnTo>
                  <a:pt x="557" y="38"/>
                </a:lnTo>
                <a:lnTo>
                  <a:pt x="557" y="41"/>
                </a:lnTo>
                <a:lnTo>
                  <a:pt x="557" y="44"/>
                </a:lnTo>
                <a:lnTo>
                  <a:pt x="557" y="48"/>
                </a:lnTo>
                <a:lnTo>
                  <a:pt x="557" y="51"/>
                </a:lnTo>
                <a:lnTo>
                  <a:pt x="560" y="51"/>
                </a:lnTo>
                <a:lnTo>
                  <a:pt x="560" y="48"/>
                </a:lnTo>
                <a:lnTo>
                  <a:pt x="560" y="44"/>
                </a:lnTo>
                <a:lnTo>
                  <a:pt x="560" y="41"/>
                </a:lnTo>
                <a:lnTo>
                  <a:pt x="560" y="38"/>
                </a:lnTo>
                <a:lnTo>
                  <a:pt x="560" y="34"/>
                </a:lnTo>
                <a:lnTo>
                  <a:pt x="560" y="31"/>
                </a:lnTo>
                <a:lnTo>
                  <a:pt x="560" y="28"/>
                </a:lnTo>
                <a:lnTo>
                  <a:pt x="56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83" name="Freeform 1488">
            <a:extLst>
              <a:ext uri="{FF2B5EF4-FFF2-40B4-BE49-F238E27FC236}">
                <a16:creationId xmlns:a16="http://schemas.microsoft.com/office/drawing/2014/main" id="{FB11038D-6F14-28E0-6E11-885B9B0D42D2}"/>
              </a:ext>
            </a:extLst>
          </p:cNvPr>
          <p:cNvSpPr>
            <a:spLocks noEditPoints="1"/>
          </p:cNvSpPr>
          <p:nvPr/>
        </p:nvSpPr>
        <p:spPr bwMode="auto">
          <a:xfrm>
            <a:off x="2116138" y="2719388"/>
            <a:ext cx="882650" cy="80963"/>
          </a:xfrm>
          <a:custGeom>
            <a:avLst/>
            <a:gdLst>
              <a:gd name="T0" fmla="*/ 556 w 556"/>
              <a:gd name="T1" fmla="*/ 21 h 51"/>
              <a:gd name="T2" fmla="*/ 556 w 556"/>
              <a:gd name="T3" fmla="*/ 14 h 51"/>
              <a:gd name="T4" fmla="*/ 556 w 556"/>
              <a:gd name="T5" fmla="*/ 9 h 51"/>
              <a:gd name="T6" fmla="*/ 556 w 556"/>
              <a:gd name="T7" fmla="*/ 3 h 51"/>
              <a:gd name="T8" fmla="*/ 553 w 556"/>
              <a:gd name="T9" fmla="*/ 0 h 51"/>
              <a:gd name="T10" fmla="*/ 553 w 556"/>
              <a:gd name="T11" fmla="*/ 6 h 51"/>
              <a:gd name="T12" fmla="*/ 553 w 556"/>
              <a:gd name="T13" fmla="*/ 11 h 51"/>
              <a:gd name="T14" fmla="*/ 553 w 556"/>
              <a:gd name="T15" fmla="*/ 18 h 51"/>
              <a:gd name="T16" fmla="*/ 553 w 556"/>
              <a:gd name="T17" fmla="*/ 24 h 51"/>
              <a:gd name="T18" fmla="*/ 553 w 556"/>
              <a:gd name="T19" fmla="*/ 31 h 51"/>
              <a:gd name="T20" fmla="*/ 553 w 556"/>
              <a:gd name="T21" fmla="*/ 38 h 51"/>
              <a:gd name="T22" fmla="*/ 553 w 556"/>
              <a:gd name="T23" fmla="*/ 44 h 51"/>
              <a:gd name="T24" fmla="*/ 553 w 556"/>
              <a:gd name="T25" fmla="*/ 51 h 51"/>
              <a:gd name="T26" fmla="*/ 556 w 556"/>
              <a:gd name="T27" fmla="*/ 48 h 51"/>
              <a:gd name="T28" fmla="*/ 556 w 556"/>
              <a:gd name="T29" fmla="*/ 41 h 51"/>
              <a:gd name="T30" fmla="*/ 556 w 556"/>
              <a:gd name="T31" fmla="*/ 34 h 51"/>
              <a:gd name="T32" fmla="*/ 556 w 556"/>
              <a:gd name="T33" fmla="*/ 28 h 51"/>
              <a:gd name="T34" fmla="*/ 2 w 556"/>
              <a:gd name="T35" fmla="*/ 0 h 51"/>
              <a:gd name="T36" fmla="*/ 0 w 556"/>
              <a:gd name="T37" fmla="*/ 6 h 51"/>
              <a:gd name="T38" fmla="*/ 0 w 556"/>
              <a:gd name="T39" fmla="*/ 11 h 51"/>
              <a:gd name="T40" fmla="*/ 0 w 556"/>
              <a:gd name="T41" fmla="*/ 18 h 51"/>
              <a:gd name="T42" fmla="*/ 0 w 556"/>
              <a:gd name="T43" fmla="*/ 24 h 51"/>
              <a:gd name="T44" fmla="*/ 0 w 556"/>
              <a:gd name="T45" fmla="*/ 31 h 51"/>
              <a:gd name="T46" fmla="*/ 0 w 556"/>
              <a:gd name="T47" fmla="*/ 38 h 51"/>
              <a:gd name="T48" fmla="*/ 0 w 556"/>
              <a:gd name="T49" fmla="*/ 44 h 51"/>
              <a:gd name="T50" fmla="*/ 0 w 556"/>
              <a:gd name="T51" fmla="*/ 51 h 51"/>
              <a:gd name="T52" fmla="*/ 3 w 556"/>
              <a:gd name="T53" fmla="*/ 48 h 51"/>
              <a:gd name="T54" fmla="*/ 3 w 556"/>
              <a:gd name="T55" fmla="*/ 41 h 51"/>
              <a:gd name="T56" fmla="*/ 3 w 556"/>
              <a:gd name="T57" fmla="*/ 34 h 51"/>
              <a:gd name="T58" fmla="*/ 3 w 556"/>
              <a:gd name="T59" fmla="*/ 28 h 51"/>
              <a:gd name="T60" fmla="*/ 3 w 556"/>
              <a:gd name="T61" fmla="*/ 21 h 51"/>
              <a:gd name="T62" fmla="*/ 3 w 556"/>
              <a:gd name="T63" fmla="*/ 14 h 51"/>
              <a:gd name="T64" fmla="*/ 3 w 556"/>
              <a:gd name="T65" fmla="*/ 9 h 51"/>
              <a:gd name="T66" fmla="*/ 3 w 556"/>
              <a:gd name="T67" fmla="*/ 3 h 51"/>
              <a:gd name="T68" fmla="*/ 2 w 5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6" h="51">
                <a:moveTo>
                  <a:pt x="556" y="24"/>
                </a:moveTo>
                <a:lnTo>
                  <a:pt x="556" y="21"/>
                </a:lnTo>
                <a:lnTo>
                  <a:pt x="556" y="18"/>
                </a:lnTo>
                <a:lnTo>
                  <a:pt x="556" y="14"/>
                </a:lnTo>
                <a:lnTo>
                  <a:pt x="556" y="11"/>
                </a:lnTo>
                <a:lnTo>
                  <a:pt x="556" y="9"/>
                </a:lnTo>
                <a:lnTo>
                  <a:pt x="556" y="6"/>
                </a:lnTo>
                <a:lnTo>
                  <a:pt x="556" y="3"/>
                </a:lnTo>
                <a:lnTo>
                  <a:pt x="556" y="0"/>
                </a:lnTo>
                <a:lnTo>
                  <a:pt x="553" y="0"/>
                </a:lnTo>
                <a:lnTo>
                  <a:pt x="553" y="3"/>
                </a:lnTo>
                <a:lnTo>
                  <a:pt x="553" y="6"/>
                </a:lnTo>
                <a:lnTo>
                  <a:pt x="553" y="9"/>
                </a:lnTo>
                <a:lnTo>
                  <a:pt x="553" y="11"/>
                </a:lnTo>
                <a:lnTo>
                  <a:pt x="553" y="14"/>
                </a:lnTo>
                <a:lnTo>
                  <a:pt x="553" y="18"/>
                </a:lnTo>
                <a:lnTo>
                  <a:pt x="553" y="21"/>
                </a:lnTo>
                <a:lnTo>
                  <a:pt x="553" y="24"/>
                </a:lnTo>
                <a:lnTo>
                  <a:pt x="553" y="28"/>
                </a:lnTo>
                <a:lnTo>
                  <a:pt x="553" y="31"/>
                </a:lnTo>
                <a:lnTo>
                  <a:pt x="553" y="34"/>
                </a:lnTo>
                <a:lnTo>
                  <a:pt x="553" y="38"/>
                </a:lnTo>
                <a:lnTo>
                  <a:pt x="553" y="41"/>
                </a:lnTo>
                <a:lnTo>
                  <a:pt x="553" y="44"/>
                </a:lnTo>
                <a:lnTo>
                  <a:pt x="553" y="48"/>
                </a:lnTo>
                <a:lnTo>
                  <a:pt x="553" y="51"/>
                </a:lnTo>
                <a:lnTo>
                  <a:pt x="556" y="51"/>
                </a:lnTo>
                <a:lnTo>
                  <a:pt x="556" y="48"/>
                </a:lnTo>
                <a:lnTo>
                  <a:pt x="556" y="44"/>
                </a:lnTo>
                <a:lnTo>
                  <a:pt x="556" y="41"/>
                </a:lnTo>
                <a:lnTo>
                  <a:pt x="556" y="38"/>
                </a:lnTo>
                <a:lnTo>
                  <a:pt x="556" y="34"/>
                </a:lnTo>
                <a:lnTo>
                  <a:pt x="556" y="31"/>
                </a:lnTo>
                <a:lnTo>
                  <a:pt x="556" y="28"/>
                </a:lnTo>
                <a:lnTo>
                  <a:pt x="55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84" name="Freeform 1489">
            <a:extLst>
              <a:ext uri="{FF2B5EF4-FFF2-40B4-BE49-F238E27FC236}">
                <a16:creationId xmlns:a16="http://schemas.microsoft.com/office/drawing/2014/main" id="{5B7E8204-3DF8-AB9A-7459-0C5464CAA85F}"/>
              </a:ext>
            </a:extLst>
          </p:cNvPr>
          <p:cNvSpPr>
            <a:spLocks noEditPoints="1"/>
          </p:cNvSpPr>
          <p:nvPr/>
        </p:nvSpPr>
        <p:spPr bwMode="auto">
          <a:xfrm>
            <a:off x="2119313" y="2719388"/>
            <a:ext cx="877888" cy="80963"/>
          </a:xfrm>
          <a:custGeom>
            <a:avLst/>
            <a:gdLst>
              <a:gd name="T0" fmla="*/ 553 w 553"/>
              <a:gd name="T1" fmla="*/ 21 h 51"/>
              <a:gd name="T2" fmla="*/ 553 w 553"/>
              <a:gd name="T3" fmla="*/ 14 h 51"/>
              <a:gd name="T4" fmla="*/ 553 w 553"/>
              <a:gd name="T5" fmla="*/ 9 h 51"/>
              <a:gd name="T6" fmla="*/ 553 w 553"/>
              <a:gd name="T7" fmla="*/ 3 h 51"/>
              <a:gd name="T8" fmla="*/ 549 w 553"/>
              <a:gd name="T9" fmla="*/ 0 h 51"/>
              <a:gd name="T10" fmla="*/ 549 w 553"/>
              <a:gd name="T11" fmla="*/ 6 h 51"/>
              <a:gd name="T12" fmla="*/ 549 w 553"/>
              <a:gd name="T13" fmla="*/ 11 h 51"/>
              <a:gd name="T14" fmla="*/ 549 w 553"/>
              <a:gd name="T15" fmla="*/ 18 h 51"/>
              <a:gd name="T16" fmla="*/ 549 w 553"/>
              <a:gd name="T17" fmla="*/ 24 h 51"/>
              <a:gd name="T18" fmla="*/ 549 w 553"/>
              <a:gd name="T19" fmla="*/ 31 h 51"/>
              <a:gd name="T20" fmla="*/ 549 w 553"/>
              <a:gd name="T21" fmla="*/ 38 h 51"/>
              <a:gd name="T22" fmla="*/ 549 w 553"/>
              <a:gd name="T23" fmla="*/ 44 h 51"/>
              <a:gd name="T24" fmla="*/ 549 w 553"/>
              <a:gd name="T25" fmla="*/ 51 h 51"/>
              <a:gd name="T26" fmla="*/ 553 w 553"/>
              <a:gd name="T27" fmla="*/ 48 h 51"/>
              <a:gd name="T28" fmla="*/ 553 w 553"/>
              <a:gd name="T29" fmla="*/ 41 h 51"/>
              <a:gd name="T30" fmla="*/ 553 w 553"/>
              <a:gd name="T31" fmla="*/ 34 h 51"/>
              <a:gd name="T32" fmla="*/ 553 w 553"/>
              <a:gd name="T33" fmla="*/ 28 h 51"/>
              <a:gd name="T34" fmla="*/ 1 w 553"/>
              <a:gd name="T35" fmla="*/ 0 h 51"/>
              <a:gd name="T36" fmla="*/ 0 w 553"/>
              <a:gd name="T37" fmla="*/ 6 h 51"/>
              <a:gd name="T38" fmla="*/ 0 w 553"/>
              <a:gd name="T39" fmla="*/ 11 h 51"/>
              <a:gd name="T40" fmla="*/ 0 w 553"/>
              <a:gd name="T41" fmla="*/ 18 h 51"/>
              <a:gd name="T42" fmla="*/ 0 w 553"/>
              <a:gd name="T43" fmla="*/ 24 h 51"/>
              <a:gd name="T44" fmla="*/ 0 w 553"/>
              <a:gd name="T45" fmla="*/ 31 h 51"/>
              <a:gd name="T46" fmla="*/ 0 w 553"/>
              <a:gd name="T47" fmla="*/ 38 h 51"/>
              <a:gd name="T48" fmla="*/ 0 w 553"/>
              <a:gd name="T49" fmla="*/ 44 h 51"/>
              <a:gd name="T50" fmla="*/ 0 w 553"/>
              <a:gd name="T51" fmla="*/ 51 h 51"/>
              <a:gd name="T52" fmla="*/ 3 w 553"/>
              <a:gd name="T53" fmla="*/ 48 h 51"/>
              <a:gd name="T54" fmla="*/ 3 w 553"/>
              <a:gd name="T55" fmla="*/ 41 h 51"/>
              <a:gd name="T56" fmla="*/ 3 w 553"/>
              <a:gd name="T57" fmla="*/ 34 h 51"/>
              <a:gd name="T58" fmla="*/ 3 w 553"/>
              <a:gd name="T59" fmla="*/ 28 h 51"/>
              <a:gd name="T60" fmla="*/ 3 w 553"/>
              <a:gd name="T61" fmla="*/ 21 h 51"/>
              <a:gd name="T62" fmla="*/ 3 w 553"/>
              <a:gd name="T63" fmla="*/ 14 h 51"/>
              <a:gd name="T64" fmla="*/ 3 w 553"/>
              <a:gd name="T65" fmla="*/ 9 h 51"/>
              <a:gd name="T66" fmla="*/ 3 w 553"/>
              <a:gd name="T67" fmla="*/ 3 h 51"/>
              <a:gd name="T68" fmla="*/ 1 w 55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3" h="51">
                <a:moveTo>
                  <a:pt x="553" y="24"/>
                </a:moveTo>
                <a:lnTo>
                  <a:pt x="553" y="21"/>
                </a:lnTo>
                <a:lnTo>
                  <a:pt x="553" y="18"/>
                </a:lnTo>
                <a:lnTo>
                  <a:pt x="553" y="14"/>
                </a:lnTo>
                <a:lnTo>
                  <a:pt x="553" y="11"/>
                </a:lnTo>
                <a:lnTo>
                  <a:pt x="553" y="9"/>
                </a:lnTo>
                <a:lnTo>
                  <a:pt x="553" y="6"/>
                </a:lnTo>
                <a:lnTo>
                  <a:pt x="553" y="3"/>
                </a:lnTo>
                <a:lnTo>
                  <a:pt x="553" y="0"/>
                </a:lnTo>
                <a:lnTo>
                  <a:pt x="549" y="0"/>
                </a:lnTo>
                <a:lnTo>
                  <a:pt x="549" y="3"/>
                </a:lnTo>
                <a:lnTo>
                  <a:pt x="549" y="6"/>
                </a:lnTo>
                <a:lnTo>
                  <a:pt x="549" y="9"/>
                </a:lnTo>
                <a:lnTo>
                  <a:pt x="549" y="11"/>
                </a:lnTo>
                <a:lnTo>
                  <a:pt x="549" y="14"/>
                </a:lnTo>
                <a:lnTo>
                  <a:pt x="549" y="18"/>
                </a:lnTo>
                <a:lnTo>
                  <a:pt x="549" y="21"/>
                </a:lnTo>
                <a:lnTo>
                  <a:pt x="549" y="24"/>
                </a:lnTo>
                <a:lnTo>
                  <a:pt x="549" y="28"/>
                </a:lnTo>
                <a:lnTo>
                  <a:pt x="549" y="31"/>
                </a:lnTo>
                <a:lnTo>
                  <a:pt x="549" y="34"/>
                </a:lnTo>
                <a:lnTo>
                  <a:pt x="549" y="38"/>
                </a:lnTo>
                <a:lnTo>
                  <a:pt x="549" y="41"/>
                </a:lnTo>
                <a:lnTo>
                  <a:pt x="549" y="44"/>
                </a:lnTo>
                <a:lnTo>
                  <a:pt x="549" y="48"/>
                </a:lnTo>
                <a:lnTo>
                  <a:pt x="549" y="51"/>
                </a:lnTo>
                <a:lnTo>
                  <a:pt x="553" y="51"/>
                </a:lnTo>
                <a:lnTo>
                  <a:pt x="553" y="48"/>
                </a:lnTo>
                <a:lnTo>
                  <a:pt x="553" y="44"/>
                </a:lnTo>
                <a:lnTo>
                  <a:pt x="553" y="41"/>
                </a:lnTo>
                <a:lnTo>
                  <a:pt x="553" y="38"/>
                </a:lnTo>
                <a:lnTo>
                  <a:pt x="553" y="34"/>
                </a:lnTo>
                <a:lnTo>
                  <a:pt x="553" y="31"/>
                </a:lnTo>
                <a:lnTo>
                  <a:pt x="553" y="28"/>
                </a:lnTo>
                <a:lnTo>
                  <a:pt x="55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85" name="Freeform 1490">
            <a:extLst>
              <a:ext uri="{FF2B5EF4-FFF2-40B4-BE49-F238E27FC236}">
                <a16:creationId xmlns:a16="http://schemas.microsoft.com/office/drawing/2014/main" id="{D2DBD7C6-AB34-2321-8F3B-EC934E4F6D3D}"/>
              </a:ext>
            </a:extLst>
          </p:cNvPr>
          <p:cNvSpPr>
            <a:spLocks noEditPoints="1"/>
          </p:cNvSpPr>
          <p:nvPr/>
        </p:nvSpPr>
        <p:spPr bwMode="auto">
          <a:xfrm>
            <a:off x="2120900" y="2719388"/>
            <a:ext cx="873125" cy="80963"/>
          </a:xfrm>
          <a:custGeom>
            <a:avLst/>
            <a:gdLst>
              <a:gd name="T0" fmla="*/ 550 w 550"/>
              <a:gd name="T1" fmla="*/ 21 h 51"/>
              <a:gd name="T2" fmla="*/ 550 w 550"/>
              <a:gd name="T3" fmla="*/ 14 h 51"/>
              <a:gd name="T4" fmla="*/ 550 w 550"/>
              <a:gd name="T5" fmla="*/ 9 h 51"/>
              <a:gd name="T6" fmla="*/ 550 w 550"/>
              <a:gd name="T7" fmla="*/ 3 h 51"/>
              <a:gd name="T8" fmla="*/ 547 w 550"/>
              <a:gd name="T9" fmla="*/ 0 h 51"/>
              <a:gd name="T10" fmla="*/ 547 w 550"/>
              <a:gd name="T11" fmla="*/ 6 h 51"/>
              <a:gd name="T12" fmla="*/ 547 w 550"/>
              <a:gd name="T13" fmla="*/ 11 h 51"/>
              <a:gd name="T14" fmla="*/ 547 w 550"/>
              <a:gd name="T15" fmla="*/ 18 h 51"/>
              <a:gd name="T16" fmla="*/ 547 w 550"/>
              <a:gd name="T17" fmla="*/ 24 h 51"/>
              <a:gd name="T18" fmla="*/ 547 w 550"/>
              <a:gd name="T19" fmla="*/ 31 h 51"/>
              <a:gd name="T20" fmla="*/ 547 w 550"/>
              <a:gd name="T21" fmla="*/ 38 h 51"/>
              <a:gd name="T22" fmla="*/ 547 w 550"/>
              <a:gd name="T23" fmla="*/ 44 h 51"/>
              <a:gd name="T24" fmla="*/ 547 w 550"/>
              <a:gd name="T25" fmla="*/ 51 h 51"/>
              <a:gd name="T26" fmla="*/ 550 w 550"/>
              <a:gd name="T27" fmla="*/ 48 h 51"/>
              <a:gd name="T28" fmla="*/ 550 w 550"/>
              <a:gd name="T29" fmla="*/ 41 h 51"/>
              <a:gd name="T30" fmla="*/ 550 w 550"/>
              <a:gd name="T31" fmla="*/ 34 h 51"/>
              <a:gd name="T32" fmla="*/ 550 w 550"/>
              <a:gd name="T33" fmla="*/ 28 h 51"/>
              <a:gd name="T34" fmla="*/ 2 w 550"/>
              <a:gd name="T35" fmla="*/ 0 h 51"/>
              <a:gd name="T36" fmla="*/ 0 w 550"/>
              <a:gd name="T37" fmla="*/ 6 h 51"/>
              <a:gd name="T38" fmla="*/ 0 w 550"/>
              <a:gd name="T39" fmla="*/ 11 h 51"/>
              <a:gd name="T40" fmla="*/ 0 w 550"/>
              <a:gd name="T41" fmla="*/ 18 h 51"/>
              <a:gd name="T42" fmla="*/ 0 w 550"/>
              <a:gd name="T43" fmla="*/ 24 h 51"/>
              <a:gd name="T44" fmla="*/ 0 w 550"/>
              <a:gd name="T45" fmla="*/ 31 h 51"/>
              <a:gd name="T46" fmla="*/ 0 w 550"/>
              <a:gd name="T47" fmla="*/ 38 h 51"/>
              <a:gd name="T48" fmla="*/ 0 w 550"/>
              <a:gd name="T49" fmla="*/ 44 h 51"/>
              <a:gd name="T50" fmla="*/ 0 w 550"/>
              <a:gd name="T51" fmla="*/ 51 h 51"/>
              <a:gd name="T52" fmla="*/ 4 w 550"/>
              <a:gd name="T53" fmla="*/ 48 h 51"/>
              <a:gd name="T54" fmla="*/ 4 w 550"/>
              <a:gd name="T55" fmla="*/ 41 h 51"/>
              <a:gd name="T56" fmla="*/ 4 w 550"/>
              <a:gd name="T57" fmla="*/ 34 h 51"/>
              <a:gd name="T58" fmla="*/ 4 w 550"/>
              <a:gd name="T59" fmla="*/ 28 h 51"/>
              <a:gd name="T60" fmla="*/ 4 w 550"/>
              <a:gd name="T61" fmla="*/ 21 h 51"/>
              <a:gd name="T62" fmla="*/ 4 w 550"/>
              <a:gd name="T63" fmla="*/ 14 h 51"/>
              <a:gd name="T64" fmla="*/ 4 w 550"/>
              <a:gd name="T65" fmla="*/ 9 h 51"/>
              <a:gd name="T66" fmla="*/ 4 w 550"/>
              <a:gd name="T67" fmla="*/ 3 h 51"/>
              <a:gd name="T68" fmla="*/ 2 w 55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0" h="51">
                <a:moveTo>
                  <a:pt x="550" y="24"/>
                </a:moveTo>
                <a:lnTo>
                  <a:pt x="550" y="21"/>
                </a:lnTo>
                <a:lnTo>
                  <a:pt x="550" y="18"/>
                </a:lnTo>
                <a:lnTo>
                  <a:pt x="550" y="14"/>
                </a:lnTo>
                <a:lnTo>
                  <a:pt x="550" y="11"/>
                </a:lnTo>
                <a:lnTo>
                  <a:pt x="550" y="9"/>
                </a:lnTo>
                <a:lnTo>
                  <a:pt x="550" y="6"/>
                </a:lnTo>
                <a:lnTo>
                  <a:pt x="550" y="3"/>
                </a:lnTo>
                <a:lnTo>
                  <a:pt x="550" y="0"/>
                </a:lnTo>
                <a:lnTo>
                  <a:pt x="547" y="0"/>
                </a:lnTo>
                <a:lnTo>
                  <a:pt x="547" y="3"/>
                </a:lnTo>
                <a:lnTo>
                  <a:pt x="547" y="6"/>
                </a:lnTo>
                <a:lnTo>
                  <a:pt x="547" y="9"/>
                </a:lnTo>
                <a:lnTo>
                  <a:pt x="547" y="11"/>
                </a:lnTo>
                <a:lnTo>
                  <a:pt x="547" y="14"/>
                </a:lnTo>
                <a:lnTo>
                  <a:pt x="547" y="18"/>
                </a:lnTo>
                <a:lnTo>
                  <a:pt x="547" y="21"/>
                </a:lnTo>
                <a:lnTo>
                  <a:pt x="547" y="24"/>
                </a:lnTo>
                <a:lnTo>
                  <a:pt x="547" y="28"/>
                </a:lnTo>
                <a:lnTo>
                  <a:pt x="547" y="31"/>
                </a:lnTo>
                <a:lnTo>
                  <a:pt x="547" y="34"/>
                </a:lnTo>
                <a:lnTo>
                  <a:pt x="547" y="38"/>
                </a:lnTo>
                <a:lnTo>
                  <a:pt x="547" y="41"/>
                </a:lnTo>
                <a:lnTo>
                  <a:pt x="547" y="44"/>
                </a:lnTo>
                <a:lnTo>
                  <a:pt x="547" y="48"/>
                </a:lnTo>
                <a:lnTo>
                  <a:pt x="547" y="51"/>
                </a:lnTo>
                <a:lnTo>
                  <a:pt x="550" y="51"/>
                </a:lnTo>
                <a:lnTo>
                  <a:pt x="550" y="48"/>
                </a:lnTo>
                <a:lnTo>
                  <a:pt x="550" y="44"/>
                </a:lnTo>
                <a:lnTo>
                  <a:pt x="550" y="41"/>
                </a:lnTo>
                <a:lnTo>
                  <a:pt x="550" y="38"/>
                </a:lnTo>
                <a:lnTo>
                  <a:pt x="550" y="34"/>
                </a:lnTo>
                <a:lnTo>
                  <a:pt x="550" y="31"/>
                </a:lnTo>
                <a:lnTo>
                  <a:pt x="550" y="28"/>
                </a:lnTo>
                <a:lnTo>
                  <a:pt x="55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86" name="Freeform 1491">
            <a:extLst>
              <a:ext uri="{FF2B5EF4-FFF2-40B4-BE49-F238E27FC236}">
                <a16:creationId xmlns:a16="http://schemas.microsoft.com/office/drawing/2014/main" id="{486E0F9D-F42A-9824-3D0D-7E4128E86DC5}"/>
              </a:ext>
            </a:extLst>
          </p:cNvPr>
          <p:cNvSpPr>
            <a:spLocks noEditPoints="1"/>
          </p:cNvSpPr>
          <p:nvPr/>
        </p:nvSpPr>
        <p:spPr bwMode="auto">
          <a:xfrm>
            <a:off x="2124075" y="2719388"/>
            <a:ext cx="866775" cy="80963"/>
          </a:xfrm>
          <a:custGeom>
            <a:avLst/>
            <a:gdLst>
              <a:gd name="T0" fmla="*/ 546 w 546"/>
              <a:gd name="T1" fmla="*/ 21 h 51"/>
              <a:gd name="T2" fmla="*/ 546 w 546"/>
              <a:gd name="T3" fmla="*/ 14 h 51"/>
              <a:gd name="T4" fmla="*/ 546 w 546"/>
              <a:gd name="T5" fmla="*/ 9 h 51"/>
              <a:gd name="T6" fmla="*/ 546 w 546"/>
              <a:gd name="T7" fmla="*/ 3 h 51"/>
              <a:gd name="T8" fmla="*/ 543 w 546"/>
              <a:gd name="T9" fmla="*/ 0 h 51"/>
              <a:gd name="T10" fmla="*/ 543 w 546"/>
              <a:gd name="T11" fmla="*/ 6 h 51"/>
              <a:gd name="T12" fmla="*/ 543 w 546"/>
              <a:gd name="T13" fmla="*/ 11 h 51"/>
              <a:gd name="T14" fmla="*/ 543 w 546"/>
              <a:gd name="T15" fmla="*/ 18 h 51"/>
              <a:gd name="T16" fmla="*/ 543 w 546"/>
              <a:gd name="T17" fmla="*/ 24 h 51"/>
              <a:gd name="T18" fmla="*/ 543 w 546"/>
              <a:gd name="T19" fmla="*/ 31 h 51"/>
              <a:gd name="T20" fmla="*/ 543 w 546"/>
              <a:gd name="T21" fmla="*/ 38 h 51"/>
              <a:gd name="T22" fmla="*/ 543 w 546"/>
              <a:gd name="T23" fmla="*/ 44 h 51"/>
              <a:gd name="T24" fmla="*/ 543 w 546"/>
              <a:gd name="T25" fmla="*/ 51 h 51"/>
              <a:gd name="T26" fmla="*/ 546 w 546"/>
              <a:gd name="T27" fmla="*/ 48 h 51"/>
              <a:gd name="T28" fmla="*/ 546 w 546"/>
              <a:gd name="T29" fmla="*/ 41 h 51"/>
              <a:gd name="T30" fmla="*/ 546 w 546"/>
              <a:gd name="T31" fmla="*/ 34 h 51"/>
              <a:gd name="T32" fmla="*/ 546 w 546"/>
              <a:gd name="T33" fmla="*/ 28 h 51"/>
              <a:gd name="T34" fmla="*/ 2 w 546"/>
              <a:gd name="T35" fmla="*/ 0 h 51"/>
              <a:gd name="T36" fmla="*/ 0 w 546"/>
              <a:gd name="T37" fmla="*/ 6 h 51"/>
              <a:gd name="T38" fmla="*/ 0 w 546"/>
              <a:gd name="T39" fmla="*/ 11 h 51"/>
              <a:gd name="T40" fmla="*/ 0 w 546"/>
              <a:gd name="T41" fmla="*/ 18 h 51"/>
              <a:gd name="T42" fmla="*/ 0 w 546"/>
              <a:gd name="T43" fmla="*/ 24 h 51"/>
              <a:gd name="T44" fmla="*/ 0 w 546"/>
              <a:gd name="T45" fmla="*/ 31 h 51"/>
              <a:gd name="T46" fmla="*/ 0 w 546"/>
              <a:gd name="T47" fmla="*/ 38 h 51"/>
              <a:gd name="T48" fmla="*/ 0 w 546"/>
              <a:gd name="T49" fmla="*/ 44 h 51"/>
              <a:gd name="T50" fmla="*/ 0 w 546"/>
              <a:gd name="T51" fmla="*/ 51 h 51"/>
              <a:gd name="T52" fmla="*/ 3 w 546"/>
              <a:gd name="T53" fmla="*/ 48 h 51"/>
              <a:gd name="T54" fmla="*/ 3 w 546"/>
              <a:gd name="T55" fmla="*/ 41 h 51"/>
              <a:gd name="T56" fmla="*/ 3 w 546"/>
              <a:gd name="T57" fmla="*/ 34 h 51"/>
              <a:gd name="T58" fmla="*/ 3 w 546"/>
              <a:gd name="T59" fmla="*/ 28 h 51"/>
              <a:gd name="T60" fmla="*/ 3 w 546"/>
              <a:gd name="T61" fmla="*/ 21 h 51"/>
              <a:gd name="T62" fmla="*/ 3 w 546"/>
              <a:gd name="T63" fmla="*/ 14 h 51"/>
              <a:gd name="T64" fmla="*/ 3 w 546"/>
              <a:gd name="T65" fmla="*/ 9 h 51"/>
              <a:gd name="T66" fmla="*/ 3 w 546"/>
              <a:gd name="T67" fmla="*/ 3 h 51"/>
              <a:gd name="T68" fmla="*/ 2 w 5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6" h="51">
                <a:moveTo>
                  <a:pt x="546" y="24"/>
                </a:moveTo>
                <a:lnTo>
                  <a:pt x="546" y="21"/>
                </a:lnTo>
                <a:lnTo>
                  <a:pt x="546" y="18"/>
                </a:lnTo>
                <a:lnTo>
                  <a:pt x="546" y="14"/>
                </a:lnTo>
                <a:lnTo>
                  <a:pt x="546" y="11"/>
                </a:lnTo>
                <a:lnTo>
                  <a:pt x="546" y="9"/>
                </a:lnTo>
                <a:lnTo>
                  <a:pt x="546" y="6"/>
                </a:lnTo>
                <a:lnTo>
                  <a:pt x="546" y="3"/>
                </a:lnTo>
                <a:lnTo>
                  <a:pt x="546" y="0"/>
                </a:lnTo>
                <a:lnTo>
                  <a:pt x="543" y="0"/>
                </a:lnTo>
                <a:lnTo>
                  <a:pt x="543" y="3"/>
                </a:lnTo>
                <a:lnTo>
                  <a:pt x="543" y="6"/>
                </a:lnTo>
                <a:lnTo>
                  <a:pt x="543" y="9"/>
                </a:lnTo>
                <a:lnTo>
                  <a:pt x="543" y="11"/>
                </a:lnTo>
                <a:lnTo>
                  <a:pt x="543" y="14"/>
                </a:lnTo>
                <a:lnTo>
                  <a:pt x="543" y="18"/>
                </a:lnTo>
                <a:lnTo>
                  <a:pt x="543" y="21"/>
                </a:lnTo>
                <a:lnTo>
                  <a:pt x="543" y="24"/>
                </a:lnTo>
                <a:lnTo>
                  <a:pt x="543" y="28"/>
                </a:lnTo>
                <a:lnTo>
                  <a:pt x="543" y="31"/>
                </a:lnTo>
                <a:lnTo>
                  <a:pt x="543" y="34"/>
                </a:lnTo>
                <a:lnTo>
                  <a:pt x="543" y="38"/>
                </a:lnTo>
                <a:lnTo>
                  <a:pt x="543" y="41"/>
                </a:lnTo>
                <a:lnTo>
                  <a:pt x="543" y="44"/>
                </a:lnTo>
                <a:lnTo>
                  <a:pt x="543" y="48"/>
                </a:lnTo>
                <a:lnTo>
                  <a:pt x="543" y="51"/>
                </a:lnTo>
                <a:lnTo>
                  <a:pt x="546" y="51"/>
                </a:lnTo>
                <a:lnTo>
                  <a:pt x="546" y="48"/>
                </a:lnTo>
                <a:lnTo>
                  <a:pt x="546" y="44"/>
                </a:lnTo>
                <a:lnTo>
                  <a:pt x="546" y="41"/>
                </a:lnTo>
                <a:lnTo>
                  <a:pt x="546" y="38"/>
                </a:lnTo>
                <a:lnTo>
                  <a:pt x="546" y="34"/>
                </a:lnTo>
                <a:lnTo>
                  <a:pt x="546" y="31"/>
                </a:lnTo>
                <a:lnTo>
                  <a:pt x="546" y="28"/>
                </a:lnTo>
                <a:lnTo>
                  <a:pt x="54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87" name="Freeform 1492">
            <a:extLst>
              <a:ext uri="{FF2B5EF4-FFF2-40B4-BE49-F238E27FC236}">
                <a16:creationId xmlns:a16="http://schemas.microsoft.com/office/drawing/2014/main" id="{46574F84-E69C-D35D-39B9-F44144C79F14}"/>
              </a:ext>
            </a:extLst>
          </p:cNvPr>
          <p:cNvSpPr>
            <a:spLocks noEditPoints="1"/>
          </p:cNvSpPr>
          <p:nvPr/>
        </p:nvSpPr>
        <p:spPr bwMode="auto">
          <a:xfrm>
            <a:off x="2127250" y="2719388"/>
            <a:ext cx="862013" cy="80963"/>
          </a:xfrm>
          <a:custGeom>
            <a:avLst/>
            <a:gdLst>
              <a:gd name="T0" fmla="*/ 543 w 543"/>
              <a:gd name="T1" fmla="*/ 21 h 51"/>
              <a:gd name="T2" fmla="*/ 543 w 543"/>
              <a:gd name="T3" fmla="*/ 14 h 51"/>
              <a:gd name="T4" fmla="*/ 543 w 543"/>
              <a:gd name="T5" fmla="*/ 9 h 51"/>
              <a:gd name="T6" fmla="*/ 543 w 543"/>
              <a:gd name="T7" fmla="*/ 3 h 51"/>
              <a:gd name="T8" fmla="*/ 539 w 543"/>
              <a:gd name="T9" fmla="*/ 0 h 51"/>
              <a:gd name="T10" fmla="*/ 539 w 543"/>
              <a:gd name="T11" fmla="*/ 6 h 51"/>
              <a:gd name="T12" fmla="*/ 539 w 543"/>
              <a:gd name="T13" fmla="*/ 11 h 51"/>
              <a:gd name="T14" fmla="*/ 539 w 543"/>
              <a:gd name="T15" fmla="*/ 18 h 51"/>
              <a:gd name="T16" fmla="*/ 539 w 543"/>
              <a:gd name="T17" fmla="*/ 24 h 51"/>
              <a:gd name="T18" fmla="*/ 539 w 543"/>
              <a:gd name="T19" fmla="*/ 31 h 51"/>
              <a:gd name="T20" fmla="*/ 539 w 543"/>
              <a:gd name="T21" fmla="*/ 38 h 51"/>
              <a:gd name="T22" fmla="*/ 539 w 543"/>
              <a:gd name="T23" fmla="*/ 44 h 51"/>
              <a:gd name="T24" fmla="*/ 539 w 543"/>
              <a:gd name="T25" fmla="*/ 51 h 51"/>
              <a:gd name="T26" fmla="*/ 543 w 543"/>
              <a:gd name="T27" fmla="*/ 48 h 51"/>
              <a:gd name="T28" fmla="*/ 543 w 543"/>
              <a:gd name="T29" fmla="*/ 41 h 51"/>
              <a:gd name="T30" fmla="*/ 543 w 543"/>
              <a:gd name="T31" fmla="*/ 34 h 51"/>
              <a:gd name="T32" fmla="*/ 543 w 543"/>
              <a:gd name="T33" fmla="*/ 28 h 51"/>
              <a:gd name="T34" fmla="*/ 1 w 543"/>
              <a:gd name="T35" fmla="*/ 0 h 51"/>
              <a:gd name="T36" fmla="*/ 0 w 543"/>
              <a:gd name="T37" fmla="*/ 6 h 51"/>
              <a:gd name="T38" fmla="*/ 0 w 543"/>
              <a:gd name="T39" fmla="*/ 11 h 51"/>
              <a:gd name="T40" fmla="*/ 0 w 543"/>
              <a:gd name="T41" fmla="*/ 18 h 51"/>
              <a:gd name="T42" fmla="*/ 0 w 543"/>
              <a:gd name="T43" fmla="*/ 24 h 51"/>
              <a:gd name="T44" fmla="*/ 0 w 543"/>
              <a:gd name="T45" fmla="*/ 31 h 51"/>
              <a:gd name="T46" fmla="*/ 0 w 543"/>
              <a:gd name="T47" fmla="*/ 38 h 51"/>
              <a:gd name="T48" fmla="*/ 0 w 543"/>
              <a:gd name="T49" fmla="*/ 44 h 51"/>
              <a:gd name="T50" fmla="*/ 0 w 543"/>
              <a:gd name="T51" fmla="*/ 51 h 51"/>
              <a:gd name="T52" fmla="*/ 3 w 543"/>
              <a:gd name="T53" fmla="*/ 48 h 51"/>
              <a:gd name="T54" fmla="*/ 3 w 543"/>
              <a:gd name="T55" fmla="*/ 41 h 51"/>
              <a:gd name="T56" fmla="*/ 3 w 543"/>
              <a:gd name="T57" fmla="*/ 34 h 51"/>
              <a:gd name="T58" fmla="*/ 3 w 543"/>
              <a:gd name="T59" fmla="*/ 28 h 51"/>
              <a:gd name="T60" fmla="*/ 3 w 543"/>
              <a:gd name="T61" fmla="*/ 21 h 51"/>
              <a:gd name="T62" fmla="*/ 3 w 543"/>
              <a:gd name="T63" fmla="*/ 14 h 51"/>
              <a:gd name="T64" fmla="*/ 3 w 543"/>
              <a:gd name="T65" fmla="*/ 9 h 51"/>
              <a:gd name="T66" fmla="*/ 3 w 543"/>
              <a:gd name="T67" fmla="*/ 3 h 51"/>
              <a:gd name="T68" fmla="*/ 1 w 54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3" h="51">
                <a:moveTo>
                  <a:pt x="543" y="24"/>
                </a:moveTo>
                <a:lnTo>
                  <a:pt x="543" y="21"/>
                </a:lnTo>
                <a:lnTo>
                  <a:pt x="543" y="18"/>
                </a:lnTo>
                <a:lnTo>
                  <a:pt x="543" y="14"/>
                </a:lnTo>
                <a:lnTo>
                  <a:pt x="543" y="11"/>
                </a:lnTo>
                <a:lnTo>
                  <a:pt x="543" y="9"/>
                </a:lnTo>
                <a:lnTo>
                  <a:pt x="543" y="6"/>
                </a:lnTo>
                <a:lnTo>
                  <a:pt x="543" y="3"/>
                </a:lnTo>
                <a:lnTo>
                  <a:pt x="543" y="0"/>
                </a:lnTo>
                <a:lnTo>
                  <a:pt x="539" y="0"/>
                </a:lnTo>
                <a:lnTo>
                  <a:pt x="539" y="3"/>
                </a:lnTo>
                <a:lnTo>
                  <a:pt x="539" y="6"/>
                </a:lnTo>
                <a:lnTo>
                  <a:pt x="539" y="9"/>
                </a:lnTo>
                <a:lnTo>
                  <a:pt x="539" y="11"/>
                </a:lnTo>
                <a:lnTo>
                  <a:pt x="539" y="14"/>
                </a:lnTo>
                <a:lnTo>
                  <a:pt x="539" y="18"/>
                </a:lnTo>
                <a:lnTo>
                  <a:pt x="539" y="21"/>
                </a:lnTo>
                <a:lnTo>
                  <a:pt x="539" y="24"/>
                </a:lnTo>
                <a:lnTo>
                  <a:pt x="539" y="28"/>
                </a:lnTo>
                <a:lnTo>
                  <a:pt x="539" y="31"/>
                </a:lnTo>
                <a:lnTo>
                  <a:pt x="539" y="34"/>
                </a:lnTo>
                <a:lnTo>
                  <a:pt x="539" y="38"/>
                </a:lnTo>
                <a:lnTo>
                  <a:pt x="539" y="41"/>
                </a:lnTo>
                <a:lnTo>
                  <a:pt x="539" y="44"/>
                </a:lnTo>
                <a:lnTo>
                  <a:pt x="539" y="48"/>
                </a:lnTo>
                <a:lnTo>
                  <a:pt x="539" y="51"/>
                </a:lnTo>
                <a:lnTo>
                  <a:pt x="543" y="51"/>
                </a:lnTo>
                <a:lnTo>
                  <a:pt x="543" y="48"/>
                </a:lnTo>
                <a:lnTo>
                  <a:pt x="543" y="44"/>
                </a:lnTo>
                <a:lnTo>
                  <a:pt x="543" y="41"/>
                </a:lnTo>
                <a:lnTo>
                  <a:pt x="543" y="38"/>
                </a:lnTo>
                <a:lnTo>
                  <a:pt x="543" y="34"/>
                </a:lnTo>
                <a:lnTo>
                  <a:pt x="543" y="31"/>
                </a:lnTo>
                <a:lnTo>
                  <a:pt x="543" y="28"/>
                </a:lnTo>
                <a:lnTo>
                  <a:pt x="54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88" name="Freeform 1493">
            <a:extLst>
              <a:ext uri="{FF2B5EF4-FFF2-40B4-BE49-F238E27FC236}">
                <a16:creationId xmlns:a16="http://schemas.microsoft.com/office/drawing/2014/main" id="{203157CB-B55B-F077-A01A-E07D81E1D30A}"/>
              </a:ext>
            </a:extLst>
          </p:cNvPr>
          <p:cNvSpPr>
            <a:spLocks noEditPoints="1"/>
          </p:cNvSpPr>
          <p:nvPr/>
        </p:nvSpPr>
        <p:spPr bwMode="auto">
          <a:xfrm>
            <a:off x="2128838" y="2719388"/>
            <a:ext cx="857250" cy="80963"/>
          </a:xfrm>
          <a:custGeom>
            <a:avLst/>
            <a:gdLst>
              <a:gd name="T0" fmla="*/ 540 w 540"/>
              <a:gd name="T1" fmla="*/ 21 h 51"/>
              <a:gd name="T2" fmla="*/ 540 w 540"/>
              <a:gd name="T3" fmla="*/ 14 h 51"/>
              <a:gd name="T4" fmla="*/ 540 w 540"/>
              <a:gd name="T5" fmla="*/ 9 h 51"/>
              <a:gd name="T6" fmla="*/ 540 w 540"/>
              <a:gd name="T7" fmla="*/ 3 h 51"/>
              <a:gd name="T8" fmla="*/ 537 w 540"/>
              <a:gd name="T9" fmla="*/ 0 h 51"/>
              <a:gd name="T10" fmla="*/ 537 w 540"/>
              <a:gd name="T11" fmla="*/ 6 h 51"/>
              <a:gd name="T12" fmla="*/ 537 w 540"/>
              <a:gd name="T13" fmla="*/ 11 h 51"/>
              <a:gd name="T14" fmla="*/ 537 w 540"/>
              <a:gd name="T15" fmla="*/ 18 h 51"/>
              <a:gd name="T16" fmla="*/ 537 w 540"/>
              <a:gd name="T17" fmla="*/ 24 h 51"/>
              <a:gd name="T18" fmla="*/ 537 w 540"/>
              <a:gd name="T19" fmla="*/ 31 h 51"/>
              <a:gd name="T20" fmla="*/ 537 w 540"/>
              <a:gd name="T21" fmla="*/ 38 h 51"/>
              <a:gd name="T22" fmla="*/ 537 w 540"/>
              <a:gd name="T23" fmla="*/ 44 h 51"/>
              <a:gd name="T24" fmla="*/ 537 w 540"/>
              <a:gd name="T25" fmla="*/ 51 h 51"/>
              <a:gd name="T26" fmla="*/ 540 w 540"/>
              <a:gd name="T27" fmla="*/ 48 h 51"/>
              <a:gd name="T28" fmla="*/ 540 w 540"/>
              <a:gd name="T29" fmla="*/ 41 h 51"/>
              <a:gd name="T30" fmla="*/ 540 w 540"/>
              <a:gd name="T31" fmla="*/ 34 h 51"/>
              <a:gd name="T32" fmla="*/ 540 w 540"/>
              <a:gd name="T33" fmla="*/ 28 h 51"/>
              <a:gd name="T34" fmla="*/ 2 w 540"/>
              <a:gd name="T35" fmla="*/ 0 h 51"/>
              <a:gd name="T36" fmla="*/ 0 w 540"/>
              <a:gd name="T37" fmla="*/ 6 h 51"/>
              <a:gd name="T38" fmla="*/ 0 w 540"/>
              <a:gd name="T39" fmla="*/ 11 h 51"/>
              <a:gd name="T40" fmla="*/ 0 w 540"/>
              <a:gd name="T41" fmla="*/ 18 h 51"/>
              <a:gd name="T42" fmla="*/ 0 w 540"/>
              <a:gd name="T43" fmla="*/ 24 h 51"/>
              <a:gd name="T44" fmla="*/ 0 w 540"/>
              <a:gd name="T45" fmla="*/ 31 h 51"/>
              <a:gd name="T46" fmla="*/ 0 w 540"/>
              <a:gd name="T47" fmla="*/ 38 h 51"/>
              <a:gd name="T48" fmla="*/ 0 w 540"/>
              <a:gd name="T49" fmla="*/ 44 h 51"/>
              <a:gd name="T50" fmla="*/ 0 w 540"/>
              <a:gd name="T51" fmla="*/ 51 h 51"/>
              <a:gd name="T52" fmla="*/ 4 w 540"/>
              <a:gd name="T53" fmla="*/ 48 h 51"/>
              <a:gd name="T54" fmla="*/ 4 w 540"/>
              <a:gd name="T55" fmla="*/ 41 h 51"/>
              <a:gd name="T56" fmla="*/ 4 w 540"/>
              <a:gd name="T57" fmla="*/ 34 h 51"/>
              <a:gd name="T58" fmla="*/ 4 w 540"/>
              <a:gd name="T59" fmla="*/ 28 h 51"/>
              <a:gd name="T60" fmla="*/ 4 w 540"/>
              <a:gd name="T61" fmla="*/ 21 h 51"/>
              <a:gd name="T62" fmla="*/ 4 w 540"/>
              <a:gd name="T63" fmla="*/ 14 h 51"/>
              <a:gd name="T64" fmla="*/ 4 w 540"/>
              <a:gd name="T65" fmla="*/ 9 h 51"/>
              <a:gd name="T66" fmla="*/ 4 w 540"/>
              <a:gd name="T67" fmla="*/ 3 h 51"/>
              <a:gd name="T68" fmla="*/ 2 w 54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0" h="51">
                <a:moveTo>
                  <a:pt x="540" y="24"/>
                </a:moveTo>
                <a:lnTo>
                  <a:pt x="540" y="21"/>
                </a:lnTo>
                <a:lnTo>
                  <a:pt x="540" y="18"/>
                </a:lnTo>
                <a:lnTo>
                  <a:pt x="540" y="14"/>
                </a:lnTo>
                <a:lnTo>
                  <a:pt x="540" y="11"/>
                </a:lnTo>
                <a:lnTo>
                  <a:pt x="540" y="9"/>
                </a:lnTo>
                <a:lnTo>
                  <a:pt x="540" y="6"/>
                </a:lnTo>
                <a:lnTo>
                  <a:pt x="540" y="3"/>
                </a:lnTo>
                <a:lnTo>
                  <a:pt x="540" y="0"/>
                </a:lnTo>
                <a:lnTo>
                  <a:pt x="537" y="0"/>
                </a:lnTo>
                <a:lnTo>
                  <a:pt x="537" y="3"/>
                </a:lnTo>
                <a:lnTo>
                  <a:pt x="537" y="6"/>
                </a:lnTo>
                <a:lnTo>
                  <a:pt x="537" y="9"/>
                </a:lnTo>
                <a:lnTo>
                  <a:pt x="537" y="11"/>
                </a:lnTo>
                <a:lnTo>
                  <a:pt x="537" y="14"/>
                </a:lnTo>
                <a:lnTo>
                  <a:pt x="537" y="18"/>
                </a:lnTo>
                <a:lnTo>
                  <a:pt x="537" y="21"/>
                </a:lnTo>
                <a:lnTo>
                  <a:pt x="537" y="24"/>
                </a:lnTo>
                <a:lnTo>
                  <a:pt x="537" y="28"/>
                </a:lnTo>
                <a:lnTo>
                  <a:pt x="537" y="31"/>
                </a:lnTo>
                <a:lnTo>
                  <a:pt x="537" y="34"/>
                </a:lnTo>
                <a:lnTo>
                  <a:pt x="537" y="38"/>
                </a:lnTo>
                <a:lnTo>
                  <a:pt x="537" y="41"/>
                </a:lnTo>
                <a:lnTo>
                  <a:pt x="537" y="44"/>
                </a:lnTo>
                <a:lnTo>
                  <a:pt x="537" y="48"/>
                </a:lnTo>
                <a:lnTo>
                  <a:pt x="537" y="51"/>
                </a:lnTo>
                <a:lnTo>
                  <a:pt x="540" y="51"/>
                </a:lnTo>
                <a:lnTo>
                  <a:pt x="540" y="48"/>
                </a:lnTo>
                <a:lnTo>
                  <a:pt x="540" y="44"/>
                </a:lnTo>
                <a:lnTo>
                  <a:pt x="540" y="41"/>
                </a:lnTo>
                <a:lnTo>
                  <a:pt x="540" y="38"/>
                </a:lnTo>
                <a:lnTo>
                  <a:pt x="540" y="34"/>
                </a:lnTo>
                <a:lnTo>
                  <a:pt x="540" y="31"/>
                </a:lnTo>
                <a:lnTo>
                  <a:pt x="540" y="28"/>
                </a:lnTo>
                <a:lnTo>
                  <a:pt x="54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89" name="Freeform 1494">
            <a:extLst>
              <a:ext uri="{FF2B5EF4-FFF2-40B4-BE49-F238E27FC236}">
                <a16:creationId xmlns:a16="http://schemas.microsoft.com/office/drawing/2014/main" id="{762190F3-23A2-2895-D2F9-02D3F0BE3B90}"/>
              </a:ext>
            </a:extLst>
          </p:cNvPr>
          <p:cNvSpPr>
            <a:spLocks noEditPoints="1"/>
          </p:cNvSpPr>
          <p:nvPr/>
        </p:nvSpPr>
        <p:spPr bwMode="auto">
          <a:xfrm>
            <a:off x="2132013" y="2719388"/>
            <a:ext cx="850900" cy="80963"/>
          </a:xfrm>
          <a:custGeom>
            <a:avLst/>
            <a:gdLst>
              <a:gd name="T0" fmla="*/ 536 w 536"/>
              <a:gd name="T1" fmla="*/ 21 h 51"/>
              <a:gd name="T2" fmla="*/ 536 w 536"/>
              <a:gd name="T3" fmla="*/ 14 h 51"/>
              <a:gd name="T4" fmla="*/ 536 w 536"/>
              <a:gd name="T5" fmla="*/ 9 h 51"/>
              <a:gd name="T6" fmla="*/ 536 w 536"/>
              <a:gd name="T7" fmla="*/ 3 h 51"/>
              <a:gd name="T8" fmla="*/ 533 w 536"/>
              <a:gd name="T9" fmla="*/ 0 h 51"/>
              <a:gd name="T10" fmla="*/ 533 w 536"/>
              <a:gd name="T11" fmla="*/ 6 h 51"/>
              <a:gd name="T12" fmla="*/ 533 w 536"/>
              <a:gd name="T13" fmla="*/ 11 h 51"/>
              <a:gd name="T14" fmla="*/ 533 w 536"/>
              <a:gd name="T15" fmla="*/ 18 h 51"/>
              <a:gd name="T16" fmla="*/ 533 w 536"/>
              <a:gd name="T17" fmla="*/ 24 h 51"/>
              <a:gd name="T18" fmla="*/ 533 w 536"/>
              <a:gd name="T19" fmla="*/ 31 h 51"/>
              <a:gd name="T20" fmla="*/ 533 w 536"/>
              <a:gd name="T21" fmla="*/ 38 h 51"/>
              <a:gd name="T22" fmla="*/ 533 w 536"/>
              <a:gd name="T23" fmla="*/ 44 h 51"/>
              <a:gd name="T24" fmla="*/ 533 w 536"/>
              <a:gd name="T25" fmla="*/ 51 h 51"/>
              <a:gd name="T26" fmla="*/ 536 w 536"/>
              <a:gd name="T27" fmla="*/ 48 h 51"/>
              <a:gd name="T28" fmla="*/ 536 w 536"/>
              <a:gd name="T29" fmla="*/ 41 h 51"/>
              <a:gd name="T30" fmla="*/ 536 w 536"/>
              <a:gd name="T31" fmla="*/ 34 h 51"/>
              <a:gd name="T32" fmla="*/ 536 w 536"/>
              <a:gd name="T33" fmla="*/ 28 h 51"/>
              <a:gd name="T34" fmla="*/ 2 w 536"/>
              <a:gd name="T35" fmla="*/ 0 h 51"/>
              <a:gd name="T36" fmla="*/ 0 w 536"/>
              <a:gd name="T37" fmla="*/ 6 h 51"/>
              <a:gd name="T38" fmla="*/ 0 w 536"/>
              <a:gd name="T39" fmla="*/ 11 h 51"/>
              <a:gd name="T40" fmla="*/ 0 w 536"/>
              <a:gd name="T41" fmla="*/ 18 h 51"/>
              <a:gd name="T42" fmla="*/ 0 w 536"/>
              <a:gd name="T43" fmla="*/ 24 h 51"/>
              <a:gd name="T44" fmla="*/ 0 w 536"/>
              <a:gd name="T45" fmla="*/ 31 h 51"/>
              <a:gd name="T46" fmla="*/ 0 w 536"/>
              <a:gd name="T47" fmla="*/ 38 h 51"/>
              <a:gd name="T48" fmla="*/ 0 w 536"/>
              <a:gd name="T49" fmla="*/ 44 h 51"/>
              <a:gd name="T50" fmla="*/ 0 w 536"/>
              <a:gd name="T51" fmla="*/ 51 h 51"/>
              <a:gd name="T52" fmla="*/ 3 w 536"/>
              <a:gd name="T53" fmla="*/ 48 h 51"/>
              <a:gd name="T54" fmla="*/ 3 w 536"/>
              <a:gd name="T55" fmla="*/ 41 h 51"/>
              <a:gd name="T56" fmla="*/ 3 w 536"/>
              <a:gd name="T57" fmla="*/ 34 h 51"/>
              <a:gd name="T58" fmla="*/ 3 w 536"/>
              <a:gd name="T59" fmla="*/ 28 h 51"/>
              <a:gd name="T60" fmla="*/ 3 w 536"/>
              <a:gd name="T61" fmla="*/ 21 h 51"/>
              <a:gd name="T62" fmla="*/ 3 w 536"/>
              <a:gd name="T63" fmla="*/ 14 h 51"/>
              <a:gd name="T64" fmla="*/ 3 w 536"/>
              <a:gd name="T65" fmla="*/ 9 h 51"/>
              <a:gd name="T66" fmla="*/ 3 w 536"/>
              <a:gd name="T67" fmla="*/ 3 h 51"/>
              <a:gd name="T68" fmla="*/ 2 w 5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6" h="51">
                <a:moveTo>
                  <a:pt x="536" y="24"/>
                </a:moveTo>
                <a:lnTo>
                  <a:pt x="536" y="21"/>
                </a:lnTo>
                <a:lnTo>
                  <a:pt x="536" y="18"/>
                </a:lnTo>
                <a:lnTo>
                  <a:pt x="536" y="14"/>
                </a:lnTo>
                <a:lnTo>
                  <a:pt x="536" y="11"/>
                </a:lnTo>
                <a:lnTo>
                  <a:pt x="536" y="9"/>
                </a:lnTo>
                <a:lnTo>
                  <a:pt x="536" y="6"/>
                </a:lnTo>
                <a:lnTo>
                  <a:pt x="536" y="3"/>
                </a:lnTo>
                <a:lnTo>
                  <a:pt x="536" y="0"/>
                </a:lnTo>
                <a:lnTo>
                  <a:pt x="533" y="0"/>
                </a:lnTo>
                <a:lnTo>
                  <a:pt x="533" y="3"/>
                </a:lnTo>
                <a:lnTo>
                  <a:pt x="533" y="6"/>
                </a:lnTo>
                <a:lnTo>
                  <a:pt x="533" y="9"/>
                </a:lnTo>
                <a:lnTo>
                  <a:pt x="533" y="11"/>
                </a:lnTo>
                <a:lnTo>
                  <a:pt x="533" y="14"/>
                </a:lnTo>
                <a:lnTo>
                  <a:pt x="533" y="18"/>
                </a:lnTo>
                <a:lnTo>
                  <a:pt x="533" y="21"/>
                </a:lnTo>
                <a:lnTo>
                  <a:pt x="533" y="24"/>
                </a:lnTo>
                <a:lnTo>
                  <a:pt x="533" y="28"/>
                </a:lnTo>
                <a:lnTo>
                  <a:pt x="533" y="31"/>
                </a:lnTo>
                <a:lnTo>
                  <a:pt x="533" y="34"/>
                </a:lnTo>
                <a:lnTo>
                  <a:pt x="533" y="38"/>
                </a:lnTo>
                <a:lnTo>
                  <a:pt x="533" y="41"/>
                </a:lnTo>
                <a:lnTo>
                  <a:pt x="533" y="44"/>
                </a:lnTo>
                <a:lnTo>
                  <a:pt x="533" y="48"/>
                </a:lnTo>
                <a:lnTo>
                  <a:pt x="533" y="51"/>
                </a:lnTo>
                <a:lnTo>
                  <a:pt x="536" y="51"/>
                </a:lnTo>
                <a:lnTo>
                  <a:pt x="536" y="48"/>
                </a:lnTo>
                <a:lnTo>
                  <a:pt x="536" y="44"/>
                </a:lnTo>
                <a:lnTo>
                  <a:pt x="536" y="41"/>
                </a:lnTo>
                <a:lnTo>
                  <a:pt x="536" y="38"/>
                </a:lnTo>
                <a:lnTo>
                  <a:pt x="536" y="34"/>
                </a:lnTo>
                <a:lnTo>
                  <a:pt x="536" y="31"/>
                </a:lnTo>
                <a:lnTo>
                  <a:pt x="536" y="28"/>
                </a:lnTo>
                <a:lnTo>
                  <a:pt x="53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90" name="Freeform 1495">
            <a:extLst>
              <a:ext uri="{FF2B5EF4-FFF2-40B4-BE49-F238E27FC236}">
                <a16:creationId xmlns:a16="http://schemas.microsoft.com/office/drawing/2014/main" id="{E76C243F-B742-F972-3465-101B1D73FFD4}"/>
              </a:ext>
            </a:extLst>
          </p:cNvPr>
          <p:cNvSpPr>
            <a:spLocks noEditPoints="1"/>
          </p:cNvSpPr>
          <p:nvPr/>
        </p:nvSpPr>
        <p:spPr bwMode="auto">
          <a:xfrm>
            <a:off x="2135188" y="2719388"/>
            <a:ext cx="846138" cy="80963"/>
          </a:xfrm>
          <a:custGeom>
            <a:avLst/>
            <a:gdLst>
              <a:gd name="T0" fmla="*/ 533 w 533"/>
              <a:gd name="T1" fmla="*/ 21 h 51"/>
              <a:gd name="T2" fmla="*/ 533 w 533"/>
              <a:gd name="T3" fmla="*/ 14 h 51"/>
              <a:gd name="T4" fmla="*/ 533 w 533"/>
              <a:gd name="T5" fmla="*/ 9 h 51"/>
              <a:gd name="T6" fmla="*/ 533 w 533"/>
              <a:gd name="T7" fmla="*/ 3 h 51"/>
              <a:gd name="T8" fmla="*/ 529 w 533"/>
              <a:gd name="T9" fmla="*/ 0 h 51"/>
              <a:gd name="T10" fmla="*/ 529 w 533"/>
              <a:gd name="T11" fmla="*/ 6 h 51"/>
              <a:gd name="T12" fmla="*/ 529 w 533"/>
              <a:gd name="T13" fmla="*/ 11 h 51"/>
              <a:gd name="T14" fmla="*/ 529 w 533"/>
              <a:gd name="T15" fmla="*/ 18 h 51"/>
              <a:gd name="T16" fmla="*/ 529 w 533"/>
              <a:gd name="T17" fmla="*/ 24 h 51"/>
              <a:gd name="T18" fmla="*/ 529 w 533"/>
              <a:gd name="T19" fmla="*/ 31 h 51"/>
              <a:gd name="T20" fmla="*/ 529 w 533"/>
              <a:gd name="T21" fmla="*/ 38 h 51"/>
              <a:gd name="T22" fmla="*/ 529 w 533"/>
              <a:gd name="T23" fmla="*/ 44 h 51"/>
              <a:gd name="T24" fmla="*/ 529 w 533"/>
              <a:gd name="T25" fmla="*/ 51 h 51"/>
              <a:gd name="T26" fmla="*/ 533 w 533"/>
              <a:gd name="T27" fmla="*/ 48 h 51"/>
              <a:gd name="T28" fmla="*/ 533 w 533"/>
              <a:gd name="T29" fmla="*/ 41 h 51"/>
              <a:gd name="T30" fmla="*/ 533 w 533"/>
              <a:gd name="T31" fmla="*/ 34 h 51"/>
              <a:gd name="T32" fmla="*/ 533 w 533"/>
              <a:gd name="T33" fmla="*/ 28 h 51"/>
              <a:gd name="T34" fmla="*/ 1 w 533"/>
              <a:gd name="T35" fmla="*/ 0 h 51"/>
              <a:gd name="T36" fmla="*/ 0 w 533"/>
              <a:gd name="T37" fmla="*/ 6 h 51"/>
              <a:gd name="T38" fmla="*/ 0 w 533"/>
              <a:gd name="T39" fmla="*/ 11 h 51"/>
              <a:gd name="T40" fmla="*/ 0 w 533"/>
              <a:gd name="T41" fmla="*/ 18 h 51"/>
              <a:gd name="T42" fmla="*/ 0 w 533"/>
              <a:gd name="T43" fmla="*/ 24 h 51"/>
              <a:gd name="T44" fmla="*/ 0 w 533"/>
              <a:gd name="T45" fmla="*/ 31 h 51"/>
              <a:gd name="T46" fmla="*/ 0 w 533"/>
              <a:gd name="T47" fmla="*/ 38 h 51"/>
              <a:gd name="T48" fmla="*/ 0 w 533"/>
              <a:gd name="T49" fmla="*/ 44 h 51"/>
              <a:gd name="T50" fmla="*/ 0 w 533"/>
              <a:gd name="T51" fmla="*/ 51 h 51"/>
              <a:gd name="T52" fmla="*/ 3 w 533"/>
              <a:gd name="T53" fmla="*/ 48 h 51"/>
              <a:gd name="T54" fmla="*/ 3 w 533"/>
              <a:gd name="T55" fmla="*/ 41 h 51"/>
              <a:gd name="T56" fmla="*/ 3 w 533"/>
              <a:gd name="T57" fmla="*/ 34 h 51"/>
              <a:gd name="T58" fmla="*/ 3 w 533"/>
              <a:gd name="T59" fmla="*/ 28 h 51"/>
              <a:gd name="T60" fmla="*/ 3 w 533"/>
              <a:gd name="T61" fmla="*/ 21 h 51"/>
              <a:gd name="T62" fmla="*/ 3 w 533"/>
              <a:gd name="T63" fmla="*/ 14 h 51"/>
              <a:gd name="T64" fmla="*/ 3 w 533"/>
              <a:gd name="T65" fmla="*/ 9 h 51"/>
              <a:gd name="T66" fmla="*/ 3 w 533"/>
              <a:gd name="T67" fmla="*/ 3 h 51"/>
              <a:gd name="T68" fmla="*/ 1 w 53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3" h="51">
                <a:moveTo>
                  <a:pt x="533" y="24"/>
                </a:moveTo>
                <a:lnTo>
                  <a:pt x="533" y="21"/>
                </a:lnTo>
                <a:lnTo>
                  <a:pt x="533" y="18"/>
                </a:lnTo>
                <a:lnTo>
                  <a:pt x="533" y="14"/>
                </a:lnTo>
                <a:lnTo>
                  <a:pt x="533" y="11"/>
                </a:lnTo>
                <a:lnTo>
                  <a:pt x="533" y="9"/>
                </a:lnTo>
                <a:lnTo>
                  <a:pt x="533" y="6"/>
                </a:lnTo>
                <a:lnTo>
                  <a:pt x="533" y="3"/>
                </a:lnTo>
                <a:lnTo>
                  <a:pt x="533" y="0"/>
                </a:lnTo>
                <a:lnTo>
                  <a:pt x="529" y="0"/>
                </a:lnTo>
                <a:lnTo>
                  <a:pt x="529" y="3"/>
                </a:lnTo>
                <a:lnTo>
                  <a:pt x="529" y="6"/>
                </a:lnTo>
                <a:lnTo>
                  <a:pt x="529" y="9"/>
                </a:lnTo>
                <a:lnTo>
                  <a:pt x="529" y="11"/>
                </a:lnTo>
                <a:lnTo>
                  <a:pt x="529" y="14"/>
                </a:lnTo>
                <a:lnTo>
                  <a:pt x="529" y="18"/>
                </a:lnTo>
                <a:lnTo>
                  <a:pt x="529" y="21"/>
                </a:lnTo>
                <a:lnTo>
                  <a:pt x="529" y="24"/>
                </a:lnTo>
                <a:lnTo>
                  <a:pt x="529" y="28"/>
                </a:lnTo>
                <a:lnTo>
                  <a:pt x="529" y="31"/>
                </a:lnTo>
                <a:lnTo>
                  <a:pt x="529" y="34"/>
                </a:lnTo>
                <a:lnTo>
                  <a:pt x="529" y="38"/>
                </a:lnTo>
                <a:lnTo>
                  <a:pt x="529" y="41"/>
                </a:lnTo>
                <a:lnTo>
                  <a:pt x="529" y="44"/>
                </a:lnTo>
                <a:lnTo>
                  <a:pt x="529" y="48"/>
                </a:lnTo>
                <a:lnTo>
                  <a:pt x="529" y="51"/>
                </a:lnTo>
                <a:lnTo>
                  <a:pt x="533" y="51"/>
                </a:lnTo>
                <a:lnTo>
                  <a:pt x="533" y="48"/>
                </a:lnTo>
                <a:lnTo>
                  <a:pt x="533" y="44"/>
                </a:lnTo>
                <a:lnTo>
                  <a:pt x="533" y="41"/>
                </a:lnTo>
                <a:lnTo>
                  <a:pt x="533" y="38"/>
                </a:lnTo>
                <a:lnTo>
                  <a:pt x="533" y="34"/>
                </a:lnTo>
                <a:lnTo>
                  <a:pt x="533" y="31"/>
                </a:lnTo>
                <a:lnTo>
                  <a:pt x="533" y="28"/>
                </a:lnTo>
                <a:lnTo>
                  <a:pt x="53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91" name="Freeform 1496">
            <a:extLst>
              <a:ext uri="{FF2B5EF4-FFF2-40B4-BE49-F238E27FC236}">
                <a16:creationId xmlns:a16="http://schemas.microsoft.com/office/drawing/2014/main" id="{E1A8CFBC-0FF1-0232-9559-F22530EF0AA2}"/>
              </a:ext>
            </a:extLst>
          </p:cNvPr>
          <p:cNvSpPr>
            <a:spLocks noEditPoints="1"/>
          </p:cNvSpPr>
          <p:nvPr/>
        </p:nvSpPr>
        <p:spPr bwMode="auto">
          <a:xfrm>
            <a:off x="2136775" y="2719388"/>
            <a:ext cx="841375" cy="80963"/>
          </a:xfrm>
          <a:custGeom>
            <a:avLst/>
            <a:gdLst>
              <a:gd name="T0" fmla="*/ 530 w 530"/>
              <a:gd name="T1" fmla="*/ 21 h 51"/>
              <a:gd name="T2" fmla="*/ 530 w 530"/>
              <a:gd name="T3" fmla="*/ 14 h 51"/>
              <a:gd name="T4" fmla="*/ 530 w 530"/>
              <a:gd name="T5" fmla="*/ 9 h 51"/>
              <a:gd name="T6" fmla="*/ 530 w 530"/>
              <a:gd name="T7" fmla="*/ 3 h 51"/>
              <a:gd name="T8" fmla="*/ 527 w 530"/>
              <a:gd name="T9" fmla="*/ 0 h 51"/>
              <a:gd name="T10" fmla="*/ 527 w 530"/>
              <a:gd name="T11" fmla="*/ 6 h 51"/>
              <a:gd name="T12" fmla="*/ 527 w 530"/>
              <a:gd name="T13" fmla="*/ 11 h 51"/>
              <a:gd name="T14" fmla="*/ 527 w 530"/>
              <a:gd name="T15" fmla="*/ 18 h 51"/>
              <a:gd name="T16" fmla="*/ 527 w 530"/>
              <a:gd name="T17" fmla="*/ 24 h 51"/>
              <a:gd name="T18" fmla="*/ 527 w 530"/>
              <a:gd name="T19" fmla="*/ 31 h 51"/>
              <a:gd name="T20" fmla="*/ 527 w 530"/>
              <a:gd name="T21" fmla="*/ 38 h 51"/>
              <a:gd name="T22" fmla="*/ 527 w 530"/>
              <a:gd name="T23" fmla="*/ 44 h 51"/>
              <a:gd name="T24" fmla="*/ 527 w 530"/>
              <a:gd name="T25" fmla="*/ 51 h 51"/>
              <a:gd name="T26" fmla="*/ 530 w 530"/>
              <a:gd name="T27" fmla="*/ 48 h 51"/>
              <a:gd name="T28" fmla="*/ 530 w 530"/>
              <a:gd name="T29" fmla="*/ 41 h 51"/>
              <a:gd name="T30" fmla="*/ 530 w 530"/>
              <a:gd name="T31" fmla="*/ 34 h 51"/>
              <a:gd name="T32" fmla="*/ 530 w 530"/>
              <a:gd name="T33" fmla="*/ 28 h 51"/>
              <a:gd name="T34" fmla="*/ 2 w 530"/>
              <a:gd name="T35" fmla="*/ 0 h 51"/>
              <a:gd name="T36" fmla="*/ 0 w 530"/>
              <a:gd name="T37" fmla="*/ 6 h 51"/>
              <a:gd name="T38" fmla="*/ 0 w 530"/>
              <a:gd name="T39" fmla="*/ 11 h 51"/>
              <a:gd name="T40" fmla="*/ 0 w 530"/>
              <a:gd name="T41" fmla="*/ 18 h 51"/>
              <a:gd name="T42" fmla="*/ 0 w 530"/>
              <a:gd name="T43" fmla="*/ 24 h 51"/>
              <a:gd name="T44" fmla="*/ 0 w 530"/>
              <a:gd name="T45" fmla="*/ 31 h 51"/>
              <a:gd name="T46" fmla="*/ 0 w 530"/>
              <a:gd name="T47" fmla="*/ 38 h 51"/>
              <a:gd name="T48" fmla="*/ 0 w 530"/>
              <a:gd name="T49" fmla="*/ 44 h 51"/>
              <a:gd name="T50" fmla="*/ 0 w 530"/>
              <a:gd name="T51" fmla="*/ 51 h 51"/>
              <a:gd name="T52" fmla="*/ 4 w 530"/>
              <a:gd name="T53" fmla="*/ 48 h 51"/>
              <a:gd name="T54" fmla="*/ 4 w 530"/>
              <a:gd name="T55" fmla="*/ 41 h 51"/>
              <a:gd name="T56" fmla="*/ 4 w 530"/>
              <a:gd name="T57" fmla="*/ 34 h 51"/>
              <a:gd name="T58" fmla="*/ 4 w 530"/>
              <a:gd name="T59" fmla="*/ 28 h 51"/>
              <a:gd name="T60" fmla="*/ 4 w 530"/>
              <a:gd name="T61" fmla="*/ 21 h 51"/>
              <a:gd name="T62" fmla="*/ 4 w 530"/>
              <a:gd name="T63" fmla="*/ 14 h 51"/>
              <a:gd name="T64" fmla="*/ 4 w 530"/>
              <a:gd name="T65" fmla="*/ 9 h 51"/>
              <a:gd name="T66" fmla="*/ 4 w 530"/>
              <a:gd name="T67" fmla="*/ 3 h 51"/>
              <a:gd name="T68" fmla="*/ 2 w 53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0" h="51">
                <a:moveTo>
                  <a:pt x="530" y="24"/>
                </a:moveTo>
                <a:lnTo>
                  <a:pt x="530" y="21"/>
                </a:lnTo>
                <a:lnTo>
                  <a:pt x="530" y="18"/>
                </a:lnTo>
                <a:lnTo>
                  <a:pt x="530" y="14"/>
                </a:lnTo>
                <a:lnTo>
                  <a:pt x="530" y="11"/>
                </a:lnTo>
                <a:lnTo>
                  <a:pt x="530" y="9"/>
                </a:lnTo>
                <a:lnTo>
                  <a:pt x="530" y="6"/>
                </a:lnTo>
                <a:lnTo>
                  <a:pt x="530" y="3"/>
                </a:lnTo>
                <a:lnTo>
                  <a:pt x="530" y="0"/>
                </a:lnTo>
                <a:lnTo>
                  <a:pt x="527" y="0"/>
                </a:lnTo>
                <a:lnTo>
                  <a:pt x="527" y="3"/>
                </a:lnTo>
                <a:lnTo>
                  <a:pt x="527" y="6"/>
                </a:lnTo>
                <a:lnTo>
                  <a:pt x="527" y="9"/>
                </a:lnTo>
                <a:lnTo>
                  <a:pt x="527" y="11"/>
                </a:lnTo>
                <a:lnTo>
                  <a:pt x="527" y="14"/>
                </a:lnTo>
                <a:lnTo>
                  <a:pt x="527" y="18"/>
                </a:lnTo>
                <a:lnTo>
                  <a:pt x="527" y="21"/>
                </a:lnTo>
                <a:lnTo>
                  <a:pt x="527" y="24"/>
                </a:lnTo>
                <a:lnTo>
                  <a:pt x="527" y="28"/>
                </a:lnTo>
                <a:lnTo>
                  <a:pt x="527" y="31"/>
                </a:lnTo>
                <a:lnTo>
                  <a:pt x="527" y="34"/>
                </a:lnTo>
                <a:lnTo>
                  <a:pt x="527" y="38"/>
                </a:lnTo>
                <a:lnTo>
                  <a:pt x="527" y="41"/>
                </a:lnTo>
                <a:lnTo>
                  <a:pt x="527" y="44"/>
                </a:lnTo>
                <a:lnTo>
                  <a:pt x="527" y="48"/>
                </a:lnTo>
                <a:lnTo>
                  <a:pt x="527" y="51"/>
                </a:lnTo>
                <a:lnTo>
                  <a:pt x="530" y="51"/>
                </a:lnTo>
                <a:lnTo>
                  <a:pt x="530" y="48"/>
                </a:lnTo>
                <a:lnTo>
                  <a:pt x="530" y="44"/>
                </a:lnTo>
                <a:lnTo>
                  <a:pt x="530" y="41"/>
                </a:lnTo>
                <a:lnTo>
                  <a:pt x="530" y="38"/>
                </a:lnTo>
                <a:lnTo>
                  <a:pt x="530" y="34"/>
                </a:lnTo>
                <a:lnTo>
                  <a:pt x="530" y="31"/>
                </a:lnTo>
                <a:lnTo>
                  <a:pt x="530" y="28"/>
                </a:lnTo>
                <a:lnTo>
                  <a:pt x="53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92" name="Freeform 1497">
            <a:extLst>
              <a:ext uri="{FF2B5EF4-FFF2-40B4-BE49-F238E27FC236}">
                <a16:creationId xmlns:a16="http://schemas.microsoft.com/office/drawing/2014/main" id="{5E07B31E-CD8C-5C4E-DE2E-C8F5A1D105ED}"/>
              </a:ext>
            </a:extLst>
          </p:cNvPr>
          <p:cNvSpPr>
            <a:spLocks noEditPoints="1"/>
          </p:cNvSpPr>
          <p:nvPr/>
        </p:nvSpPr>
        <p:spPr bwMode="auto">
          <a:xfrm>
            <a:off x="2139950" y="2719388"/>
            <a:ext cx="835025" cy="80963"/>
          </a:xfrm>
          <a:custGeom>
            <a:avLst/>
            <a:gdLst>
              <a:gd name="T0" fmla="*/ 526 w 526"/>
              <a:gd name="T1" fmla="*/ 21 h 51"/>
              <a:gd name="T2" fmla="*/ 526 w 526"/>
              <a:gd name="T3" fmla="*/ 14 h 51"/>
              <a:gd name="T4" fmla="*/ 526 w 526"/>
              <a:gd name="T5" fmla="*/ 9 h 51"/>
              <a:gd name="T6" fmla="*/ 526 w 526"/>
              <a:gd name="T7" fmla="*/ 3 h 51"/>
              <a:gd name="T8" fmla="*/ 523 w 526"/>
              <a:gd name="T9" fmla="*/ 0 h 51"/>
              <a:gd name="T10" fmla="*/ 523 w 526"/>
              <a:gd name="T11" fmla="*/ 6 h 51"/>
              <a:gd name="T12" fmla="*/ 523 w 526"/>
              <a:gd name="T13" fmla="*/ 11 h 51"/>
              <a:gd name="T14" fmla="*/ 523 w 526"/>
              <a:gd name="T15" fmla="*/ 18 h 51"/>
              <a:gd name="T16" fmla="*/ 523 w 526"/>
              <a:gd name="T17" fmla="*/ 24 h 51"/>
              <a:gd name="T18" fmla="*/ 523 w 526"/>
              <a:gd name="T19" fmla="*/ 31 h 51"/>
              <a:gd name="T20" fmla="*/ 523 w 526"/>
              <a:gd name="T21" fmla="*/ 38 h 51"/>
              <a:gd name="T22" fmla="*/ 523 w 526"/>
              <a:gd name="T23" fmla="*/ 44 h 51"/>
              <a:gd name="T24" fmla="*/ 523 w 526"/>
              <a:gd name="T25" fmla="*/ 51 h 51"/>
              <a:gd name="T26" fmla="*/ 526 w 526"/>
              <a:gd name="T27" fmla="*/ 48 h 51"/>
              <a:gd name="T28" fmla="*/ 526 w 526"/>
              <a:gd name="T29" fmla="*/ 41 h 51"/>
              <a:gd name="T30" fmla="*/ 526 w 526"/>
              <a:gd name="T31" fmla="*/ 34 h 51"/>
              <a:gd name="T32" fmla="*/ 526 w 526"/>
              <a:gd name="T33" fmla="*/ 28 h 51"/>
              <a:gd name="T34" fmla="*/ 2 w 526"/>
              <a:gd name="T35" fmla="*/ 0 h 51"/>
              <a:gd name="T36" fmla="*/ 0 w 526"/>
              <a:gd name="T37" fmla="*/ 6 h 51"/>
              <a:gd name="T38" fmla="*/ 0 w 526"/>
              <a:gd name="T39" fmla="*/ 11 h 51"/>
              <a:gd name="T40" fmla="*/ 0 w 526"/>
              <a:gd name="T41" fmla="*/ 18 h 51"/>
              <a:gd name="T42" fmla="*/ 0 w 526"/>
              <a:gd name="T43" fmla="*/ 24 h 51"/>
              <a:gd name="T44" fmla="*/ 0 w 526"/>
              <a:gd name="T45" fmla="*/ 31 h 51"/>
              <a:gd name="T46" fmla="*/ 0 w 526"/>
              <a:gd name="T47" fmla="*/ 38 h 51"/>
              <a:gd name="T48" fmla="*/ 0 w 526"/>
              <a:gd name="T49" fmla="*/ 44 h 51"/>
              <a:gd name="T50" fmla="*/ 0 w 526"/>
              <a:gd name="T51" fmla="*/ 51 h 51"/>
              <a:gd name="T52" fmla="*/ 3 w 526"/>
              <a:gd name="T53" fmla="*/ 48 h 51"/>
              <a:gd name="T54" fmla="*/ 3 w 526"/>
              <a:gd name="T55" fmla="*/ 41 h 51"/>
              <a:gd name="T56" fmla="*/ 3 w 526"/>
              <a:gd name="T57" fmla="*/ 34 h 51"/>
              <a:gd name="T58" fmla="*/ 3 w 526"/>
              <a:gd name="T59" fmla="*/ 28 h 51"/>
              <a:gd name="T60" fmla="*/ 3 w 526"/>
              <a:gd name="T61" fmla="*/ 21 h 51"/>
              <a:gd name="T62" fmla="*/ 3 w 526"/>
              <a:gd name="T63" fmla="*/ 14 h 51"/>
              <a:gd name="T64" fmla="*/ 3 w 526"/>
              <a:gd name="T65" fmla="*/ 9 h 51"/>
              <a:gd name="T66" fmla="*/ 3 w 526"/>
              <a:gd name="T67" fmla="*/ 3 h 51"/>
              <a:gd name="T68" fmla="*/ 2 w 52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6" h="51">
                <a:moveTo>
                  <a:pt x="526" y="24"/>
                </a:moveTo>
                <a:lnTo>
                  <a:pt x="526" y="21"/>
                </a:lnTo>
                <a:lnTo>
                  <a:pt x="526" y="18"/>
                </a:lnTo>
                <a:lnTo>
                  <a:pt x="526" y="14"/>
                </a:lnTo>
                <a:lnTo>
                  <a:pt x="526" y="11"/>
                </a:lnTo>
                <a:lnTo>
                  <a:pt x="526" y="9"/>
                </a:lnTo>
                <a:lnTo>
                  <a:pt x="526" y="6"/>
                </a:lnTo>
                <a:lnTo>
                  <a:pt x="526" y="3"/>
                </a:lnTo>
                <a:lnTo>
                  <a:pt x="526" y="0"/>
                </a:lnTo>
                <a:lnTo>
                  <a:pt x="523" y="0"/>
                </a:lnTo>
                <a:lnTo>
                  <a:pt x="523" y="3"/>
                </a:lnTo>
                <a:lnTo>
                  <a:pt x="523" y="6"/>
                </a:lnTo>
                <a:lnTo>
                  <a:pt x="523" y="9"/>
                </a:lnTo>
                <a:lnTo>
                  <a:pt x="523" y="11"/>
                </a:lnTo>
                <a:lnTo>
                  <a:pt x="523" y="14"/>
                </a:lnTo>
                <a:lnTo>
                  <a:pt x="523" y="18"/>
                </a:lnTo>
                <a:lnTo>
                  <a:pt x="523" y="21"/>
                </a:lnTo>
                <a:lnTo>
                  <a:pt x="523" y="24"/>
                </a:lnTo>
                <a:lnTo>
                  <a:pt x="523" y="28"/>
                </a:lnTo>
                <a:lnTo>
                  <a:pt x="523" y="31"/>
                </a:lnTo>
                <a:lnTo>
                  <a:pt x="523" y="34"/>
                </a:lnTo>
                <a:lnTo>
                  <a:pt x="523" y="38"/>
                </a:lnTo>
                <a:lnTo>
                  <a:pt x="523" y="41"/>
                </a:lnTo>
                <a:lnTo>
                  <a:pt x="523" y="44"/>
                </a:lnTo>
                <a:lnTo>
                  <a:pt x="523" y="48"/>
                </a:lnTo>
                <a:lnTo>
                  <a:pt x="523" y="51"/>
                </a:lnTo>
                <a:lnTo>
                  <a:pt x="526" y="51"/>
                </a:lnTo>
                <a:lnTo>
                  <a:pt x="526" y="48"/>
                </a:lnTo>
                <a:lnTo>
                  <a:pt x="526" y="44"/>
                </a:lnTo>
                <a:lnTo>
                  <a:pt x="526" y="41"/>
                </a:lnTo>
                <a:lnTo>
                  <a:pt x="526" y="38"/>
                </a:lnTo>
                <a:lnTo>
                  <a:pt x="526" y="34"/>
                </a:lnTo>
                <a:lnTo>
                  <a:pt x="526" y="31"/>
                </a:lnTo>
                <a:lnTo>
                  <a:pt x="526" y="28"/>
                </a:lnTo>
                <a:lnTo>
                  <a:pt x="52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93" name="Freeform 1498">
            <a:extLst>
              <a:ext uri="{FF2B5EF4-FFF2-40B4-BE49-F238E27FC236}">
                <a16:creationId xmlns:a16="http://schemas.microsoft.com/office/drawing/2014/main" id="{2E3A004C-1DA6-4818-F387-85006CE02C95}"/>
              </a:ext>
            </a:extLst>
          </p:cNvPr>
          <p:cNvSpPr>
            <a:spLocks noEditPoints="1"/>
          </p:cNvSpPr>
          <p:nvPr/>
        </p:nvSpPr>
        <p:spPr bwMode="auto">
          <a:xfrm>
            <a:off x="2143125" y="2719388"/>
            <a:ext cx="830263" cy="80963"/>
          </a:xfrm>
          <a:custGeom>
            <a:avLst/>
            <a:gdLst>
              <a:gd name="T0" fmla="*/ 523 w 523"/>
              <a:gd name="T1" fmla="*/ 21 h 51"/>
              <a:gd name="T2" fmla="*/ 523 w 523"/>
              <a:gd name="T3" fmla="*/ 14 h 51"/>
              <a:gd name="T4" fmla="*/ 523 w 523"/>
              <a:gd name="T5" fmla="*/ 9 h 51"/>
              <a:gd name="T6" fmla="*/ 523 w 523"/>
              <a:gd name="T7" fmla="*/ 3 h 51"/>
              <a:gd name="T8" fmla="*/ 520 w 523"/>
              <a:gd name="T9" fmla="*/ 0 h 51"/>
              <a:gd name="T10" fmla="*/ 520 w 523"/>
              <a:gd name="T11" fmla="*/ 6 h 51"/>
              <a:gd name="T12" fmla="*/ 520 w 523"/>
              <a:gd name="T13" fmla="*/ 11 h 51"/>
              <a:gd name="T14" fmla="*/ 520 w 523"/>
              <a:gd name="T15" fmla="*/ 18 h 51"/>
              <a:gd name="T16" fmla="*/ 520 w 523"/>
              <a:gd name="T17" fmla="*/ 24 h 51"/>
              <a:gd name="T18" fmla="*/ 520 w 523"/>
              <a:gd name="T19" fmla="*/ 31 h 51"/>
              <a:gd name="T20" fmla="*/ 520 w 523"/>
              <a:gd name="T21" fmla="*/ 38 h 51"/>
              <a:gd name="T22" fmla="*/ 520 w 523"/>
              <a:gd name="T23" fmla="*/ 44 h 51"/>
              <a:gd name="T24" fmla="*/ 520 w 523"/>
              <a:gd name="T25" fmla="*/ 51 h 51"/>
              <a:gd name="T26" fmla="*/ 523 w 523"/>
              <a:gd name="T27" fmla="*/ 48 h 51"/>
              <a:gd name="T28" fmla="*/ 523 w 523"/>
              <a:gd name="T29" fmla="*/ 41 h 51"/>
              <a:gd name="T30" fmla="*/ 523 w 523"/>
              <a:gd name="T31" fmla="*/ 34 h 51"/>
              <a:gd name="T32" fmla="*/ 523 w 523"/>
              <a:gd name="T33" fmla="*/ 28 h 51"/>
              <a:gd name="T34" fmla="*/ 1 w 523"/>
              <a:gd name="T35" fmla="*/ 0 h 51"/>
              <a:gd name="T36" fmla="*/ 0 w 523"/>
              <a:gd name="T37" fmla="*/ 6 h 51"/>
              <a:gd name="T38" fmla="*/ 0 w 523"/>
              <a:gd name="T39" fmla="*/ 11 h 51"/>
              <a:gd name="T40" fmla="*/ 0 w 523"/>
              <a:gd name="T41" fmla="*/ 18 h 51"/>
              <a:gd name="T42" fmla="*/ 0 w 523"/>
              <a:gd name="T43" fmla="*/ 24 h 51"/>
              <a:gd name="T44" fmla="*/ 0 w 523"/>
              <a:gd name="T45" fmla="*/ 31 h 51"/>
              <a:gd name="T46" fmla="*/ 0 w 523"/>
              <a:gd name="T47" fmla="*/ 38 h 51"/>
              <a:gd name="T48" fmla="*/ 0 w 523"/>
              <a:gd name="T49" fmla="*/ 44 h 51"/>
              <a:gd name="T50" fmla="*/ 0 w 523"/>
              <a:gd name="T51" fmla="*/ 51 h 51"/>
              <a:gd name="T52" fmla="*/ 3 w 523"/>
              <a:gd name="T53" fmla="*/ 48 h 51"/>
              <a:gd name="T54" fmla="*/ 3 w 523"/>
              <a:gd name="T55" fmla="*/ 41 h 51"/>
              <a:gd name="T56" fmla="*/ 3 w 523"/>
              <a:gd name="T57" fmla="*/ 34 h 51"/>
              <a:gd name="T58" fmla="*/ 3 w 523"/>
              <a:gd name="T59" fmla="*/ 28 h 51"/>
              <a:gd name="T60" fmla="*/ 3 w 523"/>
              <a:gd name="T61" fmla="*/ 21 h 51"/>
              <a:gd name="T62" fmla="*/ 3 w 523"/>
              <a:gd name="T63" fmla="*/ 14 h 51"/>
              <a:gd name="T64" fmla="*/ 3 w 523"/>
              <a:gd name="T65" fmla="*/ 9 h 51"/>
              <a:gd name="T66" fmla="*/ 3 w 523"/>
              <a:gd name="T67" fmla="*/ 3 h 51"/>
              <a:gd name="T68" fmla="*/ 1 w 52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3" h="51">
                <a:moveTo>
                  <a:pt x="523" y="24"/>
                </a:moveTo>
                <a:lnTo>
                  <a:pt x="523" y="21"/>
                </a:lnTo>
                <a:lnTo>
                  <a:pt x="523" y="18"/>
                </a:lnTo>
                <a:lnTo>
                  <a:pt x="523" y="14"/>
                </a:lnTo>
                <a:lnTo>
                  <a:pt x="523" y="11"/>
                </a:lnTo>
                <a:lnTo>
                  <a:pt x="523" y="9"/>
                </a:lnTo>
                <a:lnTo>
                  <a:pt x="523" y="6"/>
                </a:lnTo>
                <a:lnTo>
                  <a:pt x="523" y="3"/>
                </a:lnTo>
                <a:lnTo>
                  <a:pt x="523" y="0"/>
                </a:lnTo>
                <a:lnTo>
                  <a:pt x="520" y="0"/>
                </a:lnTo>
                <a:lnTo>
                  <a:pt x="520" y="3"/>
                </a:lnTo>
                <a:lnTo>
                  <a:pt x="520" y="6"/>
                </a:lnTo>
                <a:lnTo>
                  <a:pt x="520" y="9"/>
                </a:lnTo>
                <a:lnTo>
                  <a:pt x="520" y="11"/>
                </a:lnTo>
                <a:lnTo>
                  <a:pt x="520" y="14"/>
                </a:lnTo>
                <a:lnTo>
                  <a:pt x="520" y="18"/>
                </a:lnTo>
                <a:lnTo>
                  <a:pt x="520" y="21"/>
                </a:lnTo>
                <a:lnTo>
                  <a:pt x="520" y="24"/>
                </a:lnTo>
                <a:lnTo>
                  <a:pt x="520" y="28"/>
                </a:lnTo>
                <a:lnTo>
                  <a:pt x="520" y="31"/>
                </a:lnTo>
                <a:lnTo>
                  <a:pt x="520" y="34"/>
                </a:lnTo>
                <a:lnTo>
                  <a:pt x="520" y="38"/>
                </a:lnTo>
                <a:lnTo>
                  <a:pt x="520" y="41"/>
                </a:lnTo>
                <a:lnTo>
                  <a:pt x="520" y="44"/>
                </a:lnTo>
                <a:lnTo>
                  <a:pt x="520" y="48"/>
                </a:lnTo>
                <a:lnTo>
                  <a:pt x="520" y="51"/>
                </a:lnTo>
                <a:lnTo>
                  <a:pt x="523" y="51"/>
                </a:lnTo>
                <a:lnTo>
                  <a:pt x="523" y="48"/>
                </a:lnTo>
                <a:lnTo>
                  <a:pt x="523" y="44"/>
                </a:lnTo>
                <a:lnTo>
                  <a:pt x="523" y="41"/>
                </a:lnTo>
                <a:lnTo>
                  <a:pt x="523" y="38"/>
                </a:lnTo>
                <a:lnTo>
                  <a:pt x="523" y="34"/>
                </a:lnTo>
                <a:lnTo>
                  <a:pt x="523" y="31"/>
                </a:lnTo>
                <a:lnTo>
                  <a:pt x="523" y="28"/>
                </a:lnTo>
                <a:lnTo>
                  <a:pt x="52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4" y="0"/>
                </a:lnTo>
                <a:lnTo>
                  <a:pt x="1"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94" name="Freeform 1499">
            <a:extLst>
              <a:ext uri="{FF2B5EF4-FFF2-40B4-BE49-F238E27FC236}">
                <a16:creationId xmlns:a16="http://schemas.microsoft.com/office/drawing/2014/main" id="{9C4577C5-2BBA-40EF-FE5F-990BD1AC3225}"/>
              </a:ext>
            </a:extLst>
          </p:cNvPr>
          <p:cNvSpPr>
            <a:spLocks noEditPoints="1"/>
          </p:cNvSpPr>
          <p:nvPr/>
        </p:nvSpPr>
        <p:spPr bwMode="auto">
          <a:xfrm>
            <a:off x="2144713" y="2719388"/>
            <a:ext cx="825500" cy="80963"/>
          </a:xfrm>
          <a:custGeom>
            <a:avLst/>
            <a:gdLst>
              <a:gd name="T0" fmla="*/ 520 w 520"/>
              <a:gd name="T1" fmla="*/ 21 h 51"/>
              <a:gd name="T2" fmla="*/ 520 w 520"/>
              <a:gd name="T3" fmla="*/ 14 h 51"/>
              <a:gd name="T4" fmla="*/ 520 w 520"/>
              <a:gd name="T5" fmla="*/ 9 h 51"/>
              <a:gd name="T6" fmla="*/ 520 w 520"/>
              <a:gd name="T7" fmla="*/ 3 h 51"/>
              <a:gd name="T8" fmla="*/ 517 w 520"/>
              <a:gd name="T9" fmla="*/ 0 h 51"/>
              <a:gd name="T10" fmla="*/ 517 w 520"/>
              <a:gd name="T11" fmla="*/ 6 h 51"/>
              <a:gd name="T12" fmla="*/ 517 w 520"/>
              <a:gd name="T13" fmla="*/ 11 h 51"/>
              <a:gd name="T14" fmla="*/ 517 w 520"/>
              <a:gd name="T15" fmla="*/ 18 h 51"/>
              <a:gd name="T16" fmla="*/ 517 w 520"/>
              <a:gd name="T17" fmla="*/ 24 h 51"/>
              <a:gd name="T18" fmla="*/ 517 w 520"/>
              <a:gd name="T19" fmla="*/ 31 h 51"/>
              <a:gd name="T20" fmla="*/ 517 w 520"/>
              <a:gd name="T21" fmla="*/ 38 h 51"/>
              <a:gd name="T22" fmla="*/ 517 w 520"/>
              <a:gd name="T23" fmla="*/ 44 h 51"/>
              <a:gd name="T24" fmla="*/ 517 w 520"/>
              <a:gd name="T25" fmla="*/ 51 h 51"/>
              <a:gd name="T26" fmla="*/ 520 w 520"/>
              <a:gd name="T27" fmla="*/ 48 h 51"/>
              <a:gd name="T28" fmla="*/ 520 w 520"/>
              <a:gd name="T29" fmla="*/ 41 h 51"/>
              <a:gd name="T30" fmla="*/ 520 w 520"/>
              <a:gd name="T31" fmla="*/ 34 h 51"/>
              <a:gd name="T32" fmla="*/ 520 w 520"/>
              <a:gd name="T33" fmla="*/ 28 h 51"/>
              <a:gd name="T34" fmla="*/ 2 w 520"/>
              <a:gd name="T35" fmla="*/ 0 h 51"/>
              <a:gd name="T36" fmla="*/ 0 w 520"/>
              <a:gd name="T37" fmla="*/ 6 h 51"/>
              <a:gd name="T38" fmla="*/ 0 w 520"/>
              <a:gd name="T39" fmla="*/ 11 h 51"/>
              <a:gd name="T40" fmla="*/ 0 w 520"/>
              <a:gd name="T41" fmla="*/ 18 h 51"/>
              <a:gd name="T42" fmla="*/ 0 w 520"/>
              <a:gd name="T43" fmla="*/ 24 h 51"/>
              <a:gd name="T44" fmla="*/ 0 w 520"/>
              <a:gd name="T45" fmla="*/ 31 h 51"/>
              <a:gd name="T46" fmla="*/ 0 w 520"/>
              <a:gd name="T47" fmla="*/ 38 h 51"/>
              <a:gd name="T48" fmla="*/ 0 w 520"/>
              <a:gd name="T49" fmla="*/ 44 h 51"/>
              <a:gd name="T50" fmla="*/ 0 w 520"/>
              <a:gd name="T51" fmla="*/ 51 h 51"/>
              <a:gd name="T52" fmla="*/ 3 w 520"/>
              <a:gd name="T53" fmla="*/ 48 h 51"/>
              <a:gd name="T54" fmla="*/ 3 w 520"/>
              <a:gd name="T55" fmla="*/ 41 h 51"/>
              <a:gd name="T56" fmla="*/ 3 w 520"/>
              <a:gd name="T57" fmla="*/ 34 h 51"/>
              <a:gd name="T58" fmla="*/ 3 w 520"/>
              <a:gd name="T59" fmla="*/ 28 h 51"/>
              <a:gd name="T60" fmla="*/ 3 w 520"/>
              <a:gd name="T61" fmla="*/ 21 h 51"/>
              <a:gd name="T62" fmla="*/ 3 w 520"/>
              <a:gd name="T63" fmla="*/ 14 h 51"/>
              <a:gd name="T64" fmla="*/ 3 w 520"/>
              <a:gd name="T65" fmla="*/ 9 h 51"/>
              <a:gd name="T66" fmla="*/ 3 w 520"/>
              <a:gd name="T67" fmla="*/ 3 h 51"/>
              <a:gd name="T68" fmla="*/ 2 w 52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0" h="51">
                <a:moveTo>
                  <a:pt x="520" y="24"/>
                </a:moveTo>
                <a:lnTo>
                  <a:pt x="520" y="21"/>
                </a:lnTo>
                <a:lnTo>
                  <a:pt x="520" y="18"/>
                </a:lnTo>
                <a:lnTo>
                  <a:pt x="520" y="14"/>
                </a:lnTo>
                <a:lnTo>
                  <a:pt x="520" y="11"/>
                </a:lnTo>
                <a:lnTo>
                  <a:pt x="520" y="9"/>
                </a:lnTo>
                <a:lnTo>
                  <a:pt x="520" y="6"/>
                </a:lnTo>
                <a:lnTo>
                  <a:pt x="520" y="3"/>
                </a:lnTo>
                <a:lnTo>
                  <a:pt x="520" y="0"/>
                </a:lnTo>
                <a:lnTo>
                  <a:pt x="517" y="0"/>
                </a:lnTo>
                <a:lnTo>
                  <a:pt x="517" y="3"/>
                </a:lnTo>
                <a:lnTo>
                  <a:pt x="517" y="6"/>
                </a:lnTo>
                <a:lnTo>
                  <a:pt x="517" y="9"/>
                </a:lnTo>
                <a:lnTo>
                  <a:pt x="517" y="11"/>
                </a:lnTo>
                <a:lnTo>
                  <a:pt x="517" y="14"/>
                </a:lnTo>
                <a:lnTo>
                  <a:pt x="517" y="18"/>
                </a:lnTo>
                <a:lnTo>
                  <a:pt x="517" y="21"/>
                </a:lnTo>
                <a:lnTo>
                  <a:pt x="517" y="24"/>
                </a:lnTo>
                <a:lnTo>
                  <a:pt x="517" y="28"/>
                </a:lnTo>
                <a:lnTo>
                  <a:pt x="517" y="31"/>
                </a:lnTo>
                <a:lnTo>
                  <a:pt x="517" y="34"/>
                </a:lnTo>
                <a:lnTo>
                  <a:pt x="517" y="38"/>
                </a:lnTo>
                <a:lnTo>
                  <a:pt x="517" y="41"/>
                </a:lnTo>
                <a:lnTo>
                  <a:pt x="517" y="44"/>
                </a:lnTo>
                <a:lnTo>
                  <a:pt x="517" y="48"/>
                </a:lnTo>
                <a:lnTo>
                  <a:pt x="517" y="51"/>
                </a:lnTo>
                <a:lnTo>
                  <a:pt x="520" y="51"/>
                </a:lnTo>
                <a:lnTo>
                  <a:pt x="520" y="48"/>
                </a:lnTo>
                <a:lnTo>
                  <a:pt x="520" y="44"/>
                </a:lnTo>
                <a:lnTo>
                  <a:pt x="520" y="41"/>
                </a:lnTo>
                <a:lnTo>
                  <a:pt x="520" y="38"/>
                </a:lnTo>
                <a:lnTo>
                  <a:pt x="520" y="34"/>
                </a:lnTo>
                <a:lnTo>
                  <a:pt x="520" y="31"/>
                </a:lnTo>
                <a:lnTo>
                  <a:pt x="520" y="28"/>
                </a:lnTo>
                <a:lnTo>
                  <a:pt x="52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95" name="Freeform 1500">
            <a:extLst>
              <a:ext uri="{FF2B5EF4-FFF2-40B4-BE49-F238E27FC236}">
                <a16:creationId xmlns:a16="http://schemas.microsoft.com/office/drawing/2014/main" id="{8FDDDC38-1387-C78A-6F36-3AA54F61678A}"/>
              </a:ext>
            </a:extLst>
          </p:cNvPr>
          <p:cNvSpPr>
            <a:spLocks noEditPoints="1"/>
          </p:cNvSpPr>
          <p:nvPr/>
        </p:nvSpPr>
        <p:spPr bwMode="auto">
          <a:xfrm>
            <a:off x="2147888" y="2719388"/>
            <a:ext cx="820738" cy="80963"/>
          </a:xfrm>
          <a:custGeom>
            <a:avLst/>
            <a:gdLst>
              <a:gd name="T0" fmla="*/ 517 w 517"/>
              <a:gd name="T1" fmla="*/ 21 h 51"/>
              <a:gd name="T2" fmla="*/ 517 w 517"/>
              <a:gd name="T3" fmla="*/ 14 h 51"/>
              <a:gd name="T4" fmla="*/ 517 w 517"/>
              <a:gd name="T5" fmla="*/ 9 h 51"/>
              <a:gd name="T6" fmla="*/ 517 w 517"/>
              <a:gd name="T7" fmla="*/ 3 h 51"/>
              <a:gd name="T8" fmla="*/ 513 w 517"/>
              <a:gd name="T9" fmla="*/ 0 h 51"/>
              <a:gd name="T10" fmla="*/ 513 w 517"/>
              <a:gd name="T11" fmla="*/ 6 h 51"/>
              <a:gd name="T12" fmla="*/ 513 w 517"/>
              <a:gd name="T13" fmla="*/ 11 h 51"/>
              <a:gd name="T14" fmla="*/ 513 w 517"/>
              <a:gd name="T15" fmla="*/ 18 h 51"/>
              <a:gd name="T16" fmla="*/ 513 w 517"/>
              <a:gd name="T17" fmla="*/ 24 h 51"/>
              <a:gd name="T18" fmla="*/ 513 w 517"/>
              <a:gd name="T19" fmla="*/ 31 h 51"/>
              <a:gd name="T20" fmla="*/ 513 w 517"/>
              <a:gd name="T21" fmla="*/ 38 h 51"/>
              <a:gd name="T22" fmla="*/ 513 w 517"/>
              <a:gd name="T23" fmla="*/ 44 h 51"/>
              <a:gd name="T24" fmla="*/ 513 w 517"/>
              <a:gd name="T25" fmla="*/ 51 h 51"/>
              <a:gd name="T26" fmla="*/ 517 w 517"/>
              <a:gd name="T27" fmla="*/ 48 h 51"/>
              <a:gd name="T28" fmla="*/ 517 w 517"/>
              <a:gd name="T29" fmla="*/ 41 h 51"/>
              <a:gd name="T30" fmla="*/ 517 w 517"/>
              <a:gd name="T31" fmla="*/ 34 h 51"/>
              <a:gd name="T32" fmla="*/ 517 w 517"/>
              <a:gd name="T33" fmla="*/ 28 h 51"/>
              <a:gd name="T34" fmla="*/ 1 w 517"/>
              <a:gd name="T35" fmla="*/ 0 h 51"/>
              <a:gd name="T36" fmla="*/ 0 w 517"/>
              <a:gd name="T37" fmla="*/ 6 h 51"/>
              <a:gd name="T38" fmla="*/ 0 w 517"/>
              <a:gd name="T39" fmla="*/ 11 h 51"/>
              <a:gd name="T40" fmla="*/ 0 w 517"/>
              <a:gd name="T41" fmla="*/ 18 h 51"/>
              <a:gd name="T42" fmla="*/ 0 w 517"/>
              <a:gd name="T43" fmla="*/ 24 h 51"/>
              <a:gd name="T44" fmla="*/ 0 w 517"/>
              <a:gd name="T45" fmla="*/ 31 h 51"/>
              <a:gd name="T46" fmla="*/ 0 w 517"/>
              <a:gd name="T47" fmla="*/ 38 h 51"/>
              <a:gd name="T48" fmla="*/ 0 w 517"/>
              <a:gd name="T49" fmla="*/ 44 h 51"/>
              <a:gd name="T50" fmla="*/ 0 w 517"/>
              <a:gd name="T51" fmla="*/ 51 h 51"/>
              <a:gd name="T52" fmla="*/ 3 w 517"/>
              <a:gd name="T53" fmla="*/ 48 h 51"/>
              <a:gd name="T54" fmla="*/ 3 w 517"/>
              <a:gd name="T55" fmla="*/ 41 h 51"/>
              <a:gd name="T56" fmla="*/ 3 w 517"/>
              <a:gd name="T57" fmla="*/ 34 h 51"/>
              <a:gd name="T58" fmla="*/ 3 w 517"/>
              <a:gd name="T59" fmla="*/ 28 h 51"/>
              <a:gd name="T60" fmla="*/ 3 w 517"/>
              <a:gd name="T61" fmla="*/ 21 h 51"/>
              <a:gd name="T62" fmla="*/ 3 w 517"/>
              <a:gd name="T63" fmla="*/ 14 h 51"/>
              <a:gd name="T64" fmla="*/ 3 w 517"/>
              <a:gd name="T65" fmla="*/ 9 h 51"/>
              <a:gd name="T66" fmla="*/ 3 w 517"/>
              <a:gd name="T67" fmla="*/ 3 h 51"/>
              <a:gd name="T68" fmla="*/ 1 w 51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7" h="51">
                <a:moveTo>
                  <a:pt x="517" y="24"/>
                </a:moveTo>
                <a:lnTo>
                  <a:pt x="517" y="21"/>
                </a:lnTo>
                <a:lnTo>
                  <a:pt x="517" y="18"/>
                </a:lnTo>
                <a:lnTo>
                  <a:pt x="517" y="14"/>
                </a:lnTo>
                <a:lnTo>
                  <a:pt x="517" y="11"/>
                </a:lnTo>
                <a:lnTo>
                  <a:pt x="517" y="9"/>
                </a:lnTo>
                <a:lnTo>
                  <a:pt x="517" y="6"/>
                </a:lnTo>
                <a:lnTo>
                  <a:pt x="517" y="3"/>
                </a:lnTo>
                <a:lnTo>
                  <a:pt x="517" y="0"/>
                </a:lnTo>
                <a:lnTo>
                  <a:pt x="513" y="0"/>
                </a:lnTo>
                <a:lnTo>
                  <a:pt x="513" y="3"/>
                </a:lnTo>
                <a:lnTo>
                  <a:pt x="513" y="6"/>
                </a:lnTo>
                <a:lnTo>
                  <a:pt x="513" y="9"/>
                </a:lnTo>
                <a:lnTo>
                  <a:pt x="513" y="11"/>
                </a:lnTo>
                <a:lnTo>
                  <a:pt x="513" y="14"/>
                </a:lnTo>
                <a:lnTo>
                  <a:pt x="513" y="18"/>
                </a:lnTo>
                <a:lnTo>
                  <a:pt x="513" y="21"/>
                </a:lnTo>
                <a:lnTo>
                  <a:pt x="513" y="24"/>
                </a:lnTo>
                <a:lnTo>
                  <a:pt x="513" y="28"/>
                </a:lnTo>
                <a:lnTo>
                  <a:pt x="513" y="31"/>
                </a:lnTo>
                <a:lnTo>
                  <a:pt x="513" y="34"/>
                </a:lnTo>
                <a:lnTo>
                  <a:pt x="513" y="38"/>
                </a:lnTo>
                <a:lnTo>
                  <a:pt x="513" y="41"/>
                </a:lnTo>
                <a:lnTo>
                  <a:pt x="513" y="44"/>
                </a:lnTo>
                <a:lnTo>
                  <a:pt x="513" y="48"/>
                </a:lnTo>
                <a:lnTo>
                  <a:pt x="513" y="51"/>
                </a:lnTo>
                <a:lnTo>
                  <a:pt x="517" y="51"/>
                </a:lnTo>
                <a:lnTo>
                  <a:pt x="517" y="48"/>
                </a:lnTo>
                <a:lnTo>
                  <a:pt x="517" y="44"/>
                </a:lnTo>
                <a:lnTo>
                  <a:pt x="517" y="41"/>
                </a:lnTo>
                <a:lnTo>
                  <a:pt x="517" y="38"/>
                </a:lnTo>
                <a:lnTo>
                  <a:pt x="517" y="34"/>
                </a:lnTo>
                <a:lnTo>
                  <a:pt x="517" y="31"/>
                </a:lnTo>
                <a:lnTo>
                  <a:pt x="517" y="28"/>
                </a:lnTo>
                <a:lnTo>
                  <a:pt x="51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96" name="Freeform 1501">
            <a:extLst>
              <a:ext uri="{FF2B5EF4-FFF2-40B4-BE49-F238E27FC236}">
                <a16:creationId xmlns:a16="http://schemas.microsoft.com/office/drawing/2014/main" id="{1B229092-A053-34EC-D5D0-9E3452F0C503}"/>
              </a:ext>
            </a:extLst>
          </p:cNvPr>
          <p:cNvSpPr>
            <a:spLocks noEditPoints="1"/>
          </p:cNvSpPr>
          <p:nvPr/>
        </p:nvSpPr>
        <p:spPr bwMode="auto">
          <a:xfrm>
            <a:off x="2149475" y="2719388"/>
            <a:ext cx="815975" cy="80963"/>
          </a:xfrm>
          <a:custGeom>
            <a:avLst/>
            <a:gdLst>
              <a:gd name="T0" fmla="*/ 514 w 514"/>
              <a:gd name="T1" fmla="*/ 21 h 51"/>
              <a:gd name="T2" fmla="*/ 514 w 514"/>
              <a:gd name="T3" fmla="*/ 14 h 51"/>
              <a:gd name="T4" fmla="*/ 514 w 514"/>
              <a:gd name="T5" fmla="*/ 9 h 51"/>
              <a:gd name="T6" fmla="*/ 514 w 514"/>
              <a:gd name="T7" fmla="*/ 3 h 51"/>
              <a:gd name="T8" fmla="*/ 511 w 514"/>
              <a:gd name="T9" fmla="*/ 0 h 51"/>
              <a:gd name="T10" fmla="*/ 511 w 514"/>
              <a:gd name="T11" fmla="*/ 6 h 51"/>
              <a:gd name="T12" fmla="*/ 511 w 514"/>
              <a:gd name="T13" fmla="*/ 11 h 51"/>
              <a:gd name="T14" fmla="*/ 511 w 514"/>
              <a:gd name="T15" fmla="*/ 18 h 51"/>
              <a:gd name="T16" fmla="*/ 511 w 514"/>
              <a:gd name="T17" fmla="*/ 24 h 51"/>
              <a:gd name="T18" fmla="*/ 511 w 514"/>
              <a:gd name="T19" fmla="*/ 31 h 51"/>
              <a:gd name="T20" fmla="*/ 511 w 514"/>
              <a:gd name="T21" fmla="*/ 38 h 51"/>
              <a:gd name="T22" fmla="*/ 511 w 514"/>
              <a:gd name="T23" fmla="*/ 44 h 51"/>
              <a:gd name="T24" fmla="*/ 511 w 514"/>
              <a:gd name="T25" fmla="*/ 51 h 51"/>
              <a:gd name="T26" fmla="*/ 514 w 514"/>
              <a:gd name="T27" fmla="*/ 48 h 51"/>
              <a:gd name="T28" fmla="*/ 514 w 514"/>
              <a:gd name="T29" fmla="*/ 41 h 51"/>
              <a:gd name="T30" fmla="*/ 514 w 514"/>
              <a:gd name="T31" fmla="*/ 34 h 51"/>
              <a:gd name="T32" fmla="*/ 514 w 514"/>
              <a:gd name="T33" fmla="*/ 28 h 51"/>
              <a:gd name="T34" fmla="*/ 2 w 514"/>
              <a:gd name="T35" fmla="*/ 0 h 51"/>
              <a:gd name="T36" fmla="*/ 0 w 514"/>
              <a:gd name="T37" fmla="*/ 6 h 51"/>
              <a:gd name="T38" fmla="*/ 0 w 514"/>
              <a:gd name="T39" fmla="*/ 11 h 51"/>
              <a:gd name="T40" fmla="*/ 0 w 514"/>
              <a:gd name="T41" fmla="*/ 18 h 51"/>
              <a:gd name="T42" fmla="*/ 0 w 514"/>
              <a:gd name="T43" fmla="*/ 24 h 51"/>
              <a:gd name="T44" fmla="*/ 0 w 514"/>
              <a:gd name="T45" fmla="*/ 31 h 51"/>
              <a:gd name="T46" fmla="*/ 0 w 514"/>
              <a:gd name="T47" fmla="*/ 38 h 51"/>
              <a:gd name="T48" fmla="*/ 0 w 514"/>
              <a:gd name="T49" fmla="*/ 44 h 51"/>
              <a:gd name="T50" fmla="*/ 0 w 514"/>
              <a:gd name="T51" fmla="*/ 51 h 51"/>
              <a:gd name="T52" fmla="*/ 4 w 514"/>
              <a:gd name="T53" fmla="*/ 48 h 51"/>
              <a:gd name="T54" fmla="*/ 4 w 514"/>
              <a:gd name="T55" fmla="*/ 41 h 51"/>
              <a:gd name="T56" fmla="*/ 4 w 514"/>
              <a:gd name="T57" fmla="*/ 34 h 51"/>
              <a:gd name="T58" fmla="*/ 4 w 514"/>
              <a:gd name="T59" fmla="*/ 28 h 51"/>
              <a:gd name="T60" fmla="*/ 4 w 514"/>
              <a:gd name="T61" fmla="*/ 21 h 51"/>
              <a:gd name="T62" fmla="*/ 4 w 514"/>
              <a:gd name="T63" fmla="*/ 14 h 51"/>
              <a:gd name="T64" fmla="*/ 4 w 514"/>
              <a:gd name="T65" fmla="*/ 9 h 51"/>
              <a:gd name="T66" fmla="*/ 4 w 514"/>
              <a:gd name="T67" fmla="*/ 3 h 51"/>
              <a:gd name="T68" fmla="*/ 2 w 51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4" h="51">
                <a:moveTo>
                  <a:pt x="514" y="24"/>
                </a:moveTo>
                <a:lnTo>
                  <a:pt x="514" y="21"/>
                </a:lnTo>
                <a:lnTo>
                  <a:pt x="514" y="18"/>
                </a:lnTo>
                <a:lnTo>
                  <a:pt x="514" y="14"/>
                </a:lnTo>
                <a:lnTo>
                  <a:pt x="514" y="11"/>
                </a:lnTo>
                <a:lnTo>
                  <a:pt x="514" y="9"/>
                </a:lnTo>
                <a:lnTo>
                  <a:pt x="514" y="6"/>
                </a:lnTo>
                <a:lnTo>
                  <a:pt x="514" y="3"/>
                </a:lnTo>
                <a:lnTo>
                  <a:pt x="514" y="0"/>
                </a:lnTo>
                <a:lnTo>
                  <a:pt x="511" y="0"/>
                </a:lnTo>
                <a:lnTo>
                  <a:pt x="511" y="3"/>
                </a:lnTo>
                <a:lnTo>
                  <a:pt x="511" y="6"/>
                </a:lnTo>
                <a:lnTo>
                  <a:pt x="511" y="9"/>
                </a:lnTo>
                <a:lnTo>
                  <a:pt x="511" y="11"/>
                </a:lnTo>
                <a:lnTo>
                  <a:pt x="511" y="14"/>
                </a:lnTo>
                <a:lnTo>
                  <a:pt x="511" y="18"/>
                </a:lnTo>
                <a:lnTo>
                  <a:pt x="511" y="21"/>
                </a:lnTo>
                <a:lnTo>
                  <a:pt x="511" y="24"/>
                </a:lnTo>
                <a:lnTo>
                  <a:pt x="511" y="28"/>
                </a:lnTo>
                <a:lnTo>
                  <a:pt x="511" y="31"/>
                </a:lnTo>
                <a:lnTo>
                  <a:pt x="511" y="34"/>
                </a:lnTo>
                <a:lnTo>
                  <a:pt x="511" y="38"/>
                </a:lnTo>
                <a:lnTo>
                  <a:pt x="511" y="41"/>
                </a:lnTo>
                <a:lnTo>
                  <a:pt x="511" y="44"/>
                </a:lnTo>
                <a:lnTo>
                  <a:pt x="511" y="48"/>
                </a:lnTo>
                <a:lnTo>
                  <a:pt x="511" y="51"/>
                </a:lnTo>
                <a:lnTo>
                  <a:pt x="514" y="51"/>
                </a:lnTo>
                <a:lnTo>
                  <a:pt x="514" y="48"/>
                </a:lnTo>
                <a:lnTo>
                  <a:pt x="514" y="44"/>
                </a:lnTo>
                <a:lnTo>
                  <a:pt x="514" y="41"/>
                </a:lnTo>
                <a:lnTo>
                  <a:pt x="514" y="38"/>
                </a:lnTo>
                <a:lnTo>
                  <a:pt x="514" y="34"/>
                </a:lnTo>
                <a:lnTo>
                  <a:pt x="514" y="31"/>
                </a:lnTo>
                <a:lnTo>
                  <a:pt x="514" y="28"/>
                </a:lnTo>
                <a:lnTo>
                  <a:pt x="51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97" name="Freeform 1502">
            <a:extLst>
              <a:ext uri="{FF2B5EF4-FFF2-40B4-BE49-F238E27FC236}">
                <a16:creationId xmlns:a16="http://schemas.microsoft.com/office/drawing/2014/main" id="{9C5978A7-3E5D-9889-F4F5-92382C48AB56}"/>
              </a:ext>
            </a:extLst>
          </p:cNvPr>
          <p:cNvSpPr>
            <a:spLocks noEditPoints="1"/>
          </p:cNvSpPr>
          <p:nvPr/>
        </p:nvSpPr>
        <p:spPr bwMode="auto">
          <a:xfrm>
            <a:off x="2152650" y="2719388"/>
            <a:ext cx="809625" cy="80963"/>
          </a:xfrm>
          <a:custGeom>
            <a:avLst/>
            <a:gdLst>
              <a:gd name="T0" fmla="*/ 510 w 510"/>
              <a:gd name="T1" fmla="*/ 21 h 51"/>
              <a:gd name="T2" fmla="*/ 510 w 510"/>
              <a:gd name="T3" fmla="*/ 14 h 51"/>
              <a:gd name="T4" fmla="*/ 510 w 510"/>
              <a:gd name="T5" fmla="*/ 9 h 51"/>
              <a:gd name="T6" fmla="*/ 510 w 510"/>
              <a:gd name="T7" fmla="*/ 3 h 51"/>
              <a:gd name="T8" fmla="*/ 507 w 510"/>
              <a:gd name="T9" fmla="*/ 0 h 51"/>
              <a:gd name="T10" fmla="*/ 507 w 510"/>
              <a:gd name="T11" fmla="*/ 6 h 51"/>
              <a:gd name="T12" fmla="*/ 507 w 510"/>
              <a:gd name="T13" fmla="*/ 11 h 51"/>
              <a:gd name="T14" fmla="*/ 507 w 510"/>
              <a:gd name="T15" fmla="*/ 18 h 51"/>
              <a:gd name="T16" fmla="*/ 507 w 510"/>
              <a:gd name="T17" fmla="*/ 24 h 51"/>
              <a:gd name="T18" fmla="*/ 507 w 510"/>
              <a:gd name="T19" fmla="*/ 31 h 51"/>
              <a:gd name="T20" fmla="*/ 507 w 510"/>
              <a:gd name="T21" fmla="*/ 38 h 51"/>
              <a:gd name="T22" fmla="*/ 507 w 510"/>
              <a:gd name="T23" fmla="*/ 44 h 51"/>
              <a:gd name="T24" fmla="*/ 507 w 510"/>
              <a:gd name="T25" fmla="*/ 51 h 51"/>
              <a:gd name="T26" fmla="*/ 510 w 510"/>
              <a:gd name="T27" fmla="*/ 48 h 51"/>
              <a:gd name="T28" fmla="*/ 510 w 510"/>
              <a:gd name="T29" fmla="*/ 41 h 51"/>
              <a:gd name="T30" fmla="*/ 510 w 510"/>
              <a:gd name="T31" fmla="*/ 34 h 51"/>
              <a:gd name="T32" fmla="*/ 510 w 510"/>
              <a:gd name="T33" fmla="*/ 28 h 51"/>
              <a:gd name="T34" fmla="*/ 2 w 510"/>
              <a:gd name="T35" fmla="*/ 0 h 51"/>
              <a:gd name="T36" fmla="*/ 0 w 510"/>
              <a:gd name="T37" fmla="*/ 6 h 51"/>
              <a:gd name="T38" fmla="*/ 0 w 510"/>
              <a:gd name="T39" fmla="*/ 11 h 51"/>
              <a:gd name="T40" fmla="*/ 0 w 510"/>
              <a:gd name="T41" fmla="*/ 18 h 51"/>
              <a:gd name="T42" fmla="*/ 0 w 510"/>
              <a:gd name="T43" fmla="*/ 24 h 51"/>
              <a:gd name="T44" fmla="*/ 0 w 510"/>
              <a:gd name="T45" fmla="*/ 31 h 51"/>
              <a:gd name="T46" fmla="*/ 0 w 510"/>
              <a:gd name="T47" fmla="*/ 38 h 51"/>
              <a:gd name="T48" fmla="*/ 0 w 510"/>
              <a:gd name="T49" fmla="*/ 44 h 51"/>
              <a:gd name="T50" fmla="*/ 0 w 510"/>
              <a:gd name="T51" fmla="*/ 51 h 51"/>
              <a:gd name="T52" fmla="*/ 3 w 510"/>
              <a:gd name="T53" fmla="*/ 48 h 51"/>
              <a:gd name="T54" fmla="*/ 3 w 510"/>
              <a:gd name="T55" fmla="*/ 41 h 51"/>
              <a:gd name="T56" fmla="*/ 3 w 510"/>
              <a:gd name="T57" fmla="*/ 34 h 51"/>
              <a:gd name="T58" fmla="*/ 3 w 510"/>
              <a:gd name="T59" fmla="*/ 28 h 51"/>
              <a:gd name="T60" fmla="*/ 3 w 510"/>
              <a:gd name="T61" fmla="*/ 21 h 51"/>
              <a:gd name="T62" fmla="*/ 3 w 510"/>
              <a:gd name="T63" fmla="*/ 14 h 51"/>
              <a:gd name="T64" fmla="*/ 3 w 510"/>
              <a:gd name="T65" fmla="*/ 9 h 51"/>
              <a:gd name="T66" fmla="*/ 3 w 510"/>
              <a:gd name="T67" fmla="*/ 3 h 51"/>
              <a:gd name="T68" fmla="*/ 2 w 51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0" h="51">
                <a:moveTo>
                  <a:pt x="510" y="24"/>
                </a:moveTo>
                <a:lnTo>
                  <a:pt x="510" y="21"/>
                </a:lnTo>
                <a:lnTo>
                  <a:pt x="510" y="18"/>
                </a:lnTo>
                <a:lnTo>
                  <a:pt x="510" y="14"/>
                </a:lnTo>
                <a:lnTo>
                  <a:pt x="510" y="11"/>
                </a:lnTo>
                <a:lnTo>
                  <a:pt x="510" y="9"/>
                </a:lnTo>
                <a:lnTo>
                  <a:pt x="510" y="6"/>
                </a:lnTo>
                <a:lnTo>
                  <a:pt x="510" y="3"/>
                </a:lnTo>
                <a:lnTo>
                  <a:pt x="510" y="0"/>
                </a:lnTo>
                <a:lnTo>
                  <a:pt x="507" y="0"/>
                </a:lnTo>
                <a:lnTo>
                  <a:pt x="507" y="3"/>
                </a:lnTo>
                <a:lnTo>
                  <a:pt x="507" y="6"/>
                </a:lnTo>
                <a:lnTo>
                  <a:pt x="507" y="9"/>
                </a:lnTo>
                <a:lnTo>
                  <a:pt x="507" y="11"/>
                </a:lnTo>
                <a:lnTo>
                  <a:pt x="507" y="14"/>
                </a:lnTo>
                <a:lnTo>
                  <a:pt x="507" y="18"/>
                </a:lnTo>
                <a:lnTo>
                  <a:pt x="507" y="21"/>
                </a:lnTo>
                <a:lnTo>
                  <a:pt x="507" y="24"/>
                </a:lnTo>
                <a:lnTo>
                  <a:pt x="507" y="28"/>
                </a:lnTo>
                <a:lnTo>
                  <a:pt x="507" y="31"/>
                </a:lnTo>
                <a:lnTo>
                  <a:pt x="507" y="34"/>
                </a:lnTo>
                <a:lnTo>
                  <a:pt x="507" y="38"/>
                </a:lnTo>
                <a:lnTo>
                  <a:pt x="507" y="41"/>
                </a:lnTo>
                <a:lnTo>
                  <a:pt x="507" y="44"/>
                </a:lnTo>
                <a:lnTo>
                  <a:pt x="507" y="48"/>
                </a:lnTo>
                <a:lnTo>
                  <a:pt x="507" y="51"/>
                </a:lnTo>
                <a:lnTo>
                  <a:pt x="510" y="51"/>
                </a:lnTo>
                <a:lnTo>
                  <a:pt x="510" y="48"/>
                </a:lnTo>
                <a:lnTo>
                  <a:pt x="510" y="44"/>
                </a:lnTo>
                <a:lnTo>
                  <a:pt x="510" y="41"/>
                </a:lnTo>
                <a:lnTo>
                  <a:pt x="510" y="38"/>
                </a:lnTo>
                <a:lnTo>
                  <a:pt x="510" y="34"/>
                </a:lnTo>
                <a:lnTo>
                  <a:pt x="510" y="31"/>
                </a:lnTo>
                <a:lnTo>
                  <a:pt x="510" y="28"/>
                </a:lnTo>
                <a:lnTo>
                  <a:pt x="51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98" name="Freeform 1503">
            <a:extLst>
              <a:ext uri="{FF2B5EF4-FFF2-40B4-BE49-F238E27FC236}">
                <a16:creationId xmlns:a16="http://schemas.microsoft.com/office/drawing/2014/main" id="{F459911A-FFE3-1BC1-81FD-D19A7638D910}"/>
              </a:ext>
            </a:extLst>
          </p:cNvPr>
          <p:cNvSpPr>
            <a:spLocks noEditPoints="1"/>
          </p:cNvSpPr>
          <p:nvPr/>
        </p:nvSpPr>
        <p:spPr bwMode="auto">
          <a:xfrm>
            <a:off x="2155825" y="2719388"/>
            <a:ext cx="804863" cy="80963"/>
          </a:xfrm>
          <a:custGeom>
            <a:avLst/>
            <a:gdLst>
              <a:gd name="T0" fmla="*/ 507 w 507"/>
              <a:gd name="T1" fmla="*/ 21 h 51"/>
              <a:gd name="T2" fmla="*/ 507 w 507"/>
              <a:gd name="T3" fmla="*/ 14 h 51"/>
              <a:gd name="T4" fmla="*/ 507 w 507"/>
              <a:gd name="T5" fmla="*/ 9 h 51"/>
              <a:gd name="T6" fmla="*/ 507 w 507"/>
              <a:gd name="T7" fmla="*/ 3 h 51"/>
              <a:gd name="T8" fmla="*/ 503 w 507"/>
              <a:gd name="T9" fmla="*/ 0 h 51"/>
              <a:gd name="T10" fmla="*/ 503 w 507"/>
              <a:gd name="T11" fmla="*/ 6 h 51"/>
              <a:gd name="T12" fmla="*/ 503 w 507"/>
              <a:gd name="T13" fmla="*/ 11 h 51"/>
              <a:gd name="T14" fmla="*/ 503 w 507"/>
              <a:gd name="T15" fmla="*/ 18 h 51"/>
              <a:gd name="T16" fmla="*/ 503 w 507"/>
              <a:gd name="T17" fmla="*/ 24 h 51"/>
              <a:gd name="T18" fmla="*/ 503 w 507"/>
              <a:gd name="T19" fmla="*/ 31 h 51"/>
              <a:gd name="T20" fmla="*/ 503 w 507"/>
              <a:gd name="T21" fmla="*/ 38 h 51"/>
              <a:gd name="T22" fmla="*/ 503 w 507"/>
              <a:gd name="T23" fmla="*/ 44 h 51"/>
              <a:gd name="T24" fmla="*/ 503 w 507"/>
              <a:gd name="T25" fmla="*/ 51 h 51"/>
              <a:gd name="T26" fmla="*/ 507 w 507"/>
              <a:gd name="T27" fmla="*/ 48 h 51"/>
              <a:gd name="T28" fmla="*/ 507 w 507"/>
              <a:gd name="T29" fmla="*/ 41 h 51"/>
              <a:gd name="T30" fmla="*/ 507 w 507"/>
              <a:gd name="T31" fmla="*/ 34 h 51"/>
              <a:gd name="T32" fmla="*/ 507 w 507"/>
              <a:gd name="T33" fmla="*/ 28 h 51"/>
              <a:gd name="T34" fmla="*/ 1 w 507"/>
              <a:gd name="T35" fmla="*/ 0 h 51"/>
              <a:gd name="T36" fmla="*/ 0 w 507"/>
              <a:gd name="T37" fmla="*/ 6 h 51"/>
              <a:gd name="T38" fmla="*/ 0 w 507"/>
              <a:gd name="T39" fmla="*/ 11 h 51"/>
              <a:gd name="T40" fmla="*/ 0 w 507"/>
              <a:gd name="T41" fmla="*/ 18 h 51"/>
              <a:gd name="T42" fmla="*/ 0 w 507"/>
              <a:gd name="T43" fmla="*/ 24 h 51"/>
              <a:gd name="T44" fmla="*/ 0 w 507"/>
              <a:gd name="T45" fmla="*/ 31 h 51"/>
              <a:gd name="T46" fmla="*/ 0 w 507"/>
              <a:gd name="T47" fmla="*/ 38 h 51"/>
              <a:gd name="T48" fmla="*/ 0 w 507"/>
              <a:gd name="T49" fmla="*/ 44 h 51"/>
              <a:gd name="T50" fmla="*/ 0 w 507"/>
              <a:gd name="T51" fmla="*/ 51 h 51"/>
              <a:gd name="T52" fmla="*/ 3 w 507"/>
              <a:gd name="T53" fmla="*/ 48 h 51"/>
              <a:gd name="T54" fmla="*/ 3 w 507"/>
              <a:gd name="T55" fmla="*/ 41 h 51"/>
              <a:gd name="T56" fmla="*/ 3 w 507"/>
              <a:gd name="T57" fmla="*/ 34 h 51"/>
              <a:gd name="T58" fmla="*/ 3 w 507"/>
              <a:gd name="T59" fmla="*/ 28 h 51"/>
              <a:gd name="T60" fmla="*/ 3 w 507"/>
              <a:gd name="T61" fmla="*/ 21 h 51"/>
              <a:gd name="T62" fmla="*/ 3 w 507"/>
              <a:gd name="T63" fmla="*/ 14 h 51"/>
              <a:gd name="T64" fmla="*/ 3 w 507"/>
              <a:gd name="T65" fmla="*/ 9 h 51"/>
              <a:gd name="T66" fmla="*/ 3 w 507"/>
              <a:gd name="T67" fmla="*/ 3 h 51"/>
              <a:gd name="T68" fmla="*/ 1 w 50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7" h="51">
                <a:moveTo>
                  <a:pt x="507" y="24"/>
                </a:moveTo>
                <a:lnTo>
                  <a:pt x="507" y="21"/>
                </a:lnTo>
                <a:lnTo>
                  <a:pt x="507" y="18"/>
                </a:lnTo>
                <a:lnTo>
                  <a:pt x="507" y="14"/>
                </a:lnTo>
                <a:lnTo>
                  <a:pt x="507" y="11"/>
                </a:lnTo>
                <a:lnTo>
                  <a:pt x="507" y="9"/>
                </a:lnTo>
                <a:lnTo>
                  <a:pt x="507" y="6"/>
                </a:lnTo>
                <a:lnTo>
                  <a:pt x="507" y="3"/>
                </a:lnTo>
                <a:lnTo>
                  <a:pt x="507" y="0"/>
                </a:lnTo>
                <a:lnTo>
                  <a:pt x="503" y="0"/>
                </a:lnTo>
                <a:lnTo>
                  <a:pt x="503" y="3"/>
                </a:lnTo>
                <a:lnTo>
                  <a:pt x="503" y="6"/>
                </a:lnTo>
                <a:lnTo>
                  <a:pt x="503" y="9"/>
                </a:lnTo>
                <a:lnTo>
                  <a:pt x="503" y="11"/>
                </a:lnTo>
                <a:lnTo>
                  <a:pt x="503" y="14"/>
                </a:lnTo>
                <a:lnTo>
                  <a:pt x="503" y="18"/>
                </a:lnTo>
                <a:lnTo>
                  <a:pt x="503" y="21"/>
                </a:lnTo>
                <a:lnTo>
                  <a:pt x="503" y="24"/>
                </a:lnTo>
                <a:lnTo>
                  <a:pt x="503" y="28"/>
                </a:lnTo>
                <a:lnTo>
                  <a:pt x="503" y="31"/>
                </a:lnTo>
                <a:lnTo>
                  <a:pt x="503" y="34"/>
                </a:lnTo>
                <a:lnTo>
                  <a:pt x="503" y="38"/>
                </a:lnTo>
                <a:lnTo>
                  <a:pt x="503" y="41"/>
                </a:lnTo>
                <a:lnTo>
                  <a:pt x="503" y="44"/>
                </a:lnTo>
                <a:lnTo>
                  <a:pt x="503" y="48"/>
                </a:lnTo>
                <a:lnTo>
                  <a:pt x="503" y="51"/>
                </a:lnTo>
                <a:lnTo>
                  <a:pt x="507" y="51"/>
                </a:lnTo>
                <a:lnTo>
                  <a:pt x="507" y="48"/>
                </a:lnTo>
                <a:lnTo>
                  <a:pt x="507" y="44"/>
                </a:lnTo>
                <a:lnTo>
                  <a:pt x="507" y="41"/>
                </a:lnTo>
                <a:lnTo>
                  <a:pt x="507" y="38"/>
                </a:lnTo>
                <a:lnTo>
                  <a:pt x="507" y="34"/>
                </a:lnTo>
                <a:lnTo>
                  <a:pt x="507" y="31"/>
                </a:lnTo>
                <a:lnTo>
                  <a:pt x="507" y="28"/>
                </a:lnTo>
                <a:lnTo>
                  <a:pt x="50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299" name="Freeform 1504">
            <a:extLst>
              <a:ext uri="{FF2B5EF4-FFF2-40B4-BE49-F238E27FC236}">
                <a16:creationId xmlns:a16="http://schemas.microsoft.com/office/drawing/2014/main" id="{AB690C24-2797-13A1-72E8-8FC5D24DF1D4}"/>
              </a:ext>
            </a:extLst>
          </p:cNvPr>
          <p:cNvSpPr>
            <a:spLocks noEditPoints="1"/>
          </p:cNvSpPr>
          <p:nvPr/>
        </p:nvSpPr>
        <p:spPr bwMode="auto">
          <a:xfrm>
            <a:off x="2157413" y="2719388"/>
            <a:ext cx="800100" cy="80963"/>
          </a:xfrm>
          <a:custGeom>
            <a:avLst/>
            <a:gdLst>
              <a:gd name="T0" fmla="*/ 504 w 504"/>
              <a:gd name="T1" fmla="*/ 21 h 51"/>
              <a:gd name="T2" fmla="*/ 504 w 504"/>
              <a:gd name="T3" fmla="*/ 14 h 51"/>
              <a:gd name="T4" fmla="*/ 504 w 504"/>
              <a:gd name="T5" fmla="*/ 9 h 51"/>
              <a:gd name="T6" fmla="*/ 504 w 504"/>
              <a:gd name="T7" fmla="*/ 3 h 51"/>
              <a:gd name="T8" fmla="*/ 501 w 504"/>
              <a:gd name="T9" fmla="*/ 0 h 51"/>
              <a:gd name="T10" fmla="*/ 501 w 504"/>
              <a:gd name="T11" fmla="*/ 6 h 51"/>
              <a:gd name="T12" fmla="*/ 501 w 504"/>
              <a:gd name="T13" fmla="*/ 11 h 51"/>
              <a:gd name="T14" fmla="*/ 501 w 504"/>
              <a:gd name="T15" fmla="*/ 18 h 51"/>
              <a:gd name="T16" fmla="*/ 501 w 504"/>
              <a:gd name="T17" fmla="*/ 24 h 51"/>
              <a:gd name="T18" fmla="*/ 501 w 504"/>
              <a:gd name="T19" fmla="*/ 31 h 51"/>
              <a:gd name="T20" fmla="*/ 501 w 504"/>
              <a:gd name="T21" fmla="*/ 38 h 51"/>
              <a:gd name="T22" fmla="*/ 501 w 504"/>
              <a:gd name="T23" fmla="*/ 44 h 51"/>
              <a:gd name="T24" fmla="*/ 501 w 504"/>
              <a:gd name="T25" fmla="*/ 51 h 51"/>
              <a:gd name="T26" fmla="*/ 504 w 504"/>
              <a:gd name="T27" fmla="*/ 48 h 51"/>
              <a:gd name="T28" fmla="*/ 504 w 504"/>
              <a:gd name="T29" fmla="*/ 41 h 51"/>
              <a:gd name="T30" fmla="*/ 504 w 504"/>
              <a:gd name="T31" fmla="*/ 34 h 51"/>
              <a:gd name="T32" fmla="*/ 504 w 504"/>
              <a:gd name="T33" fmla="*/ 28 h 51"/>
              <a:gd name="T34" fmla="*/ 2 w 504"/>
              <a:gd name="T35" fmla="*/ 0 h 51"/>
              <a:gd name="T36" fmla="*/ 0 w 504"/>
              <a:gd name="T37" fmla="*/ 6 h 51"/>
              <a:gd name="T38" fmla="*/ 0 w 504"/>
              <a:gd name="T39" fmla="*/ 11 h 51"/>
              <a:gd name="T40" fmla="*/ 0 w 504"/>
              <a:gd name="T41" fmla="*/ 18 h 51"/>
              <a:gd name="T42" fmla="*/ 0 w 504"/>
              <a:gd name="T43" fmla="*/ 24 h 51"/>
              <a:gd name="T44" fmla="*/ 0 w 504"/>
              <a:gd name="T45" fmla="*/ 31 h 51"/>
              <a:gd name="T46" fmla="*/ 0 w 504"/>
              <a:gd name="T47" fmla="*/ 38 h 51"/>
              <a:gd name="T48" fmla="*/ 0 w 504"/>
              <a:gd name="T49" fmla="*/ 44 h 51"/>
              <a:gd name="T50" fmla="*/ 0 w 504"/>
              <a:gd name="T51" fmla="*/ 51 h 51"/>
              <a:gd name="T52" fmla="*/ 4 w 504"/>
              <a:gd name="T53" fmla="*/ 48 h 51"/>
              <a:gd name="T54" fmla="*/ 4 w 504"/>
              <a:gd name="T55" fmla="*/ 41 h 51"/>
              <a:gd name="T56" fmla="*/ 4 w 504"/>
              <a:gd name="T57" fmla="*/ 34 h 51"/>
              <a:gd name="T58" fmla="*/ 4 w 504"/>
              <a:gd name="T59" fmla="*/ 28 h 51"/>
              <a:gd name="T60" fmla="*/ 4 w 504"/>
              <a:gd name="T61" fmla="*/ 21 h 51"/>
              <a:gd name="T62" fmla="*/ 4 w 504"/>
              <a:gd name="T63" fmla="*/ 14 h 51"/>
              <a:gd name="T64" fmla="*/ 4 w 504"/>
              <a:gd name="T65" fmla="*/ 9 h 51"/>
              <a:gd name="T66" fmla="*/ 4 w 504"/>
              <a:gd name="T67" fmla="*/ 3 h 51"/>
              <a:gd name="T68" fmla="*/ 2 w 50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4" h="51">
                <a:moveTo>
                  <a:pt x="504" y="24"/>
                </a:moveTo>
                <a:lnTo>
                  <a:pt x="504" y="21"/>
                </a:lnTo>
                <a:lnTo>
                  <a:pt x="504" y="18"/>
                </a:lnTo>
                <a:lnTo>
                  <a:pt x="504" y="14"/>
                </a:lnTo>
                <a:lnTo>
                  <a:pt x="504" y="11"/>
                </a:lnTo>
                <a:lnTo>
                  <a:pt x="504" y="9"/>
                </a:lnTo>
                <a:lnTo>
                  <a:pt x="504" y="6"/>
                </a:lnTo>
                <a:lnTo>
                  <a:pt x="504" y="3"/>
                </a:lnTo>
                <a:lnTo>
                  <a:pt x="504" y="0"/>
                </a:lnTo>
                <a:lnTo>
                  <a:pt x="501" y="0"/>
                </a:lnTo>
                <a:lnTo>
                  <a:pt x="501" y="3"/>
                </a:lnTo>
                <a:lnTo>
                  <a:pt x="501" y="6"/>
                </a:lnTo>
                <a:lnTo>
                  <a:pt x="501" y="9"/>
                </a:lnTo>
                <a:lnTo>
                  <a:pt x="501" y="11"/>
                </a:lnTo>
                <a:lnTo>
                  <a:pt x="501" y="14"/>
                </a:lnTo>
                <a:lnTo>
                  <a:pt x="501" y="18"/>
                </a:lnTo>
                <a:lnTo>
                  <a:pt x="501" y="21"/>
                </a:lnTo>
                <a:lnTo>
                  <a:pt x="501" y="24"/>
                </a:lnTo>
                <a:lnTo>
                  <a:pt x="501" y="28"/>
                </a:lnTo>
                <a:lnTo>
                  <a:pt x="501" y="31"/>
                </a:lnTo>
                <a:lnTo>
                  <a:pt x="501" y="34"/>
                </a:lnTo>
                <a:lnTo>
                  <a:pt x="501" y="38"/>
                </a:lnTo>
                <a:lnTo>
                  <a:pt x="501" y="41"/>
                </a:lnTo>
                <a:lnTo>
                  <a:pt x="501" y="44"/>
                </a:lnTo>
                <a:lnTo>
                  <a:pt x="501" y="48"/>
                </a:lnTo>
                <a:lnTo>
                  <a:pt x="501" y="51"/>
                </a:lnTo>
                <a:lnTo>
                  <a:pt x="504" y="51"/>
                </a:lnTo>
                <a:lnTo>
                  <a:pt x="504" y="48"/>
                </a:lnTo>
                <a:lnTo>
                  <a:pt x="504" y="44"/>
                </a:lnTo>
                <a:lnTo>
                  <a:pt x="504" y="41"/>
                </a:lnTo>
                <a:lnTo>
                  <a:pt x="504" y="38"/>
                </a:lnTo>
                <a:lnTo>
                  <a:pt x="504" y="34"/>
                </a:lnTo>
                <a:lnTo>
                  <a:pt x="504" y="31"/>
                </a:lnTo>
                <a:lnTo>
                  <a:pt x="504" y="28"/>
                </a:lnTo>
                <a:lnTo>
                  <a:pt x="50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00" name="Freeform 1505">
            <a:extLst>
              <a:ext uri="{FF2B5EF4-FFF2-40B4-BE49-F238E27FC236}">
                <a16:creationId xmlns:a16="http://schemas.microsoft.com/office/drawing/2014/main" id="{05BF1A1B-93E4-3481-E694-533B3A50112B}"/>
              </a:ext>
            </a:extLst>
          </p:cNvPr>
          <p:cNvSpPr>
            <a:spLocks noEditPoints="1"/>
          </p:cNvSpPr>
          <p:nvPr/>
        </p:nvSpPr>
        <p:spPr bwMode="auto">
          <a:xfrm>
            <a:off x="2160588" y="2719388"/>
            <a:ext cx="793750" cy="80963"/>
          </a:xfrm>
          <a:custGeom>
            <a:avLst/>
            <a:gdLst>
              <a:gd name="T0" fmla="*/ 500 w 500"/>
              <a:gd name="T1" fmla="*/ 21 h 51"/>
              <a:gd name="T2" fmla="*/ 500 w 500"/>
              <a:gd name="T3" fmla="*/ 14 h 51"/>
              <a:gd name="T4" fmla="*/ 500 w 500"/>
              <a:gd name="T5" fmla="*/ 9 h 51"/>
              <a:gd name="T6" fmla="*/ 500 w 500"/>
              <a:gd name="T7" fmla="*/ 3 h 51"/>
              <a:gd name="T8" fmla="*/ 497 w 500"/>
              <a:gd name="T9" fmla="*/ 0 h 51"/>
              <a:gd name="T10" fmla="*/ 497 w 500"/>
              <a:gd name="T11" fmla="*/ 6 h 51"/>
              <a:gd name="T12" fmla="*/ 497 w 500"/>
              <a:gd name="T13" fmla="*/ 11 h 51"/>
              <a:gd name="T14" fmla="*/ 497 w 500"/>
              <a:gd name="T15" fmla="*/ 18 h 51"/>
              <a:gd name="T16" fmla="*/ 497 w 500"/>
              <a:gd name="T17" fmla="*/ 24 h 51"/>
              <a:gd name="T18" fmla="*/ 497 w 500"/>
              <a:gd name="T19" fmla="*/ 31 h 51"/>
              <a:gd name="T20" fmla="*/ 497 w 500"/>
              <a:gd name="T21" fmla="*/ 38 h 51"/>
              <a:gd name="T22" fmla="*/ 497 w 500"/>
              <a:gd name="T23" fmla="*/ 44 h 51"/>
              <a:gd name="T24" fmla="*/ 497 w 500"/>
              <a:gd name="T25" fmla="*/ 51 h 51"/>
              <a:gd name="T26" fmla="*/ 500 w 500"/>
              <a:gd name="T27" fmla="*/ 48 h 51"/>
              <a:gd name="T28" fmla="*/ 500 w 500"/>
              <a:gd name="T29" fmla="*/ 41 h 51"/>
              <a:gd name="T30" fmla="*/ 500 w 500"/>
              <a:gd name="T31" fmla="*/ 34 h 51"/>
              <a:gd name="T32" fmla="*/ 500 w 500"/>
              <a:gd name="T33" fmla="*/ 28 h 51"/>
              <a:gd name="T34" fmla="*/ 2 w 500"/>
              <a:gd name="T35" fmla="*/ 0 h 51"/>
              <a:gd name="T36" fmla="*/ 0 w 500"/>
              <a:gd name="T37" fmla="*/ 6 h 51"/>
              <a:gd name="T38" fmla="*/ 0 w 500"/>
              <a:gd name="T39" fmla="*/ 11 h 51"/>
              <a:gd name="T40" fmla="*/ 0 w 500"/>
              <a:gd name="T41" fmla="*/ 18 h 51"/>
              <a:gd name="T42" fmla="*/ 0 w 500"/>
              <a:gd name="T43" fmla="*/ 24 h 51"/>
              <a:gd name="T44" fmla="*/ 0 w 500"/>
              <a:gd name="T45" fmla="*/ 31 h 51"/>
              <a:gd name="T46" fmla="*/ 0 w 500"/>
              <a:gd name="T47" fmla="*/ 38 h 51"/>
              <a:gd name="T48" fmla="*/ 0 w 500"/>
              <a:gd name="T49" fmla="*/ 44 h 51"/>
              <a:gd name="T50" fmla="*/ 0 w 500"/>
              <a:gd name="T51" fmla="*/ 51 h 51"/>
              <a:gd name="T52" fmla="*/ 3 w 500"/>
              <a:gd name="T53" fmla="*/ 48 h 51"/>
              <a:gd name="T54" fmla="*/ 3 w 500"/>
              <a:gd name="T55" fmla="*/ 41 h 51"/>
              <a:gd name="T56" fmla="*/ 3 w 500"/>
              <a:gd name="T57" fmla="*/ 34 h 51"/>
              <a:gd name="T58" fmla="*/ 3 w 500"/>
              <a:gd name="T59" fmla="*/ 28 h 51"/>
              <a:gd name="T60" fmla="*/ 3 w 500"/>
              <a:gd name="T61" fmla="*/ 21 h 51"/>
              <a:gd name="T62" fmla="*/ 3 w 500"/>
              <a:gd name="T63" fmla="*/ 14 h 51"/>
              <a:gd name="T64" fmla="*/ 3 w 500"/>
              <a:gd name="T65" fmla="*/ 9 h 51"/>
              <a:gd name="T66" fmla="*/ 3 w 500"/>
              <a:gd name="T67" fmla="*/ 3 h 51"/>
              <a:gd name="T68" fmla="*/ 2 w 50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0" h="51">
                <a:moveTo>
                  <a:pt x="500" y="24"/>
                </a:moveTo>
                <a:lnTo>
                  <a:pt x="500" y="21"/>
                </a:lnTo>
                <a:lnTo>
                  <a:pt x="500" y="18"/>
                </a:lnTo>
                <a:lnTo>
                  <a:pt x="500" y="14"/>
                </a:lnTo>
                <a:lnTo>
                  <a:pt x="500" y="11"/>
                </a:lnTo>
                <a:lnTo>
                  <a:pt x="500" y="9"/>
                </a:lnTo>
                <a:lnTo>
                  <a:pt x="500" y="6"/>
                </a:lnTo>
                <a:lnTo>
                  <a:pt x="500" y="3"/>
                </a:lnTo>
                <a:lnTo>
                  <a:pt x="500" y="0"/>
                </a:lnTo>
                <a:lnTo>
                  <a:pt x="497" y="0"/>
                </a:lnTo>
                <a:lnTo>
                  <a:pt x="497" y="3"/>
                </a:lnTo>
                <a:lnTo>
                  <a:pt x="497" y="6"/>
                </a:lnTo>
                <a:lnTo>
                  <a:pt x="497" y="9"/>
                </a:lnTo>
                <a:lnTo>
                  <a:pt x="497" y="11"/>
                </a:lnTo>
                <a:lnTo>
                  <a:pt x="497" y="14"/>
                </a:lnTo>
                <a:lnTo>
                  <a:pt x="497" y="18"/>
                </a:lnTo>
                <a:lnTo>
                  <a:pt x="497" y="21"/>
                </a:lnTo>
                <a:lnTo>
                  <a:pt x="497" y="24"/>
                </a:lnTo>
                <a:lnTo>
                  <a:pt x="497" y="28"/>
                </a:lnTo>
                <a:lnTo>
                  <a:pt x="497" y="31"/>
                </a:lnTo>
                <a:lnTo>
                  <a:pt x="497" y="34"/>
                </a:lnTo>
                <a:lnTo>
                  <a:pt x="497" y="38"/>
                </a:lnTo>
                <a:lnTo>
                  <a:pt x="497" y="41"/>
                </a:lnTo>
                <a:lnTo>
                  <a:pt x="497" y="44"/>
                </a:lnTo>
                <a:lnTo>
                  <a:pt x="497" y="48"/>
                </a:lnTo>
                <a:lnTo>
                  <a:pt x="497" y="51"/>
                </a:lnTo>
                <a:lnTo>
                  <a:pt x="500" y="51"/>
                </a:lnTo>
                <a:lnTo>
                  <a:pt x="500" y="48"/>
                </a:lnTo>
                <a:lnTo>
                  <a:pt x="500" y="44"/>
                </a:lnTo>
                <a:lnTo>
                  <a:pt x="500" y="41"/>
                </a:lnTo>
                <a:lnTo>
                  <a:pt x="500" y="38"/>
                </a:lnTo>
                <a:lnTo>
                  <a:pt x="500" y="34"/>
                </a:lnTo>
                <a:lnTo>
                  <a:pt x="500" y="31"/>
                </a:lnTo>
                <a:lnTo>
                  <a:pt x="500" y="28"/>
                </a:lnTo>
                <a:lnTo>
                  <a:pt x="50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01" name="Freeform 1506">
            <a:extLst>
              <a:ext uri="{FF2B5EF4-FFF2-40B4-BE49-F238E27FC236}">
                <a16:creationId xmlns:a16="http://schemas.microsoft.com/office/drawing/2014/main" id="{99EE8E74-77B9-E218-3BC3-62CA9B6BD338}"/>
              </a:ext>
            </a:extLst>
          </p:cNvPr>
          <p:cNvSpPr>
            <a:spLocks noEditPoints="1"/>
          </p:cNvSpPr>
          <p:nvPr/>
        </p:nvSpPr>
        <p:spPr bwMode="auto">
          <a:xfrm>
            <a:off x="2163763" y="2719388"/>
            <a:ext cx="788988" cy="80963"/>
          </a:xfrm>
          <a:custGeom>
            <a:avLst/>
            <a:gdLst>
              <a:gd name="T0" fmla="*/ 497 w 497"/>
              <a:gd name="T1" fmla="*/ 21 h 51"/>
              <a:gd name="T2" fmla="*/ 497 w 497"/>
              <a:gd name="T3" fmla="*/ 14 h 51"/>
              <a:gd name="T4" fmla="*/ 497 w 497"/>
              <a:gd name="T5" fmla="*/ 9 h 51"/>
              <a:gd name="T6" fmla="*/ 497 w 497"/>
              <a:gd name="T7" fmla="*/ 3 h 51"/>
              <a:gd name="T8" fmla="*/ 493 w 497"/>
              <a:gd name="T9" fmla="*/ 0 h 51"/>
              <a:gd name="T10" fmla="*/ 493 w 497"/>
              <a:gd name="T11" fmla="*/ 6 h 51"/>
              <a:gd name="T12" fmla="*/ 493 w 497"/>
              <a:gd name="T13" fmla="*/ 11 h 51"/>
              <a:gd name="T14" fmla="*/ 493 w 497"/>
              <a:gd name="T15" fmla="*/ 18 h 51"/>
              <a:gd name="T16" fmla="*/ 493 w 497"/>
              <a:gd name="T17" fmla="*/ 24 h 51"/>
              <a:gd name="T18" fmla="*/ 493 w 497"/>
              <a:gd name="T19" fmla="*/ 31 h 51"/>
              <a:gd name="T20" fmla="*/ 493 w 497"/>
              <a:gd name="T21" fmla="*/ 38 h 51"/>
              <a:gd name="T22" fmla="*/ 493 w 497"/>
              <a:gd name="T23" fmla="*/ 44 h 51"/>
              <a:gd name="T24" fmla="*/ 493 w 497"/>
              <a:gd name="T25" fmla="*/ 51 h 51"/>
              <a:gd name="T26" fmla="*/ 497 w 497"/>
              <a:gd name="T27" fmla="*/ 48 h 51"/>
              <a:gd name="T28" fmla="*/ 497 w 497"/>
              <a:gd name="T29" fmla="*/ 41 h 51"/>
              <a:gd name="T30" fmla="*/ 497 w 497"/>
              <a:gd name="T31" fmla="*/ 34 h 51"/>
              <a:gd name="T32" fmla="*/ 497 w 497"/>
              <a:gd name="T33" fmla="*/ 28 h 51"/>
              <a:gd name="T34" fmla="*/ 1 w 497"/>
              <a:gd name="T35" fmla="*/ 0 h 51"/>
              <a:gd name="T36" fmla="*/ 0 w 497"/>
              <a:gd name="T37" fmla="*/ 6 h 51"/>
              <a:gd name="T38" fmla="*/ 0 w 497"/>
              <a:gd name="T39" fmla="*/ 11 h 51"/>
              <a:gd name="T40" fmla="*/ 0 w 497"/>
              <a:gd name="T41" fmla="*/ 18 h 51"/>
              <a:gd name="T42" fmla="*/ 0 w 497"/>
              <a:gd name="T43" fmla="*/ 24 h 51"/>
              <a:gd name="T44" fmla="*/ 0 w 497"/>
              <a:gd name="T45" fmla="*/ 31 h 51"/>
              <a:gd name="T46" fmla="*/ 0 w 497"/>
              <a:gd name="T47" fmla="*/ 38 h 51"/>
              <a:gd name="T48" fmla="*/ 0 w 497"/>
              <a:gd name="T49" fmla="*/ 44 h 51"/>
              <a:gd name="T50" fmla="*/ 0 w 497"/>
              <a:gd name="T51" fmla="*/ 51 h 51"/>
              <a:gd name="T52" fmla="*/ 3 w 497"/>
              <a:gd name="T53" fmla="*/ 48 h 51"/>
              <a:gd name="T54" fmla="*/ 3 w 497"/>
              <a:gd name="T55" fmla="*/ 41 h 51"/>
              <a:gd name="T56" fmla="*/ 3 w 497"/>
              <a:gd name="T57" fmla="*/ 34 h 51"/>
              <a:gd name="T58" fmla="*/ 3 w 497"/>
              <a:gd name="T59" fmla="*/ 28 h 51"/>
              <a:gd name="T60" fmla="*/ 3 w 497"/>
              <a:gd name="T61" fmla="*/ 21 h 51"/>
              <a:gd name="T62" fmla="*/ 3 w 497"/>
              <a:gd name="T63" fmla="*/ 14 h 51"/>
              <a:gd name="T64" fmla="*/ 3 w 497"/>
              <a:gd name="T65" fmla="*/ 9 h 51"/>
              <a:gd name="T66" fmla="*/ 3 w 497"/>
              <a:gd name="T67" fmla="*/ 3 h 51"/>
              <a:gd name="T68" fmla="*/ 1 w 49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7" h="51">
                <a:moveTo>
                  <a:pt x="497" y="24"/>
                </a:moveTo>
                <a:lnTo>
                  <a:pt x="497" y="21"/>
                </a:lnTo>
                <a:lnTo>
                  <a:pt x="497" y="18"/>
                </a:lnTo>
                <a:lnTo>
                  <a:pt x="497" y="14"/>
                </a:lnTo>
                <a:lnTo>
                  <a:pt x="497" y="11"/>
                </a:lnTo>
                <a:lnTo>
                  <a:pt x="497" y="9"/>
                </a:lnTo>
                <a:lnTo>
                  <a:pt x="497" y="6"/>
                </a:lnTo>
                <a:lnTo>
                  <a:pt x="497" y="3"/>
                </a:lnTo>
                <a:lnTo>
                  <a:pt x="497" y="0"/>
                </a:lnTo>
                <a:lnTo>
                  <a:pt x="493" y="0"/>
                </a:lnTo>
                <a:lnTo>
                  <a:pt x="493" y="3"/>
                </a:lnTo>
                <a:lnTo>
                  <a:pt x="493" y="6"/>
                </a:lnTo>
                <a:lnTo>
                  <a:pt x="493" y="9"/>
                </a:lnTo>
                <a:lnTo>
                  <a:pt x="493" y="11"/>
                </a:lnTo>
                <a:lnTo>
                  <a:pt x="493" y="14"/>
                </a:lnTo>
                <a:lnTo>
                  <a:pt x="493" y="18"/>
                </a:lnTo>
                <a:lnTo>
                  <a:pt x="493" y="21"/>
                </a:lnTo>
                <a:lnTo>
                  <a:pt x="493" y="24"/>
                </a:lnTo>
                <a:lnTo>
                  <a:pt x="493" y="28"/>
                </a:lnTo>
                <a:lnTo>
                  <a:pt x="493" y="31"/>
                </a:lnTo>
                <a:lnTo>
                  <a:pt x="493" y="34"/>
                </a:lnTo>
                <a:lnTo>
                  <a:pt x="493" y="38"/>
                </a:lnTo>
                <a:lnTo>
                  <a:pt x="493" y="41"/>
                </a:lnTo>
                <a:lnTo>
                  <a:pt x="493" y="44"/>
                </a:lnTo>
                <a:lnTo>
                  <a:pt x="493" y="48"/>
                </a:lnTo>
                <a:lnTo>
                  <a:pt x="493" y="51"/>
                </a:lnTo>
                <a:lnTo>
                  <a:pt x="497" y="51"/>
                </a:lnTo>
                <a:lnTo>
                  <a:pt x="497" y="48"/>
                </a:lnTo>
                <a:lnTo>
                  <a:pt x="497" y="44"/>
                </a:lnTo>
                <a:lnTo>
                  <a:pt x="497" y="41"/>
                </a:lnTo>
                <a:lnTo>
                  <a:pt x="497" y="38"/>
                </a:lnTo>
                <a:lnTo>
                  <a:pt x="497" y="34"/>
                </a:lnTo>
                <a:lnTo>
                  <a:pt x="497" y="31"/>
                </a:lnTo>
                <a:lnTo>
                  <a:pt x="497" y="28"/>
                </a:lnTo>
                <a:lnTo>
                  <a:pt x="49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02" name="Freeform 1507">
            <a:extLst>
              <a:ext uri="{FF2B5EF4-FFF2-40B4-BE49-F238E27FC236}">
                <a16:creationId xmlns:a16="http://schemas.microsoft.com/office/drawing/2014/main" id="{D331E468-23DE-520F-94B7-570F7ED9F24C}"/>
              </a:ext>
            </a:extLst>
          </p:cNvPr>
          <p:cNvSpPr>
            <a:spLocks noEditPoints="1"/>
          </p:cNvSpPr>
          <p:nvPr/>
        </p:nvSpPr>
        <p:spPr bwMode="auto">
          <a:xfrm>
            <a:off x="2165350" y="2719388"/>
            <a:ext cx="784225" cy="80963"/>
          </a:xfrm>
          <a:custGeom>
            <a:avLst/>
            <a:gdLst>
              <a:gd name="T0" fmla="*/ 494 w 494"/>
              <a:gd name="T1" fmla="*/ 21 h 51"/>
              <a:gd name="T2" fmla="*/ 494 w 494"/>
              <a:gd name="T3" fmla="*/ 14 h 51"/>
              <a:gd name="T4" fmla="*/ 494 w 494"/>
              <a:gd name="T5" fmla="*/ 9 h 51"/>
              <a:gd name="T6" fmla="*/ 494 w 494"/>
              <a:gd name="T7" fmla="*/ 3 h 51"/>
              <a:gd name="T8" fmla="*/ 491 w 494"/>
              <a:gd name="T9" fmla="*/ 0 h 51"/>
              <a:gd name="T10" fmla="*/ 491 w 494"/>
              <a:gd name="T11" fmla="*/ 6 h 51"/>
              <a:gd name="T12" fmla="*/ 491 w 494"/>
              <a:gd name="T13" fmla="*/ 11 h 51"/>
              <a:gd name="T14" fmla="*/ 491 w 494"/>
              <a:gd name="T15" fmla="*/ 18 h 51"/>
              <a:gd name="T16" fmla="*/ 491 w 494"/>
              <a:gd name="T17" fmla="*/ 24 h 51"/>
              <a:gd name="T18" fmla="*/ 491 w 494"/>
              <a:gd name="T19" fmla="*/ 31 h 51"/>
              <a:gd name="T20" fmla="*/ 491 w 494"/>
              <a:gd name="T21" fmla="*/ 38 h 51"/>
              <a:gd name="T22" fmla="*/ 491 w 494"/>
              <a:gd name="T23" fmla="*/ 44 h 51"/>
              <a:gd name="T24" fmla="*/ 491 w 494"/>
              <a:gd name="T25" fmla="*/ 51 h 51"/>
              <a:gd name="T26" fmla="*/ 494 w 494"/>
              <a:gd name="T27" fmla="*/ 48 h 51"/>
              <a:gd name="T28" fmla="*/ 494 w 494"/>
              <a:gd name="T29" fmla="*/ 41 h 51"/>
              <a:gd name="T30" fmla="*/ 494 w 494"/>
              <a:gd name="T31" fmla="*/ 34 h 51"/>
              <a:gd name="T32" fmla="*/ 494 w 494"/>
              <a:gd name="T33" fmla="*/ 28 h 51"/>
              <a:gd name="T34" fmla="*/ 2 w 494"/>
              <a:gd name="T35" fmla="*/ 0 h 51"/>
              <a:gd name="T36" fmla="*/ 0 w 494"/>
              <a:gd name="T37" fmla="*/ 6 h 51"/>
              <a:gd name="T38" fmla="*/ 0 w 494"/>
              <a:gd name="T39" fmla="*/ 11 h 51"/>
              <a:gd name="T40" fmla="*/ 0 w 494"/>
              <a:gd name="T41" fmla="*/ 18 h 51"/>
              <a:gd name="T42" fmla="*/ 0 w 494"/>
              <a:gd name="T43" fmla="*/ 24 h 51"/>
              <a:gd name="T44" fmla="*/ 0 w 494"/>
              <a:gd name="T45" fmla="*/ 31 h 51"/>
              <a:gd name="T46" fmla="*/ 0 w 494"/>
              <a:gd name="T47" fmla="*/ 38 h 51"/>
              <a:gd name="T48" fmla="*/ 0 w 494"/>
              <a:gd name="T49" fmla="*/ 44 h 51"/>
              <a:gd name="T50" fmla="*/ 0 w 494"/>
              <a:gd name="T51" fmla="*/ 51 h 51"/>
              <a:gd name="T52" fmla="*/ 4 w 494"/>
              <a:gd name="T53" fmla="*/ 48 h 51"/>
              <a:gd name="T54" fmla="*/ 4 w 494"/>
              <a:gd name="T55" fmla="*/ 41 h 51"/>
              <a:gd name="T56" fmla="*/ 4 w 494"/>
              <a:gd name="T57" fmla="*/ 34 h 51"/>
              <a:gd name="T58" fmla="*/ 4 w 494"/>
              <a:gd name="T59" fmla="*/ 28 h 51"/>
              <a:gd name="T60" fmla="*/ 4 w 494"/>
              <a:gd name="T61" fmla="*/ 21 h 51"/>
              <a:gd name="T62" fmla="*/ 4 w 494"/>
              <a:gd name="T63" fmla="*/ 14 h 51"/>
              <a:gd name="T64" fmla="*/ 4 w 494"/>
              <a:gd name="T65" fmla="*/ 9 h 51"/>
              <a:gd name="T66" fmla="*/ 4 w 494"/>
              <a:gd name="T67" fmla="*/ 3 h 51"/>
              <a:gd name="T68" fmla="*/ 2 w 49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4" h="51">
                <a:moveTo>
                  <a:pt x="494" y="24"/>
                </a:moveTo>
                <a:lnTo>
                  <a:pt x="494" y="21"/>
                </a:lnTo>
                <a:lnTo>
                  <a:pt x="494" y="18"/>
                </a:lnTo>
                <a:lnTo>
                  <a:pt x="494" y="14"/>
                </a:lnTo>
                <a:lnTo>
                  <a:pt x="494" y="11"/>
                </a:lnTo>
                <a:lnTo>
                  <a:pt x="494" y="9"/>
                </a:lnTo>
                <a:lnTo>
                  <a:pt x="494" y="6"/>
                </a:lnTo>
                <a:lnTo>
                  <a:pt x="494" y="3"/>
                </a:lnTo>
                <a:lnTo>
                  <a:pt x="494" y="0"/>
                </a:lnTo>
                <a:lnTo>
                  <a:pt x="491" y="0"/>
                </a:lnTo>
                <a:lnTo>
                  <a:pt x="491" y="3"/>
                </a:lnTo>
                <a:lnTo>
                  <a:pt x="491" y="6"/>
                </a:lnTo>
                <a:lnTo>
                  <a:pt x="491" y="9"/>
                </a:lnTo>
                <a:lnTo>
                  <a:pt x="491" y="11"/>
                </a:lnTo>
                <a:lnTo>
                  <a:pt x="491" y="14"/>
                </a:lnTo>
                <a:lnTo>
                  <a:pt x="491" y="18"/>
                </a:lnTo>
                <a:lnTo>
                  <a:pt x="491" y="21"/>
                </a:lnTo>
                <a:lnTo>
                  <a:pt x="491" y="24"/>
                </a:lnTo>
                <a:lnTo>
                  <a:pt x="491" y="28"/>
                </a:lnTo>
                <a:lnTo>
                  <a:pt x="491" y="31"/>
                </a:lnTo>
                <a:lnTo>
                  <a:pt x="491" y="34"/>
                </a:lnTo>
                <a:lnTo>
                  <a:pt x="491" y="38"/>
                </a:lnTo>
                <a:lnTo>
                  <a:pt x="491" y="41"/>
                </a:lnTo>
                <a:lnTo>
                  <a:pt x="491" y="44"/>
                </a:lnTo>
                <a:lnTo>
                  <a:pt x="491" y="48"/>
                </a:lnTo>
                <a:lnTo>
                  <a:pt x="491" y="51"/>
                </a:lnTo>
                <a:lnTo>
                  <a:pt x="494" y="51"/>
                </a:lnTo>
                <a:lnTo>
                  <a:pt x="494" y="48"/>
                </a:lnTo>
                <a:lnTo>
                  <a:pt x="494" y="44"/>
                </a:lnTo>
                <a:lnTo>
                  <a:pt x="494" y="41"/>
                </a:lnTo>
                <a:lnTo>
                  <a:pt x="494" y="38"/>
                </a:lnTo>
                <a:lnTo>
                  <a:pt x="494" y="34"/>
                </a:lnTo>
                <a:lnTo>
                  <a:pt x="494" y="31"/>
                </a:lnTo>
                <a:lnTo>
                  <a:pt x="494" y="28"/>
                </a:lnTo>
                <a:lnTo>
                  <a:pt x="49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03" name="Freeform 1508">
            <a:extLst>
              <a:ext uri="{FF2B5EF4-FFF2-40B4-BE49-F238E27FC236}">
                <a16:creationId xmlns:a16="http://schemas.microsoft.com/office/drawing/2014/main" id="{B5EC4E4F-000C-5A1D-E298-0BDE42D7A344}"/>
              </a:ext>
            </a:extLst>
          </p:cNvPr>
          <p:cNvSpPr>
            <a:spLocks noEditPoints="1"/>
          </p:cNvSpPr>
          <p:nvPr/>
        </p:nvSpPr>
        <p:spPr bwMode="auto">
          <a:xfrm>
            <a:off x="2168525" y="2719388"/>
            <a:ext cx="777875" cy="80963"/>
          </a:xfrm>
          <a:custGeom>
            <a:avLst/>
            <a:gdLst>
              <a:gd name="T0" fmla="*/ 490 w 490"/>
              <a:gd name="T1" fmla="*/ 21 h 51"/>
              <a:gd name="T2" fmla="*/ 490 w 490"/>
              <a:gd name="T3" fmla="*/ 14 h 51"/>
              <a:gd name="T4" fmla="*/ 490 w 490"/>
              <a:gd name="T5" fmla="*/ 9 h 51"/>
              <a:gd name="T6" fmla="*/ 490 w 490"/>
              <a:gd name="T7" fmla="*/ 3 h 51"/>
              <a:gd name="T8" fmla="*/ 487 w 490"/>
              <a:gd name="T9" fmla="*/ 0 h 51"/>
              <a:gd name="T10" fmla="*/ 487 w 490"/>
              <a:gd name="T11" fmla="*/ 6 h 51"/>
              <a:gd name="T12" fmla="*/ 487 w 490"/>
              <a:gd name="T13" fmla="*/ 11 h 51"/>
              <a:gd name="T14" fmla="*/ 487 w 490"/>
              <a:gd name="T15" fmla="*/ 18 h 51"/>
              <a:gd name="T16" fmla="*/ 487 w 490"/>
              <a:gd name="T17" fmla="*/ 24 h 51"/>
              <a:gd name="T18" fmla="*/ 487 w 490"/>
              <a:gd name="T19" fmla="*/ 31 h 51"/>
              <a:gd name="T20" fmla="*/ 487 w 490"/>
              <a:gd name="T21" fmla="*/ 38 h 51"/>
              <a:gd name="T22" fmla="*/ 487 w 490"/>
              <a:gd name="T23" fmla="*/ 44 h 51"/>
              <a:gd name="T24" fmla="*/ 487 w 490"/>
              <a:gd name="T25" fmla="*/ 51 h 51"/>
              <a:gd name="T26" fmla="*/ 490 w 490"/>
              <a:gd name="T27" fmla="*/ 48 h 51"/>
              <a:gd name="T28" fmla="*/ 490 w 490"/>
              <a:gd name="T29" fmla="*/ 41 h 51"/>
              <a:gd name="T30" fmla="*/ 490 w 490"/>
              <a:gd name="T31" fmla="*/ 34 h 51"/>
              <a:gd name="T32" fmla="*/ 490 w 490"/>
              <a:gd name="T33" fmla="*/ 28 h 51"/>
              <a:gd name="T34" fmla="*/ 2 w 490"/>
              <a:gd name="T35" fmla="*/ 0 h 51"/>
              <a:gd name="T36" fmla="*/ 0 w 490"/>
              <a:gd name="T37" fmla="*/ 6 h 51"/>
              <a:gd name="T38" fmla="*/ 0 w 490"/>
              <a:gd name="T39" fmla="*/ 11 h 51"/>
              <a:gd name="T40" fmla="*/ 0 w 490"/>
              <a:gd name="T41" fmla="*/ 18 h 51"/>
              <a:gd name="T42" fmla="*/ 0 w 490"/>
              <a:gd name="T43" fmla="*/ 24 h 51"/>
              <a:gd name="T44" fmla="*/ 0 w 490"/>
              <a:gd name="T45" fmla="*/ 31 h 51"/>
              <a:gd name="T46" fmla="*/ 0 w 490"/>
              <a:gd name="T47" fmla="*/ 38 h 51"/>
              <a:gd name="T48" fmla="*/ 0 w 490"/>
              <a:gd name="T49" fmla="*/ 44 h 51"/>
              <a:gd name="T50" fmla="*/ 0 w 490"/>
              <a:gd name="T51" fmla="*/ 51 h 51"/>
              <a:gd name="T52" fmla="*/ 3 w 490"/>
              <a:gd name="T53" fmla="*/ 48 h 51"/>
              <a:gd name="T54" fmla="*/ 3 w 490"/>
              <a:gd name="T55" fmla="*/ 41 h 51"/>
              <a:gd name="T56" fmla="*/ 3 w 490"/>
              <a:gd name="T57" fmla="*/ 34 h 51"/>
              <a:gd name="T58" fmla="*/ 3 w 490"/>
              <a:gd name="T59" fmla="*/ 28 h 51"/>
              <a:gd name="T60" fmla="*/ 3 w 490"/>
              <a:gd name="T61" fmla="*/ 21 h 51"/>
              <a:gd name="T62" fmla="*/ 3 w 490"/>
              <a:gd name="T63" fmla="*/ 14 h 51"/>
              <a:gd name="T64" fmla="*/ 3 w 490"/>
              <a:gd name="T65" fmla="*/ 9 h 51"/>
              <a:gd name="T66" fmla="*/ 3 w 490"/>
              <a:gd name="T67" fmla="*/ 3 h 51"/>
              <a:gd name="T68" fmla="*/ 2 w 49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0" h="51">
                <a:moveTo>
                  <a:pt x="490" y="24"/>
                </a:moveTo>
                <a:lnTo>
                  <a:pt x="490" y="21"/>
                </a:lnTo>
                <a:lnTo>
                  <a:pt x="490" y="18"/>
                </a:lnTo>
                <a:lnTo>
                  <a:pt x="490" y="14"/>
                </a:lnTo>
                <a:lnTo>
                  <a:pt x="490" y="11"/>
                </a:lnTo>
                <a:lnTo>
                  <a:pt x="490" y="9"/>
                </a:lnTo>
                <a:lnTo>
                  <a:pt x="490" y="6"/>
                </a:lnTo>
                <a:lnTo>
                  <a:pt x="490" y="3"/>
                </a:lnTo>
                <a:lnTo>
                  <a:pt x="490" y="0"/>
                </a:lnTo>
                <a:lnTo>
                  <a:pt x="487" y="0"/>
                </a:lnTo>
                <a:lnTo>
                  <a:pt x="487" y="3"/>
                </a:lnTo>
                <a:lnTo>
                  <a:pt x="487" y="6"/>
                </a:lnTo>
                <a:lnTo>
                  <a:pt x="487" y="9"/>
                </a:lnTo>
                <a:lnTo>
                  <a:pt x="487" y="11"/>
                </a:lnTo>
                <a:lnTo>
                  <a:pt x="487" y="14"/>
                </a:lnTo>
                <a:lnTo>
                  <a:pt x="487" y="18"/>
                </a:lnTo>
                <a:lnTo>
                  <a:pt x="487" y="21"/>
                </a:lnTo>
                <a:lnTo>
                  <a:pt x="487" y="24"/>
                </a:lnTo>
                <a:lnTo>
                  <a:pt x="487" y="28"/>
                </a:lnTo>
                <a:lnTo>
                  <a:pt x="487" y="31"/>
                </a:lnTo>
                <a:lnTo>
                  <a:pt x="487" y="34"/>
                </a:lnTo>
                <a:lnTo>
                  <a:pt x="487" y="38"/>
                </a:lnTo>
                <a:lnTo>
                  <a:pt x="487" y="41"/>
                </a:lnTo>
                <a:lnTo>
                  <a:pt x="487" y="44"/>
                </a:lnTo>
                <a:lnTo>
                  <a:pt x="487" y="48"/>
                </a:lnTo>
                <a:lnTo>
                  <a:pt x="487" y="51"/>
                </a:lnTo>
                <a:lnTo>
                  <a:pt x="490" y="51"/>
                </a:lnTo>
                <a:lnTo>
                  <a:pt x="490" y="48"/>
                </a:lnTo>
                <a:lnTo>
                  <a:pt x="490" y="44"/>
                </a:lnTo>
                <a:lnTo>
                  <a:pt x="490" y="41"/>
                </a:lnTo>
                <a:lnTo>
                  <a:pt x="490" y="38"/>
                </a:lnTo>
                <a:lnTo>
                  <a:pt x="490" y="34"/>
                </a:lnTo>
                <a:lnTo>
                  <a:pt x="490" y="31"/>
                </a:lnTo>
                <a:lnTo>
                  <a:pt x="490" y="28"/>
                </a:lnTo>
                <a:lnTo>
                  <a:pt x="49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04" name="Freeform 1509">
            <a:extLst>
              <a:ext uri="{FF2B5EF4-FFF2-40B4-BE49-F238E27FC236}">
                <a16:creationId xmlns:a16="http://schemas.microsoft.com/office/drawing/2014/main" id="{E320F210-132B-7199-77B9-7D046EB9B271}"/>
              </a:ext>
            </a:extLst>
          </p:cNvPr>
          <p:cNvSpPr>
            <a:spLocks noEditPoints="1"/>
          </p:cNvSpPr>
          <p:nvPr/>
        </p:nvSpPr>
        <p:spPr bwMode="auto">
          <a:xfrm>
            <a:off x="2171700" y="2719388"/>
            <a:ext cx="773113" cy="80963"/>
          </a:xfrm>
          <a:custGeom>
            <a:avLst/>
            <a:gdLst>
              <a:gd name="T0" fmla="*/ 487 w 487"/>
              <a:gd name="T1" fmla="*/ 21 h 51"/>
              <a:gd name="T2" fmla="*/ 487 w 487"/>
              <a:gd name="T3" fmla="*/ 14 h 51"/>
              <a:gd name="T4" fmla="*/ 487 w 487"/>
              <a:gd name="T5" fmla="*/ 9 h 51"/>
              <a:gd name="T6" fmla="*/ 487 w 487"/>
              <a:gd name="T7" fmla="*/ 3 h 51"/>
              <a:gd name="T8" fmla="*/ 483 w 487"/>
              <a:gd name="T9" fmla="*/ 0 h 51"/>
              <a:gd name="T10" fmla="*/ 483 w 487"/>
              <a:gd name="T11" fmla="*/ 6 h 51"/>
              <a:gd name="T12" fmla="*/ 483 w 487"/>
              <a:gd name="T13" fmla="*/ 11 h 51"/>
              <a:gd name="T14" fmla="*/ 483 w 487"/>
              <a:gd name="T15" fmla="*/ 18 h 51"/>
              <a:gd name="T16" fmla="*/ 483 w 487"/>
              <a:gd name="T17" fmla="*/ 24 h 51"/>
              <a:gd name="T18" fmla="*/ 483 w 487"/>
              <a:gd name="T19" fmla="*/ 31 h 51"/>
              <a:gd name="T20" fmla="*/ 483 w 487"/>
              <a:gd name="T21" fmla="*/ 38 h 51"/>
              <a:gd name="T22" fmla="*/ 483 w 487"/>
              <a:gd name="T23" fmla="*/ 44 h 51"/>
              <a:gd name="T24" fmla="*/ 483 w 487"/>
              <a:gd name="T25" fmla="*/ 51 h 51"/>
              <a:gd name="T26" fmla="*/ 487 w 487"/>
              <a:gd name="T27" fmla="*/ 48 h 51"/>
              <a:gd name="T28" fmla="*/ 487 w 487"/>
              <a:gd name="T29" fmla="*/ 41 h 51"/>
              <a:gd name="T30" fmla="*/ 487 w 487"/>
              <a:gd name="T31" fmla="*/ 34 h 51"/>
              <a:gd name="T32" fmla="*/ 487 w 487"/>
              <a:gd name="T33" fmla="*/ 28 h 51"/>
              <a:gd name="T34" fmla="*/ 1 w 487"/>
              <a:gd name="T35" fmla="*/ 0 h 51"/>
              <a:gd name="T36" fmla="*/ 0 w 487"/>
              <a:gd name="T37" fmla="*/ 6 h 51"/>
              <a:gd name="T38" fmla="*/ 0 w 487"/>
              <a:gd name="T39" fmla="*/ 11 h 51"/>
              <a:gd name="T40" fmla="*/ 0 w 487"/>
              <a:gd name="T41" fmla="*/ 18 h 51"/>
              <a:gd name="T42" fmla="*/ 0 w 487"/>
              <a:gd name="T43" fmla="*/ 24 h 51"/>
              <a:gd name="T44" fmla="*/ 0 w 487"/>
              <a:gd name="T45" fmla="*/ 31 h 51"/>
              <a:gd name="T46" fmla="*/ 0 w 487"/>
              <a:gd name="T47" fmla="*/ 38 h 51"/>
              <a:gd name="T48" fmla="*/ 0 w 487"/>
              <a:gd name="T49" fmla="*/ 44 h 51"/>
              <a:gd name="T50" fmla="*/ 0 w 487"/>
              <a:gd name="T51" fmla="*/ 51 h 51"/>
              <a:gd name="T52" fmla="*/ 3 w 487"/>
              <a:gd name="T53" fmla="*/ 48 h 51"/>
              <a:gd name="T54" fmla="*/ 3 w 487"/>
              <a:gd name="T55" fmla="*/ 41 h 51"/>
              <a:gd name="T56" fmla="*/ 3 w 487"/>
              <a:gd name="T57" fmla="*/ 34 h 51"/>
              <a:gd name="T58" fmla="*/ 3 w 487"/>
              <a:gd name="T59" fmla="*/ 28 h 51"/>
              <a:gd name="T60" fmla="*/ 3 w 487"/>
              <a:gd name="T61" fmla="*/ 21 h 51"/>
              <a:gd name="T62" fmla="*/ 3 w 487"/>
              <a:gd name="T63" fmla="*/ 14 h 51"/>
              <a:gd name="T64" fmla="*/ 3 w 487"/>
              <a:gd name="T65" fmla="*/ 9 h 51"/>
              <a:gd name="T66" fmla="*/ 3 w 487"/>
              <a:gd name="T67" fmla="*/ 3 h 51"/>
              <a:gd name="T68" fmla="*/ 1 w 48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7" h="51">
                <a:moveTo>
                  <a:pt x="487" y="24"/>
                </a:moveTo>
                <a:lnTo>
                  <a:pt x="487" y="21"/>
                </a:lnTo>
                <a:lnTo>
                  <a:pt x="487" y="18"/>
                </a:lnTo>
                <a:lnTo>
                  <a:pt x="487" y="14"/>
                </a:lnTo>
                <a:lnTo>
                  <a:pt x="487" y="11"/>
                </a:lnTo>
                <a:lnTo>
                  <a:pt x="487" y="9"/>
                </a:lnTo>
                <a:lnTo>
                  <a:pt x="487" y="6"/>
                </a:lnTo>
                <a:lnTo>
                  <a:pt x="487" y="3"/>
                </a:lnTo>
                <a:lnTo>
                  <a:pt x="487" y="0"/>
                </a:lnTo>
                <a:lnTo>
                  <a:pt x="483" y="0"/>
                </a:lnTo>
                <a:lnTo>
                  <a:pt x="483" y="3"/>
                </a:lnTo>
                <a:lnTo>
                  <a:pt x="483" y="6"/>
                </a:lnTo>
                <a:lnTo>
                  <a:pt x="483" y="9"/>
                </a:lnTo>
                <a:lnTo>
                  <a:pt x="483" y="11"/>
                </a:lnTo>
                <a:lnTo>
                  <a:pt x="483" y="14"/>
                </a:lnTo>
                <a:lnTo>
                  <a:pt x="483" y="18"/>
                </a:lnTo>
                <a:lnTo>
                  <a:pt x="483" y="21"/>
                </a:lnTo>
                <a:lnTo>
                  <a:pt x="483" y="24"/>
                </a:lnTo>
                <a:lnTo>
                  <a:pt x="483" y="28"/>
                </a:lnTo>
                <a:lnTo>
                  <a:pt x="483" y="31"/>
                </a:lnTo>
                <a:lnTo>
                  <a:pt x="483" y="34"/>
                </a:lnTo>
                <a:lnTo>
                  <a:pt x="483" y="38"/>
                </a:lnTo>
                <a:lnTo>
                  <a:pt x="483" y="41"/>
                </a:lnTo>
                <a:lnTo>
                  <a:pt x="483" y="44"/>
                </a:lnTo>
                <a:lnTo>
                  <a:pt x="483" y="48"/>
                </a:lnTo>
                <a:lnTo>
                  <a:pt x="483" y="51"/>
                </a:lnTo>
                <a:lnTo>
                  <a:pt x="487" y="51"/>
                </a:lnTo>
                <a:lnTo>
                  <a:pt x="487" y="48"/>
                </a:lnTo>
                <a:lnTo>
                  <a:pt x="487" y="44"/>
                </a:lnTo>
                <a:lnTo>
                  <a:pt x="487" y="41"/>
                </a:lnTo>
                <a:lnTo>
                  <a:pt x="487" y="38"/>
                </a:lnTo>
                <a:lnTo>
                  <a:pt x="487" y="34"/>
                </a:lnTo>
                <a:lnTo>
                  <a:pt x="487" y="31"/>
                </a:lnTo>
                <a:lnTo>
                  <a:pt x="487" y="28"/>
                </a:lnTo>
                <a:lnTo>
                  <a:pt x="48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05" name="Freeform 1510">
            <a:extLst>
              <a:ext uri="{FF2B5EF4-FFF2-40B4-BE49-F238E27FC236}">
                <a16:creationId xmlns:a16="http://schemas.microsoft.com/office/drawing/2014/main" id="{A266FBC3-65A7-BD73-459C-1BF54BAE22EE}"/>
              </a:ext>
            </a:extLst>
          </p:cNvPr>
          <p:cNvSpPr>
            <a:spLocks noEditPoints="1"/>
          </p:cNvSpPr>
          <p:nvPr/>
        </p:nvSpPr>
        <p:spPr bwMode="auto">
          <a:xfrm>
            <a:off x="2173288" y="2719388"/>
            <a:ext cx="768350" cy="80963"/>
          </a:xfrm>
          <a:custGeom>
            <a:avLst/>
            <a:gdLst>
              <a:gd name="T0" fmla="*/ 484 w 484"/>
              <a:gd name="T1" fmla="*/ 21 h 51"/>
              <a:gd name="T2" fmla="*/ 484 w 484"/>
              <a:gd name="T3" fmla="*/ 14 h 51"/>
              <a:gd name="T4" fmla="*/ 484 w 484"/>
              <a:gd name="T5" fmla="*/ 9 h 51"/>
              <a:gd name="T6" fmla="*/ 484 w 484"/>
              <a:gd name="T7" fmla="*/ 3 h 51"/>
              <a:gd name="T8" fmla="*/ 481 w 484"/>
              <a:gd name="T9" fmla="*/ 0 h 51"/>
              <a:gd name="T10" fmla="*/ 481 w 484"/>
              <a:gd name="T11" fmla="*/ 6 h 51"/>
              <a:gd name="T12" fmla="*/ 481 w 484"/>
              <a:gd name="T13" fmla="*/ 11 h 51"/>
              <a:gd name="T14" fmla="*/ 481 w 484"/>
              <a:gd name="T15" fmla="*/ 18 h 51"/>
              <a:gd name="T16" fmla="*/ 481 w 484"/>
              <a:gd name="T17" fmla="*/ 24 h 51"/>
              <a:gd name="T18" fmla="*/ 481 w 484"/>
              <a:gd name="T19" fmla="*/ 31 h 51"/>
              <a:gd name="T20" fmla="*/ 481 w 484"/>
              <a:gd name="T21" fmla="*/ 38 h 51"/>
              <a:gd name="T22" fmla="*/ 481 w 484"/>
              <a:gd name="T23" fmla="*/ 44 h 51"/>
              <a:gd name="T24" fmla="*/ 481 w 484"/>
              <a:gd name="T25" fmla="*/ 51 h 51"/>
              <a:gd name="T26" fmla="*/ 484 w 484"/>
              <a:gd name="T27" fmla="*/ 48 h 51"/>
              <a:gd name="T28" fmla="*/ 484 w 484"/>
              <a:gd name="T29" fmla="*/ 41 h 51"/>
              <a:gd name="T30" fmla="*/ 484 w 484"/>
              <a:gd name="T31" fmla="*/ 34 h 51"/>
              <a:gd name="T32" fmla="*/ 484 w 484"/>
              <a:gd name="T33" fmla="*/ 28 h 51"/>
              <a:gd name="T34" fmla="*/ 2 w 484"/>
              <a:gd name="T35" fmla="*/ 0 h 51"/>
              <a:gd name="T36" fmla="*/ 0 w 484"/>
              <a:gd name="T37" fmla="*/ 6 h 51"/>
              <a:gd name="T38" fmla="*/ 0 w 484"/>
              <a:gd name="T39" fmla="*/ 11 h 51"/>
              <a:gd name="T40" fmla="*/ 0 w 484"/>
              <a:gd name="T41" fmla="*/ 18 h 51"/>
              <a:gd name="T42" fmla="*/ 0 w 484"/>
              <a:gd name="T43" fmla="*/ 24 h 51"/>
              <a:gd name="T44" fmla="*/ 0 w 484"/>
              <a:gd name="T45" fmla="*/ 31 h 51"/>
              <a:gd name="T46" fmla="*/ 0 w 484"/>
              <a:gd name="T47" fmla="*/ 38 h 51"/>
              <a:gd name="T48" fmla="*/ 0 w 484"/>
              <a:gd name="T49" fmla="*/ 44 h 51"/>
              <a:gd name="T50" fmla="*/ 0 w 484"/>
              <a:gd name="T51" fmla="*/ 51 h 51"/>
              <a:gd name="T52" fmla="*/ 4 w 484"/>
              <a:gd name="T53" fmla="*/ 48 h 51"/>
              <a:gd name="T54" fmla="*/ 4 w 484"/>
              <a:gd name="T55" fmla="*/ 41 h 51"/>
              <a:gd name="T56" fmla="*/ 4 w 484"/>
              <a:gd name="T57" fmla="*/ 34 h 51"/>
              <a:gd name="T58" fmla="*/ 4 w 484"/>
              <a:gd name="T59" fmla="*/ 28 h 51"/>
              <a:gd name="T60" fmla="*/ 4 w 484"/>
              <a:gd name="T61" fmla="*/ 21 h 51"/>
              <a:gd name="T62" fmla="*/ 4 w 484"/>
              <a:gd name="T63" fmla="*/ 14 h 51"/>
              <a:gd name="T64" fmla="*/ 4 w 484"/>
              <a:gd name="T65" fmla="*/ 9 h 51"/>
              <a:gd name="T66" fmla="*/ 4 w 484"/>
              <a:gd name="T67" fmla="*/ 3 h 51"/>
              <a:gd name="T68" fmla="*/ 2 w 48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4" h="51">
                <a:moveTo>
                  <a:pt x="484" y="24"/>
                </a:moveTo>
                <a:lnTo>
                  <a:pt x="484" y="21"/>
                </a:lnTo>
                <a:lnTo>
                  <a:pt x="484" y="18"/>
                </a:lnTo>
                <a:lnTo>
                  <a:pt x="484" y="14"/>
                </a:lnTo>
                <a:lnTo>
                  <a:pt x="484" y="11"/>
                </a:lnTo>
                <a:lnTo>
                  <a:pt x="484" y="9"/>
                </a:lnTo>
                <a:lnTo>
                  <a:pt x="484" y="6"/>
                </a:lnTo>
                <a:lnTo>
                  <a:pt x="484" y="3"/>
                </a:lnTo>
                <a:lnTo>
                  <a:pt x="484" y="0"/>
                </a:lnTo>
                <a:lnTo>
                  <a:pt x="481" y="0"/>
                </a:lnTo>
                <a:lnTo>
                  <a:pt x="481" y="3"/>
                </a:lnTo>
                <a:lnTo>
                  <a:pt x="481" y="6"/>
                </a:lnTo>
                <a:lnTo>
                  <a:pt x="481" y="9"/>
                </a:lnTo>
                <a:lnTo>
                  <a:pt x="481" y="11"/>
                </a:lnTo>
                <a:lnTo>
                  <a:pt x="481" y="14"/>
                </a:lnTo>
                <a:lnTo>
                  <a:pt x="481" y="18"/>
                </a:lnTo>
                <a:lnTo>
                  <a:pt x="481" y="21"/>
                </a:lnTo>
                <a:lnTo>
                  <a:pt x="481" y="24"/>
                </a:lnTo>
                <a:lnTo>
                  <a:pt x="481" y="28"/>
                </a:lnTo>
                <a:lnTo>
                  <a:pt x="481" y="31"/>
                </a:lnTo>
                <a:lnTo>
                  <a:pt x="481" y="34"/>
                </a:lnTo>
                <a:lnTo>
                  <a:pt x="481" y="38"/>
                </a:lnTo>
                <a:lnTo>
                  <a:pt x="481" y="41"/>
                </a:lnTo>
                <a:lnTo>
                  <a:pt x="481" y="44"/>
                </a:lnTo>
                <a:lnTo>
                  <a:pt x="481" y="48"/>
                </a:lnTo>
                <a:lnTo>
                  <a:pt x="481" y="51"/>
                </a:lnTo>
                <a:lnTo>
                  <a:pt x="484" y="51"/>
                </a:lnTo>
                <a:lnTo>
                  <a:pt x="484" y="48"/>
                </a:lnTo>
                <a:lnTo>
                  <a:pt x="484" y="44"/>
                </a:lnTo>
                <a:lnTo>
                  <a:pt x="484" y="41"/>
                </a:lnTo>
                <a:lnTo>
                  <a:pt x="484" y="38"/>
                </a:lnTo>
                <a:lnTo>
                  <a:pt x="484" y="34"/>
                </a:lnTo>
                <a:lnTo>
                  <a:pt x="484" y="31"/>
                </a:lnTo>
                <a:lnTo>
                  <a:pt x="484" y="28"/>
                </a:lnTo>
                <a:lnTo>
                  <a:pt x="48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06" name="Freeform 1511">
            <a:extLst>
              <a:ext uri="{FF2B5EF4-FFF2-40B4-BE49-F238E27FC236}">
                <a16:creationId xmlns:a16="http://schemas.microsoft.com/office/drawing/2014/main" id="{C2E4F87E-3195-93A7-4F95-67F0B53DCCFC}"/>
              </a:ext>
            </a:extLst>
          </p:cNvPr>
          <p:cNvSpPr>
            <a:spLocks noEditPoints="1"/>
          </p:cNvSpPr>
          <p:nvPr/>
        </p:nvSpPr>
        <p:spPr bwMode="auto">
          <a:xfrm>
            <a:off x="2176463" y="2719388"/>
            <a:ext cx="762000" cy="80963"/>
          </a:xfrm>
          <a:custGeom>
            <a:avLst/>
            <a:gdLst>
              <a:gd name="T0" fmla="*/ 480 w 480"/>
              <a:gd name="T1" fmla="*/ 21 h 51"/>
              <a:gd name="T2" fmla="*/ 480 w 480"/>
              <a:gd name="T3" fmla="*/ 14 h 51"/>
              <a:gd name="T4" fmla="*/ 480 w 480"/>
              <a:gd name="T5" fmla="*/ 9 h 51"/>
              <a:gd name="T6" fmla="*/ 480 w 480"/>
              <a:gd name="T7" fmla="*/ 3 h 51"/>
              <a:gd name="T8" fmla="*/ 477 w 480"/>
              <a:gd name="T9" fmla="*/ 0 h 51"/>
              <a:gd name="T10" fmla="*/ 477 w 480"/>
              <a:gd name="T11" fmla="*/ 6 h 51"/>
              <a:gd name="T12" fmla="*/ 477 w 480"/>
              <a:gd name="T13" fmla="*/ 11 h 51"/>
              <a:gd name="T14" fmla="*/ 477 w 480"/>
              <a:gd name="T15" fmla="*/ 18 h 51"/>
              <a:gd name="T16" fmla="*/ 477 w 480"/>
              <a:gd name="T17" fmla="*/ 24 h 51"/>
              <a:gd name="T18" fmla="*/ 477 w 480"/>
              <a:gd name="T19" fmla="*/ 31 h 51"/>
              <a:gd name="T20" fmla="*/ 477 w 480"/>
              <a:gd name="T21" fmla="*/ 38 h 51"/>
              <a:gd name="T22" fmla="*/ 477 w 480"/>
              <a:gd name="T23" fmla="*/ 44 h 51"/>
              <a:gd name="T24" fmla="*/ 477 w 480"/>
              <a:gd name="T25" fmla="*/ 51 h 51"/>
              <a:gd name="T26" fmla="*/ 480 w 480"/>
              <a:gd name="T27" fmla="*/ 48 h 51"/>
              <a:gd name="T28" fmla="*/ 480 w 480"/>
              <a:gd name="T29" fmla="*/ 41 h 51"/>
              <a:gd name="T30" fmla="*/ 480 w 480"/>
              <a:gd name="T31" fmla="*/ 34 h 51"/>
              <a:gd name="T32" fmla="*/ 480 w 480"/>
              <a:gd name="T33" fmla="*/ 28 h 51"/>
              <a:gd name="T34" fmla="*/ 2 w 480"/>
              <a:gd name="T35" fmla="*/ 0 h 51"/>
              <a:gd name="T36" fmla="*/ 0 w 480"/>
              <a:gd name="T37" fmla="*/ 6 h 51"/>
              <a:gd name="T38" fmla="*/ 0 w 480"/>
              <a:gd name="T39" fmla="*/ 11 h 51"/>
              <a:gd name="T40" fmla="*/ 0 w 480"/>
              <a:gd name="T41" fmla="*/ 18 h 51"/>
              <a:gd name="T42" fmla="*/ 0 w 480"/>
              <a:gd name="T43" fmla="*/ 24 h 51"/>
              <a:gd name="T44" fmla="*/ 0 w 480"/>
              <a:gd name="T45" fmla="*/ 31 h 51"/>
              <a:gd name="T46" fmla="*/ 0 w 480"/>
              <a:gd name="T47" fmla="*/ 38 h 51"/>
              <a:gd name="T48" fmla="*/ 0 w 480"/>
              <a:gd name="T49" fmla="*/ 44 h 51"/>
              <a:gd name="T50" fmla="*/ 0 w 480"/>
              <a:gd name="T51" fmla="*/ 51 h 51"/>
              <a:gd name="T52" fmla="*/ 3 w 480"/>
              <a:gd name="T53" fmla="*/ 48 h 51"/>
              <a:gd name="T54" fmla="*/ 3 w 480"/>
              <a:gd name="T55" fmla="*/ 41 h 51"/>
              <a:gd name="T56" fmla="*/ 3 w 480"/>
              <a:gd name="T57" fmla="*/ 34 h 51"/>
              <a:gd name="T58" fmla="*/ 3 w 480"/>
              <a:gd name="T59" fmla="*/ 28 h 51"/>
              <a:gd name="T60" fmla="*/ 3 w 480"/>
              <a:gd name="T61" fmla="*/ 21 h 51"/>
              <a:gd name="T62" fmla="*/ 3 w 480"/>
              <a:gd name="T63" fmla="*/ 14 h 51"/>
              <a:gd name="T64" fmla="*/ 3 w 480"/>
              <a:gd name="T65" fmla="*/ 9 h 51"/>
              <a:gd name="T66" fmla="*/ 3 w 480"/>
              <a:gd name="T67" fmla="*/ 3 h 51"/>
              <a:gd name="T68" fmla="*/ 2 w 48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0" h="51">
                <a:moveTo>
                  <a:pt x="480" y="24"/>
                </a:moveTo>
                <a:lnTo>
                  <a:pt x="480" y="21"/>
                </a:lnTo>
                <a:lnTo>
                  <a:pt x="480" y="18"/>
                </a:lnTo>
                <a:lnTo>
                  <a:pt x="480" y="14"/>
                </a:lnTo>
                <a:lnTo>
                  <a:pt x="480" y="11"/>
                </a:lnTo>
                <a:lnTo>
                  <a:pt x="480" y="9"/>
                </a:lnTo>
                <a:lnTo>
                  <a:pt x="480" y="6"/>
                </a:lnTo>
                <a:lnTo>
                  <a:pt x="480" y="3"/>
                </a:lnTo>
                <a:lnTo>
                  <a:pt x="480" y="0"/>
                </a:lnTo>
                <a:lnTo>
                  <a:pt x="477" y="0"/>
                </a:lnTo>
                <a:lnTo>
                  <a:pt x="477" y="3"/>
                </a:lnTo>
                <a:lnTo>
                  <a:pt x="477" y="6"/>
                </a:lnTo>
                <a:lnTo>
                  <a:pt x="477" y="9"/>
                </a:lnTo>
                <a:lnTo>
                  <a:pt x="477" y="11"/>
                </a:lnTo>
                <a:lnTo>
                  <a:pt x="477" y="14"/>
                </a:lnTo>
                <a:lnTo>
                  <a:pt x="477" y="18"/>
                </a:lnTo>
                <a:lnTo>
                  <a:pt x="477" y="21"/>
                </a:lnTo>
                <a:lnTo>
                  <a:pt x="477" y="24"/>
                </a:lnTo>
                <a:lnTo>
                  <a:pt x="477" y="28"/>
                </a:lnTo>
                <a:lnTo>
                  <a:pt x="477" y="31"/>
                </a:lnTo>
                <a:lnTo>
                  <a:pt x="477" y="34"/>
                </a:lnTo>
                <a:lnTo>
                  <a:pt x="477" y="38"/>
                </a:lnTo>
                <a:lnTo>
                  <a:pt x="477" y="41"/>
                </a:lnTo>
                <a:lnTo>
                  <a:pt x="477" y="44"/>
                </a:lnTo>
                <a:lnTo>
                  <a:pt x="477" y="48"/>
                </a:lnTo>
                <a:lnTo>
                  <a:pt x="477" y="51"/>
                </a:lnTo>
                <a:lnTo>
                  <a:pt x="480" y="51"/>
                </a:lnTo>
                <a:lnTo>
                  <a:pt x="480" y="48"/>
                </a:lnTo>
                <a:lnTo>
                  <a:pt x="480" y="44"/>
                </a:lnTo>
                <a:lnTo>
                  <a:pt x="480" y="41"/>
                </a:lnTo>
                <a:lnTo>
                  <a:pt x="480" y="38"/>
                </a:lnTo>
                <a:lnTo>
                  <a:pt x="480" y="34"/>
                </a:lnTo>
                <a:lnTo>
                  <a:pt x="480" y="31"/>
                </a:lnTo>
                <a:lnTo>
                  <a:pt x="480" y="28"/>
                </a:lnTo>
                <a:lnTo>
                  <a:pt x="48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07" name="Freeform 1512">
            <a:extLst>
              <a:ext uri="{FF2B5EF4-FFF2-40B4-BE49-F238E27FC236}">
                <a16:creationId xmlns:a16="http://schemas.microsoft.com/office/drawing/2014/main" id="{AB2F90D6-EE28-888B-377B-D1F6F74383DC}"/>
              </a:ext>
            </a:extLst>
          </p:cNvPr>
          <p:cNvSpPr>
            <a:spLocks noEditPoints="1"/>
          </p:cNvSpPr>
          <p:nvPr/>
        </p:nvSpPr>
        <p:spPr bwMode="auto">
          <a:xfrm>
            <a:off x="2179638" y="2719388"/>
            <a:ext cx="757238" cy="80963"/>
          </a:xfrm>
          <a:custGeom>
            <a:avLst/>
            <a:gdLst>
              <a:gd name="T0" fmla="*/ 477 w 477"/>
              <a:gd name="T1" fmla="*/ 21 h 51"/>
              <a:gd name="T2" fmla="*/ 477 w 477"/>
              <a:gd name="T3" fmla="*/ 14 h 51"/>
              <a:gd name="T4" fmla="*/ 477 w 477"/>
              <a:gd name="T5" fmla="*/ 9 h 51"/>
              <a:gd name="T6" fmla="*/ 477 w 477"/>
              <a:gd name="T7" fmla="*/ 3 h 51"/>
              <a:gd name="T8" fmla="*/ 473 w 477"/>
              <a:gd name="T9" fmla="*/ 0 h 51"/>
              <a:gd name="T10" fmla="*/ 473 w 477"/>
              <a:gd name="T11" fmla="*/ 6 h 51"/>
              <a:gd name="T12" fmla="*/ 473 w 477"/>
              <a:gd name="T13" fmla="*/ 11 h 51"/>
              <a:gd name="T14" fmla="*/ 473 w 477"/>
              <a:gd name="T15" fmla="*/ 18 h 51"/>
              <a:gd name="T16" fmla="*/ 475 w 477"/>
              <a:gd name="T17" fmla="*/ 24 h 51"/>
              <a:gd name="T18" fmla="*/ 473 w 477"/>
              <a:gd name="T19" fmla="*/ 31 h 51"/>
              <a:gd name="T20" fmla="*/ 473 w 477"/>
              <a:gd name="T21" fmla="*/ 38 h 51"/>
              <a:gd name="T22" fmla="*/ 473 w 477"/>
              <a:gd name="T23" fmla="*/ 44 h 51"/>
              <a:gd name="T24" fmla="*/ 473 w 477"/>
              <a:gd name="T25" fmla="*/ 51 h 51"/>
              <a:gd name="T26" fmla="*/ 477 w 477"/>
              <a:gd name="T27" fmla="*/ 48 h 51"/>
              <a:gd name="T28" fmla="*/ 477 w 477"/>
              <a:gd name="T29" fmla="*/ 41 h 51"/>
              <a:gd name="T30" fmla="*/ 477 w 477"/>
              <a:gd name="T31" fmla="*/ 34 h 51"/>
              <a:gd name="T32" fmla="*/ 477 w 477"/>
              <a:gd name="T33" fmla="*/ 28 h 51"/>
              <a:gd name="T34" fmla="*/ 1 w 477"/>
              <a:gd name="T35" fmla="*/ 0 h 51"/>
              <a:gd name="T36" fmla="*/ 0 w 477"/>
              <a:gd name="T37" fmla="*/ 6 h 51"/>
              <a:gd name="T38" fmla="*/ 0 w 477"/>
              <a:gd name="T39" fmla="*/ 11 h 51"/>
              <a:gd name="T40" fmla="*/ 0 w 477"/>
              <a:gd name="T41" fmla="*/ 18 h 51"/>
              <a:gd name="T42" fmla="*/ 0 w 477"/>
              <a:gd name="T43" fmla="*/ 24 h 51"/>
              <a:gd name="T44" fmla="*/ 0 w 477"/>
              <a:gd name="T45" fmla="*/ 31 h 51"/>
              <a:gd name="T46" fmla="*/ 0 w 477"/>
              <a:gd name="T47" fmla="*/ 38 h 51"/>
              <a:gd name="T48" fmla="*/ 0 w 477"/>
              <a:gd name="T49" fmla="*/ 44 h 51"/>
              <a:gd name="T50" fmla="*/ 0 w 477"/>
              <a:gd name="T51" fmla="*/ 51 h 51"/>
              <a:gd name="T52" fmla="*/ 3 w 477"/>
              <a:gd name="T53" fmla="*/ 48 h 51"/>
              <a:gd name="T54" fmla="*/ 3 w 477"/>
              <a:gd name="T55" fmla="*/ 41 h 51"/>
              <a:gd name="T56" fmla="*/ 3 w 477"/>
              <a:gd name="T57" fmla="*/ 34 h 51"/>
              <a:gd name="T58" fmla="*/ 3 w 477"/>
              <a:gd name="T59" fmla="*/ 28 h 51"/>
              <a:gd name="T60" fmla="*/ 3 w 477"/>
              <a:gd name="T61" fmla="*/ 21 h 51"/>
              <a:gd name="T62" fmla="*/ 3 w 477"/>
              <a:gd name="T63" fmla="*/ 14 h 51"/>
              <a:gd name="T64" fmla="*/ 3 w 477"/>
              <a:gd name="T65" fmla="*/ 9 h 51"/>
              <a:gd name="T66" fmla="*/ 3 w 477"/>
              <a:gd name="T67" fmla="*/ 3 h 51"/>
              <a:gd name="T68" fmla="*/ 1 w 47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7" h="51">
                <a:moveTo>
                  <a:pt x="477" y="24"/>
                </a:moveTo>
                <a:lnTo>
                  <a:pt x="477" y="21"/>
                </a:lnTo>
                <a:lnTo>
                  <a:pt x="477" y="18"/>
                </a:lnTo>
                <a:lnTo>
                  <a:pt x="477" y="14"/>
                </a:lnTo>
                <a:lnTo>
                  <a:pt x="477" y="11"/>
                </a:lnTo>
                <a:lnTo>
                  <a:pt x="477" y="9"/>
                </a:lnTo>
                <a:lnTo>
                  <a:pt x="477" y="6"/>
                </a:lnTo>
                <a:lnTo>
                  <a:pt x="477" y="3"/>
                </a:lnTo>
                <a:lnTo>
                  <a:pt x="477" y="0"/>
                </a:lnTo>
                <a:lnTo>
                  <a:pt x="473" y="0"/>
                </a:lnTo>
                <a:lnTo>
                  <a:pt x="473" y="3"/>
                </a:lnTo>
                <a:lnTo>
                  <a:pt x="473" y="6"/>
                </a:lnTo>
                <a:lnTo>
                  <a:pt x="473" y="9"/>
                </a:lnTo>
                <a:lnTo>
                  <a:pt x="473" y="11"/>
                </a:lnTo>
                <a:lnTo>
                  <a:pt x="473" y="14"/>
                </a:lnTo>
                <a:lnTo>
                  <a:pt x="473" y="18"/>
                </a:lnTo>
                <a:lnTo>
                  <a:pt x="473" y="21"/>
                </a:lnTo>
                <a:lnTo>
                  <a:pt x="475" y="24"/>
                </a:lnTo>
                <a:lnTo>
                  <a:pt x="473" y="28"/>
                </a:lnTo>
                <a:lnTo>
                  <a:pt x="473" y="31"/>
                </a:lnTo>
                <a:lnTo>
                  <a:pt x="473" y="34"/>
                </a:lnTo>
                <a:lnTo>
                  <a:pt x="473" y="38"/>
                </a:lnTo>
                <a:lnTo>
                  <a:pt x="473" y="41"/>
                </a:lnTo>
                <a:lnTo>
                  <a:pt x="473" y="44"/>
                </a:lnTo>
                <a:lnTo>
                  <a:pt x="473" y="48"/>
                </a:lnTo>
                <a:lnTo>
                  <a:pt x="473" y="51"/>
                </a:lnTo>
                <a:lnTo>
                  <a:pt x="477" y="51"/>
                </a:lnTo>
                <a:lnTo>
                  <a:pt x="477" y="48"/>
                </a:lnTo>
                <a:lnTo>
                  <a:pt x="477" y="44"/>
                </a:lnTo>
                <a:lnTo>
                  <a:pt x="477" y="41"/>
                </a:lnTo>
                <a:lnTo>
                  <a:pt x="477" y="38"/>
                </a:lnTo>
                <a:lnTo>
                  <a:pt x="477" y="34"/>
                </a:lnTo>
                <a:lnTo>
                  <a:pt x="477" y="31"/>
                </a:lnTo>
                <a:lnTo>
                  <a:pt x="477" y="28"/>
                </a:lnTo>
                <a:lnTo>
                  <a:pt x="47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08" name="Freeform 1513">
            <a:extLst>
              <a:ext uri="{FF2B5EF4-FFF2-40B4-BE49-F238E27FC236}">
                <a16:creationId xmlns:a16="http://schemas.microsoft.com/office/drawing/2014/main" id="{8A44FC98-D7C4-8C2B-BDCA-7C72CDDAA301}"/>
              </a:ext>
            </a:extLst>
          </p:cNvPr>
          <p:cNvSpPr>
            <a:spLocks noEditPoints="1"/>
          </p:cNvSpPr>
          <p:nvPr/>
        </p:nvSpPr>
        <p:spPr bwMode="auto">
          <a:xfrm>
            <a:off x="2181225" y="2719388"/>
            <a:ext cx="752475" cy="80963"/>
          </a:xfrm>
          <a:custGeom>
            <a:avLst/>
            <a:gdLst>
              <a:gd name="T0" fmla="*/ 474 w 474"/>
              <a:gd name="T1" fmla="*/ 21 h 51"/>
              <a:gd name="T2" fmla="*/ 474 w 474"/>
              <a:gd name="T3" fmla="*/ 14 h 51"/>
              <a:gd name="T4" fmla="*/ 474 w 474"/>
              <a:gd name="T5" fmla="*/ 9 h 51"/>
              <a:gd name="T6" fmla="*/ 474 w 474"/>
              <a:gd name="T7" fmla="*/ 3 h 51"/>
              <a:gd name="T8" fmla="*/ 471 w 474"/>
              <a:gd name="T9" fmla="*/ 0 h 51"/>
              <a:gd name="T10" fmla="*/ 471 w 474"/>
              <a:gd name="T11" fmla="*/ 6 h 51"/>
              <a:gd name="T12" fmla="*/ 471 w 474"/>
              <a:gd name="T13" fmla="*/ 11 h 51"/>
              <a:gd name="T14" fmla="*/ 471 w 474"/>
              <a:gd name="T15" fmla="*/ 18 h 51"/>
              <a:gd name="T16" fmla="*/ 472 w 474"/>
              <a:gd name="T17" fmla="*/ 24 h 51"/>
              <a:gd name="T18" fmla="*/ 471 w 474"/>
              <a:gd name="T19" fmla="*/ 31 h 51"/>
              <a:gd name="T20" fmla="*/ 471 w 474"/>
              <a:gd name="T21" fmla="*/ 38 h 51"/>
              <a:gd name="T22" fmla="*/ 471 w 474"/>
              <a:gd name="T23" fmla="*/ 44 h 51"/>
              <a:gd name="T24" fmla="*/ 471 w 474"/>
              <a:gd name="T25" fmla="*/ 51 h 51"/>
              <a:gd name="T26" fmla="*/ 474 w 474"/>
              <a:gd name="T27" fmla="*/ 48 h 51"/>
              <a:gd name="T28" fmla="*/ 474 w 474"/>
              <a:gd name="T29" fmla="*/ 41 h 51"/>
              <a:gd name="T30" fmla="*/ 474 w 474"/>
              <a:gd name="T31" fmla="*/ 34 h 51"/>
              <a:gd name="T32" fmla="*/ 474 w 474"/>
              <a:gd name="T33" fmla="*/ 28 h 51"/>
              <a:gd name="T34" fmla="*/ 2 w 474"/>
              <a:gd name="T35" fmla="*/ 0 h 51"/>
              <a:gd name="T36" fmla="*/ 0 w 474"/>
              <a:gd name="T37" fmla="*/ 6 h 51"/>
              <a:gd name="T38" fmla="*/ 0 w 474"/>
              <a:gd name="T39" fmla="*/ 11 h 51"/>
              <a:gd name="T40" fmla="*/ 0 w 474"/>
              <a:gd name="T41" fmla="*/ 18 h 51"/>
              <a:gd name="T42" fmla="*/ 0 w 474"/>
              <a:gd name="T43" fmla="*/ 24 h 51"/>
              <a:gd name="T44" fmla="*/ 0 w 474"/>
              <a:gd name="T45" fmla="*/ 31 h 51"/>
              <a:gd name="T46" fmla="*/ 0 w 474"/>
              <a:gd name="T47" fmla="*/ 38 h 51"/>
              <a:gd name="T48" fmla="*/ 0 w 474"/>
              <a:gd name="T49" fmla="*/ 44 h 51"/>
              <a:gd name="T50" fmla="*/ 0 w 474"/>
              <a:gd name="T51" fmla="*/ 51 h 51"/>
              <a:gd name="T52" fmla="*/ 4 w 474"/>
              <a:gd name="T53" fmla="*/ 48 h 51"/>
              <a:gd name="T54" fmla="*/ 4 w 474"/>
              <a:gd name="T55" fmla="*/ 41 h 51"/>
              <a:gd name="T56" fmla="*/ 4 w 474"/>
              <a:gd name="T57" fmla="*/ 34 h 51"/>
              <a:gd name="T58" fmla="*/ 4 w 474"/>
              <a:gd name="T59" fmla="*/ 28 h 51"/>
              <a:gd name="T60" fmla="*/ 4 w 474"/>
              <a:gd name="T61" fmla="*/ 21 h 51"/>
              <a:gd name="T62" fmla="*/ 4 w 474"/>
              <a:gd name="T63" fmla="*/ 14 h 51"/>
              <a:gd name="T64" fmla="*/ 4 w 474"/>
              <a:gd name="T65" fmla="*/ 9 h 51"/>
              <a:gd name="T66" fmla="*/ 4 w 474"/>
              <a:gd name="T67" fmla="*/ 3 h 51"/>
              <a:gd name="T68" fmla="*/ 2 w 47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4" h="51">
                <a:moveTo>
                  <a:pt x="474" y="24"/>
                </a:moveTo>
                <a:lnTo>
                  <a:pt x="474" y="21"/>
                </a:lnTo>
                <a:lnTo>
                  <a:pt x="474" y="18"/>
                </a:lnTo>
                <a:lnTo>
                  <a:pt x="474" y="14"/>
                </a:lnTo>
                <a:lnTo>
                  <a:pt x="474" y="11"/>
                </a:lnTo>
                <a:lnTo>
                  <a:pt x="474" y="9"/>
                </a:lnTo>
                <a:lnTo>
                  <a:pt x="474" y="6"/>
                </a:lnTo>
                <a:lnTo>
                  <a:pt x="474" y="3"/>
                </a:lnTo>
                <a:lnTo>
                  <a:pt x="474" y="0"/>
                </a:lnTo>
                <a:lnTo>
                  <a:pt x="471" y="0"/>
                </a:lnTo>
                <a:lnTo>
                  <a:pt x="471" y="3"/>
                </a:lnTo>
                <a:lnTo>
                  <a:pt x="471" y="6"/>
                </a:lnTo>
                <a:lnTo>
                  <a:pt x="471" y="9"/>
                </a:lnTo>
                <a:lnTo>
                  <a:pt x="471" y="11"/>
                </a:lnTo>
                <a:lnTo>
                  <a:pt x="471" y="14"/>
                </a:lnTo>
                <a:lnTo>
                  <a:pt x="471" y="18"/>
                </a:lnTo>
                <a:lnTo>
                  <a:pt x="471" y="21"/>
                </a:lnTo>
                <a:lnTo>
                  <a:pt x="472" y="24"/>
                </a:lnTo>
                <a:lnTo>
                  <a:pt x="471" y="28"/>
                </a:lnTo>
                <a:lnTo>
                  <a:pt x="471" y="31"/>
                </a:lnTo>
                <a:lnTo>
                  <a:pt x="471" y="34"/>
                </a:lnTo>
                <a:lnTo>
                  <a:pt x="471" y="38"/>
                </a:lnTo>
                <a:lnTo>
                  <a:pt x="471" y="41"/>
                </a:lnTo>
                <a:lnTo>
                  <a:pt x="471" y="44"/>
                </a:lnTo>
                <a:lnTo>
                  <a:pt x="471" y="48"/>
                </a:lnTo>
                <a:lnTo>
                  <a:pt x="471" y="51"/>
                </a:lnTo>
                <a:lnTo>
                  <a:pt x="474" y="51"/>
                </a:lnTo>
                <a:lnTo>
                  <a:pt x="474" y="48"/>
                </a:lnTo>
                <a:lnTo>
                  <a:pt x="474" y="44"/>
                </a:lnTo>
                <a:lnTo>
                  <a:pt x="474" y="41"/>
                </a:lnTo>
                <a:lnTo>
                  <a:pt x="474" y="38"/>
                </a:lnTo>
                <a:lnTo>
                  <a:pt x="474" y="34"/>
                </a:lnTo>
                <a:lnTo>
                  <a:pt x="474" y="31"/>
                </a:lnTo>
                <a:lnTo>
                  <a:pt x="474" y="28"/>
                </a:lnTo>
                <a:lnTo>
                  <a:pt x="47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09" name="Freeform 1514">
            <a:extLst>
              <a:ext uri="{FF2B5EF4-FFF2-40B4-BE49-F238E27FC236}">
                <a16:creationId xmlns:a16="http://schemas.microsoft.com/office/drawing/2014/main" id="{30B12088-2A4F-5ED2-F928-59BC2DDAC7B8}"/>
              </a:ext>
            </a:extLst>
          </p:cNvPr>
          <p:cNvSpPr>
            <a:spLocks noEditPoints="1"/>
          </p:cNvSpPr>
          <p:nvPr/>
        </p:nvSpPr>
        <p:spPr bwMode="auto">
          <a:xfrm>
            <a:off x="2184400" y="2719388"/>
            <a:ext cx="749300" cy="80963"/>
          </a:xfrm>
          <a:custGeom>
            <a:avLst/>
            <a:gdLst>
              <a:gd name="T0" fmla="*/ 470 w 472"/>
              <a:gd name="T1" fmla="*/ 21 h 51"/>
              <a:gd name="T2" fmla="*/ 470 w 472"/>
              <a:gd name="T3" fmla="*/ 14 h 51"/>
              <a:gd name="T4" fmla="*/ 470 w 472"/>
              <a:gd name="T5" fmla="*/ 9 h 51"/>
              <a:gd name="T6" fmla="*/ 470 w 472"/>
              <a:gd name="T7" fmla="*/ 3 h 51"/>
              <a:gd name="T8" fmla="*/ 467 w 472"/>
              <a:gd name="T9" fmla="*/ 0 h 51"/>
              <a:gd name="T10" fmla="*/ 467 w 472"/>
              <a:gd name="T11" fmla="*/ 6 h 51"/>
              <a:gd name="T12" fmla="*/ 467 w 472"/>
              <a:gd name="T13" fmla="*/ 11 h 51"/>
              <a:gd name="T14" fmla="*/ 467 w 472"/>
              <a:gd name="T15" fmla="*/ 18 h 51"/>
              <a:gd name="T16" fmla="*/ 469 w 472"/>
              <a:gd name="T17" fmla="*/ 24 h 51"/>
              <a:gd name="T18" fmla="*/ 467 w 472"/>
              <a:gd name="T19" fmla="*/ 31 h 51"/>
              <a:gd name="T20" fmla="*/ 467 w 472"/>
              <a:gd name="T21" fmla="*/ 38 h 51"/>
              <a:gd name="T22" fmla="*/ 467 w 472"/>
              <a:gd name="T23" fmla="*/ 44 h 51"/>
              <a:gd name="T24" fmla="*/ 467 w 472"/>
              <a:gd name="T25" fmla="*/ 51 h 51"/>
              <a:gd name="T26" fmla="*/ 470 w 472"/>
              <a:gd name="T27" fmla="*/ 48 h 51"/>
              <a:gd name="T28" fmla="*/ 470 w 472"/>
              <a:gd name="T29" fmla="*/ 41 h 51"/>
              <a:gd name="T30" fmla="*/ 470 w 472"/>
              <a:gd name="T31" fmla="*/ 34 h 51"/>
              <a:gd name="T32" fmla="*/ 470 w 472"/>
              <a:gd name="T33" fmla="*/ 28 h 51"/>
              <a:gd name="T34" fmla="*/ 2 w 472"/>
              <a:gd name="T35" fmla="*/ 0 h 51"/>
              <a:gd name="T36" fmla="*/ 0 w 472"/>
              <a:gd name="T37" fmla="*/ 6 h 51"/>
              <a:gd name="T38" fmla="*/ 0 w 472"/>
              <a:gd name="T39" fmla="*/ 11 h 51"/>
              <a:gd name="T40" fmla="*/ 0 w 472"/>
              <a:gd name="T41" fmla="*/ 18 h 51"/>
              <a:gd name="T42" fmla="*/ 0 w 472"/>
              <a:gd name="T43" fmla="*/ 24 h 51"/>
              <a:gd name="T44" fmla="*/ 0 w 472"/>
              <a:gd name="T45" fmla="*/ 31 h 51"/>
              <a:gd name="T46" fmla="*/ 0 w 472"/>
              <a:gd name="T47" fmla="*/ 38 h 51"/>
              <a:gd name="T48" fmla="*/ 0 w 472"/>
              <a:gd name="T49" fmla="*/ 44 h 51"/>
              <a:gd name="T50" fmla="*/ 0 w 472"/>
              <a:gd name="T51" fmla="*/ 51 h 51"/>
              <a:gd name="T52" fmla="*/ 3 w 472"/>
              <a:gd name="T53" fmla="*/ 48 h 51"/>
              <a:gd name="T54" fmla="*/ 3 w 472"/>
              <a:gd name="T55" fmla="*/ 41 h 51"/>
              <a:gd name="T56" fmla="*/ 3 w 472"/>
              <a:gd name="T57" fmla="*/ 34 h 51"/>
              <a:gd name="T58" fmla="*/ 3 w 472"/>
              <a:gd name="T59" fmla="*/ 28 h 51"/>
              <a:gd name="T60" fmla="*/ 3 w 472"/>
              <a:gd name="T61" fmla="*/ 21 h 51"/>
              <a:gd name="T62" fmla="*/ 3 w 472"/>
              <a:gd name="T63" fmla="*/ 14 h 51"/>
              <a:gd name="T64" fmla="*/ 3 w 472"/>
              <a:gd name="T65" fmla="*/ 9 h 51"/>
              <a:gd name="T66" fmla="*/ 3 w 472"/>
              <a:gd name="T67" fmla="*/ 3 h 51"/>
              <a:gd name="T68" fmla="*/ 2 w 4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2" h="51">
                <a:moveTo>
                  <a:pt x="472" y="24"/>
                </a:moveTo>
                <a:lnTo>
                  <a:pt x="470" y="21"/>
                </a:lnTo>
                <a:lnTo>
                  <a:pt x="470" y="18"/>
                </a:lnTo>
                <a:lnTo>
                  <a:pt x="470" y="14"/>
                </a:lnTo>
                <a:lnTo>
                  <a:pt x="470" y="11"/>
                </a:lnTo>
                <a:lnTo>
                  <a:pt x="470" y="9"/>
                </a:lnTo>
                <a:lnTo>
                  <a:pt x="470" y="6"/>
                </a:lnTo>
                <a:lnTo>
                  <a:pt x="470" y="3"/>
                </a:lnTo>
                <a:lnTo>
                  <a:pt x="470" y="0"/>
                </a:lnTo>
                <a:lnTo>
                  <a:pt x="467" y="0"/>
                </a:lnTo>
                <a:lnTo>
                  <a:pt x="467" y="3"/>
                </a:lnTo>
                <a:lnTo>
                  <a:pt x="467" y="6"/>
                </a:lnTo>
                <a:lnTo>
                  <a:pt x="467" y="9"/>
                </a:lnTo>
                <a:lnTo>
                  <a:pt x="467" y="11"/>
                </a:lnTo>
                <a:lnTo>
                  <a:pt x="467" y="14"/>
                </a:lnTo>
                <a:lnTo>
                  <a:pt x="467" y="18"/>
                </a:lnTo>
                <a:lnTo>
                  <a:pt x="467" y="21"/>
                </a:lnTo>
                <a:lnTo>
                  <a:pt x="469" y="24"/>
                </a:lnTo>
                <a:lnTo>
                  <a:pt x="467" y="28"/>
                </a:lnTo>
                <a:lnTo>
                  <a:pt x="467" y="31"/>
                </a:lnTo>
                <a:lnTo>
                  <a:pt x="467" y="34"/>
                </a:lnTo>
                <a:lnTo>
                  <a:pt x="467" y="38"/>
                </a:lnTo>
                <a:lnTo>
                  <a:pt x="467" y="41"/>
                </a:lnTo>
                <a:lnTo>
                  <a:pt x="467" y="44"/>
                </a:lnTo>
                <a:lnTo>
                  <a:pt x="467" y="48"/>
                </a:lnTo>
                <a:lnTo>
                  <a:pt x="467" y="51"/>
                </a:lnTo>
                <a:lnTo>
                  <a:pt x="470" y="51"/>
                </a:lnTo>
                <a:lnTo>
                  <a:pt x="470" y="48"/>
                </a:lnTo>
                <a:lnTo>
                  <a:pt x="470" y="44"/>
                </a:lnTo>
                <a:lnTo>
                  <a:pt x="470" y="41"/>
                </a:lnTo>
                <a:lnTo>
                  <a:pt x="470" y="38"/>
                </a:lnTo>
                <a:lnTo>
                  <a:pt x="470" y="34"/>
                </a:lnTo>
                <a:lnTo>
                  <a:pt x="470" y="31"/>
                </a:lnTo>
                <a:lnTo>
                  <a:pt x="470" y="28"/>
                </a:lnTo>
                <a:lnTo>
                  <a:pt x="47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10" name="Freeform 1515">
            <a:extLst>
              <a:ext uri="{FF2B5EF4-FFF2-40B4-BE49-F238E27FC236}">
                <a16:creationId xmlns:a16="http://schemas.microsoft.com/office/drawing/2014/main" id="{36DFD434-408A-8197-7EC2-C86983F4B18B}"/>
              </a:ext>
            </a:extLst>
          </p:cNvPr>
          <p:cNvSpPr>
            <a:spLocks noEditPoints="1"/>
          </p:cNvSpPr>
          <p:nvPr/>
        </p:nvSpPr>
        <p:spPr bwMode="auto">
          <a:xfrm>
            <a:off x="2187575" y="2719388"/>
            <a:ext cx="742950" cy="80963"/>
          </a:xfrm>
          <a:custGeom>
            <a:avLst/>
            <a:gdLst>
              <a:gd name="T0" fmla="*/ 467 w 468"/>
              <a:gd name="T1" fmla="*/ 21 h 51"/>
              <a:gd name="T2" fmla="*/ 467 w 468"/>
              <a:gd name="T3" fmla="*/ 14 h 51"/>
              <a:gd name="T4" fmla="*/ 467 w 468"/>
              <a:gd name="T5" fmla="*/ 9 h 51"/>
              <a:gd name="T6" fmla="*/ 467 w 468"/>
              <a:gd name="T7" fmla="*/ 3 h 51"/>
              <a:gd name="T8" fmla="*/ 463 w 468"/>
              <a:gd name="T9" fmla="*/ 0 h 51"/>
              <a:gd name="T10" fmla="*/ 463 w 468"/>
              <a:gd name="T11" fmla="*/ 6 h 51"/>
              <a:gd name="T12" fmla="*/ 463 w 468"/>
              <a:gd name="T13" fmla="*/ 11 h 51"/>
              <a:gd name="T14" fmla="*/ 463 w 468"/>
              <a:gd name="T15" fmla="*/ 18 h 51"/>
              <a:gd name="T16" fmla="*/ 465 w 468"/>
              <a:gd name="T17" fmla="*/ 24 h 51"/>
              <a:gd name="T18" fmla="*/ 463 w 468"/>
              <a:gd name="T19" fmla="*/ 31 h 51"/>
              <a:gd name="T20" fmla="*/ 463 w 468"/>
              <a:gd name="T21" fmla="*/ 38 h 51"/>
              <a:gd name="T22" fmla="*/ 463 w 468"/>
              <a:gd name="T23" fmla="*/ 44 h 51"/>
              <a:gd name="T24" fmla="*/ 463 w 468"/>
              <a:gd name="T25" fmla="*/ 51 h 51"/>
              <a:gd name="T26" fmla="*/ 467 w 468"/>
              <a:gd name="T27" fmla="*/ 48 h 51"/>
              <a:gd name="T28" fmla="*/ 467 w 468"/>
              <a:gd name="T29" fmla="*/ 41 h 51"/>
              <a:gd name="T30" fmla="*/ 467 w 468"/>
              <a:gd name="T31" fmla="*/ 34 h 51"/>
              <a:gd name="T32" fmla="*/ 467 w 468"/>
              <a:gd name="T33" fmla="*/ 28 h 51"/>
              <a:gd name="T34" fmla="*/ 1 w 468"/>
              <a:gd name="T35" fmla="*/ 0 h 51"/>
              <a:gd name="T36" fmla="*/ 0 w 468"/>
              <a:gd name="T37" fmla="*/ 6 h 51"/>
              <a:gd name="T38" fmla="*/ 0 w 468"/>
              <a:gd name="T39" fmla="*/ 11 h 51"/>
              <a:gd name="T40" fmla="*/ 0 w 468"/>
              <a:gd name="T41" fmla="*/ 18 h 51"/>
              <a:gd name="T42" fmla="*/ 0 w 468"/>
              <a:gd name="T43" fmla="*/ 24 h 51"/>
              <a:gd name="T44" fmla="*/ 0 w 468"/>
              <a:gd name="T45" fmla="*/ 31 h 51"/>
              <a:gd name="T46" fmla="*/ 0 w 468"/>
              <a:gd name="T47" fmla="*/ 38 h 51"/>
              <a:gd name="T48" fmla="*/ 0 w 468"/>
              <a:gd name="T49" fmla="*/ 44 h 51"/>
              <a:gd name="T50" fmla="*/ 0 w 468"/>
              <a:gd name="T51" fmla="*/ 51 h 51"/>
              <a:gd name="T52" fmla="*/ 3 w 468"/>
              <a:gd name="T53" fmla="*/ 48 h 51"/>
              <a:gd name="T54" fmla="*/ 3 w 468"/>
              <a:gd name="T55" fmla="*/ 41 h 51"/>
              <a:gd name="T56" fmla="*/ 3 w 468"/>
              <a:gd name="T57" fmla="*/ 34 h 51"/>
              <a:gd name="T58" fmla="*/ 3 w 468"/>
              <a:gd name="T59" fmla="*/ 28 h 51"/>
              <a:gd name="T60" fmla="*/ 3 w 468"/>
              <a:gd name="T61" fmla="*/ 21 h 51"/>
              <a:gd name="T62" fmla="*/ 3 w 468"/>
              <a:gd name="T63" fmla="*/ 14 h 51"/>
              <a:gd name="T64" fmla="*/ 3 w 468"/>
              <a:gd name="T65" fmla="*/ 8 h 51"/>
              <a:gd name="T66" fmla="*/ 3 w 468"/>
              <a:gd name="T67" fmla="*/ 3 h 51"/>
              <a:gd name="T68" fmla="*/ 1 w 46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8" h="51">
                <a:moveTo>
                  <a:pt x="468" y="24"/>
                </a:moveTo>
                <a:lnTo>
                  <a:pt x="467" y="21"/>
                </a:lnTo>
                <a:lnTo>
                  <a:pt x="467" y="18"/>
                </a:lnTo>
                <a:lnTo>
                  <a:pt x="467" y="14"/>
                </a:lnTo>
                <a:lnTo>
                  <a:pt x="467" y="11"/>
                </a:lnTo>
                <a:lnTo>
                  <a:pt x="467" y="9"/>
                </a:lnTo>
                <a:lnTo>
                  <a:pt x="467" y="6"/>
                </a:lnTo>
                <a:lnTo>
                  <a:pt x="467" y="3"/>
                </a:lnTo>
                <a:lnTo>
                  <a:pt x="467" y="0"/>
                </a:lnTo>
                <a:lnTo>
                  <a:pt x="463" y="0"/>
                </a:lnTo>
                <a:lnTo>
                  <a:pt x="463" y="3"/>
                </a:lnTo>
                <a:lnTo>
                  <a:pt x="463" y="6"/>
                </a:lnTo>
                <a:lnTo>
                  <a:pt x="463" y="8"/>
                </a:lnTo>
                <a:lnTo>
                  <a:pt x="463" y="11"/>
                </a:lnTo>
                <a:lnTo>
                  <a:pt x="463" y="14"/>
                </a:lnTo>
                <a:lnTo>
                  <a:pt x="463" y="18"/>
                </a:lnTo>
                <a:lnTo>
                  <a:pt x="463" y="21"/>
                </a:lnTo>
                <a:lnTo>
                  <a:pt x="465" y="24"/>
                </a:lnTo>
                <a:lnTo>
                  <a:pt x="463" y="28"/>
                </a:lnTo>
                <a:lnTo>
                  <a:pt x="463" y="31"/>
                </a:lnTo>
                <a:lnTo>
                  <a:pt x="463" y="34"/>
                </a:lnTo>
                <a:lnTo>
                  <a:pt x="463" y="38"/>
                </a:lnTo>
                <a:lnTo>
                  <a:pt x="463" y="41"/>
                </a:lnTo>
                <a:lnTo>
                  <a:pt x="463" y="44"/>
                </a:lnTo>
                <a:lnTo>
                  <a:pt x="463" y="48"/>
                </a:lnTo>
                <a:lnTo>
                  <a:pt x="463" y="51"/>
                </a:lnTo>
                <a:lnTo>
                  <a:pt x="467" y="51"/>
                </a:lnTo>
                <a:lnTo>
                  <a:pt x="467" y="48"/>
                </a:lnTo>
                <a:lnTo>
                  <a:pt x="467" y="44"/>
                </a:lnTo>
                <a:lnTo>
                  <a:pt x="467" y="41"/>
                </a:lnTo>
                <a:lnTo>
                  <a:pt x="467" y="38"/>
                </a:lnTo>
                <a:lnTo>
                  <a:pt x="467" y="34"/>
                </a:lnTo>
                <a:lnTo>
                  <a:pt x="467" y="31"/>
                </a:lnTo>
                <a:lnTo>
                  <a:pt x="467" y="28"/>
                </a:lnTo>
                <a:lnTo>
                  <a:pt x="468"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11" name="Freeform 1516">
            <a:extLst>
              <a:ext uri="{FF2B5EF4-FFF2-40B4-BE49-F238E27FC236}">
                <a16:creationId xmlns:a16="http://schemas.microsoft.com/office/drawing/2014/main" id="{9B3B5092-D396-F2B8-ECF1-EA4F0A49FA10}"/>
              </a:ext>
            </a:extLst>
          </p:cNvPr>
          <p:cNvSpPr>
            <a:spLocks noEditPoints="1"/>
          </p:cNvSpPr>
          <p:nvPr/>
        </p:nvSpPr>
        <p:spPr bwMode="auto">
          <a:xfrm>
            <a:off x="2189163" y="2719388"/>
            <a:ext cx="739775" cy="80963"/>
          </a:xfrm>
          <a:custGeom>
            <a:avLst/>
            <a:gdLst>
              <a:gd name="T0" fmla="*/ 464 w 466"/>
              <a:gd name="T1" fmla="*/ 21 h 51"/>
              <a:gd name="T2" fmla="*/ 464 w 466"/>
              <a:gd name="T3" fmla="*/ 14 h 51"/>
              <a:gd name="T4" fmla="*/ 464 w 466"/>
              <a:gd name="T5" fmla="*/ 9 h 51"/>
              <a:gd name="T6" fmla="*/ 464 w 466"/>
              <a:gd name="T7" fmla="*/ 3 h 51"/>
              <a:gd name="T8" fmla="*/ 461 w 466"/>
              <a:gd name="T9" fmla="*/ 0 h 51"/>
              <a:gd name="T10" fmla="*/ 461 w 466"/>
              <a:gd name="T11" fmla="*/ 6 h 51"/>
              <a:gd name="T12" fmla="*/ 461 w 466"/>
              <a:gd name="T13" fmla="*/ 11 h 51"/>
              <a:gd name="T14" fmla="*/ 461 w 466"/>
              <a:gd name="T15" fmla="*/ 18 h 51"/>
              <a:gd name="T16" fmla="*/ 462 w 466"/>
              <a:gd name="T17" fmla="*/ 24 h 51"/>
              <a:gd name="T18" fmla="*/ 461 w 466"/>
              <a:gd name="T19" fmla="*/ 31 h 51"/>
              <a:gd name="T20" fmla="*/ 461 w 466"/>
              <a:gd name="T21" fmla="*/ 38 h 51"/>
              <a:gd name="T22" fmla="*/ 461 w 466"/>
              <a:gd name="T23" fmla="*/ 44 h 51"/>
              <a:gd name="T24" fmla="*/ 461 w 466"/>
              <a:gd name="T25" fmla="*/ 51 h 51"/>
              <a:gd name="T26" fmla="*/ 464 w 466"/>
              <a:gd name="T27" fmla="*/ 48 h 51"/>
              <a:gd name="T28" fmla="*/ 464 w 466"/>
              <a:gd name="T29" fmla="*/ 41 h 51"/>
              <a:gd name="T30" fmla="*/ 464 w 466"/>
              <a:gd name="T31" fmla="*/ 34 h 51"/>
              <a:gd name="T32" fmla="*/ 464 w 466"/>
              <a:gd name="T33" fmla="*/ 28 h 51"/>
              <a:gd name="T34" fmla="*/ 2 w 466"/>
              <a:gd name="T35" fmla="*/ 0 h 51"/>
              <a:gd name="T36" fmla="*/ 0 w 466"/>
              <a:gd name="T37" fmla="*/ 6 h 51"/>
              <a:gd name="T38" fmla="*/ 0 w 466"/>
              <a:gd name="T39" fmla="*/ 11 h 51"/>
              <a:gd name="T40" fmla="*/ 0 w 466"/>
              <a:gd name="T41" fmla="*/ 18 h 51"/>
              <a:gd name="T42" fmla="*/ 0 w 466"/>
              <a:gd name="T43" fmla="*/ 24 h 51"/>
              <a:gd name="T44" fmla="*/ 0 w 466"/>
              <a:gd name="T45" fmla="*/ 31 h 51"/>
              <a:gd name="T46" fmla="*/ 0 w 466"/>
              <a:gd name="T47" fmla="*/ 38 h 51"/>
              <a:gd name="T48" fmla="*/ 0 w 466"/>
              <a:gd name="T49" fmla="*/ 44 h 51"/>
              <a:gd name="T50" fmla="*/ 0 w 466"/>
              <a:gd name="T51" fmla="*/ 51 h 51"/>
              <a:gd name="T52" fmla="*/ 4 w 466"/>
              <a:gd name="T53" fmla="*/ 48 h 51"/>
              <a:gd name="T54" fmla="*/ 4 w 466"/>
              <a:gd name="T55" fmla="*/ 41 h 51"/>
              <a:gd name="T56" fmla="*/ 4 w 466"/>
              <a:gd name="T57" fmla="*/ 34 h 51"/>
              <a:gd name="T58" fmla="*/ 4 w 466"/>
              <a:gd name="T59" fmla="*/ 28 h 51"/>
              <a:gd name="T60" fmla="*/ 4 w 466"/>
              <a:gd name="T61" fmla="*/ 21 h 51"/>
              <a:gd name="T62" fmla="*/ 4 w 466"/>
              <a:gd name="T63" fmla="*/ 14 h 51"/>
              <a:gd name="T64" fmla="*/ 4 w 466"/>
              <a:gd name="T65" fmla="*/ 8 h 51"/>
              <a:gd name="T66" fmla="*/ 4 w 466"/>
              <a:gd name="T67" fmla="*/ 3 h 51"/>
              <a:gd name="T68" fmla="*/ 2 w 4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6" h="51">
                <a:moveTo>
                  <a:pt x="466" y="24"/>
                </a:moveTo>
                <a:lnTo>
                  <a:pt x="464" y="21"/>
                </a:lnTo>
                <a:lnTo>
                  <a:pt x="464" y="18"/>
                </a:lnTo>
                <a:lnTo>
                  <a:pt x="464" y="14"/>
                </a:lnTo>
                <a:lnTo>
                  <a:pt x="464" y="11"/>
                </a:lnTo>
                <a:lnTo>
                  <a:pt x="464" y="9"/>
                </a:lnTo>
                <a:lnTo>
                  <a:pt x="464" y="6"/>
                </a:lnTo>
                <a:lnTo>
                  <a:pt x="464" y="3"/>
                </a:lnTo>
                <a:lnTo>
                  <a:pt x="464" y="0"/>
                </a:lnTo>
                <a:lnTo>
                  <a:pt x="461" y="0"/>
                </a:lnTo>
                <a:lnTo>
                  <a:pt x="461" y="3"/>
                </a:lnTo>
                <a:lnTo>
                  <a:pt x="461" y="6"/>
                </a:lnTo>
                <a:lnTo>
                  <a:pt x="461" y="8"/>
                </a:lnTo>
                <a:lnTo>
                  <a:pt x="461" y="11"/>
                </a:lnTo>
                <a:lnTo>
                  <a:pt x="461" y="14"/>
                </a:lnTo>
                <a:lnTo>
                  <a:pt x="461" y="18"/>
                </a:lnTo>
                <a:lnTo>
                  <a:pt x="461" y="21"/>
                </a:lnTo>
                <a:lnTo>
                  <a:pt x="462" y="24"/>
                </a:lnTo>
                <a:lnTo>
                  <a:pt x="462" y="28"/>
                </a:lnTo>
                <a:lnTo>
                  <a:pt x="461" y="31"/>
                </a:lnTo>
                <a:lnTo>
                  <a:pt x="461" y="34"/>
                </a:lnTo>
                <a:lnTo>
                  <a:pt x="461" y="38"/>
                </a:lnTo>
                <a:lnTo>
                  <a:pt x="461" y="41"/>
                </a:lnTo>
                <a:lnTo>
                  <a:pt x="461" y="44"/>
                </a:lnTo>
                <a:lnTo>
                  <a:pt x="461" y="48"/>
                </a:lnTo>
                <a:lnTo>
                  <a:pt x="461" y="51"/>
                </a:lnTo>
                <a:lnTo>
                  <a:pt x="464" y="51"/>
                </a:lnTo>
                <a:lnTo>
                  <a:pt x="464" y="48"/>
                </a:lnTo>
                <a:lnTo>
                  <a:pt x="464" y="44"/>
                </a:lnTo>
                <a:lnTo>
                  <a:pt x="464" y="41"/>
                </a:lnTo>
                <a:lnTo>
                  <a:pt x="464" y="38"/>
                </a:lnTo>
                <a:lnTo>
                  <a:pt x="464" y="34"/>
                </a:lnTo>
                <a:lnTo>
                  <a:pt x="464" y="31"/>
                </a:lnTo>
                <a:lnTo>
                  <a:pt x="464" y="28"/>
                </a:lnTo>
                <a:lnTo>
                  <a:pt x="46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12" name="Freeform 1517">
            <a:extLst>
              <a:ext uri="{FF2B5EF4-FFF2-40B4-BE49-F238E27FC236}">
                <a16:creationId xmlns:a16="http://schemas.microsoft.com/office/drawing/2014/main" id="{58A87D3C-CC87-F936-A6DE-1A052FBA0EAA}"/>
              </a:ext>
            </a:extLst>
          </p:cNvPr>
          <p:cNvSpPr>
            <a:spLocks noEditPoints="1"/>
          </p:cNvSpPr>
          <p:nvPr/>
        </p:nvSpPr>
        <p:spPr bwMode="auto">
          <a:xfrm>
            <a:off x="2192338" y="2719388"/>
            <a:ext cx="733425" cy="80963"/>
          </a:xfrm>
          <a:custGeom>
            <a:avLst/>
            <a:gdLst>
              <a:gd name="T0" fmla="*/ 460 w 462"/>
              <a:gd name="T1" fmla="*/ 21 h 51"/>
              <a:gd name="T2" fmla="*/ 460 w 462"/>
              <a:gd name="T3" fmla="*/ 14 h 51"/>
              <a:gd name="T4" fmla="*/ 460 w 462"/>
              <a:gd name="T5" fmla="*/ 8 h 51"/>
              <a:gd name="T6" fmla="*/ 460 w 462"/>
              <a:gd name="T7" fmla="*/ 3 h 51"/>
              <a:gd name="T8" fmla="*/ 457 w 462"/>
              <a:gd name="T9" fmla="*/ 0 h 51"/>
              <a:gd name="T10" fmla="*/ 457 w 462"/>
              <a:gd name="T11" fmla="*/ 6 h 51"/>
              <a:gd name="T12" fmla="*/ 457 w 462"/>
              <a:gd name="T13" fmla="*/ 11 h 51"/>
              <a:gd name="T14" fmla="*/ 457 w 462"/>
              <a:gd name="T15" fmla="*/ 18 h 51"/>
              <a:gd name="T16" fmla="*/ 459 w 462"/>
              <a:gd name="T17" fmla="*/ 24 h 51"/>
              <a:gd name="T18" fmla="*/ 457 w 462"/>
              <a:gd name="T19" fmla="*/ 31 h 51"/>
              <a:gd name="T20" fmla="*/ 457 w 462"/>
              <a:gd name="T21" fmla="*/ 38 h 51"/>
              <a:gd name="T22" fmla="*/ 457 w 462"/>
              <a:gd name="T23" fmla="*/ 44 h 51"/>
              <a:gd name="T24" fmla="*/ 457 w 462"/>
              <a:gd name="T25" fmla="*/ 51 h 51"/>
              <a:gd name="T26" fmla="*/ 460 w 462"/>
              <a:gd name="T27" fmla="*/ 48 h 51"/>
              <a:gd name="T28" fmla="*/ 460 w 462"/>
              <a:gd name="T29" fmla="*/ 41 h 51"/>
              <a:gd name="T30" fmla="*/ 460 w 462"/>
              <a:gd name="T31" fmla="*/ 34 h 51"/>
              <a:gd name="T32" fmla="*/ 460 w 462"/>
              <a:gd name="T33" fmla="*/ 28 h 51"/>
              <a:gd name="T34" fmla="*/ 2 w 462"/>
              <a:gd name="T35" fmla="*/ 0 h 51"/>
              <a:gd name="T36" fmla="*/ 0 w 462"/>
              <a:gd name="T37" fmla="*/ 6 h 51"/>
              <a:gd name="T38" fmla="*/ 0 w 462"/>
              <a:gd name="T39" fmla="*/ 11 h 51"/>
              <a:gd name="T40" fmla="*/ 0 w 462"/>
              <a:gd name="T41" fmla="*/ 18 h 51"/>
              <a:gd name="T42" fmla="*/ 0 w 462"/>
              <a:gd name="T43" fmla="*/ 24 h 51"/>
              <a:gd name="T44" fmla="*/ 0 w 462"/>
              <a:gd name="T45" fmla="*/ 31 h 51"/>
              <a:gd name="T46" fmla="*/ 0 w 462"/>
              <a:gd name="T47" fmla="*/ 38 h 51"/>
              <a:gd name="T48" fmla="*/ 0 w 462"/>
              <a:gd name="T49" fmla="*/ 44 h 51"/>
              <a:gd name="T50" fmla="*/ 0 w 462"/>
              <a:gd name="T51" fmla="*/ 51 h 51"/>
              <a:gd name="T52" fmla="*/ 3 w 462"/>
              <a:gd name="T53" fmla="*/ 48 h 51"/>
              <a:gd name="T54" fmla="*/ 3 w 462"/>
              <a:gd name="T55" fmla="*/ 41 h 51"/>
              <a:gd name="T56" fmla="*/ 3 w 462"/>
              <a:gd name="T57" fmla="*/ 34 h 51"/>
              <a:gd name="T58" fmla="*/ 3 w 462"/>
              <a:gd name="T59" fmla="*/ 28 h 51"/>
              <a:gd name="T60" fmla="*/ 3 w 462"/>
              <a:gd name="T61" fmla="*/ 21 h 51"/>
              <a:gd name="T62" fmla="*/ 3 w 462"/>
              <a:gd name="T63" fmla="*/ 14 h 51"/>
              <a:gd name="T64" fmla="*/ 3 w 462"/>
              <a:gd name="T65" fmla="*/ 8 h 51"/>
              <a:gd name="T66" fmla="*/ 3 w 462"/>
              <a:gd name="T67" fmla="*/ 3 h 51"/>
              <a:gd name="T68" fmla="*/ 2 w 4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2" h="51">
                <a:moveTo>
                  <a:pt x="462" y="24"/>
                </a:moveTo>
                <a:lnTo>
                  <a:pt x="460" y="21"/>
                </a:lnTo>
                <a:lnTo>
                  <a:pt x="460" y="18"/>
                </a:lnTo>
                <a:lnTo>
                  <a:pt x="460" y="14"/>
                </a:lnTo>
                <a:lnTo>
                  <a:pt x="460" y="11"/>
                </a:lnTo>
                <a:lnTo>
                  <a:pt x="460" y="8"/>
                </a:lnTo>
                <a:lnTo>
                  <a:pt x="460" y="6"/>
                </a:lnTo>
                <a:lnTo>
                  <a:pt x="460" y="3"/>
                </a:lnTo>
                <a:lnTo>
                  <a:pt x="460" y="0"/>
                </a:lnTo>
                <a:lnTo>
                  <a:pt x="457" y="0"/>
                </a:lnTo>
                <a:lnTo>
                  <a:pt x="457" y="3"/>
                </a:lnTo>
                <a:lnTo>
                  <a:pt x="457" y="6"/>
                </a:lnTo>
                <a:lnTo>
                  <a:pt x="457" y="8"/>
                </a:lnTo>
                <a:lnTo>
                  <a:pt x="457" y="11"/>
                </a:lnTo>
                <a:lnTo>
                  <a:pt x="457" y="14"/>
                </a:lnTo>
                <a:lnTo>
                  <a:pt x="457" y="18"/>
                </a:lnTo>
                <a:lnTo>
                  <a:pt x="459" y="21"/>
                </a:lnTo>
                <a:lnTo>
                  <a:pt x="459" y="24"/>
                </a:lnTo>
                <a:lnTo>
                  <a:pt x="459" y="28"/>
                </a:lnTo>
                <a:lnTo>
                  <a:pt x="457" y="31"/>
                </a:lnTo>
                <a:lnTo>
                  <a:pt x="457" y="34"/>
                </a:lnTo>
                <a:lnTo>
                  <a:pt x="457" y="38"/>
                </a:lnTo>
                <a:lnTo>
                  <a:pt x="457" y="41"/>
                </a:lnTo>
                <a:lnTo>
                  <a:pt x="457" y="44"/>
                </a:lnTo>
                <a:lnTo>
                  <a:pt x="457" y="48"/>
                </a:lnTo>
                <a:lnTo>
                  <a:pt x="457" y="51"/>
                </a:lnTo>
                <a:lnTo>
                  <a:pt x="460" y="51"/>
                </a:lnTo>
                <a:lnTo>
                  <a:pt x="460" y="48"/>
                </a:lnTo>
                <a:lnTo>
                  <a:pt x="460" y="44"/>
                </a:lnTo>
                <a:lnTo>
                  <a:pt x="460" y="41"/>
                </a:lnTo>
                <a:lnTo>
                  <a:pt x="460" y="38"/>
                </a:lnTo>
                <a:lnTo>
                  <a:pt x="460" y="34"/>
                </a:lnTo>
                <a:lnTo>
                  <a:pt x="460" y="31"/>
                </a:lnTo>
                <a:lnTo>
                  <a:pt x="460" y="28"/>
                </a:lnTo>
                <a:lnTo>
                  <a:pt x="46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13" name="Freeform 1518">
            <a:extLst>
              <a:ext uri="{FF2B5EF4-FFF2-40B4-BE49-F238E27FC236}">
                <a16:creationId xmlns:a16="http://schemas.microsoft.com/office/drawing/2014/main" id="{C78ADD1E-8B1F-389C-3AED-9A8DAA8071E6}"/>
              </a:ext>
            </a:extLst>
          </p:cNvPr>
          <p:cNvSpPr>
            <a:spLocks noEditPoints="1"/>
          </p:cNvSpPr>
          <p:nvPr/>
        </p:nvSpPr>
        <p:spPr bwMode="auto">
          <a:xfrm>
            <a:off x="2195513" y="2719388"/>
            <a:ext cx="727075" cy="80963"/>
          </a:xfrm>
          <a:custGeom>
            <a:avLst/>
            <a:gdLst>
              <a:gd name="T0" fmla="*/ 457 w 458"/>
              <a:gd name="T1" fmla="*/ 21 h 51"/>
              <a:gd name="T2" fmla="*/ 457 w 458"/>
              <a:gd name="T3" fmla="*/ 14 h 51"/>
              <a:gd name="T4" fmla="*/ 457 w 458"/>
              <a:gd name="T5" fmla="*/ 8 h 51"/>
              <a:gd name="T6" fmla="*/ 457 w 458"/>
              <a:gd name="T7" fmla="*/ 3 h 51"/>
              <a:gd name="T8" fmla="*/ 453 w 458"/>
              <a:gd name="T9" fmla="*/ 0 h 51"/>
              <a:gd name="T10" fmla="*/ 453 w 458"/>
              <a:gd name="T11" fmla="*/ 6 h 51"/>
              <a:gd name="T12" fmla="*/ 453 w 458"/>
              <a:gd name="T13" fmla="*/ 11 h 51"/>
              <a:gd name="T14" fmla="*/ 453 w 458"/>
              <a:gd name="T15" fmla="*/ 18 h 51"/>
              <a:gd name="T16" fmla="*/ 455 w 458"/>
              <a:gd name="T17" fmla="*/ 24 h 51"/>
              <a:gd name="T18" fmla="*/ 453 w 458"/>
              <a:gd name="T19" fmla="*/ 31 h 51"/>
              <a:gd name="T20" fmla="*/ 453 w 458"/>
              <a:gd name="T21" fmla="*/ 38 h 51"/>
              <a:gd name="T22" fmla="*/ 453 w 458"/>
              <a:gd name="T23" fmla="*/ 44 h 51"/>
              <a:gd name="T24" fmla="*/ 453 w 458"/>
              <a:gd name="T25" fmla="*/ 51 h 51"/>
              <a:gd name="T26" fmla="*/ 457 w 458"/>
              <a:gd name="T27" fmla="*/ 48 h 51"/>
              <a:gd name="T28" fmla="*/ 457 w 458"/>
              <a:gd name="T29" fmla="*/ 41 h 51"/>
              <a:gd name="T30" fmla="*/ 457 w 458"/>
              <a:gd name="T31" fmla="*/ 34 h 51"/>
              <a:gd name="T32" fmla="*/ 458 w 458"/>
              <a:gd name="T33" fmla="*/ 28 h 51"/>
              <a:gd name="T34" fmla="*/ 1 w 458"/>
              <a:gd name="T35" fmla="*/ 0 h 51"/>
              <a:gd name="T36" fmla="*/ 0 w 458"/>
              <a:gd name="T37" fmla="*/ 6 h 51"/>
              <a:gd name="T38" fmla="*/ 0 w 458"/>
              <a:gd name="T39" fmla="*/ 11 h 51"/>
              <a:gd name="T40" fmla="*/ 0 w 458"/>
              <a:gd name="T41" fmla="*/ 18 h 51"/>
              <a:gd name="T42" fmla="*/ 0 w 458"/>
              <a:gd name="T43" fmla="*/ 24 h 51"/>
              <a:gd name="T44" fmla="*/ 0 w 458"/>
              <a:gd name="T45" fmla="*/ 31 h 51"/>
              <a:gd name="T46" fmla="*/ 0 w 458"/>
              <a:gd name="T47" fmla="*/ 38 h 51"/>
              <a:gd name="T48" fmla="*/ 0 w 458"/>
              <a:gd name="T49" fmla="*/ 44 h 51"/>
              <a:gd name="T50" fmla="*/ 0 w 458"/>
              <a:gd name="T51" fmla="*/ 51 h 51"/>
              <a:gd name="T52" fmla="*/ 3 w 458"/>
              <a:gd name="T53" fmla="*/ 48 h 51"/>
              <a:gd name="T54" fmla="*/ 3 w 458"/>
              <a:gd name="T55" fmla="*/ 41 h 51"/>
              <a:gd name="T56" fmla="*/ 3 w 458"/>
              <a:gd name="T57" fmla="*/ 34 h 51"/>
              <a:gd name="T58" fmla="*/ 3 w 458"/>
              <a:gd name="T59" fmla="*/ 28 h 51"/>
              <a:gd name="T60" fmla="*/ 3 w 458"/>
              <a:gd name="T61" fmla="*/ 21 h 51"/>
              <a:gd name="T62" fmla="*/ 3 w 458"/>
              <a:gd name="T63" fmla="*/ 14 h 51"/>
              <a:gd name="T64" fmla="*/ 3 w 458"/>
              <a:gd name="T65" fmla="*/ 8 h 51"/>
              <a:gd name="T66" fmla="*/ 3 w 458"/>
              <a:gd name="T67" fmla="*/ 3 h 51"/>
              <a:gd name="T68" fmla="*/ 1 w 45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8" h="51">
                <a:moveTo>
                  <a:pt x="458" y="24"/>
                </a:moveTo>
                <a:lnTo>
                  <a:pt x="457" y="21"/>
                </a:lnTo>
                <a:lnTo>
                  <a:pt x="457" y="18"/>
                </a:lnTo>
                <a:lnTo>
                  <a:pt x="457" y="14"/>
                </a:lnTo>
                <a:lnTo>
                  <a:pt x="457" y="11"/>
                </a:lnTo>
                <a:lnTo>
                  <a:pt x="457" y="8"/>
                </a:lnTo>
                <a:lnTo>
                  <a:pt x="457" y="6"/>
                </a:lnTo>
                <a:lnTo>
                  <a:pt x="457" y="3"/>
                </a:lnTo>
                <a:lnTo>
                  <a:pt x="457" y="0"/>
                </a:lnTo>
                <a:lnTo>
                  <a:pt x="453" y="0"/>
                </a:lnTo>
                <a:lnTo>
                  <a:pt x="453" y="3"/>
                </a:lnTo>
                <a:lnTo>
                  <a:pt x="453" y="6"/>
                </a:lnTo>
                <a:lnTo>
                  <a:pt x="453" y="8"/>
                </a:lnTo>
                <a:lnTo>
                  <a:pt x="453" y="11"/>
                </a:lnTo>
                <a:lnTo>
                  <a:pt x="453" y="14"/>
                </a:lnTo>
                <a:lnTo>
                  <a:pt x="453" y="18"/>
                </a:lnTo>
                <a:lnTo>
                  <a:pt x="455" y="21"/>
                </a:lnTo>
                <a:lnTo>
                  <a:pt x="455" y="24"/>
                </a:lnTo>
                <a:lnTo>
                  <a:pt x="455" y="28"/>
                </a:lnTo>
                <a:lnTo>
                  <a:pt x="453" y="31"/>
                </a:lnTo>
                <a:lnTo>
                  <a:pt x="453" y="34"/>
                </a:lnTo>
                <a:lnTo>
                  <a:pt x="453" y="38"/>
                </a:lnTo>
                <a:lnTo>
                  <a:pt x="453" y="41"/>
                </a:lnTo>
                <a:lnTo>
                  <a:pt x="453" y="44"/>
                </a:lnTo>
                <a:lnTo>
                  <a:pt x="453" y="48"/>
                </a:lnTo>
                <a:lnTo>
                  <a:pt x="453" y="51"/>
                </a:lnTo>
                <a:lnTo>
                  <a:pt x="457" y="51"/>
                </a:lnTo>
                <a:lnTo>
                  <a:pt x="457" y="48"/>
                </a:lnTo>
                <a:lnTo>
                  <a:pt x="457" y="44"/>
                </a:lnTo>
                <a:lnTo>
                  <a:pt x="457" y="41"/>
                </a:lnTo>
                <a:lnTo>
                  <a:pt x="457" y="38"/>
                </a:lnTo>
                <a:lnTo>
                  <a:pt x="457" y="34"/>
                </a:lnTo>
                <a:lnTo>
                  <a:pt x="457" y="31"/>
                </a:lnTo>
                <a:lnTo>
                  <a:pt x="458" y="28"/>
                </a:lnTo>
                <a:lnTo>
                  <a:pt x="458"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14" name="Freeform 1519">
            <a:extLst>
              <a:ext uri="{FF2B5EF4-FFF2-40B4-BE49-F238E27FC236}">
                <a16:creationId xmlns:a16="http://schemas.microsoft.com/office/drawing/2014/main" id="{6E9E261D-C397-C65E-7119-BA613A7F9F84}"/>
              </a:ext>
            </a:extLst>
          </p:cNvPr>
          <p:cNvSpPr>
            <a:spLocks noEditPoints="1"/>
          </p:cNvSpPr>
          <p:nvPr/>
        </p:nvSpPr>
        <p:spPr bwMode="auto">
          <a:xfrm>
            <a:off x="2197100" y="2719388"/>
            <a:ext cx="723900" cy="80963"/>
          </a:xfrm>
          <a:custGeom>
            <a:avLst/>
            <a:gdLst>
              <a:gd name="T0" fmla="*/ 456 w 456"/>
              <a:gd name="T1" fmla="*/ 21 h 51"/>
              <a:gd name="T2" fmla="*/ 454 w 456"/>
              <a:gd name="T3" fmla="*/ 14 h 51"/>
              <a:gd name="T4" fmla="*/ 454 w 456"/>
              <a:gd name="T5" fmla="*/ 8 h 51"/>
              <a:gd name="T6" fmla="*/ 454 w 456"/>
              <a:gd name="T7" fmla="*/ 3 h 51"/>
              <a:gd name="T8" fmla="*/ 451 w 456"/>
              <a:gd name="T9" fmla="*/ 0 h 51"/>
              <a:gd name="T10" fmla="*/ 451 w 456"/>
              <a:gd name="T11" fmla="*/ 6 h 51"/>
              <a:gd name="T12" fmla="*/ 451 w 456"/>
              <a:gd name="T13" fmla="*/ 11 h 51"/>
              <a:gd name="T14" fmla="*/ 451 w 456"/>
              <a:gd name="T15" fmla="*/ 18 h 51"/>
              <a:gd name="T16" fmla="*/ 452 w 456"/>
              <a:gd name="T17" fmla="*/ 24 h 51"/>
              <a:gd name="T18" fmla="*/ 451 w 456"/>
              <a:gd name="T19" fmla="*/ 31 h 51"/>
              <a:gd name="T20" fmla="*/ 451 w 456"/>
              <a:gd name="T21" fmla="*/ 38 h 51"/>
              <a:gd name="T22" fmla="*/ 451 w 456"/>
              <a:gd name="T23" fmla="*/ 44 h 51"/>
              <a:gd name="T24" fmla="*/ 451 w 456"/>
              <a:gd name="T25" fmla="*/ 51 h 51"/>
              <a:gd name="T26" fmla="*/ 454 w 456"/>
              <a:gd name="T27" fmla="*/ 48 h 51"/>
              <a:gd name="T28" fmla="*/ 454 w 456"/>
              <a:gd name="T29" fmla="*/ 41 h 51"/>
              <a:gd name="T30" fmla="*/ 454 w 456"/>
              <a:gd name="T31" fmla="*/ 34 h 51"/>
              <a:gd name="T32" fmla="*/ 456 w 456"/>
              <a:gd name="T33" fmla="*/ 28 h 51"/>
              <a:gd name="T34" fmla="*/ 2 w 456"/>
              <a:gd name="T35" fmla="*/ 0 h 51"/>
              <a:gd name="T36" fmla="*/ 0 w 456"/>
              <a:gd name="T37" fmla="*/ 6 h 51"/>
              <a:gd name="T38" fmla="*/ 0 w 456"/>
              <a:gd name="T39" fmla="*/ 11 h 51"/>
              <a:gd name="T40" fmla="*/ 0 w 456"/>
              <a:gd name="T41" fmla="*/ 18 h 51"/>
              <a:gd name="T42" fmla="*/ 0 w 456"/>
              <a:gd name="T43" fmla="*/ 24 h 51"/>
              <a:gd name="T44" fmla="*/ 0 w 456"/>
              <a:gd name="T45" fmla="*/ 31 h 51"/>
              <a:gd name="T46" fmla="*/ 0 w 456"/>
              <a:gd name="T47" fmla="*/ 38 h 51"/>
              <a:gd name="T48" fmla="*/ 0 w 456"/>
              <a:gd name="T49" fmla="*/ 44 h 51"/>
              <a:gd name="T50" fmla="*/ 0 w 456"/>
              <a:gd name="T51" fmla="*/ 51 h 51"/>
              <a:gd name="T52" fmla="*/ 4 w 456"/>
              <a:gd name="T53" fmla="*/ 48 h 51"/>
              <a:gd name="T54" fmla="*/ 4 w 456"/>
              <a:gd name="T55" fmla="*/ 41 h 51"/>
              <a:gd name="T56" fmla="*/ 4 w 456"/>
              <a:gd name="T57" fmla="*/ 34 h 51"/>
              <a:gd name="T58" fmla="*/ 4 w 456"/>
              <a:gd name="T59" fmla="*/ 28 h 51"/>
              <a:gd name="T60" fmla="*/ 4 w 456"/>
              <a:gd name="T61" fmla="*/ 21 h 51"/>
              <a:gd name="T62" fmla="*/ 4 w 456"/>
              <a:gd name="T63" fmla="*/ 14 h 51"/>
              <a:gd name="T64" fmla="*/ 4 w 456"/>
              <a:gd name="T65" fmla="*/ 8 h 51"/>
              <a:gd name="T66" fmla="*/ 4 w 456"/>
              <a:gd name="T67" fmla="*/ 3 h 51"/>
              <a:gd name="T68" fmla="*/ 2 w 4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6" h="51">
                <a:moveTo>
                  <a:pt x="456" y="24"/>
                </a:moveTo>
                <a:lnTo>
                  <a:pt x="456" y="21"/>
                </a:lnTo>
                <a:lnTo>
                  <a:pt x="454" y="18"/>
                </a:lnTo>
                <a:lnTo>
                  <a:pt x="454" y="14"/>
                </a:lnTo>
                <a:lnTo>
                  <a:pt x="454" y="11"/>
                </a:lnTo>
                <a:lnTo>
                  <a:pt x="454" y="8"/>
                </a:lnTo>
                <a:lnTo>
                  <a:pt x="454" y="6"/>
                </a:lnTo>
                <a:lnTo>
                  <a:pt x="454" y="3"/>
                </a:lnTo>
                <a:lnTo>
                  <a:pt x="454" y="0"/>
                </a:lnTo>
                <a:lnTo>
                  <a:pt x="451" y="0"/>
                </a:lnTo>
                <a:lnTo>
                  <a:pt x="451" y="3"/>
                </a:lnTo>
                <a:lnTo>
                  <a:pt x="451" y="6"/>
                </a:lnTo>
                <a:lnTo>
                  <a:pt x="451" y="8"/>
                </a:lnTo>
                <a:lnTo>
                  <a:pt x="451" y="11"/>
                </a:lnTo>
                <a:lnTo>
                  <a:pt x="451" y="14"/>
                </a:lnTo>
                <a:lnTo>
                  <a:pt x="451" y="18"/>
                </a:lnTo>
                <a:lnTo>
                  <a:pt x="452" y="21"/>
                </a:lnTo>
                <a:lnTo>
                  <a:pt x="452" y="24"/>
                </a:lnTo>
                <a:lnTo>
                  <a:pt x="452" y="28"/>
                </a:lnTo>
                <a:lnTo>
                  <a:pt x="451" y="31"/>
                </a:lnTo>
                <a:lnTo>
                  <a:pt x="451" y="34"/>
                </a:lnTo>
                <a:lnTo>
                  <a:pt x="451" y="38"/>
                </a:lnTo>
                <a:lnTo>
                  <a:pt x="451" y="41"/>
                </a:lnTo>
                <a:lnTo>
                  <a:pt x="451" y="44"/>
                </a:lnTo>
                <a:lnTo>
                  <a:pt x="451" y="48"/>
                </a:lnTo>
                <a:lnTo>
                  <a:pt x="451" y="51"/>
                </a:lnTo>
                <a:lnTo>
                  <a:pt x="454" y="51"/>
                </a:lnTo>
                <a:lnTo>
                  <a:pt x="454" y="48"/>
                </a:lnTo>
                <a:lnTo>
                  <a:pt x="454" y="44"/>
                </a:lnTo>
                <a:lnTo>
                  <a:pt x="454" y="41"/>
                </a:lnTo>
                <a:lnTo>
                  <a:pt x="454" y="38"/>
                </a:lnTo>
                <a:lnTo>
                  <a:pt x="454" y="34"/>
                </a:lnTo>
                <a:lnTo>
                  <a:pt x="454" y="31"/>
                </a:lnTo>
                <a:lnTo>
                  <a:pt x="456" y="28"/>
                </a:lnTo>
                <a:lnTo>
                  <a:pt x="45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15" name="Freeform 1520">
            <a:extLst>
              <a:ext uri="{FF2B5EF4-FFF2-40B4-BE49-F238E27FC236}">
                <a16:creationId xmlns:a16="http://schemas.microsoft.com/office/drawing/2014/main" id="{1C63EE1F-6AB2-9419-48CD-D86908312215}"/>
              </a:ext>
            </a:extLst>
          </p:cNvPr>
          <p:cNvSpPr>
            <a:spLocks noEditPoints="1"/>
          </p:cNvSpPr>
          <p:nvPr/>
        </p:nvSpPr>
        <p:spPr bwMode="auto">
          <a:xfrm>
            <a:off x="2200275" y="2719388"/>
            <a:ext cx="717550" cy="80963"/>
          </a:xfrm>
          <a:custGeom>
            <a:avLst/>
            <a:gdLst>
              <a:gd name="T0" fmla="*/ 452 w 452"/>
              <a:gd name="T1" fmla="*/ 21 h 51"/>
              <a:gd name="T2" fmla="*/ 450 w 452"/>
              <a:gd name="T3" fmla="*/ 14 h 51"/>
              <a:gd name="T4" fmla="*/ 450 w 452"/>
              <a:gd name="T5" fmla="*/ 8 h 51"/>
              <a:gd name="T6" fmla="*/ 450 w 452"/>
              <a:gd name="T7" fmla="*/ 3 h 51"/>
              <a:gd name="T8" fmla="*/ 447 w 452"/>
              <a:gd name="T9" fmla="*/ 0 h 51"/>
              <a:gd name="T10" fmla="*/ 447 w 452"/>
              <a:gd name="T11" fmla="*/ 6 h 51"/>
              <a:gd name="T12" fmla="*/ 447 w 452"/>
              <a:gd name="T13" fmla="*/ 11 h 51"/>
              <a:gd name="T14" fmla="*/ 447 w 452"/>
              <a:gd name="T15" fmla="*/ 18 h 51"/>
              <a:gd name="T16" fmla="*/ 449 w 452"/>
              <a:gd name="T17" fmla="*/ 24 h 51"/>
              <a:gd name="T18" fmla="*/ 447 w 452"/>
              <a:gd name="T19" fmla="*/ 31 h 51"/>
              <a:gd name="T20" fmla="*/ 447 w 452"/>
              <a:gd name="T21" fmla="*/ 38 h 51"/>
              <a:gd name="T22" fmla="*/ 447 w 452"/>
              <a:gd name="T23" fmla="*/ 44 h 51"/>
              <a:gd name="T24" fmla="*/ 447 w 452"/>
              <a:gd name="T25" fmla="*/ 51 h 51"/>
              <a:gd name="T26" fmla="*/ 450 w 452"/>
              <a:gd name="T27" fmla="*/ 48 h 51"/>
              <a:gd name="T28" fmla="*/ 450 w 452"/>
              <a:gd name="T29" fmla="*/ 41 h 51"/>
              <a:gd name="T30" fmla="*/ 450 w 452"/>
              <a:gd name="T31" fmla="*/ 34 h 51"/>
              <a:gd name="T32" fmla="*/ 452 w 452"/>
              <a:gd name="T33" fmla="*/ 28 h 51"/>
              <a:gd name="T34" fmla="*/ 2 w 452"/>
              <a:gd name="T35" fmla="*/ 0 h 51"/>
              <a:gd name="T36" fmla="*/ 0 w 452"/>
              <a:gd name="T37" fmla="*/ 6 h 51"/>
              <a:gd name="T38" fmla="*/ 0 w 452"/>
              <a:gd name="T39" fmla="*/ 11 h 51"/>
              <a:gd name="T40" fmla="*/ 0 w 452"/>
              <a:gd name="T41" fmla="*/ 18 h 51"/>
              <a:gd name="T42" fmla="*/ 0 w 452"/>
              <a:gd name="T43" fmla="*/ 24 h 51"/>
              <a:gd name="T44" fmla="*/ 0 w 452"/>
              <a:gd name="T45" fmla="*/ 31 h 51"/>
              <a:gd name="T46" fmla="*/ 0 w 452"/>
              <a:gd name="T47" fmla="*/ 38 h 51"/>
              <a:gd name="T48" fmla="*/ 0 w 452"/>
              <a:gd name="T49" fmla="*/ 44 h 51"/>
              <a:gd name="T50" fmla="*/ 0 w 452"/>
              <a:gd name="T51" fmla="*/ 51 h 51"/>
              <a:gd name="T52" fmla="*/ 3 w 452"/>
              <a:gd name="T53" fmla="*/ 48 h 51"/>
              <a:gd name="T54" fmla="*/ 3 w 452"/>
              <a:gd name="T55" fmla="*/ 41 h 51"/>
              <a:gd name="T56" fmla="*/ 3 w 452"/>
              <a:gd name="T57" fmla="*/ 34 h 51"/>
              <a:gd name="T58" fmla="*/ 3 w 452"/>
              <a:gd name="T59" fmla="*/ 28 h 51"/>
              <a:gd name="T60" fmla="*/ 3 w 452"/>
              <a:gd name="T61" fmla="*/ 21 h 51"/>
              <a:gd name="T62" fmla="*/ 3 w 452"/>
              <a:gd name="T63" fmla="*/ 14 h 51"/>
              <a:gd name="T64" fmla="*/ 3 w 452"/>
              <a:gd name="T65" fmla="*/ 8 h 51"/>
              <a:gd name="T66" fmla="*/ 3 w 452"/>
              <a:gd name="T67" fmla="*/ 3 h 51"/>
              <a:gd name="T68" fmla="*/ 2 w 4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2" h="51">
                <a:moveTo>
                  <a:pt x="452" y="24"/>
                </a:moveTo>
                <a:lnTo>
                  <a:pt x="452" y="21"/>
                </a:lnTo>
                <a:lnTo>
                  <a:pt x="450" y="18"/>
                </a:lnTo>
                <a:lnTo>
                  <a:pt x="450" y="14"/>
                </a:lnTo>
                <a:lnTo>
                  <a:pt x="450" y="11"/>
                </a:lnTo>
                <a:lnTo>
                  <a:pt x="450" y="8"/>
                </a:lnTo>
                <a:lnTo>
                  <a:pt x="450" y="6"/>
                </a:lnTo>
                <a:lnTo>
                  <a:pt x="450" y="3"/>
                </a:lnTo>
                <a:lnTo>
                  <a:pt x="450" y="0"/>
                </a:lnTo>
                <a:lnTo>
                  <a:pt x="447" y="0"/>
                </a:lnTo>
                <a:lnTo>
                  <a:pt x="447" y="3"/>
                </a:lnTo>
                <a:lnTo>
                  <a:pt x="447" y="6"/>
                </a:lnTo>
                <a:lnTo>
                  <a:pt x="447" y="8"/>
                </a:lnTo>
                <a:lnTo>
                  <a:pt x="447" y="11"/>
                </a:lnTo>
                <a:lnTo>
                  <a:pt x="447" y="14"/>
                </a:lnTo>
                <a:lnTo>
                  <a:pt x="447" y="18"/>
                </a:lnTo>
                <a:lnTo>
                  <a:pt x="449" y="21"/>
                </a:lnTo>
                <a:lnTo>
                  <a:pt x="449" y="24"/>
                </a:lnTo>
                <a:lnTo>
                  <a:pt x="449" y="28"/>
                </a:lnTo>
                <a:lnTo>
                  <a:pt x="447" y="31"/>
                </a:lnTo>
                <a:lnTo>
                  <a:pt x="447" y="34"/>
                </a:lnTo>
                <a:lnTo>
                  <a:pt x="447" y="38"/>
                </a:lnTo>
                <a:lnTo>
                  <a:pt x="447" y="41"/>
                </a:lnTo>
                <a:lnTo>
                  <a:pt x="447" y="44"/>
                </a:lnTo>
                <a:lnTo>
                  <a:pt x="447" y="48"/>
                </a:lnTo>
                <a:lnTo>
                  <a:pt x="447" y="51"/>
                </a:lnTo>
                <a:lnTo>
                  <a:pt x="450" y="51"/>
                </a:lnTo>
                <a:lnTo>
                  <a:pt x="450" y="48"/>
                </a:lnTo>
                <a:lnTo>
                  <a:pt x="450" y="44"/>
                </a:lnTo>
                <a:lnTo>
                  <a:pt x="450" y="41"/>
                </a:lnTo>
                <a:lnTo>
                  <a:pt x="450" y="38"/>
                </a:lnTo>
                <a:lnTo>
                  <a:pt x="450" y="34"/>
                </a:lnTo>
                <a:lnTo>
                  <a:pt x="450" y="31"/>
                </a:lnTo>
                <a:lnTo>
                  <a:pt x="452" y="28"/>
                </a:lnTo>
                <a:lnTo>
                  <a:pt x="45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16" name="Freeform 1521">
            <a:extLst>
              <a:ext uri="{FF2B5EF4-FFF2-40B4-BE49-F238E27FC236}">
                <a16:creationId xmlns:a16="http://schemas.microsoft.com/office/drawing/2014/main" id="{2DD5A351-D465-FD38-BF05-B057E6A9CA9B}"/>
              </a:ext>
            </a:extLst>
          </p:cNvPr>
          <p:cNvSpPr>
            <a:spLocks noEditPoints="1"/>
          </p:cNvSpPr>
          <p:nvPr/>
        </p:nvSpPr>
        <p:spPr bwMode="auto">
          <a:xfrm>
            <a:off x="2203450" y="2719388"/>
            <a:ext cx="711200" cy="80963"/>
          </a:xfrm>
          <a:custGeom>
            <a:avLst/>
            <a:gdLst>
              <a:gd name="T0" fmla="*/ 448 w 448"/>
              <a:gd name="T1" fmla="*/ 21 h 51"/>
              <a:gd name="T2" fmla="*/ 447 w 448"/>
              <a:gd name="T3" fmla="*/ 14 h 51"/>
              <a:gd name="T4" fmla="*/ 447 w 448"/>
              <a:gd name="T5" fmla="*/ 8 h 51"/>
              <a:gd name="T6" fmla="*/ 447 w 448"/>
              <a:gd name="T7" fmla="*/ 3 h 51"/>
              <a:gd name="T8" fmla="*/ 443 w 448"/>
              <a:gd name="T9" fmla="*/ 0 h 51"/>
              <a:gd name="T10" fmla="*/ 443 w 448"/>
              <a:gd name="T11" fmla="*/ 6 h 51"/>
              <a:gd name="T12" fmla="*/ 443 w 448"/>
              <a:gd name="T13" fmla="*/ 11 h 51"/>
              <a:gd name="T14" fmla="*/ 443 w 448"/>
              <a:gd name="T15" fmla="*/ 18 h 51"/>
              <a:gd name="T16" fmla="*/ 445 w 448"/>
              <a:gd name="T17" fmla="*/ 24 h 51"/>
              <a:gd name="T18" fmla="*/ 443 w 448"/>
              <a:gd name="T19" fmla="*/ 31 h 51"/>
              <a:gd name="T20" fmla="*/ 443 w 448"/>
              <a:gd name="T21" fmla="*/ 38 h 51"/>
              <a:gd name="T22" fmla="*/ 443 w 448"/>
              <a:gd name="T23" fmla="*/ 44 h 51"/>
              <a:gd name="T24" fmla="*/ 443 w 448"/>
              <a:gd name="T25" fmla="*/ 51 h 51"/>
              <a:gd name="T26" fmla="*/ 447 w 448"/>
              <a:gd name="T27" fmla="*/ 48 h 51"/>
              <a:gd name="T28" fmla="*/ 447 w 448"/>
              <a:gd name="T29" fmla="*/ 41 h 51"/>
              <a:gd name="T30" fmla="*/ 447 w 448"/>
              <a:gd name="T31" fmla="*/ 34 h 51"/>
              <a:gd name="T32" fmla="*/ 448 w 448"/>
              <a:gd name="T33" fmla="*/ 28 h 51"/>
              <a:gd name="T34" fmla="*/ 1 w 448"/>
              <a:gd name="T35" fmla="*/ 0 h 51"/>
              <a:gd name="T36" fmla="*/ 0 w 448"/>
              <a:gd name="T37" fmla="*/ 6 h 51"/>
              <a:gd name="T38" fmla="*/ 0 w 448"/>
              <a:gd name="T39" fmla="*/ 11 h 51"/>
              <a:gd name="T40" fmla="*/ 0 w 448"/>
              <a:gd name="T41" fmla="*/ 18 h 51"/>
              <a:gd name="T42" fmla="*/ 0 w 448"/>
              <a:gd name="T43" fmla="*/ 24 h 51"/>
              <a:gd name="T44" fmla="*/ 0 w 448"/>
              <a:gd name="T45" fmla="*/ 31 h 51"/>
              <a:gd name="T46" fmla="*/ 0 w 448"/>
              <a:gd name="T47" fmla="*/ 38 h 51"/>
              <a:gd name="T48" fmla="*/ 0 w 448"/>
              <a:gd name="T49" fmla="*/ 44 h 51"/>
              <a:gd name="T50" fmla="*/ 0 w 448"/>
              <a:gd name="T51" fmla="*/ 51 h 51"/>
              <a:gd name="T52" fmla="*/ 3 w 448"/>
              <a:gd name="T53" fmla="*/ 48 h 51"/>
              <a:gd name="T54" fmla="*/ 3 w 448"/>
              <a:gd name="T55" fmla="*/ 41 h 51"/>
              <a:gd name="T56" fmla="*/ 3 w 448"/>
              <a:gd name="T57" fmla="*/ 34 h 51"/>
              <a:gd name="T58" fmla="*/ 3 w 448"/>
              <a:gd name="T59" fmla="*/ 28 h 51"/>
              <a:gd name="T60" fmla="*/ 3 w 448"/>
              <a:gd name="T61" fmla="*/ 21 h 51"/>
              <a:gd name="T62" fmla="*/ 3 w 448"/>
              <a:gd name="T63" fmla="*/ 14 h 51"/>
              <a:gd name="T64" fmla="*/ 3 w 448"/>
              <a:gd name="T65" fmla="*/ 8 h 51"/>
              <a:gd name="T66" fmla="*/ 3 w 448"/>
              <a:gd name="T67" fmla="*/ 3 h 51"/>
              <a:gd name="T68" fmla="*/ 1 w 44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8" h="51">
                <a:moveTo>
                  <a:pt x="448" y="24"/>
                </a:moveTo>
                <a:lnTo>
                  <a:pt x="448" y="21"/>
                </a:lnTo>
                <a:lnTo>
                  <a:pt x="447" y="18"/>
                </a:lnTo>
                <a:lnTo>
                  <a:pt x="447" y="14"/>
                </a:lnTo>
                <a:lnTo>
                  <a:pt x="447" y="11"/>
                </a:lnTo>
                <a:lnTo>
                  <a:pt x="447" y="8"/>
                </a:lnTo>
                <a:lnTo>
                  <a:pt x="447" y="6"/>
                </a:lnTo>
                <a:lnTo>
                  <a:pt x="447" y="3"/>
                </a:lnTo>
                <a:lnTo>
                  <a:pt x="447" y="0"/>
                </a:lnTo>
                <a:lnTo>
                  <a:pt x="443" y="0"/>
                </a:lnTo>
                <a:lnTo>
                  <a:pt x="443" y="3"/>
                </a:lnTo>
                <a:lnTo>
                  <a:pt x="443" y="6"/>
                </a:lnTo>
                <a:lnTo>
                  <a:pt x="443" y="8"/>
                </a:lnTo>
                <a:lnTo>
                  <a:pt x="443" y="11"/>
                </a:lnTo>
                <a:lnTo>
                  <a:pt x="443" y="14"/>
                </a:lnTo>
                <a:lnTo>
                  <a:pt x="443" y="18"/>
                </a:lnTo>
                <a:lnTo>
                  <a:pt x="445" y="21"/>
                </a:lnTo>
                <a:lnTo>
                  <a:pt x="445" y="24"/>
                </a:lnTo>
                <a:lnTo>
                  <a:pt x="445" y="28"/>
                </a:lnTo>
                <a:lnTo>
                  <a:pt x="443" y="31"/>
                </a:lnTo>
                <a:lnTo>
                  <a:pt x="443" y="34"/>
                </a:lnTo>
                <a:lnTo>
                  <a:pt x="443" y="38"/>
                </a:lnTo>
                <a:lnTo>
                  <a:pt x="443" y="41"/>
                </a:lnTo>
                <a:lnTo>
                  <a:pt x="443" y="44"/>
                </a:lnTo>
                <a:lnTo>
                  <a:pt x="443" y="48"/>
                </a:lnTo>
                <a:lnTo>
                  <a:pt x="443" y="51"/>
                </a:lnTo>
                <a:lnTo>
                  <a:pt x="447" y="51"/>
                </a:lnTo>
                <a:lnTo>
                  <a:pt x="447" y="48"/>
                </a:lnTo>
                <a:lnTo>
                  <a:pt x="447" y="44"/>
                </a:lnTo>
                <a:lnTo>
                  <a:pt x="447" y="41"/>
                </a:lnTo>
                <a:lnTo>
                  <a:pt x="447" y="38"/>
                </a:lnTo>
                <a:lnTo>
                  <a:pt x="447" y="34"/>
                </a:lnTo>
                <a:lnTo>
                  <a:pt x="447" y="31"/>
                </a:lnTo>
                <a:lnTo>
                  <a:pt x="448" y="28"/>
                </a:lnTo>
                <a:lnTo>
                  <a:pt x="448"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17" name="Freeform 1522">
            <a:extLst>
              <a:ext uri="{FF2B5EF4-FFF2-40B4-BE49-F238E27FC236}">
                <a16:creationId xmlns:a16="http://schemas.microsoft.com/office/drawing/2014/main" id="{4254B784-DE0F-BDC4-444A-34C4A003665B}"/>
              </a:ext>
            </a:extLst>
          </p:cNvPr>
          <p:cNvSpPr>
            <a:spLocks noEditPoints="1"/>
          </p:cNvSpPr>
          <p:nvPr/>
        </p:nvSpPr>
        <p:spPr bwMode="auto">
          <a:xfrm>
            <a:off x="2205038" y="2719388"/>
            <a:ext cx="708025" cy="80963"/>
          </a:xfrm>
          <a:custGeom>
            <a:avLst/>
            <a:gdLst>
              <a:gd name="T0" fmla="*/ 446 w 446"/>
              <a:gd name="T1" fmla="*/ 21 h 51"/>
              <a:gd name="T2" fmla="*/ 444 w 446"/>
              <a:gd name="T3" fmla="*/ 14 h 51"/>
              <a:gd name="T4" fmla="*/ 444 w 446"/>
              <a:gd name="T5" fmla="*/ 8 h 51"/>
              <a:gd name="T6" fmla="*/ 444 w 446"/>
              <a:gd name="T7" fmla="*/ 3 h 51"/>
              <a:gd name="T8" fmla="*/ 441 w 446"/>
              <a:gd name="T9" fmla="*/ 0 h 51"/>
              <a:gd name="T10" fmla="*/ 441 w 446"/>
              <a:gd name="T11" fmla="*/ 6 h 51"/>
              <a:gd name="T12" fmla="*/ 441 w 446"/>
              <a:gd name="T13" fmla="*/ 11 h 51"/>
              <a:gd name="T14" fmla="*/ 441 w 446"/>
              <a:gd name="T15" fmla="*/ 18 h 51"/>
              <a:gd name="T16" fmla="*/ 442 w 446"/>
              <a:gd name="T17" fmla="*/ 24 h 51"/>
              <a:gd name="T18" fmla="*/ 441 w 446"/>
              <a:gd name="T19" fmla="*/ 31 h 51"/>
              <a:gd name="T20" fmla="*/ 441 w 446"/>
              <a:gd name="T21" fmla="*/ 38 h 51"/>
              <a:gd name="T22" fmla="*/ 441 w 446"/>
              <a:gd name="T23" fmla="*/ 44 h 51"/>
              <a:gd name="T24" fmla="*/ 441 w 446"/>
              <a:gd name="T25" fmla="*/ 51 h 51"/>
              <a:gd name="T26" fmla="*/ 444 w 446"/>
              <a:gd name="T27" fmla="*/ 48 h 51"/>
              <a:gd name="T28" fmla="*/ 444 w 446"/>
              <a:gd name="T29" fmla="*/ 41 h 51"/>
              <a:gd name="T30" fmla="*/ 444 w 446"/>
              <a:gd name="T31" fmla="*/ 34 h 51"/>
              <a:gd name="T32" fmla="*/ 446 w 446"/>
              <a:gd name="T33" fmla="*/ 28 h 51"/>
              <a:gd name="T34" fmla="*/ 2 w 446"/>
              <a:gd name="T35" fmla="*/ 0 h 51"/>
              <a:gd name="T36" fmla="*/ 0 w 446"/>
              <a:gd name="T37" fmla="*/ 6 h 51"/>
              <a:gd name="T38" fmla="*/ 0 w 446"/>
              <a:gd name="T39" fmla="*/ 11 h 51"/>
              <a:gd name="T40" fmla="*/ 0 w 446"/>
              <a:gd name="T41" fmla="*/ 18 h 51"/>
              <a:gd name="T42" fmla="*/ 0 w 446"/>
              <a:gd name="T43" fmla="*/ 24 h 51"/>
              <a:gd name="T44" fmla="*/ 0 w 446"/>
              <a:gd name="T45" fmla="*/ 31 h 51"/>
              <a:gd name="T46" fmla="*/ 0 w 446"/>
              <a:gd name="T47" fmla="*/ 38 h 51"/>
              <a:gd name="T48" fmla="*/ 0 w 446"/>
              <a:gd name="T49" fmla="*/ 44 h 51"/>
              <a:gd name="T50" fmla="*/ 0 w 446"/>
              <a:gd name="T51" fmla="*/ 51 h 51"/>
              <a:gd name="T52" fmla="*/ 4 w 446"/>
              <a:gd name="T53" fmla="*/ 48 h 51"/>
              <a:gd name="T54" fmla="*/ 4 w 446"/>
              <a:gd name="T55" fmla="*/ 41 h 51"/>
              <a:gd name="T56" fmla="*/ 4 w 446"/>
              <a:gd name="T57" fmla="*/ 34 h 51"/>
              <a:gd name="T58" fmla="*/ 4 w 446"/>
              <a:gd name="T59" fmla="*/ 28 h 51"/>
              <a:gd name="T60" fmla="*/ 4 w 446"/>
              <a:gd name="T61" fmla="*/ 21 h 51"/>
              <a:gd name="T62" fmla="*/ 4 w 446"/>
              <a:gd name="T63" fmla="*/ 14 h 51"/>
              <a:gd name="T64" fmla="*/ 4 w 446"/>
              <a:gd name="T65" fmla="*/ 8 h 51"/>
              <a:gd name="T66" fmla="*/ 4 w 446"/>
              <a:gd name="T67" fmla="*/ 3 h 51"/>
              <a:gd name="T68" fmla="*/ 2 w 4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6" h="51">
                <a:moveTo>
                  <a:pt x="446" y="24"/>
                </a:moveTo>
                <a:lnTo>
                  <a:pt x="446" y="21"/>
                </a:lnTo>
                <a:lnTo>
                  <a:pt x="444" y="18"/>
                </a:lnTo>
                <a:lnTo>
                  <a:pt x="444" y="14"/>
                </a:lnTo>
                <a:lnTo>
                  <a:pt x="444" y="11"/>
                </a:lnTo>
                <a:lnTo>
                  <a:pt x="444" y="8"/>
                </a:lnTo>
                <a:lnTo>
                  <a:pt x="444" y="6"/>
                </a:lnTo>
                <a:lnTo>
                  <a:pt x="444" y="3"/>
                </a:lnTo>
                <a:lnTo>
                  <a:pt x="444" y="0"/>
                </a:lnTo>
                <a:lnTo>
                  <a:pt x="441" y="0"/>
                </a:lnTo>
                <a:lnTo>
                  <a:pt x="441" y="3"/>
                </a:lnTo>
                <a:lnTo>
                  <a:pt x="441" y="6"/>
                </a:lnTo>
                <a:lnTo>
                  <a:pt x="441" y="8"/>
                </a:lnTo>
                <a:lnTo>
                  <a:pt x="441" y="11"/>
                </a:lnTo>
                <a:lnTo>
                  <a:pt x="441" y="14"/>
                </a:lnTo>
                <a:lnTo>
                  <a:pt x="441" y="18"/>
                </a:lnTo>
                <a:lnTo>
                  <a:pt x="442" y="21"/>
                </a:lnTo>
                <a:lnTo>
                  <a:pt x="442" y="24"/>
                </a:lnTo>
                <a:lnTo>
                  <a:pt x="442" y="28"/>
                </a:lnTo>
                <a:lnTo>
                  <a:pt x="441" y="31"/>
                </a:lnTo>
                <a:lnTo>
                  <a:pt x="441" y="34"/>
                </a:lnTo>
                <a:lnTo>
                  <a:pt x="441" y="38"/>
                </a:lnTo>
                <a:lnTo>
                  <a:pt x="441" y="41"/>
                </a:lnTo>
                <a:lnTo>
                  <a:pt x="441" y="44"/>
                </a:lnTo>
                <a:lnTo>
                  <a:pt x="441" y="48"/>
                </a:lnTo>
                <a:lnTo>
                  <a:pt x="441" y="51"/>
                </a:lnTo>
                <a:lnTo>
                  <a:pt x="444" y="51"/>
                </a:lnTo>
                <a:lnTo>
                  <a:pt x="444" y="48"/>
                </a:lnTo>
                <a:lnTo>
                  <a:pt x="444" y="44"/>
                </a:lnTo>
                <a:lnTo>
                  <a:pt x="444" y="41"/>
                </a:lnTo>
                <a:lnTo>
                  <a:pt x="444" y="38"/>
                </a:lnTo>
                <a:lnTo>
                  <a:pt x="444" y="34"/>
                </a:lnTo>
                <a:lnTo>
                  <a:pt x="444" y="31"/>
                </a:lnTo>
                <a:lnTo>
                  <a:pt x="446" y="28"/>
                </a:lnTo>
                <a:lnTo>
                  <a:pt x="44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18" name="Freeform 1523">
            <a:extLst>
              <a:ext uri="{FF2B5EF4-FFF2-40B4-BE49-F238E27FC236}">
                <a16:creationId xmlns:a16="http://schemas.microsoft.com/office/drawing/2014/main" id="{3094AA4C-01BF-9CEA-0681-675FEE7A950E}"/>
              </a:ext>
            </a:extLst>
          </p:cNvPr>
          <p:cNvSpPr>
            <a:spLocks noEditPoints="1"/>
          </p:cNvSpPr>
          <p:nvPr/>
        </p:nvSpPr>
        <p:spPr bwMode="auto">
          <a:xfrm>
            <a:off x="2208213" y="2719388"/>
            <a:ext cx="701675" cy="80963"/>
          </a:xfrm>
          <a:custGeom>
            <a:avLst/>
            <a:gdLst>
              <a:gd name="T0" fmla="*/ 442 w 442"/>
              <a:gd name="T1" fmla="*/ 21 h 51"/>
              <a:gd name="T2" fmla="*/ 440 w 442"/>
              <a:gd name="T3" fmla="*/ 14 h 51"/>
              <a:gd name="T4" fmla="*/ 440 w 442"/>
              <a:gd name="T5" fmla="*/ 8 h 51"/>
              <a:gd name="T6" fmla="*/ 440 w 442"/>
              <a:gd name="T7" fmla="*/ 3 h 51"/>
              <a:gd name="T8" fmla="*/ 437 w 442"/>
              <a:gd name="T9" fmla="*/ 0 h 51"/>
              <a:gd name="T10" fmla="*/ 437 w 442"/>
              <a:gd name="T11" fmla="*/ 6 h 51"/>
              <a:gd name="T12" fmla="*/ 437 w 442"/>
              <a:gd name="T13" fmla="*/ 11 h 51"/>
              <a:gd name="T14" fmla="*/ 437 w 442"/>
              <a:gd name="T15" fmla="*/ 18 h 51"/>
              <a:gd name="T16" fmla="*/ 439 w 442"/>
              <a:gd name="T17" fmla="*/ 24 h 51"/>
              <a:gd name="T18" fmla="*/ 437 w 442"/>
              <a:gd name="T19" fmla="*/ 31 h 51"/>
              <a:gd name="T20" fmla="*/ 437 w 442"/>
              <a:gd name="T21" fmla="*/ 38 h 51"/>
              <a:gd name="T22" fmla="*/ 437 w 442"/>
              <a:gd name="T23" fmla="*/ 44 h 51"/>
              <a:gd name="T24" fmla="*/ 437 w 442"/>
              <a:gd name="T25" fmla="*/ 51 h 51"/>
              <a:gd name="T26" fmla="*/ 440 w 442"/>
              <a:gd name="T27" fmla="*/ 48 h 51"/>
              <a:gd name="T28" fmla="*/ 440 w 442"/>
              <a:gd name="T29" fmla="*/ 41 h 51"/>
              <a:gd name="T30" fmla="*/ 440 w 442"/>
              <a:gd name="T31" fmla="*/ 34 h 51"/>
              <a:gd name="T32" fmla="*/ 442 w 442"/>
              <a:gd name="T33" fmla="*/ 28 h 51"/>
              <a:gd name="T34" fmla="*/ 2 w 442"/>
              <a:gd name="T35" fmla="*/ 0 h 51"/>
              <a:gd name="T36" fmla="*/ 0 w 442"/>
              <a:gd name="T37" fmla="*/ 6 h 51"/>
              <a:gd name="T38" fmla="*/ 0 w 442"/>
              <a:gd name="T39" fmla="*/ 11 h 51"/>
              <a:gd name="T40" fmla="*/ 0 w 442"/>
              <a:gd name="T41" fmla="*/ 18 h 51"/>
              <a:gd name="T42" fmla="*/ 0 w 442"/>
              <a:gd name="T43" fmla="*/ 24 h 51"/>
              <a:gd name="T44" fmla="*/ 0 w 442"/>
              <a:gd name="T45" fmla="*/ 31 h 51"/>
              <a:gd name="T46" fmla="*/ 0 w 442"/>
              <a:gd name="T47" fmla="*/ 38 h 51"/>
              <a:gd name="T48" fmla="*/ 0 w 442"/>
              <a:gd name="T49" fmla="*/ 44 h 51"/>
              <a:gd name="T50" fmla="*/ 0 w 442"/>
              <a:gd name="T51" fmla="*/ 51 h 51"/>
              <a:gd name="T52" fmla="*/ 3 w 442"/>
              <a:gd name="T53" fmla="*/ 48 h 51"/>
              <a:gd name="T54" fmla="*/ 3 w 442"/>
              <a:gd name="T55" fmla="*/ 41 h 51"/>
              <a:gd name="T56" fmla="*/ 3 w 442"/>
              <a:gd name="T57" fmla="*/ 34 h 51"/>
              <a:gd name="T58" fmla="*/ 3 w 442"/>
              <a:gd name="T59" fmla="*/ 28 h 51"/>
              <a:gd name="T60" fmla="*/ 3 w 442"/>
              <a:gd name="T61" fmla="*/ 21 h 51"/>
              <a:gd name="T62" fmla="*/ 3 w 442"/>
              <a:gd name="T63" fmla="*/ 14 h 51"/>
              <a:gd name="T64" fmla="*/ 3 w 442"/>
              <a:gd name="T65" fmla="*/ 8 h 51"/>
              <a:gd name="T66" fmla="*/ 3 w 442"/>
              <a:gd name="T67" fmla="*/ 3 h 51"/>
              <a:gd name="T68" fmla="*/ 2 w 4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2" h="51">
                <a:moveTo>
                  <a:pt x="442" y="24"/>
                </a:moveTo>
                <a:lnTo>
                  <a:pt x="442" y="21"/>
                </a:lnTo>
                <a:lnTo>
                  <a:pt x="440" y="18"/>
                </a:lnTo>
                <a:lnTo>
                  <a:pt x="440" y="14"/>
                </a:lnTo>
                <a:lnTo>
                  <a:pt x="440" y="11"/>
                </a:lnTo>
                <a:lnTo>
                  <a:pt x="440" y="8"/>
                </a:lnTo>
                <a:lnTo>
                  <a:pt x="440" y="6"/>
                </a:lnTo>
                <a:lnTo>
                  <a:pt x="440" y="3"/>
                </a:lnTo>
                <a:lnTo>
                  <a:pt x="440" y="0"/>
                </a:lnTo>
                <a:lnTo>
                  <a:pt x="437" y="0"/>
                </a:lnTo>
                <a:lnTo>
                  <a:pt x="437" y="3"/>
                </a:lnTo>
                <a:lnTo>
                  <a:pt x="437" y="6"/>
                </a:lnTo>
                <a:lnTo>
                  <a:pt x="437" y="8"/>
                </a:lnTo>
                <a:lnTo>
                  <a:pt x="437" y="11"/>
                </a:lnTo>
                <a:lnTo>
                  <a:pt x="437" y="14"/>
                </a:lnTo>
                <a:lnTo>
                  <a:pt x="437" y="18"/>
                </a:lnTo>
                <a:lnTo>
                  <a:pt x="439" y="21"/>
                </a:lnTo>
                <a:lnTo>
                  <a:pt x="439" y="24"/>
                </a:lnTo>
                <a:lnTo>
                  <a:pt x="439" y="28"/>
                </a:lnTo>
                <a:lnTo>
                  <a:pt x="437" y="31"/>
                </a:lnTo>
                <a:lnTo>
                  <a:pt x="437" y="34"/>
                </a:lnTo>
                <a:lnTo>
                  <a:pt x="437" y="38"/>
                </a:lnTo>
                <a:lnTo>
                  <a:pt x="437" y="41"/>
                </a:lnTo>
                <a:lnTo>
                  <a:pt x="437" y="44"/>
                </a:lnTo>
                <a:lnTo>
                  <a:pt x="437" y="48"/>
                </a:lnTo>
                <a:lnTo>
                  <a:pt x="437" y="51"/>
                </a:lnTo>
                <a:lnTo>
                  <a:pt x="440" y="51"/>
                </a:lnTo>
                <a:lnTo>
                  <a:pt x="440" y="48"/>
                </a:lnTo>
                <a:lnTo>
                  <a:pt x="440" y="44"/>
                </a:lnTo>
                <a:lnTo>
                  <a:pt x="440" y="41"/>
                </a:lnTo>
                <a:lnTo>
                  <a:pt x="440" y="38"/>
                </a:lnTo>
                <a:lnTo>
                  <a:pt x="440" y="34"/>
                </a:lnTo>
                <a:lnTo>
                  <a:pt x="440" y="31"/>
                </a:lnTo>
                <a:lnTo>
                  <a:pt x="442" y="28"/>
                </a:lnTo>
                <a:lnTo>
                  <a:pt x="44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19" name="Freeform 1524">
            <a:extLst>
              <a:ext uri="{FF2B5EF4-FFF2-40B4-BE49-F238E27FC236}">
                <a16:creationId xmlns:a16="http://schemas.microsoft.com/office/drawing/2014/main" id="{67885498-3427-0E57-BF33-78176E535C15}"/>
              </a:ext>
            </a:extLst>
          </p:cNvPr>
          <p:cNvSpPr>
            <a:spLocks noEditPoints="1"/>
          </p:cNvSpPr>
          <p:nvPr/>
        </p:nvSpPr>
        <p:spPr bwMode="auto">
          <a:xfrm>
            <a:off x="2211388" y="2719388"/>
            <a:ext cx="695325" cy="80963"/>
          </a:xfrm>
          <a:custGeom>
            <a:avLst/>
            <a:gdLst>
              <a:gd name="T0" fmla="*/ 438 w 438"/>
              <a:gd name="T1" fmla="*/ 21 h 51"/>
              <a:gd name="T2" fmla="*/ 437 w 438"/>
              <a:gd name="T3" fmla="*/ 14 h 51"/>
              <a:gd name="T4" fmla="*/ 437 w 438"/>
              <a:gd name="T5" fmla="*/ 8 h 51"/>
              <a:gd name="T6" fmla="*/ 437 w 438"/>
              <a:gd name="T7" fmla="*/ 3 h 51"/>
              <a:gd name="T8" fmla="*/ 433 w 438"/>
              <a:gd name="T9" fmla="*/ 0 h 51"/>
              <a:gd name="T10" fmla="*/ 433 w 438"/>
              <a:gd name="T11" fmla="*/ 6 h 51"/>
              <a:gd name="T12" fmla="*/ 433 w 438"/>
              <a:gd name="T13" fmla="*/ 11 h 51"/>
              <a:gd name="T14" fmla="*/ 433 w 438"/>
              <a:gd name="T15" fmla="*/ 18 h 51"/>
              <a:gd name="T16" fmla="*/ 435 w 438"/>
              <a:gd name="T17" fmla="*/ 24 h 51"/>
              <a:gd name="T18" fmla="*/ 433 w 438"/>
              <a:gd name="T19" fmla="*/ 31 h 51"/>
              <a:gd name="T20" fmla="*/ 433 w 438"/>
              <a:gd name="T21" fmla="*/ 38 h 51"/>
              <a:gd name="T22" fmla="*/ 433 w 438"/>
              <a:gd name="T23" fmla="*/ 44 h 51"/>
              <a:gd name="T24" fmla="*/ 433 w 438"/>
              <a:gd name="T25" fmla="*/ 51 h 51"/>
              <a:gd name="T26" fmla="*/ 437 w 438"/>
              <a:gd name="T27" fmla="*/ 48 h 51"/>
              <a:gd name="T28" fmla="*/ 437 w 438"/>
              <a:gd name="T29" fmla="*/ 41 h 51"/>
              <a:gd name="T30" fmla="*/ 437 w 438"/>
              <a:gd name="T31" fmla="*/ 34 h 51"/>
              <a:gd name="T32" fmla="*/ 438 w 438"/>
              <a:gd name="T33" fmla="*/ 28 h 51"/>
              <a:gd name="T34" fmla="*/ 1 w 438"/>
              <a:gd name="T35" fmla="*/ 0 h 51"/>
              <a:gd name="T36" fmla="*/ 0 w 438"/>
              <a:gd name="T37" fmla="*/ 6 h 51"/>
              <a:gd name="T38" fmla="*/ 0 w 438"/>
              <a:gd name="T39" fmla="*/ 11 h 51"/>
              <a:gd name="T40" fmla="*/ 0 w 438"/>
              <a:gd name="T41" fmla="*/ 18 h 51"/>
              <a:gd name="T42" fmla="*/ 0 w 438"/>
              <a:gd name="T43" fmla="*/ 24 h 51"/>
              <a:gd name="T44" fmla="*/ 0 w 438"/>
              <a:gd name="T45" fmla="*/ 31 h 51"/>
              <a:gd name="T46" fmla="*/ 0 w 438"/>
              <a:gd name="T47" fmla="*/ 38 h 51"/>
              <a:gd name="T48" fmla="*/ 0 w 438"/>
              <a:gd name="T49" fmla="*/ 44 h 51"/>
              <a:gd name="T50" fmla="*/ 0 w 438"/>
              <a:gd name="T51" fmla="*/ 51 h 51"/>
              <a:gd name="T52" fmla="*/ 3 w 438"/>
              <a:gd name="T53" fmla="*/ 48 h 51"/>
              <a:gd name="T54" fmla="*/ 3 w 438"/>
              <a:gd name="T55" fmla="*/ 41 h 51"/>
              <a:gd name="T56" fmla="*/ 3 w 438"/>
              <a:gd name="T57" fmla="*/ 34 h 51"/>
              <a:gd name="T58" fmla="*/ 3 w 438"/>
              <a:gd name="T59" fmla="*/ 28 h 51"/>
              <a:gd name="T60" fmla="*/ 3 w 438"/>
              <a:gd name="T61" fmla="*/ 21 h 51"/>
              <a:gd name="T62" fmla="*/ 3 w 438"/>
              <a:gd name="T63" fmla="*/ 14 h 51"/>
              <a:gd name="T64" fmla="*/ 3 w 438"/>
              <a:gd name="T65" fmla="*/ 8 h 51"/>
              <a:gd name="T66" fmla="*/ 3 w 438"/>
              <a:gd name="T67" fmla="*/ 3 h 51"/>
              <a:gd name="T68" fmla="*/ 1 w 43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8" h="51">
                <a:moveTo>
                  <a:pt x="438" y="24"/>
                </a:moveTo>
                <a:lnTo>
                  <a:pt x="438" y="21"/>
                </a:lnTo>
                <a:lnTo>
                  <a:pt x="437" y="18"/>
                </a:lnTo>
                <a:lnTo>
                  <a:pt x="437" y="14"/>
                </a:lnTo>
                <a:lnTo>
                  <a:pt x="437" y="11"/>
                </a:lnTo>
                <a:lnTo>
                  <a:pt x="437" y="8"/>
                </a:lnTo>
                <a:lnTo>
                  <a:pt x="437" y="6"/>
                </a:lnTo>
                <a:lnTo>
                  <a:pt x="437" y="3"/>
                </a:lnTo>
                <a:lnTo>
                  <a:pt x="437" y="0"/>
                </a:lnTo>
                <a:lnTo>
                  <a:pt x="433" y="0"/>
                </a:lnTo>
                <a:lnTo>
                  <a:pt x="433" y="3"/>
                </a:lnTo>
                <a:lnTo>
                  <a:pt x="433" y="6"/>
                </a:lnTo>
                <a:lnTo>
                  <a:pt x="433" y="8"/>
                </a:lnTo>
                <a:lnTo>
                  <a:pt x="433" y="11"/>
                </a:lnTo>
                <a:lnTo>
                  <a:pt x="433" y="14"/>
                </a:lnTo>
                <a:lnTo>
                  <a:pt x="433" y="18"/>
                </a:lnTo>
                <a:lnTo>
                  <a:pt x="435" y="21"/>
                </a:lnTo>
                <a:lnTo>
                  <a:pt x="435" y="24"/>
                </a:lnTo>
                <a:lnTo>
                  <a:pt x="435" y="28"/>
                </a:lnTo>
                <a:lnTo>
                  <a:pt x="433" y="31"/>
                </a:lnTo>
                <a:lnTo>
                  <a:pt x="433" y="34"/>
                </a:lnTo>
                <a:lnTo>
                  <a:pt x="433" y="38"/>
                </a:lnTo>
                <a:lnTo>
                  <a:pt x="433" y="41"/>
                </a:lnTo>
                <a:lnTo>
                  <a:pt x="433" y="44"/>
                </a:lnTo>
                <a:lnTo>
                  <a:pt x="433" y="48"/>
                </a:lnTo>
                <a:lnTo>
                  <a:pt x="433" y="51"/>
                </a:lnTo>
                <a:lnTo>
                  <a:pt x="437" y="51"/>
                </a:lnTo>
                <a:lnTo>
                  <a:pt x="437" y="48"/>
                </a:lnTo>
                <a:lnTo>
                  <a:pt x="437" y="44"/>
                </a:lnTo>
                <a:lnTo>
                  <a:pt x="437" y="41"/>
                </a:lnTo>
                <a:lnTo>
                  <a:pt x="437" y="38"/>
                </a:lnTo>
                <a:lnTo>
                  <a:pt x="437" y="34"/>
                </a:lnTo>
                <a:lnTo>
                  <a:pt x="437" y="31"/>
                </a:lnTo>
                <a:lnTo>
                  <a:pt x="438" y="28"/>
                </a:lnTo>
                <a:lnTo>
                  <a:pt x="438"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20" name="Freeform 1525">
            <a:extLst>
              <a:ext uri="{FF2B5EF4-FFF2-40B4-BE49-F238E27FC236}">
                <a16:creationId xmlns:a16="http://schemas.microsoft.com/office/drawing/2014/main" id="{82DECAEB-7203-937E-6496-92065FF9B3FF}"/>
              </a:ext>
            </a:extLst>
          </p:cNvPr>
          <p:cNvSpPr>
            <a:spLocks noEditPoints="1"/>
          </p:cNvSpPr>
          <p:nvPr/>
        </p:nvSpPr>
        <p:spPr bwMode="auto">
          <a:xfrm>
            <a:off x="2212975" y="2719388"/>
            <a:ext cx="692150" cy="80963"/>
          </a:xfrm>
          <a:custGeom>
            <a:avLst/>
            <a:gdLst>
              <a:gd name="T0" fmla="*/ 436 w 436"/>
              <a:gd name="T1" fmla="*/ 21 h 51"/>
              <a:gd name="T2" fmla="*/ 434 w 436"/>
              <a:gd name="T3" fmla="*/ 14 h 51"/>
              <a:gd name="T4" fmla="*/ 434 w 436"/>
              <a:gd name="T5" fmla="*/ 8 h 51"/>
              <a:gd name="T6" fmla="*/ 434 w 436"/>
              <a:gd name="T7" fmla="*/ 3 h 51"/>
              <a:gd name="T8" fmla="*/ 431 w 436"/>
              <a:gd name="T9" fmla="*/ 0 h 51"/>
              <a:gd name="T10" fmla="*/ 431 w 436"/>
              <a:gd name="T11" fmla="*/ 6 h 51"/>
              <a:gd name="T12" fmla="*/ 431 w 436"/>
              <a:gd name="T13" fmla="*/ 11 h 51"/>
              <a:gd name="T14" fmla="*/ 431 w 436"/>
              <a:gd name="T15" fmla="*/ 18 h 51"/>
              <a:gd name="T16" fmla="*/ 432 w 436"/>
              <a:gd name="T17" fmla="*/ 24 h 51"/>
              <a:gd name="T18" fmla="*/ 431 w 436"/>
              <a:gd name="T19" fmla="*/ 31 h 51"/>
              <a:gd name="T20" fmla="*/ 431 w 436"/>
              <a:gd name="T21" fmla="*/ 38 h 51"/>
              <a:gd name="T22" fmla="*/ 431 w 436"/>
              <a:gd name="T23" fmla="*/ 44 h 51"/>
              <a:gd name="T24" fmla="*/ 431 w 436"/>
              <a:gd name="T25" fmla="*/ 51 h 51"/>
              <a:gd name="T26" fmla="*/ 434 w 436"/>
              <a:gd name="T27" fmla="*/ 48 h 51"/>
              <a:gd name="T28" fmla="*/ 434 w 436"/>
              <a:gd name="T29" fmla="*/ 41 h 51"/>
              <a:gd name="T30" fmla="*/ 434 w 436"/>
              <a:gd name="T31" fmla="*/ 34 h 51"/>
              <a:gd name="T32" fmla="*/ 436 w 436"/>
              <a:gd name="T33" fmla="*/ 28 h 51"/>
              <a:gd name="T34" fmla="*/ 2 w 436"/>
              <a:gd name="T35" fmla="*/ 0 h 51"/>
              <a:gd name="T36" fmla="*/ 0 w 436"/>
              <a:gd name="T37" fmla="*/ 6 h 51"/>
              <a:gd name="T38" fmla="*/ 0 w 436"/>
              <a:gd name="T39" fmla="*/ 11 h 51"/>
              <a:gd name="T40" fmla="*/ 0 w 436"/>
              <a:gd name="T41" fmla="*/ 18 h 51"/>
              <a:gd name="T42" fmla="*/ 0 w 436"/>
              <a:gd name="T43" fmla="*/ 24 h 51"/>
              <a:gd name="T44" fmla="*/ 0 w 436"/>
              <a:gd name="T45" fmla="*/ 31 h 51"/>
              <a:gd name="T46" fmla="*/ 0 w 436"/>
              <a:gd name="T47" fmla="*/ 38 h 51"/>
              <a:gd name="T48" fmla="*/ 0 w 436"/>
              <a:gd name="T49" fmla="*/ 44 h 51"/>
              <a:gd name="T50" fmla="*/ 2 w 436"/>
              <a:gd name="T51" fmla="*/ 51 h 51"/>
              <a:gd name="T52" fmla="*/ 4 w 436"/>
              <a:gd name="T53" fmla="*/ 48 h 51"/>
              <a:gd name="T54" fmla="*/ 4 w 436"/>
              <a:gd name="T55" fmla="*/ 41 h 51"/>
              <a:gd name="T56" fmla="*/ 4 w 436"/>
              <a:gd name="T57" fmla="*/ 34 h 51"/>
              <a:gd name="T58" fmla="*/ 4 w 436"/>
              <a:gd name="T59" fmla="*/ 28 h 51"/>
              <a:gd name="T60" fmla="*/ 4 w 436"/>
              <a:gd name="T61" fmla="*/ 21 h 51"/>
              <a:gd name="T62" fmla="*/ 4 w 436"/>
              <a:gd name="T63" fmla="*/ 14 h 51"/>
              <a:gd name="T64" fmla="*/ 4 w 436"/>
              <a:gd name="T65" fmla="*/ 8 h 51"/>
              <a:gd name="T66" fmla="*/ 4 w 436"/>
              <a:gd name="T67" fmla="*/ 3 h 51"/>
              <a:gd name="T68" fmla="*/ 2 w 4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6" h="51">
                <a:moveTo>
                  <a:pt x="436" y="24"/>
                </a:moveTo>
                <a:lnTo>
                  <a:pt x="436" y="21"/>
                </a:lnTo>
                <a:lnTo>
                  <a:pt x="434" y="18"/>
                </a:lnTo>
                <a:lnTo>
                  <a:pt x="434" y="14"/>
                </a:lnTo>
                <a:lnTo>
                  <a:pt x="434" y="11"/>
                </a:lnTo>
                <a:lnTo>
                  <a:pt x="434" y="8"/>
                </a:lnTo>
                <a:lnTo>
                  <a:pt x="434" y="6"/>
                </a:lnTo>
                <a:lnTo>
                  <a:pt x="434" y="3"/>
                </a:lnTo>
                <a:lnTo>
                  <a:pt x="434" y="0"/>
                </a:lnTo>
                <a:lnTo>
                  <a:pt x="431" y="0"/>
                </a:lnTo>
                <a:lnTo>
                  <a:pt x="431" y="3"/>
                </a:lnTo>
                <a:lnTo>
                  <a:pt x="431" y="6"/>
                </a:lnTo>
                <a:lnTo>
                  <a:pt x="431" y="8"/>
                </a:lnTo>
                <a:lnTo>
                  <a:pt x="431" y="11"/>
                </a:lnTo>
                <a:lnTo>
                  <a:pt x="431" y="14"/>
                </a:lnTo>
                <a:lnTo>
                  <a:pt x="431" y="18"/>
                </a:lnTo>
                <a:lnTo>
                  <a:pt x="432" y="21"/>
                </a:lnTo>
                <a:lnTo>
                  <a:pt x="432" y="24"/>
                </a:lnTo>
                <a:lnTo>
                  <a:pt x="432" y="28"/>
                </a:lnTo>
                <a:lnTo>
                  <a:pt x="431" y="31"/>
                </a:lnTo>
                <a:lnTo>
                  <a:pt x="431" y="34"/>
                </a:lnTo>
                <a:lnTo>
                  <a:pt x="431" y="38"/>
                </a:lnTo>
                <a:lnTo>
                  <a:pt x="431" y="41"/>
                </a:lnTo>
                <a:lnTo>
                  <a:pt x="431" y="44"/>
                </a:lnTo>
                <a:lnTo>
                  <a:pt x="431" y="48"/>
                </a:lnTo>
                <a:lnTo>
                  <a:pt x="431" y="51"/>
                </a:lnTo>
                <a:lnTo>
                  <a:pt x="434" y="51"/>
                </a:lnTo>
                <a:lnTo>
                  <a:pt x="434" y="48"/>
                </a:lnTo>
                <a:lnTo>
                  <a:pt x="434" y="44"/>
                </a:lnTo>
                <a:lnTo>
                  <a:pt x="434" y="41"/>
                </a:lnTo>
                <a:lnTo>
                  <a:pt x="434" y="38"/>
                </a:lnTo>
                <a:lnTo>
                  <a:pt x="434" y="34"/>
                </a:lnTo>
                <a:lnTo>
                  <a:pt x="434" y="31"/>
                </a:lnTo>
                <a:lnTo>
                  <a:pt x="436" y="28"/>
                </a:lnTo>
                <a:lnTo>
                  <a:pt x="43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21" name="Freeform 1526">
            <a:extLst>
              <a:ext uri="{FF2B5EF4-FFF2-40B4-BE49-F238E27FC236}">
                <a16:creationId xmlns:a16="http://schemas.microsoft.com/office/drawing/2014/main" id="{E29ECAEF-F0D0-31A5-61F0-74D73E0EC7DD}"/>
              </a:ext>
            </a:extLst>
          </p:cNvPr>
          <p:cNvSpPr>
            <a:spLocks noEditPoints="1"/>
          </p:cNvSpPr>
          <p:nvPr/>
        </p:nvSpPr>
        <p:spPr bwMode="auto">
          <a:xfrm>
            <a:off x="2216150" y="2719388"/>
            <a:ext cx="685800" cy="80963"/>
          </a:xfrm>
          <a:custGeom>
            <a:avLst/>
            <a:gdLst>
              <a:gd name="T0" fmla="*/ 432 w 432"/>
              <a:gd name="T1" fmla="*/ 21 h 51"/>
              <a:gd name="T2" fmla="*/ 430 w 432"/>
              <a:gd name="T3" fmla="*/ 14 h 51"/>
              <a:gd name="T4" fmla="*/ 430 w 432"/>
              <a:gd name="T5" fmla="*/ 8 h 51"/>
              <a:gd name="T6" fmla="*/ 430 w 432"/>
              <a:gd name="T7" fmla="*/ 3 h 51"/>
              <a:gd name="T8" fmla="*/ 427 w 432"/>
              <a:gd name="T9" fmla="*/ 0 h 51"/>
              <a:gd name="T10" fmla="*/ 427 w 432"/>
              <a:gd name="T11" fmla="*/ 6 h 51"/>
              <a:gd name="T12" fmla="*/ 427 w 432"/>
              <a:gd name="T13" fmla="*/ 11 h 51"/>
              <a:gd name="T14" fmla="*/ 427 w 432"/>
              <a:gd name="T15" fmla="*/ 18 h 51"/>
              <a:gd name="T16" fmla="*/ 429 w 432"/>
              <a:gd name="T17" fmla="*/ 24 h 51"/>
              <a:gd name="T18" fmla="*/ 427 w 432"/>
              <a:gd name="T19" fmla="*/ 31 h 51"/>
              <a:gd name="T20" fmla="*/ 427 w 432"/>
              <a:gd name="T21" fmla="*/ 38 h 51"/>
              <a:gd name="T22" fmla="*/ 427 w 432"/>
              <a:gd name="T23" fmla="*/ 44 h 51"/>
              <a:gd name="T24" fmla="*/ 427 w 432"/>
              <a:gd name="T25" fmla="*/ 51 h 51"/>
              <a:gd name="T26" fmla="*/ 430 w 432"/>
              <a:gd name="T27" fmla="*/ 48 h 51"/>
              <a:gd name="T28" fmla="*/ 430 w 432"/>
              <a:gd name="T29" fmla="*/ 41 h 51"/>
              <a:gd name="T30" fmla="*/ 430 w 432"/>
              <a:gd name="T31" fmla="*/ 34 h 51"/>
              <a:gd name="T32" fmla="*/ 432 w 432"/>
              <a:gd name="T33" fmla="*/ 28 h 51"/>
              <a:gd name="T34" fmla="*/ 2 w 432"/>
              <a:gd name="T35" fmla="*/ 0 h 51"/>
              <a:gd name="T36" fmla="*/ 0 w 432"/>
              <a:gd name="T37" fmla="*/ 6 h 51"/>
              <a:gd name="T38" fmla="*/ 0 w 432"/>
              <a:gd name="T39" fmla="*/ 11 h 51"/>
              <a:gd name="T40" fmla="*/ 0 w 432"/>
              <a:gd name="T41" fmla="*/ 18 h 51"/>
              <a:gd name="T42" fmla="*/ 0 w 432"/>
              <a:gd name="T43" fmla="*/ 24 h 51"/>
              <a:gd name="T44" fmla="*/ 0 w 432"/>
              <a:gd name="T45" fmla="*/ 31 h 51"/>
              <a:gd name="T46" fmla="*/ 0 w 432"/>
              <a:gd name="T47" fmla="*/ 38 h 51"/>
              <a:gd name="T48" fmla="*/ 0 w 432"/>
              <a:gd name="T49" fmla="*/ 44 h 51"/>
              <a:gd name="T50" fmla="*/ 2 w 432"/>
              <a:gd name="T51" fmla="*/ 51 h 51"/>
              <a:gd name="T52" fmla="*/ 3 w 432"/>
              <a:gd name="T53" fmla="*/ 48 h 51"/>
              <a:gd name="T54" fmla="*/ 3 w 432"/>
              <a:gd name="T55" fmla="*/ 41 h 51"/>
              <a:gd name="T56" fmla="*/ 3 w 432"/>
              <a:gd name="T57" fmla="*/ 34 h 51"/>
              <a:gd name="T58" fmla="*/ 3 w 432"/>
              <a:gd name="T59" fmla="*/ 28 h 51"/>
              <a:gd name="T60" fmla="*/ 3 w 432"/>
              <a:gd name="T61" fmla="*/ 21 h 51"/>
              <a:gd name="T62" fmla="*/ 3 w 432"/>
              <a:gd name="T63" fmla="*/ 14 h 51"/>
              <a:gd name="T64" fmla="*/ 3 w 432"/>
              <a:gd name="T65" fmla="*/ 8 h 51"/>
              <a:gd name="T66" fmla="*/ 3 w 432"/>
              <a:gd name="T67" fmla="*/ 3 h 51"/>
              <a:gd name="T68" fmla="*/ 2 w 4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2" h="51">
                <a:moveTo>
                  <a:pt x="432" y="24"/>
                </a:moveTo>
                <a:lnTo>
                  <a:pt x="432" y="21"/>
                </a:lnTo>
                <a:lnTo>
                  <a:pt x="430" y="18"/>
                </a:lnTo>
                <a:lnTo>
                  <a:pt x="430" y="14"/>
                </a:lnTo>
                <a:lnTo>
                  <a:pt x="430" y="11"/>
                </a:lnTo>
                <a:lnTo>
                  <a:pt x="430" y="8"/>
                </a:lnTo>
                <a:lnTo>
                  <a:pt x="430" y="6"/>
                </a:lnTo>
                <a:lnTo>
                  <a:pt x="430" y="3"/>
                </a:lnTo>
                <a:lnTo>
                  <a:pt x="430" y="0"/>
                </a:lnTo>
                <a:lnTo>
                  <a:pt x="427" y="0"/>
                </a:lnTo>
                <a:lnTo>
                  <a:pt x="427" y="3"/>
                </a:lnTo>
                <a:lnTo>
                  <a:pt x="427" y="6"/>
                </a:lnTo>
                <a:lnTo>
                  <a:pt x="427" y="8"/>
                </a:lnTo>
                <a:lnTo>
                  <a:pt x="427" y="11"/>
                </a:lnTo>
                <a:lnTo>
                  <a:pt x="427" y="14"/>
                </a:lnTo>
                <a:lnTo>
                  <a:pt x="427" y="18"/>
                </a:lnTo>
                <a:lnTo>
                  <a:pt x="429" y="21"/>
                </a:lnTo>
                <a:lnTo>
                  <a:pt x="429" y="24"/>
                </a:lnTo>
                <a:lnTo>
                  <a:pt x="429" y="28"/>
                </a:lnTo>
                <a:lnTo>
                  <a:pt x="427" y="31"/>
                </a:lnTo>
                <a:lnTo>
                  <a:pt x="427" y="34"/>
                </a:lnTo>
                <a:lnTo>
                  <a:pt x="427" y="38"/>
                </a:lnTo>
                <a:lnTo>
                  <a:pt x="427" y="41"/>
                </a:lnTo>
                <a:lnTo>
                  <a:pt x="427" y="44"/>
                </a:lnTo>
                <a:lnTo>
                  <a:pt x="427" y="48"/>
                </a:lnTo>
                <a:lnTo>
                  <a:pt x="427" y="51"/>
                </a:lnTo>
                <a:lnTo>
                  <a:pt x="430" y="51"/>
                </a:lnTo>
                <a:lnTo>
                  <a:pt x="430" y="48"/>
                </a:lnTo>
                <a:lnTo>
                  <a:pt x="430" y="44"/>
                </a:lnTo>
                <a:lnTo>
                  <a:pt x="430" y="41"/>
                </a:lnTo>
                <a:lnTo>
                  <a:pt x="430" y="38"/>
                </a:lnTo>
                <a:lnTo>
                  <a:pt x="430" y="34"/>
                </a:lnTo>
                <a:lnTo>
                  <a:pt x="430" y="31"/>
                </a:lnTo>
                <a:lnTo>
                  <a:pt x="432" y="28"/>
                </a:lnTo>
                <a:lnTo>
                  <a:pt x="43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22" name="Freeform 1527">
            <a:extLst>
              <a:ext uri="{FF2B5EF4-FFF2-40B4-BE49-F238E27FC236}">
                <a16:creationId xmlns:a16="http://schemas.microsoft.com/office/drawing/2014/main" id="{5D417301-1D0D-93E4-C8C0-248F0EA1F950}"/>
              </a:ext>
            </a:extLst>
          </p:cNvPr>
          <p:cNvSpPr>
            <a:spLocks noEditPoints="1"/>
          </p:cNvSpPr>
          <p:nvPr/>
        </p:nvSpPr>
        <p:spPr bwMode="auto">
          <a:xfrm>
            <a:off x="2219325" y="2719388"/>
            <a:ext cx="679450" cy="80963"/>
          </a:xfrm>
          <a:custGeom>
            <a:avLst/>
            <a:gdLst>
              <a:gd name="T0" fmla="*/ 428 w 428"/>
              <a:gd name="T1" fmla="*/ 21 h 51"/>
              <a:gd name="T2" fmla="*/ 427 w 428"/>
              <a:gd name="T3" fmla="*/ 14 h 51"/>
              <a:gd name="T4" fmla="*/ 427 w 428"/>
              <a:gd name="T5" fmla="*/ 8 h 51"/>
              <a:gd name="T6" fmla="*/ 427 w 428"/>
              <a:gd name="T7" fmla="*/ 3 h 51"/>
              <a:gd name="T8" fmla="*/ 424 w 428"/>
              <a:gd name="T9" fmla="*/ 0 h 51"/>
              <a:gd name="T10" fmla="*/ 424 w 428"/>
              <a:gd name="T11" fmla="*/ 6 h 51"/>
              <a:gd name="T12" fmla="*/ 424 w 428"/>
              <a:gd name="T13" fmla="*/ 11 h 51"/>
              <a:gd name="T14" fmla="*/ 424 w 428"/>
              <a:gd name="T15" fmla="*/ 18 h 51"/>
              <a:gd name="T16" fmla="*/ 425 w 428"/>
              <a:gd name="T17" fmla="*/ 24 h 51"/>
              <a:gd name="T18" fmla="*/ 425 w 428"/>
              <a:gd name="T19" fmla="*/ 31 h 51"/>
              <a:gd name="T20" fmla="*/ 424 w 428"/>
              <a:gd name="T21" fmla="*/ 38 h 51"/>
              <a:gd name="T22" fmla="*/ 424 w 428"/>
              <a:gd name="T23" fmla="*/ 44 h 51"/>
              <a:gd name="T24" fmla="*/ 424 w 428"/>
              <a:gd name="T25" fmla="*/ 51 h 51"/>
              <a:gd name="T26" fmla="*/ 427 w 428"/>
              <a:gd name="T27" fmla="*/ 48 h 51"/>
              <a:gd name="T28" fmla="*/ 427 w 428"/>
              <a:gd name="T29" fmla="*/ 41 h 51"/>
              <a:gd name="T30" fmla="*/ 427 w 428"/>
              <a:gd name="T31" fmla="*/ 34 h 51"/>
              <a:gd name="T32" fmla="*/ 428 w 428"/>
              <a:gd name="T33" fmla="*/ 28 h 51"/>
              <a:gd name="T34" fmla="*/ 1 w 428"/>
              <a:gd name="T35" fmla="*/ 0 h 51"/>
              <a:gd name="T36" fmla="*/ 0 w 428"/>
              <a:gd name="T37" fmla="*/ 6 h 51"/>
              <a:gd name="T38" fmla="*/ 0 w 428"/>
              <a:gd name="T39" fmla="*/ 11 h 51"/>
              <a:gd name="T40" fmla="*/ 0 w 428"/>
              <a:gd name="T41" fmla="*/ 18 h 51"/>
              <a:gd name="T42" fmla="*/ 0 w 428"/>
              <a:gd name="T43" fmla="*/ 24 h 51"/>
              <a:gd name="T44" fmla="*/ 0 w 428"/>
              <a:gd name="T45" fmla="*/ 31 h 51"/>
              <a:gd name="T46" fmla="*/ 0 w 428"/>
              <a:gd name="T47" fmla="*/ 38 h 51"/>
              <a:gd name="T48" fmla="*/ 0 w 428"/>
              <a:gd name="T49" fmla="*/ 44 h 51"/>
              <a:gd name="T50" fmla="*/ 1 w 428"/>
              <a:gd name="T51" fmla="*/ 51 h 51"/>
              <a:gd name="T52" fmla="*/ 3 w 428"/>
              <a:gd name="T53" fmla="*/ 48 h 51"/>
              <a:gd name="T54" fmla="*/ 3 w 428"/>
              <a:gd name="T55" fmla="*/ 41 h 51"/>
              <a:gd name="T56" fmla="*/ 3 w 428"/>
              <a:gd name="T57" fmla="*/ 34 h 51"/>
              <a:gd name="T58" fmla="*/ 3 w 428"/>
              <a:gd name="T59" fmla="*/ 28 h 51"/>
              <a:gd name="T60" fmla="*/ 3 w 428"/>
              <a:gd name="T61" fmla="*/ 21 h 51"/>
              <a:gd name="T62" fmla="*/ 3 w 428"/>
              <a:gd name="T63" fmla="*/ 14 h 51"/>
              <a:gd name="T64" fmla="*/ 3 w 428"/>
              <a:gd name="T65" fmla="*/ 8 h 51"/>
              <a:gd name="T66" fmla="*/ 3 w 428"/>
              <a:gd name="T67" fmla="*/ 3 h 51"/>
              <a:gd name="T68" fmla="*/ 1 w 42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8" h="51">
                <a:moveTo>
                  <a:pt x="428" y="24"/>
                </a:moveTo>
                <a:lnTo>
                  <a:pt x="428" y="21"/>
                </a:lnTo>
                <a:lnTo>
                  <a:pt x="427" y="18"/>
                </a:lnTo>
                <a:lnTo>
                  <a:pt x="427" y="14"/>
                </a:lnTo>
                <a:lnTo>
                  <a:pt x="427" y="11"/>
                </a:lnTo>
                <a:lnTo>
                  <a:pt x="427" y="8"/>
                </a:lnTo>
                <a:lnTo>
                  <a:pt x="427" y="6"/>
                </a:lnTo>
                <a:lnTo>
                  <a:pt x="427" y="3"/>
                </a:lnTo>
                <a:lnTo>
                  <a:pt x="427" y="0"/>
                </a:lnTo>
                <a:lnTo>
                  <a:pt x="424" y="0"/>
                </a:lnTo>
                <a:lnTo>
                  <a:pt x="424" y="3"/>
                </a:lnTo>
                <a:lnTo>
                  <a:pt x="424" y="6"/>
                </a:lnTo>
                <a:lnTo>
                  <a:pt x="424" y="8"/>
                </a:lnTo>
                <a:lnTo>
                  <a:pt x="424" y="11"/>
                </a:lnTo>
                <a:lnTo>
                  <a:pt x="424" y="14"/>
                </a:lnTo>
                <a:lnTo>
                  <a:pt x="424" y="18"/>
                </a:lnTo>
                <a:lnTo>
                  <a:pt x="425" y="21"/>
                </a:lnTo>
                <a:lnTo>
                  <a:pt x="425" y="24"/>
                </a:lnTo>
                <a:lnTo>
                  <a:pt x="425" y="28"/>
                </a:lnTo>
                <a:lnTo>
                  <a:pt x="425" y="31"/>
                </a:lnTo>
                <a:lnTo>
                  <a:pt x="424" y="34"/>
                </a:lnTo>
                <a:lnTo>
                  <a:pt x="424" y="38"/>
                </a:lnTo>
                <a:lnTo>
                  <a:pt x="424" y="41"/>
                </a:lnTo>
                <a:lnTo>
                  <a:pt x="424" y="44"/>
                </a:lnTo>
                <a:lnTo>
                  <a:pt x="424" y="48"/>
                </a:lnTo>
                <a:lnTo>
                  <a:pt x="424" y="51"/>
                </a:lnTo>
                <a:lnTo>
                  <a:pt x="427" y="51"/>
                </a:lnTo>
                <a:lnTo>
                  <a:pt x="427" y="48"/>
                </a:lnTo>
                <a:lnTo>
                  <a:pt x="427" y="44"/>
                </a:lnTo>
                <a:lnTo>
                  <a:pt x="427" y="41"/>
                </a:lnTo>
                <a:lnTo>
                  <a:pt x="427" y="38"/>
                </a:lnTo>
                <a:lnTo>
                  <a:pt x="427" y="34"/>
                </a:lnTo>
                <a:lnTo>
                  <a:pt x="427" y="31"/>
                </a:lnTo>
                <a:lnTo>
                  <a:pt x="428" y="28"/>
                </a:lnTo>
                <a:lnTo>
                  <a:pt x="428"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23" name="Freeform 1528">
            <a:extLst>
              <a:ext uri="{FF2B5EF4-FFF2-40B4-BE49-F238E27FC236}">
                <a16:creationId xmlns:a16="http://schemas.microsoft.com/office/drawing/2014/main" id="{FCBF3840-883A-1D19-7F13-0CCBF1767B17}"/>
              </a:ext>
            </a:extLst>
          </p:cNvPr>
          <p:cNvSpPr>
            <a:spLocks noEditPoints="1"/>
          </p:cNvSpPr>
          <p:nvPr/>
        </p:nvSpPr>
        <p:spPr bwMode="auto">
          <a:xfrm>
            <a:off x="2220913" y="2719388"/>
            <a:ext cx="676275" cy="80963"/>
          </a:xfrm>
          <a:custGeom>
            <a:avLst/>
            <a:gdLst>
              <a:gd name="T0" fmla="*/ 426 w 426"/>
              <a:gd name="T1" fmla="*/ 21 h 51"/>
              <a:gd name="T2" fmla="*/ 424 w 426"/>
              <a:gd name="T3" fmla="*/ 14 h 51"/>
              <a:gd name="T4" fmla="*/ 424 w 426"/>
              <a:gd name="T5" fmla="*/ 8 h 51"/>
              <a:gd name="T6" fmla="*/ 424 w 426"/>
              <a:gd name="T7" fmla="*/ 3 h 51"/>
              <a:gd name="T8" fmla="*/ 421 w 426"/>
              <a:gd name="T9" fmla="*/ 0 h 51"/>
              <a:gd name="T10" fmla="*/ 421 w 426"/>
              <a:gd name="T11" fmla="*/ 6 h 51"/>
              <a:gd name="T12" fmla="*/ 421 w 426"/>
              <a:gd name="T13" fmla="*/ 11 h 51"/>
              <a:gd name="T14" fmla="*/ 423 w 426"/>
              <a:gd name="T15" fmla="*/ 18 h 51"/>
              <a:gd name="T16" fmla="*/ 423 w 426"/>
              <a:gd name="T17" fmla="*/ 24 h 51"/>
              <a:gd name="T18" fmla="*/ 423 w 426"/>
              <a:gd name="T19" fmla="*/ 31 h 51"/>
              <a:gd name="T20" fmla="*/ 421 w 426"/>
              <a:gd name="T21" fmla="*/ 38 h 51"/>
              <a:gd name="T22" fmla="*/ 421 w 426"/>
              <a:gd name="T23" fmla="*/ 44 h 51"/>
              <a:gd name="T24" fmla="*/ 421 w 426"/>
              <a:gd name="T25" fmla="*/ 51 h 51"/>
              <a:gd name="T26" fmla="*/ 424 w 426"/>
              <a:gd name="T27" fmla="*/ 48 h 51"/>
              <a:gd name="T28" fmla="*/ 424 w 426"/>
              <a:gd name="T29" fmla="*/ 41 h 51"/>
              <a:gd name="T30" fmla="*/ 424 w 426"/>
              <a:gd name="T31" fmla="*/ 34 h 51"/>
              <a:gd name="T32" fmla="*/ 426 w 426"/>
              <a:gd name="T33" fmla="*/ 28 h 51"/>
              <a:gd name="T34" fmla="*/ 2 w 426"/>
              <a:gd name="T35" fmla="*/ 0 h 51"/>
              <a:gd name="T36" fmla="*/ 0 w 426"/>
              <a:gd name="T37" fmla="*/ 6 h 51"/>
              <a:gd name="T38" fmla="*/ 0 w 426"/>
              <a:gd name="T39" fmla="*/ 11 h 51"/>
              <a:gd name="T40" fmla="*/ 0 w 426"/>
              <a:gd name="T41" fmla="*/ 18 h 51"/>
              <a:gd name="T42" fmla="*/ 0 w 426"/>
              <a:gd name="T43" fmla="*/ 24 h 51"/>
              <a:gd name="T44" fmla="*/ 0 w 426"/>
              <a:gd name="T45" fmla="*/ 31 h 51"/>
              <a:gd name="T46" fmla="*/ 0 w 426"/>
              <a:gd name="T47" fmla="*/ 38 h 51"/>
              <a:gd name="T48" fmla="*/ 0 w 426"/>
              <a:gd name="T49" fmla="*/ 44 h 51"/>
              <a:gd name="T50" fmla="*/ 2 w 426"/>
              <a:gd name="T51" fmla="*/ 51 h 51"/>
              <a:gd name="T52" fmla="*/ 4 w 426"/>
              <a:gd name="T53" fmla="*/ 48 h 51"/>
              <a:gd name="T54" fmla="*/ 4 w 426"/>
              <a:gd name="T55" fmla="*/ 41 h 51"/>
              <a:gd name="T56" fmla="*/ 4 w 426"/>
              <a:gd name="T57" fmla="*/ 34 h 51"/>
              <a:gd name="T58" fmla="*/ 4 w 426"/>
              <a:gd name="T59" fmla="*/ 28 h 51"/>
              <a:gd name="T60" fmla="*/ 4 w 426"/>
              <a:gd name="T61" fmla="*/ 21 h 51"/>
              <a:gd name="T62" fmla="*/ 4 w 426"/>
              <a:gd name="T63" fmla="*/ 14 h 51"/>
              <a:gd name="T64" fmla="*/ 4 w 426"/>
              <a:gd name="T65" fmla="*/ 8 h 51"/>
              <a:gd name="T66" fmla="*/ 4 w 426"/>
              <a:gd name="T67" fmla="*/ 3 h 51"/>
              <a:gd name="T68" fmla="*/ 2 w 42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6" h="51">
                <a:moveTo>
                  <a:pt x="426" y="24"/>
                </a:moveTo>
                <a:lnTo>
                  <a:pt x="426" y="21"/>
                </a:lnTo>
                <a:lnTo>
                  <a:pt x="424" y="18"/>
                </a:lnTo>
                <a:lnTo>
                  <a:pt x="424" y="14"/>
                </a:lnTo>
                <a:lnTo>
                  <a:pt x="424" y="11"/>
                </a:lnTo>
                <a:lnTo>
                  <a:pt x="424" y="8"/>
                </a:lnTo>
                <a:lnTo>
                  <a:pt x="424" y="6"/>
                </a:lnTo>
                <a:lnTo>
                  <a:pt x="424" y="3"/>
                </a:lnTo>
                <a:lnTo>
                  <a:pt x="424" y="0"/>
                </a:lnTo>
                <a:lnTo>
                  <a:pt x="421" y="0"/>
                </a:lnTo>
                <a:lnTo>
                  <a:pt x="421" y="3"/>
                </a:lnTo>
                <a:lnTo>
                  <a:pt x="421" y="6"/>
                </a:lnTo>
                <a:lnTo>
                  <a:pt x="421" y="8"/>
                </a:lnTo>
                <a:lnTo>
                  <a:pt x="421" y="11"/>
                </a:lnTo>
                <a:lnTo>
                  <a:pt x="421" y="14"/>
                </a:lnTo>
                <a:lnTo>
                  <a:pt x="423" y="18"/>
                </a:lnTo>
                <a:lnTo>
                  <a:pt x="423" y="21"/>
                </a:lnTo>
                <a:lnTo>
                  <a:pt x="423" y="24"/>
                </a:lnTo>
                <a:lnTo>
                  <a:pt x="423" y="28"/>
                </a:lnTo>
                <a:lnTo>
                  <a:pt x="423" y="31"/>
                </a:lnTo>
                <a:lnTo>
                  <a:pt x="421" y="34"/>
                </a:lnTo>
                <a:lnTo>
                  <a:pt x="421" y="38"/>
                </a:lnTo>
                <a:lnTo>
                  <a:pt x="421" y="41"/>
                </a:lnTo>
                <a:lnTo>
                  <a:pt x="421" y="44"/>
                </a:lnTo>
                <a:lnTo>
                  <a:pt x="421" y="48"/>
                </a:lnTo>
                <a:lnTo>
                  <a:pt x="421" y="51"/>
                </a:lnTo>
                <a:lnTo>
                  <a:pt x="424" y="51"/>
                </a:lnTo>
                <a:lnTo>
                  <a:pt x="424" y="48"/>
                </a:lnTo>
                <a:lnTo>
                  <a:pt x="424" y="44"/>
                </a:lnTo>
                <a:lnTo>
                  <a:pt x="424" y="41"/>
                </a:lnTo>
                <a:lnTo>
                  <a:pt x="424" y="38"/>
                </a:lnTo>
                <a:lnTo>
                  <a:pt x="424" y="34"/>
                </a:lnTo>
                <a:lnTo>
                  <a:pt x="424" y="31"/>
                </a:lnTo>
                <a:lnTo>
                  <a:pt x="426" y="28"/>
                </a:lnTo>
                <a:lnTo>
                  <a:pt x="42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24" name="Freeform 1529">
            <a:extLst>
              <a:ext uri="{FF2B5EF4-FFF2-40B4-BE49-F238E27FC236}">
                <a16:creationId xmlns:a16="http://schemas.microsoft.com/office/drawing/2014/main" id="{E5FE9DAA-BB0F-4D07-566D-029A51F944D0}"/>
              </a:ext>
            </a:extLst>
          </p:cNvPr>
          <p:cNvSpPr>
            <a:spLocks noEditPoints="1"/>
          </p:cNvSpPr>
          <p:nvPr/>
        </p:nvSpPr>
        <p:spPr bwMode="auto">
          <a:xfrm>
            <a:off x="2224088" y="2719388"/>
            <a:ext cx="669925" cy="80963"/>
          </a:xfrm>
          <a:custGeom>
            <a:avLst/>
            <a:gdLst>
              <a:gd name="T0" fmla="*/ 422 w 422"/>
              <a:gd name="T1" fmla="*/ 21 h 51"/>
              <a:gd name="T2" fmla="*/ 421 w 422"/>
              <a:gd name="T3" fmla="*/ 14 h 51"/>
              <a:gd name="T4" fmla="*/ 421 w 422"/>
              <a:gd name="T5" fmla="*/ 8 h 51"/>
              <a:gd name="T6" fmla="*/ 421 w 422"/>
              <a:gd name="T7" fmla="*/ 3 h 51"/>
              <a:gd name="T8" fmla="*/ 417 w 422"/>
              <a:gd name="T9" fmla="*/ 0 h 51"/>
              <a:gd name="T10" fmla="*/ 417 w 422"/>
              <a:gd name="T11" fmla="*/ 6 h 51"/>
              <a:gd name="T12" fmla="*/ 417 w 422"/>
              <a:gd name="T13" fmla="*/ 11 h 51"/>
              <a:gd name="T14" fmla="*/ 419 w 422"/>
              <a:gd name="T15" fmla="*/ 18 h 51"/>
              <a:gd name="T16" fmla="*/ 419 w 422"/>
              <a:gd name="T17" fmla="*/ 24 h 51"/>
              <a:gd name="T18" fmla="*/ 419 w 422"/>
              <a:gd name="T19" fmla="*/ 31 h 51"/>
              <a:gd name="T20" fmla="*/ 417 w 422"/>
              <a:gd name="T21" fmla="*/ 38 h 51"/>
              <a:gd name="T22" fmla="*/ 417 w 422"/>
              <a:gd name="T23" fmla="*/ 44 h 51"/>
              <a:gd name="T24" fmla="*/ 417 w 422"/>
              <a:gd name="T25" fmla="*/ 51 h 51"/>
              <a:gd name="T26" fmla="*/ 421 w 422"/>
              <a:gd name="T27" fmla="*/ 48 h 51"/>
              <a:gd name="T28" fmla="*/ 421 w 422"/>
              <a:gd name="T29" fmla="*/ 41 h 51"/>
              <a:gd name="T30" fmla="*/ 421 w 422"/>
              <a:gd name="T31" fmla="*/ 34 h 51"/>
              <a:gd name="T32" fmla="*/ 422 w 422"/>
              <a:gd name="T33" fmla="*/ 28 h 51"/>
              <a:gd name="T34" fmla="*/ 2 w 422"/>
              <a:gd name="T35" fmla="*/ 0 h 51"/>
              <a:gd name="T36" fmla="*/ 0 w 422"/>
              <a:gd name="T37" fmla="*/ 6 h 51"/>
              <a:gd name="T38" fmla="*/ 0 w 422"/>
              <a:gd name="T39" fmla="*/ 11 h 51"/>
              <a:gd name="T40" fmla="*/ 0 w 422"/>
              <a:gd name="T41" fmla="*/ 18 h 51"/>
              <a:gd name="T42" fmla="*/ 0 w 422"/>
              <a:gd name="T43" fmla="*/ 24 h 51"/>
              <a:gd name="T44" fmla="*/ 0 w 422"/>
              <a:gd name="T45" fmla="*/ 31 h 51"/>
              <a:gd name="T46" fmla="*/ 0 w 422"/>
              <a:gd name="T47" fmla="*/ 38 h 51"/>
              <a:gd name="T48" fmla="*/ 0 w 422"/>
              <a:gd name="T49" fmla="*/ 44 h 51"/>
              <a:gd name="T50" fmla="*/ 2 w 422"/>
              <a:gd name="T51" fmla="*/ 51 h 51"/>
              <a:gd name="T52" fmla="*/ 3 w 422"/>
              <a:gd name="T53" fmla="*/ 48 h 51"/>
              <a:gd name="T54" fmla="*/ 3 w 422"/>
              <a:gd name="T55" fmla="*/ 41 h 51"/>
              <a:gd name="T56" fmla="*/ 3 w 422"/>
              <a:gd name="T57" fmla="*/ 34 h 51"/>
              <a:gd name="T58" fmla="*/ 3 w 422"/>
              <a:gd name="T59" fmla="*/ 28 h 51"/>
              <a:gd name="T60" fmla="*/ 3 w 422"/>
              <a:gd name="T61" fmla="*/ 21 h 51"/>
              <a:gd name="T62" fmla="*/ 3 w 422"/>
              <a:gd name="T63" fmla="*/ 14 h 51"/>
              <a:gd name="T64" fmla="*/ 3 w 422"/>
              <a:gd name="T65" fmla="*/ 8 h 51"/>
              <a:gd name="T66" fmla="*/ 3 w 422"/>
              <a:gd name="T67" fmla="*/ 3 h 51"/>
              <a:gd name="T68" fmla="*/ 2 w 42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2" h="51">
                <a:moveTo>
                  <a:pt x="422" y="24"/>
                </a:moveTo>
                <a:lnTo>
                  <a:pt x="422" y="21"/>
                </a:lnTo>
                <a:lnTo>
                  <a:pt x="421" y="18"/>
                </a:lnTo>
                <a:lnTo>
                  <a:pt x="421" y="14"/>
                </a:lnTo>
                <a:lnTo>
                  <a:pt x="421" y="11"/>
                </a:lnTo>
                <a:lnTo>
                  <a:pt x="421" y="8"/>
                </a:lnTo>
                <a:lnTo>
                  <a:pt x="421" y="6"/>
                </a:lnTo>
                <a:lnTo>
                  <a:pt x="421" y="3"/>
                </a:lnTo>
                <a:lnTo>
                  <a:pt x="421" y="0"/>
                </a:lnTo>
                <a:lnTo>
                  <a:pt x="417" y="0"/>
                </a:lnTo>
                <a:lnTo>
                  <a:pt x="417" y="3"/>
                </a:lnTo>
                <a:lnTo>
                  <a:pt x="417" y="6"/>
                </a:lnTo>
                <a:lnTo>
                  <a:pt x="417" y="8"/>
                </a:lnTo>
                <a:lnTo>
                  <a:pt x="417" y="11"/>
                </a:lnTo>
                <a:lnTo>
                  <a:pt x="417" y="14"/>
                </a:lnTo>
                <a:lnTo>
                  <a:pt x="419" y="18"/>
                </a:lnTo>
                <a:lnTo>
                  <a:pt x="419" y="21"/>
                </a:lnTo>
                <a:lnTo>
                  <a:pt x="419" y="24"/>
                </a:lnTo>
                <a:lnTo>
                  <a:pt x="419" y="28"/>
                </a:lnTo>
                <a:lnTo>
                  <a:pt x="419" y="31"/>
                </a:lnTo>
                <a:lnTo>
                  <a:pt x="417" y="34"/>
                </a:lnTo>
                <a:lnTo>
                  <a:pt x="417" y="38"/>
                </a:lnTo>
                <a:lnTo>
                  <a:pt x="417" y="41"/>
                </a:lnTo>
                <a:lnTo>
                  <a:pt x="417" y="44"/>
                </a:lnTo>
                <a:lnTo>
                  <a:pt x="417" y="48"/>
                </a:lnTo>
                <a:lnTo>
                  <a:pt x="417" y="51"/>
                </a:lnTo>
                <a:lnTo>
                  <a:pt x="421" y="51"/>
                </a:lnTo>
                <a:lnTo>
                  <a:pt x="421" y="48"/>
                </a:lnTo>
                <a:lnTo>
                  <a:pt x="421" y="44"/>
                </a:lnTo>
                <a:lnTo>
                  <a:pt x="421" y="41"/>
                </a:lnTo>
                <a:lnTo>
                  <a:pt x="421" y="38"/>
                </a:lnTo>
                <a:lnTo>
                  <a:pt x="421" y="34"/>
                </a:lnTo>
                <a:lnTo>
                  <a:pt x="422" y="31"/>
                </a:lnTo>
                <a:lnTo>
                  <a:pt x="422" y="28"/>
                </a:lnTo>
                <a:lnTo>
                  <a:pt x="42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25" name="Freeform 1530">
            <a:extLst>
              <a:ext uri="{FF2B5EF4-FFF2-40B4-BE49-F238E27FC236}">
                <a16:creationId xmlns:a16="http://schemas.microsoft.com/office/drawing/2014/main" id="{93A9F415-6FB8-0310-13BA-3D662C434FF8}"/>
              </a:ext>
            </a:extLst>
          </p:cNvPr>
          <p:cNvSpPr>
            <a:spLocks noEditPoints="1"/>
          </p:cNvSpPr>
          <p:nvPr/>
        </p:nvSpPr>
        <p:spPr bwMode="auto">
          <a:xfrm>
            <a:off x="2227263" y="2719388"/>
            <a:ext cx="665163" cy="80963"/>
          </a:xfrm>
          <a:custGeom>
            <a:avLst/>
            <a:gdLst>
              <a:gd name="T0" fmla="*/ 419 w 419"/>
              <a:gd name="T1" fmla="*/ 21 h 51"/>
              <a:gd name="T2" fmla="*/ 417 w 419"/>
              <a:gd name="T3" fmla="*/ 14 h 51"/>
              <a:gd name="T4" fmla="*/ 417 w 419"/>
              <a:gd name="T5" fmla="*/ 8 h 51"/>
              <a:gd name="T6" fmla="*/ 417 w 419"/>
              <a:gd name="T7" fmla="*/ 3 h 51"/>
              <a:gd name="T8" fmla="*/ 414 w 419"/>
              <a:gd name="T9" fmla="*/ 0 h 51"/>
              <a:gd name="T10" fmla="*/ 414 w 419"/>
              <a:gd name="T11" fmla="*/ 6 h 51"/>
              <a:gd name="T12" fmla="*/ 414 w 419"/>
              <a:gd name="T13" fmla="*/ 11 h 51"/>
              <a:gd name="T14" fmla="*/ 415 w 419"/>
              <a:gd name="T15" fmla="*/ 18 h 51"/>
              <a:gd name="T16" fmla="*/ 415 w 419"/>
              <a:gd name="T17" fmla="*/ 24 h 51"/>
              <a:gd name="T18" fmla="*/ 415 w 419"/>
              <a:gd name="T19" fmla="*/ 31 h 51"/>
              <a:gd name="T20" fmla="*/ 414 w 419"/>
              <a:gd name="T21" fmla="*/ 38 h 51"/>
              <a:gd name="T22" fmla="*/ 414 w 419"/>
              <a:gd name="T23" fmla="*/ 44 h 51"/>
              <a:gd name="T24" fmla="*/ 414 w 419"/>
              <a:gd name="T25" fmla="*/ 51 h 51"/>
              <a:gd name="T26" fmla="*/ 417 w 419"/>
              <a:gd name="T27" fmla="*/ 48 h 51"/>
              <a:gd name="T28" fmla="*/ 417 w 419"/>
              <a:gd name="T29" fmla="*/ 41 h 51"/>
              <a:gd name="T30" fmla="*/ 417 w 419"/>
              <a:gd name="T31" fmla="*/ 34 h 51"/>
              <a:gd name="T32" fmla="*/ 419 w 419"/>
              <a:gd name="T33" fmla="*/ 28 h 51"/>
              <a:gd name="T34" fmla="*/ 1 w 419"/>
              <a:gd name="T35" fmla="*/ 0 h 51"/>
              <a:gd name="T36" fmla="*/ 0 w 419"/>
              <a:gd name="T37" fmla="*/ 6 h 51"/>
              <a:gd name="T38" fmla="*/ 0 w 419"/>
              <a:gd name="T39" fmla="*/ 11 h 51"/>
              <a:gd name="T40" fmla="*/ 0 w 419"/>
              <a:gd name="T41" fmla="*/ 18 h 51"/>
              <a:gd name="T42" fmla="*/ 0 w 419"/>
              <a:gd name="T43" fmla="*/ 24 h 51"/>
              <a:gd name="T44" fmla="*/ 0 w 419"/>
              <a:gd name="T45" fmla="*/ 31 h 51"/>
              <a:gd name="T46" fmla="*/ 0 w 419"/>
              <a:gd name="T47" fmla="*/ 38 h 51"/>
              <a:gd name="T48" fmla="*/ 0 w 419"/>
              <a:gd name="T49" fmla="*/ 44 h 51"/>
              <a:gd name="T50" fmla="*/ 1 w 419"/>
              <a:gd name="T51" fmla="*/ 51 h 51"/>
              <a:gd name="T52" fmla="*/ 3 w 419"/>
              <a:gd name="T53" fmla="*/ 48 h 51"/>
              <a:gd name="T54" fmla="*/ 3 w 419"/>
              <a:gd name="T55" fmla="*/ 41 h 51"/>
              <a:gd name="T56" fmla="*/ 3 w 419"/>
              <a:gd name="T57" fmla="*/ 34 h 51"/>
              <a:gd name="T58" fmla="*/ 3 w 419"/>
              <a:gd name="T59" fmla="*/ 28 h 51"/>
              <a:gd name="T60" fmla="*/ 3 w 419"/>
              <a:gd name="T61" fmla="*/ 21 h 51"/>
              <a:gd name="T62" fmla="*/ 3 w 419"/>
              <a:gd name="T63" fmla="*/ 14 h 51"/>
              <a:gd name="T64" fmla="*/ 3 w 419"/>
              <a:gd name="T65" fmla="*/ 8 h 51"/>
              <a:gd name="T66" fmla="*/ 3 w 419"/>
              <a:gd name="T67" fmla="*/ 3 h 51"/>
              <a:gd name="T68" fmla="*/ 1 w 41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9" h="51">
                <a:moveTo>
                  <a:pt x="419" y="24"/>
                </a:moveTo>
                <a:lnTo>
                  <a:pt x="419" y="21"/>
                </a:lnTo>
                <a:lnTo>
                  <a:pt x="419" y="18"/>
                </a:lnTo>
                <a:lnTo>
                  <a:pt x="417" y="14"/>
                </a:lnTo>
                <a:lnTo>
                  <a:pt x="417" y="11"/>
                </a:lnTo>
                <a:lnTo>
                  <a:pt x="417" y="8"/>
                </a:lnTo>
                <a:lnTo>
                  <a:pt x="417" y="6"/>
                </a:lnTo>
                <a:lnTo>
                  <a:pt x="417" y="3"/>
                </a:lnTo>
                <a:lnTo>
                  <a:pt x="417" y="0"/>
                </a:lnTo>
                <a:lnTo>
                  <a:pt x="414" y="0"/>
                </a:lnTo>
                <a:lnTo>
                  <a:pt x="414" y="3"/>
                </a:lnTo>
                <a:lnTo>
                  <a:pt x="414" y="6"/>
                </a:lnTo>
                <a:lnTo>
                  <a:pt x="414" y="8"/>
                </a:lnTo>
                <a:lnTo>
                  <a:pt x="414" y="11"/>
                </a:lnTo>
                <a:lnTo>
                  <a:pt x="414" y="14"/>
                </a:lnTo>
                <a:lnTo>
                  <a:pt x="415" y="18"/>
                </a:lnTo>
                <a:lnTo>
                  <a:pt x="415" y="21"/>
                </a:lnTo>
                <a:lnTo>
                  <a:pt x="415" y="24"/>
                </a:lnTo>
                <a:lnTo>
                  <a:pt x="415" y="28"/>
                </a:lnTo>
                <a:lnTo>
                  <a:pt x="415" y="31"/>
                </a:lnTo>
                <a:lnTo>
                  <a:pt x="414" y="34"/>
                </a:lnTo>
                <a:lnTo>
                  <a:pt x="414" y="38"/>
                </a:lnTo>
                <a:lnTo>
                  <a:pt x="414" y="41"/>
                </a:lnTo>
                <a:lnTo>
                  <a:pt x="414" y="44"/>
                </a:lnTo>
                <a:lnTo>
                  <a:pt x="414" y="48"/>
                </a:lnTo>
                <a:lnTo>
                  <a:pt x="414" y="51"/>
                </a:lnTo>
                <a:lnTo>
                  <a:pt x="417" y="51"/>
                </a:lnTo>
                <a:lnTo>
                  <a:pt x="417" y="48"/>
                </a:lnTo>
                <a:lnTo>
                  <a:pt x="417" y="44"/>
                </a:lnTo>
                <a:lnTo>
                  <a:pt x="417" y="41"/>
                </a:lnTo>
                <a:lnTo>
                  <a:pt x="417" y="38"/>
                </a:lnTo>
                <a:lnTo>
                  <a:pt x="417" y="34"/>
                </a:lnTo>
                <a:lnTo>
                  <a:pt x="419" y="31"/>
                </a:lnTo>
                <a:lnTo>
                  <a:pt x="419" y="28"/>
                </a:lnTo>
                <a:lnTo>
                  <a:pt x="419"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4"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4" y="0"/>
                </a:lnTo>
                <a:lnTo>
                  <a:pt x="1"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26" name="Freeform 1531">
            <a:extLst>
              <a:ext uri="{FF2B5EF4-FFF2-40B4-BE49-F238E27FC236}">
                <a16:creationId xmlns:a16="http://schemas.microsoft.com/office/drawing/2014/main" id="{3B9F8F00-7BA9-E214-727B-6180A45228A5}"/>
              </a:ext>
            </a:extLst>
          </p:cNvPr>
          <p:cNvSpPr>
            <a:spLocks noEditPoints="1"/>
          </p:cNvSpPr>
          <p:nvPr/>
        </p:nvSpPr>
        <p:spPr bwMode="auto">
          <a:xfrm>
            <a:off x="2228850" y="2719388"/>
            <a:ext cx="660400" cy="80963"/>
          </a:xfrm>
          <a:custGeom>
            <a:avLst/>
            <a:gdLst>
              <a:gd name="T0" fmla="*/ 416 w 416"/>
              <a:gd name="T1" fmla="*/ 21 h 51"/>
              <a:gd name="T2" fmla="*/ 414 w 416"/>
              <a:gd name="T3" fmla="*/ 14 h 51"/>
              <a:gd name="T4" fmla="*/ 414 w 416"/>
              <a:gd name="T5" fmla="*/ 8 h 51"/>
              <a:gd name="T6" fmla="*/ 414 w 416"/>
              <a:gd name="T7" fmla="*/ 3 h 51"/>
              <a:gd name="T8" fmla="*/ 411 w 416"/>
              <a:gd name="T9" fmla="*/ 0 h 51"/>
              <a:gd name="T10" fmla="*/ 411 w 416"/>
              <a:gd name="T11" fmla="*/ 6 h 51"/>
              <a:gd name="T12" fmla="*/ 411 w 416"/>
              <a:gd name="T13" fmla="*/ 11 h 51"/>
              <a:gd name="T14" fmla="*/ 413 w 416"/>
              <a:gd name="T15" fmla="*/ 18 h 51"/>
              <a:gd name="T16" fmla="*/ 413 w 416"/>
              <a:gd name="T17" fmla="*/ 24 h 51"/>
              <a:gd name="T18" fmla="*/ 413 w 416"/>
              <a:gd name="T19" fmla="*/ 31 h 51"/>
              <a:gd name="T20" fmla="*/ 411 w 416"/>
              <a:gd name="T21" fmla="*/ 38 h 51"/>
              <a:gd name="T22" fmla="*/ 411 w 416"/>
              <a:gd name="T23" fmla="*/ 44 h 51"/>
              <a:gd name="T24" fmla="*/ 411 w 416"/>
              <a:gd name="T25" fmla="*/ 51 h 51"/>
              <a:gd name="T26" fmla="*/ 414 w 416"/>
              <a:gd name="T27" fmla="*/ 48 h 51"/>
              <a:gd name="T28" fmla="*/ 414 w 416"/>
              <a:gd name="T29" fmla="*/ 41 h 51"/>
              <a:gd name="T30" fmla="*/ 414 w 416"/>
              <a:gd name="T31" fmla="*/ 34 h 51"/>
              <a:gd name="T32" fmla="*/ 416 w 416"/>
              <a:gd name="T33" fmla="*/ 28 h 51"/>
              <a:gd name="T34" fmla="*/ 2 w 416"/>
              <a:gd name="T35" fmla="*/ 0 h 51"/>
              <a:gd name="T36" fmla="*/ 0 w 416"/>
              <a:gd name="T37" fmla="*/ 6 h 51"/>
              <a:gd name="T38" fmla="*/ 0 w 416"/>
              <a:gd name="T39" fmla="*/ 11 h 51"/>
              <a:gd name="T40" fmla="*/ 0 w 416"/>
              <a:gd name="T41" fmla="*/ 18 h 51"/>
              <a:gd name="T42" fmla="*/ 0 w 416"/>
              <a:gd name="T43" fmla="*/ 24 h 51"/>
              <a:gd name="T44" fmla="*/ 0 w 416"/>
              <a:gd name="T45" fmla="*/ 31 h 51"/>
              <a:gd name="T46" fmla="*/ 0 w 416"/>
              <a:gd name="T47" fmla="*/ 38 h 51"/>
              <a:gd name="T48" fmla="*/ 0 w 416"/>
              <a:gd name="T49" fmla="*/ 44 h 51"/>
              <a:gd name="T50" fmla="*/ 2 w 416"/>
              <a:gd name="T51" fmla="*/ 51 h 51"/>
              <a:gd name="T52" fmla="*/ 3 w 416"/>
              <a:gd name="T53" fmla="*/ 48 h 51"/>
              <a:gd name="T54" fmla="*/ 3 w 416"/>
              <a:gd name="T55" fmla="*/ 41 h 51"/>
              <a:gd name="T56" fmla="*/ 3 w 416"/>
              <a:gd name="T57" fmla="*/ 34 h 51"/>
              <a:gd name="T58" fmla="*/ 3 w 416"/>
              <a:gd name="T59" fmla="*/ 28 h 51"/>
              <a:gd name="T60" fmla="*/ 3 w 416"/>
              <a:gd name="T61" fmla="*/ 21 h 51"/>
              <a:gd name="T62" fmla="*/ 3 w 416"/>
              <a:gd name="T63" fmla="*/ 14 h 51"/>
              <a:gd name="T64" fmla="*/ 3 w 416"/>
              <a:gd name="T65" fmla="*/ 8 h 51"/>
              <a:gd name="T66" fmla="*/ 3 w 416"/>
              <a:gd name="T67" fmla="*/ 3 h 51"/>
              <a:gd name="T68" fmla="*/ 2 w 41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6" h="51">
                <a:moveTo>
                  <a:pt x="416" y="24"/>
                </a:moveTo>
                <a:lnTo>
                  <a:pt x="416" y="21"/>
                </a:lnTo>
                <a:lnTo>
                  <a:pt x="416" y="18"/>
                </a:lnTo>
                <a:lnTo>
                  <a:pt x="414" y="14"/>
                </a:lnTo>
                <a:lnTo>
                  <a:pt x="414" y="11"/>
                </a:lnTo>
                <a:lnTo>
                  <a:pt x="414" y="8"/>
                </a:lnTo>
                <a:lnTo>
                  <a:pt x="414" y="6"/>
                </a:lnTo>
                <a:lnTo>
                  <a:pt x="414" y="3"/>
                </a:lnTo>
                <a:lnTo>
                  <a:pt x="414" y="0"/>
                </a:lnTo>
                <a:lnTo>
                  <a:pt x="411" y="0"/>
                </a:lnTo>
                <a:lnTo>
                  <a:pt x="411" y="3"/>
                </a:lnTo>
                <a:lnTo>
                  <a:pt x="411" y="6"/>
                </a:lnTo>
                <a:lnTo>
                  <a:pt x="411" y="8"/>
                </a:lnTo>
                <a:lnTo>
                  <a:pt x="411" y="11"/>
                </a:lnTo>
                <a:lnTo>
                  <a:pt x="411" y="14"/>
                </a:lnTo>
                <a:lnTo>
                  <a:pt x="413" y="18"/>
                </a:lnTo>
                <a:lnTo>
                  <a:pt x="413" y="21"/>
                </a:lnTo>
                <a:lnTo>
                  <a:pt x="413" y="24"/>
                </a:lnTo>
                <a:lnTo>
                  <a:pt x="413" y="28"/>
                </a:lnTo>
                <a:lnTo>
                  <a:pt x="413" y="31"/>
                </a:lnTo>
                <a:lnTo>
                  <a:pt x="411" y="34"/>
                </a:lnTo>
                <a:lnTo>
                  <a:pt x="411" y="38"/>
                </a:lnTo>
                <a:lnTo>
                  <a:pt x="411" y="41"/>
                </a:lnTo>
                <a:lnTo>
                  <a:pt x="411" y="44"/>
                </a:lnTo>
                <a:lnTo>
                  <a:pt x="411" y="48"/>
                </a:lnTo>
                <a:lnTo>
                  <a:pt x="411" y="51"/>
                </a:lnTo>
                <a:lnTo>
                  <a:pt x="414" y="51"/>
                </a:lnTo>
                <a:lnTo>
                  <a:pt x="414" y="48"/>
                </a:lnTo>
                <a:lnTo>
                  <a:pt x="414" y="44"/>
                </a:lnTo>
                <a:lnTo>
                  <a:pt x="414" y="41"/>
                </a:lnTo>
                <a:lnTo>
                  <a:pt x="414" y="38"/>
                </a:lnTo>
                <a:lnTo>
                  <a:pt x="414" y="34"/>
                </a:lnTo>
                <a:lnTo>
                  <a:pt x="416" y="31"/>
                </a:lnTo>
                <a:lnTo>
                  <a:pt x="416" y="28"/>
                </a:lnTo>
                <a:lnTo>
                  <a:pt x="41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27" name="Freeform 1532">
            <a:extLst>
              <a:ext uri="{FF2B5EF4-FFF2-40B4-BE49-F238E27FC236}">
                <a16:creationId xmlns:a16="http://schemas.microsoft.com/office/drawing/2014/main" id="{092B7838-1852-1AEC-D035-E78109A34D9B}"/>
              </a:ext>
            </a:extLst>
          </p:cNvPr>
          <p:cNvSpPr>
            <a:spLocks noEditPoints="1"/>
          </p:cNvSpPr>
          <p:nvPr/>
        </p:nvSpPr>
        <p:spPr bwMode="auto">
          <a:xfrm>
            <a:off x="2232025" y="2719388"/>
            <a:ext cx="654050" cy="80963"/>
          </a:xfrm>
          <a:custGeom>
            <a:avLst/>
            <a:gdLst>
              <a:gd name="T0" fmla="*/ 412 w 412"/>
              <a:gd name="T1" fmla="*/ 21 h 51"/>
              <a:gd name="T2" fmla="*/ 411 w 412"/>
              <a:gd name="T3" fmla="*/ 14 h 51"/>
              <a:gd name="T4" fmla="*/ 411 w 412"/>
              <a:gd name="T5" fmla="*/ 8 h 51"/>
              <a:gd name="T6" fmla="*/ 411 w 412"/>
              <a:gd name="T7" fmla="*/ 3 h 51"/>
              <a:gd name="T8" fmla="*/ 407 w 412"/>
              <a:gd name="T9" fmla="*/ 0 h 51"/>
              <a:gd name="T10" fmla="*/ 407 w 412"/>
              <a:gd name="T11" fmla="*/ 6 h 51"/>
              <a:gd name="T12" fmla="*/ 407 w 412"/>
              <a:gd name="T13" fmla="*/ 11 h 51"/>
              <a:gd name="T14" fmla="*/ 409 w 412"/>
              <a:gd name="T15" fmla="*/ 18 h 51"/>
              <a:gd name="T16" fmla="*/ 409 w 412"/>
              <a:gd name="T17" fmla="*/ 24 h 51"/>
              <a:gd name="T18" fmla="*/ 409 w 412"/>
              <a:gd name="T19" fmla="*/ 31 h 51"/>
              <a:gd name="T20" fmla="*/ 407 w 412"/>
              <a:gd name="T21" fmla="*/ 38 h 51"/>
              <a:gd name="T22" fmla="*/ 407 w 412"/>
              <a:gd name="T23" fmla="*/ 44 h 51"/>
              <a:gd name="T24" fmla="*/ 407 w 412"/>
              <a:gd name="T25" fmla="*/ 51 h 51"/>
              <a:gd name="T26" fmla="*/ 411 w 412"/>
              <a:gd name="T27" fmla="*/ 48 h 51"/>
              <a:gd name="T28" fmla="*/ 411 w 412"/>
              <a:gd name="T29" fmla="*/ 41 h 51"/>
              <a:gd name="T30" fmla="*/ 411 w 412"/>
              <a:gd name="T31" fmla="*/ 34 h 51"/>
              <a:gd name="T32" fmla="*/ 412 w 412"/>
              <a:gd name="T33" fmla="*/ 28 h 51"/>
              <a:gd name="T34" fmla="*/ 1 w 412"/>
              <a:gd name="T35" fmla="*/ 0 h 51"/>
              <a:gd name="T36" fmla="*/ 0 w 412"/>
              <a:gd name="T37" fmla="*/ 6 h 51"/>
              <a:gd name="T38" fmla="*/ 0 w 412"/>
              <a:gd name="T39" fmla="*/ 11 h 51"/>
              <a:gd name="T40" fmla="*/ 0 w 412"/>
              <a:gd name="T41" fmla="*/ 18 h 51"/>
              <a:gd name="T42" fmla="*/ 0 w 412"/>
              <a:gd name="T43" fmla="*/ 24 h 51"/>
              <a:gd name="T44" fmla="*/ 0 w 412"/>
              <a:gd name="T45" fmla="*/ 31 h 51"/>
              <a:gd name="T46" fmla="*/ 0 w 412"/>
              <a:gd name="T47" fmla="*/ 38 h 51"/>
              <a:gd name="T48" fmla="*/ 0 w 412"/>
              <a:gd name="T49" fmla="*/ 44 h 51"/>
              <a:gd name="T50" fmla="*/ 1 w 412"/>
              <a:gd name="T51" fmla="*/ 51 h 51"/>
              <a:gd name="T52" fmla="*/ 3 w 412"/>
              <a:gd name="T53" fmla="*/ 48 h 51"/>
              <a:gd name="T54" fmla="*/ 3 w 412"/>
              <a:gd name="T55" fmla="*/ 41 h 51"/>
              <a:gd name="T56" fmla="*/ 3 w 412"/>
              <a:gd name="T57" fmla="*/ 34 h 51"/>
              <a:gd name="T58" fmla="*/ 3 w 412"/>
              <a:gd name="T59" fmla="*/ 28 h 51"/>
              <a:gd name="T60" fmla="*/ 3 w 412"/>
              <a:gd name="T61" fmla="*/ 21 h 51"/>
              <a:gd name="T62" fmla="*/ 3 w 412"/>
              <a:gd name="T63" fmla="*/ 14 h 51"/>
              <a:gd name="T64" fmla="*/ 3 w 412"/>
              <a:gd name="T65" fmla="*/ 8 h 51"/>
              <a:gd name="T66" fmla="*/ 3 w 412"/>
              <a:gd name="T67" fmla="*/ 3 h 51"/>
              <a:gd name="T68" fmla="*/ 1 w 41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2" h="51">
                <a:moveTo>
                  <a:pt x="412" y="24"/>
                </a:moveTo>
                <a:lnTo>
                  <a:pt x="412" y="21"/>
                </a:lnTo>
                <a:lnTo>
                  <a:pt x="412" y="18"/>
                </a:lnTo>
                <a:lnTo>
                  <a:pt x="411" y="14"/>
                </a:lnTo>
                <a:lnTo>
                  <a:pt x="411" y="11"/>
                </a:lnTo>
                <a:lnTo>
                  <a:pt x="411" y="8"/>
                </a:lnTo>
                <a:lnTo>
                  <a:pt x="411" y="6"/>
                </a:lnTo>
                <a:lnTo>
                  <a:pt x="411" y="3"/>
                </a:lnTo>
                <a:lnTo>
                  <a:pt x="411" y="0"/>
                </a:lnTo>
                <a:lnTo>
                  <a:pt x="407" y="0"/>
                </a:lnTo>
                <a:lnTo>
                  <a:pt x="407" y="3"/>
                </a:lnTo>
                <a:lnTo>
                  <a:pt x="407" y="6"/>
                </a:lnTo>
                <a:lnTo>
                  <a:pt x="407" y="8"/>
                </a:lnTo>
                <a:lnTo>
                  <a:pt x="407" y="11"/>
                </a:lnTo>
                <a:lnTo>
                  <a:pt x="407" y="14"/>
                </a:lnTo>
                <a:lnTo>
                  <a:pt x="409" y="18"/>
                </a:lnTo>
                <a:lnTo>
                  <a:pt x="409" y="21"/>
                </a:lnTo>
                <a:lnTo>
                  <a:pt x="409" y="24"/>
                </a:lnTo>
                <a:lnTo>
                  <a:pt x="409" y="28"/>
                </a:lnTo>
                <a:lnTo>
                  <a:pt x="409" y="31"/>
                </a:lnTo>
                <a:lnTo>
                  <a:pt x="407" y="34"/>
                </a:lnTo>
                <a:lnTo>
                  <a:pt x="407" y="38"/>
                </a:lnTo>
                <a:lnTo>
                  <a:pt x="407" y="41"/>
                </a:lnTo>
                <a:lnTo>
                  <a:pt x="407" y="44"/>
                </a:lnTo>
                <a:lnTo>
                  <a:pt x="407" y="48"/>
                </a:lnTo>
                <a:lnTo>
                  <a:pt x="407" y="51"/>
                </a:lnTo>
                <a:lnTo>
                  <a:pt x="411" y="51"/>
                </a:lnTo>
                <a:lnTo>
                  <a:pt x="411" y="48"/>
                </a:lnTo>
                <a:lnTo>
                  <a:pt x="411" y="44"/>
                </a:lnTo>
                <a:lnTo>
                  <a:pt x="411" y="41"/>
                </a:lnTo>
                <a:lnTo>
                  <a:pt x="411" y="38"/>
                </a:lnTo>
                <a:lnTo>
                  <a:pt x="411" y="34"/>
                </a:lnTo>
                <a:lnTo>
                  <a:pt x="412" y="31"/>
                </a:lnTo>
                <a:lnTo>
                  <a:pt x="412" y="28"/>
                </a:lnTo>
                <a:lnTo>
                  <a:pt x="41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28" name="Freeform 1533">
            <a:extLst>
              <a:ext uri="{FF2B5EF4-FFF2-40B4-BE49-F238E27FC236}">
                <a16:creationId xmlns:a16="http://schemas.microsoft.com/office/drawing/2014/main" id="{59C8CFEE-3FD0-5639-150E-719B10C6686E}"/>
              </a:ext>
            </a:extLst>
          </p:cNvPr>
          <p:cNvSpPr>
            <a:spLocks noEditPoints="1"/>
          </p:cNvSpPr>
          <p:nvPr/>
        </p:nvSpPr>
        <p:spPr bwMode="auto">
          <a:xfrm>
            <a:off x="2233613" y="2719388"/>
            <a:ext cx="650875" cy="80963"/>
          </a:xfrm>
          <a:custGeom>
            <a:avLst/>
            <a:gdLst>
              <a:gd name="T0" fmla="*/ 410 w 410"/>
              <a:gd name="T1" fmla="*/ 21 h 51"/>
              <a:gd name="T2" fmla="*/ 408 w 410"/>
              <a:gd name="T3" fmla="*/ 14 h 51"/>
              <a:gd name="T4" fmla="*/ 408 w 410"/>
              <a:gd name="T5" fmla="*/ 8 h 51"/>
              <a:gd name="T6" fmla="*/ 408 w 410"/>
              <a:gd name="T7" fmla="*/ 3 h 51"/>
              <a:gd name="T8" fmla="*/ 405 w 410"/>
              <a:gd name="T9" fmla="*/ 0 h 51"/>
              <a:gd name="T10" fmla="*/ 405 w 410"/>
              <a:gd name="T11" fmla="*/ 6 h 51"/>
              <a:gd name="T12" fmla="*/ 405 w 410"/>
              <a:gd name="T13" fmla="*/ 11 h 51"/>
              <a:gd name="T14" fmla="*/ 406 w 410"/>
              <a:gd name="T15" fmla="*/ 18 h 51"/>
              <a:gd name="T16" fmla="*/ 406 w 410"/>
              <a:gd name="T17" fmla="*/ 24 h 51"/>
              <a:gd name="T18" fmla="*/ 406 w 410"/>
              <a:gd name="T19" fmla="*/ 31 h 51"/>
              <a:gd name="T20" fmla="*/ 405 w 410"/>
              <a:gd name="T21" fmla="*/ 38 h 51"/>
              <a:gd name="T22" fmla="*/ 405 w 410"/>
              <a:gd name="T23" fmla="*/ 44 h 51"/>
              <a:gd name="T24" fmla="*/ 405 w 410"/>
              <a:gd name="T25" fmla="*/ 51 h 51"/>
              <a:gd name="T26" fmla="*/ 408 w 410"/>
              <a:gd name="T27" fmla="*/ 48 h 51"/>
              <a:gd name="T28" fmla="*/ 408 w 410"/>
              <a:gd name="T29" fmla="*/ 41 h 51"/>
              <a:gd name="T30" fmla="*/ 408 w 410"/>
              <a:gd name="T31" fmla="*/ 34 h 51"/>
              <a:gd name="T32" fmla="*/ 410 w 410"/>
              <a:gd name="T33" fmla="*/ 28 h 51"/>
              <a:gd name="T34" fmla="*/ 2 w 410"/>
              <a:gd name="T35" fmla="*/ 0 h 51"/>
              <a:gd name="T36" fmla="*/ 0 w 410"/>
              <a:gd name="T37" fmla="*/ 6 h 51"/>
              <a:gd name="T38" fmla="*/ 0 w 410"/>
              <a:gd name="T39" fmla="*/ 11 h 51"/>
              <a:gd name="T40" fmla="*/ 0 w 410"/>
              <a:gd name="T41" fmla="*/ 18 h 51"/>
              <a:gd name="T42" fmla="*/ 0 w 410"/>
              <a:gd name="T43" fmla="*/ 24 h 51"/>
              <a:gd name="T44" fmla="*/ 0 w 410"/>
              <a:gd name="T45" fmla="*/ 31 h 51"/>
              <a:gd name="T46" fmla="*/ 0 w 410"/>
              <a:gd name="T47" fmla="*/ 38 h 51"/>
              <a:gd name="T48" fmla="*/ 0 w 410"/>
              <a:gd name="T49" fmla="*/ 44 h 51"/>
              <a:gd name="T50" fmla="*/ 2 w 410"/>
              <a:gd name="T51" fmla="*/ 51 h 51"/>
              <a:gd name="T52" fmla="*/ 4 w 410"/>
              <a:gd name="T53" fmla="*/ 48 h 51"/>
              <a:gd name="T54" fmla="*/ 4 w 410"/>
              <a:gd name="T55" fmla="*/ 41 h 51"/>
              <a:gd name="T56" fmla="*/ 4 w 410"/>
              <a:gd name="T57" fmla="*/ 34 h 51"/>
              <a:gd name="T58" fmla="*/ 4 w 410"/>
              <a:gd name="T59" fmla="*/ 28 h 51"/>
              <a:gd name="T60" fmla="*/ 4 w 410"/>
              <a:gd name="T61" fmla="*/ 21 h 51"/>
              <a:gd name="T62" fmla="*/ 4 w 410"/>
              <a:gd name="T63" fmla="*/ 14 h 51"/>
              <a:gd name="T64" fmla="*/ 4 w 410"/>
              <a:gd name="T65" fmla="*/ 8 h 51"/>
              <a:gd name="T66" fmla="*/ 4 w 410"/>
              <a:gd name="T67" fmla="*/ 3 h 51"/>
              <a:gd name="T68" fmla="*/ 2 w 41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0" h="51">
                <a:moveTo>
                  <a:pt x="410" y="24"/>
                </a:moveTo>
                <a:lnTo>
                  <a:pt x="410" y="21"/>
                </a:lnTo>
                <a:lnTo>
                  <a:pt x="410" y="18"/>
                </a:lnTo>
                <a:lnTo>
                  <a:pt x="408" y="14"/>
                </a:lnTo>
                <a:lnTo>
                  <a:pt x="408" y="11"/>
                </a:lnTo>
                <a:lnTo>
                  <a:pt x="408" y="8"/>
                </a:lnTo>
                <a:lnTo>
                  <a:pt x="408" y="6"/>
                </a:lnTo>
                <a:lnTo>
                  <a:pt x="408" y="3"/>
                </a:lnTo>
                <a:lnTo>
                  <a:pt x="408" y="0"/>
                </a:lnTo>
                <a:lnTo>
                  <a:pt x="405" y="0"/>
                </a:lnTo>
                <a:lnTo>
                  <a:pt x="405" y="3"/>
                </a:lnTo>
                <a:lnTo>
                  <a:pt x="405" y="6"/>
                </a:lnTo>
                <a:lnTo>
                  <a:pt x="405" y="8"/>
                </a:lnTo>
                <a:lnTo>
                  <a:pt x="405" y="11"/>
                </a:lnTo>
                <a:lnTo>
                  <a:pt x="405" y="14"/>
                </a:lnTo>
                <a:lnTo>
                  <a:pt x="406" y="18"/>
                </a:lnTo>
                <a:lnTo>
                  <a:pt x="406" y="21"/>
                </a:lnTo>
                <a:lnTo>
                  <a:pt x="406" y="24"/>
                </a:lnTo>
                <a:lnTo>
                  <a:pt x="406" y="28"/>
                </a:lnTo>
                <a:lnTo>
                  <a:pt x="406" y="31"/>
                </a:lnTo>
                <a:lnTo>
                  <a:pt x="405" y="34"/>
                </a:lnTo>
                <a:lnTo>
                  <a:pt x="405" y="38"/>
                </a:lnTo>
                <a:lnTo>
                  <a:pt x="405" y="41"/>
                </a:lnTo>
                <a:lnTo>
                  <a:pt x="405" y="44"/>
                </a:lnTo>
                <a:lnTo>
                  <a:pt x="405" y="48"/>
                </a:lnTo>
                <a:lnTo>
                  <a:pt x="405" y="51"/>
                </a:lnTo>
                <a:lnTo>
                  <a:pt x="408" y="51"/>
                </a:lnTo>
                <a:lnTo>
                  <a:pt x="408" y="48"/>
                </a:lnTo>
                <a:lnTo>
                  <a:pt x="408" y="44"/>
                </a:lnTo>
                <a:lnTo>
                  <a:pt x="408" y="41"/>
                </a:lnTo>
                <a:lnTo>
                  <a:pt x="408" y="38"/>
                </a:lnTo>
                <a:lnTo>
                  <a:pt x="408" y="34"/>
                </a:lnTo>
                <a:lnTo>
                  <a:pt x="410" y="31"/>
                </a:lnTo>
                <a:lnTo>
                  <a:pt x="410" y="28"/>
                </a:lnTo>
                <a:lnTo>
                  <a:pt x="41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29" name="Freeform 1534">
            <a:extLst>
              <a:ext uri="{FF2B5EF4-FFF2-40B4-BE49-F238E27FC236}">
                <a16:creationId xmlns:a16="http://schemas.microsoft.com/office/drawing/2014/main" id="{D8D700FB-733F-FA68-759F-DEB4DDD7B538}"/>
              </a:ext>
            </a:extLst>
          </p:cNvPr>
          <p:cNvSpPr>
            <a:spLocks noEditPoints="1"/>
          </p:cNvSpPr>
          <p:nvPr/>
        </p:nvSpPr>
        <p:spPr bwMode="auto">
          <a:xfrm>
            <a:off x="2236788" y="2719388"/>
            <a:ext cx="644525" cy="80963"/>
          </a:xfrm>
          <a:custGeom>
            <a:avLst/>
            <a:gdLst>
              <a:gd name="T0" fmla="*/ 406 w 406"/>
              <a:gd name="T1" fmla="*/ 21 h 51"/>
              <a:gd name="T2" fmla="*/ 404 w 406"/>
              <a:gd name="T3" fmla="*/ 14 h 51"/>
              <a:gd name="T4" fmla="*/ 404 w 406"/>
              <a:gd name="T5" fmla="*/ 8 h 51"/>
              <a:gd name="T6" fmla="*/ 404 w 406"/>
              <a:gd name="T7" fmla="*/ 3 h 51"/>
              <a:gd name="T8" fmla="*/ 401 w 406"/>
              <a:gd name="T9" fmla="*/ 0 h 51"/>
              <a:gd name="T10" fmla="*/ 401 w 406"/>
              <a:gd name="T11" fmla="*/ 6 h 51"/>
              <a:gd name="T12" fmla="*/ 401 w 406"/>
              <a:gd name="T13" fmla="*/ 11 h 51"/>
              <a:gd name="T14" fmla="*/ 403 w 406"/>
              <a:gd name="T15" fmla="*/ 18 h 51"/>
              <a:gd name="T16" fmla="*/ 403 w 406"/>
              <a:gd name="T17" fmla="*/ 24 h 51"/>
              <a:gd name="T18" fmla="*/ 403 w 406"/>
              <a:gd name="T19" fmla="*/ 31 h 51"/>
              <a:gd name="T20" fmla="*/ 401 w 406"/>
              <a:gd name="T21" fmla="*/ 38 h 51"/>
              <a:gd name="T22" fmla="*/ 401 w 406"/>
              <a:gd name="T23" fmla="*/ 44 h 51"/>
              <a:gd name="T24" fmla="*/ 401 w 406"/>
              <a:gd name="T25" fmla="*/ 51 h 51"/>
              <a:gd name="T26" fmla="*/ 404 w 406"/>
              <a:gd name="T27" fmla="*/ 48 h 51"/>
              <a:gd name="T28" fmla="*/ 404 w 406"/>
              <a:gd name="T29" fmla="*/ 41 h 51"/>
              <a:gd name="T30" fmla="*/ 404 w 406"/>
              <a:gd name="T31" fmla="*/ 34 h 51"/>
              <a:gd name="T32" fmla="*/ 406 w 406"/>
              <a:gd name="T33" fmla="*/ 28 h 51"/>
              <a:gd name="T34" fmla="*/ 2 w 406"/>
              <a:gd name="T35" fmla="*/ 0 h 51"/>
              <a:gd name="T36" fmla="*/ 0 w 406"/>
              <a:gd name="T37" fmla="*/ 6 h 51"/>
              <a:gd name="T38" fmla="*/ 0 w 406"/>
              <a:gd name="T39" fmla="*/ 11 h 51"/>
              <a:gd name="T40" fmla="*/ 0 w 406"/>
              <a:gd name="T41" fmla="*/ 18 h 51"/>
              <a:gd name="T42" fmla="*/ 0 w 406"/>
              <a:gd name="T43" fmla="*/ 24 h 51"/>
              <a:gd name="T44" fmla="*/ 0 w 406"/>
              <a:gd name="T45" fmla="*/ 31 h 51"/>
              <a:gd name="T46" fmla="*/ 0 w 406"/>
              <a:gd name="T47" fmla="*/ 38 h 51"/>
              <a:gd name="T48" fmla="*/ 0 w 406"/>
              <a:gd name="T49" fmla="*/ 44 h 51"/>
              <a:gd name="T50" fmla="*/ 2 w 406"/>
              <a:gd name="T51" fmla="*/ 51 h 51"/>
              <a:gd name="T52" fmla="*/ 3 w 406"/>
              <a:gd name="T53" fmla="*/ 48 h 51"/>
              <a:gd name="T54" fmla="*/ 3 w 406"/>
              <a:gd name="T55" fmla="*/ 41 h 51"/>
              <a:gd name="T56" fmla="*/ 3 w 406"/>
              <a:gd name="T57" fmla="*/ 34 h 51"/>
              <a:gd name="T58" fmla="*/ 3 w 406"/>
              <a:gd name="T59" fmla="*/ 28 h 51"/>
              <a:gd name="T60" fmla="*/ 3 w 406"/>
              <a:gd name="T61" fmla="*/ 21 h 51"/>
              <a:gd name="T62" fmla="*/ 3 w 406"/>
              <a:gd name="T63" fmla="*/ 14 h 51"/>
              <a:gd name="T64" fmla="*/ 3 w 406"/>
              <a:gd name="T65" fmla="*/ 8 h 51"/>
              <a:gd name="T66" fmla="*/ 3 w 406"/>
              <a:gd name="T67" fmla="*/ 3 h 51"/>
              <a:gd name="T68" fmla="*/ 2 w 40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6" h="51">
                <a:moveTo>
                  <a:pt x="406" y="24"/>
                </a:moveTo>
                <a:lnTo>
                  <a:pt x="406" y="21"/>
                </a:lnTo>
                <a:lnTo>
                  <a:pt x="406" y="18"/>
                </a:lnTo>
                <a:lnTo>
                  <a:pt x="404" y="14"/>
                </a:lnTo>
                <a:lnTo>
                  <a:pt x="404" y="11"/>
                </a:lnTo>
                <a:lnTo>
                  <a:pt x="404" y="8"/>
                </a:lnTo>
                <a:lnTo>
                  <a:pt x="404" y="6"/>
                </a:lnTo>
                <a:lnTo>
                  <a:pt x="404" y="3"/>
                </a:lnTo>
                <a:lnTo>
                  <a:pt x="404" y="0"/>
                </a:lnTo>
                <a:lnTo>
                  <a:pt x="401" y="0"/>
                </a:lnTo>
                <a:lnTo>
                  <a:pt x="401" y="3"/>
                </a:lnTo>
                <a:lnTo>
                  <a:pt x="401" y="6"/>
                </a:lnTo>
                <a:lnTo>
                  <a:pt x="401" y="8"/>
                </a:lnTo>
                <a:lnTo>
                  <a:pt x="401" y="11"/>
                </a:lnTo>
                <a:lnTo>
                  <a:pt x="401" y="14"/>
                </a:lnTo>
                <a:lnTo>
                  <a:pt x="403" y="18"/>
                </a:lnTo>
                <a:lnTo>
                  <a:pt x="403" y="21"/>
                </a:lnTo>
                <a:lnTo>
                  <a:pt x="403" y="24"/>
                </a:lnTo>
                <a:lnTo>
                  <a:pt x="403" y="28"/>
                </a:lnTo>
                <a:lnTo>
                  <a:pt x="403" y="31"/>
                </a:lnTo>
                <a:lnTo>
                  <a:pt x="401" y="34"/>
                </a:lnTo>
                <a:lnTo>
                  <a:pt x="401" y="38"/>
                </a:lnTo>
                <a:lnTo>
                  <a:pt x="401" y="41"/>
                </a:lnTo>
                <a:lnTo>
                  <a:pt x="401" y="44"/>
                </a:lnTo>
                <a:lnTo>
                  <a:pt x="401" y="48"/>
                </a:lnTo>
                <a:lnTo>
                  <a:pt x="401" y="51"/>
                </a:lnTo>
                <a:lnTo>
                  <a:pt x="404" y="51"/>
                </a:lnTo>
                <a:lnTo>
                  <a:pt x="404" y="48"/>
                </a:lnTo>
                <a:lnTo>
                  <a:pt x="404" y="44"/>
                </a:lnTo>
                <a:lnTo>
                  <a:pt x="404" y="41"/>
                </a:lnTo>
                <a:lnTo>
                  <a:pt x="404" y="38"/>
                </a:lnTo>
                <a:lnTo>
                  <a:pt x="404" y="34"/>
                </a:lnTo>
                <a:lnTo>
                  <a:pt x="406" y="31"/>
                </a:lnTo>
                <a:lnTo>
                  <a:pt x="406" y="28"/>
                </a:lnTo>
                <a:lnTo>
                  <a:pt x="40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30" name="Freeform 1535">
            <a:extLst>
              <a:ext uri="{FF2B5EF4-FFF2-40B4-BE49-F238E27FC236}">
                <a16:creationId xmlns:a16="http://schemas.microsoft.com/office/drawing/2014/main" id="{FA24A341-DCB3-73CF-C2E6-44DFF842D504}"/>
              </a:ext>
            </a:extLst>
          </p:cNvPr>
          <p:cNvSpPr>
            <a:spLocks noEditPoints="1"/>
          </p:cNvSpPr>
          <p:nvPr/>
        </p:nvSpPr>
        <p:spPr bwMode="auto">
          <a:xfrm>
            <a:off x="2239963" y="2719388"/>
            <a:ext cx="638175" cy="80963"/>
          </a:xfrm>
          <a:custGeom>
            <a:avLst/>
            <a:gdLst>
              <a:gd name="T0" fmla="*/ 402 w 402"/>
              <a:gd name="T1" fmla="*/ 21 h 51"/>
              <a:gd name="T2" fmla="*/ 401 w 402"/>
              <a:gd name="T3" fmla="*/ 14 h 51"/>
              <a:gd name="T4" fmla="*/ 401 w 402"/>
              <a:gd name="T5" fmla="*/ 8 h 51"/>
              <a:gd name="T6" fmla="*/ 401 w 402"/>
              <a:gd name="T7" fmla="*/ 3 h 51"/>
              <a:gd name="T8" fmla="*/ 397 w 402"/>
              <a:gd name="T9" fmla="*/ 0 h 51"/>
              <a:gd name="T10" fmla="*/ 397 w 402"/>
              <a:gd name="T11" fmla="*/ 6 h 51"/>
              <a:gd name="T12" fmla="*/ 397 w 402"/>
              <a:gd name="T13" fmla="*/ 11 h 51"/>
              <a:gd name="T14" fmla="*/ 399 w 402"/>
              <a:gd name="T15" fmla="*/ 18 h 51"/>
              <a:gd name="T16" fmla="*/ 399 w 402"/>
              <a:gd name="T17" fmla="*/ 24 h 51"/>
              <a:gd name="T18" fmla="*/ 399 w 402"/>
              <a:gd name="T19" fmla="*/ 31 h 51"/>
              <a:gd name="T20" fmla="*/ 397 w 402"/>
              <a:gd name="T21" fmla="*/ 38 h 51"/>
              <a:gd name="T22" fmla="*/ 397 w 402"/>
              <a:gd name="T23" fmla="*/ 44 h 51"/>
              <a:gd name="T24" fmla="*/ 397 w 402"/>
              <a:gd name="T25" fmla="*/ 51 h 51"/>
              <a:gd name="T26" fmla="*/ 401 w 402"/>
              <a:gd name="T27" fmla="*/ 48 h 51"/>
              <a:gd name="T28" fmla="*/ 401 w 402"/>
              <a:gd name="T29" fmla="*/ 41 h 51"/>
              <a:gd name="T30" fmla="*/ 401 w 402"/>
              <a:gd name="T31" fmla="*/ 34 h 51"/>
              <a:gd name="T32" fmla="*/ 402 w 402"/>
              <a:gd name="T33" fmla="*/ 28 h 51"/>
              <a:gd name="T34" fmla="*/ 1 w 402"/>
              <a:gd name="T35" fmla="*/ 0 h 51"/>
              <a:gd name="T36" fmla="*/ 0 w 402"/>
              <a:gd name="T37" fmla="*/ 6 h 51"/>
              <a:gd name="T38" fmla="*/ 0 w 402"/>
              <a:gd name="T39" fmla="*/ 11 h 51"/>
              <a:gd name="T40" fmla="*/ 0 w 402"/>
              <a:gd name="T41" fmla="*/ 18 h 51"/>
              <a:gd name="T42" fmla="*/ 0 w 402"/>
              <a:gd name="T43" fmla="*/ 24 h 51"/>
              <a:gd name="T44" fmla="*/ 0 w 402"/>
              <a:gd name="T45" fmla="*/ 31 h 51"/>
              <a:gd name="T46" fmla="*/ 0 w 402"/>
              <a:gd name="T47" fmla="*/ 38 h 51"/>
              <a:gd name="T48" fmla="*/ 0 w 402"/>
              <a:gd name="T49" fmla="*/ 44 h 51"/>
              <a:gd name="T50" fmla="*/ 1 w 402"/>
              <a:gd name="T51" fmla="*/ 51 h 51"/>
              <a:gd name="T52" fmla="*/ 3 w 402"/>
              <a:gd name="T53" fmla="*/ 48 h 51"/>
              <a:gd name="T54" fmla="*/ 3 w 402"/>
              <a:gd name="T55" fmla="*/ 41 h 51"/>
              <a:gd name="T56" fmla="*/ 3 w 402"/>
              <a:gd name="T57" fmla="*/ 34 h 51"/>
              <a:gd name="T58" fmla="*/ 3 w 402"/>
              <a:gd name="T59" fmla="*/ 28 h 51"/>
              <a:gd name="T60" fmla="*/ 3 w 402"/>
              <a:gd name="T61" fmla="*/ 21 h 51"/>
              <a:gd name="T62" fmla="*/ 3 w 402"/>
              <a:gd name="T63" fmla="*/ 14 h 51"/>
              <a:gd name="T64" fmla="*/ 3 w 402"/>
              <a:gd name="T65" fmla="*/ 8 h 51"/>
              <a:gd name="T66" fmla="*/ 3 w 402"/>
              <a:gd name="T67" fmla="*/ 3 h 51"/>
              <a:gd name="T68" fmla="*/ 1 w 40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2" h="51">
                <a:moveTo>
                  <a:pt x="402" y="24"/>
                </a:moveTo>
                <a:lnTo>
                  <a:pt x="402" y="21"/>
                </a:lnTo>
                <a:lnTo>
                  <a:pt x="402" y="18"/>
                </a:lnTo>
                <a:lnTo>
                  <a:pt x="401" y="14"/>
                </a:lnTo>
                <a:lnTo>
                  <a:pt x="401" y="11"/>
                </a:lnTo>
                <a:lnTo>
                  <a:pt x="401" y="8"/>
                </a:lnTo>
                <a:lnTo>
                  <a:pt x="401" y="6"/>
                </a:lnTo>
                <a:lnTo>
                  <a:pt x="401" y="3"/>
                </a:lnTo>
                <a:lnTo>
                  <a:pt x="401" y="0"/>
                </a:lnTo>
                <a:lnTo>
                  <a:pt x="397" y="0"/>
                </a:lnTo>
                <a:lnTo>
                  <a:pt x="397" y="3"/>
                </a:lnTo>
                <a:lnTo>
                  <a:pt x="397" y="6"/>
                </a:lnTo>
                <a:lnTo>
                  <a:pt x="397" y="8"/>
                </a:lnTo>
                <a:lnTo>
                  <a:pt x="397" y="11"/>
                </a:lnTo>
                <a:lnTo>
                  <a:pt x="397" y="14"/>
                </a:lnTo>
                <a:lnTo>
                  <a:pt x="399" y="18"/>
                </a:lnTo>
                <a:lnTo>
                  <a:pt x="399" y="21"/>
                </a:lnTo>
                <a:lnTo>
                  <a:pt x="399" y="24"/>
                </a:lnTo>
                <a:lnTo>
                  <a:pt x="399" y="28"/>
                </a:lnTo>
                <a:lnTo>
                  <a:pt x="399" y="31"/>
                </a:lnTo>
                <a:lnTo>
                  <a:pt x="397" y="34"/>
                </a:lnTo>
                <a:lnTo>
                  <a:pt x="397" y="38"/>
                </a:lnTo>
                <a:lnTo>
                  <a:pt x="397" y="41"/>
                </a:lnTo>
                <a:lnTo>
                  <a:pt x="397" y="44"/>
                </a:lnTo>
                <a:lnTo>
                  <a:pt x="397" y="48"/>
                </a:lnTo>
                <a:lnTo>
                  <a:pt x="397" y="51"/>
                </a:lnTo>
                <a:lnTo>
                  <a:pt x="401" y="51"/>
                </a:lnTo>
                <a:lnTo>
                  <a:pt x="401" y="48"/>
                </a:lnTo>
                <a:lnTo>
                  <a:pt x="401" y="44"/>
                </a:lnTo>
                <a:lnTo>
                  <a:pt x="401" y="41"/>
                </a:lnTo>
                <a:lnTo>
                  <a:pt x="401" y="38"/>
                </a:lnTo>
                <a:lnTo>
                  <a:pt x="401" y="34"/>
                </a:lnTo>
                <a:lnTo>
                  <a:pt x="402" y="31"/>
                </a:lnTo>
                <a:lnTo>
                  <a:pt x="402" y="28"/>
                </a:lnTo>
                <a:lnTo>
                  <a:pt x="40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31" name="Freeform 1536">
            <a:extLst>
              <a:ext uri="{FF2B5EF4-FFF2-40B4-BE49-F238E27FC236}">
                <a16:creationId xmlns:a16="http://schemas.microsoft.com/office/drawing/2014/main" id="{2A6B1055-814E-92AB-1B7D-5366BD5FC818}"/>
              </a:ext>
            </a:extLst>
          </p:cNvPr>
          <p:cNvSpPr>
            <a:spLocks noEditPoints="1"/>
          </p:cNvSpPr>
          <p:nvPr/>
        </p:nvSpPr>
        <p:spPr bwMode="auto">
          <a:xfrm>
            <a:off x="2241550" y="2719388"/>
            <a:ext cx="635000" cy="80963"/>
          </a:xfrm>
          <a:custGeom>
            <a:avLst/>
            <a:gdLst>
              <a:gd name="T0" fmla="*/ 400 w 400"/>
              <a:gd name="T1" fmla="*/ 21 h 51"/>
              <a:gd name="T2" fmla="*/ 398 w 400"/>
              <a:gd name="T3" fmla="*/ 14 h 51"/>
              <a:gd name="T4" fmla="*/ 398 w 400"/>
              <a:gd name="T5" fmla="*/ 8 h 51"/>
              <a:gd name="T6" fmla="*/ 398 w 400"/>
              <a:gd name="T7" fmla="*/ 3 h 51"/>
              <a:gd name="T8" fmla="*/ 395 w 400"/>
              <a:gd name="T9" fmla="*/ 0 h 51"/>
              <a:gd name="T10" fmla="*/ 395 w 400"/>
              <a:gd name="T11" fmla="*/ 6 h 51"/>
              <a:gd name="T12" fmla="*/ 395 w 400"/>
              <a:gd name="T13" fmla="*/ 11 h 51"/>
              <a:gd name="T14" fmla="*/ 396 w 400"/>
              <a:gd name="T15" fmla="*/ 18 h 51"/>
              <a:gd name="T16" fmla="*/ 396 w 400"/>
              <a:gd name="T17" fmla="*/ 24 h 51"/>
              <a:gd name="T18" fmla="*/ 396 w 400"/>
              <a:gd name="T19" fmla="*/ 31 h 51"/>
              <a:gd name="T20" fmla="*/ 395 w 400"/>
              <a:gd name="T21" fmla="*/ 38 h 51"/>
              <a:gd name="T22" fmla="*/ 395 w 400"/>
              <a:gd name="T23" fmla="*/ 44 h 51"/>
              <a:gd name="T24" fmla="*/ 395 w 400"/>
              <a:gd name="T25" fmla="*/ 51 h 51"/>
              <a:gd name="T26" fmla="*/ 398 w 400"/>
              <a:gd name="T27" fmla="*/ 48 h 51"/>
              <a:gd name="T28" fmla="*/ 398 w 400"/>
              <a:gd name="T29" fmla="*/ 41 h 51"/>
              <a:gd name="T30" fmla="*/ 398 w 400"/>
              <a:gd name="T31" fmla="*/ 34 h 51"/>
              <a:gd name="T32" fmla="*/ 400 w 400"/>
              <a:gd name="T33" fmla="*/ 28 h 51"/>
              <a:gd name="T34" fmla="*/ 2 w 400"/>
              <a:gd name="T35" fmla="*/ 0 h 51"/>
              <a:gd name="T36" fmla="*/ 0 w 400"/>
              <a:gd name="T37" fmla="*/ 6 h 51"/>
              <a:gd name="T38" fmla="*/ 0 w 400"/>
              <a:gd name="T39" fmla="*/ 11 h 51"/>
              <a:gd name="T40" fmla="*/ 0 w 400"/>
              <a:gd name="T41" fmla="*/ 18 h 51"/>
              <a:gd name="T42" fmla="*/ 0 w 400"/>
              <a:gd name="T43" fmla="*/ 24 h 51"/>
              <a:gd name="T44" fmla="*/ 0 w 400"/>
              <a:gd name="T45" fmla="*/ 31 h 51"/>
              <a:gd name="T46" fmla="*/ 0 w 400"/>
              <a:gd name="T47" fmla="*/ 38 h 51"/>
              <a:gd name="T48" fmla="*/ 0 w 400"/>
              <a:gd name="T49" fmla="*/ 44 h 51"/>
              <a:gd name="T50" fmla="*/ 2 w 400"/>
              <a:gd name="T51" fmla="*/ 51 h 51"/>
              <a:gd name="T52" fmla="*/ 4 w 400"/>
              <a:gd name="T53" fmla="*/ 48 h 51"/>
              <a:gd name="T54" fmla="*/ 4 w 400"/>
              <a:gd name="T55" fmla="*/ 41 h 51"/>
              <a:gd name="T56" fmla="*/ 4 w 400"/>
              <a:gd name="T57" fmla="*/ 34 h 51"/>
              <a:gd name="T58" fmla="*/ 4 w 400"/>
              <a:gd name="T59" fmla="*/ 28 h 51"/>
              <a:gd name="T60" fmla="*/ 4 w 400"/>
              <a:gd name="T61" fmla="*/ 21 h 51"/>
              <a:gd name="T62" fmla="*/ 4 w 400"/>
              <a:gd name="T63" fmla="*/ 14 h 51"/>
              <a:gd name="T64" fmla="*/ 4 w 400"/>
              <a:gd name="T65" fmla="*/ 8 h 51"/>
              <a:gd name="T66" fmla="*/ 4 w 400"/>
              <a:gd name="T67" fmla="*/ 3 h 51"/>
              <a:gd name="T68" fmla="*/ 2 w 40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0" h="51">
                <a:moveTo>
                  <a:pt x="400" y="24"/>
                </a:moveTo>
                <a:lnTo>
                  <a:pt x="400" y="21"/>
                </a:lnTo>
                <a:lnTo>
                  <a:pt x="400" y="18"/>
                </a:lnTo>
                <a:lnTo>
                  <a:pt x="398" y="14"/>
                </a:lnTo>
                <a:lnTo>
                  <a:pt x="398" y="11"/>
                </a:lnTo>
                <a:lnTo>
                  <a:pt x="398" y="8"/>
                </a:lnTo>
                <a:lnTo>
                  <a:pt x="398" y="6"/>
                </a:lnTo>
                <a:lnTo>
                  <a:pt x="398" y="3"/>
                </a:lnTo>
                <a:lnTo>
                  <a:pt x="398" y="0"/>
                </a:lnTo>
                <a:lnTo>
                  <a:pt x="395" y="0"/>
                </a:lnTo>
                <a:lnTo>
                  <a:pt x="395" y="3"/>
                </a:lnTo>
                <a:lnTo>
                  <a:pt x="395" y="6"/>
                </a:lnTo>
                <a:lnTo>
                  <a:pt x="395" y="8"/>
                </a:lnTo>
                <a:lnTo>
                  <a:pt x="395" y="11"/>
                </a:lnTo>
                <a:lnTo>
                  <a:pt x="395" y="14"/>
                </a:lnTo>
                <a:lnTo>
                  <a:pt x="396" y="18"/>
                </a:lnTo>
                <a:lnTo>
                  <a:pt x="396" y="21"/>
                </a:lnTo>
                <a:lnTo>
                  <a:pt x="396" y="24"/>
                </a:lnTo>
                <a:lnTo>
                  <a:pt x="396" y="28"/>
                </a:lnTo>
                <a:lnTo>
                  <a:pt x="396" y="31"/>
                </a:lnTo>
                <a:lnTo>
                  <a:pt x="395" y="34"/>
                </a:lnTo>
                <a:lnTo>
                  <a:pt x="395" y="38"/>
                </a:lnTo>
                <a:lnTo>
                  <a:pt x="395" y="41"/>
                </a:lnTo>
                <a:lnTo>
                  <a:pt x="395" y="44"/>
                </a:lnTo>
                <a:lnTo>
                  <a:pt x="395" y="48"/>
                </a:lnTo>
                <a:lnTo>
                  <a:pt x="395" y="51"/>
                </a:lnTo>
                <a:lnTo>
                  <a:pt x="398" y="51"/>
                </a:lnTo>
                <a:lnTo>
                  <a:pt x="398" y="48"/>
                </a:lnTo>
                <a:lnTo>
                  <a:pt x="398" y="44"/>
                </a:lnTo>
                <a:lnTo>
                  <a:pt x="398" y="41"/>
                </a:lnTo>
                <a:lnTo>
                  <a:pt x="398" y="38"/>
                </a:lnTo>
                <a:lnTo>
                  <a:pt x="398" y="34"/>
                </a:lnTo>
                <a:lnTo>
                  <a:pt x="400" y="31"/>
                </a:lnTo>
                <a:lnTo>
                  <a:pt x="400" y="28"/>
                </a:lnTo>
                <a:lnTo>
                  <a:pt x="40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32" name="Freeform 1537">
            <a:extLst>
              <a:ext uri="{FF2B5EF4-FFF2-40B4-BE49-F238E27FC236}">
                <a16:creationId xmlns:a16="http://schemas.microsoft.com/office/drawing/2014/main" id="{60E3C633-9CCD-C780-DE9F-88B52AF07868}"/>
              </a:ext>
            </a:extLst>
          </p:cNvPr>
          <p:cNvSpPr>
            <a:spLocks noEditPoints="1"/>
          </p:cNvSpPr>
          <p:nvPr/>
        </p:nvSpPr>
        <p:spPr bwMode="auto">
          <a:xfrm>
            <a:off x="2244725" y="2719388"/>
            <a:ext cx="628650" cy="80963"/>
          </a:xfrm>
          <a:custGeom>
            <a:avLst/>
            <a:gdLst>
              <a:gd name="T0" fmla="*/ 396 w 396"/>
              <a:gd name="T1" fmla="*/ 21 h 51"/>
              <a:gd name="T2" fmla="*/ 394 w 396"/>
              <a:gd name="T3" fmla="*/ 14 h 51"/>
              <a:gd name="T4" fmla="*/ 394 w 396"/>
              <a:gd name="T5" fmla="*/ 8 h 51"/>
              <a:gd name="T6" fmla="*/ 394 w 396"/>
              <a:gd name="T7" fmla="*/ 3 h 51"/>
              <a:gd name="T8" fmla="*/ 391 w 396"/>
              <a:gd name="T9" fmla="*/ 0 h 51"/>
              <a:gd name="T10" fmla="*/ 391 w 396"/>
              <a:gd name="T11" fmla="*/ 6 h 51"/>
              <a:gd name="T12" fmla="*/ 391 w 396"/>
              <a:gd name="T13" fmla="*/ 11 h 51"/>
              <a:gd name="T14" fmla="*/ 393 w 396"/>
              <a:gd name="T15" fmla="*/ 18 h 51"/>
              <a:gd name="T16" fmla="*/ 393 w 396"/>
              <a:gd name="T17" fmla="*/ 24 h 51"/>
              <a:gd name="T18" fmla="*/ 393 w 396"/>
              <a:gd name="T19" fmla="*/ 31 h 51"/>
              <a:gd name="T20" fmla="*/ 391 w 396"/>
              <a:gd name="T21" fmla="*/ 38 h 51"/>
              <a:gd name="T22" fmla="*/ 391 w 396"/>
              <a:gd name="T23" fmla="*/ 44 h 51"/>
              <a:gd name="T24" fmla="*/ 391 w 396"/>
              <a:gd name="T25" fmla="*/ 51 h 51"/>
              <a:gd name="T26" fmla="*/ 394 w 396"/>
              <a:gd name="T27" fmla="*/ 48 h 51"/>
              <a:gd name="T28" fmla="*/ 394 w 396"/>
              <a:gd name="T29" fmla="*/ 41 h 51"/>
              <a:gd name="T30" fmla="*/ 394 w 396"/>
              <a:gd name="T31" fmla="*/ 34 h 51"/>
              <a:gd name="T32" fmla="*/ 396 w 396"/>
              <a:gd name="T33" fmla="*/ 28 h 51"/>
              <a:gd name="T34" fmla="*/ 2 w 396"/>
              <a:gd name="T35" fmla="*/ 0 h 51"/>
              <a:gd name="T36" fmla="*/ 0 w 396"/>
              <a:gd name="T37" fmla="*/ 6 h 51"/>
              <a:gd name="T38" fmla="*/ 0 w 396"/>
              <a:gd name="T39" fmla="*/ 11 h 51"/>
              <a:gd name="T40" fmla="*/ 0 w 396"/>
              <a:gd name="T41" fmla="*/ 18 h 51"/>
              <a:gd name="T42" fmla="*/ 0 w 396"/>
              <a:gd name="T43" fmla="*/ 24 h 51"/>
              <a:gd name="T44" fmla="*/ 0 w 396"/>
              <a:gd name="T45" fmla="*/ 31 h 51"/>
              <a:gd name="T46" fmla="*/ 0 w 396"/>
              <a:gd name="T47" fmla="*/ 38 h 51"/>
              <a:gd name="T48" fmla="*/ 0 w 396"/>
              <a:gd name="T49" fmla="*/ 44 h 51"/>
              <a:gd name="T50" fmla="*/ 2 w 396"/>
              <a:gd name="T51" fmla="*/ 51 h 51"/>
              <a:gd name="T52" fmla="*/ 3 w 396"/>
              <a:gd name="T53" fmla="*/ 48 h 51"/>
              <a:gd name="T54" fmla="*/ 3 w 396"/>
              <a:gd name="T55" fmla="*/ 41 h 51"/>
              <a:gd name="T56" fmla="*/ 3 w 396"/>
              <a:gd name="T57" fmla="*/ 34 h 51"/>
              <a:gd name="T58" fmla="*/ 3 w 396"/>
              <a:gd name="T59" fmla="*/ 28 h 51"/>
              <a:gd name="T60" fmla="*/ 3 w 396"/>
              <a:gd name="T61" fmla="*/ 21 h 51"/>
              <a:gd name="T62" fmla="*/ 3 w 396"/>
              <a:gd name="T63" fmla="*/ 14 h 51"/>
              <a:gd name="T64" fmla="*/ 3 w 396"/>
              <a:gd name="T65" fmla="*/ 8 h 51"/>
              <a:gd name="T66" fmla="*/ 3 w 396"/>
              <a:gd name="T67" fmla="*/ 3 h 51"/>
              <a:gd name="T68" fmla="*/ 2 w 3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6" h="51">
                <a:moveTo>
                  <a:pt x="396" y="24"/>
                </a:moveTo>
                <a:lnTo>
                  <a:pt x="396" y="21"/>
                </a:lnTo>
                <a:lnTo>
                  <a:pt x="396" y="18"/>
                </a:lnTo>
                <a:lnTo>
                  <a:pt x="394" y="14"/>
                </a:lnTo>
                <a:lnTo>
                  <a:pt x="394" y="11"/>
                </a:lnTo>
                <a:lnTo>
                  <a:pt x="394" y="8"/>
                </a:lnTo>
                <a:lnTo>
                  <a:pt x="394" y="6"/>
                </a:lnTo>
                <a:lnTo>
                  <a:pt x="394" y="3"/>
                </a:lnTo>
                <a:lnTo>
                  <a:pt x="394" y="0"/>
                </a:lnTo>
                <a:lnTo>
                  <a:pt x="391" y="0"/>
                </a:lnTo>
                <a:lnTo>
                  <a:pt x="391" y="3"/>
                </a:lnTo>
                <a:lnTo>
                  <a:pt x="391" y="6"/>
                </a:lnTo>
                <a:lnTo>
                  <a:pt x="391" y="8"/>
                </a:lnTo>
                <a:lnTo>
                  <a:pt x="391" y="11"/>
                </a:lnTo>
                <a:lnTo>
                  <a:pt x="391" y="14"/>
                </a:lnTo>
                <a:lnTo>
                  <a:pt x="393" y="18"/>
                </a:lnTo>
                <a:lnTo>
                  <a:pt x="393" y="21"/>
                </a:lnTo>
                <a:lnTo>
                  <a:pt x="393" y="24"/>
                </a:lnTo>
                <a:lnTo>
                  <a:pt x="393" y="28"/>
                </a:lnTo>
                <a:lnTo>
                  <a:pt x="393" y="31"/>
                </a:lnTo>
                <a:lnTo>
                  <a:pt x="391" y="34"/>
                </a:lnTo>
                <a:lnTo>
                  <a:pt x="391" y="38"/>
                </a:lnTo>
                <a:lnTo>
                  <a:pt x="391" y="41"/>
                </a:lnTo>
                <a:lnTo>
                  <a:pt x="391" y="44"/>
                </a:lnTo>
                <a:lnTo>
                  <a:pt x="391" y="48"/>
                </a:lnTo>
                <a:lnTo>
                  <a:pt x="391" y="51"/>
                </a:lnTo>
                <a:lnTo>
                  <a:pt x="394" y="51"/>
                </a:lnTo>
                <a:lnTo>
                  <a:pt x="394" y="48"/>
                </a:lnTo>
                <a:lnTo>
                  <a:pt x="394" y="44"/>
                </a:lnTo>
                <a:lnTo>
                  <a:pt x="394" y="41"/>
                </a:lnTo>
                <a:lnTo>
                  <a:pt x="394" y="38"/>
                </a:lnTo>
                <a:lnTo>
                  <a:pt x="394" y="34"/>
                </a:lnTo>
                <a:lnTo>
                  <a:pt x="396" y="31"/>
                </a:lnTo>
                <a:lnTo>
                  <a:pt x="396" y="28"/>
                </a:lnTo>
                <a:lnTo>
                  <a:pt x="39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33" name="Freeform 1538">
            <a:extLst>
              <a:ext uri="{FF2B5EF4-FFF2-40B4-BE49-F238E27FC236}">
                <a16:creationId xmlns:a16="http://schemas.microsoft.com/office/drawing/2014/main" id="{AB72CD09-5B11-EE05-7F30-6B79C44C6DAA}"/>
              </a:ext>
            </a:extLst>
          </p:cNvPr>
          <p:cNvSpPr>
            <a:spLocks noEditPoints="1"/>
          </p:cNvSpPr>
          <p:nvPr/>
        </p:nvSpPr>
        <p:spPr bwMode="auto">
          <a:xfrm>
            <a:off x="2247900" y="2719388"/>
            <a:ext cx="622300" cy="80963"/>
          </a:xfrm>
          <a:custGeom>
            <a:avLst/>
            <a:gdLst>
              <a:gd name="T0" fmla="*/ 392 w 392"/>
              <a:gd name="T1" fmla="*/ 21 h 51"/>
              <a:gd name="T2" fmla="*/ 391 w 392"/>
              <a:gd name="T3" fmla="*/ 14 h 51"/>
              <a:gd name="T4" fmla="*/ 391 w 392"/>
              <a:gd name="T5" fmla="*/ 8 h 51"/>
              <a:gd name="T6" fmla="*/ 391 w 392"/>
              <a:gd name="T7" fmla="*/ 3 h 51"/>
              <a:gd name="T8" fmla="*/ 387 w 392"/>
              <a:gd name="T9" fmla="*/ 0 h 51"/>
              <a:gd name="T10" fmla="*/ 387 w 392"/>
              <a:gd name="T11" fmla="*/ 6 h 51"/>
              <a:gd name="T12" fmla="*/ 387 w 392"/>
              <a:gd name="T13" fmla="*/ 11 h 51"/>
              <a:gd name="T14" fmla="*/ 389 w 392"/>
              <a:gd name="T15" fmla="*/ 18 h 51"/>
              <a:gd name="T16" fmla="*/ 389 w 392"/>
              <a:gd name="T17" fmla="*/ 24 h 51"/>
              <a:gd name="T18" fmla="*/ 389 w 392"/>
              <a:gd name="T19" fmla="*/ 31 h 51"/>
              <a:gd name="T20" fmla="*/ 387 w 392"/>
              <a:gd name="T21" fmla="*/ 38 h 51"/>
              <a:gd name="T22" fmla="*/ 387 w 392"/>
              <a:gd name="T23" fmla="*/ 44 h 51"/>
              <a:gd name="T24" fmla="*/ 387 w 392"/>
              <a:gd name="T25" fmla="*/ 51 h 51"/>
              <a:gd name="T26" fmla="*/ 391 w 392"/>
              <a:gd name="T27" fmla="*/ 48 h 51"/>
              <a:gd name="T28" fmla="*/ 391 w 392"/>
              <a:gd name="T29" fmla="*/ 41 h 51"/>
              <a:gd name="T30" fmla="*/ 391 w 392"/>
              <a:gd name="T31" fmla="*/ 34 h 51"/>
              <a:gd name="T32" fmla="*/ 392 w 392"/>
              <a:gd name="T33" fmla="*/ 28 h 51"/>
              <a:gd name="T34" fmla="*/ 1 w 392"/>
              <a:gd name="T35" fmla="*/ 0 h 51"/>
              <a:gd name="T36" fmla="*/ 0 w 392"/>
              <a:gd name="T37" fmla="*/ 6 h 51"/>
              <a:gd name="T38" fmla="*/ 0 w 392"/>
              <a:gd name="T39" fmla="*/ 11 h 51"/>
              <a:gd name="T40" fmla="*/ 0 w 392"/>
              <a:gd name="T41" fmla="*/ 18 h 51"/>
              <a:gd name="T42" fmla="*/ 0 w 392"/>
              <a:gd name="T43" fmla="*/ 24 h 51"/>
              <a:gd name="T44" fmla="*/ 0 w 392"/>
              <a:gd name="T45" fmla="*/ 31 h 51"/>
              <a:gd name="T46" fmla="*/ 0 w 392"/>
              <a:gd name="T47" fmla="*/ 38 h 51"/>
              <a:gd name="T48" fmla="*/ 0 w 392"/>
              <a:gd name="T49" fmla="*/ 44 h 51"/>
              <a:gd name="T50" fmla="*/ 1 w 392"/>
              <a:gd name="T51" fmla="*/ 51 h 51"/>
              <a:gd name="T52" fmla="*/ 3 w 392"/>
              <a:gd name="T53" fmla="*/ 48 h 51"/>
              <a:gd name="T54" fmla="*/ 3 w 392"/>
              <a:gd name="T55" fmla="*/ 41 h 51"/>
              <a:gd name="T56" fmla="*/ 3 w 392"/>
              <a:gd name="T57" fmla="*/ 34 h 51"/>
              <a:gd name="T58" fmla="*/ 3 w 392"/>
              <a:gd name="T59" fmla="*/ 28 h 51"/>
              <a:gd name="T60" fmla="*/ 3 w 392"/>
              <a:gd name="T61" fmla="*/ 21 h 51"/>
              <a:gd name="T62" fmla="*/ 3 w 392"/>
              <a:gd name="T63" fmla="*/ 14 h 51"/>
              <a:gd name="T64" fmla="*/ 3 w 392"/>
              <a:gd name="T65" fmla="*/ 8 h 51"/>
              <a:gd name="T66" fmla="*/ 3 w 392"/>
              <a:gd name="T67" fmla="*/ 3 h 51"/>
              <a:gd name="T68" fmla="*/ 1 w 39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2" h="51">
                <a:moveTo>
                  <a:pt x="392" y="24"/>
                </a:moveTo>
                <a:lnTo>
                  <a:pt x="392" y="21"/>
                </a:lnTo>
                <a:lnTo>
                  <a:pt x="392" y="18"/>
                </a:lnTo>
                <a:lnTo>
                  <a:pt x="391" y="14"/>
                </a:lnTo>
                <a:lnTo>
                  <a:pt x="391" y="11"/>
                </a:lnTo>
                <a:lnTo>
                  <a:pt x="391" y="8"/>
                </a:lnTo>
                <a:lnTo>
                  <a:pt x="391" y="6"/>
                </a:lnTo>
                <a:lnTo>
                  <a:pt x="391" y="3"/>
                </a:lnTo>
                <a:lnTo>
                  <a:pt x="391" y="0"/>
                </a:lnTo>
                <a:lnTo>
                  <a:pt x="387" y="0"/>
                </a:lnTo>
                <a:lnTo>
                  <a:pt x="387" y="3"/>
                </a:lnTo>
                <a:lnTo>
                  <a:pt x="387" y="6"/>
                </a:lnTo>
                <a:lnTo>
                  <a:pt x="387" y="8"/>
                </a:lnTo>
                <a:lnTo>
                  <a:pt x="387" y="11"/>
                </a:lnTo>
                <a:lnTo>
                  <a:pt x="387" y="14"/>
                </a:lnTo>
                <a:lnTo>
                  <a:pt x="389" y="18"/>
                </a:lnTo>
                <a:lnTo>
                  <a:pt x="389" y="21"/>
                </a:lnTo>
                <a:lnTo>
                  <a:pt x="389" y="24"/>
                </a:lnTo>
                <a:lnTo>
                  <a:pt x="389" y="28"/>
                </a:lnTo>
                <a:lnTo>
                  <a:pt x="389" y="31"/>
                </a:lnTo>
                <a:lnTo>
                  <a:pt x="387" y="34"/>
                </a:lnTo>
                <a:lnTo>
                  <a:pt x="387" y="38"/>
                </a:lnTo>
                <a:lnTo>
                  <a:pt x="387" y="41"/>
                </a:lnTo>
                <a:lnTo>
                  <a:pt x="387" y="44"/>
                </a:lnTo>
                <a:lnTo>
                  <a:pt x="387" y="48"/>
                </a:lnTo>
                <a:lnTo>
                  <a:pt x="387" y="51"/>
                </a:lnTo>
                <a:lnTo>
                  <a:pt x="391" y="51"/>
                </a:lnTo>
                <a:lnTo>
                  <a:pt x="391" y="48"/>
                </a:lnTo>
                <a:lnTo>
                  <a:pt x="391" y="44"/>
                </a:lnTo>
                <a:lnTo>
                  <a:pt x="391" y="41"/>
                </a:lnTo>
                <a:lnTo>
                  <a:pt x="391" y="38"/>
                </a:lnTo>
                <a:lnTo>
                  <a:pt x="391" y="34"/>
                </a:lnTo>
                <a:lnTo>
                  <a:pt x="392" y="31"/>
                </a:lnTo>
                <a:lnTo>
                  <a:pt x="392" y="28"/>
                </a:lnTo>
                <a:lnTo>
                  <a:pt x="39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34" name="Freeform 1539">
            <a:extLst>
              <a:ext uri="{FF2B5EF4-FFF2-40B4-BE49-F238E27FC236}">
                <a16:creationId xmlns:a16="http://schemas.microsoft.com/office/drawing/2014/main" id="{B9A75BB7-883B-A68A-5239-C09EC3665156}"/>
              </a:ext>
            </a:extLst>
          </p:cNvPr>
          <p:cNvSpPr>
            <a:spLocks noEditPoints="1"/>
          </p:cNvSpPr>
          <p:nvPr/>
        </p:nvSpPr>
        <p:spPr bwMode="auto">
          <a:xfrm>
            <a:off x="2249488" y="2719388"/>
            <a:ext cx="619125" cy="80963"/>
          </a:xfrm>
          <a:custGeom>
            <a:avLst/>
            <a:gdLst>
              <a:gd name="T0" fmla="*/ 390 w 390"/>
              <a:gd name="T1" fmla="*/ 21 h 51"/>
              <a:gd name="T2" fmla="*/ 388 w 390"/>
              <a:gd name="T3" fmla="*/ 14 h 51"/>
              <a:gd name="T4" fmla="*/ 388 w 390"/>
              <a:gd name="T5" fmla="*/ 8 h 51"/>
              <a:gd name="T6" fmla="*/ 388 w 390"/>
              <a:gd name="T7" fmla="*/ 3 h 51"/>
              <a:gd name="T8" fmla="*/ 385 w 390"/>
              <a:gd name="T9" fmla="*/ 0 h 51"/>
              <a:gd name="T10" fmla="*/ 385 w 390"/>
              <a:gd name="T11" fmla="*/ 6 h 51"/>
              <a:gd name="T12" fmla="*/ 385 w 390"/>
              <a:gd name="T13" fmla="*/ 11 h 51"/>
              <a:gd name="T14" fmla="*/ 386 w 390"/>
              <a:gd name="T15" fmla="*/ 18 h 51"/>
              <a:gd name="T16" fmla="*/ 386 w 390"/>
              <a:gd name="T17" fmla="*/ 24 h 51"/>
              <a:gd name="T18" fmla="*/ 386 w 390"/>
              <a:gd name="T19" fmla="*/ 31 h 51"/>
              <a:gd name="T20" fmla="*/ 385 w 390"/>
              <a:gd name="T21" fmla="*/ 38 h 51"/>
              <a:gd name="T22" fmla="*/ 385 w 390"/>
              <a:gd name="T23" fmla="*/ 44 h 51"/>
              <a:gd name="T24" fmla="*/ 385 w 390"/>
              <a:gd name="T25" fmla="*/ 51 h 51"/>
              <a:gd name="T26" fmla="*/ 388 w 390"/>
              <a:gd name="T27" fmla="*/ 48 h 51"/>
              <a:gd name="T28" fmla="*/ 388 w 390"/>
              <a:gd name="T29" fmla="*/ 41 h 51"/>
              <a:gd name="T30" fmla="*/ 388 w 390"/>
              <a:gd name="T31" fmla="*/ 34 h 51"/>
              <a:gd name="T32" fmla="*/ 390 w 390"/>
              <a:gd name="T33" fmla="*/ 28 h 51"/>
              <a:gd name="T34" fmla="*/ 2 w 390"/>
              <a:gd name="T35" fmla="*/ 0 h 51"/>
              <a:gd name="T36" fmla="*/ 0 w 390"/>
              <a:gd name="T37" fmla="*/ 6 h 51"/>
              <a:gd name="T38" fmla="*/ 0 w 390"/>
              <a:gd name="T39" fmla="*/ 11 h 51"/>
              <a:gd name="T40" fmla="*/ 0 w 390"/>
              <a:gd name="T41" fmla="*/ 18 h 51"/>
              <a:gd name="T42" fmla="*/ 0 w 390"/>
              <a:gd name="T43" fmla="*/ 24 h 51"/>
              <a:gd name="T44" fmla="*/ 0 w 390"/>
              <a:gd name="T45" fmla="*/ 31 h 51"/>
              <a:gd name="T46" fmla="*/ 0 w 390"/>
              <a:gd name="T47" fmla="*/ 38 h 51"/>
              <a:gd name="T48" fmla="*/ 0 w 390"/>
              <a:gd name="T49" fmla="*/ 44 h 51"/>
              <a:gd name="T50" fmla="*/ 2 w 390"/>
              <a:gd name="T51" fmla="*/ 51 h 51"/>
              <a:gd name="T52" fmla="*/ 4 w 390"/>
              <a:gd name="T53" fmla="*/ 48 h 51"/>
              <a:gd name="T54" fmla="*/ 4 w 390"/>
              <a:gd name="T55" fmla="*/ 41 h 51"/>
              <a:gd name="T56" fmla="*/ 4 w 390"/>
              <a:gd name="T57" fmla="*/ 34 h 51"/>
              <a:gd name="T58" fmla="*/ 4 w 390"/>
              <a:gd name="T59" fmla="*/ 28 h 51"/>
              <a:gd name="T60" fmla="*/ 4 w 390"/>
              <a:gd name="T61" fmla="*/ 21 h 51"/>
              <a:gd name="T62" fmla="*/ 4 w 390"/>
              <a:gd name="T63" fmla="*/ 14 h 51"/>
              <a:gd name="T64" fmla="*/ 4 w 390"/>
              <a:gd name="T65" fmla="*/ 8 h 51"/>
              <a:gd name="T66" fmla="*/ 4 w 390"/>
              <a:gd name="T67" fmla="*/ 3 h 51"/>
              <a:gd name="T68" fmla="*/ 2 w 39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0" h="51">
                <a:moveTo>
                  <a:pt x="390" y="24"/>
                </a:moveTo>
                <a:lnTo>
                  <a:pt x="390" y="21"/>
                </a:lnTo>
                <a:lnTo>
                  <a:pt x="390" y="18"/>
                </a:lnTo>
                <a:lnTo>
                  <a:pt x="388" y="14"/>
                </a:lnTo>
                <a:lnTo>
                  <a:pt x="388" y="11"/>
                </a:lnTo>
                <a:lnTo>
                  <a:pt x="388" y="8"/>
                </a:lnTo>
                <a:lnTo>
                  <a:pt x="388" y="6"/>
                </a:lnTo>
                <a:lnTo>
                  <a:pt x="388" y="3"/>
                </a:lnTo>
                <a:lnTo>
                  <a:pt x="388" y="0"/>
                </a:lnTo>
                <a:lnTo>
                  <a:pt x="385" y="0"/>
                </a:lnTo>
                <a:lnTo>
                  <a:pt x="385" y="3"/>
                </a:lnTo>
                <a:lnTo>
                  <a:pt x="385" y="6"/>
                </a:lnTo>
                <a:lnTo>
                  <a:pt x="385" y="8"/>
                </a:lnTo>
                <a:lnTo>
                  <a:pt x="385" y="11"/>
                </a:lnTo>
                <a:lnTo>
                  <a:pt x="385" y="14"/>
                </a:lnTo>
                <a:lnTo>
                  <a:pt x="386" y="18"/>
                </a:lnTo>
                <a:lnTo>
                  <a:pt x="386" y="21"/>
                </a:lnTo>
                <a:lnTo>
                  <a:pt x="386" y="24"/>
                </a:lnTo>
                <a:lnTo>
                  <a:pt x="386" y="28"/>
                </a:lnTo>
                <a:lnTo>
                  <a:pt x="386" y="31"/>
                </a:lnTo>
                <a:lnTo>
                  <a:pt x="385" y="34"/>
                </a:lnTo>
                <a:lnTo>
                  <a:pt x="385" y="38"/>
                </a:lnTo>
                <a:lnTo>
                  <a:pt x="385" y="41"/>
                </a:lnTo>
                <a:lnTo>
                  <a:pt x="385" y="44"/>
                </a:lnTo>
                <a:lnTo>
                  <a:pt x="385" y="48"/>
                </a:lnTo>
                <a:lnTo>
                  <a:pt x="385" y="51"/>
                </a:lnTo>
                <a:lnTo>
                  <a:pt x="388" y="51"/>
                </a:lnTo>
                <a:lnTo>
                  <a:pt x="388" y="48"/>
                </a:lnTo>
                <a:lnTo>
                  <a:pt x="388" y="44"/>
                </a:lnTo>
                <a:lnTo>
                  <a:pt x="388" y="41"/>
                </a:lnTo>
                <a:lnTo>
                  <a:pt x="388" y="38"/>
                </a:lnTo>
                <a:lnTo>
                  <a:pt x="388" y="34"/>
                </a:lnTo>
                <a:lnTo>
                  <a:pt x="390" y="31"/>
                </a:lnTo>
                <a:lnTo>
                  <a:pt x="390" y="28"/>
                </a:lnTo>
                <a:lnTo>
                  <a:pt x="39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35" name="Freeform 1540">
            <a:extLst>
              <a:ext uri="{FF2B5EF4-FFF2-40B4-BE49-F238E27FC236}">
                <a16:creationId xmlns:a16="http://schemas.microsoft.com/office/drawing/2014/main" id="{CD2F49CB-726E-6367-A5AA-AD41749409E7}"/>
              </a:ext>
            </a:extLst>
          </p:cNvPr>
          <p:cNvSpPr>
            <a:spLocks noEditPoints="1"/>
          </p:cNvSpPr>
          <p:nvPr/>
        </p:nvSpPr>
        <p:spPr bwMode="auto">
          <a:xfrm>
            <a:off x="2252663" y="2719388"/>
            <a:ext cx="612775" cy="80963"/>
          </a:xfrm>
          <a:custGeom>
            <a:avLst/>
            <a:gdLst>
              <a:gd name="T0" fmla="*/ 386 w 386"/>
              <a:gd name="T1" fmla="*/ 21 h 51"/>
              <a:gd name="T2" fmla="*/ 384 w 386"/>
              <a:gd name="T3" fmla="*/ 14 h 51"/>
              <a:gd name="T4" fmla="*/ 384 w 386"/>
              <a:gd name="T5" fmla="*/ 8 h 51"/>
              <a:gd name="T6" fmla="*/ 384 w 386"/>
              <a:gd name="T7" fmla="*/ 3 h 51"/>
              <a:gd name="T8" fmla="*/ 381 w 386"/>
              <a:gd name="T9" fmla="*/ 0 h 51"/>
              <a:gd name="T10" fmla="*/ 381 w 386"/>
              <a:gd name="T11" fmla="*/ 6 h 51"/>
              <a:gd name="T12" fmla="*/ 381 w 386"/>
              <a:gd name="T13" fmla="*/ 11 h 51"/>
              <a:gd name="T14" fmla="*/ 383 w 386"/>
              <a:gd name="T15" fmla="*/ 18 h 51"/>
              <a:gd name="T16" fmla="*/ 383 w 386"/>
              <a:gd name="T17" fmla="*/ 24 h 51"/>
              <a:gd name="T18" fmla="*/ 383 w 386"/>
              <a:gd name="T19" fmla="*/ 31 h 51"/>
              <a:gd name="T20" fmla="*/ 381 w 386"/>
              <a:gd name="T21" fmla="*/ 38 h 51"/>
              <a:gd name="T22" fmla="*/ 381 w 386"/>
              <a:gd name="T23" fmla="*/ 44 h 51"/>
              <a:gd name="T24" fmla="*/ 381 w 386"/>
              <a:gd name="T25" fmla="*/ 51 h 51"/>
              <a:gd name="T26" fmla="*/ 384 w 386"/>
              <a:gd name="T27" fmla="*/ 48 h 51"/>
              <a:gd name="T28" fmla="*/ 384 w 386"/>
              <a:gd name="T29" fmla="*/ 41 h 51"/>
              <a:gd name="T30" fmla="*/ 384 w 386"/>
              <a:gd name="T31" fmla="*/ 34 h 51"/>
              <a:gd name="T32" fmla="*/ 386 w 386"/>
              <a:gd name="T33" fmla="*/ 28 h 51"/>
              <a:gd name="T34" fmla="*/ 2 w 386"/>
              <a:gd name="T35" fmla="*/ 0 h 51"/>
              <a:gd name="T36" fmla="*/ 0 w 386"/>
              <a:gd name="T37" fmla="*/ 6 h 51"/>
              <a:gd name="T38" fmla="*/ 0 w 386"/>
              <a:gd name="T39" fmla="*/ 11 h 51"/>
              <a:gd name="T40" fmla="*/ 0 w 386"/>
              <a:gd name="T41" fmla="*/ 18 h 51"/>
              <a:gd name="T42" fmla="*/ 0 w 386"/>
              <a:gd name="T43" fmla="*/ 24 h 51"/>
              <a:gd name="T44" fmla="*/ 0 w 386"/>
              <a:gd name="T45" fmla="*/ 31 h 51"/>
              <a:gd name="T46" fmla="*/ 0 w 386"/>
              <a:gd name="T47" fmla="*/ 38 h 51"/>
              <a:gd name="T48" fmla="*/ 0 w 386"/>
              <a:gd name="T49" fmla="*/ 44 h 51"/>
              <a:gd name="T50" fmla="*/ 2 w 386"/>
              <a:gd name="T51" fmla="*/ 51 h 51"/>
              <a:gd name="T52" fmla="*/ 3 w 386"/>
              <a:gd name="T53" fmla="*/ 48 h 51"/>
              <a:gd name="T54" fmla="*/ 3 w 386"/>
              <a:gd name="T55" fmla="*/ 41 h 51"/>
              <a:gd name="T56" fmla="*/ 3 w 386"/>
              <a:gd name="T57" fmla="*/ 34 h 51"/>
              <a:gd name="T58" fmla="*/ 3 w 386"/>
              <a:gd name="T59" fmla="*/ 28 h 51"/>
              <a:gd name="T60" fmla="*/ 3 w 386"/>
              <a:gd name="T61" fmla="*/ 21 h 51"/>
              <a:gd name="T62" fmla="*/ 3 w 386"/>
              <a:gd name="T63" fmla="*/ 14 h 51"/>
              <a:gd name="T64" fmla="*/ 3 w 386"/>
              <a:gd name="T65" fmla="*/ 8 h 51"/>
              <a:gd name="T66" fmla="*/ 3 w 386"/>
              <a:gd name="T67" fmla="*/ 3 h 51"/>
              <a:gd name="T68" fmla="*/ 2 w 3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6" h="51">
                <a:moveTo>
                  <a:pt x="386" y="24"/>
                </a:moveTo>
                <a:lnTo>
                  <a:pt x="386" y="21"/>
                </a:lnTo>
                <a:lnTo>
                  <a:pt x="386" y="18"/>
                </a:lnTo>
                <a:lnTo>
                  <a:pt x="384" y="14"/>
                </a:lnTo>
                <a:lnTo>
                  <a:pt x="384" y="11"/>
                </a:lnTo>
                <a:lnTo>
                  <a:pt x="384" y="8"/>
                </a:lnTo>
                <a:lnTo>
                  <a:pt x="384" y="6"/>
                </a:lnTo>
                <a:lnTo>
                  <a:pt x="384" y="3"/>
                </a:lnTo>
                <a:lnTo>
                  <a:pt x="384" y="0"/>
                </a:lnTo>
                <a:lnTo>
                  <a:pt x="381" y="0"/>
                </a:lnTo>
                <a:lnTo>
                  <a:pt x="381" y="3"/>
                </a:lnTo>
                <a:lnTo>
                  <a:pt x="381" y="6"/>
                </a:lnTo>
                <a:lnTo>
                  <a:pt x="381" y="8"/>
                </a:lnTo>
                <a:lnTo>
                  <a:pt x="381" y="11"/>
                </a:lnTo>
                <a:lnTo>
                  <a:pt x="381" y="14"/>
                </a:lnTo>
                <a:lnTo>
                  <a:pt x="383" y="18"/>
                </a:lnTo>
                <a:lnTo>
                  <a:pt x="383" y="21"/>
                </a:lnTo>
                <a:lnTo>
                  <a:pt x="383" y="24"/>
                </a:lnTo>
                <a:lnTo>
                  <a:pt x="383" y="28"/>
                </a:lnTo>
                <a:lnTo>
                  <a:pt x="383" y="31"/>
                </a:lnTo>
                <a:lnTo>
                  <a:pt x="381" y="34"/>
                </a:lnTo>
                <a:lnTo>
                  <a:pt x="381" y="38"/>
                </a:lnTo>
                <a:lnTo>
                  <a:pt x="381" y="41"/>
                </a:lnTo>
                <a:lnTo>
                  <a:pt x="381" y="44"/>
                </a:lnTo>
                <a:lnTo>
                  <a:pt x="381" y="48"/>
                </a:lnTo>
                <a:lnTo>
                  <a:pt x="381" y="51"/>
                </a:lnTo>
                <a:lnTo>
                  <a:pt x="384" y="51"/>
                </a:lnTo>
                <a:lnTo>
                  <a:pt x="384" y="48"/>
                </a:lnTo>
                <a:lnTo>
                  <a:pt x="384" y="44"/>
                </a:lnTo>
                <a:lnTo>
                  <a:pt x="384" y="41"/>
                </a:lnTo>
                <a:lnTo>
                  <a:pt x="384" y="38"/>
                </a:lnTo>
                <a:lnTo>
                  <a:pt x="384" y="34"/>
                </a:lnTo>
                <a:lnTo>
                  <a:pt x="386" y="31"/>
                </a:lnTo>
                <a:lnTo>
                  <a:pt x="386" y="28"/>
                </a:lnTo>
                <a:lnTo>
                  <a:pt x="38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36" name="Freeform 1541">
            <a:extLst>
              <a:ext uri="{FF2B5EF4-FFF2-40B4-BE49-F238E27FC236}">
                <a16:creationId xmlns:a16="http://schemas.microsoft.com/office/drawing/2014/main" id="{0FA7371A-7F0E-D32D-CFCA-DB5E7AF26D1F}"/>
              </a:ext>
            </a:extLst>
          </p:cNvPr>
          <p:cNvSpPr>
            <a:spLocks noEditPoints="1"/>
          </p:cNvSpPr>
          <p:nvPr/>
        </p:nvSpPr>
        <p:spPr bwMode="auto">
          <a:xfrm>
            <a:off x="2255838" y="2719388"/>
            <a:ext cx="606425" cy="80963"/>
          </a:xfrm>
          <a:custGeom>
            <a:avLst/>
            <a:gdLst>
              <a:gd name="T0" fmla="*/ 382 w 382"/>
              <a:gd name="T1" fmla="*/ 21 h 51"/>
              <a:gd name="T2" fmla="*/ 381 w 382"/>
              <a:gd name="T3" fmla="*/ 14 h 51"/>
              <a:gd name="T4" fmla="*/ 381 w 382"/>
              <a:gd name="T5" fmla="*/ 8 h 51"/>
              <a:gd name="T6" fmla="*/ 381 w 382"/>
              <a:gd name="T7" fmla="*/ 3 h 51"/>
              <a:gd name="T8" fmla="*/ 377 w 382"/>
              <a:gd name="T9" fmla="*/ 0 h 51"/>
              <a:gd name="T10" fmla="*/ 377 w 382"/>
              <a:gd name="T11" fmla="*/ 6 h 51"/>
              <a:gd name="T12" fmla="*/ 377 w 382"/>
              <a:gd name="T13" fmla="*/ 11 h 51"/>
              <a:gd name="T14" fmla="*/ 379 w 382"/>
              <a:gd name="T15" fmla="*/ 18 h 51"/>
              <a:gd name="T16" fmla="*/ 379 w 382"/>
              <a:gd name="T17" fmla="*/ 24 h 51"/>
              <a:gd name="T18" fmla="*/ 379 w 382"/>
              <a:gd name="T19" fmla="*/ 31 h 51"/>
              <a:gd name="T20" fmla="*/ 377 w 382"/>
              <a:gd name="T21" fmla="*/ 38 h 51"/>
              <a:gd name="T22" fmla="*/ 377 w 382"/>
              <a:gd name="T23" fmla="*/ 44 h 51"/>
              <a:gd name="T24" fmla="*/ 377 w 382"/>
              <a:gd name="T25" fmla="*/ 51 h 51"/>
              <a:gd name="T26" fmla="*/ 381 w 382"/>
              <a:gd name="T27" fmla="*/ 48 h 51"/>
              <a:gd name="T28" fmla="*/ 381 w 382"/>
              <a:gd name="T29" fmla="*/ 41 h 51"/>
              <a:gd name="T30" fmla="*/ 381 w 382"/>
              <a:gd name="T31" fmla="*/ 34 h 51"/>
              <a:gd name="T32" fmla="*/ 382 w 382"/>
              <a:gd name="T33" fmla="*/ 28 h 51"/>
              <a:gd name="T34" fmla="*/ 1 w 382"/>
              <a:gd name="T35" fmla="*/ 0 h 51"/>
              <a:gd name="T36" fmla="*/ 0 w 382"/>
              <a:gd name="T37" fmla="*/ 6 h 51"/>
              <a:gd name="T38" fmla="*/ 0 w 382"/>
              <a:gd name="T39" fmla="*/ 11 h 51"/>
              <a:gd name="T40" fmla="*/ 0 w 382"/>
              <a:gd name="T41" fmla="*/ 18 h 51"/>
              <a:gd name="T42" fmla="*/ 0 w 382"/>
              <a:gd name="T43" fmla="*/ 24 h 51"/>
              <a:gd name="T44" fmla="*/ 0 w 382"/>
              <a:gd name="T45" fmla="*/ 31 h 51"/>
              <a:gd name="T46" fmla="*/ 0 w 382"/>
              <a:gd name="T47" fmla="*/ 38 h 51"/>
              <a:gd name="T48" fmla="*/ 0 w 382"/>
              <a:gd name="T49" fmla="*/ 44 h 51"/>
              <a:gd name="T50" fmla="*/ 1 w 382"/>
              <a:gd name="T51" fmla="*/ 51 h 51"/>
              <a:gd name="T52" fmla="*/ 3 w 382"/>
              <a:gd name="T53" fmla="*/ 48 h 51"/>
              <a:gd name="T54" fmla="*/ 3 w 382"/>
              <a:gd name="T55" fmla="*/ 41 h 51"/>
              <a:gd name="T56" fmla="*/ 3 w 382"/>
              <a:gd name="T57" fmla="*/ 34 h 51"/>
              <a:gd name="T58" fmla="*/ 3 w 382"/>
              <a:gd name="T59" fmla="*/ 28 h 51"/>
              <a:gd name="T60" fmla="*/ 3 w 382"/>
              <a:gd name="T61" fmla="*/ 21 h 51"/>
              <a:gd name="T62" fmla="*/ 3 w 382"/>
              <a:gd name="T63" fmla="*/ 14 h 51"/>
              <a:gd name="T64" fmla="*/ 3 w 382"/>
              <a:gd name="T65" fmla="*/ 8 h 51"/>
              <a:gd name="T66" fmla="*/ 3 w 382"/>
              <a:gd name="T67" fmla="*/ 3 h 51"/>
              <a:gd name="T68" fmla="*/ 1 w 38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2" h="51">
                <a:moveTo>
                  <a:pt x="382" y="24"/>
                </a:moveTo>
                <a:lnTo>
                  <a:pt x="382" y="21"/>
                </a:lnTo>
                <a:lnTo>
                  <a:pt x="382" y="18"/>
                </a:lnTo>
                <a:lnTo>
                  <a:pt x="381" y="14"/>
                </a:lnTo>
                <a:lnTo>
                  <a:pt x="381" y="11"/>
                </a:lnTo>
                <a:lnTo>
                  <a:pt x="381" y="8"/>
                </a:lnTo>
                <a:lnTo>
                  <a:pt x="381" y="6"/>
                </a:lnTo>
                <a:lnTo>
                  <a:pt x="381" y="3"/>
                </a:lnTo>
                <a:lnTo>
                  <a:pt x="381" y="0"/>
                </a:lnTo>
                <a:lnTo>
                  <a:pt x="377" y="0"/>
                </a:lnTo>
                <a:lnTo>
                  <a:pt x="377" y="3"/>
                </a:lnTo>
                <a:lnTo>
                  <a:pt x="377" y="6"/>
                </a:lnTo>
                <a:lnTo>
                  <a:pt x="377" y="8"/>
                </a:lnTo>
                <a:lnTo>
                  <a:pt x="377" y="11"/>
                </a:lnTo>
                <a:lnTo>
                  <a:pt x="377" y="14"/>
                </a:lnTo>
                <a:lnTo>
                  <a:pt x="379" y="18"/>
                </a:lnTo>
                <a:lnTo>
                  <a:pt x="379" y="21"/>
                </a:lnTo>
                <a:lnTo>
                  <a:pt x="379" y="24"/>
                </a:lnTo>
                <a:lnTo>
                  <a:pt x="379" y="28"/>
                </a:lnTo>
                <a:lnTo>
                  <a:pt x="379" y="31"/>
                </a:lnTo>
                <a:lnTo>
                  <a:pt x="377" y="34"/>
                </a:lnTo>
                <a:lnTo>
                  <a:pt x="377" y="38"/>
                </a:lnTo>
                <a:lnTo>
                  <a:pt x="377" y="41"/>
                </a:lnTo>
                <a:lnTo>
                  <a:pt x="377" y="44"/>
                </a:lnTo>
                <a:lnTo>
                  <a:pt x="377" y="48"/>
                </a:lnTo>
                <a:lnTo>
                  <a:pt x="377" y="51"/>
                </a:lnTo>
                <a:lnTo>
                  <a:pt x="381" y="51"/>
                </a:lnTo>
                <a:lnTo>
                  <a:pt x="381" y="48"/>
                </a:lnTo>
                <a:lnTo>
                  <a:pt x="381" y="44"/>
                </a:lnTo>
                <a:lnTo>
                  <a:pt x="381" y="41"/>
                </a:lnTo>
                <a:lnTo>
                  <a:pt x="381" y="38"/>
                </a:lnTo>
                <a:lnTo>
                  <a:pt x="381" y="34"/>
                </a:lnTo>
                <a:lnTo>
                  <a:pt x="382" y="31"/>
                </a:lnTo>
                <a:lnTo>
                  <a:pt x="382" y="28"/>
                </a:lnTo>
                <a:lnTo>
                  <a:pt x="38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37" name="Freeform 1542">
            <a:extLst>
              <a:ext uri="{FF2B5EF4-FFF2-40B4-BE49-F238E27FC236}">
                <a16:creationId xmlns:a16="http://schemas.microsoft.com/office/drawing/2014/main" id="{02F86B8F-6E9A-DE0A-5B85-4247840D8029}"/>
              </a:ext>
            </a:extLst>
          </p:cNvPr>
          <p:cNvSpPr>
            <a:spLocks noEditPoints="1"/>
          </p:cNvSpPr>
          <p:nvPr/>
        </p:nvSpPr>
        <p:spPr bwMode="auto">
          <a:xfrm>
            <a:off x="2257425" y="2719388"/>
            <a:ext cx="603250" cy="80963"/>
          </a:xfrm>
          <a:custGeom>
            <a:avLst/>
            <a:gdLst>
              <a:gd name="T0" fmla="*/ 380 w 380"/>
              <a:gd name="T1" fmla="*/ 21 h 51"/>
              <a:gd name="T2" fmla="*/ 378 w 380"/>
              <a:gd name="T3" fmla="*/ 14 h 51"/>
              <a:gd name="T4" fmla="*/ 378 w 380"/>
              <a:gd name="T5" fmla="*/ 8 h 51"/>
              <a:gd name="T6" fmla="*/ 378 w 380"/>
              <a:gd name="T7" fmla="*/ 3 h 51"/>
              <a:gd name="T8" fmla="*/ 375 w 380"/>
              <a:gd name="T9" fmla="*/ 0 h 51"/>
              <a:gd name="T10" fmla="*/ 375 w 380"/>
              <a:gd name="T11" fmla="*/ 6 h 51"/>
              <a:gd name="T12" fmla="*/ 375 w 380"/>
              <a:gd name="T13" fmla="*/ 11 h 51"/>
              <a:gd name="T14" fmla="*/ 376 w 380"/>
              <a:gd name="T15" fmla="*/ 18 h 51"/>
              <a:gd name="T16" fmla="*/ 376 w 380"/>
              <a:gd name="T17" fmla="*/ 24 h 51"/>
              <a:gd name="T18" fmla="*/ 376 w 380"/>
              <a:gd name="T19" fmla="*/ 31 h 51"/>
              <a:gd name="T20" fmla="*/ 375 w 380"/>
              <a:gd name="T21" fmla="*/ 38 h 51"/>
              <a:gd name="T22" fmla="*/ 375 w 380"/>
              <a:gd name="T23" fmla="*/ 44 h 51"/>
              <a:gd name="T24" fmla="*/ 375 w 380"/>
              <a:gd name="T25" fmla="*/ 51 h 51"/>
              <a:gd name="T26" fmla="*/ 378 w 380"/>
              <a:gd name="T27" fmla="*/ 48 h 51"/>
              <a:gd name="T28" fmla="*/ 378 w 380"/>
              <a:gd name="T29" fmla="*/ 41 h 51"/>
              <a:gd name="T30" fmla="*/ 378 w 380"/>
              <a:gd name="T31" fmla="*/ 34 h 51"/>
              <a:gd name="T32" fmla="*/ 380 w 380"/>
              <a:gd name="T33" fmla="*/ 28 h 51"/>
              <a:gd name="T34" fmla="*/ 2 w 380"/>
              <a:gd name="T35" fmla="*/ 0 h 51"/>
              <a:gd name="T36" fmla="*/ 0 w 380"/>
              <a:gd name="T37" fmla="*/ 6 h 51"/>
              <a:gd name="T38" fmla="*/ 0 w 380"/>
              <a:gd name="T39" fmla="*/ 11 h 51"/>
              <a:gd name="T40" fmla="*/ 0 w 380"/>
              <a:gd name="T41" fmla="*/ 18 h 51"/>
              <a:gd name="T42" fmla="*/ 0 w 380"/>
              <a:gd name="T43" fmla="*/ 24 h 51"/>
              <a:gd name="T44" fmla="*/ 0 w 380"/>
              <a:gd name="T45" fmla="*/ 31 h 51"/>
              <a:gd name="T46" fmla="*/ 0 w 380"/>
              <a:gd name="T47" fmla="*/ 38 h 51"/>
              <a:gd name="T48" fmla="*/ 0 w 380"/>
              <a:gd name="T49" fmla="*/ 44 h 51"/>
              <a:gd name="T50" fmla="*/ 2 w 380"/>
              <a:gd name="T51" fmla="*/ 51 h 51"/>
              <a:gd name="T52" fmla="*/ 4 w 380"/>
              <a:gd name="T53" fmla="*/ 48 h 51"/>
              <a:gd name="T54" fmla="*/ 4 w 380"/>
              <a:gd name="T55" fmla="*/ 41 h 51"/>
              <a:gd name="T56" fmla="*/ 4 w 380"/>
              <a:gd name="T57" fmla="*/ 34 h 51"/>
              <a:gd name="T58" fmla="*/ 4 w 380"/>
              <a:gd name="T59" fmla="*/ 28 h 51"/>
              <a:gd name="T60" fmla="*/ 4 w 380"/>
              <a:gd name="T61" fmla="*/ 21 h 51"/>
              <a:gd name="T62" fmla="*/ 4 w 380"/>
              <a:gd name="T63" fmla="*/ 14 h 51"/>
              <a:gd name="T64" fmla="*/ 4 w 380"/>
              <a:gd name="T65" fmla="*/ 8 h 51"/>
              <a:gd name="T66" fmla="*/ 4 w 380"/>
              <a:gd name="T67" fmla="*/ 3 h 51"/>
              <a:gd name="T68" fmla="*/ 2 w 38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0" h="51">
                <a:moveTo>
                  <a:pt x="380" y="24"/>
                </a:moveTo>
                <a:lnTo>
                  <a:pt x="380" y="21"/>
                </a:lnTo>
                <a:lnTo>
                  <a:pt x="380" y="18"/>
                </a:lnTo>
                <a:lnTo>
                  <a:pt x="378" y="14"/>
                </a:lnTo>
                <a:lnTo>
                  <a:pt x="378" y="11"/>
                </a:lnTo>
                <a:lnTo>
                  <a:pt x="378" y="8"/>
                </a:lnTo>
                <a:lnTo>
                  <a:pt x="378" y="6"/>
                </a:lnTo>
                <a:lnTo>
                  <a:pt x="378" y="3"/>
                </a:lnTo>
                <a:lnTo>
                  <a:pt x="378" y="0"/>
                </a:lnTo>
                <a:lnTo>
                  <a:pt x="375" y="0"/>
                </a:lnTo>
                <a:lnTo>
                  <a:pt x="375" y="3"/>
                </a:lnTo>
                <a:lnTo>
                  <a:pt x="375" y="6"/>
                </a:lnTo>
                <a:lnTo>
                  <a:pt x="375" y="8"/>
                </a:lnTo>
                <a:lnTo>
                  <a:pt x="375" y="11"/>
                </a:lnTo>
                <a:lnTo>
                  <a:pt x="375" y="14"/>
                </a:lnTo>
                <a:lnTo>
                  <a:pt x="376" y="18"/>
                </a:lnTo>
                <a:lnTo>
                  <a:pt x="376" y="21"/>
                </a:lnTo>
                <a:lnTo>
                  <a:pt x="376" y="24"/>
                </a:lnTo>
                <a:lnTo>
                  <a:pt x="376" y="28"/>
                </a:lnTo>
                <a:lnTo>
                  <a:pt x="376" y="31"/>
                </a:lnTo>
                <a:lnTo>
                  <a:pt x="375" y="34"/>
                </a:lnTo>
                <a:lnTo>
                  <a:pt x="375" y="38"/>
                </a:lnTo>
                <a:lnTo>
                  <a:pt x="375" y="41"/>
                </a:lnTo>
                <a:lnTo>
                  <a:pt x="375" y="44"/>
                </a:lnTo>
                <a:lnTo>
                  <a:pt x="375" y="48"/>
                </a:lnTo>
                <a:lnTo>
                  <a:pt x="375" y="51"/>
                </a:lnTo>
                <a:lnTo>
                  <a:pt x="378" y="51"/>
                </a:lnTo>
                <a:lnTo>
                  <a:pt x="378" y="48"/>
                </a:lnTo>
                <a:lnTo>
                  <a:pt x="378" y="44"/>
                </a:lnTo>
                <a:lnTo>
                  <a:pt x="378" y="41"/>
                </a:lnTo>
                <a:lnTo>
                  <a:pt x="378" y="38"/>
                </a:lnTo>
                <a:lnTo>
                  <a:pt x="378" y="34"/>
                </a:lnTo>
                <a:lnTo>
                  <a:pt x="380" y="31"/>
                </a:lnTo>
                <a:lnTo>
                  <a:pt x="380" y="28"/>
                </a:lnTo>
                <a:lnTo>
                  <a:pt x="38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38" name="Freeform 1543">
            <a:extLst>
              <a:ext uri="{FF2B5EF4-FFF2-40B4-BE49-F238E27FC236}">
                <a16:creationId xmlns:a16="http://schemas.microsoft.com/office/drawing/2014/main" id="{842108CE-8ACF-3BCA-6B4A-173FA06BCDC0}"/>
              </a:ext>
            </a:extLst>
          </p:cNvPr>
          <p:cNvSpPr>
            <a:spLocks noEditPoints="1"/>
          </p:cNvSpPr>
          <p:nvPr/>
        </p:nvSpPr>
        <p:spPr bwMode="auto">
          <a:xfrm>
            <a:off x="2260600" y="2719388"/>
            <a:ext cx="596900" cy="80963"/>
          </a:xfrm>
          <a:custGeom>
            <a:avLst/>
            <a:gdLst>
              <a:gd name="T0" fmla="*/ 376 w 376"/>
              <a:gd name="T1" fmla="*/ 21 h 51"/>
              <a:gd name="T2" fmla="*/ 374 w 376"/>
              <a:gd name="T3" fmla="*/ 14 h 51"/>
              <a:gd name="T4" fmla="*/ 374 w 376"/>
              <a:gd name="T5" fmla="*/ 8 h 51"/>
              <a:gd name="T6" fmla="*/ 374 w 376"/>
              <a:gd name="T7" fmla="*/ 3 h 51"/>
              <a:gd name="T8" fmla="*/ 371 w 376"/>
              <a:gd name="T9" fmla="*/ 0 h 51"/>
              <a:gd name="T10" fmla="*/ 371 w 376"/>
              <a:gd name="T11" fmla="*/ 6 h 51"/>
              <a:gd name="T12" fmla="*/ 371 w 376"/>
              <a:gd name="T13" fmla="*/ 11 h 51"/>
              <a:gd name="T14" fmla="*/ 373 w 376"/>
              <a:gd name="T15" fmla="*/ 18 h 51"/>
              <a:gd name="T16" fmla="*/ 373 w 376"/>
              <a:gd name="T17" fmla="*/ 24 h 51"/>
              <a:gd name="T18" fmla="*/ 373 w 376"/>
              <a:gd name="T19" fmla="*/ 31 h 51"/>
              <a:gd name="T20" fmla="*/ 371 w 376"/>
              <a:gd name="T21" fmla="*/ 38 h 51"/>
              <a:gd name="T22" fmla="*/ 371 w 376"/>
              <a:gd name="T23" fmla="*/ 44 h 51"/>
              <a:gd name="T24" fmla="*/ 371 w 376"/>
              <a:gd name="T25" fmla="*/ 51 h 51"/>
              <a:gd name="T26" fmla="*/ 374 w 376"/>
              <a:gd name="T27" fmla="*/ 48 h 51"/>
              <a:gd name="T28" fmla="*/ 374 w 376"/>
              <a:gd name="T29" fmla="*/ 41 h 51"/>
              <a:gd name="T30" fmla="*/ 374 w 376"/>
              <a:gd name="T31" fmla="*/ 34 h 51"/>
              <a:gd name="T32" fmla="*/ 376 w 376"/>
              <a:gd name="T33" fmla="*/ 28 h 51"/>
              <a:gd name="T34" fmla="*/ 2 w 376"/>
              <a:gd name="T35" fmla="*/ 0 h 51"/>
              <a:gd name="T36" fmla="*/ 0 w 376"/>
              <a:gd name="T37" fmla="*/ 6 h 51"/>
              <a:gd name="T38" fmla="*/ 0 w 376"/>
              <a:gd name="T39" fmla="*/ 11 h 51"/>
              <a:gd name="T40" fmla="*/ 0 w 376"/>
              <a:gd name="T41" fmla="*/ 18 h 51"/>
              <a:gd name="T42" fmla="*/ 0 w 376"/>
              <a:gd name="T43" fmla="*/ 24 h 51"/>
              <a:gd name="T44" fmla="*/ 0 w 376"/>
              <a:gd name="T45" fmla="*/ 31 h 51"/>
              <a:gd name="T46" fmla="*/ 0 w 376"/>
              <a:gd name="T47" fmla="*/ 38 h 51"/>
              <a:gd name="T48" fmla="*/ 0 w 376"/>
              <a:gd name="T49" fmla="*/ 44 h 51"/>
              <a:gd name="T50" fmla="*/ 2 w 376"/>
              <a:gd name="T51" fmla="*/ 51 h 51"/>
              <a:gd name="T52" fmla="*/ 3 w 376"/>
              <a:gd name="T53" fmla="*/ 48 h 51"/>
              <a:gd name="T54" fmla="*/ 3 w 376"/>
              <a:gd name="T55" fmla="*/ 41 h 51"/>
              <a:gd name="T56" fmla="*/ 3 w 376"/>
              <a:gd name="T57" fmla="*/ 34 h 51"/>
              <a:gd name="T58" fmla="*/ 3 w 376"/>
              <a:gd name="T59" fmla="*/ 28 h 51"/>
              <a:gd name="T60" fmla="*/ 3 w 376"/>
              <a:gd name="T61" fmla="*/ 21 h 51"/>
              <a:gd name="T62" fmla="*/ 3 w 376"/>
              <a:gd name="T63" fmla="*/ 14 h 51"/>
              <a:gd name="T64" fmla="*/ 3 w 376"/>
              <a:gd name="T65" fmla="*/ 8 h 51"/>
              <a:gd name="T66" fmla="*/ 3 w 376"/>
              <a:gd name="T67" fmla="*/ 3 h 51"/>
              <a:gd name="T68" fmla="*/ 2 w 3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6" h="51">
                <a:moveTo>
                  <a:pt x="376" y="24"/>
                </a:moveTo>
                <a:lnTo>
                  <a:pt x="376" y="21"/>
                </a:lnTo>
                <a:lnTo>
                  <a:pt x="376" y="18"/>
                </a:lnTo>
                <a:lnTo>
                  <a:pt x="374" y="14"/>
                </a:lnTo>
                <a:lnTo>
                  <a:pt x="374" y="11"/>
                </a:lnTo>
                <a:lnTo>
                  <a:pt x="374" y="8"/>
                </a:lnTo>
                <a:lnTo>
                  <a:pt x="374" y="6"/>
                </a:lnTo>
                <a:lnTo>
                  <a:pt x="374" y="3"/>
                </a:lnTo>
                <a:lnTo>
                  <a:pt x="374" y="0"/>
                </a:lnTo>
                <a:lnTo>
                  <a:pt x="371" y="0"/>
                </a:lnTo>
                <a:lnTo>
                  <a:pt x="371" y="3"/>
                </a:lnTo>
                <a:lnTo>
                  <a:pt x="371" y="6"/>
                </a:lnTo>
                <a:lnTo>
                  <a:pt x="371" y="8"/>
                </a:lnTo>
                <a:lnTo>
                  <a:pt x="371" y="11"/>
                </a:lnTo>
                <a:lnTo>
                  <a:pt x="371" y="14"/>
                </a:lnTo>
                <a:lnTo>
                  <a:pt x="373" y="18"/>
                </a:lnTo>
                <a:lnTo>
                  <a:pt x="373" y="21"/>
                </a:lnTo>
                <a:lnTo>
                  <a:pt x="373" y="24"/>
                </a:lnTo>
                <a:lnTo>
                  <a:pt x="373" y="28"/>
                </a:lnTo>
                <a:lnTo>
                  <a:pt x="373" y="31"/>
                </a:lnTo>
                <a:lnTo>
                  <a:pt x="371" y="34"/>
                </a:lnTo>
                <a:lnTo>
                  <a:pt x="371" y="38"/>
                </a:lnTo>
                <a:lnTo>
                  <a:pt x="371" y="41"/>
                </a:lnTo>
                <a:lnTo>
                  <a:pt x="371" y="44"/>
                </a:lnTo>
                <a:lnTo>
                  <a:pt x="371" y="48"/>
                </a:lnTo>
                <a:lnTo>
                  <a:pt x="371" y="51"/>
                </a:lnTo>
                <a:lnTo>
                  <a:pt x="374" y="51"/>
                </a:lnTo>
                <a:lnTo>
                  <a:pt x="374" y="48"/>
                </a:lnTo>
                <a:lnTo>
                  <a:pt x="374" y="44"/>
                </a:lnTo>
                <a:lnTo>
                  <a:pt x="374" y="41"/>
                </a:lnTo>
                <a:lnTo>
                  <a:pt x="374" y="38"/>
                </a:lnTo>
                <a:lnTo>
                  <a:pt x="374" y="34"/>
                </a:lnTo>
                <a:lnTo>
                  <a:pt x="376" y="31"/>
                </a:lnTo>
                <a:lnTo>
                  <a:pt x="376" y="28"/>
                </a:lnTo>
                <a:lnTo>
                  <a:pt x="37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39" name="Freeform 1544">
            <a:extLst>
              <a:ext uri="{FF2B5EF4-FFF2-40B4-BE49-F238E27FC236}">
                <a16:creationId xmlns:a16="http://schemas.microsoft.com/office/drawing/2014/main" id="{EBF7B8AB-EA1C-E151-487F-86747024D955}"/>
              </a:ext>
            </a:extLst>
          </p:cNvPr>
          <p:cNvSpPr>
            <a:spLocks noEditPoints="1"/>
          </p:cNvSpPr>
          <p:nvPr/>
        </p:nvSpPr>
        <p:spPr bwMode="auto">
          <a:xfrm>
            <a:off x="2263775" y="2719388"/>
            <a:ext cx="590550" cy="80963"/>
          </a:xfrm>
          <a:custGeom>
            <a:avLst/>
            <a:gdLst>
              <a:gd name="T0" fmla="*/ 372 w 372"/>
              <a:gd name="T1" fmla="*/ 21 h 51"/>
              <a:gd name="T2" fmla="*/ 371 w 372"/>
              <a:gd name="T3" fmla="*/ 14 h 51"/>
              <a:gd name="T4" fmla="*/ 371 w 372"/>
              <a:gd name="T5" fmla="*/ 8 h 51"/>
              <a:gd name="T6" fmla="*/ 371 w 372"/>
              <a:gd name="T7" fmla="*/ 3 h 51"/>
              <a:gd name="T8" fmla="*/ 367 w 372"/>
              <a:gd name="T9" fmla="*/ 0 h 51"/>
              <a:gd name="T10" fmla="*/ 367 w 372"/>
              <a:gd name="T11" fmla="*/ 6 h 51"/>
              <a:gd name="T12" fmla="*/ 367 w 372"/>
              <a:gd name="T13" fmla="*/ 11 h 51"/>
              <a:gd name="T14" fmla="*/ 369 w 372"/>
              <a:gd name="T15" fmla="*/ 18 h 51"/>
              <a:gd name="T16" fmla="*/ 369 w 372"/>
              <a:gd name="T17" fmla="*/ 24 h 51"/>
              <a:gd name="T18" fmla="*/ 369 w 372"/>
              <a:gd name="T19" fmla="*/ 31 h 51"/>
              <a:gd name="T20" fmla="*/ 367 w 372"/>
              <a:gd name="T21" fmla="*/ 38 h 51"/>
              <a:gd name="T22" fmla="*/ 367 w 372"/>
              <a:gd name="T23" fmla="*/ 44 h 51"/>
              <a:gd name="T24" fmla="*/ 367 w 372"/>
              <a:gd name="T25" fmla="*/ 51 h 51"/>
              <a:gd name="T26" fmla="*/ 371 w 372"/>
              <a:gd name="T27" fmla="*/ 48 h 51"/>
              <a:gd name="T28" fmla="*/ 371 w 372"/>
              <a:gd name="T29" fmla="*/ 41 h 51"/>
              <a:gd name="T30" fmla="*/ 371 w 372"/>
              <a:gd name="T31" fmla="*/ 34 h 51"/>
              <a:gd name="T32" fmla="*/ 372 w 372"/>
              <a:gd name="T33" fmla="*/ 28 h 51"/>
              <a:gd name="T34" fmla="*/ 1 w 372"/>
              <a:gd name="T35" fmla="*/ 0 h 51"/>
              <a:gd name="T36" fmla="*/ 0 w 372"/>
              <a:gd name="T37" fmla="*/ 6 h 51"/>
              <a:gd name="T38" fmla="*/ 0 w 372"/>
              <a:gd name="T39" fmla="*/ 11 h 51"/>
              <a:gd name="T40" fmla="*/ 0 w 372"/>
              <a:gd name="T41" fmla="*/ 18 h 51"/>
              <a:gd name="T42" fmla="*/ 0 w 372"/>
              <a:gd name="T43" fmla="*/ 24 h 51"/>
              <a:gd name="T44" fmla="*/ 0 w 372"/>
              <a:gd name="T45" fmla="*/ 31 h 51"/>
              <a:gd name="T46" fmla="*/ 0 w 372"/>
              <a:gd name="T47" fmla="*/ 38 h 51"/>
              <a:gd name="T48" fmla="*/ 0 w 372"/>
              <a:gd name="T49" fmla="*/ 44 h 51"/>
              <a:gd name="T50" fmla="*/ 1 w 372"/>
              <a:gd name="T51" fmla="*/ 51 h 51"/>
              <a:gd name="T52" fmla="*/ 3 w 372"/>
              <a:gd name="T53" fmla="*/ 48 h 51"/>
              <a:gd name="T54" fmla="*/ 3 w 372"/>
              <a:gd name="T55" fmla="*/ 41 h 51"/>
              <a:gd name="T56" fmla="*/ 3 w 372"/>
              <a:gd name="T57" fmla="*/ 34 h 51"/>
              <a:gd name="T58" fmla="*/ 3 w 372"/>
              <a:gd name="T59" fmla="*/ 28 h 51"/>
              <a:gd name="T60" fmla="*/ 3 w 372"/>
              <a:gd name="T61" fmla="*/ 21 h 51"/>
              <a:gd name="T62" fmla="*/ 3 w 372"/>
              <a:gd name="T63" fmla="*/ 14 h 51"/>
              <a:gd name="T64" fmla="*/ 3 w 372"/>
              <a:gd name="T65" fmla="*/ 8 h 51"/>
              <a:gd name="T66" fmla="*/ 3 w 372"/>
              <a:gd name="T67" fmla="*/ 3 h 51"/>
              <a:gd name="T68" fmla="*/ 1 w 3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2" h="51">
                <a:moveTo>
                  <a:pt x="372" y="24"/>
                </a:moveTo>
                <a:lnTo>
                  <a:pt x="372" y="21"/>
                </a:lnTo>
                <a:lnTo>
                  <a:pt x="372" y="18"/>
                </a:lnTo>
                <a:lnTo>
                  <a:pt x="371" y="14"/>
                </a:lnTo>
                <a:lnTo>
                  <a:pt x="371" y="11"/>
                </a:lnTo>
                <a:lnTo>
                  <a:pt x="371" y="8"/>
                </a:lnTo>
                <a:lnTo>
                  <a:pt x="371" y="6"/>
                </a:lnTo>
                <a:lnTo>
                  <a:pt x="371" y="3"/>
                </a:lnTo>
                <a:lnTo>
                  <a:pt x="371" y="0"/>
                </a:lnTo>
                <a:lnTo>
                  <a:pt x="367" y="0"/>
                </a:lnTo>
                <a:lnTo>
                  <a:pt x="367" y="3"/>
                </a:lnTo>
                <a:lnTo>
                  <a:pt x="367" y="6"/>
                </a:lnTo>
                <a:lnTo>
                  <a:pt x="367" y="8"/>
                </a:lnTo>
                <a:lnTo>
                  <a:pt x="367" y="11"/>
                </a:lnTo>
                <a:lnTo>
                  <a:pt x="367" y="14"/>
                </a:lnTo>
                <a:lnTo>
                  <a:pt x="369" y="18"/>
                </a:lnTo>
                <a:lnTo>
                  <a:pt x="369" y="21"/>
                </a:lnTo>
                <a:lnTo>
                  <a:pt x="369" y="24"/>
                </a:lnTo>
                <a:lnTo>
                  <a:pt x="369" y="28"/>
                </a:lnTo>
                <a:lnTo>
                  <a:pt x="369" y="31"/>
                </a:lnTo>
                <a:lnTo>
                  <a:pt x="367" y="34"/>
                </a:lnTo>
                <a:lnTo>
                  <a:pt x="367" y="38"/>
                </a:lnTo>
                <a:lnTo>
                  <a:pt x="367" y="41"/>
                </a:lnTo>
                <a:lnTo>
                  <a:pt x="367" y="44"/>
                </a:lnTo>
                <a:lnTo>
                  <a:pt x="367" y="48"/>
                </a:lnTo>
                <a:lnTo>
                  <a:pt x="367" y="51"/>
                </a:lnTo>
                <a:lnTo>
                  <a:pt x="371" y="51"/>
                </a:lnTo>
                <a:lnTo>
                  <a:pt x="371" y="48"/>
                </a:lnTo>
                <a:lnTo>
                  <a:pt x="371" y="44"/>
                </a:lnTo>
                <a:lnTo>
                  <a:pt x="371" y="41"/>
                </a:lnTo>
                <a:lnTo>
                  <a:pt x="371" y="38"/>
                </a:lnTo>
                <a:lnTo>
                  <a:pt x="371" y="34"/>
                </a:lnTo>
                <a:lnTo>
                  <a:pt x="372" y="31"/>
                </a:lnTo>
                <a:lnTo>
                  <a:pt x="372" y="28"/>
                </a:lnTo>
                <a:lnTo>
                  <a:pt x="37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40" name="Freeform 1545">
            <a:extLst>
              <a:ext uri="{FF2B5EF4-FFF2-40B4-BE49-F238E27FC236}">
                <a16:creationId xmlns:a16="http://schemas.microsoft.com/office/drawing/2014/main" id="{FB0C7701-4E0C-89E6-0E0D-0F0F9E2E9712}"/>
              </a:ext>
            </a:extLst>
          </p:cNvPr>
          <p:cNvSpPr>
            <a:spLocks noEditPoints="1"/>
          </p:cNvSpPr>
          <p:nvPr/>
        </p:nvSpPr>
        <p:spPr bwMode="auto">
          <a:xfrm>
            <a:off x="2265363" y="2719388"/>
            <a:ext cx="587375" cy="80963"/>
          </a:xfrm>
          <a:custGeom>
            <a:avLst/>
            <a:gdLst>
              <a:gd name="T0" fmla="*/ 370 w 370"/>
              <a:gd name="T1" fmla="*/ 21 h 51"/>
              <a:gd name="T2" fmla="*/ 368 w 370"/>
              <a:gd name="T3" fmla="*/ 14 h 51"/>
              <a:gd name="T4" fmla="*/ 368 w 370"/>
              <a:gd name="T5" fmla="*/ 8 h 51"/>
              <a:gd name="T6" fmla="*/ 368 w 370"/>
              <a:gd name="T7" fmla="*/ 3 h 51"/>
              <a:gd name="T8" fmla="*/ 365 w 370"/>
              <a:gd name="T9" fmla="*/ 0 h 51"/>
              <a:gd name="T10" fmla="*/ 365 w 370"/>
              <a:gd name="T11" fmla="*/ 6 h 51"/>
              <a:gd name="T12" fmla="*/ 365 w 370"/>
              <a:gd name="T13" fmla="*/ 11 h 51"/>
              <a:gd name="T14" fmla="*/ 366 w 370"/>
              <a:gd name="T15" fmla="*/ 18 h 51"/>
              <a:gd name="T16" fmla="*/ 366 w 370"/>
              <a:gd name="T17" fmla="*/ 24 h 51"/>
              <a:gd name="T18" fmla="*/ 366 w 370"/>
              <a:gd name="T19" fmla="*/ 31 h 51"/>
              <a:gd name="T20" fmla="*/ 365 w 370"/>
              <a:gd name="T21" fmla="*/ 38 h 51"/>
              <a:gd name="T22" fmla="*/ 365 w 370"/>
              <a:gd name="T23" fmla="*/ 44 h 51"/>
              <a:gd name="T24" fmla="*/ 365 w 370"/>
              <a:gd name="T25" fmla="*/ 51 h 51"/>
              <a:gd name="T26" fmla="*/ 368 w 370"/>
              <a:gd name="T27" fmla="*/ 48 h 51"/>
              <a:gd name="T28" fmla="*/ 368 w 370"/>
              <a:gd name="T29" fmla="*/ 41 h 51"/>
              <a:gd name="T30" fmla="*/ 368 w 370"/>
              <a:gd name="T31" fmla="*/ 34 h 51"/>
              <a:gd name="T32" fmla="*/ 370 w 370"/>
              <a:gd name="T33" fmla="*/ 28 h 51"/>
              <a:gd name="T34" fmla="*/ 2 w 370"/>
              <a:gd name="T35" fmla="*/ 0 h 51"/>
              <a:gd name="T36" fmla="*/ 0 w 370"/>
              <a:gd name="T37" fmla="*/ 6 h 51"/>
              <a:gd name="T38" fmla="*/ 0 w 370"/>
              <a:gd name="T39" fmla="*/ 11 h 51"/>
              <a:gd name="T40" fmla="*/ 0 w 370"/>
              <a:gd name="T41" fmla="*/ 18 h 51"/>
              <a:gd name="T42" fmla="*/ 0 w 370"/>
              <a:gd name="T43" fmla="*/ 24 h 51"/>
              <a:gd name="T44" fmla="*/ 0 w 370"/>
              <a:gd name="T45" fmla="*/ 31 h 51"/>
              <a:gd name="T46" fmla="*/ 0 w 370"/>
              <a:gd name="T47" fmla="*/ 38 h 51"/>
              <a:gd name="T48" fmla="*/ 0 w 370"/>
              <a:gd name="T49" fmla="*/ 44 h 51"/>
              <a:gd name="T50" fmla="*/ 2 w 370"/>
              <a:gd name="T51" fmla="*/ 51 h 51"/>
              <a:gd name="T52" fmla="*/ 4 w 370"/>
              <a:gd name="T53" fmla="*/ 48 h 51"/>
              <a:gd name="T54" fmla="*/ 4 w 370"/>
              <a:gd name="T55" fmla="*/ 41 h 51"/>
              <a:gd name="T56" fmla="*/ 4 w 370"/>
              <a:gd name="T57" fmla="*/ 34 h 51"/>
              <a:gd name="T58" fmla="*/ 4 w 370"/>
              <a:gd name="T59" fmla="*/ 28 h 51"/>
              <a:gd name="T60" fmla="*/ 4 w 370"/>
              <a:gd name="T61" fmla="*/ 21 h 51"/>
              <a:gd name="T62" fmla="*/ 4 w 370"/>
              <a:gd name="T63" fmla="*/ 14 h 51"/>
              <a:gd name="T64" fmla="*/ 4 w 370"/>
              <a:gd name="T65" fmla="*/ 8 h 51"/>
              <a:gd name="T66" fmla="*/ 4 w 370"/>
              <a:gd name="T67" fmla="*/ 3 h 51"/>
              <a:gd name="T68" fmla="*/ 2 w 37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0" h="51">
                <a:moveTo>
                  <a:pt x="370" y="24"/>
                </a:moveTo>
                <a:lnTo>
                  <a:pt x="370" y="21"/>
                </a:lnTo>
                <a:lnTo>
                  <a:pt x="370" y="18"/>
                </a:lnTo>
                <a:lnTo>
                  <a:pt x="368" y="14"/>
                </a:lnTo>
                <a:lnTo>
                  <a:pt x="368" y="11"/>
                </a:lnTo>
                <a:lnTo>
                  <a:pt x="368" y="8"/>
                </a:lnTo>
                <a:lnTo>
                  <a:pt x="368" y="6"/>
                </a:lnTo>
                <a:lnTo>
                  <a:pt x="368" y="3"/>
                </a:lnTo>
                <a:lnTo>
                  <a:pt x="368" y="0"/>
                </a:lnTo>
                <a:lnTo>
                  <a:pt x="365" y="0"/>
                </a:lnTo>
                <a:lnTo>
                  <a:pt x="365" y="3"/>
                </a:lnTo>
                <a:lnTo>
                  <a:pt x="365" y="6"/>
                </a:lnTo>
                <a:lnTo>
                  <a:pt x="365" y="8"/>
                </a:lnTo>
                <a:lnTo>
                  <a:pt x="365" y="11"/>
                </a:lnTo>
                <a:lnTo>
                  <a:pt x="365" y="14"/>
                </a:lnTo>
                <a:lnTo>
                  <a:pt x="366" y="18"/>
                </a:lnTo>
                <a:lnTo>
                  <a:pt x="366" y="21"/>
                </a:lnTo>
                <a:lnTo>
                  <a:pt x="366" y="24"/>
                </a:lnTo>
                <a:lnTo>
                  <a:pt x="366" y="28"/>
                </a:lnTo>
                <a:lnTo>
                  <a:pt x="366" y="31"/>
                </a:lnTo>
                <a:lnTo>
                  <a:pt x="365" y="34"/>
                </a:lnTo>
                <a:lnTo>
                  <a:pt x="365" y="38"/>
                </a:lnTo>
                <a:lnTo>
                  <a:pt x="365" y="41"/>
                </a:lnTo>
                <a:lnTo>
                  <a:pt x="365" y="44"/>
                </a:lnTo>
                <a:lnTo>
                  <a:pt x="365" y="48"/>
                </a:lnTo>
                <a:lnTo>
                  <a:pt x="365" y="51"/>
                </a:lnTo>
                <a:lnTo>
                  <a:pt x="368" y="51"/>
                </a:lnTo>
                <a:lnTo>
                  <a:pt x="368" y="48"/>
                </a:lnTo>
                <a:lnTo>
                  <a:pt x="368" y="44"/>
                </a:lnTo>
                <a:lnTo>
                  <a:pt x="368" y="41"/>
                </a:lnTo>
                <a:lnTo>
                  <a:pt x="368" y="38"/>
                </a:lnTo>
                <a:lnTo>
                  <a:pt x="368" y="34"/>
                </a:lnTo>
                <a:lnTo>
                  <a:pt x="370" y="31"/>
                </a:lnTo>
                <a:lnTo>
                  <a:pt x="370" y="28"/>
                </a:lnTo>
                <a:lnTo>
                  <a:pt x="37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41" name="Freeform 1546">
            <a:extLst>
              <a:ext uri="{FF2B5EF4-FFF2-40B4-BE49-F238E27FC236}">
                <a16:creationId xmlns:a16="http://schemas.microsoft.com/office/drawing/2014/main" id="{B1337080-3008-3B56-DCC6-8A4E95C08542}"/>
              </a:ext>
            </a:extLst>
          </p:cNvPr>
          <p:cNvSpPr>
            <a:spLocks noEditPoints="1"/>
          </p:cNvSpPr>
          <p:nvPr/>
        </p:nvSpPr>
        <p:spPr bwMode="auto">
          <a:xfrm>
            <a:off x="2268538" y="2719388"/>
            <a:ext cx="581025" cy="80963"/>
          </a:xfrm>
          <a:custGeom>
            <a:avLst/>
            <a:gdLst>
              <a:gd name="T0" fmla="*/ 366 w 366"/>
              <a:gd name="T1" fmla="*/ 21 h 51"/>
              <a:gd name="T2" fmla="*/ 364 w 366"/>
              <a:gd name="T3" fmla="*/ 14 h 51"/>
              <a:gd name="T4" fmla="*/ 364 w 366"/>
              <a:gd name="T5" fmla="*/ 8 h 51"/>
              <a:gd name="T6" fmla="*/ 364 w 366"/>
              <a:gd name="T7" fmla="*/ 3 h 51"/>
              <a:gd name="T8" fmla="*/ 359 w 366"/>
              <a:gd name="T9" fmla="*/ 0 h 51"/>
              <a:gd name="T10" fmla="*/ 361 w 366"/>
              <a:gd name="T11" fmla="*/ 6 h 51"/>
              <a:gd name="T12" fmla="*/ 361 w 366"/>
              <a:gd name="T13" fmla="*/ 11 h 51"/>
              <a:gd name="T14" fmla="*/ 363 w 366"/>
              <a:gd name="T15" fmla="*/ 18 h 51"/>
              <a:gd name="T16" fmla="*/ 363 w 366"/>
              <a:gd name="T17" fmla="*/ 24 h 51"/>
              <a:gd name="T18" fmla="*/ 363 w 366"/>
              <a:gd name="T19" fmla="*/ 31 h 51"/>
              <a:gd name="T20" fmla="*/ 361 w 366"/>
              <a:gd name="T21" fmla="*/ 38 h 51"/>
              <a:gd name="T22" fmla="*/ 361 w 366"/>
              <a:gd name="T23" fmla="*/ 44 h 51"/>
              <a:gd name="T24" fmla="*/ 361 w 366"/>
              <a:gd name="T25" fmla="*/ 51 h 51"/>
              <a:gd name="T26" fmla="*/ 364 w 366"/>
              <a:gd name="T27" fmla="*/ 48 h 51"/>
              <a:gd name="T28" fmla="*/ 364 w 366"/>
              <a:gd name="T29" fmla="*/ 41 h 51"/>
              <a:gd name="T30" fmla="*/ 364 w 366"/>
              <a:gd name="T31" fmla="*/ 34 h 51"/>
              <a:gd name="T32" fmla="*/ 366 w 366"/>
              <a:gd name="T33" fmla="*/ 28 h 51"/>
              <a:gd name="T34" fmla="*/ 2 w 366"/>
              <a:gd name="T35" fmla="*/ 0 h 51"/>
              <a:gd name="T36" fmla="*/ 0 w 366"/>
              <a:gd name="T37" fmla="*/ 6 h 51"/>
              <a:gd name="T38" fmla="*/ 0 w 366"/>
              <a:gd name="T39" fmla="*/ 11 h 51"/>
              <a:gd name="T40" fmla="*/ 0 w 366"/>
              <a:gd name="T41" fmla="*/ 18 h 51"/>
              <a:gd name="T42" fmla="*/ 0 w 366"/>
              <a:gd name="T43" fmla="*/ 24 h 51"/>
              <a:gd name="T44" fmla="*/ 0 w 366"/>
              <a:gd name="T45" fmla="*/ 31 h 51"/>
              <a:gd name="T46" fmla="*/ 0 w 366"/>
              <a:gd name="T47" fmla="*/ 38 h 51"/>
              <a:gd name="T48" fmla="*/ 0 w 366"/>
              <a:gd name="T49" fmla="*/ 44 h 51"/>
              <a:gd name="T50" fmla="*/ 2 w 366"/>
              <a:gd name="T51" fmla="*/ 51 h 51"/>
              <a:gd name="T52" fmla="*/ 3 w 366"/>
              <a:gd name="T53" fmla="*/ 48 h 51"/>
              <a:gd name="T54" fmla="*/ 3 w 366"/>
              <a:gd name="T55" fmla="*/ 41 h 51"/>
              <a:gd name="T56" fmla="*/ 3 w 366"/>
              <a:gd name="T57" fmla="*/ 34 h 51"/>
              <a:gd name="T58" fmla="*/ 3 w 366"/>
              <a:gd name="T59" fmla="*/ 28 h 51"/>
              <a:gd name="T60" fmla="*/ 3 w 366"/>
              <a:gd name="T61" fmla="*/ 21 h 51"/>
              <a:gd name="T62" fmla="*/ 3 w 366"/>
              <a:gd name="T63" fmla="*/ 14 h 51"/>
              <a:gd name="T64" fmla="*/ 3 w 366"/>
              <a:gd name="T65" fmla="*/ 8 h 51"/>
              <a:gd name="T66" fmla="*/ 3 w 366"/>
              <a:gd name="T67" fmla="*/ 3 h 51"/>
              <a:gd name="T68" fmla="*/ 2 w 3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6" h="51">
                <a:moveTo>
                  <a:pt x="366" y="24"/>
                </a:moveTo>
                <a:lnTo>
                  <a:pt x="366" y="21"/>
                </a:lnTo>
                <a:lnTo>
                  <a:pt x="366" y="18"/>
                </a:lnTo>
                <a:lnTo>
                  <a:pt x="364" y="14"/>
                </a:lnTo>
                <a:lnTo>
                  <a:pt x="364" y="11"/>
                </a:lnTo>
                <a:lnTo>
                  <a:pt x="364" y="8"/>
                </a:lnTo>
                <a:lnTo>
                  <a:pt x="364" y="6"/>
                </a:lnTo>
                <a:lnTo>
                  <a:pt x="364" y="3"/>
                </a:lnTo>
                <a:lnTo>
                  <a:pt x="364" y="0"/>
                </a:lnTo>
                <a:lnTo>
                  <a:pt x="359" y="0"/>
                </a:lnTo>
                <a:lnTo>
                  <a:pt x="361" y="3"/>
                </a:lnTo>
                <a:lnTo>
                  <a:pt x="361" y="6"/>
                </a:lnTo>
                <a:lnTo>
                  <a:pt x="361" y="8"/>
                </a:lnTo>
                <a:lnTo>
                  <a:pt x="361" y="11"/>
                </a:lnTo>
                <a:lnTo>
                  <a:pt x="361" y="14"/>
                </a:lnTo>
                <a:lnTo>
                  <a:pt x="363" y="18"/>
                </a:lnTo>
                <a:lnTo>
                  <a:pt x="363" y="21"/>
                </a:lnTo>
                <a:lnTo>
                  <a:pt x="363" y="24"/>
                </a:lnTo>
                <a:lnTo>
                  <a:pt x="363" y="28"/>
                </a:lnTo>
                <a:lnTo>
                  <a:pt x="363" y="31"/>
                </a:lnTo>
                <a:lnTo>
                  <a:pt x="361" y="34"/>
                </a:lnTo>
                <a:lnTo>
                  <a:pt x="361" y="38"/>
                </a:lnTo>
                <a:lnTo>
                  <a:pt x="361" y="41"/>
                </a:lnTo>
                <a:lnTo>
                  <a:pt x="361" y="44"/>
                </a:lnTo>
                <a:lnTo>
                  <a:pt x="361" y="48"/>
                </a:lnTo>
                <a:lnTo>
                  <a:pt x="361" y="51"/>
                </a:lnTo>
                <a:lnTo>
                  <a:pt x="364" y="51"/>
                </a:lnTo>
                <a:lnTo>
                  <a:pt x="364" y="48"/>
                </a:lnTo>
                <a:lnTo>
                  <a:pt x="364" y="44"/>
                </a:lnTo>
                <a:lnTo>
                  <a:pt x="364" y="41"/>
                </a:lnTo>
                <a:lnTo>
                  <a:pt x="364" y="38"/>
                </a:lnTo>
                <a:lnTo>
                  <a:pt x="364" y="34"/>
                </a:lnTo>
                <a:lnTo>
                  <a:pt x="366" y="31"/>
                </a:lnTo>
                <a:lnTo>
                  <a:pt x="366" y="28"/>
                </a:lnTo>
                <a:lnTo>
                  <a:pt x="36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42" name="Freeform 1547">
            <a:extLst>
              <a:ext uri="{FF2B5EF4-FFF2-40B4-BE49-F238E27FC236}">
                <a16:creationId xmlns:a16="http://schemas.microsoft.com/office/drawing/2014/main" id="{017A111E-41D3-72A6-EDF2-C8F9070F5496}"/>
              </a:ext>
            </a:extLst>
          </p:cNvPr>
          <p:cNvSpPr>
            <a:spLocks noEditPoints="1"/>
          </p:cNvSpPr>
          <p:nvPr/>
        </p:nvSpPr>
        <p:spPr bwMode="auto">
          <a:xfrm>
            <a:off x="2271713" y="2719388"/>
            <a:ext cx="574675" cy="80963"/>
          </a:xfrm>
          <a:custGeom>
            <a:avLst/>
            <a:gdLst>
              <a:gd name="T0" fmla="*/ 362 w 362"/>
              <a:gd name="T1" fmla="*/ 21 h 51"/>
              <a:gd name="T2" fmla="*/ 361 w 362"/>
              <a:gd name="T3" fmla="*/ 14 h 51"/>
              <a:gd name="T4" fmla="*/ 361 w 362"/>
              <a:gd name="T5" fmla="*/ 8 h 51"/>
              <a:gd name="T6" fmla="*/ 361 w 362"/>
              <a:gd name="T7" fmla="*/ 3 h 51"/>
              <a:gd name="T8" fmla="*/ 356 w 362"/>
              <a:gd name="T9" fmla="*/ 0 h 51"/>
              <a:gd name="T10" fmla="*/ 357 w 362"/>
              <a:gd name="T11" fmla="*/ 6 h 51"/>
              <a:gd name="T12" fmla="*/ 357 w 362"/>
              <a:gd name="T13" fmla="*/ 11 h 51"/>
              <a:gd name="T14" fmla="*/ 359 w 362"/>
              <a:gd name="T15" fmla="*/ 18 h 51"/>
              <a:gd name="T16" fmla="*/ 359 w 362"/>
              <a:gd name="T17" fmla="*/ 24 h 51"/>
              <a:gd name="T18" fmla="*/ 359 w 362"/>
              <a:gd name="T19" fmla="*/ 31 h 51"/>
              <a:gd name="T20" fmla="*/ 357 w 362"/>
              <a:gd name="T21" fmla="*/ 38 h 51"/>
              <a:gd name="T22" fmla="*/ 357 w 362"/>
              <a:gd name="T23" fmla="*/ 44 h 51"/>
              <a:gd name="T24" fmla="*/ 357 w 362"/>
              <a:gd name="T25" fmla="*/ 51 h 51"/>
              <a:gd name="T26" fmla="*/ 361 w 362"/>
              <a:gd name="T27" fmla="*/ 48 h 51"/>
              <a:gd name="T28" fmla="*/ 361 w 362"/>
              <a:gd name="T29" fmla="*/ 41 h 51"/>
              <a:gd name="T30" fmla="*/ 361 w 362"/>
              <a:gd name="T31" fmla="*/ 34 h 51"/>
              <a:gd name="T32" fmla="*/ 362 w 362"/>
              <a:gd name="T33" fmla="*/ 28 h 51"/>
              <a:gd name="T34" fmla="*/ 1 w 362"/>
              <a:gd name="T35" fmla="*/ 0 h 51"/>
              <a:gd name="T36" fmla="*/ 0 w 362"/>
              <a:gd name="T37" fmla="*/ 6 h 51"/>
              <a:gd name="T38" fmla="*/ 0 w 362"/>
              <a:gd name="T39" fmla="*/ 11 h 51"/>
              <a:gd name="T40" fmla="*/ 0 w 362"/>
              <a:gd name="T41" fmla="*/ 18 h 51"/>
              <a:gd name="T42" fmla="*/ 0 w 362"/>
              <a:gd name="T43" fmla="*/ 24 h 51"/>
              <a:gd name="T44" fmla="*/ 0 w 362"/>
              <a:gd name="T45" fmla="*/ 31 h 51"/>
              <a:gd name="T46" fmla="*/ 0 w 362"/>
              <a:gd name="T47" fmla="*/ 38 h 51"/>
              <a:gd name="T48" fmla="*/ 0 w 362"/>
              <a:gd name="T49" fmla="*/ 44 h 51"/>
              <a:gd name="T50" fmla="*/ 1 w 362"/>
              <a:gd name="T51" fmla="*/ 51 h 51"/>
              <a:gd name="T52" fmla="*/ 3 w 362"/>
              <a:gd name="T53" fmla="*/ 48 h 51"/>
              <a:gd name="T54" fmla="*/ 3 w 362"/>
              <a:gd name="T55" fmla="*/ 41 h 51"/>
              <a:gd name="T56" fmla="*/ 3 w 362"/>
              <a:gd name="T57" fmla="*/ 34 h 51"/>
              <a:gd name="T58" fmla="*/ 3 w 362"/>
              <a:gd name="T59" fmla="*/ 28 h 51"/>
              <a:gd name="T60" fmla="*/ 3 w 362"/>
              <a:gd name="T61" fmla="*/ 21 h 51"/>
              <a:gd name="T62" fmla="*/ 3 w 362"/>
              <a:gd name="T63" fmla="*/ 14 h 51"/>
              <a:gd name="T64" fmla="*/ 3 w 362"/>
              <a:gd name="T65" fmla="*/ 8 h 51"/>
              <a:gd name="T66" fmla="*/ 3 w 362"/>
              <a:gd name="T67" fmla="*/ 3 h 51"/>
              <a:gd name="T68" fmla="*/ 1 w 3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2" h="51">
                <a:moveTo>
                  <a:pt x="362" y="24"/>
                </a:moveTo>
                <a:lnTo>
                  <a:pt x="362" y="21"/>
                </a:lnTo>
                <a:lnTo>
                  <a:pt x="362" y="18"/>
                </a:lnTo>
                <a:lnTo>
                  <a:pt x="361" y="14"/>
                </a:lnTo>
                <a:lnTo>
                  <a:pt x="361" y="11"/>
                </a:lnTo>
                <a:lnTo>
                  <a:pt x="361" y="8"/>
                </a:lnTo>
                <a:lnTo>
                  <a:pt x="361" y="6"/>
                </a:lnTo>
                <a:lnTo>
                  <a:pt x="361" y="3"/>
                </a:lnTo>
                <a:lnTo>
                  <a:pt x="361" y="0"/>
                </a:lnTo>
                <a:lnTo>
                  <a:pt x="356" y="0"/>
                </a:lnTo>
                <a:lnTo>
                  <a:pt x="357" y="3"/>
                </a:lnTo>
                <a:lnTo>
                  <a:pt x="357" y="6"/>
                </a:lnTo>
                <a:lnTo>
                  <a:pt x="357" y="8"/>
                </a:lnTo>
                <a:lnTo>
                  <a:pt x="357" y="11"/>
                </a:lnTo>
                <a:lnTo>
                  <a:pt x="357" y="14"/>
                </a:lnTo>
                <a:lnTo>
                  <a:pt x="359" y="18"/>
                </a:lnTo>
                <a:lnTo>
                  <a:pt x="359" y="21"/>
                </a:lnTo>
                <a:lnTo>
                  <a:pt x="359" y="24"/>
                </a:lnTo>
                <a:lnTo>
                  <a:pt x="359" y="28"/>
                </a:lnTo>
                <a:lnTo>
                  <a:pt x="359" y="31"/>
                </a:lnTo>
                <a:lnTo>
                  <a:pt x="357" y="34"/>
                </a:lnTo>
                <a:lnTo>
                  <a:pt x="357" y="38"/>
                </a:lnTo>
                <a:lnTo>
                  <a:pt x="357" y="41"/>
                </a:lnTo>
                <a:lnTo>
                  <a:pt x="357" y="44"/>
                </a:lnTo>
                <a:lnTo>
                  <a:pt x="357" y="48"/>
                </a:lnTo>
                <a:lnTo>
                  <a:pt x="357" y="51"/>
                </a:lnTo>
                <a:lnTo>
                  <a:pt x="361" y="51"/>
                </a:lnTo>
                <a:lnTo>
                  <a:pt x="361" y="48"/>
                </a:lnTo>
                <a:lnTo>
                  <a:pt x="361" y="44"/>
                </a:lnTo>
                <a:lnTo>
                  <a:pt x="361" y="41"/>
                </a:lnTo>
                <a:lnTo>
                  <a:pt x="361" y="38"/>
                </a:lnTo>
                <a:lnTo>
                  <a:pt x="361" y="34"/>
                </a:lnTo>
                <a:lnTo>
                  <a:pt x="362" y="31"/>
                </a:lnTo>
                <a:lnTo>
                  <a:pt x="362" y="28"/>
                </a:lnTo>
                <a:lnTo>
                  <a:pt x="36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43" name="Freeform 1548">
            <a:extLst>
              <a:ext uri="{FF2B5EF4-FFF2-40B4-BE49-F238E27FC236}">
                <a16:creationId xmlns:a16="http://schemas.microsoft.com/office/drawing/2014/main" id="{CF714D30-143A-6A80-1629-D7DF03640BDF}"/>
              </a:ext>
            </a:extLst>
          </p:cNvPr>
          <p:cNvSpPr>
            <a:spLocks noEditPoints="1"/>
          </p:cNvSpPr>
          <p:nvPr/>
        </p:nvSpPr>
        <p:spPr bwMode="auto">
          <a:xfrm>
            <a:off x="2273300" y="2719388"/>
            <a:ext cx="571500" cy="80963"/>
          </a:xfrm>
          <a:custGeom>
            <a:avLst/>
            <a:gdLst>
              <a:gd name="T0" fmla="*/ 360 w 360"/>
              <a:gd name="T1" fmla="*/ 21 h 51"/>
              <a:gd name="T2" fmla="*/ 358 w 360"/>
              <a:gd name="T3" fmla="*/ 14 h 51"/>
              <a:gd name="T4" fmla="*/ 358 w 360"/>
              <a:gd name="T5" fmla="*/ 8 h 51"/>
              <a:gd name="T6" fmla="*/ 358 w 360"/>
              <a:gd name="T7" fmla="*/ 3 h 51"/>
              <a:gd name="T8" fmla="*/ 353 w 360"/>
              <a:gd name="T9" fmla="*/ 0 h 51"/>
              <a:gd name="T10" fmla="*/ 355 w 360"/>
              <a:gd name="T11" fmla="*/ 6 h 51"/>
              <a:gd name="T12" fmla="*/ 355 w 360"/>
              <a:gd name="T13" fmla="*/ 11 h 51"/>
              <a:gd name="T14" fmla="*/ 356 w 360"/>
              <a:gd name="T15" fmla="*/ 18 h 51"/>
              <a:gd name="T16" fmla="*/ 356 w 360"/>
              <a:gd name="T17" fmla="*/ 24 h 51"/>
              <a:gd name="T18" fmla="*/ 356 w 360"/>
              <a:gd name="T19" fmla="*/ 31 h 51"/>
              <a:gd name="T20" fmla="*/ 355 w 360"/>
              <a:gd name="T21" fmla="*/ 38 h 51"/>
              <a:gd name="T22" fmla="*/ 355 w 360"/>
              <a:gd name="T23" fmla="*/ 44 h 51"/>
              <a:gd name="T24" fmla="*/ 355 w 360"/>
              <a:gd name="T25" fmla="*/ 51 h 51"/>
              <a:gd name="T26" fmla="*/ 358 w 360"/>
              <a:gd name="T27" fmla="*/ 48 h 51"/>
              <a:gd name="T28" fmla="*/ 358 w 360"/>
              <a:gd name="T29" fmla="*/ 41 h 51"/>
              <a:gd name="T30" fmla="*/ 358 w 360"/>
              <a:gd name="T31" fmla="*/ 34 h 51"/>
              <a:gd name="T32" fmla="*/ 360 w 360"/>
              <a:gd name="T33" fmla="*/ 28 h 51"/>
              <a:gd name="T34" fmla="*/ 2 w 360"/>
              <a:gd name="T35" fmla="*/ 0 h 51"/>
              <a:gd name="T36" fmla="*/ 0 w 360"/>
              <a:gd name="T37" fmla="*/ 6 h 51"/>
              <a:gd name="T38" fmla="*/ 0 w 360"/>
              <a:gd name="T39" fmla="*/ 11 h 51"/>
              <a:gd name="T40" fmla="*/ 0 w 360"/>
              <a:gd name="T41" fmla="*/ 18 h 51"/>
              <a:gd name="T42" fmla="*/ 0 w 360"/>
              <a:gd name="T43" fmla="*/ 24 h 51"/>
              <a:gd name="T44" fmla="*/ 0 w 360"/>
              <a:gd name="T45" fmla="*/ 31 h 51"/>
              <a:gd name="T46" fmla="*/ 0 w 360"/>
              <a:gd name="T47" fmla="*/ 38 h 51"/>
              <a:gd name="T48" fmla="*/ 0 w 360"/>
              <a:gd name="T49" fmla="*/ 44 h 51"/>
              <a:gd name="T50" fmla="*/ 2 w 360"/>
              <a:gd name="T51" fmla="*/ 51 h 51"/>
              <a:gd name="T52" fmla="*/ 4 w 360"/>
              <a:gd name="T53" fmla="*/ 48 h 51"/>
              <a:gd name="T54" fmla="*/ 4 w 360"/>
              <a:gd name="T55" fmla="*/ 41 h 51"/>
              <a:gd name="T56" fmla="*/ 4 w 360"/>
              <a:gd name="T57" fmla="*/ 34 h 51"/>
              <a:gd name="T58" fmla="*/ 4 w 360"/>
              <a:gd name="T59" fmla="*/ 28 h 51"/>
              <a:gd name="T60" fmla="*/ 4 w 360"/>
              <a:gd name="T61" fmla="*/ 21 h 51"/>
              <a:gd name="T62" fmla="*/ 4 w 360"/>
              <a:gd name="T63" fmla="*/ 14 h 51"/>
              <a:gd name="T64" fmla="*/ 4 w 360"/>
              <a:gd name="T65" fmla="*/ 8 h 51"/>
              <a:gd name="T66" fmla="*/ 4 w 360"/>
              <a:gd name="T67" fmla="*/ 3 h 51"/>
              <a:gd name="T68" fmla="*/ 2 w 36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0" h="51">
                <a:moveTo>
                  <a:pt x="360" y="24"/>
                </a:moveTo>
                <a:lnTo>
                  <a:pt x="360" y="21"/>
                </a:lnTo>
                <a:lnTo>
                  <a:pt x="360" y="18"/>
                </a:lnTo>
                <a:lnTo>
                  <a:pt x="358" y="14"/>
                </a:lnTo>
                <a:lnTo>
                  <a:pt x="358" y="11"/>
                </a:lnTo>
                <a:lnTo>
                  <a:pt x="358" y="8"/>
                </a:lnTo>
                <a:lnTo>
                  <a:pt x="358" y="6"/>
                </a:lnTo>
                <a:lnTo>
                  <a:pt x="358" y="3"/>
                </a:lnTo>
                <a:lnTo>
                  <a:pt x="356" y="0"/>
                </a:lnTo>
                <a:lnTo>
                  <a:pt x="353" y="0"/>
                </a:lnTo>
                <a:lnTo>
                  <a:pt x="355" y="3"/>
                </a:lnTo>
                <a:lnTo>
                  <a:pt x="355" y="6"/>
                </a:lnTo>
                <a:lnTo>
                  <a:pt x="355" y="8"/>
                </a:lnTo>
                <a:lnTo>
                  <a:pt x="355" y="11"/>
                </a:lnTo>
                <a:lnTo>
                  <a:pt x="355" y="14"/>
                </a:lnTo>
                <a:lnTo>
                  <a:pt x="356" y="18"/>
                </a:lnTo>
                <a:lnTo>
                  <a:pt x="356" y="21"/>
                </a:lnTo>
                <a:lnTo>
                  <a:pt x="356" y="24"/>
                </a:lnTo>
                <a:lnTo>
                  <a:pt x="356" y="28"/>
                </a:lnTo>
                <a:lnTo>
                  <a:pt x="356" y="31"/>
                </a:lnTo>
                <a:lnTo>
                  <a:pt x="355" y="34"/>
                </a:lnTo>
                <a:lnTo>
                  <a:pt x="355" y="38"/>
                </a:lnTo>
                <a:lnTo>
                  <a:pt x="355" y="41"/>
                </a:lnTo>
                <a:lnTo>
                  <a:pt x="355" y="44"/>
                </a:lnTo>
                <a:lnTo>
                  <a:pt x="355" y="48"/>
                </a:lnTo>
                <a:lnTo>
                  <a:pt x="355" y="51"/>
                </a:lnTo>
                <a:lnTo>
                  <a:pt x="358" y="51"/>
                </a:lnTo>
                <a:lnTo>
                  <a:pt x="358" y="48"/>
                </a:lnTo>
                <a:lnTo>
                  <a:pt x="358" y="44"/>
                </a:lnTo>
                <a:lnTo>
                  <a:pt x="358" y="41"/>
                </a:lnTo>
                <a:lnTo>
                  <a:pt x="358" y="38"/>
                </a:lnTo>
                <a:lnTo>
                  <a:pt x="358" y="34"/>
                </a:lnTo>
                <a:lnTo>
                  <a:pt x="360" y="31"/>
                </a:lnTo>
                <a:lnTo>
                  <a:pt x="360" y="28"/>
                </a:lnTo>
                <a:lnTo>
                  <a:pt x="36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44" name="Freeform 1549">
            <a:extLst>
              <a:ext uri="{FF2B5EF4-FFF2-40B4-BE49-F238E27FC236}">
                <a16:creationId xmlns:a16="http://schemas.microsoft.com/office/drawing/2014/main" id="{203BEADC-FBA4-450A-782F-D5A16325151C}"/>
              </a:ext>
            </a:extLst>
          </p:cNvPr>
          <p:cNvSpPr>
            <a:spLocks noEditPoints="1"/>
          </p:cNvSpPr>
          <p:nvPr/>
        </p:nvSpPr>
        <p:spPr bwMode="auto">
          <a:xfrm>
            <a:off x="2276475" y="2719388"/>
            <a:ext cx="565150" cy="80963"/>
          </a:xfrm>
          <a:custGeom>
            <a:avLst/>
            <a:gdLst>
              <a:gd name="T0" fmla="*/ 356 w 356"/>
              <a:gd name="T1" fmla="*/ 21 h 51"/>
              <a:gd name="T2" fmla="*/ 354 w 356"/>
              <a:gd name="T3" fmla="*/ 14 h 51"/>
              <a:gd name="T4" fmla="*/ 354 w 356"/>
              <a:gd name="T5" fmla="*/ 8 h 51"/>
              <a:gd name="T6" fmla="*/ 354 w 356"/>
              <a:gd name="T7" fmla="*/ 3 h 51"/>
              <a:gd name="T8" fmla="*/ 349 w 356"/>
              <a:gd name="T9" fmla="*/ 0 h 51"/>
              <a:gd name="T10" fmla="*/ 351 w 356"/>
              <a:gd name="T11" fmla="*/ 6 h 51"/>
              <a:gd name="T12" fmla="*/ 351 w 356"/>
              <a:gd name="T13" fmla="*/ 11 h 51"/>
              <a:gd name="T14" fmla="*/ 353 w 356"/>
              <a:gd name="T15" fmla="*/ 18 h 51"/>
              <a:gd name="T16" fmla="*/ 353 w 356"/>
              <a:gd name="T17" fmla="*/ 24 h 51"/>
              <a:gd name="T18" fmla="*/ 353 w 356"/>
              <a:gd name="T19" fmla="*/ 31 h 51"/>
              <a:gd name="T20" fmla="*/ 351 w 356"/>
              <a:gd name="T21" fmla="*/ 38 h 51"/>
              <a:gd name="T22" fmla="*/ 351 w 356"/>
              <a:gd name="T23" fmla="*/ 44 h 51"/>
              <a:gd name="T24" fmla="*/ 351 w 356"/>
              <a:gd name="T25" fmla="*/ 51 h 51"/>
              <a:gd name="T26" fmla="*/ 354 w 356"/>
              <a:gd name="T27" fmla="*/ 48 h 51"/>
              <a:gd name="T28" fmla="*/ 354 w 356"/>
              <a:gd name="T29" fmla="*/ 41 h 51"/>
              <a:gd name="T30" fmla="*/ 354 w 356"/>
              <a:gd name="T31" fmla="*/ 34 h 51"/>
              <a:gd name="T32" fmla="*/ 356 w 356"/>
              <a:gd name="T33" fmla="*/ 28 h 51"/>
              <a:gd name="T34" fmla="*/ 2 w 356"/>
              <a:gd name="T35" fmla="*/ 0 h 51"/>
              <a:gd name="T36" fmla="*/ 0 w 356"/>
              <a:gd name="T37" fmla="*/ 6 h 51"/>
              <a:gd name="T38" fmla="*/ 0 w 356"/>
              <a:gd name="T39" fmla="*/ 11 h 51"/>
              <a:gd name="T40" fmla="*/ 0 w 356"/>
              <a:gd name="T41" fmla="*/ 18 h 51"/>
              <a:gd name="T42" fmla="*/ 0 w 356"/>
              <a:gd name="T43" fmla="*/ 24 h 51"/>
              <a:gd name="T44" fmla="*/ 0 w 356"/>
              <a:gd name="T45" fmla="*/ 31 h 51"/>
              <a:gd name="T46" fmla="*/ 0 w 356"/>
              <a:gd name="T47" fmla="*/ 38 h 51"/>
              <a:gd name="T48" fmla="*/ 0 w 356"/>
              <a:gd name="T49" fmla="*/ 44 h 51"/>
              <a:gd name="T50" fmla="*/ 2 w 356"/>
              <a:gd name="T51" fmla="*/ 51 h 51"/>
              <a:gd name="T52" fmla="*/ 3 w 356"/>
              <a:gd name="T53" fmla="*/ 48 h 51"/>
              <a:gd name="T54" fmla="*/ 3 w 356"/>
              <a:gd name="T55" fmla="*/ 41 h 51"/>
              <a:gd name="T56" fmla="*/ 3 w 356"/>
              <a:gd name="T57" fmla="*/ 34 h 51"/>
              <a:gd name="T58" fmla="*/ 3 w 356"/>
              <a:gd name="T59" fmla="*/ 28 h 51"/>
              <a:gd name="T60" fmla="*/ 3 w 356"/>
              <a:gd name="T61" fmla="*/ 21 h 51"/>
              <a:gd name="T62" fmla="*/ 3 w 356"/>
              <a:gd name="T63" fmla="*/ 14 h 51"/>
              <a:gd name="T64" fmla="*/ 3 w 356"/>
              <a:gd name="T65" fmla="*/ 8 h 51"/>
              <a:gd name="T66" fmla="*/ 3 w 356"/>
              <a:gd name="T67" fmla="*/ 3 h 51"/>
              <a:gd name="T68" fmla="*/ 2 w 3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6" h="51">
                <a:moveTo>
                  <a:pt x="356" y="24"/>
                </a:moveTo>
                <a:lnTo>
                  <a:pt x="356" y="21"/>
                </a:lnTo>
                <a:lnTo>
                  <a:pt x="356" y="18"/>
                </a:lnTo>
                <a:lnTo>
                  <a:pt x="354" y="14"/>
                </a:lnTo>
                <a:lnTo>
                  <a:pt x="354" y="11"/>
                </a:lnTo>
                <a:lnTo>
                  <a:pt x="354" y="8"/>
                </a:lnTo>
                <a:lnTo>
                  <a:pt x="354" y="6"/>
                </a:lnTo>
                <a:lnTo>
                  <a:pt x="354" y="3"/>
                </a:lnTo>
                <a:lnTo>
                  <a:pt x="353" y="0"/>
                </a:lnTo>
                <a:lnTo>
                  <a:pt x="349" y="0"/>
                </a:lnTo>
                <a:lnTo>
                  <a:pt x="351" y="3"/>
                </a:lnTo>
                <a:lnTo>
                  <a:pt x="351" y="6"/>
                </a:lnTo>
                <a:lnTo>
                  <a:pt x="351" y="8"/>
                </a:lnTo>
                <a:lnTo>
                  <a:pt x="351" y="11"/>
                </a:lnTo>
                <a:lnTo>
                  <a:pt x="351" y="14"/>
                </a:lnTo>
                <a:lnTo>
                  <a:pt x="353" y="18"/>
                </a:lnTo>
                <a:lnTo>
                  <a:pt x="353" y="21"/>
                </a:lnTo>
                <a:lnTo>
                  <a:pt x="353" y="24"/>
                </a:lnTo>
                <a:lnTo>
                  <a:pt x="353" y="28"/>
                </a:lnTo>
                <a:lnTo>
                  <a:pt x="353" y="31"/>
                </a:lnTo>
                <a:lnTo>
                  <a:pt x="351" y="34"/>
                </a:lnTo>
                <a:lnTo>
                  <a:pt x="351" y="38"/>
                </a:lnTo>
                <a:lnTo>
                  <a:pt x="351" y="41"/>
                </a:lnTo>
                <a:lnTo>
                  <a:pt x="351" y="44"/>
                </a:lnTo>
                <a:lnTo>
                  <a:pt x="351" y="48"/>
                </a:lnTo>
                <a:lnTo>
                  <a:pt x="351" y="51"/>
                </a:lnTo>
                <a:lnTo>
                  <a:pt x="354" y="51"/>
                </a:lnTo>
                <a:lnTo>
                  <a:pt x="354" y="48"/>
                </a:lnTo>
                <a:lnTo>
                  <a:pt x="354" y="44"/>
                </a:lnTo>
                <a:lnTo>
                  <a:pt x="354" y="41"/>
                </a:lnTo>
                <a:lnTo>
                  <a:pt x="354" y="38"/>
                </a:lnTo>
                <a:lnTo>
                  <a:pt x="354" y="34"/>
                </a:lnTo>
                <a:lnTo>
                  <a:pt x="356" y="31"/>
                </a:lnTo>
                <a:lnTo>
                  <a:pt x="356" y="28"/>
                </a:lnTo>
                <a:lnTo>
                  <a:pt x="35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45" name="Freeform 1550">
            <a:extLst>
              <a:ext uri="{FF2B5EF4-FFF2-40B4-BE49-F238E27FC236}">
                <a16:creationId xmlns:a16="http://schemas.microsoft.com/office/drawing/2014/main" id="{C6EAAEF1-3B2D-5F70-1B06-00D61F66E82A}"/>
              </a:ext>
            </a:extLst>
          </p:cNvPr>
          <p:cNvSpPr>
            <a:spLocks noEditPoints="1"/>
          </p:cNvSpPr>
          <p:nvPr/>
        </p:nvSpPr>
        <p:spPr bwMode="auto">
          <a:xfrm>
            <a:off x="2279650" y="2719388"/>
            <a:ext cx="558800" cy="80963"/>
          </a:xfrm>
          <a:custGeom>
            <a:avLst/>
            <a:gdLst>
              <a:gd name="T0" fmla="*/ 352 w 352"/>
              <a:gd name="T1" fmla="*/ 21 h 51"/>
              <a:gd name="T2" fmla="*/ 351 w 352"/>
              <a:gd name="T3" fmla="*/ 14 h 51"/>
              <a:gd name="T4" fmla="*/ 351 w 352"/>
              <a:gd name="T5" fmla="*/ 8 h 51"/>
              <a:gd name="T6" fmla="*/ 351 w 352"/>
              <a:gd name="T7" fmla="*/ 3 h 51"/>
              <a:gd name="T8" fmla="*/ 346 w 352"/>
              <a:gd name="T9" fmla="*/ 0 h 51"/>
              <a:gd name="T10" fmla="*/ 347 w 352"/>
              <a:gd name="T11" fmla="*/ 6 h 51"/>
              <a:gd name="T12" fmla="*/ 347 w 352"/>
              <a:gd name="T13" fmla="*/ 11 h 51"/>
              <a:gd name="T14" fmla="*/ 349 w 352"/>
              <a:gd name="T15" fmla="*/ 18 h 51"/>
              <a:gd name="T16" fmla="*/ 349 w 352"/>
              <a:gd name="T17" fmla="*/ 24 h 51"/>
              <a:gd name="T18" fmla="*/ 349 w 352"/>
              <a:gd name="T19" fmla="*/ 31 h 51"/>
              <a:gd name="T20" fmla="*/ 347 w 352"/>
              <a:gd name="T21" fmla="*/ 38 h 51"/>
              <a:gd name="T22" fmla="*/ 347 w 352"/>
              <a:gd name="T23" fmla="*/ 44 h 51"/>
              <a:gd name="T24" fmla="*/ 347 w 352"/>
              <a:gd name="T25" fmla="*/ 51 h 51"/>
              <a:gd name="T26" fmla="*/ 351 w 352"/>
              <a:gd name="T27" fmla="*/ 48 h 51"/>
              <a:gd name="T28" fmla="*/ 351 w 352"/>
              <a:gd name="T29" fmla="*/ 41 h 51"/>
              <a:gd name="T30" fmla="*/ 351 w 352"/>
              <a:gd name="T31" fmla="*/ 34 h 51"/>
              <a:gd name="T32" fmla="*/ 352 w 352"/>
              <a:gd name="T33" fmla="*/ 28 h 51"/>
              <a:gd name="T34" fmla="*/ 1 w 352"/>
              <a:gd name="T35" fmla="*/ 0 h 51"/>
              <a:gd name="T36" fmla="*/ 0 w 352"/>
              <a:gd name="T37" fmla="*/ 6 h 51"/>
              <a:gd name="T38" fmla="*/ 0 w 352"/>
              <a:gd name="T39" fmla="*/ 11 h 51"/>
              <a:gd name="T40" fmla="*/ 0 w 352"/>
              <a:gd name="T41" fmla="*/ 18 h 51"/>
              <a:gd name="T42" fmla="*/ 0 w 352"/>
              <a:gd name="T43" fmla="*/ 24 h 51"/>
              <a:gd name="T44" fmla="*/ 0 w 352"/>
              <a:gd name="T45" fmla="*/ 31 h 51"/>
              <a:gd name="T46" fmla="*/ 0 w 352"/>
              <a:gd name="T47" fmla="*/ 38 h 51"/>
              <a:gd name="T48" fmla="*/ 0 w 352"/>
              <a:gd name="T49" fmla="*/ 44 h 51"/>
              <a:gd name="T50" fmla="*/ 1 w 352"/>
              <a:gd name="T51" fmla="*/ 51 h 51"/>
              <a:gd name="T52" fmla="*/ 3 w 352"/>
              <a:gd name="T53" fmla="*/ 48 h 51"/>
              <a:gd name="T54" fmla="*/ 3 w 352"/>
              <a:gd name="T55" fmla="*/ 41 h 51"/>
              <a:gd name="T56" fmla="*/ 3 w 352"/>
              <a:gd name="T57" fmla="*/ 34 h 51"/>
              <a:gd name="T58" fmla="*/ 3 w 352"/>
              <a:gd name="T59" fmla="*/ 28 h 51"/>
              <a:gd name="T60" fmla="*/ 3 w 352"/>
              <a:gd name="T61" fmla="*/ 21 h 51"/>
              <a:gd name="T62" fmla="*/ 3 w 352"/>
              <a:gd name="T63" fmla="*/ 14 h 51"/>
              <a:gd name="T64" fmla="*/ 3 w 352"/>
              <a:gd name="T65" fmla="*/ 8 h 51"/>
              <a:gd name="T66" fmla="*/ 3 w 352"/>
              <a:gd name="T67" fmla="*/ 3 h 51"/>
              <a:gd name="T68" fmla="*/ 1 w 3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2" h="51">
                <a:moveTo>
                  <a:pt x="352" y="24"/>
                </a:moveTo>
                <a:lnTo>
                  <a:pt x="352" y="21"/>
                </a:lnTo>
                <a:lnTo>
                  <a:pt x="352" y="18"/>
                </a:lnTo>
                <a:lnTo>
                  <a:pt x="351" y="14"/>
                </a:lnTo>
                <a:lnTo>
                  <a:pt x="351" y="11"/>
                </a:lnTo>
                <a:lnTo>
                  <a:pt x="351" y="8"/>
                </a:lnTo>
                <a:lnTo>
                  <a:pt x="351" y="6"/>
                </a:lnTo>
                <a:lnTo>
                  <a:pt x="351" y="3"/>
                </a:lnTo>
                <a:lnTo>
                  <a:pt x="349" y="0"/>
                </a:lnTo>
                <a:lnTo>
                  <a:pt x="346" y="0"/>
                </a:lnTo>
                <a:lnTo>
                  <a:pt x="347" y="3"/>
                </a:lnTo>
                <a:lnTo>
                  <a:pt x="347" y="6"/>
                </a:lnTo>
                <a:lnTo>
                  <a:pt x="347" y="8"/>
                </a:lnTo>
                <a:lnTo>
                  <a:pt x="347" y="11"/>
                </a:lnTo>
                <a:lnTo>
                  <a:pt x="347" y="14"/>
                </a:lnTo>
                <a:lnTo>
                  <a:pt x="349" y="18"/>
                </a:lnTo>
                <a:lnTo>
                  <a:pt x="349" y="21"/>
                </a:lnTo>
                <a:lnTo>
                  <a:pt x="349" y="24"/>
                </a:lnTo>
                <a:lnTo>
                  <a:pt x="349" y="28"/>
                </a:lnTo>
                <a:lnTo>
                  <a:pt x="349" y="31"/>
                </a:lnTo>
                <a:lnTo>
                  <a:pt x="347" y="34"/>
                </a:lnTo>
                <a:lnTo>
                  <a:pt x="347" y="38"/>
                </a:lnTo>
                <a:lnTo>
                  <a:pt x="347" y="41"/>
                </a:lnTo>
                <a:lnTo>
                  <a:pt x="347" y="44"/>
                </a:lnTo>
                <a:lnTo>
                  <a:pt x="347" y="48"/>
                </a:lnTo>
                <a:lnTo>
                  <a:pt x="347" y="51"/>
                </a:lnTo>
                <a:lnTo>
                  <a:pt x="351" y="51"/>
                </a:lnTo>
                <a:lnTo>
                  <a:pt x="351" y="48"/>
                </a:lnTo>
                <a:lnTo>
                  <a:pt x="351" y="44"/>
                </a:lnTo>
                <a:lnTo>
                  <a:pt x="351" y="41"/>
                </a:lnTo>
                <a:lnTo>
                  <a:pt x="351" y="38"/>
                </a:lnTo>
                <a:lnTo>
                  <a:pt x="351" y="34"/>
                </a:lnTo>
                <a:lnTo>
                  <a:pt x="352" y="31"/>
                </a:lnTo>
                <a:lnTo>
                  <a:pt x="352" y="28"/>
                </a:lnTo>
                <a:lnTo>
                  <a:pt x="35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46" name="Freeform 1551">
            <a:extLst>
              <a:ext uri="{FF2B5EF4-FFF2-40B4-BE49-F238E27FC236}">
                <a16:creationId xmlns:a16="http://schemas.microsoft.com/office/drawing/2014/main" id="{1F0097D7-785B-5FC4-6625-C397E9788E5D}"/>
              </a:ext>
            </a:extLst>
          </p:cNvPr>
          <p:cNvSpPr>
            <a:spLocks noEditPoints="1"/>
          </p:cNvSpPr>
          <p:nvPr/>
        </p:nvSpPr>
        <p:spPr bwMode="auto">
          <a:xfrm>
            <a:off x="2281238" y="2719388"/>
            <a:ext cx="555625" cy="80963"/>
          </a:xfrm>
          <a:custGeom>
            <a:avLst/>
            <a:gdLst>
              <a:gd name="T0" fmla="*/ 350 w 350"/>
              <a:gd name="T1" fmla="*/ 21 h 51"/>
              <a:gd name="T2" fmla="*/ 348 w 350"/>
              <a:gd name="T3" fmla="*/ 14 h 51"/>
              <a:gd name="T4" fmla="*/ 348 w 350"/>
              <a:gd name="T5" fmla="*/ 8 h 51"/>
              <a:gd name="T6" fmla="*/ 348 w 350"/>
              <a:gd name="T7" fmla="*/ 3 h 51"/>
              <a:gd name="T8" fmla="*/ 343 w 350"/>
              <a:gd name="T9" fmla="*/ 0 h 51"/>
              <a:gd name="T10" fmla="*/ 345 w 350"/>
              <a:gd name="T11" fmla="*/ 6 h 51"/>
              <a:gd name="T12" fmla="*/ 345 w 350"/>
              <a:gd name="T13" fmla="*/ 11 h 51"/>
              <a:gd name="T14" fmla="*/ 346 w 350"/>
              <a:gd name="T15" fmla="*/ 18 h 51"/>
              <a:gd name="T16" fmla="*/ 346 w 350"/>
              <a:gd name="T17" fmla="*/ 24 h 51"/>
              <a:gd name="T18" fmla="*/ 346 w 350"/>
              <a:gd name="T19" fmla="*/ 31 h 51"/>
              <a:gd name="T20" fmla="*/ 345 w 350"/>
              <a:gd name="T21" fmla="*/ 38 h 51"/>
              <a:gd name="T22" fmla="*/ 345 w 350"/>
              <a:gd name="T23" fmla="*/ 44 h 51"/>
              <a:gd name="T24" fmla="*/ 345 w 350"/>
              <a:gd name="T25" fmla="*/ 51 h 51"/>
              <a:gd name="T26" fmla="*/ 348 w 350"/>
              <a:gd name="T27" fmla="*/ 48 h 51"/>
              <a:gd name="T28" fmla="*/ 348 w 350"/>
              <a:gd name="T29" fmla="*/ 41 h 51"/>
              <a:gd name="T30" fmla="*/ 348 w 350"/>
              <a:gd name="T31" fmla="*/ 34 h 51"/>
              <a:gd name="T32" fmla="*/ 350 w 350"/>
              <a:gd name="T33" fmla="*/ 28 h 51"/>
              <a:gd name="T34" fmla="*/ 2 w 350"/>
              <a:gd name="T35" fmla="*/ 0 h 51"/>
              <a:gd name="T36" fmla="*/ 0 w 350"/>
              <a:gd name="T37" fmla="*/ 6 h 51"/>
              <a:gd name="T38" fmla="*/ 0 w 350"/>
              <a:gd name="T39" fmla="*/ 11 h 51"/>
              <a:gd name="T40" fmla="*/ 0 w 350"/>
              <a:gd name="T41" fmla="*/ 18 h 51"/>
              <a:gd name="T42" fmla="*/ 0 w 350"/>
              <a:gd name="T43" fmla="*/ 24 h 51"/>
              <a:gd name="T44" fmla="*/ 0 w 350"/>
              <a:gd name="T45" fmla="*/ 31 h 51"/>
              <a:gd name="T46" fmla="*/ 0 w 350"/>
              <a:gd name="T47" fmla="*/ 38 h 51"/>
              <a:gd name="T48" fmla="*/ 0 w 350"/>
              <a:gd name="T49" fmla="*/ 44 h 51"/>
              <a:gd name="T50" fmla="*/ 2 w 350"/>
              <a:gd name="T51" fmla="*/ 51 h 51"/>
              <a:gd name="T52" fmla="*/ 4 w 350"/>
              <a:gd name="T53" fmla="*/ 48 h 51"/>
              <a:gd name="T54" fmla="*/ 4 w 350"/>
              <a:gd name="T55" fmla="*/ 41 h 51"/>
              <a:gd name="T56" fmla="*/ 4 w 350"/>
              <a:gd name="T57" fmla="*/ 34 h 51"/>
              <a:gd name="T58" fmla="*/ 4 w 350"/>
              <a:gd name="T59" fmla="*/ 28 h 51"/>
              <a:gd name="T60" fmla="*/ 4 w 350"/>
              <a:gd name="T61" fmla="*/ 21 h 51"/>
              <a:gd name="T62" fmla="*/ 4 w 350"/>
              <a:gd name="T63" fmla="*/ 14 h 51"/>
              <a:gd name="T64" fmla="*/ 4 w 350"/>
              <a:gd name="T65" fmla="*/ 8 h 51"/>
              <a:gd name="T66" fmla="*/ 4 w 350"/>
              <a:gd name="T67" fmla="*/ 3 h 51"/>
              <a:gd name="T68" fmla="*/ 2 w 35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51">
                <a:moveTo>
                  <a:pt x="350" y="24"/>
                </a:moveTo>
                <a:lnTo>
                  <a:pt x="350" y="21"/>
                </a:lnTo>
                <a:lnTo>
                  <a:pt x="350" y="18"/>
                </a:lnTo>
                <a:lnTo>
                  <a:pt x="348" y="14"/>
                </a:lnTo>
                <a:lnTo>
                  <a:pt x="348" y="11"/>
                </a:lnTo>
                <a:lnTo>
                  <a:pt x="348" y="8"/>
                </a:lnTo>
                <a:lnTo>
                  <a:pt x="348" y="6"/>
                </a:lnTo>
                <a:lnTo>
                  <a:pt x="348" y="3"/>
                </a:lnTo>
                <a:lnTo>
                  <a:pt x="346" y="0"/>
                </a:lnTo>
                <a:lnTo>
                  <a:pt x="343" y="0"/>
                </a:lnTo>
                <a:lnTo>
                  <a:pt x="345" y="3"/>
                </a:lnTo>
                <a:lnTo>
                  <a:pt x="345" y="6"/>
                </a:lnTo>
                <a:lnTo>
                  <a:pt x="345" y="8"/>
                </a:lnTo>
                <a:lnTo>
                  <a:pt x="345" y="11"/>
                </a:lnTo>
                <a:lnTo>
                  <a:pt x="345" y="14"/>
                </a:lnTo>
                <a:lnTo>
                  <a:pt x="346" y="18"/>
                </a:lnTo>
                <a:lnTo>
                  <a:pt x="346" y="21"/>
                </a:lnTo>
                <a:lnTo>
                  <a:pt x="346" y="24"/>
                </a:lnTo>
                <a:lnTo>
                  <a:pt x="346" y="28"/>
                </a:lnTo>
                <a:lnTo>
                  <a:pt x="346" y="31"/>
                </a:lnTo>
                <a:lnTo>
                  <a:pt x="346" y="34"/>
                </a:lnTo>
                <a:lnTo>
                  <a:pt x="345" y="38"/>
                </a:lnTo>
                <a:lnTo>
                  <a:pt x="345" y="41"/>
                </a:lnTo>
                <a:lnTo>
                  <a:pt x="345" y="44"/>
                </a:lnTo>
                <a:lnTo>
                  <a:pt x="345" y="48"/>
                </a:lnTo>
                <a:lnTo>
                  <a:pt x="345" y="51"/>
                </a:lnTo>
                <a:lnTo>
                  <a:pt x="348" y="51"/>
                </a:lnTo>
                <a:lnTo>
                  <a:pt x="348" y="48"/>
                </a:lnTo>
                <a:lnTo>
                  <a:pt x="348" y="44"/>
                </a:lnTo>
                <a:lnTo>
                  <a:pt x="348" y="41"/>
                </a:lnTo>
                <a:lnTo>
                  <a:pt x="348" y="38"/>
                </a:lnTo>
                <a:lnTo>
                  <a:pt x="348" y="34"/>
                </a:lnTo>
                <a:lnTo>
                  <a:pt x="350" y="31"/>
                </a:lnTo>
                <a:lnTo>
                  <a:pt x="350" y="28"/>
                </a:lnTo>
                <a:lnTo>
                  <a:pt x="35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47" name="Freeform 1552">
            <a:extLst>
              <a:ext uri="{FF2B5EF4-FFF2-40B4-BE49-F238E27FC236}">
                <a16:creationId xmlns:a16="http://schemas.microsoft.com/office/drawing/2014/main" id="{907D2A10-B8B2-7EC3-7838-3B1FF3ABF4E2}"/>
              </a:ext>
            </a:extLst>
          </p:cNvPr>
          <p:cNvSpPr>
            <a:spLocks noEditPoints="1"/>
          </p:cNvSpPr>
          <p:nvPr/>
        </p:nvSpPr>
        <p:spPr bwMode="auto">
          <a:xfrm>
            <a:off x="2284413" y="2719388"/>
            <a:ext cx="549275" cy="80963"/>
          </a:xfrm>
          <a:custGeom>
            <a:avLst/>
            <a:gdLst>
              <a:gd name="T0" fmla="*/ 346 w 346"/>
              <a:gd name="T1" fmla="*/ 21 h 51"/>
              <a:gd name="T2" fmla="*/ 344 w 346"/>
              <a:gd name="T3" fmla="*/ 14 h 51"/>
              <a:gd name="T4" fmla="*/ 344 w 346"/>
              <a:gd name="T5" fmla="*/ 8 h 51"/>
              <a:gd name="T6" fmla="*/ 344 w 346"/>
              <a:gd name="T7" fmla="*/ 3 h 51"/>
              <a:gd name="T8" fmla="*/ 339 w 346"/>
              <a:gd name="T9" fmla="*/ 0 h 51"/>
              <a:gd name="T10" fmla="*/ 341 w 346"/>
              <a:gd name="T11" fmla="*/ 6 h 51"/>
              <a:gd name="T12" fmla="*/ 341 w 346"/>
              <a:gd name="T13" fmla="*/ 11 h 51"/>
              <a:gd name="T14" fmla="*/ 343 w 346"/>
              <a:gd name="T15" fmla="*/ 18 h 51"/>
              <a:gd name="T16" fmla="*/ 343 w 346"/>
              <a:gd name="T17" fmla="*/ 24 h 51"/>
              <a:gd name="T18" fmla="*/ 343 w 346"/>
              <a:gd name="T19" fmla="*/ 31 h 51"/>
              <a:gd name="T20" fmla="*/ 341 w 346"/>
              <a:gd name="T21" fmla="*/ 38 h 51"/>
              <a:gd name="T22" fmla="*/ 341 w 346"/>
              <a:gd name="T23" fmla="*/ 44 h 51"/>
              <a:gd name="T24" fmla="*/ 341 w 346"/>
              <a:gd name="T25" fmla="*/ 51 h 51"/>
              <a:gd name="T26" fmla="*/ 344 w 346"/>
              <a:gd name="T27" fmla="*/ 48 h 51"/>
              <a:gd name="T28" fmla="*/ 344 w 346"/>
              <a:gd name="T29" fmla="*/ 41 h 51"/>
              <a:gd name="T30" fmla="*/ 344 w 346"/>
              <a:gd name="T31" fmla="*/ 34 h 51"/>
              <a:gd name="T32" fmla="*/ 346 w 346"/>
              <a:gd name="T33" fmla="*/ 28 h 51"/>
              <a:gd name="T34" fmla="*/ 2 w 346"/>
              <a:gd name="T35" fmla="*/ 0 h 51"/>
              <a:gd name="T36" fmla="*/ 0 w 346"/>
              <a:gd name="T37" fmla="*/ 6 h 51"/>
              <a:gd name="T38" fmla="*/ 0 w 346"/>
              <a:gd name="T39" fmla="*/ 11 h 51"/>
              <a:gd name="T40" fmla="*/ 0 w 346"/>
              <a:gd name="T41" fmla="*/ 18 h 51"/>
              <a:gd name="T42" fmla="*/ 0 w 346"/>
              <a:gd name="T43" fmla="*/ 24 h 51"/>
              <a:gd name="T44" fmla="*/ 0 w 346"/>
              <a:gd name="T45" fmla="*/ 31 h 51"/>
              <a:gd name="T46" fmla="*/ 0 w 346"/>
              <a:gd name="T47" fmla="*/ 38 h 51"/>
              <a:gd name="T48" fmla="*/ 0 w 346"/>
              <a:gd name="T49" fmla="*/ 44 h 51"/>
              <a:gd name="T50" fmla="*/ 2 w 346"/>
              <a:gd name="T51" fmla="*/ 51 h 51"/>
              <a:gd name="T52" fmla="*/ 3 w 346"/>
              <a:gd name="T53" fmla="*/ 48 h 51"/>
              <a:gd name="T54" fmla="*/ 3 w 346"/>
              <a:gd name="T55" fmla="*/ 41 h 51"/>
              <a:gd name="T56" fmla="*/ 3 w 346"/>
              <a:gd name="T57" fmla="*/ 34 h 51"/>
              <a:gd name="T58" fmla="*/ 3 w 346"/>
              <a:gd name="T59" fmla="*/ 28 h 51"/>
              <a:gd name="T60" fmla="*/ 3 w 346"/>
              <a:gd name="T61" fmla="*/ 21 h 51"/>
              <a:gd name="T62" fmla="*/ 3 w 346"/>
              <a:gd name="T63" fmla="*/ 14 h 51"/>
              <a:gd name="T64" fmla="*/ 3 w 346"/>
              <a:gd name="T65" fmla="*/ 8 h 51"/>
              <a:gd name="T66" fmla="*/ 3 w 346"/>
              <a:gd name="T67" fmla="*/ 3 h 51"/>
              <a:gd name="T68" fmla="*/ 2 w 3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6" h="51">
                <a:moveTo>
                  <a:pt x="346" y="24"/>
                </a:moveTo>
                <a:lnTo>
                  <a:pt x="346" y="21"/>
                </a:lnTo>
                <a:lnTo>
                  <a:pt x="346" y="18"/>
                </a:lnTo>
                <a:lnTo>
                  <a:pt x="344" y="14"/>
                </a:lnTo>
                <a:lnTo>
                  <a:pt x="344" y="11"/>
                </a:lnTo>
                <a:lnTo>
                  <a:pt x="344" y="8"/>
                </a:lnTo>
                <a:lnTo>
                  <a:pt x="344" y="6"/>
                </a:lnTo>
                <a:lnTo>
                  <a:pt x="344" y="3"/>
                </a:lnTo>
                <a:lnTo>
                  <a:pt x="343" y="0"/>
                </a:lnTo>
                <a:lnTo>
                  <a:pt x="339" y="0"/>
                </a:lnTo>
                <a:lnTo>
                  <a:pt x="341" y="3"/>
                </a:lnTo>
                <a:lnTo>
                  <a:pt x="341" y="6"/>
                </a:lnTo>
                <a:lnTo>
                  <a:pt x="341" y="8"/>
                </a:lnTo>
                <a:lnTo>
                  <a:pt x="341" y="11"/>
                </a:lnTo>
                <a:lnTo>
                  <a:pt x="341" y="14"/>
                </a:lnTo>
                <a:lnTo>
                  <a:pt x="343" y="18"/>
                </a:lnTo>
                <a:lnTo>
                  <a:pt x="343" y="21"/>
                </a:lnTo>
                <a:lnTo>
                  <a:pt x="343" y="24"/>
                </a:lnTo>
                <a:lnTo>
                  <a:pt x="343" y="28"/>
                </a:lnTo>
                <a:lnTo>
                  <a:pt x="343" y="31"/>
                </a:lnTo>
                <a:lnTo>
                  <a:pt x="343" y="34"/>
                </a:lnTo>
                <a:lnTo>
                  <a:pt x="341" y="38"/>
                </a:lnTo>
                <a:lnTo>
                  <a:pt x="341" y="41"/>
                </a:lnTo>
                <a:lnTo>
                  <a:pt x="341" y="44"/>
                </a:lnTo>
                <a:lnTo>
                  <a:pt x="341" y="48"/>
                </a:lnTo>
                <a:lnTo>
                  <a:pt x="341" y="51"/>
                </a:lnTo>
                <a:lnTo>
                  <a:pt x="344" y="51"/>
                </a:lnTo>
                <a:lnTo>
                  <a:pt x="344" y="48"/>
                </a:lnTo>
                <a:lnTo>
                  <a:pt x="344" y="44"/>
                </a:lnTo>
                <a:lnTo>
                  <a:pt x="344" y="41"/>
                </a:lnTo>
                <a:lnTo>
                  <a:pt x="344" y="38"/>
                </a:lnTo>
                <a:lnTo>
                  <a:pt x="344" y="34"/>
                </a:lnTo>
                <a:lnTo>
                  <a:pt x="346" y="31"/>
                </a:lnTo>
                <a:lnTo>
                  <a:pt x="346" y="28"/>
                </a:lnTo>
                <a:lnTo>
                  <a:pt x="34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48" name="Freeform 1553">
            <a:extLst>
              <a:ext uri="{FF2B5EF4-FFF2-40B4-BE49-F238E27FC236}">
                <a16:creationId xmlns:a16="http://schemas.microsoft.com/office/drawing/2014/main" id="{D58AFCF2-6AFF-A5F6-B75C-DF136B36E6B6}"/>
              </a:ext>
            </a:extLst>
          </p:cNvPr>
          <p:cNvSpPr>
            <a:spLocks noEditPoints="1"/>
          </p:cNvSpPr>
          <p:nvPr/>
        </p:nvSpPr>
        <p:spPr bwMode="auto">
          <a:xfrm>
            <a:off x="2287588" y="2719388"/>
            <a:ext cx="542925" cy="80963"/>
          </a:xfrm>
          <a:custGeom>
            <a:avLst/>
            <a:gdLst>
              <a:gd name="T0" fmla="*/ 342 w 342"/>
              <a:gd name="T1" fmla="*/ 21 h 51"/>
              <a:gd name="T2" fmla="*/ 341 w 342"/>
              <a:gd name="T3" fmla="*/ 14 h 51"/>
              <a:gd name="T4" fmla="*/ 341 w 342"/>
              <a:gd name="T5" fmla="*/ 8 h 51"/>
              <a:gd name="T6" fmla="*/ 341 w 342"/>
              <a:gd name="T7" fmla="*/ 3 h 51"/>
              <a:gd name="T8" fmla="*/ 336 w 342"/>
              <a:gd name="T9" fmla="*/ 0 h 51"/>
              <a:gd name="T10" fmla="*/ 337 w 342"/>
              <a:gd name="T11" fmla="*/ 6 h 51"/>
              <a:gd name="T12" fmla="*/ 337 w 342"/>
              <a:gd name="T13" fmla="*/ 11 h 51"/>
              <a:gd name="T14" fmla="*/ 339 w 342"/>
              <a:gd name="T15" fmla="*/ 18 h 51"/>
              <a:gd name="T16" fmla="*/ 339 w 342"/>
              <a:gd name="T17" fmla="*/ 24 h 51"/>
              <a:gd name="T18" fmla="*/ 339 w 342"/>
              <a:gd name="T19" fmla="*/ 31 h 51"/>
              <a:gd name="T20" fmla="*/ 337 w 342"/>
              <a:gd name="T21" fmla="*/ 38 h 51"/>
              <a:gd name="T22" fmla="*/ 337 w 342"/>
              <a:gd name="T23" fmla="*/ 44 h 51"/>
              <a:gd name="T24" fmla="*/ 337 w 342"/>
              <a:gd name="T25" fmla="*/ 51 h 51"/>
              <a:gd name="T26" fmla="*/ 341 w 342"/>
              <a:gd name="T27" fmla="*/ 48 h 51"/>
              <a:gd name="T28" fmla="*/ 341 w 342"/>
              <a:gd name="T29" fmla="*/ 41 h 51"/>
              <a:gd name="T30" fmla="*/ 341 w 342"/>
              <a:gd name="T31" fmla="*/ 34 h 51"/>
              <a:gd name="T32" fmla="*/ 342 w 342"/>
              <a:gd name="T33" fmla="*/ 28 h 51"/>
              <a:gd name="T34" fmla="*/ 1 w 342"/>
              <a:gd name="T35" fmla="*/ 0 h 51"/>
              <a:gd name="T36" fmla="*/ 0 w 342"/>
              <a:gd name="T37" fmla="*/ 6 h 51"/>
              <a:gd name="T38" fmla="*/ 0 w 342"/>
              <a:gd name="T39" fmla="*/ 11 h 51"/>
              <a:gd name="T40" fmla="*/ 0 w 342"/>
              <a:gd name="T41" fmla="*/ 18 h 51"/>
              <a:gd name="T42" fmla="*/ 0 w 342"/>
              <a:gd name="T43" fmla="*/ 24 h 51"/>
              <a:gd name="T44" fmla="*/ 0 w 342"/>
              <a:gd name="T45" fmla="*/ 31 h 51"/>
              <a:gd name="T46" fmla="*/ 0 w 342"/>
              <a:gd name="T47" fmla="*/ 38 h 51"/>
              <a:gd name="T48" fmla="*/ 0 w 342"/>
              <a:gd name="T49" fmla="*/ 44 h 51"/>
              <a:gd name="T50" fmla="*/ 1 w 342"/>
              <a:gd name="T51" fmla="*/ 51 h 51"/>
              <a:gd name="T52" fmla="*/ 3 w 342"/>
              <a:gd name="T53" fmla="*/ 48 h 51"/>
              <a:gd name="T54" fmla="*/ 3 w 342"/>
              <a:gd name="T55" fmla="*/ 41 h 51"/>
              <a:gd name="T56" fmla="*/ 3 w 342"/>
              <a:gd name="T57" fmla="*/ 34 h 51"/>
              <a:gd name="T58" fmla="*/ 3 w 342"/>
              <a:gd name="T59" fmla="*/ 28 h 51"/>
              <a:gd name="T60" fmla="*/ 3 w 342"/>
              <a:gd name="T61" fmla="*/ 21 h 51"/>
              <a:gd name="T62" fmla="*/ 3 w 342"/>
              <a:gd name="T63" fmla="*/ 14 h 51"/>
              <a:gd name="T64" fmla="*/ 3 w 342"/>
              <a:gd name="T65" fmla="*/ 8 h 51"/>
              <a:gd name="T66" fmla="*/ 3 w 342"/>
              <a:gd name="T67" fmla="*/ 3 h 51"/>
              <a:gd name="T68" fmla="*/ 1 w 3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2" h="51">
                <a:moveTo>
                  <a:pt x="342" y="24"/>
                </a:moveTo>
                <a:lnTo>
                  <a:pt x="342" y="21"/>
                </a:lnTo>
                <a:lnTo>
                  <a:pt x="342" y="18"/>
                </a:lnTo>
                <a:lnTo>
                  <a:pt x="341" y="14"/>
                </a:lnTo>
                <a:lnTo>
                  <a:pt x="341" y="11"/>
                </a:lnTo>
                <a:lnTo>
                  <a:pt x="341" y="8"/>
                </a:lnTo>
                <a:lnTo>
                  <a:pt x="341" y="6"/>
                </a:lnTo>
                <a:lnTo>
                  <a:pt x="341" y="3"/>
                </a:lnTo>
                <a:lnTo>
                  <a:pt x="339" y="0"/>
                </a:lnTo>
                <a:lnTo>
                  <a:pt x="336" y="0"/>
                </a:lnTo>
                <a:lnTo>
                  <a:pt x="337" y="3"/>
                </a:lnTo>
                <a:lnTo>
                  <a:pt x="337" y="6"/>
                </a:lnTo>
                <a:lnTo>
                  <a:pt x="337" y="8"/>
                </a:lnTo>
                <a:lnTo>
                  <a:pt x="337" y="11"/>
                </a:lnTo>
                <a:lnTo>
                  <a:pt x="337" y="14"/>
                </a:lnTo>
                <a:lnTo>
                  <a:pt x="339" y="18"/>
                </a:lnTo>
                <a:lnTo>
                  <a:pt x="339" y="21"/>
                </a:lnTo>
                <a:lnTo>
                  <a:pt x="339" y="24"/>
                </a:lnTo>
                <a:lnTo>
                  <a:pt x="339" y="28"/>
                </a:lnTo>
                <a:lnTo>
                  <a:pt x="339" y="31"/>
                </a:lnTo>
                <a:lnTo>
                  <a:pt x="339" y="34"/>
                </a:lnTo>
                <a:lnTo>
                  <a:pt x="337" y="38"/>
                </a:lnTo>
                <a:lnTo>
                  <a:pt x="337" y="41"/>
                </a:lnTo>
                <a:lnTo>
                  <a:pt x="337" y="44"/>
                </a:lnTo>
                <a:lnTo>
                  <a:pt x="337" y="48"/>
                </a:lnTo>
                <a:lnTo>
                  <a:pt x="337" y="51"/>
                </a:lnTo>
                <a:lnTo>
                  <a:pt x="341" y="51"/>
                </a:lnTo>
                <a:lnTo>
                  <a:pt x="341" y="48"/>
                </a:lnTo>
                <a:lnTo>
                  <a:pt x="341" y="44"/>
                </a:lnTo>
                <a:lnTo>
                  <a:pt x="341" y="41"/>
                </a:lnTo>
                <a:lnTo>
                  <a:pt x="341" y="38"/>
                </a:lnTo>
                <a:lnTo>
                  <a:pt x="341" y="34"/>
                </a:lnTo>
                <a:lnTo>
                  <a:pt x="342" y="31"/>
                </a:lnTo>
                <a:lnTo>
                  <a:pt x="342" y="28"/>
                </a:lnTo>
                <a:lnTo>
                  <a:pt x="34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49" name="Freeform 1554">
            <a:extLst>
              <a:ext uri="{FF2B5EF4-FFF2-40B4-BE49-F238E27FC236}">
                <a16:creationId xmlns:a16="http://schemas.microsoft.com/office/drawing/2014/main" id="{4AD7242D-05DE-B80D-9AD8-BB5E5E790622}"/>
              </a:ext>
            </a:extLst>
          </p:cNvPr>
          <p:cNvSpPr>
            <a:spLocks noEditPoints="1"/>
          </p:cNvSpPr>
          <p:nvPr/>
        </p:nvSpPr>
        <p:spPr bwMode="auto">
          <a:xfrm>
            <a:off x="2289175" y="2719388"/>
            <a:ext cx="539750" cy="80963"/>
          </a:xfrm>
          <a:custGeom>
            <a:avLst/>
            <a:gdLst>
              <a:gd name="T0" fmla="*/ 340 w 340"/>
              <a:gd name="T1" fmla="*/ 21 h 51"/>
              <a:gd name="T2" fmla="*/ 338 w 340"/>
              <a:gd name="T3" fmla="*/ 14 h 51"/>
              <a:gd name="T4" fmla="*/ 338 w 340"/>
              <a:gd name="T5" fmla="*/ 8 h 51"/>
              <a:gd name="T6" fmla="*/ 338 w 340"/>
              <a:gd name="T7" fmla="*/ 3 h 51"/>
              <a:gd name="T8" fmla="*/ 333 w 340"/>
              <a:gd name="T9" fmla="*/ 0 h 51"/>
              <a:gd name="T10" fmla="*/ 335 w 340"/>
              <a:gd name="T11" fmla="*/ 6 h 51"/>
              <a:gd name="T12" fmla="*/ 335 w 340"/>
              <a:gd name="T13" fmla="*/ 11 h 51"/>
              <a:gd name="T14" fmla="*/ 336 w 340"/>
              <a:gd name="T15" fmla="*/ 18 h 51"/>
              <a:gd name="T16" fmla="*/ 336 w 340"/>
              <a:gd name="T17" fmla="*/ 24 h 51"/>
              <a:gd name="T18" fmla="*/ 336 w 340"/>
              <a:gd name="T19" fmla="*/ 31 h 51"/>
              <a:gd name="T20" fmla="*/ 335 w 340"/>
              <a:gd name="T21" fmla="*/ 38 h 51"/>
              <a:gd name="T22" fmla="*/ 335 w 340"/>
              <a:gd name="T23" fmla="*/ 44 h 51"/>
              <a:gd name="T24" fmla="*/ 335 w 340"/>
              <a:gd name="T25" fmla="*/ 51 h 51"/>
              <a:gd name="T26" fmla="*/ 338 w 340"/>
              <a:gd name="T27" fmla="*/ 48 h 51"/>
              <a:gd name="T28" fmla="*/ 338 w 340"/>
              <a:gd name="T29" fmla="*/ 41 h 51"/>
              <a:gd name="T30" fmla="*/ 340 w 340"/>
              <a:gd name="T31" fmla="*/ 34 h 51"/>
              <a:gd name="T32" fmla="*/ 340 w 340"/>
              <a:gd name="T33" fmla="*/ 28 h 51"/>
              <a:gd name="T34" fmla="*/ 2 w 340"/>
              <a:gd name="T35" fmla="*/ 0 h 51"/>
              <a:gd name="T36" fmla="*/ 0 w 340"/>
              <a:gd name="T37" fmla="*/ 6 h 51"/>
              <a:gd name="T38" fmla="*/ 0 w 340"/>
              <a:gd name="T39" fmla="*/ 11 h 51"/>
              <a:gd name="T40" fmla="*/ 0 w 340"/>
              <a:gd name="T41" fmla="*/ 18 h 51"/>
              <a:gd name="T42" fmla="*/ 0 w 340"/>
              <a:gd name="T43" fmla="*/ 24 h 51"/>
              <a:gd name="T44" fmla="*/ 0 w 340"/>
              <a:gd name="T45" fmla="*/ 31 h 51"/>
              <a:gd name="T46" fmla="*/ 0 w 340"/>
              <a:gd name="T47" fmla="*/ 38 h 51"/>
              <a:gd name="T48" fmla="*/ 0 w 340"/>
              <a:gd name="T49" fmla="*/ 44 h 51"/>
              <a:gd name="T50" fmla="*/ 2 w 340"/>
              <a:gd name="T51" fmla="*/ 51 h 51"/>
              <a:gd name="T52" fmla="*/ 4 w 340"/>
              <a:gd name="T53" fmla="*/ 48 h 51"/>
              <a:gd name="T54" fmla="*/ 4 w 340"/>
              <a:gd name="T55" fmla="*/ 41 h 51"/>
              <a:gd name="T56" fmla="*/ 4 w 340"/>
              <a:gd name="T57" fmla="*/ 34 h 51"/>
              <a:gd name="T58" fmla="*/ 4 w 340"/>
              <a:gd name="T59" fmla="*/ 28 h 51"/>
              <a:gd name="T60" fmla="*/ 4 w 340"/>
              <a:gd name="T61" fmla="*/ 21 h 51"/>
              <a:gd name="T62" fmla="*/ 4 w 340"/>
              <a:gd name="T63" fmla="*/ 14 h 51"/>
              <a:gd name="T64" fmla="*/ 4 w 340"/>
              <a:gd name="T65" fmla="*/ 8 h 51"/>
              <a:gd name="T66" fmla="*/ 4 w 340"/>
              <a:gd name="T67" fmla="*/ 3 h 51"/>
              <a:gd name="T68" fmla="*/ 2 w 34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0" h="51">
                <a:moveTo>
                  <a:pt x="340" y="24"/>
                </a:moveTo>
                <a:lnTo>
                  <a:pt x="340" y="21"/>
                </a:lnTo>
                <a:lnTo>
                  <a:pt x="340" y="18"/>
                </a:lnTo>
                <a:lnTo>
                  <a:pt x="338" y="14"/>
                </a:lnTo>
                <a:lnTo>
                  <a:pt x="338" y="11"/>
                </a:lnTo>
                <a:lnTo>
                  <a:pt x="338" y="8"/>
                </a:lnTo>
                <a:lnTo>
                  <a:pt x="338" y="6"/>
                </a:lnTo>
                <a:lnTo>
                  <a:pt x="338" y="3"/>
                </a:lnTo>
                <a:lnTo>
                  <a:pt x="336" y="0"/>
                </a:lnTo>
                <a:lnTo>
                  <a:pt x="333" y="0"/>
                </a:lnTo>
                <a:lnTo>
                  <a:pt x="335" y="3"/>
                </a:lnTo>
                <a:lnTo>
                  <a:pt x="335" y="6"/>
                </a:lnTo>
                <a:lnTo>
                  <a:pt x="335" y="8"/>
                </a:lnTo>
                <a:lnTo>
                  <a:pt x="335" y="11"/>
                </a:lnTo>
                <a:lnTo>
                  <a:pt x="335" y="14"/>
                </a:lnTo>
                <a:lnTo>
                  <a:pt x="336" y="18"/>
                </a:lnTo>
                <a:lnTo>
                  <a:pt x="336" y="21"/>
                </a:lnTo>
                <a:lnTo>
                  <a:pt x="336" y="24"/>
                </a:lnTo>
                <a:lnTo>
                  <a:pt x="336" y="28"/>
                </a:lnTo>
                <a:lnTo>
                  <a:pt x="336" y="31"/>
                </a:lnTo>
                <a:lnTo>
                  <a:pt x="336" y="34"/>
                </a:lnTo>
                <a:lnTo>
                  <a:pt x="335" y="38"/>
                </a:lnTo>
                <a:lnTo>
                  <a:pt x="335" y="41"/>
                </a:lnTo>
                <a:lnTo>
                  <a:pt x="335" y="44"/>
                </a:lnTo>
                <a:lnTo>
                  <a:pt x="335" y="48"/>
                </a:lnTo>
                <a:lnTo>
                  <a:pt x="335" y="51"/>
                </a:lnTo>
                <a:lnTo>
                  <a:pt x="338" y="51"/>
                </a:lnTo>
                <a:lnTo>
                  <a:pt x="338" y="48"/>
                </a:lnTo>
                <a:lnTo>
                  <a:pt x="338" y="44"/>
                </a:lnTo>
                <a:lnTo>
                  <a:pt x="338" y="41"/>
                </a:lnTo>
                <a:lnTo>
                  <a:pt x="338" y="38"/>
                </a:lnTo>
                <a:lnTo>
                  <a:pt x="340" y="34"/>
                </a:lnTo>
                <a:lnTo>
                  <a:pt x="340" y="31"/>
                </a:lnTo>
                <a:lnTo>
                  <a:pt x="340" y="28"/>
                </a:lnTo>
                <a:lnTo>
                  <a:pt x="34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2" y="24"/>
                </a:lnTo>
                <a:lnTo>
                  <a:pt x="4" y="21"/>
                </a:lnTo>
                <a:lnTo>
                  <a:pt x="4" y="18"/>
                </a:lnTo>
                <a:lnTo>
                  <a:pt x="4" y="14"/>
                </a:lnTo>
                <a:lnTo>
                  <a:pt x="4" y="11"/>
                </a:lnTo>
                <a:lnTo>
                  <a:pt x="4" y="8"/>
                </a:lnTo>
                <a:lnTo>
                  <a:pt x="4" y="6"/>
                </a:lnTo>
                <a:lnTo>
                  <a:pt x="4" y="3"/>
                </a:lnTo>
                <a:lnTo>
                  <a:pt x="5" y="0"/>
                </a:lnTo>
                <a:lnTo>
                  <a:pt x="2"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50" name="Freeform 1555">
            <a:extLst>
              <a:ext uri="{FF2B5EF4-FFF2-40B4-BE49-F238E27FC236}">
                <a16:creationId xmlns:a16="http://schemas.microsoft.com/office/drawing/2014/main" id="{C65E8F7F-7CFF-7463-B7F1-1713E68055EB}"/>
              </a:ext>
            </a:extLst>
          </p:cNvPr>
          <p:cNvSpPr>
            <a:spLocks noEditPoints="1"/>
          </p:cNvSpPr>
          <p:nvPr/>
        </p:nvSpPr>
        <p:spPr bwMode="auto">
          <a:xfrm>
            <a:off x="2292350" y="2719388"/>
            <a:ext cx="533400" cy="80963"/>
          </a:xfrm>
          <a:custGeom>
            <a:avLst/>
            <a:gdLst>
              <a:gd name="T0" fmla="*/ 336 w 336"/>
              <a:gd name="T1" fmla="*/ 21 h 51"/>
              <a:gd name="T2" fmla="*/ 334 w 336"/>
              <a:gd name="T3" fmla="*/ 14 h 51"/>
              <a:gd name="T4" fmla="*/ 334 w 336"/>
              <a:gd name="T5" fmla="*/ 8 h 51"/>
              <a:gd name="T6" fmla="*/ 334 w 336"/>
              <a:gd name="T7" fmla="*/ 3 h 51"/>
              <a:gd name="T8" fmla="*/ 329 w 336"/>
              <a:gd name="T9" fmla="*/ 0 h 51"/>
              <a:gd name="T10" fmla="*/ 331 w 336"/>
              <a:gd name="T11" fmla="*/ 6 h 51"/>
              <a:gd name="T12" fmla="*/ 331 w 336"/>
              <a:gd name="T13" fmla="*/ 11 h 51"/>
              <a:gd name="T14" fmla="*/ 333 w 336"/>
              <a:gd name="T15" fmla="*/ 18 h 51"/>
              <a:gd name="T16" fmla="*/ 333 w 336"/>
              <a:gd name="T17" fmla="*/ 24 h 51"/>
              <a:gd name="T18" fmla="*/ 333 w 336"/>
              <a:gd name="T19" fmla="*/ 31 h 51"/>
              <a:gd name="T20" fmla="*/ 331 w 336"/>
              <a:gd name="T21" fmla="*/ 38 h 51"/>
              <a:gd name="T22" fmla="*/ 331 w 336"/>
              <a:gd name="T23" fmla="*/ 44 h 51"/>
              <a:gd name="T24" fmla="*/ 331 w 336"/>
              <a:gd name="T25" fmla="*/ 51 h 51"/>
              <a:gd name="T26" fmla="*/ 334 w 336"/>
              <a:gd name="T27" fmla="*/ 48 h 51"/>
              <a:gd name="T28" fmla="*/ 334 w 336"/>
              <a:gd name="T29" fmla="*/ 41 h 51"/>
              <a:gd name="T30" fmla="*/ 336 w 336"/>
              <a:gd name="T31" fmla="*/ 34 h 51"/>
              <a:gd name="T32" fmla="*/ 336 w 336"/>
              <a:gd name="T33" fmla="*/ 28 h 51"/>
              <a:gd name="T34" fmla="*/ 2 w 336"/>
              <a:gd name="T35" fmla="*/ 0 h 51"/>
              <a:gd name="T36" fmla="*/ 0 w 336"/>
              <a:gd name="T37" fmla="*/ 6 h 51"/>
              <a:gd name="T38" fmla="*/ 0 w 336"/>
              <a:gd name="T39" fmla="*/ 11 h 51"/>
              <a:gd name="T40" fmla="*/ 0 w 336"/>
              <a:gd name="T41" fmla="*/ 18 h 51"/>
              <a:gd name="T42" fmla="*/ 0 w 336"/>
              <a:gd name="T43" fmla="*/ 24 h 51"/>
              <a:gd name="T44" fmla="*/ 0 w 336"/>
              <a:gd name="T45" fmla="*/ 31 h 51"/>
              <a:gd name="T46" fmla="*/ 0 w 336"/>
              <a:gd name="T47" fmla="*/ 38 h 51"/>
              <a:gd name="T48" fmla="*/ 0 w 336"/>
              <a:gd name="T49" fmla="*/ 44 h 51"/>
              <a:gd name="T50" fmla="*/ 2 w 336"/>
              <a:gd name="T51" fmla="*/ 51 h 51"/>
              <a:gd name="T52" fmla="*/ 3 w 336"/>
              <a:gd name="T53" fmla="*/ 48 h 51"/>
              <a:gd name="T54" fmla="*/ 3 w 336"/>
              <a:gd name="T55" fmla="*/ 41 h 51"/>
              <a:gd name="T56" fmla="*/ 3 w 336"/>
              <a:gd name="T57" fmla="*/ 34 h 51"/>
              <a:gd name="T58" fmla="*/ 3 w 336"/>
              <a:gd name="T59" fmla="*/ 28 h 51"/>
              <a:gd name="T60" fmla="*/ 3 w 336"/>
              <a:gd name="T61" fmla="*/ 21 h 51"/>
              <a:gd name="T62" fmla="*/ 3 w 336"/>
              <a:gd name="T63" fmla="*/ 14 h 51"/>
              <a:gd name="T64" fmla="*/ 3 w 336"/>
              <a:gd name="T65" fmla="*/ 8 h 51"/>
              <a:gd name="T66" fmla="*/ 3 w 336"/>
              <a:gd name="T67" fmla="*/ 3 h 51"/>
              <a:gd name="T68" fmla="*/ 2 w 3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6" h="51">
                <a:moveTo>
                  <a:pt x="336" y="24"/>
                </a:moveTo>
                <a:lnTo>
                  <a:pt x="336" y="21"/>
                </a:lnTo>
                <a:lnTo>
                  <a:pt x="336" y="18"/>
                </a:lnTo>
                <a:lnTo>
                  <a:pt x="334" y="14"/>
                </a:lnTo>
                <a:lnTo>
                  <a:pt x="334" y="11"/>
                </a:lnTo>
                <a:lnTo>
                  <a:pt x="334" y="8"/>
                </a:lnTo>
                <a:lnTo>
                  <a:pt x="334" y="6"/>
                </a:lnTo>
                <a:lnTo>
                  <a:pt x="334" y="3"/>
                </a:lnTo>
                <a:lnTo>
                  <a:pt x="333" y="0"/>
                </a:lnTo>
                <a:lnTo>
                  <a:pt x="329" y="0"/>
                </a:lnTo>
                <a:lnTo>
                  <a:pt x="331" y="3"/>
                </a:lnTo>
                <a:lnTo>
                  <a:pt x="331" y="6"/>
                </a:lnTo>
                <a:lnTo>
                  <a:pt x="331" y="8"/>
                </a:lnTo>
                <a:lnTo>
                  <a:pt x="331" y="11"/>
                </a:lnTo>
                <a:lnTo>
                  <a:pt x="331" y="14"/>
                </a:lnTo>
                <a:lnTo>
                  <a:pt x="333" y="18"/>
                </a:lnTo>
                <a:lnTo>
                  <a:pt x="333" y="21"/>
                </a:lnTo>
                <a:lnTo>
                  <a:pt x="333" y="24"/>
                </a:lnTo>
                <a:lnTo>
                  <a:pt x="333" y="28"/>
                </a:lnTo>
                <a:lnTo>
                  <a:pt x="333" y="31"/>
                </a:lnTo>
                <a:lnTo>
                  <a:pt x="333" y="34"/>
                </a:lnTo>
                <a:lnTo>
                  <a:pt x="331" y="38"/>
                </a:lnTo>
                <a:lnTo>
                  <a:pt x="331" y="41"/>
                </a:lnTo>
                <a:lnTo>
                  <a:pt x="331" y="44"/>
                </a:lnTo>
                <a:lnTo>
                  <a:pt x="331" y="48"/>
                </a:lnTo>
                <a:lnTo>
                  <a:pt x="331" y="51"/>
                </a:lnTo>
                <a:lnTo>
                  <a:pt x="334" y="51"/>
                </a:lnTo>
                <a:lnTo>
                  <a:pt x="334" y="48"/>
                </a:lnTo>
                <a:lnTo>
                  <a:pt x="334" y="44"/>
                </a:lnTo>
                <a:lnTo>
                  <a:pt x="334" y="41"/>
                </a:lnTo>
                <a:lnTo>
                  <a:pt x="334" y="38"/>
                </a:lnTo>
                <a:lnTo>
                  <a:pt x="336" y="34"/>
                </a:lnTo>
                <a:lnTo>
                  <a:pt x="336" y="31"/>
                </a:lnTo>
                <a:lnTo>
                  <a:pt x="336" y="28"/>
                </a:lnTo>
                <a:lnTo>
                  <a:pt x="33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2" y="24"/>
                </a:lnTo>
                <a:lnTo>
                  <a:pt x="3" y="21"/>
                </a:lnTo>
                <a:lnTo>
                  <a:pt x="3" y="18"/>
                </a:lnTo>
                <a:lnTo>
                  <a:pt x="3" y="14"/>
                </a:lnTo>
                <a:lnTo>
                  <a:pt x="3" y="11"/>
                </a:lnTo>
                <a:lnTo>
                  <a:pt x="3" y="8"/>
                </a:lnTo>
                <a:lnTo>
                  <a:pt x="3" y="6"/>
                </a:lnTo>
                <a:lnTo>
                  <a:pt x="3" y="3"/>
                </a:lnTo>
                <a:lnTo>
                  <a:pt x="5" y="0"/>
                </a:lnTo>
                <a:lnTo>
                  <a:pt x="2"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51" name="Freeform 1556">
            <a:extLst>
              <a:ext uri="{FF2B5EF4-FFF2-40B4-BE49-F238E27FC236}">
                <a16:creationId xmlns:a16="http://schemas.microsoft.com/office/drawing/2014/main" id="{6F6CEB07-A708-2730-5E5A-9528A538A492}"/>
              </a:ext>
            </a:extLst>
          </p:cNvPr>
          <p:cNvSpPr>
            <a:spLocks noEditPoints="1"/>
          </p:cNvSpPr>
          <p:nvPr/>
        </p:nvSpPr>
        <p:spPr bwMode="auto">
          <a:xfrm>
            <a:off x="2292350" y="2719388"/>
            <a:ext cx="530225" cy="80963"/>
          </a:xfrm>
          <a:custGeom>
            <a:avLst/>
            <a:gdLst>
              <a:gd name="T0" fmla="*/ 334 w 334"/>
              <a:gd name="T1" fmla="*/ 21 h 51"/>
              <a:gd name="T2" fmla="*/ 333 w 334"/>
              <a:gd name="T3" fmla="*/ 14 h 51"/>
              <a:gd name="T4" fmla="*/ 333 w 334"/>
              <a:gd name="T5" fmla="*/ 8 h 51"/>
              <a:gd name="T6" fmla="*/ 333 w 334"/>
              <a:gd name="T7" fmla="*/ 3 h 51"/>
              <a:gd name="T8" fmla="*/ 328 w 334"/>
              <a:gd name="T9" fmla="*/ 0 h 51"/>
              <a:gd name="T10" fmla="*/ 329 w 334"/>
              <a:gd name="T11" fmla="*/ 6 h 51"/>
              <a:gd name="T12" fmla="*/ 329 w 334"/>
              <a:gd name="T13" fmla="*/ 11 h 51"/>
              <a:gd name="T14" fmla="*/ 331 w 334"/>
              <a:gd name="T15" fmla="*/ 18 h 51"/>
              <a:gd name="T16" fmla="*/ 331 w 334"/>
              <a:gd name="T17" fmla="*/ 24 h 51"/>
              <a:gd name="T18" fmla="*/ 331 w 334"/>
              <a:gd name="T19" fmla="*/ 31 h 51"/>
              <a:gd name="T20" fmla="*/ 329 w 334"/>
              <a:gd name="T21" fmla="*/ 38 h 51"/>
              <a:gd name="T22" fmla="*/ 329 w 334"/>
              <a:gd name="T23" fmla="*/ 44 h 51"/>
              <a:gd name="T24" fmla="*/ 329 w 334"/>
              <a:gd name="T25" fmla="*/ 51 h 51"/>
              <a:gd name="T26" fmla="*/ 333 w 334"/>
              <a:gd name="T27" fmla="*/ 48 h 51"/>
              <a:gd name="T28" fmla="*/ 333 w 334"/>
              <a:gd name="T29" fmla="*/ 41 h 51"/>
              <a:gd name="T30" fmla="*/ 334 w 334"/>
              <a:gd name="T31" fmla="*/ 34 h 51"/>
              <a:gd name="T32" fmla="*/ 334 w 334"/>
              <a:gd name="T33" fmla="*/ 28 h 51"/>
              <a:gd name="T34" fmla="*/ 3 w 334"/>
              <a:gd name="T35" fmla="*/ 0 h 51"/>
              <a:gd name="T36" fmla="*/ 2 w 334"/>
              <a:gd name="T37" fmla="*/ 6 h 51"/>
              <a:gd name="T38" fmla="*/ 2 w 334"/>
              <a:gd name="T39" fmla="*/ 11 h 51"/>
              <a:gd name="T40" fmla="*/ 2 w 334"/>
              <a:gd name="T41" fmla="*/ 18 h 51"/>
              <a:gd name="T42" fmla="*/ 0 w 334"/>
              <a:gd name="T43" fmla="*/ 24 h 51"/>
              <a:gd name="T44" fmla="*/ 2 w 334"/>
              <a:gd name="T45" fmla="*/ 31 h 51"/>
              <a:gd name="T46" fmla="*/ 2 w 334"/>
              <a:gd name="T47" fmla="*/ 38 h 51"/>
              <a:gd name="T48" fmla="*/ 2 w 334"/>
              <a:gd name="T49" fmla="*/ 44 h 51"/>
              <a:gd name="T50" fmla="*/ 3 w 334"/>
              <a:gd name="T51" fmla="*/ 51 h 51"/>
              <a:gd name="T52" fmla="*/ 5 w 334"/>
              <a:gd name="T53" fmla="*/ 48 h 51"/>
              <a:gd name="T54" fmla="*/ 5 w 334"/>
              <a:gd name="T55" fmla="*/ 41 h 51"/>
              <a:gd name="T56" fmla="*/ 5 w 334"/>
              <a:gd name="T57" fmla="*/ 34 h 51"/>
              <a:gd name="T58" fmla="*/ 5 w 334"/>
              <a:gd name="T59" fmla="*/ 28 h 51"/>
              <a:gd name="T60" fmla="*/ 5 w 334"/>
              <a:gd name="T61" fmla="*/ 21 h 51"/>
              <a:gd name="T62" fmla="*/ 5 w 334"/>
              <a:gd name="T63" fmla="*/ 14 h 51"/>
              <a:gd name="T64" fmla="*/ 5 w 334"/>
              <a:gd name="T65" fmla="*/ 8 h 51"/>
              <a:gd name="T66" fmla="*/ 5 w 334"/>
              <a:gd name="T67" fmla="*/ 3 h 51"/>
              <a:gd name="T68" fmla="*/ 3 w 33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4" h="51">
                <a:moveTo>
                  <a:pt x="334" y="24"/>
                </a:moveTo>
                <a:lnTo>
                  <a:pt x="334" y="21"/>
                </a:lnTo>
                <a:lnTo>
                  <a:pt x="334" y="18"/>
                </a:lnTo>
                <a:lnTo>
                  <a:pt x="333" y="14"/>
                </a:lnTo>
                <a:lnTo>
                  <a:pt x="333" y="11"/>
                </a:lnTo>
                <a:lnTo>
                  <a:pt x="333" y="8"/>
                </a:lnTo>
                <a:lnTo>
                  <a:pt x="333" y="6"/>
                </a:lnTo>
                <a:lnTo>
                  <a:pt x="333" y="3"/>
                </a:lnTo>
                <a:lnTo>
                  <a:pt x="331" y="0"/>
                </a:lnTo>
                <a:lnTo>
                  <a:pt x="328" y="0"/>
                </a:lnTo>
                <a:lnTo>
                  <a:pt x="329" y="3"/>
                </a:lnTo>
                <a:lnTo>
                  <a:pt x="329" y="6"/>
                </a:lnTo>
                <a:lnTo>
                  <a:pt x="329" y="8"/>
                </a:lnTo>
                <a:lnTo>
                  <a:pt x="329" y="11"/>
                </a:lnTo>
                <a:lnTo>
                  <a:pt x="329" y="14"/>
                </a:lnTo>
                <a:lnTo>
                  <a:pt x="331" y="18"/>
                </a:lnTo>
                <a:lnTo>
                  <a:pt x="331" y="21"/>
                </a:lnTo>
                <a:lnTo>
                  <a:pt x="331" y="24"/>
                </a:lnTo>
                <a:lnTo>
                  <a:pt x="331" y="28"/>
                </a:lnTo>
                <a:lnTo>
                  <a:pt x="331" y="31"/>
                </a:lnTo>
                <a:lnTo>
                  <a:pt x="331" y="34"/>
                </a:lnTo>
                <a:lnTo>
                  <a:pt x="329" y="38"/>
                </a:lnTo>
                <a:lnTo>
                  <a:pt x="329" y="41"/>
                </a:lnTo>
                <a:lnTo>
                  <a:pt x="329" y="44"/>
                </a:lnTo>
                <a:lnTo>
                  <a:pt x="329" y="48"/>
                </a:lnTo>
                <a:lnTo>
                  <a:pt x="329" y="51"/>
                </a:lnTo>
                <a:lnTo>
                  <a:pt x="333" y="51"/>
                </a:lnTo>
                <a:lnTo>
                  <a:pt x="333" y="48"/>
                </a:lnTo>
                <a:lnTo>
                  <a:pt x="333" y="44"/>
                </a:lnTo>
                <a:lnTo>
                  <a:pt x="333" y="41"/>
                </a:lnTo>
                <a:lnTo>
                  <a:pt x="333" y="38"/>
                </a:lnTo>
                <a:lnTo>
                  <a:pt x="334" y="34"/>
                </a:lnTo>
                <a:lnTo>
                  <a:pt x="334" y="31"/>
                </a:lnTo>
                <a:lnTo>
                  <a:pt x="334" y="28"/>
                </a:lnTo>
                <a:lnTo>
                  <a:pt x="334" y="24"/>
                </a:lnTo>
                <a:close/>
                <a:moveTo>
                  <a:pt x="3" y="0"/>
                </a:moveTo>
                <a:lnTo>
                  <a:pt x="2" y="3"/>
                </a:lnTo>
                <a:lnTo>
                  <a:pt x="2" y="6"/>
                </a:lnTo>
                <a:lnTo>
                  <a:pt x="2" y="8"/>
                </a:lnTo>
                <a:lnTo>
                  <a:pt x="2" y="11"/>
                </a:lnTo>
                <a:lnTo>
                  <a:pt x="2" y="14"/>
                </a:lnTo>
                <a:lnTo>
                  <a:pt x="2" y="18"/>
                </a:lnTo>
                <a:lnTo>
                  <a:pt x="2" y="21"/>
                </a:lnTo>
                <a:lnTo>
                  <a:pt x="0" y="24"/>
                </a:lnTo>
                <a:lnTo>
                  <a:pt x="2"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5" y="28"/>
                </a:lnTo>
                <a:lnTo>
                  <a:pt x="3" y="24"/>
                </a:lnTo>
                <a:lnTo>
                  <a:pt x="5" y="21"/>
                </a:lnTo>
                <a:lnTo>
                  <a:pt x="5" y="18"/>
                </a:lnTo>
                <a:lnTo>
                  <a:pt x="5" y="14"/>
                </a:lnTo>
                <a:lnTo>
                  <a:pt x="5" y="11"/>
                </a:lnTo>
                <a:lnTo>
                  <a:pt x="5" y="8"/>
                </a:lnTo>
                <a:lnTo>
                  <a:pt x="5" y="6"/>
                </a:lnTo>
                <a:lnTo>
                  <a:pt x="5" y="3"/>
                </a:lnTo>
                <a:lnTo>
                  <a:pt x="7" y="0"/>
                </a:lnTo>
                <a:lnTo>
                  <a:pt x="3"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52" name="Freeform 1557">
            <a:extLst>
              <a:ext uri="{FF2B5EF4-FFF2-40B4-BE49-F238E27FC236}">
                <a16:creationId xmlns:a16="http://schemas.microsoft.com/office/drawing/2014/main" id="{8B58A1DE-833F-1CF6-9EE2-3CD00EB64BC5}"/>
              </a:ext>
            </a:extLst>
          </p:cNvPr>
          <p:cNvSpPr>
            <a:spLocks noEditPoints="1"/>
          </p:cNvSpPr>
          <p:nvPr/>
        </p:nvSpPr>
        <p:spPr bwMode="auto">
          <a:xfrm>
            <a:off x="2295525" y="2719388"/>
            <a:ext cx="525463" cy="80963"/>
          </a:xfrm>
          <a:custGeom>
            <a:avLst/>
            <a:gdLst>
              <a:gd name="T0" fmla="*/ 331 w 331"/>
              <a:gd name="T1" fmla="*/ 21 h 51"/>
              <a:gd name="T2" fmla="*/ 329 w 331"/>
              <a:gd name="T3" fmla="*/ 14 h 51"/>
              <a:gd name="T4" fmla="*/ 329 w 331"/>
              <a:gd name="T5" fmla="*/ 8 h 51"/>
              <a:gd name="T6" fmla="*/ 329 w 331"/>
              <a:gd name="T7" fmla="*/ 3 h 51"/>
              <a:gd name="T8" fmla="*/ 324 w 331"/>
              <a:gd name="T9" fmla="*/ 0 h 51"/>
              <a:gd name="T10" fmla="*/ 326 w 331"/>
              <a:gd name="T11" fmla="*/ 6 h 51"/>
              <a:gd name="T12" fmla="*/ 326 w 331"/>
              <a:gd name="T13" fmla="*/ 11 h 51"/>
              <a:gd name="T14" fmla="*/ 327 w 331"/>
              <a:gd name="T15" fmla="*/ 18 h 51"/>
              <a:gd name="T16" fmla="*/ 327 w 331"/>
              <a:gd name="T17" fmla="*/ 24 h 51"/>
              <a:gd name="T18" fmla="*/ 327 w 331"/>
              <a:gd name="T19" fmla="*/ 31 h 51"/>
              <a:gd name="T20" fmla="*/ 326 w 331"/>
              <a:gd name="T21" fmla="*/ 38 h 51"/>
              <a:gd name="T22" fmla="*/ 326 w 331"/>
              <a:gd name="T23" fmla="*/ 44 h 51"/>
              <a:gd name="T24" fmla="*/ 326 w 331"/>
              <a:gd name="T25" fmla="*/ 51 h 51"/>
              <a:gd name="T26" fmla="*/ 329 w 331"/>
              <a:gd name="T27" fmla="*/ 48 h 51"/>
              <a:gd name="T28" fmla="*/ 329 w 331"/>
              <a:gd name="T29" fmla="*/ 41 h 51"/>
              <a:gd name="T30" fmla="*/ 331 w 331"/>
              <a:gd name="T31" fmla="*/ 34 h 51"/>
              <a:gd name="T32" fmla="*/ 331 w 331"/>
              <a:gd name="T33" fmla="*/ 28 h 51"/>
              <a:gd name="T34" fmla="*/ 3 w 331"/>
              <a:gd name="T35" fmla="*/ 0 h 51"/>
              <a:gd name="T36" fmla="*/ 1 w 331"/>
              <a:gd name="T37" fmla="*/ 6 h 51"/>
              <a:gd name="T38" fmla="*/ 1 w 331"/>
              <a:gd name="T39" fmla="*/ 11 h 51"/>
              <a:gd name="T40" fmla="*/ 1 w 331"/>
              <a:gd name="T41" fmla="*/ 18 h 51"/>
              <a:gd name="T42" fmla="*/ 0 w 331"/>
              <a:gd name="T43" fmla="*/ 24 h 51"/>
              <a:gd name="T44" fmla="*/ 1 w 331"/>
              <a:gd name="T45" fmla="*/ 31 h 51"/>
              <a:gd name="T46" fmla="*/ 1 w 331"/>
              <a:gd name="T47" fmla="*/ 38 h 51"/>
              <a:gd name="T48" fmla="*/ 1 w 331"/>
              <a:gd name="T49" fmla="*/ 44 h 51"/>
              <a:gd name="T50" fmla="*/ 3 w 331"/>
              <a:gd name="T51" fmla="*/ 51 h 51"/>
              <a:gd name="T52" fmla="*/ 5 w 331"/>
              <a:gd name="T53" fmla="*/ 48 h 51"/>
              <a:gd name="T54" fmla="*/ 5 w 331"/>
              <a:gd name="T55" fmla="*/ 41 h 51"/>
              <a:gd name="T56" fmla="*/ 5 w 331"/>
              <a:gd name="T57" fmla="*/ 34 h 51"/>
              <a:gd name="T58" fmla="*/ 5 w 331"/>
              <a:gd name="T59" fmla="*/ 28 h 51"/>
              <a:gd name="T60" fmla="*/ 5 w 331"/>
              <a:gd name="T61" fmla="*/ 21 h 51"/>
              <a:gd name="T62" fmla="*/ 5 w 331"/>
              <a:gd name="T63" fmla="*/ 14 h 51"/>
              <a:gd name="T64" fmla="*/ 5 w 331"/>
              <a:gd name="T65" fmla="*/ 8 h 51"/>
              <a:gd name="T66" fmla="*/ 5 w 331"/>
              <a:gd name="T67" fmla="*/ 3 h 51"/>
              <a:gd name="T68" fmla="*/ 3 w 331"/>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1" h="51">
                <a:moveTo>
                  <a:pt x="331" y="24"/>
                </a:moveTo>
                <a:lnTo>
                  <a:pt x="331" y="21"/>
                </a:lnTo>
                <a:lnTo>
                  <a:pt x="331" y="18"/>
                </a:lnTo>
                <a:lnTo>
                  <a:pt x="329" y="14"/>
                </a:lnTo>
                <a:lnTo>
                  <a:pt x="329" y="11"/>
                </a:lnTo>
                <a:lnTo>
                  <a:pt x="329" y="8"/>
                </a:lnTo>
                <a:lnTo>
                  <a:pt x="329" y="6"/>
                </a:lnTo>
                <a:lnTo>
                  <a:pt x="329" y="3"/>
                </a:lnTo>
                <a:lnTo>
                  <a:pt x="327" y="0"/>
                </a:lnTo>
                <a:lnTo>
                  <a:pt x="324" y="0"/>
                </a:lnTo>
                <a:lnTo>
                  <a:pt x="326" y="3"/>
                </a:lnTo>
                <a:lnTo>
                  <a:pt x="326" y="6"/>
                </a:lnTo>
                <a:lnTo>
                  <a:pt x="326" y="8"/>
                </a:lnTo>
                <a:lnTo>
                  <a:pt x="326" y="11"/>
                </a:lnTo>
                <a:lnTo>
                  <a:pt x="327" y="14"/>
                </a:lnTo>
                <a:lnTo>
                  <a:pt x="327" y="18"/>
                </a:lnTo>
                <a:lnTo>
                  <a:pt x="327" y="21"/>
                </a:lnTo>
                <a:lnTo>
                  <a:pt x="327" y="24"/>
                </a:lnTo>
                <a:lnTo>
                  <a:pt x="327" y="28"/>
                </a:lnTo>
                <a:lnTo>
                  <a:pt x="327" y="31"/>
                </a:lnTo>
                <a:lnTo>
                  <a:pt x="327" y="34"/>
                </a:lnTo>
                <a:lnTo>
                  <a:pt x="326" y="38"/>
                </a:lnTo>
                <a:lnTo>
                  <a:pt x="326" y="41"/>
                </a:lnTo>
                <a:lnTo>
                  <a:pt x="326" y="44"/>
                </a:lnTo>
                <a:lnTo>
                  <a:pt x="326" y="48"/>
                </a:lnTo>
                <a:lnTo>
                  <a:pt x="326" y="51"/>
                </a:lnTo>
                <a:lnTo>
                  <a:pt x="329" y="51"/>
                </a:lnTo>
                <a:lnTo>
                  <a:pt x="329" y="48"/>
                </a:lnTo>
                <a:lnTo>
                  <a:pt x="329" y="44"/>
                </a:lnTo>
                <a:lnTo>
                  <a:pt x="329" y="41"/>
                </a:lnTo>
                <a:lnTo>
                  <a:pt x="329" y="38"/>
                </a:lnTo>
                <a:lnTo>
                  <a:pt x="331" y="34"/>
                </a:lnTo>
                <a:lnTo>
                  <a:pt x="331" y="31"/>
                </a:lnTo>
                <a:lnTo>
                  <a:pt x="331" y="28"/>
                </a:lnTo>
                <a:lnTo>
                  <a:pt x="331" y="24"/>
                </a:lnTo>
                <a:close/>
                <a:moveTo>
                  <a:pt x="3" y="0"/>
                </a:moveTo>
                <a:lnTo>
                  <a:pt x="1" y="3"/>
                </a:lnTo>
                <a:lnTo>
                  <a:pt x="1" y="6"/>
                </a:lnTo>
                <a:lnTo>
                  <a:pt x="1" y="8"/>
                </a:lnTo>
                <a:lnTo>
                  <a:pt x="1" y="11"/>
                </a:lnTo>
                <a:lnTo>
                  <a:pt x="1" y="14"/>
                </a:lnTo>
                <a:lnTo>
                  <a:pt x="1" y="18"/>
                </a:lnTo>
                <a:lnTo>
                  <a:pt x="1" y="21"/>
                </a:lnTo>
                <a:lnTo>
                  <a:pt x="0" y="24"/>
                </a:lnTo>
                <a:lnTo>
                  <a:pt x="1"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5" y="28"/>
                </a:lnTo>
                <a:lnTo>
                  <a:pt x="3" y="24"/>
                </a:lnTo>
                <a:lnTo>
                  <a:pt x="5" y="21"/>
                </a:lnTo>
                <a:lnTo>
                  <a:pt x="5" y="18"/>
                </a:lnTo>
                <a:lnTo>
                  <a:pt x="5" y="14"/>
                </a:lnTo>
                <a:lnTo>
                  <a:pt x="5" y="11"/>
                </a:lnTo>
                <a:lnTo>
                  <a:pt x="5" y="8"/>
                </a:lnTo>
                <a:lnTo>
                  <a:pt x="5" y="6"/>
                </a:lnTo>
                <a:lnTo>
                  <a:pt x="5" y="3"/>
                </a:lnTo>
                <a:lnTo>
                  <a:pt x="6" y="0"/>
                </a:lnTo>
                <a:lnTo>
                  <a:pt x="3"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53" name="Freeform 1558">
            <a:extLst>
              <a:ext uri="{FF2B5EF4-FFF2-40B4-BE49-F238E27FC236}">
                <a16:creationId xmlns:a16="http://schemas.microsoft.com/office/drawing/2014/main" id="{B2090223-F7D1-2612-FFDB-01E672C6D78F}"/>
              </a:ext>
            </a:extLst>
          </p:cNvPr>
          <p:cNvSpPr>
            <a:spLocks noEditPoints="1"/>
          </p:cNvSpPr>
          <p:nvPr/>
        </p:nvSpPr>
        <p:spPr bwMode="auto">
          <a:xfrm>
            <a:off x="2297113" y="2719388"/>
            <a:ext cx="520700" cy="80963"/>
          </a:xfrm>
          <a:custGeom>
            <a:avLst/>
            <a:gdLst>
              <a:gd name="T0" fmla="*/ 328 w 328"/>
              <a:gd name="T1" fmla="*/ 21 h 51"/>
              <a:gd name="T2" fmla="*/ 326 w 328"/>
              <a:gd name="T3" fmla="*/ 14 h 51"/>
              <a:gd name="T4" fmla="*/ 326 w 328"/>
              <a:gd name="T5" fmla="*/ 8 h 51"/>
              <a:gd name="T6" fmla="*/ 326 w 328"/>
              <a:gd name="T7" fmla="*/ 3 h 51"/>
              <a:gd name="T8" fmla="*/ 322 w 328"/>
              <a:gd name="T9" fmla="*/ 0 h 51"/>
              <a:gd name="T10" fmla="*/ 323 w 328"/>
              <a:gd name="T11" fmla="*/ 6 h 51"/>
              <a:gd name="T12" fmla="*/ 323 w 328"/>
              <a:gd name="T13" fmla="*/ 11 h 51"/>
              <a:gd name="T14" fmla="*/ 325 w 328"/>
              <a:gd name="T15" fmla="*/ 18 h 51"/>
              <a:gd name="T16" fmla="*/ 325 w 328"/>
              <a:gd name="T17" fmla="*/ 24 h 51"/>
              <a:gd name="T18" fmla="*/ 325 w 328"/>
              <a:gd name="T19" fmla="*/ 31 h 51"/>
              <a:gd name="T20" fmla="*/ 323 w 328"/>
              <a:gd name="T21" fmla="*/ 38 h 51"/>
              <a:gd name="T22" fmla="*/ 323 w 328"/>
              <a:gd name="T23" fmla="*/ 44 h 51"/>
              <a:gd name="T24" fmla="*/ 323 w 328"/>
              <a:gd name="T25" fmla="*/ 51 h 51"/>
              <a:gd name="T26" fmla="*/ 326 w 328"/>
              <a:gd name="T27" fmla="*/ 48 h 51"/>
              <a:gd name="T28" fmla="*/ 326 w 328"/>
              <a:gd name="T29" fmla="*/ 41 h 51"/>
              <a:gd name="T30" fmla="*/ 328 w 328"/>
              <a:gd name="T31" fmla="*/ 34 h 51"/>
              <a:gd name="T32" fmla="*/ 328 w 328"/>
              <a:gd name="T33" fmla="*/ 28 h 51"/>
              <a:gd name="T34" fmla="*/ 4 w 328"/>
              <a:gd name="T35" fmla="*/ 0 h 51"/>
              <a:gd name="T36" fmla="*/ 2 w 328"/>
              <a:gd name="T37" fmla="*/ 6 h 51"/>
              <a:gd name="T38" fmla="*/ 2 w 328"/>
              <a:gd name="T39" fmla="*/ 11 h 51"/>
              <a:gd name="T40" fmla="*/ 2 w 328"/>
              <a:gd name="T41" fmla="*/ 18 h 51"/>
              <a:gd name="T42" fmla="*/ 0 w 328"/>
              <a:gd name="T43" fmla="*/ 24 h 51"/>
              <a:gd name="T44" fmla="*/ 2 w 328"/>
              <a:gd name="T45" fmla="*/ 31 h 51"/>
              <a:gd name="T46" fmla="*/ 2 w 328"/>
              <a:gd name="T47" fmla="*/ 38 h 51"/>
              <a:gd name="T48" fmla="*/ 2 w 328"/>
              <a:gd name="T49" fmla="*/ 44 h 51"/>
              <a:gd name="T50" fmla="*/ 4 w 328"/>
              <a:gd name="T51" fmla="*/ 51 h 51"/>
              <a:gd name="T52" fmla="*/ 5 w 328"/>
              <a:gd name="T53" fmla="*/ 48 h 51"/>
              <a:gd name="T54" fmla="*/ 5 w 328"/>
              <a:gd name="T55" fmla="*/ 41 h 51"/>
              <a:gd name="T56" fmla="*/ 5 w 328"/>
              <a:gd name="T57" fmla="*/ 34 h 51"/>
              <a:gd name="T58" fmla="*/ 5 w 328"/>
              <a:gd name="T59" fmla="*/ 28 h 51"/>
              <a:gd name="T60" fmla="*/ 5 w 328"/>
              <a:gd name="T61" fmla="*/ 21 h 51"/>
              <a:gd name="T62" fmla="*/ 5 w 328"/>
              <a:gd name="T63" fmla="*/ 14 h 51"/>
              <a:gd name="T64" fmla="*/ 5 w 328"/>
              <a:gd name="T65" fmla="*/ 8 h 51"/>
              <a:gd name="T66" fmla="*/ 5 w 328"/>
              <a:gd name="T67" fmla="*/ 3 h 51"/>
              <a:gd name="T68" fmla="*/ 4 w 32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8" h="51">
                <a:moveTo>
                  <a:pt x="328" y="24"/>
                </a:moveTo>
                <a:lnTo>
                  <a:pt x="328" y="21"/>
                </a:lnTo>
                <a:lnTo>
                  <a:pt x="328" y="18"/>
                </a:lnTo>
                <a:lnTo>
                  <a:pt x="326" y="14"/>
                </a:lnTo>
                <a:lnTo>
                  <a:pt x="326" y="11"/>
                </a:lnTo>
                <a:lnTo>
                  <a:pt x="326" y="8"/>
                </a:lnTo>
                <a:lnTo>
                  <a:pt x="326" y="6"/>
                </a:lnTo>
                <a:lnTo>
                  <a:pt x="326" y="3"/>
                </a:lnTo>
                <a:lnTo>
                  <a:pt x="325" y="0"/>
                </a:lnTo>
                <a:lnTo>
                  <a:pt x="322" y="0"/>
                </a:lnTo>
                <a:lnTo>
                  <a:pt x="323" y="3"/>
                </a:lnTo>
                <a:lnTo>
                  <a:pt x="323" y="6"/>
                </a:lnTo>
                <a:lnTo>
                  <a:pt x="323" y="8"/>
                </a:lnTo>
                <a:lnTo>
                  <a:pt x="323" y="11"/>
                </a:lnTo>
                <a:lnTo>
                  <a:pt x="325" y="14"/>
                </a:lnTo>
                <a:lnTo>
                  <a:pt x="325" y="18"/>
                </a:lnTo>
                <a:lnTo>
                  <a:pt x="325" y="21"/>
                </a:lnTo>
                <a:lnTo>
                  <a:pt x="325" y="24"/>
                </a:lnTo>
                <a:lnTo>
                  <a:pt x="325" y="28"/>
                </a:lnTo>
                <a:lnTo>
                  <a:pt x="325" y="31"/>
                </a:lnTo>
                <a:lnTo>
                  <a:pt x="325" y="34"/>
                </a:lnTo>
                <a:lnTo>
                  <a:pt x="323" y="38"/>
                </a:lnTo>
                <a:lnTo>
                  <a:pt x="323" y="41"/>
                </a:lnTo>
                <a:lnTo>
                  <a:pt x="323" y="44"/>
                </a:lnTo>
                <a:lnTo>
                  <a:pt x="323" y="48"/>
                </a:lnTo>
                <a:lnTo>
                  <a:pt x="323" y="51"/>
                </a:lnTo>
                <a:lnTo>
                  <a:pt x="326" y="51"/>
                </a:lnTo>
                <a:lnTo>
                  <a:pt x="326" y="48"/>
                </a:lnTo>
                <a:lnTo>
                  <a:pt x="326" y="44"/>
                </a:lnTo>
                <a:lnTo>
                  <a:pt x="326" y="41"/>
                </a:lnTo>
                <a:lnTo>
                  <a:pt x="326" y="38"/>
                </a:lnTo>
                <a:lnTo>
                  <a:pt x="328" y="34"/>
                </a:lnTo>
                <a:lnTo>
                  <a:pt x="328" y="31"/>
                </a:lnTo>
                <a:lnTo>
                  <a:pt x="328" y="28"/>
                </a:lnTo>
                <a:lnTo>
                  <a:pt x="328" y="24"/>
                </a:lnTo>
                <a:close/>
                <a:moveTo>
                  <a:pt x="4" y="0"/>
                </a:moveTo>
                <a:lnTo>
                  <a:pt x="2" y="3"/>
                </a:lnTo>
                <a:lnTo>
                  <a:pt x="2" y="6"/>
                </a:lnTo>
                <a:lnTo>
                  <a:pt x="2" y="8"/>
                </a:lnTo>
                <a:lnTo>
                  <a:pt x="2" y="11"/>
                </a:lnTo>
                <a:lnTo>
                  <a:pt x="2" y="14"/>
                </a:lnTo>
                <a:lnTo>
                  <a:pt x="2" y="18"/>
                </a:lnTo>
                <a:lnTo>
                  <a:pt x="2" y="21"/>
                </a:lnTo>
                <a:lnTo>
                  <a:pt x="0" y="24"/>
                </a:lnTo>
                <a:lnTo>
                  <a:pt x="2"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5" y="28"/>
                </a:lnTo>
                <a:lnTo>
                  <a:pt x="4" y="24"/>
                </a:lnTo>
                <a:lnTo>
                  <a:pt x="5" y="21"/>
                </a:lnTo>
                <a:lnTo>
                  <a:pt x="5" y="18"/>
                </a:lnTo>
                <a:lnTo>
                  <a:pt x="5" y="14"/>
                </a:lnTo>
                <a:lnTo>
                  <a:pt x="5" y="11"/>
                </a:lnTo>
                <a:lnTo>
                  <a:pt x="5" y="8"/>
                </a:lnTo>
                <a:lnTo>
                  <a:pt x="5" y="6"/>
                </a:lnTo>
                <a:lnTo>
                  <a:pt x="5" y="3"/>
                </a:lnTo>
                <a:lnTo>
                  <a:pt x="7" y="0"/>
                </a:lnTo>
                <a:lnTo>
                  <a:pt x="4"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54" name="Freeform 1559">
            <a:extLst>
              <a:ext uri="{FF2B5EF4-FFF2-40B4-BE49-F238E27FC236}">
                <a16:creationId xmlns:a16="http://schemas.microsoft.com/office/drawing/2014/main" id="{D2DC2A79-5399-7A69-6D5B-BF777CDCFCF6}"/>
              </a:ext>
            </a:extLst>
          </p:cNvPr>
          <p:cNvSpPr>
            <a:spLocks noEditPoints="1"/>
          </p:cNvSpPr>
          <p:nvPr/>
        </p:nvSpPr>
        <p:spPr bwMode="auto">
          <a:xfrm>
            <a:off x="2300288" y="2719388"/>
            <a:ext cx="514350" cy="80963"/>
          </a:xfrm>
          <a:custGeom>
            <a:avLst/>
            <a:gdLst>
              <a:gd name="T0" fmla="*/ 324 w 324"/>
              <a:gd name="T1" fmla="*/ 21 h 51"/>
              <a:gd name="T2" fmla="*/ 323 w 324"/>
              <a:gd name="T3" fmla="*/ 14 h 51"/>
              <a:gd name="T4" fmla="*/ 323 w 324"/>
              <a:gd name="T5" fmla="*/ 8 h 51"/>
              <a:gd name="T6" fmla="*/ 323 w 324"/>
              <a:gd name="T7" fmla="*/ 3 h 51"/>
              <a:gd name="T8" fmla="*/ 318 w 324"/>
              <a:gd name="T9" fmla="*/ 0 h 51"/>
              <a:gd name="T10" fmla="*/ 320 w 324"/>
              <a:gd name="T11" fmla="*/ 6 h 51"/>
              <a:gd name="T12" fmla="*/ 320 w 324"/>
              <a:gd name="T13" fmla="*/ 11 h 51"/>
              <a:gd name="T14" fmla="*/ 321 w 324"/>
              <a:gd name="T15" fmla="*/ 18 h 51"/>
              <a:gd name="T16" fmla="*/ 321 w 324"/>
              <a:gd name="T17" fmla="*/ 24 h 51"/>
              <a:gd name="T18" fmla="*/ 321 w 324"/>
              <a:gd name="T19" fmla="*/ 31 h 51"/>
              <a:gd name="T20" fmla="*/ 320 w 324"/>
              <a:gd name="T21" fmla="*/ 38 h 51"/>
              <a:gd name="T22" fmla="*/ 320 w 324"/>
              <a:gd name="T23" fmla="*/ 44 h 51"/>
              <a:gd name="T24" fmla="*/ 318 w 324"/>
              <a:gd name="T25" fmla="*/ 51 h 51"/>
              <a:gd name="T26" fmla="*/ 323 w 324"/>
              <a:gd name="T27" fmla="*/ 48 h 51"/>
              <a:gd name="T28" fmla="*/ 323 w 324"/>
              <a:gd name="T29" fmla="*/ 41 h 51"/>
              <a:gd name="T30" fmla="*/ 324 w 324"/>
              <a:gd name="T31" fmla="*/ 34 h 51"/>
              <a:gd name="T32" fmla="*/ 324 w 324"/>
              <a:gd name="T33" fmla="*/ 28 h 51"/>
              <a:gd name="T34" fmla="*/ 3 w 324"/>
              <a:gd name="T35" fmla="*/ 0 h 51"/>
              <a:gd name="T36" fmla="*/ 2 w 324"/>
              <a:gd name="T37" fmla="*/ 6 h 51"/>
              <a:gd name="T38" fmla="*/ 2 w 324"/>
              <a:gd name="T39" fmla="*/ 11 h 51"/>
              <a:gd name="T40" fmla="*/ 2 w 324"/>
              <a:gd name="T41" fmla="*/ 18 h 51"/>
              <a:gd name="T42" fmla="*/ 0 w 324"/>
              <a:gd name="T43" fmla="*/ 24 h 51"/>
              <a:gd name="T44" fmla="*/ 2 w 324"/>
              <a:gd name="T45" fmla="*/ 31 h 51"/>
              <a:gd name="T46" fmla="*/ 2 w 324"/>
              <a:gd name="T47" fmla="*/ 38 h 51"/>
              <a:gd name="T48" fmla="*/ 2 w 324"/>
              <a:gd name="T49" fmla="*/ 44 h 51"/>
              <a:gd name="T50" fmla="*/ 3 w 324"/>
              <a:gd name="T51" fmla="*/ 51 h 51"/>
              <a:gd name="T52" fmla="*/ 5 w 324"/>
              <a:gd name="T53" fmla="*/ 48 h 51"/>
              <a:gd name="T54" fmla="*/ 5 w 324"/>
              <a:gd name="T55" fmla="*/ 41 h 51"/>
              <a:gd name="T56" fmla="*/ 5 w 324"/>
              <a:gd name="T57" fmla="*/ 34 h 51"/>
              <a:gd name="T58" fmla="*/ 3 w 324"/>
              <a:gd name="T59" fmla="*/ 28 h 51"/>
              <a:gd name="T60" fmla="*/ 3 w 324"/>
              <a:gd name="T61" fmla="*/ 21 h 51"/>
              <a:gd name="T62" fmla="*/ 5 w 324"/>
              <a:gd name="T63" fmla="*/ 14 h 51"/>
              <a:gd name="T64" fmla="*/ 5 w 324"/>
              <a:gd name="T65" fmla="*/ 8 h 51"/>
              <a:gd name="T66" fmla="*/ 5 w 324"/>
              <a:gd name="T67" fmla="*/ 3 h 51"/>
              <a:gd name="T68" fmla="*/ 3 w 32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4" h="51">
                <a:moveTo>
                  <a:pt x="324" y="24"/>
                </a:moveTo>
                <a:lnTo>
                  <a:pt x="324" y="21"/>
                </a:lnTo>
                <a:lnTo>
                  <a:pt x="324" y="18"/>
                </a:lnTo>
                <a:lnTo>
                  <a:pt x="323" y="14"/>
                </a:lnTo>
                <a:lnTo>
                  <a:pt x="323" y="11"/>
                </a:lnTo>
                <a:lnTo>
                  <a:pt x="323" y="8"/>
                </a:lnTo>
                <a:lnTo>
                  <a:pt x="323" y="6"/>
                </a:lnTo>
                <a:lnTo>
                  <a:pt x="323" y="3"/>
                </a:lnTo>
                <a:lnTo>
                  <a:pt x="321" y="0"/>
                </a:lnTo>
                <a:lnTo>
                  <a:pt x="318" y="0"/>
                </a:lnTo>
                <a:lnTo>
                  <a:pt x="320" y="3"/>
                </a:lnTo>
                <a:lnTo>
                  <a:pt x="320" y="6"/>
                </a:lnTo>
                <a:lnTo>
                  <a:pt x="320" y="8"/>
                </a:lnTo>
                <a:lnTo>
                  <a:pt x="320" y="11"/>
                </a:lnTo>
                <a:lnTo>
                  <a:pt x="321" y="14"/>
                </a:lnTo>
                <a:lnTo>
                  <a:pt x="321" y="18"/>
                </a:lnTo>
                <a:lnTo>
                  <a:pt x="321" y="21"/>
                </a:lnTo>
                <a:lnTo>
                  <a:pt x="321" y="24"/>
                </a:lnTo>
                <a:lnTo>
                  <a:pt x="321" y="28"/>
                </a:lnTo>
                <a:lnTo>
                  <a:pt x="321" y="31"/>
                </a:lnTo>
                <a:lnTo>
                  <a:pt x="321" y="34"/>
                </a:lnTo>
                <a:lnTo>
                  <a:pt x="320" y="38"/>
                </a:lnTo>
                <a:lnTo>
                  <a:pt x="320" y="41"/>
                </a:lnTo>
                <a:lnTo>
                  <a:pt x="320" y="44"/>
                </a:lnTo>
                <a:lnTo>
                  <a:pt x="320" y="48"/>
                </a:lnTo>
                <a:lnTo>
                  <a:pt x="318" y="51"/>
                </a:lnTo>
                <a:lnTo>
                  <a:pt x="323" y="51"/>
                </a:lnTo>
                <a:lnTo>
                  <a:pt x="323" y="48"/>
                </a:lnTo>
                <a:lnTo>
                  <a:pt x="323" y="44"/>
                </a:lnTo>
                <a:lnTo>
                  <a:pt x="323" y="41"/>
                </a:lnTo>
                <a:lnTo>
                  <a:pt x="323" y="38"/>
                </a:lnTo>
                <a:lnTo>
                  <a:pt x="324" y="34"/>
                </a:lnTo>
                <a:lnTo>
                  <a:pt x="324" y="31"/>
                </a:lnTo>
                <a:lnTo>
                  <a:pt x="324" y="28"/>
                </a:lnTo>
                <a:lnTo>
                  <a:pt x="324" y="24"/>
                </a:lnTo>
                <a:close/>
                <a:moveTo>
                  <a:pt x="3" y="0"/>
                </a:moveTo>
                <a:lnTo>
                  <a:pt x="2" y="3"/>
                </a:lnTo>
                <a:lnTo>
                  <a:pt x="2" y="6"/>
                </a:lnTo>
                <a:lnTo>
                  <a:pt x="2" y="8"/>
                </a:lnTo>
                <a:lnTo>
                  <a:pt x="2" y="11"/>
                </a:lnTo>
                <a:lnTo>
                  <a:pt x="2" y="14"/>
                </a:lnTo>
                <a:lnTo>
                  <a:pt x="2" y="18"/>
                </a:lnTo>
                <a:lnTo>
                  <a:pt x="2" y="21"/>
                </a:lnTo>
                <a:lnTo>
                  <a:pt x="0" y="24"/>
                </a:lnTo>
                <a:lnTo>
                  <a:pt x="2"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5" y="3"/>
                </a:lnTo>
                <a:lnTo>
                  <a:pt x="7" y="0"/>
                </a:lnTo>
                <a:lnTo>
                  <a:pt x="3"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55" name="Freeform 1560">
            <a:extLst>
              <a:ext uri="{FF2B5EF4-FFF2-40B4-BE49-F238E27FC236}">
                <a16:creationId xmlns:a16="http://schemas.microsoft.com/office/drawing/2014/main" id="{E6DA909D-A793-6070-0E16-CEC93BE010F4}"/>
              </a:ext>
            </a:extLst>
          </p:cNvPr>
          <p:cNvSpPr>
            <a:spLocks noEditPoints="1"/>
          </p:cNvSpPr>
          <p:nvPr/>
        </p:nvSpPr>
        <p:spPr bwMode="auto">
          <a:xfrm>
            <a:off x="2303463" y="2719388"/>
            <a:ext cx="509588" cy="80963"/>
          </a:xfrm>
          <a:custGeom>
            <a:avLst/>
            <a:gdLst>
              <a:gd name="T0" fmla="*/ 321 w 321"/>
              <a:gd name="T1" fmla="*/ 21 h 51"/>
              <a:gd name="T2" fmla="*/ 321 w 321"/>
              <a:gd name="T3" fmla="*/ 14 h 51"/>
              <a:gd name="T4" fmla="*/ 319 w 321"/>
              <a:gd name="T5" fmla="*/ 8 h 51"/>
              <a:gd name="T6" fmla="*/ 319 w 321"/>
              <a:gd name="T7" fmla="*/ 3 h 51"/>
              <a:gd name="T8" fmla="*/ 314 w 321"/>
              <a:gd name="T9" fmla="*/ 0 h 51"/>
              <a:gd name="T10" fmla="*/ 316 w 321"/>
              <a:gd name="T11" fmla="*/ 6 h 51"/>
              <a:gd name="T12" fmla="*/ 316 w 321"/>
              <a:gd name="T13" fmla="*/ 11 h 51"/>
              <a:gd name="T14" fmla="*/ 318 w 321"/>
              <a:gd name="T15" fmla="*/ 18 h 51"/>
              <a:gd name="T16" fmla="*/ 318 w 321"/>
              <a:gd name="T17" fmla="*/ 24 h 51"/>
              <a:gd name="T18" fmla="*/ 318 w 321"/>
              <a:gd name="T19" fmla="*/ 31 h 51"/>
              <a:gd name="T20" fmla="*/ 316 w 321"/>
              <a:gd name="T21" fmla="*/ 38 h 51"/>
              <a:gd name="T22" fmla="*/ 316 w 321"/>
              <a:gd name="T23" fmla="*/ 44 h 51"/>
              <a:gd name="T24" fmla="*/ 314 w 321"/>
              <a:gd name="T25" fmla="*/ 51 h 51"/>
              <a:gd name="T26" fmla="*/ 319 w 321"/>
              <a:gd name="T27" fmla="*/ 48 h 51"/>
              <a:gd name="T28" fmla="*/ 319 w 321"/>
              <a:gd name="T29" fmla="*/ 41 h 51"/>
              <a:gd name="T30" fmla="*/ 321 w 321"/>
              <a:gd name="T31" fmla="*/ 34 h 51"/>
              <a:gd name="T32" fmla="*/ 321 w 321"/>
              <a:gd name="T33" fmla="*/ 28 h 51"/>
              <a:gd name="T34" fmla="*/ 3 w 321"/>
              <a:gd name="T35" fmla="*/ 0 h 51"/>
              <a:gd name="T36" fmla="*/ 1 w 321"/>
              <a:gd name="T37" fmla="*/ 6 h 51"/>
              <a:gd name="T38" fmla="*/ 1 w 321"/>
              <a:gd name="T39" fmla="*/ 11 h 51"/>
              <a:gd name="T40" fmla="*/ 1 w 321"/>
              <a:gd name="T41" fmla="*/ 18 h 51"/>
              <a:gd name="T42" fmla="*/ 0 w 321"/>
              <a:gd name="T43" fmla="*/ 24 h 51"/>
              <a:gd name="T44" fmla="*/ 1 w 321"/>
              <a:gd name="T45" fmla="*/ 31 h 51"/>
              <a:gd name="T46" fmla="*/ 1 w 321"/>
              <a:gd name="T47" fmla="*/ 38 h 51"/>
              <a:gd name="T48" fmla="*/ 1 w 321"/>
              <a:gd name="T49" fmla="*/ 44 h 51"/>
              <a:gd name="T50" fmla="*/ 3 w 321"/>
              <a:gd name="T51" fmla="*/ 51 h 51"/>
              <a:gd name="T52" fmla="*/ 5 w 321"/>
              <a:gd name="T53" fmla="*/ 48 h 51"/>
              <a:gd name="T54" fmla="*/ 5 w 321"/>
              <a:gd name="T55" fmla="*/ 41 h 51"/>
              <a:gd name="T56" fmla="*/ 5 w 321"/>
              <a:gd name="T57" fmla="*/ 34 h 51"/>
              <a:gd name="T58" fmla="*/ 3 w 321"/>
              <a:gd name="T59" fmla="*/ 28 h 51"/>
              <a:gd name="T60" fmla="*/ 3 w 321"/>
              <a:gd name="T61" fmla="*/ 21 h 51"/>
              <a:gd name="T62" fmla="*/ 5 w 321"/>
              <a:gd name="T63" fmla="*/ 14 h 51"/>
              <a:gd name="T64" fmla="*/ 5 w 321"/>
              <a:gd name="T65" fmla="*/ 8 h 51"/>
              <a:gd name="T66" fmla="*/ 5 w 321"/>
              <a:gd name="T67" fmla="*/ 3 h 51"/>
              <a:gd name="T68" fmla="*/ 3 w 321"/>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1" h="51">
                <a:moveTo>
                  <a:pt x="321" y="24"/>
                </a:moveTo>
                <a:lnTo>
                  <a:pt x="321" y="21"/>
                </a:lnTo>
                <a:lnTo>
                  <a:pt x="321" y="18"/>
                </a:lnTo>
                <a:lnTo>
                  <a:pt x="321" y="14"/>
                </a:lnTo>
                <a:lnTo>
                  <a:pt x="319" y="11"/>
                </a:lnTo>
                <a:lnTo>
                  <a:pt x="319" y="8"/>
                </a:lnTo>
                <a:lnTo>
                  <a:pt x="319" y="6"/>
                </a:lnTo>
                <a:lnTo>
                  <a:pt x="319" y="3"/>
                </a:lnTo>
                <a:lnTo>
                  <a:pt x="318" y="0"/>
                </a:lnTo>
                <a:lnTo>
                  <a:pt x="314" y="0"/>
                </a:lnTo>
                <a:lnTo>
                  <a:pt x="316" y="3"/>
                </a:lnTo>
                <a:lnTo>
                  <a:pt x="316" y="6"/>
                </a:lnTo>
                <a:lnTo>
                  <a:pt x="316" y="8"/>
                </a:lnTo>
                <a:lnTo>
                  <a:pt x="316" y="11"/>
                </a:lnTo>
                <a:lnTo>
                  <a:pt x="318" y="14"/>
                </a:lnTo>
                <a:lnTo>
                  <a:pt x="318" y="18"/>
                </a:lnTo>
                <a:lnTo>
                  <a:pt x="318" y="21"/>
                </a:lnTo>
                <a:lnTo>
                  <a:pt x="318" y="24"/>
                </a:lnTo>
                <a:lnTo>
                  <a:pt x="318" y="28"/>
                </a:lnTo>
                <a:lnTo>
                  <a:pt x="318" y="31"/>
                </a:lnTo>
                <a:lnTo>
                  <a:pt x="318" y="34"/>
                </a:lnTo>
                <a:lnTo>
                  <a:pt x="316" y="38"/>
                </a:lnTo>
                <a:lnTo>
                  <a:pt x="316" y="41"/>
                </a:lnTo>
                <a:lnTo>
                  <a:pt x="316" y="44"/>
                </a:lnTo>
                <a:lnTo>
                  <a:pt x="316" y="48"/>
                </a:lnTo>
                <a:lnTo>
                  <a:pt x="314" y="51"/>
                </a:lnTo>
                <a:lnTo>
                  <a:pt x="319" y="51"/>
                </a:lnTo>
                <a:lnTo>
                  <a:pt x="319" y="48"/>
                </a:lnTo>
                <a:lnTo>
                  <a:pt x="319" y="44"/>
                </a:lnTo>
                <a:lnTo>
                  <a:pt x="319" y="41"/>
                </a:lnTo>
                <a:lnTo>
                  <a:pt x="319" y="38"/>
                </a:lnTo>
                <a:lnTo>
                  <a:pt x="321" y="34"/>
                </a:lnTo>
                <a:lnTo>
                  <a:pt x="321" y="31"/>
                </a:lnTo>
                <a:lnTo>
                  <a:pt x="321" y="28"/>
                </a:lnTo>
                <a:lnTo>
                  <a:pt x="321" y="24"/>
                </a:lnTo>
                <a:close/>
                <a:moveTo>
                  <a:pt x="3" y="0"/>
                </a:moveTo>
                <a:lnTo>
                  <a:pt x="1" y="3"/>
                </a:lnTo>
                <a:lnTo>
                  <a:pt x="1" y="6"/>
                </a:lnTo>
                <a:lnTo>
                  <a:pt x="1" y="8"/>
                </a:lnTo>
                <a:lnTo>
                  <a:pt x="1" y="11"/>
                </a:lnTo>
                <a:lnTo>
                  <a:pt x="1" y="14"/>
                </a:lnTo>
                <a:lnTo>
                  <a:pt x="1" y="18"/>
                </a:lnTo>
                <a:lnTo>
                  <a:pt x="1" y="21"/>
                </a:lnTo>
                <a:lnTo>
                  <a:pt x="0" y="24"/>
                </a:lnTo>
                <a:lnTo>
                  <a:pt x="1"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5" y="3"/>
                </a:lnTo>
                <a:lnTo>
                  <a:pt x="6" y="0"/>
                </a:lnTo>
                <a:lnTo>
                  <a:pt x="3"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56" name="Freeform 1561">
            <a:extLst>
              <a:ext uri="{FF2B5EF4-FFF2-40B4-BE49-F238E27FC236}">
                <a16:creationId xmlns:a16="http://schemas.microsoft.com/office/drawing/2014/main" id="{104F564D-B873-1F79-46C9-9221055A0177}"/>
              </a:ext>
            </a:extLst>
          </p:cNvPr>
          <p:cNvSpPr>
            <a:spLocks noEditPoints="1"/>
          </p:cNvSpPr>
          <p:nvPr/>
        </p:nvSpPr>
        <p:spPr bwMode="auto">
          <a:xfrm>
            <a:off x="2305050" y="2719388"/>
            <a:ext cx="504825" cy="80963"/>
          </a:xfrm>
          <a:custGeom>
            <a:avLst/>
            <a:gdLst>
              <a:gd name="T0" fmla="*/ 318 w 318"/>
              <a:gd name="T1" fmla="*/ 21 h 51"/>
              <a:gd name="T2" fmla="*/ 318 w 318"/>
              <a:gd name="T3" fmla="*/ 14 h 51"/>
              <a:gd name="T4" fmla="*/ 317 w 318"/>
              <a:gd name="T5" fmla="*/ 8 h 51"/>
              <a:gd name="T6" fmla="*/ 317 w 318"/>
              <a:gd name="T7" fmla="*/ 3 h 51"/>
              <a:gd name="T8" fmla="*/ 312 w 318"/>
              <a:gd name="T9" fmla="*/ 0 h 51"/>
              <a:gd name="T10" fmla="*/ 313 w 318"/>
              <a:gd name="T11" fmla="*/ 6 h 51"/>
              <a:gd name="T12" fmla="*/ 313 w 318"/>
              <a:gd name="T13" fmla="*/ 11 h 51"/>
              <a:gd name="T14" fmla="*/ 315 w 318"/>
              <a:gd name="T15" fmla="*/ 18 h 51"/>
              <a:gd name="T16" fmla="*/ 315 w 318"/>
              <a:gd name="T17" fmla="*/ 24 h 51"/>
              <a:gd name="T18" fmla="*/ 315 w 318"/>
              <a:gd name="T19" fmla="*/ 31 h 51"/>
              <a:gd name="T20" fmla="*/ 313 w 318"/>
              <a:gd name="T21" fmla="*/ 38 h 51"/>
              <a:gd name="T22" fmla="*/ 313 w 318"/>
              <a:gd name="T23" fmla="*/ 44 h 51"/>
              <a:gd name="T24" fmla="*/ 312 w 318"/>
              <a:gd name="T25" fmla="*/ 51 h 51"/>
              <a:gd name="T26" fmla="*/ 317 w 318"/>
              <a:gd name="T27" fmla="*/ 48 h 51"/>
              <a:gd name="T28" fmla="*/ 317 w 318"/>
              <a:gd name="T29" fmla="*/ 41 h 51"/>
              <a:gd name="T30" fmla="*/ 318 w 318"/>
              <a:gd name="T31" fmla="*/ 34 h 51"/>
              <a:gd name="T32" fmla="*/ 318 w 318"/>
              <a:gd name="T33" fmla="*/ 28 h 51"/>
              <a:gd name="T34" fmla="*/ 4 w 318"/>
              <a:gd name="T35" fmla="*/ 0 h 51"/>
              <a:gd name="T36" fmla="*/ 2 w 318"/>
              <a:gd name="T37" fmla="*/ 6 h 51"/>
              <a:gd name="T38" fmla="*/ 2 w 318"/>
              <a:gd name="T39" fmla="*/ 11 h 51"/>
              <a:gd name="T40" fmla="*/ 2 w 318"/>
              <a:gd name="T41" fmla="*/ 18 h 51"/>
              <a:gd name="T42" fmla="*/ 0 w 318"/>
              <a:gd name="T43" fmla="*/ 24 h 51"/>
              <a:gd name="T44" fmla="*/ 2 w 318"/>
              <a:gd name="T45" fmla="*/ 31 h 51"/>
              <a:gd name="T46" fmla="*/ 2 w 318"/>
              <a:gd name="T47" fmla="*/ 38 h 51"/>
              <a:gd name="T48" fmla="*/ 2 w 318"/>
              <a:gd name="T49" fmla="*/ 44 h 51"/>
              <a:gd name="T50" fmla="*/ 4 w 318"/>
              <a:gd name="T51" fmla="*/ 51 h 51"/>
              <a:gd name="T52" fmla="*/ 5 w 318"/>
              <a:gd name="T53" fmla="*/ 48 h 51"/>
              <a:gd name="T54" fmla="*/ 5 w 318"/>
              <a:gd name="T55" fmla="*/ 41 h 51"/>
              <a:gd name="T56" fmla="*/ 5 w 318"/>
              <a:gd name="T57" fmla="*/ 34 h 51"/>
              <a:gd name="T58" fmla="*/ 4 w 318"/>
              <a:gd name="T59" fmla="*/ 28 h 51"/>
              <a:gd name="T60" fmla="*/ 4 w 318"/>
              <a:gd name="T61" fmla="*/ 21 h 51"/>
              <a:gd name="T62" fmla="*/ 5 w 318"/>
              <a:gd name="T63" fmla="*/ 14 h 51"/>
              <a:gd name="T64" fmla="*/ 5 w 318"/>
              <a:gd name="T65" fmla="*/ 8 h 51"/>
              <a:gd name="T66" fmla="*/ 5 w 318"/>
              <a:gd name="T67" fmla="*/ 3 h 51"/>
              <a:gd name="T68" fmla="*/ 4 w 31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8" h="51">
                <a:moveTo>
                  <a:pt x="318" y="24"/>
                </a:moveTo>
                <a:lnTo>
                  <a:pt x="318" y="21"/>
                </a:lnTo>
                <a:lnTo>
                  <a:pt x="318" y="18"/>
                </a:lnTo>
                <a:lnTo>
                  <a:pt x="318" y="14"/>
                </a:lnTo>
                <a:lnTo>
                  <a:pt x="317" y="11"/>
                </a:lnTo>
                <a:lnTo>
                  <a:pt x="317" y="8"/>
                </a:lnTo>
                <a:lnTo>
                  <a:pt x="317" y="6"/>
                </a:lnTo>
                <a:lnTo>
                  <a:pt x="317" y="3"/>
                </a:lnTo>
                <a:lnTo>
                  <a:pt x="315" y="0"/>
                </a:lnTo>
                <a:lnTo>
                  <a:pt x="312" y="0"/>
                </a:lnTo>
                <a:lnTo>
                  <a:pt x="313" y="3"/>
                </a:lnTo>
                <a:lnTo>
                  <a:pt x="313" y="6"/>
                </a:lnTo>
                <a:lnTo>
                  <a:pt x="313" y="8"/>
                </a:lnTo>
                <a:lnTo>
                  <a:pt x="313" y="11"/>
                </a:lnTo>
                <a:lnTo>
                  <a:pt x="315" y="14"/>
                </a:lnTo>
                <a:lnTo>
                  <a:pt x="315" y="18"/>
                </a:lnTo>
                <a:lnTo>
                  <a:pt x="315" y="21"/>
                </a:lnTo>
                <a:lnTo>
                  <a:pt x="315" y="24"/>
                </a:lnTo>
                <a:lnTo>
                  <a:pt x="315" y="28"/>
                </a:lnTo>
                <a:lnTo>
                  <a:pt x="315" y="31"/>
                </a:lnTo>
                <a:lnTo>
                  <a:pt x="315" y="34"/>
                </a:lnTo>
                <a:lnTo>
                  <a:pt x="313" y="38"/>
                </a:lnTo>
                <a:lnTo>
                  <a:pt x="313" y="41"/>
                </a:lnTo>
                <a:lnTo>
                  <a:pt x="313" y="44"/>
                </a:lnTo>
                <a:lnTo>
                  <a:pt x="313" y="48"/>
                </a:lnTo>
                <a:lnTo>
                  <a:pt x="312" y="51"/>
                </a:lnTo>
                <a:lnTo>
                  <a:pt x="315" y="51"/>
                </a:lnTo>
                <a:lnTo>
                  <a:pt x="317" y="48"/>
                </a:lnTo>
                <a:lnTo>
                  <a:pt x="317" y="44"/>
                </a:lnTo>
                <a:lnTo>
                  <a:pt x="317" y="41"/>
                </a:lnTo>
                <a:lnTo>
                  <a:pt x="317" y="38"/>
                </a:lnTo>
                <a:lnTo>
                  <a:pt x="318" y="34"/>
                </a:lnTo>
                <a:lnTo>
                  <a:pt x="318" y="31"/>
                </a:lnTo>
                <a:lnTo>
                  <a:pt x="318" y="28"/>
                </a:lnTo>
                <a:lnTo>
                  <a:pt x="318" y="24"/>
                </a:lnTo>
                <a:close/>
                <a:moveTo>
                  <a:pt x="4" y="0"/>
                </a:moveTo>
                <a:lnTo>
                  <a:pt x="2"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6"/>
                </a:lnTo>
                <a:lnTo>
                  <a:pt x="5" y="3"/>
                </a:lnTo>
                <a:lnTo>
                  <a:pt x="7" y="0"/>
                </a:lnTo>
                <a:lnTo>
                  <a:pt x="4"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57" name="Freeform 1562">
            <a:extLst>
              <a:ext uri="{FF2B5EF4-FFF2-40B4-BE49-F238E27FC236}">
                <a16:creationId xmlns:a16="http://schemas.microsoft.com/office/drawing/2014/main" id="{E342DE6E-7A06-ED83-B5E4-2ED8FC254F72}"/>
              </a:ext>
            </a:extLst>
          </p:cNvPr>
          <p:cNvSpPr>
            <a:spLocks noEditPoints="1"/>
          </p:cNvSpPr>
          <p:nvPr/>
        </p:nvSpPr>
        <p:spPr bwMode="auto">
          <a:xfrm>
            <a:off x="2308225" y="2719388"/>
            <a:ext cx="500063" cy="80963"/>
          </a:xfrm>
          <a:custGeom>
            <a:avLst/>
            <a:gdLst>
              <a:gd name="T0" fmla="*/ 315 w 315"/>
              <a:gd name="T1" fmla="*/ 21 h 51"/>
              <a:gd name="T2" fmla="*/ 315 w 315"/>
              <a:gd name="T3" fmla="*/ 14 h 51"/>
              <a:gd name="T4" fmla="*/ 313 w 315"/>
              <a:gd name="T5" fmla="*/ 8 h 51"/>
              <a:gd name="T6" fmla="*/ 313 w 315"/>
              <a:gd name="T7" fmla="*/ 3 h 51"/>
              <a:gd name="T8" fmla="*/ 308 w 315"/>
              <a:gd name="T9" fmla="*/ 0 h 51"/>
              <a:gd name="T10" fmla="*/ 310 w 315"/>
              <a:gd name="T11" fmla="*/ 6 h 51"/>
              <a:gd name="T12" fmla="*/ 310 w 315"/>
              <a:gd name="T13" fmla="*/ 11 h 51"/>
              <a:gd name="T14" fmla="*/ 311 w 315"/>
              <a:gd name="T15" fmla="*/ 18 h 51"/>
              <a:gd name="T16" fmla="*/ 311 w 315"/>
              <a:gd name="T17" fmla="*/ 24 h 51"/>
              <a:gd name="T18" fmla="*/ 311 w 315"/>
              <a:gd name="T19" fmla="*/ 31 h 51"/>
              <a:gd name="T20" fmla="*/ 310 w 315"/>
              <a:gd name="T21" fmla="*/ 38 h 51"/>
              <a:gd name="T22" fmla="*/ 310 w 315"/>
              <a:gd name="T23" fmla="*/ 44 h 51"/>
              <a:gd name="T24" fmla="*/ 308 w 315"/>
              <a:gd name="T25" fmla="*/ 51 h 51"/>
              <a:gd name="T26" fmla="*/ 313 w 315"/>
              <a:gd name="T27" fmla="*/ 48 h 51"/>
              <a:gd name="T28" fmla="*/ 313 w 315"/>
              <a:gd name="T29" fmla="*/ 41 h 51"/>
              <a:gd name="T30" fmla="*/ 315 w 315"/>
              <a:gd name="T31" fmla="*/ 34 h 51"/>
              <a:gd name="T32" fmla="*/ 315 w 315"/>
              <a:gd name="T33" fmla="*/ 28 h 51"/>
              <a:gd name="T34" fmla="*/ 3 w 315"/>
              <a:gd name="T35" fmla="*/ 0 h 51"/>
              <a:gd name="T36" fmla="*/ 2 w 315"/>
              <a:gd name="T37" fmla="*/ 6 h 51"/>
              <a:gd name="T38" fmla="*/ 2 w 315"/>
              <a:gd name="T39" fmla="*/ 11 h 51"/>
              <a:gd name="T40" fmla="*/ 2 w 315"/>
              <a:gd name="T41" fmla="*/ 18 h 51"/>
              <a:gd name="T42" fmla="*/ 0 w 315"/>
              <a:gd name="T43" fmla="*/ 24 h 51"/>
              <a:gd name="T44" fmla="*/ 2 w 315"/>
              <a:gd name="T45" fmla="*/ 31 h 51"/>
              <a:gd name="T46" fmla="*/ 2 w 315"/>
              <a:gd name="T47" fmla="*/ 38 h 51"/>
              <a:gd name="T48" fmla="*/ 2 w 315"/>
              <a:gd name="T49" fmla="*/ 44 h 51"/>
              <a:gd name="T50" fmla="*/ 3 w 315"/>
              <a:gd name="T51" fmla="*/ 51 h 51"/>
              <a:gd name="T52" fmla="*/ 5 w 315"/>
              <a:gd name="T53" fmla="*/ 48 h 51"/>
              <a:gd name="T54" fmla="*/ 5 w 315"/>
              <a:gd name="T55" fmla="*/ 41 h 51"/>
              <a:gd name="T56" fmla="*/ 5 w 315"/>
              <a:gd name="T57" fmla="*/ 34 h 51"/>
              <a:gd name="T58" fmla="*/ 3 w 315"/>
              <a:gd name="T59" fmla="*/ 28 h 51"/>
              <a:gd name="T60" fmla="*/ 3 w 315"/>
              <a:gd name="T61" fmla="*/ 21 h 51"/>
              <a:gd name="T62" fmla="*/ 5 w 315"/>
              <a:gd name="T63" fmla="*/ 14 h 51"/>
              <a:gd name="T64" fmla="*/ 5 w 315"/>
              <a:gd name="T65" fmla="*/ 8 h 51"/>
              <a:gd name="T66" fmla="*/ 5 w 315"/>
              <a:gd name="T67" fmla="*/ 3 h 51"/>
              <a:gd name="T68" fmla="*/ 3 w 31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5" h="51">
                <a:moveTo>
                  <a:pt x="315" y="24"/>
                </a:moveTo>
                <a:lnTo>
                  <a:pt x="315" y="21"/>
                </a:lnTo>
                <a:lnTo>
                  <a:pt x="315" y="18"/>
                </a:lnTo>
                <a:lnTo>
                  <a:pt x="315" y="14"/>
                </a:lnTo>
                <a:lnTo>
                  <a:pt x="313" y="11"/>
                </a:lnTo>
                <a:lnTo>
                  <a:pt x="313" y="8"/>
                </a:lnTo>
                <a:lnTo>
                  <a:pt x="313" y="6"/>
                </a:lnTo>
                <a:lnTo>
                  <a:pt x="313" y="3"/>
                </a:lnTo>
                <a:lnTo>
                  <a:pt x="311" y="0"/>
                </a:lnTo>
                <a:lnTo>
                  <a:pt x="308" y="0"/>
                </a:lnTo>
                <a:lnTo>
                  <a:pt x="310" y="3"/>
                </a:lnTo>
                <a:lnTo>
                  <a:pt x="310" y="6"/>
                </a:lnTo>
                <a:lnTo>
                  <a:pt x="310" y="8"/>
                </a:lnTo>
                <a:lnTo>
                  <a:pt x="310" y="11"/>
                </a:lnTo>
                <a:lnTo>
                  <a:pt x="311" y="14"/>
                </a:lnTo>
                <a:lnTo>
                  <a:pt x="311" y="18"/>
                </a:lnTo>
                <a:lnTo>
                  <a:pt x="311" y="21"/>
                </a:lnTo>
                <a:lnTo>
                  <a:pt x="311" y="24"/>
                </a:lnTo>
                <a:lnTo>
                  <a:pt x="311" y="28"/>
                </a:lnTo>
                <a:lnTo>
                  <a:pt x="311" y="31"/>
                </a:lnTo>
                <a:lnTo>
                  <a:pt x="311" y="34"/>
                </a:lnTo>
                <a:lnTo>
                  <a:pt x="310" y="38"/>
                </a:lnTo>
                <a:lnTo>
                  <a:pt x="310" y="41"/>
                </a:lnTo>
                <a:lnTo>
                  <a:pt x="310" y="44"/>
                </a:lnTo>
                <a:lnTo>
                  <a:pt x="310" y="48"/>
                </a:lnTo>
                <a:lnTo>
                  <a:pt x="308" y="51"/>
                </a:lnTo>
                <a:lnTo>
                  <a:pt x="311" y="51"/>
                </a:lnTo>
                <a:lnTo>
                  <a:pt x="313" y="48"/>
                </a:lnTo>
                <a:lnTo>
                  <a:pt x="313" y="44"/>
                </a:lnTo>
                <a:lnTo>
                  <a:pt x="313" y="41"/>
                </a:lnTo>
                <a:lnTo>
                  <a:pt x="313" y="38"/>
                </a:lnTo>
                <a:lnTo>
                  <a:pt x="315" y="34"/>
                </a:lnTo>
                <a:lnTo>
                  <a:pt x="315" y="31"/>
                </a:lnTo>
                <a:lnTo>
                  <a:pt x="315" y="28"/>
                </a:lnTo>
                <a:lnTo>
                  <a:pt x="315" y="24"/>
                </a:lnTo>
                <a:close/>
                <a:moveTo>
                  <a:pt x="3" y="0"/>
                </a:moveTo>
                <a:lnTo>
                  <a:pt x="2"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5" y="3"/>
                </a:lnTo>
                <a:lnTo>
                  <a:pt x="6" y="0"/>
                </a:lnTo>
                <a:lnTo>
                  <a:pt x="3"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58" name="Freeform 1563">
            <a:extLst>
              <a:ext uri="{FF2B5EF4-FFF2-40B4-BE49-F238E27FC236}">
                <a16:creationId xmlns:a16="http://schemas.microsoft.com/office/drawing/2014/main" id="{D26C88ED-2E53-0ABB-E159-987393663DD5}"/>
              </a:ext>
            </a:extLst>
          </p:cNvPr>
          <p:cNvSpPr>
            <a:spLocks noEditPoints="1"/>
          </p:cNvSpPr>
          <p:nvPr/>
        </p:nvSpPr>
        <p:spPr bwMode="auto">
          <a:xfrm>
            <a:off x="2311400" y="2719388"/>
            <a:ext cx="493713" cy="80963"/>
          </a:xfrm>
          <a:custGeom>
            <a:avLst/>
            <a:gdLst>
              <a:gd name="T0" fmla="*/ 311 w 311"/>
              <a:gd name="T1" fmla="*/ 21 h 51"/>
              <a:gd name="T2" fmla="*/ 311 w 311"/>
              <a:gd name="T3" fmla="*/ 14 h 51"/>
              <a:gd name="T4" fmla="*/ 309 w 311"/>
              <a:gd name="T5" fmla="*/ 8 h 51"/>
              <a:gd name="T6" fmla="*/ 309 w 311"/>
              <a:gd name="T7" fmla="*/ 3 h 51"/>
              <a:gd name="T8" fmla="*/ 304 w 311"/>
              <a:gd name="T9" fmla="*/ 0 h 51"/>
              <a:gd name="T10" fmla="*/ 306 w 311"/>
              <a:gd name="T11" fmla="*/ 6 h 51"/>
              <a:gd name="T12" fmla="*/ 306 w 311"/>
              <a:gd name="T13" fmla="*/ 11 h 51"/>
              <a:gd name="T14" fmla="*/ 308 w 311"/>
              <a:gd name="T15" fmla="*/ 18 h 51"/>
              <a:gd name="T16" fmla="*/ 308 w 311"/>
              <a:gd name="T17" fmla="*/ 24 h 51"/>
              <a:gd name="T18" fmla="*/ 308 w 311"/>
              <a:gd name="T19" fmla="*/ 31 h 51"/>
              <a:gd name="T20" fmla="*/ 306 w 311"/>
              <a:gd name="T21" fmla="*/ 38 h 51"/>
              <a:gd name="T22" fmla="*/ 306 w 311"/>
              <a:gd name="T23" fmla="*/ 44 h 51"/>
              <a:gd name="T24" fmla="*/ 304 w 311"/>
              <a:gd name="T25" fmla="*/ 51 h 51"/>
              <a:gd name="T26" fmla="*/ 309 w 311"/>
              <a:gd name="T27" fmla="*/ 48 h 51"/>
              <a:gd name="T28" fmla="*/ 309 w 311"/>
              <a:gd name="T29" fmla="*/ 41 h 51"/>
              <a:gd name="T30" fmla="*/ 311 w 311"/>
              <a:gd name="T31" fmla="*/ 34 h 51"/>
              <a:gd name="T32" fmla="*/ 311 w 311"/>
              <a:gd name="T33" fmla="*/ 28 h 51"/>
              <a:gd name="T34" fmla="*/ 3 w 311"/>
              <a:gd name="T35" fmla="*/ 0 h 51"/>
              <a:gd name="T36" fmla="*/ 1 w 311"/>
              <a:gd name="T37" fmla="*/ 6 h 51"/>
              <a:gd name="T38" fmla="*/ 1 w 311"/>
              <a:gd name="T39" fmla="*/ 11 h 51"/>
              <a:gd name="T40" fmla="*/ 1 w 311"/>
              <a:gd name="T41" fmla="*/ 18 h 51"/>
              <a:gd name="T42" fmla="*/ 0 w 311"/>
              <a:gd name="T43" fmla="*/ 24 h 51"/>
              <a:gd name="T44" fmla="*/ 1 w 311"/>
              <a:gd name="T45" fmla="*/ 31 h 51"/>
              <a:gd name="T46" fmla="*/ 1 w 311"/>
              <a:gd name="T47" fmla="*/ 38 h 51"/>
              <a:gd name="T48" fmla="*/ 1 w 311"/>
              <a:gd name="T49" fmla="*/ 44 h 51"/>
              <a:gd name="T50" fmla="*/ 3 w 311"/>
              <a:gd name="T51" fmla="*/ 51 h 51"/>
              <a:gd name="T52" fmla="*/ 4 w 311"/>
              <a:gd name="T53" fmla="*/ 48 h 51"/>
              <a:gd name="T54" fmla="*/ 4 w 311"/>
              <a:gd name="T55" fmla="*/ 41 h 51"/>
              <a:gd name="T56" fmla="*/ 4 w 311"/>
              <a:gd name="T57" fmla="*/ 34 h 51"/>
              <a:gd name="T58" fmla="*/ 3 w 311"/>
              <a:gd name="T59" fmla="*/ 28 h 51"/>
              <a:gd name="T60" fmla="*/ 3 w 311"/>
              <a:gd name="T61" fmla="*/ 21 h 51"/>
              <a:gd name="T62" fmla="*/ 4 w 311"/>
              <a:gd name="T63" fmla="*/ 14 h 51"/>
              <a:gd name="T64" fmla="*/ 4 w 311"/>
              <a:gd name="T65" fmla="*/ 8 h 51"/>
              <a:gd name="T66" fmla="*/ 6 w 311"/>
              <a:gd name="T67" fmla="*/ 3 h 51"/>
              <a:gd name="T68" fmla="*/ 3 w 311"/>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1" h="51">
                <a:moveTo>
                  <a:pt x="311" y="24"/>
                </a:moveTo>
                <a:lnTo>
                  <a:pt x="311" y="21"/>
                </a:lnTo>
                <a:lnTo>
                  <a:pt x="311" y="18"/>
                </a:lnTo>
                <a:lnTo>
                  <a:pt x="311" y="14"/>
                </a:lnTo>
                <a:lnTo>
                  <a:pt x="309" y="11"/>
                </a:lnTo>
                <a:lnTo>
                  <a:pt x="309" y="8"/>
                </a:lnTo>
                <a:lnTo>
                  <a:pt x="309" y="6"/>
                </a:lnTo>
                <a:lnTo>
                  <a:pt x="309" y="3"/>
                </a:lnTo>
                <a:lnTo>
                  <a:pt x="308" y="0"/>
                </a:lnTo>
                <a:lnTo>
                  <a:pt x="304" y="0"/>
                </a:lnTo>
                <a:lnTo>
                  <a:pt x="306" y="3"/>
                </a:lnTo>
                <a:lnTo>
                  <a:pt x="306" y="6"/>
                </a:lnTo>
                <a:lnTo>
                  <a:pt x="306" y="8"/>
                </a:lnTo>
                <a:lnTo>
                  <a:pt x="306" y="11"/>
                </a:lnTo>
                <a:lnTo>
                  <a:pt x="308" y="14"/>
                </a:lnTo>
                <a:lnTo>
                  <a:pt x="308" y="18"/>
                </a:lnTo>
                <a:lnTo>
                  <a:pt x="308" y="21"/>
                </a:lnTo>
                <a:lnTo>
                  <a:pt x="308" y="24"/>
                </a:lnTo>
                <a:lnTo>
                  <a:pt x="308" y="28"/>
                </a:lnTo>
                <a:lnTo>
                  <a:pt x="308" y="31"/>
                </a:lnTo>
                <a:lnTo>
                  <a:pt x="308" y="34"/>
                </a:lnTo>
                <a:lnTo>
                  <a:pt x="306" y="38"/>
                </a:lnTo>
                <a:lnTo>
                  <a:pt x="306" y="41"/>
                </a:lnTo>
                <a:lnTo>
                  <a:pt x="306" y="44"/>
                </a:lnTo>
                <a:lnTo>
                  <a:pt x="306" y="48"/>
                </a:lnTo>
                <a:lnTo>
                  <a:pt x="304" y="51"/>
                </a:lnTo>
                <a:lnTo>
                  <a:pt x="308" y="51"/>
                </a:lnTo>
                <a:lnTo>
                  <a:pt x="309" y="48"/>
                </a:lnTo>
                <a:lnTo>
                  <a:pt x="309" y="44"/>
                </a:lnTo>
                <a:lnTo>
                  <a:pt x="309" y="41"/>
                </a:lnTo>
                <a:lnTo>
                  <a:pt x="309" y="38"/>
                </a:lnTo>
                <a:lnTo>
                  <a:pt x="311" y="34"/>
                </a:lnTo>
                <a:lnTo>
                  <a:pt x="311" y="31"/>
                </a:lnTo>
                <a:lnTo>
                  <a:pt x="311" y="28"/>
                </a:lnTo>
                <a:lnTo>
                  <a:pt x="311" y="24"/>
                </a:lnTo>
                <a:close/>
                <a:moveTo>
                  <a:pt x="3" y="0"/>
                </a:moveTo>
                <a:lnTo>
                  <a:pt x="1" y="3"/>
                </a:lnTo>
                <a:lnTo>
                  <a:pt x="1" y="6"/>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4" y="48"/>
                </a:lnTo>
                <a:lnTo>
                  <a:pt x="4" y="44"/>
                </a:lnTo>
                <a:lnTo>
                  <a:pt x="4" y="41"/>
                </a:lnTo>
                <a:lnTo>
                  <a:pt x="4" y="38"/>
                </a:lnTo>
                <a:lnTo>
                  <a:pt x="4" y="34"/>
                </a:lnTo>
                <a:lnTo>
                  <a:pt x="4" y="31"/>
                </a:lnTo>
                <a:lnTo>
                  <a:pt x="3" y="28"/>
                </a:lnTo>
                <a:lnTo>
                  <a:pt x="3" y="24"/>
                </a:lnTo>
                <a:lnTo>
                  <a:pt x="3" y="21"/>
                </a:lnTo>
                <a:lnTo>
                  <a:pt x="4" y="18"/>
                </a:lnTo>
                <a:lnTo>
                  <a:pt x="4" y="14"/>
                </a:lnTo>
                <a:lnTo>
                  <a:pt x="4" y="11"/>
                </a:lnTo>
                <a:lnTo>
                  <a:pt x="4" y="8"/>
                </a:lnTo>
                <a:lnTo>
                  <a:pt x="4" y="6"/>
                </a:lnTo>
                <a:lnTo>
                  <a:pt x="6" y="3"/>
                </a:lnTo>
                <a:lnTo>
                  <a:pt x="6" y="0"/>
                </a:lnTo>
                <a:lnTo>
                  <a:pt x="3"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59" name="Freeform 1564">
            <a:extLst>
              <a:ext uri="{FF2B5EF4-FFF2-40B4-BE49-F238E27FC236}">
                <a16:creationId xmlns:a16="http://schemas.microsoft.com/office/drawing/2014/main" id="{876C302B-118C-E7A5-B5FE-CFE4A1239100}"/>
              </a:ext>
            </a:extLst>
          </p:cNvPr>
          <p:cNvSpPr>
            <a:spLocks noEditPoints="1"/>
          </p:cNvSpPr>
          <p:nvPr/>
        </p:nvSpPr>
        <p:spPr bwMode="auto">
          <a:xfrm>
            <a:off x="2312988" y="2719388"/>
            <a:ext cx="488950" cy="80963"/>
          </a:xfrm>
          <a:custGeom>
            <a:avLst/>
            <a:gdLst>
              <a:gd name="T0" fmla="*/ 308 w 308"/>
              <a:gd name="T1" fmla="*/ 21 h 51"/>
              <a:gd name="T2" fmla="*/ 308 w 308"/>
              <a:gd name="T3" fmla="*/ 14 h 51"/>
              <a:gd name="T4" fmla="*/ 307 w 308"/>
              <a:gd name="T5" fmla="*/ 8 h 51"/>
              <a:gd name="T6" fmla="*/ 307 w 308"/>
              <a:gd name="T7" fmla="*/ 3 h 51"/>
              <a:gd name="T8" fmla="*/ 302 w 308"/>
              <a:gd name="T9" fmla="*/ 0 h 51"/>
              <a:gd name="T10" fmla="*/ 303 w 308"/>
              <a:gd name="T11" fmla="*/ 6 h 51"/>
              <a:gd name="T12" fmla="*/ 303 w 308"/>
              <a:gd name="T13" fmla="*/ 11 h 51"/>
              <a:gd name="T14" fmla="*/ 305 w 308"/>
              <a:gd name="T15" fmla="*/ 18 h 51"/>
              <a:gd name="T16" fmla="*/ 305 w 308"/>
              <a:gd name="T17" fmla="*/ 24 h 51"/>
              <a:gd name="T18" fmla="*/ 305 w 308"/>
              <a:gd name="T19" fmla="*/ 31 h 51"/>
              <a:gd name="T20" fmla="*/ 303 w 308"/>
              <a:gd name="T21" fmla="*/ 38 h 51"/>
              <a:gd name="T22" fmla="*/ 303 w 308"/>
              <a:gd name="T23" fmla="*/ 44 h 51"/>
              <a:gd name="T24" fmla="*/ 302 w 308"/>
              <a:gd name="T25" fmla="*/ 51 h 51"/>
              <a:gd name="T26" fmla="*/ 307 w 308"/>
              <a:gd name="T27" fmla="*/ 48 h 51"/>
              <a:gd name="T28" fmla="*/ 307 w 308"/>
              <a:gd name="T29" fmla="*/ 41 h 51"/>
              <a:gd name="T30" fmla="*/ 308 w 308"/>
              <a:gd name="T31" fmla="*/ 34 h 51"/>
              <a:gd name="T32" fmla="*/ 308 w 308"/>
              <a:gd name="T33" fmla="*/ 28 h 51"/>
              <a:gd name="T34" fmla="*/ 3 w 308"/>
              <a:gd name="T35" fmla="*/ 0 h 51"/>
              <a:gd name="T36" fmla="*/ 2 w 308"/>
              <a:gd name="T37" fmla="*/ 6 h 51"/>
              <a:gd name="T38" fmla="*/ 2 w 308"/>
              <a:gd name="T39" fmla="*/ 11 h 51"/>
              <a:gd name="T40" fmla="*/ 2 w 308"/>
              <a:gd name="T41" fmla="*/ 18 h 51"/>
              <a:gd name="T42" fmla="*/ 0 w 308"/>
              <a:gd name="T43" fmla="*/ 24 h 51"/>
              <a:gd name="T44" fmla="*/ 2 w 308"/>
              <a:gd name="T45" fmla="*/ 31 h 51"/>
              <a:gd name="T46" fmla="*/ 2 w 308"/>
              <a:gd name="T47" fmla="*/ 38 h 51"/>
              <a:gd name="T48" fmla="*/ 2 w 308"/>
              <a:gd name="T49" fmla="*/ 44 h 51"/>
              <a:gd name="T50" fmla="*/ 3 w 308"/>
              <a:gd name="T51" fmla="*/ 51 h 51"/>
              <a:gd name="T52" fmla="*/ 5 w 308"/>
              <a:gd name="T53" fmla="*/ 48 h 51"/>
              <a:gd name="T54" fmla="*/ 5 w 308"/>
              <a:gd name="T55" fmla="*/ 41 h 51"/>
              <a:gd name="T56" fmla="*/ 5 w 308"/>
              <a:gd name="T57" fmla="*/ 34 h 51"/>
              <a:gd name="T58" fmla="*/ 3 w 308"/>
              <a:gd name="T59" fmla="*/ 28 h 51"/>
              <a:gd name="T60" fmla="*/ 3 w 308"/>
              <a:gd name="T61" fmla="*/ 21 h 51"/>
              <a:gd name="T62" fmla="*/ 5 w 308"/>
              <a:gd name="T63" fmla="*/ 14 h 51"/>
              <a:gd name="T64" fmla="*/ 5 w 308"/>
              <a:gd name="T65" fmla="*/ 8 h 51"/>
              <a:gd name="T66" fmla="*/ 7 w 308"/>
              <a:gd name="T67" fmla="*/ 3 h 51"/>
              <a:gd name="T68" fmla="*/ 3 w 30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8" h="51">
                <a:moveTo>
                  <a:pt x="308" y="24"/>
                </a:moveTo>
                <a:lnTo>
                  <a:pt x="308" y="21"/>
                </a:lnTo>
                <a:lnTo>
                  <a:pt x="308" y="18"/>
                </a:lnTo>
                <a:lnTo>
                  <a:pt x="308" y="14"/>
                </a:lnTo>
                <a:lnTo>
                  <a:pt x="307" y="11"/>
                </a:lnTo>
                <a:lnTo>
                  <a:pt x="307" y="8"/>
                </a:lnTo>
                <a:lnTo>
                  <a:pt x="307" y="6"/>
                </a:lnTo>
                <a:lnTo>
                  <a:pt x="307" y="3"/>
                </a:lnTo>
                <a:lnTo>
                  <a:pt x="305" y="0"/>
                </a:lnTo>
                <a:lnTo>
                  <a:pt x="302" y="0"/>
                </a:lnTo>
                <a:lnTo>
                  <a:pt x="303" y="3"/>
                </a:lnTo>
                <a:lnTo>
                  <a:pt x="303" y="6"/>
                </a:lnTo>
                <a:lnTo>
                  <a:pt x="303" y="8"/>
                </a:lnTo>
                <a:lnTo>
                  <a:pt x="303" y="11"/>
                </a:lnTo>
                <a:lnTo>
                  <a:pt x="305" y="14"/>
                </a:lnTo>
                <a:lnTo>
                  <a:pt x="305" y="18"/>
                </a:lnTo>
                <a:lnTo>
                  <a:pt x="305" y="21"/>
                </a:lnTo>
                <a:lnTo>
                  <a:pt x="305" y="24"/>
                </a:lnTo>
                <a:lnTo>
                  <a:pt x="305" y="28"/>
                </a:lnTo>
                <a:lnTo>
                  <a:pt x="305" y="31"/>
                </a:lnTo>
                <a:lnTo>
                  <a:pt x="305" y="34"/>
                </a:lnTo>
                <a:lnTo>
                  <a:pt x="303" y="38"/>
                </a:lnTo>
                <a:lnTo>
                  <a:pt x="303" y="41"/>
                </a:lnTo>
                <a:lnTo>
                  <a:pt x="303" y="44"/>
                </a:lnTo>
                <a:lnTo>
                  <a:pt x="303" y="48"/>
                </a:lnTo>
                <a:lnTo>
                  <a:pt x="302" y="51"/>
                </a:lnTo>
                <a:lnTo>
                  <a:pt x="305" y="51"/>
                </a:lnTo>
                <a:lnTo>
                  <a:pt x="307" y="48"/>
                </a:lnTo>
                <a:lnTo>
                  <a:pt x="307" y="44"/>
                </a:lnTo>
                <a:lnTo>
                  <a:pt x="307" y="41"/>
                </a:lnTo>
                <a:lnTo>
                  <a:pt x="307" y="38"/>
                </a:lnTo>
                <a:lnTo>
                  <a:pt x="308" y="34"/>
                </a:lnTo>
                <a:lnTo>
                  <a:pt x="308" y="31"/>
                </a:lnTo>
                <a:lnTo>
                  <a:pt x="308" y="28"/>
                </a:lnTo>
                <a:lnTo>
                  <a:pt x="308" y="24"/>
                </a:lnTo>
                <a:close/>
                <a:moveTo>
                  <a:pt x="3" y="0"/>
                </a:moveTo>
                <a:lnTo>
                  <a:pt x="2"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7" y="3"/>
                </a:lnTo>
                <a:lnTo>
                  <a:pt x="7" y="0"/>
                </a:lnTo>
                <a:lnTo>
                  <a:pt x="3"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60" name="Freeform 1565">
            <a:extLst>
              <a:ext uri="{FF2B5EF4-FFF2-40B4-BE49-F238E27FC236}">
                <a16:creationId xmlns:a16="http://schemas.microsoft.com/office/drawing/2014/main" id="{80EC4365-BA06-CFB0-B8AD-5D5C25D539B9}"/>
              </a:ext>
            </a:extLst>
          </p:cNvPr>
          <p:cNvSpPr>
            <a:spLocks noEditPoints="1"/>
          </p:cNvSpPr>
          <p:nvPr/>
        </p:nvSpPr>
        <p:spPr bwMode="auto">
          <a:xfrm>
            <a:off x="2316163" y="2719388"/>
            <a:ext cx="484188" cy="80963"/>
          </a:xfrm>
          <a:custGeom>
            <a:avLst/>
            <a:gdLst>
              <a:gd name="T0" fmla="*/ 305 w 305"/>
              <a:gd name="T1" fmla="*/ 21 h 51"/>
              <a:gd name="T2" fmla="*/ 305 w 305"/>
              <a:gd name="T3" fmla="*/ 14 h 51"/>
              <a:gd name="T4" fmla="*/ 303 w 305"/>
              <a:gd name="T5" fmla="*/ 8 h 51"/>
              <a:gd name="T6" fmla="*/ 303 w 305"/>
              <a:gd name="T7" fmla="*/ 3 h 51"/>
              <a:gd name="T8" fmla="*/ 298 w 305"/>
              <a:gd name="T9" fmla="*/ 0 h 51"/>
              <a:gd name="T10" fmla="*/ 300 w 305"/>
              <a:gd name="T11" fmla="*/ 6 h 51"/>
              <a:gd name="T12" fmla="*/ 300 w 305"/>
              <a:gd name="T13" fmla="*/ 11 h 51"/>
              <a:gd name="T14" fmla="*/ 301 w 305"/>
              <a:gd name="T15" fmla="*/ 18 h 51"/>
              <a:gd name="T16" fmla="*/ 301 w 305"/>
              <a:gd name="T17" fmla="*/ 24 h 51"/>
              <a:gd name="T18" fmla="*/ 301 w 305"/>
              <a:gd name="T19" fmla="*/ 31 h 51"/>
              <a:gd name="T20" fmla="*/ 300 w 305"/>
              <a:gd name="T21" fmla="*/ 38 h 51"/>
              <a:gd name="T22" fmla="*/ 300 w 305"/>
              <a:gd name="T23" fmla="*/ 44 h 51"/>
              <a:gd name="T24" fmla="*/ 298 w 305"/>
              <a:gd name="T25" fmla="*/ 51 h 51"/>
              <a:gd name="T26" fmla="*/ 303 w 305"/>
              <a:gd name="T27" fmla="*/ 48 h 51"/>
              <a:gd name="T28" fmla="*/ 303 w 305"/>
              <a:gd name="T29" fmla="*/ 41 h 51"/>
              <a:gd name="T30" fmla="*/ 305 w 305"/>
              <a:gd name="T31" fmla="*/ 34 h 51"/>
              <a:gd name="T32" fmla="*/ 305 w 305"/>
              <a:gd name="T33" fmla="*/ 28 h 51"/>
              <a:gd name="T34" fmla="*/ 3 w 305"/>
              <a:gd name="T35" fmla="*/ 0 h 51"/>
              <a:gd name="T36" fmla="*/ 1 w 305"/>
              <a:gd name="T37" fmla="*/ 6 h 51"/>
              <a:gd name="T38" fmla="*/ 1 w 305"/>
              <a:gd name="T39" fmla="*/ 11 h 51"/>
              <a:gd name="T40" fmla="*/ 1 w 305"/>
              <a:gd name="T41" fmla="*/ 18 h 51"/>
              <a:gd name="T42" fmla="*/ 0 w 305"/>
              <a:gd name="T43" fmla="*/ 24 h 51"/>
              <a:gd name="T44" fmla="*/ 1 w 305"/>
              <a:gd name="T45" fmla="*/ 31 h 51"/>
              <a:gd name="T46" fmla="*/ 1 w 305"/>
              <a:gd name="T47" fmla="*/ 38 h 51"/>
              <a:gd name="T48" fmla="*/ 1 w 305"/>
              <a:gd name="T49" fmla="*/ 44 h 51"/>
              <a:gd name="T50" fmla="*/ 3 w 305"/>
              <a:gd name="T51" fmla="*/ 51 h 51"/>
              <a:gd name="T52" fmla="*/ 5 w 305"/>
              <a:gd name="T53" fmla="*/ 48 h 51"/>
              <a:gd name="T54" fmla="*/ 5 w 305"/>
              <a:gd name="T55" fmla="*/ 41 h 51"/>
              <a:gd name="T56" fmla="*/ 5 w 305"/>
              <a:gd name="T57" fmla="*/ 34 h 51"/>
              <a:gd name="T58" fmla="*/ 3 w 305"/>
              <a:gd name="T59" fmla="*/ 28 h 51"/>
              <a:gd name="T60" fmla="*/ 3 w 305"/>
              <a:gd name="T61" fmla="*/ 21 h 51"/>
              <a:gd name="T62" fmla="*/ 5 w 305"/>
              <a:gd name="T63" fmla="*/ 14 h 51"/>
              <a:gd name="T64" fmla="*/ 5 w 305"/>
              <a:gd name="T65" fmla="*/ 8 h 51"/>
              <a:gd name="T66" fmla="*/ 6 w 305"/>
              <a:gd name="T67" fmla="*/ 3 h 51"/>
              <a:gd name="T68" fmla="*/ 3 w 30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5" h="51">
                <a:moveTo>
                  <a:pt x="305" y="24"/>
                </a:moveTo>
                <a:lnTo>
                  <a:pt x="305" y="21"/>
                </a:lnTo>
                <a:lnTo>
                  <a:pt x="305" y="18"/>
                </a:lnTo>
                <a:lnTo>
                  <a:pt x="305" y="14"/>
                </a:lnTo>
                <a:lnTo>
                  <a:pt x="303" y="11"/>
                </a:lnTo>
                <a:lnTo>
                  <a:pt x="303" y="8"/>
                </a:lnTo>
                <a:lnTo>
                  <a:pt x="303" y="6"/>
                </a:lnTo>
                <a:lnTo>
                  <a:pt x="303" y="3"/>
                </a:lnTo>
                <a:lnTo>
                  <a:pt x="301" y="0"/>
                </a:lnTo>
                <a:lnTo>
                  <a:pt x="298" y="0"/>
                </a:lnTo>
                <a:lnTo>
                  <a:pt x="300" y="3"/>
                </a:lnTo>
                <a:lnTo>
                  <a:pt x="300" y="6"/>
                </a:lnTo>
                <a:lnTo>
                  <a:pt x="300" y="8"/>
                </a:lnTo>
                <a:lnTo>
                  <a:pt x="300" y="11"/>
                </a:lnTo>
                <a:lnTo>
                  <a:pt x="301" y="14"/>
                </a:lnTo>
                <a:lnTo>
                  <a:pt x="301" y="18"/>
                </a:lnTo>
                <a:lnTo>
                  <a:pt x="301" y="21"/>
                </a:lnTo>
                <a:lnTo>
                  <a:pt x="301" y="24"/>
                </a:lnTo>
                <a:lnTo>
                  <a:pt x="301" y="28"/>
                </a:lnTo>
                <a:lnTo>
                  <a:pt x="301" y="31"/>
                </a:lnTo>
                <a:lnTo>
                  <a:pt x="301" y="34"/>
                </a:lnTo>
                <a:lnTo>
                  <a:pt x="300" y="38"/>
                </a:lnTo>
                <a:lnTo>
                  <a:pt x="300" y="41"/>
                </a:lnTo>
                <a:lnTo>
                  <a:pt x="300" y="44"/>
                </a:lnTo>
                <a:lnTo>
                  <a:pt x="300" y="48"/>
                </a:lnTo>
                <a:lnTo>
                  <a:pt x="298" y="51"/>
                </a:lnTo>
                <a:lnTo>
                  <a:pt x="301" y="51"/>
                </a:lnTo>
                <a:lnTo>
                  <a:pt x="303" y="48"/>
                </a:lnTo>
                <a:lnTo>
                  <a:pt x="303" y="44"/>
                </a:lnTo>
                <a:lnTo>
                  <a:pt x="303" y="41"/>
                </a:lnTo>
                <a:lnTo>
                  <a:pt x="303" y="38"/>
                </a:lnTo>
                <a:lnTo>
                  <a:pt x="305" y="34"/>
                </a:lnTo>
                <a:lnTo>
                  <a:pt x="305" y="31"/>
                </a:lnTo>
                <a:lnTo>
                  <a:pt x="305" y="28"/>
                </a:lnTo>
                <a:lnTo>
                  <a:pt x="305" y="24"/>
                </a:lnTo>
                <a:close/>
                <a:moveTo>
                  <a:pt x="3" y="0"/>
                </a:moveTo>
                <a:lnTo>
                  <a:pt x="3" y="3"/>
                </a:lnTo>
                <a:lnTo>
                  <a:pt x="1" y="6"/>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6" y="3"/>
                </a:lnTo>
                <a:lnTo>
                  <a:pt x="6" y="0"/>
                </a:lnTo>
                <a:lnTo>
                  <a:pt x="3"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61" name="Freeform 1566">
            <a:extLst>
              <a:ext uri="{FF2B5EF4-FFF2-40B4-BE49-F238E27FC236}">
                <a16:creationId xmlns:a16="http://schemas.microsoft.com/office/drawing/2014/main" id="{973C7BD2-EA09-F3A9-0F68-94307A5AE230}"/>
              </a:ext>
            </a:extLst>
          </p:cNvPr>
          <p:cNvSpPr>
            <a:spLocks noEditPoints="1"/>
          </p:cNvSpPr>
          <p:nvPr/>
        </p:nvSpPr>
        <p:spPr bwMode="auto">
          <a:xfrm>
            <a:off x="2317750" y="2719388"/>
            <a:ext cx="479425" cy="80963"/>
          </a:xfrm>
          <a:custGeom>
            <a:avLst/>
            <a:gdLst>
              <a:gd name="T0" fmla="*/ 302 w 302"/>
              <a:gd name="T1" fmla="*/ 21 h 51"/>
              <a:gd name="T2" fmla="*/ 302 w 302"/>
              <a:gd name="T3" fmla="*/ 14 h 51"/>
              <a:gd name="T4" fmla="*/ 300 w 302"/>
              <a:gd name="T5" fmla="*/ 8 h 51"/>
              <a:gd name="T6" fmla="*/ 300 w 302"/>
              <a:gd name="T7" fmla="*/ 3 h 51"/>
              <a:gd name="T8" fmla="*/ 295 w 302"/>
              <a:gd name="T9" fmla="*/ 0 h 51"/>
              <a:gd name="T10" fmla="*/ 297 w 302"/>
              <a:gd name="T11" fmla="*/ 6 h 51"/>
              <a:gd name="T12" fmla="*/ 297 w 302"/>
              <a:gd name="T13" fmla="*/ 11 h 51"/>
              <a:gd name="T14" fmla="*/ 299 w 302"/>
              <a:gd name="T15" fmla="*/ 18 h 51"/>
              <a:gd name="T16" fmla="*/ 299 w 302"/>
              <a:gd name="T17" fmla="*/ 24 h 51"/>
              <a:gd name="T18" fmla="*/ 299 w 302"/>
              <a:gd name="T19" fmla="*/ 31 h 51"/>
              <a:gd name="T20" fmla="*/ 297 w 302"/>
              <a:gd name="T21" fmla="*/ 38 h 51"/>
              <a:gd name="T22" fmla="*/ 297 w 302"/>
              <a:gd name="T23" fmla="*/ 44 h 51"/>
              <a:gd name="T24" fmla="*/ 295 w 302"/>
              <a:gd name="T25" fmla="*/ 51 h 51"/>
              <a:gd name="T26" fmla="*/ 300 w 302"/>
              <a:gd name="T27" fmla="*/ 48 h 51"/>
              <a:gd name="T28" fmla="*/ 300 w 302"/>
              <a:gd name="T29" fmla="*/ 41 h 51"/>
              <a:gd name="T30" fmla="*/ 302 w 302"/>
              <a:gd name="T31" fmla="*/ 34 h 51"/>
              <a:gd name="T32" fmla="*/ 302 w 302"/>
              <a:gd name="T33" fmla="*/ 28 h 51"/>
              <a:gd name="T34" fmla="*/ 4 w 302"/>
              <a:gd name="T35" fmla="*/ 0 h 51"/>
              <a:gd name="T36" fmla="*/ 2 w 302"/>
              <a:gd name="T37" fmla="*/ 6 h 51"/>
              <a:gd name="T38" fmla="*/ 2 w 302"/>
              <a:gd name="T39" fmla="*/ 11 h 51"/>
              <a:gd name="T40" fmla="*/ 2 w 302"/>
              <a:gd name="T41" fmla="*/ 18 h 51"/>
              <a:gd name="T42" fmla="*/ 0 w 302"/>
              <a:gd name="T43" fmla="*/ 24 h 51"/>
              <a:gd name="T44" fmla="*/ 2 w 302"/>
              <a:gd name="T45" fmla="*/ 31 h 51"/>
              <a:gd name="T46" fmla="*/ 2 w 302"/>
              <a:gd name="T47" fmla="*/ 38 h 51"/>
              <a:gd name="T48" fmla="*/ 2 w 302"/>
              <a:gd name="T49" fmla="*/ 44 h 51"/>
              <a:gd name="T50" fmla="*/ 4 w 302"/>
              <a:gd name="T51" fmla="*/ 51 h 51"/>
              <a:gd name="T52" fmla="*/ 5 w 302"/>
              <a:gd name="T53" fmla="*/ 48 h 51"/>
              <a:gd name="T54" fmla="*/ 5 w 302"/>
              <a:gd name="T55" fmla="*/ 41 h 51"/>
              <a:gd name="T56" fmla="*/ 5 w 302"/>
              <a:gd name="T57" fmla="*/ 34 h 51"/>
              <a:gd name="T58" fmla="*/ 4 w 302"/>
              <a:gd name="T59" fmla="*/ 28 h 51"/>
              <a:gd name="T60" fmla="*/ 4 w 302"/>
              <a:gd name="T61" fmla="*/ 21 h 51"/>
              <a:gd name="T62" fmla="*/ 5 w 302"/>
              <a:gd name="T63" fmla="*/ 14 h 51"/>
              <a:gd name="T64" fmla="*/ 5 w 302"/>
              <a:gd name="T65" fmla="*/ 8 h 51"/>
              <a:gd name="T66" fmla="*/ 7 w 302"/>
              <a:gd name="T67" fmla="*/ 3 h 51"/>
              <a:gd name="T68" fmla="*/ 4 w 30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2" h="51">
                <a:moveTo>
                  <a:pt x="302" y="24"/>
                </a:moveTo>
                <a:lnTo>
                  <a:pt x="302" y="21"/>
                </a:lnTo>
                <a:lnTo>
                  <a:pt x="302" y="18"/>
                </a:lnTo>
                <a:lnTo>
                  <a:pt x="302" y="14"/>
                </a:lnTo>
                <a:lnTo>
                  <a:pt x="300" y="11"/>
                </a:lnTo>
                <a:lnTo>
                  <a:pt x="300" y="8"/>
                </a:lnTo>
                <a:lnTo>
                  <a:pt x="300" y="6"/>
                </a:lnTo>
                <a:lnTo>
                  <a:pt x="300" y="3"/>
                </a:lnTo>
                <a:lnTo>
                  <a:pt x="299" y="0"/>
                </a:lnTo>
                <a:lnTo>
                  <a:pt x="295" y="0"/>
                </a:lnTo>
                <a:lnTo>
                  <a:pt x="297" y="3"/>
                </a:lnTo>
                <a:lnTo>
                  <a:pt x="297" y="6"/>
                </a:lnTo>
                <a:lnTo>
                  <a:pt x="297" y="8"/>
                </a:lnTo>
                <a:lnTo>
                  <a:pt x="297" y="11"/>
                </a:lnTo>
                <a:lnTo>
                  <a:pt x="299" y="14"/>
                </a:lnTo>
                <a:lnTo>
                  <a:pt x="299" y="18"/>
                </a:lnTo>
                <a:lnTo>
                  <a:pt x="299" y="21"/>
                </a:lnTo>
                <a:lnTo>
                  <a:pt x="299" y="24"/>
                </a:lnTo>
                <a:lnTo>
                  <a:pt x="299" y="28"/>
                </a:lnTo>
                <a:lnTo>
                  <a:pt x="299" y="31"/>
                </a:lnTo>
                <a:lnTo>
                  <a:pt x="299" y="34"/>
                </a:lnTo>
                <a:lnTo>
                  <a:pt x="297" y="38"/>
                </a:lnTo>
                <a:lnTo>
                  <a:pt x="297" y="41"/>
                </a:lnTo>
                <a:lnTo>
                  <a:pt x="297" y="44"/>
                </a:lnTo>
                <a:lnTo>
                  <a:pt x="297" y="48"/>
                </a:lnTo>
                <a:lnTo>
                  <a:pt x="295" y="51"/>
                </a:lnTo>
                <a:lnTo>
                  <a:pt x="299" y="51"/>
                </a:lnTo>
                <a:lnTo>
                  <a:pt x="300" y="48"/>
                </a:lnTo>
                <a:lnTo>
                  <a:pt x="300" y="44"/>
                </a:lnTo>
                <a:lnTo>
                  <a:pt x="300" y="41"/>
                </a:lnTo>
                <a:lnTo>
                  <a:pt x="300" y="38"/>
                </a:lnTo>
                <a:lnTo>
                  <a:pt x="302" y="34"/>
                </a:lnTo>
                <a:lnTo>
                  <a:pt x="302" y="31"/>
                </a:lnTo>
                <a:lnTo>
                  <a:pt x="302" y="28"/>
                </a:lnTo>
                <a:lnTo>
                  <a:pt x="302" y="24"/>
                </a:lnTo>
                <a:close/>
                <a:moveTo>
                  <a:pt x="4" y="0"/>
                </a:moveTo>
                <a:lnTo>
                  <a:pt x="4"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6"/>
                </a:lnTo>
                <a:lnTo>
                  <a:pt x="7" y="3"/>
                </a:lnTo>
                <a:lnTo>
                  <a:pt x="7" y="0"/>
                </a:lnTo>
                <a:lnTo>
                  <a:pt x="4"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62" name="Freeform 1567">
            <a:extLst>
              <a:ext uri="{FF2B5EF4-FFF2-40B4-BE49-F238E27FC236}">
                <a16:creationId xmlns:a16="http://schemas.microsoft.com/office/drawing/2014/main" id="{DA68E6DE-4277-A5CC-E684-8A0C92DA552D}"/>
              </a:ext>
            </a:extLst>
          </p:cNvPr>
          <p:cNvSpPr>
            <a:spLocks noEditPoints="1"/>
          </p:cNvSpPr>
          <p:nvPr/>
        </p:nvSpPr>
        <p:spPr bwMode="auto">
          <a:xfrm>
            <a:off x="2701925" y="2403475"/>
            <a:ext cx="427038" cy="315913"/>
          </a:xfrm>
          <a:custGeom>
            <a:avLst/>
            <a:gdLst>
              <a:gd name="T0" fmla="*/ 267 w 269"/>
              <a:gd name="T1" fmla="*/ 84 h 199"/>
              <a:gd name="T2" fmla="*/ 262 w 269"/>
              <a:gd name="T3" fmla="*/ 56 h 199"/>
              <a:gd name="T4" fmla="*/ 250 w 269"/>
              <a:gd name="T5" fmla="*/ 31 h 199"/>
              <a:gd name="T6" fmla="*/ 234 w 269"/>
              <a:gd name="T7" fmla="*/ 10 h 199"/>
              <a:gd name="T8" fmla="*/ 217 w 269"/>
              <a:gd name="T9" fmla="*/ 0 h 199"/>
              <a:gd name="T10" fmla="*/ 235 w 269"/>
              <a:gd name="T11" fmla="*/ 20 h 199"/>
              <a:gd name="T12" fmla="*/ 250 w 269"/>
              <a:gd name="T13" fmla="*/ 43 h 199"/>
              <a:gd name="T14" fmla="*/ 260 w 269"/>
              <a:gd name="T15" fmla="*/ 69 h 199"/>
              <a:gd name="T16" fmla="*/ 264 w 269"/>
              <a:gd name="T17" fmla="*/ 99 h 199"/>
              <a:gd name="T18" fmla="*/ 260 w 269"/>
              <a:gd name="T19" fmla="*/ 127 h 199"/>
              <a:gd name="T20" fmla="*/ 250 w 269"/>
              <a:gd name="T21" fmla="*/ 155 h 199"/>
              <a:gd name="T22" fmla="*/ 235 w 269"/>
              <a:gd name="T23" fmla="*/ 179 h 199"/>
              <a:gd name="T24" fmla="*/ 217 w 269"/>
              <a:gd name="T25" fmla="*/ 199 h 199"/>
              <a:gd name="T26" fmla="*/ 234 w 269"/>
              <a:gd name="T27" fmla="*/ 189 h 199"/>
              <a:gd name="T28" fmla="*/ 250 w 269"/>
              <a:gd name="T29" fmla="*/ 167 h 199"/>
              <a:gd name="T30" fmla="*/ 262 w 269"/>
              <a:gd name="T31" fmla="*/ 141 h 199"/>
              <a:gd name="T32" fmla="*/ 267 w 269"/>
              <a:gd name="T33" fmla="*/ 114 h 199"/>
              <a:gd name="T34" fmla="*/ 43 w 269"/>
              <a:gd name="T35" fmla="*/ 0 h 199"/>
              <a:gd name="T36" fmla="*/ 25 w 269"/>
              <a:gd name="T37" fmla="*/ 20 h 199"/>
              <a:gd name="T38" fmla="*/ 12 w 269"/>
              <a:gd name="T39" fmla="*/ 45 h 199"/>
              <a:gd name="T40" fmla="*/ 4 w 269"/>
              <a:gd name="T41" fmla="*/ 71 h 199"/>
              <a:gd name="T42" fmla="*/ 0 w 269"/>
              <a:gd name="T43" fmla="*/ 99 h 199"/>
              <a:gd name="T44" fmla="*/ 4 w 269"/>
              <a:gd name="T45" fmla="*/ 127 h 199"/>
              <a:gd name="T46" fmla="*/ 12 w 269"/>
              <a:gd name="T47" fmla="*/ 154 h 199"/>
              <a:gd name="T48" fmla="*/ 25 w 269"/>
              <a:gd name="T49" fmla="*/ 179 h 199"/>
              <a:gd name="T50" fmla="*/ 43 w 269"/>
              <a:gd name="T51" fmla="*/ 199 h 199"/>
              <a:gd name="T52" fmla="*/ 42 w 269"/>
              <a:gd name="T53" fmla="*/ 189 h 199"/>
              <a:gd name="T54" fmla="*/ 23 w 269"/>
              <a:gd name="T55" fmla="*/ 167 h 199"/>
              <a:gd name="T56" fmla="*/ 12 w 269"/>
              <a:gd name="T57" fmla="*/ 142 h 199"/>
              <a:gd name="T58" fmla="*/ 5 w 269"/>
              <a:gd name="T59" fmla="*/ 114 h 199"/>
              <a:gd name="T60" fmla="*/ 5 w 269"/>
              <a:gd name="T61" fmla="*/ 84 h 199"/>
              <a:gd name="T62" fmla="*/ 12 w 269"/>
              <a:gd name="T63" fmla="*/ 56 h 199"/>
              <a:gd name="T64" fmla="*/ 23 w 269"/>
              <a:gd name="T65" fmla="*/ 31 h 199"/>
              <a:gd name="T66" fmla="*/ 42 w 269"/>
              <a:gd name="T67" fmla="*/ 10 h 199"/>
              <a:gd name="T68" fmla="*/ 43 w 26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9" h="199">
                <a:moveTo>
                  <a:pt x="269" y="99"/>
                </a:moveTo>
                <a:lnTo>
                  <a:pt x="267" y="84"/>
                </a:lnTo>
                <a:lnTo>
                  <a:pt x="265" y="71"/>
                </a:lnTo>
                <a:lnTo>
                  <a:pt x="262" y="56"/>
                </a:lnTo>
                <a:lnTo>
                  <a:pt x="257" y="45"/>
                </a:lnTo>
                <a:lnTo>
                  <a:pt x="250" y="31"/>
                </a:lnTo>
                <a:lnTo>
                  <a:pt x="242" y="20"/>
                </a:lnTo>
                <a:lnTo>
                  <a:pt x="234" y="10"/>
                </a:lnTo>
                <a:lnTo>
                  <a:pt x="224" y="0"/>
                </a:lnTo>
                <a:lnTo>
                  <a:pt x="217" y="0"/>
                </a:lnTo>
                <a:lnTo>
                  <a:pt x="227" y="10"/>
                </a:lnTo>
                <a:lnTo>
                  <a:pt x="235" y="20"/>
                </a:lnTo>
                <a:lnTo>
                  <a:pt x="244" y="31"/>
                </a:lnTo>
                <a:lnTo>
                  <a:pt x="250" y="43"/>
                </a:lnTo>
                <a:lnTo>
                  <a:pt x="257" y="56"/>
                </a:lnTo>
                <a:lnTo>
                  <a:pt x="260" y="69"/>
                </a:lnTo>
                <a:lnTo>
                  <a:pt x="262" y="84"/>
                </a:lnTo>
                <a:lnTo>
                  <a:pt x="264" y="99"/>
                </a:lnTo>
                <a:lnTo>
                  <a:pt x="262" y="114"/>
                </a:lnTo>
                <a:lnTo>
                  <a:pt x="260" y="127"/>
                </a:lnTo>
                <a:lnTo>
                  <a:pt x="257" y="142"/>
                </a:lnTo>
                <a:lnTo>
                  <a:pt x="250" y="155"/>
                </a:lnTo>
                <a:lnTo>
                  <a:pt x="244" y="167"/>
                </a:lnTo>
                <a:lnTo>
                  <a:pt x="235" y="179"/>
                </a:lnTo>
                <a:lnTo>
                  <a:pt x="227" y="189"/>
                </a:lnTo>
                <a:lnTo>
                  <a:pt x="217" y="199"/>
                </a:lnTo>
                <a:lnTo>
                  <a:pt x="224" y="199"/>
                </a:lnTo>
                <a:lnTo>
                  <a:pt x="234" y="189"/>
                </a:lnTo>
                <a:lnTo>
                  <a:pt x="242" y="179"/>
                </a:lnTo>
                <a:lnTo>
                  <a:pt x="250" y="167"/>
                </a:lnTo>
                <a:lnTo>
                  <a:pt x="257" y="154"/>
                </a:lnTo>
                <a:lnTo>
                  <a:pt x="262" y="141"/>
                </a:lnTo>
                <a:lnTo>
                  <a:pt x="265" y="127"/>
                </a:lnTo>
                <a:lnTo>
                  <a:pt x="267" y="114"/>
                </a:lnTo>
                <a:lnTo>
                  <a:pt x="269" y="99"/>
                </a:lnTo>
                <a:close/>
                <a:moveTo>
                  <a:pt x="43" y="0"/>
                </a:moveTo>
                <a:lnTo>
                  <a:pt x="35" y="10"/>
                </a:lnTo>
                <a:lnTo>
                  <a:pt x="25" y="20"/>
                </a:lnTo>
                <a:lnTo>
                  <a:pt x="18" y="31"/>
                </a:lnTo>
                <a:lnTo>
                  <a:pt x="12" y="45"/>
                </a:lnTo>
                <a:lnTo>
                  <a:pt x="7" y="56"/>
                </a:lnTo>
                <a:lnTo>
                  <a:pt x="4" y="71"/>
                </a:lnTo>
                <a:lnTo>
                  <a:pt x="0" y="84"/>
                </a:lnTo>
                <a:lnTo>
                  <a:pt x="0" y="99"/>
                </a:lnTo>
                <a:lnTo>
                  <a:pt x="0" y="114"/>
                </a:lnTo>
                <a:lnTo>
                  <a:pt x="4" y="127"/>
                </a:lnTo>
                <a:lnTo>
                  <a:pt x="7" y="141"/>
                </a:lnTo>
                <a:lnTo>
                  <a:pt x="12" y="154"/>
                </a:lnTo>
                <a:lnTo>
                  <a:pt x="18" y="167"/>
                </a:lnTo>
                <a:lnTo>
                  <a:pt x="25" y="179"/>
                </a:lnTo>
                <a:lnTo>
                  <a:pt x="35" y="189"/>
                </a:lnTo>
                <a:lnTo>
                  <a:pt x="43" y="199"/>
                </a:lnTo>
                <a:lnTo>
                  <a:pt x="52" y="199"/>
                </a:lnTo>
                <a:lnTo>
                  <a:pt x="42" y="189"/>
                </a:lnTo>
                <a:lnTo>
                  <a:pt x="32" y="179"/>
                </a:lnTo>
                <a:lnTo>
                  <a:pt x="23" y="167"/>
                </a:lnTo>
                <a:lnTo>
                  <a:pt x="17" y="155"/>
                </a:lnTo>
                <a:lnTo>
                  <a:pt x="12" y="142"/>
                </a:lnTo>
                <a:lnTo>
                  <a:pt x="9" y="127"/>
                </a:lnTo>
                <a:lnTo>
                  <a:pt x="5" y="114"/>
                </a:lnTo>
                <a:lnTo>
                  <a:pt x="5" y="99"/>
                </a:lnTo>
                <a:lnTo>
                  <a:pt x="5" y="84"/>
                </a:lnTo>
                <a:lnTo>
                  <a:pt x="9" y="69"/>
                </a:lnTo>
                <a:lnTo>
                  <a:pt x="12" y="56"/>
                </a:lnTo>
                <a:lnTo>
                  <a:pt x="17" y="43"/>
                </a:lnTo>
                <a:lnTo>
                  <a:pt x="23" y="31"/>
                </a:lnTo>
                <a:lnTo>
                  <a:pt x="32" y="20"/>
                </a:lnTo>
                <a:lnTo>
                  <a:pt x="42" y="10"/>
                </a:lnTo>
                <a:lnTo>
                  <a:pt x="52" y="0"/>
                </a:lnTo>
                <a:lnTo>
                  <a:pt x="43"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63" name="Freeform 1568">
            <a:extLst>
              <a:ext uri="{FF2B5EF4-FFF2-40B4-BE49-F238E27FC236}">
                <a16:creationId xmlns:a16="http://schemas.microsoft.com/office/drawing/2014/main" id="{EBF622FC-D5BB-02A7-4F64-2D08D35D8A3A}"/>
              </a:ext>
            </a:extLst>
          </p:cNvPr>
          <p:cNvSpPr>
            <a:spLocks noEditPoints="1"/>
          </p:cNvSpPr>
          <p:nvPr/>
        </p:nvSpPr>
        <p:spPr bwMode="auto">
          <a:xfrm>
            <a:off x="2705100" y="2403475"/>
            <a:ext cx="417513" cy="315913"/>
          </a:xfrm>
          <a:custGeom>
            <a:avLst/>
            <a:gdLst>
              <a:gd name="T0" fmla="*/ 263 w 263"/>
              <a:gd name="T1" fmla="*/ 84 h 199"/>
              <a:gd name="T2" fmla="*/ 257 w 263"/>
              <a:gd name="T3" fmla="*/ 56 h 199"/>
              <a:gd name="T4" fmla="*/ 245 w 263"/>
              <a:gd name="T5" fmla="*/ 31 h 199"/>
              <a:gd name="T6" fmla="*/ 228 w 263"/>
              <a:gd name="T7" fmla="*/ 10 h 199"/>
              <a:gd name="T8" fmla="*/ 212 w 263"/>
              <a:gd name="T9" fmla="*/ 0 h 199"/>
              <a:gd name="T10" fmla="*/ 230 w 263"/>
              <a:gd name="T11" fmla="*/ 20 h 199"/>
              <a:gd name="T12" fmla="*/ 247 w 263"/>
              <a:gd name="T13" fmla="*/ 43 h 199"/>
              <a:gd name="T14" fmla="*/ 255 w 263"/>
              <a:gd name="T15" fmla="*/ 69 h 199"/>
              <a:gd name="T16" fmla="*/ 258 w 263"/>
              <a:gd name="T17" fmla="*/ 99 h 199"/>
              <a:gd name="T18" fmla="*/ 255 w 263"/>
              <a:gd name="T19" fmla="*/ 129 h 199"/>
              <a:gd name="T20" fmla="*/ 247 w 263"/>
              <a:gd name="T21" fmla="*/ 155 h 199"/>
              <a:gd name="T22" fmla="*/ 230 w 263"/>
              <a:gd name="T23" fmla="*/ 179 h 199"/>
              <a:gd name="T24" fmla="*/ 212 w 263"/>
              <a:gd name="T25" fmla="*/ 199 h 199"/>
              <a:gd name="T26" fmla="*/ 228 w 263"/>
              <a:gd name="T27" fmla="*/ 189 h 199"/>
              <a:gd name="T28" fmla="*/ 245 w 263"/>
              <a:gd name="T29" fmla="*/ 167 h 199"/>
              <a:gd name="T30" fmla="*/ 257 w 263"/>
              <a:gd name="T31" fmla="*/ 142 h 199"/>
              <a:gd name="T32" fmla="*/ 263 w 263"/>
              <a:gd name="T33" fmla="*/ 114 h 199"/>
              <a:gd name="T34" fmla="*/ 46 w 263"/>
              <a:gd name="T35" fmla="*/ 0 h 199"/>
              <a:gd name="T36" fmla="*/ 26 w 263"/>
              <a:gd name="T37" fmla="*/ 20 h 199"/>
              <a:gd name="T38" fmla="*/ 13 w 263"/>
              <a:gd name="T39" fmla="*/ 43 h 199"/>
              <a:gd name="T40" fmla="*/ 3 w 263"/>
              <a:gd name="T41" fmla="*/ 69 h 199"/>
              <a:gd name="T42" fmla="*/ 0 w 263"/>
              <a:gd name="T43" fmla="*/ 99 h 199"/>
              <a:gd name="T44" fmla="*/ 3 w 263"/>
              <a:gd name="T45" fmla="*/ 127 h 199"/>
              <a:gd name="T46" fmla="*/ 13 w 263"/>
              <a:gd name="T47" fmla="*/ 154 h 199"/>
              <a:gd name="T48" fmla="*/ 26 w 263"/>
              <a:gd name="T49" fmla="*/ 179 h 199"/>
              <a:gd name="T50" fmla="*/ 46 w 263"/>
              <a:gd name="T51" fmla="*/ 199 h 199"/>
              <a:gd name="T52" fmla="*/ 43 w 263"/>
              <a:gd name="T53" fmla="*/ 189 h 199"/>
              <a:gd name="T54" fmla="*/ 25 w 263"/>
              <a:gd name="T55" fmla="*/ 167 h 199"/>
              <a:gd name="T56" fmla="*/ 13 w 263"/>
              <a:gd name="T57" fmla="*/ 142 h 199"/>
              <a:gd name="T58" fmla="*/ 7 w 263"/>
              <a:gd name="T59" fmla="*/ 114 h 199"/>
              <a:gd name="T60" fmla="*/ 7 w 263"/>
              <a:gd name="T61" fmla="*/ 84 h 199"/>
              <a:gd name="T62" fmla="*/ 13 w 263"/>
              <a:gd name="T63" fmla="*/ 56 h 199"/>
              <a:gd name="T64" fmla="*/ 25 w 263"/>
              <a:gd name="T65" fmla="*/ 31 h 199"/>
              <a:gd name="T66" fmla="*/ 43 w 263"/>
              <a:gd name="T67" fmla="*/ 8 h 199"/>
              <a:gd name="T68" fmla="*/ 46 w 26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3" h="199">
                <a:moveTo>
                  <a:pt x="263" y="99"/>
                </a:moveTo>
                <a:lnTo>
                  <a:pt x="263" y="84"/>
                </a:lnTo>
                <a:lnTo>
                  <a:pt x="260" y="69"/>
                </a:lnTo>
                <a:lnTo>
                  <a:pt x="257" y="56"/>
                </a:lnTo>
                <a:lnTo>
                  <a:pt x="252" y="43"/>
                </a:lnTo>
                <a:lnTo>
                  <a:pt x="245" y="31"/>
                </a:lnTo>
                <a:lnTo>
                  <a:pt x="237" y="20"/>
                </a:lnTo>
                <a:lnTo>
                  <a:pt x="228" y="10"/>
                </a:lnTo>
                <a:lnTo>
                  <a:pt x="219" y="0"/>
                </a:lnTo>
                <a:lnTo>
                  <a:pt x="212" y="0"/>
                </a:lnTo>
                <a:lnTo>
                  <a:pt x="222" y="8"/>
                </a:lnTo>
                <a:lnTo>
                  <a:pt x="230" y="20"/>
                </a:lnTo>
                <a:lnTo>
                  <a:pt x="238" y="31"/>
                </a:lnTo>
                <a:lnTo>
                  <a:pt x="247" y="43"/>
                </a:lnTo>
                <a:lnTo>
                  <a:pt x="252" y="56"/>
                </a:lnTo>
                <a:lnTo>
                  <a:pt x="255" y="69"/>
                </a:lnTo>
                <a:lnTo>
                  <a:pt x="258" y="84"/>
                </a:lnTo>
                <a:lnTo>
                  <a:pt x="258" y="99"/>
                </a:lnTo>
                <a:lnTo>
                  <a:pt x="258" y="114"/>
                </a:lnTo>
                <a:lnTo>
                  <a:pt x="255" y="129"/>
                </a:lnTo>
                <a:lnTo>
                  <a:pt x="252" y="142"/>
                </a:lnTo>
                <a:lnTo>
                  <a:pt x="247" y="155"/>
                </a:lnTo>
                <a:lnTo>
                  <a:pt x="238" y="167"/>
                </a:lnTo>
                <a:lnTo>
                  <a:pt x="230" y="179"/>
                </a:lnTo>
                <a:lnTo>
                  <a:pt x="222" y="189"/>
                </a:lnTo>
                <a:lnTo>
                  <a:pt x="212" y="199"/>
                </a:lnTo>
                <a:lnTo>
                  <a:pt x="219" y="199"/>
                </a:lnTo>
                <a:lnTo>
                  <a:pt x="228" y="189"/>
                </a:lnTo>
                <a:lnTo>
                  <a:pt x="237" y="179"/>
                </a:lnTo>
                <a:lnTo>
                  <a:pt x="245" y="167"/>
                </a:lnTo>
                <a:lnTo>
                  <a:pt x="252" y="154"/>
                </a:lnTo>
                <a:lnTo>
                  <a:pt x="257" y="142"/>
                </a:lnTo>
                <a:lnTo>
                  <a:pt x="260" y="127"/>
                </a:lnTo>
                <a:lnTo>
                  <a:pt x="263" y="114"/>
                </a:lnTo>
                <a:lnTo>
                  <a:pt x="263" y="99"/>
                </a:lnTo>
                <a:close/>
                <a:moveTo>
                  <a:pt x="46" y="0"/>
                </a:moveTo>
                <a:lnTo>
                  <a:pt x="36" y="10"/>
                </a:lnTo>
                <a:lnTo>
                  <a:pt x="26" y="20"/>
                </a:lnTo>
                <a:lnTo>
                  <a:pt x="20" y="31"/>
                </a:lnTo>
                <a:lnTo>
                  <a:pt x="13" y="43"/>
                </a:lnTo>
                <a:lnTo>
                  <a:pt x="8" y="56"/>
                </a:lnTo>
                <a:lnTo>
                  <a:pt x="3" y="69"/>
                </a:lnTo>
                <a:lnTo>
                  <a:pt x="2" y="84"/>
                </a:lnTo>
                <a:lnTo>
                  <a:pt x="0" y="99"/>
                </a:lnTo>
                <a:lnTo>
                  <a:pt x="2" y="114"/>
                </a:lnTo>
                <a:lnTo>
                  <a:pt x="3" y="127"/>
                </a:lnTo>
                <a:lnTo>
                  <a:pt x="8" y="142"/>
                </a:lnTo>
                <a:lnTo>
                  <a:pt x="13" y="154"/>
                </a:lnTo>
                <a:lnTo>
                  <a:pt x="20" y="167"/>
                </a:lnTo>
                <a:lnTo>
                  <a:pt x="26" y="179"/>
                </a:lnTo>
                <a:lnTo>
                  <a:pt x="36" y="189"/>
                </a:lnTo>
                <a:lnTo>
                  <a:pt x="46" y="199"/>
                </a:lnTo>
                <a:lnTo>
                  <a:pt x="53" y="199"/>
                </a:lnTo>
                <a:lnTo>
                  <a:pt x="43" y="189"/>
                </a:lnTo>
                <a:lnTo>
                  <a:pt x="33" y="179"/>
                </a:lnTo>
                <a:lnTo>
                  <a:pt x="25" y="167"/>
                </a:lnTo>
                <a:lnTo>
                  <a:pt x="18" y="155"/>
                </a:lnTo>
                <a:lnTo>
                  <a:pt x="13" y="142"/>
                </a:lnTo>
                <a:lnTo>
                  <a:pt x="8" y="129"/>
                </a:lnTo>
                <a:lnTo>
                  <a:pt x="7" y="114"/>
                </a:lnTo>
                <a:lnTo>
                  <a:pt x="5" y="99"/>
                </a:lnTo>
                <a:lnTo>
                  <a:pt x="7" y="84"/>
                </a:lnTo>
                <a:lnTo>
                  <a:pt x="8" y="69"/>
                </a:lnTo>
                <a:lnTo>
                  <a:pt x="13" y="56"/>
                </a:lnTo>
                <a:lnTo>
                  <a:pt x="18" y="43"/>
                </a:lnTo>
                <a:lnTo>
                  <a:pt x="25" y="31"/>
                </a:lnTo>
                <a:lnTo>
                  <a:pt x="33" y="20"/>
                </a:lnTo>
                <a:lnTo>
                  <a:pt x="43" y="8"/>
                </a:lnTo>
                <a:lnTo>
                  <a:pt x="53" y="0"/>
                </a:lnTo>
                <a:lnTo>
                  <a:pt x="46"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64" name="Freeform 1569">
            <a:extLst>
              <a:ext uri="{FF2B5EF4-FFF2-40B4-BE49-F238E27FC236}">
                <a16:creationId xmlns:a16="http://schemas.microsoft.com/office/drawing/2014/main" id="{64461591-3C82-4CAF-B90A-623C80B53AF9}"/>
              </a:ext>
            </a:extLst>
          </p:cNvPr>
          <p:cNvSpPr>
            <a:spLocks noEditPoints="1"/>
          </p:cNvSpPr>
          <p:nvPr/>
        </p:nvSpPr>
        <p:spPr bwMode="auto">
          <a:xfrm>
            <a:off x="2709863" y="2403475"/>
            <a:ext cx="411163" cy="315913"/>
          </a:xfrm>
          <a:custGeom>
            <a:avLst/>
            <a:gdLst>
              <a:gd name="T0" fmla="*/ 257 w 259"/>
              <a:gd name="T1" fmla="*/ 84 h 199"/>
              <a:gd name="T2" fmla="*/ 252 w 259"/>
              <a:gd name="T3" fmla="*/ 56 h 199"/>
              <a:gd name="T4" fmla="*/ 239 w 259"/>
              <a:gd name="T5" fmla="*/ 31 h 199"/>
              <a:gd name="T6" fmla="*/ 222 w 259"/>
              <a:gd name="T7" fmla="*/ 10 h 199"/>
              <a:gd name="T8" fmla="*/ 204 w 259"/>
              <a:gd name="T9" fmla="*/ 0 h 199"/>
              <a:gd name="T10" fmla="*/ 224 w 259"/>
              <a:gd name="T11" fmla="*/ 20 h 199"/>
              <a:gd name="T12" fmla="*/ 240 w 259"/>
              <a:gd name="T13" fmla="*/ 43 h 199"/>
              <a:gd name="T14" fmla="*/ 250 w 259"/>
              <a:gd name="T15" fmla="*/ 69 h 199"/>
              <a:gd name="T16" fmla="*/ 254 w 259"/>
              <a:gd name="T17" fmla="*/ 99 h 199"/>
              <a:gd name="T18" fmla="*/ 250 w 259"/>
              <a:gd name="T19" fmla="*/ 129 h 199"/>
              <a:gd name="T20" fmla="*/ 240 w 259"/>
              <a:gd name="T21" fmla="*/ 155 h 199"/>
              <a:gd name="T22" fmla="*/ 224 w 259"/>
              <a:gd name="T23" fmla="*/ 179 h 199"/>
              <a:gd name="T24" fmla="*/ 204 w 259"/>
              <a:gd name="T25" fmla="*/ 199 h 199"/>
              <a:gd name="T26" fmla="*/ 222 w 259"/>
              <a:gd name="T27" fmla="*/ 189 h 199"/>
              <a:gd name="T28" fmla="*/ 239 w 259"/>
              <a:gd name="T29" fmla="*/ 167 h 199"/>
              <a:gd name="T30" fmla="*/ 252 w 259"/>
              <a:gd name="T31" fmla="*/ 142 h 199"/>
              <a:gd name="T32" fmla="*/ 257 w 259"/>
              <a:gd name="T33" fmla="*/ 114 h 199"/>
              <a:gd name="T34" fmla="*/ 47 w 259"/>
              <a:gd name="T35" fmla="*/ 0 h 199"/>
              <a:gd name="T36" fmla="*/ 27 w 259"/>
              <a:gd name="T37" fmla="*/ 20 h 199"/>
              <a:gd name="T38" fmla="*/ 12 w 259"/>
              <a:gd name="T39" fmla="*/ 43 h 199"/>
              <a:gd name="T40" fmla="*/ 4 w 259"/>
              <a:gd name="T41" fmla="*/ 69 h 199"/>
              <a:gd name="T42" fmla="*/ 0 w 259"/>
              <a:gd name="T43" fmla="*/ 99 h 199"/>
              <a:gd name="T44" fmla="*/ 4 w 259"/>
              <a:gd name="T45" fmla="*/ 127 h 199"/>
              <a:gd name="T46" fmla="*/ 12 w 259"/>
              <a:gd name="T47" fmla="*/ 155 h 199"/>
              <a:gd name="T48" fmla="*/ 27 w 259"/>
              <a:gd name="T49" fmla="*/ 179 h 199"/>
              <a:gd name="T50" fmla="*/ 47 w 259"/>
              <a:gd name="T51" fmla="*/ 199 h 199"/>
              <a:gd name="T52" fmla="*/ 43 w 259"/>
              <a:gd name="T53" fmla="*/ 189 h 199"/>
              <a:gd name="T54" fmla="*/ 25 w 259"/>
              <a:gd name="T55" fmla="*/ 167 h 199"/>
              <a:gd name="T56" fmla="*/ 12 w 259"/>
              <a:gd name="T57" fmla="*/ 142 h 199"/>
              <a:gd name="T58" fmla="*/ 5 w 259"/>
              <a:gd name="T59" fmla="*/ 114 h 199"/>
              <a:gd name="T60" fmla="*/ 5 w 259"/>
              <a:gd name="T61" fmla="*/ 84 h 199"/>
              <a:gd name="T62" fmla="*/ 12 w 259"/>
              <a:gd name="T63" fmla="*/ 56 h 199"/>
              <a:gd name="T64" fmla="*/ 25 w 259"/>
              <a:gd name="T65" fmla="*/ 30 h 199"/>
              <a:gd name="T66" fmla="*/ 43 w 259"/>
              <a:gd name="T67" fmla="*/ 8 h 199"/>
              <a:gd name="T68" fmla="*/ 47 w 25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9" h="199">
                <a:moveTo>
                  <a:pt x="259" y="99"/>
                </a:moveTo>
                <a:lnTo>
                  <a:pt x="257" y="84"/>
                </a:lnTo>
                <a:lnTo>
                  <a:pt x="255" y="69"/>
                </a:lnTo>
                <a:lnTo>
                  <a:pt x="252" y="56"/>
                </a:lnTo>
                <a:lnTo>
                  <a:pt x="245" y="43"/>
                </a:lnTo>
                <a:lnTo>
                  <a:pt x="239" y="31"/>
                </a:lnTo>
                <a:lnTo>
                  <a:pt x="230" y="20"/>
                </a:lnTo>
                <a:lnTo>
                  <a:pt x="222" y="10"/>
                </a:lnTo>
                <a:lnTo>
                  <a:pt x="212" y="0"/>
                </a:lnTo>
                <a:lnTo>
                  <a:pt x="204" y="0"/>
                </a:lnTo>
                <a:lnTo>
                  <a:pt x="216" y="8"/>
                </a:lnTo>
                <a:lnTo>
                  <a:pt x="224" y="20"/>
                </a:lnTo>
                <a:lnTo>
                  <a:pt x="234" y="30"/>
                </a:lnTo>
                <a:lnTo>
                  <a:pt x="240" y="43"/>
                </a:lnTo>
                <a:lnTo>
                  <a:pt x="245" y="56"/>
                </a:lnTo>
                <a:lnTo>
                  <a:pt x="250" y="69"/>
                </a:lnTo>
                <a:lnTo>
                  <a:pt x="252" y="84"/>
                </a:lnTo>
                <a:lnTo>
                  <a:pt x="254" y="99"/>
                </a:lnTo>
                <a:lnTo>
                  <a:pt x="252" y="114"/>
                </a:lnTo>
                <a:lnTo>
                  <a:pt x="250" y="129"/>
                </a:lnTo>
                <a:lnTo>
                  <a:pt x="245" y="142"/>
                </a:lnTo>
                <a:lnTo>
                  <a:pt x="240" y="155"/>
                </a:lnTo>
                <a:lnTo>
                  <a:pt x="234" y="167"/>
                </a:lnTo>
                <a:lnTo>
                  <a:pt x="224" y="179"/>
                </a:lnTo>
                <a:lnTo>
                  <a:pt x="216" y="189"/>
                </a:lnTo>
                <a:lnTo>
                  <a:pt x="204" y="199"/>
                </a:lnTo>
                <a:lnTo>
                  <a:pt x="212" y="199"/>
                </a:lnTo>
                <a:lnTo>
                  <a:pt x="222" y="189"/>
                </a:lnTo>
                <a:lnTo>
                  <a:pt x="230" y="179"/>
                </a:lnTo>
                <a:lnTo>
                  <a:pt x="239" y="167"/>
                </a:lnTo>
                <a:lnTo>
                  <a:pt x="245" y="155"/>
                </a:lnTo>
                <a:lnTo>
                  <a:pt x="252" y="142"/>
                </a:lnTo>
                <a:lnTo>
                  <a:pt x="255" y="127"/>
                </a:lnTo>
                <a:lnTo>
                  <a:pt x="257" y="114"/>
                </a:lnTo>
                <a:lnTo>
                  <a:pt x="259" y="99"/>
                </a:lnTo>
                <a:close/>
                <a:moveTo>
                  <a:pt x="47" y="0"/>
                </a:moveTo>
                <a:lnTo>
                  <a:pt x="37" y="10"/>
                </a:lnTo>
                <a:lnTo>
                  <a:pt x="27" y="20"/>
                </a:lnTo>
                <a:lnTo>
                  <a:pt x="18" y="31"/>
                </a:lnTo>
                <a:lnTo>
                  <a:pt x="12" y="43"/>
                </a:lnTo>
                <a:lnTo>
                  <a:pt x="7" y="56"/>
                </a:lnTo>
                <a:lnTo>
                  <a:pt x="4" y="69"/>
                </a:lnTo>
                <a:lnTo>
                  <a:pt x="0" y="84"/>
                </a:lnTo>
                <a:lnTo>
                  <a:pt x="0" y="99"/>
                </a:lnTo>
                <a:lnTo>
                  <a:pt x="0" y="114"/>
                </a:lnTo>
                <a:lnTo>
                  <a:pt x="4" y="127"/>
                </a:lnTo>
                <a:lnTo>
                  <a:pt x="7" y="142"/>
                </a:lnTo>
                <a:lnTo>
                  <a:pt x="12" y="155"/>
                </a:lnTo>
                <a:lnTo>
                  <a:pt x="18" y="167"/>
                </a:lnTo>
                <a:lnTo>
                  <a:pt x="27" y="179"/>
                </a:lnTo>
                <a:lnTo>
                  <a:pt x="37" y="189"/>
                </a:lnTo>
                <a:lnTo>
                  <a:pt x="47" y="199"/>
                </a:lnTo>
                <a:lnTo>
                  <a:pt x="55" y="199"/>
                </a:lnTo>
                <a:lnTo>
                  <a:pt x="43" y="189"/>
                </a:lnTo>
                <a:lnTo>
                  <a:pt x="33" y="179"/>
                </a:lnTo>
                <a:lnTo>
                  <a:pt x="25" y="167"/>
                </a:lnTo>
                <a:lnTo>
                  <a:pt x="18" y="155"/>
                </a:lnTo>
                <a:lnTo>
                  <a:pt x="12" y="142"/>
                </a:lnTo>
                <a:lnTo>
                  <a:pt x="9" y="129"/>
                </a:lnTo>
                <a:lnTo>
                  <a:pt x="5" y="114"/>
                </a:lnTo>
                <a:lnTo>
                  <a:pt x="5" y="99"/>
                </a:lnTo>
                <a:lnTo>
                  <a:pt x="5" y="84"/>
                </a:lnTo>
                <a:lnTo>
                  <a:pt x="9" y="69"/>
                </a:lnTo>
                <a:lnTo>
                  <a:pt x="12" y="56"/>
                </a:lnTo>
                <a:lnTo>
                  <a:pt x="18" y="43"/>
                </a:lnTo>
                <a:lnTo>
                  <a:pt x="25" y="30"/>
                </a:lnTo>
                <a:lnTo>
                  <a:pt x="33" y="20"/>
                </a:lnTo>
                <a:lnTo>
                  <a:pt x="43" y="8"/>
                </a:lnTo>
                <a:lnTo>
                  <a:pt x="55" y="0"/>
                </a:lnTo>
                <a:lnTo>
                  <a:pt x="47"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65" name="Freeform 1570">
            <a:extLst>
              <a:ext uri="{FF2B5EF4-FFF2-40B4-BE49-F238E27FC236}">
                <a16:creationId xmlns:a16="http://schemas.microsoft.com/office/drawing/2014/main" id="{F1FE64C2-4235-DF4C-C0D1-5EE860CD0F23}"/>
              </a:ext>
            </a:extLst>
          </p:cNvPr>
          <p:cNvSpPr>
            <a:spLocks noEditPoints="1"/>
          </p:cNvSpPr>
          <p:nvPr/>
        </p:nvSpPr>
        <p:spPr bwMode="auto">
          <a:xfrm>
            <a:off x="2713038" y="2403475"/>
            <a:ext cx="401638" cy="315913"/>
          </a:xfrm>
          <a:custGeom>
            <a:avLst/>
            <a:gdLst>
              <a:gd name="T0" fmla="*/ 253 w 253"/>
              <a:gd name="T1" fmla="*/ 84 h 199"/>
              <a:gd name="T2" fmla="*/ 247 w 253"/>
              <a:gd name="T3" fmla="*/ 56 h 199"/>
              <a:gd name="T4" fmla="*/ 233 w 253"/>
              <a:gd name="T5" fmla="*/ 31 h 199"/>
              <a:gd name="T6" fmla="*/ 217 w 253"/>
              <a:gd name="T7" fmla="*/ 8 h 199"/>
              <a:gd name="T8" fmla="*/ 199 w 253"/>
              <a:gd name="T9" fmla="*/ 0 h 199"/>
              <a:gd name="T10" fmla="*/ 218 w 253"/>
              <a:gd name="T11" fmla="*/ 18 h 199"/>
              <a:gd name="T12" fmla="*/ 235 w 253"/>
              <a:gd name="T13" fmla="*/ 43 h 199"/>
              <a:gd name="T14" fmla="*/ 245 w 253"/>
              <a:gd name="T15" fmla="*/ 69 h 199"/>
              <a:gd name="T16" fmla="*/ 250 w 253"/>
              <a:gd name="T17" fmla="*/ 99 h 199"/>
              <a:gd name="T18" fmla="*/ 245 w 253"/>
              <a:gd name="T19" fmla="*/ 129 h 199"/>
              <a:gd name="T20" fmla="*/ 235 w 253"/>
              <a:gd name="T21" fmla="*/ 155 h 199"/>
              <a:gd name="T22" fmla="*/ 218 w 253"/>
              <a:gd name="T23" fmla="*/ 179 h 199"/>
              <a:gd name="T24" fmla="*/ 199 w 253"/>
              <a:gd name="T25" fmla="*/ 199 h 199"/>
              <a:gd name="T26" fmla="*/ 217 w 253"/>
              <a:gd name="T27" fmla="*/ 189 h 199"/>
              <a:gd name="T28" fmla="*/ 233 w 253"/>
              <a:gd name="T29" fmla="*/ 167 h 199"/>
              <a:gd name="T30" fmla="*/ 247 w 253"/>
              <a:gd name="T31" fmla="*/ 142 h 199"/>
              <a:gd name="T32" fmla="*/ 253 w 253"/>
              <a:gd name="T33" fmla="*/ 114 h 199"/>
              <a:gd name="T34" fmla="*/ 48 w 253"/>
              <a:gd name="T35" fmla="*/ 0 h 199"/>
              <a:gd name="T36" fmla="*/ 28 w 253"/>
              <a:gd name="T37" fmla="*/ 20 h 199"/>
              <a:gd name="T38" fmla="*/ 13 w 253"/>
              <a:gd name="T39" fmla="*/ 43 h 199"/>
              <a:gd name="T40" fmla="*/ 3 w 253"/>
              <a:gd name="T41" fmla="*/ 69 h 199"/>
              <a:gd name="T42" fmla="*/ 0 w 253"/>
              <a:gd name="T43" fmla="*/ 99 h 199"/>
              <a:gd name="T44" fmla="*/ 3 w 253"/>
              <a:gd name="T45" fmla="*/ 129 h 199"/>
              <a:gd name="T46" fmla="*/ 13 w 253"/>
              <a:gd name="T47" fmla="*/ 155 h 199"/>
              <a:gd name="T48" fmla="*/ 28 w 253"/>
              <a:gd name="T49" fmla="*/ 179 h 199"/>
              <a:gd name="T50" fmla="*/ 48 w 253"/>
              <a:gd name="T51" fmla="*/ 199 h 199"/>
              <a:gd name="T52" fmla="*/ 45 w 253"/>
              <a:gd name="T53" fmla="*/ 189 h 199"/>
              <a:gd name="T54" fmla="*/ 26 w 253"/>
              <a:gd name="T55" fmla="*/ 169 h 199"/>
              <a:gd name="T56" fmla="*/ 13 w 253"/>
              <a:gd name="T57" fmla="*/ 142 h 199"/>
              <a:gd name="T58" fmla="*/ 7 w 253"/>
              <a:gd name="T59" fmla="*/ 114 h 199"/>
              <a:gd name="T60" fmla="*/ 7 w 253"/>
              <a:gd name="T61" fmla="*/ 84 h 199"/>
              <a:gd name="T62" fmla="*/ 13 w 253"/>
              <a:gd name="T63" fmla="*/ 56 h 199"/>
              <a:gd name="T64" fmla="*/ 26 w 253"/>
              <a:gd name="T65" fmla="*/ 30 h 199"/>
              <a:gd name="T66" fmla="*/ 45 w 253"/>
              <a:gd name="T67" fmla="*/ 8 h 199"/>
              <a:gd name="T68" fmla="*/ 48 w 253"/>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3" h="199">
                <a:moveTo>
                  <a:pt x="253" y="99"/>
                </a:moveTo>
                <a:lnTo>
                  <a:pt x="253" y="84"/>
                </a:lnTo>
                <a:lnTo>
                  <a:pt x="250" y="69"/>
                </a:lnTo>
                <a:lnTo>
                  <a:pt x="247" y="56"/>
                </a:lnTo>
                <a:lnTo>
                  <a:pt x="242" y="43"/>
                </a:lnTo>
                <a:lnTo>
                  <a:pt x="233" y="31"/>
                </a:lnTo>
                <a:lnTo>
                  <a:pt x="225" y="20"/>
                </a:lnTo>
                <a:lnTo>
                  <a:pt x="217" y="8"/>
                </a:lnTo>
                <a:lnTo>
                  <a:pt x="207" y="0"/>
                </a:lnTo>
                <a:lnTo>
                  <a:pt x="199" y="0"/>
                </a:lnTo>
                <a:lnTo>
                  <a:pt x="209" y="8"/>
                </a:lnTo>
                <a:lnTo>
                  <a:pt x="218" y="18"/>
                </a:lnTo>
                <a:lnTo>
                  <a:pt x="228" y="30"/>
                </a:lnTo>
                <a:lnTo>
                  <a:pt x="235" y="43"/>
                </a:lnTo>
                <a:lnTo>
                  <a:pt x="242" y="56"/>
                </a:lnTo>
                <a:lnTo>
                  <a:pt x="245" y="69"/>
                </a:lnTo>
                <a:lnTo>
                  <a:pt x="248" y="84"/>
                </a:lnTo>
                <a:lnTo>
                  <a:pt x="250" y="99"/>
                </a:lnTo>
                <a:lnTo>
                  <a:pt x="248" y="114"/>
                </a:lnTo>
                <a:lnTo>
                  <a:pt x="245" y="129"/>
                </a:lnTo>
                <a:lnTo>
                  <a:pt x="242" y="142"/>
                </a:lnTo>
                <a:lnTo>
                  <a:pt x="235" y="155"/>
                </a:lnTo>
                <a:lnTo>
                  <a:pt x="228" y="169"/>
                </a:lnTo>
                <a:lnTo>
                  <a:pt x="218" y="179"/>
                </a:lnTo>
                <a:lnTo>
                  <a:pt x="209" y="189"/>
                </a:lnTo>
                <a:lnTo>
                  <a:pt x="199" y="199"/>
                </a:lnTo>
                <a:lnTo>
                  <a:pt x="207" y="199"/>
                </a:lnTo>
                <a:lnTo>
                  <a:pt x="217" y="189"/>
                </a:lnTo>
                <a:lnTo>
                  <a:pt x="225" y="179"/>
                </a:lnTo>
                <a:lnTo>
                  <a:pt x="233" y="167"/>
                </a:lnTo>
                <a:lnTo>
                  <a:pt x="242" y="155"/>
                </a:lnTo>
                <a:lnTo>
                  <a:pt x="247" y="142"/>
                </a:lnTo>
                <a:lnTo>
                  <a:pt x="250" y="129"/>
                </a:lnTo>
                <a:lnTo>
                  <a:pt x="253" y="114"/>
                </a:lnTo>
                <a:lnTo>
                  <a:pt x="253" y="99"/>
                </a:lnTo>
                <a:close/>
                <a:moveTo>
                  <a:pt x="48" y="0"/>
                </a:moveTo>
                <a:lnTo>
                  <a:pt x="38" y="8"/>
                </a:lnTo>
                <a:lnTo>
                  <a:pt x="28" y="20"/>
                </a:lnTo>
                <a:lnTo>
                  <a:pt x="20" y="31"/>
                </a:lnTo>
                <a:lnTo>
                  <a:pt x="13" y="43"/>
                </a:lnTo>
                <a:lnTo>
                  <a:pt x="8" y="56"/>
                </a:lnTo>
                <a:lnTo>
                  <a:pt x="3" y="69"/>
                </a:lnTo>
                <a:lnTo>
                  <a:pt x="2" y="84"/>
                </a:lnTo>
                <a:lnTo>
                  <a:pt x="0" y="99"/>
                </a:lnTo>
                <a:lnTo>
                  <a:pt x="2" y="114"/>
                </a:lnTo>
                <a:lnTo>
                  <a:pt x="3" y="129"/>
                </a:lnTo>
                <a:lnTo>
                  <a:pt x="8" y="142"/>
                </a:lnTo>
                <a:lnTo>
                  <a:pt x="13" y="155"/>
                </a:lnTo>
                <a:lnTo>
                  <a:pt x="20" y="167"/>
                </a:lnTo>
                <a:lnTo>
                  <a:pt x="28" y="179"/>
                </a:lnTo>
                <a:lnTo>
                  <a:pt x="38" y="189"/>
                </a:lnTo>
                <a:lnTo>
                  <a:pt x="48" y="199"/>
                </a:lnTo>
                <a:lnTo>
                  <a:pt x="56" y="199"/>
                </a:lnTo>
                <a:lnTo>
                  <a:pt x="45" y="189"/>
                </a:lnTo>
                <a:lnTo>
                  <a:pt x="35" y="179"/>
                </a:lnTo>
                <a:lnTo>
                  <a:pt x="26" y="169"/>
                </a:lnTo>
                <a:lnTo>
                  <a:pt x="20" y="155"/>
                </a:lnTo>
                <a:lnTo>
                  <a:pt x="13" y="142"/>
                </a:lnTo>
                <a:lnTo>
                  <a:pt x="8" y="129"/>
                </a:lnTo>
                <a:lnTo>
                  <a:pt x="7" y="114"/>
                </a:lnTo>
                <a:lnTo>
                  <a:pt x="5" y="99"/>
                </a:lnTo>
                <a:lnTo>
                  <a:pt x="7" y="84"/>
                </a:lnTo>
                <a:lnTo>
                  <a:pt x="8" y="69"/>
                </a:lnTo>
                <a:lnTo>
                  <a:pt x="13" y="56"/>
                </a:lnTo>
                <a:lnTo>
                  <a:pt x="20" y="43"/>
                </a:lnTo>
                <a:lnTo>
                  <a:pt x="26" y="30"/>
                </a:lnTo>
                <a:lnTo>
                  <a:pt x="35" y="18"/>
                </a:lnTo>
                <a:lnTo>
                  <a:pt x="45" y="8"/>
                </a:lnTo>
                <a:lnTo>
                  <a:pt x="56" y="0"/>
                </a:lnTo>
                <a:lnTo>
                  <a:pt x="48"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66" name="Freeform 1571">
            <a:extLst>
              <a:ext uri="{FF2B5EF4-FFF2-40B4-BE49-F238E27FC236}">
                <a16:creationId xmlns:a16="http://schemas.microsoft.com/office/drawing/2014/main" id="{15CEE054-E5FD-32AF-6C06-89B88C643F63}"/>
              </a:ext>
            </a:extLst>
          </p:cNvPr>
          <p:cNvSpPr>
            <a:spLocks noEditPoints="1"/>
          </p:cNvSpPr>
          <p:nvPr/>
        </p:nvSpPr>
        <p:spPr bwMode="auto">
          <a:xfrm>
            <a:off x="2717800" y="2403475"/>
            <a:ext cx="395288" cy="315913"/>
          </a:xfrm>
          <a:custGeom>
            <a:avLst/>
            <a:gdLst>
              <a:gd name="T0" fmla="*/ 247 w 249"/>
              <a:gd name="T1" fmla="*/ 84 h 199"/>
              <a:gd name="T2" fmla="*/ 240 w 249"/>
              <a:gd name="T3" fmla="*/ 56 h 199"/>
              <a:gd name="T4" fmla="*/ 229 w 249"/>
              <a:gd name="T5" fmla="*/ 30 h 199"/>
              <a:gd name="T6" fmla="*/ 211 w 249"/>
              <a:gd name="T7" fmla="*/ 8 h 199"/>
              <a:gd name="T8" fmla="*/ 191 w 249"/>
              <a:gd name="T9" fmla="*/ 0 h 199"/>
              <a:gd name="T10" fmla="*/ 212 w 249"/>
              <a:gd name="T11" fmla="*/ 18 h 199"/>
              <a:gd name="T12" fmla="*/ 229 w 249"/>
              <a:gd name="T13" fmla="*/ 41 h 199"/>
              <a:gd name="T14" fmla="*/ 240 w 249"/>
              <a:gd name="T15" fmla="*/ 69 h 199"/>
              <a:gd name="T16" fmla="*/ 244 w 249"/>
              <a:gd name="T17" fmla="*/ 99 h 199"/>
              <a:gd name="T18" fmla="*/ 240 w 249"/>
              <a:gd name="T19" fmla="*/ 129 h 199"/>
              <a:gd name="T20" fmla="*/ 229 w 249"/>
              <a:gd name="T21" fmla="*/ 155 h 199"/>
              <a:gd name="T22" fmla="*/ 212 w 249"/>
              <a:gd name="T23" fmla="*/ 180 h 199"/>
              <a:gd name="T24" fmla="*/ 191 w 249"/>
              <a:gd name="T25" fmla="*/ 199 h 199"/>
              <a:gd name="T26" fmla="*/ 211 w 249"/>
              <a:gd name="T27" fmla="*/ 189 h 199"/>
              <a:gd name="T28" fmla="*/ 229 w 249"/>
              <a:gd name="T29" fmla="*/ 167 h 199"/>
              <a:gd name="T30" fmla="*/ 240 w 249"/>
              <a:gd name="T31" fmla="*/ 142 h 199"/>
              <a:gd name="T32" fmla="*/ 247 w 249"/>
              <a:gd name="T33" fmla="*/ 114 h 199"/>
              <a:gd name="T34" fmla="*/ 50 w 249"/>
              <a:gd name="T35" fmla="*/ 0 h 199"/>
              <a:gd name="T36" fmla="*/ 28 w 249"/>
              <a:gd name="T37" fmla="*/ 20 h 199"/>
              <a:gd name="T38" fmla="*/ 13 w 249"/>
              <a:gd name="T39" fmla="*/ 43 h 199"/>
              <a:gd name="T40" fmla="*/ 4 w 249"/>
              <a:gd name="T41" fmla="*/ 69 h 199"/>
              <a:gd name="T42" fmla="*/ 0 w 249"/>
              <a:gd name="T43" fmla="*/ 99 h 199"/>
              <a:gd name="T44" fmla="*/ 4 w 249"/>
              <a:gd name="T45" fmla="*/ 129 h 199"/>
              <a:gd name="T46" fmla="*/ 13 w 249"/>
              <a:gd name="T47" fmla="*/ 155 h 199"/>
              <a:gd name="T48" fmla="*/ 28 w 249"/>
              <a:gd name="T49" fmla="*/ 179 h 199"/>
              <a:gd name="T50" fmla="*/ 50 w 249"/>
              <a:gd name="T51" fmla="*/ 199 h 199"/>
              <a:gd name="T52" fmla="*/ 47 w 249"/>
              <a:gd name="T53" fmla="*/ 190 h 199"/>
              <a:gd name="T54" fmla="*/ 27 w 249"/>
              <a:gd name="T55" fmla="*/ 169 h 199"/>
              <a:gd name="T56" fmla="*/ 13 w 249"/>
              <a:gd name="T57" fmla="*/ 142 h 199"/>
              <a:gd name="T58" fmla="*/ 5 w 249"/>
              <a:gd name="T59" fmla="*/ 114 h 199"/>
              <a:gd name="T60" fmla="*/ 5 w 249"/>
              <a:gd name="T61" fmla="*/ 84 h 199"/>
              <a:gd name="T62" fmla="*/ 13 w 249"/>
              <a:gd name="T63" fmla="*/ 54 h 199"/>
              <a:gd name="T64" fmla="*/ 27 w 249"/>
              <a:gd name="T65" fmla="*/ 30 h 199"/>
              <a:gd name="T66" fmla="*/ 47 w 249"/>
              <a:gd name="T67" fmla="*/ 8 h 199"/>
              <a:gd name="T68" fmla="*/ 50 w 24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9" h="199">
                <a:moveTo>
                  <a:pt x="249" y="99"/>
                </a:moveTo>
                <a:lnTo>
                  <a:pt x="247" y="84"/>
                </a:lnTo>
                <a:lnTo>
                  <a:pt x="245" y="69"/>
                </a:lnTo>
                <a:lnTo>
                  <a:pt x="240" y="56"/>
                </a:lnTo>
                <a:lnTo>
                  <a:pt x="235" y="43"/>
                </a:lnTo>
                <a:lnTo>
                  <a:pt x="229" y="30"/>
                </a:lnTo>
                <a:lnTo>
                  <a:pt x="219" y="20"/>
                </a:lnTo>
                <a:lnTo>
                  <a:pt x="211" y="8"/>
                </a:lnTo>
                <a:lnTo>
                  <a:pt x="199" y="0"/>
                </a:lnTo>
                <a:lnTo>
                  <a:pt x="191" y="0"/>
                </a:lnTo>
                <a:lnTo>
                  <a:pt x="202" y="8"/>
                </a:lnTo>
                <a:lnTo>
                  <a:pt x="212" y="18"/>
                </a:lnTo>
                <a:lnTo>
                  <a:pt x="222" y="30"/>
                </a:lnTo>
                <a:lnTo>
                  <a:pt x="229" y="41"/>
                </a:lnTo>
                <a:lnTo>
                  <a:pt x="235" y="54"/>
                </a:lnTo>
                <a:lnTo>
                  <a:pt x="240" y="69"/>
                </a:lnTo>
                <a:lnTo>
                  <a:pt x="244" y="84"/>
                </a:lnTo>
                <a:lnTo>
                  <a:pt x="244" y="99"/>
                </a:lnTo>
                <a:lnTo>
                  <a:pt x="244" y="114"/>
                </a:lnTo>
                <a:lnTo>
                  <a:pt x="240" y="129"/>
                </a:lnTo>
                <a:lnTo>
                  <a:pt x="235" y="142"/>
                </a:lnTo>
                <a:lnTo>
                  <a:pt x="229" y="155"/>
                </a:lnTo>
                <a:lnTo>
                  <a:pt x="222" y="169"/>
                </a:lnTo>
                <a:lnTo>
                  <a:pt x="212" y="180"/>
                </a:lnTo>
                <a:lnTo>
                  <a:pt x="202" y="190"/>
                </a:lnTo>
                <a:lnTo>
                  <a:pt x="191" y="199"/>
                </a:lnTo>
                <a:lnTo>
                  <a:pt x="199" y="199"/>
                </a:lnTo>
                <a:lnTo>
                  <a:pt x="211" y="189"/>
                </a:lnTo>
                <a:lnTo>
                  <a:pt x="219" y="179"/>
                </a:lnTo>
                <a:lnTo>
                  <a:pt x="229" y="167"/>
                </a:lnTo>
                <a:lnTo>
                  <a:pt x="235" y="155"/>
                </a:lnTo>
                <a:lnTo>
                  <a:pt x="240" y="142"/>
                </a:lnTo>
                <a:lnTo>
                  <a:pt x="245" y="129"/>
                </a:lnTo>
                <a:lnTo>
                  <a:pt x="247" y="114"/>
                </a:lnTo>
                <a:lnTo>
                  <a:pt x="249" y="99"/>
                </a:lnTo>
                <a:close/>
                <a:moveTo>
                  <a:pt x="50" y="0"/>
                </a:moveTo>
                <a:lnTo>
                  <a:pt x="38" y="8"/>
                </a:lnTo>
                <a:lnTo>
                  <a:pt x="28" y="20"/>
                </a:lnTo>
                <a:lnTo>
                  <a:pt x="20" y="30"/>
                </a:lnTo>
                <a:lnTo>
                  <a:pt x="13" y="43"/>
                </a:lnTo>
                <a:lnTo>
                  <a:pt x="7" y="56"/>
                </a:lnTo>
                <a:lnTo>
                  <a:pt x="4" y="69"/>
                </a:lnTo>
                <a:lnTo>
                  <a:pt x="0" y="84"/>
                </a:lnTo>
                <a:lnTo>
                  <a:pt x="0" y="99"/>
                </a:lnTo>
                <a:lnTo>
                  <a:pt x="0" y="114"/>
                </a:lnTo>
                <a:lnTo>
                  <a:pt x="4" y="129"/>
                </a:lnTo>
                <a:lnTo>
                  <a:pt x="7" y="142"/>
                </a:lnTo>
                <a:lnTo>
                  <a:pt x="13" y="155"/>
                </a:lnTo>
                <a:lnTo>
                  <a:pt x="20" y="167"/>
                </a:lnTo>
                <a:lnTo>
                  <a:pt x="28" y="179"/>
                </a:lnTo>
                <a:lnTo>
                  <a:pt x="38" y="189"/>
                </a:lnTo>
                <a:lnTo>
                  <a:pt x="50" y="199"/>
                </a:lnTo>
                <a:lnTo>
                  <a:pt x="58" y="199"/>
                </a:lnTo>
                <a:lnTo>
                  <a:pt x="47" y="190"/>
                </a:lnTo>
                <a:lnTo>
                  <a:pt x="35" y="180"/>
                </a:lnTo>
                <a:lnTo>
                  <a:pt x="27" y="169"/>
                </a:lnTo>
                <a:lnTo>
                  <a:pt x="18" y="155"/>
                </a:lnTo>
                <a:lnTo>
                  <a:pt x="13" y="142"/>
                </a:lnTo>
                <a:lnTo>
                  <a:pt x="8" y="129"/>
                </a:lnTo>
                <a:lnTo>
                  <a:pt x="5" y="114"/>
                </a:lnTo>
                <a:lnTo>
                  <a:pt x="5" y="99"/>
                </a:lnTo>
                <a:lnTo>
                  <a:pt x="5" y="84"/>
                </a:lnTo>
                <a:lnTo>
                  <a:pt x="8" y="69"/>
                </a:lnTo>
                <a:lnTo>
                  <a:pt x="13" y="54"/>
                </a:lnTo>
                <a:lnTo>
                  <a:pt x="18" y="41"/>
                </a:lnTo>
                <a:lnTo>
                  <a:pt x="27" y="30"/>
                </a:lnTo>
                <a:lnTo>
                  <a:pt x="35" y="18"/>
                </a:lnTo>
                <a:lnTo>
                  <a:pt x="47" y="8"/>
                </a:lnTo>
                <a:lnTo>
                  <a:pt x="58" y="0"/>
                </a:lnTo>
                <a:lnTo>
                  <a:pt x="50"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67" name="Freeform 1572">
            <a:extLst>
              <a:ext uri="{FF2B5EF4-FFF2-40B4-BE49-F238E27FC236}">
                <a16:creationId xmlns:a16="http://schemas.microsoft.com/office/drawing/2014/main" id="{01B5ADC9-0BCD-361D-6A44-972CD7C72FCD}"/>
              </a:ext>
            </a:extLst>
          </p:cNvPr>
          <p:cNvSpPr>
            <a:spLocks noEditPoints="1"/>
          </p:cNvSpPr>
          <p:nvPr/>
        </p:nvSpPr>
        <p:spPr bwMode="auto">
          <a:xfrm>
            <a:off x="2720975" y="2403475"/>
            <a:ext cx="388938" cy="315913"/>
          </a:xfrm>
          <a:custGeom>
            <a:avLst/>
            <a:gdLst>
              <a:gd name="T0" fmla="*/ 243 w 245"/>
              <a:gd name="T1" fmla="*/ 84 h 199"/>
              <a:gd name="T2" fmla="*/ 237 w 245"/>
              <a:gd name="T3" fmla="*/ 56 h 199"/>
              <a:gd name="T4" fmla="*/ 223 w 245"/>
              <a:gd name="T5" fmla="*/ 30 h 199"/>
              <a:gd name="T6" fmla="*/ 204 w 245"/>
              <a:gd name="T7" fmla="*/ 8 h 199"/>
              <a:gd name="T8" fmla="*/ 185 w 245"/>
              <a:gd name="T9" fmla="*/ 0 h 199"/>
              <a:gd name="T10" fmla="*/ 207 w 245"/>
              <a:gd name="T11" fmla="*/ 18 h 199"/>
              <a:gd name="T12" fmla="*/ 225 w 245"/>
              <a:gd name="T13" fmla="*/ 41 h 199"/>
              <a:gd name="T14" fmla="*/ 235 w 245"/>
              <a:gd name="T15" fmla="*/ 69 h 199"/>
              <a:gd name="T16" fmla="*/ 240 w 245"/>
              <a:gd name="T17" fmla="*/ 99 h 199"/>
              <a:gd name="T18" fmla="*/ 235 w 245"/>
              <a:gd name="T19" fmla="*/ 129 h 199"/>
              <a:gd name="T20" fmla="*/ 225 w 245"/>
              <a:gd name="T21" fmla="*/ 157 h 199"/>
              <a:gd name="T22" fmla="*/ 207 w 245"/>
              <a:gd name="T23" fmla="*/ 180 h 199"/>
              <a:gd name="T24" fmla="*/ 185 w 245"/>
              <a:gd name="T25" fmla="*/ 199 h 199"/>
              <a:gd name="T26" fmla="*/ 204 w 245"/>
              <a:gd name="T27" fmla="*/ 189 h 199"/>
              <a:gd name="T28" fmla="*/ 223 w 245"/>
              <a:gd name="T29" fmla="*/ 169 h 199"/>
              <a:gd name="T30" fmla="*/ 237 w 245"/>
              <a:gd name="T31" fmla="*/ 142 h 199"/>
              <a:gd name="T32" fmla="*/ 243 w 245"/>
              <a:gd name="T33" fmla="*/ 114 h 199"/>
              <a:gd name="T34" fmla="*/ 51 w 245"/>
              <a:gd name="T35" fmla="*/ 0 h 199"/>
              <a:gd name="T36" fmla="*/ 30 w 245"/>
              <a:gd name="T37" fmla="*/ 18 h 199"/>
              <a:gd name="T38" fmla="*/ 15 w 245"/>
              <a:gd name="T39" fmla="*/ 43 h 199"/>
              <a:gd name="T40" fmla="*/ 3 w 245"/>
              <a:gd name="T41" fmla="*/ 69 h 199"/>
              <a:gd name="T42" fmla="*/ 0 w 245"/>
              <a:gd name="T43" fmla="*/ 99 h 199"/>
              <a:gd name="T44" fmla="*/ 3 w 245"/>
              <a:gd name="T45" fmla="*/ 129 h 199"/>
              <a:gd name="T46" fmla="*/ 15 w 245"/>
              <a:gd name="T47" fmla="*/ 155 h 199"/>
              <a:gd name="T48" fmla="*/ 30 w 245"/>
              <a:gd name="T49" fmla="*/ 179 h 199"/>
              <a:gd name="T50" fmla="*/ 51 w 245"/>
              <a:gd name="T51" fmla="*/ 199 h 199"/>
              <a:gd name="T52" fmla="*/ 48 w 245"/>
              <a:gd name="T53" fmla="*/ 190 h 199"/>
              <a:gd name="T54" fmla="*/ 28 w 245"/>
              <a:gd name="T55" fmla="*/ 169 h 199"/>
              <a:gd name="T56" fmla="*/ 13 w 245"/>
              <a:gd name="T57" fmla="*/ 144 h 199"/>
              <a:gd name="T58" fmla="*/ 6 w 245"/>
              <a:gd name="T59" fmla="*/ 114 h 199"/>
              <a:gd name="T60" fmla="*/ 6 w 245"/>
              <a:gd name="T61" fmla="*/ 84 h 199"/>
              <a:gd name="T62" fmla="*/ 13 w 245"/>
              <a:gd name="T63" fmla="*/ 54 h 199"/>
              <a:gd name="T64" fmla="*/ 28 w 245"/>
              <a:gd name="T65" fmla="*/ 30 h 199"/>
              <a:gd name="T66" fmla="*/ 48 w 245"/>
              <a:gd name="T67" fmla="*/ 8 h 199"/>
              <a:gd name="T68" fmla="*/ 51 w 24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5" h="199">
                <a:moveTo>
                  <a:pt x="245" y="99"/>
                </a:moveTo>
                <a:lnTo>
                  <a:pt x="243" y="84"/>
                </a:lnTo>
                <a:lnTo>
                  <a:pt x="240" y="69"/>
                </a:lnTo>
                <a:lnTo>
                  <a:pt x="237" y="56"/>
                </a:lnTo>
                <a:lnTo>
                  <a:pt x="230" y="43"/>
                </a:lnTo>
                <a:lnTo>
                  <a:pt x="223" y="30"/>
                </a:lnTo>
                <a:lnTo>
                  <a:pt x="213" y="18"/>
                </a:lnTo>
                <a:lnTo>
                  <a:pt x="204" y="8"/>
                </a:lnTo>
                <a:lnTo>
                  <a:pt x="194" y="0"/>
                </a:lnTo>
                <a:lnTo>
                  <a:pt x="185" y="0"/>
                </a:lnTo>
                <a:lnTo>
                  <a:pt x="197" y="8"/>
                </a:lnTo>
                <a:lnTo>
                  <a:pt x="207" y="18"/>
                </a:lnTo>
                <a:lnTo>
                  <a:pt x="217" y="30"/>
                </a:lnTo>
                <a:lnTo>
                  <a:pt x="225" y="41"/>
                </a:lnTo>
                <a:lnTo>
                  <a:pt x="230" y="54"/>
                </a:lnTo>
                <a:lnTo>
                  <a:pt x="235" y="69"/>
                </a:lnTo>
                <a:lnTo>
                  <a:pt x="238" y="84"/>
                </a:lnTo>
                <a:lnTo>
                  <a:pt x="240" y="99"/>
                </a:lnTo>
                <a:lnTo>
                  <a:pt x="238" y="114"/>
                </a:lnTo>
                <a:lnTo>
                  <a:pt x="235" y="129"/>
                </a:lnTo>
                <a:lnTo>
                  <a:pt x="230" y="144"/>
                </a:lnTo>
                <a:lnTo>
                  <a:pt x="225" y="157"/>
                </a:lnTo>
                <a:lnTo>
                  <a:pt x="217" y="169"/>
                </a:lnTo>
                <a:lnTo>
                  <a:pt x="207" y="180"/>
                </a:lnTo>
                <a:lnTo>
                  <a:pt x="197" y="190"/>
                </a:lnTo>
                <a:lnTo>
                  <a:pt x="185" y="199"/>
                </a:lnTo>
                <a:lnTo>
                  <a:pt x="194" y="199"/>
                </a:lnTo>
                <a:lnTo>
                  <a:pt x="204" y="189"/>
                </a:lnTo>
                <a:lnTo>
                  <a:pt x="213" y="179"/>
                </a:lnTo>
                <a:lnTo>
                  <a:pt x="223" y="169"/>
                </a:lnTo>
                <a:lnTo>
                  <a:pt x="230" y="155"/>
                </a:lnTo>
                <a:lnTo>
                  <a:pt x="237" y="142"/>
                </a:lnTo>
                <a:lnTo>
                  <a:pt x="240" y="129"/>
                </a:lnTo>
                <a:lnTo>
                  <a:pt x="243" y="114"/>
                </a:lnTo>
                <a:lnTo>
                  <a:pt x="245" y="99"/>
                </a:lnTo>
                <a:close/>
                <a:moveTo>
                  <a:pt x="51" y="0"/>
                </a:moveTo>
                <a:lnTo>
                  <a:pt x="40" y="8"/>
                </a:lnTo>
                <a:lnTo>
                  <a:pt x="30" y="18"/>
                </a:lnTo>
                <a:lnTo>
                  <a:pt x="21" y="30"/>
                </a:lnTo>
                <a:lnTo>
                  <a:pt x="15" y="43"/>
                </a:lnTo>
                <a:lnTo>
                  <a:pt x="8" y="56"/>
                </a:lnTo>
                <a:lnTo>
                  <a:pt x="3" y="69"/>
                </a:lnTo>
                <a:lnTo>
                  <a:pt x="2" y="84"/>
                </a:lnTo>
                <a:lnTo>
                  <a:pt x="0" y="99"/>
                </a:lnTo>
                <a:lnTo>
                  <a:pt x="2" y="114"/>
                </a:lnTo>
                <a:lnTo>
                  <a:pt x="3" y="129"/>
                </a:lnTo>
                <a:lnTo>
                  <a:pt x="8" y="142"/>
                </a:lnTo>
                <a:lnTo>
                  <a:pt x="15" y="155"/>
                </a:lnTo>
                <a:lnTo>
                  <a:pt x="21" y="169"/>
                </a:lnTo>
                <a:lnTo>
                  <a:pt x="30" y="179"/>
                </a:lnTo>
                <a:lnTo>
                  <a:pt x="40" y="189"/>
                </a:lnTo>
                <a:lnTo>
                  <a:pt x="51" y="199"/>
                </a:lnTo>
                <a:lnTo>
                  <a:pt x="59" y="199"/>
                </a:lnTo>
                <a:lnTo>
                  <a:pt x="48" y="190"/>
                </a:lnTo>
                <a:lnTo>
                  <a:pt x="38" y="180"/>
                </a:lnTo>
                <a:lnTo>
                  <a:pt x="28" y="169"/>
                </a:lnTo>
                <a:lnTo>
                  <a:pt x="20" y="157"/>
                </a:lnTo>
                <a:lnTo>
                  <a:pt x="13" y="144"/>
                </a:lnTo>
                <a:lnTo>
                  <a:pt x="8" y="129"/>
                </a:lnTo>
                <a:lnTo>
                  <a:pt x="6" y="114"/>
                </a:lnTo>
                <a:lnTo>
                  <a:pt x="5" y="99"/>
                </a:lnTo>
                <a:lnTo>
                  <a:pt x="6" y="84"/>
                </a:lnTo>
                <a:lnTo>
                  <a:pt x="8" y="69"/>
                </a:lnTo>
                <a:lnTo>
                  <a:pt x="13" y="54"/>
                </a:lnTo>
                <a:lnTo>
                  <a:pt x="20" y="41"/>
                </a:lnTo>
                <a:lnTo>
                  <a:pt x="28" y="30"/>
                </a:lnTo>
                <a:lnTo>
                  <a:pt x="38" y="18"/>
                </a:lnTo>
                <a:lnTo>
                  <a:pt x="48" y="8"/>
                </a:lnTo>
                <a:lnTo>
                  <a:pt x="59" y="0"/>
                </a:lnTo>
                <a:lnTo>
                  <a:pt x="51"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68" name="Freeform 1573">
            <a:extLst>
              <a:ext uri="{FF2B5EF4-FFF2-40B4-BE49-F238E27FC236}">
                <a16:creationId xmlns:a16="http://schemas.microsoft.com/office/drawing/2014/main" id="{531B89B8-BE35-3051-C40B-1C259A1DAADA}"/>
              </a:ext>
            </a:extLst>
          </p:cNvPr>
          <p:cNvSpPr>
            <a:spLocks noEditPoints="1"/>
          </p:cNvSpPr>
          <p:nvPr/>
        </p:nvSpPr>
        <p:spPr bwMode="auto">
          <a:xfrm>
            <a:off x="2725738" y="2403475"/>
            <a:ext cx="379413" cy="315913"/>
          </a:xfrm>
          <a:custGeom>
            <a:avLst/>
            <a:gdLst>
              <a:gd name="T0" fmla="*/ 239 w 239"/>
              <a:gd name="T1" fmla="*/ 84 h 199"/>
              <a:gd name="T2" fmla="*/ 230 w 239"/>
              <a:gd name="T3" fmla="*/ 54 h 199"/>
              <a:gd name="T4" fmla="*/ 217 w 239"/>
              <a:gd name="T5" fmla="*/ 30 h 199"/>
              <a:gd name="T6" fmla="*/ 197 w 239"/>
              <a:gd name="T7" fmla="*/ 8 h 199"/>
              <a:gd name="T8" fmla="*/ 177 w 239"/>
              <a:gd name="T9" fmla="*/ 0 h 199"/>
              <a:gd name="T10" fmla="*/ 201 w 239"/>
              <a:gd name="T11" fmla="*/ 18 h 199"/>
              <a:gd name="T12" fmla="*/ 219 w 239"/>
              <a:gd name="T13" fmla="*/ 41 h 199"/>
              <a:gd name="T14" fmla="*/ 230 w 239"/>
              <a:gd name="T15" fmla="*/ 68 h 199"/>
              <a:gd name="T16" fmla="*/ 234 w 239"/>
              <a:gd name="T17" fmla="*/ 99 h 199"/>
              <a:gd name="T18" fmla="*/ 230 w 239"/>
              <a:gd name="T19" fmla="*/ 129 h 199"/>
              <a:gd name="T20" fmla="*/ 219 w 239"/>
              <a:gd name="T21" fmla="*/ 157 h 199"/>
              <a:gd name="T22" fmla="*/ 201 w 239"/>
              <a:gd name="T23" fmla="*/ 180 h 199"/>
              <a:gd name="T24" fmla="*/ 177 w 239"/>
              <a:gd name="T25" fmla="*/ 199 h 199"/>
              <a:gd name="T26" fmla="*/ 197 w 239"/>
              <a:gd name="T27" fmla="*/ 190 h 199"/>
              <a:gd name="T28" fmla="*/ 217 w 239"/>
              <a:gd name="T29" fmla="*/ 169 h 199"/>
              <a:gd name="T30" fmla="*/ 230 w 239"/>
              <a:gd name="T31" fmla="*/ 142 h 199"/>
              <a:gd name="T32" fmla="*/ 239 w 239"/>
              <a:gd name="T33" fmla="*/ 114 h 199"/>
              <a:gd name="T34" fmla="*/ 53 w 239"/>
              <a:gd name="T35" fmla="*/ 0 h 199"/>
              <a:gd name="T36" fmla="*/ 30 w 239"/>
              <a:gd name="T37" fmla="*/ 18 h 199"/>
              <a:gd name="T38" fmla="*/ 13 w 239"/>
              <a:gd name="T39" fmla="*/ 41 h 199"/>
              <a:gd name="T40" fmla="*/ 3 w 239"/>
              <a:gd name="T41" fmla="*/ 69 h 199"/>
              <a:gd name="T42" fmla="*/ 0 w 239"/>
              <a:gd name="T43" fmla="*/ 99 h 199"/>
              <a:gd name="T44" fmla="*/ 3 w 239"/>
              <a:gd name="T45" fmla="*/ 129 h 199"/>
              <a:gd name="T46" fmla="*/ 13 w 239"/>
              <a:gd name="T47" fmla="*/ 155 h 199"/>
              <a:gd name="T48" fmla="*/ 30 w 239"/>
              <a:gd name="T49" fmla="*/ 180 h 199"/>
              <a:gd name="T50" fmla="*/ 53 w 239"/>
              <a:gd name="T51" fmla="*/ 199 h 199"/>
              <a:gd name="T52" fmla="*/ 50 w 239"/>
              <a:gd name="T53" fmla="*/ 190 h 199"/>
              <a:gd name="T54" fmla="*/ 28 w 239"/>
              <a:gd name="T55" fmla="*/ 169 h 199"/>
              <a:gd name="T56" fmla="*/ 13 w 239"/>
              <a:gd name="T57" fmla="*/ 144 h 199"/>
              <a:gd name="T58" fmla="*/ 5 w 239"/>
              <a:gd name="T59" fmla="*/ 114 h 199"/>
              <a:gd name="T60" fmla="*/ 5 w 239"/>
              <a:gd name="T61" fmla="*/ 83 h 199"/>
              <a:gd name="T62" fmla="*/ 13 w 239"/>
              <a:gd name="T63" fmla="*/ 54 h 199"/>
              <a:gd name="T64" fmla="*/ 28 w 239"/>
              <a:gd name="T65" fmla="*/ 28 h 199"/>
              <a:gd name="T66" fmla="*/ 50 w 239"/>
              <a:gd name="T67" fmla="*/ 8 h 199"/>
              <a:gd name="T68" fmla="*/ 53 w 239"/>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9" h="199">
                <a:moveTo>
                  <a:pt x="239" y="99"/>
                </a:moveTo>
                <a:lnTo>
                  <a:pt x="239" y="84"/>
                </a:lnTo>
                <a:lnTo>
                  <a:pt x="235" y="69"/>
                </a:lnTo>
                <a:lnTo>
                  <a:pt x="230" y="54"/>
                </a:lnTo>
                <a:lnTo>
                  <a:pt x="224" y="41"/>
                </a:lnTo>
                <a:lnTo>
                  <a:pt x="217" y="30"/>
                </a:lnTo>
                <a:lnTo>
                  <a:pt x="207" y="18"/>
                </a:lnTo>
                <a:lnTo>
                  <a:pt x="197" y="8"/>
                </a:lnTo>
                <a:lnTo>
                  <a:pt x="186" y="0"/>
                </a:lnTo>
                <a:lnTo>
                  <a:pt x="177" y="0"/>
                </a:lnTo>
                <a:lnTo>
                  <a:pt x="189" y="8"/>
                </a:lnTo>
                <a:lnTo>
                  <a:pt x="201" y="18"/>
                </a:lnTo>
                <a:lnTo>
                  <a:pt x="210" y="28"/>
                </a:lnTo>
                <a:lnTo>
                  <a:pt x="219" y="41"/>
                </a:lnTo>
                <a:lnTo>
                  <a:pt x="225" y="54"/>
                </a:lnTo>
                <a:lnTo>
                  <a:pt x="230" y="68"/>
                </a:lnTo>
                <a:lnTo>
                  <a:pt x="234" y="83"/>
                </a:lnTo>
                <a:lnTo>
                  <a:pt x="234" y="99"/>
                </a:lnTo>
                <a:lnTo>
                  <a:pt x="234" y="114"/>
                </a:lnTo>
                <a:lnTo>
                  <a:pt x="230" y="129"/>
                </a:lnTo>
                <a:lnTo>
                  <a:pt x="225" y="144"/>
                </a:lnTo>
                <a:lnTo>
                  <a:pt x="219" y="157"/>
                </a:lnTo>
                <a:lnTo>
                  <a:pt x="210" y="169"/>
                </a:lnTo>
                <a:lnTo>
                  <a:pt x="201" y="180"/>
                </a:lnTo>
                <a:lnTo>
                  <a:pt x="189" y="190"/>
                </a:lnTo>
                <a:lnTo>
                  <a:pt x="177" y="199"/>
                </a:lnTo>
                <a:lnTo>
                  <a:pt x="186" y="199"/>
                </a:lnTo>
                <a:lnTo>
                  <a:pt x="197" y="190"/>
                </a:lnTo>
                <a:lnTo>
                  <a:pt x="207" y="180"/>
                </a:lnTo>
                <a:lnTo>
                  <a:pt x="217" y="169"/>
                </a:lnTo>
                <a:lnTo>
                  <a:pt x="224" y="155"/>
                </a:lnTo>
                <a:lnTo>
                  <a:pt x="230" y="142"/>
                </a:lnTo>
                <a:lnTo>
                  <a:pt x="235" y="129"/>
                </a:lnTo>
                <a:lnTo>
                  <a:pt x="239" y="114"/>
                </a:lnTo>
                <a:lnTo>
                  <a:pt x="239" y="99"/>
                </a:lnTo>
                <a:close/>
                <a:moveTo>
                  <a:pt x="53" y="0"/>
                </a:moveTo>
                <a:lnTo>
                  <a:pt x="42" y="8"/>
                </a:lnTo>
                <a:lnTo>
                  <a:pt x="30" y="18"/>
                </a:lnTo>
                <a:lnTo>
                  <a:pt x="22" y="30"/>
                </a:lnTo>
                <a:lnTo>
                  <a:pt x="13" y="41"/>
                </a:lnTo>
                <a:lnTo>
                  <a:pt x="8" y="54"/>
                </a:lnTo>
                <a:lnTo>
                  <a:pt x="3" y="69"/>
                </a:lnTo>
                <a:lnTo>
                  <a:pt x="0" y="84"/>
                </a:lnTo>
                <a:lnTo>
                  <a:pt x="0" y="99"/>
                </a:lnTo>
                <a:lnTo>
                  <a:pt x="0" y="114"/>
                </a:lnTo>
                <a:lnTo>
                  <a:pt x="3" y="129"/>
                </a:lnTo>
                <a:lnTo>
                  <a:pt x="8" y="142"/>
                </a:lnTo>
                <a:lnTo>
                  <a:pt x="13" y="155"/>
                </a:lnTo>
                <a:lnTo>
                  <a:pt x="22" y="169"/>
                </a:lnTo>
                <a:lnTo>
                  <a:pt x="30" y="180"/>
                </a:lnTo>
                <a:lnTo>
                  <a:pt x="42" y="190"/>
                </a:lnTo>
                <a:lnTo>
                  <a:pt x="53" y="199"/>
                </a:lnTo>
                <a:lnTo>
                  <a:pt x="61" y="199"/>
                </a:lnTo>
                <a:lnTo>
                  <a:pt x="50" y="190"/>
                </a:lnTo>
                <a:lnTo>
                  <a:pt x="38" y="180"/>
                </a:lnTo>
                <a:lnTo>
                  <a:pt x="28" y="169"/>
                </a:lnTo>
                <a:lnTo>
                  <a:pt x="20" y="157"/>
                </a:lnTo>
                <a:lnTo>
                  <a:pt x="13" y="144"/>
                </a:lnTo>
                <a:lnTo>
                  <a:pt x="8" y="129"/>
                </a:lnTo>
                <a:lnTo>
                  <a:pt x="5" y="114"/>
                </a:lnTo>
                <a:lnTo>
                  <a:pt x="3" y="99"/>
                </a:lnTo>
                <a:lnTo>
                  <a:pt x="5" y="83"/>
                </a:lnTo>
                <a:lnTo>
                  <a:pt x="8" y="68"/>
                </a:lnTo>
                <a:lnTo>
                  <a:pt x="13" y="54"/>
                </a:lnTo>
                <a:lnTo>
                  <a:pt x="20" y="41"/>
                </a:lnTo>
                <a:lnTo>
                  <a:pt x="28" y="28"/>
                </a:lnTo>
                <a:lnTo>
                  <a:pt x="38" y="18"/>
                </a:lnTo>
                <a:lnTo>
                  <a:pt x="50" y="8"/>
                </a:lnTo>
                <a:lnTo>
                  <a:pt x="61" y="0"/>
                </a:lnTo>
                <a:lnTo>
                  <a:pt x="53"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69" name="Freeform 1574">
            <a:extLst>
              <a:ext uri="{FF2B5EF4-FFF2-40B4-BE49-F238E27FC236}">
                <a16:creationId xmlns:a16="http://schemas.microsoft.com/office/drawing/2014/main" id="{05EAFF60-BEFE-D351-D961-0FFF2BA871E1}"/>
              </a:ext>
            </a:extLst>
          </p:cNvPr>
          <p:cNvSpPr>
            <a:spLocks noEditPoints="1"/>
          </p:cNvSpPr>
          <p:nvPr/>
        </p:nvSpPr>
        <p:spPr bwMode="auto">
          <a:xfrm>
            <a:off x="2728913" y="2403475"/>
            <a:ext cx="373063" cy="315913"/>
          </a:xfrm>
          <a:custGeom>
            <a:avLst/>
            <a:gdLst>
              <a:gd name="T0" fmla="*/ 233 w 235"/>
              <a:gd name="T1" fmla="*/ 84 h 199"/>
              <a:gd name="T2" fmla="*/ 225 w 235"/>
              <a:gd name="T3" fmla="*/ 54 h 199"/>
              <a:gd name="T4" fmla="*/ 212 w 235"/>
              <a:gd name="T5" fmla="*/ 30 h 199"/>
              <a:gd name="T6" fmla="*/ 192 w 235"/>
              <a:gd name="T7" fmla="*/ 8 h 199"/>
              <a:gd name="T8" fmla="*/ 170 w 235"/>
              <a:gd name="T9" fmla="*/ 0 h 199"/>
              <a:gd name="T10" fmla="*/ 194 w 235"/>
              <a:gd name="T11" fmla="*/ 16 h 199"/>
              <a:gd name="T12" fmla="*/ 213 w 235"/>
              <a:gd name="T13" fmla="*/ 40 h 199"/>
              <a:gd name="T14" fmla="*/ 225 w 235"/>
              <a:gd name="T15" fmla="*/ 68 h 199"/>
              <a:gd name="T16" fmla="*/ 230 w 235"/>
              <a:gd name="T17" fmla="*/ 99 h 199"/>
              <a:gd name="T18" fmla="*/ 225 w 235"/>
              <a:gd name="T19" fmla="*/ 131 h 199"/>
              <a:gd name="T20" fmla="*/ 213 w 235"/>
              <a:gd name="T21" fmla="*/ 157 h 199"/>
              <a:gd name="T22" fmla="*/ 194 w 235"/>
              <a:gd name="T23" fmla="*/ 180 h 199"/>
              <a:gd name="T24" fmla="*/ 170 w 235"/>
              <a:gd name="T25" fmla="*/ 199 h 199"/>
              <a:gd name="T26" fmla="*/ 192 w 235"/>
              <a:gd name="T27" fmla="*/ 190 h 199"/>
              <a:gd name="T28" fmla="*/ 212 w 235"/>
              <a:gd name="T29" fmla="*/ 169 h 199"/>
              <a:gd name="T30" fmla="*/ 225 w 235"/>
              <a:gd name="T31" fmla="*/ 144 h 199"/>
              <a:gd name="T32" fmla="*/ 233 w 235"/>
              <a:gd name="T33" fmla="*/ 114 h 199"/>
              <a:gd name="T34" fmla="*/ 54 w 235"/>
              <a:gd name="T35" fmla="*/ 0 h 199"/>
              <a:gd name="T36" fmla="*/ 33 w 235"/>
              <a:gd name="T37" fmla="*/ 18 h 199"/>
              <a:gd name="T38" fmla="*/ 15 w 235"/>
              <a:gd name="T39" fmla="*/ 41 h 199"/>
              <a:gd name="T40" fmla="*/ 3 w 235"/>
              <a:gd name="T41" fmla="*/ 69 h 199"/>
              <a:gd name="T42" fmla="*/ 0 w 235"/>
              <a:gd name="T43" fmla="*/ 99 h 199"/>
              <a:gd name="T44" fmla="*/ 3 w 235"/>
              <a:gd name="T45" fmla="*/ 129 h 199"/>
              <a:gd name="T46" fmla="*/ 15 w 235"/>
              <a:gd name="T47" fmla="*/ 157 h 199"/>
              <a:gd name="T48" fmla="*/ 33 w 235"/>
              <a:gd name="T49" fmla="*/ 180 h 199"/>
              <a:gd name="T50" fmla="*/ 54 w 235"/>
              <a:gd name="T51" fmla="*/ 199 h 199"/>
              <a:gd name="T52" fmla="*/ 51 w 235"/>
              <a:gd name="T53" fmla="*/ 190 h 199"/>
              <a:gd name="T54" fmla="*/ 30 w 235"/>
              <a:gd name="T55" fmla="*/ 170 h 199"/>
              <a:gd name="T56" fmla="*/ 15 w 235"/>
              <a:gd name="T57" fmla="*/ 144 h 199"/>
              <a:gd name="T58" fmla="*/ 6 w 235"/>
              <a:gd name="T59" fmla="*/ 114 h 199"/>
              <a:gd name="T60" fmla="*/ 6 w 235"/>
              <a:gd name="T61" fmla="*/ 83 h 199"/>
              <a:gd name="T62" fmla="*/ 15 w 235"/>
              <a:gd name="T63" fmla="*/ 53 h 199"/>
              <a:gd name="T64" fmla="*/ 30 w 235"/>
              <a:gd name="T65" fmla="*/ 28 h 199"/>
              <a:gd name="T66" fmla="*/ 51 w 235"/>
              <a:gd name="T67" fmla="*/ 8 h 199"/>
              <a:gd name="T68" fmla="*/ 54 w 23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5" h="199">
                <a:moveTo>
                  <a:pt x="235" y="99"/>
                </a:moveTo>
                <a:lnTo>
                  <a:pt x="233" y="84"/>
                </a:lnTo>
                <a:lnTo>
                  <a:pt x="230" y="69"/>
                </a:lnTo>
                <a:lnTo>
                  <a:pt x="225" y="54"/>
                </a:lnTo>
                <a:lnTo>
                  <a:pt x="220" y="41"/>
                </a:lnTo>
                <a:lnTo>
                  <a:pt x="212" y="30"/>
                </a:lnTo>
                <a:lnTo>
                  <a:pt x="202" y="18"/>
                </a:lnTo>
                <a:lnTo>
                  <a:pt x="192" y="8"/>
                </a:lnTo>
                <a:lnTo>
                  <a:pt x="180" y="0"/>
                </a:lnTo>
                <a:lnTo>
                  <a:pt x="170" y="0"/>
                </a:lnTo>
                <a:lnTo>
                  <a:pt x="182" y="8"/>
                </a:lnTo>
                <a:lnTo>
                  <a:pt x="194" y="16"/>
                </a:lnTo>
                <a:lnTo>
                  <a:pt x="205" y="28"/>
                </a:lnTo>
                <a:lnTo>
                  <a:pt x="213" y="40"/>
                </a:lnTo>
                <a:lnTo>
                  <a:pt x="220" y="53"/>
                </a:lnTo>
                <a:lnTo>
                  <a:pt x="225" y="68"/>
                </a:lnTo>
                <a:lnTo>
                  <a:pt x="228" y="83"/>
                </a:lnTo>
                <a:lnTo>
                  <a:pt x="230" y="99"/>
                </a:lnTo>
                <a:lnTo>
                  <a:pt x="228" y="114"/>
                </a:lnTo>
                <a:lnTo>
                  <a:pt x="225" y="131"/>
                </a:lnTo>
                <a:lnTo>
                  <a:pt x="220" y="144"/>
                </a:lnTo>
                <a:lnTo>
                  <a:pt x="213" y="157"/>
                </a:lnTo>
                <a:lnTo>
                  <a:pt x="205" y="170"/>
                </a:lnTo>
                <a:lnTo>
                  <a:pt x="194" y="180"/>
                </a:lnTo>
                <a:lnTo>
                  <a:pt x="182" y="190"/>
                </a:lnTo>
                <a:lnTo>
                  <a:pt x="170" y="199"/>
                </a:lnTo>
                <a:lnTo>
                  <a:pt x="180" y="199"/>
                </a:lnTo>
                <a:lnTo>
                  <a:pt x="192" y="190"/>
                </a:lnTo>
                <a:lnTo>
                  <a:pt x="202" y="180"/>
                </a:lnTo>
                <a:lnTo>
                  <a:pt x="212" y="169"/>
                </a:lnTo>
                <a:lnTo>
                  <a:pt x="220" y="157"/>
                </a:lnTo>
                <a:lnTo>
                  <a:pt x="225" y="144"/>
                </a:lnTo>
                <a:lnTo>
                  <a:pt x="230" y="129"/>
                </a:lnTo>
                <a:lnTo>
                  <a:pt x="233" y="114"/>
                </a:lnTo>
                <a:lnTo>
                  <a:pt x="235" y="99"/>
                </a:lnTo>
                <a:close/>
                <a:moveTo>
                  <a:pt x="54" y="0"/>
                </a:moveTo>
                <a:lnTo>
                  <a:pt x="43" y="8"/>
                </a:lnTo>
                <a:lnTo>
                  <a:pt x="33" y="18"/>
                </a:lnTo>
                <a:lnTo>
                  <a:pt x="23" y="30"/>
                </a:lnTo>
                <a:lnTo>
                  <a:pt x="15" y="41"/>
                </a:lnTo>
                <a:lnTo>
                  <a:pt x="8" y="54"/>
                </a:lnTo>
                <a:lnTo>
                  <a:pt x="3" y="69"/>
                </a:lnTo>
                <a:lnTo>
                  <a:pt x="1" y="84"/>
                </a:lnTo>
                <a:lnTo>
                  <a:pt x="0" y="99"/>
                </a:lnTo>
                <a:lnTo>
                  <a:pt x="1" y="114"/>
                </a:lnTo>
                <a:lnTo>
                  <a:pt x="3" y="129"/>
                </a:lnTo>
                <a:lnTo>
                  <a:pt x="8" y="144"/>
                </a:lnTo>
                <a:lnTo>
                  <a:pt x="15" y="157"/>
                </a:lnTo>
                <a:lnTo>
                  <a:pt x="23" y="169"/>
                </a:lnTo>
                <a:lnTo>
                  <a:pt x="33" y="180"/>
                </a:lnTo>
                <a:lnTo>
                  <a:pt x="43" y="190"/>
                </a:lnTo>
                <a:lnTo>
                  <a:pt x="54" y="199"/>
                </a:lnTo>
                <a:lnTo>
                  <a:pt x="64" y="199"/>
                </a:lnTo>
                <a:lnTo>
                  <a:pt x="51" y="190"/>
                </a:lnTo>
                <a:lnTo>
                  <a:pt x="40" y="180"/>
                </a:lnTo>
                <a:lnTo>
                  <a:pt x="30" y="170"/>
                </a:lnTo>
                <a:lnTo>
                  <a:pt x="21" y="157"/>
                </a:lnTo>
                <a:lnTo>
                  <a:pt x="15" y="144"/>
                </a:lnTo>
                <a:lnTo>
                  <a:pt x="10" y="131"/>
                </a:lnTo>
                <a:lnTo>
                  <a:pt x="6" y="114"/>
                </a:lnTo>
                <a:lnTo>
                  <a:pt x="5" y="99"/>
                </a:lnTo>
                <a:lnTo>
                  <a:pt x="6" y="83"/>
                </a:lnTo>
                <a:lnTo>
                  <a:pt x="10" y="68"/>
                </a:lnTo>
                <a:lnTo>
                  <a:pt x="15" y="53"/>
                </a:lnTo>
                <a:lnTo>
                  <a:pt x="21" y="40"/>
                </a:lnTo>
                <a:lnTo>
                  <a:pt x="30" y="28"/>
                </a:lnTo>
                <a:lnTo>
                  <a:pt x="40" y="16"/>
                </a:lnTo>
                <a:lnTo>
                  <a:pt x="51" y="8"/>
                </a:lnTo>
                <a:lnTo>
                  <a:pt x="64" y="0"/>
                </a:lnTo>
                <a:lnTo>
                  <a:pt x="54"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70" name="Freeform 1575">
            <a:extLst>
              <a:ext uri="{FF2B5EF4-FFF2-40B4-BE49-F238E27FC236}">
                <a16:creationId xmlns:a16="http://schemas.microsoft.com/office/drawing/2014/main" id="{CB93E22D-67E7-372F-6469-51CBFEF0AD28}"/>
              </a:ext>
            </a:extLst>
          </p:cNvPr>
          <p:cNvSpPr>
            <a:spLocks noEditPoints="1"/>
          </p:cNvSpPr>
          <p:nvPr/>
        </p:nvSpPr>
        <p:spPr bwMode="auto">
          <a:xfrm>
            <a:off x="2730500" y="2403475"/>
            <a:ext cx="366713" cy="315913"/>
          </a:xfrm>
          <a:custGeom>
            <a:avLst/>
            <a:gdLst>
              <a:gd name="T0" fmla="*/ 231 w 231"/>
              <a:gd name="T1" fmla="*/ 83 h 199"/>
              <a:gd name="T2" fmla="*/ 222 w 231"/>
              <a:gd name="T3" fmla="*/ 54 h 199"/>
              <a:gd name="T4" fmla="*/ 207 w 231"/>
              <a:gd name="T5" fmla="*/ 28 h 199"/>
              <a:gd name="T6" fmla="*/ 186 w 231"/>
              <a:gd name="T7" fmla="*/ 8 h 199"/>
              <a:gd name="T8" fmla="*/ 164 w 231"/>
              <a:gd name="T9" fmla="*/ 0 h 199"/>
              <a:gd name="T10" fmla="*/ 189 w 231"/>
              <a:gd name="T11" fmla="*/ 16 h 199"/>
              <a:gd name="T12" fmla="*/ 209 w 231"/>
              <a:gd name="T13" fmla="*/ 40 h 199"/>
              <a:gd name="T14" fmla="*/ 222 w 231"/>
              <a:gd name="T15" fmla="*/ 68 h 199"/>
              <a:gd name="T16" fmla="*/ 226 w 231"/>
              <a:gd name="T17" fmla="*/ 99 h 199"/>
              <a:gd name="T18" fmla="*/ 222 w 231"/>
              <a:gd name="T19" fmla="*/ 131 h 199"/>
              <a:gd name="T20" fmla="*/ 209 w 231"/>
              <a:gd name="T21" fmla="*/ 159 h 199"/>
              <a:gd name="T22" fmla="*/ 189 w 231"/>
              <a:gd name="T23" fmla="*/ 182 h 199"/>
              <a:gd name="T24" fmla="*/ 164 w 231"/>
              <a:gd name="T25" fmla="*/ 199 h 199"/>
              <a:gd name="T26" fmla="*/ 186 w 231"/>
              <a:gd name="T27" fmla="*/ 190 h 199"/>
              <a:gd name="T28" fmla="*/ 207 w 231"/>
              <a:gd name="T29" fmla="*/ 169 h 199"/>
              <a:gd name="T30" fmla="*/ 222 w 231"/>
              <a:gd name="T31" fmla="*/ 144 h 199"/>
              <a:gd name="T32" fmla="*/ 231 w 231"/>
              <a:gd name="T33" fmla="*/ 114 h 199"/>
              <a:gd name="T34" fmla="*/ 58 w 231"/>
              <a:gd name="T35" fmla="*/ 0 h 199"/>
              <a:gd name="T36" fmla="*/ 35 w 231"/>
              <a:gd name="T37" fmla="*/ 18 h 199"/>
              <a:gd name="T38" fmla="*/ 17 w 231"/>
              <a:gd name="T39" fmla="*/ 41 h 199"/>
              <a:gd name="T40" fmla="*/ 5 w 231"/>
              <a:gd name="T41" fmla="*/ 68 h 199"/>
              <a:gd name="T42" fmla="*/ 0 w 231"/>
              <a:gd name="T43" fmla="*/ 99 h 199"/>
              <a:gd name="T44" fmla="*/ 5 w 231"/>
              <a:gd name="T45" fmla="*/ 129 h 199"/>
              <a:gd name="T46" fmla="*/ 17 w 231"/>
              <a:gd name="T47" fmla="*/ 157 h 199"/>
              <a:gd name="T48" fmla="*/ 35 w 231"/>
              <a:gd name="T49" fmla="*/ 180 h 199"/>
              <a:gd name="T50" fmla="*/ 58 w 231"/>
              <a:gd name="T51" fmla="*/ 199 h 199"/>
              <a:gd name="T52" fmla="*/ 55 w 231"/>
              <a:gd name="T53" fmla="*/ 190 h 199"/>
              <a:gd name="T54" fmla="*/ 32 w 231"/>
              <a:gd name="T55" fmla="*/ 170 h 199"/>
              <a:gd name="T56" fmla="*/ 15 w 231"/>
              <a:gd name="T57" fmla="*/ 146 h 199"/>
              <a:gd name="T58" fmla="*/ 7 w 231"/>
              <a:gd name="T59" fmla="*/ 116 h 199"/>
              <a:gd name="T60" fmla="*/ 7 w 231"/>
              <a:gd name="T61" fmla="*/ 83 h 199"/>
              <a:gd name="T62" fmla="*/ 15 w 231"/>
              <a:gd name="T63" fmla="*/ 53 h 199"/>
              <a:gd name="T64" fmla="*/ 32 w 231"/>
              <a:gd name="T65" fmla="*/ 28 h 199"/>
              <a:gd name="T66" fmla="*/ 55 w 231"/>
              <a:gd name="T67" fmla="*/ 6 h 199"/>
              <a:gd name="T68" fmla="*/ 58 w 23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1" h="199">
                <a:moveTo>
                  <a:pt x="231" y="99"/>
                </a:moveTo>
                <a:lnTo>
                  <a:pt x="231" y="83"/>
                </a:lnTo>
                <a:lnTo>
                  <a:pt x="227" y="68"/>
                </a:lnTo>
                <a:lnTo>
                  <a:pt x="222" y="54"/>
                </a:lnTo>
                <a:lnTo>
                  <a:pt x="216" y="41"/>
                </a:lnTo>
                <a:lnTo>
                  <a:pt x="207" y="28"/>
                </a:lnTo>
                <a:lnTo>
                  <a:pt x="198" y="18"/>
                </a:lnTo>
                <a:lnTo>
                  <a:pt x="186" y="8"/>
                </a:lnTo>
                <a:lnTo>
                  <a:pt x="174" y="0"/>
                </a:lnTo>
                <a:lnTo>
                  <a:pt x="164" y="0"/>
                </a:lnTo>
                <a:lnTo>
                  <a:pt x="178" y="6"/>
                </a:lnTo>
                <a:lnTo>
                  <a:pt x="189" y="16"/>
                </a:lnTo>
                <a:lnTo>
                  <a:pt x="199" y="28"/>
                </a:lnTo>
                <a:lnTo>
                  <a:pt x="209" y="40"/>
                </a:lnTo>
                <a:lnTo>
                  <a:pt x="216" y="53"/>
                </a:lnTo>
                <a:lnTo>
                  <a:pt x="222" y="68"/>
                </a:lnTo>
                <a:lnTo>
                  <a:pt x="226" y="83"/>
                </a:lnTo>
                <a:lnTo>
                  <a:pt x="226" y="99"/>
                </a:lnTo>
                <a:lnTo>
                  <a:pt x="226" y="116"/>
                </a:lnTo>
                <a:lnTo>
                  <a:pt x="222" y="131"/>
                </a:lnTo>
                <a:lnTo>
                  <a:pt x="216" y="146"/>
                </a:lnTo>
                <a:lnTo>
                  <a:pt x="209" y="159"/>
                </a:lnTo>
                <a:lnTo>
                  <a:pt x="199" y="170"/>
                </a:lnTo>
                <a:lnTo>
                  <a:pt x="189" y="182"/>
                </a:lnTo>
                <a:lnTo>
                  <a:pt x="178" y="190"/>
                </a:lnTo>
                <a:lnTo>
                  <a:pt x="164" y="199"/>
                </a:lnTo>
                <a:lnTo>
                  <a:pt x="174" y="199"/>
                </a:lnTo>
                <a:lnTo>
                  <a:pt x="186" y="190"/>
                </a:lnTo>
                <a:lnTo>
                  <a:pt x="198" y="180"/>
                </a:lnTo>
                <a:lnTo>
                  <a:pt x="207" y="169"/>
                </a:lnTo>
                <a:lnTo>
                  <a:pt x="216" y="157"/>
                </a:lnTo>
                <a:lnTo>
                  <a:pt x="222" y="144"/>
                </a:lnTo>
                <a:lnTo>
                  <a:pt x="227" y="129"/>
                </a:lnTo>
                <a:lnTo>
                  <a:pt x="231" y="114"/>
                </a:lnTo>
                <a:lnTo>
                  <a:pt x="231" y="99"/>
                </a:lnTo>
                <a:close/>
                <a:moveTo>
                  <a:pt x="58" y="0"/>
                </a:moveTo>
                <a:lnTo>
                  <a:pt x="47" y="8"/>
                </a:lnTo>
                <a:lnTo>
                  <a:pt x="35" y="18"/>
                </a:lnTo>
                <a:lnTo>
                  <a:pt x="25" y="28"/>
                </a:lnTo>
                <a:lnTo>
                  <a:pt x="17" y="41"/>
                </a:lnTo>
                <a:lnTo>
                  <a:pt x="10" y="54"/>
                </a:lnTo>
                <a:lnTo>
                  <a:pt x="5" y="68"/>
                </a:lnTo>
                <a:lnTo>
                  <a:pt x="2" y="83"/>
                </a:lnTo>
                <a:lnTo>
                  <a:pt x="0" y="99"/>
                </a:lnTo>
                <a:lnTo>
                  <a:pt x="2" y="114"/>
                </a:lnTo>
                <a:lnTo>
                  <a:pt x="5" y="129"/>
                </a:lnTo>
                <a:lnTo>
                  <a:pt x="10" y="144"/>
                </a:lnTo>
                <a:lnTo>
                  <a:pt x="17" y="157"/>
                </a:lnTo>
                <a:lnTo>
                  <a:pt x="25" y="169"/>
                </a:lnTo>
                <a:lnTo>
                  <a:pt x="35" y="180"/>
                </a:lnTo>
                <a:lnTo>
                  <a:pt x="47" y="190"/>
                </a:lnTo>
                <a:lnTo>
                  <a:pt x="58" y="199"/>
                </a:lnTo>
                <a:lnTo>
                  <a:pt x="68" y="199"/>
                </a:lnTo>
                <a:lnTo>
                  <a:pt x="55" y="190"/>
                </a:lnTo>
                <a:lnTo>
                  <a:pt x="44" y="182"/>
                </a:lnTo>
                <a:lnTo>
                  <a:pt x="32" y="170"/>
                </a:lnTo>
                <a:lnTo>
                  <a:pt x="24" y="159"/>
                </a:lnTo>
                <a:lnTo>
                  <a:pt x="15" y="146"/>
                </a:lnTo>
                <a:lnTo>
                  <a:pt x="10" y="131"/>
                </a:lnTo>
                <a:lnTo>
                  <a:pt x="7" y="116"/>
                </a:lnTo>
                <a:lnTo>
                  <a:pt x="5" y="99"/>
                </a:lnTo>
                <a:lnTo>
                  <a:pt x="7" y="83"/>
                </a:lnTo>
                <a:lnTo>
                  <a:pt x="10" y="68"/>
                </a:lnTo>
                <a:lnTo>
                  <a:pt x="15" y="53"/>
                </a:lnTo>
                <a:lnTo>
                  <a:pt x="24" y="40"/>
                </a:lnTo>
                <a:lnTo>
                  <a:pt x="32" y="28"/>
                </a:lnTo>
                <a:lnTo>
                  <a:pt x="44" y="16"/>
                </a:lnTo>
                <a:lnTo>
                  <a:pt x="55" y="6"/>
                </a:lnTo>
                <a:lnTo>
                  <a:pt x="68" y="0"/>
                </a:lnTo>
                <a:lnTo>
                  <a:pt x="58"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71" name="Freeform 1576">
            <a:extLst>
              <a:ext uri="{FF2B5EF4-FFF2-40B4-BE49-F238E27FC236}">
                <a16:creationId xmlns:a16="http://schemas.microsoft.com/office/drawing/2014/main" id="{86C6AE77-7EFD-78B6-A5EE-2909C2023D64}"/>
              </a:ext>
            </a:extLst>
          </p:cNvPr>
          <p:cNvSpPr>
            <a:spLocks noEditPoints="1"/>
          </p:cNvSpPr>
          <p:nvPr/>
        </p:nvSpPr>
        <p:spPr bwMode="auto">
          <a:xfrm>
            <a:off x="2736850" y="2403475"/>
            <a:ext cx="357188" cy="315913"/>
          </a:xfrm>
          <a:custGeom>
            <a:avLst/>
            <a:gdLst>
              <a:gd name="T0" fmla="*/ 223 w 225"/>
              <a:gd name="T1" fmla="*/ 83 h 199"/>
              <a:gd name="T2" fmla="*/ 215 w 225"/>
              <a:gd name="T3" fmla="*/ 53 h 199"/>
              <a:gd name="T4" fmla="*/ 200 w 225"/>
              <a:gd name="T5" fmla="*/ 28 h 199"/>
              <a:gd name="T6" fmla="*/ 177 w 225"/>
              <a:gd name="T7" fmla="*/ 8 h 199"/>
              <a:gd name="T8" fmla="*/ 154 w 225"/>
              <a:gd name="T9" fmla="*/ 0 h 199"/>
              <a:gd name="T10" fmla="*/ 180 w 225"/>
              <a:gd name="T11" fmla="*/ 16 h 199"/>
              <a:gd name="T12" fmla="*/ 202 w 225"/>
              <a:gd name="T13" fmla="*/ 38 h 199"/>
              <a:gd name="T14" fmla="*/ 215 w 225"/>
              <a:gd name="T15" fmla="*/ 68 h 199"/>
              <a:gd name="T16" fmla="*/ 220 w 225"/>
              <a:gd name="T17" fmla="*/ 99 h 199"/>
              <a:gd name="T18" fmla="*/ 215 w 225"/>
              <a:gd name="T19" fmla="*/ 131 h 199"/>
              <a:gd name="T20" fmla="*/ 202 w 225"/>
              <a:gd name="T21" fmla="*/ 159 h 199"/>
              <a:gd name="T22" fmla="*/ 180 w 225"/>
              <a:gd name="T23" fmla="*/ 182 h 199"/>
              <a:gd name="T24" fmla="*/ 154 w 225"/>
              <a:gd name="T25" fmla="*/ 199 h 199"/>
              <a:gd name="T26" fmla="*/ 177 w 225"/>
              <a:gd name="T27" fmla="*/ 190 h 199"/>
              <a:gd name="T28" fmla="*/ 200 w 225"/>
              <a:gd name="T29" fmla="*/ 170 h 199"/>
              <a:gd name="T30" fmla="*/ 215 w 225"/>
              <a:gd name="T31" fmla="*/ 144 h 199"/>
              <a:gd name="T32" fmla="*/ 223 w 225"/>
              <a:gd name="T33" fmla="*/ 114 h 199"/>
              <a:gd name="T34" fmla="*/ 59 w 225"/>
              <a:gd name="T35" fmla="*/ 0 h 199"/>
              <a:gd name="T36" fmla="*/ 35 w 225"/>
              <a:gd name="T37" fmla="*/ 16 h 199"/>
              <a:gd name="T38" fmla="*/ 16 w 225"/>
              <a:gd name="T39" fmla="*/ 40 h 199"/>
              <a:gd name="T40" fmla="*/ 5 w 225"/>
              <a:gd name="T41" fmla="*/ 68 h 199"/>
              <a:gd name="T42" fmla="*/ 0 w 225"/>
              <a:gd name="T43" fmla="*/ 99 h 199"/>
              <a:gd name="T44" fmla="*/ 5 w 225"/>
              <a:gd name="T45" fmla="*/ 131 h 199"/>
              <a:gd name="T46" fmla="*/ 16 w 225"/>
              <a:gd name="T47" fmla="*/ 157 h 199"/>
              <a:gd name="T48" fmla="*/ 35 w 225"/>
              <a:gd name="T49" fmla="*/ 180 h 199"/>
              <a:gd name="T50" fmla="*/ 59 w 225"/>
              <a:gd name="T51" fmla="*/ 199 h 199"/>
              <a:gd name="T52" fmla="*/ 56 w 225"/>
              <a:gd name="T53" fmla="*/ 192 h 199"/>
              <a:gd name="T54" fmla="*/ 33 w 225"/>
              <a:gd name="T55" fmla="*/ 172 h 199"/>
              <a:gd name="T56" fmla="*/ 15 w 225"/>
              <a:gd name="T57" fmla="*/ 146 h 199"/>
              <a:gd name="T58" fmla="*/ 6 w 225"/>
              <a:gd name="T59" fmla="*/ 116 h 199"/>
              <a:gd name="T60" fmla="*/ 6 w 225"/>
              <a:gd name="T61" fmla="*/ 83 h 199"/>
              <a:gd name="T62" fmla="*/ 15 w 225"/>
              <a:gd name="T63" fmla="*/ 53 h 199"/>
              <a:gd name="T64" fmla="*/ 33 w 225"/>
              <a:gd name="T65" fmla="*/ 26 h 199"/>
              <a:gd name="T66" fmla="*/ 56 w 225"/>
              <a:gd name="T67" fmla="*/ 6 h 199"/>
              <a:gd name="T68" fmla="*/ 59 w 22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5" h="199">
                <a:moveTo>
                  <a:pt x="225" y="99"/>
                </a:moveTo>
                <a:lnTo>
                  <a:pt x="223" y="83"/>
                </a:lnTo>
                <a:lnTo>
                  <a:pt x="220" y="68"/>
                </a:lnTo>
                <a:lnTo>
                  <a:pt x="215" y="53"/>
                </a:lnTo>
                <a:lnTo>
                  <a:pt x="208" y="40"/>
                </a:lnTo>
                <a:lnTo>
                  <a:pt x="200" y="28"/>
                </a:lnTo>
                <a:lnTo>
                  <a:pt x="189" y="16"/>
                </a:lnTo>
                <a:lnTo>
                  <a:pt x="177" y="8"/>
                </a:lnTo>
                <a:lnTo>
                  <a:pt x="165" y="0"/>
                </a:lnTo>
                <a:lnTo>
                  <a:pt x="154" y="0"/>
                </a:lnTo>
                <a:lnTo>
                  <a:pt x="167" y="6"/>
                </a:lnTo>
                <a:lnTo>
                  <a:pt x="180" y="16"/>
                </a:lnTo>
                <a:lnTo>
                  <a:pt x="192" y="26"/>
                </a:lnTo>
                <a:lnTo>
                  <a:pt x="202" y="38"/>
                </a:lnTo>
                <a:lnTo>
                  <a:pt x="208" y="53"/>
                </a:lnTo>
                <a:lnTo>
                  <a:pt x="215" y="68"/>
                </a:lnTo>
                <a:lnTo>
                  <a:pt x="218" y="83"/>
                </a:lnTo>
                <a:lnTo>
                  <a:pt x="220" y="99"/>
                </a:lnTo>
                <a:lnTo>
                  <a:pt x="218" y="116"/>
                </a:lnTo>
                <a:lnTo>
                  <a:pt x="215" y="131"/>
                </a:lnTo>
                <a:lnTo>
                  <a:pt x="208" y="146"/>
                </a:lnTo>
                <a:lnTo>
                  <a:pt x="202" y="159"/>
                </a:lnTo>
                <a:lnTo>
                  <a:pt x="192" y="172"/>
                </a:lnTo>
                <a:lnTo>
                  <a:pt x="180" y="182"/>
                </a:lnTo>
                <a:lnTo>
                  <a:pt x="167" y="192"/>
                </a:lnTo>
                <a:lnTo>
                  <a:pt x="154" y="199"/>
                </a:lnTo>
                <a:lnTo>
                  <a:pt x="165" y="199"/>
                </a:lnTo>
                <a:lnTo>
                  <a:pt x="177" y="190"/>
                </a:lnTo>
                <a:lnTo>
                  <a:pt x="189" y="180"/>
                </a:lnTo>
                <a:lnTo>
                  <a:pt x="200" y="170"/>
                </a:lnTo>
                <a:lnTo>
                  <a:pt x="208" y="157"/>
                </a:lnTo>
                <a:lnTo>
                  <a:pt x="215" y="144"/>
                </a:lnTo>
                <a:lnTo>
                  <a:pt x="220" y="131"/>
                </a:lnTo>
                <a:lnTo>
                  <a:pt x="223" y="114"/>
                </a:lnTo>
                <a:lnTo>
                  <a:pt x="225" y="99"/>
                </a:lnTo>
                <a:close/>
                <a:moveTo>
                  <a:pt x="59" y="0"/>
                </a:moveTo>
                <a:lnTo>
                  <a:pt x="46" y="8"/>
                </a:lnTo>
                <a:lnTo>
                  <a:pt x="35" y="16"/>
                </a:lnTo>
                <a:lnTo>
                  <a:pt x="25" y="28"/>
                </a:lnTo>
                <a:lnTo>
                  <a:pt x="16" y="40"/>
                </a:lnTo>
                <a:lnTo>
                  <a:pt x="10" y="53"/>
                </a:lnTo>
                <a:lnTo>
                  <a:pt x="5" y="68"/>
                </a:lnTo>
                <a:lnTo>
                  <a:pt x="1" y="83"/>
                </a:lnTo>
                <a:lnTo>
                  <a:pt x="0" y="99"/>
                </a:lnTo>
                <a:lnTo>
                  <a:pt x="1" y="114"/>
                </a:lnTo>
                <a:lnTo>
                  <a:pt x="5" y="131"/>
                </a:lnTo>
                <a:lnTo>
                  <a:pt x="10" y="144"/>
                </a:lnTo>
                <a:lnTo>
                  <a:pt x="16" y="157"/>
                </a:lnTo>
                <a:lnTo>
                  <a:pt x="25" y="170"/>
                </a:lnTo>
                <a:lnTo>
                  <a:pt x="35" y="180"/>
                </a:lnTo>
                <a:lnTo>
                  <a:pt x="46" y="190"/>
                </a:lnTo>
                <a:lnTo>
                  <a:pt x="59" y="199"/>
                </a:lnTo>
                <a:lnTo>
                  <a:pt x="71" y="199"/>
                </a:lnTo>
                <a:lnTo>
                  <a:pt x="56" y="192"/>
                </a:lnTo>
                <a:lnTo>
                  <a:pt x="45" y="182"/>
                </a:lnTo>
                <a:lnTo>
                  <a:pt x="33" y="172"/>
                </a:lnTo>
                <a:lnTo>
                  <a:pt x="23" y="159"/>
                </a:lnTo>
                <a:lnTo>
                  <a:pt x="15" y="146"/>
                </a:lnTo>
                <a:lnTo>
                  <a:pt x="10" y="131"/>
                </a:lnTo>
                <a:lnTo>
                  <a:pt x="6" y="116"/>
                </a:lnTo>
                <a:lnTo>
                  <a:pt x="5" y="99"/>
                </a:lnTo>
                <a:lnTo>
                  <a:pt x="6" y="83"/>
                </a:lnTo>
                <a:lnTo>
                  <a:pt x="10" y="68"/>
                </a:lnTo>
                <a:lnTo>
                  <a:pt x="15" y="53"/>
                </a:lnTo>
                <a:lnTo>
                  <a:pt x="23" y="38"/>
                </a:lnTo>
                <a:lnTo>
                  <a:pt x="33" y="26"/>
                </a:lnTo>
                <a:lnTo>
                  <a:pt x="45" y="16"/>
                </a:lnTo>
                <a:lnTo>
                  <a:pt x="56" y="6"/>
                </a:lnTo>
                <a:lnTo>
                  <a:pt x="71" y="0"/>
                </a:lnTo>
                <a:lnTo>
                  <a:pt x="59"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72" name="Freeform 1577">
            <a:extLst>
              <a:ext uri="{FF2B5EF4-FFF2-40B4-BE49-F238E27FC236}">
                <a16:creationId xmlns:a16="http://schemas.microsoft.com/office/drawing/2014/main" id="{BCED7EB4-EF87-20C3-76DF-AD45610B535B}"/>
              </a:ext>
            </a:extLst>
          </p:cNvPr>
          <p:cNvSpPr>
            <a:spLocks noEditPoints="1"/>
          </p:cNvSpPr>
          <p:nvPr/>
        </p:nvSpPr>
        <p:spPr bwMode="auto">
          <a:xfrm>
            <a:off x="2738438" y="2403475"/>
            <a:ext cx="350838" cy="315913"/>
          </a:xfrm>
          <a:custGeom>
            <a:avLst/>
            <a:gdLst>
              <a:gd name="T0" fmla="*/ 221 w 221"/>
              <a:gd name="T1" fmla="*/ 83 h 199"/>
              <a:gd name="T2" fmla="*/ 211 w 221"/>
              <a:gd name="T3" fmla="*/ 53 h 199"/>
              <a:gd name="T4" fmla="*/ 194 w 221"/>
              <a:gd name="T5" fmla="*/ 28 h 199"/>
              <a:gd name="T6" fmla="*/ 173 w 221"/>
              <a:gd name="T7" fmla="*/ 6 h 199"/>
              <a:gd name="T8" fmla="*/ 146 w 221"/>
              <a:gd name="T9" fmla="*/ 0 h 199"/>
              <a:gd name="T10" fmla="*/ 174 w 221"/>
              <a:gd name="T11" fmla="*/ 15 h 199"/>
              <a:gd name="T12" fmla="*/ 198 w 221"/>
              <a:gd name="T13" fmla="*/ 38 h 199"/>
              <a:gd name="T14" fmla="*/ 211 w 221"/>
              <a:gd name="T15" fmla="*/ 66 h 199"/>
              <a:gd name="T16" fmla="*/ 216 w 221"/>
              <a:gd name="T17" fmla="*/ 99 h 199"/>
              <a:gd name="T18" fmla="*/ 211 w 221"/>
              <a:gd name="T19" fmla="*/ 132 h 199"/>
              <a:gd name="T20" fmla="*/ 198 w 221"/>
              <a:gd name="T21" fmla="*/ 160 h 199"/>
              <a:gd name="T22" fmla="*/ 174 w 221"/>
              <a:gd name="T23" fmla="*/ 184 h 199"/>
              <a:gd name="T24" fmla="*/ 146 w 221"/>
              <a:gd name="T25" fmla="*/ 199 h 199"/>
              <a:gd name="T26" fmla="*/ 173 w 221"/>
              <a:gd name="T27" fmla="*/ 190 h 199"/>
              <a:gd name="T28" fmla="*/ 194 w 221"/>
              <a:gd name="T29" fmla="*/ 170 h 199"/>
              <a:gd name="T30" fmla="*/ 211 w 221"/>
              <a:gd name="T31" fmla="*/ 146 h 199"/>
              <a:gd name="T32" fmla="*/ 221 w 221"/>
              <a:gd name="T33" fmla="*/ 116 h 199"/>
              <a:gd name="T34" fmla="*/ 63 w 221"/>
              <a:gd name="T35" fmla="*/ 0 h 199"/>
              <a:gd name="T36" fmla="*/ 39 w 221"/>
              <a:gd name="T37" fmla="*/ 16 h 199"/>
              <a:gd name="T38" fmla="*/ 19 w 221"/>
              <a:gd name="T39" fmla="*/ 40 h 199"/>
              <a:gd name="T40" fmla="*/ 5 w 221"/>
              <a:gd name="T41" fmla="*/ 68 h 199"/>
              <a:gd name="T42" fmla="*/ 0 w 221"/>
              <a:gd name="T43" fmla="*/ 99 h 199"/>
              <a:gd name="T44" fmla="*/ 5 w 221"/>
              <a:gd name="T45" fmla="*/ 131 h 199"/>
              <a:gd name="T46" fmla="*/ 19 w 221"/>
              <a:gd name="T47" fmla="*/ 159 h 199"/>
              <a:gd name="T48" fmla="*/ 39 w 221"/>
              <a:gd name="T49" fmla="*/ 182 h 199"/>
              <a:gd name="T50" fmla="*/ 63 w 221"/>
              <a:gd name="T51" fmla="*/ 199 h 199"/>
              <a:gd name="T52" fmla="*/ 62 w 221"/>
              <a:gd name="T53" fmla="*/ 192 h 199"/>
              <a:gd name="T54" fmla="*/ 35 w 221"/>
              <a:gd name="T55" fmla="*/ 172 h 199"/>
              <a:gd name="T56" fmla="*/ 17 w 221"/>
              <a:gd name="T57" fmla="*/ 147 h 199"/>
              <a:gd name="T58" fmla="*/ 7 w 221"/>
              <a:gd name="T59" fmla="*/ 116 h 199"/>
              <a:gd name="T60" fmla="*/ 7 w 221"/>
              <a:gd name="T61" fmla="*/ 83 h 199"/>
              <a:gd name="T62" fmla="*/ 17 w 221"/>
              <a:gd name="T63" fmla="*/ 51 h 199"/>
              <a:gd name="T64" fmla="*/ 35 w 221"/>
              <a:gd name="T65" fmla="*/ 25 h 199"/>
              <a:gd name="T66" fmla="*/ 62 w 221"/>
              <a:gd name="T67" fmla="*/ 6 h 199"/>
              <a:gd name="T68" fmla="*/ 63 w 22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1" h="199">
                <a:moveTo>
                  <a:pt x="221" y="99"/>
                </a:moveTo>
                <a:lnTo>
                  <a:pt x="221" y="83"/>
                </a:lnTo>
                <a:lnTo>
                  <a:pt x="217" y="68"/>
                </a:lnTo>
                <a:lnTo>
                  <a:pt x="211" y="53"/>
                </a:lnTo>
                <a:lnTo>
                  <a:pt x="204" y="40"/>
                </a:lnTo>
                <a:lnTo>
                  <a:pt x="194" y="28"/>
                </a:lnTo>
                <a:lnTo>
                  <a:pt x="184" y="16"/>
                </a:lnTo>
                <a:lnTo>
                  <a:pt x="173" y="6"/>
                </a:lnTo>
                <a:lnTo>
                  <a:pt x="159" y="0"/>
                </a:lnTo>
                <a:lnTo>
                  <a:pt x="146" y="0"/>
                </a:lnTo>
                <a:lnTo>
                  <a:pt x="161" y="6"/>
                </a:lnTo>
                <a:lnTo>
                  <a:pt x="174" y="15"/>
                </a:lnTo>
                <a:lnTo>
                  <a:pt x="186" y="25"/>
                </a:lnTo>
                <a:lnTo>
                  <a:pt x="198" y="38"/>
                </a:lnTo>
                <a:lnTo>
                  <a:pt x="206" y="51"/>
                </a:lnTo>
                <a:lnTo>
                  <a:pt x="211" y="66"/>
                </a:lnTo>
                <a:lnTo>
                  <a:pt x="216" y="83"/>
                </a:lnTo>
                <a:lnTo>
                  <a:pt x="216" y="99"/>
                </a:lnTo>
                <a:lnTo>
                  <a:pt x="216" y="116"/>
                </a:lnTo>
                <a:lnTo>
                  <a:pt x="211" y="132"/>
                </a:lnTo>
                <a:lnTo>
                  <a:pt x="206" y="147"/>
                </a:lnTo>
                <a:lnTo>
                  <a:pt x="198" y="160"/>
                </a:lnTo>
                <a:lnTo>
                  <a:pt x="186" y="172"/>
                </a:lnTo>
                <a:lnTo>
                  <a:pt x="174" y="184"/>
                </a:lnTo>
                <a:lnTo>
                  <a:pt x="161" y="192"/>
                </a:lnTo>
                <a:lnTo>
                  <a:pt x="146" y="199"/>
                </a:lnTo>
                <a:lnTo>
                  <a:pt x="159" y="199"/>
                </a:lnTo>
                <a:lnTo>
                  <a:pt x="173" y="190"/>
                </a:lnTo>
                <a:lnTo>
                  <a:pt x="184" y="182"/>
                </a:lnTo>
                <a:lnTo>
                  <a:pt x="194" y="170"/>
                </a:lnTo>
                <a:lnTo>
                  <a:pt x="204" y="159"/>
                </a:lnTo>
                <a:lnTo>
                  <a:pt x="211" y="146"/>
                </a:lnTo>
                <a:lnTo>
                  <a:pt x="217" y="131"/>
                </a:lnTo>
                <a:lnTo>
                  <a:pt x="221" y="116"/>
                </a:lnTo>
                <a:lnTo>
                  <a:pt x="221" y="99"/>
                </a:lnTo>
                <a:close/>
                <a:moveTo>
                  <a:pt x="63" y="0"/>
                </a:moveTo>
                <a:lnTo>
                  <a:pt x="50" y="6"/>
                </a:lnTo>
                <a:lnTo>
                  <a:pt x="39" y="16"/>
                </a:lnTo>
                <a:lnTo>
                  <a:pt x="27" y="28"/>
                </a:lnTo>
                <a:lnTo>
                  <a:pt x="19" y="40"/>
                </a:lnTo>
                <a:lnTo>
                  <a:pt x="10" y="53"/>
                </a:lnTo>
                <a:lnTo>
                  <a:pt x="5" y="68"/>
                </a:lnTo>
                <a:lnTo>
                  <a:pt x="2" y="83"/>
                </a:lnTo>
                <a:lnTo>
                  <a:pt x="0" y="99"/>
                </a:lnTo>
                <a:lnTo>
                  <a:pt x="2" y="116"/>
                </a:lnTo>
                <a:lnTo>
                  <a:pt x="5" y="131"/>
                </a:lnTo>
                <a:lnTo>
                  <a:pt x="10" y="146"/>
                </a:lnTo>
                <a:lnTo>
                  <a:pt x="19" y="159"/>
                </a:lnTo>
                <a:lnTo>
                  <a:pt x="27" y="170"/>
                </a:lnTo>
                <a:lnTo>
                  <a:pt x="39" y="182"/>
                </a:lnTo>
                <a:lnTo>
                  <a:pt x="50" y="190"/>
                </a:lnTo>
                <a:lnTo>
                  <a:pt x="63" y="199"/>
                </a:lnTo>
                <a:lnTo>
                  <a:pt x="77" y="199"/>
                </a:lnTo>
                <a:lnTo>
                  <a:pt x="62" y="192"/>
                </a:lnTo>
                <a:lnTo>
                  <a:pt x="48" y="184"/>
                </a:lnTo>
                <a:lnTo>
                  <a:pt x="35" y="172"/>
                </a:lnTo>
                <a:lnTo>
                  <a:pt x="25" y="160"/>
                </a:lnTo>
                <a:lnTo>
                  <a:pt x="17" y="147"/>
                </a:lnTo>
                <a:lnTo>
                  <a:pt x="10" y="132"/>
                </a:lnTo>
                <a:lnTo>
                  <a:pt x="7" y="116"/>
                </a:lnTo>
                <a:lnTo>
                  <a:pt x="5" y="99"/>
                </a:lnTo>
                <a:lnTo>
                  <a:pt x="7" y="83"/>
                </a:lnTo>
                <a:lnTo>
                  <a:pt x="10" y="66"/>
                </a:lnTo>
                <a:lnTo>
                  <a:pt x="17" y="51"/>
                </a:lnTo>
                <a:lnTo>
                  <a:pt x="25" y="38"/>
                </a:lnTo>
                <a:lnTo>
                  <a:pt x="35" y="25"/>
                </a:lnTo>
                <a:lnTo>
                  <a:pt x="48" y="15"/>
                </a:lnTo>
                <a:lnTo>
                  <a:pt x="62" y="6"/>
                </a:lnTo>
                <a:lnTo>
                  <a:pt x="77" y="0"/>
                </a:lnTo>
                <a:lnTo>
                  <a:pt x="63"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73" name="Freeform 1578">
            <a:extLst>
              <a:ext uri="{FF2B5EF4-FFF2-40B4-BE49-F238E27FC236}">
                <a16:creationId xmlns:a16="http://schemas.microsoft.com/office/drawing/2014/main" id="{D2A61F26-8FC2-50C4-8FF4-324878E766C3}"/>
              </a:ext>
            </a:extLst>
          </p:cNvPr>
          <p:cNvSpPr>
            <a:spLocks noEditPoints="1"/>
          </p:cNvSpPr>
          <p:nvPr/>
        </p:nvSpPr>
        <p:spPr bwMode="auto">
          <a:xfrm>
            <a:off x="2744788" y="2403475"/>
            <a:ext cx="341313" cy="315913"/>
          </a:xfrm>
          <a:custGeom>
            <a:avLst/>
            <a:gdLst>
              <a:gd name="T0" fmla="*/ 213 w 215"/>
              <a:gd name="T1" fmla="*/ 83 h 199"/>
              <a:gd name="T2" fmla="*/ 203 w 215"/>
              <a:gd name="T3" fmla="*/ 53 h 199"/>
              <a:gd name="T4" fmla="*/ 187 w 215"/>
              <a:gd name="T5" fmla="*/ 26 h 199"/>
              <a:gd name="T6" fmla="*/ 162 w 215"/>
              <a:gd name="T7" fmla="*/ 6 h 199"/>
              <a:gd name="T8" fmla="*/ 134 w 215"/>
              <a:gd name="T9" fmla="*/ 0 h 199"/>
              <a:gd name="T10" fmla="*/ 164 w 215"/>
              <a:gd name="T11" fmla="*/ 13 h 199"/>
              <a:gd name="T12" fmla="*/ 189 w 215"/>
              <a:gd name="T13" fmla="*/ 36 h 199"/>
              <a:gd name="T14" fmla="*/ 205 w 215"/>
              <a:gd name="T15" fmla="*/ 64 h 199"/>
              <a:gd name="T16" fmla="*/ 210 w 215"/>
              <a:gd name="T17" fmla="*/ 99 h 199"/>
              <a:gd name="T18" fmla="*/ 205 w 215"/>
              <a:gd name="T19" fmla="*/ 132 h 199"/>
              <a:gd name="T20" fmla="*/ 189 w 215"/>
              <a:gd name="T21" fmla="*/ 162 h 199"/>
              <a:gd name="T22" fmla="*/ 164 w 215"/>
              <a:gd name="T23" fmla="*/ 185 h 199"/>
              <a:gd name="T24" fmla="*/ 134 w 215"/>
              <a:gd name="T25" fmla="*/ 199 h 199"/>
              <a:gd name="T26" fmla="*/ 162 w 215"/>
              <a:gd name="T27" fmla="*/ 192 h 199"/>
              <a:gd name="T28" fmla="*/ 187 w 215"/>
              <a:gd name="T29" fmla="*/ 172 h 199"/>
              <a:gd name="T30" fmla="*/ 203 w 215"/>
              <a:gd name="T31" fmla="*/ 146 h 199"/>
              <a:gd name="T32" fmla="*/ 213 w 215"/>
              <a:gd name="T33" fmla="*/ 116 h 199"/>
              <a:gd name="T34" fmla="*/ 66 w 215"/>
              <a:gd name="T35" fmla="*/ 0 h 199"/>
              <a:gd name="T36" fmla="*/ 40 w 215"/>
              <a:gd name="T37" fmla="*/ 16 h 199"/>
              <a:gd name="T38" fmla="*/ 18 w 215"/>
              <a:gd name="T39" fmla="*/ 38 h 199"/>
              <a:gd name="T40" fmla="*/ 5 w 215"/>
              <a:gd name="T41" fmla="*/ 68 h 199"/>
              <a:gd name="T42" fmla="*/ 0 w 215"/>
              <a:gd name="T43" fmla="*/ 99 h 199"/>
              <a:gd name="T44" fmla="*/ 5 w 215"/>
              <a:gd name="T45" fmla="*/ 131 h 199"/>
              <a:gd name="T46" fmla="*/ 18 w 215"/>
              <a:gd name="T47" fmla="*/ 159 h 199"/>
              <a:gd name="T48" fmla="*/ 40 w 215"/>
              <a:gd name="T49" fmla="*/ 182 h 199"/>
              <a:gd name="T50" fmla="*/ 66 w 215"/>
              <a:gd name="T51" fmla="*/ 199 h 199"/>
              <a:gd name="T52" fmla="*/ 64 w 215"/>
              <a:gd name="T53" fmla="*/ 192 h 199"/>
              <a:gd name="T54" fmla="*/ 36 w 215"/>
              <a:gd name="T55" fmla="*/ 174 h 199"/>
              <a:gd name="T56" fmla="*/ 16 w 215"/>
              <a:gd name="T57" fmla="*/ 149 h 199"/>
              <a:gd name="T58" fmla="*/ 6 w 215"/>
              <a:gd name="T59" fmla="*/ 116 h 199"/>
              <a:gd name="T60" fmla="*/ 6 w 215"/>
              <a:gd name="T61" fmla="*/ 81 h 199"/>
              <a:gd name="T62" fmla="*/ 16 w 215"/>
              <a:gd name="T63" fmla="*/ 50 h 199"/>
              <a:gd name="T64" fmla="*/ 36 w 215"/>
              <a:gd name="T65" fmla="*/ 23 h 199"/>
              <a:gd name="T66" fmla="*/ 64 w 215"/>
              <a:gd name="T67" fmla="*/ 5 h 199"/>
              <a:gd name="T68" fmla="*/ 66 w 215"/>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5" h="199">
                <a:moveTo>
                  <a:pt x="215" y="99"/>
                </a:moveTo>
                <a:lnTo>
                  <a:pt x="213" y="83"/>
                </a:lnTo>
                <a:lnTo>
                  <a:pt x="210" y="68"/>
                </a:lnTo>
                <a:lnTo>
                  <a:pt x="203" y="53"/>
                </a:lnTo>
                <a:lnTo>
                  <a:pt x="197" y="38"/>
                </a:lnTo>
                <a:lnTo>
                  <a:pt x="187" y="26"/>
                </a:lnTo>
                <a:lnTo>
                  <a:pt x="175" y="16"/>
                </a:lnTo>
                <a:lnTo>
                  <a:pt x="162" y="6"/>
                </a:lnTo>
                <a:lnTo>
                  <a:pt x="149" y="0"/>
                </a:lnTo>
                <a:lnTo>
                  <a:pt x="134" y="0"/>
                </a:lnTo>
                <a:lnTo>
                  <a:pt x="150" y="5"/>
                </a:lnTo>
                <a:lnTo>
                  <a:pt x="164" y="13"/>
                </a:lnTo>
                <a:lnTo>
                  <a:pt x="177" y="23"/>
                </a:lnTo>
                <a:lnTo>
                  <a:pt x="189" y="36"/>
                </a:lnTo>
                <a:lnTo>
                  <a:pt x="197" y="50"/>
                </a:lnTo>
                <a:lnTo>
                  <a:pt x="205" y="64"/>
                </a:lnTo>
                <a:lnTo>
                  <a:pt x="208" y="81"/>
                </a:lnTo>
                <a:lnTo>
                  <a:pt x="210" y="99"/>
                </a:lnTo>
                <a:lnTo>
                  <a:pt x="208" y="116"/>
                </a:lnTo>
                <a:lnTo>
                  <a:pt x="205" y="132"/>
                </a:lnTo>
                <a:lnTo>
                  <a:pt x="197" y="149"/>
                </a:lnTo>
                <a:lnTo>
                  <a:pt x="189" y="162"/>
                </a:lnTo>
                <a:lnTo>
                  <a:pt x="177" y="174"/>
                </a:lnTo>
                <a:lnTo>
                  <a:pt x="164" y="185"/>
                </a:lnTo>
                <a:lnTo>
                  <a:pt x="150" y="192"/>
                </a:lnTo>
                <a:lnTo>
                  <a:pt x="134" y="199"/>
                </a:lnTo>
                <a:lnTo>
                  <a:pt x="149" y="199"/>
                </a:lnTo>
                <a:lnTo>
                  <a:pt x="162" y="192"/>
                </a:lnTo>
                <a:lnTo>
                  <a:pt x="175" y="182"/>
                </a:lnTo>
                <a:lnTo>
                  <a:pt x="187" y="172"/>
                </a:lnTo>
                <a:lnTo>
                  <a:pt x="197" y="159"/>
                </a:lnTo>
                <a:lnTo>
                  <a:pt x="203" y="146"/>
                </a:lnTo>
                <a:lnTo>
                  <a:pt x="210" y="131"/>
                </a:lnTo>
                <a:lnTo>
                  <a:pt x="213" y="116"/>
                </a:lnTo>
                <a:lnTo>
                  <a:pt x="215" y="99"/>
                </a:lnTo>
                <a:close/>
                <a:moveTo>
                  <a:pt x="66" y="0"/>
                </a:moveTo>
                <a:lnTo>
                  <a:pt x="51" y="6"/>
                </a:lnTo>
                <a:lnTo>
                  <a:pt x="40" y="16"/>
                </a:lnTo>
                <a:lnTo>
                  <a:pt x="28" y="26"/>
                </a:lnTo>
                <a:lnTo>
                  <a:pt x="18" y="38"/>
                </a:lnTo>
                <a:lnTo>
                  <a:pt x="10" y="53"/>
                </a:lnTo>
                <a:lnTo>
                  <a:pt x="5" y="68"/>
                </a:lnTo>
                <a:lnTo>
                  <a:pt x="1" y="83"/>
                </a:lnTo>
                <a:lnTo>
                  <a:pt x="0" y="99"/>
                </a:lnTo>
                <a:lnTo>
                  <a:pt x="1" y="116"/>
                </a:lnTo>
                <a:lnTo>
                  <a:pt x="5" y="131"/>
                </a:lnTo>
                <a:lnTo>
                  <a:pt x="10" y="146"/>
                </a:lnTo>
                <a:lnTo>
                  <a:pt x="18" y="159"/>
                </a:lnTo>
                <a:lnTo>
                  <a:pt x="28" y="172"/>
                </a:lnTo>
                <a:lnTo>
                  <a:pt x="40" y="182"/>
                </a:lnTo>
                <a:lnTo>
                  <a:pt x="51" y="192"/>
                </a:lnTo>
                <a:lnTo>
                  <a:pt x="66" y="199"/>
                </a:lnTo>
                <a:lnTo>
                  <a:pt x="81" y="199"/>
                </a:lnTo>
                <a:lnTo>
                  <a:pt x="64" y="192"/>
                </a:lnTo>
                <a:lnTo>
                  <a:pt x="49" y="185"/>
                </a:lnTo>
                <a:lnTo>
                  <a:pt x="36" y="174"/>
                </a:lnTo>
                <a:lnTo>
                  <a:pt x="26" y="162"/>
                </a:lnTo>
                <a:lnTo>
                  <a:pt x="16" y="149"/>
                </a:lnTo>
                <a:lnTo>
                  <a:pt x="10" y="132"/>
                </a:lnTo>
                <a:lnTo>
                  <a:pt x="6" y="116"/>
                </a:lnTo>
                <a:lnTo>
                  <a:pt x="5" y="99"/>
                </a:lnTo>
                <a:lnTo>
                  <a:pt x="6" y="81"/>
                </a:lnTo>
                <a:lnTo>
                  <a:pt x="10" y="64"/>
                </a:lnTo>
                <a:lnTo>
                  <a:pt x="16" y="50"/>
                </a:lnTo>
                <a:lnTo>
                  <a:pt x="26" y="36"/>
                </a:lnTo>
                <a:lnTo>
                  <a:pt x="36" y="23"/>
                </a:lnTo>
                <a:lnTo>
                  <a:pt x="49" y="13"/>
                </a:lnTo>
                <a:lnTo>
                  <a:pt x="64" y="5"/>
                </a:lnTo>
                <a:lnTo>
                  <a:pt x="81" y="0"/>
                </a:lnTo>
                <a:lnTo>
                  <a:pt x="66"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74" name="Freeform 1579">
            <a:extLst>
              <a:ext uri="{FF2B5EF4-FFF2-40B4-BE49-F238E27FC236}">
                <a16:creationId xmlns:a16="http://schemas.microsoft.com/office/drawing/2014/main" id="{A2613F65-7B92-C02A-1A89-D87D429D6DEE}"/>
              </a:ext>
            </a:extLst>
          </p:cNvPr>
          <p:cNvSpPr>
            <a:spLocks noEditPoints="1"/>
          </p:cNvSpPr>
          <p:nvPr/>
        </p:nvSpPr>
        <p:spPr bwMode="auto">
          <a:xfrm>
            <a:off x="2746375" y="2403475"/>
            <a:ext cx="334963" cy="315913"/>
          </a:xfrm>
          <a:custGeom>
            <a:avLst/>
            <a:gdLst>
              <a:gd name="T0" fmla="*/ 211 w 211"/>
              <a:gd name="T1" fmla="*/ 83 h 199"/>
              <a:gd name="T2" fmla="*/ 201 w 211"/>
              <a:gd name="T3" fmla="*/ 51 h 199"/>
              <a:gd name="T4" fmla="*/ 181 w 211"/>
              <a:gd name="T5" fmla="*/ 25 h 199"/>
              <a:gd name="T6" fmla="*/ 156 w 211"/>
              <a:gd name="T7" fmla="*/ 6 h 199"/>
              <a:gd name="T8" fmla="*/ 121 w 211"/>
              <a:gd name="T9" fmla="*/ 0 h 199"/>
              <a:gd name="T10" fmla="*/ 154 w 211"/>
              <a:gd name="T11" fmla="*/ 11 h 199"/>
              <a:gd name="T12" fmla="*/ 183 w 211"/>
              <a:gd name="T13" fmla="*/ 33 h 199"/>
              <a:gd name="T14" fmla="*/ 201 w 211"/>
              <a:gd name="T15" fmla="*/ 63 h 199"/>
              <a:gd name="T16" fmla="*/ 207 w 211"/>
              <a:gd name="T17" fmla="*/ 99 h 199"/>
              <a:gd name="T18" fmla="*/ 201 w 211"/>
              <a:gd name="T19" fmla="*/ 134 h 199"/>
              <a:gd name="T20" fmla="*/ 183 w 211"/>
              <a:gd name="T21" fmla="*/ 165 h 199"/>
              <a:gd name="T22" fmla="*/ 156 w 211"/>
              <a:gd name="T23" fmla="*/ 187 h 199"/>
              <a:gd name="T24" fmla="*/ 121 w 211"/>
              <a:gd name="T25" fmla="*/ 199 h 199"/>
              <a:gd name="T26" fmla="*/ 156 w 211"/>
              <a:gd name="T27" fmla="*/ 192 h 199"/>
              <a:gd name="T28" fmla="*/ 181 w 211"/>
              <a:gd name="T29" fmla="*/ 172 h 199"/>
              <a:gd name="T30" fmla="*/ 201 w 211"/>
              <a:gd name="T31" fmla="*/ 147 h 199"/>
              <a:gd name="T32" fmla="*/ 211 w 211"/>
              <a:gd name="T33" fmla="*/ 116 h 199"/>
              <a:gd name="T34" fmla="*/ 72 w 211"/>
              <a:gd name="T35" fmla="*/ 0 h 199"/>
              <a:gd name="T36" fmla="*/ 43 w 211"/>
              <a:gd name="T37" fmla="*/ 15 h 199"/>
              <a:gd name="T38" fmla="*/ 20 w 211"/>
              <a:gd name="T39" fmla="*/ 38 h 199"/>
              <a:gd name="T40" fmla="*/ 5 w 211"/>
              <a:gd name="T41" fmla="*/ 66 h 199"/>
              <a:gd name="T42" fmla="*/ 0 w 211"/>
              <a:gd name="T43" fmla="*/ 99 h 199"/>
              <a:gd name="T44" fmla="*/ 5 w 211"/>
              <a:gd name="T45" fmla="*/ 132 h 199"/>
              <a:gd name="T46" fmla="*/ 20 w 211"/>
              <a:gd name="T47" fmla="*/ 160 h 199"/>
              <a:gd name="T48" fmla="*/ 43 w 211"/>
              <a:gd name="T49" fmla="*/ 184 h 199"/>
              <a:gd name="T50" fmla="*/ 72 w 211"/>
              <a:gd name="T51" fmla="*/ 199 h 199"/>
              <a:gd name="T52" fmla="*/ 73 w 211"/>
              <a:gd name="T53" fmla="*/ 194 h 199"/>
              <a:gd name="T54" fmla="*/ 42 w 211"/>
              <a:gd name="T55" fmla="*/ 177 h 199"/>
              <a:gd name="T56" fmla="*/ 20 w 211"/>
              <a:gd name="T57" fmla="*/ 151 h 199"/>
              <a:gd name="T58" fmla="*/ 7 w 211"/>
              <a:gd name="T59" fmla="*/ 117 h 199"/>
              <a:gd name="T60" fmla="*/ 7 w 211"/>
              <a:gd name="T61" fmla="*/ 81 h 199"/>
              <a:gd name="T62" fmla="*/ 20 w 211"/>
              <a:gd name="T63" fmla="*/ 48 h 199"/>
              <a:gd name="T64" fmla="*/ 42 w 211"/>
              <a:gd name="T65" fmla="*/ 21 h 199"/>
              <a:gd name="T66" fmla="*/ 73 w 211"/>
              <a:gd name="T67" fmla="*/ 3 h 199"/>
              <a:gd name="T68" fmla="*/ 72 w 211"/>
              <a:gd name="T69" fmla="*/ 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1" h="199">
                <a:moveTo>
                  <a:pt x="211" y="99"/>
                </a:moveTo>
                <a:lnTo>
                  <a:pt x="211" y="83"/>
                </a:lnTo>
                <a:lnTo>
                  <a:pt x="206" y="66"/>
                </a:lnTo>
                <a:lnTo>
                  <a:pt x="201" y="51"/>
                </a:lnTo>
                <a:lnTo>
                  <a:pt x="193" y="38"/>
                </a:lnTo>
                <a:lnTo>
                  <a:pt x="181" y="25"/>
                </a:lnTo>
                <a:lnTo>
                  <a:pt x="169" y="15"/>
                </a:lnTo>
                <a:lnTo>
                  <a:pt x="156" y="6"/>
                </a:lnTo>
                <a:lnTo>
                  <a:pt x="141" y="0"/>
                </a:lnTo>
                <a:lnTo>
                  <a:pt x="121" y="0"/>
                </a:lnTo>
                <a:lnTo>
                  <a:pt x="140" y="3"/>
                </a:lnTo>
                <a:lnTo>
                  <a:pt x="154" y="11"/>
                </a:lnTo>
                <a:lnTo>
                  <a:pt x="169" y="21"/>
                </a:lnTo>
                <a:lnTo>
                  <a:pt x="183" y="33"/>
                </a:lnTo>
                <a:lnTo>
                  <a:pt x="193" y="48"/>
                </a:lnTo>
                <a:lnTo>
                  <a:pt x="201" y="63"/>
                </a:lnTo>
                <a:lnTo>
                  <a:pt x="206" y="81"/>
                </a:lnTo>
                <a:lnTo>
                  <a:pt x="207" y="99"/>
                </a:lnTo>
                <a:lnTo>
                  <a:pt x="206" y="117"/>
                </a:lnTo>
                <a:lnTo>
                  <a:pt x="201" y="134"/>
                </a:lnTo>
                <a:lnTo>
                  <a:pt x="193" y="151"/>
                </a:lnTo>
                <a:lnTo>
                  <a:pt x="183" y="165"/>
                </a:lnTo>
                <a:lnTo>
                  <a:pt x="169" y="177"/>
                </a:lnTo>
                <a:lnTo>
                  <a:pt x="156" y="187"/>
                </a:lnTo>
                <a:lnTo>
                  <a:pt x="140" y="194"/>
                </a:lnTo>
                <a:lnTo>
                  <a:pt x="121" y="199"/>
                </a:lnTo>
                <a:lnTo>
                  <a:pt x="141" y="199"/>
                </a:lnTo>
                <a:lnTo>
                  <a:pt x="156" y="192"/>
                </a:lnTo>
                <a:lnTo>
                  <a:pt x="169" y="184"/>
                </a:lnTo>
                <a:lnTo>
                  <a:pt x="181" y="172"/>
                </a:lnTo>
                <a:lnTo>
                  <a:pt x="193" y="160"/>
                </a:lnTo>
                <a:lnTo>
                  <a:pt x="201" y="147"/>
                </a:lnTo>
                <a:lnTo>
                  <a:pt x="206" y="132"/>
                </a:lnTo>
                <a:lnTo>
                  <a:pt x="211" y="116"/>
                </a:lnTo>
                <a:lnTo>
                  <a:pt x="211" y="99"/>
                </a:lnTo>
                <a:close/>
                <a:moveTo>
                  <a:pt x="72" y="0"/>
                </a:moveTo>
                <a:lnTo>
                  <a:pt x="57" y="6"/>
                </a:lnTo>
                <a:lnTo>
                  <a:pt x="43" y="15"/>
                </a:lnTo>
                <a:lnTo>
                  <a:pt x="30" y="25"/>
                </a:lnTo>
                <a:lnTo>
                  <a:pt x="20" y="38"/>
                </a:lnTo>
                <a:lnTo>
                  <a:pt x="12" y="51"/>
                </a:lnTo>
                <a:lnTo>
                  <a:pt x="5" y="66"/>
                </a:lnTo>
                <a:lnTo>
                  <a:pt x="2" y="83"/>
                </a:lnTo>
                <a:lnTo>
                  <a:pt x="0" y="99"/>
                </a:lnTo>
                <a:lnTo>
                  <a:pt x="2" y="116"/>
                </a:lnTo>
                <a:lnTo>
                  <a:pt x="5" y="132"/>
                </a:lnTo>
                <a:lnTo>
                  <a:pt x="12" y="147"/>
                </a:lnTo>
                <a:lnTo>
                  <a:pt x="20" y="160"/>
                </a:lnTo>
                <a:lnTo>
                  <a:pt x="30" y="172"/>
                </a:lnTo>
                <a:lnTo>
                  <a:pt x="43" y="184"/>
                </a:lnTo>
                <a:lnTo>
                  <a:pt x="57" y="192"/>
                </a:lnTo>
                <a:lnTo>
                  <a:pt x="72" y="199"/>
                </a:lnTo>
                <a:lnTo>
                  <a:pt x="90" y="199"/>
                </a:lnTo>
                <a:lnTo>
                  <a:pt x="73" y="194"/>
                </a:lnTo>
                <a:lnTo>
                  <a:pt x="57" y="187"/>
                </a:lnTo>
                <a:lnTo>
                  <a:pt x="42" y="177"/>
                </a:lnTo>
                <a:lnTo>
                  <a:pt x="30" y="165"/>
                </a:lnTo>
                <a:lnTo>
                  <a:pt x="20" y="151"/>
                </a:lnTo>
                <a:lnTo>
                  <a:pt x="12" y="134"/>
                </a:lnTo>
                <a:lnTo>
                  <a:pt x="7" y="117"/>
                </a:lnTo>
                <a:lnTo>
                  <a:pt x="5" y="99"/>
                </a:lnTo>
                <a:lnTo>
                  <a:pt x="7" y="81"/>
                </a:lnTo>
                <a:lnTo>
                  <a:pt x="12" y="63"/>
                </a:lnTo>
                <a:lnTo>
                  <a:pt x="20" y="48"/>
                </a:lnTo>
                <a:lnTo>
                  <a:pt x="30" y="33"/>
                </a:lnTo>
                <a:lnTo>
                  <a:pt x="42" y="21"/>
                </a:lnTo>
                <a:lnTo>
                  <a:pt x="57" y="11"/>
                </a:lnTo>
                <a:lnTo>
                  <a:pt x="73" y="3"/>
                </a:lnTo>
                <a:lnTo>
                  <a:pt x="92" y="0"/>
                </a:lnTo>
                <a:lnTo>
                  <a:pt x="72"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75" name="Freeform 1580">
            <a:extLst>
              <a:ext uri="{FF2B5EF4-FFF2-40B4-BE49-F238E27FC236}">
                <a16:creationId xmlns:a16="http://schemas.microsoft.com/office/drawing/2014/main" id="{6676FF3B-54C7-7E75-05CA-D1671864388D}"/>
              </a:ext>
            </a:extLst>
          </p:cNvPr>
          <p:cNvSpPr>
            <a:spLocks noEditPoints="1"/>
          </p:cNvSpPr>
          <p:nvPr/>
        </p:nvSpPr>
        <p:spPr bwMode="auto">
          <a:xfrm>
            <a:off x="2752725" y="2403475"/>
            <a:ext cx="325438" cy="315913"/>
          </a:xfrm>
          <a:custGeom>
            <a:avLst/>
            <a:gdLst>
              <a:gd name="T0" fmla="*/ 203 w 205"/>
              <a:gd name="T1" fmla="*/ 81 h 199"/>
              <a:gd name="T2" fmla="*/ 192 w 205"/>
              <a:gd name="T3" fmla="*/ 50 h 199"/>
              <a:gd name="T4" fmla="*/ 172 w 205"/>
              <a:gd name="T5" fmla="*/ 23 h 199"/>
              <a:gd name="T6" fmla="*/ 145 w 205"/>
              <a:gd name="T7" fmla="*/ 5 h 199"/>
              <a:gd name="T8" fmla="*/ 76 w 205"/>
              <a:gd name="T9" fmla="*/ 0 h 199"/>
              <a:gd name="T10" fmla="*/ 44 w 205"/>
              <a:gd name="T11" fmla="*/ 13 h 199"/>
              <a:gd name="T12" fmla="*/ 21 w 205"/>
              <a:gd name="T13" fmla="*/ 36 h 199"/>
              <a:gd name="T14" fmla="*/ 5 w 205"/>
              <a:gd name="T15" fmla="*/ 64 h 199"/>
              <a:gd name="T16" fmla="*/ 0 w 205"/>
              <a:gd name="T17" fmla="*/ 99 h 199"/>
              <a:gd name="T18" fmla="*/ 5 w 205"/>
              <a:gd name="T19" fmla="*/ 132 h 199"/>
              <a:gd name="T20" fmla="*/ 21 w 205"/>
              <a:gd name="T21" fmla="*/ 162 h 199"/>
              <a:gd name="T22" fmla="*/ 44 w 205"/>
              <a:gd name="T23" fmla="*/ 185 h 199"/>
              <a:gd name="T24" fmla="*/ 76 w 205"/>
              <a:gd name="T25" fmla="*/ 199 h 199"/>
              <a:gd name="T26" fmla="*/ 145 w 205"/>
              <a:gd name="T27" fmla="*/ 192 h 199"/>
              <a:gd name="T28" fmla="*/ 172 w 205"/>
              <a:gd name="T29" fmla="*/ 174 h 199"/>
              <a:gd name="T30" fmla="*/ 192 w 205"/>
              <a:gd name="T31" fmla="*/ 149 h 199"/>
              <a:gd name="T32" fmla="*/ 203 w 205"/>
              <a:gd name="T33" fmla="*/ 116 h 199"/>
              <a:gd name="T34" fmla="*/ 200 w 205"/>
              <a:gd name="T35" fmla="*/ 99 h 199"/>
              <a:gd name="T36" fmla="*/ 198 w 205"/>
              <a:gd name="T37" fmla="*/ 119 h 199"/>
              <a:gd name="T38" fmla="*/ 192 w 205"/>
              <a:gd name="T39" fmla="*/ 137 h 199"/>
              <a:gd name="T40" fmla="*/ 184 w 205"/>
              <a:gd name="T41" fmla="*/ 154 h 199"/>
              <a:gd name="T42" fmla="*/ 172 w 205"/>
              <a:gd name="T43" fmla="*/ 169 h 199"/>
              <a:gd name="T44" fmla="*/ 157 w 205"/>
              <a:gd name="T45" fmla="*/ 180 h 199"/>
              <a:gd name="T46" fmla="*/ 140 w 205"/>
              <a:gd name="T47" fmla="*/ 190 h 199"/>
              <a:gd name="T48" fmla="*/ 122 w 205"/>
              <a:gd name="T49" fmla="*/ 195 h 199"/>
              <a:gd name="T50" fmla="*/ 102 w 205"/>
              <a:gd name="T51" fmla="*/ 197 h 199"/>
              <a:gd name="T52" fmla="*/ 83 w 205"/>
              <a:gd name="T53" fmla="*/ 195 h 199"/>
              <a:gd name="T54" fmla="*/ 64 w 205"/>
              <a:gd name="T55" fmla="*/ 190 h 199"/>
              <a:gd name="T56" fmla="*/ 48 w 205"/>
              <a:gd name="T57" fmla="*/ 180 h 199"/>
              <a:gd name="T58" fmla="*/ 33 w 205"/>
              <a:gd name="T59" fmla="*/ 169 h 199"/>
              <a:gd name="T60" fmla="*/ 21 w 205"/>
              <a:gd name="T61" fmla="*/ 154 h 199"/>
              <a:gd name="T62" fmla="*/ 11 w 205"/>
              <a:gd name="T63" fmla="*/ 137 h 199"/>
              <a:gd name="T64" fmla="*/ 6 w 205"/>
              <a:gd name="T65" fmla="*/ 119 h 199"/>
              <a:gd name="T66" fmla="*/ 5 w 205"/>
              <a:gd name="T67" fmla="*/ 99 h 199"/>
              <a:gd name="T68" fmla="*/ 6 w 205"/>
              <a:gd name="T69" fmla="*/ 79 h 199"/>
              <a:gd name="T70" fmla="*/ 11 w 205"/>
              <a:gd name="T71" fmla="*/ 61 h 199"/>
              <a:gd name="T72" fmla="*/ 21 w 205"/>
              <a:gd name="T73" fmla="*/ 45 h 199"/>
              <a:gd name="T74" fmla="*/ 33 w 205"/>
              <a:gd name="T75" fmla="*/ 30 h 199"/>
              <a:gd name="T76" fmla="*/ 48 w 205"/>
              <a:gd name="T77" fmla="*/ 18 h 199"/>
              <a:gd name="T78" fmla="*/ 64 w 205"/>
              <a:gd name="T79" fmla="*/ 8 h 199"/>
              <a:gd name="T80" fmla="*/ 83 w 205"/>
              <a:gd name="T81" fmla="*/ 3 h 199"/>
              <a:gd name="T82" fmla="*/ 102 w 205"/>
              <a:gd name="T83" fmla="*/ 1 h 199"/>
              <a:gd name="T84" fmla="*/ 122 w 205"/>
              <a:gd name="T85" fmla="*/ 3 h 199"/>
              <a:gd name="T86" fmla="*/ 140 w 205"/>
              <a:gd name="T87" fmla="*/ 8 h 199"/>
              <a:gd name="T88" fmla="*/ 157 w 205"/>
              <a:gd name="T89" fmla="*/ 18 h 199"/>
              <a:gd name="T90" fmla="*/ 172 w 205"/>
              <a:gd name="T91" fmla="*/ 30 h 199"/>
              <a:gd name="T92" fmla="*/ 184 w 205"/>
              <a:gd name="T93" fmla="*/ 45 h 199"/>
              <a:gd name="T94" fmla="*/ 192 w 205"/>
              <a:gd name="T95" fmla="*/ 61 h 199"/>
              <a:gd name="T96" fmla="*/ 198 w 205"/>
              <a:gd name="T97" fmla="*/ 79 h 199"/>
              <a:gd name="T98" fmla="*/ 200 w 205"/>
              <a:gd name="T99" fmla="*/ 9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5" h="199">
                <a:moveTo>
                  <a:pt x="205" y="99"/>
                </a:moveTo>
                <a:lnTo>
                  <a:pt x="203" y="81"/>
                </a:lnTo>
                <a:lnTo>
                  <a:pt x="200" y="64"/>
                </a:lnTo>
                <a:lnTo>
                  <a:pt x="192" y="50"/>
                </a:lnTo>
                <a:lnTo>
                  <a:pt x="184" y="36"/>
                </a:lnTo>
                <a:lnTo>
                  <a:pt x="172" y="23"/>
                </a:lnTo>
                <a:lnTo>
                  <a:pt x="159" y="13"/>
                </a:lnTo>
                <a:lnTo>
                  <a:pt x="145" y="5"/>
                </a:lnTo>
                <a:lnTo>
                  <a:pt x="129" y="0"/>
                </a:lnTo>
                <a:lnTo>
                  <a:pt x="76" y="0"/>
                </a:lnTo>
                <a:lnTo>
                  <a:pt x="59" y="5"/>
                </a:lnTo>
                <a:lnTo>
                  <a:pt x="44" y="13"/>
                </a:lnTo>
                <a:lnTo>
                  <a:pt x="31" y="23"/>
                </a:lnTo>
                <a:lnTo>
                  <a:pt x="21" y="36"/>
                </a:lnTo>
                <a:lnTo>
                  <a:pt x="11" y="50"/>
                </a:lnTo>
                <a:lnTo>
                  <a:pt x="5" y="64"/>
                </a:lnTo>
                <a:lnTo>
                  <a:pt x="1" y="81"/>
                </a:lnTo>
                <a:lnTo>
                  <a:pt x="0" y="99"/>
                </a:lnTo>
                <a:lnTo>
                  <a:pt x="1" y="116"/>
                </a:lnTo>
                <a:lnTo>
                  <a:pt x="5" y="132"/>
                </a:lnTo>
                <a:lnTo>
                  <a:pt x="11" y="149"/>
                </a:lnTo>
                <a:lnTo>
                  <a:pt x="21" y="162"/>
                </a:lnTo>
                <a:lnTo>
                  <a:pt x="31" y="174"/>
                </a:lnTo>
                <a:lnTo>
                  <a:pt x="44" y="185"/>
                </a:lnTo>
                <a:lnTo>
                  <a:pt x="59" y="192"/>
                </a:lnTo>
                <a:lnTo>
                  <a:pt x="76" y="199"/>
                </a:lnTo>
                <a:lnTo>
                  <a:pt x="129" y="199"/>
                </a:lnTo>
                <a:lnTo>
                  <a:pt x="145" y="192"/>
                </a:lnTo>
                <a:lnTo>
                  <a:pt x="159" y="185"/>
                </a:lnTo>
                <a:lnTo>
                  <a:pt x="172" y="174"/>
                </a:lnTo>
                <a:lnTo>
                  <a:pt x="184" y="162"/>
                </a:lnTo>
                <a:lnTo>
                  <a:pt x="192" y="149"/>
                </a:lnTo>
                <a:lnTo>
                  <a:pt x="200" y="132"/>
                </a:lnTo>
                <a:lnTo>
                  <a:pt x="203" y="116"/>
                </a:lnTo>
                <a:lnTo>
                  <a:pt x="205" y="99"/>
                </a:lnTo>
                <a:close/>
                <a:moveTo>
                  <a:pt x="200" y="99"/>
                </a:moveTo>
                <a:lnTo>
                  <a:pt x="200" y="109"/>
                </a:lnTo>
                <a:lnTo>
                  <a:pt x="198" y="119"/>
                </a:lnTo>
                <a:lnTo>
                  <a:pt x="195" y="129"/>
                </a:lnTo>
                <a:lnTo>
                  <a:pt x="192" y="137"/>
                </a:lnTo>
                <a:lnTo>
                  <a:pt x="189" y="146"/>
                </a:lnTo>
                <a:lnTo>
                  <a:pt x="184" y="154"/>
                </a:lnTo>
                <a:lnTo>
                  <a:pt x="179" y="162"/>
                </a:lnTo>
                <a:lnTo>
                  <a:pt x="172" y="169"/>
                </a:lnTo>
                <a:lnTo>
                  <a:pt x="165" y="175"/>
                </a:lnTo>
                <a:lnTo>
                  <a:pt x="157" y="180"/>
                </a:lnTo>
                <a:lnTo>
                  <a:pt x="149" y="185"/>
                </a:lnTo>
                <a:lnTo>
                  <a:pt x="140" y="190"/>
                </a:lnTo>
                <a:lnTo>
                  <a:pt x="131" y="194"/>
                </a:lnTo>
                <a:lnTo>
                  <a:pt x="122" y="195"/>
                </a:lnTo>
                <a:lnTo>
                  <a:pt x="112" y="197"/>
                </a:lnTo>
                <a:lnTo>
                  <a:pt x="102" y="197"/>
                </a:lnTo>
                <a:lnTo>
                  <a:pt x="92" y="197"/>
                </a:lnTo>
                <a:lnTo>
                  <a:pt x="83" y="195"/>
                </a:lnTo>
                <a:lnTo>
                  <a:pt x="73" y="194"/>
                </a:lnTo>
                <a:lnTo>
                  <a:pt x="64" y="190"/>
                </a:lnTo>
                <a:lnTo>
                  <a:pt x="56" y="185"/>
                </a:lnTo>
                <a:lnTo>
                  <a:pt x="48" y="180"/>
                </a:lnTo>
                <a:lnTo>
                  <a:pt x="39" y="175"/>
                </a:lnTo>
                <a:lnTo>
                  <a:pt x="33" y="169"/>
                </a:lnTo>
                <a:lnTo>
                  <a:pt x="26" y="162"/>
                </a:lnTo>
                <a:lnTo>
                  <a:pt x="21" y="154"/>
                </a:lnTo>
                <a:lnTo>
                  <a:pt x="16" y="146"/>
                </a:lnTo>
                <a:lnTo>
                  <a:pt x="11" y="137"/>
                </a:lnTo>
                <a:lnTo>
                  <a:pt x="8" y="129"/>
                </a:lnTo>
                <a:lnTo>
                  <a:pt x="6" y="119"/>
                </a:lnTo>
                <a:lnTo>
                  <a:pt x="5" y="109"/>
                </a:lnTo>
                <a:lnTo>
                  <a:pt x="5" y="99"/>
                </a:lnTo>
                <a:lnTo>
                  <a:pt x="5" y="89"/>
                </a:lnTo>
                <a:lnTo>
                  <a:pt x="6" y="79"/>
                </a:lnTo>
                <a:lnTo>
                  <a:pt x="8" y="69"/>
                </a:lnTo>
                <a:lnTo>
                  <a:pt x="11" y="61"/>
                </a:lnTo>
                <a:lnTo>
                  <a:pt x="16" y="53"/>
                </a:lnTo>
                <a:lnTo>
                  <a:pt x="21" y="45"/>
                </a:lnTo>
                <a:lnTo>
                  <a:pt x="26" y="36"/>
                </a:lnTo>
                <a:lnTo>
                  <a:pt x="33" y="30"/>
                </a:lnTo>
                <a:lnTo>
                  <a:pt x="39" y="23"/>
                </a:lnTo>
                <a:lnTo>
                  <a:pt x="48" y="18"/>
                </a:lnTo>
                <a:lnTo>
                  <a:pt x="56" y="13"/>
                </a:lnTo>
                <a:lnTo>
                  <a:pt x="64" y="8"/>
                </a:lnTo>
                <a:lnTo>
                  <a:pt x="73" y="5"/>
                </a:lnTo>
                <a:lnTo>
                  <a:pt x="83" y="3"/>
                </a:lnTo>
                <a:lnTo>
                  <a:pt x="92" y="1"/>
                </a:lnTo>
                <a:lnTo>
                  <a:pt x="102" y="1"/>
                </a:lnTo>
                <a:lnTo>
                  <a:pt x="112" y="1"/>
                </a:lnTo>
                <a:lnTo>
                  <a:pt x="122" y="3"/>
                </a:lnTo>
                <a:lnTo>
                  <a:pt x="131" y="5"/>
                </a:lnTo>
                <a:lnTo>
                  <a:pt x="140" y="8"/>
                </a:lnTo>
                <a:lnTo>
                  <a:pt x="149" y="13"/>
                </a:lnTo>
                <a:lnTo>
                  <a:pt x="157" y="18"/>
                </a:lnTo>
                <a:lnTo>
                  <a:pt x="165" y="23"/>
                </a:lnTo>
                <a:lnTo>
                  <a:pt x="172" y="30"/>
                </a:lnTo>
                <a:lnTo>
                  <a:pt x="179" y="36"/>
                </a:lnTo>
                <a:lnTo>
                  <a:pt x="184" y="45"/>
                </a:lnTo>
                <a:lnTo>
                  <a:pt x="189" y="53"/>
                </a:lnTo>
                <a:lnTo>
                  <a:pt x="192" y="61"/>
                </a:lnTo>
                <a:lnTo>
                  <a:pt x="195" y="69"/>
                </a:lnTo>
                <a:lnTo>
                  <a:pt x="198" y="79"/>
                </a:lnTo>
                <a:lnTo>
                  <a:pt x="200" y="89"/>
                </a:lnTo>
                <a:lnTo>
                  <a:pt x="200" y="99"/>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76" name="Freeform 1581">
            <a:extLst>
              <a:ext uri="{FF2B5EF4-FFF2-40B4-BE49-F238E27FC236}">
                <a16:creationId xmlns:a16="http://schemas.microsoft.com/office/drawing/2014/main" id="{3F81A891-C610-76E6-EF04-BD4178D1452B}"/>
              </a:ext>
            </a:extLst>
          </p:cNvPr>
          <p:cNvSpPr>
            <a:spLocks noEditPoints="1"/>
          </p:cNvSpPr>
          <p:nvPr/>
        </p:nvSpPr>
        <p:spPr bwMode="auto">
          <a:xfrm>
            <a:off x="2754313" y="2403475"/>
            <a:ext cx="320675" cy="315913"/>
          </a:xfrm>
          <a:custGeom>
            <a:avLst/>
            <a:gdLst>
              <a:gd name="T0" fmla="*/ 201 w 202"/>
              <a:gd name="T1" fmla="*/ 81 h 199"/>
              <a:gd name="T2" fmla="*/ 188 w 202"/>
              <a:gd name="T3" fmla="*/ 48 h 199"/>
              <a:gd name="T4" fmla="*/ 164 w 202"/>
              <a:gd name="T5" fmla="*/ 21 h 199"/>
              <a:gd name="T6" fmla="*/ 135 w 202"/>
              <a:gd name="T7" fmla="*/ 3 h 199"/>
              <a:gd name="T8" fmla="*/ 87 w 202"/>
              <a:gd name="T9" fmla="*/ 0 h 199"/>
              <a:gd name="T10" fmla="*/ 52 w 202"/>
              <a:gd name="T11" fmla="*/ 11 h 199"/>
              <a:gd name="T12" fmla="*/ 25 w 202"/>
              <a:gd name="T13" fmla="*/ 33 h 199"/>
              <a:gd name="T14" fmla="*/ 7 w 202"/>
              <a:gd name="T15" fmla="*/ 63 h 199"/>
              <a:gd name="T16" fmla="*/ 2 w 202"/>
              <a:gd name="T17" fmla="*/ 81 h 199"/>
              <a:gd name="T18" fmla="*/ 0 w 202"/>
              <a:gd name="T19" fmla="*/ 99 h 199"/>
              <a:gd name="T20" fmla="*/ 7 w 202"/>
              <a:gd name="T21" fmla="*/ 134 h 199"/>
              <a:gd name="T22" fmla="*/ 25 w 202"/>
              <a:gd name="T23" fmla="*/ 165 h 199"/>
              <a:gd name="T24" fmla="*/ 52 w 202"/>
              <a:gd name="T25" fmla="*/ 187 h 199"/>
              <a:gd name="T26" fmla="*/ 85 w 202"/>
              <a:gd name="T27" fmla="*/ 199 h 199"/>
              <a:gd name="T28" fmla="*/ 135 w 202"/>
              <a:gd name="T29" fmla="*/ 194 h 199"/>
              <a:gd name="T30" fmla="*/ 164 w 202"/>
              <a:gd name="T31" fmla="*/ 177 h 199"/>
              <a:gd name="T32" fmla="*/ 188 w 202"/>
              <a:gd name="T33" fmla="*/ 151 h 199"/>
              <a:gd name="T34" fmla="*/ 201 w 202"/>
              <a:gd name="T35" fmla="*/ 117 h 199"/>
              <a:gd name="T36" fmla="*/ 197 w 202"/>
              <a:gd name="T37" fmla="*/ 99 h 199"/>
              <a:gd name="T38" fmla="*/ 196 w 202"/>
              <a:gd name="T39" fmla="*/ 119 h 199"/>
              <a:gd name="T40" fmla="*/ 189 w 202"/>
              <a:gd name="T41" fmla="*/ 136 h 199"/>
              <a:gd name="T42" fmla="*/ 181 w 202"/>
              <a:gd name="T43" fmla="*/ 152 h 199"/>
              <a:gd name="T44" fmla="*/ 169 w 202"/>
              <a:gd name="T45" fmla="*/ 167 h 199"/>
              <a:gd name="T46" fmla="*/ 154 w 202"/>
              <a:gd name="T47" fmla="*/ 179 h 199"/>
              <a:gd name="T48" fmla="*/ 138 w 202"/>
              <a:gd name="T49" fmla="*/ 187 h 199"/>
              <a:gd name="T50" fmla="*/ 120 w 202"/>
              <a:gd name="T51" fmla="*/ 194 h 199"/>
              <a:gd name="T52" fmla="*/ 101 w 202"/>
              <a:gd name="T53" fmla="*/ 195 h 199"/>
              <a:gd name="T54" fmla="*/ 82 w 202"/>
              <a:gd name="T55" fmla="*/ 194 h 199"/>
              <a:gd name="T56" fmla="*/ 63 w 202"/>
              <a:gd name="T57" fmla="*/ 187 h 199"/>
              <a:gd name="T58" fmla="*/ 48 w 202"/>
              <a:gd name="T59" fmla="*/ 179 h 199"/>
              <a:gd name="T60" fmla="*/ 34 w 202"/>
              <a:gd name="T61" fmla="*/ 167 h 199"/>
              <a:gd name="T62" fmla="*/ 22 w 202"/>
              <a:gd name="T63" fmla="*/ 152 h 199"/>
              <a:gd name="T64" fmla="*/ 14 w 202"/>
              <a:gd name="T65" fmla="*/ 136 h 199"/>
              <a:gd name="T66" fmla="*/ 7 w 202"/>
              <a:gd name="T67" fmla="*/ 119 h 199"/>
              <a:gd name="T68" fmla="*/ 5 w 202"/>
              <a:gd name="T69" fmla="*/ 99 h 199"/>
              <a:gd name="T70" fmla="*/ 7 w 202"/>
              <a:gd name="T71" fmla="*/ 79 h 199"/>
              <a:gd name="T72" fmla="*/ 14 w 202"/>
              <a:gd name="T73" fmla="*/ 61 h 199"/>
              <a:gd name="T74" fmla="*/ 22 w 202"/>
              <a:gd name="T75" fmla="*/ 46 h 199"/>
              <a:gd name="T76" fmla="*/ 34 w 202"/>
              <a:gd name="T77" fmla="*/ 31 h 199"/>
              <a:gd name="T78" fmla="*/ 48 w 202"/>
              <a:gd name="T79" fmla="*/ 20 h 199"/>
              <a:gd name="T80" fmla="*/ 63 w 202"/>
              <a:gd name="T81" fmla="*/ 11 h 199"/>
              <a:gd name="T82" fmla="*/ 82 w 202"/>
              <a:gd name="T83" fmla="*/ 5 h 199"/>
              <a:gd name="T84" fmla="*/ 101 w 202"/>
              <a:gd name="T85" fmla="*/ 3 h 199"/>
              <a:gd name="T86" fmla="*/ 120 w 202"/>
              <a:gd name="T87" fmla="*/ 5 h 199"/>
              <a:gd name="T88" fmla="*/ 138 w 202"/>
              <a:gd name="T89" fmla="*/ 11 h 199"/>
              <a:gd name="T90" fmla="*/ 154 w 202"/>
              <a:gd name="T91" fmla="*/ 20 h 199"/>
              <a:gd name="T92" fmla="*/ 169 w 202"/>
              <a:gd name="T93" fmla="*/ 31 h 199"/>
              <a:gd name="T94" fmla="*/ 181 w 202"/>
              <a:gd name="T95" fmla="*/ 46 h 199"/>
              <a:gd name="T96" fmla="*/ 189 w 202"/>
              <a:gd name="T97" fmla="*/ 61 h 199"/>
              <a:gd name="T98" fmla="*/ 196 w 202"/>
              <a:gd name="T99" fmla="*/ 79 h 199"/>
              <a:gd name="T100" fmla="*/ 197 w 202"/>
              <a:gd name="T101" fmla="*/ 99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02" h="199">
                <a:moveTo>
                  <a:pt x="202" y="99"/>
                </a:moveTo>
                <a:lnTo>
                  <a:pt x="201" y="81"/>
                </a:lnTo>
                <a:lnTo>
                  <a:pt x="196" y="63"/>
                </a:lnTo>
                <a:lnTo>
                  <a:pt x="188" y="48"/>
                </a:lnTo>
                <a:lnTo>
                  <a:pt x="178" y="33"/>
                </a:lnTo>
                <a:lnTo>
                  <a:pt x="164" y="21"/>
                </a:lnTo>
                <a:lnTo>
                  <a:pt x="149" y="11"/>
                </a:lnTo>
                <a:lnTo>
                  <a:pt x="135" y="3"/>
                </a:lnTo>
                <a:lnTo>
                  <a:pt x="116" y="0"/>
                </a:lnTo>
                <a:lnTo>
                  <a:pt x="87" y="0"/>
                </a:lnTo>
                <a:lnTo>
                  <a:pt x="68" y="3"/>
                </a:lnTo>
                <a:lnTo>
                  <a:pt x="52" y="11"/>
                </a:lnTo>
                <a:lnTo>
                  <a:pt x="37" y="21"/>
                </a:lnTo>
                <a:lnTo>
                  <a:pt x="25" y="33"/>
                </a:lnTo>
                <a:lnTo>
                  <a:pt x="15" y="48"/>
                </a:lnTo>
                <a:lnTo>
                  <a:pt x="7" y="63"/>
                </a:lnTo>
                <a:lnTo>
                  <a:pt x="4" y="71"/>
                </a:lnTo>
                <a:lnTo>
                  <a:pt x="2" y="81"/>
                </a:lnTo>
                <a:lnTo>
                  <a:pt x="0" y="89"/>
                </a:lnTo>
                <a:lnTo>
                  <a:pt x="0" y="99"/>
                </a:lnTo>
                <a:lnTo>
                  <a:pt x="2" y="117"/>
                </a:lnTo>
                <a:lnTo>
                  <a:pt x="7" y="134"/>
                </a:lnTo>
                <a:lnTo>
                  <a:pt x="15" y="151"/>
                </a:lnTo>
                <a:lnTo>
                  <a:pt x="25" y="165"/>
                </a:lnTo>
                <a:lnTo>
                  <a:pt x="37" y="177"/>
                </a:lnTo>
                <a:lnTo>
                  <a:pt x="52" y="187"/>
                </a:lnTo>
                <a:lnTo>
                  <a:pt x="68" y="194"/>
                </a:lnTo>
                <a:lnTo>
                  <a:pt x="85" y="199"/>
                </a:lnTo>
                <a:lnTo>
                  <a:pt x="116" y="199"/>
                </a:lnTo>
                <a:lnTo>
                  <a:pt x="135" y="194"/>
                </a:lnTo>
                <a:lnTo>
                  <a:pt x="151" y="187"/>
                </a:lnTo>
                <a:lnTo>
                  <a:pt x="164" y="177"/>
                </a:lnTo>
                <a:lnTo>
                  <a:pt x="178" y="165"/>
                </a:lnTo>
                <a:lnTo>
                  <a:pt x="188" y="151"/>
                </a:lnTo>
                <a:lnTo>
                  <a:pt x="196" y="134"/>
                </a:lnTo>
                <a:lnTo>
                  <a:pt x="201" y="117"/>
                </a:lnTo>
                <a:lnTo>
                  <a:pt x="202" y="99"/>
                </a:lnTo>
                <a:close/>
                <a:moveTo>
                  <a:pt x="197" y="99"/>
                </a:moveTo>
                <a:lnTo>
                  <a:pt x="196" y="109"/>
                </a:lnTo>
                <a:lnTo>
                  <a:pt x="196" y="119"/>
                </a:lnTo>
                <a:lnTo>
                  <a:pt x="192" y="127"/>
                </a:lnTo>
                <a:lnTo>
                  <a:pt x="189" y="136"/>
                </a:lnTo>
                <a:lnTo>
                  <a:pt x="186" y="144"/>
                </a:lnTo>
                <a:lnTo>
                  <a:pt x="181" y="152"/>
                </a:lnTo>
                <a:lnTo>
                  <a:pt x="174" y="160"/>
                </a:lnTo>
                <a:lnTo>
                  <a:pt x="169" y="167"/>
                </a:lnTo>
                <a:lnTo>
                  <a:pt x="163" y="174"/>
                </a:lnTo>
                <a:lnTo>
                  <a:pt x="154" y="179"/>
                </a:lnTo>
                <a:lnTo>
                  <a:pt x="146" y="184"/>
                </a:lnTo>
                <a:lnTo>
                  <a:pt x="138" y="187"/>
                </a:lnTo>
                <a:lnTo>
                  <a:pt x="130" y="190"/>
                </a:lnTo>
                <a:lnTo>
                  <a:pt x="120" y="194"/>
                </a:lnTo>
                <a:lnTo>
                  <a:pt x="111" y="194"/>
                </a:lnTo>
                <a:lnTo>
                  <a:pt x="101" y="195"/>
                </a:lnTo>
                <a:lnTo>
                  <a:pt x="91" y="194"/>
                </a:lnTo>
                <a:lnTo>
                  <a:pt x="82" y="194"/>
                </a:lnTo>
                <a:lnTo>
                  <a:pt x="73" y="190"/>
                </a:lnTo>
                <a:lnTo>
                  <a:pt x="63" y="187"/>
                </a:lnTo>
                <a:lnTo>
                  <a:pt x="55" y="184"/>
                </a:lnTo>
                <a:lnTo>
                  <a:pt x="48" y="179"/>
                </a:lnTo>
                <a:lnTo>
                  <a:pt x="40" y="174"/>
                </a:lnTo>
                <a:lnTo>
                  <a:pt x="34" y="167"/>
                </a:lnTo>
                <a:lnTo>
                  <a:pt x="27" y="160"/>
                </a:lnTo>
                <a:lnTo>
                  <a:pt x="22" y="152"/>
                </a:lnTo>
                <a:lnTo>
                  <a:pt x="17" y="144"/>
                </a:lnTo>
                <a:lnTo>
                  <a:pt x="14" y="136"/>
                </a:lnTo>
                <a:lnTo>
                  <a:pt x="10" y="127"/>
                </a:lnTo>
                <a:lnTo>
                  <a:pt x="7" y="119"/>
                </a:lnTo>
                <a:lnTo>
                  <a:pt x="5" y="109"/>
                </a:lnTo>
                <a:lnTo>
                  <a:pt x="5" y="99"/>
                </a:lnTo>
                <a:lnTo>
                  <a:pt x="5" y="89"/>
                </a:lnTo>
                <a:lnTo>
                  <a:pt x="7" y="79"/>
                </a:lnTo>
                <a:lnTo>
                  <a:pt x="10" y="71"/>
                </a:lnTo>
                <a:lnTo>
                  <a:pt x="14" y="61"/>
                </a:lnTo>
                <a:lnTo>
                  <a:pt x="17" y="53"/>
                </a:lnTo>
                <a:lnTo>
                  <a:pt x="22" y="46"/>
                </a:lnTo>
                <a:lnTo>
                  <a:pt x="27" y="38"/>
                </a:lnTo>
                <a:lnTo>
                  <a:pt x="34" y="31"/>
                </a:lnTo>
                <a:lnTo>
                  <a:pt x="40" y="25"/>
                </a:lnTo>
                <a:lnTo>
                  <a:pt x="48" y="20"/>
                </a:lnTo>
                <a:lnTo>
                  <a:pt x="55" y="15"/>
                </a:lnTo>
                <a:lnTo>
                  <a:pt x="63" y="11"/>
                </a:lnTo>
                <a:lnTo>
                  <a:pt x="73" y="8"/>
                </a:lnTo>
                <a:lnTo>
                  <a:pt x="82" y="5"/>
                </a:lnTo>
                <a:lnTo>
                  <a:pt x="91" y="3"/>
                </a:lnTo>
                <a:lnTo>
                  <a:pt x="101" y="3"/>
                </a:lnTo>
                <a:lnTo>
                  <a:pt x="111" y="3"/>
                </a:lnTo>
                <a:lnTo>
                  <a:pt x="120" y="5"/>
                </a:lnTo>
                <a:lnTo>
                  <a:pt x="130" y="8"/>
                </a:lnTo>
                <a:lnTo>
                  <a:pt x="138" y="11"/>
                </a:lnTo>
                <a:lnTo>
                  <a:pt x="146" y="15"/>
                </a:lnTo>
                <a:lnTo>
                  <a:pt x="154" y="20"/>
                </a:lnTo>
                <a:lnTo>
                  <a:pt x="163" y="25"/>
                </a:lnTo>
                <a:lnTo>
                  <a:pt x="169" y="31"/>
                </a:lnTo>
                <a:lnTo>
                  <a:pt x="174" y="38"/>
                </a:lnTo>
                <a:lnTo>
                  <a:pt x="181" y="46"/>
                </a:lnTo>
                <a:lnTo>
                  <a:pt x="186" y="53"/>
                </a:lnTo>
                <a:lnTo>
                  <a:pt x="189" y="61"/>
                </a:lnTo>
                <a:lnTo>
                  <a:pt x="192" y="71"/>
                </a:lnTo>
                <a:lnTo>
                  <a:pt x="196" y="79"/>
                </a:lnTo>
                <a:lnTo>
                  <a:pt x="196" y="89"/>
                </a:lnTo>
                <a:lnTo>
                  <a:pt x="197" y="99"/>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77" name="Freeform 1582">
            <a:extLst>
              <a:ext uri="{FF2B5EF4-FFF2-40B4-BE49-F238E27FC236}">
                <a16:creationId xmlns:a16="http://schemas.microsoft.com/office/drawing/2014/main" id="{842F82F3-EB99-43F9-DCD5-29BDEDECEB51}"/>
              </a:ext>
            </a:extLst>
          </p:cNvPr>
          <p:cNvSpPr>
            <a:spLocks noEditPoints="1"/>
          </p:cNvSpPr>
          <p:nvPr/>
        </p:nvSpPr>
        <p:spPr bwMode="auto">
          <a:xfrm>
            <a:off x="2760663" y="2405063"/>
            <a:ext cx="309563" cy="311150"/>
          </a:xfrm>
          <a:custGeom>
            <a:avLst/>
            <a:gdLst>
              <a:gd name="T0" fmla="*/ 193 w 195"/>
              <a:gd name="T1" fmla="*/ 78 h 196"/>
              <a:gd name="T2" fmla="*/ 184 w 195"/>
              <a:gd name="T3" fmla="*/ 52 h 196"/>
              <a:gd name="T4" fmla="*/ 167 w 195"/>
              <a:gd name="T5" fmla="*/ 29 h 196"/>
              <a:gd name="T6" fmla="*/ 144 w 195"/>
              <a:gd name="T7" fmla="*/ 12 h 196"/>
              <a:gd name="T8" fmla="*/ 117 w 195"/>
              <a:gd name="T9" fmla="*/ 2 h 196"/>
              <a:gd name="T10" fmla="*/ 87 w 195"/>
              <a:gd name="T11" fmla="*/ 0 h 196"/>
              <a:gd name="T12" fmla="*/ 59 w 195"/>
              <a:gd name="T13" fmla="*/ 7 h 196"/>
              <a:gd name="T14" fmla="*/ 34 w 195"/>
              <a:gd name="T15" fmla="*/ 22 h 196"/>
              <a:gd name="T16" fmla="*/ 16 w 195"/>
              <a:gd name="T17" fmla="*/ 44 h 196"/>
              <a:gd name="T18" fmla="*/ 3 w 195"/>
              <a:gd name="T19" fmla="*/ 68 h 196"/>
              <a:gd name="T20" fmla="*/ 0 w 195"/>
              <a:gd name="T21" fmla="*/ 98 h 196"/>
              <a:gd name="T22" fmla="*/ 3 w 195"/>
              <a:gd name="T23" fmla="*/ 128 h 196"/>
              <a:gd name="T24" fmla="*/ 16 w 195"/>
              <a:gd name="T25" fmla="*/ 153 h 196"/>
              <a:gd name="T26" fmla="*/ 34 w 195"/>
              <a:gd name="T27" fmla="*/ 174 h 196"/>
              <a:gd name="T28" fmla="*/ 59 w 195"/>
              <a:gd name="T29" fmla="*/ 189 h 196"/>
              <a:gd name="T30" fmla="*/ 87 w 195"/>
              <a:gd name="T31" fmla="*/ 196 h 196"/>
              <a:gd name="T32" fmla="*/ 117 w 195"/>
              <a:gd name="T33" fmla="*/ 194 h 196"/>
              <a:gd name="T34" fmla="*/ 144 w 195"/>
              <a:gd name="T35" fmla="*/ 184 h 196"/>
              <a:gd name="T36" fmla="*/ 167 w 195"/>
              <a:gd name="T37" fmla="*/ 168 h 196"/>
              <a:gd name="T38" fmla="*/ 184 w 195"/>
              <a:gd name="T39" fmla="*/ 145 h 196"/>
              <a:gd name="T40" fmla="*/ 193 w 195"/>
              <a:gd name="T41" fmla="*/ 118 h 196"/>
              <a:gd name="T42" fmla="*/ 190 w 195"/>
              <a:gd name="T43" fmla="*/ 98 h 196"/>
              <a:gd name="T44" fmla="*/ 187 w 195"/>
              <a:gd name="T45" fmla="*/ 126 h 196"/>
              <a:gd name="T46" fmla="*/ 175 w 195"/>
              <a:gd name="T47" fmla="*/ 150 h 196"/>
              <a:gd name="T48" fmla="*/ 157 w 195"/>
              <a:gd name="T49" fmla="*/ 169 h 196"/>
              <a:gd name="T50" fmla="*/ 134 w 195"/>
              <a:gd name="T51" fmla="*/ 184 h 196"/>
              <a:gd name="T52" fmla="*/ 107 w 195"/>
              <a:gd name="T53" fmla="*/ 191 h 196"/>
              <a:gd name="T54" fmla="*/ 78 w 195"/>
              <a:gd name="T55" fmla="*/ 189 h 196"/>
              <a:gd name="T56" fmla="*/ 53 w 195"/>
              <a:gd name="T57" fmla="*/ 179 h 196"/>
              <a:gd name="T58" fmla="*/ 31 w 195"/>
              <a:gd name="T59" fmla="*/ 164 h 196"/>
              <a:gd name="T60" fmla="*/ 15 w 195"/>
              <a:gd name="T61" fmla="*/ 143 h 196"/>
              <a:gd name="T62" fmla="*/ 6 w 195"/>
              <a:gd name="T63" fmla="*/ 116 h 196"/>
              <a:gd name="T64" fmla="*/ 5 w 195"/>
              <a:gd name="T65" fmla="*/ 88 h 196"/>
              <a:gd name="T66" fmla="*/ 11 w 195"/>
              <a:gd name="T67" fmla="*/ 62 h 196"/>
              <a:gd name="T68" fmla="*/ 25 w 195"/>
              <a:gd name="T69" fmla="*/ 39 h 196"/>
              <a:gd name="T70" fmla="*/ 44 w 195"/>
              <a:gd name="T71" fmla="*/ 20 h 196"/>
              <a:gd name="T72" fmla="*/ 69 w 195"/>
              <a:gd name="T73" fmla="*/ 9 h 196"/>
              <a:gd name="T74" fmla="*/ 97 w 195"/>
              <a:gd name="T75" fmla="*/ 4 h 196"/>
              <a:gd name="T76" fmla="*/ 126 w 195"/>
              <a:gd name="T77" fmla="*/ 9 h 196"/>
              <a:gd name="T78" fmla="*/ 149 w 195"/>
              <a:gd name="T79" fmla="*/ 20 h 196"/>
              <a:gd name="T80" fmla="*/ 169 w 195"/>
              <a:gd name="T81" fmla="*/ 39 h 196"/>
              <a:gd name="T82" fmla="*/ 184 w 195"/>
              <a:gd name="T83" fmla="*/ 62 h 196"/>
              <a:gd name="T84" fmla="*/ 190 w 195"/>
              <a:gd name="T85" fmla="*/ 88 h 1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95" h="196">
                <a:moveTo>
                  <a:pt x="195" y="98"/>
                </a:moveTo>
                <a:lnTo>
                  <a:pt x="195" y="88"/>
                </a:lnTo>
                <a:lnTo>
                  <a:pt x="193" y="78"/>
                </a:lnTo>
                <a:lnTo>
                  <a:pt x="190" y="68"/>
                </a:lnTo>
                <a:lnTo>
                  <a:pt x="187" y="60"/>
                </a:lnTo>
                <a:lnTo>
                  <a:pt x="184" y="52"/>
                </a:lnTo>
                <a:lnTo>
                  <a:pt x="179" y="44"/>
                </a:lnTo>
                <a:lnTo>
                  <a:pt x="174" y="35"/>
                </a:lnTo>
                <a:lnTo>
                  <a:pt x="167" y="29"/>
                </a:lnTo>
                <a:lnTo>
                  <a:pt x="160" y="22"/>
                </a:lnTo>
                <a:lnTo>
                  <a:pt x="152" y="17"/>
                </a:lnTo>
                <a:lnTo>
                  <a:pt x="144" y="12"/>
                </a:lnTo>
                <a:lnTo>
                  <a:pt x="135" y="7"/>
                </a:lnTo>
                <a:lnTo>
                  <a:pt x="126" y="4"/>
                </a:lnTo>
                <a:lnTo>
                  <a:pt x="117" y="2"/>
                </a:lnTo>
                <a:lnTo>
                  <a:pt x="107" y="0"/>
                </a:lnTo>
                <a:lnTo>
                  <a:pt x="97" y="0"/>
                </a:lnTo>
                <a:lnTo>
                  <a:pt x="87" y="0"/>
                </a:lnTo>
                <a:lnTo>
                  <a:pt x="78" y="2"/>
                </a:lnTo>
                <a:lnTo>
                  <a:pt x="68" y="4"/>
                </a:lnTo>
                <a:lnTo>
                  <a:pt x="59" y="7"/>
                </a:lnTo>
                <a:lnTo>
                  <a:pt x="51" y="12"/>
                </a:lnTo>
                <a:lnTo>
                  <a:pt x="43" y="17"/>
                </a:lnTo>
                <a:lnTo>
                  <a:pt x="34" y="22"/>
                </a:lnTo>
                <a:lnTo>
                  <a:pt x="28" y="29"/>
                </a:lnTo>
                <a:lnTo>
                  <a:pt x="21" y="35"/>
                </a:lnTo>
                <a:lnTo>
                  <a:pt x="16" y="44"/>
                </a:lnTo>
                <a:lnTo>
                  <a:pt x="11" y="52"/>
                </a:lnTo>
                <a:lnTo>
                  <a:pt x="6" y="60"/>
                </a:lnTo>
                <a:lnTo>
                  <a:pt x="3" y="68"/>
                </a:lnTo>
                <a:lnTo>
                  <a:pt x="1" y="78"/>
                </a:lnTo>
                <a:lnTo>
                  <a:pt x="0" y="88"/>
                </a:lnTo>
                <a:lnTo>
                  <a:pt x="0" y="98"/>
                </a:lnTo>
                <a:lnTo>
                  <a:pt x="0" y="108"/>
                </a:lnTo>
                <a:lnTo>
                  <a:pt x="1" y="118"/>
                </a:lnTo>
                <a:lnTo>
                  <a:pt x="3" y="128"/>
                </a:lnTo>
                <a:lnTo>
                  <a:pt x="6" y="136"/>
                </a:lnTo>
                <a:lnTo>
                  <a:pt x="11" y="145"/>
                </a:lnTo>
                <a:lnTo>
                  <a:pt x="16" y="153"/>
                </a:lnTo>
                <a:lnTo>
                  <a:pt x="21" y="161"/>
                </a:lnTo>
                <a:lnTo>
                  <a:pt x="28" y="168"/>
                </a:lnTo>
                <a:lnTo>
                  <a:pt x="34" y="174"/>
                </a:lnTo>
                <a:lnTo>
                  <a:pt x="43" y="179"/>
                </a:lnTo>
                <a:lnTo>
                  <a:pt x="51" y="184"/>
                </a:lnTo>
                <a:lnTo>
                  <a:pt x="59" y="189"/>
                </a:lnTo>
                <a:lnTo>
                  <a:pt x="68" y="193"/>
                </a:lnTo>
                <a:lnTo>
                  <a:pt x="78" y="194"/>
                </a:lnTo>
                <a:lnTo>
                  <a:pt x="87" y="196"/>
                </a:lnTo>
                <a:lnTo>
                  <a:pt x="97" y="196"/>
                </a:lnTo>
                <a:lnTo>
                  <a:pt x="107" y="196"/>
                </a:lnTo>
                <a:lnTo>
                  <a:pt x="117" y="194"/>
                </a:lnTo>
                <a:lnTo>
                  <a:pt x="126" y="193"/>
                </a:lnTo>
                <a:lnTo>
                  <a:pt x="135" y="189"/>
                </a:lnTo>
                <a:lnTo>
                  <a:pt x="144" y="184"/>
                </a:lnTo>
                <a:lnTo>
                  <a:pt x="152" y="179"/>
                </a:lnTo>
                <a:lnTo>
                  <a:pt x="160" y="174"/>
                </a:lnTo>
                <a:lnTo>
                  <a:pt x="167" y="168"/>
                </a:lnTo>
                <a:lnTo>
                  <a:pt x="174" y="161"/>
                </a:lnTo>
                <a:lnTo>
                  <a:pt x="179" y="153"/>
                </a:lnTo>
                <a:lnTo>
                  <a:pt x="184" y="145"/>
                </a:lnTo>
                <a:lnTo>
                  <a:pt x="187" y="136"/>
                </a:lnTo>
                <a:lnTo>
                  <a:pt x="190" y="128"/>
                </a:lnTo>
                <a:lnTo>
                  <a:pt x="193" y="118"/>
                </a:lnTo>
                <a:lnTo>
                  <a:pt x="195" y="108"/>
                </a:lnTo>
                <a:lnTo>
                  <a:pt x="195" y="98"/>
                </a:lnTo>
                <a:close/>
                <a:moveTo>
                  <a:pt x="190" y="98"/>
                </a:moveTo>
                <a:lnTo>
                  <a:pt x="190" y="108"/>
                </a:lnTo>
                <a:lnTo>
                  <a:pt x="188" y="116"/>
                </a:lnTo>
                <a:lnTo>
                  <a:pt x="187" y="126"/>
                </a:lnTo>
                <a:lnTo>
                  <a:pt x="184" y="135"/>
                </a:lnTo>
                <a:lnTo>
                  <a:pt x="179" y="143"/>
                </a:lnTo>
                <a:lnTo>
                  <a:pt x="175" y="150"/>
                </a:lnTo>
                <a:lnTo>
                  <a:pt x="169" y="158"/>
                </a:lnTo>
                <a:lnTo>
                  <a:pt x="164" y="164"/>
                </a:lnTo>
                <a:lnTo>
                  <a:pt x="157" y="169"/>
                </a:lnTo>
                <a:lnTo>
                  <a:pt x="149" y="176"/>
                </a:lnTo>
                <a:lnTo>
                  <a:pt x="142" y="179"/>
                </a:lnTo>
                <a:lnTo>
                  <a:pt x="134" y="184"/>
                </a:lnTo>
                <a:lnTo>
                  <a:pt x="126" y="188"/>
                </a:lnTo>
                <a:lnTo>
                  <a:pt x="116" y="189"/>
                </a:lnTo>
                <a:lnTo>
                  <a:pt x="107" y="191"/>
                </a:lnTo>
                <a:lnTo>
                  <a:pt x="97" y="191"/>
                </a:lnTo>
                <a:lnTo>
                  <a:pt x="87" y="191"/>
                </a:lnTo>
                <a:lnTo>
                  <a:pt x="78" y="189"/>
                </a:lnTo>
                <a:lnTo>
                  <a:pt x="69" y="188"/>
                </a:lnTo>
                <a:lnTo>
                  <a:pt x="61" y="184"/>
                </a:lnTo>
                <a:lnTo>
                  <a:pt x="53" y="179"/>
                </a:lnTo>
                <a:lnTo>
                  <a:pt x="44" y="176"/>
                </a:lnTo>
                <a:lnTo>
                  <a:pt x="38" y="169"/>
                </a:lnTo>
                <a:lnTo>
                  <a:pt x="31" y="164"/>
                </a:lnTo>
                <a:lnTo>
                  <a:pt x="25" y="158"/>
                </a:lnTo>
                <a:lnTo>
                  <a:pt x="20" y="150"/>
                </a:lnTo>
                <a:lnTo>
                  <a:pt x="15" y="143"/>
                </a:lnTo>
                <a:lnTo>
                  <a:pt x="11" y="135"/>
                </a:lnTo>
                <a:lnTo>
                  <a:pt x="8" y="126"/>
                </a:lnTo>
                <a:lnTo>
                  <a:pt x="6" y="116"/>
                </a:lnTo>
                <a:lnTo>
                  <a:pt x="5" y="108"/>
                </a:lnTo>
                <a:lnTo>
                  <a:pt x="3" y="98"/>
                </a:lnTo>
                <a:lnTo>
                  <a:pt x="5" y="88"/>
                </a:lnTo>
                <a:lnTo>
                  <a:pt x="6" y="80"/>
                </a:lnTo>
                <a:lnTo>
                  <a:pt x="8" y="70"/>
                </a:lnTo>
                <a:lnTo>
                  <a:pt x="11" y="62"/>
                </a:lnTo>
                <a:lnTo>
                  <a:pt x="15" y="53"/>
                </a:lnTo>
                <a:lnTo>
                  <a:pt x="20" y="45"/>
                </a:lnTo>
                <a:lnTo>
                  <a:pt x="25" y="39"/>
                </a:lnTo>
                <a:lnTo>
                  <a:pt x="31" y="32"/>
                </a:lnTo>
                <a:lnTo>
                  <a:pt x="38" y="25"/>
                </a:lnTo>
                <a:lnTo>
                  <a:pt x="44" y="20"/>
                </a:lnTo>
                <a:lnTo>
                  <a:pt x="53" y="15"/>
                </a:lnTo>
                <a:lnTo>
                  <a:pt x="61" y="12"/>
                </a:lnTo>
                <a:lnTo>
                  <a:pt x="69" y="9"/>
                </a:lnTo>
                <a:lnTo>
                  <a:pt x="78" y="7"/>
                </a:lnTo>
                <a:lnTo>
                  <a:pt x="87" y="5"/>
                </a:lnTo>
                <a:lnTo>
                  <a:pt x="97" y="4"/>
                </a:lnTo>
                <a:lnTo>
                  <a:pt x="107" y="5"/>
                </a:lnTo>
                <a:lnTo>
                  <a:pt x="116" y="7"/>
                </a:lnTo>
                <a:lnTo>
                  <a:pt x="126" y="9"/>
                </a:lnTo>
                <a:lnTo>
                  <a:pt x="134" y="12"/>
                </a:lnTo>
                <a:lnTo>
                  <a:pt x="142" y="15"/>
                </a:lnTo>
                <a:lnTo>
                  <a:pt x="149" y="20"/>
                </a:lnTo>
                <a:lnTo>
                  <a:pt x="157" y="25"/>
                </a:lnTo>
                <a:lnTo>
                  <a:pt x="164" y="32"/>
                </a:lnTo>
                <a:lnTo>
                  <a:pt x="169" y="39"/>
                </a:lnTo>
                <a:lnTo>
                  <a:pt x="175" y="45"/>
                </a:lnTo>
                <a:lnTo>
                  <a:pt x="179" y="53"/>
                </a:lnTo>
                <a:lnTo>
                  <a:pt x="184" y="62"/>
                </a:lnTo>
                <a:lnTo>
                  <a:pt x="187" y="70"/>
                </a:lnTo>
                <a:lnTo>
                  <a:pt x="188" y="80"/>
                </a:lnTo>
                <a:lnTo>
                  <a:pt x="190" y="88"/>
                </a:lnTo>
                <a:lnTo>
                  <a:pt x="190" y="98"/>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78" name="Freeform 1583">
            <a:extLst>
              <a:ext uri="{FF2B5EF4-FFF2-40B4-BE49-F238E27FC236}">
                <a16:creationId xmlns:a16="http://schemas.microsoft.com/office/drawing/2014/main" id="{B6317485-3794-237E-C719-80A7BF055B41}"/>
              </a:ext>
            </a:extLst>
          </p:cNvPr>
          <p:cNvSpPr>
            <a:spLocks noEditPoints="1"/>
          </p:cNvSpPr>
          <p:nvPr/>
        </p:nvSpPr>
        <p:spPr bwMode="auto">
          <a:xfrm>
            <a:off x="2762250" y="2408238"/>
            <a:ext cx="304800" cy="304800"/>
          </a:xfrm>
          <a:custGeom>
            <a:avLst/>
            <a:gdLst>
              <a:gd name="T0" fmla="*/ 191 w 192"/>
              <a:gd name="T1" fmla="*/ 76 h 192"/>
              <a:gd name="T2" fmla="*/ 181 w 192"/>
              <a:gd name="T3" fmla="*/ 50 h 192"/>
              <a:gd name="T4" fmla="*/ 164 w 192"/>
              <a:gd name="T5" fmla="*/ 28 h 192"/>
              <a:gd name="T6" fmla="*/ 141 w 192"/>
              <a:gd name="T7" fmla="*/ 12 h 192"/>
              <a:gd name="T8" fmla="*/ 115 w 192"/>
              <a:gd name="T9" fmla="*/ 2 h 192"/>
              <a:gd name="T10" fmla="*/ 86 w 192"/>
              <a:gd name="T11" fmla="*/ 0 h 192"/>
              <a:gd name="T12" fmla="*/ 58 w 192"/>
              <a:gd name="T13" fmla="*/ 8 h 192"/>
              <a:gd name="T14" fmla="*/ 35 w 192"/>
              <a:gd name="T15" fmla="*/ 22 h 192"/>
              <a:gd name="T16" fmla="*/ 17 w 192"/>
              <a:gd name="T17" fmla="*/ 43 h 192"/>
              <a:gd name="T18" fmla="*/ 5 w 192"/>
              <a:gd name="T19" fmla="*/ 68 h 192"/>
              <a:gd name="T20" fmla="*/ 0 w 192"/>
              <a:gd name="T21" fmla="*/ 96 h 192"/>
              <a:gd name="T22" fmla="*/ 5 w 192"/>
              <a:gd name="T23" fmla="*/ 124 h 192"/>
              <a:gd name="T24" fmla="*/ 17 w 192"/>
              <a:gd name="T25" fmla="*/ 149 h 192"/>
              <a:gd name="T26" fmla="*/ 35 w 192"/>
              <a:gd name="T27" fmla="*/ 171 h 192"/>
              <a:gd name="T28" fmla="*/ 58 w 192"/>
              <a:gd name="T29" fmla="*/ 184 h 192"/>
              <a:gd name="T30" fmla="*/ 86 w 192"/>
              <a:gd name="T31" fmla="*/ 191 h 192"/>
              <a:gd name="T32" fmla="*/ 115 w 192"/>
              <a:gd name="T33" fmla="*/ 191 h 192"/>
              <a:gd name="T34" fmla="*/ 141 w 192"/>
              <a:gd name="T35" fmla="*/ 181 h 192"/>
              <a:gd name="T36" fmla="*/ 164 w 192"/>
              <a:gd name="T37" fmla="*/ 164 h 192"/>
              <a:gd name="T38" fmla="*/ 181 w 192"/>
              <a:gd name="T39" fmla="*/ 141 h 192"/>
              <a:gd name="T40" fmla="*/ 191 w 192"/>
              <a:gd name="T41" fmla="*/ 116 h 192"/>
              <a:gd name="T42" fmla="*/ 187 w 192"/>
              <a:gd name="T43" fmla="*/ 96 h 192"/>
              <a:gd name="T44" fmla="*/ 183 w 192"/>
              <a:gd name="T45" fmla="*/ 123 h 192"/>
              <a:gd name="T46" fmla="*/ 171 w 192"/>
              <a:gd name="T47" fmla="*/ 148 h 192"/>
              <a:gd name="T48" fmla="*/ 154 w 192"/>
              <a:gd name="T49" fmla="*/ 166 h 192"/>
              <a:gd name="T50" fmla="*/ 131 w 192"/>
              <a:gd name="T51" fmla="*/ 181 h 192"/>
              <a:gd name="T52" fmla="*/ 105 w 192"/>
              <a:gd name="T53" fmla="*/ 187 h 192"/>
              <a:gd name="T54" fmla="*/ 78 w 192"/>
              <a:gd name="T55" fmla="*/ 186 h 192"/>
              <a:gd name="T56" fmla="*/ 53 w 192"/>
              <a:gd name="T57" fmla="*/ 176 h 192"/>
              <a:gd name="T58" fmla="*/ 32 w 192"/>
              <a:gd name="T59" fmla="*/ 161 h 192"/>
              <a:gd name="T60" fmla="*/ 17 w 192"/>
              <a:gd name="T61" fmla="*/ 139 h 192"/>
              <a:gd name="T62" fmla="*/ 7 w 192"/>
              <a:gd name="T63" fmla="*/ 114 h 192"/>
              <a:gd name="T64" fmla="*/ 5 w 192"/>
              <a:gd name="T65" fmla="*/ 86 h 192"/>
              <a:gd name="T66" fmla="*/ 12 w 192"/>
              <a:gd name="T67" fmla="*/ 61 h 192"/>
              <a:gd name="T68" fmla="*/ 25 w 192"/>
              <a:gd name="T69" fmla="*/ 38 h 192"/>
              <a:gd name="T70" fmla="*/ 45 w 192"/>
              <a:gd name="T71" fmla="*/ 20 h 192"/>
              <a:gd name="T72" fmla="*/ 70 w 192"/>
              <a:gd name="T73" fmla="*/ 8 h 192"/>
              <a:gd name="T74" fmla="*/ 96 w 192"/>
              <a:gd name="T75" fmla="*/ 5 h 192"/>
              <a:gd name="T76" fmla="*/ 123 w 192"/>
              <a:gd name="T77" fmla="*/ 8 h 192"/>
              <a:gd name="T78" fmla="*/ 148 w 192"/>
              <a:gd name="T79" fmla="*/ 20 h 192"/>
              <a:gd name="T80" fmla="*/ 166 w 192"/>
              <a:gd name="T81" fmla="*/ 38 h 192"/>
              <a:gd name="T82" fmla="*/ 179 w 192"/>
              <a:gd name="T83" fmla="*/ 61 h 192"/>
              <a:gd name="T84" fmla="*/ 187 w 192"/>
              <a:gd name="T85" fmla="*/ 8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92" h="192">
                <a:moveTo>
                  <a:pt x="192" y="96"/>
                </a:moveTo>
                <a:lnTo>
                  <a:pt x="191" y="86"/>
                </a:lnTo>
                <a:lnTo>
                  <a:pt x="191" y="76"/>
                </a:lnTo>
                <a:lnTo>
                  <a:pt x="187" y="68"/>
                </a:lnTo>
                <a:lnTo>
                  <a:pt x="184" y="58"/>
                </a:lnTo>
                <a:lnTo>
                  <a:pt x="181" y="50"/>
                </a:lnTo>
                <a:lnTo>
                  <a:pt x="176" y="43"/>
                </a:lnTo>
                <a:lnTo>
                  <a:pt x="169" y="35"/>
                </a:lnTo>
                <a:lnTo>
                  <a:pt x="164" y="28"/>
                </a:lnTo>
                <a:lnTo>
                  <a:pt x="158" y="22"/>
                </a:lnTo>
                <a:lnTo>
                  <a:pt x="149" y="17"/>
                </a:lnTo>
                <a:lnTo>
                  <a:pt x="141" y="12"/>
                </a:lnTo>
                <a:lnTo>
                  <a:pt x="133" y="8"/>
                </a:lnTo>
                <a:lnTo>
                  <a:pt x="125" y="5"/>
                </a:lnTo>
                <a:lnTo>
                  <a:pt x="115" y="2"/>
                </a:lnTo>
                <a:lnTo>
                  <a:pt x="106" y="0"/>
                </a:lnTo>
                <a:lnTo>
                  <a:pt x="96" y="0"/>
                </a:lnTo>
                <a:lnTo>
                  <a:pt x="86" y="0"/>
                </a:lnTo>
                <a:lnTo>
                  <a:pt x="77" y="2"/>
                </a:lnTo>
                <a:lnTo>
                  <a:pt x="68" y="5"/>
                </a:lnTo>
                <a:lnTo>
                  <a:pt x="58" y="8"/>
                </a:lnTo>
                <a:lnTo>
                  <a:pt x="50" y="12"/>
                </a:lnTo>
                <a:lnTo>
                  <a:pt x="43" y="17"/>
                </a:lnTo>
                <a:lnTo>
                  <a:pt x="35" y="22"/>
                </a:lnTo>
                <a:lnTo>
                  <a:pt x="29" y="28"/>
                </a:lnTo>
                <a:lnTo>
                  <a:pt x="22" y="35"/>
                </a:lnTo>
                <a:lnTo>
                  <a:pt x="17" y="43"/>
                </a:lnTo>
                <a:lnTo>
                  <a:pt x="12" y="50"/>
                </a:lnTo>
                <a:lnTo>
                  <a:pt x="9" y="58"/>
                </a:lnTo>
                <a:lnTo>
                  <a:pt x="5" y="68"/>
                </a:lnTo>
                <a:lnTo>
                  <a:pt x="2" y="76"/>
                </a:lnTo>
                <a:lnTo>
                  <a:pt x="0" y="86"/>
                </a:lnTo>
                <a:lnTo>
                  <a:pt x="0" y="96"/>
                </a:lnTo>
                <a:lnTo>
                  <a:pt x="0" y="106"/>
                </a:lnTo>
                <a:lnTo>
                  <a:pt x="2" y="116"/>
                </a:lnTo>
                <a:lnTo>
                  <a:pt x="5" y="124"/>
                </a:lnTo>
                <a:lnTo>
                  <a:pt x="9" y="133"/>
                </a:lnTo>
                <a:lnTo>
                  <a:pt x="12" y="141"/>
                </a:lnTo>
                <a:lnTo>
                  <a:pt x="17" y="149"/>
                </a:lnTo>
                <a:lnTo>
                  <a:pt x="22" y="157"/>
                </a:lnTo>
                <a:lnTo>
                  <a:pt x="29" y="164"/>
                </a:lnTo>
                <a:lnTo>
                  <a:pt x="35" y="171"/>
                </a:lnTo>
                <a:lnTo>
                  <a:pt x="43" y="176"/>
                </a:lnTo>
                <a:lnTo>
                  <a:pt x="50" y="181"/>
                </a:lnTo>
                <a:lnTo>
                  <a:pt x="58" y="184"/>
                </a:lnTo>
                <a:lnTo>
                  <a:pt x="68" y="187"/>
                </a:lnTo>
                <a:lnTo>
                  <a:pt x="77" y="191"/>
                </a:lnTo>
                <a:lnTo>
                  <a:pt x="86" y="191"/>
                </a:lnTo>
                <a:lnTo>
                  <a:pt x="96" y="192"/>
                </a:lnTo>
                <a:lnTo>
                  <a:pt x="106" y="191"/>
                </a:lnTo>
                <a:lnTo>
                  <a:pt x="115" y="191"/>
                </a:lnTo>
                <a:lnTo>
                  <a:pt x="125" y="187"/>
                </a:lnTo>
                <a:lnTo>
                  <a:pt x="133" y="184"/>
                </a:lnTo>
                <a:lnTo>
                  <a:pt x="141" y="181"/>
                </a:lnTo>
                <a:lnTo>
                  <a:pt x="149" y="176"/>
                </a:lnTo>
                <a:lnTo>
                  <a:pt x="158" y="171"/>
                </a:lnTo>
                <a:lnTo>
                  <a:pt x="164" y="164"/>
                </a:lnTo>
                <a:lnTo>
                  <a:pt x="169" y="157"/>
                </a:lnTo>
                <a:lnTo>
                  <a:pt x="176" y="149"/>
                </a:lnTo>
                <a:lnTo>
                  <a:pt x="181" y="141"/>
                </a:lnTo>
                <a:lnTo>
                  <a:pt x="184" y="133"/>
                </a:lnTo>
                <a:lnTo>
                  <a:pt x="187" y="124"/>
                </a:lnTo>
                <a:lnTo>
                  <a:pt x="191" y="116"/>
                </a:lnTo>
                <a:lnTo>
                  <a:pt x="191" y="106"/>
                </a:lnTo>
                <a:lnTo>
                  <a:pt x="192" y="96"/>
                </a:lnTo>
                <a:close/>
                <a:moveTo>
                  <a:pt x="187" y="96"/>
                </a:moveTo>
                <a:lnTo>
                  <a:pt x="187" y="106"/>
                </a:lnTo>
                <a:lnTo>
                  <a:pt x="186" y="114"/>
                </a:lnTo>
                <a:lnTo>
                  <a:pt x="183" y="123"/>
                </a:lnTo>
                <a:lnTo>
                  <a:pt x="179" y="131"/>
                </a:lnTo>
                <a:lnTo>
                  <a:pt x="176" y="139"/>
                </a:lnTo>
                <a:lnTo>
                  <a:pt x="171" y="148"/>
                </a:lnTo>
                <a:lnTo>
                  <a:pt x="166" y="154"/>
                </a:lnTo>
                <a:lnTo>
                  <a:pt x="161" y="161"/>
                </a:lnTo>
                <a:lnTo>
                  <a:pt x="154" y="166"/>
                </a:lnTo>
                <a:lnTo>
                  <a:pt x="148" y="171"/>
                </a:lnTo>
                <a:lnTo>
                  <a:pt x="139" y="176"/>
                </a:lnTo>
                <a:lnTo>
                  <a:pt x="131" y="181"/>
                </a:lnTo>
                <a:lnTo>
                  <a:pt x="123" y="182"/>
                </a:lnTo>
                <a:lnTo>
                  <a:pt x="115" y="186"/>
                </a:lnTo>
                <a:lnTo>
                  <a:pt x="105" y="187"/>
                </a:lnTo>
                <a:lnTo>
                  <a:pt x="96" y="187"/>
                </a:lnTo>
                <a:lnTo>
                  <a:pt x="86" y="187"/>
                </a:lnTo>
                <a:lnTo>
                  <a:pt x="78" y="186"/>
                </a:lnTo>
                <a:lnTo>
                  <a:pt x="70" y="182"/>
                </a:lnTo>
                <a:lnTo>
                  <a:pt x="60" y="181"/>
                </a:lnTo>
                <a:lnTo>
                  <a:pt x="53" y="176"/>
                </a:lnTo>
                <a:lnTo>
                  <a:pt x="45" y="171"/>
                </a:lnTo>
                <a:lnTo>
                  <a:pt x="38" y="166"/>
                </a:lnTo>
                <a:lnTo>
                  <a:pt x="32" y="161"/>
                </a:lnTo>
                <a:lnTo>
                  <a:pt x="25" y="154"/>
                </a:lnTo>
                <a:lnTo>
                  <a:pt x="20" y="148"/>
                </a:lnTo>
                <a:lnTo>
                  <a:pt x="17" y="139"/>
                </a:lnTo>
                <a:lnTo>
                  <a:pt x="12" y="131"/>
                </a:lnTo>
                <a:lnTo>
                  <a:pt x="9" y="123"/>
                </a:lnTo>
                <a:lnTo>
                  <a:pt x="7" y="114"/>
                </a:lnTo>
                <a:lnTo>
                  <a:pt x="5" y="106"/>
                </a:lnTo>
                <a:lnTo>
                  <a:pt x="5" y="96"/>
                </a:lnTo>
                <a:lnTo>
                  <a:pt x="5" y="86"/>
                </a:lnTo>
                <a:lnTo>
                  <a:pt x="7" y="78"/>
                </a:lnTo>
                <a:lnTo>
                  <a:pt x="9" y="70"/>
                </a:lnTo>
                <a:lnTo>
                  <a:pt x="12" y="61"/>
                </a:lnTo>
                <a:lnTo>
                  <a:pt x="17" y="53"/>
                </a:lnTo>
                <a:lnTo>
                  <a:pt x="20" y="45"/>
                </a:lnTo>
                <a:lnTo>
                  <a:pt x="25" y="38"/>
                </a:lnTo>
                <a:lnTo>
                  <a:pt x="32" y="32"/>
                </a:lnTo>
                <a:lnTo>
                  <a:pt x="38" y="25"/>
                </a:lnTo>
                <a:lnTo>
                  <a:pt x="45" y="20"/>
                </a:lnTo>
                <a:lnTo>
                  <a:pt x="53" y="17"/>
                </a:lnTo>
                <a:lnTo>
                  <a:pt x="60" y="12"/>
                </a:lnTo>
                <a:lnTo>
                  <a:pt x="70" y="8"/>
                </a:lnTo>
                <a:lnTo>
                  <a:pt x="78" y="7"/>
                </a:lnTo>
                <a:lnTo>
                  <a:pt x="86" y="5"/>
                </a:lnTo>
                <a:lnTo>
                  <a:pt x="96" y="5"/>
                </a:lnTo>
                <a:lnTo>
                  <a:pt x="105" y="5"/>
                </a:lnTo>
                <a:lnTo>
                  <a:pt x="115" y="7"/>
                </a:lnTo>
                <a:lnTo>
                  <a:pt x="123" y="8"/>
                </a:lnTo>
                <a:lnTo>
                  <a:pt x="131" y="12"/>
                </a:lnTo>
                <a:lnTo>
                  <a:pt x="139" y="17"/>
                </a:lnTo>
                <a:lnTo>
                  <a:pt x="148" y="20"/>
                </a:lnTo>
                <a:lnTo>
                  <a:pt x="154" y="25"/>
                </a:lnTo>
                <a:lnTo>
                  <a:pt x="161" y="32"/>
                </a:lnTo>
                <a:lnTo>
                  <a:pt x="166" y="38"/>
                </a:lnTo>
                <a:lnTo>
                  <a:pt x="171" y="45"/>
                </a:lnTo>
                <a:lnTo>
                  <a:pt x="176" y="53"/>
                </a:lnTo>
                <a:lnTo>
                  <a:pt x="179" y="61"/>
                </a:lnTo>
                <a:lnTo>
                  <a:pt x="183" y="70"/>
                </a:lnTo>
                <a:lnTo>
                  <a:pt x="186" y="78"/>
                </a:lnTo>
                <a:lnTo>
                  <a:pt x="187" y="86"/>
                </a:lnTo>
                <a:lnTo>
                  <a:pt x="187" y="96"/>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79" name="Freeform 1584">
            <a:extLst>
              <a:ext uri="{FF2B5EF4-FFF2-40B4-BE49-F238E27FC236}">
                <a16:creationId xmlns:a16="http://schemas.microsoft.com/office/drawing/2014/main" id="{B314BAFD-088B-8CF8-F715-53BA420FCC3F}"/>
              </a:ext>
            </a:extLst>
          </p:cNvPr>
          <p:cNvSpPr>
            <a:spLocks noEditPoints="1"/>
          </p:cNvSpPr>
          <p:nvPr/>
        </p:nvSpPr>
        <p:spPr bwMode="auto">
          <a:xfrm>
            <a:off x="2765425" y="2411413"/>
            <a:ext cx="296863" cy="296863"/>
          </a:xfrm>
          <a:custGeom>
            <a:avLst/>
            <a:gdLst>
              <a:gd name="T0" fmla="*/ 187 w 187"/>
              <a:gd name="T1" fmla="*/ 84 h 187"/>
              <a:gd name="T2" fmla="*/ 184 w 187"/>
              <a:gd name="T3" fmla="*/ 66 h 187"/>
              <a:gd name="T4" fmla="*/ 176 w 187"/>
              <a:gd name="T5" fmla="*/ 49 h 187"/>
              <a:gd name="T6" fmla="*/ 166 w 187"/>
              <a:gd name="T7" fmla="*/ 35 h 187"/>
              <a:gd name="T8" fmla="*/ 154 w 187"/>
              <a:gd name="T9" fmla="*/ 21 h 187"/>
              <a:gd name="T10" fmla="*/ 139 w 187"/>
              <a:gd name="T11" fmla="*/ 11 h 187"/>
              <a:gd name="T12" fmla="*/ 123 w 187"/>
              <a:gd name="T13" fmla="*/ 5 h 187"/>
              <a:gd name="T14" fmla="*/ 104 w 187"/>
              <a:gd name="T15" fmla="*/ 1 h 187"/>
              <a:gd name="T16" fmla="*/ 84 w 187"/>
              <a:gd name="T17" fmla="*/ 1 h 187"/>
              <a:gd name="T18" fmla="*/ 66 w 187"/>
              <a:gd name="T19" fmla="*/ 5 h 187"/>
              <a:gd name="T20" fmla="*/ 50 w 187"/>
              <a:gd name="T21" fmla="*/ 11 h 187"/>
              <a:gd name="T22" fmla="*/ 35 w 187"/>
              <a:gd name="T23" fmla="*/ 21 h 187"/>
              <a:gd name="T24" fmla="*/ 22 w 187"/>
              <a:gd name="T25" fmla="*/ 35 h 187"/>
              <a:gd name="T26" fmla="*/ 12 w 187"/>
              <a:gd name="T27" fmla="*/ 49 h 187"/>
              <a:gd name="T28" fmla="*/ 5 w 187"/>
              <a:gd name="T29" fmla="*/ 66 h 187"/>
              <a:gd name="T30" fmla="*/ 2 w 187"/>
              <a:gd name="T31" fmla="*/ 84 h 187"/>
              <a:gd name="T32" fmla="*/ 2 w 187"/>
              <a:gd name="T33" fmla="*/ 104 h 187"/>
              <a:gd name="T34" fmla="*/ 5 w 187"/>
              <a:gd name="T35" fmla="*/ 122 h 187"/>
              <a:gd name="T36" fmla="*/ 12 w 187"/>
              <a:gd name="T37" fmla="*/ 139 h 187"/>
              <a:gd name="T38" fmla="*/ 22 w 187"/>
              <a:gd name="T39" fmla="*/ 154 h 187"/>
              <a:gd name="T40" fmla="*/ 35 w 187"/>
              <a:gd name="T41" fmla="*/ 165 h 187"/>
              <a:gd name="T42" fmla="*/ 50 w 187"/>
              <a:gd name="T43" fmla="*/ 175 h 187"/>
              <a:gd name="T44" fmla="*/ 66 w 187"/>
              <a:gd name="T45" fmla="*/ 184 h 187"/>
              <a:gd name="T46" fmla="*/ 84 w 187"/>
              <a:gd name="T47" fmla="*/ 187 h 187"/>
              <a:gd name="T48" fmla="*/ 104 w 187"/>
              <a:gd name="T49" fmla="*/ 187 h 187"/>
              <a:gd name="T50" fmla="*/ 123 w 187"/>
              <a:gd name="T51" fmla="*/ 184 h 187"/>
              <a:gd name="T52" fmla="*/ 139 w 187"/>
              <a:gd name="T53" fmla="*/ 175 h 187"/>
              <a:gd name="T54" fmla="*/ 154 w 187"/>
              <a:gd name="T55" fmla="*/ 165 h 187"/>
              <a:gd name="T56" fmla="*/ 166 w 187"/>
              <a:gd name="T57" fmla="*/ 154 h 187"/>
              <a:gd name="T58" fmla="*/ 176 w 187"/>
              <a:gd name="T59" fmla="*/ 139 h 187"/>
              <a:gd name="T60" fmla="*/ 184 w 187"/>
              <a:gd name="T61" fmla="*/ 122 h 187"/>
              <a:gd name="T62" fmla="*/ 187 w 187"/>
              <a:gd name="T63" fmla="*/ 104 h 187"/>
              <a:gd name="T64" fmla="*/ 182 w 187"/>
              <a:gd name="T65" fmla="*/ 94 h 187"/>
              <a:gd name="T66" fmla="*/ 181 w 187"/>
              <a:gd name="T67" fmla="*/ 112 h 187"/>
              <a:gd name="T68" fmla="*/ 176 w 187"/>
              <a:gd name="T69" fmla="*/ 129 h 187"/>
              <a:gd name="T70" fmla="*/ 157 w 187"/>
              <a:gd name="T71" fmla="*/ 157 h 187"/>
              <a:gd name="T72" fmla="*/ 129 w 187"/>
              <a:gd name="T73" fmla="*/ 175 h 187"/>
              <a:gd name="T74" fmla="*/ 113 w 187"/>
              <a:gd name="T75" fmla="*/ 180 h 187"/>
              <a:gd name="T76" fmla="*/ 94 w 187"/>
              <a:gd name="T77" fmla="*/ 182 h 187"/>
              <a:gd name="T78" fmla="*/ 76 w 187"/>
              <a:gd name="T79" fmla="*/ 180 h 187"/>
              <a:gd name="T80" fmla="*/ 60 w 187"/>
              <a:gd name="T81" fmla="*/ 175 h 187"/>
              <a:gd name="T82" fmla="*/ 31 w 187"/>
              <a:gd name="T83" fmla="*/ 157 h 187"/>
              <a:gd name="T84" fmla="*/ 13 w 187"/>
              <a:gd name="T85" fmla="*/ 129 h 187"/>
              <a:gd name="T86" fmla="*/ 7 w 187"/>
              <a:gd name="T87" fmla="*/ 112 h 187"/>
              <a:gd name="T88" fmla="*/ 5 w 187"/>
              <a:gd name="T89" fmla="*/ 94 h 187"/>
              <a:gd name="T90" fmla="*/ 7 w 187"/>
              <a:gd name="T91" fmla="*/ 76 h 187"/>
              <a:gd name="T92" fmla="*/ 13 w 187"/>
              <a:gd name="T93" fmla="*/ 59 h 187"/>
              <a:gd name="T94" fmla="*/ 31 w 187"/>
              <a:gd name="T95" fmla="*/ 31 h 187"/>
              <a:gd name="T96" fmla="*/ 60 w 187"/>
              <a:gd name="T97" fmla="*/ 13 h 187"/>
              <a:gd name="T98" fmla="*/ 76 w 187"/>
              <a:gd name="T99" fmla="*/ 6 h 187"/>
              <a:gd name="T100" fmla="*/ 94 w 187"/>
              <a:gd name="T101" fmla="*/ 5 h 187"/>
              <a:gd name="T102" fmla="*/ 113 w 187"/>
              <a:gd name="T103" fmla="*/ 6 h 187"/>
              <a:gd name="T104" fmla="*/ 129 w 187"/>
              <a:gd name="T105" fmla="*/ 13 h 187"/>
              <a:gd name="T106" fmla="*/ 157 w 187"/>
              <a:gd name="T107" fmla="*/ 31 h 187"/>
              <a:gd name="T108" fmla="*/ 176 w 187"/>
              <a:gd name="T109" fmla="*/ 59 h 187"/>
              <a:gd name="T110" fmla="*/ 181 w 187"/>
              <a:gd name="T111" fmla="*/ 76 h 187"/>
              <a:gd name="T112" fmla="*/ 182 w 187"/>
              <a:gd name="T113" fmla="*/ 94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87" h="187">
                <a:moveTo>
                  <a:pt x="187" y="94"/>
                </a:moveTo>
                <a:lnTo>
                  <a:pt x="187" y="84"/>
                </a:lnTo>
                <a:lnTo>
                  <a:pt x="185" y="76"/>
                </a:lnTo>
                <a:lnTo>
                  <a:pt x="184" y="66"/>
                </a:lnTo>
                <a:lnTo>
                  <a:pt x="181" y="58"/>
                </a:lnTo>
                <a:lnTo>
                  <a:pt x="176" y="49"/>
                </a:lnTo>
                <a:lnTo>
                  <a:pt x="172" y="41"/>
                </a:lnTo>
                <a:lnTo>
                  <a:pt x="166" y="35"/>
                </a:lnTo>
                <a:lnTo>
                  <a:pt x="161" y="28"/>
                </a:lnTo>
                <a:lnTo>
                  <a:pt x="154" y="21"/>
                </a:lnTo>
                <a:lnTo>
                  <a:pt x="146" y="16"/>
                </a:lnTo>
                <a:lnTo>
                  <a:pt x="139" y="11"/>
                </a:lnTo>
                <a:lnTo>
                  <a:pt x="131" y="8"/>
                </a:lnTo>
                <a:lnTo>
                  <a:pt x="123" y="5"/>
                </a:lnTo>
                <a:lnTo>
                  <a:pt x="113" y="3"/>
                </a:lnTo>
                <a:lnTo>
                  <a:pt x="104" y="1"/>
                </a:lnTo>
                <a:lnTo>
                  <a:pt x="94" y="0"/>
                </a:lnTo>
                <a:lnTo>
                  <a:pt x="84" y="1"/>
                </a:lnTo>
                <a:lnTo>
                  <a:pt x="75" y="3"/>
                </a:lnTo>
                <a:lnTo>
                  <a:pt x="66" y="5"/>
                </a:lnTo>
                <a:lnTo>
                  <a:pt x="58" y="8"/>
                </a:lnTo>
                <a:lnTo>
                  <a:pt x="50" y="11"/>
                </a:lnTo>
                <a:lnTo>
                  <a:pt x="41" y="16"/>
                </a:lnTo>
                <a:lnTo>
                  <a:pt x="35" y="21"/>
                </a:lnTo>
                <a:lnTo>
                  <a:pt x="28" y="28"/>
                </a:lnTo>
                <a:lnTo>
                  <a:pt x="22" y="35"/>
                </a:lnTo>
                <a:lnTo>
                  <a:pt x="17" y="41"/>
                </a:lnTo>
                <a:lnTo>
                  <a:pt x="12" y="49"/>
                </a:lnTo>
                <a:lnTo>
                  <a:pt x="8" y="58"/>
                </a:lnTo>
                <a:lnTo>
                  <a:pt x="5" y="66"/>
                </a:lnTo>
                <a:lnTo>
                  <a:pt x="3" y="76"/>
                </a:lnTo>
                <a:lnTo>
                  <a:pt x="2" y="84"/>
                </a:lnTo>
                <a:lnTo>
                  <a:pt x="0" y="94"/>
                </a:lnTo>
                <a:lnTo>
                  <a:pt x="2" y="104"/>
                </a:lnTo>
                <a:lnTo>
                  <a:pt x="3" y="112"/>
                </a:lnTo>
                <a:lnTo>
                  <a:pt x="5" y="122"/>
                </a:lnTo>
                <a:lnTo>
                  <a:pt x="8" y="131"/>
                </a:lnTo>
                <a:lnTo>
                  <a:pt x="12" y="139"/>
                </a:lnTo>
                <a:lnTo>
                  <a:pt x="17" y="146"/>
                </a:lnTo>
                <a:lnTo>
                  <a:pt x="22" y="154"/>
                </a:lnTo>
                <a:lnTo>
                  <a:pt x="28" y="160"/>
                </a:lnTo>
                <a:lnTo>
                  <a:pt x="35" y="165"/>
                </a:lnTo>
                <a:lnTo>
                  <a:pt x="41" y="172"/>
                </a:lnTo>
                <a:lnTo>
                  <a:pt x="50" y="175"/>
                </a:lnTo>
                <a:lnTo>
                  <a:pt x="58" y="180"/>
                </a:lnTo>
                <a:lnTo>
                  <a:pt x="66" y="184"/>
                </a:lnTo>
                <a:lnTo>
                  <a:pt x="75" y="185"/>
                </a:lnTo>
                <a:lnTo>
                  <a:pt x="84" y="187"/>
                </a:lnTo>
                <a:lnTo>
                  <a:pt x="94" y="187"/>
                </a:lnTo>
                <a:lnTo>
                  <a:pt x="104" y="187"/>
                </a:lnTo>
                <a:lnTo>
                  <a:pt x="113" y="185"/>
                </a:lnTo>
                <a:lnTo>
                  <a:pt x="123" y="184"/>
                </a:lnTo>
                <a:lnTo>
                  <a:pt x="131" y="180"/>
                </a:lnTo>
                <a:lnTo>
                  <a:pt x="139" y="175"/>
                </a:lnTo>
                <a:lnTo>
                  <a:pt x="146" y="172"/>
                </a:lnTo>
                <a:lnTo>
                  <a:pt x="154" y="165"/>
                </a:lnTo>
                <a:lnTo>
                  <a:pt x="161" y="160"/>
                </a:lnTo>
                <a:lnTo>
                  <a:pt x="166" y="154"/>
                </a:lnTo>
                <a:lnTo>
                  <a:pt x="172" y="146"/>
                </a:lnTo>
                <a:lnTo>
                  <a:pt x="176" y="139"/>
                </a:lnTo>
                <a:lnTo>
                  <a:pt x="181" y="131"/>
                </a:lnTo>
                <a:lnTo>
                  <a:pt x="184" y="122"/>
                </a:lnTo>
                <a:lnTo>
                  <a:pt x="185" y="112"/>
                </a:lnTo>
                <a:lnTo>
                  <a:pt x="187" y="104"/>
                </a:lnTo>
                <a:lnTo>
                  <a:pt x="187" y="94"/>
                </a:lnTo>
                <a:close/>
                <a:moveTo>
                  <a:pt x="182" y="94"/>
                </a:moveTo>
                <a:lnTo>
                  <a:pt x="182" y="102"/>
                </a:lnTo>
                <a:lnTo>
                  <a:pt x="181" y="112"/>
                </a:lnTo>
                <a:lnTo>
                  <a:pt x="179" y="121"/>
                </a:lnTo>
                <a:lnTo>
                  <a:pt x="176" y="129"/>
                </a:lnTo>
                <a:lnTo>
                  <a:pt x="167" y="144"/>
                </a:lnTo>
                <a:lnTo>
                  <a:pt x="157" y="157"/>
                </a:lnTo>
                <a:lnTo>
                  <a:pt x="144" y="167"/>
                </a:lnTo>
                <a:lnTo>
                  <a:pt x="129" y="175"/>
                </a:lnTo>
                <a:lnTo>
                  <a:pt x="121" y="179"/>
                </a:lnTo>
                <a:lnTo>
                  <a:pt x="113" y="180"/>
                </a:lnTo>
                <a:lnTo>
                  <a:pt x="103" y="182"/>
                </a:lnTo>
                <a:lnTo>
                  <a:pt x="94" y="182"/>
                </a:lnTo>
                <a:lnTo>
                  <a:pt x="84" y="182"/>
                </a:lnTo>
                <a:lnTo>
                  <a:pt x="76" y="180"/>
                </a:lnTo>
                <a:lnTo>
                  <a:pt x="68" y="179"/>
                </a:lnTo>
                <a:lnTo>
                  <a:pt x="60" y="175"/>
                </a:lnTo>
                <a:lnTo>
                  <a:pt x="45" y="167"/>
                </a:lnTo>
                <a:lnTo>
                  <a:pt x="31" y="157"/>
                </a:lnTo>
                <a:lnTo>
                  <a:pt x="20" y="144"/>
                </a:lnTo>
                <a:lnTo>
                  <a:pt x="13" y="129"/>
                </a:lnTo>
                <a:lnTo>
                  <a:pt x="10" y="121"/>
                </a:lnTo>
                <a:lnTo>
                  <a:pt x="7" y="112"/>
                </a:lnTo>
                <a:lnTo>
                  <a:pt x="7" y="102"/>
                </a:lnTo>
                <a:lnTo>
                  <a:pt x="5" y="94"/>
                </a:lnTo>
                <a:lnTo>
                  <a:pt x="7" y="84"/>
                </a:lnTo>
                <a:lnTo>
                  <a:pt x="7" y="76"/>
                </a:lnTo>
                <a:lnTo>
                  <a:pt x="10" y="68"/>
                </a:lnTo>
                <a:lnTo>
                  <a:pt x="13" y="59"/>
                </a:lnTo>
                <a:lnTo>
                  <a:pt x="20" y="45"/>
                </a:lnTo>
                <a:lnTo>
                  <a:pt x="31" y="31"/>
                </a:lnTo>
                <a:lnTo>
                  <a:pt x="45" y="21"/>
                </a:lnTo>
                <a:lnTo>
                  <a:pt x="60" y="13"/>
                </a:lnTo>
                <a:lnTo>
                  <a:pt x="68" y="10"/>
                </a:lnTo>
                <a:lnTo>
                  <a:pt x="76" y="6"/>
                </a:lnTo>
                <a:lnTo>
                  <a:pt x="84" y="6"/>
                </a:lnTo>
                <a:lnTo>
                  <a:pt x="94" y="5"/>
                </a:lnTo>
                <a:lnTo>
                  <a:pt x="103" y="6"/>
                </a:lnTo>
                <a:lnTo>
                  <a:pt x="113" y="6"/>
                </a:lnTo>
                <a:lnTo>
                  <a:pt x="121" y="10"/>
                </a:lnTo>
                <a:lnTo>
                  <a:pt x="129" y="13"/>
                </a:lnTo>
                <a:lnTo>
                  <a:pt x="144" y="21"/>
                </a:lnTo>
                <a:lnTo>
                  <a:pt x="157" y="31"/>
                </a:lnTo>
                <a:lnTo>
                  <a:pt x="167" y="45"/>
                </a:lnTo>
                <a:lnTo>
                  <a:pt x="176" y="59"/>
                </a:lnTo>
                <a:lnTo>
                  <a:pt x="179" y="68"/>
                </a:lnTo>
                <a:lnTo>
                  <a:pt x="181" y="76"/>
                </a:lnTo>
                <a:lnTo>
                  <a:pt x="182" y="84"/>
                </a:lnTo>
                <a:lnTo>
                  <a:pt x="182" y="94"/>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80" name="Freeform 1585">
            <a:extLst>
              <a:ext uri="{FF2B5EF4-FFF2-40B4-BE49-F238E27FC236}">
                <a16:creationId xmlns:a16="http://schemas.microsoft.com/office/drawing/2014/main" id="{CA18BF4B-8BDA-EC7E-B891-37E185F5DAE6}"/>
              </a:ext>
            </a:extLst>
          </p:cNvPr>
          <p:cNvSpPr>
            <a:spLocks noEditPoints="1"/>
          </p:cNvSpPr>
          <p:nvPr/>
        </p:nvSpPr>
        <p:spPr bwMode="auto">
          <a:xfrm>
            <a:off x="2770188" y="2416175"/>
            <a:ext cx="288925" cy="288925"/>
          </a:xfrm>
          <a:custGeom>
            <a:avLst/>
            <a:gdLst>
              <a:gd name="T0" fmla="*/ 182 w 182"/>
              <a:gd name="T1" fmla="*/ 81 h 182"/>
              <a:gd name="T2" fmla="*/ 178 w 182"/>
              <a:gd name="T3" fmla="*/ 65 h 182"/>
              <a:gd name="T4" fmla="*/ 171 w 182"/>
              <a:gd name="T5" fmla="*/ 48 h 182"/>
              <a:gd name="T6" fmla="*/ 161 w 182"/>
              <a:gd name="T7" fmla="*/ 33 h 182"/>
              <a:gd name="T8" fmla="*/ 149 w 182"/>
              <a:gd name="T9" fmla="*/ 20 h 182"/>
              <a:gd name="T10" fmla="*/ 134 w 182"/>
              <a:gd name="T11" fmla="*/ 12 h 182"/>
              <a:gd name="T12" fmla="*/ 118 w 182"/>
              <a:gd name="T13" fmla="*/ 3 h 182"/>
              <a:gd name="T14" fmla="*/ 100 w 182"/>
              <a:gd name="T15" fmla="*/ 0 h 182"/>
              <a:gd name="T16" fmla="*/ 81 w 182"/>
              <a:gd name="T17" fmla="*/ 0 h 182"/>
              <a:gd name="T18" fmla="*/ 65 w 182"/>
              <a:gd name="T19" fmla="*/ 3 h 182"/>
              <a:gd name="T20" fmla="*/ 48 w 182"/>
              <a:gd name="T21" fmla="*/ 12 h 182"/>
              <a:gd name="T22" fmla="*/ 33 w 182"/>
              <a:gd name="T23" fmla="*/ 20 h 182"/>
              <a:gd name="T24" fmla="*/ 20 w 182"/>
              <a:gd name="T25" fmla="*/ 33 h 182"/>
              <a:gd name="T26" fmla="*/ 12 w 182"/>
              <a:gd name="T27" fmla="*/ 48 h 182"/>
              <a:gd name="T28" fmla="*/ 4 w 182"/>
              <a:gd name="T29" fmla="*/ 65 h 182"/>
              <a:gd name="T30" fmla="*/ 0 w 182"/>
              <a:gd name="T31" fmla="*/ 81 h 182"/>
              <a:gd name="T32" fmla="*/ 0 w 182"/>
              <a:gd name="T33" fmla="*/ 101 h 182"/>
              <a:gd name="T34" fmla="*/ 4 w 182"/>
              <a:gd name="T35" fmla="*/ 118 h 182"/>
              <a:gd name="T36" fmla="*/ 12 w 182"/>
              <a:gd name="T37" fmla="*/ 134 h 182"/>
              <a:gd name="T38" fmla="*/ 20 w 182"/>
              <a:gd name="T39" fmla="*/ 149 h 182"/>
              <a:gd name="T40" fmla="*/ 33 w 182"/>
              <a:gd name="T41" fmla="*/ 161 h 182"/>
              <a:gd name="T42" fmla="*/ 48 w 182"/>
              <a:gd name="T43" fmla="*/ 171 h 182"/>
              <a:gd name="T44" fmla="*/ 65 w 182"/>
              <a:gd name="T45" fmla="*/ 177 h 182"/>
              <a:gd name="T46" fmla="*/ 81 w 182"/>
              <a:gd name="T47" fmla="*/ 182 h 182"/>
              <a:gd name="T48" fmla="*/ 100 w 182"/>
              <a:gd name="T49" fmla="*/ 182 h 182"/>
              <a:gd name="T50" fmla="*/ 118 w 182"/>
              <a:gd name="T51" fmla="*/ 177 h 182"/>
              <a:gd name="T52" fmla="*/ 134 w 182"/>
              <a:gd name="T53" fmla="*/ 171 h 182"/>
              <a:gd name="T54" fmla="*/ 149 w 182"/>
              <a:gd name="T55" fmla="*/ 161 h 182"/>
              <a:gd name="T56" fmla="*/ 161 w 182"/>
              <a:gd name="T57" fmla="*/ 149 h 182"/>
              <a:gd name="T58" fmla="*/ 171 w 182"/>
              <a:gd name="T59" fmla="*/ 134 h 182"/>
              <a:gd name="T60" fmla="*/ 178 w 182"/>
              <a:gd name="T61" fmla="*/ 118 h 182"/>
              <a:gd name="T62" fmla="*/ 182 w 182"/>
              <a:gd name="T63" fmla="*/ 101 h 182"/>
              <a:gd name="T64" fmla="*/ 178 w 182"/>
              <a:gd name="T65" fmla="*/ 91 h 182"/>
              <a:gd name="T66" fmla="*/ 176 w 182"/>
              <a:gd name="T67" fmla="*/ 108 h 182"/>
              <a:gd name="T68" fmla="*/ 171 w 182"/>
              <a:gd name="T69" fmla="*/ 124 h 182"/>
              <a:gd name="T70" fmla="*/ 153 w 182"/>
              <a:gd name="T71" fmla="*/ 152 h 182"/>
              <a:gd name="T72" fmla="*/ 125 w 182"/>
              <a:gd name="T73" fmla="*/ 171 h 182"/>
              <a:gd name="T74" fmla="*/ 108 w 182"/>
              <a:gd name="T75" fmla="*/ 176 h 182"/>
              <a:gd name="T76" fmla="*/ 91 w 182"/>
              <a:gd name="T77" fmla="*/ 177 h 182"/>
              <a:gd name="T78" fmla="*/ 73 w 182"/>
              <a:gd name="T79" fmla="*/ 176 h 182"/>
              <a:gd name="T80" fmla="*/ 58 w 182"/>
              <a:gd name="T81" fmla="*/ 171 h 182"/>
              <a:gd name="T82" fmla="*/ 30 w 182"/>
              <a:gd name="T83" fmla="*/ 152 h 182"/>
              <a:gd name="T84" fmla="*/ 12 w 182"/>
              <a:gd name="T85" fmla="*/ 124 h 182"/>
              <a:gd name="T86" fmla="*/ 7 w 182"/>
              <a:gd name="T87" fmla="*/ 108 h 182"/>
              <a:gd name="T88" fmla="*/ 5 w 182"/>
              <a:gd name="T89" fmla="*/ 91 h 182"/>
              <a:gd name="T90" fmla="*/ 7 w 182"/>
              <a:gd name="T91" fmla="*/ 73 h 182"/>
              <a:gd name="T92" fmla="*/ 12 w 182"/>
              <a:gd name="T93" fmla="*/ 58 h 182"/>
              <a:gd name="T94" fmla="*/ 30 w 182"/>
              <a:gd name="T95" fmla="*/ 30 h 182"/>
              <a:gd name="T96" fmla="*/ 58 w 182"/>
              <a:gd name="T97" fmla="*/ 12 h 182"/>
              <a:gd name="T98" fmla="*/ 73 w 182"/>
              <a:gd name="T99" fmla="*/ 7 h 182"/>
              <a:gd name="T100" fmla="*/ 91 w 182"/>
              <a:gd name="T101" fmla="*/ 5 h 182"/>
              <a:gd name="T102" fmla="*/ 108 w 182"/>
              <a:gd name="T103" fmla="*/ 7 h 182"/>
              <a:gd name="T104" fmla="*/ 125 w 182"/>
              <a:gd name="T105" fmla="*/ 12 h 182"/>
              <a:gd name="T106" fmla="*/ 153 w 182"/>
              <a:gd name="T107" fmla="*/ 30 h 182"/>
              <a:gd name="T108" fmla="*/ 171 w 182"/>
              <a:gd name="T109" fmla="*/ 58 h 182"/>
              <a:gd name="T110" fmla="*/ 176 w 182"/>
              <a:gd name="T111" fmla="*/ 73 h 182"/>
              <a:gd name="T112" fmla="*/ 178 w 182"/>
              <a:gd name="T113" fmla="*/ 91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82" h="182">
                <a:moveTo>
                  <a:pt x="182" y="91"/>
                </a:moveTo>
                <a:lnTo>
                  <a:pt x="182" y="81"/>
                </a:lnTo>
                <a:lnTo>
                  <a:pt x="181" y="73"/>
                </a:lnTo>
                <a:lnTo>
                  <a:pt x="178" y="65"/>
                </a:lnTo>
                <a:lnTo>
                  <a:pt x="174" y="55"/>
                </a:lnTo>
                <a:lnTo>
                  <a:pt x="171" y="48"/>
                </a:lnTo>
                <a:lnTo>
                  <a:pt x="166" y="40"/>
                </a:lnTo>
                <a:lnTo>
                  <a:pt x="161" y="33"/>
                </a:lnTo>
                <a:lnTo>
                  <a:pt x="156" y="27"/>
                </a:lnTo>
                <a:lnTo>
                  <a:pt x="149" y="20"/>
                </a:lnTo>
                <a:lnTo>
                  <a:pt x="143" y="15"/>
                </a:lnTo>
                <a:lnTo>
                  <a:pt x="134" y="12"/>
                </a:lnTo>
                <a:lnTo>
                  <a:pt x="126" y="7"/>
                </a:lnTo>
                <a:lnTo>
                  <a:pt x="118" y="3"/>
                </a:lnTo>
                <a:lnTo>
                  <a:pt x="110" y="2"/>
                </a:lnTo>
                <a:lnTo>
                  <a:pt x="100" y="0"/>
                </a:lnTo>
                <a:lnTo>
                  <a:pt x="91" y="0"/>
                </a:lnTo>
                <a:lnTo>
                  <a:pt x="81" y="0"/>
                </a:lnTo>
                <a:lnTo>
                  <a:pt x="73" y="2"/>
                </a:lnTo>
                <a:lnTo>
                  <a:pt x="65" y="3"/>
                </a:lnTo>
                <a:lnTo>
                  <a:pt x="55" y="7"/>
                </a:lnTo>
                <a:lnTo>
                  <a:pt x="48" y="12"/>
                </a:lnTo>
                <a:lnTo>
                  <a:pt x="40" y="15"/>
                </a:lnTo>
                <a:lnTo>
                  <a:pt x="33" y="20"/>
                </a:lnTo>
                <a:lnTo>
                  <a:pt x="27" y="27"/>
                </a:lnTo>
                <a:lnTo>
                  <a:pt x="20" y="33"/>
                </a:lnTo>
                <a:lnTo>
                  <a:pt x="15" y="40"/>
                </a:lnTo>
                <a:lnTo>
                  <a:pt x="12" y="48"/>
                </a:lnTo>
                <a:lnTo>
                  <a:pt x="7" y="55"/>
                </a:lnTo>
                <a:lnTo>
                  <a:pt x="4" y="65"/>
                </a:lnTo>
                <a:lnTo>
                  <a:pt x="2" y="73"/>
                </a:lnTo>
                <a:lnTo>
                  <a:pt x="0" y="81"/>
                </a:lnTo>
                <a:lnTo>
                  <a:pt x="0" y="91"/>
                </a:lnTo>
                <a:lnTo>
                  <a:pt x="0" y="101"/>
                </a:lnTo>
                <a:lnTo>
                  <a:pt x="2" y="109"/>
                </a:lnTo>
                <a:lnTo>
                  <a:pt x="4" y="118"/>
                </a:lnTo>
                <a:lnTo>
                  <a:pt x="7" y="126"/>
                </a:lnTo>
                <a:lnTo>
                  <a:pt x="12" y="134"/>
                </a:lnTo>
                <a:lnTo>
                  <a:pt x="15" y="143"/>
                </a:lnTo>
                <a:lnTo>
                  <a:pt x="20" y="149"/>
                </a:lnTo>
                <a:lnTo>
                  <a:pt x="27" y="156"/>
                </a:lnTo>
                <a:lnTo>
                  <a:pt x="33" y="161"/>
                </a:lnTo>
                <a:lnTo>
                  <a:pt x="40" y="166"/>
                </a:lnTo>
                <a:lnTo>
                  <a:pt x="48" y="171"/>
                </a:lnTo>
                <a:lnTo>
                  <a:pt x="55" y="176"/>
                </a:lnTo>
                <a:lnTo>
                  <a:pt x="65" y="177"/>
                </a:lnTo>
                <a:lnTo>
                  <a:pt x="73" y="181"/>
                </a:lnTo>
                <a:lnTo>
                  <a:pt x="81" y="182"/>
                </a:lnTo>
                <a:lnTo>
                  <a:pt x="91" y="182"/>
                </a:lnTo>
                <a:lnTo>
                  <a:pt x="100" y="182"/>
                </a:lnTo>
                <a:lnTo>
                  <a:pt x="110" y="181"/>
                </a:lnTo>
                <a:lnTo>
                  <a:pt x="118" y="177"/>
                </a:lnTo>
                <a:lnTo>
                  <a:pt x="126" y="176"/>
                </a:lnTo>
                <a:lnTo>
                  <a:pt x="134" y="171"/>
                </a:lnTo>
                <a:lnTo>
                  <a:pt x="143" y="166"/>
                </a:lnTo>
                <a:lnTo>
                  <a:pt x="149" y="161"/>
                </a:lnTo>
                <a:lnTo>
                  <a:pt x="156" y="156"/>
                </a:lnTo>
                <a:lnTo>
                  <a:pt x="161" y="149"/>
                </a:lnTo>
                <a:lnTo>
                  <a:pt x="166" y="143"/>
                </a:lnTo>
                <a:lnTo>
                  <a:pt x="171" y="134"/>
                </a:lnTo>
                <a:lnTo>
                  <a:pt x="174" y="126"/>
                </a:lnTo>
                <a:lnTo>
                  <a:pt x="178" y="118"/>
                </a:lnTo>
                <a:lnTo>
                  <a:pt x="181" y="109"/>
                </a:lnTo>
                <a:lnTo>
                  <a:pt x="182" y="101"/>
                </a:lnTo>
                <a:lnTo>
                  <a:pt x="182" y="91"/>
                </a:lnTo>
                <a:close/>
                <a:moveTo>
                  <a:pt x="178" y="91"/>
                </a:moveTo>
                <a:lnTo>
                  <a:pt x="178" y="99"/>
                </a:lnTo>
                <a:lnTo>
                  <a:pt x="176" y="108"/>
                </a:lnTo>
                <a:lnTo>
                  <a:pt x="174" y="116"/>
                </a:lnTo>
                <a:lnTo>
                  <a:pt x="171" y="124"/>
                </a:lnTo>
                <a:lnTo>
                  <a:pt x="163" y="139"/>
                </a:lnTo>
                <a:lnTo>
                  <a:pt x="153" y="152"/>
                </a:lnTo>
                <a:lnTo>
                  <a:pt x="139" y="162"/>
                </a:lnTo>
                <a:lnTo>
                  <a:pt x="125" y="171"/>
                </a:lnTo>
                <a:lnTo>
                  <a:pt x="116" y="174"/>
                </a:lnTo>
                <a:lnTo>
                  <a:pt x="108" y="176"/>
                </a:lnTo>
                <a:lnTo>
                  <a:pt x="100" y="177"/>
                </a:lnTo>
                <a:lnTo>
                  <a:pt x="91" y="177"/>
                </a:lnTo>
                <a:lnTo>
                  <a:pt x="83" y="177"/>
                </a:lnTo>
                <a:lnTo>
                  <a:pt x="73" y="176"/>
                </a:lnTo>
                <a:lnTo>
                  <a:pt x="65" y="174"/>
                </a:lnTo>
                <a:lnTo>
                  <a:pt x="58" y="171"/>
                </a:lnTo>
                <a:lnTo>
                  <a:pt x="43" y="162"/>
                </a:lnTo>
                <a:lnTo>
                  <a:pt x="30" y="152"/>
                </a:lnTo>
                <a:lnTo>
                  <a:pt x="20" y="139"/>
                </a:lnTo>
                <a:lnTo>
                  <a:pt x="12" y="124"/>
                </a:lnTo>
                <a:lnTo>
                  <a:pt x="9" y="116"/>
                </a:lnTo>
                <a:lnTo>
                  <a:pt x="7" y="108"/>
                </a:lnTo>
                <a:lnTo>
                  <a:pt x="5" y="99"/>
                </a:lnTo>
                <a:lnTo>
                  <a:pt x="5" y="91"/>
                </a:lnTo>
                <a:lnTo>
                  <a:pt x="5" y="83"/>
                </a:lnTo>
                <a:lnTo>
                  <a:pt x="7" y="73"/>
                </a:lnTo>
                <a:lnTo>
                  <a:pt x="9" y="65"/>
                </a:lnTo>
                <a:lnTo>
                  <a:pt x="12" y="58"/>
                </a:lnTo>
                <a:lnTo>
                  <a:pt x="20" y="43"/>
                </a:lnTo>
                <a:lnTo>
                  <a:pt x="30" y="30"/>
                </a:lnTo>
                <a:lnTo>
                  <a:pt x="43" y="20"/>
                </a:lnTo>
                <a:lnTo>
                  <a:pt x="58" y="12"/>
                </a:lnTo>
                <a:lnTo>
                  <a:pt x="65" y="8"/>
                </a:lnTo>
                <a:lnTo>
                  <a:pt x="73" y="7"/>
                </a:lnTo>
                <a:lnTo>
                  <a:pt x="83" y="5"/>
                </a:lnTo>
                <a:lnTo>
                  <a:pt x="91" y="5"/>
                </a:lnTo>
                <a:lnTo>
                  <a:pt x="100" y="5"/>
                </a:lnTo>
                <a:lnTo>
                  <a:pt x="108" y="7"/>
                </a:lnTo>
                <a:lnTo>
                  <a:pt x="116" y="8"/>
                </a:lnTo>
                <a:lnTo>
                  <a:pt x="125" y="12"/>
                </a:lnTo>
                <a:lnTo>
                  <a:pt x="139" y="20"/>
                </a:lnTo>
                <a:lnTo>
                  <a:pt x="153" y="30"/>
                </a:lnTo>
                <a:lnTo>
                  <a:pt x="163" y="43"/>
                </a:lnTo>
                <a:lnTo>
                  <a:pt x="171" y="58"/>
                </a:lnTo>
                <a:lnTo>
                  <a:pt x="174" y="65"/>
                </a:lnTo>
                <a:lnTo>
                  <a:pt x="176" y="73"/>
                </a:lnTo>
                <a:lnTo>
                  <a:pt x="178" y="83"/>
                </a:lnTo>
                <a:lnTo>
                  <a:pt x="178" y="91"/>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81" name="Freeform 1586">
            <a:extLst>
              <a:ext uri="{FF2B5EF4-FFF2-40B4-BE49-F238E27FC236}">
                <a16:creationId xmlns:a16="http://schemas.microsoft.com/office/drawing/2014/main" id="{4424F27D-68A1-B7CA-E329-49DBA8A27C70}"/>
              </a:ext>
            </a:extLst>
          </p:cNvPr>
          <p:cNvSpPr>
            <a:spLocks noEditPoints="1"/>
          </p:cNvSpPr>
          <p:nvPr/>
        </p:nvSpPr>
        <p:spPr bwMode="auto">
          <a:xfrm>
            <a:off x="2773363" y="2419350"/>
            <a:ext cx="280988" cy="280988"/>
          </a:xfrm>
          <a:custGeom>
            <a:avLst/>
            <a:gdLst>
              <a:gd name="T0" fmla="*/ 177 w 177"/>
              <a:gd name="T1" fmla="*/ 79 h 177"/>
              <a:gd name="T2" fmla="*/ 174 w 177"/>
              <a:gd name="T3" fmla="*/ 63 h 177"/>
              <a:gd name="T4" fmla="*/ 162 w 177"/>
              <a:gd name="T5" fmla="*/ 40 h 177"/>
              <a:gd name="T6" fmla="*/ 139 w 177"/>
              <a:gd name="T7" fmla="*/ 16 h 177"/>
              <a:gd name="T8" fmla="*/ 116 w 177"/>
              <a:gd name="T9" fmla="*/ 5 h 177"/>
              <a:gd name="T10" fmla="*/ 98 w 177"/>
              <a:gd name="T11" fmla="*/ 1 h 177"/>
              <a:gd name="T12" fmla="*/ 79 w 177"/>
              <a:gd name="T13" fmla="*/ 1 h 177"/>
              <a:gd name="T14" fmla="*/ 63 w 177"/>
              <a:gd name="T15" fmla="*/ 5 h 177"/>
              <a:gd name="T16" fmla="*/ 40 w 177"/>
              <a:gd name="T17" fmla="*/ 16 h 177"/>
              <a:gd name="T18" fmla="*/ 15 w 177"/>
              <a:gd name="T19" fmla="*/ 40 h 177"/>
              <a:gd name="T20" fmla="*/ 5 w 177"/>
              <a:gd name="T21" fmla="*/ 63 h 177"/>
              <a:gd name="T22" fmla="*/ 2 w 177"/>
              <a:gd name="T23" fmla="*/ 79 h 177"/>
              <a:gd name="T24" fmla="*/ 2 w 177"/>
              <a:gd name="T25" fmla="*/ 97 h 177"/>
              <a:gd name="T26" fmla="*/ 5 w 177"/>
              <a:gd name="T27" fmla="*/ 116 h 177"/>
              <a:gd name="T28" fmla="*/ 15 w 177"/>
              <a:gd name="T29" fmla="*/ 139 h 177"/>
              <a:gd name="T30" fmla="*/ 40 w 177"/>
              <a:gd name="T31" fmla="*/ 162 h 177"/>
              <a:gd name="T32" fmla="*/ 63 w 177"/>
              <a:gd name="T33" fmla="*/ 174 h 177"/>
              <a:gd name="T34" fmla="*/ 79 w 177"/>
              <a:gd name="T35" fmla="*/ 177 h 177"/>
              <a:gd name="T36" fmla="*/ 98 w 177"/>
              <a:gd name="T37" fmla="*/ 177 h 177"/>
              <a:gd name="T38" fmla="*/ 116 w 177"/>
              <a:gd name="T39" fmla="*/ 174 h 177"/>
              <a:gd name="T40" fmla="*/ 139 w 177"/>
              <a:gd name="T41" fmla="*/ 162 h 177"/>
              <a:gd name="T42" fmla="*/ 162 w 177"/>
              <a:gd name="T43" fmla="*/ 139 h 177"/>
              <a:gd name="T44" fmla="*/ 174 w 177"/>
              <a:gd name="T45" fmla="*/ 116 h 177"/>
              <a:gd name="T46" fmla="*/ 177 w 177"/>
              <a:gd name="T47" fmla="*/ 97 h 177"/>
              <a:gd name="T48" fmla="*/ 172 w 177"/>
              <a:gd name="T49" fmla="*/ 89 h 177"/>
              <a:gd name="T50" fmla="*/ 171 w 177"/>
              <a:gd name="T51" fmla="*/ 106 h 177"/>
              <a:gd name="T52" fmla="*/ 166 w 177"/>
              <a:gd name="T53" fmla="*/ 122 h 177"/>
              <a:gd name="T54" fmla="*/ 149 w 177"/>
              <a:gd name="T55" fmla="*/ 149 h 177"/>
              <a:gd name="T56" fmla="*/ 123 w 177"/>
              <a:gd name="T57" fmla="*/ 167 h 177"/>
              <a:gd name="T58" fmla="*/ 106 w 177"/>
              <a:gd name="T59" fmla="*/ 170 h 177"/>
              <a:gd name="T60" fmla="*/ 89 w 177"/>
              <a:gd name="T61" fmla="*/ 172 h 177"/>
              <a:gd name="T62" fmla="*/ 73 w 177"/>
              <a:gd name="T63" fmla="*/ 170 h 177"/>
              <a:gd name="T64" fmla="*/ 56 w 177"/>
              <a:gd name="T65" fmla="*/ 167 h 177"/>
              <a:gd name="T66" fmla="*/ 30 w 177"/>
              <a:gd name="T67" fmla="*/ 149 h 177"/>
              <a:gd name="T68" fmla="*/ 12 w 177"/>
              <a:gd name="T69" fmla="*/ 122 h 177"/>
              <a:gd name="T70" fmla="*/ 7 w 177"/>
              <a:gd name="T71" fmla="*/ 106 h 177"/>
              <a:gd name="T72" fmla="*/ 5 w 177"/>
              <a:gd name="T73" fmla="*/ 89 h 177"/>
              <a:gd name="T74" fmla="*/ 7 w 177"/>
              <a:gd name="T75" fmla="*/ 73 h 177"/>
              <a:gd name="T76" fmla="*/ 12 w 177"/>
              <a:gd name="T77" fmla="*/ 56 h 177"/>
              <a:gd name="T78" fmla="*/ 30 w 177"/>
              <a:gd name="T79" fmla="*/ 30 h 177"/>
              <a:gd name="T80" fmla="*/ 56 w 177"/>
              <a:gd name="T81" fmla="*/ 11 h 177"/>
              <a:gd name="T82" fmla="*/ 73 w 177"/>
              <a:gd name="T83" fmla="*/ 6 h 177"/>
              <a:gd name="T84" fmla="*/ 89 w 177"/>
              <a:gd name="T85" fmla="*/ 5 h 177"/>
              <a:gd name="T86" fmla="*/ 106 w 177"/>
              <a:gd name="T87" fmla="*/ 6 h 177"/>
              <a:gd name="T88" fmla="*/ 123 w 177"/>
              <a:gd name="T89" fmla="*/ 11 h 177"/>
              <a:gd name="T90" fmla="*/ 149 w 177"/>
              <a:gd name="T91" fmla="*/ 30 h 177"/>
              <a:gd name="T92" fmla="*/ 166 w 177"/>
              <a:gd name="T93" fmla="*/ 56 h 177"/>
              <a:gd name="T94" fmla="*/ 171 w 177"/>
              <a:gd name="T95" fmla="*/ 73 h 177"/>
              <a:gd name="T96" fmla="*/ 172 w 177"/>
              <a:gd name="T97" fmla="*/ 89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77" h="177">
                <a:moveTo>
                  <a:pt x="177" y="89"/>
                </a:moveTo>
                <a:lnTo>
                  <a:pt x="177" y="79"/>
                </a:lnTo>
                <a:lnTo>
                  <a:pt x="176" y="71"/>
                </a:lnTo>
                <a:lnTo>
                  <a:pt x="174" y="63"/>
                </a:lnTo>
                <a:lnTo>
                  <a:pt x="171" y="54"/>
                </a:lnTo>
                <a:lnTo>
                  <a:pt x="162" y="40"/>
                </a:lnTo>
                <a:lnTo>
                  <a:pt x="152" y="26"/>
                </a:lnTo>
                <a:lnTo>
                  <a:pt x="139" y="16"/>
                </a:lnTo>
                <a:lnTo>
                  <a:pt x="124" y="8"/>
                </a:lnTo>
                <a:lnTo>
                  <a:pt x="116" y="5"/>
                </a:lnTo>
                <a:lnTo>
                  <a:pt x="108" y="1"/>
                </a:lnTo>
                <a:lnTo>
                  <a:pt x="98" y="1"/>
                </a:lnTo>
                <a:lnTo>
                  <a:pt x="89" y="0"/>
                </a:lnTo>
                <a:lnTo>
                  <a:pt x="79" y="1"/>
                </a:lnTo>
                <a:lnTo>
                  <a:pt x="71" y="1"/>
                </a:lnTo>
                <a:lnTo>
                  <a:pt x="63" y="5"/>
                </a:lnTo>
                <a:lnTo>
                  <a:pt x="55" y="8"/>
                </a:lnTo>
                <a:lnTo>
                  <a:pt x="40" y="16"/>
                </a:lnTo>
                <a:lnTo>
                  <a:pt x="26" y="26"/>
                </a:lnTo>
                <a:lnTo>
                  <a:pt x="15" y="40"/>
                </a:lnTo>
                <a:lnTo>
                  <a:pt x="8" y="54"/>
                </a:lnTo>
                <a:lnTo>
                  <a:pt x="5" y="63"/>
                </a:lnTo>
                <a:lnTo>
                  <a:pt x="2" y="71"/>
                </a:lnTo>
                <a:lnTo>
                  <a:pt x="2" y="79"/>
                </a:lnTo>
                <a:lnTo>
                  <a:pt x="0" y="89"/>
                </a:lnTo>
                <a:lnTo>
                  <a:pt x="2" y="97"/>
                </a:lnTo>
                <a:lnTo>
                  <a:pt x="2" y="107"/>
                </a:lnTo>
                <a:lnTo>
                  <a:pt x="5" y="116"/>
                </a:lnTo>
                <a:lnTo>
                  <a:pt x="8" y="124"/>
                </a:lnTo>
                <a:lnTo>
                  <a:pt x="15" y="139"/>
                </a:lnTo>
                <a:lnTo>
                  <a:pt x="26" y="152"/>
                </a:lnTo>
                <a:lnTo>
                  <a:pt x="40" y="162"/>
                </a:lnTo>
                <a:lnTo>
                  <a:pt x="55" y="170"/>
                </a:lnTo>
                <a:lnTo>
                  <a:pt x="63" y="174"/>
                </a:lnTo>
                <a:lnTo>
                  <a:pt x="71" y="175"/>
                </a:lnTo>
                <a:lnTo>
                  <a:pt x="79" y="177"/>
                </a:lnTo>
                <a:lnTo>
                  <a:pt x="89" y="177"/>
                </a:lnTo>
                <a:lnTo>
                  <a:pt x="98" y="177"/>
                </a:lnTo>
                <a:lnTo>
                  <a:pt x="108" y="175"/>
                </a:lnTo>
                <a:lnTo>
                  <a:pt x="116" y="174"/>
                </a:lnTo>
                <a:lnTo>
                  <a:pt x="124" y="170"/>
                </a:lnTo>
                <a:lnTo>
                  <a:pt x="139" y="162"/>
                </a:lnTo>
                <a:lnTo>
                  <a:pt x="152" y="152"/>
                </a:lnTo>
                <a:lnTo>
                  <a:pt x="162" y="139"/>
                </a:lnTo>
                <a:lnTo>
                  <a:pt x="171" y="124"/>
                </a:lnTo>
                <a:lnTo>
                  <a:pt x="174" y="116"/>
                </a:lnTo>
                <a:lnTo>
                  <a:pt x="176" y="107"/>
                </a:lnTo>
                <a:lnTo>
                  <a:pt x="177" y="97"/>
                </a:lnTo>
                <a:lnTo>
                  <a:pt x="177" y="89"/>
                </a:lnTo>
                <a:close/>
                <a:moveTo>
                  <a:pt x="172" y="89"/>
                </a:moveTo>
                <a:lnTo>
                  <a:pt x="172" y="97"/>
                </a:lnTo>
                <a:lnTo>
                  <a:pt x="171" y="106"/>
                </a:lnTo>
                <a:lnTo>
                  <a:pt x="169" y="114"/>
                </a:lnTo>
                <a:lnTo>
                  <a:pt x="166" y="122"/>
                </a:lnTo>
                <a:lnTo>
                  <a:pt x="159" y="136"/>
                </a:lnTo>
                <a:lnTo>
                  <a:pt x="149" y="149"/>
                </a:lnTo>
                <a:lnTo>
                  <a:pt x="136" y="159"/>
                </a:lnTo>
                <a:lnTo>
                  <a:pt x="123" y="167"/>
                </a:lnTo>
                <a:lnTo>
                  <a:pt x="114" y="169"/>
                </a:lnTo>
                <a:lnTo>
                  <a:pt x="106" y="170"/>
                </a:lnTo>
                <a:lnTo>
                  <a:pt x="98" y="172"/>
                </a:lnTo>
                <a:lnTo>
                  <a:pt x="89" y="172"/>
                </a:lnTo>
                <a:lnTo>
                  <a:pt x="81" y="172"/>
                </a:lnTo>
                <a:lnTo>
                  <a:pt x="73" y="170"/>
                </a:lnTo>
                <a:lnTo>
                  <a:pt x="65" y="169"/>
                </a:lnTo>
                <a:lnTo>
                  <a:pt x="56" y="167"/>
                </a:lnTo>
                <a:lnTo>
                  <a:pt x="43" y="159"/>
                </a:lnTo>
                <a:lnTo>
                  <a:pt x="30" y="149"/>
                </a:lnTo>
                <a:lnTo>
                  <a:pt x="20" y="136"/>
                </a:lnTo>
                <a:lnTo>
                  <a:pt x="12" y="122"/>
                </a:lnTo>
                <a:lnTo>
                  <a:pt x="10" y="114"/>
                </a:lnTo>
                <a:lnTo>
                  <a:pt x="7" y="106"/>
                </a:lnTo>
                <a:lnTo>
                  <a:pt x="5" y="97"/>
                </a:lnTo>
                <a:lnTo>
                  <a:pt x="5" y="89"/>
                </a:lnTo>
                <a:lnTo>
                  <a:pt x="5" y="81"/>
                </a:lnTo>
                <a:lnTo>
                  <a:pt x="7" y="73"/>
                </a:lnTo>
                <a:lnTo>
                  <a:pt x="10" y="64"/>
                </a:lnTo>
                <a:lnTo>
                  <a:pt x="12" y="56"/>
                </a:lnTo>
                <a:lnTo>
                  <a:pt x="20" y="43"/>
                </a:lnTo>
                <a:lnTo>
                  <a:pt x="30" y="30"/>
                </a:lnTo>
                <a:lnTo>
                  <a:pt x="43" y="20"/>
                </a:lnTo>
                <a:lnTo>
                  <a:pt x="56" y="11"/>
                </a:lnTo>
                <a:lnTo>
                  <a:pt x="65" y="10"/>
                </a:lnTo>
                <a:lnTo>
                  <a:pt x="73" y="6"/>
                </a:lnTo>
                <a:lnTo>
                  <a:pt x="81" y="6"/>
                </a:lnTo>
                <a:lnTo>
                  <a:pt x="89" y="5"/>
                </a:lnTo>
                <a:lnTo>
                  <a:pt x="98" y="6"/>
                </a:lnTo>
                <a:lnTo>
                  <a:pt x="106" y="6"/>
                </a:lnTo>
                <a:lnTo>
                  <a:pt x="114" y="10"/>
                </a:lnTo>
                <a:lnTo>
                  <a:pt x="123" y="11"/>
                </a:lnTo>
                <a:lnTo>
                  <a:pt x="136" y="20"/>
                </a:lnTo>
                <a:lnTo>
                  <a:pt x="149" y="30"/>
                </a:lnTo>
                <a:lnTo>
                  <a:pt x="159" y="43"/>
                </a:lnTo>
                <a:lnTo>
                  <a:pt x="166" y="56"/>
                </a:lnTo>
                <a:lnTo>
                  <a:pt x="169" y="64"/>
                </a:lnTo>
                <a:lnTo>
                  <a:pt x="171" y="73"/>
                </a:lnTo>
                <a:lnTo>
                  <a:pt x="172" y="81"/>
                </a:lnTo>
                <a:lnTo>
                  <a:pt x="172" y="89"/>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82" name="Freeform 1587">
            <a:extLst>
              <a:ext uri="{FF2B5EF4-FFF2-40B4-BE49-F238E27FC236}">
                <a16:creationId xmlns:a16="http://schemas.microsoft.com/office/drawing/2014/main" id="{198E3571-2F78-BB89-2DB3-A564D37F143F}"/>
              </a:ext>
            </a:extLst>
          </p:cNvPr>
          <p:cNvSpPr>
            <a:spLocks noEditPoints="1"/>
          </p:cNvSpPr>
          <p:nvPr/>
        </p:nvSpPr>
        <p:spPr bwMode="auto">
          <a:xfrm>
            <a:off x="2778125" y="2424113"/>
            <a:ext cx="274638" cy="273050"/>
          </a:xfrm>
          <a:custGeom>
            <a:avLst/>
            <a:gdLst>
              <a:gd name="T0" fmla="*/ 173 w 173"/>
              <a:gd name="T1" fmla="*/ 78 h 172"/>
              <a:gd name="T2" fmla="*/ 169 w 173"/>
              <a:gd name="T3" fmla="*/ 60 h 172"/>
              <a:gd name="T4" fmla="*/ 158 w 173"/>
              <a:gd name="T5" fmla="*/ 38 h 172"/>
              <a:gd name="T6" fmla="*/ 134 w 173"/>
              <a:gd name="T7" fmla="*/ 15 h 172"/>
              <a:gd name="T8" fmla="*/ 111 w 173"/>
              <a:gd name="T9" fmla="*/ 3 h 172"/>
              <a:gd name="T10" fmla="*/ 95 w 173"/>
              <a:gd name="T11" fmla="*/ 0 h 172"/>
              <a:gd name="T12" fmla="*/ 78 w 173"/>
              <a:gd name="T13" fmla="*/ 0 h 172"/>
              <a:gd name="T14" fmla="*/ 60 w 173"/>
              <a:gd name="T15" fmla="*/ 3 h 172"/>
              <a:gd name="T16" fmla="*/ 38 w 173"/>
              <a:gd name="T17" fmla="*/ 15 h 172"/>
              <a:gd name="T18" fmla="*/ 15 w 173"/>
              <a:gd name="T19" fmla="*/ 38 h 172"/>
              <a:gd name="T20" fmla="*/ 4 w 173"/>
              <a:gd name="T21" fmla="*/ 60 h 172"/>
              <a:gd name="T22" fmla="*/ 0 w 173"/>
              <a:gd name="T23" fmla="*/ 78 h 172"/>
              <a:gd name="T24" fmla="*/ 0 w 173"/>
              <a:gd name="T25" fmla="*/ 94 h 172"/>
              <a:gd name="T26" fmla="*/ 4 w 173"/>
              <a:gd name="T27" fmla="*/ 111 h 172"/>
              <a:gd name="T28" fmla="*/ 15 w 173"/>
              <a:gd name="T29" fmla="*/ 134 h 172"/>
              <a:gd name="T30" fmla="*/ 38 w 173"/>
              <a:gd name="T31" fmla="*/ 157 h 172"/>
              <a:gd name="T32" fmla="*/ 60 w 173"/>
              <a:gd name="T33" fmla="*/ 169 h 172"/>
              <a:gd name="T34" fmla="*/ 78 w 173"/>
              <a:gd name="T35" fmla="*/ 172 h 172"/>
              <a:gd name="T36" fmla="*/ 95 w 173"/>
              <a:gd name="T37" fmla="*/ 172 h 172"/>
              <a:gd name="T38" fmla="*/ 111 w 173"/>
              <a:gd name="T39" fmla="*/ 169 h 172"/>
              <a:gd name="T40" fmla="*/ 134 w 173"/>
              <a:gd name="T41" fmla="*/ 157 h 172"/>
              <a:gd name="T42" fmla="*/ 158 w 173"/>
              <a:gd name="T43" fmla="*/ 134 h 172"/>
              <a:gd name="T44" fmla="*/ 169 w 173"/>
              <a:gd name="T45" fmla="*/ 111 h 172"/>
              <a:gd name="T46" fmla="*/ 173 w 173"/>
              <a:gd name="T47" fmla="*/ 94 h 172"/>
              <a:gd name="T48" fmla="*/ 168 w 173"/>
              <a:gd name="T49" fmla="*/ 86 h 172"/>
              <a:gd name="T50" fmla="*/ 161 w 173"/>
              <a:gd name="T51" fmla="*/ 118 h 172"/>
              <a:gd name="T52" fmla="*/ 144 w 173"/>
              <a:gd name="T53" fmla="*/ 144 h 172"/>
              <a:gd name="T54" fmla="*/ 118 w 173"/>
              <a:gd name="T55" fmla="*/ 161 h 172"/>
              <a:gd name="T56" fmla="*/ 86 w 173"/>
              <a:gd name="T57" fmla="*/ 167 h 172"/>
              <a:gd name="T58" fmla="*/ 55 w 173"/>
              <a:gd name="T59" fmla="*/ 161 h 172"/>
              <a:gd name="T60" fmla="*/ 28 w 173"/>
              <a:gd name="T61" fmla="*/ 144 h 172"/>
              <a:gd name="T62" fmla="*/ 12 w 173"/>
              <a:gd name="T63" fmla="*/ 118 h 172"/>
              <a:gd name="T64" fmla="*/ 5 w 173"/>
              <a:gd name="T65" fmla="*/ 86 h 172"/>
              <a:gd name="T66" fmla="*/ 12 w 173"/>
              <a:gd name="T67" fmla="*/ 55 h 172"/>
              <a:gd name="T68" fmla="*/ 28 w 173"/>
              <a:gd name="T69" fmla="*/ 28 h 172"/>
              <a:gd name="T70" fmla="*/ 55 w 173"/>
              <a:gd name="T71" fmla="*/ 12 h 172"/>
              <a:gd name="T72" fmla="*/ 86 w 173"/>
              <a:gd name="T73" fmla="*/ 5 h 172"/>
              <a:gd name="T74" fmla="*/ 118 w 173"/>
              <a:gd name="T75" fmla="*/ 12 h 172"/>
              <a:gd name="T76" fmla="*/ 144 w 173"/>
              <a:gd name="T77" fmla="*/ 28 h 172"/>
              <a:gd name="T78" fmla="*/ 161 w 173"/>
              <a:gd name="T79" fmla="*/ 55 h 172"/>
              <a:gd name="T80" fmla="*/ 168 w 173"/>
              <a:gd name="T81" fmla="*/ 86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73" h="172">
                <a:moveTo>
                  <a:pt x="173" y="86"/>
                </a:moveTo>
                <a:lnTo>
                  <a:pt x="173" y="78"/>
                </a:lnTo>
                <a:lnTo>
                  <a:pt x="171" y="68"/>
                </a:lnTo>
                <a:lnTo>
                  <a:pt x="169" y="60"/>
                </a:lnTo>
                <a:lnTo>
                  <a:pt x="166" y="53"/>
                </a:lnTo>
                <a:lnTo>
                  <a:pt x="158" y="38"/>
                </a:lnTo>
                <a:lnTo>
                  <a:pt x="148" y="25"/>
                </a:lnTo>
                <a:lnTo>
                  <a:pt x="134" y="15"/>
                </a:lnTo>
                <a:lnTo>
                  <a:pt x="120" y="7"/>
                </a:lnTo>
                <a:lnTo>
                  <a:pt x="111" y="3"/>
                </a:lnTo>
                <a:lnTo>
                  <a:pt x="103" y="2"/>
                </a:lnTo>
                <a:lnTo>
                  <a:pt x="95" y="0"/>
                </a:lnTo>
                <a:lnTo>
                  <a:pt x="86" y="0"/>
                </a:lnTo>
                <a:lnTo>
                  <a:pt x="78" y="0"/>
                </a:lnTo>
                <a:lnTo>
                  <a:pt x="68" y="2"/>
                </a:lnTo>
                <a:lnTo>
                  <a:pt x="60" y="3"/>
                </a:lnTo>
                <a:lnTo>
                  <a:pt x="53" y="7"/>
                </a:lnTo>
                <a:lnTo>
                  <a:pt x="38" y="15"/>
                </a:lnTo>
                <a:lnTo>
                  <a:pt x="25" y="25"/>
                </a:lnTo>
                <a:lnTo>
                  <a:pt x="15" y="38"/>
                </a:lnTo>
                <a:lnTo>
                  <a:pt x="7" y="53"/>
                </a:lnTo>
                <a:lnTo>
                  <a:pt x="4" y="60"/>
                </a:lnTo>
                <a:lnTo>
                  <a:pt x="2" y="68"/>
                </a:lnTo>
                <a:lnTo>
                  <a:pt x="0" y="78"/>
                </a:lnTo>
                <a:lnTo>
                  <a:pt x="0" y="86"/>
                </a:lnTo>
                <a:lnTo>
                  <a:pt x="0" y="94"/>
                </a:lnTo>
                <a:lnTo>
                  <a:pt x="2" y="103"/>
                </a:lnTo>
                <a:lnTo>
                  <a:pt x="4" y="111"/>
                </a:lnTo>
                <a:lnTo>
                  <a:pt x="7" y="119"/>
                </a:lnTo>
                <a:lnTo>
                  <a:pt x="15" y="134"/>
                </a:lnTo>
                <a:lnTo>
                  <a:pt x="25" y="147"/>
                </a:lnTo>
                <a:lnTo>
                  <a:pt x="38" y="157"/>
                </a:lnTo>
                <a:lnTo>
                  <a:pt x="53" y="166"/>
                </a:lnTo>
                <a:lnTo>
                  <a:pt x="60" y="169"/>
                </a:lnTo>
                <a:lnTo>
                  <a:pt x="68" y="171"/>
                </a:lnTo>
                <a:lnTo>
                  <a:pt x="78" y="172"/>
                </a:lnTo>
                <a:lnTo>
                  <a:pt x="86" y="172"/>
                </a:lnTo>
                <a:lnTo>
                  <a:pt x="95" y="172"/>
                </a:lnTo>
                <a:lnTo>
                  <a:pt x="103" y="171"/>
                </a:lnTo>
                <a:lnTo>
                  <a:pt x="111" y="169"/>
                </a:lnTo>
                <a:lnTo>
                  <a:pt x="120" y="166"/>
                </a:lnTo>
                <a:lnTo>
                  <a:pt x="134" y="157"/>
                </a:lnTo>
                <a:lnTo>
                  <a:pt x="148" y="147"/>
                </a:lnTo>
                <a:lnTo>
                  <a:pt x="158" y="134"/>
                </a:lnTo>
                <a:lnTo>
                  <a:pt x="166" y="119"/>
                </a:lnTo>
                <a:lnTo>
                  <a:pt x="169" y="111"/>
                </a:lnTo>
                <a:lnTo>
                  <a:pt x="171" y="103"/>
                </a:lnTo>
                <a:lnTo>
                  <a:pt x="173" y="94"/>
                </a:lnTo>
                <a:lnTo>
                  <a:pt x="173" y="86"/>
                </a:lnTo>
                <a:close/>
                <a:moveTo>
                  <a:pt x="168" y="86"/>
                </a:moveTo>
                <a:lnTo>
                  <a:pt x="166" y="103"/>
                </a:lnTo>
                <a:lnTo>
                  <a:pt x="161" y="118"/>
                </a:lnTo>
                <a:lnTo>
                  <a:pt x="154" y="131"/>
                </a:lnTo>
                <a:lnTo>
                  <a:pt x="144" y="144"/>
                </a:lnTo>
                <a:lnTo>
                  <a:pt x="131" y="154"/>
                </a:lnTo>
                <a:lnTo>
                  <a:pt x="118" y="161"/>
                </a:lnTo>
                <a:lnTo>
                  <a:pt x="103" y="166"/>
                </a:lnTo>
                <a:lnTo>
                  <a:pt x="86" y="167"/>
                </a:lnTo>
                <a:lnTo>
                  <a:pt x="70" y="166"/>
                </a:lnTo>
                <a:lnTo>
                  <a:pt x="55" y="161"/>
                </a:lnTo>
                <a:lnTo>
                  <a:pt x="40" y="154"/>
                </a:lnTo>
                <a:lnTo>
                  <a:pt x="28" y="144"/>
                </a:lnTo>
                <a:lnTo>
                  <a:pt x="19" y="131"/>
                </a:lnTo>
                <a:lnTo>
                  <a:pt x="12" y="118"/>
                </a:lnTo>
                <a:lnTo>
                  <a:pt x="7" y="103"/>
                </a:lnTo>
                <a:lnTo>
                  <a:pt x="5" y="86"/>
                </a:lnTo>
                <a:lnTo>
                  <a:pt x="7" y="70"/>
                </a:lnTo>
                <a:lnTo>
                  <a:pt x="12" y="55"/>
                </a:lnTo>
                <a:lnTo>
                  <a:pt x="19" y="40"/>
                </a:lnTo>
                <a:lnTo>
                  <a:pt x="28" y="28"/>
                </a:lnTo>
                <a:lnTo>
                  <a:pt x="40" y="18"/>
                </a:lnTo>
                <a:lnTo>
                  <a:pt x="55" y="12"/>
                </a:lnTo>
                <a:lnTo>
                  <a:pt x="70" y="7"/>
                </a:lnTo>
                <a:lnTo>
                  <a:pt x="86" y="5"/>
                </a:lnTo>
                <a:lnTo>
                  <a:pt x="103" y="7"/>
                </a:lnTo>
                <a:lnTo>
                  <a:pt x="118" y="12"/>
                </a:lnTo>
                <a:lnTo>
                  <a:pt x="131" y="18"/>
                </a:lnTo>
                <a:lnTo>
                  <a:pt x="144" y="28"/>
                </a:lnTo>
                <a:lnTo>
                  <a:pt x="154" y="40"/>
                </a:lnTo>
                <a:lnTo>
                  <a:pt x="161" y="55"/>
                </a:lnTo>
                <a:lnTo>
                  <a:pt x="166" y="70"/>
                </a:lnTo>
                <a:lnTo>
                  <a:pt x="168" y="86"/>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83" name="Freeform 1588">
            <a:extLst>
              <a:ext uri="{FF2B5EF4-FFF2-40B4-BE49-F238E27FC236}">
                <a16:creationId xmlns:a16="http://schemas.microsoft.com/office/drawing/2014/main" id="{986FC7A1-E62F-BB33-0D77-BA53D4DF2B9C}"/>
              </a:ext>
            </a:extLst>
          </p:cNvPr>
          <p:cNvSpPr>
            <a:spLocks noEditPoints="1"/>
          </p:cNvSpPr>
          <p:nvPr/>
        </p:nvSpPr>
        <p:spPr bwMode="auto">
          <a:xfrm>
            <a:off x="2781300" y="2427288"/>
            <a:ext cx="265113" cy="268288"/>
          </a:xfrm>
          <a:custGeom>
            <a:avLst/>
            <a:gdLst>
              <a:gd name="T0" fmla="*/ 167 w 167"/>
              <a:gd name="T1" fmla="*/ 76 h 169"/>
              <a:gd name="T2" fmla="*/ 164 w 167"/>
              <a:gd name="T3" fmla="*/ 59 h 169"/>
              <a:gd name="T4" fmla="*/ 154 w 167"/>
              <a:gd name="T5" fmla="*/ 38 h 169"/>
              <a:gd name="T6" fmla="*/ 131 w 167"/>
              <a:gd name="T7" fmla="*/ 15 h 169"/>
              <a:gd name="T8" fmla="*/ 109 w 167"/>
              <a:gd name="T9" fmla="*/ 5 h 169"/>
              <a:gd name="T10" fmla="*/ 93 w 167"/>
              <a:gd name="T11" fmla="*/ 1 h 169"/>
              <a:gd name="T12" fmla="*/ 76 w 167"/>
              <a:gd name="T13" fmla="*/ 1 h 169"/>
              <a:gd name="T14" fmla="*/ 60 w 167"/>
              <a:gd name="T15" fmla="*/ 5 h 169"/>
              <a:gd name="T16" fmla="*/ 38 w 167"/>
              <a:gd name="T17" fmla="*/ 15 h 169"/>
              <a:gd name="T18" fmla="*/ 15 w 167"/>
              <a:gd name="T19" fmla="*/ 38 h 169"/>
              <a:gd name="T20" fmla="*/ 5 w 167"/>
              <a:gd name="T21" fmla="*/ 59 h 169"/>
              <a:gd name="T22" fmla="*/ 0 w 167"/>
              <a:gd name="T23" fmla="*/ 76 h 169"/>
              <a:gd name="T24" fmla="*/ 0 w 167"/>
              <a:gd name="T25" fmla="*/ 92 h 169"/>
              <a:gd name="T26" fmla="*/ 5 w 167"/>
              <a:gd name="T27" fmla="*/ 109 h 169"/>
              <a:gd name="T28" fmla="*/ 15 w 167"/>
              <a:gd name="T29" fmla="*/ 131 h 169"/>
              <a:gd name="T30" fmla="*/ 38 w 167"/>
              <a:gd name="T31" fmla="*/ 154 h 169"/>
              <a:gd name="T32" fmla="*/ 60 w 167"/>
              <a:gd name="T33" fmla="*/ 164 h 169"/>
              <a:gd name="T34" fmla="*/ 76 w 167"/>
              <a:gd name="T35" fmla="*/ 167 h 169"/>
              <a:gd name="T36" fmla="*/ 93 w 167"/>
              <a:gd name="T37" fmla="*/ 167 h 169"/>
              <a:gd name="T38" fmla="*/ 109 w 167"/>
              <a:gd name="T39" fmla="*/ 164 h 169"/>
              <a:gd name="T40" fmla="*/ 131 w 167"/>
              <a:gd name="T41" fmla="*/ 154 h 169"/>
              <a:gd name="T42" fmla="*/ 154 w 167"/>
              <a:gd name="T43" fmla="*/ 131 h 169"/>
              <a:gd name="T44" fmla="*/ 164 w 167"/>
              <a:gd name="T45" fmla="*/ 109 h 169"/>
              <a:gd name="T46" fmla="*/ 167 w 167"/>
              <a:gd name="T47" fmla="*/ 92 h 169"/>
              <a:gd name="T48" fmla="*/ 164 w 167"/>
              <a:gd name="T49" fmla="*/ 84 h 169"/>
              <a:gd name="T50" fmla="*/ 157 w 167"/>
              <a:gd name="T51" fmla="*/ 114 h 169"/>
              <a:gd name="T52" fmla="*/ 141 w 167"/>
              <a:gd name="T53" fmla="*/ 140 h 169"/>
              <a:gd name="T54" fmla="*/ 114 w 167"/>
              <a:gd name="T55" fmla="*/ 157 h 169"/>
              <a:gd name="T56" fmla="*/ 84 w 167"/>
              <a:gd name="T57" fmla="*/ 164 h 169"/>
              <a:gd name="T58" fmla="*/ 53 w 167"/>
              <a:gd name="T59" fmla="*/ 157 h 169"/>
              <a:gd name="T60" fmla="*/ 28 w 167"/>
              <a:gd name="T61" fmla="*/ 140 h 169"/>
              <a:gd name="T62" fmla="*/ 12 w 167"/>
              <a:gd name="T63" fmla="*/ 114 h 169"/>
              <a:gd name="T64" fmla="*/ 5 w 167"/>
              <a:gd name="T65" fmla="*/ 84 h 169"/>
              <a:gd name="T66" fmla="*/ 12 w 167"/>
              <a:gd name="T67" fmla="*/ 53 h 169"/>
              <a:gd name="T68" fmla="*/ 28 w 167"/>
              <a:gd name="T69" fmla="*/ 28 h 169"/>
              <a:gd name="T70" fmla="*/ 53 w 167"/>
              <a:gd name="T71" fmla="*/ 11 h 169"/>
              <a:gd name="T72" fmla="*/ 84 w 167"/>
              <a:gd name="T73" fmla="*/ 5 h 169"/>
              <a:gd name="T74" fmla="*/ 114 w 167"/>
              <a:gd name="T75" fmla="*/ 11 h 169"/>
              <a:gd name="T76" fmla="*/ 141 w 167"/>
              <a:gd name="T77" fmla="*/ 28 h 169"/>
              <a:gd name="T78" fmla="*/ 157 w 167"/>
              <a:gd name="T79" fmla="*/ 53 h 169"/>
              <a:gd name="T80" fmla="*/ 164 w 167"/>
              <a:gd name="T81" fmla="*/ 84 h 1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67" h="169">
                <a:moveTo>
                  <a:pt x="167" y="84"/>
                </a:moveTo>
                <a:lnTo>
                  <a:pt x="167" y="76"/>
                </a:lnTo>
                <a:lnTo>
                  <a:pt x="166" y="68"/>
                </a:lnTo>
                <a:lnTo>
                  <a:pt x="164" y="59"/>
                </a:lnTo>
                <a:lnTo>
                  <a:pt x="161" y="51"/>
                </a:lnTo>
                <a:lnTo>
                  <a:pt x="154" y="38"/>
                </a:lnTo>
                <a:lnTo>
                  <a:pt x="144" y="25"/>
                </a:lnTo>
                <a:lnTo>
                  <a:pt x="131" y="15"/>
                </a:lnTo>
                <a:lnTo>
                  <a:pt x="118" y="6"/>
                </a:lnTo>
                <a:lnTo>
                  <a:pt x="109" y="5"/>
                </a:lnTo>
                <a:lnTo>
                  <a:pt x="101" y="1"/>
                </a:lnTo>
                <a:lnTo>
                  <a:pt x="93" y="1"/>
                </a:lnTo>
                <a:lnTo>
                  <a:pt x="84" y="0"/>
                </a:lnTo>
                <a:lnTo>
                  <a:pt x="76" y="1"/>
                </a:lnTo>
                <a:lnTo>
                  <a:pt x="68" y="1"/>
                </a:lnTo>
                <a:lnTo>
                  <a:pt x="60" y="5"/>
                </a:lnTo>
                <a:lnTo>
                  <a:pt x="51" y="6"/>
                </a:lnTo>
                <a:lnTo>
                  <a:pt x="38" y="15"/>
                </a:lnTo>
                <a:lnTo>
                  <a:pt x="25" y="25"/>
                </a:lnTo>
                <a:lnTo>
                  <a:pt x="15" y="38"/>
                </a:lnTo>
                <a:lnTo>
                  <a:pt x="7" y="51"/>
                </a:lnTo>
                <a:lnTo>
                  <a:pt x="5" y="59"/>
                </a:lnTo>
                <a:lnTo>
                  <a:pt x="2" y="68"/>
                </a:lnTo>
                <a:lnTo>
                  <a:pt x="0" y="76"/>
                </a:lnTo>
                <a:lnTo>
                  <a:pt x="0" y="84"/>
                </a:lnTo>
                <a:lnTo>
                  <a:pt x="0" y="92"/>
                </a:lnTo>
                <a:lnTo>
                  <a:pt x="2" y="101"/>
                </a:lnTo>
                <a:lnTo>
                  <a:pt x="5" y="109"/>
                </a:lnTo>
                <a:lnTo>
                  <a:pt x="7" y="117"/>
                </a:lnTo>
                <a:lnTo>
                  <a:pt x="15" y="131"/>
                </a:lnTo>
                <a:lnTo>
                  <a:pt x="25" y="144"/>
                </a:lnTo>
                <a:lnTo>
                  <a:pt x="38" y="154"/>
                </a:lnTo>
                <a:lnTo>
                  <a:pt x="51" y="162"/>
                </a:lnTo>
                <a:lnTo>
                  <a:pt x="60" y="164"/>
                </a:lnTo>
                <a:lnTo>
                  <a:pt x="68" y="165"/>
                </a:lnTo>
                <a:lnTo>
                  <a:pt x="76" y="167"/>
                </a:lnTo>
                <a:lnTo>
                  <a:pt x="84" y="169"/>
                </a:lnTo>
                <a:lnTo>
                  <a:pt x="93" y="167"/>
                </a:lnTo>
                <a:lnTo>
                  <a:pt x="101" y="165"/>
                </a:lnTo>
                <a:lnTo>
                  <a:pt x="109" y="164"/>
                </a:lnTo>
                <a:lnTo>
                  <a:pt x="118" y="162"/>
                </a:lnTo>
                <a:lnTo>
                  <a:pt x="131" y="154"/>
                </a:lnTo>
                <a:lnTo>
                  <a:pt x="144" y="144"/>
                </a:lnTo>
                <a:lnTo>
                  <a:pt x="154" y="131"/>
                </a:lnTo>
                <a:lnTo>
                  <a:pt x="161" y="117"/>
                </a:lnTo>
                <a:lnTo>
                  <a:pt x="164" y="109"/>
                </a:lnTo>
                <a:lnTo>
                  <a:pt x="166" y="101"/>
                </a:lnTo>
                <a:lnTo>
                  <a:pt x="167" y="92"/>
                </a:lnTo>
                <a:lnTo>
                  <a:pt x="167" y="84"/>
                </a:lnTo>
                <a:close/>
                <a:moveTo>
                  <a:pt x="164" y="84"/>
                </a:moveTo>
                <a:lnTo>
                  <a:pt x="162" y="101"/>
                </a:lnTo>
                <a:lnTo>
                  <a:pt x="157" y="114"/>
                </a:lnTo>
                <a:lnTo>
                  <a:pt x="149" y="129"/>
                </a:lnTo>
                <a:lnTo>
                  <a:pt x="141" y="140"/>
                </a:lnTo>
                <a:lnTo>
                  <a:pt x="129" y="149"/>
                </a:lnTo>
                <a:lnTo>
                  <a:pt x="114" y="157"/>
                </a:lnTo>
                <a:lnTo>
                  <a:pt x="99" y="162"/>
                </a:lnTo>
                <a:lnTo>
                  <a:pt x="84" y="164"/>
                </a:lnTo>
                <a:lnTo>
                  <a:pt x="68" y="162"/>
                </a:lnTo>
                <a:lnTo>
                  <a:pt x="53" y="157"/>
                </a:lnTo>
                <a:lnTo>
                  <a:pt x="40" y="149"/>
                </a:lnTo>
                <a:lnTo>
                  <a:pt x="28" y="140"/>
                </a:lnTo>
                <a:lnTo>
                  <a:pt x="18" y="129"/>
                </a:lnTo>
                <a:lnTo>
                  <a:pt x="12" y="114"/>
                </a:lnTo>
                <a:lnTo>
                  <a:pt x="7" y="101"/>
                </a:lnTo>
                <a:lnTo>
                  <a:pt x="5" y="84"/>
                </a:lnTo>
                <a:lnTo>
                  <a:pt x="7" y="68"/>
                </a:lnTo>
                <a:lnTo>
                  <a:pt x="12" y="53"/>
                </a:lnTo>
                <a:lnTo>
                  <a:pt x="18" y="39"/>
                </a:lnTo>
                <a:lnTo>
                  <a:pt x="28" y="28"/>
                </a:lnTo>
                <a:lnTo>
                  <a:pt x="40" y="18"/>
                </a:lnTo>
                <a:lnTo>
                  <a:pt x="53" y="11"/>
                </a:lnTo>
                <a:lnTo>
                  <a:pt x="68" y="6"/>
                </a:lnTo>
                <a:lnTo>
                  <a:pt x="84" y="5"/>
                </a:lnTo>
                <a:lnTo>
                  <a:pt x="99" y="6"/>
                </a:lnTo>
                <a:lnTo>
                  <a:pt x="114" y="11"/>
                </a:lnTo>
                <a:lnTo>
                  <a:pt x="129" y="18"/>
                </a:lnTo>
                <a:lnTo>
                  <a:pt x="141" y="28"/>
                </a:lnTo>
                <a:lnTo>
                  <a:pt x="149" y="39"/>
                </a:lnTo>
                <a:lnTo>
                  <a:pt x="157" y="53"/>
                </a:lnTo>
                <a:lnTo>
                  <a:pt x="162" y="68"/>
                </a:lnTo>
                <a:lnTo>
                  <a:pt x="164" y="84"/>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84" name="Freeform 1589">
            <a:extLst>
              <a:ext uri="{FF2B5EF4-FFF2-40B4-BE49-F238E27FC236}">
                <a16:creationId xmlns:a16="http://schemas.microsoft.com/office/drawing/2014/main" id="{2D8A59A0-CDF5-CF57-8F38-8B940C07712F}"/>
              </a:ext>
            </a:extLst>
          </p:cNvPr>
          <p:cNvSpPr>
            <a:spLocks noEditPoints="1"/>
          </p:cNvSpPr>
          <p:nvPr/>
        </p:nvSpPr>
        <p:spPr bwMode="auto">
          <a:xfrm>
            <a:off x="2786063" y="2432050"/>
            <a:ext cx="258763" cy="257175"/>
          </a:xfrm>
          <a:custGeom>
            <a:avLst/>
            <a:gdLst>
              <a:gd name="T0" fmla="*/ 161 w 163"/>
              <a:gd name="T1" fmla="*/ 65 h 162"/>
              <a:gd name="T2" fmla="*/ 149 w 163"/>
              <a:gd name="T3" fmla="*/ 35 h 162"/>
              <a:gd name="T4" fmla="*/ 126 w 163"/>
              <a:gd name="T5" fmla="*/ 13 h 162"/>
              <a:gd name="T6" fmla="*/ 98 w 163"/>
              <a:gd name="T7" fmla="*/ 2 h 162"/>
              <a:gd name="T8" fmla="*/ 65 w 163"/>
              <a:gd name="T9" fmla="*/ 2 h 162"/>
              <a:gd name="T10" fmla="*/ 35 w 163"/>
              <a:gd name="T11" fmla="*/ 13 h 162"/>
              <a:gd name="T12" fmla="*/ 14 w 163"/>
              <a:gd name="T13" fmla="*/ 35 h 162"/>
              <a:gd name="T14" fmla="*/ 2 w 163"/>
              <a:gd name="T15" fmla="*/ 65 h 162"/>
              <a:gd name="T16" fmla="*/ 2 w 163"/>
              <a:gd name="T17" fmla="*/ 98 h 162"/>
              <a:gd name="T18" fmla="*/ 14 w 163"/>
              <a:gd name="T19" fmla="*/ 126 h 162"/>
              <a:gd name="T20" fmla="*/ 35 w 163"/>
              <a:gd name="T21" fmla="*/ 149 h 162"/>
              <a:gd name="T22" fmla="*/ 65 w 163"/>
              <a:gd name="T23" fmla="*/ 161 h 162"/>
              <a:gd name="T24" fmla="*/ 98 w 163"/>
              <a:gd name="T25" fmla="*/ 161 h 162"/>
              <a:gd name="T26" fmla="*/ 126 w 163"/>
              <a:gd name="T27" fmla="*/ 149 h 162"/>
              <a:gd name="T28" fmla="*/ 149 w 163"/>
              <a:gd name="T29" fmla="*/ 126 h 162"/>
              <a:gd name="T30" fmla="*/ 161 w 163"/>
              <a:gd name="T31" fmla="*/ 98 h 162"/>
              <a:gd name="T32" fmla="*/ 158 w 163"/>
              <a:gd name="T33" fmla="*/ 81 h 162"/>
              <a:gd name="T34" fmla="*/ 151 w 163"/>
              <a:gd name="T35" fmla="*/ 111 h 162"/>
              <a:gd name="T36" fmla="*/ 136 w 163"/>
              <a:gd name="T37" fmla="*/ 136 h 162"/>
              <a:gd name="T38" fmla="*/ 111 w 163"/>
              <a:gd name="T39" fmla="*/ 152 h 162"/>
              <a:gd name="T40" fmla="*/ 81 w 163"/>
              <a:gd name="T41" fmla="*/ 157 h 162"/>
              <a:gd name="T42" fmla="*/ 52 w 163"/>
              <a:gd name="T43" fmla="*/ 152 h 162"/>
              <a:gd name="T44" fmla="*/ 27 w 163"/>
              <a:gd name="T45" fmla="*/ 136 h 162"/>
              <a:gd name="T46" fmla="*/ 10 w 163"/>
              <a:gd name="T47" fmla="*/ 111 h 162"/>
              <a:gd name="T48" fmla="*/ 5 w 163"/>
              <a:gd name="T49" fmla="*/ 81 h 162"/>
              <a:gd name="T50" fmla="*/ 10 w 163"/>
              <a:gd name="T51" fmla="*/ 51 h 162"/>
              <a:gd name="T52" fmla="*/ 27 w 163"/>
              <a:gd name="T53" fmla="*/ 27 h 162"/>
              <a:gd name="T54" fmla="*/ 52 w 163"/>
              <a:gd name="T55" fmla="*/ 10 h 162"/>
              <a:gd name="T56" fmla="*/ 81 w 163"/>
              <a:gd name="T57" fmla="*/ 5 h 162"/>
              <a:gd name="T58" fmla="*/ 111 w 163"/>
              <a:gd name="T59" fmla="*/ 10 h 162"/>
              <a:gd name="T60" fmla="*/ 136 w 163"/>
              <a:gd name="T61" fmla="*/ 27 h 162"/>
              <a:gd name="T62" fmla="*/ 151 w 163"/>
              <a:gd name="T63" fmla="*/ 51 h 162"/>
              <a:gd name="T64" fmla="*/ 158 w 163"/>
              <a:gd name="T65" fmla="*/ 81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63" h="162">
                <a:moveTo>
                  <a:pt x="163" y="81"/>
                </a:moveTo>
                <a:lnTo>
                  <a:pt x="161" y="65"/>
                </a:lnTo>
                <a:lnTo>
                  <a:pt x="156" y="50"/>
                </a:lnTo>
                <a:lnTo>
                  <a:pt x="149" y="35"/>
                </a:lnTo>
                <a:lnTo>
                  <a:pt x="139" y="23"/>
                </a:lnTo>
                <a:lnTo>
                  <a:pt x="126" y="13"/>
                </a:lnTo>
                <a:lnTo>
                  <a:pt x="113" y="7"/>
                </a:lnTo>
                <a:lnTo>
                  <a:pt x="98" y="2"/>
                </a:lnTo>
                <a:lnTo>
                  <a:pt x="81" y="0"/>
                </a:lnTo>
                <a:lnTo>
                  <a:pt x="65" y="2"/>
                </a:lnTo>
                <a:lnTo>
                  <a:pt x="50" y="7"/>
                </a:lnTo>
                <a:lnTo>
                  <a:pt x="35" y="13"/>
                </a:lnTo>
                <a:lnTo>
                  <a:pt x="23" y="23"/>
                </a:lnTo>
                <a:lnTo>
                  <a:pt x="14" y="35"/>
                </a:lnTo>
                <a:lnTo>
                  <a:pt x="7" y="50"/>
                </a:lnTo>
                <a:lnTo>
                  <a:pt x="2" y="65"/>
                </a:lnTo>
                <a:lnTo>
                  <a:pt x="0" y="81"/>
                </a:lnTo>
                <a:lnTo>
                  <a:pt x="2" y="98"/>
                </a:lnTo>
                <a:lnTo>
                  <a:pt x="7" y="113"/>
                </a:lnTo>
                <a:lnTo>
                  <a:pt x="14" y="126"/>
                </a:lnTo>
                <a:lnTo>
                  <a:pt x="23" y="139"/>
                </a:lnTo>
                <a:lnTo>
                  <a:pt x="35" y="149"/>
                </a:lnTo>
                <a:lnTo>
                  <a:pt x="50" y="156"/>
                </a:lnTo>
                <a:lnTo>
                  <a:pt x="65" y="161"/>
                </a:lnTo>
                <a:lnTo>
                  <a:pt x="81" y="162"/>
                </a:lnTo>
                <a:lnTo>
                  <a:pt x="98" y="161"/>
                </a:lnTo>
                <a:lnTo>
                  <a:pt x="113" y="156"/>
                </a:lnTo>
                <a:lnTo>
                  <a:pt x="126" y="149"/>
                </a:lnTo>
                <a:lnTo>
                  <a:pt x="139" y="139"/>
                </a:lnTo>
                <a:lnTo>
                  <a:pt x="149" y="126"/>
                </a:lnTo>
                <a:lnTo>
                  <a:pt x="156" y="113"/>
                </a:lnTo>
                <a:lnTo>
                  <a:pt x="161" y="98"/>
                </a:lnTo>
                <a:lnTo>
                  <a:pt x="163" y="81"/>
                </a:lnTo>
                <a:close/>
                <a:moveTo>
                  <a:pt x="158" y="81"/>
                </a:moveTo>
                <a:lnTo>
                  <a:pt x="156" y="96"/>
                </a:lnTo>
                <a:lnTo>
                  <a:pt x="151" y="111"/>
                </a:lnTo>
                <a:lnTo>
                  <a:pt x="144" y="124"/>
                </a:lnTo>
                <a:lnTo>
                  <a:pt x="136" y="136"/>
                </a:lnTo>
                <a:lnTo>
                  <a:pt x="124" y="144"/>
                </a:lnTo>
                <a:lnTo>
                  <a:pt x="111" y="152"/>
                </a:lnTo>
                <a:lnTo>
                  <a:pt x="96" y="156"/>
                </a:lnTo>
                <a:lnTo>
                  <a:pt x="81" y="157"/>
                </a:lnTo>
                <a:lnTo>
                  <a:pt x="67" y="156"/>
                </a:lnTo>
                <a:lnTo>
                  <a:pt x="52" y="152"/>
                </a:lnTo>
                <a:lnTo>
                  <a:pt x="38" y="144"/>
                </a:lnTo>
                <a:lnTo>
                  <a:pt x="27" y="136"/>
                </a:lnTo>
                <a:lnTo>
                  <a:pt x="17" y="124"/>
                </a:lnTo>
                <a:lnTo>
                  <a:pt x="10" y="111"/>
                </a:lnTo>
                <a:lnTo>
                  <a:pt x="7" y="96"/>
                </a:lnTo>
                <a:lnTo>
                  <a:pt x="5" y="81"/>
                </a:lnTo>
                <a:lnTo>
                  <a:pt x="7" y="66"/>
                </a:lnTo>
                <a:lnTo>
                  <a:pt x="10" y="51"/>
                </a:lnTo>
                <a:lnTo>
                  <a:pt x="17" y="38"/>
                </a:lnTo>
                <a:lnTo>
                  <a:pt x="27" y="27"/>
                </a:lnTo>
                <a:lnTo>
                  <a:pt x="38" y="18"/>
                </a:lnTo>
                <a:lnTo>
                  <a:pt x="52" y="10"/>
                </a:lnTo>
                <a:lnTo>
                  <a:pt x="67" y="7"/>
                </a:lnTo>
                <a:lnTo>
                  <a:pt x="81" y="5"/>
                </a:lnTo>
                <a:lnTo>
                  <a:pt x="96" y="7"/>
                </a:lnTo>
                <a:lnTo>
                  <a:pt x="111" y="10"/>
                </a:lnTo>
                <a:lnTo>
                  <a:pt x="124" y="18"/>
                </a:lnTo>
                <a:lnTo>
                  <a:pt x="136" y="27"/>
                </a:lnTo>
                <a:lnTo>
                  <a:pt x="144" y="38"/>
                </a:lnTo>
                <a:lnTo>
                  <a:pt x="151" y="51"/>
                </a:lnTo>
                <a:lnTo>
                  <a:pt x="156" y="66"/>
                </a:lnTo>
                <a:lnTo>
                  <a:pt x="158" y="81"/>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85" name="Freeform 1590">
            <a:extLst>
              <a:ext uri="{FF2B5EF4-FFF2-40B4-BE49-F238E27FC236}">
                <a16:creationId xmlns:a16="http://schemas.microsoft.com/office/drawing/2014/main" id="{AAB51DA1-47E5-2A7E-C67D-494FC82BF820}"/>
              </a:ext>
            </a:extLst>
          </p:cNvPr>
          <p:cNvSpPr>
            <a:spLocks noEditPoints="1"/>
          </p:cNvSpPr>
          <p:nvPr/>
        </p:nvSpPr>
        <p:spPr bwMode="auto">
          <a:xfrm>
            <a:off x="2789238" y="2435225"/>
            <a:ext cx="252413" cy="252413"/>
          </a:xfrm>
          <a:custGeom>
            <a:avLst/>
            <a:gdLst>
              <a:gd name="T0" fmla="*/ 157 w 159"/>
              <a:gd name="T1" fmla="*/ 63 h 159"/>
              <a:gd name="T2" fmla="*/ 144 w 159"/>
              <a:gd name="T3" fmla="*/ 34 h 159"/>
              <a:gd name="T4" fmla="*/ 124 w 159"/>
              <a:gd name="T5" fmla="*/ 13 h 159"/>
              <a:gd name="T6" fmla="*/ 94 w 159"/>
              <a:gd name="T7" fmla="*/ 1 h 159"/>
              <a:gd name="T8" fmla="*/ 63 w 159"/>
              <a:gd name="T9" fmla="*/ 1 h 159"/>
              <a:gd name="T10" fmla="*/ 35 w 159"/>
              <a:gd name="T11" fmla="*/ 13 h 159"/>
              <a:gd name="T12" fmla="*/ 13 w 159"/>
              <a:gd name="T13" fmla="*/ 34 h 159"/>
              <a:gd name="T14" fmla="*/ 2 w 159"/>
              <a:gd name="T15" fmla="*/ 63 h 159"/>
              <a:gd name="T16" fmla="*/ 2 w 159"/>
              <a:gd name="T17" fmla="*/ 96 h 159"/>
              <a:gd name="T18" fmla="*/ 13 w 159"/>
              <a:gd name="T19" fmla="*/ 124 h 159"/>
              <a:gd name="T20" fmla="*/ 35 w 159"/>
              <a:gd name="T21" fmla="*/ 144 h 159"/>
              <a:gd name="T22" fmla="*/ 63 w 159"/>
              <a:gd name="T23" fmla="*/ 157 h 159"/>
              <a:gd name="T24" fmla="*/ 94 w 159"/>
              <a:gd name="T25" fmla="*/ 157 h 159"/>
              <a:gd name="T26" fmla="*/ 124 w 159"/>
              <a:gd name="T27" fmla="*/ 144 h 159"/>
              <a:gd name="T28" fmla="*/ 144 w 159"/>
              <a:gd name="T29" fmla="*/ 124 h 159"/>
              <a:gd name="T30" fmla="*/ 157 w 159"/>
              <a:gd name="T31" fmla="*/ 96 h 159"/>
              <a:gd name="T32" fmla="*/ 154 w 159"/>
              <a:gd name="T33" fmla="*/ 79 h 159"/>
              <a:gd name="T34" fmla="*/ 147 w 159"/>
              <a:gd name="T35" fmla="*/ 107 h 159"/>
              <a:gd name="T36" fmla="*/ 132 w 159"/>
              <a:gd name="T37" fmla="*/ 132 h 159"/>
              <a:gd name="T38" fmla="*/ 108 w 159"/>
              <a:gd name="T39" fmla="*/ 147 h 159"/>
              <a:gd name="T40" fmla="*/ 79 w 159"/>
              <a:gd name="T41" fmla="*/ 154 h 159"/>
              <a:gd name="T42" fmla="*/ 50 w 159"/>
              <a:gd name="T43" fmla="*/ 147 h 159"/>
              <a:gd name="T44" fmla="*/ 26 w 159"/>
              <a:gd name="T45" fmla="*/ 132 h 159"/>
              <a:gd name="T46" fmla="*/ 12 w 159"/>
              <a:gd name="T47" fmla="*/ 107 h 159"/>
              <a:gd name="T48" fmla="*/ 5 w 159"/>
              <a:gd name="T49" fmla="*/ 79 h 159"/>
              <a:gd name="T50" fmla="*/ 12 w 159"/>
              <a:gd name="T51" fmla="*/ 49 h 159"/>
              <a:gd name="T52" fmla="*/ 26 w 159"/>
              <a:gd name="T53" fmla="*/ 26 h 159"/>
              <a:gd name="T54" fmla="*/ 50 w 159"/>
              <a:gd name="T55" fmla="*/ 11 h 159"/>
              <a:gd name="T56" fmla="*/ 79 w 159"/>
              <a:gd name="T57" fmla="*/ 5 h 159"/>
              <a:gd name="T58" fmla="*/ 108 w 159"/>
              <a:gd name="T59" fmla="*/ 11 h 159"/>
              <a:gd name="T60" fmla="*/ 132 w 159"/>
              <a:gd name="T61" fmla="*/ 26 h 159"/>
              <a:gd name="T62" fmla="*/ 147 w 159"/>
              <a:gd name="T63" fmla="*/ 49 h 159"/>
              <a:gd name="T64" fmla="*/ 154 w 159"/>
              <a:gd name="T65" fmla="*/ 7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9" h="159">
                <a:moveTo>
                  <a:pt x="159" y="79"/>
                </a:moveTo>
                <a:lnTo>
                  <a:pt x="157" y="63"/>
                </a:lnTo>
                <a:lnTo>
                  <a:pt x="152" y="48"/>
                </a:lnTo>
                <a:lnTo>
                  <a:pt x="144" y="34"/>
                </a:lnTo>
                <a:lnTo>
                  <a:pt x="136" y="23"/>
                </a:lnTo>
                <a:lnTo>
                  <a:pt x="124" y="13"/>
                </a:lnTo>
                <a:lnTo>
                  <a:pt x="109" y="6"/>
                </a:lnTo>
                <a:lnTo>
                  <a:pt x="94" y="1"/>
                </a:lnTo>
                <a:lnTo>
                  <a:pt x="79" y="0"/>
                </a:lnTo>
                <a:lnTo>
                  <a:pt x="63" y="1"/>
                </a:lnTo>
                <a:lnTo>
                  <a:pt x="48" y="6"/>
                </a:lnTo>
                <a:lnTo>
                  <a:pt x="35" y="13"/>
                </a:lnTo>
                <a:lnTo>
                  <a:pt x="23" y="23"/>
                </a:lnTo>
                <a:lnTo>
                  <a:pt x="13" y="34"/>
                </a:lnTo>
                <a:lnTo>
                  <a:pt x="7" y="48"/>
                </a:lnTo>
                <a:lnTo>
                  <a:pt x="2" y="63"/>
                </a:lnTo>
                <a:lnTo>
                  <a:pt x="0" y="79"/>
                </a:lnTo>
                <a:lnTo>
                  <a:pt x="2" y="96"/>
                </a:lnTo>
                <a:lnTo>
                  <a:pt x="7" y="109"/>
                </a:lnTo>
                <a:lnTo>
                  <a:pt x="13" y="124"/>
                </a:lnTo>
                <a:lnTo>
                  <a:pt x="23" y="135"/>
                </a:lnTo>
                <a:lnTo>
                  <a:pt x="35" y="144"/>
                </a:lnTo>
                <a:lnTo>
                  <a:pt x="48" y="152"/>
                </a:lnTo>
                <a:lnTo>
                  <a:pt x="63" y="157"/>
                </a:lnTo>
                <a:lnTo>
                  <a:pt x="79" y="159"/>
                </a:lnTo>
                <a:lnTo>
                  <a:pt x="94" y="157"/>
                </a:lnTo>
                <a:lnTo>
                  <a:pt x="109" y="152"/>
                </a:lnTo>
                <a:lnTo>
                  <a:pt x="124" y="144"/>
                </a:lnTo>
                <a:lnTo>
                  <a:pt x="136" y="135"/>
                </a:lnTo>
                <a:lnTo>
                  <a:pt x="144" y="124"/>
                </a:lnTo>
                <a:lnTo>
                  <a:pt x="152" y="109"/>
                </a:lnTo>
                <a:lnTo>
                  <a:pt x="157" y="96"/>
                </a:lnTo>
                <a:lnTo>
                  <a:pt x="159" y="79"/>
                </a:lnTo>
                <a:close/>
                <a:moveTo>
                  <a:pt x="154" y="79"/>
                </a:moveTo>
                <a:lnTo>
                  <a:pt x="152" y="94"/>
                </a:lnTo>
                <a:lnTo>
                  <a:pt x="147" y="107"/>
                </a:lnTo>
                <a:lnTo>
                  <a:pt x="141" y="121"/>
                </a:lnTo>
                <a:lnTo>
                  <a:pt x="132" y="132"/>
                </a:lnTo>
                <a:lnTo>
                  <a:pt x="121" y="140"/>
                </a:lnTo>
                <a:lnTo>
                  <a:pt x="108" y="147"/>
                </a:lnTo>
                <a:lnTo>
                  <a:pt x="94" y="152"/>
                </a:lnTo>
                <a:lnTo>
                  <a:pt x="79" y="154"/>
                </a:lnTo>
                <a:lnTo>
                  <a:pt x="65" y="152"/>
                </a:lnTo>
                <a:lnTo>
                  <a:pt x="50" y="147"/>
                </a:lnTo>
                <a:lnTo>
                  <a:pt x="38" y="140"/>
                </a:lnTo>
                <a:lnTo>
                  <a:pt x="26" y="132"/>
                </a:lnTo>
                <a:lnTo>
                  <a:pt x="18" y="121"/>
                </a:lnTo>
                <a:lnTo>
                  <a:pt x="12" y="107"/>
                </a:lnTo>
                <a:lnTo>
                  <a:pt x="7" y="94"/>
                </a:lnTo>
                <a:lnTo>
                  <a:pt x="5" y="79"/>
                </a:lnTo>
                <a:lnTo>
                  <a:pt x="7" y="64"/>
                </a:lnTo>
                <a:lnTo>
                  <a:pt x="12" y="49"/>
                </a:lnTo>
                <a:lnTo>
                  <a:pt x="18" y="38"/>
                </a:lnTo>
                <a:lnTo>
                  <a:pt x="26" y="26"/>
                </a:lnTo>
                <a:lnTo>
                  <a:pt x="38" y="18"/>
                </a:lnTo>
                <a:lnTo>
                  <a:pt x="50" y="11"/>
                </a:lnTo>
                <a:lnTo>
                  <a:pt x="65" y="6"/>
                </a:lnTo>
                <a:lnTo>
                  <a:pt x="79" y="5"/>
                </a:lnTo>
                <a:lnTo>
                  <a:pt x="94" y="6"/>
                </a:lnTo>
                <a:lnTo>
                  <a:pt x="108" y="11"/>
                </a:lnTo>
                <a:lnTo>
                  <a:pt x="121" y="18"/>
                </a:lnTo>
                <a:lnTo>
                  <a:pt x="132" y="26"/>
                </a:lnTo>
                <a:lnTo>
                  <a:pt x="141" y="38"/>
                </a:lnTo>
                <a:lnTo>
                  <a:pt x="147" y="49"/>
                </a:lnTo>
                <a:lnTo>
                  <a:pt x="152" y="64"/>
                </a:lnTo>
                <a:lnTo>
                  <a:pt x="154" y="79"/>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86" name="Freeform 1591">
            <a:extLst>
              <a:ext uri="{FF2B5EF4-FFF2-40B4-BE49-F238E27FC236}">
                <a16:creationId xmlns:a16="http://schemas.microsoft.com/office/drawing/2014/main" id="{B7F647AB-DB75-A88E-3EFE-434D594E3315}"/>
              </a:ext>
            </a:extLst>
          </p:cNvPr>
          <p:cNvSpPr>
            <a:spLocks noEditPoints="1"/>
          </p:cNvSpPr>
          <p:nvPr/>
        </p:nvSpPr>
        <p:spPr bwMode="auto">
          <a:xfrm>
            <a:off x="2794000" y="2439988"/>
            <a:ext cx="242888" cy="241300"/>
          </a:xfrm>
          <a:custGeom>
            <a:avLst/>
            <a:gdLst>
              <a:gd name="T0" fmla="*/ 151 w 153"/>
              <a:gd name="T1" fmla="*/ 61 h 152"/>
              <a:gd name="T2" fmla="*/ 139 w 153"/>
              <a:gd name="T3" fmla="*/ 33 h 152"/>
              <a:gd name="T4" fmla="*/ 119 w 153"/>
              <a:gd name="T5" fmla="*/ 13 h 152"/>
              <a:gd name="T6" fmla="*/ 91 w 153"/>
              <a:gd name="T7" fmla="*/ 2 h 152"/>
              <a:gd name="T8" fmla="*/ 62 w 153"/>
              <a:gd name="T9" fmla="*/ 2 h 152"/>
              <a:gd name="T10" fmla="*/ 33 w 153"/>
              <a:gd name="T11" fmla="*/ 13 h 152"/>
              <a:gd name="T12" fmla="*/ 12 w 153"/>
              <a:gd name="T13" fmla="*/ 33 h 152"/>
              <a:gd name="T14" fmla="*/ 2 w 153"/>
              <a:gd name="T15" fmla="*/ 61 h 152"/>
              <a:gd name="T16" fmla="*/ 2 w 153"/>
              <a:gd name="T17" fmla="*/ 91 h 152"/>
              <a:gd name="T18" fmla="*/ 12 w 153"/>
              <a:gd name="T19" fmla="*/ 119 h 152"/>
              <a:gd name="T20" fmla="*/ 33 w 153"/>
              <a:gd name="T21" fmla="*/ 139 h 152"/>
              <a:gd name="T22" fmla="*/ 62 w 153"/>
              <a:gd name="T23" fmla="*/ 151 h 152"/>
              <a:gd name="T24" fmla="*/ 91 w 153"/>
              <a:gd name="T25" fmla="*/ 151 h 152"/>
              <a:gd name="T26" fmla="*/ 119 w 153"/>
              <a:gd name="T27" fmla="*/ 139 h 152"/>
              <a:gd name="T28" fmla="*/ 139 w 153"/>
              <a:gd name="T29" fmla="*/ 119 h 152"/>
              <a:gd name="T30" fmla="*/ 151 w 153"/>
              <a:gd name="T31" fmla="*/ 91 h 152"/>
              <a:gd name="T32" fmla="*/ 148 w 153"/>
              <a:gd name="T33" fmla="*/ 76 h 152"/>
              <a:gd name="T34" fmla="*/ 143 w 153"/>
              <a:gd name="T35" fmla="*/ 104 h 152"/>
              <a:gd name="T36" fmla="*/ 128 w 153"/>
              <a:gd name="T37" fmla="*/ 128 h 152"/>
              <a:gd name="T38" fmla="*/ 105 w 153"/>
              <a:gd name="T39" fmla="*/ 142 h 152"/>
              <a:gd name="T40" fmla="*/ 76 w 153"/>
              <a:gd name="T41" fmla="*/ 147 h 152"/>
              <a:gd name="T42" fmla="*/ 48 w 153"/>
              <a:gd name="T43" fmla="*/ 142 h 152"/>
              <a:gd name="T44" fmla="*/ 25 w 153"/>
              <a:gd name="T45" fmla="*/ 128 h 152"/>
              <a:gd name="T46" fmla="*/ 10 w 153"/>
              <a:gd name="T47" fmla="*/ 104 h 152"/>
              <a:gd name="T48" fmla="*/ 4 w 153"/>
              <a:gd name="T49" fmla="*/ 76 h 152"/>
              <a:gd name="T50" fmla="*/ 10 w 153"/>
              <a:gd name="T51" fmla="*/ 48 h 152"/>
              <a:gd name="T52" fmla="*/ 25 w 153"/>
              <a:gd name="T53" fmla="*/ 25 h 152"/>
              <a:gd name="T54" fmla="*/ 48 w 153"/>
              <a:gd name="T55" fmla="*/ 10 h 152"/>
              <a:gd name="T56" fmla="*/ 76 w 153"/>
              <a:gd name="T57" fmla="*/ 5 h 152"/>
              <a:gd name="T58" fmla="*/ 105 w 153"/>
              <a:gd name="T59" fmla="*/ 10 h 152"/>
              <a:gd name="T60" fmla="*/ 128 w 153"/>
              <a:gd name="T61" fmla="*/ 25 h 152"/>
              <a:gd name="T62" fmla="*/ 143 w 153"/>
              <a:gd name="T63" fmla="*/ 48 h 152"/>
              <a:gd name="T64" fmla="*/ 148 w 153"/>
              <a:gd name="T65" fmla="*/ 7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3" h="152">
                <a:moveTo>
                  <a:pt x="153" y="76"/>
                </a:moveTo>
                <a:lnTo>
                  <a:pt x="151" y="61"/>
                </a:lnTo>
                <a:lnTo>
                  <a:pt x="146" y="46"/>
                </a:lnTo>
                <a:lnTo>
                  <a:pt x="139" y="33"/>
                </a:lnTo>
                <a:lnTo>
                  <a:pt x="131" y="22"/>
                </a:lnTo>
                <a:lnTo>
                  <a:pt x="119" y="13"/>
                </a:lnTo>
                <a:lnTo>
                  <a:pt x="106" y="5"/>
                </a:lnTo>
                <a:lnTo>
                  <a:pt x="91" y="2"/>
                </a:lnTo>
                <a:lnTo>
                  <a:pt x="76" y="0"/>
                </a:lnTo>
                <a:lnTo>
                  <a:pt x="62" y="2"/>
                </a:lnTo>
                <a:lnTo>
                  <a:pt x="47" y="5"/>
                </a:lnTo>
                <a:lnTo>
                  <a:pt x="33" y="13"/>
                </a:lnTo>
                <a:lnTo>
                  <a:pt x="22" y="22"/>
                </a:lnTo>
                <a:lnTo>
                  <a:pt x="12" y="33"/>
                </a:lnTo>
                <a:lnTo>
                  <a:pt x="5" y="46"/>
                </a:lnTo>
                <a:lnTo>
                  <a:pt x="2" y="61"/>
                </a:lnTo>
                <a:lnTo>
                  <a:pt x="0" y="76"/>
                </a:lnTo>
                <a:lnTo>
                  <a:pt x="2" y="91"/>
                </a:lnTo>
                <a:lnTo>
                  <a:pt x="5" y="106"/>
                </a:lnTo>
                <a:lnTo>
                  <a:pt x="12" y="119"/>
                </a:lnTo>
                <a:lnTo>
                  <a:pt x="22" y="131"/>
                </a:lnTo>
                <a:lnTo>
                  <a:pt x="33" y="139"/>
                </a:lnTo>
                <a:lnTo>
                  <a:pt x="47" y="147"/>
                </a:lnTo>
                <a:lnTo>
                  <a:pt x="62" y="151"/>
                </a:lnTo>
                <a:lnTo>
                  <a:pt x="76" y="152"/>
                </a:lnTo>
                <a:lnTo>
                  <a:pt x="91" y="151"/>
                </a:lnTo>
                <a:lnTo>
                  <a:pt x="106" y="147"/>
                </a:lnTo>
                <a:lnTo>
                  <a:pt x="119" y="139"/>
                </a:lnTo>
                <a:lnTo>
                  <a:pt x="131" y="131"/>
                </a:lnTo>
                <a:lnTo>
                  <a:pt x="139" y="119"/>
                </a:lnTo>
                <a:lnTo>
                  <a:pt x="146" y="106"/>
                </a:lnTo>
                <a:lnTo>
                  <a:pt x="151" y="91"/>
                </a:lnTo>
                <a:lnTo>
                  <a:pt x="153" y="76"/>
                </a:lnTo>
                <a:close/>
                <a:moveTo>
                  <a:pt x="148" y="76"/>
                </a:moveTo>
                <a:lnTo>
                  <a:pt x="146" y="91"/>
                </a:lnTo>
                <a:lnTo>
                  <a:pt x="143" y="104"/>
                </a:lnTo>
                <a:lnTo>
                  <a:pt x="136" y="116"/>
                </a:lnTo>
                <a:lnTo>
                  <a:pt x="128" y="128"/>
                </a:lnTo>
                <a:lnTo>
                  <a:pt x="116" y="136"/>
                </a:lnTo>
                <a:lnTo>
                  <a:pt x="105" y="142"/>
                </a:lnTo>
                <a:lnTo>
                  <a:pt x="91" y="146"/>
                </a:lnTo>
                <a:lnTo>
                  <a:pt x="76" y="147"/>
                </a:lnTo>
                <a:lnTo>
                  <a:pt x="62" y="146"/>
                </a:lnTo>
                <a:lnTo>
                  <a:pt x="48" y="142"/>
                </a:lnTo>
                <a:lnTo>
                  <a:pt x="37" y="136"/>
                </a:lnTo>
                <a:lnTo>
                  <a:pt x="25" y="128"/>
                </a:lnTo>
                <a:lnTo>
                  <a:pt x="17" y="116"/>
                </a:lnTo>
                <a:lnTo>
                  <a:pt x="10" y="104"/>
                </a:lnTo>
                <a:lnTo>
                  <a:pt x="5" y="91"/>
                </a:lnTo>
                <a:lnTo>
                  <a:pt x="4" y="76"/>
                </a:lnTo>
                <a:lnTo>
                  <a:pt x="5" y="61"/>
                </a:lnTo>
                <a:lnTo>
                  <a:pt x="10" y="48"/>
                </a:lnTo>
                <a:lnTo>
                  <a:pt x="17" y="36"/>
                </a:lnTo>
                <a:lnTo>
                  <a:pt x="25" y="25"/>
                </a:lnTo>
                <a:lnTo>
                  <a:pt x="37" y="17"/>
                </a:lnTo>
                <a:lnTo>
                  <a:pt x="48" y="10"/>
                </a:lnTo>
                <a:lnTo>
                  <a:pt x="62" y="5"/>
                </a:lnTo>
                <a:lnTo>
                  <a:pt x="76" y="5"/>
                </a:lnTo>
                <a:lnTo>
                  <a:pt x="91" y="5"/>
                </a:lnTo>
                <a:lnTo>
                  <a:pt x="105" y="10"/>
                </a:lnTo>
                <a:lnTo>
                  <a:pt x="116" y="17"/>
                </a:lnTo>
                <a:lnTo>
                  <a:pt x="128" y="25"/>
                </a:lnTo>
                <a:lnTo>
                  <a:pt x="136" y="36"/>
                </a:lnTo>
                <a:lnTo>
                  <a:pt x="143" y="48"/>
                </a:lnTo>
                <a:lnTo>
                  <a:pt x="146" y="61"/>
                </a:lnTo>
                <a:lnTo>
                  <a:pt x="148" y="76"/>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87" name="Freeform 1592">
            <a:extLst>
              <a:ext uri="{FF2B5EF4-FFF2-40B4-BE49-F238E27FC236}">
                <a16:creationId xmlns:a16="http://schemas.microsoft.com/office/drawing/2014/main" id="{065824E4-A120-C2CB-5013-AFE30E82B84D}"/>
              </a:ext>
            </a:extLst>
          </p:cNvPr>
          <p:cNvSpPr>
            <a:spLocks noEditPoints="1"/>
          </p:cNvSpPr>
          <p:nvPr/>
        </p:nvSpPr>
        <p:spPr bwMode="auto">
          <a:xfrm>
            <a:off x="2797175" y="2443163"/>
            <a:ext cx="236538" cy="236538"/>
          </a:xfrm>
          <a:custGeom>
            <a:avLst/>
            <a:gdLst>
              <a:gd name="T0" fmla="*/ 147 w 149"/>
              <a:gd name="T1" fmla="*/ 59 h 149"/>
              <a:gd name="T2" fmla="*/ 136 w 149"/>
              <a:gd name="T3" fmla="*/ 33 h 149"/>
              <a:gd name="T4" fmla="*/ 116 w 149"/>
              <a:gd name="T5" fmla="*/ 13 h 149"/>
              <a:gd name="T6" fmla="*/ 89 w 149"/>
              <a:gd name="T7" fmla="*/ 1 h 149"/>
              <a:gd name="T8" fmla="*/ 60 w 149"/>
              <a:gd name="T9" fmla="*/ 1 h 149"/>
              <a:gd name="T10" fmla="*/ 33 w 149"/>
              <a:gd name="T11" fmla="*/ 13 h 149"/>
              <a:gd name="T12" fmla="*/ 13 w 149"/>
              <a:gd name="T13" fmla="*/ 33 h 149"/>
              <a:gd name="T14" fmla="*/ 2 w 149"/>
              <a:gd name="T15" fmla="*/ 59 h 149"/>
              <a:gd name="T16" fmla="*/ 2 w 149"/>
              <a:gd name="T17" fmla="*/ 89 h 149"/>
              <a:gd name="T18" fmla="*/ 13 w 149"/>
              <a:gd name="T19" fmla="*/ 116 h 149"/>
              <a:gd name="T20" fmla="*/ 33 w 149"/>
              <a:gd name="T21" fmla="*/ 135 h 149"/>
              <a:gd name="T22" fmla="*/ 60 w 149"/>
              <a:gd name="T23" fmla="*/ 147 h 149"/>
              <a:gd name="T24" fmla="*/ 89 w 149"/>
              <a:gd name="T25" fmla="*/ 147 h 149"/>
              <a:gd name="T26" fmla="*/ 116 w 149"/>
              <a:gd name="T27" fmla="*/ 135 h 149"/>
              <a:gd name="T28" fmla="*/ 136 w 149"/>
              <a:gd name="T29" fmla="*/ 116 h 149"/>
              <a:gd name="T30" fmla="*/ 147 w 149"/>
              <a:gd name="T31" fmla="*/ 89 h 149"/>
              <a:gd name="T32" fmla="*/ 144 w 149"/>
              <a:gd name="T33" fmla="*/ 74 h 149"/>
              <a:gd name="T34" fmla="*/ 137 w 149"/>
              <a:gd name="T35" fmla="*/ 101 h 149"/>
              <a:gd name="T36" fmla="*/ 122 w 149"/>
              <a:gd name="T37" fmla="*/ 124 h 149"/>
              <a:gd name="T38" fmla="*/ 101 w 149"/>
              <a:gd name="T39" fmla="*/ 139 h 149"/>
              <a:gd name="T40" fmla="*/ 74 w 149"/>
              <a:gd name="T41" fmla="*/ 144 h 149"/>
              <a:gd name="T42" fmla="*/ 48 w 149"/>
              <a:gd name="T43" fmla="*/ 139 h 149"/>
              <a:gd name="T44" fmla="*/ 25 w 149"/>
              <a:gd name="T45" fmla="*/ 124 h 149"/>
              <a:gd name="T46" fmla="*/ 10 w 149"/>
              <a:gd name="T47" fmla="*/ 101 h 149"/>
              <a:gd name="T48" fmla="*/ 5 w 149"/>
              <a:gd name="T49" fmla="*/ 74 h 149"/>
              <a:gd name="T50" fmla="*/ 10 w 149"/>
              <a:gd name="T51" fmla="*/ 48 h 149"/>
              <a:gd name="T52" fmla="*/ 25 w 149"/>
              <a:gd name="T53" fmla="*/ 25 h 149"/>
              <a:gd name="T54" fmla="*/ 48 w 149"/>
              <a:gd name="T55" fmla="*/ 10 h 149"/>
              <a:gd name="T56" fmla="*/ 74 w 149"/>
              <a:gd name="T57" fmla="*/ 5 h 149"/>
              <a:gd name="T58" fmla="*/ 101 w 149"/>
              <a:gd name="T59" fmla="*/ 10 h 149"/>
              <a:gd name="T60" fmla="*/ 122 w 149"/>
              <a:gd name="T61" fmla="*/ 25 h 149"/>
              <a:gd name="T62" fmla="*/ 137 w 149"/>
              <a:gd name="T63" fmla="*/ 48 h 149"/>
              <a:gd name="T64" fmla="*/ 144 w 149"/>
              <a:gd name="T65"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49" h="149">
                <a:moveTo>
                  <a:pt x="149" y="74"/>
                </a:moveTo>
                <a:lnTo>
                  <a:pt x="147" y="59"/>
                </a:lnTo>
                <a:lnTo>
                  <a:pt x="142" y="44"/>
                </a:lnTo>
                <a:lnTo>
                  <a:pt x="136" y="33"/>
                </a:lnTo>
                <a:lnTo>
                  <a:pt x="127" y="21"/>
                </a:lnTo>
                <a:lnTo>
                  <a:pt x="116" y="13"/>
                </a:lnTo>
                <a:lnTo>
                  <a:pt x="103" y="6"/>
                </a:lnTo>
                <a:lnTo>
                  <a:pt x="89" y="1"/>
                </a:lnTo>
                <a:lnTo>
                  <a:pt x="74" y="0"/>
                </a:lnTo>
                <a:lnTo>
                  <a:pt x="60" y="1"/>
                </a:lnTo>
                <a:lnTo>
                  <a:pt x="45" y="6"/>
                </a:lnTo>
                <a:lnTo>
                  <a:pt x="33" y="13"/>
                </a:lnTo>
                <a:lnTo>
                  <a:pt x="21" y="21"/>
                </a:lnTo>
                <a:lnTo>
                  <a:pt x="13" y="33"/>
                </a:lnTo>
                <a:lnTo>
                  <a:pt x="7" y="44"/>
                </a:lnTo>
                <a:lnTo>
                  <a:pt x="2" y="59"/>
                </a:lnTo>
                <a:lnTo>
                  <a:pt x="0" y="74"/>
                </a:lnTo>
                <a:lnTo>
                  <a:pt x="2" y="89"/>
                </a:lnTo>
                <a:lnTo>
                  <a:pt x="7" y="102"/>
                </a:lnTo>
                <a:lnTo>
                  <a:pt x="13" y="116"/>
                </a:lnTo>
                <a:lnTo>
                  <a:pt x="21" y="127"/>
                </a:lnTo>
                <a:lnTo>
                  <a:pt x="33" y="135"/>
                </a:lnTo>
                <a:lnTo>
                  <a:pt x="45" y="142"/>
                </a:lnTo>
                <a:lnTo>
                  <a:pt x="60" y="147"/>
                </a:lnTo>
                <a:lnTo>
                  <a:pt x="74" y="149"/>
                </a:lnTo>
                <a:lnTo>
                  <a:pt x="89" y="147"/>
                </a:lnTo>
                <a:lnTo>
                  <a:pt x="103" y="142"/>
                </a:lnTo>
                <a:lnTo>
                  <a:pt x="116" y="135"/>
                </a:lnTo>
                <a:lnTo>
                  <a:pt x="127" y="127"/>
                </a:lnTo>
                <a:lnTo>
                  <a:pt x="136" y="116"/>
                </a:lnTo>
                <a:lnTo>
                  <a:pt x="142" y="102"/>
                </a:lnTo>
                <a:lnTo>
                  <a:pt x="147" y="89"/>
                </a:lnTo>
                <a:lnTo>
                  <a:pt x="149" y="74"/>
                </a:lnTo>
                <a:close/>
                <a:moveTo>
                  <a:pt x="144" y="74"/>
                </a:moveTo>
                <a:lnTo>
                  <a:pt x="142" y="87"/>
                </a:lnTo>
                <a:lnTo>
                  <a:pt x="137" y="101"/>
                </a:lnTo>
                <a:lnTo>
                  <a:pt x="132" y="112"/>
                </a:lnTo>
                <a:lnTo>
                  <a:pt x="122" y="124"/>
                </a:lnTo>
                <a:lnTo>
                  <a:pt x="112" y="132"/>
                </a:lnTo>
                <a:lnTo>
                  <a:pt x="101" y="139"/>
                </a:lnTo>
                <a:lnTo>
                  <a:pt x="88" y="142"/>
                </a:lnTo>
                <a:lnTo>
                  <a:pt x="74" y="144"/>
                </a:lnTo>
                <a:lnTo>
                  <a:pt x="60" y="142"/>
                </a:lnTo>
                <a:lnTo>
                  <a:pt x="48" y="139"/>
                </a:lnTo>
                <a:lnTo>
                  <a:pt x="35" y="132"/>
                </a:lnTo>
                <a:lnTo>
                  <a:pt x="25" y="124"/>
                </a:lnTo>
                <a:lnTo>
                  <a:pt x="16" y="112"/>
                </a:lnTo>
                <a:lnTo>
                  <a:pt x="10" y="101"/>
                </a:lnTo>
                <a:lnTo>
                  <a:pt x="7" y="87"/>
                </a:lnTo>
                <a:lnTo>
                  <a:pt x="5" y="74"/>
                </a:lnTo>
                <a:lnTo>
                  <a:pt x="7" y="59"/>
                </a:lnTo>
                <a:lnTo>
                  <a:pt x="10" y="48"/>
                </a:lnTo>
                <a:lnTo>
                  <a:pt x="16" y="34"/>
                </a:lnTo>
                <a:lnTo>
                  <a:pt x="25" y="25"/>
                </a:lnTo>
                <a:lnTo>
                  <a:pt x="35" y="16"/>
                </a:lnTo>
                <a:lnTo>
                  <a:pt x="48" y="10"/>
                </a:lnTo>
                <a:lnTo>
                  <a:pt x="60" y="6"/>
                </a:lnTo>
                <a:lnTo>
                  <a:pt x="74" y="5"/>
                </a:lnTo>
                <a:lnTo>
                  <a:pt x="88" y="6"/>
                </a:lnTo>
                <a:lnTo>
                  <a:pt x="101" y="10"/>
                </a:lnTo>
                <a:lnTo>
                  <a:pt x="112" y="16"/>
                </a:lnTo>
                <a:lnTo>
                  <a:pt x="122" y="25"/>
                </a:lnTo>
                <a:lnTo>
                  <a:pt x="132" y="34"/>
                </a:lnTo>
                <a:lnTo>
                  <a:pt x="137" y="48"/>
                </a:lnTo>
                <a:lnTo>
                  <a:pt x="142" y="59"/>
                </a:lnTo>
                <a:lnTo>
                  <a:pt x="144" y="74"/>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88" name="Freeform 1593">
            <a:extLst>
              <a:ext uri="{FF2B5EF4-FFF2-40B4-BE49-F238E27FC236}">
                <a16:creationId xmlns:a16="http://schemas.microsoft.com/office/drawing/2014/main" id="{6843AEFD-1270-002D-D130-1F03B9B596DB}"/>
              </a:ext>
            </a:extLst>
          </p:cNvPr>
          <p:cNvSpPr>
            <a:spLocks noEditPoints="1"/>
          </p:cNvSpPr>
          <p:nvPr/>
        </p:nvSpPr>
        <p:spPr bwMode="auto">
          <a:xfrm>
            <a:off x="2800350" y="2447925"/>
            <a:ext cx="228600" cy="225425"/>
          </a:xfrm>
          <a:custGeom>
            <a:avLst/>
            <a:gdLst>
              <a:gd name="T0" fmla="*/ 142 w 144"/>
              <a:gd name="T1" fmla="*/ 56 h 142"/>
              <a:gd name="T2" fmla="*/ 132 w 144"/>
              <a:gd name="T3" fmla="*/ 31 h 142"/>
              <a:gd name="T4" fmla="*/ 112 w 144"/>
              <a:gd name="T5" fmla="*/ 12 h 142"/>
              <a:gd name="T6" fmla="*/ 87 w 144"/>
              <a:gd name="T7" fmla="*/ 0 h 142"/>
              <a:gd name="T8" fmla="*/ 58 w 144"/>
              <a:gd name="T9" fmla="*/ 0 h 142"/>
              <a:gd name="T10" fmla="*/ 33 w 144"/>
              <a:gd name="T11" fmla="*/ 12 h 142"/>
              <a:gd name="T12" fmla="*/ 13 w 144"/>
              <a:gd name="T13" fmla="*/ 31 h 142"/>
              <a:gd name="T14" fmla="*/ 1 w 144"/>
              <a:gd name="T15" fmla="*/ 56 h 142"/>
              <a:gd name="T16" fmla="*/ 1 w 144"/>
              <a:gd name="T17" fmla="*/ 86 h 142"/>
              <a:gd name="T18" fmla="*/ 13 w 144"/>
              <a:gd name="T19" fmla="*/ 111 h 142"/>
              <a:gd name="T20" fmla="*/ 33 w 144"/>
              <a:gd name="T21" fmla="*/ 131 h 142"/>
              <a:gd name="T22" fmla="*/ 58 w 144"/>
              <a:gd name="T23" fmla="*/ 141 h 142"/>
              <a:gd name="T24" fmla="*/ 87 w 144"/>
              <a:gd name="T25" fmla="*/ 141 h 142"/>
              <a:gd name="T26" fmla="*/ 112 w 144"/>
              <a:gd name="T27" fmla="*/ 131 h 142"/>
              <a:gd name="T28" fmla="*/ 132 w 144"/>
              <a:gd name="T29" fmla="*/ 111 h 142"/>
              <a:gd name="T30" fmla="*/ 142 w 144"/>
              <a:gd name="T31" fmla="*/ 86 h 142"/>
              <a:gd name="T32" fmla="*/ 139 w 144"/>
              <a:gd name="T33" fmla="*/ 71 h 142"/>
              <a:gd name="T34" fmla="*/ 134 w 144"/>
              <a:gd name="T35" fmla="*/ 98 h 142"/>
              <a:gd name="T36" fmla="*/ 119 w 144"/>
              <a:gd name="T37" fmla="*/ 119 h 142"/>
              <a:gd name="T38" fmla="*/ 99 w 144"/>
              <a:gd name="T39" fmla="*/ 132 h 142"/>
              <a:gd name="T40" fmla="*/ 72 w 144"/>
              <a:gd name="T41" fmla="*/ 137 h 142"/>
              <a:gd name="T42" fmla="*/ 46 w 144"/>
              <a:gd name="T43" fmla="*/ 132 h 142"/>
              <a:gd name="T44" fmla="*/ 24 w 144"/>
              <a:gd name="T45" fmla="*/ 119 h 142"/>
              <a:gd name="T46" fmla="*/ 11 w 144"/>
              <a:gd name="T47" fmla="*/ 98 h 142"/>
              <a:gd name="T48" fmla="*/ 5 w 144"/>
              <a:gd name="T49" fmla="*/ 71 h 142"/>
              <a:gd name="T50" fmla="*/ 11 w 144"/>
              <a:gd name="T51" fmla="*/ 45 h 142"/>
              <a:gd name="T52" fmla="*/ 24 w 144"/>
              <a:gd name="T53" fmla="*/ 23 h 142"/>
              <a:gd name="T54" fmla="*/ 46 w 144"/>
              <a:gd name="T55" fmla="*/ 10 h 142"/>
              <a:gd name="T56" fmla="*/ 72 w 144"/>
              <a:gd name="T57" fmla="*/ 3 h 142"/>
              <a:gd name="T58" fmla="*/ 99 w 144"/>
              <a:gd name="T59" fmla="*/ 10 h 142"/>
              <a:gd name="T60" fmla="*/ 119 w 144"/>
              <a:gd name="T61" fmla="*/ 23 h 142"/>
              <a:gd name="T62" fmla="*/ 134 w 144"/>
              <a:gd name="T63" fmla="*/ 45 h 142"/>
              <a:gd name="T64" fmla="*/ 139 w 144"/>
              <a:gd name="T65" fmla="*/ 71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44" h="142">
                <a:moveTo>
                  <a:pt x="144" y="71"/>
                </a:moveTo>
                <a:lnTo>
                  <a:pt x="142" y="56"/>
                </a:lnTo>
                <a:lnTo>
                  <a:pt x="139" y="43"/>
                </a:lnTo>
                <a:lnTo>
                  <a:pt x="132" y="31"/>
                </a:lnTo>
                <a:lnTo>
                  <a:pt x="124" y="20"/>
                </a:lnTo>
                <a:lnTo>
                  <a:pt x="112" y="12"/>
                </a:lnTo>
                <a:lnTo>
                  <a:pt x="101" y="5"/>
                </a:lnTo>
                <a:lnTo>
                  <a:pt x="87" y="0"/>
                </a:lnTo>
                <a:lnTo>
                  <a:pt x="72" y="0"/>
                </a:lnTo>
                <a:lnTo>
                  <a:pt x="58" y="0"/>
                </a:lnTo>
                <a:lnTo>
                  <a:pt x="44" y="5"/>
                </a:lnTo>
                <a:lnTo>
                  <a:pt x="33" y="12"/>
                </a:lnTo>
                <a:lnTo>
                  <a:pt x="21" y="20"/>
                </a:lnTo>
                <a:lnTo>
                  <a:pt x="13" y="31"/>
                </a:lnTo>
                <a:lnTo>
                  <a:pt x="6" y="43"/>
                </a:lnTo>
                <a:lnTo>
                  <a:pt x="1" y="56"/>
                </a:lnTo>
                <a:lnTo>
                  <a:pt x="0" y="71"/>
                </a:lnTo>
                <a:lnTo>
                  <a:pt x="1" y="86"/>
                </a:lnTo>
                <a:lnTo>
                  <a:pt x="6" y="99"/>
                </a:lnTo>
                <a:lnTo>
                  <a:pt x="13" y="111"/>
                </a:lnTo>
                <a:lnTo>
                  <a:pt x="21" y="123"/>
                </a:lnTo>
                <a:lnTo>
                  <a:pt x="33" y="131"/>
                </a:lnTo>
                <a:lnTo>
                  <a:pt x="44" y="137"/>
                </a:lnTo>
                <a:lnTo>
                  <a:pt x="58" y="141"/>
                </a:lnTo>
                <a:lnTo>
                  <a:pt x="72" y="142"/>
                </a:lnTo>
                <a:lnTo>
                  <a:pt x="87" y="141"/>
                </a:lnTo>
                <a:lnTo>
                  <a:pt x="101" y="137"/>
                </a:lnTo>
                <a:lnTo>
                  <a:pt x="112" y="131"/>
                </a:lnTo>
                <a:lnTo>
                  <a:pt x="124" y="123"/>
                </a:lnTo>
                <a:lnTo>
                  <a:pt x="132" y="111"/>
                </a:lnTo>
                <a:lnTo>
                  <a:pt x="139" y="99"/>
                </a:lnTo>
                <a:lnTo>
                  <a:pt x="142" y="86"/>
                </a:lnTo>
                <a:lnTo>
                  <a:pt x="144" y="71"/>
                </a:lnTo>
                <a:close/>
                <a:moveTo>
                  <a:pt x="139" y="71"/>
                </a:moveTo>
                <a:lnTo>
                  <a:pt x="139" y="84"/>
                </a:lnTo>
                <a:lnTo>
                  <a:pt x="134" y="98"/>
                </a:lnTo>
                <a:lnTo>
                  <a:pt x="127" y="109"/>
                </a:lnTo>
                <a:lnTo>
                  <a:pt x="119" y="119"/>
                </a:lnTo>
                <a:lnTo>
                  <a:pt x="109" y="126"/>
                </a:lnTo>
                <a:lnTo>
                  <a:pt x="99" y="132"/>
                </a:lnTo>
                <a:lnTo>
                  <a:pt x="86" y="137"/>
                </a:lnTo>
                <a:lnTo>
                  <a:pt x="72" y="137"/>
                </a:lnTo>
                <a:lnTo>
                  <a:pt x="59" y="137"/>
                </a:lnTo>
                <a:lnTo>
                  <a:pt x="46" y="132"/>
                </a:lnTo>
                <a:lnTo>
                  <a:pt x="34" y="126"/>
                </a:lnTo>
                <a:lnTo>
                  <a:pt x="24" y="119"/>
                </a:lnTo>
                <a:lnTo>
                  <a:pt x="16" y="109"/>
                </a:lnTo>
                <a:lnTo>
                  <a:pt x="11" y="98"/>
                </a:lnTo>
                <a:lnTo>
                  <a:pt x="6" y="84"/>
                </a:lnTo>
                <a:lnTo>
                  <a:pt x="5" y="71"/>
                </a:lnTo>
                <a:lnTo>
                  <a:pt x="6" y="58"/>
                </a:lnTo>
                <a:lnTo>
                  <a:pt x="11" y="45"/>
                </a:lnTo>
                <a:lnTo>
                  <a:pt x="16" y="33"/>
                </a:lnTo>
                <a:lnTo>
                  <a:pt x="24" y="23"/>
                </a:lnTo>
                <a:lnTo>
                  <a:pt x="34" y="15"/>
                </a:lnTo>
                <a:lnTo>
                  <a:pt x="46" y="10"/>
                </a:lnTo>
                <a:lnTo>
                  <a:pt x="59" y="5"/>
                </a:lnTo>
                <a:lnTo>
                  <a:pt x="72" y="3"/>
                </a:lnTo>
                <a:lnTo>
                  <a:pt x="86" y="5"/>
                </a:lnTo>
                <a:lnTo>
                  <a:pt x="99" y="10"/>
                </a:lnTo>
                <a:lnTo>
                  <a:pt x="109" y="15"/>
                </a:lnTo>
                <a:lnTo>
                  <a:pt x="119" y="23"/>
                </a:lnTo>
                <a:lnTo>
                  <a:pt x="127" y="33"/>
                </a:lnTo>
                <a:lnTo>
                  <a:pt x="134" y="45"/>
                </a:lnTo>
                <a:lnTo>
                  <a:pt x="139" y="58"/>
                </a:lnTo>
                <a:lnTo>
                  <a:pt x="139" y="71"/>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89" name="Freeform 1594">
            <a:extLst>
              <a:ext uri="{FF2B5EF4-FFF2-40B4-BE49-F238E27FC236}">
                <a16:creationId xmlns:a16="http://schemas.microsoft.com/office/drawing/2014/main" id="{C4C51CFB-07E1-254E-0A45-E68155CA220D}"/>
              </a:ext>
            </a:extLst>
          </p:cNvPr>
          <p:cNvSpPr>
            <a:spLocks noEditPoints="1"/>
          </p:cNvSpPr>
          <p:nvPr/>
        </p:nvSpPr>
        <p:spPr bwMode="auto">
          <a:xfrm>
            <a:off x="2805113" y="2451100"/>
            <a:ext cx="220663" cy="220663"/>
          </a:xfrm>
          <a:custGeom>
            <a:avLst/>
            <a:gdLst>
              <a:gd name="T0" fmla="*/ 137 w 139"/>
              <a:gd name="T1" fmla="*/ 54 h 139"/>
              <a:gd name="T2" fmla="*/ 127 w 139"/>
              <a:gd name="T3" fmla="*/ 29 h 139"/>
              <a:gd name="T4" fmla="*/ 107 w 139"/>
              <a:gd name="T5" fmla="*/ 11 h 139"/>
              <a:gd name="T6" fmla="*/ 83 w 139"/>
              <a:gd name="T7" fmla="*/ 1 h 139"/>
              <a:gd name="T8" fmla="*/ 55 w 139"/>
              <a:gd name="T9" fmla="*/ 1 h 139"/>
              <a:gd name="T10" fmla="*/ 30 w 139"/>
              <a:gd name="T11" fmla="*/ 11 h 139"/>
              <a:gd name="T12" fmla="*/ 11 w 139"/>
              <a:gd name="T13" fmla="*/ 29 h 139"/>
              <a:gd name="T14" fmla="*/ 2 w 139"/>
              <a:gd name="T15" fmla="*/ 54 h 139"/>
              <a:gd name="T16" fmla="*/ 2 w 139"/>
              <a:gd name="T17" fmla="*/ 82 h 139"/>
              <a:gd name="T18" fmla="*/ 11 w 139"/>
              <a:gd name="T19" fmla="*/ 107 h 139"/>
              <a:gd name="T20" fmla="*/ 30 w 139"/>
              <a:gd name="T21" fmla="*/ 127 h 139"/>
              <a:gd name="T22" fmla="*/ 55 w 139"/>
              <a:gd name="T23" fmla="*/ 137 h 139"/>
              <a:gd name="T24" fmla="*/ 83 w 139"/>
              <a:gd name="T25" fmla="*/ 137 h 139"/>
              <a:gd name="T26" fmla="*/ 107 w 139"/>
              <a:gd name="T27" fmla="*/ 127 h 139"/>
              <a:gd name="T28" fmla="*/ 127 w 139"/>
              <a:gd name="T29" fmla="*/ 107 h 139"/>
              <a:gd name="T30" fmla="*/ 137 w 139"/>
              <a:gd name="T31" fmla="*/ 82 h 139"/>
              <a:gd name="T32" fmla="*/ 134 w 139"/>
              <a:gd name="T33" fmla="*/ 69 h 139"/>
              <a:gd name="T34" fmla="*/ 129 w 139"/>
              <a:gd name="T35" fmla="*/ 94 h 139"/>
              <a:gd name="T36" fmla="*/ 114 w 139"/>
              <a:gd name="T37" fmla="*/ 114 h 139"/>
              <a:gd name="T38" fmla="*/ 94 w 139"/>
              <a:gd name="T39" fmla="*/ 129 h 139"/>
              <a:gd name="T40" fmla="*/ 69 w 139"/>
              <a:gd name="T41" fmla="*/ 134 h 139"/>
              <a:gd name="T42" fmla="*/ 45 w 139"/>
              <a:gd name="T43" fmla="*/ 129 h 139"/>
              <a:gd name="T44" fmla="*/ 23 w 139"/>
              <a:gd name="T45" fmla="*/ 114 h 139"/>
              <a:gd name="T46" fmla="*/ 10 w 139"/>
              <a:gd name="T47" fmla="*/ 94 h 139"/>
              <a:gd name="T48" fmla="*/ 5 w 139"/>
              <a:gd name="T49" fmla="*/ 69 h 139"/>
              <a:gd name="T50" fmla="*/ 10 w 139"/>
              <a:gd name="T51" fmla="*/ 44 h 139"/>
              <a:gd name="T52" fmla="*/ 23 w 139"/>
              <a:gd name="T53" fmla="*/ 23 h 139"/>
              <a:gd name="T54" fmla="*/ 45 w 139"/>
              <a:gd name="T55" fmla="*/ 10 h 139"/>
              <a:gd name="T56" fmla="*/ 69 w 139"/>
              <a:gd name="T57" fmla="*/ 5 h 139"/>
              <a:gd name="T58" fmla="*/ 94 w 139"/>
              <a:gd name="T59" fmla="*/ 10 h 139"/>
              <a:gd name="T60" fmla="*/ 114 w 139"/>
              <a:gd name="T61" fmla="*/ 23 h 139"/>
              <a:gd name="T62" fmla="*/ 129 w 139"/>
              <a:gd name="T63" fmla="*/ 44 h 139"/>
              <a:gd name="T64" fmla="*/ 134 w 139"/>
              <a:gd name="T65" fmla="*/ 69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39">
                <a:moveTo>
                  <a:pt x="139" y="69"/>
                </a:moveTo>
                <a:lnTo>
                  <a:pt x="137" y="54"/>
                </a:lnTo>
                <a:lnTo>
                  <a:pt x="132" y="43"/>
                </a:lnTo>
                <a:lnTo>
                  <a:pt x="127" y="29"/>
                </a:lnTo>
                <a:lnTo>
                  <a:pt x="117" y="20"/>
                </a:lnTo>
                <a:lnTo>
                  <a:pt x="107" y="11"/>
                </a:lnTo>
                <a:lnTo>
                  <a:pt x="96" y="5"/>
                </a:lnTo>
                <a:lnTo>
                  <a:pt x="83" y="1"/>
                </a:lnTo>
                <a:lnTo>
                  <a:pt x="69" y="0"/>
                </a:lnTo>
                <a:lnTo>
                  <a:pt x="55" y="1"/>
                </a:lnTo>
                <a:lnTo>
                  <a:pt x="43" y="5"/>
                </a:lnTo>
                <a:lnTo>
                  <a:pt x="30" y="11"/>
                </a:lnTo>
                <a:lnTo>
                  <a:pt x="20" y="20"/>
                </a:lnTo>
                <a:lnTo>
                  <a:pt x="11" y="29"/>
                </a:lnTo>
                <a:lnTo>
                  <a:pt x="5" y="43"/>
                </a:lnTo>
                <a:lnTo>
                  <a:pt x="2" y="54"/>
                </a:lnTo>
                <a:lnTo>
                  <a:pt x="0" y="69"/>
                </a:lnTo>
                <a:lnTo>
                  <a:pt x="2" y="82"/>
                </a:lnTo>
                <a:lnTo>
                  <a:pt x="5" y="96"/>
                </a:lnTo>
                <a:lnTo>
                  <a:pt x="11" y="107"/>
                </a:lnTo>
                <a:lnTo>
                  <a:pt x="20" y="119"/>
                </a:lnTo>
                <a:lnTo>
                  <a:pt x="30" y="127"/>
                </a:lnTo>
                <a:lnTo>
                  <a:pt x="43" y="134"/>
                </a:lnTo>
                <a:lnTo>
                  <a:pt x="55" y="137"/>
                </a:lnTo>
                <a:lnTo>
                  <a:pt x="69" y="139"/>
                </a:lnTo>
                <a:lnTo>
                  <a:pt x="83" y="137"/>
                </a:lnTo>
                <a:lnTo>
                  <a:pt x="96" y="134"/>
                </a:lnTo>
                <a:lnTo>
                  <a:pt x="107" y="127"/>
                </a:lnTo>
                <a:lnTo>
                  <a:pt x="117" y="119"/>
                </a:lnTo>
                <a:lnTo>
                  <a:pt x="127" y="107"/>
                </a:lnTo>
                <a:lnTo>
                  <a:pt x="132" y="96"/>
                </a:lnTo>
                <a:lnTo>
                  <a:pt x="137" y="82"/>
                </a:lnTo>
                <a:lnTo>
                  <a:pt x="139" y="69"/>
                </a:lnTo>
                <a:close/>
                <a:moveTo>
                  <a:pt x="134" y="69"/>
                </a:moveTo>
                <a:lnTo>
                  <a:pt x="132" y="82"/>
                </a:lnTo>
                <a:lnTo>
                  <a:pt x="129" y="94"/>
                </a:lnTo>
                <a:lnTo>
                  <a:pt x="122" y="106"/>
                </a:lnTo>
                <a:lnTo>
                  <a:pt x="114" y="114"/>
                </a:lnTo>
                <a:lnTo>
                  <a:pt x="106" y="122"/>
                </a:lnTo>
                <a:lnTo>
                  <a:pt x="94" y="129"/>
                </a:lnTo>
                <a:lnTo>
                  <a:pt x="83" y="132"/>
                </a:lnTo>
                <a:lnTo>
                  <a:pt x="69" y="134"/>
                </a:lnTo>
                <a:lnTo>
                  <a:pt x="56" y="132"/>
                </a:lnTo>
                <a:lnTo>
                  <a:pt x="45" y="129"/>
                </a:lnTo>
                <a:lnTo>
                  <a:pt x="33" y="122"/>
                </a:lnTo>
                <a:lnTo>
                  <a:pt x="23" y="114"/>
                </a:lnTo>
                <a:lnTo>
                  <a:pt x="15" y="106"/>
                </a:lnTo>
                <a:lnTo>
                  <a:pt x="10" y="94"/>
                </a:lnTo>
                <a:lnTo>
                  <a:pt x="6" y="82"/>
                </a:lnTo>
                <a:lnTo>
                  <a:pt x="5" y="69"/>
                </a:lnTo>
                <a:lnTo>
                  <a:pt x="6" y="56"/>
                </a:lnTo>
                <a:lnTo>
                  <a:pt x="10" y="44"/>
                </a:lnTo>
                <a:lnTo>
                  <a:pt x="15" y="33"/>
                </a:lnTo>
                <a:lnTo>
                  <a:pt x="23" y="23"/>
                </a:lnTo>
                <a:lnTo>
                  <a:pt x="33" y="16"/>
                </a:lnTo>
                <a:lnTo>
                  <a:pt x="45" y="10"/>
                </a:lnTo>
                <a:lnTo>
                  <a:pt x="56" y="6"/>
                </a:lnTo>
                <a:lnTo>
                  <a:pt x="69" y="5"/>
                </a:lnTo>
                <a:lnTo>
                  <a:pt x="83" y="6"/>
                </a:lnTo>
                <a:lnTo>
                  <a:pt x="94" y="10"/>
                </a:lnTo>
                <a:lnTo>
                  <a:pt x="106" y="16"/>
                </a:lnTo>
                <a:lnTo>
                  <a:pt x="114" y="23"/>
                </a:lnTo>
                <a:lnTo>
                  <a:pt x="122" y="33"/>
                </a:lnTo>
                <a:lnTo>
                  <a:pt x="129" y="44"/>
                </a:lnTo>
                <a:lnTo>
                  <a:pt x="132" y="56"/>
                </a:lnTo>
                <a:lnTo>
                  <a:pt x="134" y="69"/>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90" name="Freeform 1595">
            <a:extLst>
              <a:ext uri="{FF2B5EF4-FFF2-40B4-BE49-F238E27FC236}">
                <a16:creationId xmlns:a16="http://schemas.microsoft.com/office/drawing/2014/main" id="{A0D88A13-712A-4B24-E045-5E8E33ED12EE}"/>
              </a:ext>
            </a:extLst>
          </p:cNvPr>
          <p:cNvSpPr>
            <a:spLocks noEditPoints="1"/>
          </p:cNvSpPr>
          <p:nvPr/>
        </p:nvSpPr>
        <p:spPr bwMode="auto">
          <a:xfrm>
            <a:off x="2808288" y="2452688"/>
            <a:ext cx="212725" cy="212725"/>
          </a:xfrm>
          <a:custGeom>
            <a:avLst/>
            <a:gdLst>
              <a:gd name="T0" fmla="*/ 134 w 134"/>
              <a:gd name="T1" fmla="*/ 55 h 134"/>
              <a:gd name="T2" fmla="*/ 122 w 134"/>
              <a:gd name="T3" fmla="*/ 30 h 134"/>
              <a:gd name="T4" fmla="*/ 104 w 134"/>
              <a:gd name="T5" fmla="*/ 12 h 134"/>
              <a:gd name="T6" fmla="*/ 81 w 134"/>
              <a:gd name="T7" fmla="*/ 2 h 134"/>
              <a:gd name="T8" fmla="*/ 54 w 134"/>
              <a:gd name="T9" fmla="*/ 2 h 134"/>
              <a:gd name="T10" fmla="*/ 29 w 134"/>
              <a:gd name="T11" fmla="*/ 12 h 134"/>
              <a:gd name="T12" fmla="*/ 11 w 134"/>
              <a:gd name="T13" fmla="*/ 30 h 134"/>
              <a:gd name="T14" fmla="*/ 1 w 134"/>
              <a:gd name="T15" fmla="*/ 55 h 134"/>
              <a:gd name="T16" fmla="*/ 1 w 134"/>
              <a:gd name="T17" fmla="*/ 81 h 134"/>
              <a:gd name="T18" fmla="*/ 11 w 134"/>
              <a:gd name="T19" fmla="*/ 106 h 134"/>
              <a:gd name="T20" fmla="*/ 29 w 134"/>
              <a:gd name="T21" fmla="*/ 123 h 134"/>
              <a:gd name="T22" fmla="*/ 54 w 134"/>
              <a:gd name="T23" fmla="*/ 134 h 134"/>
              <a:gd name="T24" fmla="*/ 81 w 134"/>
              <a:gd name="T25" fmla="*/ 134 h 134"/>
              <a:gd name="T26" fmla="*/ 104 w 134"/>
              <a:gd name="T27" fmla="*/ 123 h 134"/>
              <a:gd name="T28" fmla="*/ 122 w 134"/>
              <a:gd name="T29" fmla="*/ 106 h 134"/>
              <a:gd name="T30" fmla="*/ 134 w 134"/>
              <a:gd name="T31" fmla="*/ 81 h 134"/>
              <a:gd name="T32" fmla="*/ 129 w 134"/>
              <a:gd name="T33" fmla="*/ 68 h 134"/>
              <a:gd name="T34" fmla="*/ 124 w 134"/>
              <a:gd name="T35" fmla="*/ 93 h 134"/>
              <a:gd name="T36" fmla="*/ 110 w 134"/>
              <a:gd name="T37" fmla="*/ 111 h 134"/>
              <a:gd name="T38" fmla="*/ 91 w 134"/>
              <a:gd name="T39" fmla="*/ 126 h 134"/>
              <a:gd name="T40" fmla="*/ 67 w 134"/>
              <a:gd name="T41" fmla="*/ 129 h 134"/>
              <a:gd name="T42" fmla="*/ 43 w 134"/>
              <a:gd name="T43" fmla="*/ 126 h 134"/>
              <a:gd name="T44" fmla="*/ 23 w 134"/>
              <a:gd name="T45" fmla="*/ 111 h 134"/>
              <a:gd name="T46" fmla="*/ 9 w 134"/>
              <a:gd name="T47" fmla="*/ 93 h 134"/>
              <a:gd name="T48" fmla="*/ 4 w 134"/>
              <a:gd name="T49" fmla="*/ 68 h 134"/>
              <a:gd name="T50" fmla="*/ 9 w 134"/>
              <a:gd name="T51" fmla="*/ 43 h 134"/>
              <a:gd name="T52" fmla="*/ 23 w 134"/>
              <a:gd name="T53" fmla="*/ 23 h 134"/>
              <a:gd name="T54" fmla="*/ 43 w 134"/>
              <a:gd name="T55" fmla="*/ 10 h 134"/>
              <a:gd name="T56" fmla="*/ 67 w 134"/>
              <a:gd name="T57" fmla="*/ 5 h 134"/>
              <a:gd name="T58" fmla="*/ 91 w 134"/>
              <a:gd name="T59" fmla="*/ 10 h 134"/>
              <a:gd name="T60" fmla="*/ 110 w 134"/>
              <a:gd name="T61" fmla="*/ 23 h 134"/>
              <a:gd name="T62" fmla="*/ 124 w 134"/>
              <a:gd name="T63" fmla="*/ 43 h 134"/>
              <a:gd name="T64" fmla="*/ 129 w 134"/>
              <a:gd name="T65" fmla="*/ 6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4" h="134">
                <a:moveTo>
                  <a:pt x="134" y="68"/>
                </a:moveTo>
                <a:lnTo>
                  <a:pt x="134" y="55"/>
                </a:lnTo>
                <a:lnTo>
                  <a:pt x="129" y="42"/>
                </a:lnTo>
                <a:lnTo>
                  <a:pt x="122" y="30"/>
                </a:lnTo>
                <a:lnTo>
                  <a:pt x="114" y="20"/>
                </a:lnTo>
                <a:lnTo>
                  <a:pt x="104" y="12"/>
                </a:lnTo>
                <a:lnTo>
                  <a:pt x="94" y="7"/>
                </a:lnTo>
                <a:lnTo>
                  <a:pt x="81" y="2"/>
                </a:lnTo>
                <a:lnTo>
                  <a:pt x="67" y="0"/>
                </a:lnTo>
                <a:lnTo>
                  <a:pt x="54" y="2"/>
                </a:lnTo>
                <a:lnTo>
                  <a:pt x="41" y="7"/>
                </a:lnTo>
                <a:lnTo>
                  <a:pt x="29" y="12"/>
                </a:lnTo>
                <a:lnTo>
                  <a:pt x="19" y="20"/>
                </a:lnTo>
                <a:lnTo>
                  <a:pt x="11" y="30"/>
                </a:lnTo>
                <a:lnTo>
                  <a:pt x="6" y="42"/>
                </a:lnTo>
                <a:lnTo>
                  <a:pt x="1" y="55"/>
                </a:lnTo>
                <a:lnTo>
                  <a:pt x="0" y="68"/>
                </a:lnTo>
                <a:lnTo>
                  <a:pt x="1" y="81"/>
                </a:lnTo>
                <a:lnTo>
                  <a:pt x="6" y="95"/>
                </a:lnTo>
                <a:lnTo>
                  <a:pt x="11" y="106"/>
                </a:lnTo>
                <a:lnTo>
                  <a:pt x="19" y="116"/>
                </a:lnTo>
                <a:lnTo>
                  <a:pt x="29" y="123"/>
                </a:lnTo>
                <a:lnTo>
                  <a:pt x="41" y="129"/>
                </a:lnTo>
                <a:lnTo>
                  <a:pt x="54" y="134"/>
                </a:lnTo>
                <a:lnTo>
                  <a:pt x="67" y="134"/>
                </a:lnTo>
                <a:lnTo>
                  <a:pt x="81" y="134"/>
                </a:lnTo>
                <a:lnTo>
                  <a:pt x="94" y="129"/>
                </a:lnTo>
                <a:lnTo>
                  <a:pt x="104" y="123"/>
                </a:lnTo>
                <a:lnTo>
                  <a:pt x="114" y="116"/>
                </a:lnTo>
                <a:lnTo>
                  <a:pt x="122" y="106"/>
                </a:lnTo>
                <a:lnTo>
                  <a:pt x="129" y="95"/>
                </a:lnTo>
                <a:lnTo>
                  <a:pt x="134" y="81"/>
                </a:lnTo>
                <a:lnTo>
                  <a:pt x="134" y="68"/>
                </a:lnTo>
                <a:close/>
                <a:moveTo>
                  <a:pt x="129" y="68"/>
                </a:moveTo>
                <a:lnTo>
                  <a:pt x="129" y="80"/>
                </a:lnTo>
                <a:lnTo>
                  <a:pt x="124" y="93"/>
                </a:lnTo>
                <a:lnTo>
                  <a:pt x="119" y="103"/>
                </a:lnTo>
                <a:lnTo>
                  <a:pt x="110" y="111"/>
                </a:lnTo>
                <a:lnTo>
                  <a:pt x="102" y="120"/>
                </a:lnTo>
                <a:lnTo>
                  <a:pt x="91" y="126"/>
                </a:lnTo>
                <a:lnTo>
                  <a:pt x="79" y="129"/>
                </a:lnTo>
                <a:lnTo>
                  <a:pt x="67" y="129"/>
                </a:lnTo>
                <a:lnTo>
                  <a:pt x="54" y="129"/>
                </a:lnTo>
                <a:lnTo>
                  <a:pt x="43" y="126"/>
                </a:lnTo>
                <a:lnTo>
                  <a:pt x="33" y="120"/>
                </a:lnTo>
                <a:lnTo>
                  <a:pt x="23" y="111"/>
                </a:lnTo>
                <a:lnTo>
                  <a:pt x="16" y="103"/>
                </a:lnTo>
                <a:lnTo>
                  <a:pt x="9" y="93"/>
                </a:lnTo>
                <a:lnTo>
                  <a:pt x="6" y="80"/>
                </a:lnTo>
                <a:lnTo>
                  <a:pt x="4" y="68"/>
                </a:lnTo>
                <a:lnTo>
                  <a:pt x="6" y="55"/>
                </a:lnTo>
                <a:lnTo>
                  <a:pt x="9" y="43"/>
                </a:lnTo>
                <a:lnTo>
                  <a:pt x="16" y="33"/>
                </a:lnTo>
                <a:lnTo>
                  <a:pt x="23" y="23"/>
                </a:lnTo>
                <a:lnTo>
                  <a:pt x="33" y="17"/>
                </a:lnTo>
                <a:lnTo>
                  <a:pt x="43" y="10"/>
                </a:lnTo>
                <a:lnTo>
                  <a:pt x="54" y="7"/>
                </a:lnTo>
                <a:lnTo>
                  <a:pt x="67" y="5"/>
                </a:lnTo>
                <a:lnTo>
                  <a:pt x="79" y="7"/>
                </a:lnTo>
                <a:lnTo>
                  <a:pt x="91" y="10"/>
                </a:lnTo>
                <a:lnTo>
                  <a:pt x="102" y="17"/>
                </a:lnTo>
                <a:lnTo>
                  <a:pt x="110" y="23"/>
                </a:lnTo>
                <a:lnTo>
                  <a:pt x="119" y="33"/>
                </a:lnTo>
                <a:lnTo>
                  <a:pt x="124" y="43"/>
                </a:lnTo>
                <a:lnTo>
                  <a:pt x="129" y="55"/>
                </a:lnTo>
                <a:lnTo>
                  <a:pt x="129" y="68"/>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91" name="Freeform 1596">
            <a:extLst>
              <a:ext uri="{FF2B5EF4-FFF2-40B4-BE49-F238E27FC236}">
                <a16:creationId xmlns:a16="http://schemas.microsoft.com/office/drawing/2014/main" id="{E638BBBD-A18B-FE92-B436-62147852B45A}"/>
              </a:ext>
            </a:extLst>
          </p:cNvPr>
          <p:cNvSpPr>
            <a:spLocks noEditPoints="1"/>
          </p:cNvSpPr>
          <p:nvPr/>
        </p:nvSpPr>
        <p:spPr bwMode="auto">
          <a:xfrm>
            <a:off x="2813050" y="2459038"/>
            <a:ext cx="204788" cy="204788"/>
          </a:xfrm>
          <a:custGeom>
            <a:avLst/>
            <a:gdLst>
              <a:gd name="T0" fmla="*/ 127 w 129"/>
              <a:gd name="T1" fmla="*/ 51 h 129"/>
              <a:gd name="T2" fmla="*/ 117 w 129"/>
              <a:gd name="T3" fmla="*/ 28 h 129"/>
              <a:gd name="T4" fmla="*/ 101 w 129"/>
              <a:gd name="T5" fmla="*/ 11 h 129"/>
              <a:gd name="T6" fmla="*/ 78 w 129"/>
              <a:gd name="T7" fmla="*/ 1 h 129"/>
              <a:gd name="T8" fmla="*/ 51 w 129"/>
              <a:gd name="T9" fmla="*/ 1 h 129"/>
              <a:gd name="T10" fmla="*/ 28 w 129"/>
              <a:gd name="T11" fmla="*/ 11 h 129"/>
              <a:gd name="T12" fmla="*/ 10 w 129"/>
              <a:gd name="T13" fmla="*/ 28 h 129"/>
              <a:gd name="T14" fmla="*/ 1 w 129"/>
              <a:gd name="T15" fmla="*/ 51 h 129"/>
              <a:gd name="T16" fmla="*/ 1 w 129"/>
              <a:gd name="T17" fmla="*/ 77 h 129"/>
              <a:gd name="T18" fmla="*/ 10 w 129"/>
              <a:gd name="T19" fmla="*/ 101 h 129"/>
              <a:gd name="T20" fmla="*/ 28 w 129"/>
              <a:gd name="T21" fmla="*/ 117 h 129"/>
              <a:gd name="T22" fmla="*/ 51 w 129"/>
              <a:gd name="T23" fmla="*/ 127 h 129"/>
              <a:gd name="T24" fmla="*/ 78 w 129"/>
              <a:gd name="T25" fmla="*/ 127 h 129"/>
              <a:gd name="T26" fmla="*/ 101 w 129"/>
              <a:gd name="T27" fmla="*/ 117 h 129"/>
              <a:gd name="T28" fmla="*/ 117 w 129"/>
              <a:gd name="T29" fmla="*/ 101 h 129"/>
              <a:gd name="T30" fmla="*/ 127 w 129"/>
              <a:gd name="T31" fmla="*/ 77 h 129"/>
              <a:gd name="T32" fmla="*/ 124 w 129"/>
              <a:gd name="T33" fmla="*/ 64 h 129"/>
              <a:gd name="T34" fmla="*/ 119 w 129"/>
              <a:gd name="T35" fmla="*/ 87 h 129"/>
              <a:gd name="T36" fmla="*/ 106 w 129"/>
              <a:gd name="T37" fmla="*/ 106 h 129"/>
              <a:gd name="T38" fmla="*/ 88 w 129"/>
              <a:gd name="T39" fmla="*/ 119 h 129"/>
              <a:gd name="T40" fmla="*/ 64 w 129"/>
              <a:gd name="T41" fmla="*/ 124 h 129"/>
              <a:gd name="T42" fmla="*/ 41 w 129"/>
              <a:gd name="T43" fmla="*/ 119 h 129"/>
              <a:gd name="T44" fmla="*/ 21 w 129"/>
              <a:gd name="T45" fmla="*/ 106 h 129"/>
              <a:gd name="T46" fmla="*/ 10 w 129"/>
              <a:gd name="T47" fmla="*/ 87 h 129"/>
              <a:gd name="T48" fmla="*/ 5 w 129"/>
              <a:gd name="T49" fmla="*/ 64 h 129"/>
              <a:gd name="T50" fmla="*/ 10 w 129"/>
              <a:gd name="T51" fmla="*/ 41 h 129"/>
              <a:gd name="T52" fmla="*/ 21 w 129"/>
              <a:gd name="T53" fmla="*/ 21 h 129"/>
              <a:gd name="T54" fmla="*/ 41 w 129"/>
              <a:gd name="T55" fmla="*/ 10 h 129"/>
              <a:gd name="T56" fmla="*/ 64 w 129"/>
              <a:gd name="T57" fmla="*/ 5 h 129"/>
              <a:gd name="T58" fmla="*/ 88 w 129"/>
              <a:gd name="T59" fmla="*/ 10 h 129"/>
              <a:gd name="T60" fmla="*/ 106 w 129"/>
              <a:gd name="T61" fmla="*/ 21 h 129"/>
              <a:gd name="T62" fmla="*/ 119 w 129"/>
              <a:gd name="T63" fmla="*/ 41 h 129"/>
              <a:gd name="T64" fmla="*/ 124 w 129"/>
              <a:gd name="T65" fmla="*/ 64 h 1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29" h="129">
                <a:moveTo>
                  <a:pt x="129" y="64"/>
                </a:moveTo>
                <a:lnTo>
                  <a:pt x="127" y="51"/>
                </a:lnTo>
                <a:lnTo>
                  <a:pt x="124" y="39"/>
                </a:lnTo>
                <a:lnTo>
                  <a:pt x="117" y="28"/>
                </a:lnTo>
                <a:lnTo>
                  <a:pt x="109" y="18"/>
                </a:lnTo>
                <a:lnTo>
                  <a:pt x="101" y="11"/>
                </a:lnTo>
                <a:lnTo>
                  <a:pt x="89" y="5"/>
                </a:lnTo>
                <a:lnTo>
                  <a:pt x="78" y="1"/>
                </a:lnTo>
                <a:lnTo>
                  <a:pt x="64" y="0"/>
                </a:lnTo>
                <a:lnTo>
                  <a:pt x="51" y="1"/>
                </a:lnTo>
                <a:lnTo>
                  <a:pt x="40" y="5"/>
                </a:lnTo>
                <a:lnTo>
                  <a:pt x="28" y="11"/>
                </a:lnTo>
                <a:lnTo>
                  <a:pt x="18" y="18"/>
                </a:lnTo>
                <a:lnTo>
                  <a:pt x="10" y="28"/>
                </a:lnTo>
                <a:lnTo>
                  <a:pt x="5" y="39"/>
                </a:lnTo>
                <a:lnTo>
                  <a:pt x="1" y="51"/>
                </a:lnTo>
                <a:lnTo>
                  <a:pt x="0" y="64"/>
                </a:lnTo>
                <a:lnTo>
                  <a:pt x="1" y="77"/>
                </a:lnTo>
                <a:lnTo>
                  <a:pt x="5" y="89"/>
                </a:lnTo>
                <a:lnTo>
                  <a:pt x="10" y="101"/>
                </a:lnTo>
                <a:lnTo>
                  <a:pt x="18" y="109"/>
                </a:lnTo>
                <a:lnTo>
                  <a:pt x="28" y="117"/>
                </a:lnTo>
                <a:lnTo>
                  <a:pt x="40" y="124"/>
                </a:lnTo>
                <a:lnTo>
                  <a:pt x="51" y="127"/>
                </a:lnTo>
                <a:lnTo>
                  <a:pt x="64" y="129"/>
                </a:lnTo>
                <a:lnTo>
                  <a:pt x="78" y="127"/>
                </a:lnTo>
                <a:lnTo>
                  <a:pt x="89" y="124"/>
                </a:lnTo>
                <a:lnTo>
                  <a:pt x="101" y="117"/>
                </a:lnTo>
                <a:lnTo>
                  <a:pt x="109" y="109"/>
                </a:lnTo>
                <a:lnTo>
                  <a:pt x="117" y="101"/>
                </a:lnTo>
                <a:lnTo>
                  <a:pt x="124" y="89"/>
                </a:lnTo>
                <a:lnTo>
                  <a:pt x="127" y="77"/>
                </a:lnTo>
                <a:lnTo>
                  <a:pt x="129" y="64"/>
                </a:lnTo>
                <a:close/>
                <a:moveTo>
                  <a:pt x="124" y="64"/>
                </a:moveTo>
                <a:lnTo>
                  <a:pt x="122" y="76"/>
                </a:lnTo>
                <a:lnTo>
                  <a:pt x="119" y="87"/>
                </a:lnTo>
                <a:lnTo>
                  <a:pt x="114" y="97"/>
                </a:lnTo>
                <a:lnTo>
                  <a:pt x="106" y="106"/>
                </a:lnTo>
                <a:lnTo>
                  <a:pt x="98" y="114"/>
                </a:lnTo>
                <a:lnTo>
                  <a:pt x="88" y="119"/>
                </a:lnTo>
                <a:lnTo>
                  <a:pt x="76" y="122"/>
                </a:lnTo>
                <a:lnTo>
                  <a:pt x="64" y="124"/>
                </a:lnTo>
                <a:lnTo>
                  <a:pt x="53" y="122"/>
                </a:lnTo>
                <a:lnTo>
                  <a:pt x="41" y="119"/>
                </a:lnTo>
                <a:lnTo>
                  <a:pt x="31" y="114"/>
                </a:lnTo>
                <a:lnTo>
                  <a:pt x="21" y="106"/>
                </a:lnTo>
                <a:lnTo>
                  <a:pt x="15" y="97"/>
                </a:lnTo>
                <a:lnTo>
                  <a:pt x="10" y="87"/>
                </a:lnTo>
                <a:lnTo>
                  <a:pt x="5" y="76"/>
                </a:lnTo>
                <a:lnTo>
                  <a:pt x="5" y="64"/>
                </a:lnTo>
                <a:lnTo>
                  <a:pt x="5" y="53"/>
                </a:lnTo>
                <a:lnTo>
                  <a:pt x="10" y="41"/>
                </a:lnTo>
                <a:lnTo>
                  <a:pt x="15" y="31"/>
                </a:lnTo>
                <a:lnTo>
                  <a:pt x="21" y="21"/>
                </a:lnTo>
                <a:lnTo>
                  <a:pt x="31" y="15"/>
                </a:lnTo>
                <a:lnTo>
                  <a:pt x="41" y="10"/>
                </a:lnTo>
                <a:lnTo>
                  <a:pt x="53" y="5"/>
                </a:lnTo>
                <a:lnTo>
                  <a:pt x="64" y="5"/>
                </a:lnTo>
                <a:lnTo>
                  <a:pt x="76" y="5"/>
                </a:lnTo>
                <a:lnTo>
                  <a:pt x="88" y="10"/>
                </a:lnTo>
                <a:lnTo>
                  <a:pt x="98" y="15"/>
                </a:lnTo>
                <a:lnTo>
                  <a:pt x="106" y="21"/>
                </a:lnTo>
                <a:lnTo>
                  <a:pt x="114" y="31"/>
                </a:lnTo>
                <a:lnTo>
                  <a:pt x="119" y="41"/>
                </a:lnTo>
                <a:lnTo>
                  <a:pt x="122" y="53"/>
                </a:lnTo>
                <a:lnTo>
                  <a:pt x="124" y="64"/>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92" name="Freeform 1597">
            <a:extLst>
              <a:ext uri="{FF2B5EF4-FFF2-40B4-BE49-F238E27FC236}">
                <a16:creationId xmlns:a16="http://schemas.microsoft.com/office/drawing/2014/main" id="{3546C545-5901-0ECB-B1C4-EC84FA90D1D0}"/>
              </a:ext>
            </a:extLst>
          </p:cNvPr>
          <p:cNvSpPr>
            <a:spLocks noEditPoints="1"/>
          </p:cNvSpPr>
          <p:nvPr/>
        </p:nvSpPr>
        <p:spPr bwMode="auto">
          <a:xfrm>
            <a:off x="2814638" y="2460625"/>
            <a:ext cx="198438" cy="196850"/>
          </a:xfrm>
          <a:custGeom>
            <a:avLst/>
            <a:gdLst>
              <a:gd name="T0" fmla="*/ 125 w 125"/>
              <a:gd name="T1" fmla="*/ 50 h 124"/>
              <a:gd name="T2" fmla="*/ 115 w 125"/>
              <a:gd name="T3" fmla="*/ 28 h 124"/>
              <a:gd name="T4" fmla="*/ 98 w 125"/>
              <a:gd name="T5" fmla="*/ 12 h 124"/>
              <a:gd name="T6" fmla="*/ 75 w 125"/>
              <a:gd name="T7" fmla="*/ 2 h 124"/>
              <a:gd name="T8" fmla="*/ 50 w 125"/>
              <a:gd name="T9" fmla="*/ 2 h 124"/>
              <a:gd name="T10" fmla="*/ 29 w 125"/>
              <a:gd name="T11" fmla="*/ 12 h 124"/>
              <a:gd name="T12" fmla="*/ 12 w 125"/>
              <a:gd name="T13" fmla="*/ 28 h 124"/>
              <a:gd name="T14" fmla="*/ 2 w 125"/>
              <a:gd name="T15" fmla="*/ 50 h 124"/>
              <a:gd name="T16" fmla="*/ 2 w 125"/>
              <a:gd name="T17" fmla="*/ 75 h 124"/>
              <a:gd name="T18" fmla="*/ 12 w 125"/>
              <a:gd name="T19" fmla="*/ 98 h 124"/>
              <a:gd name="T20" fmla="*/ 29 w 125"/>
              <a:gd name="T21" fmla="*/ 115 h 124"/>
              <a:gd name="T22" fmla="*/ 50 w 125"/>
              <a:gd name="T23" fmla="*/ 124 h 124"/>
              <a:gd name="T24" fmla="*/ 75 w 125"/>
              <a:gd name="T25" fmla="*/ 124 h 124"/>
              <a:gd name="T26" fmla="*/ 98 w 125"/>
              <a:gd name="T27" fmla="*/ 115 h 124"/>
              <a:gd name="T28" fmla="*/ 115 w 125"/>
              <a:gd name="T29" fmla="*/ 98 h 124"/>
              <a:gd name="T30" fmla="*/ 125 w 125"/>
              <a:gd name="T31" fmla="*/ 75 h 124"/>
              <a:gd name="T32" fmla="*/ 121 w 125"/>
              <a:gd name="T33" fmla="*/ 63 h 124"/>
              <a:gd name="T34" fmla="*/ 116 w 125"/>
              <a:gd name="T35" fmla="*/ 85 h 124"/>
              <a:gd name="T36" fmla="*/ 103 w 125"/>
              <a:gd name="T37" fmla="*/ 103 h 124"/>
              <a:gd name="T38" fmla="*/ 85 w 125"/>
              <a:gd name="T39" fmla="*/ 116 h 124"/>
              <a:gd name="T40" fmla="*/ 63 w 125"/>
              <a:gd name="T41" fmla="*/ 121 h 124"/>
              <a:gd name="T42" fmla="*/ 40 w 125"/>
              <a:gd name="T43" fmla="*/ 116 h 124"/>
              <a:gd name="T44" fmla="*/ 22 w 125"/>
              <a:gd name="T45" fmla="*/ 103 h 124"/>
              <a:gd name="T46" fmla="*/ 10 w 125"/>
              <a:gd name="T47" fmla="*/ 85 h 124"/>
              <a:gd name="T48" fmla="*/ 5 w 125"/>
              <a:gd name="T49" fmla="*/ 63 h 124"/>
              <a:gd name="T50" fmla="*/ 10 w 125"/>
              <a:gd name="T51" fmla="*/ 40 h 124"/>
              <a:gd name="T52" fmla="*/ 22 w 125"/>
              <a:gd name="T53" fmla="*/ 22 h 124"/>
              <a:gd name="T54" fmla="*/ 40 w 125"/>
              <a:gd name="T55" fmla="*/ 10 h 124"/>
              <a:gd name="T56" fmla="*/ 63 w 125"/>
              <a:gd name="T57" fmla="*/ 5 h 124"/>
              <a:gd name="T58" fmla="*/ 85 w 125"/>
              <a:gd name="T59" fmla="*/ 10 h 124"/>
              <a:gd name="T60" fmla="*/ 103 w 125"/>
              <a:gd name="T61" fmla="*/ 22 h 124"/>
              <a:gd name="T62" fmla="*/ 116 w 125"/>
              <a:gd name="T63" fmla="*/ 40 h 124"/>
              <a:gd name="T64" fmla="*/ 121 w 125"/>
              <a:gd name="T65" fmla="*/ 63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25" h="124">
                <a:moveTo>
                  <a:pt x="125" y="63"/>
                </a:moveTo>
                <a:lnTo>
                  <a:pt x="125" y="50"/>
                </a:lnTo>
                <a:lnTo>
                  <a:pt x="120" y="38"/>
                </a:lnTo>
                <a:lnTo>
                  <a:pt x="115" y="28"/>
                </a:lnTo>
                <a:lnTo>
                  <a:pt x="106" y="18"/>
                </a:lnTo>
                <a:lnTo>
                  <a:pt x="98" y="12"/>
                </a:lnTo>
                <a:lnTo>
                  <a:pt x="87" y="5"/>
                </a:lnTo>
                <a:lnTo>
                  <a:pt x="75" y="2"/>
                </a:lnTo>
                <a:lnTo>
                  <a:pt x="63" y="0"/>
                </a:lnTo>
                <a:lnTo>
                  <a:pt x="50" y="2"/>
                </a:lnTo>
                <a:lnTo>
                  <a:pt x="39" y="5"/>
                </a:lnTo>
                <a:lnTo>
                  <a:pt x="29" y="12"/>
                </a:lnTo>
                <a:lnTo>
                  <a:pt x="19" y="18"/>
                </a:lnTo>
                <a:lnTo>
                  <a:pt x="12" y="28"/>
                </a:lnTo>
                <a:lnTo>
                  <a:pt x="5" y="38"/>
                </a:lnTo>
                <a:lnTo>
                  <a:pt x="2" y="50"/>
                </a:lnTo>
                <a:lnTo>
                  <a:pt x="0" y="63"/>
                </a:lnTo>
                <a:lnTo>
                  <a:pt x="2" y="75"/>
                </a:lnTo>
                <a:lnTo>
                  <a:pt x="5" y="88"/>
                </a:lnTo>
                <a:lnTo>
                  <a:pt x="12" y="98"/>
                </a:lnTo>
                <a:lnTo>
                  <a:pt x="19" y="106"/>
                </a:lnTo>
                <a:lnTo>
                  <a:pt x="29" y="115"/>
                </a:lnTo>
                <a:lnTo>
                  <a:pt x="39" y="121"/>
                </a:lnTo>
                <a:lnTo>
                  <a:pt x="50" y="124"/>
                </a:lnTo>
                <a:lnTo>
                  <a:pt x="63" y="124"/>
                </a:lnTo>
                <a:lnTo>
                  <a:pt x="75" y="124"/>
                </a:lnTo>
                <a:lnTo>
                  <a:pt x="87" y="121"/>
                </a:lnTo>
                <a:lnTo>
                  <a:pt x="98" y="115"/>
                </a:lnTo>
                <a:lnTo>
                  <a:pt x="106" y="106"/>
                </a:lnTo>
                <a:lnTo>
                  <a:pt x="115" y="98"/>
                </a:lnTo>
                <a:lnTo>
                  <a:pt x="120" y="88"/>
                </a:lnTo>
                <a:lnTo>
                  <a:pt x="125" y="75"/>
                </a:lnTo>
                <a:lnTo>
                  <a:pt x="125" y="63"/>
                </a:lnTo>
                <a:close/>
                <a:moveTo>
                  <a:pt x="121" y="63"/>
                </a:moveTo>
                <a:lnTo>
                  <a:pt x="120" y="75"/>
                </a:lnTo>
                <a:lnTo>
                  <a:pt x="116" y="85"/>
                </a:lnTo>
                <a:lnTo>
                  <a:pt x="111" y="95"/>
                </a:lnTo>
                <a:lnTo>
                  <a:pt x="103" y="103"/>
                </a:lnTo>
                <a:lnTo>
                  <a:pt x="95" y="111"/>
                </a:lnTo>
                <a:lnTo>
                  <a:pt x="85" y="116"/>
                </a:lnTo>
                <a:lnTo>
                  <a:pt x="75" y="119"/>
                </a:lnTo>
                <a:lnTo>
                  <a:pt x="63" y="121"/>
                </a:lnTo>
                <a:lnTo>
                  <a:pt x="52" y="119"/>
                </a:lnTo>
                <a:lnTo>
                  <a:pt x="40" y="116"/>
                </a:lnTo>
                <a:lnTo>
                  <a:pt x="30" y="111"/>
                </a:lnTo>
                <a:lnTo>
                  <a:pt x="22" y="103"/>
                </a:lnTo>
                <a:lnTo>
                  <a:pt x="15" y="95"/>
                </a:lnTo>
                <a:lnTo>
                  <a:pt x="10" y="85"/>
                </a:lnTo>
                <a:lnTo>
                  <a:pt x="7" y="75"/>
                </a:lnTo>
                <a:lnTo>
                  <a:pt x="5" y="63"/>
                </a:lnTo>
                <a:lnTo>
                  <a:pt x="7" y="52"/>
                </a:lnTo>
                <a:lnTo>
                  <a:pt x="10" y="40"/>
                </a:lnTo>
                <a:lnTo>
                  <a:pt x="15" y="30"/>
                </a:lnTo>
                <a:lnTo>
                  <a:pt x="22" y="22"/>
                </a:lnTo>
                <a:lnTo>
                  <a:pt x="30" y="15"/>
                </a:lnTo>
                <a:lnTo>
                  <a:pt x="40" y="10"/>
                </a:lnTo>
                <a:lnTo>
                  <a:pt x="52" y="7"/>
                </a:lnTo>
                <a:lnTo>
                  <a:pt x="63" y="5"/>
                </a:lnTo>
                <a:lnTo>
                  <a:pt x="75" y="7"/>
                </a:lnTo>
                <a:lnTo>
                  <a:pt x="85" y="10"/>
                </a:lnTo>
                <a:lnTo>
                  <a:pt x="95" y="15"/>
                </a:lnTo>
                <a:lnTo>
                  <a:pt x="103" y="22"/>
                </a:lnTo>
                <a:lnTo>
                  <a:pt x="111" y="30"/>
                </a:lnTo>
                <a:lnTo>
                  <a:pt x="116" y="40"/>
                </a:lnTo>
                <a:lnTo>
                  <a:pt x="120" y="52"/>
                </a:lnTo>
                <a:lnTo>
                  <a:pt x="121" y="63"/>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93" name="Freeform 1598">
            <a:extLst>
              <a:ext uri="{FF2B5EF4-FFF2-40B4-BE49-F238E27FC236}">
                <a16:creationId xmlns:a16="http://schemas.microsoft.com/office/drawing/2014/main" id="{299586BC-35AB-8B94-700C-950A3970E7A3}"/>
              </a:ext>
            </a:extLst>
          </p:cNvPr>
          <p:cNvSpPr>
            <a:spLocks noEditPoints="1"/>
          </p:cNvSpPr>
          <p:nvPr/>
        </p:nvSpPr>
        <p:spPr bwMode="auto">
          <a:xfrm>
            <a:off x="2820988" y="2466975"/>
            <a:ext cx="188913" cy="188913"/>
          </a:xfrm>
          <a:custGeom>
            <a:avLst/>
            <a:gdLst>
              <a:gd name="T0" fmla="*/ 117 w 119"/>
              <a:gd name="T1" fmla="*/ 48 h 119"/>
              <a:gd name="T2" fmla="*/ 109 w 119"/>
              <a:gd name="T3" fmla="*/ 26 h 119"/>
              <a:gd name="T4" fmla="*/ 93 w 119"/>
              <a:gd name="T5" fmla="*/ 10 h 119"/>
              <a:gd name="T6" fmla="*/ 71 w 119"/>
              <a:gd name="T7" fmla="*/ 0 h 119"/>
              <a:gd name="T8" fmla="*/ 48 w 119"/>
              <a:gd name="T9" fmla="*/ 0 h 119"/>
              <a:gd name="T10" fmla="*/ 26 w 119"/>
              <a:gd name="T11" fmla="*/ 10 h 119"/>
              <a:gd name="T12" fmla="*/ 10 w 119"/>
              <a:gd name="T13" fmla="*/ 26 h 119"/>
              <a:gd name="T14" fmla="*/ 0 w 119"/>
              <a:gd name="T15" fmla="*/ 48 h 119"/>
              <a:gd name="T16" fmla="*/ 0 w 119"/>
              <a:gd name="T17" fmla="*/ 71 h 119"/>
              <a:gd name="T18" fmla="*/ 10 w 119"/>
              <a:gd name="T19" fmla="*/ 92 h 119"/>
              <a:gd name="T20" fmla="*/ 26 w 119"/>
              <a:gd name="T21" fmla="*/ 109 h 119"/>
              <a:gd name="T22" fmla="*/ 48 w 119"/>
              <a:gd name="T23" fmla="*/ 117 h 119"/>
              <a:gd name="T24" fmla="*/ 71 w 119"/>
              <a:gd name="T25" fmla="*/ 117 h 119"/>
              <a:gd name="T26" fmla="*/ 93 w 119"/>
              <a:gd name="T27" fmla="*/ 109 h 119"/>
              <a:gd name="T28" fmla="*/ 109 w 119"/>
              <a:gd name="T29" fmla="*/ 92 h 119"/>
              <a:gd name="T30" fmla="*/ 117 w 119"/>
              <a:gd name="T31" fmla="*/ 71 h 119"/>
              <a:gd name="T32" fmla="*/ 114 w 119"/>
              <a:gd name="T33" fmla="*/ 59 h 119"/>
              <a:gd name="T34" fmla="*/ 109 w 119"/>
              <a:gd name="T35" fmla="*/ 81 h 119"/>
              <a:gd name="T36" fmla="*/ 97 w 119"/>
              <a:gd name="T37" fmla="*/ 97 h 119"/>
              <a:gd name="T38" fmla="*/ 81 w 119"/>
              <a:gd name="T39" fmla="*/ 111 h 119"/>
              <a:gd name="T40" fmla="*/ 59 w 119"/>
              <a:gd name="T41" fmla="*/ 114 h 119"/>
              <a:gd name="T42" fmla="*/ 38 w 119"/>
              <a:gd name="T43" fmla="*/ 111 h 119"/>
              <a:gd name="T44" fmla="*/ 20 w 119"/>
              <a:gd name="T45" fmla="*/ 97 h 119"/>
              <a:gd name="T46" fmla="*/ 8 w 119"/>
              <a:gd name="T47" fmla="*/ 81 h 119"/>
              <a:gd name="T48" fmla="*/ 5 w 119"/>
              <a:gd name="T49" fmla="*/ 59 h 119"/>
              <a:gd name="T50" fmla="*/ 8 w 119"/>
              <a:gd name="T51" fmla="*/ 38 h 119"/>
              <a:gd name="T52" fmla="*/ 20 w 119"/>
              <a:gd name="T53" fmla="*/ 19 h 119"/>
              <a:gd name="T54" fmla="*/ 38 w 119"/>
              <a:gd name="T55" fmla="*/ 8 h 119"/>
              <a:gd name="T56" fmla="*/ 59 w 119"/>
              <a:gd name="T57" fmla="*/ 5 h 119"/>
              <a:gd name="T58" fmla="*/ 81 w 119"/>
              <a:gd name="T59" fmla="*/ 8 h 119"/>
              <a:gd name="T60" fmla="*/ 97 w 119"/>
              <a:gd name="T61" fmla="*/ 19 h 119"/>
              <a:gd name="T62" fmla="*/ 109 w 119"/>
              <a:gd name="T63" fmla="*/ 38 h 119"/>
              <a:gd name="T64" fmla="*/ 114 w 119"/>
              <a:gd name="T65" fmla="*/ 59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9" h="119">
                <a:moveTo>
                  <a:pt x="119" y="59"/>
                </a:moveTo>
                <a:lnTo>
                  <a:pt x="117" y="48"/>
                </a:lnTo>
                <a:lnTo>
                  <a:pt x="114" y="36"/>
                </a:lnTo>
                <a:lnTo>
                  <a:pt x="109" y="26"/>
                </a:lnTo>
                <a:lnTo>
                  <a:pt x="101" y="16"/>
                </a:lnTo>
                <a:lnTo>
                  <a:pt x="93" y="10"/>
                </a:lnTo>
                <a:lnTo>
                  <a:pt x="83" y="5"/>
                </a:lnTo>
                <a:lnTo>
                  <a:pt x="71" y="0"/>
                </a:lnTo>
                <a:lnTo>
                  <a:pt x="59" y="0"/>
                </a:lnTo>
                <a:lnTo>
                  <a:pt x="48" y="0"/>
                </a:lnTo>
                <a:lnTo>
                  <a:pt x="36" y="5"/>
                </a:lnTo>
                <a:lnTo>
                  <a:pt x="26" y="10"/>
                </a:lnTo>
                <a:lnTo>
                  <a:pt x="16" y="16"/>
                </a:lnTo>
                <a:lnTo>
                  <a:pt x="10" y="26"/>
                </a:lnTo>
                <a:lnTo>
                  <a:pt x="5" y="36"/>
                </a:lnTo>
                <a:lnTo>
                  <a:pt x="0" y="48"/>
                </a:lnTo>
                <a:lnTo>
                  <a:pt x="0" y="59"/>
                </a:lnTo>
                <a:lnTo>
                  <a:pt x="0" y="71"/>
                </a:lnTo>
                <a:lnTo>
                  <a:pt x="5" y="82"/>
                </a:lnTo>
                <a:lnTo>
                  <a:pt x="10" y="92"/>
                </a:lnTo>
                <a:lnTo>
                  <a:pt x="16" y="101"/>
                </a:lnTo>
                <a:lnTo>
                  <a:pt x="26" y="109"/>
                </a:lnTo>
                <a:lnTo>
                  <a:pt x="36" y="114"/>
                </a:lnTo>
                <a:lnTo>
                  <a:pt x="48" y="117"/>
                </a:lnTo>
                <a:lnTo>
                  <a:pt x="59" y="119"/>
                </a:lnTo>
                <a:lnTo>
                  <a:pt x="71" y="117"/>
                </a:lnTo>
                <a:lnTo>
                  <a:pt x="83" y="114"/>
                </a:lnTo>
                <a:lnTo>
                  <a:pt x="93" y="109"/>
                </a:lnTo>
                <a:lnTo>
                  <a:pt x="101" y="101"/>
                </a:lnTo>
                <a:lnTo>
                  <a:pt x="109" y="92"/>
                </a:lnTo>
                <a:lnTo>
                  <a:pt x="114" y="82"/>
                </a:lnTo>
                <a:lnTo>
                  <a:pt x="117" y="71"/>
                </a:lnTo>
                <a:lnTo>
                  <a:pt x="119" y="59"/>
                </a:lnTo>
                <a:close/>
                <a:moveTo>
                  <a:pt x="114" y="59"/>
                </a:moveTo>
                <a:lnTo>
                  <a:pt x="112" y="71"/>
                </a:lnTo>
                <a:lnTo>
                  <a:pt x="109" y="81"/>
                </a:lnTo>
                <a:lnTo>
                  <a:pt x="104" y="89"/>
                </a:lnTo>
                <a:lnTo>
                  <a:pt x="97" y="97"/>
                </a:lnTo>
                <a:lnTo>
                  <a:pt x="89" y="104"/>
                </a:lnTo>
                <a:lnTo>
                  <a:pt x="81" y="111"/>
                </a:lnTo>
                <a:lnTo>
                  <a:pt x="71" y="112"/>
                </a:lnTo>
                <a:lnTo>
                  <a:pt x="59" y="114"/>
                </a:lnTo>
                <a:lnTo>
                  <a:pt x="48" y="112"/>
                </a:lnTo>
                <a:lnTo>
                  <a:pt x="38" y="111"/>
                </a:lnTo>
                <a:lnTo>
                  <a:pt x="28" y="104"/>
                </a:lnTo>
                <a:lnTo>
                  <a:pt x="20" y="97"/>
                </a:lnTo>
                <a:lnTo>
                  <a:pt x="13" y="89"/>
                </a:lnTo>
                <a:lnTo>
                  <a:pt x="8" y="81"/>
                </a:lnTo>
                <a:lnTo>
                  <a:pt x="5" y="71"/>
                </a:lnTo>
                <a:lnTo>
                  <a:pt x="5" y="59"/>
                </a:lnTo>
                <a:lnTo>
                  <a:pt x="5" y="48"/>
                </a:lnTo>
                <a:lnTo>
                  <a:pt x="8" y="38"/>
                </a:lnTo>
                <a:lnTo>
                  <a:pt x="13" y="28"/>
                </a:lnTo>
                <a:lnTo>
                  <a:pt x="20" y="19"/>
                </a:lnTo>
                <a:lnTo>
                  <a:pt x="28" y="13"/>
                </a:lnTo>
                <a:lnTo>
                  <a:pt x="38" y="8"/>
                </a:lnTo>
                <a:lnTo>
                  <a:pt x="48" y="5"/>
                </a:lnTo>
                <a:lnTo>
                  <a:pt x="59" y="5"/>
                </a:lnTo>
                <a:lnTo>
                  <a:pt x="71" y="5"/>
                </a:lnTo>
                <a:lnTo>
                  <a:pt x="81" y="8"/>
                </a:lnTo>
                <a:lnTo>
                  <a:pt x="89" y="13"/>
                </a:lnTo>
                <a:lnTo>
                  <a:pt x="97" y="19"/>
                </a:lnTo>
                <a:lnTo>
                  <a:pt x="104" y="28"/>
                </a:lnTo>
                <a:lnTo>
                  <a:pt x="109" y="38"/>
                </a:lnTo>
                <a:lnTo>
                  <a:pt x="112" y="48"/>
                </a:lnTo>
                <a:lnTo>
                  <a:pt x="114" y="59"/>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94" name="Freeform 1599">
            <a:extLst>
              <a:ext uri="{FF2B5EF4-FFF2-40B4-BE49-F238E27FC236}">
                <a16:creationId xmlns:a16="http://schemas.microsoft.com/office/drawing/2014/main" id="{5B0EE1C3-6862-B72C-C433-5E27469BAE3D}"/>
              </a:ext>
            </a:extLst>
          </p:cNvPr>
          <p:cNvSpPr>
            <a:spLocks noEditPoints="1"/>
          </p:cNvSpPr>
          <p:nvPr/>
        </p:nvSpPr>
        <p:spPr bwMode="auto">
          <a:xfrm>
            <a:off x="2822575" y="2468563"/>
            <a:ext cx="184150" cy="184150"/>
          </a:xfrm>
          <a:custGeom>
            <a:avLst/>
            <a:gdLst>
              <a:gd name="T0" fmla="*/ 115 w 116"/>
              <a:gd name="T1" fmla="*/ 47 h 116"/>
              <a:gd name="T2" fmla="*/ 106 w 116"/>
              <a:gd name="T3" fmla="*/ 25 h 116"/>
              <a:gd name="T4" fmla="*/ 90 w 116"/>
              <a:gd name="T5" fmla="*/ 10 h 116"/>
              <a:gd name="T6" fmla="*/ 70 w 116"/>
              <a:gd name="T7" fmla="*/ 2 h 116"/>
              <a:gd name="T8" fmla="*/ 47 w 116"/>
              <a:gd name="T9" fmla="*/ 2 h 116"/>
              <a:gd name="T10" fmla="*/ 25 w 116"/>
              <a:gd name="T11" fmla="*/ 10 h 116"/>
              <a:gd name="T12" fmla="*/ 10 w 116"/>
              <a:gd name="T13" fmla="*/ 25 h 116"/>
              <a:gd name="T14" fmla="*/ 2 w 116"/>
              <a:gd name="T15" fmla="*/ 47 h 116"/>
              <a:gd name="T16" fmla="*/ 2 w 116"/>
              <a:gd name="T17" fmla="*/ 70 h 116"/>
              <a:gd name="T18" fmla="*/ 10 w 116"/>
              <a:gd name="T19" fmla="*/ 90 h 116"/>
              <a:gd name="T20" fmla="*/ 25 w 116"/>
              <a:gd name="T21" fmla="*/ 106 h 116"/>
              <a:gd name="T22" fmla="*/ 47 w 116"/>
              <a:gd name="T23" fmla="*/ 114 h 116"/>
              <a:gd name="T24" fmla="*/ 70 w 116"/>
              <a:gd name="T25" fmla="*/ 114 h 116"/>
              <a:gd name="T26" fmla="*/ 90 w 116"/>
              <a:gd name="T27" fmla="*/ 106 h 116"/>
              <a:gd name="T28" fmla="*/ 106 w 116"/>
              <a:gd name="T29" fmla="*/ 90 h 116"/>
              <a:gd name="T30" fmla="*/ 115 w 116"/>
              <a:gd name="T31" fmla="*/ 70 h 116"/>
              <a:gd name="T32" fmla="*/ 111 w 116"/>
              <a:gd name="T33" fmla="*/ 58 h 116"/>
              <a:gd name="T34" fmla="*/ 106 w 116"/>
              <a:gd name="T35" fmla="*/ 78 h 116"/>
              <a:gd name="T36" fmla="*/ 95 w 116"/>
              <a:gd name="T37" fmla="*/ 95 h 116"/>
              <a:gd name="T38" fmla="*/ 78 w 116"/>
              <a:gd name="T39" fmla="*/ 106 h 116"/>
              <a:gd name="T40" fmla="*/ 58 w 116"/>
              <a:gd name="T41" fmla="*/ 111 h 116"/>
              <a:gd name="T42" fmla="*/ 37 w 116"/>
              <a:gd name="T43" fmla="*/ 106 h 116"/>
              <a:gd name="T44" fmla="*/ 20 w 116"/>
              <a:gd name="T45" fmla="*/ 95 h 116"/>
              <a:gd name="T46" fmla="*/ 10 w 116"/>
              <a:gd name="T47" fmla="*/ 78 h 116"/>
              <a:gd name="T48" fmla="*/ 5 w 116"/>
              <a:gd name="T49" fmla="*/ 58 h 116"/>
              <a:gd name="T50" fmla="*/ 10 w 116"/>
              <a:gd name="T51" fmla="*/ 38 h 116"/>
              <a:gd name="T52" fmla="*/ 20 w 116"/>
              <a:gd name="T53" fmla="*/ 20 h 116"/>
              <a:gd name="T54" fmla="*/ 37 w 116"/>
              <a:gd name="T55" fmla="*/ 10 h 116"/>
              <a:gd name="T56" fmla="*/ 58 w 116"/>
              <a:gd name="T57" fmla="*/ 5 h 116"/>
              <a:gd name="T58" fmla="*/ 78 w 116"/>
              <a:gd name="T59" fmla="*/ 10 h 116"/>
              <a:gd name="T60" fmla="*/ 95 w 116"/>
              <a:gd name="T61" fmla="*/ 20 h 116"/>
              <a:gd name="T62" fmla="*/ 106 w 116"/>
              <a:gd name="T63" fmla="*/ 38 h 116"/>
              <a:gd name="T64" fmla="*/ 111 w 116"/>
              <a:gd name="T65"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6" h="116">
                <a:moveTo>
                  <a:pt x="116" y="58"/>
                </a:moveTo>
                <a:lnTo>
                  <a:pt x="115" y="47"/>
                </a:lnTo>
                <a:lnTo>
                  <a:pt x="111" y="35"/>
                </a:lnTo>
                <a:lnTo>
                  <a:pt x="106" y="25"/>
                </a:lnTo>
                <a:lnTo>
                  <a:pt x="98" y="17"/>
                </a:lnTo>
                <a:lnTo>
                  <a:pt x="90" y="10"/>
                </a:lnTo>
                <a:lnTo>
                  <a:pt x="80" y="5"/>
                </a:lnTo>
                <a:lnTo>
                  <a:pt x="70" y="2"/>
                </a:lnTo>
                <a:lnTo>
                  <a:pt x="58" y="0"/>
                </a:lnTo>
                <a:lnTo>
                  <a:pt x="47" y="2"/>
                </a:lnTo>
                <a:lnTo>
                  <a:pt x="35" y="5"/>
                </a:lnTo>
                <a:lnTo>
                  <a:pt x="25" y="10"/>
                </a:lnTo>
                <a:lnTo>
                  <a:pt x="17" y="17"/>
                </a:lnTo>
                <a:lnTo>
                  <a:pt x="10" y="25"/>
                </a:lnTo>
                <a:lnTo>
                  <a:pt x="5" y="35"/>
                </a:lnTo>
                <a:lnTo>
                  <a:pt x="2" y="47"/>
                </a:lnTo>
                <a:lnTo>
                  <a:pt x="0" y="58"/>
                </a:lnTo>
                <a:lnTo>
                  <a:pt x="2" y="70"/>
                </a:lnTo>
                <a:lnTo>
                  <a:pt x="5" y="80"/>
                </a:lnTo>
                <a:lnTo>
                  <a:pt x="10" y="90"/>
                </a:lnTo>
                <a:lnTo>
                  <a:pt x="17" y="98"/>
                </a:lnTo>
                <a:lnTo>
                  <a:pt x="25" y="106"/>
                </a:lnTo>
                <a:lnTo>
                  <a:pt x="35" y="111"/>
                </a:lnTo>
                <a:lnTo>
                  <a:pt x="47" y="114"/>
                </a:lnTo>
                <a:lnTo>
                  <a:pt x="58" y="116"/>
                </a:lnTo>
                <a:lnTo>
                  <a:pt x="70" y="114"/>
                </a:lnTo>
                <a:lnTo>
                  <a:pt x="80" y="111"/>
                </a:lnTo>
                <a:lnTo>
                  <a:pt x="90" y="106"/>
                </a:lnTo>
                <a:lnTo>
                  <a:pt x="98" y="98"/>
                </a:lnTo>
                <a:lnTo>
                  <a:pt x="106" y="90"/>
                </a:lnTo>
                <a:lnTo>
                  <a:pt x="111" y="80"/>
                </a:lnTo>
                <a:lnTo>
                  <a:pt x="115" y="70"/>
                </a:lnTo>
                <a:lnTo>
                  <a:pt x="116" y="58"/>
                </a:lnTo>
                <a:close/>
                <a:moveTo>
                  <a:pt x="111" y="58"/>
                </a:moveTo>
                <a:lnTo>
                  <a:pt x="110" y="68"/>
                </a:lnTo>
                <a:lnTo>
                  <a:pt x="106" y="78"/>
                </a:lnTo>
                <a:lnTo>
                  <a:pt x="101" y="88"/>
                </a:lnTo>
                <a:lnTo>
                  <a:pt x="95" y="95"/>
                </a:lnTo>
                <a:lnTo>
                  <a:pt x="88" y="101"/>
                </a:lnTo>
                <a:lnTo>
                  <a:pt x="78" y="106"/>
                </a:lnTo>
                <a:lnTo>
                  <a:pt x="68" y="110"/>
                </a:lnTo>
                <a:lnTo>
                  <a:pt x="58" y="111"/>
                </a:lnTo>
                <a:lnTo>
                  <a:pt x="47" y="110"/>
                </a:lnTo>
                <a:lnTo>
                  <a:pt x="37" y="106"/>
                </a:lnTo>
                <a:lnTo>
                  <a:pt x="29" y="101"/>
                </a:lnTo>
                <a:lnTo>
                  <a:pt x="20" y="95"/>
                </a:lnTo>
                <a:lnTo>
                  <a:pt x="14" y="88"/>
                </a:lnTo>
                <a:lnTo>
                  <a:pt x="10" y="78"/>
                </a:lnTo>
                <a:lnTo>
                  <a:pt x="7" y="68"/>
                </a:lnTo>
                <a:lnTo>
                  <a:pt x="5" y="58"/>
                </a:lnTo>
                <a:lnTo>
                  <a:pt x="7" y="47"/>
                </a:lnTo>
                <a:lnTo>
                  <a:pt x="10" y="38"/>
                </a:lnTo>
                <a:lnTo>
                  <a:pt x="14" y="28"/>
                </a:lnTo>
                <a:lnTo>
                  <a:pt x="20" y="20"/>
                </a:lnTo>
                <a:lnTo>
                  <a:pt x="29" y="15"/>
                </a:lnTo>
                <a:lnTo>
                  <a:pt x="37" y="10"/>
                </a:lnTo>
                <a:lnTo>
                  <a:pt x="47" y="7"/>
                </a:lnTo>
                <a:lnTo>
                  <a:pt x="58" y="5"/>
                </a:lnTo>
                <a:lnTo>
                  <a:pt x="68" y="7"/>
                </a:lnTo>
                <a:lnTo>
                  <a:pt x="78" y="10"/>
                </a:lnTo>
                <a:lnTo>
                  <a:pt x="88" y="15"/>
                </a:lnTo>
                <a:lnTo>
                  <a:pt x="95" y="20"/>
                </a:lnTo>
                <a:lnTo>
                  <a:pt x="101" y="28"/>
                </a:lnTo>
                <a:lnTo>
                  <a:pt x="106" y="38"/>
                </a:lnTo>
                <a:lnTo>
                  <a:pt x="110" y="47"/>
                </a:lnTo>
                <a:lnTo>
                  <a:pt x="111" y="58"/>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95" name="Freeform 1600">
            <a:extLst>
              <a:ext uri="{FF2B5EF4-FFF2-40B4-BE49-F238E27FC236}">
                <a16:creationId xmlns:a16="http://schemas.microsoft.com/office/drawing/2014/main" id="{E62A9A6F-AE85-4111-A6CA-936E6E03360C}"/>
              </a:ext>
            </a:extLst>
          </p:cNvPr>
          <p:cNvSpPr>
            <a:spLocks noEditPoints="1"/>
          </p:cNvSpPr>
          <p:nvPr/>
        </p:nvSpPr>
        <p:spPr bwMode="auto">
          <a:xfrm>
            <a:off x="2828925" y="2474913"/>
            <a:ext cx="173038" cy="173038"/>
          </a:xfrm>
          <a:custGeom>
            <a:avLst/>
            <a:gdLst>
              <a:gd name="T0" fmla="*/ 107 w 109"/>
              <a:gd name="T1" fmla="*/ 43 h 109"/>
              <a:gd name="T2" fmla="*/ 99 w 109"/>
              <a:gd name="T3" fmla="*/ 23 h 109"/>
              <a:gd name="T4" fmla="*/ 84 w 109"/>
              <a:gd name="T5" fmla="*/ 8 h 109"/>
              <a:gd name="T6" fmla="*/ 66 w 109"/>
              <a:gd name="T7" fmla="*/ 0 h 109"/>
              <a:gd name="T8" fmla="*/ 43 w 109"/>
              <a:gd name="T9" fmla="*/ 0 h 109"/>
              <a:gd name="T10" fmla="*/ 23 w 109"/>
              <a:gd name="T11" fmla="*/ 8 h 109"/>
              <a:gd name="T12" fmla="*/ 8 w 109"/>
              <a:gd name="T13" fmla="*/ 23 h 109"/>
              <a:gd name="T14" fmla="*/ 0 w 109"/>
              <a:gd name="T15" fmla="*/ 43 h 109"/>
              <a:gd name="T16" fmla="*/ 0 w 109"/>
              <a:gd name="T17" fmla="*/ 66 h 109"/>
              <a:gd name="T18" fmla="*/ 8 w 109"/>
              <a:gd name="T19" fmla="*/ 84 h 109"/>
              <a:gd name="T20" fmla="*/ 23 w 109"/>
              <a:gd name="T21" fmla="*/ 99 h 109"/>
              <a:gd name="T22" fmla="*/ 43 w 109"/>
              <a:gd name="T23" fmla="*/ 107 h 109"/>
              <a:gd name="T24" fmla="*/ 66 w 109"/>
              <a:gd name="T25" fmla="*/ 107 h 109"/>
              <a:gd name="T26" fmla="*/ 84 w 109"/>
              <a:gd name="T27" fmla="*/ 99 h 109"/>
              <a:gd name="T28" fmla="*/ 99 w 109"/>
              <a:gd name="T29" fmla="*/ 84 h 109"/>
              <a:gd name="T30" fmla="*/ 107 w 109"/>
              <a:gd name="T31" fmla="*/ 66 h 109"/>
              <a:gd name="T32" fmla="*/ 104 w 109"/>
              <a:gd name="T33" fmla="*/ 54 h 109"/>
              <a:gd name="T34" fmla="*/ 101 w 109"/>
              <a:gd name="T35" fmla="*/ 74 h 109"/>
              <a:gd name="T36" fmla="*/ 89 w 109"/>
              <a:gd name="T37" fmla="*/ 89 h 109"/>
              <a:gd name="T38" fmla="*/ 74 w 109"/>
              <a:gd name="T39" fmla="*/ 101 h 109"/>
              <a:gd name="T40" fmla="*/ 54 w 109"/>
              <a:gd name="T41" fmla="*/ 104 h 109"/>
              <a:gd name="T42" fmla="*/ 35 w 109"/>
              <a:gd name="T43" fmla="*/ 101 h 109"/>
              <a:gd name="T44" fmla="*/ 18 w 109"/>
              <a:gd name="T45" fmla="*/ 89 h 109"/>
              <a:gd name="T46" fmla="*/ 8 w 109"/>
              <a:gd name="T47" fmla="*/ 74 h 109"/>
              <a:gd name="T48" fmla="*/ 3 w 109"/>
              <a:gd name="T49" fmla="*/ 54 h 109"/>
              <a:gd name="T50" fmla="*/ 8 w 109"/>
              <a:gd name="T51" fmla="*/ 34 h 109"/>
              <a:gd name="T52" fmla="*/ 18 w 109"/>
              <a:gd name="T53" fmla="*/ 18 h 109"/>
              <a:gd name="T54" fmla="*/ 35 w 109"/>
              <a:gd name="T55" fmla="*/ 8 h 109"/>
              <a:gd name="T56" fmla="*/ 54 w 109"/>
              <a:gd name="T57" fmla="*/ 5 h 109"/>
              <a:gd name="T58" fmla="*/ 74 w 109"/>
              <a:gd name="T59" fmla="*/ 8 h 109"/>
              <a:gd name="T60" fmla="*/ 89 w 109"/>
              <a:gd name="T61" fmla="*/ 18 h 109"/>
              <a:gd name="T62" fmla="*/ 101 w 109"/>
              <a:gd name="T63" fmla="*/ 34 h 109"/>
              <a:gd name="T64" fmla="*/ 104 w 109"/>
              <a:gd name="T65" fmla="*/ 54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09" h="109">
                <a:moveTo>
                  <a:pt x="109" y="54"/>
                </a:moveTo>
                <a:lnTo>
                  <a:pt x="107" y="43"/>
                </a:lnTo>
                <a:lnTo>
                  <a:pt x="104" y="33"/>
                </a:lnTo>
                <a:lnTo>
                  <a:pt x="99" y="23"/>
                </a:lnTo>
                <a:lnTo>
                  <a:pt x="92" y="14"/>
                </a:lnTo>
                <a:lnTo>
                  <a:pt x="84" y="8"/>
                </a:lnTo>
                <a:lnTo>
                  <a:pt x="76" y="3"/>
                </a:lnTo>
                <a:lnTo>
                  <a:pt x="66" y="0"/>
                </a:lnTo>
                <a:lnTo>
                  <a:pt x="54" y="0"/>
                </a:lnTo>
                <a:lnTo>
                  <a:pt x="43" y="0"/>
                </a:lnTo>
                <a:lnTo>
                  <a:pt x="33" y="3"/>
                </a:lnTo>
                <a:lnTo>
                  <a:pt x="23" y="8"/>
                </a:lnTo>
                <a:lnTo>
                  <a:pt x="15" y="14"/>
                </a:lnTo>
                <a:lnTo>
                  <a:pt x="8" y="23"/>
                </a:lnTo>
                <a:lnTo>
                  <a:pt x="3" y="33"/>
                </a:lnTo>
                <a:lnTo>
                  <a:pt x="0" y="43"/>
                </a:lnTo>
                <a:lnTo>
                  <a:pt x="0" y="54"/>
                </a:lnTo>
                <a:lnTo>
                  <a:pt x="0" y="66"/>
                </a:lnTo>
                <a:lnTo>
                  <a:pt x="3" y="76"/>
                </a:lnTo>
                <a:lnTo>
                  <a:pt x="8" y="84"/>
                </a:lnTo>
                <a:lnTo>
                  <a:pt x="15" y="92"/>
                </a:lnTo>
                <a:lnTo>
                  <a:pt x="23" y="99"/>
                </a:lnTo>
                <a:lnTo>
                  <a:pt x="33" y="106"/>
                </a:lnTo>
                <a:lnTo>
                  <a:pt x="43" y="107"/>
                </a:lnTo>
                <a:lnTo>
                  <a:pt x="54" y="109"/>
                </a:lnTo>
                <a:lnTo>
                  <a:pt x="66" y="107"/>
                </a:lnTo>
                <a:lnTo>
                  <a:pt x="76" y="106"/>
                </a:lnTo>
                <a:lnTo>
                  <a:pt x="84" y="99"/>
                </a:lnTo>
                <a:lnTo>
                  <a:pt x="92" y="92"/>
                </a:lnTo>
                <a:lnTo>
                  <a:pt x="99" y="84"/>
                </a:lnTo>
                <a:lnTo>
                  <a:pt x="104" y="76"/>
                </a:lnTo>
                <a:lnTo>
                  <a:pt x="107" y="66"/>
                </a:lnTo>
                <a:lnTo>
                  <a:pt x="109" y="54"/>
                </a:lnTo>
                <a:close/>
                <a:moveTo>
                  <a:pt x="104" y="54"/>
                </a:moveTo>
                <a:lnTo>
                  <a:pt x="104" y="64"/>
                </a:lnTo>
                <a:lnTo>
                  <a:pt x="101" y="74"/>
                </a:lnTo>
                <a:lnTo>
                  <a:pt x="96" y="82"/>
                </a:lnTo>
                <a:lnTo>
                  <a:pt x="89" y="89"/>
                </a:lnTo>
                <a:lnTo>
                  <a:pt x="83" y="96"/>
                </a:lnTo>
                <a:lnTo>
                  <a:pt x="74" y="101"/>
                </a:lnTo>
                <a:lnTo>
                  <a:pt x="64" y="104"/>
                </a:lnTo>
                <a:lnTo>
                  <a:pt x="54" y="104"/>
                </a:lnTo>
                <a:lnTo>
                  <a:pt x="44" y="104"/>
                </a:lnTo>
                <a:lnTo>
                  <a:pt x="35" y="101"/>
                </a:lnTo>
                <a:lnTo>
                  <a:pt x="26" y="96"/>
                </a:lnTo>
                <a:lnTo>
                  <a:pt x="18" y="89"/>
                </a:lnTo>
                <a:lnTo>
                  <a:pt x="13" y="82"/>
                </a:lnTo>
                <a:lnTo>
                  <a:pt x="8" y="74"/>
                </a:lnTo>
                <a:lnTo>
                  <a:pt x="5" y="64"/>
                </a:lnTo>
                <a:lnTo>
                  <a:pt x="3" y="54"/>
                </a:lnTo>
                <a:lnTo>
                  <a:pt x="5" y="44"/>
                </a:lnTo>
                <a:lnTo>
                  <a:pt x="8" y="34"/>
                </a:lnTo>
                <a:lnTo>
                  <a:pt x="13" y="26"/>
                </a:lnTo>
                <a:lnTo>
                  <a:pt x="18" y="18"/>
                </a:lnTo>
                <a:lnTo>
                  <a:pt x="26" y="13"/>
                </a:lnTo>
                <a:lnTo>
                  <a:pt x="35" y="8"/>
                </a:lnTo>
                <a:lnTo>
                  <a:pt x="44" y="5"/>
                </a:lnTo>
                <a:lnTo>
                  <a:pt x="54" y="5"/>
                </a:lnTo>
                <a:lnTo>
                  <a:pt x="64" y="5"/>
                </a:lnTo>
                <a:lnTo>
                  <a:pt x="74" y="8"/>
                </a:lnTo>
                <a:lnTo>
                  <a:pt x="83" y="13"/>
                </a:lnTo>
                <a:lnTo>
                  <a:pt x="89" y="18"/>
                </a:lnTo>
                <a:lnTo>
                  <a:pt x="96" y="26"/>
                </a:lnTo>
                <a:lnTo>
                  <a:pt x="101" y="34"/>
                </a:lnTo>
                <a:lnTo>
                  <a:pt x="104" y="44"/>
                </a:lnTo>
                <a:lnTo>
                  <a:pt x="104" y="54"/>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96" name="Freeform 1601">
            <a:extLst>
              <a:ext uri="{FF2B5EF4-FFF2-40B4-BE49-F238E27FC236}">
                <a16:creationId xmlns:a16="http://schemas.microsoft.com/office/drawing/2014/main" id="{EB019396-ABAF-6A22-4756-C5489C138A26}"/>
              </a:ext>
            </a:extLst>
          </p:cNvPr>
          <p:cNvSpPr>
            <a:spLocks noEditPoints="1"/>
          </p:cNvSpPr>
          <p:nvPr/>
        </p:nvSpPr>
        <p:spPr bwMode="auto">
          <a:xfrm>
            <a:off x="2830513" y="2476500"/>
            <a:ext cx="168275" cy="168275"/>
          </a:xfrm>
          <a:custGeom>
            <a:avLst/>
            <a:gdLst>
              <a:gd name="T0" fmla="*/ 105 w 106"/>
              <a:gd name="T1" fmla="*/ 42 h 106"/>
              <a:gd name="T2" fmla="*/ 96 w 106"/>
              <a:gd name="T3" fmla="*/ 23 h 106"/>
              <a:gd name="T4" fmla="*/ 83 w 106"/>
              <a:gd name="T5" fmla="*/ 10 h 106"/>
              <a:gd name="T6" fmla="*/ 63 w 106"/>
              <a:gd name="T7" fmla="*/ 2 h 106"/>
              <a:gd name="T8" fmla="*/ 42 w 106"/>
              <a:gd name="T9" fmla="*/ 2 h 106"/>
              <a:gd name="T10" fmla="*/ 24 w 106"/>
              <a:gd name="T11" fmla="*/ 10 h 106"/>
              <a:gd name="T12" fmla="*/ 9 w 106"/>
              <a:gd name="T13" fmla="*/ 23 h 106"/>
              <a:gd name="T14" fmla="*/ 2 w 106"/>
              <a:gd name="T15" fmla="*/ 42 h 106"/>
              <a:gd name="T16" fmla="*/ 2 w 106"/>
              <a:gd name="T17" fmla="*/ 63 h 106"/>
              <a:gd name="T18" fmla="*/ 9 w 106"/>
              <a:gd name="T19" fmla="*/ 83 h 106"/>
              <a:gd name="T20" fmla="*/ 24 w 106"/>
              <a:gd name="T21" fmla="*/ 96 h 106"/>
              <a:gd name="T22" fmla="*/ 42 w 106"/>
              <a:gd name="T23" fmla="*/ 105 h 106"/>
              <a:gd name="T24" fmla="*/ 63 w 106"/>
              <a:gd name="T25" fmla="*/ 105 h 106"/>
              <a:gd name="T26" fmla="*/ 83 w 106"/>
              <a:gd name="T27" fmla="*/ 96 h 106"/>
              <a:gd name="T28" fmla="*/ 96 w 106"/>
              <a:gd name="T29" fmla="*/ 83 h 106"/>
              <a:gd name="T30" fmla="*/ 105 w 106"/>
              <a:gd name="T31" fmla="*/ 63 h 106"/>
              <a:gd name="T32" fmla="*/ 101 w 106"/>
              <a:gd name="T33" fmla="*/ 53 h 106"/>
              <a:gd name="T34" fmla="*/ 96 w 106"/>
              <a:gd name="T35" fmla="*/ 71 h 106"/>
              <a:gd name="T36" fmla="*/ 87 w 106"/>
              <a:gd name="T37" fmla="*/ 86 h 106"/>
              <a:gd name="T38" fmla="*/ 72 w 106"/>
              <a:gd name="T39" fmla="*/ 98 h 106"/>
              <a:gd name="T40" fmla="*/ 53 w 106"/>
              <a:gd name="T41" fmla="*/ 101 h 106"/>
              <a:gd name="T42" fmla="*/ 35 w 106"/>
              <a:gd name="T43" fmla="*/ 98 h 106"/>
              <a:gd name="T44" fmla="*/ 19 w 106"/>
              <a:gd name="T45" fmla="*/ 86 h 106"/>
              <a:gd name="T46" fmla="*/ 9 w 106"/>
              <a:gd name="T47" fmla="*/ 71 h 106"/>
              <a:gd name="T48" fmla="*/ 5 w 106"/>
              <a:gd name="T49" fmla="*/ 53 h 106"/>
              <a:gd name="T50" fmla="*/ 9 w 106"/>
              <a:gd name="T51" fmla="*/ 35 h 106"/>
              <a:gd name="T52" fmla="*/ 19 w 106"/>
              <a:gd name="T53" fmla="*/ 18 h 106"/>
              <a:gd name="T54" fmla="*/ 35 w 106"/>
              <a:gd name="T55" fmla="*/ 8 h 106"/>
              <a:gd name="T56" fmla="*/ 53 w 106"/>
              <a:gd name="T57" fmla="*/ 5 h 106"/>
              <a:gd name="T58" fmla="*/ 72 w 106"/>
              <a:gd name="T59" fmla="*/ 8 h 106"/>
              <a:gd name="T60" fmla="*/ 87 w 106"/>
              <a:gd name="T61" fmla="*/ 18 h 106"/>
              <a:gd name="T62" fmla="*/ 96 w 106"/>
              <a:gd name="T63" fmla="*/ 35 h 106"/>
              <a:gd name="T64" fmla="*/ 101 w 106"/>
              <a:gd name="T65" fmla="*/ 53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06" h="106">
                <a:moveTo>
                  <a:pt x="106" y="53"/>
                </a:moveTo>
                <a:lnTo>
                  <a:pt x="105" y="42"/>
                </a:lnTo>
                <a:lnTo>
                  <a:pt x="101" y="33"/>
                </a:lnTo>
                <a:lnTo>
                  <a:pt x="96" y="23"/>
                </a:lnTo>
                <a:lnTo>
                  <a:pt x="90" y="15"/>
                </a:lnTo>
                <a:lnTo>
                  <a:pt x="83" y="10"/>
                </a:lnTo>
                <a:lnTo>
                  <a:pt x="73" y="5"/>
                </a:lnTo>
                <a:lnTo>
                  <a:pt x="63" y="2"/>
                </a:lnTo>
                <a:lnTo>
                  <a:pt x="53" y="0"/>
                </a:lnTo>
                <a:lnTo>
                  <a:pt x="42" y="2"/>
                </a:lnTo>
                <a:lnTo>
                  <a:pt x="32" y="5"/>
                </a:lnTo>
                <a:lnTo>
                  <a:pt x="24" y="10"/>
                </a:lnTo>
                <a:lnTo>
                  <a:pt x="15" y="15"/>
                </a:lnTo>
                <a:lnTo>
                  <a:pt x="9" y="23"/>
                </a:lnTo>
                <a:lnTo>
                  <a:pt x="5" y="33"/>
                </a:lnTo>
                <a:lnTo>
                  <a:pt x="2" y="42"/>
                </a:lnTo>
                <a:lnTo>
                  <a:pt x="0" y="53"/>
                </a:lnTo>
                <a:lnTo>
                  <a:pt x="2" y="63"/>
                </a:lnTo>
                <a:lnTo>
                  <a:pt x="5" y="73"/>
                </a:lnTo>
                <a:lnTo>
                  <a:pt x="9" y="83"/>
                </a:lnTo>
                <a:lnTo>
                  <a:pt x="15" y="90"/>
                </a:lnTo>
                <a:lnTo>
                  <a:pt x="24" y="96"/>
                </a:lnTo>
                <a:lnTo>
                  <a:pt x="32" y="101"/>
                </a:lnTo>
                <a:lnTo>
                  <a:pt x="42" y="105"/>
                </a:lnTo>
                <a:lnTo>
                  <a:pt x="53" y="106"/>
                </a:lnTo>
                <a:lnTo>
                  <a:pt x="63" y="105"/>
                </a:lnTo>
                <a:lnTo>
                  <a:pt x="73" y="101"/>
                </a:lnTo>
                <a:lnTo>
                  <a:pt x="83" y="96"/>
                </a:lnTo>
                <a:lnTo>
                  <a:pt x="90" y="90"/>
                </a:lnTo>
                <a:lnTo>
                  <a:pt x="96" y="83"/>
                </a:lnTo>
                <a:lnTo>
                  <a:pt x="101" y="73"/>
                </a:lnTo>
                <a:lnTo>
                  <a:pt x="105" y="63"/>
                </a:lnTo>
                <a:lnTo>
                  <a:pt x="106" y="53"/>
                </a:lnTo>
                <a:close/>
                <a:moveTo>
                  <a:pt x="101" y="53"/>
                </a:moveTo>
                <a:lnTo>
                  <a:pt x="100" y="63"/>
                </a:lnTo>
                <a:lnTo>
                  <a:pt x="96" y="71"/>
                </a:lnTo>
                <a:lnTo>
                  <a:pt x="93" y="80"/>
                </a:lnTo>
                <a:lnTo>
                  <a:pt x="87" y="86"/>
                </a:lnTo>
                <a:lnTo>
                  <a:pt x="80" y="93"/>
                </a:lnTo>
                <a:lnTo>
                  <a:pt x="72" y="98"/>
                </a:lnTo>
                <a:lnTo>
                  <a:pt x="63" y="100"/>
                </a:lnTo>
                <a:lnTo>
                  <a:pt x="53" y="101"/>
                </a:lnTo>
                <a:lnTo>
                  <a:pt x="43" y="100"/>
                </a:lnTo>
                <a:lnTo>
                  <a:pt x="35" y="98"/>
                </a:lnTo>
                <a:lnTo>
                  <a:pt x="27" y="93"/>
                </a:lnTo>
                <a:lnTo>
                  <a:pt x="19" y="86"/>
                </a:lnTo>
                <a:lnTo>
                  <a:pt x="14" y="80"/>
                </a:lnTo>
                <a:lnTo>
                  <a:pt x="9" y="71"/>
                </a:lnTo>
                <a:lnTo>
                  <a:pt x="7" y="63"/>
                </a:lnTo>
                <a:lnTo>
                  <a:pt x="5" y="53"/>
                </a:lnTo>
                <a:lnTo>
                  <a:pt x="7" y="43"/>
                </a:lnTo>
                <a:lnTo>
                  <a:pt x="9" y="35"/>
                </a:lnTo>
                <a:lnTo>
                  <a:pt x="14" y="27"/>
                </a:lnTo>
                <a:lnTo>
                  <a:pt x="19" y="18"/>
                </a:lnTo>
                <a:lnTo>
                  <a:pt x="27" y="13"/>
                </a:lnTo>
                <a:lnTo>
                  <a:pt x="35" y="8"/>
                </a:lnTo>
                <a:lnTo>
                  <a:pt x="43" y="7"/>
                </a:lnTo>
                <a:lnTo>
                  <a:pt x="53" y="5"/>
                </a:lnTo>
                <a:lnTo>
                  <a:pt x="63" y="7"/>
                </a:lnTo>
                <a:lnTo>
                  <a:pt x="72" y="8"/>
                </a:lnTo>
                <a:lnTo>
                  <a:pt x="80" y="13"/>
                </a:lnTo>
                <a:lnTo>
                  <a:pt x="87" y="18"/>
                </a:lnTo>
                <a:lnTo>
                  <a:pt x="93" y="27"/>
                </a:lnTo>
                <a:lnTo>
                  <a:pt x="96" y="35"/>
                </a:lnTo>
                <a:lnTo>
                  <a:pt x="100" y="43"/>
                </a:lnTo>
                <a:lnTo>
                  <a:pt x="101" y="53"/>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97" name="Freeform 1602">
            <a:extLst>
              <a:ext uri="{FF2B5EF4-FFF2-40B4-BE49-F238E27FC236}">
                <a16:creationId xmlns:a16="http://schemas.microsoft.com/office/drawing/2014/main" id="{D09C91B0-69CD-87BF-3CE6-A6C762D2160D}"/>
              </a:ext>
            </a:extLst>
          </p:cNvPr>
          <p:cNvSpPr>
            <a:spLocks noEditPoints="1"/>
          </p:cNvSpPr>
          <p:nvPr/>
        </p:nvSpPr>
        <p:spPr bwMode="auto">
          <a:xfrm>
            <a:off x="2833688" y="2482850"/>
            <a:ext cx="160338" cy="157163"/>
          </a:xfrm>
          <a:custGeom>
            <a:avLst/>
            <a:gdLst>
              <a:gd name="T0" fmla="*/ 101 w 101"/>
              <a:gd name="T1" fmla="*/ 39 h 99"/>
              <a:gd name="T2" fmla="*/ 93 w 101"/>
              <a:gd name="T3" fmla="*/ 21 h 99"/>
              <a:gd name="T4" fmla="*/ 80 w 101"/>
              <a:gd name="T5" fmla="*/ 8 h 99"/>
              <a:gd name="T6" fmla="*/ 61 w 101"/>
              <a:gd name="T7" fmla="*/ 0 h 99"/>
              <a:gd name="T8" fmla="*/ 41 w 101"/>
              <a:gd name="T9" fmla="*/ 0 h 99"/>
              <a:gd name="T10" fmla="*/ 23 w 101"/>
              <a:gd name="T11" fmla="*/ 8 h 99"/>
              <a:gd name="T12" fmla="*/ 10 w 101"/>
              <a:gd name="T13" fmla="*/ 21 h 99"/>
              <a:gd name="T14" fmla="*/ 2 w 101"/>
              <a:gd name="T15" fmla="*/ 39 h 99"/>
              <a:gd name="T16" fmla="*/ 2 w 101"/>
              <a:gd name="T17" fmla="*/ 59 h 99"/>
              <a:gd name="T18" fmla="*/ 10 w 101"/>
              <a:gd name="T19" fmla="*/ 77 h 99"/>
              <a:gd name="T20" fmla="*/ 23 w 101"/>
              <a:gd name="T21" fmla="*/ 91 h 99"/>
              <a:gd name="T22" fmla="*/ 41 w 101"/>
              <a:gd name="T23" fmla="*/ 99 h 99"/>
              <a:gd name="T24" fmla="*/ 61 w 101"/>
              <a:gd name="T25" fmla="*/ 99 h 99"/>
              <a:gd name="T26" fmla="*/ 80 w 101"/>
              <a:gd name="T27" fmla="*/ 91 h 99"/>
              <a:gd name="T28" fmla="*/ 93 w 101"/>
              <a:gd name="T29" fmla="*/ 77 h 99"/>
              <a:gd name="T30" fmla="*/ 101 w 101"/>
              <a:gd name="T31" fmla="*/ 59 h 99"/>
              <a:gd name="T32" fmla="*/ 96 w 101"/>
              <a:gd name="T33" fmla="*/ 49 h 99"/>
              <a:gd name="T34" fmla="*/ 93 w 101"/>
              <a:gd name="T35" fmla="*/ 67 h 99"/>
              <a:gd name="T36" fmla="*/ 83 w 101"/>
              <a:gd name="T37" fmla="*/ 81 h 99"/>
              <a:gd name="T38" fmla="*/ 70 w 101"/>
              <a:gd name="T39" fmla="*/ 91 h 99"/>
              <a:gd name="T40" fmla="*/ 51 w 101"/>
              <a:gd name="T41" fmla="*/ 94 h 99"/>
              <a:gd name="T42" fmla="*/ 33 w 101"/>
              <a:gd name="T43" fmla="*/ 91 h 99"/>
              <a:gd name="T44" fmla="*/ 18 w 101"/>
              <a:gd name="T45" fmla="*/ 81 h 99"/>
              <a:gd name="T46" fmla="*/ 10 w 101"/>
              <a:gd name="T47" fmla="*/ 67 h 99"/>
              <a:gd name="T48" fmla="*/ 5 w 101"/>
              <a:gd name="T49" fmla="*/ 49 h 99"/>
              <a:gd name="T50" fmla="*/ 10 w 101"/>
              <a:gd name="T51" fmla="*/ 31 h 99"/>
              <a:gd name="T52" fmla="*/ 18 w 101"/>
              <a:gd name="T53" fmla="*/ 16 h 99"/>
              <a:gd name="T54" fmla="*/ 33 w 101"/>
              <a:gd name="T55" fmla="*/ 8 h 99"/>
              <a:gd name="T56" fmla="*/ 51 w 101"/>
              <a:gd name="T57" fmla="*/ 3 h 99"/>
              <a:gd name="T58" fmla="*/ 70 w 101"/>
              <a:gd name="T59" fmla="*/ 8 h 99"/>
              <a:gd name="T60" fmla="*/ 83 w 101"/>
              <a:gd name="T61" fmla="*/ 16 h 99"/>
              <a:gd name="T62" fmla="*/ 93 w 101"/>
              <a:gd name="T63" fmla="*/ 31 h 99"/>
              <a:gd name="T64" fmla="*/ 96 w 101"/>
              <a:gd name="T65" fmla="*/ 49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01" h="99">
                <a:moveTo>
                  <a:pt x="101" y="49"/>
                </a:moveTo>
                <a:lnTo>
                  <a:pt x="101" y="39"/>
                </a:lnTo>
                <a:lnTo>
                  <a:pt x="98" y="29"/>
                </a:lnTo>
                <a:lnTo>
                  <a:pt x="93" y="21"/>
                </a:lnTo>
                <a:lnTo>
                  <a:pt x="86" y="13"/>
                </a:lnTo>
                <a:lnTo>
                  <a:pt x="80" y="8"/>
                </a:lnTo>
                <a:lnTo>
                  <a:pt x="71" y="3"/>
                </a:lnTo>
                <a:lnTo>
                  <a:pt x="61" y="0"/>
                </a:lnTo>
                <a:lnTo>
                  <a:pt x="51" y="0"/>
                </a:lnTo>
                <a:lnTo>
                  <a:pt x="41" y="0"/>
                </a:lnTo>
                <a:lnTo>
                  <a:pt x="32" y="3"/>
                </a:lnTo>
                <a:lnTo>
                  <a:pt x="23" y="8"/>
                </a:lnTo>
                <a:lnTo>
                  <a:pt x="15" y="13"/>
                </a:lnTo>
                <a:lnTo>
                  <a:pt x="10" y="21"/>
                </a:lnTo>
                <a:lnTo>
                  <a:pt x="5" y="29"/>
                </a:lnTo>
                <a:lnTo>
                  <a:pt x="2" y="39"/>
                </a:lnTo>
                <a:lnTo>
                  <a:pt x="0" y="49"/>
                </a:lnTo>
                <a:lnTo>
                  <a:pt x="2" y="59"/>
                </a:lnTo>
                <a:lnTo>
                  <a:pt x="5" y="69"/>
                </a:lnTo>
                <a:lnTo>
                  <a:pt x="10" y="77"/>
                </a:lnTo>
                <a:lnTo>
                  <a:pt x="15" y="84"/>
                </a:lnTo>
                <a:lnTo>
                  <a:pt x="23" y="91"/>
                </a:lnTo>
                <a:lnTo>
                  <a:pt x="32" y="96"/>
                </a:lnTo>
                <a:lnTo>
                  <a:pt x="41" y="99"/>
                </a:lnTo>
                <a:lnTo>
                  <a:pt x="51" y="99"/>
                </a:lnTo>
                <a:lnTo>
                  <a:pt x="61" y="99"/>
                </a:lnTo>
                <a:lnTo>
                  <a:pt x="71" y="96"/>
                </a:lnTo>
                <a:lnTo>
                  <a:pt x="80" y="91"/>
                </a:lnTo>
                <a:lnTo>
                  <a:pt x="86" y="84"/>
                </a:lnTo>
                <a:lnTo>
                  <a:pt x="93" y="77"/>
                </a:lnTo>
                <a:lnTo>
                  <a:pt x="98" y="69"/>
                </a:lnTo>
                <a:lnTo>
                  <a:pt x="101" y="59"/>
                </a:lnTo>
                <a:lnTo>
                  <a:pt x="101" y="49"/>
                </a:lnTo>
                <a:close/>
                <a:moveTo>
                  <a:pt x="96" y="49"/>
                </a:moveTo>
                <a:lnTo>
                  <a:pt x="96" y="57"/>
                </a:lnTo>
                <a:lnTo>
                  <a:pt x="93" y="67"/>
                </a:lnTo>
                <a:lnTo>
                  <a:pt x="89" y="74"/>
                </a:lnTo>
                <a:lnTo>
                  <a:pt x="83" y="81"/>
                </a:lnTo>
                <a:lnTo>
                  <a:pt x="76" y="87"/>
                </a:lnTo>
                <a:lnTo>
                  <a:pt x="70" y="91"/>
                </a:lnTo>
                <a:lnTo>
                  <a:pt x="60" y="94"/>
                </a:lnTo>
                <a:lnTo>
                  <a:pt x="51" y="94"/>
                </a:lnTo>
                <a:lnTo>
                  <a:pt x="41" y="94"/>
                </a:lnTo>
                <a:lnTo>
                  <a:pt x="33" y="91"/>
                </a:lnTo>
                <a:lnTo>
                  <a:pt x="25" y="87"/>
                </a:lnTo>
                <a:lnTo>
                  <a:pt x="18" y="81"/>
                </a:lnTo>
                <a:lnTo>
                  <a:pt x="13" y="74"/>
                </a:lnTo>
                <a:lnTo>
                  <a:pt x="10" y="67"/>
                </a:lnTo>
                <a:lnTo>
                  <a:pt x="7" y="57"/>
                </a:lnTo>
                <a:lnTo>
                  <a:pt x="5" y="49"/>
                </a:lnTo>
                <a:lnTo>
                  <a:pt x="7" y="39"/>
                </a:lnTo>
                <a:lnTo>
                  <a:pt x="10" y="31"/>
                </a:lnTo>
                <a:lnTo>
                  <a:pt x="13" y="24"/>
                </a:lnTo>
                <a:lnTo>
                  <a:pt x="18" y="16"/>
                </a:lnTo>
                <a:lnTo>
                  <a:pt x="25" y="11"/>
                </a:lnTo>
                <a:lnTo>
                  <a:pt x="33" y="8"/>
                </a:lnTo>
                <a:lnTo>
                  <a:pt x="41" y="4"/>
                </a:lnTo>
                <a:lnTo>
                  <a:pt x="51" y="3"/>
                </a:lnTo>
                <a:lnTo>
                  <a:pt x="60" y="4"/>
                </a:lnTo>
                <a:lnTo>
                  <a:pt x="70" y="8"/>
                </a:lnTo>
                <a:lnTo>
                  <a:pt x="76" y="11"/>
                </a:lnTo>
                <a:lnTo>
                  <a:pt x="83" y="16"/>
                </a:lnTo>
                <a:lnTo>
                  <a:pt x="89" y="24"/>
                </a:lnTo>
                <a:lnTo>
                  <a:pt x="93" y="31"/>
                </a:lnTo>
                <a:lnTo>
                  <a:pt x="96" y="39"/>
                </a:lnTo>
                <a:lnTo>
                  <a:pt x="96" y="49"/>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98" name="Freeform 1603">
            <a:extLst>
              <a:ext uri="{FF2B5EF4-FFF2-40B4-BE49-F238E27FC236}">
                <a16:creationId xmlns:a16="http://schemas.microsoft.com/office/drawing/2014/main" id="{1971BCDC-EE57-62DD-42D8-0AF85FA017A1}"/>
              </a:ext>
            </a:extLst>
          </p:cNvPr>
          <p:cNvSpPr>
            <a:spLocks noEditPoints="1"/>
          </p:cNvSpPr>
          <p:nvPr/>
        </p:nvSpPr>
        <p:spPr bwMode="auto">
          <a:xfrm>
            <a:off x="2838450" y="2484438"/>
            <a:ext cx="152400" cy="152400"/>
          </a:xfrm>
          <a:custGeom>
            <a:avLst/>
            <a:gdLst>
              <a:gd name="T0" fmla="*/ 95 w 96"/>
              <a:gd name="T1" fmla="*/ 38 h 96"/>
              <a:gd name="T2" fmla="*/ 88 w 96"/>
              <a:gd name="T3" fmla="*/ 22 h 96"/>
              <a:gd name="T4" fmla="*/ 75 w 96"/>
              <a:gd name="T5" fmla="*/ 8 h 96"/>
              <a:gd name="T6" fmla="*/ 58 w 96"/>
              <a:gd name="T7" fmla="*/ 2 h 96"/>
              <a:gd name="T8" fmla="*/ 38 w 96"/>
              <a:gd name="T9" fmla="*/ 2 h 96"/>
              <a:gd name="T10" fmla="*/ 22 w 96"/>
              <a:gd name="T11" fmla="*/ 8 h 96"/>
              <a:gd name="T12" fmla="*/ 9 w 96"/>
              <a:gd name="T13" fmla="*/ 22 h 96"/>
              <a:gd name="T14" fmla="*/ 2 w 96"/>
              <a:gd name="T15" fmla="*/ 38 h 96"/>
              <a:gd name="T16" fmla="*/ 2 w 96"/>
              <a:gd name="T17" fmla="*/ 58 h 96"/>
              <a:gd name="T18" fmla="*/ 9 w 96"/>
              <a:gd name="T19" fmla="*/ 75 h 96"/>
              <a:gd name="T20" fmla="*/ 22 w 96"/>
              <a:gd name="T21" fmla="*/ 88 h 96"/>
              <a:gd name="T22" fmla="*/ 38 w 96"/>
              <a:gd name="T23" fmla="*/ 95 h 96"/>
              <a:gd name="T24" fmla="*/ 58 w 96"/>
              <a:gd name="T25" fmla="*/ 95 h 96"/>
              <a:gd name="T26" fmla="*/ 75 w 96"/>
              <a:gd name="T27" fmla="*/ 88 h 96"/>
              <a:gd name="T28" fmla="*/ 88 w 96"/>
              <a:gd name="T29" fmla="*/ 75 h 96"/>
              <a:gd name="T30" fmla="*/ 95 w 96"/>
              <a:gd name="T31" fmla="*/ 58 h 96"/>
              <a:gd name="T32" fmla="*/ 91 w 96"/>
              <a:gd name="T33" fmla="*/ 48 h 96"/>
              <a:gd name="T34" fmla="*/ 88 w 96"/>
              <a:gd name="T35" fmla="*/ 65 h 96"/>
              <a:gd name="T36" fmla="*/ 78 w 96"/>
              <a:gd name="T37" fmla="*/ 78 h 96"/>
              <a:gd name="T38" fmla="*/ 65 w 96"/>
              <a:gd name="T39" fmla="*/ 88 h 96"/>
              <a:gd name="T40" fmla="*/ 48 w 96"/>
              <a:gd name="T41" fmla="*/ 91 h 96"/>
              <a:gd name="T42" fmla="*/ 32 w 96"/>
              <a:gd name="T43" fmla="*/ 88 h 96"/>
              <a:gd name="T44" fmla="*/ 17 w 96"/>
              <a:gd name="T45" fmla="*/ 78 h 96"/>
              <a:gd name="T46" fmla="*/ 9 w 96"/>
              <a:gd name="T47" fmla="*/ 65 h 96"/>
              <a:gd name="T48" fmla="*/ 5 w 96"/>
              <a:gd name="T49" fmla="*/ 48 h 96"/>
              <a:gd name="T50" fmla="*/ 9 w 96"/>
              <a:gd name="T51" fmla="*/ 32 h 96"/>
              <a:gd name="T52" fmla="*/ 17 w 96"/>
              <a:gd name="T53" fmla="*/ 17 h 96"/>
              <a:gd name="T54" fmla="*/ 32 w 96"/>
              <a:gd name="T55" fmla="*/ 8 h 96"/>
              <a:gd name="T56" fmla="*/ 48 w 96"/>
              <a:gd name="T57" fmla="*/ 5 h 96"/>
              <a:gd name="T58" fmla="*/ 65 w 96"/>
              <a:gd name="T59" fmla="*/ 8 h 96"/>
              <a:gd name="T60" fmla="*/ 78 w 96"/>
              <a:gd name="T61" fmla="*/ 17 h 96"/>
              <a:gd name="T62" fmla="*/ 88 w 96"/>
              <a:gd name="T63" fmla="*/ 32 h 96"/>
              <a:gd name="T64" fmla="*/ 91 w 96"/>
              <a:gd name="T65" fmla="*/ 48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96" h="96">
                <a:moveTo>
                  <a:pt x="96" y="48"/>
                </a:moveTo>
                <a:lnTo>
                  <a:pt x="95" y="38"/>
                </a:lnTo>
                <a:lnTo>
                  <a:pt x="91" y="30"/>
                </a:lnTo>
                <a:lnTo>
                  <a:pt x="88" y="22"/>
                </a:lnTo>
                <a:lnTo>
                  <a:pt x="82" y="13"/>
                </a:lnTo>
                <a:lnTo>
                  <a:pt x="75" y="8"/>
                </a:lnTo>
                <a:lnTo>
                  <a:pt x="67" y="3"/>
                </a:lnTo>
                <a:lnTo>
                  <a:pt x="58" y="2"/>
                </a:lnTo>
                <a:lnTo>
                  <a:pt x="48" y="0"/>
                </a:lnTo>
                <a:lnTo>
                  <a:pt x="38" y="2"/>
                </a:lnTo>
                <a:lnTo>
                  <a:pt x="30" y="3"/>
                </a:lnTo>
                <a:lnTo>
                  <a:pt x="22" y="8"/>
                </a:lnTo>
                <a:lnTo>
                  <a:pt x="14" y="13"/>
                </a:lnTo>
                <a:lnTo>
                  <a:pt x="9" y="22"/>
                </a:lnTo>
                <a:lnTo>
                  <a:pt x="4" y="30"/>
                </a:lnTo>
                <a:lnTo>
                  <a:pt x="2" y="38"/>
                </a:lnTo>
                <a:lnTo>
                  <a:pt x="0" y="48"/>
                </a:lnTo>
                <a:lnTo>
                  <a:pt x="2" y="58"/>
                </a:lnTo>
                <a:lnTo>
                  <a:pt x="4" y="66"/>
                </a:lnTo>
                <a:lnTo>
                  <a:pt x="9" y="75"/>
                </a:lnTo>
                <a:lnTo>
                  <a:pt x="14" y="81"/>
                </a:lnTo>
                <a:lnTo>
                  <a:pt x="22" y="88"/>
                </a:lnTo>
                <a:lnTo>
                  <a:pt x="30" y="93"/>
                </a:lnTo>
                <a:lnTo>
                  <a:pt x="38" y="95"/>
                </a:lnTo>
                <a:lnTo>
                  <a:pt x="48" y="96"/>
                </a:lnTo>
                <a:lnTo>
                  <a:pt x="58" y="95"/>
                </a:lnTo>
                <a:lnTo>
                  <a:pt x="67" y="93"/>
                </a:lnTo>
                <a:lnTo>
                  <a:pt x="75" y="88"/>
                </a:lnTo>
                <a:lnTo>
                  <a:pt x="82" y="81"/>
                </a:lnTo>
                <a:lnTo>
                  <a:pt x="88" y="75"/>
                </a:lnTo>
                <a:lnTo>
                  <a:pt x="91" y="66"/>
                </a:lnTo>
                <a:lnTo>
                  <a:pt x="95" y="58"/>
                </a:lnTo>
                <a:lnTo>
                  <a:pt x="96" y="48"/>
                </a:lnTo>
                <a:close/>
                <a:moveTo>
                  <a:pt x="91" y="48"/>
                </a:moveTo>
                <a:lnTo>
                  <a:pt x="90" y="56"/>
                </a:lnTo>
                <a:lnTo>
                  <a:pt x="88" y="65"/>
                </a:lnTo>
                <a:lnTo>
                  <a:pt x="83" y="71"/>
                </a:lnTo>
                <a:lnTo>
                  <a:pt x="78" y="78"/>
                </a:lnTo>
                <a:lnTo>
                  <a:pt x="72" y="83"/>
                </a:lnTo>
                <a:lnTo>
                  <a:pt x="65" y="88"/>
                </a:lnTo>
                <a:lnTo>
                  <a:pt x="57" y="90"/>
                </a:lnTo>
                <a:lnTo>
                  <a:pt x="48" y="91"/>
                </a:lnTo>
                <a:lnTo>
                  <a:pt x="40" y="90"/>
                </a:lnTo>
                <a:lnTo>
                  <a:pt x="32" y="88"/>
                </a:lnTo>
                <a:lnTo>
                  <a:pt x="24" y="83"/>
                </a:lnTo>
                <a:lnTo>
                  <a:pt x="17" y="78"/>
                </a:lnTo>
                <a:lnTo>
                  <a:pt x="12" y="71"/>
                </a:lnTo>
                <a:lnTo>
                  <a:pt x="9" y="65"/>
                </a:lnTo>
                <a:lnTo>
                  <a:pt x="5" y="56"/>
                </a:lnTo>
                <a:lnTo>
                  <a:pt x="5" y="48"/>
                </a:lnTo>
                <a:lnTo>
                  <a:pt x="5" y="40"/>
                </a:lnTo>
                <a:lnTo>
                  <a:pt x="9" y="32"/>
                </a:lnTo>
                <a:lnTo>
                  <a:pt x="12" y="23"/>
                </a:lnTo>
                <a:lnTo>
                  <a:pt x="17" y="17"/>
                </a:lnTo>
                <a:lnTo>
                  <a:pt x="24" y="12"/>
                </a:lnTo>
                <a:lnTo>
                  <a:pt x="32" y="8"/>
                </a:lnTo>
                <a:lnTo>
                  <a:pt x="40" y="5"/>
                </a:lnTo>
                <a:lnTo>
                  <a:pt x="48" y="5"/>
                </a:lnTo>
                <a:lnTo>
                  <a:pt x="57" y="5"/>
                </a:lnTo>
                <a:lnTo>
                  <a:pt x="65" y="8"/>
                </a:lnTo>
                <a:lnTo>
                  <a:pt x="72" y="12"/>
                </a:lnTo>
                <a:lnTo>
                  <a:pt x="78" y="17"/>
                </a:lnTo>
                <a:lnTo>
                  <a:pt x="83" y="23"/>
                </a:lnTo>
                <a:lnTo>
                  <a:pt x="88" y="32"/>
                </a:lnTo>
                <a:lnTo>
                  <a:pt x="90" y="40"/>
                </a:lnTo>
                <a:lnTo>
                  <a:pt x="91" y="48"/>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399" name="Freeform 1604">
            <a:extLst>
              <a:ext uri="{FF2B5EF4-FFF2-40B4-BE49-F238E27FC236}">
                <a16:creationId xmlns:a16="http://schemas.microsoft.com/office/drawing/2014/main" id="{D38EBC7B-29A2-3093-6644-FE43FFEC410D}"/>
              </a:ext>
            </a:extLst>
          </p:cNvPr>
          <p:cNvSpPr>
            <a:spLocks noEditPoints="1"/>
          </p:cNvSpPr>
          <p:nvPr/>
        </p:nvSpPr>
        <p:spPr bwMode="auto">
          <a:xfrm>
            <a:off x="2841625" y="2487613"/>
            <a:ext cx="144463" cy="144463"/>
          </a:xfrm>
          <a:custGeom>
            <a:avLst/>
            <a:gdLst>
              <a:gd name="T0" fmla="*/ 91 w 91"/>
              <a:gd name="T1" fmla="*/ 36 h 91"/>
              <a:gd name="T2" fmla="*/ 84 w 91"/>
              <a:gd name="T3" fmla="*/ 21 h 91"/>
              <a:gd name="T4" fmla="*/ 71 w 91"/>
              <a:gd name="T5" fmla="*/ 8 h 91"/>
              <a:gd name="T6" fmla="*/ 55 w 91"/>
              <a:gd name="T7" fmla="*/ 1 h 91"/>
              <a:gd name="T8" fmla="*/ 36 w 91"/>
              <a:gd name="T9" fmla="*/ 1 h 91"/>
              <a:gd name="T10" fmla="*/ 20 w 91"/>
              <a:gd name="T11" fmla="*/ 8 h 91"/>
              <a:gd name="T12" fmla="*/ 8 w 91"/>
              <a:gd name="T13" fmla="*/ 21 h 91"/>
              <a:gd name="T14" fmla="*/ 2 w 91"/>
              <a:gd name="T15" fmla="*/ 36 h 91"/>
              <a:gd name="T16" fmla="*/ 2 w 91"/>
              <a:gd name="T17" fmla="*/ 54 h 91"/>
              <a:gd name="T18" fmla="*/ 8 w 91"/>
              <a:gd name="T19" fmla="*/ 71 h 91"/>
              <a:gd name="T20" fmla="*/ 20 w 91"/>
              <a:gd name="T21" fmla="*/ 84 h 91"/>
              <a:gd name="T22" fmla="*/ 36 w 91"/>
              <a:gd name="T23" fmla="*/ 91 h 91"/>
              <a:gd name="T24" fmla="*/ 55 w 91"/>
              <a:gd name="T25" fmla="*/ 91 h 91"/>
              <a:gd name="T26" fmla="*/ 71 w 91"/>
              <a:gd name="T27" fmla="*/ 84 h 91"/>
              <a:gd name="T28" fmla="*/ 84 w 91"/>
              <a:gd name="T29" fmla="*/ 71 h 91"/>
              <a:gd name="T30" fmla="*/ 91 w 91"/>
              <a:gd name="T31" fmla="*/ 54 h 91"/>
              <a:gd name="T32" fmla="*/ 86 w 91"/>
              <a:gd name="T33" fmla="*/ 46 h 91"/>
              <a:gd name="T34" fmla="*/ 83 w 91"/>
              <a:gd name="T35" fmla="*/ 61 h 91"/>
              <a:gd name="T36" fmla="*/ 75 w 91"/>
              <a:gd name="T37" fmla="*/ 74 h 91"/>
              <a:gd name="T38" fmla="*/ 61 w 91"/>
              <a:gd name="T39" fmla="*/ 84 h 91"/>
              <a:gd name="T40" fmla="*/ 46 w 91"/>
              <a:gd name="T41" fmla="*/ 86 h 91"/>
              <a:gd name="T42" fmla="*/ 30 w 91"/>
              <a:gd name="T43" fmla="*/ 84 h 91"/>
              <a:gd name="T44" fmla="*/ 17 w 91"/>
              <a:gd name="T45" fmla="*/ 74 h 91"/>
              <a:gd name="T46" fmla="*/ 8 w 91"/>
              <a:gd name="T47" fmla="*/ 61 h 91"/>
              <a:gd name="T48" fmla="*/ 5 w 91"/>
              <a:gd name="T49" fmla="*/ 46 h 91"/>
              <a:gd name="T50" fmla="*/ 8 w 91"/>
              <a:gd name="T51" fmla="*/ 30 h 91"/>
              <a:gd name="T52" fmla="*/ 17 w 91"/>
              <a:gd name="T53" fmla="*/ 18 h 91"/>
              <a:gd name="T54" fmla="*/ 30 w 91"/>
              <a:gd name="T55" fmla="*/ 8 h 91"/>
              <a:gd name="T56" fmla="*/ 46 w 91"/>
              <a:gd name="T57" fmla="*/ 5 h 91"/>
              <a:gd name="T58" fmla="*/ 61 w 91"/>
              <a:gd name="T59" fmla="*/ 8 h 91"/>
              <a:gd name="T60" fmla="*/ 75 w 91"/>
              <a:gd name="T61" fmla="*/ 18 h 91"/>
              <a:gd name="T62" fmla="*/ 83 w 91"/>
              <a:gd name="T63" fmla="*/ 30 h 91"/>
              <a:gd name="T64" fmla="*/ 86 w 91"/>
              <a:gd name="T65" fmla="*/ 46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91" h="91">
                <a:moveTo>
                  <a:pt x="91" y="46"/>
                </a:moveTo>
                <a:lnTo>
                  <a:pt x="91" y="36"/>
                </a:lnTo>
                <a:lnTo>
                  <a:pt x="88" y="28"/>
                </a:lnTo>
                <a:lnTo>
                  <a:pt x="84" y="21"/>
                </a:lnTo>
                <a:lnTo>
                  <a:pt x="78" y="13"/>
                </a:lnTo>
                <a:lnTo>
                  <a:pt x="71" y="8"/>
                </a:lnTo>
                <a:lnTo>
                  <a:pt x="65" y="5"/>
                </a:lnTo>
                <a:lnTo>
                  <a:pt x="55" y="1"/>
                </a:lnTo>
                <a:lnTo>
                  <a:pt x="46" y="0"/>
                </a:lnTo>
                <a:lnTo>
                  <a:pt x="36" y="1"/>
                </a:lnTo>
                <a:lnTo>
                  <a:pt x="28" y="5"/>
                </a:lnTo>
                <a:lnTo>
                  <a:pt x="20" y="8"/>
                </a:lnTo>
                <a:lnTo>
                  <a:pt x="13" y="13"/>
                </a:lnTo>
                <a:lnTo>
                  <a:pt x="8" y="21"/>
                </a:lnTo>
                <a:lnTo>
                  <a:pt x="5" y="28"/>
                </a:lnTo>
                <a:lnTo>
                  <a:pt x="2" y="36"/>
                </a:lnTo>
                <a:lnTo>
                  <a:pt x="0" y="46"/>
                </a:lnTo>
                <a:lnTo>
                  <a:pt x="2" y="54"/>
                </a:lnTo>
                <a:lnTo>
                  <a:pt x="5" y="64"/>
                </a:lnTo>
                <a:lnTo>
                  <a:pt x="8" y="71"/>
                </a:lnTo>
                <a:lnTo>
                  <a:pt x="13" y="78"/>
                </a:lnTo>
                <a:lnTo>
                  <a:pt x="20" y="84"/>
                </a:lnTo>
                <a:lnTo>
                  <a:pt x="28" y="88"/>
                </a:lnTo>
                <a:lnTo>
                  <a:pt x="36" y="91"/>
                </a:lnTo>
                <a:lnTo>
                  <a:pt x="46" y="91"/>
                </a:lnTo>
                <a:lnTo>
                  <a:pt x="55" y="91"/>
                </a:lnTo>
                <a:lnTo>
                  <a:pt x="65" y="88"/>
                </a:lnTo>
                <a:lnTo>
                  <a:pt x="71" y="84"/>
                </a:lnTo>
                <a:lnTo>
                  <a:pt x="78" y="78"/>
                </a:lnTo>
                <a:lnTo>
                  <a:pt x="84" y="71"/>
                </a:lnTo>
                <a:lnTo>
                  <a:pt x="88" y="64"/>
                </a:lnTo>
                <a:lnTo>
                  <a:pt x="91" y="54"/>
                </a:lnTo>
                <a:lnTo>
                  <a:pt x="91" y="46"/>
                </a:lnTo>
                <a:close/>
                <a:moveTo>
                  <a:pt x="86" y="46"/>
                </a:moveTo>
                <a:lnTo>
                  <a:pt x="86" y="54"/>
                </a:lnTo>
                <a:lnTo>
                  <a:pt x="83" y="61"/>
                </a:lnTo>
                <a:lnTo>
                  <a:pt x="80" y="69"/>
                </a:lnTo>
                <a:lnTo>
                  <a:pt x="75" y="74"/>
                </a:lnTo>
                <a:lnTo>
                  <a:pt x="70" y="79"/>
                </a:lnTo>
                <a:lnTo>
                  <a:pt x="61" y="84"/>
                </a:lnTo>
                <a:lnTo>
                  <a:pt x="55" y="86"/>
                </a:lnTo>
                <a:lnTo>
                  <a:pt x="46" y="86"/>
                </a:lnTo>
                <a:lnTo>
                  <a:pt x="38" y="86"/>
                </a:lnTo>
                <a:lnTo>
                  <a:pt x="30" y="84"/>
                </a:lnTo>
                <a:lnTo>
                  <a:pt x="23" y="79"/>
                </a:lnTo>
                <a:lnTo>
                  <a:pt x="17" y="74"/>
                </a:lnTo>
                <a:lnTo>
                  <a:pt x="12" y="69"/>
                </a:lnTo>
                <a:lnTo>
                  <a:pt x="8" y="61"/>
                </a:lnTo>
                <a:lnTo>
                  <a:pt x="7" y="54"/>
                </a:lnTo>
                <a:lnTo>
                  <a:pt x="5" y="46"/>
                </a:lnTo>
                <a:lnTo>
                  <a:pt x="7" y="38"/>
                </a:lnTo>
                <a:lnTo>
                  <a:pt x="8" y="30"/>
                </a:lnTo>
                <a:lnTo>
                  <a:pt x="12" y="23"/>
                </a:lnTo>
                <a:lnTo>
                  <a:pt x="17" y="18"/>
                </a:lnTo>
                <a:lnTo>
                  <a:pt x="23" y="13"/>
                </a:lnTo>
                <a:lnTo>
                  <a:pt x="30" y="8"/>
                </a:lnTo>
                <a:lnTo>
                  <a:pt x="38" y="6"/>
                </a:lnTo>
                <a:lnTo>
                  <a:pt x="46" y="5"/>
                </a:lnTo>
                <a:lnTo>
                  <a:pt x="55" y="6"/>
                </a:lnTo>
                <a:lnTo>
                  <a:pt x="61" y="8"/>
                </a:lnTo>
                <a:lnTo>
                  <a:pt x="70" y="13"/>
                </a:lnTo>
                <a:lnTo>
                  <a:pt x="75" y="18"/>
                </a:lnTo>
                <a:lnTo>
                  <a:pt x="80" y="23"/>
                </a:lnTo>
                <a:lnTo>
                  <a:pt x="83" y="30"/>
                </a:lnTo>
                <a:lnTo>
                  <a:pt x="86" y="38"/>
                </a:lnTo>
                <a:lnTo>
                  <a:pt x="86" y="46"/>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00" name="Freeform 1605">
            <a:extLst>
              <a:ext uri="{FF2B5EF4-FFF2-40B4-BE49-F238E27FC236}">
                <a16:creationId xmlns:a16="http://schemas.microsoft.com/office/drawing/2014/main" id="{5A02AACF-C56C-5DD1-2156-431BD7691DCD}"/>
              </a:ext>
            </a:extLst>
          </p:cNvPr>
          <p:cNvSpPr>
            <a:spLocks noEditPoints="1"/>
          </p:cNvSpPr>
          <p:nvPr/>
        </p:nvSpPr>
        <p:spPr bwMode="auto">
          <a:xfrm>
            <a:off x="2846388" y="2492375"/>
            <a:ext cx="136525" cy="136525"/>
          </a:xfrm>
          <a:custGeom>
            <a:avLst/>
            <a:gdLst>
              <a:gd name="T0" fmla="*/ 85 w 86"/>
              <a:gd name="T1" fmla="*/ 35 h 86"/>
              <a:gd name="T2" fmla="*/ 78 w 86"/>
              <a:gd name="T3" fmla="*/ 18 h 86"/>
              <a:gd name="T4" fmla="*/ 67 w 86"/>
              <a:gd name="T5" fmla="*/ 7 h 86"/>
              <a:gd name="T6" fmla="*/ 52 w 86"/>
              <a:gd name="T7" fmla="*/ 0 h 86"/>
              <a:gd name="T8" fmla="*/ 35 w 86"/>
              <a:gd name="T9" fmla="*/ 0 h 86"/>
              <a:gd name="T10" fmla="*/ 19 w 86"/>
              <a:gd name="T11" fmla="*/ 7 h 86"/>
              <a:gd name="T12" fmla="*/ 7 w 86"/>
              <a:gd name="T13" fmla="*/ 18 h 86"/>
              <a:gd name="T14" fmla="*/ 0 w 86"/>
              <a:gd name="T15" fmla="*/ 35 h 86"/>
              <a:gd name="T16" fmla="*/ 0 w 86"/>
              <a:gd name="T17" fmla="*/ 51 h 86"/>
              <a:gd name="T18" fmla="*/ 7 w 86"/>
              <a:gd name="T19" fmla="*/ 66 h 86"/>
              <a:gd name="T20" fmla="*/ 19 w 86"/>
              <a:gd name="T21" fmla="*/ 78 h 86"/>
              <a:gd name="T22" fmla="*/ 35 w 86"/>
              <a:gd name="T23" fmla="*/ 85 h 86"/>
              <a:gd name="T24" fmla="*/ 52 w 86"/>
              <a:gd name="T25" fmla="*/ 85 h 86"/>
              <a:gd name="T26" fmla="*/ 67 w 86"/>
              <a:gd name="T27" fmla="*/ 78 h 86"/>
              <a:gd name="T28" fmla="*/ 78 w 86"/>
              <a:gd name="T29" fmla="*/ 66 h 86"/>
              <a:gd name="T30" fmla="*/ 85 w 86"/>
              <a:gd name="T31" fmla="*/ 51 h 86"/>
              <a:gd name="T32" fmla="*/ 81 w 86"/>
              <a:gd name="T33" fmla="*/ 43 h 86"/>
              <a:gd name="T34" fmla="*/ 78 w 86"/>
              <a:gd name="T35" fmla="*/ 58 h 86"/>
              <a:gd name="T36" fmla="*/ 70 w 86"/>
              <a:gd name="T37" fmla="*/ 70 h 86"/>
              <a:gd name="T38" fmla="*/ 58 w 86"/>
              <a:gd name="T39" fmla="*/ 78 h 86"/>
              <a:gd name="T40" fmla="*/ 43 w 86"/>
              <a:gd name="T41" fmla="*/ 81 h 86"/>
              <a:gd name="T42" fmla="*/ 29 w 86"/>
              <a:gd name="T43" fmla="*/ 78 h 86"/>
              <a:gd name="T44" fmla="*/ 15 w 86"/>
              <a:gd name="T45" fmla="*/ 70 h 86"/>
              <a:gd name="T46" fmla="*/ 9 w 86"/>
              <a:gd name="T47" fmla="*/ 58 h 86"/>
              <a:gd name="T48" fmla="*/ 5 w 86"/>
              <a:gd name="T49" fmla="*/ 43 h 86"/>
              <a:gd name="T50" fmla="*/ 9 w 86"/>
              <a:gd name="T51" fmla="*/ 28 h 86"/>
              <a:gd name="T52" fmla="*/ 15 w 86"/>
              <a:gd name="T53" fmla="*/ 17 h 86"/>
              <a:gd name="T54" fmla="*/ 29 w 86"/>
              <a:gd name="T55" fmla="*/ 8 h 86"/>
              <a:gd name="T56" fmla="*/ 43 w 86"/>
              <a:gd name="T57" fmla="*/ 5 h 86"/>
              <a:gd name="T58" fmla="*/ 58 w 86"/>
              <a:gd name="T59" fmla="*/ 8 h 86"/>
              <a:gd name="T60" fmla="*/ 70 w 86"/>
              <a:gd name="T61" fmla="*/ 17 h 86"/>
              <a:gd name="T62" fmla="*/ 78 w 86"/>
              <a:gd name="T63" fmla="*/ 28 h 86"/>
              <a:gd name="T64" fmla="*/ 81 w 86"/>
              <a:gd name="T65" fmla="*/ 43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6" h="86">
                <a:moveTo>
                  <a:pt x="86" y="43"/>
                </a:moveTo>
                <a:lnTo>
                  <a:pt x="85" y="35"/>
                </a:lnTo>
                <a:lnTo>
                  <a:pt x="83" y="27"/>
                </a:lnTo>
                <a:lnTo>
                  <a:pt x="78" y="18"/>
                </a:lnTo>
                <a:lnTo>
                  <a:pt x="73" y="12"/>
                </a:lnTo>
                <a:lnTo>
                  <a:pt x="67" y="7"/>
                </a:lnTo>
                <a:lnTo>
                  <a:pt x="60" y="3"/>
                </a:lnTo>
                <a:lnTo>
                  <a:pt x="52" y="0"/>
                </a:lnTo>
                <a:lnTo>
                  <a:pt x="43" y="0"/>
                </a:lnTo>
                <a:lnTo>
                  <a:pt x="35" y="0"/>
                </a:lnTo>
                <a:lnTo>
                  <a:pt x="27" y="3"/>
                </a:lnTo>
                <a:lnTo>
                  <a:pt x="19" y="7"/>
                </a:lnTo>
                <a:lnTo>
                  <a:pt x="12" y="12"/>
                </a:lnTo>
                <a:lnTo>
                  <a:pt x="7" y="18"/>
                </a:lnTo>
                <a:lnTo>
                  <a:pt x="4" y="27"/>
                </a:lnTo>
                <a:lnTo>
                  <a:pt x="0" y="35"/>
                </a:lnTo>
                <a:lnTo>
                  <a:pt x="0" y="43"/>
                </a:lnTo>
                <a:lnTo>
                  <a:pt x="0" y="51"/>
                </a:lnTo>
                <a:lnTo>
                  <a:pt x="4" y="60"/>
                </a:lnTo>
                <a:lnTo>
                  <a:pt x="7" y="66"/>
                </a:lnTo>
                <a:lnTo>
                  <a:pt x="12" y="73"/>
                </a:lnTo>
                <a:lnTo>
                  <a:pt x="19" y="78"/>
                </a:lnTo>
                <a:lnTo>
                  <a:pt x="27" y="83"/>
                </a:lnTo>
                <a:lnTo>
                  <a:pt x="35" y="85"/>
                </a:lnTo>
                <a:lnTo>
                  <a:pt x="43" y="86"/>
                </a:lnTo>
                <a:lnTo>
                  <a:pt x="52" y="85"/>
                </a:lnTo>
                <a:lnTo>
                  <a:pt x="60" y="83"/>
                </a:lnTo>
                <a:lnTo>
                  <a:pt x="67" y="78"/>
                </a:lnTo>
                <a:lnTo>
                  <a:pt x="73" y="73"/>
                </a:lnTo>
                <a:lnTo>
                  <a:pt x="78" y="66"/>
                </a:lnTo>
                <a:lnTo>
                  <a:pt x="83" y="60"/>
                </a:lnTo>
                <a:lnTo>
                  <a:pt x="85" y="51"/>
                </a:lnTo>
                <a:lnTo>
                  <a:pt x="86" y="43"/>
                </a:lnTo>
                <a:close/>
                <a:moveTo>
                  <a:pt x="81" y="43"/>
                </a:moveTo>
                <a:lnTo>
                  <a:pt x="81" y="51"/>
                </a:lnTo>
                <a:lnTo>
                  <a:pt x="78" y="58"/>
                </a:lnTo>
                <a:lnTo>
                  <a:pt x="75" y="65"/>
                </a:lnTo>
                <a:lnTo>
                  <a:pt x="70" y="70"/>
                </a:lnTo>
                <a:lnTo>
                  <a:pt x="65" y="75"/>
                </a:lnTo>
                <a:lnTo>
                  <a:pt x="58" y="78"/>
                </a:lnTo>
                <a:lnTo>
                  <a:pt x="52" y="81"/>
                </a:lnTo>
                <a:lnTo>
                  <a:pt x="43" y="81"/>
                </a:lnTo>
                <a:lnTo>
                  <a:pt x="35" y="81"/>
                </a:lnTo>
                <a:lnTo>
                  <a:pt x="29" y="78"/>
                </a:lnTo>
                <a:lnTo>
                  <a:pt x="22" y="75"/>
                </a:lnTo>
                <a:lnTo>
                  <a:pt x="15" y="70"/>
                </a:lnTo>
                <a:lnTo>
                  <a:pt x="12" y="65"/>
                </a:lnTo>
                <a:lnTo>
                  <a:pt x="9" y="58"/>
                </a:lnTo>
                <a:lnTo>
                  <a:pt x="5" y="51"/>
                </a:lnTo>
                <a:lnTo>
                  <a:pt x="5" y="43"/>
                </a:lnTo>
                <a:lnTo>
                  <a:pt x="5" y="35"/>
                </a:lnTo>
                <a:lnTo>
                  <a:pt x="9" y="28"/>
                </a:lnTo>
                <a:lnTo>
                  <a:pt x="12" y="22"/>
                </a:lnTo>
                <a:lnTo>
                  <a:pt x="15" y="17"/>
                </a:lnTo>
                <a:lnTo>
                  <a:pt x="22" y="12"/>
                </a:lnTo>
                <a:lnTo>
                  <a:pt x="29" y="8"/>
                </a:lnTo>
                <a:lnTo>
                  <a:pt x="35" y="5"/>
                </a:lnTo>
                <a:lnTo>
                  <a:pt x="43" y="5"/>
                </a:lnTo>
                <a:lnTo>
                  <a:pt x="52" y="5"/>
                </a:lnTo>
                <a:lnTo>
                  <a:pt x="58" y="8"/>
                </a:lnTo>
                <a:lnTo>
                  <a:pt x="65" y="12"/>
                </a:lnTo>
                <a:lnTo>
                  <a:pt x="70" y="17"/>
                </a:lnTo>
                <a:lnTo>
                  <a:pt x="75" y="22"/>
                </a:lnTo>
                <a:lnTo>
                  <a:pt x="78" y="28"/>
                </a:lnTo>
                <a:lnTo>
                  <a:pt x="81" y="35"/>
                </a:lnTo>
                <a:lnTo>
                  <a:pt x="81" y="43"/>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01" name="Freeform 1606">
            <a:extLst>
              <a:ext uri="{FF2B5EF4-FFF2-40B4-BE49-F238E27FC236}">
                <a16:creationId xmlns:a16="http://schemas.microsoft.com/office/drawing/2014/main" id="{23FDA7FD-A6EE-61CA-7C46-5811157C15DE}"/>
              </a:ext>
            </a:extLst>
          </p:cNvPr>
          <p:cNvSpPr>
            <a:spLocks noEditPoints="1"/>
          </p:cNvSpPr>
          <p:nvPr/>
        </p:nvSpPr>
        <p:spPr bwMode="auto">
          <a:xfrm>
            <a:off x="2849563" y="2495550"/>
            <a:ext cx="128588" cy="128588"/>
          </a:xfrm>
          <a:custGeom>
            <a:avLst/>
            <a:gdLst>
              <a:gd name="T0" fmla="*/ 81 w 81"/>
              <a:gd name="T1" fmla="*/ 33 h 81"/>
              <a:gd name="T2" fmla="*/ 75 w 81"/>
              <a:gd name="T3" fmla="*/ 18 h 81"/>
              <a:gd name="T4" fmla="*/ 65 w 81"/>
              <a:gd name="T5" fmla="*/ 8 h 81"/>
              <a:gd name="T6" fmla="*/ 50 w 81"/>
              <a:gd name="T7" fmla="*/ 1 h 81"/>
              <a:gd name="T8" fmla="*/ 33 w 81"/>
              <a:gd name="T9" fmla="*/ 1 h 81"/>
              <a:gd name="T10" fmla="*/ 18 w 81"/>
              <a:gd name="T11" fmla="*/ 8 h 81"/>
              <a:gd name="T12" fmla="*/ 7 w 81"/>
              <a:gd name="T13" fmla="*/ 18 h 81"/>
              <a:gd name="T14" fmla="*/ 2 w 81"/>
              <a:gd name="T15" fmla="*/ 33 h 81"/>
              <a:gd name="T16" fmla="*/ 2 w 81"/>
              <a:gd name="T17" fmla="*/ 49 h 81"/>
              <a:gd name="T18" fmla="*/ 7 w 81"/>
              <a:gd name="T19" fmla="*/ 64 h 81"/>
              <a:gd name="T20" fmla="*/ 18 w 81"/>
              <a:gd name="T21" fmla="*/ 74 h 81"/>
              <a:gd name="T22" fmla="*/ 33 w 81"/>
              <a:gd name="T23" fmla="*/ 81 h 81"/>
              <a:gd name="T24" fmla="*/ 50 w 81"/>
              <a:gd name="T25" fmla="*/ 81 h 81"/>
              <a:gd name="T26" fmla="*/ 65 w 81"/>
              <a:gd name="T27" fmla="*/ 74 h 81"/>
              <a:gd name="T28" fmla="*/ 75 w 81"/>
              <a:gd name="T29" fmla="*/ 64 h 81"/>
              <a:gd name="T30" fmla="*/ 81 w 81"/>
              <a:gd name="T31" fmla="*/ 49 h 81"/>
              <a:gd name="T32" fmla="*/ 78 w 81"/>
              <a:gd name="T33" fmla="*/ 41 h 81"/>
              <a:gd name="T34" fmla="*/ 75 w 81"/>
              <a:gd name="T35" fmla="*/ 54 h 81"/>
              <a:gd name="T36" fmla="*/ 66 w 81"/>
              <a:gd name="T37" fmla="*/ 66 h 81"/>
              <a:gd name="T38" fmla="*/ 55 w 81"/>
              <a:gd name="T39" fmla="*/ 74 h 81"/>
              <a:gd name="T40" fmla="*/ 41 w 81"/>
              <a:gd name="T41" fmla="*/ 78 h 81"/>
              <a:gd name="T42" fmla="*/ 27 w 81"/>
              <a:gd name="T43" fmla="*/ 74 h 81"/>
              <a:gd name="T44" fmla="*/ 17 w 81"/>
              <a:gd name="T45" fmla="*/ 66 h 81"/>
              <a:gd name="T46" fmla="*/ 8 w 81"/>
              <a:gd name="T47" fmla="*/ 54 h 81"/>
              <a:gd name="T48" fmla="*/ 5 w 81"/>
              <a:gd name="T49" fmla="*/ 41 h 81"/>
              <a:gd name="T50" fmla="*/ 8 w 81"/>
              <a:gd name="T51" fmla="*/ 26 h 81"/>
              <a:gd name="T52" fmla="*/ 17 w 81"/>
              <a:gd name="T53" fmla="*/ 16 h 81"/>
              <a:gd name="T54" fmla="*/ 27 w 81"/>
              <a:gd name="T55" fmla="*/ 8 h 81"/>
              <a:gd name="T56" fmla="*/ 41 w 81"/>
              <a:gd name="T57" fmla="*/ 5 h 81"/>
              <a:gd name="T58" fmla="*/ 55 w 81"/>
              <a:gd name="T59" fmla="*/ 8 h 81"/>
              <a:gd name="T60" fmla="*/ 66 w 81"/>
              <a:gd name="T61" fmla="*/ 16 h 81"/>
              <a:gd name="T62" fmla="*/ 75 w 81"/>
              <a:gd name="T63" fmla="*/ 26 h 81"/>
              <a:gd name="T64" fmla="*/ 78 w 81"/>
              <a:gd name="T65" fmla="*/ 41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1" h="81">
                <a:moveTo>
                  <a:pt x="81" y="41"/>
                </a:moveTo>
                <a:lnTo>
                  <a:pt x="81" y="33"/>
                </a:lnTo>
                <a:lnTo>
                  <a:pt x="78" y="25"/>
                </a:lnTo>
                <a:lnTo>
                  <a:pt x="75" y="18"/>
                </a:lnTo>
                <a:lnTo>
                  <a:pt x="70" y="13"/>
                </a:lnTo>
                <a:lnTo>
                  <a:pt x="65" y="8"/>
                </a:lnTo>
                <a:lnTo>
                  <a:pt x="56" y="3"/>
                </a:lnTo>
                <a:lnTo>
                  <a:pt x="50" y="1"/>
                </a:lnTo>
                <a:lnTo>
                  <a:pt x="41" y="0"/>
                </a:lnTo>
                <a:lnTo>
                  <a:pt x="33" y="1"/>
                </a:lnTo>
                <a:lnTo>
                  <a:pt x="25" y="3"/>
                </a:lnTo>
                <a:lnTo>
                  <a:pt x="18" y="8"/>
                </a:lnTo>
                <a:lnTo>
                  <a:pt x="12" y="13"/>
                </a:lnTo>
                <a:lnTo>
                  <a:pt x="7" y="18"/>
                </a:lnTo>
                <a:lnTo>
                  <a:pt x="3" y="25"/>
                </a:lnTo>
                <a:lnTo>
                  <a:pt x="2" y="33"/>
                </a:lnTo>
                <a:lnTo>
                  <a:pt x="0" y="41"/>
                </a:lnTo>
                <a:lnTo>
                  <a:pt x="2" y="49"/>
                </a:lnTo>
                <a:lnTo>
                  <a:pt x="3" y="56"/>
                </a:lnTo>
                <a:lnTo>
                  <a:pt x="7" y="64"/>
                </a:lnTo>
                <a:lnTo>
                  <a:pt x="12" y="69"/>
                </a:lnTo>
                <a:lnTo>
                  <a:pt x="18" y="74"/>
                </a:lnTo>
                <a:lnTo>
                  <a:pt x="25" y="79"/>
                </a:lnTo>
                <a:lnTo>
                  <a:pt x="33" y="81"/>
                </a:lnTo>
                <a:lnTo>
                  <a:pt x="41" y="81"/>
                </a:lnTo>
                <a:lnTo>
                  <a:pt x="50" y="81"/>
                </a:lnTo>
                <a:lnTo>
                  <a:pt x="56" y="79"/>
                </a:lnTo>
                <a:lnTo>
                  <a:pt x="65" y="74"/>
                </a:lnTo>
                <a:lnTo>
                  <a:pt x="70" y="69"/>
                </a:lnTo>
                <a:lnTo>
                  <a:pt x="75" y="64"/>
                </a:lnTo>
                <a:lnTo>
                  <a:pt x="78" y="56"/>
                </a:lnTo>
                <a:lnTo>
                  <a:pt x="81" y="49"/>
                </a:lnTo>
                <a:lnTo>
                  <a:pt x="81" y="41"/>
                </a:lnTo>
                <a:close/>
                <a:moveTo>
                  <a:pt x="78" y="41"/>
                </a:moveTo>
                <a:lnTo>
                  <a:pt x="76" y="48"/>
                </a:lnTo>
                <a:lnTo>
                  <a:pt x="75" y="54"/>
                </a:lnTo>
                <a:lnTo>
                  <a:pt x="71" y="61"/>
                </a:lnTo>
                <a:lnTo>
                  <a:pt x="66" y="66"/>
                </a:lnTo>
                <a:lnTo>
                  <a:pt x="61" y="71"/>
                </a:lnTo>
                <a:lnTo>
                  <a:pt x="55" y="74"/>
                </a:lnTo>
                <a:lnTo>
                  <a:pt x="48" y="76"/>
                </a:lnTo>
                <a:lnTo>
                  <a:pt x="41" y="78"/>
                </a:lnTo>
                <a:lnTo>
                  <a:pt x="33" y="76"/>
                </a:lnTo>
                <a:lnTo>
                  <a:pt x="27" y="74"/>
                </a:lnTo>
                <a:lnTo>
                  <a:pt x="22" y="71"/>
                </a:lnTo>
                <a:lnTo>
                  <a:pt x="17" y="66"/>
                </a:lnTo>
                <a:lnTo>
                  <a:pt x="12" y="61"/>
                </a:lnTo>
                <a:lnTo>
                  <a:pt x="8" y="54"/>
                </a:lnTo>
                <a:lnTo>
                  <a:pt x="7" y="48"/>
                </a:lnTo>
                <a:lnTo>
                  <a:pt x="5" y="41"/>
                </a:lnTo>
                <a:lnTo>
                  <a:pt x="7" y="35"/>
                </a:lnTo>
                <a:lnTo>
                  <a:pt x="8" y="26"/>
                </a:lnTo>
                <a:lnTo>
                  <a:pt x="12" y="21"/>
                </a:lnTo>
                <a:lnTo>
                  <a:pt x="17" y="16"/>
                </a:lnTo>
                <a:lnTo>
                  <a:pt x="22" y="11"/>
                </a:lnTo>
                <a:lnTo>
                  <a:pt x="27" y="8"/>
                </a:lnTo>
                <a:lnTo>
                  <a:pt x="33" y="6"/>
                </a:lnTo>
                <a:lnTo>
                  <a:pt x="41" y="5"/>
                </a:lnTo>
                <a:lnTo>
                  <a:pt x="48" y="6"/>
                </a:lnTo>
                <a:lnTo>
                  <a:pt x="55" y="8"/>
                </a:lnTo>
                <a:lnTo>
                  <a:pt x="61" y="11"/>
                </a:lnTo>
                <a:lnTo>
                  <a:pt x="66" y="16"/>
                </a:lnTo>
                <a:lnTo>
                  <a:pt x="71" y="21"/>
                </a:lnTo>
                <a:lnTo>
                  <a:pt x="75" y="26"/>
                </a:lnTo>
                <a:lnTo>
                  <a:pt x="76" y="35"/>
                </a:lnTo>
                <a:lnTo>
                  <a:pt x="78" y="41"/>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02" name="Freeform 1607">
            <a:extLst>
              <a:ext uri="{FF2B5EF4-FFF2-40B4-BE49-F238E27FC236}">
                <a16:creationId xmlns:a16="http://schemas.microsoft.com/office/drawing/2014/main" id="{F2885DEF-04DA-CB9F-5B9B-1047A687659C}"/>
              </a:ext>
            </a:extLst>
          </p:cNvPr>
          <p:cNvSpPr>
            <a:spLocks noEditPoints="1"/>
          </p:cNvSpPr>
          <p:nvPr/>
        </p:nvSpPr>
        <p:spPr bwMode="auto">
          <a:xfrm>
            <a:off x="2854325" y="2500313"/>
            <a:ext cx="120650" cy="120650"/>
          </a:xfrm>
          <a:custGeom>
            <a:avLst/>
            <a:gdLst>
              <a:gd name="T0" fmla="*/ 76 w 76"/>
              <a:gd name="T1" fmla="*/ 30 h 76"/>
              <a:gd name="T2" fmla="*/ 70 w 76"/>
              <a:gd name="T3" fmla="*/ 17 h 76"/>
              <a:gd name="T4" fmla="*/ 60 w 76"/>
              <a:gd name="T5" fmla="*/ 7 h 76"/>
              <a:gd name="T6" fmla="*/ 47 w 76"/>
              <a:gd name="T7" fmla="*/ 0 h 76"/>
              <a:gd name="T8" fmla="*/ 30 w 76"/>
              <a:gd name="T9" fmla="*/ 0 h 76"/>
              <a:gd name="T10" fmla="*/ 17 w 76"/>
              <a:gd name="T11" fmla="*/ 7 h 76"/>
              <a:gd name="T12" fmla="*/ 7 w 76"/>
              <a:gd name="T13" fmla="*/ 17 h 76"/>
              <a:gd name="T14" fmla="*/ 0 w 76"/>
              <a:gd name="T15" fmla="*/ 30 h 76"/>
              <a:gd name="T16" fmla="*/ 0 w 76"/>
              <a:gd name="T17" fmla="*/ 46 h 76"/>
              <a:gd name="T18" fmla="*/ 7 w 76"/>
              <a:gd name="T19" fmla="*/ 60 h 76"/>
              <a:gd name="T20" fmla="*/ 17 w 76"/>
              <a:gd name="T21" fmla="*/ 70 h 76"/>
              <a:gd name="T22" fmla="*/ 30 w 76"/>
              <a:gd name="T23" fmla="*/ 76 h 76"/>
              <a:gd name="T24" fmla="*/ 47 w 76"/>
              <a:gd name="T25" fmla="*/ 76 h 76"/>
              <a:gd name="T26" fmla="*/ 60 w 76"/>
              <a:gd name="T27" fmla="*/ 70 h 76"/>
              <a:gd name="T28" fmla="*/ 70 w 76"/>
              <a:gd name="T29" fmla="*/ 60 h 76"/>
              <a:gd name="T30" fmla="*/ 76 w 76"/>
              <a:gd name="T31" fmla="*/ 46 h 76"/>
              <a:gd name="T32" fmla="*/ 72 w 76"/>
              <a:gd name="T33" fmla="*/ 38 h 76"/>
              <a:gd name="T34" fmla="*/ 68 w 76"/>
              <a:gd name="T35" fmla="*/ 51 h 76"/>
              <a:gd name="T36" fmla="*/ 62 w 76"/>
              <a:gd name="T37" fmla="*/ 61 h 76"/>
              <a:gd name="T38" fmla="*/ 52 w 76"/>
              <a:gd name="T39" fmla="*/ 70 h 76"/>
              <a:gd name="T40" fmla="*/ 38 w 76"/>
              <a:gd name="T41" fmla="*/ 71 h 76"/>
              <a:gd name="T42" fmla="*/ 25 w 76"/>
              <a:gd name="T43" fmla="*/ 70 h 76"/>
              <a:gd name="T44" fmla="*/ 15 w 76"/>
              <a:gd name="T45" fmla="*/ 61 h 76"/>
              <a:gd name="T46" fmla="*/ 7 w 76"/>
              <a:gd name="T47" fmla="*/ 51 h 76"/>
              <a:gd name="T48" fmla="*/ 5 w 76"/>
              <a:gd name="T49" fmla="*/ 38 h 76"/>
              <a:gd name="T50" fmla="*/ 7 w 76"/>
              <a:gd name="T51" fmla="*/ 25 h 76"/>
              <a:gd name="T52" fmla="*/ 15 w 76"/>
              <a:gd name="T53" fmla="*/ 15 h 76"/>
              <a:gd name="T54" fmla="*/ 25 w 76"/>
              <a:gd name="T55" fmla="*/ 7 h 76"/>
              <a:gd name="T56" fmla="*/ 38 w 76"/>
              <a:gd name="T57" fmla="*/ 5 h 76"/>
              <a:gd name="T58" fmla="*/ 52 w 76"/>
              <a:gd name="T59" fmla="*/ 7 h 76"/>
              <a:gd name="T60" fmla="*/ 62 w 76"/>
              <a:gd name="T61" fmla="*/ 15 h 76"/>
              <a:gd name="T62" fmla="*/ 68 w 76"/>
              <a:gd name="T63" fmla="*/ 25 h 76"/>
              <a:gd name="T64" fmla="*/ 72 w 76"/>
              <a:gd name="T65" fmla="*/ 38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6" h="76">
                <a:moveTo>
                  <a:pt x="76" y="38"/>
                </a:moveTo>
                <a:lnTo>
                  <a:pt x="76" y="30"/>
                </a:lnTo>
                <a:lnTo>
                  <a:pt x="73" y="23"/>
                </a:lnTo>
                <a:lnTo>
                  <a:pt x="70" y="17"/>
                </a:lnTo>
                <a:lnTo>
                  <a:pt x="65" y="12"/>
                </a:lnTo>
                <a:lnTo>
                  <a:pt x="60" y="7"/>
                </a:lnTo>
                <a:lnTo>
                  <a:pt x="53" y="3"/>
                </a:lnTo>
                <a:lnTo>
                  <a:pt x="47" y="0"/>
                </a:lnTo>
                <a:lnTo>
                  <a:pt x="38" y="0"/>
                </a:lnTo>
                <a:lnTo>
                  <a:pt x="30" y="0"/>
                </a:lnTo>
                <a:lnTo>
                  <a:pt x="24" y="3"/>
                </a:lnTo>
                <a:lnTo>
                  <a:pt x="17" y="7"/>
                </a:lnTo>
                <a:lnTo>
                  <a:pt x="10" y="12"/>
                </a:lnTo>
                <a:lnTo>
                  <a:pt x="7" y="17"/>
                </a:lnTo>
                <a:lnTo>
                  <a:pt x="4" y="23"/>
                </a:lnTo>
                <a:lnTo>
                  <a:pt x="0" y="30"/>
                </a:lnTo>
                <a:lnTo>
                  <a:pt x="0" y="38"/>
                </a:lnTo>
                <a:lnTo>
                  <a:pt x="0" y="46"/>
                </a:lnTo>
                <a:lnTo>
                  <a:pt x="4" y="53"/>
                </a:lnTo>
                <a:lnTo>
                  <a:pt x="7" y="60"/>
                </a:lnTo>
                <a:lnTo>
                  <a:pt x="10" y="65"/>
                </a:lnTo>
                <a:lnTo>
                  <a:pt x="17" y="70"/>
                </a:lnTo>
                <a:lnTo>
                  <a:pt x="24" y="73"/>
                </a:lnTo>
                <a:lnTo>
                  <a:pt x="30" y="76"/>
                </a:lnTo>
                <a:lnTo>
                  <a:pt x="38" y="76"/>
                </a:lnTo>
                <a:lnTo>
                  <a:pt x="47" y="76"/>
                </a:lnTo>
                <a:lnTo>
                  <a:pt x="53" y="73"/>
                </a:lnTo>
                <a:lnTo>
                  <a:pt x="60" y="70"/>
                </a:lnTo>
                <a:lnTo>
                  <a:pt x="65" y="65"/>
                </a:lnTo>
                <a:lnTo>
                  <a:pt x="70" y="60"/>
                </a:lnTo>
                <a:lnTo>
                  <a:pt x="73" y="53"/>
                </a:lnTo>
                <a:lnTo>
                  <a:pt x="76" y="46"/>
                </a:lnTo>
                <a:lnTo>
                  <a:pt x="76" y="38"/>
                </a:lnTo>
                <a:close/>
                <a:moveTo>
                  <a:pt x="72" y="38"/>
                </a:moveTo>
                <a:lnTo>
                  <a:pt x="72" y="45"/>
                </a:lnTo>
                <a:lnTo>
                  <a:pt x="68" y="51"/>
                </a:lnTo>
                <a:lnTo>
                  <a:pt x="67" y="56"/>
                </a:lnTo>
                <a:lnTo>
                  <a:pt x="62" y="61"/>
                </a:lnTo>
                <a:lnTo>
                  <a:pt x="57" y="66"/>
                </a:lnTo>
                <a:lnTo>
                  <a:pt x="52" y="70"/>
                </a:lnTo>
                <a:lnTo>
                  <a:pt x="45" y="71"/>
                </a:lnTo>
                <a:lnTo>
                  <a:pt x="38" y="71"/>
                </a:lnTo>
                <a:lnTo>
                  <a:pt x="32" y="71"/>
                </a:lnTo>
                <a:lnTo>
                  <a:pt x="25" y="70"/>
                </a:lnTo>
                <a:lnTo>
                  <a:pt x="20" y="66"/>
                </a:lnTo>
                <a:lnTo>
                  <a:pt x="15" y="61"/>
                </a:lnTo>
                <a:lnTo>
                  <a:pt x="10" y="56"/>
                </a:lnTo>
                <a:lnTo>
                  <a:pt x="7" y="51"/>
                </a:lnTo>
                <a:lnTo>
                  <a:pt x="5" y="45"/>
                </a:lnTo>
                <a:lnTo>
                  <a:pt x="5" y="38"/>
                </a:lnTo>
                <a:lnTo>
                  <a:pt x="5" y="32"/>
                </a:lnTo>
                <a:lnTo>
                  <a:pt x="7" y="25"/>
                </a:lnTo>
                <a:lnTo>
                  <a:pt x="10" y="20"/>
                </a:lnTo>
                <a:lnTo>
                  <a:pt x="15" y="15"/>
                </a:lnTo>
                <a:lnTo>
                  <a:pt x="20" y="10"/>
                </a:lnTo>
                <a:lnTo>
                  <a:pt x="25" y="7"/>
                </a:lnTo>
                <a:lnTo>
                  <a:pt x="32" y="5"/>
                </a:lnTo>
                <a:lnTo>
                  <a:pt x="38" y="5"/>
                </a:lnTo>
                <a:lnTo>
                  <a:pt x="45" y="5"/>
                </a:lnTo>
                <a:lnTo>
                  <a:pt x="52" y="7"/>
                </a:lnTo>
                <a:lnTo>
                  <a:pt x="57" y="10"/>
                </a:lnTo>
                <a:lnTo>
                  <a:pt x="62" y="15"/>
                </a:lnTo>
                <a:lnTo>
                  <a:pt x="67" y="20"/>
                </a:lnTo>
                <a:lnTo>
                  <a:pt x="68" y="25"/>
                </a:lnTo>
                <a:lnTo>
                  <a:pt x="72" y="32"/>
                </a:lnTo>
                <a:lnTo>
                  <a:pt x="72" y="38"/>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03" name="Freeform 1608">
            <a:extLst>
              <a:ext uri="{FF2B5EF4-FFF2-40B4-BE49-F238E27FC236}">
                <a16:creationId xmlns:a16="http://schemas.microsoft.com/office/drawing/2014/main" id="{AEDBFCE6-B6D8-5651-A04C-B12CA4E78422}"/>
              </a:ext>
            </a:extLst>
          </p:cNvPr>
          <p:cNvSpPr>
            <a:spLocks noEditPoints="1"/>
          </p:cNvSpPr>
          <p:nvPr/>
        </p:nvSpPr>
        <p:spPr bwMode="auto">
          <a:xfrm>
            <a:off x="2857500" y="2503488"/>
            <a:ext cx="115888" cy="115888"/>
          </a:xfrm>
          <a:custGeom>
            <a:avLst/>
            <a:gdLst>
              <a:gd name="T0" fmla="*/ 71 w 73"/>
              <a:gd name="T1" fmla="*/ 30 h 73"/>
              <a:gd name="T2" fmla="*/ 66 w 73"/>
              <a:gd name="T3" fmla="*/ 16 h 73"/>
              <a:gd name="T4" fmla="*/ 56 w 73"/>
              <a:gd name="T5" fmla="*/ 6 h 73"/>
              <a:gd name="T6" fmla="*/ 43 w 73"/>
              <a:gd name="T7" fmla="*/ 1 h 73"/>
              <a:gd name="T8" fmla="*/ 28 w 73"/>
              <a:gd name="T9" fmla="*/ 1 h 73"/>
              <a:gd name="T10" fmla="*/ 17 w 73"/>
              <a:gd name="T11" fmla="*/ 6 h 73"/>
              <a:gd name="T12" fmla="*/ 7 w 73"/>
              <a:gd name="T13" fmla="*/ 16 h 73"/>
              <a:gd name="T14" fmla="*/ 2 w 73"/>
              <a:gd name="T15" fmla="*/ 30 h 73"/>
              <a:gd name="T16" fmla="*/ 2 w 73"/>
              <a:gd name="T17" fmla="*/ 43 h 73"/>
              <a:gd name="T18" fmla="*/ 7 w 73"/>
              <a:gd name="T19" fmla="*/ 56 h 73"/>
              <a:gd name="T20" fmla="*/ 17 w 73"/>
              <a:gd name="T21" fmla="*/ 66 h 73"/>
              <a:gd name="T22" fmla="*/ 28 w 73"/>
              <a:gd name="T23" fmla="*/ 71 h 73"/>
              <a:gd name="T24" fmla="*/ 43 w 73"/>
              <a:gd name="T25" fmla="*/ 71 h 73"/>
              <a:gd name="T26" fmla="*/ 56 w 73"/>
              <a:gd name="T27" fmla="*/ 66 h 73"/>
              <a:gd name="T28" fmla="*/ 66 w 73"/>
              <a:gd name="T29" fmla="*/ 56 h 73"/>
              <a:gd name="T30" fmla="*/ 71 w 73"/>
              <a:gd name="T31" fmla="*/ 43 h 73"/>
              <a:gd name="T32" fmla="*/ 68 w 73"/>
              <a:gd name="T33" fmla="*/ 36 h 73"/>
              <a:gd name="T34" fmla="*/ 65 w 73"/>
              <a:gd name="T35" fmla="*/ 48 h 73"/>
              <a:gd name="T36" fmla="*/ 58 w 73"/>
              <a:gd name="T37" fmla="*/ 58 h 73"/>
              <a:gd name="T38" fmla="*/ 48 w 73"/>
              <a:gd name="T39" fmla="*/ 64 h 73"/>
              <a:gd name="T40" fmla="*/ 36 w 73"/>
              <a:gd name="T41" fmla="*/ 68 h 73"/>
              <a:gd name="T42" fmla="*/ 25 w 73"/>
              <a:gd name="T43" fmla="*/ 64 h 73"/>
              <a:gd name="T44" fmla="*/ 15 w 73"/>
              <a:gd name="T45" fmla="*/ 58 h 73"/>
              <a:gd name="T46" fmla="*/ 8 w 73"/>
              <a:gd name="T47" fmla="*/ 48 h 73"/>
              <a:gd name="T48" fmla="*/ 5 w 73"/>
              <a:gd name="T49" fmla="*/ 36 h 73"/>
              <a:gd name="T50" fmla="*/ 8 w 73"/>
              <a:gd name="T51" fmla="*/ 25 h 73"/>
              <a:gd name="T52" fmla="*/ 15 w 73"/>
              <a:gd name="T53" fmla="*/ 15 h 73"/>
              <a:gd name="T54" fmla="*/ 25 w 73"/>
              <a:gd name="T55" fmla="*/ 8 h 73"/>
              <a:gd name="T56" fmla="*/ 36 w 73"/>
              <a:gd name="T57" fmla="*/ 5 h 73"/>
              <a:gd name="T58" fmla="*/ 48 w 73"/>
              <a:gd name="T59" fmla="*/ 8 h 73"/>
              <a:gd name="T60" fmla="*/ 58 w 73"/>
              <a:gd name="T61" fmla="*/ 15 h 73"/>
              <a:gd name="T62" fmla="*/ 65 w 73"/>
              <a:gd name="T63" fmla="*/ 25 h 73"/>
              <a:gd name="T64" fmla="*/ 68 w 73"/>
              <a:gd name="T65" fmla="*/ 36 h 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3" h="73">
                <a:moveTo>
                  <a:pt x="73" y="36"/>
                </a:moveTo>
                <a:lnTo>
                  <a:pt x="71" y="30"/>
                </a:lnTo>
                <a:lnTo>
                  <a:pt x="70" y="21"/>
                </a:lnTo>
                <a:lnTo>
                  <a:pt x="66" y="16"/>
                </a:lnTo>
                <a:lnTo>
                  <a:pt x="61" y="11"/>
                </a:lnTo>
                <a:lnTo>
                  <a:pt x="56" y="6"/>
                </a:lnTo>
                <a:lnTo>
                  <a:pt x="50" y="3"/>
                </a:lnTo>
                <a:lnTo>
                  <a:pt x="43" y="1"/>
                </a:lnTo>
                <a:lnTo>
                  <a:pt x="36" y="0"/>
                </a:lnTo>
                <a:lnTo>
                  <a:pt x="28" y="1"/>
                </a:lnTo>
                <a:lnTo>
                  <a:pt x="22" y="3"/>
                </a:lnTo>
                <a:lnTo>
                  <a:pt x="17" y="6"/>
                </a:lnTo>
                <a:lnTo>
                  <a:pt x="12" y="11"/>
                </a:lnTo>
                <a:lnTo>
                  <a:pt x="7" y="16"/>
                </a:lnTo>
                <a:lnTo>
                  <a:pt x="3" y="21"/>
                </a:lnTo>
                <a:lnTo>
                  <a:pt x="2" y="30"/>
                </a:lnTo>
                <a:lnTo>
                  <a:pt x="0" y="36"/>
                </a:lnTo>
                <a:lnTo>
                  <a:pt x="2" y="43"/>
                </a:lnTo>
                <a:lnTo>
                  <a:pt x="3" y="49"/>
                </a:lnTo>
                <a:lnTo>
                  <a:pt x="7" y="56"/>
                </a:lnTo>
                <a:lnTo>
                  <a:pt x="12" y="61"/>
                </a:lnTo>
                <a:lnTo>
                  <a:pt x="17" y="66"/>
                </a:lnTo>
                <a:lnTo>
                  <a:pt x="22" y="69"/>
                </a:lnTo>
                <a:lnTo>
                  <a:pt x="28" y="71"/>
                </a:lnTo>
                <a:lnTo>
                  <a:pt x="36" y="73"/>
                </a:lnTo>
                <a:lnTo>
                  <a:pt x="43" y="71"/>
                </a:lnTo>
                <a:lnTo>
                  <a:pt x="50" y="69"/>
                </a:lnTo>
                <a:lnTo>
                  <a:pt x="56" y="66"/>
                </a:lnTo>
                <a:lnTo>
                  <a:pt x="61" y="61"/>
                </a:lnTo>
                <a:lnTo>
                  <a:pt x="66" y="56"/>
                </a:lnTo>
                <a:lnTo>
                  <a:pt x="70" y="49"/>
                </a:lnTo>
                <a:lnTo>
                  <a:pt x="71" y="43"/>
                </a:lnTo>
                <a:lnTo>
                  <a:pt x="73" y="36"/>
                </a:lnTo>
                <a:close/>
                <a:moveTo>
                  <a:pt x="68" y="36"/>
                </a:moveTo>
                <a:lnTo>
                  <a:pt x="66" y="43"/>
                </a:lnTo>
                <a:lnTo>
                  <a:pt x="65" y="48"/>
                </a:lnTo>
                <a:lnTo>
                  <a:pt x="61" y="53"/>
                </a:lnTo>
                <a:lnTo>
                  <a:pt x="58" y="58"/>
                </a:lnTo>
                <a:lnTo>
                  <a:pt x="53" y="61"/>
                </a:lnTo>
                <a:lnTo>
                  <a:pt x="48" y="64"/>
                </a:lnTo>
                <a:lnTo>
                  <a:pt x="43" y="66"/>
                </a:lnTo>
                <a:lnTo>
                  <a:pt x="36" y="68"/>
                </a:lnTo>
                <a:lnTo>
                  <a:pt x="30" y="66"/>
                </a:lnTo>
                <a:lnTo>
                  <a:pt x="25" y="64"/>
                </a:lnTo>
                <a:lnTo>
                  <a:pt x="18" y="61"/>
                </a:lnTo>
                <a:lnTo>
                  <a:pt x="15" y="58"/>
                </a:lnTo>
                <a:lnTo>
                  <a:pt x="10" y="53"/>
                </a:lnTo>
                <a:lnTo>
                  <a:pt x="8" y="48"/>
                </a:lnTo>
                <a:lnTo>
                  <a:pt x="5" y="43"/>
                </a:lnTo>
                <a:lnTo>
                  <a:pt x="5" y="36"/>
                </a:lnTo>
                <a:lnTo>
                  <a:pt x="5" y="30"/>
                </a:lnTo>
                <a:lnTo>
                  <a:pt x="8" y="25"/>
                </a:lnTo>
                <a:lnTo>
                  <a:pt x="10" y="18"/>
                </a:lnTo>
                <a:lnTo>
                  <a:pt x="15" y="15"/>
                </a:lnTo>
                <a:lnTo>
                  <a:pt x="18" y="10"/>
                </a:lnTo>
                <a:lnTo>
                  <a:pt x="25" y="8"/>
                </a:lnTo>
                <a:lnTo>
                  <a:pt x="30" y="5"/>
                </a:lnTo>
                <a:lnTo>
                  <a:pt x="36" y="5"/>
                </a:lnTo>
                <a:lnTo>
                  <a:pt x="43" y="5"/>
                </a:lnTo>
                <a:lnTo>
                  <a:pt x="48" y="8"/>
                </a:lnTo>
                <a:lnTo>
                  <a:pt x="53" y="10"/>
                </a:lnTo>
                <a:lnTo>
                  <a:pt x="58" y="15"/>
                </a:lnTo>
                <a:lnTo>
                  <a:pt x="61" y="18"/>
                </a:lnTo>
                <a:lnTo>
                  <a:pt x="65" y="25"/>
                </a:lnTo>
                <a:lnTo>
                  <a:pt x="66" y="30"/>
                </a:lnTo>
                <a:lnTo>
                  <a:pt x="68" y="36"/>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04" name="Freeform 1609">
            <a:extLst>
              <a:ext uri="{FF2B5EF4-FFF2-40B4-BE49-F238E27FC236}">
                <a16:creationId xmlns:a16="http://schemas.microsoft.com/office/drawing/2014/main" id="{B8700121-544F-C998-3329-0AD2D82CDD07}"/>
              </a:ext>
            </a:extLst>
          </p:cNvPr>
          <p:cNvSpPr>
            <a:spLocks noEditPoints="1"/>
          </p:cNvSpPr>
          <p:nvPr/>
        </p:nvSpPr>
        <p:spPr bwMode="auto">
          <a:xfrm>
            <a:off x="2862263" y="2508250"/>
            <a:ext cx="106363" cy="104775"/>
          </a:xfrm>
          <a:custGeom>
            <a:avLst/>
            <a:gdLst>
              <a:gd name="T0" fmla="*/ 67 w 67"/>
              <a:gd name="T1" fmla="*/ 27 h 66"/>
              <a:gd name="T2" fmla="*/ 62 w 67"/>
              <a:gd name="T3" fmla="*/ 15 h 66"/>
              <a:gd name="T4" fmla="*/ 52 w 67"/>
              <a:gd name="T5" fmla="*/ 5 h 66"/>
              <a:gd name="T6" fmla="*/ 40 w 67"/>
              <a:gd name="T7" fmla="*/ 0 h 66"/>
              <a:gd name="T8" fmla="*/ 27 w 67"/>
              <a:gd name="T9" fmla="*/ 0 h 66"/>
              <a:gd name="T10" fmla="*/ 15 w 67"/>
              <a:gd name="T11" fmla="*/ 5 h 66"/>
              <a:gd name="T12" fmla="*/ 5 w 67"/>
              <a:gd name="T13" fmla="*/ 15 h 66"/>
              <a:gd name="T14" fmla="*/ 0 w 67"/>
              <a:gd name="T15" fmla="*/ 27 h 66"/>
              <a:gd name="T16" fmla="*/ 0 w 67"/>
              <a:gd name="T17" fmla="*/ 40 h 66"/>
              <a:gd name="T18" fmla="*/ 5 w 67"/>
              <a:gd name="T19" fmla="*/ 51 h 66"/>
              <a:gd name="T20" fmla="*/ 15 w 67"/>
              <a:gd name="T21" fmla="*/ 61 h 66"/>
              <a:gd name="T22" fmla="*/ 27 w 67"/>
              <a:gd name="T23" fmla="*/ 66 h 66"/>
              <a:gd name="T24" fmla="*/ 40 w 67"/>
              <a:gd name="T25" fmla="*/ 66 h 66"/>
              <a:gd name="T26" fmla="*/ 52 w 67"/>
              <a:gd name="T27" fmla="*/ 61 h 66"/>
              <a:gd name="T28" fmla="*/ 62 w 67"/>
              <a:gd name="T29" fmla="*/ 51 h 66"/>
              <a:gd name="T30" fmla="*/ 67 w 67"/>
              <a:gd name="T31" fmla="*/ 40 h 66"/>
              <a:gd name="T32" fmla="*/ 62 w 67"/>
              <a:gd name="T33" fmla="*/ 33 h 66"/>
              <a:gd name="T34" fmla="*/ 60 w 67"/>
              <a:gd name="T35" fmla="*/ 45 h 66"/>
              <a:gd name="T36" fmla="*/ 53 w 67"/>
              <a:gd name="T37" fmla="*/ 53 h 66"/>
              <a:gd name="T38" fmla="*/ 45 w 67"/>
              <a:gd name="T39" fmla="*/ 60 h 66"/>
              <a:gd name="T40" fmla="*/ 33 w 67"/>
              <a:gd name="T41" fmla="*/ 61 h 66"/>
              <a:gd name="T42" fmla="*/ 22 w 67"/>
              <a:gd name="T43" fmla="*/ 60 h 66"/>
              <a:gd name="T44" fmla="*/ 14 w 67"/>
              <a:gd name="T45" fmla="*/ 53 h 66"/>
              <a:gd name="T46" fmla="*/ 7 w 67"/>
              <a:gd name="T47" fmla="*/ 45 h 66"/>
              <a:gd name="T48" fmla="*/ 4 w 67"/>
              <a:gd name="T49" fmla="*/ 33 h 66"/>
              <a:gd name="T50" fmla="*/ 7 w 67"/>
              <a:gd name="T51" fmla="*/ 22 h 66"/>
              <a:gd name="T52" fmla="*/ 14 w 67"/>
              <a:gd name="T53" fmla="*/ 13 h 66"/>
              <a:gd name="T54" fmla="*/ 22 w 67"/>
              <a:gd name="T55" fmla="*/ 7 h 66"/>
              <a:gd name="T56" fmla="*/ 33 w 67"/>
              <a:gd name="T57" fmla="*/ 5 h 66"/>
              <a:gd name="T58" fmla="*/ 45 w 67"/>
              <a:gd name="T59" fmla="*/ 7 h 66"/>
              <a:gd name="T60" fmla="*/ 53 w 67"/>
              <a:gd name="T61" fmla="*/ 13 h 66"/>
              <a:gd name="T62" fmla="*/ 60 w 67"/>
              <a:gd name="T63" fmla="*/ 22 h 66"/>
              <a:gd name="T64" fmla="*/ 62 w 67"/>
              <a:gd name="T65" fmla="*/ 3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 h="66">
                <a:moveTo>
                  <a:pt x="67" y="33"/>
                </a:moveTo>
                <a:lnTo>
                  <a:pt x="67" y="27"/>
                </a:lnTo>
                <a:lnTo>
                  <a:pt x="63" y="20"/>
                </a:lnTo>
                <a:lnTo>
                  <a:pt x="62" y="15"/>
                </a:lnTo>
                <a:lnTo>
                  <a:pt x="57" y="10"/>
                </a:lnTo>
                <a:lnTo>
                  <a:pt x="52" y="5"/>
                </a:lnTo>
                <a:lnTo>
                  <a:pt x="47" y="2"/>
                </a:lnTo>
                <a:lnTo>
                  <a:pt x="40" y="0"/>
                </a:lnTo>
                <a:lnTo>
                  <a:pt x="33" y="0"/>
                </a:lnTo>
                <a:lnTo>
                  <a:pt x="27" y="0"/>
                </a:lnTo>
                <a:lnTo>
                  <a:pt x="20" y="2"/>
                </a:lnTo>
                <a:lnTo>
                  <a:pt x="15" y="5"/>
                </a:lnTo>
                <a:lnTo>
                  <a:pt x="10" y="10"/>
                </a:lnTo>
                <a:lnTo>
                  <a:pt x="5" y="15"/>
                </a:lnTo>
                <a:lnTo>
                  <a:pt x="2" y="20"/>
                </a:lnTo>
                <a:lnTo>
                  <a:pt x="0" y="27"/>
                </a:lnTo>
                <a:lnTo>
                  <a:pt x="0" y="33"/>
                </a:lnTo>
                <a:lnTo>
                  <a:pt x="0" y="40"/>
                </a:lnTo>
                <a:lnTo>
                  <a:pt x="2" y="46"/>
                </a:lnTo>
                <a:lnTo>
                  <a:pt x="5" y="51"/>
                </a:lnTo>
                <a:lnTo>
                  <a:pt x="10" y="56"/>
                </a:lnTo>
                <a:lnTo>
                  <a:pt x="15" y="61"/>
                </a:lnTo>
                <a:lnTo>
                  <a:pt x="20" y="65"/>
                </a:lnTo>
                <a:lnTo>
                  <a:pt x="27" y="66"/>
                </a:lnTo>
                <a:lnTo>
                  <a:pt x="33" y="66"/>
                </a:lnTo>
                <a:lnTo>
                  <a:pt x="40" y="66"/>
                </a:lnTo>
                <a:lnTo>
                  <a:pt x="47" y="65"/>
                </a:lnTo>
                <a:lnTo>
                  <a:pt x="52" y="61"/>
                </a:lnTo>
                <a:lnTo>
                  <a:pt x="57" y="56"/>
                </a:lnTo>
                <a:lnTo>
                  <a:pt x="62" y="51"/>
                </a:lnTo>
                <a:lnTo>
                  <a:pt x="63" y="46"/>
                </a:lnTo>
                <a:lnTo>
                  <a:pt x="67" y="40"/>
                </a:lnTo>
                <a:lnTo>
                  <a:pt x="67" y="33"/>
                </a:lnTo>
                <a:close/>
                <a:moveTo>
                  <a:pt x="62" y="33"/>
                </a:moveTo>
                <a:lnTo>
                  <a:pt x="62" y="38"/>
                </a:lnTo>
                <a:lnTo>
                  <a:pt x="60" y="45"/>
                </a:lnTo>
                <a:lnTo>
                  <a:pt x="57" y="50"/>
                </a:lnTo>
                <a:lnTo>
                  <a:pt x="53" y="53"/>
                </a:lnTo>
                <a:lnTo>
                  <a:pt x="50" y="56"/>
                </a:lnTo>
                <a:lnTo>
                  <a:pt x="45" y="60"/>
                </a:lnTo>
                <a:lnTo>
                  <a:pt x="38" y="61"/>
                </a:lnTo>
                <a:lnTo>
                  <a:pt x="33" y="61"/>
                </a:lnTo>
                <a:lnTo>
                  <a:pt x="27" y="61"/>
                </a:lnTo>
                <a:lnTo>
                  <a:pt x="22" y="60"/>
                </a:lnTo>
                <a:lnTo>
                  <a:pt x="17" y="56"/>
                </a:lnTo>
                <a:lnTo>
                  <a:pt x="14" y="53"/>
                </a:lnTo>
                <a:lnTo>
                  <a:pt x="9" y="50"/>
                </a:lnTo>
                <a:lnTo>
                  <a:pt x="7" y="45"/>
                </a:lnTo>
                <a:lnTo>
                  <a:pt x="5" y="38"/>
                </a:lnTo>
                <a:lnTo>
                  <a:pt x="4" y="33"/>
                </a:lnTo>
                <a:lnTo>
                  <a:pt x="5" y="27"/>
                </a:lnTo>
                <a:lnTo>
                  <a:pt x="7" y="22"/>
                </a:lnTo>
                <a:lnTo>
                  <a:pt x="9" y="17"/>
                </a:lnTo>
                <a:lnTo>
                  <a:pt x="14" y="13"/>
                </a:lnTo>
                <a:lnTo>
                  <a:pt x="17" y="10"/>
                </a:lnTo>
                <a:lnTo>
                  <a:pt x="22" y="7"/>
                </a:lnTo>
                <a:lnTo>
                  <a:pt x="27" y="5"/>
                </a:lnTo>
                <a:lnTo>
                  <a:pt x="33" y="5"/>
                </a:lnTo>
                <a:lnTo>
                  <a:pt x="38" y="5"/>
                </a:lnTo>
                <a:lnTo>
                  <a:pt x="45" y="7"/>
                </a:lnTo>
                <a:lnTo>
                  <a:pt x="50" y="10"/>
                </a:lnTo>
                <a:lnTo>
                  <a:pt x="53" y="13"/>
                </a:lnTo>
                <a:lnTo>
                  <a:pt x="57" y="17"/>
                </a:lnTo>
                <a:lnTo>
                  <a:pt x="60" y="22"/>
                </a:lnTo>
                <a:lnTo>
                  <a:pt x="62" y="27"/>
                </a:lnTo>
                <a:lnTo>
                  <a:pt x="62" y="33"/>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05" name="Freeform 1610">
            <a:extLst>
              <a:ext uri="{FF2B5EF4-FFF2-40B4-BE49-F238E27FC236}">
                <a16:creationId xmlns:a16="http://schemas.microsoft.com/office/drawing/2014/main" id="{4CCC6A04-4F78-503F-7887-736D227ACE89}"/>
              </a:ext>
            </a:extLst>
          </p:cNvPr>
          <p:cNvSpPr>
            <a:spLocks noEditPoints="1"/>
          </p:cNvSpPr>
          <p:nvPr/>
        </p:nvSpPr>
        <p:spPr bwMode="auto">
          <a:xfrm>
            <a:off x="2865438" y="2511425"/>
            <a:ext cx="100013" cy="100013"/>
          </a:xfrm>
          <a:custGeom>
            <a:avLst/>
            <a:gdLst>
              <a:gd name="T0" fmla="*/ 61 w 63"/>
              <a:gd name="T1" fmla="*/ 25 h 63"/>
              <a:gd name="T2" fmla="*/ 56 w 63"/>
              <a:gd name="T3" fmla="*/ 13 h 63"/>
              <a:gd name="T4" fmla="*/ 48 w 63"/>
              <a:gd name="T5" fmla="*/ 5 h 63"/>
              <a:gd name="T6" fmla="*/ 38 w 63"/>
              <a:gd name="T7" fmla="*/ 0 h 63"/>
              <a:gd name="T8" fmla="*/ 25 w 63"/>
              <a:gd name="T9" fmla="*/ 0 h 63"/>
              <a:gd name="T10" fmla="*/ 13 w 63"/>
              <a:gd name="T11" fmla="*/ 5 h 63"/>
              <a:gd name="T12" fmla="*/ 5 w 63"/>
              <a:gd name="T13" fmla="*/ 13 h 63"/>
              <a:gd name="T14" fmla="*/ 0 w 63"/>
              <a:gd name="T15" fmla="*/ 25 h 63"/>
              <a:gd name="T16" fmla="*/ 0 w 63"/>
              <a:gd name="T17" fmla="*/ 38 h 63"/>
              <a:gd name="T18" fmla="*/ 5 w 63"/>
              <a:gd name="T19" fmla="*/ 48 h 63"/>
              <a:gd name="T20" fmla="*/ 13 w 63"/>
              <a:gd name="T21" fmla="*/ 56 h 63"/>
              <a:gd name="T22" fmla="*/ 25 w 63"/>
              <a:gd name="T23" fmla="*/ 61 h 63"/>
              <a:gd name="T24" fmla="*/ 38 w 63"/>
              <a:gd name="T25" fmla="*/ 61 h 63"/>
              <a:gd name="T26" fmla="*/ 48 w 63"/>
              <a:gd name="T27" fmla="*/ 56 h 63"/>
              <a:gd name="T28" fmla="*/ 56 w 63"/>
              <a:gd name="T29" fmla="*/ 48 h 63"/>
              <a:gd name="T30" fmla="*/ 61 w 63"/>
              <a:gd name="T31" fmla="*/ 38 h 63"/>
              <a:gd name="T32" fmla="*/ 58 w 63"/>
              <a:gd name="T33" fmla="*/ 31 h 63"/>
              <a:gd name="T34" fmla="*/ 55 w 63"/>
              <a:gd name="T35" fmla="*/ 41 h 63"/>
              <a:gd name="T36" fmla="*/ 50 w 63"/>
              <a:gd name="T37" fmla="*/ 49 h 63"/>
              <a:gd name="T38" fmla="*/ 41 w 63"/>
              <a:gd name="T39" fmla="*/ 56 h 63"/>
              <a:gd name="T40" fmla="*/ 31 w 63"/>
              <a:gd name="T41" fmla="*/ 58 h 63"/>
              <a:gd name="T42" fmla="*/ 21 w 63"/>
              <a:gd name="T43" fmla="*/ 56 h 63"/>
              <a:gd name="T44" fmla="*/ 13 w 63"/>
              <a:gd name="T45" fmla="*/ 49 h 63"/>
              <a:gd name="T46" fmla="*/ 7 w 63"/>
              <a:gd name="T47" fmla="*/ 41 h 63"/>
              <a:gd name="T48" fmla="*/ 5 w 63"/>
              <a:gd name="T49" fmla="*/ 31 h 63"/>
              <a:gd name="T50" fmla="*/ 7 w 63"/>
              <a:gd name="T51" fmla="*/ 21 h 63"/>
              <a:gd name="T52" fmla="*/ 13 w 63"/>
              <a:gd name="T53" fmla="*/ 13 h 63"/>
              <a:gd name="T54" fmla="*/ 21 w 63"/>
              <a:gd name="T55" fmla="*/ 6 h 63"/>
              <a:gd name="T56" fmla="*/ 31 w 63"/>
              <a:gd name="T57" fmla="*/ 5 h 63"/>
              <a:gd name="T58" fmla="*/ 41 w 63"/>
              <a:gd name="T59" fmla="*/ 6 h 63"/>
              <a:gd name="T60" fmla="*/ 50 w 63"/>
              <a:gd name="T61" fmla="*/ 13 h 63"/>
              <a:gd name="T62" fmla="*/ 55 w 63"/>
              <a:gd name="T63" fmla="*/ 21 h 63"/>
              <a:gd name="T64" fmla="*/ 58 w 63"/>
              <a:gd name="T65" fmla="*/ 31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3" h="63">
                <a:moveTo>
                  <a:pt x="63" y="31"/>
                </a:moveTo>
                <a:lnTo>
                  <a:pt x="61" y="25"/>
                </a:lnTo>
                <a:lnTo>
                  <a:pt x="60" y="20"/>
                </a:lnTo>
                <a:lnTo>
                  <a:pt x="56" y="13"/>
                </a:lnTo>
                <a:lnTo>
                  <a:pt x="53" y="10"/>
                </a:lnTo>
                <a:lnTo>
                  <a:pt x="48" y="5"/>
                </a:lnTo>
                <a:lnTo>
                  <a:pt x="43" y="3"/>
                </a:lnTo>
                <a:lnTo>
                  <a:pt x="38" y="0"/>
                </a:lnTo>
                <a:lnTo>
                  <a:pt x="31" y="0"/>
                </a:lnTo>
                <a:lnTo>
                  <a:pt x="25" y="0"/>
                </a:lnTo>
                <a:lnTo>
                  <a:pt x="20" y="3"/>
                </a:lnTo>
                <a:lnTo>
                  <a:pt x="13" y="5"/>
                </a:lnTo>
                <a:lnTo>
                  <a:pt x="10" y="10"/>
                </a:lnTo>
                <a:lnTo>
                  <a:pt x="5" y="13"/>
                </a:lnTo>
                <a:lnTo>
                  <a:pt x="3" y="20"/>
                </a:lnTo>
                <a:lnTo>
                  <a:pt x="0" y="25"/>
                </a:lnTo>
                <a:lnTo>
                  <a:pt x="0" y="31"/>
                </a:lnTo>
                <a:lnTo>
                  <a:pt x="0" y="38"/>
                </a:lnTo>
                <a:lnTo>
                  <a:pt x="3" y="43"/>
                </a:lnTo>
                <a:lnTo>
                  <a:pt x="5" y="48"/>
                </a:lnTo>
                <a:lnTo>
                  <a:pt x="10" y="53"/>
                </a:lnTo>
                <a:lnTo>
                  <a:pt x="13" y="56"/>
                </a:lnTo>
                <a:lnTo>
                  <a:pt x="20" y="59"/>
                </a:lnTo>
                <a:lnTo>
                  <a:pt x="25" y="61"/>
                </a:lnTo>
                <a:lnTo>
                  <a:pt x="31" y="63"/>
                </a:lnTo>
                <a:lnTo>
                  <a:pt x="38" y="61"/>
                </a:lnTo>
                <a:lnTo>
                  <a:pt x="43" y="59"/>
                </a:lnTo>
                <a:lnTo>
                  <a:pt x="48" y="56"/>
                </a:lnTo>
                <a:lnTo>
                  <a:pt x="53" y="53"/>
                </a:lnTo>
                <a:lnTo>
                  <a:pt x="56" y="48"/>
                </a:lnTo>
                <a:lnTo>
                  <a:pt x="60" y="43"/>
                </a:lnTo>
                <a:lnTo>
                  <a:pt x="61" y="38"/>
                </a:lnTo>
                <a:lnTo>
                  <a:pt x="63" y="31"/>
                </a:lnTo>
                <a:close/>
                <a:moveTo>
                  <a:pt x="58" y="31"/>
                </a:moveTo>
                <a:lnTo>
                  <a:pt x="56" y="36"/>
                </a:lnTo>
                <a:lnTo>
                  <a:pt x="55" y="41"/>
                </a:lnTo>
                <a:lnTo>
                  <a:pt x="53" y="46"/>
                </a:lnTo>
                <a:lnTo>
                  <a:pt x="50" y="49"/>
                </a:lnTo>
                <a:lnTo>
                  <a:pt x="46" y="53"/>
                </a:lnTo>
                <a:lnTo>
                  <a:pt x="41" y="56"/>
                </a:lnTo>
                <a:lnTo>
                  <a:pt x="36" y="56"/>
                </a:lnTo>
                <a:lnTo>
                  <a:pt x="31" y="58"/>
                </a:lnTo>
                <a:lnTo>
                  <a:pt x="26" y="56"/>
                </a:lnTo>
                <a:lnTo>
                  <a:pt x="21" y="56"/>
                </a:lnTo>
                <a:lnTo>
                  <a:pt x="17" y="53"/>
                </a:lnTo>
                <a:lnTo>
                  <a:pt x="13" y="49"/>
                </a:lnTo>
                <a:lnTo>
                  <a:pt x="10" y="46"/>
                </a:lnTo>
                <a:lnTo>
                  <a:pt x="7" y="41"/>
                </a:lnTo>
                <a:lnTo>
                  <a:pt x="5" y="36"/>
                </a:lnTo>
                <a:lnTo>
                  <a:pt x="5" y="31"/>
                </a:lnTo>
                <a:lnTo>
                  <a:pt x="5" y="26"/>
                </a:lnTo>
                <a:lnTo>
                  <a:pt x="7" y="21"/>
                </a:lnTo>
                <a:lnTo>
                  <a:pt x="10" y="16"/>
                </a:lnTo>
                <a:lnTo>
                  <a:pt x="13" y="13"/>
                </a:lnTo>
                <a:lnTo>
                  <a:pt x="17" y="10"/>
                </a:lnTo>
                <a:lnTo>
                  <a:pt x="21" y="6"/>
                </a:lnTo>
                <a:lnTo>
                  <a:pt x="26" y="5"/>
                </a:lnTo>
                <a:lnTo>
                  <a:pt x="31" y="5"/>
                </a:lnTo>
                <a:lnTo>
                  <a:pt x="36" y="5"/>
                </a:lnTo>
                <a:lnTo>
                  <a:pt x="41" y="6"/>
                </a:lnTo>
                <a:lnTo>
                  <a:pt x="46" y="10"/>
                </a:lnTo>
                <a:lnTo>
                  <a:pt x="50" y="13"/>
                </a:lnTo>
                <a:lnTo>
                  <a:pt x="53" y="16"/>
                </a:lnTo>
                <a:lnTo>
                  <a:pt x="55" y="21"/>
                </a:lnTo>
                <a:lnTo>
                  <a:pt x="56" y="26"/>
                </a:lnTo>
                <a:lnTo>
                  <a:pt x="58" y="31"/>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06" name="Freeform 1611">
            <a:extLst>
              <a:ext uri="{FF2B5EF4-FFF2-40B4-BE49-F238E27FC236}">
                <a16:creationId xmlns:a16="http://schemas.microsoft.com/office/drawing/2014/main" id="{36F86823-D229-2C6E-B170-F8B379E47542}"/>
              </a:ext>
            </a:extLst>
          </p:cNvPr>
          <p:cNvSpPr>
            <a:spLocks noEditPoints="1"/>
          </p:cNvSpPr>
          <p:nvPr/>
        </p:nvSpPr>
        <p:spPr bwMode="auto">
          <a:xfrm>
            <a:off x="2868613" y="2516188"/>
            <a:ext cx="92075" cy="88900"/>
          </a:xfrm>
          <a:custGeom>
            <a:avLst/>
            <a:gdLst>
              <a:gd name="T0" fmla="*/ 58 w 58"/>
              <a:gd name="T1" fmla="*/ 22 h 56"/>
              <a:gd name="T2" fmla="*/ 53 w 58"/>
              <a:gd name="T3" fmla="*/ 12 h 56"/>
              <a:gd name="T4" fmla="*/ 46 w 58"/>
              <a:gd name="T5" fmla="*/ 5 h 56"/>
              <a:gd name="T6" fmla="*/ 34 w 58"/>
              <a:gd name="T7" fmla="*/ 0 h 56"/>
              <a:gd name="T8" fmla="*/ 23 w 58"/>
              <a:gd name="T9" fmla="*/ 0 h 56"/>
              <a:gd name="T10" fmla="*/ 13 w 58"/>
              <a:gd name="T11" fmla="*/ 5 h 56"/>
              <a:gd name="T12" fmla="*/ 5 w 58"/>
              <a:gd name="T13" fmla="*/ 12 h 56"/>
              <a:gd name="T14" fmla="*/ 1 w 58"/>
              <a:gd name="T15" fmla="*/ 22 h 56"/>
              <a:gd name="T16" fmla="*/ 1 w 58"/>
              <a:gd name="T17" fmla="*/ 33 h 56"/>
              <a:gd name="T18" fmla="*/ 5 w 58"/>
              <a:gd name="T19" fmla="*/ 45 h 56"/>
              <a:gd name="T20" fmla="*/ 13 w 58"/>
              <a:gd name="T21" fmla="*/ 51 h 56"/>
              <a:gd name="T22" fmla="*/ 23 w 58"/>
              <a:gd name="T23" fmla="*/ 56 h 56"/>
              <a:gd name="T24" fmla="*/ 34 w 58"/>
              <a:gd name="T25" fmla="*/ 56 h 56"/>
              <a:gd name="T26" fmla="*/ 46 w 58"/>
              <a:gd name="T27" fmla="*/ 51 h 56"/>
              <a:gd name="T28" fmla="*/ 53 w 58"/>
              <a:gd name="T29" fmla="*/ 45 h 56"/>
              <a:gd name="T30" fmla="*/ 58 w 58"/>
              <a:gd name="T31" fmla="*/ 33 h 56"/>
              <a:gd name="T32" fmla="*/ 53 w 58"/>
              <a:gd name="T33" fmla="*/ 28 h 56"/>
              <a:gd name="T34" fmla="*/ 51 w 58"/>
              <a:gd name="T35" fmla="*/ 38 h 56"/>
              <a:gd name="T36" fmla="*/ 46 w 58"/>
              <a:gd name="T37" fmla="*/ 45 h 56"/>
              <a:gd name="T38" fmla="*/ 38 w 58"/>
              <a:gd name="T39" fmla="*/ 50 h 56"/>
              <a:gd name="T40" fmla="*/ 29 w 58"/>
              <a:gd name="T41" fmla="*/ 51 h 56"/>
              <a:gd name="T42" fmla="*/ 19 w 58"/>
              <a:gd name="T43" fmla="*/ 50 h 56"/>
              <a:gd name="T44" fmla="*/ 13 w 58"/>
              <a:gd name="T45" fmla="*/ 45 h 56"/>
              <a:gd name="T46" fmla="*/ 8 w 58"/>
              <a:gd name="T47" fmla="*/ 38 h 56"/>
              <a:gd name="T48" fmla="*/ 5 w 58"/>
              <a:gd name="T49" fmla="*/ 28 h 56"/>
              <a:gd name="T50" fmla="*/ 8 w 58"/>
              <a:gd name="T51" fmla="*/ 18 h 56"/>
              <a:gd name="T52" fmla="*/ 13 w 58"/>
              <a:gd name="T53" fmla="*/ 12 h 56"/>
              <a:gd name="T54" fmla="*/ 19 w 58"/>
              <a:gd name="T55" fmla="*/ 7 h 56"/>
              <a:gd name="T56" fmla="*/ 29 w 58"/>
              <a:gd name="T57" fmla="*/ 3 h 56"/>
              <a:gd name="T58" fmla="*/ 38 w 58"/>
              <a:gd name="T59" fmla="*/ 7 h 56"/>
              <a:gd name="T60" fmla="*/ 46 w 58"/>
              <a:gd name="T61" fmla="*/ 12 h 56"/>
              <a:gd name="T62" fmla="*/ 51 w 58"/>
              <a:gd name="T63" fmla="*/ 18 h 56"/>
              <a:gd name="T64" fmla="*/ 53 w 58"/>
              <a:gd name="T65" fmla="*/ 28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8" h="56">
                <a:moveTo>
                  <a:pt x="58" y="28"/>
                </a:moveTo>
                <a:lnTo>
                  <a:pt x="58" y="22"/>
                </a:lnTo>
                <a:lnTo>
                  <a:pt x="56" y="17"/>
                </a:lnTo>
                <a:lnTo>
                  <a:pt x="53" y="12"/>
                </a:lnTo>
                <a:lnTo>
                  <a:pt x="49" y="8"/>
                </a:lnTo>
                <a:lnTo>
                  <a:pt x="46" y="5"/>
                </a:lnTo>
                <a:lnTo>
                  <a:pt x="41" y="2"/>
                </a:lnTo>
                <a:lnTo>
                  <a:pt x="34" y="0"/>
                </a:lnTo>
                <a:lnTo>
                  <a:pt x="29" y="0"/>
                </a:lnTo>
                <a:lnTo>
                  <a:pt x="23" y="0"/>
                </a:lnTo>
                <a:lnTo>
                  <a:pt x="18" y="2"/>
                </a:lnTo>
                <a:lnTo>
                  <a:pt x="13" y="5"/>
                </a:lnTo>
                <a:lnTo>
                  <a:pt x="10" y="8"/>
                </a:lnTo>
                <a:lnTo>
                  <a:pt x="5" y="12"/>
                </a:lnTo>
                <a:lnTo>
                  <a:pt x="3" y="17"/>
                </a:lnTo>
                <a:lnTo>
                  <a:pt x="1" y="22"/>
                </a:lnTo>
                <a:lnTo>
                  <a:pt x="0" y="28"/>
                </a:lnTo>
                <a:lnTo>
                  <a:pt x="1" y="33"/>
                </a:lnTo>
                <a:lnTo>
                  <a:pt x="3" y="40"/>
                </a:lnTo>
                <a:lnTo>
                  <a:pt x="5" y="45"/>
                </a:lnTo>
                <a:lnTo>
                  <a:pt x="10" y="48"/>
                </a:lnTo>
                <a:lnTo>
                  <a:pt x="13" y="51"/>
                </a:lnTo>
                <a:lnTo>
                  <a:pt x="18" y="55"/>
                </a:lnTo>
                <a:lnTo>
                  <a:pt x="23" y="56"/>
                </a:lnTo>
                <a:lnTo>
                  <a:pt x="29" y="56"/>
                </a:lnTo>
                <a:lnTo>
                  <a:pt x="34" y="56"/>
                </a:lnTo>
                <a:lnTo>
                  <a:pt x="41" y="55"/>
                </a:lnTo>
                <a:lnTo>
                  <a:pt x="46" y="51"/>
                </a:lnTo>
                <a:lnTo>
                  <a:pt x="49" y="48"/>
                </a:lnTo>
                <a:lnTo>
                  <a:pt x="53" y="45"/>
                </a:lnTo>
                <a:lnTo>
                  <a:pt x="56" y="40"/>
                </a:lnTo>
                <a:lnTo>
                  <a:pt x="58" y="33"/>
                </a:lnTo>
                <a:lnTo>
                  <a:pt x="58" y="28"/>
                </a:lnTo>
                <a:close/>
                <a:moveTo>
                  <a:pt x="53" y="28"/>
                </a:moveTo>
                <a:lnTo>
                  <a:pt x="53" y="33"/>
                </a:lnTo>
                <a:lnTo>
                  <a:pt x="51" y="38"/>
                </a:lnTo>
                <a:lnTo>
                  <a:pt x="49" y="41"/>
                </a:lnTo>
                <a:lnTo>
                  <a:pt x="46" y="45"/>
                </a:lnTo>
                <a:lnTo>
                  <a:pt x="43" y="48"/>
                </a:lnTo>
                <a:lnTo>
                  <a:pt x="38" y="50"/>
                </a:lnTo>
                <a:lnTo>
                  <a:pt x="34" y="51"/>
                </a:lnTo>
                <a:lnTo>
                  <a:pt x="29" y="51"/>
                </a:lnTo>
                <a:lnTo>
                  <a:pt x="24" y="51"/>
                </a:lnTo>
                <a:lnTo>
                  <a:pt x="19" y="50"/>
                </a:lnTo>
                <a:lnTo>
                  <a:pt x="16" y="48"/>
                </a:lnTo>
                <a:lnTo>
                  <a:pt x="13" y="45"/>
                </a:lnTo>
                <a:lnTo>
                  <a:pt x="10" y="41"/>
                </a:lnTo>
                <a:lnTo>
                  <a:pt x="8" y="38"/>
                </a:lnTo>
                <a:lnTo>
                  <a:pt x="6" y="33"/>
                </a:lnTo>
                <a:lnTo>
                  <a:pt x="5" y="28"/>
                </a:lnTo>
                <a:lnTo>
                  <a:pt x="6" y="23"/>
                </a:lnTo>
                <a:lnTo>
                  <a:pt x="8" y="18"/>
                </a:lnTo>
                <a:lnTo>
                  <a:pt x="10" y="15"/>
                </a:lnTo>
                <a:lnTo>
                  <a:pt x="13" y="12"/>
                </a:lnTo>
                <a:lnTo>
                  <a:pt x="16" y="8"/>
                </a:lnTo>
                <a:lnTo>
                  <a:pt x="19" y="7"/>
                </a:lnTo>
                <a:lnTo>
                  <a:pt x="24" y="5"/>
                </a:lnTo>
                <a:lnTo>
                  <a:pt x="29" y="3"/>
                </a:lnTo>
                <a:lnTo>
                  <a:pt x="34" y="5"/>
                </a:lnTo>
                <a:lnTo>
                  <a:pt x="38" y="7"/>
                </a:lnTo>
                <a:lnTo>
                  <a:pt x="43" y="8"/>
                </a:lnTo>
                <a:lnTo>
                  <a:pt x="46" y="12"/>
                </a:lnTo>
                <a:lnTo>
                  <a:pt x="49" y="15"/>
                </a:lnTo>
                <a:lnTo>
                  <a:pt x="51" y="18"/>
                </a:lnTo>
                <a:lnTo>
                  <a:pt x="53" y="23"/>
                </a:lnTo>
                <a:lnTo>
                  <a:pt x="53" y="28"/>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07" name="Freeform 1612">
            <a:extLst>
              <a:ext uri="{FF2B5EF4-FFF2-40B4-BE49-F238E27FC236}">
                <a16:creationId xmlns:a16="http://schemas.microsoft.com/office/drawing/2014/main" id="{71D7FB18-BE49-B26C-F534-D041ECE3089E}"/>
              </a:ext>
            </a:extLst>
          </p:cNvPr>
          <p:cNvSpPr>
            <a:spLocks noEditPoints="1"/>
          </p:cNvSpPr>
          <p:nvPr/>
        </p:nvSpPr>
        <p:spPr bwMode="auto">
          <a:xfrm>
            <a:off x="2873375" y="2519363"/>
            <a:ext cx="84138" cy="84138"/>
          </a:xfrm>
          <a:custGeom>
            <a:avLst/>
            <a:gdLst>
              <a:gd name="T0" fmla="*/ 51 w 53"/>
              <a:gd name="T1" fmla="*/ 21 h 53"/>
              <a:gd name="T2" fmla="*/ 48 w 53"/>
              <a:gd name="T3" fmla="*/ 11 h 53"/>
              <a:gd name="T4" fmla="*/ 41 w 53"/>
              <a:gd name="T5" fmla="*/ 5 h 53"/>
              <a:gd name="T6" fmla="*/ 31 w 53"/>
              <a:gd name="T7" fmla="*/ 0 h 53"/>
              <a:gd name="T8" fmla="*/ 21 w 53"/>
              <a:gd name="T9" fmla="*/ 0 h 53"/>
              <a:gd name="T10" fmla="*/ 12 w 53"/>
              <a:gd name="T11" fmla="*/ 5 h 53"/>
              <a:gd name="T12" fmla="*/ 5 w 53"/>
              <a:gd name="T13" fmla="*/ 11 h 53"/>
              <a:gd name="T14" fmla="*/ 0 w 53"/>
              <a:gd name="T15" fmla="*/ 21 h 53"/>
              <a:gd name="T16" fmla="*/ 0 w 53"/>
              <a:gd name="T17" fmla="*/ 31 h 53"/>
              <a:gd name="T18" fmla="*/ 5 w 53"/>
              <a:gd name="T19" fmla="*/ 41 h 53"/>
              <a:gd name="T20" fmla="*/ 12 w 53"/>
              <a:gd name="T21" fmla="*/ 48 h 53"/>
              <a:gd name="T22" fmla="*/ 21 w 53"/>
              <a:gd name="T23" fmla="*/ 51 h 53"/>
              <a:gd name="T24" fmla="*/ 31 w 53"/>
              <a:gd name="T25" fmla="*/ 51 h 53"/>
              <a:gd name="T26" fmla="*/ 41 w 53"/>
              <a:gd name="T27" fmla="*/ 48 h 53"/>
              <a:gd name="T28" fmla="*/ 48 w 53"/>
              <a:gd name="T29" fmla="*/ 41 h 53"/>
              <a:gd name="T30" fmla="*/ 51 w 53"/>
              <a:gd name="T31" fmla="*/ 31 h 53"/>
              <a:gd name="T32" fmla="*/ 48 w 53"/>
              <a:gd name="T33" fmla="*/ 26 h 53"/>
              <a:gd name="T34" fmla="*/ 46 w 53"/>
              <a:gd name="T35" fmla="*/ 34 h 53"/>
              <a:gd name="T36" fmla="*/ 41 w 53"/>
              <a:gd name="T37" fmla="*/ 41 h 53"/>
              <a:gd name="T38" fmla="*/ 35 w 53"/>
              <a:gd name="T39" fmla="*/ 46 h 53"/>
              <a:gd name="T40" fmla="*/ 26 w 53"/>
              <a:gd name="T41" fmla="*/ 48 h 53"/>
              <a:gd name="T42" fmla="*/ 18 w 53"/>
              <a:gd name="T43" fmla="*/ 46 h 53"/>
              <a:gd name="T44" fmla="*/ 12 w 53"/>
              <a:gd name="T45" fmla="*/ 41 h 53"/>
              <a:gd name="T46" fmla="*/ 7 w 53"/>
              <a:gd name="T47" fmla="*/ 34 h 53"/>
              <a:gd name="T48" fmla="*/ 5 w 53"/>
              <a:gd name="T49" fmla="*/ 26 h 53"/>
              <a:gd name="T50" fmla="*/ 7 w 53"/>
              <a:gd name="T51" fmla="*/ 18 h 53"/>
              <a:gd name="T52" fmla="*/ 12 w 53"/>
              <a:gd name="T53" fmla="*/ 11 h 53"/>
              <a:gd name="T54" fmla="*/ 18 w 53"/>
              <a:gd name="T55" fmla="*/ 6 h 53"/>
              <a:gd name="T56" fmla="*/ 26 w 53"/>
              <a:gd name="T57" fmla="*/ 5 h 53"/>
              <a:gd name="T58" fmla="*/ 35 w 53"/>
              <a:gd name="T59" fmla="*/ 6 h 53"/>
              <a:gd name="T60" fmla="*/ 41 w 53"/>
              <a:gd name="T61" fmla="*/ 11 h 53"/>
              <a:gd name="T62" fmla="*/ 46 w 53"/>
              <a:gd name="T63" fmla="*/ 18 h 53"/>
              <a:gd name="T64" fmla="*/ 48 w 53"/>
              <a:gd name="T65" fmla="*/ 26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3" h="53">
                <a:moveTo>
                  <a:pt x="53" y="26"/>
                </a:moveTo>
                <a:lnTo>
                  <a:pt x="51" y="21"/>
                </a:lnTo>
                <a:lnTo>
                  <a:pt x="50" y="16"/>
                </a:lnTo>
                <a:lnTo>
                  <a:pt x="48" y="11"/>
                </a:lnTo>
                <a:lnTo>
                  <a:pt x="45" y="8"/>
                </a:lnTo>
                <a:lnTo>
                  <a:pt x="41" y="5"/>
                </a:lnTo>
                <a:lnTo>
                  <a:pt x="36" y="1"/>
                </a:lnTo>
                <a:lnTo>
                  <a:pt x="31" y="0"/>
                </a:lnTo>
                <a:lnTo>
                  <a:pt x="26" y="0"/>
                </a:lnTo>
                <a:lnTo>
                  <a:pt x="21" y="0"/>
                </a:lnTo>
                <a:lnTo>
                  <a:pt x="16" y="1"/>
                </a:lnTo>
                <a:lnTo>
                  <a:pt x="12" y="5"/>
                </a:lnTo>
                <a:lnTo>
                  <a:pt x="8" y="8"/>
                </a:lnTo>
                <a:lnTo>
                  <a:pt x="5" y="11"/>
                </a:lnTo>
                <a:lnTo>
                  <a:pt x="2" y="16"/>
                </a:lnTo>
                <a:lnTo>
                  <a:pt x="0" y="21"/>
                </a:lnTo>
                <a:lnTo>
                  <a:pt x="0" y="26"/>
                </a:lnTo>
                <a:lnTo>
                  <a:pt x="0" y="31"/>
                </a:lnTo>
                <a:lnTo>
                  <a:pt x="2" y="36"/>
                </a:lnTo>
                <a:lnTo>
                  <a:pt x="5" y="41"/>
                </a:lnTo>
                <a:lnTo>
                  <a:pt x="8" y="44"/>
                </a:lnTo>
                <a:lnTo>
                  <a:pt x="12" y="48"/>
                </a:lnTo>
                <a:lnTo>
                  <a:pt x="16" y="51"/>
                </a:lnTo>
                <a:lnTo>
                  <a:pt x="21" y="51"/>
                </a:lnTo>
                <a:lnTo>
                  <a:pt x="26" y="53"/>
                </a:lnTo>
                <a:lnTo>
                  <a:pt x="31" y="51"/>
                </a:lnTo>
                <a:lnTo>
                  <a:pt x="36" y="51"/>
                </a:lnTo>
                <a:lnTo>
                  <a:pt x="41" y="48"/>
                </a:lnTo>
                <a:lnTo>
                  <a:pt x="45" y="44"/>
                </a:lnTo>
                <a:lnTo>
                  <a:pt x="48" y="41"/>
                </a:lnTo>
                <a:lnTo>
                  <a:pt x="50" y="36"/>
                </a:lnTo>
                <a:lnTo>
                  <a:pt x="51" y="31"/>
                </a:lnTo>
                <a:lnTo>
                  <a:pt x="53" y="26"/>
                </a:lnTo>
                <a:close/>
                <a:moveTo>
                  <a:pt x="48" y="26"/>
                </a:moveTo>
                <a:lnTo>
                  <a:pt x="48" y="31"/>
                </a:lnTo>
                <a:lnTo>
                  <a:pt x="46" y="34"/>
                </a:lnTo>
                <a:lnTo>
                  <a:pt x="45" y="38"/>
                </a:lnTo>
                <a:lnTo>
                  <a:pt x="41" y="41"/>
                </a:lnTo>
                <a:lnTo>
                  <a:pt x="38" y="44"/>
                </a:lnTo>
                <a:lnTo>
                  <a:pt x="35" y="46"/>
                </a:lnTo>
                <a:lnTo>
                  <a:pt x="30" y="48"/>
                </a:lnTo>
                <a:lnTo>
                  <a:pt x="26" y="48"/>
                </a:lnTo>
                <a:lnTo>
                  <a:pt x="21" y="48"/>
                </a:lnTo>
                <a:lnTo>
                  <a:pt x="18" y="46"/>
                </a:lnTo>
                <a:lnTo>
                  <a:pt x="15" y="44"/>
                </a:lnTo>
                <a:lnTo>
                  <a:pt x="12" y="41"/>
                </a:lnTo>
                <a:lnTo>
                  <a:pt x="8" y="38"/>
                </a:lnTo>
                <a:lnTo>
                  <a:pt x="7" y="34"/>
                </a:lnTo>
                <a:lnTo>
                  <a:pt x="5" y="31"/>
                </a:lnTo>
                <a:lnTo>
                  <a:pt x="5" y="26"/>
                </a:lnTo>
                <a:lnTo>
                  <a:pt x="5" y="21"/>
                </a:lnTo>
                <a:lnTo>
                  <a:pt x="7" y="18"/>
                </a:lnTo>
                <a:lnTo>
                  <a:pt x="8" y="15"/>
                </a:lnTo>
                <a:lnTo>
                  <a:pt x="12" y="11"/>
                </a:lnTo>
                <a:lnTo>
                  <a:pt x="15" y="8"/>
                </a:lnTo>
                <a:lnTo>
                  <a:pt x="18" y="6"/>
                </a:lnTo>
                <a:lnTo>
                  <a:pt x="21" y="5"/>
                </a:lnTo>
                <a:lnTo>
                  <a:pt x="26" y="5"/>
                </a:lnTo>
                <a:lnTo>
                  <a:pt x="30" y="5"/>
                </a:lnTo>
                <a:lnTo>
                  <a:pt x="35" y="6"/>
                </a:lnTo>
                <a:lnTo>
                  <a:pt x="38" y="8"/>
                </a:lnTo>
                <a:lnTo>
                  <a:pt x="41" y="11"/>
                </a:lnTo>
                <a:lnTo>
                  <a:pt x="45" y="15"/>
                </a:lnTo>
                <a:lnTo>
                  <a:pt x="46" y="18"/>
                </a:lnTo>
                <a:lnTo>
                  <a:pt x="48" y="21"/>
                </a:lnTo>
                <a:lnTo>
                  <a:pt x="48" y="26"/>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08" name="Freeform 1613">
            <a:extLst>
              <a:ext uri="{FF2B5EF4-FFF2-40B4-BE49-F238E27FC236}">
                <a16:creationId xmlns:a16="http://schemas.microsoft.com/office/drawing/2014/main" id="{6F593243-C33D-F639-70A5-F97993E29178}"/>
              </a:ext>
            </a:extLst>
          </p:cNvPr>
          <p:cNvSpPr>
            <a:spLocks noEditPoints="1"/>
          </p:cNvSpPr>
          <p:nvPr/>
        </p:nvSpPr>
        <p:spPr bwMode="auto">
          <a:xfrm>
            <a:off x="2876550" y="2520950"/>
            <a:ext cx="76200" cy="76200"/>
          </a:xfrm>
          <a:custGeom>
            <a:avLst/>
            <a:gdLst>
              <a:gd name="T0" fmla="*/ 48 w 48"/>
              <a:gd name="T1" fmla="*/ 20 h 48"/>
              <a:gd name="T2" fmla="*/ 44 w 48"/>
              <a:gd name="T3" fmla="*/ 12 h 48"/>
              <a:gd name="T4" fmla="*/ 38 w 48"/>
              <a:gd name="T5" fmla="*/ 5 h 48"/>
              <a:gd name="T6" fmla="*/ 29 w 48"/>
              <a:gd name="T7" fmla="*/ 2 h 48"/>
              <a:gd name="T8" fmla="*/ 19 w 48"/>
              <a:gd name="T9" fmla="*/ 2 h 48"/>
              <a:gd name="T10" fmla="*/ 11 w 48"/>
              <a:gd name="T11" fmla="*/ 5 h 48"/>
              <a:gd name="T12" fmla="*/ 5 w 48"/>
              <a:gd name="T13" fmla="*/ 12 h 48"/>
              <a:gd name="T14" fmla="*/ 1 w 48"/>
              <a:gd name="T15" fmla="*/ 20 h 48"/>
              <a:gd name="T16" fmla="*/ 1 w 48"/>
              <a:gd name="T17" fmla="*/ 30 h 48"/>
              <a:gd name="T18" fmla="*/ 5 w 48"/>
              <a:gd name="T19" fmla="*/ 38 h 48"/>
              <a:gd name="T20" fmla="*/ 11 w 48"/>
              <a:gd name="T21" fmla="*/ 45 h 48"/>
              <a:gd name="T22" fmla="*/ 19 w 48"/>
              <a:gd name="T23" fmla="*/ 48 h 48"/>
              <a:gd name="T24" fmla="*/ 29 w 48"/>
              <a:gd name="T25" fmla="*/ 48 h 48"/>
              <a:gd name="T26" fmla="*/ 38 w 48"/>
              <a:gd name="T27" fmla="*/ 45 h 48"/>
              <a:gd name="T28" fmla="*/ 44 w 48"/>
              <a:gd name="T29" fmla="*/ 38 h 48"/>
              <a:gd name="T30" fmla="*/ 48 w 48"/>
              <a:gd name="T31" fmla="*/ 30 h 48"/>
              <a:gd name="T32" fmla="*/ 43 w 48"/>
              <a:gd name="T33" fmla="*/ 25 h 48"/>
              <a:gd name="T34" fmla="*/ 43 w 48"/>
              <a:gd name="T35" fmla="*/ 32 h 48"/>
              <a:gd name="T36" fmla="*/ 38 w 48"/>
              <a:gd name="T37" fmla="*/ 38 h 48"/>
              <a:gd name="T38" fmla="*/ 31 w 48"/>
              <a:gd name="T39" fmla="*/ 43 h 48"/>
              <a:gd name="T40" fmla="*/ 24 w 48"/>
              <a:gd name="T41" fmla="*/ 43 h 48"/>
              <a:gd name="T42" fmla="*/ 16 w 48"/>
              <a:gd name="T43" fmla="*/ 43 h 48"/>
              <a:gd name="T44" fmla="*/ 11 w 48"/>
              <a:gd name="T45" fmla="*/ 38 h 48"/>
              <a:gd name="T46" fmla="*/ 6 w 48"/>
              <a:gd name="T47" fmla="*/ 32 h 48"/>
              <a:gd name="T48" fmla="*/ 5 w 48"/>
              <a:gd name="T49" fmla="*/ 25 h 48"/>
              <a:gd name="T50" fmla="*/ 6 w 48"/>
              <a:gd name="T51" fmla="*/ 17 h 48"/>
              <a:gd name="T52" fmla="*/ 11 w 48"/>
              <a:gd name="T53" fmla="*/ 12 h 48"/>
              <a:gd name="T54" fmla="*/ 16 w 48"/>
              <a:gd name="T55" fmla="*/ 7 h 48"/>
              <a:gd name="T56" fmla="*/ 24 w 48"/>
              <a:gd name="T57" fmla="*/ 5 h 48"/>
              <a:gd name="T58" fmla="*/ 31 w 48"/>
              <a:gd name="T59" fmla="*/ 7 h 48"/>
              <a:gd name="T60" fmla="*/ 38 w 48"/>
              <a:gd name="T61" fmla="*/ 12 h 48"/>
              <a:gd name="T62" fmla="*/ 43 w 48"/>
              <a:gd name="T63" fmla="*/ 17 h 48"/>
              <a:gd name="T64" fmla="*/ 43 w 48"/>
              <a:gd name="T65" fmla="*/ 25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8" h="48">
                <a:moveTo>
                  <a:pt x="48" y="25"/>
                </a:moveTo>
                <a:lnTo>
                  <a:pt x="48" y="20"/>
                </a:lnTo>
                <a:lnTo>
                  <a:pt x="46" y="15"/>
                </a:lnTo>
                <a:lnTo>
                  <a:pt x="44" y="12"/>
                </a:lnTo>
                <a:lnTo>
                  <a:pt x="41" y="9"/>
                </a:lnTo>
                <a:lnTo>
                  <a:pt x="38" y="5"/>
                </a:lnTo>
                <a:lnTo>
                  <a:pt x="33" y="4"/>
                </a:lnTo>
                <a:lnTo>
                  <a:pt x="29" y="2"/>
                </a:lnTo>
                <a:lnTo>
                  <a:pt x="24" y="0"/>
                </a:lnTo>
                <a:lnTo>
                  <a:pt x="19" y="2"/>
                </a:lnTo>
                <a:lnTo>
                  <a:pt x="14" y="4"/>
                </a:lnTo>
                <a:lnTo>
                  <a:pt x="11" y="5"/>
                </a:lnTo>
                <a:lnTo>
                  <a:pt x="8" y="9"/>
                </a:lnTo>
                <a:lnTo>
                  <a:pt x="5" y="12"/>
                </a:lnTo>
                <a:lnTo>
                  <a:pt x="3" y="15"/>
                </a:lnTo>
                <a:lnTo>
                  <a:pt x="1" y="20"/>
                </a:lnTo>
                <a:lnTo>
                  <a:pt x="0" y="25"/>
                </a:lnTo>
                <a:lnTo>
                  <a:pt x="1" y="30"/>
                </a:lnTo>
                <a:lnTo>
                  <a:pt x="3" y="35"/>
                </a:lnTo>
                <a:lnTo>
                  <a:pt x="5" y="38"/>
                </a:lnTo>
                <a:lnTo>
                  <a:pt x="8" y="42"/>
                </a:lnTo>
                <a:lnTo>
                  <a:pt x="11" y="45"/>
                </a:lnTo>
                <a:lnTo>
                  <a:pt x="14" y="47"/>
                </a:lnTo>
                <a:lnTo>
                  <a:pt x="19" y="48"/>
                </a:lnTo>
                <a:lnTo>
                  <a:pt x="24" y="48"/>
                </a:lnTo>
                <a:lnTo>
                  <a:pt x="29" y="48"/>
                </a:lnTo>
                <a:lnTo>
                  <a:pt x="33" y="47"/>
                </a:lnTo>
                <a:lnTo>
                  <a:pt x="38" y="45"/>
                </a:lnTo>
                <a:lnTo>
                  <a:pt x="41" y="42"/>
                </a:lnTo>
                <a:lnTo>
                  <a:pt x="44" y="38"/>
                </a:lnTo>
                <a:lnTo>
                  <a:pt x="46" y="35"/>
                </a:lnTo>
                <a:lnTo>
                  <a:pt x="48" y="30"/>
                </a:lnTo>
                <a:lnTo>
                  <a:pt x="48" y="25"/>
                </a:lnTo>
                <a:close/>
                <a:moveTo>
                  <a:pt x="43" y="25"/>
                </a:moveTo>
                <a:lnTo>
                  <a:pt x="43" y="28"/>
                </a:lnTo>
                <a:lnTo>
                  <a:pt x="43" y="32"/>
                </a:lnTo>
                <a:lnTo>
                  <a:pt x="39" y="35"/>
                </a:lnTo>
                <a:lnTo>
                  <a:pt x="38" y="38"/>
                </a:lnTo>
                <a:lnTo>
                  <a:pt x="34" y="40"/>
                </a:lnTo>
                <a:lnTo>
                  <a:pt x="31" y="43"/>
                </a:lnTo>
                <a:lnTo>
                  <a:pt x="28" y="43"/>
                </a:lnTo>
                <a:lnTo>
                  <a:pt x="24" y="43"/>
                </a:lnTo>
                <a:lnTo>
                  <a:pt x="21" y="43"/>
                </a:lnTo>
                <a:lnTo>
                  <a:pt x="16" y="43"/>
                </a:lnTo>
                <a:lnTo>
                  <a:pt x="13" y="40"/>
                </a:lnTo>
                <a:lnTo>
                  <a:pt x="11" y="38"/>
                </a:lnTo>
                <a:lnTo>
                  <a:pt x="8" y="35"/>
                </a:lnTo>
                <a:lnTo>
                  <a:pt x="6" y="32"/>
                </a:lnTo>
                <a:lnTo>
                  <a:pt x="6" y="28"/>
                </a:lnTo>
                <a:lnTo>
                  <a:pt x="5" y="25"/>
                </a:lnTo>
                <a:lnTo>
                  <a:pt x="6" y="22"/>
                </a:lnTo>
                <a:lnTo>
                  <a:pt x="6" y="17"/>
                </a:lnTo>
                <a:lnTo>
                  <a:pt x="8" y="14"/>
                </a:lnTo>
                <a:lnTo>
                  <a:pt x="11" y="12"/>
                </a:lnTo>
                <a:lnTo>
                  <a:pt x="13" y="9"/>
                </a:lnTo>
                <a:lnTo>
                  <a:pt x="16" y="7"/>
                </a:lnTo>
                <a:lnTo>
                  <a:pt x="21" y="7"/>
                </a:lnTo>
                <a:lnTo>
                  <a:pt x="24" y="5"/>
                </a:lnTo>
                <a:lnTo>
                  <a:pt x="28" y="7"/>
                </a:lnTo>
                <a:lnTo>
                  <a:pt x="31" y="7"/>
                </a:lnTo>
                <a:lnTo>
                  <a:pt x="34" y="9"/>
                </a:lnTo>
                <a:lnTo>
                  <a:pt x="38" y="12"/>
                </a:lnTo>
                <a:lnTo>
                  <a:pt x="39" y="14"/>
                </a:lnTo>
                <a:lnTo>
                  <a:pt x="43" y="17"/>
                </a:lnTo>
                <a:lnTo>
                  <a:pt x="43" y="22"/>
                </a:lnTo>
                <a:lnTo>
                  <a:pt x="43" y="25"/>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09" name="Freeform 1614">
            <a:extLst>
              <a:ext uri="{FF2B5EF4-FFF2-40B4-BE49-F238E27FC236}">
                <a16:creationId xmlns:a16="http://schemas.microsoft.com/office/drawing/2014/main" id="{19276D09-2FF2-AE80-07A2-AC97BEC56086}"/>
              </a:ext>
            </a:extLst>
          </p:cNvPr>
          <p:cNvSpPr>
            <a:spLocks noEditPoints="1"/>
          </p:cNvSpPr>
          <p:nvPr/>
        </p:nvSpPr>
        <p:spPr bwMode="auto">
          <a:xfrm>
            <a:off x="2881313" y="2527300"/>
            <a:ext cx="68263" cy="68263"/>
          </a:xfrm>
          <a:custGeom>
            <a:avLst/>
            <a:gdLst>
              <a:gd name="T0" fmla="*/ 43 w 43"/>
              <a:gd name="T1" fmla="*/ 16 h 43"/>
              <a:gd name="T2" fmla="*/ 40 w 43"/>
              <a:gd name="T3" fmla="*/ 10 h 43"/>
              <a:gd name="T4" fmla="*/ 33 w 43"/>
              <a:gd name="T5" fmla="*/ 3 h 43"/>
              <a:gd name="T6" fmla="*/ 25 w 43"/>
              <a:gd name="T7" fmla="*/ 0 h 43"/>
              <a:gd name="T8" fmla="*/ 16 w 43"/>
              <a:gd name="T9" fmla="*/ 0 h 43"/>
              <a:gd name="T10" fmla="*/ 10 w 43"/>
              <a:gd name="T11" fmla="*/ 3 h 43"/>
              <a:gd name="T12" fmla="*/ 3 w 43"/>
              <a:gd name="T13" fmla="*/ 10 h 43"/>
              <a:gd name="T14" fmla="*/ 0 w 43"/>
              <a:gd name="T15" fmla="*/ 16 h 43"/>
              <a:gd name="T16" fmla="*/ 0 w 43"/>
              <a:gd name="T17" fmla="*/ 26 h 43"/>
              <a:gd name="T18" fmla="*/ 3 w 43"/>
              <a:gd name="T19" fmla="*/ 33 h 43"/>
              <a:gd name="T20" fmla="*/ 10 w 43"/>
              <a:gd name="T21" fmla="*/ 39 h 43"/>
              <a:gd name="T22" fmla="*/ 16 w 43"/>
              <a:gd name="T23" fmla="*/ 43 h 43"/>
              <a:gd name="T24" fmla="*/ 25 w 43"/>
              <a:gd name="T25" fmla="*/ 43 h 43"/>
              <a:gd name="T26" fmla="*/ 33 w 43"/>
              <a:gd name="T27" fmla="*/ 39 h 43"/>
              <a:gd name="T28" fmla="*/ 40 w 43"/>
              <a:gd name="T29" fmla="*/ 33 h 43"/>
              <a:gd name="T30" fmla="*/ 43 w 43"/>
              <a:gd name="T31" fmla="*/ 26 h 43"/>
              <a:gd name="T32" fmla="*/ 38 w 43"/>
              <a:gd name="T33" fmla="*/ 21 h 43"/>
              <a:gd name="T34" fmla="*/ 36 w 43"/>
              <a:gd name="T35" fmla="*/ 28 h 43"/>
              <a:gd name="T36" fmla="*/ 33 w 43"/>
              <a:gd name="T37" fmla="*/ 33 h 43"/>
              <a:gd name="T38" fmla="*/ 28 w 43"/>
              <a:gd name="T39" fmla="*/ 36 h 43"/>
              <a:gd name="T40" fmla="*/ 21 w 43"/>
              <a:gd name="T41" fmla="*/ 38 h 43"/>
              <a:gd name="T42" fmla="*/ 15 w 43"/>
              <a:gd name="T43" fmla="*/ 36 h 43"/>
              <a:gd name="T44" fmla="*/ 10 w 43"/>
              <a:gd name="T45" fmla="*/ 33 h 43"/>
              <a:gd name="T46" fmla="*/ 7 w 43"/>
              <a:gd name="T47" fmla="*/ 28 h 43"/>
              <a:gd name="T48" fmla="*/ 5 w 43"/>
              <a:gd name="T49" fmla="*/ 21 h 43"/>
              <a:gd name="T50" fmla="*/ 7 w 43"/>
              <a:gd name="T51" fmla="*/ 15 h 43"/>
              <a:gd name="T52" fmla="*/ 10 w 43"/>
              <a:gd name="T53" fmla="*/ 10 h 43"/>
              <a:gd name="T54" fmla="*/ 15 w 43"/>
              <a:gd name="T55" fmla="*/ 6 h 43"/>
              <a:gd name="T56" fmla="*/ 21 w 43"/>
              <a:gd name="T57" fmla="*/ 5 h 43"/>
              <a:gd name="T58" fmla="*/ 28 w 43"/>
              <a:gd name="T59" fmla="*/ 6 h 43"/>
              <a:gd name="T60" fmla="*/ 33 w 43"/>
              <a:gd name="T61" fmla="*/ 10 h 43"/>
              <a:gd name="T62" fmla="*/ 36 w 43"/>
              <a:gd name="T63" fmla="*/ 15 h 43"/>
              <a:gd name="T64" fmla="*/ 38 w 43"/>
              <a:gd name="T65" fmla="*/ 21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3" h="43">
                <a:moveTo>
                  <a:pt x="43" y="21"/>
                </a:moveTo>
                <a:lnTo>
                  <a:pt x="43" y="16"/>
                </a:lnTo>
                <a:lnTo>
                  <a:pt x="41" y="13"/>
                </a:lnTo>
                <a:lnTo>
                  <a:pt x="40" y="10"/>
                </a:lnTo>
                <a:lnTo>
                  <a:pt x="36" y="6"/>
                </a:lnTo>
                <a:lnTo>
                  <a:pt x="33" y="3"/>
                </a:lnTo>
                <a:lnTo>
                  <a:pt x="30" y="1"/>
                </a:lnTo>
                <a:lnTo>
                  <a:pt x="25" y="0"/>
                </a:lnTo>
                <a:lnTo>
                  <a:pt x="21" y="0"/>
                </a:lnTo>
                <a:lnTo>
                  <a:pt x="16" y="0"/>
                </a:lnTo>
                <a:lnTo>
                  <a:pt x="13" y="1"/>
                </a:lnTo>
                <a:lnTo>
                  <a:pt x="10" y="3"/>
                </a:lnTo>
                <a:lnTo>
                  <a:pt x="7" y="6"/>
                </a:lnTo>
                <a:lnTo>
                  <a:pt x="3" y="10"/>
                </a:lnTo>
                <a:lnTo>
                  <a:pt x="2" y="13"/>
                </a:lnTo>
                <a:lnTo>
                  <a:pt x="0" y="16"/>
                </a:lnTo>
                <a:lnTo>
                  <a:pt x="0" y="21"/>
                </a:lnTo>
                <a:lnTo>
                  <a:pt x="0" y="26"/>
                </a:lnTo>
                <a:lnTo>
                  <a:pt x="2" y="29"/>
                </a:lnTo>
                <a:lnTo>
                  <a:pt x="3" y="33"/>
                </a:lnTo>
                <a:lnTo>
                  <a:pt x="7" y="36"/>
                </a:lnTo>
                <a:lnTo>
                  <a:pt x="10" y="39"/>
                </a:lnTo>
                <a:lnTo>
                  <a:pt x="13" y="41"/>
                </a:lnTo>
                <a:lnTo>
                  <a:pt x="16" y="43"/>
                </a:lnTo>
                <a:lnTo>
                  <a:pt x="21" y="43"/>
                </a:lnTo>
                <a:lnTo>
                  <a:pt x="25" y="43"/>
                </a:lnTo>
                <a:lnTo>
                  <a:pt x="30" y="41"/>
                </a:lnTo>
                <a:lnTo>
                  <a:pt x="33" y="39"/>
                </a:lnTo>
                <a:lnTo>
                  <a:pt x="36" y="36"/>
                </a:lnTo>
                <a:lnTo>
                  <a:pt x="40" y="33"/>
                </a:lnTo>
                <a:lnTo>
                  <a:pt x="41" y="29"/>
                </a:lnTo>
                <a:lnTo>
                  <a:pt x="43" y="26"/>
                </a:lnTo>
                <a:lnTo>
                  <a:pt x="43" y="21"/>
                </a:lnTo>
                <a:close/>
                <a:moveTo>
                  <a:pt x="38" y="21"/>
                </a:moveTo>
                <a:lnTo>
                  <a:pt x="38" y="24"/>
                </a:lnTo>
                <a:lnTo>
                  <a:pt x="36" y="28"/>
                </a:lnTo>
                <a:lnTo>
                  <a:pt x="35" y="31"/>
                </a:lnTo>
                <a:lnTo>
                  <a:pt x="33" y="33"/>
                </a:lnTo>
                <a:lnTo>
                  <a:pt x="31" y="34"/>
                </a:lnTo>
                <a:lnTo>
                  <a:pt x="28" y="36"/>
                </a:lnTo>
                <a:lnTo>
                  <a:pt x="25" y="38"/>
                </a:lnTo>
                <a:lnTo>
                  <a:pt x="21" y="38"/>
                </a:lnTo>
                <a:lnTo>
                  <a:pt x="18" y="38"/>
                </a:lnTo>
                <a:lnTo>
                  <a:pt x="15" y="36"/>
                </a:lnTo>
                <a:lnTo>
                  <a:pt x="11" y="34"/>
                </a:lnTo>
                <a:lnTo>
                  <a:pt x="10" y="33"/>
                </a:lnTo>
                <a:lnTo>
                  <a:pt x="7" y="31"/>
                </a:lnTo>
                <a:lnTo>
                  <a:pt x="7" y="28"/>
                </a:lnTo>
                <a:lnTo>
                  <a:pt x="5" y="24"/>
                </a:lnTo>
                <a:lnTo>
                  <a:pt x="5" y="21"/>
                </a:lnTo>
                <a:lnTo>
                  <a:pt x="5" y="18"/>
                </a:lnTo>
                <a:lnTo>
                  <a:pt x="7" y="15"/>
                </a:lnTo>
                <a:lnTo>
                  <a:pt x="7" y="11"/>
                </a:lnTo>
                <a:lnTo>
                  <a:pt x="10" y="10"/>
                </a:lnTo>
                <a:lnTo>
                  <a:pt x="11" y="6"/>
                </a:lnTo>
                <a:lnTo>
                  <a:pt x="15" y="6"/>
                </a:lnTo>
                <a:lnTo>
                  <a:pt x="18" y="5"/>
                </a:lnTo>
                <a:lnTo>
                  <a:pt x="21" y="5"/>
                </a:lnTo>
                <a:lnTo>
                  <a:pt x="25" y="5"/>
                </a:lnTo>
                <a:lnTo>
                  <a:pt x="28" y="6"/>
                </a:lnTo>
                <a:lnTo>
                  <a:pt x="31" y="6"/>
                </a:lnTo>
                <a:lnTo>
                  <a:pt x="33" y="10"/>
                </a:lnTo>
                <a:lnTo>
                  <a:pt x="35" y="11"/>
                </a:lnTo>
                <a:lnTo>
                  <a:pt x="36" y="15"/>
                </a:lnTo>
                <a:lnTo>
                  <a:pt x="38" y="18"/>
                </a:lnTo>
                <a:lnTo>
                  <a:pt x="38" y="21"/>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10" name="Freeform 1615">
            <a:extLst>
              <a:ext uri="{FF2B5EF4-FFF2-40B4-BE49-F238E27FC236}">
                <a16:creationId xmlns:a16="http://schemas.microsoft.com/office/drawing/2014/main" id="{01F80C6D-23A3-D3C9-6BD0-5006774EFE06}"/>
              </a:ext>
            </a:extLst>
          </p:cNvPr>
          <p:cNvSpPr>
            <a:spLocks noEditPoints="1"/>
          </p:cNvSpPr>
          <p:nvPr/>
        </p:nvSpPr>
        <p:spPr bwMode="auto">
          <a:xfrm>
            <a:off x="2884488" y="2528888"/>
            <a:ext cx="60325" cy="60325"/>
          </a:xfrm>
          <a:custGeom>
            <a:avLst/>
            <a:gdLst>
              <a:gd name="T0" fmla="*/ 38 w 38"/>
              <a:gd name="T1" fmla="*/ 17 h 38"/>
              <a:gd name="T2" fmla="*/ 34 w 38"/>
              <a:gd name="T3" fmla="*/ 9 h 38"/>
              <a:gd name="T4" fmla="*/ 29 w 38"/>
              <a:gd name="T5" fmla="*/ 4 h 38"/>
              <a:gd name="T6" fmla="*/ 23 w 38"/>
              <a:gd name="T7" fmla="*/ 2 h 38"/>
              <a:gd name="T8" fmla="*/ 16 w 38"/>
              <a:gd name="T9" fmla="*/ 2 h 38"/>
              <a:gd name="T10" fmla="*/ 8 w 38"/>
              <a:gd name="T11" fmla="*/ 4 h 38"/>
              <a:gd name="T12" fmla="*/ 3 w 38"/>
              <a:gd name="T13" fmla="*/ 9 h 38"/>
              <a:gd name="T14" fmla="*/ 1 w 38"/>
              <a:gd name="T15" fmla="*/ 17 h 38"/>
              <a:gd name="T16" fmla="*/ 1 w 38"/>
              <a:gd name="T17" fmla="*/ 23 h 38"/>
              <a:gd name="T18" fmla="*/ 3 w 38"/>
              <a:gd name="T19" fmla="*/ 30 h 38"/>
              <a:gd name="T20" fmla="*/ 8 w 38"/>
              <a:gd name="T21" fmla="*/ 35 h 38"/>
              <a:gd name="T22" fmla="*/ 16 w 38"/>
              <a:gd name="T23" fmla="*/ 38 h 38"/>
              <a:gd name="T24" fmla="*/ 23 w 38"/>
              <a:gd name="T25" fmla="*/ 38 h 38"/>
              <a:gd name="T26" fmla="*/ 29 w 38"/>
              <a:gd name="T27" fmla="*/ 35 h 38"/>
              <a:gd name="T28" fmla="*/ 34 w 38"/>
              <a:gd name="T29" fmla="*/ 30 h 38"/>
              <a:gd name="T30" fmla="*/ 38 w 38"/>
              <a:gd name="T31" fmla="*/ 23 h 38"/>
              <a:gd name="T32" fmla="*/ 34 w 38"/>
              <a:gd name="T33" fmla="*/ 20 h 38"/>
              <a:gd name="T34" fmla="*/ 33 w 38"/>
              <a:gd name="T35" fmla="*/ 25 h 38"/>
              <a:gd name="T36" fmla="*/ 29 w 38"/>
              <a:gd name="T37" fmla="*/ 30 h 38"/>
              <a:gd name="T38" fmla="*/ 24 w 38"/>
              <a:gd name="T39" fmla="*/ 33 h 38"/>
              <a:gd name="T40" fmla="*/ 19 w 38"/>
              <a:gd name="T41" fmla="*/ 35 h 38"/>
              <a:gd name="T42" fmla="*/ 13 w 38"/>
              <a:gd name="T43" fmla="*/ 33 h 38"/>
              <a:gd name="T44" fmla="*/ 9 w 38"/>
              <a:gd name="T45" fmla="*/ 30 h 38"/>
              <a:gd name="T46" fmla="*/ 6 w 38"/>
              <a:gd name="T47" fmla="*/ 25 h 38"/>
              <a:gd name="T48" fmla="*/ 5 w 38"/>
              <a:gd name="T49" fmla="*/ 20 h 38"/>
              <a:gd name="T50" fmla="*/ 6 w 38"/>
              <a:gd name="T51" fmla="*/ 15 h 38"/>
              <a:gd name="T52" fmla="*/ 9 w 38"/>
              <a:gd name="T53" fmla="*/ 10 h 38"/>
              <a:gd name="T54" fmla="*/ 13 w 38"/>
              <a:gd name="T55" fmla="*/ 7 h 38"/>
              <a:gd name="T56" fmla="*/ 19 w 38"/>
              <a:gd name="T57" fmla="*/ 5 h 38"/>
              <a:gd name="T58" fmla="*/ 24 w 38"/>
              <a:gd name="T59" fmla="*/ 7 h 38"/>
              <a:gd name="T60" fmla="*/ 29 w 38"/>
              <a:gd name="T61" fmla="*/ 10 h 38"/>
              <a:gd name="T62" fmla="*/ 33 w 38"/>
              <a:gd name="T63" fmla="*/ 15 h 38"/>
              <a:gd name="T64" fmla="*/ 34 w 38"/>
              <a:gd name="T65" fmla="*/ 20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8" h="38">
                <a:moveTo>
                  <a:pt x="38" y="20"/>
                </a:moveTo>
                <a:lnTo>
                  <a:pt x="38" y="17"/>
                </a:lnTo>
                <a:lnTo>
                  <a:pt x="38" y="12"/>
                </a:lnTo>
                <a:lnTo>
                  <a:pt x="34" y="9"/>
                </a:lnTo>
                <a:lnTo>
                  <a:pt x="33" y="7"/>
                </a:lnTo>
                <a:lnTo>
                  <a:pt x="29" y="4"/>
                </a:lnTo>
                <a:lnTo>
                  <a:pt x="26" y="2"/>
                </a:lnTo>
                <a:lnTo>
                  <a:pt x="23" y="2"/>
                </a:lnTo>
                <a:lnTo>
                  <a:pt x="19" y="0"/>
                </a:lnTo>
                <a:lnTo>
                  <a:pt x="16" y="2"/>
                </a:lnTo>
                <a:lnTo>
                  <a:pt x="11" y="2"/>
                </a:lnTo>
                <a:lnTo>
                  <a:pt x="8" y="4"/>
                </a:lnTo>
                <a:lnTo>
                  <a:pt x="6" y="7"/>
                </a:lnTo>
                <a:lnTo>
                  <a:pt x="3" y="9"/>
                </a:lnTo>
                <a:lnTo>
                  <a:pt x="1" y="12"/>
                </a:lnTo>
                <a:lnTo>
                  <a:pt x="1" y="17"/>
                </a:lnTo>
                <a:lnTo>
                  <a:pt x="0" y="20"/>
                </a:lnTo>
                <a:lnTo>
                  <a:pt x="1" y="23"/>
                </a:lnTo>
                <a:lnTo>
                  <a:pt x="1" y="27"/>
                </a:lnTo>
                <a:lnTo>
                  <a:pt x="3" y="30"/>
                </a:lnTo>
                <a:lnTo>
                  <a:pt x="6" y="33"/>
                </a:lnTo>
                <a:lnTo>
                  <a:pt x="8" y="35"/>
                </a:lnTo>
                <a:lnTo>
                  <a:pt x="11" y="38"/>
                </a:lnTo>
                <a:lnTo>
                  <a:pt x="16" y="38"/>
                </a:lnTo>
                <a:lnTo>
                  <a:pt x="19" y="38"/>
                </a:lnTo>
                <a:lnTo>
                  <a:pt x="23" y="38"/>
                </a:lnTo>
                <a:lnTo>
                  <a:pt x="26" y="38"/>
                </a:lnTo>
                <a:lnTo>
                  <a:pt x="29" y="35"/>
                </a:lnTo>
                <a:lnTo>
                  <a:pt x="33" y="33"/>
                </a:lnTo>
                <a:lnTo>
                  <a:pt x="34" y="30"/>
                </a:lnTo>
                <a:lnTo>
                  <a:pt x="38" y="27"/>
                </a:lnTo>
                <a:lnTo>
                  <a:pt x="38" y="23"/>
                </a:lnTo>
                <a:lnTo>
                  <a:pt x="38" y="20"/>
                </a:lnTo>
                <a:close/>
                <a:moveTo>
                  <a:pt x="34" y="20"/>
                </a:moveTo>
                <a:lnTo>
                  <a:pt x="33" y="23"/>
                </a:lnTo>
                <a:lnTo>
                  <a:pt x="33" y="25"/>
                </a:lnTo>
                <a:lnTo>
                  <a:pt x="31" y="28"/>
                </a:lnTo>
                <a:lnTo>
                  <a:pt x="29" y="30"/>
                </a:lnTo>
                <a:lnTo>
                  <a:pt x="28" y="32"/>
                </a:lnTo>
                <a:lnTo>
                  <a:pt x="24" y="33"/>
                </a:lnTo>
                <a:lnTo>
                  <a:pt x="23" y="33"/>
                </a:lnTo>
                <a:lnTo>
                  <a:pt x="19" y="35"/>
                </a:lnTo>
                <a:lnTo>
                  <a:pt x="16" y="33"/>
                </a:lnTo>
                <a:lnTo>
                  <a:pt x="13" y="33"/>
                </a:lnTo>
                <a:lnTo>
                  <a:pt x="11" y="32"/>
                </a:lnTo>
                <a:lnTo>
                  <a:pt x="9" y="30"/>
                </a:lnTo>
                <a:lnTo>
                  <a:pt x="8" y="28"/>
                </a:lnTo>
                <a:lnTo>
                  <a:pt x="6" y="25"/>
                </a:lnTo>
                <a:lnTo>
                  <a:pt x="5" y="23"/>
                </a:lnTo>
                <a:lnTo>
                  <a:pt x="5" y="20"/>
                </a:lnTo>
                <a:lnTo>
                  <a:pt x="5" y="17"/>
                </a:lnTo>
                <a:lnTo>
                  <a:pt x="6" y="15"/>
                </a:lnTo>
                <a:lnTo>
                  <a:pt x="8" y="12"/>
                </a:lnTo>
                <a:lnTo>
                  <a:pt x="9" y="10"/>
                </a:lnTo>
                <a:lnTo>
                  <a:pt x="11" y="9"/>
                </a:lnTo>
                <a:lnTo>
                  <a:pt x="13" y="7"/>
                </a:lnTo>
                <a:lnTo>
                  <a:pt x="16" y="5"/>
                </a:lnTo>
                <a:lnTo>
                  <a:pt x="19" y="5"/>
                </a:lnTo>
                <a:lnTo>
                  <a:pt x="23" y="5"/>
                </a:lnTo>
                <a:lnTo>
                  <a:pt x="24" y="7"/>
                </a:lnTo>
                <a:lnTo>
                  <a:pt x="28" y="9"/>
                </a:lnTo>
                <a:lnTo>
                  <a:pt x="29" y="10"/>
                </a:lnTo>
                <a:lnTo>
                  <a:pt x="31" y="12"/>
                </a:lnTo>
                <a:lnTo>
                  <a:pt x="33" y="15"/>
                </a:lnTo>
                <a:lnTo>
                  <a:pt x="33" y="17"/>
                </a:lnTo>
                <a:lnTo>
                  <a:pt x="34" y="20"/>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11" name="Freeform 1616">
            <a:extLst>
              <a:ext uri="{FF2B5EF4-FFF2-40B4-BE49-F238E27FC236}">
                <a16:creationId xmlns:a16="http://schemas.microsoft.com/office/drawing/2014/main" id="{AAA93F5F-23A0-99DB-0689-9985C9A746C0}"/>
              </a:ext>
            </a:extLst>
          </p:cNvPr>
          <p:cNvSpPr>
            <a:spLocks noEditPoints="1"/>
          </p:cNvSpPr>
          <p:nvPr/>
        </p:nvSpPr>
        <p:spPr bwMode="auto">
          <a:xfrm>
            <a:off x="2889250" y="2535238"/>
            <a:ext cx="52388" cy="52388"/>
          </a:xfrm>
          <a:custGeom>
            <a:avLst/>
            <a:gdLst>
              <a:gd name="T0" fmla="*/ 33 w 33"/>
              <a:gd name="T1" fmla="*/ 13 h 33"/>
              <a:gd name="T2" fmla="*/ 30 w 33"/>
              <a:gd name="T3" fmla="*/ 6 h 33"/>
              <a:gd name="T4" fmla="*/ 26 w 33"/>
              <a:gd name="T5" fmla="*/ 1 h 33"/>
              <a:gd name="T6" fmla="*/ 20 w 33"/>
              <a:gd name="T7" fmla="*/ 0 h 33"/>
              <a:gd name="T8" fmla="*/ 13 w 33"/>
              <a:gd name="T9" fmla="*/ 0 h 33"/>
              <a:gd name="T10" fmla="*/ 6 w 33"/>
              <a:gd name="T11" fmla="*/ 1 h 33"/>
              <a:gd name="T12" fmla="*/ 2 w 33"/>
              <a:gd name="T13" fmla="*/ 6 h 33"/>
              <a:gd name="T14" fmla="*/ 0 w 33"/>
              <a:gd name="T15" fmla="*/ 13 h 33"/>
              <a:gd name="T16" fmla="*/ 0 w 33"/>
              <a:gd name="T17" fmla="*/ 19 h 33"/>
              <a:gd name="T18" fmla="*/ 2 w 33"/>
              <a:gd name="T19" fmla="*/ 26 h 33"/>
              <a:gd name="T20" fmla="*/ 6 w 33"/>
              <a:gd name="T21" fmla="*/ 29 h 33"/>
              <a:gd name="T22" fmla="*/ 13 w 33"/>
              <a:gd name="T23" fmla="*/ 33 h 33"/>
              <a:gd name="T24" fmla="*/ 20 w 33"/>
              <a:gd name="T25" fmla="*/ 33 h 33"/>
              <a:gd name="T26" fmla="*/ 26 w 33"/>
              <a:gd name="T27" fmla="*/ 29 h 33"/>
              <a:gd name="T28" fmla="*/ 30 w 33"/>
              <a:gd name="T29" fmla="*/ 26 h 33"/>
              <a:gd name="T30" fmla="*/ 33 w 33"/>
              <a:gd name="T31" fmla="*/ 19 h 33"/>
              <a:gd name="T32" fmla="*/ 28 w 33"/>
              <a:gd name="T33" fmla="*/ 16 h 33"/>
              <a:gd name="T34" fmla="*/ 28 w 33"/>
              <a:gd name="T35" fmla="*/ 21 h 33"/>
              <a:gd name="T36" fmla="*/ 25 w 33"/>
              <a:gd name="T37" fmla="*/ 24 h 33"/>
              <a:gd name="T38" fmla="*/ 21 w 33"/>
              <a:gd name="T39" fmla="*/ 28 h 33"/>
              <a:gd name="T40" fmla="*/ 16 w 33"/>
              <a:gd name="T41" fmla="*/ 28 h 33"/>
              <a:gd name="T42" fmla="*/ 11 w 33"/>
              <a:gd name="T43" fmla="*/ 28 h 33"/>
              <a:gd name="T44" fmla="*/ 8 w 33"/>
              <a:gd name="T45" fmla="*/ 24 h 33"/>
              <a:gd name="T46" fmla="*/ 5 w 33"/>
              <a:gd name="T47" fmla="*/ 21 h 33"/>
              <a:gd name="T48" fmla="*/ 5 w 33"/>
              <a:gd name="T49" fmla="*/ 16 h 33"/>
              <a:gd name="T50" fmla="*/ 5 w 33"/>
              <a:gd name="T51" fmla="*/ 11 h 33"/>
              <a:gd name="T52" fmla="*/ 8 w 33"/>
              <a:gd name="T53" fmla="*/ 8 h 33"/>
              <a:gd name="T54" fmla="*/ 11 w 33"/>
              <a:gd name="T55" fmla="*/ 5 h 33"/>
              <a:gd name="T56" fmla="*/ 16 w 33"/>
              <a:gd name="T57" fmla="*/ 5 h 33"/>
              <a:gd name="T58" fmla="*/ 21 w 33"/>
              <a:gd name="T59" fmla="*/ 5 h 33"/>
              <a:gd name="T60" fmla="*/ 25 w 33"/>
              <a:gd name="T61" fmla="*/ 8 h 33"/>
              <a:gd name="T62" fmla="*/ 28 w 33"/>
              <a:gd name="T63" fmla="*/ 11 h 33"/>
              <a:gd name="T64" fmla="*/ 28 w 33"/>
              <a:gd name="T65" fmla="*/ 16 h 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3" h="33">
                <a:moveTo>
                  <a:pt x="33" y="16"/>
                </a:moveTo>
                <a:lnTo>
                  <a:pt x="33" y="13"/>
                </a:lnTo>
                <a:lnTo>
                  <a:pt x="31" y="10"/>
                </a:lnTo>
                <a:lnTo>
                  <a:pt x="30" y="6"/>
                </a:lnTo>
                <a:lnTo>
                  <a:pt x="28" y="5"/>
                </a:lnTo>
                <a:lnTo>
                  <a:pt x="26" y="1"/>
                </a:lnTo>
                <a:lnTo>
                  <a:pt x="23" y="1"/>
                </a:lnTo>
                <a:lnTo>
                  <a:pt x="20" y="0"/>
                </a:lnTo>
                <a:lnTo>
                  <a:pt x="16" y="0"/>
                </a:lnTo>
                <a:lnTo>
                  <a:pt x="13" y="0"/>
                </a:lnTo>
                <a:lnTo>
                  <a:pt x="10" y="1"/>
                </a:lnTo>
                <a:lnTo>
                  <a:pt x="6" y="1"/>
                </a:lnTo>
                <a:lnTo>
                  <a:pt x="5" y="5"/>
                </a:lnTo>
                <a:lnTo>
                  <a:pt x="2" y="6"/>
                </a:lnTo>
                <a:lnTo>
                  <a:pt x="2" y="10"/>
                </a:lnTo>
                <a:lnTo>
                  <a:pt x="0" y="13"/>
                </a:lnTo>
                <a:lnTo>
                  <a:pt x="0" y="16"/>
                </a:lnTo>
                <a:lnTo>
                  <a:pt x="0" y="19"/>
                </a:lnTo>
                <a:lnTo>
                  <a:pt x="2" y="23"/>
                </a:lnTo>
                <a:lnTo>
                  <a:pt x="2" y="26"/>
                </a:lnTo>
                <a:lnTo>
                  <a:pt x="5" y="28"/>
                </a:lnTo>
                <a:lnTo>
                  <a:pt x="6" y="29"/>
                </a:lnTo>
                <a:lnTo>
                  <a:pt x="10" y="31"/>
                </a:lnTo>
                <a:lnTo>
                  <a:pt x="13" y="33"/>
                </a:lnTo>
                <a:lnTo>
                  <a:pt x="16" y="33"/>
                </a:lnTo>
                <a:lnTo>
                  <a:pt x="20" y="33"/>
                </a:lnTo>
                <a:lnTo>
                  <a:pt x="23" y="31"/>
                </a:lnTo>
                <a:lnTo>
                  <a:pt x="26" y="29"/>
                </a:lnTo>
                <a:lnTo>
                  <a:pt x="28" y="28"/>
                </a:lnTo>
                <a:lnTo>
                  <a:pt x="30" y="26"/>
                </a:lnTo>
                <a:lnTo>
                  <a:pt x="31" y="23"/>
                </a:lnTo>
                <a:lnTo>
                  <a:pt x="33" y="19"/>
                </a:lnTo>
                <a:lnTo>
                  <a:pt x="33" y="16"/>
                </a:lnTo>
                <a:close/>
                <a:moveTo>
                  <a:pt x="28" y="16"/>
                </a:moveTo>
                <a:lnTo>
                  <a:pt x="28" y="18"/>
                </a:lnTo>
                <a:lnTo>
                  <a:pt x="28" y="21"/>
                </a:lnTo>
                <a:lnTo>
                  <a:pt x="26" y="23"/>
                </a:lnTo>
                <a:lnTo>
                  <a:pt x="25" y="24"/>
                </a:lnTo>
                <a:lnTo>
                  <a:pt x="23" y="26"/>
                </a:lnTo>
                <a:lnTo>
                  <a:pt x="21" y="28"/>
                </a:lnTo>
                <a:lnTo>
                  <a:pt x="18" y="28"/>
                </a:lnTo>
                <a:lnTo>
                  <a:pt x="16" y="28"/>
                </a:lnTo>
                <a:lnTo>
                  <a:pt x="13" y="28"/>
                </a:lnTo>
                <a:lnTo>
                  <a:pt x="11" y="28"/>
                </a:lnTo>
                <a:lnTo>
                  <a:pt x="10" y="26"/>
                </a:lnTo>
                <a:lnTo>
                  <a:pt x="8" y="24"/>
                </a:lnTo>
                <a:lnTo>
                  <a:pt x="6" y="23"/>
                </a:lnTo>
                <a:lnTo>
                  <a:pt x="5" y="21"/>
                </a:lnTo>
                <a:lnTo>
                  <a:pt x="5" y="18"/>
                </a:lnTo>
                <a:lnTo>
                  <a:pt x="5" y="16"/>
                </a:lnTo>
                <a:lnTo>
                  <a:pt x="5" y="13"/>
                </a:lnTo>
                <a:lnTo>
                  <a:pt x="5" y="11"/>
                </a:lnTo>
                <a:lnTo>
                  <a:pt x="6" y="10"/>
                </a:lnTo>
                <a:lnTo>
                  <a:pt x="8" y="8"/>
                </a:lnTo>
                <a:lnTo>
                  <a:pt x="10" y="6"/>
                </a:lnTo>
                <a:lnTo>
                  <a:pt x="11" y="5"/>
                </a:lnTo>
                <a:lnTo>
                  <a:pt x="13" y="5"/>
                </a:lnTo>
                <a:lnTo>
                  <a:pt x="16" y="5"/>
                </a:lnTo>
                <a:lnTo>
                  <a:pt x="18" y="5"/>
                </a:lnTo>
                <a:lnTo>
                  <a:pt x="21" y="5"/>
                </a:lnTo>
                <a:lnTo>
                  <a:pt x="23" y="6"/>
                </a:lnTo>
                <a:lnTo>
                  <a:pt x="25" y="8"/>
                </a:lnTo>
                <a:lnTo>
                  <a:pt x="26" y="10"/>
                </a:lnTo>
                <a:lnTo>
                  <a:pt x="28" y="11"/>
                </a:lnTo>
                <a:lnTo>
                  <a:pt x="28" y="13"/>
                </a:lnTo>
                <a:lnTo>
                  <a:pt x="28" y="16"/>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12" name="Freeform 1617">
            <a:extLst>
              <a:ext uri="{FF2B5EF4-FFF2-40B4-BE49-F238E27FC236}">
                <a16:creationId xmlns:a16="http://schemas.microsoft.com/office/drawing/2014/main" id="{1808B463-5E90-9930-51C0-A29BAD3CFDAB}"/>
              </a:ext>
            </a:extLst>
          </p:cNvPr>
          <p:cNvSpPr>
            <a:spLocks noEditPoints="1"/>
          </p:cNvSpPr>
          <p:nvPr/>
        </p:nvSpPr>
        <p:spPr bwMode="auto">
          <a:xfrm>
            <a:off x="2892425" y="2536825"/>
            <a:ext cx="46038" cy="47625"/>
          </a:xfrm>
          <a:custGeom>
            <a:avLst/>
            <a:gdLst>
              <a:gd name="T0" fmla="*/ 28 w 29"/>
              <a:gd name="T1" fmla="*/ 12 h 30"/>
              <a:gd name="T2" fmla="*/ 26 w 29"/>
              <a:gd name="T3" fmla="*/ 7 h 30"/>
              <a:gd name="T4" fmla="*/ 23 w 29"/>
              <a:gd name="T5" fmla="*/ 4 h 30"/>
              <a:gd name="T6" fmla="*/ 18 w 29"/>
              <a:gd name="T7" fmla="*/ 0 h 30"/>
              <a:gd name="T8" fmla="*/ 11 w 29"/>
              <a:gd name="T9" fmla="*/ 0 h 30"/>
              <a:gd name="T10" fmla="*/ 6 w 29"/>
              <a:gd name="T11" fmla="*/ 4 h 30"/>
              <a:gd name="T12" fmla="*/ 3 w 29"/>
              <a:gd name="T13" fmla="*/ 7 h 30"/>
              <a:gd name="T14" fmla="*/ 0 w 29"/>
              <a:gd name="T15" fmla="*/ 12 h 30"/>
              <a:gd name="T16" fmla="*/ 0 w 29"/>
              <a:gd name="T17" fmla="*/ 18 h 30"/>
              <a:gd name="T18" fmla="*/ 3 w 29"/>
              <a:gd name="T19" fmla="*/ 23 h 30"/>
              <a:gd name="T20" fmla="*/ 6 w 29"/>
              <a:gd name="T21" fmla="*/ 27 h 30"/>
              <a:gd name="T22" fmla="*/ 11 w 29"/>
              <a:gd name="T23" fmla="*/ 28 h 30"/>
              <a:gd name="T24" fmla="*/ 18 w 29"/>
              <a:gd name="T25" fmla="*/ 28 h 30"/>
              <a:gd name="T26" fmla="*/ 23 w 29"/>
              <a:gd name="T27" fmla="*/ 27 h 30"/>
              <a:gd name="T28" fmla="*/ 26 w 29"/>
              <a:gd name="T29" fmla="*/ 23 h 30"/>
              <a:gd name="T30" fmla="*/ 28 w 29"/>
              <a:gd name="T31" fmla="*/ 18 h 30"/>
              <a:gd name="T32" fmla="*/ 24 w 29"/>
              <a:gd name="T33" fmla="*/ 15 h 30"/>
              <a:gd name="T34" fmla="*/ 23 w 29"/>
              <a:gd name="T35" fmla="*/ 18 h 30"/>
              <a:gd name="T36" fmla="*/ 21 w 29"/>
              <a:gd name="T37" fmla="*/ 22 h 30"/>
              <a:gd name="T38" fmla="*/ 18 w 29"/>
              <a:gd name="T39" fmla="*/ 23 h 30"/>
              <a:gd name="T40" fmla="*/ 14 w 29"/>
              <a:gd name="T41" fmla="*/ 25 h 30"/>
              <a:gd name="T42" fmla="*/ 11 w 29"/>
              <a:gd name="T43" fmla="*/ 23 h 30"/>
              <a:gd name="T44" fmla="*/ 8 w 29"/>
              <a:gd name="T45" fmla="*/ 22 h 30"/>
              <a:gd name="T46" fmla="*/ 6 w 29"/>
              <a:gd name="T47" fmla="*/ 18 h 30"/>
              <a:gd name="T48" fmla="*/ 4 w 29"/>
              <a:gd name="T49" fmla="*/ 15 h 30"/>
              <a:gd name="T50" fmla="*/ 6 w 29"/>
              <a:gd name="T51" fmla="*/ 12 h 30"/>
              <a:gd name="T52" fmla="*/ 8 w 29"/>
              <a:gd name="T53" fmla="*/ 9 h 30"/>
              <a:gd name="T54" fmla="*/ 11 w 29"/>
              <a:gd name="T55" fmla="*/ 7 h 30"/>
              <a:gd name="T56" fmla="*/ 14 w 29"/>
              <a:gd name="T57" fmla="*/ 5 h 30"/>
              <a:gd name="T58" fmla="*/ 18 w 29"/>
              <a:gd name="T59" fmla="*/ 7 h 30"/>
              <a:gd name="T60" fmla="*/ 21 w 29"/>
              <a:gd name="T61" fmla="*/ 9 h 30"/>
              <a:gd name="T62" fmla="*/ 23 w 29"/>
              <a:gd name="T63" fmla="*/ 12 h 30"/>
              <a:gd name="T64" fmla="*/ 24 w 29"/>
              <a:gd name="T65" fmla="*/ 15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9" h="30">
                <a:moveTo>
                  <a:pt x="29" y="15"/>
                </a:moveTo>
                <a:lnTo>
                  <a:pt x="28" y="12"/>
                </a:lnTo>
                <a:lnTo>
                  <a:pt x="28" y="10"/>
                </a:lnTo>
                <a:lnTo>
                  <a:pt x="26" y="7"/>
                </a:lnTo>
                <a:lnTo>
                  <a:pt x="24" y="5"/>
                </a:lnTo>
                <a:lnTo>
                  <a:pt x="23" y="4"/>
                </a:lnTo>
                <a:lnTo>
                  <a:pt x="19" y="2"/>
                </a:lnTo>
                <a:lnTo>
                  <a:pt x="18" y="0"/>
                </a:lnTo>
                <a:lnTo>
                  <a:pt x="14" y="0"/>
                </a:lnTo>
                <a:lnTo>
                  <a:pt x="11" y="0"/>
                </a:lnTo>
                <a:lnTo>
                  <a:pt x="8" y="2"/>
                </a:lnTo>
                <a:lnTo>
                  <a:pt x="6" y="4"/>
                </a:lnTo>
                <a:lnTo>
                  <a:pt x="4" y="5"/>
                </a:lnTo>
                <a:lnTo>
                  <a:pt x="3" y="7"/>
                </a:lnTo>
                <a:lnTo>
                  <a:pt x="1" y="10"/>
                </a:lnTo>
                <a:lnTo>
                  <a:pt x="0" y="12"/>
                </a:lnTo>
                <a:lnTo>
                  <a:pt x="0" y="15"/>
                </a:lnTo>
                <a:lnTo>
                  <a:pt x="0" y="18"/>
                </a:lnTo>
                <a:lnTo>
                  <a:pt x="1" y="20"/>
                </a:lnTo>
                <a:lnTo>
                  <a:pt x="3" y="23"/>
                </a:lnTo>
                <a:lnTo>
                  <a:pt x="4" y="25"/>
                </a:lnTo>
                <a:lnTo>
                  <a:pt x="6" y="27"/>
                </a:lnTo>
                <a:lnTo>
                  <a:pt x="8" y="28"/>
                </a:lnTo>
                <a:lnTo>
                  <a:pt x="11" y="28"/>
                </a:lnTo>
                <a:lnTo>
                  <a:pt x="14" y="30"/>
                </a:lnTo>
                <a:lnTo>
                  <a:pt x="18" y="28"/>
                </a:lnTo>
                <a:lnTo>
                  <a:pt x="19" y="28"/>
                </a:lnTo>
                <a:lnTo>
                  <a:pt x="23" y="27"/>
                </a:lnTo>
                <a:lnTo>
                  <a:pt x="24" y="25"/>
                </a:lnTo>
                <a:lnTo>
                  <a:pt x="26" y="23"/>
                </a:lnTo>
                <a:lnTo>
                  <a:pt x="28" y="20"/>
                </a:lnTo>
                <a:lnTo>
                  <a:pt x="28" y="18"/>
                </a:lnTo>
                <a:lnTo>
                  <a:pt x="29" y="15"/>
                </a:lnTo>
                <a:close/>
                <a:moveTo>
                  <a:pt x="24" y="15"/>
                </a:moveTo>
                <a:lnTo>
                  <a:pt x="24" y="17"/>
                </a:lnTo>
                <a:lnTo>
                  <a:pt x="23" y="18"/>
                </a:lnTo>
                <a:lnTo>
                  <a:pt x="23" y="20"/>
                </a:lnTo>
                <a:lnTo>
                  <a:pt x="21" y="22"/>
                </a:lnTo>
                <a:lnTo>
                  <a:pt x="19" y="23"/>
                </a:lnTo>
                <a:lnTo>
                  <a:pt x="18" y="23"/>
                </a:lnTo>
                <a:lnTo>
                  <a:pt x="16" y="25"/>
                </a:lnTo>
                <a:lnTo>
                  <a:pt x="14" y="25"/>
                </a:lnTo>
                <a:lnTo>
                  <a:pt x="13" y="25"/>
                </a:lnTo>
                <a:lnTo>
                  <a:pt x="11" y="23"/>
                </a:lnTo>
                <a:lnTo>
                  <a:pt x="9" y="23"/>
                </a:lnTo>
                <a:lnTo>
                  <a:pt x="8" y="22"/>
                </a:lnTo>
                <a:lnTo>
                  <a:pt x="6" y="20"/>
                </a:lnTo>
                <a:lnTo>
                  <a:pt x="6" y="18"/>
                </a:lnTo>
                <a:lnTo>
                  <a:pt x="4" y="17"/>
                </a:lnTo>
                <a:lnTo>
                  <a:pt x="4" y="15"/>
                </a:lnTo>
                <a:lnTo>
                  <a:pt x="4" y="14"/>
                </a:lnTo>
                <a:lnTo>
                  <a:pt x="6" y="12"/>
                </a:lnTo>
                <a:lnTo>
                  <a:pt x="6" y="10"/>
                </a:lnTo>
                <a:lnTo>
                  <a:pt x="8" y="9"/>
                </a:lnTo>
                <a:lnTo>
                  <a:pt x="9" y="7"/>
                </a:lnTo>
                <a:lnTo>
                  <a:pt x="11" y="7"/>
                </a:lnTo>
                <a:lnTo>
                  <a:pt x="13" y="5"/>
                </a:lnTo>
                <a:lnTo>
                  <a:pt x="14" y="5"/>
                </a:lnTo>
                <a:lnTo>
                  <a:pt x="16" y="5"/>
                </a:lnTo>
                <a:lnTo>
                  <a:pt x="18" y="7"/>
                </a:lnTo>
                <a:lnTo>
                  <a:pt x="19" y="7"/>
                </a:lnTo>
                <a:lnTo>
                  <a:pt x="21" y="9"/>
                </a:lnTo>
                <a:lnTo>
                  <a:pt x="23" y="10"/>
                </a:lnTo>
                <a:lnTo>
                  <a:pt x="23" y="12"/>
                </a:lnTo>
                <a:lnTo>
                  <a:pt x="24" y="14"/>
                </a:lnTo>
                <a:lnTo>
                  <a:pt x="24" y="15"/>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13" name="Freeform 1618">
            <a:extLst>
              <a:ext uri="{FF2B5EF4-FFF2-40B4-BE49-F238E27FC236}">
                <a16:creationId xmlns:a16="http://schemas.microsoft.com/office/drawing/2014/main" id="{B743CFB9-43F8-5E4C-D823-524C7963CECE}"/>
              </a:ext>
            </a:extLst>
          </p:cNvPr>
          <p:cNvSpPr>
            <a:spLocks noEditPoints="1"/>
          </p:cNvSpPr>
          <p:nvPr/>
        </p:nvSpPr>
        <p:spPr bwMode="auto">
          <a:xfrm>
            <a:off x="2897188" y="2543175"/>
            <a:ext cx="36513" cy="36513"/>
          </a:xfrm>
          <a:custGeom>
            <a:avLst/>
            <a:gdLst>
              <a:gd name="T0" fmla="*/ 23 w 23"/>
              <a:gd name="T1" fmla="*/ 11 h 23"/>
              <a:gd name="T2" fmla="*/ 23 w 23"/>
              <a:gd name="T3" fmla="*/ 8 h 23"/>
              <a:gd name="T4" fmla="*/ 23 w 23"/>
              <a:gd name="T5" fmla="*/ 6 h 23"/>
              <a:gd name="T6" fmla="*/ 21 w 23"/>
              <a:gd name="T7" fmla="*/ 5 h 23"/>
              <a:gd name="T8" fmla="*/ 20 w 23"/>
              <a:gd name="T9" fmla="*/ 3 h 23"/>
              <a:gd name="T10" fmla="*/ 18 w 23"/>
              <a:gd name="T11" fmla="*/ 1 h 23"/>
              <a:gd name="T12" fmla="*/ 16 w 23"/>
              <a:gd name="T13" fmla="*/ 0 h 23"/>
              <a:gd name="T14" fmla="*/ 13 w 23"/>
              <a:gd name="T15" fmla="*/ 0 h 23"/>
              <a:gd name="T16" fmla="*/ 11 w 23"/>
              <a:gd name="T17" fmla="*/ 0 h 23"/>
              <a:gd name="T18" fmla="*/ 8 w 23"/>
              <a:gd name="T19" fmla="*/ 0 h 23"/>
              <a:gd name="T20" fmla="*/ 6 w 23"/>
              <a:gd name="T21" fmla="*/ 0 h 23"/>
              <a:gd name="T22" fmla="*/ 5 w 23"/>
              <a:gd name="T23" fmla="*/ 1 h 23"/>
              <a:gd name="T24" fmla="*/ 3 w 23"/>
              <a:gd name="T25" fmla="*/ 3 h 23"/>
              <a:gd name="T26" fmla="*/ 1 w 23"/>
              <a:gd name="T27" fmla="*/ 5 h 23"/>
              <a:gd name="T28" fmla="*/ 0 w 23"/>
              <a:gd name="T29" fmla="*/ 6 h 23"/>
              <a:gd name="T30" fmla="*/ 0 w 23"/>
              <a:gd name="T31" fmla="*/ 8 h 23"/>
              <a:gd name="T32" fmla="*/ 0 w 23"/>
              <a:gd name="T33" fmla="*/ 11 h 23"/>
              <a:gd name="T34" fmla="*/ 0 w 23"/>
              <a:gd name="T35" fmla="*/ 13 h 23"/>
              <a:gd name="T36" fmla="*/ 0 w 23"/>
              <a:gd name="T37" fmla="*/ 16 h 23"/>
              <a:gd name="T38" fmla="*/ 1 w 23"/>
              <a:gd name="T39" fmla="*/ 18 h 23"/>
              <a:gd name="T40" fmla="*/ 3 w 23"/>
              <a:gd name="T41" fmla="*/ 19 h 23"/>
              <a:gd name="T42" fmla="*/ 5 w 23"/>
              <a:gd name="T43" fmla="*/ 21 h 23"/>
              <a:gd name="T44" fmla="*/ 6 w 23"/>
              <a:gd name="T45" fmla="*/ 23 h 23"/>
              <a:gd name="T46" fmla="*/ 8 w 23"/>
              <a:gd name="T47" fmla="*/ 23 h 23"/>
              <a:gd name="T48" fmla="*/ 11 w 23"/>
              <a:gd name="T49" fmla="*/ 23 h 23"/>
              <a:gd name="T50" fmla="*/ 13 w 23"/>
              <a:gd name="T51" fmla="*/ 23 h 23"/>
              <a:gd name="T52" fmla="*/ 16 w 23"/>
              <a:gd name="T53" fmla="*/ 23 h 23"/>
              <a:gd name="T54" fmla="*/ 18 w 23"/>
              <a:gd name="T55" fmla="*/ 21 h 23"/>
              <a:gd name="T56" fmla="*/ 20 w 23"/>
              <a:gd name="T57" fmla="*/ 19 h 23"/>
              <a:gd name="T58" fmla="*/ 21 w 23"/>
              <a:gd name="T59" fmla="*/ 18 h 23"/>
              <a:gd name="T60" fmla="*/ 23 w 23"/>
              <a:gd name="T61" fmla="*/ 16 h 23"/>
              <a:gd name="T62" fmla="*/ 23 w 23"/>
              <a:gd name="T63" fmla="*/ 13 h 23"/>
              <a:gd name="T64" fmla="*/ 23 w 23"/>
              <a:gd name="T65" fmla="*/ 11 h 23"/>
              <a:gd name="T66" fmla="*/ 18 w 23"/>
              <a:gd name="T67" fmla="*/ 11 h 23"/>
              <a:gd name="T68" fmla="*/ 18 w 23"/>
              <a:gd name="T69" fmla="*/ 13 h 23"/>
              <a:gd name="T70" fmla="*/ 18 w 23"/>
              <a:gd name="T71" fmla="*/ 14 h 23"/>
              <a:gd name="T72" fmla="*/ 16 w 23"/>
              <a:gd name="T73" fmla="*/ 14 h 23"/>
              <a:gd name="T74" fmla="*/ 16 w 23"/>
              <a:gd name="T75" fmla="*/ 16 h 23"/>
              <a:gd name="T76" fmla="*/ 15 w 23"/>
              <a:gd name="T77" fmla="*/ 16 h 23"/>
              <a:gd name="T78" fmla="*/ 15 w 23"/>
              <a:gd name="T79" fmla="*/ 18 h 23"/>
              <a:gd name="T80" fmla="*/ 13 w 23"/>
              <a:gd name="T81" fmla="*/ 18 h 23"/>
              <a:gd name="T82" fmla="*/ 11 w 23"/>
              <a:gd name="T83" fmla="*/ 18 h 23"/>
              <a:gd name="T84" fmla="*/ 10 w 23"/>
              <a:gd name="T85" fmla="*/ 18 h 23"/>
              <a:gd name="T86" fmla="*/ 8 w 23"/>
              <a:gd name="T87" fmla="*/ 18 h 23"/>
              <a:gd name="T88" fmla="*/ 6 w 23"/>
              <a:gd name="T89" fmla="*/ 16 h 23"/>
              <a:gd name="T90" fmla="*/ 5 w 23"/>
              <a:gd name="T91" fmla="*/ 14 h 23"/>
              <a:gd name="T92" fmla="*/ 5 w 23"/>
              <a:gd name="T93" fmla="*/ 13 h 23"/>
              <a:gd name="T94" fmla="*/ 5 w 23"/>
              <a:gd name="T95" fmla="*/ 11 h 23"/>
              <a:gd name="T96" fmla="*/ 5 w 23"/>
              <a:gd name="T97" fmla="*/ 10 h 23"/>
              <a:gd name="T98" fmla="*/ 5 w 23"/>
              <a:gd name="T99" fmla="*/ 8 h 23"/>
              <a:gd name="T100" fmla="*/ 5 w 23"/>
              <a:gd name="T101" fmla="*/ 6 h 23"/>
              <a:gd name="T102" fmla="*/ 6 w 23"/>
              <a:gd name="T103" fmla="*/ 6 h 23"/>
              <a:gd name="T104" fmla="*/ 6 w 23"/>
              <a:gd name="T105" fmla="*/ 5 h 23"/>
              <a:gd name="T106" fmla="*/ 8 w 23"/>
              <a:gd name="T107" fmla="*/ 5 h 23"/>
              <a:gd name="T108" fmla="*/ 10 w 23"/>
              <a:gd name="T109" fmla="*/ 5 h 23"/>
              <a:gd name="T110" fmla="*/ 11 w 23"/>
              <a:gd name="T111" fmla="*/ 5 h 23"/>
              <a:gd name="T112" fmla="*/ 13 w 23"/>
              <a:gd name="T113" fmla="*/ 5 h 23"/>
              <a:gd name="T114" fmla="*/ 15 w 23"/>
              <a:gd name="T115" fmla="*/ 5 h 23"/>
              <a:gd name="T116" fmla="*/ 16 w 23"/>
              <a:gd name="T117" fmla="*/ 6 h 23"/>
              <a:gd name="T118" fmla="*/ 18 w 23"/>
              <a:gd name="T119" fmla="*/ 8 h 23"/>
              <a:gd name="T120" fmla="*/ 18 w 23"/>
              <a:gd name="T121" fmla="*/ 10 h 23"/>
              <a:gd name="T122" fmla="*/ 18 w 23"/>
              <a:gd name="T123" fmla="*/ 11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3" h="23">
                <a:moveTo>
                  <a:pt x="23" y="11"/>
                </a:moveTo>
                <a:lnTo>
                  <a:pt x="23" y="8"/>
                </a:lnTo>
                <a:lnTo>
                  <a:pt x="23" y="6"/>
                </a:lnTo>
                <a:lnTo>
                  <a:pt x="21" y="5"/>
                </a:lnTo>
                <a:lnTo>
                  <a:pt x="20" y="3"/>
                </a:lnTo>
                <a:lnTo>
                  <a:pt x="18" y="1"/>
                </a:lnTo>
                <a:lnTo>
                  <a:pt x="16" y="0"/>
                </a:lnTo>
                <a:lnTo>
                  <a:pt x="13" y="0"/>
                </a:lnTo>
                <a:lnTo>
                  <a:pt x="11" y="0"/>
                </a:lnTo>
                <a:lnTo>
                  <a:pt x="8" y="0"/>
                </a:lnTo>
                <a:lnTo>
                  <a:pt x="6" y="0"/>
                </a:lnTo>
                <a:lnTo>
                  <a:pt x="5" y="1"/>
                </a:lnTo>
                <a:lnTo>
                  <a:pt x="3" y="3"/>
                </a:lnTo>
                <a:lnTo>
                  <a:pt x="1" y="5"/>
                </a:lnTo>
                <a:lnTo>
                  <a:pt x="0" y="6"/>
                </a:lnTo>
                <a:lnTo>
                  <a:pt x="0" y="8"/>
                </a:lnTo>
                <a:lnTo>
                  <a:pt x="0" y="11"/>
                </a:lnTo>
                <a:lnTo>
                  <a:pt x="0" y="13"/>
                </a:lnTo>
                <a:lnTo>
                  <a:pt x="0" y="16"/>
                </a:lnTo>
                <a:lnTo>
                  <a:pt x="1" y="18"/>
                </a:lnTo>
                <a:lnTo>
                  <a:pt x="3" y="19"/>
                </a:lnTo>
                <a:lnTo>
                  <a:pt x="5" y="21"/>
                </a:lnTo>
                <a:lnTo>
                  <a:pt x="6" y="23"/>
                </a:lnTo>
                <a:lnTo>
                  <a:pt x="8" y="23"/>
                </a:lnTo>
                <a:lnTo>
                  <a:pt x="11" y="23"/>
                </a:lnTo>
                <a:lnTo>
                  <a:pt x="13" y="23"/>
                </a:lnTo>
                <a:lnTo>
                  <a:pt x="16" y="23"/>
                </a:lnTo>
                <a:lnTo>
                  <a:pt x="18" y="21"/>
                </a:lnTo>
                <a:lnTo>
                  <a:pt x="20" y="19"/>
                </a:lnTo>
                <a:lnTo>
                  <a:pt x="21" y="18"/>
                </a:lnTo>
                <a:lnTo>
                  <a:pt x="23" y="16"/>
                </a:lnTo>
                <a:lnTo>
                  <a:pt x="23" y="13"/>
                </a:lnTo>
                <a:lnTo>
                  <a:pt x="23" y="11"/>
                </a:lnTo>
                <a:close/>
                <a:moveTo>
                  <a:pt x="18" y="11"/>
                </a:moveTo>
                <a:lnTo>
                  <a:pt x="18" y="13"/>
                </a:lnTo>
                <a:lnTo>
                  <a:pt x="18" y="14"/>
                </a:lnTo>
                <a:lnTo>
                  <a:pt x="16" y="14"/>
                </a:lnTo>
                <a:lnTo>
                  <a:pt x="16" y="16"/>
                </a:lnTo>
                <a:lnTo>
                  <a:pt x="15" y="16"/>
                </a:lnTo>
                <a:lnTo>
                  <a:pt x="15" y="18"/>
                </a:lnTo>
                <a:lnTo>
                  <a:pt x="13" y="18"/>
                </a:lnTo>
                <a:lnTo>
                  <a:pt x="11" y="18"/>
                </a:lnTo>
                <a:lnTo>
                  <a:pt x="10" y="18"/>
                </a:lnTo>
                <a:lnTo>
                  <a:pt x="8" y="18"/>
                </a:lnTo>
                <a:lnTo>
                  <a:pt x="6" y="16"/>
                </a:lnTo>
                <a:lnTo>
                  <a:pt x="5" y="14"/>
                </a:lnTo>
                <a:lnTo>
                  <a:pt x="5" y="13"/>
                </a:lnTo>
                <a:lnTo>
                  <a:pt x="5" y="11"/>
                </a:lnTo>
                <a:lnTo>
                  <a:pt x="5" y="10"/>
                </a:lnTo>
                <a:lnTo>
                  <a:pt x="5" y="8"/>
                </a:lnTo>
                <a:lnTo>
                  <a:pt x="5" y="6"/>
                </a:lnTo>
                <a:lnTo>
                  <a:pt x="6" y="6"/>
                </a:lnTo>
                <a:lnTo>
                  <a:pt x="6" y="5"/>
                </a:lnTo>
                <a:lnTo>
                  <a:pt x="8" y="5"/>
                </a:lnTo>
                <a:lnTo>
                  <a:pt x="10" y="5"/>
                </a:lnTo>
                <a:lnTo>
                  <a:pt x="11" y="5"/>
                </a:lnTo>
                <a:lnTo>
                  <a:pt x="13" y="5"/>
                </a:lnTo>
                <a:lnTo>
                  <a:pt x="15" y="5"/>
                </a:lnTo>
                <a:lnTo>
                  <a:pt x="16" y="6"/>
                </a:lnTo>
                <a:lnTo>
                  <a:pt x="18" y="8"/>
                </a:lnTo>
                <a:lnTo>
                  <a:pt x="18" y="10"/>
                </a:lnTo>
                <a:lnTo>
                  <a:pt x="18" y="11"/>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14" name="Freeform 1619">
            <a:extLst>
              <a:ext uri="{FF2B5EF4-FFF2-40B4-BE49-F238E27FC236}">
                <a16:creationId xmlns:a16="http://schemas.microsoft.com/office/drawing/2014/main" id="{1E540B81-5819-6FDD-4526-450D69A7153B}"/>
              </a:ext>
            </a:extLst>
          </p:cNvPr>
          <p:cNvSpPr>
            <a:spLocks noEditPoints="1"/>
          </p:cNvSpPr>
          <p:nvPr/>
        </p:nvSpPr>
        <p:spPr bwMode="auto">
          <a:xfrm>
            <a:off x="2898775" y="2544763"/>
            <a:ext cx="31750" cy="31750"/>
          </a:xfrm>
          <a:custGeom>
            <a:avLst/>
            <a:gdLst>
              <a:gd name="T0" fmla="*/ 20 w 20"/>
              <a:gd name="T1" fmla="*/ 10 h 20"/>
              <a:gd name="T2" fmla="*/ 20 w 20"/>
              <a:gd name="T3" fmla="*/ 9 h 20"/>
              <a:gd name="T4" fmla="*/ 19 w 20"/>
              <a:gd name="T5" fmla="*/ 7 h 20"/>
              <a:gd name="T6" fmla="*/ 19 w 20"/>
              <a:gd name="T7" fmla="*/ 5 h 20"/>
              <a:gd name="T8" fmla="*/ 17 w 20"/>
              <a:gd name="T9" fmla="*/ 4 h 20"/>
              <a:gd name="T10" fmla="*/ 15 w 20"/>
              <a:gd name="T11" fmla="*/ 2 h 20"/>
              <a:gd name="T12" fmla="*/ 14 w 20"/>
              <a:gd name="T13" fmla="*/ 2 h 20"/>
              <a:gd name="T14" fmla="*/ 12 w 20"/>
              <a:gd name="T15" fmla="*/ 0 h 20"/>
              <a:gd name="T16" fmla="*/ 10 w 20"/>
              <a:gd name="T17" fmla="*/ 0 h 20"/>
              <a:gd name="T18" fmla="*/ 9 w 20"/>
              <a:gd name="T19" fmla="*/ 0 h 20"/>
              <a:gd name="T20" fmla="*/ 7 w 20"/>
              <a:gd name="T21" fmla="*/ 2 h 20"/>
              <a:gd name="T22" fmla="*/ 5 w 20"/>
              <a:gd name="T23" fmla="*/ 2 h 20"/>
              <a:gd name="T24" fmla="*/ 4 w 20"/>
              <a:gd name="T25" fmla="*/ 4 h 20"/>
              <a:gd name="T26" fmla="*/ 2 w 20"/>
              <a:gd name="T27" fmla="*/ 5 h 20"/>
              <a:gd name="T28" fmla="*/ 2 w 20"/>
              <a:gd name="T29" fmla="*/ 7 h 20"/>
              <a:gd name="T30" fmla="*/ 0 w 20"/>
              <a:gd name="T31" fmla="*/ 9 h 20"/>
              <a:gd name="T32" fmla="*/ 0 w 20"/>
              <a:gd name="T33" fmla="*/ 10 h 20"/>
              <a:gd name="T34" fmla="*/ 0 w 20"/>
              <a:gd name="T35" fmla="*/ 12 h 20"/>
              <a:gd name="T36" fmla="*/ 2 w 20"/>
              <a:gd name="T37" fmla="*/ 13 h 20"/>
              <a:gd name="T38" fmla="*/ 2 w 20"/>
              <a:gd name="T39" fmla="*/ 15 h 20"/>
              <a:gd name="T40" fmla="*/ 4 w 20"/>
              <a:gd name="T41" fmla="*/ 17 h 20"/>
              <a:gd name="T42" fmla="*/ 5 w 20"/>
              <a:gd name="T43" fmla="*/ 18 h 20"/>
              <a:gd name="T44" fmla="*/ 7 w 20"/>
              <a:gd name="T45" fmla="*/ 18 h 20"/>
              <a:gd name="T46" fmla="*/ 9 w 20"/>
              <a:gd name="T47" fmla="*/ 20 h 20"/>
              <a:gd name="T48" fmla="*/ 10 w 20"/>
              <a:gd name="T49" fmla="*/ 20 h 20"/>
              <a:gd name="T50" fmla="*/ 12 w 20"/>
              <a:gd name="T51" fmla="*/ 20 h 20"/>
              <a:gd name="T52" fmla="*/ 14 w 20"/>
              <a:gd name="T53" fmla="*/ 18 h 20"/>
              <a:gd name="T54" fmla="*/ 15 w 20"/>
              <a:gd name="T55" fmla="*/ 18 h 20"/>
              <a:gd name="T56" fmla="*/ 17 w 20"/>
              <a:gd name="T57" fmla="*/ 17 h 20"/>
              <a:gd name="T58" fmla="*/ 19 w 20"/>
              <a:gd name="T59" fmla="*/ 15 h 20"/>
              <a:gd name="T60" fmla="*/ 19 w 20"/>
              <a:gd name="T61" fmla="*/ 13 h 20"/>
              <a:gd name="T62" fmla="*/ 20 w 20"/>
              <a:gd name="T63" fmla="*/ 12 h 20"/>
              <a:gd name="T64" fmla="*/ 20 w 20"/>
              <a:gd name="T65" fmla="*/ 10 h 20"/>
              <a:gd name="T66" fmla="*/ 15 w 20"/>
              <a:gd name="T67" fmla="*/ 10 h 20"/>
              <a:gd name="T68" fmla="*/ 15 w 20"/>
              <a:gd name="T69" fmla="*/ 10 h 20"/>
              <a:gd name="T70" fmla="*/ 15 w 20"/>
              <a:gd name="T71" fmla="*/ 12 h 20"/>
              <a:gd name="T72" fmla="*/ 14 w 20"/>
              <a:gd name="T73" fmla="*/ 13 h 20"/>
              <a:gd name="T74" fmla="*/ 12 w 20"/>
              <a:gd name="T75" fmla="*/ 13 h 20"/>
              <a:gd name="T76" fmla="*/ 12 w 20"/>
              <a:gd name="T77" fmla="*/ 15 h 20"/>
              <a:gd name="T78" fmla="*/ 10 w 20"/>
              <a:gd name="T79" fmla="*/ 15 h 20"/>
              <a:gd name="T80" fmla="*/ 9 w 20"/>
              <a:gd name="T81" fmla="*/ 15 h 20"/>
              <a:gd name="T82" fmla="*/ 7 w 20"/>
              <a:gd name="T83" fmla="*/ 13 h 20"/>
              <a:gd name="T84" fmla="*/ 5 w 20"/>
              <a:gd name="T85" fmla="*/ 13 h 20"/>
              <a:gd name="T86" fmla="*/ 5 w 20"/>
              <a:gd name="T87" fmla="*/ 12 h 20"/>
              <a:gd name="T88" fmla="*/ 5 w 20"/>
              <a:gd name="T89" fmla="*/ 10 h 20"/>
              <a:gd name="T90" fmla="*/ 5 w 20"/>
              <a:gd name="T91" fmla="*/ 9 h 20"/>
              <a:gd name="T92" fmla="*/ 5 w 20"/>
              <a:gd name="T93" fmla="*/ 7 h 20"/>
              <a:gd name="T94" fmla="*/ 7 w 20"/>
              <a:gd name="T95" fmla="*/ 7 h 20"/>
              <a:gd name="T96" fmla="*/ 7 w 20"/>
              <a:gd name="T97" fmla="*/ 5 h 20"/>
              <a:gd name="T98" fmla="*/ 9 w 20"/>
              <a:gd name="T99" fmla="*/ 5 h 20"/>
              <a:gd name="T100" fmla="*/ 10 w 20"/>
              <a:gd name="T101" fmla="*/ 5 h 20"/>
              <a:gd name="T102" fmla="*/ 12 w 20"/>
              <a:gd name="T103" fmla="*/ 5 h 20"/>
              <a:gd name="T104" fmla="*/ 14 w 20"/>
              <a:gd name="T105" fmla="*/ 7 h 20"/>
              <a:gd name="T106" fmla="*/ 15 w 20"/>
              <a:gd name="T107" fmla="*/ 9 h 20"/>
              <a:gd name="T108" fmla="*/ 15 w 20"/>
              <a:gd name="T109" fmla="*/ 1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0" h="20">
                <a:moveTo>
                  <a:pt x="20" y="10"/>
                </a:moveTo>
                <a:lnTo>
                  <a:pt x="20" y="9"/>
                </a:lnTo>
                <a:lnTo>
                  <a:pt x="19" y="7"/>
                </a:lnTo>
                <a:lnTo>
                  <a:pt x="19" y="5"/>
                </a:lnTo>
                <a:lnTo>
                  <a:pt x="17" y="4"/>
                </a:lnTo>
                <a:lnTo>
                  <a:pt x="15" y="2"/>
                </a:lnTo>
                <a:lnTo>
                  <a:pt x="14" y="2"/>
                </a:lnTo>
                <a:lnTo>
                  <a:pt x="12" y="0"/>
                </a:lnTo>
                <a:lnTo>
                  <a:pt x="10" y="0"/>
                </a:lnTo>
                <a:lnTo>
                  <a:pt x="9" y="0"/>
                </a:lnTo>
                <a:lnTo>
                  <a:pt x="7" y="2"/>
                </a:lnTo>
                <a:lnTo>
                  <a:pt x="5" y="2"/>
                </a:lnTo>
                <a:lnTo>
                  <a:pt x="4" y="4"/>
                </a:lnTo>
                <a:lnTo>
                  <a:pt x="2" y="5"/>
                </a:lnTo>
                <a:lnTo>
                  <a:pt x="2" y="7"/>
                </a:lnTo>
                <a:lnTo>
                  <a:pt x="0" y="9"/>
                </a:lnTo>
                <a:lnTo>
                  <a:pt x="0" y="10"/>
                </a:lnTo>
                <a:lnTo>
                  <a:pt x="0" y="12"/>
                </a:lnTo>
                <a:lnTo>
                  <a:pt x="2" y="13"/>
                </a:lnTo>
                <a:lnTo>
                  <a:pt x="2" y="15"/>
                </a:lnTo>
                <a:lnTo>
                  <a:pt x="4" y="17"/>
                </a:lnTo>
                <a:lnTo>
                  <a:pt x="5" y="18"/>
                </a:lnTo>
                <a:lnTo>
                  <a:pt x="7" y="18"/>
                </a:lnTo>
                <a:lnTo>
                  <a:pt x="9" y="20"/>
                </a:lnTo>
                <a:lnTo>
                  <a:pt x="10" y="20"/>
                </a:lnTo>
                <a:lnTo>
                  <a:pt x="12" y="20"/>
                </a:lnTo>
                <a:lnTo>
                  <a:pt x="14" y="18"/>
                </a:lnTo>
                <a:lnTo>
                  <a:pt x="15" y="18"/>
                </a:lnTo>
                <a:lnTo>
                  <a:pt x="17" y="17"/>
                </a:lnTo>
                <a:lnTo>
                  <a:pt x="19" y="15"/>
                </a:lnTo>
                <a:lnTo>
                  <a:pt x="19" y="13"/>
                </a:lnTo>
                <a:lnTo>
                  <a:pt x="20" y="12"/>
                </a:lnTo>
                <a:lnTo>
                  <a:pt x="20" y="10"/>
                </a:lnTo>
                <a:close/>
                <a:moveTo>
                  <a:pt x="15" y="10"/>
                </a:moveTo>
                <a:lnTo>
                  <a:pt x="15" y="10"/>
                </a:lnTo>
                <a:lnTo>
                  <a:pt x="15" y="12"/>
                </a:lnTo>
                <a:lnTo>
                  <a:pt x="14" y="13"/>
                </a:lnTo>
                <a:lnTo>
                  <a:pt x="12" y="13"/>
                </a:lnTo>
                <a:lnTo>
                  <a:pt x="12" y="15"/>
                </a:lnTo>
                <a:lnTo>
                  <a:pt x="10" y="15"/>
                </a:lnTo>
                <a:lnTo>
                  <a:pt x="9" y="15"/>
                </a:lnTo>
                <a:lnTo>
                  <a:pt x="7" y="13"/>
                </a:lnTo>
                <a:lnTo>
                  <a:pt x="5" y="13"/>
                </a:lnTo>
                <a:lnTo>
                  <a:pt x="5" y="12"/>
                </a:lnTo>
                <a:lnTo>
                  <a:pt x="5" y="10"/>
                </a:lnTo>
                <a:lnTo>
                  <a:pt x="5" y="9"/>
                </a:lnTo>
                <a:lnTo>
                  <a:pt x="5" y="7"/>
                </a:lnTo>
                <a:lnTo>
                  <a:pt x="7" y="7"/>
                </a:lnTo>
                <a:lnTo>
                  <a:pt x="7" y="5"/>
                </a:lnTo>
                <a:lnTo>
                  <a:pt x="9" y="5"/>
                </a:lnTo>
                <a:lnTo>
                  <a:pt x="10" y="5"/>
                </a:lnTo>
                <a:lnTo>
                  <a:pt x="12" y="5"/>
                </a:lnTo>
                <a:lnTo>
                  <a:pt x="14" y="7"/>
                </a:lnTo>
                <a:lnTo>
                  <a:pt x="15" y="9"/>
                </a:lnTo>
                <a:lnTo>
                  <a:pt x="15" y="10"/>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15" name="Freeform 1620">
            <a:extLst>
              <a:ext uri="{FF2B5EF4-FFF2-40B4-BE49-F238E27FC236}">
                <a16:creationId xmlns:a16="http://schemas.microsoft.com/office/drawing/2014/main" id="{26A6FD7E-0E4A-3EC4-77E5-955EB0BFEB2B}"/>
              </a:ext>
            </a:extLst>
          </p:cNvPr>
          <p:cNvSpPr>
            <a:spLocks/>
          </p:cNvSpPr>
          <p:nvPr/>
        </p:nvSpPr>
        <p:spPr bwMode="auto">
          <a:xfrm>
            <a:off x="2905125" y="2551113"/>
            <a:ext cx="20638" cy="20638"/>
          </a:xfrm>
          <a:custGeom>
            <a:avLst/>
            <a:gdLst>
              <a:gd name="T0" fmla="*/ 13 w 13"/>
              <a:gd name="T1" fmla="*/ 6 h 13"/>
              <a:gd name="T2" fmla="*/ 13 w 13"/>
              <a:gd name="T3" fmla="*/ 5 h 13"/>
              <a:gd name="T4" fmla="*/ 13 w 13"/>
              <a:gd name="T5" fmla="*/ 3 h 13"/>
              <a:gd name="T6" fmla="*/ 11 w 13"/>
              <a:gd name="T7" fmla="*/ 1 h 13"/>
              <a:gd name="T8" fmla="*/ 10 w 13"/>
              <a:gd name="T9" fmla="*/ 0 h 13"/>
              <a:gd name="T10" fmla="*/ 8 w 13"/>
              <a:gd name="T11" fmla="*/ 0 h 13"/>
              <a:gd name="T12" fmla="*/ 6 w 13"/>
              <a:gd name="T13" fmla="*/ 0 h 13"/>
              <a:gd name="T14" fmla="*/ 5 w 13"/>
              <a:gd name="T15" fmla="*/ 0 h 13"/>
              <a:gd name="T16" fmla="*/ 3 w 13"/>
              <a:gd name="T17" fmla="*/ 0 h 13"/>
              <a:gd name="T18" fmla="*/ 1 w 13"/>
              <a:gd name="T19" fmla="*/ 0 h 13"/>
              <a:gd name="T20" fmla="*/ 1 w 13"/>
              <a:gd name="T21" fmla="*/ 1 h 13"/>
              <a:gd name="T22" fmla="*/ 0 w 13"/>
              <a:gd name="T23" fmla="*/ 1 h 13"/>
              <a:gd name="T24" fmla="*/ 0 w 13"/>
              <a:gd name="T25" fmla="*/ 3 h 13"/>
              <a:gd name="T26" fmla="*/ 0 w 13"/>
              <a:gd name="T27" fmla="*/ 5 h 13"/>
              <a:gd name="T28" fmla="*/ 0 w 13"/>
              <a:gd name="T29" fmla="*/ 6 h 13"/>
              <a:gd name="T30" fmla="*/ 0 w 13"/>
              <a:gd name="T31" fmla="*/ 8 h 13"/>
              <a:gd name="T32" fmla="*/ 0 w 13"/>
              <a:gd name="T33" fmla="*/ 9 h 13"/>
              <a:gd name="T34" fmla="*/ 1 w 13"/>
              <a:gd name="T35" fmla="*/ 11 h 13"/>
              <a:gd name="T36" fmla="*/ 3 w 13"/>
              <a:gd name="T37" fmla="*/ 13 h 13"/>
              <a:gd name="T38" fmla="*/ 5 w 13"/>
              <a:gd name="T39" fmla="*/ 13 h 13"/>
              <a:gd name="T40" fmla="*/ 6 w 13"/>
              <a:gd name="T41" fmla="*/ 13 h 13"/>
              <a:gd name="T42" fmla="*/ 8 w 13"/>
              <a:gd name="T43" fmla="*/ 13 h 13"/>
              <a:gd name="T44" fmla="*/ 10 w 13"/>
              <a:gd name="T45" fmla="*/ 13 h 13"/>
              <a:gd name="T46" fmla="*/ 10 w 13"/>
              <a:gd name="T47" fmla="*/ 11 h 13"/>
              <a:gd name="T48" fmla="*/ 11 w 13"/>
              <a:gd name="T49" fmla="*/ 11 h 13"/>
              <a:gd name="T50" fmla="*/ 11 w 13"/>
              <a:gd name="T51" fmla="*/ 9 h 13"/>
              <a:gd name="T52" fmla="*/ 13 w 13"/>
              <a:gd name="T53" fmla="*/ 9 h 13"/>
              <a:gd name="T54" fmla="*/ 13 w 13"/>
              <a:gd name="T55" fmla="*/ 8 h 13"/>
              <a:gd name="T56" fmla="*/ 13 w 13"/>
              <a:gd name="T57" fmla="*/ 6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 h="13">
                <a:moveTo>
                  <a:pt x="13" y="6"/>
                </a:moveTo>
                <a:lnTo>
                  <a:pt x="13" y="5"/>
                </a:lnTo>
                <a:lnTo>
                  <a:pt x="13" y="3"/>
                </a:lnTo>
                <a:lnTo>
                  <a:pt x="11" y="1"/>
                </a:lnTo>
                <a:lnTo>
                  <a:pt x="10" y="0"/>
                </a:lnTo>
                <a:lnTo>
                  <a:pt x="8" y="0"/>
                </a:lnTo>
                <a:lnTo>
                  <a:pt x="6" y="0"/>
                </a:lnTo>
                <a:lnTo>
                  <a:pt x="5" y="0"/>
                </a:lnTo>
                <a:lnTo>
                  <a:pt x="3" y="0"/>
                </a:lnTo>
                <a:lnTo>
                  <a:pt x="1" y="0"/>
                </a:lnTo>
                <a:lnTo>
                  <a:pt x="1" y="1"/>
                </a:lnTo>
                <a:lnTo>
                  <a:pt x="0" y="1"/>
                </a:lnTo>
                <a:lnTo>
                  <a:pt x="0" y="3"/>
                </a:lnTo>
                <a:lnTo>
                  <a:pt x="0" y="5"/>
                </a:lnTo>
                <a:lnTo>
                  <a:pt x="0" y="6"/>
                </a:lnTo>
                <a:lnTo>
                  <a:pt x="0" y="8"/>
                </a:lnTo>
                <a:lnTo>
                  <a:pt x="0" y="9"/>
                </a:lnTo>
                <a:lnTo>
                  <a:pt x="1" y="11"/>
                </a:lnTo>
                <a:lnTo>
                  <a:pt x="3" y="13"/>
                </a:lnTo>
                <a:lnTo>
                  <a:pt x="5" y="13"/>
                </a:lnTo>
                <a:lnTo>
                  <a:pt x="6" y="13"/>
                </a:lnTo>
                <a:lnTo>
                  <a:pt x="8" y="13"/>
                </a:lnTo>
                <a:lnTo>
                  <a:pt x="10" y="13"/>
                </a:lnTo>
                <a:lnTo>
                  <a:pt x="10" y="11"/>
                </a:lnTo>
                <a:lnTo>
                  <a:pt x="11" y="11"/>
                </a:lnTo>
                <a:lnTo>
                  <a:pt x="11" y="9"/>
                </a:lnTo>
                <a:lnTo>
                  <a:pt x="13" y="9"/>
                </a:lnTo>
                <a:lnTo>
                  <a:pt x="13" y="8"/>
                </a:lnTo>
                <a:lnTo>
                  <a:pt x="13" y="6"/>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16" name="Freeform 1621">
            <a:extLst>
              <a:ext uri="{FF2B5EF4-FFF2-40B4-BE49-F238E27FC236}">
                <a16:creationId xmlns:a16="http://schemas.microsoft.com/office/drawing/2014/main" id="{5D509DE6-F6B4-5996-F3E4-07B03AEA8599}"/>
              </a:ext>
            </a:extLst>
          </p:cNvPr>
          <p:cNvSpPr>
            <a:spLocks/>
          </p:cNvSpPr>
          <p:nvPr/>
        </p:nvSpPr>
        <p:spPr bwMode="auto">
          <a:xfrm>
            <a:off x="2906713" y="2552700"/>
            <a:ext cx="15875" cy="15875"/>
          </a:xfrm>
          <a:custGeom>
            <a:avLst/>
            <a:gdLst>
              <a:gd name="T0" fmla="*/ 10 w 10"/>
              <a:gd name="T1" fmla="*/ 5 h 10"/>
              <a:gd name="T2" fmla="*/ 10 w 10"/>
              <a:gd name="T3" fmla="*/ 4 h 10"/>
              <a:gd name="T4" fmla="*/ 9 w 10"/>
              <a:gd name="T5" fmla="*/ 2 h 10"/>
              <a:gd name="T6" fmla="*/ 7 w 10"/>
              <a:gd name="T7" fmla="*/ 0 h 10"/>
              <a:gd name="T8" fmla="*/ 5 w 10"/>
              <a:gd name="T9" fmla="*/ 0 h 10"/>
              <a:gd name="T10" fmla="*/ 4 w 10"/>
              <a:gd name="T11" fmla="*/ 0 h 10"/>
              <a:gd name="T12" fmla="*/ 2 w 10"/>
              <a:gd name="T13" fmla="*/ 0 h 10"/>
              <a:gd name="T14" fmla="*/ 2 w 10"/>
              <a:gd name="T15" fmla="*/ 2 h 10"/>
              <a:gd name="T16" fmla="*/ 0 w 10"/>
              <a:gd name="T17" fmla="*/ 2 h 10"/>
              <a:gd name="T18" fmla="*/ 0 w 10"/>
              <a:gd name="T19" fmla="*/ 4 h 10"/>
              <a:gd name="T20" fmla="*/ 0 w 10"/>
              <a:gd name="T21" fmla="*/ 5 h 10"/>
              <a:gd name="T22" fmla="*/ 0 w 10"/>
              <a:gd name="T23" fmla="*/ 7 h 10"/>
              <a:gd name="T24" fmla="*/ 0 w 10"/>
              <a:gd name="T25" fmla="*/ 8 h 10"/>
              <a:gd name="T26" fmla="*/ 2 w 10"/>
              <a:gd name="T27" fmla="*/ 8 h 10"/>
              <a:gd name="T28" fmla="*/ 4 w 10"/>
              <a:gd name="T29" fmla="*/ 10 h 10"/>
              <a:gd name="T30" fmla="*/ 5 w 10"/>
              <a:gd name="T31" fmla="*/ 10 h 10"/>
              <a:gd name="T32" fmla="*/ 7 w 10"/>
              <a:gd name="T33" fmla="*/ 10 h 10"/>
              <a:gd name="T34" fmla="*/ 7 w 10"/>
              <a:gd name="T35" fmla="*/ 8 h 10"/>
              <a:gd name="T36" fmla="*/ 9 w 10"/>
              <a:gd name="T37" fmla="*/ 8 h 10"/>
              <a:gd name="T38" fmla="*/ 10 w 10"/>
              <a:gd name="T39" fmla="*/ 7 h 10"/>
              <a:gd name="T40" fmla="*/ 10 w 10"/>
              <a:gd name="T41" fmla="*/ 5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0" h="10">
                <a:moveTo>
                  <a:pt x="10" y="5"/>
                </a:moveTo>
                <a:lnTo>
                  <a:pt x="10" y="4"/>
                </a:lnTo>
                <a:lnTo>
                  <a:pt x="9" y="2"/>
                </a:lnTo>
                <a:lnTo>
                  <a:pt x="7" y="0"/>
                </a:lnTo>
                <a:lnTo>
                  <a:pt x="5" y="0"/>
                </a:lnTo>
                <a:lnTo>
                  <a:pt x="4" y="0"/>
                </a:lnTo>
                <a:lnTo>
                  <a:pt x="2" y="0"/>
                </a:lnTo>
                <a:lnTo>
                  <a:pt x="2" y="2"/>
                </a:lnTo>
                <a:lnTo>
                  <a:pt x="0" y="2"/>
                </a:lnTo>
                <a:lnTo>
                  <a:pt x="0" y="4"/>
                </a:lnTo>
                <a:lnTo>
                  <a:pt x="0" y="5"/>
                </a:lnTo>
                <a:lnTo>
                  <a:pt x="0" y="7"/>
                </a:lnTo>
                <a:lnTo>
                  <a:pt x="0" y="8"/>
                </a:lnTo>
                <a:lnTo>
                  <a:pt x="2" y="8"/>
                </a:lnTo>
                <a:lnTo>
                  <a:pt x="4" y="10"/>
                </a:lnTo>
                <a:lnTo>
                  <a:pt x="5" y="10"/>
                </a:lnTo>
                <a:lnTo>
                  <a:pt x="7" y="10"/>
                </a:lnTo>
                <a:lnTo>
                  <a:pt x="7" y="8"/>
                </a:lnTo>
                <a:lnTo>
                  <a:pt x="9" y="8"/>
                </a:lnTo>
                <a:lnTo>
                  <a:pt x="10" y="7"/>
                </a:lnTo>
                <a:lnTo>
                  <a:pt x="10" y="5"/>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17" name="Freeform 1622">
            <a:extLst>
              <a:ext uri="{FF2B5EF4-FFF2-40B4-BE49-F238E27FC236}">
                <a16:creationId xmlns:a16="http://schemas.microsoft.com/office/drawing/2014/main" id="{2DECABD2-9D02-4797-9E5E-7EFC5E48C676}"/>
              </a:ext>
            </a:extLst>
          </p:cNvPr>
          <p:cNvSpPr>
            <a:spLocks/>
          </p:cNvSpPr>
          <p:nvPr/>
        </p:nvSpPr>
        <p:spPr bwMode="auto">
          <a:xfrm>
            <a:off x="2909888" y="2555875"/>
            <a:ext cx="7938" cy="7938"/>
          </a:xfrm>
          <a:custGeom>
            <a:avLst/>
            <a:gdLst>
              <a:gd name="T0" fmla="*/ 5 w 5"/>
              <a:gd name="T1" fmla="*/ 3 h 5"/>
              <a:gd name="T2" fmla="*/ 5 w 5"/>
              <a:gd name="T3" fmla="*/ 3 h 5"/>
              <a:gd name="T4" fmla="*/ 5 w 5"/>
              <a:gd name="T5" fmla="*/ 2 h 5"/>
              <a:gd name="T6" fmla="*/ 3 w 5"/>
              <a:gd name="T7" fmla="*/ 2 h 5"/>
              <a:gd name="T8" fmla="*/ 3 w 5"/>
              <a:gd name="T9" fmla="*/ 0 h 5"/>
              <a:gd name="T10" fmla="*/ 2 w 5"/>
              <a:gd name="T11" fmla="*/ 2 h 5"/>
              <a:gd name="T12" fmla="*/ 0 w 5"/>
              <a:gd name="T13" fmla="*/ 3 h 5"/>
              <a:gd name="T14" fmla="*/ 2 w 5"/>
              <a:gd name="T15" fmla="*/ 3 h 5"/>
              <a:gd name="T16" fmla="*/ 2 w 5"/>
              <a:gd name="T17" fmla="*/ 5 h 5"/>
              <a:gd name="T18" fmla="*/ 3 w 5"/>
              <a:gd name="T19" fmla="*/ 5 h 5"/>
              <a:gd name="T20" fmla="*/ 5 w 5"/>
              <a:gd name="T21" fmla="*/ 5 h 5"/>
              <a:gd name="T22" fmla="*/ 5 w 5"/>
              <a:gd name="T23" fmla="*/ 3 h 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5" h="5">
                <a:moveTo>
                  <a:pt x="5" y="3"/>
                </a:moveTo>
                <a:lnTo>
                  <a:pt x="5" y="3"/>
                </a:lnTo>
                <a:lnTo>
                  <a:pt x="5" y="2"/>
                </a:lnTo>
                <a:lnTo>
                  <a:pt x="3" y="2"/>
                </a:lnTo>
                <a:lnTo>
                  <a:pt x="3" y="0"/>
                </a:lnTo>
                <a:lnTo>
                  <a:pt x="2" y="2"/>
                </a:lnTo>
                <a:lnTo>
                  <a:pt x="0" y="3"/>
                </a:lnTo>
                <a:lnTo>
                  <a:pt x="2" y="3"/>
                </a:lnTo>
                <a:lnTo>
                  <a:pt x="2" y="5"/>
                </a:lnTo>
                <a:lnTo>
                  <a:pt x="3" y="5"/>
                </a:lnTo>
                <a:lnTo>
                  <a:pt x="5" y="5"/>
                </a:lnTo>
                <a:lnTo>
                  <a:pt x="5" y="3"/>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18" name="Freeform 1623">
            <a:extLst>
              <a:ext uri="{FF2B5EF4-FFF2-40B4-BE49-F238E27FC236}">
                <a16:creationId xmlns:a16="http://schemas.microsoft.com/office/drawing/2014/main" id="{8F660F3B-6F8C-55AF-9541-FF8EF37632B0}"/>
              </a:ext>
            </a:extLst>
          </p:cNvPr>
          <p:cNvSpPr>
            <a:spLocks/>
          </p:cNvSpPr>
          <p:nvPr/>
        </p:nvSpPr>
        <p:spPr bwMode="auto">
          <a:xfrm>
            <a:off x="1955800" y="2403475"/>
            <a:ext cx="1919288" cy="315913"/>
          </a:xfrm>
          <a:custGeom>
            <a:avLst/>
            <a:gdLst>
              <a:gd name="T0" fmla="*/ 422 w 1209"/>
              <a:gd name="T1" fmla="*/ 0 h 199"/>
              <a:gd name="T2" fmla="*/ 0 w 1209"/>
              <a:gd name="T3" fmla="*/ 199 h 199"/>
              <a:gd name="T4" fmla="*/ 763 w 1209"/>
              <a:gd name="T5" fmla="*/ 199 h 199"/>
              <a:gd name="T6" fmla="*/ 1209 w 1209"/>
              <a:gd name="T7" fmla="*/ 0 h 199"/>
              <a:gd name="T8" fmla="*/ 422 w 1209"/>
              <a:gd name="T9" fmla="*/ 0 h 199"/>
            </a:gdLst>
            <a:ahLst/>
            <a:cxnLst>
              <a:cxn ang="0">
                <a:pos x="T0" y="T1"/>
              </a:cxn>
              <a:cxn ang="0">
                <a:pos x="T2" y="T3"/>
              </a:cxn>
              <a:cxn ang="0">
                <a:pos x="T4" y="T5"/>
              </a:cxn>
              <a:cxn ang="0">
                <a:pos x="T6" y="T7"/>
              </a:cxn>
              <a:cxn ang="0">
                <a:pos x="T8" y="T9"/>
              </a:cxn>
            </a:cxnLst>
            <a:rect l="0" t="0" r="r" b="b"/>
            <a:pathLst>
              <a:path w="1209" h="199">
                <a:moveTo>
                  <a:pt x="422" y="0"/>
                </a:moveTo>
                <a:lnTo>
                  <a:pt x="0" y="199"/>
                </a:lnTo>
                <a:lnTo>
                  <a:pt x="763" y="199"/>
                </a:lnTo>
                <a:lnTo>
                  <a:pt x="1209" y="0"/>
                </a:lnTo>
                <a:lnTo>
                  <a:pt x="422"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1419" name="Freeform 1624">
            <a:extLst>
              <a:ext uri="{FF2B5EF4-FFF2-40B4-BE49-F238E27FC236}">
                <a16:creationId xmlns:a16="http://schemas.microsoft.com/office/drawing/2014/main" id="{49296BFD-63A7-25B0-0DD1-5793EAA9F536}"/>
              </a:ext>
            </a:extLst>
          </p:cNvPr>
          <p:cNvSpPr>
            <a:spLocks noEditPoints="1"/>
          </p:cNvSpPr>
          <p:nvPr/>
        </p:nvSpPr>
        <p:spPr bwMode="auto">
          <a:xfrm>
            <a:off x="1951038" y="2719388"/>
            <a:ext cx="1216025" cy="80963"/>
          </a:xfrm>
          <a:custGeom>
            <a:avLst/>
            <a:gdLst>
              <a:gd name="T0" fmla="*/ 766 w 766"/>
              <a:gd name="T1" fmla="*/ 0 h 51"/>
              <a:gd name="T2" fmla="*/ 766 w 766"/>
              <a:gd name="T3" fmla="*/ 0 h 51"/>
              <a:gd name="T4" fmla="*/ 763 w 766"/>
              <a:gd name="T5" fmla="*/ 0 h 51"/>
              <a:gd name="T6" fmla="*/ 763 w 766"/>
              <a:gd name="T7" fmla="*/ 3 h 51"/>
              <a:gd name="T8" fmla="*/ 763 w 766"/>
              <a:gd name="T9" fmla="*/ 6 h 51"/>
              <a:gd name="T10" fmla="*/ 763 w 766"/>
              <a:gd name="T11" fmla="*/ 9 h 51"/>
              <a:gd name="T12" fmla="*/ 763 w 766"/>
              <a:gd name="T13" fmla="*/ 11 h 51"/>
              <a:gd name="T14" fmla="*/ 763 w 766"/>
              <a:gd name="T15" fmla="*/ 14 h 51"/>
              <a:gd name="T16" fmla="*/ 763 w 766"/>
              <a:gd name="T17" fmla="*/ 18 h 51"/>
              <a:gd name="T18" fmla="*/ 763 w 766"/>
              <a:gd name="T19" fmla="*/ 21 h 51"/>
              <a:gd name="T20" fmla="*/ 763 w 766"/>
              <a:gd name="T21" fmla="*/ 24 h 51"/>
              <a:gd name="T22" fmla="*/ 763 w 766"/>
              <a:gd name="T23" fmla="*/ 28 h 51"/>
              <a:gd name="T24" fmla="*/ 763 w 766"/>
              <a:gd name="T25" fmla="*/ 31 h 51"/>
              <a:gd name="T26" fmla="*/ 763 w 766"/>
              <a:gd name="T27" fmla="*/ 34 h 51"/>
              <a:gd name="T28" fmla="*/ 763 w 766"/>
              <a:gd name="T29" fmla="*/ 38 h 51"/>
              <a:gd name="T30" fmla="*/ 763 w 766"/>
              <a:gd name="T31" fmla="*/ 41 h 51"/>
              <a:gd name="T32" fmla="*/ 763 w 766"/>
              <a:gd name="T33" fmla="*/ 44 h 51"/>
              <a:gd name="T34" fmla="*/ 763 w 766"/>
              <a:gd name="T35" fmla="*/ 48 h 51"/>
              <a:gd name="T36" fmla="*/ 763 w 766"/>
              <a:gd name="T37" fmla="*/ 51 h 51"/>
              <a:gd name="T38" fmla="*/ 766 w 766"/>
              <a:gd name="T39" fmla="*/ 51 h 51"/>
              <a:gd name="T40" fmla="*/ 766 w 766"/>
              <a:gd name="T41" fmla="*/ 0 h 51"/>
              <a:gd name="T42" fmla="*/ 0 w 766"/>
              <a:gd name="T43" fmla="*/ 0 h 51"/>
              <a:gd name="T44" fmla="*/ 0 w 766"/>
              <a:gd name="T45" fmla="*/ 0 h 51"/>
              <a:gd name="T46" fmla="*/ 0 w 766"/>
              <a:gd name="T47" fmla="*/ 51 h 51"/>
              <a:gd name="T48" fmla="*/ 3 w 766"/>
              <a:gd name="T49" fmla="*/ 51 h 51"/>
              <a:gd name="T50" fmla="*/ 1 w 766"/>
              <a:gd name="T51" fmla="*/ 48 h 51"/>
              <a:gd name="T52" fmla="*/ 1 w 766"/>
              <a:gd name="T53" fmla="*/ 44 h 51"/>
              <a:gd name="T54" fmla="*/ 1 w 766"/>
              <a:gd name="T55" fmla="*/ 41 h 51"/>
              <a:gd name="T56" fmla="*/ 1 w 766"/>
              <a:gd name="T57" fmla="*/ 38 h 51"/>
              <a:gd name="T58" fmla="*/ 1 w 766"/>
              <a:gd name="T59" fmla="*/ 34 h 51"/>
              <a:gd name="T60" fmla="*/ 1 w 766"/>
              <a:gd name="T61" fmla="*/ 31 h 51"/>
              <a:gd name="T62" fmla="*/ 1 w 766"/>
              <a:gd name="T63" fmla="*/ 28 h 51"/>
              <a:gd name="T64" fmla="*/ 1 w 766"/>
              <a:gd name="T65" fmla="*/ 24 h 51"/>
              <a:gd name="T66" fmla="*/ 1 w 766"/>
              <a:gd name="T67" fmla="*/ 21 h 51"/>
              <a:gd name="T68" fmla="*/ 1 w 766"/>
              <a:gd name="T69" fmla="*/ 18 h 51"/>
              <a:gd name="T70" fmla="*/ 1 w 766"/>
              <a:gd name="T71" fmla="*/ 14 h 51"/>
              <a:gd name="T72" fmla="*/ 1 w 766"/>
              <a:gd name="T73" fmla="*/ 11 h 51"/>
              <a:gd name="T74" fmla="*/ 1 w 766"/>
              <a:gd name="T75" fmla="*/ 9 h 51"/>
              <a:gd name="T76" fmla="*/ 1 w 766"/>
              <a:gd name="T77" fmla="*/ 6 h 51"/>
              <a:gd name="T78" fmla="*/ 1 w 766"/>
              <a:gd name="T79" fmla="*/ 3 h 51"/>
              <a:gd name="T80" fmla="*/ 3 w 766"/>
              <a:gd name="T81" fmla="*/ 0 h 51"/>
              <a:gd name="T82" fmla="*/ 0 w 766"/>
              <a:gd name="T83"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66" h="51">
                <a:moveTo>
                  <a:pt x="766" y="0"/>
                </a:moveTo>
                <a:lnTo>
                  <a:pt x="766" y="0"/>
                </a:lnTo>
                <a:lnTo>
                  <a:pt x="763" y="0"/>
                </a:lnTo>
                <a:lnTo>
                  <a:pt x="763" y="3"/>
                </a:lnTo>
                <a:lnTo>
                  <a:pt x="763" y="6"/>
                </a:lnTo>
                <a:lnTo>
                  <a:pt x="763" y="9"/>
                </a:lnTo>
                <a:lnTo>
                  <a:pt x="763" y="11"/>
                </a:lnTo>
                <a:lnTo>
                  <a:pt x="763" y="14"/>
                </a:lnTo>
                <a:lnTo>
                  <a:pt x="763" y="18"/>
                </a:lnTo>
                <a:lnTo>
                  <a:pt x="763" y="21"/>
                </a:lnTo>
                <a:lnTo>
                  <a:pt x="763" y="24"/>
                </a:lnTo>
                <a:lnTo>
                  <a:pt x="763" y="28"/>
                </a:lnTo>
                <a:lnTo>
                  <a:pt x="763" y="31"/>
                </a:lnTo>
                <a:lnTo>
                  <a:pt x="763" y="34"/>
                </a:lnTo>
                <a:lnTo>
                  <a:pt x="763" y="38"/>
                </a:lnTo>
                <a:lnTo>
                  <a:pt x="763" y="41"/>
                </a:lnTo>
                <a:lnTo>
                  <a:pt x="763" y="44"/>
                </a:lnTo>
                <a:lnTo>
                  <a:pt x="763" y="48"/>
                </a:lnTo>
                <a:lnTo>
                  <a:pt x="763" y="51"/>
                </a:lnTo>
                <a:lnTo>
                  <a:pt x="766" y="51"/>
                </a:lnTo>
                <a:lnTo>
                  <a:pt x="766" y="0"/>
                </a:lnTo>
                <a:close/>
                <a:moveTo>
                  <a:pt x="0" y="0"/>
                </a:moveTo>
                <a:lnTo>
                  <a:pt x="0" y="0"/>
                </a:lnTo>
                <a:lnTo>
                  <a:pt x="0" y="51"/>
                </a:lnTo>
                <a:lnTo>
                  <a:pt x="3" y="51"/>
                </a:lnTo>
                <a:lnTo>
                  <a:pt x="1" y="48"/>
                </a:lnTo>
                <a:lnTo>
                  <a:pt x="1" y="44"/>
                </a:lnTo>
                <a:lnTo>
                  <a:pt x="1" y="41"/>
                </a:lnTo>
                <a:lnTo>
                  <a:pt x="1" y="38"/>
                </a:lnTo>
                <a:lnTo>
                  <a:pt x="1" y="34"/>
                </a:lnTo>
                <a:lnTo>
                  <a:pt x="1" y="31"/>
                </a:lnTo>
                <a:lnTo>
                  <a:pt x="1" y="28"/>
                </a:lnTo>
                <a:lnTo>
                  <a:pt x="1" y="24"/>
                </a:lnTo>
                <a:lnTo>
                  <a:pt x="1" y="21"/>
                </a:lnTo>
                <a:lnTo>
                  <a:pt x="1" y="18"/>
                </a:lnTo>
                <a:lnTo>
                  <a:pt x="1" y="14"/>
                </a:lnTo>
                <a:lnTo>
                  <a:pt x="1" y="11"/>
                </a:lnTo>
                <a:lnTo>
                  <a:pt x="1" y="9"/>
                </a:lnTo>
                <a:lnTo>
                  <a:pt x="1" y="6"/>
                </a:lnTo>
                <a:lnTo>
                  <a:pt x="1" y="3"/>
                </a:lnTo>
                <a:lnTo>
                  <a:pt x="3" y="0"/>
                </a:lnTo>
                <a:lnTo>
                  <a:pt x="0"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20" name="Freeform 1625">
            <a:extLst>
              <a:ext uri="{FF2B5EF4-FFF2-40B4-BE49-F238E27FC236}">
                <a16:creationId xmlns:a16="http://schemas.microsoft.com/office/drawing/2014/main" id="{BB9181AA-836F-F8BE-E07D-25D436CD47A0}"/>
              </a:ext>
            </a:extLst>
          </p:cNvPr>
          <p:cNvSpPr>
            <a:spLocks noEditPoints="1"/>
          </p:cNvSpPr>
          <p:nvPr/>
        </p:nvSpPr>
        <p:spPr bwMode="auto">
          <a:xfrm>
            <a:off x="1951038" y="2719388"/>
            <a:ext cx="1214438" cy="80963"/>
          </a:xfrm>
          <a:custGeom>
            <a:avLst/>
            <a:gdLst>
              <a:gd name="T0" fmla="*/ 765 w 765"/>
              <a:gd name="T1" fmla="*/ 21 h 51"/>
              <a:gd name="T2" fmla="*/ 765 w 765"/>
              <a:gd name="T3" fmla="*/ 14 h 51"/>
              <a:gd name="T4" fmla="*/ 765 w 765"/>
              <a:gd name="T5" fmla="*/ 9 h 51"/>
              <a:gd name="T6" fmla="*/ 765 w 765"/>
              <a:gd name="T7" fmla="*/ 3 h 51"/>
              <a:gd name="T8" fmla="*/ 761 w 765"/>
              <a:gd name="T9" fmla="*/ 0 h 51"/>
              <a:gd name="T10" fmla="*/ 761 w 765"/>
              <a:gd name="T11" fmla="*/ 6 h 51"/>
              <a:gd name="T12" fmla="*/ 761 w 765"/>
              <a:gd name="T13" fmla="*/ 11 h 51"/>
              <a:gd name="T14" fmla="*/ 761 w 765"/>
              <a:gd name="T15" fmla="*/ 18 h 51"/>
              <a:gd name="T16" fmla="*/ 761 w 765"/>
              <a:gd name="T17" fmla="*/ 24 h 51"/>
              <a:gd name="T18" fmla="*/ 761 w 765"/>
              <a:gd name="T19" fmla="*/ 31 h 51"/>
              <a:gd name="T20" fmla="*/ 761 w 765"/>
              <a:gd name="T21" fmla="*/ 38 h 51"/>
              <a:gd name="T22" fmla="*/ 761 w 765"/>
              <a:gd name="T23" fmla="*/ 44 h 51"/>
              <a:gd name="T24" fmla="*/ 761 w 765"/>
              <a:gd name="T25" fmla="*/ 51 h 51"/>
              <a:gd name="T26" fmla="*/ 765 w 765"/>
              <a:gd name="T27" fmla="*/ 48 h 51"/>
              <a:gd name="T28" fmla="*/ 765 w 765"/>
              <a:gd name="T29" fmla="*/ 41 h 51"/>
              <a:gd name="T30" fmla="*/ 765 w 765"/>
              <a:gd name="T31" fmla="*/ 34 h 51"/>
              <a:gd name="T32" fmla="*/ 765 w 765"/>
              <a:gd name="T33" fmla="*/ 28 h 51"/>
              <a:gd name="T34" fmla="*/ 1 w 765"/>
              <a:gd name="T35" fmla="*/ 0 h 51"/>
              <a:gd name="T36" fmla="*/ 0 w 765"/>
              <a:gd name="T37" fmla="*/ 6 h 51"/>
              <a:gd name="T38" fmla="*/ 0 w 765"/>
              <a:gd name="T39" fmla="*/ 11 h 51"/>
              <a:gd name="T40" fmla="*/ 0 w 765"/>
              <a:gd name="T41" fmla="*/ 18 h 51"/>
              <a:gd name="T42" fmla="*/ 0 w 765"/>
              <a:gd name="T43" fmla="*/ 24 h 51"/>
              <a:gd name="T44" fmla="*/ 0 w 765"/>
              <a:gd name="T45" fmla="*/ 31 h 51"/>
              <a:gd name="T46" fmla="*/ 0 w 765"/>
              <a:gd name="T47" fmla="*/ 38 h 51"/>
              <a:gd name="T48" fmla="*/ 0 w 765"/>
              <a:gd name="T49" fmla="*/ 44 h 51"/>
              <a:gd name="T50" fmla="*/ 1 w 765"/>
              <a:gd name="T51" fmla="*/ 51 h 51"/>
              <a:gd name="T52" fmla="*/ 3 w 765"/>
              <a:gd name="T53" fmla="*/ 48 h 51"/>
              <a:gd name="T54" fmla="*/ 3 w 765"/>
              <a:gd name="T55" fmla="*/ 41 h 51"/>
              <a:gd name="T56" fmla="*/ 3 w 765"/>
              <a:gd name="T57" fmla="*/ 34 h 51"/>
              <a:gd name="T58" fmla="*/ 3 w 765"/>
              <a:gd name="T59" fmla="*/ 28 h 51"/>
              <a:gd name="T60" fmla="*/ 3 w 765"/>
              <a:gd name="T61" fmla="*/ 21 h 51"/>
              <a:gd name="T62" fmla="*/ 3 w 765"/>
              <a:gd name="T63" fmla="*/ 14 h 51"/>
              <a:gd name="T64" fmla="*/ 3 w 765"/>
              <a:gd name="T65" fmla="*/ 9 h 51"/>
              <a:gd name="T66" fmla="*/ 3 w 765"/>
              <a:gd name="T67" fmla="*/ 3 h 51"/>
              <a:gd name="T68" fmla="*/ 1 w 76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65" h="51">
                <a:moveTo>
                  <a:pt x="765" y="24"/>
                </a:moveTo>
                <a:lnTo>
                  <a:pt x="765" y="21"/>
                </a:lnTo>
                <a:lnTo>
                  <a:pt x="765" y="18"/>
                </a:lnTo>
                <a:lnTo>
                  <a:pt x="765" y="14"/>
                </a:lnTo>
                <a:lnTo>
                  <a:pt x="765" y="11"/>
                </a:lnTo>
                <a:lnTo>
                  <a:pt x="765" y="9"/>
                </a:lnTo>
                <a:lnTo>
                  <a:pt x="765" y="6"/>
                </a:lnTo>
                <a:lnTo>
                  <a:pt x="765" y="3"/>
                </a:lnTo>
                <a:lnTo>
                  <a:pt x="765" y="0"/>
                </a:lnTo>
                <a:lnTo>
                  <a:pt x="761" y="0"/>
                </a:lnTo>
                <a:lnTo>
                  <a:pt x="761" y="3"/>
                </a:lnTo>
                <a:lnTo>
                  <a:pt x="761" y="6"/>
                </a:lnTo>
                <a:lnTo>
                  <a:pt x="761" y="9"/>
                </a:lnTo>
                <a:lnTo>
                  <a:pt x="761" y="11"/>
                </a:lnTo>
                <a:lnTo>
                  <a:pt x="761" y="14"/>
                </a:lnTo>
                <a:lnTo>
                  <a:pt x="761" y="18"/>
                </a:lnTo>
                <a:lnTo>
                  <a:pt x="761" y="21"/>
                </a:lnTo>
                <a:lnTo>
                  <a:pt x="761" y="24"/>
                </a:lnTo>
                <a:lnTo>
                  <a:pt x="761" y="28"/>
                </a:lnTo>
                <a:lnTo>
                  <a:pt x="761" y="31"/>
                </a:lnTo>
                <a:lnTo>
                  <a:pt x="761" y="34"/>
                </a:lnTo>
                <a:lnTo>
                  <a:pt x="761" y="38"/>
                </a:lnTo>
                <a:lnTo>
                  <a:pt x="761" y="41"/>
                </a:lnTo>
                <a:lnTo>
                  <a:pt x="761" y="44"/>
                </a:lnTo>
                <a:lnTo>
                  <a:pt x="761" y="48"/>
                </a:lnTo>
                <a:lnTo>
                  <a:pt x="761" y="51"/>
                </a:lnTo>
                <a:lnTo>
                  <a:pt x="765" y="51"/>
                </a:lnTo>
                <a:lnTo>
                  <a:pt x="765" y="48"/>
                </a:lnTo>
                <a:lnTo>
                  <a:pt x="765" y="44"/>
                </a:lnTo>
                <a:lnTo>
                  <a:pt x="765" y="41"/>
                </a:lnTo>
                <a:lnTo>
                  <a:pt x="765" y="38"/>
                </a:lnTo>
                <a:lnTo>
                  <a:pt x="765" y="34"/>
                </a:lnTo>
                <a:lnTo>
                  <a:pt x="765" y="31"/>
                </a:lnTo>
                <a:lnTo>
                  <a:pt x="765" y="28"/>
                </a:lnTo>
                <a:lnTo>
                  <a:pt x="76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21" name="Freeform 1626">
            <a:extLst>
              <a:ext uri="{FF2B5EF4-FFF2-40B4-BE49-F238E27FC236}">
                <a16:creationId xmlns:a16="http://schemas.microsoft.com/office/drawing/2014/main" id="{887B77CB-BB68-7B1C-B1BC-E97C91D8F837}"/>
              </a:ext>
            </a:extLst>
          </p:cNvPr>
          <p:cNvSpPr>
            <a:spLocks noEditPoints="1"/>
          </p:cNvSpPr>
          <p:nvPr/>
        </p:nvSpPr>
        <p:spPr bwMode="auto">
          <a:xfrm>
            <a:off x="1952625" y="2719388"/>
            <a:ext cx="1209675" cy="80963"/>
          </a:xfrm>
          <a:custGeom>
            <a:avLst/>
            <a:gdLst>
              <a:gd name="T0" fmla="*/ 762 w 762"/>
              <a:gd name="T1" fmla="*/ 21 h 51"/>
              <a:gd name="T2" fmla="*/ 762 w 762"/>
              <a:gd name="T3" fmla="*/ 14 h 51"/>
              <a:gd name="T4" fmla="*/ 762 w 762"/>
              <a:gd name="T5" fmla="*/ 9 h 51"/>
              <a:gd name="T6" fmla="*/ 762 w 762"/>
              <a:gd name="T7" fmla="*/ 3 h 51"/>
              <a:gd name="T8" fmla="*/ 759 w 762"/>
              <a:gd name="T9" fmla="*/ 0 h 51"/>
              <a:gd name="T10" fmla="*/ 759 w 762"/>
              <a:gd name="T11" fmla="*/ 6 h 51"/>
              <a:gd name="T12" fmla="*/ 759 w 762"/>
              <a:gd name="T13" fmla="*/ 11 h 51"/>
              <a:gd name="T14" fmla="*/ 759 w 762"/>
              <a:gd name="T15" fmla="*/ 18 h 51"/>
              <a:gd name="T16" fmla="*/ 759 w 762"/>
              <a:gd name="T17" fmla="*/ 24 h 51"/>
              <a:gd name="T18" fmla="*/ 759 w 762"/>
              <a:gd name="T19" fmla="*/ 31 h 51"/>
              <a:gd name="T20" fmla="*/ 759 w 762"/>
              <a:gd name="T21" fmla="*/ 38 h 51"/>
              <a:gd name="T22" fmla="*/ 759 w 762"/>
              <a:gd name="T23" fmla="*/ 44 h 51"/>
              <a:gd name="T24" fmla="*/ 759 w 762"/>
              <a:gd name="T25" fmla="*/ 51 h 51"/>
              <a:gd name="T26" fmla="*/ 762 w 762"/>
              <a:gd name="T27" fmla="*/ 48 h 51"/>
              <a:gd name="T28" fmla="*/ 762 w 762"/>
              <a:gd name="T29" fmla="*/ 41 h 51"/>
              <a:gd name="T30" fmla="*/ 762 w 762"/>
              <a:gd name="T31" fmla="*/ 34 h 51"/>
              <a:gd name="T32" fmla="*/ 762 w 762"/>
              <a:gd name="T33" fmla="*/ 28 h 51"/>
              <a:gd name="T34" fmla="*/ 2 w 762"/>
              <a:gd name="T35" fmla="*/ 0 h 51"/>
              <a:gd name="T36" fmla="*/ 0 w 762"/>
              <a:gd name="T37" fmla="*/ 6 h 51"/>
              <a:gd name="T38" fmla="*/ 0 w 762"/>
              <a:gd name="T39" fmla="*/ 11 h 51"/>
              <a:gd name="T40" fmla="*/ 0 w 762"/>
              <a:gd name="T41" fmla="*/ 18 h 51"/>
              <a:gd name="T42" fmla="*/ 0 w 762"/>
              <a:gd name="T43" fmla="*/ 24 h 51"/>
              <a:gd name="T44" fmla="*/ 0 w 762"/>
              <a:gd name="T45" fmla="*/ 31 h 51"/>
              <a:gd name="T46" fmla="*/ 0 w 762"/>
              <a:gd name="T47" fmla="*/ 38 h 51"/>
              <a:gd name="T48" fmla="*/ 0 w 762"/>
              <a:gd name="T49" fmla="*/ 44 h 51"/>
              <a:gd name="T50" fmla="*/ 2 w 762"/>
              <a:gd name="T51" fmla="*/ 51 h 51"/>
              <a:gd name="T52" fmla="*/ 4 w 762"/>
              <a:gd name="T53" fmla="*/ 48 h 51"/>
              <a:gd name="T54" fmla="*/ 4 w 762"/>
              <a:gd name="T55" fmla="*/ 41 h 51"/>
              <a:gd name="T56" fmla="*/ 4 w 762"/>
              <a:gd name="T57" fmla="*/ 34 h 51"/>
              <a:gd name="T58" fmla="*/ 4 w 762"/>
              <a:gd name="T59" fmla="*/ 28 h 51"/>
              <a:gd name="T60" fmla="*/ 4 w 762"/>
              <a:gd name="T61" fmla="*/ 21 h 51"/>
              <a:gd name="T62" fmla="*/ 4 w 762"/>
              <a:gd name="T63" fmla="*/ 14 h 51"/>
              <a:gd name="T64" fmla="*/ 4 w 762"/>
              <a:gd name="T65" fmla="*/ 9 h 51"/>
              <a:gd name="T66" fmla="*/ 4 w 762"/>
              <a:gd name="T67" fmla="*/ 3 h 51"/>
              <a:gd name="T68" fmla="*/ 2 w 7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62" h="51">
                <a:moveTo>
                  <a:pt x="762" y="24"/>
                </a:moveTo>
                <a:lnTo>
                  <a:pt x="762" y="21"/>
                </a:lnTo>
                <a:lnTo>
                  <a:pt x="762" y="18"/>
                </a:lnTo>
                <a:lnTo>
                  <a:pt x="762" y="14"/>
                </a:lnTo>
                <a:lnTo>
                  <a:pt x="762" y="11"/>
                </a:lnTo>
                <a:lnTo>
                  <a:pt x="762" y="9"/>
                </a:lnTo>
                <a:lnTo>
                  <a:pt x="762" y="6"/>
                </a:lnTo>
                <a:lnTo>
                  <a:pt x="762" y="3"/>
                </a:lnTo>
                <a:lnTo>
                  <a:pt x="762" y="0"/>
                </a:lnTo>
                <a:lnTo>
                  <a:pt x="759" y="0"/>
                </a:lnTo>
                <a:lnTo>
                  <a:pt x="759" y="3"/>
                </a:lnTo>
                <a:lnTo>
                  <a:pt x="759" y="6"/>
                </a:lnTo>
                <a:lnTo>
                  <a:pt x="759" y="9"/>
                </a:lnTo>
                <a:lnTo>
                  <a:pt x="759" y="11"/>
                </a:lnTo>
                <a:lnTo>
                  <a:pt x="759" y="14"/>
                </a:lnTo>
                <a:lnTo>
                  <a:pt x="759" y="18"/>
                </a:lnTo>
                <a:lnTo>
                  <a:pt x="759" y="21"/>
                </a:lnTo>
                <a:lnTo>
                  <a:pt x="759" y="24"/>
                </a:lnTo>
                <a:lnTo>
                  <a:pt x="759" y="28"/>
                </a:lnTo>
                <a:lnTo>
                  <a:pt x="759" y="31"/>
                </a:lnTo>
                <a:lnTo>
                  <a:pt x="759" y="34"/>
                </a:lnTo>
                <a:lnTo>
                  <a:pt x="759" y="38"/>
                </a:lnTo>
                <a:lnTo>
                  <a:pt x="759" y="41"/>
                </a:lnTo>
                <a:lnTo>
                  <a:pt x="759" y="44"/>
                </a:lnTo>
                <a:lnTo>
                  <a:pt x="759" y="48"/>
                </a:lnTo>
                <a:lnTo>
                  <a:pt x="759" y="51"/>
                </a:lnTo>
                <a:lnTo>
                  <a:pt x="762" y="51"/>
                </a:lnTo>
                <a:lnTo>
                  <a:pt x="762" y="48"/>
                </a:lnTo>
                <a:lnTo>
                  <a:pt x="762" y="44"/>
                </a:lnTo>
                <a:lnTo>
                  <a:pt x="762" y="41"/>
                </a:lnTo>
                <a:lnTo>
                  <a:pt x="762" y="38"/>
                </a:lnTo>
                <a:lnTo>
                  <a:pt x="762" y="34"/>
                </a:lnTo>
                <a:lnTo>
                  <a:pt x="762" y="31"/>
                </a:lnTo>
                <a:lnTo>
                  <a:pt x="762" y="28"/>
                </a:lnTo>
                <a:lnTo>
                  <a:pt x="76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22" name="Freeform 1627">
            <a:extLst>
              <a:ext uri="{FF2B5EF4-FFF2-40B4-BE49-F238E27FC236}">
                <a16:creationId xmlns:a16="http://schemas.microsoft.com/office/drawing/2014/main" id="{63F124FB-37E6-1FA3-7565-4F54D3DEDAB5}"/>
              </a:ext>
            </a:extLst>
          </p:cNvPr>
          <p:cNvSpPr>
            <a:spLocks noEditPoints="1"/>
          </p:cNvSpPr>
          <p:nvPr/>
        </p:nvSpPr>
        <p:spPr bwMode="auto">
          <a:xfrm>
            <a:off x="1955800" y="2719388"/>
            <a:ext cx="1203325" cy="80963"/>
          </a:xfrm>
          <a:custGeom>
            <a:avLst/>
            <a:gdLst>
              <a:gd name="T0" fmla="*/ 758 w 758"/>
              <a:gd name="T1" fmla="*/ 21 h 51"/>
              <a:gd name="T2" fmla="*/ 758 w 758"/>
              <a:gd name="T3" fmla="*/ 14 h 51"/>
              <a:gd name="T4" fmla="*/ 758 w 758"/>
              <a:gd name="T5" fmla="*/ 9 h 51"/>
              <a:gd name="T6" fmla="*/ 758 w 758"/>
              <a:gd name="T7" fmla="*/ 3 h 51"/>
              <a:gd name="T8" fmla="*/ 755 w 758"/>
              <a:gd name="T9" fmla="*/ 0 h 51"/>
              <a:gd name="T10" fmla="*/ 755 w 758"/>
              <a:gd name="T11" fmla="*/ 6 h 51"/>
              <a:gd name="T12" fmla="*/ 755 w 758"/>
              <a:gd name="T13" fmla="*/ 11 h 51"/>
              <a:gd name="T14" fmla="*/ 755 w 758"/>
              <a:gd name="T15" fmla="*/ 18 h 51"/>
              <a:gd name="T16" fmla="*/ 755 w 758"/>
              <a:gd name="T17" fmla="*/ 24 h 51"/>
              <a:gd name="T18" fmla="*/ 755 w 758"/>
              <a:gd name="T19" fmla="*/ 31 h 51"/>
              <a:gd name="T20" fmla="*/ 755 w 758"/>
              <a:gd name="T21" fmla="*/ 38 h 51"/>
              <a:gd name="T22" fmla="*/ 755 w 758"/>
              <a:gd name="T23" fmla="*/ 44 h 51"/>
              <a:gd name="T24" fmla="*/ 755 w 758"/>
              <a:gd name="T25" fmla="*/ 51 h 51"/>
              <a:gd name="T26" fmla="*/ 758 w 758"/>
              <a:gd name="T27" fmla="*/ 48 h 51"/>
              <a:gd name="T28" fmla="*/ 758 w 758"/>
              <a:gd name="T29" fmla="*/ 41 h 51"/>
              <a:gd name="T30" fmla="*/ 758 w 758"/>
              <a:gd name="T31" fmla="*/ 34 h 51"/>
              <a:gd name="T32" fmla="*/ 758 w 758"/>
              <a:gd name="T33" fmla="*/ 28 h 51"/>
              <a:gd name="T34" fmla="*/ 2 w 758"/>
              <a:gd name="T35" fmla="*/ 0 h 51"/>
              <a:gd name="T36" fmla="*/ 0 w 758"/>
              <a:gd name="T37" fmla="*/ 6 h 51"/>
              <a:gd name="T38" fmla="*/ 0 w 758"/>
              <a:gd name="T39" fmla="*/ 11 h 51"/>
              <a:gd name="T40" fmla="*/ 0 w 758"/>
              <a:gd name="T41" fmla="*/ 18 h 51"/>
              <a:gd name="T42" fmla="*/ 0 w 758"/>
              <a:gd name="T43" fmla="*/ 24 h 51"/>
              <a:gd name="T44" fmla="*/ 0 w 758"/>
              <a:gd name="T45" fmla="*/ 31 h 51"/>
              <a:gd name="T46" fmla="*/ 0 w 758"/>
              <a:gd name="T47" fmla="*/ 38 h 51"/>
              <a:gd name="T48" fmla="*/ 0 w 758"/>
              <a:gd name="T49" fmla="*/ 44 h 51"/>
              <a:gd name="T50" fmla="*/ 2 w 758"/>
              <a:gd name="T51" fmla="*/ 51 h 51"/>
              <a:gd name="T52" fmla="*/ 3 w 758"/>
              <a:gd name="T53" fmla="*/ 48 h 51"/>
              <a:gd name="T54" fmla="*/ 3 w 758"/>
              <a:gd name="T55" fmla="*/ 41 h 51"/>
              <a:gd name="T56" fmla="*/ 3 w 758"/>
              <a:gd name="T57" fmla="*/ 34 h 51"/>
              <a:gd name="T58" fmla="*/ 3 w 758"/>
              <a:gd name="T59" fmla="*/ 28 h 51"/>
              <a:gd name="T60" fmla="*/ 3 w 758"/>
              <a:gd name="T61" fmla="*/ 21 h 51"/>
              <a:gd name="T62" fmla="*/ 3 w 758"/>
              <a:gd name="T63" fmla="*/ 14 h 51"/>
              <a:gd name="T64" fmla="*/ 3 w 758"/>
              <a:gd name="T65" fmla="*/ 9 h 51"/>
              <a:gd name="T66" fmla="*/ 3 w 758"/>
              <a:gd name="T67" fmla="*/ 3 h 51"/>
              <a:gd name="T68" fmla="*/ 2 w 75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58" h="51">
                <a:moveTo>
                  <a:pt x="758" y="24"/>
                </a:moveTo>
                <a:lnTo>
                  <a:pt x="758" y="21"/>
                </a:lnTo>
                <a:lnTo>
                  <a:pt x="758" y="18"/>
                </a:lnTo>
                <a:lnTo>
                  <a:pt x="758" y="14"/>
                </a:lnTo>
                <a:lnTo>
                  <a:pt x="758" y="11"/>
                </a:lnTo>
                <a:lnTo>
                  <a:pt x="758" y="9"/>
                </a:lnTo>
                <a:lnTo>
                  <a:pt x="758" y="6"/>
                </a:lnTo>
                <a:lnTo>
                  <a:pt x="758" y="3"/>
                </a:lnTo>
                <a:lnTo>
                  <a:pt x="758" y="0"/>
                </a:lnTo>
                <a:lnTo>
                  <a:pt x="755" y="0"/>
                </a:lnTo>
                <a:lnTo>
                  <a:pt x="755" y="3"/>
                </a:lnTo>
                <a:lnTo>
                  <a:pt x="755" y="6"/>
                </a:lnTo>
                <a:lnTo>
                  <a:pt x="755" y="9"/>
                </a:lnTo>
                <a:lnTo>
                  <a:pt x="755" y="11"/>
                </a:lnTo>
                <a:lnTo>
                  <a:pt x="755" y="14"/>
                </a:lnTo>
                <a:lnTo>
                  <a:pt x="755" y="18"/>
                </a:lnTo>
                <a:lnTo>
                  <a:pt x="755" y="21"/>
                </a:lnTo>
                <a:lnTo>
                  <a:pt x="755" y="24"/>
                </a:lnTo>
                <a:lnTo>
                  <a:pt x="755" y="28"/>
                </a:lnTo>
                <a:lnTo>
                  <a:pt x="755" y="31"/>
                </a:lnTo>
                <a:lnTo>
                  <a:pt x="755" y="34"/>
                </a:lnTo>
                <a:lnTo>
                  <a:pt x="755" y="38"/>
                </a:lnTo>
                <a:lnTo>
                  <a:pt x="755" y="41"/>
                </a:lnTo>
                <a:lnTo>
                  <a:pt x="755" y="44"/>
                </a:lnTo>
                <a:lnTo>
                  <a:pt x="755" y="48"/>
                </a:lnTo>
                <a:lnTo>
                  <a:pt x="755" y="51"/>
                </a:lnTo>
                <a:lnTo>
                  <a:pt x="758" y="51"/>
                </a:lnTo>
                <a:lnTo>
                  <a:pt x="758" y="48"/>
                </a:lnTo>
                <a:lnTo>
                  <a:pt x="758" y="44"/>
                </a:lnTo>
                <a:lnTo>
                  <a:pt x="758" y="41"/>
                </a:lnTo>
                <a:lnTo>
                  <a:pt x="758" y="38"/>
                </a:lnTo>
                <a:lnTo>
                  <a:pt x="758" y="34"/>
                </a:lnTo>
                <a:lnTo>
                  <a:pt x="758" y="31"/>
                </a:lnTo>
                <a:lnTo>
                  <a:pt x="758" y="28"/>
                </a:lnTo>
                <a:lnTo>
                  <a:pt x="758"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23" name="Freeform 1628">
            <a:extLst>
              <a:ext uri="{FF2B5EF4-FFF2-40B4-BE49-F238E27FC236}">
                <a16:creationId xmlns:a16="http://schemas.microsoft.com/office/drawing/2014/main" id="{1086A68E-9CBF-DDDB-24C2-8EC62C39FCE4}"/>
              </a:ext>
            </a:extLst>
          </p:cNvPr>
          <p:cNvSpPr>
            <a:spLocks noEditPoints="1"/>
          </p:cNvSpPr>
          <p:nvPr/>
        </p:nvSpPr>
        <p:spPr bwMode="auto">
          <a:xfrm>
            <a:off x="1958975" y="2719388"/>
            <a:ext cx="1198563" cy="80963"/>
          </a:xfrm>
          <a:custGeom>
            <a:avLst/>
            <a:gdLst>
              <a:gd name="T0" fmla="*/ 755 w 755"/>
              <a:gd name="T1" fmla="*/ 21 h 51"/>
              <a:gd name="T2" fmla="*/ 755 w 755"/>
              <a:gd name="T3" fmla="*/ 14 h 51"/>
              <a:gd name="T4" fmla="*/ 755 w 755"/>
              <a:gd name="T5" fmla="*/ 9 h 51"/>
              <a:gd name="T6" fmla="*/ 755 w 755"/>
              <a:gd name="T7" fmla="*/ 3 h 51"/>
              <a:gd name="T8" fmla="*/ 751 w 755"/>
              <a:gd name="T9" fmla="*/ 0 h 51"/>
              <a:gd name="T10" fmla="*/ 751 w 755"/>
              <a:gd name="T11" fmla="*/ 6 h 51"/>
              <a:gd name="T12" fmla="*/ 751 w 755"/>
              <a:gd name="T13" fmla="*/ 11 h 51"/>
              <a:gd name="T14" fmla="*/ 751 w 755"/>
              <a:gd name="T15" fmla="*/ 18 h 51"/>
              <a:gd name="T16" fmla="*/ 751 w 755"/>
              <a:gd name="T17" fmla="*/ 24 h 51"/>
              <a:gd name="T18" fmla="*/ 751 w 755"/>
              <a:gd name="T19" fmla="*/ 31 h 51"/>
              <a:gd name="T20" fmla="*/ 751 w 755"/>
              <a:gd name="T21" fmla="*/ 38 h 51"/>
              <a:gd name="T22" fmla="*/ 751 w 755"/>
              <a:gd name="T23" fmla="*/ 44 h 51"/>
              <a:gd name="T24" fmla="*/ 751 w 755"/>
              <a:gd name="T25" fmla="*/ 51 h 51"/>
              <a:gd name="T26" fmla="*/ 755 w 755"/>
              <a:gd name="T27" fmla="*/ 48 h 51"/>
              <a:gd name="T28" fmla="*/ 755 w 755"/>
              <a:gd name="T29" fmla="*/ 41 h 51"/>
              <a:gd name="T30" fmla="*/ 755 w 755"/>
              <a:gd name="T31" fmla="*/ 34 h 51"/>
              <a:gd name="T32" fmla="*/ 755 w 755"/>
              <a:gd name="T33" fmla="*/ 28 h 51"/>
              <a:gd name="T34" fmla="*/ 1 w 755"/>
              <a:gd name="T35" fmla="*/ 0 h 51"/>
              <a:gd name="T36" fmla="*/ 0 w 755"/>
              <a:gd name="T37" fmla="*/ 6 h 51"/>
              <a:gd name="T38" fmla="*/ 0 w 755"/>
              <a:gd name="T39" fmla="*/ 11 h 51"/>
              <a:gd name="T40" fmla="*/ 0 w 755"/>
              <a:gd name="T41" fmla="*/ 18 h 51"/>
              <a:gd name="T42" fmla="*/ 0 w 755"/>
              <a:gd name="T43" fmla="*/ 24 h 51"/>
              <a:gd name="T44" fmla="*/ 0 w 755"/>
              <a:gd name="T45" fmla="*/ 31 h 51"/>
              <a:gd name="T46" fmla="*/ 0 w 755"/>
              <a:gd name="T47" fmla="*/ 38 h 51"/>
              <a:gd name="T48" fmla="*/ 0 w 755"/>
              <a:gd name="T49" fmla="*/ 44 h 51"/>
              <a:gd name="T50" fmla="*/ 1 w 755"/>
              <a:gd name="T51" fmla="*/ 51 h 51"/>
              <a:gd name="T52" fmla="*/ 3 w 755"/>
              <a:gd name="T53" fmla="*/ 48 h 51"/>
              <a:gd name="T54" fmla="*/ 3 w 755"/>
              <a:gd name="T55" fmla="*/ 41 h 51"/>
              <a:gd name="T56" fmla="*/ 3 w 755"/>
              <a:gd name="T57" fmla="*/ 34 h 51"/>
              <a:gd name="T58" fmla="*/ 3 w 755"/>
              <a:gd name="T59" fmla="*/ 28 h 51"/>
              <a:gd name="T60" fmla="*/ 3 w 755"/>
              <a:gd name="T61" fmla="*/ 21 h 51"/>
              <a:gd name="T62" fmla="*/ 3 w 755"/>
              <a:gd name="T63" fmla="*/ 14 h 51"/>
              <a:gd name="T64" fmla="*/ 3 w 755"/>
              <a:gd name="T65" fmla="*/ 9 h 51"/>
              <a:gd name="T66" fmla="*/ 3 w 755"/>
              <a:gd name="T67" fmla="*/ 3 h 51"/>
              <a:gd name="T68" fmla="*/ 1 w 75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55" h="51">
                <a:moveTo>
                  <a:pt x="755" y="24"/>
                </a:moveTo>
                <a:lnTo>
                  <a:pt x="755" y="21"/>
                </a:lnTo>
                <a:lnTo>
                  <a:pt x="755" y="18"/>
                </a:lnTo>
                <a:lnTo>
                  <a:pt x="755" y="14"/>
                </a:lnTo>
                <a:lnTo>
                  <a:pt x="755" y="11"/>
                </a:lnTo>
                <a:lnTo>
                  <a:pt x="755" y="9"/>
                </a:lnTo>
                <a:lnTo>
                  <a:pt x="755" y="6"/>
                </a:lnTo>
                <a:lnTo>
                  <a:pt x="755" y="3"/>
                </a:lnTo>
                <a:lnTo>
                  <a:pt x="755" y="0"/>
                </a:lnTo>
                <a:lnTo>
                  <a:pt x="751" y="0"/>
                </a:lnTo>
                <a:lnTo>
                  <a:pt x="751" y="3"/>
                </a:lnTo>
                <a:lnTo>
                  <a:pt x="751" y="6"/>
                </a:lnTo>
                <a:lnTo>
                  <a:pt x="751" y="9"/>
                </a:lnTo>
                <a:lnTo>
                  <a:pt x="751" y="11"/>
                </a:lnTo>
                <a:lnTo>
                  <a:pt x="751" y="14"/>
                </a:lnTo>
                <a:lnTo>
                  <a:pt x="751" y="18"/>
                </a:lnTo>
                <a:lnTo>
                  <a:pt x="751" y="21"/>
                </a:lnTo>
                <a:lnTo>
                  <a:pt x="751" y="24"/>
                </a:lnTo>
                <a:lnTo>
                  <a:pt x="751" y="28"/>
                </a:lnTo>
                <a:lnTo>
                  <a:pt x="751" y="31"/>
                </a:lnTo>
                <a:lnTo>
                  <a:pt x="751" y="34"/>
                </a:lnTo>
                <a:lnTo>
                  <a:pt x="751" y="38"/>
                </a:lnTo>
                <a:lnTo>
                  <a:pt x="751" y="41"/>
                </a:lnTo>
                <a:lnTo>
                  <a:pt x="751" y="44"/>
                </a:lnTo>
                <a:lnTo>
                  <a:pt x="751" y="48"/>
                </a:lnTo>
                <a:lnTo>
                  <a:pt x="751" y="51"/>
                </a:lnTo>
                <a:lnTo>
                  <a:pt x="755" y="51"/>
                </a:lnTo>
                <a:lnTo>
                  <a:pt x="755" y="48"/>
                </a:lnTo>
                <a:lnTo>
                  <a:pt x="755" y="44"/>
                </a:lnTo>
                <a:lnTo>
                  <a:pt x="755" y="41"/>
                </a:lnTo>
                <a:lnTo>
                  <a:pt x="755" y="38"/>
                </a:lnTo>
                <a:lnTo>
                  <a:pt x="755" y="34"/>
                </a:lnTo>
                <a:lnTo>
                  <a:pt x="755" y="31"/>
                </a:lnTo>
                <a:lnTo>
                  <a:pt x="755" y="28"/>
                </a:lnTo>
                <a:lnTo>
                  <a:pt x="75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24" name="Freeform 1629">
            <a:extLst>
              <a:ext uri="{FF2B5EF4-FFF2-40B4-BE49-F238E27FC236}">
                <a16:creationId xmlns:a16="http://schemas.microsoft.com/office/drawing/2014/main" id="{6A67F025-80CF-A4D3-AC40-8E02D120BCB8}"/>
              </a:ext>
            </a:extLst>
          </p:cNvPr>
          <p:cNvSpPr>
            <a:spLocks noEditPoints="1"/>
          </p:cNvSpPr>
          <p:nvPr/>
        </p:nvSpPr>
        <p:spPr bwMode="auto">
          <a:xfrm>
            <a:off x="1960563" y="2719388"/>
            <a:ext cx="1193800" cy="80963"/>
          </a:xfrm>
          <a:custGeom>
            <a:avLst/>
            <a:gdLst>
              <a:gd name="T0" fmla="*/ 752 w 752"/>
              <a:gd name="T1" fmla="*/ 21 h 51"/>
              <a:gd name="T2" fmla="*/ 752 w 752"/>
              <a:gd name="T3" fmla="*/ 14 h 51"/>
              <a:gd name="T4" fmla="*/ 752 w 752"/>
              <a:gd name="T5" fmla="*/ 9 h 51"/>
              <a:gd name="T6" fmla="*/ 752 w 752"/>
              <a:gd name="T7" fmla="*/ 3 h 51"/>
              <a:gd name="T8" fmla="*/ 749 w 752"/>
              <a:gd name="T9" fmla="*/ 0 h 51"/>
              <a:gd name="T10" fmla="*/ 749 w 752"/>
              <a:gd name="T11" fmla="*/ 6 h 51"/>
              <a:gd name="T12" fmla="*/ 749 w 752"/>
              <a:gd name="T13" fmla="*/ 11 h 51"/>
              <a:gd name="T14" fmla="*/ 749 w 752"/>
              <a:gd name="T15" fmla="*/ 18 h 51"/>
              <a:gd name="T16" fmla="*/ 749 w 752"/>
              <a:gd name="T17" fmla="*/ 24 h 51"/>
              <a:gd name="T18" fmla="*/ 749 w 752"/>
              <a:gd name="T19" fmla="*/ 31 h 51"/>
              <a:gd name="T20" fmla="*/ 749 w 752"/>
              <a:gd name="T21" fmla="*/ 38 h 51"/>
              <a:gd name="T22" fmla="*/ 749 w 752"/>
              <a:gd name="T23" fmla="*/ 44 h 51"/>
              <a:gd name="T24" fmla="*/ 749 w 752"/>
              <a:gd name="T25" fmla="*/ 51 h 51"/>
              <a:gd name="T26" fmla="*/ 752 w 752"/>
              <a:gd name="T27" fmla="*/ 48 h 51"/>
              <a:gd name="T28" fmla="*/ 752 w 752"/>
              <a:gd name="T29" fmla="*/ 41 h 51"/>
              <a:gd name="T30" fmla="*/ 752 w 752"/>
              <a:gd name="T31" fmla="*/ 34 h 51"/>
              <a:gd name="T32" fmla="*/ 752 w 752"/>
              <a:gd name="T33" fmla="*/ 28 h 51"/>
              <a:gd name="T34" fmla="*/ 2 w 752"/>
              <a:gd name="T35" fmla="*/ 0 h 51"/>
              <a:gd name="T36" fmla="*/ 0 w 752"/>
              <a:gd name="T37" fmla="*/ 6 h 51"/>
              <a:gd name="T38" fmla="*/ 0 w 752"/>
              <a:gd name="T39" fmla="*/ 11 h 51"/>
              <a:gd name="T40" fmla="*/ 0 w 752"/>
              <a:gd name="T41" fmla="*/ 18 h 51"/>
              <a:gd name="T42" fmla="*/ 0 w 752"/>
              <a:gd name="T43" fmla="*/ 24 h 51"/>
              <a:gd name="T44" fmla="*/ 0 w 752"/>
              <a:gd name="T45" fmla="*/ 31 h 51"/>
              <a:gd name="T46" fmla="*/ 0 w 752"/>
              <a:gd name="T47" fmla="*/ 38 h 51"/>
              <a:gd name="T48" fmla="*/ 0 w 752"/>
              <a:gd name="T49" fmla="*/ 44 h 51"/>
              <a:gd name="T50" fmla="*/ 2 w 752"/>
              <a:gd name="T51" fmla="*/ 51 h 51"/>
              <a:gd name="T52" fmla="*/ 4 w 752"/>
              <a:gd name="T53" fmla="*/ 48 h 51"/>
              <a:gd name="T54" fmla="*/ 4 w 752"/>
              <a:gd name="T55" fmla="*/ 41 h 51"/>
              <a:gd name="T56" fmla="*/ 4 w 752"/>
              <a:gd name="T57" fmla="*/ 34 h 51"/>
              <a:gd name="T58" fmla="*/ 4 w 752"/>
              <a:gd name="T59" fmla="*/ 28 h 51"/>
              <a:gd name="T60" fmla="*/ 4 w 752"/>
              <a:gd name="T61" fmla="*/ 21 h 51"/>
              <a:gd name="T62" fmla="*/ 4 w 752"/>
              <a:gd name="T63" fmla="*/ 14 h 51"/>
              <a:gd name="T64" fmla="*/ 4 w 752"/>
              <a:gd name="T65" fmla="*/ 9 h 51"/>
              <a:gd name="T66" fmla="*/ 4 w 752"/>
              <a:gd name="T67" fmla="*/ 3 h 51"/>
              <a:gd name="T68" fmla="*/ 2 w 7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52" h="51">
                <a:moveTo>
                  <a:pt x="752" y="24"/>
                </a:moveTo>
                <a:lnTo>
                  <a:pt x="752" y="21"/>
                </a:lnTo>
                <a:lnTo>
                  <a:pt x="752" y="18"/>
                </a:lnTo>
                <a:lnTo>
                  <a:pt x="752" y="14"/>
                </a:lnTo>
                <a:lnTo>
                  <a:pt x="752" y="11"/>
                </a:lnTo>
                <a:lnTo>
                  <a:pt x="752" y="9"/>
                </a:lnTo>
                <a:lnTo>
                  <a:pt x="752" y="6"/>
                </a:lnTo>
                <a:lnTo>
                  <a:pt x="752" y="3"/>
                </a:lnTo>
                <a:lnTo>
                  <a:pt x="752" y="0"/>
                </a:lnTo>
                <a:lnTo>
                  <a:pt x="749" y="0"/>
                </a:lnTo>
                <a:lnTo>
                  <a:pt x="749" y="3"/>
                </a:lnTo>
                <a:lnTo>
                  <a:pt x="749" y="6"/>
                </a:lnTo>
                <a:lnTo>
                  <a:pt x="749" y="9"/>
                </a:lnTo>
                <a:lnTo>
                  <a:pt x="749" y="11"/>
                </a:lnTo>
                <a:lnTo>
                  <a:pt x="749" y="14"/>
                </a:lnTo>
                <a:lnTo>
                  <a:pt x="749" y="18"/>
                </a:lnTo>
                <a:lnTo>
                  <a:pt x="749" y="21"/>
                </a:lnTo>
                <a:lnTo>
                  <a:pt x="749" y="24"/>
                </a:lnTo>
                <a:lnTo>
                  <a:pt x="749" y="28"/>
                </a:lnTo>
                <a:lnTo>
                  <a:pt x="749" y="31"/>
                </a:lnTo>
                <a:lnTo>
                  <a:pt x="749" y="34"/>
                </a:lnTo>
                <a:lnTo>
                  <a:pt x="749" y="38"/>
                </a:lnTo>
                <a:lnTo>
                  <a:pt x="749" y="41"/>
                </a:lnTo>
                <a:lnTo>
                  <a:pt x="749" y="44"/>
                </a:lnTo>
                <a:lnTo>
                  <a:pt x="749" y="48"/>
                </a:lnTo>
                <a:lnTo>
                  <a:pt x="749" y="51"/>
                </a:lnTo>
                <a:lnTo>
                  <a:pt x="752" y="51"/>
                </a:lnTo>
                <a:lnTo>
                  <a:pt x="752" y="48"/>
                </a:lnTo>
                <a:lnTo>
                  <a:pt x="752" y="44"/>
                </a:lnTo>
                <a:lnTo>
                  <a:pt x="752" y="41"/>
                </a:lnTo>
                <a:lnTo>
                  <a:pt x="752" y="38"/>
                </a:lnTo>
                <a:lnTo>
                  <a:pt x="752" y="34"/>
                </a:lnTo>
                <a:lnTo>
                  <a:pt x="752" y="31"/>
                </a:lnTo>
                <a:lnTo>
                  <a:pt x="752" y="28"/>
                </a:lnTo>
                <a:lnTo>
                  <a:pt x="75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25" name="Freeform 1630">
            <a:extLst>
              <a:ext uri="{FF2B5EF4-FFF2-40B4-BE49-F238E27FC236}">
                <a16:creationId xmlns:a16="http://schemas.microsoft.com/office/drawing/2014/main" id="{0F73EEF5-1372-1AB4-DBAB-CB216C75AE3D}"/>
              </a:ext>
            </a:extLst>
          </p:cNvPr>
          <p:cNvSpPr>
            <a:spLocks noEditPoints="1"/>
          </p:cNvSpPr>
          <p:nvPr/>
        </p:nvSpPr>
        <p:spPr bwMode="auto">
          <a:xfrm>
            <a:off x="1963738" y="2719388"/>
            <a:ext cx="1187450" cy="80963"/>
          </a:xfrm>
          <a:custGeom>
            <a:avLst/>
            <a:gdLst>
              <a:gd name="T0" fmla="*/ 748 w 748"/>
              <a:gd name="T1" fmla="*/ 21 h 51"/>
              <a:gd name="T2" fmla="*/ 748 w 748"/>
              <a:gd name="T3" fmla="*/ 14 h 51"/>
              <a:gd name="T4" fmla="*/ 748 w 748"/>
              <a:gd name="T5" fmla="*/ 9 h 51"/>
              <a:gd name="T6" fmla="*/ 748 w 748"/>
              <a:gd name="T7" fmla="*/ 3 h 51"/>
              <a:gd name="T8" fmla="*/ 745 w 748"/>
              <a:gd name="T9" fmla="*/ 0 h 51"/>
              <a:gd name="T10" fmla="*/ 745 w 748"/>
              <a:gd name="T11" fmla="*/ 6 h 51"/>
              <a:gd name="T12" fmla="*/ 745 w 748"/>
              <a:gd name="T13" fmla="*/ 11 h 51"/>
              <a:gd name="T14" fmla="*/ 745 w 748"/>
              <a:gd name="T15" fmla="*/ 18 h 51"/>
              <a:gd name="T16" fmla="*/ 745 w 748"/>
              <a:gd name="T17" fmla="*/ 24 h 51"/>
              <a:gd name="T18" fmla="*/ 745 w 748"/>
              <a:gd name="T19" fmla="*/ 31 h 51"/>
              <a:gd name="T20" fmla="*/ 745 w 748"/>
              <a:gd name="T21" fmla="*/ 38 h 51"/>
              <a:gd name="T22" fmla="*/ 745 w 748"/>
              <a:gd name="T23" fmla="*/ 44 h 51"/>
              <a:gd name="T24" fmla="*/ 745 w 748"/>
              <a:gd name="T25" fmla="*/ 51 h 51"/>
              <a:gd name="T26" fmla="*/ 748 w 748"/>
              <a:gd name="T27" fmla="*/ 48 h 51"/>
              <a:gd name="T28" fmla="*/ 748 w 748"/>
              <a:gd name="T29" fmla="*/ 41 h 51"/>
              <a:gd name="T30" fmla="*/ 748 w 748"/>
              <a:gd name="T31" fmla="*/ 34 h 51"/>
              <a:gd name="T32" fmla="*/ 748 w 748"/>
              <a:gd name="T33" fmla="*/ 28 h 51"/>
              <a:gd name="T34" fmla="*/ 2 w 748"/>
              <a:gd name="T35" fmla="*/ 0 h 51"/>
              <a:gd name="T36" fmla="*/ 0 w 748"/>
              <a:gd name="T37" fmla="*/ 6 h 51"/>
              <a:gd name="T38" fmla="*/ 0 w 748"/>
              <a:gd name="T39" fmla="*/ 11 h 51"/>
              <a:gd name="T40" fmla="*/ 0 w 748"/>
              <a:gd name="T41" fmla="*/ 18 h 51"/>
              <a:gd name="T42" fmla="*/ 0 w 748"/>
              <a:gd name="T43" fmla="*/ 24 h 51"/>
              <a:gd name="T44" fmla="*/ 0 w 748"/>
              <a:gd name="T45" fmla="*/ 31 h 51"/>
              <a:gd name="T46" fmla="*/ 0 w 748"/>
              <a:gd name="T47" fmla="*/ 38 h 51"/>
              <a:gd name="T48" fmla="*/ 0 w 748"/>
              <a:gd name="T49" fmla="*/ 44 h 51"/>
              <a:gd name="T50" fmla="*/ 2 w 748"/>
              <a:gd name="T51" fmla="*/ 51 h 51"/>
              <a:gd name="T52" fmla="*/ 3 w 748"/>
              <a:gd name="T53" fmla="*/ 48 h 51"/>
              <a:gd name="T54" fmla="*/ 3 w 748"/>
              <a:gd name="T55" fmla="*/ 41 h 51"/>
              <a:gd name="T56" fmla="*/ 3 w 748"/>
              <a:gd name="T57" fmla="*/ 34 h 51"/>
              <a:gd name="T58" fmla="*/ 3 w 748"/>
              <a:gd name="T59" fmla="*/ 28 h 51"/>
              <a:gd name="T60" fmla="*/ 3 w 748"/>
              <a:gd name="T61" fmla="*/ 21 h 51"/>
              <a:gd name="T62" fmla="*/ 3 w 748"/>
              <a:gd name="T63" fmla="*/ 14 h 51"/>
              <a:gd name="T64" fmla="*/ 3 w 748"/>
              <a:gd name="T65" fmla="*/ 9 h 51"/>
              <a:gd name="T66" fmla="*/ 3 w 748"/>
              <a:gd name="T67" fmla="*/ 3 h 51"/>
              <a:gd name="T68" fmla="*/ 2 w 74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48" h="51">
                <a:moveTo>
                  <a:pt x="748" y="24"/>
                </a:moveTo>
                <a:lnTo>
                  <a:pt x="748" y="21"/>
                </a:lnTo>
                <a:lnTo>
                  <a:pt x="748" y="18"/>
                </a:lnTo>
                <a:lnTo>
                  <a:pt x="748" y="14"/>
                </a:lnTo>
                <a:lnTo>
                  <a:pt x="748" y="11"/>
                </a:lnTo>
                <a:lnTo>
                  <a:pt x="748" y="9"/>
                </a:lnTo>
                <a:lnTo>
                  <a:pt x="748" y="6"/>
                </a:lnTo>
                <a:lnTo>
                  <a:pt x="748" y="3"/>
                </a:lnTo>
                <a:lnTo>
                  <a:pt x="748" y="0"/>
                </a:lnTo>
                <a:lnTo>
                  <a:pt x="745" y="0"/>
                </a:lnTo>
                <a:lnTo>
                  <a:pt x="745" y="3"/>
                </a:lnTo>
                <a:lnTo>
                  <a:pt x="745" y="6"/>
                </a:lnTo>
                <a:lnTo>
                  <a:pt x="745" y="9"/>
                </a:lnTo>
                <a:lnTo>
                  <a:pt x="745" y="11"/>
                </a:lnTo>
                <a:lnTo>
                  <a:pt x="745" y="14"/>
                </a:lnTo>
                <a:lnTo>
                  <a:pt x="745" y="18"/>
                </a:lnTo>
                <a:lnTo>
                  <a:pt x="745" y="21"/>
                </a:lnTo>
                <a:lnTo>
                  <a:pt x="745" y="24"/>
                </a:lnTo>
                <a:lnTo>
                  <a:pt x="745" y="28"/>
                </a:lnTo>
                <a:lnTo>
                  <a:pt x="745" y="31"/>
                </a:lnTo>
                <a:lnTo>
                  <a:pt x="745" y="34"/>
                </a:lnTo>
                <a:lnTo>
                  <a:pt x="745" y="38"/>
                </a:lnTo>
                <a:lnTo>
                  <a:pt x="745" y="41"/>
                </a:lnTo>
                <a:lnTo>
                  <a:pt x="745" y="44"/>
                </a:lnTo>
                <a:lnTo>
                  <a:pt x="745" y="48"/>
                </a:lnTo>
                <a:lnTo>
                  <a:pt x="745" y="51"/>
                </a:lnTo>
                <a:lnTo>
                  <a:pt x="748" y="51"/>
                </a:lnTo>
                <a:lnTo>
                  <a:pt x="748" y="48"/>
                </a:lnTo>
                <a:lnTo>
                  <a:pt x="748" y="44"/>
                </a:lnTo>
                <a:lnTo>
                  <a:pt x="748" y="41"/>
                </a:lnTo>
                <a:lnTo>
                  <a:pt x="748" y="38"/>
                </a:lnTo>
                <a:lnTo>
                  <a:pt x="748" y="34"/>
                </a:lnTo>
                <a:lnTo>
                  <a:pt x="748" y="31"/>
                </a:lnTo>
                <a:lnTo>
                  <a:pt x="748" y="28"/>
                </a:lnTo>
                <a:lnTo>
                  <a:pt x="748"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26" name="Freeform 1631">
            <a:extLst>
              <a:ext uri="{FF2B5EF4-FFF2-40B4-BE49-F238E27FC236}">
                <a16:creationId xmlns:a16="http://schemas.microsoft.com/office/drawing/2014/main" id="{9EC4143B-A7F2-5E07-B8E3-EE42F676AAA3}"/>
              </a:ext>
            </a:extLst>
          </p:cNvPr>
          <p:cNvSpPr>
            <a:spLocks noEditPoints="1"/>
          </p:cNvSpPr>
          <p:nvPr/>
        </p:nvSpPr>
        <p:spPr bwMode="auto">
          <a:xfrm>
            <a:off x="1966913" y="2719388"/>
            <a:ext cx="1182688" cy="80963"/>
          </a:xfrm>
          <a:custGeom>
            <a:avLst/>
            <a:gdLst>
              <a:gd name="T0" fmla="*/ 745 w 745"/>
              <a:gd name="T1" fmla="*/ 21 h 51"/>
              <a:gd name="T2" fmla="*/ 745 w 745"/>
              <a:gd name="T3" fmla="*/ 14 h 51"/>
              <a:gd name="T4" fmla="*/ 745 w 745"/>
              <a:gd name="T5" fmla="*/ 9 h 51"/>
              <a:gd name="T6" fmla="*/ 745 w 745"/>
              <a:gd name="T7" fmla="*/ 3 h 51"/>
              <a:gd name="T8" fmla="*/ 741 w 745"/>
              <a:gd name="T9" fmla="*/ 0 h 51"/>
              <a:gd name="T10" fmla="*/ 741 w 745"/>
              <a:gd name="T11" fmla="*/ 6 h 51"/>
              <a:gd name="T12" fmla="*/ 741 w 745"/>
              <a:gd name="T13" fmla="*/ 11 h 51"/>
              <a:gd name="T14" fmla="*/ 741 w 745"/>
              <a:gd name="T15" fmla="*/ 18 h 51"/>
              <a:gd name="T16" fmla="*/ 741 w 745"/>
              <a:gd name="T17" fmla="*/ 24 h 51"/>
              <a:gd name="T18" fmla="*/ 741 w 745"/>
              <a:gd name="T19" fmla="*/ 31 h 51"/>
              <a:gd name="T20" fmla="*/ 741 w 745"/>
              <a:gd name="T21" fmla="*/ 38 h 51"/>
              <a:gd name="T22" fmla="*/ 741 w 745"/>
              <a:gd name="T23" fmla="*/ 44 h 51"/>
              <a:gd name="T24" fmla="*/ 741 w 745"/>
              <a:gd name="T25" fmla="*/ 51 h 51"/>
              <a:gd name="T26" fmla="*/ 745 w 745"/>
              <a:gd name="T27" fmla="*/ 48 h 51"/>
              <a:gd name="T28" fmla="*/ 745 w 745"/>
              <a:gd name="T29" fmla="*/ 41 h 51"/>
              <a:gd name="T30" fmla="*/ 745 w 745"/>
              <a:gd name="T31" fmla="*/ 34 h 51"/>
              <a:gd name="T32" fmla="*/ 745 w 745"/>
              <a:gd name="T33" fmla="*/ 28 h 51"/>
              <a:gd name="T34" fmla="*/ 1 w 745"/>
              <a:gd name="T35" fmla="*/ 0 h 51"/>
              <a:gd name="T36" fmla="*/ 0 w 745"/>
              <a:gd name="T37" fmla="*/ 6 h 51"/>
              <a:gd name="T38" fmla="*/ 0 w 745"/>
              <a:gd name="T39" fmla="*/ 11 h 51"/>
              <a:gd name="T40" fmla="*/ 0 w 745"/>
              <a:gd name="T41" fmla="*/ 18 h 51"/>
              <a:gd name="T42" fmla="*/ 0 w 745"/>
              <a:gd name="T43" fmla="*/ 24 h 51"/>
              <a:gd name="T44" fmla="*/ 0 w 745"/>
              <a:gd name="T45" fmla="*/ 31 h 51"/>
              <a:gd name="T46" fmla="*/ 0 w 745"/>
              <a:gd name="T47" fmla="*/ 38 h 51"/>
              <a:gd name="T48" fmla="*/ 0 w 745"/>
              <a:gd name="T49" fmla="*/ 44 h 51"/>
              <a:gd name="T50" fmla="*/ 1 w 745"/>
              <a:gd name="T51" fmla="*/ 51 h 51"/>
              <a:gd name="T52" fmla="*/ 3 w 745"/>
              <a:gd name="T53" fmla="*/ 48 h 51"/>
              <a:gd name="T54" fmla="*/ 3 w 745"/>
              <a:gd name="T55" fmla="*/ 41 h 51"/>
              <a:gd name="T56" fmla="*/ 3 w 745"/>
              <a:gd name="T57" fmla="*/ 34 h 51"/>
              <a:gd name="T58" fmla="*/ 3 w 745"/>
              <a:gd name="T59" fmla="*/ 28 h 51"/>
              <a:gd name="T60" fmla="*/ 3 w 745"/>
              <a:gd name="T61" fmla="*/ 21 h 51"/>
              <a:gd name="T62" fmla="*/ 3 w 745"/>
              <a:gd name="T63" fmla="*/ 14 h 51"/>
              <a:gd name="T64" fmla="*/ 3 w 745"/>
              <a:gd name="T65" fmla="*/ 9 h 51"/>
              <a:gd name="T66" fmla="*/ 3 w 745"/>
              <a:gd name="T67" fmla="*/ 3 h 51"/>
              <a:gd name="T68" fmla="*/ 1 w 74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45" h="51">
                <a:moveTo>
                  <a:pt x="745" y="24"/>
                </a:moveTo>
                <a:lnTo>
                  <a:pt x="745" y="21"/>
                </a:lnTo>
                <a:lnTo>
                  <a:pt x="745" y="18"/>
                </a:lnTo>
                <a:lnTo>
                  <a:pt x="745" y="14"/>
                </a:lnTo>
                <a:lnTo>
                  <a:pt x="745" y="11"/>
                </a:lnTo>
                <a:lnTo>
                  <a:pt x="745" y="9"/>
                </a:lnTo>
                <a:lnTo>
                  <a:pt x="745" y="6"/>
                </a:lnTo>
                <a:lnTo>
                  <a:pt x="745" y="3"/>
                </a:lnTo>
                <a:lnTo>
                  <a:pt x="745" y="0"/>
                </a:lnTo>
                <a:lnTo>
                  <a:pt x="741" y="0"/>
                </a:lnTo>
                <a:lnTo>
                  <a:pt x="741" y="3"/>
                </a:lnTo>
                <a:lnTo>
                  <a:pt x="741" y="6"/>
                </a:lnTo>
                <a:lnTo>
                  <a:pt x="741" y="9"/>
                </a:lnTo>
                <a:lnTo>
                  <a:pt x="741" y="11"/>
                </a:lnTo>
                <a:lnTo>
                  <a:pt x="741" y="14"/>
                </a:lnTo>
                <a:lnTo>
                  <a:pt x="741" y="18"/>
                </a:lnTo>
                <a:lnTo>
                  <a:pt x="741" y="21"/>
                </a:lnTo>
                <a:lnTo>
                  <a:pt x="741" y="24"/>
                </a:lnTo>
                <a:lnTo>
                  <a:pt x="741" y="28"/>
                </a:lnTo>
                <a:lnTo>
                  <a:pt x="741" y="31"/>
                </a:lnTo>
                <a:lnTo>
                  <a:pt x="741" y="34"/>
                </a:lnTo>
                <a:lnTo>
                  <a:pt x="741" y="38"/>
                </a:lnTo>
                <a:lnTo>
                  <a:pt x="741" y="41"/>
                </a:lnTo>
                <a:lnTo>
                  <a:pt x="741" y="44"/>
                </a:lnTo>
                <a:lnTo>
                  <a:pt x="741" y="48"/>
                </a:lnTo>
                <a:lnTo>
                  <a:pt x="741" y="51"/>
                </a:lnTo>
                <a:lnTo>
                  <a:pt x="745" y="51"/>
                </a:lnTo>
                <a:lnTo>
                  <a:pt x="745" y="48"/>
                </a:lnTo>
                <a:lnTo>
                  <a:pt x="745" y="44"/>
                </a:lnTo>
                <a:lnTo>
                  <a:pt x="745" y="41"/>
                </a:lnTo>
                <a:lnTo>
                  <a:pt x="745" y="38"/>
                </a:lnTo>
                <a:lnTo>
                  <a:pt x="745" y="34"/>
                </a:lnTo>
                <a:lnTo>
                  <a:pt x="745" y="31"/>
                </a:lnTo>
                <a:lnTo>
                  <a:pt x="745" y="28"/>
                </a:lnTo>
                <a:lnTo>
                  <a:pt x="74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27" name="Freeform 1632">
            <a:extLst>
              <a:ext uri="{FF2B5EF4-FFF2-40B4-BE49-F238E27FC236}">
                <a16:creationId xmlns:a16="http://schemas.microsoft.com/office/drawing/2014/main" id="{D1058501-D251-4DB9-2B5E-338297466434}"/>
              </a:ext>
            </a:extLst>
          </p:cNvPr>
          <p:cNvSpPr>
            <a:spLocks noEditPoints="1"/>
          </p:cNvSpPr>
          <p:nvPr/>
        </p:nvSpPr>
        <p:spPr bwMode="auto">
          <a:xfrm>
            <a:off x="1968500" y="2719388"/>
            <a:ext cx="1177925" cy="80963"/>
          </a:xfrm>
          <a:custGeom>
            <a:avLst/>
            <a:gdLst>
              <a:gd name="T0" fmla="*/ 742 w 742"/>
              <a:gd name="T1" fmla="*/ 21 h 51"/>
              <a:gd name="T2" fmla="*/ 742 w 742"/>
              <a:gd name="T3" fmla="*/ 14 h 51"/>
              <a:gd name="T4" fmla="*/ 742 w 742"/>
              <a:gd name="T5" fmla="*/ 9 h 51"/>
              <a:gd name="T6" fmla="*/ 742 w 742"/>
              <a:gd name="T7" fmla="*/ 3 h 51"/>
              <a:gd name="T8" fmla="*/ 739 w 742"/>
              <a:gd name="T9" fmla="*/ 0 h 51"/>
              <a:gd name="T10" fmla="*/ 739 w 742"/>
              <a:gd name="T11" fmla="*/ 6 h 51"/>
              <a:gd name="T12" fmla="*/ 739 w 742"/>
              <a:gd name="T13" fmla="*/ 11 h 51"/>
              <a:gd name="T14" fmla="*/ 739 w 742"/>
              <a:gd name="T15" fmla="*/ 18 h 51"/>
              <a:gd name="T16" fmla="*/ 739 w 742"/>
              <a:gd name="T17" fmla="*/ 24 h 51"/>
              <a:gd name="T18" fmla="*/ 739 w 742"/>
              <a:gd name="T19" fmla="*/ 31 h 51"/>
              <a:gd name="T20" fmla="*/ 739 w 742"/>
              <a:gd name="T21" fmla="*/ 38 h 51"/>
              <a:gd name="T22" fmla="*/ 739 w 742"/>
              <a:gd name="T23" fmla="*/ 44 h 51"/>
              <a:gd name="T24" fmla="*/ 739 w 742"/>
              <a:gd name="T25" fmla="*/ 51 h 51"/>
              <a:gd name="T26" fmla="*/ 742 w 742"/>
              <a:gd name="T27" fmla="*/ 48 h 51"/>
              <a:gd name="T28" fmla="*/ 742 w 742"/>
              <a:gd name="T29" fmla="*/ 41 h 51"/>
              <a:gd name="T30" fmla="*/ 742 w 742"/>
              <a:gd name="T31" fmla="*/ 34 h 51"/>
              <a:gd name="T32" fmla="*/ 742 w 742"/>
              <a:gd name="T33" fmla="*/ 28 h 51"/>
              <a:gd name="T34" fmla="*/ 2 w 742"/>
              <a:gd name="T35" fmla="*/ 0 h 51"/>
              <a:gd name="T36" fmla="*/ 0 w 742"/>
              <a:gd name="T37" fmla="*/ 6 h 51"/>
              <a:gd name="T38" fmla="*/ 0 w 742"/>
              <a:gd name="T39" fmla="*/ 11 h 51"/>
              <a:gd name="T40" fmla="*/ 0 w 742"/>
              <a:gd name="T41" fmla="*/ 18 h 51"/>
              <a:gd name="T42" fmla="*/ 0 w 742"/>
              <a:gd name="T43" fmla="*/ 24 h 51"/>
              <a:gd name="T44" fmla="*/ 0 w 742"/>
              <a:gd name="T45" fmla="*/ 31 h 51"/>
              <a:gd name="T46" fmla="*/ 0 w 742"/>
              <a:gd name="T47" fmla="*/ 38 h 51"/>
              <a:gd name="T48" fmla="*/ 0 w 742"/>
              <a:gd name="T49" fmla="*/ 44 h 51"/>
              <a:gd name="T50" fmla="*/ 2 w 742"/>
              <a:gd name="T51" fmla="*/ 51 h 51"/>
              <a:gd name="T52" fmla="*/ 4 w 742"/>
              <a:gd name="T53" fmla="*/ 48 h 51"/>
              <a:gd name="T54" fmla="*/ 4 w 742"/>
              <a:gd name="T55" fmla="*/ 41 h 51"/>
              <a:gd name="T56" fmla="*/ 4 w 742"/>
              <a:gd name="T57" fmla="*/ 34 h 51"/>
              <a:gd name="T58" fmla="*/ 4 w 742"/>
              <a:gd name="T59" fmla="*/ 28 h 51"/>
              <a:gd name="T60" fmla="*/ 4 w 742"/>
              <a:gd name="T61" fmla="*/ 21 h 51"/>
              <a:gd name="T62" fmla="*/ 4 w 742"/>
              <a:gd name="T63" fmla="*/ 14 h 51"/>
              <a:gd name="T64" fmla="*/ 4 w 742"/>
              <a:gd name="T65" fmla="*/ 9 h 51"/>
              <a:gd name="T66" fmla="*/ 4 w 742"/>
              <a:gd name="T67" fmla="*/ 3 h 51"/>
              <a:gd name="T68" fmla="*/ 2 w 7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42" h="51">
                <a:moveTo>
                  <a:pt x="742" y="24"/>
                </a:moveTo>
                <a:lnTo>
                  <a:pt x="742" y="21"/>
                </a:lnTo>
                <a:lnTo>
                  <a:pt x="742" y="18"/>
                </a:lnTo>
                <a:lnTo>
                  <a:pt x="742" y="14"/>
                </a:lnTo>
                <a:lnTo>
                  <a:pt x="742" y="11"/>
                </a:lnTo>
                <a:lnTo>
                  <a:pt x="742" y="9"/>
                </a:lnTo>
                <a:lnTo>
                  <a:pt x="742" y="6"/>
                </a:lnTo>
                <a:lnTo>
                  <a:pt x="742" y="3"/>
                </a:lnTo>
                <a:lnTo>
                  <a:pt x="742" y="0"/>
                </a:lnTo>
                <a:lnTo>
                  <a:pt x="739" y="0"/>
                </a:lnTo>
                <a:lnTo>
                  <a:pt x="739" y="3"/>
                </a:lnTo>
                <a:lnTo>
                  <a:pt x="739" y="6"/>
                </a:lnTo>
                <a:lnTo>
                  <a:pt x="739" y="9"/>
                </a:lnTo>
                <a:lnTo>
                  <a:pt x="739" y="11"/>
                </a:lnTo>
                <a:lnTo>
                  <a:pt x="739" y="14"/>
                </a:lnTo>
                <a:lnTo>
                  <a:pt x="739" y="18"/>
                </a:lnTo>
                <a:lnTo>
                  <a:pt x="739" y="21"/>
                </a:lnTo>
                <a:lnTo>
                  <a:pt x="739" y="24"/>
                </a:lnTo>
                <a:lnTo>
                  <a:pt x="739" y="28"/>
                </a:lnTo>
                <a:lnTo>
                  <a:pt x="739" y="31"/>
                </a:lnTo>
                <a:lnTo>
                  <a:pt x="739" y="34"/>
                </a:lnTo>
                <a:lnTo>
                  <a:pt x="739" y="38"/>
                </a:lnTo>
                <a:lnTo>
                  <a:pt x="739" y="41"/>
                </a:lnTo>
                <a:lnTo>
                  <a:pt x="739" y="44"/>
                </a:lnTo>
                <a:lnTo>
                  <a:pt x="739" y="48"/>
                </a:lnTo>
                <a:lnTo>
                  <a:pt x="739" y="51"/>
                </a:lnTo>
                <a:lnTo>
                  <a:pt x="742" y="51"/>
                </a:lnTo>
                <a:lnTo>
                  <a:pt x="742" y="48"/>
                </a:lnTo>
                <a:lnTo>
                  <a:pt x="742" y="44"/>
                </a:lnTo>
                <a:lnTo>
                  <a:pt x="742" y="41"/>
                </a:lnTo>
                <a:lnTo>
                  <a:pt x="742" y="38"/>
                </a:lnTo>
                <a:lnTo>
                  <a:pt x="742" y="34"/>
                </a:lnTo>
                <a:lnTo>
                  <a:pt x="742" y="31"/>
                </a:lnTo>
                <a:lnTo>
                  <a:pt x="742" y="28"/>
                </a:lnTo>
                <a:lnTo>
                  <a:pt x="74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28" name="Freeform 1633">
            <a:extLst>
              <a:ext uri="{FF2B5EF4-FFF2-40B4-BE49-F238E27FC236}">
                <a16:creationId xmlns:a16="http://schemas.microsoft.com/office/drawing/2014/main" id="{4F861AF3-521F-509B-831B-D68A6531208A}"/>
              </a:ext>
            </a:extLst>
          </p:cNvPr>
          <p:cNvSpPr>
            <a:spLocks noEditPoints="1"/>
          </p:cNvSpPr>
          <p:nvPr/>
        </p:nvSpPr>
        <p:spPr bwMode="auto">
          <a:xfrm>
            <a:off x="1971675" y="2719388"/>
            <a:ext cx="1171575" cy="80963"/>
          </a:xfrm>
          <a:custGeom>
            <a:avLst/>
            <a:gdLst>
              <a:gd name="T0" fmla="*/ 738 w 738"/>
              <a:gd name="T1" fmla="*/ 21 h 51"/>
              <a:gd name="T2" fmla="*/ 738 w 738"/>
              <a:gd name="T3" fmla="*/ 14 h 51"/>
              <a:gd name="T4" fmla="*/ 738 w 738"/>
              <a:gd name="T5" fmla="*/ 9 h 51"/>
              <a:gd name="T6" fmla="*/ 738 w 738"/>
              <a:gd name="T7" fmla="*/ 3 h 51"/>
              <a:gd name="T8" fmla="*/ 735 w 738"/>
              <a:gd name="T9" fmla="*/ 0 h 51"/>
              <a:gd name="T10" fmla="*/ 735 w 738"/>
              <a:gd name="T11" fmla="*/ 6 h 51"/>
              <a:gd name="T12" fmla="*/ 735 w 738"/>
              <a:gd name="T13" fmla="*/ 11 h 51"/>
              <a:gd name="T14" fmla="*/ 735 w 738"/>
              <a:gd name="T15" fmla="*/ 18 h 51"/>
              <a:gd name="T16" fmla="*/ 735 w 738"/>
              <a:gd name="T17" fmla="*/ 24 h 51"/>
              <a:gd name="T18" fmla="*/ 735 w 738"/>
              <a:gd name="T19" fmla="*/ 31 h 51"/>
              <a:gd name="T20" fmla="*/ 735 w 738"/>
              <a:gd name="T21" fmla="*/ 38 h 51"/>
              <a:gd name="T22" fmla="*/ 735 w 738"/>
              <a:gd name="T23" fmla="*/ 44 h 51"/>
              <a:gd name="T24" fmla="*/ 735 w 738"/>
              <a:gd name="T25" fmla="*/ 51 h 51"/>
              <a:gd name="T26" fmla="*/ 738 w 738"/>
              <a:gd name="T27" fmla="*/ 48 h 51"/>
              <a:gd name="T28" fmla="*/ 738 w 738"/>
              <a:gd name="T29" fmla="*/ 41 h 51"/>
              <a:gd name="T30" fmla="*/ 738 w 738"/>
              <a:gd name="T31" fmla="*/ 34 h 51"/>
              <a:gd name="T32" fmla="*/ 738 w 738"/>
              <a:gd name="T33" fmla="*/ 28 h 51"/>
              <a:gd name="T34" fmla="*/ 2 w 738"/>
              <a:gd name="T35" fmla="*/ 0 h 51"/>
              <a:gd name="T36" fmla="*/ 0 w 738"/>
              <a:gd name="T37" fmla="*/ 6 h 51"/>
              <a:gd name="T38" fmla="*/ 0 w 738"/>
              <a:gd name="T39" fmla="*/ 11 h 51"/>
              <a:gd name="T40" fmla="*/ 0 w 738"/>
              <a:gd name="T41" fmla="*/ 18 h 51"/>
              <a:gd name="T42" fmla="*/ 0 w 738"/>
              <a:gd name="T43" fmla="*/ 24 h 51"/>
              <a:gd name="T44" fmla="*/ 0 w 738"/>
              <a:gd name="T45" fmla="*/ 31 h 51"/>
              <a:gd name="T46" fmla="*/ 0 w 738"/>
              <a:gd name="T47" fmla="*/ 38 h 51"/>
              <a:gd name="T48" fmla="*/ 0 w 738"/>
              <a:gd name="T49" fmla="*/ 44 h 51"/>
              <a:gd name="T50" fmla="*/ 2 w 738"/>
              <a:gd name="T51" fmla="*/ 51 h 51"/>
              <a:gd name="T52" fmla="*/ 3 w 738"/>
              <a:gd name="T53" fmla="*/ 48 h 51"/>
              <a:gd name="T54" fmla="*/ 3 w 738"/>
              <a:gd name="T55" fmla="*/ 41 h 51"/>
              <a:gd name="T56" fmla="*/ 3 w 738"/>
              <a:gd name="T57" fmla="*/ 34 h 51"/>
              <a:gd name="T58" fmla="*/ 3 w 738"/>
              <a:gd name="T59" fmla="*/ 28 h 51"/>
              <a:gd name="T60" fmla="*/ 3 w 738"/>
              <a:gd name="T61" fmla="*/ 21 h 51"/>
              <a:gd name="T62" fmla="*/ 3 w 738"/>
              <a:gd name="T63" fmla="*/ 14 h 51"/>
              <a:gd name="T64" fmla="*/ 3 w 738"/>
              <a:gd name="T65" fmla="*/ 9 h 51"/>
              <a:gd name="T66" fmla="*/ 3 w 738"/>
              <a:gd name="T67" fmla="*/ 3 h 51"/>
              <a:gd name="T68" fmla="*/ 2 w 73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38" h="51">
                <a:moveTo>
                  <a:pt x="738" y="24"/>
                </a:moveTo>
                <a:lnTo>
                  <a:pt x="738" y="21"/>
                </a:lnTo>
                <a:lnTo>
                  <a:pt x="738" y="18"/>
                </a:lnTo>
                <a:lnTo>
                  <a:pt x="738" y="14"/>
                </a:lnTo>
                <a:lnTo>
                  <a:pt x="738" y="11"/>
                </a:lnTo>
                <a:lnTo>
                  <a:pt x="738" y="9"/>
                </a:lnTo>
                <a:lnTo>
                  <a:pt x="738" y="6"/>
                </a:lnTo>
                <a:lnTo>
                  <a:pt x="738" y="3"/>
                </a:lnTo>
                <a:lnTo>
                  <a:pt x="738" y="0"/>
                </a:lnTo>
                <a:lnTo>
                  <a:pt x="735" y="0"/>
                </a:lnTo>
                <a:lnTo>
                  <a:pt x="735" y="3"/>
                </a:lnTo>
                <a:lnTo>
                  <a:pt x="735" y="6"/>
                </a:lnTo>
                <a:lnTo>
                  <a:pt x="735" y="9"/>
                </a:lnTo>
                <a:lnTo>
                  <a:pt x="735" y="11"/>
                </a:lnTo>
                <a:lnTo>
                  <a:pt x="735" y="14"/>
                </a:lnTo>
                <a:lnTo>
                  <a:pt x="735" y="18"/>
                </a:lnTo>
                <a:lnTo>
                  <a:pt x="735" y="21"/>
                </a:lnTo>
                <a:lnTo>
                  <a:pt x="735" y="24"/>
                </a:lnTo>
                <a:lnTo>
                  <a:pt x="735" y="28"/>
                </a:lnTo>
                <a:lnTo>
                  <a:pt x="735" y="31"/>
                </a:lnTo>
                <a:lnTo>
                  <a:pt x="735" y="34"/>
                </a:lnTo>
                <a:lnTo>
                  <a:pt x="735" y="38"/>
                </a:lnTo>
                <a:lnTo>
                  <a:pt x="735" y="41"/>
                </a:lnTo>
                <a:lnTo>
                  <a:pt x="735" y="44"/>
                </a:lnTo>
                <a:lnTo>
                  <a:pt x="735" y="48"/>
                </a:lnTo>
                <a:lnTo>
                  <a:pt x="735" y="51"/>
                </a:lnTo>
                <a:lnTo>
                  <a:pt x="738" y="51"/>
                </a:lnTo>
                <a:lnTo>
                  <a:pt x="738" y="48"/>
                </a:lnTo>
                <a:lnTo>
                  <a:pt x="738" y="44"/>
                </a:lnTo>
                <a:lnTo>
                  <a:pt x="738" y="41"/>
                </a:lnTo>
                <a:lnTo>
                  <a:pt x="738" y="38"/>
                </a:lnTo>
                <a:lnTo>
                  <a:pt x="738" y="34"/>
                </a:lnTo>
                <a:lnTo>
                  <a:pt x="738" y="31"/>
                </a:lnTo>
                <a:lnTo>
                  <a:pt x="738" y="28"/>
                </a:lnTo>
                <a:lnTo>
                  <a:pt x="738"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29" name="Freeform 1634">
            <a:extLst>
              <a:ext uri="{FF2B5EF4-FFF2-40B4-BE49-F238E27FC236}">
                <a16:creationId xmlns:a16="http://schemas.microsoft.com/office/drawing/2014/main" id="{627453A0-F202-953C-8CC5-0BDCBF5DB56D}"/>
              </a:ext>
            </a:extLst>
          </p:cNvPr>
          <p:cNvSpPr>
            <a:spLocks noEditPoints="1"/>
          </p:cNvSpPr>
          <p:nvPr/>
        </p:nvSpPr>
        <p:spPr bwMode="auto">
          <a:xfrm>
            <a:off x="1974850" y="2719388"/>
            <a:ext cx="1166813" cy="80963"/>
          </a:xfrm>
          <a:custGeom>
            <a:avLst/>
            <a:gdLst>
              <a:gd name="T0" fmla="*/ 735 w 735"/>
              <a:gd name="T1" fmla="*/ 21 h 51"/>
              <a:gd name="T2" fmla="*/ 735 w 735"/>
              <a:gd name="T3" fmla="*/ 14 h 51"/>
              <a:gd name="T4" fmla="*/ 735 w 735"/>
              <a:gd name="T5" fmla="*/ 9 h 51"/>
              <a:gd name="T6" fmla="*/ 735 w 735"/>
              <a:gd name="T7" fmla="*/ 3 h 51"/>
              <a:gd name="T8" fmla="*/ 732 w 735"/>
              <a:gd name="T9" fmla="*/ 0 h 51"/>
              <a:gd name="T10" fmla="*/ 732 w 735"/>
              <a:gd name="T11" fmla="*/ 6 h 51"/>
              <a:gd name="T12" fmla="*/ 732 w 735"/>
              <a:gd name="T13" fmla="*/ 11 h 51"/>
              <a:gd name="T14" fmla="*/ 732 w 735"/>
              <a:gd name="T15" fmla="*/ 18 h 51"/>
              <a:gd name="T16" fmla="*/ 732 w 735"/>
              <a:gd name="T17" fmla="*/ 24 h 51"/>
              <a:gd name="T18" fmla="*/ 732 w 735"/>
              <a:gd name="T19" fmla="*/ 31 h 51"/>
              <a:gd name="T20" fmla="*/ 732 w 735"/>
              <a:gd name="T21" fmla="*/ 38 h 51"/>
              <a:gd name="T22" fmla="*/ 732 w 735"/>
              <a:gd name="T23" fmla="*/ 44 h 51"/>
              <a:gd name="T24" fmla="*/ 732 w 735"/>
              <a:gd name="T25" fmla="*/ 51 h 51"/>
              <a:gd name="T26" fmla="*/ 735 w 735"/>
              <a:gd name="T27" fmla="*/ 48 h 51"/>
              <a:gd name="T28" fmla="*/ 735 w 735"/>
              <a:gd name="T29" fmla="*/ 41 h 51"/>
              <a:gd name="T30" fmla="*/ 735 w 735"/>
              <a:gd name="T31" fmla="*/ 34 h 51"/>
              <a:gd name="T32" fmla="*/ 735 w 735"/>
              <a:gd name="T33" fmla="*/ 28 h 51"/>
              <a:gd name="T34" fmla="*/ 1 w 735"/>
              <a:gd name="T35" fmla="*/ 0 h 51"/>
              <a:gd name="T36" fmla="*/ 0 w 735"/>
              <a:gd name="T37" fmla="*/ 6 h 51"/>
              <a:gd name="T38" fmla="*/ 0 w 735"/>
              <a:gd name="T39" fmla="*/ 11 h 51"/>
              <a:gd name="T40" fmla="*/ 0 w 735"/>
              <a:gd name="T41" fmla="*/ 18 h 51"/>
              <a:gd name="T42" fmla="*/ 0 w 735"/>
              <a:gd name="T43" fmla="*/ 24 h 51"/>
              <a:gd name="T44" fmla="*/ 0 w 735"/>
              <a:gd name="T45" fmla="*/ 31 h 51"/>
              <a:gd name="T46" fmla="*/ 0 w 735"/>
              <a:gd name="T47" fmla="*/ 38 h 51"/>
              <a:gd name="T48" fmla="*/ 0 w 735"/>
              <a:gd name="T49" fmla="*/ 44 h 51"/>
              <a:gd name="T50" fmla="*/ 1 w 735"/>
              <a:gd name="T51" fmla="*/ 51 h 51"/>
              <a:gd name="T52" fmla="*/ 3 w 735"/>
              <a:gd name="T53" fmla="*/ 48 h 51"/>
              <a:gd name="T54" fmla="*/ 3 w 735"/>
              <a:gd name="T55" fmla="*/ 41 h 51"/>
              <a:gd name="T56" fmla="*/ 3 w 735"/>
              <a:gd name="T57" fmla="*/ 34 h 51"/>
              <a:gd name="T58" fmla="*/ 3 w 735"/>
              <a:gd name="T59" fmla="*/ 28 h 51"/>
              <a:gd name="T60" fmla="*/ 3 w 735"/>
              <a:gd name="T61" fmla="*/ 21 h 51"/>
              <a:gd name="T62" fmla="*/ 3 w 735"/>
              <a:gd name="T63" fmla="*/ 14 h 51"/>
              <a:gd name="T64" fmla="*/ 3 w 735"/>
              <a:gd name="T65" fmla="*/ 9 h 51"/>
              <a:gd name="T66" fmla="*/ 3 w 735"/>
              <a:gd name="T67" fmla="*/ 3 h 51"/>
              <a:gd name="T68" fmla="*/ 1 w 73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35" h="51">
                <a:moveTo>
                  <a:pt x="735" y="24"/>
                </a:moveTo>
                <a:lnTo>
                  <a:pt x="735" y="21"/>
                </a:lnTo>
                <a:lnTo>
                  <a:pt x="735" y="18"/>
                </a:lnTo>
                <a:lnTo>
                  <a:pt x="735" y="14"/>
                </a:lnTo>
                <a:lnTo>
                  <a:pt x="735" y="11"/>
                </a:lnTo>
                <a:lnTo>
                  <a:pt x="735" y="9"/>
                </a:lnTo>
                <a:lnTo>
                  <a:pt x="735" y="6"/>
                </a:lnTo>
                <a:lnTo>
                  <a:pt x="735" y="3"/>
                </a:lnTo>
                <a:lnTo>
                  <a:pt x="735" y="0"/>
                </a:lnTo>
                <a:lnTo>
                  <a:pt x="732" y="0"/>
                </a:lnTo>
                <a:lnTo>
                  <a:pt x="732" y="3"/>
                </a:lnTo>
                <a:lnTo>
                  <a:pt x="732" y="6"/>
                </a:lnTo>
                <a:lnTo>
                  <a:pt x="732" y="9"/>
                </a:lnTo>
                <a:lnTo>
                  <a:pt x="732" y="11"/>
                </a:lnTo>
                <a:lnTo>
                  <a:pt x="732" y="14"/>
                </a:lnTo>
                <a:lnTo>
                  <a:pt x="732" y="18"/>
                </a:lnTo>
                <a:lnTo>
                  <a:pt x="732" y="21"/>
                </a:lnTo>
                <a:lnTo>
                  <a:pt x="732" y="24"/>
                </a:lnTo>
                <a:lnTo>
                  <a:pt x="732" y="28"/>
                </a:lnTo>
                <a:lnTo>
                  <a:pt x="732" y="31"/>
                </a:lnTo>
                <a:lnTo>
                  <a:pt x="732" y="34"/>
                </a:lnTo>
                <a:lnTo>
                  <a:pt x="732" y="38"/>
                </a:lnTo>
                <a:lnTo>
                  <a:pt x="732" y="41"/>
                </a:lnTo>
                <a:lnTo>
                  <a:pt x="732" y="44"/>
                </a:lnTo>
                <a:lnTo>
                  <a:pt x="732" y="48"/>
                </a:lnTo>
                <a:lnTo>
                  <a:pt x="732" y="51"/>
                </a:lnTo>
                <a:lnTo>
                  <a:pt x="735" y="51"/>
                </a:lnTo>
                <a:lnTo>
                  <a:pt x="735" y="48"/>
                </a:lnTo>
                <a:lnTo>
                  <a:pt x="735" y="44"/>
                </a:lnTo>
                <a:lnTo>
                  <a:pt x="735" y="41"/>
                </a:lnTo>
                <a:lnTo>
                  <a:pt x="735" y="38"/>
                </a:lnTo>
                <a:lnTo>
                  <a:pt x="735" y="34"/>
                </a:lnTo>
                <a:lnTo>
                  <a:pt x="735" y="31"/>
                </a:lnTo>
                <a:lnTo>
                  <a:pt x="735" y="28"/>
                </a:lnTo>
                <a:lnTo>
                  <a:pt x="73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30" name="Freeform 1635">
            <a:extLst>
              <a:ext uri="{FF2B5EF4-FFF2-40B4-BE49-F238E27FC236}">
                <a16:creationId xmlns:a16="http://schemas.microsoft.com/office/drawing/2014/main" id="{E0000ED9-D048-5CE2-9A93-B39E4E7A8AF3}"/>
              </a:ext>
            </a:extLst>
          </p:cNvPr>
          <p:cNvSpPr>
            <a:spLocks noEditPoints="1"/>
          </p:cNvSpPr>
          <p:nvPr/>
        </p:nvSpPr>
        <p:spPr bwMode="auto">
          <a:xfrm>
            <a:off x="1976438" y="2719388"/>
            <a:ext cx="1162050" cy="80963"/>
          </a:xfrm>
          <a:custGeom>
            <a:avLst/>
            <a:gdLst>
              <a:gd name="T0" fmla="*/ 732 w 732"/>
              <a:gd name="T1" fmla="*/ 21 h 51"/>
              <a:gd name="T2" fmla="*/ 732 w 732"/>
              <a:gd name="T3" fmla="*/ 14 h 51"/>
              <a:gd name="T4" fmla="*/ 732 w 732"/>
              <a:gd name="T5" fmla="*/ 9 h 51"/>
              <a:gd name="T6" fmla="*/ 732 w 732"/>
              <a:gd name="T7" fmla="*/ 3 h 51"/>
              <a:gd name="T8" fmla="*/ 729 w 732"/>
              <a:gd name="T9" fmla="*/ 0 h 51"/>
              <a:gd name="T10" fmla="*/ 729 w 732"/>
              <a:gd name="T11" fmla="*/ 6 h 51"/>
              <a:gd name="T12" fmla="*/ 729 w 732"/>
              <a:gd name="T13" fmla="*/ 11 h 51"/>
              <a:gd name="T14" fmla="*/ 729 w 732"/>
              <a:gd name="T15" fmla="*/ 18 h 51"/>
              <a:gd name="T16" fmla="*/ 729 w 732"/>
              <a:gd name="T17" fmla="*/ 24 h 51"/>
              <a:gd name="T18" fmla="*/ 729 w 732"/>
              <a:gd name="T19" fmla="*/ 31 h 51"/>
              <a:gd name="T20" fmla="*/ 729 w 732"/>
              <a:gd name="T21" fmla="*/ 38 h 51"/>
              <a:gd name="T22" fmla="*/ 729 w 732"/>
              <a:gd name="T23" fmla="*/ 44 h 51"/>
              <a:gd name="T24" fmla="*/ 729 w 732"/>
              <a:gd name="T25" fmla="*/ 51 h 51"/>
              <a:gd name="T26" fmla="*/ 732 w 732"/>
              <a:gd name="T27" fmla="*/ 48 h 51"/>
              <a:gd name="T28" fmla="*/ 732 w 732"/>
              <a:gd name="T29" fmla="*/ 41 h 51"/>
              <a:gd name="T30" fmla="*/ 732 w 732"/>
              <a:gd name="T31" fmla="*/ 34 h 51"/>
              <a:gd name="T32" fmla="*/ 732 w 732"/>
              <a:gd name="T33" fmla="*/ 28 h 51"/>
              <a:gd name="T34" fmla="*/ 2 w 732"/>
              <a:gd name="T35" fmla="*/ 0 h 51"/>
              <a:gd name="T36" fmla="*/ 0 w 732"/>
              <a:gd name="T37" fmla="*/ 6 h 51"/>
              <a:gd name="T38" fmla="*/ 0 w 732"/>
              <a:gd name="T39" fmla="*/ 11 h 51"/>
              <a:gd name="T40" fmla="*/ 0 w 732"/>
              <a:gd name="T41" fmla="*/ 18 h 51"/>
              <a:gd name="T42" fmla="*/ 0 w 732"/>
              <a:gd name="T43" fmla="*/ 24 h 51"/>
              <a:gd name="T44" fmla="*/ 0 w 732"/>
              <a:gd name="T45" fmla="*/ 31 h 51"/>
              <a:gd name="T46" fmla="*/ 0 w 732"/>
              <a:gd name="T47" fmla="*/ 38 h 51"/>
              <a:gd name="T48" fmla="*/ 0 w 732"/>
              <a:gd name="T49" fmla="*/ 44 h 51"/>
              <a:gd name="T50" fmla="*/ 2 w 732"/>
              <a:gd name="T51" fmla="*/ 51 h 51"/>
              <a:gd name="T52" fmla="*/ 4 w 732"/>
              <a:gd name="T53" fmla="*/ 48 h 51"/>
              <a:gd name="T54" fmla="*/ 4 w 732"/>
              <a:gd name="T55" fmla="*/ 41 h 51"/>
              <a:gd name="T56" fmla="*/ 4 w 732"/>
              <a:gd name="T57" fmla="*/ 34 h 51"/>
              <a:gd name="T58" fmla="*/ 4 w 732"/>
              <a:gd name="T59" fmla="*/ 28 h 51"/>
              <a:gd name="T60" fmla="*/ 4 w 732"/>
              <a:gd name="T61" fmla="*/ 21 h 51"/>
              <a:gd name="T62" fmla="*/ 4 w 732"/>
              <a:gd name="T63" fmla="*/ 14 h 51"/>
              <a:gd name="T64" fmla="*/ 4 w 732"/>
              <a:gd name="T65" fmla="*/ 9 h 51"/>
              <a:gd name="T66" fmla="*/ 4 w 732"/>
              <a:gd name="T67" fmla="*/ 3 h 51"/>
              <a:gd name="T68" fmla="*/ 2 w 7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32" h="51">
                <a:moveTo>
                  <a:pt x="732" y="24"/>
                </a:moveTo>
                <a:lnTo>
                  <a:pt x="732" y="21"/>
                </a:lnTo>
                <a:lnTo>
                  <a:pt x="732" y="18"/>
                </a:lnTo>
                <a:lnTo>
                  <a:pt x="732" y="14"/>
                </a:lnTo>
                <a:lnTo>
                  <a:pt x="732" y="11"/>
                </a:lnTo>
                <a:lnTo>
                  <a:pt x="732" y="9"/>
                </a:lnTo>
                <a:lnTo>
                  <a:pt x="732" y="6"/>
                </a:lnTo>
                <a:lnTo>
                  <a:pt x="732" y="3"/>
                </a:lnTo>
                <a:lnTo>
                  <a:pt x="732" y="0"/>
                </a:lnTo>
                <a:lnTo>
                  <a:pt x="729" y="0"/>
                </a:lnTo>
                <a:lnTo>
                  <a:pt x="729" y="3"/>
                </a:lnTo>
                <a:lnTo>
                  <a:pt x="729" y="6"/>
                </a:lnTo>
                <a:lnTo>
                  <a:pt x="729" y="9"/>
                </a:lnTo>
                <a:lnTo>
                  <a:pt x="729" y="11"/>
                </a:lnTo>
                <a:lnTo>
                  <a:pt x="729" y="14"/>
                </a:lnTo>
                <a:lnTo>
                  <a:pt x="729" y="18"/>
                </a:lnTo>
                <a:lnTo>
                  <a:pt x="729" y="21"/>
                </a:lnTo>
                <a:lnTo>
                  <a:pt x="729" y="24"/>
                </a:lnTo>
                <a:lnTo>
                  <a:pt x="729" y="28"/>
                </a:lnTo>
                <a:lnTo>
                  <a:pt x="729" y="31"/>
                </a:lnTo>
                <a:lnTo>
                  <a:pt x="729" y="34"/>
                </a:lnTo>
                <a:lnTo>
                  <a:pt x="729" y="38"/>
                </a:lnTo>
                <a:lnTo>
                  <a:pt x="729" y="41"/>
                </a:lnTo>
                <a:lnTo>
                  <a:pt x="729" y="44"/>
                </a:lnTo>
                <a:lnTo>
                  <a:pt x="729" y="48"/>
                </a:lnTo>
                <a:lnTo>
                  <a:pt x="729" y="51"/>
                </a:lnTo>
                <a:lnTo>
                  <a:pt x="732" y="51"/>
                </a:lnTo>
                <a:lnTo>
                  <a:pt x="732" y="48"/>
                </a:lnTo>
                <a:lnTo>
                  <a:pt x="732" y="44"/>
                </a:lnTo>
                <a:lnTo>
                  <a:pt x="732" y="41"/>
                </a:lnTo>
                <a:lnTo>
                  <a:pt x="732" y="38"/>
                </a:lnTo>
                <a:lnTo>
                  <a:pt x="732" y="34"/>
                </a:lnTo>
                <a:lnTo>
                  <a:pt x="732" y="31"/>
                </a:lnTo>
                <a:lnTo>
                  <a:pt x="732" y="28"/>
                </a:lnTo>
                <a:lnTo>
                  <a:pt x="73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31" name="Freeform 1636">
            <a:extLst>
              <a:ext uri="{FF2B5EF4-FFF2-40B4-BE49-F238E27FC236}">
                <a16:creationId xmlns:a16="http://schemas.microsoft.com/office/drawing/2014/main" id="{D5F576C1-7D5A-BF9C-F76F-609BEECD54B9}"/>
              </a:ext>
            </a:extLst>
          </p:cNvPr>
          <p:cNvSpPr>
            <a:spLocks noEditPoints="1"/>
          </p:cNvSpPr>
          <p:nvPr/>
        </p:nvSpPr>
        <p:spPr bwMode="auto">
          <a:xfrm>
            <a:off x="1979613" y="2719388"/>
            <a:ext cx="1157288" cy="80963"/>
          </a:xfrm>
          <a:custGeom>
            <a:avLst/>
            <a:gdLst>
              <a:gd name="T0" fmla="*/ 729 w 729"/>
              <a:gd name="T1" fmla="*/ 21 h 51"/>
              <a:gd name="T2" fmla="*/ 729 w 729"/>
              <a:gd name="T3" fmla="*/ 14 h 51"/>
              <a:gd name="T4" fmla="*/ 729 w 729"/>
              <a:gd name="T5" fmla="*/ 9 h 51"/>
              <a:gd name="T6" fmla="*/ 729 w 729"/>
              <a:gd name="T7" fmla="*/ 3 h 51"/>
              <a:gd name="T8" fmla="*/ 725 w 729"/>
              <a:gd name="T9" fmla="*/ 0 h 51"/>
              <a:gd name="T10" fmla="*/ 725 w 729"/>
              <a:gd name="T11" fmla="*/ 6 h 51"/>
              <a:gd name="T12" fmla="*/ 725 w 729"/>
              <a:gd name="T13" fmla="*/ 11 h 51"/>
              <a:gd name="T14" fmla="*/ 725 w 729"/>
              <a:gd name="T15" fmla="*/ 18 h 51"/>
              <a:gd name="T16" fmla="*/ 725 w 729"/>
              <a:gd name="T17" fmla="*/ 24 h 51"/>
              <a:gd name="T18" fmla="*/ 725 w 729"/>
              <a:gd name="T19" fmla="*/ 31 h 51"/>
              <a:gd name="T20" fmla="*/ 725 w 729"/>
              <a:gd name="T21" fmla="*/ 38 h 51"/>
              <a:gd name="T22" fmla="*/ 725 w 729"/>
              <a:gd name="T23" fmla="*/ 44 h 51"/>
              <a:gd name="T24" fmla="*/ 725 w 729"/>
              <a:gd name="T25" fmla="*/ 51 h 51"/>
              <a:gd name="T26" fmla="*/ 729 w 729"/>
              <a:gd name="T27" fmla="*/ 48 h 51"/>
              <a:gd name="T28" fmla="*/ 729 w 729"/>
              <a:gd name="T29" fmla="*/ 41 h 51"/>
              <a:gd name="T30" fmla="*/ 729 w 729"/>
              <a:gd name="T31" fmla="*/ 34 h 51"/>
              <a:gd name="T32" fmla="*/ 729 w 729"/>
              <a:gd name="T33" fmla="*/ 28 h 51"/>
              <a:gd name="T34" fmla="*/ 2 w 729"/>
              <a:gd name="T35" fmla="*/ 0 h 51"/>
              <a:gd name="T36" fmla="*/ 0 w 729"/>
              <a:gd name="T37" fmla="*/ 6 h 51"/>
              <a:gd name="T38" fmla="*/ 0 w 729"/>
              <a:gd name="T39" fmla="*/ 11 h 51"/>
              <a:gd name="T40" fmla="*/ 0 w 729"/>
              <a:gd name="T41" fmla="*/ 18 h 51"/>
              <a:gd name="T42" fmla="*/ 0 w 729"/>
              <a:gd name="T43" fmla="*/ 24 h 51"/>
              <a:gd name="T44" fmla="*/ 0 w 729"/>
              <a:gd name="T45" fmla="*/ 31 h 51"/>
              <a:gd name="T46" fmla="*/ 0 w 729"/>
              <a:gd name="T47" fmla="*/ 38 h 51"/>
              <a:gd name="T48" fmla="*/ 0 w 729"/>
              <a:gd name="T49" fmla="*/ 44 h 51"/>
              <a:gd name="T50" fmla="*/ 2 w 729"/>
              <a:gd name="T51" fmla="*/ 51 h 51"/>
              <a:gd name="T52" fmla="*/ 3 w 729"/>
              <a:gd name="T53" fmla="*/ 48 h 51"/>
              <a:gd name="T54" fmla="*/ 3 w 729"/>
              <a:gd name="T55" fmla="*/ 41 h 51"/>
              <a:gd name="T56" fmla="*/ 3 w 729"/>
              <a:gd name="T57" fmla="*/ 34 h 51"/>
              <a:gd name="T58" fmla="*/ 3 w 729"/>
              <a:gd name="T59" fmla="*/ 28 h 51"/>
              <a:gd name="T60" fmla="*/ 3 w 729"/>
              <a:gd name="T61" fmla="*/ 21 h 51"/>
              <a:gd name="T62" fmla="*/ 3 w 729"/>
              <a:gd name="T63" fmla="*/ 14 h 51"/>
              <a:gd name="T64" fmla="*/ 3 w 729"/>
              <a:gd name="T65" fmla="*/ 9 h 51"/>
              <a:gd name="T66" fmla="*/ 3 w 729"/>
              <a:gd name="T67" fmla="*/ 3 h 51"/>
              <a:gd name="T68" fmla="*/ 2 w 72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29" h="51">
                <a:moveTo>
                  <a:pt x="729" y="24"/>
                </a:moveTo>
                <a:lnTo>
                  <a:pt x="729" y="21"/>
                </a:lnTo>
                <a:lnTo>
                  <a:pt x="729" y="18"/>
                </a:lnTo>
                <a:lnTo>
                  <a:pt x="729" y="14"/>
                </a:lnTo>
                <a:lnTo>
                  <a:pt x="729" y="11"/>
                </a:lnTo>
                <a:lnTo>
                  <a:pt x="729" y="9"/>
                </a:lnTo>
                <a:lnTo>
                  <a:pt x="729" y="6"/>
                </a:lnTo>
                <a:lnTo>
                  <a:pt x="729" y="3"/>
                </a:lnTo>
                <a:lnTo>
                  <a:pt x="729" y="0"/>
                </a:lnTo>
                <a:lnTo>
                  <a:pt x="725" y="0"/>
                </a:lnTo>
                <a:lnTo>
                  <a:pt x="725" y="3"/>
                </a:lnTo>
                <a:lnTo>
                  <a:pt x="725" y="6"/>
                </a:lnTo>
                <a:lnTo>
                  <a:pt x="725" y="9"/>
                </a:lnTo>
                <a:lnTo>
                  <a:pt x="725" y="11"/>
                </a:lnTo>
                <a:lnTo>
                  <a:pt x="725" y="14"/>
                </a:lnTo>
                <a:lnTo>
                  <a:pt x="725" y="18"/>
                </a:lnTo>
                <a:lnTo>
                  <a:pt x="725" y="21"/>
                </a:lnTo>
                <a:lnTo>
                  <a:pt x="725" y="24"/>
                </a:lnTo>
                <a:lnTo>
                  <a:pt x="725" y="28"/>
                </a:lnTo>
                <a:lnTo>
                  <a:pt x="725" y="31"/>
                </a:lnTo>
                <a:lnTo>
                  <a:pt x="725" y="34"/>
                </a:lnTo>
                <a:lnTo>
                  <a:pt x="725" y="38"/>
                </a:lnTo>
                <a:lnTo>
                  <a:pt x="725" y="41"/>
                </a:lnTo>
                <a:lnTo>
                  <a:pt x="725" y="44"/>
                </a:lnTo>
                <a:lnTo>
                  <a:pt x="725" y="48"/>
                </a:lnTo>
                <a:lnTo>
                  <a:pt x="725" y="51"/>
                </a:lnTo>
                <a:lnTo>
                  <a:pt x="729" y="51"/>
                </a:lnTo>
                <a:lnTo>
                  <a:pt x="729" y="48"/>
                </a:lnTo>
                <a:lnTo>
                  <a:pt x="729" y="44"/>
                </a:lnTo>
                <a:lnTo>
                  <a:pt x="729" y="41"/>
                </a:lnTo>
                <a:lnTo>
                  <a:pt x="729" y="38"/>
                </a:lnTo>
                <a:lnTo>
                  <a:pt x="729" y="34"/>
                </a:lnTo>
                <a:lnTo>
                  <a:pt x="729" y="31"/>
                </a:lnTo>
                <a:lnTo>
                  <a:pt x="729" y="28"/>
                </a:lnTo>
                <a:lnTo>
                  <a:pt x="729"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32" name="Freeform 1637">
            <a:extLst>
              <a:ext uri="{FF2B5EF4-FFF2-40B4-BE49-F238E27FC236}">
                <a16:creationId xmlns:a16="http://schemas.microsoft.com/office/drawing/2014/main" id="{A4BEA3A4-786D-4E5D-DE01-D7BD75DBFC7F}"/>
              </a:ext>
            </a:extLst>
          </p:cNvPr>
          <p:cNvSpPr>
            <a:spLocks noEditPoints="1"/>
          </p:cNvSpPr>
          <p:nvPr/>
        </p:nvSpPr>
        <p:spPr bwMode="auto">
          <a:xfrm>
            <a:off x="1982788" y="2719388"/>
            <a:ext cx="1150938" cy="80963"/>
          </a:xfrm>
          <a:custGeom>
            <a:avLst/>
            <a:gdLst>
              <a:gd name="T0" fmla="*/ 725 w 725"/>
              <a:gd name="T1" fmla="*/ 21 h 51"/>
              <a:gd name="T2" fmla="*/ 725 w 725"/>
              <a:gd name="T3" fmla="*/ 14 h 51"/>
              <a:gd name="T4" fmla="*/ 725 w 725"/>
              <a:gd name="T5" fmla="*/ 9 h 51"/>
              <a:gd name="T6" fmla="*/ 725 w 725"/>
              <a:gd name="T7" fmla="*/ 3 h 51"/>
              <a:gd name="T8" fmla="*/ 722 w 725"/>
              <a:gd name="T9" fmla="*/ 0 h 51"/>
              <a:gd name="T10" fmla="*/ 722 w 725"/>
              <a:gd name="T11" fmla="*/ 6 h 51"/>
              <a:gd name="T12" fmla="*/ 722 w 725"/>
              <a:gd name="T13" fmla="*/ 11 h 51"/>
              <a:gd name="T14" fmla="*/ 722 w 725"/>
              <a:gd name="T15" fmla="*/ 18 h 51"/>
              <a:gd name="T16" fmla="*/ 722 w 725"/>
              <a:gd name="T17" fmla="*/ 24 h 51"/>
              <a:gd name="T18" fmla="*/ 722 w 725"/>
              <a:gd name="T19" fmla="*/ 31 h 51"/>
              <a:gd name="T20" fmla="*/ 722 w 725"/>
              <a:gd name="T21" fmla="*/ 38 h 51"/>
              <a:gd name="T22" fmla="*/ 722 w 725"/>
              <a:gd name="T23" fmla="*/ 44 h 51"/>
              <a:gd name="T24" fmla="*/ 722 w 725"/>
              <a:gd name="T25" fmla="*/ 51 h 51"/>
              <a:gd name="T26" fmla="*/ 725 w 725"/>
              <a:gd name="T27" fmla="*/ 48 h 51"/>
              <a:gd name="T28" fmla="*/ 725 w 725"/>
              <a:gd name="T29" fmla="*/ 41 h 51"/>
              <a:gd name="T30" fmla="*/ 725 w 725"/>
              <a:gd name="T31" fmla="*/ 34 h 51"/>
              <a:gd name="T32" fmla="*/ 725 w 725"/>
              <a:gd name="T33" fmla="*/ 28 h 51"/>
              <a:gd name="T34" fmla="*/ 1 w 725"/>
              <a:gd name="T35" fmla="*/ 0 h 51"/>
              <a:gd name="T36" fmla="*/ 0 w 725"/>
              <a:gd name="T37" fmla="*/ 6 h 51"/>
              <a:gd name="T38" fmla="*/ 0 w 725"/>
              <a:gd name="T39" fmla="*/ 11 h 51"/>
              <a:gd name="T40" fmla="*/ 0 w 725"/>
              <a:gd name="T41" fmla="*/ 18 h 51"/>
              <a:gd name="T42" fmla="*/ 0 w 725"/>
              <a:gd name="T43" fmla="*/ 24 h 51"/>
              <a:gd name="T44" fmla="*/ 0 w 725"/>
              <a:gd name="T45" fmla="*/ 31 h 51"/>
              <a:gd name="T46" fmla="*/ 0 w 725"/>
              <a:gd name="T47" fmla="*/ 38 h 51"/>
              <a:gd name="T48" fmla="*/ 0 w 725"/>
              <a:gd name="T49" fmla="*/ 44 h 51"/>
              <a:gd name="T50" fmla="*/ 1 w 725"/>
              <a:gd name="T51" fmla="*/ 51 h 51"/>
              <a:gd name="T52" fmla="*/ 3 w 725"/>
              <a:gd name="T53" fmla="*/ 48 h 51"/>
              <a:gd name="T54" fmla="*/ 3 w 725"/>
              <a:gd name="T55" fmla="*/ 41 h 51"/>
              <a:gd name="T56" fmla="*/ 3 w 725"/>
              <a:gd name="T57" fmla="*/ 34 h 51"/>
              <a:gd name="T58" fmla="*/ 3 w 725"/>
              <a:gd name="T59" fmla="*/ 28 h 51"/>
              <a:gd name="T60" fmla="*/ 3 w 725"/>
              <a:gd name="T61" fmla="*/ 21 h 51"/>
              <a:gd name="T62" fmla="*/ 3 w 725"/>
              <a:gd name="T63" fmla="*/ 14 h 51"/>
              <a:gd name="T64" fmla="*/ 3 w 725"/>
              <a:gd name="T65" fmla="*/ 9 h 51"/>
              <a:gd name="T66" fmla="*/ 3 w 725"/>
              <a:gd name="T67" fmla="*/ 3 h 51"/>
              <a:gd name="T68" fmla="*/ 1 w 72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25" h="51">
                <a:moveTo>
                  <a:pt x="725" y="24"/>
                </a:moveTo>
                <a:lnTo>
                  <a:pt x="725" y="21"/>
                </a:lnTo>
                <a:lnTo>
                  <a:pt x="725" y="18"/>
                </a:lnTo>
                <a:lnTo>
                  <a:pt x="725" y="14"/>
                </a:lnTo>
                <a:lnTo>
                  <a:pt x="725" y="11"/>
                </a:lnTo>
                <a:lnTo>
                  <a:pt x="725" y="9"/>
                </a:lnTo>
                <a:lnTo>
                  <a:pt x="725" y="6"/>
                </a:lnTo>
                <a:lnTo>
                  <a:pt x="725" y="3"/>
                </a:lnTo>
                <a:lnTo>
                  <a:pt x="725" y="0"/>
                </a:lnTo>
                <a:lnTo>
                  <a:pt x="722" y="0"/>
                </a:lnTo>
                <a:lnTo>
                  <a:pt x="722" y="3"/>
                </a:lnTo>
                <a:lnTo>
                  <a:pt x="722" y="6"/>
                </a:lnTo>
                <a:lnTo>
                  <a:pt x="722" y="9"/>
                </a:lnTo>
                <a:lnTo>
                  <a:pt x="722" y="11"/>
                </a:lnTo>
                <a:lnTo>
                  <a:pt x="722" y="14"/>
                </a:lnTo>
                <a:lnTo>
                  <a:pt x="722" y="18"/>
                </a:lnTo>
                <a:lnTo>
                  <a:pt x="722" y="21"/>
                </a:lnTo>
                <a:lnTo>
                  <a:pt x="722" y="24"/>
                </a:lnTo>
                <a:lnTo>
                  <a:pt x="722" y="28"/>
                </a:lnTo>
                <a:lnTo>
                  <a:pt x="722" y="31"/>
                </a:lnTo>
                <a:lnTo>
                  <a:pt x="722" y="34"/>
                </a:lnTo>
                <a:lnTo>
                  <a:pt x="722" y="38"/>
                </a:lnTo>
                <a:lnTo>
                  <a:pt x="722" y="41"/>
                </a:lnTo>
                <a:lnTo>
                  <a:pt x="722" y="44"/>
                </a:lnTo>
                <a:lnTo>
                  <a:pt x="722" y="48"/>
                </a:lnTo>
                <a:lnTo>
                  <a:pt x="722" y="51"/>
                </a:lnTo>
                <a:lnTo>
                  <a:pt x="725" y="51"/>
                </a:lnTo>
                <a:lnTo>
                  <a:pt x="725" y="48"/>
                </a:lnTo>
                <a:lnTo>
                  <a:pt x="725" y="44"/>
                </a:lnTo>
                <a:lnTo>
                  <a:pt x="725" y="41"/>
                </a:lnTo>
                <a:lnTo>
                  <a:pt x="725" y="38"/>
                </a:lnTo>
                <a:lnTo>
                  <a:pt x="725" y="34"/>
                </a:lnTo>
                <a:lnTo>
                  <a:pt x="725" y="31"/>
                </a:lnTo>
                <a:lnTo>
                  <a:pt x="725" y="28"/>
                </a:lnTo>
                <a:lnTo>
                  <a:pt x="725"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4"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4" y="0"/>
                </a:lnTo>
                <a:lnTo>
                  <a:pt x="1"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33" name="Freeform 1638">
            <a:extLst>
              <a:ext uri="{FF2B5EF4-FFF2-40B4-BE49-F238E27FC236}">
                <a16:creationId xmlns:a16="http://schemas.microsoft.com/office/drawing/2014/main" id="{92CFFD75-91BB-7265-5699-62A8F7144654}"/>
              </a:ext>
            </a:extLst>
          </p:cNvPr>
          <p:cNvSpPr>
            <a:spLocks noEditPoints="1"/>
          </p:cNvSpPr>
          <p:nvPr/>
        </p:nvSpPr>
        <p:spPr bwMode="auto">
          <a:xfrm>
            <a:off x="1984375" y="2719388"/>
            <a:ext cx="1146175" cy="80963"/>
          </a:xfrm>
          <a:custGeom>
            <a:avLst/>
            <a:gdLst>
              <a:gd name="T0" fmla="*/ 722 w 722"/>
              <a:gd name="T1" fmla="*/ 21 h 51"/>
              <a:gd name="T2" fmla="*/ 722 w 722"/>
              <a:gd name="T3" fmla="*/ 14 h 51"/>
              <a:gd name="T4" fmla="*/ 722 w 722"/>
              <a:gd name="T5" fmla="*/ 9 h 51"/>
              <a:gd name="T6" fmla="*/ 722 w 722"/>
              <a:gd name="T7" fmla="*/ 3 h 51"/>
              <a:gd name="T8" fmla="*/ 719 w 722"/>
              <a:gd name="T9" fmla="*/ 0 h 51"/>
              <a:gd name="T10" fmla="*/ 719 w 722"/>
              <a:gd name="T11" fmla="*/ 6 h 51"/>
              <a:gd name="T12" fmla="*/ 719 w 722"/>
              <a:gd name="T13" fmla="*/ 11 h 51"/>
              <a:gd name="T14" fmla="*/ 719 w 722"/>
              <a:gd name="T15" fmla="*/ 18 h 51"/>
              <a:gd name="T16" fmla="*/ 719 w 722"/>
              <a:gd name="T17" fmla="*/ 24 h 51"/>
              <a:gd name="T18" fmla="*/ 719 w 722"/>
              <a:gd name="T19" fmla="*/ 31 h 51"/>
              <a:gd name="T20" fmla="*/ 719 w 722"/>
              <a:gd name="T21" fmla="*/ 38 h 51"/>
              <a:gd name="T22" fmla="*/ 719 w 722"/>
              <a:gd name="T23" fmla="*/ 44 h 51"/>
              <a:gd name="T24" fmla="*/ 719 w 722"/>
              <a:gd name="T25" fmla="*/ 51 h 51"/>
              <a:gd name="T26" fmla="*/ 722 w 722"/>
              <a:gd name="T27" fmla="*/ 48 h 51"/>
              <a:gd name="T28" fmla="*/ 722 w 722"/>
              <a:gd name="T29" fmla="*/ 41 h 51"/>
              <a:gd name="T30" fmla="*/ 722 w 722"/>
              <a:gd name="T31" fmla="*/ 34 h 51"/>
              <a:gd name="T32" fmla="*/ 722 w 722"/>
              <a:gd name="T33" fmla="*/ 28 h 51"/>
              <a:gd name="T34" fmla="*/ 2 w 722"/>
              <a:gd name="T35" fmla="*/ 0 h 51"/>
              <a:gd name="T36" fmla="*/ 0 w 722"/>
              <a:gd name="T37" fmla="*/ 6 h 51"/>
              <a:gd name="T38" fmla="*/ 0 w 722"/>
              <a:gd name="T39" fmla="*/ 11 h 51"/>
              <a:gd name="T40" fmla="*/ 0 w 722"/>
              <a:gd name="T41" fmla="*/ 18 h 51"/>
              <a:gd name="T42" fmla="*/ 0 w 722"/>
              <a:gd name="T43" fmla="*/ 24 h 51"/>
              <a:gd name="T44" fmla="*/ 0 w 722"/>
              <a:gd name="T45" fmla="*/ 31 h 51"/>
              <a:gd name="T46" fmla="*/ 0 w 722"/>
              <a:gd name="T47" fmla="*/ 38 h 51"/>
              <a:gd name="T48" fmla="*/ 0 w 722"/>
              <a:gd name="T49" fmla="*/ 44 h 51"/>
              <a:gd name="T50" fmla="*/ 2 w 722"/>
              <a:gd name="T51" fmla="*/ 51 h 51"/>
              <a:gd name="T52" fmla="*/ 3 w 722"/>
              <a:gd name="T53" fmla="*/ 48 h 51"/>
              <a:gd name="T54" fmla="*/ 3 w 722"/>
              <a:gd name="T55" fmla="*/ 41 h 51"/>
              <a:gd name="T56" fmla="*/ 3 w 722"/>
              <a:gd name="T57" fmla="*/ 34 h 51"/>
              <a:gd name="T58" fmla="*/ 3 w 722"/>
              <a:gd name="T59" fmla="*/ 28 h 51"/>
              <a:gd name="T60" fmla="*/ 3 w 722"/>
              <a:gd name="T61" fmla="*/ 21 h 51"/>
              <a:gd name="T62" fmla="*/ 3 w 722"/>
              <a:gd name="T63" fmla="*/ 14 h 51"/>
              <a:gd name="T64" fmla="*/ 3 w 722"/>
              <a:gd name="T65" fmla="*/ 9 h 51"/>
              <a:gd name="T66" fmla="*/ 3 w 722"/>
              <a:gd name="T67" fmla="*/ 3 h 51"/>
              <a:gd name="T68" fmla="*/ 2 w 72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22" h="51">
                <a:moveTo>
                  <a:pt x="722" y="24"/>
                </a:moveTo>
                <a:lnTo>
                  <a:pt x="722" y="21"/>
                </a:lnTo>
                <a:lnTo>
                  <a:pt x="722" y="18"/>
                </a:lnTo>
                <a:lnTo>
                  <a:pt x="722" y="14"/>
                </a:lnTo>
                <a:lnTo>
                  <a:pt x="722" y="11"/>
                </a:lnTo>
                <a:lnTo>
                  <a:pt x="722" y="9"/>
                </a:lnTo>
                <a:lnTo>
                  <a:pt x="722" y="6"/>
                </a:lnTo>
                <a:lnTo>
                  <a:pt x="722" y="3"/>
                </a:lnTo>
                <a:lnTo>
                  <a:pt x="722" y="0"/>
                </a:lnTo>
                <a:lnTo>
                  <a:pt x="719" y="0"/>
                </a:lnTo>
                <a:lnTo>
                  <a:pt x="719" y="3"/>
                </a:lnTo>
                <a:lnTo>
                  <a:pt x="719" y="6"/>
                </a:lnTo>
                <a:lnTo>
                  <a:pt x="719" y="9"/>
                </a:lnTo>
                <a:lnTo>
                  <a:pt x="719" y="11"/>
                </a:lnTo>
                <a:lnTo>
                  <a:pt x="719" y="14"/>
                </a:lnTo>
                <a:lnTo>
                  <a:pt x="719" y="18"/>
                </a:lnTo>
                <a:lnTo>
                  <a:pt x="719" y="21"/>
                </a:lnTo>
                <a:lnTo>
                  <a:pt x="719" y="24"/>
                </a:lnTo>
                <a:lnTo>
                  <a:pt x="719" y="28"/>
                </a:lnTo>
                <a:lnTo>
                  <a:pt x="719" y="31"/>
                </a:lnTo>
                <a:lnTo>
                  <a:pt x="719" y="34"/>
                </a:lnTo>
                <a:lnTo>
                  <a:pt x="719" y="38"/>
                </a:lnTo>
                <a:lnTo>
                  <a:pt x="719" y="41"/>
                </a:lnTo>
                <a:lnTo>
                  <a:pt x="719" y="44"/>
                </a:lnTo>
                <a:lnTo>
                  <a:pt x="719" y="48"/>
                </a:lnTo>
                <a:lnTo>
                  <a:pt x="719" y="51"/>
                </a:lnTo>
                <a:lnTo>
                  <a:pt x="722" y="51"/>
                </a:lnTo>
                <a:lnTo>
                  <a:pt x="722" y="48"/>
                </a:lnTo>
                <a:lnTo>
                  <a:pt x="722" y="44"/>
                </a:lnTo>
                <a:lnTo>
                  <a:pt x="722" y="41"/>
                </a:lnTo>
                <a:lnTo>
                  <a:pt x="722" y="38"/>
                </a:lnTo>
                <a:lnTo>
                  <a:pt x="722" y="34"/>
                </a:lnTo>
                <a:lnTo>
                  <a:pt x="722" y="31"/>
                </a:lnTo>
                <a:lnTo>
                  <a:pt x="722" y="28"/>
                </a:lnTo>
                <a:lnTo>
                  <a:pt x="72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34" name="Freeform 1639">
            <a:extLst>
              <a:ext uri="{FF2B5EF4-FFF2-40B4-BE49-F238E27FC236}">
                <a16:creationId xmlns:a16="http://schemas.microsoft.com/office/drawing/2014/main" id="{E9579D1F-3007-BDF5-9D52-1F82C8B670E7}"/>
              </a:ext>
            </a:extLst>
          </p:cNvPr>
          <p:cNvSpPr>
            <a:spLocks noEditPoints="1"/>
          </p:cNvSpPr>
          <p:nvPr/>
        </p:nvSpPr>
        <p:spPr bwMode="auto">
          <a:xfrm>
            <a:off x="1987550" y="2719388"/>
            <a:ext cx="1141413" cy="80963"/>
          </a:xfrm>
          <a:custGeom>
            <a:avLst/>
            <a:gdLst>
              <a:gd name="T0" fmla="*/ 719 w 719"/>
              <a:gd name="T1" fmla="*/ 21 h 51"/>
              <a:gd name="T2" fmla="*/ 719 w 719"/>
              <a:gd name="T3" fmla="*/ 14 h 51"/>
              <a:gd name="T4" fmla="*/ 719 w 719"/>
              <a:gd name="T5" fmla="*/ 9 h 51"/>
              <a:gd name="T6" fmla="*/ 719 w 719"/>
              <a:gd name="T7" fmla="*/ 3 h 51"/>
              <a:gd name="T8" fmla="*/ 715 w 719"/>
              <a:gd name="T9" fmla="*/ 0 h 51"/>
              <a:gd name="T10" fmla="*/ 715 w 719"/>
              <a:gd name="T11" fmla="*/ 6 h 51"/>
              <a:gd name="T12" fmla="*/ 715 w 719"/>
              <a:gd name="T13" fmla="*/ 11 h 51"/>
              <a:gd name="T14" fmla="*/ 715 w 719"/>
              <a:gd name="T15" fmla="*/ 18 h 51"/>
              <a:gd name="T16" fmla="*/ 715 w 719"/>
              <a:gd name="T17" fmla="*/ 24 h 51"/>
              <a:gd name="T18" fmla="*/ 715 w 719"/>
              <a:gd name="T19" fmla="*/ 31 h 51"/>
              <a:gd name="T20" fmla="*/ 715 w 719"/>
              <a:gd name="T21" fmla="*/ 38 h 51"/>
              <a:gd name="T22" fmla="*/ 715 w 719"/>
              <a:gd name="T23" fmla="*/ 44 h 51"/>
              <a:gd name="T24" fmla="*/ 715 w 719"/>
              <a:gd name="T25" fmla="*/ 51 h 51"/>
              <a:gd name="T26" fmla="*/ 719 w 719"/>
              <a:gd name="T27" fmla="*/ 48 h 51"/>
              <a:gd name="T28" fmla="*/ 719 w 719"/>
              <a:gd name="T29" fmla="*/ 41 h 51"/>
              <a:gd name="T30" fmla="*/ 719 w 719"/>
              <a:gd name="T31" fmla="*/ 34 h 51"/>
              <a:gd name="T32" fmla="*/ 719 w 719"/>
              <a:gd name="T33" fmla="*/ 28 h 51"/>
              <a:gd name="T34" fmla="*/ 1 w 719"/>
              <a:gd name="T35" fmla="*/ 0 h 51"/>
              <a:gd name="T36" fmla="*/ 0 w 719"/>
              <a:gd name="T37" fmla="*/ 6 h 51"/>
              <a:gd name="T38" fmla="*/ 0 w 719"/>
              <a:gd name="T39" fmla="*/ 11 h 51"/>
              <a:gd name="T40" fmla="*/ 0 w 719"/>
              <a:gd name="T41" fmla="*/ 18 h 51"/>
              <a:gd name="T42" fmla="*/ 0 w 719"/>
              <a:gd name="T43" fmla="*/ 24 h 51"/>
              <a:gd name="T44" fmla="*/ 0 w 719"/>
              <a:gd name="T45" fmla="*/ 31 h 51"/>
              <a:gd name="T46" fmla="*/ 0 w 719"/>
              <a:gd name="T47" fmla="*/ 38 h 51"/>
              <a:gd name="T48" fmla="*/ 0 w 719"/>
              <a:gd name="T49" fmla="*/ 44 h 51"/>
              <a:gd name="T50" fmla="*/ 1 w 719"/>
              <a:gd name="T51" fmla="*/ 51 h 51"/>
              <a:gd name="T52" fmla="*/ 3 w 719"/>
              <a:gd name="T53" fmla="*/ 48 h 51"/>
              <a:gd name="T54" fmla="*/ 3 w 719"/>
              <a:gd name="T55" fmla="*/ 41 h 51"/>
              <a:gd name="T56" fmla="*/ 3 w 719"/>
              <a:gd name="T57" fmla="*/ 34 h 51"/>
              <a:gd name="T58" fmla="*/ 3 w 719"/>
              <a:gd name="T59" fmla="*/ 28 h 51"/>
              <a:gd name="T60" fmla="*/ 3 w 719"/>
              <a:gd name="T61" fmla="*/ 21 h 51"/>
              <a:gd name="T62" fmla="*/ 3 w 719"/>
              <a:gd name="T63" fmla="*/ 14 h 51"/>
              <a:gd name="T64" fmla="*/ 3 w 719"/>
              <a:gd name="T65" fmla="*/ 9 h 51"/>
              <a:gd name="T66" fmla="*/ 3 w 719"/>
              <a:gd name="T67" fmla="*/ 3 h 51"/>
              <a:gd name="T68" fmla="*/ 1 w 71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9" h="51">
                <a:moveTo>
                  <a:pt x="719" y="24"/>
                </a:moveTo>
                <a:lnTo>
                  <a:pt x="719" y="21"/>
                </a:lnTo>
                <a:lnTo>
                  <a:pt x="719" y="18"/>
                </a:lnTo>
                <a:lnTo>
                  <a:pt x="719" y="14"/>
                </a:lnTo>
                <a:lnTo>
                  <a:pt x="719" y="11"/>
                </a:lnTo>
                <a:lnTo>
                  <a:pt x="719" y="9"/>
                </a:lnTo>
                <a:lnTo>
                  <a:pt x="719" y="6"/>
                </a:lnTo>
                <a:lnTo>
                  <a:pt x="719" y="3"/>
                </a:lnTo>
                <a:lnTo>
                  <a:pt x="719" y="0"/>
                </a:lnTo>
                <a:lnTo>
                  <a:pt x="715" y="0"/>
                </a:lnTo>
                <a:lnTo>
                  <a:pt x="715" y="3"/>
                </a:lnTo>
                <a:lnTo>
                  <a:pt x="715" y="6"/>
                </a:lnTo>
                <a:lnTo>
                  <a:pt x="715" y="9"/>
                </a:lnTo>
                <a:lnTo>
                  <a:pt x="715" y="11"/>
                </a:lnTo>
                <a:lnTo>
                  <a:pt x="715" y="14"/>
                </a:lnTo>
                <a:lnTo>
                  <a:pt x="715" y="18"/>
                </a:lnTo>
                <a:lnTo>
                  <a:pt x="715" y="21"/>
                </a:lnTo>
                <a:lnTo>
                  <a:pt x="715" y="24"/>
                </a:lnTo>
                <a:lnTo>
                  <a:pt x="715" y="28"/>
                </a:lnTo>
                <a:lnTo>
                  <a:pt x="715" y="31"/>
                </a:lnTo>
                <a:lnTo>
                  <a:pt x="715" y="34"/>
                </a:lnTo>
                <a:lnTo>
                  <a:pt x="715" y="38"/>
                </a:lnTo>
                <a:lnTo>
                  <a:pt x="715" y="41"/>
                </a:lnTo>
                <a:lnTo>
                  <a:pt x="715" y="44"/>
                </a:lnTo>
                <a:lnTo>
                  <a:pt x="715" y="48"/>
                </a:lnTo>
                <a:lnTo>
                  <a:pt x="715" y="51"/>
                </a:lnTo>
                <a:lnTo>
                  <a:pt x="719" y="51"/>
                </a:lnTo>
                <a:lnTo>
                  <a:pt x="719" y="48"/>
                </a:lnTo>
                <a:lnTo>
                  <a:pt x="719" y="44"/>
                </a:lnTo>
                <a:lnTo>
                  <a:pt x="719" y="41"/>
                </a:lnTo>
                <a:lnTo>
                  <a:pt x="719" y="38"/>
                </a:lnTo>
                <a:lnTo>
                  <a:pt x="719" y="34"/>
                </a:lnTo>
                <a:lnTo>
                  <a:pt x="719" y="31"/>
                </a:lnTo>
                <a:lnTo>
                  <a:pt x="719" y="28"/>
                </a:lnTo>
                <a:lnTo>
                  <a:pt x="71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35" name="Freeform 1640">
            <a:extLst>
              <a:ext uri="{FF2B5EF4-FFF2-40B4-BE49-F238E27FC236}">
                <a16:creationId xmlns:a16="http://schemas.microsoft.com/office/drawing/2014/main" id="{BC636FA8-E588-C248-6C9A-AE1627363EC8}"/>
              </a:ext>
            </a:extLst>
          </p:cNvPr>
          <p:cNvSpPr>
            <a:spLocks noEditPoints="1"/>
          </p:cNvSpPr>
          <p:nvPr/>
        </p:nvSpPr>
        <p:spPr bwMode="auto">
          <a:xfrm>
            <a:off x="1989138" y="2719388"/>
            <a:ext cx="1136650" cy="80963"/>
          </a:xfrm>
          <a:custGeom>
            <a:avLst/>
            <a:gdLst>
              <a:gd name="T0" fmla="*/ 716 w 716"/>
              <a:gd name="T1" fmla="*/ 21 h 51"/>
              <a:gd name="T2" fmla="*/ 716 w 716"/>
              <a:gd name="T3" fmla="*/ 14 h 51"/>
              <a:gd name="T4" fmla="*/ 716 w 716"/>
              <a:gd name="T5" fmla="*/ 9 h 51"/>
              <a:gd name="T6" fmla="*/ 716 w 716"/>
              <a:gd name="T7" fmla="*/ 3 h 51"/>
              <a:gd name="T8" fmla="*/ 713 w 716"/>
              <a:gd name="T9" fmla="*/ 0 h 51"/>
              <a:gd name="T10" fmla="*/ 713 w 716"/>
              <a:gd name="T11" fmla="*/ 6 h 51"/>
              <a:gd name="T12" fmla="*/ 713 w 716"/>
              <a:gd name="T13" fmla="*/ 11 h 51"/>
              <a:gd name="T14" fmla="*/ 713 w 716"/>
              <a:gd name="T15" fmla="*/ 18 h 51"/>
              <a:gd name="T16" fmla="*/ 713 w 716"/>
              <a:gd name="T17" fmla="*/ 24 h 51"/>
              <a:gd name="T18" fmla="*/ 713 w 716"/>
              <a:gd name="T19" fmla="*/ 31 h 51"/>
              <a:gd name="T20" fmla="*/ 713 w 716"/>
              <a:gd name="T21" fmla="*/ 38 h 51"/>
              <a:gd name="T22" fmla="*/ 713 w 716"/>
              <a:gd name="T23" fmla="*/ 44 h 51"/>
              <a:gd name="T24" fmla="*/ 713 w 716"/>
              <a:gd name="T25" fmla="*/ 51 h 51"/>
              <a:gd name="T26" fmla="*/ 716 w 716"/>
              <a:gd name="T27" fmla="*/ 48 h 51"/>
              <a:gd name="T28" fmla="*/ 716 w 716"/>
              <a:gd name="T29" fmla="*/ 41 h 51"/>
              <a:gd name="T30" fmla="*/ 716 w 716"/>
              <a:gd name="T31" fmla="*/ 34 h 51"/>
              <a:gd name="T32" fmla="*/ 716 w 716"/>
              <a:gd name="T33" fmla="*/ 28 h 51"/>
              <a:gd name="T34" fmla="*/ 2 w 716"/>
              <a:gd name="T35" fmla="*/ 0 h 51"/>
              <a:gd name="T36" fmla="*/ 0 w 716"/>
              <a:gd name="T37" fmla="*/ 6 h 51"/>
              <a:gd name="T38" fmla="*/ 0 w 716"/>
              <a:gd name="T39" fmla="*/ 11 h 51"/>
              <a:gd name="T40" fmla="*/ 0 w 716"/>
              <a:gd name="T41" fmla="*/ 18 h 51"/>
              <a:gd name="T42" fmla="*/ 0 w 716"/>
              <a:gd name="T43" fmla="*/ 24 h 51"/>
              <a:gd name="T44" fmla="*/ 0 w 716"/>
              <a:gd name="T45" fmla="*/ 31 h 51"/>
              <a:gd name="T46" fmla="*/ 0 w 716"/>
              <a:gd name="T47" fmla="*/ 38 h 51"/>
              <a:gd name="T48" fmla="*/ 0 w 716"/>
              <a:gd name="T49" fmla="*/ 44 h 51"/>
              <a:gd name="T50" fmla="*/ 2 w 716"/>
              <a:gd name="T51" fmla="*/ 51 h 51"/>
              <a:gd name="T52" fmla="*/ 4 w 716"/>
              <a:gd name="T53" fmla="*/ 48 h 51"/>
              <a:gd name="T54" fmla="*/ 4 w 716"/>
              <a:gd name="T55" fmla="*/ 41 h 51"/>
              <a:gd name="T56" fmla="*/ 4 w 716"/>
              <a:gd name="T57" fmla="*/ 34 h 51"/>
              <a:gd name="T58" fmla="*/ 4 w 716"/>
              <a:gd name="T59" fmla="*/ 28 h 51"/>
              <a:gd name="T60" fmla="*/ 4 w 716"/>
              <a:gd name="T61" fmla="*/ 21 h 51"/>
              <a:gd name="T62" fmla="*/ 4 w 716"/>
              <a:gd name="T63" fmla="*/ 14 h 51"/>
              <a:gd name="T64" fmla="*/ 4 w 716"/>
              <a:gd name="T65" fmla="*/ 9 h 51"/>
              <a:gd name="T66" fmla="*/ 4 w 716"/>
              <a:gd name="T67" fmla="*/ 3 h 51"/>
              <a:gd name="T68" fmla="*/ 2 w 71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6" h="51">
                <a:moveTo>
                  <a:pt x="716" y="24"/>
                </a:moveTo>
                <a:lnTo>
                  <a:pt x="716" y="21"/>
                </a:lnTo>
                <a:lnTo>
                  <a:pt x="716" y="18"/>
                </a:lnTo>
                <a:lnTo>
                  <a:pt x="716" y="14"/>
                </a:lnTo>
                <a:lnTo>
                  <a:pt x="716" y="11"/>
                </a:lnTo>
                <a:lnTo>
                  <a:pt x="716" y="9"/>
                </a:lnTo>
                <a:lnTo>
                  <a:pt x="716" y="6"/>
                </a:lnTo>
                <a:lnTo>
                  <a:pt x="716" y="3"/>
                </a:lnTo>
                <a:lnTo>
                  <a:pt x="716" y="0"/>
                </a:lnTo>
                <a:lnTo>
                  <a:pt x="713" y="0"/>
                </a:lnTo>
                <a:lnTo>
                  <a:pt x="713" y="3"/>
                </a:lnTo>
                <a:lnTo>
                  <a:pt x="713" y="6"/>
                </a:lnTo>
                <a:lnTo>
                  <a:pt x="713" y="9"/>
                </a:lnTo>
                <a:lnTo>
                  <a:pt x="713" y="11"/>
                </a:lnTo>
                <a:lnTo>
                  <a:pt x="713" y="14"/>
                </a:lnTo>
                <a:lnTo>
                  <a:pt x="713" y="18"/>
                </a:lnTo>
                <a:lnTo>
                  <a:pt x="713" y="21"/>
                </a:lnTo>
                <a:lnTo>
                  <a:pt x="713" y="24"/>
                </a:lnTo>
                <a:lnTo>
                  <a:pt x="713" y="28"/>
                </a:lnTo>
                <a:lnTo>
                  <a:pt x="713" y="31"/>
                </a:lnTo>
                <a:lnTo>
                  <a:pt x="713" y="34"/>
                </a:lnTo>
                <a:lnTo>
                  <a:pt x="713" y="38"/>
                </a:lnTo>
                <a:lnTo>
                  <a:pt x="713" y="41"/>
                </a:lnTo>
                <a:lnTo>
                  <a:pt x="713" y="44"/>
                </a:lnTo>
                <a:lnTo>
                  <a:pt x="713" y="48"/>
                </a:lnTo>
                <a:lnTo>
                  <a:pt x="713" y="51"/>
                </a:lnTo>
                <a:lnTo>
                  <a:pt x="716" y="51"/>
                </a:lnTo>
                <a:lnTo>
                  <a:pt x="716" y="48"/>
                </a:lnTo>
                <a:lnTo>
                  <a:pt x="716" y="44"/>
                </a:lnTo>
                <a:lnTo>
                  <a:pt x="716" y="41"/>
                </a:lnTo>
                <a:lnTo>
                  <a:pt x="716" y="38"/>
                </a:lnTo>
                <a:lnTo>
                  <a:pt x="716" y="34"/>
                </a:lnTo>
                <a:lnTo>
                  <a:pt x="716" y="31"/>
                </a:lnTo>
                <a:lnTo>
                  <a:pt x="716" y="28"/>
                </a:lnTo>
                <a:lnTo>
                  <a:pt x="71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36" name="Freeform 1641">
            <a:extLst>
              <a:ext uri="{FF2B5EF4-FFF2-40B4-BE49-F238E27FC236}">
                <a16:creationId xmlns:a16="http://schemas.microsoft.com/office/drawing/2014/main" id="{E4F1EB3A-0D4F-D574-1EC7-03D9C4C67D6E}"/>
              </a:ext>
            </a:extLst>
          </p:cNvPr>
          <p:cNvSpPr>
            <a:spLocks noEditPoints="1"/>
          </p:cNvSpPr>
          <p:nvPr/>
        </p:nvSpPr>
        <p:spPr bwMode="auto">
          <a:xfrm>
            <a:off x="1992313" y="2719388"/>
            <a:ext cx="1130300" cy="80963"/>
          </a:xfrm>
          <a:custGeom>
            <a:avLst/>
            <a:gdLst>
              <a:gd name="T0" fmla="*/ 712 w 712"/>
              <a:gd name="T1" fmla="*/ 21 h 51"/>
              <a:gd name="T2" fmla="*/ 712 w 712"/>
              <a:gd name="T3" fmla="*/ 14 h 51"/>
              <a:gd name="T4" fmla="*/ 712 w 712"/>
              <a:gd name="T5" fmla="*/ 9 h 51"/>
              <a:gd name="T6" fmla="*/ 712 w 712"/>
              <a:gd name="T7" fmla="*/ 3 h 51"/>
              <a:gd name="T8" fmla="*/ 709 w 712"/>
              <a:gd name="T9" fmla="*/ 0 h 51"/>
              <a:gd name="T10" fmla="*/ 709 w 712"/>
              <a:gd name="T11" fmla="*/ 6 h 51"/>
              <a:gd name="T12" fmla="*/ 709 w 712"/>
              <a:gd name="T13" fmla="*/ 11 h 51"/>
              <a:gd name="T14" fmla="*/ 709 w 712"/>
              <a:gd name="T15" fmla="*/ 18 h 51"/>
              <a:gd name="T16" fmla="*/ 709 w 712"/>
              <a:gd name="T17" fmla="*/ 24 h 51"/>
              <a:gd name="T18" fmla="*/ 709 w 712"/>
              <a:gd name="T19" fmla="*/ 31 h 51"/>
              <a:gd name="T20" fmla="*/ 709 w 712"/>
              <a:gd name="T21" fmla="*/ 38 h 51"/>
              <a:gd name="T22" fmla="*/ 709 w 712"/>
              <a:gd name="T23" fmla="*/ 44 h 51"/>
              <a:gd name="T24" fmla="*/ 709 w 712"/>
              <a:gd name="T25" fmla="*/ 51 h 51"/>
              <a:gd name="T26" fmla="*/ 712 w 712"/>
              <a:gd name="T27" fmla="*/ 48 h 51"/>
              <a:gd name="T28" fmla="*/ 712 w 712"/>
              <a:gd name="T29" fmla="*/ 41 h 51"/>
              <a:gd name="T30" fmla="*/ 712 w 712"/>
              <a:gd name="T31" fmla="*/ 34 h 51"/>
              <a:gd name="T32" fmla="*/ 712 w 712"/>
              <a:gd name="T33" fmla="*/ 28 h 51"/>
              <a:gd name="T34" fmla="*/ 2 w 712"/>
              <a:gd name="T35" fmla="*/ 0 h 51"/>
              <a:gd name="T36" fmla="*/ 0 w 712"/>
              <a:gd name="T37" fmla="*/ 6 h 51"/>
              <a:gd name="T38" fmla="*/ 0 w 712"/>
              <a:gd name="T39" fmla="*/ 11 h 51"/>
              <a:gd name="T40" fmla="*/ 0 w 712"/>
              <a:gd name="T41" fmla="*/ 18 h 51"/>
              <a:gd name="T42" fmla="*/ 0 w 712"/>
              <a:gd name="T43" fmla="*/ 24 h 51"/>
              <a:gd name="T44" fmla="*/ 0 w 712"/>
              <a:gd name="T45" fmla="*/ 31 h 51"/>
              <a:gd name="T46" fmla="*/ 0 w 712"/>
              <a:gd name="T47" fmla="*/ 38 h 51"/>
              <a:gd name="T48" fmla="*/ 0 w 712"/>
              <a:gd name="T49" fmla="*/ 44 h 51"/>
              <a:gd name="T50" fmla="*/ 2 w 712"/>
              <a:gd name="T51" fmla="*/ 51 h 51"/>
              <a:gd name="T52" fmla="*/ 3 w 712"/>
              <a:gd name="T53" fmla="*/ 48 h 51"/>
              <a:gd name="T54" fmla="*/ 3 w 712"/>
              <a:gd name="T55" fmla="*/ 41 h 51"/>
              <a:gd name="T56" fmla="*/ 3 w 712"/>
              <a:gd name="T57" fmla="*/ 34 h 51"/>
              <a:gd name="T58" fmla="*/ 3 w 712"/>
              <a:gd name="T59" fmla="*/ 28 h 51"/>
              <a:gd name="T60" fmla="*/ 3 w 712"/>
              <a:gd name="T61" fmla="*/ 21 h 51"/>
              <a:gd name="T62" fmla="*/ 3 w 712"/>
              <a:gd name="T63" fmla="*/ 14 h 51"/>
              <a:gd name="T64" fmla="*/ 3 w 712"/>
              <a:gd name="T65" fmla="*/ 9 h 51"/>
              <a:gd name="T66" fmla="*/ 3 w 712"/>
              <a:gd name="T67" fmla="*/ 3 h 51"/>
              <a:gd name="T68" fmla="*/ 2 w 71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2" h="51">
                <a:moveTo>
                  <a:pt x="712" y="24"/>
                </a:moveTo>
                <a:lnTo>
                  <a:pt x="712" y="21"/>
                </a:lnTo>
                <a:lnTo>
                  <a:pt x="712" y="18"/>
                </a:lnTo>
                <a:lnTo>
                  <a:pt x="712" y="14"/>
                </a:lnTo>
                <a:lnTo>
                  <a:pt x="712" y="11"/>
                </a:lnTo>
                <a:lnTo>
                  <a:pt x="712" y="9"/>
                </a:lnTo>
                <a:lnTo>
                  <a:pt x="712" y="6"/>
                </a:lnTo>
                <a:lnTo>
                  <a:pt x="712" y="3"/>
                </a:lnTo>
                <a:lnTo>
                  <a:pt x="712" y="0"/>
                </a:lnTo>
                <a:lnTo>
                  <a:pt x="709" y="0"/>
                </a:lnTo>
                <a:lnTo>
                  <a:pt x="709" y="3"/>
                </a:lnTo>
                <a:lnTo>
                  <a:pt x="709" y="6"/>
                </a:lnTo>
                <a:lnTo>
                  <a:pt x="709" y="9"/>
                </a:lnTo>
                <a:lnTo>
                  <a:pt x="709" y="11"/>
                </a:lnTo>
                <a:lnTo>
                  <a:pt x="709" y="14"/>
                </a:lnTo>
                <a:lnTo>
                  <a:pt x="709" y="18"/>
                </a:lnTo>
                <a:lnTo>
                  <a:pt x="709" y="21"/>
                </a:lnTo>
                <a:lnTo>
                  <a:pt x="709" y="24"/>
                </a:lnTo>
                <a:lnTo>
                  <a:pt x="709" y="28"/>
                </a:lnTo>
                <a:lnTo>
                  <a:pt x="709" y="31"/>
                </a:lnTo>
                <a:lnTo>
                  <a:pt x="709" y="34"/>
                </a:lnTo>
                <a:lnTo>
                  <a:pt x="709" y="38"/>
                </a:lnTo>
                <a:lnTo>
                  <a:pt x="709" y="41"/>
                </a:lnTo>
                <a:lnTo>
                  <a:pt x="709" y="44"/>
                </a:lnTo>
                <a:lnTo>
                  <a:pt x="709" y="48"/>
                </a:lnTo>
                <a:lnTo>
                  <a:pt x="709" y="51"/>
                </a:lnTo>
                <a:lnTo>
                  <a:pt x="712" y="51"/>
                </a:lnTo>
                <a:lnTo>
                  <a:pt x="712" y="48"/>
                </a:lnTo>
                <a:lnTo>
                  <a:pt x="712" y="44"/>
                </a:lnTo>
                <a:lnTo>
                  <a:pt x="712" y="41"/>
                </a:lnTo>
                <a:lnTo>
                  <a:pt x="712" y="38"/>
                </a:lnTo>
                <a:lnTo>
                  <a:pt x="712" y="34"/>
                </a:lnTo>
                <a:lnTo>
                  <a:pt x="712" y="31"/>
                </a:lnTo>
                <a:lnTo>
                  <a:pt x="712" y="28"/>
                </a:lnTo>
                <a:lnTo>
                  <a:pt x="71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37" name="Freeform 1642">
            <a:extLst>
              <a:ext uri="{FF2B5EF4-FFF2-40B4-BE49-F238E27FC236}">
                <a16:creationId xmlns:a16="http://schemas.microsoft.com/office/drawing/2014/main" id="{F1CCA841-E93D-727F-E236-2D1908947884}"/>
              </a:ext>
            </a:extLst>
          </p:cNvPr>
          <p:cNvSpPr>
            <a:spLocks noEditPoints="1"/>
          </p:cNvSpPr>
          <p:nvPr/>
        </p:nvSpPr>
        <p:spPr bwMode="auto">
          <a:xfrm>
            <a:off x="1995488" y="2719388"/>
            <a:ext cx="1125538" cy="80963"/>
          </a:xfrm>
          <a:custGeom>
            <a:avLst/>
            <a:gdLst>
              <a:gd name="T0" fmla="*/ 709 w 709"/>
              <a:gd name="T1" fmla="*/ 21 h 51"/>
              <a:gd name="T2" fmla="*/ 709 w 709"/>
              <a:gd name="T3" fmla="*/ 14 h 51"/>
              <a:gd name="T4" fmla="*/ 709 w 709"/>
              <a:gd name="T5" fmla="*/ 9 h 51"/>
              <a:gd name="T6" fmla="*/ 709 w 709"/>
              <a:gd name="T7" fmla="*/ 3 h 51"/>
              <a:gd name="T8" fmla="*/ 705 w 709"/>
              <a:gd name="T9" fmla="*/ 0 h 51"/>
              <a:gd name="T10" fmla="*/ 705 w 709"/>
              <a:gd name="T11" fmla="*/ 6 h 51"/>
              <a:gd name="T12" fmla="*/ 705 w 709"/>
              <a:gd name="T13" fmla="*/ 11 h 51"/>
              <a:gd name="T14" fmla="*/ 705 w 709"/>
              <a:gd name="T15" fmla="*/ 18 h 51"/>
              <a:gd name="T16" fmla="*/ 705 w 709"/>
              <a:gd name="T17" fmla="*/ 24 h 51"/>
              <a:gd name="T18" fmla="*/ 705 w 709"/>
              <a:gd name="T19" fmla="*/ 31 h 51"/>
              <a:gd name="T20" fmla="*/ 705 w 709"/>
              <a:gd name="T21" fmla="*/ 38 h 51"/>
              <a:gd name="T22" fmla="*/ 705 w 709"/>
              <a:gd name="T23" fmla="*/ 44 h 51"/>
              <a:gd name="T24" fmla="*/ 705 w 709"/>
              <a:gd name="T25" fmla="*/ 51 h 51"/>
              <a:gd name="T26" fmla="*/ 709 w 709"/>
              <a:gd name="T27" fmla="*/ 48 h 51"/>
              <a:gd name="T28" fmla="*/ 709 w 709"/>
              <a:gd name="T29" fmla="*/ 41 h 51"/>
              <a:gd name="T30" fmla="*/ 709 w 709"/>
              <a:gd name="T31" fmla="*/ 34 h 51"/>
              <a:gd name="T32" fmla="*/ 709 w 709"/>
              <a:gd name="T33" fmla="*/ 28 h 51"/>
              <a:gd name="T34" fmla="*/ 1 w 709"/>
              <a:gd name="T35" fmla="*/ 0 h 51"/>
              <a:gd name="T36" fmla="*/ 0 w 709"/>
              <a:gd name="T37" fmla="*/ 6 h 51"/>
              <a:gd name="T38" fmla="*/ 0 w 709"/>
              <a:gd name="T39" fmla="*/ 11 h 51"/>
              <a:gd name="T40" fmla="*/ 0 w 709"/>
              <a:gd name="T41" fmla="*/ 18 h 51"/>
              <a:gd name="T42" fmla="*/ 0 w 709"/>
              <a:gd name="T43" fmla="*/ 24 h 51"/>
              <a:gd name="T44" fmla="*/ 0 w 709"/>
              <a:gd name="T45" fmla="*/ 31 h 51"/>
              <a:gd name="T46" fmla="*/ 0 w 709"/>
              <a:gd name="T47" fmla="*/ 38 h 51"/>
              <a:gd name="T48" fmla="*/ 0 w 709"/>
              <a:gd name="T49" fmla="*/ 44 h 51"/>
              <a:gd name="T50" fmla="*/ 1 w 709"/>
              <a:gd name="T51" fmla="*/ 51 h 51"/>
              <a:gd name="T52" fmla="*/ 3 w 709"/>
              <a:gd name="T53" fmla="*/ 48 h 51"/>
              <a:gd name="T54" fmla="*/ 3 w 709"/>
              <a:gd name="T55" fmla="*/ 41 h 51"/>
              <a:gd name="T56" fmla="*/ 3 w 709"/>
              <a:gd name="T57" fmla="*/ 34 h 51"/>
              <a:gd name="T58" fmla="*/ 3 w 709"/>
              <a:gd name="T59" fmla="*/ 28 h 51"/>
              <a:gd name="T60" fmla="*/ 3 w 709"/>
              <a:gd name="T61" fmla="*/ 21 h 51"/>
              <a:gd name="T62" fmla="*/ 3 w 709"/>
              <a:gd name="T63" fmla="*/ 14 h 51"/>
              <a:gd name="T64" fmla="*/ 3 w 709"/>
              <a:gd name="T65" fmla="*/ 9 h 51"/>
              <a:gd name="T66" fmla="*/ 3 w 709"/>
              <a:gd name="T67" fmla="*/ 3 h 51"/>
              <a:gd name="T68" fmla="*/ 1 w 70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9" h="51">
                <a:moveTo>
                  <a:pt x="709" y="24"/>
                </a:moveTo>
                <a:lnTo>
                  <a:pt x="709" y="21"/>
                </a:lnTo>
                <a:lnTo>
                  <a:pt x="709" y="18"/>
                </a:lnTo>
                <a:lnTo>
                  <a:pt x="709" y="14"/>
                </a:lnTo>
                <a:lnTo>
                  <a:pt x="709" y="11"/>
                </a:lnTo>
                <a:lnTo>
                  <a:pt x="709" y="9"/>
                </a:lnTo>
                <a:lnTo>
                  <a:pt x="709" y="6"/>
                </a:lnTo>
                <a:lnTo>
                  <a:pt x="709" y="3"/>
                </a:lnTo>
                <a:lnTo>
                  <a:pt x="709" y="0"/>
                </a:lnTo>
                <a:lnTo>
                  <a:pt x="705" y="0"/>
                </a:lnTo>
                <a:lnTo>
                  <a:pt x="705" y="3"/>
                </a:lnTo>
                <a:lnTo>
                  <a:pt x="705" y="6"/>
                </a:lnTo>
                <a:lnTo>
                  <a:pt x="705" y="9"/>
                </a:lnTo>
                <a:lnTo>
                  <a:pt x="705" y="11"/>
                </a:lnTo>
                <a:lnTo>
                  <a:pt x="705" y="14"/>
                </a:lnTo>
                <a:lnTo>
                  <a:pt x="705" y="18"/>
                </a:lnTo>
                <a:lnTo>
                  <a:pt x="705" y="21"/>
                </a:lnTo>
                <a:lnTo>
                  <a:pt x="705" y="24"/>
                </a:lnTo>
                <a:lnTo>
                  <a:pt x="705" y="28"/>
                </a:lnTo>
                <a:lnTo>
                  <a:pt x="705" y="31"/>
                </a:lnTo>
                <a:lnTo>
                  <a:pt x="705" y="34"/>
                </a:lnTo>
                <a:lnTo>
                  <a:pt x="705" y="38"/>
                </a:lnTo>
                <a:lnTo>
                  <a:pt x="705" y="41"/>
                </a:lnTo>
                <a:lnTo>
                  <a:pt x="705" y="44"/>
                </a:lnTo>
                <a:lnTo>
                  <a:pt x="705" y="48"/>
                </a:lnTo>
                <a:lnTo>
                  <a:pt x="705" y="51"/>
                </a:lnTo>
                <a:lnTo>
                  <a:pt x="709" y="51"/>
                </a:lnTo>
                <a:lnTo>
                  <a:pt x="709" y="48"/>
                </a:lnTo>
                <a:lnTo>
                  <a:pt x="709" y="44"/>
                </a:lnTo>
                <a:lnTo>
                  <a:pt x="709" y="41"/>
                </a:lnTo>
                <a:lnTo>
                  <a:pt x="709" y="38"/>
                </a:lnTo>
                <a:lnTo>
                  <a:pt x="709" y="34"/>
                </a:lnTo>
                <a:lnTo>
                  <a:pt x="709" y="31"/>
                </a:lnTo>
                <a:lnTo>
                  <a:pt x="709" y="28"/>
                </a:lnTo>
                <a:lnTo>
                  <a:pt x="70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38" name="Freeform 1643">
            <a:extLst>
              <a:ext uri="{FF2B5EF4-FFF2-40B4-BE49-F238E27FC236}">
                <a16:creationId xmlns:a16="http://schemas.microsoft.com/office/drawing/2014/main" id="{FA90EE15-C6D1-8422-EC36-4297CDEBE015}"/>
              </a:ext>
            </a:extLst>
          </p:cNvPr>
          <p:cNvSpPr>
            <a:spLocks noEditPoints="1"/>
          </p:cNvSpPr>
          <p:nvPr/>
        </p:nvSpPr>
        <p:spPr bwMode="auto">
          <a:xfrm>
            <a:off x="1997075" y="2719388"/>
            <a:ext cx="1120775" cy="80963"/>
          </a:xfrm>
          <a:custGeom>
            <a:avLst/>
            <a:gdLst>
              <a:gd name="T0" fmla="*/ 706 w 706"/>
              <a:gd name="T1" fmla="*/ 21 h 51"/>
              <a:gd name="T2" fmla="*/ 706 w 706"/>
              <a:gd name="T3" fmla="*/ 14 h 51"/>
              <a:gd name="T4" fmla="*/ 706 w 706"/>
              <a:gd name="T5" fmla="*/ 9 h 51"/>
              <a:gd name="T6" fmla="*/ 706 w 706"/>
              <a:gd name="T7" fmla="*/ 3 h 51"/>
              <a:gd name="T8" fmla="*/ 703 w 706"/>
              <a:gd name="T9" fmla="*/ 0 h 51"/>
              <a:gd name="T10" fmla="*/ 703 w 706"/>
              <a:gd name="T11" fmla="*/ 6 h 51"/>
              <a:gd name="T12" fmla="*/ 703 w 706"/>
              <a:gd name="T13" fmla="*/ 11 h 51"/>
              <a:gd name="T14" fmla="*/ 703 w 706"/>
              <a:gd name="T15" fmla="*/ 18 h 51"/>
              <a:gd name="T16" fmla="*/ 703 w 706"/>
              <a:gd name="T17" fmla="*/ 24 h 51"/>
              <a:gd name="T18" fmla="*/ 703 w 706"/>
              <a:gd name="T19" fmla="*/ 31 h 51"/>
              <a:gd name="T20" fmla="*/ 703 w 706"/>
              <a:gd name="T21" fmla="*/ 38 h 51"/>
              <a:gd name="T22" fmla="*/ 703 w 706"/>
              <a:gd name="T23" fmla="*/ 44 h 51"/>
              <a:gd name="T24" fmla="*/ 703 w 706"/>
              <a:gd name="T25" fmla="*/ 51 h 51"/>
              <a:gd name="T26" fmla="*/ 706 w 706"/>
              <a:gd name="T27" fmla="*/ 48 h 51"/>
              <a:gd name="T28" fmla="*/ 706 w 706"/>
              <a:gd name="T29" fmla="*/ 41 h 51"/>
              <a:gd name="T30" fmla="*/ 706 w 706"/>
              <a:gd name="T31" fmla="*/ 34 h 51"/>
              <a:gd name="T32" fmla="*/ 706 w 706"/>
              <a:gd name="T33" fmla="*/ 28 h 51"/>
              <a:gd name="T34" fmla="*/ 2 w 706"/>
              <a:gd name="T35" fmla="*/ 0 h 51"/>
              <a:gd name="T36" fmla="*/ 0 w 706"/>
              <a:gd name="T37" fmla="*/ 6 h 51"/>
              <a:gd name="T38" fmla="*/ 0 w 706"/>
              <a:gd name="T39" fmla="*/ 11 h 51"/>
              <a:gd name="T40" fmla="*/ 0 w 706"/>
              <a:gd name="T41" fmla="*/ 18 h 51"/>
              <a:gd name="T42" fmla="*/ 0 w 706"/>
              <a:gd name="T43" fmla="*/ 24 h 51"/>
              <a:gd name="T44" fmla="*/ 0 w 706"/>
              <a:gd name="T45" fmla="*/ 31 h 51"/>
              <a:gd name="T46" fmla="*/ 0 w 706"/>
              <a:gd name="T47" fmla="*/ 38 h 51"/>
              <a:gd name="T48" fmla="*/ 0 w 706"/>
              <a:gd name="T49" fmla="*/ 44 h 51"/>
              <a:gd name="T50" fmla="*/ 2 w 706"/>
              <a:gd name="T51" fmla="*/ 51 h 51"/>
              <a:gd name="T52" fmla="*/ 4 w 706"/>
              <a:gd name="T53" fmla="*/ 48 h 51"/>
              <a:gd name="T54" fmla="*/ 4 w 706"/>
              <a:gd name="T55" fmla="*/ 41 h 51"/>
              <a:gd name="T56" fmla="*/ 4 w 706"/>
              <a:gd name="T57" fmla="*/ 34 h 51"/>
              <a:gd name="T58" fmla="*/ 4 w 706"/>
              <a:gd name="T59" fmla="*/ 28 h 51"/>
              <a:gd name="T60" fmla="*/ 4 w 706"/>
              <a:gd name="T61" fmla="*/ 21 h 51"/>
              <a:gd name="T62" fmla="*/ 4 w 706"/>
              <a:gd name="T63" fmla="*/ 14 h 51"/>
              <a:gd name="T64" fmla="*/ 4 w 706"/>
              <a:gd name="T65" fmla="*/ 9 h 51"/>
              <a:gd name="T66" fmla="*/ 4 w 706"/>
              <a:gd name="T67" fmla="*/ 3 h 51"/>
              <a:gd name="T68" fmla="*/ 2 w 70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6" h="51">
                <a:moveTo>
                  <a:pt x="706" y="24"/>
                </a:moveTo>
                <a:lnTo>
                  <a:pt x="706" y="21"/>
                </a:lnTo>
                <a:lnTo>
                  <a:pt x="706" y="18"/>
                </a:lnTo>
                <a:lnTo>
                  <a:pt x="706" y="14"/>
                </a:lnTo>
                <a:lnTo>
                  <a:pt x="706" y="11"/>
                </a:lnTo>
                <a:lnTo>
                  <a:pt x="706" y="9"/>
                </a:lnTo>
                <a:lnTo>
                  <a:pt x="706" y="6"/>
                </a:lnTo>
                <a:lnTo>
                  <a:pt x="706" y="3"/>
                </a:lnTo>
                <a:lnTo>
                  <a:pt x="706" y="0"/>
                </a:lnTo>
                <a:lnTo>
                  <a:pt x="703" y="0"/>
                </a:lnTo>
                <a:lnTo>
                  <a:pt x="703" y="3"/>
                </a:lnTo>
                <a:lnTo>
                  <a:pt x="703" y="6"/>
                </a:lnTo>
                <a:lnTo>
                  <a:pt x="703" y="9"/>
                </a:lnTo>
                <a:lnTo>
                  <a:pt x="703" y="11"/>
                </a:lnTo>
                <a:lnTo>
                  <a:pt x="703" y="14"/>
                </a:lnTo>
                <a:lnTo>
                  <a:pt x="703" y="18"/>
                </a:lnTo>
                <a:lnTo>
                  <a:pt x="703" y="21"/>
                </a:lnTo>
                <a:lnTo>
                  <a:pt x="703" y="24"/>
                </a:lnTo>
                <a:lnTo>
                  <a:pt x="703" y="28"/>
                </a:lnTo>
                <a:lnTo>
                  <a:pt x="703" y="31"/>
                </a:lnTo>
                <a:lnTo>
                  <a:pt x="703" y="34"/>
                </a:lnTo>
                <a:lnTo>
                  <a:pt x="703" y="38"/>
                </a:lnTo>
                <a:lnTo>
                  <a:pt x="703" y="41"/>
                </a:lnTo>
                <a:lnTo>
                  <a:pt x="703" y="44"/>
                </a:lnTo>
                <a:lnTo>
                  <a:pt x="703" y="48"/>
                </a:lnTo>
                <a:lnTo>
                  <a:pt x="703" y="51"/>
                </a:lnTo>
                <a:lnTo>
                  <a:pt x="706" y="51"/>
                </a:lnTo>
                <a:lnTo>
                  <a:pt x="706" y="48"/>
                </a:lnTo>
                <a:lnTo>
                  <a:pt x="706" y="44"/>
                </a:lnTo>
                <a:lnTo>
                  <a:pt x="706" y="41"/>
                </a:lnTo>
                <a:lnTo>
                  <a:pt x="706" y="38"/>
                </a:lnTo>
                <a:lnTo>
                  <a:pt x="706" y="34"/>
                </a:lnTo>
                <a:lnTo>
                  <a:pt x="706" y="31"/>
                </a:lnTo>
                <a:lnTo>
                  <a:pt x="706" y="28"/>
                </a:lnTo>
                <a:lnTo>
                  <a:pt x="70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39" name="Freeform 1644">
            <a:extLst>
              <a:ext uri="{FF2B5EF4-FFF2-40B4-BE49-F238E27FC236}">
                <a16:creationId xmlns:a16="http://schemas.microsoft.com/office/drawing/2014/main" id="{9F3D64D3-87D4-CAC5-50BB-47B079018A28}"/>
              </a:ext>
            </a:extLst>
          </p:cNvPr>
          <p:cNvSpPr>
            <a:spLocks noEditPoints="1"/>
          </p:cNvSpPr>
          <p:nvPr/>
        </p:nvSpPr>
        <p:spPr bwMode="auto">
          <a:xfrm>
            <a:off x="2000250" y="2719388"/>
            <a:ext cx="1114425" cy="80963"/>
          </a:xfrm>
          <a:custGeom>
            <a:avLst/>
            <a:gdLst>
              <a:gd name="T0" fmla="*/ 702 w 702"/>
              <a:gd name="T1" fmla="*/ 21 h 51"/>
              <a:gd name="T2" fmla="*/ 702 w 702"/>
              <a:gd name="T3" fmla="*/ 14 h 51"/>
              <a:gd name="T4" fmla="*/ 702 w 702"/>
              <a:gd name="T5" fmla="*/ 9 h 51"/>
              <a:gd name="T6" fmla="*/ 702 w 702"/>
              <a:gd name="T7" fmla="*/ 3 h 51"/>
              <a:gd name="T8" fmla="*/ 699 w 702"/>
              <a:gd name="T9" fmla="*/ 0 h 51"/>
              <a:gd name="T10" fmla="*/ 699 w 702"/>
              <a:gd name="T11" fmla="*/ 6 h 51"/>
              <a:gd name="T12" fmla="*/ 699 w 702"/>
              <a:gd name="T13" fmla="*/ 11 h 51"/>
              <a:gd name="T14" fmla="*/ 699 w 702"/>
              <a:gd name="T15" fmla="*/ 18 h 51"/>
              <a:gd name="T16" fmla="*/ 699 w 702"/>
              <a:gd name="T17" fmla="*/ 24 h 51"/>
              <a:gd name="T18" fmla="*/ 699 w 702"/>
              <a:gd name="T19" fmla="*/ 31 h 51"/>
              <a:gd name="T20" fmla="*/ 699 w 702"/>
              <a:gd name="T21" fmla="*/ 38 h 51"/>
              <a:gd name="T22" fmla="*/ 699 w 702"/>
              <a:gd name="T23" fmla="*/ 44 h 51"/>
              <a:gd name="T24" fmla="*/ 699 w 702"/>
              <a:gd name="T25" fmla="*/ 51 h 51"/>
              <a:gd name="T26" fmla="*/ 702 w 702"/>
              <a:gd name="T27" fmla="*/ 48 h 51"/>
              <a:gd name="T28" fmla="*/ 702 w 702"/>
              <a:gd name="T29" fmla="*/ 41 h 51"/>
              <a:gd name="T30" fmla="*/ 702 w 702"/>
              <a:gd name="T31" fmla="*/ 34 h 51"/>
              <a:gd name="T32" fmla="*/ 702 w 702"/>
              <a:gd name="T33" fmla="*/ 28 h 51"/>
              <a:gd name="T34" fmla="*/ 2 w 702"/>
              <a:gd name="T35" fmla="*/ 0 h 51"/>
              <a:gd name="T36" fmla="*/ 0 w 702"/>
              <a:gd name="T37" fmla="*/ 6 h 51"/>
              <a:gd name="T38" fmla="*/ 0 w 702"/>
              <a:gd name="T39" fmla="*/ 11 h 51"/>
              <a:gd name="T40" fmla="*/ 0 w 702"/>
              <a:gd name="T41" fmla="*/ 18 h 51"/>
              <a:gd name="T42" fmla="*/ 0 w 702"/>
              <a:gd name="T43" fmla="*/ 24 h 51"/>
              <a:gd name="T44" fmla="*/ 0 w 702"/>
              <a:gd name="T45" fmla="*/ 31 h 51"/>
              <a:gd name="T46" fmla="*/ 0 w 702"/>
              <a:gd name="T47" fmla="*/ 38 h 51"/>
              <a:gd name="T48" fmla="*/ 0 w 702"/>
              <a:gd name="T49" fmla="*/ 44 h 51"/>
              <a:gd name="T50" fmla="*/ 2 w 702"/>
              <a:gd name="T51" fmla="*/ 51 h 51"/>
              <a:gd name="T52" fmla="*/ 3 w 702"/>
              <a:gd name="T53" fmla="*/ 48 h 51"/>
              <a:gd name="T54" fmla="*/ 3 w 702"/>
              <a:gd name="T55" fmla="*/ 41 h 51"/>
              <a:gd name="T56" fmla="*/ 3 w 702"/>
              <a:gd name="T57" fmla="*/ 34 h 51"/>
              <a:gd name="T58" fmla="*/ 3 w 702"/>
              <a:gd name="T59" fmla="*/ 28 h 51"/>
              <a:gd name="T60" fmla="*/ 3 w 702"/>
              <a:gd name="T61" fmla="*/ 21 h 51"/>
              <a:gd name="T62" fmla="*/ 3 w 702"/>
              <a:gd name="T63" fmla="*/ 14 h 51"/>
              <a:gd name="T64" fmla="*/ 3 w 702"/>
              <a:gd name="T65" fmla="*/ 9 h 51"/>
              <a:gd name="T66" fmla="*/ 3 w 702"/>
              <a:gd name="T67" fmla="*/ 3 h 51"/>
              <a:gd name="T68" fmla="*/ 2 w 70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2" h="51">
                <a:moveTo>
                  <a:pt x="702" y="24"/>
                </a:moveTo>
                <a:lnTo>
                  <a:pt x="702" y="21"/>
                </a:lnTo>
                <a:lnTo>
                  <a:pt x="702" y="18"/>
                </a:lnTo>
                <a:lnTo>
                  <a:pt x="702" y="14"/>
                </a:lnTo>
                <a:lnTo>
                  <a:pt x="702" y="11"/>
                </a:lnTo>
                <a:lnTo>
                  <a:pt x="702" y="9"/>
                </a:lnTo>
                <a:lnTo>
                  <a:pt x="702" y="6"/>
                </a:lnTo>
                <a:lnTo>
                  <a:pt x="702" y="3"/>
                </a:lnTo>
                <a:lnTo>
                  <a:pt x="702" y="0"/>
                </a:lnTo>
                <a:lnTo>
                  <a:pt x="699" y="0"/>
                </a:lnTo>
                <a:lnTo>
                  <a:pt x="699" y="3"/>
                </a:lnTo>
                <a:lnTo>
                  <a:pt x="699" y="6"/>
                </a:lnTo>
                <a:lnTo>
                  <a:pt x="699" y="9"/>
                </a:lnTo>
                <a:lnTo>
                  <a:pt x="699" y="11"/>
                </a:lnTo>
                <a:lnTo>
                  <a:pt x="699" y="14"/>
                </a:lnTo>
                <a:lnTo>
                  <a:pt x="699" y="18"/>
                </a:lnTo>
                <a:lnTo>
                  <a:pt x="699" y="21"/>
                </a:lnTo>
                <a:lnTo>
                  <a:pt x="699" y="24"/>
                </a:lnTo>
                <a:lnTo>
                  <a:pt x="699" y="28"/>
                </a:lnTo>
                <a:lnTo>
                  <a:pt x="699" y="31"/>
                </a:lnTo>
                <a:lnTo>
                  <a:pt x="699" y="34"/>
                </a:lnTo>
                <a:lnTo>
                  <a:pt x="699" y="38"/>
                </a:lnTo>
                <a:lnTo>
                  <a:pt x="699" y="41"/>
                </a:lnTo>
                <a:lnTo>
                  <a:pt x="699" y="44"/>
                </a:lnTo>
                <a:lnTo>
                  <a:pt x="699" y="48"/>
                </a:lnTo>
                <a:lnTo>
                  <a:pt x="699" y="51"/>
                </a:lnTo>
                <a:lnTo>
                  <a:pt x="702" y="51"/>
                </a:lnTo>
                <a:lnTo>
                  <a:pt x="702" y="48"/>
                </a:lnTo>
                <a:lnTo>
                  <a:pt x="702" y="44"/>
                </a:lnTo>
                <a:lnTo>
                  <a:pt x="702" y="41"/>
                </a:lnTo>
                <a:lnTo>
                  <a:pt x="702" y="38"/>
                </a:lnTo>
                <a:lnTo>
                  <a:pt x="702" y="34"/>
                </a:lnTo>
                <a:lnTo>
                  <a:pt x="702" y="31"/>
                </a:lnTo>
                <a:lnTo>
                  <a:pt x="702" y="28"/>
                </a:lnTo>
                <a:lnTo>
                  <a:pt x="70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40" name="Freeform 1645">
            <a:extLst>
              <a:ext uri="{FF2B5EF4-FFF2-40B4-BE49-F238E27FC236}">
                <a16:creationId xmlns:a16="http://schemas.microsoft.com/office/drawing/2014/main" id="{ACE22632-E2A9-F5A1-D6DD-728D45995D30}"/>
              </a:ext>
            </a:extLst>
          </p:cNvPr>
          <p:cNvSpPr>
            <a:spLocks noEditPoints="1"/>
          </p:cNvSpPr>
          <p:nvPr/>
        </p:nvSpPr>
        <p:spPr bwMode="auto">
          <a:xfrm>
            <a:off x="2003425" y="2719388"/>
            <a:ext cx="1109663" cy="80963"/>
          </a:xfrm>
          <a:custGeom>
            <a:avLst/>
            <a:gdLst>
              <a:gd name="T0" fmla="*/ 699 w 699"/>
              <a:gd name="T1" fmla="*/ 21 h 51"/>
              <a:gd name="T2" fmla="*/ 699 w 699"/>
              <a:gd name="T3" fmla="*/ 14 h 51"/>
              <a:gd name="T4" fmla="*/ 699 w 699"/>
              <a:gd name="T5" fmla="*/ 9 h 51"/>
              <a:gd name="T6" fmla="*/ 699 w 699"/>
              <a:gd name="T7" fmla="*/ 3 h 51"/>
              <a:gd name="T8" fmla="*/ 695 w 699"/>
              <a:gd name="T9" fmla="*/ 0 h 51"/>
              <a:gd name="T10" fmla="*/ 695 w 699"/>
              <a:gd name="T11" fmla="*/ 6 h 51"/>
              <a:gd name="T12" fmla="*/ 695 w 699"/>
              <a:gd name="T13" fmla="*/ 11 h 51"/>
              <a:gd name="T14" fmla="*/ 695 w 699"/>
              <a:gd name="T15" fmla="*/ 18 h 51"/>
              <a:gd name="T16" fmla="*/ 695 w 699"/>
              <a:gd name="T17" fmla="*/ 24 h 51"/>
              <a:gd name="T18" fmla="*/ 695 w 699"/>
              <a:gd name="T19" fmla="*/ 31 h 51"/>
              <a:gd name="T20" fmla="*/ 695 w 699"/>
              <a:gd name="T21" fmla="*/ 38 h 51"/>
              <a:gd name="T22" fmla="*/ 695 w 699"/>
              <a:gd name="T23" fmla="*/ 44 h 51"/>
              <a:gd name="T24" fmla="*/ 695 w 699"/>
              <a:gd name="T25" fmla="*/ 51 h 51"/>
              <a:gd name="T26" fmla="*/ 699 w 699"/>
              <a:gd name="T27" fmla="*/ 48 h 51"/>
              <a:gd name="T28" fmla="*/ 699 w 699"/>
              <a:gd name="T29" fmla="*/ 41 h 51"/>
              <a:gd name="T30" fmla="*/ 699 w 699"/>
              <a:gd name="T31" fmla="*/ 34 h 51"/>
              <a:gd name="T32" fmla="*/ 699 w 699"/>
              <a:gd name="T33" fmla="*/ 28 h 51"/>
              <a:gd name="T34" fmla="*/ 1 w 699"/>
              <a:gd name="T35" fmla="*/ 0 h 51"/>
              <a:gd name="T36" fmla="*/ 0 w 699"/>
              <a:gd name="T37" fmla="*/ 6 h 51"/>
              <a:gd name="T38" fmla="*/ 0 w 699"/>
              <a:gd name="T39" fmla="*/ 11 h 51"/>
              <a:gd name="T40" fmla="*/ 0 w 699"/>
              <a:gd name="T41" fmla="*/ 18 h 51"/>
              <a:gd name="T42" fmla="*/ 0 w 699"/>
              <a:gd name="T43" fmla="*/ 24 h 51"/>
              <a:gd name="T44" fmla="*/ 0 w 699"/>
              <a:gd name="T45" fmla="*/ 31 h 51"/>
              <a:gd name="T46" fmla="*/ 0 w 699"/>
              <a:gd name="T47" fmla="*/ 38 h 51"/>
              <a:gd name="T48" fmla="*/ 0 w 699"/>
              <a:gd name="T49" fmla="*/ 44 h 51"/>
              <a:gd name="T50" fmla="*/ 1 w 699"/>
              <a:gd name="T51" fmla="*/ 51 h 51"/>
              <a:gd name="T52" fmla="*/ 3 w 699"/>
              <a:gd name="T53" fmla="*/ 48 h 51"/>
              <a:gd name="T54" fmla="*/ 3 w 699"/>
              <a:gd name="T55" fmla="*/ 41 h 51"/>
              <a:gd name="T56" fmla="*/ 3 w 699"/>
              <a:gd name="T57" fmla="*/ 34 h 51"/>
              <a:gd name="T58" fmla="*/ 3 w 699"/>
              <a:gd name="T59" fmla="*/ 28 h 51"/>
              <a:gd name="T60" fmla="*/ 3 w 699"/>
              <a:gd name="T61" fmla="*/ 21 h 51"/>
              <a:gd name="T62" fmla="*/ 3 w 699"/>
              <a:gd name="T63" fmla="*/ 14 h 51"/>
              <a:gd name="T64" fmla="*/ 3 w 699"/>
              <a:gd name="T65" fmla="*/ 9 h 51"/>
              <a:gd name="T66" fmla="*/ 3 w 699"/>
              <a:gd name="T67" fmla="*/ 3 h 51"/>
              <a:gd name="T68" fmla="*/ 1 w 69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9" h="51">
                <a:moveTo>
                  <a:pt x="699" y="24"/>
                </a:moveTo>
                <a:lnTo>
                  <a:pt x="699" y="21"/>
                </a:lnTo>
                <a:lnTo>
                  <a:pt x="699" y="18"/>
                </a:lnTo>
                <a:lnTo>
                  <a:pt x="699" y="14"/>
                </a:lnTo>
                <a:lnTo>
                  <a:pt x="699" y="11"/>
                </a:lnTo>
                <a:lnTo>
                  <a:pt x="699" y="9"/>
                </a:lnTo>
                <a:lnTo>
                  <a:pt x="699" y="6"/>
                </a:lnTo>
                <a:lnTo>
                  <a:pt x="699" y="3"/>
                </a:lnTo>
                <a:lnTo>
                  <a:pt x="699" y="0"/>
                </a:lnTo>
                <a:lnTo>
                  <a:pt x="695" y="0"/>
                </a:lnTo>
                <a:lnTo>
                  <a:pt x="695" y="3"/>
                </a:lnTo>
                <a:lnTo>
                  <a:pt x="695" y="6"/>
                </a:lnTo>
                <a:lnTo>
                  <a:pt x="695" y="9"/>
                </a:lnTo>
                <a:lnTo>
                  <a:pt x="695" y="11"/>
                </a:lnTo>
                <a:lnTo>
                  <a:pt x="695" y="14"/>
                </a:lnTo>
                <a:lnTo>
                  <a:pt x="695" y="18"/>
                </a:lnTo>
                <a:lnTo>
                  <a:pt x="695" y="21"/>
                </a:lnTo>
                <a:lnTo>
                  <a:pt x="695" y="24"/>
                </a:lnTo>
                <a:lnTo>
                  <a:pt x="695" y="28"/>
                </a:lnTo>
                <a:lnTo>
                  <a:pt x="695" y="31"/>
                </a:lnTo>
                <a:lnTo>
                  <a:pt x="695" y="34"/>
                </a:lnTo>
                <a:lnTo>
                  <a:pt x="695" y="38"/>
                </a:lnTo>
                <a:lnTo>
                  <a:pt x="695" y="41"/>
                </a:lnTo>
                <a:lnTo>
                  <a:pt x="695" y="44"/>
                </a:lnTo>
                <a:lnTo>
                  <a:pt x="695" y="48"/>
                </a:lnTo>
                <a:lnTo>
                  <a:pt x="695" y="51"/>
                </a:lnTo>
                <a:lnTo>
                  <a:pt x="699" y="51"/>
                </a:lnTo>
                <a:lnTo>
                  <a:pt x="699" y="48"/>
                </a:lnTo>
                <a:lnTo>
                  <a:pt x="699" y="44"/>
                </a:lnTo>
                <a:lnTo>
                  <a:pt x="699" y="41"/>
                </a:lnTo>
                <a:lnTo>
                  <a:pt x="699" y="38"/>
                </a:lnTo>
                <a:lnTo>
                  <a:pt x="699" y="34"/>
                </a:lnTo>
                <a:lnTo>
                  <a:pt x="699" y="31"/>
                </a:lnTo>
                <a:lnTo>
                  <a:pt x="699" y="28"/>
                </a:lnTo>
                <a:lnTo>
                  <a:pt x="69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41" name="Freeform 1646">
            <a:extLst>
              <a:ext uri="{FF2B5EF4-FFF2-40B4-BE49-F238E27FC236}">
                <a16:creationId xmlns:a16="http://schemas.microsoft.com/office/drawing/2014/main" id="{F44FE871-F816-1129-A89C-B3BE8D5328DF}"/>
              </a:ext>
            </a:extLst>
          </p:cNvPr>
          <p:cNvSpPr>
            <a:spLocks noEditPoints="1"/>
          </p:cNvSpPr>
          <p:nvPr/>
        </p:nvSpPr>
        <p:spPr bwMode="auto">
          <a:xfrm>
            <a:off x="2005013" y="2719388"/>
            <a:ext cx="1104900" cy="80963"/>
          </a:xfrm>
          <a:custGeom>
            <a:avLst/>
            <a:gdLst>
              <a:gd name="T0" fmla="*/ 696 w 696"/>
              <a:gd name="T1" fmla="*/ 21 h 51"/>
              <a:gd name="T2" fmla="*/ 696 w 696"/>
              <a:gd name="T3" fmla="*/ 14 h 51"/>
              <a:gd name="T4" fmla="*/ 696 w 696"/>
              <a:gd name="T5" fmla="*/ 9 h 51"/>
              <a:gd name="T6" fmla="*/ 696 w 696"/>
              <a:gd name="T7" fmla="*/ 3 h 51"/>
              <a:gd name="T8" fmla="*/ 693 w 696"/>
              <a:gd name="T9" fmla="*/ 0 h 51"/>
              <a:gd name="T10" fmla="*/ 693 w 696"/>
              <a:gd name="T11" fmla="*/ 6 h 51"/>
              <a:gd name="T12" fmla="*/ 693 w 696"/>
              <a:gd name="T13" fmla="*/ 11 h 51"/>
              <a:gd name="T14" fmla="*/ 693 w 696"/>
              <a:gd name="T15" fmla="*/ 18 h 51"/>
              <a:gd name="T16" fmla="*/ 693 w 696"/>
              <a:gd name="T17" fmla="*/ 24 h 51"/>
              <a:gd name="T18" fmla="*/ 693 w 696"/>
              <a:gd name="T19" fmla="*/ 31 h 51"/>
              <a:gd name="T20" fmla="*/ 693 w 696"/>
              <a:gd name="T21" fmla="*/ 38 h 51"/>
              <a:gd name="T22" fmla="*/ 693 w 696"/>
              <a:gd name="T23" fmla="*/ 44 h 51"/>
              <a:gd name="T24" fmla="*/ 693 w 696"/>
              <a:gd name="T25" fmla="*/ 51 h 51"/>
              <a:gd name="T26" fmla="*/ 696 w 696"/>
              <a:gd name="T27" fmla="*/ 48 h 51"/>
              <a:gd name="T28" fmla="*/ 696 w 696"/>
              <a:gd name="T29" fmla="*/ 41 h 51"/>
              <a:gd name="T30" fmla="*/ 696 w 696"/>
              <a:gd name="T31" fmla="*/ 34 h 51"/>
              <a:gd name="T32" fmla="*/ 696 w 696"/>
              <a:gd name="T33" fmla="*/ 28 h 51"/>
              <a:gd name="T34" fmla="*/ 2 w 696"/>
              <a:gd name="T35" fmla="*/ 0 h 51"/>
              <a:gd name="T36" fmla="*/ 0 w 696"/>
              <a:gd name="T37" fmla="*/ 6 h 51"/>
              <a:gd name="T38" fmla="*/ 0 w 696"/>
              <a:gd name="T39" fmla="*/ 11 h 51"/>
              <a:gd name="T40" fmla="*/ 0 w 696"/>
              <a:gd name="T41" fmla="*/ 18 h 51"/>
              <a:gd name="T42" fmla="*/ 0 w 696"/>
              <a:gd name="T43" fmla="*/ 24 h 51"/>
              <a:gd name="T44" fmla="*/ 0 w 696"/>
              <a:gd name="T45" fmla="*/ 31 h 51"/>
              <a:gd name="T46" fmla="*/ 0 w 696"/>
              <a:gd name="T47" fmla="*/ 38 h 51"/>
              <a:gd name="T48" fmla="*/ 0 w 696"/>
              <a:gd name="T49" fmla="*/ 44 h 51"/>
              <a:gd name="T50" fmla="*/ 0 w 696"/>
              <a:gd name="T51" fmla="*/ 51 h 51"/>
              <a:gd name="T52" fmla="*/ 4 w 696"/>
              <a:gd name="T53" fmla="*/ 48 h 51"/>
              <a:gd name="T54" fmla="*/ 4 w 696"/>
              <a:gd name="T55" fmla="*/ 41 h 51"/>
              <a:gd name="T56" fmla="*/ 4 w 696"/>
              <a:gd name="T57" fmla="*/ 34 h 51"/>
              <a:gd name="T58" fmla="*/ 4 w 696"/>
              <a:gd name="T59" fmla="*/ 28 h 51"/>
              <a:gd name="T60" fmla="*/ 4 w 696"/>
              <a:gd name="T61" fmla="*/ 21 h 51"/>
              <a:gd name="T62" fmla="*/ 4 w 696"/>
              <a:gd name="T63" fmla="*/ 14 h 51"/>
              <a:gd name="T64" fmla="*/ 4 w 696"/>
              <a:gd name="T65" fmla="*/ 9 h 51"/>
              <a:gd name="T66" fmla="*/ 4 w 696"/>
              <a:gd name="T67" fmla="*/ 3 h 51"/>
              <a:gd name="T68" fmla="*/ 2 w 6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6" h="51">
                <a:moveTo>
                  <a:pt x="696" y="24"/>
                </a:moveTo>
                <a:lnTo>
                  <a:pt x="696" y="21"/>
                </a:lnTo>
                <a:lnTo>
                  <a:pt x="696" y="18"/>
                </a:lnTo>
                <a:lnTo>
                  <a:pt x="696" y="14"/>
                </a:lnTo>
                <a:lnTo>
                  <a:pt x="696" y="11"/>
                </a:lnTo>
                <a:lnTo>
                  <a:pt x="696" y="9"/>
                </a:lnTo>
                <a:lnTo>
                  <a:pt x="696" y="6"/>
                </a:lnTo>
                <a:lnTo>
                  <a:pt x="696" y="3"/>
                </a:lnTo>
                <a:lnTo>
                  <a:pt x="696" y="0"/>
                </a:lnTo>
                <a:lnTo>
                  <a:pt x="693" y="0"/>
                </a:lnTo>
                <a:lnTo>
                  <a:pt x="693" y="3"/>
                </a:lnTo>
                <a:lnTo>
                  <a:pt x="693" y="6"/>
                </a:lnTo>
                <a:lnTo>
                  <a:pt x="693" y="9"/>
                </a:lnTo>
                <a:lnTo>
                  <a:pt x="693" y="11"/>
                </a:lnTo>
                <a:lnTo>
                  <a:pt x="693" y="14"/>
                </a:lnTo>
                <a:lnTo>
                  <a:pt x="693" y="18"/>
                </a:lnTo>
                <a:lnTo>
                  <a:pt x="693" y="21"/>
                </a:lnTo>
                <a:lnTo>
                  <a:pt x="693" y="24"/>
                </a:lnTo>
                <a:lnTo>
                  <a:pt x="693" y="28"/>
                </a:lnTo>
                <a:lnTo>
                  <a:pt x="693" y="31"/>
                </a:lnTo>
                <a:lnTo>
                  <a:pt x="693" y="34"/>
                </a:lnTo>
                <a:lnTo>
                  <a:pt x="693" y="38"/>
                </a:lnTo>
                <a:lnTo>
                  <a:pt x="693" y="41"/>
                </a:lnTo>
                <a:lnTo>
                  <a:pt x="693" y="44"/>
                </a:lnTo>
                <a:lnTo>
                  <a:pt x="693" y="48"/>
                </a:lnTo>
                <a:lnTo>
                  <a:pt x="693" y="51"/>
                </a:lnTo>
                <a:lnTo>
                  <a:pt x="696" y="51"/>
                </a:lnTo>
                <a:lnTo>
                  <a:pt x="696" y="48"/>
                </a:lnTo>
                <a:lnTo>
                  <a:pt x="696" y="44"/>
                </a:lnTo>
                <a:lnTo>
                  <a:pt x="696" y="41"/>
                </a:lnTo>
                <a:lnTo>
                  <a:pt x="696" y="38"/>
                </a:lnTo>
                <a:lnTo>
                  <a:pt x="696" y="34"/>
                </a:lnTo>
                <a:lnTo>
                  <a:pt x="696" y="31"/>
                </a:lnTo>
                <a:lnTo>
                  <a:pt x="696" y="28"/>
                </a:lnTo>
                <a:lnTo>
                  <a:pt x="69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42" name="Freeform 1647">
            <a:extLst>
              <a:ext uri="{FF2B5EF4-FFF2-40B4-BE49-F238E27FC236}">
                <a16:creationId xmlns:a16="http://schemas.microsoft.com/office/drawing/2014/main" id="{60ED9EE0-90AF-940B-E1D7-9D41F35BB4CC}"/>
              </a:ext>
            </a:extLst>
          </p:cNvPr>
          <p:cNvSpPr>
            <a:spLocks noEditPoints="1"/>
          </p:cNvSpPr>
          <p:nvPr/>
        </p:nvSpPr>
        <p:spPr bwMode="auto">
          <a:xfrm>
            <a:off x="2008188" y="2719388"/>
            <a:ext cx="1098550" cy="80963"/>
          </a:xfrm>
          <a:custGeom>
            <a:avLst/>
            <a:gdLst>
              <a:gd name="T0" fmla="*/ 692 w 692"/>
              <a:gd name="T1" fmla="*/ 21 h 51"/>
              <a:gd name="T2" fmla="*/ 692 w 692"/>
              <a:gd name="T3" fmla="*/ 14 h 51"/>
              <a:gd name="T4" fmla="*/ 692 w 692"/>
              <a:gd name="T5" fmla="*/ 9 h 51"/>
              <a:gd name="T6" fmla="*/ 692 w 692"/>
              <a:gd name="T7" fmla="*/ 3 h 51"/>
              <a:gd name="T8" fmla="*/ 689 w 692"/>
              <a:gd name="T9" fmla="*/ 0 h 51"/>
              <a:gd name="T10" fmla="*/ 689 w 692"/>
              <a:gd name="T11" fmla="*/ 6 h 51"/>
              <a:gd name="T12" fmla="*/ 689 w 692"/>
              <a:gd name="T13" fmla="*/ 11 h 51"/>
              <a:gd name="T14" fmla="*/ 689 w 692"/>
              <a:gd name="T15" fmla="*/ 18 h 51"/>
              <a:gd name="T16" fmla="*/ 689 w 692"/>
              <a:gd name="T17" fmla="*/ 24 h 51"/>
              <a:gd name="T18" fmla="*/ 689 w 692"/>
              <a:gd name="T19" fmla="*/ 31 h 51"/>
              <a:gd name="T20" fmla="*/ 689 w 692"/>
              <a:gd name="T21" fmla="*/ 38 h 51"/>
              <a:gd name="T22" fmla="*/ 689 w 692"/>
              <a:gd name="T23" fmla="*/ 44 h 51"/>
              <a:gd name="T24" fmla="*/ 689 w 692"/>
              <a:gd name="T25" fmla="*/ 51 h 51"/>
              <a:gd name="T26" fmla="*/ 692 w 692"/>
              <a:gd name="T27" fmla="*/ 48 h 51"/>
              <a:gd name="T28" fmla="*/ 692 w 692"/>
              <a:gd name="T29" fmla="*/ 41 h 51"/>
              <a:gd name="T30" fmla="*/ 692 w 692"/>
              <a:gd name="T31" fmla="*/ 34 h 51"/>
              <a:gd name="T32" fmla="*/ 692 w 692"/>
              <a:gd name="T33" fmla="*/ 28 h 51"/>
              <a:gd name="T34" fmla="*/ 2 w 692"/>
              <a:gd name="T35" fmla="*/ 0 h 51"/>
              <a:gd name="T36" fmla="*/ 0 w 692"/>
              <a:gd name="T37" fmla="*/ 6 h 51"/>
              <a:gd name="T38" fmla="*/ 0 w 692"/>
              <a:gd name="T39" fmla="*/ 11 h 51"/>
              <a:gd name="T40" fmla="*/ 0 w 692"/>
              <a:gd name="T41" fmla="*/ 18 h 51"/>
              <a:gd name="T42" fmla="*/ 0 w 692"/>
              <a:gd name="T43" fmla="*/ 24 h 51"/>
              <a:gd name="T44" fmla="*/ 0 w 692"/>
              <a:gd name="T45" fmla="*/ 31 h 51"/>
              <a:gd name="T46" fmla="*/ 0 w 692"/>
              <a:gd name="T47" fmla="*/ 38 h 51"/>
              <a:gd name="T48" fmla="*/ 0 w 692"/>
              <a:gd name="T49" fmla="*/ 44 h 51"/>
              <a:gd name="T50" fmla="*/ 0 w 692"/>
              <a:gd name="T51" fmla="*/ 51 h 51"/>
              <a:gd name="T52" fmla="*/ 3 w 692"/>
              <a:gd name="T53" fmla="*/ 48 h 51"/>
              <a:gd name="T54" fmla="*/ 3 w 692"/>
              <a:gd name="T55" fmla="*/ 41 h 51"/>
              <a:gd name="T56" fmla="*/ 3 w 692"/>
              <a:gd name="T57" fmla="*/ 34 h 51"/>
              <a:gd name="T58" fmla="*/ 3 w 692"/>
              <a:gd name="T59" fmla="*/ 28 h 51"/>
              <a:gd name="T60" fmla="*/ 3 w 692"/>
              <a:gd name="T61" fmla="*/ 21 h 51"/>
              <a:gd name="T62" fmla="*/ 3 w 692"/>
              <a:gd name="T63" fmla="*/ 14 h 51"/>
              <a:gd name="T64" fmla="*/ 3 w 692"/>
              <a:gd name="T65" fmla="*/ 9 h 51"/>
              <a:gd name="T66" fmla="*/ 3 w 692"/>
              <a:gd name="T67" fmla="*/ 3 h 51"/>
              <a:gd name="T68" fmla="*/ 2 w 69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2" h="51">
                <a:moveTo>
                  <a:pt x="692" y="24"/>
                </a:moveTo>
                <a:lnTo>
                  <a:pt x="692" y="21"/>
                </a:lnTo>
                <a:lnTo>
                  <a:pt x="692" y="18"/>
                </a:lnTo>
                <a:lnTo>
                  <a:pt x="692" y="14"/>
                </a:lnTo>
                <a:lnTo>
                  <a:pt x="692" y="11"/>
                </a:lnTo>
                <a:lnTo>
                  <a:pt x="692" y="9"/>
                </a:lnTo>
                <a:lnTo>
                  <a:pt x="692" y="6"/>
                </a:lnTo>
                <a:lnTo>
                  <a:pt x="692" y="3"/>
                </a:lnTo>
                <a:lnTo>
                  <a:pt x="692" y="0"/>
                </a:lnTo>
                <a:lnTo>
                  <a:pt x="689" y="0"/>
                </a:lnTo>
                <a:lnTo>
                  <a:pt x="689" y="3"/>
                </a:lnTo>
                <a:lnTo>
                  <a:pt x="689" y="6"/>
                </a:lnTo>
                <a:lnTo>
                  <a:pt x="689" y="9"/>
                </a:lnTo>
                <a:lnTo>
                  <a:pt x="689" y="11"/>
                </a:lnTo>
                <a:lnTo>
                  <a:pt x="689" y="14"/>
                </a:lnTo>
                <a:lnTo>
                  <a:pt x="689" y="18"/>
                </a:lnTo>
                <a:lnTo>
                  <a:pt x="689" y="21"/>
                </a:lnTo>
                <a:lnTo>
                  <a:pt x="689" y="24"/>
                </a:lnTo>
                <a:lnTo>
                  <a:pt x="689" y="28"/>
                </a:lnTo>
                <a:lnTo>
                  <a:pt x="689" y="31"/>
                </a:lnTo>
                <a:lnTo>
                  <a:pt x="689" y="34"/>
                </a:lnTo>
                <a:lnTo>
                  <a:pt x="689" y="38"/>
                </a:lnTo>
                <a:lnTo>
                  <a:pt x="689" y="41"/>
                </a:lnTo>
                <a:lnTo>
                  <a:pt x="689" y="44"/>
                </a:lnTo>
                <a:lnTo>
                  <a:pt x="689" y="48"/>
                </a:lnTo>
                <a:lnTo>
                  <a:pt x="689" y="51"/>
                </a:lnTo>
                <a:lnTo>
                  <a:pt x="692" y="51"/>
                </a:lnTo>
                <a:lnTo>
                  <a:pt x="692" y="48"/>
                </a:lnTo>
                <a:lnTo>
                  <a:pt x="692" y="44"/>
                </a:lnTo>
                <a:lnTo>
                  <a:pt x="692" y="41"/>
                </a:lnTo>
                <a:lnTo>
                  <a:pt x="692" y="38"/>
                </a:lnTo>
                <a:lnTo>
                  <a:pt x="692" y="34"/>
                </a:lnTo>
                <a:lnTo>
                  <a:pt x="692" y="31"/>
                </a:lnTo>
                <a:lnTo>
                  <a:pt x="692" y="28"/>
                </a:lnTo>
                <a:lnTo>
                  <a:pt x="69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43" name="Freeform 1648">
            <a:extLst>
              <a:ext uri="{FF2B5EF4-FFF2-40B4-BE49-F238E27FC236}">
                <a16:creationId xmlns:a16="http://schemas.microsoft.com/office/drawing/2014/main" id="{4D631BC4-FB74-4A9D-FC68-F4CE99C8C41A}"/>
              </a:ext>
            </a:extLst>
          </p:cNvPr>
          <p:cNvSpPr>
            <a:spLocks noEditPoints="1"/>
          </p:cNvSpPr>
          <p:nvPr/>
        </p:nvSpPr>
        <p:spPr bwMode="auto">
          <a:xfrm>
            <a:off x="2011363" y="2719388"/>
            <a:ext cx="1093788" cy="80963"/>
          </a:xfrm>
          <a:custGeom>
            <a:avLst/>
            <a:gdLst>
              <a:gd name="T0" fmla="*/ 689 w 689"/>
              <a:gd name="T1" fmla="*/ 21 h 51"/>
              <a:gd name="T2" fmla="*/ 689 w 689"/>
              <a:gd name="T3" fmla="*/ 14 h 51"/>
              <a:gd name="T4" fmla="*/ 689 w 689"/>
              <a:gd name="T5" fmla="*/ 9 h 51"/>
              <a:gd name="T6" fmla="*/ 689 w 689"/>
              <a:gd name="T7" fmla="*/ 3 h 51"/>
              <a:gd name="T8" fmla="*/ 685 w 689"/>
              <a:gd name="T9" fmla="*/ 0 h 51"/>
              <a:gd name="T10" fmla="*/ 685 w 689"/>
              <a:gd name="T11" fmla="*/ 6 h 51"/>
              <a:gd name="T12" fmla="*/ 685 w 689"/>
              <a:gd name="T13" fmla="*/ 11 h 51"/>
              <a:gd name="T14" fmla="*/ 685 w 689"/>
              <a:gd name="T15" fmla="*/ 18 h 51"/>
              <a:gd name="T16" fmla="*/ 685 w 689"/>
              <a:gd name="T17" fmla="*/ 24 h 51"/>
              <a:gd name="T18" fmla="*/ 685 w 689"/>
              <a:gd name="T19" fmla="*/ 31 h 51"/>
              <a:gd name="T20" fmla="*/ 685 w 689"/>
              <a:gd name="T21" fmla="*/ 38 h 51"/>
              <a:gd name="T22" fmla="*/ 685 w 689"/>
              <a:gd name="T23" fmla="*/ 44 h 51"/>
              <a:gd name="T24" fmla="*/ 685 w 689"/>
              <a:gd name="T25" fmla="*/ 51 h 51"/>
              <a:gd name="T26" fmla="*/ 689 w 689"/>
              <a:gd name="T27" fmla="*/ 48 h 51"/>
              <a:gd name="T28" fmla="*/ 689 w 689"/>
              <a:gd name="T29" fmla="*/ 41 h 51"/>
              <a:gd name="T30" fmla="*/ 689 w 689"/>
              <a:gd name="T31" fmla="*/ 34 h 51"/>
              <a:gd name="T32" fmla="*/ 689 w 689"/>
              <a:gd name="T33" fmla="*/ 28 h 51"/>
              <a:gd name="T34" fmla="*/ 1 w 689"/>
              <a:gd name="T35" fmla="*/ 0 h 51"/>
              <a:gd name="T36" fmla="*/ 0 w 689"/>
              <a:gd name="T37" fmla="*/ 6 h 51"/>
              <a:gd name="T38" fmla="*/ 0 w 689"/>
              <a:gd name="T39" fmla="*/ 11 h 51"/>
              <a:gd name="T40" fmla="*/ 0 w 689"/>
              <a:gd name="T41" fmla="*/ 18 h 51"/>
              <a:gd name="T42" fmla="*/ 0 w 689"/>
              <a:gd name="T43" fmla="*/ 24 h 51"/>
              <a:gd name="T44" fmla="*/ 0 w 689"/>
              <a:gd name="T45" fmla="*/ 31 h 51"/>
              <a:gd name="T46" fmla="*/ 0 w 689"/>
              <a:gd name="T47" fmla="*/ 38 h 51"/>
              <a:gd name="T48" fmla="*/ 0 w 689"/>
              <a:gd name="T49" fmla="*/ 44 h 51"/>
              <a:gd name="T50" fmla="*/ 0 w 689"/>
              <a:gd name="T51" fmla="*/ 51 h 51"/>
              <a:gd name="T52" fmla="*/ 3 w 689"/>
              <a:gd name="T53" fmla="*/ 48 h 51"/>
              <a:gd name="T54" fmla="*/ 3 w 689"/>
              <a:gd name="T55" fmla="*/ 41 h 51"/>
              <a:gd name="T56" fmla="*/ 3 w 689"/>
              <a:gd name="T57" fmla="*/ 34 h 51"/>
              <a:gd name="T58" fmla="*/ 3 w 689"/>
              <a:gd name="T59" fmla="*/ 28 h 51"/>
              <a:gd name="T60" fmla="*/ 3 w 689"/>
              <a:gd name="T61" fmla="*/ 21 h 51"/>
              <a:gd name="T62" fmla="*/ 3 w 689"/>
              <a:gd name="T63" fmla="*/ 14 h 51"/>
              <a:gd name="T64" fmla="*/ 3 w 689"/>
              <a:gd name="T65" fmla="*/ 9 h 51"/>
              <a:gd name="T66" fmla="*/ 3 w 689"/>
              <a:gd name="T67" fmla="*/ 3 h 51"/>
              <a:gd name="T68" fmla="*/ 1 w 68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9" h="51">
                <a:moveTo>
                  <a:pt x="689" y="24"/>
                </a:moveTo>
                <a:lnTo>
                  <a:pt x="689" y="21"/>
                </a:lnTo>
                <a:lnTo>
                  <a:pt x="689" y="18"/>
                </a:lnTo>
                <a:lnTo>
                  <a:pt x="689" y="14"/>
                </a:lnTo>
                <a:lnTo>
                  <a:pt x="689" y="11"/>
                </a:lnTo>
                <a:lnTo>
                  <a:pt x="689" y="9"/>
                </a:lnTo>
                <a:lnTo>
                  <a:pt x="689" y="6"/>
                </a:lnTo>
                <a:lnTo>
                  <a:pt x="689" y="3"/>
                </a:lnTo>
                <a:lnTo>
                  <a:pt x="689" y="0"/>
                </a:lnTo>
                <a:lnTo>
                  <a:pt x="685" y="0"/>
                </a:lnTo>
                <a:lnTo>
                  <a:pt x="685" y="3"/>
                </a:lnTo>
                <a:lnTo>
                  <a:pt x="685" y="6"/>
                </a:lnTo>
                <a:lnTo>
                  <a:pt x="685" y="9"/>
                </a:lnTo>
                <a:lnTo>
                  <a:pt x="685" y="11"/>
                </a:lnTo>
                <a:lnTo>
                  <a:pt x="685" y="14"/>
                </a:lnTo>
                <a:lnTo>
                  <a:pt x="685" y="18"/>
                </a:lnTo>
                <a:lnTo>
                  <a:pt x="685" y="21"/>
                </a:lnTo>
                <a:lnTo>
                  <a:pt x="685" y="24"/>
                </a:lnTo>
                <a:lnTo>
                  <a:pt x="685" y="28"/>
                </a:lnTo>
                <a:lnTo>
                  <a:pt x="685" y="31"/>
                </a:lnTo>
                <a:lnTo>
                  <a:pt x="685" y="34"/>
                </a:lnTo>
                <a:lnTo>
                  <a:pt x="685" y="38"/>
                </a:lnTo>
                <a:lnTo>
                  <a:pt x="685" y="41"/>
                </a:lnTo>
                <a:lnTo>
                  <a:pt x="685" y="44"/>
                </a:lnTo>
                <a:lnTo>
                  <a:pt x="685" y="48"/>
                </a:lnTo>
                <a:lnTo>
                  <a:pt x="685" y="51"/>
                </a:lnTo>
                <a:lnTo>
                  <a:pt x="689" y="51"/>
                </a:lnTo>
                <a:lnTo>
                  <a:pt x="689" y="48"/>
                </a:lnTo>
                <a:lnTo>
                  <a:pt x="689" y="44"/>
                </a:lnTo>
                <a:lnTo>
                  <a:pt x="689" y="41"/>
                </a:lnTo>
                <a:lnTo>
                  <a:pt x="689" y="38"/>
                </a:lnTo>
                <a:lnTo>
                  <a:pt x="689" y="34"/>
                </a:lnTo>
                <a:lnTo>
                  <a:pt x="689" y="31"/>
                </a:lnTo>
                <a:lnTo>
                  <a:pt x="689" y="28"/>
                </a:lnTo>
                <a:lnTo>
                  <a:pt x="68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44" name="Freeform 1649">
            <a:extLst>
              <a:ext uri="{FF2B5EF4-FFF2-40B4-BE49-F238E27FC236}">
                <a16:creationId xmlns:a16="http://schemas.microsoft.com/office/drawing/2014/main" id="{28E28C05-1800-0D52-D85D-DCCC4A65CD51}"/>
              </a:ext>
            </a:extLst>
          </p:cNvPr>
          <p:cNvSpPr>
            <a:spLocks noEditPoints="1"/>
          </p:cNvSpPr>
          <p:nvPr/>
        </p:nvSpPr>
        <p:spPr bwMode="auto">
          <a:xfrm>
            <a:off x="2012950" y="2719388"/>
            <a:ext cx="1089025" cy="80963"/>
          </a:xfrm>
          <a:custGeom>
            <a:avLst/>
            <a:gdLst>
              <a:gd name="T0" fmla="*/ 686 w 686"/>
              <a:gd name="T1" fmla="*/ 21 h 51"/>
              <a:gd name="T2" fmla="*/ 686 w 686"/>
              <a:gd name="T3" fmla="*/ 14 h 51"/>
              <a:gd name="T4" fmla="*/ 686 w 686"/>
              <a:gd name="T5" fmla="*/ 9 h 51"/>
              <a:gd name="T6" fmla="*/ 686 w 686"/>
              <a:gd name="T7" fmla="*/ 3 h 51"/>
              <a:gd name="T8" fmla="*/ 683 w 686"/>
              <a:gd name="T9" fmla="*/ 0 h 51"/>
              <a:gd name="T10" fmla="*/ 683 w 686"/>
              <a:gd name="T11" fmla="*/ 6 h 51"/>
              <a:gd name="T12" fmla="*/ 683 w 686"/>
              <a:gd name="T13" fmla="*/ 11 h 51"/>
              <a:gd name="T14" fmla="*/ 683 w 686"/>
              <a:gd name="T15" fmla="*/ 18 h 51"/>
              <a:gd name="T16" fmla="*/ 683 w 686"/>
              <a:gd name="T17" fmla="*/ 24 h 51"/>
              <a:gd name="T18" fmla="*/ 683 w 686"/>
              <a:gd name="T19" fmla="*/ 31 h 51"/>
              <a:gd name="T20" fmla="*/ 683 w 686"/>
              <a:gd name="T21" fmla="*/ 38 h 51"/>
              <a:gd name="T22" fmla="*/ 683 w 686"/>
              <a:gd name="T23" fmla="*/ 44 h 51"/>
              <a:gd name="T24" fmla="*/ 683 w 686"/>
              <a:gd name="T25" fmla="*/ 51 h 51"/>
              <a:gd name="T26" fmla="*/ 686 w 686"/>
              <a:gd name="T27" fmla="*/ 48 h 51"/>
              <a:gd name="T28" fmla="*/ 686 w 686"/>
              <a:gd name="T29" fmla="*/ 41 h 51"/>
              <a:gd name="T30" fmla="*/ 686 w 686"/>
              <a:gd name="T31" fmla="*/ 34 h 51"/>
              <a:gd name="T32" fmla="*/ 686 w 686"/>
              <a:gd name="T33" fmla="*/ 28 h 51"/>
              <a:gd name="T34" fmla="*/ 2 w 686"/>
              <a:gd name="T35" fmla="*/ 0 h 51"/>
              <a:gd name="T36" fmla="*/ 0 w 686"/>
              <a:gd name="T37" fmla="*/ 6 h 51"/>
              <a:gd name="T38" fmla="*/ 0 w 686"/>
              <a:gd name="T39" fmla="*/ 11 h 51"/>
              <a:gd name="T40" fmla="*/ 0 w 686"/>
              <a:gd name="T41" fmla="*/ 18 h 51"/>
              <a:gd name="T42" fmla="*/ 0 w 686"/>
              <a:gd name="T43" fmla="*/ 24 h 51"/>
              <a:gd name="T44" fmla="*/ 0 w 686"/>
              <a:gd name="T45" fmla="*/ 31 h 51"/>
              <a:gd name="T46" fmla="*/ 0 w 686"/>
              <a:gd name="T47" fmla="*/ 38 h 51"/>
              <a:gd name="T48" fmla="*/ 0 w 686"/>
              <a:gd name="T49" fmla="*/ 44 h 51"/>
              <a:gd name="T50" fmla="*/ 0 w 686"/>
              <a:gd name="T51" fmla="*/ 51 h 51"/>
              <a:gd name="T52" fmla="*/ 4 w 686"/>
              <a:gd name="T53" fmla="*/ 48 h 51"/>
              <a:gd name="T54" fmla="*/ 4 w 686"/>
              <a:gd name="T55" fmla="*/ 41 h 51"/>
              <a:gd name="T56" fmla="*/ 4 w 686"/>
              <a:gd name="T57" fmla="*/ 34 h 51"/>
              <a:gd name="T58" fmla="*/ 4 w 686"/>
              <a:gd name="T59" fmla="*/ 28 h 51"/>
              <a:gd name="T60" fmla="*/ 4 w 686"/>
              <a:gd name="T61" fmla="*/ 21 h 51"/>
              <a:gd name="T62" fmla="*/ 4 w 686"/>
              <a:gd name="T63" fmla="*/ 14 h 51"/>
              <a:gd name="T64" fmla="*/ 4 w 686"/>
              <a:gd name="T65" fmla="*/ 9 h 51"/>
              <a:gd name="T66" fmla="*/ 4 w 686"/>
              <a:gd name="T67" fmla="*/ 3 h 51"/>
              <a:gd name="T68" fmla="*/ 2 w 6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6" h="51">
                <a:moveTo>
                  <a:pt x="686" y="24"/>
                </a:moveTo>
                <a:lnTo>
                  <a:pt x="686" y="21"/>
                </a:lnTo>
                <a:lnTo>
                  <a:pt x="686" y="18"/>
                </a:lnTo>
                <a:lnTo>
                  <a:pt x="686" y="14"/>
                </a:lnTo>
                <a:lnTo>
                  <a:pt x="686" y="11"/>
                </a:lnTo>
                <a:lnTo>
                  <a:pt x="686" y="9"/>
                </a:lnTo>
                <a:lnTo>
                  <a:pt x="686" y="6"/>
                </a:lnTo>
                <a:lnTo>
                  <a:pt x="686" y="3"/>
                </a:lnTo>
                <a:lnTo>
                  <a:pt x="686" y="0"/>
                </a:lnTo>
                <a:lnTo>
                  <a:pt x="683" y="0"/>
                </a:lnTo>
                <a:lnTo>
                  <a:pt x="683" y="3"/>
                </a:lnTo>
                <a:lnTo>
                  <a:pt x="683" y="6"/>
                </a:lnTo>
                <a:lnTo>
                  <a:pt x="683" y="9"/>
                </a:lnTo>
                <a:lnTo>
                  <a:pt x="683" y="11"/>
                </a:lnTo>
                <a:lnTo>
                  <a:pt x="683" y="14"/>
                </a:lnTo>
                <a:lnTo>
                  <a:pt x="683" y="18"/>
                </a:lnTo>
                <a:lnTo>
                  <a:pt x="683" y="21"/>
                </a:lnTo>
                <a:lnTo>
                  <a:pt x="683" y="24"/>
                </a:lnTo>
                <a:lnTo>
                  <a:pt x="683" y="28"/>
                </a:lnTo>
                <a:lnTo>
                  <a:pt x="683" y="31"/>
                </a:lnTo>
                <a:lnTo>
                  <a:pt x="683" y="34"/>
                </a:lnTo>
                <a:lnTo>
                  <a:pt x="683" y="38"/>
                </a:lnTo>
                <a:lnTo>
                  <a:pt x="683" y="41"/>
                </a:lnTo>
                <a:lnTo>
                  <a:pt x="683" y="44"/>
                </a:lnTo>
                <a:lnTo>
                  <a:pt x="683" y="48"/>
                </a:lnTo>
                <a:lnTo>
                  <a:pt x="683" y="51"/>
                </a:lnTo>
                <a:lnTo>
                  <a:pt x="686" y="51"/>
                </a:lnTo>
                <a:lnTo>
                  <a:pt x="686" y="48"/>
                </a:lnTo>
                <a:lnTo>
                  <a:pt x="686" y="44"/>
                </a:lnTo>
                <a:lnTo>
                  <a:pt x="686" y="41"/>
                </a:lnTo>
                <a:lnTo>
                  <a:pt x="686" y="38"/>
                </a:lnTo>
                <a:lnTo>
                  <a:pt x="686" y="34"/>
                </a:lnTo>
                <a:lnTo>
                  <a:pt x="686" y="31"/>
                </a:lnTo>
                <a:lnTo>
                  <a:pt x="686" y="28"/>
                </a:lnTo>
                <a:lnTo>
                  <a:pt x="68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45" name="Freeform 1650">
            <a:extLst>
              <a:ext uri="{FF2B5EF4-FFF2-40B4-BE49-F238E27FC236}">
                <a16:creationId xmlns:a16="http://schemas.microsoft.com/office/drawing/2014/main" id="{7DAC2492-D015-50D4-AD28-3C40AC6297A1}"/>
              </a:ext>
            </a:extLst>
          </p:cNvPr>
          <p:cNvSpPr>
            <a:spLocks noEditPoints="1"/>
          </p:cNvSpPr>
          <p:nvPr/>
        </p:nvSpPr>
        <p:spPr bwMode="auto">
          <a:xfrm>
            <a:off x="2016125" y="2719388"/>
            <a:ext cx="1082675" cy="80963"/>
          </a:xfrm>
          <a:custGeom>
            <a:avLst/>
            <a:gdLst>
              <a:gd name="T0" fmla="*/ 682 w 682"/>
              <a:gd name="T1" fmla="*/ 21 h 51"/>
              <a:gd name="T2" fmla="*/ 682 w 682"/>
              <a:gd name="T3" fmla="*/ 14 h 51"/>
              <a:gd name="T4" fmla="*/ 682 w 682"/>
              <a:gd name="T5" fmla="*/ 9 h 51"/>
              <a:gd name="T6" fmla="*/ 682 w 682"/>
              <a:gd name="T7" fmla="*/ 3 h 51"/>
              <a:gd name="T8" fmla="*/ 679 w 682"/>
              <a:gd name="T9" fmla="*/ 0 h 51"/>
              <a:gd name="T10" fmla="*/ 679 w 682"/>
              <a:gd name="T11" fmla="*/ 6 h 51"/>
              <a:gd name="T12" fmla="*/ 679 w 682"/>
              <a:gd name="T13" fmla="*/ 11 h 51"/>
              <a:gd name="T14" fmla="*/ 679 w 682"/>
              <a:gd name="T15" fmla="*/ 18 h 51"/>
              <a:gd name="T16" fmla="*/ 679 w 682"/>
              <a:gd name="T17" fmla="*/ 24 h 51"/>
              <a:gd name="T18" fmla="*/ 679 w 682"/>
              <a:gd name="T19" fmla="*/ 31 h 51"/>
              <a:gd name="T20" fmla="*/ 679 w 682"/>
              <a:gd name="T21" fmla="*/ 38 h 51"/>
              <a:gd name="T22" fmla="*/ 679 w 682"/>
              <a:gd name="T23" fmla="*/ 44 h 51"/>
              <a:gd name="T24" fmla="*/ 679 w 682"/>
              <a:gd name="T25" fmla="*/ 51 h 51"/>
              <a:gd name="T26" fmla="*/ 682 w 682"/>
              <a:gd name="T27" fmla="*/ 48 h 51"/>
              <a:gd name="T28" fmla="*/ 682 w 682"/>
              <a:gd name="T29" fmla="*/ 41 h 51"/>
              <a:gd name="T30" fmla="*/ 682 w 682"/>
              <a:gd name="T31" fmla="*/ 34 h 51"/>
              <a:gd name="T32" fmla="*/ 682 w 682"/>
              <a:gd name="T33" fmla="*/ 28 h 51"/>
              <a:gd name="T34" fmla="*/ 2 w 682"/>
              <a:gd name="T35" fmla="*/ 0 h 51"/>
              <a:gd name="T36" fmla="*/ 0 w 682"/>
              <a:gd name="T37" fmla="*/ 6 h 51"/>
              <a:gd name="T38" fmla="*/ 0 w 682"/>
              <a:gd name="T39" fmla="*/ 11 h 51"/>
              <a:gd name="T40" fmla="*/ 0 w 682"/>
              <a:gd name="T41" fmla="*/ 18 h 51"/>
              <a:gd name="T42" fmla="*/ 0 w 682"/>
              <a:gd name="T43" fmla="*/ 24 h 51"/>
              <a:gd name="T44" fmla="*/ 0 w 682"/>
              <a:gd name="T45" fmla="*/ 31 h 51"/>
              <a:gd name="T46" fmla="*/ 0 w 682"/>
              <a:gd name="T47" fmla="*/ 38 h 51"/>
              <a:gd name="T48" fmla="*/ 0 w 682"/>
              <a:gd name="T49" fmla="*/ 44 h 51"/>
              <a:gd name="T50" fmla="*/ 0 w 682"/>
              <a:gd name="T51" fmla="*/ 51 h 51"/>
              <a:gd name="T52" fmla="*/ 3 w 682"/>
              <a:gd name="T53" fmla="*/ 48 h 51"/>
              <a:gd name="T54" fmla="*/ 3 w 682"/>
              <a:gd name="T55" fmla="*/ 41 h 51"/>
              <a:gd name="T56" fmla="*/ 3 w 682"/>
              <a:gd name="T57" fmla="*/ 34 h 51"/>
              <a:gd name="T58" fmla="*/ 3 w 682"/>
              <a:gd name="T59" fmla="*/ 28 h 51"/>
              <a:gd name="T60" fmla="*/ 3 w 682"/>
              <a:gd name="T61" fmla="*/ 21 h 51"/>
              <a:gd name="T62" fmla="*/ 3 w 682"/>
              <a:gd name="T63" fmla="*/ 14 h 51"/>
              <a:gd name="T64" fmla="*/ 3 w 682"/>
              <a:gd name="T65" fmla="*/ 9 h 51"/>
              <a:gd name="T66" fmla="*/ 3 w 682"/>
              <a:gd name="T67" fmla="*/ 3 h 51"/>
              <a:gd name="T68" fmla="*/ 2 w 68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2" h="51">
                <a:moveTo>
                  <a:pt x="682" y="24"/>
                </a:moveTo>
                <a:lnTo>
                  <a:pt x="682" y="21"/>
                </a:lnTo>
                <a:lnTo>
                  <a:pt x="682" y="18"/>
                </a:lnTo>
                <a:lnTo>
                  <a:pt x="682" y="14"/>
                </a:lnTo>
                <a:lnTo>
                  <a:pt x="682" y="11"/>
                </a:lnTo>
                <a:lnTo>
                  <a:pt x="682" y="9"/>
                </a:lnTo>
                <a:lnTo>
                  <a:pt x="682" y="6"/>
                </a:lnTo>
                <a:lnTo>
                  <a:pt x="682" y="3"/>
                </a:lnTo>
                <a:lnTo>
                  <a:pt x="682" y="0"/>
                </a:lnTo>
                <a:lnTo>
                  <a:pt x="679" y="0"/>
                </a:lnTo>
                <a:lnTo>
                  <a:pt x="679" y="3"/>
                </a:lnTo>
                <a:lnTo>
                  <a:pt x="679" y="6"/>
                </a:lnTo>
                <a:lnTo>
                  <a:pt x="679" y="9"/>
                </a:lnTo>
                <a:lnTo>
                  <a:pt x="679" y="11"/>
                </a:lnTo>
                <a:lnTo>
                  <a:pt x="679" y="14"/>
                </a:lnTo>
                <a:lnTo>
                  <a:pt x="679" y="18"/>
                </a:lnTo>
                <a:lnTo>
                  <a:pt x="679" y="21"/>
                </a:lnTo>
                <a:lnTo>
                  <a:pt x="679" y="24"/>
                </a:lnTo>
                <a:lnTo>
                  <a:pt x="679" y="28"/>
                </a:lnTo>
                <a:lnTo>
                  <a:pt x="679" y="31"/>
                </a:lnTo>
                <a:lnTo>
                  <a:pt x="679" y="34"/>
                </a:lnTo>
                <a:lnTo>
                  <a:pt x="679" y="38"/>
                </a:lnTo>
                <a:lnTo>
                  <a:pt x="679" y="41"/>
                </a:lnTo>
                <a:lnTo>
                  <a:pt x="679" y="44"/>
                </a:lnTo>
                <a:lnTo>
                  <a:pt x="679" y="48"/>
                </a:lnTo>
                <a:lnTo>
                  <a:pt x="679" y="51"/>
                </a:lnTo>
                <a:lnTo>
                  <a:pt x="682" y="51"/>
                </a:lnTo>
                <a:lnTo>
                  <a:pt x="682" y="48"/>
                </a:lnTo>
                <a:lnTo>
                  <a:pt x="682" y="44"/>
                </a:lnTo>
                <a:lnTo>
                  <a:pt x="682" y="41"/>
                </a:lnTo>
                <a:lnTo>
                  <a:pt x="682" y="38"/>
                </a:lnTo>
                <a:lnTo>
                  <a:pt x="682" y="34"/>
                </a:lnTo>
                <a:lnTo>
                  <a:pt x="682" y="31"/>
                </a:lnTo>
                <a:lnTo>
                  <a:pt x="682" y="28"/>
                </a:lnTo>
                <a:lnTo>
                  <a:pt x="68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46" name="Freeform 1651">
            <a:extLst>
              <a:ext uri="{FF2B5EF4-FFF2-40B4-BE49-F238E27FC236}">
                <a16:creationId xmlns:a16="http://schemas.microsoft.com/office/drawing/2014/main" id="{BB5CAF65-BC2C-9182-F534-9D92D8EBEFE8}"/>
              </a:ext>
            </a:extLst>
          </p:cNvPr>
          <p:cNvSpPr>
            <a:spLocks noEditPoints="1"/>
          </p:cNvSpPr>
          <p:nvPr/>
        </p:nvSpPr>
        <p:spPr bwMode="auto">
          <a:xfrm>
            <a:off x="2019300" y="2719388"/>
            <a:ext cx="1077913" cy="80963"/>
          </a:xfrm>
          <a:custGeom>
            <a:avLst/>
            <a:gdLst>
              <a:gd name="T0" fmla="*/ 679 w 679"/>
              <a:gd name="T1" fmla="*/ 21 h 51"/>
              <a:gd name="T2" fmla="*/ 679 w 679"/>
              <a:gd name="T3" fmla="*/ 14 h 51"/>
              <a:gd name="T4" fmla="*/ 679 w 679"/>
              <a:gd name="T5" fmla="*/ 9 h 51"/>
              <a:gd name="T6" fmla="*/ 679 w 679"/>
              <a:gd name="T7" fmla="*/ 3 h 51"/>
              <a:gd name="T8" fmla="*/ 675 w 679"/>
              <a:gd name="T9" fmla="*/ 0 h 51"/>
              <a:gd name="T10" fmla="*/ 675 w 679"/>
              <a:gd name="T11" fmla="*/ 6 h 51"/>
              <a:gd name="T12" fmla="*/ 675 w 679"/>
              <a:gd name="T13" fmla="*/ 11 h 51"/>
              <a:gd name="T14" fmla="*/ 675 w 679"/>
              <a:gd name="T15" fmla="*/ 18 h 51"/>
              <a:gd name="T16" fmla="*/ 675 w 679"/>
              <a:gd name="T17" fmla="*/ 24 h 51"/>
              <a:gd name="T18" fmla="*/ 675 w 679"/>
              <a:gd name="T19" fmla="*/ 31 h 51"/>
              <a:gd name="T20" fmla="*/ 675 w 679"/>
              <a:gd name="T21" fmla="*/ 38 h 51"/>
              <a:gd name="T22" fmla="*/ 675 w 679"/>
              <a:gd name="T23" fmla="*/ 44 h 51"/>
              <a:gd name="T24" fmla="*/ 675 w 679"/>
              <a:gd name="T25" fmla="*/ 51 h 51"/>
              <a:gd name="T26" fmla="*/ 679 w 679"/>
              <a:gd name="T27" fmla="*/ 48 h 51"/>
              <a:gd name="T28" fmla="*/ 679 w 679"/>
              <a:gd name="T29" fmla="*/ 41 h 51"/>
              <a:gd name="T30" fmla="*/ 679 w 679"/>
              <a:gd name="T31" fmla="*/ 34 h 51"/>
              <a:gd name="T32" fmla="*/ 679 w 679"/>
              <a:gd name="T33" fmla="*/ 28 h 51"/>
              <a:gd name="T34" fmla="*/ 1 w 679"/>
              <a:gd name="T35" fmla="*/ 0 h 51"/>
              <a:gd name="T36" fmla="*/ 0 w 679"/>
              <a:gd name="T37" fmla="*/ 6 h 51"/>
              <a:gd name="T38" fmla="*/ 0 w 679"/>
              <a:gd name="T39" fmla="*/ 11 h 51"/>
              <a:gd name="T40" fmla="*/ 0 w 679"/>
              <a:gd name="T41" fmla="*/ 18 h 51"/>
              <a:gd name="T42" fmla="*/ 0 w 679"/>
              <a:gd name="T43" fmla="*/ 24 h 51"/>
              <a:gd name="T44" fmla="*/ 0 w 679"/>
              <a:gd name="T45" fmla="*/ 31 h 51"/>
              <a:gd name="T46" fmla="*/ 0 w 679"/>
              <a:gd name="T47" fmla="*/ 38 h 51"/>
              <a:gd name="T48" fmla="*/ 0 w 679"/>
              <a:gd name="T49" fmla="*/ 44 h 51"/>
              <a:gd name="T50" fmla="*/ 0 w 679"/>
              <a:gd name="T51" fmla="*/ 51 h 51"/>
              <a:gd name="T52" fmla="*/ 3 w 679"/>
              <a:gd name="T53" fmla="*/ 48 h 51"/>
              <a:gd name="T54" fmla="*/ 3 w 679"/>
              <a:gd name="T55" fmla="*/ 41 h 51"/>
              <a:gd name="T56" fmla="*/ 3 w 679"/>
              <a:gd name="T57" fmla="*/ 34 h 51"/>
              <a:gd name="T58" fmla="*/ 3 w 679"/>
              <a:gd name="T59" fmla="*/ 28 h 51"/>
              <a:gd name="T60" fmla="*/ 3 w 679"/>
              <a:gd name="T61" fmla="*/ 21 h 51"/>
              <a:gd name="T62" fmla="*/ 3 w 679"/>
              <a:gd name="T63" fmla="*/ 14 h 51"/>
              <a:gd name="T64" fmla="*/ 3 w 679"/>
              <a:gd name="T65" fmla="*/ 9 h 51"/>
              <a:gd name="T66" fmla="*/ 3 w 679"/>
              <a:gd name="T67" fmla="*/ 3 h 51"/>
              <a:gd name="T68" fmla="*/ 1 w 67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9" h="51">
                <a:moveTo>
                  <a:pt x="679" y="24"/>
                </a:moveTo>
                <a:lnTo>
                  <a:pt x="679" y="21"/>
                </a:lnTo>
                <a:lnTo>
                  <a:pt x="679" y="18"/>
                </a:lnTo>
                <a:lnTo>
                  <a:pt x="679" y="14"/>
                </a:lnTo>
                <a:lnTo>
                  <a:pt x="679" y="11"/>
                </a:lnTo>
                <a:lnTo>
                  <a:pt x="679" y="9"/>
                </a:lnTo>
                <a:lnTo>
                  <a:pt x="679" y="6"/>
                </a:lnTo>
                <a:lnTo>
                  <a:pt x="679" y="3"/>
                </a:lnTo>
                <a:lnTo>
                  <a:pt x="679" y="0"/>
                </a:lnTo>
                <a:lnTo>
                  <a:pt x="675" y="0"/>
                </a:lnTo>
                <a:lnTo>
                  <a:pt x="675" y="3"/>
                </a:lnTo>
                <a:lnTo>
                  <a:pt x="675" y="6"/>
                </a:lnTo>
                <a:lnTo>
                  <a:pt x="675" y="9"/>
                </a:lnTo>
                <a:lnTo>
                  <a:pt x="675" y="11"/>
                </a:lnTo>
                <a:lnTo>
                  <a:pt x="675" y="14"/>
                </a:lnTo>
                <a:lnTo>
                  <a:pt x="675" y="18"/>
                </a:lnTo>
                <a:lnTo>
                  <a:pt x="675" y="21"/>
                </a:lnTo>
                <a:lnTo>
                  <a:pt x="675" y="24"/>
                </a:lnTo>
                <a:lnTo>
                  <a:pt x="675" y="28"/>
                </a:lnTo>
                <a:lnTo>
                  <a:pt x="675" y="31"/>
                </a:lnTo>
                <a:lnTo>
                  <a:pt x="675" y="34"/>
                </a:lnTo>
                <a:lnTo>
                  <a:pt x="675" y="38"/>
                </a:lnTo>
                <a:lnTo>
                  <a:pt x="675" y="41"/>
                </a:lnTo>
                <a:lnTo>
                  <a:pt x="675" y="44"/>
                </a:lnTo>
                <a:lnTo>
                  <a:pt x="675" y="48"/>
                </a:lnTo>
                <a:lnTo>
                  <a:pt x="675" y="51"/>
                </a:lnTo>
                <a:lnTo>
                  <a:pt x="679" y="51"/>
                </a:lnTo>
                <a:lnTo>
                  <a:pt x="679" y="48"/>
                </a:lnTo>
                <a:lnTo>
                  <a:pt x="679" y="44"/>
                </a:lnTo>
                <a:lnTo>
                  <a:pt x="679" y="41"/>
                </a:lnTo>
                <a:lnTo>
                  <a:pt x="679" y="38"/>
                </a:lnTo>
                <a:lnTo>
                  <a:pt x="679" y="34"/>
                </a:lnTo>
                <a:lnTo>
                  <a:pt x="679" y="31"/>
                </a:lnTo>
                <a:lnTo>
                  <a:pt x="679" y="28"/>
                </a:lnTo>
                <a:lnTo>
                  <a:pt x="67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47" name="Freeform 1652">
            <a:extLst>
              <a:ext uri="{FF2B5EF4-FFF2-40B4-BE49-F238E27FC236}">
                <a16:creationId xmlns:a16="http://schemas.microsoft.com/office/drawing/2014/main" id="{80BC98CC-18E5-8162-CB0B-8DDDA0746A08}"/>
              </a:ext>
            </a:extLst>
          </p:cNvPr>
          <p:cNvSpPr>
            <a:spLocks noEditPoints="1"/>
          </p:cNvSpPr>
          <p:nvPr/>
        </p:nvSpPr>
        <p:spPr bwMode="auto">
          <a:xfrm>
            <a:off x="2020888" y="2719388"/>
            <a:ext cx="1073150" cy="80963"/>
          </a:xfrm>
          <a:custGeom>
            <a:avLst/>
            <a:gdLst>
              <a:gd name="T0" fmla="*/ 676 w 676"/>
              <a:gd name="T1" fmla="*/ 21 h 51"/>
              <a:gd name="T2" fmla="*/ 676 w 676"/>
              <a:gd name="T3" fmla="*/ 14 h 51"/>
              <a:gd name="T4" fmla="*/ 676 w 676"/>
              <a:gd name="T5" fmla="*/ 9 h 51"/>
              <a:gd name="T6" fmla="*/ 676 w 676"/>
              <a:gd name="T7" fmla="*/ 3 h 51"/>
              <a:gd name="T8" fmla="*/ 673 w 676"/>
              <a:gd name="T9" fmla="*/ 0 h 51"/>
              <a:gd name="T10" fmla="*/ 673 w 676"/>
              <a:gd name="T11" fmla="*/ 6 h 51"/>
              <a:gd name="T12" fmla="*/ 673 w 676"/>
              <a:gd name="T13" fmla="*/ 11 h 51"/>
              <a:gd name="T14" fmla="*/ 673 w 676"/>
              <a:gd name="T15" fmla="*/ 18 h 51"/>
              <a:gd name="T16" fmla="*/ 673 w 676"/>
              <a:gd name="T17" fmla="*/ 24 h 51"/>
              <a:gd name="T18" fmla="*/ 673 w 676"/>
              <a:gd name="T19" fmla="*/ 31 h 51"/>
              <a:gd name="T20" fmla="*/ 673 w 676"/>
              <a:gd name="T21" fmla="*/ 38 h 51"/>
              <a:gd name="T22" fmla="*/ 673 w 676"/>
              <a:gd name="T23" fmla="*/ 44 h 51"/>
              <a:gd name="T24" fmla="*/ 673 w 676"/>
              <a:gd name="T25" fmla="*/ 51 h 51"/>
              <a:gd name="T26" fmla="*/ 676 w 676"/>
              <a:gd name="T27" fmla="*/ 48 h 51"/>
              <a:gd name="T28" fmla="*/ 676 w 676"/>
              <a:gd name="T29" fmla="*/ 41 h 51"/>
              <a:gd name="T30" fmla="*/ 676 w 676"/>
              <a:gd name="T31" fmla="*/ 34 h 51"/>
              <a:gd name="T32" fmla="*/ 676 w 676"/>
              <a:gd name="T33" fmla="*/ 28 h 51"/>
              <a:gd name="T34" fmla="*/ 2 w 676"/>
              <a:gd name="T35" fmla="*/ 0 h 51"/>
              <a:gd name="T36" fmla="*/ 0 w 676"/>
              <a:gd name="T37" fmla="*/ 6 h 51"/>
              <a:gd name="T38" fmla="*/ 0 w 676"/>
              <a:gd name="T39" fmla="*/ 11 h 51"/>
              <a:gd name="T40" fmla="*/ 0 w 676"/>
              <a:gd name="T41" fmla="*/ 18 h 51"/>
              <a:gd name="T42" fmla="*/ 0 w 676"/>
              <a:gd name="T43" fmla="*/ 24 h 51"/>
              <a:gd name="T44" fmla="*/ 0 w 676"/>
              <a:gd name="T45" fmla="*/ 31 h 51"/>
              <a:gd name="T46" fmla="*/ 0 w 676"/>
              <a:gd name="T47" fmla="*/ 38 h 51"/>
              <a:gd name="T48" fmla="*/ 0 w 676"/>
              <a:gd name="T49" fmla="*/ 44 h 51"/>
              <a:gd name="T50" fmla="*/ 0 w 676"/>
              <a:gd name="T51" fmla="*/ 51 h 51"/>
              <a:gd name="T52" fmla="*/ 4 w 676"/>
              <a:gd name="T53" fmla="*/ 48 h 51"/>
              <a:gd name="T54" fmla="*/ 4 w 676"/>
              <a:gd name="T55" fmla="*/ 41 h 51"/>
              <a:gd name="T56" fmla="*/ 4 w 676"/>
              <a:gd name="T57" fmla="*/ 34 h 51"/>
              <a:gd name="T58" fmla="*/ 4 w 676"/>
              <a:gd name="T59" fmla="*/ 28 h 51"/>
              <a:gd name="T60" fmla="*/ 4 w 676"/>
              <a:gd name="T61" fmla="*/ 21 h 51"/>
              <a:gd name="T62" fmla="*/ 4 w 676"/>
              <a:gd name="T63" fmla="*/ 14 h 51"/>
              <a:gd name="T64" fmla="*/ 4 w 676"/>
              <a:gd name="T65" fmla="*/ 9 h 51"/>
              <a:gd name="T66" fmla="*/ 4 w 676"/>
              <a:gd name="T67" fmla="*/ 3 h 51"/>
              <a:gd name="T68" fmla="*/ 2 w 6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6" h="51">
                <a:moveTo>
                  <a:pt x="676" y="24"/>
                </a:moveTo>
                <a:lnTo>
                  <a:pt x="676" y="21"/>
                </a:lnTo>
                <a:lnTo>
                  <a:pt x="676" y="18"/>
                </a:lnTo>
                <a:lnTo>
                  <a:pt x="676" y="14"/>
                </a:lnTo>
                <a:lnTo>
                  <a:pt x="676" y="11"/>
                </a:lnTo>
                <a:lnTo>
                  <a:pt x="676" y="9"/>
                </a:lnTo>
                <a:lnTo>
                  <a:pt x="676" y="6"/>
                </a:lnTo>
                <a:lnTo>
                  <a:pt x="676" y="3"/>
                </a:lnTo>
                <a:lnTo>
                  <a:pt x="676" y="0"/>
                </a:lnTo>
                <a:lnTo>
                  <a:pt x="673" y="0"/>
                </a:lnTo>
                <a:lnTo>
                  <a:pt x="673" y="3"/>
                </a:lnTo>
                <a:lnTo>
                  <a:pt x="673" y="6"/>
                </a:lnTo>
                <a:lnTo>
                  <a:pt x="673" y="9"/>
                </a:lnTo>
                <a:lnTo>
                  <a:pt x="673" y="11"/>
                </a:lnTo>
                <a:lnTo>
                  <a:pt x="673" y="14"/>
                </a:lnTo>
                <a:lnTo>
                  <a:pt x="673" y="18"/>
                </a:lnTo>
                <a:lnTo>
                  <a:pt x="673" y="21"/>
                </a:lnTo>
                <a:lnTo>
                  <a:pt x="673" y="24"/>
                </a:lnTo>
                <a:lnTo>
                  <a:pt x="673" y="28"/>
                </a:lnTo>
                <a:lnTo>
                  <a:pt x="673" y="31"/>
                </a:lnTo>
                <a:lnTo>
                  <a:pt x="673" y="34"/>
                </a:lnTo>
                <a:lnTo>
                  <a:pt x="673" y="38"/>
                </a:lnTo>
                <a:lnTo>
                  <a:pt x="673" y="41"/>
                </a:lnTo>
                <a:lnTo>
                  <a:pt x="673" y="44"/>
                </a:lnTo>
                <a:lnTo>
                  <a:pt x="673" y="48"/>
                </a:lnTo>
                <a:lnTo>
                  <a:pt x="673" y="51"/>
                </a:lnTo>
                <a:lnTo>
                  <a:pt x="676" y="51"/>
                </a:lnTo>
                <a:lnTo>
                  <a:pt x="676" y="48"/>
                </a:lnTo>
                <a:lnTo>
                  <a:pt x="676" y="44"/>
                </a:lnTo>
                <a:lnTo>
                  <a:pt x="676" y="41"/>
                </a:lnTo>
                <a:lnTo>
                  <a:pt x="676" y="38"/>
                </a:lnTo>
                <a:lnTo>
                  <a:pt x="676" y="34"/>
                </a:lnTo>
                <a:lnTo>
                  <a:pt x="676" y="31"/>
                </a:lnTo>
                <a:lnTo>
                  <a:pt x="676" y="28"/>
                </a:lnTo>
                <a:lnTo>
                  <a:pt x="67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48" name="Freeform 1653">
            <a:extLst>
              <a:ext uri="{FF2B5EF4-FFF2-40B4-BE49-F238E27FC236}">
                <a16:creationId xmlns:a16="http://schemas.microsoft.com/office/drawing/2014/main" id="{6F535700-26E1-C606-0093-6112A36E2902}"/>
              </a:ext>
            </a:extLst>
          </p:cNvPr>
          <p:cNvSpPr>
            <a:spLocks noEditPoints="1"/>
          </p:cNvSpPr>
          <p:nvPr/>
        </p:nvSpPr>
        <p:spPr bwMode="auto">
          <a:xfrm>
            <a:off x="2024063" y="2719388"/>
            <a:ext cx="1066800" cy="80963"/>
          </a:xfrm>
          <a:custGeom>
            <a:avLst/>
            <a:gdLst>
              <a:gd name="T0" fmla="*/ 672 w 672"/>
              <a:gd name="T1" fmla="*/ 21 h 51"/>
              <a:gd name="T2" fmla="*/ 672 w 672"/>
              <a:gd name="T3" fmla="*/ 14 h 51"/>
              <a:gd name="T4" fmla="*/ 672 w 672"/>
              <a:gd name="T5" fmla="*/ 9 h 51"/>
              <a:gd name="T6" fmla="*/ 672 w 672"/>
              <a:gd name="T7" fmla="*/ 3 h 51"/>
              <a:gd name="T8" fmla="*/ 669 w 672"/>
              <a:gd name="T9" fmla="*/ 0 h 51"/>
              <a:gd name="T10" fmla="*/ 669 w 672"/>
              <a:gd name="T11" fmla="*/ 6 h 51"/>
              <a:gd name="T12" fmla="*/ 669 w 672"/>
              <a:gd name="T13" fmla="*/ 11 h 51"/>
              <a:gd name="T14" fmla="*/ 669 w 672"/>
              <a:gd name="T15" fmla="*/ 18 h 51"/>
              <a:gd name="T16" fmla="*/ 669 w 672"/>
              <a:gd name="T17" fmla="*/ 24 h 51"/>
              <a:gd name="T18" fmla="*/ 669 w 672"/>
              <a:gd name="T19" fmla="*/ 31 h 51"/>
              <a:gd name="T20" fmla="*/ 669 w 672"/>
              <a:gd name="T21" fmla="*/ 38 h 51"/>
              <a:gd name="T22" fmla="*/ 669 w 672"/>
              <a:gd name="T23" fmla="*/ 44 h 51"/>
              <a:gd name="T24" fmla="*/ 669 w 672"/>
              <a:gd name="T25" fmla="*/ 51 h 51"/>
              <a:gd name="T26" fmla="*/ 672 w 672"/>
              <a:gd name="T27" fmla="*/ 48 h 51"/>
              <a:gd name="T28" fmla="*/ 672 w 672"/>
              <a:gd name="T29" fmla="*/ 41 h 51"/>
              <a:gd name="T30" fmla="*/ 672 w 672"/>
              <a:gd name="T31" fmla="*/ 34 h 51"/>
              <a:gd name="T32" fmla="*/ 672 w 672"/>
              <a:gd name="T33" fmla="*/ 28 h 51"/>
              <a:gd name="T34" fmla="*/ 2 w 672"/>
              <a:gd name="T35" fmla="*/ 0 h 51"/>
              <a:gd name="T36" fmla="*/ 0 w 672"/>
              <a:gd name="T37" fmla="*/ 6 h 51"/>
              <a:gd name="T38" fmla="*/ 0 w 672"/>
              <a:gd name="T39" fmla="*/ 11 h 51"/>
              <a:gd name="T40" fmla="*/ 0 w 672"/>
              <a:gd name="T41" fmla="*/ 18 h 51"/>
              <a:gd name="T42" fmla="*/ 0 w 672"/>
              <a:gd name="T43" fmla="*/ 24 h 51"/>
              <a:gd name="T44" fmla="*/ 0 w 672"/>
              <a:gd name="T45" fmla="*/ 31 h 51"/>
              <a:gd name="T46" fmla="*/ 0 w 672"/>
              <a:gd name="T47" fmla="*/ 38 h 51"/>
              <a:gd name="T48" fmla="*/ 0 w 672"/>
              <a:gd name="T49" fmla="*/ 44 h 51"/>
              <a:gd name="T50" fmla="*/ 0 w 672"/>
              <a:gd name="T51" fmla="*/ 51 h 51"/>
              <a:gd name="T52" fmla="*/ 3 w 672"/>
              <a:gd name="T53" fmla="*/ 48 h 51"/>
              <a:gd name="T54" fmla="*/ 3 w 672"/>
              <a:gd name="T55" fmla="*/ 41 h 51"/>
              <a:gd name="T56" fmla="*/ 3 w 672"/>
              <a:gd name="T57" fmla="*/ 34 h 51"/>
              <a:gd name="T58" fmla="*/ 3 w 672"/>
              <a:gd name="T59" fmla="*/ 28 h 51"/>
              <a:gd name="T60" fmla="*/ 3 w 672"/>
              <a:gd name="T61" fmla="*/ 21 h 51"/>
              <a:gd name="T62" fmla="*/ 3 w 672"/>
              <a:gd name="T63" fmla="*/ 14 h 51"/>
              <a:gd name="T64" fmla="*/ 3 w 672"/>
              <a:gd name="T65" fmla="*/ 9 h 51"/>
              <a:gd name="T66" fmla="*/ 3 w 672"/>
              <a:gd name="T67" fmla="*/ 3 h 51"/>
              <a:gd name="T68" fmla="*/ 2 w 6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72" h="51">
                <a:moveTo>
                  <a:pt x="672" y="24"/>
                </a:moveTo>
                <a:lnTo>
                  <a:pt x="672" y="21"/>
                </a:lnTo>
                <a:lnTo>
                  <a:pt x="672" y="18"/>
                </a:lnTo>
                <a:lnTo>
                  <a:pt x="672" y="14"/>
                </a:lnTo>
                <a:lnTo>
                  <a:pt x="672" y="11"/>
                </a:lnTo>
                <a:lnTo>
                  <a:pt x="672" y="9"/>
                </a:lnTo>
                <a:lnTo>
                  <a:pt x="672" y="6"/>
                </a:lnTo>
                <a:lnTo>
                  <a:pt x="672" y="3"/>
                </a:lnTo>
                <a:lnTo>
                  <a:pt x="672" y="0"/>
                </a:lnTo>
                <a:lnTo>
                  <a:pt x="669" y="0"/>
                </a:lnTo>
                <a:lnTo>
                  <a:pt x="669" y="3"/>
                </a:lnTo>
                <a:lnTo>
                  <a:pt x="669" y="6"/>
                </a:lnTo>
                <a:lnTo>
                  <a:pt x="669" y="9"/>
                </a:lnTo>
                <a:lnTo>
                  <a:pt x="669" y="11"/>
                </a:lnTo>
                <a:lnTo>
                  <a:pt x="669" y="14"/>
                </a:lnTo>
                <a:lnTo>
                  <a:pt x="669" y="18"/>
                </a:lnTo>
                <a:lnTo>
                  <a:pt x="669" y="21"/>
                </a:lnTo>
                <a:lnTo>
                  <a:pt x="669" y="24"/>
                </a:lnTo>
                <a:lnTo>
                  <a:pt x="669" y="28"/>
                </a:lnTo>
                <a:lnTo>
                  <a:pt x="669" y="31"/>
                </a:lnTo>
                <a:lnTo>
                  <a:pt x="669" y="34"/>
                </a:lnTo>
                <a:lnTo>
                  <a:pt x="669" y="38"/>
                </a:lnTo>
                <a:lnTo>
                  <a:pt x="669" y="41"/>
                </a:lnTo>
                <a:lnTo>
                  <a:pt x="669" y="44"/>
                </a:lnTo>
                <a:lnTo>
                  <a:pt x="669" y="48"/>
                </a:lnTo>
                <a:lnTo>
                  <a:pt x="669" y="51"/>
                </a:lnTo>
                <a:lnTo>
                  <a:pt x="672" y="51"/>
                </a:lnTo>
                <a:lnTo>
                  <a:pt x="672" y="48"/>
                </a:lnTo>
                <a:lnTo>
                  <a:pt x="672" y="44"/>
                </a:lnTo>
                <a:lnTo>
                  <a:pt x="672" y="41"/>
                </a:lnTo>
                <a:lnTo>
                  <a:pt x="672" y="38"/>
                </a:lnTo>
                <a:lnTo>
                  <a:pt x="672" y="34"/>
                </a:lnTo>
                <a:lnTo>
                  <a:pt x="672" y="31"/>
                </a:lnTo>
                <a:lnTo>
                  <a:pt x="672" y="28"/>
                </a:lnTo>
                <a:lnTo>
                  <a:pt x="67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49" name="Freeform 1654">
            <a:extLst>
              <a:ext uri="{FF2B5EF4-FFF2-40B4-BE49-F238E27FC236}">
                <a16:creationId xmlns:a16="http://schemas.microsoft.com/office/drawing/2014/main" id="{7C53A898-1D6D-35DB-93CB-8E4A6E55AF78}"/>
              </a:ext>
            </a:extLst>
          </p:cNvPr>
          <p:cNvSpPr>
            <a:spLocks noEditPoints="1"/>
          </p:cNvSpPr>
          <p:nvPr/>
        </p:nvSpPr>
        <p:spPr bwMode="auto">
          <a:xfrm>
            <a:off x="2027238" y="2719388"/>
            <a:ext cx="1062038" cy="80963"/>
          </a:xfrm>
          <a:custGeom>
            <a:avLst/>
            <a:gdLst>
              <a:gd name="T0" fmla="*/ 669 w 669"/>
              <a:gd name="T1" fmla="*/ 21 h 51"/>
              <a:gd name="T2" fmla="*/ 669 w 669"/>
              <a:gd name="T3" fmla="*/ 14 h 51"/>
              <a:gd name="T4" fmla="*/ 669 w 669"/>
              <a:gd name="T5" fmla="*/ 9 h 51"/>
              <a:gd name="T6" fmla="*/ 669 w 669"/>
              <a:gd name="T7" fmla="*/ 3 h 51"/>
              <a:gd name="T8" fmla="*/ 665 w 669"/>
              <a:gd name="T9" fmla="*/ 0 h 51"/>
              <a:gd name="T10" fmla="*/ 665 w 669"/>
              <a:gd name="T11" fmla="*/ 6 h 51"/>
              <a:gd name="T12" fmla="*/ 665 w 669"/>
              <a:gd name="T13" fmla="*/ 11 h 51"/>
              <a:gd name="T14" fmla="*/ 665 w 669"/>
              <a:gd name="T15" fmla="*/ 18 h 51"/>
              <a:gd name="T16" fmla="*/ 665 w 669"/>
              <a:gd name="T17" fmla="*/ 24 h 51"/>
              <a:gd name="T18" fmla="*/ 665 w 669"/>
              <a:gd name="T19" fmla="*/ 31 h 51"/>
              <a:gd name="T20" fmla="*/ 665 w 669"/>
              <a:gd name="T21" fmla="*/ 38 h 51"/>
              <a:gd name="T22" fmla="*/ 665 w 669"/>
              <a:gd name="T23" fmla="*/ 44 h 51"/>
              <a:gd name="T24" fmla="*/ 665 w 669"/>
              <a:gd name="T25" fmla="*/ 51 h 51"/>
              <a:gd name="T26" fmla="*/ 669 w 669"/>
              <a:gd name="T27" fmla="*/ 48 h 51"/>
              <a:gd name="T28" fmla="*/ 669 w 669"/>
              <a:gd name="T29" fmla="*/ 41 h 51"/>
              <a:gd name="T30" fmla="*/ 669 w 669"/>
              <a:gd name="T31" fmla="*/ 34 h 51"/>
              <a:gd name="T32" fmla="*/ 669 w 669"/>
              <a:gd name="T33" fmla="*/ 28 h 51"/>
              <a:gd name="T34" fmla="*/ 1 w 669"/>
              <a:gd name="T35" fmla="*/ 0 h 51"/>
              <a:gd name="T36" fmla="*/ 0 w 669"/>
              <a:gd name="T37" fmla="*/ 6 h 51"/>
              <a:gd name="T38" fmla="*/ 0 w 669"/>
              <a:gd name="T39" fmla="*/ 11 h 51"/>
              <a:gd name="T40" fmla="*/ 0 w 669"/>
              <a:gd name="T41" fmla="*/ 18 h 51"/>
              <a:gd name="T42" fmla="*/ 0 w 669"/>
              <a:gd name="T43" fmla="*/ 24 h 51"/>
              <a:gd name="T44" fmla="*/ 0 w 669"/>
              <a:gd name="T45" fmla="*/ 31 h 51"/>
              <a:gd name="T46" fmla="*/ 0 w 669"/>
              <a:gd name="T47" fmla="*/ 38 h 51"/>
              <a:gd name="T48" fmla="*/ 0 w 669"/>
              <a:gd name="T49" fmla="*/ 44 h 51"/>
              <a:gd name="T50" fmla="*/ 0 w 669"/>
              <a:gd name="T51" fmla="*/ 51 h 51"/>
              <a:gd name="T52" fmla="*/ 3 w 669"/>
              <a:gd name="T53" fmla="*/ 48 h 51"/>
              <a:gd name="T54" fmla="*/ 3 w 669"/>
              <a:gd name="T55" fmla="*/ 41 h 51"/>
              <a:gd name="T56" fmla="*/ 3 w 669"/>
              <a:gd name="T57" fmla="*/ 34 h 51"/>
              <a:gd name="T58" fmla="*/ 3 w 669"/>
              <a:gd name="T59" fmla="*/ 28 h 51"/>
              <a:gd name="T60" fmla="*/ 3 w 669"/>
              <a:gd name="T61" fmla="*/ 21 h 51"/>
              <a:gd name="T62" fmla="*/ 3 w 669"/>
              <a:gd name="T63" fmla="*/ 14 h 51"/>
              <a:gd name="T64" fmla="*/ 3 w 669"/>
              <a:gd name="T65" fmla="*/ 9 h 51"/>
              <a:gd name="T66" fmla="*/ 3 w 669"/>
              <a:gd name="T67" fmla="*/ 3 h 51"/>
              <a:gd name="T68" fmla="*/ 1 w 66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9" h="51">
                <a:moveTo>
                  <a:pt x="669" y="24"/>
                </a:moveTo>
                <a:lnTo>
                  <a:pt x="669" y="21"/>
                </a:lnTo>
                <a:lnTo>
                  <a:pt x="669" y="18"/>
                </a:lnTo>
                <a:lnTo>
                  <a:pt x="669" y="14"/>
                </a:lnTo>
                <a:lnTo>
                  <a:pt x="669" y="11"/>
                </a:lnTo>
                <a:lnTo>
                  <a:pt x="669" y="9"/>
                </a:lnTo>
                <a:lnTo>
                  <a:pt x="669" y="6"/>
                </a:lnTo>
                <a:lnTo>
                  <a:pt x="669" y="3"/>
                </a:lnTo>
                <a:lnTo>
                  <a:pt x="669" y="0"/>
                </a:lnTo>
                <a:lnTo>
                  <a:pt x="665" y="0"/>
                </a:lnTo>
                <a:lnTo>
                  <a:pt x="665" y="3"/>
                </a:lnTo>
                <a:lnTo>
                  <a:pt x="665" y="6"/>
                </a:lnTo>
                <a:lnTo>
                  <a:pt x="665" y="9"/>
                </a:lnTo>
                <a:lnTo>
                  <a:pt x="665" y="11"/>
                </a:lnTo>
                <a:lnTo>
                  <a:pt x="665" y="14"/>
                </a:lnTo>
                <a:lnTo>
                  <a:pt x="665" y="18"/>
                </a:lnTo>
                <a:lnTo>
                  <a:pt x="665" y="21"/>
                </a:lnTo>
                <a:lnTo>
                  <a:pt x="665" y="24"/>
                </a:lnTo>
                <a:lnTo>
                  <a:pt x="665" y="28"/>
                </a:lnTo>
                <a:lnTo>
                  <a:pt x="665" y="31"/>
                </a:lnTo>
                <a:lnTo>
                  <a:pt x="665" y="34"/>
                </a:lnTo>
                <a:lnTo>
                  <a:pt x="665" y="38"/>
                </a:lnTo>
                <a:lnTo>
                  <a:pt x="665" y="41"/>
                </a:lnTo>
                <a:lnTo>
                  <a:pt x="665" y="44"/>
                </a:lnTo>
                <a:lnTo>
                  <a:pt x="665" y="48"/>
                </a:lnTo>
                <a:lnTo>
                  <a:pt x="665" y="51"/>
                </a:lnTo>
                <a:lnTo>
                  <a:pt x="669" y="51"/>
                </a:lnTo>
                <a:lnTo>
                  <a:pt x="669" y="48"/>
                </a:lnTo>
                <a:lnTo>
                  <a:pt x="669" y="44"/>
                </a:lnTo>
                <a:lnTo>
                  <a:pt x="669" y="41"/>
                </a:lnTo>
                <a:lnTo>
                  <a:pt x="669" y="38"/>
                </a:lnTo>
                <a:lnTo>
                  <a:pt x="669" y="34"/>
                </a:lnTo>
                <a:lnTo>
                  <a:pt x="669" y="31"/>
                </a:lnTo>
                <a:lnTo>
                  <a:pt x="669" y="28"/>
                </a:lnTo>
                <a:lnTo>
                  <a:pt x="66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50" name="Freeform 1655">
            <a:extLst>
              <a:ext uri="{FF2B5EF4-FFF2-40B4-BE49-F238E27FC236}">
                <a16:creationId xmlns:a16="http://schemas.microsoft.com/office/drawing/2014/main" id="{3F204FEC-EB91-03CB-C1D2-396C77928E86}"/>
              </a:ext>
            </a:extLst>
          </p:cNvPr>
          <p:cNvSpPr>
            <a:spLocks noEditPoints="1"/>
          </p:cNvSpPr>
          <p:nvPr/>
        </p:nvSpPr>
        <p:spPr bwMode="auto">
          <a:xfrm>
            <a:off x="2028825" y="2719388"/>
            <a:ext cx="1057275" cy="80963"/>
          </a:xfrm>
          <a:custGeom>
            <a:avLst/>
            <a:gdLst>
              <a:gd name="T0" fmla="*/ 666 w 666"/>
              <a:gd name="T1" fmla="*/ 21 h 51"/>
              <a:gd name="T2" fmla="*/ 666 w 666"/>
              <a:gd name="T3" fmla="*/ 14 h 51"/>
              <a:gd name="T4" fmla="*/ 666 w 666"/>
              <a:gd name="T5" fmla="*/ 9 h 51"/>
              <a:gd name="T6" fmla="*/ 666 w 666"/>
              <a:gd name="T7" fmla="*/ 3 h 51"/>
              <a:gd name="T8" fmla="*/ 663 w 666"/>
              <a:gd name="T9" fmla="*/ 0 h 51"/>
              <a:gd name="T10" fmla="*/ 663 w 666"/>
              <a:gd name="T11" fmla="*/ 6 h 51"/>
              <a:gd name="T12" fmla="*/ 663 w 666"/>
              <a:gd name="T13" fmla="*/ 11 h 51"/>
              <a:gd name="T14" fmla="*/ 663 w 666"/>
              <a:gd name="T15" fmla="*/ 18 h 51"/>
              <a:gd name="T16" fmla="*/ 663 w 666"/>
              <a:gd name="T17" fmla="*/ 24 h 51"/>
              <a:gd name="T18" fmla="*/ 663 w 666"/>
              <a:gd name="T19" fmla="*/ 31 h 51"/>
              <a:gd name="T20" fmla="*/ 663 w 666"/>
              <a:gd name="T21" fmla="*/ 38 h 51"/>
              <a:gd name="T22" fmla="*/ 663 w 666"/>
              <a:gd name="T23" fmla="*/ 44 h 51"/>
              <a:gd name="T24" fmla="*/ 663 w 666"/>
              <a:gd name="T25" fmla="*/ 51 h 51"/>
              <a:gd name="T26" fmla="*/ 666 w 666"/>
              <a:gd name="T27" fmla="*/ 48 h 51"/>
              <a:gd name="T28" fmla="*/ 666 w 666"/>
              <a:gd name="T29" fmla="*/ 41 h 51"/>
              <a:gd name="T30" fmla="*/ 666 w 666"/>
              <a:gd name="T31" fmla="*/ 34 h 51"/>
              <a:gd name="T32" fmla="*/ 666 w 666"/>
              <a:gd name="T33" fmla="*/ 28 h 51"/>
              <a:gd name="T34" fmla="*/ 2 w 666"/>
              <a:gd name="T35" fmla="*/ 0 h 51"/>
              <a:gd name="T36" fmla="*/ 0 w 666"/>
              <a:gd name="T37" fmla="*/ 6 h 51"/>
              <a:gd name="T38" fmla="*/ 0 w 666"/>
              <a:gd name="T39" fmla="*/ 11 h 51"/>
              <a:gd name="T40" fmla="*/ 0 w 666"/>
              <a:gd name="T41" fmla="*/ 18 h 51"/>
              <a:gd name="T42" fmla="*/ 0 w 666"/>
              <a:gd name="T43" fmla="*/ 24 h 51"/>
              <a:gd name="T44" fmla="*/ 0 w 666"/>
              <a:gd name="T45" fmla="*/ 31 h 51"/>
              <a:gd name="T46" fmla="*/ 0 w 666"/>
              <a:gd name="T47" fmla="*/ 38 h 51"/>
              <a:gd name="T48" fmla="*/ 0 w 666"/>
              <a:gd name="T49" fmla="*/ 44 h 51"/>
              <a:gd name="T50" fmla="*/ 0 w 666"/>
              <a:gd name="T51" fmla="*/ 51 h 51"/>
              <a:gd name="T52" fmla="*/ 4 w 666"/>
              <a:gd name="T53" fmla="*/ 48 h 51"/>
              <a:gd name="T54" fmla="*/ 4 w 666"/>
              <a:gd name="T55" fmla="*/ 41 h 51"/>
              <a:gd name="T56" fmla="*/ 4 w 666"/>
              <a:gd name="T57" fmla="*/ 34 h 51"/>
              <a:gd name="T58" fmla="*/ 4 w 666"/>
              <a:gd name="T59" fmla="*/ 28 h 51"/>
              <a:gd name="T60" fmla="*/ 4 w 666"/>
              <a:gd name="T61" fmla="*/ 21 h 51"/>
              <a:gd name="T62" fmla="*/ 4 w 666"/>
              <a:gd name="T63" fmla="*/ 14 h 51"/>
              <a:gd name="T64" fmla="*/ 4 w 666"/>
              <a:gd name="T65" fmla="*/ 9 h 51"/>
              <a:gd name="T66" fmla="*/ 4 w 666"/>
              <a:gd name="T67" fmla="*/ 3 h 51"/>
              <a:gd name="T68" fmla="*/ 2 w 6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6" h="51">
                <a:moveTo>
                  <a:pt x="666" y="24"/>
                </a:moveTo>
                <a:lnTo>
                  <a:pt x="666" y="21"/>
                </a:lnTo>
                <a:lnTo>
                  <a:pt x="666" y="18"/>
                </a:lnTo>
                <a:lnTo>
                  <a:pt x="666" y="14"/>
                </a:lnTo>
                <a:lnTo>
                  <a:pt x="666" y="11"/>
                </a:lnTo>
                <a:lnTo>
                  <a:pt x="666" y="9"/>
                </a:lnTo>
                <a:lnTo>
                  <a:pt x="666" y="6"/>
                </a:lnTo>
                <a:lnTo>
                  <a:pt x="666" y="3"/>
                </a:lnTo>
                <a:lnTo>
                  <a:pt x="666" y="0"/>
                </a:lnTo>
                <a:lnTo>
                  <a:pt x="663" y="0"/>
                </a:lnTo>
                <a:lnTo>
                  <a:pt x="663" y="3"/>
                </a:lnTo>
                <a:lnTo>
                  <a:pt x="663" y="6"/>
                </a:lnTo>
                <a:lnTo>
                  <a:pt x="663" y="9"/>
                </a:lnTo>
                <a:lnTo>
                  <a:pt x="663" y="11"/>
                </a:lnTo>
                <a:lnTo>
                  <a:pt x="663" y="14"/>
                </a:lnTo>
                <a:lnTo>
                  <a:pt x="663" y="18"/>
                </a:lnTo>
                <a:lnTo>
                  <a:pt x="663" y="21"/>
                </a:lnTo>
                <a:lnTo>
                  <a:pt x="663" y="24"/>
                </a:lnTo>
                <a:lnTo>
                  <a:pt x="663" y="28"/>
                </a:lnTo>
                <a:lnTo>
                  <a:pt x="663" y="31"/>
                </a:lnTo>
                <a:lnTo>
                  <a:pt x="663" y="34"/>
                </a:lnTo>
                <a:lnTo>
                  <a:pt x="663" y="38"/>
                </a:lnTo>
                <a:lnTo>
                  <a:pt x="663" y="41"/>
                </a:lnTo>
                <a:lnTo>
                  <a:pt x="663" y="44"/>
                </a:lnTo>
                <a:lnTo>
                  <a:pt x="663" y="48"/>
                </a:lnTo>
                <a:lnTo>
                  <a:pt x="663" y="51"/>
                </a:lnTo>
                <a:lnTo>
                  <a:pt x="666" y="51"/>
                </a:lnTo>
                <a:lnTo>
                  <a:pt x="666" y="48"/>
                </a:lnTo>
                <a:lnTo>
                  <a:pt x="666" y="44"/>
                </a:lnTo>
                <a:lnTo>
                  <a:pt x="666" y="41"/>
                </a:lnTo>
                <a:lnTo>
                  <a:pt x="666" y="38"/>
                </a:lnTo>
                <a:lnTo>
                  <a:pt x="666" y="34"/>
                </a:lnTo>
                <a:lnTo>
                  <a:pt x="666" y="31"/>
                </a:lnTo>
                <a:lnTo>
                  <a:pt x="666" y="28"/>
                </a:lnTo>
                <a:lnTo>
                  <a:pt x="66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51" name="Freeform 1656">
            <a:extLst>
              <a:ext uri="{FF2B5EF4-FFF2-40B4-BE49-F238E27FC236}">
                <a16:creationId xmlns:a16="http://schemas.microsoft.com/office/drawing/2014/main" id="{4BF25B42-BD0B-A2E6-FB77-1593B3F38626}"/>
              </a:ext>
            </a:extLst>
          </p:cNvPr>
          <p:cNvSpPr>
            <a:spLocks noEditPoints="1"/>
          </p:cNvSpPr>
          <p:nvPr/>
        </p:nvSpPr>
        <p:spPr bwMode="auto">
          <a:xfrm>
            <a:off x="2032000" y="2719388"/>
            <a:ext cx="1050925" cy="80963"/>
          </a:xfrm>
          <a:custGeom>
            <a:avLst/>
            <a:gdLst>
              <a:gd name="T0" fmla="*/ 662 w 662"/>
              <a:gd name="T1" fmla="*/ 21 h 51"/>
              <a:gd name="T2" fmla="*/ 662 w 662"/>
              <a:gd name="T3" fmla="*/ 14 h 51"/>
              <a:gd name="T4" fmla="*/ 662 w 662"/>
              <a:gd name="T5" fmla="*/ 9 h 51"/>
              <a:gd name="T6" fmla="*/ 662 w 662"/>
              <a:gd name="T7" fmla="*/ 3 h 51"/>
              <a:gd name="T8" fmla="*/ 659 w 662"/>
              <a:gd name="T9" fmla="*/ 0 h 51"/>
              <a:gd name="T10" fmla="*/ 659 w 662"/>
              <a:gd name="T11" fmla="*/ 6 h 51"/>
              <a:gd name="T12" fmla="*/ 659 w 662"/>
              <a:gd name="T13" fmla="*/ 11 h 51"/>
              <a:gd name="T14" fmla="*/ 659 w 662"/>
              <a:gd name="T15" fmla="*/ 18 h 51"/>
              <a:gd name="T16" fmla="*/ 659 w 662"/>
              <a:gd name="T17" fmla="*/ 24 h 51"/>
              <a:gd name="T18" fmla="*/ 659 w 662"/>
              <a:gd name="T19" fmla="*/ 31 h 51"/>
              <a:gd name="T20" fmla="*/ 659 w 662"/>
              <a:gd name="T21" fmla="*/ 38 h 51"/>
              <a:gd name="T22" fmla="*/ 659 w 662"/>
              <a:gd name="T23" fmla="*/ 44 h 51"/>
              <a:gd name="T24" fmla="*/ 659 w 662"/>
              <a:gd name="T25" fmla="*/ 51 h 51"/>
              <a:gd name="T26" fmla="*/ 662 w 662"/>
              <a:gd name="T27" fmla="*/ 48 h 51"/>
              <a:gd name="T28" fmla="*/ 662 w 662"/>
              <a:gd name="T29" fmla="*/ 41 h 51"/>
              <a:gd name="T30" fmla="*/ 662 w 662"/>
              <a:gd name="T31" fmla="*/ 34 h 51"/>
              <a:gd name="T32" fmla="*/ 662 w 662"/>
              <a:gd name="T33" fmla="*/ 28 h 51"/>
              <a:gd name="T34" fmla="*/ 2 w 662"/>
              <a:gd name="T35" fmla="*/ 0 h 51"/>
              <a:gd name="T36" fmla="*/ 0 w 662"/>
              <a:gd name="T37" fmla="*/ 6 h 51"/>
              <a:gd name="T38" fmla="*/ 0 w 662"/>
              <a:gd name="T39" fmla="*/ 11 h 51"/>
              <a:gd name="T40" fmla="*/ 0 w 662"/>
              <a:gd name="T41" fmla="*/ 18 h 51"/>
              <a:gd name="T42" fmla="*/ 0 w 662"/>
              <a:gd name="T43" fmla="*/ 24 h 51"/>
              <a:gd name="T44" fmla="*/ 0 w 662"/>
              <a:gd name="T45" fmla="*/ 31 h 51"/>
              <a:gd name="T46" fmla="*/ 0 w 662"/>
              <a:gd name="T47" fmla="*/ 38 h 51"/>
              <a:gd name="T48" fmla="*/ 0 w 662"/>
              <a:gd name="T49" fmla="*/ 44 h 51"/>
              <a:gd name="T50" fmla="*/ 0 w 662"/>
              <a:gd name="T51" fmla="*/ 51 h 51"/>
              <a:gd name="T52" fmla="*/ 3 w 662"/>
              <a:gd name="T53" fmla="*/ 48 h 51"/>
              <a:gd name="T54" fmla="*/ 3 w 662"/>
              <a:gd name="T55" fmla="*/ 41 h 51"/>
              <a:gd name="T56" fmla="*/ 3 w 662"/>
              <a:gd name="T57" fmla="*/ 34 h 51"/>
              <a:gd name="T58" fmla="*/ 3 w 662"/>
              <a:gd name="T59" fmla="*/ 28 h 51"/>
              <a:gd name="T60" fmla="*/ 3 w 662"/>
              <a:gd name="T61" fmla="*/ 21 h 51"/>
              <a:gd name="T62" fmla="*/ 3 w 662"/>
              <a:gd name="T63" fmla="*/ 14 h 51"/>
              <a:gd name="T64" fmla="*/ 3 w 662"/>
              <a:gd name="T65" fmla="*/ 9 h 51"/>
              <a:gd name="T66" fmla="*/ 3 w 662"/>
              <a:gd name="T67" fmla="*/ 3 h 51"/>
              <a:gd name="T68" fmla="*/ 2 w 6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2" h="51">
                <a:moveTo>
                  <a:pt x="662" y="24"/>
                </a:moveTo>
                <a:lnTo>
                  <a:pt x="662" y="21"/>
                </a:lnTo>
                <a:lnTo>
                  <a:pt x="662" y="18"/>
                </a:lnTo>
                <a:lnTo>
                  <a:pt x="662" y="14"/>
                </a:lnTo>
                <a:lnTo>
                  <a:pt x="662" y="11"/>
                </a:lnTo>
                <a:lnTo>
                  <a:pt x="662" y="9"/>
                </a:lnTo>
                <a:lnTo>
                  <a:pt x="662" y="6"/>
                </a:lnTo>
                <a:lnTo>
                  <a:pt x="662" y="3"/>
                </a:lnTo>
                <a:lnTo>
                  <a:pt x="662" y="0"/>
                </a:lnTo>
                <a:lnTo>
                  <a:pt x="659" y="0"/>
                </a:lnTo>
                <a:lnTo>
                  <a:pt x="659" y="3"/>
                </a:lnTo>
                <a:lnTo>
                  <a:pt x="659" y="6"/>
                </a:lnTo>
                <a:lnTo>
                  <a:pt x="659" y="9"/>
                </a:lnTo>
                <a:lnTo>
                  <a:pt x="659" y="11"/>
                </a:lnTo>
                <a:lnTo>
                  <a:pt x="659" y="14"/>
                </a:lnTo>
                <a:lnTo>
                  <a:pt x="659" y="18"/>
                </a:lnTo>
                <a:lnTo>
                  <a:pt x="659" y="21"/>
                </a:lnTo>
                <a:lnTo>
                  <a:pt x="659" y="24"/>
                </a:lnTo>
                <a:lnTo>
                  <a:pt x="659" y="28"/>
                </a:lnTo>
                <a:lnTo>
                  <a:pt x="659" y="31"/>
                </a:lnTo>
                <a:lnTo>
                  <a:pt x="659" y="34"/>
                </a:lnTo>
                <a:lnTo>
                  <a:pt x="659" y="38"/>
                </a:lnTo>
                <a:lnTo>
                  <a:pt x="659" y="41"/>
                </a:lnTo>
                <a:lnTo>
                  <a:pt x="659" y="44"/>
                </a:lnTo>
                <a:lnTo>
                  <a:pt x="659" y="48"/>
                </a:lnTo>
                <a:lnTo>
                  <a:pt x="659" y="51"/>
                </a:lnTo>
                <a:lnTo>
                  <a:pt x="662" y="51"/>
                </a:lnTo>
                <a:lnTo>
                  <a:pt x="662" y="48"/>
                </a:lnTo>
                <a:lnTo>
                  <a:pt x="662" y="44"/>
                </a:lnTo>
                <a:lnTo>
                  <a:pt x="662" y="41"/>
                </a:lnTo>
                <a:lnTo>
                  <a:pt x="662" y="38"/>
                </a:lnTo>
                <a:lnTo>
                  <a:pt x="662" y="34"/>
                </a:lnTo>
                <a:lnTo>
                  <a:pt x="662" y="31"/>
                </a:lnTo>
                <a:lnTo>
                  <a:pt x="662" y="28"/>
                </a:lnTo>
                <a:lnTo>
                  <a:pt x="66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52" name="Freeform 1657">
            <a:extLst>
              <a:ext uri="{FF2B5EF4-FFF2-40B4-BE49-F238E27FC236}">
                <a16:creationId xmlns:a16="http://schemas.microsoft.com/office/drawing/2014/main" id="{D6F3BAB7-6951-3787-BEAE-19BC7D597FF0}"/>
              </a:ext>
            </a:extLst>
          </p:cNvPr>
          <p:cNvSpPr>
            <a:spLocks noEditPoints="1"/>
          </p:cNvSpPr>
          <p:nvPr/>
        </p:nvSpPr>
        <p:spPr bwMode="auto">
          <a:xfrm>
            <a:off x="2035175" y="2719388"/>
            <a:ext cx="1046163" cy="80963"/>
          </a:xfrm>
          <a:custGeom>
            <a:avLst/>
            <a:gdLst>
              <a:gd name="T0" fmla="*/ 659 w 659"/>
              <a:gd name="T1" fmla="*/ 21 h 51"/>
              <a:gd name="T2" fmla="*/ 659 w 659"/>
              <a:gd name="T3" fmla="*/ 14 h 51"/>
              <a:gd name="T4" fmla="*/ 659 w 659"/>
              <a:gd name="T5" fmla="*/ 9 h 51"/>
              <a:gd name="T6" fmla="*/ 659 w 659"/>
              <a:gd name="T7" fmla="*/ 3 h 51"/>
              <a:gd name="T8" fmla="*/ 655 w 659"/>
              <a:gd name="T9" fmla="*/ 0 h 51"/>
              <a:gd name="T10" fmla="*/ 655 w 659"/>
              <a:gd name="T11" fmla="*/ 6 h 51"/>
              <a:gd name="T12" fmla="*/ 655 w 659"/>
              <a:gd name="T13" fmla="*/ 11 h 51"/>
              <a:gd name="T14" fmla="*/ 655 w 659"/>
              <a:gd name="T15" fmla="*/ 18 h 51"/>
              <a:gd name="T16" fmla="*/ 655 w 659"/>
              <a:gd name="T17" fmla="*/ 24 h 51"/>
              <a:gd name="T18" fmla="*/ 655 w 659"/>
              <a:gd name="T19" fmla="*/ 31 h 51"/>
              <a:gd name="T20" fmla="*/ 655 w 659"/>
              <a:gd name="T21" fmla="*/ 38 h 51"/>
              <a:gd name="T22" fmla="*/ 655 w 659"/>
              <a:gd name="T23" fmla="*/ 44 h 51"/>
              <a:gd name="T24" fmla="*/ 655 w 659"/>
              <a:gd name="T25" fmla="*/ 51 h 51"/>
              <a:gd name="T26" fmla="*/ 659 w 659"/>
              <a:gd name="T27" fmla="*/ 48 h 51"/>
              <a:gd name="T28" fmla="*/ 659 w 659"/>
              <a:gd name="T29" fmla="*/ 41 h 51"/>
              <a:gd name="T30" fmla="*/ 659 w 659"/>
              <a:gd name="T31" fmla="*/ 34 h 51"/>
              <a:gd name="T32" fmla="*/ 659 w 659"/>
              <a:gd name="T33" fmla="*/ 28 h 51"/>
              <a:gd name="T34" fmla="*/ 1 w 659"/>
              <a:gd name="T35" fmla="*/ 0 h 51"/>
              <a:gd name="T36" fmla="*/ 0 w 659"/>
              <a:gd name="T37" fmla="*/ 6 h 51"/>
              <a:gd name="T38" fmla="*/ 0 w 659"/>
              <a:gd name="T39" fmla="*/ 11 h 51"/>
              <a:gd name="T40" fmla="*/ 0 w 659"/>
              <a:gd name="T41" fmla="*/ 18 h 51"/>
              <a:gd name="T42" fmla="*/ 0 w 659"/>
              <a:gd name="T43" fmla="*/ 24 h 51"/>
              <a:gd name="T44" fmla="*/ 0 w 659"/>
              <a:gd name="T45" fmla="*/ 31 h 51"/>
              <a:gd name="T46" fmla="*/ 0 w 659"/>
              <a:gd name="T47" fmla="*/ 38 h 51"/>
              <a:gd name="T48" fmla="*/ 0 w 659"/>
              <a:gd name="T49" fmla="*/ 44 h 51"/>
              <a:gd name="T50" fmla="*/ 0 w 659"/>
              <a:gd name="T51" fmla="*/ 51 h 51"/>
              <a:gd name="T52" fmla="*/ 3 w 659"/>
              <a:gd name="T53" fmla="*/ 48 h 51"/>
              <a:gd name="T54" fmla="*/ 3 w 659"/>
              <a:gd name="T55" fmla="*/ 41 h 51"/>
              <a:gd name="T56" fmla="*/ 3 w 659"/>
              <a:gd name="T57" fmla="*/ 34 h 51"/>
              <a:gd name="T58" fmla="*/ 3 w 659"/>
              <a:gd name="T59" fmla="*/ 28 h 51"/>
              <a:gd name="T60" fmla="*/ 3 w 659"/>
              <a:gd name="T61" fmla="*/ 21 h 51"/>
              <a:gd name="T62" fmla="*/ 3 w 659"/>
              <a:gd name="T63" fmla="*/ 14 h 51"/>
              <a:gd name="T64" fmla="*/ 3 w 659"/>
              <a:gd name="T65" fmla="*/ 9 h 51"/>
              <a:gd name="T66" fmla="*/ 3 w 659"/>
              <a:gd name="T67" fmla="*/ 3 h 51"/>
              <a:gd name="T68" fmla="*/ 1 w 65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9" h="51">
                <a:moveTo>
                  <a:pt x="659" y="24"/>
                </a:moveTo>
                <a:lnTo>
                  <a:pt x="659" y="21"/>
                </a:lnTo>
                <a:lnTo>
                  <a:pt x="659" y="18"/>
                </a:lnTo>
                <a:lnTo>
                  <a:pt x="659" y="14"/>
                </a:lnTo>
                <a:lnTo>
                  <a:pt x="659" y="11"/>
                </a:lnTo>
                <a:lnTo>
                  <a:pt x="659" y="9"/>
                </a:lnTo>
                <a:lnTo>
                  <a:pt x="659" y="6"/>
                </a:lnTo>
                <a:lnTo>
                  <a:pt x="659" y="3"/>
                </a:lnTo>
                <a:lnTo>
                  <a:pt x="659" y="0"/>
                </a:lnTo>
                <a:lnTo>
                  <a:pt x="655" y="0"/>
                </a:lnTo>
                <a:lnTo>
                  <a:pt x="655" y="3"/>
                </a:lnTo>
                <a:lnTo>
                  <a:pt x="655" y="6"/>
                </a:lnTo>
                <a:lnTo>
                  <a:pt x="655" y="9"/>
                </a:lnTo>
                <a:lnTo>
                  <a:pt x="655" y="11"/>
                </a:lnTo>
                <a:lnTo>
                  <a:pt x="655" y="14"/>
                </a:lnTo>
                <a:lnTo>
                  <a:pt x="655" y="18"/>
                </a:lnTo>
                <a:lnTo>
                  <a:pt x="655" y="21"/>
                </a:lnTo>
                <a:lnTo>
                  <a:pt x="655" y="24"/>
                </a:lnTo>
                <a:lnTo>
                  <a:pt x="655" y="28"/>
                </a:lnTo>
                <a:lnTo>
                  <a:pt x="655" y="31"/>
                </a:lnTo>
                <a:lnTo>
                  <a:pt x="655" y="34"/>
                </a:lnTo>
                <a:lnTo>
                  <a:pt x="655" y="38"/>
                </a:lnTo>
                <a:lnTo>
                  <a:pt x="655" y="41"/>
                </a:lnTo>
                <a:lnTo>
                  <a:pt x="655" y="44"/>
                </a:lnTo>
                <a:lnTo>
                  <a:pt x="655" y="48"/>
                </a:lnTo>
                <a:lnTo>
                  <a:pt x="655" y="51"/>
                </a:lnTo>
                <a:lnTo>
                  <a:pt x="659" y="51"/>
                </a:lnTo>
                <a:lnTo>
                  <a:pt x="659" y="48"/>
                </a:lnTo>
                <a:lnTo>
                  <a:pt x="659" y="44"/>
                </a:lnTo>
                <a:lnTo>
                  <a:pt x="659" y="41"/>
                </a:lnTo>
                <a:lnTo>
                  <a:pt x="659" y="38"/>
                </a:lnTo>
                <a:lnTo>
                  <a:pt x="659" y="34"/>
                </a:lnTo>
                <a:lnTo>
                  <a:pt x="659" y="31"/>
                </a:lnTo>
                <a:lnTo>
                  <a:pt x="659" y="28"/>
                </a:lnTo>
                <a:lnTo>
                  <a:pt x="65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53" name="Freeform 1658">
            <a:extLst>
              <a:ext uri="{FF2B5EF4-FFF2-40B4-BE49-F238E27FC236}">
                <a16:creationId xmlns:a16="http://schemas.microsoft.com/office/drawing/2014/main" id="{0F59A958-BA03-F6CF-2DD1-93B3A9094047}"/>
              </a:ext>
            </a:extLst>
          </p:cNvPr>
          <p:cNvSpPr>
            <a:spLocks noEditPoints="1"/>
          </p:cNvSpPr>
          <p:nvPr/>
        </p:nvSpPr>
        <p:spPr bwMode="auto">
          <a:xfrm>
            <a:off x="2036763" y="2719388"/>
            <a:ext cx="1041400" cy="80963"/>
          </a:xfrm>
          <a:custGeom>
            <a:avLst/>
            <a:gdLst>
              <a:gd name="T0" fmla="*/ 656 w 656"/>
              <a:gd name="T1" fmla="*/ 21 h 51"/>
              <a:gd name="T2" fmla="*/ 656 w 656"/>
              <a:gd name="T3" fmla="*/ 14 h 51"/>
              <a:gd name="T4" fmla="*/ 656 w 656"/>
              <a:gd name="T5" fmla="*/ 9 h 51"/>
              <a:gd name="T6" fmla="*/ 656 w 656"/>
              <a:gd name="T7" fmla="*/ 3 h 51"/>
              <a:gd name="T8" fmla="*/ 653 w 656"/>
              <a:gd name="T9" fmla="*/ 0 h 51"/>
              <a:gd name="T10" fmla="*/ 653 w 656"/>
              <a:gd name="T11" fmla="*/ 6 h 51"/>
              <a:gd name="T12" fmla="*/ 653 w 656"/>
              <a:gd name="T13" fmla="*/ 11 h 51"/>
              <a:gd name="T14" fmla="*/ 653 w 656"/>
              <a:gd name="T15" fmla="*/ 18 h 51"/>
              <a:gd name="T16" fmla="*/ 653 w 656"/>
              <a:gd name="T17" fmla="*/ 24 h 51"/>
              <a:gd name="T18" fmla="*/ 653 w 656"/>
              <a:gd name="T19" fmla="*/ 31 h 51"/>
              <a:gd name="T20" fmla="*/ 653 w 656"/>
              <a:gd name="T21" fmla="*/ 38 h 51"/>
              <a:gd name="T22" fmla="*/ 653 w 656"/>
              <a:gd name="T23" fmla="*/ 44 h 51"/>
              <a:gd name="T24" fmla="*/ 653 w 656"/>
              <a:gd name="T25" fmla="*/ 51 h 51"/>
              <a:gd name="T26" fmla="*/ 656 w 656"/>
              <a:gd name="T27" fmla="*/ 48 h 51"/>
              <a:gd name="T28" fmla="*/ 656 w 656"/>
              <a:gd name="T29" fmla="*/ 41 h 51"/>
              <a:gd name="T30" fmla="*/ 656 w 656"/>
              <a:gd name="T31" fmla="*/ 34 h 51"/>
              <a:gd name="T32" fmla="*/ 656 w 656"/>
              <a:gd name="T33" fmla="*/ 28 h 51"/>
              <a:gd name="T34" fmla="*/ 2 w 656"/>
              <a:gd name="T35" fmla="*/ 0 h 51"/>
              <a:gd name="T36" fmla="*/ 0 w 656"/>
              <a:gd name="T37" fmla="*/ 6 h 51"/>
              <a:gd name="T38" fmla="*/ 0 w 656"/>
              <a:gd name="T39" fmla="*/ 11 h 51"/>
              <a:gd name="T40" fmla="*/ 0 w 656"/>
              <a:gd name="T41" fmla="*/ 18 h 51"/>
              <a:gd name="T42" fmla="*/ 0 w 656"/>
              <a:gd name="T43" fmla="*/ 24 h 51"/>
              <a:gd name="T44" fmla="*/ 0 w 656"/>
              <a:gd name="T45" fmla="*/ 31 h 51"/>
              <a:gd name="T46" fmla="*/ 0 w 656"/>
              <a:gd name="T47" fmla="*/ 38 h 51"/>
              <a:gd name="T48" fmla="*/ 0 w 656"/>
              <a:gd name="T49" fmla="*/ 44 h 51"/>
              <a:gd name="T50" fmla="*/ 0 w 656"/>
              <a:gd name="T51" fmla="*/ 51 h 51"/>
              <a:gd name="T52" fmla="*/ 4 w 656"/>
              <a:gd name="T53" fmla="*/ 48 h 51"/>
              <a:gd name="T54" fmla="*/ 4 w 656"/>
              <a:gd name="T55" fmla="*/ 41 h 51"/>
              <a:gd name="T56" fmla="*/ 4 w 656"/>
              <a:gd name="T57" fmla="*/ 34 h 51"/>
              <a:gd name="T58" fmla="*/ 4 w 656"/>
              <a:gd name="T59" fmla="*/ 28 h 51"/>
              <a:gd name="T60" fmla="*/ 4 w 656"/>
              <a:gd name="T61" fmla="*/ 21 h 51"/>
              <a:gd name="T62" fmla="*/ 4 w 656"/>
              <a:gd name="T63" fmla="*/ 14 h 51"/>
              <a:gd name="T64" fmla="*/ 4 w 656"/>
              <a:gd name="T65" fmla="*/ 9 h 51"/>
              <a:gd name="T66" fmla="*/ 4 w 656"/>
              <a:gd name="T67" fmla="*/ 3 h 51"/>
              <a:gd name="T68" fmla="*/ 2 w 6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6" h="51">
                <a:moveTo>
                  <a:pt x="656" y="24"/>
                </a:moveTo>
                <a:lnTo>
                  <a:pt x="656" y="21"/>
                </a:lnTo>
                <a:lnTo>
                  <a:pt x="656" y="18"/>
                </a:lnTo>
                <a:lnTo>
                  <a:pt x="656" y="14"/>
                </a:lnTo>
                <a:lnTo>
                  <a:pt x="656" y="11"/>
                </a:lnTo>
                <a:lnTo>
                  <a:pt x="656" y="9"/>
                </a:lnTo>
                <a:lnTo>
                  <a:pt x="656" y="6"/>
                </a:lnTo>
                <a:lnTo>
                  <a:pt x="656" y="3"/>
                </a:lnTo>
                <a:lnTo>
                  <a:pt x="656" y="0"/>
                </a:lnTo>
                <a:lnTo>
                  <a:pt x="653" y="0"/>
                </a:lnTo>
                <a:lnTo>
                  <a:pt x="653" y="3"/>
                </a:lnTo>
                <a:lnTo>
                  <a:pt x="653" y="6"/>
                </a:lnTo>
                <a:lnTo>
                  <a:pt x="653" y="9"/>
                </a:lnTo>
                <a:lnTo>
                  <a:pt x="653" y="11"/>
                </a:lnTo>
                <a:lnTo>
                  <a:pt x="653" y="14"/>
                </a:lnTo>
                <a:lnTo>
                  <a:pt x="653" y="18"/>
                </a:lnTo>
                <a:lnTo>
                  <a:pt x="653" y="21"/>
                </a:lnTo>
                <a:lnTo>
                  <a:pt x="653" y="24"/>
                </a:lnTo>
                <a:lnTo>
                  <a:pt x="653" y="28"/>
                </a:lnTo>
                <a:lnTo>
                  <a:pt x="653" y="31"/>
                </a:lnTo>
                <a:lnTo>
                  <a:pt x="653" y="34"/>
                </a:lnTo>
                <a:lnTo>
                  <a:pt x="653" y="38"/>
                </a:lnTo>
                <a:lnTo>
                  <a:pt x="653" y="41"/>
                </a:lnTo>
                <a:lnTo>
                  <a:pt x="653" y="44"/>
                </a:lnTo>
                <a:lnTo>
                  <a:pt x="653" y="48"/>
                </a:lnTo>
                <a:lnTo>
                  <a:pt x="653" y="51"/>
                </a:lnTo>
                <a:lnTo>
                  <a:pt x="656" y="51"/>
                </a:lnTo>
                <a:lnTo>
                  <a:pt x="656" y="48"/>
                </a:lnTo>
                <a:lnTo>
                  <a:pt x="656" y="44"/>
                </a:lnTo>
                <a:lnTo>
                  <a:pt x="656" y="41"/>
                </a:lnTo>
                <a:lnTo>
                  <a:pt x="656" y="38"/>
                </a:lnTo>
                <a:lnTo>
                  <a:pt x="656" y="34"/>
                </a:lnTo>
                <a:lnTo>
                  <a:pt x="656" y="31"/>
                </a:lnTo>
                <a:lnTo>
                  <a:pt x="656" y="28"/>
                </a:lnTo>
                <a:lnTo>
                  <a:pt x="65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54" name="Freeform 1659">
            <a:extLst>
              <a:ext uri="{FF2B5EF4-FFF2-40B4-BE49-F238E27FC236}">
                <a16:creationId xmlns:a16="http://schemas.microsoft.com/office/drawing/2014/main" id="{7B27FB36-DA2B-2547-EC78-727D7BEB4351}"/>
              </a:ext>
            </a:extLst>
          </p:cNvPr>
          <p:cNvSpPr>
            <a:spLocks noEditPoints="1"/>
          </p:cNvSpPr>
          <p:nvPr/>
        </p:nvSpPr>
        <p:spPr bwMode="auto">
          <a:xfrm>
            <a:off x="2039938" y="2719388"/>
            <a:ext cx="1035050" cy="80963"/>
          </a:xfrm>
          <a:custGeom>
            <a:avLst/>
            <a:gdLst>
              <a:gd name="T0" fmla="*/ 652 w 652"/>
              <a:gd name="T1" fmla="*/ 21 h 51"/>
              <a:gd name="T2" fmla="*/ 652 w 652"/>
              <a:gd name="T3" fmla="*/ 14 h 51"/>
              <a:gd name="T4" fmla="*/ 652 w 652"/>
              <a:gd name="T5" fmla="*/ 9 h 51"/>
              <a:gd name="T6" fmla="*/ 652 w 652"/>
              <a:gd name="T7" fmla="*/ 3 h 51"/>
              <a:gd name="T8" fmla="*/ 649 w 652"/>
              <a:gd name="T9" fmla="*/ 0 h 51"/>
              <a:gd name="T10" fmla="*/ 649 w 652"/>
              <a:gd name="T11" fmla="*/ 6 h 51"/>
              <a:gd name="T12" fmla="*/ 649 w 652"/>
              <a:gd name="T13" fmla="*/ 11 h 51"/>
              <a:gd name="T14" fmla="*/ 649 w 652"/>
              <a:gd name="T15" fmla="*/ 18 h 51"/>
              <a:gd name="T16" fmla="*/ 649 w 652"/>
              <a:gd name="T17" fmla="*/ 24 h 51"/>
              <a:gd name="T18" fmla="*/ 649 w 652"/>
              <a:gd name="T19" fmla="*/ 31 h 51"/>
              <a:gd name="T20" fmla="*/ 649 w 652"/>
              <a:gd name="T21" fmla="*/ 38 h 51"/>
              <a:gd name="T22" fmla="*/ 649 w 652"/>
              <a:gd name="T23" fmla="*/ 44 h 51"/>
              <a:gd name="T24" fmla="*/ 649 w 652"/>
              <a:gd name="T25" fmla="*/ 51 h 51"/>
              <a:gd name="T26" fmla="*/ 652 w 652"/>
              <a:gd name="T27" fmla="*/ 48 h 51"/>
              <a:gd name="T28" fmla="*/ 652 w 652"/>
              <a:gd name="T29" fmla="*/ 41 h 51"/>
              <a:gd name="T30" fmla="*/ 652 w 652"/>
              <a:gd name="T31" fmla="*/ 34 h 51"/>
              <a:gd name="T32" fmla="*/ 652 w 652"/>
              <a:gd name="T33" fmla="*/ 28 h 51"/>
              <a:gd name="T34" fmla="*/ 2 w 652"/>
              <a:gd name="T35" fmla="*/ 0 h 51"/>
              <a:gd name="T36" fmla="*/ 0 w 652"/>
              <a:gd name="T37" fmla="*/ 6 h 51"/>
              <a:gd name="T38" fmla="*/ 0 w 652"/>
              <a:gd name="T39" fmla="*/ 11 h 51"/>
              <a:gd name="T40" fmla="*/ 0 w 652"/>
              <a:gd name="T41" fmla="*/ 18 h 51"/>
              <a:gd name="T42" fmla="*/ 0 w 652"/>
              <a:gd name="T43" fmla="*/ 24 h 51"/>
              <a:gd name="T44" fmla="*/ 0 w 652"/>
              <a:gd name="T45" fmla="*/ 31 h 51"/>
              <a:gd name="T46" fmla="*/ 0 w 652"/>
              <a:gd name="T47" fmla="*/ 38 h 51"/>
              <a:gd name="T48" fmla="*/ 0 w 652"/>
              <a:gd name="T49" fmla="*/ 44 h 51"/>
              <a:gd name="T50" fmla="*/ 0 w 652"/>
              <a:gd name="T51" fmla="*/ 51 h 51"/>
              <a:gd name="T52" fmla="*/ 3 w 652"/>
              <a:gd name="T53" fmla="*/ 48 h 51"/>
              <a:gd name="T54" fmla="*/ 3 w 652"/>
              <a:gd name="T55" fmla="*/ 41 h 51"/>
              <a:gd name="T56" fmla="*/ 3 w 652"/>
              <a:gd name="T57" fmla="*/ 34 h 51"/>
              <a:gd name="T58" fmla="*/ 3 w 652"/>
              <a:gd name="T59" fmla="*/ 28 h 51"/>
              <a:gd name="T60" fmla="*/ 3 w 652"/>
              <a:gd name="T61" fmla="*/ 21 h 51"/>
              <a:gd name="T62" fmla="*/ 3 w 652"/>
              <a:gd name="T63" fmla="*/ 14 h 51"/>
              <a:gd name="T64" fmla="*/ 3 w 652"/>
              <a:gd name="T65" fmla="*/ 9 h 51"/>
              <a:gd name="T66" fmla="*/ 3 w 652"/>
              <a:gd name="T67" fmla="*/ 3 h 51"/>
              <a:gd name="T68" fmla="*/ 2 w 6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52" h="51">
                <a:moveTo>
                  <a:pt x="652" y="24"/>
                </a:moveTo>
                <a:lnTo>
                  <a:pt x="652" y="21"/>
                </a:lnTo>
                <a:lnTo>
                  <a:pt x="652" y="18"/>
                </a:lnTo>
                <a:lnTo>
                  <a:pt x="652" y="14"/>
                </a:lnTo>
                <a:lnTo>
                  <a:pt x="652" y="11"/>
                </a:lnTo>
                <a:lnTo>
                  <a:pt x="652" y="9"/>
                </a:lnTo>
                <a:lnTo>
                  <a:pt x="652" y="6"/>
                </a:lnTo>
                <a:lnTo>
                  <a:pt x="652" y="3"/>
                </a:lnTo>
                <a:lnTo>
                  <a:pt x="652" y="0"/>
                </a:lnTo>
                <a:lnTo>
                  <a:pt x="649" y="0"/>
                </a:lnTo>
                <a:lnTo>
                  <a:pt x="649" y="3"/>
                </a:lnTo>
                <a:lnTo>
                  <a:pt x="649" y="6"/>
                </a:lnTo>
                <a:lnTo>
                  <a:pt x="649" y="9"/>
                </a:lnTo>
                <a:lnTo>
                  <a:pt x="649" y="11"/>
                </a:lnTo>
                <a:lnTo>
                  <a:pt x="649" y="14"/>
                </a:lnTo>
                <a:lnTo>
                  <a:pt x="649" y="18"/>
                </a:lnTo>
                <a:lnTo>
                  <a:pt x="649" y="21"/>
                </a:lnTo>
                <a:lnTo>
                  <a:pt x="649" y="24"/>
                </a:lnTo>
                <a:lnTo>
                  <a:pt x="649" y="28"/>
                </a:lnTo>
                <a:lnTo>
                  <a:pt x="649" y="31"/>
                </a:lnTo>
                <a:lnTo>
                  <a:pt x="649" y="34"/>
                </a:lnTo>
                <a:lnTo>
                  <a:pt x="649" y="38"/>
                </a:lnTo>
                <a:lnTo>
                  <a:pt x="649" y="41"/>
                </a:lnTo>
                <a:lnTo>
                  <a:pt x="649" y="44"/>
                </a:lnTo>
                <a:lnTo>
                  <a:pt x="649" y="48"/>
                </a:lnTo>
                <a:lnTo>
                  <a:pt x="649" y="51"/>
                </a:lnTo>
                <a:lnTo>
                  <a:pt x="652" y="51"/>
                </a:lnTo>
                <a:lnTo>
                  <a:pt x="652" y="48"/>
                </a:lnTo>
                <a:lnTo>
                  <a:pt x="652" y="44"/>
                </a:lnTo>
                <a:lnTo>
                  <a:pt x="652" y="41"/>
                </a:lnTo>
                <a:lnTo>
                  <a:pt x="652" y="38"/>
                </a:lnTo>
                <a:lnTo>
                  <a:pt x="652" y="34"/>
                </a:lnTo>
                <a:lnTo>
                  <a:pt x="652" y="31"/>
                </a:lnTo>
                <a:lnTo>
                  <a:pt x="652" y="28"/>
                </a:lnTo>
                <a:lnTo>
                  <a:pt x="65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55" name="Freeform 1660">
            <a:extLst>
              <a:ext uri="{FF2B5EF4-FFF2-40B4-BE49-F238E27FC236}">
                <a16:creationId xmlns:a16="http://schemas.microsoft.com/office/drawing/2014/main" id="{61D7C188-714F-FB81-1542-A7AB3D1CD64B}"/>
              </a:ext>
            </a:extLst>
          </p:cNvPr>
          <p:cNvSpPr>
            <a:spLocks noEditPoints="1"/>
          </p:cNvSpPr>
          <p:nvPr/>
        </p:nvSpPr>
        <p:spPr bwMode="auto">
          <a:xfrm>
            <a:off x="2043113" y="2719388"/>
            <a:ext cx="1030288" cy="80963"/>
          </a:xfrm>
          <a:custGeom>
            <a:avLst/>
            <a:gdLst>
              <a:gd name="T0" fmla="*/ 649 w 649"/>
              <a:gd name="T1" fmla="*/ 21 h 51"/>
              <a:gd name="T2" fmla="*/ 649 w 649"/>
              <a:gd name="T3" fmla="*/ 14 h 51"/>
              <a:gd name="T4" fmla="*/ 649 w 649"/>
              <a:gd name="T5" fmla="*/ 9 h 51"/>
              <a:gd name="T6" fmla="*/ 649 w 649"/>
              <a:gd name="T7" fmla="*/ 3 h 51"/>
              <a:gd name="T8" fmla="*/ 645 w 649"/>
              <a:gd name="T9" fmla="*/ 0 h 51"/>
              <a:gd name="T10" fmla="*/ 645 w 649"/>
              <a:gd name="T11" fmla="*/ 6 h 51"/>
              <a:gd name="T12" fmla="*/ 645 w 649"/>
              <a:gd name="T13" fmla="*/ 11 h 51"/>
              <a:gd name="T14" fmla="*/ 645 w 649"/>
              <a:gd name="T15" fmla="*/ 18 h 51"/>
              <a:gd name="T16" fmla="*/ 645 w 649"/>
              <a:gd name="T17" fmla="*/ 24 h 51"/>
              <a:gd name="T18" fmla="*/ 645 w 649"/>
              <a:gd name="T19" fmla="*/ 31 h 51"/>
              <a:gd name="T20" fmla="*/ 645 w 649"/>
              <a:gd name="T21" fmla="*/ 38 h 51"/>
              <a:gd name="T22" fmla="*/ 645 w 649"/>
              <a:gd name="T23" fmla="*/ 44 h 51"/>
              <a:gd name="T24" fmla="*/ 645 w 649"/>
              <a:gd name="T25" fmla="*/ 51 h 51"/>
              <a:gd name="T26" fmla="*/ 649 w 649"/>
              <a:gd name="T27" fmla="*/ 48 h 51"/>
              <a:gd name="T28" fmla="*/ 649 w 649"/>
              <a:gd name="T29" fmla="*/ 41 h 51"/>
              <a:gd name="T30" fmla="*/ 649 w 649"/>
              <a:gd name="T31" fmla="*/ 34 h 51"/>
              <a:gd name="T32" fmla="*/ 649 w 649"/>
              <a:gd name="T33" fmla="*/ 28 h 51"/>
              <a:gd name="T34" fmla="*/ 1 w 649"/>
              <a:gd name="T35" fmla="*/ 0 h 51"/>
              <a:gd name="T36" fmla="*/ 0 w 649"/>
              <a:gd name="T37" fmla="*/ 6 h 51"/>
              <a:gd name="T38" fmla="*/ 0 w 649"/>
              <a:gd name="T39" fmla="*/ 11 h 51"/>
              <a:gd name="T40" fmla="*/ 0 w 649"/>
              <a:gd name="T41" fmla="*/ 18 h 51"/>
              <a:gd name="T42" fmla="*/ 0 w 649"/>
              <a:gd name="T43" fmla="*/ 24 h 51"/>
              <a:gd name="T44" fmla="*/ 0 w 649"/>
              <a:gd name="T45" fmla="*/ 31 h 51"/>
              <a:gd name="T46" fmla="*/ 0 w 649"/>
              <a:gd name="T47" fmla="*/ 38 h 51"/>
              <a:gd name="T48" fmla="*/ 0 w 649"/>
              <a:gd name="T49" fmla="*/ 44 h 51"/>
              <a:gd name="T50" fmla="*/ 0 w 649"/>
              <a:gd name="T51" fmla="*/ 51 h 51"/>
              <a:gd name="T52" fmla="*/ 3 w 649"/>
              <a:gd name="T53" fmla="*/ 48 h 51"/>
              <a:gd name="T54" fmla="*/ 3 w 649"/>
              <a:gd name="T55" fmla="*/ 41 h 51"/>
              <a:gd name="T56" fmla="*/ 3 w 649"/>
              <a:gd name="T57" fmla="*/ 34 h 51"/>
              <a:gd name="T58" fmla="*/ 3 w 649"/>
              <a:gd name="T59" fmla="*/ 28 h 51"/>
              <a:gd name="T60" fmla="*/ 3 w 649"/>
              <a:gd name="T61" fmla="*/ 21 h 51"/>
              <a:gd name="T62" fmla="*/ 3 w 649"/>
              <a:gd name="T63" fmla="*/ 14 h 51"/>
              <a:gd name="T64" fmla="*/ 3 w 649"/>
              <a:gd name="T65" fmla="*/ 9 h 51"/>
              <a:gd name="T66" fmla="*/ 3 w 649"/>
              <a:gd name="T67" fmla="*/ 3 h 51"/>
              <a:gd name="T68" fmla="*/ 1 w 64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9" h="51">
                <a:moveTo>
                  <a:pt x="649" y="24"/>
                </a:moveTo>
                <a:lnTo>
                  <a:pt x="649" y="21"/>
                </a:lnTo>
                <a:lnTo>
                  <a:pt x="649" y="18"/>
                </a:lnTo>
                <a:lnTo>
                  <a:pt x="649" y="14"/>
                </a:lnTo>
                <a:lnTo>
                  <a:pt x="649" y="11"/>
                </a:lnTo>
                <a:lnTo>
                  <a:pt x="649" y="9"/>
                </a:lnTo>
                <a:lnTo>
                  <a:pt x="649" y="6"/>
                </a:lnTo>
                <a:lnTo>
                  <a:pt x="649" y="3"/>
                </a:lnTo>
                <a:lnTo>
                  <a:pt x="649" y="0"/>
                </a:lnTo>
                <a:lnTo>
                  <a:pt x="645" y="0"/>
                </a:lnTo>
                <a:lnTo>
                  <a:pt x="645" y="3"/>
                </a:lnTo>
                <a:lnTo>
                  <a:pt x="645" y="6"/>
                </a:lnTo>
                <a:lnTo>
                  <a:pt x="645" y="9"/>
                </a:lnTo>
                <a:lnTo>
                  <a:pt x="645" y="11"/>
                </a:lnTo>
                <a:lnTo>
                  <a:pt x="645" y="14"/>
                </a:lnTo>
                <a:lnTo>
                  <a:pt x="645" y="18"/>
                </a:lnTo>
                <a:lnTo>
                  <a:pt x="645" y="21"/>
                </a:lnTo>
                <a:lnTo>
                  <a:pt x="645" y="24"/>
                </a:lnTo>
                <a:lnTo>
                  <a:pt x="645" y="28"/>
                </a:lnTo>
                <a:lnTo>
                  <a:pt x="645" y="31"/>
                </a:lnTo>
                <a:lnTo>
                  <a:pt x="645" y="34"/>
                </a:lnTo>
                <a:lnTo>
                  <a:pt x="645" y="38"/>
                </a:lnTo>
                <a:lnTo>
                  <a:pt x="645" y="41"/>
                </a:lnTo>
                <a:lnTo>
                  <a:pt x="645" y="44"/>
                </a:lnTo>
                <a:lnTo>
                  <a:pt x="645" y="48"/>
                </a:lnTo>
                <a:lnTo>
                  <a:pt x="645" y="51"/>
                </a:lnTo>
                <a:lnTo>
                  <a:pt x="649" y="51"/>
                </a:lnTo>
                <a:lnTo>
                  <a:pt x="649" y="48"/>
                </a:lnTo>
                <a:lnTo>
                  <a:pt x="649" y="44"/>
                </a:lnTo>
                <a:lnTo>
                  <a:pt x="649" y="41"/>
                </a:lnTo>
                <a:lnTo>
                  <a:pt x="649" y="38"/>
                </a:lnTo>
                <a:lnTo>
                  <a:pt x="649" y="34"/>
                </a:lnTo>
                <a:lnTo>
                  <a:pt x="649" y="31"/>
                </a:lnTo>
                <a:lnTo>
                  <a:pt x="649" y="28"/>
                </a:lnTo>
                <a:lnTo>
                  <a:pt x="64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56" name="Freeform 1661">
            <a:extLst>
              <a:ext uri="{FF2B5EF4-FFF2-40B4-BE49-F238E27FC236}">
                <a16:creationId xmlns:a16="http://schemas.microsoft.com/office/drawing/2014/main" id="{B2950E71-1CE5-E16F-C6C5-0AB5DA7DD264}"/>
              </a:ext>
            </a:extLst>
          </p:cNvPr>
          <p:cNvSpPr>
            <a:spLocks noEditPoints="1"/>
          </p:cNvSpPr>
          <p:nvPr/>
        </p:nvSpPr>
        <p:spPr bwMode="auto">
          <a:xfrm>
            <a:off x="2044700" y="2719388"/>
            <a:ext cx="1025525" cy="80963"/>
          </a:xfrm>
          <a:custGeom>
            <a:avLst/>
            <a:gdLst>
              <a:gd name="T0" fmla="*/ 646 w 646"/>
              <a:gd name="T1" fmla="*/ 21 h 51"/>
              <a:gd name="T2" fmla="*/ 646 w 646"/>
              <a:gd name="T3" fmla="*/ 14 h 51"/>
              <a:gd name="T4" fmla="*/ 646 w 646"/>
              <a:gd name="T5" fmla="*/ 9 h 51"/>
              <a:gd name="T6" fmla="*/ 646 w 646"/>
              <a:gd name="T7" fmla="*/ 3 h 51"/>
              <a:gd name="T8" fmla="*/ 643 w 646"/>
              <a:gd name="T9" fmla="*/ 0 h 51"/>
              <a:gd name="T10" fmla="*/ 643 w 646"/>
              <a:gd name="T11" fmla="*/ 6 h 51"/>
              <a:gd name="T12" fmla="*/ 643 w 646"/>
              <a:gd name="T13" fmla="*/ 11 h 51"/>
              <a:gd name="T14" fmla="*/ 643 w 646"/>
              <a:gd name="T15" fmla="*/ 18 h 51"/>
              <a:gd name="T16" fmla="*/ 643 w 646"/>
              <a:gd name="T17" fmla="*/ 24 h 51"/>
              <a:gd name="T18" fmla="*/ 643 w 646"/>
              <a:gd name="T19" fmla="*/ 31 h 51"/>
              <a:gd name="T20" fmla="*/ 643 w 646"/>
              <a:gd name="T21" fmla="*/ 38 h 51"/>
              <a:gd name="T22" fmla="*/ 643 w 646"/>
              <a:gd name="T23" fmla="*/ 44 h 51"/>
              <a:gd name="T24" fmla="*/ 643 w 646"/>
              <a:gd name="T25" fmla="*/ 51 h 51"/>
              <a:gd name="T26" fmla="*/ 646 w 646"/>
              <a:gd name="T27" fmla="*/ 48 h 51"/>
              <a:gd name="T28" fmla="*/ 646 w 646"/>
              <a:gd name="T29" fmla="*/ 41 h 51"/>
              <a:gd name="T30" fmla="*/ 646 w 646"/>
              <a:gd name="T31" fmla="*/ 34 h 51"/>
              <a:gd name="T32" fmla="*/ 646 w 646"/>
              <a:gd name="T33" fmla="*/ 28 h 51"/>
              <a:gd name="T34" fmla="*/ 2 w 646"/>
              <a:gd name="T35" fmla="*/ 0 h 51"/>
              <a:gd name="T36" fmla="*/ 0 w 646"/>
              <a:gd name="T37" fmla="*/ 6 h 51"/>
              <a:gd name="T38" fmla="*/ 0 w 646"/>
              <a:gd name="T39" fmla="*/ 11 h 51"/>
              <a:gd name="T40" fmla="*/ 0 w 646"/>
              <a:gd name="T41" fmla="*/ 18 h 51"/>
              <a:gd name="T42" fmla="*/ 0 w 646"/>
              <a:gd name="T43" fmla="*/ 24 h 51"/>
              <a:gd name="T44" fmla="*/ 0 w 646"/>
              <a:gd name="T45" fmla="*/ 31 h 51"/>
              <a:gd name="T46" fmla="*/ 0 w 646"/>
              <a:gd name="T47" fmla="*/ 38 h 51"/>
              <a:gd name="T48" fmla="*/ 0 w 646"/>
              <a:gd name="T49" fmla="*/ 44 h 51"/>
              <a:gd name="T50" fmla="*/ 0 w 646"/>
              <a:gd name="T51" fmla="*/ 51 h 51"/>
              <a:gd name="T52" fmla="*/ 4 w 646"/>
              <a:gd name="T53" fmla="*/ 48 h 51"/>
              <a:gd name="T54" fmla="*/ 4 w 646"/>
              <a:gd name="T55" fmla="*/ 41 h 51"/>
              <a:gd name="T56" fmla="*/ 4 w 646"/>
              <a:gd name="T57" fmla="*/ 34 h 51"/>
              <a:gd name="T58" fmla="*/ 4 w 646"/>
              <a:gd name="T59" fmla="*/ 28 h 51"/>
              <a:gd name="T60" fmla="*/ 4 w 646"/>
              <a:gd name="T61" fmla="*/ 21 h 51"/>
              <a:gd name="T62" fmla="*/ 4 w 646"/>
              <a:gd name="T63" fmla="*/ 14 h 51"/>
              <a:gd name="T64" fmla="*/ 4 w 646"/>
              <a:gd name="T65" fmla="*/ 9 h 51"/>
              <a:gd name="T66" fmla="*/ 4 w 646"/>
              <a:gd name="T67" fmla="*/ 3 h 51"/>
              <a:gd name="T68" fmla="*/ 2 w 6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6" h="51">
                <a:moveTo>
                  <a:pt x="646" y="24"/>
                </a:moveTo>
                <a:lnTo>
                  <a:pt x="646" y="21"/>
                </a:lnTo>
                <a:lnTo>
                  <a:pt x="646" y="18"/>
                </a:lnTo>
                <a:lnTo>
                  <a:pt x="646" y="14"/>
                </a:lnTo>
                <a:lnTo>
                  <a:pt x="646" y="11"/>
                </a:lnTo>
                <a:lnTo>
                  <a:pt x="646" y="9"/>
                </a:lnTo>
                <a:lnTo>
                  <a:pt x="646" y="6"/>
                </a:lnTo>
                <a:lnTo>
                  <a:pt x="646" y="3"/>
                </a:lnTo>
                <a:lnTo>
                  <a:pt x="646" y="0"/>
                </a:lnTo>
                <a:lnTo>
                  <a:pt x="643" y="0"/>
                </a:lnTo>
                <a:lnTo>
                  <a:pt x="643" y="3"/>
                </a:lnTo>
                <a:lnTo>
                  <a:pt x="643" y="6"/>
                </a:lnTo>
                <a:lnTo>
                  <a:pt x="643" y="9"/>
                </a:lnTo>
                <a:lnTo>
                  <a:pt x="643" y="11"/>
                </a:lnTo>
                <a:lnTo>
                  <a:pt x="643" y="14"/>
                </a:lnTo>
                <a:lnTo>
                  <a:pt x="643" y="18"/>
                </a:lnTo>
                <a:lnTo>
                  <a:pt x="643" y="21"/>
                </a:lnTo>
                <a:lnTo>
                  <a:pt x="643" y="24"/>
                </a:lnTo>
                <a:lnTo>
                  <a:pt x="643" y="28"/>
                </a:lnTo>
                <a:lnTo>
                  <a:pt x="643" y="31"/>
                </a:lnTo>
                <a:lnTo>
                  <a:pt x="643" y="34"/>
                </a:lnTo>
                <a:lnTo>
                  <a:pt x="643" y="38"/>
                </a:lnTo>
                <a:lnTo>
                  <a:pt x="643" y="41"/>
                </a:lnTo>
                <a:lnTo>
                  <a:pt x="643" y="44"/>
                </a:lnTo>
                <a:lnTo>
                  <a:pt x="643" y="48"/>
                </a:lnTo>
                <a:lnTo>
                  <a:pt x="643" y="51"/>
                </a:lnTo>
                <a:lnTo>
                  <a:pt x="646" y="51"/>
                </a:lnTo>
                <a:lnTo>
                  <a:pt x="646" y="48"/>
                </a:lnTo>
                <a:lnTo>
                  <a:pt x="646" y="44"/>
                </a:lnTo>
                <a:lnTo>
                  <a:pt x="646" y="41"/>
                </a:lnTo>
                <a:lnTo>
                  <a:pt x="646" y="38"/>
                </a:lnTo>
                <a:lnTo>
                  <a:pt x="646" y="34"/>
                </a:lnTo>
                <a:lnTo>
                  <a:pt x="646" y="31"/>
                </a:lnTo>
                <a:lnTo>
                  <a:pt x="646" y="28"/>
                </a:lnTo>
                <a:lnTo>
                  <a:pt x="64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57" name="Freeform 1662">
            <a:extLst>
              <a:ext uri="{FF2B5EF4-FFF2-40B4-BE49-F238E27FC236}">
                <a16:creationId xmlns:a16="http://schemas.microsoft.com/office/drawing/2014/main" id="{5E5AEB95-B770-798E-424E-91ED7DB22A19}"/>
              </a:ext>
            </a:extLst>
          </p:cNvPr>
          <p:cNvSpPr>
            <a:spLocks noEditPoints="1"/>
          </p:cNvSpPr>
          <p:nvPr/>
        </p:nvSpPr>
        <p:spPr bwMode="auto">
          <a:xfrm>
            <a:off x="2047875" y="2719388"/>
            <a:ext cx="1019175" cy="80963"/>
          </a:xfrm>
          <a:custGeom>
            <a:avLst/>
            <a:gdLst>
              <a:gd name="T0" fmla="*/ 642 w 642"/>
              <a:gd name="T1" fmla="*/ 21 h 51"/>
              <a:gd name="T2" fmla="*/ 642 w 642"/>
              <a:gd name="T3" fmla="*/ 14 h 51"/>
              <a:gd name="T4" fmla="*/ 642 w 642"/>
              <a:gd name="T5" fmla="*/ 9 h 51"/>
              <a:gd name="T6" fmla="*/ 642 w 642"/>
              <a:gd name="T7" fmla="*/ 3 h 51"/>
              <a:gd name="T8" fmla="*/ 639 w 642"/>
              <a:gd name="T9" fmla="*/ 0 h 51"/>
              <a:gd name="T10" fmla="*/ 639 w 642"/>
              <a:gd name="T11" fmla="*/ 6 h 51"/>
              <a:gd name="T12" fmla="*/ 639 w 642"/>
              <a:gd name="T13" fmla="*/ 11 h 51"/>
              <a:gd name="T14" fmla="*/ 639 w 642"/>
              <a:gd name="T15" fmla="*/ 18 h 51"/>
              <a:gd name="T16" fmla="*/ 639 w 642"/>
              <a:gd name="T17" fmla="*/ 24 h 51"/>
              <a:gd name="T18" fmla="*/ 639 w 642"/>
              <a:gd name="T19" fmla="*/ 31 h 51"/>
              <a:gd name="T20" fmla="*/ 639 w 642"/>
              <a:gd name="T21" fmla="*/ 38 h 51"/>
              <a:gd name="T22" fmla="*/ 639 w 642"/>
              <a:gd name="T23" fmla="*/ 44 h 51"/>
              <a:gd name="T24" fmla="*/ 639 w 642"/>
              <a:gd name="T25" fmla="*/ 51 h 51"/>
              <a:gd name="T26" fmla="*/ 642 w 642"/>
              <a:gd name="T27" fmla="*/ 48 h 51"/>
              <a:gd name="T28" fmla="*/ 642 w 642"/>
              <a:gd name="T29" fmla="*/ 41 h 51"/>
              <a:gd name="T30" fmla="*/ 642 w 642"/>
              <a:gd name="T31" fmla="*/ 34 h 51"/>
              <a:gd name="T32" fmla="*/ 642 w 642"/>
              <a:gd name="T33" fmla="*/ 28 h 51"/>
              <a:gd name="T34" fmla="*/ 2 w 642"/>
              <a:gd name="T35" fmla="*/ 0 h 51"/>
              <a:gd name="T36" fmla="*/ 0 w 642"/>
              <a:gd name="T37" fmla="*/ 6 h 51"/>
              <a:gd name="T38" fmla="*/ 0 w 642"/>
              <a:gd name="T39" fmla="*/ 11 h 51"/>
              <a:gd name="T40" fmla="*/ 0 w 642"/>
              <a:gd name="T41" fmla="*/ 18 h 51"/>
              <a:gd name="T42" fmla="*/ 0 w 642"/>
              <a:gd name="T43" fmla="*/ 24 h 51"/>
              <a:gd name="T44" fmla="*/ 0 w 642"/>
              <a:gd name="T45" fmla="*/ 31 h 51"/>
              <a:gd name="T46" fmla="*/ 0 w 642"/>
              <a:gd name="T47" fmla="*/ 38 h 51"/>
              <a:gd name="T48" fmla="*/ 0 w 642"/>
              <a:gd name="T49" fmla="*/ 44 h 51"/>
              <a:gd name="T50" fmla="*/ 0 w 642"/>
              <a:gd name="T51" fmla="*/ 51 h 51"/>
              <a:gd name="T52" fmla="*/ 3 w 642"/>
              <a:gd name="T53" fmla="*/ 48 h 51"/>
              <a:gd name="T54" fmla="*/ 3 w 642"/>
              <a:gd name="T55" fmla="*/ 41 h 51"/>
              <a:gd name="T56" fmla="*/ 3 w 642"/>
              <a:gd name="T57" fmla="*/ 34 h 51"/>
              <a:gd name="T58" fmla="*/ 3 w 642"/>
              <a:gd name="T59" fmla="*/ 28 h 51"/>
              <a:gd name="T60" fmla="*/ 3 w 642"/>
              <a:gd name="T61" fmla="*/ 21 h 51"/>
              <a:gd name="T62" fmla="*/ 3 w 642"/>
              <a:gd name="T63" fmla="*/ 14 h 51"/>
              <a:gd name="T64" fmla="*/ 3 w 642"/>
              <a:gd name="T65" fmla="*/ 9 h 51"/>
              <a:gd name="T66" fmla="*/ 3 w 642"/>
              <a:gd name="T67" fmla="*/ 3 h 51"/>
              <a:gd name="T68" fmla="*/ 2 w 6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42" h="51">
                <a:moveTo>
                  <a:pt x="642" y="24"/>
                </a:moveTo>
                <a:lnTo>
                  <a:pt x="642" y="21"/>
                </a:lnTo>
                <a:lnTo>
                  <a:pt x="642" y="18"/>
                </a:lnTo>
                <a:lnTo>
                  <a:pt x="642" y="14"/>
                </a:lnTo>
                <a:lnTo>
                  <a:pt x="642" y="11"/>
                </a:lnTo>
                <a:lnTo>
                  <a:pt x="642" y="9"/>
                </a:lnTo>
                <a:lnTo>
                  <a:pt x="642" y="6"/>
                </a:lnTo>
                <a:lnTo>
                  <a:pt x="642" y="3"/>
                </a:lnTo>
                <a:lnTo>
                  <a:pt x="642" y="0"/>
                </a:lnTo>
                <a:lnTo>
                  <a:pt x="639" y="0"/>
                </a:lnTo>
                <a:lnTo>
                  <a:pt x="639" y="3"/>
                </a:lnTo>
                <a:lnTo>
                  <a:pt x="639" y="6"/>
                </a:lnTo>
                <a:lnTo>
                  <a:pt x="639" y="9"/>
                </a:lnTo>
                <a:lnTo>
                  <a:pt x="639" y="11"/>
                </a:lnTo>
                <a:lnTo>
                  <a:pt x="639" y="14"/>
                </a:lnTo>
                <a:lnTo>
                  <a:pt x="639" y="18"/>
                </a:lnTo>
                <a:lnTo>
                  <a:pt x="639" y="21"/>
                </a:lnTo>
                <a:lnTo>
                  <a:pt x="639" y="24"/>
                </a:lnTo>
                <a:lnTo>
                  <a:pt x="639" y="28"/>
                </a:lnTo>
                <a:lnTo>
                  <a:pt x="639" y="31"/>
                </a:lnTo>
                <a:lnTo>
                  <a:pt x="639" y="34"/>
                </a:lnTo>
                <a:lnTo>
                  <a:pt x="639" y="38"/>
                </a:lnTo>
                <a:lnTo>
                  <a:pt x="639" y="41"/>
                </a:lnTo>
                <a:lnTo>
                  <a:pt x="639" y="44"/>
                </a:lnTo>
                <a:lnTo>
                  <a:pt x="639" y="48"/>
                </a:lnTo>
                <a:lnTo>
                  <a:pt x="639" y="51"/>
                </a:lnTo>
                <a:lnTo>
                  <a:pt x="642" y="51"/>
                </a:lnTo>
                <a:lnTo>
                  <a:pt x="642" y="48"/>
                </a:lnTo>
                <a:lnTo>
                  <a:pt x="642" y="44"/>
                </a:lnTo>
                <a:lnTo>
                  <a:pt x="642" y="41"/>
                </a:lnTo>
                <a:lnTo>
                  <a:pt x="642" y="38"/>
                </a:lnTo>
                <a:lnTo>
                  <a:pt x="642" y="34"/>
                </a:lnTo>
                <a:lnTo>
                  <a:pt x="642" y="31"/>
                </a:lnTo>
                <a:lnTo>
                  <a:pt x="642" y="28"/>
                </a:lnTo>
                <a:lnTo>
                  <a:pt x="64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58" name="Freeform 1663">
            <a:extLst>
              <a:ext uri="{FF2B5EF4-FFF2-40B4-BE49-F238E27FC236}">
                <a16:creationId xmlns:a16="http://schemas.microsoft.com/office/drawing/2014/main" id="{4F20122D-3706-FFAC-3AA5-B4F4854068AA}"/>
              </a:ext>
            </a:extLst>
          </p:cNvPr>
          <p:cNvSpPr>
            <a:spLocks noEditPoints="1"/>
          </p:cNvSpPr>
          <p:nvPr/>
        </p:nvSpPr>
        <p:spPr bwMode="auto">
          <a:xfrm>
            <a:off x="2051050" y="2719388"/>
            <a:ext cx="1014413" cy="80963"/>
          </a:xfrm>
          <a:custGeom>
            <a:avLst/>
            <a:gdLst>
              <a:gd name="T0" fmla="*/ 639 w 639"/>
              <a:gd name="T1" fmla="*/ 21 h 51"/>
              <a:gd name="T2" fmla="*/ 639 w 639"/>
              <a:gd name="T3" fmla="*/ 14 h 51"/>
              <a:gd name="T4" fmla="*/ 639 w 639"/>
              <a:gd name="T5" fmla="*/ 9 h 51"/>
              <a:gd name="T6" fmla="*/ 639 w 639"/>
              <a:gd name="T7" fmla="*/ 3 h 51"/>
              <a:gd name="T8" fmla="*/ 635 w 639"/>
              <a:gd name="T9" fmla="*/ 0 h 51"/>
              <a:gd name="T10" fmla="*/ 635 w 639"/>
              <a:gd name="T11" fmla="*/ 6 h 51"/>
              <a:gd name="T12" fmla="*/ 635 w 639"/>
              <a:gd name="T13" fmla="*/ 11 h 51"/>
              <a:gd name="T14" fmla="*/ 635 w 639"/>
              <a:gd name="T15" fmla="*/ 18 h 51"/>
              <a:gd name="T16" fmla="*/ 635 w 639"/>
              <a:gd name="T17" fmla="*/ 24 h 51"/>
              <a:gd name="T18" fmla="*/ 635 w 639"/>
              <a:gd name="T19" fmla="*/ 31 h 51"/>
              <a:gd name="T20" fmla="*/ 635 w 639"/>
              <a:gd name="T21" fmla="*/ 38 h 51"/>
              <a:gd name="T22" fmla="*/ 635 w 639"/>
              <a:gd name="T23" fmla="*/ 44 h 51"/>
              <a:gd name="T24" fmla="*/ 635 w 639"/>
              <a:gd name="T25" fmla="*/ 51 h 51"/>
              <a:gd name="T26" fmla="*/ 639 w 639"/>
              <a:gd name="T27" fmla="*/ 48 h 51"/>
              <a:gd name="T28" fmla="*/ 639 w 639"/>
              <a:gd name="T29" fmla="*/ 41 h 51"/>
              <a:gd name="T30" fmla="*/ 639 w 639"/>
              <a:gd name="T31" fmla="*/ 34 h 51"/>
              <a:gd name="T32" fmla="*/ 639 w 639"/>
              <a:gd name="T33" fmla="*/ 28 h 51"/>
              <a:gd name="T34" fmla="*/ 1 w 639"/>
              <a:gd name="T35" fmla="*/ 0 h 51"/>
              <a:gd name="T36" fmla="*/ 0 w 639"/>
              <a:gd name="T37" fmla="*/ 6 h 51"/>
              <a:gd name="T38" fmla="*/ 0 w 639"/>
              <a:gd name="T39" fmla="*/ 11 h 51"/>
              <a:gd name="T40" fmla="*/ 0 w 639"/>
              <a:gd name="T41" fmla="*/ 18 h 51"/>
              <a:gd name="T42" fmla="*/ 0 w 639"/>
              <a:gd name="T43" fmla="*/ 24 h 51"/>
              <a:gd name="T44" fmla="*/ 0 w 639"/>
              <a:gd name="T45" fmla="*/ 31 h 51"/>
              <a:gd name="T46" fmla="*/ 0 w 639"/>
              <a:gd name="T47" fmla="*/ 38 h 51"/>
              <a:gd name="T48" fmla="*/ 0 w 639"/>
              <a:gd name="T49" fmla="*/ 44 h 51"/>
              <a:gd name="T50" fmla="*/ 0 w 639"/>
              <a:gd name="T51" fmla="*/ 51 h 51"/>
              <a:gd name="T52" fmla="*/ 3 w 639"/>
              <a:gd name="T53" fmla="*/ 48 h 51"/>
              <a:gd name="T54" fmla="*/ 3 w 639"/>
              <a:gd name="T55" fmla="*/ 41 h 51"/>
              <a:gd name="T56" fmla="*/ 3 w 639"/>
              <a:gd name="T57" fmla="*/ 34 h 51"/>
              <a:gd name="T58" fmla="*/ 3 w 639"/>
              <a:gd name="T59" fmla="*/ 28 h 51"/>
              <a:gd name="T60" fmla="*/ 3 w 639"/>
              <a:gd name="T61" fmla="*/ 21 h 51"/>
              <a:gd name="T62" fmla="*/ 3 w 639"/>
              <a:gd name="T63" fmla="*/ 14 h 51"/>
              <a:gd name="T64" fmla="*/ 3 w 639"/>
              <a:gd name="T65" fmla="*/ 9 h 51"/>
              <a:gd name="T66" fmla="*/ 3 w 639"/>
              <a:gd name="T67" fmla="*/ 3 h 51"/>
              <a:gd name="T68" fmla="*/ 1 w 63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9" h="51">
                <a:moveTo>
                  <a:pt x="639" y="24"/>
                </a:moveTo>
                <a:lnTo>
                  <a:pt x="639" y="21"/>
                </a:lnTo>
                <a:lnTo>
                  <a:pt x="639" y="18"/>
                </a:lnTo>
                <a:lnTo>
                  <a:pt x="639" y="14"/>
                </a:lnTo>
                <a:lnTo>
                  <a:pt x="639" y="11"/>
                </a:lnTo>
                <a:lnTo>
                  <a:pt x="639" y="9"/>
                </a:lnTo>
                <a:lnTo>
                  <a:pt x="639" y="6"/>
                </a:lnTo>
                <a:lnTo>
                  <a:pt x="639" y="3"/>
                </a:lnTo>
                <a:lnTo>
                  <a:pt x="639" y="0"/>
                </a:lnTo>
                <a:lnTo>
                  <a:pt x="635" y="0"/>
                </a:lnTo>
                <a:lnTo>
                  <a:pt x="635" y="3"/>
                </a:lnTo>
                <a:lnTo>
                  <a:pt x="635" y="6"/>
                </a:lnTo>
                <a:lnTo>
                  <a:pt x="635" y="9"/>
                </a:lnTo>
                <a:lnTo>
                  <a:pt x="635" y="11"/>
                </a:lnTo>
                <a:lnTo>
                  <a:pt x="635" y="14"/>
                </a:lnTo>
                <a:lnTo>
                  <a:pt x="635" y="18"/>
                </a:lnTo>
                <a:lnTo>
                  <a:pt x="635" y="21"/>
                </a:lnTo>
                <a:lnTo>
                  <a:pt x="635" y="24"/>
                </a:lnTo>
                <a:lnTo>
                  <a:pt x="635" y="28"/>
                </a:lnTo>
                <a:lnTo>
                  <a:pt x="635" y="31"/>
                </a:lnTo>
                <a:lnTo>
                  <a:pt x="635" y="34"/>
                </a:lnTo>
                <a:lnTo>
                  <a:pt x="635" y="38"/>
                </a:lnTo>
                <a:lnTo>
                  <a:pt x="635" y="41"/>
                </a:lnTo>
                <a:lnTo>
                  <a:pt x="635" y="44"/>
                </a:lnTo>
                <a:lnTo>
                  <a:pt x="635" y="48"/>
                </a:lnTo>
                <a:lnTo>
                  <a:pt x="635" y="51"/>
                </a:lnTo>
                <a:lnTo>
                  <a:pt x="639" y="51"/>
                </a:lnTo>
                <a:lnTo>
                  <a:pt x="639" y="48"/>
                </a:lnTo>
                <a:lnTo>
                  <a:pt x="639" y="44"/>
                </a:lnTo>
                <a:lnTo>
                  <a:pt x="639" y="41"/>
                </a:lnTo>
                <a:lnTo>
                  <a:pt x="639" y="38"/>
                </a:lnTo>
                <a:lnTo>
                  <a:pt x="639" y="34"/>
                </a:lnTo>
                <a:lnTo>
                  <a:pt x="639" y="31"/>
                </a:lnTo>
                <a:lnTo>
                  <a:pt x="639" y="28"/>
                </a:lnTo>
                <a:lnTo>
                  <a:pt x="63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59" name="Freeform 1664">
            <a:extLst>
              <a:ext uri="{FF2B5EF4-FFF2-40B4-BE49-F238E27FC236}">
                <a16:creationId xmlns:a16="http://schemas.microsoft.com/office/drawing/2014/main" id="{665A2DF3-50C5-1181-9952-3534C163E99F}"/>
              </a:ext>
            </a:extLst>
          </p:cNvPr>
          <p:cNvSpPr>
            <a:spLocks noEditPoints="1"/>
          </p:cNvSpPr>
          <p:nvPr/>
        </p:nvSpPr>
        <p:spPr bwMode="auto">
          <a:xfrm>
            <a:off x="2052638" y="2719388"/>
            <a:ext cx="1009650" cy="80963"/>
          </a:xfrm>
          <a:custGeom>
            <a:avLst/>
            <a:gdLst>
              <a:gd name="T0" fmla="*/ 636 w 636"/>
              <a:gd name="T1" fmla="*/ 21 h 51"/>
              <a:gd name="T2" fmla="*/ 636 w 636"/>
              <a:gd name="T3" fmla="*/ 14 h 51"/>
              <a:gd name="T4" fmla="*/ 636 w 636"/>
              <a:gd name="T5" fmla="*/ 9 h 51"/>
              <a:gd name="T6" fmla="*/ 636 w 636"/>
              <a:gd name="T7" fmla="*/ 3 h 51"/>
              <a:gd name="T8" fmla="*/ 633 w 636"/>
              <a:gd name="T9" fmla="*/ 0 h 51"/>
              <a:gd name="T10" fmla="*/ 633 w 636"/>
              <a:gd name="T11" fmla="*/ 6 h 51"/>
              <a:gd name="T12" fmla="*/ 633 w 636"/>
              <a:gd name="T13" fmla="*/ 11 h 51"/>
              <a:gd name="T14" fmla="*/ 633 w 636"/>
              <a:gd name="T15" fmla="*/ 18 h 51"/>
              <a:gd name="T16" fmla="*/ 633 w 636"/>
              <a:gd name="T17" fmla="*/ 24 h 51"/>
              <a:gd name="T18" fmla="*/ 633 w 636"/>
              <a:gd name="T19" fmla="*/ 31 h 51"/>
              <a:gd name="T20" fmla="*/ 633 w 636"/>
              <a:gd name="T21" fmla="*/ 38 h 51"/>
              <a:gd name="T22" fmla="*/ 633 w 636"/>
              <a:gd name="T23" fmla="*/ 44 h 51"/>
              <a:gd name="T24" fmla="*/ 633 w 636"/>
              <a:gd name="T25" fmla="*/ 51 h 51"/>
              <a:gd name="T26" fmla="*/ 636 w 636"/>
              <a:gd name="T27" fmla="*/ 48 h 51"/>
              <a:gd name="T28" fmla="*/ 636 w 636"/>
              <a:gd name="T29" fmla="*/ 41 h 51"/>
              <a:gd name="T30" fmla="*/ 636 w 636"/>
              <a:gd name="T31" fmla="*/ 34 h 51"/>
              <a:gd name="T32" fmla="*/ 636 w 636"/>
              <a:gd name="T33" fmla="*/ 28 h 51"/>
              <a:gd name="T34" fmla="*/ 2 w 636"/>
              <a:gd name="T35" fmla="*/ 0 h 51"/>
              <a:gd name="T36" fmla="*/ 0 w 636"/>
              <a:gd name="T37" fmla="*/ 6 h 51"/>
              <a:gd name="T38" fmla="*/ 0 w 636"/>
              <a:gd name="T39" fmla="*/ 11 h 51"/>
              <a:gd name="T40" fmla="*/ 0 w 636"/>
              <a:gd name="T41" fmla="*/ 18 h 51"/>
              <a:gd name="T42" fmla="*/ 0 w 636"/>
              <a:gd name="T43" fmla="*/ 24 h 51"/>
              <a:gd name="T44" fmla="*/ 0 w 636"/>
              <a:gd name="T45" fmla="*/ 31 h 51"/>
              <a:gd name="T46" fmla="*/ 0 w 636"/>
              <a:gd name="T47" fmla="*/ 38 h 51"/>
              <a:gd name="T48" fmla="*/ 0 w 636"/>
              <a:gd name="T49" fmla="*/ 44 h 51"/>
              <a:gd name="T50" fmla="*/ 0 w 636"/>
              <a:gd name="T51" fmla="*/ 51 h 51"/>
              <a:gd name="T52" fmla="*/ 4 w 636"/>
              <a:gd name="T53" fmla="*/ 48 h 51"/>
              <a:gd name="T54" fmla="*/ 4 w 636"/>
              <a:gd name="T55" fmla="*/ 41 h 51"/>
              <a:gd name="T56" fmla="*/ 4 w 636"/>
              <a:gd name="T57" fmla="*/ 34 h 51"/>
              <a:gd name="T58" fmla="*/ 4 w 636"/>
              <a:gd name="T59" fmla="*/ 28 h 51"/>
              <a:gd name="T60" fmla="*/ 4 w 636"/>
              <a:gd name="T61" fmla="*/ 21 h 51"/>
              <a:gd name="T62" fmla="*/ 4 w 636"/>
              <a:gd name="T63" fmla="*/ 14 h 51"/>
              <a:gd name="T64" fmla="*/ 4 w 636"/>
              <a:gd name="T65" fmla="*/ 9 h 51"/>
              <a:gd name="T66" fmla="*/ 4 w 636"/>
              <a:gd name="T67" fmla="*/ 3 h 51"/>
              <a:gd name="T68" fmla="*/ 2 w 6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6" h="51">
                <a:moveTo>
                  <a:pt x="636" y="24"/>
                </a:moveTo>
                <a:lnTo>
                  <a:pt x="636" y="21"/>
                </a:lnTo>
                <a:lnTo>
                  <a:pt x="636" y="18"/>
                </a:lnTo>
                <a:lnTo>
                  <a:pt x="636" y="14"/>
                </a:lnTo>
                <a:lnTo>
                  <a:pt x="636" y="11"/>
                </a:lnTo>
                <a:lnTo>
                  <a:pt x="636" y="9"/>
                </a:lnTo>
                <a:lnTo>
                  <a:pt x="636" y="6"/>
                </a:lnTo>
                <a:lnTo>
                  <a:pt x="636" y="3"/>
                </a:lnTo>
                <a:lnTo>
                  <a:pt x="636" y="0"/>
                </a:lnTo>
                <a:lnTo>
                  <a:pt x="633" y="0"/>
                </a:lnTo>
                <a:lnTo>
                  <a:pt x="633" y="3"/>
                </a:lnTo>
                <a:lnTo>
                  <a:pt x="633" y="6"/>
                </a:lnTo>
                <a:lnTo>
                  <a:pt x="633" y="9"/>
                </a:lnTo>
                <a:lnTo>
                  <a:pt x="633" y="11"/>
                </a:lnTo>
                <a:lnTo>
                  <a:pt x="633" y="14"/>
                </a:lnTo>
                <a:lnTo>
                  <a:pt x="633" y="18"/>
                </a:lnTo>
                <a:lnTo>
                  <a:pt x="633" y="21"/>
                </a:lnTo>
                <a:lnTo>
                  <a:pt x="633" y="24"/>
                </a:lnTo>
                <a:lnTo>
                  <a:pt x="633" y="28"/>
                </a:lnTo>
                <a:lnTo>
                  <a:pt x="633" y="31"/>
                </a:lnTo>
                <a:lnTo>
                  <a:pt x="633" y="34"/>
                </a:lnTo>
                <a:lnTo>
                  <a:pt x="633" y="38"/>
                </a:lnTo>
                <a:lnTo>
                  <a:pt x="633" y="41"/>
                </a:lnTo>
                <a:lnTo>
                  <a:pt x="633" y="44"/>
                </a:lnTo>
                <a:lnTo>
                  <a:pt x="633" y="48"/>
                </a:lnTo>
                <a:lnTo>
                  <a:pt x="633" y="51"/>
                </a:lnTo>
                <a:lnTo>
                  <a:pt x="636" y="51"/>
                </a:lnTo>
                <a:lnTo>
                  <a:pt x="636" y="48"/>
                </a:lnTo>
                <a:lnTo>
                  <a:pt x="636" y="44"/>
                </a:lnTo>
                <a:lnTo>
                  <a:pt x="636" y="41"/>
                </a:lnTo>
                <a:lnTo>
                  <a:pt x="636" y="38"/>
                </a:lnTo>
                <a:lnTo>
                  <a:pt x="636" y="34"/>
                </a:lnTo>
                <a:lnTo>
                  <a:pt x="636" y="31"/>
                </a:lnTo>
                <a:lnTo>
                  <a:pt x="636" y="28"/>
                </a:lnTo>
                <a:lnTo>
                  <a:pt x="63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60" name="Freeform 1665">
            <a:extLst>
              <a:ext uri="{FF2B5EF4-FFF2-40B4-BE49-F238E27FC236}">
                <a16:creationId xmlns:a16="http://schemas.microsoft.com/office/drawing/2014/main" id="{BF0ACA46-A413-F495-231D-F4D212DFEA31}"/>
              </a:ext>
            </a:extLst>
          </p:cNvPr>
          <p:cNvSpPr>
            <a:spLocks noEditPoints="1"/>
          </p:cNvSpPr>
          <p:nvPr/>
        </p:nvSpPr>
        <p:spPr bwMode="auto">
          <a:xfrm>
            <a:off x="2055813" y="2719388"/>
            <a:ext cx="1003300" cy="80963"/>
          </a:xfrm>
          <a:custGeom>
            <a:avLst/>
            <a:gdLst>
              <a:gd name="T0" fmla="*/ 632 w 632"/>
              <a:gd name="T1" fmla="*/ 21 h 51"/>
              <a:gd name="T2" fmla="*/ 632 w 632"/>
              <a:gd name="T3" fmla="*/ 14 h 51"/>
              <a:gd name="T4" fmla="*/ 632 w 632"/>
              <a:gd name="T5" fmla="*/ 9 h 51"/>
              <a:gd name="T6" fmla="*/ 632 w 632"/>
              <a:gd name="T7" fmla="*/ 3 h 51"/>
              <a:gd name="T8" fmla="*/ 629 w 632"/>
              <a:gd name="T9" fmla="*/ 0 h 51"/>
              <a:gd name="T10" fmla="*/ 629 w 632"/>
              <a:gd name="T11" fmla="*/ 6 h 51"/>
              <a:gd name="T12" fmla="*/ 629 w 632"/>
              <a:gd name="T13" fmla="*/ 11 h 51"/>
              <a:gd name="T14" fmla="*/ 629 w 632"/>
              <a:gd name="T15" fmla="*/ 18 h 51"/>
              <a:gd name="T16" fmla="*/ 629 w 632"/>
              <a:gd name="T17" fmla="*/ 24 h 51"/>
              <a:gd name="T18" fmla="*/ 629 w 632"/>
              <a:gd name="T19" fmla="*/ 31 h 51"/>
              <a:gd name="T20" fmla="*/ 629 w 632"/>
              <a:gd name="T21" fmla="*/ 38 h 51"/>
              <a:gd name="T22" fmla="*/ 629 w 632"/>
              <a:gd name="T23" fmla="*/ 44 h 51"/>
              <a:gd name="T24" fmla="*/ 629 w 632"/>
              <a:gd name="T25" fmla="*/ 51 h 51"/>
              <a:gd name="T26" fmla="*/ 632 w 632"/>
              <a:gd name="T27" fmla="*/ 48 h 51"/>
              <a:gd name="T28" fmla="*/ 632 w 632"/>
              <a:gd name="T29" fmla="*/ 41 h 51"/>
              <a:gd name="T30" fmla="*/ 632 w 632"/>
              <a:gd name="T31" fmla="*/ 34 h 51"/>
              <a:gd name="T32" fmla="*/ 632 w 632"/>
              <a:gd name="T33" fmla="*/ 28 h 51"/>
              <a:gd name="T34" fmla="*/ 2 w 632"/>
              <a:gd name="T35" fmla="*/ 0 h 51"/>
              <a:gd name="T36" fmla="*/ 0 w 632"/>
              <a:gd name="T37" fmla="*/ 6 h 51"/>
              <a:gd name="T38" fmla="*/ 0 w 632"/>
              <a:gd name="T39" fmla="*/ 11 h 51"/>
              <a:gd name="T40" fmla="*/ 0 w 632"/>
              <a:gd name="T41" fmla="*/ 18 h 51"/>
              <a:gd name="T42" fmla="*/ 0 w 632"/>
              <a:gd name="T43" fmla="*/ 24 h 51"/>
              <a:gd name="T44" fmla="*/ 0 w 632"/>
              <a:gd name="T45" fmla="*/ 31 h 51"/>
              <a:gd name="T46" fmla="*/ 0 w 632"/>
              <a:gd name="T47" fmla="*/ 38 h 51"/>
              <a:gd name="T48" fmla="*/ 0 w 632"/>
              <a:gd name="T49" fmla="*/ 44 h 51"/>
              <a:gd name="T50" fmla="*/ 0 w 632"/>
              <a:gd name="T51" fmla="*/ 51 h 51"/>
              <a:gd name="T52" fmla="*/ 3 w 632"/>
              <a:gd name="T53" fmla="*/ 48 h 51"/>
              <a:gd name="T54" fmla="*/ 3 w 632"/>
              <a:gd name="T55" fmla="*/ 41 h 51"/>
              <a:gd name="T56" fmla="*/ 3 w 632"/>
              <a:gd name="T57" fmla="*/ 34 h 51"/>
              <a:gd name="T58" fmla="*/ 3 w 632"/>
              <a:gd name="T59" fmla="*/ 28 h 51"/>
              <a:gd name="T60" fmla="*/ 3 w 632"/>
              <a:gd name="T61" fmla="*/ 21 h 51"/>
              <a:gd name="T62" fmla="*/ 3 w 632"/>
              <a:gd name="T63" fmla="*/ 14 h 51"/>
              <a:gd name="T64" fmla="*/ 3 w 632"/>
              <a:gd name="T65" fmla="*/ 9 h 51"/>
              <a:gd name="T66" fmla="*/ 3 w 632"/>
              <a:gd name="T67" fmla="*/ 3 h 51"/>
              <a:gd name="T68" fmla="*/ 2 w 6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2" h="51">
                <a:moveTo>
                  <a:pt x="632" y="24"/>
                </a:moveTo>
                <a:lnTo>
                  <a:pt x="632" y="21"/>
                </a:lnTo>
                <a:lnTo>
                  <a:pt x="632" y="18"/>
                </a:lnTo>
                <a:lnTo>
                  <a:pt x="632" y="14"/>
                </a:lnTo>
                <a:lnTo>
                  <a:pt x="632" y="11"/>
                </a:lnTo>
                <a:lnTo>
                  <a:pt x="632" y="9"/>
                </a:lnTo>
                <a:lnTo>
                  <a:pt x="632" y="6"/>
                </a:lnTo>
                <a:lnTo>
                  <a:pt x="632" y="3"/>
                </a:lnTo>
                <a:lnTo>
                  <a:pt x="632" y="0"/>
                </a:lnTo>
                <a:lnTo>
                  <a:pt x="629" y="0"/>
                </a:lnTo>
                <a:lnTo>
                  <a:pt x="629" y="3"/>
                </a:lnTo>
                <a:lnTo>
                  <a:pt x="629" y="6"/>
                </a:lnTo>
                <a:lnTo>
                  <a:pt x="629" y="9"/>
                </a:lnTo>
                <a:lnTo>
                  <a:pt x="629" y="11"/>
                </a:lnTo>
                <a:lnTo>
                  <a:pt x="629" y="14"/>
                </a:lnTo>
                <a:lnTo>
                  <a:pt x="629" y="18"/>
                </a:lnTo>
                <a:lnTo>
                  <a:pt x="629" y="21"/>
                </a:lnTo>
                <a:lnTo>
                  <a:pt x="629" y="24"/>
                </a:lnTo>
                <a:lnTo>
                  <a:pt x="629" y="28"/>
                </a:lnTo>
                <a:lnTo>
                  <a:pt x="629" y="31"/>
                </a:lnTo>
                <a:lnTo>
                  <a:pt x="629" y="34"/>
                </a:lnTo>
                <a:lnTo>
                  <a:pt x="629" y="38"/>
                </a:lnTo>
                <a:lnTo>
                  <a:pt x="629" y="41"/>
                </a:lnTo>
                <a:lnTo>
                  <a:pt x="629" y="44"/>
                </a:lnTo>
                <a:lnTo>
                  <a:pt x="629" y="48"/>
                </a:lnTo>
                <a:lnTo>
                  <a:pt x="629" y="51"/>
                </a:lnTo>
                <a:lnTo>
                  <a:pt x="632" y="51"/>
                </a:lnTo>
                <a:lnTo>
                  <a:pt x="632" y="48"/>
                </a:lnTo>
                <a:lnTo>
                  <a:pt x="632" y="44"/>
                </a:lnTo>
                <a:lnTo>
                  <a:pt x="632" y="41"/>
                </a:lnTo>
                <a:lnTo>
                  <a:pt x="632" y="38"/>
                </a:lnTo>
                <a:lnTo>
                  <a:pt x="632" y="34"/>
                </a:lnTo>
                <a:lnTo>
                  <a:pt x="632" y="31"/>
                </a:lnTo>
                <a:lnTo>
                  <a:pt x="632" y="28"/>
                </a:lnTo>
                <a:lnTo>
                  <a:pt x="63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61" name="Freeform 1666">
            <a:extLst>
              <a:ext uri="{FF2B5EF4-FFF2-40B4-BE49-F238E27FC236}">
                <a16:creationId xmlns:a16="http://schemas.microsoft.com/office/drawing/2014/main" id="{A125875E-FD69-46AC-D04D-074C677DCFDE}"/>
              </a:ext>
            </a:extLst>
          </p:cNvPr>
          <p:cNvSpPr>
            <a:spLocks noEditPoints="1"/>
          </p:cNvSpPr>
          <p:nvPr/>
        </p:nvSpPr>
        <p:spPr bwMode="auto">
          <a:xfrm>
            <a:off x="2058988" y="2719388"/>
            <a:ext cx="998538" cy="80963"/>
          </a:xfrm>
          <a:custGeom>
            <a:avLst/>
            <a:gdLst>
              <a:gd name="T0" fmla="*/ 629 w 629"/>
              <a:gd name="T1" fmla="*/ 21 h 51"/>
              <a:gd name="T2" fmla="*/ 629 w 629"/>
              <a:gd name="T3" fmla="*/ 14 h 51"/>
              <a:gd name="T4" fmla="*/ 629 w 629"/>
              <a:gd name="T5" fmla="*/ 9 h 51"/>
              <a:gd name="T6" fmla="*/ 629 w 629"/>
              <a:gd name="T7" fmla="*/ 3 h 51"/>
              <a:gd name="T8" fmla="*/ 626 w 629"/>
              <a:gd name="T9" fmla="*/ 0 h 51"/>
              <a:gd name="T10" fmla="*/ 626 w 629"/>
              <a:gd name="T11" fmla="*/ 6 h 51"/>
              <a:gd name="T12" fmla="*/ 626 w 629"/>
              <a:gd name="T13" fmla="*/ 11 h 51"/>
              <a:gd name="T14" fmla="*/ 626 w 629"/>
              <a:gd name="T15" fmla="*/ 18 h 51"/>
              <a:gd name="T16" fmla="*/ 626 w 629"/>
              <a:gd name="T17" fmla="*/ 24 h 51"/>
              <a:gd name="T18" fmla="*/ 626 w 629"/>
              <a:gd name="T19" fmla="*/ 31 h 51"/>
              <a:gd name="T20" fmla="*/ 626 w 629"/>
              <a:gd name="T21" fmla="*/ 38 h 51"/>
              <a:gd name="T22" fmla="*/ 626 w 629"/>
              <a:gd name="T23" fmla="*/ 44 h 51"/>
              <a:gd name="T24" fmla="*/ 626 w 629"/>
              <a:gd name="T25" fmla="*/ 51 h 51"/>
              <a:gd name="T26" fmla="*/ 629 w 629"/>
              <a:gd name="T27" fmla="*/ 48 h 51"/>
              <a:gd name="T28" fmla="*/ 629 w 629"/>
              <a:gd name="T29" fmla="*/ 41 h 51"/>
              <a:gd name="T30" fmla="*/ 629 w 629"/>
              <a:gd name="T31" fmla="*/ 34 h 51"/>
              <a:gd name="T32" fmla="*/ 629 w 629"/>
              <a:gd name="T33" fmla="*/ 28 h 51"/>
              <a:gd name="T34" fmla="*/ 1 w 629"/>
              <a:gd name="T35" fmla="*/ 0 h 51"/>
              <a:gd name="T36" fmla="*/ 0 w 629"/>
              <a:gd name="T37" fmla="*/ 6 h 51"/>
              <a:gd name="T38" fmla="*/ 0 w 629"/>
              <a:gd name="T39" fmla="*/ 11 h 51"/>
              <a:gd name="T40" fmla="*/ 0 w 629"/>
              <a:gd name="T41" fmla="*/ 18 h 51"/>
              <a:gd name="T42" fmla="*/ 0 w 629"/>
              <a:gd name="T43" fmla="*/ 24 h 51"/>
              <a:gd name="T44" fmla="*/ 0 w 629"/>
              <a:gd name="T45" fmla="*/ 31 h 51"/>
              <a:gd name="T46" fmla="*/ 0 w 629"/>
              <a:gd name="T47" fmla="*/ 38 h 51"/>
              <a:gd name="T48" fmla="*/ 0 w 629"/>
              <a:gd name="T49" fmla="*/ 44 h 51"/>
              <a:gd name="T50" fmla="*/ 0 w 629"/>
              <a:gd name="T51" fmla="*/ 51 h 51"/>
              <a:gd name="T52" fmla="*/ 3 w 629"/>
              <a:gd name="T53" fmla="*/ 48 h 51"/>
              <a:gd name="T54" fmla="*/ 3 w 629"/>
              <a:gd name="T55" fmla="*/ 41 h 51"/>
              <a:gd name="T56" fmla="*/ 3 w 629"/>
              <a:gd name="T57" fmla="*/ 34 h 51"/>
              <a:gd name="T58" fmla="*/ 3 w 629"/>
              <a:gd name="T59" fmla="*/ 28 h 51"/>
              <a:gd name="T60" fmla="*/ 3 w 629"/>
              <a:gd name="T61" fmla="*/ 21 h 51"/>
              <a:gd name="T62" fmla="*/ 3 w 629"/>
              <a:gd name="T63" fmla="*/ 14 h 51"/>
              <a:gd name="T64" fmla="*/ 3 w 629"/>
              <a:gd name="T65" fmla="*/ 9 h 51"/>
              <a:gd name="T66" fmla="*/ 3 w 629"/>
              <a:gd name="T67" fmla="*/ 3 h 51"/>
              <a:gd name="T68" fmla="*/ 1 w 62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9" h="51">
                <a:moveTo>
                  <a:pt x="629" y="24"/>
                </a:moveTo>
                <a:lnTo>
                  <a:pt x="629" y="21"/>
                </a:lnTo>
                <a:lnTo>
                  <a:pt x="629" y="18"/>
                </a:lnTo>
                <a:lnTo>
                  <a:pt x="629" y="14"/>
                </a:lnTo>
                <a:lnTo>
                  <a:pt x="629" y="11"/>
                </a:lnTo>
                <a:lnTo>
                  <a:pt x="629" y="9"/>
                </a:lnTo>
                <a:lnTo>
                  <a:pt x="629" y="6"/>
                </a:lnTo>
                <a:lnTo>
                  <a:pt x="629" y="3"/>
                </a:lnTo>
                <a:lnTo>
                  <a:pt x="629" y="0"/>
                </a:lnTo>
                <a:lnTo>
                  <a:pt x="626" y="0"/>
                </a:lnTo>
                <a:lnTo>
                  <a:pt x="626" y="3"/>
                </a:lnTo>
                <a:lnTo>
                  <a:pt x="626" y="6"/>
                </a:lnTo>
                <a:lnTo>
                  <a:pt x="626" y="9"/>
                </a:lnTo>
                <a:lnTo>
                  <a:pt x="626" y="11"/>
                </a:lnTo>
                <a:lnTo>
                  <a:pt x="626" y="14"/>
                </a:lnTo>
                <a:lnTo>
                  <a:pt x="626" y="18"/>
                </a:lnTo>
                <a:lnTo>
                  <a:pt x="626" y="21"/>
                </a:lnTo>
                <a:lnTo>
                  <a:pt x="626" y="24"/>
                </a:lnTo>
                <a:lnTo>
                  <a:pt x="626" y="28"/>
                </a:lnTo>
                <a:lnTo>
                  <a:pt x="626" y="31"/>
                </a:lnTo>
                <a:lnTo>
                  <a:pt x="626" y="34"/>
                </a:lnTo>
                <a:lnTo>
                  <a:pt x="626" y="38"/>
                </a:lnTo>
                <a:lnTo>
                  <a:pt x="626" y="41"/>
                </a:lnTo>
                <a:lnTo>
                  <a:pt x="626" y="44"/>
                </a:lnTo>
                <a:lnTo>
                  <a:pt x="626" y="48"/>
                </a:lnTo>
                <a:lnTo>
                  <a:pt x="626" y="51"/>
                </a:lnTo>
                <a:lnTo>
                  <a:pt x="629" y="51"/>
                </a:lnTo>
                <a:lnTo>
                  <a:pt x="629" y="48"/>
                </a:lnTo>
                <a:lnTo>
                  <a:pt x="629" y="44"/>
                </a:lnTo>
                <a:lnTo>
                  <a:pt x="629" y="41"/>
                </a:lnTo>
                <a:lnTo>
                  <a:pt x="629" y="38"/>
                </a:lnTo>
                <a:lnTo>
                  <a:pt x="629" y="34"/>
                </a:lnTo>
                <a:lnTo>
                  <a:pt x="629" y="31"/>
                </a:lnTo>
                <a:lnTo>
                  <a:pt x="629" y="28"/>
                </a:lnTo>
                <a:lnTo>
                  <a:pt x="629"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4" y="0"/>
                </a:lnTo>
                <a:lnTo>
                  <a:pt x="1"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62" name="Freeform 1667">
            <a:extLst>
              <a:ext uri="{FF2B5EF4-FFF2-40B4-BE49-F238E27FC236}">
                <a16:creationId xmlns:a16="http://schemas.microsoft.com/office/drawing/2014/main" id="{427BD818-18A5-6BF8-0F01-42B2DF7A7BCA}"/>
              </a:ext>
            </a:extLst>
          </p:cNvPr>
          <p:cNvSpPr>
            <a:spLocks noEditPoints="1"/>
          </p:cNvSpPr>
          <p:nvPr/>
        </p:nvSpPr>
        <p:spPr bwMode="auto">
          <a:xfrm>
            <a:off x="2060575" y="2719388"/>
            <a:ext cx="993775" cy="80963"/>
          </a:xfrm>
          <a:custGeom>
            <a:avLst/>
            <a:gdLst>
              <a:gd name="T0" fmla="*/ 626 w 626"/>
              <a:gd name="T1" fmla="*/ 21 h 51"/>
              <a:gd name="T2" fmla="*/ 626 w 626"/>
              <a:gd name="T3" fmla="*/ 14 h 51"/>
              <a:gd name="T4" fmla="*/ 626 w 626"/>
              <a:gd name="T5" fmla="*/ 9 h 51"/>
              <a:gd name="T6" fmla="*/ 626 w 626"/>
              <a:gd name="T7" fmla="*/ 3 h 51"/>
              <a:gd name="T8" fmla="*/ 623 w 626"/>
              <a:gd name="T9" fmla="*/ 0 h 51"/>
              <a:gd name="T10" fmla="*/ 623 w 626"/>
              <a:gd name="T11" fmla="*/ 6 h 51"/>
              <a:gd name="T12" fmla="*/ 623 w 626"/>
              <a:gd name="T13" fmla="*/ 11 h 51"/>
              <a:gd name="T14" fmla="*/ 623 w 626"/>
              <a:gd name="T15" fmla="*/ 18 h 51"/>
              <a:gd name="T16" fmla="*/ 623 w 626"/>
              <a:gd name="T17" fmla="*/ 24 h 51"/>
              <a:gd name="T18" fmla="*/ 623 w 626"/>
              <a:gd name="T19" fmla="*/ 31 h 51"/>
              <a:gd name="T20" fmla="*/ 623 w 626"/>
              <a:gd name="T21" fmla="*/ 38 h 51"/>
              <a:gd name="T22" fmla="*/ 623 w 626"/>
              <a:gd name="T23" fmla="*/ 44 h 51"/>
              <a:gd name="T24" fmla="*/ 623 w 626"/>
              <a:gd name="T25" fmla="*/ 51 h 51"/>
              <a:gd name="T26" fmla="*/ 626 w 626"/>
              <a:gd name="T27" fmla="*/ 48 h 51"/>
              <a:gd name="T28" fmla="*/ 626 w 626"/>
              <a:gd name="T29" fmla="*/ 41 h 51"/>
              <a:gd name="T30" fmla="*/ 626 w 626"/>
              <a:gd name="T31" fmla="*/ 34 h 51"/>
              <a:gd name="T32" fmla="*/ 626 w 626"/>
              <a:gd name="T33" fmla="*/ 28 h 51"/>
              <a:gd name="T34" fmla="*/ 2 w 626"/>
              <a:gd name="T35" fmla="*/ 0 h 51"/>
              <a:gd name="T36" fmla="*/ 0 w 626"/>
              <a:gd name="T37" fmla="*/ 6 h 51"/>
              <a:gd name="T38" fmla="*/ 0 w 626"/>
              <a:gd name="T39" fmla="*/ 11 h 51"/>
              <a:gd name="T40" fmla="*/ 0 w 626"/>
              <a:gd name="T41" fmla="*/ 18 h 51"/>
              <a:gd name="T42" fmla="*/ 0 w 626"/>
              <a:gd name="T43" fmla="*/ 24 h 51"/>
              <a:gd name="T44" fmla="*/ 0 w 626"/>
              <a:gd name="T45" fmla="*/ 31 h 51"/>
              <a:gd name="T46" fmla="*/ 0 w 626"/>
              <a:gd name="T47" fmla="*/ 38 h 51"/>
              <a:gd name="T48" fmla="*/ 0 w 626"/>
              <a:gd name="T49" fmla="*/ 44 h 51"/>
              <a:gd name="T50" fmla="*/ 0 w 626"/>
              <a:gd name="T51" fmla="*/ 51 h 51"/>
              <a:gd name="T52" fmla="*/ 3 w 626"/>
              <a:gd name="T53" fmla="*/ 48 h 51"/>
              <a:gd name="T54" fmla="*/ 3 w 626"/>
              <a:gd name="T55" fmla="*/ 41 h 51"/>
              <a:gd name="T56" fmla="*/ 3 w 626"/>
              <a:gd name="T57" fmla="*/ 34 h 51"/>
              <a:gd name="T58" fmla="*/ 3 w 626"/>
              <a:gd name="T59" fmla="*/ 28 h 51"/>
              <a:gd name="T60" fmla="*/ 3 w 626"/>
              <a:gd name="T61" fmla="*/ 21 h 51"/>
              <a:gd name="T62" fmla="*/ 3 w 626"/>
              <a:gd name="T63" fmla="*/ 14 h 51"/>
              <a:gd name="T64" fmla="*/ 3 w 626"/>
              <a:gd name="T65" fmla="*/ 9 h 51"/>
              <a:gd name="T66" fmla="*/ 3 w 626"/>
              <a:gd name="T67" fmla="*/ 3 h 51"/>
              <a:gd name="T68" fmla="*/ 2 w 62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6" h="51">
                <a:moveTo>
                  <a:pt x="626" y="24"/>
                </a:moveTo>
                <a:lnTo>
                  <a:pt x="626" y="21"/>
                </a:lnTo>
                <a:lnTo>
                  <a:pt x="626" y="18"/>
                </a:lnTo>
                <a:lnTo>
                  <a:pt x="626" y="14"/>
                </a:lnTo>
                <a:lnTo>
                  <a:pt x="626" y="11"/>
                </a:lnTo>
                <a:lnTo>
                  <a:pt x="626" y="9"/>
                </a:lnTo>
                <a:lnTo>
                  <a:pt x="626" y="6"/>
                </a:lnTo>
                <a:lnTo>
                  <a:pt x="626" y="3"/>
                </a:lnTo>
                <a:lnTo>
                  <a:pt x="626" y="0"/>
                </a:lnTo>
                <a:lnTo>
                  <a:pt x="623" y="0"/>
                </a:lnTo>
                <a:lnTo>
                  <a:pt x="623" y="3"/>
                </a:lnTo>
                <a:lnTo>
                  <a:pt x="623" y="6"/>
                </a:lnTo>
                <a:lnTo>
                  <a:pt x="623" y="9"/>
                </a:lnTo>
                <a:lnTo>
                  <a:pt x="623" y="11"/>
                </a:lnTo>
                <a:lnTo>
                  <a:pt x="623" y="14"/>
                </a:lnTo>
                <a:lnTo>
                  <a:pt x="623" y="18"/>
                </a:lnTo>
                <a:lnTo>
                  <a:pt x="623" y="21"/>
                </a:lnTo>
                <a:lnTo>
                  <a:pt x="623" y="24"/>
                </a:lnTo>
                <a:lnTo>
                  <a:pt x="623" y="28"/>
                </a:lnTo>
                <a:lnTo>
                  <a:pt x="623" y="31"/>
                </a:lnTo>
                <a:lnTo>
                  <a:pt x="623" y="34"/>
                </a:lnTo>
                <a:lnTo>
                  <a:pt x="623" y="38"/>
                </a:lnTo>
                <a:lnTo>
                  <a:pt x="623" y="41"/>
                </a:lnTo>
                <a:lnTo>
                  <a:pt x="623" y="44"/>
                </a:lnTo>
                <a:lnTo>
                  <a:pt x="623" y="48"/>
                </a:lnTo>
                <a:lnTo>
                  <a:pt x="623" y="51"/>
                </a:lnTo>
                <a:lnTo>
                  <a:pt x="626" y="51"/>
                </a:lnTo>
                <a:lnTo>
                  <a:pt x="626" y="48"/>
                </a:lnTo>
                <a:lnTo>
                  <a:pt x="626" y="44"/>
                </a:lnTo>
                <a:lnTo>
                  <a:pt x="626" y="41"/>
                </a:lnTo>
                <a:lnTo>
                  <a:pt x="626" y="38"/>
                </a:lnTo>
                <a:lnTo>
                  <a:pt x="626" y="34"/>
                </a:lnTo>
                <a:lnTo>
                  <a:pt x="626" y="31"/>
                </a:lnTo>
                <a:lnTo>
                  <a:pt x="626" y="28"/>
                </a:lnTo>
                <a:lnTo>
                  <a:pt x="62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63" name="Freeform 1668">
            <a:extLst>
              <a:ext uri="{FF2B5EF4-FFF2-40B4-BE49-F238E27FC236}">
                <a16:creationId xmlns:a16="http://schemas.microsoft.com/office/drawing/2014/main" id="{A4C51EC9-A4FE-2D22-0D54-BC024FD071A9}"/>
              </a:ext>
            </a:extLst>
          </p:cNvPr>
          <p:cNvSpPr>
            <a:spLocks noEditPoints="1"/>
          </p:cNvSpPr>
          <p:nvPr/>
        </p:nvSpPr>
        <p:spPr bwMode="auto">
          <a:xfrm>
            <a:off x="2063750" y="2719388"/>
            <a:ext cx="989013" cy="80963"/>
          </a:xfrm>
          <a:custGeom>
            <a:avLst/>
            <a:gdLst>
              <a:gd name="T0" fmla="*/ 623 w 623"/>
              <a:gd name="T1" fmla="*/ 21 h 51"/>
              <a:gd name="T2" fmla="*/ 623 w 623"/>
              <a:gd name="T3" fmla="*/ 14 h 51"/>
              <a:gd name="T4" fmla="*/ 623 w 623"/>
              <a:gd name="T5" fmla="*/ 9 h 51"/>
              <a:gd name="T6" fmla="*/ 623 w 623"/>
              <a:gd name="T7" fmla="*/ 3 h 51"/>
              <a:gd name="T8" fmla="*/ 619 w 623"/>
              <a:gd name="T9" fmla="*/ 0 h 51"/>
              <a:gd name="T10" fmla="*/ 619 w 623"/>
              <a:gd name="T11" fmla="*/ 6 h 51"/>
              <a:gd name="T12" fmla="*/ 619 w 623"/>
              <a:gd name="T13" fmla="*/ 11 h 51"/>
              <a:gd name="T14" fmla="*/ 619 w 623"/>
              <a:gd name="T15" fmla="*/ 18 h 51"/>
              <a:gd name="T16" fmla="*/ 619 w 623"/>
              <a:gd name="T17" fmla="*/ 24 h 51"/>
              <a:gd name="T18" fmla="*/ 619 w 623"/>
              <a:gd name="T19" fmla="*/ 31 h 51"/>
              <a:gd name="T20" fmla="*/ 619 w 623"/>
              <a:gd name="T21" fmla="*/ 38 h 51"/>
              <a:gd name="T22" fmla="*/ 619 w 623"/>
              <a:gd name="T23" fmla="*/ 44 h 51"/>
              <a:gd name="T24" fmla="*/ 619 w 623"/>
              <a:gd name="T25" fmla="*/ 51 h 51"/>
              <a:gd name="T26" fmla="*/ 623 w 623"/>
              <a:gd name="T27" fmla="*/ 48 h 51"/>
              <a:gd name="T28" fmla="*/ 623 w 623"/>
              <a:gd name="T29" fmla="*/ 41 h 51"/>
              <a:gd name="T30" fmla="*/ 623 w 623"/>
              <a:gd name="T31" fmla="*/ 34 h 51"/>
              <a:gd name="T32" fmla="*/ 623 w 623"/>
              <a:gd name="T33" fmla="*/ 28 h 51"/>
              <a:gd name="T34" fmla="*/ 1 w 623"/>
              <a:gd name="T35" fmla="*/ 0 h 51"/>
              <a:gd name="T36" fmla="*/ 0 w 623"/>
              <a:gd name="T37" fmla="*/ 6 h 51"/>
              <a:gd name="T38" fmla="*/ 0 w 623"/>
              <a:gd name="T39" fmla="*/ 11 h 51"/>
              <a:gd name="T40" fmla="*/ 0 w 623"/>
              <a:gd name="T41" fmla="*/ 18 h 51"/>
              <a:gd name="T42" fmla="*/ 0 w 623"/>
              <a:gd name="T43" fmla="*/ 24 h 51"/>
              <a:gd name="T44" fmla="*/ 0 w 623"/>
              <a:gd name="T45" fmla="*/ 31 h 51"/>
              <a:gd name="T46" fmla="*/ 0 w 623"/>
              <a:gd name="T47" fmla="*/ 38 h 51"/>
              <a:gd name="T48" fmla="*/ 0 w 623"/>
              <a:gd name="T49" fmla="*/ 44 h 51"/>
              <a:gd name="T50" fmla="*/ 0 w 623"/>
              <a:gd name="T51" fmla="*/ 51 h 51"/>
              <a:gd name="T52" fmla="*/ 3 w 623"/>
              <a:gd name="T53" fmla="*/ 48 h 51"/>
              <a:gd name="T54" fmla="*/ 3 w 623"/>
              <a:gd name="T55" fmla="*/ 41 h 51"/>
              <a:gd name="T56" fmla="*/ 3 w 623"/>
              <a:gd name="T57" fmla="*/ 34 h 51"/>
              <a:gd name="T58" fmla="*/ 3 w 623"/>
              <a:gd name="T59" fmla="*/ 28 h 51"/>
              <a:gd name="T60" fmla="*/ 3 w 623"/>
              <a:gd name="T61" fmla="*/ 21 h 51"/>
              <a:gd name="T62" fmla="*/ 3 w 623"/>
              <a:gd name="T63" fmla="*/ 14 h 51"/>
              <a:gd name="T64" fmla="*/ 3 w 623"/>
              <a:gd name="T65" fmla="*/ 9 h 51"/>
              <a:gd name="T66" fmla="*/ 3 w 623"/>
              <a:gd name="T67" fmla="*/ 3 h 51"/>
              <a:gd name="T68" fmla="*/ 1 w 62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3" h="51">
                <a:moveTo>
                  <a:pt x="623" y="24"/>
                </a:moveTo>
                <a:lnTo>
                  <a:pt x="623" y="21"/>
                </a:lnTo>
                <a:lnTo>
                  <a:pt x="623" y="18"/>
                </a:lnTo>
                <a:lnTo>
                  <a:pt x="623" y="14"/>
                </a:lnTo>
                <a:lnTo>
                  <a:pt x="623" y="11"/>
                </a:lnTo>
                <a:lnTo>
                  <a:pt x="623" y="9"/>
                </a:lnTo>
                <a:lnTo>
                  <a:pt x="623" y="6"/>
                </a:lnTo>
                <a:lnTo>
                  <a:pt x="623" y="3"/>
                </a:lnTo>
                <a:lnTo>
                  <a:pt x="623" y="0"/>
                </a:lnTo>
                <a:lnTo>
                  <a:pt x="619" y="0"/>
                </a:lnTo>
                <a:lnTo>
                  <a:pt x="619" y="3"/>
                </a:lnTo>
                <a:lnTo>
                  <a:pt x="619" y="6"/>
                </a:lnTo>
                <a:lnTo>
                  <a:pt x="619" y="9"/>
                </a:lnTo>
                <a:lnTo>
                  <a:pt x="619" y="11"/>
                </a:lnTo>
                <a:lnTo>
                  <a:pt x="619" y="14"/>
                </a:lnTo>
                <a:lnTo>
                  <a:pt x="619" y="18"/>
                </a:lnTo>
                <a:lnTo>
                  <a:pt x="619" y="21"/>
                </a:lnTo>
                <a:lnTo>
                  <a:pt x="619" y="24"/>
                </a:lnTo>
                <a:lnTo>
                  <a:pt x="619" y="28"/>
                </a:lnTo>
                <a:lnTo>
                  <a:pt x="619" y="31"/>
                </a:lnTo>
                <a:lnTo>
                  <a:pt x="619" y="34"/>
                </a:lnTo>
                <a:lnTo>
                  <a:pt x="619" y="38"/>
                </a:lnTo>
                <a:lnTo>
                  <a:pt x="619" y="41"/>
                </a:lnTo>
                <a:lnTo>
                  <a:pt x="619" y="44"/>
                </a:lnTo>
                <a:lnTo>
                  <a:pt x="619" y="48"/>
                </a:lnTo>
                <a:lnTo>
                  <a:pt x="619" y="51"/>
                </a:lnTo>
                <a:lnTo>
                  <a:pt x="623" y="51"/>
                </a:lnTo>
                <a:lnTo>
                  <a:pt x="623" y="48"/>
                </a:lnTo>
                <a:lnTo>
                  <a:pt x="623" y="44"/>
                </a:lnTo>
                <a:lnTo>
                  <a:pt x="623" y="41"/>
                </a:lnTo>
                <a:lnTo>
                  <a:pt x="623" y="38"/>
                </a:lnTo>
                <a:lnTo>
                  <a:pt x="623" y="34"/>
                </a:lnTo>
                <a:lnTo>
                  <a:pt x="623" y="31"/>
                </a:lnTo>
                <a:lnTo>
                  <a:pt x="623" y="28"/>
                </a:lnTo>
                <a:lnTo>
                  <a:pt x="62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64" name="Freeform 1669">
            <a:extLst>
              <a:ext uri="{FF2B5EF4-FFF2-40B4-BE49-F238E27FC236}">
                <a16:creationId xmlns:a16="http://schemas.microsoft.com/office/drawing/2014/main" id="{01551763-3FAE-E4F9-67DB-E7AF0E75FB9B}"/>
              </a:ext>
            </a:extLst>
          </p:cNvPr>
          <p:cNvSpPr>
            <a:spLocks noEditPoints="1"/>
          </p:cNvSpPr>
          <p:nvPr/>
        </p:nvSpPr>
        <p:spPr bwMode="auto">
          <a:xfrm>
            <a:off x="2065338" y="2719388"/>
            <a:ext cx="984250" cy="80963"/>
          </a:xfrm>
          <a:custGeom>
            <a:avLst/>
            <a:gdLst>
              <a:gd name="T0" fmla="*/ 620 w 620"/>
              <a:gd name="T1" fmla="*/ 21 h 51"/>
              <a:gd name="T2" fmla="*/ 620 w 620"/>
              <a:gd name="T3" fmla="*/ 14 h 51"/>
              <a:gd name="T4" fmla="*/ 620 w 620"/>
              <a:gd name="T5" fmla="*/ 9 h 51"/>
              <a:gd name="T6" fmla="*/ 620 w 620"/>
              <a:gd name="T7" fmla="*/ 3 h 51"/>
              <a:gd name="T8" fmla="*/ 617 w 620"/>
              <a:gd name="T9" fmla="*/ 0 h 51"/>
              <a:gd name="T10" fmla="*/ 617 w 620"/>
              <a:gd name="T11" fmla="*/ 6 h 51"/>
              <a:gd name="T12" fmla="*/ 617 w 620"/>
              <a:gd name="T13" fmla="*/ 11 h 51"/>
              <a:gd name="T14" fmla="*/ 617 w 620"/>
              <a:gd name="T15" fmla="*/ 18 h 51"/>
              <a:gd name="T16" fmla="*/ 617 w 620"/>
              <a:gd name="T17" fmla="*/ 24 h 51"/>
              <a:gd name="T18" fmla="*/ 617 w 620"/>
              <a:gd name="T19" fmla="*/ 31 h 51"/>
              <a:gd name="T20" fmla="*/ 617 w 620"/>
              <a:gd name="T21" fmla="*/ 38 h 51"/>
              <a:gd name="T22" fmla="*/ 617 w 620"/>
              <a:gd name="T23" fmla="*/ 44 h 51"/>
              <a:gd name="T24" fmla="*/ 617 w 620"/>
              <a:gd name="T25" fmla="*/ 51 h 51"/>
              <a:gd name="T26" fmla="*/ 620 w 620"/>
              <a:gd name="T27" fmla="*/ 48 h 51"/>
              <a:gd name="T28" fmla="*/ 620 w 620"/>
              <a:gd name="T29" fmla="*/ 41 h 51"/>
              <a:gd name="T30" fmla="*/ 620 w 620"/>
              <a:gd name="T31" fmla="*/ 34 h 51"/>
              <a:gd name="T32" fmla="*/ 620 w 620"/>
              <a:gd name="T33" fmla="*/ 28 h 51"/>
              <a:gd name="T34" fmla="*/ 2 w 620"/>
              <a:gd name="T35" fmla="*/ 0 h 51"/>
              <a:gd name="T36" fmla="*/ 0 w 620"/>
              <a:gd name="T37" fmla="*/ 6 h 51"/>
              <a:gd name="T38" fmla="*/ 0 w 620"/>
              <a:gd name="T39" fmla="*/ 11 h 51"/>
              <a:gd name="T40" fmla="*/ 0 w 620"/>
              <a:gd name="T41" fmla="*/ 18 h 51"/>
              <a:gd name="T42" fmla="*/ 0 w 620"/>
              <a:gd name="T43" fmla="*/ 24 h 51"/>
              <a:gd name="T44" fmla="*/ 0 w 620"/>
              <a:gd name="T45" fmla="*/ 31 h 51"/>
              <a:gd name="T46" fmla="*/ 0 w 620"/>
              <a:gd name="T47" fmla="*/ 38 h 51"/>
              <a:gd name="T48" fmla="*/ 0 w 620"/>
              <a:gd name="T49" fmla="*/ 44 h 51"/>
              <a:gd name="T50" fmla="*/ 0 w 620"/>
              <a:gd name="T51" fmla="*/ 51 h 51"/>
              <a:gd name="T52" fmla="*/ 4 w 620"/>
              <a:gd name="T53" fmla="*/ 48 h 51"/>
              <a:gd name="T54" fmla="*/ 4 w 620"/>
              <a:gd name="T55" fmla="*/ 41 h 51"/>
              <a:gd name="T56" fmla="*/ 4 w 620"/>
              <a:gd name="T57" fmla="*/ 34 h 51"/>
              <a:gd name="T58" fmla="*/ 4 w 620"/>
              <a:gd name="T59" fmla="*/ 28 h 51"/>
              <a:gd name="T60" fmla="*/ 4 w 620"/>
              <a:gd name="T61" fmla="*/ 21 h 51"/>
              <a:gd name="T62" fmla="*/ 4 w 620"/>
              <a:gd name="T63" fmla="*/ 14 h 51"/>
              <a:gd name="T64" fmla="*/ 4 w 620"/>
              <a:gd name="T65" fmla="*/ 9 h 51"/>
              <a:gd name="T66" fmla="*/ 4 w 620"/>
              <a:gd name="T67" fmla="*/ 3 h 51"/>
              <a:gd name="T68" fmla="*/ 2 w 62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20" h="51">
                <a:moveTo>
                  <a:pt x="620" y="24"/>
                </a:moveTo>
                <a:lnTo>
                  <a:pt x="620" y="21"/>
                </a:lnTo>
                <a:lnTo>
                  <a:pt x="620" y="18"/>
                </a:lnTo>
                <a:lnTo>
                  <a:pt x="620" y="14"/>
                </a:lnTo>
                <a:lnTo>
                  <a:pt x="620" y="11"/>
                </a:lnTo>
                <a:lnTo>
                  <a:pt x="620" y="9"/>
                </a:lnTo>
                <a:lnTo>
                  <a:pt x="620" y="6"/>
                </a:lnTo>
                <a:lnTo>
                  <a:pt x="620" y="3"/>
                </a:lnTo>
                <a:lnTo>
                  <a:pt x="620" y="0"/>
                </a:lnTo>
                <a:lnTo>
                  <a:pt x="617" y="0"/>
                </a:lnTo>
                <a:lnTo>
                  <a:pt x="617" y="3"/>
                </a:lnTo>
                <a:lnTo>
                  <a:pt x="617" y="6"/>
                </a:lnTo>
                <a:lnTo>
                  <a:pt x="617" y="9"/>
                </a:lnTo>
                <a:lnTo>
                  <a:pt x="617" y="11"/>
                </a:lnTo>
                <a:lnTo>
                  <a:pt x="617" y="14"/>
                </a:lnTo>
                <a:lnTo>
                  <a:pt x="617" y="18"/>
                </a:lnTo>
                <a:lnTo>
                  <a:pt x="617" y="21"/>
                </a:lnTo>
                <a:lnTo>
                  <a:pt x="617" y="24"/>
                </a:lnTo>
                <a:lnTo>
                  <a:pt x="617" y="28"/>
                </a:lnTo>
                <a:lnTo>
                  <a:pt x="617" y="31"/>
                </a:lnTo>
                <a:lnTo>
                  <a:pt x="617" y="34"/>
                </a:lnTo>
                <a:lnTo>
                  <a:pt x="617" y="38"/>
                </a:lnTo>
                <a:lnTo>
                  <a:pt x="617" y="41"/>
                </a:lnTo>
                <a:lnTo>
                  <a:pt x="617" y="44"/>
                </a:lnTo>
                <a:lnTo>
                  <a:pt x="617" y="48"/>
                </a:lnTo>
                <a:lnTo>
                  <a:pt x="617" y="51"/>
                </a:lnTo>
                <a:lnTo>
                  <a:pt x="620" y="51"/>
                </a:lnTo>
                <a:lnTo>
                  <a:pt x="620" y="48"/>
                </a:lnTo>
                <a:lnTo>
                  <a:pt x="620" y="44"/>
                </a:lnTo>
                <a:lnTo>
                  <a:pt x="620" y="41"/>
                </a:lnTo>
                <a:lnTo>
                  <a:pt x="620" y="38"/>
                </a:lnTo>
                <a:lnTo>
                  <a:pt x="620" y="34"/>
                </a:lnTo>
                <a:lnTo>
                  <a:pt x="620" y="31"/>
                </a:lnTo>
                <a:lnTo>
                  <a:pt x="620" y="28"/>
                </a:lnTo>
                <a:lnTo>
                  <a:pt x="62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65" name="Freeform 1670">
            <a:extLst>
              <a:ext uri="{FF2B5EF4-FFF2-40B4-BE49-F238E27FC236}">
                <a16:creationId xmlns:a16="http://schemas.microsoft.com/office/drawing/2014/main" id="{5FF63FB1-BDB4-FA06-D9E6-61119F7A392D}"/>
              </a:ext>
            </a:extLst>
          </p:cNvPr>
          <p:cNvSpPr>
            <a:spLocks noEditPoints="1"/>
          </p:cNvSpPr>
          <p:nvPr/>
        </p:nvSpPr>
        <p:spPr bwMode="auto">
          <a:xfrm>
            <a:off x="2068513" y="2719388"/>
            <a:ext cx="977900" cy="80963"/>
          </a:xfrm>
          <a:custGeom>
            <a:avLst/>
            <a:gdLst>
              <a:gd name="T0" fmla="*/ 616 w 616"/>
              <a:gd name="T1" fmla="*/ 21 h 51"/>
              <a:gd name="T2" fmla="*/ 616 w 616"/>
              <a:gd name="T3" fmla="*/ 14 h 51"/>
              <a:gd name="T4" fmla="*/ 616 w 616"/>
              <a:gd name="T5" fmla="*/ 9 h 51"/>
              <a:gd name="T6" fmla="*/ 616 w 616"/>
              <a:gd name="T7" fmla="*/ 3 h 51"/>
              <a:gd name="T8" fmla="*/ 613 w 616"/>
              <a:gd name="T9" fmla="*/ 0 h 51"/>
              <a:gd name="T10" fmla="*/ 613 w 616"/>
              <a:gd name="T11" fmla="*/ 6 h 51"/>
              <a:gd name="T12" fmla="*/ 613 w 616"/>
              <a:gd name="T13" fmla="*/ 11 h 51"/>
              <a:gd name="T14" fmla="*/ 613 w 616"/>
              <a:gd name="T15" fmla="*/ 18 h 51"/>
              <a:gd name="T16" fmla="*/ 613 w 616"/>
              <a:gd name="T17" fmla="*/ 24 h 51"/>
              <a:gd name="T18" fmla="*/ 613 w 616"/>
              <a:gd name="T19" fmla="*/ 31 h 51"/>
              <a:gd name="T20" fmla="*/ 613 w 616"/>
              <a:gd name="T21" fmla="*/ 38 h 51"/>
              <a:gd name="T22" fmla="*/ 613 w 616"/>
              <a:gd name="T23" fmla="*/ 44 h 51"/>
              <a:gd name="T24" fmla="*/ 613 w 616"/>
              <a:gd name="T25" fmla="*/ 51 h 51"/>
              <a:gd name="T26" fmla="*/ 616 w 616"/>
              <a:gd name="T27" fmla="*/ 48 h 51"/>
              <a:gd name="T28" fmla="*/ 616 w 616"/>
              <a:gd name="T29" fmla="*/ 41 h 51"/>
              <a:gd name="T30" fmla="*/ 616 w 616"/>
              <a:gd name="T31" fmla="*/ 34 h 51"/>
              <a:gd name="T32" fmla="*/ 616 w 616"/>
              <a:gd name="T33" fmla="*/ 28 h 51"/>
              <a:gd name="T34" fmla="*/ 2 w 616"/>
              <a:gd name="T35" fmla="*/ 0 h 51"/>
              <a:gd name="T36" fmla="*/ 0 w 616"/>
              <a:gd name="T37" fmla="*/ 6 h 51"/>
              <a:gd name="T38" fmla="*/ 0 w 616"/>
              <a:gd name="T39" fmla="*/ 11 h 51"/>
              <a:gd name="T40" fmla="*/ 0 w 616"/>
              <a:gd name="T41" fmla="*/ 18 h 51"/>
              <a:gd name="T42" fmla="*/ 0 w 616"/>
              <a:gd name="T43" fmla="*/ 24 h 51"/>
              <a:gd name="T44" fmla="*/ 0 w 616"/>
              <a:gd name="T45" fmla="*/ 31 h 51"/>
              <a:gd name="T46" fmla="*/ 0 w 616"/>
              <a:gd name="T47" fmla="*/ 38 h 51"/>
              <a:gd name="T48" fmla="*/ 0 w 616"/>
              <a:gd name="T49" fmla="*/ 44 h 51"/>
              <a:gd name="T50" fmla="*/ 0 w 616"/>
              <a:gd name="T51" fmla="*/ 51 h 51"/>
              <a:gd name="T52" fmla="*/ 3 w 616"/>
              <a:gd name="T53" fmla="*/ 48 h 51"/>
              <a:gd name="T54" fmla="*/ 3 w 616"/>
              <a:gd name="T55" fmla="*/ 41 h 51"/>
              <a:gd name="T56" fmla="*/ 3 w 616"/>
              <a:gd name="T57" fmla="*/ 34 h 51"/>
              <a:gd name="T58" fmla="*/ 3 w 616"/>
              <a:gd name="T59" fmla="*/ 28 h 51"/>
              <a:gd name="T60" fmla="*/ 3 w 616"/>
              <a:gd name="T61" fmla="*/ 21 h 51"/>
              <a:gd name="T62" fmla="*/ 3 w 616"/>
              <a:gd name="T63" fmla="*/ 14 h 51"/>
              <a:gd name="T64" fmla="*/ 3 w 616"/>
              <a:gd name="T65" fmla="*/ 9 h 51"/>
              <a:gd name="T66" fmla="*/ 3 w 616"/>
              <a:gd name="T67" fmla="*/ 3 h 51"/>
              <a:gd name="T68" fmla="*/ 2 w 61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6" h="51">
                <a:moveTo>
                  <a:pt x="616" y="24"/>
                </a:moveTo>
                <a:lnTo>
                  <a:pt x="616" y="21"/>
                </a:lnTo>
                <a:lnTo>
                  <a:pt x="616" y="18"/>
                </a:lnTo>
                <a:lnTo>
                  <a:pt x="616" y="14"/>
                </a:lnTo>
                <a:lnTo>
                  <a:pt x="616" y="11"/>
                </a:lnTo>
                <a:lnTo>
                  <a:pt x="616" y="9"/>
                </a:lnTo>
                <a:lnTo>
                  <a:pt x="616" y="6"/>
                </a:lnTo>
                <a:lnTo>
                  <a:pt x="616" y="3"/>
                </a:lnTo>
                <a:lnTo>
                  <a:pt x="616" y="0"/>
                </a:lnTo>
                <a:lnTo>
                  <a:pt x="613" y="0"/>
                </a:lnTo>
                <a:lnTo>
                  <a:pt x="613" y="3"/>
                </a:lnTo>
                <a:lnTo>
                  <a:pt x="613" y="6"/>
                </a:lnTo>
                <a:lnTo>
                  <a:pt x="613" y="9"/>
                </a:lnTo>
                <a:lnTo>
                  <a:pt x="613" y="11"/>
                </a:lnTo>
                <a:lnTo>
                  <a:pt x="613" y="14"/>
                </a:lnTo>
                <a:lnTo>
                  <a:pt x="613" y="18"/>
                </a:lnTo>
                <a:lnTo>
                  <a:pt x="613" y="21"/>
                </a:lnTo>
                <a:lnTo>
                  <a:pt x="613" y="24"/>
                </a:lnTo>
                <a:lnTo>
                  <a:pt x="613" y="28"/>
                </a:lnTo>
                <a:lnTo>
                  <a:pt x="613" y="31"/>
                </a:lnTo>
                <a:lnTo>
                  <a:pt x="613" y="34"/>
                </a:lnTo>
                <a:lnTo>
                  <a:pt x="613" y="38"/>
                </a:lnTo>
                <a:lnTo>
                  <a:pt x="613" y="41"/>
                </a:lnTo>
                <a:lnTo>
                  <a:pt x="613" y="44"/>
                </a:lnTo>
                <a:lnTo>
                  <a:pt x="613" y="48"/>
                </a:lnTo>
                <a:lnTo>
                  <a:pt x="613" y="51"/>
                </a:lnTo>
                <a:lnTo>
                  <a:pt x="616" y="51"/>
                </a:lnTo>
                <a:lnTo>
                  <a:pt x="616" y="48"/>
                </a:lnTo>
                <a:lnTo>
                  <a:pt x="616" y="44"/>
                </a:lnTo>
                <a:lnTo>
                  <a:pt x="616" y="41"/>
                </a:lnTo>
                <a:lnTo>
                  <a:pt x="616" y="38"/>
                </a:lnTo>
                <a:lnTo>
                  <a:pt x="616" y="34"/>
                </a:lnTo>
                <a:lnTo>
                  <a:pt x="616" y="31"/>
                </a:lnTo>
                <a:lnTo>
                  <a:pt x="616" y="28"/>
                </a:lnTo>
                <a:lnTo>
                  <a:pt x="61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66" name="Freeform 1671">
            <a:extLst>
              <a:ext uri="{FF2B5EF4-FFF2-40B4-BE49-F238E27FC236}">
                <a16:creationId xmlns:a16="http://schemas.microsoft.com/office/drawing/2014/main" id="{F8DE3811-9340-F5AB-CF7B-CDA06BFAB755}"/>
              </a:ext>
            </a:extLst>
          </p:cNvPr>
          <p:cNvSpPr>
            <a:spLocks noEditPoints="1"/>
          </p:cNvSpPr>
          <p:nvPr/>
        </p:nvSpPr>
        <p:spPr bwMode="auto">
          <a:xfrm>
            <a:off x="2071688" y="2719388"/>
            <a:ext cx="973138" cy="80963"/>
          </a:xfrm>
          <a:custGeom>
            <a:avLst/>
            <a:gdLst>
              <a:gd name="T0" fmla="*/ 613 w 613"/>
              <a:gd name="T1" fmla="*/ 21 h 51"/>
              <a:gd name="T2" fmla="*/ 613 w 613"/>
              <a:gd name="T3" fmla="*/ 14 h 51"/>
              <a:gd name="T4" fmla="*/ 613 w 613"/>
              <a:gd name="T5" fmla="*/ 9 h 51"/>
              <a:gd name="T6" fmla="*/ 613 w 613"/>
              <a:gd name="T7" fmla="*/ 3 h 51"/>
              <a:gd name="T8" fmla="*/ 609 w 613"/>
              <a:gd name="T9" fmla="*/ 0 h 51"/>
              <a:gd name="T10" fmla="*/ 609 w 613"/>
              <a:gd name="T11" fmla="*/ 6 h 51"/>
              <a:gd name="T12" fmla="*/ 609 w 613"/>
              <a:gd name="T13" fmla="*/ 11 h 51"/>
              <a:gd name="T14" fmla="*/ 609 w 613"/>
              <a:gd name="T15" fmla="*/ 18 h 51"/>
              <a:gd name="T16" fmla="*/ 609 w 613"/>
              <a:gd name="T17" fmla="*/ 24 h 51"/>
              <a:gd name="T18" fmla="*/ 609 w 613"/>
              <a:gd name="T19" fmla="*/ 31 h 51"/>
              <a:gd name="T20" fmla="*/ 609 w 613"/>
              <a:gd name="T21" fmla="*/ 38 h 51"/>
              <a:gd name="T22" fmla="*/ 609 w 613"/>
              <a:gd name="T23" fmla="*/ 44 h 51"/>
              <a:gd name="T24" fmla="*/ 609 w 613"/>
              <a:gd name="T25" fmla="*/ 51 h 51"/>
              <a:gd name="T26" fmla="*/ 613 w 613"/>
              <a:gd name="T27" fmla="*/ 48 h 51"/>
              <a:gd name="T28" fmla="*/ 613 w 613"/>
              <a:gd name="T29" fmla="*/ 41 h 51"/>
              <a:gd name="T30" fmla="*/ 613 w 613"/>
              <a:gd name="T31" fmla="*/ 34 h 51"/>
              <a:gd name="T32" fmla="*/ 613 w 613"/>
              <a:gd name="T33" fmla="*/ 28 h 51"/>
              <a:gd name="T34" fmla="*/ 1 w 613"/>
              <a:gd name="T35" fmla="*/ 0 h 51"/>
              <a:gd name="T36" fmla="*/ 0 w 613"/>
              <a:gd name="T37" fmla="*/ 6 h 51"/>
              <a:gd name="T38" fmla="*/ 0 w 613"/>
              <a:gd name="T39" fmla="*/ 11 h 51"/>
              <a:gd name="T40" fmla="*/ 0 w 613"/>
              <a:gd name="T41" fmla="*/ 18 h 51"/>
              <a:gd name="T42" fmla="*/ 0 w 613"/>
              <a:gd name="T43" fmla="*/ 24 h 51"/>
              <a:gd name="T44" fmla="*/ 0 w 613"/>
              <a:gd name="T45" fmla="*/ 31 h 51"/>
              <a:gd name="T46" fmla="*/ 0 w 613"/>
              <a:gd name="T47" fmla="*/ 38 h 51"/>
              <a:gd name="T48" fmla="*/ 0 w 613"/>
              <a:gd name="T49" fmla="*/ 44 h 51"/>
              <a:gd name="T50" fmla="*/ 0 w 613"/>
              <a:gd name="T51" fmla="*/ 51 h 51"/>
              <a:gd name="T52" fmla="*/ 3 w 613"/>
              <a:gd name="T53" fmla="*/ 48 h 51"/>
              <a:gd name="T54" fmla="*/ 3 w 613"/>
              <a:gd name="T55" fmla="*/ 41 h 51"/>
              <a:gd name="T56" fmla="*/ 3 w 613"/>
              <a:gd name="T57" fmla="*/ 34 h 51"/>
              <a:gd name="T58" fmla="*/ 3 w 613"/>
              <a:gd name="T59" fmla="*/ 28 h 51"/>
              <a:gd name="T60" fmla="*/ 3 w 613"/>
              <a:gd name="T61" fmla="*/ 21 h 51"/>
              <a:gd name="T62" fmla="*/ 3 w 613"/>
              <a:gd name="T63" fmla="*/ 14 h 51"/>
              <a:gd name="T64" fmla="*/ 3 w 613"/>
              <a:gd name="T65" fmla="*/ 9 h 51"/>
              <a:gd name="T66" fmla="*/ 3 w 613"/>
              <a:gd name="T67" fmla="*/ 3 h 51"/>
              <a:gd name="T68" fmla="*/ 1 w 61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3" h="51">
                <a:moveTo>
                  <a:pt x="613" y="24"/>
                </a:moveTo>
                <a:lnTo>
                  <a:pt x="613" y="21"/>
                </a:lnTo>
                <a:lnTo>
                  <a:pt x="613" y="18"/>
                </a:lnTo>
                <a:lnTo>
                  <a:pt x="613" y="14"/>
                </a:lnTo>
                <a:lnTo>
                  <a:pt x="613" y="11"/>
                </a:lnTo>
                <a:lnTo>
                  <a:pt x="613" y="9"/>
                </a:lnTo>
                <a:lnTo>
                  <a:pt x="613" y="6"/>
                </a:lnTo>
                <a:lnTo>
                  <a:pt x="613" y="3"/>
                </a:lnTo>
                <a:lnTo>
                  <a:pt x="613" y="0"/>
                </a:lnTo>
                <a:lnTo>
                  <a:pt x="609" y="0"/>
                </a:lnTo>
                <a:lnTo>
                  <a:pt x="609" y="3"/>
                </a:lnTo>
                <a:lnTo>
                  <a:pt x="609" y="6"/>
                </a:lnTo>
                <a:lnTo>
                  <a:pt x="609" y="9"/>
                </a:lnTo>
                <a:lnTo>
                  <a:pt x="609" y="11"/>
                </a:lnTo>
                <a:lnTo>
                  <a:pt x="609" y="14"/>
                </a:lnTo>
                <a:lnTo>
                  <a:pt x="609" y="18"/>
                </a:lnTo>
                <a:lnTo>
                  <a:pt x="609" y="21"/>
                </a:lnTo>
                <a:lnTo>
                  <a:pt x="609" y="24"/>
                </a:lnTo>
                <a:lnTo>
                  <a:pt x="609" y="28"/>
                </a:lnTo>
                <a:lnTo>
                  <a:pt x="609" y="31"/>
                </a:lnTo>
                <a:lnTo>
                  <a:pt x="609" y="34"/>
                </a:lnTo>
                <a:lnTo>
                  <a:pt x="609" y="38"/>
                </a:lnTo>
                <a:lnTo>
                  <a:pt x="609" y="41"/>
                </a:lnTo>
                <a:lnTo>
                  <a:pt x="609" y="44"/>
                </a:lnTo>
                <a:lnTo>
                  <a:pt x="609" y="48"/>
                </a:lnTo>
                <a:lnTo>
                  <a:pt x="609" y="51"/>
                </a:lnTo>
                <a:lnTo>
                  <a:pt x="613" y="51"/>
                </a:lnTo>
                <a:lnTo>
                  <a:pt x="613" y="48"/>
                </a:lnTo>
                <a:lnTo>
                  <a:pt x="613" y="44"/>
                </a:lnTo>
                <a:lnTo>
                  <a:pt x="613" y="41"/>
                </a:lnTo>
                <a:lnTo>
                  <a:pt x="613" y="38"/>
                </a:lnTo>
                <a:lnTo>
                  <a:pt x="613" y="34"/>
                </a:lnTo>
                <a:lnTo>
                  <a:pt x="613" y="31"/>
                </a:lnTo>
                <a:lnTo>
                  <a:pt x="613" y="28"/>
                </a:lnTo>
                <a:lnTo>
                  <a:pt x="61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67" name="Freeform 1672">
            <a:extLst>
              <a:ext uri="{FF2B5EF4-FFF2-40B4-BE49-F238E27FC236}">
                <a16:creationId xmlns:a16="http://schemas.microsoft.com/office/drawing/2014/main" id="{C48D0119-026A-139D-E49D-4DEC48AAF194}"/>
              </a:ext>
            </a:extLst>
          </p:cNvPr>
          <p:cNvSpPr>
            <a:spLocks noEditPoints="1"/>
          </p:cNvSpPr>
          <p:nvPr/>
        </p:nvSpPr>
        <p:spPr bwMode="auto">
          <a:xfrm>
            <a:off x="2073275" y="2719388"/>
            <a:ext cx="968375" cy="80963"/>
          </a:xfrm>
          <a:custGeom>
            <a:avLst/>
            <a:gdLst>
              <a:gd name="T0" fmla="*/ 610 w 610"/>
              <a:gd name="T1" fmla="*/ 21 h 51"/>
              <a:gd name="T2" fmla="*/ 610 w 610"/>
              <a:gd name="T3" fmla="*/ 14 h 51"/>
              <a:gd name="T4" fmla="*/ 610 w 610"/>
              <a:gd name="T5" fmla="*/ 9 h 51"/>
              <a:gd name="T6" fmla="*/ 610 w 610"/>
              <a:gd name="T7" fmla="*/ 3 h 51"/>
              <a:gd name="T8" fmla="*/ 607 w 610"/>
              <a:gd name="T9" fmla="*/ 0 h 51"/>
              <a:gd name="T10" fmla="*/ 607 w 610"/>
              <a:gd name="T11" fmla="*/ 6 h 51"/>
              <a:gd name="T12" fmla="*/ 607 w 610"/>
              <a:gd name="T13" fmla="*/ 11 h 51"/>
              <a:gd name="T14" fmla="*/ 607 w 610"/>
              <a:gd name="T15" fmla="*/ 18 h 51"/>
              <a:gd name="T16" fmla="*/ 607 w 610"/>
              <a:gd name="T17" fmla="*/ 24 h 51"/>
              <a:gd name="T18" fmla="*/ 607 w 610"/>
              <a:gd name="T19" fmla="*/ 31 h 51"/>
              <a:gd name="T20" fmla="*/ 607 w 610"/>
              <a:gd name="T21" fmla="*/ 38 h 51"/>
              <a:gd name="T22" fmla="*/ 607 w 610"/>
              <a:gd name="T23" fmla="*/ 44 h 51"/>
              <a:gd name="T24" fmla="*/ 607 w 610"/>
              <a:gd name="T25" fmla="*/ 51 h 51"/>
              <a:gd name="T26" fmla="*/ 610 w 610"/>
              <a:gd name="T27" fmla="*/ 48 h 51"/>
              <a:gd name="T28" fmla="*/ 610 w 610"/>
              <a:gd name="T29" fmla="*/ 41 h 51"/>
              <a:gd name="T30" fmla="*/ 610 w 610"/>
              <a:gd name="T31" fmla="*/ 34 h 51"/>
              <a:gd name="T32" fmla="*/ 610 w 610"/>
              <a:gd name="T33" fmla="*/ 28 h 51"/>
              <a:gd name="T34" fmla="*/ 2 w 610"/>
              <a:gd name="T35" fmla="*/ 0 h 51"/>
              <a:gd name="T36" fmla="*/ 0 w 610"/>
              <a:gd name="T37" fmla="*/ 6 h 51"/>
              <a:gd name="T38" fmla="*/ 0 w 610"/>
              <a:gd name="T39" fmla="*/ 11 h 51"/>
              <a:gd name="T40" fmla="*/ 0 w 610"/>
              <a:gd name="T41" fmla="*/ 18 h 51"/>
              <a:gd name="T42" fmla="*/ 0 w 610"/>
              <a:gd name="T43" fmla="*/ 24 h 51"/>
              <a:gd name="T44" fmla="*/ 0 w 610"/>
              <a:gd name="T45" fmla="*/ 31 h 51"/>
              <a:gd name="T46" fmla="*/ 0 w 610"/>
              <a:gd name="T47" fmla="*/ 38 h 51"/>
              <a:gd name="T48" fmla="*/ 0 w 610"/>
              <a:gd name="T49" fmla="*/ 44 h 51"/>
              <a:gd name="T50" fmla="*/ 0 w 610"/>
              <a:gd name="T51" fmla="*/ 51 h 51"/>
              <a:gd name="T52" fmla="*/ 4 w 610"/>
              <a:gd name="T53" fmla="*/ 48 h 51"/>
              <a:gd name="T54" fmla="*/ 4 w 610"/>
              <a:gd name="T55" fmla="*/ 41 h 51"/>
              <a:gd name="T56" fmla="*/ 4 w 610"/>
              <a:gd name="T57" fmla="*/ 34 h 51"/>
              <a:gd name="T58" fmla="*/ 4 w 610"/>
              <a:gd name="T59" fmla="*/ 28 h 51"/>
              <a:gd name="T60" fmla="*/ 4 w 610"/>
              <a:gd name="T61" fmla="*/ 21 h 51"/>
              <a:gd name="T62" fmla="*/ 4 w 610"/>
              <a:gd name="T63" fmla="*/ 14 h 51"/>
              <a:gd name="T64" fmla="*/ 4 w 610"/>
              <a:gd name="T65" fmla="*/ 9 h 51"/>
              <a:gd name="T66" fmla="*/ 4 w 610"/>
              <a:gd name="T67" fmla="*/ 3 h 51"/>
              <a:gd name="T68" fmla="*/ 2 w 61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10" h="51">
                <a:moveTo>
                  <a:pt x="610" y="24"/>
                </a:moveTo>
                <a:lnTo>
                  <a:pt x="610" y="21"/>
                </a:lnTo>
                <a:lnTo>
                  <a:pt x="610" y="18"/>
                </a:lnTo>
                <a:lnTo>
                  <a:pt x="610" y="14"/>
                </a:lnTo>
                <a:lnTo>
                  <a:pt x="610" y="11"/>
                </a:lnTo>
                <a:lnTo>
                  <a:pt x="610" y="9"/>
                </a:lnTo>
                <a:lnTo>
                  <a:pt x="610" y="6"/>
                </a:lnTo>
                <a:lnTo>
                  <a:pt x="610" y="3"/>
                </a:lnTo>
                <a:lnTo>
                  <a:pt x="610" y="0"/>
                </a:lnTo>
                <a:lnTo>
                  <a:pt x="607" y="0"/>
                </a:lnTo>
                <a:lnTo>
                  <a:pt x="607" y="3"/>
                </a:lnTo>
                <a:lnTo>
                  <a:pt x="607" y="6"/>
                </a:lnTo>
                <a:lnTo>
                  <a:pt x="607" y="9"/>
                </a:lnTo>
                <a:lnTo>
                  <a:pt x="607" y="11"/>
                </a:lnTo>
                <a:lnTo>
                  <a:pt x="607" y="14"/>
                </a:lnTo>
                <a:lnTo>
                  <a:pt x="607" y="18"/>
                </a:lnTo>
                <a:lnTo>
                  <a:pt x="607" y="21"/>
                </a:lnTo>
                <a:lnTo>
                  <a:pt x="607" y="24"/>
                </a:lnTo>
                <a:lnTo>
                  <a:pt x="607" y="28"/>
                </a:lnTo>
                <a:lnTo>
                  <a:pt x="607" y="31"/>
                </a:lnTo>
                <a:lnTo>
                  <a:pt x="607" y="34"/>
                </a:lnTo>
                <a:lnTo>
                  <a:pt x="607" y="38"/>
                </a:lnTo>
                <a:lnTo>
                  <a:pt x="607" y="41"/>
                </a:lnTo>
                <a:lnTo>
                  <a:pt x="607" y="44"/>
                </a:lnTo>
                <a:lnTo>
                  <a:pt x="607" y="48"/>
                </a:lnTo>
                <a:lnTo>
                  <a:pt x="607" y="51"/>
                </a:lnTo>
                <a:lnTo>
                  <a:pt x="610" y="51"/>
                </a:lnTo>
                <a:lnTo>
                  <a:pt x="610" y="48"/>
                </a:lnTo>
                <a:lnTo>
                  <a:pt x="610" y="44"/>
                </a:lnTo>
                <a:lnTo>
                  <a:pt x="610" y="41"/>
                </a:lnTo>
                <a:lnTo>
                  <a:pt x="610" y="38"/>
                </a:lnTo>
                <a:lnTo>
                  <a:pt x="610" y="34"/>
                </a:lnTo>
                <a:lnTo>
                  <a:pt x="610" y="31"/>
                </a:lnTo>
                <a:lnTo>
                  <a:pt x="610" y="28"/>
                </a:lnTo>
                <a:lnTo>
                  <a:pt x="61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68" name="Freeform 1673">
            <a:extLst>
              <a:ext uri="{FF2B5EF4-FFF2-40B4-BE49-F238E27FC236}">
                <a16:creationId xmlns:a16="http://schemas.microsoft.com/office/drawing/2014/main" id="{EAA5E386-11B4-6F23-600C-BBAB74E90F3F}"/>
              </a:ext>
            </a:extLst>
          </p:cNvPr>
          <p:cNvSpPr>
            <a:spLocks noEditPoints="1"/>
          </p:cNvSpPr>
          <p:nvPr/>
        </p:nvSpPr>
        <p:spPr bwMode="auto">
          <a:xfrm>
            <a:off x="2076450" y="2719388"/>
            <a:ext cx="962025" cy="80963"/>
          </a:xfrm>
          <a:custGeom>
            <a:avLst/>
            <a:gdLst>
              <a:gd name="T0" fmla="*/ 606 w 606"/>
              <a:gd name="T1" fmla="*/ 21 h 51"/>
              <a:gd name="T2" fmla="*/ 606 w 606"/>
              <a:gd name="T3" fmla="*/ 14 h 51"/>
              <a:gd name="T4" fmla="*/ 606 w 606"/>
              <a:gd name="T5" fmla="*/ 9 h 51"/>
              <a:gd name="T6" fmla="*/ 606 w 606"/>
              <a:gd name="T7" fmla="*/ 3 h 51"/>
              <a:gd name="T8" fmla="*/ 603 w 606"/>
              <a:gd name="T9" fmla="*/ 0 h 51"/>
              <a:gd name="T10" fmla="*/ 603 w 606"/>
              <a:gd name="T11" fmla="*/ 6 h 51"/>
              <a:gd name="T12" fmla="*/ 603 w 606"/>
              <a:gd name="T13" fmla="*/ 11 h 51"/>
              <a:gd name="T14" fmla="*/ 603 w 606"/>
              <a:gd name="T15" fmla="*/ 18 h 51"/>
              <a:gd name="T16" fmla="*/ 603 w 606"/>
              <a:gd name="T17" fmla="*/ 24 h 51"/>
              <a:gd name="T18" fmla="*/ 603 w 606"/>
              <a:gd name="T19" fmla="*/ 31 h 51"/>
              <a:gd name="T20" fmla="*/ 603 w 606"/>
              <a:gd name="T21" fmla="*/ 38 h 51"/>
              <a:gd name="T22" fmla="*/ 603 w 606"/>
              <a:gd name="T23" fmla="*/ 44 h 51"/>
              <a:gd name="T24" fmla="*/ 603 w 606"/>
              <a:gd name="T25" fmla="*/ 51 h 51"/>
              <a:gd name="T26" fmla="*/ 606 w 606"/>
              <a:gd name="T27" fmla="*/ 48 h 51"/>
              <a:gd name="T28" fmla="*/ 606 w 606"/>
              <a:gd name="T29" fmla="*/ 41 h 51"/>
              <a:gd name="T30" fmla="*/ 606 w 606"/>
              <a:gd name="T31" fmla="*/ 34 h 51"/>
              <a:gd name="T32" fmla="*/ 606 w 606"/>
              <a:gd name="T33" fmla="*/ 28 h 51"/>
              <a:gd name="T34" fmla="*/ 2 w 606"/>
              <a:gd name="T35" fmla="*/ 0 h 51"/>
              <a:gd name="T36" fmla="*/ 0 w 606"/>
              <a:gd name="T37" fmla="*/ 6 h 51"/>
              <a:gd name="T38" fmla="*/ 0 w 606"/>
              <a:gd name="T39" fmla="*/ 11 h 51"/>
              <a:gd name="T40" fmla="*/ 0 w 606"/>
              <a:gd name="T41" fmla="*/ 18 h 51"/>
              <a:gd name="T42" fmla="*/ 0 w 606"/>
              <a:gd name="T43" fmla="*/ 24 h 51"/>
              <a:gd name="T44" fmla="*/ 0 w 606"/>
              <a:gd name="T45" fmla="*/ 31 h 51"/>
              <a:gd name="T46" fmla="*/ 0 w 606"/>
              <a:gd name="T47" fmla="*/ 38 h 51"/>
              <a:gd name="T48" fmla="*/ 0 w 606"/>
              <a:gd name="T49" fmla="*/ 44 h 51"/>
              <a:gd name="T50" fmla="*/ 0 w 606"/>
              <a:gd name="T51" fmla="*/ 51 h 51"/>
              <a:gd name="T52" fmla="*/ 3 w 606"/>
              <a:gd name="T53" fmla="*/ 48 h 51"/>
              <a:gd name="T54" fmla="*/ 3 w 606"/>
              <a:gd name="T55" fmla="*/ 41 h 51"/>
              <a:gd name="T56" fmla="*/ 3 w 606"/>
              <a:gd name="T57" fmla="*/ 34 h 51"/>
              <a:gd name="T58" fmla="*/ 3 w 606"/>
              <a:gd name="T59" fmla="*/ 28 h 51"/>
              <a:gd name="T60" fmla="*/ 3 w 606"/>
              <a:gd name="T61" fmla="*/ 21 h 51"/>
              <a:gd name="T62" fmla="*/ 3 w 606"/>
              <a:gd name="T63" fmla="*/ 14 h 51"/>
              <a:gd name="T64" fmla="*/ 3 w 606"/>
              <a:gd name="T65" fmla="*/ 9 h 51"/>
              <a:gd name="T66" fmla="*/ 3 w 606"/>
              <a:gd name="T67" fmla="*/ 3 h 51"/>
              <a:gd name="T68" fmla="*/ 2 w 60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6" h="51">
                <a:moveTo>
                  <a:pt x="606" y="24"/>
                </a:moveTo>
                <a:lnTo>
                  <a:pt x="606" y="21"/>
                </a:lnTo>
                <a:lnTo>
                  <a:pt x="606" y="18"/>
                </a:lnTo>
                <a:lnTo>
                  <a:pt x="606" y="14"/>
                </a:lnTo>
                <a:lnTo>
                  <a:pt x="606" y="11"/>
                </a:lnTo>
                <a:lnTo>
                  <a:pt x="606" y="9"/>
                </a:lnTo>
                <a:lnTo>
                  <a:pt x="606" y="6"/>
                </a:lnTo>
                <a:lnTo>
                  <a:pt x="606" y="3"/>
                </a:lnTo>
                <a:lnTo>
                  <a:pt x="606" y="0"/>
                </a:lnTo>
                <a:lnTo>
                  <a:pt x="603" y="0"/>
                </a:lnTo>
                <a:lnTo>
                  <a:pt x="603" y="3"/>
                </a:lnTo>
                <a:lnTo>
                  <a:pt x="603" y="6"/>
                </a:lnTo>
                <a:lnTo>
                  <a:pt x="603" y="9"/>
                </a:lnTo>
                <a:lnTo>
                  <a:pt x="603" y="11"/>
                </a:lnTo>
                <a:lnTo>
                  <a:pt x="603" y="14"/>
                </a:lnTo>
                <a:lnTo>
                  <a:pt x="603" y="18"/>
                </a:lnTo>
                <a:lnTo>
                  <a:pt x="603" y="21"/>
                </a:lnTo>
                <a:lnTo>
                  <a:pt x="603" y="24"/>
                </a:lnTo>
                <a:lnTo>
                  <a:pt x="603" y="28"/>
                </a:lnTo>
                <a:lnTo>
                  <a:pt x="603" y="31"/>
                </a:lnTo>
                <a:lnTo>
                  <a:pt x="603" y="34"/>
                </a:lnTo>
                <a:lnTo>
                  <a:pt x="603" y="38"/>
                </a:lnTo>
                <a:lnTo>
                  <a:pt x="603" y="41"/>
                </a:lnTo>
                <a:lnTo>
                  <a:pt x="603" y="44"/>
                </a:lnTo>
                <a:lnTo>
                  <a:pt x="603" y="48"/>
                </a:lnTo>
                <a:lnTo>
                  <a:pt x="603" y="51"/>
                </a:lnTo>
                <a:lnTo>
                  <a:pt x="606" y="51"/>
                </a:lnTo>
                <a:lnTo>
                  <a:pt x="606" y="48"/>
                </a:lnTo>
                <a:lnTo>
                  <a:pt x="606" y="44"/>
                </a:lnTo>
                <a:lnTo>
                  <a:pt x="606" y="41"/>
                </a:lnTo>
                <a:lnTo>
                  <a:pt x="606" y="38"/>
                </a:lnTo>
                <a:lnTo>
                  <a:pt x="606" y="34"/>
                </a:lnTo>
                <a:lnTo>
                  <a:pt x="606" y="31"/>
                </a:lnTo>
                <a:lnTo>
                  <a:pt x="606" y="28"/>
                </a:lnTo>
                <a:lnTo>
                  <a:pt x="60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69" name="Freeform 1674">
            <a:extLst>
              <a:ext uri="{FF2B5EF4-FFF2-40B4-BE49-F238E27FC236}">
                <a16:creationId xmlns:a16="http://schemas.microsoft.com/office/drawing/2014/main" id="{006E9421-A580-F151-DB8C-0D523558492C}"/>
              </a:ext>
            </a:extLst>
          </p:cNvPr>
          <p:cNvSpPr>
            <a:spLocks noEditPoints="1"/>
          </p:cNvSpPr>
          <p:nvPr/>
        </p:nvSpPr>
        <p:spPr bwMode="auto">
          <a:xfrm>
            <a:off x="2079625" y="2719388"/>
            <a:ext cx="957263" cy="80963"/>
          </a:xfrm>
          <a:custGeom>
            <a:avLst/>
            <a:gdLst>
              <a:gd name="T0" fmla="*/ 603 w 603"/>
              <a:gd name="T1" fmla="*/ 21 h 51"/>
              <a:gd name="T2" fmla="*/ 603 w 603"/>
              <a:gd name="T3" fmla="*/ 14 h 51"/>
              <a:gd name="T4" fmla="*/ 603 w 603"/>
              <a:gd name="T5" fmla="*/ 9 h 51"/>
              <a:gd name="T6" fmla="*/ 603 w 603"/>
              <a:gd name="T7" fmla="*/ 3 h 51"/>
              <a:gd name="T8" fmla="*/ 599 w 603"/>
              <a:gd name="T9" fmla="*/ 0 h 51"/>
              <a:gd name="T10" fmla="*/ 599 w 603"/>
              <a:gd name="T11" fmla="*/ 6 h 51"/>
              <a:gd name="T12" fmla="*/ 599 w 603"/>
              <a:gd name="T13" fmla="*/ 11 h 51"/>
              <a:gd name="T14" fmla="*/ 599 w 603"/>
              <a:gd name="T15" fmla="*/ 18 h 51"/>
              <a:gd name="T16" fmla="*/ 599 w 603"/>
              <a:gd name="T17" fmla="*/ 24 h 51"/>
              <a:gd name="T18" fmla="*/ 599 w 603"/>
              <a:gd name="T19" fmla="*/ 31 h 51"/>
              <a:gd name="T20" fmla="*/ 599 w 603"/>
              <a:gd name="T21" fmla="*/ 38 h 51"/>
              <a:gd name="T22" fmla="*/ 599 w 603"/>
              <a:gd name="T23" fmla="*/ 44 h 51"/>
              <a:gd name="T24" fmla="*/ 599 w 603"/>
              <a:gd name="T25" fmla="*/ 51 h 51"/>
              <a:gd name="T26" fmla="*/ 603 w 603"/>
              <a:gd name="T27" fmla="*/ 48 h 51"/>
              <a:gd name="T28" fmla="*/ 603 w 603"/>
              <a:gd name="T29" fmla="*/ 41 h 51"/>
              <a:gd name="T30" fmla="*/ 603 w 603"/>
              <a:gd name="T31" fmla="*/ 34 h 51"/>
              <a:gd name="T32" fmla="*/ 603 w 603"/>
              <a:gd name="T33" fmla="*/ 28 h 51"/>
              <a:gd name="T34" fmla="*/ 1 w 603"/>
              <a:gd name="T35" fmla="*/ 0 h 51"/>
              <a:gd name="T36" fmla="*/ 0 w 603"/>
              <a:gd name="T37" fmla="*/ 6 h 51"/>
              <a:gd name="T38" fmla="*/ 0 w 603"/>
              <a:gd name="T39" fmla="*/ 11 h 51"/>
              <a:gd name="T40" fmla="*/ 0 w 603"/>
              <a:gd name="T41" fmla="*/ 18 h 51"/>
              <a:gd name="T42" fmla="*/ 0 w 603"/>
              <a:gd name="T43" fmla="*/ 24 h 51"/>
              <a:gd name="T44" fmla="*/ 0 w 603"/>
              <a:gd name="T45" fmla="*/ 31 h 51"/>
              <a:gd name="T46" fmla="*/ 0 w 603"/>
              <a:gd name="T47" fmla="*/ 38 h 51"/>
              <a:gd name="T48" fmla="*/ 0 w 603"/>
              <a:gd name="T49" fmla="*/ 44 h 51"/>
              <a:gd name="T50" fmla="*/ 0 w 603"/>
              <a:gd name="T51" fmla="*/ 51 h 51"/>
              <a:gd name="T52" fmla="*/ 3 w 603"/>
              <a:gd name="T53" fmla="*/ 48 h 51"/>
              <a:gd name="T54" fmla="*/ 3 w 603"/>
              <a:gd name="T55" fmla="*/ 41 h 51"/>
              <a:gd name="T56" fmla="*/ 3 w 603"/>
              <a:gd name="T57" fmla="*/ 34 h 51"/>
              <a:gd name="T58" fmla="*/ 3 w 603"/>
              <a:gd name="T59" fmla="*/ 28 h 51"/>
              <a:gd name="T60" fmla="*/ 3 w 603"/>
              <a:gd name="T61" fmla="*/ 21 h 51"/>
              <a:gd name="T62" fmla="*/ 3 w 603"/>
              <a:gd name="T63" fmla="*/ 14 h 51"/>
              <a:gd name="T64" fmla="*/ 3 w 603"/>
              <a:gd name="T65" fmla="*/ 9 h 51"/>
              <a:gd name="T66" fmla="*/ 3 w 603"/>
              <a:gd name="T67" fmla="*/ 3 h 51"/>
              <a:gd name="T68" fmla="*/ 1 w 60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3" h="51">
                <a:moveTo>
                  <a:pt x="603" y="24"/>
                </a:moveTo>
                <a:lnTo>
                  <a:pt x="603" y="21"/>
                </a:lnTo>
                <a:lnTo>
                  <a:pt x="603" y="18"/>
                </a:lnTo>
                <a:lnTo>
                  <a:pt x="603" y="14"/>
                </a:lnTo>
                <a:lnTo>
                  <a:pt x="603" y="11"/>
                </a:lnTo>
                <a:lnTo>
                  <a:pt x="603" y="9"/>
                </a:lnTo>
                <a:lnTo>
                  <a:pt x="603" y="6"/>
                </a:lnTo>
                <a:lnTo>
                  <a:pt x="603" y="3"/>
                </a:lnTo>
                <a:lnTo>
                  <a:pt x="603" y="0"/>
                </a:lnTo>
                <a:lnTo>
                  <a:pt x="599" y="0"/>
                </a:lnTo>
                <a:lnTo>
                  <a:pt x="599" y="3"/>
                </a:lnTo>
                <a:lnTo>
                  <a:pt x="599" y="6"/>
                </a:lnTo>
                <a:lnTo>
                  <a:pt x="599" y="9"/>
                </a:lnTo>
                <a:lnTo>
                  <a:pt x="599" y="11"/>
                </a:lnTo>
                <a:lnTo>
                  <a:pt x="599" y="14"/>
                </a:lnTo>
                <a:lnTo>
                  <a:pt x="599" y="18"/>
                </a:lnTo>
                <a:lnTo>
                  <a:pt x="599" y="21"/>
                </a:lnTo>
                <a:lnTo>
                  <a:pt x="599" y="24"/>
                </a:lnTo>
                <a:lnTo>
                  <a:pt x="599" y="28"/>
                </a:lnTo>
                <a:lnTo>
                  <a:pt x="599" y="31"/>
                </a:lnTo>
                <a:lnTo>
                  <a:pt x="599" y="34"/>
                </a:lnTo>
                <a:lnTo>
                  <a:pt x="599" y="38"/>
                </a:lnTo>
                <a:lnTo>
                  <a:pt x="599" y="41"/>
                </a:lnTo>
                <a:lnTo>
                  <a:pt x="599" y="44"/>
                </a:lnTo>
                <a:lnTo>
                  <a:pt x="599" y="48"/>
                </a:lnTo>
                <a:lnTo>
                  <a:pt x="599" y="51"/>
                </a:lnTo>
                <a:lnTo>
                  <a:pt x="603" y="51"/>
                </a:lnTo>
                <a:lnTo>
                  <a:pt x="603" y="48"/>
                </a:lnTo>
                <a:lnTo>
                  <a:pt x="603" y="44"/>
                </a:lnTo>
                <a:lnTo>
                  <a:pt x="603" y="41"/>
                </a:lnTo>
                <a:lnTo>
                  <a:pt x="603" y="38"/>
                </a:lnTo>
                <a:lnTo>
                  <a:pt x="603" y="34"/>
                </a:lnTo>
                <a:lnTo>
                  <a:pt x="603" y="31"/>
                </a:lnTo>
                <a:lnTo>
                  <a:pt x="603" y="28"/>
                </a:lnTo>
                <a:lnTo>
                  <a:pt x="60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70" name="Freeform 1675">
            <a:extLst>
              <a:ext uri="{FF2B5EF4-FFF2-40B4-BE49-F238E27FC236}">
                <a16:creationId xmlns:a16="http://schemas.microsoft.com/office/drawing/2014/main" id="{7E9A078A-E5E6-1636-A4C0-43DC6B614F17}"/>
              </a:ext>
            </a:extLst>
          </p:cNvPr>
          <p:cNvSpPr>
            <a:spLocks noEditPoints="1"/>
          </p:cNvSpPr>
          <p:nvPr/>
        </p:nvSpPr>
        <p:spPr bwMode="auto">
          <a:xfrm>
            <a:off x="2081213" y="2719388"/>
            <a:ext cx="952500" cy="80963"/>
          </a:xfrm>
          <a:custGeom>
            <a:avLst/>
            <a:gdLst>
              <a:gd name="T0" fmla="*/ 600 w 600"/>
              <a:gd name="T1" fmla="*/ 21 h 51"/>
              <a:gd name="T2" fmla="*/ 600 w 600"/>
              <a:gd name="T3" fmla="*/ 14 h 51"/>
              <a:gd name="T4" fmla="*/ 600 w 600"/>
              <a:gd name="T5" fmla="*/ 9 h 51"/>
              <a:gd name="T6" fmla="*/ 600 w 600"/>
              <a:gd name="T7" fmla="*/ 3 h 51"/>
              <a:gd name="T8" fmla="*/ 597 w 600"/>
              <a:gd name="T9" fmla="*/ 0 h 51"/>
              <a:gd name="T10" fmla="*/ 597 w 600"/>
              <a:gd name="T11" fmla="*/ 6 h 51"/>
              <a:gd name="T12" fmla="*/ 597 w 600"/>
              <a:gd name="T13" fmla="*/ 11 h 51"/>
              <a:gd name="T14" fmla="*/ 597 w 600"/>
              <a:gd name="T15" fmla="*/ 18 h 51"/>
              <a:gd name="T16" fmla="*/ 597 w 600"/>
              <a:gd name="T17" fmla="*/ 24 h 51"/>
              <a:gd name="T18" fmla="*/ 597 w 600"/>
              <a:gd name="T19" fmla="*/ 31 h 51"/>
              <a:gd name="T20" fmla="*/ 597 w 600"/>
              <a:gd name="T21" fmla="*/ 38 h 51"/>
              <a:gd name="T22" fmla="*/ 597 w 600"/>
              <a:gd name="T23" fmla="*/ 44 h 51"/>
              <a:gd name="T24" fmla="*/ 597 w 600"/>
              <a:gd name="T25" fmla="*/ 51 h 51"/>
              <a:gd name="T26" fmla="*/ 600 w 600"/>
              <a:gd name="T27" fmla="*/ 48 h 51"/>
              <a:gd name="T28" fmla="*/ 600 w 600"/>
              <a:gd name="T29" fmla="*/ 41 h 51"/>
              <a:gd name="T30" fmla="*/ 600 w 600"/>
              <a:gd name="T31" fmla="*/ 34 h 51"/>
              <a:gd name="T32" fmla="*/ 600 w 600"/>
              <a:gd name="T33" fmla="*/ 28 h 51"/>
              <a:gd name="T34" fmla="*/ 2 w 600"/>
              <a:gd name="T35" fmla="*/ 0 h 51"/>
              <a:gd name="T36" fmla="*/ 0 w 600"/>
              <a:gd name="T37" fmla="*/ 6 h 51"/>
              <a:gd name="T38" fmla="*/ 0 w 600"/>
              <a:gd name="T39" fmla="*/ 11 h 51"/>
              <a:gd name="T40" fmla="*/ 0 w 600"/>
              <a:gd name="T41" fmla="*/ 18 h 51"/>
              <a:gd name="T42" fmla="*/ 0 w 600"/>
              <a:gd name="T43" fmla="*/ 24 h 51"/>
              <a:gd name="T44" fmla="*/ 0 w 600"/>
              <a:gd name="T45" fmla="*/ 31 h 51"/>
              <a:gd name="T46" fmla="*/ 0 w 600"/>
              <a:gd name="T47" fmla="*/ 38 h 51"/>
              <a:gd name="T48" fmla="*/ 0 w 600"/>
              <a:gd name="T49" fmla="*/ 44 h 51"/>
              <a:gd name="T50" fmla="*/ 0 w 600"/>
              <a:gd name="T51" fmla="*/ 51 h 51"/>
              <a:gd name="T52" fmla="*/ 4 w 600"/>
              <a:gd name="T53" fmla="*/ 48 h 51"/>
              <a:gd name="T54" fmla="*/ 4 w 600"/>
              <a:gd name="T55" fmla="*/ 41 h 51"/>
              <a:gd name="T56" fmla="*/ 4 w 600"/>
              <a:gd name="T57" fmla="*/ 34 h 51"/>
              <a:gd name="T58" fmla="*/ 4 w 600"/>
              <a:gd name="T59" fmla="*/ 28 h 51"/>
              <a:gd name="T60" fmla="*/ 4 w 600"/>
              <a:gd name="T61" fmla="*/ 21 h 51"/>
              <a:gd name="T62" fmla="*/ 4 w 600"/>
              <a:gd name="T63" fmla="*/ 14 h 51"/>
              <a:gd name="T64" fmla="*/ 4 w 600"/>
              <a:gd name="T65" fmla="*/ 9 h 51"/>
              <a:gd name="T66" fmla="*/ 4 w 600"/>
              <a:gd name="T67" fmla="*/ 3 h 51"/>
              <a:gd name="T68" fmla="*/ 2 w 60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0" h="51">
                <a:moveTo>
                  <a:pt x="600" y="24"/>
                </a:moveTo>
                <a:lnTo>
                  <a:pt x="600" y="21"/>
                </a:lnTo>
                <a:lnTo>
                  <a:pt x="600" y="18"/>
                </a:lnTo>
                <a:lnTo>
                  <a:pt x="600" y="14"/>
                </a:lnTo>
                <a:lnTo>
                  <a:pt x="600" y="11"/>
                </a:lnTo>
                <a:lnTo>
                  <a:pt x="600" y="9"/>
                </a:lnTo>
                <a:lnTo>
                  <a:pt x="600" y="6"/>
                </a:lnTo>
                <a:lnTo>
                  <a:pt x="600" y="3"/>
                </a:lnTo>
                <a:lnTo>
                  <a:pt x="600" y="0"/>
                </a:lnTo>
                <a:lnTo>
                  <a:pt x="597" y="0"/>
                </a:lnTo>
                <a:lnTo>
                  <a:pt x="597" y="3"/>
                </a:lnTo>
                <a:lnTo>
                  <a:pt x="597" y="6"/>
                </a:lnTo>
                <a:lnTo>
                  <a:pt x="597" y="9"/>
                </a:lnTo>
                <a:lnTo>
                  <a:pt x="597" y="11"/>
                </a:lnTo>
                <a:lnTo>
                  <a:pt x="597" y="14"/>
                </a:lnTo>
                <a:lnTo>
                  <a:pt x="597" y="18"/>
                </a:lnTo>
                <a:lnTo>
                  <a:pt x="597" y="21"/>
                </a:lnTo>
                <a:lnTo>
                  <a:pt x="597" y="24"/>
                </a:lnTo>
                <a:lnTo>
                  <a:pt x="597" y="28"/>
                </a:lnTo>
                <a:lnTo>
                  <a:pt x="597" y="31"/>
                </a:lnTo>
                <a:lnTo>
                  <a:pt x="597" y="34"/>
                </a:lnTo>
                <a:lnTo>
                  <a:pt x="597" y="38"/>
                </a:lnTo>
                <a:lnTo>
                  <a:pt x="597" y="41"/>
                </a:lnTo>
                <a:lnTo>
                  <a:pt x="597" y="44"/>
                </a:lnTo>
                <a:lnTo>
                  <a:pt x="597" y="48"/>
                </a:lnTo>
                <a:lnTo>
                  <a:pt x="597" y="51"/>
                </a:lnTo>
                <a:lnTo>
                  <a:pt x="600" y="51"/>
                </a:lnTo>
                <a:lnTo>
                  <a:pt x="600" y="48"/>
                </a:lnTo>
                <a:lnTo>
                  <a:pt x="600" y="44"/>
                </a:lnTo>
                <a:lnTo>
                  <a:pt x="600" y="41"/>
                </a:lnTo>
                <a:lnTo>
                  <a:pt x="600" y="38"/>
                </a:lnTo>
                <a:lnTo>
                  <a:pt x="600" y="34"/>
                </a:lnTo>
                <a:lnTo>
                  <a:pt x="600" y="31"/>
                </a:lnTo>
                <a:lnTo>
                  <a:pt x="600" y="28"/>
                </a:lnTo>
                <a:lnTo>
                  <a:pt x="60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71" name="Freeform 1676">
            <a:extLst>
              <a:ext uri="{FF2B5EF4-FFF2-40B4-BE49-F238E27FC236}">
                <a16:creationId xmlns:a16="http://schemas.microsoft.com/office/drawing/2014/main" id="{E957A545-051E-30AE-B5C9-2D0ED9AE1275}"/>
              </a:ext>
            </a:extLst>
          </p:cNvPr>
          <p:cNvSpPr>
            <a:spLocks noEditPoints="1"/>
          </p:cNvSpPr>
          <p:nvPr/>
        </p:nvSpPr>
        <p:spPr bwMode="auto">
          <a:xfrm>
            <a:off x="2084388" y="2719388"/>
            <a:ext cx="946150" cy="80963"/>
          </a:xfrm>
          <a:custGeom>
            <a:avLst/>
            <a:gdLst>
              <a:gd name="T0" fmla="*/ 596 w 596"/>
              <a:gd name="T1" fmla="*/ 21 h 51"/>
              <a:gd name="T2" fmla="*/ 596 w 596"/>
              <a:gd name="T3" fmla="*/ 14 h 51"/>
              <a:gd name="T4" fmla="*/ 596 w 596"/>
              <a:gd name="T5" fmla="*/ 9 h 51"/>
              <a:gd name="T6" fmla="*/ 596 w 596"/>
              <a:gd name="T7" fmla="*/ 3 h 51"/>
              <a:gd name="T8" fmla="*/ 593 w 596"/>
              <a:gd name="T9" fmla="*/ 0 h 51"/>
              <a:gd name="T10" fmla="*/ 593 w 596"/>
              <a:gd name="T11" fmla="*/ 6 h 51"/>
              <a:gd name="T12" fmla="*/ 593 w 596"/>
              <a:gd name="T13" fmla="*/ 11 h 51"/>
              <a:gd name="T14" fmla="*/ 593 w 596"/>
              <a:gd name="T15" fmla="*/ 18 h 51"/>
              <a:gd name="T16" fmla="*/ 593 w 596"/>
              <a:gd name="T17" fmla="*/ 24 h 51"/>
              <a:gd name="T18" fmla="*/ 593 w 596"/>
              <a:gd name="T19" fmla="*/ 31 h 51"/>
              <a:gd name="T20" fmla="*/ 593 w 596"/>
              <a:gd name="T21" fmla="*/ 38 h 51"/>
              <a:gd name="T22" fmla="*/ 593 w 596"/>
              <a:gd name="T23" fmla="*/ 44 h 51"/>
              <a:gd name="T24" fmla="*/ 593 w 596"/>
              <a:gd name="T25" fmla="*/ 51 h 51"/>
              <a:gd name="T26" fmla="*/ 596 w 596"/>
              <a:gd name="T27" fmla="*/ 48 h 51"/>
              <a:gd name="T28" fmla="*/ 596 w 596"/>
              <a:gd name="T29" fmla="*/ 41 h 51"/>
              <a:gd name="T30" fmla="*/ 596 w 596"/>
              <a:gd name="T31" fmla="*/ 34 h 51"/>
              <a:gd name="T32" fmla="*/ 596 w 596"/>
              <a:gd name="T33" fmla="*/ 28 h 51"/>
              <a:gd name="T34" fmla="*/ 2 w 596"/>
              <a:gd name="T35" fmla="*/ 0 h 51"/>
              <a:gd name="T36" fmla="*/ 0 w 596"/>
              <a:gd name="T37" fmla="*/ 6 h 51"/>
              <a:gd name="T38" fmla="*/ 0 w 596"/>
              <a:gd name="T39" fmla="*/ 11 h 51"/>
              <a:gd name="T40" fmla="*/ 0 w 596"/>
              <a:gd name="T41" fmla="*/ 18 h 51"/>
              <a:gd name="T42" fmla="*/ 0 w 596"/>
              <a:gd name="T43" fmla="*/ 24 h 51"/>
              <a:gd name="T44" fmla="*/ 0 w 596"/>
              <a:gd name="T45" fmla="*/ 31 h 51"/>
              <a:gd name="T46" fmla="*/ 0 w 596"/>
              <a:gd name="T47" fmla="*/ 38 h 51"/>
              <a:gd name="T48" fmla="*/ 0 w 596"/>
              <a:gd name="T49" fmla="*/ 44 h 51"/>
              <a:gd name="T50" fmla="*/ 0 w 596"/>
              <a:gd name="T51" fmla="*/ 51 h 51"/>
              <a:gd name="T52" fmla="*/ 3 w 596"/>
              <a:gd name="T53" fmla="*/ 48 h 51"/>
              <a:gd name="T54" fmla="*/ 3 w 596"/>
              <a:gd name="T55" fmla="*/ 41 h 51"/>
              <a:gd name="T56" fmla="*/ 3 w 596"/>
              <a:gd name="T57" fmla="*/ 34 h 51"/>
              <a:gd name="T58" fmla="*/ 3 w 596"/>
              <a:gd name="T59" fmla="*/ 28 h 51"/>
              <a:gd name="T60" fmla="*/ 3 w 596"/>
              <a:gd name="T61" fmla="*/ 21 h 51"/>
              <a:gd name="T62" fmla="*/ 3 w 596"/>
              <a:gd name="T63" fmla="*/ 14 h 51"/>
              <a:gd name="T64" fmla="*/ 3 w 596"/>
              <a:gd name="T65" fmla="*/ 9 h 51"/>
              <a:gd name="T66" fmla="*/ 3 w 596"/>
              <a:gd name="T67" fmla="*/ 3 h 51"/>
              <a:gd name="T68" fmla="*/ 2 w 5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6" h="51">
                <a:moveTo>
                  <a:pt x="596" y="24"/>
                </a:moveTo>
                <a:lnTo>
                  <a:pt x="596" y="21"/>
                </a:lnTo>
                <a:lnTo>
                  <a:pt x="596" y="18"/>
                </a:lnTo>
                <a:lnTo>
                  <a:pt x="596" y="14"/>
                </a:lnTo>
                <a:lnTo>
                  <a:pt x="596" y="11"/>
                </a:lnTo>
                <a:lnTo>
                  <a:pt x="596" y="9"/>
                </a:lnTo>
                <a:lnTo>
                  <a:pt x="596" y="6"/>
                </a:lnTo>
                <a:lnTo>
                  <a:pt x="596" y="3"/>
                </a:lnTo>
                <a:lnTo>
                  <a:pt x="596" y="0"/>
                </a:lnTo>
                <a:lnTo>
                  <a:pt x="593" y="0"/>
                </a:lnTo>
                <a:lnTo>
                  <a:pt x="593" y="3"/>
                </a:lnTo>
                <a:lnTo>
                  <a:pt x="593" y="6"/>
                </a:lnTo>
                <a:lnTo>
                  <a:pt x="593" y="9"/>
                </a:lnTo>
                <a:lnTo>
                  <a:pt x="593" y="11"/>
                </a:lnTo>
                <a:lnTo>
                  <a:pt x="593" y="14"/>
                </a:lnTo>
                <a:lnTo>
                  <a:pt x="593" y="18"/>
                </a:lnTo>
                <a:lnTo>
                  <a:pt x="593" y="21"/>
                </a:lnTo>
                <a:lnTo>
                  <a:pt x="593" y="24"/>
                </a:lnTo>
                <a:lnTo>
                  <a:pt x="593" y="28"/>
                </a:lnTo>
                <a:lnTo>
                  <a:pt x="593" y="31"/>
                </a:lnTo>
                <a:lnTo>
                  <a:pt x="593" y="34"/>
                </a:lnTo>
                <a:lnTo>
                  <a:pt x="593" y="38"/>
                </a:lnTo>
                <a:lnTo>
                  <a:pt x="593" y="41"/>
                </a:lnTo>
                <a:lnTo>
                  <a:pt x="593" y="44"/>
                </a:lnTo>
                <a:lnTo>
                  <a:pt x="593" y="48"/>
                </a:lnTo>
                <a:lnTo>
                  <a:pt x="593" y="51"/>
                </a:lnTo>
                <a:lnTo>
                  <a:pt x="596" y="51"/>
                </a:lnTo>
                <a:lnTo>
                  <a:pt x="596" y="48"/>
                </a:lnTo>
                <a:lnTo>
                  <a:pt x="596" y="44"/>
                </a:lnTo>
                <a:lnTo>
                  <a:pt x="596" y="41"/>
                </a:lnTo>
                <a:lnTo>
                  <a:pt x="596" y="38"/>
                </a:lnTo>
                <a:lnTo>
                  <a:pt x="596" y="34"/>
                </a:lnTo>
                <a:lnTo>
                  <a:pt x="596" y="31"/>
                </a:lnTo>
                <a:lnTo>
                  <a:pt x="596" y="28"/>
                </a:lnTo>
                <a:lnTo>
                  <a:pt x="59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72" name="Freeform 1677">
            <a:extLst>
              <a:ext uri="{FF2B5EF4-FFF2-40B4-BE49-F238E27FC236}">
                <a16:creationId xmlns:a16="http://schemas.microsoft.com/office/drawing/2014/main" id="{6578F8B8-FEF7-6B2D-4C91-8BEEA530211C}"/>
              </a:ext>
            </a:extLst>
          </p:cNvPr>
          <p:cNvSpPr>
            <a:spLocks noEditPoints="1"/>
          </p:cNvSpPr>
          <p:nvPr/>
        </p:nvSpPr>
        <p:spPr bwMode="auto">
          <a:xfrm>
            <a:off x="2087563" y="2719388"/>
            <a:ext cx="941388" cy="80963"/>
          </a:xfrm>
          <a:custGeom>
            <a:avLst/>
            <a:gdLst>
              <a:gd name="T0" fmla="*/ 593 w 593"/>
              <a:gd name="T1" fmla="*/ 21 h 51"/>
              <a:gd name="T2" fmla="*/ 593 w 593"/>
              <a:gd name="T3" fmla="*/ 14 h 51"/>
              <a:gd name="T4" fmla="*/ 593 w 593"/>
              <a:gd name="T5" fmla="*/ 9 h 51"/>
              <a:gd name="T6" fmla="*/ 593 w 593"/>
              <a:gd name="T7" fmla="*/ 3 h 51"/>
              <a:gd name="T8" fmla="*/ 589 w 593"/>
              <a:gd name="T9" fmla="*/ 0 h 51"/>
              <a:gd name="T10" fmla="*/ 589 w 593"/>
              <a:gd name="T11" fmla="*/ 6 h 51"/>
              <a:gd name="T12" fmla="*/ 589 w 593"/>
              <a:gd name="T13" fmla="*/ 11 h 51"/>
              <a:gd name="T14" fmla="*/ 589 w 593"/>
              <a:gd name="T15" fmla="*/ 18 h 51"/>
              <a:gd name="T16" fmla="*/ 589 w 593"/>
              <a:gd name="T17" fmla="*/ 24 h 51"/>
              <a:gd name="T18" fmla="*/ 589 w 593"/>
              <a:gd name="T19" fmla="*/ 31 h 51"/>
              <a:gd name="T20" fmla="*/ 589 w 593"/>
              <a:gd name="T21" fmla="*/ 38 h 51"/>
              <a:gd name="T22" fmla="*/ 589 w 593"/>
              <a:gd name="T23" fmla="*/ 44 h 51"/>
              <a:gd name="T24" fmla="*/ 589 w 593"/>
              <a:gd name="T25" fmla="*/ 51 h 51"/>
              <a:gd name="T26" fmla="*/ 593 w 593"/>
              <a:gd name="T27" fmla="*/ 48 h 51"/>
              <a:gd name="T28" fmla="*/ 593 w 593"/>
              <a:gd name="T29" fmla="*/ 41 h 51"/>
              <a:gd name="T30" fmla="*/ 593 w 593"/>
              <a:gd name="T31" fmla="*/ 34 h 51"/>
              <a:gd name="T32" fmla="*/ 593 w 593"/>
              <a:gd name="T33" fmla="*/ 28 h 51"/>
              <a:gd name="T34" fmla="*/ 1 w 593"/>
              <a:gd name="T35" fmla="*/ 0 h 51"/>
              <a:gd name="T36" fmla="*/ 0 w 593"/>
              <a:gd name="T37" fmla="*/ 6 h 51"/>
              <a:gd name="T38" fmla="*/ 0 w 593"/>
              <a:gd name="T39" fmla="*/ 11 h 51"/>
              <a:gd name="T40" fmla="*/ 0 w 593"/>
              <a:gd name="T41" fmla="*/ 18 h 51"/>
              <a:gd name="T42" fmla="*/ 0 w 593"/>
              <a:gd name="T43" fmla="*/ 24 h 51"/>
              <a:gd name="T44" fmla="*/ 0 w 593"/>
              <a:gd name="T45" fmla="*/ 31 h 51"/>
              <a:gd name="T46" fmla="*/ 0 w 593"/>
              <a:gd name="T47" fmla="*/ 38 h 51"/>
              <a:gd name="T48" fmla="*/ 0 w 593"/>
              <a:gd name="T49" fmla="*/ 44 h 51"/>
              <a:gd name="T50" fmla="*/ 0 w 593"/>
              <a:gd name="T51" fmla="*/ 51 h 51"/>
              <a:gd name="T52" fmla="*/ 3 w 593"/>
              <a:gd name="T53" fmla="*/ 48 h 51"/>
              <a:gd name="T54" fmla="*/ 3 w 593"/>
              <a:gd name="T55" fmla="*/ 41 h 51"/>
              <a:gd name="T56" fmla="*/ 3 w 593"/>
              <a:gd name="T57" fmla="*/ 34 h 51"/>
              <a:gd name="T58" fmla="*/ 3 w 593"/>
              <a:gd name="T59" fmla="*/ 28 h 51"/>
              <a:gd name="T60" fmla="*/ 3 w 593"/>
              <a:gd name="T61" fmla="*/ 21 h 51"/>
              <a:gd name="T62" fmla="*/ 3 w 593"/>
              <a:gd name="T63" fmla="*/ 14 h 51"/>
              <a:gd name="T64" fmla="*/ 3 w 593"/>
              <a:gd name="T65" fmla="*/ 9 h 51"/>
              <a:gd name="T66" fmla="*/ 3 w 593"/>
              <a:gd name="T67" fmla="*/ 3 h 51"/>
              <a:gd name="T68" fmla="*/ 1 w 59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3" h="51">
                <a:moveTo>
                  <a:pt x="593" y="24"/>
                </a:moveTo>
                <a:lnTo>
                  <a:pt x="593" y="21"/>
                </a:lnTo>
                <a:lnTo>
                  <a:pt x="593" y="18"/>
                </a:lnTo>
                <a:lnTo>
                  <a:pt x="593" y="14"/>
                </a:lnTo>
                <a:lnTo>
                  <a:pt x="593" y="11"/>
                </a:lnTo>
                <a:lnTo>
                  <a:pt x="593" y="9"/>
                </a:lnTo>
                <a:lnTo>
                  <a:pt x="593" y="6"/>
                </a:lnTo>
                <a:lnTo>
                  <a:pt x="593" y="3"/>
                </a:lnTo>
                <a:lnTo>
                  <a:pt x="593" y="0"/>
                </a:lnTo>
                <a:lnTo>
                  <a:pt x="589" y="0"/>
                </a:lnTo>
                <a:lnTo>
                  <a:pt x="589" y="3"/>
                </a:lnTo>
                <a:lnTo>
                  <a:pt x="589" y="6"/>
                </a:lnTo>
                <a:lnTo>
                  <a:pt x="589" y="9"/>
                </a:lnTo>
                <a:lnTo>
                  <a:pt x="589" y="11"/>
                </a:lnTo>
                <a:lnTo>
                  <a:pt x="589" y="14"/>
                </a:lnTo>
                <a:lnTo>
                  <a:pt x="589" y="18"/>
                </a:lnTo>
                <a:lnTo>
                  <a:pt x="589" y="21"/>
                </a:lnTo>
                <a:lnTo>
                  <a:pt x="589" y="24"/>
                </a:lnTo>
                <a:lnTo>
                  <a:pt x="589" y="28"/>
                </a:lnTo>
                <a:lnTo>
                  <a:pt x="589" y="31"/>
                </a:lnTo>
                <a:lnTo>
                  <a:pt x="589" y="34"/>
                </a:lnTo>
                <a:lnTo>
                  <a:pt x="589" y="38"/>
                </a:lnTo>
                <a:lnTo>
                  <a:pt x="589" y="41"/>
                </a:lnTo>
                <a:lnTo>
                  <a:pt x="589" y="44"/>
                </a:lnTo>
                <a:lnTo>
                  <a:pt x="589" y="48"/>
                </a:lnTo>
                <a:lnTo>
                  <a:pt x="589" y="51"/>
                </a:lnTo>
                <a:lnTo>
                  <a:pt x="593" y="51"/>
                </a:lnTo>
                <a:lnTo>
                  <a:pt x="593" y="48"/>
                </a:lnTo>
                <a:lnTo>
                  <a:pt x="593" y="44"/>
                </a:lnTo>
                <a:lnTo>
                  <a:pt x="593" y="41"/>
                </a:lnTo>
                <a:lnTo>
                  <a:pt x="593" y="38"/>
                </a:lnTo>
                <a:lnTo>
                  <a:pt x="593" y="34"/>
                </a:lnTo>
                <a:lnTo>
                  <a:pt x="593" y="31"/>
                </a:lnTo>
                <a:lnTo>
                  <a:pt x="593" y="28"/>
                </a:lnTo>
                <a:lnTo>
                  <a:pt x="59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73" name="Freeform 1678">
            <a:extLst>
              <a:ext uri="{FF2B5EF4-FFF2-40B4-BE49-F238E27FC236}">
                <a16:creationId xmlns:a16="http://schemas.microsoft.com/office/drawing/2014/main" id="{F1304043-4DD4-D8EF-E6F0-76745B313EB8}"/>
              </a:ext>
            </a:extLst>
          </p:cNvPr>
          <p:cNvSpPr>
            <a:spLocks noEditPoints="1"/>
          </p:cNvSpPr>
          <p:nvPr/>
        </p:nvSpPr>
        <p:spPr bwMode="auto">
          <a:xfrm>
            <a:off x="2089150" y="2719388"/>
            <a:ext cx="936625" cy="80963"/>
          </a:xfrm>
          <a:custGeom>
            <a:avLst/>
            <a:gdLst>
              <a:gd name="T0" fmla="*/ 590 w 590"/>
              <a:gd name="T1" fmla="*/ 21 h 51"/>
              <a:gd name="T2" fmla="*/ 590 w 590"/>
              <a:gd name="T3" fmla="*/ 14 h 51"/>
              <a:gd name="T4" fmla="*/ 590 w 590"/>
              <a:gd name="T5" fmla="*/ 9 h 51"/>
              <a:gd name="T6" fmla="*/ 590 w 590"/>
              <a:gd name="T7" fmla="*/ 3 h 51"/>
              <a:gd name="T8" fmla="*/ 587 w 590"/>
              <a:gd name="T9" fmla="*/ 0 h 51"/>
              <a:gd name="T10" fmla="*/ 587 w 590"/>
              <a:gd name="T11" fmla="*/ 6 h 51"/>
              <a:gd name="T12" fmla="*/ 587 w 590"/>
              <a:gd name="T13" fmla="*/ 11 h 51"/>
              <a:gd name="T14" fmla="*/ 587 w 590"/>
              <a:gd name="T15" fmla="*/ 18 h 51"/>
              <a:gd name="T16" fmla="*/ 587 w 590"/>
              <a:gd name="T17" fmla="*/ 24 h 51"/>
              <a:gd name="T18" fmla="*/ 587 w 590"/>
              <a:gd name="T19" fmla="*/ 31 h 51"/>
              <a:gd name="T20" fmla="*/ 587 w 590"/>
              <a:gd name="T21" fmla="*/ 38 h 51"/>
              <a:gd name="T22" fmla="*/ 587 w 590"/>
              <a:gd name="T23" fmla="*/ 44 h 51"/>
              <a:gd name="T24" fmla="*/ 587 w 590"/>
              <a:gd name="T25" fmla="*/ 51 h 51"/>
              <a:gd name="T26" fmla="*/ 590 w 590"/>
              <a:gd name="T27" fmla="*/ 48 h 51"/>
              <a:gd name="T28" fmla="*/ 590 w 590"/>
              <a:gd name="T29" fmla="*/ 41 h 51"/>
              <a:gd name="T30" fmla="*/ 590 w 590"/>
              <a:gd name="T31" fmla="*/ 34 h 51"/>
              <a:gd name="T32" fmla="*/ 590 w 590"/>
              <a:gd name="T33" fmla="*/ 28 h 51"/>
              <a:gd name="T34" fmla="*/ 2 w 590"/>
              <a:gd name="T35" fmla="*/ 0 h 51"/>
              <a:gd name="T36" fmla="*/ 0 w 590"/>
              <a:gd name="T37" fmla="*/ 6 h 51"/>
              <a:gd name="T38" fmla="*/ 0 w 590"/>
              <a:gd name="T39" fmla="*/ 11 h 51"/>
              <a:gd name="T40" fmla="*/ 0 w 590"/>
              <a:gd name="T41" fmla="*/ 18 h 51"/>
              <a:gd name="T42" fmla="*/ 0 w 590"/>
              <a:gd name="T43" fmla="*/ 24 h 51"/>
              <a:gd name="T44" fmla="*/ 0 w 590"/>
              <a:gd name="T45" fmla="*/ 31 h 51"/>
              <a:gd name="T46" fmla="*/ 0 w 590"/>
              <a:gd name="T47" fmla="*/ 38 h 51"/>
              <a:gd name="T48" fmla="*/ 0 w 590"/>
              <a:gd name="T49" fmla="*/ 44 h 51"/>
              <a:gd name="T50" fmla="*/ 0 w 590"/>
              <a:gd name="T51" fmla="*/ 51 h 51"/>
              <a:gd name="T52" fmla="*/ 4 w 590"/>
              <a:gd name="T53" fmla="*/ 48 h 51"/>
              <a:gd name="T54" fmla="*/ 4 w 590"/>
              <a:gd name="T55" fmla="*/ 41 h 51"/>
              <a:gd name="T56" fmla="*/ 4 w 590"/>
              <a:gd name="T57" fmla="*/ 34 h 51"/>
              <a:gd name="T58" fmla="*/ 4 w 590"/>
              <a:gd name="T59" fmla="*/ 28 h 51"/>
              <a:gd name="T60" fmla="*/ 4 w 590"/>
              <a:gd name="T61" fmla="*/ 21 h 51"/>
              <a:gd name="T62" fmla="*/ 4 w 590"/>
              <a:gd name="T63" fmla="*/ 14 h 51"/>
              <a:gd name="T64" fmla="*/ 4 w 590"/>
              <a:gd name="T65" fmla="*/ 9 h 51"/>
              <a:gd name="T66" fmla="*/ 4 w 590"/>
              <a:gd name="T67" fmla="*/ 3 h 51"/>
              <a:gd name="T68" fmla="*/ 2 w 59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90" h="51">
                <a:moveTo>
                  <a:pt x="590" y="24"/>
                </a:moveTo>
                <a:lnTo>
                  <a:pt x="590" y="21"/>
                </a:lnTo>
                <a:lnTo>
                  <a:pt x="590" y="18"/>
                </a:lnTo>
                <a:lnTo>
                  <a:pt x="590" y="14"/>
                </a:lnTo>
                <a:lnTo>
                  <a:pt x="590" y="11"/>
                </a:lnTo>
                <a:lnTo>
                  <a:pt x="590" y="9"/>
                </a:lnTo>
                <a:lnTo>
                  <a:pt x="590" y="6"/>
                </a:lnTo>
                <a:lnTo>
                  <a:pt x="590" y="3"/>
                </a:lnTo>
                <a:lnTo>
                  <a:pt x="590" y="0"/>
                </a:lnTo>
                <a:lnTo>
                  <a:pt x="587" y="0"/>
                </a:lnTo>
                <a:lnTo>
                  <a:pt x="587" y="3"/>
                </a:lnTo>
                <a:lnTo>
                  <a:pt x="587" y="6"/>
                </a:lnTo>
                <a:lnTo>
                  <a:pt x="587" y="9"/>
                </a:lnTo>
                <a:lnTo>
                  <a:pt x="587" y="11"/>
                </a:lnTo>
                <a:lnTo>
                  <a:pt x="587" y="14"/>
                </a:lnTo>
                <a:lnTo>
                  <a:pt x="587" y="18"/>
                </a:lnTo>
                <a:lnTo>
                  <a:pt x="587" y="21"/>
                </a:lnTo>
                <a:lnTo>
                  <a:pt x="587" y="24"/>
                </a:lnTo>
                <a:lnTo>
                  <a:pt x="587" y="28"/>
                </a:lnTo>
                <a:lnTo>
                  <a:pt x="587" y="31"/>
                </a:lnTo>
                <a:lnTo>
                  <a:pt x="587" y="34"/>
                </a:lnTo>
                <a:lnTo>
                  <a:pt x="587" y="38"/>
                </a:lnTo>
                <a:lnTo>
                  <a:pt x="587" y="41"/>
                </a:lnTo>
                <a:lnTo>
                  <a:pt x="587" y="44"/>
                </a:lnTo>
                <a:lnTo>
                  <a:pt x="587" y="48"/>
                </a:lnTo>
                <a:lnTo>
                  <a:pt x="587" y="51"/>
                </a:lnTo>
                <a:lnTo>
                  <a:pt x="590" y="51"/>
                </a:lnTo>
                <a:lnTo>
                  <a:pt x="590" y="48"/>
                </a:lnTo>
                <a:lnTo>
                  <a:pt x="590" y="44"/>
                </a:lnTo>
                <a:lnTo>
                  <a:pt x="590" y="41"/>
                </a:lnTo>
                <a:lnTo>
                  <a:pt x="590" y="38"/>
                </a:lnTo>
                <a:lnTo>
                  <a:pt x="590" y="34"/>
                </a:lnTo>
                <a:lnTo>
                  <a:pt x="590" y="31"/>
                </a:lnTo>
                <a:lnTo>
                  <a:pt x="590" y="28"/>
                </a:lnTo>
                <a:lnTo>
                  <a:pt x="59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74" name="Freeform 1679">
            <a:extLst>
              <a:ext uri="{FF2B5EF4-FFF2-40B4-BE49-F238E27FC236}">
                <a16:creationId xmlns:a16="http://schemas.microsoft.com/office/drawing/2014/main" id="{A8153972-103C-8D83-C513-08CB7305C937}"/>
              </a:ext>
            </a:extLst>
          </p:cNvPr>
          <p:cNvSpPr>
            <a:spLocks noEditPoints="1"/>
          </p:cNvSpPr>
          <p:nvPr/>
        </p:nvSpPr>
        <p:spPr bwMode="auto">
          <a:xfrm>
            <a:off x="2092325" y="2719388"/>
            <a:ext cx="930275" cy="80963"/>
          </a:xfrm>
          <a:custGeom>
            <a:avLst/>
            <a:gdLst>
              <a:gd name="T0" fmla="*/ 586 w 586"/>
              <a:gd name="T1" fmla="*/ 21 h 51"/>
              <a:gd name="T2" fmla="*/ 586 w 586"/>
              <a:gd name="T3" fmla="*/ 14 h 51"/>
              <a:gd name="T4" fmla="*/ 586 w 586"/>
              <a:gd name="T5" fmla="*/ 9 h 51"/>
              <a:gd name="T6" fmla="*/ 586 w 586"/>
              <a:gd name="T7" fmla="*/ 3 h 51"/>
              <a:gd name="T8" fmla="*/ 583 w 586"/>
              <a:gd name="T9" fmla="*/ 0 h 51"/>
              <a:gd name="T10" fmla="*/ 583 w 586"/>
              <a:gd name="T11" fmla="*/ 6 h 51"/>
              <a:gd name="T12" fmla="*/ 583 w 586"/>
              <a:gd name="T13" fmla="*/ 11 h 51"/>
              <a:gd name="T14" fmla="*/ 583 w 586"/>
              <a:gd name="T15" fmla="*/ 18 h 51"/>
              <a:gd name="T16" fmla="*/ 583 w 586"/>
              <a:gd name="T17" fmla="*/ 24 h 51"/>
              <a:gd name="T18" fmla="*/ 583 w 586"/>
              <a:gd name="T19" fmla="*/ 31 h 51"/>
              <a:gd name="T20" fmla="*/ 583 w 586"/>
              <a:gd name="T21" fmla="*/ 38 h 51"/>
              <a:gd name="T22" fmla="*/ 583 w 586"/>
              <a:gd name="T23" fmla="*/ 44 h 51"/>
              <a:gd name="T24" fmla="*/ 583 w 586"/>
              <a:gd name="T25" fmla="*/ 51 h 51"/>
              <a:gd name="T26" fmla="*/ 586 w 586"/>
              <a:gd name="T27" fmla="*/ 48 h 51"/>
              <a:gd name="T28" fmla="*/ 586 w 586"/>
              <a:gd name="T29" fmla="*/ 41 h 51"/>
              <a:gd name="T30" fmla="*/ 586 w 586"/>
              <a:gd name="T31" fmla="*/ 34 h 51"/>
              <a:gd name="T32" fmla="*/ 586 w 586"/>
              <a:gd name="T33" fmla="*/ 28 h 51"/>
              <a:gd name="T34" fmla="*/ 2 w 586"/>
              <a:gd name="T35" fmla="*/ 0 h 51"/>
              <a:gd name="T36" fmla="*/ 0 w 586"/>
              <a:gd name="T37" fmla="*/ 6 h 51"/>
              <a:gd name="T38" fmla="*/ 0 w 586"/>
              <a:gd name="T39" fmla="*/ 11 h 51"/>
              <a:gd name="T40" fmla="*/ 0 w 586"/>
              <a:gd name="T41" fmla="*/ 18 h 51"/>
              <a:gd name="T42" fmla="*/ 0 w 586"/>
              <a:gd name="T43" fmla="*/ 24 h 51"/>
              <a:gd name="T44" fmla="*/ 0 w 586"/>
              <a:gd name="T45" fmla="*/ 31 h 51"/>
              <a:gd name="T46" fmla="*/ 0 w 586"/>
              <a:gd name="T47" fmla="*/ 38 h 51"/>
              <a:gd name="T48" fmla="*/ 0 w 586"/>
              <a:gd name="T49" fmla="*/ 44 h 51"/>
              <a:gd name="T50" fmla="*/ 0 w 586"/>
              <a:gd name="T51" fmla="*/ 51 h 51"/>
              <a:gd name="T52" fmla="*/ 3 w 586"/>
              <a:gd name="T53" fmla="*/ 48 h 51"/>
              <a:gd name="T54" fmla="*/ 3 w 586"/>
              <a:gd name="T55" fmla="*/ 41 h 51"/>
              <a:gd name="T56" fmla="*/ 3 w 586"/>
              <a:gd name="T57" fmla="*/ 34 h 51"/>
              <a:gd name="T58" fmla="*/ 3 w 586"/>
              <a:gd name="T59" fmla="*/ 28 h 51"/>
              <a:gd name="T60" fmla="*/ 3 w 586"/>
              <a:gd name="T61" fmla="*/ 21 h 51"/>
              <a:gd name="T62" fmla="*/ 3 w 586"/>
              <a:gd name="T63" fmla="*/ 14 h 51"/>
              <a:gd name="T64" fmla="*/ 3 w 586"/>
              <a:gd name="T65" fmla="*/ 9 h 51"/>
              <a:gd name="T66" fmla="*/ 3 w 586"/>
              <a:gd name="T67" fmla="*/ 3 h 51"/>
              <a:gd name="T68" fmla="*/ 2 w 5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6" h="51">
                <a:moveTo>
                  <a:pt x="586" y="24"/>
                </a:moveTo>
                <a:lnTo>
                  <a:pt x="586" y="21"/>
                </a:lnTo>
                <a:lnTo>
                  <a:pt x="586" y="18"/>
                </a:lnTo>
                <a:lnTo>
                  <a:pt x="586" y="14"/>
                </a:lnTo>
                <a:lnTo>
                  <a:pt x="586" y="11"/>
                </a:lnTo>
                <a:lnTo>
                  <a:pt x="586" y="9"/>
                </a:lnTo>
                <a:lnTo>
                  <a:pt x="586" y="6"/>
                </a:lnTo>
                <a:lnTo>
                  <a:pt x="586" y="3"/>
                </a:lnTo>
                <a:lnTo>
                  <a:pt x="586" y="0"/>
                </a:lnTo>
                <a:lnTo>
                  <a:pt x="583" y="0"/>
                </a:lnTo>
                <a:lnTo>
                  <a:pt x="583" y="3"/>
                </a:lnTo>
                <a:lnTo>
                  <a:pt x="583" y="6"/>
                </a:lnTo>
                <a:lnTo>
                  <a:pt x="583" y="9"/>
                </a:lnTo>
                <a:lnTo>
                  <a:pt x="583" y="11"/>
                </a:lnTo>
                <a:lnTo>
                  <a:pt x="583" y="14"/>
                </a:lnTo>
                <a:lnTo>
                  <a:pt x="583" y="18"/>
                </a:lnTo>
                <a:lnTo>
                  <a:pt x="583" y="21"/>
                </a:lnTo>
                <a:lnTo>
                  <a:pt x="583" y="24"/>
                </a:lnTo>
                <a:lnTo>
                  <a:pt x="583" y="28"/>
                </a:lnTo>
                <a:lnTo>
                  <a:pt x="583" y="31"/>
                </a:lnTo>
                <a:lnTo>
                  <a:pt x="583" y="34"/>
                </a:lnTo>
                <a:lnTo>
                  <a:pt x="583" y="38"/>
                </a:lnTo>
                <a:lnTo>
                  <a:pt x="583" y="41"/>
                </a:lnTo>
                <a:lnTo>
                  <a:pt x="583" y="44"/>
                </a:lnTo>
                <a:lnTo>
                  <a:pt x="583" y="48"/>
                </a:lnTo>
                <a:lnTo>
                  <a:pt x="583" y="51"/>
                </a:lnTo>
                <a:lnTo>
                  <a:pt x="586" y="51"/>
                </a:lnTo>
                <a:lnTo>
                  <a:pt x="586" y="48"/>
                </a:lnTo>
                <a:lnTo>
                  <a:pt x="586" y="44"/>
                </a:lnTo>
                <a:lnTo>
                  <a:pt x="586" y="41"/>
                </a:lnTo>
                <a:lnTo>
                  <a:pt x="586" y="38"/>
                </a:lnTo>
                <a:lnTo>
                  <a:pt x="586" y="34"/>
                </a:lnTo>
                <a:lnTo>
                  <a:pt x="586" y="31"/>
                </a:lnTo>
                <a:lnTo>
                  <a:pt x="586" y="28"/>
                </a:lnTo>
                <a:lnTo>
                  <a:pt x="58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75" name="Freeform 1680">
            <a:extLst>
              <a:ext uri="{FF2B5EF4-FFF2-40B4-BE49-F238E27FC236}">
                <a16:creationId xmlns:a16="http://schemas.microsoft.com/office/drawing/2014/main" id="{9A23081C-47E2-4162-C9BA-5FE14E932327}"/>
              </a:ext>
            </a:extLst>
          </p:cNvPr>
          <p:cNvSpPr>
            <a:spLocks noEditPoints="1"/>
          </p:cNvSpPr>
          <p:nvPr/>
        </p:nvSpPr>
        <p:spPr bwMode="auto">
          <a:xfrm>
            <a:off x="2095500" y="2719388"/>
            <a:ext cx="925513" cy="80963"/>
          </a:xfrm>
          <a:custGeom>
            <a:avLst/>
            <a:gdLst>
              <a:gd name="T0" fmla="*/ 583 w 583"/>
              <a:gd name="T1" fmla="*/ 21 h 51"/>
              <a:gd name="T2" fmla="*/ 583 w 583"/>
              <a:gd name="T3" fmla="*/ 14 h 51"/>
              <a:gd name="T4" fmla="*/ 583 w 583"/>
              <a:gd name="T5" fmla="*/ 9 h 51"/>
              <a:gd name="T6" fmla="*/ 583 w 583"/>
              <a:gd name="T7" fmla="*/ 3 h 51"/>
              <a:gd name="T8" fmla="*/ 579 w 583"/>
              <a:gd name="T9" fmla="*/ 0 h 51"/>
              <a:gd name="T10" fmla="*/ 579 w 583"/>
              <a:gd name="T11" fmla="*/ 6 h 51"/>
              <a:gd name="T12" fmla="*/ 579 w 583"/>
              <a:gd name="T13" fmla="*/ 11 h 51"/>
              <a:gd name="T14" fmla="*/ 579 w 583"/>
              <a:gd name="T15" fmla="*/ 18 h 51"/>
              <a:gd name="T16" fmla="*/ 579 w 583"/>
              <a:gd name="T17" fmla="*/ 24 h 51"/>
              <a:gd name="T18" fmla="*/ 579 w 583"/>
              <a:gd name="T19" fmla="*/ 31 h 51"/>
              <a:gd name="T20" fmla="*/ 579 w 583"/>
              <a:gd name="T21" fmla="*/ 38 h 51"/>
              <a:gd name="T22" fmla="*/ 579 w 583"/>
              <a:gd name="T23" fmla="*/ 44 h 51"/>
              <a:gd name="T24" fmla="*/ 579 w 583"/>
              <a:gd name="T25" fmla="*/ 51 h 51"/>
              <a:gd name="T26" fmla="*/ 583 w 583"/>
              <a:gd name="T27" fmla="*/ 48 h 51"/>
              <a:gd name="T28" fmla="*/ 583 w 583"/>
              <a:gd name="T29" fmla="*/ 41 h 51"/>
              <a:gd name="T30" fmla="*/ 583 w 583"/>
              <a:gd name="T31" fmla="*/ 34 h 51"/>
              <a:gd name="T32" fmla="*/ 583 w 583"/>
              <a:gd name="T33" fmla="*/ 28 h 51"/>
              <a:gd name="T34" fmla="*/ 1 w 583"/>
              <a:gd name="T35" fmla="*/ 0 h 51"/>
              <a:gd name="T36" fmla="*/ 0 w 583"/>
              <a:gd name="T37" fmla="*/ 6 h 51"/>
              <a:gd name="T38" fmla="*/ 0 w 583"/>
              <a:gd name="T39" fmla="*/ 11 h 51"/>
              <a:gd name="T40" fmla="*/ 0 w 583"/>
              <a:gd name="T41" fmla="*/ 18 h 51"/>
              <a:gd name="T42" fmla="*/ 0 w 583"/>
              <a:gd name="T43" fmla="*/ 24 h 51"/>
              <a:gd name="T44" fmla="*/ 0 w 583"/>
              <a:gd name="T45" fmla="*/ 31 h 51"/>
              <a:gd name="T46" fmla="*/ 0 w 583"/>
              <a:gd name="T47" fmla="*/ 38 h 51"/>
              <a:gd name="T48" fmla="*/ 0 w 583"/>
              <a:gd name="T49" fmla="*/ 44 h 51"/>
              <a:gd name="T50" fmla="*/ 0 w 583"/>
              <a:gd name="T51" fmla="*/ 51 h 51"/>
              <a:gd name="T52" fmla="*/ 3 w 583"/>
              <a:gd name="T53" fmla="*/ 48 h 51"/>
              <a:gd name="T54" fmla="*/ 3 w 583"/>
              <a:gd name="T55" fmla="*/ 41 h 51"/>
              <a:gd name="T56" fmla="*/ 3 w 583"/>
              <a:gd name="T57" fmla="*/ 34 h 51"/>
              <a:gd name="T58" fmla="*/ 3 w 583"/>
              <a:gd name="T59" fmla="*/ 28 h 51"/>
              <a:gd name="T60" fmla="*/ 3 w 583"/>
              <a:gd name="T61" fmla="*/ 21 h 51"/>
              <a:gd name="T62" fmla="*/ 3 w 583"/>
              <a:gd name="T63" fmla="*/ 14 h 51"/>
              <a:gd name="T64" fmla="*/ 3 w 583"/>
              <a:gd name="T65" fmla="*/ 9 h 51"/>
              <a:gd name="T66" fmla="*/ 3 w 583"/>
              <a:gd name="T67" fmla="*/ 3 h 51"/>
              <a:gd name="T68" fmla="*/ 1 w 58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3" h="51">
                <a:moveTo>
                  <a:pt x="583" y="24"/>
                </a:moveTo>
                <a:lnTo>
                  <a:pt x="583" y="21"/>
                </a:lnTo>
                <a:lnTo>
                  <a:pt x="583" y="18"/>
                </a:lnTo>
                <a:lnTo>
                  <a:pt x="583" y="14"/>
                </a:lnTo>
                <a:lnTo>
                  <a:pt x="583" y="11"/>
                </a:lnTo>
                <a:lnTo>
                  <a:pt x="583" y="9"/>
                </a:lnTo>
                <a:lnTo>
                  <a:pt x="583" y="6"/>
                </a:lnTo>
                <a:lnTo>
                  <a:pt x="583" y="3"/>
                </a:lnTo>
                <a:lnTo>
                  <a:pt x="583" y="0"/>
                </a:lnTo>
                <a:lnTo>
                  <a:pt x="579" y="0"/>
                </a:lnTo>
                <a:lnTo>
                  <a:pt x="579" y="3"/>
                </a:lnTo>
                <a:lnTo>
                  <a:pt x="579" y="6"/>
                </a:lnTo>
                <a:lnTo>
                  <a:pt x="579" y="9"/>
                </a:lnTo>
                <a:lnTo>
                  <a:pt x="579" y="11"/>
                </a:lnTo>
                <a:lnTo>
                  <a:pt x="579" y="14"/>
                </a:lnTo>
                <a:lnTo>
                  <a:pt x="579" y="18"/>
                </a:lnTo>
                <a:lnTo>
                  <a:pt x="579" y="21"/>
                </a:lnTo>
                <a:lnTo>
                  <a:pt x="579" y="24"/>
                </a:lnTo>
                <a:lnTo>
                  <a:pt x="579" y="28"/>
                </a:lnTo>
                <a:lnTo>
                  <a:pt x="579" y="31"/>
                </a:lnTo>
                <a:lnTo>
                  <a:pt x="579" y="34"/>
                </a:lnTo>
                <a:lnTo>
                  <a:pt x="579" y="38"/>
                </a:lnTo>
                <a:lnTo>
                  <a:pt x="579" y="41"/>
                </a:lnTo>
                <a:lnTo>
                  <a:pt x="579" y="44"/>
                </a:lnTo>
                <a:lnTo>
                  <a:pt x="579" y="48"/>
                </a:lnTo>
                <a:lnTo>
                  <a:pt x="579" y="51"/>
                </a:lnTo>
                <a:lnTo>
                  <a:pt x="583" y="51"/>
                </a:lnTo>
                <a:lnTo>
                  <a:pt x="583" y="48"/>
                </a:lnTo>
                <a:lnTo>
                  <a:pt x="583" y="44"/>
                </a:lnTo>
                <a:lnTo>
                  <a:pt x="583" y="41"/>
                </a:lnTo>
                <a:lnTo>
                  <a:pt x="583" y="38"/>
                </a:lnTo>
                <a:lnTo>
                  <a:pt x="583" y="34"/>
                </a:lnTo>
                <a:lnTo>
                  <a:pt x="583" y="31"/>
                </a:lnTo>
                <a:lnTo>
                  <a:pt x="583" y="28"/>
                </a:lnTo>
                <a:lnTo>
                  <a:pt x="58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76" name="Freeform 1681">
            <a:extLst>
              <a:ext uri="{FF2B5EF4-FFF2-40B4-BE49-F238E27FC236}">
                <a16:creationId xmlns:a16="http://schemas.microsoft.com/office/drawing/2014/main" id="{17F9BB7A-DA32-1984-A260-318083FCD399}"/>
              </a:ext>
            </a:extLst>
          </p:cNvPr>
          <p:cNvSpPr>
            <a:spLocks noEditPoints="1"/>
          </p:cNvSpPr>
          <p:nvPr/>
        </p:nvSpPr>
        <p:spPr bwMode="auto">
          <a:xfrm>
            <a:off x="2097088" y="2719388"/>
            <a:ext cx="920750" cy="80963"/>
          </a:xfrm>
          <a:custGeom>
            <a:avLst/>
            <a:gdLst>
              <a:gd name="T0" fmla="*/ 580 w 580"/>
              <a:gd name="T1" fmla="*/ 21 h 51"/>
              <a:gd name="T2" fmla="*/ 580 w 580"/>
              <a:gd name="T3" fmla="*/ 14 h 51"/>
              <a:gd name="T4" fmla="*/ 580 w 580"/>
              <a:gd name="T5" fmla="*/ 9 h 51"/>
              <a:gd name="T6" fmla="*/ 580 w 580"/>
              <a:gd name="T7" fmla="*/ 3 h 51"/>
              <a:gd name="T8" fmla="*/ 577 w 580"/>
              <a:gd name="T9" fmla="*/ 0 h 51"/>
              <a:gd name="T10" fmla="*/ 577 w 580"/>
              <a:gd name="T11" fmla="*/ 6 h 51"/>
              <a:gd name="T12" fmla="*/ 577 w 580"/>
              <a:gd name="T13" fmla="*/ 11 h 51"/>
              <a:gd name="T14" fmla="*/ 577 w 580"/>
              <a:gd name="T15" fmla="*/ 18 h 51"/>
              <a:gd name="T16" fmla="*/ 577 w 580"/>
              <a:gd name="T17" fmla="*/ 24 h 51"/>
              <a:gd name="T18" fmla="*/ 577 w 580"/>
              <a:gd name="T19" fmla="*/ 31 h 51"/>
              <a:gd name="T20" fmla="*/ 577 w 580"/>
              <a:gd name="T21" fmla="*/ 38 h 51"/>
              <a:gd name="T22" fmla="*/ 577 w 580"/>
              <a:gd name="T23" fmla="*/ 44 h 51"/>
              <a:gd name="T24" fmla="*/ 577 w 580"/>
              <a:gd name="T25" fmla="*/ 51 h 51"/>
              <a:gd name="T26" fmla="*/ 580 w 580"/>
              <a:gd name="T27" fmla="*/ 48 h 51"/>
              <a:gd name="T28" fmla="*/ 580 w 580"/>
              <a:gd name="T29" fmla="*/ 41 h 51"/>
              <a:gd name="T30" fmla="*/ 580 w 580"/>
              <a:gd name="T31" fmla="*/ 34 h 51"/>
              <a:gd name="T32" fmla="*/ 580 w 580"/>
              <a:gd name="T33" fmla="*/ 28 h 51"/>
              <a:gd name="T34" fmla="*/ 2 w 580"/>
              <a:gd name="T35" fmla="*/ 0 h 51"/>
              <a:gd name="T36" fmla="*/ 0 w 580"/>
              <a:gd name="T37" fmla="*/ 6 h 51"/>
              <a:gd name="T38" fmla="*/ 0 w 580"/>
              <a:gd name="T39" fmla="*/ 11 h 51"/>
              <a:gd name="T40" fmla="*/ 0 w 580"/>
              <a:gd name="T41" fmla="*/ 18 h 51"/>
              <a:gd name="T42" fmla="*/ 0 w 580"/>
              <a:gd name="T43" fmla="*/ 24 h 51"/>
              <a:gd name="T44" fmla="*/ 0 w 580"/>
              <a:gd name="T45" fmla="*/ 31 h 51"/>
              <a:gd name="T46" fmla="*/ 0 w 580"/>
              <a:gd name="T47" fmla="*/ 38 h 51"/>
              <a:gd name="T48" fmla="*/ 0 w 580"/>
              <a:gd name="T49" fmla="*/ 44 h 51"/>
              <a:gd name="T50" fmla="*/ 0 w 580"/>
              <a:gd name="T51" fmla="*/ 51 h 51"/>
              <a:gd name="T52" fmla="*/ 4 w 580"/>
              <a:gd name="T53" fmla="*/ 48 h 51"/>
              <a:gd name="T54" fmla="*/ 4 w 580"/>
              <a:gd name="T55" fmla="*/ 41 h 51"/>
              <a:gd name="T56" fmla="*/ 4 w 580"/>
              <a:gd name="T57" fmla="*/ 34 h 51"/>
              <a:gd name="T58" fmla="*/ 4 w 580"/>
              <a:gd name="T59" fmla="*/ 28 h 51"/>
              <a:gd name="T60" fmla="*/ 4 w 580"/>
              <a:gd name="T61" fmla="*/ 21 h 51"/>
              <a:gd name="T62" fmla="*/ 4 w 580"/>
              <a:gd name="T63" fmla="*/ 14 h 51"/>
              <a:gd name="T64" fmla="*/ 4 w 580"/>
              <a:gd name="T65" fmla="*/ 9 h 51"/>
              <a:gd name="T66" fmla="*/ 4 w 580"/>
              <a:gd name="T67" fmla="*/ 3 h 51"/>
              <a:gd name="T68" fmla="*/ 2 w 58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80" h="51">
                <a:moveTo>
                  <a:pt x="580" y="24"/>
                </a:moveTo>
                <a:lnTo>
                  <a:pt x="580" y="21"/>
                </a:lnTo>
                <a:lnTo>
                  <a:pt x="580" y="18"/>
                </a:lnTo>
                <a:lnTo>
                  <a:pt x="580" y="14"/>
                </a:lnTo>
                <a:lnTo>
                  <a:pt x="580" y="11"/>
                </a:lnTo>
                <a:lnTo>
                  <a:pt x="580" y="9"/>
                </a:lnTo>
                <a:lnTo>
                  <a:pt x="580" y="6"/>
                </a:lnTo>
                <a:lnTo>
                  <a:pt x="580" y="3"/>
                </a:lnTo>
                <a:lnTo>
                  <a:pt x="580" y="0"/>
                </a:lnTo>
                <a:lnTo>
                  <a:pt x="577" y="0"/>
                </a:lnTo>
                <a:lnTo>
                  <a:pt x="577" y="3"/>
                </a:lnTo>
                <a:lnTo>
                  <a:pt x="577" y="6"/>
                </a:lnTo>
                <a:lnTo>
                  <a:pt x="577" y="9"/>
                </a:lnTo>
                <a:lnTo>
                  <a:pt x="577" y="11"/>
                </a:lnTo>
                <a:lnTo>
                  <a:pt x="577" y="14"/>
                </a:lnTo>
                <a:lnTo>
                  <a:pt x="577" y="18"/>
                </a:lnTo>
                <a:lnTo>
                  <a:pt x="577" y="21"/>
                </a:lnTo>
                <a:lnTo>
                  <a:pt x="577" y="24"/>
                </a:lnTo>
                <a:lnTo>
                  <a:pt x="577" y="28"/>
                </a:lnTo>
                <a:lnTo>
                  <a:pt x="577" y="31"/>
                </a:lnTo>
                <a:lnTo>
                  <a:pt x="577" y="34"/>
                </a:lnTo>
                <a:lnTo>
                  <a:pt x="577" y="38"/>
                </a:lnTo>
                <a:lnTo>
                  <a:pt x="577" y="41"/>
                </a:lnTo>
                <a:lnTo>
                  <a:pt x="577" y="44"/>
                </a:lnTo>
                <a:lnTo>
                  <a:pt x="577" y="48"/>
                </a:lnTo>
                <a:lnTo>
                  <a:pt x="577" y="51"/>
                </a:lnTo>
                <a:lnTo>
                  <a:pt x="580" y="51"/>
                </a:lnTo>
                <a:lnTo>
                  <a:pt x="580" y="48"/>
                </a:lnTo>
                <a:lnTo>
                  <a:pt x="580" y="44"/>
                </a:lnTo>
                <a:lnTo>
                  <a:pt x="580" y="41"/>
                </a:lnTo>
                <a:lnTo>
                  <a:pt x="580" y="38"/>
                </a:lnTo>
                <a:lnTo>
                  <a:pt x="580" y="34"/>
                </a:lnTo>
                <a:lnTo>
                  <a:pt x="580" y="31"/>
                </a:lnTo>
                <a:lnTo>
                  <a:pt x="580" y="28"/>
                </a:lnTo>
                <a:lnTo>
                  <a:pt x="58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77" name="Freeform 1682">
            <a:extLst>
              <a:ext uri="{FF2B5EF4-FFF2-40B4-BE49-F238E27FC236}">
                <a16:creationId xmlns:a16="http://schemas.microsoft.com/office/drawing/2014/main" id="{4AE2D20D-E00F-2EE7-72AA-7138A966D4E3}"/>
              </a:ext>
            </a:extLst>
          </p:cNvPr>
          <p:cNvSpPr>
            <a:spLocks noEditPoints="1"/>
          </p:cNvSpPr>
          <p:nvPr/>
        </p:nvSpPr>
        <p:spPr bwMode="auto">
          <a:xfrm>
            <a:off x="2100263" y="2719388"/>
            <a:ext cx="914400" cy="80963"/>
          </a:xfrm>
          <a:custGeom>
            <a:avLst/>
            <a:gdLst>
              <a:gd name="T0" fmla="*/ 576 w 576"/>
              <a:gd name="T1" fmla="*/ 21 h 51"/>
              <a:gd name="T2" fmla="*/ 576 w 576"/>
              <a:gd name="T3" fmla="*/ 14 h 51"/>
              <a:gd name="T4" fmla="*/ 576 w 576"/>
              <a:gd name="T5" fmla="*/ 9 h 51"/>
              <a:gd name="T6" fmla="*/ 576 w 576"/>
              <a:gd name="T7" fmla="*/ 3 h 51"/>
              <a:gd name="T8" fmla="*/ 573 w 576"/>
              <a:gd name="T9" fmla="*/ 0 h 51"/>
              <a:gd name="T10" fmla="*/ 573 w 576"/>
              <a:gd name="T11" fmla="*/ 6 h 51"/>
              <a:gd name="T12" fmla="*/ 573 w 576"/>
              <a:gd name="T13" fmla="*/ 11 h 51"/>
              <a:gd name="T14" fmla="*/ 573 w 576"/>
              <a:gd name="T15" fmla="*/ 18 h 51"/>
              <a:gd name="T16" fmla="*/ 573 w 576"/>
              <a:gd name="T17" fmla="*/ 24 h 51"/>
              <a:gd name="T18" fmla="*/ 573 w 576"/>
              <a:gd name="T19" fmla="*/ 31 h 51"/>
              <a:gd name="T20" fmla="*/ 573 w 576"/>
              <a:gd name="T21" fmla="*/ 38 h 51"/>
              <a:gd name="T22" fmla="*/ 573 w 576"/>
              <a:gd name="T23" fmla="*/ 44 h 51"/>
              <a:gd name="T24" fmla="*/ 573 w 576"/>
              <a:gd name="T25" fmla="*/ 51 h 51"/>
              <a:gd name="T26" fmla="*/ 576 w 576"/>
              <a:gd name="T27" fmla="*/ 48 h 51"/>
              <a:gd name="T28" fmla="*/ 576 w 576"/>
              <a:gd name="T29" fmla="*/ 41 h 51"/>
              <a:gd name="T30" fmla="*/ 576 w 576"/>
              <a:gd name="T31" fmla="*/ 34 h 51"/>
              <a:gd name="T32" fmla="*/ 576 w 576"/>
              <a:gd name="T33" fmla="*/ 28 h 51"/>
              <a:gd name="T34" fmla="*/ 2 w 576"/>
              <a:gd name="T35" fmla="*/ 0 h 51"/>
              <a:gd name="T36" fmla="*/ 0 w 576"/>
              <a:gd name="T37" fmla="*/ 6 h 51"/>
              <a:gd name="T38" fmla="*/ 0 w 576"/>
              <a:gd name="T39" fmla="*/ 11 h 51"/>
              <a:gd name="T40" fmla="*/ 0 w 576"/>
              <a:gd name="T41" fmla="*/ 18 h 51"/>
              <a:gd name="T42" fmla="*/ 0 w 576"/>
              <a:gd name="T43" fmla="*/ 24 h 51"/>
              <a:gd name="T44" fmla="*/ 0 w 576"/>
              <a:gd name="T45" fmla="*/ 31 h 51"/>
              <a:gd name="T46" fmla="*/ 0 w 576"/>
              <a:gd name="T47" fmla="*/ 38 h 51"/>
              <a:gd name="T48" fmla="*/ 0 w 576"/>
              <a:gd name="T49" fmla="*/ 44 h 51"/>
              <a:gd name="T50" fmla="*/ 0 w 576"/>
              <a:gd name="T51" fmla="*/ 51 h 51"/>
              <a:gd name="T52" fmla="*/ 3 w 576"/>
              <a:gd name="T53" fmla="*/ 48 h 51"/>
              <a:gd name="T54" fmla="*/ 3 w 576"/>
              <a:gd name="T55" fmla="*/ 41 h 51"/>
              <a:gd name="T56" fmla="*/ 3 w 576"/>
              <a:gd name="T57" fmla="*/ 34 h 51"/>
              <a:gd name="T58" fmla="*/ 3 w 576"/>
              <a:gd name="T59" fmla="*/ 28 h 51"/>
              <a:gd name="T60" fmla="*/ 3 w 576"/>
              <a:gd name="T61" fmla="*/ 21 h 51"/>
              <a:gd name="T62" fmla="*/ 3 w 576"/>
              <a:gd name="T63" fmla="*/ 14 h 51"/>
              <a:gd name="T64" fmla="*/ 3 w 576"/>
              <a:gd name="T65" fmla="*/ 9 h 51"/>
              <a:gd name="T66" fmla="*/ 3 w 576"/>
              <a:gd name="T67" fmla="*/ 3 h 51"/>
              <a:gd name="T68" fmla="*/ 2 w 5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6" h="51">
                <a:moveTo>
                  <a:pt x="576" y="24"/>
                </a:moveTo>
                <a:lnTo>
                  <a:pt x="576" y="21"/>
                </a:lnTo>
                <a:lnTo>
                  <a:pt x="576" y="18"/>
                </a:lnTo>
                <a:lnTo>
                  <a:pt x="576" y="14"/>
                </a:lnTo>
                <a:lnTo>
                  <a:pt x="576" y="11"/>
                </a:lnTo>
                <a:lnTo>
                  <a:pt x="576" y="9"/>
                </a:lnTo>
                <a:lnTo>
                  <a:pt x="576" y="6"/>
                </a:lnTo>
                <a:lnTo>
                  <a:pt x="576" y="3"/>
                </a:lnTo>
                <a:lnTo>
                  <a:pt x="576" y="0"/>
                </a:lnTo>
                <a:lnTo>
                  <a:pt x="573" y="0"/>
                </a:lnTo>
                <a:lnTo>
                  <a:pt x="573" y="3"/>
                </a:lnTo>
                <a:lnTo>
                  <a:pt x="573" y="6"/>
                </a:lnTo>
                <a:lnTo>
                  <a:pt x="573" y="9"/>
                </a:lnTo>
                <a:lnTo>
                  <a:pt x="573" y="11"/>
                </a:lnTo>
                <a:lnTo>
                  <a:pt x="573" y="14"/>
                </a:lnTo>
                <a:lnTo>
                  <a:pt x="573" y="18"/>
                </a:lnTo>
                <a:lnTo>
                  <a:pt x="573" y="21"/>
                </a:lnTo>
                <a:lnTo>
                  <a:pt x="573" y="24"/>
                </a:lnTo>
                <a:lnTo>
                  <a:pt x="573" y="28"/>
                </a:lnTo>
                <a:lnTo>
                  <a:pt x="573" y="31"/>
                </a:lnTo>
                <a:lnTo>
                  <a:pt x="573" y="34"/>
                </a:lnTo>
                <a:lnTo>
                  <a:pt x="573" y="38"/>
                </a:lnTo>
                <a:lnTo>
                  <a:pt x="573" y="41"/>
                </a:lnTo>
                <a:lnTo>
                  <a:pt x="573" y="44"/>
                </a:lnTo>
                <a:lnTo>
                  <a:pt x="573" y="48"/>
                </a:lnTo>
                <a:lnTo>
                  <a:pt x="573" y="51"/>
                </a:lnTo>
                <a:lnTo>
                  <a:pt x="576" y="51"/>
                </a:lnTo>
                <a:lnTo>
                  <a:pt x="576" y="48"/>
                </a:lnTo>
                <a:lnTo>
                  <a:pt x="576" y="44"/>
                </a:lnTo>
                <a:lnTo>
                  <a:pt x="576" y="41"/>
                </a:lnTo>
                <a:lnTo>
                  <a:pt x="576" y="38"/>
                </a:lnTo>
                <a:lnTo>
                  <a:pt x="576" y="34"/>
                </a:lnTo>
                <a:lnTo>
                  <a:pt x="576" y="31"/>
                </a:lnTo>
                <a:lnTo>
                  <a:pt x="576" y="28"/>
                </a:lnTo>
                <a:lnTo>
                  <a:pt x="57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78" name="Freeform 1683">
            <a:extLst>
              <a:ext uri="{FF2B5EF4-FFF2-40B4-BE49-F238E27FC236}">
                <a16:creationId xmlns:a16="http://schemas.microsoft.com/office/drawing/2014/main" id="{B4156D00-E395-1D1E-D1C8-C5847A065CC8}"/>
              </a:ext>
            </a:extLst>
          </p:cNvPr>
          <p:cNvSpPr>
            <a:spLocks noEditPoints="1"/>
          </p:cNvSpPr>
          <p:nvPr/>
        </p:nvSpPr>
        <p:spPr bwMode="auto">
          <a:xfrm>
            <a:off x="2103438" y="2719388"/>
            <a:ext cx="909638" cy="80963"/>
          </a:xfrm>
          <a:custGeom>
            <a:avLst/>
            <a:gdLst>
              <a:gd name="T0" fmla="*/ 573 w 573"/>
              <a:gd name="T1" fmla="*/ 21 h 51"/>
              <a:gd name="T2" fmla="*/ 573 w 573"/>
              <a:gd name="T3" fmla="*/ 14 h 51"/>
              <a:gd name="T4" fmla="*/ 573 w 573"/>
              <a:gd name="T5" fmla="*/ 9 h 51"/>
              <a:gd name="T6" fmla="*/ 573 w 573"/>
              <a:gd name="T7" fmla="*/ 3 h 51"/>
              <a:gd name="T8" fmla="*/ 569 w 573"/>
              <a:gd name="T9" fmla="*/ 0 h 51"/>
              <a:gd name="T10" fmla="*/ 569 w 573"/>
              <a:gd name="T11" fmla="*/ 6 h 51"/>
              <a:gd name="T12" fmla="*/ 569 w 573"/>
              <a:gd name="T13" fmla="*/ 11 h 51"/>
              <a:gd name="T14" fmla="*/ 569 w 573"/>
              <a:gd name="T15" fmla="*/ 18 h 51"/>
              <a:gd name="T16" fmla="*/ 569 w 573"/>
              <a:gd name="T17" fmla="*/ 24 h 51"/>
              <a:gd name="T18" fmla="*/ 569 w 573"/>
              <a:gd name="T19" fmla="*/ 31 h 51"/>
              <a:gd name="T20" fmla="*/ 569 w 573"/>
              <a:gd name="T21" fmla="*/ 38 h 51"/>
              <a:gd name="T22" fmla="*/ 569 w 573"/>
              <a:gd name="T23" fmla="*/ 44 h 51"/>
              <a:gd name="T24" fmla="*/ 569 w 573"/>
              <a:gd name="T25" fmla="*/ 51 h 51"/>
              <a:gd name="T26" fmla="*/ 573 w 573"/>
              <a:gd name="T27" fmla="*/ 48 h 51"/>
              <a:gd name="T28" fmla="*/ 573 w 573"/>
              <a:gd name="T29" fmla="*/ 41 h 51"/>
              <a:gd name="T30" fmla="*/ 573 w 573"/>
              <a:gd name="T31" fmla="*/ 34 h 51"/>
              <a:gd name="T32" fmla="*/ 573 w 573"/>
              <a:gd name="T33" fmla="*/ 28 h 51"/>
              <a:gd name="T34" fmla="*/ 1 w 573"/>
              <a:gd name="T35" fmla="*/ 0 h 51"/>
              <a:gd name="T36" fmla="*/ 0 w 573"/>
              <a:gd name="T37" fmla="*/ 6 h 51"/>
              <a:gd name="T38" fmla="*/ 0 w 573"/>
              <a:gd name="T39" fmla="*/ 11 h 51"/>
              <a:gd name="T40" fmla="*/ 0 w 573"/>
              <a:gd name="T41" fmla="*/ 18 h 51"/>
              <a:gd name="T42" fmla="*/ 0 w 573"/>
              <a:gd name="T43" fmla="*/ 24 h 51"/>
              <a:gd name="T44" fmla="*/ 0 w 573"/>
              <a:gd name="T45" fmla="*/ 31 h 51"/>
              <a:gd name="T46" fmla="*/ 0 w 573"/>
              <a:gd name="T47" fmla="*/ 38 h 51"/>
              <a:gd name="T48" fmla="*/ 0 w 573"/>
              <a:gd name="T49" fmla="*/ 44 h 51"/>
              <a:gd name="T50" fmla="*/ 0 w 573"/>
              <a:gd name="T51" fmla="*/ 51 h 51"/>
              <a:gd name="T52" fmla="*/ 3 w 573"/>
              <a:gd name="T53" fmla="*/ 48 h 51"/>
              <a:gd name="T54" fmla="*/ 3 w 573"/>
              <a:gd name="T55" fmla="*/ 41 h 51"/>
              <a:gd name="T56" fmla="*/ 3 w 573"/>
              <a:gd name="T57" fmla="*/ 34 h 51"/>
              <a:gd name="T58" fmla="*/ 3 w 573"/>
              <a:gd name="T59" fmla="*/ 28 h 51"/>
              <a:gd name="T60" fmla="*/ 3 w 573"/>
              <a:gd name="T61" fmla="*/ 21 h 51"/>
              <a:gd name="T62" fmla="*/ 3 w 573"/>
              <a:gd name="T63" fmla="*/ 14 h 51"/>
              <a:gd name="T64" fmla="*/ 3 w 573"/>
              <a:gd name="T65" fmla="*/ 9 h 51"/>
              <a:gd name="T66" fmla="*/ 3 w 573"/>
              <a:gd name="T67" fmla="*/ 3 h 51"/>
              <a:gd name="T68" fmla="*/ 1 w 57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3" h="51">
                <a:moveTo>
                  <a:pt x="573" y="24"/>
                </a:moveTo>
                <a:lnTo>
                  <a:pt x="573" y="21"/>
                </a:lnTo>
                <a:lnTo>
                  <a:pt x="573" y="18"/>
                </a:lnTo>
                <a:lnTo>
                  <a:pt x="573" y="14"/>
                </a:lnTo>
                <a:lnTo>
                  <a:pt x="573" y="11"/>
                </a:lnTo>
                <a:lnTo>
                  <a:pt x="573" y="9"/>
                </a:lnTo>
                <a:lnTo>
                  <a:pt x="573" y="6"/>
                </a:lnTo>
                <a:lnTo>
                  <a:pt x="573" y="3"/>
                </a:lnTo>
                <a:lnTo>
                  <a:pt x="573" y="0"/>
                </a:lnTo>
                <a:lnTo>
                  <a:pt x="569" y="0"/>
                </a:lnTo>
                <a:lnTo>
                  <a:pt x="569" y="3"/>
                </a:lnTo>
                <a:lnTo>
                  <a:pt x="569" y="6"/>
                </a:lnTo>
                <a:lnTo>
                  <a:pt x="569" y="9"/>
                </a:lnTo>
                <a:lnTo>
                  <a:pt x="569" y="11"/>
                </a:lnTo>
                <a:lnTo>
                  <a:pt x="569" y="14"/>
                </a:lnTo>
                <a:lnTo>
                  <a:pt x="569" y="18"/>
                </a:lnTo>
                <a:lnTo>
                  <a:pt x="569" y="21"/>
                </a:lnTo>
                <a:lnTo>
                  <a:pt x="569" y="24"/>
                </a:lnTo>
                <a:lnTo>
                  <a:pt x="569" y="28"/>
                </a:lnTo>
                <a:lnTo>
                  <a:pt x="569" y="31"/>
                </a:lnTo>
                <a:lnTo>
                  <a:pt x="569" y="34"/>
                </a:lnTo>
                <a:lnTo>
                  <a:pt x="569" y="38"/>
                </a:lnTo>
                <a:lnTo>
                  <a:pt x="569" y="41"/>
                </a:lnTo>
                <a:lnTo>
                  <a:pt x="569" y="44"/>
                </a:lnTo>
                <a:lnTo>
                  <a:pt x="569" y="48"/>
                </a:lnTo>
                <a:lnTo>
                  <a:pt x="569" y="51"/>
                </a:lnTo>
                <a:lnTo>
                  <a:pt x="573" y="51"/>
                </a:lnTo>
                <a:lnTo>
                  <a:pt x="573" y="48"/>
                </a:lnTo>
                <a:lnTo>
                  <a:pt x="573" y="44"/>
                </a:lnTo>
                <a:lnTo>
                  <a:pt x="573" y="41"/>
                </a:lnTo>
                <a:lnTo>
                  <a:pt x="573" y="38"/>
                </a:lnTo>
                <a:lnTo>
                  <a:pt x="573" y="34"/>
                </a:lnTo>
                <a:lnTo>
                  <a:pt x="573" y="31"/>
                </a:lnTo>
                <a:lnTo>
                  <a:pt x="573" y="28"/>
                </a:lnTo>
                <a:lnTo>
                  <a:pt x="57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79" name="Freeform 1684">
            <a:extLst>
              <a:ext uri="{FF2B5EF4-FFF2-40B4-BE49-F238E27FC236}">
                <a16:creationId xmlns:a16="http://schemas.microsoft.com/office/drawing/2014/main" id="{C9DB6DBB-3033-E184-8C6C-B0FB4850580C}"/>
              </a:ext>
            </a:extLst>
          </p:cNvPr>
          <p:cNvSpPr>
            <a:spLocks noEditPoints="1"/>
          </p:cNvSpPr>
          <p:nvPr/>
        </p:nvSpPr>
        <p:spPr bwMode="auto">
          <a:xfrm>
            <a:off x="2105025" y="2719388"/>
            <a:ext cx="904875" cy="80963"/>
          </a:xfrm>
          <a:custGeom>
            <a:avLst/>
            <a:gdLst>
              <a:gd name="T0" fmla="*/ 570 w 570"/>
              <a:gd name="T1" fmla="*/ 21 h 51"/>
              <a:gd name="T2" fmla="*/ 570 w 570"/>
              <a:gd name="T3" fmla="*/ 14 h 51"/>
              <a:gd name="T4" fmla="*/ 570 w 570"/>
              <a:gd name="T5" fmla="*/ 9 h 51"/>
              <a:gd name="T6" fmla="*/ 570 w 570"/>
              <a:gd name="T7" fmla="*/ 3 h 51"/>
              <a:gd name="T8" fmla="*/ 567 w 570"/>
              <a:gd name="T9" fmla="*/ 0 h 51"/>
              <a:gd name="T10" fmla="*/ 567 w 570"/>
              <a:gd name="T11" fmla="*/ 6 h 51"/>
              <a:gd name="T12" fmla="*/ 567 w 570"/>
              <a:gd name="T13" fmla="*/ 11 h 51"/>
              <a:gd name="T14" fmla="*/ 567 w 570"/>
              <a:gd name="T15" fmla="*/ 18 h 51"/>
              <a:gd name="T16" fmla="*/ 567 w 570"/>
              <a:gd name="T17" fmla="*/ 24 h 51"/>
              <a:gd name="T18" fmla="*/ 567 w 570"/>
              <a:gd name="T19" fmla="*/ 31 h 51"/>
              <a:gd name="T20" fmla="*/ 567 w 570"/>
              <a:gd name="T21" fmla="*/ 38 h 51"/>
              <a:gd name="T22" fmla="*/ 567 w 570"/>
              <a:gd name="T23" fmla="*/ 44 h 51"/>
              <a:gd name="T24" fmla="*/ 567 w 570"/>
              <a:gd name="T25" fmla="*/ 51 h 51"/>
              <a:gd name="T26" fmla="*/ 570 w 570"/>
              <a:gd name="T27" fmla="*/ 48 h 51"/>
              <a:gd name="T28" fmla="*/ 570 w 570"/>
              <a:gd name="T29" fmla="*/ 41 h 51"/>
              <a:gd name="T30" fmla="*/ 570 w 570"/>
              <a:gd name="T31" fmla="*/ 34 h 51"/>
              <a:gd name="T32" fmla="*/ 570 w 570"/>
              <a:gd name="T33" fmla="*/ 28 h 51"/>
              <a:gd name="T34" fmla="*/ 2 w 570"/>
              <a:gd name="T35" fmla="*/ 0 h 51"/>
              <a:gd name="T36" fmla="*/ 0 w 570"/>
              <a:gd name="T37" fmla="*/ 6 h 51"/>
              <a:gd name="T38" fmla="*/ 0 w 570"/>
              <a:gd name="T39" fmla="*/ 11 h 51"/>
              <a:gd name="T40" fmla="*/ 0 w 570"/>
              <a:gd name="T41" fmla="*/ 18 h 51"/>
              <a:gd name="T42" fmla="*/ 0 w 570"/>
              <a:gd name="T43" fmla="*/ 24 h 51"/>
              <a:gd name="T44" fmla="*/ 0 w 570"/>
              <a:gd name="T45" fmla="*/ 31 h 51"/>
              <a:gd name="T46" fmla="*/ 0 w 570"/>
              <a:gd name="T47" fmla="*/ 38 h 51"/>
              <a:gd name="T48" fmla="*/ 0 w 570"/>
              <a:gd name="T49" fmla="*/ 44 h 51"/>
              <a:gd name="T50" fmla="*/ 0 w 570"/>
              <a:gd name="T51" fmla="*/ 51 h 51"/>
              <a:gd name="T52" fmla="*/ 4 w 570"/>
              <a:gd name="T53" fmla="*/ 48 h 51"/>
              <a:gd name="T54" fmla="*/ 4 w 570"/>
              <a:gd name="T55" fmla="*/ 41 h 51"/>
              <a:gd name="T56" fmla="*/ 4 w 570"/>
              <a:gd name="T57" fmla="*/ 34 h 51"/>
              <a:gd name="T58" fmla="*/ 4 w 570"/>
              <a:gd name="T59" fmla="*/ 28 h 51"/>
              <a:gd name="T60" fmla="*/ 4 w 570"/>
              <a:gd name="T61" fmla="*/ 21 h 51"/>
              <a:gd name="T62" fmla="*/ 4 w 570"/>
              <a:gd name="T63" fmla="*/ 14 h 51"/>
              <a:gd name="T64" fmla="*/ 4 w 570"/>
              <a:gd name="T65" fmla="*/ 9 h 51"/>
              <a:gd name="T66" fmla="*/ 4 w 570"/>
              <a:gd name="T67" fmla="*/ 3 h 51"/>
              <a:gd name="T68" fmla="*/ 2 w 57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70" h="51">
                <a:moveTo>
                  <a:pt x="570" y="24"/>
                </a:moveTo>
                <a:lnTo>
                  <a:pt x="570" y="21"/>
                </a:lnTo>
                <a:lnTo>
                  <a:pt x="570" y="18"/>
                </a:lnTo>
                <a:lnTo>
                  <a:pt x="570" y="14"/>
                </a:lnTo>
                <a:lnTo>
                  <a:pt x="570" y="11"/>
                </a:lnTo>
                <a:lnTo>
                  <a:pt x="570" y="9"/>
                </a:lnTo>
                <a:lnTo>
                  <a:pt x="570" y="6"/>
                </a:lnTo>
                <a:lnTo>
                  <a:pt x="570" y="3"/>
                </a:lnTo>
                <a:lnTo>
                  <a:pt x="570" y="0"/>
                </a:lnTo>
                <a:lnTo>
                  <a:pt x="567" y="0"/>
                </a:lnTo>
                <a:lnTo>
                  <a:pt x="567" y="3"/>
                </a:lnTo>
                <a:lnTo>
                  <a:pt x="567" y="6"/>
                </a:lnTo>
                <a:lnTo>
                  <a:pt x="567" y="9"/>
                </a:lnTo>
                <a:lnTo>
                  <a:pt x="567" y="11"/>
                </a:lnTo>
                <a:lnTo>
                  <a:pt x="567" y="14"/>
                </a:lnTo>
                <a:lnTo>
                  <a:pt x="567" y="18"/>
                </a:lnTo>
                <a:lnTo>
                  <a:pt x="567" y="21"/>
                </a:lnTo>
                <a:lnTo>
                  <a:pt x="567" y="24"/>
                </a:lnTo>
                <a:lnTo>
                  <a:pt x="567" y="28"/>
                </a:lnTo>
                <a:lnTo>
                  <a:pt x="567" y="31"/>
                </a:lnTo>
                <a:lnTo>
                  <a:pt x="567" y="34"/>
                </a:lnTo>
                <a:lnTo>
                  <a:pt x="567" y="38"/>
                </a:lnTo>
                <a:lnTo>
                  <a:pt x="567" y="41"/>
                </a:lnTo>
                <a:lnTo>
                  <a:pt x="567" y="44"/>
                </a:lnTo>
                <a:lnTo>
                  <a:pt x="567" y="48"/>
                </a:lnTo>
                <a:lnTo>
                  <a:pt x="567" y="51"/>
                </a:lnTo>
                <a:lnTo>
                  <a:pt x="570" y="51"/>
                </a:lnTo>
                <a:lnTo>
                  <a:pt x="570" y="48"/>
                </a:lnTo>
                <a:lnTo>
                  <a:pt x="570" y="44"/>
                </a:lnTo>
                <a:lnTo>
                  <a:pt x="570" y="41"/>
                </a:lnTo>
                <a:lnTo>
                  <a:pt x="570" y="38"/>
                </a:lnTo>
                <a:lnTo>
                  <a:pt x="570" y="34"/>
                </a:lnTo>
                <a:lnTo>
                  <a:pt x="570" y="31"/>
                </a:lnTo>
                <a:lnTo>
                  <a:pt x="570" y="28"/>
                </a:lnTo>
                <a:lnTo>
                  <a:pt x="57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80" name="Freeform 1685">
            <a:extLst>
              <a:ext uri="{FF2B5EF4-FFF2-40B4-BE49-F238E27FC236}">
                <a16:creationId xmlns:a16="http://schemas.microsoft.com/office/drawing/2014/main" id="{F0A8B1BF-50AB-915C-0D4C-54C62D391786}"/>
              </a:ext>
            </a:extLst>
          </p:cNvPr>
          <p:cNvSpPr>
            <a:spLocks noEditPoints="1"/>
          </p:cNvSpPr>
          <p:nvPr/>
        </p:nvSpPr>
        <p:spPr bwMode="auto">
          <a:xfrm>
            <a:off x="2108200" y="2719388"/>
            <a:ext cx="898525" cy="80963"/>
          </a:xfrm>
          <a:custGeom>
            <a:avLst/>
            <a:gdLst>
              <a:gd name="T0" fmla="*/ 566 w 566"/>
              <a:gd name="T1" fmla="*/ 21 h 51"/>
              <a:gd name="T2" fmla="*/ 566 w 566"/>
              <a:gd name="T3" fmla="*/ 14 h 51"/>
              <a:gd name="T4" fmla="*/ 566 w 566"/>
              <a:gd name="T5" fmla="*/ 9 h 51"/>
              <a:gd name="T6" fmla="*/ 566 w 566"/>
              <a:gd name="T7" fmla="*/ 3 h 51"/>
              <a:gd name="T8" fmla="*/ 563 w 566"/>
              <a:gd name="T9" fmla="*/ 0 h 51"/>
              <a:gd name="T10" fmla="*/ 563 w 566"/>
              <a:gd name="T11" fmla="*/ 6 h 51"/>
              <a:gd name="T12" fmla="*/ 563 w 566"/>
              <a:gd name="T13" fmla="*/ 11 h 51"/>
              <a:gd name="T14" fmla="*/ 563 w 566"/>
              <a:gd name="T15" fmla="*/ 18 h 51"/>
              <a:gd name="T16" fmla="*/ 563 w 566"/>
              <a:gd name="T17" fmla="*/ 24 h 51"/>
              <a:gd name="T18" fmla="*/ 563 w 566"/>
              <a:gd name="T19" fmla="*/ 31 h 51"/>
              <a:gd name="T20" fmla="*/ 563 w 566"/>
              <a:gd name="T21" fmla="*/ 38 h 51"/>
              <a:gd name="T22" fmla="*/ 563 w 566"/>
              <a:gd name="T23" fmla="*/ 44 h 51"/>
              <a:gd name="T24" fmla="*/ 563 w 566"/>
              <a:gd name="T25" fmla="*/ 51 h 51"/>
              <a:gd name="T26" fmla="*/ 566 w 566"/>
              <a:gd name="T27" fmla="*/ 48 h 51"/>
              <a:gd name="T28" fmla="*/ 566 w 566"/>
              <a:gd name="T29" fmla="*/ 41 h 51"/>
              <a:gd name="T30" fmla="*/ 566 w 566"/>
              <a:gd name="T31" fmla="*/ 34 h 51"/>
              <a:gd name="T32" fmla="*/ 566 w 566"/>
              <a:gd name="T33" fmla="*/ 28 h 51"/>
              <a:gd name="T34" fmla="*/ 2 w 566"/>
              <a:gd name="T35" fmla="*/ 0 h 51"/>
              <a:gd name="T36" fmla="*/ 0 w 566"/>
              <a:gd name="T37" fmla="*/ 6 h 51"/>
              <a:gd name="T38" fmla="*/ 0 w 566"/>
              <a:gd name="T39" fmla="*/ 11 h 51"/>
              <a:gd name="T40" fmla="*/ 0 w 566"/>
              <a:gd name="T41" fmla="*/ 18 h 51"/>
              <a:gd name="T42" fmla="*/ 0 w 566"/>
              <a:gd name="T43" fmla="*/ 24 h 51"/>
              <a:gd name="T44" fmla="*/ 0 w 566"/>
              <a:gd name="T45" fmla="*/ 31 h 51"/>
              <a:gd name="T46" fmla="*/ 0 w 566"/>
              <a:gd name="T47" fmla="*/ 38 h 51"/>
              <a:gd name="T48" fmla="*/ 0 w 566"/>
              <a:gd name="T49" fmla="*/ 44 h 51"/>
              <a:gd name="T50" fmla="*/ 0 w 566"/>
              <a:gd name="T51" fmla="*/ 51 h 51"/>
              <a:gd name="T52" fmla="*/ 3 w 566"/>
              <a:gd name="T53" fmla="*/ 48 h 51"/>
              <a:gd name="T54" fmla="*/ 3 w 566"/>
              <a:gd name="T55" fmla="*/ 41 h 51"/>
              <a:gd name="T56" fmla="*/ 3 w 566"/>
              <a:gd name="T57" fmla="*/ 34 h 51"/>
              <a:gd name="T58" fmla="*/ 3 w 566"/>
              <a:gd name="T59" fmla="*/ 28 h 51"/>
              <a:gd name="T60" fmla="*/ 3 w 566"/>
              <a:gd name="T61" fmla="*/ 21 h 51"/>
              <a:gd name="T62" fmla="*/ 3 w 566"/>
              <a:gd name="T63" fmla="*/ 14 h 51"/>
              <a:gd name="T64" fmla="*/ 3 w 566"/>
              <a:gd name="T65" fmla="*/ 9 h 51"/>
              <a:gd name="T66" fmla="*/ 3 w 566"/>
              <a:gd name="T67" fmla="*/ 3 h 51"/>
              <a:gd name="T68" fmla="*/ 2 w 5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6" h="51">
                <a:moveTo>
                  <a:pt x="566" y="24"/>
                </a:moveTo>
                <a:lnTo>
                  <a:pt x="566" y="21"/>
                </a:lnTo>
                <a:lnTo>
                  <a:pt x="566" y="18"/>
                </a:lnTo>
                <a:lnTo>
                  <a:pt x="566" y="14"/>
                </a:lnTo>
                <a:lnTo>
                  <a:pt x="566" y="11"/>
                </a:lnTo>
                <a:lnTo>
                  <a:pt x="566" y="9"/>
                </a:lnTo>
                <a:lnTo>
                  <a:pt x="566" y="6"/>
                </a:lnTo>
                <a:lnTo>
                  <a:pt x="566" y="3"/>
                </a:lnTo>
                <a:lnTo>
                  <a:pt x="566" y="0"/>
                </a:lnTo>
                <a:lnTo>
                  <a:pt x="563" y="0"/>
                </a:lnTo>
                <a:lnTo>
                  <a:pt x="563" y="3"/>
                </a:lnTo>
                <a:lnTo>
                  <a:pt x="563" y="6"/>
                </a:lnTo>
                <a:lnTo>
                  <a:pt x="563" y="9"/>
                </a:lnTo>
                <a:lnTo>
                  <a:pt x="563" y="11"/>
                </a:lnTo>
                <a:lnTo>
                  <a:pt x="563" y="14"/>
                </a:lnTo>
                <a:lnTo>
                  <a:pt x="563" y="18"/>
                </a:lnTo>
                <a:lnTo>
                  <a:pt x="563" y="21"/>
                </a:lnTo>
                <a:lnTo>
                  <a:pt x="563" y="24"/>
                </a:lnTo>
                <a:lnTo>
                  <a:pt x="563" y="28"/>
                </a:lnTo>
                <a:lnTo>
                  <a:pt x="563" y="31"/>
                </a:lnTo>
                <a:lnTo>
                  <a:pt x="563" y="34"/>
                </a:lnTo>
                <a:lnTo>
                  <a:pt x="563" y="38"/>
                </a:lnTo>
                <a:lnTo>
                  <a:pt x="563" y="41"/>
                </a:lnTo>
                <a:lnTo>
                  <a:pt x="563" y="44"/>
                </a:lnTo>
                <a:lnTo>
                  <a:pt x="563" y="48"/>
                </a:lnTo>
                <a:lnTo>
                  <a:pt x="563" y="51"/>
                </a:lnTo>
                <a:lnTo>
                  <a:pt x="566" y="51"/>
                </a:lnTo>
                <a:lnTo>
                  <a:pt x="566" y="48"/>
                </a:lnTo>
                <a:lnTo>
                  <a:pt x="566" y="44"/>
                </a:lnTo>
                <a:lnTo>
                  <a:pt x="566" y="41"/>
                </a:lnTo>
                <a:lnTo>
                  <a:pt x="566" y="38"/>
                </a:lnTo>
                <a:lnTo>
                  <a:pt x="566" y="34"/>
                </a:lnTo>
                <a:lnTo>
                  <a:pt x="566" y="31"/>
                </a:lnTo>
                <a:lnTo>
                  <a:pt x="566" y="28"/>
                </a:lnTo>
                <a:lnTo>
                  <a:pt x="56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81" name="Freeform 1686">
            <a:extLst>
              <a:ext uri="{FF2B5EF4-FFF2-40B4-BE49-F238E27FC236}">
                <a16:creationId xmlns:a16="http://schemas.microsoft.com/office/drawing/2014/main" id="{6F9981A5-6FA5-F7F2-BFC7-703E58A020C5}"/>
              </a:ext>
            </a:extLst>
          </p:cNvPr>
          <p:cNvSpPr>
            <a:spLocks noEditPoints="1"/>
          </p:cNvSpPr>
          <p:nvPr/>
        </p:nvSpPr>
        <p:spPr bwMode="auto">
          <a:xfrm>
            <a:off x="2111375" y="2719388"/>
            <a:ext cx="893763" cy="80963"/>
          </a:xfrm>
          <a:custGeom>
            <a:avLst/>
            <a:gdLst>
              <a:gd name="T0" fmla="*/ 563 w 563"/>
              <a:gd name="T1" fmla="*/ 21 h 51"/>
              <a:gd name="T2" fmla="*/ 563 w 563"/>
              <a:gd name="T3" fmla="*/ 14 h 51"/>
              <a:gd name="T4" fmla="*/ 563 w 563"/>
              <a:gd name="T5" fmla="*/ 9 h 51"/>
              <a:gd name="T6" fmla="*/ 563 w 563"/>
              <a:gd name="T7" fmla="*/ 3 h 51"/>
              <a:gd name="T8" fmla="*/ 559 w 563"/>
              <a:gd name="T9" fmla="*/ 0 h 51"/>
              <a:gd name="T10" fmla="*/ 559 w 563"/>
              <a:gd name="T11" fmla="*/ 6 h 51"/>
              <a:gd name="T12" fmla="*/ 559 w 563"/>
              <a:gd name="T13" fmla="*/ 11 h 51"/>
              <a:gd name="T14" fmla="*/ 559 w 563"/>
              <a:gd name="T15" fmla="*/ 18 h 51"/>
              <a:gd name="T16" fmla="*/ 559 w 563"/>
              <a:gd name="T17" fmla="*/ 24 h 51"/>
              <a:gd name="T18" fmla="*/ 559 w 563"/>
              <a:gd name="T19" fmla="*/ 31 h 51"/>
              <a:gd name="T20" fmla="*/ 559 w 563"/>
              <a:gd name="T21" fmla="*/ 38 h 51"/>
              <a:gd name="T22" fmla="*/ 559 w 563"/>
              <a:gd name="T23" fmla="*/ 44 h 51"/>
              <a:gd name="T24" fmla="*/ 559 w 563"/>
              <a:gd name="T25" fmla="*/ 51 h 51"/>
              <a:gd name="T26" fmla="*/ 563 w 563"/>
              <a:gd name="T27" fmla="*/ 48 h 51"/>
              <a:gd name="T28" fmla="*/ 563 w 563"/>
              <a:gd name="T29" fmla="*/ 41 h 51"/>
              <a:gd name="T30" fmla="*/ 563 w 563"/>
              <a:gd name="T31" fmla="*/ 34 h 51"/>
              <a:gd name="T32" fmla="*/ 563 w 563"/>
              <a:gd name="T33" fmla="*/ 28 h 51"/>
              <a:gd name="T34" fmla="*/ 1 w 563"/>
              <a:gd name="T35" fmla="*/ 0 h 51"/>
              <a:gd name="T36" fmla="*/ 0 w 563"/>
              <a:gd name="T37" fmla="*/ 6 h 51"/>
              <a:gd name="T38" fmla="*/ 0 w 563"/>
              <a:gd name="T39" fmla="*/ 11 h 51"/>
              <a:gd name="T40" fmla="*/ 0 w 563"/>
              <a:gd name="T41" fmla="*/ 18 h 51"/>
              <a:gd name="T42" fmla="*/ 0 w 563"/>
              <a:gd name="T43" fmla="*/ 24 h 51"/>
              <a:gd name="T44" fmla="*/ 0 w 563"/>
              <a:gd name="T45" fmla="*/ 31 h 51"/>
              <a:gd name="T46" fmla="*/ 0 w 563"/>
              <a:gd name="T47" fmla="*/ 38 h 51"/>
              <a:gd name="T48" fmla="*/ 0 w 563"/>
              <a:gd name="T49" fmla="*/ 44 h 51"/>
              <a:gd name="T50" fmla="*/ 0 w 563"/>
              <a:gd name="T51" fmla="*/ 51 h 51"/>
              <a:gd name="T52" fmla="*/ 3 w 563"/>
              <a:gd name="T53" fmla="*/ 48 h 51"/>
              <a:gd name="T54" fmla="*/ 3 w 563"/>
              <a:gd name="T55" fmla="*/ 41 h 51"/>
              <a:gd name="T56" fmla="*/ 3 w 563"/>
              <a:gd name="T57" fmla="*/ 34 h 51"/>
              <a:gd name="T58" fmla="*/ 3 w 563"/>
              <a:gd name="T59" fmla="*/ 28 h 51"/>
              <a:gd name="T60" fmla="*/ 3 w 563"/>
              <a:gd name="T61" fmla="*/ 21 h 51"/>
              <a:gd name="T62" fmla="*/ 3 w 563"/>
              <a:gd name="T63" fmla="*/ 14 h 51"/>
              <a:gd name="T64" fmla="*/ 3 w 563"/>
              <a:gd name="T65" fmla="*/ 9 h 51"/>
              <a:gd name="T66" fmla="*/ 3 w 563"/>
              <a:gd name="T67" fmla="*/ 3 h 51"/>
              <a:gd name="T68" fmla="*/ 1 w 56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3" h="51">
                <a:moveTo>
                  <a:pt x="563" y="24"/>
                </a:moveTo>
                <a:lnTo>
                  <a:pt x="563" y="21"/>
                </a:lnTo>
                <a:lnTo>
                  <a:pt x="563" y="18"/>
                </a:lnTo>
                <a:lnTo>
                  <a:pt x="563" y="14"/>
                </a:lnTo>
                <a:lnTo>
                  <a:pt x="563" y="11"/>
                </a:lnTo>
                <a:lnTo>
                  <a:pt x="563" y="9"/>
                </a:lnTo>
                <a:lnTo>
                  <a:pt x="563" y="6"/>
                </a:lnTo>
                <a:lnTo>
                  <a:pt x="563" y="3"/>
                </a:lnTo>
                <a:lnTo>
                  <a:pt x="563" y="0"/>
                </a:lnTo>
                <a:lnTo>
                  <a:pt x="559" y="0"/>
                </a:lnTo>
                <a:lnTo>
                  <a:pt x="559" y="3"/>
                </a:lnTo>
                <a:lnTo>
                  <a:pt x="559" y="6"/>
                </a:lnTo>
                <a:lnTo>
                  <a:pt x="559" y="9"/>
                </a:lnTo>
                <a:lnTo>
                  <a:pt x="559" y="11"/>
                </a:lnTo>
                <a:lnTo>
                  <a:pt x="559" y="14"/>
                </a:lnTo>
                <a:lnTo>
                  <a:pt x="559" y="18"/>
                </a:lnTo>
                <a:lnTo>
                  <a:pt x="559" y="21"/>
                </a:lnTo>
                <a:lnTo>
                  <a:pt x="559" y="24"/>
                </a:lnTo>
                <a:lnTo>
                  <a:pt x="559" y="28"/>
                </a:lnTo>
                <a:lnTo>
                  <a:pt x="559" y="31"/>
                </a:lnTo>
                <a:lnTo>
                  <a:pt x="559" y="34"/>
                </a:lnTo>
                <a:lnTo>
                  <a:pt x="559" y="38"/>
                </a:lnTo>
                <a:lnTo>
                  <a:pt x="559" y="41"/>
                </a:lnTo>
                <a:lnTo>
                  <a:pt x="559" y="44"/>
                </a:lnTo>
                <a:lnTo>
                  <a:pt x="559" y="48"/>
                </a:lnTo>
                <a:lnTo>
                  <a:pt x="559" y="51"/>
                </a:lnTo>
                <a:lnTo>
                  <a:pt x="563" y="51"/>
                </a:lnTo>
                <a:lnTo>
                  <a:pt x="563" y="48"/>
                </a:lnTo>
                <a:lnTo>
                  <a:pt x="563" y="44"/>
                </a:lnTo>
                <a:lnTo>
                  <a:pt x="563" y="41"/>
                </a:lnTo>
                <a:lnTo>
                  <a:pt x="563" y="38"/>
                </a:lnTo>
                <a:lnTo>
                  <a:pt x="563" y="34"/>
                </a:lnTo>
                <a:lnTo>
                  <a:pt x="563" y="31"/>
                </a:lnTo>
                <a:lnTo>
                  <a:pt x="563" y="28"/>
                </a:lnTo>
                <a:lnTo>
                  <a:pt x="56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82" name="Freeform 1687">
            <a:extLst>
              <a:ext uri="{FF2B5EF4-FFF2-40B4-BE49-F238E27FC236}">
                <a16:creationId xmlns:a16="http://schemas.microsoft.com/office/drawing/2014/main" id="{23C876D5-0767-FC12-CCFE-AF201F85CF02}"/>
              </a:ext>
            </a:extLst>
          </p:cNvPr>
          <p:cNvSpPr>
            <a:spLocks noEditPoints="1"/>
          </p:cNvSpPr>
          <p:nvPr/>
        </p:nvSpPr>
        <p:spPr bwMode="auto">
          <a:xfrm>
            <a:off x="2112963" y="2719388"/>
            <a:ext cx="889000" cy="80963"/>
          </a:xfrm>
          <a:custGeom>
            <a:avLst/>
            <a:gdLst>
              <a:gd name="T0" fmla="*/ 560 w 560"/>
              <a:gd name="T1" fmla="*/ 21 h 51"/>
              <a:gd name="T2" fmla="*/ 560 w 560"/>
              <a:gd name="T3" fmla="*/ 14 h 51"/>
              <a:gd name="T4" fmla="*/ 560 w 560"/>
              <a:gd name="T5" fmla="*/ 9 h 51"/>
              <a:gd name="T6" fmla="*/ 560 w 560"/>
              <a:gd name="T7" fmla="*/ 3 h 51"/>
              <a:gd name="T8" fmla="*/ 557 w 560"/>
              <a:gd name="T9" fmla="*/ 0 h 51"/>
              <a:gd name="T10" fmla="*/ 557 w 560"/>
              <a:gd name="T11" fmla="*/ 6 h 51"/>
              <a:gd name="T12" fmla="*/ 557 w 560"/>
              <a:gd name="T13" fmla="*/ 11 h 51"/>
              <a:gd name="T14" fmla="*/ 557 w 560"/>
              <a:gd name="T15" fmla="*/ 18 h 51"/>
              <a:gd name="T16" fmla="*/ 557 w 560"/>
              <a:gd name="T17" fmla="*/ 24 h 51"/>
              <a:gd name="T18" fmla="*/ 557 w 560"/>
              <a:gd name="T19" fmla="*/ 31 h 51"/>
              <a:gd name="T20" fmla="*/ 557 w 560"/>
              <a:gd name="T21" fmla="*/ 38 h 51"/>
              <a:gd name="T22" fmla="*/ 557 w 560"/>
              <a:gd name="T23" fmla="*/ 44 h 51"/>
              <a:gd name="T24" fmla="*/ 557 w 560"/>
              <a:gd name="T25" fmla="*/ 51 h 51"/>
              <a:gd name="T26" fmla="*/ 560 w 560"/>
              <a:gd name="T27" fmla="*/ 48 h 51"/>
              <a:gd name="T28" fmla="*/ 560 w 560"/>
              <a:gd name="T29" fmla="*/ 41 h 51"/>
              <a:gd name="T30" fmla="*/ 560 w 560"/>
              <a:gd name="T31" fmla="*/ 34 h 51"/>
              <a:gd name="T32" fmla="*/ 560 w 560"/>
              <a:gd name="T33" fmla="*/ 28 h 51"/>
              <a:gd name="T34" fmla="*/ 2 w 560"/>
              <a:gd name="T35" fmla="*/ 0 h 51"/>
              <a:gd name="T36" fmla="*/ 0 w 560"/>
              <a:gd name="T37" fmla="*/ 6 h 51"/>
              <a:gd name="T38" fmla="*/ 0 w 560"/>
              <a:gd name="T39" fmla="*/ 11 h 51"/>
              <a:gd name="T40" fmla="*/ 0 w 560"/>
              <a:gd name="T41" fmla="*/ 18 h 51"/>
              <a:gd name="T42" fmla="*/ 0 w 560"/>
              <a:gd name="T43" fmla="*/ 24 h 51"/>
              <a:gd name="T44" fmla="*/ 0 w 560"/>
              <a:gd name="T45" fmla="*/ 31 h 51"/>
              <a:gd name="T46" fmla="*/ 0 w 560"/>
              <a:gd name="T47" fmla="*/ 38 h 51"/>
              <a:gd name="T48" fmla="*/ 0 w 560"/>
              <a:gd name="T49" fmla="*/ 44 h 51"/>
              <a:gd name="T50" fmla="*/ 0 w 560"/>
              <a:gd name="T51" fmla="*/ 51 h 51"/>
              <a:gd name="T52" fmla="*/ 4 w 560"/>
              <a:gd name="T53" fmla="*/ 48 h 51"/>
              <a:gd name="T54" fmla="*/ 4 w 560"/>
              <a:gd name="T55" fmla="*/ 41 h 51"/>
              <a:gd name="T56" fmla="*/ 4 w 560"/>
              <a:gd name="T57" fmla="*/ 34 h 51"/>
              <a:gd name="T58" fmla="*/ 4 w 560"/>
              <a:gd name="T59" fmla="*/ 28 h 51"/>
              <a:gd name="T60" fmla="*/ 4 w 560"/>
              <a:gd name="T61" fmla="*/ 21 h 51"/>
              <a:gd name="T62" fmla="*/ 4 w 560"/>
              <a:gd name="T63" fmla="*/ 14 h 51"/>
              <a:gd name="T64" fmla="*/ 4 w 560"/>
              <a:gd name="T65" fmla="*/ 9 h 51"/>
              <a:gd name="T66" fmla="*/ 4 w 560"/>
              <a:gd name="T67" fmla="*/ 3 h 51"/>
              <a:gd name="T68" fmla="*/ 2 w 56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0" h="51">
                <a:moveTo>
                  <a:pt x="560" y="24"/>
                </a:moveTo>
                <a:lnTo>
                  <a:pt x="560" y="21"/>
                </a:lnTo>
                <a:lnTo>
                  <a:pt x="560" y="18"/>
                </a:lnTo>
                <a:lnTo>
                  <a:pt x="560" y="14"/>
                </a:lnTo>
                <a:lnTo>
                  <a:pt x="560" y="11"/>
                </a:lnTo>
                <a:lnTo>
                  <a:pt x="560" y="9"/>
                </a:lnTo>
                <a:lnTo>
                  <a:pt x="560" y="6"/>
                </a:lnTo>
                <a:lnTo>
                  <a:pt x="560" y="3"/>
                </a:lnTo>
                <a:lnTo>
                  <a:pt x="560" y="0"/>
                </a:lnTo>
                <a:lnTo>
                  <a:pt x="557" y="0"/>
                </a:lnTo>
                <a:lnTo>
                  <a:pt x="557" y="3"/>
                </a:lnTo>
                <a:lnTo>
                  <a:pt x="557" y="6"/>
                </a:lnTo>
                <a:lnTo>
                  <a:pt x="557" y="9"/>
                </a:lnTo>
                <a:lnTo>
                  <a:pt x="557" y="11"/>
                </a:lnTo>
                <a:lnTo>
                  <a:pt x="557" y="14"/>
                </a:lnTo>
                <a:lnTo>
                  <a:pt x="557" y="18"/>
                </a:lnTo>
                <a:lnTo>
                  <a:pt x="557" y="21"/>
                </a:lnTo>
                <a:lnTo>
                  <a:pt x="557" y="24"/>
                </a:lnTo>
                <a:lnTo>
                  <a:pt x="557" y="28"/>
                </a:lnTo>
                <a:lnTo>
                  <a:pt x="557" y="31"/>
                </a:lnTo>
                <a:lnTo>
                  <a:pt x="557" y="34"/>
                </a:lnTo>
                <a:lnTo>
                  <a:pt x="557" y="38"/>
                </a:lnTo>
                <a:lnTo>
                  <a:pt x="557" y="41"/>
                </a:lnTo>
                <a:lnTo>
                  <a:pt x="557" y="44"/>
                </a:lnTo>
                <a:lnTo>
                  <a:pt x="557" y="48"/>
                </a:lnTo>
                <a:lnTo>
                  <a:pt x="557" y="51"/>
                </a:lnTo>
                <a:lnTo>
                  <a:pt x="560" y="51"/>
                </a:lnTo>
                <a:lnTo>
                  <a:pt x="560" y="48"/>
                </a:lnTo>
                <a:lnTo>
                  <a:pt x="560" y="44"/>
                </a:lnTo>
                <a:lnTo>
                  <a:pt x="560" y="41"/>
                </a:lnTo>
                <a:lnTo>
                  <a:pt x="560" y="38"/>
                </a:lnTo>
                <a:lnTo>
                  <a:pt x="560" y="34"/>
                </a:lnTo>
                <a:lnTo>
                  <a:pt x="560" y="31"/>
                </a:lnTo>
                <a:lnTo>
                  <a:pt x="560" y="28"/>
                </a:lnTo>
                <a:lnTo>
                  <a:pt x="56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83" name="Freeform 1688">
            <a:extLst>
              <a:ext uri="{FF2B5EF4-FFF2-40B4-BE49-F238E27FC236}">
                <a16:creationId xmlns:a16="http://schemas.microsoft.com/office/drawing/2014/main" id="{F7DF299A-7A31-3D23-EDB4-834CCEB9F51D}"/>
              </a:ext>
            </a:extLst>
          </p:cNvPr>
          <p:cNvSpPr>
            <a:spLocks noEditPoints="1"/>
          </p:cNvSpPr>
          <p:nvPr/>
        </p:nvSpPr>
        <p:spPr bwMode="auto">
          <a:xfrm>
            <a:off x="2116138" y="2719388"/>
            <a:ext cx="882650" cy="80963"/>
          </a:xfrm>
          <a:custGeom>
            <a:avLst/>
            <a:gdLst>
              <a:gd name="T0" fmla="*/ 556 w 556"/>
              <a:gd name="T1" fmla="*/ 21 h 51"/>
              <a:gd name="T2" fmla="*/ 556 w 556"/>
              <a:gd name="T3" fmla="*/ 14 h 51"/>
              <a:gd name="T4" fmla="*/ 556 w 556"/>
              <a:gd name="T5" fmla="*/ 9 h 51"/>
              <a:gd name="T6" fmla="*/ 556 w 556"/>
              <a:gd name="T7" fmla="*/ 3 h 51"/>
              <a:gd name="T8" fmla="*/ 553 w 556"/>
              <a:gd name="T9" fmla="*/ 0 h 51"/>
              <a:gd name="T10" fmla="*/ 553 w 556"/>
              <a:gd name="T11" fmla="*/ 6 h 51"/>
              <a:gd name="T12" fmla="*/ 553 w 556"/>
              <a:gd name="T13" fmla="*/ 11 h 51"/>
              <a:gd name="T14" fmla="*/ 553 w 556"/>
              <a:gd name="T15" fmla="*/ 18 h 51"/>
              <a:gd name="T16" fmla="*/ 553 w 556"/>
              <a:gd name="T17" fmla="*/ 24 h 51"/>
              <a:gd name="T18" fmla="*/ 553 w 556"/>
              <a:gd name="T19" fmla="*/ 31 h 51"/>
              <a:gd name="T20" fmla="*/ 553 w 556"/>
              <a:gd name="T21" fmla="*/ 38 h 51"/>
              <a:gd name="T22" fmla="*/ 553 w 556"/>
              <a:gd name="T23" fmla="*/ 44 h 51"/>
              <a:gd name="T24" fmla="*/ 553 w 556"/>
              <a:gd name="T25" fmla="*/ 51 h 51"/>
              <a:gd name="T26" fmla="*/ 556 w 556"/>
              <a:gd name="T27" fmla="*/ 48 h 51"/>
              <a:gd name="T28" fmla="*/ 556 w 556"/>
              <a:gd name="T29" fmla="*/ 41 h 51"/>
              <a:gd name="T30" fmla="*/ 556 w 556"/>
              <a:gd name="T31" fmla="*/ 34 h 51"/>
              <a:gd name="T32" fmla="*/ 556 w 556"/>
              <a:gd name="T33" fmla="*/ 28 h 51"/>
              <a:gd name="T34" fmla="*/ 2 w 556"/>
              <a:gd name="T35" fmla="*/ 0 h 51"/>
              <a:gd name="T36" fmla="*/ 0 w 556"/>
              <a:gd name="T37" fmla="*/ 6 h 51"/>
              <a:gd name="T38" fmla="*/ 0 w 556"/>
              <a:gd name="T39" fmla="*/ 11 h 51"/>
              <a:gd name="T40" fmla="*/ 0 w 556"/>
              <a:gd name="T41" fmla="*/ 18 h 51"/>
              <a:gd name="T42" fmla="*/ 0 w 556"/>
              <a:gd name="T43" fmla="*/ 24 h 51"/>
              <a:gd name="T44" fmla="*/ 0 w 556"/>
              <a:gd name="T45" fmla="*/ 31 h 51"/>
              <a:gd name="T46" fmla="*/ 0 w 556"/>
              <a:gd name="T47" fmla="*/ 38 h 51"/>
              <a:gd name="T48" fmla="*/ 0 w 556"/>
              <a:gd name="T49" fmla="*/ 44 h 51"/>
              <a:gd name="T50" fmla="*/ 0 w 556"/>
              <a:gd name="T51" fmla="*/ 51 h 51"/>
              <a:gd name="T52" fmla="*/ 3 w 556"/>
              <a:gd name="T53" fmla="*/ 48 h 51"/>
              <a:gd name="T54" fmla="*/ 3 w 556"/>
              <a:gd name="T55" fmla="*/ 41 h 51"/>
              <a:gd name="T56" fmla="*/ 3 w 556"/>
              <a:gd name="T57" fmla="*/ 34 h 51"/>
              <a:gd name="T58" fmla="*/ 3 w 556"/>
              <a:gd name="T59" fmla="*/ 28 h 51"/>
              <a:gd name="T60" fmla="*/ 3 w 556"/>
              <a:gd name="T61" fmla="*/ 21 h 51"/>
              <a:gd name="T62" fmla="*/ 3 w 556"/>
              <a:gd name="T63" fmla="*/ 14 h 51"/>
              <a:gd name="T64" fmla="*/ 3 w 556"/>
              <a:gd name="T65" fmla="*/ 9 h 51"/>
              <a:gd name="T66" fmla="*/ 3 w 556"/>
              <a:gd name="T67" fmla="*/ 3 h 51"/>
              <a:gd name="T68" fmla="*/ 2 w 5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6" h="51">
                <a:moveTo>
                  <a:pt x="556" y="24"/>
                </a:moveTo>
                <a:lnTo>
                  <a:pt x="556" y="21"/>
                </a:lnTo>
                <a:lnTo>
                  <a:pt x="556" y="18"/>
                </a:lnTo>
                <a:lnTo>
                  <a:pt x="556" y="14"/>
                </a:lnTo>
                <a:lnTo>
                  <a:pt x="556" y="11"/>
                </a:lnTo>
                <a:lnTo>
                  <a:pt x="556" y="9"/>
                </a:lnTo>
                <a:lnTo>
                  <a:pt x="556" y="6"/>
                </a:lnTo>
                <a:lnTo>
                  <a:pt x="556" y="3"/>
                </a:lnTo>
                <a:lnTo>
                  <a:pt x="556" y="0"/>
                </a:lnTo>
                <a:lnTo>
                  <a:pt x="553" y="0"/>
                </a:lnTo>
                <a:lnTo>
                  <a:pt x="553" y="3"/>
                </a:lnTo>
                <a:lnTo>
                  <a:pt x="553" y="6"/>
                </a:lnTo>
                <a:lnTo>
                  <a:pt x="553" y="9"/>
                </a:lnTo>
                <a:lnTo>
                  <a:pt x="553" y="11"/>
                </a:lnTo>
                <a:lnTo>
                  <a:pt x="553" y="14"/>
                </a:lnTo>
                <a:lnTo>
                  <a:pt x="553" y="18"/>
                </a:lnTo>
                <a:lnTo>
                  <a:pt x="553" y="21"/>
                </a:lnTo>
                <a:lnTo>
                  <a:pt x="553" y="24"/>
                </a:lnTo>
                <a:lnTo>
                  <a:pt x="553" y="28"/>
                </a:lnTo>
                <a:lnTo>
                  <a:pt x="553" y="31"/>
                </a:lnTo>
                <a:lnTo>
                  <a:pt x="553" y="34"/>
                </a:lnTo>
                <a:lnTo>
                  <a:pt x="553" y="38"/>
                </a:lnTo>
                <a:lnTo>
                  <a:pt x="553" y="41"/>
                </a:lnTo>
                <a:lnTo>
                  <a:pt x="553" y="44"/>
                </a:lnTo>
                <a:lnTo>
                  <a:pt x="553" y="48"/>
                </a:lnTo>
                <a:lnTo>
                  <a:pt x="553" y="51"/>
                </a:lnTo>
                <a:lnTo>
                  <a:pt x="556" y="51"/>
                </a:lnTo>
                <a:lnTo>
                  <a:pt x="556" y="48"/>
                </a:lnTo>
                <a:lnTo>
                  <a:pt x="556" y="44"/>
                </a:lnTo>
                <a:lnTo>
                  <a:pt x="556" y="41"/>
                </a:lnTo>
                <a:lnTo>
                  <a:pt x="556" y="38"/>
                </a:lnTo>
                <a:lnTo>
                  <a:pt x="556" y="34"/>
                </a:lnTo>
                <a:lnTo>
                  <a:pt x="556" y="31"/>
                </a:lnTo>
                <a:lnTo>
                  <a:pt x="556" y="28"/>
                </a:lnTo>
                <a:lnTo>
                  <a:pt x="55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84" name="Freeform 1689">
            <a:extLst>
              <a:ext uri="{FF2B5EF4-FFF2-40B4-BE49-F238E27FC236}">
                <a16:creationId xmlns:a16="http://schemas.microsoft.com/office/drawing/2014/main" id="{C5B41E17-B09E-E171-2D30-A1734B659D6B}"/>
              </a:ext>
            </a:extLst>
          </p:cNvPr>
          <p:cNvSpPr>
            <a:spLocks noEditPoints="1"/>
          </p:cNvSpPr>
          <p:nvPr/>
        </p:nvSpPr>
        <p:spPr bwMode="auto">
          <a:xfrm>
            <a:off x="2119313" y="2719388"/>
            <a:ext cx="877888" cy="80963"/>
          </a:xfrm>
          <a:custGeom>
            <a:avLst/>
            <a:gdLst>
              <a:gd name="T0" fmla="*/ 553 w 553"/>
              <a:gd name="T1" fmla="*/ 21 h 51"/>
              <a:gd name="T2" fmla="*/ 553 w 553"/>
              <a:gd name="T3" fmla="*/ 14 h 51"/>
              <a:gd name="T4" fmla="*/ 553 w 553"/>
              <a:gd name="T5" fmla="*/ 9 h 51"/>
              <a:gd name="T6" fmla="*/ 553 w 553"/>
              <a:gd name="T7" fmla="*/ 3 h 51"/>
              <a:gd name="T8" fmla="*/ 549 w 553"/>
              <a:gd name="T9" fmla="*/ 0 h 51"/>
              <a:gd name="T10" fmla="*/ 549 w 553"/>
              <a:gd name="T11" fmla="*/ 6 h 51"/>
              <a:gd name="T12" fmla="*/ 549 w 553"/>
              <a:gd name="T13" fmla="*/ 11 h 51"/>
              <a:gd name="T14" fmla="*/ 549 w 553"/>
              <a:gd name="T15" fmla="*/ 18 h 51"/>
              <a:gd name="T16" fmla="*/ 549 w 553"/>
              <a:gd name="T17" fmla="*/ 24 h 51"/>
              <a:gd name="T18" fmla="*/ 549 w 553"/>
              <a:gd name="T19" fmla="*/ 31 h 51"/>
              <a:gd name="T20" fmla="*/ 549 w 553"/>
              <a:gd name="T21" fmla="*/ 38 h 51"/>
              <a:gd name="T22" fmla="*/ 549 w 553"/>
              <a:gd name="T23" fmla="*/ 44 h 51"/>
              <a:gd name="T24" fmla="*/ 549 w 553"/>
              <a:gd name="T25" fmla="*/ 51 h 51"/>
              <a:gd name="T26" fmla="*/ 553 w 553"/>
              <a:gd name="T27" fmla="*/ 48 h 51"/>
              <a:gd name="T28" fmla="*/ 553 w 553"/>
              <a:gd name="T29" fmla="*/ 41 h 51"/>
              <a:gd name="T30" fmla="*/ 553 w 553"/>
              <a:gd name="T31" fmla="*/ 34 h 51"/>
              <a:gd name="T32" fmla="*/ 553 w 553"/>
              <a:gd name="T33" fmla="*/ 28 h 51"/>
              <a:gd name="T34" fmla="*/ 1 w 553"/>
              <a:gd name="T35" fmla="*/ 0 h 51"/>
              <a:gd name="T36" fmla="*/ 0 w 553"/>
              <a:gd name="T37" fmla="*/ 6 h 51"/>
              <a:gd name="T38" fmla="*/ 0 w 553"/>
              <a:gd name="T39" fmla="*/ 11 h 51"/>
              <a:gd name="T40" fmla="*/ 0 w 553"/>
              <a:gd name="T41" fmla="*/ 18 h 51"/>
              <a:gd name="T42" fmla="*/ 0 w 553"/>
              <a:gd name="T43" fmla="*/ 24 h 51"/>
              <a:gd name="T44" fmla="*/ 0 w 553"/>
              <a:gd name="T45" fmla="*/ 31 h 51"/>
              <a:gd name="T46" fmla="*/ 0 w 553"/>
              <a:gd name="T47" fmla="*/ 38 h 51"/>
              <a:gd name="T48" fmla="*/ 0 w 553"/>
              <a:gd name="T49" fmla="*/ 44 h 51"/>
              <a:gd name="T50" fmla="*/ 0 w 553"/>
              <a:gd name="T51" fmla="*/ 51 h 51"/>
              <a:gd name="T52" fmla="*/ 3 w 553"/>
              <a:gd name="T53" fmla="*/ 48 h 51"/>
              <a:gd name="T54" fmla="*/ 3 w 553"/>
              <a:gd name="T55" fmla="*/ 41 h 51"/>
              <a:gd name="T56" fmla="*/ 3 w 553"/>
              <a:gd name="T57" fmla="*/ 34 h 51"/>
              <a:gd name="T58" fmla="*/ 3 w 553"/>
              <a:gd name="T59" fmla="*/ 28 h 51"/>
              <a:gd name="T60" fmla="*/ 3 w 553"/>
              <a:gd name="T61" fmla="*/ 21 h 51"/>
              <a:gd name="T62" fmla="*/ 3 w 553"/>
              <a:gd name="T63" fmla="*/ 14 h 51"/>
              <a:gd name="T64" fmla="*/ 3 w 553"/>
              <a:gd name="T65" fmla="*/ 9 h 51"/>
              <a:gd name="T66" fmla="*/ 3 w 553"/>
              <a:gd name="T67" fmla="*/ 3 h 51"/>
              <a:gd name="T68" fmla="*/ 1 w 55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3" h="51">
                <a:moveTo>
                  <a:pt x="553" y="24"/>
                </a:moveTo>
                <a:lnTo>
                  <a:pt x="553" y="21"/>
                </a:lnTo>
                <a:lnTo>
                  <a:pt x="553" y="18"/>
                </a:lnTo>
                <a:lnTo>
                  <a:pt x="553" y="14"/>
                </a:lnTo>
                <a:lnTo>
                  <a:pt x="553" y="11"/>
                </a:lnTo>
                <a:lnTo>
                  <a:pt x="553" y="9"/>
                </a:lnTo>
                <a:lnTo>
                  <a:pt x="553" y="6"/>
                </a:lnTo>
                <a:lnTo>
                  <a:pt x="553" y="3"/>
                </a:lnTo>
                <a:lnTo>
                  <a:pt x="553" y="0"/>
                </a:lnTo>
                <a:lnTo>
                  <a:pt x="549" y="0"/>
                </a:lnTo>
                <a:lnTo>
                  <a:pt x="549" y="3"/>
                </a:lnTo>
                <a:lnTo>
                  <a:pt x="549" y="6"/>
                </a:lnTo>
                <a:lnTo>
                  <a:pt x="549" y="9"/>
                </a:lnTo>
                <a:lnTo>
                  <a:pt x="549" y="11"/>
                </a:lnTo>
                <a:lnTo>
                  <a:pt x="549" y="14"/>
                </a:lnTo>
                <a:lnTo>
                  <a:pt x="549" y="18"/>
                </a:lnTo>
                <a:lnTo>
                  <a:pt x="549" y="21"/>
                </a:lnTo>
                <a:lnTo>
                  <a:pt x="549" y="24"/>
                </a:lnTo>
                <a:lnTo>
                  <a:pt x="549" y="28"/>
                </a:lnTo>
                <a:lnTo>
                  <a:pt x="549" y="31"/>
                </a:lnTo>
                <a:lnTo>
                  <a:pt x="549" y="34"/>
                </a:lnTo>
                <a:lnTo>
                  <a:pt x="549" y="38"/>
                </a:lnTo>
                <a:lnTo>
                  <a:pt x="549" y="41"/>
                </a:lnTo>
                <a:lnTo>
                  <a:pt x="549" y="44"/>
                </a:lnTo>
                <a:lnTo>
                  <a:pt x="549" y="48"/>
                </a:lnTo>
                <a:lnTo>
                  <a:pt x="549" y="51"/>
                </a:lnTo>
                <a:lnTo>
                  <a:pt x="553" y="51"/>
                </a:lnTo>
                <a:lnTo>
                  <a:pt x="553" y="48"/>
                </a:lnTo>
                <a:lnTo>
                  <a:pt x="553" y="44"/>
                </a:lnTo>
                <a:lnTo>
                  <a:pt x="553" y="41"/>
                </a:lnTo>
                <a:lnTo>
                  <a:pt x="553" y="38"/>
                </a:lnTo>
                <a:lnTo>
                  <a:pt x="553" y="34"/>
                </a:lnTo>
                <a:lnTo>
                  <a:pt x="553" y="31"/>
                </a:lnTo>
                <a:lnTo>
                  <a:pt x="553" y="28"/>
                </a:lnTo>
                <a:lnTo>
                  <a:pt x="55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85" name="Freeform 1690">
            <a:extLst>
              <a:ext uri="{FF2B5EF4-FFF2-40B4-BE49-F238E27FC236}">
                <a16:creationId xmlns:a16="http://schemas.microsoft.com/office/drawing/2014/main" id="{4457F52F-FAF6-D4AD-A330-358C4AABF5A1}"/>
              </a:ext>
            </a:extLst>
          </p:cNvPr>
          <p:cNvSpPr>
            <a:spLocks noEditPoints="1"/>
          </p:cNvSpPr>
          <p:nvPr/>
        </p:nvSpPr>
        <p:spPr bwMode="auto">
          <a:xfrm>
            <a:off x="2120900" y="2719388"/>
            <a:ext cx="873125" cy="80963"/>
          </a:xfrm>
          <a:custGeom>
            <a:avLst/>
            <a:gdLst>
              <a:gd name="T0" fmla="*/ 550 w 550"/>
              <a:gd name="T1" fmla="*/ 21 h 51"/>
              <a:gd name="T2" fmla="*/ 550 w 550"/>
              <a:gd name="T3" fmla="*/ 14 h 51"/>
              <a:gd name="T4" fmla="*/ 550 w 550"/>
              <a:gd name="T5" fmla="*/ 9 h 51"/>
              <a:gd name="T6" fmla="*/ 550 w 550"/>
              <a:gd name="T7" fmla="*/ 3 h 51"/>
              <a:gd name="T8" fmla="*/ 547 w 550"/>
              <a:gd name="T9" fmla="*/ 0 h 51"/>
              <a:gd name="T10" fmla="*/ 547 w 550"/>
              <a:gd name="T11" fmla="*/ 6 h 51"/>
              <a:gd name="T12" fmla="*/ 547 w 550"/>
              <a:gd name="T13" fmla="*/ 11 h 51"/>
              <a:gd name="T14" fmla="*/ 547 w 550"/>
              <a:gd name="T15" fmla="*/ 18 h 51"/>
              <a:gd name="T16" fmla="*/ 547 w 550"/>
              <a:gd name="T17" fmla="*/ 24 h 51"/>
              <a:gd name="T18" fmla="*/ 547 w 550"/>
              <a:gd name="T19" fmla="*/ 31 h 51"/>
              <a:gd name="T20" fmla="*/ 547 w 550"/>
              <a:gd name="T21" fmla="*/ 38 h 51"/>
              <a:gd name="T22" fmla="*/ 547 w 550"/>
              <a:gd name="T23" fmla="*/ 44 h 51"/>
              <a:gd name="T24" fmla="*/ 547 w 550"/>
              <a:gd name="T25" fmla="*/ 51 h 51"/>
              <a:gd name="T26" fmla="*/ 550 w 550"/>
              <a:gd name="T27" fmla="*/ 48 h 51"/>
              <a:gd name="T28" fmla="*/ 550 w 550"/>
              <a:gd name="T29" fmla="*/ 41 h 51"/>
              <a:gd name="T30" fmla="*/ 550 w 550"/>
              <a:gd name="T31" fmla="*/ 34 h 51"/>
              <a:gd name="T32" fmla="*/ 550 w 550"/>
              <a:gd name="T33" fmla="*/ 28 h 51"/>
              <a:gd name="T34" fmla="*/ 2 w 550"/>
              <a:gd name="T35" fmla="*/ 0 h 51"/>
              <a:gd name="T36" fmla="*/ 0 w 550"/>
              <a:gd name="T37" fmla="*/ 6 h 51"/>
              <a:gd name="T38" fmla="*/ 0 w 550"/>
              <a:gd name="T39" fmla="*/ 11 h 51"/>
              <a:gd name="T40" fmla="*/ 0 w 550"/>
              <a:gd name="T41" fmla="*/ 18 h 51"/>
              <a:gd name="T42" fmla="*/ 0 w 550"/>
              <a:gd name="T43" fmla="*/ 24 h 51"/>
              <a:gd name="T44" fmla="*/ 0 w 550"/>
              <a:gd name="T45" fmla="*/ 31 h 51"/>
              <a:gd name="T46" fmla="*/ 0 w 550"/>
              <a:gd name="T47" fmla="*/ 38 h 51"/>
              <a:gd name="T48" fmla="*/ 0 w 550"/>
              <a:gd name="T49" fmla="*/ 44 h 51"/>
              <a:gd name="T50" fmla="*/ 0 w 550"/>
              <a:gd name="T51" fmla="*/ 51 h 51"/>
              <a:gd name="T52" fmla="*/ 4 w 550"/>
              <a:gd name="T53" fmla="*/ 48 h 51"/>
              <a:gd name="T54" fmla="*/ 4 w 550"/>
              <a:gd name="T55" fmla="*/ 41 h 51"/>
              <a:gd name="T56" fmla="*/ 4 w 550"/>
              <a:gd name="T57" fmla="*/ 34 h 51"/>
              <a:gd name="T58" fmla="*/ 4 w 550"/>
              <a:gd name="T59" fmla="*/ 28 h 51"/>
              <a:gd name="T60" fmla="*/ 4 w 550"/>
              <a:gd name="T61" fmla="*/ 21 h 51"/>
              <a:gd name="T62" fmla="*/ 4 w 550"/>
              <a:gd name="T63" fmla="*/ 14 h 51"/>
              <a:gd name="T64" fmla="*/ 4 w 550"/>
              <a:gd name="T65" fmla="*/ 9 h 51"/>
              <a:gd name="T66" fmla="*/ 4 w 550"/>
              <a:gd name="T67" fmla="*/ 3 h 51"/>
              <a:gd name="T68" fmla="*/ 2 w 55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0" h="51">
                <a:moveTo>
                  <a:pt x="550" y="24"/>
                </a:moveTo>
                <a:lnTo>
                  <a:pt x="550" y="21"/>
                </a:lnTo>
                <a:lnTo>
                  <a:pt x="550" y="18"/>
                </a:lnTo>
                <a:lnTo>
                  <a:pt x="550" y="14"/>
                </a:lnTo>
                <a:lnTo>
                  <a:pt x="550" y="11"/>
                </a:lnTo>
                <a:lnTo>
                  <a:pt x="550" y="9"/>
                </a:lnTo>
                <a:lnTo>
                  <a:pt x="550" y="6"/>
                </a:lnTo>
                <a:lnTo>
                  <a:pt x="550" y="3"/>
                </a:lnTo>
                <a:lnTo>
                  <a:pt x="550" y="0"/>
                </a:lnTo>
                <a:lnTo>
                  <a:pt x="547" y="0"/>
                </a:lnTo>
                <a:lnTo>
                  <a:pt x="547" y="3"/>
                </a:lnTo>
                <a:lnTo>
                  <a:pt x="547" y="6"/>
                </a:lnTo>
                <a:lnTo>
                  <a:pt x="547" y="9"/>
                </a:lnTo>
                <a:lnTo>
                  <a:pt x="547" y="11"/>
                </a:lnTo>
                <a:lnTo>
                  <a:pt x="547" y="14"/>
                </a:lnTo>
                <a:lnTo>
                  <a:pt x="547" y="18"/>
                </a:lnTo>
                <a:lnTo>
                  <a:pt x="547" y="21"/>
                </a:lnTo>
                <a:lnTo>
                  <a:pt x="547" y="24"/>
                </a:lnTo>
                <a:lnTo>
                  <a:pt x="547" y="28"/>
                </a:lnTo>
                <a:lnTo>
                  <a:pt x="547" y="31"/>
                </a:lnTo>
                <a:lnTo>
                  <a:pt x="547" y="34"/>
                </a:lnTo>
                <a:lnTo>
                  <a:pt x="547" y="38"/>
                </a:lnTo>
                <a:lnTo>
                  <a:pt x="547" y="41"/>
                </a:lnTo>
                <a:lnTo>
                  <a:pt x="547" y="44"/>
                </a:lnTo>
                <a:lnTo>
                  <a:pt x="547" y="48"/>
                </a:lnTo>
                <a:lnTo>
                  <a:pt x="547" y="51"/>
                </a:lnTo>
                <a:lnTo>
                  <a:pt x="550" y="51"/>
                </a:lnTo>
                <a:lnTo>
                  <a:pt x="550" y="48"/>
                </a:lnTo>
                <a:lnTo>
                  <a:pt x="550" y="44"/>
                </a:lnTo>
                <a:lnTo>
                  <a:pt x="550" y="41"/>
                </a:lnTo>
                <a:lnTo>
                  <a:pt x="550" y="38"/>
                </a:lnTo>
                <a:lnTo>
                  <a:pt x="550" y="34"/>
                </a:lnTo>
                <a:lnTo>
                  <a:pt x="550" y="31"/>
                </a:lnTo>
                <a:lnTo>
                  <a:pt x="550" y="28"/>
                </a:lnTo>
                <a:lnTo>
                  <a:pt x="55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86" name="Freeform 1691">
            <a:extLst>
              <a:ext uri="{FF2B5EF4-FFF2-40B4-BE49-F238E27FC236}">
                <a16:creationId xmlns:a16="http://schemas.microsoft.com/office/drawing/2014/main" id="{73E004B4-8E65-D01E-0E66-AC6A4D335771}"/>
              </a:ext>
            </a:extLst>
          </p:cNvPr>
          <p:cNvSpPr>
            <a:spLocks noEditPoints="1"/>
          </p:cNvSpPr>
          <p:nvPr/>
        </p:nvSpPr>
        <p:spPr bwMode="auto">
          <a:xfrm>
            <a:off x="2124075" y="2719388"/>
            <a:ext cx="866775" cy="80963"/>
          </a:xfrm>
          <a:custGeom>
            <a:avLst/>
            <a:gdLst>
              <a:gd name="T0" fmla="*/ 546 w 546"/>
              <a:gd name="T1" fmla="*/ 21 h 51"/>
              <a:gd name="T2" fmla="*/ 546 w 546"/>
              <a:gd name="T3" fmla="*/ 14 h 51"/>
              <a:gd name="T4" fmla="*/ 546 w 546"/>
              <a:gd name="T5" fmla="*/ 9 h 51"/>
              <a:gd name="T6" fmla="*/ 546 w 546"/>
              <a:gd name="T7" fmla="*/ 3 h 51"/>
              <a:gd name="T8" fmla="*/ 543 w 546"/>
              <a:gd name="T9" fmla="*/ 0 h 51"/>
              <a:gd name="T10" fmla="*/ 543 w 546"/>
              <a:gd name="T11" fmla="*/ 6 h 51"/>
              <a:gd name="T12" fmla="*/ 543 w 546"/>
              <a:gd name="T13" fmla="*/ 11 h 51"/>
              <a:gd name="T14" fmla="*/ 543 w 546"/>
              <a:gd name="T15" fmla="*/ 18 h 51"/>
              <a:gd name="T16" fmla="*/ 543 w 546"/>
              <a:gd name="T17" fmla="*/ 24 h 51"/>
              <a:gd name="T18" fmla="*/ 543 w 546"/>
              <a:gd name="T19" fmla="*/ 31 h 51"/>
              <a:gd name="T20" fmla="*/ 543 w 546"/>
              <a:gd name="T21" fmla="*/ 38 h 51"/>
              <a:gd name="T22" fmla="*/ 543 w 546"/>
              <a:gd name="T23" fmla="*/ 44 h 51"/>
              <a:gd name="T24" fmla="*/ 543 w 546"/>
              <a:gd name="T25" fmla="*/ 51 h 51"/>
              <a:gd name="T26" fmla="*/ 546 w 546"/>
              <a:gd name="T27" fmla="*/ 48 h 51"/>
              <a:gd name="T28" fmla="*/ 546 w 546"/>
              <a:gd name="T29" fmla="*/ 41 h 51"/>
              <a:gd name="T30" fmla="*/ 546 w 546"/>
              <a:gd name="T31" fmla="*/ 34 h 51"/>
              <a:gd name="T32" fmla="*/ 546 w 546"/>
              <a:gd name="T33" fmla="*/ 28 h 51"/>
              <a:gd name="T34" fmla="*/ 2 w 546"/>
              <a:gd name="T35" fmla="*/ 0 h 51"/>
              <a:gd name="T36" fmla="*/ 0 w 546"/>
              <a:gd name="T37" fmla="*/ 6 h 51"/>
              <a:gd name="T38" fmla="*/ 0 w 546"/>
              <a:gd name="T39" fmla="*/ 11 h 51"/>
              <a:gd name="T40" fmla="*/ 0 w 546"/>
              <a:gd name="T41" fmla="*/ 18 h 51"/>
              <a:gd name="T42" fmla="*/ 0 w 546"/>
              <a:gd name="T43" fmla="*/ 24 h 51"/>
              <a:gd name="T44" fmla="*/ 0 w 546"/>
              <a:gd name="T45" fmla="*/ 31 h 51"/>
              <a:gd name="T46" fmla="*/ 0 w 546"/>
              <a:gd name="T47" fmla="*/ 38 h 51"/>
              <a:gd name="T48" fmla="*/ 0 w 546"/>
              <a:gd name="T49" fmla="*/ 44 h 51"/>
              <a:gd name="T50" fmla="*/ 0 w 546"/>
              <a:gd name="T51" fmla="*/ 51 h 51"/>
              <a:gd name="T52" fmla="*/ 3 w 546"/>
              <a:gd name="T53" fmla="*/ 48 h 51"/>
              <a:gd name="T54" fmla="*/ 3 w 546"/>
              <a:gd name="T55" fmla="*/ 41 h 51"/>
              <a:gd name="T56" fmla="*/ 3 w 546"/>
              <a:gd name="T57" fmla="*/ 34 h 51"/>
              <a:gd name="T58" fmla="*/ 3 w 546"/>
              <a:gd name="T59" fmla="*/ 28 h 51"/>
              <a:gd name="T60" fmla="*/ 3 w 546"/>
              <a:gd name="T61" fmla="*/ 21 h 51"/>
              <a:gd name="T62" fmla="*/ 3 w 546"/>
              <a:gd name="T63" fmla="*/ 14 h 51"/>
              <a:gd name="T64" fmla="*/ 3 w 546"/>
              <a:gd name="T65" fmla="*/ 9 h 51"/>
              <a:gd name="T66" fmla="*/ 3 w 546"/>
              <a:gd name="T67" fmla="*/ 3 h 51"/>
              <a:gd name="T68" fmla="*/ 2 w 5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6" h="51">
                <a:moveTo>
                  <a:pt x="546" y="24"/>
                </a:moveTo>
                <a:lnTo>
                  <a:pt x="546" y="21"/>
                </a:lnTo>
                <a:lnTo>
                  <a:pt x="546" y="18"/>
                </a:lnTo>
                <a:lnTo>
                  <a:pt x="546" y="14"/>
                </a:lnTo>
                <a:lnTo>
                  <a:pt x="546" y="11"/>
                </a:lnTo>
                <a:lnTo>
                  <a:pt x="546" y="9"/>
                </a:lnTo>
                <a:lnTo>
                  <a:pt x="546" y="6"/>
                </a:lnTo>
                <a:lnTo>
                  <a:pt x="546" y="3"/>
                </a:lnTo>
                <a:lnTo>
                  <a:pt x="546" y="0"/>
                </a:lnTo>
                <a:lnTo>
                  <a:pt x="543" y="0"/>
                </a:lnTo>
                <a:lnTo>
                  <a:pt x="543" y="3"/>
                </a:lnTo>
                <a:lnTo>
                  <a:pt x="543" y="6"/>
                </a:lnTo>
                <a:lnTo>
                  <a:pt x="543" y="9"/>
                </a:lnTo>
                <a:lnTo>
                  <a:pt x="543" y="11"/>
                </a:lnTo>
                <a:lnTo>
                  <a:pt x="543" y="14"/>
                </a:lnTo>
                <a:lnTo>
                  <a:pt x="543" y="18"/>
                </a:lnTo>
                <a:lnTo>
                  <a:pt x="543" y="21"/>
                </a:lnTo>
                <a:lnTo>
                  <a:pt x="543" y="24"/>
                </a:lnTo>
                <a:lnTo>
                  <a:pt x="543" y="28"/>
                </a:lnTo>
                <a:lnTo>
                  <a:pt x="543" y="31"/>
                </a:lnTo>
                <a:lnTo>
                  <a:pt x="543" y="34"/>
                </a:lnTo>
                <a:lnTo>
                  <a:pt x="543" y="38"/>
                </a:lnTo>
                <a:lnTo>
                  <a:pt x="543" y="41"/>
                </a:lnTo>
                <a:lnTo>
                  <a:pt x="543" y="44"/>
                </a:lnTo>
                <a:lnTo>
                  <a:pt x="543" y="48"/>
                </a:lnTo>
                <a:lnTo>
                  <a:pt x="543" y="51"/>
                </a:lnTo>
                <a:lnTo>
                  <a:pt x="546" y="51"/>
                </a:lnTo>
                <a:lnTo>
                  <a:pt x="546" y="48"/>
                </a:lnTo>
                <a:lnTo>
                  <a:pt x="546" y="44"/>
                </a:lnTo>
                <a:lnTo>
                  <a:pt x="546" y="41"/>
                </a:lnTo>
                <a:lnTo>
                  <a:pt x="546" y="38"/>
                </a:lnTo>
                <a:lnTo>
                  <a:pt x="546" y="34"/>
                </a:lnTo>
                <a:lnTo>
                  <a:pt x="546" y="31"/>
                </a:lnTo>
                <a:lnTo>
                  <a:pt x="546" y="28"/>
                </a:lnTo>
                <a:lnTo>
                  <a:pt x="54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87" name="Freeform 1692">
            <a:extLst>
              <a:ext uri="{FF2B5EF4-FFF2-40B4-BE49-F238E27FC236}">
                <a16:creationId xmlns:a16="http://schemas.microsoft.com/office/drawing/2014/main" id="{77B7BB89-DB3A-D8ED-6638-700F551E957F}"/>
              </a:ext>
            </a:extLst>
          </p:cNvPr>
          <p:cNvSpPr>
            <a:spLocks noEditPoints="1"/>
          </p:cNvSpPr>
          <p:nvPr/>
        </p:nvSpPr>
        <p:spPr bwMode="auto">
          <a:xfrm>
            <a:off x="2127250" y="2719388"/>
            <a:ext cx="862013" cy="80963"/>
          </a:xfrm>
          <a:custGeom>
            <a:avLst/>
            <a:gdLst>
              <a:gd name="T0" fmla="*/ 543 w 543"/>
              <a:gd name="T1" fmla="*/ 21 h 51"/>
              <a:gd name="T2" fmla="*/ 543 w 543"/>
              <a:gd name="T3" fmla="*/ 14 h 51"/>
              <a:gd name="T4" fmla="*/ 543 w 543"/>
              <a:gd name="T5" fmla="*/ 9 h 51"/>
              <a:gd name="T6" fmla="*/ 543 w 543"/>
              <a:gd name="T7" fmla="*/ 3 h 51"/>
              <a:gd name="T8" fmla="*/ 539 w 543"/>
              <a:gd name="T9" fmla="*/ 0 h 51"/>
              <a:gd name="T10" fmla="*/ 539 w 543"/>
              <a:gd name="T11" fmla="*/ 6 h 51"/>
              <a:gd name="T12" fmla="*/ 539 w 543"/>
              <a:gd name="T13" fmla="*/ 11 h 51"/>
              <a:gd name="T14" fmla="*/ 539 w 543"/>
              <a:gd name="T15" fmla="*/ 18 h 51"/>
              <a:gd name="T16" fmla="*/ 539 w 543"/>
              <a:gd name="T17" fmla="*/ 24 h 51"/>
              <a:gd name="T18" fmla="*/ 539 w 543"/>
              <a:gd name="T19" fmla="*/ 31 h 51"/>
              <a:gd name="T20" fmla="*/ 539 w 543"/>
              <a:gd name="T21" fmla="*/ 38 h 51"/>
              <a:gd name="T22" fmla="*/ 539 w 543"/>
              <a:gd name="T23" fmla="*/ 44 h 51"/>
              <a:gd name="T24" fmla="*/ 539 w 543"/>
              <a:gd name="T25" fmla="*/ 51 h 51"/>
              <a:gd name="T26" fmla="*/ 543 w 543"/>
              <a:gd name="T27" fmla="*/ 48 h 51"/>
              <a:gd name="T28" fmla="*/ 543 w 543"/>
              <a:gd name="T29" fmla="*/ 41 h 51"/>
              <a:gd name="T30" fmla="*/ 543 w 543"/>
              <a:gd name="T31" fmla="*/ 34 h 51"/>
              <a:gd name="T32" fmla="*/ 543 w 543"/>
              <a:gd name="T33" fmla="*/ 28 h 51"/>
              <a:gd name="T34" fmla="*/ 1 w 543"/>
              <a:gd name="T35" fmla="*/ 0 h 51"/>
              <a:gd name="T36" fmla="*/ 0 w 543"/>
              <a:gd name="T37" fmla="*/ 6 h 51"/>
              <a:gd name="T38" fmla="*/ 0 w 543"/>
              <a:gd name="T39" fmla="*/ 11 h 51"/>
              <a:gd name="T40" fmla="*/ 0 w 543"/>
              <a:gd name="T41" fmla="*/ 18 h 51"/>
              <a:gd name="T42" fmla="*/ 0 w 543"/>
              <a:gd name="T43" fmla="*/ 24 h 51"/>
              <a:gd name="T44" fmla="*/ 0 w 543"/>
              <a:gd name="T45" fmla="*/ 31 h 51"/>
              <a:gd name="T46" fmla="*/ 0 w 543"/>
              <a:gd name="T47" fmla="*/ 38 h 51"/>
              <a:gd name="T48" fmla="*/ 0 w 543"/>
              <a:gd name="T49" fmla="*/ 44 h 51"/>
              <a:gd name="T50" fmla="*/ 0 w 543"/>
              <a:gd name="T51" fmla="*/ 51 h 51"/>
              <a:gd name="T52" fmla="*/ 3 w 543"/>
              <a:gd name="T53" fmla="*/ 48 h 51"/>
              <a:gd name="T54" fmla="*/ 3 w 543"/>
              <a:gd name="T55" fmla="*/ 41 h 51"/>
              <a:gd name="T56" fmla="*/ 3 w 543"/>
              <a:gd name="T57" fmla="*/ 34 h 51"/>
              <a:gd name="T58" fmla="*/ 3 w 543"/>
              <a:gd name="T59" fmla="*/ 28 h 51"/>
              <a:gd name="T60" fmla="*/ 3 w 543"/>
              <a:gd name="T61" fmla="*/ 21 h 51"/>
              <a:gd name="T62" fmla="*/ 3 w 543"/>
              <a:gd name="T63" fmla="*/ 14 h 51"/>
              <a:gd name="T64" fmla="*/ 3 w 543"/>
              <a:gd name="T65" fmla="*/ 9 h 51"/>
              <a:gd name="T66" fmla="*/ 3 w 543"/>
              <a:gd name="T67" fmla="*/ 3 h 51"/>
              <a:gd name="T68" fmla="*/ 1 w 54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3" h="51">
                <a:moveTo>
                  <a:pt x="543" y="24"/>
                </a:moveTo>
                <a:lnTo>
                  <a:pt x="543" y="21"/>
                </a:lnTo>
                <a:lnTo>
                  <a:pt x="543" y="18"/>
                </a:lnTo>
                <a:lnTo>
                  <a:pt x="543" y="14"/>
                </a:lnTo>
                <a:lnTo>
                  <a:pt x="543" y="11"/>
                </a:lnTo>
                <a:lnTo>
                  <a:pt x="543" y="9"/>
                </a:lnTo>
                <a:lnTo>
                  <a:pt x="543" y="6"/>
                </a:lnTo>
                <a:lnTo>
                  <a:pt x="543" y="3"/>
                </a:lnTo>
                <a:lnTo>
                  <a:pt x="543" y="0"/>
                </a:lnTo>
                <a:lnTo>
                  <a:pt x="539" y="0"/>
                </a:lnTo>
                <a:lnTo>
                  <a:pt x="539" y="3"/>
                </a:lnTo>
                <a:lnTo>
                  <a:pt x="539" y="6"/>
                </a:lnTo>
                <a:lnTo>
                  <a:pt x="539" y="9"/>
                </a:lnTo>
                <a:lnTo>
                  <a:pt x="539" y="11"/>
                </a:lnTo>
                <a:lnTo>
                  <a:pt x="539" y="14"/>
                </a:lnTo>
                <a:lnTo>
                  <a:pt x="539" y="18"/>
                </a:lnTo>
                <a:lnTo>
                  <a:pt x="539" y="21"/>
                </a:lnTo>
                <a:lnTo>
                  <a:pt x="539" y="24"/>
                </a:lnTo>
                <a:lnTo>
                  <a:pt x="539" y="28"/>
                </a:lnTo>
                <a:lnTo>
                  <a:pt x="539" y="31"/>
                </a:lnTo>
                <a:lnTo>
                  <a:pt x="539" y="34"/>
                </a:lnTo>
                <a:lnTo>
                  <a:pt x="539" y="38"/>
                </a:lnTo>
                <a:lnTo>
                  <a:pt x="539" y="41"/>
                </a:lnTo>
                <a:lnTo>
                  <a:pt x="539" y="44"/>
                </a:lnTo>
                <a:lnTo>
                  <a:pt x="539" y="48"/>
                </a:lnTo>
                <a:lnTo>
                  <a:pt x="539" y="51"/>
                </a:lnTo>
                <a:lnTo>
                  <a:pt x="543" y="51"/>
                </a:lnTo>
                <a:lnTo>
                  <a:pt x="543" y="48"/>
                </a:lnTo>
                <a:lnTo>
                  <a:pt x="543" y="44"/>
                </a:lnTo>
                <a:lnTo>
                  <a:pt x="543" y="41"/>
                </a:lnTo>
                <a:lnTo>
                  <a:pt x="543" y="38"/>
                </a:lnTo>
                <a:lnTo>
                  <a:pt x="543" y="34"/>
                </a:lnTo>
                <a:lnTo>
                  <a:pt x="543" y="31"/>
                </a:lnTo>
                <a:lnTo>
                  <a:pt x="543" y="28"/>
                </a:lnTo>
                <a:lnTo>
                  <a:pt x="54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88" name="Freeform 1693">
            <a:extLst>
              <a:ext uri="{FF2B5EF4-FFF2-40B4-BE49-F238E27FC236}">
                <a16:creationId xmlns:a16="http://schemas.microsoft.com/office/drawing/2014/main" id="{B76C3F0F-BC49-397F-FB99-FAD6F1A642EB}"/>
              </a:ext>
            </a:extLst>
          </p:cNvPr>
          <p:cNvSpPr>
            <a:spLocks noEditPoints="1"/>
          </p:cNvSpPr>
          <p:nvPr/>
        </p:nvSpPr>
        <p:spPr bwMode="auto">
          <a:xfrm>
            <a:off x="2128838" y="2719388"/>
            <a:ext cx="857250" cy="80963"/>
          </a:xfrm>
          <a:custGeom>
            <a:avLst/>
            <a:gdLst>
              <a:gd name="T0" fmla="*/ 540 w 540"/>
              <a:gd name="T1" fmla="*/ 21 h 51"/>
              <a:gd name="T2" fmla="*/ 540 w 540"/>
              <a:gd name="T3" fmla="*/ 14 h 51"/>
              <a:gd name="T4" fmla="*/ 540 w 540"/>
              <a:gd name="T5" fmla="*/ 9 h 51"/>
              <a:gd name="T6" fmla="*/ 540 w 540"/>
              <a:gd name="T7" fmla="*/ 3 h 51"/>
              <a:gd name="T8" fmla="*/ 537 w 540"/>
              <a:gd name="T9" fmla="*/ 0 h 51"/>
              <a:gd name="T10" fmla="*/ 537 w 540"/>
              <a:gd name="T11" fmla="*/ 6 h 51"/>
              <a:gd name="T12" fmla="*/ 537 w 540"/>
              <a:gd name="T13" fmla="*/ 11 h 51"/>
              <a:gd name="T14" fmla="*/ 537 w 540"/>
              <a:gd name="T15" fmla="*/ 18 h 51"/>
              <a:gd name="T16" fmla="*/ 537 w 540"/>
              <a:gd name="T17" fmla="*/ 24 h 51"/>
              <a:gd name="T18" fmla="*/ 537 w 540"/>
              <a:gd name="T19" fmla="*/ 31 h 51"/>
              <a:gd name="T20" fmla="*/ 537 w 540"/>
              <a:gd name="T21" fmla="*/ 38 h 51"/>
              <a:gd name="T22" fmla="*/ 537 w 540"/>
              <a:gd name="T23" fmla="*/ 44 h 51"/>
              <a:gd name="T24" fmla="*/ 537 w 540"/>
              <a:gd name="T25" fmla="*/ 51 h 51"/>
              <a:gd name="T26" fmla="*/ 540 w 540"/>
              <a:gd name="T27" fmla="*/ 48 h 51"/>
              <a:gd name="T28" fmla="*/ 540 w 540"/>
              <a:gd name="T29" fmla="*/ 41 h 51"/>
              <a:gd name="T30" fmla="*/ 540 w 540"/>
              <a:gd name="T31" fmla="*/ 34 h 51"/>
              <a:gd name="T32" fmla="*/ 540 w 540"/>
              <a:gd name="T33" fmla="*/ 28 h 51"/>
              <a:gd name="T34" fmla="*/ 2 w 540"/>
              <a:gd name="T35" fmla="*/ 0 h 51"/>
              <a:gd name="T36" fmla="*/ 0 w 540"/>
              <a:gd name="T37" fmla="*/ 6 h 51"/>
              <a:gd name="T38" fmla="*/ 0 w 540"/>
              <a:gd name="T39" fmla="*/ 11 h 51"/>
              <a:gd name="T40" fmla="*/ 0 w 540"/>
              <a:gd name="T41" fmla="*/ 18 h 51"/>
              <a:gd name="T42" fmla="*/ 0 w 540"/>
              <a:gd name="T43" fmla="*/ 24 h 51"/>
              <a:gd name="T44" fmla="*/ 0 w 540"/>
              <a:gd name="T45" fmla="*/ 31 h 51"/>
              <a:gd name="T46" fmla="*/ 0 w 540"/>
              <a:gd name="T47" fmla="*/ 38 h 51"/>
              <a:gd name="T48" fmla="*/ 0 w 540"/>
              <a:gd name="T49" fmla="*/ 44 h 51"/>
              <a:gd name="T50" fmla="*/ 0 w 540"/>
              <a:gd name="T51" fmla="*/ 51 h 51"/>
              <a:gd name="T52" fmla="*/ 4 w 540"/>
              <a:gd name="T53" fmla="*/ 48 h 51"/>
              <a:gd name="T54" fmla="*/ 4 w 540"/>
              <a:gd name="T55" fmla="*/ 41 h 51"/>
              <a:gd name="T56" fmla="*/ 4 w 540"/>
              <a:gd name="T57" fmla="*/ 34 h 51"/>
              <a:gd name="T58" fmla="*/ 4 w 540"/>
              <a:gd name="T59" fmla="*/ 28 h 51"/>
              <a:gd name="T60" fmla="*/ 4 w 540"/>
              <a:gd name="T61" fmla="*/ 21 h 51"/>
              <a:gd name="T62" fmla="*/ 4 w 540"/>
              <a:gd name="T63" fmla="*/ 14 h 51"/>
              <a:gd name="T64" fmla="*/ 4 w 540"/>
              <a:gd name="T65" fmla="*/ 9 h 51"/>
              <a:gd name="T66" fmla="*/ 4 w 540"/>
              <a:gd name="T67" fmla="*/ 3 h 51"/>
              <a:gd name="T68" fmla="*/ 2 w 54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40" h="51">
                <a:moveTo>
                  <a:pt x="540" y="24"/>
                </a:moveTo>
                <a:lnTo>
                  <a:pt x="540" y="21"/>
                </a:lnTo>
                <a:lnTo>
                  <a:pt x="540" y="18"/>
                </a:lnTo>
                <a:lnTo>
                  <a:pt x="540" y="14"/>
                </a:lnTo>
                <a:lnTo>
                  <a:pt x="540" y="11"/>
                </a:lnTo>
                <a:lnTo>
                  <a:pt x="540" y="9"/>
                </a:lnTo>
                <a:lnTo>
                  <a:pt x="540" y="6"/>
                </a:lnTo>
                <a:lnTo>
                  <a:pt x="540" y="3"/>
                </a:lnTo>
                <a:lnTo>
                  <a:pt x="540" y="0"/>
                </a:lnTo>
                <a:lnTo>
                  <a:pt x="537" y="0"/>
                </a:lnTo>
                <a:lnTo>
                  <a:pt x="537" y="3"/>
                </a:lnTo>
                <a:lnTo>
                  <a:pt x="537" y="6"/>
                </a:lnTo>
                <a:lnTo>
                  <a:pt x="537" y="9"/>
                </a:lnTo>
                <a:lnTo>
                  <a:pt x="537" y="11"/>
                </a:lnTo>
                <a:lnTo>
                  <a:pt x="537" y="14"/>
                </a:lnTo>
                <a:lnTo>
                  <a:pt x="537" y="18"/>
                </a:lnTo>
                <a:lnTo>
                  <a:pt x="537" y="21"/>
                </a:lnTo>
                <a:lnTo>
                  <a:pt x="537" y="24"/>
                </a:lnTo>
                <a:lnTo>
                  <a:pt x="537" y="28"/>
                </a:lnTo>
                <a:lnTo>
                  <a:pt x="537" y="31"/>
                </a:lnTo>
                <a:lnTo>
                  <a:pt x="537" y="34"/>
                </a:lnTo>
                <a:lnTo>
                  <a:pt x="537" y="38"/>
                </a:lnTo>
                <a:lnTo>
                  <a:pt x="537" y="41"/>
                </a:lnTo>
                <a:lnTo>
                  <a:pt x="537" y="44"/>
                </a:lnTo>
                <a:lnTo>
                  <a:pt x="537" y="48"/>
                </a:lnTo>
                <a:lnTo>
                  <a:pt x="537" y="51"/>
                </a:lnTo>
                <a:lnTo>
                  <a:pt x="540" y="51"/>
                </a:lnTo>
                <a:lnTo>
                  <a:pt x="540" y="48"/>
                </a:lnTo>
                <a:lnTo>
                  <a:pt x="540" y="44"/>
                </a:lnTo>
                <a:lnTo>
                  <a:pt x="540" y="41"/>
                </a:lnTo>
                <a:lnTo>
                  <a:pt x="540" y="38"/>
                </a:lnTo>
                <a:lnTo>
                  <a:pt x="540" y="34"/>
                </a:lnTo>
                <a:lnTo>
                  <a:pt x="540" y="31"/>
                </a:lnTo>
                <a:lnTo>
                  <a:pt x="540" y="28"/>
                </a:lnTo>
                <a:lnTo>
                  <a:pt x="54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89" name="Freeform 1694">
            <a:extLst>
              <a:ext uri="{FF2B5EF4-FFF2-40B4-BE49-F238E27FC236}">
                <a16:creationId xmlns:a16="http://schemas.microsoft.com/office/drawing/2014/main" id="{17C76822-1D7D-C591-013D-E0AFD6088FAD}"/>
              </a:ext>
            </a:extLst>
          </p:cNvPr>
          <p:cNvSpPr>
            <a:spLocks noEditPoints="1"/>
          </p:cNvSpPr>
          <p:nvPr/>
        </p:nvSpPr>
        <p:spPr bwMode="auto">
          <a:xfrm>
            <a:off x="2132013" y="2719388"/>
            <a:ext cx="850900" cy="80963"/>
          </a:xfrm>
          <a:custGeom>
            <a:avLst/>
            <a:gdLst>
              <a:gd name="T0" fmla="*/ 536 w 536"/>
              <a:gd name="T1" fmla="*/ 21 h 51"/>
              <a:gd name="T2" fmla="*/ 536 w 536"/>
              <a:gd name="T3" fmla="*/ 14 h 51"/>
              <a:gd name="T4" fmla="*/ 536 w 536"/>
              <a:gd name="T5" fmla="*/ 9 h 51"/>
              <a:gd name="T6" fmla="*/ 536 w 536"/>
              <a:gd name="T7" fmla="*/ 3 h 51"/>
              <a:gd name="T8" fmla="*/ 533 w 536"/>
              <a:gd name="T9" fmla="*/ 0 h 51"/>
              <a:gd name="T10" fmla="*/ 533 w 536"/>
              <a:gd name="T11" fmla="*/ 6 h 51"/>
              <a:gd name="T12" fmla="*/ 533 w 536"/>
              <a:gd name="T13" fmla="*/ 11 h 51"/>
              <a:gd name="T14" fmla="*/ 533 w 536"/>
              <a:gd name="T15" fmla="*/ 18 h 51"/>
              <a:gd name="T16" fmla="*/ 533 w 536"/>
              <a:gd name="T17" fmla="*/ 24 h 51"/>
              <a:gd name="T18" fmla="*/ 533 w 536"/>
              <a:gd name="T19" fmla="*/ 31 h 51"/>
              <a:gd name="T20" fmla="*/ 533 w 536"/>
              <a:gd name="T21" fmla="*/ 38 h 51"/>
              <a:gd name="T22" fmla="*/ 533 w 536"/>
              <a:gd name="T23" fmla="*/ 44 h 51"/>
              <a:gd name="T24" fmla="*/ 533 w 536"/>
              <a:gd name="T25" fmla="*/ 51 h 51"/>
              <a:gd name="T26" fmla="*/ 536 w 536"/>
              <a:gd name="T27" fmla="*/ 48 h 51"/>
              <a:gd name="T28" fmla="*/ 536 w 536"/>
              <a:gd name="T29" fmla="*/ 41 h 51"/>
              <a:gd name="T30" fmla="*/ 536 w 536"/>
              <a:gd name="T31" fmla="*/ 34 h 51"/>
              <a:gd name="T32" fmla="*/ 536 w 536"/>
              <a:gd name="T33" fmla="*/ 28 h 51"/>
              <a:gd name="T34" fmla="*/ 2 w 536"/>
              <a:gd name="T35" fmla="*/ 0 h 51"/>
              <a:gd name="T36" fmla="*/ 0 w 536"/>
              <a:gd name="T37" fmla="*/ 6 h 51"/>
              <a:gd name="T38" fmla="*/ 0 w 536"/>
              <a:gd name="T39" fmla="*/ 11 h 51"/>
              <a:gd name="T40" fmla="*/ 0 w 536"/>
              <a:gd name="T41" fmla="*/ 18 h 51"/>
              <a:gd name="T42" fmla="*/ 0 w 536"/>
              <a:gd name="T43" fmla="*/ 24 h 51"/>
              <a:gd name="T44" fmla="*/ 0 w 536"/>
              <a:gd name="T45" fmla="*/ 31 h 51"/>
              <a:gd name="T46" fmla="*/ 0 w 536"/>
              <a:gd name="T47" fmla="*/ 38 h 51"/>
              <a:gd name="T48" fmla="*/ 0 w 536"/>
              <a:gd name="T49" fmla="*/ 44 h 51"/>
              <a:gd name="T50" fmla="*/ 0 w 536"/>
              <a:gd name="T51" fmla="*/ 51 h 51"/>
              <a:gd name="T52" fmla="*/ 3 w 536"/>
              <a:gd name="T53" fmla="*/ 48 h 51"/>
              <a:gd name="T54" fmla="*/ 3 w 536"/>
              <a:gd name="T55" fmla="*/ 41 h 51"/>
              <a:gd name="T56" fmla="*/ 3 w 536"/>
              <a:gd name="T57" fmla="*/ 34 h 51"/>
              <a:gd name="T58" fmla="*/ 3 w 536"/>
              <a:gd name="T59" fmla="*/ 28 h 51"/>
              <a:gd name="T60" fmla="*/ 3 w 536"/>
              <a:gd name="T61" fmla="*/ 21 h 51"/>
              <a:gd name="T62" fmla="*/ 3 w 536"/>
              <a:gd name="T63" fmla="*/ 14 h 51"/>
              <a:gd name="T64" fmla="*/ 3 w 536"/>
              <a:gd name="T65" fmla="*/ 9 h 51"/>
              <a:gd name="T66" fmla="*/ 3 w 536"/>
              <a:gd name="T67" fmla="*/ 3 h 51"/>
              <a:gd name="T68" fmla="*/ 2 w 5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6" h="51">
                <a:moveTo>
                  <a:pt x="536" y="24"/>
                </a:moveTo>
                <a:lnTo>
                  <a:pt x="536" y="21"/>
                </a:lnTo>
                <a:lnTo>
                  <a:pt x="536" y="18"/>
                </a:lnTo>
                <a:lnTo>
                  <a:pt x="536" y="14"/>
                </a:lnTo>
                <a:lnTo>
                  <a:pt x="536" y="11"/>
                </a:lnTo>
                <a:lnTo>
                  <a:pt x="536" y="9"/>
                </a:lnTo>
                <a:lnTo>
                  <a:pt x="536" y="6"/>
                </a:lnTo>
                <a:lnTo>
                  <a:pt x="536" y="3"/>
                </a:lnTo>
                <a:lnTo>
                  <a:pt x="536" y="0"/>
                </a:lnTo>
                <a:lnTo>
                  <a:pt x="533" y="0"/>
                </a:lnTo>
                <a:lnTo>
                  <a:pt x="533" y="3"/>
                </a:lnTo>
                <a:lnTo>
                  <a:pt x="533" y="6"/>
                </a:lnTo>
                <a:lnTo>
                  <a:pt x="533" y="9"/>
                </a:lnTo>
                <a:lnTo>
                  <a:pt x="533" y="11"/>
                </a:lnTo>
                <a:lnTo>
                  <a:pt x="533" y="14"/>
                </a:lnTo>
                <a:lnTo>
                  <a:pt x="533" y="18"/>
                </a:lnTo>
                <a:lnTo>
                  <a:pt x="533" y="21"/>
                </a:lnTo>
                <a:lnTo>
                  <a:pt x="533" y="24"/>
                </a:lnTo>
                <a:lnTo>
                  <a:pt x="533" y="28"/>
                </a:lnTo>
                <a:lnTo>
                  <a:pt x="533" y="31"/>
                </a:lnTo>
                <a:lnTo>
                  <a:pt x="533" y="34"/>
                </a:lnTo>
                <a:lnTo>
                  <a:pt x="533" y="38"/>
                </a:lnTo>
                <a:lnTo>
                  <a:pt x="533" y="41"/>
                </a:lnTo>
                <a:lnTo>
                  <a:pt x="533" y="44"/>
                </a:lnTo>
                <a:lnTo>
                  <a:pt x="533" y="48"/>
                </a:lnTo>
                <a:lnTo>
                  <a:pt x="533" y="51"/>
                </a:lnTo>
                <a:lnTo>
                  <a:pt x="536" y="51"/>
                </a:lnTo>
                <a:lnTo>
                  <a:pt x="536" y="48"/>
                </a:lnTo>
                <a:lnTo>
                  <a:pt x="536" y="44"/>
                </a:lnTo>
                <a:lnTo>
                  <a:pt x="536" y="41"/>
                </a:lnTo>
                <a:lnTo>
                  <a:pt x="536" y="38"/>
                </a:lnTo>
                <a:lnTo>
                  <a:pt x="536" y="34"/>
                </a:lnTo>
                <a:lnTo>
                  <a:pt x="536" y="31"/>
                </a:lnTo>
                <a:lnTo>
                  <a:pt x="536" y="28"/>
                </a:lnTo>
                <a:lnTo>
                  <a:pt x="53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90" name="Freeform 1695">
            <a:extLst>
              <a:ext uri="{FF2B5EF4-FFF2-40B4-BE49-F238E27FC236}">
                <a16:creationId xmlns:a16="http://schemas.microsoft.com/office/drawing/2014/main" id="{A47244CC-1BD1-E462-4245-B30685F46D1E}"/>
              </a:ext>
            </a:extLst>
          </p:cNvPr>
          <p:cNvSpPr>
            <a:spLocks noEditPoints="1"/>
          </p:cNvSpPr>
          <p:nvPr/>
        </p:nvSpPr>
        <p:spPr bwMode="auto">
          <a:xfrm>
            <a:off x="2135188" y="2719388"/>
            <a:ext cx="846138" cy="80963"/>
          </a:xfrm>
          <a:custGeom>
            <a:avLst/>
            <a:gdLst>
              <a:gd name="T0" fmla="*/ 533 w 533"/>
              <a:gd name="T1" fmla="*/ 21 h 51"/>
              <a:gd name="T2" fmla="*/ 533 w 533"/>
              <a:gd name="T3" fmla="*/ 14 h 51"/>
              <a:gd name="T4" fmla="*/ 533 w 533"/>
              <a:gd name="T5" fmla="*/ 9 h 51"/>
              <a:gd name="T6" fmla="*/ 533 w 533"/>
              <a:gd name="T7" fmla="*/ 3 h 51"/>
              <a:gd name="T8" fmla="*/ 529 w 533"/>
              <a:gd name="T9" fmla="*/ 0 h 51"/>
              <a:gd name="T10" fmla="*/ 529 w 533"/>
              <a:gd name="T11" fmla="*/ 6 h 51"/>
              <a:gd name="T12" fmla="*/ 529 w 533"/>
              <a:gd name="T13" fmla="*/ 11 h 51"/>
              <a:gd name="T14" fmla="*/ 529 w 533"/>
              <a:gd name="T15" fmla="*/ 18 h 51"/>
              <a:gd name="T16" fmla="*/ 529 w 533"/>
              <a:gd name="T17" fmla="*/ 24 h 51"/>
              <a:gd name="T18" fmla="*/ 529 w 533"/>
              <a:gd name="T19" fmla="*/ 31 h 51"/>
              <a:gd name="T20" fmla="*/ 529 w 533"/>
              <a:gd name="T21" fmla="*/ 38 h 51"/>
              <a:gd name="T22" fmla="*/ 529 w 533"/>
              <a:gd name="T23" fmla="*/ 44 h 51"/>
              <a:gd name="T24" fmla="*/ 529 w 533"/>
              <a:gd name="T25" fmla="*/ 51 h 51"/>
              <a:gd name="T26" fmla="*/ 533 w 533"/>
              <a:gd name="T27" fmla="*/ 48 h 51"/>
              <a:gd name="T28" fmla="*/ 533 w 533"/>
              <a:gd name="T29" fmla="*/ 41 h 51"/>
              <a:gd name="T30" fmla="*/ 533 w 533"/>
              <a:gd name="T31" fmla="*/ 34 h 51"/>
              <a:gd name="T32" fmla="*/ 533 w 533"/>
              <a:gd name="T33" fmla="*/ 28 h 51"/>
              <a:gd name="T34" fmla="*/ 1 w 533"/>
              <a:gd name="T35" fmla="*/ 0 h 51"/>
              <a:gd name="T36" fmla="*/ 0 w 533"/>
              <a:gd name="T37" fmla="*/ 6 h 51"/>
              <a:gd name="T38" fmla="*/ 0 w 533"/>
              <a:gd name="T39" fmla="*/ 11 h 51"/>
              <a:gd name="T40" fmla="*/ 0 w 533"/>
              <a:gd name="T41" fmla="*/ 18 h 51"/>
              <a:gd name="T42" fmla="*/ 0 w 533"/>
              <a:gd name="T43" fmla="*/ 24 h 51"/>
              <a:gd name="T44" fmla="*/ 0 w 533"/>
              <a:gd name="T45" fmla="*/ 31 h 51"/>
              <a:gd name="T46" fmla="*/ 0 w 533"/>
              <a:gd name="T47" fmla="*/ 38 h 51"/>
              <a:gd name="T48" fmla="*/ 0 w 533"/>
              <a:gd name="T49" fmla="*/ 44 h 51"/>
              <a:gd name="T50" fmla="*/ 0 w 533"/>
              <a:gd name="T51" fmla="*/ 51 h 51"/>
              <a:gd name="T52" fmla="*/ 3 w 533"/>
              <a:gd name="T53" fmla="*/ 48 h 51"/>
              <a:gd name="T54" fmla="*/ 3 w 533"/>
              <a:gd name="T55" fmla="*/ 41 h 51"/>
              <a:gd name="T56" fmla="*/ 3 w 533"/>
              <a:gd name="T57" fmla="*/ 34 h 51"/>
              <a:gd name="T58" fmla="*/ 3 w 533"/>
              <a:gd name="T59" fmla="*/ 28 h 51"/>
              <a:gd name="T60" fmla="*/ 3 w 533"/>
              <a:gd name="T61" fmla="*/ 21 h 51"/>
              <a:gd name="T62" fmla="*/ 3 w 533"/>
              <a:gd name="T63" fmla="*/ 14 h 51"/>
              <a:gd name="T64" fmla="*/ 3 w 533"/>
              <a:gd name="T65" fmla="*/ 9 h 51"/>
              <a:gd name="T66" fmla="*/ 3 w 533"/>
              <a:gd name="T67" fmla="*/ 3 h 51"/>
              <a:gd name="T68" fmla="*/ 1 w 53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3" h="51">
                <a:moveTo>
                  <a:pt x="533" y="24"/>
                </a:moveTo>
                <a:lnTo>
                  <a:pt x="533" y="21"/>
                </a:lnTo>
                <a:lnTo>
                  <a:pt x="533" y="18"/>
                </a:lnTo>
                <a:lnTo>
                  <a:pt x="533" y="14"/>
                </a:lnTo>
                <a:lnTo>
                  <a:pt x="533" y="11"/>
                </a:lnTo>
                <a:lnTo>
                  <a:pt x="533" y="9"/>
                </a:lnTo>
                <a:lnTo>
                  <a:pt x="533" y="6"/>
                </a:lnTo>
                <a:lnTo>
                  <a:pt x="533" y="3"/>
                </a:lnTo>
                <a:lnTo>
                  <a:pt x="533" y="0"/>
                </a:lnTo>
                <a:lnTo>
                  <a:pt x="529" y="0"/>
                </a:lnTo>
                <a:lnTo>
                  <a:pt x="529" y="3"/>
                </a:lnTo>
                <a:lnTo>
                  <a:pt x="529" y="6"/>
                </a:lnTo>
                <a:lnTo>
                  <a:pt x="529" y="9"/>
                </a:lnTo>
                <a:lnTo>
                  <a:pt x="529" y="11"/>
                </a:lnTo>
                <a:lnTo>
                  <a:pt x="529" y="14"/>
                </a:lnTo>
                <a:lnTo>
                  <a:pt x="529" y="18"/>
                </a:lnTo>
                <a:lnTo>
                  <a:pt x="529" y="21"/>
                </a:lnTo>
                <a:lnTo>
                  <a:pt x="529" y="24"/>
                </a:lnTo>
                <a:lnTo>
                  <a:pt x="529" y="28"/>
                </a:lnTo>
                <a:lnTo>
                  <a:pt x="529" y="31"/>
                </a:lnTo>
                <a:lnTo>
                  <a:pt x="529" y="34"/>
                </a:lnTo>
                <a:lnTo>
                  <a:pt x="529" y="38"/>
                </a:lnTo>
                <a:lnTo>
                  <a:pt x="529" y="41"/>
                </a:lnTo>
                <a:lnTo>
                  <a:pt x="529" y="44"/>
                </a:lnTo>
                <a:lnTo>
                  <a:pt x="529" y="48"/>
                </a:lnTo>
                <a:lnTo>
                  <a:pt x="529" y="51"/>
                </a:lnTo>
                <a:lnTo>
                  <a:pt x="533" y="51"/>
                </a:lnTo>
                <a:lnTo>
                  <a:pt x="533" y="48"/>
                </a:lnTo>
                <a:lnTo>
                  <a:pt x="533" y="44"/>
                </a:lnTo>
                <a:lnTo>
                  <a:pt x="533" y="41"/>
                </a:lnTo>
                <a:lnTo>
                  <a:pt x="533" y="38"/>
                </a:lnTo>
                <a:lnTo>
                  <a:pt x="533" y="34"/>
                </a:lnTo>
                <a:lnTo>
                  <a:pt x="533" y="31"/>
                </a:lnTo>
                <a:lnTo>
                  <a:pt x="533" y="28"/>
                </a:lnTo>
                <a:lnTo>
                  <a:pt x="53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91" name="Freeform 1696">
            <a:extLst>
              <a:ext uri="{FF2B5EF4-FFF2-40B4-BE49-F238E27FC236}">
                <a16:creationId xmlns:a16="http://schemas.microsoft.com/office/drawing/2014/main" id="{64D337EA-FCDE-D39F-628C-C33391DB1566}"/>
              </a:ext>
            </a:extLst>
          </p:cNvPr>
          <p:cNvSpPr>
            <a:spLocks noEditPoints="1"/>
          </p:cNvSpPr>
          <p:nvPr/>
        </p:nvSpPr>
        <p:spPr bwMode="auto">
          <a:xfrm>
            <a:off x="2136775" y="2719388"/>
            <a:ext cx="841375" cy="80963"/>
          </a:xfrm>
          <a:custGeom>
            <a:avLst/>
            <a:gdLst>
              <a:gd name="T0" fmla="*/ 530 w 530"/>
              <a:gd name="T1" fmla="*/ 21 h 51"/>
              <a:gd name="T2" fmla="*/ 530 w 530"/>
              <a:gd name="T3" fmla="*/ 14 h 51"/>
              <a:gd name="T4" fmla="*/ 530 w 530"/>
              <a:gd name="T5" fmla="*/ 9 h 51"/>
              <a:gd name="T6" fmla="*/ 530 w 530"/>
              <a:gd name="T7" fmla="*/ 3 h 51"/>
              <a:gd name="T8" fmla="*/ 527 w 530"/>
              <a:gd name="T9" fmla="*/ 0 h 51"/>
              <a:gd name="T10" fmla="*/ 527 w 530"/>
              <a:gd name="T11" fmla="*/ 6 h 51"/>
              <a:gd name="T12" fmla="*/ 527 w 530"/>
              <a:gd name="T13" fmla="*/ 11 h 51"/>
              <a:gd name="T14" fmla="*/ 527 w 530"/>
              <a:gd name="T15" fmla="*/ 18 h 51"/>
              <a:gd name="T16" fmla="*/ 527 w 530"/>
              <a:gd name="T17" fmla="*/ 24 h 51"/>
              <a:gd name="T18" fmla="*/ 527 w 530"/>
              <a:gd name="T19" fmla="*/ 31 h 51"/>
              <a:gd name="T20" fmla="*/ 527 w 530"/>
              <a:gd name="T21" fmla="*/ 38 h 51"/>
              <a:gd name="T22" fmla="*/ 527 w 530"/>
              <a:gd name="T23" fmla="*/ 44 h 51"/>
              <a:gd name="T24" fmla="*/ 527 w 530"/>
              <a:gd name="T25" fmla="*/ 51 h 51"/>
              <a:gd name="T26" fmla="*/ 530 w 530"/>
              <a:gd name="T27" fmla="*/ 48 h 51"/>
              <a:gd name="T28" fmla="*/ 530 w 530"/>
              <a:gd name="T29" fmla="*/ 41 h 51"/>
              <a:gd name="T30" fmla="*/ 530 w 530"/>
              <a:gd name="T31" fmla="*/ 34 h 51"/>
              <a:gd name="T32" fmla="*/ 530 w 530"/>
              <a:gd name="T33" fmla="*/ 28 h 51"/>
              <a:gd name="T34" fmla="*/ 2 w 530"/>
              <a:gd name="T35" fmla="*/ 0 h 51"/>
              <a:gd name="T36" fmla="*/ 0 w 530"/>
              <a:gd name="T37" fmla="*/ 6 h 51"/>
              <a:gd name="T38" fmla="*/ 0 w 530"/>
              <a:gd name="T39" fmla="*/ 11 h 51"/>
              <a:gd name="T40" fmla="*/ 0 w 530"/>
              <a:gd name="T41" fmla="*/ 18 h 51"/>
              <a:gd name="T42" fmla="*/ 0 w 530"/>
              <a:gd name="T43" fmla="*/ 24 h 51"/>
              <a:gd name="T44" fmla="*/ 0 w 530"/>
              <a:gd name="T45" fmla="*/ 31 h 51"/>
              <a:gd name="T46" fmla="*/ 0 w 530"/>
              <a:gd name="T47" fmla="*/ 38 h 51"/>
              <a:gd name="T48" fmla="*/ 0 w 530"/>
              <a:gd name="T49" fmla="*/ 44 h 51"/>
              <a:gd name="T50" fmla="*/ 0 w 530"/>
              <a:gd name="T51" fmla="*/ 51 h 51"/>
              <a:gd name="T52" fmla="*/ 4 w 530"/>
              <a:gd name="T53" fmla="*/ 48 h 51"/>
              <a:gd name="T54" fmla="*/ 4 w 530"/>
              <a:gd name="T55" fmla="*/ 41 h 51"/>
              <a:gd name="T56" fmla="*/ 4 w 530"/>
              <a:gd name="T57" fmla="*/ 34 h 51"/>
              <a:gd name="T58" fmla="*/ 4 w 530"/>
              <a:gd name="T59" fmla="*/ 28 h 51"/>
              <a:gd name="T60" fmla="*/ 4 w 530"/>
              <a:gd name="T61" fmla="*/ 21 h 51"/>
              <a:gd name="T62" fmla="*/ 4 w 530"/>
              <a:gd name="T63" fmla="*/ 14 h 51"/>
              <a:gd name="T64" fmla="*/ 4 w 530"/>
              <a:gd name="T65" fmla="*/ 9 h 51"/>
              <a:gd name="T66" fmla="*/ 4 w 530"/>
              <a:gd name="T67" fmla="*/ 3 h 51"/>
              <a:gd name="T68" fmla="*/ 2 w 53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0" h="51">
                <a:moveTo>
                  <a:pt x="530" y="24"/>
                </a:moveTo>
                <a:lnTo>
                  <a:pt x="530" y="21"/>
                </a:lnTo>
                <a:lnTo>
                  <a:pt x="530" y="18"/>
                </a:lnTo>
                <a:lnTo>
                  <a:pt x="530" y="14"/>
                </a:lnTo>
                <a:lnTo>
                  <a:pt x="530" y="11"/>
                </a:lnTo>
                <a:lnTo>
                  <a:pt x="530" y="9"/>
                </a:lnTo>
                <a:lnTo>
                  <a:pt x="530" y="6"/>
                </a:lnTo>
                <a:lnTo>
                  <a:pt x="530" y="3"/>
                </a:lnTo>
                <a:lnTo>
                  <a:pt x="530" y="0"/>
                </a:lnTo>
                <a:lnTo>
                  <a:pt x="527" y="0"/>
                </a:lnTo>
                <a:lnTo>
                  <a:pt x="527" y="3"/>
                </a:lnTo>
                <a:lnTo>
                  <a:pt x="527" y="6"/>
                </a:lnTo>
                <a:lnTo>
                  <a:pt x="527" y="9"/>
                </a:lnTo>
                <a:lnTo>
                  <a:pt x="527" y="11"/>
                </a:lnTo>
                <a:lnTo>
                  <a:pt x="527" y="14"/>
                </a:lnTo>
                <a:lnTo>
                  <a:pt x="527" y="18"/>
                </a:lnTo>
                <a:lnTo>
                  <a:pt x="527" y="21"/>
                </a:lnTo>
                <a:lnTo>
                  <a:pt x="527" y="24"/>
                </a:lnTo>
                <a:lnTo>
                  <a:pt x="527" y="28"/>
                </a:lnTo>
                <a:lnTo>
                  <a:pt x="527" y="31"/>
                </a:lnTo>
                <a:lnTo>
                  <a:pt x="527" y="34"/>
                </a:lnTo>
                <a:lnTo>
                  <a:pt x="527" y="38"/>
                </a:lnTo>
                <a:lnTo>
                  <a:pt x="527" y="41"/>
                </a:lnTo>
                <a:lnTo>
                  <a:pt x="527" y="44"/>
                </a:lnTo>
                <a:lnTo>
                  <a:pt x="527" y="48"/>
                </a:lnTo>
                <a:lnTo>
                  <a:pt x="527" y="51"/>
                </a:lnTo>
                <a:lnTo>
                  <a:pt x="530" y="51"/>
                </a:lnTo>
                <a:lnTo>
                  <a:pt x="530" y="48"/>
                </a:lnTo>
                <a:lnTo>
                  <a:pt x="530" y="44"/>
                </a:lnTo>
                <a:lnTo>
                  <a:pt x="530" y="41"/>
                </a:lnTo>
                <a:lnTo>
                  <a:pt x="530" y="38"/>
                </a:lnTo>
                <a:lnTo>
                  <a:pt x="530" y="34"/>
                </a:lnTo>
                <a:lnTo>
                  <a:pt x="530" y="31"/>
                </a:lnTo>
                <a:lnTo>
                  <a:pt x="530" y="28"/>
                </a:lnTo>
                <a:lnTo>
                  <a:pt x="53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92" name="Freeform 1697">
            <a:extLst>
              <a:ext uri="{FF2B5EF4-FFF2-40B4-BE49-F238E27FC236}">
                <a16:creationId xmlns:a16="http://schemas.microsoft.com/office/drawing/2014/main" id="{878E79D3-FB42-21BD-5177-ACB2DEB7F0BA}"/>
              </a:ext>
            </a:extLst>
          </p:cNvPr>
          <p:cNvSpPr>
            <a:spLocks noEditPoints="1"/>
          </p:cNvSpPr>
          <p:nvPr/>
        </p:nvSpPr>
        <p:spPr bwMode="auto">
          <a:xfrm>
            <a:off x="2139950" y="2719388"/>
            <a:ext cx="835025" cy="80963"/>
          </a:xfrm>
          <a:custGeom>
            <a:avLst/>
            <a:gdLst>
              <a:gd name="T0" fmla="*/ 526 w 526"/>
              <a:gd name="T1" fmla="*/ 21 h 51"/>
              <a:gd name="T2" fmla="*/ 526 w 526"/>
              <a:gd name="T3" fmla="*/ 14 h 51"/>
              <a:gd name="T4" fmla="*/ 526 w 526"/>
              <a:gd name="T5" fmla="*/ 9 h 51"/>
              <a:gd name="T6" fmla="*/ 526 w 526"/>
              <a:gd name="T7" fmla="*/ 3 h 51"/>
              <a:gd name="T8" fmla="*/ 523 w 526"/>
              <a:gd name="T9" fmla="*/ 0 h 51"/>
              <a:gd name="T10" fmla="*/ 523 w 526"/>
              <a:gd name="T11" fmla="*/ 6 h 51"/>
              <a:gd name="T12" fmla="*/ 523 w 526"/>
              <a:gd name="T13" fmla="*/ 11 h 51"/>
              <a:gd name="T14" fmla="*/ 523 w 526"/>
              <a:gd name="T15" fmla="*/ 18 h 51"/>
              <a:gd name="T16" fmla="*/ 523 w 526"/>
              <a:gd name="T17" fmla="*/ 24 h 51"/>
              <a:gd name="T18" fmla="*/ 523 w 526"/>
              <a:gd name="T19" fmla="*/ 31 h 51"/>
              <a:gd name="T20" fmla="*/ 523 w 526"/>
              <a:gd name="T21" fmla="*/ 38 h 51"/>
              <a:gd name="T22" fmla="*/ 523 w 526"/>
              <a:gd name="T23" fmla="*/ 44 h 51"/>
              <a:gd name="T24" fmla="*/ 523 w 526"/>
              <a:gd name="T25" fmla="*/ 51 h 51"/>
              <a:gd name="T26" fmla="*/ 526 w 526"/>
              <a:gd name="T27" fmla="*/ 48 h 51"/>
              <a:gd name="T28" fmla="*/ 526 w 526"/>
              <a:gd name="T29" fmla="*/ 41 h 51"/>
              <a:gd name="T30" fmla="*/ 526 w 526"/>
              <a:gd name="T31" fmla="*/ 34 h 51"/>
              <a:gd name="T32" fmla="*/ 526 w 526"/>
              <a:gd name="T33" fmla="*/ 28 h 51"/>
              <a:gd name="T34" fmla="*/ 2 w 526"/>
              <a:gd name="T35" fmla="*/ 0 h 51"/>
              <a:gd name="T36" fmla="*/ 0 w 526"/>
              <a:gd name="T37" fmla="*/ 6 h 51"/>
              <a:gd name="T38" fmla="*/ 0 w 526"/>
              <a:gd name="T39" fmla="*/ 11 h 51"/>
              <a:gd name="T40" fmla="*/ 0 w 526"/>
              <a:gd name="T41" fmla="*/ 18 h 51"/>
              <a:gd name="T42" fmla="*/ 0 w 526"/>
              <a:gd name="T43" fmla="*/ 24 h 51"/>
              <a:gd name="T44" fmla="*/ 0 w 526"/>
              <a:gd name="T45" fmla="*/ 31 h 51"/>
              <a:gd name="T46" fmla="*/ 0 w 526"/>
              <a:gd name="T47" fmla="*/ 38 h 51"/>
              <a:gd name="T48" fmla="*/ 0 w 526"/>
              <a:gd name="T49" fmla="*/ 44 h 51"/>
              <a:gd name="T50" fmla="*/ 0 w 526"/>
              <a:gd name="T51" fmla="*/ 51 h 51"/>
              <a:gd name="T52" fmla="*/ 3 w 526"/>
              <a:gd name="T53" fmla="*/ 48 h 51"/>
              <a:gd name="T54" fmla="*/ 3 w 526"/>
              <a:gd name="T55" fmla="*/ 41 h 51"/>
              <a:gd name="T56" fmla="*/ 3 w 526"/>
              <a:gd name="T57" fmla="*/ 34 h 51"/>
              <a:gd name="T58" fmla="*/ 3 w 526"/>
              <a:gd name="T59" fmla="*/ 28 h 51"/>
              <a:gd name="T60" fmla="*/ 3 w 526"/>
              <a:gd name="T61" fmla="*/ 21 h 51"/>
              <a:gd name="T62" fmla="*/ 3 w 526"/>
              <a:gd name="T63" fmla="*/ 14 h 51"/>
              <a:gd name="T64" fmla="*/ 3 w 526"/>
              <a:gd name="T65" fmla="*/ 9 h 51"/>
              <a:gd name="T66" fmla="*/ 3 w 526"/>
              <a:gd name="T67" fmla="*/ 3 h 51"/>
              <a:gd name="T68" fmla="*/ 2 w 52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6" h="51">
                <a:moveTo>
                  <a:pt x="526" y="24"/>
                </a:moveTo>
                <a:lnTo>
                  <a:pt x="526" y="21"/>
                </a:lnTo>
                <a:lnTo>
                  <a:pt x="526" y="18"/>
                </a:lnTo>
                <a:lnTo>
                  <a:pt x="526" y="14"/>
                </a:lnTo>
                <a:lnTo>
                  <a:pt x="526" y="11"/>
                </a:lnTo>
                <a:lnTo>
                  <a:pt x="526" y="9"/>
                </a:lnTo>
                <a:lnTo>
                  <a:pt x="526" y="6"/>
                </a:lnTo>
                <a:lnTo>
                  <a:pt x="526" y="3"/>
                </a:lnTo>
                <a:lnTo>
                  <a:pt x="526" y="0"/>
                </a:lnTo>
                <a:lnTo>
                  <a:pt x="523" y="0"/>
                </a:lnTo>
                <a:lnTo>
                  <a:pt x="523" y="3"/>
                </a:lnTo>
                <a:lnTo>
                  <a:pt x="523" y="6"/>
                </a:lnTo>
                <a:lnTo>
                  <a:pt x="523" y="9"/>
                </a:lnTo>
                <a:lnTo>
                  <a:pt x="523" y="11"/>
                </a:lnTo>
                <a:lnTo>
                  <a:pt x="523" y="14"/>
                </a:lnTo>
                <a:lnTo>
                  <a:pt x="523" y="18"/>
                </a:lnTo>
                <a:lnTo>
                  <a:pt x="523" y="21"/>
                </a:lnTo>
                <a:lnTo>
                  <a:pt x="523" y="24"/>
                </a:lnTo>
                <a:lnTo>
                  <a:pt x="523" y="28"/>
                </a:lnTo>
                <a:lnTo>
                  <a:pt x="523" y="31"/>
                </a:lnTo>
                <a:lnTo>
                  <a:pt x="523" y="34"/>
                </a:lnTo>
                <a:lnTo>
                  <a:pt x="523" y="38"/>
                </a:lnTo>
                <a:lnTo>
                  <a:pt x="523" y="41"/>
                </a:lnTo>
                <a:lnTo>
                  <a:pt x="523" y="44"/>
                </a:lnTo>
                <a:lnTo>
                  <a:pt x="523" y="48"/>
                </a:lnTo>
                <a:lnTo>
                  <a:pt x="523" y="51"/>
                </a:lnTo>
                <a:lnTo>
                  <a:pt x="526" y="51"/>
                </a:lnTo>
                <a:lnTo>
                  <a:pt x="526" y="48"/>
                </a:lnTo>
                <a:lnTo>
                  <a:pt x="526" y="44"/>
                </a:lnTo>
                <a:lnTo>
                  <a:pt x="526" y="41"/>
                </a:lnTo>
                <a:lnTo>
                  <a:pt x="526" y="38"/>
                </a:lnTo>
                <a:lnTo>
                  <a:pt x="526" y="34"/>
                </a:lnTo>
                <a:lnTo>
                  <a:pt x="526" y="31"/>
                </a:lnTo>
                <a:lnTo>
                  <a:pt x="526" y="28"/>
                </a:lnTo>
                <a:lnTo>
                  <a:pt x="52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93" name="Freeform 1698">
            <a:extLst>
              <a:ext uri="{FF2B5EF4-FFF2-40B4-BE49-F238E27FC236}">
                <a16:creationId xmlns:a16="http://schemas.microsoft.com/office/drawing/2014/main" id="{35969A6C-4274-315A-887E-DCE1A75A3CF3}"/>
              </a:ext>
            </a:extLst>
          </p:cNvPr>
          <p:cNvSpPr>
            <a:spLocks noEditPoints="1"/>
          </p:cNvSpPr>
          <p:nvPr/>
        </p:nvSpPr>
        <p:spPr bwMode="auto">
          <a:xfrm>
            <a:off x="2143125" y="2719388"/>
            <a:ext cx="830263" cy="80963"/>
          </a:xfrm>
          <a:custGeom>
            <a:avLst/>
            <a:gdLst>
              <a:gd name="T0" fmla="*/ 523 w 523"/>
              <a:gd name="T1" fmla="*/ 21 h 51"/>
              <a:gd name="T2" fmla="*/ 523 w 523"/>
              <a:gd name="T3" fmla="*/ 14 h 51"/>
              <a:gd name="T4" fmla="*/ 523 w 523"/>
              <a:gd name="T5" fmla="*/ 9 h 51"/>
              <a:gd name="T6" fmla="*/ 523 w 523"/>
              <a:gd name="T7" fmla="*/ 3 h 51"/>
              <a:gd name="T8" fmla="*/ 520 w 523"/>
              <a:gd name="T9" fmla="*/ 0 h 51"/>
              <a:gd name="T10" fmla="*/ 520 w 523"/>
              <a:gd name="T11" fmla="*/ 6 h 51"/>
              <a:gd name="T12" fmla="*/ 520 w 523"/>
              <a:gd name="T13" fmla="*/ 11 h 51"/>
              <a:gd name="T14" fmla="*/ 520 w 523"/>
              <a:gd name="T15" fmla="*/ 18 h 51"/>
              <a:gd name="T16" fmla="*/ 520 w 523"/>
              <a:gd name="T17" fmla="*/ 24 h 51"/>
              <a:gd name="T18" fmla="*/ 520 w 523"/>
              <a:gd name="T19" fmla="*/ 31 h 51"/>
              <a:gd name="T20" fmla="*/ 520 w 523"/>
              <a:gd name="T21" fmla="*/ 38 h 51"/>
              <a:gd name="T22" fmla="*/ 520 w 523"/>
              <a:gd name="T23" fmla="*/ 44 h 51"/>
              <a:gd name="T24" fmla="*/ 520 w 523"/>
              <a:gd name="T25" fmla="*/ 51 h 51"/>
              <a:gd name="T26" fmla="*/ 523 w 523"/>
              <a:gd name="T27" fmla="*/ 48 h 51"/>
              <a:gd name="T28" fmla="*/ 523 w 523"/>
              <a:gd name="T29" fmla="*/ 41 h 51"/>
              <a:gd name="T30" fmla="*/ 523 w 523"/>
              <a:gd name="T31" fmla="*/ 34 h 51"/>
              <a:gd name="T32" fmla="*/ 523 w 523"/>
              <a:gd name="T33" fmla="*/ 28 h 51"/>
              <a:gd name="T34" fmla="*/ 1 w 523"/>
              <a:gd name="T35" fmla="*/ 0 h 51"/>
              <a:gd name="T36" fmla="*/ 0 w 523"/>
              <a:gd name="T37" fmla="*/ 6 h 51"/>
              <a:gd name="T38" fmla="*/ 0 w 523"/>
              <a:gd name="T39" fmla="*/ 11 h 51"/>
              <a:gd name="T40" fmla="*/ 0 w 523"/>
              <a:gd name="T41" fmla="*/ 18 h 51"/>
              <a:gd name="T42" fmla="*/ 0 w 523"/>
              <a:gd name="T43" fmla="*/ 24 h 51"/>
              <a:gd name="T44" fmla="*/ 0 w 523"/>
              <a:gd name="T45" fmla="*/ 31 h 51"/>
              <a:gd name="T46" fmla="*/ 0 w 523"/>
              <a:gd name="T47" fmla="*/ 38 h 51"/>
              <a:gd name="T48" fmla="*/ 0 w 523"/>
              <a:gd name="T49" fmla="*/ 44 h 51"/>
              <a:gd name="T50" fmla="*/ 0 w 523"/>
              <a:gd name="T51" fmla="*/ 51 h 51"/>
              <a:gd name="T52" fmla="*/ 3 w 523"/>
              <a:gd name="T53" fmla="*/ 48 h 51"/>
              <a:gd name="T54" fmla="*/ 3 w 523"/>
              <a:gd name="T55" fmla="*/ 41 h 51"/>
              <a:gd name="T56" fmla="*/ 3 w 523"/>
              <a:gd name="T57" fmla="*/ 34 h 51"/>
              <a:gd name="T58" fmla="*/ 3 w 523"/>
              <a:gd name="T59" fmla="*/ 28 h 51"/>
              <a:gd name="T60" fmla="*/ 3 w 523"/>
              <a:gd name="T61" fmla="*/ 21 h 51"/>
              <a:gd name="T62" fmla="*/ 3 w 523"/>
              <a:gd name="T63" fmla="*/ 14 h 51"/>
              <a:gd name="T64" fmla="*/ 3 w 523"/>
              <a:gd name="T65" fmla="*/ 9 h 51"/>
              <a:gd name="T66" fmla="*/ 3 w 523"/>
              <a:gd name="T67" fmla="*/ 3 h 51"/>
              <a:gd name="T68" fmla="*/ 1 w 52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3" h="51">
                <a:moveTo>
                  <a:pt x="523" y="24"/>
                </a:moveTo>
                <a:lnTo>
                  <a:pt x="523" y="21"/>
                </a:lnTo>
                <a:lnTo>
                  <a:pt x="523" y="18"/>
                </a:lnTo>
                <a:lnTo>
                  <a:pt x="523" y="14"/>
                </a:lnTo>
                <a:lnTo>
                  <a:pt x="523" y="11"/>
                </a:lnTo>
                <a:lnTo>
                  <a:pt x="523" y="9"/>
                </a:lnTo>
                <a:lnTo>
                  <a:pt x="523" y="6"/>
                </a:lnTo>
                <a:lnTo>
                  <a:pt x="523" y="3"/>
                </a:lnTo>
                <a:lnTo>
                  <a:pt x="523" y="0"/>
                </a:lnTo>
                <a:lnTo>
                  <a:pt x="520" y="0"/>
                </a:lnTo>
                <a:lnTo>
                  <a:pt x="520" y="3"/>
                </a:lnTo>
                <a:lnTo>
                  <a:pt x="520" y="6"/>
                </a:lnTo>
                <a:lnTo>
                  <a:pt x="520" y="9"/>
                </a:lnTo>
                <a:lnTo>
                  <a:pt x="520" y="11"/>
                </a:lnTo>
                <a:lnTo>
                  <a:pt x="520" y="14"/>
                </a:lnTo>
                <a:lnTo>
                  <a:pt x="520" y="18"/>
                </a:lnTo>
                <a:lnTo>
                  <a:pt x="520" y="21"/>
                </a:lnTo>
                <a:lnTo>
                  <a:pt x="520" y="24"/>
                </a:lnTo>
                <a:lnTo>
                  <a:pt x="520" y="28"/>
                </a:lnTo>
                <a:lnTo>
                  <a:pt x="520" y="31"/>
                </a:lnTo>
                <a:lnTo>
                  <a:pt x="520" y="34"/>
                </a:lnTo>
                <a:lnTo>
                  <a:pt x="520" y="38"/>
                </a:lnTo>
                <a:lnTo>
                  <a:pt x="520" y="41"/>
                </a:lnTo>
                <a:lnTo>
                  <a:pt x="520" y="44"/>
                </a:lnTo>
                <a:lnTo>
                  <a:pt x="520" y="48"/>
                </a:lnTo>
                <a:lnTo>
                  <a:pt x="520" y="51"/>
                </a:lnTo>
                <a:lnTo>
                  <a:pt x="523" y="51"/>
                </a:lnTo>
                <a:lnTo>
                  <a:pt x="523" y="48"/>
                </a:lnTo>
                <a:lnTo>
                  <a:pt x="523" y="44"/>
                </a:lnTo>
                <a:lnTo>
                  <a:pt x="523" y="41"/>
                </a:lnTo>
                <a:lnTo>
                  <a:pt x="523" y="38"/>
                </a:lnTo>
                <a:lnTo>
                  <a:pt x="523" y="34"/>
                </a:lnTo>
                <a:lnTo>
                  <a:pt x="523" y="31"/>
                </a:lnTo>
                <a:lnTo>
                  <a:pt x="523" y="28"/>
                </a:lnTo>
                <a:lnTo>
                  <a:pt x="523"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4" y="0"/>
                </a:lnTo>
                <a:lnTo>
                  <a:pt x="1"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94" name="Freeform 1699">
            <a:extLst>
              <a:ext uri="{FF2B5EF4-FFF2-40B4-BE49-F238E27FC236}">
                <a16:creationId xmlns:a16="http://schemas.microsoft.com/office/drawing/2014/main" id="{38AC05E6-7157-F1F2-95C1-35D1D41AD7B5}"/>
              </a:ext>
            </a:extLst>
          </p:cNvPr>
          <p:cNvSpPr>
            <a:spLocks noEditPoints="1"/>
          </p:cNvSpPr>
          <p:nvPr/>
        </p:nvSpPr>
        <p:spPr bwMode="auto">
          <a:xfrm>
            <a:off x="2144713" y="2719388"/>
            <a:ext cx="825500" cy="80963"/>
          </a:xfrm>
          <a:custGeom>
            <a:avLst/>
            <a:gdLst>
              <a:gd name="T0" fmla="*/ 520 w 520"/>
              <a:gd name="T1" fmla="*/ 21 h 51"/>
              <a:gd name="T2" fmla="*/ 520 w 520"/>
              <a:gd name="T3" fmla="*/ 14 h 51"/>
              <a:gd name="T4" fmla="*/ 520 w 520"/>
              <a:gd name="T5" fmla="*/ 9 h 51"/>
              <a:gd name="T6" fmla="*/ 520 w 520"/>
              <a:gd name="T7" fmla="*/ 3 h 51"/>
              <a:gd name="T8" fmla="*/ 517 w 520"/>
              <a:gd name="T9" fmla="*/ 0 h 51"/>
              <a:gd name="T10" fmla="*/ 517 w 520"/>
              <a:gd name="T11" fmla="*/ 6 h 51"/>
              <a:gd name="T12" fmla="*/ 517 w 520"/>
              <a:gd name="T13" fmla="*/ 11 h 51"/>
              <a:gd name="T14" fmla="*/ 517 w 520"/>
              <a:gd name="T15" fmla="*/ 18 h 51"/>
              <a:gd name="T16" fmla="*/ 517 w 520"/>
              <a:gd name="T17" fmla="*/ 24 h 51"/>
              <a:gd name="T18" fmla="*/ 517 w 520"/>
              <a:gd name="T19" fmla="*/ 31 h 51"/>
              <a:gd name="T20" fmla="*/ 517 w 520"/>
              <a:gd name="T21" fmla="*/ 38 h 51"/>
              <a:gd name="T22" fmla="*/ 517 w 520"/>
              <a:gd name="T23" fmla="*/ 44 h 51"/>
              <a:gd name="T24" fmla="*/ 517 w 520"/>
              <a:gd name="T25" fmla="*/ 51 h 51"/>
              <a:gd name="T26" fmla="*/ 520 w 520"/>
              <a:gd name="T27" fmla="*/ 48 h 51"/>
              <a:gd name="T28" fmla="*/ 520 w 520"/>
              <a:gd name="T29" fmla="*/ 41 h 51"/>
              <a:gd name="T30" fmla="*/ 520 w 520"/>
              <a:gd name="T31" fmla="*/ 34 h 51"/>
              <a:gd name="T32" fmla="*/ 520 w 520"/>
              <a:gd name="T33" fmla="*/ 28 h 51"/>
              <a:gd name="T34" fmla="*/ 2 w 520"/>
              <a:gd name="T35" fmla="*/ 0 h 51"/>
              <a:gd name="T36" fmla="*/ 0 w 520"/>
              <a:gd name="T37" fmla="*/ 6 h 51"/>
              <a:gd name="T38" fmla="*/ 0 w 520"/>
              <a:gd name="T39" fmla="*/ 11 h 51"/>
              <a:gd name="T40" fmla="*/ 0 w 520"/>
              <a:gd name="T41" fmla="*/ 18 h 51"/>
              <a:gd name="T42" fmla="*/ 0 w 520"/>
              <a:gd name="T43" fmla="*/ 24 h 51"/>
              <a:gd name="T44" fmla="*/ 0 w 520"/>
              <a:gd name="T45" fmla="*/ 31 h 51"/>
              <a:gd name="T46" fmla="*/ 0 w 520"/>
              <a:gd name="T47" fmla="*/ 38 h 51"/>
              <a:gd name="T48" fmla="*/ 0 w 520"/>
              <a:gd name="T49" fmla="*/ 44 h 51"/>
              <a:gd name="T50" fmla="*/ 0 w 520"/>
              <a:gd name="T51" fmla="*/ 51 h 51"/>
              <a:gd name="T52" fmla="*/ 3 w 520"/>
              <a:gd name="T53" fmla="*/ 48 h 51"/>
              <a:gd name="T54" fmla="*/ 3 w 520"/>
              <a:gd name="T55" fmla="*/ 41 h 51"/>
              <a:gd name="T56" fmla="*/ 3 w 520"/>
              <a:gd name="T57" fmla="*/ 34 h 51"/>
              <a:gd name="T58" fmla="*/ 3 w 520"/>
              <a:gd name="T59" fmla="*/ 28 h 51"/>
              <a:gd name="T60" fmla="*/ 3 w 520"/>
              <a:gd name="T61" fmla="*/ 21 h 51"/>
              <a:gd name="T62" fmla="*/ 3 w 520"/>
              <a:gd name="T63" fmla="*/ 14 h 51"/>
              <a:gd name="T64" fmla="*/ 3 w 520"/>
              <a:gd name="T65" fmla="*/ 9 h 51"/>
              <a:gd name="T66" fmla="*/ 3 w 520"/>
              <a:gd name="T67" fmla="*/ 3 h 51"/>
              <a:gd name="T68" fmla="*/ 2 w 52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0" h="51">
                <a:moveTo>
                  <a:pt x="520" y="24"/>
                </a:moveTo>
                <a:lnTo>
                  <a:pt x="520" y="21"/>
                </a:lnTo>
                <a:lnTo>
                  <a:pt x="520" y="18"/>
                </a:lnTo>
                <a:lnTo>
                  <a:pt x="520" y="14"/>
                </a:lnTo>
                <a:lnTo>
                  <a:pt x="520" y="11"/>
                </a:lnTo>
                <a:lnTo>
                  <a:pt x="520" y="9"/>
                </a:lnTo>
                <a:lnTo>
                  <a:pt x="520" y="6"/>
                </a:lnTo>
                <a:lnTo>
                  <a:pt x="520" y="3"/>
                </a:lnTo>
                <a:lnTo>
                  <a:pt x="520" y="0"/>
                </a:lnTo>
                <a:lnTo>
                  <a:pt x="517" y="0"/>
                </a:lnTo>
                <a:lnTo>
                  <a:pt x="517" y="3"/>
                </a:lnTo>
                <a:lnTo>
                  <a:pt x="517" y="6"/>
                </a:lnTo>
                <a:lnTo>
                  <a:pt x="517" y="9"/>
                </a:lnTo>
                <a:lnTo>
                  <a:pt x="517" y="11"/>
                </a:lnTo>
                <a:lnTo>
                  <a:pt x="517" y="14"/>
                </a:lnTo>
                <a:lnTo>
                  <a:pt x="517" y="18"/>
                </a:lnTo>
                <a:lnTo>
                  <a:pt x="517" y="21"/>
                </a:lnTo>
                <a:lnTo>
                  <a:pt x="517" y="24"/>
                </a:lnTo>
                <a:lnTo>
                  <a:pt x="517" y="28"/>
                </a:lnTo>
                <a:lnTo>
                  <a:pt x="517" y="31"/>
                </a:lnTo>
                <a:lnTo>
                  <a:pt x="517" y="34"/>
                </a:lnTo>
                <a:lnTo>
                  <a:pt x="517" y="38"/>
                </a:lnTo>
                <a:lnTo>
                  <a:pt x="517" y="41"/>
                </a:lnTo>
                <a:lnTo>
                  <a:pt x="517" y="44"/>
                </a:lnTo>
                <a:lnTo>
                  <a:pt x="517" y="48"/>
                </a:lnTo>
                <a:lnTo>
                  <a:pt x="517" y="51"/>
                </a:lnTo>
                <a:lnTo>
                  <a:pt x="520" y="51"/>
                </a:lnTo>
                <a:lnTo>
                  <a:pt x="520" y="48"/>
                </a:lnTo>
                <a:lnTo>
                  <a:pt x="520" y="44"/>
                </a:lnTo>
                <a:lnTo>
                  <a:pt x="520" y="41"/>
                </a:lnTo>
                <a:lnTo>
                  <a:pt x="520" y="38"/>
                </a:lnTo>
                <a:lnTo>
                  <a:pt x="520" y="34"/>
                </a:lnTo>
                <a:lnTo>
                  <a:pt x="520" y="31"/>
                </a:lnTo>
                <a:lnTo>
                  <a:pt x="520" y="28"/>
                </a:lnTo>
                <a:lnTo>
                  <a:pt x="52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95" name="Freeform 1700">
            <a:extLst>
              <a:ext uri="{FF2B5EF4-FFF2-40B4-BE49-F238E27FC236}">
                <a16:creationId xmlns:a16="http://schemas.microsoft.com/office/drawing/2014/main" id="{424F3310-75EB-1CD8-21D0-4AF628554955}"/>
              </a:ext>
            </a:extLst>
          </p:cNvPr>
          <p:cNvSpPr>
            <a:spLocks noEditPoints="1"/>
          </p:cNvSpPr>
          <p:nvPr/>
        </p:nvSpPr>
        <p:spPr bwMode="auto">
          <a:xfrm>
            <a:off x="2147888" y="2719388"/>
            <a:ext cx="820738" cy="80963"/>
          </a:xfrm>
          <a:custGeom>
            <a:avLst/>
            <a:gdLst>
              <a:gd name="T0" fmla="*/ 517 w 517"/>
              <a:gd name="T1" fmla="*/ 21 h 51"/>
              <a:gd name="T2" fmla="*/ 517 w 517"/>
              <a:gd name="T3" fmla="*/ 14 h 51"/>
              <a:gd name="T4" fmla="*/ 517 w 517"/>
              <a:gd name="T5" fmla="*/ 9 h 51"/>
              <a:gd name="T6" fmla="*/ 517 w 517"/>
              <a:gd name="T7" fmla="*/ 3 h 51"/>
              <a:gd name="T8" fmla="*/ 513 w 517"/>
              <a:gd name="T9" fmla="*/ 0 h 51"/>
              <a:gd name="T10" fmla="*/ 513 w 517"/>
              <a:gd name="T11" fmla="*/ 6 h 51"/>
              <a:gd name="T12" fmla="*/ 513 w 517"/>
              <a:gd name="T13" fmla="*/ 11 h 51"/>
              <a:gd name="T14" fmla="*/ 513 w 517"/>
              <a:gd name="T15" fmla="*/ 18 h 51"/>
              <a:gd name="T16" fmla="*/ 513 w 517"/>
              <a:gd name="T17" fmla="*/ 24 h 51"/>
              <a:gd name="T18" fmla="*/ 513 w 517"/>
              <a:gd name="T19" fmla="*/ 31 h 51"/>
              <a:gd name="T20" fmla="*/ 513 w 517"/>
              <a:gd name="T21" fmla="*/ 38 h 51"/>
              <a:gd name="T22" fmla="*/ 513 w 517"/>
              <a:gd name="T23" fmla="*/ 44 h 51"/>
              <a:gd name="T24" fmla="*/ 513 w 517"/>
              <a:gd name="T25" fmla="*/ 51 h 51"/>
              <a:gd name="T26" fmla="*/ 517 w 517"/>
              <a:gd name="T27" fmla="*/ 48 h 51"/>
              <a:gd name="T28" fmla="*/ 517 w 517"/>
              <a:gd name="T29" fmla="*/ 41 h 51"/>
              <a:gd name="T30" fmla="*/ 517 w 517"/>
              <a:gd name="T31" fmla="*/ 34 h 51"/>
              <a:gd name="T32" fmla="*/ 517 w 517"/>
              <a:gd name="T33" fmla="*/ 28 h 51"/>
              <a:gd name="T34" fmla="*/ 1 w 517"/>
              <a:gd name="T35" fmla="*/ 0 h 51"/>
              <a:gd name="T36" fmla="*/ 0 w 517"/>
              <a:gd name="T37" fmla="*/ 6 h 51"/>
              <a:gd name="T38" fmla="*/ 0 w 517"/>
              <a:gd name="T39" fmla="*/ 11 h 51"/>
              <a:gd name="T40" fmla="*/ 0 w 517"/>
              <a:gd name="T41" fmla="*/ 18 h 51"/>
              <a:gd name="T42" fmla="*/ 0 w 517"/>
              <a:gd name="T43" fmla="*/ 24 h 51"/>
              <a:gd name="T44" fmla="*/ 0 w 517"/>
              <a:gd name="T45" fmla="*/ 31 h 51"/>
              <a:gd name="T46" fmla="*/ 0 w 517"/>
              <a:gd name="T47" fmla="*/ 38 h 51"/>
              <a:gd name="T48" fmla="*/ 0 w 517"/>
              <a:gd name="T49" fmla="*/ 44 h 51"/>
              <a:gd name="T50" fmla="*/ 0 w 517"/>
              <a:gd name="T51" fmla="*/ 51 h 51"/>
              <a:gd name="T52" fmla="*/ 3 w 517"/>
              <a:gd name="T53" fmla="*/ 48 h 51"/>
              <a:gd name="T54" fmla="*/ 3 w 517"/>
              <a:gd name="T55" fmla="*/ 41 h 51"/>
              <a:gd name="T56" fmla="*/ 3 w 517"/>
              <a:gd name="T57" fmla="*/ 34 h 51"/>
              <a:gd name="T58" fmla="*/ 3 w 517"/>
              <a:gd name="T59" fmla="*/ 28 h 51"/>
              <a:gd name="T60" fmla="*/ 3 w 517"/>
              <a:gd name="T61" fmla="*/ 21 h 51"/>
              <a:gd name="T62" fmla="*/ 3 w 517"/>
              <a:gd name="T63" fmla="*/ 14 h 51"/>
              <a:gd name="T64" fmla="*/ 3 w 517"/>
              <a:gd name="T65" fmla="*/ 9 h 51"/>
              <a:gd name="T66" fmla="*/ 3 w 517"/>
              <a:gd name="T67" fmla="*/ 3 h 51"/>
              <a:gd name="T68" fmla="*/ 1 w 51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7" h="51">
                <a:moveTo>
                  <a:pt x="517" y="24"/>
                </a:moveTo>
                <a:lnTo>
                  <a:pt x="517" y="21"/>
                </a:lnTo>
                <a:lnTo>
                  <a:pt x="517" y="18"/>
                </a:lnTo>
                <a:lnTo>
                  <a:pt x="517" y="14"/>
                </a:lnTo>
                <a:lnTo>
                  <a:pt x="517" y="11"/>
                </a:lnTo>
                <a:lnTo>
                  <a:pt x="517" y="9"/>
                </a:lnTo>
                <a:lnTo>
                  <a:pt x="517" y="6"/>
                </a:lnTo>
                <a:lnTo>
                  <a:pt x="517" y="3"/>
                </a:lnTo>
                <a:lnTo>
                  <a:pt x="517" y="0"/>
                </a:lnTo>
                <a:lnTo>
                  <a:pt x="513" y="0"/>
                </a:lnTo>
                <a:lnTo>
                  <a:pt x="513" y="3"/>
                </a:lnTo>
                <a:lnTo>
                  <a:pt x="513" y="6"/>
                </a:lnTo>
                <a:lnTo>
                  <a:pt x="513" y="9"/>
                </a:lnTo>
                <a:lnTo>
                  <a:pt x="513" y="11"/>
                </a:lnTo>
                <a:lnTo>
                  <a:pt x="513" y="14"/>
                </a:lnTo>
                <a:lnTo>
                  <a:pt x="513" y="18"/>
                </a:lnTo>
                <a:lnTo>
                  <a:pt x="513" y="21"/>
                </a:lnTo>
                <a:lnTo>
                  <a:pt x="513" y="24"/>
                </a:lnTo>
                <a:lnTo>
                  <a:pt x="513" y="28"/>
                </a:lnTo>
                <a:lnTo>
                  <a:pt x="513" y="31"/>
                </a:lnTo>
                <a:lnTo>
                  <a:pt x="513" y="34"/>
                </a:lnTo>
                <a:lnTo>
                  <a:pt x="513" y="38"/>
                </a:lnTo>
                <a:lnTo>
                  <a:pt x="513" y="41"/>
                </a:lnTo>
                <a:lnTo>
                  <a:pt x="513" y="44"/>
                </a:lnTo>
                <a:lnTo>
                  <a:pt x="513" y="48"/>
                </a:lnTo>
                <a:lnTo>
                  <a:pt x="513" y="51"/>
                </a:lnTo>
                <a:lnTo>
                  <a:pt x="517" y="51"/>
                </a:lnTo>
                <a:lnTo>
                  <a:pt x="517" y="48"/>
                </a:lnTo>
                <a:lnTo>
                  <a:pt x="517" y="44"/>
                </a:lnTo>
                <a:lnTo>
                  <a:pt x="517" y="41"/>
                </a:lnTo>
                <a:lnTo>
                  <a:pt x="517" y="38"/>
                </a:lnTo>
                <a:lnTo>
                  <a:pt x="517" y="34"/>
                </a:lnTo>
                <a:lnTo>
                  <a:pt x="517" y="31"/>
                </a:lnTo>
                <a:lnTo>
                  <a:pt x="517" y="28"/>
                </a:lnTo>
                <a:lnTo>
                  <a:pt x="51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96" name="Freeform 1701">
            <a:extLst>
              <a:ext uri="{FF2B5EF4-FFF2-40B4-BE49-F238E27FC236}">
                <a16:creationId xmlns:a16="http://schemas.microsoft.com/office/drawing/2014/main" id="{D071607A-8A23-28A3-6A3B-2FB0CD013C2A}"/>
              </a:ext>
            </a:extLst>
          </p:cNvPr>
          <p:cNvSpPr>
            <a:spLocks noEditPoints="1"/>
          </p:cNvSpPr>
          <p:nvPr/>
        </p:nvSpPr>
        <p:spPr bwMode="auto">
          <a:xfrm>
            <a:off x="2149475" y="2719388"/>
            <a:ext cx="815975" cy="80963"/>
          </a:xfrm>
          <a:custGeom>
            <a:avLst/>
            <a:gdLst>
              <a:gd name="T0" fmla="*/ 514 w 514"/>
              <a:gd name="T1" fmla="*/ 21 h 51"/>
              <a:gd name="T2" fmla="*/ 514 w 514"/>
              <a:gd name="T3" fmla="*/ 14 h 51"/>
              <a:gd name="T4" fmla="*/ 514 w 514"/>
              <a:gd name="T5" fmla="*/ 9 h 51"/>
              <a:gd name="T6" fmla="*/ 514 w 514"/>
              <a:gd name="T7" fmla="*/ 3 h 51"/>
              <a:gd name="T8" fmla="*/ 511 w 514"/>
              <a:gd name="T9" fmla="*/ 0 h 51"/>
              <a:gd name="T10" fmla="*/ 511 w 514"/>
              <a:gd name="T11" fmla="*/ 6 h 51"/>
              <a:gd name="T12" fmla="*/ 511 w 514"/>
              <a:gd name="T13" fmla="*/ 11 h 51"/>
              <a:gd name="T14" fmla="*/ 511 w 514"/>
              <a:gd name="T15" fmla="*/ 18 h 51"/>
              <a:gd name="T16" fmla="*/ 511 w 514"/>
              <a:gd name="T17" fmla="*/ 24 h 51"/>
              <a:gd name="T18" fmla="*/ 511 w 514"/>
              <a:gd name="T19" fmla="*/ 31 h 51"/>
              <a:gd name="T20" fmla="*/ 511 w 514"/>
              <a:gd name="T21" fmla="*/ 38 h 51"/>
              <a:gd name="T22" fmla="*/ 511 w 514"/>
              <a:gd name="T23" fmla="*/ 44 h 51"/>
              <a:gd name="T24" fmla="*/ 511 w 514"/>
              <a:gd name="T25" fmla="*/ 51 h 51"/>
              <a:gd name="T26" fmla="*/ 514 w 514"/>
              <a:gd name="T27" fmla="*/ 48 h 51"/>
              <a:gd name="T28" fmla="*/ 514 w 514"/>
              <a:gd name="T29" fmla="*/ 41 h 51"/>
              <a:gd name="T30" fmla="*/ 514 w 514"/>
              <a:gd name="T31" fmla="*/ 34 h 51"/>
              <a:gd name="T32" fmla="*/ 514 w 514"/>
              <a:gd name="T33" fmla="*/ 28 h 51"/>
              <a:gd name="T34" fmla="*/ 2 w 514"/>
              <a:gd name="T35" fmla="*/ 0 h 51"/>
              <a:gd name="T36" fmla="*/ 0 w 514"/>
              <a:gd name="T37" fmla="*/ 6 h 51"/>
              <a:gd name="T38" fmla="*/ 0 w 514"/>
              <a:gd name="T39" fmla="*/ 11 h 51"/>
              <a:gd name="T40" fmla="*/ 0 w 514"/>
              <a:gd name="T41" fmla="*/ 18 h 51"/>
              <a:gd name="T42" fmla="*/ 0 w 514"/>
              <a:gd name="T43" fmla="*/ 24 h 51"/>
              <a:gd name="T44" fmla="*/ 0 w 514"/>
              <a:gd name="T45" fmla="*/ 31 h 51"/>
              <a:gd name="T46" fmla="*/ 0 w 514"/>
              <a:gd name="T47" fmla="*/ 38 h 51"/>
              <a:gd name="T48" fmla="*/ 0 w 514"/>
              <a:gd name="T49" fmla="*/ 44 h 51"/>
              <a:gd name="T50" fmla="*/ 0 w 514"/>
              <a:gd name="T51" fmla="*/ 51 h 51"/>
              <a:gd name="T52" fmla="*/ 4 w 514"/>
              <a:gd name="T53" fmla="*/ 48 h 51"/>
              <a:gd name="T54" fmla="*/ 4 w 514"/>
              <a:gd name="T55" fmla="*/ 41 h 51"/>
              <a:gd name="T56" fmla="*/ 4 w 514"/>
              <a:gd name="T57" fmla="*/ 34 h 51"/>
              <a:gd name="T58" fmla="*/ 4 w 514"/>
              <a:gd name="T59" fmla="*/ 28 h 51"/>
              <a:gd name="T60" fmla="*/ 4 w 514"/>
              <a:gd name="T61" fmla="*/ 21 h 51"/>
              <a:gd name="T62" fmla="*/ 4 w 514"/>
              <a:gd name="T63" fmla="*/ 14 h 51"/>
              <a:gd name="T64" fmla="*/ 4 w 514"/>
              <a:gd name="T65" fmla="*/ 9 h 51"/>
              <a:gd name="T66" fmla="*/ 4 w 514"/>
              <a:gd name="T67" fmla="*/ 3 h 51"/>
              <a:gd name="T68" fmla="*/ 2 w 51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4" h="51">
                <a:moveTo>
                  <a:pt x="514" y="24"/>
                </a:moveTo>
                <a:lnTo>
                  <a:pt x="514" y="21"/>
                </a:lnTo>
                <a:lnTo>
                  <a:pt x="514" y="18"/>
                </a:lnTo>
                <a:lnTo>
                  <a:pt x="514" y="14"/>
                </a:lnTo>
                <a:lnTo>
                  <a:pt x="514" y="11"/>
                </a:lnTo>
                <a:lnTo>
                  <a:pt x="514" y="9"/>
                </a:lnTo>
                <a:lnTo>
                  <a:pt x="514" y="6"/>
                </a:lnTo>
                <a:lnTo>
                  <a:pt x="514" y="3"/>
                </a:lnTo>
                <a:lnTo>
                  <a:pt x="514" y="0"/>
                </a:lnTo>
                <a:lnTo>
                  <a:pt x="511" y="0"/>
                </a:lnTo>
                <a:lnTo>
                  <a:pt x="511" y="3"/>
                </a:lnTo>
                <a:lnTo>
                  <a:pt x="511" y="6"/>
                </a:lnTo>
                <a:lnTo>
                  <a:pt x="511" y="9"/>
                </a:lnTo>
                <a:lnTo>
                  <a:pt x="511" y="11"/>
                </a:lnTo>
                <a:lnTo>
                  <a:pt x="511" y="14"/>
                </a:lnTo>
                <a:lnTo>
                  <a:pt x="511" y="18"/>
                </a:lnTo>
                <a:lnTo>
                  <a:pt x="511" y="21"/>
                </a:lnTo>
                <a:lnTo>
                  <a:pt x="511" y="24"/>
                </a:lnTo>
                <a:lnTo>
                  <a:pt x="511" y="28"/>
                </a:lnTo>
                <a:lnTo>
                  <a:pt x="511" y="31"/>
                </a:lnTo>
                <a:lnTo>
                  <a:pt x="511" y="34"/>
                </a:lnTo>
                <a:lnTo>
                  <a:pt x="511" y="38"/>
                </a:lnTo>
                <a:lnTo>
                  <a:pt x="511" y="41"/>
                </a:lnTo>
                <a:lnTo>
                  <a:pt x="511" y="44"/>
                </a:lnTo>
                <a:lnTo>
                  <a:pt x="511" y="48"/>
                </a:lnTo>
                <a:lnTo>
                  <a:pt x="511" y="51"/>
                </a:lnTo>
                <a:lnTo>
                  <a:pt x="514" y="51"/>
                </a:lnTo>
                <a:lnTo>
                  <a:pt x="514" y="48"/>
                </a:lnTo>
                <a:lnTo>
                  <a:pt x="514" y="44"/>
                </a:lnTo>
                <a:lnTo>
                  <a:pt x="514" y="41"/>
                </a:lnTo>
                <a:lnTo>
                  <a:pt x="514" y="38"/>
                </a:lnTo>
                <a:lnTo>
                  <a:pt x="514" y="34"/>
                </a:lnTo>
                <a:lnTo>
                  <a:pt x="514" y="31"/>
                </a:lnTo>
                <a:lnTo>
                  <a:pt x="514" y="28"/>
                </a:lnTo>
                <a:lnTo>
                  <a:pt x="51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97" name="Freeform 1702">
            <a:extLst>
              <a:ext uri="{FF2B5EF4-FFF2-40B4-BE49-F238E27FC236}">
                <a16:creationId xmlns:a16="http://schemas.microsoft.com/office/drawing/2014/main" id="{087D8373-267E-E408-EA08-79780D070DF9}"/>
              </a:ext>
            </a:extLst>
          </p:cNvPr>
          <p:cNvSpPr>
            <a:spLocks noEditPoints="1"/>
          </p:cNvSpPr>
          <p:nvPr/>
        </p:nvSpPr>
        <p:spPr bwMode="auto">
          <a:xfrm>
            <a:off x="2152650" y="2719388"/>
            <a:ext cx="809625" cy="80963"/>
          </a:xfrm>
          <a:custGeom>
            <a:avLst/>
            <a:gdLst>
              <a:gd name="T0" fmla="*/ 510 w 510"/>
              <a:gd name="T1" fmla="*/ 21 h 51"/>
              <a:gd name="T2" fmla="*/ 510 w 510"/>
              <a:gd name="T3" fmla="*/ 14 h 51"/>
              <a:gd name="T4" fmla="*/ 510 w 510"/>
              <a:gd name="T5" fmla="*/ 9 h 51"/>
              <a:gd name="T6" fmla="*/ 510 w 510"/>
              <a:gd name="T7" fmla="*/ 3 h 51"/>
              <a:gd name="T8" fmla="*/ 507 w 510"/>
              <a:gd name="T9" fmla="*/ 0 h 51"/>
              <a:gd name="T10" fmla="*/ 507 w 510"/>
              <a:gd name="T11" fmla="*/ 6 h 51"/>
              <a:gd name="T12" fmla="*/ 507 w 510"/>
              <a:gd name="T13" fmla="*/ 11 h 51"/>
              <a:gd name="T14" fmla="*/ 507 w 510"/>
              <a:gd name="T15" fmla="*/ 18 h 51"/>
              <a:gd name="T16" fmla="*/ 507 w 510"/>
              <a:gd name="T17" fmla="*/ 24 h 51"/>
              <a:gd name="T18" fmla="*/ 507 w 510"/>
              <a:gd name="T19" fmla="*/ 31 h 51"/>
              <a:gd name="T20" fmla="*/ 507 w 510"/>
              <a:gd name="T21" fmla="*/ 38 h 51"/>
              <a:gd name="T22" fmla="*/ 507 w 510"/>
              <a:gd name="T23" fmla="*/ 44 h 51"/>
              <a:gd name="T24" fmla="*/ 507 w 510"/>
              <a:gd name="T25" fmla="*/ 51 h 51"/>
              <a:gd name="T26" fmla="*/ 510 w 510"/>
              <a:gd name="T27" fmla="*/ 48 h 51"/>
              <a:gd name="T28" fmla="*/ 510 w 510"/>
              <a:gd name="T29" fmla="*/ 41 h 51"/>
              <a:gd name="T30" fmla="*/ 510 w 510"/>
              <a:gd name="T31" fmla="*/ 34 h 51"/>
              <a:gd name="T32" fmla="*/ 510 w 510"/>
              <a:gd name="T33" fmla="*/ 28 h 51"/>
              <a:gd name="T34" fmla="*/ 2 w 510"/>
              <a:gd name="T35" fmla="*/ 0 h 51"/>
              <a:gd name="T36" fmla="*/ 0 w 510"/>
              <a:gd name="T37" fmla="*/ 6 h 51"/>
              <a:gd name="T38" fmla="*/ 0 w 510"/>
              <a:gd name="T39" fmla="*/ 11 h 51"/>
              <a:gd name="T40" fmla="*/ 0 w 510"/>
              <a:gd name="T41" fmla="*/ 18 h 51"/>
              <a:gd name="T42" fmla="*/ 0 w 510"/>
              <a:gd name="T43" fmla="*/ 24 h 51"/>
              <a:gd name="T44" fmla="*/ 0 w 510"/>
              <a:gd name="T45" fmla="*/ 31 h 51"/>
              <a:gd name="T46" fmla="*/ 0 w 510"/>
              <a:gd name="T47" fmla="*/ 38 h 51"/>
              <a:gd name="T48" fmla="*/ 0 w 510"/>
              <a:gd name="T49" fmla="*/ 44 h 51"/>
              <a:gd name="T50" fmla="*/ 0 w 510"/>
              <a:gd name="T51" fmla="*/ 51 h 51"/>
              <a:gd name="T52" fmla="*/ 3 w 510"/>
              <a:gd name="T53" fmla="*/ 48 h 51"/>
              <a:gd name="T54" fmla="*/ 3 w 510"/>
              <a:gd name="T55" fmla="*/ 41 h 51"/>
              <a:gd name="T56" fmla="*/ 3 w 510"/>
              <a:gd name="T57" fmla="*/ 34 h 51"/>
              <a:gd name="T58" fmla="*/ 3 w 510"/>
              <a:gd name="T59" fmla="*/ 28 h 51"/>
              <a:gd name="T60" fmla="*/ 3 w 510"/>
              <a:gd name="T61" fmla="*/ 21 h 51"/>
              <a:gd name="T62" fmla="*/ 3 w 510"/>
              <a:gd name="T63" fmla="*/ 14 h 51"/>
              <a:gd name="T64" fmla="*/ 3 w 510"/>
              <a:gd name="T65" fmla="*/ 9 h 51"/>
              <a:gd name="T66" fmla="*/ 3 w 510"/>
              <a:gd name="T67" fmla="*/ 3 h 51"/>
              <a:gd name="T68" fmla="*/ 2 w 51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10" h="51">
                <a:moveTo>
                  <a:pt x="510" y="24"/>
                </a:moveTo>
                <a:lnTo>
                  <a:pt x="510" y="21"/>
                </a:lnTo>
                <a:lnTo>
                  <a:pt x="510" y="18"/>
                </a:lnTo>
                <a:lnTo>
                  <a:pt x="510" y="14"/>
                </a:lnTo>
                <a:lnTo>
                  <a:pt x="510" y="11"/>
                </a:lnTo>
                <a:lnTo>
                  <a:pt x="510" y="9"/>
                </a:lnTo>
                <a:lnTo>
                  <a:pt x="510" y="6"/>
                </a:lnTo>
                <a:lnTo>
                  <a:pt x="510" y="3"/>
                </a:lnTo>
                <a:lnTo>
                  <a:pt x="510" y="0"/>
                </a:lnTo>
                <a:lnTo>
                  <a:pt x="507" y="0"/>
                </a:lnTo>
                <a:lnTo>
                  <a:pt x="507" y="3"/>
                </a:lnTo>
                <a:lnTo>
                  <a:pt x="507" y="6"/>
                </a:lnTo>
                <a:lnTo>
                  <a:pt x="507" y="9"/>
                </a:lnTo>
                <a:lnTo>
                  <a:pt x="507" y="11"/>
                </a:lnTo>
                <a:lnTo>
                  <a:pt x="507" y="14"/>
                </a:lnTo>
                <a:lnTo>
                  <a:pt x="507" y="18"/>
                </a:lnTo>
                <a:lnTo>
                  <a:pt x="507" y="21"/>
                </a:lnTo>
                <a:lnTo>
                  <a:pt x="507" y="24"/>
                </a:lnTo>
                <a:lnTo>
                  <a:pt x="507" y="28"/>
                </a:lnTo>
                <a:lnTo>
                  <a:pt x="507" y="31"/>
                </a:lnTo>
                <a:lnTo>
                  <a:pt x="507" y="34"/>
                </a:lnTo>
                <a:lnTo>
                  <a:pt x="507" y="38"/>
                </a:lnTo>
                <a:lnTo>
                  <a:pt x="507" y="41"/>
                </a:lnTo>
                <a:lnTo>
                  <a:pt x="507" y="44"/>
                </a:lnTo>
                <a:lnTo>
                  <a:pt x="507" y="48"/>
                </a:lnTo>
                <a:lnTo>
                  <a:pt x="507" y="51"/>
                </a:lnTo>
                <a:lnTo>
                  <a:pt x="510" y="51"/>
                </a:lnTo>
                <a:lnTo>
                  <a:pt x="510" y="48"/>
                </a:lnTo>
                <a:lnTo>
                  <a:pt x="510" y="44"/>
                </a:lnTo>
                <a:lnTo>
                  <a:pt x="510" y="41"/>
                </a:lnTo>
                <a:lnTo>
                  <a:pt x="510" y="38"/>
                </a:lnTo>
                <a:lnTo>
                  <a:pt x="510" y="34"/>
                </a:lnTo>
                <a:lnTo>
                  <a:pt x="510" y="31"/>
                </a:lnTo>
                <a:lnTo>
                  <a:pt x="510" y="28"/>
                </a:lnTo>
                <a:lnTo>
                  <a:pt x="51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98" name="Freeform 1703">
            <a:extLst>
              <a:ext uri="{FF2B5EF4-FFF2-40B4-BE49-F238E27FC236}">
                <a16:creationId xmlns:a16="http://schemas.microsoft.com/office/drawing/2014/main" id="{500EEEDD-A59B-873E-7D67-293E08C2BC6D}"/>
              </a:ext>
            </a:extLst>
          </p:cNvPr>
          <p:cNvSpPr>
            <a:spLocks noEditPoints="1"/>
          </p:cNvSpPr>
          <p:nvPr/>
        </p:nvSpPr>
        <p:spPr bwMode="auto">
          <a:xfrm>
            <a:off x="2155825" y="2719388"/>
            <a:ext cx="804863" cy="80963"/>
          </a:xfrm>
          <a:custGeom>
            <a:avLst/>
            <a:gdLst>
              <a:gd name="T0" fmla="*/ 507 w 507"/>
              <a:gd name="T1" fmla="*/ 21 h 51"/>
              <a:gd name="T2" fmla="*/ 507 w 507"/>
              <a:gd name="T3" fmla="*/ 14 h 51"/>
              <a:gd name="T4" fmla="*/ 507 w 507"/>
              <a:gd name="T5" fmla="*/ 9 h 51"/>
              <a:gd name="T6" fmla="*/ 507 w 507"/>
              <a:gd name="T7" fmla="*/ 3 h 51"/>
              <a:gd name="T8" fmla="*/ 503 w 507"/>
              <a:gd name="T9" fmla="*/ 0 h 51"/>
              <a:gd name="T10" fmla="*/ 503 w 507"/>
              <a:gd name="T11" fmla="*/ 6 h 51"/>
              <a:gd name="T12" fmla="*/ 503 w 507"/>
              <a:gd name="T13" fmla="*/ 11 h 51"/>
              <a:gd name="T14" fmla="*/ 503 w 507"/>
              <a:gd name="T15" fmla="*/ 18 h 51"/>
              <a:gd name="T16" fmla="*/ 503 w 507"/>
              <a:gd name="T17" fmla="*/ 24 h 51"/>
              <a:gd name="T18" fmla="*/ 503 w 507"/>
              <a:gd name="T19" fmla="*/ 31 h 51"/>
              <a:gd name="T20" fmla="*/ 503 w 507"/>
              <a:gd name="T21" fmla="*/ 38 h 51"/>
              <a:gd name="T22" fmla="*/ 503 w 507"/>
              <a:gd name="T23" fmla="*/ 44 h 51"/>
              <a:gd name="T24" fmla="*/ 503 w 507"/>
              <a:gd name="T25" fmla="*/ 51 h 51"/>
              <a:gd name="T26" fmla="*/ 507 w 507"/>
              <a:gd name="T27" fmla="*/ 48 h 51"/>
              <a:gd name="T28" fmla="*/ 507 w 507"/>
              <a:gd name="T29" fmla="*/ 41 h 51"/>
              <a:gd name="T30" fmla="*/ 507 w 507"/>
              <a:gd name="T31" fmla="*/ 34 h 51"/>
              <a:gd name="T32" fmla="*/ 507 w 507"/>
              <a:gd name="T33" fmla="*/ 28 h 51"/>
              <a:gd name="T34" fmla="*/ 1 w 507"/>
              <a:gd name="T35" fmla="*/ 0 h 51"/>
              <a:gd name="T36" fmla="*/ 0 w 507"/>
              <a:gd name="T37" fmla="*/ 6 h 51"/>
              <a:gd name="T38" fmla="*/ 0 w 507"/>
              <a:gd name="T39" fmla="*/ 11 h 51"/>
              <a:gd name="T40" fmla="*/ 0 w 507"/>
              <a:gd name="T41" fmla="*/ 18 h 51"/>
              <a:gd name="T42" fmla="*/ 0 w 507"/>
              <a:gd name="T43" fmla="*/ 24 h 51"/>
              <a:gd name="T44" fmla="*/ 0 w 507"/>
              <a:gd name="T45" fmla="*/ 31 h 51"/>
              <a:gd name="T46" fmla="*/ 0 w 507"/>
              <a:gd name="T47" fmla="*/ 38 h 51"/>
              <a:gd name="T48" fmla="*/ 0 w 507"/>
              <a:gd name="T49" fmla="*/ 44 h 51"/>
              <a:gd name="T50" fmla="*/ 0 w 507"/>
              <a:gd name="T51" fmla="*/ 51 h 51"/>
              <a:gd name="T52" fmla="*/ 3 w 507"/>
              <a:gd name="T53" fmla="*/ 48 h 51"/>
              <a:gd name="T54" fmla="*/ 3 w 507"/>
              <a:gd name="T55" fmla="*/ 41 h 51"/>
              <a:gd name="T56" fmla="*/ 3 w 507"/>
              <a:gd name="T57" fmla="*/ 34 h 51"/>
              <a:gd name="T58" fmla="*/ 3 w 507"/>
              <a:gd name="T59" fmla="*/ 28 h 51"/>
              <a:gd name="T60" fmla="*/ 3 w 507"/>
              <a:gd name="T61" fmla="*/ 21 h 51"/>
              <a:gd name="T62" fmla="*/ 3 w 507"/>
              <a:gd name="T63" fmla="*/ 14 h 51"/>
              <a:gd name="T64" fmla="*/ 3 w 507"/>
              <a:gd name="T65" fmla="*/ 9 h 51"/>
              <a:gd name="T66" fmla="*/ 3 w 507"/>
              <a:gd name="T67" fmla="*/ 3 h 51"/>
              <a:gd name="T68" fmla="*/ 1 w 50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7" h="51">
                <a:moveTo>
                  <a:pt x="507" y="24"/>
                </a:moveTo>
                <a:lnTo>
                  <a:pt x="507" y="21"/>
                </a:lnTo>
                <a:lnTo>
                  <a:pt x="507" y="18"/>
                </a:lnTo>
                <a:lnTo>
                  <a:pt x="507" y="14"/>
                </a:lnTo>
                <a:lnTo>
                  <a:pt x="507" y="11"/>
                </a:lnTo>
                <a:lnTo>
                  <a:pt x="507" y="9"/>
                </a:lnTo>
                <a:lnTo>
                  <a:pt x="507" y="6"/>
                </a:lnTo>
                <a:lnTo>
                  <a:pt x="507" y="3"/>
                </a:lnTo>
                <a:lnTo>
                  <a:pt x="507" y="0"/>
                </a:lnTo>
                <a:lnTo>
                  <a:pt x="503" y="0"/>
                </a:lnTo>
                <a:lnTo>
                  <a:pt x="503" y="3"/>
                </a:lnTo>
                <a:lnTo>
                  <a:pt x="503" y="6"/>
                </a:lnTo>
                <a:lnTo>
                  <a:pt x="503" y="9"/>
                </a:lnTo>
                <a:lnTo>
                  <a:pt x="503" y="11"/>
                </a:lnTo>
                <a:lnTo>
                  <a:pt x="503" y="14"/>
                </a:lnTo>
                <a:lnTo>
                  <a:pt x="503" y="18"/>
                </a:lnTo>
                <a:lnTo>
                  <a:pt x="503" y="21"/>
                </a:lnTo>
                <a:lnTo>
                  <a:pt x="503" y="24"/>
                </a:lnTo>
                <a:lnTo>
                  <a:pt x="503" y="28"/>
                </a:lnTo>
                <a:lnTo>
                  <a:pt x="503" y="31"/>
                </a:lnTo>
                <a:lnTo>
                  <a:pt x="503" y="34"/>
                </a:lnTo>
                <a:lnTo>
                  <a:pt x="503" y="38"/>
                </a:lnTo>
                <a:lnTo>
                  <a:pt x="503" y="41"/>
                </a:lnTo>
                <a:lnTo>
                  <a:pt x="503" y="44"/>
                </a:lnTo>
                <a:lnTo>
                  <a:pt x="503" y="48"/>
                </a:lnTo>
                <a:lnTo>
                  <a:pt x="503" y="51"/>
                </a:lnTo>
                <a:lnTo>
                  <a:pt x="507" y="51"/>
                </a:lnTo>
                <a:lnTo>
                  <a:pt x="507" y="48"/>
                </a:lnTo>
                <a:lnTo>
                  <a:pt x="507" y="44"/>
                </a:lnTo>
                <a:lnTo>
                  <a:pt x="507" y="41"/>
                </a:lnTo>
                <a:lnTo>
                  <a:pt x="507" y="38"/>
                </a:lnTo>
                <a:lnTo>
                  <a:pt x="507" y="34"/>
                </a:lnTo>
                <a:lnTo>
                  <a:pt x="507" y="31"/>
                </a:lnTo>
                <a:lnTo>
                  <a:pt x="507" y="28"/>
                </a:lnTo>
                <a:lnTo>
                  <a:pt x="50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499" name="Freeform 1704">
            <a:extLst>
              <a:ext uri="{FF2B5EF4-FFF2-40B4-BE49-F238E27FC236}">
                <a16:creationId xmlns:a16="http://schemas.microsoft.com/office/drawing/2014/main" id="{8A7D39B5-61AA-33F1-72C4-0139BD464036}"/>
              </a:ext>
            </a:extLst>
          </p:cNvPr>
          <p:cNvSpPr>
            <a:spLocks noEditPoints="1"/>
          </p:cNvSpPr>
          <p:nvPr/>
        </p:nvSpPr>
        <p:spPr bwMode="auto">
          <a:xfrm>
            <a:off x="2157413" y="2719388"/>
            <a:ext cx="800100" cy="80963"/>
          </a:xfrm>
          <a:custGeom>
            <a:avLst/>
            <a:gdLst>
              <a:gd name="T0" fmla="*/ 504 w 504"/>
              <a:gd name="T1" fmla="*/ 21 h 51"/>
              <a:gd name="T2" fmla="*/ 504 w 504"/>
              <a:gd name="T3" fmla="*/ 14 h 51"/>
              <a:gd name="T4" fmla="*/ 504 w 504"/>
              <a:gd name="T5" fmla="*/ 9 h 51"/>
              <a:gd name="T6" fmla="*/ 504 w 504"/>
              <a:gd name="T7" fmla="*/ 3 h 51"/>
              <a:gd name="T8" fmla="*/ 501 w 504"/>
              <a:gd name="T9" fmla="*/ 0 h 51"/>
              <a:gd name="T10" fmla="*/ 501 w 504"/>
              <a:gd name="T11" fmla="*/ 6 h 51"/>
              <a:gd name="T12" fmla="*/ 501 w 504"/>
              <a:gd name="T13" fmla="*/ 11 h 51"/>
              <a:gd name="T14" fmla="*/ 501 w 504"/>
              <a:gd name="T15" fmla="*/ 18 h 51"/>
              <a:gd name="T16" fmla="*/ 501 w 504"/>
              <a:gd name="T17" fmla="*/ 24 h 51"/>
              <a:gd name="T18" fmla="*/ 501 w 504"/>
              <a:gd name="T19" fmla="*/ 31 h 51"/>
              <a:gd name="T20" fmla="*/ 501 w 504"/>
              <a:gd name="T21" fmla="*/ 38 h 51"/>
              <a:gd name="T22" fmla="*/ 501 w 504"/>
              <a:gd name="T23" fmla="*/ 44 h 51"/>
              <a:gd name="T24" fmla="*/ 501 w 504"/>
              <a:gd name="T25" fmla="*/ 51 h 51"/>
              <a:gd name="T26" fmla="*/ 504 w 504"/>
              <a:gd name="T27" fmla="*/ 48 h 51"/>
              <a:gd name="T28" fmla="*/ 504 w 504"/>
              <a:gd name="T29" fmla="*/ 41 h 51"/>
              <a:gd name="T30" fmla="*/ 504 w 504"/>
              <a:gd name="T31" fmla="*/ 34 h 51"/>
              <a:gd name="T32" fmla="*/ 504 w 504"/>
              <a:gd name="T33" fmla="*/ 28 h 51"/>
              <a:gd name="T34" fmla="*/ 2 w 504"/>
              <a:gd name="T35" fmla="*/ 0 h 51"/>
              <a:gd name="T36" fmla="*/ 0 w 504"/>
              <a:gd name="T37" fmla="*/ 6 h 51"/>
              <a:gd name="T38" fmla="*/ 0 w 504"/>
              <a:gd name="T39" fmla="*/ 11 h 51"/>
              <a:gd name="T40" fmla="*/ 0 w 504"/>
              <a:gd name="T41" fmla="*/ 18 h 51"/>
              <a:gd name="T42" fmla="*/ 0 w 504"/>
              <a:gd name="T43" fmla="*/ 24 h 51"/>
              <a:gd name="T44" fmla="*/ 0 w 504"/>
              <a:gd name="T45" fmla="*/ 31 h 51"/>
              <a:gd name="T46" fmla="*/ 0 w 504"/>
              <a:gd name="T47" fmla="*/ 38 h 51"/>
              <a:gd name="T48" fmla="*/ 0 w 504"/>
              <a:gd name="T49" fmla="*/ 44 h 51"/>
              <a:gd name="T50" fmla="*/ 0 w 504"/>
              <a:gd name="T51" fmla="*/ 51 h 51"/>
              <a:gd name="T52" fmla="*/ 4 w 504"/>
              <a:gd name="T53" fmla="*/ 48 h 51"/>
              <a:gd name="T54" fmla="*/ 4 w 504"/>
              <a:gd name="T55" fmla="*/ 41 h 51"/>
              <a:gd name="T56" fmla="*/ 4 w 504"/>
              <a:gd name="T57" fmla="*/ 34 h 51"/>
              <a:gd name="T58" fmla="*/ 4 w 504"/>
              <a:gd name="T59" fmla="*/ 28 h 51"/>
              <a:gd name="T60" fmla="*/ 4 w 504"/>
              <a:gd name="T61" fmla="*/ 21 h 51"/>
              <a:gd name="T62" fmla="*/ 4 w 504"/>
              <a:gd name="T63" fmla="*/ 14 h 51"/>
              <a:gd name="T64" fmla="*/ 4 w 504"/>
              <a:gd name="T65" fmla="*/ 9 h 51"/>
              <a:gd name="T66" fmla="*/ 4 w 504"/>
              <a:gd name="T67" fmla="*/ 3 h 51"/>
              <a:gd name="T68" fmla="*/ 2 w 50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4" h="51">
                <a:moveTo>
                  <a:pt x="504" y="24"/>
                </a:moveTo>
                <a:lnTo>
                  <a:pt x="504" y="21"/>
                </a:lnTo>
                <a:lnTo>
                  <a:pt x="504" y="18"/>
                </a:lnTo>
                <a:lnTo>
                  <a:pt x="504" y="14"/>
                </a:lnTo>
                <a:lnTo>
                  <a:pt x="504" y="11"/>
                </a:lnTo>
                <a:lnTo>
                  <a:pt x="504" y="9"/>
                </a:lnTo>
                <a:lnTo>
                  <a:pt x="504" y="6"/>
                </a:lnTo>
                <a:lnTo>
                  <a:pt x="504" y="3"/>
                </a:lnTo>
                <a:lnTo>
                  <a:pt x="504" y="0"/>
                </a:lnTo>
                <a:lnTo>
                  <a:pt x="501" y="0"/>
                </a:lnTo>
                <a:lnTo>
                  <a:pt x="501" y="3"/>
                </a:lnTo>
                <a:lnTo>
                  <a:pt x="501" y="6"/>
                </a:lnTo>
                <a:lnTo>
                  <a:pt x="501" y="9"/>
                </a:lnTo>
                <a:lnTo>
                  <a:pt x="501" y="11"/>
                </a:lnTo>
                <a:lnTo>
                  <a:pt x="501" y="14"/>
                </a:lnTo>
                <a:lnTo>
                  <a:pt x="501" y="18"/>
                </a:lnTo>
                <a:lnTo>
                  <a:pt x="501" y="21"/>
                </a:lnTo>
                <a:lnTo>
                  <a:pt x="501" y="24"/>
                </a:lnTo>
                <a:lnTo>
                  <a:pt x="501" y="28"/>
                </a:lnTo>
                <a:lnTo>
                  <a:pt x="501" y="31"/>
                </a:lnTo>
                <a:lnTo>
                  <a:pt x="501" y="34"/>
                </a:lnTo>
                <a:lnTo>
                  <a:pt x="501" y="38"/>
                </a:lnTo>
                <a:lnTo>
                  <a:pt x="501" y="41"/>
                </a:lnTo>
                <a:lnTo>
                  <a:pt x="501" y="44"/>
                </a:lnTo>
                <a:lnTo>
                  <a:pt x="501" y="48"/>
                </a:lnTo>
                <a:lnTo>
                  <a:pt x="501" y="51"/>
                </a:lnTo>
                <a:lnTo>
                  <a:pt x="504" y="51"/>
                </a:lnTo>
                <a:lnTo>
                  <a:pt x="504" y="48"/>
                </a:lnTo>
                <a:lnTo>
                  <a:pt x="504" y="44"/>
                </a:lnTo>
                <a:lnTo>
                  <a:pt x="504" y="41"/>
                </a:lnTo>
                <a:lnTo>
                  <a:pt x="504" y="38"/>
                </a:lnTo>
                <a:lnTo>
                  <a:pt x="504" y="34"/>
                </a:lnTo>
                <a:lnTo>
                  <a:pt x="504" y="31"/>
                </a:lnTo>
                <a:lnTo>
                  <a:pt x="504" y="28"/>
                </a:lnTo>
                <a:lnTo>
                  <a:pt x="50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00" name="Freeform 1705">
            <a:extLst>
              <a:ext uri="{FF2B5EF4-FFF2-40B4-BE49-F238E27FC236}">
                <a16:creationId xmlns:a16="http://schemas.microsoft.com/office/drawing/2014/main" id="{915E97D2-5A4C-8AB7-BD29-A05FCE094E19}"/>
              </a:ext>
            </a:extLst>
          </p:cNvPr>
          <p:cNvSpPr>
            <a:spLocks noEditPoints="1"/>
          </p:cNvSpPr>
          <p:nvPr/>
        </p:nvSpPr>
        <p:spPr bwMode="auto">
          <a:xfrm>
            <a:off x="2160588" y="2719388"/>
            <a:ext cx="793750" cy="80963"/>
          </a:xfrm>
          <a:custGeom>
            <a:avLst/>
            <a:gdLst>
              <a:gd name="T0" fmla="*/ 500 w 500"/>
              <a:gd name="T1" fmla="*/ 21 h 51"/>
              <a:gd name="T2" fmla="*/ 500 w 500"/>
              <a:gd name="T3" fmla="*/ 14 h 51"/>
              <a:gd name="T4" fmla="*/ 500 w 500"/>
              <a:gd name="T5" fmla="*/ 9 h 51"/>
              <a:gd name="T6" fmla="*/ 500 w 500"/>
              <a:gd name="T7" fmla="*/ 3 h 51"/>
              <a:gd name="T8" fmla="*/ 497 w 500"/>
              <a:gd name="T9" fmla="*/ 0 h 51"/>
              <a:gd name="T10" fmla="*/ 497 w 500"/>
              <a:gd name="T11" fmla="*/ 6 h 51"/>
              <a:gd name="T12" fmla="*/ 497 w 500"/>
              <a:gd name="T13" fmla="*/ 11 h 51"/>
              <a:gd name="T14" fmla="*/ 497 w 500"/>
              <a:gd name="T15" fmla="*/ 18 h 51"/>
              <a:gd name="T16" fmla="*/ 497 w 500"/>
              <a:gd name="T17" fmla="*/ 24 h 51"/>
              <a:gd name="T18" fmla="*/ 497 w 500"/>
              <a:gd name="T19" fmla="*/ 31 h 51"/>
              <a:gd name="T20" fmla="*/ 497 w 500"/>
              <a:gd name="T21" fmla="*/ 38 h 51"/>
              <a:gd name="T22" fmla="*/ 497 w 500"/>
              <a:gd name="T23" fmla="*/ 44 h 51"/>
              <a:gd name="T24" fmla="*/ 497 w 500"/>
              <a:gd name="T25" fmla="*/ 51 h 51"/>
              <a:gd name="T26" fmla="*/ 500 w 500"/>
              <a:gd name="T27" fmla="*/ 48 h 51"/>
              <a:gd name="T28" fmla="*/ 500 w 500"/>
              <a:gd name="T29" fmla="*/ 41 h 51"/>
              <a:gd name="T30" fmla="*/ 500 w 500"/>
              <a:gd name="T31" fmla="*/ 34 h 51"/>
              <a:gd name="T32" fmla="*/ 500 w 500"/>
              <a:gd name="T33" fmla="*/ 28 h 51"/>
              <a:gd name="T34" fmla="*/ 2 w 500"/>
              <a:gd name="T35" fmla="*/ 0 h 51"/>
              <a:gd name="T36" fmla="*/ 0 w 500"/>
              <a:gd name="T37" fmla="*/ 6 h 51"/>
              <a:gd name="T38" fmla="*/ 0 w 500"/>
              <a:gd name="T39" fmla="*/ 11 h 51"/>
              <a:gd name="T40" fmla="*/ 0 w 500"/>
              <a:gd name="T41" fmla="*/ 18 h 51"/>
              <a:gd name="T42" fmla="*/ 0 w 500"/>
              <a:gd name="T43" fmla="*/ 24 h 51"/>
              <a:gd name="T44" fmla="*/ 0 w 500"/>
              <a:gd name="T45" fmla="*/ 31 h 51"/>
              <a:gd name="T46" fmla="*/ 0 w 500"/>
              <a:gd name="T47" fmla="*/ 38 h 51"/>
              <a:gd name="T48" fmla="*/ 0 w 500"/>
              <a:gd name="T49" fmla="*/ 44 h 51"/>
              <a:gd name="T50" fmla="*/ 0 w 500"/>
              <a:gd name="T51" fmla="*/ 51 h 51"/>
              <a:gd name="T52" fmla="*/ 3 w 500"/>
              <a:gd name="T53" fmla="*/ 48 h 51"/>
              <a:gd name="T54" fmla="*/ 3 w 500"/>
              <a:gd name="T55" fmla="*/ 41 h 51"/>
              <a:gd name="T56" fmla="*/ 3 w 500"/>
              <a:gd name="T57" fmla="*/ 34 h 51"/>
              <a:gd name="T58" fmla="*/ 3 w 500"/>
              <a:gd name="T59" fmla="*/ 28 h 51"/>
              <a:gd name="T60" fmla="*/ 3 w 500"/>
              <a:gd name="T61" fmla="*/ 21 h 51"/>
              <a:gd name="T62" fmla="*/ 3 w 500"/>
              <a:gd name="T63" fmla="*/ 14 h 51"/>
              <a:gd name="T64" fmla="*/ 3 w 500"/>
              <a:gd name="T65" fmla="*/ 9 h 51"/>
              <a:gd name="T66" fmla="*/ 3 w 500"/>
              <a:gd name="T67" fmla="*/ 3 h 51"/>
              <a:gd name="T68" fmla="*/ 2 w 50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00" h="51">
                <a:moveTo>
                  <a:pt x="500" y="24"/>
                </a:moveTo>
                <a:lnTo>
                  <a:pt x="500" y="21"/>
                </a:lnTo>
                <a:lnTo>
                  <a:pt x="500" y="18"/>
                </a:lnTo>
                <a:lnTo>
                  <a:pt x="500" y="14"/>
                </a:lnTo>
                <a:lnTo>
                  <a:pt x="500" y="11"/>
                </a:lnTo>
                <a:lnTo>
                  <a:pt x="500" y="9"/>
                </a:lnTo>
                <a:lnTo>
                  <a:pt x="500" y="6"/>
                </a:lnTo>
                <a:lnTo>
                  <a:pt x="500" y="3"/>
                </a:lnTo>
                <a:lnTo>
                  <a:pt x="500" y="0"/>
                </a:lnTo>
                <a:lnTo>
                  <a:pt x="497" y="0"/>
                </a:lnTo>
                <a:lnTo>
                  <a:pt x="497" y="3"/>
                </a:lnTo>
                <a:lnTo>
                  <a:pt x="497" y="6"/>
                </a:lnTo>
                <a:lnTo>
                  <a:pt x="497" y="9"/>
                </a:lnTo>
                <a:lnTo>
                  <a:pt x="497" y="11"/>
                </a:lnTo>
                <a:lnTo>
                  <a:pt x="497" y="14"/>
                </a:lnTo>
                <a:lnTo>
                  <a:pt x="497" y="18"/>
                </a:lnTo>
                <a:lnTo>
                  <a:pt x="497" y="21"/>
                </a:lnTo>
                <a:lnTo>
                  <a:pt x="497" y="24"/>
                </a:lnTo>
                <a:lnTo>
                  <a:pt x="497" y="28"/>
                </a:lnTo>
                <a:lnTo>
                  <a:pt x="497" y="31"/>
                </a:lnTo>
                <a:lnTo>
                  <a:pt x="497" y="34"/>
                </a:lnTo>
                <a:lnTo>
                  <a:pt x="497" y="38"/>
                </a:lnTo>
                <a:lnTo>
                  <a:pt x="497" y="41"/>
                </a:lnTo>
                <a:lnTo>
                  <a:pt x="497" y="44"/>
                </a:lnTo>
                <a:lnTo>
                  <a:pt x="497" y="48"/>
                </a:lnTo>
                <a:lnTo>
                  <a:pt x="497" y="51"/>
                </a:lnTo>
                <a:lnTo>
                  <a:pt x="500" y="51"/>
                </a:lnTo>
                <a:lnTo>
                  <a:pt x="500" y="48"/>
                </a:lnTo>
                <a:lnTo>
                  <a:pt x="500" y="44"/>
                </a:lnTo>
                <a:lnTo>
                  <a:pt x="500" y="41"/>
                </a:lnTo>
                <a:lnTo>
                  <a:pt x="500" y="38"/>
                </a:lnTo>
                <a:lnTo>
                  <a:pt x="500" y="34"/>
                </a:lnTo>
                <a:lnTo>
                  <a:pt x="500" y="31"/>
                </a:lnTo>
                <a:lnTo>
                  <a:pt x="500" y="28"/>
                </a:lnTo>
                <a:lnTo>
                  <a:pt x="50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01" name="Freeform 1706">
            <a:extLst>
              <a:ext uri="{FF2B5EF4-FFF2-40B4-BE49-F238E27FC236}">
                <a16:creationId xmlns:a16="http://schemas.microsoft.com/office/drawing/2014/main" id="{C646E9C3-3FF5-A7BC-C399-D17D8F3CA23F}"/>
              </a:ext>
            </a:extLst>
          </p:cNvPr>
          <p:cNvSpPr>
            <a:spLocks noEditPoints="1"/>
          </p:cNvSpPr>
          <p:nvPr/>
        </p:nvSpPr>
        <p:spPr bwMode="auto">
          <a:xfrm>
            <a:off x="2163763" y="2719388"/>
            <a:ext cx="788988" cy="80963"/>
          </a:xfrm>
          <a:custGeom>
            <a:avLst/>
            <a:gdLst>
              <a:gd name="T0" fmla="*/ 497 w 497"/>
              <a:gd name="T1" fmla="*/ 21 h 51"/>
              <a:gd name="T2" fmla="*/ 497 w 497"/>
              <a:gd name="T3" fmla="*/ 14 h 51"/>
              <a:gd name="T4" fmla="*/ 497 w 497"/>
              <a:gd name="T5" fmla="*/ 9 h 51"/>
              <a:gd name="T6" fmla="*/ 497 w 497"/>
              <a:gd name="T7" fmla="*/ 3 h 51"/>
              <a:gd name="T8" fmla="*/ 493 w 497"/>
              <a:gd name="T9" fmla="*/ 0 h 51"/>
              <a:gd name="T10" fmla="*/ 493 w 497"/>
              <a:gd name="T11" fmla="*/ 6 h 51"/>
              <a:gd name="T12" fmla="*/ 493 w 497"/>
              <a:gd name="T13" fmla="*/ 11 h 51"/>
              <a:gd name="T14" fmla="*/ 493 w 497"/>
              <a:gd name="T15" fmla="*/ 18 h 51"/>
              <a:gd name="T16" fmla="*/ 493 w 497"/>
              <a:gd name="T17" fmla="*/ 24 h 51"/>
              <a:gd name="T18" fmla="*/ 493 w 497"/>
              <a:gd name="T19" fmla="*/ 31 h 51"/>
              <a:gd name="T20" fmla="*/ 493 w 497"/>
              <a:gd name="T21" fmla="*/ 38 h 51"/>
              <a:gd name="T22" fmla="*/ 493 w 497"/>
              <a:gd name="T23" fmla="*/ 44 h 51"/>
              <a:gd name="T24" fmla="*/ 493 w 497"/>
              <a:gd name="T25" fmla="*/ 51 h 51"/>
              <a:gd name="T26" fmla="*/ 497 w 497"/>
              <a:gd name="T27" fmla="*/ 48 h 51"/>
              <a:gd name="T28" fmla="*/ 497 w 497"/>
              <a:gd name="T29" fmla="*/ 41 h 51"/>
              <a:gd name="T30" fmla="*/ 497 w 497"/>
              <a:gd name="T31" fmla="*/ 34 h 51"/>
              <a:gd name="T32" fmla="*/ 497 w 497"/>
              <a:gd name="T33" fmla="*/ 28 h 51"/>
              <a:gd name="T34" fmla="*/ 1 w 497"/>
              <a:gd name="T35" fmla="*/ 0 h 51"/>
              <a:gd name="T36" fmla="*/ 0 w 497"/>
              <a:gd name="T37" fmla="*/ 6 h 51"/>
              <a:gd name="T38" fmla="*/ 0 w 497"/>
              <a:gd name="T39" fmla="*/ 11 h 51"/>
              <a:gd name="T40" fmla="*/ 0 w 497"/>
              <a:gd name="T41" fmla="*/ 18 h 51"/>
              <a:gd name="T42" fmla="*/ 0 w 497"/>
              <a:gd name="T43" fmla="*/ 24 h 51"/>
              <a:gd name="T44" fmla="*/ 0 w 497"/>
              <a:gd name="T45" fmla="*/ 31 h 51"/>
              <a:gd name="T46" fmla="*/ 0 w 497"/>
              <a:gd name="T47" fmla="*/ 38 h 51"/>
              <a:gd name="T48" fmla="*/ 0 w 497"/>
              <a:gd name="T49" fmla="*/ 44 h 51"/>
              <a:gd name="T50" fmla="*/ 0 w 497"/>
              <a:gd name="T51" fmla="*/ 51 h 51"/>
              <a:gd name="T52" fmla="*/ 3 w 497"/>
              <a:gd name="T53" fmla="*/ 48 h 51"/>
              <a:gd name="T54" fmla="*/ 3 w 497"/>
              <a:gd name="T55" fmla="*/ 41 h 51"/>
              <a:gd name="T56" fmla="*/ 3 w 497"/>
              <a:gd name="T57" fmla="*/ 34 h 51"/>
              <a:gd name="T58" fmla="*/ 3 w 497"/>
              <a:gd name="T59" fmla="*/ 28 h 51"/>
              <a:gd name="T60" fmla="*/ 3 w 497"/>
              <a:gd name="T61" fmla="*/ 21 h 51"/>
              <a:gd name="T62" fmla="*/ 3 w 497"/>
              <a:gd name="T63" fmla="*/ 14 h 51"/>
              <a:gd name="T64" fmla="*/ 3 w 497"/>
              <a:gd name="T65" fmla="*/ 9 h 51"/>
              <a:gd name="T66" fmla="*/ 3 w 497"/>
              <a:gd name="T67" fmla="*/ 3 h 51"/>
              <a:gd name="T68" fmla="*/ 1 w 49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7" h="51">
                <a:moveTo>
                  <a:pt x="497" y="24"/>
                </a:moveTo>
                <a:lnTo>
                  <a:pt x="497" y="21"/>
                </a:lnTo>
                <a:lnTo>
                  <a:pt x="497" y="18"/>
                </a:lnTo>
                <a:lnTo>
                  <a:pt x="497" y="14"/>
                </a:lnTo>
                <a:lnTo>
                  <a:pt x="497" y="11"/>
                </a:lnTo>
                <a:lnTo>
                  <a:pt x="497" y="9"/>
                </a:lnTo>
                <a:lnTo>
                  <a:pt x="497" y="6"/>
                </a:lnTo>
                <a:lnTo>
                  <a:pt x="497" y="3"/>
                </a:lnTo>
                <a:lnTo>
                  <a:pt x="497" y="0"/>
                </a:lnTo>
                <a:lnTo>
                  <a:pt x="493" y="0"/>
                </a:lnTo>
                <a:lnTo>
                  <a:pt x="493" y="3"/>
                </a:lnTo>
                <a:lnTo>
                  <a:pt x="493" y="6"/>
                </a:lnTo>
                <a:lnTo>
                  <a:pt x="493" y="9"/>
                </a:lnTo>
                <a:lnTo>
                  <a:pt x="493" y="11"/>
                </a:lnTo>
                <a:lnTo>
                  <a:pt x="493" y="14"/>
                </a:lnTo>
                <a:lnTo>
                  <a:pt x="493" y="18"/>
                </a:lnTo>
                <a:lnTo>
                  <a:pt x="493" y="21"/>
                </a:lnTo>
                <a:lnTo>
                  <a:pt x="493" y="24"/>
                </a:lnTo>
                <a:lnTo>
                  <a:pt x="493" y="28"/>
                </a:lnTo>
                <a:lnTo>
                  <a:pt x="493" y="31"/>
                </a:lnTo>
                <a:lnTo>
                  <a:pt x="493" y="34"/>
                </a:lnTo>
                <a:lnTo>
                  <a:pt x="493" y="38"/>
                </a:lnTo>
                <a:lnTo>
                  <a:pt x="493" y="41"/>
                </a:lnTo>
                <a:lnTo>
                  <a:pt x="493" y="44"/>
                </a:lnTo>
                <a:lnTo>
                  <a:pt x="493" y="48"/>
                </a:lnTo>
                <a:lnTo>
                  <a:pt x="493" y="51"/>
                </a:lnTo>
                <a:lnTo>
                  <a:pt x="497" y="51"/>
                </a:lnTo>
                <a:lnTo>
                  <a:pt x="497" y="48"/>
                </a:lnTo>
                <a:lnTo>
                  <a:pt x="497" y="44"/>
                </a:lnTo>
                <a:lnTo>
                  <a:pt x="497" y="41"/>
                </a:lnTo>
                <a:lnTo>
                  <a:pt x="497" y="38"/>
                </a:lnTo>
                <a:lnTo>
                  <a:pt x="497" y="34"/>
                </a:lnTo>
                <a:lnTo>
                  <a:pt x="497" y="31"/>
                </a:lnTo>
                <a:lnTo>
                  <a:pt x="497" y="28"/>
                </a:lnTo>
                <a:lnTo>
                  <a:pt x="49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02" name="Freeform 1707">
            <a:extLst>
              <a:ext uri="{FF2B5EF4-FFF2-40B4-BE49-F238E27FC236}">
                <a16:creationId xmlns:a16="http://schemas.microsoft.com/office/drawing/2014/main" id="{A475C6FE-FF42-ECCB-F575-8A7A5FB78B60}"/>
              </a:ext>
            </a:extLst>
          </p:cNvPr>
          <p:cNvSpPr>
            <a:spLocks noEditPoints="1"/>
          </p:cNvSpPr>
          <p:nvPr/>
        </p:nvSpPr>
        <p:spPr bwMode="auto">
          <a:xfrm>
            <a:off x="2165350" y="2719388"/>
            <a:ext cx="784225" cy="80963"/>
          </a:xfrm>
          <a:custGeom>
            <a:avLst/>
            <a:gdLst>
              <a:gd name="T0" fmla="*/ 494 w 494"/>
              <a:gd name="T1" fmla="*/ 21 h 51"/>
              <a:gd name="T2" fmla="*/ 494 w 494"/>
              <a:gd name="T3" fmla="*/ 14 h 51"/>
              <a:gd name="T4" fmla="*/ 494 w 494"/>
              <a:gd name="T5" fmla="*/ 9 h 51"/>
              <a:gd name="T6" fmla="*/ 494 w 494"/>
              <a:gd name="T7" fmla="*/ 3 h 51"/>
              <a:gd name="T8" fmla="*/ 491 w 494"/>
              <a:gd name="T9" fmla="*/ 0 h 51"/>
              <a:gd name="T10" fmla="*/ 491 w 494"/>
              <a:gd name="T11" fmla="*/ 6 h 51"/>
              <a:gd name="T12" fmla="*/ 491 w 494"/>
              <a:gd name="T13" fmla="*/ 11 h 51"/>
              <a:gd name="T14" fmla="*/ 491 w 494"/>
              <a:gd name="T15" fmla="*/ 18 h 51"/>
              <a:gd name="T16" fmla="*/ 491 w 494"/>
              <a:gd name="T17" fmla="*/ 24 h 51"/>
              <a:gd name="T18" fmla="*/ 491 w 494"/>
              <a:gd name="T19" fmla="*/ 31 h 51"/>
              <a:gd name="T20" fmla="*/ 491 w 494"/>
              <a:gd name="T21" fmla="*/ 38 h 51"/>
              <a:gd name="T22" fmla="*/ 491 w 494"/>
              <a:gd name="T23" fmla="*/ 44 h 51"/>
              <a:gd name="T24" fmla="*/ 491 w 494"/>
              <a:gd name="T25" fmla="*/ 51 h 51"/>
              <a:gd name="T26" fmla="*/ 494 w 494"/>
              <a:gd name="T27" fmla="*/ 48 h 51"/>
              <a:gd name="T28" fmla="*/ 494 w 494"/>
              <a:gd name="T29" fmla="*/ 41 h 51"/>
              <a:gd name="T30" fmla="*/ 494 w 494"/>
              <a:gd name="T31" fmla="*/ 34 h 51"/>
              <a:gd name="T32" fmla="*/ 494 w 494"/>
              <a:gd name="T33" fmla="*/ 28 h 51"/>
              <a:gd name="T34" fmla="*/ 2 w 494"/>
              <a:gd name="T35" fmla="*/ 0 h 51"/>
              <a:gd name="T36" fmla="*/ 0 w 494"/>
              <a:gd name="T37" fmla="*/ 6 h 51"/>
              <a:gd name="T38" fmla="*/ 0 w 494"/>
              <a:gd name="T39" fmla="*/ 11 h 51"/>
              <a:gd name="T40" fmla="*/ 0 w 494"/>
              <a:gd name="T41" fmla="*/ 18 h 51"/>
              <a:gd name="T42" fmla="*/ 0 w 494"/>
              <a:gd name="T43" fmla="*/ 24 h 51"/>
              <a:gd name="T44" fmla="*/ 0 w 494"/>
              <a:gd name="T45" fmla="*/ 31 h 51"/>
              <a:gd name="T46" fmla="*/ 0 w 494"/>
              <a:gd name="T47" fmla="*/ 38 h 51"/>
              <a:gd name="T48" fmla="*/ 0 w 494"/>
              <a:gd name="T49" fmla="*/ 44 h 51"/>
              <a:gd name="T50" fmla="*/ 0 w 494"/>
              <a:gd name="T51" fmla="*/ 51 h 51"/>
              <a:gd name="T52" fmla="*/ 4 w 494"/>
              <a:gd name="T53" fmla="*/ 48 h 51"/>
              <a:gd name="T54" fmla="*/ 4 w 494"/>
              <a:gd name="T55" fmla="*/ 41 h 51"/>
              <a:gd name="T56" fmla="*/ 4 w 494"/>
              <a:gd name="T57" fmla="*/ 34 h 51"/>
              <a:gd name="T58" fmla="*/ 4 w 494"/>
              <a:gd name="T59" fmla="*/ 28 h 51"/>
              <a:gd name="T60" fmla="*/ 4 w 494"/>
              <a:gd name="T61" fmla="*/ 21 h 51"/>
              <a:gd name="T62" fmla="*/ 4 w 494"/>
              <a:gd name="T63" fmla="*/ 14 h 51"/>
              <a:gd name="T64" fmla="*/ 4 w 494"/>
              <a:gd name="T65" fmla="*/ 9 h 51"/>
              <a:gd name="T66" fmla="*/ 4 w 494"/>
              <a:gd name="T67" fmla="*/ 3 h 51"/>
              <a:gd name="T68" fmla="*/ 2 w 49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4" h="51">
                <a:moveTo>
                  <a:pt x="494" y="24"/>
                </a:moveTo>
                <a:lnTo>
                  <a:pt x="494" y="21"/>
                </a:lnTo>
                <a:lnTo>
                  <a:pt x="494" y="18"/>
                </a:lnTo>
                <a:lnTo>
                  <a:pt x="494" y="14"/>
                </a:lnTo>
                <a:lnTo>
                  <a:pt x="494" y="11"/>
                </a:lnTo>
                <a:lnTo>
                  <a:pt x="494" y="9"/>
                </a:lnTo>
                <a:lnTo>
                  <a:pt x="494" y="6"/>
                </a:lnTo>
                <a:lnTo>
                  <a:pt x="494" y="3"/>
                </a:lnTo>
                <a:lnTo>
                  <a:pt x="494" y="0"/>
                </a:lnTo>
                <a:lnTo>
                  <a:pt x="491" y="0"/>
                </a:lnTo>
                <a:lnTo>
                  <a:pt x="491" y="3"/>
                </a:lnTo>
                <a:lnTo>
                  <a:pt x="491" y="6"/>
                </a:lnTo>
                <a:lnTo>
                  <a:pt x="491" y="9"/>
                </a:lnTo>
                <a:lnTo>
                  <a:pt x="491" y="11"/>
                </a:lnTo>
                <a:lnTo>
                  <a:pt x="491" y="14"/>
                </a:lnTo>
                <a:lnTo>
                  <a:pt x="491" y="18"/>
                </a:lnTo>
                <a:lnTo>
                  <a:pt x="491" y="21"/>
                </a:lnTo>
                <a:lnTo>
                  <a:pt x="491" y="24"/>
                </a:lnTo>
                <a:lnTo>
                  <a:pt x="491" y="28"/>
                </a:lnTo>
                <a:lnTo>
                  <a:pt x="491" y="31"/>
                </a:lnTo>
                <a:lnTo>
                  <a:pt x="491" y="34"/>
                </a:lnTo>
                <a:lnTo>
                  <a:pt x="491" y="38"/>
                </a:lnTo>
                <a:lnTo>
                  <a:pt x="491" y="41"/>
                </a:lnTo>
                <a:lnTo>
                  <a:pt x="491" y="44"/>
                </a:lnTo>
                <a:lnTo>
                  <a:pt x="491" y="48"/>
                </a:lnTo>
                <a:lnTo>
                  <a:pt x="491" y="51"/>
                </a:lnTo>
                <a:lnTo>
                  <a:pt x="494" y="51"/>
                </a:lnTo>
                <a:lnTo>
                  <a:pt x="494" y="48"/>
                </a:lnTo>
                <a:lnTo>
                  <a:pt x="494" y="44"/>
                </a:lnTo>
                <a:lnTo>
                  <a:pt x="494" y="41"/>
                </a:lnTo>
                <a:lnTo>
                  <a:pt x="494" y="38"/>
                </a:lnTo>
                <a:lnTo>
                  <a:pt x="494" y="34"/>
                </a:lnTo>
                <a:lnTo>
                  <a:pt x="494" y="31"/>
                </a:lnTo>
                <a:lnTo>
                  <a:pt x="494" y="28"/>
                </a:lnTo>
                <a:lnTo>
                  <a:pt x="49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03" name="Freeform 1708">
            <a:extLst>
              <a:ext uri="{FF2B5EF4-FFF2-40B4-BE49-F238E27FC236}">
                <a16:creationId xmlns:a16="http://schemas.microsoft.com/office/drawing/2014/main" id="{45FF8ABC-9026-18FF-E9B6-4120489E1F06}"/>
              </a:ext>
            </a:extLst>
          </p:cNvPr>
          <p:cNvSpPr>
            <a:spLocks noEditPoints="1"/>
          </p:cNvSpPr>
          <p:nvPr/>
        </p:nvSpPr>
        <p:spPr bwMode="auto">
          <a:xfrm>
            <a:off x="2168525" y="2719388"/>
            <a:ext cx="777875" cy="80963"/>
          </a:xfrm>
          <a:custGeom>
            <a:avLst/>
            <a:gdLst>
              <a:gd name="T0" fmla="*/ 490 w 490"/>
              <a:gd name="T1" fmla="*/ 21 h 51"/>
              <a:gd name="T2" fmla="*/ 490 w 490"/>
              <a:gd name="T3" fmla="*/ 14 h 51"/>
              <a:gd name="T4" fmla="*/ 490 w 490"/>
              <a:gd name="T5" fmla="*/ 9 h 51"/>
              <a:gd name="T6" fmla="*/ 490 w 490"/>
              <a:gd name="T7" fmla="*/ 3 h 51"/>
              <a:gd name="T8" fmla="*/ 487 w 490"/>
              <a:gd name="T9" fmla="*/ 0 h 51"/>
              <a:gd name="T10" fmla="*/ 487 w 490"/>
              <a:gd name="T11" fmla="*/ 6 h 51"/>
              <a:gd name="T12" fmla="*/ 487 w 490"/>
              <a:gd name="T13" fmla="*/ 11 h 51"/>
              <a:gd name="T14" fmla="*/ 487 w 490"/>
              <a:gd name="T15" fmla="*/ 18 h 51"/>
              <a:gd name="T16" fmla="*/ 487 w 490"/>
              <a:gd name="T17" fmla="*/ 24 h 51"/>
              <a:gd name="T18" fmla="*/ 487 w 490"/>
              <a:gd name="T19" fmla="*/ 31 h 51"/>
              <a:gd name="T20" fmla="*/ 487 w 490"/>
              <a:gd name="T21" fmla="*/ 38 h 51"/>
              <a:gd name="T22" fmla="*/ 487 w 490"/>
              <a:gd name="T23" fmla="*/ 44 h 51"/>
              <a:gd name="T24" fmla="*/ 487 w 490"/>
              <a:gd name="T25" fmla="*/ 51 h 51"/>
              <a:gd name="T26" fmla="*/ 490 w 490"/>
              <a:gd name="T27" fmla="*/ 48 h 51"/>
              <a:gd name="T28" fmla="*/ 490 w 490"/>
              <a:gd name="T29" fmla="*/ 41 h 51"/>
              <a:gd name="T30" fmla="*/ 490 w 490"/>
              <a:gd name="T31" fmla="*/ 34 h 51"/>
              <a:gd name="T32" fmla="*/ 490 w 490"/>
              <a:gd name="T33" fmla="*/ 28 h 51"/>
              <a:gd name="T34" fmla="*/ 2 w 490"/>
              <a:gd name="T35" fmla="*/ 0 h 51"/>
              <a:gd name="T36" fmla="*/ 0 w 490"/>
              <a:gd name="T37" fmla="*/ 6 h 51"/>
              <a:gd name="T38" fmla="*/ 0 w 490"/>
              <a:gd name="T39" fmla="*/ 11 h 51"/>
              <a:gd name="T40" fmla="*/ 0 w 490"/>
              <a:gd name="T41" fmla="*/ 18 h 51"/>
              <a:gd name="T42" fmla="*/ 0 w 490"/>
              <a:gd name="T43" fmla="*/ 24 h 51"/>
              <a:gd name="T44" fmla="*/ 0 w 490"/>
              <a:gd name="T45" fmla="*/ 31 h 51"/>
              <a:gd name="T46" fmla="*/ 0 w 490"/>
              <a:gd name="T47" fmla="*/ 38 h 51"/>
              <a:gd name="T48" fmla="*/ 0 w 490"/>
              <a:gd name="T49" fmla="*/ 44 h 51"/>
              <a:gd name="T50" fmla="*/ 0 w 490"/>
              <a:gd name="T51" fmla="*/ 51 h 51"/>
              <a:gd name="T52" fmla="*/ 3 w 490"/>
              <a:gd name="T53" fmla="*/ 48 h 51"/>
              <a:gd name="T54" fmla="*/ 3 w 490"/>
              <a:gd name="T55" fmla="*/ 41 h 51"/>
              <a:gd name="T56" fmla="*/ 3 w 490"/>
              <a:gd name="T57" fmla="*/ 34 h 51"/>
              <a:gd name="T58" fmla="*/ 3 w 490"/>
              <a:gd name="T59" fmla="*/ 28 h 51"/>
              <a:gd name="T60" fmla="*/ 3 w 490"/>
              <a:gd name="T61" fmla="*/ 21 h 51"/>
              <a:gd name="T62" fmla="*/ 3 w 490"/>
              <a:gd name="T63" fmla="*/ 14 h 51"/>
              <a:gd name="T64" fmla="*/ 3 w 490"/>
              <a:gd name="T65" fmla="*/ 9 h 51"/>
              <a:gd name="T66" fmla="*/ 3 w 490"/>
              <a:gd name="T67" fmla="*/ 3 h 51"/>
              <a:gd name="T68" fmla="*/ 2 w 49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90" h="51">
                <a:moveTo>
                  <a:pt x="490" y="24"/>
                </a:moveTo>
                <a:lnTo>
                  <a:pt x="490" y="21"/>
                </a:lnTo>
                <a:lnTo>
                  <a:pt x="490" y="18"/>
                </a:lnTo>
                <a:lnTo>
                  <a:pt x="490" y="14"/>
                </a:lnTo>
                <a:lnTo>
                  <a:pt x="490" y="11"/>
                </a:lnTo>
                <a:lnTo>
                  <a:pt x="490" y="9"/>
                </a:lnTo>
                <a:lnTo>
                  <a:pt x="490" y="6"/>
                </a:lnTo>
                <a:lnTo>
                  <a:pt x="490" y="3"/>
                </a:lnTo>
                <a:lnTo>
                  <a:pt x="490" y="0"/>
                </a:lnTo>
                <a:lnTo>
                  <a:pt x="487" y="0"/>
                </a:lnTo>
                <a:lnTo>
                  <a:pt x="487" y="3"/>
                </a:lnTo>
                <a:lnTo>
                  <a:pt x="487" y="6"/>
                </a:lnTo>
                <a:lnTo>
                  <a:pt x="487" y="9"/>
                </a:lnTo>
                <a:lnTo>
                  <a:pt x="487" y="11"/>
                </a:lnTo>
                <a:lnTo>
                  <a:pt x="487" y="14"/>
                </a:lnTo>
                <a:lnTo>
                  <a:pt x="487" y="18"/>
                </a:lnTo>
                <a:lnTo>
                  <a:pt x="487" y="21"/>
                </a:lnTo>
                <a:lnTo>
                  <a:pt x="487" y="24"/>
                </a:lnTo>
                <a:lnTo>
                  <a:pt x="487" y="28"/>
                </a:lnTo>
                <a:lnTo>
                  <a:pt x="487" y="31"/>
                </a:lnTo>
                <a:lnTo>
                  <a:pt x="487" y="34"/>
                </a:lnTo>
                <a:lnTo>
                  <a:pt x="487" y="38"/>
                </a:lnTo>
                <a:lnTo>
                  <a:pt x="487" y="41"/>
                </a:lnTo>
                <a:lnTo>
                  <a:pt x="487" y="44"/>
                </a:lnTo>
                <a:lnTo>
                  <a:pt x="487" y="48"/>
                </a:lnTo>
                <a:lnTo>
                  <a:pt x="487" y="51"/>
                </a:lnTo>
                <a:lnTo>
                  <a:pt x="490" y="51"/>
                </a:lnTo>
                <a:lnTo>
                  <a:pt x="490" y="48"/>
                </a:lnTo>
                <a:lnTo>
                  <a:pt x="490" y="44"/>
                </a:lnTo>
                <a:lnTo>
                  <a:pt x="490" y="41"/>
                </a:lnTo>
                <a:lnTo>
                  <a:pt x="490" y="38"/>
                </a:lnTo>
                <a:lnTo>
                  <a:pt x="490" y="34"/>
                </a:lnTo>
                <a:lnTo>
                  <a:pt x="490" y="31"/>
                </a:lnTo>
                <a:lnTo>
                  <a:pt x="490" y="28"/>
                </a:lnTo>
                <a:lnTo>
                  <a:pt x="49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04" name="Freeform 1709">
            <a:extLst>
              <a:ext uri="{FF2B5EF4-FFF2-40B4-BE49-F238E27FC236}">
                <a16:creationId xmlns:a16="http://schemas.microsoft.com/office/drawing/2014/main" id="{08CAC64B-CFD6-023C-AB02-972F742E109E}"/>
              </a:ext>
            </a:extLst>
          </p:cNvPr>
          <p:cNvSpPr>
            <a:spLocks noEditPoints="1"/>
          </p:cNvSpPr>
          <p:nvPr/>
        </p:nvSpPr>
        <p:spPr bwMode="auto">
          <a:xfrm>
            <a:off x="2171700" y="2719388"/>
            <a:ext cx="773113" cy="80963"/>
          </a:xfrm>
          <a:custGeom>
            <a:avLst/>
            <a:gdLst>
              <a:gd name="T0" fmla="*/ 487 w 487"/>
              <a:gd name="T1" fmla="*/ 21 h 51"/>
              <a:gd name="T2" fmla="*/ 487 w 487"/>
              <a:gd name="T3" fmla="*/ 14 h 51"/>
              <a:gd name="T4" fmla="*/ 487 w 487"/>
              <a:gd name="T5" fmla="*/ 9 h 51"/>
              <a:gd name="T6" fmla="*/ 487 w 487"/>
              <a:gd name="T7" fmla="*/ 3 h 51"/>
              <a:gd name="T8" fmla="*/ 483 w 487"/>
              <a:gd name="T9" fmla="*/ 0 h 51"/>
              <a:gd name="T10" fmla="*/ 483 w 487"/>
              <a:gd name="T11" fmla="*/ 6 h 51"/>
              <a:gd name="T12" fmla="*/ 483 w 487"/>
              <a:gd name="T13" fmla="*/ 11 h 51"/>
              <a:gd name="T14" fmla="*/ 483 w 487"/>
              <a:gd name="T15" fmla="*/ 18 h 51"/>
              <a:gd name="T16" fmla="*/ 483 w 487"/>
              <a:gd name="T17" fmla="*/ 24 h 51"/>
              <a:gd name="T18" fmla="*/ 483 w 487"/>
              <a:gd name="T19" fmla="*/ 31 h 51"/>
              <a:gd name="T20" fmla="*/ 483 w 487"/>
              <a:gd name="T21" fmla="*/ 38 h 51"/>
              <a:gd name="T22" fmla="*/ 483 w 487"/>
              <a:gd name="T23" fmla="*/ 44 h 51"/>
              <a:gd name="T24" fmla="*/ 483 w 487"/>
              <a:gd name="T25" fmla="*/ 51 h 51"/>
              <a:gd name="T26" fmla="*/ 487 w 487"/>
              <a:gd name="T27" fmla="*/ 48 h 51"/>
              <a:gd name="T28" fmla="*/ 487 w 487"/>
              <a:gd name="T29" fmla="*/ 41 h 51"/>
              <a:gd name="T30" fmla="*/ 487 w 487"/>
              <a:gd name="T31" fmla="*/ 34 h 51"/>
              <a:gd name="T32" fmla="*/ 487 w 487"/>
              <a:gd name="T33" fmla="*/ 28 h 51"/>
              <a:gd name="T34" fmla="*/ 1 w 487"/>
              <a:gd name="T35" fmla="*/ 0 h 51"/>
              <a:gd name="T36" fmla="*/ 0 w 487"/>
              <a:gd name="T37" fmla="*/ 6 h 51"/>
              <a:gd name="T38" fmla="*/ 0 w 487"/>
              <a:gd name="T39" fmla="*/ 11 h 51"/>
              <a:gd name="T40" fmla="*/ 0 w 487"/>
              <a:gd name="T41" fmla="*/ 18 h 51"/>
              <a:gd name="T42" fmla="*/ 0 w 487"/>
              <a:gd name="T43" fmla="*/ 24 h 51"/>
              <a:gd name="T44" fmla="*/ 0 w 487"/>
              <a:gd name="T45" fmla="*/ 31 h 51"/>
              <a:gd name="T46" fmla="*/ 0 w 487"/>
              <a:gd name="T47" fmla="*/ 38 h 51"/>
              <a:gd name="T48" fmla="*/ 0 w 487"/>
              <a:gd name="T49" fmla="*/ 44 h 51"/>
              <a:gd name="T50" fmla="*/ 0 w 487"/>
              <a:gd name="T51" fmla="*/ 51 h 51"/>
              <a:gd name="T52" fmla="*/ 3 w 487"/>
              <a:gd name="T53" fmla="*/ 48 h 51"/>
              <a:gd name="T54" fmla="*/ 3 w 487"/>
              <a:gd name="T55" fmla="*/ 41 h 51"/>
              <a:gd name="T56" fmla="*/ 3 w 487"/>
              <a:gd name="T57" fmla="*/ 34 h 51"/>
              <a:gd name="T58" fmla="*/ 3 w 487"/>
              <a:gd name="T59" fmla="*/ 28 h 51"/>
              <a:gd name="T60" fmla="*/ 3 w 487"/>
              <a:gd name="T61" fmla="*/ 21 h 51"/>
              <a:gd name="T62" fmla="*/ 3 w 487"/>
              <a:gd name="T63" fmla="*/ 14 h 51"/>
              <a:gd name="T64" fmla="*/ 3 w 487"/>
              <a:gd name="T65" fmla="*/ 9 h 51"/>
              <a:gd name="T66" fmla="*/ 3 w 487"/>
              <a:gd name="T67" fmla="*/ 3 h 51"/>
              <a:gd name="T68" fmla="*/ 1 w 48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7" h="51">
                <a:moveTo>
                  <a:pt x="487" y="24"/>
                </a:moveTo>
                <a:lnTo>
                  <a:pt x="487" y="21"/>
                </a:lnTo>
                <a:lnTo>
                  <a:pt x="487" y="18"/>
                </a:lnTo>
                <a:lnTo>
                  <a:pt x="487" y="14"/>
                </a:lnTo>
                <a:lnTo>
                  <a:pt x="487" y="11"/>
                </a:lnTo>
                <a:lnTo>
                  <a:pt x="487" y="9"/>
                </a:lnTo>
                <a:lnTo>
                  <a:pt x="487" y="6"/>
                </a:lnTo>
                <a:lnTo>
                  <a:pt x="487" y="3"/>
                </a:lnTo>
                <a:lnTo>
                  <a:pt x="487" y="0"/>
                </a:lnTo>
                <a:lnTo>
                  <a:pt x="483" y="0"/>
                </a:lnTo>
                <a:lnTo>
                  <a:pt x="483" y="3"/>
                </a:lnTo>
                <a:lnTo>
                  <a:pt x="483" y="6"/>
                </a:lnTo>
                <a:lnTo>
                  <a:pt x="483" y="9"/>
                </a:lnTo>
                <a:lnTo>
                  <a:pt x="483" y="11"/>
                </a:lnTo>
                <a:lnTo>
                  <a:pt x="483" y="14"/>
                </a:lnTo>
                <a:lnTo>
                  <a:pt x="483" y="18"/>
                </a:lnTo>
                <a:lnTo>
                  <a:pt x="483" y="21"/>
                </a:lnTo>
                <a:lnTo>
                  <a:pt x="483" y="24"/>
                </a:lnTo>
                <a:lnTo>
                  <a:pt x="483" y="28"/>
                </a:lnTo>
                <a:lnTo>
                  <a:pt x="483" y="31"/>
                </a:lnTo>
                <a:lnTo>
                  <a:pt x="483" y="34"/>
                </a:lnTo>
                <a:lnTo>
                  <a:pt x="483" y="38"/>
                </a:lnTo>
                <a:lnTo>
                  <a:pt x="483" y="41"/>
                </a:lnTo>
                <a:lnTo>
                  <a:pt x="483" y="44"/>
                </a:lnTo>
                <a:lnTo>
                  <a:pt x="483" y="48"/>
                </a:lnTo>
                <a:lnTo>
                  <a:pt x="483" y="51"/>
                </a:lnTo>
                <a:lnTo>
                  <a:pt x="487" y="51"/>
                </a:lnTo>
                <a:lnTo>
                  <a:pt x="487" y="48"/>
                </a:lnTo>
                <a:lnTo>
                  <a:pt x="487" y="44"/>
                </a:lnTo>
                <a:lnTo>
                  <a:pt x="487" y="41"/>
                </a:lnTo>
                <a:lnTo>
                  <a:pt x="487" y="38"/>
                </a:lnTo>
                <a:lnTo>
                  <a:pt x="487" y="34"/>
                </a:lnTo>
                <a:lnTo>
                  <a:pt x="487" y="31"/>
                </a:lnTo>
                <a:lnTo>
                  <a:pt x="487" y="28"/>
                </a:lnTo>
                <a:lnTo>
                  <a:pt x="48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05" name="Freeform 1710">
            <a:extLst>
              <a:ext uri="{FF2B5EF4-FFF2-40B4-BE49-F238E27FC236}">
                <a16:creationId xmlns:a16="http://schemas.microsoft.com/office/drawing/2014/main" id="{C592778D-33B4-2E83-B5A6-5D49D96D8AED}"/>
              </a:ext>
            </a:extLst>
          </p:cNvPr>
          <p:cNvSpPr>
            <a:spLocks noEditPoints="1"/>
          </p:cNvSpPr>
          <p:nvPr/>
        </p:nvSpPr>
        <p:spPr bwMode="auto">
          <a:xfrm>
            <a:off x="2173288" y="2719388"/>
            <a:ext cx="768350" cy="80963"/>
          </a:xfrm>
          <a:custGeom>
            <a:avLst/>
            <a:gdLst>
              <a:gd name="T0" fmla="*/ 484 w 484"/>
              <a:gd name="T1" fmla="*/ 21 h 51"/>
              <a:gd name="T2" fmla="*/ 484 w 484"/>
              <a:gd name="T3" fmla="*/ 14 h 51"/>
              <a:gd name="T4" fmla="*/ 484 w 484"/>
              <a:gd name="T5" fmla="*/ 9 h 51"/>
              <a:gd name="T6" fmla="*/ 484 w 484"/>
              <a:gd name="T7" fmla="*/ 3 h 51"/>
              <a:gd name="T8" fmla="*/ 481 w 484"/>
              <a:gd name="T9" fmla="*/ 0 h 51"/>
              <a:gd name="T10" fmla="*/ 481 w 484"/>
              <a:gd name="T11" fmla="*/ 6 h 51"/>
              <a:gd name="T12" fmla="*/ 481 w 484"/>
              <a:gd name="T13" fmla="*/ 11 h 51"/>
              <a:gd name="T14" fmla="*/ 481 w 484"/>
              <a:gd name="T15" fmla="*/ 18 h 51"/>
              <a:gd name="T16" fmla="*/ 481 w 484"/>
              <a:gd name="T17" fmla="*/ 24 h 51"/>
              <a:gd name="T18" fmla="*/ 481 w 484"/>
              <a:gd name="T19" fmla="*/ 31 h 51"/>
              <a:gd name="T20" fmla="*/ 481 w 484"/>
              <a:gd name="T21" fmla="*/ 38 h 51"/>
              <a:gd name="T22" fmla="*/ 481 w 484"/>
              <a:gd name="T23" fmla="*/ 44 h 51"/>
              <a:gd name="T24" fmla="*/ 481 w 484"/>
              <a:gd name="T25" fmla="*/ 51 h 51"/>
              <a:gd name="T26" fmla="*/ 484 w 484"/>
              <a:gd name="T27" fmla="*/ 48 h 51"/>
              <a:gd name="T28" fmla="*/ 484 w 484"/>
              <a:gd name="T29" fmla="*/ 41 h 51"/>
              <a:gd name="T30" fmla="*/ 484 w 484"/>
              <a:gd name="T31" fmla="*/ 34 h 51"/>
              <a:gd name="T32" fmla="*/ 484 w 484"/>
              <a:gd name="T33" fmla="*/ 28 h 51"/>
              <a:gd name="T34" fmla="*/ 2 w 484"/>
              <a:gd name="T35" fmla="*/ 0 h 51"/>
              <a:gd name="T36" fmla="*/ 0 w 484"/>
              <a:gd name="T37" fmla="*/ 6 h 51"/>
              <a:gd name="T38" fmla="*/ 0 w 484"/>
              <a:gd name="T39" fmla="*/ 11 h 51"/>
              <a:gd name="T40" fmla="*/ 0 w 484"/>
              <a:gd name="T41" fmla="*/ 18 h 51"/>
              <a:gd name="T42" fmla="*/ 0 w 484"/>
              <a:gd name="T43" fmla="*/ 24 h 51"/>
              <a:gd name="T44" fmla="*/ 0 w 484"/>
              <a:gd name="T45" fmla="*/ 31 h 51"/>
              <a:gd name="T46" fmla="*/ 0 w 484"/>
              <a:gd name="T47" fmla="*/ 38 h 51"/>
              <a:gd name="T48" fmla="*/ 0 w 484"/>
              <a:gd name="T49" fmla="*/ 44 h 51"/>
              <a:gd name="T50" fmla="*/ 0 w 484"/>
              <a:gd name="T51" fmla="*/ 51 h 51"/>
              <a:gd name="T52" fmla="*/ 4 w 484"/>
              <a:gd name="T53" fmla="*/ 48 h 51"/>
              <a:gd name="T54" fmla="*/ 4 w 484"/>
              <a:gd name="T55" fmla="*/ 41 h 51"/>
              <a:gd name="T56" fmla="*/ 4 w 484"/>
              <a:gd name="T57" fmla="*/ 34 h 51"/>
              <a:gd name="T58" fmla="*/ 4 w 484"/>
              <a:gd name="T59" fmla="*/ 28 h 51"/>
              <a:gd name="T60" fmla="*/ 4 w 484"/>
              <a:gd name="T61" fmla="*/ 21 h 51"/>
              <a:gd name="T62" fmla="*/ 4 w 484"/>
              <a:gd name="T63" fmla="*/ 14 h 51"/>
              <a:gd name="T64" fmla="*/ 4 w 484"/>
              <a:gd name="T65" fmla="*/ 9 h 51"/>
              <a:gd name="T66" fmla="*/ 4 w 484"/>
              <a:gd name="T67" fmla="*/ 3 h 51"/>
              <a:gd name="T68" fmla="*/ 2 w 48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4" h="51">
                <a:moveTo>
                  <a:pt x="484" y="24"/>
                </a:moveTo>
                <a:lnTo>
                  <a:pt x="484" y="21"/>
                </a:lnTo>
                <a:lnTo>
                  <a:pt x="484" y="18"/>
                </a:lnTo>
                <a:lnTo>
                  <a:pt x="484" y="14"/>
                </a:lnTo>
                <a:lnTo>
                  <a:pt x="484" y="11"/>
                </a:lnTo>
                <a:lnTo>
                  <a:pt x="484" y="9"/>
                </a:lnTo>
                <a:lnTo>
                  <a:pt x="484" y="6"/>
                </a:lnTo>
                <a:lnTo>
                  <a:pt x="484" y="3"/>
                </a:lnTo>
                <a:lnTo>
                  <a:pt x="484" y="0"/>
                </a:lnTo>
                <a:lnTo>
                  <a:pt x="481" y="0"/>
                </a:lnTo>
                <a:lnTo>
                  <a:pt x="481" y="3"/>
                </a:lnTo>
                <a:lnTo>
                  <a:pt x="481" y="6"/>
                </a:lnTo>
                <a:lnTo>
                  <a:pt x="481" y="9"/>
                </a:lnTo>
                <a:lnTo>
                  <a:pt x="481" y="11"/>
                </a:lnTo>
                <a:lnTo>
                  <a:pt x="481" y="14"/>
                </a:lnTo>
                <a:lnTo>
                  <a:pt x="481" y="18"/>
                </a:lnTo>
                <a:lnTo>
                  <a:pt x="481" y="21"/>
                </a:lnTo>
                <a:lnTo>
                  <a:pt x="481" y="24"/>
                </a:lnTo>
                <a:lnTo>
                  <a:pt x="481" y="28"/>
                </a:lnTo>
                <a:lnTo>
                  <a:pt x="481" y="31"/>
                </a:lnTo>
                <a:lnTo>
                  <a:pt x="481" y="34"/>
                </a:lnTo>
                <a:lnTo>
                  <a:pt x="481" y="38"/>
                </a:lnTo>
                <a:lnTo>
                  <a:pt x="481" y="41"/>
                </a:lnTo>
                <a:lnTo>
                  <a:pt x="481" y="44"/>
                </a:lnTo>
                <a:lnTo>
                  <a:pt x="481" y="48"/>
                </a:lnTo>
                <a:lnTo>
                  <a:pt x="481" y="51"/>
                </a:lnTo>
                <a:lnTo>
                  <a:pt x="484" y="51"/>
                </a:lnTo>
                <a:lnTo>
                  <a:pt x="484" y="48"/>
                </a:lnTo>
                <a:lnTo>
                  <a:pt x="484" y="44"/>
                </a:lnTo>
                <a:lnTo>
                  <a:pt x="484" y="41"/>
                </a:lnTo>
                <a:lnTo>
                  <a:pt x="484" y="38"/>
                </a:lnTo>
                <a:lnTo>
                  <a:pt x="484" y="34"/>
                </a:lnTo>
                <a:lnTo>
                  <a:pt x="484" y="31"/>
                </a:lnTo>
                <a:lnTo>
                  <a:pt x="484" y="28"/>
                </a:lnTo>
                <a:lnTo>
                  <a:pt x="48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06" name="Freeform 1711">
            <a:extLst>
              <a:ext uri="{FF2B5EF4-FFF2-40B4-BE49-F238E27FC236}">
                <a16:creationId xmlns:a16="http://schemas.microsoft.com/office/drawing/2014/main" id="{39D71048-B519-B398-354A-0DB87C24397E}"/>
              </a:ext>
            </a:extLst>
          </p:cNvPr>
          <p:cNvSpPr>
            <a:spLocks noEditPoints="1"/>
          </p:cNvSpPr>
          <p:nvPr/>
        </p:nvSpPr>
        <p:spPr bwMode="auto">
          <a:xfrm>
            <a:off x="2176463" y="2719388"/>
            <a:ext cx="762000" cy="80963"/>
          </a:xfrm>
          <a:custGeom>
            <a:avLst/>
            <a:gdLst>
              <a:gd name="T0" fmla="*/ 480 w 480"/>
              <a:gd name="T1" fmla="*/ 21 h 51"/>
              <a:gd name="T2" fmla="*/ 480 w 480"/>
              <a:gd name="T3" fmla="*/ 14 h 51"/>
              <a:gd name="T4" fmla="*/ 480 w 480"/>
              <a:gd name="T5" fmla="*/ 9 h 51"/>
              <a:gd name="T6" fmla="*/ 480 w 480"/>
              <a:gd name="T7" fmla="*/ 3 h 51"/>
              <a:gd name="T8" fmla="*/ 477 w 480"/>
              <a:gd name="T9" fmla="*/ 0 h 51"/>
              <a:gd name="T10" fmla="*/ 477 w 480"/>
              <a:gd name="T11" fmla="*/ 6 h 51"/>
              <a:gd name="T12" fmla="*/ 477 w 480"/>
              <a:gd name="T13" fmla="*/ 11 h 51"/>
              <a:gd name="T14" fmla="*/ 477 w 480"/>
              <a:gd name="T15" fmla="*/ 18 h 51"/>
              <a:gd name="T16" fmla="*/ 477 w 480"/>
              <a:gd name="T17" fmla="*/ 24 h 51"/>
              <a:gd name="T18" fmla="*/ 477 w 480"/>
              <a:gd name="T19" fmla="*/ 31 h 51"/>
              <a:gd name="T20" fmla="*/ 477 w 480"/>
              <a:gd name="T21" fmla="*/ 38 h 51"/>
              <a:gd name="T22" fmla="*/ 477 w 480"/>
              <a:gd name="T23" fmla="*/ 44 h 51"/>
              <a:gd name="T24" fmla="*/ 477 w 480"/>
              <a:gd name="T25" fmla="*/ 51 h 51"/>
              <a:gd name="T26" fmla="*/ 480 w 480"/>
              <a:gd name="T27" fmla="*/ 48 h 51"/>
              <a:gd name="T28" fmla="*/ 480 w 480"/>
              <a:gd name="T29" fmla="*/ 41 h 51"/>
              <a:gd name="T30" fmla="*/ 480 w 480"/>
              <a:gd name="T31" fmla="*/ 34 h 51"/>
              <a:gd name="T32" fmla="*/ 480 w 480"/>
              <a:gd name="T33" fmla="*/ 28 h 51"/>
              <a:gd name="T34" fmla="*/ 2 w 480"/>
              <a:gd name="T35" fmla="*/ 0 h 51"/>
              <a:gd name="T36" fmla="*/ 0 w 480"/>
              <a:gd name="T37" fmla="*/ 6 h 51"/>
              <a:gd name="T38" fmla="*/ 0 w 480"/>
              <a:gd name="T39" fmla="*/ 11 h 51"/>
              <a:gd name="T40" fmla="*/ 0 w 480"/>
              <a:gd name="T41" fmla="*/ 18 h 51"/>
              <a:gd name="T42" fmla="*/ 0 w 480"/>
              <a:gd name="T43" fmla="*/ 24 h 51"/>
              <a:gd name="T44" fmla="*/ 0 w 480"/>
              <a:gd name="T45" fmla="*/ 31 h 51"/>
              <a:gd name="T46" fmla="*/ 0 w 480"/>
              <a:gd name="T47" fmla="*/ 38 h 51"/>
              <a:gd name="T48" fmla="*/ 0 w 480"/>
              <a:gd name="T49" fmla="*/ 44 h 51"/>
              <a:gd name="T50" fmla="*/ 0 w 480"/>
              <a:gd name="T51" fmla="*/ 51 h 51"/>
              <a:gd name="T52" fmla="*/ 3 w 480"/>
              <a:gd name="T53" fmla="*/ 48 h 51"/>
              <a:gd name="T54" fmla="*/ 3 w 480"/>
              <a:gd name="T55" fmla="*/ 41 h 51"/>
              <a:gd name="T56" fmla="*/ 3 w 480"/>
              <a:gd name="T57" fmla="*/ 34 h 51"/>
              <a:gd name="T58" fmla="*/ 3 w 480"/>
              <a:gd name="T59" fmla="*/ 28 h 51"/>
              <a:gd name="T60" fmla="*/ 3 w 480"/>
              <a:gd name="T61" fmla="*/ 21 h 51"/>
              <a:gd name="T62" fmla="*/ 3 w 480"/>
              <a:gd name="T63" fmla="*/ 14 h 51"/>
              <a:gd name="T64" fmla="*/ 3 w 480"/>
              <a:gd name="T65" fmla="*/ 9 h 51"/>
              <a:gd name="T66" fmla="*/ 3 w 480"/>
              <a:gd name="T67" fmla="*/ 3 h 51"/>
              <a:gd name="T68" fmla="*/ 2 w 48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80" h="51">
                <a:moveTo>
                  <a:pt x="480" y="24"/>
                </a:moveTo>
                <a:lnTo>
                  <a:pt x="480" y="21"/>
                </a:lnTo>
                <a:lnTo>
                  <a:pt x="480" y="18"/>
                </a:lnTo>
                <a:lnTo>
                  <a:pt x="480" y="14"/>
                </a:lnTo>
                <a:lnTo>
                  <a:pt x="480" y="11"/>
                </a:lnTo>
                <a:lnTo>
                  <a:pt x="480" y="9"/>
                </a:lnTo>
                <a:lnTo>
                  <a:pt x="480" y="6"/>
                </a:lnTo>
                <a:lnTo>
                  <a:pt x="480" y="3"/>
                </a:lnTo>
                <a:lnTo>
                  <a:pt x="480" y="0"/>
                </a:lnTo>
                <a:lnTo>
                  <a:pt x="477" y="0"/>
                </a:lnTo>
                <a:lnTo>
                  <a:pt x="477" y="3"/>
                </a:lnTo>
                <a:lnTo>
                  <a:pt x="477" y="6"/>
                </a:lnTo>
                <a:lnTo>
                  <a:pt x="477" y="9"/>
                </a:lnTo>
                <a:lnTo>
                  <a:pt x="477" y="11"/>
                </a:lnTo>
                <a:lnTo>
                  <a:pt x="477" y="14"/>
                </a:lnTo>
                <a:lnTo>
                  <a:pt x="477" y="18"/>
                </a:lnTo>
                <a:lnTo>
                  <a:pt x="477" y="21"/>
                </a:lnTo>
                <a:lnTo>
                  <a:pt x="477" y="24"/>
                </a:lnTo>
                <a:lnTo>
                  <a:pt x="477" y="28"/>
                </a:lnTo>
                <a:lnTo>
                  <a:pt x="477" y="31"/>
                </a:lnTo>
                <a:lnTo>
                  <a:pt x="477" y="34"/>
                </a:lnTo>
                <a:lnTo>
                  <a:pt x="477" y="38"/>
                </a:lnTo>
                <a:lnTo>
                  <a:pt x="477" y="41"/>
                </a:lnTo>
                <a:lnTo>
                  <a:pt x="477" y="44"/>
                </a:lnTo>
                <a:lnTo>
                  <a:pt x="477" y="48"/>
                </a:lnTo>
                <a:lnTo>
                  <a:pt x="477" y="51"/>
                </a:lnTo>
                <a:lnTo>
                  <a:pt x="480" y="51"/>
                </a:lnTo>
                <a:lnTo>
                  <a:pt x="480" y="48"/>
                </a:lnTo>
                <a:lnTo>
                  <a:pt x="480" y="44"/>
                </a:lnTo>
                <a:lnTo>
                  <a:pt x="480" y="41"/>
                </a:lnTo>
                <a:lnTo>
                  <a:pt x="480" y="38"/>
                </a:lnTo>
                <a:lnTo>
                  <a:pt x="480" y="34"/>
                </a:lnTo>
                <a:lnTo>
                  <a:pt x="480" y="31"/>
                </a:lnTo>
                <a:lnTo>
                  <a:pt x="480" y="28"/>
                </a:lnTo>
                <a:lnTo>
                  <a:pt x="480"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07" name="Freeform 1712">
            <a:extLst>
              <a:ext uri="{FF2B5EF4-FFF2-40B4-BE49-F238E27FC236}">
                <a16:creationId xmlns:a16="http://schemas.microsoft.com/office/drawing/2014/main" id="{E0C01C1C-2CC8-AC90-6C7E-399EAFCD7159}"/>
              </a:ext>
            </a:extLst>
          </p:cNvPr>
          <p:cNvSpPr>
            <a:spLocks noEditPoints="1"/>
          </p:cNvSpPr>
          <p:nvPr/>
        </p:nvSpPr>
        <p:spPr bwMode="auto">
          <a:xfrm>
            <a:off x="2179638" y="2719388"/>
            <a:ext cx="757238" cy="80963"/>
          </a:xfrm>
          <a:custGeom>
            <a:avLst/>
            <a:gdLst>
              <a:gd name="T0" fmla="*/ 477 w 477"/>
              <a:gd name="T1" fmla="*/ 21 h 51"/>
              <a:gd name="T2" fmla="*/ 477 w 477"/>
              <a:gd name="T3" fmla="*/ 14 h 51"/>
              <a:gd name="T4" fmla="*/ 477 w 477"/>
              <a:gd name="T5" fmla="*/ 9 h 51"/>
              <a:gd name="T6" fmla="*/ 477 w 477"/>
              <a:gd name="T7" fmla="*/ 3 h 51"/>
              <a:gd name="T8" fmla="*/ 473 w 477"/>
              <a:gd name="T9" fmla="*/ 0 h 51"/>
              <a:gd name="T10" fmla="*/ 473 w 477"/>
              <a:gd name="T11" fmla="*/ 6 h 51"/>
              <a:gd name="T12" fmla="*/ 473 w 477"/>
              <a:gd name="T13" fmla="*/ 11 h 51"/>
              <a:gd name="T14" fmla="*/ 473 w 477"/>
              <a:gd name="T15" fmla="*/ 18 h 51"/>
              <a:gd name="T16" fmla="*/ 475 w 477"/>
              <a:gd name="T17" fmla="*/ 24 h 51"/>
              <a:gd name="T18" fmla="*/ 473 w 477"/>
              <a:gd name="T19" fmla="*/ 31 h 51"/>
              <a:gd name="T20" fmla="*/ 473 w 477"/>
              <a:gd name="T21" fmla="*/ 38 h 51"/>
              <a:gd name="T22" fmla="*/ 473 w 477"/>
              <a:gd name="T23" fmla="*/ 44 h 51"/>
              <a:gd name="T24" fmla="*/ 473 w 477"/>
              <a:gd name="T25" fmla="*/ 51 h 51"/>
              <a:gd name="T26" fmla="*/ 477 w 477"/>
              <a:gd name="T27" fmla="*/ 48 h 51"/>
              <a:gd name="T28" fmla="*/ 477 w 477"/>
              <a:gd name="T29" fmla="*/ 41 h 51"/>
              <a:gd name="T30" fmla="*/ 477 w 477"/>
              <a:gd name="T31" fmla="*/ 34 h 51"/>
              <a:gd name="T32" fmla="*/ 477 w 477"/>
              <a:gd name="T33" fmla="*/ 28 h 51"/>
              <a:gd name="T34" fmla="*/ 1 w 477"/>
              <a:gd name="T35" fmla="*/ 0 h 51"/>
              <a:gd name="T36" fmla="*/ 0 w 477"/>
              <a:gd name="T37" fmla="*/ 6 h 51"/>
              <a:gd name="T38" fmla="*/ 0 w 477"/>
              <a:gd name="T39" fmla="*/ 11 h 51"/>
              <a:gd name="T40" fmla="*/ 0 w 477"/>
              <a:gd name="T41" fmla="*/ 18 h 51"/>
              <a:gd name="T42" fmla="*/ 0 w 477"/>
              <a:gd name="T43" fmla="*/ 24 h 51"/>
              <a:gd name="T44" fmla="*/ 0 w 477"/>
              <a:gd name="T45" fmla="*/ 31 h 51"/>
              <a:gd name="T46" fmla="*/ 0 w 477"/>
              <a:gd name="T47" fmla="*/ 38 h 51"/>
              <a:gd name="T48" fmla="*/ 0 w 477"/>
              <a:gd name="T49" fmla="*/ 44 h 51"/>
              <a:gd name="T50" fmla="*/ 0 w 477"/>
              <a:gd name="T51" fmla="*/ 51 h 51"/>
              <a:gd name="T52" fmla="*/ 3 w 477"/>
              <a:gd name="T53" fmla="*/ 48 h 51"/>
              <a:gd name="T54" fmla="*/ 3 w 477"/>
              <a:gd name="T55" fmla="*/ 41 h 51"/>
              <a:gd name="T56" fmla="*/ 3 w 477"/>
              <a:gd name="T57" fmla="*/ 34 h 51"/>
              <a:gd name="T58" fmla="*/ 3 w 477"/>
              <a:gd name="T59" fmla="*/ 28 h 51"/>
              <a:gd name="T60" fmla="*/ 3 w 477"/>
              <a:gd name="T61" fmla="*/ 21 h 51"/>
              <a:gd name="T62" fmla="*/ 3 w 477"/>
              <a:gd name="T63" fmla="*/ 14 h 51"/>
              <a:gd name="T64" fmla="*/ 3 w 477"/>
              <a:gd name="T65" fmla="*/ 9 h 51"/>
              <a:gd name="T66" fmla="*/ 3 w 477"/>
              <a:gd name="T67" fmla="*/ 3 h 51"/>
              <a:gd name="T68" fmla="*/ 1 w 477"/>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7" h="51">
                <a:moveTo>
                  <a:pt x="477" y="24"/>
                </a:moveTo>
                <a:lnTo>
                  <a:pt x="477" y="21"/>
                </a:lnTo>
                <a:lnTo>
                  <a:pt x="477" y="18"/>
                </a:lnTo>
                <a:lnTo>
                  <a:pt x="477" y="14"/>
                </a:lnTo>
                <a:lnTo>
                  <a:pt x="477" y="11"/>
                </a:lnTo>
                <a:lnTo>
                  <a:pt x="477" y="9"/>
                </a:lnTo>
                <a:lnTo>
                  <a:pt x="477" y="6"/>
                </a:lnTo>
                <a:lnTo>
                  <a:pt x="477" y="3"/>
                </a:lnTo>
                <a:lnTo>
                  <a:pt x="477" y="0"/>
                </a:lnTo>
                <a:lnTo>
                  <a:pt x="473" y="0"/>
                </a:lnTo>
                <a:lnTo>
                  <a:pt x="473" y="3"/>
                </a:lnTo>
                <a:lnTo>
                  <a:pt x="473" y="6"/>
                </a:lnTo>
                <a:lnTo>
                  <a:pt x="473" y="9"/>
                </a:lnTo>
                <a:lnTo>
                  <a:pt x="473" y="11"/>
                </a:lnTo>
                <a:lnTo>
                  <a:pt x="473" y="14"/>
                </a:lnTo>
                <a:lnTo>
                  <a:pt x="473" y="18"/>
                </a:lnTo>
                <a:lnTo>
                  <a:pt x="473" y="21"/>
                </a:lnTo>
                <a:lnTo>
                  <a:pt x="475" y="24"/>
                </a:lnTo>
                <a:lnTo>
                  <a:pt x="473" y="28"/>
                </a:lnTo>
                <a:lnTo>
                  <a:pt x="473" y="31"/>
                </a:lnTo>
                <a:lnTo>
                  <a:pt x="473" y="34"/>
                </a:lnTo>
                <a:lnTo>
                  <a:pt x="473" y="38"/>
                </a:lnTo>
                <a:lnTo>
                  <a:pt x="473" y="41"/>
                </a:lnTo>
                <a:lnTo>
                  <a:pt x="473" y="44"/>
                </a:lnTo>
                <a:lnTo>
                  <a:pt x="473" y="48"/>
                </a:lnTo>
                <a:lnTo>
                  <a:pt x="473" y="51"/>
                </a:lnTo>
                <a:lnTo>
                  <a:pt x="477" y="51"/>
                </a:lnTo>
                <a:lnTo>
                  <a:pt x="477" y="48"/>
                </a:lnTo>
                <a:lnTo>
                  <a:pt x="477" y="44"/>
                </a:lnTo>
                <a:lnTo>
                  <a:pt x="477" y="41"/>
                </a:lnTo>
                <a:lnTo>
                  <a:pt x="477" y="38"/>
                </a:lnTo>
                <a:lnTo>
                  <a:pt x="477" y="34"/>
                </a:lnTo>
                <a:lnTo>
                  <a:pt x="477" y="31"/>
                </a:lnTo>
                <a:lnTo>
                  <a:pt x="477" y="28"/>
                </a:lnTo>
                <a:lnTo>
                  <a:pt x="477"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1"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08" name="Freeform 1713">
            <a:extLst>
              <a:ext uri="{FF2B5EF4-FFF2-40B4-BE49-F238E27FC236}">
                <a16:creationId xmlns:a16="http://schemas.microsoft.com/office/drawing/2014/main" id="{11BB974E-9657-6E88-C646-367B13A1340A}"/>
              </a:ext>
            </a:extLst>
          </p:cNvPr>
          <p:cNvSpPr>
            <a:spLocks noEditPoints="1"/>
          </p:cNvSpPr>
          <p:nvPr/>
        </p:nvSpPr>
        <p:spPr bwMode="auto">
          <a:xfrm>
            <a:off x="2181225" y="2719388"/>
            <a:ext cx="752475" cy="80963"/>
          </a:xfrm>
          <a:custGeom>
            <a:avLst/>
            <a:gdLst>
              <a:gd name="T0" fmla="*/ 474 w 474"/>
              <a:gd name="T1" fmla="*/ 21 h 51"/>
              <a:gd name="T2" fmla="*/ 474 w 474"/>
              <a:gd name="T3" fmla="*/ 14 h 51"/>
              <a:gd name="T4" fmla="*/ 474 w 474"/>
              <a:gd name="T5" fmla="*/ 9 h 51"/>
              <a:gd name="T6" fmla="*/ 474 w 474"/>
              <a:gd name="T7" fmla="*/ 3 h 51"/>
              <a:gd name="T8" fmla="*/ 471 w 474"/>
              <a:gd name="T9" fmla="*/ 0 h 51"/>
              <a:gd name="T10" fmla="*/ 471 w 474"/>
              <a:gd name="T11" fmla="*/ 6 h 51"/>
              <a:gd name="T12" fmla="*/ 471 w 474"/>
              <a:gd name="T13" fmla="*/ 11 h 51"/>
              <a:gd name="T14" fmla="*/ 471 w 474"/>
              <a:gd name="T15" fmla="*/ 18 h 51"/>
              <a:gd name="T16" fmla="*/ 472 w 474"/>
              <a:gd name="T17" fmla="*/ 24 h 51"/>
              <a:gd name="T18" fmla="*/ 471 w 474"/>
              <a:gd name="T19" fmla="*/ 31 h 51"/>
              <a:gd name="T20" fmla="*/ 471 w 474"/>
              <a:gd name="T21" fmla="*/ 38 h 51"/>
              <a:gd name="T22" fmla="*/ 471 w 474"/>
              <a:gd name="T23" fmla="*/ 44 h 51"/>
              <a:gd name="T24" fmla="*/ 471 w 474"/>
              <a:gd name="T25" fmla="*/ 51 h 51"/>
              <a:gd name="T26" fmla="*/ 474 w 474"/>
              <a:gd name="T27" fmla="*/ 48 h 51"/>
              <a:gd name="T28" fmla="*/ 474 w 474"/>
              <a:gd name="T29" fmla="*/ 41 h 51"/>
              <a:gd name="T30" fmla="*/ 474 w 474"/>
              <a:gd name="T31" fmla="*/ 34 h 51"/>
              <a:gd name="T32" fmla="*/ 474 w 474"/>
              <a:gd name="T33" fmla="*/ 28 h 51"/>
              <a:gd name="T34" fmla="*/ 2 w 474"/>
              <a:gd name="T35" fmla="*/ 0 h 51"/>
              <a:gd name="T36" fmla="*/ 0 w 474"/>
              <a:gd name="T37" fmla="*/ 6 h 51"/>
              <a:gd name="T38" fmla="*/ 0 w 474"/>
              <a:gd name="T39" fmla="*/ 11 h 51"/>
              <a:gd name="T40" fmla="*/ 0 w 474"/>
              <a:gd name="T41" fmla="*/ 18 h 51"/>
              <a:gd name="T42" fmla="*/ 0 w 474"/>
              <a:gd name="T43" fmla="*/ 24 h 51"/>
              <a:gd name="T44" fmla="*/ 0 w 474"/>
              <a:gd name="T45" fmla="*/ 31 h 51"/>
              <a:gd name="T46" fmla="*/ 0 w 474"/>
              <a:gd name="T47" fmla="*/ 38 h 51"/>
              <a:gd name="T48" fmla="*/ 0 w 474"/>
              <a:gd name="T49" fmla="*/ 44 h 51"/>
              <a:gd name="T50" fmla="*/ 0 w 474"/>
              <a:gd name="T51" fmla="*/ 51 h 51"/>
              <a:gd name="T52" fmla="*/ 4 w 474"/>
              <a:gd name="T53" fmla="*/ 48 h 51"/>
              <a:gd name="T54" fmla="*/ 4 w 474"/>
              <a:gd name="T55" fmla="*/ 41 h 51"/>
              <a:gd name="T56" fmla="*/ 4 w 474"/>
              <a:gd name="T57" fmla="*/ 34 h 51"/>
              <a:gd name="T58" fmla="*/ 4 w 474"/>
              <a:gd name="T59" fmla="*/ 28 h 51"/>
              <a:gd name="T60" fmla="*/ 4 w 474"/>
              <a:gd name="T61" fmla="*/ 21 h 51"/>
              <a:gd name="T62" fmla="*/ 4 w 474"/>
              <a:gd name="T63" fmla="*/ 14 h 51"/>
              <a:gd name="T64" fmla="*/ 4 w 474"/>
              <a:gd name="T65" fmla="*/ 9 h 51"/>
              <a:gd name="T66" fmla="*/ 4 w 474"/>
              <a:gd name="T67" fmla="*/ 3 h 51"/>
              <a:gd name="T68" fmla="*/ 2 w 47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4" h="51">
                <a:moveTo>
                  <a:pt x="474" y="24"/>
                </a:moveTo>
                <a:lnTo>
                  <a:pt x="474" y="21"/>
                </a:lnTo>
                <a:lnTo>
                  <a:pt x="474" y="18"/>
                </a:lnTo>
                <a:lnTo>
                  <a:pt x="474" y="14"/>
                </a:lnTo>
                <a:lnTo>
                  <a:pt x="474" y="11"/>
                </a:lnTo>
                <a:lnTo>
                  <a:pt x="474" y="9"/>
                </a:lnTo>
                <a:lnTo>
                  <a:pt x="474" y="6"/>
                </a:lnTo>
                <a:lnTo>
                  <a:pt x="474" y="3"/>
                </a:lnTo>
                <a:lnTo>
                  <a:pt x="474" y="0"/>
                </a:lnTo>
                <a:lnTo>
                  <a:pt x="471" y="0"/>
                </a:lnTo>
                <a:lnTo>
                  <a:pt x="471" y="3"/>
                </a:lnTo>
                <a:lnTo>
                  <a:pt x="471" y="6"/>
                </a:lnTo>
                <a:lnTo>
                  <a:pt x="471" y="9"/>
                </a:lnTo>
                <a:lnTo>
                  <a:pt x="471" y="11"/>
                </a:lnTo>
                <a:lnTo>
                  <a:pt x="471" y="14"/>
                </a:lnTo>
                <a:lnTo>
                  <a:pt x="471" y="18"/>
                </a:lnTo>
                <a:lnTo>
                  <a:pt x="471" y="21"/>
                </a:lnTo>
                <a:lnTo>
                  <a:pt x="472" y="24"/>
                </a:lnTo>
                <a:lnTo>
                  <a:pt x="471" y="28"/>
                </a:lnTo>
                <a:lnTo>
                  <a:pt x="471" y="31"/>
                </a:lnTo>
                <a:lnTo>
                  <a:pt x="471" y="34"/>
                </a:lnTo>
                <a:lnTo>
                  <a:pt x="471" y="38"/>
                </a:lnTo>
                <a:lnTo>
                  <a:pt x="471" y="41"/>
                </a:lnTo>
                <a:lnTo>
                  <a:pt x="471" y="44"/>
                </a:lnTo>
                <a:lnTo>
                  <a:pt x="471" y="48"/>
                </a:lnTo>
                <a:lnTo>
                  <a:pt x="471" y="51"/>
                </a:lnTo>
                <a:lnTo>
                  <a:pt x="474" y="51"/>
                </a:lnTo>
                <a:lnTo>
                  <a:pt x="474" y="48"/>
                </a:lnTo>
                <a:lnTo>
                  <a:pt x="474" y="44"/>
                </a:lnTo>
                <a:lnTo>
                  <a:pt x="474" y="41"/>
                </a:lnTo>
                <a:lnTo>
                  <a:pt x="474" y="38"/>
                </a:lnTo>
                <a:lnTo>
                  <a:pt x="474" y="34"/>
                </a:lnTo>
                <a:lnTo>
                  <a:pt x="474" y="31"/>
                </a:lnTo>
                <a:lnTo>
                  <a:pt x="474" y="28"/>
                </a:lnTo>
                <a:lnTo>
                  <a:pt x="474"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9"/>
                </a:lnTo>
                <a:lnTo>
                  <a:pt x="4" y="6"/>
                </a:lnTo>
                <a:lnTo>
                  <a:pt x="4" y="3"/>
                </a:lnTo>
                <a:lnTo>
                  <a:pt x="5" y="0"/>
                </a:lnTo>
                <a:lnTo>
                  <a:pt x="2"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09" name="Freeform 1714">
            <a:extLst>
              <a:ext uri="{FF2B5EF4-FFF2-40B4-BE49-F238E27FC236}">
                <a16:creationId xmlns:a16="http://schemas.microsoft.com/office/drawing/2014/main" id="{3B8BEDC3-59FC-D98B-9A65-BD4594A857E4}"/>
              </a:ext>
            </a:extLst>
          </p:cNvPr>
          <p:cNvSpPr>
            <a:spLocks noEditPoints="1"/>
          </p:cNvSpPr>
          <p:nvPr/>
        </p:nvSpPr>
        <p:spPr bwMode="auto">
          <a:xfrm>
            <a:off x="2184400" y="2719388"/>
            <a:ext cx="749300" cy="80963"/>
          </a:xfrm>
          <a:custGeom>
            <a:avLst/>
            <a:gdLst>
              <a:gd name="T0" fmla="*/ 470 w 472"/>
              <a:gd name="T1" fmla="*/ 21 h 51"/>
              <a:gd name="T2" fmla="*/ 470 w 472"/>
              <a:gd name="T3" fmla="*/ 14 h 51"/>
              <a:gd name="T4" fmla="*/ 470 w 472"/>
              <a:gd name="T5" fmla="*/ 9 h 51"/>
              <a:gd name="T6" fmla="*/ 470 w 472"/>
              <a:gd name="T7" fmla="*/ 3 h 51"/>
              <a:gd name="T8" fmla="*/ 467 w 472"/>
              <a:gd name="T9" fmla="*/ 0 h 51"/>
              <a:gd name="T10" fmla="*/ 467 w 472"/>
              <a:gd name="T11" fmla="*/ 6 h 51"/>
              <a:gd name="T12" fmla="*/ 467 w 472"/>
              <a:gd name="T13" fmla="*/ 11 h 51"/>
              <a:gd name="T14" fmla="*/ 467 w 472"/>
              <a:gd name="T15" fmla="*/ 18 h 51"/>
              <a:gd name="T16" fmla="*/ 469 w 472"/>
              <a:gd name="T17" fmla="*/ 24 h 51"/>
              <a:gd name="T18" fmla="*/ 467 w 472"/>
              <a:gd name="T19" fmla="*/ 31 h 51"/>
              <a:gd name="T20" fmla="*/ 467 w 472"/>
              <a:gd name="T21" fmla="*/ 38 h 51"/>
              <a:gd name="T22" fmla="*/ 467 w 472"/>
              <a:gd name="T23" fmla="*/ 44 h 51"/>
              <a:gd name="T24" fmla="*/ 467 w 472"/>
              <a:gd name="T25" fmla="*/ 51 h 51"/>
              <a:gd name="T26" fmla="*/ 470 w 472"/>
              <a:gd name="T27" fmla="*/ 48 h 51"/>
              <a:gd name="T28" fmla="*/ 470 w 472"/>
              <a:gd name="T29" fmla="*/ 41 h 51"/>
              <a:gd name="T30" fmla="*/ 470 w 472"/>
              <a:gd name="T31" fmla="*/ 34 h 51"/>
              <a:gd name="T32" fmla="*/ 470 w 472"/>
              <a:gd name="T33" fmla="*/ 28 h 51"/>
              <a:gd name="T34" fmla="*/ 2 w 472"/>
              <a:gd name="T35" fmla="*/ 0 h 51"/>
              <a:gd name="T36" fmla="*/ 0 w 472"/>
              <a:gd name="T37" fmla="*/ 6 h 51"/>
              <a:gd name="T38" fmla="*/ 0 w 472"/>
              <a:gd name="T39" fmla="*/ 11 h 51"/>
              <a:gd name="T40" fmla="*/ 0 w 472"/>
              <a:gd name="T41" fmla="*/ 18 h 51"/>
              <a:gd name="T42" fmla="*/ 0 w 472"/>
              <a:gd name="T43" fmla="*/ 24 h 51"/>
              <a:gd name="T44" fmla="*/ 0 w 472"/>
              <a:gd name="T45" fmla="*/ 31 h 51"/>
              <a:gd name="T46" fmla="*/ 0 w 472"/>
              <a:gd name="T47" fmla="*/ 38 h 51"/>
              <a:gd name="T48" fmla="*/ 0 w 472"/>
              <a:gd name="T49" fmla="*/ 44 h 51"/>
              <a:gd name="T50" fmla="*/ 0 w 472"/>
              <a:gd name="T51" fmla="*/ 51 h 51"/>
              <a:gd name="T52" fmla="*/ 3 w 472"/>
              <a:gd name="T53" fmla="*/ 48 h 51"/>
              <a:gd name="T54" fmla="*/ 3 w 472"/>
              <a:gd name="T55" fmla="*/ 41 h 51"/>
              <a:gd name="T56" fmla="*/ 3 w 472"/>
              <a:gd name="T57" fmla="*/ 34 h 51"/>
              <a:gd name="T58" fmla="*/ 3 w 472"/>
              <a:gd name="T59" fmla="*/ 28 h 51"/>
              <a:gd name="T60" fmla="*/ 3 w 472"/>
              <a:gd name="T61" fmla="*/ 21 h 51"/>
              <a:gd name="T62" fmla="*/ 3 w 472"/>
              <a:gd name="T63" fmla="*/ 14 h 51"/>
              <a:gd name="T64" fmla="*/ 3 w 472"/>
              <a:gd name="T65" fmla="*/ 9 h 51"/>
              <a:gd name="T66" fmla="*/ 3 w 472"/>
              <a:gd name="T67" fmla="*/ 3 h 51"/>
              <a:gd name="T68" fmla="*/ 2 w 4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72" h="51">
                <a:moveTo>
                  <a:pt x="472" y="24"/>
                </a:moveTo>
                <a:lnTo>
                  <a:pt x="470" y="21"/>
                </a:lnTo>
                <a:lnTo>
                  <a:pt x="470" y="18"/>
                </a:lnTo>
                <a:lnTo>
                  <a:pt x="470" y="14"/>
                </a:lnTo>
                <a:lnTo>
                  <a:pt x="470" y="11"/>
                </a:lnTo>
                <a:lnTo>
                  <a:pt x="470" y="9"/>
                </a:lnTo>
                <a:lnTo>
                  <a:pt x="470" y="6"/>
                </a:lnTo>
                <a:lnTo>
                  <a:pt x="470" y="3"/>
                </a:lnTo>
                <a:lnTo>
                  <a:pt x="470" y="0"/>
                </a:lnTo>
                <a:lnTo>
                  <a:pt x="467" y="0"/>
                </a:lnTo>
                <a:lnTo>
                  <a:pt x="467" y="3"/>
                </a:lnTo>
                <a:lnTo>
                  <a:pt x="467" y="6"/>
                </a:lnTo>
                <a:lnTo>
                  <a:pt x="467" y="9"/>
                </a:lnTo>
                <a:lnTo>
                  <a:pt x="467" y="11"/>
                </a:lnTo>
                <a:lnTo>
                  <a:pt x="467" y="14"/>
                </a:lnTo>
                <a:lnTo>
                  <a:pt x="467" y="18"/>
                </a:lnTo>
                <a:lnTo>
                  <a:pt x="467" y="21"/>
                </a:lnTo>
                <a:lnTo>
                  <a:pt x="469" y="24"/>
                </a:lnTo>
                <a:lnTo>
                  <a:pt x="467" y="28"/>
                </a:lnTo>
                <a:lnTo>
                  <a:pt x="467" y="31"/>
                </a:lnTo>
                <a:lnTo>
                  <a:pt x="467" y="34"/>
                </a:lnTo>
                <a:lnTo>
                  <a:pt x="467" y="38"/>
                </a:lnTo>
                <a:lnTo>
                  <a:pt x="467" y="41"/>
                </a:lnTo>
                <a:lnTo>
                  <a:pt x="467" y="44"/>
                </a:lnTo>
                <a:lnTo>
                  <a:pt x="467" y="48"/>
                </a:lnTo>
                <a:lnTo>
                  <a:pt x="467" y="51"/>
                </a:lnTo>
                <a:lnTo>
                  <a:pt x="470" y="51"/>
                </a:lnTo>
                <a:lnTo>
                  <a:pt x="470" y="48"/>
                </a:lnTo>
                <a:lnTo>
                  <a:pt x="470" y="44"/>
                </a:lnTo>
                <a:lnTo>
                  <a:pt x="470" y="41"/>
                </a:lnTo>
                <a:lnTo>
                  <a:pt x="470" y="38"/>
                </a:lnTo>
                <a:lnTo>
                  <a:pt x="470" y="34"/>
                </a:lnTo>
                <a:lnTo>
                  <a:pt x="470" y="31"/>
                </a:lnTo>
                <a:lnTo>
                  <a:pt x="470" y="28"/>
                </a:lnTo>
                <a:lnTo>
                  <a:pt x="472"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9"/>
                </a:lnTo>
                <a:lnTo>
                  <a:pt x="3" y="6"/>
                </a:lnTo>
                <a:lnTo>
                  <a:pt x="3" y="3"/>
                </a:lnTo>
                <a:lnTo>
                  <a:pt x="5" y="0"/>
                </a:lnTo>
                <a:lnTo>
                  <a:pt x="2"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10" name="Freeform 1715">
            <a:extLst>
              <a:ext uri="{FF2B5EF4-FFF2-40B4-BE49-F238E27FC236}">
                <a16:creationId xmlns:a16="http://schemas.microsoft.com/office/drawing/2014/main" id="{9F2F570D-458B-C77C-4A2A-D3AC3B1CF975}"/>
              </a:ext>
            </a:extLst>
          </p:cNvPr>
          <p:cNvSpPr>
            <a:spLocks noEditPoints="1"/>
          </p:cNvSpPr>
          <p:nvPr/>
        </p:nvSpPr>
        <p:spPr bwMode="auto">
          <a:xfrm>
            <a:off x="2187575" y="2719388"/>
            <a:ext cx="742950" cy="80963"/>
          </a:xfrm>
          <a:custGeom>
            <a:avLst/>
            <a:gdLst>
              <a:gd name="T0" fmla="*/ 467 w 468"/>
              <a:gd name="T1" fmla="*/ 21 h 51"/>
              <a:gd name="T2" fmla="*/ 467 w 468"/>
              <a:gd name="T3" fmla="*/ 14 h 51"/>
              <a:gd name="T4" fmla="*/ 467 w 468"/>
              <a:gd name="T5" fmla="*/ 9 h 51"/>
              <a:gd name="T6" fmla="*/ 467 w 468"/>
              <a:gd name="T7" fmla="*/ 3 h 51"/>
              <a:gd name="T8" fmla="*/ 463 w 468"/>
              <a:gd name="T9" fmla="*/ 0 h 51"/>
              <a:gd name="T10" fmla="*/ 463 w 468"/>
              <a:gd name="T11" fmla="*/ 6 h 51"/>
              <a:gd name="T12" fmla="*/ 463 w 468"/>
              <a:gd name="T13" fmla="*/ 11 h 51"/>
              <a:gd name="T14" fmla="*/ 463 w 468"/>
              <a:gd name="T15" fmla="*/ 18 h 51"/>
              <a:gd name="T16" fmla="*/ 465 w 468"/>
              <a:gd name="T17" fmla="*/ 24 h 51"/>
              <a:gd name="T18" fmla="*/ 463 w 468"/>
              <a:gd name="T19" fmla="*/ 31 h 51"/>
              <a:gd name="T20" fmla="*/ 463 w 468"/>
              <a:gd name="T21" fmla="*/ 38 h 51"/>
              <a:gd name="T22" fmla="*/ 463 w 468"/>
              <a:gd name="T23" fmla="*/ 44 h 51"/>
              <a:gd name="T24" fmla="*/ 463 w 468"/>
              <a:gd name="T25" fmla="*/ 51 h 51"/>
              <a:gd name="T26" fmla="*/ 467 w 468"/>
              <a:gd name="T27" fmla="*/ 48 h 51"/>
              <a:gd name="T28" fmla="*/ 467 w 468"/>
              <a:gd name="T29" fmla="*/ 41 h 51"/>
              <a:gd name="T30" fmla="*/ 467 w 468"/>
              <a:gd name="T31" fmla="*/ 34 h 51"/>
              <a:gd name="T32" fmla="*/ 467 w 468"/>
              <a:gd name="T33" fmla="*/ 28 h 51"/>
              <a:gd name="T34" fmla="*/ 1 w 468"/>
              <a:gd name="T35" fmla="*/ 0 h 51"/>
              <a:gd name="T36" fmla="*/ 0 w 468"/>
              <a:gd name="T37" fmla="*/ 6 h 51"/>
              <a:gd name="T38" fmla="*/ 0 w 468"/>
              <a:gd name="T39" fmla="*/ 11 h 51"/>
              <a:gd name="T40" fmla="*/ 0 w 468"/>
              <a:gd name="T41" fmla="*/ 18 h 51"/>
              <a:gd name="T42" fmla="*/ 0 w 468"/>
              <a:gd name="T43" fmla="*/ 24 h 51"/>
              <a:gd name="T44" fmla="*/ 0 w 468"/>
              <a:gd name="T45" fmla="*/ 31 h 51"/>
              <a:gd name="T46" fmla="*/ 0 w 468"/>
              <a:gd name="T47" fmla="*/ 38 h 51"/>
              <a:gd name="T48" fmla="*/ 0 w 468"/>
              <a:gd name="T49" fmla="*/ 44 h 51"/>
              <a:gd name="T50" fmla="*/ 0 w 468"/>
              <a:gd name="T51" fmla="*/ 51 h 51"/>
              <a:gd name="T52" fmla="*/ 3 w 468"/>
              <a:gd name="T53" fmla="*/ 48 h 51"/>
              <a:gd name="T54" fmla="*/ 3 w 468"/>
              <a:gd name="T55" fmla="*/ 41 h 51"/>
              <a:gd name="T56" fmla="*/ 3 w 468"/>
              <a:gd name="T57" fmla="*/ 34 h 51"/>
              <a:gd name="T58" fmla="*/ 3 w 468"/>
              <a:gd name="T59" fmla="*/ 28 h 51"/>
              <a:gd name="T60" fmla="*/ 3 w 468"/>
              <a:gd name="T61" fmla="*/ 21 h 51"/>
              <a:gd name="T62" fmla="*/ 3 w 468"/>
              <a:gd name="T63" fmla="*/ 14 h 51"/>
              <a:gd name="T64" fmla="*/ 3 w 468"/>
              <a:gd name="T65" fmla="*/ 8 h 51"/>
              <a:gd name="T66" fmla="*/ 3 w 468"/>
              <a:gd name="T67" fmla="*/ 3 h 51"/>
              <a:gd name="T68" fmla="*/ 1 w 46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8" h="51">
                <a:moveTo>
                  <a:pt x="468" y="24"/>
                </a:moveTo>
                <a:lnTo>
                  <a:pt x="467" y="21"/>
                </a:lnTo>
                <a:lnTo>
                  <a:pt x="467" y="18"/>
                </a:lnTo>
                <a:lnTo>
                  <a:pt x="467" y="14"/>
                </a:lnTo>
                <a:lnTo>
                  <a:pt x="467" y="11"/>
                </a:lnTo>
                <a:lnTo>
                  <a:pt x="467" y="9"/>
                </a:lnTo>
                <a:lnTo>
                  <a:pt x="467" y="6"/>
                </a:lnTo>
                <a:lnTo>
                  <a:pt x="467" y="3"/>
                </a:lnTo>
                <a:lnTo>
                  <a:pt x="467" y="0"/>
                </a:lnTo>
                <a:lnTo>
                  <a:pt x="463" y="0"/>
                </a:lnTo>
                <a:lnTo>
                  <a:pt x="463" y="3"/>
                </a:lnTo>
                <a:lnTo>
                  <a:pt x="463" y="6"/>
                </a:lnTo>
                <a:lnTo>
                  <a:pt x="463" y="8"/>
                </a:lnTo>
                <a:lnTo>
                  <a:pt x="463" y="11"/>
                </a:lnTo>
                <a:lnTo>
                  <a:pt x="463" y="14"/>
                </a:lnTo>
                <a:lnTo>
                  <a:pt x="463" y="18"/>
                </a:lnTo>
                <a:lnTo>
                  <a:pt x="463" y="21"/>
                </a:lnTo>
                <a:lnTo>
                  <a:pt x="465" y="24"/>
                </a:lnTo>
                <a:lnTo>
                  <a:pt x="463" y="28"/>
                </a:lnTo>
                <a:lnTo>
                  <a:pt x="463" y="31"/>
                </a:lnTo>
                <a:lnTo>
                  <a:pt x="463" y="34"/>
                </a:lnTo>
                <a:lnTo>
                  <a:pt x="463" y="38"/>
                </a:lnTo>
                <a:lnTo>
                  <a:pt x="463" y="41"/>
                </a:lnTo>
                <a:lnTo>
                  <a:pt x="463" y="44"/>
                </a:lnTo>
                <a:lnTo>
                  <a:pt x="463" y="48"/>
                </a:lnTo>
                <a:lnTo>
                  <a:pt x="463" y="51"/>
                </a:lnTo>
                <a:lnTo>
                  <a:pt x="467" y="51"/>
                </a:lnTo>
                <a:lnTo>
                  <a:pt x="467" y="48"/>
                </a:lnTo>
                <a:lnTo>
                  <a:pt x="467" y="44"/>
                </a:lnTo>
                <a:lnTo>
                  <a:pt x="467" y="41"/>
                </a:lnTo>
                <a:lnTo>
                  <a:pt x="467" y="38"/>
                </a:lnTo>
                <a:lnTo>
                  <a:pt x="467" y="34"/>
                </a:lnTo>
                <a:lnTo>
                  <a:pt x="467" y="31"/>
                </a:lnTo>
                <a:lnTo>
                  <a:pt x="467" y="28"/>
                </a:lnTo>
                <a:lnTo>
                  <a:pt x="468" y="24"/>
                </a:lnTo>
                <a:close/>
                <a:moveTo>
                  <a:pt x="1"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11" name="Freeform 1716">
            <a:extLst>
              <a:ext uri="{FF2B5EF4-FFF2-40B4-BE49-F238E27FC236}">
                <a16:creationId xmlns:a16="http://schemas.microsoft.com/office/drawing/2014/main" id="{6E40B90A-E815-DE7D-E5C7-5A53C45FBB73}"/>
              </a:ext>
            </a:extLst>
          </p:cNvPr>
          <p:cNvSpPr>
            <a:spLocks noEditPoints="1"/>
          </p:cNvSpPr>
          <p:nvPr/>
        </p:nvSpPr>
        <p:spPr bwMode="auto">
          <a:xfrm>
            <a:off x="2189163" y="2719388"/>
            <a:ext cx="739775" cy="80963"/>
          </a:xfrm>
          <a:custGeom>
            <a:avLst/>
            <a:gdLst>
              <a:gd name="T0" fmla="*/ 464 w 466"/>
              <a:gd name="T1" fmla="*/ 21 h 51"/>
              <a:gd name="T2" fmla="*/ 464 w 466"/>
              <a:gd name="T3" fmla="*/ 14 h 51"/>
              <a:gd name="T4" fmla="*/ 464 w 466"/>
              <a:gd name="T5" fmla="*/ 9 h 51"/>
              <a:gd name="T6" fmla="*/ 464 w 466"/>
              <a:gd name="T7" fmla="*/ 3 h 51"/>
              <a:gd name="T8" fmla="*/ 461 w 466"/>
              <a:gd name="T9" fmla="*/ 0 h 51"/>
              <a:gd name="T10" fmla="*/ 461 w 466"/>
              <a:gd name="T11" fmla="*/ 6 h 51"/>
              <a:gd name="T12" fmla="*/ 461 w 466"/>
              <a:gd name="T13" fmla="*/ 11 h 51"/>
              <a:gd name="T14" fmla="*/ 461 w 466"/>
              <a:gd name="T15" fmla="*/ 18 h 51"/>
              <a:gd name="T16" fmla="*/ 462 w 466"/>
              <a:gd name="T17" fmla="*/ 24 h 51"/>
              <a:gd name="T18" fmla="*/ 461 w 466"/>
              <a:gd name="T19" fmla="*/ 31 h 51"/>
              <a:gd name="T20" fmla="*/ 461 w 466"/>
              <a:gd name="T21" fmla="*/ 38 h 51"/>
              <a:gd name="T22" fmla="*/ 461 w 466"/>
              <a:gd name="T23" fmla="*/ 44 h 51"/>
              <a:gd name="T24" fmla="*/ 461 w 466"/>
              <a:gd name="T25" fmla="*/ 51 h 51"/>
              <a:gd name="T26" fmla="*/ 464 w 466"/>
              <a:gd name="T27" fmla="*/ 48 h 51"/>
              <a:gd name="T28" fmla="*/ 464 w 466"/>
              <a:gd name="T29" fmla="*/ 41 h 51"/>
              <a:gd name="T30" fmla="*/ 464 w 466"/>
              <a:gd name="T31" fmla="*/ 34 h 51"/>
              <a:gd name="T32" fmla="*/ 464 w 466"/>
              <a:gd name="T33" fmla="*/ 28 h 51"/>
              <a:gd name="T34" fmla="*/ 2 w 466"/>
              <a:gd name="T35" fmla="*/ 0 h 51"/>
              <a:gd name="T36" fmla="*/ 0 w 466"/>
              <a:gd name="T37" fmla="*/ 6 h 51"/>
              <a:gd name="T38" fmla="*/ 0 w 466"/>
              <a:gd name="T39" fmla="*/ 11 h 51"/>
              <a:gd name="T40" fmla="*/ 0 w 466"/>
              <a:gd name="T41" fmla="*/ 18 h 51"/>
              <a:gd name="T42" fmla="*/ 0 w 466"/>
              <a:gd name="T43" fmla="*/ 24 h 51"/>
              <a:gd name="T44" fmla="*/ 0 w 466"/>
              <a:gd name="T45" fmla="*/ 31 h 51"/>
              <a:gd name="T46" fmla="*/ 0 w 466"/>
              <a:gd name="T47" fmla="*/ 38 h 51"/>
              <a:gd name="T48" fmla="*/ 0 w 466"/>
              <a:gd name="T49" fmla="*/ 44 h 51"/>
              <a:gd name="T50" fmla="*/ 0 w 466"/>
              <a:gd name="T51" fmla="*/ 51 h 51"/>
              <a:gd name="T52" fmla="*/ 4 w 466"/>
              <a:gd name="T53" fmla="*/ 48 h 51"/>
              <a:gd name="T54" fmla="*/ 4 w 466"/>
              <a:gd name="T55" fmla="*/ 41 h 51"/>
              <a:gd name="T56" fmla="*/ 4 w 466"/>
              <a:gd name="T57" fmla="*/ 34 h 51"/>
              <a:gd name="T58" fmla="*/ 4 w 466"/>
              <a:gd name="T59" fmla="*/ 28 h 51"/>
              <a:gd name="T60" fmla="*/ 4 w 466"/>
              <a:gd name="T61" fmla="*/ 21 h 51"/>
              <a:gd name="T62" fmla="*/ 4 w 466"/>
              <a:gd name="T63" fmla="*/ 14 h 51"/>
              <a:gd name="T64" fmla="*/ 4 w 466"/>
              <a:gd name="T65" fmla="*/ 8 h 51"/>
              <a:gd name="T66" fmla="*/ 4 w 466"/>
              <a:gd name="T67" fmla="*/ 3 h 51"/>
              <a:gd name="T68" fmla="*/ 2 w 4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6" h="51">
                <a:moveTo>
                  <a:pt x="466" y="24"/>
                </a:moveTo>
                <a:lnTo>
                  <a:pt x="464" y="21"/>
                </a:lnTo>
                <a:lnTo>
                  <a:pt x="464" y="18"/>
                </a:lnTo>
                <a:lnTo>
                  <a:pt x="464" y="14"/>
                </a:lnTo>
                <a:lnTo>
                  <a:pt x="464" y="11"/>
                </a:lnTo>
                <a:lnTo>
                  <a:pt x="464" y="9"/>
                </a:lnTo>
                <a:lnTo>
                  <a:pt x="464" y="6"/>
                </a:lnTo>
                <a:lnTo>
                  <a:pt x="464" y="3"/>
                </a:lnTo>
                <a:lnTo>
                  <a:pt x="464" y="0"/>
                </a:lnTo>
                <a:lnTo>
                  <a:pt x="461" y="0"/>
                </a:lnTo>
                <a:lnTo>
                  <a:pt x="461" y="3"/>
                </a:lnTo>
                <a:lnTo>
                  <a:pt x="461" y="6"/>
                </a:lnTo>
                <a:lnTo>
                  <a:pt x="461" y="8"/>
                </a:lnTo>
                <a:lnTo>
                  <a:pt x="461" y="11"/>
                </a:lnTo>
                <a:lnTo>
                  <a:pt x="461" y="14"/>
                </a:lnTo>
                <a:lnTo>
                  <a:pt x="461" y="18"/>
                </a:lnTo>
                <a:lnTo>
                  <a:pt x="461" y="21"/>
                </a:lnTo>
                <a:lnTo>
                  <a:pt x="462" y="24"/>
                </a:lnTo>
                <a:lnTo>
                  <a:pt x="462" y="28"/>
                </a:lnTo>
                <a:lnTo>
                  <a:pt x="461" y="31"/>
                </a:lnTo>
                <a:lnTo>
                  <a:pt x="461" y="34"/>
                </a:lnTo>
                <a:lnTo>
                  <a:pt x="461" y="38"/>
                </a:lnTo>
                <a:lnTo>
                  <a:pt x="461" y="41"/>
                </a:lnTo>
                <a:lnTo>
                  <a:pt x="461" y="44"/>
                </a:lnTo>
                <a:lnTo>
                  <a:pt x="461" y="48"/>
                </a:lnTo>
                <a:lnTo>
                  <a:pt x="461" y="51"/>
                </a:lnTo>
                <a:lnTo>
                  <a:pt x="464" y="51"/>
                </a:lnTo>
                <a:lnTo>
                  <a:pt x="464" y="48"/>
                </a:lnTo>
                <a:lnTo>
                  <a:pt x="464" y="44"/>
                </a:lnTo>
                <a:lnTo>
                  <a:pt x="464" y="41"/>
                </a:lnTo>
                <a:lnTo>
                  <a:pt x="464" y="38"/>
                </a:lnTo>
                <a:lnTo>
                  <a:pt x="464" y="34"/>
                </a:lnTo>
                <a:lnTo>
                  <a:pt x="464" y="31"/>
                </a:lnTo>
                <a:lnTo>
                  <a:pt x="464" y="28"/>
                </a:lnTo>
                <a:lnTo>
                  <a:pt x="466" y="24"/>
                </a:lnTo>
                <a:close/>
                <a:moveTo>
                  <a:pt x="2" y="0"/>
                </a:moveTo>
                <a:lnTo>
                  <a:pt x="0" y="3"/>
                </a:lnTo>
                <a:lnTo>
                  <a:pt x="0" y="6"/>
                </a:lnTo>
                <a:lnTo>
                  <a:pt x="0" y="9"/>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12" name="Freeform 1717">
            <a:extLst>
              <a:ext uri="{FF2B5EF4-FFF2-40B4-BE49-F238E27FC236}">
                <a16:creationId xmlns:a16="http://schemas.microsoft.com/office/drawing/2014/main" id="{DAB3963B-038C-9B9E-5341-4CEA14CC523A}"/>
              </a:ext>
            </a:extLst>
          </p:cNvPr>
          <p:cNvSpPr>
            <a:spLocks noEditPoints="1"/>
          </p:cNvSpPr>
          <p:nvPr/>
        </p:nvSpPr>
        <p:spPr bwMode="auto">
          <a:xfrm>
            <a:off x="2192338" y="2719388"/>
            <a:ext cx="733425" cy="80963"/>
          </a:xfrm>
          <a:custGeom>
            <a:avLst/>
            <a:gdLst>
              <a:gd name="T0" fmla="*/ 460 w 462"/>
              <a:gd name="T1" fmla="*/ 21 h 51"/>
              <a:gd name="T2" fmla="*/ 460 w 462"/>
              <a:gd name="T3" fmla="*/ 14 h 51"/>
              <a:gd name="T4" fmla="*/ 460 w 462"/>
              <a:gd name="T5" fmla="*/ 8 h 51"/>
              <a:gd name="T6" fmla="*/ 460 w 462"/>
              <a:gd name="T7" fmla="*/ 3 h 51"/>
              <a:gd name="T8" fmla="*/ 457 w 462"/>
              <a:gd name="T9" fmla="*/ 0 h 51"/>
              <a:gd name="T10" fmla="*/ 457 w 462"/>
              <a:gd name="T11" fmla="*/ 6 h 51"/>
              <a:gd name="T12" fmla="*/ 457 w 462"/>
              <a:gd name="T13" fmla="*/ 11 h 51"/>
              <a:gd name="T14" fmla="*/ 457 w 462"/>
              <a:gd name="T15" fmla="*/ 18 h 51"/>
              <a:gd name="T16" fmla="*/ 459 w 462"/>
              <a:gd name="T17" fmla="*/ 24 h 51"/>
              <a:gd name="T18" fmla="*/ 457 w 462"/>
              <a:gd name="T19" fmla="*/ 31 h 51"/>
              <a:gd name="T20" fmla="*/ 457 w 462"/>
              <a:gd name="T21" fmla="*/ 38 h 51"/>
              <a:gd name="T22" fmla="*/ 457 w 462"/>
              <a:gd name="T23" fmla="*/ 44 h 51"/>
              <a:gd name="T24" fmla="*/ 457 w 462"/>
              <a:gd name="T25" fmla="*/ 51 h 51"/>
              <a:gd name="T26" fmla="*/ 460 w 462"/>
              <a:gd name="T27" fmla="*/ 48 h 51"/>
              <a:gd name="T28" fmla="*/ 460 w 462"/>
              <a:gd name="T29" fmla="*/ 41 h 51"/>
              <a:gd name="T30" fmla="*/ 460 w 462"/>
              <a:gd name="T31" fmla="*/ 34 h 51"/>
              <a:gd name="T32" fmla="*/ 460 w 462"/>
              <a:gd name="T33" fmla="*/ 28 h 51"/>
              <a:gd name="T34" fmla="*/ 2 w 462"/>
              <a:gd name="T35" fmla="*/ 0 h 51"/>
              <a:gd name="T36" fmla="*/ 0 w 462"/>
              <a:gd name="T37" fmla="*/ 6 h 51"/>
              <a:gd name="T38" fmla="*/ 0 w 462"/>
              <a:gd name="T39" fmla="*/ 11 h 51"/>
              <a:gd name="T40" fmla="*/ 0 w 462"/>
              <a:gd name="T41" fmla="*/ 18 h 51"/>
              <a:gd name="T42" fmla="*/ 0 w 462"/>
              <a:gd name="T43" fmla="*/ 24 h 51"/>
              <a:gd name="T44" fmla="*/ 0 w 462"/>
              <a:gd name="T45" fmla="*/ 31 h 51"/>
              <a:gd name="T46" fmla="*/ 0 w 462"/>
              <a:gd name="T47" fmla="*/ 38 h 51"/>
              <a:gd name="T48" fmla="*/ 0 w 462"/>
              <a:gd name="T49" fmla="*/ 44 h 51"/>
              <a:gd name="T50" fmla="*/ 0 w 462"/>
              <a:gd name="T51" fmla="*/ 51 h 51"/>
              <a:gd name="T52" fmla="*/ 3 w 462"/>
              <a:gd name="T53" fmla="*/ 48 h 51"/>
              <a:gd name="T54" fmla="*/ 3 w 462"/>
              <a:gd name="T55" fmla="*/ 41 h 51"/>
              <a:gd name="T56" fmla="*/ 3 w 462"/>
              <a:gd name="T57" fmla="*/ 34 h 51"/>
              <a:gd name="T58" fmla="*/ 3 w 462"/>
              <a:gd name="T59" fmla="*/ 28 h 51"/>
              <a:gd name="T60" fmla="*/ 3 w 462"/>
              <a:gd name="T61" fmla="*/ 21 h 51"/>
              <a:gd name="T62" fmla="*/ 3 w 462"/>
              <a:gd name="T63" fmla="*/ 14 h 51"/>
              <a:gd name="T64" fmla="*/ 3 w 462"/>
              <a:gd name="T65" fmla="*/ 8 h 51"/>
              <a:gd name="T66" fmla="*/ 3 w 462"/>
              <a:gd name="T67" fmla="*/ 3 h 51"/>
              <a:gd name="T68" fmla="*/ 2 w 4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62" h="51">
                <a:moveTo>
                  <a:pt x="462" y="24"/>
                </a:moveTo>
                <a:lnTo>
                  <a:pt x="460" y="21"/>
                </a:lnTo>
                <a:lnTo>
                  <a:pt x="460" y="18"/>
                </a:lnTo>
                <a:lnTo>
                  <a:pt x="460" y="14"/>
                </a:lnTo>
                <a:lnTo>
                  <a:pt x="460" y="11"/>
                </a:lnTo>
                <a:lnTo>
                  <a:pt x="460" y="8"/>
                </a:lnTo>
                <a:lnTo>
                  <a:pt x="460" y="6"/>
                </a:lnTo>
                <a:lnTo>
                  <a:pt x="460" y="3"/>
                </a:lnTo>
                <a:lnTo>
                  <a:pt x="460" y="0"/>
                </a:lnTo>
                <a:lnTo>
                  <a:pt x="457" y="0"/>
                </a:lnTo>
                <a:lnTo>
                  <a:pt x="457" y="3"/>
                </a:lnTo>
                <a:lnTo>
                  <a:pt x="457" y="6"/>
                </a:lnTo>
                <a:lnTo>
                  <a:pt x="457" y="8"/>
                </a:lnTo>
                <a:lnTo>
                  <a:pt x="457" y="11"/>
                </a:lnTo>
                <a:lnTo>
                  <a:pt x="457" y="14"/>
                </a:lnTo>
                <a:lnTo>
                  <a:pt x="457" y="18"/>
                </a:lnTo>
                <a:lnTo>
                  <a:pt x="459" y="21"/>
                </a:lnTo>
                <a:lnTo>
                  <a:pt x="459" y="24"/>
                </a:lnTo>
                <a:lnTo>
                  <a:pt x="459" y="28"/>
                </a:lnTo>
                <a:lnTo>
                  <a:pt x="457" y="31"/>
                </a:lnTo>
                <a:lnTo>
                  <a:pt x="457" y="34"/>
                </a:lnTo>
                <a:lnTo>
                  <a:pt x="457" y="38"/>
                </a:lnTo>
                <a:lnTo>
                  <a:pt x="457" y="41"/>
                </a:lnTo>
                <a:lnTo>
                  <a:pt x="457" y="44"/>
                </a:lnTo>
                <a:lnTo>
                  <a:pt x="457" y="48"/>
                </a:lnTo>
                <a:lnTo>
                  <a:pt x="457" y="51"/>
                </a:lnTo>
                <a:lnTo>
                  <a:pt x="460" y="51"/>
                </a:lnTo>
                <a:lnTo>
                  <a:pt x="460" y="48"/>
                </a:lnTo>
                <a:lnTo>
                  <a:pt x="460" y="44"/>
                </a:lnTo>
                <a:lnTo>
                  <a:pt x="460" y="41"/>
                </a:lnTo>
                <a:lnTo>
                  <a:pt x="460" y="38"/>
                </a:lnTo>
                <a:lnTo>
                  <a:pt x="460" y="34"/>
                </a:lnTo>
                <a:lnTo>
                  <a:pt x="460" y="31"/>
                </a:lnTo>
                <a:lnTo>
                  <a:pt x="460" y="28"/>
                </a:lnTo>
                <a:lnTo>
                  <a:pt x="46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13" name="Freeform 1718">
            <a:extLst>
              <a:ext uri="{FF2B5EF4-FFF2-40B4-BE49-F238E27FC236}">
                <a16:creationId xmlns:a16="http://schemas.microsoft.com/office/drawing/2014/main" id="{9B631675-D560-C341-94D7-8181352E43A9}"/>
              </a:ext>
            </a:extLst>
          </p:cNvPr>
          <p:cNvSpPr>
            <a:spLocks noEditPoints="1"/>
          </p:cNvSpPr>
          <p:nvPr/>
        </p:nvSpPr>
        <p:spPr bwMode="auto">
          <a:xfrm>
            <a:off x="2195513" y="2719388"/>
            <a:ext cx="727075" cy="80963"/>
          </a:xfrm>
          <a:custGeom>
            <a:avLst/>
            <a:gdLst>
              <a:gd name="T0" fmla="*/ 457 w 458"/>
              <a:gd name="T1" fmla="*/ 21 h 51"/>
              <a:gd name="T2" fmla="*/ 457 w 458"/>
              <a:gd name="T3" fmla="*/ 14 h 51"/>
              <a:gd name="T4" fmla="*/ 457 w 458"/>
              <a:gd name="T5" fmla="*/ 8 h 51"/>
              <a:gd name="T6" fmla="*/ 457 w 458"/>
              <a:gd name="T7" fmla="*/ 3 h 51"/>
              <a:gd name="T8" fmla="*/ 453 w 458"/>
              <a:gd name="T9" fmla="*/ 0 h 51"/>
              <a:gd name="T10" fmla="*/ 453 w 458"/>
              <a:gd name="T11" fmla="*/ 6 h 51"/>
              <a:gd name="T12" fmla="*/ 453 w 458"/>
              <a:gd name="T13" fmla="*/ 11 h 51"/>
              <a:gd name="T14" fmla="*/ 453 w 458"/>
              <a:gd name="T15" fmla="*/ 18 h 51"/>
              <a:gd name="T16" fmla="*/ 455 w 458"/>
              <a:gd name="T17" fmla="*/ 24 h 51"/>
              <a:gd name="T18" fmla="*/ 453 w 458"/>
              <a:gd name="T19" fmla="*/ 31 h 51"/>
              <a:gd name="T20" fmla="*/ 453 w 458"/>
              <a:gd name="T21" fmla="*/ 38 h 51"/>
              <a:gd name="T22" fmla="*/ 453 w 458"/>
              <a:gd name="T23" fmla="*/ 44 h 51"/>
              <a:gd name="T24" fmla="*/ 453 w 458"/>
              <a:gd name="T25" fmla="*/ 51 h 51"/>
              <a:gd name="T26" fmla="*/ 457 w 458"/>
              <a:gd name="T27" fmla="*/ 48 h 51"/>
              <a:gd name="T28" fmla="*/ 457 w 458"/>
              <a:gd name="T29" fmla="*/ 41 h 51"/>
              <a:gd name="T30" fmla="*/ 457 w 458"/>
              <a:gd name="T31" fmla="*/ 34 h 51"/>
              <a:gd name="T32" fmla="*/ 458 w 458"/>
              <a:gd name="T33" fmla="*/ 28 h 51"/>
              <a:gd name="T34" fmla="*/ 1 w 458"/>
              <a:gd name="T35" fmla="*/ 0 h 51"/>
              <a:gd name="T36" fmla="*/ 0 w 458"/>
              <a:gd name="T37" fmla="*/ 6 h 51"/>
              <a:gd name="T38" fmla="*/ 0 w 458"/>
              <a:gd name="T39" fmla="*/ 11 h 51"/>
              <a:gd name="T40" fmla="*/ 0 w 458"/>
              <a:gd name="T41" fmla="*/ 18 h 51"/>
              <a:gd name="T42" fmla="*/ 0 w 458"/>
              <a:gd name="T43" fmla="*/ 24 h 51"/>
              <a:gd name="T44" fmla="*/ 0 w 458"/>
              <a:gd name="T45" fmla="*/ 31 h 51"/>
              <a:gd name="T46" fmla="*/ 0 w 458"/>
              <a:gd name="T47" fmla="*/ 38 h 51"/>
              <a:gd name="T48" fmla="*/ 0 w 458"/>
              <a:gd name="T49" fmla="*/ 44 h 51"/>
              <a:gd name="T50" fmla="*/ 0 w 458"/>
              <a:gd name="T51" fmla="*/ 51 h 51"/>
              <a:gd name="T52" fmla="*/ 3 w 458"/>
              <a:gd name="T53" fmla="*/ 48 h 51"/>
              <a:gd name="T54" fmla="*/ 3 w 458"/>
              <a:gd name="T55" fmla="*/ 41 h 51"/>
              <a:gd name="T56" fmla="*/ 3 w 458"/>
              <a:gd name="T57" fmla="*/ 34 h 51"/>
              <a:gd name="T58" fmla="*/ 3 w 458"/>
              <a:gd name="T59" fmla="*/ 28 h 51"/>
              <a:gd name="T60" fmla="*/ 3 w 458"/>
              <a:gd name="T61" fmla="*/ 21 h 51"/>
              <a:gd name="T62" fmla="*/ 3 w 458"/>
              <a:gd name="T63" fmla="*/ 14 h 51"/>
              <a:gd name="T64" fmla="*/ 3 w 458"/>
              <a:gd name="T65" fmla="*/ 8 h 51"/>
              <a:gd name="T66" fmla="*/ 3 w 458"/>
              <a:gd name="T67" fmla="*/ 3 h 51"/>
              <a:gd name="T68" fmla="*/ 1 w 45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8" h="51">
                <a:moveTo>
                  <a:pt x="458" y="24"/>
                </a:moveTo>
                <a:lnTo>
                  <a:pt x="457" y="21"/>
                </a:lnTo>
                <a:lnTo>
                  <a:pt x="457" y="18"/>
                </a:lnTo>
                <a:lnTo>
                  <a:pt x="457" y="14"/>
                </a:lnTo>
                <a:lnTo>
                  <a:pt x="457" y="11"/>
                </a:lnTo>
                <a:lnTo>
                  <a:pt x="457" y="8"/>
                </a:lnTo>
                <a:lnTo>
                  <a:pt x="457" y="6"/>
                </a:lnTo>
                <a:lnTo>
                  <a:pt x="457" y="3"/>
                </a:lnTo>
                <a:lnTo>
                  <a:pt x="457" y="0"/>
                </a:lnTo>
                <a:lnTo>
                  <a:pt x="453" y="0"/>
                </a:lnTo>
                <a:lnTo>
                  <a:pt x="453" y="3"/>
                </a:lnTo>
                <a:lnTo>
                  <a:pt x="453" y="6"/>
                </a:lnTo>
                <a:lnTo>
                  <a:pt x="453" y="8"/>
                </a:lnTo>
                <a:lnTo>
                  <a:pt x="453" y="11"/>
                </a:lnTo>
                <a:lnTo>
                  <a:pt x="453" y="14"/>
                </a:lnTo>
                <a:lnTo>
                  <a:pt x="453" y="18"/>
                </a:lnTo>
                <a:lnTo>
                  <a:pt x="455" y="21"/>
                </a:lnTo>
                <a:lnTo>
                  <a:pt x="455" y="24"/>
                </a:lnTo>
                <a:lnTo>
                  <a:pt x="455" y="28"/>
                </a:lnTo>
                <a:lnTo>
                  <a:pt x="453" y="31"/>
                </a:lnTo>
                <a:lnTo>
                  <a:pt x="453" y="34"/>
                </a:lnTo>
                <a:lnTo>
                  <a:pt x="453" y="38"/>
                </a:lnTo>
                <a:lnTo>
                  <a:pt x="453" y="41"/>
                </a:lnTo>
                <a:lnTo>
                  <a:pt x="453" y="44"/>
                </a:lnTo>
                <a:lnTo>
                  <a:pt x="453" y="48"/>
                </a:lnTo>
                <a:lnTo>
                  <a:pt x="453" y="51"/>
                </a:lnTo>
                <a:lnTo>
                  <a:pt x="457" y="51"/>
                </a:lnTo>
                <a:lnTo>
                  <a:pt x="457" y="48"/>
                </a:lnTo>
                <a:lnTo>
                  <a:pt x="457" y="44"/>
                </a:lnTo>
                <a:lnTo>
                  <a:pt x="457" y="41"/>
                </a:lnTo>
                <a:lnTo>
                  <a:pt x="457" y="38"/>
                </a:lnTo>
                <a:lnTo>
                  <a:pt x="457" y="34"/>
                </a:lnTo>
                <a:lnTo>
                  <a:pt x="457" y="31"/>
                </a:lnTo>
                <a:lnTo>
                  <a:pt x="458" y="28"/>
                </a:lnTo>
                <a:lnTo>
                  <a:pt x="458"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14" name="Freeform 1719">
            <a:extLst>
              <a:ext uri="{FF2B5EF4-FFF2-40B4-BE49-F238E27FC236}">
                <a16:creationId xmlns:a16="http://schemas.microsoft.com/office/drawing/2014/main" id="{202CC9DC-1599-4C29-9ECC-929411390066}"/>
              </a:ext>
            </a:extLst>
          </p:cNvPr>
          <p:cNvSpPr>
            <a:spLocks noEditPoints="1"/>
          </p:cNvSpPr>
          <p:nvPr/>
        </p:nvSpPr>
        <p:spPr bwMode="auto">
          <a:xfrm>
            <a:off x="2197100" y="2719388"/>
            <a:ext cx="723900" cy="80963"/>
          </a:xfrm>
          <a:custGeom>
            <a:avLst/>
            <a:gdLst>
              <a:gd name="T0" fmla="*/ 456 w 456"/>
              <a:gd name="T1" fmla="*/ 21 h 51"/>
              <a:gd name="T2" fmla="*/ 454 w 456"/>
              <a:gd name="T3" fmla="*/ 14 h 51"/>
              <a:gd name="T4" fmla="*/ 454 w 456"/>
              <a:gd name="T5" fmla="*/ 8 h 51"/>
              <a:gd name="T6" fmla="*/ 454 w 456"/>
              <a:gd name="T7" fmla="*/ 3 h 51"/>
              <a:gd name="T8" fmla="*/ 451 w 456"/>
              <a:gd name="T9" fmla="*/ 0 h 51"/>
              <a:gd name="T10" fmla="*/ 451 w 456"/>
              <a:gd name="T11" fmla="*/ 6 h 51"/>
              <a:gd name="T12" fmla="*/ 451 w 456"/>
              <a:gd name="T13" fmla="*/ 11 h 51"/>
              <a:gd name="T14" fmla="*/ 451 w 456"/>
              <a:gd name="T15" fmla="*/ 18 h 51"/>
              <a:gd name="T16" fmla="*/ 452 w 456"/>
              <a:gd name="T17" fmla="*/ 24 h 51"/>
              <a:gd name="T18" fmla="*/ 451 w 456"/>
              <a:gd name="T19" fmla="*/ 31 h 51"/>
              <a:gd name="T20" fmla="*/ 451 w 456"/>
              <a:gd name="T21" fmla="*/ 38 h 51"/>
              <a:gd name="T22" fmla="*/ 451 w 456"/>
              <a:gd name="T23" fmla="*/ 44 h 51"/>
              <a:gd name="T24" fmla="*/ 451 w 456"/>
              <a:gd name="T25" fmla="*/ 51 h 51"/>
              <a:gd name="T26" fmla="*/ 454 w 456"/>
              <a:gd name="T27" fmla="*/ 48 h 51"/>
              <a:gd name="T28" fmla="*/ 454 w 456"/>
              <a:gd name="T29" fmla="*/ 41 h 51"/>
              <a:gd name="T30" fmla="*/ 454 w 456"/>
              <a:gd name="T31" fmla="*/ 34 h 51"/>
              <a:gd name="T32" fmla="*/ 456 w 456"/>
              <a:gd name="T33" fmla="*/ 28 h 51"/>
              <a:gd name="T34" fmla="*/ 2 w 456"/>
              <a:gd name="T35" fmla="*/ 0 h 51"/>
              <a:gd name="T36" fmla="*/ 0 w 456"/>
              <a:gd name="T37" fmla="*/ 6 h 51"/>
              <a:gd name="T38" fmla="*/ 0 w 456"/>
              <a:gd name="T39" fmla="*/ 11 h 51"/>
              <a:gd name="T40" fmla="*/ 0 w 456"/>
              <a:gd name="T41" fmla="*/ 18 h 51"/>
              <a:gd name="T42" fmla="*/ 0 w 456"/>
              <a:gd name="T43" fmla="*/ 24 h 51"/>
              <a:gd name="T44" fmla="*/ 0 w 456"/>
              <a:gd name="T45" fmla="*/ 31 h 51"/>
              <a:gd name="T46" fmla="*/ 0 w 456"/>
              <a:gd name="T47" fmla="*/ 38 h 51"/>
              <a:gd name="T48" fmla="*/ 0 w 456"/>
              <a:gd name="T49" fmla="*/ 44 h 51"/>
              <a:gd name="T50" fmla="*/ 0 w 456"/>
              <a:gd name="T51" fmla="*/ 51 h 51"/>
              <a:gd name="T52" fmla="*/ 4 w 456"/>
              <a:gd name="T53" fmla="*/ 48 h 51"/>
              <a:gd name="T54" fmla="*/ 4 w 456"/>
              <a:gd name="T55" fmla="*/ 41 h 51"/>
              <a:gd name="T56" fmla="*/ 4 w 456"/>
              <a:gd name="T57" fmla="*/ 34 h 51"/>
              <a:gd name="T58" fmla="*/ 4 w 456"/>
              <a:gd name="T59" fmla="*/ 28 h 51"/>
              <a:gd name="T60" fmla="*/ 4 w 456"/>
              <a:gd name="T61" fmla="*/ 21 h 51"/>
              <a:gd name="T62" fmla="*/ 4 w 456"/>
              <a:gd name="T63" fmla="*/ 14 h 51"/>
              <a:gd name="T64" fmla="*/ 4 w 456"/>
              <a:gd name="T65" fmla="*/ 8 h 51"/>
              <a:gd name="T66" fmla="*/ 4 w 456"/>
              <a:gd name="T67" fmla="*/ 3 h 51"/>
              <a:gd name="T68" fmla="*/ 2 w 4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6" h="51">
                <a:moveTo>
                  <a:pt x="456" y="24"/>
                </a:moveTo>
                <a:lnTo>
                  <a:pt x="456" y="21"/>
                </a:lnTo>
                <a:lnTo>
                  <a:pt x="454" y="18"/>
                </a:lnTo>
                <a:lnTo>
                  <a:pt x="454" y="14"/>
                </a:lnTo>
                <a:lnTo>
                  <a:pt x="454" y="11"/>
                </a:lnTo>
                <a:lnTo>
                  <a:pt x="454" y="8"/>
                </a:lnTo>
                <a:lnTo>
                  <a:pt x="454" y="6"/>
                </a:lnTo>
                <a:lnTo>
                  <a:pt x="454" y="3"/>
                </a:lnTo>
                <a:lnTo>
                  <a:pt x="454" y="0"/>
                </a:lnTo>
                <a:lnTo>
                  <a:pt x="451" y="0"/>
                </a:lnTo>
                <a:lnTo>
                  <a:pt x="451" y="3"/>
                </a:lnTo>
                <a:lnTo>
                  <a:pt x="451" y="6"/>
                </a:lnTo>
                <a:lnTo>
                  <a:pt x="451" y="8"/>
                </a:lnTo>
                <a:lnTo>
                  <a:pt x="451" y="11"/>
                </a:lnTo>
                <a:lnTo>
                  <a:pt x="451" y="14"/>
                </a:lnTo>
                <a:lnTo>
                  <a:pt x="451" y="18"/>
                </a:lnTo>
                <a:lnTo>
                  <a:pt x="452" y="21"/>
                </a:lnTo>
                <a:lnTo>
                  <a:pt x="452" y="24"/>
                </a:lnTo>
                <a:lnTo>
                  <a:pt x="452" y="28"/>
                </a:lnTo>
                <a:lnTo>
                  <a:pt x="451" y="31"/>
                </a:lnTo>
                <a:lnTo>
                  <a:pt x="451" y="34"/>
                </a:lnTo>
                <a:lnTo>
                  <a:pt x="451" y="38"/>
                </a:lnTo>
                <a:lnTo>
                  <a:pt x="451" y="41"/>
                </a:lnTo>
                <a:lnTo>
                  <a:pt x="451" y="44"/>
                </a:lnTo>
                <a:lnTo>
                  <a:pt x="451" y="48"/>
                </a:lnTo>
                <a:lnTo>
                  <a:pt x="451" y="51"/>
                </a:lnTo>
                <a:lnTo>
                  <a:pt x="454" y="51"/>
                </a:lnTo>
                <a:lnTo>
                  <a:pt x="454" y="48"/>
                </a:lnTo>
                <a:lnTo>
                  <a:pt x="454" y="44"/>
                </a:lnTo>
                <a:lnTo>
                  <a:pt x="454" y="41"/>
                </a:lnTo>
                <a:lnTo>
                  <a:pt x="454" y="38"/>
                </a:lnTo>
                <a:lnTo>
                  <a:pt x="454" y="34"/>
                </a:lnTo>
                <a:lnTo>
                  <a:pt x="454" y="31"/>
                </a:lnTo>
                <a:lnTo>
                  <a:pt x="456" y="28"/>
                </a:lnTo>
                <a:lnTo>
                  <a:pt x="45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4"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15" name="Freeform 1720">
            <a:extLst>
              <a:ext uri="{FF2B5EF4-FFF2-40B4-BE49-F238E27FC236}">
                <a16:creationId xmlns:a16="http://schemas.microsoft.com/office/drawing/2014/main" id="{E69DB3D4-B723-D5F3-27D4-DDEC101C3FFD}"/>
              </a:ext>
            </a:extLst>
          </p:cNvPr>
          <p:cNvSpPr>
            <a:spLocks noEditPoints="1"/>
          </p:cNvSpPr>
          <p:nvPr/>
        </p:nvSpPr>
        <p:spPr bwMode="auto">
          <a:xfrm>
            <a:off x="2200275" y="2719388"/>
            <a:ext cx="717550" cy="80963"/>
          </a:xfrm>
          <a:custGeom>
            <a:avLst/>
            <a:gdLst>
              <a:gd name="T0" fmla="*/ 452 w 452"/>
              <a:gd name="T1" fmla="*/ 21 h 51"/>
              <a:gd name="T2" fmla="*/ 450 w 452"/>
              <a:gd name="T3" fmla="*/ 14 h 51"/>
              <a:gd name="T4" fmla="*/ 450 w 452"/>
              <a:gd name="T5" fmla="*/ 8 h 51"/>
              <a:gd name="T6" fmla="*/ 450 w 452"/>
              <a:gd name="T7" fmla="*/ 3 h 51"/>
              <a:gd name="T8" fmla="*/ 447 w 452"/>
              <a:gd name="T9" fmla="*/ 0 h 51"/>
              <a:gd name="T10" fmla="*/ 447 w 452"/>
              <a:gd name="T11" fmla="*/ 6 h 51"/>
              <a:gd name="T12" fmla="*/ 447 w 452"/>
              <a:gd name="T13" fmla="*/ 11 h 51"/>
              <a:gd name="T14" fmla="*/ 447 w 452"/>
              <a:gd name="T15" fmla="*/ 18 h 51"/>
              <a:gd name="T16" fmla="*/ 449 w 452"/>
              <a:gd name="T17" fmla="*/ 24 h 51"/>
              <a:gd name="T18" fmla="*/ 447 w 452"/>
              <a:gd name="T19" fmla="*/ 31 h 51"/>
              <a:gd name="T20" fmla="*/ 447 w 452"/>
              <a:gd name="T21" fmla="*/ 38 h 51"/>
              <a:gd name="T22" fmla="*/ 447 w 452"/>
              <a:gd name="T23" fmla="*/ 44 h 51"/>
              <a:gd name="T24" fmla="*/ 447 w 452"/>
              <a:gd name="T25" fmla="*/ 51 h 51"/>
              <a:gd name="T26" fmla="*/ 450 w 452"/>
              <a:gd name="T27" fmla="*/ 48 h 51"/>
              <a:gd name="T28" fmla="*/ 450 w 452"/>
              <a:gd name="T29" fmla="*/ 41 h 51"/>
              <a:gd name="T30" fmla="*/ 450 w 452"/>
              <a:gd name="T31" fmla="*/ 34 h 51"/>
              <a:gd name="T32" fmla="*/ 452 w 452"/>
              <a:gd name="T33" fmla="*/ 28 h 51"/>
              <a:gd name="T34" fmla="*/ 2 w 452"/>
              <a:gd name="T35" fmla="*/ 0 h 51"/>
              <a:gd name="T36" fmla="*/ 0 w 452"/>
              <a:gd name="T37" fmla="*/ 6 h 51"/>
              <a:gd name="T38" fmla="*/ 0 w 452"/>
              <a:gd name="T39" fmla="*/ 11 h 51"/>
              <a:gd name="T40" fmla="*/ 0 w 452"/>
              <a:gd name="T41" fmla="*/ 18 h 51"/>
              <a:gd name="T42" fmla="*/ 0 w 452"/>
              <a:gd name="T43" fmla="*/ 24 h 51"/>
              <a:gd name="T44" fmla="*/ 0 w 452"/>
              <a:gd name="T45" fmla="*/ 31 h 51"/>
              <a:gd name="T46" fmla="*/ 0 w 452"/>
              <a:gd name="T47" fmla="*/ 38 h 51"/>
              <a:gd name="T48" fmla="*/ 0 w 452"/>
              <a:gd name="T49" fmla="*/ 44 h 51"/>
              <a:gd name="T50" fmla="*/ 0 w 452"/>
              <a:gd name="T51" fmla="*/ 51 h 51"/>
              <a:gd name="T52" fmla="*/ 3 w 452"/>
              <a:gd name="T53" fmla="*/ 48 h 51"/>
              <a:gd name="T54" fmla="*/ 3 w 452"/>
              <a:gd name="T55" fmla="*/ 41 h 51"/>
              <a:gd name="T56" fmla="*/ 3 w 452"/>
              <a:gd name="T57" fmla="*/ 34 h 51"/>
              <a:gd name="T58" fmla="*/ 3 w 452"/>
              <a:gd name="T59" fmla="*/ 28 h 51"/>
              <a:gd name="T60" fmla="*/ 3 w 452"/>
              <a:gd name="T61" fmla="*/ 21 h 51"/>
              <a:gd name="T62" fmla="*/ 3 w 452"/>
              <a:gd name="T63" fmla="*/ 14 h 51"/>
              <a:gd name="T64" fmla="*/ 3 w 452"/>
              <a:gd name="T65" fmla="*/ 8 h 51"/>
              <a:gd name="T66" fmla="*/ 3 w 452"/>
              <a:gd name="T67" fmla="*/ 3 h 51"/>
              <a:gd name="T68" fmla="*/ 2 w 4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52" h="51">
                <a:moveTo>
                  <a:pt x="452" y="24"/>
                </a:moveTo>
                <a:lnTo>
                  <a:pt x="452" y="21"/>
                </a:lnTo>
                <a:lnTo>
                  <a:pt x="450" y="18"/>
                </a:lnTo>
                <a:lnTo>
                  <a:pt x="450" y="14"/>
                </a:lnTo>
                <a:lnTo>
                  <a:pt x="450" y="11"/>
                </a:lnTo>
                <a:lnTo>
                  <a:pt x="450" y="8"/>
                </a:lnTo>
                <a:lnTo>
                  <a:pt x="450" y="6"/>
                </a:lnTo>
                <a:lnTo>
                  <a:pt x="450" y="3"/>
                </a:lnTo>
                <a:lnTo>
                  <a:pt x="450" y="0"/>
                </a:lnTo>
                <a:lnTo>
                  <a:pt x="447" y="0"/>
                </a:lnTo>
                <a:lnTo>
                  <a:pt x="447" y="3"/>
                </a:lnTo>
                <a:lnTo>
                  <a:pt x="447" y="6"/>
                </a:lnTo>
                <a:lnTo>
                  <a:pt x="447" y="8"/>
                </a:lnTo>
                <a:lnTo>
                  <a:pt x="447" y="11"/>
                </a:lnTo>
                <a:lnTo>
                  <a:pt x="447" y="14"/>
                </a:lnTo>
                <a:lnTo>
                  <a:pt x="447" y="18"/>
                </a:lnTo>
                <a:lnTo>
                  <a:pt x="449" y="21"/>
                </a:lnTo>
                <a:lnTo>
                  <a:pt x="449" y="24"/>
                </a:lnTo>
                <a:lnTo>
                  <a:pt x="449" y="28"/>
                </a:lnTo>
                <a:lnTo>
                  <a:pt x="447" y="31"/>
                </a:lnTo>
                <a:lnTo>
                  <a:pt x="447" y="34"/>
                </a:lnTo>
                <a:lnTo>
                  <a:pt x="447" y="38"/>
                </a:lnTo>
                <a:lnTo>
                  <a:pt x="447" y="41"/>
                </a:lnTo>
                <a:lnTo>
                  <a:pt x="447" y="44"/>
                </a:lnTo>
                <a:lnTo>
                  <a:pt x="447" y="48"/>
                </a:lnTo>
                <a:lnTo>
                  <a:pt x="447" y="51"/>
                </a:lnTo>
                <a:lnTo>
                  <a:pt x="450" y="51"/>
                </a:lnTo>
                <a:lnTo>
                  <a:pt x="450" y="48"/>
                </a:lnTo>
                <a:lnTo>
                  <a:pt x="450" y="44"/>
                </a:lnTo>
                <a:lnTo>
                  <a:pt x="450" y="41"/>
                </a:lnTo>
                <a:lnTo>
                  <a:pt x="450" y="38"/>
                </a:lnTo>
                <a:lnTo>
                  <a:pt x="450" y="34"/>
                </a:lnTo>
                <a:lnTo>
                  <a:pt x="450" y="31"/>
                </a:lnTo>
                <a:lnTo>
                  <a:pt x="452" y="28"/>
                </a:lnTo>
                <a:lnTo>
                  <a:pt x="45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16" name="Freeform 1721">
            <a:extLst>
              <a:ext uri="{FF2B5EF4-FFF2-40B4-BE49-F238E27FC236}">
                <a16:creationId xmlns:a16="http://schemas.microsoft.com/office/drawing/2014/main" id="{6426ECBA-805C-FB1E-42B6-4EB4776B693E}"/>
              </a:ext>
            </a:extLst>
          </p:cNvPr>
          <p:cNvSpPr>
            <a:spLocks noEditPoints="1"/>
          </p:cNvSpPr>
          <p:nvPr/>
        </p:nvSpPr>
        <p:spPr bwMode="auto">
          <a:xfrm>
            <a:off x="2203450" y="2719388"/>
            <a:ext cx="711200" cy="80963"/>
          </a:xfrm>
          <a:custGeom>
            <a:avLst/>
            <a:gdLst>
              <a:gd name="T0" fmla="*/ 448 w 448"/>
              <a:gd name="T1" fmla="*/ 21 h 51"/>
              <a:gd name="T2" fmla="*/ 447 w 448"/>
              <a:gd name="T3" fmla="*/ 14 h 51"/>
              <a:gd name="T4" fmla="*/ 447 w 448"/>
              <a:gd name="T5" fmla="*/ 8 h 51"/>
              <a:gd name="T6" fmla="*/ 447 w 448"/>
              <a:gd name="T7" fmla="*/ 3 h 51"/>
              <a:gd name="T8" fmla="*/ 443 w 448"/>
              <a:gd name="T9" fmla="*/ 0 h 51"/>
              <a:gd name="T10" fmla="*/ 443 w 448"/>
              <a:gd name="T11" fmla="*/ 6 h 51"/>
              <a:gd name="T12" fmla="*/ 443 w 448"/>
              <a:gd name="T13" fmla="*/ 11 h 51"/>
              <a:gd name="T14" fmla="*/ 443 w 448"/>
              <a:gd name="T15" fmla="*/ 18 h 51"/>
              <a:gd name="T16" fmla="*/ 445 w 448"/>
              <a:gd name="T17" fmla="*/ 24 h 51"/>
              <a:gd name="T18" fmla="*/ 443 w 448"/>
              <a:gd name="T19" fmla="*/ 31 h 51"/>
              <a:gd name="T20" fmla="*/ 443 w 448"/>
              <a:gd name="T21" fmla="*/ 38 h 51"/>
              <a:gd name="T22" fmla="*/ 443 w 448"/>
              <a:gd name="T23" fmla="*/ 44 h 51"/>
              <a:gd name="T24" fmla="*/ 443 w 448"/>
              <a:gd name="T25" fmla="*/ 51 h 51"/>
              <a:gd name="T26" fmla="*/ 447 w 448"/>
              <a:gd name="T27" fmla="*/ 48 h 51"/>
              <a:gd name="T28" fmla="*/ 447 w 448"/>
              <a:gd name="T29" fmla="*/ 41 h 51"/>
              <a:gd name="T30" fmla="*/ 447 w 448"/>
              <a:gd name="T31" fmla="*/ 34 h 51"/>
              <a:gd name="T32" fmla="*/ 448 w 448"/>
              <a:gd name="T33" fmla="*/ 28 h 51"/>
              <a:gd name="T34" fmla="*/ 1 w 448"/>
              <a:gd name="T35" fmla="*/ 0 h 51"/>
              <a:gd name="T36" fmla="*/ 0 w 448"/>
              <a:gd name="T37" fmla="*/ 6 h 51"/>
              <a:gd name="T38" fmla="*/ 0 w 448"/>
              <a:gd name="T39" fmla="*/ 11 h 51"/>
              <a:gd name="T40" fmla="*/ 0 w 448"/>
              <a:gd name="T41" fmla="*/ 18 h 51"/>
              <a:gd name="T42" fmla="*/ 0 w 448"/>
              <a:gd name="T43" fmla="*/ 24 h 51"/>
              <a:gd name="T44" fmla="*/ 0 w 448"/>
              <a:gd name="T45" fmla="*/ 31 h 51"/>
              <a:gd name="T46" fmla="*/ 0 w 448"/>
              <a:gd name="T47" fmla="*/ 38 h 51"/>
              <a:gd name="T48" fmla="*/ 0 w 448"/>
              <a:gd name="T49" fmla="*/ 44 h 51"/>
              <a:gd name="T50" fmla="*/ 0 w 448"/>
              <a:gd name="T51" fmla="*/ 51 h 51"/>
              <a:gd name="T52" fmla="*/ 3 w 448"/>
              <a:gd name="T53" fmla="*/ 48 h 51"/>
              <a:gd name="T54" fmla="*/ 3 w 448"/>
              <a:gd name="T55" fmla="*/ 41 h 51"/>
              <a:gd name="T56" fmla="*/ 3 w 448"/>
              <a:gd name="T57" fmla="*/ 34 h 51"/>
              <a:gd name="T58" fmla="*/ 3 w 448"/>
              <a:gd name="T59" fmla="*/ 28 h 51"/>
              <a:gd name="T60" fmla="*/ 3 w 448"/>
              <a:gd name="T61" fmla="*/ 21 h 51"/>
              <a:gd name="T62" fmla="*/ 3 w 448"/>
              <a:gd name="T63" fmla="*/ 14 h 51"/>
              <a:gd name="T64" fmla="*/ 3 w 448"/>
              <a:gd name="T65" fmla="*/ 8 h 51"/>
              <a:gd name="T66" fmla="*/ 3 w 448"/>
              <a:gd name="T67" fmla="*/ 3 h 51"/>
              <a:gd name="T68" fmla="*/ 1 w 44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8" h="51">
                <a:moveTo>
                  <a:pt x="448" y="24"/>
                </a:moveTo>
                <a:lnTo>
                  <a:pt x="448" y="21"/>
                </a:lnTo>
                <a:lnTo>
                  <a:pt x="447" y="18"/>
                </a:lnTo>
                <a:lnTo>
                  <a:pt x="447" y="14"/>
                </a:lnTo>
                <a:lnTo>
                  <a:pt x="447" y="11"/>
                </a:lnTo>
                <a:lnTo>
                  <a:pt x="447" y="8"/>
                </a:lnTo>
                <a:lnTo>
                  <a:pt x="447" y="6"/>
                </a:lnTo>
                <a:lnTo>
                  <a:pt x="447" y="3"/>
                </a:lnTo>
                <a:lnTo>
                  <a:pt x="447" y="0"/>
                </a:lnTo>
                <a:lnTo>
                  <a:pt x="443" y="0"/>
                </a:lnTo>
                <a:lnTo>
                  <a:pt x="443" y="3"/>
                </a:lnTo>
                <a:lnTo>
                  <a:pt x="443" y="6"/>
                </a:lnTo>
                <a:lnTo>
                  <a:pt x="443" y="8"/>
                </a:lnTo>
                <a:lnTo>
                  <a:pt x="443" y="11"/>
                </a:lnTo>
                <a:lnTo>
                  <a:pt x="443" y="14"/>
                </a:lnTo>
                <a:lnTo>
                  <a:pt x="443" y="18"/>
                </a:lnTo>
                <a:lnTo>
                  <a:pt x="445" y="21"/>
                </a:lnTo>
                <a:lnTo>
                  <a:pt x="445" y="24"/>
                </a:lnTo>
                <a:lnTo>
                  <a:pt x="445" y="28"/>
                </a:lnTo>
                <a:lnTo>
                  <a:pt x="443" y="31"/>
                </a:lnTo>
                <a:lnTo>
                  <a:pt x="443" y="34"/>
                </a:lnTo>
                <a:lnTo>
                  <a:pt x="443" y="38"/>
                </a:lnTo>
                <a:lnTo>
                  <a:pt x="443" y="41"/>
                </a:lnTo>
                <a:lnTo>
                  <a:pt x="443" y="44"/>
                </a:lnTo>
                <a:lnTo>
                  <a:pt x="443" y="48"/>
                </a:lnTo>
                <a:lnTo>
                  <a:pt x="443" y="51"/>
                </a:lnTo>
                <a:lnTo>
                  <a:pt x="447" y="51"/>
                </a:lnTo>
                <a:lnTo>
                  <a:pt x="447" y="48"/>
                </a:lnTo>
                <a:lnTo>
                  <a:pt x="447" y="44"/>
                </a:lnTo>
                <a:lnTo>
                  <a:pt x="447" y="41"/>
                </a:lnTo>
                <a:lnTo>
                  <a:pt x="447" y="38"/>
                </a:lnTo>
                <a:lnTo>
                  <a:pt x="447" y="34"/>
                </a:lnTo>
                <a:lnTo>
                  <a:pt x="447" y="31"/>
                </a:lnTo>
                <a:lnTo>
                  <a:pt x="448" y="28"/>
                </a:lnTo>
                <a:lnTo>
                  <a:pt x="448"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3"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17" name="Freeform 1722">
            <a:extLst>
              <a:ext uri="{FF2B5EF4-FFF2-40B4-BE49-F238E27FC236}">
                <a16:creationId xmlns:a16="http://schemas.microsoft.com/office/drawing/2014/main" id="{3616B6C4-8FA4-D42F-E30A-D72E29BDCBBA}"/>
              </a:ext>
            </a:extLst>
          </p:cNvPr>
          <p:cNvSpPr>
            <a:spLocks noEditPoints="1"/>
          </p:cNvSpPr>
          <p:nvPr/>
        </p:nvSpPr>
        <p:spPr bwMode="auto">
          <a:xfrm>
            <a:off x="2205038" y="2719388"/>
            <a:ext cx="708025" cy="80963"/>
          </a:xfrm>
          <a:custGeom>
            <a:avLst/>
            <a:gdLst>
              <a:gd name="T0" fmla="*/ 446 w 446"/>
              <a:gd name="T1" fmla="*/ 21 h 51"/>
              <a:gd name="T2" fmla="*/ 444 w 446"/>
              <a:gd name="T3" fmla="*/ 14 h 51"/>
              <a:gd name="T4" fmla="*/ 444 w 446"/>
              <a:gd name="T5" fmla="*/ 8 h 51"/>
              <a:gd name="T6" fmla="*/ 444 w 446"/>
              <a:gd name="T7" fmla="*/ 3 h 51"/>
              <a:gd name="T8" fmla="*/ 441 w 446"/>
              <a:gd name="T9" fmla="*/ 0 h 51"/>
              <a:gd name="T10" fmla="*/ 441 w 446"/>
              <a:gd name="T11" fmla="*/ 6 h 51"/>
              <a:gd name="T12" fmla="*/ 441 w 446"/>
              <a:gd name="T13" fmla="*/ 11 h 51"/>
              <a:gd name="T14" fmla="*/ 441 w 446"/>
              <a:gd name="T15" fmla="*/ 18 h 51"/>
              <a:gd name="T16" fmla="*/ 442 w 446"/>
              <a:gd name="T17" fmla="*/ 24 h 51"/>
              <a:gd name="T18" fmla="*/ 441 w 446"/>
              <a:gd name="T19" fmla="*/ 31 h 51"/>
              <a:gd name="T20" fmla="*/ 441 w 446"/>
              <a:gd name="T21" fmla="*/ 38 h 51"/>
              <a:gd name="T22" fmla="*/ 441 w 446"/>
              <a:gd name="T23" fmla="*/ 44 h 51"/>
              <a:gd name="T24" fmla="*/ 441 w 446"/>
              <a:gd name="T25" fmla="*/ 51 h 51"/>
              <a:gd name="T26" fmla="*/ 444 w 446"/>
              <a:gd name="T27" fmla="*/ 48 h 51"/>
              <a:gd name="T28" fmla="*/ 444 w 446"/>
              <a:gd name="T29" fmla="*/ 41 h 51"/>
              <a:gd name="T30" fmla="*/ 444 w 446"/>
              <a:gd name="T31" fmla="*/ 34 h 51"/>
              <a:gd name="T32" fmla="*/ 446 w 446"/>
              <a:gd name="T33" fmla="*/ 28 h 51"/>
              <a:gd name="T34" fmla="*/ 2 w 446"/>
              <a:gd name="T35" fmla="*/ 0 h 51"/>
              <a:gd name="T36" fmla="*/ 0 w 446"/>
              <a:gd name="T37" fmla="*/ 6 h 51"/>
              <a:gd name="T38" fmla="*/ 0 w 446"/>
              <a:gd name="T39" fmla="*/ 11 h 51"/>
              <a:gd name="T40" fmla="*/ 0 w 446"/>
              <a:gd name="T41" fmla="*/ 18 h 51"/>
              <a:gd name="T42" fmla="*/ 0 w 446"/>
              <a:gd name="T43" fmla="*/ 24 h 51"/>
              <a:gd name="T44" fmla="*/ 0 w 446"/>
              <a:gd name="T45" fmla="*/ 31 h 51"/>
              <a:gd name="T46" fmla="*/ 0 w 446"/>
              <a:gd name="T47" fmla="*/ 38 h 51"/>
              <a:gd name="T48" fmla="*/ 0 w 446"/>
              <a:gd name="T49" fmla="*/ 44 h 51"/>
              <a:gd name="T50" fmla="*/ 0 w 446"/>
              <a:gd name="T51" fmla="*/ 51 h 51"/>
              <a:gd name="T52" fmla="*/ 4 w 446"/>
              <a:gd name="T53" fmla="*/ 48 h 51"/>
              <a:gd name="T54" fmla="*/ 4 w 446"/>
              <a:gd name="T55" fmla="*/ 41 h 51"/>
              <a:gd name="T56" fmla="*/ 4 w 446"/>
              <a:gd name="T57" fmla="*/ 34 h 51"/>
              <a:gd name="T58" fmla="*/ 4 w 446"/>
              <a:gd name="T59" fmla="*/ 28 h 51"/>
              <a:gd name="T60" fmla="*/ 4 w 446"/>
              <a:gd name="T61" fmla="*/ 21 h 51"/>
              <a:gd name="T62" fmla="*/ 4 w 446"/>
              <a:gd name="T63" fmla="*/ 14 h 51"/>
              <a:gd name="T64" fmla="*/ 4 w 446"/>
              <a:gd name="T65" fmla="*/ 8 h 51"/>
              <a:gd name="T66" fmla="*/ 4 w 446"/>
              <a:gd name="T67" fmla="*/ 3 h 51"/>
              <a:gd name="T68" fmla="*/ 2 w 4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6" h="51">
                <a:moveTo>
                  <a:pt x="446" y="24"/>
                </a:moveTo>
                <a:lnTo>
                  <a:pt x="446" y="21"/>
                </a:lnTo>
                <a:lnTo>
                  <a:pt x="444" y="18"/>
                </a:lnTo>
                <a:lnTo>
                  <a:pt x="444" y="14"/>
                </a:lnTo>
                <a:lnTo>
                  <a:pt x="444" y="11"/>
                </a:lnTo>
                <a:lnTo>
                  <a:pt x="444" y="8"/>
                </a:lnTo>
                <a:lnTo>
                  <a:pt x="444" y="6"/>
                </a:lnTo>
                <a:lnTo>
                  <a:pt x="444" y="3"/>
                </a:lnTo>
                <a:lnTo>
                  <a:pt x="444" y="0"/>
                </a:lnTo>
                <a:lnTo>
                  <a:pt x="441" y="0"/>
                </a:lnTo>
                <a:lnTo>
                  <a:pt x="441" y="3"/>
                </a:lnTo>
                <a:lnTo>
                  <a:pt x="441" y="6"/>
                </a:lnTo>
                <a:lnTo>
                  <a:pt x="441" y="8"/>
                </a:lnTo>
                <a:lnTo>
                  <a:pt x="441" y="11"/>
                </a:lnTo>
                <a:lnTo>
                  <a:pt x="441" y="14"/>
                </a:lnTo>
                <a:lnTo>
                  <a:pt x="441" y="18"/>
                </a:lnTo>
                <a:lnTo>
                  <a:pt x="442" y="21"/>
                </a:lnTo>
                <a:lnTo>
                  <a:pt x="442" y="24"/>
                </a:lnTo>
                <a:lnTo>
                  <a:pt x="442" y="28"/>
                </a:lnTo>
                <a:lnTo>
                  <a:pt x="441" y="31"/>
                </a:lnTo>
                <a:lnTo>
                  <a:pt x="441" y="34"/>
                </a:lnTo>
                <a:lnTo>
                  <a:pt x="441" y="38"/>
                </a:lnTo>
                <a:lnTo>
                  <a:pt x="441" y="41"/>
                </a:lnTo>
                <a:lnTo>
                  <a:pt x="441" y="44"/>
                </a:lnTo>
                <a:lnTo>
                  <a:pt x="441" y="48"/>
                </a:lnTo>
                <a:lnTo>
                  <a:pt x="441" y="51"/>
                </a:lnTo>
                <a:lnTo>
                  <a:pt x="444" y="51"/>
                </a:lnTo>
                <a:lnTo>
                  <a:pt x="444" y="48"/>
                </a:lnTo>
                <a:lnTo>
                  <a:pt x="444" y="44"/>
                </a:lnTo>
                <a:lnTo>
                  <a:pt x="444" y="41"/>
                </a:lnTo>
                <a:lnTo>
                  <a:pt x="444" y="38"/>
                </a:lnTo>
                <a:lnTo>
                  <a:pt x="444" y="34"/>
                </a:lnTo>
                <a:lnTo>
                  <a:pt x="444" y="31"/>
                </a:lnTo>
                <a:lnTo>
                  <a:pt x="446" y="28"/>
                </a:lnTo>
                <a:lnTo>
                  <a:pt x="44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18" name="Freeform 1723">
            <a:extLst>
              <a:ext uri="{FF2B5EF4-FFF2-40B4-BE49-F238E27FC236}">
                <a16:creationId xmlns:a16="http://schemas.microsoft.com/office/drawing/2014/main" id="{68AA26A6-4218-FB6B-6D3F-3C911BF14799}"/>
              </a:ext>
            </a:extLst>
          </p:cNvPr>
          <p:cNvSpPr>
            <a:spLocks noEditPoints="1"/>
          </p:cNvSpPr>
          <p:nvPr/>
        </p:nvSpPr>
        <p:spPr bwMode="auto">
          <a:xfrm>
            <a:off x="2208213" y="2719388"/>
            <a:ext cx="701675" cy="80963"/>
          </a:xfrm>
          <a:custGeom>
            <a:avLst/>
            <a:gdLst>
              <a:gd name="T0" fmla="*/ 442 w 442"/>
              <a:gd name="T1" fmla="*/ 21 h 51"/>
              <a:gd name="T2" fmla="*/ 440 w 442"/>
              <a:gd name="T3" fmla="*/ 14 h 51"/>
              <a:gd name="T4" fmla="*/ 440 w 442"/>
              <a:gd name="T5" fmla="*/ 8 h 51"/>
              <a:gd name="T6" fmla="*/ 440 w 442"/>
              <a:gd name="T7" fmla="*/ 3 h 51"/>
              <a:gd name="T8" fmla="*/ 437 w 442"/>
              <a:gd name="T9" fmla="*/ 0 h 51"/>
              <a:gd name="T10" fmla="*/ 437 w 442"/>
              <a:gd name="T11" fmla="*/ 6 h 51"/>
              <a:gd name="T12" fmla="*/ 437 w 442"/>
              <a:gd name="T13" fmla="*/ 11 h 51"/>
              <a:gd name="T14" fmla="*/ 437 w 442"/>
              <a:gd name="T15" fmla="*/ 18 h 51"/>
              <a:gd name="T16" fmla="*/ 439 w 442"/>
              <a:gd name="T17" fmla="*/ 24 h 51"/>
              <a:gd name="T18" fmla="*/ 437 w 442"/>
              <a:gd name="T19" fmla="*/ 31 h 51"/>
              <a:gd name="T20" fmla="*/ 437 w 442"/>
              <a:gd name="T21" fmla="*/ 38 h 51"/>
              <a:gd name="T22" fmla="*/ 437 w 442"/>
              <a:gd name="T23" fmla="*/ 44 h 51"/>
              <a:gd name="T24" fmla="*/ 437 w 442"/>
              <a:gd name="T25" fmla="*/ 51 h 51"/>
              <a:gd name="T26" fmla="*/ 440 w 442"/>
              <a:gd name="T27" fmla="*/ 48 h 51"/>
              <a:gd name="T28" fmla="*/ 440 w 442"/>
              <a:gd name="T29" fmla="*/ 41 h 51"/>
              <a:gd name="T30" fmla="*/ 440 w 442"/>
              <a:gd name="T31" fmla="*/ 34 h 51"/>
              <a:gd name="T32" fmla="*/ 442 w 442"/>
              <a:gd name="T33" fmla="*/ 28 h 51"/>
              <a:gd name="T34" fmla="*/ 2 w 442"/>
              <a:gd name="T35" fmla="*/ 0 h 51"/>
              <a:gd name="T36" fmla="*/ 0 w 442"/>
              <a:gd name="T37" fmla="*/ 6 h 51"/>
              <a:gd name="T38" fmla="*/ 0 w 442"/>
              <a:gd name="T39" fmla="*/ 11 h 51"/>
              <a:gd name="T40" fmla="*/ 0 w 442"/>
              <a:gd name="T41" fmla="*/ 18 h 51"/>
              <a:gd name="T42" fmla="*/ 0 w 442"/>
              <a:gd name="T43" fmla="*/ 24 h 51"/>
              <a:gd name="T44" fmla="*/ 0 w 442"/>
              <a:gd name="T45" fmla="*/ 31 h 51"/>
              <a:gd name="T46" fmla="*/ 0 w 442"/>
              <a:gd name="T47" fmla="*/ 38 h 51"/>
              <a:gd name="T48" fmla="*/ 0 w 442"/>
              <a:gd name="T49" fmla="*/ 44 h 51"/>
              <a:gd name="T50" fmla="*/ 0 w 442"/>
              <a:gd name="T51" fmla="*/ 51 h 51"/>
              <a:gd name="T52" fmla="*/ 3 w 442"/>
              <a:gd name="T53" fmla="*/ 48 h 51"/>
              <a:gd name="T54" fmla="*/ 3 w 442"/>
              <a:gd name="T55" fmla="*/ 41 h 51"/>
              <a:gd name="T56" fmla="*/ 3 w 442"/>
              <a:gd name="T57" fmla="*/ 34 h 51"/>
              <a:gd name="T58" fmla="*/ 3 w 442"/>
              <a:gd name="T59" fmla="*/ 28 h 51"/>
              <a:gd name="T60" fmla="*/ 3 w 442"/>
              <a:gd name="T61" fmla="*/ 21 h 51"/>
              <a:gd name="T62" fmla="*/ 3 w 442"/>
              <a:gd name="T63" fmla="*/ 14 h 51"/>
              <a:gd name="T64" fmla="*/ 3 w 442"/>
              <a:gd name="T65" fmla="*/ 8 h 51"/>
              <a:gd name="T66" fmla="*/ 3 w 442"/>
              <a:gd name="T67" fmla="*/ 3 h 51"/>
              <a:gd name="T68" fmla="*/ 2 w 4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2" h="51">
                <a:moveTo>
                  <a:pt x="442" y="24"/>
                </a:moveTo>
                <a:lnTo>
                  <a:pt x="442" y="21"/>
                </a:lnTo>
                <a:lnTo>
                  <a:pt x="440" y="18"/>
                </a:lnTo>
                <a:lnTo>
                  <a:pt x="440" y="14"/>
                </a:lnTo>
                <a:lnTo>
                  <a:pt x="440" y="11"/>
                </a:lnTo>
                <a:lnTo>
                  <a:pt x="440" y="8"/>
                </a:lnTo>
                <a:lnTo>
                  <a:pt x="440" y="6"/>
                </a:lnTo>
                <a:lnTo>
                  <a:pt x="440" y="3"/>
                </a:lnTo>
                <a:lnTo>
                  <a:pt x="440" y="0"/>
                </a:lnTo>
                <a:lnTo>
                  <a:pt x="437" y="0"/>
                </a:lnTo>
                <a:lnTo>
                  <a:pt x="437" y="3"/>
                </a:lnTo>
                <a:lnTo>
                  <a:pt x="437" y="6"/>
                </a:lnTo>
                <a:lnTo>
                  <a:pt x="437" y="8"/>
                </a:lnTo>
                <a:lnTo>
                  <a:pt x="437" y="11"/>
                </a:lnTo>
                <a:lnTo>
                  <a:pt x="437" y="14"/>
                </a:lnTo>
                <a:lnTo>
                  <a:pt x="437" y="18"/>
                </a:lnTo>
                <a:lnTo>
                  <a:pt x="439" y="21"/>
                </a:lnTo>
                <a:lnTo>
                  <a:pt x="439" y="24"/>
                </a:lnTo>
                <a:lnTo>
                  <a:pt x="439" y="28"/>
                </a:lnTo>
                <a:lnTo>
                  <a:pt x="437" y="31"/>
                </a:lnTo>
                <a:lnTo>
                  <a:pt x="437" y="34"/>
                </a:lnTo>
                <a:lnTo>
                  <a:pt x="437" y="38"/>
                </a:lnTo>
                <a:lnTo>
                  <a:pt x="437" y="41"/>
                </a:lnTo>
                <a:lnTo>
                  <a:pt x="437" y="44"/>
                </a:lnTo>
                <a:lnTo>
                  <a:pt x="437" y="48"/>
                </a:lnTo>
                <a:lnTo>
                  <a:pt x="437" y="51"/>
                </a:lnTo>
                <a:lnTo>
                  <a:pt x="440" y="51"/>
                </a:lnTo>
                <a:lnTo>
                  <a:pt x="440" y="48"/>
                </a:lnTo>
                <a:lnTo>
                  <a:pt x="440" y="44"/>
                </a:lnTo>
                <a:lnTo>
                  <a:pt x="440" y="41"/>
                </a:lnTo>
                <a:lnTo>
                  <a:pt x="440" y="38"/>
                </a:lnTo>
                <a:lnTo>
                  <a:pt x="440" y="34"/>
                </a:lnTo>
                <a:lnTo>
                  <a:pt x="440" y="31"/>
                </a:lnTo>
                <a:lnTo>
                  <a:pt x="442" y="28"/>
                </a:lnTo>
                <a:lnTo>
                  <a:pt x="44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19" name="Freeform 1724">
            <a:extLst>
              <a:ext uri="{FF2B5EF4-FFF2-40B4-BE49-F238E27FC236}">
                <a16:creationId xmlns:a16="http://schemas.microsoft.com/office/drawing/2014/main" id="{080B2F7A-E24A-7DA6-30BB-BFA49A2767D1}"/>
              </a:ext>
            </a:extLst>
          </p:cNvPr>
          <p:cNvSpPr>
            <a:spLocks noEditPoints="1"/>
          </p:cNvSpPr>
          <p:nvPr/>
        </p:nvSpPr>
        <p:spPr bwMode="auto">
          <a:xfrm>
            <a:off x="2211388" y="2719388"/>
            <a:ext cx="695325" cy="80963"/>
          </a:xfrm>
          <a:custGeom>
            <a:avLst/>
            <a:gdLst>
              <a:gd name="T0" fmla="*/ 438 w 438"/>
              <a:gd name="T1" fmla="*/ 21 h 51"/>
              <a:gd name="T2" fmla="*/ 437 w 438"/>
              <a:gd name="T3" fmla="*/ 14 h 51"/>
              <a:gd name="T4" fmla="*/ 437 w 438"/>
              <a:gd name="T5" fmla="*/ 8 h 51"/>
              <a:gd name="T6" fmla="*/ 437 w 438"/>
              <a:gd name="T7" fmla="*/ 3 h 51"/>
              <a:gd name="T8" fmla="*/ 433 w 438"/>
              <a:gd name="T9" fmla="*/ 0 h 51"/>
              <a:gd name="T10" fmla="*/ 433 w 438"/>
              <a:gd name="T11" fmla="*/ 6 h 51"/>
              <a:gd name="T12" fmla="*/ 433 w 438"/>
              <a:gd name="T13" fmla="*/ 11 h 51"/>
              <a:gd name="T14" fmla="*/ 433 w 438"/>
              <a:gd name="T15" fmla="*/ 18 h 51"/>
              <a:gd name="T16" fmla="*/ 435 w 438"/>
              <a:gd name="T17" fmla="*/ 24 h 51"/>
              <a:gd name="T18" fmla="*/ 433 w 438"/>
              <a:gd name="T19" fmla="*/ 31 h 51"/>
              <a:gd name="T20" fmla="*/ 433 w 438"/>
              <a:gd name="T21" fmla="*/ 38 h 51"/>
              <a:gd name="T22" fmla="*/ 433 w 438"/>
              <a:gd name="T23" fmla="*/ 44 h 51"/>
              <a:gd name="T24" fmla="*/ 433 w 438"/>
              <a:gd name="T25" fmla="*/ 51 h 51"/>
              <a:gd name="T26" fmla="*/ 437 w 438"/>
              <a:gd name="T27" fmla="*/ 48 h 51"/>
              <a:gd name="T28" fmla="*/ 437 w 438"/>
              <a:gd name="T29" fmla="*/ 41 h 51"/>
              <a:gd name="T30" fmla="*/ 437 w 438"/>
              <a:gd name="T31" fmla="*/ 34 h 51"/>
              <a:gd name="T32" fmla="*/ 438 w 438"/>
              <a:gd name="T33" fmla="*/ 28 h 51"/>
              <a:gd name="T34" fmla="*/ 1 w 438"/>
              <a:gd name="T35" fmla="*/ 0 h 51"/>
              <a:gd name="T36" fmla="*/ 0 w 438"/>
              <a:gd name="T37" fmla="*/ 6 h 51"/>
              <a:gd name="T38" fmla="*/ 0 w 438"/>
              <a:gd name="T39" fmla="*/ 11 h 51"/>
              <a:gd name="T40" fmla="*/ 0 w 438"/>
              <a:gd name="T41" fmla="*/ 18 h 51"/>
              <a:gd name="T42" fmla="*/ 0 w 438"/>
              <a:gd name="T43" fmla="*/ 24 h 51"/>
              <a:gd name="T44" fmla="*/ 0 w 438"/>
              <a:gd name="T45" fmla="*/ 31 h 51"/>
              <a:gd name="T46" fmla="*/ 0 w 438"/>
              <a:gd name="T47" fmla="*/ 38 h 51"/>
              <a:gd name="T48" fmla="*/ 0 w 438"/>
              <a:gd name="T49" fmla="*/ 44 h 51"/>
              <a:gd name="T50" fmla="*/ 0 w 438"/>
              <a:gd name="T51" fmla="*/ 51 h 51"/>
              <a:gd name="T52" fmla="*/ 3 w 438"/>
              <a:gd name="T53" fmla="*/ 48 h 51"/>
              <a:gd name="T54" fmla="*/ 3 w 438"/>
              <a:gd name="T55" fmla="*/ 41 h 51"/>
              <a:gd name="T56" fmla="*/ 3 w 438"/>
              <a:gd name="T57" fmla="*/ 34 h 51"/>
              <a:gd name="T58" fmla="*/ 3 w 438"/>
              <a:gd name="T59" fmla="*/ 28 h 51"/>
              <a:gd name="T60" fmla="*/ 3 w 438"/>
              <a:gd name="T61" fmla="*/ 21 h 51"/>
              <a:gd name="T62" fmla="*/ 3 w 438"/>
              <a:gd name="T63" fmla="*/ 14 h 51"/>
              <a:gd name="T64" fmla="*/ 3 w 438"/>
              <a:gd name="T65" fmla="*/ 8 h 51"/>
              <a:gd name="T66" fmla="*/ 3 w 438"/>
              <a:gd name="T67" fmla="*/ 3 h 51"/>
              <a:gd name="T68" fmla="*/ 1 w 43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8" h="51">
                <a:moveTo>
                  <a:pt x="438" y="24"/>
                </a:moveTo>
                <a:lnTo>
                  <a:pt x="438" y="21"/>
                </a:lnTo>
                <a:lnTo>
                  <a:pt x="437" y="18"/>
                </a:lnTo>
                <a:lnTo>
                  <a:pt x="437" y="14"/>
                </a:lnTo>
                <a:lnTo>
                  <a:pt x="437" y="11"/>
                </a:lnTo>
                <a:lnTo>
                  <a:pt x="437" y="8"/>
                </a:lnTo>
                <a:lnTo>
                  <a:pt x="437" y="6"/>
                </a:lnTo>
                <a:lnTo>
                  <a:pt x="437" y="3"/>
                </a:lnTo>
                <a:lnTo>
                  <a:pt x="437" y="0"/>
                </a:lnTo>
                <a:lnTo>
                  <a:pt x="433" y="0"/>
                </a:lnTo>
                <a:lnTo>
                  <a:pt x="433" y="3"/>
                </a:lnTo>
                <a:lnTo>
                  <a:pt x="433" y="6"/>
                </a:lnTo>
                <a:lnTo>
                  <a:pt x="433" y="8"/>
                </a:lnTo>
                <a:lnTo>
                  <a:pt x="433" y="11"/>
                </a:lnTo>
                <a:lnTo>
                  <a:pt x="433" y="14"/>
                </a:lnTo>
                <a:lnTo>
                  <a:pt x="433" y="18"/>
                </a:lnTo>
                <a:lnTo>
                  <a:pt x="435" y="21"/>
                </a:lnTo>
                <a:lnTo>
                  <a:pt x="435" y="24"/>
                </a:lnTo>
                <a:lnTo>
                  <a:pt x="435" y="28"/>
                </a:lnTo>
                <a:lnTo>
                  <a:pt x="433" y="31"/>
                </a:lnTo>
                <a:lnTo>
                  <a:pt x="433" y="34"/>
                </a:lnTo>
                <a:lnTo>
                  <a:pt x="433" y="38"/>
                </a:lnTo>
                <a:lnTo>
                  <a:pt x="433" y="41"/>
                </a:lnTo>
                <a:lnTo>
                  <a:pt x="433" y="44"/>
                </a:lnTo>
                <a:lnTo>
                  <a:pt x="433" y="48"/>
                </a:lnTo>
                <a:lnTo>
                  <a:pt x="433" y="51"/>
                </a:lnTo>
                <a:lnTo>
                  <a:pt x="437" y="51"/>
                </a:lnTo>
                <a:lnTo>
                  <a:pt x="437" y="48"/>
                </a:lnTo>
                <a:lnTo>
                  <a:pt x="437" y="44"/>
                </a:lnTo>
                <a:lnTo>
                  <a:pt x="437" y="41"/>
                </a:lnTo>
                <a:lnTo>
                  <a:pt x="437" y="38"/>
                </a:lnTo>
                <a:lnTo>
                  <a:pt x="437" y="34"/>
                </a:lnTo>
                <a:lnTo>
                  <a:pt x="437" y="31"/>
                </a:lnTo>
                <a:lnTo>
                  <a:pt x="438" y="28"/>
                </a:lnTo>
                <a:lnTo>
                  <a:pt x="438"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0"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20" name="Freeform 1725">
            <a:extLst>
              <a:ext uri="{FF2B5EF4-FFF2-40B4-BE49-F238E27FC236}">
                <a16:creationId xmlns:a16="http://schemas.microsoft.com/office/drawing/2014/main" id="{FAA1CF77-23C2-F1F5-E51D-0DCEB855B84C}"/>
              </a:ext>
            </a:extLst>
          </p:cNvPr>
          <p:cNvSpPr>
            <a:spLocks noEditPoints="1"/>
          </p:cNvSpPr>
          <p:nvPr/>
        </p:nvSpPr>
        <p:spPr bwMode="auto">
          <a:xfrm>
            <a:off x="2212975" y="2719388"/>
            <a:ext cx="692150" cy="80963"/>
          </a:xfrm>
          <a:custGeom>
            <a:avLst/>
            <a:gdLst>
              <a:gd name="T0" fmla="*/ 436 w 436"/>
              <a:gd name="T1" fmla="*/ 21 h 51"/>
              <a:gd name="T2" fmla="*/ 434 w 436"/>
              <a:gd name="T3" fmla="*/ 14 h 51"/>
              <a:gd name="T4" fmla="*/ 434 w 436"/>
              <a:gd name="T5" fmla="*/ 8 h 51"/>
              <a:gd name="T6" fmla="*/ 434 w 436"/>
              <a:gd name="T7" fmla="*/ 3 h 51"/>
              <a:gd name="T8" fmla="*/ 431 w 436"/>
              <a:gd name="T9" fmla="*/ 0 h 51"/>
              <a:gd name="T10" fmla="*/ 431 w 436"/>
              <a:gd name="T11" fmla="*/ 6 h 51"/>
              <a:gd name="T12" fmla="*/ 431 w 436"/>
              <a:gd name="T13" fmla="*/ 11 h 51"/>
              <a:gd name="T14" fmla="*/ 431 w 436"/>
              <a:gd name="T15" fmla="*/ 18 h 51"/>
              <a:gd name="T16" fmla="*/ 432 w 436"/>
              <a:gd name="T17" fmla="*/ 24 h 51"/>
              <a:gd name="T18" fmla="*/ 431 w 436"/>
              <a:gd name="T19" fmla="*/ 31 h 51"/>
              <a:gd name="T20" fmla="*/ 431 w 436"/>
              <a:gd name="T21" fmla="*/ 38 h 51"/>
              <a:gd name="T22" fmla="*/ 431 w 436"/>
              <a:gd name="T23" fmla="*/ 44 h 51"/>
              <a:gd name="T24" fmla="*/ 431 w 436"/>
              <a:gd name="T25" fmla="*/ 51 h 51"/>
              <a:gd name="T26" fmla="*/ 434 w 436"/>
              <a:gd name="T27" fmla="*/ 48 h 51"/>
              <a:gd name="T28" fmla="*/ 434 w 436"/>
              <a:gd name="T29" fmla="*/ 41 h 51"/>
              <a:gd name="T30" fmla="*/ 434 w 436"/>
              <a:gd name="T31" fmla="*/ 34 h 51"/>
              <a:gd name="T32" fmla="*/ 436 w 436"/>
              <a:gd name="T33" fmla="*/ 28 h 51"/>
              <a:gd name="T34" fmla="*/ 2 w 436"/>
              <a:gd name="T35" fmla="*/ 0 h 51"/>
              <a:gd name="T36" fmla="*/ 0 w 436"/>
              <a:gd name="T37" fmla="*/ 6 h 51"/>
              <a:gd name="T38" fmla="*/ 0 w 436"/>
              <a:gd name="T39" fmla="*/ 11 h 51"/>
              <a:gd name="T40" fmla="*/ 0 w 436"/>
              <a:gd name="T41" fmla="*/ 18 h 51"/>
              <a:gd name="T42" fmla="*/ 0 w 436"/>
              <a:gd name="T43" fmla="*/ 24 h 51"/>
              <a:gd name="T44" fmla="*/ 0 w 436"/>
              <a:gd name="T45" fmla="*/ 31 h 51"/>
              <a:gd name="T46" fmla="*/ 0 w 436"/>
              <a:gd name="T47" fmla="*/ 38 h 51"/>
              <a:gd name="T48" fmla="*/ 0 w 436"/>
              <a:gd name="T49" fmla="*/ 44 h 51"/>
              <a:gd name="T50" fmla="*/ 2 w 436"/>
              <a:gd name="T51" fmla="*/ 51 h 51"/>
              <a:gd name="T52" fmla="*/ 4 w 436"/>
              <a:gd name="T53" fmla="*/ 48 h 51"/>
              <a:gd name="T54" fmla="*/ 4 w 436"/>
              <a:gd name="T55" fmla="*/ 41 h 51"/>
              <a:gd name="T56" fmla="*/ 4 w 436"/>
              <a:gd name="T57" fmla="*/ 34 h 51"/>
              <a:gd name="T58" fmla="*/ 4 w 436"/>
              <a:gd name="T59" fmla="*/ 28 h 51"/>
              <a:gd name="T60" fmla="*/ 4 w 436"/>
              <a:gd name="T61" fmla="*/ 21 h 51"/>
              <a:gd name="T62" fmla="*/ 4 w 436"/>
              <a:gd name="T63" fmla="*/ 14 h 51"/>
              <a:gd name="T64" fmla="*/ 4 w 436"/>
              <a:gd name="T65" fmla="*/ 8 h 51"/>
              <a:gd name="T66" fmla="*/ 4 w 436"/>
              <a:gd name="T67" fmla="*/ 3 h 51"/>
              <a:gd name="T68" fmla="*/ 2 w 4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6" h="51">
                <a:moveTo>
                  <a:pt x="436" y="24"/>
                </a:moveTo>
                <a:lnTo>
                  <a:pt x="436" y="21"/>
                </a:lnTo>
                <a:lnTo>
                  <a:pt x="434" y="18"/>
                </a:lnTo>
                <a:lnTo>
                  <a:pt x="434" y="14"/>
                </a:lnTo>
                <a:lnTo>
                  <a:pt x="434" y="11"/>
                </a:lnTo>
                <a:lnTo>
                  <a:pt x="434" y="8"/>
                </a:lnTo>
                <a:lnTo>
                  <a:pt x="434" y="6"/>
                </a:lnTo>
                <a:lnTo>
                  <a:pt x="434" y="3"/>
                </a:lnTo>
                <a:lnTo>
                  <a:pt x="434" y="0"/>
                </a:lnTo>
                <a:lnTo>
                  <a:pt x="431" y="0"/>
                </a:lnTo>
                <a:lnTo>
                  <a:pt x="431" y="3"/>
                </a:lnTo>
                <a:lnTo>
                  <a:pt x="431" y="6"/>
                </a:lnTo>
                <a:lnTo>
                  <a:pt x="431" y="8"/>
                </a:lnTo>
                <a:lnTo>
                  <a:pt x="431" y="11"/>
                </a:lnTo>
                <a:lnTo>
                  <a:pt x="431" y="14"/>
                </a:lnTo>
                <a:lnTo>
                  <a:pt x="431" y="18"/>
                </a:lnTo>
                <a:lnTo>
                  <a:pt x="432" y="21"/>
                </a:lnTo>
                <a:lnTo>
                  <a:pt x="432" y="24"/>
                </a:lnTo>
                <a:lnTo>
                  <a:pt x="432" y="28"/>
                </a:lnTo>
                <a:lnTo>
                  <a:pt x="431" y="31"/>
                </a:lnTo>
                <a:lnTo>
                  <a:pt x="431" y="34"/>
                </a:lnTo>
                <a:lnTo>
                  <a:pt x="431" y="38"/>
                </a:lnTo>
                <a:lnTo>
                  <a:pt x="431" y="41"/>
                </a:lnTo>
                <a:lnTo>
                  <a:pt x="431" y="44"/>
                </a:lnTo>
                <a:lnTo>
                  <a:pt x="431" y="48"/>
                </a:lnTo>
                <a:lnTo>
                  <a:pt x="431" y="51"/>
                </a:lnTo>
                <a:lnTo>
                  <a:pt x="434" y="51"/>
                </a:lnTo>
                <a:lnTo>
                  <a:pt x="434" y="48"/>
                </a:lnTo>
                <a:lnTo>
                  <a:pt x="434" y="44"/>
                </a:lnTo>
                <a:lnTo>
                  <a:pt x="434" y="41"/>
                </a:lnTo>
                <a:lnTo>
                  <a:pt x="434" y="38"/>
                </a:lnTo>
                <a:lnTo>
                  <a:pt x="434" y="34"/>
                </a:lnTo>
                <a:lnTo>
                  <a:pt x="434" y="31"/>
                </a:lnTo>
                <a:lnTo>
                  <a:pt x="436" y="28"/>
                </a:lnTo>
                <a:lnTo>
                  <a:pt x="43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21" name="Freeform 1726">
            <a:extLst>
              <a:ext uri="{FF2B5EF4-FFF2-40B4-BE49-F238E27FC236}">
                <a16:creationId xmlns:a16="http://schemas.microsoft.com/office/drawing/2014/main" id="{7B2400DD-7719-2CC5-2198-A21B879F8987}"/>
              </a:ext>
            </a:extLst>
          </p:cNvPr>
          <p:cNvSpPr>
            <a:spLocks noEditPoints="1"/>
          </p:cNvSpPr>
          <p:nvPr/>
        </p:nvSpPr>
        <p:spPr bwMode="auto">
          <a:xfrm>
            <a:off x="2216150" y="2719388"/>
            <a:ext cx="685800" cy="80963"/>
          </a:xfrm>
          <a:custGeom>
            <a:avLst/>
            <a:gdLst>
              <a:gd name="T0" fmla="*/ 432 w 432"/>
              <a:gd name="T1" fmla="*/ 21 h 51"/>
              <a:gd name="T2" fmla="*/ 430 w 432"/>
              <a:gd name="T3" fmla="*/ 14 h 51"/>
              <a:gd name="T4" fmla="*/ 430 w 432"/>
              <a:gd name="T5" fmla="*/ 8 h 51"/>
              <a:gd name="T6" fmla="*/ 430 w 432"/>
              <a:gd name="T7" fmla="*/ 3 h 51"/>
              <a:gd name="T8" fmla="*/ 427 w 432"/>
              <a:gd name="T9" fmla="*/ 0 h 51"/>
              <a:gd name="T10" fmla="*/ 427 w 432"/>
              <a:gd name="T11" fmla="*/ 6 h 51"/>
              <a:gd name="T12" fmla="*/ 427 w 432"/>
              <a:gd name="T13" fmla="*/ 11 h 51"/>
              <a:gd name="T14" fmla="*/ 427 w 432"/>
              <a:gd name="T15" fmla="*/ 18 h 51"/>
              <a:gd name="T16" fmla="*/ 429 w 432"/>
              <a:gd name="T17" fmla="*/ 24 h 51"/>
              <a:gd name="T18" fmla="*/ 427 w 432"/>
              <a:gd name="T19" fmla="*/ 31 h 51"/>
              <a:gd name="T20" fmla="*/ 427 w 432"/>
              <a:gd name="T21" fmla="*/ 38 h 51"/>
              <a:gd name="T22" fmla="*/ 427 w 432"/>
              <a:gd name="T23" fmla="*/ 44 h 51"/>
              <a:gd name="T24" fmla="*/ 427 w 432"/>
              <a:gd name="T25" fmla="*/ 51 h 51"/>
              <a:gd name="T26" fmla="*/ 430 w 432"/>
              <a:gd name="T27" fmla="*/ 48 h 51"/>
              <a:gd name="T28" fmla="*/ 430 w 432"/>
              <a:gd name="T29" fmla="*/ 41 h 51"/>
              <a:gd name="T30" fmla="*/ 430 w 432"/>
              <a:gd name="T31" fmla="*/ 34 h 51"/>
              <a:gd name="T32" fmla="*/ 432 w 432"/>
              <a:gd name="T33" fmla="*/ 28 h 51"/>
              <a:gd name="T34" fmla="*/ 2 w 432"/>
              <a:gd name="T35" fmla="*/ 0 h 51"/>
              <a:gd name="T36" fmla="*/ 0 w 432"/>
              <a:gd name="T37" fmla="*/ 6 h 51"/>
              <a:gd name="T38" fmla="*/ 0 w 432"/>
              <a:gd name="T39" fmla="*/ 11 h 51"/>
              <a:gd name="T40" fmla="*/ 0 w 432"/>
              <a:gd name="T41" fmla="*/ 18 h 51"/>
              <a:gd name="T42" fmla="*/ 0 w 432"/>
              <a:gd name="T43" fmla="*/ 24 h 51"/>
              <a:gd name="T44" fmla="*/ 0 w 432"/>
              <a:gd name="T45" fmla="*/ 31 h 51"/>
              <a:gd name="T46" fmla="*/ 0 w 432"/>
              <a:gd name="T47" fmla="*/ 38 h 51"/>
              <a:gd name="T48" fmla="*/ 0 w 432"/>
              <a:gd name="T49" fmla="*/ 44 h 51"/>
              <a:gd name="T50" fmla="*/ 2 w 432"/>
              <a:gd name="T51" fmla="*/ 51 h 51"/>
              <a:gd name="T52" fmla="*/ 3 w 432"/>
              <a:gd name="T53" fmla="*/ 48 h 51"/>
              <a:gd name="T54" fmla="*/ 3 w 432"/>
              <a:gd name="T55" fmla="*/ 41 h 51"/>
              <a:gd name="T56" fmla="*/ 3 w 432"/>
              <a:gd name="T57" fmla="*/ 34 h 51"/>
              <a:gd name="T58" fmla="*/ 3 w 432"/>
              <a:gd name="T59" fmla="*/ 28 h 51"/>
              <a:gd name="T60" fmla="*/ 3 w 432"/>
              <a:gd name="T61" fmla="*/ 21 h 51"/>
              <a:gd name="T62" fmla="*/ 3 w 432"/>
              <a:gd name="T63" fmla="*/ 14 h 51"/>
              <a:gd name="T64" fmla="*/ 3 w 432"/>
              <a:gd name="T65" fmla="*/ 8 h 51"/>
              <a:gd name="T66" fmla="*/ 3 w 432"/>
              <a:gd name="T67" fmla="*/ 3 h 51"/>
              <a:gd name="T68" fmla="*/ 2 w 4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32" h="51">
                <a:moveTo>
                  <a:pt x="432" y="24"/>
                </a:moveTo>
                <a:lnTo>
                  <a:pt x="432" y="21"/>
                </a:lnTo>
                <a:lnTo>
                  <a:pt x="430" y="18"/>
                </a:lnTo>
                <a:lnTo>
                  <a:pt x="430" y="14"/>
                </a:lnTo>
                <a:lnTo>
                  <a:pt x="430" y="11"/>
                </a:lnTo>
                <a:lnTo>
                  <a:pt x="430" y="8"/>
                </a:lnTo>
                <a:lnTo>
                  <a:pt x="430" y="6"/>
                </a:lnTo>
                <a:lnTo>
                  <a:pt x="430" y="3"/>
                </a:lnTo>
                <a:lnTo>
                  <a:pt x="430" y="0"/>
                </a:lnTo>
                <a:lnTo>
                  <a:pt x="427" y="0"/>
                </a:lnTo>
                <a:lnTo>
                  <a:pt x="427" y="3"/>
                </a:lnTo>
                <a:lnTo>
                  <a:pt x="427" y="6"/>
                </a:lnTo>
                <a:lnTo>
                  <a:pt x="427" y="8"/>
                </a:lnTo>
                <a:lnTo>
                  <a:pt x="427" y="11"/>
                </a:lnTo>
                <a:lnTo>
                  <a:pt x="427" y="14"/>
                </a:lnTo>
                <a:lnTo>
                  <a:pt x="427" y="18"/>
                </a:lnTo>
                <a:lnTo>
                  <a:pt x="429" y="21"/>
                </a:lnTo>
                <a:lnTo>
                  <a:pt x="429" y="24"/>
                </a:lnTo>
                <a:lnTo>
                  <a:pt x="429" y="28"/>
                </a:lnTo>
                <a:lnTo>
                  <a:pt x="427" y="31"/>
                </a:lnTo>
                <a:lnTo>
                  <a:pt x="427" y="34"/>
                </a:lnTo>
                <a:lnTo>
                  <a:pt x="427" y="38"/>
                </a:lnTo>
                <a:lnTo>
                  <a:pt x="427" y="41"/>
                </a:lnTo>
                <a:lnTo>
                  <a:pt x="427" y="44"/>
                </a:lnTo>
                <a:lnTo>
                  <a:pt x="427" y="48"/>
                </a:lnTo>
                <a:lnTo>
                  <a:pt x="427" y="51"/>
                </a:lnTo>
                <a:lnTo>
                  <a:pt x="430" y="51"/>
                </a:lnTo>
                <a:lnTo>
                  <a:pt x="430" y="48"/>
                </a:lnTo>
                <a:lnTo>
                  <a:pt x="430" y="44"/>
                </a:lnTo>
                <a:lnTo>
                  <a:pt x="430" y="41"/>
                </a:lnTo>
                <a:lnTo>
                  <a:pt x="430" y="38"/>
                </a:lnTo>
                <a:lnTo>
                  <a:pt x="430" y="34"/>
                </a:lnTo>
                <a:lnTo>
                  <a:pt x="430" y="31"/>
                </a:lnTo>
                <a:lnTo>
                  <a:pt x="432" y="28"/>
                </a:lnTo>
                <a:lnTo>
                  <a:pt x="43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22" name="Freeform 1727">
            <a:extLst>
              <a:ext uri="{FF2B5EF4-FFF2-40B4-BE49-F238E27FC236}">
                <a16:creationId xmlns:a16="http://schemas.microsoft.com/office/drawing/2014/main" id="{E9892D50-247E-2201-5059-68B5CA16DB65}"/>
              </a:ext>
            </a:extLst>
          </p:cNvPr>
          <p:cNvSpPr>
            <a:spLocks noEditPoints="1"/>
          </p:cNvSpPr>
          <p:nvPr/>
        </p:nvSpPr>
        <p:spPr bwMode="auto">
          <a:xfrm>
            <a:off x="2219325" y="2719388"/>
            <a:ext cx="679450" cy="80963"/>
          </a:xfrm>
          <a:custGeom>
            <a:avLst/>
            <a:gdLst>
              <a:gd name="T0" fmla="*/ 428 w 428"/>
              <a:gd name="T1" fmla="*/ 21 h 51"/>
              <a:gd name="T2" fmla="*/ 427 w 428"/>
              <a:gd name="T3" fmla="*/ 14 h 51"/>
              <a:gd name="T4" fmla="*/ 427 w 428"/>
              <a:gd name="T5" fmla="*/ 8 h 51"/>
              <a:gd name="T6" fmla="*/ 427 w 428"/>
              <a:gd name="T7" fmla="*/ 3 h 51"/>
              <a:gd name="T8" fmla="*/ 424 w 428"/>
              <a:gd name="T9" fmla="*/ 0 h 51"/>
              <a:gd name="T10" fmla="*/ 424 w 428"/>
              <a:gd name="T11" fmla="*/ 6 h 51"/>
              <a:gd name="T12" fmla="*/ 424 w 428"/>
              <a:gd name="T13" fmla="*/ 11 h 51"/>
              <a:gd name="T14" fmla="*/ 424 w 428"/>
              <a:gd name="T15" fmla="*/ 18 h 51"/>
              <a:gd name="T16" fmla="*/ 425 w 428"/>
              <a:gd name="T17" fmla="*/ 24 h 51"/>
              <a:gd name="T18" fmla="*/ 425 w 428"/>
              <a:gd name="T19" fmla="*/ 31 h 51"/>
              <a:gd name="T20" fmla="*/ 424 w 428"/>
              <a:gd name="T21" fmla="*/ 38 h 51"/>
              <a:gd name="T22" fmla="*/ 424 w 428"/>
              <a:gd name="T23" fmla="*/ 44 h 51"/>
              <a:gd name="T24" fmla="*/ 424 w 428"/>
              <a:gd name="T25" fmla="*/ 51 h 51"/>
              <a:gd name="T26" fmla="*/ 427 w 428"/>
              <a:gd name="T27" fmla="*/ 48 h 51"/>
              <a:gd name="T28" fmla="*/ 427 w 428"/>
              <a:gd name="T29" fmla="*/ 41 h 51"/>
              <a:gd name="T30" fmla="*/ 427 w 428"/>
              <a:gd name="T31" fmla="*/ 34 h 51"/>
              <a:gd name="T32" fmla="*/ 428 w 428"/>
              <a:gd name="T33" fmla="*/ 28 h 51"/>
              <a:gd name="T34" fmla="*/ 1 w 428"/>
              <a:gd name="T35" fmla="*/ 0 h 51"/>
              <a:gd name="T36" fmla="*/ 0 w 428"/>
              <a:gd name="T37" fmla="*/ 6 h 51"/>
              <a:gd name="T38" fmla="*/ 0 w 428"/>
              <a:gd name="T39" fmla="*/ 11 h 51"/>
              <a:gd name="T40" fmla="*/ 0 w 428"/>
              <a:gd name="T41" fmla="*/ 18 h 51"/>
              <a:gd name="T42" fmla="*/ 0 w 428"/>
              <a:gd name="T43" fmla="*/ 24 h 51"/>
              <a:gd name="T44" fmla="*/ 0 w 428"/>
              <a:gd name="T45" fmla="*/ 31 h 51"/>
              <a:gd name="T46" fmla="*/ 0 w 428"/>
              <a:gd name="T47" fmla="*/ 38 h 51"/>
              <a:gd name="T48" fmla="*/ 0 w 428"/>
              <a:gd name="T49" fmla="*/ 44 h 51"/>
              <a:gd name="T50" fmla="*/ 1 w 428"/>
              <a:gd name="T51" fmla="*/ 51 h 51"/>
              <a:gd name="T52" fmla="*/ 3 w 428"/>
              <a:gd name="T53" fmla="*/ 48 h 51"/>
              <a:gd name="T54" fmla="*/ 3 w 428"/>
              <a:gd name="T55" fmla="*/ 41 h 51"/>
              <a:gd name="T56" fmla="*/ 3 w 428"/>
              <a:gd name="T57" fmla="*/ 34 h 51"/>
              <a:gd name="T58" fmla="*/ 3 w 428"/>
              <a:gd name="T59" fmla="*/ 28 h 51"/>
              <a:gd name="T60" fmla="*/ 3 w 428"/>
              <a:gd name="T61" fmla="*/ 21 h 51"/>
              <a:gd name="T62" fmla="*/ 3 w 428"/>
              <a:gd name="T63" fmla="*/ 14 h 51"/>
              <a:gd name="T64" fmla="*/ 3 w 428"/>
              <a:gd name="T65" fmla="*/ 8 h 51"/>
              <a:gd name="T66" fmla="*/ 3 w 428"/>
              <a:gd name="T67" fmla="*/ 3 h 51"/>
              <a:gd name="T68" fmla="*/ 1 w 42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8" h="51">
                <a:moveTo>
                  <a:pt x="428" y="24"/>
                </a:moveTo>
                <a:lnTo>
                  <a:pt x="428" y="21"/>
                </a:lnTo>
                <a:lnTo>
                  <a:pt x="427" y="18"/>
                </a:lnTo>
                <a:lnTo>
                  <a:pt x="427" y="14"/>
                </a:lnTo>
                <a:lnTo>
                  <a:pt x="427" y="11"/>
                </a:lnTo>
                <a:lnTo>
                  <a:pt x="427" y="8"/>
                </a:lnTo>
                <a:lnTo>
                  <a:pt x="427" y="6"/>
                </a:lnTo>
                <a:lnTo>
                  <a:pt x="427" y="3"/>
                </a:lnTo>
                <a:lnTo>
                  <a:pt x="427" y="0"/>
                </a:lnTo>
                <a:lnTo>
                  <a:pt x="424" y="0"/>
                </a:lnTo>
                <a:lnTo>
                  <a:pt x="424" y="3"/>
                </a:lnTo>
                <a:lnTo>
                  <a:pt x="424" y="6"/>
                </a:lnTo>
                <a:lnTo>
                  <a:pt x="424" y="8"/>
                </a:lnTo>
                <a:lnTo>
                  <a:pt x="424" y="11"/>
                </a:lnTo>
                <a:lnTo>
                  <a:pt x="424" y="14"/>
                </a:lnTo>
                <a:lnTo>
                  <a:pt x="424" y="18"/>
                </a:lnTo>
                <a:lnTo>
                  <a:pt x="425" y="21"/>
                </a:lnTo>
                <a:lnTo>
                  <a:pt x="425" y="24"/>
                </a:lnTo>
                <a:lnTo>
                  <a:pt x="425" y="28"/>
                </a:lnTo>
                <a:lnTo>
                  <a:pt x="425" y="31"/>
                </a:lnTo>
                <a:lnTo>
                  <a:pt x="424" y="34"/>
                </a:lnTo>
                <a:lnTo>
                  <a:pt x="424" y="38"/>
                </a:lnTo>
                <a:lnTo>
                  <a:pt x="424" y="41"/>
                </a:lnTo>
                <a:lnTo>
                  <a:pt x="424" y="44"/>
                </a:lnTo>
                <a:lnTo>
                  <a:pt x="424" y="48"/>
                </a:lnTo>
                <a:lnTo>
                  <a:pt x="424" y="51"/>
                </a:lnTo>
                <a:lnTo>
                  <a:pt x="427" y="51"/>
                </a:lnTo>
                <a:lnTo>
                  <a:pt x="427" y="48"/>
                </a:lnTo>
                <a:lnTo>
                  <a:pt x="427" y="44"/>
                </a:lnTo>
                <a:lnTo>
                  <a:pt x="427" y="41"/>
                </a:lnTo>
                <a:lnTo>
                  <a:pt x="427" y="38"/>
                </a:lnTo>
                <a:lnTo>
                  <a:pt x="427" y="34"/>
                </a:lnTo>
                <a:lnTo>
                  <a:pt x="427" y="31"/>
                </a:lnTo>
                <a:lnTo>
                  <a:pt x="428" y="28"/>
                </a:lnTo>
                <a:lnTo>
                  <a:pt x="428"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23" name="Freeform 1728">
            <a:extLst>
              <a:ext uri="{FF2B5EF4-FFF2-40B4-BE49-F238E27FC236}">
                <a16:creationId xmlns:a16="http://schemas.microsoft.com/office/drawing/2014/main" id="{128FC55D-4E65-43A3-DDBD-9733F6D2577E}"/>
              </a:ext>
            </a:extLst>
          </p:cNvPr>
          <p:cNvSpPr>
            <a:spLocks noEditPoints="1"/>
          </p:cNvSpPr>
          <p:nvPr/>
        </p:nvSpPr>
        <p:spPr bwMode="auto">
          <a:xfrm>
            <a:off x="2220913" y="2719388"/>
            <a:ext cx="676275" cy="80963"/>
          </a:xfrm>
          <a:custGeom>
            <a:avLst/>
            <a:gdLst>
              <a:gd name="T0" fmla="*/ 426 w 426"/>
              <a:gd name="T1" fmla="*/ 21 h 51"/>
              <a:gd name="T2" fmla="*/ 424 w 426"/>
              <a:gd name="T3" fmla="*/ 14 h 51"/>
              <a:gd name="T4" fmla="*/ 424 w 426"/>
              <a:gd name="T5" fmla="*/ 8 h 51"/>
              <a:gd name="T6" fmla="*/ 424 w 426"/>
              <a:gd name="T7" fmla="*/ 3 h 51"/>
              <a:gd name="T8" fmla="*/ 421 w 426"/>
              <a:gd name="T9" fmla="*/ 0 h 51"/>
              <a:gd name="T10" fmla="*/ 421 w 426"/>
              <a:gd name="T11" fmla="*/ 6 h 51"/>
              <a:gd name="T12" fmla="*/ 421 w 426"/>
              <a:gd name="T13" fmla="*/ 11 h 51"/>
              <a:gd name="T14" fmla="*/ 423 w 426"/>
              <a:gd name="T15" fmla="*/ 18 h 51"/>
              <a:gd name="T16" fmla="*/ 423 w 426"/>
              <a:gd name="T17" fmla="*/ 24 h 51"/>
              <a:gd name="T18" fmla="*/ 423 w 426"/>
              <a:gd name="T19" fmla="*/ 31 h 51"/>
              <a:gd name="T20" fmla="*/ 421 w 426"/>
              <a:gd name="T21" fmla="*/ 38 h 51"/>
              <a:gd name="T22" fmla="*/ 421 w 426"/>
              <a:gd name="T23" fmla="*/ 44 h 51"/>
              <a:gd name="T24" fmla="*/ 421 w 426"/>
              <a:gd name="T25" fmla="*/ 51 h 51"/>
              <a:gd name="T26" fmla="*/ 424 w 426"/>
              <a:gd name="T27" fmla="*/ 48 h 51"/>
              <a:gd name="T28" fmla="*/ 424 w 426"/>
              <a:gd name="T29" fmla="*/ 41 h 51"/>
              <a:gd name="T30" fmla="*/ 424 w 426"/>
              <a:gd name="T31" fmla="*/ 34 h 51"/>
              <a:gd name="T32" fmla="*/ 426 w 426"/>
              <a:gd name="T33" fmla="*/ 28 h 51"/>
              <a:gd name="T34" fmla="*/ 2 w 426"/>
              <a:gd name="T35" fmla="*/ 0 h 51"/>
              <a:gd name="T36" fmla="*/ 0 w 426"/>
              <a:gd name="T37" fmla="*/ 6 h 51"/>
              <a:gd name="T38" fmla="*/ 0 w 426"/>
              <a:gd name="T39" fmla="*/ 11 h 51"/>
              <a:gd name="T40" fmla="*/ 0 w 426"/>
              <a:gd name="T41" fmla="*/ 18 h 51"/>
              <a:gd name="T42" fmla="*/ 0 w 426"/>
              <a:gd name="T43" fmla="*/ 24 h 51"/>
              <a:gd name="T44" fmla="*/ 0 w 426"/>
              <a:gd name="T45" fmla="*/ 31 h 51"/>
              <a:gd name="T46" fmla="*/ 0 w 426"/>
              <a:gd name="T47" fmla="*/ 38 h 51"/>
              <a:gd name="T48" fmla="*/ 0 w 426"/>
              <a:gd name="T49" fmla="*/ 44 h 51"/>
              <a:gd name="T50" fmla="*/ 2 w 426"/>
              <a:gd name="T51" fmla="*/ 51 h 51"/>
              <a:gd name="T52" fmla="*/ 4 w 426"/>
              <a:gd name="T53" fmla="*/ 48 h 51"/>
              <a:gd name="T54" fmla="*/ 4 w 426"/>
              <a:gd name="T55" fmla="*/ 41 h 51"/>
              <a:gd name="T56" fmla="*/ 4 w 426"/>
              <a:gd name="T57" fmla="*/ 34 h 51"/>
              <a:gd name="T58" fmla="*/ 4 w 426"/>
              <a:gd name="T59" fmla="*/ 28 h 51"/>
              <a:gd name="T60" fmla="*/ 4 w 426"/>
              <a:gd name="T61" fmla="*/ 21 h 51"/>
              <a:gd name="T62" fmla="*/ 4 w 426"/>
              <a:gd name="T63" fmla="*/ 14 h 51"/>
              <a:gd name="T64" fmla="*/ 4 w 426"/>
              <a:gd name="T65" fmla="*/ 8 h 51"/>
              <a:gd name="T66" fmla="*/ 4 w 426"/>
              <a:gd name="T67" fmla="*/ 3 h 51"/>
              <a:gd name="T68" fmla="*/ 2 w 42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6" h="51">
                <a:moveTo>
                  <a:pt x="426" y="24"/>
                </a:moveTo>
                <a:lnTo>
                  <a:pt x="426" y="21"/>
                </a:lnTo>
                <a:lnTo>
                  <a:pt x="424" y="18"/>
                </a:lnTo>
                <a:lnTo>
                  <a:pt x="424" y="14"/>
                </a:lnTo>
                <a:lnTo>
                  <a:pt x="424" y="11"/>
                </a:lnTo>
                <a:lnTo>
                  <a:pt x="424" y="8"/>
                </a:lnTo>
                <a:lnTo>
                  <a:pt x="424" y="6"/>
                </a:lnTo>
                <a:lnTo>
                  <a:pt x="424" y="3"/>
                </a:lnTo>
                <a:lnTo>
                  <a:pt x="424" y="0"/>
                </a:lnTo>
                <a:lnTo>
                  <a:pt x="421" y="0"/>
                </a:lnTo>
                <a:lnTo>
                  <a:pt x="421" y="3"/>
                </a:lnTo>
                <a:lnTo>
                  <a:pt x="421" y="6"/>
                </a:lnTo>
                <a:lnTo>
                  <a:pt x="421" y="8"/>
                </a:lnTo>
                <a:lnTo>
                  <a:pt x="421" y="11"/>
                </a:lnTo>
                <a:lnTo>
                  <a:pt x="421" y="14"/>
                </a:lnTo>
                <a:lnTo>
                  <a:pt x="423" y="18"/>
                </a:lnTo>
                <a:lnTo>
                  <a:pt x="423" y="21"/>
                </a:lnTo>
                <a:lnTo>
                  <a:pt x="423" y="24"/>
                </a:lnTo>
                <a:lnTo>
                  <a:pt x="423" y="28"/>
                </a:lnTo>
                <a:lnTo>
                  <a:pt x="423" y="31"/>
                </a:lnTo>
                <a:lnTo>
                  <a:pt x="421" y="34"/>
                </a:lnTo>
                <a:lnTo>
                  <a:pt x="421" y="38"/>
                </a:lnTo>
                <a:lnTo>
                  <a:pt x="421" y="41"/>
                </a:lnTo>
                <a:lnTo>
                  <a:pt x="421" y="44"/>
                </a:lnTo>
                <a:lnTo>
                  <a:pt x="421" y="48"/>
                </a:lnTo>
                <a:lnTo>
                  <a:pt x="421" y="51"/>
                </a:lnTo>
                <a:lnTo>
                  <a:pt x="424" y="51"/>
                </a:lnTo>
                <a:lnTo>
                  <a:pt x="424" y="48"/>
                </a:lnTo>
                <a:lnTo>
                  <a:pt x="424" y="44"/>
                </a:lnTo>
                <a:lnTo>
                  <a:pt x="424" y="41"/>
                </a:lnTo>
                <a:lnTo>
                  <a:pt x="424" y="38"/>
                </a:lnTo>
                <a:lnTo>
                  <a:pt x="424" y="34"/>
                </a:lnTo>
                <a:lnTo>
                  <a:pt x="424" y="31"/>
                </a:lnTo>
                <a:lnTo>
                  <a:pt x="426" y="28"/>
                </a:lnTo>
                <a:lnTo>
                  <a:pt x="42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24" name="Freeform 1729">
            <a:extLst>
              <a:ext uri="{FF2B5EF4-FFF2-40B4-BE49-F238E27FC236}">
                <a16:creationId xmlns:a16="http://schemas.microsoft.com/office/drawing/2014/main" id="{4E4D2CDE-5ED9-36F3-AD3E-30259F8AD876}"/>
              </a:ext>
            </a:extLst>
          </p:cNvPr>
          <p:cNvSpPr>
            <a:spLocks noEditPoints="1"/>
          </p:cNvSpPr>
          <p:nvPr/>
        </p:nvSpPr>
        <p:spPr bwMode="auto">
          <a:xfrm>
            <a:off x="2224088" y="2719388"/>
            <a:ext cx="669925" cy="80963"/>
          </a:xfrm>
          <a:custGeom>
            <a:avLst/>
            <a:gdLst>
              <a:gd name="T0" fmla="*/ 422 w 422"/>
              <a:gd name="T1" fmla="*/ 21 h 51"/>
              <a:gd name="T2" fmla="*/ 421 w 422"/>
              <a:gd name="T3" fmla="*/ 14 h 51"/>
              <a:gd name="T4" fmla="*/ 421 w 422"/>
              <a:gd name="T5" fmla="*/ 8 h 51"/>
              <a:gd name="T6" fmla="*/ 421 w 422"/>
              <a:gd name="T7" fmla="*/ 3 h 51"/>
              <a:gd name="T8" fmla="*/ 417 w 422"/>
              <a:gd name="T9" fmla="*/ 0 h 51"/>
              <a:gd name="T10" fmla="*/ 417 w 422"/>
              <a:gd name="T11" fmla="*/ 6 h 51"/>
              <a:gd name="T12" fmla="*/ 417 w 422"/>
              <a:gd name="T13" fmla="*/ 11 h 51"/>
              <a:gd name="T14" fmla="*/ 419 w 422"/>
              <a:gd name="T15" fmla="*/ 18 h 51"/>
              <a:gd name="T16" fmla="*/ 419 w 422"/>
              <a:gd name="T17" fmla="*/ 24 h 51"/>
              <a:gd name="T18" fmla="*/ 419 w 422"/>
              <a:gd name="T19" fmla="*/ 31 h 51"/>
              <a:gd name="T20" fmla="*/ 417 w 422"/>
              <a:gd name="T21" fmla="*/ 38 h 51"/>
              <a:gd name="T22" fmla="*/ 417 w 422"/>
              <a:gd name="T23" fmla="*/ 44 h 51"/>
              <a:gd name="T24" fmla="*/ 417 w 422"/>
              <a:gd name="T25" fmla="*/ 51 h 51"/>
              <a:gd name="T26" fmla="*/ 421 w 422"/>
              <a:gd name="T27" fmla="*/ 48 h 51"/>
              <a:gd name="T28" fmla="*/ 421 w 422"/>
              <a:gd name="T29" fmla="*/ 41 h 51"/>
              <a:gd name="T30" fmla="*/ 421 w 422"/>
              <a:gd name="T31" fmla="*/ 34 h 51"/>
              <a:gd name="T32" fmla="*/ 422 w 422"/>
              <a:gd name="T33" fmla="*/ 28 h 51"/>
              <a:gd name="T34" fmla="*/ 2 w 422"/>
              <a:gd name="T35" fmla="*/ 0 h 51"/>
              <a:gd name="T36" fmla="*/ 0 w 422"/>
              <a:gd name="T37" fmla="*/ 6 h 51"/>
              <a:gd name="T38" fmla="*/ 0 w 422"/>
              <a:gd name="T39" fmla="*/ 11 h 51"/>
              <a:gd name="T40" fmla="*/ 0 w 422"/>
              <a:gd name="T41" fmla="*/ 18 h 51"/>
              <a:gd name="T42" fmla="*/ 0 w 422"/>
              <a:gd name="T43" fmla="*/ 24 h 51"/>
              <a:gd name="T44" fmla="*/ 0 w 422"/>
              <a:gd name="T45" fmla="*/ 31 h 51"/>
              <a:gd name="T46" fmla="*/ 0 w 422"/>
              <a:gd name="T47" fmla="*/ 38 h 51"/>
              <a:gd name="T48" fmla="*/ 0 w 422"/>
              <a:gd name="T49" fmla="*/ 44 h 51"/>
              <a:gd name="T50" fmla="*/ 2 w 422"/>
              <a:gd name="T51" fmla="*/ 51 h 51"/>
              <a:gd name="T52" fmla="*/ 3 w 422"/>
              <a:gd name="T53" fmla="*/ 48 h 51"/>
              <a:gd name="T54" fmla="*/ 3 w 422"/>
              <a:gd name="T55" fmla="*/ 41 h 51"/>
              <a:gd name="T56" fmla="*/ 3 w 422"/>
              <a:gd name="T57" fmla="*/ 34 h 51"/>
              <a:gd name="T58" fmla="*/ 3 w 422"/>
              <a:gd name="T59" fmla="*/ 28 h 51"/>
              <a:gd name="T60" fmla="*/ 3 w 422"/>
              <a:gd name="T61" fmla="*/ 21 h 51"/>
              <a:gd name="T62" fmla="*/ 3 w 422"/>
              <a:gd name="T63" fmla="*/ 14 h 51"/>
              <a:gd name="T64" fmla="*/ 3 w 422"/>
              <a:gd name="T65" fmla="*/ 8 h 51"/>
              <a:gd name="T66" fmla="*/ 3 w 422"/>
              <a:gd name="T67" fmla="*/ 3 h 51"/>
              <a:gd name="T68" fmla="*/ 2 w 42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22" h="51">
                <a:moveTo>
                  <a:pt x="422" y="24"/>
                </a:moveTo>
                <a:lnTo>
                  <a:pt x="422" y="21"/>
                </a:lnTo>
                <a:lnTo>
                  <a:pt x="421" y="18"/>
                </a:lnTo>
                <a:lnTo>
                  <a:pt x="421" y="14"/>
                </a:lnTo>
                <a:lnTo>
                  <a:pt x="421" y="11"/>
                </a:lnTo>
                <a:lnTo>
                  <a:pt x="421" y="8"/>
                </a:lnTo>
                <a:lnTo>
                  <a:pt x="421" y="6"/>
                </a:lnTo>
                <a:lnTo>
                  <a:pt x="421" y="3"/>
                </a:lnTo>
                <a:lnTo>
                  <a:pt x="421" y="0"/>
                </a:lnTo>
                <a:lnTo>
                  <a:pt x="417" y="0"/>
                </a:lnTo>
                <a:lnTo>
                  <a:pt x="417" y="3"/>
                </a:lnTo>
                <a:lnTo>
                  <a:pt x="417" y="6"/>
                </a:lnTo>
                <a:lnTo>
                  <a:pt x="417" y="8"/>
                </a:lnTo>
                <a:lnTo>
                  <a:pt x="417" y="11"/>
                </a:lnTo>
                <a:lnTo>
                  <a:pt x="417" y="14"/>
                </a:lnTo>
                <a:lnTo>
                  <a:pt x="419" y="18"/>
                </a:lnTo>
                <a:lnTo>
                  <a:pt x="419" y="21"/>
                </a:lnTo>
                <a:lnTo>
                  <a:pt x="419" y="24"/>
                </a:lnTo>
                <a:lnTo>
                  <a:pt x="419" y="28"/>
                </a:lnTo>
                <a:lnTo>
                  <a:pt x="419" y="31"/>
                </a:lnTo>
                <a:lnTo>
                  <a:pt x="417" y="34"/>
                </a:lnTo>
                <a:lnTo>
                  <a:pt x="417" y="38"/>
                </a:lnTo>
                <a:lnTo>
                  <a:pt x="417" y="41"/>
                </a:lnTo>
                <a:lnTo>
                  <a:pt x="417" y="44"/>
                </a:lnTo>
                <a:lnTo>
                  <a:pt x="417" y="48"/>
                </a:lnTo>
                <a:lnTo>
                  <a:pt x="417" y="51"/>
                </a:lnTo>
                <a:lnTo>
                  <a:pt x="421" y="51"/>
                </a:lnTo>
                <a:lnTo>
                  <a:pt x="421" y="48"/>
                </a:lnTo>
                <a:lnTo>
                  <a:pt x="421" y="44"/>
                </a:lnTo>
                <a:lnTo>
                  <a:pt x="421" y="41"/>
                </a:lnTo>
                <a:lnTo>
                  <a:pt x="421" y="38"/>
                </a:lnTo>
                <a:lnTo>
                  <a:pt x="421" y="34"/>
                </a:lnTo>
                <a:lnTo>
                  <a:pt x="422" y="31"/>
                </a:lnTo>
                <a:lnTo>
                  <a:pt x="422" y="28"/>
                </a:lnTo>
                <a:lnTo>
                  <a:pt x="422"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25" name="Freeform 1730">
            <a:extLst>
              <a:ext uri="{FF2B5EF4-FFF2-40B4-BE49-F238E27FC236}">
                <a16:creationId xmlns:a16="http://schemas.microsoft.com/office/drawing/2014/main" id="{A9BC87BD-F087-16FC-2E20-40105D0C425E}"/>
              </a:ext>
            </a:extLst>
          </p:cNvPr>
          <p:cNvSpPr>
            <a:spLocks noEditPoints="1"/>
          </p:cNvSpPr>
          <p:nvPr/>
        </p:nvSpPr>
        <p:spPr bwMode="auto">
          <a:xfrm>
            <a:off x="2227263" y="2719388"/>
            <a:ext cx="665163" cy="80963"/>
          </a:xfrm>
          <a:custGeom>
            <a:avLst/>
            <a:gdLst>
              <a:gd name="T0" fmla="*/ 419 w 419"/>
              <a:gd name="T1" fmla="*/ 21 h 51"/>
              <a:gd name="T2" fmla="*/ 417 w 419"/>
              <a:gd name="T3" fmla="*/ 14 h 51"/>
              <a:gd name="T4" fmla="*/ 417 w 419"/>
              <a:gd name="T5" fmla="*/ 8 h 51"/>
              <a:gd name="T6" fmla="*/ 417 w 419"/>
              <a:gd name="T7" fmla="*/ 3 h 51"/>
              <a:gd name="T8" fmla="*/ 414 w 419"/>
              <a:gd name="T9" fmla="*/ 0 h 51"/>
              <a:gd name="T10" fmla="*/ 414 w 419"/>
              <a:gd name="T11" fmla="*/ 6 h 51"/>
              <a:gd name="T12" fmla="*/ 414 w 419"/>
              <a:gd name="T13" fmla="*/ 11 h 51"/>
              <a:gd name="T14" fmla="*/ 415 w 419"/>
              <a:gd name="T15" fmla="*/ 18 h 51"/>
              <a:gd name="T16" fmla="*/ 415 w 419"/>
              <a:gd name="T17" fmla="*/ 24 h 51"/>
              <a:gd name="T18" fmla="*/ 415 w 419"/>
              <a:gd name="T19" fmla="*/ 31 h 51"/>
              <a:gd name="T20" fmla="*/ 414 w 419"/>
              <a:gd name="T21" fmla="*/ 38 h 51"/>
              <a:gd name="T22" fmla="*/ 414 w 419"/>
              <a:gd name="T23" fmla="*/ 44 h 51"/>
              <a:gd name="T24" fmla="*/ 414 w 419"/>
              <a:gd name="T25" fmla="*/ 51 h 51"/>
              <a:gd name="T26" fmla="*/ 417 w 419"/>
              <a:gd name="T27" fmla="*/ 48 h 51"/>
              <a:gd name="T28" fmla="*/ 417 w 419"/>
              <a:gd name="T29" fmla="*/ 41 h 51"/>
              <a:gd name="T30" fmla="*/ 417 w 419"/>
              <a:gd name="T31" fmla="*/ 34 h 51"/>
              <a:gd name="T32" fmla="*/ 419 w 419"/>
              <a:gd name="T33" fmla="*/ 28 h 51"/>
              <a:gd name="T34" fmla="*/ 1 w 419"/>
              <a:gd name="T35" fmla="*/ 0 h 51"/>
              <a:gd name="T36" fmla="*/ 0 w 419"/>
              <a:gd name="T37" fmla="*/ 6 h 51"/>
              <a:gd name="T38" fmla="*/ 0 w 419"/>
              <a:gd name="T39" fmla="*/ 11 h 51"/>
              <a:gd name="T40" fmla="*/ 0 w 419"/>
              <a:gd name="T41" fmla="*/ 18 h 51"/>
              <a:gd name="T42" fmla="*/ 0 w 419"/>
              <a:gd name="T43" fmla="*/ 24 h 51"/>
              <a:gd name="T44" fmla="*/ 0 w 419"/>
              <a:gd name="T45" fmla="*/ 31 h 51"/>
              <a:gd name="T46" fmla="*/ 0 w 419"/>
              <a:gd name="T47" fmla="*/ 38 h 51"/>
              <a:gd name="T48" fmla="*/ 0 w 419"/>
              <a:gd name="T49" fmla="*/ 44 h 51"/>
              <a:gd name="T50" fmla="*/ 1 w 419"/>
              <a:gd name="T51" fmla="*/ 51 h 51"/>
              <a:gd name="T52" fmla="*/ 3 w 419"/>
              <a:gd name="T53" fmla="*/ 48 h 51"/>
              <a:gd name="T54" fmla="*/ 3 w 419"/>
              <a:gd name="T55" fmla="*/ 41 h 51"/>
              <a:gd name="T56" fmla="*/ 3 w 419"/>
              <a:gd name="T57" fmla="*/ 34 h 51"/>
              <a:gd name="T58" fmla="*/ 3 w 419"/>
              <a:gd name="T59" fmla="*/ 28 h 51"/>
              <a:gd name="T60" fmla="*/ 3 w 419"/>
              <a:gd name="T61" fmla="*/ 21 h 51"/>
              <a:gd name="T62" fmla="*/ 3 w 419"/>
              <a:gd name="T63" fmla="*/ 14 h 51"/>
              <a:gd name="T64" fmla="*/ 3 w 419"/>
              <a:gd name="T65" fmla="*/ 8 h 51"/>
              <a:gd name="T66" fmla="*/ 3 w 419"/>
              <a:gd name="T67" fmla="*/ 3 h 51"/>
              <a:gd name="T68" fmla="*/ 1 w 41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9" h="51">
                <a:moveTo>
                  <a:pt x="419" y="24"/>
                </a:moveTo>
                <a:lnTo>
                  <a:pt x="419" y="21"/>
                </a:lnTo>
                <a:lnTo>
                  <a:pt x="419" y="18"/>
                </a:lnTo>
                <a:lnTo>
                  <a:pt x="417" y="14"/>
                </a:lnTo>
                <a:lnTo>
                  <a:pt x="417" y="11"/>
                </a:lnTo>
                <a:lnTo>
                  <a:pt x="417" y="8"/>
                </a:lnTo>
                <a:lnTo>
                  <a:pt x="417" y="6"/>
                </a:lnTo>
                <a:lnTo>
                  <a:pt x="417" y="3"/>
                </a:lnTo>
                <a:lnTo>
                  <a:pt x="417" y="0"/>
                </a:lnTo>
                <a:lnTo>
                  <a:pt x="414" y="0"/>
                </a:lnTo>
                <a:lnTo>
                  <a:pt x="414" y="3"/>
                </a:lnTo>
                <a:lnTo>
                  <a:pt x="414" y="6"/>
                </a:lnTo>
                <a:lnTo>
                  <a:pt x="414" y="8"/>
                </a:lnTo>
                <a:lnTo>
                  <a:pt x="414" y="11"/>
                </a:lnTo>
                <a:lnTo>
                  <a:pt x="414" y="14"/>
                </a:lnTo>
                <a:lnTo>
                  <a:pt x="415" y="18"/>
                </a:lnTo>
                <a:lnTo>
                  <a:pt x="415" y="21"/>
                </a:lnTo>
                <a:lnTo>
                  <a:pt x="415" y="24"/>
                </a:lnTo>
                <a:lnTo>
                  <a:pt x="415" y="28"/>
                </a:lnTo>
                <a:lnTo>
                  <a:pt x="415" y="31"/>
                </a:lnTo>
                <a:lnTo>
                  <a:pt x="414" y="34"/>
                </a:lnTo>
                <a:lnTo>
                  <a:pt x="414" y="38"/>
                </a:lnTo>
                <a:lnTo>
                  <a:pt x="414" y="41"/>
                </a:lnTo>
                <a:lnTo>
                  <a:pt x="414" y="44"/>
                </a:lnTo>
                <a:lnTo>
                  <a:pt x="414" y="48"/>
                </a:lnTo>
                <a:lnTo>
                  <a:pt x="414" y="51"/>
                </a:lnTo>
                <a:lnTo>
                  <a:pt x="417" y="51"/>
                </a:lnTo>
                <a:lnTo>
                  <a:pt x="417" y="48"/>
                </a:lnTo>
                <a:lnTo>
                  <a:pt x="417" y="44"/>
                </a:lnTo>
                <a:lnTo>
                  <a:pt x="417" y="41"/>
                </a:lnTo>
                <a:lnTo>
                  <a:pt x="417" y="38"/>
                </a:lnTo>
                <a:lnTo>
                  <a:pt x="417" y="34"/>
                </a:lnTo>
                <a:lnTo>
                  <a:pt x="419" y="31"/>
                </a:lnTo>
                <a:lnTo>
                  <a:pt x="419" y="28"/>
                </a:lnTo>
                <a:lnTo>
                  <a:pt x="419"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4"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4" y="0"/>
                </a:lnTo>
                <a:lnTo>
                  <a:pt x="1"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26" name="Freeform 1731">
            <a:extLst>
              <a:ext uri="{FF2B5EF4-FFF2-40B4-BE49-F238E27FC236}">
                <a16:creationId xmlns:a16="http://schemas.microsoft.com/office/drawing/2014/main" id="{67A52718-0A75-88B1-6FA3-D8595D4C8123}"/>
              </a:ext>
            </a:extLst>
          </p:cNvPr>
          <p:cNvSpPr>
            <a:spLocks noEditPoints="1"/>
          </p:cNvSpPr>
          <p:nvPr/>
        </p:nvSpPr>
        <p:spPr bwMode="auto">
          <a:xfrm>
            <a:off x="2228850" y="2719388"/>
            <a:ext cx="660400" cy="80963"/>
          </a:xfrm>
          <a:custGeom>
            <a:avLst/>
            <a:gdLst>
              <a:gd name="T0" fmla="*/ 416 w 416"/>
              <a:gd name="T1" fmla="*/ 21 h 51"/>
              <a:gd name="T2" fmla="*/ 414 w 416"/>
              <a:gd name="T3" fmla="*/ 14 h 51"/>
              <a:gd name="T4" fmla="*/ 414 w 416"/>
              <a:gd name="T5" fmla="*/ 8 h 51"/>
              <a:gd name="T6" fmla="*/ 414 w 416"/>
              <a:gd name="T7" fmla="*/ 3 h 51"/>
              <a:gd name="T8" fmla="*/ 411 w 416"/>
              <a:gd name="T9" fmla="*/ 0 h 51"/>
              <a:gd name="T10" fmla="*/ 411 w 416"/>
              <a:gd name="T11" fmla="*/ 6 h 51"/>
              <a:gd name="T12" fmla="*/ 411 w 416"/>
              <a:gd name="T13" fmla="*/ 11 h 51"/>
              <a:gd name="T14" fmla="*/ 413 w 416"/>
              <a:gd name="T15" fmla="*/ 18 h 51"/>
              <a:gd name="T16" fmla="*/ 413 w 416"/>
              <a:gd name="T17" fmla="*/ 24 h 51"/>
              <a:gd name="T18" fmla="*/ 413 w 416"/>
              <a:gd name="T19" fmla="*/ 31 h 51"/>
              <a:gd name="T20" fmla="*/ 411 w 416"/>
              <a:gd name="T21" fmla="*/ 38 h 51"/>
              <a:gd name="T22" fmla="*/ 411 w 416"/>
              <a:gd name="T23" fmla="*/ 44 h 51"/>
              <a:gd name="T24" fmla="*/ 411 w 416"/>
              <a:gd name="T25" fmla="*/ 51 h 51"/>
              <a:gd name="T26" fmla="*/ 414 w 416"/>
              <a:gd name="T27" fmla="*/ 48 h 51"/>
              <a:gd name="T28" fmla="*/ 414 w 416"/>
              <a:gd name="T29" fmla="*/ 41 h 51"/>
              <a:gd name="T30" fmla="*/ 414 w 416"/>
              <a:gd name="T31" fmla="*/ 34 h 51"/>
              <a:gd name="T32" fmla="*/ 416 w 416"/>
              <a:gd name="T33" fmla="*/ 28 h 51"/>
              <a:gd name="T34" fmla="*/ 2 w 416"/>
              <a:gd name="T35" fmla="*/ 0 h 51"/>
              <a:gd name="T36" fmla="*/ 0 w 416"/>
              <a:gd name="T37" fmla="*/ 6 h 51"/>
              <a:gd name="T38" fmla="*/ 0 w 416"/>
              <a:gd name="T39" fmla="*/ 11 h 51"/>
              <a:gd name="T40" fmla="*/ 0 w 416"/>
              <a:gd name="T41" fmla="*/ 18 h 51"/>
              <a:gd name="T42" fmla="*/ 0 w 416"/>
              <a:gd name="T43" fmla="*/ 24 h 51"/>
              <a:gd name="T44" fmla="*/ 0 w 416"/>
              <a:gd name="T45" fmla="*/ 31 h 51"/>
              <a:gd name="T46" fmla="*/ 0 w 416"/>
              <a:gd name="T47" fmla="*/ 38 h 51"/>
              <a:gd name="T48" fmla="*/ 0 w 416"/>
              <a:gd name="T49" fmla="*/ 44 h 51"/>
              <a:gd name="T50" fmla="*/ 2 w 416"/>
              <a:gd name="T51" fmla="*/ 51 h 51"/>
              <a:gd name="T52" fmla="*/ 3 w 416"/>
              <a:gd name="T53" fmla="*/ 48 h 51"/>
              <a:gd name="T54" fmla="*/ 3 w 416"/>
              <a:gd name="T55" fmla="*/ 41 h 51"/>
              <a:gd name="T56" fmla="*/ 3 w 416"/>
              <a:gd name="T57" fmla="*/ 34 h 51"/>
              <a:gd name="T58" fmla="*/ 3 w 416"/>
              <a:gd name="T59" fmla="*/ 28 h 51"/>
              <a:gd name="T60" fmla="*/ 3 w 416"/>
              <a:gd name="T61" fmla="*/ 21 h 51"/>
              <a:gd name="T62" fmla="*/ 3 w 416"/>
              <a:gd name="T63" fmla="*/ 14 h 51"/>
              <a:gd name="T64" fmla="*/ 3 w 416"/>
              <a:gd name="T65" fmla="*/ 8 h 51"/>
              <a:gd name="T66" fmla="*/ 3 w 416"/>
              <a:gd name="T67" fmla="*/ 3 h 51"/>
              <a:gd name="T68" fmla="*/ 2 w 41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6" h="51">
                <a:moveTo>
                  <a:pt x="416" y="24"/>
                </a:moveTo>
                <a:lnTo>
                  <a:pt x="416" y="21"/>
                </a:lnTo>
                <a:lnTo>
                  <a:pt x="416" y="18"/>
                </a:lnTo>
                <a:lnTo>
                  <a:pt x="414" y="14"/>
                </a:lnTo>
                <a:lnTo>
                  <a:pt x="414" y="11"/>
                </a:lnTo>
                <a:lnTo>
                  <a:pt x="414" y="8"/>
                </a:lnTo>
                <a:lnTo>
                  <a:pt x="414" y="6"/>
                </a:lnTo>
                <a:lnTo>
                  <a:pt x="414" y="3"/>
                </a:lnTo>
                <a:lnTo>
                  <a:pt x="414" y="0"/>
                </a:lnTo>
                <a:lnTo>
                  <a:pt x="411" y="0"/>
                </a:lnTo>
                <a:lnTo>
                  <a:pt x="411" y="3"/>
                </a:lnTo>
                <a:lnTo>
                  <a:pt x="411" y="6"/>
                </a:lnTo>
                <a:lnTo>
                  <a:pt x="411" y="8"/>
                </a:lnTo>
                <a:lnTo>
                  <a:pt x="411" y="11"/>
                </a:lnTo>
                <a:lnTo>
                  <a:pt x="411" y="14"/>
                </a:lnTo>
                <a:lnTo>
                  <a:pt x="413" y="18"/>
                </a:lnTo>
                <a:lnTo>
                  <a:pt x="413" y="21"/>
                </a:lnTo>
                <a:lnTo>
                  <a:pt x="413" y="24"/>
                </a:lnTo>
                <a:lnTo>
                  <a:pt x="413" y="28"/>
                </a:lnTo>
                <a:lnTo>
                  <a:pt x="413" y="31"/>
                </a:lnTo>
                <a:lnTo>
                  <a:pt x="411" y="34"/>
                </a:lnTo>
                <a:lnTo>
                  <a:pt x="411" y="38"/>
                </a:lnTo>
                <a:lnTo>
                  <a:pt x="411" y="41"/>
                </a:lnTo>
                <a:lnTo>
                  <a:pt x="411" y="44"/>
                </a:lnTo>
                <a:lnTo>
                  <a:pt x="411" y="48"/>
                </a:lnTo>
                <a:lnTo>
                  <a:pt x="411" y="51"/>
                </a:lnTo>
                <a:lnTo>
                  <a:pt x="414" y="51"/>
                </a:lnTo>
                <a:lnTo>
                  <a:pt x="414" y="48"/>
                </a:lnTo>
                <a:lnTo>
                  <a:pt x="414" y="44"/>
                </a:lnTo>
                <a:lnTo>
                  <a:pt x="414" y="41"/>
                </a:lnTo>
                <a:lnTo>
                  <a:pt x="414" y="38"/>
                </a:lnTo>
                <a:lnTo>
                  <a:pt x="414" y="34"/>
                </a:lnTo>
                <a:lnTo>
                  <a:pt x="416" y="31"/>
                </a:lnTo>
                <a:lnTo>
                  <a:pt x="416" y="28"/>
                </a:lnTo>
                <a:lnTo>
                  <a:pt x="41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27" name="Freeform 1732">
            <a:extLst>
              <a:ext uri="{FF2B5EF4-FFF2-40B4-BE49-F238E27FC236}">
                <a16:creationId xmlns:a16="http://schemas.microsoft.com/office/drawing/2014/main" id="{E49288FA-285B-59A3-07AA-C356858EA558}"/>
              </a:ext>
            </a:extLst>
          </p:cNvPr>
          <p:cNvSpPr>
            <a:spLocks noEditPoints="1"/>
          </p:cNvSpPr>
          <p:nvPr/>
        </p:nvSpPr>
        <p:spPr bwMode="auto">
          <a:xfrm>
            <a:off x="2232025" y="2719388"/>
            <a:ext cx="654050" cy="80963"/>
          </a:xfrm>
          <a:custGeom>
            <a:avLst/>
            <a:gdLst>
              <a:gd name="T0" fmla="*/ 412 w 412"/>
              <a:gd name="T1" fmla="*/ 21 h 51"/>
              <a:gd name="T2" fmla="*/ 411 w 412"/>
              <a:gd name="T3" fmla="*/ 14 h 51"/>
              <a:gd name="T4" fmla="*/ 411 w 412"/>
              <a:gd name="T5" fmla="*/ 8 h 51"/>
              <a:gd name="T6" fmla="*/ 411 w 412"/>
              <a:gd name="T7" fmla="*/ 3 h 51"/>
              <a:gd name="T8" fmla="*/ 407 w 412"/>
              <a:gd name="T9" fmla="*/ 0 h 51"/>
              <a:gd name="T10" fmla="*/ 407 w 412"/>
              <a:gd name="T11" fmla="*/ 6 h 51"/>
              <a:gd name="T12" fmla="*/ 407 w 412"/>
              <a:gd name="T13" fmla="*/ 11 h 51"/>
              <a:gd name="T14" fmla="*/ 409 w 412"/>
              <a:gd name="T15" fmla="*/ 18 h 51"/>
              <a:gd name="T16" fmla="*/ 409 w 412"/>
              <a:gd name="T17" fmla="*/ 24 h 51"/>
              <a:gd name="T18" fmla="*/ 409 w 412"/>
              <a:gd name="T19" fmla="*/ 31 h 51"/>
              <a:gd name="T20" fmla="*/ 407 w 412"/>
              <a:gd name="T21" fmla="*/ 38 h 51"/>
              <a:gd name="T22" fmla="*/ 407 w 412"/>
              <a:gd name="T23" fmla="*/ 44 h 51"/>
              <a:gd name="T24" fmla="*/ 407 w 412"/>
              <a:gd name="T25" fmla="*/ 51 h 51"/>
              <a:gd name="T26" fmla="*/ 411 w 412"/>
              <a:gd name="T27" fmla="*/ 48 h 51"/>
              <a:gd name="T28" fmla="*/ 411 w 412"/>
              <a:gd name="T29" fmla="*/ 41 h 51"/>
              <a:gd name="T30" fmla="*/ 411 w 412"/>
              <a:gd name="T31" fmla="*/ 34 h 51"/>
              <a:gd name="T32" fmla="*/ 412 w 412"/>
              <a:gd name="T33" fmla="*/ 28 h 51"/>
              <a:gd name="T34" fmla="*/ 1 w 412"/>
              <a:gd name="T35" fmla="*/ 0 h 51"/>
              <a:gd name="T36" fmla="*/ 0 w 412"/>
              <a:gd name="T37" fmla="*/ 6 h 51"/>
              <a:gd name="T38" fmla="*/ 0 w 412"/>
              <a:gd name="T39" fmla="*/ 11 h 51"/>
              <a:gd name="T40" fmla="*/ 0 w 412"/>
              <a:gd name="T41" fmla="*/ 18 h 51"/>
              <a:gd name="T42" fmla="*/ 0 w 412"/>
              <a:gd name="T43" fmla="*/ 24 h 51"/>
              <a:gd name="T44" fmla="*/ 0 w 412"/>
              <a:gd name="T45" fmla="*/ 31 h 51"/>
              <a:gd name="T46" fmla="*/ 0 w 412"/>
              <a:gd name="T47" fmla="*/ 38 h 51"/>
              <a:gd name="T48" fmla="*/ 0 w 412"/>
              <a:gd name="T49" fmla="*/ 44 h 51"/>
              <a:gd name="T50" fmla="*/ 1 w 412"/>
              <a:gd name="T51" fmla="*/ 51 h 51"/>
              <a:gd name="T52" fmla="*/ 3 w 412"/>
              <a:gd name="T53" fmla="*/ 48 h 51"/>
              <a:gd name="T54" fmla="*/ 3 w 412"/>
              <a:gd name="T55" fmla="*/ 41 h 51"/>
              <a:gd name="T56" fmla="*/ 3 w 412"/>
              <a:gd name="T57" fmla="*/ 34 h 51"/>
              <a:gd name="T58" fmla="*/ 3 w 412"/>
              <a:gd name="T59" fmla="*/ 28 h 51"/>
              <a:gd name="T60" fmla="*/ 3 w 412"/>
              <a:gd name="T61" fmla="*/ 21 h 51"/>
              <a:gd name="T62" fmla="*/ 3 w 412"/>
              <a:gd name="T63" fmla="*/ 14 h 51"/>
              <a:gd name="T64" fmla="*/ 3 w 412"/>
              <a:gd name="T65" fmla="*/ 8 h 51"/>
              <a:gd name="T66" fmla="*/ 3 w 412"/>
              <a:gd name="T67" fmla="*/ 3 h 51"/>
              <a:gd name="T68" fmla="*/ 1 w 41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2" h="51">
                <a:moveTo>
                  <a:pt x="412" y="24"/>
                </a:moveTo>
                <a:lnTo>
                  <a:pt x="412" y="21"/>
                </a:lnTo>
                <a:lnTo>
                  <a:pt x="412" y="18"/>
                </a:lnTo>
                <a:lnTo>
                  <a:pt x="411" y="14"/>
                </a:lnTo>
                <a:lnTo>
                  <a:pt x="411" y="11"/>
                </a:lnTo>
                <a:lnTo>
                  <a:pt x="411" y="8"/>
                </a:lnTo>
                <a:lnTo>
                  <a:pt x="411" y="6"/>
                </a:lnTo>
                <a:lnTo>
                  <a:pt x="411" y="3"/>
                </a:lnTo>
                <a:lnTo>
                  <a:pt x="411" y="0"/>
                </a:lnTo>
                <a:lnTo>
                  <a:pt x="407" y="0"/>
                </a:lnTo>
                <a:lnTo>
                  <a:pt x="407" y="3"/>
                </a:lnTo>
                <a:lnTo>
                  <a:pt x="407" y="6"/>
                </a:lnTo>
                <a:lnTo>
                  <a:pt x="407" y="8"/>
                </a:lnTo>
                <a:lnTo>
                  <a:pt x="407" y="11"/>
                </a:lnTo>
                <a:lnTo>
                  <a:pt x="407" y="14"/>
                </a:lnTo>
                <a:lnTo>
                  <a:pt x="409" y="18"/>
                </a:lnTo>
                <a:lnTo>
                  <a:pt x="409" y="21"/>
                </a:lnTo>
                <a:lnTo>
                  <a:pt x="409" y="24"/>
                </a:lnTo>
                <a:lnTo>
                  <a:pt x="409" y="28"/>
                </a:lnTo>
                <a:lnTo>
                  <a:pt x="409" y="31"/>
                </a:lnTo>
                <a:lnTo>
                  <a:pt x="407" y="34"/>
                </a:lnTo>
                <a:lnTo>
                  <a:pt x="407" y="38"/>
                </a:lnTo>
                <a:lnTo>
                  <a:pt x="407" y="41"/>
                </a:lnTo>
                <a:lnTo>
                  <a:pt x="407" y="44"/>
                </a:lnTo>
                <a:lnTo>
                  <a:pt x="407" y="48"/>
                </a:lnTo>
                <a:lnTo>
                  <a:pt x="407" y="51"/>
                </a:lnTo>
                <a:lnTo>
                  <a:pt x="411" y="51"/>
                </a:lnTo>
                <a:lnTo>
                  <a:pt x="411" y="48"/>
                </a:lnTo>
                <a:lnTo>
                  <a:pt x="411" y="44"/>
                </a:lnTo>
                <a:lnTo>
                  <a:pt x="411" y="41"/>
                </a:lnTo>
                <a:lnTo>
                  <a:pt x="411" y="38"/>
                </a:lnTo>
                <a:lnTo>
                  <a:pt x="411" y="34"/>
                </a:lnTo>
                <a:lnTo>
                  <a:pt x="412" y="31"/>
                </a:lnTo>
                <a:lnTo>
                  <a:pt x="412" y="28"/>
                </a:lnTo>
                <a:lnTo>
                  <a:pt x="41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28" name="Freeform 1733">
            <a:extLst>
              <a:ext uri="{FF2B5EF4-FFF2-40B4-BE49-F238E27FC236}">
                <a16:creationId xmlns:a16="http://schemas.microsoft.com/office/drawing/2014/main" id="{DDB46B39-F77C-7F4B-1ECF-7EA7455B8975}"/>
              </a:ext>
            </a:extLst>
          </p:cNvPr>
          <p:cNvSpPr>
            <a:spLocks noEditPoints="1"/>
          </p:cNvSpPr>
          <p:nvPr/>
        </p:nvSpPr>
        <p:spPr bwMode="auto">
          <a:xfrm>
            <a:off x="2233613" y="2719388"/>
            <a:ext cx="650875" cy="80963"/>
          </a:xfrm>
          <a:custGeom>
            <a:avLst/>
            <a:gdLst>
              <a:gd name="T0" fmla="*/ 410 w 410"/>
              <a:gd name="T1" fmla="*/ 21 h 51"/>
              <a:gd name="T2" fmla="*/ 408 w 410"/>
              <a:gd name="T3" fmla="*/ 14 h 51"/>
              <a:gd name="T4" fmla="*/ 408 w 410"/>
              <a:gd name="T5" fmla="*/ 8 h 51"/>
              <a:gd name="T6" fmla="*/ 408 w 410"/>
              <a:gd name="T7" fmla="*/ 3 h 51"/>
              <a:gd name="T8" fmla="*/ 405 w 410"/>
              <a:gd name="T9" fmla="*/ 0 h 51"/>
              <a:gd name="T10" fmla="*/ 405 w 410"/>
              <a:gd name="T11" fmla="*/ 6 h 51"/>
              <a:gd name="T12" fmla="*/ 405 w 410"/>
              <a:gd name="T13" fmla="*/ 11 h 51"/>
              <a:gd name="T14" fmla="*/ 406 w 410"/>
              <a:gd name="T15" fmla="*/ 18 h 51"/>
              <a:gd name="T16" fmla="*/ 406 w 410"/>
              <a:gd name="T17" fmla="*/ 24 h 51"/>
              <a:gd name="T18" fmla="*/ 406 w 410"/>
              <a:gd name="T19" fmla="*/ 31 h 51"/>
              <a:gd name="T20" fmla="*/ 405 w 410"/>
              <a:gd name="T21" fmla="*/ 38 h 51"/>
              <a:gd name="T22" fmla="*/ 405 w 410"/>
              <a:gd name="T23" fmla="*/ 44 h 51"/>
              <a:gd name="T24" fmla="*/ 405 w 410"/>
              <a:gd name="T25" fmla="*/ 51 h 51"/>
              <a:gd name="T26" fmla="*/ 408 w 410"/>
              <a:gd name="T27" fmla="*/ 48 h 51"/>
              <a:gd name="T28" fmla="*/ 408 w 410"/>
              <a:gd name="T29" fmla="*/ 41 h 51"/>
              <a:gd name="T30" fmla="*/ 408 w 410"/>
              <a:gd name="T31" fmla="*/ 34 h 51"/>
              <a:gd name="T32" fmla="*/ 410 w 410"/>
              <a:gd name="T33" fmla="*/ 28 h 51"/>
              <a:gd name="T34" fmla="*/ 2 w 410"/>
              <a:gd name="T35" fmla="*/ 0 h 51"/>
              <a:gd name="T36" fmla="*/ 0 w 410"/>
              <a:gd name="T37" fmla="*/ 6 h 51"/>
              <a:gd name="T38" fmla="*/ 0 w 410"/>
              <a:gd name="T39" fmla="*/ 11 h 51"/>
              <a:gd name="T40" fmla="*/ 0 w 410"/>
              <a:gd name="T41" fmla="*/ 18 h 51"/>
              <a:gd name="T42" fmla="*/ 0 w 410"/>
              <a:gd name="T43" fmla="*/ 24 h 51"/>
              <a:gd name="T44" fmla="*/ 0 w 410"/>
              <a:gd name="T45" fmla="*/ 31 h 51"/>
              <a:gd name="T46" fmla="*/ 0 w 410"/>
              <a:gd name="T47" fmla="*/ 38 h 51"/>
              <a:gd name="T48" fmla="*/ 0 w 410"/>
              <a:gd name="T49" fmla="*/ 44 h 51"/>
              <a:gd name="T50" fmla="*/ 2 w 410"/>
              <a:gd name="T51" fmla="*/ 51 h 51"/>
              <a:gd name="T52" fmla="*/ 4 w 410"/>
              <a:gd name="T53" fmla="*/ 48 h 51"/>
              <a:gd name="T54" fmla="*/ 4 w 410"/>
              <a:gd name="T55" fmla="*/ 41 h 51"/>
              <a:gd name="T56" fmla="*/ 4 w 410"/>
              <a:gd name="T57" fmla="*/ 34 h 51"/>
              <a:gd name="T58" fmla="*/ 4 w 410"/>
              <a:gd name="T59" fmla="*/ 28 h 51"/>
              <a:gd name="T60" fmla="*/ 4 w 410"/>
              <a:gd name="T61" fmla="*/ 21 h 51"/>
              <a:gd name="T62" fmla="*/ 4 w 410"/>
              <a:gd name="T63" fmla="*/ 14 h 51"/>
              <a:gd name="T64" fmla="*/ 4 w 410"/>
              <a:gd name="T65" fmla="*/ 8 h 51"/>
              <a:gd name="T66" fmla="*/ 4 w 410"/>
              <a:gd name="T67" fmla="*/ 3 h 51"/>
              <a:gd name="T68" fmla="*/ 2 w 41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10" h="51">
                <a:moveTo>
                  <a:pt x="410" y="24"/>
                </a:moveTo>
                <a:lnTo>
                  <a:pt x="410" y="21"/>
                </a:lnTo>
                <a:lnTo>
                  <a:pt x="410" y="18"/>
                </a:lnTo>
                <a:lnTo>
                  <a:pt x="408" y="14"/>
                </a:lnTo>
                <a:lnTo>
                  <a:pt x="408" y="11"/>
                </a:lnTo>
                <a:lnTo>
                  <a:pt x="408" y="8"/>
                </a:lnTo>
                <a:lnTo>
                  <a:pt x="408" y="6"/>
                </a:lnTo>
                <a:lnTo>
                  <a:pt x="408" y="3"/>
                </a:lnTo>
                <a:lnTo>
                  <a:pt x="408" y="0"/>
                </a:lnTo>
                <a:lnTo>
                  <a:pt x="405" y="0"/>
                </a:lnTo>
                <a:lnTo>
                  <a:pt x="405" y="3"/>
                </a:lnTo>
                <a:lnTo>
                  <a:pt x="405" y="6"/>
                </a:lnTo>
                <a:lnTo>
                  <a:pt x="405" y="8"/>
                </a:lnTo>
                <a:lnTo>
                  <a:pt x="405" y="11"/>
                </a:lnTo>
                <a:lnTo>
                  <a:pt x="405" y="14"/>
                </a:lnTo>
                <a:lnTo>
                  <a:pt x="406" y="18"/>
                </a:lnTo>
                <a:lnTo>
                  <a:pt x="406" y="21"/>
                </a:lnTo>
                <a:lnTo>
                  <a:pt x="406" y="24"/>
                </a:lnTo>
                <a:lnTo>
                  <a:pt x="406" y="28"/>
                </a:lnTo>
                <a:lnTo>
                  <a:pt x="406" y="31"/>
                </a:lnTo>
                <a:lnTo>
                  <a:pt x="405" y="34"/>
                </a:lnTo>
                <a:lnTo>
                  <a:pt x="405" y="38"/>
                </a:lnTo>
                <a:lnTo>
                  <a:pt x="405" y="41"/>
                </a:lnTo>
                <a:lnTo>
                  <a:pt x="405" y="44"/>
                </a:lnTo>
                <a:lnTo>
                  <a:pt x="405" y="48"/>
                </a:lnTo>
                <a:lnTo>
                  <a:pt x="405" y="51"/>
                </a:lnTo>
                <a:lnTo>
                  <a:pt x="408" y="51"/>
                </a:lnTo>
                <a:lnTo>
                  <a:pt x="408" y="48"/>
                </a:lnTo>
                <a:lnTo>
                  <a:pt x="408" y="44"/>
                </a:lnTo>
                <a:lnTo>
                  <a:pt x="408" y="41"/>
                </a:lnTo>
                <a:lnTo>
                  <a:pt x="408" y="38"/>
                </a:lnTo>
                <a:lnTo>
                  <a:pt x="408" y="34"/>
                </a:lnTo>
                <a:lnTo>
                  <a:pt x="410" y="31"/>
                </a:lnTo>
                <a:lnTo>
                  <a:pt x="410" y="28"/>
                </a:lnTo>
                <a:lnTo>
                  <a:pt x="41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29" name="Freeform 1734">
            <a:extLst>
              <a:ext uri="{FF2B5EF4-FFF2-40B4-BE49-F238E27FC236}">
                <a16:creationId xmlns:a16="http://schemas.microsoft.com/office/drawing/2014/main" id="{7FEA4C63-5C67-FF3F-A1E9-626AE4E1E04B}"/>
              </a:ext>
            </a:extLst>
          </p:cNvPr>
          <p:cNvSpPr>
            <a:spLocks noEditPoints="1"/>
          </p:cNvSpPr>
          <p:nvPr/>
        </p:nvSpPr>
        <p:spPr bwMode="auto">
          <a:xfrm>
            <a:off x="2236788" y="2719388"/>
            <a:ext cx="644525" cy="80963"/>
          </a:xfrm>
          <a:custGeom>
            <a:avLst/>
            <a:gdLst>
              <a:gd name="T0" fmla="*/ 406 w 406"/>
              <a:gd name="T1" fmla="*/ 21 h 51"/>
              <a:gd name="T2" fmla="*/ 404 w 406"/>
              <a:gd name="T3" fmla="*/ 14 h 51"/>
              <a:gd name="T4" fmla="*/ 404 w 406"/>
              <a:gd name="T5" fmla="*/ 8 h 51"/>
              <a:gd name="T6" fmla="*/ 404 w 406"/>
              <a:gd name="T7" fmla="*/ 3 h 51"/>
              <a:gd name="T8" fmla="*/ 401 w 406"/>
              <a:gd name="T9" fmla="*/ 0 h 51"/>
              <a:gd name="T10" fmla="*/ 401 w 406"/>
              <a:gd name="T11" fmla="*/ 6 h 51"/>
              <a:gd name="T12" fmla="*/ 401 w 406"/>
              <a:gd name="T13" fmla="*/ 11 h 51"/>
              <a:gd name="T14" fmla="*/ 403 w 406"/>
              <a:gd name="T15" fmla="*/ 18 h 51"/>
              <a:gd name="T16" fmla="*/ 403 w 406"/>
              <a:gd name="T17" fmla="*/ 24 h 51"/>
              <a:gd name="T18" fmla="*/ 403 w 406"/>
              <a:gd name="T19" fmla="*/ 31 h 51"/>
              <a:gd name="T20" fmla="*/ 401 w 406"/>
              <a:gd name="T21" fmla="*/ 38 h 51"/>
              <a:gd name="T22" fmla="*/ 401 w 406"/>
              <a:gd name="T23" fmla="*/ 44 h 51"/>
              <a:gd name="T24" fmla="*/ 401 w 406"/>
              <a:gd name="T25" fmla="*/ 51 h 51"/>
              <a:gd name="T26" fmla="*/ 404 w 406"/>
              <a:gd name="T27" fmla="*/ 48 h 51"/>
              <a:gd name="T28" fmla="*/ 404 w 406"/>
              <a:gd name="T29" fmla="*/ 41 h 51"/>
              <a:gd name="T30" fmla="*/ 404 w 406"/>
              <a:gd name="T31" fmla="*/ 34 h 51"/>
              <a:gd name="T32" fmla="*/ 406 w 406"/>
              <a:gd name="T33" fmla="*/ 28 h 51"/>
              <a:gd name="T34" fmla="*/ 2 w 406"/>
              <a:gd name="T35" fmla="*/ 0 h 51"/>
              <a:gd name="T36" fmla="*/ 0 w 406"/>
              <a:gd name="T37" fmla="*/ 6 h 51"/>
              <a:gd name="T38" fmla="*/ 0 w 406"/>
              <a:gd name="T39" fmla="*/ 11 h 51"/>
              <a:gd name="T40" fmla="*/ 0 w 406"/>
              <a:gd name="T41" fmla="*/ 18 h 51"/>
              <a:gd name="T42" fmla="*/ 0 w 406"/>
              <a:gd name="T43" fmla="*/ 24 h 51"/>
              <a:gd name="T44" fmla="*/ 0 w 406"/>
              <a:gd name="T45" fmla="*/ 31 h 51"/>
              <a:gd name="T46" fmla="*/ 0 w 406"/>
              <a:gd name="T47" fmla="*/ 38 h 51"/>
              <a:gd name="T48" fmla="*/ 0 w 406"/>
              <a:gd name="T49" fmla="*/ 44 h 51"/>
              <a:gd name="T50" fmla="*/ 2 w 406"/>
              <a:gd name="T51" fmla="*/ 51 h 51"/>
              <a:gd name="T52" fmla="*/ 3 w 406"/>
              <a:gd name="T53" fmla="*/ 48 h 51"/>
              <a:gd name="T54" fmla="*/ 3 w 406"/>
              <a:gd name="T55" fmla="*/ 41 h 51"/>
              <a:gd name="T56" fmla="*/ 3 w 406"/>
              <a:gd name="T57" fmla="*/ 34 h 51"/>
              <a:gd name="T58" fmla="*/ 3 w 406"/>
              <a:gd name="T59" fmla="*/ 28 h 51"/>
              <a:gd name="T60" fmla="*/ 3 w 406"/>
              <a:gd name="T61" fmla="*/ 21 h 51"/>
              <a:gd name="T62" fmla="*/ 3 w 406"/>
              <a:gd name="T63" fmla="*/ 14 h 51"/>
              <a:gd name="T64" fmla="*/ 3 w 406"/>
              <a:gd name="T65" fmla="*/ 8 h 51"/>
              <a:gd name="T66" fmla="*/ 3 w 406"/>
              <a:gd name="T67" fmla="*/ 3 h 51"/>
              <a:gd name="T68" fmla="*/ 2 w 40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6" h="51">
                <a:moveTo>
                  <a:pt x="406" y="24"/>
                </a:moveTo>
                <a:lnTo>
                  <a:pt x="406" y="21"/>
                </a:lnTo>
                <a:lnTo>
                  <a:pt x="406" y="18"/>
                </a:lnTo>
                <a:lnTo>
                  <a:pt x="404" y="14"/>
                </a:lnTo>
                <a:lnTo>
                  <a:pt x="404" y="11"/>
                </a:lnTo>
                <a:lnTo>
                  <a:pt x="404" y="8"/>
                </a:lnTo>
                <a:lnTo>
                  <a:pt x="404" y="6"/>
                </a:lnTo>
                <a:lnTo>
                  <a:pt x="404" y="3"/>
                </a:lnTo>
                <a:lnTo>
                  <a:pt x="404" y="0"/>
                </a:lnTo>
                <a:lnTo>
                  <a:pt x="401" y="0"/>
                </a:lnTo>
                <a:lnTo>
                  <a:pt x="401" y="3"/>
                </a:lnTo>
                <a:lnTo>
                  <a:pt x="401" y="6"/>
                </a:lnTo>
                <a:lnTo>
                  <a:pt x="401" y="8"/>
                </a:lnTo>
                <a:lnTo>
                  <a:pt x="401" y="11"/>
                </a:lnTo>
                <a:lnTo>
                  <a:pt x="401" y="14"/>
                </a:lnTo>
                <a:lnTo>
                  <a:pt x="403" y="18"/>
                </a:lnTo>
                <a:lnTo>
                  <a:pt x="403" y="21"/>
                </a:lnTo>
                <a:lnTo>
                  <a:pt x="403" y="24"/>
                </a:lnTo>
                <a:lnTo>
                  <a:pt x="403" y="28"/>
                </a:lnTo>
                <a:lnTo>
                  <a:pt x="403" y="31"/>
                </a:lnTo>
                <a:lnTo>
                  <a:pt x="401" y="34"/>
                </a:lnTo>
                <a:lnTo>
                  <a:pt x="401" y="38"/>
                </a:lnTo>
                <a:lnTo>
                  <a:pt x="401" y="41"/>
                </a:lnTo>
                <a:lnTo>
                  <a:pt x="401" y="44"/>
                </a:lnTo>
                <a:lnTo>
                  <a:pt x="401" y="48"/>
                </a:lnTo>
                <a:lnTo>
                  <a:pt x="401" y="51"/>
                </a:lnTo>
                <a:lnTo>
                  <a:pt x="404" y="51"/>
                </a:lnTo>
                <a:lnTo>
                  <a:pt x="404" y="48"/>
                </a:lnTo>
                <a:lnTo>
                  <a:pt x="404" y="44"/>
                </a:lnTo>
                <a:lnTo>
                  <a:pt x="404" y="41"/>
                </a:lnTo>
                <a:lnTo>
                  <a:pt x="404" y="38"/>
                </a:lnTo>
                <a:lnTo>
                  <a:pt x="404" y="34"/>
                </a:lnTo>
                <a:lnTo>
                  <a:pt x="406" y="31"/>
                </a:lnTo>
                <a:lnTo>
                  <a:pt x="406" y="28"/>
                </a:lnTo>
                <a:lnTo>
                  <a:pt x="40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30" name="Freeform 1735">
            <a:extLst>
              <a:ext uri="{FF2B5EF4-FFF2-40B4-BE49-F238E27FC236}">
                <a16:creationId xmlns:a16="http://schemas.microsoft.com/office/drawing/2014/main" id="{FBF32DB4-EA50-694E-0BAC-C1913D09DEE6}"/>
              </a:ext>
            </a:extLst>
          </p:cNvPr>
          <p:cNvSpPr>
            <a:spLocks noEditPoints="1"/>
          </p:cNvSpPr>
          <p:nvPr/>
        </p:nvSpPr>
        <p:spPr bwMode="auto">
          <a:xfrm>
            <a:off x="2239963" y="2719388"/>
            <a:ext cx="638175" cy="80963"/>
          </a:xfrm>
          <a:custGeom>
            <a:avLst/>
            <a:gdLst>
              <a:gd name="T0" fmla="*/ 402 w 402"/>
              <a:gd name="T1" fmla="*/ 21 h 51"/>
              <a:gd name="T2" fmla="*/ 401 w 402"/>
              <a:gd name="T3" fmla="*/ 14 h 51"/>
              <a:gd name="T4" fmla="*/ 401 w 402"/>
              <a:gd name="T5" fmla="*/ 8 h 51"/>
              <a:gd name="T6" fmla="*/ 401 w 402"/>
              <a:gd name="T7" fmla="*/ 3 h 51"/>
              <a:gd name="T8" fmla="*/ 397 w 402"/>
              <a:gd name="T9" fmla="*/ 0 h 51"/>
              <a:gd name="T10" fmla="*/ 397 w 402"/>
              <a:gd name="T11" fmla="*/ 6 h 51"/>
              <a:gd name="T12" fmla="*/ 397 w 402"/>
              <a:gd name="T13" fmla="*/ 11 h 51"/>
              <a:gd name="T14" fmla="*/ 399 w 402"/>
              <a:gd name="T15" fmla="*/ 18 h 51"/>
              <a:gd name="T16" fmla="*/ 399 w 402"/>
              <a:gd name="T17" fmla="*/ 24 h 51"/>
              <a:gd name="T18" fmla="*/ 399 w 402"/>
              <a:gd name="T19" fmla="*/ 31 h 51"/>
              <a:gd name="T20" fmla="*/ 397 w 402"/>
              <a:gd name="T21" fmla="*/ 38 h 51"/>
              <a:gd name="T22" fmla="*/ 397 w 402"/>
              <a:gd name="T23" fmla="*/ 44 h 51"/>
              <a:gd name="T24" fmla="*/ 397 w 402"/>
              <a:gd name="T25" fmla="*/ 51 h 51"/>
              <a:gd name="T26" fmla="*/ 401 w 402"/>
              <a:gd name="T27" fmla="*/ 48 h 51"/>
              <a:gd name="T28" fmla="*/ 401 w 402"/>
              <a:gd name="T29" fmla="*/ 41 h 51"/>
              <a:gd name="T30" fmla="*/ 401 w 402"/>
              <a:gd name="T31" fmla="*/ 34 h 51"/>
              <a:gd name="T32" fmla="*/ 402 w 402"/>
              <a:gd name="T33" fmla="*/ 28 h 51"/>
              <a:gd name="T34" fmla="*/ 1 w 402"/>
              <a:gd name="T35" fmla="*/ 0 h 51"/>
              <a:gd name="T36" fmla="*/ 0 w 402"/>
              <a:gd name="T37" fmla="*/ 6 h 51"/>
              <a:gd name="T38" fmla="*/ 0 w 402"/>
              <a:gd name="T39" fmla="*/ 11 h 51"/>
              <a:gd name="T40" fmla="*/ 0 w 402"/>
              <a:gd name="T41" fmla="*/ 18 h 51"/>
              <a:gd name="T42" fmla="*/ 0 w 402"/>
              <a:gd name="T43" fmla="*/ 24 h 51"/>
              <a:gd name="T44" fmla="*/ 0 w 402"/>
              <a:gd name="T45" fmla="*/ 31 h 51"/>
              <a:gd name="T46" fmla="*/ 0 w 402"/>
              <a:gd name="T47" fmla="*/ 38 h 51"/>
              <a:gd name="T48" fmla="*/ 0 w 402"/>
              <a:gd name="T49" fmla="*/ 44 h 51"/>
              <a:gd name="T50" fmla="*/ 1 w 402"/>
              <a:gd name="T51" fmla="*/ 51 h 51"/>
              <a:gd name="T52" fmla="*/ 3 w 402"/>
              <a:gd name="T53" fmla="*/ 48 h 51"/>
              <a:gd name="T54" fmla="*/ 3 w 402"/>
              <a:gd name="T55" fmla="*/ 41 h 51"/>
              <a:gd name="T56" fmla="*/ 3 w 402"/>
              <a:gd name="T57" fmla="*/ 34 h 51"/>
              <a:gd name="T58" fmla="*/ 3 w 402"/>
              <a:gd name="T59" fmla="*/ 28 h 51"/>
              <a:gd name="T60" fmla="*/ 3 w 402"/>
              <a:gd name="T61" fmla="*/ 21 h 51"/>
              <a:gd name="T62" fmla="*/ 3 w 402"/>
              <a:gd name="T63" fmla="*/ 14 h 51"/>
              <a:gd name="T64" fmla="*/ 3 w 402"/>
              <a:gd name="T65" fmla="*/ 8 h 51"/>
              <a:gd name="T66" fmla="*/ 3 w 402"/>
              <a:gd name="T67" fmla="*/ 3 h 51"/>
              <a:gd name="T68" fmla="*/ 1 w 40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2" h="51">
                <a:moveTo>
                  <a:pt x="402" y="24"/>
                </a:moveTo>
                <a:lnTo>
                  <a:pt x="402" y="21"/>
                </a:lnTo>
                <a:lnTo>
                  <a:pt x="402" y="18"/>
                </a:lnTo>
                <a:lnTo>
                  <a:pt x="401" y="14"/>
                </a:lnTo>
                <a:lnTo>
                  <a:pt x="401" y="11"/>
                </a:lnTo>
                <a:lnTo>
                  <a:pt x="401" y="8"/>
                </a:lnTo>
                <a:lnTo>
                  <a:pt x="401" y="6"/>
                </a:lnTo>
                <a:lnTo>
                  <a:pt x="401" y="3"/>
                </a:lnTo>
                <a:lnTo>
                  <a:pt x="401" y="0"/>
                </a:lnTo>
                <a:lnTo>
                  <a:pt x="397" y="0"/>
                </a:lnTo>
                <a:lnTo>
                  <a:pt x="397" y="3"/>
                </a:lnTo>
                <a:lnTo>
                  <a:pt x="397" y="6"/>
                </a:lnTo>
                <a:lnTo>
                  <a:pt x="397" y="8"/>
                </a:lnTo>
                <a:lnTo>
                  <a:pt x="397" y="11"/>
                </a:lnTo>
                <a:lnTo>
                  <a:pt x="397" y="14"/>
                </a:lnTo>
                <a:lnTo>
                  <a:pt x="399" y="18"/>
                </a:lnTo>
                <a:lnTo>
                  <a:pt x="399" y="21"/>
                </a:lnTo>
                <a:lnTo>
                  <a:pt x="399" y="24"/>
                </a:lnTo>
                <a:lnTo>
                  <a:pt x="399" y="28"/>
                </a:lnTo>
                <a:lnTo>
                  <a:pt x="399" y="31"/>
                </a:lnTo>
                <a:lnTo>
                  <a:pt x="397" y="34"/>
                </a:lnTo>
                <a:lnTo>
                  <a:pt x="397" y="38"/>
                </a:lnTo>
                <a:lnTo>
                  <a:pt x="397" y="41"/>
                </a:lnTo>
                <a:lnTo>
                  <a:pt x="397" y="44"/>
                </a:lnTo>
                <a:lnTo>
                  <a:pt x="397" y="48"/>
                </a:lnTo>
                <a:lnTo>
                  <a:pt x="397" y="51"/>
                </a:lnTo>
                <a:lnTo>
                  <a:pt x="401" y="51"/>
                </a:lnTo>
                <a:lnTo>
                  <a:pt x="401" y="48"/>
                </a:lnTo>
                <a:lnTo>
                  <a:pt x="401" y="44"/>
                </a:lnTo>
                <a:lnTo>
                  <a:pt x="401" y="41"/>
                </a:lnTo>
                <a:lnTo>
                  <a:pt x="401" y="38"/>
                </a:lnTo>
                <a:lnTo>
                  <a:pt x="401" y="34"/>
                </a:lnTo>
                <a:lnTo>
                  <a:pt x="402" y="31"/>
                </a:lnTo>
                <a:lnTo>
                  <a:pt x="402" y="28"/>
                </a:lnTo>
                <a:lnTo>
                  <a:pt x="40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31" name="Freeform 1736">
            <a:extLst>
              <a:ext uri="{FF2B5EF4-FFF2-40B4-BE49-F238E27FC236}">
                <a16:creationId xmlns:a16="http://schemas.microsoft.com/office/drawing/2014/main" id="{CF583ED4-0BB5-7F77-3AC8-C9F923FB8182}"/>
              </a:ext>
            </a:extLst>
          </p:cNvPr>
          <p:cNvSpPr>
            <a:spLocks noEditPoints="1"/>
          </p:cNvSpPr>
          <p:nvPr/>
        </p:nvSpPr>
        <p:spPr bwMode="auto">
          <a:xfrm>
            <a:off x="2241550" y="2719388"/>
            <a:ext cx="635000" cy="80963"/>
          </a:xfrm>
          <a:custGeom>
            <a:avLst/>
            <a:gdLst>
              <a:gd name="T0" fmla="*/ 400 w 400"/>
              <a:gd name="T1" fmla="*/ 21 h 51"/>
              <a:gd name="T2" fmla="*/ 398 w 400"/>
              <a:gd name="T3" fmla="*/ 14 h 51"/>
              <a:gd name="T4" fmla="*/ 398 w 400"/>
              <a:gd name="T5" fmla="*/ 8 h 51"/>
              <a:gd name="T6" fmla="*/ 398 w 400"/>
              <a:gd name="T7" fmla="*/ 3 h 51"/>
              <a:gd name="T8" fmla="*/ 395 w 400"/>
              <a:gd name="T9" fmla="*/ 0 h 51"/>
              <a:gd name="T10" fmla="*/ 395 w 400"/>
              <a:gd name="T11" fmla="*/ 6 h 51"/>
              <a:gd name="T12" fmla="*/ 395 w 400"/>
              <a:gd name="T13" fmla="*/ 11 h 51"/>
              <a:gd name="T14" fmla="*/ 396 w 400"/>
              <a:gd name="T15" fmla="*/ 18 h 51"/>
              <a:gd name="T16" fmla="*/ 396 w 400"/>
              <a:gd name="T17" fmla="*/ 24 h 51"/>
              <a:gd name="T18" fmla="*/ 396 w 400"/>
              <a:gd name="T19" fmla="*/ 31 h 51"/>
              <a:gd name="T20" fmla="*/ 395 w 400"/>
              <a:gd name="T21" fmla="*/ 38 h 51"/>
              <a:gd name="T22" fmla="*/ 395 w 400"/>
              <a:gd name="T23" fmla="*/ 44 h 51"/>
              <a:gd name="T24" fmla="*/ 395 w 400"/>
              <a:gd name="T25" fmla="*/ 51 h 51"/>
              <a:gd name="T26" fmla="*/ 398 w 400"/>
              <a:gd name="T27" fmla="*/ 48 h 51"/>
              <a:gd name="T28" fmla="*/ 398 w 400"/>
              <a:gd name="T29" fmla="*/ 41 h 51"/>
              <a:gd name="T30" fmla="*/ 398 w 400"/>
              <a:gd name="T31" fmla="*/ 34 h 51"/>
              <a:gd name="T32" fmla="*/ 400 w 400"/>
              <a:gd name="T33" fmla="*/ 28 h 51"/>
              <a:gd name="T34" fmla="*/ 2 w 400"/>
              <a:gd name="T35" fmla="*/ 0 h 51"/>
              <a:gd name="T36" fmla="*/ 0 w 400"/>
              <a:gd name="T37" fmla="*/ 6 h 51"/>
              <a:gd name="T38" fmla="*/ 0 w 400"/>
              <a:gd name="T39" fmla="*/ 11 h 51"/>
              <a:gd name="T40" fmla="*/ 0 w 400"/>
              <a:gd name="T41" fmla="*/ 18 h 51"/>
              <a:gd name="T42" fmla="*/ 0 w 400"/>
              <a:gd name="T43" fmla="*/ 24 h 51"/>
              <a:gd name="T44" fmla="*/ 0 w 400"/>
              <a:gd name="T45" fmla="*/ 31 h 51"/>
              <a:gd name="T46" fmla="*/ 0 w 400"/>
              <a:gd name="T47" fmla="*/ 38 h 51"/>
              <a:gd name="T48" fmla="*/ 0 w 400"/>
              <a:gd name="T49" fmla="*/ 44 h 51"/>
              <a:gd name="T50" fmla="*/ 2 w 400"/>
              <a:gd name="T51" fmla="*/ 51 h 51"/>
              <a:gd name="T52" fmla="*/ 4 w 400"/>
              <a:gd name="T53" fmla="*/ 48 h 51"/>
              <a:gd name="T54" fmla="*/ 4 w 400"/>
              <a:gd name="T55" fmla="*/ 41 h 51"/>
              <a:gd name="T56" fmla="*/ 4 w 400"/>
              <a:gd name="T57" fmla="*/ 34 h 51"/>
              <a:gd name="T58" fmla="*/ 4 w 400"/>
              <a:gd name="T59" fmla="*/ 28 h 51"/>
              <a:gd name="T60" fmla="*/ 4 w 400"/>
              <a:gd name="T61" fmla="*/ 21 h 51"/>
              <a:gd name="T62" fmla="*/ 4 w 400"/>
              <a:gd name="T63" fmla="*/ 14 h 51"/>
              <a:gd name="T64" fmla="*/ 4 w 400"/>
              <a:gd name="T65" fmla="*/ 8 h 51"/>
              <a:gd name="T66" fmla="*/ 4 w 400"/>
              <a:gd name="T67" fmla="*/ 3 h 51"/>
              <a:gd name="T68" fmla="*/ 2 w 40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00" h="51">
                <a:moveTo>
                  <a:pt x="400" y="24"/>
                </a:moveTo>
                <a:lnTo>
                  <a:pt x="400" y="21"/>
                </a:lnTo>
                <a:lnTo>
                  <a:pt x="400" y="18"/>
                </a:lnTo>
                <a:lnTo>
                  <a:pt x="398" y="14"/>
                </a:lnTo>
                <a:lnTo>
                  <a:pt x="398" y="11"/>
                </a:lnTo>
                <a:lnTo>
                  <a:pt x="398" y="8"/>
                </a:lnTo>
                <a:lnTo>
                  <a:pt x="398" y="6"/>
                </a:lnTo>
                <a:lnTo>
                  <a:pt x="398" y="3"/>
                </a:lnTo>
                <a:lnTo>
                  <a:pt x="398" y="0"/>
                </a:lnTo>
                <a:lnTo>
                  <a:pt x="395" y="0"/>
                </a:lnTo>
                <a:lnTo>
                  <a:pt x="395" y="3"/>
                </a:lnTo>
                <a:lnTo>
                  <a:pt x="395" y="6"/>
                </a:lnTo>
                <a:lnTo>
                  <a:pt x="395" y="8"/>
                </a:lnTo>
                <a:lnTo>
                  <a:pt x="395" y="11"/>
                </a:lnTo>
                <a:lnTo>
                  <a:pt x="395" y="14"/>
                </a:lnTo>
                <a:lnTo>
                  <a:pt x="396" y="18"/>
                </a:lnTo>
                <a:lnTo>
                  <a:pt x="396" y="21"/>
                </a:lnTo>
                <a:lnTo>
                  <a:pt x="396" y="24"/>
                </a:lnTo>
                <a:lnTo>
                  <a:pt x="396" y="28"/>
                </a:lnTo>
                <a:lnTo>
                  <a:pt x="396" y="31"/>
                </a:lnTo>
                <a:lnTo>
                  <a:pt x="395" y="34"/>
                </a:lnTo>
                <a:lnTo>
                  <a:pt x="395" y="38"/>
                </a:lnTo>
                <a:lnTo>
                  <a:pt x="395" y="41"/>
                </a:lnTo>
                <a:lnTo>
                  <a:pt x="395" y="44"/>
                </a:lnTo>
                <a:lnTo>
                  <a:pt x="395" y="48"/>
                </a:lnTo>
                <a:lnTo>
                  <a:pt x="395" y="51"/>
                </a:lnTo>
                <a:lnTo>
                  <a:pt x="398" y="51"/>
                </a:lnTo>
                <a:lnTo>
                  <a:pt x="398" y="48"/>
                </a:lnTo>
                <a:lnTo>
                  <a:pt x="398" y="44"/>
                </a:lnTo>
                <a:lnTo>
                  <a:pt x="398" y="41"/>
                </a:lnTo>
                <a:lnTo>
                  <a:pt x="398" y="38"/>
                </a:lnTo>
                <a:lnTo>
                  <a:pt x="398" y="34"/>
                </a:lnTo>
                <a:lnTo>
                  <a:pt x="400" y="31"/>
                </a:lnTo>
                <a:lnTo>
                  <a:pt x="400" y="28"/>
                </a:lnTo>
                <a:lnTo>
                  <a:pt x="40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32" name="Freeform 1737">
            <a:extLst>
              <a:ext uri="{FF2B5EF4-FFF2-40B4-BE49-F238E27FC236}">
                <a16:creationId xmlns:a16="http://schemas.microsoft.com/office/drawing/2014/main" id="{5E8FB1B6-4168-949C-232F-67CB7E13F0F4}"/>
              </a:ext>
            </a:extLst>
          </p:cNvPr>
          <p:cNvSpPr>
            <a:spLocks noEditPoints="1"/>
          </p:cNvSpPr>
          <p:nvPr/>
        </p:nvSpPr>
        <p:spPr bwMode="auto">
          <a:xfrm>
            <a:off x="2244725" y="2719388"/>
            <a:ext cx="628650" cy="80963"/>
          </a:xfrm>
          <a:custGeom>
            <a:avLst/>
            <a:gdLst>
              <a:gd name="T0" fmla="*/ 396 w 396"/>
              <a:gd name="T1" fmla="*/ 21 h 51"/>
              <a:gd name="T2" fmla="*/ 394 w 396"/>
              <a:gd name="T3" fmla="*/ 14 h 51"/>
              <a:gd name="T4" fmla="*/ 394 w 396"/>
              <a:gd name="T5" fmla="*/ 8 h 51"/>
              <a:gd name="T6" fmla="*/ 394 w 396"/>
              <a:gd name="T7" fmla="*/ 3 h 51"/>
              <a:gd name="T8" fmla="*/ 391 w 396"/>
              <a:gd name="T9" fmla="*/ 0 h 51"/>
              <a:gd name="T10" fmla="*/ 391 w 396"/>
              <a:gd name="T11" fmla="*/ 6 h 51"/>
              <a:gd name="T12" fmla="*/ 391 w 396"/>
              <a:gd name="T13" fmla="*/ 11 h 51"/>
              <a:gd name="T14" fmla="*/ 393 w 396"/>
              <a:gd name="T15" fmla="*/ 18 h 51"/>
              <a:gd name="T16" fmla="*/ 393 w 396"/>
              <a:gd name="T17" fmla="*/ 24 h 51"/>
              <a:gd name="T18" fmla="*/ 393 w 396"/>
              <a:gd name="T19" fmla="*/ 31 h 51"/>
              <a:gd name="T20" fmla="*/ 391 w 396"/>
              <a:gd name="T21" fmla="*/ 38 h 51"/>
              <a:gd name="T22" fmla="*/ 391 w 396"/>
              <a:gd name="T23" fmla="*/ 44 h 51"/>
              <a:gd name="T24" fmla="*/ 391 w 396"/>
              <a:gd name="T25" fmla="*/ 51 h 51"/>
              <a:gd name="T26" fmla="*/ 394 w 396"/>
              <a:gd name="T27" fmla="*/ 48 h 51"/>
              <a:gd name="T28" fmla="*/ 394 w 396"/>
              <a:gd name="T29" fmla="*/ 41 h 51"/>
              <a:gd name="T30" fmla="*/ 394 w 396"/>
              <a:gd name="T31" fmla="*/ 34 h 51"/>
              <a:gd name="T32" fmla="*/ 396 w 396"/>
              <a:gd name="T33" fmla="*/ 28 h 51"/>
              <a:gd name="T34" fmla="*/ 2 w 396"/>
              <a:gd name="T35" fmla="*/ 0 h 51"/>
              <a:gd name="T36" fmla="*/ 0 w 396"/>
              <a:gd name="T37" fmla="*/ 6 h 51"/>
              <a:gd name="T38" fmla="*/ 0 w 396"/>
              <a:gd name="T39" fmla="*/ 11 h 51"/>
              <a:gd name="T40" fmla="*/ 0 w 396"/>
              <a:gd name="T41" fmla="*/ 18 h 51"/>
              <a:gd name="T42" fmla="*/ 0 w 396"/>
              <a:gd name="T43" fmla="*/ 24 h 51"/>
              <a:gd name="T44" fmla="*/ 0 w 396"/>
              <a:gd name="T45" fmla="*/ 31 h 51"/>
              <a:gd name="T46" fmla="*/ 0 w 396"/>
              <a:gd name="T47" fmla="*/ 38 h 51"/>
              <a:gd name="T48" fmla="*/ 0 w 396"/>
              <a:gd name="T49" fmla="*/ 44 h 51"/>
              <a:gd name="T50" fmla="*/ 2 w 396"/>
              <a:gd name="T51" fmla="*/ 51 h 51"/>
              <a:gd name="T52" fmla="*/ 3 w 396"/>
              <a:gd name="T53" fmla="*/ 48 h 51"/>
              <a:gd name="T54" fmla="*/ 3 w 396"/>
              <a:gd name="T55" fmla="*/ 41 h 51"/>
              <a:gd name="T56" fmla="*/ 3 w 396"/>
              <a:gd name="T57" fmla="*/ 34 h 51"/>
              <a:gd name="T58" fmla="*/ 3 w 396"/>
              <a:gd name="T59" fmla="*/ 28 h 51"/>
              <a:gd name="T60" fmla="*/ 3 w 396"/>
              <a:gd name="T61" fmla="*/ 21 h 51"/>
              <a:gd name="T62" fmla="*/ 3 w 396"/>
              <a:gd name="T63" fmla="*/ 14 h 51"/>
              <a:gd name="T64" fmla="*/ 3 w 396"/>
              <a:gd name="T65" fmla="*/ 8 h 51"/>
              <a:gd name="T66" fmla="*/ 3 w 396"/>
              <a:gd name="T67" fmla="*/ 3 h 51"/>
              <a:gd name="T68" fmla="*/ 2 w 3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6" h="51">
                <a:moveTo>
                  <a:pt x="396" y="24"/>
                </a:moveTo>
                <a:lnTo>
                  <a:pt x="396" y="21"/>
                </a:lnTo>
                <a:lnTo>
                  <a:pt x="396" y="18"/>
                </a:lnTo>
                <a:lnTo>
                  <a:pt x="394" y="14"/>
                </a:lnTo>
                <a:lnTo>
                  <a:pt x="394" y="11"/>
                </a:lnTo>
                <a:lnTo>
                  <a:pt x="394" y="8"/>
                </a:lnTo>
                <a:lnTo>
                  <a:pt x="394" y="6"/>
                </a:lnTo>
                <a:lnTo>
                  <a:pt x="394" y="3"/>
                </a:lnTo>
                <a:lnTo>
                  <a:pt x="394" y="0"/>
                </a:lnTo>
                <a:lnTo>
                  <a:pt x="391" y="0"/>
                </a:lnTo>
                <a:lnTo>
                  <a:pt x="391" y="3"/>
                </a:lnTo>
                <a:lnTo>
                  <a:pt x="391" y="6"/>
                </a:lnTo>
                <a:lnTo>
                  <a:pt x="391" y="8"/>
                </a:lnTo>
                <a:lnTo>
                  <a:pt x="391" y="11"/>
                </a:lnTo>
                <a:lnTo>
                  <a:pt x="391" y="14"/>
                </a:lnTo>
                <a:lnTo>
                  <a:pt x="393" y="18"/>
                </a:lnTo>
                <a:lnTo>
                  <a:pt x="393" y="21"/>
                </a:lnTo>
                <a:lnTo>
                  <a:pt x="393" y="24"/>
                </a:lnTo>
                <a:lnTo>
                  <a:pt x="393" y="28"/>
                </a:lnTo>
                <a:lnTo>
                  <a:pt x="393" y="31"/>
                </a:lnTo>
                <a:lnTo>
                  <a:pt x="391" y="34"/>
                </a:lnTo>
                <a:lnTo>
                  <a:pt x="391" y="38"/>
                </a:lnTo>
                <a:lnTo>
                  <a:pt x="391" y="41"/>
                </a:lnTo>
                <a:lnTo>
                  <a:pt x="391" y="44"/>
                </a:lnTo>
                <a:lnTo>
                  <a:pt x="391" y="48"/>
                </a:lnTo>
                <a:lnTo>
                  <a:pt x="391" y="51"/>
                </a:lnTo>
                <a:lnTo>
                  <a:pt x="394" y="51"/>
                </a:lnTo>
                <a:lnTo>
                  <a:pt x="394" y="48"/>
                </a:lnTo>
                <a:lnTo>
                  <a:pt x="394" y="44"/>
                </a:lnTo>
                <a:lnTo>
                  <a:pt x="394" y="41"/>
                </a:lnTo>
                <a:lnTo>
                  <a:pt x="394" y="38"/>
                </a:lnTo>
                <a:lnTo>
                  <a:pt x="394" y="34"/>
                </a:lnTo>
                <a:lnTo>
                  <a:pt x="396" y="31"/>
                </a:lnTo>
                <a:lnTo>
                  <a:pt x="396" y="28"/>
                </a:lnTo>
                <a:lnTo>
                  <a:pt x="39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33" name="Freeform 1738">
            <a:extLst>
              <a:ext uri="{FF2B5EF4-FFF2-40B4-BE49-F238E27FC236}">
                <a16:creationId xmlns:a16="http://schemas.microsoft.com/office/drawing/2014/main" id="{60DE5308-8D1E-821E-8B45-1DA9CAC56876}"/>
              </a:ext>
            </a:extLst>
          </p:cNvPr>
          <p:cNvSpPr>
            <a:spLocks noEditPoints="1"/>
          </p:cNvSpPr>
          <p:nvPr/>
        </p:nvSpPr>
        <p:spPr bwMode="auto">
          <a:xfrm>
            <a:off x="2247900" y="2719388"/>
            <a:ext cx="622300" cy="80963"/>
          </a:xfrm>
          <a:custGeom>
            <a:avLst/>
            <a:gdLst>
              <a:gd name="T0" fmla="*/ 392 w 392"/>
              <a:gd name="T1" fmla="*/ 21 h 51"/>
              <a:gd name="T2" fmla="*/ 391 w 392"/>
              <a:gd name="T3" fmla="*/ 14 h 51"/>
              <a:gd name="T4" fmla="*/ 391 w 392"/>
              <a:gd name="T5" fmla="*/ 8 h 51"/>
              <a:gd name="T6" fmla="*/ 391 w 392"/>
              <a:gd name="T7" fmla="*/ 3 h 51"/>
              <a:gd name="T8" fmla="*/ 387 w 392"/>
              <a:gd name="T9" fmla="*/ 0 h 51"/>
              <a:gd name="T10" fmla="*/ 387 w 392"/>
              <a:gd name="T11" fmla="*/ 6 h 51"/>
              <a:gd name="T12" fmla="*/ 387 w 392"/>
              <a:gd name="T13" fmla="*/ 11 h 51"/>
              <a:gd name="T14" fmla="*/ 389 w 392"/>
              <a:gd name="T15" fmla="*/ 18 h 51"/>
              <a:gd name="T16" fmla="*/ 389 w 392"/>
              <a:gd name="T17" fmla="*/ 24 h 51"/>
              <a:gd name="T18" fmla="*/ 389 w 392"/>
              <a:gd name="T19" fmla="*/ 31 h 51"/>
              <a:gd name="T20" fmla="*/ 387 w 392"/>
              <a:gd name="T21" fmla="*/ 38 h 51"/>
              <a:gd name="T22" fmla="*/ 387 w 392"/>
              <a:gd name="T23" fmla="*/ 44 h 51"/>
              <a:gd name="T24" fmla="*/ 387 w 392"/>
              <a:gd name="T25" fmla="*/ 51 h 51"/>
              <a:gd name="T26" fmla="*/ 391 w 392"/>
              <a:gd name="T27" fmla="*/ 48 h 51"/>
              <a:gd name="T28" fmla="*/ 391 w 392"/>
              <a:gd name="T29" fmla="*/ 41 h 51"/>
              <a:gd name="T30" fmla="*/ 391 w 392"/>
              <a:gd name="T31" fmla="*/ 34 h 51"/>
              <a:gd name="T32" fmla="*/ 392 w 392"/>
              <a:gd name="T33" fmla="*/ 28 h 51"/>
              <a:gd name="T34" fmla="*/ 1 w 392"/>
              <a:gd name="T35" fmla="*/ 0 h 51"/>
              <a:gd name="T36" fmla="*/ 0 w 392"/>
              <a:gd name="T37" fmla="*/ 6 h 51"/>
              <a:gd name="T38" fmla="*/ 0 w 392"/>
              <a:gd name="T39" fmla="*/ 11 h 51"/>
              <a:gd name="T40" fmla="*/ 0 w 392"/>
              <a:gd name="T41" fmla="*/ 18 h 51"/>
              <a:gd name="T42" fmla="*/ 0 w 392"/>
              <a:gd name="T43" fmla="*/ 24 h 51"/>
              <a:gd name="T44" fmla="*/ 0 w 392"/>
              <a:gd name="T45" fmla="*/ 31 h 51"/>
              <a:gd name="T46" fmla="*/ 0 w 392"/>
              <a:gd name="T47" fmla="*/ 38 h 51"/>
              <a:gd name="T48" fmla="*/ 0 w 392"/>
              <a:gd name="T49" fmla="*/ 44 h 51"/>
              <a:gd name="T50" fmla="*/ 1 w 392"/>
              <a:gd name="T51" fmla="*/ 51 h 51"/>
              <a:gd name="T52" fmla="*/ 3 w 392"/>
              <a:gd name="T53" fmla="*/ 48 h 51"/>
              <a:gd name="T54" fmla="*/ 3 w 392"/>
              <a:gd name="T55" fmla="*/ 41 h 51"/>
              <a:gd name="T56" fmla="*/ 3 w 392"/>
              <a:gd name="T57" fmla="*/ 34 h 51"/>
              <a:gd name="T58" fmla="*/ 3 w 392"/>
              <a:gd name="T59" fmla="*/ 28 h 51"/>
              <a:gd name="T60" fmla="*/ 3 w 392"/>
              <a:gd name="T61" fmla="*/ 21 h 51"/>
              <a:gd name="T62" fmla="*/ 3 w 392"/>
              <a:gd name="T63" fmla="*/ 14 h 51"/>
              <a:gd name="T64" fmla="*/ 3 w 392"/>
              <a:gd name="T65" fmla="*/ 8 h 51"/>
              <a:gd name="T66" fmla="*/ 3 w 392"/>
              <a:gd name="T67" fmla="*/ 3 h 51"/>
              <a:gd name="T68" fmla="*/ 1 w 39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2" h="51">
                <a:moveTo>
                  <a:pt x="392" y="24"/>
                </a:moveTo>
                <a:lnTo>
                  <a:pt x="392" y="21"/>
                </a:lnTo>
                <a:lnTo>
                  <a:pt x="392" y="18"/>
                </a:lnTo>
                <a:lnTo>
                  <a:pt x="391" y="14"/>
                </a:lnTo>
                <a:lnTo>
                  <a:pt x="391" y="11"/>
                </a:lnTo>
                <a:lnTo>
                  <a:pt x="391" y="8"/>
                </a:lnTo>
                <a:lnTo>
                  <a:pt x="391" y="6"/>
                </a:lnTo>
                <a:lnTo>
                  <a:pt x="391" y="3"/>
                </a:lnTo>
                <a:lnTo>
                  <a:pt x="391" y="0"/>
                </a:lnTo>
                <a:lnTo>
                  <a:pt x="387" y="0"/>
                </a:lnTo>
                <a:lnTo>
                  <a:pt x="387" y="3"/>
                </a:lnTo>
                <a:lnTo>
                  <a:pt x="387" y="6"/>
                </a:lnTo>
                <a:lnTo>
                  <a:pt x="387" y="8"/>
                </a:lnTo>
                <a:lnTo>
                  <a:pt x="387" y="11"/>
                </a:lnTo>
                <a:lnTo>
                  <a:pt x="387" y="14"/>
                </a:lnTo>
                <a:lnTo>
                  <a:pt x="389" y="18"/>
                </a:lnTo>
                <a:lnTo>
                  <a:pt x="389" y="21"/>
                </a:lnTo>
                <a:lnTo>
                  <a:pt x="389" y="24"/>
                </a:lnTo>
                <a:lnTo>
                  <a:pt x="389" y="28"/>
                </a:lnTo>
                <a:lnTo>
                  <a:pt x="389" y="31"/>
                </a:lnTo>
                <a:lnTo>
                  <a:pt x="387" y="34"/>
                </a:lnTo>
                <a:lnTo>
                  <a:pt x="387" y="38"/>
                </a:lnTo>
                <a:lnTo>
                  <a:pt x="387" y="41"/>
                </a:lnTo>
                <a:lnTo>
                  <a:pt x="387" y="44"/>
                </a:lnTo>
                <a:lnTo>
                  <a:pt x="387" y="48"/>
                </a:lnTo>
                <a:lnTo>
                  <a:pt x="387" y="51"/>
                </a:lnTo>
                <a:lnTo>
                  <a:pt x="391" y="51"/>
                </a:lnTo>
                <a:lnTo>
                  <a:pt x="391" y="48"/>
                </a:lnTo>
                <a:lnTo>
                  <a:pt x="391" y="44"/>
                </a:lnTo>
                <a:lnTo>
                  <a:pt x="391" y="41"/>
                </a:lnTo>
                <a:lnTo>
                  <a:pt x="391" y="38"/>
                </a:lnTo>
                <a:lnTo>
                  <a:pt x="391" y="34"/>
                </a:lnTo>
                <a:lnTo>
                  <a:pt x="392" y="31"/>
                </a:lnTo>
                <a:lnTo>
                  <a:pt x="392" y="28"/>
                </a:lnTo>
                <a:lnTo>
                  <a:pt x="39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34" name="Freeform 1739">
            <a:extLst>
              <a:ext uri="{FF2B5EF4-FFF2-40B4-BE49-F238E27FC236}">
                <a16:creationId xmlns:a16="http://schemas.microsoft.com/office/drawing/2014/main" id="{8BF82029-AD5C-64AA-F5D2-0FD6CCF8BCCA}"/>
              </a:ext>
            </a:extLst>
          </p:cNvPr>
          <p:cNvSpPr>
            <a:spLocks noEditPoints="1"/>
          </p:cNvSpPr>
          <p:nvPr/>
        </p:nvSpPr>
        <p:spPr bwMode="auto">
          <a:xfrm>
            <a:off x="2249488" y="2719388"/>
            <a:ext cx="619125" cy="80963"/>
          </a:xfrm>
          <a:custGeom>
            <a:avLst/>
            <a:gdLst>
              <a:gd name="T0" fmla="*/ 390 w 390"/>
              <a:gd name="T1" fmla="*/ 21 h 51"/>
              <a:gd name="T2" fmla="*/ 388 w 390"/>
              <a:gd name="T3" fmla="*/ 14 h 51"/>
              <a:gd name="T4" fmla="*/ 388 w 390"/>
              <a:gd name="T5" fmla="*/ 8 h 51"/>
              <a:gd name="T6" fmla="*/ 388 w 390"/>
              <a:gd name="T7" fmla="*/ 3 h 51"/>
              <a:gd name="T8" fmla="*/ 385 w 390"/>
              <a:gd name="T9" fmla="*/ 0 h 51"/>
              <a:gd name="T10" fmla="*/ 385 w 390"/>
              <a:gd name="T11" fmla="*/ 6 h 51"/>
              <a:gd name="T12" fmla="*/ 385 w 390"/>
              <a:gd name="T13" fmla="*/ 11 h 51"/>
              <a:gd name="T14" fmla="*/ 386 w 390"/>
              <a:gd name="T15" fmla="*/ 18 h 51"/>
              <a:gd name="T16" fmla="*/ 386 w 390"/>
              <a:gd name="T17" fmla="*/ 24 h 51"/>
              <a:gd name="T18" fmla="*/ 386 w 390"/>
              <a:gd name="T19" fmla="*/ 31 h 51"/>
              <a:gd name="T20" fmla="*/ 385 w 390"/>
              <a:gd name="T21" fmla="*/ 38 h 51"/>
              <a:gd name="T22" fmla="*/ 385 w 390"/>
              <a:gd name="T23" fmla="*/ 44 h 51"/>
              <a:gd name="T24" fmla="*/ 385 w 390"/>
              <a:gd name="T25" fmla="*/ 51 h 51"/>
              <a:gd name="T26" fmla="*/ 388 w 390"/>
              <a:gd name="T27" fmla="*/ 48 h 51"/>
              <a:gd name="T28" fmla="*/ 388 w 390"/>
              <a:gd name="T29" fmla="*/ 41 h 51"/>
              <a:gd name="T30" fmla="*/ 388 w 390"/>
              <a:gd name="T31" fmla="*/ 34 h 51"/>
              <a:gd name="T32" fmla="*/ 390 w 390"/>
              <a:gd name="T33" fmla="*/ 28 h 51"/>
              <a:gd name="T34" fmla="*/ 2 w 390"/>
              <a:gd name="T35" fmla="*/ 0 h 51"/>
              <a:gd name="T36" fmla="*/ 0 w 390"/>
              <a:gd name="T37" fmla="*/ 6 h 51"/>
              <a:gd name="T38" fmla="*/ 0 w 390"/>
              <a:gd name="T39" fmla="*/ 11 h 51"/>
              <a:gd name="T40" fmla="*/ 0 w 390"/>
              <a:gd name="T41" fmla="*/ 18 h 51"/>
              <a:gd name="T42" fmla="*/ 0 w 390"/>
              <a:gd name="T43" fmla="*/ 24 h 51"/>
              <a:gd name="T44" fmla="*/ 0 w 390"/>
              <a:gd name="T45" fmla="*/ 31 h 51"/>
              <a:gd name="T46" fmla="*/ 0 w 390"/>
              <a:gd name="T47" fmla="*/ 38 h 51"/>
              <a:gd name="T48" fmla="*/ 0 w 390"/>
              <a:gd name="T49" fmla="*/ 44 h 51"/>
              <a:gd name="T50" fmla="*/ 2 w 390"/>
              <a:gd name="T51" fmla="*/ 51 h 51"/>
              <a:gd name="T52" fmla="*/ 4 w 390"/>
              <a:gd name="T53" fmla="*/ 48 h 51"/>
              <a:gd name="T54" fmla="*/ 4 w 390"/>
              <a:gd name="T55" fmla="*/ 41 h 51"/>
              <a:gd name="T56" fmla="*/ 4 w 390"/>
              <a:gd name="T57" fmla="*/ 34 h 51"/>
              <a:gd name="T58" fmla="*/ 4 w 390"/>
              <a:gd name="T59" fmla="*/ 28 h 51"/>
              <a:gd name="T60" fmla="*/ 4 w 390"/>
              <a:gd name="T61" fmla="*/ 21 h 51"/>
              <a:gd name="T62" fmla="*/ 4 w 390"/>
              <a:gd name="T63" fmla="*/ 14 h 51"/>
              <a:gd name="T64" fmla="*/ 4 w 390"/>
              <a:gd name="T65" fmla="*/ 8 h 51"/>
              <a:gd name="T66" fmla="*/ 4 w 390"/>
              <a:gd name="T67" fmla="*/ 3 h 51"/>
              <a:gd name="T68" fmla="*/ 2 w 39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90" h="51">
                <a:moveTo>
                  <a:pt x="390" y="24"/>
                </a:moveTo>
                <a:lnTo>
                  <a:pt x="390" y="21"/>
                </a:lnTo>
                <a:lnTo>
                  <a:pt x="390" y="18"/>
                </a:lnTo>
                <a:lnTo>
                  <a:pt x="388" y="14"/>
                </a:lnTo>
                <a:lnTo>
                  <a:pt x="388" y="11"/>
                </a:lnTo>
                <a:lnTo>
                  <a:pt x="388" y="8"/>
                </a:lnTo>
                <a:lnTo>
                  <a:pt x="388" y="6"/>
                </a:lnTo>
                <a:lnTo>
                  <a:pt x="388" y="3"/>
                </a:lnTo>
                <a:lnTo>
                  <a:pt x="388" y="0"/>
                </a:lnTo>
                <a:lnTo>
                  <a:pt x="385" y="0"/>
                </a:lnTo>
                <a:lnTo>
                  <a:pt x="385" y="3"/>
                </a:lnTo>
                <a:lnTo>
                  <a:pt x="385" y="6"/>
                </a:lnTo>
                <a:lnTo>
                  <a:pt x="385" y="8"/>
                </a:lnTo>
                <a:lnTo>
                  <a:pt x="385" y="11"/>
                </a:lnTo>
                <a:lnTo>
                  <a:pt x="385" y="14"/>
                </a:lnTo>
                <a:lnTo>
                  <a:pt x="386" y="18"/>
                </a:lnTo>
                <a:lnTo>
                  <a:pt x="386" y="21"/>
                </a:lnTo>
                <a:lnTo>
                  <a:pt x="386" y="24"/>
                </a:lnTo>
                <a:lnTo>
                  <a:pt x="386" y="28"/>
                </a:lnTo>
                <a:lnTo>
                  <a:pt x="386" y="31"/>
                </a:lnTo>
                <a:lnTo>
                  <a:pt x="385" y="34"/>
                </a:lnTo>
                <a:lnTo>
                  <a:pt x="385" y="38"/>
                </a:lnTo>
                <a:lnTo>
                  <a:pt x="385" y="41"/>
                </a:lnTo>
                <a:lnTo>
                  <a:pt x="385" y="44"/>
                </a:lnTo>
                <a:lnTo>
                  <a:pt x="385" y="48"/>
                </a:lnTo>
                <a:lnTo>
                  <a:pt x="385" y="51"/>
                </a:lnTo>
                <a:lnTo>
                  <a:pt x="388" y="51"/>
                </a:lnTo>
                <a:lnTo>
                  <a:pt x="388" y="48"/>
                </a:lnTo>
                <a:lnTo>
                  <a:pt x="388" y="44"/>
                </a:lnTo>
                <a:lnTo>
                  <a:pt x="388" y="41"/>
                </a:lnTo>
                <a:lnTo>
                  <a:pt x="388" y="38"/>
                </a:lnTo>
                <a:lnTo>
                  <a:pt x="388" y="34"/>
                </a:lnTo>
                <a:lnTo>
                  <a:pt x="390" y="31"/>
                </a:lnTo>
                <a:lnTo>
                  <a:pt x="390" y="28"/>
                </a:lnTo>
                <a:lnTo>
                  <a:pt x="39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35" name="Freeform 1740">
            <a:extLst>
              <a:ext uri="{FF2B5EF4-FFF2-40B4-BE49-F238E27FC236}">
                <a16:creationId xmlns:a16="http://schemas.microsoft.com/office/drawing/2014/main" id="{3686D5ED-1616-AA7F-94A0-7CB177557A8F}"/>
              </a:ext>
            </a:extLst>
          </p:cNvPr>
          <p:cNvSpPr>
            <a:spLocks noEditPoints="1"/>
          </p:cNvSpPr>
          <p:nvPr/>
        </p:nvSpPr>
        <p:spPr bwMode="auto">
          <a:xfrm>
            <a:off x="2252663" y="2719388"/>
            <a:ext cx="612775" cy="80963"/>
          </a:xfrm>
          <a:custGeom>
            <a:avLst/>
            <a:gdLst>
              <a:gd name="T0" fmla="*/ 386 w 386"/>
              <a:gd name="T1" fmla="*/ 21 h 51"/>
              <a:gd name="T2" fmla="*/ 384 w 386"/>
              <a:gd name="T3" fmla="*/ 14 h 51"/>
              <a:gd name="T4" fmla="*/ 384 w 386"/>
              <a:gd name="T5" fmla="*/ 8 h 51"/>
              <a:gd name="T6" fmla="*/ 384 w 386"/>
              <a:gd name="T7" fmla="*/ 3 h 51"/>
              <a:gd name="T8" fmla="*/ 381 w 386"/>
              <a:gd name="T9" fmla="*/ 0 h 51"/>
              <a:gd name="T10" fmla="*/ 381 w 386"/>
              <a:gd name="T11" fmla="*/ 6 h 51"/>
              <a:gd name="T12" fmla="*/ 381 w 386"/>
              <a:gd name="T13" fmla="*/ 11 h 51"/>
              <a:gd name="T14" fmla="*/ 383 w 386"/>
              <a:gd name="T15" fmla="*/ 18 h 51"/>
              <a:gd name="T16" fmla="*/ 383 w 386"/>
              <a:gd name="T17" fmla="*/ 24 h 51"/>
              <a:gd name="T18" fmla="*/ 383 w 386"/>
              <a:gd name="T19" fmla="*/ 31 h 51"/>
              <a:gd name="T20" fmla="*/ 381 w 386"/>
              <a:gd name="T21" fmla="*/ 38 h 51"/>
              <a:gd name="T22" fmla="*/ 381 w 386"/>
              <a:gd name="T23" fmla="*/ 44 h 51"/>
              <a:gd name="T24" fmla="*/ 381 w 386"/>
              <a:gd name="T25" fmla="*/ 51 h 51"/>
              <a:gd name="T26" fmla="*/ 384 w 386"/>
              <a:gd name="T27" fmla="*/ 48 h 51"/>
              <a:gd name="T28" fmla="*/ 384 w 386"/>
              <a:gd name="T29" fmla="*/ 41 h 51"/>
              <a:gd name="T30" fmla="*/ 384 w 386"/>
              <a:gd name="T31" fmla="*/ 34 h 51"/>
              <a:gd name="T32" fmla="*/ 386 w 386"/>
              <a:gd name="T33" fmla="*/ 28 h 51"/>
              <a:gd name="T34" fmla="*/ 2 w 386"/>
              <a:gd name="T35" fmla="*/ 0 h 51"/>
              <a:gd name="T36" fmla="*/ 0 w 386"/>
              <a:gd name="T37" fmla="*/ 6 h 51"/>
              <a:gd name="T38" fmla="*/ 0 w 386"/>
              <a:gd name="T39" fmla="*/ 11 h 51"/>
              <a:gd name="T40" fmla="*/ 0 w 386"/>
              <a:gd name="T41" fmla="*/ 18 h 51"/>
              <a:gd name="T42" fmla="*/ 0 w 386"/>
              <a:gd name="T43" fmla="*/ 24 h 51"/>
              <a:gd name="T44" fmla="*/ 0 w 386"/>
              <a:gd name="T45" fmla="*/ 31 h 51"/>
              <a:gd name="T46" fmla="*/ 0 w 386"/>
              <a:gd name="T47" fmla="*/ 38 h 51"/>
              <a:gd name="T48" fmla="*/ 0 w 386"/>
              <a:gd name="T49" fmla="*/ 44 h 51"/>
              <a:gd name="T50" fmla="*/ 2 w 386"/>
              <a:gd name="T51" fmla="*/ 51 h 51"/>
              <a:gd name="T52" fmla="*/ 3 w 386"/>
              <a:gd name="T53" fmla="*/ 48 h 51"/>
              <a:gd name="T54" fmla="*/ 3 w 386"/>
              <a:gd name="T55" fmla="*/ 41 h 51"/>
              <a:gd name="T56" fmla="*/ 3 w 386"/>
              <a:gd name="T57" fmla="*/ 34 h 51"/>
              <a:gd name="T58" fmla="*/ 3 w 386"/>
              <a:gd name="T59" fmla="*/ 28 h 51"/>
              <a:gd name="T60" fmla="*/ 3 w 386"/>
              <a:gd name="T61" fmla="*/ 21 h 51"/>
              <a:gd name="T62" fmla="*/ 3 w 386"/>
              <a:gd name="T63" fmla="*/ 14 h 51"/>
              <a:gd name="T64" fmla="*/ 3 w 386"/>
              <a:gd name="T65" fmla="*/ 8 h 51"/>
              <a:gd name="T66" fmla="*/ 3 w 386"/>
              <a:gd name="T67" fmla="*/ 3 h 51"/>
              <a:gd name="T68" fmla="*/ 2 w 3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6" h="51">
                <a:moveTo>
                  <a:pt x="386" y="24"/>
                </a:moveTo>
                <a:lnTo>
                  <a:pt x="386" y="21"/>
                </a:lnTo>
                <a:lnTo>
                  <a:pt x="386" y="18"/>
                </a:lnTo>
                <a:lnTo>
                  <a:pt x="384" y="14"/>
                </a:lnTo>
                <a:lnTo>
                  <a:pt x="384" y="11"/>
                </a:lnTo>
                <a:lnTo>
                  <a:pt x="384" y="8"/>
                </a:lnTo>
                <a:lnTo>
                  <a:pt x="384" y="6"/>
                </a:lnTo>
                <a:lnTo>
                  <a:pt x="384" y="3"/>
                </a:lnTo>
                <a:lnTo>
                  <a:pt x="384" y="0"/>
                </a:lnTo>
                <a:lnTo>
                  <a:pt x="381" y="0"/>
                </a:lnTo>
                <a:lnTo>
                  <a:pt x="381" y="3"/>
                </a:lnTo>
                <a:lnTo>
                  <a:pt x="381" y="6"/>
                </a:lnTo>
                <a:lnTo>
                  <a:pt x="381" y="8"/>
                </a:lnTo>
                <a:lnTo>
                  <a:pt x="381" y="11"/>
                </a:lnTo>
                <a:lnTo>
                  <a:pt x="381" y="14"/>
                </a:lnTo>
                <a:lnTo>
                  <a:pt x="383" y="18"/>
                </a:lnTo>
                <a:lnTo>
                  <a:pt x="383" y="21"/>
                </a:lnTo>
                <a:lnTo>
                  <a:pt x="383" y="24"/>
                </a:lnTo>
                <a:lnTo>
                  <a:pt x="383" y="28"/>
                </a:lnTo>
                <a:lnTo>
                  <a:pt x="383" y="31"/>
                </a:lnTo>
                <a:lnTo>
                  <a:pt x="381" y="34"/>
                </a:lnTo>
                <a:lnTo>
                  <a:pt x="381" y="38"/>
                </a:lnTo>
                <a:lnTo>
                  <a:pt x="381" y="41"/>
                </a:lnTo>
                <a:lnTo>
                  <a:pt x="381" y="44"/>
                </a:lnTo>
                <a:lnTo>
                  <a:pt x="381" y="48"/>
                </a:lnTo>
                <a:lnTo>
                  <a:pt x="381" y="51"/>
                </a:lnTo>
                <a:lnTo>
                  <a:pt x="384" y="51"/>
                </a:lnTo>
                <a:lnTo>
                  <a:pt x="384" y="48"/>
                </a:lnTo>
                <a:lnTo>
                  <a:pt x="384" y="44"/>
                </a:lnTo>
                <a:lnTo>
                  <a:pt x="384" y="41"/>
                </a:lnTo>
                <a:lnTo>
                  <a:pt x="384" y="38"/>
                </a:lnTo>
                <a:lnTo>
                  <a:pt x="384" y="34"/>
                </a:lnTo>
                <a:lnTo>
                  <a:pt x="386" y="31"/>
                </a:lnTo>
                <a:lnTo>
                  <a:pt x="386" y="28"/>
                </a:lnTo>
                <a:lnTo>
                  <a:pt x="38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36" name="Freeform 1741">
            <a:extLst>
              <a:ext uri="{FF2B5EF4-FFF2-40B4-BE49-F238E27FC236}">
                <a16:creationId xmlns:a16="http://schemas.microsoft.com/office/drawing/2014/main" id="{E897ABF0-A325-144F-6CCA-E3EA239A354F}"/>
              </a:ext>
            </a:extLst>
          </p:cNvPr>
          <p:cNvSpPr>
            <a:spLocks noEditPoints="1"/>
          </p:cNvSpPr>
          <p:nvPr/>
        </p:nvSpPr>
        <p:spPr bwMode="auto">
          <a:xfrm>
            <a:off x="2255838" y="2719388"/>
            <a:ext cx="606425" cy="80963"/>
          </a:xfrm>
          <a:custGeom>
            <a:avLst/>
            <a:gdLst>
              <a:gd name="T0" fmla="*/ 382 w 382"/>
              <a:gd name="T1" fmla="*/ 21 h 51"/>
              <a:gd name="T2" fmla="*/ 381 w 382"/>
              <a:gd name="T3" fmla="*/ 14 h 51"/>
              <a:gd name="T4" fmla="*/ 381 w 382"/>
              <a:gd name="T5" fmla="*/ 8 h 51"/>
              <a:gd name="T6" fmla="*/ 381 w 382"/>
              <a:gd name="T7" fmla="*/ 3 h 51"/>
              <a:gd name="T8" fmla="*/ 377 w 382"/>
              <a:gd name="T9" fmla="*/ 0 h 51"/>
              <a:gd name="T10" fmla="*/ 377 w 382"/>
              <a:gd name="T11" fmla="*/ 6 h 51"/>
              <a:gd name="T12" fmla="*/ 377 w 382"/>
              <a:gd name="T13" fmla="*/ 11 h 51"/>
              <a:gd name="T14" fmla="*/ 379 w 382"/>
              <a:gd name="T15" fmla="*/ 18 h 51"/>
              <a:gd name="T16" fmla="*/ 379 w 382"/>
              <a:gd name="T17" fmla="*/ 24 h 51"/>
              <a:gd name="T18" fmla="*/ 379 w 382"/>
              <a:gd name="T19" fmla="*/ 31 h 51"/>
              <a:gd name="T20" fmla="*/ 377 w 382"/>
              <a:gd name="T21" fmla="*/ 38 h 51"/>
              <a:gd name="T22" fmla="*/ 377 w 382"/>
              <a:gd name="T23" fmla="*/ 44 h 51"/>
              <a:gd name="T24" fmla="*/ 377 w 382"/>
              <a:gd name="T25" fmla="*/ 51 h 51"/>
              <a:gd name="T26" fmla="*/ 381 w 382"/>
              <a:gd name="T27" fmla="*/ 48 h 51"/>
              <a:gd name="T28" fmla="*/ 381 w 382"/>
              <a:gd name="T29" fmla="*/ 41 h 51"/>
              <a:gd name="T30" fmla="*/ 381 w 382"/>
              <a:gd name="T31" fmla="*/ 34 h 51"/>
              <a:gd name="T32" fmla="*/ 382 w 382"/>
              <a:gd name="T33" fmla="*/ 28 h 51"/>
              <a:gd name="T34" fmla="*/ 1 w 382"/>
              <a:gd name="T35" fmla="*/ 0 h 51"/>
              <a:gd name="T36" fmla="*/ 0 w 382"/>
              <a:gd name="T37" fmla="*/ 6 h 51"/>
              <a:gd name="T38" fmla="*/ 0 w 382"/>
              <a:gd name="T39" fmla="*/ 11 h 51"/>
              <a:gd name="T40" fmla="*/ 0 w 382"/>
              <a:gd name="T41" fmla="*/ 18 h 51"/>
              <a:gd name="T42" fmla="*/ 0 w 382"/>
              <a:gd name="T43" fmla="*/ 24 h 51"/>
              <a:gd name="T44" fmla="*/ 0 w 382"/>
              <a:gd name="T45" fmla="*/ 31 h 51"/>
              <a:gd name="T46" fmla="*/ 0 w 382"/>
              <a:gd name="T47" fmla="*/ 38 h 51"/>
              <a:gd name="T48" fmla="*/ 0 w 382"/>
              <a:gd name="T49" fmla="*/ 44 h 51"/>
              <a:gd name="T50" fmla="*/ 1 w 382"/>
              <a:gd name="T51" fmla="*/ 51 h 51"/>
              <a:gd name="T52" fmla="*/ 3 w 382"/>
              <a:gd name="T53" fmla="*/ 48 h 51"/>
              <a:gd name="T54" fmla="*/ 3 w 382"/>
              <a:gd name="T55" fmla="*/ 41 h 51"/>
              <a:gd name="T56" fmla="*/ 3 w 382"/>
              <a:gd name="T57" fmla="*/ 34 h 51"/>
              <a:gd name="T58" fmla="*/ 3 w 382"/>
              <a:gd name="T59" fmla="*/ 28 h 51"/>
              <a:gd name="T60" fmla="*/ 3 w 382"/>
              <a:gd name="T61" fmla="*/ 21 h 51"/>
              <a:gd name="T62" fmla="*/ 3 w 382"/>
              <a:gd name="T63" fmla="*/ 14 h 51"/>
              <a:gd name="T64" fmla="*/ 3 w 382"/>
              <a:gd name="T65" fmla="*/ 8 h 51"/>
              <a:gd name="T66" fmla="*/ 3 w 382"/>
              <a:gd name="T67" fmla="*/ 3 h 51"/>
              <a:gd name="T68" fmla="*/ 1 w 38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2" h="51">
                <a:moveTo>
                  <a:pt x="382" y="24"/>
                </a:moveTo>
                <a:lnTo>
                  <a:pt x="382" y="21"/>
                </a:lnTo>
                <a:lnTo>
                  <a:pt x="382" y="18"/>
                </a:lnTo>
                <a:lnTo>
                  <a:pt x="381" y="14"/>
                </a:lnTo>
                <a:lnTo>
                  <a:pt x="381" y="11"/>
                </a:lnTo>
                <a:lnTo>
                  <a:pt x="381" y="8"/>
                </a:lnTo>
                <a:lnTo>
                  <a:pt x="381" y="6"/>
                </a:lnTo>
                <a:lnTo>
                  <a:pt x="381" y="3"/>
                </a:lnTo>
                <a:lnTo>
                  <a:pt x="381" y="0"/>
                </a:lnTo>
                <a:lnTo>
                  <a:pt x="377" y="0"/>
                </a:lnTo>
                <a:lnTo>
                  <a:pt x="377" y="3"/>
                </a:lnTo>
                <a:lnTo>
                  <a:pt x="377" y="6"/>
                </a:lnTo>
                <a:lnTo>
                  <a:pt x="377" y="8"/>
                </a:lnTo>
                <a:lnTo>
                  <a:pt x="377" y="11"/>
                </a:lnTo>
                <a:lnTo>
                  <a:pt x="377" y="14"/>
                </a:lnTo>
                <a:lnTo>
                  <a:pt x="379" y="18"/>
                </a:lnTo>
                <a:lnTo>
                  <a:pt x="379" y="21"/>
                </a:lnTo>
                <a:lnTo>
                  <a:pt x="379" y="24"/>
                </a:lnTo>
                <a:lnTo>
                  <a:pt x="379" y="28"/>
                </a:lnTo>
                <a:lnTo>
                  <a:pt x="379" y="31"/>
                </a:lnTo>
                <a:lnTo>
                  <a:pt x="377" y="34"/>
                </a:lnTo>
                <a:lnTo>
                  <a:pt x="377" y="38"/>
                </a:lnTo>
                <a:lnTo>
                  <a:pt x="377" y="41"/>
                </a:lnTo>
                <a:lnTo>
                  <a:pt x="377" y="44"/>
                </a:lnTo>
                <a:lnTo>
                  <a:pt x="377" y="48"/>
                </a:lnTo>
                <a:lnTo>
                  <a:pt x="377" y="51"/>
                </a:lnTo>
                <a:lnTo>
                  <a:pt x="381" y="51"/>
                </a:lnTo>
                <a:lnTo>
                  <a:pt x="381" y="48"/>
                </a:lnTo>
                <a:lnTo>
                  <a:pt x="381" y="44"/>
                </a:lnTo>
                <a:lnTo>
                  <a:pt x="381" y="41"/>
                </a:lnTo>
                <a:lnTo>
                  <a:pt x="381" y="38"/>
                </a:lnTo>
                <a:lnTo>
                  <a:pt x="381" y="34"/>
                </a:lnTo>
                <a:lnTo>
                  <a:pt x="382" y="31"/>
                </a:lnTo>
                <a:lnTo>
                  <a:pt x="382" y="28"/>
                </a:lnTo>
                <a:lnTo>
                  <a:pt x="38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37" name="Freeform 1742">
            <a:extLst>
              <a:ext uri="{FF2B5EF4-FFF2-40B4-BE49-F238E27FC236}">
                <a16:creationId xmlns:a16="http://schemas.microsoft.com/office/drawing/2014/main" id="{C7A7EEA5-3E72-90AB-0A43-6B57445BE5CF}"/>
              </a:ext>
            </a:extLst>
          </p:cNvPr>
          <p:cNvSpPr>
            <a:spLocks noEditPoints="1"/>
          </p:cNvSpPr>
          <p:nvPr/>
        </p:nvSpPr>
        <p:spPr bwMode="auto">
          <a:xfrm>
            <a:off x="2257425" y="2719388"/>
            <a:ext cx="603250" cy="80963"/>
          </a:xfrm>
          <a:custGeom>
            <a:avLst/>
            <a:gdLst>
              <a:gd name="T0" fmla="*/ 380 w 380"/>
              <a:gd name="T1" fmla="*/ 21 h 51"/>
              <a:gd name="T2" fmla="*/ 378 w 380"/>
              <a:gd name="T3" fmla="*/ 14 h 51"/>
              <a:gd name="T4" fmla="*/ 378 w 380"/>
              <a:gd name="T5" fmla="*/ 8 h 51"/>
              <a:gd name="T6" fmla="*/ 378 w 380"/>
              <a:gd name="T7" fmla="*/ 3 h 51"/>
              <a:gd name="T8" fmla="*/ 375 w 380"/>
              <a:gd name="T9" fmla="*/ 0 h 51"/>
              <a:gd name="T10" fmla="*/ 375 w 380"/>
              <a:gd name="T11" fmla="*/ 6 h 51"/>
              <a:gd name="T12" fmla="*/ 375 w 380"/>
              <a:gd name="T13" fmla="*/ 11 h 51"/>
              <a:gd name="T14" fmla="*/ 376 w 380"/>
              <a:gd name="T15" fmla="*/ 18 h 51"/>
              <a:gd name="T16" fmla="*/ 376 w 380"/>
              <a:gd name="T17" fmla="*/ 24 h 51"/>
              <a:gd name="T18" fmla="*/ 376 w 380"/>
              <a:gd name="T19" fmla="*/ 31 h 51"/>
              <a:gd name="T20" fmla="*/ 375 w 380"/>
              <a:gd name="T21" fmla="*/ 38 h 51"/>
              <a:gd name="T22" fmla="*/ 375 w 380"/>
              <a:gd name="T23" fmla="*/ 44 h 51"/>
              <a:gd name="T24" fmla="*/ 375 w 380"/>
              <a:gd name="T25" fmla="*/ 51 h 51"/>
              <a:gd name="T26" fmla="*/ 378 w 380"/>
              <a:gd name="T27" fmla="*/ 48 h 51"/>
              <a:gd name="T28" fmla="*/ 378 w 380"/>
              <a:gd name="T29" fmla="*/ 41 h 51"/>
              <a:gd name="T30" fmla="*/ 378 w 380"/>
              <a:gd name="T31" fmla="*/ 34 h 51"/>
              <a:gd name="T32" fmla="*/ 380 w 380"/>
              <a:gd name="T33" fmla="*/ 28 h 51"/>
              <a:gd name="T34" fmla="*/ 2 w 380"/>
              <a:gd name="T35" fmla="*/ 0 h 51"/>
              <a:gd name="T36" fmla="*/ 0 w 380"/>
              <a:gd name="T37" fmla="*/ 6 h 51"/>
              <a:gd name="T38" fmla="*/ 0 w 380"/>
              <a:gd name="T39" fmla="*/ 11 h 51"/>
              <a:gd name="T40" fmla="*/ 0 w 380"/>
              <a:gd name="T41" fmla="*/ 18 h 51"/>
              <a:gd name="T42" fmla="*/ 0 w 380"/>
              <a:gd name="T43" fmla="*/ 24 h 51"/>
              <a:gd name="T44" fmla="*/ 0 w 380"/>
              <a:gd name="T45" fmla="*/ 31 h 51"/>
              <a:gd name="T46" fmla="*/ 0 w 380"/>
              <a:gd name="T47" fmla="*/ 38 h 51"/>
              <a:gd name="T48" fmla="*/ 0 w 380"/>
              <a:gd name="T49" fmla="*/ 44 h 51"/>
              <a:gd name="T50" fmla="*/ 2 w 380"/>
              <a:gd name="T51" fmla="*/ 51 h 51"/>
              <a:gd name="T52" fmla="*/ 4 w 380"/>
              <a:gd name="T53" fmla="*/ 48 h 51"/>
              <a:gd name="T54" fmla="*/ 4 w 380"/>
              <a:gd name="T55" fmla="*/ 41 h 51"/>
              <a:gd name="T56" fmla="*/ 4 w 380"/>
              <a:gd name="T57" fmla="*/ 34 h 51"/>
              <a:gd name="T58" fmla="*/ 4 w 380"/>
              <a:gd name="T59" fmla="*/ 28 h 51"/>
              <a:gd name="T60" fmla="*/ 4 w 380"/>
              <a:gd name="T61" fmla="*/ 21 h 51"/>
              <a:gd name="T62" fmla="*/ 4 w 380"/>
              <a:gd name="T63" fmla="*/ 14 h 51"/>
              <a:gd name="T64" fmla="*/ 4 w 380"/>
              <a:gd name="T65" fmla="*/ 8 h 51"/>
              <a:gd name="T66" fmla="*/ 4 w 380"/>
              <a:gd name="T67" fmla="*/ 3 h 51"/>
              <a:gd name="T68" fmla="*/ 2 w 38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0" h="51">
                <a:moveTo>
                  <a:pt x="380" y="24"/>
                </a:moveTo>
                <a:lnTo>
                  <a:pt x="380" y="21"/>
                </a:lnTo>
                <a:lnTo>
                  <a:pt x="380" y="18"/>
                </a:lnTo>
                <a:lnTo>
                  <a:pt x="378" y="14"/>
                </a:lnTo>
                <a:lnTo>
                  <a:pt x="378" y="11"/>
                </a:lnTo>
                <a:lnTo>
                  <a:pt x="378" y="8"/>
                </a:lnTo>
                <a:lnTo>
                  <a:pt x="378" y="6"/>
                </a:lnTo>
                <a:lnTo>
                  <a:pt x="378" y="3"/>
                </a:lnTo>
                <a:lnTo>
                  <a:pt x="378" y="0"/>
                </a:lnTo>
                <a:lnTo>
                  <a:pt x="375" y="0"/>
                </a:lnTo>
                <a:lnTo>
                  <a:pt x="375" y="3"/>
                </a:lnTo>
                <a:lnTo>
                  <a:pt x="375" y="6"/>
                </a:lnTo>
                <a:lnTo>
                  <a:pt x="375" y="8"/>
                </a:lnTo>
                <a:lnTo>
                  <a:pt x="375" y="11"/>
                </a:lnTo>
                <a:lnTo>
                  <a:pt x="375" y="14"/>
                </a:lnTo>
                <a:lnTo>
                  <a:pt x="376" y="18"/>
                </a:lnTo>
                <a:lnTo>
                  <a:pt x="376" y="21"/>
                </a:lnTo>
                <a:lnTo>
                  <a:pt x="376" y="24"/>
                </a:lnTo>
                <a:lnTo>
                  <a:pt x="376" y="28"/>
                </a:lnTo>
                <a:lnTo>
                  <a:pt x="376" y="31"/>
                </a:lnTo>
                <a:lnTo>
                  <a:pt x="375" y="34"/>
                </a:lnTo>
                <a:lnTo>
                  <a:pt x="375" y="38"/>
                </a:lnTo>
                <a:lnTo>
                  <a:pt x="375" y="41"/>
                </a:lnTo>
                <a:lnTo>
                  <a:pt x="375" y="44"/>
                </a:lnTo>
                <a:lnTo>
                  <a:pt x="375" y="48"/>
                </a:lnTo>
                <a:lnTo>
                  <a:pt x="375" y="51"/>
                </a:lnTo>
                <a:lnTo>
                  <a:pt x="378" y="51"/>
                </a:lnTo>
                <a:lnTo>
                  <a:pt x="378" y="48"/>
                </a:lnTo>
                <a:lnTo>
                  <a:pt x="378" y="44"/>
                </a:lnTo>
                <a:lnTo>
                  <a:pt x="378" y="41"/>
                </a:lnTo>
                <a:lnTo>
                  <a:pt x="378" y="38"/>
                </a:lnTo>
                <a:lnTo>
                  <a:pt x="378" y="34"/>
                </a:lnTo>
                <a:lnTo>
                  <a:pt x="380" y="31"/>
                </a:lnTo>
                <a:lnTo>
                  <a:pt x="380" y="28"/>
                </a:lnTo>
                <a:lnTo>
                  <a:pt x="38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38" name="Freeform 1743">
            <a:extLst>
              <a:ext uri="{FF2B5EF4-FFF2-40B4-BE49-F238E27FC236}">
                <a16:creationId xmlns:a16="http://schemas.microsoft.com/office/drawing/2014/main" id="{53FED6D6-ED1B-5A34-6509-44370D28EBE9}"/>
              </a:ext>
            </a:extLst>
          </p:cNvPr>
          <p:cNvSpPr>
            <a:spLocks noEditPoints="1"/>
          </p:cNvSpPr>
          <p:nvPr/>
        </p:nvSpPr>
        <p:spPr bwMode="auto">
          <a:xfrm>
            <a:off x="2260600" y="2719388"/>
            <a:ext cx="596900" cy="80963"/>
          </a:xfrm>
          <a:custGeom>
            <a:avLst/>
            <a:gdLst>
              <a:gd name="T0" fmla="*/ 376 w 376"/>
              <a:gd name="T1" fmla="*/ 21 h 51"/>
              <a:gd name="T2" fmla="*/ 374 w 376"/>
              <a:gd name="T3" fmla="*/ 14 h 51"/>
              <a:gd name="T4" fmla="*/ 374 w 376"/>
              <a:gd name="T5" fmla="*/ 8 h 51"/>
              <a:gd name="T6" fmla="*/ 374 w 376"/>
              <a:gd name="T7" fmla="*/ 3 h 51"/>
              <a:gd name="T8" fmla="*/ 371 w 376"/>
              <a:gd name="T9" fmla="*/ 0 h 51"/>
              <a:gd name="T10" fmla="*/ 371 w 376"/>
              <a:gd name="T11" fmla="*/ 6 h 51"/>
              <a:gd name="T12" fmla="*/ 371 w 376"/>
              <a:gd name="T13" fmla="*/ 11 h 51"/>
              <a:gd name="T14" fmla="*/ 373 w 376"/>
              <a:gd name="T15" fmla="*/ 18 h 51"/>
              <a:gd name="T16" fmla="*/ 373 w 376"/>
              <a:gd name="T17" fmla="*/ 24 h 51"/>
              <a:gd name="T18" fmla="*/ 373 w 376"/>
              <a:gd name="T19" fmla="*/ 31 h 51"/>
              <a:gd name="T20" fmla="*/ 371 w 376"/>
              <a:gd name="T21" fmla="*/ 38 h 51"/>
              <a:gd name="T22" fmla="*/ 371 w 376"/>
              <a:gd name="T23" fmla="*/ 44 h 51"/>
              <a:gd name="T24" fmla="*/ 371 w 376"/>
              <a:gd name="T25" fmla="*/ 51 h 51"/>
              <a:gd name="T26" fmla="*/ 374 w 376"/>
              <a:gd name="T27" fmla="*/ 48 h 51"/>
              <a:gd name="T28" fmla="*/ 374 w 376"/>
              <a:gd name="T29" fmla="*/ 41 h 51"/>
              <a:gd name="T30" fmla="*/ 374 w 376"/>
              <a:gd name="T31" fmla="*/ 34 h 51"/>
              <a:gd name="T32" fmla="*/ 376 w 376"/>
              <a:gd name="T33" fmla="*/ 28 h 51"/>
              <a:gd name="T34" fmla="*/ 2 w 376"/>
              <a:gd name="T35" fmla="*/ 0 h 51"/>
              <a:gd name="T36" fmla="*/ 0 w 376"/>
              <a:gd name="T37" fmla="*/ 6 h 51"/>
              <a:gd name="T38" fmla="*/ 0 w 376"/>
              <a:gd name="T39" fmla="*/ 11 h 51"/>
              <a:gd name="T40" fmla="*/ 0 w 376"/>
              <a:gd name="T41" fmla="*/ 18 h 51"/>
              <a:gd name="T42" fmla="*/ 0 w 376"/>
              <a:gd name="T43" fmla="*/ 24 h 51"/>
              <a:gd name="T44" fmla="*/ 0 w 376"/>
              <a:gd name="T45" fmla="*/ 31 h 51"/>
              <a:gd name="T46" fmla="*/ 0 w 376"/>
              <a:gd name="T47" fmla="*/ 38 h 51"/>
              <a:gd name="T48" fmla="*/ 0 w 376"/>
              <a:gd name="T49" fmla="*/ 44 h 51"/>
              <a:gd name="T50" fmla="*/ 2 w 376"/>
              <a:gd name="T51" fmla="*/ 51 h 51"/>
              <a:gd name="T52" fmla="*/ 3 w 376"/>
              <a:gd name="T53" fmla="*/ 48 h 51"/>
              <a:gd name="T54" fmla="*/ 3 w 376"/>
              <a:gd name="T55" fmla="*/ 41 h 51"/>
              <a:gd name="T56" fmla="*/ 3 w 376"/>
              <a:gd name="T57" fmla="*/ 34 h 51"/>
              <a:gd name="T58" fmla="*/ 3 w 376"/>
              <a:gd name="T59" fmla="*/ 28 h 51"/>
              <a:gd name="T60" fmla="*/ 3 w 376"/>
              <a:gd name="T61" fmla="*/ 21 h 51"/>
              <a:gd name="T62" fmla="*/ 3 w 376"/>
              <a:gd name="T63" fmla="*/ 14 h 51"/>
              <a:gd name="T64" fmla="*/ 3 w 376"/>
              <a:gd name="T65" fmla="*/ 8 h 51"/>
              <a:gd name="T66" fmla="*/ 3 w 376"/>
              <a:gd name="T67" fmla="*/ 3 h 51"/>
              <a:gd name="T68" fmla="*/ 2 w 3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6" h="51">
                <a:moveTo>
                  <a:pt x="376" y="24"/>
                </a:moveTo>
                <a:lnTo>
                  <a:pt x="376" y="21"/>
                </a:lnTo>
                <a:lnTo>
                  <a:pt x="376" y="18"/>
                </a:lnTo>
                <a:lnTo>
                  <a:pt x="374" y="14"/>
                </a:lnTo>
                <a:lnTo>
                  <a:pt x="374" y="11"/>
                </a:lnTo>
                <a:lnTo>
                  <a:pt x="374" y="8"/>
                </a:lnTo>
                <a:lnTo>
                  <a:pt x="374" y="6"/>
                </a:lnTo>
                <a:lnTo>
                  <a:pt x="374" y="3"/>
                </a:lnTo>
                <a:lnTo>
                  <a:pt x="374" y="0"/>
                </a:lnTo>
                <a:lnTo>
                  <a:pt x="371" y="0"/>
                </a:lnTo>
                <a:lnTo>
                  <a:pt x="371" y="3"/>
                </a:lnTo>
                <a:lnTo>
                  <a:pt x="371" y="6"/>
                </a:lnTo>
                <a:lnTo>
                  <a:pt x="371" y="8"/>
                </a:lnTo>
                <a:lnTo>
                  <a:pt x="371" y="11"/>
                </a:lnTo>
                <a:lnTo>
                  <a:pt x="371" y="14"/>
                </a:lnTo>
                <a:lnTo>
                  <a:pt x="373" y="18"/>
                </a:lnTo>
                <a:lnTo>
                  <a:pt x="373" y="21"/>
                </a:lnTo>
                <a:lnTo>
                  <a:pt x="373" y="24"/>
                </a:lnTo>
                <a:lnTo>
                  <a:pt x="373" y="28"/>
                </a:lnTo>
                <a:lnTo>
                  <a:pt x="373" y="31"/>
                </a:lnTo>
                <a:lnTo>
                  <a:pt x="371" y="34"/>
                </a:lnTo>
                <a:lnTo>
                  <a:pt x="371" y="38"/>
                </a:lnTo>
                <a:lnTo>
                  <a:pt x="371" y="41"/>
                </a:lnTo>
                <a:lnTo>
                  <a:pt x="371" y="44"/>
                </a:lnTo>
                <a:lnTo>
                  <a:pt x="371" y="48"/>
                </a:lnTo>
                <a:lnTo>
                  <a:pt x="371" y="51"/>
                </a:lnTo>
                <a:lnTo>
                  <a:pt x="374" y="51"/>
                </a:lnTo>
                <a:lnTo>
                  <a:pt x="374" y="48"/>
                </a:lnTo>
                <a:lnTo>
                  <a:pt x="374" y="44"/>
                </a:lnTo>
                <a:lnTo>
                  <a:pt x="374" y="41"/>
                </a:lnTo>
                <a:lnTo>
                  <a:pt x="374" y="38"/>
                </a:lnTo>
                <a:lnTo>
                  <a:pt x="374" y="34"/>
                </a:lnTo>
                <a:lnTo>
                  <a:pt x="376" y="31"/>
                </a:lnTo>
                <a:lnTo>
                  <a:pt x="376" y="28"/>
                </a:lnTo>
                <a:lnTo>
                  <a:pt x="37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39" name="Freeform 1744">
            <a:extLst>
              <a:ext uri="{FF2B5EF4-FFF2-40B4-BE49-F238E27FC236}">
                <a16:creationId xmlns:a16="http://schemas.microsoft.com/office/drawing/2014/main" id="{87336D51-3C32-493C-6B39-66F6A995FB13}"/>
              </a:ext>
            </a:extLst>
          </p:cNvPr>
          <p:cNvSpPr>
            <a:spLocks noEditPoints="1"/>
          </p:cNvSpPr>
          <p:nvPr/>
        </p:nvSpPr>
        <p:spPr bwMode="auto">
          <a:xfrm>
            <a:off x="2263775" y="2719388"/>
            <a:ext cx="590550" cy="80963"/>
          </a:xfrm>
          <a:custGeom>
            <a:avLst/>
            <a:gdLst>
              <a:gd name="T0" fmla="*/ 372 w 372"/>
              <a:gd name="T1" fmla="*/ 21 h 51"/>
              <a:gd name="T2" fmla="*/ 371 w 372"/>
              <a:gd name="T3" fmla="*/ 14 h 51"/>
              <a:gd name="T4" fmla="*/ 371 w 372"/>
              <a:gd name="T5" fmla="*/ 8 h 51"/>
              <a:gd name="T6" fmla="*/ 371 w 372"/>
              <a:gd name="T7" fmla="*/ 3 h 51"/>
              <a:gd name="T8" fmla="*/ 367 w 372"/>
              <a:gd name="T9" fmla="*/ 0 h 51"/>
              <a:gd name="T10" fmla="*/ 367 w 372"/>
              <a:gd name="T11" fmla="*/ 6 h 51"/>
              <a:gd name="T12" fmla="*/ 367 w 372"/>
              <a:gd name="T13" fmla="*/ 11 h 51"/>
              <a:gd name="T14" fmla="*/ 369 w 372"/>
              <a:gd name="T15" fmla="*/ 18 h 51"/>
              <a:gd name="T16" fmla="*/ 369 w 372"/>
              <a:gd name="T17" fmla="*/ 24 h 51"/>
              <a:gd name="T18" fmla="*/ 369 w 372"/>
              <a:gd name="T19" fmla="*/ 31 h 51"/>
              <a:gd name="T20" fmla="*/ 367 w 372"/>
              <a:gd name="T21" fmla="*/ 38 h 51"/>
              <a:gd name="T22" fmla="*/ 367 w 372"/>
              <a:gd name="T23" fmla="*/ 44 h 51"/>
              <a:gd name="T24" fmla="*/ 367 w 372"/>
              <a:gd name="T25" fmla="*/ 51 h 51"/>
              <a:gd name="T26" fmla="*/ 371 w 372"/>
              <a:gd name="T27" fmla="*/ 48 h 51"/>
              <a:gd name="T28" fmla="*/ 371 w 372"/>
              <a:gd name="T29" fmla="*/ 41 h 51"/>
              <a:gd name="T30" fmla="*/ 371 w 372"/>
              <a:gd name="T31" fmla="*/ 34 h 51"/>
              <a:gd name="T32" fmla="*/ 372 w 372"/>
              <a:gd name="T33" fmla="*/ 28 h 51"/>
              <a:gd name="T34" fmla="*/ 1 w 372"/>
              <a:gd name="T35" fmla="*/ 0 h 51"/>
              <a:gd name="T36" fmla="*/ 0 w 372"/>
              <a:gd name="T37" fmla="*/ 6 h 51"/>
              <a:gd name="T38" fmla="*/ 0 w 372"/>
              <a:gd name="T39" fmla="*/ 11 h 51"/>
              <a:gd name="T40" fmla="*/ 0 w 372"/>
              <a:gd name="T41" fmla="*/ 18 h 51"/>
              <a:gd name="T42" fmla="*/ 0 w 372"/>
              <a:gd name="T43" fmla="*/ 24 h 51"/>
              <a:gd name="T44" fmla="*/ 0 w 372"/>
              <a:gd name="T45" fmla="*/ 31 h 51"/>
              <a:gd name="T46" fmla="*/ 0 w 372"/>
              <a:gd name="T47" fmla="*/ 38 h 51"/>
              <a:gd name="T48" fmla="*/ 0 w 372"/>
              <a:gd name="T49" fmla="*/ 44 h 51"/>
              <a:gd name="T50" fmla="*/ 1 w 372"/>
              <a:gd name="T51" fmla="*/ 51 h 51"/>
              <a:gd name="T52" fmla="*/ 3 w 372"/>
              <a:gd name="T53" fmla="*/ 48 h 51"/>
              <a:gd name="T54" fmla="*/ 3 w 372"/>
              <a:gd name="T55" fmla="*/ 41 h 51"/>
              <a:gd name="T56" fmla="*/ 3 w 372"/>
              <a:gd name="T57" fmla="*/ 34 h 51"/>
              <a:gd name="T58" fmla="*/ 3 w 372"/>
              <a:gd name="T59" fmla="*/ 28 h 51"/>
              <a:gd name="T60" fmla="*/ 3 w 372"/>
              <a:gd name="T61" fmla="*/ 21 h 51"/>
              <a:gd name="T62" fmla="*/ 3 w 372"/>
              <a:gd name="T63" fmla="*/ 14 h 51"/>
              <a:gd name="T64" fmla="*/ 3 w 372"/>
              <a:gd name="T65" fmla="*/ 8 h 51"/>
              <a:gd name="T66" fmla="*/ 3 w 372"/>
              <a:gd name="T67" fmla="*/ 3 h 51"/>
              <a:gd name="T68" fmla="*/ 1 w 3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2" h="51">
                <a:moveTo>
                  <a:pt x="372" y="24"/>
                </a:moveTo>
                <a:lnTo>
                  <a:pt x="372" y="21"/>
                </a:lnTo>
                <a:lnTo>
                  <a:pt x="372" y="18"/>
                </a:lnTo>
                <a:lnTo>
                  <a:pt x="371" y="14"/>
                </a:lnTo>
                <a:lnTo>
                  <a:pt x="371" y="11"/>
                </a:lnTo>
                <a:lnTo>
                  <a:pt x="371" y="8"/>
                </a:lnTo>
                <a:lnTo>
                  <a:pt x="371" y="6"/>
                </a:lnTo>
                <a:lnTo>
                  <a:pt x="371" y="3"/>
                </a:lnTo>
                <a:lnTo>
                  <a:pt x="371" y="0"/>
                </a:lnTo>
                <a:lnTo>
                  <a:pt x="367" y="0"/>
                </a:lnTo>
                <a:lnTo>
                  <a:pt x="367" y="3"/>
                </a:lnTo>
                <a:lnTo>
                  <a:pt x="367" y="6"/>
                </a:lnTo>
                <a:lnTo>
                  <a:pt x="367" y="8"/>
                </a:lnTo>
                <a:lnTo>
                  <a:pt x="367" y="11"/>
                </a:lnTo>
                <a:lnTo>
                  <a:pt x="367" y="14"/>
                </a:lnTo>
                <a:lnTo>
                  <a:pt x="369" y="18"/>
                </a:lnTo>
                <a:lnTo>
                  <a:pt x="369" y="21"/>
                </a:lnTo>
                <a:lnTo>
                  <a:pt x="369" y="24"/>
                </a:lnTo>
                <a:lnTo>
                  <a:pt x="369" y="28"/>
                </a:lnTo>
                <a:lnTo>
                  <a:pt x="369" y="31"/>
                </a:lnTo>
                <a:lnTo>
                  <a:pt x="367" y="34"/>
                </a:lnTo>
                <a:lnTo>
                  <a:pt x="367" y="38"/>
                </a:lnTo>
                <a:lnTo>
                  <a:pt x="367" y="41"/>
                </a:lnTo>
                <a:lnTo>
                  <a:pt x="367" y="44"/>
                </a:lnTo>
                <a:lnTo>
                  <a:pt x="367" y="48"/>
                </a:lnTo>
                <a:lnTo>
                  <a:pt x="367" y="51"/>
                </a:lnTo>
                <a:lnTo>
                  <a:pt x="371" y="51"/>
                </a:lnTo>
                <a:lnTo>
                  <a:pt x="371" y="48"/>
                </a:lnTo>
                <a:lnTo>
                  <a:pt x="371" y="44"/>
                </a:lnTo>
                <a:lnTo>
                  <a:pt x="371" y="41"/>
                </a:lnTo>
                <a:lnTo>
                  <a:pt x="371" y="38"/>
                </a:lnTo>
                <a:lnTo>
                  <a:pt x="371" y="34"/>
                </a:lnTo>
                <a:lnTo>
                  <a:pt x="372" y="31"/>
                </a:lnTo>
                <a:lnTo>
                  <a:pt x="372" y="28"/>
                </a:lnTo>
                <a:lnTo>
                  <a:pt x="37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40" name="Freeform 1745">
            <a:extLst>
              <a:ext uri="{FF2B5EF4-FFF2-40B4-BE49-F238E27FC236}">
                <a16:creationId xmlns:a16="http://schemas.microsoft.com/office/drawing/2014/main" id="{B7B75E43-83C4-ED4D-53AF-F9C277606262}"/>
              </a:ext>
            </a:extLst>
          </p:cNvPr>
          <p:cNvSpPr>
            <a:spLocks noEditPoints="1"/>
          </p:cNvSpPr>
          <p:nvPr/>
        </p:nvSpPr>
        <p:spPr bwMode="auto">
          <a:xfrm>
            <a:off x="2265363" y="2719388"/>
            <a:ext cx="587375" cy="80963"/>
          </a:xfrm>
          <a:custGeom>
            <a:avLst/>
            <a:gdLst>
              <a:gd name="T0" fmla="*/ 370 w 370"/>
              <a:gd name="T1" fmla="*/ 21 h 51"/>
              <a:gd name="T2" fmla="*/ 368 w 370"/>
              <a:gd name="T3" fmla="*/ 14 h 51"/>
              <a:gd name="T4" fmla="*/ 368 w 370"/>
              <a:gd name="T5" fmla="*/ 8 h 51"/>
              <a:gd name="T6" fmla="*/ 368 w 370"/>
              <a:gd name="T7" fmla="*/ 3 h 51"/>
              <a:gd name="T8" fmla="*/ 365 w 370"/>
              <a:gd name="T9" fmla="*/ 0 h 51"/>
              <a:gd name="T10" fmla="*/ 365 w 370"/>
              <a:gd name="T11" fmla="*/ 6 h 51"/>
              <a:gd name="T12" fmla="*/ 365 w 370"/>
              <a:gd name="T13" fmla="*/ 11 h 51"/>
              <a:gd name="T14" fmla="*/ 366 w 370"/>
              <a:gd name="T15" fmla="*/ 18 h 51"/>
              <a:gd name="T16" fmla="*/ 366 w 370"/>
              <a:gd name="T17" fmla="*/ 24 h 51"/>
              <a:gd name="T18" fmla="*/ 366 w 370"/>
              <a:gd name="T19" fmla="*/ 31 h 51"/>
              <a:gd name="T20" fmla="*/ 365 w 370"/>
              <a:gd name="T21" fmla="*/ 38 h 51"/>
              <a:gd name="T22" fmla="*/ 365 w 370"/>
              <a:gd name="T23" fmla="*/ 44 h 51"/>
              <a:gd name="T24" fmla="*/ 365 w 370"/>
              <a:gd name="T25" fmla="*/ 51 h 51"/>
              <a:gd name="T26" fmla="*/ 368 w 370"/>
              <a:gd name="T27" fmla="*/ 48 h 51"/>
              <a:gd name="T28" fmla="*/ 368 w 370"/>
              <a:gd name="T29" fmla="*/ 41 h 51"/>
              <a:gd name="T30" fmla="*/ 368 w 370"/>
              <a:gd name="T31" fmla="*/ 34 h 51"/>
              <a:gd name="T32" fmla="*/ 370 w 370"/>
              <a:gd name="T33" fmla="*/ 28 h 51"/>
              <a:gd name="T34" fmla="*/ 2 w 370"/>
              <a:gd name="T35" fmla="*/ 0 h 51"/>
              <a:gd name="T36" fmla="*/ 0 w 370"/>
              <a:gd name="T37" fmla="*/ 6 h 51"/>
              <a:gd name="T38" fmla="*/ 0 w 370"/>
              <a:gd name="T39" fmla="*/ 11 h 51"/>
              <a:gd name="T40" fmla="*/ 0 w 370"/>
              <a:gd name="T41" fmla="*/ 18 h 51"/>
              <a:gd name="T42" fmla="*/ 0 w 370"/>
              <a:gd name="T43" fmla="*/ 24 h 51"/>
              <a:gd name="T44" fmla="*/ 0 w 370"/>
              <a:gd name="T45" fmla="*/ 31 h 51"/>
              <a:gd name="T46" fmla="*/ 0 w 370"/>
              <a:gd name="T47" fmla="*/ 38 h 51"/>
              <a:gd name="T48" fmla="*/ 0 w 370"/>
              <a:gd name="T49" fmla="*/ 44 h 51"/>
              <a:gd name="T50" fmla="*/ 2 w 370"/>
              <a:gd name="T51" fmla="*/ 51 h 51"/>
              <a:gd name="T52" fmla="*/ 4 w 370"/>
              <a:gd name="T53" fmla="*/ 48 h 51"/>
              <a:gd name="T54" fmla="*/ 4 w 370"/>
              <a:gd name="T55" fmla="*/ 41 h 51"/>
              <a:gd name="T56" fmla="*/ 4 w 370"/>
              <a:gd name="T57" fmla="*/ 34 h 51"/>
              <a:gd name="T58" fmla="*/ 4 w 370"/>
              <a:gd name="T59" fmla="*/ 28 h 51"/>
              <a:gd name="T60" fmla="*/ 4 w 370"/>
              <a:gd name="T61" fmla="*/ 21 h 51"/>
              <a:gd name="T62" fmla="*/ 4 w 370"/>
              <a:gd name="T63" fmla="*/ 14 h 51"/>
              <a:gd name="T64" fmla="*/ 4 w 370"/>
              <a:gd name="T65" fmla="*/ 8 h 51"/>
              <a:gd name="T66" fmla="*/ 4 w 370"/>
              <a:gd name="T67" fmla="*/ 3 h 51"/>
              <a:gd name="T68" fmla="*/ 2 w 37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70" h="51">
                <a:moveTo>
                  <a:pt x="370" y="24"/>
                </a:moveTo>
                <a:lnTo>
                  <a:pt x="370" y="21"/>
                </a:lnTo>
                <a:lnTo>
                  <a:pt x="370" y="18"/>
                </a:lnTo>
                <a:lnTo>
                  <a:pt x="368" y="14"/>
                </a:lnTo>
                <a:lnTo>
                  <a:pt x="368" y="11"/>
                </a:lnTo>
                <a:lnTo>
                  <a:pt x="368" y="8"/>
                </a:lnTo>
                <a:lnTo>
                  <a:pt x="368" y="6"/>
                </a:lnTo>
                <a:lnTo>
                  <a:pt x="368" y="3"/>
                </a:lnTo>
                <a:lnTo>
                  <a:pt x="368" y="0"/>
                </a:lnTo>
                <a:lnTo>
                  <a:pt x="365" y="0"/>
                </a:lnTo>
                <a:lnTo>
                  <a:pt x="365" y="3"/>
                </a:lnTo>
                <a:lnTo>
                  <a:pt x="365" y="6"/>
                </a:lnTo>
                <a:lnTo>
                  <a:pt x="365" y="8"/>
                </a:lnTo>
                <a:lnTo>
                  <a:pt x="365" y="11"/>
                </a:lnTo>
                <a:lnTo>
                  <a:pt x="365" y="14"/>
                </a:lnTo>
                <a:lnTo>
                  <a:pt x="366" y="18"/>
                </a:lnTo>
                <a:lnTo>
                  <a:pt x="366" y="21"/>
                </a:lnTo>
                <a:lnTo>
                  <a:pt x="366" y="24"/>
                </a:lnTo>
                <a:lnTo>
                  <a:pt x="366" y="28"/>
                </a:lnTo>
                <a:lnTo>
                  <a:pt x="366" y="31"/>
                </a:lnTo>
                <a:lnTo>
                  <a:pt x="365" y="34"/>
                </a:lnTo>
                <a:lnTo>
                  <a:pt x="365" y="38"/>
                </a:lnTo>
                <a:lnTo>
                  <a:pt x="365" y="41"/>
                </a:lnTo>
                <a:lnTo>
                  <a:pt x="365" y="44"/>
                </a:lnTo>
                <a:lnTo>
                  <a:pt x="365" y="48"/>
                </a:lnTo>
                <a:lnTo>
                  <a:pt x="365" y="51"/>
                </a:lnTo>
                <a:lnTo>
                  <a:pt x="368" y="51"/>
                </a:lnTo>
                <a:lnTo>
                  <a:pt x="368" y="48"/>
                </a:lnTo>
                <a:lnTo>
                  <a:pt x="368" y="44"/>
                </a:lnTo>
                <a:lnTo>
                  <a:pt x="368" y="41"/>
                </a:lnTo>
                <a:lnTo>
                  <a:pt x="368" y="38"/>
                </a:lnTo>
                <a:lnTo>
                  <a:pt x="368" y="34"/>
                </a:lnTo>
                <a:lnTo>
                  <a:pt x="370" y="31"/>
                </a:lnTo>
                <a:lnTo>
                  <a:pt x="370" y="28"/>
                </a:lnTo>
                <a:lnTo>
                  <a:pt x="37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41" name="Freeform 1746">
            <a:extLst>
              <a:ext uri="{FF2B5EF4-FFF2-40B4-BE49-F238E27FC236}">
                <a16:creationId xmlns:a16="http://schemas.microsoft.com/office/drawing/2014/main" id="{36380268-7F0D-019E-B688-846BDA3C1DEA}"/>
              </a:ext>
            </a:extLst>
          </p:cNvPr>
          <p:cNvSpPr>
            <a:spLocks noEditPoints="1"/>
          </p:cNvSpPr>
          <p:nvPr/>
        </p:nvSpPr>
        <p:spPr bwMode="auto">
          <a:xfrm>
            <a:off x="2268538" y="2719388"/>
            <a:ext cx="581025" cy="80963"/>
          </a:xfrm>
          <a:custGeom>
            <a:avLst/>
            <a:gdLst>
              <a:gd name="T0" fmla="*/ 366 w 366"/>
              <a:gd name="T1" fmla="*/ 21 h 51"/>
              <a:gd name="T2" fmla="*/ 364 w 366"/>
              <a:gd name="T3" fmla="*/ 14 h 51"/>
              <a:gd name="T4" fmla="*/ 364 w 366"/>
              <a:gd name="T5" fmla="*/ 8 h 51"/>
              <a:gd name="T6" fmla="*/ 364 w 366"/>
              <a:gd name="T7" fmla="*/ 3 h 51"/>
              <a:gd name="T8" fmla="*/ 359 w 366"/>
              <a:gd name="T9" fmla="*/ 0 h 51"/>
              <a:gd name="T10" fmla="*/ 361 w 366"/>
              <a:gd name="T11" fmla="*/ 6 h 51"/>
              <a:gd name="T12" fmla="*/ 361 w 366"/>
              <a:gd name="T13" fmla="*/ 11 h 51"/>
              <a:gd name="T14" fmla="*/ 363 w 366"/>
              <a:gd name="T15" fmla="*/ 18 h 51"/>
              <a:gd name="T16" fmla="*/ 363 w 366"/>
              <a:gd name="T17" fmla="*/ 24 h 51"/>
              <a:gd name="T18" fmla="*/ 363 w 366"/>
              <a:gd name="T19" fmla="*/ 31 h 51"/>
              <a:gd name="T20" fmla="*/ 361 w 366"/>
              <a:gd name="T21" fmla="*/ 38 h 51"/>
              <a:gd name="T22" fmla="*/ 361 w 366"/>
              <a:gd name="T23" fmla="*/ 44 h 51"/>
              <a:gd name="T24" fmla="*/ 361 w 366"/>
              <a:gd name="T25" fmla="*/ 51 h 51"/>
              <a:gd name="T26" fmla="*/ 364 w 366"/>
              <a:gd name="T27" fmla="*/ 48 h 51"/>
              <a:gd name="T28" fmla="*/ 364 w 366"/>
              <a:gd name="T29" fmla="*/ 41 h 51"/>
              <a:gd name="T30" fmla="*/ 364 w 366"/>
              <a:gd name="T31" fmla="*/ 34 h 51"/>
              <a:gd name="T32" fmla="*/ 366 w 366"/>
              <a:gd name="T33" fmla="*/ 28 h 51"/>
              <a:gd name="T34" fmla="*/ 2 w 366"/>
              <a:gd name="T35" fmla="*/ 0 h 51"/>
              <a:gd name="T36" fmla="*/ 0 w 366"/>
              <a:gd name="T37" fmla="*/ 6 h 51"/>
              <a:gd name="T38" fmla="*/ 0 w 366"/>
              <a:gd name="T39" fmla="*/ 11 h 51"/>
              <a:gd name="T40" fmla="*/ 0 w 366"/>
              <a:gd name="T41" fmla="*/ 18 h 51"/>
              <a:gd name="T42" fmla="*/ 0 w 366"/>
              <a:gd name="T43" fmla="*/ 24 h 51"/>
              <a:gd name="T44" fmla="*/ 0 w 366"/>
              <a:gd name="T45" fmla="*/ 31 h 51"/>
              <a:gd name="T46" fmla="*/ 0 w 366"/>
              <a:gd name="T47" fmla="*/ 38 h 51"/>
              <a:gd name="T48" fmla="*/ 0 w 366"/>
              <a:gd name="T49" fmla="*/ 44 h 51"/>
              <a:gd name="T50" fmla="*/ 2 w 366"/>
              <a:gd name="T51" fmla="*/ 51 h 51"/>
              <a:gd name="T52" fmla="*/ 3 w 366"/>
              <a:gd name="T53" fmla="*/ 48 h 51"/>
              <a:gd name="T54" fmla="*/ 3 w 366"/>
              <a:gd name="T55" fmla="*/ 41 h 51"/>
              <a:gd name="T56" fmla="*/ 3 w 366"/>
              <a:gd name="T57" fmla="*/ 34 h 51"/>
              <a:gd name="T58" fmla="*/ 3 w 366"/>
              <a:gd name="T59" fmla="*/ 28 h 51"/>
              <a:gd name="T60" fmla="*/ 3 w 366"/>
              <a:gd name="T61" fmla="*/ 21 h 51"/>
              <a:gd name="T62" fmla="*/ 3 w 366"/>
              <a:gd name="T63" fmla="*/ 14 h 51"/>
              <a:gd name="T64" fmla="*/ 3 w 366"/>
              <a:gd name="T65" fmla="*/ 8 h 51"/>
              <a:gd name="T66" fmla="*/ 3 w 366"/>
              <a:gd name="T67" fmla="*/ 3 h 51"/>
              <a:gd name="T68" fmla="*/ 2 w 3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6" h="51">
                <a:moveTo>
                  <a:pt x="366" y="24"/>
                </a:moveTo>
                <a:lnTo>
                  <a:pt x="366" y="21"/>
                </a:lnTo>
                <a:lnTo>
                  <a:pt x="366" y="18"/>
                </a:lnTo>
                <a:lnTo>
                  <a:pt x="364" y="14"/>
                </a:lnTo>
                <a:lnTo>
                  <a:pt x="364" y="11"/>
                </a:lnTo>
                <a:lnTo>
                  <a:pt x="364" y="8"/>
                </a:lnTo>
                <a:lnTo>
                  <a:pt x="364" y="6"/>
                </a:lnTo>
                <a:lnTo>
                  <a:pt x="364" y="3"/>
                </a:lnTo>
                <a:lnTo>
                  <a:pt x="364" y="0"/>
                </a:lnTo>
                <a:lnTo>
                  <a:pt x="359" y="0"/>
                </a:lnTo>
                <a:lnTo>
                  <a:pt x="361" y="3"/>
                </a:lnTo>
                <a:lnTo>
                  <a:pt x="361" y="6"/>
                </a:lnTo>
                <a:lnTo>
                  <a:pt x="361" y="8"/>
                </a:lnTo>
                <a:lnTo>
                  <a:pt x="361" y="11"/>
                </a:lnTo>
                <a:lnTo>
                  <a:pt x="361" y="14"/>
                </a:lnTo>
                <a:lnTo>
                  <a:pt x="363" y="18"/>
                </a:lnTo>
                <a:lnTo>
                  <a:pt x="363" y="21"/>
                </a:lnTo>
                <a:lnTo>
                  <a:pt x="363" y="24"/>
                </a:lnTo>
                <a:lnTo>
                  <a:pt x="363" y="28"/>
                </a:lnTo>
                <a:lnTo>
                  <a:pt x="363" y="31"/>
                </a:lnTo>
                <a:lnTo>
                  <a:pt x="361" y="34"/>
                </a:lnTo>
                <a:lnTo>
                  <a:pt x="361" y="38"/>
                </a:lnTo>
                <a:lnTo>
                  <a:pt x="361" y="41"/>
                </a:lnTo>
                <a:lnTo>
                  <a:pt x="361" y="44"/>
                </a:lnTo>
                <a:lnTo>
                  <a:pt x="361" y="48"/>
                </a:lnTo>
                <a:lnTo>
                  <a:pt x="361" y="51"/>
                </a:lnTo>
                <a:lnTo>
                  <a:pt x="364" y="51"/>
                </a:lnTo>
                <a:lnTo>
                  <a:pt x="364" y="48"/>
                </a:lnTo>
                <a:lnTo>
                  <a:pt x="364" y="44"/>
                </a:lnTo>
                <a:lnTo>
                  <a:pt x="364" y="41"/>
                </a:lnTo>
                <a:lnTo>
                  <a:pt x="364" y="38"/>
                </a:lnTo>
                <a:lnTo>
                  <a:pt x="364" y="34"/>
                </a:lnTo>
                <a:lnTo>
                  <a:pt x="366" y="31"/>
                </a:lnTo>
                <a:lnTo>
                  <a:pt x="366" y="28"/>
                </a:lnTo>
                <a:lnTo>
                  <a:pt x="36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42" name="Freeform 1747">
            <a:extLst>
              <a:ext uri="{FF2B5EF4-FFF2-40B4-BE49-F238E27FC236}">
                <a16:creationId xmlns:a16="http://schemas.microsoft.com/office/drawing/2014/main" id="{1356CA5D-83BF-8505-BDA4-5B6AEBE36C21}"/>
              </a:ext>
            </a:extLst>
          </p:cNvPr>
          <p:cNvSpPr>
            <a:spLocks noEditPoints="1"/>
          </p:cNvSpPr>
          <p:nvPr/>
        </p:nvSpPr>
        <p:spPr bwMode="auto">
          <a:xfrm>
            <a:off x="2271713" y="2719388"/>
            <a:ext cx="574675" cy="80963"/>
          </a:xfrm>
          <a:custGeom>
            <a:avLst/>
            <a:gdLst>
              <a:gd name="T0" fmla="*/ 362 w 362"/>
              <a:gd name="T1" fmla="*/ 21 h 51"/>
              <a:gd name="T2" fmla="*/ 361 w 362"/>
              <a:gd name="T3" fmla="*/ 14 h 51"/>
              <a:gd name="T4" fmla="*/ 361 w 362"/>
              <a:gd name="T5" fmla="*/ 8 h 51"/>
              <a:gd name="T6" fmla="*/ 361 w 362"/>
              <a:gd name="T7" fmla="*/ 3 h 51"/>
              <a:gd name="T8" fmla="*/ 356 w 362"/>
              <a:gd name="T9" fmla="*/ 0 h 51"/>
              <a:gd name="T10" fmla="*/ 357 w 362"/>
              <a:gd name="T11" fmla="*/ 6 h 51"/>
              <a:gd name="T12" fmla="*/ 357 w 362"/>
              <a:gd name="T13" fmla="*/ 11 h 51"/>
              <a:gd name="T14" fmla="*/ 359 w 362"/>
              <a:gd name="T15" fmla="*/ 18 h 51"/>
              <a:gd name="T16" fmla="*/ 359 w 362"/>
              <a:gd name="T17" fmla="*/ 24 h 51"/>
              <a:gd name="T18" fmla="*/ 359 w 362"/>
              <a:gd name="T19" fmla="*/ 31 h 51"/>
              <a:gd name="T20" fmla="*/ 357 w 362"/>
              <a:gd name="T21" fmla="*/ 38 h 51"/>
              <a:gd name="T22" fmla="*/ 357 w 362"/>
              <a:gd name="T23" fmla="*/ 44 h 51"/>
              <a:gd name="T24" fmla="*/ 357 w 362"/>
              <a:gd name="T25" fmla="*/ 51 h 51"/>
              <a:gd name="T26" fmla="*/ 361 w 362"/>
              <a:gd name="T27" fmla="*/ 48 h 51"/>
              <a:gd name="T28" fmla="*/ 361 w 362"/>
              <a:gd name="T29" fmla="*/ 41 h 51"/>
              <a:gd name="T30" fmla="*/ 361 w 362"/>
              <a:gd name="T31" fmla="*/ 34 h 51"/>
              <a:gd name="T32" fmla="*/ 362 w 362"/>
              <a:gd name="T33" fmla="*/ 28 h 51"/>
              <a:gd name="T34" fmla="*/ 1 w 362"/>
              <a:gd name="T35" fmla="*/ 0 h 51"/>
              <a:gd name="T36" fmla="*/ 0 w 362"/>
              <a:gd name="T37" fmla="*/ 6 h 51"/>
              <a:gd name="T38" fmla="*/ 0 w 362"/>
              <a:gd name="T39" fmla="*/ 11 h 51"/>
              <a:gd name="T40" fmla="*/ 0 w 362"/>
              <a:gd name="T41" fmla="*/ 18 h 51"/>
              <a:gd name="T42" fmla="*/ 0 w 362"/>
              <a:gd name="T43" fmla="*/ 24 h 51"/>
              <a:gd name="T44" fmla="*/ 0 w 362"/>
              <a:gd name="T45" fmla="*/ 31 h 51"/>
              <a:gd name="T46" fmla="*/ 0 w 362"/>
              <a:gd name="T47" fmla="*/ 38 h 51"/>
              <a:gd name="T48" fmla="*/ 0 w 362"/>
              <a:gd name="T49" fmla="*/ 44 h 51"/>
              <a:gd name="T50" fmla="*/ 1 w 362"/>
              <a:gd name="T51" fmla="*/ 51 h 51"/>
              <a:gd name="T52" fmla="*/ 3 w 362"/>
              <a:gd name="T53" fmla="*/ 48 h 51"/>
              <a:gd name="T54" fmla="*/ 3 w 362"/>
              <a:gd name="T55" fmla="*/ 41 h 51"/>
              <a:gd name="T56" fmla="*/ 3 w 362"/>
              <a:gd name="T57" fmla="*/ 34 h 51"/>
              <a:gd name="T58" fmla="*/ 3 w 362"/>
              <a:gd name="T59" fmla="*/ 28 h 51"/>
              <a:gd name="T60" fmla="*/ 3 w 362"/>
              <a:gd name="T61" fmla="*/ 21 h 51"/>
              <a:gd name="T62" fmla="*/ 3 w 362"/>
              <a:gd name="T63" fmla="*/ 14 h 51"/>
              <a:gd name="T64" fmla="*/ 3 w 362"/>
              <a:gd name="T65" fmla="*/ 8 h 51"/>
              <a:gd name="T66" fmla="*/ 3 w 362"/>
              <a:gd name="T67" fmla="*/ 3 h 51"/>
              <a:gd name="T68" fmla="*/ 1 w 3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2" h="51">
                <a:moveTo>
                  <a:pt x="362" y="24"/>
                </a:moveTo>
                <a:lnTo>
                  <a:pt x="362" y="21"/>
                </a:lnTo>
                <a:lnTo>
                  <a:pt x="362" y="18"/>
                </a:lnTo>
                <a:lnTo>
                  <a:pt x="361" y="14"/>
                </a:lnTo>
                <a:lnTo>
                  <a:pt x="361" y="11"/>
                </a:lnTo>
                <a:lnTo>
                  <a:pt x="361" y="8"/>
                </a:lnTo>
                <a:lnTo>
                  <a:pt x="361" y="6"/>
                </a:lnTo>
                <a:lnTo>
                  <a:pt x="361" y="3"/>
                </a:lnTo>
                <a:lnTo>
                  <a:pt x="361" y="0"/>
                </a:lnTo>
                <a:lnTo>
                  <a:pt x="356" y="0"/>
                </a:lnTo>
                <a:lnTo>
                  <a:pt x="357" y="3"/>
                </a:lnTo>
                <a:lnTo>
                  <a:pt x="357" y="6"/>
                </a:lnTo>
                <a:lnTo>
                  <a:pt x="357" y="8"/>
                </a:lnTo>
                <a:lnTo>
                  <a:pt x="357" y="11"/>
                </a:lnTo>
                <a:lnTo>
                  <a:pt x="357" y="14"/>
                </a:lnTo>
                <a:lnTo>
                  <a:pt x="359" y="18"/>
                </a:lnTo>
                <a:lnTo>
                  <a:pt x="359" y="21"/>
                </a:lnTo>
                <a:lnTo>
                  <a:pt x="359" y="24"/>
                </a:lnTo>
                <a:lnTo>
                  <a:pt x="359" y="28"/>
                </a:lnTo>
                <a:lnTo>
                  <a:pt x="359" y="31"/>
                </a:lnTo>
                <a:lnTo>
                  <a:pt x="357" y="34"/>
                </a:lnTo>
                <a:lnTo>
                  <a:pt x="357" y="38"/>
                </a:lnTo>
                <a:lnTo>
                  <a:pt x="357" y="41"/>
                </a:lnTo>
                <a:lnTo>
                  <a:pt x="357" y="44"/>
                </a:lnTo>
                <a:lnTo>
                  <a:pt x="357" y="48"/>
                </a:lnTo>
                <a:lnTo>
                  <a:pt x="357" y="51"/>
                </a:lnTo>
                <a:lnTo>
                  <a:pt x="361" y="51"/>
                </a:lnTo>
                <a:lnTo>
                  <a:pt x="361" y="48"/>
                </a:lnTo>
                <a:lnTo>
                  <a:pt x="361" y="44"/>
                </a:lnTo>
                <a:lnTo>
                  <a:pt x="361" y="41"/>
                </a:lnTo>
                <a:lnTo>
                  <a:pt x="361" y="38"/>
                </a:lnTo>
                <a:lnTo>
                  <a:pt x="361" y="34"/>
                </a:lnTo>
                <a:lnTo>
                  <a:pt x="362" y="31"/>
                </a:lnTo>
                <a:lnTo>
                  <a:pt x="362" y="28"/>
                </a:lnTo>
                <a:lnTo>
                  <a:pt x="36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43" name="Freeform 1748">
            <a:extLst>
              <a:ext uri="{FF2B5EF4-FFF2-40B4-BE49-F238E27FC236}">
                <a16:creationId xmlns:a16="http://schemas.microsoft.com/office/drawing/2014/main" id="{84F47EFB-39DB-76D5-3889-411ECFA0403E}"/>
              </a:ext>
            </a:extLst>
          </p:cNvPr>
          <p:cNvSpPr>
            <a:spLocks noEditPoints="1"/>
          </p:cNvSpPr>
          <p:nvPr/>
        </p:nvSpPr>
        <p:spPr bwMode="auto">
          <a:xfrm>
            <a:off x="2273300" y="2719388"/>
            <a:ext cx="571500" cy="80963"/>
          </a:xfrm>
          <a:custGeom>
            <a:avLst/>
            <a:gdLst>
              <a:gd name="T0" fmla="*/ 360 w 360"/>
              <a:gd name="T1" fmla="*/ 21 h 51"/>
              <a:gd name="T2" fmla="*/ 358 w 360"/>
              <a:gd name="T3" fmla="*/ 14 h 51"/>
              <a:gd name="T4" fmla="*/ 358 w 360"/>
              <a:gd name="T5" fmla="*/ 8 h 51"/>
              <a:gd name="T6" fmla="*/ 358 w 360"/>
              <a:gd name="T7" fmla="*/ 3 h 51"/>
              <a:gd name="T8" fmla="*/ 353 w 360"/>
              <a:gd name="T9" fmla="*/ 0 h 51"/>
              <a:gd name="T10" fmla="*/ 355 w 360"/>
              <a:gd name="T11" fmla="*/ 6 h 51"/>
              <a:gd name="T12" fmla="*/ 355 w 360"/>
              <a:gd name="T13" fmla="*/ 11 h 51"/>
              <a:gd name="T14" fmla="*/ 356 w 360"/>
              <a:gd name="T15" fmla="*/ 18 h 51"/>
              <a:gd name="T16" fmla="*/ 356 w 360"/>
              <a:gd name="T17" fmla="*/ 24 h 51"/>
              <a:gd name="T18" fmla="*/ 356 w 360"/>
              <a:gd name="T19" fmla="*/ 31 h 51"/>
              <a:gd name="T20" fmla="*/ 355 w 360"/>
              <a:gd name="T21" fmla="*/ 38 h 51"/>
              <a:gd name="T22" fmla="*/ 355 w 360"/>
              <a:gd name="T23" fmla="*/ 44 h 51"/>
              <a:gd name="T24" fmla="*/ 355 w 360"/>
              <a:gd name="T25" fmla="*/ 51 h 51"/>
              <a:gd name="T26" fmla="*/ 358 w 360"/>
              <a:gd name="T27" fmla="*/ 48 h 51"/>
              <a:gd name="T28" fmla="*/ 358 w 360"/>
              <a:gd name="T29" fmla="*/ 41 h 51"/>
              <a:gd name="T30" fmla="*/ 358 w 360"/>
              <a:gd name="T31" fmla="*/ 34 h 51"/>
              <a:gd name="T32" fmla="*/ 360 w 360"/>
              <a:gd name="T33" fmla="*/ 28 h 51"/>
              <a:gd name="T34" fmla="*/ 2 w 360"/>
              <a:gd name="T35" fmla="*/ 0 h 51"/>
              <a:gd name="T36" fmla="*/ 0 w 360"/>
              <a:gd name="T37" fmla="*/ 6 h 51"/>
              <a:gd name="T38" fmla="*/ 0 w 360"/>
              <a:gd name="T39" fmla="*/ 11 h 51"/>
              <a:gd name="T40" fmla="*/ 0 w 360"/>
              <a:gd name="T41" fmla="*/ 18 h 51"/>
              <a:gd name="T42" fmla="*/ 0 w 360"/>
              <a:gd name="T43" fmla="*/ 24 h 51"/>
              <a:gd name="T44" fmla="*/ 0 w 360"/>
              <a:gd name="T45" fmla="*/ 31 h 51"/>
              <a:gd name="T46" fmla="*/ 0 w 360"/>
              <a:gd name="T47" fmla="*/ 38 h 51"/>
              <a:gd name="T48" fmla="*/ 0 w 360"/>
              <a:gd name="T49" fmla="*/ 44 h 51"/>
              <a:gd name="T50" fmla="*/ 2 w 360"/>
              <a:gd name="T51" fmla="*/ 51 h 51"/>
              <a:gd name="T52" fmla="*/ 4 w 360"/>
              <a:gd name="T53" fmla="*/ 48 h 51"/>
              <a:gd name="T54" fmla="*/ 4 w 360"/>
              <a:gd name="T55" fmla="*/ 41 h 51"/>
              <a:gd name="T56" fmla="*/ 4 w 360"/>
              <a:gd name="T57" fmla="*/ 34 h 51"/>
              <a:gd name="T58" fmla="*/ 4 w 360"/>
              <a:gd name="T59" fmla="*/ 28 h 51"/>
              <a:gd name="T60" fmla="*/ 4 w 360"/>
              <a:gd name="T61" fmla="*/ 21 h 51"/>
              <a:gd name="T62" fmla="*/ 4 w 360"/>
              <a:gd name="T63" fmla="*/ 14 h 51"/>
              <a:gd name="T64" fmla="*/ 4 w 360"/>
              <a:gd name="T65" fmla="*/ 8 h 51"/>
              <a:gd name="T66" fmla="*/ 4 w 360"/>
              <a:gd name="T67" fmla="*/ 3 h 51"/>
              <a:gd name="T68" fmla="*/ 2 w 36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0" h="51">
                <a:moveTo>
                  <a:pt x="360" y="24"/>
                </a:moveTo>
                <a:lnTo>
                  <a:pt x="360" y="21"/>
                </a:lnTo>
                <a:lnTo>
                  <a:pt x="360" y="18"/>
                </a:lnTo>
                <a:lnTo>
                  <a:pt x="358" y="14"/>
                </a:lnTo>
                <a:lnTo>
                  <a:pt x="358" y="11"/>
                </a:lnTo>
                <a:lnTo>
                  <a:pt x="358" y="8"/>
                </a:lnTo>
                <a:lnTo>
                  <a:pt x="358" y="6"/>
                </a:lnTo>
                <a:lnTo>
                  <a:pt x="358" y="3"/>
                </a:lnTo>
                <a:lnTo>
                  <a:pt x="356" y="0"/>
                </a:lnTo>
                <a:lnTo>
                  <a:pt x="353" y="0"/>
                </a:lnTo>
                <a:lnTo>
                  <a:pt x="355" y="3"/>
                </a:lnTo>
                <a:lnTo>
                  <a:pt x="355" y="6"/>
                </a:lnTo>
                <a:lnTo>
                  <a:pt x="355" y="8"/>
                </a:lnTo>
                <a:lnTo>
                  <a:pt x="355" y="11"/>
                </a:lnTo>
                <a:lnTo>
                  <a:pt x="355" y="14"/>
                </a:lnTo>
                <a:lnTo>
                  <a:pt x="356" y="18"/>
                </a:lnTo>
                <a:lnTo>
                  <a:pt x="356" y="21"/>
                </a:lnTo>
                <a:lnTo>
                  <a:pt x="356" y="24"/>
                </a:lnTo>
                <a:lnTo>
                  <a:pt x="356" y="28"/>
                </a:lnTo>
                <a:lnTo>
                  <a:pt x="356" y="31"/>
                </a:lnTo>
                <a:lnTo>
                  <a:pt x="355" y="34"/>
                </a:lnTo>
                <a:lnTo>
                  <a:pt x="355" y="38"/>
                </a:lnTo>
                <a:lnTo>
                  <a:pt x="355" y="41"/>
                </a:lnTo>
                <a:lnTo>
                  <a:pt x="355" y="44"/>
                </a:lnTo>
                <a:lnTo>
                  <a:pt x="355" y="48"/>
                </a:lnTo>
                <a:lnTo>
                  <a:pt x="355" y="51"/>
                </a:lnTo>
                <a:lnTo>
                  <a:pt x="358" y="51"/>
                </a:lnTo>
                <a:lnTo>
                  <a:pt x="358" y="48"/>
                </a:lnTo>
                <a:lnTo>
                  <a:pt x="358" y="44"/>
                </a:lnTo>
                <a:lnTo>
                  <a:pt x="358" y="41"/>
                </a:lnTo>
                <a:lnTo>
                  <a:pt x="358" y="38"/>
                </a:lnTo>
                <a:lnTo>
                  <a:pt x="358" y="34"/>
                </a:lnTo>
                <a:lnTo>
                  <a:pt x="360" y="31"/>
                </a:lnTo>
                <a:lnTo>
                  <a:pt x="360" y="28"/>
                </a:lnTo>
                <a:lnTo>
                  <a:pt x="36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44" name="Freeform 1749">
            <a:extLst>
              <a:ext uri="{FF2B5EF4-FFF2-40B4-BE49-F238E27FC236}">
                <a16:creationId xmlns:a16="http://schemas.microsoft.com/office/drawing/2014/main" id="{658ACE77-E00C-5DA7-37FA-04697C6BC4CB}"/>
              </a:ext>
            </a:extLst>
          </p:cNvPr>
          <p:cNvSpPr>
            <a:spLocks noEditPoints="1"/>
          </p:cNvSpPr>
          <p:nvPr/>
        </p:nvSpPr>
        <p:spPr bwMode="auto">
          <a:xfrm>
            <a:off x="2276475" y="2719388"/>
            <a:ext cx="565150" cy="80963"/>
          </a:xfrm>
          <a:custGeom>
            <a:avLst/>
            <a:gdLst>
              <a:gd name="T0" fmla="*/ 356 w 356"/>
              <a:gd name="T1" fmla="*/ 21 h 51"/>
              <a:gd name="T2" fmla="*/ 354 w 356"/>
              <a:gd name="T3" fmla="*/ 14 h 51"/>
              <a:gd name="T4" fmla="*/ 354 w 356"/>
              <a:gd name="T5" fmla="*/ 8 h 51"/>
              <a:gd name="T6" fmla="*/ 354 w 356"/>
              <a:gd name="T7" fmla="*/ 3 h 51"/>
              <a:gd name="T8" fmla="*/ 349 w 356"/>
              <a:gd name="T9" fmla="*/ 0 h 51"/>
              <a:gd name="T10" fmla="*/ 351 w 356"/>
              <a:gd name="T11" fmla="*/ 6 h 51"/>
              <a:gd name="T12" fmla="*/ 351 w 356"/>
              <a:gd name="T13" fmla="*/ 11 h 51"/>
              <a:gd name="T14" fmla="*/ 353 w 356"/>
              <a:gd name="T15" fmla="*/ 18 h 51"/>
              <a:gd name="T16" fmla="*/ 353 w 356"/>
              <a:gd name="T17" fmla="*/ 24 h 51"/>
              <a:gd name="T18" fmla="*/ 353 w 356"/>
              <a:gd name="T19" fmla="*/ 31 h 51"/>
              <a:gd name="T20" fmla="*/ 351 w 356"/>
              <a:gd name="T21" fmla="*/ 38 h 51"/>
              <a:gd name="T22" fmla="*/ 351 w 356"/>
              <a:gd name="T23" fmla="*/ 44 h 51"/>
              <a:gd name="T24" fmla="*/ 351 w 356"/>
              <a:gd name="T25" fmla="*/ 51 h 51"/>
              <a:gd name="T26" fmla="*/ 354 w 356"/>
              <a:gd name="T27" fmla="*/ 48 h 51"/>
              <a:gd name="T28" fmla="*/ 354 w 356"/>
              <a:gd name="T29" fmla="*/ 41 h 51"/>
              <a:gd name="T30" fmla="*/ 354 w 356"/>
              <a:gd name="T31" fmla="*/ 34 h 51"/>
              <a:gd name="T32" fmla="*/ 356 w 356"/>
              <a:gd name="T33" fmla="*/ 28 h 51"/>
              <a:gd name="T34" fmla="*/ 2 w 356"/>
              <a:gd name="T35" fmla="*/ 0 h 51"/>
              <a:gd name="T36" fmla="*/ 0 w 356"/>
              <a:gd name="T37" fmla="*/ 6 h 51"/>
              <a:gd name="T38" fmla="*/ 0 w 356"/>
              <a:gd name="T39" fmla="*/ 11 h 51"/>
              <a:gd name="T40" fmla="*/ 0 w 356"/>
              <a:gd name="T41" fmla="*/ 18 h 51"/>
              <a:gd name="T42" fmla="*/ 0 w 356"/>
              <a:gd name="T43" fmla="*/ 24 h 51"/>
              <a:gd name="T44" fmla="*/ 0 w 356"/>
              <a:gd name="T45" fmla="*/ 31 h 51"/>
              <a:gd name="T46" fmla="*/ 0 w 356"/>
              <a:gd name="T47" fmla="*/ 38 h 51"/>
              <a:gd name="T48" fmla="*/ 0 w 356"/>
              <a:gd name="T49" fmla="*/ 44 h 51"/>
              <a:gd name="T50" fmla="*/ 2 w 356"/>
              <a:gd name="T51" fmla="*/ 51 h 51"/>
              <a:gd name="T52" fmla="*/ 3 w 356"/>
              <a:gd name="T53" fmla="*/ 48 h 51"/>
              <a:gd name="T54" fmla="*/ 3 w 356"/>
              <a:gd name="T55" fmla="*/ 41 h 51"/>
              <a:gd name="T56" fmla="*/ 3 w 356"/>
              <a:gd name="T57" fmla="*/ 34 h 51"/>
              <a:gd name="T58" fmla="*/ 3 w 356"/>
              <a:gd name="T59" fmla="*/ 28 h 51"/>
              <a:gd name="T60" fmla="*/ 3 w 356"/>
              <a:gd name="T61" fmla="*/ 21 h 51"/>
              <a:gd name="T62" fmla="*/ 3 w 356"/>
              <a:gd name="T63" fmla="*/ 14 h 51"/>
              <a:gd name="T64" fmla="*/ 3 w 356"/>
              <a:gd name="T65" fmla="*/ 8 h 51"/>
              <a:gd name="T66" fmla="*/ 3 w 356"/>
              <a:gd name="T67" fmla="*/ 3 h 51"/>
              <a:gd name="T68" fmla="*/ 2 w 3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6" h="51">
                <a:moveTo>
                  <a:pt x="356" y="24"/>
                </a:moveTo>
                <a:lnTo>
                  <a:pt x="356" y="21"/>
                </a:lnTo>
                <a:lnTo>
                  <a:pt x="356" y="18"/>
                </a:lnTo>
                <a:lnTo>
                  <a:pt x="354" y="14"/>
                </a:lnTo>
                <a:lnTo>
                  <a:pt x="354" y="11"/>
                </a:lnTo>
                <a:lnTo>
                  <a:pt x="354" y="8"/>
                </a:lnTo>
                <a:lnTo>
                  <a:pt x="354" y="6"/>
                </a:lnTo>
                <a:lnTo>
                  <a:pt x="354" y="3"/>
                </a:lnTo>
                <a:lnTo>
                  <a:pt x="353" y="0"/>
                </a:lnTo>
                <a:lnTo>
                  <a:pt x="349" y="0"/>
                </a:lnTo>
                <a:lnTo>
                  <a:pt x="351" y="3"/>
                </a:lnTo>
                <a:lnTo>
                  <a:pt x="351" y="6"/>
                </a:lnTo>
                <a:lnTo>
                  <a:pt x="351" y="8"/>
                </a:lnTo>
                <a:lnTo>
                  <a:pt x="351" y="11"/>
                </a:lnTo>
                <a:lnTo>
                  <a:pt x="351" y="14"/>
                </a:lnTo>
                <a:lnTo>
                  <a:pt x="353" y="18"/>
                </a:lnTo>
                <a:lnTo>
                  <a:pt x="353" y="21"/>
                </a:lnTo>
                <a:lnTo>
                  <a:pt x="353" y="24"/>
                </a:lnTo>
                <a:lnTo>
                  <a:pt x="353" y="28"/>
                </a:lnTo>
                <a:lnTo>
                  <a:pt x="353" y="31"/>
                </a:lnTo>
                <a:lnTo>
                  <a:pt x="351" y="34"/>
                </a:lnTo>
                <a:lnTo>
                  <a:pt x="351" y="38"/>
                </a:lnTo>
                <a:lnTo>
                  <a:pt x="351" y="41"/>
                </a:lnTo>
                <a:lnTo>
                  <a:pt x="351" y="44"/>
                </a:lnTo>
                <a:lnTo>
                  <a:pt x="351" y="48"/>
                </a:lnTo>
                <a:lnTo>
                  <a:pt x="351" y="51"/>
                </a:lnTo>
                <a:lnTo>
                  <a:pt x="354" y="51"/>
                </a:lnTo>
                <a:lnTo>
                  <a:pt x="354" y="48"/>
                </a:lnTo>
                <a:lnTo>
                  <a:pt x="354" y="44"/>
                </a:lnTo>
                <a:lnTo>
                  <a:pt x="354" y="41"/>
                </a:lnTo>
                <a:lnTo>
                  <a:pt x="354" y="38"/>
                </a:lnTo>
                <a:lnTo>
                  <a:pt x="354" y="34"/>
                </a:lnTo>
                <a:lnTo>
                  <a:pt x="356" y="31"/>
                </a:lnTo>
                <a:lnTo>
                  <a:pt x="356" y="28"/>
                </a:lnTo>
                <a:lnTo>
                  <a:pt x="35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45" name="Freeform 1750">
            <a:extLst>
              <a:ext uri="{FF2B5EF4-FFF2-40B4-BE49-F238E27FC236}">
                <a16:creationId xmlns:a16="http://schemas.microsoft.com/office/drawing/2014/main" id="{C85CA90A-85B4-4345-08C6-F052A3C1D6C1}"/>
              </a:ext>
            </a:extLst>
          </p:cNvPr>
          <p:cNvSpPr>
            <a:spLocks noEditPoints="1"/>
          </p:cNvSpPr>
          <p:nvPr/>
        </p:nvSpPr>
        <p:spPr bwMode="auto">
          <a:xfrm>
            <a:off x="2279650" y="2719388"/>
            <a:ext cx="558800" cy="80963"/>
          </a:xfrm>
          <a:custGeom>
            <a:avLst/>
            <a:gdLst>
              <a:gd name="T0" fmla="*/ 352 w 352"/>
              <a:gd name="T1" fmla="*/ 21 h 51"/>
              <a:gd name="T2" fmla="*/ 351 w 352"/>
              <a:gd name="T3" fmla="*/ 14 h 51"/>
              <a:gd name="T4" fmla="*/ 351 w 352"/>
              <a:gd name="T5" fmla="*/ 8 h 51"/>
              <a:gd name="T6" fmla="*/ 351 w 352"/>
              <a:gd name="T7" fmla="*/ 3 h 51"/>
              <a:gd name="T8" fmla="*/ 346 w 352"/>
              <a:gd name="T9" fmla="*/ 0 h 51"/>
              <a:gd name="T10" fmla="*/ 347 w 352"/>
              <a:gd name="T11" fmla="*/ 6 h 51"/>
              <a:gd name="T12" fmla="*/ 347 w 352"/>
              <a:gd name="T13" fmla="*/ 11 h 51"/>
              <a:gd name="T14" fmla="*/ 349 w 352"/>
              <a:gd name="T15" fmla="*/ 18 h 51"/>
              <a:gd name="T16" fmla="*/ 349 w 352"/>
              <a:gd name="T17" fmla="*/ 24 h 51"/>
              <a:gd name="T18" fmla="*/ 349 w 352"/>
              <a:gd name="T19" fmla="*/ 31 h 51"/>
              <a:gd name="T20" fmla="*/ 347 w 352"/>
              <a:gd name="T21" fmla="*/ 38 h 51"/>
              <a:gd name="T22" fmla="*/ 347 w 352"/>
              <a:gd name="T23" fmla="*/ 44 h 51"/>
              <a:gd name="T24" fmla="*/ 347 w 352"/>
              <a:gd name="T25" fmla="*/ 51 h 51"/>
              <a:gd name="T26" fmla="*/ 351 w 352"/>
              <a:gd name="T27" fmla="*/ 48 h 51"/>
              <a:gd name="T28" fmla="*/ 351 w 352"/>
              <a:gd name="T29" fmla="*/ 41 h 51"/>
              <a:gd name="T30" fmla="*/ 351 w 352"/>
              <a:gd name="T31" fmla="*/ 34 h 51"/>
              <a:gd name="T32" fmla="*/ 352 w 352"/>
              <a:gd name="T33" fmla="*/ 28 h 51"/>
              <a:gd name="T34" fmla="*/ 1 w 352"/>
              <a:gd name="T35" fmla="*/ 0 h 51"/>
              <a:gd name="T36" fmla="*/ 0 w 352"/>
              <a:gd name="T37" fmla="*/ 6 h 51"/>
              <a:gd name="T38" fmla="*/ 0 w 352"/>
              <a:gd name="T39" fmla="*/ 11 h 51"/>
              <a:gd name="T40" fmla="*/ 0 w 352"/>
              <a:gd name="T41" fmla="*/ 18 h 51"/>
              <a:gd name="T42" fmla="*/ 0 w 352"/>
              <a:gd name="T43" fmla="*/ 24 h 51"/>
              <a:gd name="T44" fmla="*/ 0 w 352"/>
              <a:gd name="T45" fmla="*/ 31 h 51"/>
              <a:gd name="T46" fmla="*/ 0 w 352"/>
              <a:gd name="T47" fmla="*/ 38 h 51"/>
              <a:gd name="T48" fmla="*/ 0 w 352"/>
              <a:gd name="T49" fmla="*/ 44 h 51"/>
              <a:gd name="T50" fmla="*/ 1 w 352"/>
              <a:gd name="T51" fmla="*/ 51 h 51"/>
              <a:gd name="T52" fmla="*/ 3 w 352"/>
              <a:gd name="T53" fmla="*/ 48 h 51"/>
              <a:gd name="T54" fmla="*/ 3 w 352"/>
              <a:gd name="T55" fmla="*/ 41 h 51"/>
              <a:gd name="T56" fmla="*/ 3 w 352"/>
              <a:gd name="T57" fmla="*/ 34 h 51"/>
              <a:gd name="T58" fmla="*/ 3 w 352"/>
              <a:gd name="T59" fmla="*/ 28 h 51"/>
              <a:gd name="T60" fmla="*/ 3 w 352"/>
              <a:gd name="T61" fmla="*/ 21 h 51"/>
              <a:gd name="T62" fmla="*/ 3 w 352"/>
              <a:gd name="T63" fmla="*/ 14 h 51"/>
              <a:gd name="T64" fmla="*/ 3 w 352"/>
              <a:gd name="T65" fmla="*/ 8 h 51"/>
              <a:gd name="T66" fmla="*/ 3 w 352"/>
              <a:gd name="T67" fmla="*/ 3 h 51"/>
              <a:gd name="T68" fmla="*/ 1 w 3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2" h="51">
                <a:moveTo>
                  <a:pt x="352" y="24"/>
                </a:moveTo>
                <a:lnTo>
                  <a:pt x="352" y="21"/>
                </a:lnTo>
                <a:lnTo>
                  <a:pt x="352" y="18"/>
                </a:lnTo>
                <a:lnTo>
                  <a:pt x="351" y="14"/>
                </a:lnTo>
                <a:lnTo>
                  <a:pt x="351" y="11"/>
                </a:lnTo>
                <a:lnTo>
                  <a:pt x="351" y="8"/>
                </a:lnTo>
                <a:lnTo>
                  <a:pt x="351" y="6"/>
                </a:lnTo>
                <a:lnTo>
                  <a:pt x="351" y="3"/>
                </a:lnTo>
                <a:lnTo>
                  <a:pt x="349" y="0"/>
                </a:lnTo>
                <a:lnTo>
                  <a:pt x="346" y="0"/>
                </a:lnTo>
                <a:lnTo>
                  <a:pt x="347" y="3"/>
                </a:lnTo>
                <a:lnTo>
                  <a:pt x="347" y="6"/>
                </a:lnTo>
                <a:lnTo>
                  <a:pt x="347" y="8"/>
                </a:lnTo>
                <a:lnTo>
                  <a:pt x="347" y="11"/>
                </a:lnTo>
                <a:lnTo>
                  <a:pt x="347" y="14"/>
                </a:lnTo>
                <a:lnTo>
                  <a:pt x="349" y="18"/>
                </a:lnTo>
                <a:lnTo>
                  <a:pt x="349" y="21"/>
                </a:lnTo>
                <a:lnTo>
                  <a:pt x="349" y="24"/>
                </a:lnTo>
                <a:lnTo>
                  <a:pt x="349" y="28"/>
                </a:lnTo>
                <a:lnTo>
                  <a:pt x="349" y="31"/>
                </a:lnTo>
                <a:lnTo>
                  <a:pt x="347" y="34"/>
                </a:lnTo>
                <a:lnTo>
                  <a:pt x="347" y="38"/>
                </a:lnTo>
                <a:lnTo>
                  <a:pt x="347" y="41"/>
                </a:lnTo>
                <a:lnTo>
                  <a:pt x="347" y="44"/>
                </a:lnTo>
                <a:lnTo>
                  <a:pt x="347" y="48"/>
                </a:lnTo>
                <a:lnTo>
                  <a:pt x="347" y="51"/>
                </a:lnTo>
                <a:lnTo>
                  <a:pt x="351" y="51"/>
                </a:lnTo>
                <a:lnTo>
                  <a:pt x="351" y="48"/>
                </a:lnTo>
                <a:lnTo>
                  <a:pt x="351" y="44"/>
                </a:lnTo>
                <a:lnTo>
                  <a:pt x="351" y="41"/>
                </a:lnTo>
                <a:lnTo>
                  <a:pt x="351" y="38"/>
                </a:lnTo>
                <a:lnTo>
                  <a:pt x="351" y="34"/>
                </a:lnTo>
                <a:lnTo>
                  <a:pt x="352" y="31"/>
                </a:lnTo>
                <a:lnTo>
                  <a:pt x="352" y="28"/>
                </a:lnTo>
                <a:lnTo>
                  <a:pt x="35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46" name="Freeform 1751">
            <a:extLst>
              <a:ext uri="{FF2B5EF4-FFF2-40B4-BE49-F238E27FC236}">
                <a16:creationId xmlns:a16="http://schemas.microsoft.com/office/drawing/2014/main" id="{DE280F2D-950B-514C-5420-0CE8A9AA7F81}"/>
              </a:ext>
            </a:extLst>
          </p:cNvPr>
          <p:cNvSpPr>
            <a:spLocks noEditPoints="1"/>
          </p:cNvSpPr>
          <p:nvPr/>
        </p:nvSpPr>
        <p:spPr bwMode="auto">
          <a:xfrm>
            <a:off x="2281238" y="2719388"/>
            <a:ext cx="555625" cy="80963"/>
          </a:xfrm>
          <a:custGeom>
            <a:avLst/>
            <a:gdLst>
              <a:gd name="T0" fmla="*/ 350 w 350"/>
              <a:gd name="T1" fmla="*/ 21 h 51"/>
              <a:gd name="T2" fmla="*/ 348 w 350"/>
              <a:gd name="T3" fmla="*/ 14 h 51"/>
              <a:gd name="T4" fmla="*/ 348 w 350"/>
              <a:gd name="T5" fmla="*/ 8 h 51"/>
              <a:gd name="T6" fmla="*/ 348 w 350"/>
              <a:gd name="T7" fmla="*/ 3 h 51"/>
              <a:gd name="T8" fmla="*/ 343 w 350"/>
              <a:gd name="T9" fmla="*/ 0 h 51"/>
              <a:gd name="T10" fmla="*/ 345 w 350"/>
              <a:gd name="T11" fmla="*/ 6 h 51"/>
              <a:gd name="T12" fmla="*/ 345 w 350"/>
              <a:gd name="T13" fmla="*/ 11 h 51"/>
              <a:gd name="T14" fmla="*/ 346 w 350"/>
              <a:gd name="T15" fmla="*/ 18 h 51"/>
              <a:gd name="T16" fmla="*/ 346 w 350"/>
              <a:gd name="T17" fmla="*/ 24 h 51"/>
              <a:gd name="T18" fmla="*/ 346 w 350"/>
              <a:gd name="T19" fmla="*/ 31 h 51"/>
              <a:gd name="T20" fmla="*/ 345 w 350"/>
              <a:gd name="T21" fmla="*/ 38 h 51"/>
              <a:gd name="T22" fmla="*/ 345 w 350"/>
              <a:gd name="T23" fmla="*/ 44 h 51"/>
              <a:gd name="T24" fmla="*/ 345 w 350"/>
              <a:gd name="T25" fmla="*/ 51 h 51"/>
              <a:gd name="T26" fmla="*/ 348 w 350"/>
              <a:gd name="T27" fmla="*/ 48 h 51"/>
              <a:gd name="T28" fmla="*/ 348 w 350"/>
              <a:gd name="T29" fmla="*/ 41 h 51"/>
              <a:gd name="T30" fmla="*/ 348 w 350"/>
              <a:gd name="T31" fmla="*/ 34 h 51"/>
              <a:gd name="T32" fmla="*/ 350 w 350"/>
              <a:gd name="T33" fmla="*/ 28 h 51"/>
              <a:gd name="T34" fmla="*/ 2 w 350"/>
              <a:gd name="T35" fmla="*/ 0 h 51"/>
              <a:gd name="T36" fmla="*/ 0 w 350"/>
              <a:gd name="T37" fmla="*/ 6 h 51"/>
              <a:gd name="T38" fmla="*/ 0 w 350"/>
              <a:gd name="T39" fmla="*/ 11 h 51"/>
              <a:gd name="T40" fmla="*/ 0 w 350"/>
              <a:gd name="T41" fmla="*/ 18 h 51"/>
              <a:gd name="T42" fmla="*/ 0 w 350"/>
              <a:gd name="T43" fmla="*/ 24 h 51"/>
              <a:gd name="T44" fmla="*/ 0 w 350"/>
              <a:gd name="T45" fmla="*/ 31 h 51"/>
              <a:gd name="T46" fmla="*/ 0 w 350"/>
              <a:gd name="T47" fmla="*/ 38 h 51"/>
              <a:gd name="T48" fmla="*/ 0 w 350"/>
              <a:gd name="T49" fmla="*/ 44 h 51"/>
              <a:gd name="T50" fmla="*/ 2 w 350"/>
              <a:gd name="T51" fmla="*/ 51 h 51"/>
              <a:gd name="T52" fmla="*/ 4 w 350"/>
              <a:gd name="T53" fmla="*/ 48 h 51"/>
              <a:gd name="T54" fmla="*/ 4 w 350"/>
              <a:gd name="T55" fmla="*/ 41 h 51"/>
              <a:gd name="T56" fmla="*/ 4 w 350"/>
              <a:gd name="T57" fmla="*/ 34 h 51"/>
              <a:gd name="T58" fmla="*/ 4 w 350"/>
              <a:gd name="T59" fmla="*/ 28 h 51"/>
              <a:gd name="T60" fmla="*/ 4 w 350"/>
              <a:gd name="T61" fmla="*/ 21 h 51"/>
              <a:gd name="T62" fmla="*/ 4 w 350"/>
              <a:gd name="T63" fmla="*/ 14 h 51"/>
              <a:gd name="T64" fmla="*/ 4 w 350"/>
              <a:gd name="T65" fmla="*/ 8 h 51"/>
              <a:gd name="T66" fmla="*/ 4 w 350"/>
              <a:gd name="T67" fmla="*/ 3 h 51"/>
              <a:gd name="T68" fmla="*/ 2 w 35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51">
                <a:moveTo>
                  <a:pt x="350" y="24"/>
                </a:moveTo>
                <a:lnTo>
                  <a:pt x="350" y="21"/>
                </a:lnTo>
                <a:lnTo>
                  <a:pt x="350" y="18"/>
                </a:lnTo>
                <a:lnTo>
                  <a:pt x="348" y="14"/>
                </a:lnTo>
                <a:lnTo>
                  <a:pt x="348" y="11"/>
                </a:lnTo>
                <a:lnTo>
                  <a:pt x="348" y="8"/>
                </a:lnTo>
                <a:lnTo>
                  <a:pt x="348" y="6"/>
                </a:lnTo>
                <a:lnTo>
                  <a:pt x="348" y="3"/>
                </a:lnTo>
                <a:lnTo>
                  <a:pt x="346" y="0"/>
                </a:lnTo>
                <a:lnTo>
                  <a:pt x="343" y="0"/>
                </a:lnTo>
                <a:lnTo>
                  <a:pt x="345" y="3"/>
                </a:lnTo>
                <a:lnTo>
                  <a:pt x="345" y="6"/>
                </a:lnTo>
                <a:lnTo>
                  <a:pt x="345" y="8"/>
                </a:lnTo>
                <a:lnTo>
                  <a:pt x="345" y="11"/>
                </a:lnTo>
                <a:lnTo>
                  <a:pt x="345" y="14"/>
                </a:lnTo>
                <a:lnTo>
                  <a:pt x="346" y="18"/>
                </a:lnTo>
                <a:lnTo>
                  <a:pt x="346" y="21"/>
                </a:lnTo>
                <a:lnTo>
                  <a:pt x="346" y="24"/>
                </a:lnTo>
                <a:lnTo>
                  <a:pt x="346" y="28"/>
                </a:lnTo>
                <a:lnTo>
                  <a:pt x="346" y="31"/>
                </a:lnTo>
                <a:lnTo>
                  <a:pt x="346" y="34"/>
                </a:lnTo>
                <a:lnTo>
                  <a:pt x="345" y="38"/>
                </a:lnTo>
                <a:lnTo>
                  <a:pt x="345" y="41"/>
                </a:lnTo>
                <a:lnTo>
                  <a:pt x="345" y="44"/>
                </a:lnTo>
                <a:lnTo>
                  <a:pt x="345" y="48"/>
                </a:lnTo>
                <a:lnTo>
                  <a:pt x="345" y="51"/>
                </a:lnTo>
                <a:lnTo>
                  <a:pt x="348" y="51"/>
                </a:lnTo>
                <a:lnTo>
                  <a:pt x="348" y="48"/>
                </a:lnTo>
                <a:lnTo>
                  <a:pt x="348" y="44"/>
                </a:lnTo>
                <a:lnTo>
                  <a:pt x="348" y="41"/>
                </a:lnTo>
                <a:lnTo>
                  <a:pt x="348" y="38"/>
                </a:lnTo>
                <a:lnTo>
                  <a:pt x="348" y="34"/>
                </a:lnTo>
                <a:lnTo>
                  <a:pt x="350" y="31"/>
                </a:lnTo>
                <a:lnTo>
                  <a:pt x="350" y="28"/>
                </a:lnTo>
                <a:lnTo>
                  <a:pt x="35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4" y="24"/>
                </a:lnTo>
                <a:lnTo>
                  <a:pt x="4" y="21"/>
                </a:lnTo>
                <a:lnTo>
                  <a:pt x="4" y="18"/>
                </a:lnTo>
                <a:lnTo>
                  <a:pt x="4" y="14"/>
                </a:lnTo>
                <a:lnTo>
                  <a:pt x="4" y="11"/>
                </a:lnTo>
                <a:lnTo>
                  <a:pt x="4" y="8"/>
                </a:lnTo>
                <a:lnTo>
                  <a:pt x="4" y="6"/>
                </a:lnTo>
                <a:lnTo>
                  <a:pt x="4" y="3"/>
                </a:lnTo>
                <a:lnTo>
                  <a:pt x="5" y="0"/>
                </a:lnTo>
                <a:lnTo>
                  <a:pt x="2" y="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47" name="Freeform 1752">
            <a:extLst>
              <a:ext uri="{FF2B5EF4-FFF2-40B4-BE49-F238E27FC236}">
                <a16:creationId xmlns:a16="http://schemas.microsoft.com/office/drawing/2014/main" id="{3B1DCF78-E582-71BC-2565-3A41722FAF28}"/>
              </a:ext>
            </a:extLst>
          </p:cNvPr>
          <p:cNvSpPr>
            <a:spLocks noEditPoints="1"/>
          </p:cNvSpPr>
          <p:nvPr/>
        </p:nvSpPr>
        <p:spPr bwMode="auto">
          <a:xfrm>
            <a:off x="2284413" y="2719388"/>
            <a:ext cx="549275" cy="80963"/>
          </a:xfrm>
          <a:custGeom>
            <a:avLst/>
            <a:gdLst>
              <a:gd name="T0" fmla="*/ 346 w 346"/>
              <a:gd name="T1" fmla="*/ 21 h 51"/>
              <a:gd name="T2" fmla="*/ 344 w 346"/>
              <a:gd name="T3" fmla="*/ 14 h 51"/>
              <a:gd name="T4" fmla="*/ 344 w 346"/>
              <a:gd name="T5" fmla="*/ 8 h 51"/>
              <a:gd name="T6" fmla="*/ 344 w 346"/>
              <a:gd name="T7" fmla="*/ 3 h 51"/>
              <a:gd name="T8" fmla="*/ 339 w 346"/>
              <a:gd name="T9" fmla="*/ 0 h 51"/>
              <a:gd name="T10" fmla="*/ 341 w 346"/>
              <a:gd name="T11" fmla="*/ 6 h 51"/>
              <a:gd name="T12" fmla="*/ 341 w 346"/>
              <a:gd name="T13" fmla="*/ 11 h 51"/>
              <a:gd name="T14" fmla="*/ 343 w 346"/>
              <a:gd name="T15" fmla="*/ 18 h 51"/>
              <a:gd name="T16" fmla="*/ 343 w 346"/>
              <a:gd name="T17" fmla="*/ 24 h 51"/>
              <a:gd name="T18" fmla="*/ 343 w 346"/>
              <a:gd name="T19" fmla="*/ 31 h 51"/>
              <a:gd name="T20" fmla="*/ 341 w 346"/>
              <a:gd name="T21" fmla="*/ 38 h 51"/>
              <a:gd name="T22" fmla="*/ 341 w 346"/>
              <a:gd name="T23" fmla="*/ 44 h 51"/>
              <a:gd name="T24" fmla="*/ 341 w 346"/>
              <a:gd name="T25" fmla="*/ 51 h 51"/>
              <a:gd name="T26" fmla="*/ 344 w 346"/>
              <a:gd name="T27" fmla="*/ 48 h 51"/>
              <a:gd name="T28" fmla="*/ 344 w 346"/>
              <a:gd name="T29" fmla="*/ 41 h 51"/>
              <a:gd name="T30" fmla="*/ 344 w 346"/>
              <a:gd name="T31" fmla="*/ 34 h 51"/>
              <a:gd name="T32" fmla="*/ 346 w 346"/>
              <a:gd name="T33" fmla="*/ 28 h 51"/>
              <a:gd name="T34" fmla="*/ 2 w 346"/>
              <a:gd name="T35" fmla="*/ 0 h 51"/>
              <a:gd name="T36" fmla="*/ 0 w 346"/>
              <a:gd name="T37" fmla="*/ 6 h 51"/>
              <a:gd name="T38" fmla="*/ 0 w 346"/>
              <a:gd name="T39" fmla="*/ 11 h 51"/>
              <a:gd name="T40" fmla="*/ 0 w 346"/>
              <a:gd name="T41" fmla="*/ 18 h 51"/>
              <a:gd name="T42" fmla="*/ 0 w 346"/>
              <a:gd name="T43" fmla="*/ 24 h 51"/>
              <a:gd name="T44" fmla="*/ 0 w 346"/>
              <a:gd name="T45" fmla="*/ 31 h 51"/>
              <a:gd name="T46" fmla="*/ 0 w 346"/>
              <a:gd name="T47" fmla="*/ 38 h 51"/>
              <a:gd name="T48" fmla="*/ 0 w 346"/>
              <a:gd name="T49" fmla="*/ 44 h 51"/>
              <a:gd name="T50" fmla="*/ 2 w 346"/>
              <a:gd name="T51" fmla="*/ 51 h 51"/>
              <a:gd name="T52" fmla="*/ 3 w 346"/>
              <a:gd name="T53" fmla="*/ 48 h 51"/>
              <a:gd name="T54" fmla="*/ 3 w 346"/>
              <a:gd name="T55" fmla="*/ 41 h 51"/>
              <a:gd name="T56" fmla="*/ 3 w 346"/>
              <a:gd name="T57" fmla="*/ 34 h 51"/>
              <a:gd name="T58" fmla="*/ 3 w 346"/>
              <a:gd name="T59" fmla="*/ 28 h 51"/>
              <a:gd name="T60" fmla="*/ 3 w 346"/>
              <a:gd name="T61" fmla="*/ 21 h 51"/>
              <a:gd name="T62" fmla="*/ 3 w 346"/>
              <a:gd name="T63" fmla="*/ 14 h 51"/>
              <a:gd name="T64" fmla="*/ 3 w 346"/>
              <a:gd name="T65" fmla="*/ 8 h 51"/>
              <a:gd name="T66" fmla="*/ 3 w 346"/>
              <a:gd name="T67" fmla="*/ 3 h 51"/>
              <a:gd name="T68" fmla="*/ 2 w 3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6" h="51">
                <a:moveTo>
                  <a:pt x="346" y="24"/>
                </a:moveTo>
                <a:lnTo>
                  <a:pt x="346" y="21"/>
                </a:lnTo>
                <a:lnTo>
                  <a:pt x="346" y="18"/>
                </a:lnTo>
                <a:lnTo>
                  <a:pt x="344" y="14"/>
                </a:lnTo>
                <a:lnTo>
                  <a:pt x="344" y="11"/>
                </a:lnTo>
                <a:lnTo>
                  <a:pt x="344" y="8"/>
                </a:lnTo>
                <a:lnTo>
                  <a:pt x="344" y="6"/>
                </a:lnTo>
                <a:lnTo>
                  <a:pt x="344" y="3"/>
                </a:lnTo>
                <a:lnTo>
                  <a:pt x="343" y="0"/>
                </a:lnTo>
                <a:lnTo>
                  <a:pt x="339" y="0"/>
                </a:lnTo>
                <a:lnTo>
                  <a:pt x="341" y="3"/>
                </a:lnTo>
                <a:lnTo>
                  <a:pt x="341" y="6"/>
                </a:lnTo>
                <a:lnTo>
                  <a:pt x="341" y="8"/>
                </a:lnTo>
                <a:lnTo>
                  <a:pt x="341" y="11"/>
                </a:lnTo>
                <a:lnTo>
                  <a:pt x="341" y="14"/>
                </a:lnTo>
                <a:lnTo>
                  <a:pt x="343" y="18"/>
                </a:lnTo>
                <a:lnTo>
                  <a:pt x="343" y="21"/>
                </a:lnTo>
                <a:lnTo>
                  <a:pt x="343" y="24"/>
                </a:lnTo>
                <a:lnTo>
                  <a:pt x="343" y="28"/>
                </a:lnTo>
                <a:lnTo>
                  <a:pt x="343" y="31"/>
                </a:lnTo>
                <a:lnTo>
                  <a:pt x="343" y="34"/>
                </a:lnTo>
                <a:lnTo>
                  <a:pt x="341" y="38"/>
                </a:lnTo>
                <a:lnTo>
                  <a:pt x="341" y="41"/>
                </a:lnTo>
                <a:lnTo>
                  <a:pt x="341" y="44"/>
                </a:lnTo>
                <a:lnTo>
                  <a:pt x="341" y="48"/>
                </a:lnTo>
                <a:lnTo>
                  <a:pt x="341" y="51"/>
                </a:lnTo>
                <a:lnTo>
                  <a:pt x="344" y="51"/>
                </a:lnTo>
                <a:lnTo>
                  <a:pt x="344" y="48"/>
                </a:lnTo>
                <a:lnTo>
                  <a:pt x="344" y="44"/>
                </a:lnTo>
                <a:lnTo>
                  <a:pt x="344" y="41"/>
                </a:lnTo>
                <a:lnTo>
                  <a:pt x="344" y="38"/>
                </a:lnTo>
                <a:lnTo>
                  <a:pt x="344" y="34"/>
                </a:lnTo>
                <a:lnTo>
                  <a:pt x="346" y="31"/>
                </a:lnTo>
                <a:lnTo>
                  <a:pt x="346" y="28"/>
                </a:lnTo>
                <a:lnTo>
                  <a:pt x="34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2"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48" name="Freeform 1753">
            <a:extLst>
              <a:ext uri="{FF2B5EF4-FFF2-40B4-BE49-F238E27FC236}">
                <a16:creationId xmlns:a16="http://schemas.microsoft.com/office/drawing/2014/main" id="{FF0C40F9-99FE-7A79-3851-873D6F999746}"/>
              </a:ext>
            </a:extLst>
          </p:cNvPr>
          <p:cNvSpPr>
            <a:spLocks noEditPoints="1"/>
          </p:cNvSpPr>
          <p:nvPr/>
        </p:nvSpPr>
        <p:spPr bwMode="auto">
          <a:xfrm>
            <a:off x="2287588" y="2719388"/>
            <a:ext cx="542925" cy="80963"/>
          </a:xfrm>
          <a:custGeom>
            <a:avLst/>
            <a:gdLst>
              <a:gd name="T0" fmla="*/ 342 w 342"/>
              <a:gd name="T1" fmla="*/ 21 h 51"/>
              <a:gd name="T2" fmla="*/ 341 w 342"/>
              <a:gd name="T3" fmla="*/ 14 h 51"/>
              <a:gd name="T4" fmla="*/ 341 w 342"/>
              <a:gd name="T5" fmla="*/ 8 h 51"/>
              <a:gd name="T6" fmla="*/ 341 w 342"/>
              <a:gd name="T7" fmla="*/ 3 h 51"/>
              <a:gd name="T8" fmla="*/ 336 w 342"/>
              <a:gd name="T9" fmla="*/ 0 h 51"/>
              <a:gd name="T10" fmla="*/ 337 w 342"/>
              <a:gd name="T11" fmla="*/ 6 h 51"/>
              <a:gd name="T12" fmla="*/ 337 w 342"/>
              <a:gd name="T13" fmla="*/ 11 h 51"/>
              <a:gd name="T14" fmla="*/ 339 w 342"/>
              <a:gd name="T15" fmla="*/ 18 h 51"/>
              <a:gd name="T16" fmla="*/ 339 w 342"/>
              <a:gd name="T17" fmla="*/ 24 h 51"/>
              <a:gd name="T18" fmla="*/ 339 w 342"/>
              <a:gd name="T19" fmla="*/ 31 h 51"/>
              <a:gd name="T20" fmla="*/ 337 w 342"/>
              <a:gd name="T21" fmla="*/ 38 h 51"/>
              <a:gd name="T22" fmla="*/ 337 w 342"/>
              <a:gd name="T23" fmla="*/ 44 h 51"/>
              <a:gd name="T24" fmla="*/ 337 w 342"/>
              <a:gd name="T25" fmla="*/ 51 h 51"/>
              <a:gd name="T26" fmla="*/ 341 w 342"/>
              <a:gd name="T27" fmla="*/ 48 h 51"/>
              <a:gd name="T28" fmla="*/ 341 w 342"/>
              <a:gd name="T29" fmla="*/ 41 h 51"/>
              <a:gd name="T30" fmla="*/ 341 w 342"/>
              <a:gd name="T31" fmla="*/ 34 h 51"/>
              <a:gd name="T32" fmla="*/ 342 w 342"/>
              <a:gd name="T33" fmla="*/ 28 h 51"/>
              <a:gd name="T34" fmla="*/ 1 w 342"/>
              <a:gd name="T35" fmla="*/ 0 h 51"/>
              <a:gd name="T36" fmla="*/ 0 w 342"/>
              <a:gd name="T37" fmla="*/ 6 h 51"/>
              <a:gd name="T38" fmla="*/ 0 w 342"/>
              <a:gd name="T39" fmla="*/ 11 h 51"/>
              <a:gd name="T40" fmla="*/ 0 w 342"/>
              <a:gd name="T41" fmla="*/ 18 h 51"/>
              <a:gd name="T42" fmla="*/ 0 w 342"/>
              <a:gd name="T43" fmla="*/ 24 h 51"/>
              <a:gd name="T44" fmla="*/ 0 w 342"/>
              <a:gd name="T45" fmla="*/ 31 h 51"/>
              <a:gd name="T46" fmla="*/ 0 w 342"/>
              <a:gd name="T47" fmla="*/ 38 h 51"/>
              <a:gd name="T48" fmla="*/ 0 w 342"/>
              <a:gd name="T49" fmla="*/ 44 h 51"/>
              <a:gd name="T50" fmla="*/ 1 w 342"/>
              <a:gd name="T51" fmla="*/ 51 h 51"/>
              <a:gd name="T52" fmla="*/ 3 w 342"/>
              <a:gd name="T53" fmla="*/ 48 h 51"/>
              <a:gd name="T54" fmla="*/ 3 w 342"/>
              <a:gd name="T55" fmla="*/ 41 h 51"/>
              <a:gd name="T56" fmla="*/ 3 w 342"/>
              <a:gd name="T57" fmla="*/ 34 h 51"/>
              <a:gd name="T58" fmla="*/ 3 w 342"/>
              <a:gd name="T59" fmla="*/ 28 h 51"/>
              <a:gd name="T60" fmla="*/ 3 w 342"/>
              <a:gd name="T61" fmla="*/ 21 h 51"/>
              <a:gd name="T62" fmla="*/ 3 w 342"/>
              <a:gd name="T63" fmla="*/ 14 h 51"/>
              <a:gd name="T64" fmla="*/ 3 w 342"/>
              <a:gd name="T65" fmla="*/ 8 h 51"/>
              <a:gd name="T66" fmla="*/ 3 w 342"/>
              <a:gd name="T67" fmla="*/ 3 h 51"/>
              <a:gd name="T68" fmla="*/ 1 w 3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2" h="51">
                <a:moveTo>
                  <a:pt x="342" y="24"/>
                </a:moveTo>
                <a:lnTo>
                  <a:pt x="342" y="21"/>
                </a:lnTo>
                <a:lnTo>
                  <a:pt x="342" y="18"/>
                </a:lnTo>
                <a:lnTo>
                  <a:pt x="341" y="14"/>
                </a:lnTo>
                <a:lnTo>
                  <a:pt x="341" y="11"/>
                </a:lnTo>
                <a:lnTo>
                  <a:pt x="341" y="8"/>
                </a:lnTo>
                <a:lnTo>
                  <a:pt x="341" y="6"/>
                </a:lnTo>
                <a:lnTo>
                  <a:pt x="341" y="3"/>
                </a:lnTo>
                <a:lnTo>
                  <a:pt x="339" y="0"/>
                </a:lnTo>
                <a:lnTo>
                  <a:pt x="336" y="0"/>
                </a:lnTo>
                <a:lnTo>
                  <a:pt x="337" y="3"/>
                </a:lnTo>
                <a:lnTo>
                  <a:pt x="337" y="6"/>
                </a:lnTo>
                <a:lnTo>
                  <a:pt x="337" y="8"/>
                </a:lnTo>
                <a:lnTo>
                  <a:pt x="337" y="11"/>
                </a:lnTo>
                <a:lnTo>
                  <a:pt x="337" y="14"/>
                </a:lnTo>
                <a:lnTo>
                  <a:pt x="339" y="18"/>
                </a:lnTo>
                <a:lnTo>
                  <a:pt x="339" y="21"/>
                </a:lnTo>
                <a:lnTo>
                  <a:pt x="339" y="24"/>
                </a:lnTo>
                <a:lnTo>
                  <a:pt x="339" y="28"/>
                </a:lnTo>
                <a:lnTo>
                  <a:pt x="339" y="31"/>
                </a:lnTo>
                <a:lnTo>
                  <a:pt x="339" y="34"/>
                </a:lnTo>
                <a:lnTo>
                  <a:pt x="337" y="38"/>
                </a:lnTo>
                <a:lnTo>
                  <a:pt x="337" y="41"/>
                </a:lnTo>
                <a:lnTo>
                  <a:pt x="337" y="44"/>
                </a:lnTo>
                <a:lnTo>
                  <a:pt x="337" y="48"/>
                </a:lnTo>
                <a:lnTo>
                  <a:pt x="337" y="51"/>
                </a:lnTo>
                <a:lnTo>
                  <a:pt x="341" y="51"/>
                </a:lnTo>
                <a:lnTo>
                  <a:pt x="341" y="48"/>
                </a:lnTo>
                <a:lnTo>
                  <a:pt x="341" y="44"/>
                </a:lnTo>
                <a:lnTo>
                  <a:pt x="341" y="41"/>
                </a:lnTo>
                <a:lnTo>
                  <a:pt x="341" y="38"/>
                </a:lnTo>
                <a:lnTo>
                  <a:pt x="341" y="34"/>
                </a:lnTo>
                <a:lnTo>
                  <a:pt x="342" y="31"/>
                </a:lnTo>
                <a:lnTo>
                  <a:pt x="342" y="28"/>
                </a:lnTo>
                <a:lnTo>
                  <a:pt x="342" y="24"/>
                </a:lnTo>
                <a:close/>
                <a:moveTo>
                  <a:pt x="1"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1" y="51"/>
                </a:lnTo>
                <a:lnTo>
                  <a:pt x="5" y="51"/>
                </a:lnTo>
                <a:lnTo>
                  <a:pt x="3" y="48"/>
                </a:lnTo>
                <a:lnTo>
                  <a:pt x="3" y="44"/>
                </a:lnTo>
                <a:lnTo>
                  <a:pt x="3" y="41"/>
                </a:lnTo>
                <a:lnTo>
                  <a:pt x="3" y="38"/>
                </a:lnTo>
                <a:lnTo>
                  <a:pt x="3" y="34"/>
                </a:lnTo>
                <a:lnTo>
                  <a:pt x="3" y="31"/>
                </a:lnTo>
                <a:lnTo>
                  <a:pt x="3" y="28"/>
                </a:lnTo>
                <a:lnTo>
                  <a:pt x="3" y="24"/>
                </a:lnTo>
                <a:lnTo>
                  <a:pt x="3" y="21"/>
                </a:lnTo>
                <a:lnTo>
                  <a:pt x="3" y="18"/>
                </a:lnTo>
                <a:lnTo>
                  <a:pt x="3" y="14"/>
                </a:lnTo>
                <a:lnTo>
                  <a:pt x="3" y="11"/>
                </a:lnTo>
                <a:lnTo>
                  <a:pt x="3" y="8"/>
                </a:lnTo>
                <a:lnTo>
                  <a:pt x="3" y="6"/>
                </a:lnTo>
                <a:lnTo>
                  <a:pt x="3" y="3"/>
                </a:lnTo>
                <a:lnTo>
                  <a:pt x="5" y="0"/>
                </a:lnTo>
                <a:lnTo>
                  <a:pt x="1"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49" name="Freeform 1754">
            <a:extLst>
              <a:ext uri="{FF2B5EF4-FFF2-40B4-BE49-F238E27FC236}">
                <a16:creationId xmlns:a16="http://schemas.microsoft.com/office/drawing/2014/main" id="{29A2E8A2-682B-D526-8520-F4688A4D01D6}"/>
              </a:ext>
            </a:extLst>
          </p:cNvPr>
          <p:cNvSpPr>
            <a:spLocks noEditPoints="1"/>
          </p:cNvSpPr>
          <p:nvPr/>
        </p:nvSpPr>
        <p:spPr bwMode="auto">
          <a:xfrm>
            <a:off x="2289175" y="2719388"/>
            <a:ext cx="539750" cy="80963"/>
          </a:xfrm>
          <a:custGeom>
            <a:avLst/>
            <a:gdLst>
              <a:gd name="T0" fmla="*/ 340 w 340"/>
              <a:gd name="T1" fmla="*/ 21 h 51"/>
              <a:gd name="T2" fmla="*/ 338 w 340"/>
              <a:gd name="T3" fmla="*/ 14 h 51"/>
              <a:gd name="T4" fmla="*/ 338 w 340"/>
              <a:gd name="T5" fmla="*/ 8 h 51"/>
              <a:gd name="T6" fmla="*/ 338 w 340"/>
              <a:gd name="T7" fmla="*/ 3 h 51"/>
              <a:gd name="T8" fmla="*/ 333 w 340"/>
              <a:gd name="T9" fmla="*/ 0 h 51"/>
              <a:gd name="T10" fmla="*/ 335 w 340"/>
              <a:gd name="T11" fmla="*/ 6 h 51"/>
              <a:gd name="T12" fmla="*/ 335 w 340"/>
              <a:gd name="T13" fmla="*/ 11 h 51"/>
              <a:gd name="T14" fmla="*/ 336 w 340"/>
              <a:gd name="T15" fmla="*/ 18 h 51"/>
              <a:gd name="T16" fmla="*/ 336 w 340"/>
              <a:gd name="T17" fmla="*/ 24 h 51"/>
              <a:gd name="T18" fmla="*/ 336 w 340"/>
              <a:gd name="T19" fmla="*/ 31 h 51"/>
              <a:gd name="T20" fmla="*/ 335 w 340"/>
              <a:gd name="T21" fmla="*/ 38 h 51"/>
              <a:gd name="T22" fmla="*/ 335 w 340"/>
              <a:gd name="T23" fmla="*/ 44 h 51"/>
              <a:gd name="T24" fmla="*/ 335 w 340"/>
              <a:gd name="T25" fmla="*/ 51 h 51"/>
              <a:gd name="T26" fmla="*/ 338 w 340"/>
              <a:gd name="T27" fmla="*/ 48 h 51"/>
              <a:gd name="T28" fmla="*/ 338 w 340"/>
              <a:gd name="T29" fmla="*/ 41 h 51"/>
              <a:gd name="T30" fmla="*/ 340 w 340"/>
              <a:gd name="T31" fmla="*/ 34 h 51"/>
              <a:gd name="T32" fmla="*/ 340 w 340"/>
              <a:gd name="T33" fmla="*/ 28 h 51"/>
              <a:gd name="T34" fmla="*/ 2 w 340"/>
              <a:gd name="T35" fmla="*/ 0 h 51"/>
              <a:gd name="T36" fmla="*/ 0 w 340"/>
              <a:gd name="T37" fmla="*/ 6 h 51"/>
              <a:gd name="T38" fmla="*/ 0 w 340"/>
              <a:gd name="T39" fmla="*/ 11 h 51"/>
              <a:gd name="T40" fmla="*/ 0 w 340"/>
              <a:gd name="T41" fmla="*/ 18 h 51"/>
              <a:gd name="T42" fmla="*/ 0 w 340"/>
              <a:gd name="T43" fmla="*/ 24 h 51"/>
              <a:gd name="T44" fmla="*/ 0 w 340"/>
              <a:gd name="T45" fmla="*/ 31 h 51"/>
              <a:gd name="T46" fmla="*/ 0 w 340"/>
              <a:gd name="T47" fmla="*/ 38 h 51"/>
              <a:gd name="T48" fmla="*/ 0 w 340"/>
              <a:gd name="T49" fmla="*/ 44 h 51"/>
              <a:gd name="T50" fmla="*/ 2 w 340"/>
              <a:gd name="T51" fmla="*/ 51 h 51"/>
              <a:gd name="T52" fmla="*/ 4 w 340"/>
              <a:gd name="T53" fmla="*/ 48 h 51"/>
              <a:gd name="T54" fmla="*/ 4 w 340"/>
              <a:gd name="T55" fmla="*/ 41 h 51"/>
              <a:gd name="T56" fmla="*/ 4 w 340"/>
              <a:gd name="T57" fmla="*/ 34 h 51"/>
              <a:gd name="T58" fmla="*/ 4 w 340"/>
              <a:gd name="T59" fmla="*/ 28 h 51"/>
              <a:gd name="T60" fmla="*/ 4 w 340"/>
              <a:gd name="T61" fmla="*/ 21 h 51"/>
              <a:gd name="T62" fmla="*/ 4 w 340"/>
              <a:gd name="T63" fmla="*/ 14 h 51"/>
              <a:gd name="T64" fmla="*/ 4 w 340"/>
              <a:gd name="T65" fmla="*/ 8 h 51"/>
              <a:gd name="T66" fmla="*/ 4 w 340"/>
              <a:gd name="T67" fmla="*/ 3 h 51"/>
              <a:gd name="T68" fmla="*/ 2 w 34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40" h="51">
                <a:moveTo>
                  <a:pt x="340" y="24"/>
                </a:moveTo>
                <a:lnTo>
                  <a:pt x="340" y="21"/>
                </a:lnTo>
                <a:lnTo>
                  <a:pt x="340" y="18"/>
                </a:lnTo>
                <a:lnTo>
                  <a:pt x="338" y="14"/>
                </a:lnTo>
                <a:lnTo>
                  <a:pt x="338" y="11"/>
                </a:lnTo>
                <a:lnTo>
                  <a:pt x="338" y="8"/>
                </a:lnTo>
                <a:lnTo>
                  <a:pt x="338" y="6"/>
                </a:lnTo>
                <a:lnTo>
                  <a:pt x="338" y="3"/>
                </a:lnTo>
                <a:lnTo>
                  <a:pt x="336" y="0"/>
                </a:lnTo>
                <a:lnTo>
                  <a:pt x="333" y="0"/>
                </a:lnTo>
                <a:lnTo>
                  <a:pt x="335" y="3"/>
                </a:lnTo>
                <a:lnTo>
                  <a:pt x="335" y="6"/>
                </a:lnTo>
                <a:lnTo>
                  <a:pt x="335" y="8"/>
                </a:lnTo>
                <a:lnTo>
                  <a:pt x="335" y="11"/>
                </a:lnTo>
                <a:lnTo>
                  <a:pt x="335" y="14"/>
                </a:lnTo>
                <a:lnTo>
                  <a:pt x="336" y="18"/>
                </a:lnTo>
                <a:lnTo>
                  <a:pt x="336" y="21"/>
                </a:lnTo>
                <a:lnTo>
                  <a:pt x="336" y="24"/>
                </a:lnTo>
                <a:lnTo>
                  <a:pt x="336" y="28"/>
                </a:lnTo>
                <a:lnTo>
                  <a:pt x="336" y="31"/>
                </a:lnTo>
                <a:lnTo>
                  <a:pt x="336" y="34"/>
                </a:lnTo>
                <a:lnTo>
                  <a:pt x="335" y="38"/>
                </a:lnTo>
                <a:lnTo>
                  <a:pt x="335" y="41"/>
                </a:lnTo>
                <a:lnTo>
                  <a:pt x="335" y="44"/>
                </a:lnTo>
                <a:lnTo>
                  <a:pt x="335" y="48"/>
                </a:lnTo>
                <a:lnTo>
                  <a:pt x="335" y="51"/>
                </a:lnTo>
                <a:lnTo>
                  <a:pt x="338" y="51"/>
                </a:lnTo>
                <a:lnTo>
                  <a:pt x="338" y="48"/>
                </a:lnTo>
                <a:lnTo>
                  <a:pt x="338" y="44"/>
                </a:lnTo>
                <a:lnTo>
                  <a:pt x="338" y="41"/>
                </a:lnTo>
                <a:lnTo>
                  <a:pt x="338" y="38"/>
                </a:lnTo>
                <a:lnTo>
                  <a:pt x="340" y="34"/>
                </a:lnTo>
                <a:lnTo>
                  <a:pt x="340" y="31"/>
                </a:lnTo>
                <a:lnTo>
                  <a:pt x="340" y="28"/>
                </a:lnTo>
                <a:lnTo>
                  <a:pt x="340"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4" y="48"/>
                </a:lnTo>
                <a:lnTo>
                  <a:pt x="4" y="44"/>
                </a:lnTo>
                <a:lnTo>
                  <a:pt x="4" y="41"/>
                </a:lnTo>
                <a:lnTo>
                  <a:pt x="4" y="38"/>
                </a:lnTo>
                <a:lnTo>
                  <a:pt x="4" y="34"/>
                </a:lnTo>
                <a:lnTo>
                  <a:pt x="4" y="31"/>
                </a:lnTo>
                <a:lnTo>
                  <a:pt x="4" y="28"/>
                </a:lnTo>
                <a:lnTo>
                  <a:pt x="2" y="24"/>
                </a:lnTo>
                <a:lnTo>
                  <a:pt x="4" y="21"/>
                </a:lnTo>
                <a:lnTo>
                  <a:pt x="4" y="18"/>
                </a:lnTo>
                <a:lnTo>
                  <a:pt x="4" y="14"/>
                </a:lnTo>
                <a:lnTo>
                  <a:pt x="4" y="11"/>
                </a:lnTo>
                <a:lnTo>
                  <a:pt x="4" y="8"/>
                </a:lnTo>
                <a:lnTo>
                  <a:pt x="4" y="6"/>
                </a:lnTo>
                <a:lnTo>
                  <a:pt x="4" y="3"/>
                </a:lnTo>
                <a:lnTo>
                  <a:pt x="5" y="0"/>
                </a:lnTo>
                <a:lnTo>
                  <a:pt x="2"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50" name="Freeform 1755">
            <a:extLst>
              <a:ext uri="{FF2B5EF4-FFF2-40B4-BE49-F238E27FC236}">
                <a16:creationId xmlns:a16="http://schemas.microsoft.com/office/drawing/2014/main" id="{DA747C32-A470-F193-91EB-4127F6B68B39}"/>
              </a:ext>
            </a:extLst>
          </p:cNvPr>
          <p:cNvSpPr>
            <a:spLocks noEditPoints="1"/>
          </p:cNvSpPr>
          <p:nvPr/>
        </p:nvSpPr>
        <p:spPr bwMode="auto">
          <a:xfrm>
            <a:off x="2292350" y="2719388"/>
            <a:ext cx="533400" cy="80963"/>
          </a:xfrm>
          <a:custGeom>
            <a:avLst/>
            <a:gdLst>
              <a:gd name="T0" fmla="*/ 336 w 336"/>
              <a:gd name="T1" fmla="*/ 21 h 51"/>
              <a:gd name="T2" fmla="*/ 334 w 336"/>
              <a:gd name="T3" fmla="*/ 14 h 51"/>
              <a:gd name="T4" fmla="*/ 334 w 336"/>
              <a:gd name="T5" fmla="*/ 8 h 51"/>
              <a:gd name="T6" fmla="*/ 334 w 336"/>
              <a:gd name="T7" fmla="*/ 3 h 51"/>
              <a:gd name="T8" fmla="*/ 329 w 336"/>
              <a:gd name="T9" fmla="*/ 0 h 51"/>
              <a:gd name="T10" fmla="*/ 331 w 336"/>
              <a:gd name="T11" fmla="*/ 6 h 51"/>
              <a:gd name="T12" fmla="*/ 331 w 336"/>
              <a:gd name="T13" fmla="*/ 11 h 51"/>
              <a:gd name="T14" fmla="*/ 333 w 336"/>
              <a:gd name="T15" fmla="*/ 18 h 51"/>
              <a:gd name="T16" fmla="*/ 333 w 336"/>
              <a:gd name="T17" fmla="*/ 24 h 51"/>
              <a:gd name="T18" fmla="*/ 333 w 336"/>
              <a:gd name="T19" fmla="*/ 31 h 51"/>
              <a:gd name="T20" fmla="*/ 331 w 336"/>
              <a:gd name="T21" fmla="*/ 38 h 51"/>
              <a:gd name="T22" fmla="*/ 331 w 336"/>
              <a:gd name="T23" fmla="*/ 44 h 51"/>
              <a:gd name="T24" fmla="*/ 331 w 336"/>
              <a:gd name="T25" fmla="*/ 51 h 51"/>
              <a:gd name="T26" fmla="*/ 334 w 336"/>
              <a:gd name="T27" fmla="*/ 48 h 51"/>
              <a:gd name="T28" fmla="*/ 334 w 336"/>
              <a:gd name="T29" fmla="*/ 41 h 51"/>
              <a:gd name="T30" fmla="*/ 336 w 336"/>
              <a:gd name="T31" fmla="*/ 34 h 51"/>
              <a:gd name="T32" fmla="*/ 336 w 336"/>
              <a:gd name="T33" fmla="*/ 28 h 51"/>
              <a:gd name="T34" fmla="*/ 2 w 336"/>
              <a:gd name="T35" fmla="*/ 0 h 51"/>
              <a:gd name="T36" fmla="*/ 0 w 336"/>
              <a:gd name="T37" fmla="*/ 6 h 51"/>
              <a:gd name="T38" fmla="*/ 0 w 336"/>
              <a:gd name="T39" fmla="*/ 11 h 51"/>
              <a:gd name="T40" fmla="*/ 0 w 336"/>
              <a:gd name="T41" fmla="*/ 18 h 51"/>
              <a:gd name="T42" fmla="*/ 0 w 336"/>
              <a:gd name="T43" fmla="*/ 24 h 51"/>
              <a:gd name="T44" fmla="*/ 0 w 336"/>
              <a:gd name="T45" fmla="*/ 31 h 51"/>
              <a:gd name="T46" fmla="*/ 0 w 336"/>
              <a:gd name="T47" fmla="*/ 38 h 51"/>
              <a:gd name="T48" fmla="*/ 0 w 336"/>
              <a:gd name="T49" fmla="*/ 44 h 51"/>
              <a:gd name="T50" fmla="*/ 2 w 336"/>
              <a:gd name="T51" fmla="*/ 51 h 51"/>
              <a:gd name="T52" fmla="*/ 3 w 336"/>
              <a:gd name="T53" fmla="*/ 48 h 51"/>
              <a:gd name="T54" fmla="*/ 3 w 336"/>
              <a:gd name="T55" fmla="*/ 41 h 51"/>
              <a:gd name="T56" fmla="*/ 3 w 336"/>
              <a:gd name="T57" fmla="*/ 34 h 51"/>
              <a:gd name="T58" fmla="*/ 3 w 336"/>
              <a:gd name="T59" fmla="*/ 28 h 51"/>
              <a:gd name="T60" fmla="*/ 3 w 336"/>
              <a:gd name="T61" fmla="*/ 21 h 51"/>
              <a:gd name="T62" fmla="*/ 3 w 336"/>
              <a:gd name="T63" fmla="*/ 14 h 51"/>
              <a:gd name="T64" fmla="*/ 3 w 336"/>
              <a:gd name="T65" fmla="*/ 8 h 51"/>
              <a:gd name="T66" fmla="*/ 3 w 336"/>
              <a:gd name="T67" fmla="*/ 3 h 51"/>
              <a:gd name="T68" fmla="*/ 2 w 3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6" h="51">
                <a:moveTo>
                  <a:pt x="336" y="24"/>
                </a:moveTo>
                <a:lnTo>
                  <a:pt x="336" y="21"/>
                </a:lnTo>
                <a:lnTo>
                  <a:pt x="336" y="18"/>
                </a:lnTo>
                <a:lnTo>
                  <a:pt x="334" y="14"/>
                </a:lnTo>
                <a:lnTo>
                  <a:pt x="334" y="11"/>
                </a:lnTo>
                <a:lnTo>
                  <a:pt x="334" y="8"/>
                </a:lnTo>
                <a:lnTo>
                  <a:pt x="334" y="6"/>
                </a:lnTo>
                <a:lnTo>
                  <a:pt x="334" y="3"/>
                </a:lnTo>
                <a:lnTo>
                  <a:pt x="333" y="0"/>
                </a:lnTo>
                <a:lnTo>
                  <a:pt x="329" y="0"/>
                </a:lnTo>
                <a:lnTo>
                  <a:pt x="331" y="3"/>
                </a:lnTo>
                <a:lnTo>
                  <a:pt x="331" y="6"/>
                </a:lnTo>
                <a:lnTo>
                  <a:pt x="331" y="8"/>
                </a:lnTo>
                <a:lnTo>
                  <a:pt x="331" y="11"/>
                </a:lnTo>
                <a:lnTo>
                  <a:pt x="331" y="14"/>
                </a:lnTo>
                <a:lnTo>
                  <a:pt x="333" y="18"/>
                </a:lnTo>
                <a:lnTo>
                  <a:pt x="333" y="21"/>
                </a:lnTo>
                <a:lnTo>
                  <a:pt x="333" y="24"/>
                </a:lnTo>
                <a:lnTo>
                  <a:pt x="333" y="28"/>
                </a:lnTo>
                <a:lnTo>
                  <a:pt x="333" y="31"/>
                </a:lnTo>
                <a:lnTo>
                  <a:pt x="333" y="34"/>
                </a:lnTo>
                <a:lnTo>
                  <a:pt x="331" y="38"/>
                </a:lnTo>
                <a:lnTo>
                  <a:pt x="331" y="41"/>
                </a:lnTo>
                <a:lnTo>
                  <a:pt x="331" y="44"/>
                </a:lnTo>
                <a:lnTo>
                  <a:pt x="331" y="48"/>
                </a:lnTo>
                <a:lnTo>
                  <a:pt x="331" y="51"/>
                </a:lnTo>
                <a:lnTo>
                  <a:pt x="334" y="51"/>
                </a:lnTo>
                <a:lnTo>
                  <a:pt x="334" y="48"/>
                </a:lnTo>
                <a:lnTo>
                  <a:pt x="334" y="44"/>
                </a:lnTo>
                <a:lnTo>
                  <a:pt x="334" y="41"/>
                </a:lnTo>
                <a:lnTo>
                  <a:pt x="334" y="38"/>
                </a:lnTo>
                <a:lnTo>
                  <a:pt x="336" y="34"/>
                </a:lnTo>
                <a:lnTo>
                  <a:pt x="336" y="31"/>
                </a:lnTo>
                <a:lnTo>
                  <a:pt x="336" y="28"/>
                </a:lnTo>
                <a:lnTo>
                  <a:pt x="336" y="24"/>
                </a:lnTo>
                <a:close/>
                <a:moveTo>
                  <a:pt x="2" y="0"/>
                </a:moveTo>
                <a:lnTo>
                  <a:pt x="0" y="3"/>
                </a:lnTo>
                <a:lnTo>
                  <a:pt x="0" y="6"/>
                </a:lnTo>
                <a:lnTo>
                  <a:pt x="0" y="8"/>
                </a:lnTo>
                <a:lnTo>
                  <a:pt x="0" y="11"/>
                </a:lnTo>
                <a:lnTo>
                  <a:pt x="0" y="14"/>
                </a:lnTo>
                <a:lnTo>
                  <a:pt x="0" y="18"/>
                </a:lnTo>
                <a:lnTo>
                  <a:pt x="0" y="21"/>
                </a:lnTo>
                <a:lnTo>
                  <a:pt x="0" y="24"/>
                </a:lnTo>
                <a:lnTo>
                  <a:pt x="0" y="28"/>
                </a:lnTo>
                <a:lnTo>
                  <a:pt x="0" y="31"/>
                </a:lnTo>
                <a:lnTo>
                  <a:pt x="0" y="34"/>
                </a:lnTo>
                <a:lnTo>
                  <a:pt x="0" y="38"/>
                </a:lnTo>
                <a:lnTo>
                  <a:pt x="0" y="41"/>
                </a:lnTo>
                <a:lnTo>
                  <a:pt x="0" y="44"/>
                </a:lnTo>
                <a:lnTo>
                  <a:pt x="0" y="48"/>
                </a:lnTo>
                <a:lnTo>
                  <a:pt x="2" y="51"/>
                </a:lnTo>
                <a:lnTo>
                  <a:pt x="5" y="51"/>
                </a:lnTo>
                <a:lnTo>
                  <a:pt x="3" y="48"/>
                </a:lnTo>
                <a:lnTo>
                  <a:pt x="3" y="44"/>
                </a:lnTo>
                <a:lnTo>
                  <a:pt x="3" y="41"/>
                </a:lnTo>
                <a:lnTo>
                  <a:pt x="3" y="38"/>
                </a:lnTo>
                <a:lnTo>
                  <a:pt x="3" y="34"/>
                </a:lnTo>
                <a:lnTo>
                  <a:pt x="3" y="31"/>
                </a:lnTo>
                <a:lnTo>
                  <a:pt x="3" y="28"/>
                </a:lnTo>
                <a:lnTo>
                  <a:pt x="2" y="24"/>
                </a:lnTo>
                <a:lnTo>
                  <a:pt x="3" y="21"/>
                </a:lnTo>
                <a:lnTo>
                  <a:pt x="3" y="18"/>
                </a:lnTo>
                <a:lnTo>
                  <a:pt x="3" y="14"/>
                </a:lnTo>
                <a:lnTo>
                  <a:pt x="3" y="11"/>
                </a:lnTo>
                <a:lnTo>
                  <a:pt x="3" y="8"/>
                </a:lnTo>
                <a:lnTo>
                  <a:pt x="3" y="6"/>
                </a:lnTo>
                <a:lnTo>
                  <a:pt x="3" y="3"/>
                </a:lnTo>
                <a:lnTo>
                  <a:pt x="5" y="0"/>
                </a:lnTo>
                <a:lnTo>
                  <a:pt x="2"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51" name="Freeform 1756">
            <a:extLst>
              <a:ext uri="{FF2B5EF4-FFF2-40B4-BE49-F238E27FC236}">
                <a16:creationId xmlns:a16="http://schemas.microsoft.com/office/drawing/2014/main" id="{998C165D-E442-EC1A-9EF5-A79C365BDA6B}"/>
              </a:ext>
            </a:extLst>
          </p:cNvPr>
          <p:cNvSpPr>
            <a:spLocks noEditPoints="1"/>
          </p:cNvSpPr>
          <p:nvPr/>
        </p:nvSpPr>
        <p:spPr bwMode="auto">
          <a:xfrm>
            <a:off x="2292350" y="2719388"/>
            <a:ext cx="530225" cy="80963"/>
          </a:xfrm>
          <a:custGeom>
            <a:avLst/>
            <a:gdLst>
              <a:gd name="T0" fmla="*/ 334 w 334"/>
              <a:gd name="T1" fmla="*/ 21 h 51"/>
              <a:gd name="T2" fmla="*/ 333 w 334"/>
              <a:gd name="T3" fmla="*/ 14 h 51"/>
              <a:gd name="T4" fmla="*/ 333 w 334"/>
              <a:gd name="T5" fmla="*/ 8 h 51"/>
              <a:gd name="T6" fmla="*/ 333 w 334"/>
              <a:gd name="T7" fmla="*/ 3 h 51"/>
              <a:gd name="T8" fmla="*/ 328 w 334"/>
              <a:gd name="T9" fmla="*/ 0 h 51"/>
              <a:gd name="T10" fmla="*/ 329 w 334"/>
              <a:gd name="T11" fmla="*/ 6 h 51"/>
              <a:gd name="T12" fmla="*/ 329 w 334"/>
              <a:gd name="T13" fmla="*/ 11 h 51"/>
              <a:gd name="T14" fmla="*/ 331 w 334"/>
              <a:gd name="T15" fmla="*/ 18 h 51"/>
              <a:gd name="T16" fmla="*/ 331 w 334"/>
              <a:gd name="T17" fmla="*/ 24 h 51"/>
              <a:gd name="T18" fmla="*/ 331 w 334"/>
              <a:gd name="T19" fmla="*/ 31 h 51"/>
              <a:gd name="T20" fmla="*/ 329 w 334"/>
              <a:gd name="T21" fmla="*/ 38 h 51"/>
              <a:gd name="T22" fmla="*/ 329 w 334"/>
              <a:gd name="T23" fmla="*/ 44 h 51"/>
              <a:gd name="T24" fmla="*/ 329 w 334"/>
              <a:gd name="T25" fmla="*/ 51 h 51"/>
              <a:gd name="T26" fmla="*/ 333 w 334"/>
              <a:gd name="T27" fmla="*/ 48 h 51"/>
              <a:gd name="T28" fmla="*/ 333 w 334"/>
              <a:gd name="T29" fmla="*/ 41 h 51"/>
              <a:gd name="T30" fmla="*/ 334 w 334"/>
              <a:gd name="T31" fmla="*/ 34 h 51"/>
              <a:gd name="T32" fmla="*/ 334 w 334"/>
              <a:gd name="T33" fmla="*/ 28 h 51"/>
              <a:gd name="T34" fmla="*/ 3 w 334"/>
              <a:gd name="T35" fmla="*/ 0 h 51"/>
              <a:gd name="T36" fmla="*/ 2 w 334"/>
              <a:gd name="T37" fmla="*/ 6 h 51"/>
              <a:gd name="T38" fmla="*/ 2 w 334"/>
              <a:gd name="T39" fmla="*/ 11 h 51"/>
              <a:gd name="T40" fmla="*/ 2 w 334"/>
              <a:gd name="T41" fmla="*/ 18 h 51"/>
              <a:gd name="T42" fmla="*/ 0 w 334"/>
              <a:gd name="T43" fmla="*/ 24 h 51"/>
              <a:gd name="T44" fmla="*/ 2 w 334"/>
              <a:gd name="T45" fmla="*/ 31 h 51"/>
              <a:gd name="T46" fmla="*/ 2 w 334"/>
              <a:gd name="T47" fmla="*/ 38 h 51"/>
              <a:gd name="T48" fmla="*/ 2 w 334"/>
              <a:gd name="T49" fmla="*/ 44 h 51"/>
              <a:gd name="T50" fmla="*/ 3 w 334"/>
              <a:gd name="T51" fmla="*/ 51 h 51"/>
              <a:gd name="T52" fmla="*/ 5 w 334"/>
              <a:gd name="T53" fmla="*/ 48 h 51"/>
              <a:gd name="T54" fmla="*/ 5 w 334"/>
              <a:gd name="T55" fmla="*/ 41 h 51"/>
              <a:gd name="T56" fmla="*/ 5 w 334"/>
              <a:gd name="T57" fmla="*/ 34 h 51"/>
              <a:gd name="T58" fmla="*/ 5 w 334"/>
              <a:gd name="T59" fmla="*/ 28 h 51"/>
              <a:gd name="T60" fmla="*/ 5 w 334"/>
              <a:gd name="T61" fmla="*/ 21 h 51"/>
              <a:gd name="T62" fmla="*/ 5 w 334"/>
              <a:gd name="T63" fmla="*/ 14 h 51"/>
              <a:gd name="T64" fmla="*/ 5 w 334"/>
              <a:gd name="T65" fmla="*/ 8 h 51"/>
              <a:gd name="T66" fmla="*/ 5 w 334"/>
              <a:gd name="T67" fmla="*/ 3 h 51"/>
              <a:gd name="T68" fmla="*/ 3 w 33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4" h="51">
                <a:moveTo>
                  <a:pt x="334" y="24"/>
                </a:moveTo>
                <a:lnTo>
                  <a:pt x="334" y="21"/>
                </a:lnTo>
                <a:lnTo>
                  <a:pt x="334" y="18"/>
                </a:lnTo>
                <a:lnTo>
                  <a:pt x="333" y="14"/>
                </a:lnTo>
                <a:lnTo>
                  <a:pt x="333" y="11"/>
                </a:lnTo>
                <a:lnTo>
                  <a:pt x="333" y="8"/>
                </a:lnTo>
                <a:lnTo>
                  <a:pt x="333" y="6"/>
                </a:lnTo>
                <a:lnTo>
                  <a:pt x="333" y="3"/>
                </a:lnTo>
                <a:lnTo>
                  <a:pt x="331" y="0"/>
                </a:lnTo>
                <a:lnTo>
                  <a:pt x="328" y="0"/>
                </a:lnTo>
                <a:lnTo>
                  <a:pt x="329" y="3"/>
                </a:lnTo>
                <a:lnTo>
                  <a:pt x="329" y="6"/>
                </a:lnTo>
                <a:lnTo>
                  <a:pt x="329" y="8"/>
                </a:lnTo>
                <a:lnTo>
                  <a:pt x="329" y="11"/>
                </a:lnTo>
                <a:lnTo>
                  <a:pt x="329" y="14"/>
                </a:lnTo>
                <a:lnTo>
                  <a:pt x="331" y="18"/>
                </a:lnTo>
                <a:lnTo>
                  <a:pt x="331" y="21"/>
                </a:lnTo>
                <a:lnTo>
                  <a:pt x="331" y="24"/>
                </a:lnTo>
                <a:lnTo>
                  <a:pt x="331" y="28"/>
                </a:lnTo>
                <a:lnTo>
                  <a:pt x="331" y="31"/>
                </a:lnTo>
                <a:lnTo>
                  <a:pt x="331" y="34"/>
                </a:lnTo>
                <a:lnTo>
                  <a:pt x="329" y="38"/>
                </a:lnTo>
                <a:lnTo>
                  <a:pt x="329" y="41"/>
                </a:lnTo>
                <a:lnTo>
                  <a:pt x="329" y="44"/>
                </a:lnTo>
                <a:lnTo>
                  <a:pt x="329" y="48"/>
                </a:lnTo>
                <a:lnTo>
                  <a:pt x="329" y="51"/>
                </a:lnTo>
                <a:lnTo>
                  <a:pt x="333" y="51"/>
                </a:lnTo>
                <a:lnTo>
                  <a:pt x="333" y="48"/>
                </a:lnTo>
                <a:lnTo>
                  <a:pt x="333" y="44"/>
                </a:lnTo>
                <a:lnTo>
                  <a:pt x="333" y="41"/>
                </a:lnTo>
                <a:lnTo>
                  <a:pt x="333" y="38"/>
                </a:lnTo>
                <a:lnTo>
                  <a:pt x="334" y="34"/>
                </a:lnTo>
                <a:lnTo>
                  <a:pt x="334" y="31"/>
                </a:lnTo>
                <a:lnTo>
                  <a:pt x="334" y="28"/>
                </a:lnTo>
                <a:lnTo>
                  <a:pt x="334" y="24"/>
                </a:lnTo>
                <a:close/>
                <a:moveTo>
                  <a:pt x="3" y="0"/>
                </a:moveTo>
                <a:lnTo>
                  <a:pt x="2" y="3"/>
                </a:lnTo>
                <a:lnTo>
                  <a:pt x="2" y="6"/>
                </a:lnTo>
                <a:lnTo>
                  <a:pt x="2" y="8"/>
                </a:lnTo>
                <a:lnTo>
                  <a:pt x="2" y="11"/>
                </a:lnTo>
                <a:lnTo>
                  <a:pt x="2" y="14"/>
                </a:lnTo>
                <a:lnTo>
                  <a:pt x="2" y="18"/>
                </a:lnTo>
                <a:lnTo>
                  <a:pt x="2" y="21"/>
                </a:lnTo>
                <a:lnTo>
                  <a:pt x="0" y="24"/>
                </a:lnTo>
                <a:lnTo>
                  <a:pt x="2"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5" y="28"/>
                </a:lnTo>
                <a:lnTo>
                  <a:pt x="3" y="24"/>
                </a:lnTo>
                <a:lnTo>
                  <a:pt x="5" y="21"/>
                </a:lnTo>
                <a:lnTo>
                  <a:pt x="5" y="18"/>
                </a:lnTo>
                <a:lnTo>
                  <a:pt x="5" y="14"/>
                </a:lnTo>
                <a:lnTo>
                  <a:pt x="5" y="11"/>
                </a:lnTo>
                <a:lnTo>
                  <a:pt x="5" y="8"/>
                </a:lnTo>
                <a:lnTo>
                  <a:pt x="5" y="6"/>
                </a:lnTo>
                <a:lnTo>
                  <a:pt x="5" y="3"/>
                </a:lnTo>
                <a:lnTo>
                  <a:pt x="7" y="0"/>
                </a:lnTo>
                <a:lnTo>
                  <a:pt x="3"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52" name="Freeform 1757">
            <a:extLst>
              <a:ext uri="{FF2B5EF4-FFF2-40B4-BE49-F238E27FC236}">
                <a16:creationId xmlns:a16="http://schemas.microsoft.com/office/drawing/2014/main" id="{068B3B19-11D6-D498-1CD6-1084159D88B9}"/>
              </a:ext>
            </a:extLst>
          </p:cNvPr>
          <p:cNvSpPr>
            <a:spLocks noEditPoints="1"/>
          </p:cNvSpPr>
          <p:nvPr/>
        </p:nvSpPr>
        <p:spPr bwMode="auto">
          <a:xfrm>
            <a:off x="2295525" y="2719388"/>
            <a:ext cx="525463" cy="80963"/>
          </a:xfrm>
          <a:custGeom>
            <a:avLst/>
            <a:gdLst>
              <a:gd name="T0" fmla="*/ 331 w 331"/>
              <a:gd name="T1" fmla="*/ 21 h 51"/>
              <a:gd name="T2" fmla="*/ 329 w 331"/>
              <a:gd name="T3" fmla="*/ 14 h 51"/>
              <a:gd name="T4" fmla="*/ 329 w 331"/>
              <a:gd name="T5" fmla="*/ 8 h 51"/>
              <a:gd name="T6" fmla="*/ 329 w 331"/>
              <a:gd name="T7" fmla="*/ 3 h 51"/>
              <a:gd name="T8" fmla="*/ 324 w 331"/>
              <a:gd name="T9" fmla="*/ 0 h 51"/>
              <a:gd name="T10" fmla="*/ 326 w 331"/>
              <a:gd name="T11" fmla="*/ 6 h 51"/>
              <a:gd name="T12" fmla="*/ 326 w 331"/>
              <a:gd name="T13" fmla="*/ 11 h 51"/>
              <a:gd name="T14" fmla="*/ 327 w 331"/>
              <a:gd name="T15" fmla="*/ 18 h 51"/>
              <a:gd name="T16" fmla="*/ 327 w 331"/>
              <a:gd name="T17" fmla="*/ 24 h 51"/>
              <a:gd name="T18" fmla="*/ 327 w 331"/>
              <a:gd name="T19" fmla="*/ 31 h 51"/>
              <a:gd name="T20" fmla="*/ 326 w 331"/>
              <a:gd name="T21" fmla="*/ 38 h 51"/>
              <a:gd name="T22" fmla="*/ 326 w 331"/>
              <a:gd name="T23" fmla="*/ 44 h 51"/>
              <a:gd name="T24" fmla="*/ 326 w 331"/>
              <a:gd name="T25" fmla="*/ 51 h 51"/>
              <a:gd name="T26" fmla="*/ 329 w 331"/>
              <a:gd name="T27" fmla="*/ 48 h 51"/>
              <a:gd name="T28" fmla="*/ 329 w 331"/>
              <a:gd name="T29" fmla="*/ 41 h 51"/>
              <a:gd name="T30" fmla="*/ 331 w 331"/>
              <a:gd name="T31" fmla="*/ 34 h 51"/>
              <a:gd name="T32" fmla="*/ 331 w 331"/>
              <a:gd name="T33" fmla="*/ 28 h 51"/>
              <a:gd name="T34" fmla="*/ 3 w 331"/>
              <a:gd name="T35" fmla="*/ 0 h 51"/>
              <a:gd name="T36" fmla="*/ 1 w 331"/>
              <a:gd name="T37" fmla="*/ 6 h 51"/>
              <a:gd name="T38" fmla="*/ 1 w 331"/>
              <a:gd name="T39" fmla="*/ 11 h 51"/>
              <a:gd name="T40" fmla="*/ 1 w 331"/>
              <a:gd name="T41" fmla="*/ 18 h 51"/>
              <a:gd name="T42" fmla="*/ 0 w 331"/>
              <a:gd name="T43" fmla="*/ 24 h 51"/>
              <a:gd name="T44" fmla="*/ 1 w 331"/>
              <a:gd name="T45" fmla="*/ 31 h 51"/>
              <a:gd name="T46" fmla="*/ 1 w 331"/>
              <a:gd name="T47" fmla="*/ 38 h 51"/>
              <a:gd name="T48" fmla="*/ 1 w 331"/>
              <a:gd name="T49" fmla="*/ 44 h 51"/>
              <a:gd name="T50" fmla="*/ 3 w 331"/>
              <a:gd name="T51" fmla="*/ 51 h 51"/>
              <a:gd name="T52" fmla="*/ 5 w 331"/>
              <a:gd name="T53" fmla="*/ 48 h 51"/>
              <a:gd name="T54" fmla="*/ 5 w 331"/>
              <a:gd name="T55" fmla="*/ 41 h 51"/>
              <a:gd name="T56" fmla="*/ 5 w 331"/>
              <a:gd name="T57" fmla="*/ 34 h 51"/>
              <a:gd name="T58" fmla="*/ 5 w 331"/>
              <a:gd name="T59" fmla="*/ 28 h 51"/>
              <a:gd name="T60" fmla="*/ 5 w 331"/>
              <a:gd name="T61" fmla="*/ 21 h 51"/>
              <a:gd name="T62" fmla="*/ 5 w 331"/>
              <a:gd name="T63" fmla="*/ 14 h 51"/>
              <a:gd name="T64" fmla="*/ 5 w 331"/>
              <a:gd name="T65" fmla="*/ 8 h 51"/>
              <a:gd name="T66" fmla="*/ 5 w 331"/>
              <a:gd name="T67" fmla="*/ 3 h 51"/>
              <a:gd name="T68" fmla="*/ 3 w 331"/>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31" h="51">
                <a:moveTo>
                  <a:pt x="331" y="24"/>
                </a:moveTo>
                <a:lnTo>
                  <a:pt x="331" y="21"/>
                </a:lnTo>
                <a:lnTo>
                  <a:pt x="331" y="18"/>
                </a:lnTo>
                <a:lnTo>
                  <a:pt x="329" y="14"/>
                </a:lnTo>
                <a:lnTo>
                  <a:pt x="329" y="11"/>
                </a:lnTo>
                <a:lnTo>
                  <a:pt x="329" y="8"/>
                </a:lnTo>
                <a:lnTo>
                  <a:pt x="329" y="6"/>
                </a:lnTo>
                <a:lnTo>
                  <a:pt x="329" y="3"/>
                </a:lnTo>
                <a:lnTo>
                  <a:pt x="327" y="0"/>
                </a:lnTo>
                <a:lnTo>
                  <a:pt x="324" y="0"/>
                </a:lnTo>
                <a:lnTo>
                  <a:pt x="326" y="3"/>
                </a:lnTo>
                <a:lnTo>
                  <a:pt x="326" y="6"/>
                </a:lnTo>
                <a:lnTo>
                  <a:pt x="326" y="8"/>
                </a:lnTo>
                <a:lnTo>
                  <a:pt x="326" y="11"/>
                </a:lnTo>
                <a:lnTo>
                  <a:pt x="327" y="14"/>
                </a:lnTo>
                <a:lnTo>
                  <a:pt x="327" y="18"/>
                </a:lnTo>
                <a:lnTo>
                  <a:pt x="327" y="21"/>
                </a:lnTo>
                <a:lnTo>
                  <a:pt x="327" y="24"/>
                </a:lnTo>
                <a:lnTo>
                  <a:pt x="327" y="28"/>
                </a:lnTo>
                <a:lnTo>
                  <a:pt x="327" y="31"/>
                </a:lnTo>
                <a:lnTo>
                  <a:pt x="327" y="34"/>
                </a:lnTo>
                <a:lnTo>
                  <a:pt x="326" y="38"/>
                </a:lnTo>
                <a:lnTo>
                  <a:pt x="326" y="41"/>
                </a:lnTo>
                <a:lnTo>
                  <a:pt x="326" y="44"/>
                </a:lnTo>
                <a:lnTo>
                  <a:pt x="326" y="48"/>
                </a:lnTo>
                <a:lnTo>
                  <a:pt x="326" y="51"/>
                </a:lnTo>
                <a:lnTo>
                  <a:pt x="329" y="51"/>
                </a:lnTo>
                <a:lnTo>
                  <a:pt x="329" y="48"/>
                </a:lnTo>
                <a:lnTo>
                  <a:pt x="329" y="44"/>
                </a:lnTo>
                <a:lnTo>
                  <a:pt x="329" y="41"/>
                </a:lnTo>
                <a:lnTo>
                  <a:pt x="329" y="38"/>
                </a:lnTo>
                <a:lnTo>
                  <a:pt x="331" y="34"/>
                </a:lnTo>
                <a:lnTo>
                  <a:pt x="331" y="31"/>
                </a:lnTo>
                <a:lnTo>
                  <a:pt x="331" y="28"/>
                </a:lnTo>
                <a:lnTo>
                  <a:pt x="331" y="24"/>
                </a:lnTo>
                <a:close/>
                <a:moveTo>
                  <a:pt x="3" y="0"/>
                </a:moveTo>
                <a:lnTo>
                  <a:pt x="1" y="3"/>
                </a:lnTo>
                <a:lnTo>
                  <a:pt x="1" y="6"/>
                </a:lnTo>
                <a:lnTo>
                  <a:pt x="1" y="8"/>
                </a:lnTo>
                <a:lnTo>
                  <a:pt x="1" y="11"/>
                </a:lnTo>
                <a:lnTo>
                  <a:pt x="1" y="14"/>
                </a:lnTo>
                <a:lnTo>
                  <a:pt x="1" y="18"/>
                </a:lnTo>
                <a:lnTo>
                  <a:pt x="1" y="21"/>
                </a:lnTo>
                <a:lnTo>
                  <a:pt x="0" y="24"/>
                </a:lnTo>
                <a:lnTo>
                  <a:pt x="1"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5" y="28"/>
                </a:lnTo>
                <a:lnTo>
                  <a:pt x="3" y="24"/>
                </a:lnTo>
                <a:lnTo>
                  <a:pt x="5" y="21"/>
                </a:lnTo>
                <a:lnTo>
                  <a:pt x="5" y="18"/>
                </a:lnTo>
                <a:lnTo>
                  <a:pt x="5" y="14"/>
                </a:lnTo>
                <a:lnTo>
                  <a:pt x="5" y="11"/>
                </a:lnTo>
                <a:lnTo>
                  <a:pt x="5" y="8"/>
                </a:lnTo>
                <a:lnTo>
                  <a:pt x="5" y="6"/>
                </a:lnTo>
                <a:lnTo>
                  <a:pt x="5" y="3"/>
                </a:lnTo>
                <a:lnTo>
                  <a:pt x="6" y="0"/>
                </a:lnTo>
                <a:lnTo>
                  <a:pt x="3" y="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53" name="Freeform 1758">
            <a:extLst>
              <a:ext uri="{FF2B5EF4-FFF2-40B4-BE49-F238E27FC236}">
                <a16:creationId xmlns:a16="http://schemas.microsoft.com/office/drawing/2014/main" id="{15DD6A25-DCC8-3A89-74DF-A09275B09EEA}"/>
              </a:ext>
            </a:extLst>
          </p:cNvPr>
          <p:cNvSpPr>
            <a:spLocks noEditPoints="1"/>
          </p:cNvSpPr>
          <p:nvPr/>
        </p:nvSpPr>
        <p:spPr bwMode="auto">
          <a:xfrm>
            <a:off x="2297113" y="2719388"/>
            <a:ext cx="520700" cy="80963"/>
          </a:xfrm>
          <a:custGeom>
            <a:avLst/>
            <a:gdLst>
              <a:gd name="T0" fmla="*/ 328 w 328"/>
              <a:gd name="T1" fmla="*/ 21 h 51"/>
              <a:gd name="T2" fmla="*/ 326 w 328"/>
              <a:gd name="T3" fmla="*/ 14 h 51"/>
              <a:gd name="T4" fmla="*/ 326 w 328"/>
              <a:gd name="T5" fmla="*/ 8 h 51"/>
              <a:gd name="T6" fmla="*/ 326 w 328"/>
              <a:gd name="T7" fmla="*/ 3 h 51"/>
              <a:gd name="T8" fmla="*/ 322 w 328"/>
              <a:gd name="T9" fmla="*/ 0 h 51"/>
              <a:gd name="T10" fmla="*/ 323 w 328"/>
              <a:gd name="T11" fmla="*/ 6 h 51"/>
              <a:gd name="T12" fmla="*/ 323 w 328"/>
              <a:gd name="T13" fmla="*/ 11 h 51"/>
              <a:gd name="T14" fmla="*/ 325 w 328"/>
              <a:gd name="T15" fmla="*/ 18 h 51"/>
              <a:gd name="T16" fmla="*/ 325 w 328"/>
              <a:gd name="T17" fmla="*/ 24 h 51"/>
              <a:gd name="T18" fmla="*/ 325 w 328"/>
              <a:gd name="T19" fmla="*/ 31 h 51"/>
              <a:gd name="T20" fmla="*/ 323 w 328"/>
              <a:gd name="T21" fmla="*/ 38 h 51"/>
              <a:gd name="T22" fmla="*/ 323 w 328"/>
              <a:gd name="T23" fmla="*/ 44 h 51"/>
              <a:gd name="T24" fmla="*/ 323 w 328"/>
              <a:gd name="T25" fmla="*/ 51 h 51"/>
              <a:gd name="T26" fmla="*/ 326 w 328"/>
              <a:gd name="T27" fmla="*/ 48 h 51"/>
              <a:gd name="T28" fmla="*/ 326 w 328"/>
              <a:gd name="T29" fmla="*/ 41 h 51"/>
              <a:gd name="T30" fmla="*/ 328 w 328"/>
              <a:gd name="T31" fmla="*/ 34 h 51"/>
              <a:gd name="T32" fmla="*/ 328 w 328"/>
              <a:gd name="T33" fmla="*/ 28 h 51"/>
              <a:gd name="T34" fmla="*/ 4 w 328"/>
              <a:gd name="T35" fmla="*/ 0 h 51"/>
              <a:gd name="T36" fmla="*/ 2 w 328"/>
              <a:gd name="T37" fmla="*/ 6 h 51"/>
              <a:gd name="T38" fmla="*/ 2 w 328"/>
              <a:gd name="T39" fmla="*/ 11 h 51"/>
              <a:gd name="T40" fmla="*/ 2 w 328"/>
              <a:gd name="T41" fmla="*/ 18 h 51"/>
              <a:gd name="T42" fmla="*/ 0 w 328"/>
              <a:gd name="T43" fmla="*/ 24 h 51"/>
              <a:gd name="T44" fmla="*/ 2 w 328"/>
              <a:gd name="T45" fmla="*/ 31 h 51"/>
              <a:gd name="T46" fmla="*/ 2 w 328"/>
              <a:gd name="T47" fmla="*/ 38 h 51"/>
              <a:gd name="T48" fmla="*/ 2 w 328"/>
              <a:gd name="T49" fmla="*/ 44 h 51"/>
              <a:gd name="T50" fmla="*/ 4 w 328"/>
              <a:gd name="T51" fmla="*/ 51 h 51"/>
              <a:gd name="T52" fmla="*/ 5 w 328"/>
              <a:gd name="T53" fmla="*/ 48 h 51"/>
              <a:gd name="T54" fmla="*/ 5 w 328"/>
              <a:gd name="T55" fmla="*/ 41 h 51"/>
              <a:gd name="T56" fmla="*/ 5 w 328"/>
              <a:gd name="T57" fmla="*/ 34 h 51"/>
              <a:gd name="T58" fmla="*/ 5 w 328"/>
              <a:gd name="T59" fmla="*/ 28 h 51"/>
              <a:gd name="T60" fmla="*/ 5 w 328"/>
              <a:gd name="T61" fmla="*/ 21 h 51"/>
              <a:gd name="T62" fmla="*/ 5 w 328"/>
              <a:gd name="T63" fmla="*/ 14 h 51"/>
              <a:gd name="T64" fmla="*/ 5 w 328"/>
              <a:gd name="T65" fmla="*/ 8 h 51"/>
              <a:gd name="T66" fmla="*/ 5 w 328"/>
              <a:gd name="T67" fmla="*/ 3 h 51"/>
              <a:gd name="T68" fmla="*/ 4 w 32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8" h="51">
                <a:moveTo>
                  <a:pt x="328" y="24"/>
                </a:moveTo>
                <a:lnTo>
                  <a:pt x="328" y="21"/>
                </a:lnTo>
                <a:lnTo>
                  <a:pt x="328" y="18"/>
                </a:lnTo>
                <a:lnTo>
                  <a:pt x="326" y="14"/>
                </a:lnTo>
                <a:lnTo>
                  <a:pt x="326" y="11"/>
                </a:lnTo>
                <a:lnTo>
                  <a:pt x="326" y="8"/>
                </a:lnTo>
                <a:lnTo>
                  <a:pt x="326" y="6"/>
                </a:lnTo>
                <a:lnTo>
                  <a:pt x="326" y="3"/>
                </a:lnTo>
                <a:lnTo>
                  <a:pt x="325" y="0"/>
                </a:lnTo>
                <a:lnTo>
                  <a:pt x="322" y="0"/>
                </a:lnTo>
                <a:lnTo>
                  <a:pt x="323" y="3"/>
                </a:lnTo>
                <a:lnTo>
                  <a:pt x="323" y="6"/>
                </a:lnTo>
                <a:lnTo>
                  <a:pt x="323" y="8"/>
                </a:lnTo>
                <a:lnTo>
                  <a:pt x="323" y="11"/>
                </a:lnTo>
                <a:lnTo>
                  <a:pt x="325" y="14"/>
                </a:lnTo>
                <a:lnTo>
                  <a:pt x="325" y="18"/>
                </a:lnTo>
                <a:lnTo>
                  <a:pt x="325" y="21"/>
                </a:lnTo>
                <a:lnTo>
                  <a:pt x="325" y="24"/>
                </a:lnTo>
                <a:lnTo>
                  <a:pt x="325" y="28"/>
                </a:lnTo>
                <a:lnTo>
                  <a:pt x="325" y="31"/>
                </a:lnTo>
                <a:lnTo>
                  <a:pt x="325" y="34"/>
                </a:lnTo>
                <a:lnTo>
                  <a:pt x="323" y="38"/>
                </a:lnTo>
                <a:lnTo>
                  <a:pt x="323" y="41"/>
                </a:lnTo>
                <a:lnTo>
                  <a:pt x="323" y="44"/>
                </a:lnTo>
                <a:lnTo>
                  <a:pt x="323" y="48"/>
                </a:lnTo>
                <a:lnTo>
                  <a:pt x="323" y="51"/>
                </a:lnTo>
                <a:lnTo>
                  <a:pt x="326" y="51"/>
                </a:lnTo>
                <a:lnTo>
                  <a:pt x="326" y="48"/>
                </a:lnTo>
                <a:lnTo>
                  <a:pt x="326" y="44"/>
                </a:lnTo>
                <a:lnTo>
                  <a:pt x="326" y="41"/>
                </a:lnTo>
                <a:lnTo>
                  <a:pt x="326" y="38"/>
                </a:lnTo>
                <a:lnTo>
                  <a:pt x="328" y="34"/>
                </a:lnTo>
                <a:lnTo>
                  <a:pt x="328" y="31"/>
                </a:lnTo>
                <a:lnTo>
                  <a:pt x="328" y="28"/>
                </a:lnTo>
                <a:lnTo>
                  <a:pt x="328" y="24"/>
                </a:lnTo>
                <a:close/>
                <a:moveTo>
                  <a:pt x="4" y="0"/>
                </a:moveTo>
                <a:lnTo>
                  <a:pt x="2" y="3"/>
                </a:lnTo>
                <a:lnTo>
                  <a:pt x="2" y="6"/>
                </a:lnTo>
                <a:lnTo>
                  <a:pt x="2" y="8"/>
                </a:lnTo>
                <a:lnTo>
                  <a:pt x="2" y="11"/>
                </a:lnTo>
                <a:lnTo>
                  <a:pt x="2" y="14"/>
                </a:lnTo>
                <a:lnTo>
                  <a:pt x="2" y="18"/>
                </a:lnTo>
                <a:lnTo>
                  <a:pt x="2" y="21"/>
                </a:lnTo>
                <a:lnTo>
                  <a:pt x="0" y="24"/>
                </a:lnTo>
                <a:lnTo>
                  <a:pt x="2"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5" y="28"/>
                </a:lnTo>
                <a:lnTo>
                  <a:pt x="4" y="24"/>
                </a:lnTo>
                <a:lnTo>
                  <a:pt x="5" y="21"/>
                </a:lnTo>
                <a:lnTo>
                  <a:pt x="5" y="18"/>
                </a:lnTo>
                <a:lnTo>
                  <a:pt x="5" y="14"/>
                </a:lnTo>
                <a:lnTo>
                  <a:pt x="5" y="11"/>
                </a:lnTo>
                <a:lnTo>
                  <a:pt x="5" y="8"/>
                </a:lnTo>
                <a:lnTo>
                  <a:pt x="5" y="6"/>
                </a:lnTo>
                <a:lnTo>
                  <a:pt x="5" y="3"/>
                </a:lnTo>
                <a:lnTo>
                  <a:pt x="7" y="0"/>
                </a:lnTo>
                <a:lnTo>
                  <a:pt x="4"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54" name="Freeform 1759">
            <a:extLst>
              <a:ext uri="{FF2B5EF4-FFF2-40B4-BE49-F238E27FC236}">
                <a16:creationId xmlns:a16="http://schemas.microsoft.com/office/drawing/2014/main" id="{D57EE220-A007-4444-01F0-40DCB8306A07}"/>
              </a:ext>
            </a:extLst>
          </p:cNvPr>
          <p:cNvSpPr>
            <a:spLocks noEditPoints="1"/>
          </p:cNvSpPr>
          <p:nvPr/>
        </p:nvSpPr>
        <p:spPr bwMode="auto">
          <a:xfrm>
            <a:off x="2300288" y="2719388"/>
            <a:ext cx="514350" cy="80963"/>
          </a:xfrm>
          <a:custGeom>
            <a:avLst/>
            <a:gdLst>
              <a:gd name="T0" fmla="*/ 324 w 324"/>
              <a:gd name="T1" fmla="*/ 21 h 51"/>
              <a:gd name="T2" fmla="*/ 323 w 324"/>
              <a:gd name="T3" fmla="*/ 14 h 51"/>
              <a:gd name="T4" fmla="*/ 323 w 324"/>
              <a:gd name="T5" fmla="*/ 8 h 51"/>
              <a:gd name="T6" fmla="*/ 323 w 324"/>
              <a:gd name="T7" fmla="*/ 3 h 51"/>
              <a:gd name="T8" fmla="*/ 318 w 324"/>
              <a:gd name="T9" fmla="*/ 0 h 51"/>
              <a:gd name="T10" fmla="*/ 320 w 324"/>
              <a:gd name="T11" fmla="*/ 6 h 51"/>
              <a:gd name="T12" fmla="*/ 320 w 324"/>
              <a:gd name="T13" fmla="*/ 11 h 51"/>
              <a:gd name="T14" fmla="*/ 321 w 324"/>
              <a:gd name="T15" fmla="*/ 18 h 51"/>
              <a:gd name="T16" fmla="*/ 321 w 324"/>
              <a:gd name="T17" fmla="*/ 24 h 51"/>
              <a:gd name="T18" fmla="*/ 321 w 324"/>
              <a:gd name="T19" fmla="*/ 31 h 51"/>
              <a:gd name="T20" fmla="*/ 320 w 324"/>
              <a:gd name="T21" fmla="*/ 38 h 51"/>
              <a:gd name="T22" fmla="*/ 320 w 324"/>
              <a:gd name="T23" fmla="*/ 44 h 51"/>
              <a:gd name="T24" fmla="*/ 318 w 324"/>
              <a:gd name="T25" fmla="*/ 51 h 51"/>
              <a:gd name="T26" fmla="*/ 323 w 324"/>
              <a:gd name="T27" fmla="*/ 48 h 51"/>
              <a:gd name="T28" fmla="*/ 323 w 324"/>
              <a:gd name="T29" fmla="*/ 41 h 51"/>
              <a:gd name="T30" fmla="*/ 324 w 324"/>
              <a:gd name="T31" fmla="*/ 34 h 51"/>
              <a:gd name="T32" fmla="*/ 324 w 324"/>
              <a:gd name="T33" fmla="*/ 28 h 51"/>
              <a:gd name="T34" fmla="*/ 3 w 324"/>
              <a:gd name="T35" fmla="*/ 0 h 51"/>
              <a:gd name="T36" fmla="*/ 2 w 324"/>
              <a:gd name="T37" fmla="*/ 6 h 51"/>
              <a:gd name="T38" fmla="*/ 2 w 324"/>
              <a:gd name="T39" fmla="*/ 11 h 51"/>
              <a:gd name="T40" fmla="*/ 2 w 324"/>
              <a:gd name="T41" fmla="*/ 18 h 51"/>
              <a:gd name="T42" fmla="*/ 0 w 324"/>
              <a:gd name="T43" fmla="*/ 24 h 51"/>
              <a:gd name="T44" fmla="*/ 2 w 324"/>
              <a:gd name="T45" fmla="*/ 31 h 51"/>
              <a:gd name="T46" fmla="*/ 2 w 324"/>
              <a:gd name="T47" fmla="*/ 38 h 51"/>
              <a:gd name="T48" fmla="*/ 2 w 324"/>
              <a:gd name="T49" fmla="*/ 44 h 51"/>
              <a:gd name="T50" fmla="*/ 3 w 324"/>
              <a:gd name="T51" fmla="*/ 51 h 51"/>
              <a:gd name="T52" fmla="*/ 5 w 324"/>
              <a:gd name="T53" fmla="*/ 48 h 51"/>
              <a:gd name="T54" fmla="*/ 5 w 324"/>
              <a:gd name="T55" fmla="*/ 41 h 51"/>
              <a:gd name="T56" fmla="*/ 5 w 324"/>
              <a:gd name="T57" fmla="*/ 34 h 51"/>
              <a:gd name="T58" fmla="*/ 3 w 324"/>
              <a:gd name="T59" fmla="*/ 28 h 51"/>
              <a:gd name="T60" fmla="*/ 3 w 324"/>
              <a:gd name="T61" fmla="*/ 21 h 51"/>
              <a:gd name="T62" fmla="*/ 5 w 324"/>
              <a:gd name="T63" fmla="*/ 14 h 51"/>
              <a:gd name="T64" fmla="*/ 5 w 324"/>
              <a:gd name="T65" fmla="*/ 8 h 51"/>
              <a:gd name="T66" fmla="*/ 5 w 324"/>
              <a:gd name="T67" fmla="*/ 3 h 51"/>
              <a:gd name="T68" fmla="*/ 3 w 324"/>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4" h="51">
                <a:moveTo>
                  <a:pt x="324" y="24"/>
                </a:moveTo>
                <a:lnTo>
                  <a:pt x="324" y="21"/>
                </a:lnTo>
                <a:lnTo>
                  <a:pt x="324" y="18"/>
                </a:lnTo>
                <a:lnTo>
                  <a:pt x="323" y="14"/>
                </a:lnTo>
                <a:lnTo>
                  <a:pt x="323" y="11"/>
                </a:lnTo>
                <a:lnTo>
                  <a:pt x="323" y="8"/>
                </a:lnTo>
                <a:lnTo>
                  <a:pt x="323" y="6"/>
                </a:lnTo>
                <a:lnTo>
                  <a:pt x="323" y="3"/>
                </a:lnTo>
                <a:lnTo>
                  <a:pt x="321" y="0"/>
                </a:lnTo>
                <a:lnTo>
                  <a:pt x="318" y="0"/>
                </a:lnTo>
                <a:lnTo>
                  <a:pt x="320" y="3"/>
                </a:lnTo>
                <a:lnTo>
                  <a:pt x="320" y="6"/>
                </a:lnTo>
                <a:lnTo>
                  <a:pt x="320" y="8"/>
                </a:lnTo>
                <a:lnTo>
                  <a:pt x="320" y="11"/>
                </a:lnTo>
                <a:lnTo>
                  <a:pt x="321" y="14"/>
                </a:lnTo>
                <a:lnTo>
                  <a:pt x="321" y="18"/>
                </a:lnTo>
                <a:lnTo>
                  <a:pt x="321" y="21"/>
                </a:lnTo>
                <a:lnTo>
                  <a:pt x="321" y="24"/>
                </a:lnTo>
                <a:lnTo>
                  <a:pt x="321" y="28"/>
                </a:lnTo>
                <a:lnTo>
                  <a:pt x="321" y="31"/>
                </a:lnTo>
                <a:lnTo>
                  <a:pt x="321" y="34"/>
                </a:lnTo>
                <a:lnTo>
                  <a:pt x="320" y="38"/>
                </a:lnTo>
                <a:lnTo>
                  <a:pt x="320" y="41"/>
                </a:lnTo>
                <a:lnTo>
                  <a:pt x="320" y="44"/>
                </a:lnTo>
                <a:lnTo>
                  <a:pt x="320" y="48"/>
                </a:lnTo>
                <a:lnTo>
                  <a:pt x="318" y="51"/>
                </a:lnTo>
                <a:lnTo>
                  <a:pt x="323" y="51"/>
                </a:lnTo>
                <a:lnTo>
                  <a:pt x="323" y="48"/>
                </a:lnTo>
                <a:lnTo>
                  <a:pt x="323" y="44"/>
                </a:lnTo>
                <a:lnTo>
                  <a:pt x="323" y="41"/>
                </a:lnTo>
                <a:lnTo>
                  <a:pt x="323" y="38"/>
                </a:lnTo>
                <a:lnTo>
                  <a:pt x="324" y="34"/>
                </a:lnTo>
                <a:lnTo>
                  <a:pt x="324" y="31"/>
                </a:lnTo>
                <a:lnTo>
                  <a:pt x="324" y="28"/>
                </a:lnTo>
                <a:lnTo>
                  <a:pt x="324" y="24"/>
                </a:lnTo>
                <a:close/>
                <a:moveTo>
                  <a:pt x="3" y="0"/>
                </a:moveTo>
                <a:lnTo>
                  <a:pt x="2" y="3"/>
                </a:lnTo>
                <a:lnTo>
                  <a:pt x="2" y="6"/>
                </a:lnTo>
                <a:lnTo>
                  <a:pt x="2" y="8"/>
                </a:lnTo>
                <a:lnTo>
                  <a:pt x="2" y="11"/>
                </a:lnTo>
                <a:lnTo>
                  <a:pt x="2" y="14"/>
                </a:lnTo>
                <a:lnTo>
                  <a:pt x="2" y="18"/>
                </a:lnTo>
                <a:lnTo>
                  <a:pt x="2" y="21"/>
                </a:lnTo>
                <a:lnTo>
                  <a:pt x="0" y="24"/>
                </a:lnTo>
                <a:lnTo>
                  <a:pt x="2"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5" y="3"/>
                </a:lnTo>
                <a:lnTo>
                  <a:pt x="7" y="0"/>
                </a:lnTo>
                <a:lnTo>
                  <a:pt x="3"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55" name="Freeform 1760">
            <a:extLst>
              <a:ext uri="{FF2B5EF4-FFF2-40B4-BE49-F238E27FC236}">
                <a16:creationId xmlns:a16="http://schemas.microsoft.com/office/drawing/2014/main" id="{EF3A61BC-8A8E-7A17-4ED8-32AC7CB750AA}"/>
              </a:ext>
            </a:extLst>
          </p:cNvPr>
          <p:cNvSpPr>
            <a:spLocks noEditPoints="1"/>
          </p:cNvSpPr>
          <p:nvPr/>
        </p:nvSpPr>
        <p:spPr bwMode="auto">
          <a:xfrm>
            <a:off x="2303463" y="2719388"/>
            <a:ext cx="509588" cy="80963"/>
          </a:xfrm>
          <a:custGeom>
            <a:avLst/>
            <a:gdLst>
              <a:gd name="T0" fmla="*/ 321 w 321"/>
              <a:gd name="T1" fmla="*/ 21 h 51"/>
              <a:gd name="T2" fmla="*/ 321 w 321"/>
              <a:gd name="T3" fmla="*/ 14 h 51"/>
              <a:gd name="T4" fmla="*/ 319 w 321"/>
              <a:gd name="T5" fmla="*/ 8 h 51"/>
              <a:gd name="T6" fmla="*/ 319 w 321"/>
              <a:gd name="T7" fmla="*/ 3 h 51"/>
              <a:gd name="T8" fmla="*/ 314 w 321"/>
              <a:gd name="T9" fmla="*/ 0 h 51"/>
              <a:gd name="T10" fmla="*/ 316 w 321"/>
              <a:gd name="T11" fmla="*/ 6 h 51"/>
              <a:gd name="T12" fmla="*/ 316 w 321"/>
              <a:gd name="T13" fmla="*/ 11 h 51"/>
              <a:gd name="T14" fmla="*/ 318 w 321"/>
              <a:gd name="T15" fmla="*/ 18 h 51"/>
              <a:gd name="T16" fmla="*/ 318 w 321"/>
              <a:gd name="T17" fmla="*/ 24 h 51"/>
              <a:gd name="T18" fmla="*/ 318 w 321"/>
              <a:gd name="T19" fmla="*/ 31 h 51"/>
              <a:gd name="T20" fmla="*/ 316 w 321"/>
              <a:gd name="T21" fmla="*/ 38 h 51"/>
              <a:gd name="T22" fmla="*/ 316 w 321"/>
              <a:gd name="T23" fmla="*/ 44 h 51"/>
              <a:gd name="T24" fmla="*/ 314 w 321"/>
              <a:gd name="T25" fmla="*/ 51 h 51"/>
              <a:gd name="T26" fmla="*/ 319 w 321"/>
              <a:gd name="T27" fmla="*/ 48 h 51"/>
              <a:gd name="T28" fmla="*/ 319 w 321"/>
              <a:gd name="T29" fmla="*/ 41 h 51"/>
              <a:gd name="T30" fmla="*/ 321 w 321"/>
              <a:gd name="T31" fmla="*/ 34 h 51"/>
              <a:gd name="T32" fmla="*/ 321 w 321"/>
              <a:gd name="T33" fmla="*/ 28 h 51"/>
              <a:gd name="T34" fmla="*/ 3 w 321"/>
              <a:gd name="T35" fmla="*/ 0 h 51"/>
              <a:gd name="T36" fmla="*/ 1 w 321"/>
              <a:gd name="T37" fmla="*/ 6 h 51"/>
              <a:gd name="T38" fmla="*/ 1 w 321"/>
              <a:gd name="T39" fmla="*/ 11 h 51"/>
              <a:gd name="T40" fmla="*/ 1 w 321"/>
              <a:gd name="T41" fmla="*/ 18 h 51"/>
              <a:gd name="T42" fmla="*/ 0 w 321"/>
              <a:gd name="T43" fmla="*/ 24 h 51"/>
              <a:gd name="T44" fmla="*/ 1 w 321"/>
              <a:gd name="T45" fmla="*/ 31 h 51"/>
              <a:gd name="T46" fmla="*/ 1 w 321"/>
              <a:gd name="T47" fmla="*/ 38 h 51"/>
              <a:gd name="T48" fmla="*/ 1 w 321"/>
              <a:gd name="T49" fmla="*/ 44 h 51"/>
              <a:gd name="T50" fmla="*/ 3 w 321"/>
              <a:gd name="T51" fmla="*/ 51 h 51"/>
              <a:gd name="T52" fmla="*/ 5 w 321"/>
              <a:gd name="T53" fmla="*/ 48 h 51"/>
              <a:gd name="T54" fmla="*/ 5 w 321"/>
              <a:gd name="T55" fmla="*/ 41 h 51"/>
              <a:gd name="T56" fmla="*/ 5 w 321"/>
              <a:gd name="T57" fmla="*/ 34 h 51"/>
              <a:gd name="T58" fmla="*/ 3 w 321"/>
              <a:gd name="T59" fmla="*/ 28 h 51"/>
              <a:gd name="T60" fmla="*/ 3 w 321"/>
              <a:gd name="T61" fmla="*/ 21 h 51"/>
              <a:gd name="T62" fmla="*/ 5 w 321"/>
              <a:gd name="T63" fmla="*/ 14 h 51"/>
              <a:gd name="T64" fmla="*/ 5 w 321"/>
              <a:gd name="T65" fmla="*/ 8 h 51"/>
              <a:gd name="T66" fmla="*/ 5 w 321"/>
              <a:gd name="T67" fmla="*/ 3 h 51"/>
              <a:gd name="T68" fmla="*/ 3 w 321"/>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21" h="51">
                <a:moveTo>
                  <a:pt x="321" y="24"/>
                </a:moveTo>
                <a:lnTo>
                  <a:pt x="321" y="21"/>
                </a:lnTo>
                <a:lnTo>
                  <a:pt x="321" y="18"/>
                </a:lnTo>
                <a:lnTo>
                  <a:pt x="321" y="14"/>
                </a:lnTo>
                <a:lnTo>
                  <a:pt x="319" y="11"/>
                </a:lnTo>
                <a:lnTo>
                  <a:pt x="319" y="8"/>
                </a:lnTo>
                <a:lnTo>
                  <a:pt x="319" y="6"/>
                </a:lnTo>
                <a:lnTo>
                  <a:pt x="319" y="3"/>
                </a:lnTo>
                <a:lnTo>
                  <a:pt x="318" y="0"/>
                </a:lnTo>
                <a:lnTo>
                  <a:pt x="314" y="0"/>
                </a:lnTo>
                <a:lnTo>
                  <a:pt x="316" y="3"/>
                </a:lnTo>
                <a:lnTo>
                  <a:pt x="316" y="6"/>
                </a:lnTo>
                <a:lnTo>
                  <a:pt x="316" y="8"/>
                </a:lnTo>
                <a:lnTo>
                  <a:pt x="316" y="11"/>
                </a:lnTo>
                <a:lnTo>
                  <a:pt x="318" y="14"/>
                </a:lnTo>
                <a:lnTo>
                  <a:pt x="318" y="18"/>
                </a:lnTo>
                <a:lnTo>
                  <a:pt x="318" y="21"/>
                </a:lnTo>
                <a:lnTo>
                  <a:pt x="318" y="24"/>
                </a:lnTo>
                <a:lnTo>
                  <a:pt x="318" y="28"/>
                </a:lnTo>
                <a:lnTo>
                  <a:pt x="318" y="31"/>
                </a:lnTo>
                <a:lnTo>
                  <a:pt x="318" y="34"/>
                </a:lnTo>
                <a:lnTo>
                  <a:pt x="316" y="38"/>
                </a:lnTo>
                <a:lnTo>
                  <a:pt x="316" y="41"/>
                </a:lnTo>
                <a:lnTo>
                  <a:pt x="316" y="44"/>
                </a:lnTo>
                <a:lnTo>
                  <a:pt x="316" y="48"/>
                </a:lnTo>
                <a:lnTo>
                  <a:pt x="314" y="51"/>
                </a:lnTo>
                <a:lnTo>
                  <a:pt x="319" y="51"/>
                </a:lnTo>
                <a:lnTo>
                  <a:pt x="319" y="48"/>
                </a:lnTo>
                <a:lnTo>
                  <a:pt x="319" y="44"/>
                </a:lnTo>
                <a:lnTo>
                  <a:pt x="319" y="41"/>
                </a:lnTo>
                <a:lnTo>
                  <a:pt x="319" y="38"/>
                </a:lnTo>
                <a:lnTo>
                  <a:pt x="321" y="34"/>
                </a:lnTo>
                <a:lnTo>
                  <a:pt x="321" y="31"/>
                </a:lnTo>
                <a:lnTo>
                  <a:pt x="321" y="28"/>
                </a:lnTo>
                <a:lnTo>
                  <a:pt x="321" y="24"/>
                </a:lnTo>
                <a:close/>
                <a:moveTo>
                  <a:pt x="3" y="0"/>
                </a:moveTo>
                <a:lnTo>
                  <a:pt x="1" y="3"/>
                </a:lnTo>
                <a:lnTo>
                  <a:pt x="1" y="6"/>
                </a:lnTo>
                <a:lnTo>
                  <a:pt x="1" y="8"/>
                </a:lnTo>
                <a:lnTo>
                  <a:pt x="1" y="11"/>
                </a:lnTo>
                <a:lnTo>
                  <a:pt x="1" y="14"/>
                </a:lnTo>
                <a:lnTo>
                  <a:pt x="1" y="18"/>
                </a:lnTo>
                <a:lnTo>
                  <a:pt x="1" y="21"/>
                </a:lnTo>
                <a:lnTo>
                  <a:pt x="0" y="24"/>
                </a:lnTo>
                <a:lnTo>
                  <a:pt x="1"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5" y="3"/>
                </a:lnTo>
                <a:lnTo>
                  <a:pt x="6" y="0"/>
                </a:lnTo>
                <a:lnTo>
                  <a:pt x="3"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56" name="Freeform 1761">
            <a:extLst>
              <a:ext uri="{FF2B5EF4-FFF2-40B4-BE49-F238E27FC236}">
                <a16:creationId xmlns:a16="http://schemas.microsoft.com/office/drawing/2014/main" id="{083C03C1-D0EF-27DD-3F14-A71DDDD53134}"/>
              </a:ext>
            </a:extLst>
          </p:cNvPr>
          <p:cNvSpPr>
            <a:spLocks noEditPoints="1"/>
          </p:cNvSpPr>
          <p:nvPr/>
        </p:nvSpPr>
        <p:spPr bwMode="auto">
          <a:xfrm>
            <a:off x="2305050" y="2719388"/>
            <a:ext cx="504825" cy="80963"/>
          </a:xfrm>
          <a:custGeom>
            <a:avLst/>
            <a:gdLst>
              <a:gd name="T0" fmla="*/ 318 w 318"/>
              <a:gd name="T1" fmla="*/ 21 h 51"/>
              <a:gd name="T2" fmla="*/ 318 w 318"/>
              <a:gd name="T3" fmla="*/ 14 h 51"/>
              <a:gd name="T4" fmla="*/ 317 w 318"/>
              <a:gd name="T5" fmla="*/ 8 h 51"/>
              <a:gd name="T6" fmla="*/ 317 w 318"/>
              <a:gd name="T7" fmla="*/ 3 h 51"/>
              <a:gd name="T8" fmla="*/ 312 w 318"/>
              <a:gd name="T9" fmla="*/ 0 h 51"/>
              <a:gd name="T10" fmla="*/ 313 w 318"/>
              <a:gd name="T11" fmla="*/ 6 h 51"/>
              <a:gd name="T12" fmla="*/ 313 w 318"/>
              <a:gd name="T13" fmla="*/ 11 h 51"/>
              <a:gd name="T14" fmla="*/ 315 w 318"/>
              <a:gd name="T15" fmla="*/ 18 h 51"/>
              <a:gd name="T16" fmla="*/ 315 w 318"/>
              <a:gd name="T17" fmla="*/ 24 h 51"/>
              <a:gd name="T18" fmla="*/ 315 w 318"/>
              <a:gd name="T19" fmla="*/ 31 h 51"/>
              <a:gd name="T20" fmla="*/ 313 w 318"/>
              <a:gd name="T21" fmla="*/ 38 h 51"/>
              <a:gd name="T22" fmla="*/ 313 w 318"/>
              <a:gd name="T23" fmla="*/ 44 h 51"/>
              <a:gd name="T24" fmla="*/ 312 w 318"/>
              <a:gd name="T25" fmla="*/ 51 h 51"/>
              <a:gd name="T26" fmla="*/ 317 w 318"/>
              <a:gd name="T27" fmla="*/ 48 h 51"/>
              <a:gd name="T28" fmla="*/ 317 w 318"/>
              <a:gd name="T29" fmla="*/ 41 h 51"/>
              <a:gd name="T30" fmla="*/ 318 w 318"/>
              <a:gd name="T31" fmla="*/ 34 h 51"/>
              <a:gd name="T32" fmla="*/ 318 w 318"/>
              <a:gd name="T33" fmla="*/ 28 h 51"/>
              <a:gd name="T34" fmla="*/ 4 w 318"/>
              <a:gd name="T35" fmla="*/ 0 h 51"/>
              <a:gd name="T36" fmla="*/ 2 w 318"/>
              <a:gd name="T37" fmla="*/ 6 h 51"/>
              <a:gd name="T38" fmla="*/ 2 w 318"/>
              <a:gd name="T39" fmla="*/ 11 h 51"/>
              <a:gd name="T40" fmla="*/ 2 w 318"/>
              <a:gd name="T41" fmla="*/ 18 h 51"/>
              <a:gd name="T42" fmla="*/ 0 w 318"/>
              <a:gd name="T43" fmla="*/ 24 h 51"/>
              <a:gd name="T44" fmla="*/ 2 w 318"/>
              <a:gd name="T45" fmla="*/ 31 h 51"/>
              <a:gd name="T46" fmla="*/ 2 w 318"/>
              <a:gd name="T47" fmla="*/ 38 h 51"/>
              <a:gd name="T48" fmla="*/ 2 w 318"/>
              <a:gd name="T49" fmla="*/ 44 h 51"/>
              <a:gd name="T50" fmla="*/ 4 w 318"/>
              <a:gd name="T51" fmla="*/ 51 h 51"/>
              <a:gd name="T52" fmla="*/ 5 w 318"/>
              <a:gd name="T53" fmla="*/ 48 h 51"/>
              <a:gd name="T54" fmla="*/ 5 w 318"/>
              <a:gd name="T55" fmla="*/ 41 h 51"/>
              <a:gd name="T56" fmla="*/ 5 w 318"/>
              <a:gd name="T57" fmla="*/ 34 h 51"/>
              <a:gd name="T58" fmla="*/ 4 w 318"/>
              <a:gd name="T59" fmla="*/ 28 h 51"/>
              <a:gd name="T60" fmla="*/ 4 w 318"/>
              <a:gd name="T61" fmla="*/ 21 h 51"/>
              <a:gd name="T62" fmla="*/ 5 w 318"/>
              <a:gd name="T63" fmla="*/ 14 h 51"/>
              <a:gd name="T64" fmla="*/ 5 w 318"/>
              <a:gd name="T65" fmla="*/ 8 h 51"/>
              <a:gd name="T66" fmla="*/ 5 w 318"/>
              <a:gd name="T67" fmla="*/ 3 h 51"/>
              <a:gd name="T68" fmla="*/ 4 w 31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8" h="51">
                <a:moveTo>
                  <a:pt x="318" y="24"/>
                </a:moveTo>
                <a:lnTo>
                  <a:pt x="318" y="21"/>
                </a:lnTo>
                <a:lnTo>
                  <a:pt x="318" y="18"/>
                </a:lnTo>
                <a:lnTo>
                  <a:pt x="318" y="14"/>
                </a:lnTo>
                <a:lnTo>
                  <a:pt x="317" y="11"/>
                </a:lnTo>
                <a:lnTo>
                  <a:pt x="317" y="8"/>
                </a:lnTo>
                <a:lnTo>
                  <a:pt x="317" y="6"/>
                </a:lnTo>
                <a:lnTo>
                  <a:pt x="317" y="3"/>
                </a:lnTo>
                <a:lnTo>
                  <a:pt x="315" y="0"/>
                </a:lnTo>
                <a:lnTo>
                  <a:pt x="312" y="0"/>
                </a:lnTo>
                <a:lnTo>
                  <a:pt x="313" y="3"/>
                </a:lnTo>
                <a:lnTo>
                  <a:pt x="313" y="6"/>
                </a:lnTo>
                <a:lnTo>
                  <a:pt x="313" y="8"/>
                </a:lnTo>
                <a:lnTo>
                  <a:pt x="313" y="11"/>
                </a:lnTo>
                <a:lnTo>
                  <a:pt x="315" y="14"/>
                </a:lnTo>
                <a:lnTo>
                  <a:pt x="315" y="18"/>
                </a:lnTo>
                <a:lnTo>
                  <a:pt x="315" y="21"/>
                </a:lnTo>
                <a:lnTo>
                  <a:pt x="315" y="24"/>
                </a:lnTo>
                <a:lnTo>
                  <a:pt x="315" y="28"/>
                </a:lnTo>
                <a:lnTo>
                  <a:pt x="315" y="31"/>
                </a:lnTo>
                <a:lnTo>
                  <a:pt x="315" y="34"/>
                </a:lnTo>
                <a:lnTo>
                  <a:pt x="313" y="38"/>
                </a:lnTo>
                <a:lnTo>
                  <a:pt x="313" y="41"/>
                </a:lnTo>
                <a:lnTo>
                  <a:pt x="313" y="44"/>
                </a:lnTo>
                <a:lnTo>
                  <a:pt x="313" y="48"/>
                </a:lnTo>
                <a:lnTo>
                  <a:pt x="312" y="51"/>
                </a:lnTo>
                <a:lnTo>
                  <a:pt x="315" y="51"/>
                </a:lnTo>
                <a:lnTo>
                  <a:pt x="317" y="48"/>
                </a:lnTo>
                <a:lnTo>
                  <a:pt x="317" y="44"/>
                </a:lnTo>
                <a:lnTo>
                  <a:pt x="317" y="41"/>
                </a:lnTo>
                <a:lnTo>
                  <a:pt x="317" y="38"/>
                </a:lnTo>
                <a:lnTo>
                  <a:pt x="318" y="34"/>
                </a:lnTo>
                <a:lnTo>
                  <a:pt x="318" y="31"/>
                </a:lnTo>
                <a:lnTo>
                  <a:pt x="318" y="28"/>
                </a:lnTo>
                <a:lnTo>
                  <a:pt x="318" y="24"/>
                </a:lnTo>
                <a:close/>
                <a:moveTo>
                  <a:pt x="4" y="0"/>
                </a:moveTo>
                <a:lnTo>
                  <a:pt x="2"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6"/>
                </a:lnTo>
                <a:lnTo>
                  <a:pt x="5" y="3"/>
                </a:lnTo>
                <a:lnTo>
                  <a:pt x="7" y="0"/>
                </a:lnTo>
                <a:lnTo>
                  <a:pt x="4"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57" name="Freeform 1762">
            <a:extLst>
              <a:ext uri="{FF2B5EF4-FFF2-40B4-BE49-F238E27FC236}">
                <a16:creationId xmlns:a16="http://schemas.microsoft.com/office/drawing/2014/main" id="{93F2A910-6C51-315F-108D-773FC162DEF4}"/>
              </a:ext>
            </a:extLst>
          </p:cNvPr>
          <p:cNvSpPr>
            <a:spLocks noEditPoints="1"/>
          </p:cNvSpPr>
          <p:nvPr/>
        </p:nvSpPr>
        <p:spPr bwMode="auto">
          <a:xfrm>
            <a:off x="2308225" y="2719388"/>
            <a:ext cx="500063" cy="80963"/>
          </a:xfrm>
          <a:custGeom>
            <a:avLst/>
            <a:gdLst>
              <a:gd name="T0" fmla="*/ 315 w 315"/>
              <a:gd name="T1" fmla="*/ 21 h 51"/>
              <a:gd name="T2" fmla="*/ 315 w 315"/>
              <a:gd name="T3" fmla="*/ 14 h 51"/>
              <a:gd name="T4" fmla="*/ 313 w 315"/>
              <a:gd name="T5" fmla="*/ 8 h 51"/>
              <a:gd name="T6" fmla="*/ 313 w 315"/>
              <a:gd name="T7" fmla="*/ 3 h 51"/>
              <a:gd name="T8" fmla="*/ 308 w 315"/>
              <a:gd name="T9" fmla="*/ 0 h 51"/>
              <a:gd name="T10" fmla="*/ 310 w 315"/>
              <a:gd name="T11" fmla="*/ 6 h 51"/>
              <a:gd name="T12" fmla="*/ 310 w 315"/>
              <a:gd name="T13" fmla="*/ 11 h 51"/>
              <a:gd name="T14" fmla="*/ 311 w 315"/>
              <a:gd name="T15" fmla="*/ 18 h 51"/>
              <a:gd name="T16" fmla="*/ 311 w 315"/>
              <a:gd name="T17" fmla="*/ 24 h 51"/>
              <a:gd name="T18" fmla="*/ 311 w 315"/>
              <a:gd name="T19" fmla="*/ 31 h 51"/>
              <a:gd name="T20" fmla="*/ 310 w 315"/>
              <a:gd name="T21" fmla="*/ 38 h 51"/>
              <a:gd name="T22" fmla="*/ 310 w 315"/>
              <a:gd name="T23" fmla="*/ 44 h 51"/>
              <a:gd name="T24" fmla="*/ 308 w 315"/>
              <a:gd name="T25" fmla="*/ 51 h 51"/>
              <a:gd name="T26" fmla="*/ 313 w 315"/>
              <a:gd name="T27" fmla="*/ 48 h 51"/>
              <a:gd name="T28" fmla="*/ 313 w 315"/>
              <a:gd name="T29" fmla="*/ 41 h 51"/>
              <a:gd name="T30" fmla="*/ 315 w 315"/>
              <a:gd name="T31" fmla="*/ 34 h 51"/>
              <a:gd name="T32" fmla="*/ 315 w 315"/>
              <a:gd name="T33" fmla="*/ 28 h 51"/>
              <a:gd name="T34" fmla="*/ 3 w 315"/>
              <a:gd name="T35" fmla="*/ 0 h 51"/>
              <a:gd name="T36" fmla="*/ 2 w 315"/>
              <a:gd name="T37" fmla="*/ 6 h 51"/>
              <a:gd name="T38" fmla="*/ 2 w 315"/>
              <a:gd name="T39" fmla="*/ 11 h 51"/>
              <a:gd name="T40" fmla="*/ 2 w 315"/>
              <a:gd name="T41" fmla="*/ 18 h 51"/>
              <a:gd name="T42" fmla="*/ 0 w 315"/>
              <a:gd name="T43" fmla="*/ 24 h 51"/>
              <a:gd name="T44" fmla="*/ 2 w 315"/>
              <a:gd name="T45" fmla="*/ 31 h 51"/>
              <a:gd name="T46" fmla="*/ 2 w 315"/>
              <a:gd name="T47" fmla="*/ 38 h 51"/>
              <a:gd name="T48" fmla="*/ 2 w 315"/>
              <a:gd name="T49" fmla="*/ 44 h 51"/>
              <a:gd name="T50" fmla="*/ 3 w 315"/>
              <a:gd name="T51" fmla="*/ 51 h 51"/>
              <a:gd name="T52" fmla="*/ 5 w 315"/>
              <a:gd name="T53" fmla="*/ 48 h 51"/>
              <a:gd name="T54" fmla="*/ 5 w 315"/>
              <a:gd name="T55" fmla="*/ 41 h 51"/>
              <a:gd name="T56" fmla="*/ 5 w 315"/>
              <a:gd name="T57" fmla="*/ 34 h 51"/>
              <a:gd name="T58" fmla="*/ 3 w 315"/>
              <a:gd name="T59" fmla="*/ 28 h 51"/>
              <a:gd name="T60" fmla="*/ 3 w 315"/>
              <a:gd name="T61" fmla="*/ 21 h 51"/>
              <a:gd name="T62" fmla="*/ 5 w 315"/>
              <a:gd name="T63" fmla="*/ 14 h 51"/>
              <a:gd name="T64" fmla="*/ 5 w 315"/>
              <a:gd name="T65" fmla="*/ 8 h 51"/>
              <a:gd name="T66" fmla="*/ 5 w 315"/>
              <a:gd name="T67" fmla="*/ 3 h 51"/>
              <a:gd name="T68" fmla="*/ 3 w 31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5" h="51">
                <a:moveTo>
                  <a:pt x="315" y="24"/>
                </a:moveTo>
                <a:lnTo>
                  <a:pt x="315" y="21"/>
                </a:lnTo>
                <a:lnTo>
                  <a:pt x="315" y="18"/>
                </a:lnTo>
                <a:lnTo>
                  <a:pt x="315" y="14"/>
                </a:lnTo>
                <a:lnTo>
                  <a:pt x="313" y="11"/>
                </a:lnTo>
                <a:lnTo>
                  <a:pt x="313" y="8"/>
                </a:lnTo>
                <a:lnTo>
                  <a:pt x="313" y="6"/>
                </a:lnTo>
                <a:lnTo>
                  <a:pt x="313" y="3"/>
                </a:lnTo>
                <a:lnTo>
                  <a:pt x="311" y="0"/>
                </a:lnTo>
                <a:lnTo>
                  <a:pt x="308" y="0"/>
                </a:lnTo>
                <a:lnTo>
                  <a:pt x="310" y="3"/>
                </a:lnTo>
                <a:lnTo>
                  <a:pt x="310" y="6"/>
                </a:lnTo>
                <a:lnTo>
                  <a:pt x="310" y="8"/>
                </a:lnTo>
                <a:lnTo>
                  <a:pt x="310" y="11"/>
                </a:lnTo>
                <a:lnTo>
                  <a:pt x="311" y="14"/>
                </a:lnTo>
                <a:lnTo>
                  <a:pt x="311" y="18"/>
                </a:lnTo>
                <a:lnTo>
                  <a:pt x="311" y="21"/>
                </a:lnTo>
                <a:lnTo>
                  <a:pt x="311" y="24"/>
                </a:lnTo>
                <a:lnTo>
                  <a:pt x="311" y="28"/>
                </a:lnTo>
                <a:lnTo>
                  <a:pt x="311" y="31"/>
                </a:lnTo>
                <a:lnTo>
                  <a:pt x="311" y="34"/>
                </a:lnTo>
                <a:lnTo>
                  <a:pt x="310" y="38"/>
                </a:lnTo>
                <a:lnTo>
                  <a:pt x="310" y="41"/>
                </a:lnTo>
                <a:lnTo>
                  <a:pt x="310" y="44"/>
                </a:lnTo>
                <a:lnTo>
                  <a:pt x="310" y="48"/>
                </a:lnTo>
                <a:lnTo>
                  <a:pt x="308" y="51"/>
                </a:lnTo>
                <a:lnTo>
                  <a:pt x="311" y="51"/>
                </a:lnTo>
                <a:lnTo>
                  <a:pt x="313" y="48"/>
                </a:lnTo>
                <a:lnTo>
                  <a:pt x="313" y="44"/>
                </a:lnTo>
                <a:lnTo>
                  <a:pt x="313" y="41"/>
                </a:lnTo>
                <a:lnTo>
                  <a:pt x="313" y="38"/>
                </a:lnTo>
                <a:lnTo>
                  <a:pt x="315" y="34"/>
                </a:lnTo>
                <a:lnTo>
                  <a:pt x="315" y="31"/>
                </a:lnTo>
                <a:lnTo>
                  <a:pt x="315" y="28"/>
                </a:lnTo>
                <a:lnTo>
                  <a:pt x="315" y="24"/>
                </a:lnTo>
                <a:close/>
                <a:moveTo>
                  <a:pt x="3" y="0"/>
                </a:moveTo>
                <a:lnTo>
                  <a:pt x="2"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5" y="3"/>
                </a:lnTo>
                <a:lnTo>
                  <a:pt x="6" y="0"/>
                </a:lnTo>
                <a:lnTo>
                  <a:pt x="3"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58" name="Freeform 1763">
            <a:extLst>
              <a:ext uri="{FF2B5EF4-FFF2-40B4-BE49-F238E27FC236}">
                <a16:creationId xmlns:a16="http://schemas.microsoft.com/office/drawing/2014/main" id="{0EF981D3-01D6-44EA-4C40-C3E6A2224552}"/>
              </a:ext>
            </a:extLst>
          </p:cNvPr>
          <p:cNvSpPr>
            <a:spLocks noEditPoints="1"/>
          </p:cNvSpPr>
          <p:nvPr/>
        </p:nvSpPr>
        <p:spPr bwMode="auto">
          <a:xfrm>
            <a:off x="2311400" y="2719388"/>
            <a:ext cx="493713" cy="80963"/>
          </a:xfrm>
          <a:custGeom>
            <a:avLst/>
            <a:gdLst>
              <a:gd name="T0" fmla="*/ 311 w 311"/>
              <a:gd name="T1" fmla="*/ 21 h 51"/>
              <a:gd name="T2" fmla="*/ 311 w 311"/>
              <a:gd name="T3" fmla="*/ 14 h 51"/>
              <a:gd name="T4" fmla="*/ 309 w 311"/>
              <a:gd name="T5" fmla="*/ 8 h 51"/>
              <a:gd name="T6" fmla="*/ 309 w 311"/>
              <a:gd name="T7" fmla="*/ 3 h 51"/>
              <a:gd name="T8" fmla="*/ 304 w 311"/>
              <a:gd name="T9" fmla="*/ 0 h 51"/>
              <a:gd name="T10" fmla="*/ 306 w 311"/>
              <a:gd name="T11" fmla="*/ 6 h 51"/>
              <a:gd name="T12" fmla="*/ 306 w 311"/>
              <a:gd name="T13" fmla="*/ 11 h 51"/>
              <a:gd name="T14" fmla="*/ 308 w 311"/>
              <a:gd name="T15" fmla="*/ 18 h 51"/>
              <a:gd name="T16" fmla="*/ 308 w 311"/>
              <a:gd name="T17" fmla="*/ 24 h 51"/>
              <a:gd name="T18" fmla="*/ 308 w 311"/>
              <a:gd name="T19" fmla="*/ 31 h 51"/>
              <a:gd name="T20" fmla="*/ 306 w 311"/>
              <a:gd name="T21" fmla="*/ 38 h 51"/>
              <a:gd name="T22" fmla="*/ 306 w 311"/>
              <a:gd name="T23" fmla="*/ 44 h 51"/>
              <a:gd name="T24" fmla="*/ 304 w 311"/>
              <a:gd name="T25" fmla="*/ 51 h 51"/>
              <a:gd name="T26" fmla="*/ 309 w 311"/>
              <a:gd name="T27" fmla="*/ 48 h 51"/>
              <a:gd name="T28" fmla="*/ 309 w 311"/>
              <a:gd name="T29" fmla="*/ 41 h 51"/>
              <a:gd name="T30" fmla="*/ 311 w 311"/>
              <a:gd name="T31" fmla="*/ 34 h 51"/>
              <a:gd name="T32" fmla="*/ 311 w 311"/>
              <a:gd name="T33" fmla="*/ 28 h 51"/>
              <a:gd name="T34" fmla="*/ 3 w 311"/>
              <a:gd name="T35" fmla="*/ 0 h 51"/>
              <a:gd name="T36" fmla="*/ 1 w 311"/>
              <a:gd name="T37" fmla="*/ 6 h 51"/>
              <a:gd name="T38" fmla="*/ 1 w 311"/>
              <a:gd name="T39" fmla="*/ 11 h 51"/>
              <a:gd name="T40" fmla="*/ 1 w 311"/>
              <a:gd name="T41" fmla="*/ 18 h 51"/>
              <a:gd name="T42" fmla="*/ 0 w 311"/>
              <a:gd name="T43" fmla="*/ 24 h 51"/>
              <a:gd name="T44" fmla="*/ 1 w 311"/>
              <a:gd name="T45" fmla="*/ 31 h 51"/>
              <a:gd name="T46" fmla="*/ 1 w 311"/>
              <a:gd name="T47" fmla="*/ 38 h 51"/>
              <a:gd name="T48" fmla="*/ 1 w 311"/>
              <a:gd name="T49" fmla="*/ 44 h 51"/>
              <a:gd name="T50" fmla="*/ 3 w 311"/>
              <a:gd name="T51" fmla="*/ 51 h 51"/>
              <a:gd name="T52" fmla="*/ 4 w 311"/>
              <a:gd name="T53" fmla="*/ 48 h 51"/>
              <a:gd name="T54" fmla="*/ 4 w 311"/>
              <a:gd name="T55" fmla="*/ 41 h 51"/>
              <a:gd name="T56" fmla="*/ 4 w 311"/>
              <a:gd name="T57" fmla="*/ 34 h 51"/>
              <a:gd name="T58" fmla="*/ 3 w 311"/>
              <a:gd name="T59" fmla="*/ 28 h 51"/>
              <a:gd name="T60" fmla="*/ 3 w 311"/>
              <a:gd name="T61" fmla="*/ 21 h 51"/>
              <a:gd name="T62" fmla="*/ 4 w 311"/>
              <a:gd name="T63" fmla="*/ 14 h 51"/>
              <a:gd name="T64" fmla="*/ 4 w 311"/>
              <a:gd name="T65" fmla="*/ 8 h 51"/>
              <a:gd name="T66" fmla="*/ 6 w 311"/>
              <a:gd name="T67" fmla="*/ 3 h 51"/>
              <a:gd name="T68" fmla="*/ 3 w 311"/>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11" h="51">
                <a:moveTo>
                  <a:pt x="311" y="24"/>
                </a:moveTo>
                <a:lnTo>
                  <a:pt x="311" y="21"/>
                </a:lnTo>
                <a:lnTo>
                  <a:pt x="311" y="18"/>
                </a:lnTo>
                <a:lnTo>
                  <a:pt x="311" y="14"/>
                </a:lnTo>
                <a:lnTo>
                  <a:pt x="309" y="11"/>
                </a:lnTo>
                <a:lnTo>
                  <a:pt x="309" y="8"/>
                </a:lnTo>
                <a:lnTo>
                  <a:pt x="309" y="6"/>
                </a:lnTo>
                <a:lnTo>
                  <a:pt x="309" y="3"/>
                </a:lnTo>
                <a:lnTo>
                  <a:pt x="308" y="0"/>
                </a:lnTo>
                <a:lnTo>
                  <a:pt x="304" y="0"/>
                </a:lnTo>
                <a:lnTo>
                  <a:pt x="306" y="3"/>
                </a:lnTo>
                <a:lnTo>
                  <a:pt x="306" y="6"/>
                </a:lnTo>
                <a:lnTo>
                  <a:pt x="306" y="8"/>
                </a:lnTo>
                <a:lnTo>
                  <a:pt x="306" y="11"/>
                </a:lnTo>
                <a:lnTo>
                  <a:pt x="308" y="14"/>
                </a:lnTo>
                <a:lnTo>
                  <a:pt x="308" y="18"/>
                </a:lnTo>
                <a:lnTo>
                  <a:pt x="308" y="21"/>
                </a:lnTo>
                <a:lnTo>
                  <a:pt x="308" y="24"/>
                </a:lnTo>
                <a:lnTo>
                  <a:pt x="308" y="28"/>
                </a:lnTo>
                <a:lnTo>
                  <a:pt x="308" y="31"/>
                </a:lnTo>
                <a:lnTo>
                  <a:pt x="308" y="34"/>
                </a:lnTo>
                <a:lnTo>
                  <a:pt x="306" y="38"/>
                </a:lnTo>
                <a:lnTo>
                  <a:pt x="306" y="41"/>
                </a:lnTo>
                <a:lnTo>
                  <a:pt x="306" y="44"/>
                </a:lnTo>
                <a:lnTo>
                  <a:pt x="306" y="48"/>
                </a:lnTo>
                <a:lnTo>
                  <a:pt x="304" y="51"/>
                </a:lnTo>
                <a:lnTo>
                  <a:pt x="308" y="51"/>
                </a:lnTo>
                <a:lnTo>
                  <a:pt x="309" y="48"/>
                </a:lnTo>
                <a:lnTo>
                  <a:pt x="309" y="44"/>
                </a:lnTo>
                <a:lnTo>
                  <a:pt x="309" y="41"/>
                </a:lnTo>
                <a:lnTo>
                  <a:pt x="309" y="38"/>
                </a:lnTo>
                <a:lnTo>
                  <a:pt x="311" y="34"/>
                </a:lnTo>
                <a:lnTo>
                  <a:pt x="311" y="31"/>
                </a:lnTo>
                <a:lnTo>
                  <a:pt x="311" y="28"/>
                </a:lnTo>
                <a:lnTo>
                  <a:pt x="311" y="24"/>
                </a:lnTo>
                <a:close/>
                <a:moveTo>
                  <a:pt x="3" y="0"/>
                </a:moveTo>
                <a:lnTo>
                  <a:pt x="1" y="3"/>
                </a:lnTo>
                <a:lnTo>
                  <a:pt x="1" y="6"/>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4" y="48"/>
                </a:lnTo>
                <a:lnTo>
                  <a:pt x="4" y="44"/>
                </a:lnTo>
                <a:lnTo>
                  <a:pt x="4" y="41"/>
                </a:lnTo>
                <a:lnTo>
                  <a:pt x="4" y="38"/>
                </a:lnTo>
                <a:lnTo>
                  <a:pt x="4" y="34"/>
                </a:lnTo>
                <a:lnTo>
                  <a:pt x="4" y="31"/>
                </a:lnTo>
                <a:lnTo>
                  <a:pt x="3" y="28"/>
                </a:lnTo>
                <a:lnTo>
                  <a:pt x="3" y="24"/>
                </a:lnTo>
                <a:lnTo>
                  <a:pt x="3" y="21"/>
                </a:lnTo>
                <a:lnTo>
                  <a:pt x="4" y="18"/>
                </a:lnTo>
                <a:lnTo>
                  <a:pt x="4" y="14"/>
                </a:lnTo>
                <a:lnTo>
                  <a:pt x="4" y="11"/>
                </a:lnTo>
                <a:lnTo>
                  <a:pt x="4" y="8"/>
                </a:lnTo>
                <a:lnTo>
                  <a:pt x="4" y="6"/>
                </a:lnTo>
                <a:lnTo>
                  <a:pt x="6" y="3"/>
                </a:lnTo>
                <a:lnTo>
                  <a:pt x="6" y="0"/>
                </a:lnTo>
                <a:lnTo>
                  <a:pt x="3" y="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59" name="Freeform 1764">
            <a:extLst>
              <a:ext uri="{FF2B5EF4-FFF2-40B4-BE49-F238E27FC236}">
                <a16:creationId xmlns:a16="http://schemas.microsoft.com/office/drawing/2014/main" id="{5F131BDE-DAD4-8BE3-5E8A-12B3C6030B0C}"/>
              </a:ext>
            </a:extLst>
          </p:cNvPr>
          <p:cNvSpPr>
            <a:spLocks noEditPoints="1"/>
          </p:cNvSpPr>
          <p:nvPr/>
        </p:nvSpPr>
        <p:spPr bwMode="auto">
          <a:xfrm>
            <a:off x="2312988" y="2719388"/>
            <a:ext cx="488950" cy="80963"/>
          </a:xfrm>
          <a:custGeom>
            <a:avLst/>
            <a:gdLst>
              <a:gd name="T0" fmla="*/ 308 w 308"/>
              <a:gd name="T1" fmla="*/ 21 h 51"/>
              <a:gd name="T2" fmla="*/ 308 w 308"/>
              <a:gd name="T3" fmla="*/ 14 h 51"/>
              <a:gd name="T4" fmla="*/ 307 w 308"/>
              <a:gd name="T5" fmla="*/ 8 h 51"/>
              <a:gd name="T6" fmla="*/ 307 w 308"/>
              <a:gd name="T7" fmla="*/ 3 h 51"/>
              <a:gd name="T8" fmla="*/ 302 w 308"/>
              <a:gd name="T9" fmla="*/ 0 h 51"/>
              <a:gd name="T10" fmla="*/ 303 w 308"/>
              <a:gd name="T11" fmla="*/ 6 h 51"/>
              <a:gd name="T12" fmla="*/ 303 w 308"/>
              <a:gd name="T13" fmla="*/ 11 h 51"/>
              <a:gd name="T14" fmla="*/ 305 w 308"/>
              <a:gd name="T15" fmla="*/ 18 h 51"/>
              <a:gd name="T16" fmla="*/ 305 w 308"/>
              <a:gd name="T17" fmla="*/ 24 h 51"/>
              <a:gd name="T18" fmla="*/ 305 w 308"/>
              <a:gd name="T19" fmla="*/ 31 h 51"/>
              <a:gd name="T20" fmla="*/ 303 w 308"/>
              <a:gd name="T21" fmla="*/ 38 h 51"/>
              <a:gd name="T22" fmla="*/ 303 w 308"/>
              <a:gd name="T23" fmla="*/ 44 h 51"/>
              <a:gd name="T24" fmla="*/ 302 w 308"/>
              <a:gd name="T25" fmla="*/ 51 h 51"/>
              <a:gd name="T26" fmla="*/ 307 w 308"/>
              <a:gd name="T27" fmla="*/ 48 h 51"/>
              <a:gd name="T28" fmla="*/ 307 w 308"/>
              <a:gd name="T29" fmla="*/ 41 h 51"/>
              <a:gd name="T30" fmla="*/ 308 w 308"/>
              <a:gd name="T31" fmla="*/ 34 h 51"/>
              <a:gd name="T32" fmla="*/ 308 w 308"/>
              <a:gd name="T33" fmla="*/ 28 h 51"/>
              <a:gd name="T34" fmla="*/ 3 w 308"/>
              <a:gd name="T35" fmla="*/ 0 h 51"/>
              <a:gd name="T36" fmla="*/ 2 w 308"/>
              <a:gd name="T37" fmla="*/ 6 h 51"/>
              <a:gd name="T38" fmla="*/ 2 w 308"/>
              <a:gd name="T39" fmla="*/ 11 h 51"/>
              <a:gd name="T40" fmla="*/ 2 w 308"/>
              <a:gd name="T41" fmla="*/ 18 h 51"/>
              <a:gd name="T42" fmla="*/ 0 w 308"/>
              <a:gd name="T43" fmla="*/ 24 h 51"/>
              <a:gd name="T44" fmla="*/ 2 w 308"/>
              <a:gd name="T45" fmla="*/ 31 h 51"/>
              <a:gd name="T46" fmla="*/ 2 w 308"/>
              <a:gd name="T47" fmla="*/ 38 h 51"/>
              <a:gd name="T48" fmla="*/ 2 w 308"/>
              <a:gd name="T49" fmla="*/ 44 h 51"/>
              <a:gd name="T50" fmla="*/ 3 w 308"/>
              <a:gd name="T51" fmla="*/ 51 h 51"/>
              <a:gd name="T52" fmla="*/ 5 w 308"/>
              <a:gd name="T53" fmla="*/ 48 h 51"/>
              <a:gd name="T54" fmla="*/ 5 w 308"/>
              <a:gd name="T55" fmla="*/ 41 h 51"/>
              <a:gd name="T56" fmla="*/ 5 w 308"/>
              <a:gd name="T57" fmla="*/ 34 h 51"/>
              <a:gd name="T58" fmla="*/ 3 w 308"/>
              <a:gd name="T59" fmla="*/ 28 h 51"/>
              <a:gd name="T60" fmla="*/ 3 w 308"/>
              <a:gd name="T61" fmla="*/ 21 h 51"/>
              <a:gd name="T62" fmla="*/ 5 w 308"/>
              <a:gd name="T63" fmla="*/ 14 h 51"/>
              <a:gd name="T64" fmla="*/ 5 w 308"/>
              <a:gd name="T65" fmla="*/ 8 h 51"/>
              <a:gd name="T66" fmla="*/ 7 w 308"/>
              <a:gd name="T67" fmla="*/ 3 h 51"/>
              <a:gd name="T68" fmla="*/ 3 w 30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8" h="51">
                <a:moveTo>
                  <a:pt x="308" y="24"/>
                </a:moveTo>
                <a:lnTo>
                  <a:pt x="308" y="21"/>
                </a:lnTo>
                <a:lnTo>
                  <a:pt x="308" y="18"/>
                </a:lnTo>
                <a:lnTo>
                  <a:pt x="308" y="14"/>
                </a:lnTo>
                <a:lnTo>
                  <a:pt x="307" y="11"/>
                </a:lnTo>
                <a:lnTo>
                  <a:pt x="307" y="8"/>
                </a:lnTo>
                <a:lnTo>
                  <a:pt x="307" y="6"/>
                </a:lnTo>
                <a:lnTo>
                  <a:pt x="307" y="3"/>
                </a:lnTo>
                <a:lnTo>
                  <a:pt x="305" y="0"/>
                </a:lnTo>
                <a:lnTo>
                  <a:pt x="302" y="0"/>
                </a:lnTo>
                <a:lnTo>
                  <a:pt x="303" y="3"/>
                </a:lnTo>
                <a:lnTo>
                  <a:pt x="303" y="6"/>
                </a:lnTo>
                <a:lnTo>
                  <a:pt x="303" y="8"/>
                </a:lnTo>
                <a:lnTo>
                  <a:pt x="303" y="11"/>
                </a:lnTo>
                <a:lnTo>
                  <a:pt x="305" y="14"/>
                </a:lnTo>
                <a:lnTo>
                  <a:pt x="305" y="18"/>
                </a:lnTo>
                <a:lnTo>
                  <a:pt x="305" y="21"/>
                </a:lnTo>
                <a:lnTo>
                  <a:pt x="305" y="24"/>
                </a:lnTo>
                <a:lnTo>
                  <a:pt x="305" y="28"/>
                </a:lnTo>
                <a:lnTo>
                  <a:pt x="305" y="31"/>
                </a:lnTo>
                <a:lnTo>
                  <a:pt x="305" y="34"/>
                </a:lnTo>
                <a:lnTo>
                  <a:pt x="303" y="38"/>
                </a:lnTo>
                <a:lnTo>
                  <a:pt x="303" y="41"/>
                </a:lnTo>
                <a:lnTo>
                  <a:pt x="303" y="44"/>
                </a:lnTo>
                <a:lnTo>
                  <a:pt x="303" y="48"/>
                </a:lnTo>
                <a:lnTo>
                  <a:pt x="302" y="51"/>
                </a:lnTo>
                <a:lnTo>
                  <a:pt x="305" y="51"/>
                </a:lnTo>
                <a:lnTo>
                  <a:pt x="307" y="48"/>
                </a:lnTo>
                <a:lnTo>
                  <a:pt x="307" y="44"/>
                </a:lnTo>
                <a:lnTo>
                  <a:pt x="307" y="41"/>
                </a:lnTo>
                <a:lnTo>
                  <a:pt x="307" y="38"/>
                </a:lnTo>
                <a:lnTo>
                  <a:pt x="308" y="34"/>
                </a:lnTo>
                <a:lnTo>
                  <a:pt x="308" y="31"/>
                </a:lnTo>
                <a:lnTo>
                  <a:pt x="308" y="28"/>
                </a:lnTo>
                <a:lnTo>
                  <a:pt x="308" y="24"/>
                </a:lnTo>
                <a:close/>
                <a:moveTo>
                  <a:pt x="3" y="0"/>
                </a:moveTo>
                <a:lnTo>
                  <a:pt x="2"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7" y="3"/>
                </a:lnTo>
                <a:lnTo>
                  <a:pt x="7" y="0"/>
                </a:lnTo>
                <a:lnTo>
                  <a:pt x="3"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60" name="Freeform 1765">
            <a:extLst>
              <a:ext uri="{FF2B5EF4-FFF2-40B4-BE49-F238E27FC236}">
                <a16:creationId xmlns:a16="http://schemas.microsoft.com/office/drawing/2014/main" id="{A8E0BBF8-BDA9-9931-E2C0-F1B529A1130E}"/>
              </a:ext>
            </a:extLst>
          </p:cNvPr>
          <p:cNvSpPr>
            <a:spLocks noEditPoints="1"/>
          </p:cNvSpPr>
          <p:nvPr/>
        </p:nvSpPr>
        <p:spPr bwMode="auto">
          <a:xfrm>
            <a:off x="2316163" y="2719388"/>
            <a:ext cx="484188" cy="80963"/>
          </a:xfrm>
          <a:custGeom>
            <a:avLst/>
            <a:gdLst>
              <a:gd name="T0" fmla="*/ 305 w 305"/>
              <a:gd name="T1" fmla="*/ 21 h 51"/>
              <a:gd name="T2" fmla="*/ 305 w 305"/>
              <a:gd name="T3" fmla="*/ 14 h 51"/>
              <a:gd name="T4" fmla="*/ 303 w 305"/>
              <a:gd name="T5" fmla="*/ 8 h 51"/>
              <a:gd name="T6" fmla="*/ 303 w 305"/>
              <a:gd name="T7" fmla="*/ 3 h 51"/>
              <a:gd name="T8" fmla="*/ 298 w 305"/>
              <a:gd name="T9" fmla="*/ 0 h 51"/>
              <a:gd name="T10" fmla="*/ 300 w 305"/>
              <a:gd name="T11" fmla="*/ 6 h 51"/>
              <a:gd name="T12" fmla="*/ 300 w 305"/>
              <a:gd name="T13" fmla="*/ 11 h 51"/>
              <a:gd name="T14" fmla="*/ 301 w 305"/>
              <a:gd name="T15" fmla="*/ 18 h 51"/>
              <a:gd name="T16" fmla="*/ 301 w 305"/>
              <a:gd name="T17" fmla="*/ 24 h 51"/>
              <a:gd name="T18" fmla="*/ 301 w 305"/>
              <a:gd name="T19" fmla="*/ 31 h 51"/>
              <a:gd name="T20" fmla="*/ 300 w 305"/>
              <a:gd name="T21" fmla="*/ 38 h 51"/>
              <a:gd name="T22" fmla="*/ 300 w 305"/>
              <a:gd name="T23" fmla="*/ 44 h 51"/>
              <a:gd name="T24" fmla="*/ 298 w 305"/>
              <a:gd name="T25" fmla="*/ 51 h 51"/>
              <a:gd name="T26" fmla="*/ 303 w 305"/>
              <a:gd name="T27" fmla="*/ 48 h 51"/>
              <a:gd name="T28" fmla="*/ 303 w 305"/>
              <a:gd name="T29" fmla="*/ 41 h 51"/>
              <a:gd name="T30" fmla="*/ 305 w 305"/>
              <a:gd name="T31" fmla="*/ 34 h 51"/>
              <a:gd name="T32" fmla="*/ 305 w 305"/>
              <a:gd name="T33" fmla="*/ 28 h 51"/>
              <a:gd name="T34" fmla="*/ 3 w 305"/>
              <a:gd name="T35" fmla="*/ 0 h 51"/>
              <a:gd name="T36" fmla="*/ 1 w 305"/>
              <a:gd name="T37" fmla="*/ 6 h 51"/>
              <a:gd name="T38" fmla="*/ 1 w 305"/>
              <a:gd name="T39" fmla="*/ 11 h 51"/>
              <a:gd name="T40" fmla="*/ 1 w 305"/>
              <a:gd name="T41" fmla="*/ 18 h 51"/>
              <a:gd name="T42" fmla="*/ 0 w 305"/>
              <a:gd name="T43" fmla="*/ 24 h 51"/>
              <a:gd name="T44" fmla="*/ 1 w 305"/>
              <a:gd name="T45" fmla="*/ 31 h 51"/>
              <a:gd name="T46" fmla="*/ 1 w 305"/>
              <a:gd name="T47" fmla="*/ 38 h 51"/>
              <a:gd name="T48" fmla="*/ 1 w 305"/>
              <a:gd name="T49" fmla="*/ 44 h 51"/>
              <a:gd name="T50" fmla="*/ 3 w 305"/>
              <a:gd name="T51" fmla="*/ 51 h 51"/>
              <a:gd name="T52" fmla="*/ 5 w 305"/>
              <a:gd name="T53" fmla="*/ 48 h 51"/>
              <a:gd name="T54" fmla="*/ 5 w 305"/>
              <a:gd name="T55" fmla="*/ 41 h 51"/>
              <a:gd name="T56" fmla="*/ 5 w 305"/>
              <a:gd name="T57" fmla="*/ 34 h 51"/>
              <a:gd name="T58" fmla="*/ 3 w 305"/>
              <a:gd name="T59" fmla="*/ 28 h 51"/>
              <a:gd name="T60" fmla="*/ 3 w 305"/>
              <a:gd name="T61" fmla="*/ 21 h 51"/>
              <a:gd name="T62" fmla="*/ 5 w 305"/>
              <a:gd name="T63" fmla="*/ 14 h 51"/>
              <a:gd name="T64" fmla="*/ 5 w 305"/>
              <a:gd name="T65" fmla="*/ 8 h 51"/>
              <a:gd name="T66" fmla="*/ 6 w 305"/>
              <a:gd name="T67" fmla="*/ 3 h 51"/>
              <a:gd name="T68" fmla="*/ 3 w 30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5" h="51">
                <a:moveTo>
                  <a:pt x="305" y="24"/>
                </a:moveTo>
                <a:lnTo>
                  <a:pt x="305" y="21"/>
                </a:lnTo>
                <a:lnTo>
                  <a:pt x="305" y="18"/>
                </a:lnTo>
                <a:lnTo>
                  <a:pt x="305" y="14"/>
                </a:lnTo>
                <a:lnTo>
                  <a:pt x="303" y="11"/>
                </a:lnTo>
                <a:lnTo>
                  <a:pt x="303" y="8"/>
                </a:lnTo>
                <a:lnTo>
                  <a:pt x="303" y="6"/>
                </a:lnTo>
                <a:lnTo>
                  <a:pt x="303" y="3"/>
                </a:lnTo>
                <a:lnTo>
                  <a:pt x="301" y="0"/>
                </a:lnTo>
                <a:lnTo>
                  <a:pt x="298" y="0"/>
                </a:lnTo>
                <a:lnTo>
                  <a:pt x="300" y="3"/>
                </a:lnTo>
                <a:lnTo>
                  <a:pt x="300" y="6"/>
                </a:lnTo>
                <a:lnTo>
                  <a:pt x="300" y="8"/>
                </a:lnTo>
                <a:lnTo>
                  <a:pt x="300" y="11"/>
                </a:lnTo>
                <a:lnTo>
                  <a:pt x="301" y="14"/>
                </a:lnTo>
                <a:lnTo>
                  <a:pt x="301" y="18"/>
                </a:lnTo>
                <a:lnTo>
                  <a:pt x="301" y="21"/>
                </a:lnTo>
                <a:lnTo>
                  <a:pt x="301" y="24"/>
                </a:lnTo>
                <a:lnTo>
                  <a:pt x="301" y="28"/>
                </a:lnTo>
                <a:lnTo>
                  <a:pt x="301" y="31"/>
                </a:lnTo>
                <a:lnTo>
                  <a:pt x="301" y="34"/>
                </a:lnTo>
                <a:lnTo>
                  <a:pt x="300" y="38"/>
                </a:lnTo>
                <a:lnTo>
                  <a:pt x="300" y="41"/>
                </a:lnTo>
                <a:lnTo>
                  <a:pt x="300" y="44"/>
                </a:lnTo>
                <a:lnTo>
                  <a:pt x="300" y="48"/>
                </a:lnTo>
                <a:lnTo>
                  <a:pt x="298" y="51"/>
                </a:lnTo>
                <a:lnTo>
                  <a:pt x="301" y="51"/>
                </a:lnTo>
                <a:lnTo>
                  <a:pt x="303" y="48"/>
                </a:lnTo>
                <a:lnTo>
                  <a:pt x="303" y="44"/>
                </a:lnTo>
                <a:lnTo>
                  <a:pt x="303" y="41"/>
                </a:lnTo>
                <a:lnTo>
                  <a:pt x="303" y="38"/>
                </a:lnTo>
                <a:lnTo>
                  <a:pt x="305" y="34"/>
                </a:lnTo>
                <a:lnTo>
                  <a:pt x="305" y="31"/>
                </a:lnTo>
                <a:lnTo>
                  <a:pt x="305" y="28"/>
                </a:lnTo>
                <a:lnTo>
                  <a:pt x="305" y="24"/>
                </a:lnTo>
                <a:close/>
                <a:moveTo>
                  <a:pt x="3" y="0"/>
                </a:moveTo>
                <a:lnTo>
                  <a:pt x="3" y="3"/>
                </a:lnTo>
                <a:lnTo>
                  <a:pt x="1" y="6"/>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6" y="3"/>
                </a:lnTo>
                <a:lnTo>
                  <a:pt x="6" y="0"/>
                </a:lnTo>
                <a:lnTo>
                  <a:pt x="3"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61" name="Freeform 1766">
            <a:extLst>
              <a:ext uri="{FF2B5EF4-FFF2-40B4-BE49-F238E27FC236}">
                <a16:creationId xmlns:a16="http://schemas.microsoft.com/office/drawing/2014/main" id="{BA79E540-95C7-E6A3-7DBB-77BE2F2E5325}"/>
              </a:ext>
            </a:extLst>
          </p:cNvPr>
          <p:cNvSpPr>
            <a:spLocks noEditPoints="1"/>
          </p:cNvSpPr>
          <p:nvPr/>
        </p:nvSpPr>
        <p:spPr bwMode="auto">
          <a:xfrm>
            <a:off x="2317750" y="2719388"/>
            <a:ext cx="479425" cy="80963"/>
          </a:xfrm>
          <a:custGeom>
            <a:avLst/>
            <a:gdLst>
              <a:gd name="T0" fmla="*/ 302 w 302"/>
              <a:gd name="T1" fmla="*/ 21 h 51"/>
              <a:gd name="T2" fmla="*/ 302 w 302"/>
              <a:gd name="T3" fmla="*/ 14 h 51"/>
              <a:gd name="T4" fmla="*/ 300 w 302"/>
              <a:gd name="T5" fmla="*/ 8 h 51"/>
              <a:gd name="T6" fmla="*/ 300 w 302"/>
              <a:gd name="T7" fmla="*/ 3 h 51"/>
              <a:gd name="T8" fmla="*/ 295 w 302"/>
              <a:gd name="T9" fmla="*/ 0 h 51"/>
              <a:gd name="T10" fmla="*/ 297 w 302"/>
              <a:gd name="T11" fmla="*/ 6 h 51"/>
              <a:gd name="T12" fmla="*/ 297 w 302"/>
              <a:gd name="T13" fmla="*/ 11 h 51"/>
              <a:gd name="T14" fmla="*/ 299 w 302"/>
              <a:gd name="T15" fmla="*/ 18 h 51"/>
              <a:gd name="T16" fmla="*/ 299 w 302"/>
              <a:gd name="T17" fmla="*/ 24 h 51"/>
              <a:gd name="T18" fmla="*/ 299 w 302"/>
              <a:gd name="T19" fmla="*/ 31 h 51"/>
              <a:gd name="T20" fmla="*/ 297 w 302"/>
              <a:gd name="T21" fmla="*/ 38 h 51"/>
              <a:gd name="T22" fmla="*/ 297 w 302"/>
              <a:gd name="T23" fmla="*/ 44 h 51"/>
              <a:gd name="T24" fmla="*/ 295 w 302"/>
              <a:gd name="T25" fmla="*/ 51 h 51"/>
              <a:gd name="T26" fmla="*/ 300 w 302"/>
              <a:gd name="T27" fmla="*/ 48 h 51"/>
              <a:gd name="T28" fmla="*/ 300 w 302"/>
              <a:gd name="T29" fmla="*/ 41 h 51"/>
              <a:gd name="T30" fmla="*/ 302 w 302"/>
              <a:gd name="T31" fmla="*/ 34 h 51"/>
              <a:gd name="T32" fmla="*/ 302 w 302"/>
              <a:gd name="T33" fmla="*/ 28 h 51"/>
              <a:gd name="T34" fmla="*/ 4 w 302"/>
              <a:gd name="T35" fmla="*/ 0 h 51"/>
              <a:gd name="T36" fmla="*/ 2 w 302"/>
              <a:gd name="T37" fmla="*/ 6 h 51"/>
              <a:gd name="T38" fmla="*/ 2 w 302"/>
              <a:gd name="T39" fmla="*/ 11 h 51"/>
              <a:gd name="T40" fmla="*/ 2 w 302"/>
              <a:gd name="T41" fmla="*/ 18 h 51"/>
              <a:gd name="T42" fmla="*/ 0 w 302"/>
              <a:gd name="T43" fmla="*/ 24 h 51"/>
              <a:gd name="T44" fmla="*/ 2 w 302"/>
              <a:gd name="T45" fmla="*/ 31 h 51"/>
              <a:gd name="T46" fmla="*/ 2 w 302"/>
              <a:gd name="T47" fmla="*/ 38 h 51"/>
              <a:gd name="T48" fmla="*/ 2 w 302"/>
              <a:gd name="T49" fmla="*/ 44 h 51"/>
              <a:gd name="T50" fmla="*/ 4 w 302"/>
              <a:gd name="T51" fmla="*/ 51 h 51"/>
              <a:gd name="T52" fmla="*/ 5 w 302"/>
              <a:gd name="T53" fmla="*/ 48 h 51"/>
              <a:gd name="T54" fmla="*/ 5 w 302"/>
              <a:gd name="T55" fmla="*/ 41 h 51"/>
              <a:gd name="T56" fmla="*/ 5 w 302"/>
              <a:gd name="T57" fmla="*/ 34 h 51"/>
              <a:gd name="T58" fmla="*/ 4 w 302"/>
              <a:gd name="T59" fmla="*/ 28 h 51"/>
              <a:gd name="T60" fmla="*/ 4 w 302"/>
              <a:gd name="T61" fmla="*/ 21 h 51"/>
              <a:gd name="T62" fmla="*/ 5 w 302"/>
              <a:gd name="T63" fmla="*/ 14 h 51"/>
              <a:gd name="T64" fmla="*/ 5 w 302"/>
              <a:gd name="T65" fmla="*/ 8 h 51"/>
              <a:gd name="T66" fmla="*/ 7 w 302"/>
              <a:gd name="T67" fmla="*/ 3 h 51"/>
              <a:gd name="T68" fmla="*/ 4 w 30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2" h="51">
                <a:moveTo>
                  <a:pt x="302" y="24"/>
                </a:moveTo>
                <a:lnTo>
                  <a:pt x="302" y="21"/>
                </a:lnTo>
                <a:lnTo>
                  <a:pt x="302" y="18"/>
                </a:lnTo>
                <a:lnTo>
                  <a:pt x="302" y="14"/>
                </a:lnTo>
                <a:lnTo>
                  <a:pt x="300" y="11"/>
                </a:lnTo>
                <a:lnTo>
                  <a:pt x="300" y="8"/>
                </a:lnTo>
                <a:lnTo>
                  <a:pt x="300" y="6"/>
                </a:lnTo>
                <a:lnTo>
                  <a:pt x="300" y="3"/>
                </a:lnTo>
                <a:lnTo>
                  <a:pt x="299" y="0"/>
                </a:lnTo>
                <a:lnTo>
                  <a:pt x="295" y="0"/>
                </a:lnTo>
                <a:lnTo>
                  <a:pt x="297" y="3"/>
                </a:lnTo>
                <a:lnTo>
                  <a:pt x="297" y="6"/>
                </a:lnTo>
                <a:lnTo>
                  <a:pt x="297" y="8"/>
                </a:lnTo>
                <a:lnTo>
                  <a:pt x="297" y="11"/>
                </a:lnTo>
                <a:lnTo>
                  <a:pt x="299" y="14"/>
                </a:lnTo>
                <a:lnTo>
                  <a:pt x="299" y="18"/>
                </a:lnTo>
                <a:lnTo>
                  <a:pt x="299" y="21"/>
                </a:lnTo>
                <a:lnTo>
                  <a:pt x="299" y="24"/>
                </a:lnTo>
                <a:lnTo>
                  <a:pt x="299" y="28"/>
                </a:lnTo>
                <a:lnTo>
                  <a:pt x="299" y="31"/>
                </a:lnTo>
                <a:lnTo>
                  <a:pt x="299" y="34"/>
                </a:lnTo>
                <a:lnTo>
                  <a:pt x="297" y="38"/>
                </a:lnTo>
                <a:lnTo>
                  <a:pt x="297" y="41"/>
                </a:lnTo>
                <a:lnTo>
                  <a:pt x="297" y="44"/>
                </a:lnTo>
                <a:lnTo>
                  <a:pt x="297" y="48"/>
                </a:lnTo>
                <a:lnTo>
                  <a:pt x="295" y="51"/>
                </a:lnTo>
                <a:lnTo>
                  <a:pt x="299" y="51"/>
                </a:lnTo>
                <a:lnTo>
                  <a:pt x="300" y="48"/>
                </a:lnTo>
                <a:lnTo>
                  <a:pt x="300" y="44"/>
                </a:lnTo>
                <a:lnTo>
                  <a:pt x="300" y="41"/>
                </a:lnTo>
                <a:lnTo>
                  <a:pt x="300" y="38"/>
                </a:lnTo>
                <a:lnTo>
                  <a:pt x="302" y="34"/>
                </a:lnTo>
                <a:lnTo>
                  <a:pt x="302" y="31"/>
                </a:lnTo>
                <a:lnTo>
                  <a:pt x="302" y="28"/>
                </a:lnTo>
                <a:lnTo>
                  <a:pt x="302" y="24"/>
                </a:lnTo>
                <a:close/>
                <a:moveTo>
                  <a:pt x="4" y="0"/>
                </a:moveTo>
                <a:lnTo>
                  <a:pt x="4"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6"/>
                </a:lnTo>
                <a:lnTo>
                  <a:pt x="7" y="3"/>
                </a:lnTo>
                <a:lnTo>
                  <a:pt x="7" y="0"/>
                </a:lnTo>
                <a:lnTo>
                  <a:pt x="4"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62" name="Freeform 1767">
            <a:extLst>
              <a:ext uri="{FF2B5EF4-FFF2-40B4-BE49-F238E27FC236}">
                <a16:creationId xmlns:a16="http://schemas.microsoft.com/office/drawing/2014/main" id="{42C58219-E66F-7E22-BBF7-036D6604955A}"/>
              </a:ext>
            </a:extLst>
          </p:cNvPr>
          <p:cNvSpPr>
            <a:spLocks noEditPoints="1"/>
          </p:cNvSpPr>
          <p:nvPr/>
        </p:nvSpPr>
        <p:spPr bwMode="auto">
          <a:xfrm>
            <a:off x="2320925" y="2719388"/>
            <a:ext cx="473075" cy="80963"/>
          </a:xfrm>
          <a:custGeom>
            <a:avLst/>
            <a:gdLst>
              <a:gd name="T0" fmla="*/ 298 w 298"/>
              <a:gd name="T1" fmla="*/ 21 h 51"/>
              <a:gd name="T2" fmla="*/ 298 w 298"/>
              <a:gd name="T3" fmla="*/ 14 h 51"/>
              <a:gd name="T4" fmla="*/ 297 w 298"/>
              <a:gd name="T5" fmla="*/ 8 h 51"/>
              <a:gd name="T6" fmla="*/ 297 w 298"/>
              <a:gd name="T7" fmla="*/ 3 h 51"/>
              <a:gd name="T8" fmla="*/ 292 w 298"/>
              <a:gd name="T9" fmla="*/ 0 h 51"/>
              <a:gd name="T10" fmla="*/ 293 w 298"/>
              <a:gd name="T11" fmla="*/ 6 h 51"/>
              <a:gd name="T12" fmla="*/ 293 w 298"/>
              <a:gd name="T13" fmla="*/ 11 h 51"/>
              <a:gd name="T14" fmla="*/ 295 w 298"/>
              <a:gd name="T15" fmla="*/ 18 h 51"/>
              <a:gd name="T16" fmla="*/ 295 w 298"/>
              <a:gd name="T17" fmla="*/ 24 h 51"/>
              <a:gd name="T18" fmla="*/ 295 w 298"/>
              <a:gd name="T19" fmla="*/ 31 h 51"/>
              <a:gd name="T20" fmla="*/ 293 w 298"/>
              <a:gd name="T21" fmla="*/ 38 h 51"/>
              <a:gd name="T22" fmla="*/ 293 w 298"/>
              <a:gd name="T23" fmla="*/ 44 h 51"/>
              <a:gd name="T24" fmla="*/ 292 w 298"/>
              <a:gd name="T25" fmla="*/ 51 h 51"/>
              <a:gd name="T26" fmla="*/ 297 w 298"/>
              <a:gd name="T27" fmla="*/ 48 h 51"/>
              <a:gd name="T28" fmla="*/ 297 w 298"/>
              <a:gd name="T29" fmla="*/ 41 h 51"/>
              <a:gd name="T30" fmla="*/ 298 w 298"/>
              <a:gd name="T31" fmla="*/ 34 h 51"/>
              <a:gd name="T32" fmla="*/ 298 w 298"/>
              <a:gd name="T33" fmla="*/ 28 h 51"/>
              <a:gd name="T34" fmla="*/ 3 w 298"/>
              <a:gd name="T35" fmla="*/ 0 h 51"/>
              <a:gd name="T36" fmla="*/ 2 w 298"/>
              <a:gd name="T37" fmla="*/ 6 h 51"/>
              <a:gd name="T38" fmla="*/ 2 w 298"/>
              <a:gd name="T39" fmla="*/ 11 h 51"/>
              <a:gd name="T40" fmla="*/ 2 w 298"/>
              <a:gd name="T41" fmla="*/ 18 h 51"/>
              <a:gd name="T42" fmla="*/ 0 w 298"/>
              <a:gd name="T43" fmla="*/ 24 h 51"/>
              <a:gd name="T44" fmla="*/ 2 w 298"/>
              <a:gd name="T45" fmla="*/ 31 h 51"/>
              <a:gd name="T46" fmla="*/ 2 w 298"/>
              <a:gd name="T47" fmla="*/ 38 h 51"/>
              <a:gd name="T48" fmla="*/ 2 w 298"/>
              <a:gd name="T49" fmla="*/ 44 h 51"/>
              <a:gd name="T50" fmla="*/ 3 w 298"/>
              <a:gd name="T51" fmla="*/ 51 h 51"/>
              <a:gd name="T52" fmla="*/ 5 w 298"/>
              <a:gd name="T53" fmla="*/ 48 h 51"/>
              <a:gd name="T54" fmla="*/ 5 w 298"/>
              <a:gd name="T55" fmla="*/ 41 h 51"/>
              <a:gd name="T56" fmla="*/ 5 w 298"/>
              <a:gd name="T57" fmla="*/ 34 h 51"/>
              <a:gd name="T58" fmla="*/ 3 w 298"/>
              <a:gd name="T59" fmla="*/ 28 h 51"/>
              <a:gd name="T60" fmla="*/ 3 w 298"/>
              <a:gd name="T61" fmla="*/ 21 h 51"/>
              <a:gd name="T62" fmla="*/ 5 w 298"/>
              <a:gd name="T63" fmla="*/ 14 h 51"/>
              <a:gd name="T64" fmla="*/ 5 w 298"/>
              <a:gd name="T65" fmla="*/ 8 h 51"/>
              <a:gd name="T66" fmla="*/ 7 w 298"/>
              <a:gd name="T67" fmla="*/ 3 h 51"/>
              <a:gd name="T68" fmla="*/ 3 w 29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8" h="51">
                <a:moveTo>
                  <a:pt x="298" y="24"/>
                </a:moveTo>
                <a:lnTo>
                  <a:pt x="298" y="21"/>
                </a:lnTo>
                <a:lnTo>
                  <a:pt x="298" y="18"/>
                </a:lnTo>
                <a:lnTo>
                  <a:pt x="298" y="14"/>
                </a:lnTo>
                <a:lnTo>
                  <a:pt x="297" y="11"/>
                </a:lnTo>
                <a:lnTo>
                  <a:pt x="297" y="8"/>
                </a:lnTo>
                <a:lnTo>
                  <a:pt x="297" y="6"/>
                </a:lnTo>
                <a:lnTo>
                  <a:pt x="297" y="3"/>
                </a:lnTo>
                <a:lnTo>
                  <a:pt x="295" y="0"/>
                </a:lnTo>
                <a:lnTo>
                  <a:pt x="292" y="0"/>
                </a:lnTo>
                <a:lnTo>
                  <a:pt x="293" y="3"/>
                </a:lnTo>
                <a:lnTo>
                  <a:pt x="293" y="6"/>
                </a:lnTo>
                <a:lnTo>
                  <a:pt x="293" y="8"/>
                </a:lnTo>
                <a:lnTo>
                  <a:pt x="293" y="11"/>
                </a:lnTo>
                <a:lnTo>
                  <a:pt x="295" y="14"/>
                </a:lnTo>
                <a:lnTo>
                  <a:pt x="295" y="18"/>
                </a:lnTo>
                <a:lnTo>
                  <a:pt x="295" y="21"/>
                </a:lnTo>
                <a:lnTo>
                  <a:pt x="295" y="24"/>
                </a:lnTo>
                <a:lnTo>
                  <a:pt x="295" y="28"/>
                </a:lnTo>
                <a:lnTo>
                  <a:pt x="295" y="31"/>
                </a:lnTo>
                <a:lnTo>
                  <a:pt x="295" y="34"/>
                </a:lnTo>
                <a:lnTo>
                  <a:pt x="293" y="38"/>
                </a:lnTo>
                <a:lnTo>
                  <a:pt x="293" y="41"/>
                </a:lnTo>
                <a:lnTo>
                  <a:pt x="293" y="44"/>
                </a:lnTo>
                <a:lnTo>
                  <a:pt x="293" y="48"/>
                </a:lnTo>
                <a:lnTo>
                  <a:pt x="292" y="51"/>
                </a:lnTo>
                <a:lnTo>
                  <a:pt x="295" y="51"/>
                </a:lnTo>
                <a:lnTo>
                  <a:pt x="297" y="48"/>
                </a:lnTo>
                <a:lnTo>
                  <a:pt x="297" y="44"/>
                </a:lnTo>
                <a:lnTo>
                  <a:pt x="297" y="41"/>
                </a:lnTo>
                <a:lnTo>
                  <a:pt x="297" y="38"/>
                </a:lnTo>
                <a:lnTo>
                  <a:pt x="298" y="34"/>
                </a:lnTo>
                <a:lnTo>
                  <a:pt x="298" y="31"/>
                </a:lnTo>
                <a:lnTo>
                  <a:pt x="298" y="28"/>
                </a:lnTo>
                <a:lnTo>
                  <a:pt x="298" y="24"/>
                </a:lnTo>
                <a:close/>
                <a:moveTo>
                  <a:pt x="3" y="0"/>
                </a:moveTo>
                <a:lnTo>
                  <a:pt x="3"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7" y="3"/>
                </a:lnTo>
                <a:lnTo>
                  <a:pt x="7" y="0"/>
                </a:lnTo>
                <a:lnTo>
                  <a:pt x="3"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63" name="Freeform 1768">
            <a:extLst>
              <a:ext uri="{FF2B5EF4-FFF2-40B4-BE49-F238E27FC236}">
                <a16:creationId xmlns:a16="http://schemas.microsoft.com/office/drawing/2014/main" id="{D8F59E69-DBB1-0D08-F8A1-87F3AD478584}"/>
              </a:ext>
            </a:extLst>
          </p:cNvPr>
          <p:cNvSpPr>
            <a:spLocks noEditPoints="1"/>
          </p:cNvSpPr>
          <p:nvPr/>
        </p:nvSpPr>
        <p:spPr bwMode="auto">
          <a:xfrm>
            <a:off x="2324100" y="2719388"/>
            <a:ext cx="468313" cy="80963"/>
          </a:xfrm>
          <a:custGeom>
            <a:avLst/>
            <a:gdLst>
              <a:gd name="T0" fmla="*/ 295 w 295"/>
              <a:gd name="T1" fmla="*/ 21 h 51"/>
              <a:gd name="T2" fmla="*/ 295 w 295"/>
              <a:gd name="T3" fmla="*/ 14 h 51"/>
              <a:gd name="T4" fmla="*/ 293 w 295"/>
              <a:gd name="T5" fmla="*/ 8 h 51"/>
              <a:gd name="T6" fmla="*/ 293 w 295"/>
              <a:gd name="T7" fmla="*/ 3 h 51"/>
              <a:gd name="T8" fmla="*/ 288 w 295"/>
              <a:gd name="T9" fmla="*/ 0 h 51"/>
              <a:gd name="T10" fmla="*/ 290 w 295"/>
              <a:gd name="T11" fmla="*/ 6 h 51"/>
              <a:gd name="T12" fmla="*/ 290 w 295"/>
              <a:gd name="T13" fmla="*/ 11 h 51"/>
              <a:gd name="T14" fmla="*/ 291 w 295"/>
              <a:gd name="T15" fmla="*/ 18 h 51"/>
              <a:gd name="T16" fmla="*/ 291 w 295"/>
              <a:gd name="T17" fmla="*/ 24 h 51"/>
              <a:gd name="T18" fmla="*/ 291 w 295"/>
              <a:gd name="T19" fmla="*/ 31 h 51"/>
              <a:gd name="T20" fmla="*/ 290 w 295"/>
              <a:gd name="T21" fmla="*/ 38 h 51"/>
              <a:gd name="T22" fmla="*/ 290 w 295"/>
              <a:gd name="T23" fmla="*/ 44 h 51"/>
              <a:gd name="T24" fmla="*/ 288 w 295"/>
              <a:gd name="T25" fmla="*/ 51 h 51"/>
              <a:gd name="T26" fmla="*/ 293 w 295"/>
              <a:gd name="T27" fmla="*/ 48 h 51"/>
              <a:gd name="T28" fmla="*/ 293 w 295"/>
              <a:gd name="T29" fmla="*/ 41 h 51"/>
              <a:gd name="T30" fmla="*/ 295 w 295"/>
              <a:gd name="T31" fmla="*/ 34 h 51"/>
              <a:gd name="T32" fmla="*/ 295 w 295"/>
              <a:gd name="T33" fmla="*/ 28 h 51"/>
              <a:gd name="T34" fmla="*/ 3 w 295"/>
              <a:gd name="T35" fmla="*/ 0 h 51"/>
              <a:gd name="T36" fmla="*/ 1 w 295"/>
              <a:gd name="T37" fmla="*/ 6 h 51"/>
              <a:gd name="T38" fmla="*/ 1 w 295"/>
              <a:gd name="T39" fmla="*/ 11 h 51"/>
              <a:gd name="T40" fmla="*/ 1 w 295"/>
              <a:gd name="T41" fmla="*/ 18 h 51"/>
              <a:gd name="T42" fmla="*/ 0 w 295"/>
              <a:gd name="T43" fmla="*/ 24 h 51"/>
              <a:gd name="T44" fmla="*/ 1 w 295"/>
              <a:gd name="T45" fmla="*/ 31 h 51"/>
              <a:gd name="T46" fmla="*/ 1 w 295"/>
              <a:gd name="T47" fmla="*/ 38 h 51"/>
              <a:gd name="T48" fmla="*/ 1 w 295"/>
              <a:gd name="T49" fmla="*/ 44 h 51"/>
              <a:gd name="T50" fmla="*/ 3 w 295"/>
              <a:gd name="T51" fmla="*/ 51 h 51"/>
              <a:gd name="T52" fmla="*/ 5 w 295"/>
              <a:gd name="T53" fmla="*/ 48 h 51"/>
              <a:gd name="T54" fmla="*/ 5 w 295"/>
              <a:gd name="T55" fmla="*/ 41 h 51"/>
              <a:gd name="T56" fmla="*/ 5 w 295"/>
              <a:gd name="T57" fmla="*/ 34 h 51"/>
              <a:gd name="T58" fmla="*/ 3 w 295"/>
              <a:gd name="T59" fmla="*/ 28 h 51"/>
              <a:gd name="T60" fmla="*/ 3 w 295"/>
              <a:gd name="T61" fmla="*/ 21 h 51"/>
              <a:gd name="T62" fmla="*/ 5 w 295"/>
              <a:gd name="T63" fmla="*/ 14 h 51"/>
              <a:gd name="T64" fmla="*/ 5 w 295"/>
              <a:gd name="T65" fmla="*/ 8 h 51"/>
              <a:gd name="T66" fmla="*/ 6 w 295"/>
              <a:gd name="T67" fmla="*/ 3 h 51"/>
              <a:gd name="T68" fmla="*/ 3 w 29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5" h="51">
                <a:moveTo>
                  <a:pt x="295" y="24"/>
                </a:moveTo>
                <a:lnTo>
                  <a:pt x="295" y="21"/>
                </a:lnTo>
                <a:lnTo>
                  <a:pt x="295" y="18"/>
                </a:lnTo>
                <a:lnTo>
                  <a:pt x="295" y="14"/>
                </a:lnTo>
                <a:lnTo>
                  <a:pt x="293" y="11"/>
                </a:lnTo>
                <a:lnTo>
                  <a:pt x="293" y="8"/>
                </a:lnTo>
                <a:lnTo>
                  <a:pt x="293" y="6"/>
                </a:lnTo>
                <a:lnTo>
                  <a:pt x="293" y="3"/>
                </a:lnTo>
                <a:lnTo>
                  <a:pt x="291" y="0"/>
                </a:lnTo>
                <a:lnTo>
                  <a:pt x="288" y="0"/>
                </a:lnTo>
                <a:lnTo>
                  <a:pt x="290" y="3"/>
                </a:lnTo>
                <a:lnTo>
                  <a:pt x="290" y="6"/>
                </a:lnTo>
                <a:lnTo>
                  <a:pt x="290" y="8"/>
                </a:lnTo>
                <a:lnTo>
                  <a:pt x="290" y="11"/>
                </a:lnTo>
                <a:lnTo>
                  <a:pt x="291" y="14"/>
                </a:lnTo>
                <a:lnTo>
                  <a:pt x="291" y="18"/>
                </a:lnTo>
                <a:lnTo>
                  <a:pt x="291" y="21"/>
                </a:lnTo>
                <a:lnTo>
                  <a:pt x="291" y="24"/>
                </a:lnTo>
                <a:lnTo>
                  <a:pt x="291" y="28"/>
                </a:lnTo>
                <a:lnTo>
                  <a:pt x="291" y="31"/>
                </a:lnTo>
                <a:lnTo>
                  <a:pt x="291" y="34"/>
                </a:lnTo>
                <a:lnTo>
                  <a:pt x="290" y="38"/>
                </a:lnTo>
                <a:lnTo>
                  <a:pt x="290" y="41"/>
                </a:lnTo>
                <a:lnTo>
                  <a:pt x="290" y="44"/>
                </a:lnTo>
                <a:lnTo>
                  <a:pt x="290" y="48"/>
                </a:lnTo>
                <a:lnTo>
                  <a:pt x="288" y="51"/>
                </a:lnTo>
                <a:lnTo>
                  <a:pt x="291" y="51"/>
                </a:lnTo>
                <a:lnTo>
                  <a:pt x="293" y="48"/>
                </a:lnTo>
                <a:lnTo>
                  <a:pt x="293" y="44"/>
                </a:lnTo>
                <a:lnTo>
                  <a:pt x="293" y="41"/>
                </a:lnTo>
                <a:lnTo>
                  <a:pt x="293" y="38"/>
                </a:lnTo>
                <a:lnTo>
                  <a:pt x="295" y="34"/>
                </a:lnTo>
                <a:lnTo>
                  <a:pt x="295" y="31"/>
                </a:lnTo>
                <a:lnTo>
                  <a:pt x="295" y="28"/>
                </a:lnTo>
                <a:lnTo>
                  <a:pt x="295" y="24"/>
                </a:lnTo>
                <a:close/>
                <a:moveTo>
                  <a:pt x="3" y="0"/>
                </a:moveTo>
                <a:lnTo>
                  <a:pt x="3" y="3"/>
                </a:lnTo>
                <a:lnTo>
                  <a:pt x="1" y="6"/>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6" y="3"/>
                </a:lnTo>
                <a:lnTo>
                  <a:pt x="6" y="0"/>
                </a:lnTo>
                <a:lnTo>
                  <a:pt x="3"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64" name="Freeform 1769">
            <a:extLst>
              <a:ext uri="{FF2B5EF4-FFF2-40B4-BE49-F238E27FC236}">
                <a16:creationId xmlns:a16="http://schemas.microsoft.com/office/drawing/2014/main" id="{C5315C14-2124-C036-3973-4397573490AE}"/>
              </a:ext>
            </a:extLst>
          </p:cNvPr>
          <p:cNvSpPr>
            <a:spLocks noEditPoints="1"/>
          </p:cNvSpPr>
          <p:nvPr/>
        </p:nvSpPr>
        <p:spPr bwMode="auto">
          <a:xfrm>
            <a:off x="2325688" y="2719388"/>
            <a:ext cx="463550" cy="80963"/>
          </a:xfrm>
          <a:custGeom>
            <a:avLst/>
            <a:gdLst>
              <a:gd name="T0" fmla="*/ 292 w 292"/>
              <a:gd name="T1" fmla="*/ 21 h 51"/>
              <a:gd name="T2" fmla="*/ 292 w 292"/>
              <a:gd name="T3" fmla="*/ 14 h 51"/>
              <a:gd name="T4" fmla="*/ 290 w 292"/>
              <a:gd name="T5" fmla="*/ 8 h 51"/>
              <a:gd name="T6" fmla="*/ 290 w 292"/>
              <a:gd name="T7" fmla="*/ 3 h 51"/>
              <a:gd name="T8" fmla="*/ 285 w 292"/>
              <a:gd name="T9" fmla="*/ 0 h 51"/>
              <a:gd name="T10" fmla="*/ 287 w 292"/>
              <a:gd name="T11" fmla="*/ 6 h 51"/>
              <a:gd name="T12" fmla="*/ 287 w 292"/>
              <a:gd name="T13" fmla="*/ 11 h 51"/>
              <a:gd name="T14" fmla="*/ 289 w 292"/>
              <a:gd name="T15" fmla="*/ 18 h 51"/>
              <a:gd name="T16" fmla="*/ 289 w 292"/>
              <a:gd name="T17" fmla="*/ 24 h 51"/>
              <a:gd name="T18" fmla="*/ 289 w 292"/>
              <a:gd name="T19" fmla="*/ 31 h 51"/>
              <a:gd name="T20" fmla="*/ 287 w 292"/>
              <a:gd name="T21" fmla="*/ 38 h 51"/>
              <a:gd name="T22" fmla="*/ 287 w 292"/>
              <a:gd name="T23" fmla="*/ 44 h 51"/>
              <a:gd name="T24" fmla="*/ 285 w 292"/>
              <a:gd name="T25" fmla="*/ 51 h 51"/>
              <a:gd name="T26" fmla="*/ 290 w 292"/>
              <a:gd name="T27" fmla="*/ 48 h 51"/>
              <a:gd name="T28" fmla="*/ 290 w 292"/>
              <a:gd name="T29" fmla="*/ 41 h 51"/>
              <a:gd name="T30" fmla="*/ 292 w 292"/>
              <a:gd name="T31" fmla="*/ 34 h 51"/>
              <a:gd name="T32" fmla="*/ 292 w 292"/>
              <a:gd name="T33" fmla="*/ 28 h 51"/>
              <a:gd name="T34" fmla="*/ 4 w 292"/>
              <a:gd name="T35" fmla="*/ 0 h 51"/>
              <a:gd name="T36" fmla="*/ 2 w 292"/>
              <a:gd name="T37" fmla="*/ 6 h 51"/>
              <a:gd name="T38" fmla="*/ 2 w 292"/>
              <a:gd name="T39" fmla="*/ 11 h 51"/>
              <a:gd name="T40" fmla="*/ 2 w 292"/>
              <a:gd name="T41" fmla="*/ 18 h 51"/>
              <a:gd name="T42" fmla="*/ 0 w 292"/>
              <a:gd name="T43" fmla="*/ 24 h 51"/>
              <a:gd name="T44" fmla="*/ 2 w 292"/>
              <a:gd name="T45" fmla="*/ 31 h 51"/>
              <a:gd name="T46" fmla="*/ 2 w 292"/>
              <a:gd name="T47" fmla="*/ 38 h 51"/>
              <a:gd name="T48" fmla="*/ 2 w 292"/>
              <a:gd name="T49" fmla="*/ 44 h 51"/>
              <a:gd name="T50" fmla="*/ 4 w 292"/>
              <a:gd name="T51" fmla="*/ 51 h 51"/>
              <a:gd name="T52" fmla="*/ 5 w 292"/>
              <a:gd name="T53" fmla="*/ 48 h 51"/>
              <a:gd name="T54" fmla="*/ 5 w 292"/>
              <a:gd name="T55" fmla="*/ 41 h 51"/>
              <a:gd name="T56" fmla="*/ 5 w 292"/>
              <a:gd name="T57" fmla="*/ 34 h 51"/>
              <a:gd name="T58" fmla="*/ 4 w 292"/>
              <a:gd name="T59" fmla="*/ 28 h 51"/>
              <a:gd name="T60" fmla="*/ 4 w 292"/>
              <a:gd name="T61" fmla="*/ 21 h 51"/>
              <a:gd name="T62" fmla="*/ 5 w 292"/>
              <a:gd name="T63" fmla="*/ 14 h 51"/>
              <a:gd name="T64" fmla="*/ 5 w 292"/>
              <a:gd name="T65" fmla="*/ 8 h 51"/>
              <a:gd name="T66" fmla="*/ 7 w 292"/>
              <a:gd name="T67" fmla="*/ 3 h 51"/>
              <a:gd name="T68" fmla="*/ 4 w 29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2" h="51">
                <a:moveTo>
                  <a:pt x="292" y="24"/>
                </a:moveTo>
                <a:lnTo>
                  <a:pt x="292" y="21"/>
                </a:lnTo>
                <a:lnTo>
                  <a:pt x="292" y="18"/>
                </a:lnTo>
                <a:lnTo>
                  <a:pt x="292" y="14"/>
                </a:lnTo>
                <a:lnTo>
                  <a:pt x="290" y="11"/>
                </a:lnTo>
                <a:lnTo>
                  <a:pt x="290" y="8"/>
                </a:lnTo>
                <a:lnTo>
                  <a:pt x="290" y="6"/>
                </a:lnTo>
                <a:lnTo>
                  <a:pt x="290" y="3"/>
                </a:lnTo>
                <a:lnTo>
                  <a:pt x="289" y="0"/>
                </a:lnTo>
                <a:lnTo>
                  <a:pt x="285" y="0"/>
                </a:lnTo>
                <a:lnTo>
                  <a:pt x="287" y="3"/>
                </a:lnTo>
                <a:lnTo>
                  <a:pt x="287" y="6"/>
                </a:lnTo>
                <a:lnTo>
                  <a:pt x="287" y="8"/>
                </a:lnTo>
                <a:lnTo>
                  <a:pt x="287" y="11"/>
                </a:lnTo>
                <a:lnTo>
                  <a:pt x="289" y="14"/>
                </a:lnTo>
                <a:lnTo>
                  <a:pt x="289" y="18"/>
                </a:lnTo>
                <a:lnTo>
                  <a:pt x="289" y="21"/>
                </a:lnTo>
                <a:lnTo>
                  <a:pt x="289" y="24"/>
                </a:lnTo>
                <a:lnTo>
                  <a:pt x="289" y="28"/>
                </a:lnTo>
                <a:lnTo>
                  <a:pt x="289" y="31"/>
                </a:lnTo>
                <a:lnTo>
                  <a:pt x="289" y="34"/>
                </a:lnTo>
                <a:lnTo>
                  <a:pt x="287" y="38"/>
                </a:lnTo>
                <a:lnTo>
                  <a:pt x="287" y="41"/>
                </a:lnTo>
                <a:lnTo>
                  <a:pt x="287" y="44"/>
                </a:lnTo>
                <a:lnTo>
                  <a:pt x="287" y="48"/>
                </a:lnTo>
                <a:lnTo>
                  <a:pt x="285" y="51"/>
                </a:lnTo>
                <a:lnTo>
                  <a:pt x="289" y="51"/>
                </a:lnTo>
                <a:lnTo>
                  <a:pt x="290" y="48"/>
                </a:lnTo>
                <a:lnTo>
                  <a:pt x="290" y="44"/>
                </a:lnTo>
                <a:lnTo>
                  <a:pt x="290" y="41"/>
                </a:lnTo>
                <a:lnTo>
                  <a:pt x="290" y="38"/>
                </a:lnTo>
                <a:lnTo>
                  <a:pt x="292" y="34"/>
                </a:lnTo>
                <a:lnTo>
                  <a:pt x="292" y="31"/>
                </a:lnTo>
                <a:lnTo>
                  <a:pt x="292" y="28"/>
                </a:lnTo>
                <a:lnTo>
                  <a:pt x="292" y="24"/>
                </a:lnTo>
                <a:close/>
                <a:moveTo>
                  <a:pt x="4" y="0"/>
                </a:moveTo>
                <a:lnTo>
                  <a:pt x="4"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6"/>
                </a:lnTo>
                <a:lnTo>
                  <a:pt x="7" y="3"/>
                </a:lnTo>
                <a:lnTo>
                  <a:pt x="7" y="0"/>
                </a:lnTo>
                <a:lnTo>
                  <a:pt x="4"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65" name="Freeform 1770">
            <a:extLst>
              <a:ext uri="{FF2B5EF4-FFF2-40B4-BE49-F238E27FC236}">
                <a16:creationId xmlns:a16="http://schemas.microsoft.com/office/drawing/2014/main" id="{59618A5D-3406-97F3-0C8C-7839C34E890A}"/>
              </a:ext>
            </a:extLst>
          </p:cNvPr>
          <p:cNvSpPr>
            <a:spLocks noEditPoints="1"/>
          </p:cNvSpPr>
          <p:nvPr/>
        </p:nvSpPr>
        <p:spPr bwMode="auto">
          <a:xfrm>
            <a:off x="2328863" y="2719388"/>
            <a:ext cx="457200" cy="80963"/>
          </a:xfrm>
          <a:custGeom>
            <a:avLst/>
            <a:gdLst>
              <a:gd name="T0" fmla="*/ 288 w 288"/>
              <a:gd name="T1" fmla="*/ 21 h 51"/>
              <a:gd name="T2" fmla="*/ 288 w 288"/>
              <a:gd name="T3" fmla="*/ 14 h 51"/>
              <a:gd name="T4" fmla="*/ 287 w 288"/>
              <a:gd name="T5" fmla="*/ 8 h 51"/>
              <a:gd name="T6" fmla="*/ 287 w 288"/>
              <a:gd name="T7" fmla="*/ 3 h 51"/>
              <a:gd name="T8" fmla="*/ 282 w 288"/>
              <a:gd name="T9" fmla="*/ 0 h 51"/>
              <a:gd name="T10" fmla="*/ 283 w 288"/>
              <a:gd name="T11" fmla="*/ 6 h 51"/>
              <a:gd name="T12" fmla="*/ 283 w 288"/>
              <a:gd name="T13" fmla="*/ 11 h 51"/>
              <a:gd name="T14" fmla="*/ 285 w 288"/>
              <a:gd name="T15" fmla="*/ 18 h 51"/>
              <a:gd name="T16" fmla="*/ 285 w 288"/>
              <a:gd name="T17" fmla="*/ 24 h 51"/>
              <a:gd name="T18" fmla="*/ 285 w 288"/>
              <a:gd name="T19" fmla="*/ 31 h 51"/>
              <a:gd name="T20" fmla="*/ 283 w 288"/>
              <a:gd name="T21" fmla="*/ 38 h 51"/>
              <a:gd name="T22" fmla="*/ 283 w 288"/>
              <a:gd name="T23" fmla="*/ 44 h 51"/>
              <a:gd name="T24" fmla="*/ 282 w 288"/>
              <a:gd name="T25" fmla="*/ 51 h 51"/>
              <a:gd name="T26" fmla="*/ 287 w 288"/>
              <a:gd name="T27" fmla="*/ 48 h 51"/>
              <a:gd name="T28" fmla="*/ 287 w 288"/>
              <a:gd name="T29" fmla="*/ 41 h 51"/>
              <a:gd name="T30" fmla="*/ 288 w 288"/>
              <a:gd name="T31" fmla="*/ 34 h 51"/>
              <a:gd name="T32" fmla="*/ 288 w 288"/>
              <a:gd name="T33" fmla="*/ 28 h 51"/>
              <a:gd name="T34" fmla="*/ 3 w 288"/>
              <a:gd name="T35" fmla="*/ 0 h 51"/>
              <a:gd name="T36" fmla="*/ 2 w 288"/>
              <a:gd name="T37" fmla="*/ 6 h 51"/>
              <a:gd name="T38" fmla="*/ 2 w 288"/>
              <a:gd name="T39" fmla="*/ 11 h 51"/>
              <a:gd name="T40" fmla="*/ 2 w 288"/>
              <a:gd name="T41" fmla="*/ 18 h 51"/>
              <a:gd name="T42" fmla="*/ 0 w 288"/>
              <a:gd name="T43" fmla="*/ 24 h 51"/>
              <a:gd name="T44" fmla="*/ 2 w 288"/>
              <a:gd name="T45" fmla="*/ 31 h 51"/>
              <a:gd name="T46" fmla="*/ 2 w 288"/>
              <a:gd name="T47" fmla="*/ 38 h 51"/>
              <a:gd name="T48" fmla="*/ 2 w 288"/>
              <a:gd name="T49" fmla="*/ 44 h 51"/>
              <a:gd name="T50" fmla="*/ 3 w 288"/>
              <a:gd name="T51" fmla="*/ 51 h 51"/>
              <a:gd name="T52" fmla="*/ 5 w 288"/>
              <a:gd name="T53" fmla="*/ 48 h 51"/>
              <a:gd name="T54" fmla="*/ 5 w 288"/>
              <a:gd name="T55" fmla="*/ 41 h 51"/>
              <a:gd name="T56" fmla="*/ 5 w 288"/>
              <a:gd name="T57" fmla="*/ 34 h 51"/>
              <a:gd name="T58" fmla="*/ 3 w 288"/>
              <a:gd name="T59" fmla="*/ 28 h 51"/>
              <a:gd name="T60" fmla="*/ 3 w 288"/>
              <a:gd name="T61" fmla="*/ 21 h 51"/>
              <a:gd name="T62" fmla="*/ 5 w 288"/>
              <a:gd name="T63" fmla="*/ 14 h 51"/>
              <a:gd name="T64" fmla="*/ 5 w 288"/>
              <a:gd name="T65" fmla="*/ 8 h 51"/>
              <a:gd name="T66" fmla="*/ 7 w 288"/>
              <a:gd name="T67" fmla="*/ 3 h 51"/>
              <a:gd name="T68" fmla="*/ 3 w 28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8" h="51">
                <a:moveTo>
                  <a:pt x="288" y="24"/>
                </a:moveTo>
                <a:lnTo>
                  <a:pt x="288" y="21"/>
                </a:lnTo>
                <a:lnTo>
                  <a:pt x="288" y="18"/>
                </a:lnTo>
                <a:lnTo>
                  <a:pt x="288" y="14"/>
                </a:lnTo>
                <a:lnTo>
                  <a:pt x="287" y="11"/>
                </a:lnTo>
                <a:lnTo>
                  <a:pt x="287" y="8"/>
                </a:lnTo>
                <a:lnTo>
                  <a:pt x="287" y="6"/>
                </a:lnTo>
                <a:lnTo>
                  <a:pt x="287" y="3"/>
                </a:lnTo>
                <a:lnTo>
                  <a:pt x="285" y="0"/>
                </a:lnTo>
                <a:lnTo>
                  <a:pt x="282" y="0"/>
                </a:lnTo>
                <a:lnTo>
                  <a:pt x="283" y="3"/>
                </a:lnTo>
                <a:lnTo>
                  <a:pt x="283" y="6"/>
                </a:lnTo>
                <a:lnTo>
                  <a:pt x="283" y="8"/>
                </a:lnTo>
                <a:lnTo>
                  <a:pt x="283" y="11"/>
                </a:lnTo>
                <a:lnTo>
                  <a:pt x="285" y="14"/>
                </a:lnTo>
                <a:lnTo>
                  <a:pt x="285" y="18"/>
                </a:lnTo>
                <a:lnTo>
                  <a:pt x="285" y="21"/>
                </a:lnTo>
                <a:lnTo>
                  <a:pt x="285" y="24"/>
                </a:lnTo>
                <a:lnTo>
                  <a:pt x="285" y="28"/>
                </a:lnTo>
                <a:lnTo>
                  <a:pt x="285" y="31"/>
                </a:lnTo>
                <a:lnTo>
                  <a:pt x="285" y="34"/>
                </a:lnTo>
                <a:lnTo>
                  <a:pt x="283" y="38"/>
                </a:lnTo>
                <a:lnTo>
                  <a:pt x="283" y="41"/>
                </a:lnTo>
                <a:lnTo>
                  <a:pt x="283" y="44"/>
                </a:lnTo>
                <a:lnTo>
                  <a:pt x="283" y="48"/>
                </a:lnTo>
                <a:lnTo>
                  <a:pt x="282" y="51"/>
                </a:lnTo>
                <a:lnTo>
                  <a:pt x="285" y="51"/>
                </a:lnTo>
                <a:lnTo>
                  <a:pt x="287" y="48"/>
                </a:lnTo>
                <a:lnTo>
                  <a:pt x="287" y="44"/>
                </a:lnTo>
                <a:lnTo>
                  <a:pt x="287" y="41"/>
                </a:lnTo>
                <a:lnTo>
                  <a:pt x="287" y="38"/>
                </a:lnTo>
                <a:lnTo>
                  <a:pt x="288" y="34"/>
                </a:lnTo>
                <a:lnTo>
                  <a:pt x="288" y="31"/>
                </a:lnTo>
                <a:lnTo>
                  <a:pt x="288" y="28"/>
                </a:lnTo>
                <a:lnTo>
                  <a:pt x="288" y="24"/>
                </a:lnTo>
                <a:close/>
                <a:moveTo>
                  <a:pt x="3" y="0"/>
                </a:moveTo>
                <a:lnTo>
                  <a:pt x="3"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7" y="3"/>
                </a:lnTo>
                <a:lnTo>
                  <a:pt x="7" y="0"/>
                </a:lnTo>
                <a:lnTo>
                  <a:pt x="3"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66" name="Freeform 1771">
            <a:extLst>
              <a:ext uri="{FF2B5EF4-FFF2-40B4-BE49-F238E27FC236}">
                <a16:creationId xmlns:a16="http://schemas.microsoft.com/office/drawing/2014/main" id="{6ABBD393-D70D-FA6D-FCC1-FBA9EEFCADD9}"/>
              </a:ext>
            </a:extLst>
          </p:cNvPr>
          <p:cNvSpPr>
            <a:spLocks noEditPoints="1"/>
          </p:cNvSpPr>
          <p:nvPr/>
        </p:nvSpPr>
        <p:spPr bwMode="auto">
          <a:xfrm>
            <a:off x="2332038" y="2719388"/>
            <a:ext cx="452438" cy="80963"/>
          </a:xfrm>
          <a:custGeom>
            <a:avLst/>
            <a:gdLst>
              <a:gd name="T0" fmla="*/ 285 w 285"/>
              <a:gd name="T1" fmla="*/ 21 h 51"/>
              <a:gd name="T2" fmla="*/ 285 w 285"/>
              <a:gd name="T3" fmla="*/ 14 h 51"/>
              <a:gd name="T4" fmla="*/ 283 w 285"/>
              <a:gd name="T5" fmla="*/ 8 h 51"/>
              <a:gd name="T6" fmla="*/ 283 w 285"/>
              <a:gd name="T7" fmla="*/ 3 h 51"/>
              <a:gd name="T8" fmla="*/ 278 w 285"/>
              <a:gd name="T9" fmla="*/ 0 h 51"/>
              <a:gd name="T10" fmla="*/ 280 w 285"/>
              <a:gd name="T11" fmla="*/ 4 h 51"/>
              <a:gd name="T12" fmla="*/ 280 w 285"/>
              <a:gd name="T13" fmla="*/ 11 h 51"/>
              <a:gd name="T14" fmla="*/ 281 w 285"/>
              <a:gd name="T15" fmla="*/ 18 h 51"/>
              <a:gd name="T16" fmla="*/ 281 w 285"/>
              <a:gd name="T17" fmla="*/ 24 h 51"/>
              <a:gd name="T18" fmla="*/ 281 w 285"/>
              <a:gd name="T19" fmla="*/ 31 h 51"/>
              <a:gd name="T20" fmla="*/ 280 w 285"/>
              <a:gd name="T21" fmla="*/ 38 h 51"/>
              <a:gd name="T22" fmla="*/ 280 w 285"/>
              <a:gd name="T23" fmla="*/ 44 h 51"/>
              <a:gd name="T24" fmla="*/ 278 w 285"/>
              <a:gd name="T25" fmla="*/ 51 h 51"/>
              <a:gd name="T26" fmla="*/ 283 w 285"/>
              <a:gd name="T27" fmla="*/ 48 h 51"/>
              <a:gd name="T28" fmla="*/ 283 w 285"/>
              <a:gd name="T29" fmla="*/ 41 h 51"/>
              <a:gd name="T30" fmla="*/ 285 w 285"/>
              <a:gd name="T31" fmla="*/ 34 h 51"/>
              <a:gd name="T32" fmla="*/ 285 w 285"/>
              <a:gd name="T33" fmla="*/ 28 h 51"/>
              <a:gd name="T34" fmla="*/ 3 w 285"/>
              <a:gd name="T35" fmla="*/ 0 h 51"/>
              <a:gd name="T36" fmla="*/ 1 w 285"/>
              <a:gd name="T37" fmla="*/ 6 h 51"/>
              <a:gd name="T38" fmla="*/ 1 w 285"/>
              <a:gd name="T39" fmla="*/ 11 h 51"/>
              <a:gd name="T40" fmla="*/ 1 w 285"/>
              <a:gd name="T41" fmla="*/ 18 h 51"/>
              <a:gd name="T42" fmla="*/ 0 w 285"/>
              <a:gd name="T43" fmla="*/ 24 h 51"/>
              <a:gd name="T44" fmla="*/ 1 w 285"/>
              <a:gd name="T45" fmla="*/ 31 h 51"/>
              <a:gd name="T46" fmla="*/ 1 w 285"/>
              <a:gd name="T47" fmla="*/ 38 h 51"/>
              <a:gd name="T48" fmla="*/ 1 w 285"/>
              <a:gd name="T49" fmla="*/ 44 h 51"/>
              <a:gd name="T50" fmla="*/ 3 w 285"/>
              <a:gd name="T51" fmla="*/ 51 h 51"/>
              <a:gd name="T52" fmla="*/ 5 w 285"/>
              <a:gd name="T53" fmla="*/ 48 h 51"/>
              <a:gd name="T54" fmla="*/ 5 w 285"/>
              <a:gd name="T55" fmla="*/ 41 h 51"/>
              <a:gd name="T56" fmla="*/ 5 w 285"/>
              <a:gd name="T57" fmla="*/ 34 h 51"/>
              <a:gd name="T58" fmla="*/ 3 w 285"/>
              <a:gd name="T59" fmla="*/ 28 h 51"/>
              <a:gd name="T60" fmla="*/ 3 w 285"/>
              <a:gd name="T61" fmla="*/ 21 h 51"/>
              <a:gd name="T62" fmla="*/ 5 w 285"/>
              <a:gd name="T63" fmla="*/ 14 h 51"/>
              <a:gd name="T64" fmla="*/ 5 w 285"/>
              <a:gd name="T65" fmla="*/ 8 h 51"/>
              <a:gd name="T66" fmla="*/ 6 w 285"/>
              <a:gd name="T67" fmla="*/ 3 h 51"/>
              <a:gd name="T68" fmla="*/ 3 w 28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5" h="51">
                <a:moveTo>
                  <a:pt x="285" y="24"/>
                </a:moveTo>
                <a:lnTo>
                  <a:pt x="285" y="21"/>
                </a:lnTo>
                <a:lnTo>
                  <a:pt x="285" y="18"/>
                </a:lnTo>
                <a:lnTo>
                  <a:pt x="285" y="14"/>
                </a:lnTo>
                <a:lnTo>
                  <a:pt x="283" y="11"/>
                </a:lnTo>
                <a:lnTo>
                  <a:pt x="283" y="8"/>
                </a:lnTo>
                <a:lnTo>
                  <a:pt x="283" y="6"/>
                </a:lnTo>
                <a:lnTo>
                  <a:pt x="283" y="3"/>
                </a:lnTo>
                <a:lnTo>
                  <a:pt x="281" y="0"/>
                </a:lnTo>
                <a:lnTo>
                  <a:pt x="278" y="0"/>
                </a:lnTo>
                <a:lnTo>
                  <a:pt x="280" y="3"/>
                </a:lnTo>
                <a:lnTo>
                  <a:pt x="280" y="4"/>
                </a:lnTo>
                <a:lnTo>
                  <a:pt x="280" y="8"/>
                </a:lnTo>
                <a:lnTo>
                  <a:pt x="280" y="11"/>
                </a:lnTo>
                <a:lnTo>
                  <a:pt x="281" y="14"/>
                </a:lnTo>
                <a:lnTo>
                  <a:pt x="281" y="18"/>
                </a:lnTo>
                <a:lnTo>
                  <a:pt x="281" y="21"/>
                </a:lnTo>
                <a:lnTo>
                  <a:pt x="281" y="24"/>
                </a:lnTo>
                <a:lnTo>
                  <a:pt x="281" y="28"/>
                </a:lnTo>
                <a:lnTo>
                  <a:pt x="281" y="31"/>
                </a:lnTo>
                <a:lnTo>
                  <a:pt x="281" y="34"/>
                </a:lnTo>
                <a:lnTo>
                  <a:pt x="280" y="38"/>
                </a:lnTo>
                <a:lnTo>
                  <a:pt x="280" y="41"/>
                </a:lnTo>
                <a:lnTo>
                  <a:pt x="280" y="44"/>
                </a:lnTo>
                <a:lnTo>
                  <a:pt x="280" y="48"/>
                </a:lnTo>
                <a:lnTo>
                  <a:pt x="278" y="51"/>
                </a:lnTo>
                <a:lnTo>
                  <a:pt x="281" y="51"/>
                </a:lnTo>
                <a:lnTo>
                  <a:pt x="283" y="48"/>
                </a:lnTo>
                <a:lnTo>
                  <a:pt x="283" y="44"/>
                </a:lnTo>
                <a:lnTo>
                  <a:pt x="283" y="41"/>
                </a:lnTo>
                <a:lnTo>
                  <a:pt x="283" y="38"/>
                </a:lnTo>
                <a:lnTo>
                  <a:pt x="285" y="34"/>
                </a:lnTo>
                <a:lnTo>
                  <a:pt x="285" y="31"/>
                </a:lnTo>
                <a:lnTo>
                  <a:pt x="285" y="28"/>
                </a:lnTo>
                <a:lnTo>
                  <a:pt x="285" y="24"/>
                </a:lnTo>
                <a:close/>
                <a:moveTo>
                  <a:pt x="3" y="0"/>
                </a:moveTo>
                <a:lnTo>
                  <a:pt x="3" y="3"/>
                </a:lnTo>
                <a:lnTo>
                  <a:pt x="1" y="6"/>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4"/>
                </a:lnTo>
                <a:lnTo>
                  <a:pt x="6" y="3"/>
                </a:lnTo>
                <a:lnTo>
                  <a:pt x="6" y="0"/>
                </a:lnTo>
                <a:lnTo>
                  <a:pt x="3"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67" name="Freeform 1772">
            <a:extLst>
              <a:ext uri="{FF2B5EF4-FFF2-40B4-BE49-F238E27FC236}">
                <a16:creationId xmlns:a16="http://schemas.microsoft.com/office/drawing/2014/main" id="{D1DA1244-5199-70EF-49F1-BE49E48E5D05}"/>
              </a:ext>
            </a:extLst>
          </p:cNvPr>
          <p:cNvSpPr>
            <a:spLocks noEditPoints="1"/>
          </p:cNvSpPr>
          <p:nvPr/>
        </p:nvSpPr>
        <p:spPr bwMode="auto">
          <a:xfrm>
            <a:off x="2333625" y="2719388"/>
            <a:ext cx="447675" cy="80963"/>
          </a:xfrm>
          <a:custGeom>
            <a:avLst/>
            <a:gdLst>
              <a:gd name="T0" fmla="*/ 282 w 282"/>
              <a:gd name="T1" fmla="*/ 21 h 51"/>
              <a:gd name="T2" fmla="*/ 282 w 282"/>
              <a:gd name="T3" fmla="*/ 14 h 51"/>
              <a:gd name="T4" fmla="*/ 280 w 282"/>
              <a:gd name="T5" fmla="*/ 8 h 51"/>
              <a:gd name="T6" fmla="*/ 280 w 282"/>
              <a:gd name="T7" fmla="*/ 3 h 51"/>
              <a:gd name="T8" fmla="*/ 275 w 282"/>
              <a:gd name="T9" fmla="*/ 0 h 51"/>
              <a:gd name="T10" fmla="*/ 277 w 282"/>
              <a:gd name="T11" fmla="*/ 4 h 51"/>
              <a:gd name="T12" fmla="*/ 277 w 282"/>
              <a:gd name="T13" fmla="*/ 11 h 51"/>
              <a:gd name="T14" fmla="*/ 279 w 282"/>
              <a:gd name="T15" fmla="*/ 18 h 51"/>
              <a:gd name="T16" fmla="*/ 279 w 282"/>
              <a:gd name="T17" fmla="*/ 24 h 51"/>
              <a:gd name="T18" fmla="*/ 279 w 282"/>
              <a:gd name="T19" fmla="*/ 31 h 51"/>
              <a:gd name="T20" fmla="*/ 277 w 282"/>
              <a:gd name="T21" fmla="*/ 38 h 51"/>
              <a:gd name="T22" fmla="*/ 277 w 282"/>
              <a:gd name="T23" fmla="*/ 44 h 51"/>
              <a:gd name="T24" fmla="*/ 275 w 282"/>
              <a:gd name="T25" fmla="*/ 51 h 51"/>
              <a:gd name="T26" fmla="*/ 280 w 282"/>
              <a:gd name="T27" fmla="*/ 48 h 51"/>
              <a:gd name="T28" fmla="*/ 280 w 282"/>
              <a:gd name="T29" fmla="*/ 41 h 51"/>
              <a:gd name="T30" fmla="*/ 282 w 282"/>
              <a:gd name="T31" fmla="*/ 34 h 51"/>
              <a:gd name="T32" fmla="*/ 282 w 282"/>
              <a:gd name="T33" fmla="*/ 28 h 51"/>
              <a:gd name="T34" fmla="*/ 4 w 282"/>
              <a:gd name="T35" fmla="*/ 0 h 51"/>
              <a:gd name="T36" fmla="*/ 2 w 282"/>
              <a:gd name="T37" fmla="*/ 6 h 51"/>
              <a:gd name="T38" fmla="*/ 2 w 282"/>
              <a:gd name="T39" fmla="*/ 11 h 51"/>
              <a:gd name="T40" fmla="*/ 2 w 282"/>
              <a:gd name="T41" fmla="*/ 18 h 51"/>
              <a:gd name="T42" fmla="*/ 0 w 282"/>
              <a:gd name="T43" fmla="*/ 24 h 51"/>
              <a:gd name="T44" fmla="*/ 2 w 282"/>
              <a:gd name="T45" fmla="*/ 31 h 51"/>
              <a:gd name="T46" fmla="*/ 2 w 282"/>
              <a:gd name="T47" fmla="*/ 38 h 51"/>
              <a:gd name="T48" fmla="*/ 2 w 282"/>
              <a:gd name="T49" fmla="*/ 44 h 51"/>
              <a:gd name="T50" fmla="*/ 4 w 282"/>
              <a:gd name="T51" fmla="*/ 51 h 51"/>
              <a:gd name="T52" fmla="*/ 5 w 282"/>
              <a:gd name="T53" fmla="*/ 48 h 51"/>
              <a:gd name="T54" fmla="*/ 5 w 282"/>
              <a:gd name="T55" fmla="*/ 41 h 51"/>
              <a:gd name="T56" fmla="*/ 5 w 282"/>
              <a:gd name="T57" fmla="*/ 34 h 51"/>
              <a:gd name="T58" fmla="*/ 4 w 282"/>
              <a:gd name="T59" fmla="*/ 28 h 51"/>
              <a:gd name="T60" fmla="*/ 4 w 282"/>
              <a:gd name="T61" fmla="*/ 21 h 51"/>
              <a:gd name="T62" fmla="*/ 5 w 282"/>
              <a:gd name="T63" fmla="*/ 14 h 51"/>
              <a:gd name="T64" fmla="*/ 5 w 282"/>
              <a:gd name="T65" fmla="*/ 8 h 51"/>
              <a:gd name="T66" fmla="*/ 7 w 282"/>
              <a:gd name="T67" fmla="*/ 3 h 51"/>
              <a:gd name="T68" fmla="*/ 4 w 28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2" h="51">
                <a:moveTo>
                  <a:pt x="282" y="24"/>
                </a:moveTo>
                <a:lnTo>
                  <a:pt x="282" y="21"/>
                </a:lnTo>
                <a:lnTo>
                  <a:pt x="282" y="18"/>
                </a:lnTo>
                <a:lnTo>
                  <a:pt x="282" y="14"/>
                </a:lnTo>
                <a:lnTo>
                  <a:pt x="280" y="11"/>
                </a:lnTo>
                <a:lnTo>
                  <a:pt x="280" y="8"/>
                </a:lnTo>
                <a:lnTo>
                  <a:pt x="280" y="6"/>
                </a:lnTo>
                <a:lnTo>
                  <a:pt x="280" y="3"/>
                </a:lnTo>
                <a:lnTo>
                  <a:pt x="279" y="0"/>
                </a:lnTo>
                <a:lnTo>
                  <a:pt x="275" y="0"/>
                </a:lnTo>
                <a:lnTo>
                  <a:pt x="277" y="3"/>
                </a:lnTo>
                <a:lnTo>
                  <a:pt x="277" y="4"/>
                </a:lnTo>
                <a:lnTo>
                  <a:pt x="277" y="8"/>
                </a:lnTo>
                <a:lnTo>
                  <a:pt x="277" y="11"/>
                </a:lnTo>
                <a:lnTo>
                  <a:pt x="279" y="14"/>
                </a:lnTo>
                <a:lnTo>
                  <a:pt x="279" y="18"/>
                </a:lnTo>
                <a:lnTo>
                  <a:pt x="279" y="21"/>
                </a:lnTo>
                <a:lnTo>
                  <a:pt x="279" y="24"/>
                </a:lnTo>
                <a:lnTo>
                  <a:pt x="279" y="28"/>
                </a:lnTo>
                <a:lnTo>
                  <a:pt x="279" y="31"/>
                </a:lnTo>
                <a:lnTo>
                  <a:pt x="279" y="34"/>
                </a:lnTo>
                <a:lnTo>
                  <a:pt x="277" y="38"/>
                </a:lnTo>
                <a:lnTo>
                  <a:pt x="277" y="41"/>
                </a:lnTo>
                <a:lnTo>
                  <a:pt x="277" y="44"/>
                </a:lnTo>
                <a:lnTo>
                  <a:pt x="277" y="48"/>
                </a:lnTo>
                <a:lnTo>
                  <a:pt x="275" y="51"/>
                </a:lnTo>
                <a:lnTo>
                  <a:pt x="279" y="51"/>
                </a:lnTo>
                <a:lnTo>
                  <a:pt x="280" y="48"/>
                </a:lnTo>
                <a:lnTo>
                  <a:pt x="280" y="44"/>
                </a:lnTo>
                <a:lnTo>
                  <a:pt x="280" y="41"/>
                </a:lnTo>
                <a:lnTo>
                  <a:pt x="280" y="38"/>
                </a:lnTo>
                <a:lnTo>
                  <a:pt x="282" y="34"/>
                </a:lnTo>
                <a:lnTo>
                  <a:pt x="282" y="31"/>
                </a:lnTo>
                <a:lnTo>
                  <a:pt x="282" y="28"/>
                </a:lnTo>
                <a:lnTo>
                  <a:pt x="282" y="24"/>
                </a:lnTo>
                <a:close/>
                <a:moveTo>
                  <a:pt x="4" y="0"/>
                </a:moveTo>
                <a:lnTo>
                  <a:pt x="4"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4"/>
                </a:lnTo>
                <a:lnTo>
                  <a:pt x="7" y="3"/>
                </a:lnTo>
                <a:lnTo>
                  <a:pt x="7" y="0"/>
                </a:lnTo>
                <a:lnTo>
                  <a:pt x="4"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68" name="Freeform 1773">
            <a:extLst>
              <a:ext uri="{FF2B5EF4-FFF2-40B4-BE49-F238E27FC236}">
                <a16:creationId xmlns:a16="http://schemas.microsoft.com/office/drawing/2014/main" id="{79763771-6173-0A22-F2F5-BBB50D35DEBB}"/>
              </a:ext>
            </a:extLst>
          </p:cNvPr>
          <p:cNvSpPr>
            <a:spLocks noEditPoints="1"/>
          </p:cNvSpPr>
          <p:nvPr/>
        </p:nvSpPr>
        <p:spPr bwMode="auto">
          <a:xfrm>
            <a:off x="2336800" y="2719388"/>
            <a:ext cx="441325" cy="80963"/>
          </a:xfrm>
          <a:custGeom>
            <a:avLst/>
            <a:gdLst>
              <a:gd name="T0" fmla="*/ 278 w 278"/>
              <a:gd name="T1" fmla="*/ 21 h 51"/>
              <a:gd name="T2" fmla="*/ 278 w 278"/>
              <a:gd name="T3" fmla="*/ 14 h 51"/>
              <a:gd name="T4" fmla="*/ 277 w 278"/>
              <a:gd name="T5" fmla="*/ 8 h 51"/>
              <a:gd name="T6" fmla="*/ 277 w 278"/>
              <a:gd name="T7" fmla="*/ 3 h 51"/>
              <a:gd name="T8" fmla="*/ 272 w 278"/>
              <a:gd name="T9" fmla="*/ 0 h 51"/>
              <a:gd name="T10" fmla="*/ 273 w 278"/>
              <a:gd name="T11" fmla="*/ 4 h 51"/>
              <a:gd name="T12" fmla="*/ 273 w 278"/>
              <a:gd name="T13" fmla="*/ 11 h 51"/>
              <a:gd name="T14" fmla="*/ 275 w 278"/>
              <a:gd name="T15" fmla="*/ 18 h 51"/>
              <a:gd name="T16" fmla="*/ 275 w 278"/>
              <a:gd name="T17" fmla="*/ 24 h 51"/>
              <a:gd name="T18" fmla="*/ 275 w 278"/>
              <a:gd name="T19" fmla="*/ 31 h 51"/>
              <a:gd name="T20" fmla="*/ 273 w 278"/>
              <a:gd name="T21" fmla="*/ 38 h 51"/>
              <a:gd name="T22" fmla="*/ 273 w 278"/>
              <a:gd name="T23" fmla="*/ 44 h 51"/>
              <a:gd name="T24" fmla="*/ 272 w 278"/>
              <a:gd name="T25" fmla="*/ 51 h 51"/>
              <a:gd name="T26" fmla="*/ 277 w 278"/>
              <a:gd name="T27" fmla="*/ 48 h 51"/>
              <a:gd name="T28" fmla="*/ 277 w 278"/>
              <a:gd name="T29" fmla="*/ 41 h 51"/>
              <a:gd name="T30" fmla="*/ 278 w 278"/>
              <a:gd name="T31" fmla="*/ 34 h 51"/>
              <a:gd name="T32" fmla="*/ 278 w 278"/>
              <a:gd name="T33" fmla="*/ 28 h 51"/>
              <a:gd name="T34" fmla="*/ 3 w 278"/>
              <a:gd name="T35" fmla="*/ 0 h 51"/>
              <a:gd name="T36" fmla="*/ 2 w 278"/>
              <a:gd name="T37" fmla="*/ 4 h 51"/>
              <a:gd name="T38" fmla="*/ 2 w 278"/>
              <a:gd name="T39" fmla="*/ 11 h 51"/>
              <a:gd name="T40" fmla="*/ 2 w 278"/>
              <a:gd name="T41" fmla="*/ 18 h 51"/>
              <a:gd name="T42" fmla="*/ 0 w 278"/>
              <a:gd name="T43" fmla="*/ 24 h 51"/>
              <a:gd name="T44" fmla="*/ 2 w 278"/>
              <a:gd name="T45" fmla="*/ 31 h 51"/>
              <a:gd name="T46" fmla="*/ 2 w 278"/>
              <a:gd name="T47" fmla="*/ 38 h 51"/>
              <a:gd name="T48" fmla="*/ 2 w 278"/>
              <a:gd name="T49" fmla="*/ 44 h 51"/>
              <a:gd name="T50" fmla="*/ 3 w 278"/>
              <a:gd name="T51" fmla="*/ 51 h 51"/>
              <a:gd name="T52" fmla="*/ 7 w 278"/>
              <a:gd name="T53" fmla="*/ 48 h 51"/>
              <a:gd name="T54" fmla="*/ 5 w 278"/>
              <a:gd name="T55" fmla="*/ 41 h 51"/>
              <a:gd name="T56" fmla="*/ 5 w 278"/>
              <a:gd name="T57" fmla="*/ 34 h 51"/>
              <a:gd name="T58" fmla="*/ 3 w 278"/>
              <a:gd name="T59" fmla="*/ 28 h 51"/>
              <a:gd name="T60" fmla="*/ 3 w 278"/>
              <a:gd name="T61" fmla="*/ 21 h 51"/>
              <a:gd name="T62" fmla="*/ 5 w 278"/>
              <a:gd name="T63" fmla="*/ 14 h 51"/>
              <a:gd name="T64" fmla="*/ 5 w 278"/>
              <a:gd name="T65" fmla="*/ 8 h 51"/>
              <a:gd name="T66" fmla="*/ 7 w 278"/>
              <a:gd name="T67" fmla="*/ 3 h 51"/>
              <a:gd name="T68" fmla="*/ 3 w 27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8" h="51">
                <a:moveTo>
                  <a:pt x="278" y="24"/>
                </a:moveTo>
                <a:lnTo>
                  <a:pt x="278" y="21"/>
                </a:lnTo>
                <a:lnTo>
                  <a:pt x="278" y="18"/>
                </a:lnTo>
                <a:lnTo>
                  <a:pt x="278" y="14"/>
                </a:lnTo>
                <a:lnTo>
                  <a:pt x="277" y="11"/>
                </a:lnTo>
                <a:lnTo>
                  <a:pt x="277" y="8"/>
                </a:lnTo>
                <a:lnTo>
                  <a:pt x="277" y="4"/>
                </a:lnTo>
                <a:lnTo>
                  <a:pt x="277" y="3"/>
                </a:lnTo>
                <a:lnTo>
                  <a:pt x="275" y="0"/>
                </a:lnTo>
                <a:lnTo>
                  <a:pt x="272" y="0"/>
                </a:lnTo>
                <a:lnTo>
                  <a:pt x="273" y="3"/>
                </a:lnTo>
                <a:lnTo>
                  <a:pt x="273" y="4"/>
                </a:lnTo>
                <a:lnTo>
                  <a:pt x="273" y="8"/>
                </a:lnTo>
                <a:lnTo>
                  <a:pt x="273" y="11"/>
                </a:lnTo>
                <a:lnTo>
                  <a:pt x="275" y="14"/>
                </a:lnTo>
                <a:lnTo>
                  <a:pt x="275" y="18"/>
                </a:lnTo>
                <a:lnTo>
                  <a:pt x="275" y="21"/>
                </a:lnTo>
                <a:lnTo>
                  <a:pt x="275" y="24"/>
                </a:lnTo>
                <a:lnTo>
                  <a:pt x="275" y="28"/>
                </a:lnTo>
                <a:lnTo>
                  <a:pt x="275" y="31"/>
                </a:lnTo>
                <a:lnTo>
                  <a:pt x="275" y="34"/>
                </a:lnTo>
                <a:lnTo>
                  <a:pt x="273" y="38"/>
                </a:lnTo>
                <a:lnTo>
                  <a:pt x="273" y="41"/>
                </a:lnTo>
                <a:lnTo>
                  <a:pt x="273" y="44"/>
                </a:lnTo>
                <a:lnTo>
                  <a:pt x="273" y="48"/>
                </a:lnTo>
                <a:lnTo>
                  <a:pt x="272" y="51"/>
                </a:lnTo>
                <a:lnTo>
                  <a:pt x="275" y="51"/>
                </a:lnTo>
                <a:lnTo>
                  <a:pt x="277" y="48"/>
                </a:lnTo>
                <a:lnTo>
                  <a:pt x="277" y="44"/>
                </a:lnTo>
                <a:lnTo>
                  <a:pt x="277" y="41"/>
                </a:lnTo>
                <a:lnTo>
                  <a:pt x="277" y="38"/>
                </a:lnTo>
                <a:lnTo>
                  <a:pt x="278" y="34"/>
                </a:lnTo>
                <a:lnTo>
                  <a:pt x="278" y="31"/>
                </a:lnTo>
                <a:lnTo>
                  <a:pt x="278" y="28"/>
                </a:lnTo>
                <a:lnTo>
                  <a:pt x="278" y="24"/>
                </a:lnTo>
                <a:close/>
                <a:moveTo>
                  <a:pt x="3" y="0"/>
                </a:moveTo>
                <a:lnTo>
                  <a:pt x="3" y="3"/>
                </a:lnTo>
                <a:lnTo>
                  <a:pt x="2" y="4"/>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7" y="51"/>
                </a:lnTo>
                <a:lnTo>
                  <a:pt x="7"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4"/>
                </a:lnTo>
                <a:lnTo>
                  <a:pt x="7" y="3"/>
                </a:lnTo>
                <a:lnTo>
                  <a:pt x="7" y="0"/>
                </a:lnTo>
                <a:lnTo>
                  <a:pt x="3"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69" name="Freeform 1774">
            <a:extLst>
              <a:ext uri="{FF2B5EF4-FFF2-40B4-BE49-F238E27FC236}">
                <a16:creationId xmlns:a16="http://schemas.microsoft.com/office/drawing/2014/main" id="{11B2FE71-A9C0-6FC1-88DA-58421EA4F367}"/>
              </a:ext>
            </a:extLst>
          </p:cNvPr>
          <p:cNvSpPr>
            <a:spLocks noEditPoints="1"/>
          </p:cNvSpPr>
          <p:nvPr/>
        </p:nvSpPr>
        <p:spPr bwMode="auto">
          <a:xfrm>
            <a:off x="2339975" y="2719388"/>
            <a:ext cx="436563" cy="80963"/>
          </a:xfrm>
          <a:custGeom>
            <a:avLst/>
            <a:gdLst>
              <a:gd name="T0" fmla="*/ 275 w 275"/>
              <a:gd name="T1" fmla="*/ 21 h 51"/>
              <a:gd name="T2" fmla="*/ 275 w 275"/>
              <a:gd name="T3" fmla="*/ 14 h 51"/>
              <a:gd name="T4" fmla="*/ 273 w 275"/>
              <a:gd name="T5" fmla="*/ 8 h 51"/>
              <a:gd name="T6" fmla="*/ 273 w 275"/>
              <a:gd name="T7" fmla="*/ 3 h 51"/>
              <a:gd name="T8" fmla="*/ 268 w 275"/>
              <a:gd name="T9" fmla="*/ 0 h 51"/>
              <a:gd name="T10" fmla="*/ 270 w 275"/>
              <a:gd name="T11" fmla="*/ 4 h 51"/>
              <a:gd name="T12" fmla="*/ 270 w 275"/>
              <a:gd name="T13" fmla="*/ 11 h 51"/>
              <a:gd name="T14" fmla="*/ 271 w 275"/>
              <a:gd name="T15" fmla="*/ 18 h 51"/>
              <a:gd name="T16" fmla="*/ 271 w 275"/>
              <a:gd name="T17" fmla="*/ 24 h 51"/>
              <a:gd name="T18" fmla="*/ 271 w 275"/>
              <a:gd name="T19" fmla="*/ 31 h 51"/>
              <a:gd name="T20" fmla="*/ 270 w 275"/>
              <a:gd name="T21" fmla="*/ 38 h 51"/>
              <a:gd name="T22" fmla="*/ 270 w 275"/>
              <a:gd name="T23" fmla="*/ 44 h 51"/>
              <a:gd name="T24" fmla="*/ 268 w 275"/>
              <a:gd name="T25" fmla="*/ 51 h 51"/>
              <a:gd name="T26" fmla="*/ 273 w 275"/>
              <a:gd name="T27" fmla="*/ 48 h 51"/>
              <a:gd name="T28" fmla="*/ 273 w 275"/>
              <a:gd name="T29" fmla="*/ 41 h 51"/>
              <a:gd name="T30" fmla="*/ 275 w 275"/>
              <a:gd name="T31" fmla="*/ 34 h 51"/>
              <a:gd name="T32" fmla="*/ 275 w 275"/>
              <a:gd name="T33" fmla="*/ 28 h 51"/>
              <a:gd name="T34" fmla="*/ 3 w 275"/>
              <a:gd name="T35" fmla="*/ 0 h 51"/>
              <a:gd name="T36" fmla="*/ 1 w 275"/>
              <a:gd name="T37" fmla="*/ 4 h 51"/>
              <a:gd name="T38" fmla="*/ 1 w 275"/>
              <a:gd name="T39" fmla="*/ 11 h 51"/>
              <a:gd name="T40" fmla="*/ 1 w 275"/>
              <a:gd name="T41" fmla="*/ 18 h 51"/>
              <a:gd name="T42" fmla="*/ 0 w 275"/>
              <a:gd name="T43" fmla="*/ 24 h 51"/>
              <a:gd name="T44" fmla="*/ 1 w 275"/>
              <a:gd name="T45" fmla="*/ 31 h 51"/>
              <a:gd name="T46" fmla="*/ 1 w 275"/>
              <a:gd name="T47" fmla="*/ 38 h 51"/>
              <a:gd name="T48" fmla="*/ 1 w 275"/>
              <a:gd name="T49" fmla="*/ 44 h 51"/>
              <a:gd name="T50" fmla="*/ 3 w 275"/>
              <a:gd name="T51" fmla="*/ 51 h 51"/>
              <a:gd name="T52" fmla="*/ 6 w 275"/>
              <a:gd name="T53" fmla="*/ 48 h 51"/>
              <a:gd name="T54" fmla="*/ 5 w 275"/>
              <a:gd name="T55" fmla="*/ 41 h 51"/>
              <a:gd name="T56" fmla="*/ 5 w 275"/>
              <a:gd name="T57" fmla="*/ 34 h 51"/>
              <a:gd name="T58" fmla="*/ 3 w 275"/>
              <a:gd name="T59" fmla="*/ 28 h 51"/>
              <a:gd name="T60" fmla="*/ 3 w 275"/>
              <a:gd name="T61" fmla="*/ 21 h 51"/>
              <a:gd name="T62" fmla="*/ 5 w 275"/>
              <a:gd name="T63" fmla="*/ 14 h 51"/>
              <a:gd name="T64" fmla="*/ 5 w 275"/>
              <a:gd name="T65" fmla="*/ 8 h 51"/>
              <a:gd name="T66" fmla="*/ 6 w 275"/>
              <a:gd name="T67" fmla="*/ 3 h 51"/>
              <a:gd name="T68" fmla="*/ 3 w 27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5" h="51">
                <a:moveTo>
                  <a:pt x="275" y="24"/>
                </a:moveTo>
                <a:lnTo>
                  <a:pt x="275" y="21"/>
                </a:lnTo>
                <a:lnTo>
                  <a:pt x="275" y="18"/>
                </a:lnTo>
                <a:lnTo>
                  <a:pt x="275" y="14"/>
                </a:lnTo>
                <a:lnTo>
                  <a:pt x="273" y="11"/>
                </a:lnTo>
                <a:lnTo>
                  <a:pt x="273" y="8"/>
                </a:lnTo>
                <a:lnTo>
                  <a:pt x="273" y="4"/>
                </a:lnTo>
                <a:lnTo>
                  <a:pt x="273" y="3"/>
                </a:lnTo>
                <a:lnTo>
                  <a:pt x="271" y="0"/>
                </a:lnTo>
                <a:lnTo>
                  <a:pt x="268" y="0"/>
                </a:lnTo>
                <a:lnTo>
                  <a:pt x="270" y="3"/>
                </a:lnTo>
                <a:lnTo>
                  <a:pt x="270" y="4"/>
                </a:lnTo>
                <a:lnTo>
                  <a:pt x="270" y="8"/>
                </a:lnTo>
                <a:lnTo>
                  <a:pt x="270" y="11"/>
                </a:lnTo>
                <a:lnTo>
                  <a:pt x="271" y="14"/>
                </a:lnTo>
                <a:lnTo>
                  <a:pt x="271" y="18"/>
                </a:lnTo>
                <a:lnTo>
                  <a:pt x="271" y="21"/>
                </a:lnTo>
                <a:lnTo>
                  <a:pt x="271" y="24"/>
                </a:lnTo>
                <a:lnTo>
                  <a:pt x="271" y="28"/>
                </a:lnTo>
                <a:lnTo>
                  <a:pt x="271" y="31"/>
                </a:lnTo>
                <a:lnTo>
                  <a:pt x="271" y="34"/>
                </a:lnTo>
                <a:lnTo>
                  <a:pt x="270" y="38"/>
                </a:lnTo>
                <a:lnTo>
                  <a:pt x="270" y="41"/>
                </a:lnTo>
                <a:lnTo>
                  <a:pt x="270" y="44"/>
                </a:lnTo>
                <a:lnTo>
                  <a:pt x="270" y="48"/>
                </a:lnTo>
                <a:lnTo>
                  <a:pt x="268" y="51"/>
                </a:lnTo>
                <a:lnTo>
                  <a:pt x="271" y="51"/>
                </a:lnTo>
                <a:lnTo>
                  <a:pt x="273" y="48"/>
                </a:lnTo>
                <a:lnTo>
                  <a:pt x="273" y="44"/>
                </a:lnTo>
                <a:lnTo>
                  <a:pt x="273" y="41"/>
                </a:lnTo>
                <a:lnTo>
                  <a:pt x="273" y="38"/>
                </a:lnTo>
                <a:lnTo>
                  <a:pt x="275" y="34"/>
                </a:lnTo>
                <a:lnTo>
                  <a:pt x="275" y="31"/>
                </a:lnTo>
                <a:lnTo>
                  <a:pt x="275" y="28"/>
                </a:lnTo>
                <a:lnTo>
                  <a:pt x="275" y="24"/>
                </a:lnTo>
                <a:close/>
                <a:moveTo>
                  <a:pt x="3" y="0"/>
                </a:moveTo>
                <a:lnTo>
                  <a:pt x="3" y="3"/>
                </a:lnTo>
                <a:lnTo>
                  <a:pt x="1" y="4"/>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6"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4"/>
                </a:lnTo>
                <a:lnTo>
                  <a:pt x="6" y="3"/>
                </a:lnTo>
                <a:lnTo>
                  <a:pt x="6" y="0"/>
                </a:lnTo>
                <a:lnTo>
                  <a:pt x="3"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70" name="Freeform 1775">
            <a:extLst>
              <a:ext uri="{FF2B5EF4-FFF2-40B4-BE49-F238E27FC236}">
                <a16:creationId xmlns:a16="http://schemas.microsoft.com/office/drawing/2014/main" id="{99BC9C0A-B781-359A-5909-DC2A1CA1D1B4}"/>
              </a:ext>
            </a:extLst>
          </p:cNvPr>
          <p:cNvSpPr>
            <a:spLocks noEditPoints="1"/>
          </p:cNvSpPr>
          <p:nvPr/>
        </p:nvSpPr>
        <p:spPr bwMode="auto">
          <a:xfrm>
            <a:off x="2341563" y="2719388"/>
            <a:ext cx="431800" cy="80963"/>
          </a:xfrm>
          <a:custGeom>
            <a:avLst/>
            <a:gdLst>
              <a:gd name="T0" fmla="*/ 272 w 272"/>
              <a:gd name="T1" fmla="*/ 21 h 51"/>
              <a:gd name="T2" fmla="*/ 272 w 272"/>
              <a:gd name="T3" fmla="*/ 14 h 51"/>
              <a:gd name="T4" fmla="*/ 270 w 272"/>
              <a:gd name="T5" fmla="*/ 8 h 51"/>
              <a:gd name="T6" fmla="*/ 270 w 272"/>
              <a:gd name="T7" fmla="*/ 3 h 51"/>
              <a:gd name="T8" fmla="*/ 265 w 272"/>
              <a:gd name="T9" fmla="*/ 0 h 51"/>
              <a:gd name="T10" fmla="*/ 267 w 272"/>
              <a:gd name="T11" fmla="*/ 4 h 51"/>
              <a:gd name="T12" fmla="*/ 267 w 272"/>
              <a:gd name="T13" fmla="*/ 11 h 51"/>
              <a:gd name="T14" fmla="*/ 269 w 272"/>
              <a:gd name="T15" fmla="*/ 18 h 51"/>
              <a:gd name="T16" fmla="*/ 269 w 272"/>
              <a:gd name="T17" fmla="*/ 24 h 51"/>
              <a:gd name="T18" fmla="*/ 269 w 272"/>
              <a:gd name="T19" fmla="*/ 31 h 51"/>
              <a:gd name="T20" fmla="*/ 267 w 272"/>
              <a:gd name="T21" fmla="*/ 38 h 51"/>
              <a:gd name="T22" fmla="*/ 267 w 272"/>
              <a:gd name="T23" fmla="*/ 44 h 51"/>
              <a:gd name="T24" fmla="*/ 265 w 272"/>
              <a:gd name="T25" fmla="*/ 51 h 51"/>
              <a:gd name="T26" fmla="*/ 270 w 272"/>
              <a:gd name="T27" fmla="*/ 48 h 51"/>
              <a:gd name="T28" fmla="*/ 270 w 272"/>
              <a:gd name="T29" fmla="*/ 41 h 51"/>
              <a:gd name="T30" fmla="*/ 272 w 272"/>
              <a:gd name="T31" fmla="*/ 34 h 51"/>
              <a:gd name="T32" fmla="*/ 272 w 272"/>
              <a:gd name="T33" fmla="*/ 28 h 51"/>
              <a:gd name="T34" fmla="*/ 4 w 272"/>
              <a:gd name="T35" fmla="*/ 0 h 51"/>
              <a:gd name="T36" fmla="*/ 2 w 272"/>
              <a:gd name="T37" fmla="*/ 4 h 51"/>
              <a:gd name="T38" fmla="*/ 2 w 272"/>
              <a:gd name="T39" fmla="*/ 11 h 51"/>
              <a:gd name="T40" fmla="*/ 2 w 272"/>
              <a:gd name="T41" fmla="*/ 18 h 51"/>
              <a:gd name="T42" fmla="*/ 0 w 272"/>
              <a:gd name="T43" fmla="*/ 24 h 51"/>
              <a:gd name="T44" fmla="*/ 2 w 272"/>
              <a:gd name="T45" fmla="*/ 31 h 51"/>
              <a:gd name="T46" fmla="*/ 2 w 272"/>
              <a:gd name="T47" fmla="*/ 38 h 51"/>
              <a:gd name="T48" fmla="*/ 2 w 272"/>
              <a:gd name="T49" fmla="*/ 44 h 51"/>
              <a:gd name="T50" fmla="*/ 4 w 272"/>
              <a:gd name="T51" fmla="*/ 51 h 51"/>
              <a:gd name="T52" fmla="*/ 7 w 272"/>
              <a:gd name="T53" fmla="*/ 48 h 51"/>
              <a:gd name="T54" fmla="*/ 5 w 272"/>
              <a:gd name="T55" fmla="*/ 41 h 51"/>
              <a:gd name="T56" fmla="*/ 5 w 272"/>
              <a:gd name="T57" fmla="*/ 34 h 51"/>
              <a:gd name="T58" fmla="*/ 4 w 272"/>
              <a:gd name="T59" fmla="*/ 28 h 51"/>
              <a:gd name="T60" fmla="*/ 4 w 272"/>
              <a:gd name="T61" fmla="*/ 21 h 51"/>
              <a:gd name="T62" fmla="*/ 5 w 272"/>
              <a:gd name="T63" fmla="*/ 14 h 51"/>
              <a:gd name="T64" fmla="*/ 5 w 272"/>
              <a:gd name="T65" fmla="*/ 8 h 51"/>
              <a:gd name="T66" fmla="*/ 7 w 272"/>
              <a:gd name="T67" fmla="*/ 3 h 51"/>
              <a:gd name="T68" fmla="*/ 4 w 2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2" h="51">
                <a:moveTo>
                  <a:pt x="272" y="24"/>
                </a:moveTo>
                <a:lnTo>
                  <a:pt x="272" y="21"/>
                </a:lnTo>
                <a:lnTo>
                  <a:pt x="272" y="18"/>
                </a:lnTo>
                <a:lnTo>
                  <a:pt x="272" y="14"/>
                </a:lnTo>
                <a:lnTo>
                  <a:pt x="270" y="11"/>
                </a:lnTo>
                <a:lnTo>
                  <a:pt x="270" y="8"/>
                </a:lnTo>
                <a:lnTo>
                  <a:pt x="270" y="4"/>
                </a:lnTo>
                <a:lnTo>
                  <a:pt x="270" y="3"/>
                </a:lnTo>
                <a:lnTo>
                  <a:pt x="269" y="0"/>
                </a:lnTo>
                <a:lnTo>
                  <a:pt x="265" y="0"/>
                </a:lnTo>
                <a:lnTo>
                  <a:pt x="267" y="3"/>
                </a:lnTo>
                <a:lnTo>
                  <a:pt x="267" y="4"/>
                </a:lnTo>
                <a:lnTo>
                  <a:pt x="267" y="8"/>
                </a:lnTo>
                <a:lnTo>
                  <a:pt x="267" y="11"/>
                </a:lnTo>
                <a:lnTo>
                  <a:pt x="269" y="14"/>
                </a:lnTo>
                <a:lnTo>
                  <a:pt x="269" y="18"/>
                </a:lnTo>
                <a:lnTo>
                  <a:pt x="269" y="21"/>
                </a:lnTo>
                <a:lnTo>
                  <a:pt x="269" y="24"/>
                </a:lnTo>
                <a:lnTo>
                  <a:pt x="269" y="28"/>
                </a:lnTo>
                <a:lnTo>
                  <a:pt x="269" y="31"/>
                </a:lnTo>
                <a:lnTo>
                  <a:pt x="269" y="34"/>
                </a:lnTo>
                <a:lnTo>
                  <a:pt x="267" y="38"/>
                </a:lnTo>
                <a:lnTo>
                  <a:pt x="267" y="41"/>
                </a:lnTo>
                <a:lnTo>
                  <a:pt x="267" y="44"/>
                </a:lnTo>
                <a:lnTo>
                  <a:pt x="267" y="48"/>
                </a:lnTo>
                <a:lnTo>
                  <a:pt x="265" y="51"/>
                </a:lnTo>
                <a:lnTo>
                  <a:pt x="269" y="51"/>
                </a:lnTo>
                <a:lnTo>
                  <a:pt x="270" y="48"/>
                </a:lnTo>
                <a:lnTo>
                  <a:pt x="270" y="44"/>
                </a:lnTo>
                <a:lnTo>
                  <a:pt x="270" y="41"/>
                </a:lnTo>
                <a:lnTo>
                  <a:pt x="270" y="38"/>
                </a:lnTo>
                <a:lnTo>
                  <a:pt x="272" y="34"/>
                </a:lnTo>
                <a:lnTo>
                  <a:pt x="272" y="31"/>
                </a:lnTo>
                <a:lnTo>
                  <a:pt x="272" y="28"/>
                </a:lnTo>
                <a:lnTo>
                  <a:pt x="272" y="24"/>
                </a:lnTo>
                <a:close/>
                <a:moveTo>
                  <a:pt x="4" y="0"/>
                </a:moveTo>
                <a:lnTo>
                  <a:pt x="4" y="3"/>
                </a:lnTo>
                <a:lnTo>
                  <a:pt x="2" y="4"/>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4"/>
                </a:lnTo>
                <a:lnTo>
                  <a:pt x="7" y="3"/>
                </a:lnTo>
                <a:lnTo>
                  <a:pt x="7" y="0"/>
                </a:lnTo>
                <a:lnTo>
                  <a:pt x="4"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71" name="Freeform 1776">
            <a:extLst>
              <a:ext uri="{FF2B5EF4-FFF2-40B4-BE49-F238E27FC236}">
                <a16:creationId xmlns:a16="http://schemas.microsoft.com/office/drawing/2014/main" id="{5B7BA67D-AC82-C659-BF55-C62A525A3847}"/>
              </a:ext>
            </a:extLst>
          </p:cNvPr>
          <p:cNvSpPr>
            <a:spLocks noEditPoints="1"/>
          </p:cNvSpPr>
          <p:nvPr/>
        </p:nvSpPr>
        <p:spPr bwMode="auto">
          <a:xfrm>
            <a:off x="2344738" y="2719388"/>
            <a:ext cx="425450" cy="80963"/>
          </a:xfrm>
          <a:custGeom>
            <a:avLst/>
            <a:gdLst>
              <a:gd name="T0" fmla="*/ 268 w 268"/>
              <a:gd name="T1" fmla="*/ 21 h 51"/>
              <a:gd name="T2" fmla="*/ 268 w 268"/>
              <a:gd name="T3" fmla="*/ 14 h 51"/>
              <a:gd name="T4" fmla="*/ 267 w 268"/>
              <a:gd name="T5" fmla="*/ 8 h 51"/>
              <a:gd name="T6" fmla="*/ 267 w 268"/>
              <a:gd name="T7" fmla="*/ 3 h 51"/>
              <a:gd name="T8" fmla="*/ 262 w 268"/>
              <a:gd name="T9" fmla="*/ 0 h 51"/>
              <a:gd name="T10" fmla="*/ 263 w 268"/>
              <a:gd name="T11" fmla="*/ 4 h 51"/>
              <a:gd name="T12" fmla="*/ 263 w 268"/>
              <a:gd name="T13" fmla="*/ 11 h 51"/>
              <a:gd name="T14" fmla="*/ 265 w 268"/>
              <a:gd name="T15" fmla="*/ 18 h 51"/>
              <a:gd name="T16" fmla="*/ 265 w 268"/>
              <a:gd name="T17" fmla="*/ 24 h 51"/>
              <a:gd name="T18" fmla="*/ 265 w 268"/>
              <a:gd name="T19" fmla="*/ 31 h 51"/>
              <a:gd name="T20" fmla="*/ 263 w 268"/>
              <a:gd name="T21" fmla="*/ 38 h 51"/>
              <a:gd name="T22" fmla="*/ 263 w 268"/>
              <a:gd name="T23" fmla="*/ 44 h 51"/>
              <a:gd name="T24" fmla="*/ 262 w 268"/>
              <a:gd name="T25" fmla="*/ 51 h 51"/>
              <a:gd name="T26" fmla="*/ 267 w 268"/>
              <a:gd name="T27" fmla="*/ 48 h 51"/>
              <a:gd name="T28" fmla="*/ 267 w 268"/>
              <a:gd name="T29" fmla="*/ 41 h 51"/>
              <a:gd name="T30" fmla="*/ 268 w 268"/>
              <a:gd name="T31" fmla="*/ 34 h 51"/>
              <a:gd name="T32" fmla="*/ 268 w 268"/>
              <a:gd name="T33" fmla="*/ 28 h 51"/>
              <a:gd name="T34" fmla="*/ 3 w 268"/>
              <a:gd name="T35" fmla="*/ 0 h 51"/>
              <a:gd name="T36" fmla="*/ 2 w 268"/>
              <a:gd name="T37" fmla="*/ 4 h 51"/>
              <a:gd name="T38" fmla="*/ 2 w 268"/>
              <a:gd name="T39" fmla="*/ 11 h 51"/>
              <a:gd name="T40" fmla="*/ 2 w 268"/>
              <a:gd name="T41" fmla="*/ 18 h 51"/>
              <a:gd name="T42" fmla="*/ 0 w 268"/>
              <a:gd name="T43" fmla="*/ 24 h 51"/>
              <a:gd name="T44" fmla="*/ 2 w 268"/>
              <a:gd name="T45" fmla="*/ 31 h 51"/>
              <a:gd name="T46" fmla="*/ 2 w 268"/>
              <a:gd name="T47" fmla="*/ 38 h 51"/>
              <a:gd name="T48" fmla="*/ 2 w 268"/>
              <a:gd name="T49" fmla="*/ 44 h 51"/>
              <a:gd name="T50" fmla="*/ 3 w 268"/>
              <a:gd name="T51" fmla="*/ 51 h 51"/>
              <a:gd name="T52" fmla="*/ 7 w 268"/>
              <a:gd name="T53" fmla="*/ 48 h 51"/>
              <a:gd name="T54" fmla="*/ 5 w 268"/>
              <a:gd name="T55" fmla="*/ 41 h 51"/>
              <a:gd name="T56" fmla="*/ 5 w 268"/>
              <a:gd name="T57" fmla="*/ 34 h 51"/>
              <a:gd name="T58" fmla="*/ 3 w 268"/>
              <a:gd name="T59" fmla="*/ 28 h 51"/>
              <a:gd name="T60" fmla="*/ 3 w 268"/>
              <a:gd name="T61" fmla="*/ 21 h 51"/>
              <a:gd name="T62" fmla="*/ 5 w 268"/>
              <a:gd name="T63" fmla="*/ 14 h 51"/>
              <a:gd name="T64" fmla="*/ 5 w 268"/>
              <a:gd name="T65" fmla="*/ 8 h 51"/>
              <a:gd name="T66" fmla="*/ 7 w 268"/>
              <a:gd name="T67" fmla="*/ 3 h 51"/>
              <a:gd name="T68" fmla="*/ 3 w 26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8" h="51">
                <a:moveTo>
                  <a:pt x="268" y="24"/>
                </a:moveTo>
                <a:lnTo>
                  <a:pt x="268" y="21"/>
                </a:lnTo>
                <a:lnTo>
                  <a:pt x="268" y="18"/>
                </a:lnTo>
                <a:lnTo>
                  <a:pt x="268" y="14"/>
                </a:lnTo>
                <a:lnTo>
                  <a:pt x="267" y="11"/>
                </a:lnTo>
                <a:lnTo>
                  <a:pt x="267" y="8"/>
                </a:lnTo>
                <a:lnTo>
                  <a:pt x="267" y="4"/>
                </a:lnTo>
                <a:lnTo>
                  <a:pt x="267" y="3"/>
                </a:lnTo>
                <a:lnTo>
                  <a:pt x="265" y="0"/>
                </a:lnTo>
                <a:lnTo>
                  <a:pt x="262" y="0"/>
                </a:lnTo>
                <a:lnTo>
                  <a:pt x="263" y="3"/>
                </a:lnTo>
                <a:lnTo>
                  <a:pt x="263" y="4"/>
                </a:lnTo>
                <a:lnTo>
                  <a:pt x="263" y="8"/>
                </a:lnTo>
                <a:lnTo>
                  <a:pt x="263" y="11"/>
                </a:lnTo>
                <a:lnTo>
                  <a:pt x="265" y="14"/>
                </a:lnTo>
                <a:lnTo>
                  <a:pt x="265" y="18"/>
                </a:lnTo>
                <a:lnTo>
                  <a:pt x="265" y="21"/>
                </a:lnTo>
                <a:lnTo>
                  <a:pt x="265" y="24"/>
                </a:lnTo>
                <a:lnTo>
                  <a:pt x="265" y="28"/>
                </a:lnTo>
                <a:lnTo>
                  <a:pt x="265" y="31"/>
                </a:lnTo>
                <a:lnTo>
                  <a:pt x="265" y="34"/>
                </a:lnTo>
                <a:lnTo>
                  <a:pt x="263" y="38"/>
                </a:lnTo>
                <a:lnTo>
                  <a:pt x="263" y="41"/>
                </a:lnTo>
                <a:lnTo>
                  <a:pt x="263" y="44"/>
                </a:lnTo>
                <a:lnTo>
                  <a:pt x="263" y="48"/>
                </a:lnTo>
                <a:lnTo>
                  <a:pt x="262" y="51"/>
                </a:lnTo>
                <a:lnTo>
                  <a:pt x="265" y="51"/>
                </a:lnTo>
                <a:lnTo>
                  <a:pt x="267" y="48"/>
                </a:lnTo>
                <a:lnTo>
                  <a:pt x="267" y="44"/>
                </a:lnTo>
                <a:lnTo>
                  <a:pt x="267" y="41"/>
                </a:lnTo>
                <a:lnTo>
                  <a:pt x="267" y="38"/>
                </a:lnTo>
                <a:lnTo>
                  <a:pt x="268" y="34"/>
                </a:lnTo>
                <a:lnTo>
                  <a:pt x="268" y="31"/>
                </a:lnTo>
                <a:lnTo>
                  <a:pt x="268" y="28"/>
                </a:lnTo>
                <a:lnTo>
                  <a:pt x="268" y="24"/>
                </a:lnTo>
                <a:close/>
                <a:moveTo>
                  <a:pt x="3" y="0"/>
                </a:moveTo>
                <a:lnTo>
                  <a:pt x="3" y="3"/>
                </a:lnTo>
                <a:lnTo>
                  <a:pt x="2" y="4"/>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4"/>
                </a:lnTo>
                <a:lnTo>
                  <a:pt x="7" y="3"/>
                </a:lnTo>
                <a:lnTo>
                  <a:pt x="7" y="0"/>
                </a:lnTo>
                <a:lnTo>
                  <a:pt x="3"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72" name="Freeform 1777">
            <a:extLst>
              <a:ext uri="{FF2B5EF4-FFF2-40B4-BE49-F238E27FC236}">
                <a16:creationId xmlns:a16="http://schemas.microsoft.com/office/drawing/2014/main" id="{39EFFD7A-146E-AD93-184A-2FAA4C4D0A2A}"/>
              </a:ext>
            </a:extLst>
          </p:cNvPr>
          <p:cNvSpPr>
            <a:spLocks noEditPoints="1"/>
          </p:cNvSpPr>
          <p:nvPr/>
        </p:nvSpPr>
        <p:spPr bwMode="auto">
          <a:xfrm>
            <a:off x="2347913" y="2719388"/>
            <a:ext cx="420688" cy="80963"/>
          </a:xfrm>
          <a:custGeom>
            <a:avLst/>
            <a:gdLst>
              <a:gd name="T0" fmla="*/ 265 w 265"/>
              <a:gd name="T1" fmla="*/ 21 h 51"/>
              <a:gd name="T2" fmla="*/ 265 w 265"/>
              <a:gd name="T3" fmla="*/ 14 h 51"/>
              <a:gd name="T4" fmla="*/ 263 w 265"/>
              <a:gd name="T5" fmla="*/ 8 h 51"/>
              <a:gd name="T6" fmla="*/ 263 w 265"/>
              <a:gd name="T7" fmla="*/ 3 h 51"/>
              <a:gd name="T8" fmla="*/ 258 w 265"/>
              <a:gd name="T9" fmla="*/ 0 h 51"/>
              <a:gd name="T10" fmla="*/ 260 w 265"/>
              <a:gd name="T11" fmla="*/ 4 h 51"/>
              <a:gd name="T12" fmla="*/ 260 w 265"/>
              <a:gd name="T13" fmla="*/ 11 h 51"/>
              <a:gd name="T14" fmla="*/ 261 w 265"/>
              <a:gd name="T15" fmla="*/ 18 h 51"/>
              <a:gd name="T16" fmla="*/ 261 w 265"/>
              <a:gd name="T17" fmla="*/ 24 h 51"/>
              <a:gd name="T18" fmla="*/ 261 w 265"/>
              <a:gd name="T19" fmla="*/ 31 h 51"/>
              <a:gd name="T20" fmla="*/ 260 w 265"/>
              <a:gd name="T21" fmla="*/ 38 h 51"/>
              <a:gd name="T22" fmla="*/ 260 w 265"/>
              <a:gd name="T23" fmla="*/ 44 h 51"/>
              <a:gd name="T24" fmla="*/ 258 w 265"/>
              <a:gd name="T25" fmla="*/ 51 h 51"/>
              <a:gd name="T26" fmla="*/ 263 w 265"/>
              <a:gd name="T27" fmla="*/ 48 h 51"/>
              <a:gd name="T28" fmla="*/ 263 w 265"/>
              <a:gd name="T29" fmla="*/ 41 h 51"/>
              <a:gd name="T30" fmla="*/ 265 w 265"/>
              <a:gd name="T31" fmla="*/ 34 h 51"/>
              <a:gd name="T32" fmla="*/ 265 w 265"/>
              <a:gd name="T33" fmla="*/ 28 h 51"/>
              <a:gd name="T34" fmla="*/ 3 w 265"/>
              <a:gd name="T35" fmla="*/ 0 h 51"/>
              <a:gd name="T36" fmla="*/ 1 w 265"/>
              <a:gd name="T37" fmla="*/ 4 h 51"/>
              <a:gd name="T38" fmla="*/ 1 w 265"/>
              <a:gd name="T39" fmla="*/ 11 h 51"/>
              <a:gd name="T40" fmla="*/ 1 w 265"/>
              <a:gd name="T41" fmla="*/ 18 h 51"/>
              <a:gd name="T42" fmla="*/ 0 w 265"/>
              <a:gd name="T43" fmla="*/ 24 h 51"/>
              <a:gd name="T44" fmla="*/ 1 w 265"/>
              <a:gd name="T45" fmla="*/ 31 h 51"/>
              <a:gd name="T46" fmla="*/ 1 w 265"/>
              <a:gd name="T47" fmla="*/ 38 h 51"/>
              <a:gd name="T48" fmla="*/ 1 w 265"/>
              <a:gd name="T49" fmla="*/ 44 h 51"/>
              <a:gd name="T50" fmla="*/ 3 w 265"/>
              <a:gd name="T51" fmla="*/ 51 h 51"/>
              <a:gd name="T52" fmla="*/ 6 w 265"/>
              <a:gd name="T53" fmla="*/ 48 h 51"/>
              <a:gd name="T54" fmla="*/ 5 w 265"/>
              <a:gd name="T55" fmla="*/ 41 h 51"/>
              <a:gd name="T56" fmla="*/ 5 w 265"/>
              <a:gd name="T57" fmla="*/ 34 h 51"/>
              <a:gd name="T58" fmla="*/ 3 w 265"/>
              <a:gd name="T59" fmla="*/ 28 h 51"/>
              <a:gd name="T60" fmla="*/ 3 w 265"/>
              <a:gd name="T61" fmla="*/ 21 h 51"/>
              <a:gd name="T62" fmla="*/ 5 w 265"/>
              <a:gd name="T63" fmla="*/ 14 h 51"/>
              <a:gd name="T64" fmla="*/ 5 w 265"/>
              <a:gd name="T65" fmla="*/ 8 h 51"/>
              <a:gd name="T66" fmla="*/ 6 w 265"/>
              <a:gd name="T67" fmla="*/ 3 h 51"/>
              <a:gd name="T68" fmla="*/ 3 w 26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5" h="51">
                <a:moveTo>
                  <a:pt x="265" y="24"/>
                </a:moveTo>
                <a:lnTo>
                  <a:pt x="265" y="21"/>
                </a:lnTo>
                <a:lnTo>
                  <a:pt x="265" y="18"/>
                </a:lnTo>
                <a:lnTo>
                  <a:pt x="265" y="14"/>
                </a:lnTo>
                <a:lnTo>
                  <a:pt x="263" y="11"/>
                </a:lnTo>
                <a:lnTo>
                  <a:pt x="263" y="8"/>
                </a:lnTo>
                <a:lnTo>
                  <a:pt x="263" y="4"/>
                </a:lnTo>
                <a:lnTo>
                  <a:pt x="263" y="3"/>
                </a:lnTo>
                <a:lnTo>
                  <a:pt x="261" y="0"/>
                </a:lnTo>
                <a:lnTo>
                  <a:pt x="258" y="0"/>
                </a:lnTo>
                <a:lnTo>
                  <a:pt x="260" y="3"/>
                </a:lnTo>
                <a:lnTo>
                  <a:pt x="260" y="4"/>
                </a:lnTo>
                <a:lnTo>
                  <a:pt x="260" y="8"/>
                </a:lnTo>
                <a:lnTo>
                  <a:pt x="260" y="11"/>
                </a:lnTo>
                <a:lnTo>
                  <a:pt x="261" y="14"/>
                </a:lnTo>
                <a:lnTo>
                  <a:pt x="261" y="18"/>
                </a:lnTo>
                <a:lnTo>
                  <a:pt x="261" y="21"/>
                </a:lnTo>
                <a:lnTo>
                  <a:pt x="261" y="24"/>
                </a:lnTo>
                <a:lnTo>
                  <a:pt x="261" y="28"/>
                </a:lnTo>
                <a:lnTo>
                  <a:pt x="261" y="31"/>
                </a:lnTo>
                <a:lnTo>
                  <a:pt x="261" y="34"/>
                </a:lnTo>
                <a:lnTo>
                  <a:pt x="260" y="38"/>
                </a:lnTo>
                <a:lnTo>
                  <a:pt x="260" y="41"/>
                </a:lnTo>
                <a:lnTo>
                  <a:pt x="260" y="44"/>
                </a:lnTo>
                <a:lnTo>
                  <a:pt x="260" y="48"/>
                </a:lnTo>
                <a:lnTo>
                  <a:pt x="258" y="51"/>
                </a:lnTo>
                <a:lnTo>
                  <a:pt x="261" y="51"/>
                </a:lnTo>
                <a:lnTo>
                  <a:pt x="263" y="48"/>
                </a:lnTo>
                <a:lnTo>
                  <a:pt x="263" y="44"/>
                </a:lnTo>
                <a:lnTo>
                  <a:pt x="263" y="41"/>
                </a:lnTo>
                <a:lnTo>
                  <a:pt x="263" y="38"/>
                </a:lnTo>
                <a:lnTo>
                  <a:pt x="265" y="34"/>
                </a:lnTo>
                <a:lnTo>
                  <a:pt x="265" y="31"/>
                </a:lnTo>
                <a:lnTo>
                  <a:pt x="265" y="28"/>
                </a:lnTo>
                <a:lnTo>
                  <a:pt x="265" y="24"/>
                </a:lnTo>
                <a:close/>
                <a:moveTo>
                  <a:pt x="3" y="0"/>
                </a:moveTo>
                <a:lnTo>
                  <a:pt x="3" y="3"/>
                </a:lnTo>
                <a:lnTo>
                  <a:pt x="1" y="4"/>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5" y="18"/>
                </a:lnTo>
                <a:lnTo>
                  <a:pt x="5" y="14"/>
                </a:lnTo>
                <a:lnTo>
                  <a:pt x="5" y="11"/>
                </a:lnTo>
                <a:lnTo>
                  <a:pt x="5" y="8"/>
                </a:lnTo>
                <a:lnTo>
                  <a:pt x="5" y="4"/>
                </a:lnTo>
                <a:lnTo>
                  <a:pt x="6" y="3"/>
                </a:lnTo>
                <a:lnTo>
                  <a:pt x="6" y="0"/>
                </a:lnTo>
                <a:lnTo>
                  <a:pt x="3"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73" name="Freeform 1778">
            <a:extLst>
              <a:ext uri="{FF2B5EF4-FFF2-40B4-BE49-F238E27FC236}">
                <a16:creationId xmlns:a16="http://schemas.microsoft.com/office/drawing/2014/main" id="{653EA491-2B63-EFB5-DAF4-2823DFE54708}"/>
              </a:ext>
            </a:extLst>
          </p:cNvPr>
          <p:cNvSpPr>
            <a:spLocks noEditPoints="1"/>
          </p:cNvSpPr>
          <p:nvPr/>
        </p:nvSpPr>
        <p:spPr bwMode="auto">
          <a:xfrm>
            <a:off x="2349500" y="2719388"/>
            <a:ext cx="415925" cy="80963"/>
          </a:xfrm>
          <a:custGeom>
            <a:avLst/>
            <a:gdLst>
              <a:gd name="T0" fmla="*/ 262 w 262"/>
              <a:gd name="T1" fmla="*/ 21 h 51"/>
              <a:gd name="T2" fmla="*/ 262 w 262"/>
              <a:gd name="T3" fmla="*/ 14 h 51"/>
              <a:gd name="T4" fmla="*/ 260 w 262"/>
              <a:gd name="T5" fmla="*/ 8 h 51"/>
              <a:gd name="T6" fmla="*/ 260 w 262"/>
              <a:gd name="T7" fmla="*/ 3 h 51"/>
              <a:gd name="T8" fmla="*/ 255 w 262"/>
              <a:gd name="T9" fmla="*/ 0 h 51"/>
              <a:gd name="T10" fmla="*/ 257 w 262"/>
              <a:gd name="T11" fmla="*/ 4 h 51"/>
              <a:gd name="T12" fmla="*/ 257 w 262"/>
              <a:gd name="T13" fmla="*/ 11 h 51"/>
              <a:gd name="T14" fmla="*/ 259 w 262"/>
              <a:gd name="T15" fmla="*/ 18 h 51"/>
              <a:gd name="T16" fmla="*/ 259 w 262"/>
              <a:gd name="T17" fmla="*/ 24 h 51"/>
              <a:gd name="T18" fmla="*/ 259 w 262"/>
              <a:gd name="T19" fmla="*/ 31 h 51"/>
              <a:gd name="T20" fmla="*/ 257 w 262"/>
              <a:gd name="T21" fmla="*/ 38 h 51"/>
              <a:gd name="T22" fmla="*/ 257 w 262"/>
              <a:gd name="T23" fmla="*/ 44 h 51"/>
              <a:gd name="T24" fmla="*/ 255 w 262"/>
              <a:gd name="T25" fmla="*/ 51 h 51"/>
              <a:gd name="T26" fmla="*/ 260 w 262"/>
              <a:gd name="T27" fmla="*/ 48 h 51"/>
              <a:gd name="T28" fmla="*/ 260 w 262"/>
              <a:gd name="T29" fmla="*/ 41 h 51"/>
              <a:gd name="T30" fmla="*/ 262 w 262"/>
              <a:gd name="T31" fmla="*/ 34 h 51"/>
              <a:gd name="T32" fmla="*/ 262 w 262"/>
              <a:gd name="T33" fmla="*/ 28 h 51"/>
              <a:gd name="T34" fmla="*/ 4 w 262"/>
              <a:gd name="T35" fmla="*/ 0 h 51"/>
              <a:gd name="T36" fmla="*/ 2 w 262"/>
              <a:gd name="T37" fmla="*/ 4 h 51"/>
              <a:gd name="T38" fmla="*/ 2 w 262"/>
              <a:gd name="T39" fmla="*/ 11 h 51"/>
              <a:gd name="T40" fmla="*/ 2 w 262"/>
              <a:gd name="T41" fmla="*/ 18 h 51"/>
              <a:gd name="T42" fmla="*/ 0 w 262"/>
              <a:gd name="T43" fmla="*/ 24 h 51"/>
              <a:gd name="T44" fmla="*/ 2 w 262"/>
              <a:gd name="T45" fmla="*/ 31 h 51"/>
              <a:gd name="T46" fmla="*/ 2 w 262"/>
              <a:gd name="T47" fmla="*/ 38 h 51"/>
              <a:gd name="T48" fmla="*/ 2 w 262"/>
              <a:gd name="T49" fmla="*/ 44 h 51"/>
              <a:gd name="T50" fmla="*/ 4 w 262"/>
              <a:gd name="T51" fmla="*/ 51 h 51"/>
              <a:gd name="T52" fmla="*/ 7 w 262"/>
              <a:gd name="T53" fmla="*/ 48 h 51"/>
              <a:gd name="T54" fmla="*/ 5 w 262"/>
              <a:gd name="T55" fmla="*/ 41 h 51"/>
              <a:gd name="T56" fmla="*/ 5 w 262"/>
              <a:gd name="T57" fmla="*/ 34 h 51"/>
              <a:gd name="T58" fmla="*/ 4 w 262"/>
              <a:gd name="T59" fmla="*/ 28 h 51"/>
              <a:gd name="T60" fmla="*/ 4 w 262"/>
              <a:gd name="T61" fmla="*/ 21 h 51"/>
              <a:gd name="T62" fmla="*/ 5 w 262"/>
              <a:gd name="T63" fmla="*/ 14 h 51"/>
              <a:gd name="T64" fmla="*/ 5 w 262"/>
              <a:gd name="T65" fmla="*/ 8 h 51"/>
              <a:gd name="T66" fmla="*/ 7 w 262"/>
              <a:gd name="T67" fmla="*/ 3 h 51"/>
              <a:gd name="T68" fmla="*/ 4 w 2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2" h="51">
                <a:moveTo>
                  <a:pt x="262" y="24"/>
                </a:moveTo>
                <a:lnTo>
                  <a:pt x="262" y="21"/>
                </a:lnTo>
                <a:lnTo>
                  <a:pt x="262" y="18"/>
                </a:lnTo>
                <a:lnTo>
                  <a:pt x="262" y="14"/>
                </a:lnTo>
                <a:lnTo>
                  <a:pt x="260" y="11"/>
                </a:lnTo>
                <a:lnTo>
                  <a:pt x="260" y="8"/>
                </a:lnTo>
                <a:lnTo>
                  <a:pt x="260" y="4"/>
                </a:lnTo>
                <a:lnTo>
                  <a:pt x="260" y="3"/>
                </a:lnTo>
                <a:lnTo>
                  <a:pt x="259" y="0"/>
                </a:lnTo>
                <a:lnTo>
                  <a:pt x="255" y="0"/>
                </a:lnTo>
                <a:lnTo>
                  <a:pt x="257" y="3"/>
                </a:lnTo>
                <a:lnTo>
                  <a:pt x="257" y="4"/>
                </a:lnTo>
                <a:lnTo>
                  <a:pt x="257" y="8"/>
                </a:lnTo>
                <a:lnTo>
                  <a:pt x="257" y="11"/>
                </a:lnTo>
                <a:lnTo>
                  <a:pt x="259" y="14"/>
                </a:lnTo>
                <a:lnTo>
                  <a:pt x="259" y="18"/>
                </a:lnTo>
                <a:lnTo>
                  <a:pt x="259" y="21"/>
                </a:lnTo>
                <a:lnTo>
                  <a:pt x="259" y="24"/>
                </a:lnTo>
                <a:lnTo>
                  <a:pt x="259" y="28"/>
                </a:lnTo>
                <a:lnTo>
                  <a:pt x="259" y="31"/>
                </a:lnTo>
                <a:lnTo>
                  <a:pt x="259" y="34"/>
                </a:lnTo>
                <a:lnTo>
                  <a:pt x="257" y="38"/>
                </a:lnTo>
                <a:lnTo>
                  <a:pt x="257" y="41"/>
                </a:lnTo>
                <a:lnTo>
                  <a:pt x="257" y="44"/>
                </a:lnTo>
                <a:lnTo>
                  <a:pt x="257" y="48"/>
                </a:lnTo>
                <a:lnTo>
                  <a:pt x="255" y="51"/>
                </a:lnTo>
                <a:lnTo>
                  <a:pt x="259" y="51"/>
                </a:lnTo>
                <a:lnTo>
                  <a:pt x="260" y="48"/>
                </a:lnTo>
                <a:lnTo>
                  <a:pt x="260" y="44"/>
                </a:lnTo>
                <a:lnTo>
                  <a:pt x="260" y="41"/>
                </a:lnTo>
                <a:lnTo>
                  <a:pt x="260" y="38"/>
                </a:lnTo>
                <a:lnTo>
                  <a:pt x="262" y="34"/>
                </a:lnTo>
                <a:lnTo>
                  <a:pt x="262" y="31"/>
                </a:lnTo>
                <a:lnTo>
                  <a:pt x="262" y="28"/>
                </a:lnTo>
                <a:lnTo>
                  <a:pt x="262" y="24"/>
                </a:lnTo>
                <a:close/>
                <a:moveTo>
                  <a:pt x="4" y="0"/>
                </a:moveTo>
                <a:lnTo>
                  <a:pt x="4" y="3"/>
                </a:lnTo>
                <a:lnTo>
                  <a:pt x="2" y="4"/>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5" y="18"/>
                </a:lnTo>
                <a:lnTo>
                  <a:pt x="5" y="14"/>
                </a:lnTo>
                <a:lnTo>
                  <a:pt x="5" y="11"/>
                </a:lnTo>
                <a:lnTo>
                  <a:pt x="5" y="8"/>
                </a:lnTo>
                <a:lnTo>
                  <a:pt x="5" y="4"/>
                </a:lnTo>
                <a:lnTo>
                  <a:pt x="7" y="3"/>
                </a:lnTo>
                <a:lnTo>
                  <a:pt x="7" y="0"/>
                </a:lnTo>
                <a:lnTo>
                  <a:pt x="4"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74" name="Freeform 1779">
            <a:extLst>
              <a:ext uri="{FF2B5EF4-FFF2-40B4-BE49-F238E27FC236}">
                <a16:creationId xmlns:a16="http://schemas.microsoft.com/office/drawing/2014/main" id="{0398283D-1BC4-E8B1-B2C2-DCBA6DB82543}"/>
              </a:ext>
            </a:extLst>
          </p:cNvPr>
          <p:cNvSpPr>
            <a:spLocks noEditPoints="1"/>
          </p:cNvSpPr>
          <p:nvPr/>
        </p:nvSpPr>
        <p:spPr bwMode="auto">
          <a:xfrm>
            <a:off x="2352675" y="2719388"/>
            <a:ext cx="409575" cy="80963"/>
          </a:xfrm>
          <a:custGeom>
            <a:avLst/>
            <a:gdLst>
              <a:gd name="T0" fmla="*/ 258 w 258"/>
              <a:gd name="T1" fmla="*/ 21 h 51"/>
              <a:gd name="T2" fmla="*/ 258 w 258"/>
              <a:gd name="T3" fmla="*/ 14 h 51"/>
              <a:gd name="T4" fmla="*/ 257 w 258"/>
              <a:gd name="T5" fmla="*/ 8 h 51"/>
              <a:gd name="T6" fmla="*/ 257 w 258"/>
              <a:gd name="T7" fmla="*/ 3 h 51"/>
              <a:gd name="T8" fmla="*/ 252 w 258"/>
              <a:gd name="T9" fmla="*/ 0 h 51"/>
              <a:gd name="T10" fmla="*/ 253 w 258"/>
              <a:gd name="T11" fmla="*/ 4 h 51"/>
              <a:gd name="T12" fmla="*/ 253 w 258"/>
              <a:gd name="T13" fmla="*/ 11 h 51"/>
              <a:gd name="T14" fmla="*/ 255 w 258"/>
              <a:gd name="T15" fmla="*/ 18 h 51"/>
              <a:gd name="T16" fmla="*/ 255 w 258"/>
              <a:gd name="T17" fmla="*/ 24 h 51"/>
              <a:gd name="T18" fmla="*/ 255 w 258"/>
              <a:gd name="T19" fmla="*/ 31 h 51"/>
              <a:gd name="T20" fmla="*/ 253 w 258"/>
              <a:gd name="T21" fmla="*/ 38 h 51"/>
              <a:gd name="T22" fmla="*/ 253 w 258"/>
              <a:gd name="T23" fmla="*/ 44 h 51"/>
              <a:gd name="T24" fmla="*/ 252 w 258"/>
              <a:gd name="T25" fmla="*/ 51 h 51"/>
              <a:gd name="T26" fmla="*/ 257 w 258"/>
              <a:gd name="T27" fmla="*/ 48 h 51"/>
              <a:gd name="T28" fmla="*/ 257 w 258"/>
              <a:gd name="T29" fmla="*/ 41 h 51"/>
              <a:gd name="T30" fmla="*/ 258 w 258"/>
              <a:gd name="T31" fmla="*/ 34 h 51"/>
              <a:gd name="T32" fmla="*/ 258 w 258"/>
              <a:gd name="T33" fmla="*/ 28 h 51"/>
              <a:gd name="T34" fmla="*/ 3 w 258"/>
              <a:gd name="T35" fmla="*/ 0 h 51"/>
              <a:gd name="T36" fmla="*/ 2 w 258"/>
              <a:gd name="T37" fmla="*/ 4 h 51"/>
              <a:gd name="T38" fmla="*/ 2 w 258"/>
              <a:gd name="T39" fmla="*/ 11 h 51"/>
              <a:gd name="T40" fmla="*/ 2 w 258"/>
              <a:gd name="T41" fmla="*/ 18 h 51"/>
              <a:gd name="T42" fmla="*/ 0 w 258"/>
              <a:gd name="T43" fmla="*/ 24 h 51"/>
              <a:gd name="T44" fmla="*/ 0 w 258"/>
              <a:gd name="T45" fmla="*/ 31 h 51"/>
              <a:gd name="T46" fmla="*/ 2 w 258"/>
              <a:gd name="T47" fmla="*/ 38 h 51"/>
              <a:gd name="T48" fmla="*/ 2 w 258"/>
              <a:gd name="T49" fmla="*/ 44 h 51"/>
              <a:gd name="T50" fmla="*/ 3 w 258"/>
              <a:gd name="T51" fmla="*/ 51 h 51"/>
              <a:gd name="T52" fmla="*/ 7 w 258"/>
              <a:gd name="T53" fmla="*/ 48 h 51"/>
              <a:gd name="T54" fmla="*/ 5 w 258"/>
              <a:gd name="T55" fmla="*/ 41 h 51"/>
              <a:gd name="T56" fmla="*/ 5 w 258"/>
              <a:gd name="T57" fmla="*/ 34 h 51"/>
              <a:gd name="T58" fmla="*/ 3 w 258"/>
              <a:gd name="T59" fmla="*/ 28 h 51"/>
              <a:gd name="T60" fmla="*/ 3 w 258"/>
              <a:gd name="T61" fmla="*/ 21 h 51"/>
              <a:gd name="T62" fmla="*/ 5 w 258"/>
              <a:gd name="T63" fmla="*/ 14 h 51"/>
              <a:gd name="T64" fmla="*/ 5 w 258"/>
              <a:gd name="T65" fmla="*/ 8 h 51"/>
              <a:gd name="T66" fmla="*/ 7 w 258"/>
              <a:gd name="T67" fmla="*/ 3 h 51"/>
              <a:gd name="T68" fmla="*/ 3 w 25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8" h="51">
                <a:moveTo>
                  <a:pt x="258" y="24"/>
                </a:moveTo>
                <a:lnTo>
                  <a:pt x="258" y="21"/>
                </a:lnTo>
                <a:lnTo>
                  <a:pt x="258" y="18"/>
                </a:lnTo>
                <a:lnTo>
                  <a:pt x="258" y="14"/>
                </a:lnTo>
                <a:lnTo>
                  <a:pt x="257" y="11"/>
                </a:lnTo>
                <a:lnTo>
                  <a:pt x="257" y="8"/>
                </a:lnTo>
                <a:lnTo>
                  <a:pt x="257" y="4"/>
                </a:lnTo>
                <a:lnTo>
                  <a:pt x="257" y="3"/>
                </a:lnTo>
                <a:lnTo>
                  <a:pt x="255" y="0"/>
                </a:lnTo>
                <a:lnTo>
                  <a:pt x="252" y="0"/>
                </a:lnTo>
                <a:lnTo>
                  <a:pt x="253" y="3"/>
                </a:lnTo>
                <a:lnTo>
                  <a:pt x="253" y="4"/>
                </a:lnTo>
                <a:lnTo>
                  <a:pt x="253" y="8"/>
                </a:lnTo>
                <a:lnTo>
                  <a:pt x="253" y="11"/>
                </a:lnTo>
                <a:lnTo>
                  <a:pt x="255" y="14"/>
                </a:lnTo>
                <a:lnTo>
                  <a:pt x="255" y="18"/>
                </a:lnTo>
                <a:lnTo>
                  <a:pt x="255" y="21"/>
                </a:lnTo>
                <a:lnTo>
                  <a:pt x="255" y="24"/>
                </a:lnTo>
                <a:lnTo>
                  <a:pt x="255" y="28"/>
                </a:lnTo>
                <a:lnTo>
                  <a:pt x="255" y="31"/>
                </a:lnTo>
                <a:lnTo>
                  <a:pt x="255" y="34"/>
                </a:lnTo>
                <a:lnTo>
                  <a:pt x="253" y="38"/>
                </a:lnTo>
                <a:lnTo>
                  <a:pt x="253" y="41"/>
                </a:lnTo>
                <a:lnTo>
                  <a:pt x="253" y="44"/>
                </a:lnTo>
                <a:lnTo>
                  <a:pt x="253" y="48"/>
                </a:lnTo>
                <a:lnTo>
                  <a:pt x="252" y="51"/>
                </a:lnTo>
                <a:lnTo>
                  <a:pt x="255" y="51"/>
                </a:lnTo>
                <a:lnTo>
                  <a:pt x="257" y="48"/>
                </a:lnTo>
                <a:lnTo>
                  <a:pt x="257" y="44"/>
                </a:lnTo>
                <a:lnTo>
                  <a:pt x="257" y="41"/>
                </a:lnTo>
                <a:lnTo>
                  <a:pt x="257" y="38"/>
                </a:lnTo>
                <a:lnTo>
                  <a:pt x="258" y="34"/>
                </a:lnTo>
                <a:lnTo>
                  <a:pt x="258" y="31"/>
                </a:lnTo>
                <a:lnTo>
                  <a:pt x="258" y="28"/>
                </a:lnTo>
                <a:lnTo>
                  <a:pt x="258" y="24"/>
                </a:lnTo>
                <a:close/>
                <a:moveTo>
                  <a:pt x="3" y="0"/>
                </a:moveTo>
                <a:lnTo>
                  <a:pt x="3" y="3"/>
                </a:lnTo>
                <a:lnTo>
                  <a:pt x="2" y="4"/>
                </a:lnTo>
                <a:lnTo>
                  <a:pt x="2" y="8"/>
                </a:lnTo>
                <a:lnTo>
                  <a:pt x="2" y="11"/>
                </a:lnTo>
                <a:lnTo>
                  <a:pt x="2" y="14"/>
                </a:lnTo>
                <a:lnTo>
                  <a:pt x="2"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5" y="18"/>
                </a:lnTo>
                <a:lnTo>
                  <a:pt x="5" y="14"/>
                </a:lnTo>
                <a:lnTo>
                  <a:pt x="5" y="11"/>
                </a:lnTo>
                <a:lnTo>
                  <a:pt x="5" y="8"/>
                </a:lnTo>
                <a:lnTo>
                  <a:pt x="5" y="4"/>
                </a:lnTo>
                <a:lnTo>
                  <a:pt x="7" y="3"/>
                </a:lnTo>
                <a:lnTo>
                  <a:pt x="7" y="0"/>
                </a:lnTo>
                <a:lnTo>
                  <a:pt x="3"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75" name="Freeform 1780">
            <a:extLst>
              <a:ext uri="{FF2B5EF4-FFF2-40B4-BE49-F238E27FC236}">
                <a16:creationId xmlns:a16="http://schemas.microsoft.com/office/drawing/2014/main" id="{A9BBD484-9FC5-1880-C960-EA89E358363B}"/>
              </a:ext>
            </a:extLst>
          </p:cNvPr>
          <p:cNvSpPr>
            <a:spLocks noEditPoints="1"/>
          </p:cNvSpPr>
          <p:nvPr/>
        </p:nvSpPr>
        <p:spPr bwMode="auto">
          <a:xfrm>
            <a:off x="2355850" y="2719388"/>
            <a:ext cx="404813" cy="80963"/>
          </a:xfrm>
          <a:custGeom>
            <a:avLst/>
            <a:gdLst>
              <a:gd name="T0" fmla="*/ 255 w 255"/>
              <a:gd name="T1" fmla="*/ 21 h 51"/>
              <a:gd name="T2" fmla="*/ 255 w 255"/>
              <a:gd name="T3" fmla="*/ 14 h 51"/>
              <a:gd name="T4" fmla="*/ 253 w 255"/>
              <a:gd name="T5" fmla="*/ 8 h 51"/>
              <a:gd name="T6" fmla="*/ 253 w 255"/>
              <a:gd name="T7" fmla="*/ 3 h 51"/>
              <a:gd name="T8" fmla="*/ 248 w 255"/>
              <a:gd name="T9" fmla="*/ 0 h 51"/>
              <a:gd name="T10" fmla="*/ 250 w 255"/>
              <a:gd name="T11" fmla="*/ 4 h 51"/>
              <a:gd name="T12" fmla="*/ 250 w 255"/>
              <a:gd name="T13" fmla="*/ 11 h 51"/>
              <a:gd name="T14" fmla="*/ 251 w 255"/>
              <a:gd name="T15" fmla="*/ 18 h 51"/>
              <a:gd name="T16" fmla="*/ 251 w 255"/>
              <a:gd name="T17" fmla="*/ 24 h 51"/>
              <a:gd name="T18" fmla="*/ 251 w 255"/>
              <a:gd name="T19" fmla="*/ 31 h 51"/>
              <a:gd name="T20" fmla="*/ 250 w 255"/>
              <a:gd name="T21" fmla="*/ 38 h 51"/>
              <a:gd name="T22" fmla="*/ 250 w 255"/>
              <a:gd name="T23" fmla="*/ 44 h 51"/>
              <a:gd name="T24" fmla="*/ 248 w 255"/>
              <a:gd name="T25" fmla="*/ 51 h 51"/>
              <a:gd name="T26" fmla="*/ 253 w 255"/>
              <a:gd name="T27" fmla="*/ 48 h 51"/>
              <a:gd name="T28" fmla="*/ 253 w 255"/>
              <a:gd name="T29" fmla="*/ 41 h 51"/>
              <a:gd name="T30" fmla="*/ 255 w 255"/>
              <a:gd name="T31" fmla="*/ 34 h 51"/>
              <a:gd name="T32" fmla="*/ 255 w 255"/>
              <a:gd name="T33" fmla="*/ 28 h 51"/>
              <a:gd name="T34" fmla="*/ 3 w 255"/>
              <a:gd name="T35" fmla="*/ 0 h 51"/>
              <a:gd name="T36" fmla="*/ 1 w 255"/>
              <a:gd name="T37" fmla="*/ 4 h 51"/>
              <a:gd name="T38" fmla="*/ 1 w 255"/>
              <a:gd name="T39" fmla="*/ 11 h 51"/>
              <a:gd name="T40" fmla="*/ 1 w 255"/>
              <a:gd name="T41" fmla="*/ 18 h 51"/>
              <a:gd name="T42" fmla="*/ 0 w 255"/>
              <a:gd name="T43" fmla="*/ 24 h 51"/>
              <a:gd name="T44" fmla="*/ 0 w 255"/>
              <a:gd name="T45" fmla="*/ 31 h 51"/>
              <a:gd name="T46" fmla="*/ 1 w 255"/>
              <a:gd name="T47" fmla="*/ 38 h 51"/>
              <a:gd name="T48" fmla="*/ 1 w 255"/>
              <a:gd name="T49" fmla="*/ 44 h 51"/>
              <a:gd name="T50" fmla="*/ 3 w 255"/>
              <a:gd name="T51" fmla="*/ 51 h 51"/>
              <a:gd name="T52" fmla="*/ 6 w 255"/>
              <a:gd name="T53" fmla="*/ 48 h 51"/>
              <a:gd name="T54" fmla="*/ 5 w 255"/>
              <a:gd name="T55" fmla="*/ 41 h 51"/>
              <a:gd name="T56" fmla="*/ 5 w 255"/>
              <a:gd name="T57" fmla="*/ 34 h 51"/>
              <a:gd name="T58" fmla="*/ 3 w 255"/>
              <a:gd name="T59" fmla="*/ 28 h 51"/>
              <a:gd name="T60" fmla="*/ 3 w 255"/>
              <a:gd name="T61" fmla="*/ 21 h 51"/>
              <a:gd name="T62" fmla="*/ 5 w 255"/>
              <a:gd name="T63" fmla="*/ 14 h 51"/>
              <a:gd name="T64" fmla="*/ 5 w 255"/>
              <a:gd name="T65" fmla="*/ 8 h 51"/>
              <a:gd name="T66" fmla="*/ 6 w 255"/>
              <a:gd name="T67" fmla="*/ 3 h 51"/>
              <a:gd name="T68" fmla="*/ 3 w 25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5" h="51">
                <a:moveTo>
                  <a:pt x="255" y="24"/>
                </a:moveTo>
                <a:lnTo>
                  <a:pt x="255" y="21"/>
                </a:lnTo>
                <a:lnTo>
                  <a:pt x="255" y="18"/>
                </a:lnTo>
                <a:lnTo>
                  <a:pt x="255" y="14"/>
                </a:lnTo>
                <a:lnTo>
                  <a:pt x="253" y="11"/>
                </a:lnTo>
                <a:lnTo>
                  <a:pt x="253" y="8"/>
                </a:lnTo>
                <a:lnTo>
                  <a:pt x="253" y="4"/>
                </a:lnTo>
                <a:lnTo>
                  <a:pt x="253" y="3"/>
                </a:lnTo>
                <a:lnTo>
                  <a:pt x="251" y="0"/>
                </a:lnTo>
                <a:lnTo>
                  <a:pt x="248" y="0"/>
                </a:lnTo>
                <a:lnTo>
                  <a:pt x="248" y="3"/>
                </a:lnTo>
                <a:lnTo>
                  <a:pt x="250" y="4"/>
                </a:lnTo>
                <a:lnTo>
                  <a:pt x="250" y="8"/>
                </a:lnTo>
                <a:lnTo>
                  <a:pt x="250" y="11"/>
                </a:lnTo>
                <a:lnTo>
                  <a:pt x="251" y="14"/>
                </a:lnTo>
                <a:lnTo>
                  <a:pt x="251" y="18"/>
                </a:lnTo>
                <a:lnTo>
                  <a:pt x="251" y="21"/>
                </a:lnTo>
                <a:lnTo>
                  <a:pt x="251" y="24"/>
                </a:lnTo>
                <a:lnTo>
                  <a:pt x="251" y="28"/>
                </a:lnTo>
                <a:lnTo>
                  <a:pt x="251" y="31"/>
                </a:lnTo>
                <a:lnTo>
                  <a:pt x="251" y="34"/>
                </a:lnTo>
                <a:lnTo>
                  <a:pt x="250" y="38"/>
                </a:lnTo>
                <a:lnTo>
                  <a:pt x="250" y="41"/>
                </a:lnTo>
                <a:lnTo>
                  <a:pt x="250" y="44"/>
                </a:lnTo>
                <a:lnTo>
                  <a:pt x="250" y="48"/>
                </a:lnTo>
                <a:lnTo>
                  <a:pt x="248" y="51"/>
                </a:lnTo>
                <a:lnTo>
                  <a:pt x="251" y="51"/>
                </a:lnTo>
                <a:lnTo>
                  <a:pt x="253" y="48"/>
                </a:lnTo>
                <a:lnTo>
                  <a:pt x="253" y="44"/>
                </a:lnTo>
                <a:lnTo>
                  <a:pt x="253" y="41"/>
                </a:lnTo>
                <a:lnTo>
                  <a:pt x="253" y="38"/>
                </a:lnTo>
                <a:lnTo>
                  <a:pt x="255" y="34"/>
                </a:lnTo>
                <a:lnTo>
                  <a:pt x="255" y="31"/>
                </a:lnTo>
                <a:lnTo>
                  <a:pt x="255" y="28"/>
                </a:lnTo>
                <a:lnTo>
                  <a:pt x="255" y="24"/>
                </a:lnTo>
                <a:close/>
                <a:moveTo>
                  <a:pt x="3" y="0"/>
                </a:moveTo>
                <a:lnTo>
                  <a:pt x="3" y="3"/>
                </a:lnTo>
                <a:lnTo>
                  <a:pt x="1" y="4"/>
                </a:lnTo>
                <a:lnTo>
                  <a:pt x="1" y="8"/>
                </a:lnTo>
                <a:lnTo>
                  <a:pt x="1" y="11"/>
                </a:lnTo>
                <a:lnTo>
                  <a:pt x="1" y="14"/>
                </a:lnTo>
                <a:lnTo>
                  <a:pt x="1"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76" name="Freeform 1781">
            <a:extLst>
              <a:ext uri="{FF2B5EF4-FFF2-40B4-BE49-F238E27FC236}">
                <a16:creationId xmlns:a16="http://schemas.microsoft.com/office/drawing/2014/main" id="{08164875-6BF0-F539-EB44-4D9CA209BEDA}"/>
              </a:ext>
            </a:extLst>
          </p:cNvPr>
          <p:cNvSpPr>
            <a:spLocks noEditPoints="1"/>
          </p:cNvSpPr>
          <p:nvPr/>
        </p:nvSpPr>
        <p:spPr bwMode="auto">
          <a:xfrm>
            <a:off x="2357438" y="2719388"/>
            <a:ext cx="400050" cy="80963"/>
          </a:xfrm>
          <a:custGeom>
            <a:avLst/>
            <a:gdLst>
              <a:gd name="T0" fmla="*/ 252 w 252"/>
              <a:gd name="T1" fmla="*/ 21 h 51"/>
              <a:gd name="T2" fmla="*/ 252 w 252"/>
              <a:gd name="T3" fmla="*/ 14 h 51"/>
              <a:gd name="T4" fmla="*/ 250 w 252"/>
              <a:gd name="T5" fmla="*/ 8 h 51"/>
              <a:gd name="T6" fmla="*/ 250 w 252"/>
              <a:gd name="T7" fmla="*/ 3 h 51"/>
              <a:gd name="T8" fmla="*/ 245 w 252"/>
              <a:gd name="T9" fmla="*/ 0 h 51"/>
              <a:gd name="T10" fmla="*/ 247 w 252"/>
              <a:gd name="T11" fmla="*/ 4 h 51"/>
              <a:gd name="T12" fmla="*/ 247 w 252"/>
              <a:gd name="T13" fmla="*/ 11 h 51"/>
              <a:gd name="T14" fmla="*/ 249 w 252"/>
              <a:gd name="T15" fmla="*/ 18 h 51"/>
              <a:gd name="T16" fmla="*/ 249 w 252"/>
              <a:gd name="T17" fmla="*/ 24 h 51"/>
              <a:gd name="T18" fmla="*/ 249 w 252"/>
              <a:gd name="T19" fmla="*/ 31 h 51"/>
              <a:gd name="T20" fmla="*/ 247 w 252"/>
              <a:gd name="T21" fmla="*/ 38 h 51"/>
              <a:gd name="T22" fmla="*/ 247 w 252"/>
              <a:gd name="T23" fmla="*/ 44 h 51"/>
              <a:gd name="T24" fmla="*/ 245 w 252"/>
              <a:gd name="T25" fmla="*/ 51 h 51"/>
              <a:gd name="T26" fmla="*/ 250 w 252"/>
              <a:gd name="T27" fmla="*/ 48 h 51"/>
              <a:gd name="T28" fmla="*/ 250 w 252"/>
              <a:gd name="T29" fmla="*/ 41 h 51"/>
              <a:gd name="T30" fmla="*/ 252 w 252"/>
              <a:gd name="T31" fmla="*/ 34 h 51"/>
              <a:gd name="T32" fmla="*/ 252 w 252"/>
              <a:gd name="T33" fmla="*/ 28 h 51"/>
              <a:gd name="T34" fmla="*/ 4 w 252"/>
              <a:gd name="T35" fmla="*/ 0 h 51"/>
              <a:gd name="T36" fmla="*/ 2 w 252"/>
              <a:gd name="T37" fmla="*/ 4 h 51"/>
              <a:gd name="T38" fmla="*/ 2 w 252"/>
              <a:gd name="T39" fmla="*/ 11 h 51"/>
              <a:gd name="T40" fmla="*/ 2 w 252"/>
              <a:gd name="T41" fmla="*/ 18 h 51"/>
              <a:gd name="T42" fmla="*/ 0 w 252"/>
              <a:gd name="T43" fmla="*/ 24 h 51"/>
              <a:gd name="T44" fmla="*/ 0 w 252"/>
              <a:gd name="T45" fmla="*/ 31 h 51"/>
              <a:gd name="T46" fmla="*/ 2 w 252"/>
              <a:gd name="T47" fmla="*/ 38 h 51"/>
              <a:gd name="T48" fmla="*/ 2 w 252"/>
              <a:gd name="T49" fmla="*/ 44 h 51"/>
              <a:gd name="T50" fmla="*/ 4 w 252"/>
              <a:gd name="T51" fmla="*/ 51 h 51"/>
              <a:gd name="T52" fmla="*/ 7 w 252"/>
              <a:gd name="T53" fmla="*/ 48 h 51"/>
              <a:gd name="T54" fmla="*/ 5 w 252"/>
              <a:gd name="T55" fmla="*/ 41 h 51"/>
              <a:gd name="T56" fmla="*/ 5 w 252"/>
              <a:gd name="T57" fmla="*/ 34 h 51"/>
              <a:gd name="T58" fmla="*/ 4 w 252"/>
              <a:gd name="T59" fmla="*/ 28 h 51"/>
              <a:gd name="T60" fmla="*/ 4 w 252"/>
              <a:gd name="T61" fmla="*/ 21 h 51"/>
              <a:gd name="T62" fmla="*/ 5 w 252"/>
              <a:gd name="T63" fmla="*/ 14 h 51"/>
              <a:gd name="T64" fmla="*/ 5 w 252"/>
              <a:gd name="T65" fmla="*/ 8 h 51"/>
              <a:gd name="T66" fmla="*/ 7 w 252"/>
              <a:gd name="T67" fmla="*/ 3 h 51"/>
              <a:gd name="T68" fmla="*/ 4 w 2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2" h="51">
                <a:moveTo>
                  <a:pt x="252" y="24"/>
                </a:moveTo>
                <a:lnTo>
                  <a:pt x="252" y="21"/>
                </a:lnTo>
                <a:lnTo>
                  <a:pt x="252" y="18"/>
                </a:lnTo>
                <a:lnTo>
                  <a:pt x="252" y="14"/>
                </a:lnTo>
                <a:lnTo>
                  <a:pt x="250" y="11"/>
                </a:lnTo>
                <a:lnTo>
                  <a:pt x="250" y="8"/>
                </a:lnTo>
                <a:lnTo>
                  <a:pt x="250" y="4"/>
                </a:lnTo>
                <a:lnTo>
                  <a:pt x="250" y="3"/>
                </a:lnTo>
                <a:lnTo>
                  <a:pt x="249" y="0"/>
                </a:lnTo>
                <a:lnTo>
                  <a:pt x="245" y="0"/>
                </a:lnTo>
                <a:lnTo>
                  <a:pt x="245" y="3"/>
                </a:lnTo>
                <a:lnTo>
                  <a:pt x="247" y="4"/>
                </a:lnTo>
                <a:lnTo>
                  <a:pt x="247" y="8"/>
                </a:lnTo>
                <a:lnTo>
                  <a:pt x="247" y="11"/>
                </a:lnTo>
                <a:lnTo>
                  <a:pt x="249" y="14"/>
                </a:lnTo>
                <a:lnTo>
                  <a:pt x="249" y="18"/>
                </a:lnTo>
                <a:lnTo>
                  <a:pt x="249" y="21"/>
                </a:lnTo>
                <a:lnTo>
                  <a:pt x="249" y="24"/>
                </a:lnTo>
                <a:lnTo>
                  <a:pt x="249" y="28"/>
                </a:lnTo>
                <a:lnTo>
                  <a:pt x="249" y="31"/>
                </a:lnTo>
                <a:lnTo>
                  <a:pt x="249" y="34"/>
                </a:lnTo>
                <a:lnTo>
                  <a:pt x="247" y="38"/>
                </a:lnTo>
                <a:lnTo>
                  <a:pt x="247" y="41"/>
                </a:lnTo>
                <a:lnTo>
                  <a:pt x="247" y="44"/>
                </a:lnTo>
                <a:lnTo>
                  <a:pt x="247" y="48"/>
                </a:lnTo>
                <a:lnTo>
                  <a:pt x="245" y="51"/>
                </a:lnTo>
                <a:lnTo>
                  <a:pt x="249" y="51"/>
                </a:lnTo>
                <a:lnTo>
                  <a:pt x="250" y="48"/>
                </a:lnTo>
                <a:lnTo>
                  <a:pt x="250" y="44"/>
                </a:lnTo>
                <a:lnTo>
                  <a:pt x="250" y="41"/>
                </a:lnTo>
                <a:lnTo>
                  <a:pt x="250" y="38"/>
                </a:lnTo>
                <a:lnTo>
                  <a:pt x="252" y="34"/>
                </a:lnTo>
                <a:lnTo>
                  <a:pt x="252" y="31"/>
                </a:lnTo>
                <a:lnTo>
                  <a:pt x="252" y="28"/>
                </a:lnTo>
                <a:lnTo>
                  <a:pt x="252" y="24"/>
                </a:lnTo>
                <a:close/>
                <a:moveTo>
                  <a:pt x="4" y="0"/>
                </a:moveTo>
                <a:lnTo>
                  <a:pt x="4" y="3"/>
                </a:lnTo>
                <a:lnTo>
                  <a:pt x="2" y="4"/>
                </a:lnTo>
                <a:lnTo>
                  <a:pt x="2" y="8"/>
                </a:lnTo>
                <a:lnTo>
                  <a:pt x="2" y="11"/>
                </a:lnTo>
                <a:lnTo>
                  <a:pt x="2" y="14"/>
                </a:lnTo>
                <a:lnTo>
                  <a:pt x="2"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5" y="4"/>
                </a:lnTo>
                <a:lnTo>
                  <a:pt x="7" y="3"/>
                </a:lnTo>
                <a:lnTo>
                  <a:pt x="7" y="0"/>
                </a:lnTo>
                <a:lnTo>
                  <a:pt x="4"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77" name="Freeform 1782">
            <a:extLst>
              <a:ext uri="{FF2B5EF4-FFF2-40B4-BE49-F238E27FC236}">
                <a16:creationId xmlns:a16="http://schemas.microsoft.com/office/drawing/2014/main" id="{819C8D01-8039-285F-DE68-2C0B1B9BCD8A}"/>
              </a:ext>
            </a:extLst>
          </p:cNvPr>
          <p:cNvSpPr>
            <a:spLocks noEditPoints="1"/>
          </p:cNvSpPr>
          <p:nvPr/>
        </p:nvSpPr>
        <p:spPr bwMode="auto">
          <a:xfrm>
            <a:off x="2360613" y="2719388"/>
            <a:ext cx="393700" cy="80963"/>
          </a:xfrm>
          <a:custGeom>
            <a:avLst/>
            <a:gdLst>
              <a:gd name="T0" fmla="*/ 248 w 248"/>
              <a:gd name="T1" fmla="*/ 21 h 51"/>
              <a:gd name="T2" fmla="*/ 248 w 248"/>
              <a:gd name="T3" fmla="*/ 14 h 51"/>
              <a:gd name="T4" fmla="*/ 247 w 248"/>
              <a:gd name="T5" fmla="*/ 8 h 51"/>
              <a:gd name="T6" fmla="*/ 245 w 248"/>
              <a:gd name="T7" fmla="*/ 3 h 51"/>
              <a:gd name="T8" fmla="*/ 242 w 248"/>
              <a:gd name="T9" fmla="*/ 0 h 51"/>
              <a:gd name="T10" fmla="*/ 243 w 248"/>
              <a:gd name="T11" fmla="*/ 4 h 51"/>
              <a:gd name="T12" fmla="*/ 243 w 248"/>
              <a:gd name="T13" fmla="*/ 11 h 51"/>
              <a:gd name="T14" fmla="*/ 245 w 248"/>
              <a:gd name="T15" fmla="*/ 18 h 51"/>
              <a:gd name="T16" fmla="*/ 245 w 248"/>
              <a:gd name="T17" fmla="*/ 24 h 51"/>
              <a:gd name="T18" fmla="*/ 245 w 248"/>
              <a:gd name="T19" fmla="*/ 31 h 51"/>
              <a:gd name="T20" fmla="*/ 243 w 248"/>
              <a:gd name="T21" fmla="*/ 38 h 51"/>
              <a:gd name="T22" fmla="*/ 243 w 248"/>
              <a:gd name="T23" fmla="*/ 44 h 51"/>
              <a:gd name="T24" fmla="*/ 242 w 248"/>
              <a:gd name="T25" fmla="*/ 51 h 51"/>
              <a:gd name="T26" fmla="*/ 247 w 248"/>
              <a:gd name="T27" fmla="*/ 48 h 51"/>
              <a:gd name="T28" fmla="*/ 247 w 248"/>
              <a:gd name="T29" fmla="*/ 41 h 51"/>
              <a:gd name="T30" fmla="*/ 248 w 248"/>
              <a:gd name="T31" fmla="*/ 34 h 51"/>
              <a:gd name="T32" fmla="*/ 248 w 248"/>
              <a:gd name="T33" fmla="*/ 28 h 51"/>
              <a:gd name="T34" fmla="*/ 3 w 248"/>
              <a:gd name="T35" fmla="*/ 0 h 51"/>
              <a:gd name="T36" fmla="*/ 2 w 248"/>
              <a:gd name="T37" fmla="*/ 4 h 51"/>
              <a:gd name="T38" fmla="*/ 2 w 248"/>
              <a:gd name="T39" fmla="*/ 11 h 51"/>
              <a:gd name="T40" fmla="*/ 0 w 248"/>
              <a:gd name="T41" fmla="*/ 18 h 51"/>
              <a:gd name="T42" fmla="*/ 0 w 248"/>
              <a:gd name="T43" fmla="*/ 24 h 51"/>
              <a:gd name="T44" fmla="*/ 0 w 248"/>
              <a:gd name="T45" fmla="*/ 31 h 51"/>
              <a:gd name="T46" fmla="*/ 2 w 248"/>
              <a:gd name="T47" fmla="*/ 38 h 51"/>
              <a:gd name="T48" fmla="*/ 2 w 248"/>
              <a:gd name="T49" fmla="*/ 44 h 51"/>
              <a:gd name="T50" fmla="*/ 3 w 248"/>
              <a:gd name="T51" fmla="*/ 51 h 51"/>
              <a:gd name="T52" fmla="*/ 7 w 248"/>
              <a:gd name="T53" fmla="*/ 48 h 51"/>
              <a:gd name="T54" fmla="*/ 5 w 248"/>
              <a:gd name="T55" fmla="*/ 41 h 51"/>
              <a:gd name="T56" fmla="*/ 5 w 248"/>
              <a:gd name="T57" fmla="*/ 34 h 51"/>
              <a:gd name="T58" fmla="*/ 3 w 248"/>
              <a:gd name="T59" fmla="*/ 28 h 51"/>
              <a:gd name="T60" fmla="*/ 3 w 248"/>
              <a:gd name="T61" fmla="*/ 21 h 51"/>
              <a:gd name="T62" fmla="*/ 5 w 248"/>
              <a:gd name="T63" fmla="*/ 14 h 51"/>
              <a:gd name="T64" fmla="*/ 5 w 248"/>
              <a:gd name="T65" fmla="*/ 8 h 51"/>
              <a:gd name="T66" fmla="*/ 7 w 248"/>
              <a:gd name="T67" fmla="*/ 3 h 51"/>
              <a:gd name="T68" fmla="*/ 3 w 24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8" h="51">
                <a:moveTo>
                  <a:pt x="248" y="24"/>
                </a:moveTo>
                <a:lnTo>
                  <a:pt x="248" y="21"/>
                </a:lnTo>
                <a:lnTo>
                  <a:pt x="248" y="18"/>
                </a:lnTo>
                <a:lnTo>
                  <a:pt x="248" y="14"/>
                </a:lnTo>
                <a:lnTo>
                  <a:pt x="247" y="11"/>
                </a:lnTo>
                <a:lnTo>
                  <a:pt x="247" y="8"/>
                </a:lnTo>
                <a:lnTo>
                  <a:pt x="247" y="4"/>
                </a:lnTo>
                <a:lnTo>
                  <a:pt x="245" y="3"/>
                </a:lnTo>
                <a:lnTo>
                  <a:pt x="245" y="0"/>
                </a:lnTo>
                <a:lnTo>
                  <a:pt x="242" y="0"/>
                </a:lnTo>
                <a:lnTo>
                  <a:pt x="242" y="3"/>
                </a:lnTo>
                <a:lnTo>
                  <a:pt x="243" y="4"/>
                </a:lnTo>
                <a:lnTo>
                  <a:pt x="243" y="8"/>
                </a:lnTo>
                <a:lnTo>
                  <a:pt x="243" y="11"/>
                </a:lnTo>
                <a:lnTo>
                  <a:pt x="245" y="14"/>
                </a:lnTo>
                <a:lnTo>
                  <a:pt x="245" y="18"/>
                </a:lnTo>
                <a:lnTo>
                  <a:pt x="245" y="21"/>
                </a:lnTo>
                <a:lnTo>
                  <a:pt x="245" y="24"/>
                </a:lnTo>
                <a:lnTo>
                  <a:pt x="245" y="28"/>
                </a:lnTo>
                <a:lnTo>
                  <a:pt x="245" y="31"/>
                </a:lnTo>
                <a:lnTo>
                  <a:pt x="245" y="34"/>
                </a:lnTo>
                <a:lnTo>
                  <a:pt x="243" y="38"/>
                </a:lnTo>
                <a:lnTo>
                  <a:pt x="243" y="41"/>
                </a:lnTo>
                <a:lnTo>
                  <a:pt x="243" y="44"/>
                </a:lnTo>
                <a:lnTo>
                  <a:pt x="243" y="48"/>
                </a:lnTo>
                <a:lnTo>
                  <a:pt x="242" y="51"/>
                </a:lnTo>
                <a:lnTo>
                  <a:pt x="245" y="51"/>
                </a:lnTo>
                <a:lnTo>
                  <a:pt x="247" y="48"/>
                </a:lnTo>
                <a:lnTo>
                  <a:pt x="247" y="44"/>
                </a:lnTo>
                <a:lnTo>
                  <a:pt x="247" y="41"/>
                </a:lnTo>
                <a:lnTo>
                  <a:pt x="247" y="38"/>
                </a:lnTo>
                <a:lnTo>
                  <a:pt x="248" y="34"/>
                </a:lnTo>
                <a:lnTo>
                  <a:pt x="248" y="31"/>
                </a:lnTo>
                <a:lnTo>
                  <a:pt x="248" y="28"/>
                </a:lnTo>
                <a:lnTo>
                  <a:pt x="248"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7" y="3"/>
                </a:lnTo>
                <a:lnTo>
                  <a:pt x="7" y="0"/>
                </a:lnTo>
                <a:lnTo>
                  <a:pt x="3"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78" name="Freeform 1783">
            <a:extLst>
              <a:ext uri="{FF2B5EF4-FFF2-40B4-BE49-F238E27FC236}">
                <a16:creationId xmlns:a16="http://schemas.microsoft.com/office/drawing/2014/main" id="{072430C3-05AC-2B65-C935-025EAB826283}"/>
              </a:ext>
            </a:extLst>
          </p:cNvPr>
          <p:cNvSpPr>
            <a:spLocks noEditPoints="1"/>
          </p:cNvSpPr>
          <p:nvPr/>
        </p:nvSpPr>
        <p:spPr bwMode="auto">
          <a:xfrm>
            <a:off x="2363788" y="2719388"/>
            <a:ext cx="388938" cy="80963"/>
          </a:xfrm>
          <a:custGeom>
            <a:avLst/>
            <a:gdLst>
              <a:gd name="T0" fmla="*/ 245 w 245"/>
              <a:gd name="T1" fmla="*/ 21 h 51"/>
              <a:gd name="T2" fmla="*/ 245 w 245"/>
              <a:gd name="T3" fmla="*/ 14 h 51"/>
              <a:gd name="T4" fmla="*/ 243 w 245"/>
              <a:gd name="T5" fmla="*/ 8 h 51"/>
              <a:gd name="T6" fmla="*/ 241 w 245"/>
              <a:gd name="T7" fmla="*/ 3 h 51"/>
              <a:gd name="T8" fmla="*/ 238 w 245"/>
              <a:gd name="T9" fmla="*/ 0 h 51"/>
              <a:gd name="T10" fmla="*/ 240 w 245"/>
              <a:gd name="T11" fmla="*/ 4 h 51"/>
              <a:gd name="T12" fmla="*/ 240 w 245"/>
              <a:gd name="T13" fmla="*/ 11 h 51"/>
              <a:gd name="T14" fmla="*/ 241 w 245"/>
              <a:gd name="T15" fmla="*/ 18 h 51"/>
              <a:gd name="T16" fmla="*/ 241 w 245"/>
              <a:gd name="T17" fmla="*/ 24 h 51"/>
              <a:gd name="T18" fmla="*/ 241 w 245"/>
              <a:gd name="T19" fmla="*/ 31 h 51"/>
              <a:gd name="T20" fmla="*/ 240 w 245"/>
              <a:gd name="T21" fmla="*/ 38 h 51"/>
              <a:gd name="T22" fmla="*/ 240 w 245"/>
              <a:gd name="T23" fmla="*/ 44 h 51"/>
              <a:gd name="T24" fmla="*/ 238 w 245"/>
              <a:gd name="T25" fmla="*/ 51 h 51"/>
              <a:gd name="T26" fmla="*/ 243 w 245"/>
              <a:gd name="T27" fmla="*/ 48 h 51"/>
              <a:gd name="T28" fmla="*/ 243 w 245"/>
              <a:gd name="T29" fmla="*/ 41 h 51"/>
              <a:gd name="T30" fmla="*/ 245 w 245"/>
              <a:gd name="T31" fmla="*/ 34 h 51"/>
              <a:gd name="T32" fmla="*/ 245 w 245"/>
              <a:gd name="T33" fmla="*/ 28 h 51"/>
              <a:gd name="T34" fmla="*/ 3 w 245"/>
              <a:gd name="T35" fmla="*/ 0 h 51"/>
              <a:gd name="T36" fmla="*/ 1 w 245"/>
              <a:gd name="T37" fmla="*/ 4 h 51"/>
              <a:gd name="T38" fmla="*/ 1 w 245"/>
              <a:gd name="T39" fmla="*/ 11 h 51"/>
              <a:gd name="T40" fmla="*/ 0 w 245"/>
              <a:gd name="T41" fmla="*/ 18 h 51"/>
              <a:gd name="T42" fmla="*/ 0 w 245"/>
              <a:gd name="T43" fmla="*/ 24 h 51"/>
              <a:gd name="T44" fmla="*/ 0 w 245"/>
              <a:gd name="T45" fmla="*/ 31 h 51"/>
              <a:gd name="T46" fmla="*/ 1 w 245"/>
              <a:gd name="T47" fmla="*/ 38 h 51"/>
              <a:gd name="T48" fmla="*/ 1 w 245"/>
              <a:gd name="T49" fmla="*/ 44 h 51"/>
              <a:gd name="T50" fmla="*/ 3 w 245"/>
              <a:gd name="T51" fmla="*/ 51 h 51"/>
              <a:gd name="T52" fmla="*/ 6 w 245"/>
              <a:gd name="T53" fmla="*/ 48 h 51"/>
              <a:gd name="T54" fmla="*/ 5 w 245"/>
              <a:gd name="T55" fmla="*/ 41 h 51"/>
              <a:gd name="T56" fmla="*/ 5 w 245"/>
              <a:gd name="T57" fmla="*/ 34 h 51"/>
              <a:gd name="T58" fmla="*/ 3 w 245"/>
              <a:gd name="T59" fmla="*/ 28 h 51"/>
              <a:gd name="T60" fmla="*/ 3 w 245"/>
              <a:gd name="T61" fmla="*/ 21 h 51"/>
              <a:gd name="T62" fmla="*/ 5 w 245"/>
              <a:gd name="T63" fmla="*/ 14 h 51"/>
              <a:gd name="T64" fmla="*/ 5 w 245"/>
              <a:gd name="T65" fmla="*/ 8 h 51"/>
              <a:gd name="T66" fmla="*/ 6 w 245"/>
              <a:gd name="T67" fmla="*/ 3 h 51"/>
              <a:gd name="T68" fmla="*/ 3 w 24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5" h="51">
                <a:moveTo>
                  <a:pt x="245" y="24"/>
                </a:moveTo>
                <a:lnTo>
                  <a:pt x="245" y="21"/>
                </a:lnTo>
                <a:lnTo>
                  <a:pt x="245" y="18"/>
                </a:lnTo>
                <a:lnTo>
                  <a:pt x="245" y="14"/>
                </a:lnTo>
                <a:lnTo>
                  <a:pt x="243" y="11"/>
                </a:lnTo>
                <a:lnTo>
                  <a:pt x="243" y="8"/>
                </a:lnTo>
                <a:lnTo>
                  <a:pt x="243" y="4"/>
                </a:lnTo>
                <a:lnTo>
                  <a:pt x="241" y="3"/>
                </a:lnTo>
                <a:lnTo>
                  <a:pt x="241" y="0"/>
                </a:lnTo>
                <a:lnTo>
                  <a:pt x="238" y="0"/>
                </a:lnTo>
                <a:lnTo>
                  <a:pt x="238" y="3"/>
                </a:lnTo>
                <a:lnTo>
                  <a:pt x="240" y="4"/>
                </a:lnTo>
                <a:lnTo>
                  <a:pt x="240" y="8"/>
                </a:lnTo>
                <a:lnTo>
                  <a:pt x="240" y="11"/>
                </a:lnTo>
                <a:lnTo>
                  <a:pt x="241" y="14"/>
                </a:lnTo>
                <a:lnTo>
                  <a:pt x="241" y="18"/>
                </a:lnTo>
                <a:lnTo>
                  <a:pt x="241" y="21"/>
                </a:lnTo>
                <a:lnTo>
                  <a:pt x="241" y="24"/>
                </a:lnTo>
                <a:lnTo>
                  <a:pt x="241" y="28"/>
                </a:lnTo>
                <a:lnTo>
                  <a:pt x="241" y="31"/>
                </a:lnTo>
                <a:lnTo>
                  <a:pt x="241" y="34"/>
                </a:lnTo>
                <a:lnTo>
                  <a:pt x="240" y="38"/>
                </a:lnTo>
                <a:lnTo>
                  <a:pt x="240" y="41"/>
                </a:lnTo>
                <a:lnTo>
                  <a:pt x="240" y="44"/>
                </a:lnTo>
                <a:lnTo>
                  <a:pt x="240" y="48"/>
                </a:lnTo>
                <a:lnTo>
                  <a:pt x="238" y="51"/>
                </a:lnTo>
                <a:lnTo>
                  <a:pt x="241" y="51"/>
                </a:lnTo>
                <a:lnTo>
                  <a:pt x="243" y="48"/>
                </a:lnTo>
                <a:lnTo>
                  <a:pt x="243" y="44"/>
                </a:lnTo>
                <a:lnTo>
                  <a:pt x="243" y="41"/>
                </a:lnTo>
                <a:lnTo>
                  <a:pt x="243" y="38"/>
                </a:lnTo>
                <a:lnTo>
                  <a:pt x="245" y="34"/>
                </a:lnTo>
                <a:lnTo>
                  <a:pt x="245" y="31"/>
                </a:lnTo>
                <a:lnTo>
                  <a:pt x="245" y="28"/>
                </a:lnTo>
                <a:lnTo>
                  <a:pt x="245" y="24"/>
                </a:lnTo>
                <a:close/>
                <a:moveTo>
                  <a:pt x="3" y="0"/>
                </a:moveTo>
                <a:lnTo>
                  <a:pt x="3" y="3"/>
                </a:lnTo>
                <a:lnTo>
                  <a:pt x="1"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79" name="Freeform 1784">
            <a:extLst>
              <a:ext uri="{FF2B5EF4-FFF2-40B4-BE49-F238E27FC236}">
                <a16:creationId xmlns:a16="http://schemas.microsoft.com/office/drawing/2014/main" id="{05A04100-579E-E8B3-BB40-F9ED8F9DF278}"/>
              </a:ext>
            </a:extLst>
          </p:cNvPr>
          <p:cNvSpPr>
            <a:spLocks noEditPoints="1"/>
          </p:cNvSpPr>
          <p:nvPr/>
        </p:nvSpPr>
        <p:spPr bwMode="auto">
          <a:xfrm>
            <a:off x="2365375" y="2719388"/>
            <a:ext cx="384175" cy="80963"/>
          </a:xfrm>
          <a:custGeom>
            <a:avLst/>
            <a:gdLst>
              <a:gd name="T0" fmla="*/ 242 w 242"/>
              <a:gd name="T1" fmla="*/ 21 h 51"/>
              <a:gd name="T2" fmla="*/ 242 w 242"/>
              <a:gd name="T3" fmla="*/ 14 h 51"/>
              <a:gd name="T4" fmla="*/ 240 w 242"/>
              <a:gd name="T5" fmla="*/ 8 h 51"/>
              <a:gd name="T6" fmla="*/ 239 w 242"/>
              <a:gd name="T7" fmla="*/ 3 h 51"/>
              <a:gd name="T8" fmla="*/ 235 w 242"/>
              <a:gd name="T9" fmla="*/ 0 h 51"/>
              <a:gd name="T10" fmla="*/ 237 w 242"/>
              <a:gd name="T11" fmla="*/ 4 h 51"/>
              <a:gd name="T12" fmla="*/ 237 w 242"/>
              <a:gd name="T13" fmla="*/ 11 h 51"/>
              <a:gd name="T14" fmla="*/ 239 w 242"/>
              <a:gd name="T15" fmla="*/ 18 h 51"/>
              <a:gd name="T16" fmla="*/ 239 w 242"/>
              <a:gd name="T17" fmla="*/ 24 h 51"/>
              <a:gd name="T18" fmla="*/ 239 w 242"/>
              <a:gd name="T19" fmla="*/ 31 h 51"/>
              <a:gd name="T20" fmla="*/ 237 w 242"/>
              <a:gd name="T21" fmla="*/ 38 h 51"/>
              <a:gd name="T22" fmla="*/ 237 w 242"/>
              <a:gd name="T23" fmla="*/ 44 h 51"/>
              <a:gd name="T24" fmla="*/ 235 w 242"/>
              <a:gd name="T25" fmla="*/ 51 h 51"/>
              <a:gd name="T26" fmla="*/ 240 w 242"/>
              <a:gd name="T27" fmla="*/ 48 h 51"/>
              <a:gd name="T28" fmla="*/ 240 w 242"/>
              <a:gd name="T29" fmla="*/ 41 h 51"/>
              <a:gd name="T30" fmla="*/ 242 w 242"/>
              <a:gd name="T31" fmla="*/ 34 h 51"/>
              <a:gd name="T32" fmla="*/ 242 w 242"/>
              <a:gd name="T33" fmla="*/ 28 h 51"/>
              <a:gd name="T34" fmla="*/ 4 w 242"/>
              <a:gd name="T35" fmla="*/ 0 h 51"/>
              <a:gd name="T36" fmla="*/ 2 w 242"/>
              <a:gd name="T37" fmla="*/ 4 h 51"/>
              <a:gd name="T38" fmla="*/ 2 w 242"/>
              <a:gd name="T39" fmla="*/ 11 h 51"/>
              <a:gd name="T40" fmla="*/ 0 w 242"/>
              <a:gd name="T41" fmla="*/ 18 h 51"/>
              <a:gd name="T42" fmla="*/ 0 w 242"/>
              <a:gd name="T43" fmla="*/ 24 h 51"/>
              <a:gd name="T44" fmla="*/ 0 w 242"/>
              <a:gd name="T45" fmla="*/ 31 h 51"/>
              <a:gd name="T46" fmla="*/ 2 w 242"/>
              <a:gd name="T47" fmla="*/ 38 h 51"/>
              <a:gd name="T48" fmla="*/ 2 w 242"/>
              <a:gd name="T49" fmla="*/ 44 h 51"/>
              <a:gd name="T50" fmla="*/ 4 w 242"/>
              <a:gd name="T51" fmla="*/ 51 h 51"/>
              <a:gd name="T52" fmla="*/ 7 w 242"/>
              <a:gd name="T53" fmla="*/ 48 h 51"/>
              <a:gd name="T54" fmla="*/ 5 w 242"/>
              <a:gd name="T55" fmla="*/ 41 h 51"/>
              <a:gd name="T56" fmla="*/ 5 w 242"/>
              <a:gd name="T57" fmla="*/ 34 h 51"/>
              <a:gd name="T58" fmla="*/ 4 w 242"/>
              <a:gd name="T59" fmla="*/ 28 h 51"/>
              <a:gd name="T60" fmla="*/ 4 w 242"/>
              <a:gd name="T61" fmla="*/ 21 h 51"/>
              <a:gd name="T62" fmla="*/ 5 w 242"/>
              <a:gd name="T63" fmla="*/ 14 h 51"/>
              <a:gd name="T64" fmla="*/ 5 w 242"/>
              <a:gd name="T65" fmla="*/ 8 h 51"/>
              <a:gd name="T66" fmla="*/ 7 w 242"/>
              <a:gd name="T67" fmla="*/ 3 h 51"/>
              <a:gd name="T68" fmla="*/ 4 w 2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2" h="51">
                <a:moveTo>
                  <a:pt x="242" y="24"/>
                </a:moveTo>
                <a:lnTo>
                  <a:pt x="242" y="21"/>
                </a:lnTo>
                <a:lnTo>
                  <a:pt x="242" y="18"/>
                </a:lnTo>
                <a:lnTo>
                  <a:pt x="242" y="14"/>
                </a:lnTo>
                <a:lnTo>
                  <a:pt x="240" y="11"/>
                </a:lnTo>
                <a:lnTo>
                  <a:pt x="240" y="8"/>
                </a:lnTo>
                <a:lnTo>
                  <a:pt x="240" y="4"/>
                </a:lnTo>
                <a:lnTo>
                  <a:pt x="239" y="3"/>
                </a:lnTo>
                <a:lnTo>
                  <a:pt x="239" y="0"/>
                </a:lnTo>
                <a:lnTo>
                  <a:pt x="235" y="0"/>
                </a:lnTo>
                <a:lnTo>
                  <a:pt x="235" y="3"/>
                </a:lnTo>
                <a:lnTo>
                  <a:pt x="237" y="4"/>
                </a:lnTo>
                <a:lnTo>
                  <a:pt x="237" y="8"/>
                </a:lnTo>
                <a:lnTo>
                  <a:pt x="237" y="11"/>
                </a:lnTo>
                <a:lnTo>
                  <a:pt x="239" y="14"/>
                </a:lnTo>
                <a:lnTo>
                  <a:pt x="239" y="18"/>
                </a:lnTo>
                <a:lnTo>
                  <a:pt x="239" y="21"/>
                </a:lnTo>
                <a:lnTo>
                  <a:pt x="239" y="24"/>
                </a:lnTo>
                <a:lnTo>
                  <a:pt x="239" y="28"/>
                </a:lnTo>
                <a:lnTo>
                  <a:pt x="239" y="31"/>
                </a:lnTo>
                <a:lnTo>
                  <a:pt x="239" y="34"/>
                </a:lnTo>
                <a:lnTo>
                  <a:pt x="237" y="38"/>
                </a:lnTo>
                <a:lnTo>
                  <a:pt x="237" y="41"/>
                </a:lnTo>
                <a:lnTo>
                  <a:pt x="237" y="44"/>
                </a:lnTo>
                <a:lnTo>
                  <a:pt x="237" y="48"/>
                </a:lnTo>
                <a:lnTo>
                  <a:pt x="235" y="51"/>
                </a:lnTo>
                <a:lnTo>
                  <a:pt x="239" y="51"/>
                </a:lnTo>
                <a:lnTo>
                  <a:pt x="240" y="48"/>
                </a:lnTo>
                <a:lnTo>
                  <a:pt x="240" y="44"/>
                </a:lnTo>
                <a:lnTo>
                  <a:pt x="240" y="41"/>
                </a:lnTo>
                <a:lnTo>
                  <a:pt x="240" y="38"/>
                </a:lnTo>
                <a:lnTo>
                  <a:pt x="242" y="34"/>
                </a:lnTo>
                <a:lnTo>
                  <a:pt x="242" y="31"/>
                </a:lnTo>
                <a:lnTo>
                  <a:pt x="242" y="28"/>
                </a:lnTo>
                <a:lnTo>
                  <a:pt x="242" y="24"/>
                </a:lnTo>
                <a:close/>
                <a:moveTo>
                  <a:pt x="4" y="0"/>
                </a:moveTo>
                <a:lnTo>
                  <a:pt x="4"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5" y="4"/>
                </a:lnTo>
                <a:lnTo>
                  <a:pt x="7" y="3"/>
                </a:lnTo>
                <a:lnTo>
                  <a:pt x="7" y="0"/>
                </a:lnTo>
                <a:lnTo>
                  <a:pt x="4"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80" name="Freeform 1785">
            <a:extLst>
              <a:ext uri="{FF2B5EF4-FFF2-40B4-BE49-F238E27FC236}">
                <a16:creationId xmlns:a16="http://schemas.microsoft.com/office/drawing/2014/main" id="{E696C506-1E65-7259-E1AE-39E27B515AFF}"/>
              </a:ext>
            </a:extLst>
          </p:cNvPr>
          <p:cNvSpPr>
            <a:spLocks noEditPoints="1"/>
          </p:cNvSpPr>
          <p:nvPr/>
        </p:nvSpPr>
        <p:spPr bwMode="auto">
          <a:xfrm>
            <a:off x="2368550" y="2719388"/>
            <a:ext cx="377825" cy="80963"/>
          </a:xfrm>
          <a:custGeom>
            <a:avLst/>
            <a:gdLst>
              <a:gd name="T0" fmla="*/ 238 w 238"/>
              <a:gd name="T1" fmla="*/ 21 h 51"/>
              <a:gd name="T2" fmla="*/ 238 w 238"/>
              <a:gd name="T3" fmla="*/ 14 h 51"/>
              <a:gd name="T4" fmla="*/ 237 w 238"/>
              <a:gd name="T5" fmla="*/ 8 h 51"/>
              <a:gd name="T6" fmla="*/ 235 w 238"/>
              <a:gd name="T7" fmla="*/ 3 h 51"/>
              <a:gd name="T8" fmla="*/ 232 w 238"/>
              <a:gd name="T9" fmla="*/ 0 h 51"/>
              <a:gd name="T10" fmla="*/ 233 w 238"/>
              <a:gd name="T11" fmla="*/ 4 h 51"/>
              <a:gd name="T12" fmla="*/ 233 w 238"/>
              <a:gd name="T13" fmla="*/ 11 h 51"/>
              <a:gd name="T14" fmla="*/ 235 w 238"/>
              <a:gd name="T15" fmla="*/ 18 h 51"/>
              <a:gd name="T16" fmla="*/ 235 w 238"/>
              <a:gd name="T17" fmla="*/ 24 h 51"/>
              <a:gd name="T18" fmla="*/ 235 w 238"/>
              <a:gd name="T19" fmla="*/ 31 h 51"/>
              <a:gd name="T20" fmla="*/ 233 w 238"/>
              <a:gd name="T21" fmla="*/ 38 h 51"/>
              <a:gd name="T22" fmla="*/ 233 w 238"/>
              <a:gd name="T23" fmla="*/ 44 h 51"/>
              <a:gd name="T24" fmla="*/ 232 w 238"/>
              <a:gd name="T25" fmla="*/ 51 h 51"/>
              <a:gd name="T26" fmla="*/ 237 w 238"/>
              <a:gd name="T27" fmla="*/ 48 h 51"/>
              <a:gd name="T28" fmla="*/ 237 w 238"/>
              <a:gd name="T29" fmla="*/ 41 h 51"/>
              <a:gd name="T30" fmla="*/ 238 w 238"/>
              <a:gd name="T31" fmla="*/ 34 h 51"/>
              <a:gd name="T32" fmla="*/ 238 w 238"/>
              <a:gd name="T33" fmla="*/ 28 h 51"/>
              <a:gd name="T34" fmla="*/ 3 w 238"/>
              <a:gd name="T35" fmla="*/ 0 h 51"/>
              <a:gd name="T36" fmla="*/ 2 w 238"/>
              <a:gd name="T37" fmla="*/ 4 h 51"/>
              <a:gd name="T38" fmla="*/ 2 w 238"/>
              <a:gd name="T39" fmla="*/ 11 h 51"/>
              <a:gd name="T40" fmla="*/ 0 w 238"/>
              <a:gd name="T41" fmla="*/ 18 h 51"/>
              <a:gd name="T42" fmla="*/ 0 w 238"/>
              <a:gd name="T43" fmla="*/ 24 h 51"/>
              <a:gd name="T44" fmla="*/ 0 w 238"/>
              <a:gd name="T45" fmla="*/ 31 h 51"/>
              <a:gd name="T46" fmla="*/ 2 w 238"/>
              <a:gd name="T47" fmla="*/ 38 h 51"/>
              <a:gd name="T48" fmla="*/ 2 w 238"/>
              <a:gd name="T49" fmla="*/ 44 h 51"/>
              <a:gd name="T50" fmla="*/ 3 w 238"/>
              <a:gd name="T51" fmla="*/ 51 h 51"/>
              <a:gd name="T52" fmla="*/ 7 w 238"/>
              <a:gd name="T53" fmla="*/ 48 h 51"/>
              <a:gd name="T54" fmla="*/ 5 w 238"/>
              <a:gd name="T55" fmla="*/ 41 h 51"/>
              <a:gd name="T56" fmla="*/ 5 w 238"/>
              <a:gd name="T57" fmla="*/ 34 h 51"/>
              <a:gd name="T58" fmla="*/ 3 w 238"/>
              <a:gd name="T59" fmla="*/ 28 h 51"/>
              <a:gd name="T60" fmla="*/ 3 w 238"/>
              <a:gd name="T61" fmla="*/ 21 h 51"/>
              <a:gd name="T62" fmla="*/ 5 w 238"/>
              <a:gd name="T63" fmla="*/ 14 h 51"/>
              <a:gd name="T64" fmla="*/ 5 w 238"/>
              <a:gd name="T65" fmla="*/ 8 h 51"/>
              <a:gd name="T66" fmla="*/ 7 w 238"/>
              <a:gd name="T67" fmla="*/ 3 h 51"/>
              <a:gd name="T68" fmla="*/ 3 w 23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8" h="51">
                <a:moveTo>
                  <a:pt x="238" y="24"/>
                </a:moveTo>
                <a:lnTo>
                  <a:pt x="238" y="21"/>
                </a:lnTo>
                <a:lnTo>
                  <a:pt x="238" y="18"/>
                </a:lnTo>
                <a:lnTo>
                  <a:pt x="238" y="14"/>
                </a:lnTo>
                <a:lnTo>
                  <a:pt x="237" y="11"/>
                </a:lnTo>
                <a:lnTo>
                  <a:pt x="237" y="8"/>
                </a:lnTo>
                <a:lnTo>
                  <a:pt x="237" y="4"/>
                </a:lnTo>
                <a:lnTo>
                  <a:pt x="235" y="3"/>
                </a:lnTo>
                <a:lnTo>
                  <a:pt x="235" y="0"/>
                </a:lnTo>
                <a:lnTo>
                  <a:pt x="232" y="0"/>
                </a:lnTo>
                <a:lnTo>
                  <a:pt x="232" y="3"/>
                </a:lnTo>
                <a:lnTo>
                  <a:pt x="233" y="4"/>
                </a:lnTo>
                <a:lnTo>
                  <a:pt x="233" y="8"/>
                </a:lnTo>
                <a:lnTo>
                  <a:pt x="233" y="11"/>
                </a:lnTo>
                <a:lnTo>
                  <a:pt x="235" y="14"/>
                </a:lnTo>
                <a:lnTo>
                  <a:pt x="235" y="18"/>
                </a:lnTo>
                <a:lnTo>
                  <a:pt x="235" y="21"/>
                </a:lnTo>
                <a:lnTo>
                  <a:pt x="235" y="24"/>
                </a:lnTo>
                <a:lnTo>
                  <a:pt x="235" y="28"/>
                </a:lnTo>
                <a:lnTo>
                  <a:pt x="235" y="31"/>
                </a:lnTo>
                <a:lnTo>
                  <a:pt x="235" y="34"/>
                </a:lnTo>
                <a:lnTo>
                  <a:pt x="233" y="38"/>
                </a:lnTo>
                <a:lnTo>
                  <a:pt x="233" y="41"/>
                </a:lnTo>
                <a:lnTo>
                  <a:pt x="233" y="44"/>
                </a:lnTo>
                <a:lnTo>
                  <a:pt x="233" y="48"/>
                </a:lnTo>
                <a:lnTo>
                  <a:pt x="232" y="51"/>
                </a:lnTo>
                <a:lnTo>
                  <a:pt x="235" y="51"/>
                </a:lnTo>
                <a:lnTo>
                  <a:pt x="237" y="48"/>
                </a:lnTo>
                <a:lnTo>
                  <a:pt x="237" y="44"/>
                </a:lnTo>
                <a:lnTo>
                  <a:pt x="237" y="41"/>
                </a:lnTo>
                <a:lnTo>
                  <a:pt x="237" y="38"/>
                </a:lnTo>
                <a:lnTo>
                  <a:pt x="238" y="34"/>
                </a:lnTo>
                <a:lnTo>
                  <a:pt x="238" y="31"/>
                </a:lnTo>
                <a:lnTo>
                  <a:pt x="238" y="28"/>
                </a:lnTo>
                <a:lnTo>
                  <a:pt x="238"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7" y="3"/>
                </a:lnTo>
                <a:lnTo>
                  <a:pt x="7" y="0"/>
                </a:lnTo>
                <a:lnTo>
                  <a:pt x="3"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81" name="Freeform 1786">
            <a:extLst>
              <a:ext uri="{FF2B5EF4-FFF2-40B4-BE49-F238E27FC236}">
                <a16:creationId xmlns:a16="http://schemas.microsoft.com/office/drawing/2014/main" id="{53EB6274-9B5B-67F3-09C4-A2E90CBA17C9}"/>
              </a:ext>
            </a:extLst>
          </p:cNvPr>
          <p:cNvSpPr>
            <a:spLocks noEditPoints="1"/>
          </p:cNvSpPr>
          <p:nvPr/>
        </p:nvSpPr>
        <p:spPr bwMode="auto">
          <a:xfrm>
            <a:off x="2371725" y="2719388"/>
            <a:ext cx="373063" cy="80963"/>
          </a:xfrm>
          <a:custGeom>
            <a:avLst/>
            <a:gdLst>
              <a:gd name="T0" fmla="*/ 235 w 235"/>
              <a:gd name="T1" fmla="*/ 21 h 51"/>
              <a:gd name="T2" fmla="*/ 235 w 235"/>
              <a:gd name="T3" fmla="*/ 14 h 51"/>
              <a:gd name="T4" fmla="*/ 233 w 235"/>
              <a:gd name="T5" fmla="*/ 8 h 51"/>
              <a:gd name="T6" fmla="*/ 231 w 235"/>
              <a:gd name="T7" fmla="*/ 3 h 51"/>
              <a:gd name="T8" fmla="*/ 228 w 235"/>
              <a:gd name="T9" fmla="*/ 0 h 51"/>
              <a:gd name="T10" fmla="*/ 230 w 235"/>
              <a:gd name="T11" fmla="*/ 4 h 51"/>
              <a:gd name="T12" fmla="*/ 230 w 235"/>
              <a:gd name="T13" fmla="*/ 11 h 51"/>
              <a:gd name="T14" fmla="*/ 231 w 235"/>
              <a:gd name="T15" fmla="*/ 18 h 51"/>
              <a:gd name="T16" fmla="*/ 231 w 235"/>
              <a:gd name="T17" fmla="*/ 24 h 51"/>
              <a:gd name="T18" fmla="*/ 231 w 235"/>
              <a:gd name="T19" fmla="*/ 31 h 51"/>
              <a:gd name="T20" fmla="*/ 230 w 235"/>
              <a:gd name="T21" fmla="*/ 38 h 51"/>
              <a:gd name="T22" fmla="*/ 230 w 235"/>
              <a:gd name="T23" fmla="*/ 44 h 51"/>
              <a:gd name="T24" fmla="*/ 228 w 235"/>
              <a:gd name="T25" fmla="*/ 51 h 51"/>
              <a:gd name="T26" fmla="*/ 233 w 235"/>
              <a:gd name="T27" fmla="*/ 48 h 51"/>
              <a:gd name="T28" fmla="*/ 233 w 235"/>
              <a:gd name="T29" fmla="*/ 41 h 51"/>
              <a:gd name="T30" fmla="*/ 235 w 235"/>
              <a:gd name="T31" fmla="*/ 34 h 51"/>
              <a:gd name="T32" fmla="*/ 235 w 235"/>
              <a:gd name="T33" fmla="*/ 28 h 51"/>
              <a:gd name="T34" fmla="*/ 3 w 235"/>
              <a:gd name="T35" fmla="*/ 0 h 51"/>
              <a:gd name="T36" fmla="*/ 1 w 235"/>
              <a:gd name="T37" fmla="*/ 4 h 51"/>
              <a:gd name="T38" fmla="*/ 1 w 235"/>
              <a:gd name="T39" fmla="*/ 11 h 51"/>
              <a:gd name="T40" fmla="*/ 0 w 235"/>
              <a:gd name="T41" fmla="*/ 18 h 51"/>
              <a:gd name="T42" fmla="*/ 0 w 235"/>
              <a:gd name="T43" fmla="*/ 24 h 51"/>
              <a:gd name="T44" fmla="*/ 0 w 235"/>
              <a:gd name="T45" fmla="*/ 31 h 51"/>
              <a:gd name="T46" fmla="*/ 1 w 235"/>
              <a:gd name="T47" fmla="*/ 38 h 51"/>
              <a:gd name="T48" fmla="*/ 1 w 235"/>
              <a:gd name="T49" fmla="*/ 44 h 51"/>
              <a:gd name="T50" fmla="*/ 3 w 235"/>
              <a:gd name="T51" fmla="*/ 51 h 51"/>
              <a:gd name="T52" fmla="*/ 6 w 235"/>
              <a:gd name="T53" fmla="*/ 48 h 51"/>
              <a:gd name="T54" fmla="*/ 5 w 235"/>
              <a:gd name="T55" fmla="*/ 41 h 51"/>
              <a:gd name="T56" fmla="*/ 5 w 235"/>
              <a:gd name="T57" fmla="*/ 34 h 51"/>
              <a:gd name="T58" fmla="*/ 3 w 235"/>
              <a:gd name="T59" fmla="*/ 28 h 51"/>
              <a:gd name="T60" fmla="*/ 3 w 235"/>
              <a:gd name="T61" fmla="*/ 21 h 51"/>
              <a:gd name="T62" fmla="*/ 5 w 235"/>
              <a:gd name="T63" fmla="*/ 14 h 51"/>
              <a:gd name="T64" fmla="*/ 5 w 235"/>
              <a:gd name="T65" fmla="*/ 8 h 51"/>
              <a:gd name="T66" fmla="*/ 6 w 235"/>
              <a:gd name="T67" fmla="*/ 3 h 51"/>
              <a:gd name="T68" fmla="*/ 3 w 23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5" h="51">
                <a:moveTo>
                  <a:pt x="235" y="24"/>
                </a:moveTo>
                <a:lnTo>
                  <a:pt x="235" y="21"/>
                </a:lnTo>
                <a:lnTo>
                  <a:pt x="235" y="18"/>
                </a:lnTo>
                <a:lnTo>
                  <a:pt x="235" y="14"/>
                </a:lnTo>
                <a:lnTo>
                  <a:pt x="233" y="11"/>
                </a:lnTo>
                <a:lnTo>
                  <a:pt x="233" y="8"/>
                </a:lnTo>
                <a:lnTo>
                  <a:pt x="233" y="4"/>
                </a:lnTo>
                <a:lnTo>
                  <a:pt x="231" y="3"/>
                </a:lnTo>
                <a:lnTo>
                  <a:pt x="231" y="0"/>
                </a:lnTo>
                <a:lnTo>
                  <a:pt x="228" y="0"/>
                </a:lnTo>
                <a:lnTo>
                  <a:pt x="228" y="3"/>
                </a:lnTo>
                <a:lnTo>
                  <a:pt x="230" y="4"/>
                </a:lnTo>
                <a:lnTo>
                  <a:pt x="230" y="8"/>
                </a:lnTo>
                <a:lnTo>
                  <a:pt x="230" y="11"/>
                </a:lnTo>
                <a:lnTo>
                  <a:pt x="231" y="14"/>
                </a:lnTo>
                <a:lnTo>
                  <a:pt x="231" y="18"/>
                </a:lnTo>
                <a:lnTo>
                  <a:pt x="231" y="21"/>
                </a:lnTo>
                <a:lnTo>
                  <a:pt x="231" y="24"/>
                </a:lnTo>
                <a:lnTo>
                  <a:pt x="231" y="28"/>
                </a:lnTo>
                <a:lnTo>
                  <a:pt x="231" y="31"/>
                </a:lnTo>
                <a:lnTo>
                  <a:pt x="231" y="34"/>
                </a:lnTo>
                <a:lnTo>
                  <a:pt x="230" y="38"/>
                </a:lnTo>
                <a:lnTo>
                  <a:pt x="230" y="41"/>
                </a:lnTo>
                <a:lnTo>
                  <a:pt x="230" y="44"/>
                </a:lnTo>
                <a:lnTo>
                  <a:pt x="230" y="48"/>
                </a:lnTo>
                <a:lnTo>
                  <a:pt x="228" y="51"/>
                </a:lnTo>
                <a:lnTo>
                  <a:pt x="231" y="51"/>
                </a:lnTo>
                <a:lnTo>
                  <a:pt x="233" y="48"/>
                </a:lnTo>
                <a:lnTo>
                  <a:pt x="233" y="44"/>
                </a:lnTo>
                <a:lnTo>
                  <a:pt x="233" y="41"/>
                </a:lnTo>
                <a:lnTo>
                  <a:pt x="233" y="38"/>
                </a:lnTo>
                <a:lnTo>
                  <a:pt x="235" y="34"/>
                </a:lnTo>
                <a:lnTo>
                  <a:pt x="235" y="31"/>
                </a:lnTo>
                <a:lnTo>
                  <a:pt x="235" y="28"/>
                </a:lnTo>
                <a:lnTo>
                  <a:pt x="235" y="24"/>
                </a:lnTo>
                <a:close/>
                <a:moveTo>
                  <a:pt x="3" y="0"/>
                </a:moveTo>
                <a:lnTo>
                  <a:pt x="3" y="3"/>
                </a:lnTo>
                <a:lnTo>
                  <a:pt x="1"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82" name="Freeform 1787">
            <a:extLst>
              <a:ext uri="{FF2B5EF4-FFF2-40B4-BE49-F238E27FC236}">
                <a16:creationId xmlns:a16="http://schemas.microsoft.com/office/drawing/2014/main" id="{F8FF3D91-B870-9F34-721C-E841D184556F}"/>
              </a:ext>
            </a:extLst>
          </p:cNvPr>
          <p:cNvSpPr>
            <a:spLocks noEditPoints="1"/>
          </p:cNvSpPr>
          <p:nvPr/>
        </p:nvSpPr>
        <p:spPr bwMode="auto">
          <a:xfrm>
            <a:off x="2373313" y="2719388"/>
            <a:ext cx="368300" cy="80963"/>
          </a:xfrm>
          <a:custGeom>
            <a:avLst/>
            <a:gdLst>
              <a:gd name="T0" fmla="*/ 232 w 232"/>
              <a:gd name="T1" fmla="*/ 21 h 51"/>
              <a:gd name="T2" fmla="*/ 232 w 232"/>
              <a:gd name="T3" fmla="*/ 14 h 51"/>
              <a:gd name="T4" fmla="*/ 230 w 232"/>
              <a:gd name="T5" fmla="*/ 8 h 51"/>
              <a:gd name="T6" fmla="*/ 229 w 232"/>
              <a:gd name="T7" fmla="*/ 3 h 51"/>
              <a:gd name="T8" fmla="*/ 225 w 232"/>
              <a:gd name="T9" fmla="*/ 0 h 51"/>
              <a:gd name="T10" fmla="*/ 227 w 232"/>
              <a:gd name="T11" fmla="*/ 4 h 51"/>
              <a:gd name="T12" fmla="*/ 227 w 232"/>
              <a:gd name="T13" fmla="*/ 11 h 51"/>
              <a:gd name="T14" fmla="*/ 229 w 232"/>
              <a:gd name="T15" fmla="*/ 18 h 51"/>
              <a:gd name="T16" fmla="*/ 229 w 232"/>
              <a:gd name="T17" fmla="*/ 24 h 51"/>
              <a:gd name="T18" fmla="*/ 229 w 232"/>
              <a:gd name="T19" fmla="*/ 31 h 51"/>
              <a:gd name="T20" fmla="*/ 227 w 232"/>
              <a:gd name="T21" fmla="*/ 38 h 51"/>
              <a:gd name="T22" fmla="*/ 227 w 232"/>
              <a:gd name="T23" fmla="*/ 44 h 51"/>
              <a:gd name="T24" fmla="*/ 225 w 232"/>
              <a:gd name="T25" fmla="*/ 51 h 51"/>
              <a:gd name="T26" fmla="*/ 230 w 232"/>
              <a:gd name="T27" fmla="*/ 48 h 51"/>
              <a:gd name="T28" fmla="*/ 230 w 232"/>
              <a:gd name="T29" fmla="*/ 41 h 51"/>
              <a:gd name="T30" fmla="*/ 232 w 232"/>
              <a:gd name="T31" fmla="*/ 34 h 51"/>
              <a:gd name="T32" fmla="*/ 232 w 232"/>
              <a:gd name="T33" fmla="*/ 28 h 51"/>
              <a:gd name="T34" fmla="*/ 4 w 232"/>
              <a:gd name="T35" fmla="*/ 0 h 51"/>
              <a:gd name="T36" fmla="*/ 2 w 232"/>
              <a:gd name="T37" fmla="*/ 4 h 51"/>
              <a:gd name="T38" fmla="*/ 2 w 232"/>
              <a:gd name="T39" fmla="*/ 11 h 51"/>
              <a:gd name="T40" fmla="*/ 0 w 232"/>
              <a:gd name="T41" fmla="*/ 18 h 51"/>
              <a:gd name="T42" fmla="*/ 0 w 232"/>
              <a:gd name="T43" fmla="*/ 24 h 51"/>
              <a:gd name="T44" fmla="*/ 0 w 232"/>
              <a:gd name="T45" fmla="*/ 31 h 51"/>
              <a:gd name="T46" fmla="*/ 2 w 232"/>
              <a:gd name="T47" fmla="*/ 38 h 51"/>
              <a:gd name="T48" fmla="*/ 2 w 232"/>
              <a:gd name="T49" fmla="*/ 44 h 51"/>
              <a:gd name="T50" fmla="*/ 4 w 232"/>
              <a:gd name="T51" fmla="*/ 51 h 51"/>
              <a:gd name="T52" fmla="*/ 7 w 232"/>
              <a:gd name="T53" fmla="*/ 48 h 51"/>
              <a:gd name="T54" fmla="*/ 5 w 232"/>
              <a:gd name="T55" fmla="*/ 41 h 51"/>
              <a:gd name="T56" fmla="*/ 5 w 232"/>
              <a:gd name="T57" fmla="*/ 34 h 51"/>
              <a:gd name="T58" fmla="*/ 4 w 232"/>
              <a:gd name="T59" fmla="*/ 28 h 51"/>
              <a:gd name="T60" fmla="*/ 4 w 232"/>
              <a:gd name="T61" fmla="*/ 21 h 51"/>
              <a:gd name="T62" fmla="*/ 5 w 232"/>
              <a:gd name="T63" fmla="*/ 14 h 51"/>
              <a:gd name="T64" fmla="*/ 5 w 232"/>
              <a:gd name="T65" fmla="*/ 8 h 51"/>
              <a:gd name="T66" fmla="*/ 7 w 232"/>
              <a:gd name="T67" fmla="*/ 3 h 51"/>
              <a:gd name="T68" fmla="*/ 4 w 2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2" h="51">
                <a:moveTo>
                  <a:pt x="232" y="24"/>
                </a:moveTo>
                <a:lnTo>
                  <a:pt x="232" y="21"/>
                </a:lnTo>
                <a:lnTo>
                  <a:pt x="232" y="18"/>
                </a:lnTo>
                <a:lnTo>
                  <a:pt x="232" y="14"/>
                </a:lnTo>
                <a:lnTo>
                  <a:pt x="230" y="11"/>
                </a:lnTo>
                <a:lnTo>
                  <a:pt x="230" y="8"/>
                </a:lnTo>
                <a:lnTo>
                  <a:pt x="230" y="4"/>
                </a:lnTo>
                <a:lnTo>
                  <a:pt x="229" y="3"/>
                </a:lnTo>
                <a:lnTo>
                  <a:pt x="229" y="0"/>
                </a:lnTo>
                <a:lnTo>
                  <a:pt x="225" y="0"/>
                </a:lnTo>
                <a:lnTo>
                  <a:pt x="225" y="3"/>
                </a:lnTo>
                <a:lnTo>
                  <a:pt x="227" y="4"/>
                </a:lnTo>
                <a:lnTo>
                  <a:pt x="227" y="8"/>
                </a:lnTo>
                <a:lnTo>
                  <a:pt x="227" y="11"/>
                </a:lnTo>
                <a:lnTo>
                  <a:pt x="229" y="14"/>
                </a:lnTo>
                <a:lnTo>
                  <a:pt x="229" y="18"/>
                </a:lnTo>
                <a:lnTo>
                  <a:pt x="229" y="21"/>
                </a:lnTo>
                <a:lnTo>
                  <a:pt x="229" y="24"/>
                </a:lnTo>
                <a:lnTo>
                  <a:pt x="229" y="28"/>
                </a:lnTo>
                <a:lnTo>
                  <a:pt x="229" y="31"/>
                </a:lnTo>
                <a:lnTo>
                  <a:pt x="229" y="34"/>
                </a:lnTo>
                <a:lnTo>
                  <a:pt x="227" y="38"/>
                </a:lnTo>
                <a:lnTo>
                  <a:pt x="227" y="41"/>
                </a:lnTo>
                <a:lnTo>
                  <a:pt x="227" y="44"/>
                </a:lnTo>
                <a:lnTo>
                  <a:pt x="225" y="48"/>
                </a:lnTo>
                <a:lnTo>
                  <a:pt x="225" y="51"/>
                </a:lnTo>
                <a:lnTo>
                  <a:pt x="229" y="51"/>
                </a:lnTo>
                <a:lnTo>
                  <a:pt x="230" y="48"/>
                </a:lnTo>
                <a:lnTo>
                  <a:pt x="230" y="44"/>
                </a:lnTo>
                <a:lnTo>
                  <a:pt x="230" y="41"/>
                </a:lnTo>
                <a:lnTo>
                  <a:pt x="230" y="38"/>
                </a:lnTo>
                <a:lnTo>
                  <a:pt x="232" y="34"/>
                </a:lnTo>
                <a:lnTo>
                  <a:pt x="232" y="31"/>
                </a:lnTo>
                <a:lnTo>
                  <a:pt x="232" y="28"/>
                </a:lnTo>
                <a:lnTo>
                  <a:pt x="232" y="24"/>
                </a:lnTo>
                <a:close/>
                <a:moveTo>
                  <a:pt x="4" y="0"/>
                </a:moveTo>
                <a:lnTo>
                  <a:pt x="4"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5" y="4"/>
                </a:lnTo>
                <a:lnTo>
                  <a:pt x="7" y="3"/>
                </a:lnTo>
                <a:lnTo>
                  <a:pt x="7" y="0"/>
                </a:lnTo>
                <a:lnTo>
                  <a:pt x="4"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83" name="Freeform 1788">
            <a:extLst>
              <a:ext uri="{FF2B5EF4-FFF2-40B4-BE49-F238E27FC236}">
                <a16:creationId xmlns:a16="http://schemas.microsoft.com/office/drawing/2014/main" id="{6C6AE88D-0458-79F3-6674-46E0CF6B5BDB}"/>
              </a:ext>
            </a:extLst>
          </p:cNvPr>
          <p:cNvSpPr>
            <a:spLocks noEditPoints="1"/>
          </p:cNvSpPr>
          <p:nvPr/>
        </p:nvSpPr>
        <p:spPr bwMode="auto">
          <a:xfrm>
            <a:off x="2376488" y="2719388"/>
            <a:ext cx="361950" cy="80963"/>
          </a:xfrm>
          <a:custGeom>
            <a:avLst/>
            <a:gdLst>
              <a:gd name="T0" fmla="*/ 228 w 228"/>
              <a:gd name="T1" fmla="*/ 21 h 51"/>
              <a:gd name="T2" fmla="*/ 228 w 228"/>
              <a:gd name="T3" fmla="*/ 14 h 51"/>
              <a:gd name="T4" fmla="*/ 227 w 228"/>
              <a:gd name="T5" fmla="*/ 8 h 51"/>
              <a:gd name="T6" fmla="*/ 225 w 228"/>
              <a:gd name="T7" fmla="*/ 3 h 51"/>
              <a:gd name="T8" fmla="*/ 222 w 228"/>
              <a:gd name="T9" fmla="*/ 0 h 51"/>
              <a:gd name="T10" fmla="*/ 223 w 228"/>
              <a:gd name="T11" fmla="*/ 4 h 51"/>
              <a:gd name="T12" fmla="*/ 223 w 228"/>
              <a:gd name="T13" fmla="*/ 11 h 51"/>
              <a:gd name="T14" fmla="*/ 225 w 228"/>
              <a:gd name="T15" fmla="*/ 18 h 51"/>
              <a:gd name="T16" fmla="*/ 225 w 228"/>
              <a:gd name="T17" fmla="*/ 24 h 51"/>
              <a:gd name="T18" fmla="*/ 225 w 228"/>
              <a:gd name="T19" fmla="*/ 31 h 51"/>
              <a:gd name="T20" fmla="*/ 223 w 228"/>
              <a:gd name="T21" fmla="*/ 38 h 51"/>
              <a:gd name="T22" fmla="*/ 223 w 228"/>
              <a:gd name="T23" fmla="*/ 44 h 51"/>
              <a:gd name="T24" fmla="*/ 222 w 228"/>
              <a:gd name="T25" fmla="*/ 51 h 51"/>
              <a:gd name="T26" fmla="*/ 227 w 228"/>
              <a:gd name="T27" fmla="*/ 48 h 51"/>
              <a:gd name="T28" fmla="*/ 227 w 228"/>
              <a:gd name="T29" fmla="*/ 41 h 51"/>
              <a:gd name="T30" fmla="*/ 228 w 228"/>
              <a:gd name="T31" fmla="*/ 34 h 51"/>
              <a:gd name="T32" fmla="*/ 228 w 228"/>
              <a:gd name="T33" fmla="*/ 28 h 51"/>
              <a:gd name="T34" fmla="*/ 3 w 228"/>
              <a:gd name="T35" fmla="*/ 0 h 51"/>
              <a:gd name="T36" fmla="*/ 2 w 228"/>
              <a:gd name="T37" fmla="*/ 4 h 51"/>
              <a:gd name="T38" fmla="*/ 2 w 228"/>
              <a:gd name="T39" fmla="*/ 11 h 51"/>
              <a:gd name="T40" fmla="*/ 0 w 228"/>
              <a:gd name="T41" fmla="*/ 18 h 51"/>
              <a:gd name="T42" fmla="*/ 0 w 228"/>
              <a:gd name="T43" fmla="*/ 24 h 51"/>
              <a:gd name="T44" fmla="*/ 0 w 228"/>
              <a:gd name="T45" fmla="*/ 31 h 51"/>
              <a:gd name="T46" fmla="*/ 2 w 228"/>
              <a:gd name="T47" fmla="*/ 38 h 51"/>
              <a:gd name="T48" fmla="*/ 2 w 228"/>
              <a:gd name="T49" fmla="*/ 44 h 51"/>
              <a:gd name="T50" fmla="*/ 3 w 228"/>
              <a:gd name="T51" fmla="*/ 51 h 51"/>
              <a:gd name="T52" fmla="*/ 7 w 228"/>
              <a:gd name="T53" fmla="*/ 48 h 51"/>
              <a:gd name="T54" fmla="*/ 5 w 228"/>
              <a:gd name="T55" fmla="*/ 41 h 51"/>
              <a:gd name="T56" fmla="*/ 5 w 228"/>
              <a:gd name="T57" fmla="*/ 34 h 51"/>
              <a:gd name="T58" fmla="*/ 3 w 228"/>
              <a:gd name="T59" fmla="*/ 28 h 51"/>
              <a:gd name="T60" fmla="*/ 3 w 228"/>
              <a:gd name="T61" fmla="*/ 21 h 51"/>
              <a:gd name="T62" fmla="*/ 5 w 228"/>
              <a:gd name="T63" fmla="*/ 14 h 51"/>
              <a:gd name="T64" fmla="*/ 5 w 228"/>
              <a:gd name="T65" fmla="*/ 8 h 51"/>
              <a:gd name="T66" fmla="*/ 7 w 228"/>
              <a:gd name="T67" fmla="*/ 3 h 51"/>
              <a:gd name="T68" fmla="*/ 3 w 22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8" h="51">
                <a:moveTo>
                  <a:pt x="228" y="24"/>
                </a:moveTo>
                <a:lnTo>
                  <a:pt x="228" y="21"/>
                </a:lnTo>
                <a:lnTo>
                  <a:pt x="228" y="18"/>
                </a:lnTo>
                <a:lnTo>
                  <a:pt x="228" y="14"/>
                </a:lnTo>
                <a:lnTo>
                  <a:pt x="227" y="11"/>
                </a:lnTo>
                <a:lnTo>
                  <a:pt x="227" y="8"/>
                </a:lnTo>
                <a:lnTo>
                  <a:pt x="227" y="4"/>
                </a:lnTo>
                <a:lnTo>
                  <a:pt x="225" y="3"/>
                </a:lnTo>
                <a:lnTo>
                  <a:pt x="225" y="0"/>
                </a:lnTo>
                <a:lnTo>
                  <a:pt x="222" y="0"/>
                </a:lnTo>
                <a:lnTo>
                  <a:pt x="222" y="3"/>
                </a:lnTo>
                <a:lnTo>
                  <a:pt x="223" y="4"/>
                </a:lnTo>
                <a:lnTo>
                  <a:pt x="223" y="8"/>
                </a:lnTo>
                <a:lnTo>
                  <a:pt x="223" y="11"/>
                </a:lnTo>
                <a:lnTo>
                  <a:pt x="225" y="14"/>
                </a:lnTo>
                <a:lnTo>
                  <a:pt x="225" y="18"/>
                </a:lnTo>
                <a:lnTo>
                  <a:pt x="225" y="21"/>
                </a:lnTo>
                <a:lnTo>
                  <a:pt x="225" y="24"/>
                </a:lnTo>
                <a:lnTo>
                  <a:pt x="225" y="28"/>
                </a:lnTo>
                <a:lnTo>
                  <a:pt x="225" y="31"/>
                </a:lnTo>
                <a:lnTo>
                  <a:pt x="225" y="34"/>
                </a:lnTo>
                <a:lnTo>
                  <a:pt x="223" y="38"/>
                </a:lnTo>
                <a:lnTo>
                  <a:pt x="223" y="41"/>
                </a:lnTo>
                <a:lnTo>
                  <a:pt x="223" y="44"/>
                </a:lnTo>
                <a:lnTo>
                  <a:pt x="222" y="48"/>
                </a:lnTo>
                <a:lnTo>
                  <a:pt x="222" y="51"/>
                </a:lnTo>
                <a:lnTo>
                  <a:pt x="225" y="51"/>
                </a:lnTo>
                <a:lnTo>
                  <a:pt x="227" y="48"/>
                </a:lnTo>
                <a:lnTo>
                  <a:pt x="227" y="44"/>
                </a:lnTo>
                <a:lnTo>
                  <a:pt x="227" y="41"/>
                </a:lnTo>
                <a:lnTo>
                  <a:pt x="227" y="38"/>
                </a:lnTo>
                <a:lnTo>
                  <a:pt x="228" y="34"/>
                </a:lnTo>
                <a:lnTo>
                  <a:pt x="228" y="31"/>
                </a:lnTo>
                <a:lnTo>
                  <a:pt x="228" y="28"/>
                </a:lnTo>
                <a:lnTo>
                  <a:pt x="228"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7" y="3"/>
                </a:lnTo>
                <a:lnTo>
                  <a:pt x="7" y="0"/>
                </a:lnTo>
                <a:lnTo>
                  <a:pt x="3"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84" name="Freeform 1789">
            <a:extLst>
              <a:ext uri="{FF2B5EF4-FFF2-40B4-BE49-F238E27FC236}">
                <a16:creationId xmlns:a16="http://schemas.microsoft.com/office/drawing/2014/main" id="{0855AAB2-49B5-6F3E-97D7-9E0B6D77D7E3}"/>
              </a:ext>
            </a:extLst>
          </p:cNvPr>
          <p:cNvSpPr>
            <a:spLocks noEditPoints="1"/>
          </p:cNvSpPr>
          <p:nvPr/>
        </p:nvSpPr>
        <p:spPr bwMode="auto">
          <a:xfrm>
            <a:off x="2379663" y="2719388"/>
            <a:ext cx="357188" cy="80963"/>
          </a:xfrm>
          <a:custGeom>
            <a:avLst/>
            <a:gdLst>
              <a:gd name="T0" fmla="*/ 225 w 225"/>
              <a:gd name="T1" fmla="*/ 21 h 51"/>
              <a:gd name="T2" fmla="*/ 225 w 225"/>
              <a:gd name="T3" fmla="*/ 14 h 51"/>
              <a:gd name="T4" fmla="*/ 223 w 225"/>
              <a:gd name="T5" fmla="*/ 8 h 51"/>
              <a:gd name="T6" fmla="*/ 221 w 225"/>
              <a:gd name="T7" fmla="*/ 3 h 51"/>
              <a:gd name="T8" fmla="*/ 218 w 225"/>
              <a:gd name="T9" fmla="*/ 0 h 51"/>
              <a:gd name="T10" fmla="*/ 220 w 225"/>
              <a:gd name="T11" fmla="*/ 4 h 51"/>
              <a:gd name="T12" fmla="*/ 220 w 225"/>
              <a:gd name="T13" fmla="*/ 11 h 51"/>
              <a:gd name="T14" fmla="*/ 221 w 225"/>
              <a:gd name="T15" fmla="*/ 18 h 51"/>
              <a:gd name="T16" fmla="*/ 221 w 225"/>
              <a:gd name="T17" fmla="*/ 24 h 51"/>
              <a:gd name="T18" fmla="*/ 221 w 225"/>
              <a:gd name="T19" fmla="*/ 31 h 51"/>
              <a:gd name="T20" fmla="*/ 220 w 225"/>
              <a:gd name="T21" fmla="*/ 38 h 51"/>
              <a:gd name="T22" fmla="*/ 220 w 225"/>
              <a:gd name="T23" fmla="*/ 44 h 51"/>
              <a:gd name="T24" fmla="*/ 218 w 225"/>
              <a:gd name="T25" fmla="*/ 51 h 51"/>
              <a:gd name="T26" fmla="*/ 221 w 225"/>
              <a:gd name="T27" fmla="*/ 48 h 51"/>
              <a:gd name="T28" fmla="*/ 223 w 225"/>
              <a:gd name="T29" fmla="*/ 41 h 51"/>
              <a:gd name="T30" fmla="*/ 225 w 225"/>
              <a:gd name="T31" fmla="*/ 34 h 51"/>
              <a:gd name="T32" fmla="*/ 225 w 225"/>
              <a:gd name="T33" fmla="*/ 28 h 51"/>
              <a:gd name="T34" fmla="*/ 3 w 225"/>
              <a:gd name="T35" fmla="*/ 0 h 51"/>
              <a:gd name="T36" fmla="*/ 1 w 225"/>
              <a:gd name="T37" fmla="*/ 4 h 51"/>
              <a:gd name="T38" fmla="*/ 1 w 225"/>
              <a:gd name="T39" fmla="*/ 11 h 51"/>
              <a:gd name="T40" fmla="*/ 0 w 225"/>
              <a:gd name="T41" fmla="*/ 18 h 51"/>
              <a:gd name="T42" fmla="*/ 0 w 225"/>
              <a:gd name="T43" fmla="*/ 24 h 51"/>
              <a:gd name="T44" fmla="*/ 0 w 225"/>
              <a:gd name="T45" fmla="*/ 31 h 51"/>
              <a:gd name="T46" fmla="*/ 1 w 225"/>
              <a:gd name="T47" fmla="*/ 38 h 51"/>
              <a:gd name="T48" fmla="*/ 1 w 225"/>
              <a:gd name="T49" fmla="*/ 44 h 51"/>
              <a:gd name="T50" fmla="*/ 3 w 225"/>
              <a:gd name="T51" fmla="*/ 51 h 51"/>
              <a:gd name="T52" fmla="*/ 6 w 225"/>
              <a:gd name="T53" fmla="*/ 48 h 51"/>
              <a:gd name="T54" fmla="*/ 5 w 225"/>
              <a:gd name="T55" fmla="*/ 41 h 51"/>
              <a:gd name="T56" fmla="*/ 5 w 225"/>
              <a:gd name="T57" fmla="*/ 34 h 51"/>
              <a:gd name="T58" fmla="*/ 3 w 225"/>
              <a:gd name="T59" fmla="*/ 28 h 51"/>
              <a:gd name="T60" fmla="*/ 3 w 225"/>
              <a:gd name="T61" fmla="*/ 21 h 51"/>
              <a:gd name="T62" fmla="*/ 5 w 225"/>
              <a:gd name="T63" fmla="*/ 14 h 51"/>
              <a:gd name="T64" fmla="*/ 5 w 225"/>
              <a:gd name="T65" fmla="*/ 8 h 51"/>
              <a:gd name="T66" fmla="*/ 6 w 225"/>
              <a:gd name="T67" fmla="*/ 3 h 51"/>
              <a:gd name="T68" fmla="*/ 3 w 22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5" h="51">
                <a:moveTo>
                  <a:pt x="225" y="24"/>
                </a:moveTo>
                <a:lnTo>
                  <a:pt x="225" y="21"/>
                </a:lnTo>
                <a:lnTo>
                  <a:pt x="225" y="18"/>
                </a:lnTo>
                <a:lnTo>
                  <a:pt x="225" y="14"/>
                </a:lnTo>
                <a:lnTo>
                  <a:pt x="223" y="11"/>
                </a:lnTo>
                <a:lnTo>
                  <a:pt x="223" y="8"/>
                </a:lnTo>
                <a:lnTo>
                  <a:pt x="223" y="4"/>
                </a:lnTo>
                <a:lnTo>
                  <a:pt x="221" y="3"/>
                </a:lnTo>
                <a:lnTo>
                  <a:pt x="221" y="0"/>
                </a:lnTo>
                <a:lnTo>
                  <a:pt x="218" y="0"/>
                </a:lnTo>
                <a:lnTo>
                  <a:pt x="218" y="3"/>
                </a:lnTo>
                <a:lnTo>
                  <a:pt x="220" y="4"/>
                </a:lnTo>
                <a:lnTo>
                  <a:pt x="220" y="8"/>
                </a:lnTo>
                <a:lnTo>
                  <a:pt x="220" y="11"/>
                </a:lnTo>
                <a:lnTo>
                  <a:pt x="221" y="14"/>
                </a:lnTo>
                <a:lnTo>
                  <a:pt x="221" y="18"/>
                </a:lnTo>
                <a:lnTo>
                  <a:pt x="221" y="21"/>
                </a:lnTo>
                <a:lnTo>
                  <a:pt x="221" y="24"/>
                </a:lnTo>
                <a:lnTo>
                  <a:pt x="221" y="28"/>
                </a:lnTo>
                <a:lnTo>
                  <a:pt x="221" y="31"/>
                </a:lnTo>
                <a:lnTo>
                  <a:pt x="221" y="34"/>
                </a:lnTo>
                <a:lnTo>
                  <a:pt x="220" y="38"/>
                </a:lnTo>
                <a:lnTo>
                  <a:pt x="220" y="41"/>
                </a:lnTo>
                <a:lnTo>
                  <a:pt x="220" y="44"/>
                </a:lnTo>
                <a:lnTo>
                  <a:pt x="218" y="48"/>
                </a:lnTo>
                <a:lnTo>
                  <a:pt x="218" y="51"/>
                </a:lnTo>
                <a:lnTo>
                  <a:pt x="221" y="51"/>
                </a:lnTo>
                <a:lnTo>
                  <a:pt x="221" y="48"/>
                </a:lnTo>
                <a:lnTo>
                  <a:pt x="223" y="44"/>
                </a:lnTo>
                <a:lnTo>
                  <a:pt x="223" y="41"/>
                </a:lnTo>
                <a:lnTo>
                  <a:pt x="223" y="38"/>
                </a:lnTo>
                <a:lnTo>
                  <a:pt x="225" y="34"/>
                </a:lnTo>
                <a:lnTo>
                  <a:pt x="225" y="31"/>
                </a:lnTo>
                <a:lnTo>
                  <a:pt x="225" y="28"/>
                </a:lnTo>
                <a:lnTo>
                  <a:pt x="225" y="24"/>
                </a:lnTo>
                <a:close/>
                <a:moveTo>
                  <a:pt x="3" y="0"/>
                </a:moveTo>
                <a:lnTo>
                  <a:pt x="3" y="3"/>
                </a:lnTo>
                <a:lnTo>
                  <a:pt x="1"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85" name="Freeform 1790">
            <a:extLst>
              <a:ext uri="{FF2B5EF4-FFF2-40B4-BE49-F238E27FC236}">
                <a16:creationId xmlns:a16="http://schemas.microsoft.com/office/drawing/2014/main" id="{AE60746C-7B0E-229C-B134-4F961CDDB6A2}"/>
              </a:ext>
            </a:extLst>
          </p:cNvPr>
          <p:cNvSpPr>
            <a:spLocks noEditPoints="1"/>
          </p:cNvSpPr>
          <p:nvPr/>
        </p:nvSpPr>
        <p:spPr bwMode="auto">
          <a:xfrm>
            <a:off x="2381250" y="2719388"/>
            <a:ext cx="352425" cy="80963"/>
          </a:xfrm>
          <a:custGeom>
            <a:avLst/>
            <a:gdLst>
              <a:gd name="T0" fmla="*/ 222 w 222"/>
              <a:gd name="T1" fmla="*/ 21 h 51"/>
              <a:gd name="T2" fmla="*/ 222 w 222"/>
              <a:gd name="T3" fmla="*/ 14 h 51"/>
              <a:gd name="T4" fmla="*/ 220 w 222"/>
              <a:gd name="T5" fmla="*/ 8 h 51"/>
              <a:gd name="T6" fmla="*/ 219 w 222"/>
              <a:gd name="T7" fmla="*/ 3 h 51"/>
              <a:gd name="T8" fmla="*/ 216 w 222"/>
              <a:gd name="T9" fmla="*/ 0 h 51"/>
              <a:gd name="T10" fmla="*/ 217 w 222"/>
              <a:gd name="T11" fmla="*/ 4 h 51"/>
              <a:gd name="T12" fmla="*/ 217 w 222"/>
              <a:gd name="T13" fmla="*/ 11 h 51"/>
              <a:gd name="T14" fmla="*/ 219 w 222"/>
              <a:gd name="T15" fmla="*/ 18 h 51"/>
              <a:gd name="T16" fmla="*/ 219 w 222"/>
              <a:gd name="T17" fmla="*/ 24 h 51"/>
              <a:gd name="T18" fmla="*/ 219 w 222"/>
              <a:gd name="T19" fmla="*/ 31 h 51"/>
              <a:gd name="T20" fmla="*/ 217 w 222"/>
              <a:gd name="T21" fmla="*/ 38 h 51"/>
              <a:gd name="T22" fmla="*/ 217 w 222"/>
              <a:gd name="T23" fmla="*/ 44 h 51"/>
              <a:gd name="T24" fmla="*/ 216 w 222"/>
              <a:gd name="T25" fmla="*/ 51 h 51"/>
              <a:gd name="T26" fmla="*/ 219 w 222"/>
              <a:gd name="T27" fmla="*/ 48 h 51"/>
              <a:gd name="T28" fmla="*/ 220 w 222"/>
              <a:gd name="T29" fmla="*/ 41 h 51"/>
              <a:gd name="T30" fmla="*/ 222 w 222"/>
              <a:gd name="T31" fmla="*/ 34 h 51"/>
              <a:gd name="T32" fmla="*/ 222 w 222"/>
              <a:gd name="T33" fmla="*/ 28 h 51"/>
              <a:gd name="T34" fmla="*/ 4 w 222"/>
              <a:gd name="T35" fmla="*/ 0 h 51"/>
              <a:gd name="T36" fmla="*/ 2 w 222"/>
              <a:gd name="T37" fmla="*/ 4 h 51"/>
              <a:gd name="T38" fmla="*/ 2 w 222"/>
              <a:gd name="T39" fmla="*/ 11 h 51"/>
              <a:gd name="T40" fmla="*/ 0 w 222"/>
              <a:gd name="T41" fmla="*/ 18 h 51"/>
              <a:gd name="T42" fmla="*/ 0 w 222"/>
              <a:gd name="T43" fmla="*/ 24 h 51"/>
              <a:gd name="T44" fmla="*/ 0 w 222"/>
              <a:gd name="T45" fmla="*/ 31 h 51"/>
              <a:gd name="T46" fmla="*/ 2 w 222"/>
              <a:gd name="T47" fmla="*/ 38 h 51"/>
              <a:gd name="T48" fmla="*/ 2 w 222"/>
              <a:gd name="T49" fmla="*/ 44 h 51"/>
              <a:gd name="T50" fmla="*/ 4 w 222"/>
              <a:gd name="T51" fmla="*/ 51 h 51"/>
              <a:gd name="T52" fmla="*/ 7 w 222"/>
              <a:gd name="T53" fmla="*/ 48 h 51"/>
              <a:gd name="T54" fmla="*/ 5 w 222"/>
              <a:gd name="T55" fmla="*/ 41 h 51"/>
              <a:gd name="T56" fmla="*/ 5 w 222"/>
              <a:gd name="T57" fmla="*/ 34 h 51"/>
              <a:gd name="T58" fmla="*/ 4 w 222"/>
              <a:gd name="T59" fmla="*/ 28 h 51"/>
              <a:gd name="T60" fmla="*/ 4 w 222"/>
              <a:gd name="T61" fmla="*/ 21 h 51"/>
              <a:gd name="T62" fmla="*/ 5 w 222"/>
              <a:gd name="T63" fmla="*/ 14 h 51"/>
              <a:gd name="T64" fmla="*/ 5 w 222"/>
              <a:gd name="T65" fmla="*/ 8 h 51"/>
              <a:gd name="T66" fmla="*/ 7 w 222"/>
              <a:gd name="T67" fmla="*/ 3 h 51"/>
              <a:gd name="T68" fmla="*/ 4 w 22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2" h="51">
                <a:moveTo>
                  <a:pt x="222" y="24"/>
                </a:moveTo>
                <a:lnTo>
                  <a:pt x="222" y="21"/>
                </a:lnTo>
                <a:lnTo>
                  <a:pt x="222" y="18"/>
                </a:lnTo>
                <a:lnTo>
                  <a:pt x="222" y="14"/>
                </a:lnTo>
                <a:lnTo>
                  <a:pt x="220" y="11"/>
                </a:lnTo>
                <a:lnTo>
                  <a:pt x="220" y="8"/>
                </a:lnTo>
                <a:lnTo>
                  <a:pt x="220" y="4"/>
                </a:lnTo>
                <a:lnTo>
                  <a:pt x="219" y="3"/>
                </a:lnTo>
                <a:lnTo>
                  <a:pt x="219" y="0"/>
                </a:lnTo>
                <a:lnTo>
                  <a:pt x="216" y="0"/>
                </a:lnTo>
                <a:lnTo>
                  <a:pt x="216" y="3"/>
                </a:lnTo>
                <a:lnTo>
                  <a:pt x="217" y="4"/>
                </a:lnTo>
                <a:lnTo>
                  <a:pt x="217" y="8"/>
                </a:lnTo>
                <a:lnTo>
                  <a:pt x="217" y="11"/>
                </a:lnTo>
                <a:lnTo>
                  <a:pt x="219" y="14"/>
                </a:lnTo>
                <a:lnTo>
                  <a:pt x="219" y="18"/>
                </a:lnTo>
                <a:lnTo>
                  <a:pt x="219" y="21"/>
                </a:lnTo>
                <a:lnTo>
                  <a:pt x="219" y="24"/>
                </a:lnTo>
                <a:lnTo>
                  <a:pt x="219" y="28"/>
                </a:lnTo>
                <a:lnTo>
                  <a:pt x="219" y="31"/>
                </a:lnTo>
                <a:lnTo>
                  <a:pt x="219" y="34"/>
                </a:lnTo>
                <a:lnTo>
                  <a:pt x="217" y="38"/>
                </a:lnTo>
                <a:lnTo>
                  <a:pt x="217" y="41"/>
                </a:lnTo>
                <a:lnTo>
                  <a:pt x="217" y="44"/>
                </a:lnTo>
                <a:lnTo>
                  <a:pt x="216" y="48"/>
                </a:lnTo>
                <a:lnTo>
                  <a:pt x="216" y="51"/>
                </a:lnTo>
                <a:lnTo>
                  <a:pt x="219" y="51"/>
                </a:lnTo>
                <a:lnTo>
                  <a:pt x="219" y="48"/>
                </a:lnTo>
                <a:lnTo>
                  <a:pt x="220" y="44"/>
                </a:lnTo>
                <a:lnTo>
                  <a:pt x="220" y="41"/>
                </a:lnTo>
                <a:lnTo>
                  <a:pt x="220" y="38"/>
                </a:lnTo>
                <a:lnTo>
                  <a:pt x="222" y="34"/>
                </a:lnTo>
                <a:lnTo>
                  <a:pt x="222" y="31"/>
                </a:lnTo>
                <a:lnTo>
                  <a:pt x="222" y="28"/>
                </a:lnTo>
                <a:lnTo>
                  <a:pt x="222" y="24"/>
                </a:lnTo>
                <a:close/>
                <a:moveTo>
                  <a:pt x="4" y="0"/>
                </a:moveTo>
                <a:lnTo>
                  <a:pt x="4"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5" y="4"/>
                </a:lnTo>
                <a:lnTo>
                  <a:pt x="7" y="3"/>
                </a:lnTo>
                <a:lnTo>
                  <a:pt x="7" y="0"/>
                </a:lnTo>
                <a:lnTo>
                  <a:pt x="4"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86" name="Freeform 1791">
            <a:extLst>
              <a:ext uri="{FF2B5EF4-FFF2-40B4-BE49-F238E27FC236}">
                <a16:creationId xmlns:a16="http://schemas.microsoft.com/office/drawing/2014/main" id="{E4587058-DB69-97A2-0C67-6066216C13B2}"/>
              </a:ext>
            </a:extLst>
          </p:cNvPr>
          <p:cNvSpPr>
            <a:spLocks noEditPoints="1"/>
          </p:cNvSpPr>
          <p:nvPr/>
        </p:nvSpPr>
        <p:spPr bwMode="auto">
          <a:xfrm>
            <a:off x="2384425" y="2719388"/>
            <a:ext cx="346075" cy="80963"/>
          </a:xfrm>
          <a:custGeom>
            <a:avLst/>
            <a:gdLst>
              <a:gd name="T0" fmla="*/ 218 w 218"/>
              <a:gd name="T1" fmla="*/ 21 h 51"/>
              <a:gd name="T2" fmla="*/ 218 w 218"/>
              <a:gd name="T3" fmla="*/ 14 h 51"/>
              <a:gd name="T4" fmla="*/ 217 w 218"/>
              <a:gd name="T5" fmla="*/ 8 h 51"/>
              <a:gd name="T6" fmla="*/ 215 w 218"/>
              <a:gd name="T7" fmla="*/ 3 h 51"/>
              <a:gd name="T8" fmla="*/ 212 w 218"/>
              <a:gd name="T9" fmla="*/ 0 h 51"/>
              <a:gd name="T10" fmla="*/ 214 w 218"/>
              <a:gd name="T11" fmla="*/ 4 h 51"/>
              <a:gd name="T12" fmla="*/ 214 w 218"/>
              <a:gd name="T13" fmla="*/ 11 h 51"/>
              <a:gd name="T14" fmla="*/ 215 w 218"/>
              <a:gd name="T15" fmla="*/ 18 h 51"/>
              <a:gd name="T16" fmla="*/ 215 w 218"/>
              <a:gd name="T17" fmla="*/ 24 h 51"/>
              <a:gd name="T18" fmla="*/ 215 w 218"/>
              <a:gd name="T19" fmla="*/ 31 h 51"/>
              <a:gd name="T20" fmla="*/ 214 w 218"/>
              <a:gd name="T21" fmla="*/ 38 h 51"/>
              <a:gd name="T22" fmla="*/ 214 w 218"/>
              <a:gd name="T23" fmla="*/ 44 h 51"/>
              <a:gd name="T24" fmla="*/ 212 w 218"/>
              <a:gd name="T25" fmla="*/ 51 h 51"/>
              <a:gd name="T26" fmla="*/ 215 w 218"/>
              <a:gd name="T27" fmla="*/ 48 h 51"/>
              <a:gd name="T28" fmla="*/ 217 w 218"/>
              <a:gd name="T29" fmla="*/ 41 h 51"/>
              <a:gd name="T30" fmla="*/ 218 w 218"/>
              <a:gd name="T31" fmla="*/ 34 h 51"/>
              <a:gd name="T32" fmla="*/ 218 w 218"/>
              <a:gd name="T33" fmla="*/ 28 h 51"/>
              <a:gd name="T34" fmla="*/ 3 w 218"/>
              <a:gd name="T35" fmla="*/ 0 h 51"/>
              <a:gd name="T36" fmla="*/ 2 w 218"/>
              <a:gd name="T37" fmla="*/ 4 h 51"/>
              <a:gd name="T38" fmla="*/ 2 w 218"/>
              <a:gd name="T39" fmla="*/ 11 h 51"/>
              <a:gd name="T40" fmla="*/ 0 w 218"/>
              <a:gd name="T41" fmla="*/ 18 h 51"/>
              <a:gd name="T42" fmla="*/ 0 w 218"/>
              <a:gd name="T43" fmla="*/ 24 h 51"/>
              <a:gd name="T44" fmla="*/ 0 w 218"/>
              <a:gd name="T45" fmla="*/ 31 h 51"/>
              <a:gd name="T46" fmla="*/ 2 w 218"/>
              <a:gd name="T47" fmla="*/ 38 h 51"/>
              <a:gd name="T48" fmla="*/ 2 w 218"/>
              <a:gd name="T49" fmla="*/ 44 h 51"/>
              <a:gd name="T50" fmla="*/ 3 w 218"/>
              <a:gd name="T51" fmla="*/ 51 h 51"/>
              <a:gd name="T52" fmla="*/ 7 w 218"/>
              <a:gd name="T53" fmla="*/ 48 h 51"/>
              <a:gd name="T54" fmla="*/ 5 w 218"/>
              <a:gd name="T55" fmla="*/ 41 h 51"/>
              <a:gd name="T56" fmla="*/ 5 w 218"/>
              <a:gd name="T57" fmla="*/ 34 h 51"/>
              <a:gd name="T58" fmla="*/ 3 w 218"/>
              <a:gd name="T59" fmla="*/ 28 h 51"/>
              <a:gd name="T60" fmla="*/ 3 w 218"/>
              <a:gd name="T61" fmla="*/ 21 h 51"/>
              <a:gd name="T62" fmla="*/ 5 w 218"/>
              <a:gd name="T63" fmla="*/ 14 h 51"/>
              <a:gd name="T64" fmla="*/ 5 w 218"/>
              <a:gd name="T65" fmla="*/ 8 h 51"/>
              <a:gd name="T66" fmla="*/ 7 w 218"/>
              <a:gd name="T67" fmla="*/ 3 h 51"/>
              <a:gd name="T68" fmla="*/ 3 w 21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8" h="51">
                <a:moveTo>
                  <a:pt x="218" y="24"/>
                </a:moveTo>
                <a:lnTo>
                  <a:pt x="218" y="21"/>
                </a:lnTo>
                <a:lnTo>
                  <a:pt x="218" y="18"/>
                </a:lnTo>
                <a:lnTo>
                  <a:pt x="218" y="14"/>
                </a:lnTo>
                <a:lnTo>
                  <a:pt x="217" y="11"/>
                </a:lnTo>
                <a:lnTo>
                  <a:pt x="217" y="8"/>
                </a:lnTo>
                <a:lnTo>
                  <a:pt x="217" y="4"/>
                </a:lnTo>
                <a:lnTo>
                  <a:pt x="215" y="3"/>
                </a:lnTo>
                <a:lnTo>
                  <a:pt x="215" y="0"/>
                </a:lnTo>
                <a:lnTo>
                  <a:pt x="212" y="0"/>
                </a:lnTo>
                <a:lnTo>
                  <a:pt x="212" y="3"/>
                </a:lnTo>
                <a:lnTo>
                  <a:pt x="214" y="4"/>
                </a:lnTo>
                <a:lnTo>
                  <a:pt x="214" y="8"/>
                </a:lnTo>
                <a:lnTo>
                  <a:pt x="214" y="11"/>
                </a:lnTo>
                <a:lnTo>
                  <a:pt x="215" y="14"/>
                </a:lnTo>
                <a:lnTo>
                  <a:pt x="215" y="18"/>
                </a:lnTo>
                <a:lnTo>
                  <a:pt x="215" y="21"/>
                </a:lnTo>
                <a:lnTo>
                  <a:pt x="215" y="24"/>
                </a:lnTo>
                <a:lnTo>
                  <a:pt x="215" y="28"/>
                </a:lnTo>
                <a:lnTo>
                  <a:pt x="215" y="31"/>
                </a:lnTo>
                <a:lnTo>
                  <a:pt x="215" y="34"/>
                </a:lnTo>
                <a:lnTo>
                  <a:pt x="214" y="38"/>
                </a:lnTo>
                <a:lnTo>
                  <a:pt x="214" y="41"/>
                </a:lnTo>
                <a:lnTo>
                  <a:pt x="214" y="44"/>
                </a:lnTo>
                <a:lnTo>
                  <a:pt x="212" y="48"/>
                </a:lnTo>
                <a:lnTo>
                  <a:pt x="212" y="51"/>
                </a:lnTo>
                <a:lnTo>
                  <a:pt x="215" y="51"/>
                </a:lnTo>
                <a:lnTo>
                  <a:pt x="215" y="48"/>
                </a:lnTo>
                <a:lnTo>
                  <a:pt x="217" y="44"/>
                </a:lnTo>
                <a:lnTo>
                  <a:pt x="217" y="41"/>
                </a:lnTo>
                <a:lnTo>
                  <a:pt x="217" y="38"/>
                </a:lnTo>
                <a:lnTo>
                  <a:pt x="218" y="34"/>
                </a:lnTo>
                <a:lnTo>
                  <a:pt x="218" y="31"/>
                </a:lnTo>
                <a:lnTo>
                  <a:pt x="218" y="28"/>
                </a:lnTo>
                <a:lnTo>
                  <a:pt x="218"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7" y="3"/>
                </a:lnTo>
                <a:lnTo>
                  <a:pt x="7" y="0"/>
                </a:lnTo>
                <a:lnTo>
                  <a:pt x="3"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87" name="Freeform 1792">
            <a:extLst>
              <a:ext uri="{FF2B5EF4-FFF2-40B4-BE49-F238E27FC236}">
                <a16:creationId xmlns:a16="http://schemas.microsoft.com/office/drawing/2014/main" id="{A83483E5-ACF0-1257-991E-1D99CA8B0CA4}"/>
              </a:ext>
            </a:extLst>
          </p:cNvPr>
          <p:cNvSpPr>
            <a:spLocks noEditPoints="1"/>
          </p:cNvSpPr>
          <p:nvPr/>
        </p:nvSpPr>
        <p:spPr bwMode="auto">
          <a:xfrm>
            <a:off x="2387600" y="2719388"/>
            <a:ext cx="341313" cy="80963"/>
          </a:xfrm>
          <a:custGeom>
            <a:avLst/>
            <a:gdLst>
              <a:gd name="T0" fmla="*/ 215 w 215"/>
              <a:gd name="T1" fmla="*/ 21 h 51"/>
              <a:gd name="T2" fmla="*/ 215 w 215"/>
              <a:gd name="T3" fmla="*/ 14 h 51"/>
              <a:gd name="T4" fmla="*/ 213 w 215"/>
              <a:gd name="T5" fmla="*/ 8 h 51"/>
              <a:gd name="T6" fmla="*/ 212 w 215"/>
              <a:gd name="T7" fmla="*/ 3 h 51"/>
              <a:gd name="T8" fmla="*/ 208 w 215"/>
              <a:gd name="T9" fmla="*/ 0 h 51"/>
              <a:gd name="T10" fmla="*/ 210 w 215"/>
              <a:gd name="T11" fmla="*/ 4 h 51"/>
              <a:gd name="T12" fmla="*/ 210 w 215"/>
              <a:gd name="T13" fmla="*/ 11 h 51"/>
              <a:gd name="T14" fmla="*/ 212 w 215"/>
              <a:gd name="T15" fmla="*/ 18 h 51"/>
              <a:gd name="T16" fmla="*/ 212 w 215"/>
              <a:gd name="T17" fmla="*/ 24 h 51"/>
              <a:gd name="T18" fmla="*/ 212 w 215"/>
              <a:gd name="T19" fmla="*/ 31 h 51"/>
              <a:gd name="T20" fmla="*/ 210 w 215"/>
              <a:gd name="T21" fmla="*/ 38 h 51"/>
              <a:gd name="T22" fmla="*/ 210 w 215"/>
              <a:gd name="T23" fmla="*/ 44 h 51"/>
              <a:gd name="T24" fmla="*/ 208 w 215"/>
              <a:gd name="T25" fmla="*/ 51 h 51"/>
              <a:gd name="T26" fmla="*/ 212 w 215"/>
              <a:gd name="T27" fmla="*/ 48 h 51"/>
              <a:gd name="T28" fmla="*/ 213 w 215"/>
              <a:gd name="T29" fmla="*/ 41 h 51"/>
              <a:gd name="T30" fmla="*/ 215 w 215"/>
              <a:gd name="T31" fmla="*/ 34 h 51"/>
              <a:gd name="T32" fmla="*/ 215 w 215"/>
              <a:gd name="T33" fmla="*/ 28 h 51"/>
              <a:gd name="T34" fmla="*/ 3 w 215"/>
              <a:gd name="T35" fmla="*/ 0 h 51"/>
              <a:gd name="T36" fmla="*/ 1 w 215"/>
              <a:gd name="T37" fmla="*/ 4 h 51"/>
              <a:gd name="T38" fmla="*/ 1 w 215"/>
              <a:gd name="T39" fmla="*/ 11 h 51"/>
              <a:gd name="T40" fmla="*/ 0 w 215"/>
              <a:gd name="T41" fmla="*/ 18 h 51"/>
              <a:gd name="T42" fmla="*/ 0 w 215"/>
              <a:gd name="T43" fmla="*/ 24 h 51"/>
              <a:gd name="T44" fmla="*/ 0 w 215"/>
              <a:gd name="T45" fmla="*/ 31 h 51"/>
              <a:gd name="T46" fmla="*/ 1 w 215"/>
              <a:gd name="T47" fmla="*/ 38 h 51"/>
              <a:gd name="T48" fmla="*/ 1 w 215"/>
              <a:gd name="T49" fmla="*/ 44 h 51"/>
              <a:gd name="T50" fmla="*/ 3 w 215"/>
              <a:gd name="T51" fmla="*/ 51 h 51"/>
              <a:gd name="T52" fmla="*/ 6 w 215"/>
              <a:gd name="T53" fmla="*/ 48 h 51"/>
              <a:gd name="T54" fmla="*/ 5 w 215"/>
              <a:gd name="T55" fmla="*/ 41 h 51"/>
              <a:gd name="T56" fmla="*/ 5 w 215"/>
              <a:gd name="T57" fmla="*/ 34 h 51"/>
              <a:gd name="T58" fmla="*/ 3 w 215"/>
              <a:gd name="T59" fmla="*/ 28 h 51"/>
              <a:gd name="T60" fmla="*/ 3 w 215"/>
              <a:gd name="T61" fmla="*/ 21 h 51"/>
              <a:gd name="T62" fmla="*/ 5 w 215"/>
              <a:gd name="T63" fmla="*/ 14 h 51"/>
              <a:gd name="T64" fmla="*/ 5 w 215"/>
              <a:gd name="T65" fmla="*/ 8 h 51"/>
              <a:gd name="T66" fmla="*/ 6 w 215"/>
              <a:gd name="T67" fmla="*/ 3 h 51"/>
              <a:gd name="T68" fmla="*/ 3 w 21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5" h="51">
                <a:moveTo>
                  <a:pt x="215" y="24"/>
                </a:moveTo>
                <a:lnTo>
                  <a:pt x="215" y="21"/>
                </a:lnTo>
                <a:lnTo>
                  <a:pt x="215" y="18"/>
                </a:lnTo>
                <a:lnTo>
                  <a:pt x="215" y="14"/>
                </a:lnTo>
                <a:lnTo>
                  <a:pt x="213" y="11"/>
                </a:lnTo>
                <a:lnTo>
                  <a:pt x="213" y="8"/>
                </a:lnTo>
                <a:lnTo>
                  <a:pt x="213" y="4"/>
                </a:lnTo>
                <a:lnTo>
                  <a:pt x="212" y="3"/>
                </a:lnTo>
                <a:lnTo>
                  <a:pt x="212" y="0"/>
                </a:lnTo>
                <a:lnTo>
                  <a:pt x="208" y="0"/>
                </a:lnTo>
                <a:lnTo>
                  <a:pt x="208" y="3"/>
                </a:lnTo>
                <a:lnTo>
                  <a:pt x="210" y="4"/>
                </a:lnTo>
                <a:lnTo>
                  <a:pt x="210" y="8"/>
                </a:lnTo>
                <a:lnTo>
                  <a:pt x="210" y="11"/>
                </a:lnTo>
                <a:lnTo>
                  <a:pt x="212" y="14"/>
                </a:lnTo>
                <a:lnTo>
                  <a:pt x="212" y="18"/>
                </a:lnTo>
                <a:lnTo>
                  <a:pt x="212" y="21"/>
                </a:lnTo>
                <a:lnTo>
                  <a:pt x="212" y="24"/>
                </a:lnTo>
                <a:lnTo>
                  <a:pt x="212" y="28"/>
                </a:lnTo>
                <a:lnTo>
                  <a:pt x="212" y="31"/>
                </a:lnTo>
                <a:lnTo>
                  <a:pt x="212" y="34"/>
                </a:lnTo>
                <a:lnTo>
                  <a:pt x="210" y="38"/>
                </a:lnTo>
                <a:lnTo>
                  <a:pt x="210" y="41"/>
                </a:lnTo>
                <a:lnTo>
                  <a:pt x="210" y="44"/>
                </a:lnTo>
                <a:lnTo>
                  <a:pt x="208" y="48"/>
                </a:lnTo>
                <a:lnTo>
                  <a:pt x="208" y="51"/>
                </a:lnTo>
                <a:lnTo>
                  <a:pt x="212" y="51"/>
                </a:lnTo>
                <a:lnTo>
                  <a:pt x="212" y="48"/>
                </a:lnTo>
                <a:lnTo>
                  <a:pt x="213" y="44"/>
                </a:lnTo>
                <a:lnTo>
                  <a:pt x="213" y="41"/>
                </a:lnTo>
                <a:lnTo>
                  <a:pt x="213" y="38"/>
                </a:lnTo>
                <a:lnTo>
                  <a:pt x="215" y="34"/>
                </a:lnTo>
                <a:lnTo>
                  <a:pt x="215" y="31"/>
                </a:lnTo>
                <a:lnTo>
                  <a:pt x="215" y="28"/>
                </a:lnTo>
                <a:lnTo>
                  <a:pt x="215" y="24"/>
                </a:lnTo>
                <a:close/>
                <a:moveTo>
                  <a:pt x="3" y="0"/>
                </a:moveTo>
                <a:lnTo>
                  <a:pt x="3" y="3"/>
                </a:lnTo>
                <a:lnTo>
                  <a:pt x="1"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88" name="Freeform 1793">
            <a:extLst>
              <a:ext uri="{FF2B5EF4-FFF2-40B4-BE49-F238E27FC236}">
                <a16:creationId xmlns:a16="http://schemas.microsoft.com/office/drawing/2014/main" id="{9D17F635-89D5-0EBD-C035-0BCE98F609C1}"/>
              </a:ext>
            </a:extLst>
          </p:cNvPr>
          <p:cNvSpPr>
            <a:spLocks noEditPoints="1"/>
          </p:cNvSpPr>
          <p:nvPr/>
        </p:nvSpPr>
        <p:spPr bwMode="auto">
          <a:xfrm>
            <a:off x="2389188" y="2719388"/>
            <a:ext cx="336550" cy="80963"/>
          </a:xfrm>
          <a:custGeom>
            <a:avLst/>
            <a:gdLst>
              <a:gd name="T0" fmla="*/ 212 w 212"/>
              <a:gd name="T1" fmla="*/ 21 h 51"/>
              <a:gd name="T2" fmla="*/ 212 w 212"/>
              <a:gd name="T3" fmla="*/ 14 h 51"/>
              <a:gd name="T4" fmla="*/ 211 w 212"/>
              <a:gd name="T5" fmla="*/ 8 h 51"/>
              <a:gd name="T6" fmla="*/ 209 w 212"/>
              <a:gd name="T7" fmla="*/ 3 h 51"/>
              <a:gd name="T8" fmla="*/ 206 w 212"/>
              <a:gd name="T9" fmla="*/ 0 h 51"/>
              <a:gd name="T10" fmla="*/ 207 w 212"/>
              <a:gd name="T11" fmla="*/ 4 h 51"/>
              <a:gd name="T12" fmla="*/ 207 w 212"/>
              <a:gd name="T13" fmla="*/ 11 h 51"/>
              <a:gd name="T14" fmla="*/ 209 w 212"/>
              <a:gd name="T15" fmla="*/ 18 h 51"/>
              <a:gd name="T16" fmla="*/ 209 w 212"/>
              <a:gd name="T17" fmla="*/ 24 h 51"/>
              <a:gd name="T18" fmla="*/ 209 w 212"/>
              <a:gd name="T19" fmla="*/ 31 h 51"/>
              <a:gd name="T20" fmla="*/ 207 w 212"/>
              <a:gd name="T21" fmla="*/ 38 h 51"/>
              <a:gd name="T22" fmla="*/ 207 w 212"/>
              <a:gd name="T23" fmla="*/ 44 h 51"/>
              <a:gd name="T24" fmla="*/ 206 w 212"/>
              <a:gd name="T25" fmla="*/ 51 h 51"/>
              <a:gd name="T26" fmla="*/ 209 w 212"/>
              <a:gd name="T27" fmla="*/ 48 h 51"/>
              <a:gd name="T28" fmla="*/ 211 w 212"/>
              <a:gd name="T29" fmla="*/ 41 h 51"/>
              <a:gd name="T30" fmla="*/ 212 w 212"/>
              <a:gd name="T31" fmla="*/ 34 h 51"/>
              <a:gd name="T32" fmla="*/ 212 w 212"/>
              <a:gd name="T33" fmla="*/ 28 h 51"/>
              <a:gd name="T34" fmla="*/ 4 w 212"/>
              <a:gd name="T35" fmla="*/ 0 h 51"/>
              <a:gd name="T36" fmla="*/ 2 w 212"/>
              <a:gd name="T37" fmla="*/ 4 h 51"/>
              <a:gd name="T38" fmla="*/ 2 w 212"/>
              <a:gd name="T39" fmla="*/ 11 h 51"/>
              <a:gd name="T40" fmla="*/ 0 w 212"/>
              <a:gd name="T41" fmla="*/ 18 h 51"/>
              <a:gd name="T42" fmla="*/ 0 w 212"/>
              <a:gd name="T43" fmla="*/ 24 h 51"/>
              <a:gd name="T44" fmla="*/ 0 w 212"/>
              <a:gd name="T45" fmla="*/ 31 h 51"/>
              <a:gd name="T46" fmla="*/ 2 w 212"/>
              <a:gd name="T47" fmla="*/ 38 h 51"/>
              <a:gd name="T48" fmla="*/ 2 w 212"/>
              <a:gd name="T49" fmla="*/ 44 h 51"/>
              <a:gd name="T50" fmla="*/ 4 w 212"/>
              <a:gd name="T51" fmla="*/ 51 h 51"/>
              <a:gd name="T52" fmla="*/ 7 w 212"/>
              <a:gd name="T53" fmla="*/ 48 h 51"/>
              <a:gd name="T54" fmla="*/ 5 w 212"/>
              <a:gd name="T55" fmla="*/ 41 h 51"/>
              <a:gd name="T56" fmla="*/ 5 w 212"/>
              <a:gd name="T57" fmla="*/ 34 h 51"/>
              <a:gd name="T58" fmla="*/ 4 w 212"/>
              <a:gd name="T59" fmla="*/ 28 h 51"/>
              <a:gd name="T60" fmla="*/ 4 w 212"/>
              <a:gd name="T61" fmla="*/ 21 h 51"/>
              <a:gd name="T62" fmla="*/ 5 w 212"/>
              <a:gd name="T63" fmla="*/ 14 h 51"/>
              <a:gd name="T64" fmla="*/ 5 w 212"/>
              <a:gd name="T65" fmla="*/ 8 h 51"/>
              <a:gd name="T66" fmla="*/ 7 w 212"/>
              <a:gd name="T67" fmla="*/ 3 h 51"/>
              <a:gd name="T68" fmla="*/ 4 w 21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2" h="51">
                <a:moveTo>
                  <a:pt x="212" y="24"/>
                </a:moveTo>
                <a:lnTo>
                  <a:pt x="212" y="21"/>
                </a:lnTo>
                <a:lnTo>
                  <a:pt x="212" y="18"/>
                </a:lnTo>
                <a:lnTo>
                  <a:pt x="212" y="14"/>
                </a:lnTo>
                <a:lnTo>
                  <a:pt x="211" y="11"/>
                </a:lnTo>
                <a:lnTo>
                  <a:pt x="211" y="8"/>
                </a:lnTo>
                <a:lnTo>
                  <a:pt x="211" y="4"/>
                </a:lnTo>
                <a:lnTo>
                  <a:pt x="209" y="3"/>
                </a:lnTo>
                <a:lnTo>
                  <a:pt x="209" y="0"/>
                </a:lnTo>
                <a:lnTo>
                  <a:pt x="206" y="0"/>
                </a:lnTo>
                <a:lnTo>
                  <a:pt x="206" y="3"/>
                </a:lnTo>
                <a:lnTo>
                  <a:pt x="207" y="4"/>
                </a:lnTo>
                <a:lnTo>
                  <a:pt x="207" y="8"/>
                </a:lnTo>
                <a:lnTo>
                  <a:pt x="207" y="11"/>
                </a:lnTo>
                <a:lnTo>
                  <a:pt x="209" y="14"/>
                </a:lnTo>
                <a:lnTo>
                  <a:pt x="209" y="18"/>
                </a:lnTo>
                <a:lnTo>
                  <a:pt x="209" y="21"/>
                </a:lnTo>
                <a:lnTo>
                  <a:pt x="209" y="24"/>
                </a:lnTo>
                <a:lnTo>
                  <a:pt x="209" y="28"/>
                </a:lnTo>
                <a:lnTo>
                  <a:pt x="209" y="31"/>
                </a:lnTo>
                <a:lnTo>
                  <a:pt x="209" y="34"/>
                </a:lnTo>
                <a:lnTo>
                  <a:pt x="207" y="38"/>
                </a:lnTo>
                <a:lnTo>
                  <a:pt x="207" y="41"/>
                </a:lnTo>
                <a:lnTo>
                  <a:pt x="207" y="44"/>
                </a:lnTo>
                <a:lnTo>
                  <a:pt x="206" y="48"/>
                </a:lnTo>
                <a:lnTo>
                  <a:pt x="206" y="51"/>
                </a:lnTo>
                <a:lnTo>
                  <a:pt x="209" y="51"/>
                </a:lnTo>
                <a:lnTo>
                  <a:pt x="209" y="48"/>
                </a:lnTo>
                <a:lnTo>
                  <a:pt x="211" y="44"/>
                </a:lnTo>
                <a:lnTo>
                  <a:pt x="211" y="41"/>
                </a:lnTo>
                <a:lnTo>
                  <a:pt x="211" y="38"/>
                </a:lnTo>
                <a:lnTo>
                  <a:pt x="212" y="34"/>
                </a:lnTo>
                <a:lnTo>
                  <a:pt x="212" y="31"/>
                </a:lnTo>
                <a:lnTo>
                  <a:pt x="212" y="28"/>
                </a:lnTo>
                <a:lnTo>
                  <a:pt x="212" y="24"/>
                </a:lnTo>
                <a:close/>
                <a:moveTo>
                  <a:pt x="4" y="0"/>
                </a:moveTo>
                <a:lnTo>
                  <a:pt x="4"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7" y="0"/>
                </a:lnTo>
                <a:lnTo>
                  <a:pt x="4"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89" name="Freeform 1794">
            <a:extLst>
              <a:ext uri="{FF2B5EF4-FFF2-40B4-BE49-F238E27FC236}">
                <a16:creationId xmlns:a16="http://schemas.microsoft.com/office/drawing/2014/main" id="{A09918F9-ABFD-9AD3-9854-BEF2ACF316B2}"/>
              </a:ext>
            </a:extLst>
          </p:cNvPr>
          <p:cNvSpPr>
            <a:spLocks noEditPoints="1"/>
          </p:cNvSpPr>
          <p:nvPr/>
        </p:nvSpPr>
        <p:spPr bwMode="auto">
          <a:xfrm>
            <a:off x="2392363" y="2719388"/>
            <a:ext cx="331788" cy="80963"/>
          </a:xfrm>
          <a:custGeom>
            <a:avLst/>
            <a:gdLst>
              <a:gd name="T0" fmla="*/ 209 w 209"/>
              <a:gd name="T1" fmla="*/ 21 h 51"/>
              <a:gd name="T2" fmla="*/ 209 w 209"/>
              <a:gd name="T3" fmla="*/ 14 h 51"/>
              <a:gd name="T4" fmla="*/ 207 w 209"/>
              <a:gd name="T5" fmla="*/ 8 h 51"/>
              <a:gd name="T6" fmla="*/ 205 w 209"/>
              <a:gd name="T7" fmla="*/ 3 h 51"/>
              <a:gd name="T8" fmla="*/ 202 w 209"/>
              <a:gd name="T9" fmla="*/ 0 h 51"/>
              <a:gd name="T10" fmla="*/ 204 w 209"/>
              <a:gd name="T11" fmla="*/ 4 h 51"/>
              <a:gd name="T12" fmla="*/ 204 w 209"/>
              <a:gd name="T13" fmla="*/ 11 h 51"/>
              <a:gd name="T14" fmla="*/ 205 w 209"/>
              <a:gd name="T15" fmla="*/ 18 h 51"/>
              <a:gd name="T16" fmla="*/ 205 w 209"/>
              <a:gd name="T17" fmla="*/ 24 h 51"/>
              <a:gd name="T18" fmla="*/ 205 w 209"/>
              <a:gd name="T19" fmla="*/ 31 h 51"/>
              <a:gd name="T20" fmla="*/ 204 w 209"/>
              <a:gd name="T21" fmla="*/ 38 h 51"/>
              <a:gd name="T22" fmla="*/ 204 w 209"/>
              <a:gd name="T23" fmla="*/ 44 h 51"/>
              <a:gd name="T24" fmla="*/ 202 w 209"/>
              <a:gd name="T25" fmla="*/ 51 h 51"/>
              <a:gd name="T26" fmla="*/ 205 w 209"/>
              <a:gd name="T27" fmla="*/ 48 h 51"/>
              <a:gd name="T28" fmla="*/ 207 w 209"/>
              <a:gd name="T29" fmla="*/ 41 h 51"/>
              <a:gd name="T30" fmla="*/ 209 w 209"/>
              <a:gd name="T31" fmla="*/ 34 h 51"/>
              <a:gd name="T32" fmla="*/ 209 w 209"/>
              <a:gd name="T33" fmla="*/ 28 h 51"/>
              <a:gd name="T34" fmla="*/ 3 w 209"/>
              <a:gd name="T35" fmla="*/ 0 h 51"/>
              <a:gd name="T36" fmla="*/ 2 w 209"/>
              <a:gd name="T37" fmla="*/ 4 h 51"/>
              <a:gd name="T38" fmla="*/ 2 w 209"/>
              <a:gd name="T39" fmla="*/ 11 h 51"/>
              <a:gd name="T40" fmla="*/ 0 w 209"/>
              <a:gd name="T41" fmla="*/ 18 h 51"/>
              <a:gd name="T42" fmla="*/ 0 w 209"/>
              <a:gd name="T43" fmla="*/ 24 h 51"/>
              <a:gd name="T44" fmla="*/ 0 w 209"/>
              <a:gd name="T45" fmla="*/ 31 h 51"/>
              <a:gd name="T46" fmla="*/ 2 w 209"/>
              <a:gd name="T47" fmla="*/ 38 h 51"/>
              <a:gd name="T48" fmla="*/ 2 w 209"/>
              <a:gd name="T49" fmla="*/ 44 h 51"/>
              <a:gd name="T50" fmla="*/ 3 w 209"/>
              <a:gd name="T51" fmla="*/ 51 h 51"/>
              <a:gd name="T52" fmla="*/ 6 w 209"/>
              <a:gd name="T53" fmla="*/ 48 h 51"/>
              <a:gd name="T54" fmla="*/ 5 w 209"/>
              <a:gd name="T55" fmla="*/ 41 h 51"/>
              <a:gd name="T56" fmla="*/ 5 w 209"/>
              <a:gd name="T57" fmla="*/ 34 h 51"/>
              <a:gd name="T58" fmla="*/ 3 w 209"/>
              <a:gd name="T59" fmla="*/ 28 h 51"/>
              <a:gd name="T60" fmla="*/ 3 w 209"/>
              <a:gd name="T61" fmla="*/ 21 h 51"/>
              <a:gd name="T62" fmla="*/ 5 w 209"/>
              <a:gd name="T63" fmla="*/ 14 h 51"/>
              <a:gd name="T64" fmla="*/ 5 w 209"/>
              <a:gd name="T65" fmla="*/ 8 h 51"/>
              <a:gd name="T66" fmla="*/ 6 w 209"/>
              <a:gd name="T67" fmla="*/ 3 h 51"/>
              <a:gd name="T68" fmla="*/ 3 w 20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09" h="51">
                <a:moveTo>
                  <a:pt x="209" y="24"/>
                </a:moveTo>
                <a:lnTo>
                  <a:pt x="209" y="21"/>
                </a:lnTo>
                <a:lnTo>
                  <a:pt x="209" y="18"/>
                </a:lnTo>
                <a:lnTo>
                  <a:pt x="209" y="14"/>
                </a:lnTo>
                <a:lnTo>
                  <a:pt x="207" y="11"/>
                </a:lnTo>
                <a:lnTo>
                  <a:pt x="207" y="8"/>
                </a:lnTo>
                <a:lnTo>
                  <a:pt x="207" y="4"/>
                </a:lnTo>
                <a:lnTo>
                  <a:pt x="205" y="3"/>
                </a:lnTo>
                <a:lnTo>
                  <a:pt x="205" y="0"/>
                </a:lnTo>
                <a:lnTo>
                  <a:pt x="202" y="0"/>
                </a:lnTo>
                <a:lnTo>
                  <a:pt x="202" y="3"/>
                </a:lnTo>
                <a:lnTo>
                  <a:pt x="204" y="4"/>
                </a:lnTo>
                <a:lnTo>
                  <a:pt x="204" y="8"/>
                </a:lnTo>
                <a:lnTo>
                  <a:pt x="204" y="11"/>
                </a:lnTo>
                <a:lnTo>
                  <a:pt x="205" y="14"/>
                </a:lnTo>
                <a:lnTo>
                  <a:pt x="205" y="18"/>
                </a:lnTo>
                <a:lnTo>
                  <a:pt x="205" y="21"/>
                </a:lnTo>
                <a:lnTo>
                  <a:pt x="205" y="24"/>
                </a:lnTo>
                <a:lnTo>
                  <a:pt x="205" y="28"/>
                </a:lnTo>
                <a:lnTo>
                  <a:pt x="205" y="31"/>
                </a:lnTo>
                <a:lnTo>
                  <a:pt x="205" y="34"/>
                </a:lnTo>
                <a:lnTo>
                  <a:pt x="204" y="38"/>
                </a:lnTo>
                <a:lnTo>
                  <a:pt x="204" y="41"/>
                </a:lnTo>
                <a:lnTo>
                  <a:pt x="204" y="44"/>
                </a:lnTo>
                <a:lnTo>
                  <a:pt x="202" y="48"/>
                </a:lnTo>
                <a:lnTo>
                  <a:pt x="202" y="51"/>
                </a:lnTo>
                <a:lnTo>
                  <a:pt x="205" y="51"/>
                </a:lnTo>
                <a:lnTo>
                  <a:pt x="205" y="48"/>
                </a:lnTo>
                <a:lnTo>
                  <a:pt x="207" y="44"/>
                </a:lnTo>
                <a:lnTo>
                  <a:pt x="207" y="41"/>
                </a:lnTo>
                <a:lnTo>
                  <a:pt x="207" y="38"/>
                </a:lnTo>
                <a:lnTo>
                  <a:pt x="209" y="34"/>
                </a:lnTo>
                <a:lnTo>
                  <a:pt x="209" y="31"/>
                </a:lnTo>
                <a:lnTo>
                  <a:pt x="209" y="28"/>
                </a:lnTo>
                <a:lnTo>
                  <a:pt x="209"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6" y="0"/>
                </a:lnTo>
                <a:lnTo>
                  <a:pt x="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90" name="Freeform 1795">
            <a:extLst>
              <a:ext uri="{FF2B5EF4-FFF2-40B4-BE49-F238E27FC236}">
                <a16:creationId xmlns:a16="http://schemas.microsoft.com/office/drawing/2014/main" id="{938D4697-4B60-C882-34F6-275ED4F4E6C1}"/>
              </a:ext>
            </a:extLst>
          </p:cNvPr>
          <p:cNvSpPr>
            <a:spLocks noEditPoints="1"/>
          </p:cNvSpPr>
          <p:nvPr/>
        </p:nvSpPr>
        <p:spPr bwMode="auto">
          <a:xfrm>
            <a:off x="2395538" y="2719388"/>
            <a:ext cx="325438" cy="80963"/>
          </a:xfrm>
          <a:custGeom>
            <a:avLst/>
            <a:gdLst>
              <a:gd name="T0" fmla="*/ 205 w 205"/>
              <a:gd name="T1" fmla="*/ 21 h 51"/>
              <a:gd name="T2" fmla="*/ 205 w 205"/>
              <a:gd name="T3" fmla="*/ 14 h 51"/>
              <a:gd name="T4" fmla="*/ 203 w 205"/>
              <a:gd name="T5" fmla="*/ 8 h 51"/>
              <a:gd name="T6" fmla="*/ 202 w 205"/>
              <a:gd name="T7" fmla="*/ 3 h 51"/>
              <a:gd name="T8" fmla="*/ 198 w 205"/>
              <a:gd name="T9" fmla="*/ 0 h 51"/>
              <a:gd name="T10" fmla="*/ 200 w 205"/>
              <a:gd name="T11" fmla="*/ 4 h 51"/>
              <a:gd name="T12" fmla="*/ 200 w 205"/>
              <a:gd name="T13" fmla="*/ 11 h 51"/>
              <a:gd name="T14" fmla="*/ 202 w 205"/>
              <a:gd name="T15" fmla="*/ 18 h 51"/>
              <a:gd name="T16" fmla="*/ 202 w 205"/>
              <a:gd name="T17" fmla="*/ 24 h 51"/>
              <a:gd name="T18" fmla="*/ 202 w 205"/>
              <a:gd name="T19" fmla="*/ 31 h 51"/>
              <a:gd name="T20" fmla="*/ 200 w 205"/>
              <a:gd name="T21" fmla="*/ 38 h 51"/>
              <a:gd name="T22" fmla="*/ 200 w 205"/>
              <a:gd name="T23" fmla="*/ 44 h 51"/>
              <a:gd name="T24" fmla="*/ 198 w 205"/>
              <a:gd name="T25" fmla="*/ 51 h 51"/>
              <a:gd name="T26" fmla="*/ 202 w 205"/>
              <a:gd name="T27" fmla="*/ 48 h 51"/>
              <a:gd name="T28" fmla="*/ 203 w 205"/>
              <a:gd name="T29" fmla="*/ 41 h 51"/>
              <a:gd name="T30" fmla="*/ 205 w 205"/>
              <a:gd name="T31" fmla="*/ 34 h 51"/>
              <a:gd name="T32" fmla="*/ 205 w 205"/>
              <a:gd name="T33" fmla="*/ 28 h 51"/>
              <a:gd name="T34" fmla="*/ 3 w 205"/>
              <a:gd name="T35" fmla="*/ 0 h 51"/>
              <a:gd name="T36" fmla="*/ 3 w 205"/>
              <a:gd name="T37" fmla="*/ 4 h 51"/>
              <a:gd name="T38" fmla="*/ 1 w 205"/>
              <a:gd name="T39" fmla="*/ 11 h 51"/>
              <a:gd name="T40" fmla="*/ 0 w 205"/>
              <a:gd name="T41" fmla="*/ 18 h 51"/>
              <a:gd name="T42" fmla="*/ 0 w 205"/>
              <a:gd name="T43" fmla="*/ 24 h 51"/>
              <a:gd name="T44" fmla="*/ 0 w 205"/>
              <a:gd name="T45" fmla="*/ 31 h 51"/>
              <a:gd name="T46" fmla="*/ 1 w 205"/>
              <a:gd name="T47" fmla="*/ 38 h 51"/>
              <a:gd name="T48" fmla="*/ 1 w 205"/>
              <a:gd name="T49" fmla="*/ 44 h 51"/>
              <a:gd name="T50" fmla="*/ 3 w 205"/>
              <a:gd name="T51" fmla="*/ 51 h 51"/>
              <a:gd name="T52" fmla="*/ 6 w 205"/>
              <a:gd name="T53" fmla="*/ 48 h 51"/>
              <a:gd name="T54" fmla="*/ 4 w 205"/>
              <a:gd name="T55" fmla="*/ 41 h 51"/>
              <a:gd name="T56" fmla="*/ 4 w 205"/>
              <a:gd name="T57" fmla="*/ 34 h 51"/>
              <a:gd name="T58" fmla="*/ 3 w 205"/>
              <a:gd name="T59" fmla="*/ 28 h 51"/>
              <a:gd name="T60" fmla="*/ 3 w 205"/>
              <a:gd name="T61" fmla="*/ 21 h 51"/>
              <a:gd name="T62" fmla="*/ 4 w 205"/>
              <a:gd name="T63" fmla="*/ 14 h 51"/>
              <a:gd name="T64" fmla="*/ 4 w 205"/>
              <a:gd name="T65" fmla="*/ 8 h 51"/>
              <a:gd name="T66" fmla="*/ 6 w 205"/>
              <a:gd name="T67" fmla="*/ 3 h 51"/>
              <a:gd name="T68" fmla="*/ 3 w 20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05" h="51">
                <a:moveTo>
                  <a:pt x="205" y="24"/>
                </a:moveTo>
                <a:lnTo>
                  <a:pt x="205" y="21"/>
                </a:lnTo>
                <a:lnTo>
                  <a:pt x="205" y="18"/>
                </a:lnTo>
                <a:lnTo>
                  <a:pt x="205" y="14"/>
                </a:lnTo>
                <a:lnTo>
                  <a:pt x="203" y="11"/>
                </a:lnTo>
                <a:lnTo>
                  <a:pt x="203" y="8"/>
                </a:lnTo>
                <a:lnTo>
                  <a:pt x="203" y="4"/>
                </a:lnTo>
                <a:lnTo>
                  <a:pt x="202" y="3"/>
                </a:lnTo>
                <a:lnTo>
                  <a:pt x="202" y="0"/>
                </a:lnTo>
                <a:lnTo>
                  <a:pt x="198" y="0"/>
                </a:lnTo>
                <a:lnTo>
                  <a:pt x="198" y="3"/>
                </a:lnTo>
                <a:lnTo>
                  <a:pt x="200" y="4"/>
                </a:lnTo>
                <a:lnTo>
                  <a:pt x="200" y="8"/>
                </a:lnTo>
                <a:lnTo>
                  <a:pt x="200" y="11"/>
                </a:lnTo>
                <a:lnTo>
                  <a:pt x="202" y="14"/>
                </a:lnTo>
                <a:lnTo>
                  <a:pt x="202" y="18"/>
                </a:lnTo>
                <a:lnTo>
                  <a:pt x="202" y="21"/>
                </a:lnTo>
                <a:lnTo>
                  <a:pt x="202" y="24"/>
                </a:lnTo>
                <a:lnTo>
                  <a:pt x="202" y="28"/>
                </a:lnTo>
                <a:lnTo>
                  <a:pt x="202" y="31"/>
                </a:lnTo>
                <a:lnTo>
                  <a:pt x="202" y="34"/>
                </a:lnTo>
                <a:lnTo>
                  <a:pt x="200" y="38"/>
                </a:lnTo>
                <a:lnTo>
                  <a:pt x="200" y="41"/>
                </a:lnTo>
                <a:lnTo>
                  <a:pt x="200" y="44"/>
                </a:lnTo>
                <a:lnTo>
                  <a:pt x="198" y="48"/>
                </a:lnTo>
                <a:lnTo>
                  <a:pt x="198" y="51"/>
                </a:lnTo>
                <a:lnTo>
                  <a:pt x="202" y="51"/>
                </a:lnTo>
                <a:lnTo>
                  <a:pt x="202" y="48"/>
                </a:lnTo>
                <a:lnTo>
                  <a:pt x="203" y="44"/>
                </a:lnTo>
                <a:lnTo>
                  <a:pt x="203" y="41"/>
                </a:lnTo>
                <a:lnTo>
                  <a:pt x="203" y="38"/>
                </a:lnTo>
                <a:lnTo>
                  <a:pt x="205" y="34"/>
                </a:lnTo>
                <a:lnTo>
                  <a:pt x="205" y="31"/>
                </a:lnTo>
                <a:lnTo>
                  <a:pt x="205" y="28"/>
                </a:lnTo>
                <a:lnTo>
                  <a:pt x="205" y="24"/>
                </a:lnTo>
                <a:close/>
                <a:moveTo>
                  <a:pt x="3"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4" y="44"/>
                </a:lnTo>
                <a:lnTo>
                  <a:pt x="4" y="41"/>
                </a:lnTo>
                <a:lnTo>
                  <a:pt x="4" y="38"/>
                </a:lnTo>
                <a:lnTo>
                  <a:pt x="4" y="34"/>
                </a:lnTo>
                <a:lnTo>
                  <a:pt x="3" y="31"/>
                </a:lnTo>
                <a:lnTo>
                  <a:pt x="3" y="28"/>
                </a:lnTo>
                <a:lnTo>
                  <a:pt x="3" y="24"/>
                </a:lnTo>
                <a:lnTo>
                  <a:pt x="3" y="21"/>
                </a:lnTo>
                <a:lnTo>
                  <a:pt x="3" y="18"/>
                </a:lnTo>
                <a:lnTo>
                  <a:pt x="4" y="14"/>
                </a:lnTo>
                <a:lnTo>
                  <a:pt x="4" y="11"/>
                </a:lnTo>
                <a:lnTo>
                  <a:pt x="4" y="8"/>
                </a:lnTo>
                <a:lnTo>
                  <a:pt x="6" y="4"/>
                </a:lnTo>
                <a:lnTo>
                  <a:pt x="6" y="3"/>
                </a:lnTo>
                <a:lnTo>
                  <a:pt x="6" y="0"/>
                </a:lnTo>
                <a:lnTo>
                  <a:pt x="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91" name="Freeform 1796">
            <a:extLst>
              <a:ext uri="{FF2B5EF4-FFF2-40B4-BE49-F238E27FC236}">
                <a16:creationId xmlns:a16="http://schemas.microsoft.com/office/drawing/2014/main" id="{0B36C22E-E38C-1FA0-FEC1-E9996A4397B2}"/>
              </a:ext>
            </a:extLst>
          </p:cNvPr>
          <p:cNvSpPr>
            <a:spLocks noEditPoints="1"/>
          </p:cNvSpPr>
          <p:nvPr/>
        </p:nvSpPr>
        <p:spPr bwMode="auto">
          <a:xfrm>
            <a:off x="2397125" y="2719388"/>
            <a:ext cx="320675" cy="80963"/>
          </a:xfrm>
          <a:custGeom>
            <a:avLst/>
            <a:gdLst>
              <a:gd name="T0" fmla="*/ 202 w 202"/>
              <a:gd name="T1" fmla="*/ 21 h 51"/>
              <a:gd name="T2" fmla="*/ 202 w 202"/>
              <a:gd name="T3" fmla="*/ 14 h 51"/>
              <a:gd name="T4" fmla="*/ 201 w 202"/>
              <a:gd name="T5" fmla="*/ 8 h 51"/>
              <a:gd name="T6" fmla="*/ 199 w 202"/>
              <a:gd name="T7" fmla="*/ 3 h 51"/>
              <a:gd name="T8" fmla="*/ 196 w 202"/>
              <a:gd name="T9" fmla="*/ 0 h 51"/>
              <a:gd name="T10" fmla="*/ 197 w 202"/>
              <a:gd name="T11" fmla="*/ 4 h 51"/>
              <a:gd name="T12" fmla="*/ 197 w 202"/>
              <a:gd name="T13" fmla="*/ 11 h 51"/>
              <a:gd name="T14" fmla="*/ 199 w 202"/>
              <a:gd name="T15" fmla="*/ 18 h 51"/>
              <a:gd name="T16" fmla="*/ 199 w 202"/>
              <a:gd name="T17" fmla="*/ 24 h 51"/>
              <a:gd name="T18" fmla="*/ 199 w 202"/>
              <a:gd name="T19" fmla="*/ 31 h 51"/>
              <a:gd name="T20" fmla="*/ 197 w 202"/>
              <a:gd name="T21" fmla="*/ 38 h 51"/>
              <a:gd name="T22" fmla="*/ 197 w 202"/>
              <a:gd name="T23" fmla="*/ 44 h 51"/>
              <a:gd name="T24" fmla="*/ 196 w 202"/>
              <a:gd name="T25" fmla="*/ 51 h 51"/>
              <a:gd name="T26" fmla="*/ 199 w 202"/>
              <a:gd name="T27" fmla="*/ 48 h 51"/>
              <a:gd name="T28" fmla="*/ 201 w 202"/>
              <a:gd name="T29" fmla="*/ 41 h 51"/>
              <a:gd name="T30" fmla="*/ 202 w 202"/>
              <a:gd name="T31" fmla="*/ 34 h 51"/>
              <a:gd name="T32" fmla="*/ 202 w 202"/>
              <a:gd name="T33" fmla="*/ 28 h 51"/>
              <a:gd name="T34" fmla="*/ 3 w 202"/>
              <a:gd name="T35" fmla="*/ 0 h 51"/>
              <a:gd name="T36" fmla="*/ 3 w 202"/>
              <a:gd name="T37" fmla="*/ 4 h 51"/>
              <a:gd name="T38" fmla="*/ 2 w 202"/>
              <a:gd name="T39" fmla="*/ 11 h 51"/>
              <a:gd name="T40" fmla="*/ 0 w 202"/>
              <a:gd name="T41" fmla="*/ 18 h 51"/>
              <a:gd name="T42" fmla="*/ 0 w 202"/>
              <a:gd name="T43" fmla="*/ 24 h 51"/>
              <a:gd name="T44" fmla="*/ 0 w 202"/>
              <a:gd name="T45" fmla="*/ 31 h 51"/>
              <a:gd name="T46" fmla="*/ 2 w 202"/>
              <a:gd name="T47" fmla="*/ 38 h 51"/>
              <a:gd name="T48" fmla="*/ 2 w 202"/>
              <a:gd name="T49" fmla="*/ 44 h 51"/>
              <a:gd name="T50" fmla="*/ 3 w 202"/>
              <a:gd name="T51" fmla="*/ 51 h 51"/>
              <a:gd name="T52" fmla="*/ 7 w 202"/>
              <a:gd name="T53" fmla="*/ 48 h 51"/>
              <a:gd name="T54" fmla="*/ 5 w 202"/>
              <a:gd name="T55" fmla="*/ 41 h 51"/>
              <a:gd name="T56" fmla="*/ 5 w 202"/>
              <a:gd name="T57" fmla="*/ 34 h 51"/>
              <a:gd name="T58" fmla="*/ 3 w 202"/>
              <a:gd name="T59" fmla="*/ 28 h 51"/>
              <a:gd name="T60" fmla="*/ 3 w 202"/>
              <a:gd name="T61" fmla="*/ 21 h 51"/>
              <a:gd name="T62" fmla="*/ 5 w 202"/>
              <a:gd name="T63" fmla="*/ 14 h 51"/>
              <a:gd name="T64" fmla="*/ 5 w 202"/>
              <a:gd name="T65" fmla="*/ 8 h 51"/>
              <a:gd name="T66" fmla="*/ 7 w 202"/>
              <a:gd name="T67" fmla="*/ 3 h 51"/>
              <a:gd name="T68" fmla="*/ 3 w 20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02" h="51">
                <a:moveTo>
                  <a:pt x="202" y="24"/>
                </a:moveTo>
                <a:lnTo>
                  <a:pt x="202" y="21"/>
                </a:lnTo>
                <a:lnTo>
                  <a:pt x="202" y="18"/>
                </a:lnTo>
                <a:lnTo>
                  <a:pt x="202" y="14"/>
                </a:lnTo>
                <a:lnTo>
                  <a:pt x="201" y="11"/>
                </a:lnTo>
                <a:lnTo>
                  <a:pt x="201" y="8"/>
                </a:lnTo>
                <a:lnTo>
                  <a:pt x="201" y="4"/>
                </a:lnTo>
                <a:lnTo>
                  <a:pt x="199" y="3"/>
                </a:lnTo>
                <a:lnTo>
                  <a:pt x="199" y="0"/>
                </a:lnTo>
                <a:lnTo>
                  <a:pt x="196" y="0"/>
                </a:lnTo>
                <a:lnTo>
                  <a:pt x="196" y="3"/>
                </a:lnTo>
                <a:lnTo>
                  <a:pt x="197" y="4"/>
                </a:lnTo>
                <a:lnTo>
                  <a:pt x="197" y="8"/>
                </a:lnTo>
                <a:lnTo>
                  <a:pt x="197" y="11"/>
                </a:lnTo>
                <a:lnTo>
                  <a:pt x="199" y="14"/>
                </a:lnTo>
                <a:lnTo>
                  <a:pt x="199" y="18"/>
                </a:lnTo>
                <a:lnTo>
                  <a:pt x="199" y="21"/>
                </a:lnTo>
                <a:lnTo>
                  <a:pt x="199" y="24"/>
                </a:lnTo>
                <a:lnTo>
                  <a:pt x="199" y="28"/>
                </a:lnTo>
                <a:lnTo>
                  <a:pt x="199" y="31"/>
                </a:lnTo>
                <a:lnTo>
                  <a:pt x="199" y="34"/>
                </a:lnTo>
                <a:lnTo>
                  <a:pt x="197" y="38"/>
                </a:lnTo>
                <a:lnTo>
                  <a:pt x="197" y="41"/>
                </a:lnTo>
                <a:lnTo>
                  <a:pt x="197" y="44"/>
                </a:lnTo>
                <a:lnTo>
                  <a:pt x="196" y="48"/>
                </a:lnTo>
                <a:lnTo>
                  <a:pt x="196" y="51"/>
                </a:lnTo>
                <a:lnTo>
                  <a:pt x="199" y="51"/>
                </a:lnTo>
                <a:lnTo>
                  <a:pt x="199" y="48"/>
                </a:lnTo>
                <a:lnTo>
                  <a:pt x="201" y="44"/>
                </a:lnTo>
                <a:lnTo>
                  <a:pt x="201" y="41"/>
                </a:lnTo>
                <a:lnTo>
                  <a:pt x="201" y="38"/>
                </a:lnTo>
                <a:lnTo>
                  <a:pt x="202" y="34"/>
                </a:lnTo>
                <a:lnTo>
                  <a:pt x="202" y="31"/>
                </a:lnTo>
                <a:lnTo>
                  <a:pt x="202" y="28"/>
                </a:lnTo>
                <a:lnTo>
                  <a:pt x="202" y="24"/>
                </a:lnTo>
                <a:close/>
                <a:moveTo>
                  <a:pt x="3"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7" y="0"/>
                </a:lnTo>
                <a:lnTo>
                  <a:pt x="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92" name="Freeform 1797">
            <a:extLst>
              <a:ext uri="{FF2B5EF4-FFF2-40B4-BE49-F238E27FC236}">
                <a16:creationId xmlns:a16="http://schemas.microsoft.com/office/drawing/2014/main" id="{20E20DC7-4E09-81FD-A809-37933DFBF389}"/>
              </a:ext>
            </a:extLst>
          </p:cNvPr>
          <p:cNvSpPr>
            <a:spLocks noEditPoints="1"/>
          </p:cNvSpPr>
          <p:nvPr/>
        </p:nvSpPr>
        <p:spPr bwMode="auto">
          <a:xfrm>
            <a:off x="2400300" y="2719388"/>
            <a:ext cx="315913" cy="80963"/>
          </a:xfrm>
          <a:custGeom>
            <a:avLst/>
            <a:gdLst>
              <a:gd name="T0" fmla="*/ 199 w 199"/>
              <a:gd name="T1" fmla="*/ 21 h 51"/>
              <a:gd name="T2" fmla="*/ 199 w 199"/>
              <a:gd name="T3" fmla="*/ 14 h 51"/>
              <a:gd name="T4" fmla="*/ 197 w 199"/>
              <a:gd name="T5" fmla="*/ 8 h 51"/>
              <a:gd name="T6" fmla="*/ 195 w 199"/>
              <a:gd name="T7" fmla="*/ 3 h 51"/>
              <a:gd name="T8" fmla="*/ 192 w 199"/>
              <a:gd name="T9" fmla="*/ 0 h 51"/>
              <a:gd name="T10" fmla="*/ 194 w 199"/>
              <a:gd name="T11" fmla="*/ 4 h 51"/>
              <a:gd name="T12" fmla="*/ 194 w 199"/>
              <a:gd name="T13" fmla="*/ 11 h 51"/>
              <a:gd name="T14" fmla="*/ 195 w 199"/>
              <a:gd name="T15" fmla="*/ 18 h 51"/>
              <a:gd name="T16" fmla="*/ 195 w 199"/>
              <a:gd name="T17" fmla="*/ 24 h 51"/>
              <a:gd name="T18" fmla="*/ 195 w 199"/>
              <a:gd name="T19" fmla="*/ 31 h 51"/>
              <a:gd name="T20" fmla="*/ 194 w 199"/>
              <a:gd name="T21" fmla="*/ 38 h 51"/>
              <a:gd name="T22" fmla="*/ 194 w 199"/>
              <a:gd name="T23" fmla="*/ 44 h 51"/>
              <a:gd name="T24" fmla="*/ 192 w 199"/>
              <a:gd name="T25" fmla="*/ 51 h 51"/>
              <a:gd name="T26" fmla="*/ 195 w 199"/>
              <a:gd name="T27" fmla="*/ 48 h 51"/>
              <a:gd name="T28" fmla="*/ 197 w 199"/>
              <a:gd name="T29" fmla="*/ 41 h 51"/>
              <a:gd name="T30" fmla="*/ 199 w 199"/>
              <a:gd name="T31" fmla="*/ 34 h 51"/>
              <a:gd name="T32" fmla="*/ 199 w 199"/>
              <a:gd name="T33" fmla="*/ 28 h 51"/>
              <a:gd name="T34" fmla="*/ 3 w 199"/>
              <a:gd name="T35" fmla="*/ 0 h 51"/>
              <a:gd name="T36" fmla="*/ 3 w 199"/>
              <a:gd name="T37" fmla="*/ 4 h 51"/>
              <a:gd name="T38" fmla="*/ 1 w 199"/>
              <a:gd name="T39" fmla="*/ 11 h 51"/>
              <a:gd name="T40" fmla="*/ 0 w 199"/>
              <a:gd name="T41" fmla="*/ 18 h 51"/>
              <a:gd name="T42" fmla="*/ 0 w 199"/>
              <a:gd name="T43" fmla="*/ 24 h 51"/>
              <a:gd name="T44" fmla="*/ 0 w 199"/>
              <a:gd name="T45" fmla="*/ 31 h 51"/>
              <a:gd name="T46" fmla="*/ 1 w 199"/>
              <a:gd name="T47" fmla="*/ 38 h 51"/>
              <a:gd name="T48" fmla="*/ 1 w 199"/>
              <a:gd name="T49" fmla="*/ 44 h 51"/>
              <a:gd name="T50" fmla="*/ 3 w 199"/>
              <a:gd name="T51" fmla="*/ 51 h 51"/>
              <a:gd name="T52" fmla="*/ 6 w 199"/>
              <a:gd name="T53" fmla="*/ 48 h 51"/>
              <a:gd name="T54" fmla="*/ 5 w 199"/>
              <a:gd name="T55" fmla="*/ 41 h 51"/>
              <a:gd name="T56" fmla="*/ 5 w 199"/>
              <a:gd name="T57" fmla="*/ 34 h 51"/>
              <a:gd name="T58" fmla="*/ 3 w 199"/>
              <a:gd name="T59" fmla="*/ 28 h 51"/>
              <a:gd name="T60" fmla="*/ 3 w 199"/>
              <a:gd name="T61" fmla="*/ 21 h 51"/>
              <a:gd name="T62" fmla="*/ 5 w 199"/>
              <a:gd name="T63" fmla="*/ 14 h 51"/>
              <a:gd name="T64" fmla="*/ 5 w 199"/>
              <a:gd name="T65" fmla="*/ 8 h 51"/>
              <a:gd name="T66" fmla="*/ 6 w 199"/>
              <a:gd name="T67" fmla="*/ 3 h 51"/>
              <a:gd name="T68" fmla="*/ 3 w 19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9" h="51">
                <a:moveTo>
                  <a:pt x="199" y="24"/>
                </a:moveTo>
                <a:lnTo>
                  <a:pt x="199" y="21"/>
                </a:lnTo>
                <a:lnTo>
                  <a:pt x="199" y="18"/>
                </a:lnTo>
                <a:lnTo>
                  <a:pt x="199" y="14"/>
                </a:lnTo>
                <a:lnTo>
                  <a:pt x="197" y="11"/>
                </a:lnTo>
                <a:lnTo>
                  <a:pt x="197" y="8"/>
                </a:lnTo>
                <a:lnTo>
                  <a:pt x="197" y="4"/>
                </a:lnTo>
                <a:lnTo>
                  <a:pt x="195" y="3"/>
                </a:lnTo>
                <a:lnTo>
                  <a:pt x="195" y="0"/>
                </a:lnTo>
                <a:lnTo>
                  <a:pt x="192" y="0"/>
                </a:lnTo>
                <a:lnTo>
                  <a:pt x="192" y="3"/>
                </a:lnTo>
                <a:lnTo>
                  <a:pt x="194" y="4"/>
                </a:lnTo>
                <a:lnTo>
                  <a:pt x="194" y="8"/>
                </a:lnTo>
                <a:lnTo>
                  <a:pt x="194" y="11"/>
                </a:lnTo>
                <a:lnTo>
                  <a:pt x="195" y="14"/>
                </a:lnTo>
                <a:lnTo>
                  <a:pt x="195" y="18"/>
                </a:lnTo>
                <a:lnTo>
                  <a:pt x="195" y="21"/>
                </a:lnTo>
                <a:lnTo>
                  <a:pt x="195" y="24"/>
                </a:lnTo>
                <a:lnTo>
                  <a:pt x="195" y="28"/>
                </a:lnTo>
                <a:lnTo>
                  <a:pt x="195" y="31"/>
                </a:lnTo>
                <a:lnTo>
                  <a:pt x="195" y="34"/>
                </a:lnTo>
                <a:lnTo>
                  <a:pt x="194" y="38"/>
                </a:lnTo>
                <a:lnTo>
                  <a:pt x="194" y="41"/>
                </a:lnTo>
                <a:lnTo>
                  <a:pt x="194" y="44"/>
                </a:lnTo>
                <a:lnTo>
                  <a:pt x="192" y="48"/>
                </a:lnTo>
                <a:lnTo>
                  <a:pt x="192" y="51"/>
                </a:lnTo>
                <a:lnTo>
                  <a:pt x="195" y="51"/>
                </a:lnTo>
                <a:lnTo>
                  <a:pt x="195" y="48"/>
                </a:lnTo>
                <a:lnTo>
                  <a:pt x="197" y="44"/>
                </a:lnTo>
                <a:lnTo>
                  <a:pt x="197" y="41"/>
                </a:lnTo>
                <a:lnTo>
                  <a:pt x="197" y="38"/>
                </a:lnTo>
                <a:lnTo>
                  <a:pt x="199" y="34"/>
                </a:lnTo>
                <a:lnTo>
                  <a:pt x="199" y="31"/>
                </a:lnTo>
                <a:lnTo>
                  <a:pt x="199" y="28"/>
                </a:lnTo>
                <a:lnTo>
                  <a:pt x="199" y="24"/>
                </a:lnTo>
                <a:close/>
                <a:moveTo>
                  <a:pt x="3"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93" name="Freeform 1798">
            <a:extLst>
              <a:ext uri="{FF2B5EF4-FFF2-40B4-BE49-F238E27FC236}">
                <a16:creationId xmlns:a16="http://schemas.microsoft.com/office/drawing/2014/main" id="{B1D53B64-1CB5-28E0-544B-EA64AFBE9673}"/>
              </a:ext>
            </a:extLst>
          </p:cNvPr>
          <p:cNvSpPr>
            <a:spLocks noEditPoints="1"/>
          </p:cNvSpPr>
          <p:nvPr/>
        </p:nvSpPr>
        <p:spPr bwMode="auto">
          <a:xfrm>
            <a:off x="2401888" y="2719388"/>
            <a:ext cx="311150" cy="80963"/>
          </a:xfrm>
          <a:custGeom>
            <a:avLst/>
            <a:gdLst>
              <a:gd name="T0" fmla="*/ 196 w 196"/>
              <a:gd name="T1" fmla="*/ 21 h 51"/>
              <a:gd name="T2" fmla="*/ 196 w 196"/>
              <a:gd name="T3" fmla="*/ 14 h 51"/>
              <a:gd name="T4" fmla="*/ 194 w 196"/>
              <a:gd name="T5" fmla="*/ 8 h 51"/>
              <a:gd name="T6" fmla="*/ 193 w 196"/>
              <a:gd name="T7" fmla="*/ 3 h 51"/>
              <a:gd name="T8" fmla="*/ 189 w 196"/>
              <a:gd name="T9" fmla="*/ 0 h 51"/>
              <a:gd name="T10" fmla="*/ 191 w 196"/>
              <a:gd name="T11" fmla="*/ 4 h 51"/>
              <a:gd name="T12" fmla="*/ 191 w 196"/>
              <a:gd name="T13" fmla="*/ 11 h 51"/>
              <a:gd name="T14" fmla="*/ 193 w 196"/>
              <a:gd name="T15" fmla="*/ 18 h 51"/>
              <a:gd name="T16" fmla="*/ 193 w 196"/>
              <a:gd name="T17" fmla="*/ 24 h 51"/>
              <a:gd name="T18" fmla="*/ 193 w 196"/>
              <a:gd name="T19" fmla="*/ 31 h 51"/>
              <a:gd name="T20" fmla="*/ 191 w 196"/>
              <a:gd name="T21" fmla="*/ 38 h 51"/>
              <a:gd name="T22" fmla="*/ 191 w 196"/>
              <a:gd name="T23" fmla="*/ 44 h 51"/>
              <a:gd name="T24" fmla="*/ 189 w 196"/>
              <a:gd name="T25" fmla="*/ 51 h 51"/>
              <a:gd name="T26" fmla="*/ 193 w 196"/>
              <a:gd name="T27" fmla="*/ 48 h 51"/>
              <a:gd name="T28" fmla="*/ 194 w 196"/>
              <a:gd name="T29" fmla="*/ 41 h 51"/>
              <a:gd name="T30" fmla="*/ 196 w 196"/>
              <a:gd name="T31" fmla="*/ 34 h 51"/>
              <a:gd name="T32" fmla="*/ 196 w 196"/>
              <a:gd name="T33" fmla="*/ 28 h 51"/>
              <a:gd name="T34" fmla="*/ 4 w 196"/>
              <a:gd name="T35" fmla="*/ 0 h 51"/>
              <a:gd name="T36" fmla="*/ 4 w 196"/>
              <a:gd name="T37" fmla="*/ 4 h 51"/>
              <a:gd name="T38" fmla="*/ 2 w 196"/>
              <a:gd name="T39" fmla="*/ 11 h 51"/>
              <a:gd name="T40" fmla="*/ 0 w 196"/>
              <a:gd name="T41" fmla="*/ 18 h 51"/>
              <a:gd name="T42" fmla="*/ 0 w 196"/>
              <a:gd name="T43" fmla="*/ 24 h 51"/>
              <a:gd name="T44" fmla="*/ 0 w 196"/>
              <a:gd name="T45" fmla="*/ 31 h 51"/>
              <a:gd name="T46" fmla="*/ 2 w 196"/>
              <a:gd name="T47" fmla="*/ 38 h 51"/>
              <a:gd name="T48" fmla="*/ 2 w 196"/>
              <a:gd name="T49" fmla="*/ 44 h 51"/>
              <a:gd name="T50" fmla="*/ 4 w 196"/>
              <a:gd name="T51" fmla="*/ 51 h 51"/>
              <a:gd name="T52" fmla="*/ 7 w 196"/>
              <a:gd name="T53" fmla="*/ 48 h 51"/>
              <a:gd name="T54" fmla="*/ 5 w 196"/>
              <a:gd name="T55" fmla="*/ 41 h 51"/>
              <a:gd name="T56" fmla="*/ 5 w 196"/>
              <a:gd name="T57" fmla="*/ 34 h 51"/>
              <a:gd name="T58" fmla="*/ 4 w 196"/>
              <a:gd name="T59" fmla="*/ 28 h 51"/>
              <a:gd name="T60" fmla="*/ 4 w 196"/>
              <a:gd name="T61" fmla="*/ 21 h 51"/>
              <a:gd name="T62" fmla="*/ 5 w 196"/>
              <a:gd name="T63" fmla="*/ 14 h 51"/>
              <a:gd name="T64" fmla="*/ 5 w 196"/>
              <a:gd name="T65" fmla="*/ 8 h 51"/>
              <a:gd name="T66" fmla="*/ 7 w 196"/>
              <a:gd name="T67" fmla="*/ 3 h 51"/>
              <a:gd name="T68" fmla="*/ 4 w 1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6" h="51">
                <a:moveTo>
                  <a:pt x="196" y="24"/>
                </a:moveTo>
                <a:lnTo>
                  <a:pt x="196" y="21"/>
                </a:lnTo>
                <a:lnTo>
                  <a:pt x="196" y="18"/>
                </a:lnTo>
                <a:lnTo>
                  <a:pt x="196" y="14"/>
                </a:lnTo>
                <a:lnTo>
                  <a:pt x="194" y="11"/>
                </a:lnTo>
                <a:lnTo>
                  <a:pt x="194" y="8"/>
                </a:lnTo>
                <a:lnTo>
                  <a:pt x="194" y="4"/>
                </a:lnTo>
                <a:lnTo>
                  <a:pt x="193" y="3"/>
                </a:lnTo>
                <a:lnTo>
                  <a:pt x="193" y="0"/>
                </a:lnTo>
                <a:lnTo>
                  <a:pt x="189" y="0"/>
                </a:lnTo>
                <a:lnTo>
                  <a:pt x="189" y="3"/>
                </a:lnTo>
                <a:lnTo>
                  <a:pt x="191" y="4"/>
                </a:lnTo>
                <a:lnTo>
                  <a:pt x="191" y="8"/>
                </a:lnTo>
                <a:lnTo>
                  <a:pt x="191" y="11"/>
                </a:lnTo>
                <a:lnTo>
                  <a:pt x="193" y="14"/>
                </a:lnTo>
                <a:lnTo>
                  <a:pt x="193" y="18"/>
                </a:lnTo>
                <a:lnTo>
                  <a:pt x="193" y="21"/>
                </a:lnTo>
                <a:lnTo>
                  <a:pt x="193" y="24"/>
                </a:lnTo>
                <a:lnTo>
                  <a:pt x="193" y="28"/>
                </a:lnTo>
                <a:lnTo>
                  <a:pt x="193" y="31"/>
                </a:lnTo>
                <a:lnTo>
                  <a:pt x="193" y="34"/>
                </a:lnTo>
                <a:lnTo>
                  <a:pt x="191" y="38"/>
                </a:lnTo>
                <a:lnTo>
                  <a:pt x="191" y="41"/>
                </a:lnTo>
                <a:lnTo>
                  <a:pt x="191" y="44"/>
                </a:lnTo>
                <a:lnTo>
                  <a:pt x="189" y="48"/>
                </a:lnTo>
                <a:lnTo>
                  <a:pt x="189" y="51"/>
                </a:lnTo>
                <a:lnTo>
                  <a:pt x="193" y="51"/>
                </a:lnTo>
                <a:lnTo>
                  <a:pt x="193" y="48"/>
                </a:lnTo>
                <a:lnTo>
                  <a:pt x="194" y="44"/>
                </a:lnTo>
                <a:lnTo>
                  <a:pt x="194" y="41"/>
                </a:lnTo>
                <a:lnTo>
                  <a:pt x="194" y="38"/>
                </a:lnTo>
                <a:lnTo>
                  <a:pt x="196" y="34"/>
                </a:lnTo>
                <a:lnTo>
                  <a:pt x="196" y="31"/>
                </a:lnTo>
                <a:lnTo>
                  <a:pt x="196" y="28"/>
                </a:lnTo>
                <a:lnTo>
                  <a:pt x="196" y="24"/>
                </a:lnTo>
                <a:close/>
                <a:moveTo>
                  <a:pt x="4"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9" y="0"/>
                </a:lnTo>
                <a:lnTo>
                  <a:pt x="4"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94" name="Freeform 1799">
            <a:extLst>
              <a:ext uri="{FF2B5EF4-FFF2-40B4-BE49-F238E27FC236}">
                <a16:creationId xmlns:a16="http://schemas.microsoft.com/office/drawing/2014/main" id="{C2512B2E-8608-8ABA-E320-3684BC7ED81D}"/>
              </a:ext>
            </a:extLst>
          </p:cNvPr>
          <p:cNvSpPr>
            <a:spLocks noEditPoints="1"/>
          </p:cNvSpPr>
          <p:nvPr/>
        </p:nvSpPr>
        <p:spPr bwMode="auto">
          <a:xfrm>
            <a:off x="2405063" y="2719388"/>
            <a:ext cx="304800" cy="80963"/>
          </a:xfrm>
          <a:custGeom>
            <a:avLst/>
            <a:gdLst>
              <a:gd name="T0" fmla="*/ 192 w 192"/>
              <a:gd name="T1" fmla="*/ 21 h 51"/>
              <a:gd name="T2" fmla="*/ 192 w 192"/>
              <a:gd name="T3" fmla="*/ 14 h 51"/>
              <a:gd name="T4" fmla="*/ 191 w 192"/>
              <a:gd name="T5" fmla="*/ 8 h 51"/>
              <a:gd name="T6" fmla="*/ 189 w 192"/>
              <a:gd name="T7" fmla="*/ 3 h 51"/>
              <a:gd name="T8" fmla="*/ 186 w 192"/>
              <a:gd name="T9" fmla="*/ 0 h 51"/>
              <a:gd name="T10" fmla="*/ 187 w 192"/>
              <a:gd name="T11" fmla="*/ 4 h 51"/>
              <a:gd name="T12" fmla="*/ 187 w 192"/>
              <a:gd name="T13" fmla="*/ 11 h 51"/>
              <a:gd name="T14" fmla="*/ 189 w 192"/>
              <a:gd name="T15" fmla="*/ 18 h 51"/>
              <a:gd name="T16" fmla="*/ 189 w 192"/>
              <a:gd name="T17" fmla="*/ 24 h 51"/>
              <a:gd name="T18" fmla="*/ 189 w 192"/>
              <a:gd name="T19" fmla="*/ 31 h 51"/>
              <a:gd name="T20" fmla="*/ 187 w 192"/>
              <a:gd name="T21" fmla="*/ 38 h 51"/>
              <a:gd name="T22" fmla="*/ 187 w 192"/>
              <a:gd name="T23" fmla="*/ 44 h 51"/>
              <a:gd name="T24" fmla="*/ 186 w 192"/>
              <a:gd name="T25" fmla="*/ 51 h 51"/>
              <a:gd name="T26" fmla="*/ 189 w 192"/>
              <a:gd name="T27" fmla="*/ 48 h 51"/>
              <a:gd name="T28" fmla="*/ 191 w 192"/>
              <a:gd name="T29" fmla="*/ 41 h 51"/>
              <a:gd name="T30" fmla="*/ 192 w 192"/>
              <a:gd name="T31" fmla="*/ 34 h 51"/>
              <a:gd name="T32" fmla="*/ 192 w 192"/>
              <a:gd name="T33" fmla="*/ 28 h 51"/>
              <a:gd name="T34" fmla="*/ 5 w 192"/>
              <a:gd name="T35" fmla="*/ 0 h 51"/>
              <a:gd name="T36" fmla="*/ 3 w 192"/>
              <a:gd name="T37" fmla="*/ 4 h 51"/>
              <a:gd name="T38" fmla="*/ 2 w 192"/>
              <a:gd name="T39" fmla="*/ 11 h 51"/>
              <a:gd name="T40" fmla="*/ 0 w 192"/>
              <a:gd name="T41" fmla="*/ 18 h 51"/>
              <a:gd name="T42" fmla="*/ 0 w 192"/>
              <a:gd name="T43" fmla="*/ 24 h 51"/>
              <a:gd name="T44" fmla="*/ 0 w 192"/>
              <a:gd name="T45" fmla="*/ 31 h 51"/>
              <a:gd name="T46" fmla="*/ 2 w 192"/>
              <a:gd name="T47" fmla="*/ 38 h 51"/>
              <a:gd name="T48" fmla="*/ 2 w 192"/>
              <a:gd name="T49" fmla="*/ 44 h 51"/>
              <a:gd name="T50" fmla="*/ 3 w 192"/>
              <a:gd name="T51" fmla="*/ 51 h 51"/>
              <a:gd name="T52" fmla="*/ 7 w 192"/>
              <a:gd name="T53" fmla="*/ 48 h 51"/>
              <a:gd name="T54" fmla="*/ 5 w 192"/>
              <a:gd name="T55" fmla="*/ 41 h 51"/>
              <a:gd name="T56" fmla="*/ 5 w 192"/>
              <a:gd name="T57" fmla="*/ 34 h 51"/>
              <a:gd name="T58" fmla="*/ 3 w 192"/>
              <a:gd name="T59" fmla="*/ 28 h 51"/>
              <a:gd name="T60" fmla="*/ 3 w 192"/>
              <a:gd name="T61" fmla="*/ 21 h 51"/>
              <a:gd name="T62" fmla="*/ 5 w 192"/>
              <a:gd name="T63" fmla="*/ 14 h 51"/>
              <a:gd name="T64" fmla="*/ 5 w 192"/>
              <a:gd name="T65" fmla="*/ 8 h 51"/>
              <a:gd name="T66" fmla="*/ 7 w 192"/>
              <a:gd name="T67" fmla="*/ 3 h 51"/>
              <a:gd name="T68" fmla="*/ 5 w 19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2" h="51">
                <a:moveTo>
                  <a:pt x="192" y="24"/>
                </a:moveTo>
                <a:lnTo>
                  <a:pt x="192" y="21"/>
                </a:lnTo>
                <a:lnTo>
                  <a:pt x="192" y="18"/>
                </a:lnTo>
                <a:lnTo>
                  <a:pt x="192" y="14"/>
                </a:lnTo>
                <a:lnTo>
                  <a:pt x="191" y="11"/>
                </a:lnTo>
                <a:lnTo>
                  <a:pt x="191" y="8"/>
                </a:lnTo>
                <a:lnTo>
                  <a:pt x="191" y="4"/>
                </a:lnTo>
                <a:lnTo>
                  <a:pt x="189" y="3"/>
                </a:lnTo>
                <a:lnTo>
                  <a:pt x="189" y="0"/>
                </a:lnTo>
                <a:lnTo>
                  <a:pt x="186" y="0"/>
                </a:lnTo>
                <a:lnTo>
                  <a:pt x="186" y="3"/>
                </a:lnTo>
                <a:lnTo>
                  <a:pt x="187" y="4"/>
                </a:lnTo>
                <a:lnTo>
                  <a:pt x="187" y="8"/>
                </a:lnTo>
                <a:lnTo>
                  <a:pt x="187" y="11"/>
                </a:lnTo>
                <a:lnTo>
                  <a:pt x="189" y="14"/>
                </a:lnTo>
                <a:lnTo>
                  <a:pt x="189" y="18"/>
                </a:lnTo>
                <a:lnTo>
                  <a:pt x="189" y="21"/>
                </a:lnTo>
                <a:lnTo>
                  <a:pt x="189" y="24"/>
                </a:lnTo>
                <a:lnTo>
                  <a:pt x="189" y="28"/>
                </a:lnTo>
                <a:lnTo>
                  <a:pt x="189" y="31"/>
                </a:lnTo>
                <a:lnTo>
                  <a:pt x="189" y="34"/>
                </a:lnTo>
                <a:lnTo>
                  <a:pt x="187" y="38"/>
                </a:lnTo>
                <a:lnTo>
                  <a:pt x="187" y="41"/>
                </a:lnTo>
                <a:lnTo>
                  <a:pt x="187" y="44"/>
                </a:lnTo>
                <a:lnTo>
                  <a:pt x="186" y="48"/>
                </a:lnTo>
                <a:lnTo>
                  <a:pt x="186" y="51"/>
                </a:lnTo>
                <a:lnTo>
                  <a:pt x="189" y="51"/>
                </a:lnTo>
                <a:lnTo>
                  <a:pt x="189" y="48"/>
                </a:lnTo>
                <a:lnTo>
                  <a:pt x="191" y="44"/>
                </a:lnTo>
                <a:lnTo>
                  <a:pt x="191" y="41"/>
                </a:lnTo>
                <a:lnTo>
                  <a:pt x="191" y="38"/>
                </a:lnTo>
                <a:lnTo>
                  <a:pt x="192" y="34"/>
                </a:lnTo>
                <a:lnTo>
                  <a:pt x="192" y="31"/>
                </a:lnTo>
                <a:lnTo>
                  <a:pt x="192" y="28"/>
                </a:lnTo>
                <a:lnTo>
                  <a:pt x="19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8"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95" name="Freeform 1800">
            <a:extLst>
              <a:ext uri="{FF2B5EF4-FFF2-40B4-BE49-F238E27FC236}">
                <a16:creationId xmlns:a16="http://schemas.microsoft.com/office/drawing/2014/main" id="{F9C8E9B2-958D-E52E-9D3E-82B7163A9E24}"/>
              </a:ext>
            </a:extLst>
          </p:cNvPr>
          <p:cNvSpPr>
            <a:spLocks noEditPoints="1"/>
          </p:cNvSpPr>
          <p:nvPr/>
        </p:nvSpPr>
        <p:spPr bwMode="auto">
          <a:xfrm>
            <a:off x="2408238" y="2719388"/>
            <a:ext cx="300038" cy="80963"/>
          </a:xfrm>
          <a:custGeom>
            <a:avLst/>
            <a:gdLst>
              <a:gd name="T0" fmla="*/ 189 w 189"/>
              <a:gd name="T1" fmla="*/ 21 h 51"/>
              <a:gd name="T2" fmla="*/ 189 w 189"/>
              <a:gd name="T3" fmla="*/ 14 h 51"/>
              <a:gd name="T4" fmla="*/ 187 w 189"/>
              <a:gd name="T5" fmla="*/ 8 h 51"/>
              <a:gd name="T6" fmla="*/ 185 w 189"/>
              <a:gd name="T7" fmla="*/ 3 h 51"/>
              <a:gd name="T8" fmla="*/ 182 w 189"/>
              <a:gd name="T9" fmla="*/ 0 h 51"/>
              <a:gd name="T10" fmla="*/ 184 w 189"/>
              <a:gd name="T11" fmla="*/ 4 h 51"/>
              <a:gd name="T12" fmla="*/ 184 w 189"/>
              <a:gd name="T13" fmla="*/ 11 h 51"/>
              <a:gd name="T14" fmla="*/ 185 w 189"/>
              <a:gd name="T15" fmla="*/ 18 h 51"/>
              <a:gd name="T16" fmla="*/ 185 w 189"/>
              <a:gd name="T17" fmla="*/ 24 h 51"/>
              <a:gd name="T18" fmla="*/ 185 w 189"/>
              <a:gd name="T19" fmla="*/ 31 h 51"/>
              <a:gd name="T20" fmla="*/ 184 w 189"/>
              <a:gd name="T21" fmla="*/ 38 h 51"/>
              <a:gd name="T22" fmla="*/ 184 w 189"/>
              <a:gd name="T23" fmla="*/ 44 h 51"/>
              <a:gd name="T24" fmla="*/ 182 w 189"/>
              <a:gd name="T25" fmla="*/ 51 h 51"/>
              <a:gd name="T26" fmla="*/ 185 w 189"/>
              <a:gd name="T27" fmla="*/ 48 h 51"/>
              <a:gd name="T28" fmla="*/ 187 w 189"/>
              <a:gd name="T29" fmla="*/ 41 h 51"/>
              <a:gd name="T30" fmla="*/ 189 w 189"/>
              <a:gd name="T31" fmla="*/ 34 h 51"/>
              <a:gd name="T32" fmla="*/ 189 w 189"/>
              <a:gd name="T33" fmla="*/ 28 h 51"/>
              <a:gd name="T34" fmla="*/ 5 w 189"/>
              <a:gd name="T35" fmla="*/ 0 h 51"/>
              <a:gd name="T36" fmla="*/ 3 w 189"/>
              <a:gd name="T37" fmla="*/ 4 h 51"/>
              <a:gd name="T38" fmla="*/ 1 w 189"/>
              <a:gd name="T39" fmla="*/ 11 h 51"/>
              <a:gd name="T40" fmla="*/ 0 w 189"/>
              <a:gd name="T41" fmla="*/ 18 h 51"/>
              <a:gd name="T42" fmla="*/ 0 w 189"/>
              <a:gd name="T43" fmla="*/ 24 h 51"/>
              <a:gd name="T44" fmla="*/ 0 w 189"/>
              <a:gd name="T45" fmla="*/ 31 h 51"/>
              <a:gd name="T46" fmla="*/ 1 w 189"/>
              <a:gd name="T47" fmla="*/ 38 h 51"/>
              <a:gd name="T48" fmla="*/ 1 w 189"/>
              <a:gd name="T49" fmla="*/ 44 h 51"/>
              <a:gd name="T50" fmla="*/ 3 w 189"/>
              <a:gd name="T51" fmla="*/ 51 h 51"/>
              <a:gd name="T52" fmla="*/ 6 w 189"/>
              <a:gd name="T53" fmla="*/ 48 h 51"/>
              <a:gd name="T54" fmla="*/ 5 w 189"/>
              <a:gd name="T55" fmla="*/ 41 h 51"/>
              <a:gd name="T56" fmla="*/ 5 w 189"/>
              <a:gd name="T57" fmla="*/ 34 h 51"/>
              <a:gd name="T58" fmla="*/ 3 w 189"/>
              <a:gd name="T59" fmla="*/ 28 h 51"/>
              <a:gd name="T60" fmla="*/ 3 w 189"/>
              <a:gd name="T61" fmla="*/ 21 h 51"/>
              <a:gd name="T62" fmla="*/ 5 w 189"/>
              <a:gd name="T63" fmla="*/ 14 h 51"/>
              <a:gd name="T64" fmla="*/ 5 w 189"/>
              <a:gd name="T65" fmla="*/ 8 h 51"/>
              <a:gd name="T66" fmla="*/ 6 w 189"/>
              <a:gd name="T67" fmla="*/ 3 h 51"/>
              <a:gd name="T68" fmla="*/ 5 w 18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9" h="51">
                <a:moveTo>
                  <a:pt x="189" y="24"/>
                </a:moveTo>
                <a:lnTo>
                  <a:pt x="189" y="21"/>
                </a:lnTo>
                <a:lnTo>
                  <a:pt x="189" y="18"/>
                </a:lnTo>
                <a:lnTo>
                  <a:pt x="189" y="14"/>
                </a:lnTo>
                <a:lnTo>
                  <a:pt x="187" y="11"/>
                </a:lnTo>
                <a:lnTo>
                  <a:pt x="187" y="8"/>
                </a:lnTo>
                <a:lnTo>
                  <a:pt x="187" y="4"/>
                </a:lnTo>
                <a:lnTo>
                  <a:pt x="185" y="3"/>
                </a:lnTo>
                <a:lnTo>
                  <a:pt x="185" y="0"/>
                </a:lnTo>
                <a:lnTo>
                  <a:pt x="182" y="0"/>
                </a:lnTo>
                <a:lnTo>
                  <a:pt x="182" y="3"/>
                </a:lnTo>
                <a:lnTo>
                  <a:pt x="184" y="4"/>
                </a:lnTo>
                <a:lnTo>
                  <a:pt x="184" y="8"/>
                </a:lnTo>
                <a:lnTo>
                  <a:pt x="184" y="11"/>
                </a:lnTo>
                <a:lnTo>
                  <a:pt x="185" y="14"/>
                </a:lnTo>
                <a:lnTo>
                  <a:pt x="185" y="18"/>
                </a:lnTo>
                <a:lnTo>
                  <a:pt x="185" y="21"/>
                </a:lnTo>
                <a:lnTo>
                  <a:pt x="185" y="24"/>
                </a:lnTo>
                <a:lnTo>
                  <a:pt x="185" y="28"/>
                </a:lnTo>
                <a:lnTo>
                  <a:pt x="185" y="31"/>
                </a:lnTo>
                <a:lnTo>
                  <a:pt x="185" y="34"/>
                </a:lnTo>
                <a:lnTo>
                  <a:pt x="184" y="38"/>
                </a:lnTo>
                <a:lnTo>
                  <a:pt x="184" y="41"/>
                </a:lnTo>
                <a:lnTo>
                  <a:pt x="184" y="44"/>
                </a:lnTo>
                <a:lnTo>
                  <a:pt x="182" y="48"/>
                </a:lnTo>
                <a:lnTo>
                  <a:pt x="182" y="51"/>
                </a:lnTo>
                <a:lnTo>
                  <a:pt x="185" y="51"/>
                </a:lnTo>
                <a:lnTo>
                  <a:pt x="185" y="48"/>
                </a:lnTo>
                <a:lnTo>
                  <a:pt x="187" y="44"/>
                </a:lnTo>
                <a:lnTo>
                  <a:pt x="187" y="41"/>
                </a:lnTo>
                <a:lnTo>
                  <a:pt x="187" y="38"/>
                </a:lnTo>
                <a:lnTo>
                  <a:pt x="189" y="34"/>
                </a:lnTo>
                <a:lnTo>
                  <a:pt x="189" y="31"/>
                </a:lnTo>
                <a:lnTo>
                  <a:pt x="189" y="28"/>
                </a:lnTo>
                <a:lnTo>
                  <a:pt x="189" y="24"/>
                </a:lnTo>
                <a:close/>
                <a:moveTo>
                  <a:pt x="5"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96" name="Freeform 1801">
            <a:extLst>
              <a:ext uri="{FF2B5EF4-FFF2-40B4-BE49-F238E27FC236}">
                <a16:creationId xmlns:a16="http://schemas.microsoft.com/office/drawing/2014/main" id="{728B45A2-FFA5-17BE-1D54-B7B65ABEE029}"/>
              </a:ext>
            </a:extLst>
          </p:cNvPr>
          <p:cNvSpPr>
            <a:spLocks noEditPoints="1"/>
          </p:cNvSpPr>
          <p:nvPr/>
        </p:nvSpPr>
        <p:spPr bwMode="auto">
          <a:xfrm>
            <a:off x="2409825" y="2719388"/>
            <a:ext cx="295275" cy="80963"/>
          </a:xfrm>
          <a:custGeom>
            <a:avLst/>
            <a:gdLst>
              <a:gd name="T0" fmla="*/ 186 w 186"/>
              <a:gd name="T1" fmla="*/ 21 h 51"/>
              <a:gd name="T2" fmla="*/ 186 w 186"/>
              <a:gd name="T3" fmla="*/ 14 h 51"/>
              <a:gd name="T4" fmla="*/ 184 w 186"/>
              <a:gd name="T5" fmla="*/ 8 h 51"/>
              <a:gd name="T6" fmla="*/ 183 w 186"/>
              <a:gd name="T7" fmla="*/ 3 h 51"/>
              <a:gd name="T8" fmla="*/ 179 w 186"/>
              <a:gd name="T9" fmla="*/ 0 h 51"/>
              <a:gd name="T10" fmla="*/ 181 w 186"/>
              <a:gd name="T11" fmla="*/ 4 h 51"/>
              <a:gd name="T12" fmla="*/ 181 w 186"/>
              <a:gd name="T13" fmla="*/ 11 h 51"/>
              <a:gd name="T14" fmla="*/ 183 w 186"/>
              <a:gd name="T15" fmla="*/ 18 h 51"/>
              <a:gd name="T16" fmla="*/ 183 w 186"/>
              <a:gd name="T17" fmla="*/ 24 h 51"/>
              <a:gd name="T18" fmla="*/ 183 w 186"/>
              <a:gd name="T19" fmla="*/ 31 h 51"/>
              <a:gd name="T20" fmla="*/ 181 w 186"/>
              <a:gd name="T21" fmla="*/ 38 h 51"/>
              <a:gd name="T22" fmla="*/ 181 w 186"/>
              <a:gd name="T23" fmla="*/ 44 h 51"/>
              <a:gd name="T24" fmla="*/ 179 w 186"/>
              <a:gd name="T25" fmla="*/ 51 h 51"/>
              <a:gd name="T26" fmla="*/ 183 w 186"/>
              <a:gd name="T27" fmla="*/ 48 h 51"/>
              <a:gd name="T28" fmla="*/ 184 w 186"/>
              <a:gd name="T29" fmla="*/ 41 h 51"/>
              <a:gd name="T30" fmla="*/ 186 w 186"/>
              <a:gd name="T31" fmla="*/ 34 h 51"/>
              <a:gd name="T32" fmla="*/ 186 w 186"/>
              <a:gd name="T33" fmla="*/ 28 h 51"/>
              <a:gd name="T34" fmla="*/ 5 w 186"/>
              <a:gd name="T35" fmla="*/ 0 h 51"/>
              <a:gd name="T36" fmla="*/ 4 w 186"/>
              <a:gd name="T37" fmla="*/ 4 h 51"/>
              <a:gd name="T38" fmla="*/ 2 w 186"/>
              <a:gd name="T39" fmla="*/ 11 h 51"/>
              <a:gd name="T40" fmla="*/ 0 w 186"/>
              <a:gd name="T41" fmla="*/ 18 h 51"/>
              <a:gd name="T42" fmla="*/ 0 w 186"/>
              <a:gd name="T43" fmla="*/ 24 h 51"/>
              <a:gd name="T44" fmla="*/ 0 w 186"/>
              <a:gd name="T45" fmla="*/ 31 h 51"/>
              <a:gd name="T46" fmla="*/ 2 w 186"/>
              <a:gd name="T47" fmla="*/ 38 h 51"/>
              <a:gd name="T48" fmla="*/ 4 w 186"/>
              <a:gd name="T49" fmla="*/ 44 h 51"/>
              <a:gd name="T50" fmla="*/ 4 w 186"/>
              <a:gd name="T51" fmla="*/ 51 h 51"/>
              <a:gd name="T52" fmla="*/ 7 w 186"/>
              <a:gd name="T53" fmla="*/ 48 h 51"/>
              <a:gd name="T54" fmla="*/ 5 w 186"/>
              <a:gd name="T55" fmla="*/ 41 h 51"/>
              <a:gd name="T56" fmla="*/ 5 w 186"/>
              <a:gd name="T57" fmla="*/ 34 h 51"/>
              <a:gd name="T58" fmla="*/ 4 w 186"/>
              <a:gd name="T59" fmla="*/ 28 h 51"/>
              <a:gd name="T60" fmla="*/ 4 w 186"/>
              <a:gd name="T61" fmla="*/ 21 h 51"/>
              <a:gd name="T62" fmla="*/ 5 w 186"/>
              <a:gd name="T63" fmla="*/ 14 h 51"/>
              <a:gd name="T64" fmla="*/ 5 w 186"/>
              <a:gd name="T65" fmla="*/ 8 h 51"/>
              <a:gd name="T66" fmla="*/ 7 w 186"/>
              <a:gd name="T67" fmla="*/ 3 h 51"/>
              <a:gd name="T68" fmla="*/ 5 w 1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6" h="51">
                <a:moveTo>
                  <a:pt x="186" y="24"/>
                </a:moveTo>
                <a:lnTo>
                  <a:pt x="186" y="21"/>
                </a:lnTo>
                <a:lnTo>
                  <a:pt x="186" y="18"/>
                </a:lnTo>
                <a:lnTo>
                  <a:pt x="186" y="14"/>
                </a:lnTo>
                <a:lnTo>
                  <a:pt x="184" y="11"/>
                </a:lnTo>
                <a:lnTo>
                  <a:pt x="184" y="8"/>
                </a:lnTo>
                <a:lnTo>
                  <a:pt x="184" y="4"/>
                </a:lnTo>
                <a:lnTo>
                  <a:pt x="183" y="3"/>
                </a:lnTo>
                <a:lnTo>
                  <a:pt x="183" y="0"/>
                </a:lnTo>
                <a:lnTo>
                  <a:pt x="179" y="0"/>
                </a:lnTo>
                <a:lnTo>
                  <a:pt x="179" y="3"/>
                </a:lnTo>
                <a:lnTo>
                  <a:pt x="181" y="4"/>
                </a:lnTo>
                <a:lnTo>
                  <a:pt x="181" y="8"/>
                </a:lnTo>
                <a:lnTo>
                  <a:pt x="181" y="11"/>
                </a:lnTo>
                <a:lnTo>
                  <a:pt x="183" y="14"/>
                </a:lnTo>
                <a:lnTo>
                  <a:pt x="183" y="18"/>
                </a:lnTo>
                <a:lnTo>
                  <a:pt x="183" y="21"/>
                </a:lnTo>
                <a:lnTo>
                  <a:pt x="183" y="24"/>
                </a:lnTo>
                <a:lnTo>
                  <a:pt x="183" y="28"/>
                </a:lnTo>
                <a:lnTo>
                  <a:pt x="183" y="31"/>
                </a:lnTo>
                <a:lnTo>
                  <a:pt x="183" y="34"/>
                </a:lnTo>
                <a:lnTo>
                  <a:pt x="181" y="38"/>
                </a:lnTo>
                <a:lnTo>
                  <a:pt x="181" y="41"/>
                </a:lnTo>
                <a:lnTo>
                  <a:pt x="181" y="44"/>
                </a:lnTo>
                <a:lnTo>
                  <a:pt x="179" y="48"/>
                </a:lnTo>
                <a:lnTo>
                  <a:pt x="179" y="51"/>
                </a:lnTo>
                <a:lnTo>
                  <a:pt x="183" y="51"/>
                </a:lnTo>
                <a:lnTo>
                  <a:pt x="183" y="48"/>
                </a:lnTo>
                <a:lnTo>
                  <a:pt x="184" y="44"/>
                </a:lnTo>
                <a:lnTo>
                  <a:pt x="184" y="41"/>
                </a:lnTo>
                <a:lnTo>
                  <a:pt x="184" y="38"/>
                </a:lnTo>
                <a:lnTo>
                  <a:pt x="186" y="34"/>
                </a:lnTo>
                <a:lnTo>
                  <a:pt x="186" y="31"/>
                </a:lnTo>
                <a:lnTo>
                  <a:pt x="186" y="28"/>
                </a:lnTo>
                <a:lnTo>
                  <a:pt x="186" y="24"/>
                </a:lnTo>
                <a:close/>
                <a:moveTo>
                  <a:pt x="5"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4" y="51"/>
                </a:lnTo>
                <a:lnTo>
                  <a:pt x="7"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9"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97" name="Freeform 1802">
            <a:extLst>
              <a:ext uri="{FF2B5EF4-FFF2-40B4-BE49-F238E27FC236}">
                <a16:creationId xmlns:a16="http://schemas.microsoft.com/office/drawing/2014/main" id="{D7D20AED-7B25-94F0-019B-076449CF6E38}"/>
              </a:ext>
            </a:extLst>
          </p:cNvPr>
          <p:cNvSpPr>
            <a:spLocks noEditPoints="1"/>
          </p:cNvSpPr>
          <p:nvPr/>
        </p:nvSpPr>
        <p:spPr bwMode="auto">
          <a:xfrm>
            <a:off x="2413000" y="2719388"/>
            <a:ext cx="288925" cy="80963"/>
          </a:xfrm>
          <a:custGeom>
            <a:avLst/>
            <a:gdLst>
              <a:gd name="T0" fmla="*/ 182 w 182"/>
              <a:gd name="T1" fmla="*/ 21 h 51"/>
              <a:gd name="T2" fmla="*/ 182 w 182"/>
              <a:gd name="T3" fmla="*/ 14 h 51"/>
              <a:gd name="T4" fmla="*/ 181 w 182"/>
              <a:gd name="T5" fmla="*/ 8 h 51"/>
              <a:gd name="T6" fmla="*/ 179 w 182"/>
              <a:gd name="T7" fmla="*/ 3 h 51"/>
              <a:gd name="T8" fmla="*/ 174 w 182"/>
              <a:gd name="T9" fmla="*/ 0 h 51"/>
              <a:gd name="T10" fmla="*/ 177 w 182"/>
              <a:gd name="T11" fmla="*/ 4 h 51"/>
              <a:gd name="T12" fmla="*/ 177 w 182"/>
              <a:gd name="T13" fmla="*/ 11 h 51"/>
              <a:gd name="T14" fmla="*/ 179 w 182"/>
              <a:gd name="T15" fmla="*/ 18 h 51"/>
              <a:gd name="T16" fmla="*/ 179 w 182"/>
              <a:gd name="T17" fmla="*/ 24 h 51"/>
              <a:gd name="T18" fmla="*/ 179 w 182"/>
              <a:gd name="T19" fmla="*/ 31 h 51"/>
              <a:gd name="T20" fmla="*/ 177 w 182"/>
              <a:gd name="T21" fmla="*/ 38 h 51"/>
              <a:gd name="T22" fmla="*/ 177 w 182"/>
              <a:gd name="T23" fmla="*/ 44 h 51"/>
              <a:gd name="T24" fmla="*/ 176 w 182"/>
              <a:gd name="T25" fmla="*/ 51 h 51"/>
              <a:gd name="T26" fmla="*/ 179 w 182"/>
              <a:gd name="T27" fmla="*/ 48 h 51"/>
              <a:gd name="T28" fmla="*/ 181 w 182"/>
              <a:gd name="T29" fmla="*/ 41 h 51"/>
              <a:gd name="T30" fmla="*/ 182 w 182"/>
              <a:gd name="T31" fmla="*/ 34 h 51"/>
              <a:gd name="T32" fmla="*/ 182 w 182"/>
              <a:gd name="T33" fmla="*/ 28 h 51"/>
              <a:gd name="T34" fmla="*/ 5 w 182"/>
              <a:gd name="T35" fmla="*/ 0 h 51"/>
              <a:gd name="T36" fmla="*/ 3 w 182"/>
              <a:gd name="T37" fmla="*/ 4 h 51"/>
              <a:gd name="T38" fmla="*/ 2 w 182"/>
              <a:gd name="T39" fmla="*/ 11 h 51"/>
              <a:gd name="T40" fmla="*/ 0 w 182"/>
              <a:gd name="T41" fmla="*/ 18 h 51"/>
              <a:gd name="T42" fmla="*/ 0 w 182"/>
              <a:gd name="T43" fmla="*/ 24 h 51"/>
              <a:gd name="T44" fmla="*/ 0 w 182"/>
              <a:gd name="T45" fmla="*/ 31 h 51"/>
              <a:gd name="T46" fmla="*/ 2 w 182"/>
              <a:gd name="T47" fmla="*/ 38 h 51"/>
              <a:gd name="T48" fmla="*/ 3 w 182"/>
              <a:gd name="T49" fmla="*/ 44 h 51"/>
              <a:gd name="T50" fmla="*/ 3 w 182"/>
              <a:gd name="T51" fmla="*/ 51 h 51"/>
              <a:gd name="T52" fmla="*/ 7 w 182"/>
              <a:gd name="T53" fmla="*/ 48 h 51"/>
              <a:gd name="T54" fmla="*/ 5 w 182"/>
              <a:gd name="T55" fmla="*/ 41 h 51"/>
              <a:gd name="T56" fmla="*/ 5 w 182"/>
              <a:gd name="T57" fmla="*/ 34 h 51"/>
              <a:gd name="T58" fmla="*/ 3 w 182"/>
              <a:gd name="T59" fmla="*/ 28 h 51"/>
              <a:gd name="T60" fmla="*/ 3 w 182"/>
              <a:gd name="T61" fmla="*/ 21 h 51"/>
              <a:gd name="T62" fmla="*/ 5 w 182"/>
              <a:gd name="T63" fmla="*/ 14 h 51"/>
              <a:gd name="T64" fmla="*/ 5 w 182"/>
              <a:gd name="T65" fmla="*/ 8 h 51"/>
              <a:gd name="T66" fmla="*/ 7 w 182"/>
              <a:gd name="T67" fmla="*/ 3 h 51"/>
              <a:gd name="T68" fmla="*/ 5 w 18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2" h="51">
                <a:moveTo>
                  <a:pt x="182" y="24"/>
                </a:moveTo>
                <a:lnTo>
                  <a:pt x="182" y="21"/>
                </a:lnTo>
                <a:lnTo>
                  <a:pt x="182" y="18"/>
                </a:lnTo>
                <a:lnTo>
                  <a:pt x="182" y="14"/>
                </a:lnTo>
                <a:lnTo>
                  <a:pt x="181" y="11"/>
                </a:lnTo>
                <a:lnTo>
                  <a:pt x="181" y="8"/>
                </a:lnTo>
                <a:lnTo>
                  <a:pt x="181" y="4"/>
                </a:lnTo>
                <a:lnTo>
                  <a:pt x="179" y="3"/>
                </a:lnTo>
                <a:lnTo>
                  <a:pt x="179" y="0"/>
                </a:lnTo>
                <a:lnTo>
                  <a:pt x="174" y="0"/>
                </a:lnTo>
                <a:lnTo>
                  <a:pt x="176" y="3"/>
                </a:lnTo>
                <a:lnTo>
                  <a:pt x="177" y="4"/>
                </a:lnTo>
                <a:lnTo>
                  <a:pt x="177" y="8"/>
                </a:lnTo>
                <a:lnTo>
                  <a:pt x="177" y="11"/>
                </a:lnTo>
                <a:lnTo>
                  <a:pt x="179" y="14"/>
                </a:lnTo>
                <a:lnTo>
                  <a:pt x="179" y="18"/>
                </a:lnTo>
                <a:lnTo>
                  <a:pt x="179" y="21"/>
                </a:lnTo>
                <a:lnTo>
                  <a:pt x="179" y="24"/>
                </a:lnTo>
                <a:lnTo>
                  <a:pt x="179" y="28"/>
                </a:lnTo>
                <a:lnTo>
                  <a:pt x="179" y="31"/>
                </a:lnTo>
                <a:lnTo>
                  <a:pt x="179" y="34"/>
                </a:lnTo>
                <a:lnTo>
                  <a:pt x="177" y="38"/>
                </a:lnTo>
                <a:lnTo>
                  <a:pt x="177" y="41"/>
                </a:lnTo>
                <a:lnTo>
                  <a:pt x="177" y="44"/>
                </a:lnTo>
                <a:lnTo>
                  <a:pt x="176" y="48"/>
                </a:lnTo>
                <a:lnTo>
                  <a:pt x="176" y="51"/>
                </a:lnTo>
                <a:lnTo>
                  <a:pt x="179" y="51"/>
                </a:lnTo>
                <a:lnTo>
                  <a:pt x="179" y="48"/>
                </a:lnTo>
                <a:lnTo>
                  <a:pt x="181" y="44"/>
                </a:lnTo>
                <a:lnTo>
                  <a:pt x="181" y="41"/>
                </a:lnTo>
                <a:lnTo>
                  <a:pt x="181" y="38"/>
                </a:lnTo>
                <a:lnTo>
                  <a:pt x="182" y="34"/>
                </a:lnTo>
                <a:lnTo>
                  <a:pt x="182" y="31"/>
                </a:lnTo>
                <a:lnTo>
                  <a:pt x="182" y="28"/>
                </a:lnTo>
                <a:lnTo>
                  <a:pt x="18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3" y="51"/>
                </a:lnTo>
                <a:lnTo>
                  <a:pt x="8"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8"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98" name="Freeform 1803">
            <a:extLst>
              <a:ext uri="{FF2B5EF4-FFF2-40B4-BE49-F238E27FC236}">
                <a16:creationId xmlns:a16="http://schemas.microsoft.com/office/drawing/2014/main" id="{B4BC4997-7DD5-C51E-5330-76A71199675B}"/>
              </a:ext>
            </a:extLst>
          </p:cNvPr>
          <p:cNvSpPr>
            <a:spLocks noEditPoints="1"/>
          </p:cNvSpPr>
          <p:nvPr/>
        </p:nvSpPr>
        <p:spPr bwMode="auto">
          <a:xfrm>
            <a:off x="2416175" y="2719388"/>
            <a:ext cx="284163" cy="80963"/>
          </a:xfrm>
          <a:custGeom>
            <a:avLst/>
            <a:gdLst>
              <a:gd name="T0" fmla="*/ 179 w 179"/>
              <a:gd name="T1" fmla="*/ 21 h 51"/>
              <a:gd name="T2" fmla="*/ 179 w 179"/>
              <a:gd name="T3" fmla="*/ 14 h 51"/>
              <a:gd name="T4" fmla="*/ 177 w 179"/>
              <a:gd name="T5" fmla="*/ 8 h 51"/>
              <a:gd name="T6" fmla="*/ 175 w 179"/>
              <a:gd name="T7" fmla="*/ 3 h 51"/>
              <a:gd name="T8" fmla="*/ 170 w 179"/>
              <a:gd name="T9" fmla="*/ 0 h 51"/>
              <a:gd name="T10" fmla="*/ 172 w 179"/>
              <a:gd name="T11" fmla="*/ 4 h 51"/>
              <a:gd name="T12" fmla="*/ 174 w 179"/>
              <a:gd name="T13" fmla="*/ 11 h 51"/>
              <a:gd name="T14" fmla="*/ 175 w 179"/>
              <a:gd name="T15" fmla="*/ 18 h 51"/>
              <a:gd name="T16" fmla="*/ 175 w 179"/>
              <a:gd name="T17" fmla="*/ 24 h 51"/>
              <a:gd name="T18" fmla="*/ 175 w 179"/>
              <a:gd name="T19" fmla="*/ 31 h 51"/>
              <a:gd name="T20" fmla="*/ 174 w 179"/>
              <a:gd name="T21" fmla="*/ 38 h 51"/>
              <a:gd name="T22" fmla="*/ 174 w 179"/>
              <a:gd name="T23" fmla="*/ 44 h 51"/>
              <a:gd name="T24" fmla="*/ 172 w 179"/>
              <a:gd name="T25" fmla="*/ 51 h 51"/>
              <a:gd name="T26" fmla="*/ 175 w 179"/>
              <a:gd name="T27" fmla="*/ 48 h 51"/>
              <a:gd name="T28" fmla="*/ 177 w 179"/>
              <a:gd name="T29" fmla="*/ 41 h 51"/>
              <a:gd name="T30" fmla="*/ 179 w 179"/>
              <a:gd name="T31" fmla="*/ 34 h 51"/>
              <a:gd name="T32" fmla="*/ 179 w 179"/>
              <a:gd name="T33" fmla="*/ 28 h 51"/>
              <a:gd name="T34" fmla="*/ 5 w 179"/>
              <a:gd name="T35" fmla="*/ 0 h 51"/>
              <a:gd name="T36" fmla="*/ 3 w 179"/>
              <a:gd name="T37" fmla="*/ 4 h 51"/>
              <a:gd name="T38" fmla="*/ 1 w 179"/>
              <a:gd name="T39" fmla="*/ 11 h 51"/>
              <a:gd name="T40" fmla="*/ 0 w 179"/>
              <a:gd name="T41" fmla="*/ 18 h 51"/>
              <a:gd name="T42" fmla="*/ 0 w 179"/>
              <a:gd name="T43" fmla="*/ 24 h 51"/>
              <a:gd name="T44" fmla="*/ 0 w 179"/>
              <a:gd name="T45" fmla="*/ 31 h 51"/>
              <a:gd name="T46" fmla="*/ 1 w 179"/>
              <a:gd name="T47" fmla="*/ 38 h 51"/>
              <a:gd name="T48" fmla="*/ 3 w 179"/>
              <a:gd name="T49" fmla="*/ 44 h 51"/>
              <a:gd name="T50" fmla="*/ 3 w 179"/>
              <a:gd name="T51" fmla="*/ 51 h 51"/>
              <a:gd name="T52" fmla="*/ 6 w 179"/>
              <a:gd name="T53" fmla="*/ 48 h 51"/>
              <a:gd name="T54" fmla="*/ 5 w 179"/>
              <a:gd name="T55" fmla="*/ 41 h 51"/>
              <a:gd name="T56" fmla="*/ 5 w 179"/>
              <a:gd name="T57" fmla="*/ 34 h 51"/>
              <a:gd name="T58" fmla="*/ 3 w 179"/>
              <a:gd name="T59" fmla="*/ 28 h 51"/>
              <a:gd name="T60" fmla="*/ 3 w 179"/>
              <a:gd name="T61" fmla="*/ 21 h 51"/>
              <a:gd name="T62" fmla="*/ 5 w 179"/>
              <a:gd name="T63" fmla="*/ 14 h 51"/>
              <a:gd name="T64" fmla="*/ 5 w 179"/>
              <a:gd name="T65" fmla="*/ 8 h 51"/>
              <a:gd name="T66" fmla="*/ 6 w 179"/>
              <a:gd name="T67" fmla="*/ 3 h 51"/>
              <a:gd name="T68" fmla="*/ 5 w 17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9" h="51">
                <a:moveTo>
                  <a:pt x="179" y="24"/>
                </a:moveTo>
                <a:lnTo>
                  <a:pt x="179" y="21"/>
                </a:lnTo>
                <a:lnTo>
                  <a:pt x="179" y="18"/>
                </a:lnTo>
                <a:lnTo>
                  <a:pt x="179" y="14"/>
                </a:lnTo>
                <a:lnTo>
                  <a:pt x="177" y="11"/>
                </a:lnTo>
                <a:lnTo>
                  <a:pt x="177" y="8"/>
                </a:lnTo>
                <a:lnTo>
                  <a:pt x="177" y="4"/>
                </a:lnTo>
                <a:lnTo>
                  <a:pt x="175" y="3"/>
                </a:lnTo>
                <a:lnTo>
                  <a:pt x="175" y="0"/>
                </a:lnTo>
                <a:lnTo>
                  <a:pt x="170" y="0"/>
                </a:lnTo>
                <a:lnTo>
                  <a:pt x="172" y="3"/>
                </a:lnTo>
                <a:lnTo>
                  <a:pt x="172" y="4"/>
                </a:lnTo>
                <a:lnTo>
                  <a:pt x="174" y="8"/>
                </a:lnTo>
                <a:lnTo>
                  <a:pt x="174" y="11"/>
                </a:lnTo>
                <a:lnTo>
                  <a:pt x="175" y="14"/>
                </a:lnTo>
                <a:lnTo>
                  <a:pt x="175" y="18"/>
                </a:lnTo>
                <a:lnTo>
                  <a:pt x="175" y="21"/>
                </a:lnTo>
                <a:lnTo>
                  <a:pt x="175" y="24"/>
                </a:lnTo>
                <a:lnTo>
                  <a:pt x="175" y="28"/>
                </a:lnTo>
                <a:lnTo>
                  <a:pt x="175" y="31"/>
                </a:lnTo>
                <a:lnTo>
                  <a:pt x="175" y="34"/>
                </a:lnTo>
                <a:lnTo>
                  <a:pt x="174" y="38"/>
                </a:lnTo>
                <a:lnTo>
                  <a:pt x="174" y="41"/>
                </a:lnTo>
                <a:lnTo>
                  <a:pt x="174" y="44"/>
                </a:lnTo>
                <a:lnTo>
                  <a:pt x="172" y="48"/>
                </a:lnTo>
                <a:lnTo>
                  <a:pt x="172" y="51"/>
                </a:lnTo>
                <a:lnTo>
                  <a:pt x="175" y="51"/>
                </a:lnTo>
                <a:lnTo>
                  <a:pt x="175" y="48"/>
                </a:lnTo>
                <a:lnTo>
                  <a:pt x="177" y="44"/>
                </a:lnTo>
                <a:lnTo>
                  <a:pt x="177" y="41"/>
                </a:lnTo>
                <a:lnTo>
                  <a:pt x="177" y="38"/>
                </a:lnTo>
                <a:lnTo>
                  <a:pt x="179" y="34"/>
                </a:lnTo>
                <a:lnTo>
                  <a:pt x="179" y="31"/>
                </a:lnTo>
                <a:lnTo>
                  <a:pt x="179" y="28"/>
                </a:lnTo>
                <a:lnTo>
                  <a:pt x="179" y="24"/>
                </a:lnTo>
                <a:close/>
                <a:moveTo>
                  <a:pt x="5"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3" y="51"/>
                </a:lnTo>
                <a:lnTo>
                  <a:pt x="8"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599" name="Freeform 1804">
            <a:extLst>
              <a:ext uri="{FF2B5EF4-FFF2-40B4-BE49-F238E27FC236}">
                <a16:creationId xmlns:a16="http://schemas.microsoft.com/office/drawing/2014/main" id="{789F3308-74A1-9006-B8A0-56EBD7612801}"/>
              </a:ext>
            </a:extLst>
          </p:cNvPr>
          <p:cNvSpPr>
            <a:spLocks noEditPoints="1"/>
          </p:cNvSpPr>
          <p:nvPr/>
        </p:nvSpPr>
        <p:spPr bwMode="auto">
          <a:xfrm>
            <a:off x="2417763" y="2719388"/>
            <a:ext cx="279400" cy="80963"/>
          </a:xfrm>
          <a:custGeom>
            <a:avLst/>
            <a:gdLst>
              <a:gd name="T0" fmla="*/ 176 w 176"/>
              <a:gd name="T1" fmla="*/ 21 h 51"/>
              <a:gd name="T2" fmla="*/ 176 w 176"/>
              <a:gd name="T3" fmla="*/ 14 h 51"/>
              <a:gd name="T4" fmla="*/ 174 w 176"/>
              <a:gd name="T5" fmla="*/ 8 h 51"/>
              <a:gd name="T6" fmla="*/ 173 w 176"/>
              <a:gd name="T7" fmla="*/ 3 h 51"/>
              <a:gd name="T8" fmla="*/ 168 w 176"/>
              <a:gd name="T9" fmla="*/ 0 h 51"/>
              <a:gd name="T10" fmla="*/ 169 w 176"/>
              <a:gd name="T11" fmla="*/ 4 h 51"/>
              <a:gd name="T12" fmla="*/ 171 w 176"/>
              <a:gd name="T13" fmla="*/ 11 h 51"/>
              <a:gd name="T14" fmla="*/ 173 w 176"/>
              <a:gd name="T15" fmla="*/ 18 h 51"/>
              <a:gd name="T16" fmla="*/ 173 w 176"/>
              <a:gd name="T17" fmla="*/ 24 h 51"/>
              <a:gd name="T18" fmla="*/ 173 w 176"/>
              <a:gd name="T19" fmla="*/ 31 h 51"/>
              <a:gd name="T20" fmla="*/ 171 w 176"/>
              <a:gd name="T21" fmla="*/ 38 h 51"/>
              <a:gd name="T22" fmla="*/ 171 w 176"/>
              <a:gd name="T23" fmla="*/ 44 h 51"/>
              <a:gd name="T24" fmla="*/ 169 w 176"/>
              <a:gd name="T25" fmla="*/ 51 h 51"/>
              <a:gd name="T26" fmla="*/ 173 w 176"/>
              <a:gd name="T27" fmla="*/ 48 h 51"/>
              <a:gd name="T28" fmla="*/ 174 w 176"/>
              <a:gd name="T29" fmla="*/ 41 h 51"/>
              <a:gd name="T30" fmla="*/ 176 w 176"/>
              <a:gd name="T31" fmla="*/ 34 h 51"/>
              <a:gd name="T32" fmla="*/ 176 w 176"/>
              <a:gd name="T33" fmla="*/ 28 h 51"/>
              <a:gd name="T34" fmla="*/ 5 w 176"/>
              <a:gd name="T35" fmla="*/ 0 h 51"/>
              <a:gd name="T36" fmla="*/ 4 w 176"/>
              <a:gd name="T37" fmla="*/ 4 h 51"/>
              <a:gd name="T38" fmla="*/ 2 w 176"/>
              <a:gd name="T39" fmla="*/ 11 h 51"/>
              <a:gd name="T40" fmla="*/ 0 w 176"/>
              <a:gd name="T41" fmla="*/ 18 h 51"/>
              <a:gd name="T42" fmla="*/ 0 w 176"/>
              <a:gd name="T43" fmla="*/ 24 h 51"/>
              <a:gd name="T44" fmla="*/ 0 w 176"/>
              <a:gd name="T45" fmla="*/ 31 h 51"/>
              <a:gd name="T46" fmla="*/ 2 w 176"/>
              <a:gd name="T47" fmla="*/ 38 h 51"/>
              <a:gd name="T48" fmla="*/ 4 w 176"/>
              <a:gd name="T49" fmla="*/ 44 h 51"/>
              <a:gd name="T50" fmla="*/ 5 w 176"/>
              <a:gd name="T51" fmla="*/ 51 h 51"/>
              <a:gd name="T52" fmla="*/ 7 w 176"/>
              <a:gd name="T53" fmla="*/ 48 h 51"/>
              <a:gd name="T54" fmla="*/ 5 w 176"/>
              <a:gd name="T55" fmla="*/ 41 h 51"/>
              <a:gd name="T56" fmla="*/ 5 w 176"/>
              <a:gd name="T57" fmla="*/ 34 h 51"/>
              <a:gd name="T58" fmla="*/ 4 w 176"/>
              <a:gd name="T59" fmla="*/ 28 h 51"/>
              <a:gd name="T60" fmla="*/ 4 w 176"/>
              <a:gd name="T61" fmla="*/ 21 h 51"/>
              <a:gd name="T62" fmla="*/ 5 w 176"/>
              <a:gd name="T63" fmla="*/ 14 h 51"/>
              <a:gd name="T64" fmla="*/ 5 w 176"/>
              <a:gd name="T65" fmla="*/ 8 h 51"/>
              <a:gd name="T66" fmla="*/ 7 w 176"/>
              <a:gd name="T67" fmla="*/ 3 h 51"/>
              <a:gd name="T68" fmla="*/ 5 w 1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6" h="51">
                <a:moveTo>
                  <a:pt x="176" y="24"/>
                </a:moveTo>
                <a:lnTo>
                  <a:pt x="176" y="21"/>
                </a:lnTo>
                <a:lnTo>
                  <a:pt x="176" y="18"/>
                </a:lnTo>
                <a:lnTo>
                  <a:pt x="176" y="14"/>
                </a:lnTo>
                <a:lnTo>
                  <a:pt x="174" y="11"/>
                </a:lnTo>
                <a:lnTo>
                  <a:pt x="174" y="8"/>
                </a:lnTo>
                <a:lnTo>
                  <a:pt x="174" y="4"/>
                </a:lnTo>
                <a:lnTo>
                  <a:pt x="173" y="3"/>
                </a:lnTo>
                <a:lnTo>
                  <a:pt x="171" y="0"/>
                </a:lnTo>
                <a:lnTo>
                  <a:pt x="168" y="0"/>
                </a:lnTo>
                <a:lnTo>
                  <a:pt x="169" y="3"/>
                </a:lnTo>
                <a:lnTo>
                  <a:pt x="169" y="4"/>
                </a:lnTo>
                <a:lnTo>
                  <a:pt x="171" y="8"/>
                </a:lnTo>
                <a:lnTo>
                  <a:pt x="171" y="11"/>
                </a:lnTo>
                <a:lnTo>
                  <a:pt x="173" y="14"/>
                </a:lnTo>
                <a:lnTo>
                  <a:pt x="173" y="18"/>
                </a:lnTo>
                <a:lnTo>
                  <a:pt x="173" y="21"/>
                </a:lnTo>
                <a:lnTo>
                  <a:pt x="173" y="24"/>
                </a:lnTo>
                <a:lnTo>
                  <a:pt x="173" y="28"/>
                </a:lnTo>
                <a:lnTo>
                  <a:pt x="173" y="31"/>
                </a:lnTo>
                <a:lnTo>
                  <a:pt x="173" y="34"/>
                </a:lnTo>
                <a:lnTo>
                  <a:pt x="171" y="38"/>
                </a:lnTo>
                <a:lnTo>
                  <a:pt x="171" y="41"/>
                </a:lnTo>
                <a:lnTo>
                  <a:pt x="171" y="44"/>
                </a:lnTo>
                <a:lnTo>
                  <a:pt x="169" y="48"/>
                </a:lnTo>
                <a:lnTo>
                  <a:pt x="169" y="51"/>
                </a:lnTo>
                <a:lnTo>
                  <a:pt x="173" y="51"/>
                </a:lnTo>
                <a:lnTo>
                  <a:pt x="173" y="48"/>
                </a:lnTo>
                <a:lnTo>
                  <a:pt x="174" y="44"/>
                </a:lnTo>
                <a:lnTo>
                  <a:pt x="174" y="41"/>
                </a:lnTo>
                <a:lnTo>
                  <a:pt x="174" y="38"/>
                </a:lnTo>
                <a:lnTo>
                  <a:pt x="176" y="34"/>
                </a:lnTo>
                <a:lnTo>
                  <a:pt x="176" y="31"/>
                </a:lnTo>
                <a:lnTo>
                  <a:pt x="176" y="28"/>
                </a:lnTo>
                <a:lnTo>
                  <a:pt x="176" y="24"/>
                </a:lnTo>
                <a:close/>
                <a:moveTo>
                  <a:pt x="5"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5" y="51"/>
                </a:lnTo>
                <a:lnTo>
                  <a:pt x="9"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9"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00" name="Freeform 1805">
            <a:extLst>
              <a:ext uri="{FF2B5EF4-FFF2-40B4-BE49-F238E27FC236}">
                <a16:creationId xmlns:a16="http://schemas.microsoft.com/office/drawing/2014/main" id="{FF24483A-9597-5E63-0D2E-65F3038A0974}"/>
              </a:ext>
            </a:extLst>
          </p:cNvPr>
          <p:cNvSpPr>
            <a:spLocks noEditPoints="1"/>
          </p:cNvSpPr>
          <p:nvPr/>
        </p:nvSpPr>
        <p:spPr bwMode="auto">
          <a:xfrm>
            <a:off x="2420938" y="2719388"/>
            <a:ext cx="273050" cy="80963"/>
          </a:xfrm>
          <a:custGeom>
            <a:avLst/>
            <a:gdLst>
              <a:gd name="T0" fmla="*/ 172 w 172"/>
              <a:gd name="T1" fmla="*/ 21 h 51"/>
              <a:gd name="T2" fmla="*/ 172 w 172"/>
              <a:gd name="T3" fmla="*/ 14 h 51"/>
              <a:gd name="T4" fmla="*/ 171 w 172"/>
              <a:gd name="T5" fmla="*/ 8 h 51"/>
              <a:gd name="T6" fmla="*/ 169 w 172"/>
              <a:gd name="T7" fmla="*/ 3 h 51"/>
              <a:gd name="T8" fmla="*/ 164 w 172"/>
              <a:gd name="T9" fmla="*/ 0 h 51"/>
              <a:gd name="T10" fmla="*/ 166 w 172"/>
              <a:gd name="T11" fmla="*/ 4 h 51"/>
              <a:gd name="T12" fmla="*/ 167 w 172"/>
              <a:gd name="T13" fmla="*/ 11 h 51"/>
              <a:gd name="T14" fmla="*/ 169 w 172"/>
              <a:gd name="T15" fmla="*/ 18 h 51"/>
              <a:gd name="T16" fmla="*/ 169 w 172"/>
              <a:gd name="T17" fmla="*/ 24 h 51"/>
              <a:gd name="T18" fmla="*/ 169 w 172"/>
              <a:gd name="T19" fmla="*/ 31 h 51"/>
              <a:gd name="T20" fmla="*/ 167 w 172"/>
              <a:gd name="T21" fmla="*/ 38 h 51"/>
              <a:gd name="T22" fmla="*/ 167 w 172"/>
              <a:gd name="T23" fmla="*/ 44 h 51"/>
              <a:gd name="T24" fmla="*/ 166 w 172"/>
              <a:gd name="T25" fmla="*/ 51 h 51"/>
              <a:gd name="T26" fmla="*/ 169 w 172"/>
              <a:gd name="T27" fmla="*/ 48 h 51"/>
              <a:gd name="T28" fmla="*/ 171 w 172"/>
              <a:gd name="T29" fmla="*/ 41 h 51"/>
              <a:gd name="T30" fmla="*/ 172 w 172"/>
              <a:gd name="T31" fmla="*/ 34 h 51"/>
              <a:gd name="T32" fmla="*/ 172 w 172"/>
              <a:gd name="T33" fmla="*/ 28 h 51"/>
              <a:gd name="T34" fmla="*/ 5 w 172"/>
              <a:gd name="T35" fmla="*/ 0 h 51"/>
              <a:gd name="T36" fmla="*/ 3 w 172"/>
              <a:gd name="T37" fmla="*/ 4 h 51"/>
              <a:gd name="T38" fmla="*/ 2 w 172"/>
              <a:gd name="T39" fmla="*/ 11 h 51"/>
              <a:gd name="T40" fmla="*/ 0 w 172"/>
              <a:gd name="T41" fmla="*/ 18 h 51"/>
              <a:gd name="T42" fmla="*/ 0 w 172"/>
              <a:gd name="T43" fmla="*/ 24 h 51"/>
              <a:gd name="T44" fmla="*/ 0 w 172"/>
              <a:gd name="T45" fmla="*/ 31 h 51"/>
              <a:gd name="T46" fmla="*/ 2 w 172"/>
              <a:gd name="T47" fmla="*/ 38 h 51"/>
              <a:gd name="T48" fmla="*/ 3 w 172"/>
              <a:gd name="T49" fmla="*/ 44 h 51"/>
              <a:gd name="T50" fmla="*/ 5 w 172"/>
              <a:gd name="T51" fmla="*/ 51 h 51"/>
              <a:gd name="T52" fmla="*/ 7 w 172"/>
              <a:gd name="T53" fmla="*/ 48 h 51"/>
              <a:gd name="T54" fmla="*/ 5 w 172"/>
              <a:gd name="T55" fmla="*/ 41 h 51"/>
              <a:gd name="T56" fmla="*/ 5 w 172"/>
              <a:gd name="T57" fmla="*/ 34 h 51"/>
              <a:gd name="T58" fmla="*/ 3 w 172"/>
              <a:gd name="T59" fmla="*/ 28 h 51"/>
              <a:gd name="T60" fmla="*/ 3 w 172"/>
              <a:gd name="T61" fmla="*/ 21 h 51"/>
              <a:gd name="T62" fmla="*/ 5 w 172"/>
              <a:gd name="T63" fmla="*/ 14 h 51"/>
              <a:gd name="T64" fmla="*/ 5 w 172"/>
              <a:gd name="T65" fmla="*/ 8 h 51"/>
              <a:gd name="T66" fmla="*/ 7 w 172"/>
              <a:gd name="T67" fmla="*/ 3 h 51"/>
              <a:gd name="T68" fmla="*/ 5 w 1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2" h="51">
                <a:moveTo>
                  <a:pt x="172" y="24"/>
                </a:moveTo>
                <a:lnTo>
                  <a:pt x="172" y="21"/>
                </a:lnTo>
                <a:lnTo>
                  <a:pt x="172" y="18"/>
                </a:lnTo>
                <a:lnTo>
                  <a:pt x="172" y="14"/>
                </a:lnTo>
                <a:lnTo>
                  <a:pt x="171" y="11"/>
                </a:lnTo>
                <a:lnTo>
                  <a:pt x="171" y="8"/>
                </a:lnTo>
                <a:lnTo>
                  <a:pt x="169" y="4"/>
                </a:lnTo>
                <a:lnTo>
                  <a:pt x="169" y="3"/>
                </a:lnTo>
                <a:lnTo>
                  <a:pt x="167" y="0"/>
                </a:lnTo>
                <a:lnTo>
                  <a:pt x="164" y="0"/>
                </a:lnTo>
                <a:lnTo>
                  <a:pt x="166" y="3"/>
                </a:lnTo>
                <a:lnTo>
                  <a:pt x="166" y="4"/>
                </a:lnTo>
                <a:lnTo>
                  <a:pt x="167" y="8"/>
                </a:lnTo>
                <a:lnTo>
                  <a:pt x="167" y="11"/>
                </a:lnTo>
                <a:lnTo>
                  <a:pt x="169" y="14"/>
                </a:lnTo>
                <a:lnTo>
                  <a:pt x="169" y="18"/>
                </a:lnTo>
                <a:lnTo>
                  <a:pt x="169" y="21"/>
                </a:lnTo>
                <a:lnTo>
                  <a:pt x="169" y="24"/>
                </a:lnTo>
                <a:lnTo>
                  <a:pt x="169" y="28"/>
                </a:lnTo>
                <a:lnTo>
                  <a:pt x="169" y="31"/>
                </a:lnTo>
                <a:lnTo>
                  <a:pt x="169" y="34"/>
                </a:lnTo>
                <a:lnTo>
                  <a:pt x="167" y="38"/>
                </a:lnTo>
                <a:lnTo>
                  <a:pt x="167" y="41"/>
                </a:lnTo>
                <a:lnTo>
                  <a:pt x="167" y="44"/>
                </a:lnTo>
                <a:lnTo>
                  <a:pt x="166" y="48"/>
                </a:lnTo>
                <a:lnTo>
                  <a:pt x="166" y="51"/>
                </a:lnTo>
                <a:lnTo>
                  <a:pt x="169" y="51"/>
                </a:lnTo>
                <a:lnTo>
                  <a:pt x="169" y="48"/>
                </a:lnTo>
                <a:lnTo>
                  <a:pt x="171" y="44"/>
                </a:lnTo>
                <a:lnTo>
                  <a:pt x="171" y="41"/>
                </a:lnTo>
                <a:lnTo>
                  <a:pt x="171" y="38"/>
                </a:lnTo>
                <a:lnTo>
                  <a:pt x="172" y="34"/>
                </a:lnTo>
                <a:lnTo>
                  <a:pt x="172" y="31"/>
                </a:lnTo>
                <a:lnTo>
                  <a:pt x="172" y="28"/>
                </a:lnTo>
                <a:lnTo>
                  <a:pt x="17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5" y="51"/>
                </a:lnTo>
                <a:lnTo>
                  <a:pt x="8"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8"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01" name="Freeform 1806">
            <a:extLst>
              <a:ext uri="{FF2B5EF4-FFF2-40B4-BE49-F238E27FC236}">
                <a16:creationId xmlns:a16="http://schemas.microsoft.com/office/drawing/2014/main" id="{203926A2-F294-319A-F4A0-943A48D569D4}"/>
              </a:ext>
            </a:extLst>
          </p:cNvPr>
          <p:cNvSpPr>
            <a:spLocks noEditPoints="1"/>
          </p:cNvSpPr>
          <p:nvPr/>
        </p:nvSpPr>
        <p:spPr bwMode="auto">
          <a:xfrm>
            <a:off x="2424113" y="2719388"/>
            <a:ext cx="268288" cy="80963"/>
          </a:xfrm>
          <a:custGeom>
            <a:avLst/>
            <a:gdLst>
              <a:gd name="T0" fmla="*/ 169 w 169"/>
              <a:gd name="T1" fmla="*/ 21 h 51"/>
              <a:gd name="T2" fmla="*/ 169 w 169"/>
              <a:gd name="T3" fmla="*/ 14 h 51"/>
              <a:gd name="T4" fmla="*/ 167 w 169"/>
              <a:gd name="T5" fmla="*/ 8 h 51"/>
              <a:gd name="T6" fmla="*/ 165 w 169"/>
              <a:gd name="T7" fmla="*/ 3 h 51"/>
              <a:gd name="T8" fmla="*/ 160 w 169"/>
              <a:gd name="T9" fmla="*/ 0 h 51"/>
              <a:gd name="T10" fmla="*/ 162 w 169"/>
              <a:gd name="T11" fmla="*/ 4 h 51"/>
              <a:gd name="T12" fmla="*/ 164 w 169"/>
              <a:gd name="T13" fmla="*/ 11 h 51"/>
              <a:gd name="T14" fmla="*/ 165 w 169"/>
              <a:gd name="T15" fmla="*/ 18 h 51"/>
              <a:gd name="T16" fmla="*/ 165 w 169"/>
              <a:gd name="T17" fmla="*/ 24 h 51"/>
              <a:gd name="T18" fmla="*/ 165 w 169"/>
              <a:gd name="T19" fmla="*/ 31 h 51"/>
              <a:gd name="T20" fmla="*/ 164 w 169"/>
              <a:gd name="T21" fmla="*/ 38 h 51"/>
              <a:gd name="T22" fmla="*/ 164 w 169"/>
              <a:gd name="T23" fmla="*/ 44 h 51"/>
              <a:gd name="T24" fmla="*/ 160 w 169"/>
              <a:gd name="T25" fmla="*/ 51 h 51"/>
              <a:gd name="T26" fmla="*/ 165 w 169"/>
              <a:gd name="T27" fmla="*/ 48 h 51"/>
              <a:gd name="T28" fmla="*/ 167 w 169"/>
              <a:gd name="T29" fmla="*/ 41 h 51"/>
              <a:gd name="T30" fmla="*/ 169 w 169"/>
              <a:gd name="T31" fmla="*/ 34 h 51"/>
              <a:gd name="T32" fmla="*/ 169 w 169"/>
              <a:gd name="T33" fmla="*/ 28 h 51"/>
              <a:gd name="T34" fmla="*/ 5 w 169"/>
              <a:gd name="T35" fmla="*/ 0 h 51"/>
              <a:gd name="T36" fmla="*/ 3 w 169"/>
              <a:gd name="T37" fmla="*/ 4 h 51"/>
              <a:gd name="T38" fmla="*/ 1 w 169"/>
              <a:gd name="T39" fmla="*/ 11 h 51"/>
              <a:gd name="T40" fmla="*/ 0 w 169"/>
              <a:gd name="T41" fmla="*/ 18 h 51"/>
              <a:gd name="T42" fmla="*/ 0 w 169"/>
              <a:gd name="T43" fmla="*/ 24 h 51"/>
              <a:gd name="T44" fmla="*/ 0 w 169"/>
              <a:gd name="T45" fmla="*/ 31 h 51"/>
              <a:gd name="T46" fmla="*/ 1 w 169"/>
              <a:gd name="T47" fmla="*/ 38 h 51"/>
              <a:gd name="T48" fmla="*/ 3 w 169"/>
              <a:gd name="T49" fmla="*/ 44 h 51"/>
              <a:gd name="T50" fmla="*/ 5 w 169"/>
              <a:gd name="T51" fmla="*/ 51 h 51"/>
              <a:gd name="T52" fmla="*/ 6 w 169"/>
              <a:gd name="T53" fmla="*/ 48 h 51"/>
              <a:gd name="T54" fmla="*/ 5 w 169"/>
              <a:gd name="T55" fmla="*/ 41 h 51"/>
              <a:gd name="T56" fmla="*/ 5 w 169"/>
              <a:gd name="T57" fmla="*/ 34 h 51"/>
              <a:gd name="T58" fmla="*/ 3 w 169"/>
              <a:gd name="T59" fmla="*/ 28 h 51"/>
              <a:gd name="T60" fmla="*/ 3 w 169"/>
              <a:gd name="T61" fmla="*/ 21 h 51"/>
              <a:gd name="T62" fmla="*/ 5 w 169"/>
              <a:gd name="T63" fmla="*/ 14 h 51"/>
              <a:gd name="T64" fmla="*/ 5 w 169"/>
              <a:gd name="T65" fmla="*/ 8 h 51"/>
              <a:gd name="T66" fmla="*/ 6 w 169"/>
              <a:gd name="T67" fmla="*/ 3 h 51"/>
              <a:gd name="T68" fmla="*/ 5 w 16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69" h="51">
                <a:moveTo>
                  <a:pt x="169" y="24"/>
                </a:moveTo>
                <a:lnTo>
                  <a:pt x="169" y="21"/>
                </a:lnTo>
                <a:lnTo>
                  <a:pt x="169" y="18"/>
                </a:lnTo>
                <a:lnTo>
                  <a:pt x="169" y="14"/>
                </a:lnTo>
                <a:lnTo>
                  <a:pt x="167" y="11"/>
                </a:lnTo>
                <a:lnTo>
                  <a:pt x="167" y="8"/>
                </a:lnTo>
                <a:lnTo>
                  <a:pt x="165" y="4"/>
                </a:lnTo>
                <a:lnTo>
                  <a:pt x="165" y="3"/>
                </a:lnTo>
                <a:lnTo>
                  <a:pt x="164" y="0"/>
                </a:lnTo>
                <a:lnTo>
                  <a:pt x="160" y="0"/>
                </a:lnTo>
                <a:lnTo>
                  <a:pt x="162" y="3"/>
                </a:lnTo>
                <a:lnTo>
                  <a:pt x="162" y="4"/>
                </a:lnTo>
                <a:lnTo>
                  <a:pt x="164" y="8"/>
                </a:lnTo>
                <a:lnTo>
                  <a:pt x="164" y="11"/>
                </a:lnTo>
                <a:lnTo>
                  <a:pt x="165" y="14"/>
                </a:lnTo>
                <a:lnTo>
                  <a:pt x="165" y="18"/>
                </a:lnTo>
                <a:lnTo>
                  <a:pt x="165" y="21"/>
                </a:lnTo>
                <a:lnTo>
                  <a:pt x="165" y="24"/>
                </a:lnTo>
                <a:lnTo>
                  <a:pt x="165" y="28"/>
                </a:lnTo>
                <a:lnTo>
                  <a:pt x="165" y="31"/>
                </a:lnTo>
                <a:lnTo>
                  <a:pt x="165" y="34"/>
                </a:lnTo>
                <a:lnTo>
                  <a:pt x="164" y="38"/>
                </a:lnTo>
                <a:lnTo>
                  <a:pt x="164" y="41"/>
                </a:lnTo>
                <a:lnTo>
                  <a:pt x="164" y="44"/>
                </a:lnTo>
                <a:lnTo>
                  <a:pt x="162" y="48"/>
                </a:lnTo>
                <a:lnTo>
                  <a:pt x="160" y="51"/>
                </a:lnTo>
                <a:lnTo>
                  <a:pt x="165" y="51"/>
                </a:lnTo>
                <a:lnTo>
                  <a:pt x="165" y="48"/>
                </a:lnTo>
                <a:lnTo>
                  <a:pt x="167" y="44"/>
                </a:lnTo>
                <a:lnTo>
                  <a:pt x="167" y="41"/>
                </a:lnTo>
                <a:lnTo>
                  <a:pt x="167" y="38"/>
                </a:lnTo>
                <a:lnTo>
                  <a:pt x="169" y="34"/>
                </a:lnTo>
                <a:lnTo>
                  <a:pt x="169" y="31"/>
                </a:lnTo>
                <a:lnTo>
                  <a:pt x="169" y="28"/>
                </a:lnTo>
                <a:lnTo>
                  <a:pt x="169" y="24"/>
                </a:lnTo>
                <a:close/>
                <a:moveTo>
                  <a:pt x="5"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5" y="51"/>
                </a:lnTo>
                <a:lnTo>
                  <a:pt x="8"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02" name="Freeform 1807">
            <a:extLst>
              <a:ext uri="{FF2B5EF4-FFF2-40B4-BE49-F238E27FC236}">
                <a16:creationId xmlns:a16="http://schemas.microsoft.com/office/drawing/2014/main" id="{A2A0BD9D-4C7C-7171-4434-72003FCBAD3E}"/>
              </a:ext>
            </a:extLst>
          </p:cNvPr>
          <p:cNvSpPr>
            <a:spLocks noEditPoints="1"/>
          </p:cNvSpPr>
          <p:nvPr/>
        </p:nvSpPr>
        <p:spPr bwMode="auto">
          <a:xfrm>
            <a:off x="2425700" y="2719388"/>
            <a:ext cx="263525" cy="80963"/>
          </a:xfrm>
          <a:custGeom>
            <a:avLst/>
            <a:gdLst>
              <a:gd name="T0" fmla="*/ 166 w 166"/>
              <a:gd name="T1" fmla="*/ 21 h 51"/>
              <a:gd name="T2" fmla="*/ 166 w 166"/>
              <a:gd name="T3" fmla="*/ 14 h 51"/>
              <a:gd name="T4" fmla="*/ 164 w 166"/>
              <a:gd name="T5" fmla="*/ 8 h 51"/>
              <a:gd name="T6" fmla="*/ 163 w 166"/>
              <a:gd name="T7" fmla="*/ 3 h 51"/>
              <a:gd name="T8" fmla="*/ 158 w 166"/>
              <a:gd name="T9" fmla="*/ 0 h 51"/>
              <a:gd name="T10" fmla="*/ 159 w 166"/>
              <a:gd name="T11" fmla="*/ 4 h 51"/>
              <a:gd name="T12" fmla="*/ 161 w 166"/>
              <a:gd name="T13" fmla="*/ 11 h 51"/>
              <a:gd name="T14" fmla="*/ 163 w 166"/>
              <a:gd name="T15" fmla="*/ 18 h 51"/>
              <a:gd name="T16" fmla="*/ 163 w 166"/>
              <a:gd name="T17" fmla="*/ 24 h 51"/>
              <a:gd name="T18" fmla="*/ 163 w 166"/>
              <a:gd name="T19" fmla="*/ 31 h 51"/>
              <a:gd name="T20" fmla="*/ 161 w 166"/>
              <a:gd name="T21" fmla="*/ 38 h 51"/>
              <a:gd name="T22" fmla="*/ 159 w 166"/>
              <a:gd name="T23" fmla="*/ 44 h 51"/>
              <a:gd name="T24" fmla="*/ 158 w 166"/>
              <a:gd name="T25" fmla="*/ 51 h 51"/>
              <a:gd name="T26" fmla="*/ 163 w 166"/>
              <a:gd name="T27" fmla="*/ 48 h 51"/>
              <a:gd name="T28" fmla="*/ 164 w 166"/>
              <a:gd name="T29" fmla="*/ 41 h 51"/>
              <a:gd name="T30" fmla="*/ 166 w 166"/>
              <a:gd name="T31" fmla="*/ 34 h 51"/>
              <a:gd name="T32" fmla="*/ 166 w 166"/>
              <a:gd name="T33" fmla="*/ 28 h 51"/>
              <a:gd name="T34" fmla="*/ 5 w 166"/>
              <a:gd name="T35" fmla="*/ 0 h 51"/>
              <a:gd name="T36" fmla="*/ 4 w 166"/>
              <a:gd name="T37" fmla="*/ 4 h 51"/>
              <a:gd name="T38" fmla="*/ 2 w 166"/>
              <a:gd name="T39" fmla="*/ 11 h 51"/>
              <a:gd name="T40" fmla="*/ 0 w 166"/>
              <a:gd name="T41" fmla="*/ 18 h 51"/>
              <a:gd name="T42" fmla="*/ 0 w 166"/>
              <a:gd name="T43" fmla="*/ 24 h 51"/>
              <a:gd name="T44" fmla="*/ 0 w 166"/>
              <a:gd name="T45" fmla="*/ 31 h 51"/>
              <a:gd name="T46" fmla="*/ 2 w 166"/>
              <a:gd name="T47" fmla="*/ 38 h 51"/>
              <a:gd name="T48" fmla="*/ 4 w 166"/>
              <a:gd name="T49" fmla="*/ 44 h 51"/>
              <a:gd name="T50" fmla="*/ 5 w 166"/>
              <a:gd name="T51" fmla="*/ 51 h 51"/>
              <a:gd name="T52" fmla="*/ 7 w 166"/>
              <a:gd name="T53" fmla="*/ 48 h 51"/>
              <a:gd name="T54" fmla="*/ 5 w 166"/>
              <a:gd name="T55" fmla="*/ 41 h 51"/>
              <a:gd name="T56" fmla="*/ 5 w 166"/>
              <a:gd name="T57" fmla="*/ 34 h 51"/>
              <a:gd name="T58" fmla="*/ 4 w 166"/>
              <a:gd name="T59" fmla="*/ 28 h 51"/>
              <a:gd name="T60" fmla="*/ 4 w 166"/>
              <a:gd name="T61" fmla="*/ 21 h 51"/>
              <a:gd name="T62" fmla="*/ 5 w 166"/>
              <a:gd name="T63" fmla="*/ 14 h 51"/>
              <a:gd name="T64" fmla="*/ 5 w 166"/>
              <a:gd name="T65" fmla="*/ 8 h 51"/>
              <a:gd name="T66" fmla="*/ 7 w 166"/>
              <a:gd name="T67" fmla="*/ 3 h 51"/>
              <a:gd name="T68" fmla="*/ 5 w 1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66" h="51">
                <a:moveTo>
                  <a:pt x="166" y="24"/>
                </a:moveTo>
                <a:lnTo>
                  <a:pt x="166" y="21"/>
                </a:lnTo>
                <a:lnTo>
                  <a:pt x="166" y="18"/>
                </a:lnTo>
                <a:lnTo>
                  <a:pt x="166" y="14"/>
                </a:lnTo>
                <a:lnTo>
                  <a:pt x="164" y="11"/>
                </a:lnTo>
                <a:lnTo>
                  <a:pt x="164" y="8"/>
                </a:lnTo>
                <a:lnTo>
                  <a:pt x="163" y="4"/>
                </a:lnTo>
                <a:lnTo>
                  <a:pt x="163" y="3"/>
                </a:lnTo>
                <a:lnTo>
                  <a:pt x="161" y="0"/>
                </a:lnTo>
                <a:lnTo>
                  <a:pt x="158" y="0"/>
                </a:lnTo>
                <a:lnTo>
                  <a:pt x="159" y="3"/>
                </a:lnTo>
                <a:lnTo>
                  <a:pt x="159" y="4"/>
                </a:lnTo>
                <a:lnTo>
                  <a:pt x="161" y="8"/>
                </a:lnTo>
                <a:lnTo>
                  <a:pt x="161" y="11"/>
                </a:lnTo>
                <a:lnTo>
                  <a:pt x="161" y="14"/>
                </a:lnTo>
                <a:lnTo>
                  <a:pt x="163" y="18"/>
                </a:lnTo>
                <a:lnTo>
                  <a:pt x="163" y="21"/>
                </a:lnTo>
                <a:lnTo>
                  <a:pt x="163" y="24"/>
                </a:lnTo>
                <a:lnTo>
                  <a:pt x="163" y="28"/>
                </a:lnTo>
                <a:lnTo>
                  <a:pt x="163" y="31"/>
                </a:lnTo>
                <a:lnTo>
                  <a:pt x="163" y="34"/>
                </a:lnTo>
                <a:lnTo>
                  <a:pt x="161" y="38"/>
                </a:lnTo>
                <a:lnTo>
                  <a:pt x="161" y="41"/>
                </a:lnTo>
                <a:lnTo>
                  <a:pt x="159" y="44"/>
                </a:lnTo>
                <a:lnTo>
                  <a:pt x="159" y="48"/>
                </a:lnTo>
                <a:lnTo>
                  <a:pt x="158" y="51"/>
                </a:lnTo>
                <a:lnTo>
                  <a:pt x="163" y="51"/>
                </a:lnTo>
                <a:lnTo>
                  <a:pt x="163" y="48"/>
                </a:lnTo>
                <a:lnTo>
                  <a:pt x="164" y="44"/>
                </a:lnTo>
                <a:lnTo>
                  <a:pt x="164" y="41"/>
                </a:lnTo>
                <a:lnTo>
                  <a:pt x="164" y="38"/>
                </a:lnTo>
                <a:lnTo>
                  <a:pt x="166" y="34"/>
                </a:lnTo>
                <a:lnTo>
                  <a:pt x="166" y="31"/>
                </a:lnTo>
                <a:lnTo>
                  <a:pt x="166" y="28"/>
                </a:lnTo>
                <a:lnTo>
                  <a:pt x="166" y="24"/>
                </a:lnTo>
                <a:close/>
                <a:moveTo>
                  <a:pt x="5"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5" y="51"/>
                </a:lnTo>
                <a:lnTo>
                  <a:pt x="9"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9"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03" name="Freeform 1808">
            <a:extLst>
              <a:ext uri="{FF2B5EF4-FFF2-40B4-BE49-F238E27FC236}">
                <a16:creationId xmlns:a16="http://schemas.microsoft.com/office/drawing/2014/main" id="{E8138762-A7A2-02C3-AF29-4C3BEB0680F5}"/>
              </a:ext>
            </a:extLst>
          </p:cNvPr>
          <p:cNvSpPr>
            <a:spLocks noEditPoints="1"/>
          </p:cNvSpPr>
          <p:nvPr/>
        </p:nvSpPr>
        <p:spPr bwMode="auto">
          <a:xfrm>
            <a:off x="2428875" y="2719388"/>
            <a:ext cx="257175" cy="80963"/>
          </a:xfrm>
          <a:custGeom>
            <a:avLst/>
            <a:gdLst>
              <a:gd name="T0" fmla="*/ 162 w 162"/>
              <a:gd name="T1" fmla="*/ 21 h 51"/>
              <a:gd name="T2" fmla="*/ 162 w 162"/>
              <a:gd name="T3" fmla="*/ 14 h 51"/>
              <a:gd name="T4" fmla="*/ 161 w 162"/>
              <a:gd name="T5" fmla="*/ 8 h 51"/>
              <a:gd name="T6" fmla="*/ 159 w 162"/>
              <a:gd name="T7" fmla="*/ 3 h 51"/>
              <a:gd name="T8" fmla="*/ 154 w 162"/>
              <a:gd name="T9" fmla="*/ 0 h 51"/>
              <a:gd name="T10" fmla="*/ 156 w 162"/>
              <a:gd name="T11" fmla="*/ 4 h 51"/>
              <a:gd name="T12" fmla="*/ 157 w 162"/>
              <a:gd name="T13" fmla="*/ 11 h 51"/>
              <a:gd name="T14" fmla="*/ 159 w 162"/>
              <a:gd name="T15" fmla="*/ 18 h 51"/>
              <a:gd name="T16" fmla="*/ 159 w 162"/>
              <a:gd name="T17" fmla="*/ 24 h 51"/>
              <a:gd name="T18" fmla="*/ 159 w 162"/>
              <a:gd name="T19" fmla="*/ 31 h 51"/>
              <a:gd name="T20" fmla="*/ 157 w 162"/>
              <a:gd name="T21" fmla="*/ 38 h 51"/>
              <a:gd name="T22" fmla="*/ 156 w 162"/>
              <a:gd name="T23" fmla="*/ 44 h 51"/>
              <a:gd name="T24" fmla="*/ 154 w 162"/>
              <a:gd name="T25" fmla="*/ 51 h 51"/>
              <a:gd name="T26" fmla="*/ 159 w 162"/>
              <a:gd name="T27" fmla="*/ 48 h 51"/>
              <a:gd name="T28" fmla="*/ 161 w 162"/>
              <a:gd name="T29" fmla="*/ 41 h 51"/>
              <a:gd name="T30" fmla="*/ 162 w 162"/>
              <a:gd name="T31" fmla="*/ 34 h 51"/>
              <a:gd name="T32" fmla="*/ 162 w 162"/>
              <a:gd name="T33" fmla="*/ 28 h 51"/>
              <a:gd name="T34" fmla="*/ 5 w 162"/>
              <a:gd name="T35" fmla="*/ 0 h 51"/>
              <a:gd name="T36" fmla="*/ 3 w 162"/>
              <a:gd name="T37" fmla="*/ 4 h 51"/>
              <a:gd name="T38" fmla="*/ 2 w 162"/>
              <a:gd name="T39" fmla="*/ 11 h 51"/>
              <a:gd name="T40" fmla="*/ 0 w 162"/>
              <a:gd name="T41" fmla="*/ 18 h 51"/>
              <a:gd name="T42" fmla="*/ 0 w 162"/>
              <a:gd name="T43" fmla="*/ 24 h 51"/>
              <a:gd name="T44" fmla="*/ 0 w 162"/>
              <a:gd name="T45" fmla="*/ 31 h 51"/>
              <a:gd name="T46" fmla="*/ 2 w 162"/>
              <a:gd name="T47" fmla="*/ 38 h 51"/>
              <a:gd name="T48" fmla="*/ 3 w 162"/>
              <a:gd name="T49" fmla="*/ 44 h 51"/>
              <a:gd name="T50" fmla="*/ 5 w 162"/>
              <a:gd name="T51" fmla="*/ 51 h 51"/>
              <a:gd name="T52" fmla="*/ 7 w 162"/>
              <a:gd name="T53" fmla="*/ 48 h 51"/>
              <a:gd name="T54" fmla="*/ 5 w 162"/>
              <a:gd name="T55" fmla="*/ 41 h 51"/>
              <a:gd name="T56" fmla="*/ 5 w 162"/>
              <a:gd name="T57" fmla="*/ 34 h 51"/>
              <a:gd name="T58" fmla="*/ 3 w 162"/>
              <a:gd name="T59" fmla="*/ 28 h 51"/>
              <a:gd name="T60" fmla="*/ 3 w 162"/>
              <a:gd name="T61" fmla="*/ 21 h 51"/>
              <a:gd name="T62" fmla="*/ 5 w 162"/>
              <a:gd name="T63" fmla="*/ 14 h 51"/>
              <a:gd name="T64" fmla="*/ 5 w 162"/>
              <a:gd name="T65" fmla="*/ 8 h 51"/>
              <a:gd name="T66" fmla="*/ 7 w 162"/>
              <a:gd name="T67" fmla="*/ 3 h 51"/>
              <a:gd name="T68" fmla="*/ 5 w 1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62" h="51">
                <a:moveTo>
                  <a:pt x="162" y="24"/>
                </a:moveTo>
                <a:lnTo>
                  <a:pt x="162" y="21"/>
                </a:lnTo>
                <a:lnTo>
                  <a:pt x="162" y="18"/>
                </a:lnTo>
                <a:lnTo>
                  <a:pt x="162" y="14"/>
                </a:lnTo>
                <a:lnTo>
                  <a:pt x="161" y="11"/>
                </a:lnTo>
                <a:lnTo>
                  <a:pt x="161" y="8"/>
                </a:lnTo>
                <a:lnTo>
                  <a:pt x="159" y="4"/>
                </a:lnTo>
                <a:lnTo>
                  <a:pt x="159" y="3"/>
                </a:lnTo>
                <a:lnTo>
                  <a:pt x="157" y="0"/>
                </a:lnTo>
                <a:lnTo>
                  <a:pt x="154" y="0"/>
                </a:lnTo>
                <a:lnTo>
                  <a:pt x="156" y="3"/>
                </a:lnTo>
                <a:lnTo>
                  <a:pt x="156" y="4"/>
                </a:lnTo>
                <a:lnTo>
                  <a:pt x="157" y="8"/>
                </a:lnTo>
                <a:lnTo>
                  <a:pt x="157" y="11"/>
                </a:lnTo>
                <a:lnTo>
                  <a:pt x="157" y="14"/>
                </a:lnTo>
                <a:lnTo>
                  <a:pt x="159" y="18"/>
                </a:lnTo>
                <a:lnTo>
                  <a:pt x="159" y="21"/>
                </a:lnTo>
                <a:lnTo>
                  <a:pt x="159" y="24"/>
                </a:lnTo>
                <a:lnTo>
                  <a:pt x="159" y="28"/>
                </a:lnTo>
                <a:lnTo>
                  <a:pt x="159" y="31"/>
                </a:lnTo>
                <a:lnTo>
                  <a:pt x="159" y="34"/>
                </a:lnTo>
                <a:lnTo>
                  <a:pt x="157" y="38"/>
                </a:lnTo>
                <a:lnTo>
                  <a:pt x="157" y="41"/>
                </a:lnTo>
                <a:lnTo>
                  <a:pt x="156" y="44"/>
                </a:lnTo>
                <a:lnTo>
                  <a:pt x="156" y="48"/>
                </a:lnTo>
                <a:lnTo>
                  <a:pt x="154" y="51"/>
                </a:lnTo>
                <a:lnTo>
                  <a:pt x="157" y="51"/>
                </a:lnTo>
                <a:lnTo>
                  <a:pt x="159" y="48"/>
                </a:lnTo>
                <a:lnTo>
                  <a:pt x="161" y="44"/>
                </a:lnTo>
                <a:lnTo>
                  <a:pt x="161" y="41"/>
                </a:lnTo>
                <a:lnTo>
                  <a:pt x="161" y="38"/>
                </a:lnTo>
                <a:lnTo>
                  <a:pt x="162" y="34"/>
                </a:lnTo>
                <a:lnTo>
                  <a:pt x="162" y="31"/>
                </a:lnTo>
                <a:lnTo>
                  <a:pt x="162" y="28"/>
                </a:lnTo>
                <a:lnTo>
                  <a:pt x="16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5" y="51"/>
                </a:lnTo>
                <a:lnTo>
                  <a:pt x="8"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8"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04" name="Freeform 1809">
            <a:extLst>
              <a:ext uri="{FF2B5EF4-FFF2-40B4-BE49-F238E27FC236}">
                <a16:creationId xmlns:a16="http://schemas.microsoft.com/office/drawing/2014/main" id="{9E075896-BC8A-5934-15D3-F88B70FFF74B}"/>
              </a:ext>
            </a:extLst>
          </p:cNvPr>
          <p:cNvSpPr>
            <a:spLocks noEditPoints="1"/>
          </p:cNvSpPr>
          <p:nvPr/>
        </p:nvSpPr>
        <p:spPr bwMode="auto">
          <a:xfrm>
            <a:off x="2432050" y="2719388"/>
            <a:ext cx="252413" cy="80963"/>
          </a:xfrm>
          <a:custGeom>
            <a:avLst/>
            <a:gdLst>
              <a:gd name="T0" fmla="*/ 159 w 159"/>
              <a:gd name="T1" fmla="*/ 21 h 51"/>
              <a:gd name="T2" fmla="*/ 157 w 159"/>
              <a:gd name="T3" fmla="*/ 14 h 51"/>
              <a:gd name="T4" fmla="*/ 157 w 159"/>
              <a:gd name="T5" fmla="*/ 8 h 51"/>
              <a:gd name="T6" fmla="*/ 155 w 159"/>
              <a:gd name="T7" fmla="*/ 3 h 51"/>
              <a:gd name="T8" fmla="*/ 150 w 159"/>
              <a:gd name="T9" fmla="*/ 0 h 51"/>
              <a:gd name="T10" fmla="*/ 152 w 159"/>
              <a:gd name="T11" fmla="*/ 4 h 51"/>
              <a:gd name="T12" fmla="*/ 154 w 159"/>
              <a:gd name="T13" fmla="*/ 11 h 51"/>
              <a:gd name="T14" fmla="*/ 155 w 159"/>
              <a:gd name="T15" fmla="*/ 18 h 51"/>
              <a:gd name="T16" fmla="*/ 155 w 159"/>
              <a:gd name="T17" fmla="*/ 24 h 51"/>
              <a:gd name="T18" fmla="*/ 155 w 159"/>
              <a:gd name="T19" fmla="*/ 31 h 51"/>
              <a:gd name="T20" fmla="*/ 154 w 159"/>
              <a:gd name="T21" fmla="*/ 38 h 51"/>
              <a:gd name="T22" fmla="*/ 152 w 159"/>
              <a:gd name="T23" fmla="*/ 44 h 51"/>
              <a:gd name="T24" fmla="*/ 150 w 159"/>
              <a:gd name="T25" fmla="*/ 51 h 51"/>
              <a:gd name="T26" fmla="*/ 155 w 159"/>
              <a:gd name="T27" fmla="*/ 48 h 51"/>
              <a:gd name="T28" fmla="*/ 157 w 159"/>
              <a:gd name="T29" fmla="*/ 41 h 51"/>
              <a:gd name="T30" fmla="*/ 159 w 159"/>
              <a:gd name="T31" fmla="*/ 34 h 51"/>
              <a:gd name="T32" fmla="*/ 159 w 159"/>
              <a:gd name="T33" fmla="*/ 28 h 51"/>
              <a:gd name="T34" fmla="*/ 5 w 159"/>
              <a:gd name="T35" fmla="*/ 0 h 51"/>
              <a:gd name="T36" fmla="*/ 3 w 159"/>
              <a:gd name="T37" fmla="*/ 4 h 51"/>
              <a:gd name="T38" fmla="*/ 1 w 159"/>
              <a:gd name="T39" fmla="*/ 11 h 51"/>
              <a:gd name="T40" fmla="*/ 0 w 159"/>
              <a:gd name="T41" fmla="*/ 18 h 51"/>
              <a:gd name="T42" fmla="*/ 0 w 159"/>
              <a:gd name="T43" fmla="*/ 24 h 51"/>
              <a:gd name="T44" fmla="*/ 0 w 159"/>
              <a:gd name="T45" fmla="*/ 31 h 51"/>
              <a:gd name="T46" fmla="*/ 1 w 159"/>
              <a:gd name="T47" fmla="*/ 38 h 51"/>
              <a:gd name="T48" fmla="*/ 3 w 159"/>
              <a:gd name="T49" fmla="*/ 44 h 51"/>
              <a:gd name="T50" fmla="*/ 5 w 159"/>
              <a:gd name="T51" fmla="*/ 51 h 51"/>
              <a:gd name="T52" fmla="*/ 6 w 159"/>
              <a:gd name="T53" fmla="*/ 48 h 51"/>
              <a:gd name="T54" fmla="*/ 5 w 159"/>
              <a:gd name="T55" fmla="*/ 41 h 51"/>
              <a:gd name="T56" fmla="*/ 5 w 159"/>
              <a:gd name="T57" fmla="*/ 34 h 51"/>
              <a:gd name="T58" fmla="*/ 3 w 159"/>
              <a:gd name="T59" fmla="*/ 28 h 51"/>
              <a:gd name="T60" fmla="*/ 3 w 159"/>
              <a:gd name="T61" fmla="*/ 21 h 51"/>
              <a:gd name="T62" fmla="*/ 5 w 159"/>
              <a:gd name="T63" fmla="*/ 14 h 51"/>
              <a:gd name="T64" fmla="*/ 5 w 159"/>
              <a:gd name="T65" fmla="*/ 8 h 51"/>
              <a:gd name="T66" fmla="*/ 6 w 159"/>
              <a:gd name="T67" fmla="*/ 3 h 51"/>
              <a:gd name="T68" fmla="*/ 5 w 15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59" h="51">
                <a:moveTo>
                  <a:pt x="159" y="24"/>
                </a:moveTo>
                <a:lnTo>
                  <a:pt x="159" y="21"/>
                </a:lnTo>
                <a:lnTo>
                  <a:pt x="159" y="18"/>
                </a:lnTo>
                <a:lnTo>
                  <a:pt x="157" y="14"/>
                </a:lnTo>
                <a:lnTo>
                  <a:pt x="157" y="11"/>
                </a:lnTo>
                <a:lnTo>
                  <a:pt x="157" y="8"/>
                </a:lnTo>
                <a:lnTo>
                  <a:pt x="155" y="4"/>
                </a:lnTo>
                <a:lnTo>
                  <a:pt x="155" y="3"/>
                </a:lnTo>
                <a:lnTo>
                  <a:pt x="154" y="0"/>
                </a:lnTo>
                <a:lnTo>
                  <a:pt x="150" y="0"/>
                </a:lnTo>
                <a:lnTo>
                  <a:pt x="152" y="3"/>
                </a:lnTo>
                <a:lnTo>
                  <a:pt x="152" y="4"/>
                </a:lnTo>
                <a:lnTo>
                  <a:pt x="154" y="8"/>
                </a:lnTo>
                <a:lnTo>
                  <a:pt x="154" y="11"/>
                </a:lnTo>
                <a:lnTo>
                  <a:pt x="154" y="14"/>
                </a:lnTo>
                <a:lnTo>
                  <a:pt x="155" y="18"/>
                </a:lnTo>
                <a:lnTo>
                  <a:pt x="155" y="21"/>
                </a:lnTo>
                <a:lnTo>
                  <a:pt x="155" y="24"/>
                </a:lnTo>
                <a:lnTo>
                  <a:pt x="155" y="28"/>
                </a:lnTo>
                <a:lnTo>
                  <a:pt x="155" y="31"/>
                </a:lnTo>
                <a:lnTo>
                  <a:pt x="155" y="34"/>
                </a:lnTo>
                <a:lnTo>
                  <a:pt x="154" y="38"/>
                </a:lnTo>
                <a:lnTo>
                  <a:pt x="154" y="41"/>
                </a:lnTo>
                <a:lnTo>
                  <a:pt x="152" y="44"/>
                </a:lnTo>
                <a:lnTo>
                  <a:pt x="152" y="48"/>
                </a:lnTo>
                <a:lnTo>
                  <a:pt x="150" y="51"/>
                </a:lnTo>
                <a:lnTo>
                  <a:pt x="154" y="51"/>
                </a:lnTo>
                <a:lnTo>
                  <a:pt x="155" y="48"/>
                </a:lnTo>
                <a:lnTo>
                  <a:pt x="155" y="44"/>
                </a:lnTo>
                <a:lnTo>
                  <a:pt x="157" y="41"/>
                </a:lnTo>
                <a:lnTo>
                  <a:pt x="157" y="38"/>
                </a:lnTo>
                <a:lnTo>
                  <a:pt x="159" y="34"/>
                </a:lnTo>
                <a:lnTo>
                  <a:pt x="159" y="31"/>
                </a:lnTo>
                <a:lnTo>
                  <a:pt x="159" y="28"/>
                </a:lnTo>
                <a:lnTo>
                  <a:pt x="159" y="24"/>
                </a:lnTo>
                <a:close/>
                <a:moveTo>
                  <a:pt x="5"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5" y="51"/>
                </a:lnTo>
                <a:lnTo>
                  <a:pt x="8"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05" name="Freeform 1810">
            <a:extLst>
              <a:ext uri="{FF2B5EF4-FFF2-40B4-BE49-F238E27FC236}">
                <a16:creationId xmlns:a16="http://schemas.microsoft.com/office/drawing/2014/main" id="{BC74FB5A-AD3A-87B9-592A-89DFDB413E6A}"/>
              </a:ext>
            </a:extLst>
          </p:cNvPr>
          <p:cNvSpPr>
            <a:spLocks noEditPoints="1"/>
          </p:cNvSpPr>
          <p:nvPr/>
        </p:nvSpPr>
        <p:spPr bwMode="auto">
          <a:xfrm>
            <a:off x="2433638" y="2719388"/>
            <a:ext cx="247650" cy="80963"/>
          </a:xfrm>
          <a:custGeom>
            <a:avLst/>
            <a:gdLst>
              <a:gd name="T0" fmla="*/ 156 w 156"/>
              <a:gd name="T1" fmla="*/ 21 h 51"/>
              <a:gd name="T2" fmla="*/ 154 w 156"/>
              <a:gd name="T3" fmla="*/ 14 h 51"/>
              <a:gd name="T4" fmla="*/ 154 w 156"/>
              <a:gd name="T5" fmla="*/ 8 h 51"/>
              <a:gd name="T6" fmla="*/ 153 w 156"/>
              <a:gd name="T7" fmla="*/ 3 h 51"/>
              <a:gd name="T8" fmla="*/ 148 w 156"/>
              <a:gd name="T9" fmla="*/ 0 h 51"/>
              <a:gd name="T10" fmla="*/ 149 w 156"/>
              <a:gd name="T11" fmla="*/ 4 h 51"/>
              <a:gd name="T12" fmla="*/ 151 w 156"/>
              <a:gd name="T13" fmla="*/ 11 h 51"/>
              <a:gd name="T14" fmla="*/ 153 w 156"/>
              <a:gd name="T15" fmla="*/ 18 h 51"/>
              <a:gd name="T16" fmla="*/ 153 w 156"/>
              <a:gd name="T17" fmla="*/ 24 h 51"/>
              <a:gd name="T18" fmla="*/ 153 w 156"/>
              <a:gd name="T19" fmla="*/ 31 h 51"/>
              <a:gd name="T20" fmla="*/ 151 w 156"/>
              <a:gd name="T21" fmla="*/ 38 h 51"/>
              <a:gd name="T22" fmla="*/ 149 w 156"/>
              <a:gd name="T23" fmla="*/ 44 h 51"/>
              <a:gd name="T24" fmla="*/ 148 w 156"/>
              <a:gd name="T25" fmla="*/ 51 h 51"/>
              <a:gd name="T26" fmla="*/ 153 w 156"/>
              <a:gd name="T27" fmla="*/ 48 h 51"/>
              <a:gd name="T28" fmla="*/ 154 w 156"/>
              <a:gd name="T29" fmla="*/ 41 h 51"/>
              <a:gd name="T30" fmla="*/ 156 w 156"/>
              <a:gd name="T31" fmla="*/ 34 h 51"/>
              <a:gd name="T32" fmla="*/ 156 w 156"/>
              <a:gd name="T33" fmla="*/ 28 h 51"/>
              <a:gd name="T34" fmla="*/ 5 w 156"/>
              <a:gd name="T35" fmla="*/ 0 h 51"/>
              <a:gd name="T36" fmla="*/ 4 w 156"/>
              <a:gd name="T37" fmla="*/ 4 h 51"/>
              <a:gd name="T38" fmla="*/ 2 w 156"/>
              <a:gd name="T39" fmla="*/ 11 h 51"/>
              <a:gd name="T40" fmla="*/ 0 w 156"/>
              <a:gd name="T41" fmla="*/ 18 h 51"/>
              <a:gd name="T42" fmla="*/ 0 w 156"/>
              <a:gd name="T43" fmla="*/ 24 h 51"/>
              <a:gd name="T44" fmla="*/ 0 w 156"/>
              <a:gd name="T45" fmla="*/ 31 h 51"/>
              <a:gd name="T46" fmla="*/ 2 w 156"/>
              <a:gd name="T47" fmla="*/ 38 h 51"/>
              <a:gd name="T48" fmla="*/ 4 w 156"/>
              <a:gd name="T49" fmla="*/ 44 h 51"/>
              <a:gd name="T50" fmla="*/ 5 w 156"/>
              <a:gd name="T51" fmla="*/ 51 h 51"/>
              <a:gd name="T52" fmla="*/ 7 w 156"/>
              <a:gd name="T53" fmla="*/ 48 h 51"/>
              <a:gd name="T54" fmla="*/ 5 w 156"/>
              <a:gd name="T55" fmla="*/ 41 h 51"/>
              <a:gd name="T56" fmla="*/ 5 w 156"/>
              <a:gd name="T57" fmla="*/ 34 h 51"/>
              <a:gd name="T58" fmla="*/ 4 w 156"/>
              <a:gd name="T59" fmla="*/ 28 h 51"/>
              <a:gd name="T60" fmla="*/ 4 w 156"/>
              <a:gd name="T61" fmla="*/ 21 h 51"/>
              <a:gd name="T62" fmla="*/ 5 w 156"/>
              <a:gd name="T63" fmla="*/ 14 h 51"/>
              <a:gd name="T64" fmla="*/ 5 w 156"/>
              <a:gd name="T65" fmla="*/ 8 h 51"/>
              <a:gd name="T66" fmla="*/ 7 w 156"/>
              <a:gd name="T67" fmla="*/ 1 h 51"/>
              <a:gd name="T68" fmla="*/ 5 w 1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56" h="51">
                <a:moveTo>
                  <a:pt x="156" y="24"/>
                </a:moveTo>
                <a:lnTo>
                  <a:pt x="156" y="21"/>
                </a:lnTo>
                <a:lnTo>
                  <a:pt x="156" y="18"/>
                </a:lnTo>
                <a:lnTo>
                  <a:pt x="154" y="14"/>
                </a:lnTo>
                <a:lnTo>
                  <a:pt x="154" y="11"/>
                </a:lnTo>
                <a:lnTo>
                  <a:pt x="154" y="8"/>
                </a:lnTo>
                <a:lnTo>
                  <a:pt x="153" y="4"/>
                </a:lnTo>
                <a:lnTo>
                  <a:pt x="153" y="3"/>
                </a:lnTo>
                <a:lnTo>
                  <a:pt x="151" y="0"/>
                </a:lnTo>
                <a:lnTo>
                  <a:pt x="148" y="0"/>
                </a:lnTo>
                <a:lnTo>
                  <a:pt x="149" y="1"/>
                </a:lnTo>
                <a:lnTo>
                  <a:pt x="149" y="4"/>
                </a:lnTo>
                <a:lnTo>
                  <a:pt x="151" y="8"/>
                </a:lnTo>
                <a:lnTo>
                  <a:pt x="151" y="11"/>
                </a:lnTo>
                <a:lnTo>
                  <a:pt x="151" y="14"/>
                </a:lnTo>
                <a:lnTo>
                  <a:pt x="153" y="18"/>
                </a:lnTo>
                <a:lnTo>
                  <a:pt x="153" y="21"/>
                </a:lnTo>
                <a:lnTo>
                  <a:pt x="153" y="24"/>
                </a:lnTo>
                <a:lnTo>
                  <a:pt x="153" y="28"/>
                </a:lnTo>
                <a:lnTo>
                  <a:pt x="153" y="31"/>
                </a:lnTo>
                <a:lnTo>
                  <a:pt x="153" y="34"/>
                </a:lnTo>
                <a:lnTo>
                  <a:pt x="151" y="38"/>
                </a:lnTo>
                <a:lnTo>
                  <a:pt x="151" y="41"/>
                </a:lnTo>
                <a:lnTo>
                  <a:pt x="149" y="44"/>
                </a:lnTo>
                <a:lnTo>
                  <a:pt x="149" y="48"/>
                </a:lnTo>
                <a:lnTo>
                  <a:pt x="148" y="51"/>
                </a:lnTo>
                <a:lnTo>
                  <a:pt x="151" y="51"/>
                </a:lnTo>
                <a:lnTo>
                  <a:pt x="153" y="48"/>
                </a:lnTo>
                <a:lnTo>
                  <a:pt x="153" y="44"/>
                </a:lnTo>
                <a:lnTo>
                  <a:pt x="154" y="41"/>
                </a:lnTo>
                <a:lnTo>
                  <a:pt x="154" y="38"/>
                </a:lnTo>
                <a:lnTo>
                  <a:pt x="156" y="34"/>
                </a:lnTo>
                <a:lnTo>
                  <a:pt x="156" y="31"/>
                </a:lnTo>
                <a:lnTo>
                  <a:pt x="156" y="28"/>
                </a:lnTo>
                <a:lnTo>
                  <a:pt x="156" y="24"/>
                </a:lnTo>
                <a:close/>
                <a:moveTo>
                  <a:pt x="5"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5" y="51"/>
                </a:lnTo>
                <a:lnTo>
                  <a:pt x="9"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1"/>
                </a:lnTo>
                <a:lnTo>
                  <a:pt x="9"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06" name="Freeform 1811">
            <a:extLst>
              <a:ext uri="{FF2B5EF4-FFF2-40B4-BE49-F238E27FC236}">
                <a16:creationId xmlns:a16="http://schemas.microsoft.com/office/drawing/2014/main" id="{18DA06FE-4733-2ACD-D79D-1F501F16F041}"/>
              </a:ext>
            </a:extLst>
          </p:cNvPr>
          <p:cNvSpPr>
            <a:spLocks noEditPoints="1"/>
          </p:cNvSpPr>
          <p:nvPr/>
        </p:nvSpPr>
        <p:spPr bwMode="auto">
          <a:xfrm>
            <a:off x="2436813" y="2719388"/>
            <a:ext cx="241300" cy="80963"/>
          </a:xfrm>
          <a:custGeom>
            <a:avLst/>
            <a:gdLst>
              <a:gd name="T0" fmla="*/ 152 w 152"/>
              <a:gd name="T1" fmla="*/ 21 h 51"/>
              <a:gd name="T2" fmla="*/ 151 w 152"/>
              <a:gd name="T3" fmla="*/ 14 h 51"/>
              <a:gd name="T4" fmla="*/ 151 w 152"/>
              <a:gd name="T5" fmla="*/ 8 h 51"/>
              <a:gd name="T6" fmla="*/ 149 w 152"/>
              <a:gd name="T7" fmla="*/ 3 h 51"/>
              <a:gd name="T8" fmla="*/ 144 w 152"/>
              <a:gd name="T9" fmla="*/ 0 h 51"/>
              <a:gd name="T10" fmla="*/ 146 w 152"/>
              <a:gd name="T11" fmla="*/ 4 h 51"/>
              <a:gd name="T12" fmla="*/ 147 w 152"/>
              <a:gd name="T13" fmla="*/ 11 h 51"/>
              <a:gd name="T14" fmla="*/ 149 w 152"/>
              <a:gd name="T15" fmla="*/ 18 h 51"/>
              <a:gd name="T16" fmla="*/ 149 w 152"/>
              <a:gd name="T17" fmla="*/ 24 h 51"/>
              <a:gd name="T18" fmla="*/ 149 w 152"/>
              <a:gd name="T19" fmla="*/ 31 h 51"/>
              <a:gd name="T20" fmla="*/ 147 w 152"/>
              <a:gd name="T21" fmla="*/ 38 h 51"/>
              <a:gd name="T22" fmla="*/ 146 w 152"/>
              <a:gd name="T23" fmla="*/ 44 h 51"/>
              <a:gd name="T24" fmla="*/ 144 w 152"/>
              <a:gd name="T25" fmla="*/ 51 h 51"/>
              <a:gd name="T26" fmla="*/ 149 w 152"/>
              <a:gd name="T27" fmla="*/ 48 h 51"/>
              <a:gd name="T28" fmla="*/ 151 w 152"/>
              <a:gd name="T29" fmla="*/ 41 h 51"/>
              <a:gd name="T30" fmla="*/ 152 w 152"/>
              <a:gd name="T31" fmla="*/ 34 h 51"/>
              <a:gd name="T32" fmla="*/ 152 w 152"/>
              <a:gd name="T33" fmla="*/ 28 h 51"/>
              <a:gd name="T34" fmla="*/ 5 w 152"/>
              <a:gd name="T35" fmla="*/ 0 h 51"/>
              <a:gd name="T36" fmla="*/ 3 w 152"/>
              <a:gd name="T37" fmla="*/ 4 h 51"/>
              <a:gd name="T38" fmla="*/ 2 w 152"/>
              <a:gd name="T39" fmla="*/ 11 h 51"/>
              <a:gd name="T40" fmla="*/ 0 w 152"/>
              <a:gd name="T41" fmla="*/ 18 h 51"/>
              <a:gd name="T42" fmla="*/ 0 w 152"/>
              <a:gd name="T43" fmla="*/ 24 h 51"/>
              <a:gd name="T44" fmla="*/ 0 w 152"/>
              <a:gd name="T45" fmla="*/ 31 h 51"/>
              <a:gd name="T46" fmla="*/ 2 w 152"/>
              <a:gd name="T47" fmla="*/ 38 h 51"/>
              <a:gd name="T48" fmla="*/ 3 w 152"/>
              <a:gd name="T49" fmla="*/ 44 h 51"/>
              <a:gd name="T50" fmla="*/ 5 w 152"/>
              <a:gd name="T51" fmla="*/ 51 h 51"/>
              <a:gd name="T52" fmla="*/ 7 w 152"/>
              <a:gd name="T53" fmla="*/ 48 h 51"/>
              <a:gd name="T54" fmla="*/ 5 w 152"/>
              <a:gd name="T55" fmla="*/ 41 h 51"/>
              <a:gd name="T56" fmla="*/ 5 w 152"/>
              <a:gd name="T57" fmla="*/ 34 h 51"/>
              <a:gd name="T58" fmla="*/ 3 w 152"/>
              <a:gd name="T59" fmla="*/ 28 h 51"/>
              <a:gd name="T60" fmla="*/ 3 w 152"/>
              <a:gd name="T61" fmla="*/ 21 h 51"/>
              <a:gd name="T62" fmla="*/ 5 w 152"/>
              <a:gd name="T63" fmla="*/ 14 h 51"/>
              <a:gd name="T64" fmla="*/ 5 w 152"/>
              <a:gd name="T65" fmla="*/ 8 h 51"/>
              <a:gd name="T66" fmla="*/ 8 w 152"/>
              <a:gd name="T67" fmla="*/ 1 h 51"/>
              <a:gd name="T68" fmla="*/ 5 w 1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52" h="51">
                <a:moveTo>
                  <a:pt x="152" y="24"/>
                </a:moveTo>
                <a:lnTo>
                  <a:pt x="152" y="21"/>
                </a:lnTo>
                <a:lnTo>
                  <a:pt x="152" y="18"/>
                </a:lnTo>
                <a:lnTo>
                  <a:pt x="151" y="14"/>
                </a:lnTo>
                <a:lnTo>
                  <a:pt x="151" y="11"/>
                </a:lnTo>
                <a:lnTo>
                  <a:pt x="151" y="8"/>
                </a:lnTo>
                <a:lnTo>
                  <a:pt x="149" y="4"/>
                </a:lnTo>
                <a:lnTo>
                  <a:pt x="149" y="3"/>
                </a:lnTo>
                <a:lnTo>
                  <a:pt x="147" y="0"/>
                </a:lnTo>
                <a:lnTo>
                  <a:pt x="144" y="0"/>
                </a:lnTo>
                <a:lnTo>
                  <a:pt x="146" y="1"/>
                </a:lnTo>
                <a:lnTo>
                  <a:pt x="146" y="4"/>
                </a:lnTo>
                <a:lnTo>
                  <a:pt x="147" y="8"/>
                </a:lnTo>
                <a:lnTo>
                  <a:pt x="147" y="11"/>
                </a:lnTo>
                <a:lnTo>
                  <a:pt x="147" y="14"/>
                </a:lnTo>
                <a:lnTo>
                  <a:pt x="149" y="18"/>
                </a:lnTo>
                <a:lnTo>
                  <a:pt x="149" y="21"/>
                </a:lnTo>
                <a:lnTo>
                  <a:pt x="149" y="24"/>
                </a:lnTo>
                <a:lnTo>
                  <a:pt x="149" y="28"/>
                </a:lnTo>
                <a:lnTo>
                  <a:pt x="149" y="31"/>
                </a:lnTo>
                <a:lnTo>
                  <a:pt x="149" y="34"/>
                </a:lnTo>
                <a:lnTo>
                  <a:pt x="147" y="38"/>
                </a:lnTo>
                <a:lnTo>
                  <a:pt x="147" y="41"/>
                </a:lnTo>
                <a:lnTo>
                  <a:pt x="146" y="44"/>
                </a:lnTo>
                <a:lnTo>
                  <a:pt x="146" y="48"/>
                </a:lnTo>
                <a:lnTo>
                  <a:pt x="144" y="51"/>
                </a:lnTo>
                <a:lnTo>
                  <a:pt x="147" y="51"/>
                </a:lnTo>
                <a:lnTo>
                  <a:pt x="149" y="48"/>
                </a:lnTo>
                <a:lnTo>
                  <a:pt x="149" y="44"/>
                </a:lnTo>
                <a:lnTo>
                  <a:pt x="151" y="41"/>
                </a:lnTo>
                <a:lnTo>
                  <a:pt x="151" y="38"/>
                </a:lnTo>
                <a:lnTo>
                  <a:pt x="152" y="34"/>
                </a:lnTo>
                <a:lnTo>
                  <a:pt x="152" y="31"/>
                </a:lnTo>
                <a:lnTo>
                  <a:pt x="152" y="28"/>
                </a:lnTo>
                <a:lnTo>
                  <a:pt x="15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5" y="51"/>
                </a:lnTo>
                <a:lnTo>
                  <a:pt x="8"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8" y="1"/>
                </a:lnTo>
                <a:lnTo>
                  <a:pt x="8"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07" name="Freeform 1812">
            <a:extLst>
              <a:ext uri="{FF2B5EF4-FFF2-40B4-BE49-F238E27FC236}">
                <a16:creationId xmlns:a16="http://schemas.microsoft.com/office/drawing/2014/main" id="{9EFFA2D9-F35B-9C1C-A771-E4D705FEB026}"/>
              </a:ext>
            </a:extLst>
          </p:cNvPr>
          <p:cNvSpPr>
            <a:spLocks noEditPoints="1"/>
          </p:cNvSpPr>
          <p:nvPr/>
        </p:nvSpPr>
        <p:spPr bwMode="auto">
          <a:xfrm>
            <a:off x="2439988" y="2719388"/>
            <a:ext cx="236538" cy="80963"/>
          </a:xfrm>
          <a:custGeom>
            <a:avLst/>
            <a:gdLst>
              <a:gd name="T0" fmla="*/ 149 w 149"/>
              <a:gd name="T1" fmla="*/ 21 h 51"/>
              <a:gd name="T2" fmla="*/ 147 w 149"/>
              <a:gd name="T3" fmla="*/ 14 h 51"/>
              <a:gd name="T4" fmla="*/ 147 w 149"/>
              <a:gd name="T5" fmla="*/ 8 h 51"/>
              <a:gd name="T6" fmla="*/ 145 w 149"/>
              <a:gd name="T7" fmla="*/ 1 h 51"/>
              <a:gd name="T8" fmla="*/ 140 w 149"/>
              <a:gd name="T9" fmla="*/ 0 h 51"/>
              <a:gd name="T10" fmla="*/ 142 w 149"/>
              <a:gd name="T11" fmla="*/ 4 h 51"/>
              <a:gd name="T12" fmla="*/ 144 w 149"/>
              <a:gd name="T13" fmla="*/ 11 h 51"/>
              <a:gd name="T14" fmla="*/ 145 w 149"/>
              <a:gd name="T15" fmla="*/ 18 h 51"/>
              <a:gd name="T16" fmla="*/ 145 w 149"/>
              <a:gd name="T17" fmla="*/ 24 h 51"/>
              <a:gd name="T18" fmla="*/ 145 w 149"/>
              <a:gd name="T19" fmla="*/ 31 h 51"/>
              <a:gd name="T20" fmla="*/ 144 w 149"/>
              <a:gd name="T21" fmla="*/ 38 h 51"/>
              <a:gd name="T22" fmla="*/ 142 w 149"/>
              <a:gd name="T23" fmla="*/ 44 h 51"/>
              <a:gd name="T24" fmla="*/ 140 w 149"/>
              <a:gd name="T25" fmla="*/ 51 h 51"/>
              <a:gd name="T26" fmla="*/ 145 w 149"/>
              <a:gd name="T27" fmla="*/ 48 h 51"/>
              <a:gd name="T28" fmla="*/ 147 w 149"/>
              <a:gd name="T29" fmla="*/ 41 h 51"/>
              <a:gd name="T30" fmla="*/ 149 w 149"/>
              <a:gd name="T31" fmla="*/ 34 h 51"/>
              <a:gd name="T32" fmla="*/ 149 w 149"/>
              <a:gd name="T33" fmla="*/ 28 h 51"/>
              <a:gd name="T34" fmla="*/ 5 w 149"/>
              <a:gd name="T35" fmla="*/ 0 h 51"/>
              <a:gd name="T36" fmla="*/ 3 w 149"/>
              <a:gd name="T37" fmla="*/ 4 h 51"/>
              <a:gd name="T38" fmla="*/ 1 w 149"/>
              <a:gd name="T39" fmla="*/ 11 h 51"/>
              <a:gd name="T40" fmla="*/ 0 w 149"/>
              <a:gd name="T41" fmla="*/ 18 h 51"/>
              <a:gd name="T42" fmla="*/ 0 w 149"/>
              <a:gd name="T43" fmla="*/ 24 h 51"/>
              <a:gd name="T44" fmla="*/ 0 w 149"/>
              <a:gd name="T45" fmla="*/ 31 h 51"/>
              <a:gd name="T46" fmla="*/ 1 w 149"/>
              <a:gd name="T47" fmla="*/ 38 h 51"/>
              <a:gd name="T48" fmla="*/ 3 w 149"/>
              <a:gd name="T49" fmla="*/ 44 h 51"/>
              <a:gd name="T50" fmla="*/ 5 w 149"/>
              <a:gd name="T51" fmla="*/ 51 h 51"/>
              <a:gd name="T52" fmla="*/ 6 w 149"/>
              <a:gd name="T53" fmla="*/ 48 h 51"/>
              <a:gd name="T54" fmla="*/ 5 w 149"/>
              <a:gd name="T55" fmla="*/ 41 h 51"/>
              <a:gd name="T56" fmla="*/ 5 w 149"/>
              <a:gd name="T57" fmla="*/ 34 h 51"/>
              <a:gd name="T58" fmla="*/ 3 w 149"/>
              <a:gd name="T59" fmla="*/ 28 h 51"/>
              <a:gd name="T60" fmla="*/ 3 w 149"/>
              <a:gd name="T61" fmla="*/ 21 h 51"/>
              <a:gd name="T62" fmla="*/ 5 w 149"/>
              <a:gd name="T63" fmla="*/ 14 h 51"/>
              <a:gd name="T64" fmla="*/ 5 w 149"/>
              <a:gd name="T65" fmla="*/ 8 h 51"/>
              <a:gd name="T66" fmla="*/ 8 w 149"/>
              <a:gd name="T67" fmla="*/ 1 h 51"/>
              <a:gd name="T68" fmla="*/ 5 w 14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49" h="51">
                <a:moveTo>
                  <a:pt x="149" y="24"/>
                </a:moveTo>
                <a:lnTo>
                  <a:pt x="149" y="21"/>
                </a:lnTo>
                <a:lnTo>
                  <a:pt x="149" y="18"/>
                </a:lnTo>
                <a:lnTo>
                  <a:pt x="147" y="14"/>
                </a:lnTo>
                <a:lnTo>
                  <a:pt x="147" y="11"/>
                </a:lnTo>
                <a:lnTo>
                  <a:pt x="147" y="8"/>
                </a:lnTo>
                <a:lnTo>
                  <a:pt x="145" y="4"/>
                </a:lnTo>
                <a:lnTo>
                  <a:pt x="145" y="1"/>
                </a:lnTo>
                <a:lnTo>
                  <a:pt x="144" y="0"/>
                </a:lnTo>
                <a:lnTo>
                  <a:pt x="140" y="0"/>
                </a:lnTo>
                <a:lnTo>
                  <a:pt x="142" y="1"/>
                </a:lnTo>
                <a:lnTo>
                  <a:pt x="142" y="4"/>
                </a:lnTo>
                <a:lnTo>
                  <a:pt x="144" y="8"/>
                </a:lnTo>
                <a:lnTo>
                  <a:pt x="144" y="11"/>
                </a:lnTo>
                <a:lnTo>
                  <a:pt x="144" y="14"/>
                </a:lnTo>
                <a:lnTo>
                  <a:pt x="145" y="18"/>
                </a:lnTo>
                <a:lnTo>
                  <a:pt x="145" y="21"/>
                </a:lnTo>
                <a:lnTo>
                  <a:pt x="145" y="24"/>
                </a:lnTo>
                <a:lnTo>
                  <a:pt x="145" y="28"/>
                </a:lnTo>
                <a:lnTo>
                  <a:pt x="145" y="31"/>
                </a:lnTo>
                <a:lnTo>
                  <a:pt x="145" y="34"/>
                </a:lnTo>
                <a:lnTo>
                  <a:pt x="144" y="38"/>
                </a:lnTo>
                <a:lnTo>
                  <a:pt x="144" y="41"/>
                </a:lnTo>
                <a:lnTo>
                  <a:pt x="142" y="44"/>
                </a:lnTo>
                <a:lnTo>
                  <a:pt x="142" y="48"/>
                </a:lnTo>
                <a:lnTo>
                  <a:pt x="140" y="51"/>
                </a:lnTo>
                <a:lnTo>
                  <a:pt x="144" y="51"/>
                </a:lnTo>
                <a:lnTo>
                  <a:pt x="145" y="48"/>
                </a:lnTo>
                <a:lnTo>
                  <a:pt x="145" y="44"/>
                </a:lnTo>
                <a:lnTo>
                  <a:pt x="147" y="41"/>
                </a:lnTo>
                <a:lnTo>
                  <a:pt x="147" y="38"/>
                </a:lnTo>
                <a:lnTo>
                  <a:pt x="149" y="34"/>
                </a:lnTo>
                <a:lnTo>
                  <a:pt x="149" y="31"/>
                </a:lnTo>
                <a:lnTo>
                  <a:pt x="149" y="28"/>
                </a:lnTo>
                <a:lnTo>
                  <a:pt x="149" y="24"/>
                </a:lnTo>
                <a:close/>
                <a:moveTo>
                  <a:pt x="5" y="0"/>
                </a:moveTo>
                <a:lnTo>
                  <a:pt x="3" y="1"/>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5" y="51"/>
                </a:lnTo>
                <a:lnTo>
                  <a:pt x="8"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8" y="1"/>
                </a:lnTo>
                <a:lnTo>
                  <a:pt x="8"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08" name="Freeform 1813">
            <a:extLst>
              <a:ext uri="{FF2B5EF4-FFF2-40B4-BE49-F238E27FC236}">
                <a16:creationId xmlns:a16="http://schemas.microsoft.com/office/drawing/2014/main" id="{0618A70D-4E44-A0DC-6462-97B5B02C6D06}"/>
              </a:ext>
            </a:extLst>
          </p:cNvPr>
          <p:cNvSpPr>
            <a:spLocks noEditPoints="1"/>
          </p:cNvSpPr>
          <p:nvPr/>
        </p:nvSpPr>
        <p:spPr bwMode="auto">
          <a:xfrm>
            <a:off x="2441575" y="2719388"/>
            <a:ext cx="231775" cy="80963"/>
          </a:xfrm>
          <a:custGeom>
            <a:avLst/>
            <a:gdLst>
              <a:gd name="T0" fmla="*/ 146 w 146"/>
              <a:gd name="T1" fmla="*/ 21 h 51"/>
              <a:gd name="T2" fmla="*/ 144 w 146"/>
              <a:gd name="T3" fmla="*/ 14 h 51"/>
              <a:gd name="T4" fmla="*/ 144 w 146"/>
              <a:gd name="T5" fmla="*/ 8 h 51"/>
              <a:gd name="T6" fmla="*/ 143 w 146"/>
              <a:gd name="T7" fmla="*/ 1 h 51"/>
              <a:gd name="T8" fmla="*/ 138 w 146"/>
              <a:gd name="T9" fmla="*/ 0 h 51"/>
              <a:gd name="T10" fmla="*/ 139 w 146"/>
              <a:gd name="T11" fmla="*/ 4 h 51"/>
              <a:gd name="T12" fmla="*/ 141 w 146"/>
              <a:gd name="T13" fmla="*/ 11 h 51"/>
              <a:gd name="T14" fmla="*/ 143 w 146"/>
              <a:gd name="T15" fmla="*/ 18 h 51"/>
              <a:gd name="T16" fmla="*/ 143 w 146"/>
              <a:gd name="T17" fmla="*/ 24 h 51"/>
              <a:gd name="T18" fmla="*/ 143 w 146"/>
              <a:gd name="T19" fmla="*/ 31 h 51"/>
              <a:gd name="T20" fmla="*/ 141 w 146"/>
              <a:gd name="T21" fmla="*/ 38 h 51"/>
              <a:gd name="T22" fmla="*/ 139 w 146"/>
              <a:gd name="T23" fmla="*/ 44 h 51"/>
              <a:gd name="T24" fmla="*/ 138 w 146"/>
              <a:gd name="T25" fmla="*/ 51 h 51"/>
              <a:gd name="T26" fmla="*/ 143 w 146"/>
              <a:gd name="T27" fmla="*/ 48 h 51"/>
              <a:gd name="T28" fmla="*/ 144 w 146"/>
              <a:gd name="T29" fmla="*/ 41 h 51"/>
              <a:gd name="T30" fmla="*/ 146 w 146"/>
              <a:gd name="T31" fmla="*/ 34 h 51"/>
              <a:gd name="T32" fmla="*/ 146 w 146"/>
              <a:gd name="T33" fmla="*/ 28 h 51"/>
              <a:gd name="T34" fmla="*/ 5 w 146"/>
              <a:gd name="T35" fmla="*/ 0 h 51"/>
              <a:gd name="T36" fmla="*/ 4 w 146"/>
              <a:gd name="T37" fmla="*/ 4 h 51"/>
              <a:gd name="T38" fmla="*/ 2 w 146"/>
              <a:gd name="T39" fmla="*/ 11 h 51"/>
              <a:gd name="T40" fmla="*/ 0 w 146"/>
              <a:gd name="T41" fmla="*/ 18 h 51"/>
              <a:gd name="T42" fmla="*/ 0 w 146"/>
              <a:gd name="T43" fmla="*/ 24 h 51"/>
              <a:gd name="T44" fmla="*/ 0 w 146"/>
              <a:gd name="T45" fmla="*/ 31 h 51"/>
              <a:gd name="T46" fmla="*/ 2 w 146"/>
              <a:gd name="T47" fmla="*/ 38 h 51"/>
              <a:gd name="T48" fmla="*/ 4 w 146"/>
              <a:gd name="T49" fmla="*/ 44 h 51"/>
              <a:gd name="T50" fmla="*/ 5 w 146"/>
              <a:gd name="T51" fmla="*/ 51 h 51"/>
              <a:gd name="T52" fmla="*/ 7 w 146"/>
              <a:gd name="T53" fmla="*/ 48 h 51"/>
              <a:gd name="T54" fmla="*/ 5 w 146"/>
              <a:gd name="T55" fmla="*/ 41 h 51"/>
              <a:gd name="T56" fmla="*/ 5 w 146"/>
              <a:gd name="T57" fmla="*/ 34 h 51"/>
              <a:gd name="T58" fmla="*/ 4 w 146"/>
              <a:gd name="T59" fmla="*/ 28 h 51"/>
              <a:gd name="T60" fmla="*/ 4 w 146"/>
              <a:gd name="T61" fmla="*/ 21 h 51"/>
              <a:gd name="T62" fmla="*/ 5 w 146"/>
              <a:gd name="T63" fmla="*/ 14 h 51"/>
              <a:gd name="T64" fmla="*/ 5 w 146"/>
              <a:gd name="T65" fmla="*/ 8 h 51"/>
              <a:gd name="T66" fmla="*/ 9 w 146"/>
              <a:gd name="T67" fmla="*/ 1 h 51"/>
              <a:gd name="T68" fmla="*/ 5 w 1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46" h="51">
                <a:moveTo>
                  <a:pt x="146" y="24"/>
                </a:moveTo>
                <a:lnTo>
                  <a:pt x="146" y="21"/>
                </a:lnTo>
                <a:lnTo>
                  <a:pt x="146" y="18"/>
                </a:lnTo>
                <a:lnTo>
                  <a:pt x="144" y="14"/>
                </a:lnTo>
                <a:lnTo>
                  <a:pt x="144" y="11"/>
                </a:lnTo>
                <a:lnTo>
                  <a:pt x="144" y="8"/>
                </a:lnTo>
                <a:lnTo>
                  <a:pt x="143" y="4"/>
                </a:lnTo>
                <a:lnTo>
                  <a:pt x="143" y="1"/>
                </a:lnTo>
                <a:lnTo>
                  <a:pt x="141" y="0"/>
                </a:lnTo>
                <a:lnTo>
                  <a:pt x="138" y="0"/>
                </a:lnTo>
                <a:lnTo>
                  <a:pt x="139" y="1"/>
                </a:lnTo>
                <a:lnTo>
                  <a:pt x="139" y="4"/>
                </a:lnTo>
                <a:lnTo>
                  <a:pt x="141" y="8"/>
                </a:lnTo>
                <a:lnTo>
                  <a:pt x="141" y="11"/>
                </a:lnTo>
                <a:lnTo>
                  <a:pt x="141" y="14"/>
                </a:lnTo>
                <a:lnTo>
                  <a:pt x="143" y="18"/>
                </a:lnTo>
                <a:lnTo>
                  <a:pt x="143" y="21"/>
                </a:lnTo>
                <a:lnTo>
                  <a:pt x="143" y="24"/>
                </a:lnTo>
                <a:lnTo>
                  <a:pt x="143" y="28"/>
                </a:lnTo>
                <a:lnTo>
                  <a:pt x="143" y="31"/>
                </a:lnTo>
                <a:lnTo>
                  <a:pt x="141" y="34"/>
                </a:lnTo>
                <a:lnTo>
                  <a:pt x="141" y="38"/>
                </a:lnTo>
                <a:lnTo>
                  <a:pt x="141" y="41"/>
                </a:lnTo>
                <a:lnTo>
                  <a:pt x="139" y="44"/>
                </a:lnTo>
                <a:lnTo>
                  <a:pt x="139" y="48"/>
                </a:lnTo>
                <a:lnTo>
                  <a:pt x="138" y="51"/>
                </a:lnTo>
                <a:lnTo>
                  <a:pt x="141" y="51"/>
                </a:lnTo>
                <a:lnTo>
                  <a:pt x="143" y="48"/>
                </a:lnTo>
                <a:lnTo>
                  <a:pt x="143" y="44"/>
                </a:lnTo>
                <a:lnTo>
                  <a:pt x="144" y="41"/>
                </a:lnTo>
                <a:lnTo>
                  <a:pt x="144" y="38"/>
                </a:lnTo>
                <a:lnTo>
                  <a:pt x="146" y="34"/>
                </a:lnTo>
                <a:lnTo>
                  <a:pt x="146" y="31"/>
                </a:lnTo>
                <a:lnTo>
                  <a:pt x="146" y="28"/>
                </a:lnTo>
                <a:lnTo>
                  <a:pt x="146" y="24"/>
                </a:lnTo>
                <a:close/>
                <a:moveTo>
                  <a:pt x="5" y="0"/>
                </a:moveTo>
                <a:lnTo>
                  <a:pt x="5" y="1"/>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5" y="51"/>
                </a:lnTo>
                <a:lnTo>
                  <a:pt x="9"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9" y="1"/>
                </a:lnTo>
                <a:lnTo>
                  <a:pt x="9"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09" name="Freeform 1814">
            <a:extLst>
              <a:ext uri="{FF2B5EF4-FFF2-40B4-BE49-F238E27FC236}">
                <a16:creationId xmlns:a16="http://schemas.microsoft.com/office/drawing/2014/main" id="{EC5EA44F-DDFA-6ABF-43EC-5043F3CA70B7}"/>
              </a:ext>
            </a:extLst>
          </p:cNvPr>
          <p:cNvSpPr>
            <a:spLocks noEditPoints="1"/>
          </p:cNvSpPr>
          <p:nvPr/>
        </p:nvSpPr>
        <p:spPr bwMode="auto">
          <a:xfrm>
            <a:off x="2444750" y="2719388"/>
            <a:ext cx="225425" cy="80963"/>
          </a:xfrm>
          <a:custGeom>
            <a:avLst/>
            <a:gdLst>
              <a:gd name="T0" fmla="*/ 142 w 142"/>
              <a:gd name="T1" fmla="*/ 21 h 51"/>
              <a:gd name="T2" fmla="*/ 141 w 142"/>
              <a:gd name="T3" fmla="*/ 14 h 51"/>
              <a:gd name="T4" fmla="*/ 141 w 142"/>
              <a:gd name="T5" fmla="*/ 8 h 51"/>
              <a:gd name="T6" fmla="*/ 139 w 142"/>
              <a:gd name="T7" fmla="*/ 1 h 51"/>
              <a:gd name="T8" fmla="*/ 134 w 142"/>
              <a:gd name="T9" fmla="*/ 0 h 51"/>
              <a:gd name="T10" fmla="*/ 136 w 142"/>
              <a:gd name="T11" fmla="*/ 4 h 51"/>
              <a:gd name="T12" fmla="*/ 137 w 142"/>
              <a:gd name="T13" fmla="*/ 11 h 51"/>
              <a:gd name="T14" fmla="*/ 139 w 142"/>
              <a:gd name="T15" fmla="*/ 18 h 51"/>
              <a:gd name="T16" fmla="*/ 139 w 142"/>
              <a:gd name="T17" fmla="*/ 24 h 51"/>
              <a:gd name="T18" fmla="*/ 139 w 142"/>
              <a:gd name="T19" fmla="*/ 31 h 51"/>
              <a:gd name="T20" fmla="*/ 137 w 142"/>
              <a:gd name="T21" fmla="*/ 38 h 51"/>
              <a:gd name="T22" fmla="*/ 136 w 142"/>
              <a:gd name="T23" fmla="*/ 44 h 51"/>
              <a:gd name="T24" fmla="*/ 134 w 142"/>
              <a:gd name="T25" fmla="*/ 51 h 51"/>
              <a:gd name="T26" fmla="*/ 139 w 142"/>
              <a:gd name="T27" fmla="*/ 48 h 51"/>
              <a:gd name="T28" fmla="*/ 141 w 142"/>
              <a:gd name="T29" fmla="*/ 41 h 51"/>
              <a:gd name="T30" fmla="*/ 142 w 142"/>
              <a:gd name="T31" fmla="*/ 34 h 51"/>
              <a:gd name="T32" fmla="*/ 142 w 142"/>
              <a:gd name="T33" fmla="*/ 28 h 51"/>
              <a:gd name="T34" fmla="*/ 5 w 142"/>
              <a:gd name="T35" fmla="*/ 0 h 51"/>
              <a:gd name="T36" fmla="*/ 3 w 142"/>
              <a:gd name="T37" fmla="*/ 4 h 51"/>
              <a:gd name="T38" fmla="*/ 2 w 142"/>
              <a:gd name="T39" fmla="*/ 11 h 51"/>
              <a:gd name="T40" fmla="*/ 0 w 142"/>
              <a:gd name="T41" fmla="*/ 18 h 51"/>
              <a:gd name="T42" fmla="*/ 0 w 142"/>
              <a:gd name="T43" fmla="*/ 24 h 51"/>
              <a:gd name="T44" fmla="*/ 0 w 142"/>
              <a:gd name="T45" fmla="*/ 31 h 51"/>
              <a:gd name="T46" fmla="*/ 2 w 142"/>
              <a:gd name="T47" fmla="*/ 38 h 51"/>
              <a:gd name="T48" fmla="*/ 3 w 142"/>
              <a:gd name="T49" fmla="*/ 44 h 51"/>
              <a:gd name="T50" fmla="*/ 5 w 142"/>
              <a:gd name="T51" fmla="*/ 51 h 51"/>
              <a:gd name="T52" fmla="*/ 8 w 142"/>
              <a:gd name="T53" fmla="*/ 48 h 51"/>
              <a:gd name="T54" fmla="*/ 5 w 142"/>
              <a:gd name="T55" fmla="*/ 41 h 51"/>
              <a:gd name="T56" fmla="*/ 5 w 142"/>
              <a:gd name="T57" fmla="*/ 34 h 51"/>
              <a:gd name="T58" fmla="*/ 3 w 142"/>
              <a:gd name="T59" fmla="*/ 28 h 51"/>
              <a:gd name="T60" fmla="*/ 3 w 142"/>
              <a:gd name="T61" fmla="*/ 21 h 51"/>
              <a:gd name="T62" fmla="*/ 5 w 142"/>
              <a:gd name="T63" fmla="*/ 14 h 51"/>
              <a:gd name="T64" fmla="*/ 7 w 142"/>
              <a:gd name="T65" fmla="*/ 8 h 51"/>
              <a:gd name="T66" fmla="*/ 8 w 142"/>
              <a:gd name="T67" fmla="*/ 1 h 51"/>
              <a:gd name="T68" fmla="*/ 5 w 1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42" h="51">
                <a:moveTo>
                  <a:pt x="142" y="24"/>
                </a:moveTo>
                <a:lnTo>
                  <a:pt x="142" y="21"/>
                </a:lnTo>
                <a:lnTo>
                  <a:pt x="142" y="18"/>
                </a:lnTo>
                <a:lnTo>
                  <a:pt x="141" y="14"/>
                </a:lnTo>
                <a:lnTo>
                  <a:pt x="141" y="11"/>
                </a:lnTo>
                <a:lnTo>
                  <a:pt x="141" y="8"/>
                </a:lnTo>
                <a:lnTo>
                  <a:pt x="139" y="4"/>
                </a:lnTo>
                <a:lnTo>
                  <a:pt x="139" y="1"/>
                </a:lnTo>
                <a:lnTo>
                  <a:pt x="137" y="0"/>
                </a:lnTo>
                <a:lnTo>
                  <a:pt x="134" y="0"/>
                </a:lnTo>
                <a:lnTo>
                  <a:pt x="134" y="1"/>
                </a:lnTo>
                <a:lnTo>
                  <a:pt x="136" y="4"/>
                </a:lnTo>
                <a:lnTo>
                  <a:pt x="137" y="8"/>
                </a:lnTo>
                <a:lnTo>
                  <a:pt x="137" y="11"/>
                </a:lnTo>
                <a:lnTo>
                  <a:pt x="137" y="14"/>
                </a:lnTo>
                <a:lnTo>
                  <a:pt x="139" y="18"/>
                </a:lnTo>
                <a:lnTo>
                  <a:pt x="139" y="21"/>
                </a:lnTo>
                <a:lnTo>
                  <a:pt x="139" y="24"/>
                </a:lnTo>
                <a:lnTo>
                  <a:pt x="139" y="28"/>
                </a:lnTo>
                <a:lnTo>
                  <a:pt x="139" y="31"/>
                </a:lnTo>
                <a:lnTo>
                  <a:pt x="137" y="34"/>
                </a:lnTo>
                <a:lnTo>
                  <a:pt x="137" y="38"/>
                </a:lnTo>
                <a:lnTo>
                  <a:pt x="137" y="41"/>
                </a:lnTo>
                <a:lnTo>
                  <a:pt x="136" y="44"/>
                </a:lnTo>
                <a:lnTo>
                  <a:pt x="136" y="48"/>
                </a:lnTo>
                <a:lnTo>
                  <a:pt x="134" y="51"/>
                </a:lnTo>
                <a:lnTo>
                  <a:pt x="137" y="51"/>
                </a:lnTo>
                <a:lnTo>
                  <a:pt x="139" y="48"/>
                </a:lnTo>
                <a:lnTo>
                  <a:pt x="139" y="44"/>
                </a:lnTo>
                <a:lnTo>
                  <a:pt x="141" y="41"/>
                </a:lnTo>
                <a:lnTo>
                  <a:pt x="141" y="38"/>
                </a:lnTo>
                <a:lnTo>
                  <a:pt x="142" y="34"/>
                </a:lnTo>
                <a:lnTo>
                  <a:pt x="142" y="31"/>
                </a:lnTo>
                <a:lnTo>
                  <a:pt x="142" y="28"/>
                </a:lnTo>
                <a:lnTo>
                  <a:pt x="142" y="24"/>
                </a:lnTo>
                <a:close/>
                <a:moveTo>
                  <a:pt x="5" y="0"/>
                </a:moveTo>
                <a:lnTo>
                  <a:pt x="5" y="1"/>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5" y="51"/>
                </a:lnTo>
                <a:lnTo>
                  <a:pt x="8" y="51"/>
                </a:lnTo>
                <a:lnTo>
                  <a:pt x="8" y="48"/>
                </a:lnTo>
                <a:lnTo>
                  <a:pt x="7" y="44"/>
                </a:lnTo>
                <a:lnTo>
                  <a:pt x="5" y="41"/>
                </a:lnTo>
                <a:lnTo>
                  <a:pt x="5" y="38"/>
                </a:lnTo>
                <a:lnTo>
                  <a:pt x="5" y="34"/>
                </a:lnTo>
                <a:lnTo>
                  <a:pt x="3" y="31"/>
                </a:lnTo>
                <a:lnTo>
                  <a:pt x="3" y="28"/>
                </a:lnTo>
                <a:lnTo>
                  <a:pt x="3" y="24"/>
                </a:lnTo>
                <a:lnTo>
                  <a:pt x="3" y="21"/>
                </a:lnTo>
                <a:lnTo>
                  <a:pt x="3" y="18"/>
                </a:lnTo>
                <a:lnTo>
                  <a:pt x="5" y="14"/>
                </a:lnTo>
                <a:lnTo>
                  <a:pt x="5" y="11"/>
                </a:lnTo>
                <a:lnTo>
                  <a:pt x="7" y="8"/>
                </a:lnTo>
                <a:lnTo>
                  <a:pt x="7" y="4"/>
                </a:lnTo>
                <a:lnTo>
                  <a:pt x="8" y="1"/>
                </a:lnTo>
                <a:lnTo>
                  <a:pt x="8"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10" name="Freeform 1815">
            <a:extLst>
              <a:ext uri="{FF2B5EF4-FFF2-40B4-BE49-F238E27FC236}">
                <a16:creationId xmlns:a16="http://schemas.microsoft.com/office/drawing/2014/main" id="{7C3815E1-B92E-8F41-92BC-3B0AA68D5D20}"/>
              </a:ext>
            </a:extLst>
          </p:cNvPr>
          <p:cNvSpPr>
            <a:spLocks noEditPoints="1"/>
          </p:cNvSpPr>
          <p:nvPr/>
        </p:nvSpPr>
        <p:spPr bwMode="auto">
          <a:xfrm>
            <a:off x="2447925" y="2719388"/>
            <a:ext cx="220663" cy="80963"/>
          </a:xfrm>
          <a:custGeom>
            <a:avLst/>
            <a:gdLst>
              <a:gd name="T0" fmla="*/ 139 w 139"/>
              <a:gd name="T1" fmla="*/ 21 h 51"/>
              <a:gd name="T2" fmla="*/ 137 w 139"/>
              <a:gd name="T3" fmla="*/ 14 h 51"/>
              <a:gd name="T4" fmla="*/ 137 w 139"/>
              <a:gd name="T5" fmla="*/ 8 h 51"/>
              <a:gd name="T6" fmla="*/ 135 w 139"/>
              <a:gd name="T7" fmla="*/ 1 h 51"/>
              <a:gd name="T8" fmla="*/ 130 w 139"/>
              <a:gd name="T9" fmla="*/ 0 h 51"/>
              <a:gd name="T10" fmla="*/ 132 w 139"/>
              <a:gd name="T11" fmla="*/ 4 h 51"/>
              <a:gd name="T12" fmla="*/ 134 w 139"/>
              <a:gd name="T13" fmla="*/ 11 h 51"/>
              <a:gd name="T14" fmla="*/ 135 w 139"/>
              <a:gd name="T15" fmla="*/ 18 h 51"/>
              <a:gd name="T16" fmla="*/ 135 w 139"/>
              <a:gd name="T17" fmla="*/ 24 h 51"/>
              <a:gd name="T18" fmla="*/ 135 w 139"/>
              <a:gd name="T19" fmla="*/ 31 h 51"/>
              <a:gd name="T20" fmla="*/ 134 w 139"/>
              <a:gd name="T21" fmla="*/ 38 h 51"/>
              <a:gd name="T22" fmla="*/ 132 w 139"/>
              <a:gd name="T23" fmla="*/ 44 h 51"/>
              <a:gd name="T24" fmla="*/ 130 w 139"/>
              <a:gd name="T25" fmla="*/ 51 h 51"/>
              <a:gd name="T26" fmla="*/ 135 w 139"/>
              <a:gd name="T27" fmla="*/ 48 h 51"/>
              <a:gd name="T28" fmla="*/ 137 w 139"/>
              <a:gd name="T29" fmla="*/ 41 h 51"/>
              <a:gd name="T30" fmla="*/ 137 w 139"/>
              <a:gd name="T31" fmla="*/ 34 h 51"/>
              <a:gd name="T32" fmla="*/ 139 w 139"/>
              <a:gd name="T33" fmla="*/ 28 h 51"/>
              <a:gd name="T34" fmla="*/ 5 w 139"/>
              <a:gd name="T35" fmla="*/ 0 h 51"/>
              <a:gd name="T36" fmla="*/ 3 w 139"/>
              <a:gd name="T37" fmla="*/ 4 h 51"/>
              <a:gd name="T38" fmla="*/ 1 w 139"/>
              <a:gd name="T39" fmla="*/ 11 h 51"/>
              <a:gd name="T40" fmla="*/ 0 w 139"/>
              <a:gd name="T41" fmla="*/ 18 h 51"/>
              <a:gd name="T42" fmla="*/ 0 w 139"/>
              <a:gd name="T43" fmla="*/ 24 h 51"/>
              <a:gd name="T44" fmla="*/ 0 w 139"/>
              <a:gd name="T45" fmla="*/ 31 h 51"/>
              <a:gd name="T46" fmla="*/ 1 w 139"/>
              <a:gd name="T47" fmla="*/ 38 h 51"/>
              <a:gd name="T48" fmla="*/ 3 w 139"/>
              <a:gd name="T49" fmla="*/ 44 h 51"/>
              <a:gd name="T50" fmla="*/ 5 w 139"/>
              <a:gd name="T51" fmla="*/ 51 h 51"/>
              <a:gd name="T52" fmla="*/ 8 w 139"/>
              <a:gd name="T53" fmla="*/ 48 h 51"/>
              <a:gd name="T54" fmla="*/ 5 w 139"/>
              <a:gd name="T55" fmla="*/ 41 h 51"/>
              <a:gd name="T56" fmla="*/ 5 w 139"/>
              <a:gd name="T57" fmla="*/ 34 h 51"/>
              <a:gd name="T58" fmla="*/ 3 w 139"/>
              <a:gd name="T59" fmla="*/ 28 h 51"/>
              <a:gd name="T60" fmla="*/ 3 w 139"/>
              <a:gd name="T61" fmla="*/ 21 h 51"/>
              <a:gd name="T62" fmla="*/ 5 w 139"/>
              <a:gd name="T63" fmla="*/ 14 h 51"/>
              <a:gd name="T64" fmla="*/ 6 w 139"/>
              <a:gd name="T65" fmla="*/ 8 h 51"/>
              <a:gd name="T66" fmla="*/ 8 w 139"/>
              <a:gd name="T67" fmla="*/ 1 h 51"/>
              <a:gd name="T68" fmla="*/ 5 w 13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9" h="51">
                <a:moveTo>
                  <a:pt x="139" y="24"/>
                </a:moveTo>
                <a:lnTo>
                  <a:pt x="139" y="21"/>
                </a:lnTo>
                <a:lnTo>
                  <a:pt x="139" y="18"/>
                </a:lnTo>
                <a:lnTo>
                  <a:pt x="137" y="14"/>
                </a:lnTo>
                <a:lnTo>
                  <a:pt x="137" y="11"/>
                </a:lnTo>
                <a:lnTo>
                  <a:pt x="137" y="8"/>
                </a:lnTo>
                <a:lnTo>
                  <a:pt x="135" y="4"/>
                </a:lnTo>
                <a:lnTo>
                  <a:pt x="135" y="1"/>
                </a:lnTo>
                <a:lnTo>
                  <a:pt x="134" y="0"/>
                </a:lnTo>
                <a:lnTo>
                  <a:pt x="130" y="0"/>
                </a:lnTo>
                <a:lnTo>
                  <a:pt x="130" y="1"/>
                </a:lnTo>
                <a:lnTo>
                  <a:pt x="132" y="4"/>
                </a:lnTo>
                <a:lnTo>
                  <a:pt x="134" y="8"/>
                </a:lnTo>
                <a:lnTo>
                  <a:pt x="134" y="11"/>
                </a:lnTo>
                <a:lnTo>
                  <a:pt x="134" y="14"/>
                </a:lnTo>
                <a:lnTo>
                  <a:pt x="135" y="18"/>
                </a:lnTo>
                <a:lnTo>
                  <a:pt x="135" y="21"/>
                </a:lnTo>
                <a:lnTo>
                  <a:pt x="135" y="24"/>
                </a:lnTo>
                <a:lnTo>
                  <a:pt x="135" y="28"/>
                </a:lnTo>
                <a:lnTo>
                  <a:pt x="135" y="31"/>
                </a:lnTo>
                <a:lnTo>
                  <a:pt x="134" y="34"/>
                </a:lnTo>
                <a:lnTo>
                  <a:pt x="134" y="38"/>
                </a:lnTo>
                <a:lnTo>
                  <a:pt x="134" y="41"/>
                </a:lnTo>
                <a:lnTo>
                  <a:pt x="132" y="44"/>
                </a:lnTo>
                <a:lnTo>
                  <a:pt x="132" y="48"/>
                </a:lnTo>
                <a:lnTo>
                  <a:pt x="130" y="51"/>
                </a:lnTo>
                <a:lnTo>
                  <a:pt x="134" y="51"/>
                </a:lnTo>
                <a:lnTo>
                  <a:pt x="135" y="48"/>
                </a:lnTo>
                <a:lnTo>
                  <a:pt x="135" y="44"/>
                </a:lnTo>
                <a:lnTo>
                  <a:pt x="137" y="41"/>
                </a:lnTo>
                <a:lnTo>
                  <a:pt x="137" y="38"/>
                </a:lnTo>
                <a:lnTo>
                  <a:pt x="137" y="34"/>
                </a:lnTo>
                <a:lnTo>
                  <a:pt x="139" y="31"/>
                </a:lnTo>
                <a:lnTo>
                  <a:pt x="139" y="28"/>
                </a:lnTo>
                <a:lnTo>
                  <a:pt x="139" y="24"/>
                </a:lnTo>
                <a:close/>
                <a:moveTo>
                  <a:pt x="5" y="0"/>
                </a:moveTo>
                <a:lnTo>
                  <a:pt x="5" y="1"/>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5" y="51"/>
                </a:lnTo>
                <a:lnTo>
                  <a:pt x="8" y="51"/>
                </a:lnTo>
                <a:lnTo>
                  <a:pt x="8" y="48"/>
                </a:lnTo>
                <a:lnTo>
                  <a:pt x="6" y="44"/>
                </a:lnTo>
                <a:lnTo>
                  <a:pt x="5" y="41"/>
                </a:lnTo>
                <a:lnTo>
                  <a:pt x="5" y="38"/>
                </a:lnTo>
                <a:lnTo>
                  <a:pt x="5" y="34"/>
                </a:lnTo>
                <a:lnTo>
                  <a:pt x="3" y="31"/>
                </a:lnTo>
                <a:lnTo>
                  <a:pt x="3" y="28"/>
                </a:lnTo>
                <a:lnTo>
                  <a:pt x="3" y="24"/>
                </a:lnTo>
                <a:lnTo>
                  <a:pt x="3" y="21"/>
                </a:lnTo>
                <a:lnTo>
                  <a:pt x="3" y="18"/>
                </a:lnTo>
                <a:lnTo>
                  <a:pt x="5" y="14"/>
                </a:lnTo>
                <a:lnTo>
                  <a:pt x="5" y="11"/>
                </a:lnTo>
                <a:lnTo>
                  <a:pt x="6" y="8"/>
                </a:lnTo>
                <a:lnTo>
                  <a:pt x="6" y="4"/>
                </a:lnTo>
                <a:lnTo>
                  <a:pt x="8" y="1"/>
                </a:lnTo>
                <a:lnTo>
                  <a:pt x="10"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11" name="Freeform 1816">
            <a:extLst>
              <a:ext uri="{FF2B5EF4-FFF2-40B4-BE49-F238E27FC236}">
                <a16:creationId xmlns:a16="http://schemas.microsoft.com/office/drawing/2014/main" id="{F288C9FB-AA29-002C-E78E-815990D82A25}"/>
              </a:ext>
            </a:extLst>
          </p:cNvPr>
          <p:cNvSpPr>
            <a:spLocks noEditPoints="1"/>
          </p:cNvSpPr>
          <p:nvPr/>
        </p:nvSpPr>
        <p:spPr bwMode="auto">
          <a:xfrm>
            <a:off x="2449513" y="2719388"/>
            <a:ext cx="215900" cy="80963"/>
          </a:xfrm>
          <a:custGeom>
            <a:avLst/>
            <a:gdLst>
              <a:gd name="T0" fmla="*/ 136 w 136"/>
              <a:gd name="T1" fmla="*/ 21 h 51"/>
              <a:gd name="T2" fmla="*/ 134 w 136"/>
              <a:gd name="T3" fmla="*/ 14 h 51"/>
              <a:gd name="T4" fmla="*/ 134 w 136"/>
              <a:gd name="T5" fmla="*/ 8 h 51"/>
              <a:gd name="T6" fmla="*/ 131 w 136"/>
              <a:gd name="T7" fmla="*/ 1 h 51"/>
              <a:gd name="T8" fmla="*/ 128 w 136"/>
              <a:gd name="T9" fmla="*/ 0 h 51"/>
              <a:gd name="T10" fmla="*/ 129 w 136"/>
              <a:gd name="T11" fmla="*/ 4 h 51"/>
              <a:gd name="T12" fmla="*/ 131 w 136"/>
              <a:gd name="T13" fmla="*/ 11 h 51"/>
              <a:gd name="T14" fmla="*/ 133 w 136"/>
              <a:gd name="T15" fmla="*/ 18 h 51"/>
              <a:gd name="T16" fmla="*/ 133 w 136"/>
              <a:gd name="T17" fmla="*/ 24 h 51"/>
              <a:gd name="T18" fmla="*/ 133 w 136"/>
              <a:gd name="T19" fmla="*/ 31 h 51"/>
              <a:gd name="T20" fmla="*/ 131 w 136"/>
              <a:gd name="T21" fmla="*/ 38 h 51"/>
              <a:gd name="T22" fmla="*/ 129 w 136"/>
              <a:gd name="T23" fmla="*/ 44 h 51"/>
              <a:gd name="T24" fmla="*/ 128 w 136"/>
              <a:gd name="T25" fmla="*/ 51 h 51"/>
              <a:gd name="T26" fmla="*/ 133 w 136"/>
              <a:gd name="T27" fmla="*/ 48 h 51"/>
              <a:gd name="T28" fmla="*/ 134 w 136"/>
              <a:gd name="T29" fmla="*/ 41 h 51"/>
              <a:gd name="T30" fmla="*/ 134 w 136"/>
              <a:gd name="T31" fmla="*/ 34 h 51"/>
              <a:gd name="T32" fmla="*/ 136 w 136"/>
              <a:gd name="T33" fmla="*/ 28 h 51"/>
              <a:gd name="T34" fmla="*/ 5 w 136"/>
              <a:gd name="T35" fmla="*/ 0 h 51"/>
              <a:gd name="T36" fmla="*/ 4 w 136"/>
              <a:gd name="T37" fmla="*/ 4 h 51"/>
              <a:gd name="T38" fmla="*/ 2 w 136"/>
              <a:gd name="T39" fmla="*/ 11 h 51"/>
              <a:gd name="T40" fmla="*/ 0 w 136"/>
              <a:gd name="T41" fmla="*/ 18 h 51"/>
              <a:gd name="T42" fmla="*/ 0 w 136"/>
              <a:gd name="T43" fmla="*/ 24 h 51"/>
              <a:gd name="T44" fmla="*/ 0 w 136"/>
              <a:gd name="T45" fmla="*/ 31 h 51"/>
              <a:gd name="T46" fmla="*/ 2 w 136"/>
              <a:gd name="T47" fmla="*/ 38 h 51"/>
              <a:gd name="T48" fmla="*/ 4 w 136"/>
              <a:gd name="T49" fmla="*/ 44 h 51"/>
              <a:gd name="T50" fmla="*/ 5 w 136"/>
              <a:gd name="T51" fmla="*/ 51 h 51"/>
              <a:gd name="T52" fmla="*/ 9 w 136"/>
              <a:gd name="T53" fmla="*/ 48 h 51"/>
              <a:gd name="T54" fmla="*/ 5 w 136"/>
              <a:gd name="T55" fmla="*/ 41 h 51"/>
              <a:gd name="T56" fmla="*/ 5 w 136"/>
              <a:gd name="T57" fmla="*/ 34 h 51"/>
              <a:gd name="T58" fmla="*/ 4 w 136"/>
              <a:gd name="T59" fmla="*/ 28 h 51"/>
              <a:gd name="T60" fmla="*/ 4 w 136"/>
              <a:gd name="T61" fmla="*/ 21 h 51"/>
              <a:gd name="T62" fmla="*/ 5 w 136"/>
              <a:gd name="T63" fmla="*/ 14 h 51"/>
              <a:gd name="T64" fmla="*/ 7 w 136"/>
              <a:gd name="T65" fmla="*/ 8 h 51"/>
              <a:gd name="T66" fmla="*/ 9 w 136"/>
              <a:gd name="T67" fmla="*/ 1 h 51"/>
              <a:gd name="T68" fmla="*/ 5 w 1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6" h="51">
                <a:moveTo>
                  <a:pt x="136" y="24"/>
                </a:moveTo>
                <a:lnTo>
                  <a:pt x="136" y="21"/>
                </a:lnTo>
                <a:lnTo>
                  <a:pt x="136" y="18"/>
                </a:lnTo>
                <a:lnTo>
                  <a:pt x="134" y="14"/>
                </a:lnTo>
                <a:lnTo>
                  <a:pt x="134" y="11"/>
                </a:lnTo>
                <a:lnTo>
                  <a:pt x="134" y="8"/>
                </a:lnTo>
                <a:lnTo>
                  <a:pt x="133" y="4"/>
                </a:lnTo>
                <a:lnTo>
                  <a:pt x="131" y="1"/>
                </a:lnTo>
                <a:lnTo>
                  <a:pt x="131" y="0"/>
                </a:lnTo>
                <a:lnTo>
                  <a:pt x="128" y="0"/>
                </a:lnTo>
                <a:lnTo>
                  <a:pt x="128" y="1"/>
                </a:lnTo>
                <a:lnTo>
                  <a:pt x="129" y="4"/>
                </a:lnTo>
                <a:lnTo>
                  <a:pt x="131" y="8"/>
                </a:lnTo>
                <a:lnTo>
                  <a:pt x="131" y="11"/>
                </a:lnTo>
                <a:lnTo>
                  <a:pt x="131" y="14"/>
                </a:lnTo>
                <a:lnTo>
                  <a:pt x="133" y="18"/>
                </a:lnTo>
                <a:lnTo>
                  <a:pt x="133" y="21"/>
                </a:lnTo>
                <a:lnTo>
                  <a:pt x="133" y="24"/>
                </a:lnTo>
                <a:lnTo>
                  <a:pt x="133" y="28"/>
                </a:lnTo>
                <a:lnTo>
                  <a:pt x="133" y="31"/>
                </a:lnTo>
                <a:lnTo>
                  <a:pt x="131" y="34"/>
                </a:lnTo>
                <a:lnTo>
                  <a:pt x="131" y="38"/>
                </a:lnTo>
                <a:lnTo>
                  <a:pt x="131" y="41"/>
                </a:lnTo>
                <a:lnTo>
                  <a:pt x="129" y="44"/>
                </a:lnTo>
                <a:lnTo>
                  <a:pt x="129" y="48"/>
                </a:lnTo>
                <a:lnTo>
                  <a:pt x="128" y="51"/>
                </a:lnTo>
                <a:lnTo>
                  <a:pt x="131" y="51"/>
                </a:lnTo>
                <a:lnTo>
                  <a:pt x="133" y="48"/>
                </a:lnTo>
                <a:lnTo>
                  <a:pt x="133" y="44"/>
                </a:lnTo>
                <a:lnTo>
                  <a:pt x="134" y="41"/>
                </a:lnTo>
                <a:lnTo>
                  <a:pt x="134" y="38"/>
                </a:lnTo>
                <a:lnTo>
                  <a:pt x="134" y="34"/>
                </a:lnTo>
                <a:lnTo>
                  <a:pt x="136" y="31"/>
                </a:lnTo>
                <a:lnTo>
                  <a:pt x="136" y="28"/>
                </a:lnTo>
                <a:lnTo>
                  <a:pt x="136" y="24"/>
                </a:lnTo>
                <a:close/>
                <a:moveTo>
                  <a:pt x="5" y="0"/>
                </a:moveTo>
                <a:lnTo>
                  <a:pt x="5" y="1"/>
                </a:lnTo>
                <a:lnTo>
                  <a:pt x="4" y="4"/>
                </a:lnTo>
                <a:lnTo>
                  <a:pt x="4" y="8"/>
                </a:lnTo>
                <a:lnTo>
                  <a:pt x="2" y="11"/>
                </a:lnTo>
                <a:lnTo>
                  <a:pt x="2" y="14"/>
                </a:lnTo>
                <a:lnTo>
                  <a:pt x="0" y="18"/>
                </a:lnTo>
                <a:lnTo>
                  <a:pt x="0" y="21"/>
                </a:lnTo>
                <a:lnTo>
                  <a:pt x="0" y="24"/>
                </a:lnTo>
                <a:lnTo>
                  <a:pt x="0" y="28"/>
                </a:lnTo>
                <a:lnTo>
                  <a:pt x="0" y="31"/>
                </a:lnTo>
                <a:lnTo>
                  <a:pt x="2" y="34"/>
                </a:lnTo>
                <a:lnTo>
                  <a:pt x="2" y="38"/>
                </a:lnTo>
                <a:lnTo>
                  <a:pt x="2" y="41"/>
                </a:lnTo>
                <a:lnTo>
                  <a:pt x="4" y="44"/>
                </a:lnTo>
                <a:lnTo>
                  <a:pt x="5" y="48"/>
                </a:lnTo>
                <a:lnTo>
                  <a:pt x="5" y="51"/>
                </a:lnTo>
                <a:lnTo>
                  <a:pt x="9" y="51"/>
                </a:lnTo>
                <a:lnTo>
                  <a:pt x="9" y="48"/>
                </a:lnTo>
                <a:lnTo>
                  <a:pt x="7" y="44"/>
                </a:lnTo>
                <a:lnTo>
                  <a:pt x="5" y="41"/>
                </a:lnTo>
                <a:lnTo>
                  <a:pt x="5" y="38"/>
                </a:lnTo>
                <a:lnTo>
                  <a:pt x="5" y="34"/>
                </a:lnTo>
                <a:lnTo>
                  <a:pt x="4" y="31"/>
                </a:lnTo>
                <a:lnTo>
                  <a:pt x="4" y="28"/>
                </a:lnTo>
                <a:lnTo>
                  <a:pt x="4" y="24"/>
                </a:lnTo>
                <a:lnTo>
                  <a:pt x="4" y="21"/>
                </a:lnTo>
                <a:lnTo>
                  <a:pt x="4" y="18"/>
                </a:lnTo>
                <a:lnTo>
                  <a:pt x="5" y="14"/>
                </a:lnTo>
                <a:lnTo>
                  <a:pt x="5" y="11"/>
                </a:lnTo>
                <a:lnTo>
                  <a:pt x="7" y="8"/>
                </a:lnTo>
                <a:lnTo>
                  <a:pt x="7" y="4"/>
                </a:lnTo>
                <a:lnTo>
                  <a:pt x="9" y="1"/>
                </a:lnTo>
                <a:lnTo>
                  <a:pt x="10" y="0"/>
                </a:lnTo>
                <a:lnTo>
                  <a:pt x="5"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12" name="Freeform 1817">
            <a:extLst>
              <a:ext uri="{FF2B5EF4-FFF2-40B4-BE49-F238E27FC236}">
                <a16:creationId xmlns:a16="http://schemas.microsoft.com/office/drawing/2014/main" id="{AF08F33C-8B91-05A6-346A-F3457D6931B1}"/>
              </a:ext>
            </a:extLst>
          </p:cNvPr>
          <p:cNvSpPr>
            <a:spLocks noEditPoints="1"/>
          </p:cNvSpPr>
          <p:nvPr/>
        </p:nvSpPr>
        <p:spPr bwMode="auto">
          <a:xfrm>
            <a:off x="2452688" y="2719388"/>
            <a:ext cx="209550" cy="80963"/>
          </a:xfrm>
          <a:custGeom>
            <a:avLst/>
            <a:gdLst>
              <a:gd name="T0" fmla="*/ 132 w 132"/>
              <a:gd name="T1" fmla="*/ 21 h 51"/>
              <a:gd name="T2" fmla="*/ 131 w 132"/>
              <a:gd name="T3" fmla="*/ 14 h 51"/>
              <a:gd name="T4" fmla="*/ 131 w 132"/>
              <a:gd name="T5" fmla="*/ 8 h 51"/>
              <a:gd name="T6" fmla="*/ 127 w 132"/>
              <a:gd name="T7" fmla="*/ 1 h 51"/>
              <a:gd name="T8" fmla="*/ 122 w 132"/>
              <a:gd name="T9" fmla="*/ 0 h 51"/>
              <a:gd name="T10" fmla="*/ 126 w 132"/>
              <a:gd name="T11" fmla="*/ 4 h 51"/>
              <a:gd name="T12" fmla="*/ 127 w 132"/>
              <a:gd name="T13" fmla="*/ 11 h 51"/>
              <a:gd name="T14" fmla="*/ 129 w 132"/>
              <a:gd name="T15" fmla="*/ 18 h 51"/>
              <a:gd name="T16" fmla="*/ 129 w 132"/>
              <a:gd name="T17" fmla="*/ 24 h 51"/>
              <a:gd name="T18" fmla="*/ 129 w 132"/>
              <a:gd name="T19" fmla="*/ 31 h 51"/>
              <a:gd name="T20" fmla="*/ 127 w 132"/>
              <a:gd name="T21" fmla="*/ 38 h 51"/>
              <a:gd name="T22" fmla="*/ 126 w 132"/>
              <a:gd name="T23" fmla="*/ 44 h 51"/>
              <a:gd name="T24" fmla="*/ 124 w 132"/>
              <a:gd name="T25" fmla="*/ 51 h 51"/>
              <a:gd name="T26" fmla="*/ 129 w 132"/>
              <a:gd name="T27" fmla="*/ 48 h 51"/>
              <a:gd name="T28" fmla="*/ 131 w 132"/>
              <a:gd name="T29" fmla="*/ 41 h 51"/>
              <a:gd name="T30" fmla="*/ 131 w 132"/>
              <a:gd name="T31" fmla="*/ 34 h 51"/>
              <a:gd name="T32" fmla="*/ 132 w 132"/>
              <a:gd name="T33" fmla="*/ 28 h 51"/>
              <a:gd name="T34" fmla="*/ 7 w 132"/>
              <a:gd name="T35" fmla="*/ 0 h 51"/>
              <a:gd name="T36" fmla="*/ 3 w 132"/>
              <a:gd name="T37" fmla="*/ 4 h 51"/>
              <a:gd name="T38" fmla="*/ 2 w 132"/>
              <a:gd name="T39" fmla="*/ 11 h 51"/>
              <a:gd name="T40" fmla="*/ 0 w 132"/>
              <a:gd name="T41" fmla="*/ 18 h 51"/>
              <a:gd name="T42" fmla="*/ 0 w 132"/>
              <a:gd name="T43" fmla="*/ 24 h 51"/>
              <a:gd name="T44" fmla="*/ 0 w 132"/>
              <a:gd name="T45" fmla="*/ 31 h 51"/>
              <a:gd name="T46" fmla="*/ 2 w 132"/>
              <a:gd name="T47" fmla="*/ 38 h 51"/>
              <a:gd name="T48" fmla="*/ 3 w 132"/>
              <a:gd name="T49" fmla="*/ 44 h 51"/>
              <a:gd name="T50" fmla="*/ 5 w 132"/>
              <a:gd name="T51" fmla="*/ 51 h 51"/>
              <a:gd name="T52" fmla="*/ 8 w 132"/>
              <a:gd name="T53" fmla="*/ 48 h 51"/>
              <a:gd name="T54" fmla="*/ 7 w 132"/>
              <a:gd name="T55" fmla="*/ 41 h 51"/>
              <a:gd name="T56" fmla="*/ 5 w 132"/>
              <a:gd name="T57" fmla="*/ 34 h 51"/>
              <a:gd name="T58" fmla="*/ 3 w 132"/>
              <a:gd name="T59" fmla="*/ 28 h 51"/>
              <a:gd name="T60" fmla="*/ 3 w 132"/>
              <a:gd name="T61" fmla="*/ 21 h 51"/>
              <a:gd name="T62" fmla="*/ 5 w 132"/>
              <a:gd name="T63" fmla="*/ 14 h 51"/>
              <a:gd name="T64" fmla="*/ 7 w 132"/>
              <a:gd name="T65" fmla="*/ 8 h 51"/>
              <a:gd name="T66" fmla="*/ 8 w 132"/>
              <a:gd name="T67" fmla="*/ 1 h 51"/>
              <a:gd name="T68" fmla="*/ 7 w 1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2" h="51">
                <a:moveTo>
                  <a:pt x="132" y="24"/>
                </a:moveTo>
                <a:lnTo>
                  <a:pt x="132" y="21"/>
                </a:lnTo>
                <a:lnTo>
                  <a:pt x="132" y="18"/>
                </a:lnTo>
                <a:lnTo>
                  <a:pt x="131" y="14"/>
                </a:lnTo>
                <a:lnTo>
                  <a:pt x="131" y="11"/>
                </a:lnTo>
                <a:lnTo>
                  <a:pt x="131" y="8"/>
                </a:lnTo>
                <a:lnTo>
                  <a:pt x="129" y="4"/>
                </a:lnTo>
                <a:lnTo>
                  <a:pt x="127" y="1"/>
                </a:lnTo>
                <a:lnTo>
                  <a:pt x="127" y="0"/>
                </a:lnTo>
                <a:lnTo>
                  <a:pt x="122" y="0"/>
                </a:lnTo>
                <a:lnTo>
                  <a:pt x="124" y="1"/>
                </a:lnTo>
                <a:lnTo>
                  <a:pt x="126" y="4"/>
                </a:lnTo>
                <a:lnTo>
                  <a:pt x="127" y="8"/>
                </a:lnTo>
                <a:lnTo>
                  <a:pt x="127" y="11"/>
                </a:lnTo>
                <a:lnTo>
                  <a:pt x="127" y="14"/>
                </a:lnTo>
                <a:lnTo>
                  <a:pt x="129" y="18"/>
                </a:lnTo>
                <a:lnTo>
                  <a:pt x="129" y="21"/>
                </a:lnTo>
                <a:lnTo>
                  <a:pt x="129" y="24"/>
                </a:lnTo>
                <a:lnTo>
                  <a:pt x="129" y="28"/>
                </a:lnTo>
                <a:lnTo>
                  <a:pt x="129" y="31"/>
                </a:lnTo>
                <a:lnTo>
                  <a:pt x="127" y="34"/>
                </a:lnTo>
                <a:lnTo>
                  <a:pt x="127" y="38"/>
                </a:lnTo>
                <a:lnTo>
                  <a:pt x="127" y="41"/>
                </a:lnTo>
                <a:lnTo>
                  <a:pt x="126" y="44"/>
                </a:lnTo>
                <a:lnTo>
                  <a:pt x="124" y="48"/>
                </a:lnTo>
                <a:lnTo>
                  <a:pt x="124" y="51"/>
                </a:lnTo>
                <a:lnTo>
                  <a:pt x="127" y="51"/>
                </a:lnTo>
                <a:lnTo>
                  <a:pt x="129" y="48"/>
                </a:lnTo>
                <a:lnTo>
                  <a:pt x="129" y="44"/>
                </a:lnTo>
                <a:lnTo>
                  <a:pt x="131" y="41"/>
                </a:lnTo>
                <a:lnTo>
                  <a:pt x="131" y="38"/>
                </a:lnTo>
                <a:lnTo>
                  <a:pt x="131" y="34"/>
                </a:lnTo>
                <a:lnTo>
                  <a:pt x="132" y="31"/>
                </a:lnTo>
                <a:lnTo>
                  <a:pt x="132" y="28"/>
                </a:lnTo>
                <a:lnTo>
                  <a:pt x="132" y="24"/>
                </a:lnTo>
                <a:close/>
                <a:moveTo>
                  <a:pt x="7" y="0"/>
                </a:moveTo>
                <a:lnTo>
                  <a:pt x="5" y="1"/>
                </a:lnTo>
                <a:lnTo>
                  <a:pt x="3" y="4"/>
                </a:lnTo>
                <a:lnTo>
                  <a:pt x="3" y="8"/>
                </a:lnTo>
                <a:lnTo>
                  <a:pt x="2" y="11"/>
                </a:lnTo>
                <a:lnTo>
                  <a:pt x="2" y="14"/>
                </a:lnTo>
                <a:lnTo>
                  <a:pt x="0" y="18"/>
                </a:lnTo>
                <a:lnTo>
                  <a:pt x="0" y="21"/>
                </a:lnTo>
                <a:lnTo>
                  <a:pt x="0" y="24"/>
                </a:lnTo>
                <a:lnTo>
                  <a:pt x="0" y="28"/>
                </a:lnTo>
                <a:lnTo>
                  <a:pt x="0" y="31"/>
                </a:lnTo>
                <a:lnTo>
                  <a:pt x="2" y="34"/>
                </a:lnTo>
                <a:lnTo>
                  <a:pt x="2" y="38"/>
                </a:lnTo>
                <a:lnTo>
                  <a:pt x="2" y="41"/>
                </a:lnTo>
                <a:lnTo>
                  <a:pt x="3" y="44"/>
                </a:lnTo>
                <a:lnTo>
                  <a:pt x="5" y="48"/>
                </a:lnTo>
                <a:lnTo>
                  <a:pt x="5" y="51"/>
                </a:lnTo>
                <a:lnTo>
                  <a:pt x="8" y="51"/>
                </a:lnTo>
                <a:lnTo>
                  <a:pt x="8" y="48"/>
                </a:lnTo>
                <a:lnTo>
                  <a:pt x="7" y="44"/>
                </a:lnTo>
                <a:lnTo>
                  <a:pt x="7" y="41"/>
                </a:lnTo>
                <a:lnTo>
                  <a:pt x="5" y="38"/>
                </a:lnTo>
                <a:lnTo>
                  <a:pt x="5" y="34"/>
                </a:lnTo>
                <a:lnTo>
                  <a:pt x="3" y="31"/>
                </a:lnTo>
                <a:lnTo>
                  <a:pt x="3" y="28"/>
                </a:lnTo>
                <a:lnTo>
                  <a:pt x="3" y="24"/>
                </a:lnTo>
                <a:lnTo>
                  <a:pt x="3" y="21"/>
                </a:lnTo>
                <a:lnTo>
                  <a:pt x="3" y="18"/>
                </a:lnTo>
                <a:lnTo>
                  <a:pt x="5" y="14"/>
                </a:lnTo>
                <a:lnTo>
                  <a:pt x="5" y="11"/>
                </a:lnTo>
                <a:lnTo>
                  <a:pt x="7" y="8"/>
                </a:lnTo>
                <a:lnTo>
                  <a:pt x="7" y="4"/>
                </a:lnTo>
                <a:lnTo>
                  <a:pt x="8" y="1"/>
                </a:lnTo>
                <a:lnTo>
                  <a:pt x="10" y="0"/>
                </a:lnTo>
                <a:lnTo>
                  <a:pt x="7"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13" name="Freeform 1818">
            <a:extLst>
              <a:ext uri="{FF2B5EF4-FFF2-40B4-BE49-F238E27FC236}">
                <a16:creationId xmlns:a16="http://schemas.microsoft.com/office/drawing/2014/main" id="{35194E86-FF8F-A680-166E-3405CC0946A4}"/>
              </a:ext>
            </a:extLst>
          </p:cNvPr>
          <p:cNvSpPr>
            <a:spLocks noEditPoints="1"/>
          </p:cNvSpPr>
          <p:nvPr/>
        </p:nvSpPr>
        <p:spPr bwMode="auto">
          <a:xfrm>
            <a:off x="2455863" y="2719388"/>
            <a:ext cx="204788" cy="80963"/>
          </a:xfrm>
          <a:custGeom>
            <a:avLst/>
            <a:gdLst>
              <a:gd name="T0" fmla="*/ 129 w 129"/>
              <a:gd name="T1" fmla="*/ 21 h 51"/>
              <a:gd name="T2" fmla="*/ 127 w 129"/>
              <a:gd name="T3" fmla="*/ 14 h 51"/>
              <a:gd name="T4" fmla="*/ 127 w 129"/>
              <a:gd name="T5" fmla="*/ 8 h 51"/>
              <a:gd name="T6" fmla="*/ 124 w 129"/>
              <a:gd name="T7" fmla="*/ 1 h 51"/>
              <a:gd name="T8" fmla="*/ 119 w 129"/>
              <a:gd name="T9" fmla="*/ 0 h 51"/>
              <a:gd name="T10" fmla="*/ 122 w 129"/>
              <a:gd name="T11" fmla="*/ 4 h 51"/>
              <a:gd name="T12" fmla="*/ 124 w 129"/>
              <a:gd name="T13" fmla="*/ 11 h 51"/>
              <a:gd name="T14" fmla="*/ 125 w 129"/>
              <a:gd name="T15" fmla="*/ 18 h 51"/>
              <a:gd name="T16" fmla="*/ 125 w 129"/>
              <a:gd name="T17" fmla="*/ 24 h 51"/>
              <a:gd name="T18" fmla="*/ 125 w 129"/>
              <a:gd name="T19" fmla="*/ 31 h 51"/>
              <a:gd name="T20" fmla="*/ 124 w 129"/>
              <a:gd name="T21" fmla="*/ 38 h 51"/>
              <a:gd name="T22" fmla="*/ 122 w 129"/>
              <a:gd name="T23" fmla="*/ 44 h 51"/>
              <a:gd name="T24" fmla="*/ 120 w 129"/>
              <a:gd name="T25" fmla="*/ 51 h 51"/>
              <a:gd name="T26" fmla="*/ 125 w 129"/>
              <a:gd name="T27" fmla="*/ 48 h 51"/>
              <a:gd name="T28" fmla="*/ 127 w 129"/>
              <a:gd name="T29" fmla="*/ 41 h 51"/>
              <a:gd name="T30" fmla="*/ 127 w 129"/>
              <a:gd name="T31" fmla="*/ 34 h 51"/>
              <a:gd name="T32" fmla="*/ 129 w 129"/>
              <a:gd name="T33" fmla="*/ 28 h 51"/>
              <a:gd name="T34" fmla="*/ 6 w 129"/>
              <a:gd name="T35" fmla="*/ 0 h 51"/>
              <a:gd name="T36" fmla="*/ 3 w 129"/>
              <a:gd name="T37" fmla="*/ 4 h 51"/>
              <a:gd name="T38" fmla="*/ 1 w 129"/>
              <a:gd name="T39" fmla="*/ 11 h 51"/>
              <a:gd name="T40" fmla="*/ 0 w 129"/>
              <a:gd name="T41" fmla="*/ 18 h 51"/>
              <a:gd name="T42" fmla="*/ 0 w 129"/>
              <a:gd name="T43" fmla="*/ 24 h 51"/>
              <a:gd name="T44" fmla="*/ 0 w 129"/>
              <a:gd name="T45" fmla="*/ 31 h 51"/>
              <a:gd name="T46" fmla="*/ 1 w 129"/>
              <a:gd name="T47" fmla="*/ 38 h 51"/>
              <a:gd name="T48" fmla="*/ 3 w 129"/>
              <a:gd name="T49" fmla="*/ 44 h 51"/>
              <a:gd name="T50" fmla="*/ 5 w 129"/>
              <a:gd name="T51" fmla="*/ 51 h 51"/>
              <a:gd name="T52" fmla="*/ 8 w 129"/>
              <a:gd name="T53" fmla="*/ 48 h 51"/>
              <a:gd name="T54" fmla="*/ 6 w 129"/>
              <a:gd name="T55" fmla="*/ 41 h 51"/>
              <a:gd name="T56" fmla="*/ 5 w 129"/>
              <a:gd name="T57" fmla="*/ 34 h 51"/>
              <a:gd name="T58" fmla="*/ 3 w 129"/>
              <a:gd name="T59" fmla="*/ 28 h 51"/>
              <a:gd name="T60" fmla="*/ 3 w 129"/>
              <a:gd name="T61" fmla="*/ 21 h 51"/>
              <a:gd name="T62" fmla="*/ 5 w 129"/>
              <a:gd name="T63" fmla="*/ 14 h 51"/>
              <a:gd name="T64" fmla="*/ 6 w 129"/>
              <a:gd name="T65" fmla="*/ 8 h 51"/>
              <a:gd name="T66" fmla="*/ 8 w 129"/>
              <a:gd name="T67" fmla="*/ 1 h 51"/>
              <a:gd name="T68" fmla="*/ 6 w 12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9" h="51">
                <a:moveTo>
                  <a:pt x="129" y="24"/>
                </a:moveTo>
                <a:lnTo>
                  <a:pt x="129" y="21"/>
                </a:lnTo>
                <a:lnTo>
                  <a:pt x="129" y="18"/>
                </a:lnTo>
                <a:lnTo>
                  <a:pt x="127" y="14"/>
                </a:lnTo>
                <a:lnTo>
                  <a:pt x="127" y="11"/>
                </a:lnTo>
                <a:lnTo>
                  <a:pt x="127" y="8"/>
                </a:lnTo>
                <a:lnTo>
                  <a:pt x="125" y="4"/>
                </a:lnTo>
                <a:lnTo>
                  <a:pt x="124" y="1"/>
                </a:lnTo>
                <a:lnTo>
                  <a:pt x="124" y="0"/>
                </a:lnTo>
                <a:lnTo>
                  <a:pt x="119" y="0"/>
                </a:lnTo>
                <a:lnTo>
                  <a:pt x="120" y="1"/>
                </a:lnTo>
                <a:lnTo>
                  <a:pt x="122" y="4"/>
                </a:lnTo>
                <a:lnTo>
                  <a:pt x="124" y="8"/>
                </a:lnTo>
                <a:lnTo>
                  <a:pt x="124" y="11"/>
                </a:lnTo>
                <a:lnTo>
                  <a:pt x="124" y="14"/>
                </a:lnTo>
                <a:lnTo>
                  <a:pt x="125" y="18"/>
                </a:lnTo>
                <a:lnTo>
                  <a:pt x="125" y="21"/>
                </a:lnTo>
                <a:lnTo>
                  <a:pt x="125" y="24"/>
                </a:lnTo>
                <a:lnTo>
                  <a:pt x="125" y="28"/>
                </a:lnTo>
                <a:lnTo>
                  <a:pt x="125" y="31"/>
                </a:lnTo>
                <a:lnTo>
                  <a:pt x="124" y="34"/>
                </a:lnTo>
                <a:lnTo>
                  <a:pt x="124" y="38"/>
                </a:lnTo>
                <a:lnTo>
                  <a:pt x="124" y="41"/>
                </a:lnTo>
                <a:lnTo>
                  <a:pt x="122" y="44"/>
                </a:lnTo>
                <a:lnTo>
                  <a:pt x="120" y="48"/>
                </a:lnTo>
                <a:lnTo>
                  <a:pt x="120" y="51"/>
                </a:lnTo>
                <a:lnTo>
                  <a:pt x="124" y="51"/>
                </a:lnTo>
                <a:lnTo>
                  <a:pt x="125" y="48"/>
                </a:lnTo>
                <a:lnTo>
                  <a:pt x="125" y="44"/>
                </a:lnTo>
                <a:lnTo>
                  <a:pt x="127" y="41"/>
                </a:lnTo>
                <a:lnTo>
                  <a:pt x="127" y="38"/>
                </a:lnTo>
                <a:lnTo>
                  <a:pt x="127" y="34"/>
                </a:lnTo>
                <a:lnTo>
                  <a:pt x="129" y="31"/>
                </a:lnTo>
                <a:lnTo>
                  <a:pt x="129" y="28"/>
                </a:lnTo>
                <a:lnTo>
                  <a:pt x="129" y="24"/>
                </a:lnTo>
                <a:close/>
                <a:moveTo>
                  <a:pt x="6" y="0"/>
                </a:moveTo>
                <a:lnTo>
                  <a:pt x="5" y="1"/>
                </a:lnTo>
                <a:lnTo>
                  <a:pt x="3" y="4"/>
                </a:lnTo>
                <a:lnTo>
                  <a:pt x="3" y="8"/>
                </a:lnTo>
                <a:lnTo>
                  <a:pt x="1" y="11"/>
                </a:lnTo>
                <a:lnTo>
                  <a:pt x="1" y="14"/>
                </a:lnTo>
                <a:lnTo>
                  <a:pt x="0" y="18"/>
                </a:lnTo>
                <a:lnTo>
                  <a:pt x="0" y="21"/>
                </a:lnTo>
                <a:lnTo>
                  <a:pt x="0" y="24"/>
                </a:lnTo>
                <a:lnTo>
                  <a:pt x="0" y="28"/>
                </a:lnTo>
                <a:lnTo>
                  <a:pt x="0" y="31"/>
                </a:lnTo>
                <a:lnTo>
                  <a:pt x="1" y="34"/>
                </a:lnTo>
                <a:lnTo>
                  <a:pt x="1" y="38"/>
                </a:lnTo>
                <a:lnTo>
                  <a:pt x="1" y="41"/>
                </a:lnTo>
                <a:lnTo>
                  <a:pt x="3" y="44"/>
                </a:lnTo>
                <a:lnTo>
                  <a:pt x="5" y="48"/>
                </a:lnTo>
                <a:lnTo>
                  <a:pt x="5" y="51"/>
                </a:lnTo>
                <a:lnTo>
                  <a:pt x="8" y="51"/>
                </a:lnTo>
                <a:lnTo>
                  <a:pt x="8" y="48"/>
                </a:lnTo>
                <a:lnTo>
                  <a:pt x="6" y="44"/>
                </a:lnTo>
                <a:lnTo>
                  <a:pt x="6" y="41"/>
                </a:lnTo>
                <a:lnTo>
                  <a:pt x="5" y="38"/>
                </a:lnTo>
                <a:lnTo>
                  <a:pt x="5" y="34"/>
                </a:lnTo>
                <a:lnTo>
                  <a:pt x="3" y="31"/>
                </a:lnTo>
                <a:lnTo>
                  <a:pt x="3" y="28"/>
                </a:lnTo>
                <a:lnTo>
                  <a:pt x="3" y="24"/>
                </a:lnTo>
                <a:lnTo>
                  <a:pt x="3" y="21"/>
                </a:lnTo>
                <a:lnTo>
                  <a:pt x="3" y="18"/>
                </a:lnTo>
                <a:lnTo>
                  <a:pt x="5" y="14"/>
                </a:lnTo>
                <a:lnTo>
                  <a:pt x="5" y="11"/>
                </a:lnTo>
                <a:lnTo>
                  <a:pt x="6" y="8"/>
                </a:lnTo>
                <a:lnTo>
                  <a:pt x="6" y="4"/>
                </a:lnTo>
                <a:lnTo>
                  <a:pt x="8" y="1"/>
                </a:lnTo>
                <a:lnTo>
                  <a:pt x="10" y="0"/>
                </a:lnTo>
                <a:lnTo>
                  <a:pt x="6"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14" name="Freeform 1819">
            <a:extLst>
              <a:ext uri="{FF2B5EF4-FFF2-40B4-BE49-F238E27FC236}">
                <a16:creationId xmlns:a16="http://schemas.microsoft.com/office/drawing/2014/main" id="{7C4DC9D5-0C53-8E81-2A60-DAB131AF9663}"/>
              </a:ext>
            </a:extLst>
          </p:cNvPr>
          <p:cNvSpPr>
            <a:spLocks noEditPoints="1"/>
          </p:cNvSpPr>
          <p:nvPr/>
        </p:nvSpPr>
        <p:spPr bwMode="auto">
          <a:xfrm>
            <a:off x="2457450" y="2719388"/>
            <a:ext cx="200025" cy="80963"/>
          </a:xfrm>
          <a:custGeom>
            <a:avLst/>
            <a:gdLst>
              <a:gd name="T0" fmla="*/ 126 w 126"/>
              <a:gd name="T1" fmla="*/ 21 h 51"/>
              <a:gd name="T2" fmla="*/ 124 w 126"/>
              <a:gd name="T3" fmla="*/ 14 h 51"/>
              <a:gd name="T4" fmla="*/ 124 w 126"/>
              <a:gd name="T5" fmla="*/ 8 h 51"/>
              <a:gd name="T6" fmla="*/ 121 w 126"/>
              <a:gd name="T7" fmla="*/ 1 h 51"/>
              <a:gd name="T8" fmla="*/ 116 w 126"/>
              <a:gd name="T9" fmla="*/ 0 h 51"/>
              <a:gd name="T10" fmla="*/ 119 w 126"/>
              <a:gd name="T11" fmla="*/ 4 h 51"/>
              <a:gd name="T12" fmla="*/ 121 w 126"/>
              <a:gd name="T13" fmla="*/ 11 h 51"/>
              <a:gd name="T14" fmla="*/ 123 w 126"/>
              <a:gd name="T15" fmla="*/ 18 h 51"/>
              <a:gd name="T16" fmla="*/ 123 w 126"/>
              <a:gd name="T17" fmla="*/ 24 h 51"/>
              <a:gd name="T18" fmla="*/ 123 w 126"/>
              <a:gd name="T19" fmla="*/ 31 h 51"/>
              <a:gd name="T20" fmla="*/ 121 w 126"/>
              <a:gd name="T21" fmla="*/ 38 h 51"/>
              <a:gd name="T22" fmla="*/ 119 w 126"/>
              <a:gd name="T23" fmla="*/ 44 h 51"/>
              <a:gd name="T24" fmla="*/ 118 w 126"/>
              <a:gd name="T25" fmla="*/ 51 h 51"/>
              <a:gd name="T26" fmla="*/ 121 w 126"/>
              <a:gd name="T27" fmla="*/ 48 h 51"/>
              <a:gd name="T28" fmla="*/ 124 w 126"/>
              <a:gd name="T29" fmla="*/ 41 h 51"/>
              <a:gd name="T30" fmla="*/ 124 w 126"/>
              <a:gd name="T31" fmla="*/ 34 h 51"/>
              <a:gd name="T32" fmla="*/ 126 w 126"/>
              <a:gd name="T33" fmla="*/ 28 h 51"/>
              <a:gd name="T34" fmla="*/ 7 w 126"/>
              <a:gd name="T35" fmla="*/ 0 h 51"/>
              <a:gd name="T36" fmla="*/ 4 w 126"/>
              <a:gd name="T37" fmla="*/ 4 h 51"/>
              <a:gd name="T38" fmla="*/ 2 w 126"/>
              <a:gd name="T39" fmla="*/ 11 h 51"/>
              <a:gd name="T40" fmla="*/ 0 w 126"/>
              <a:gd name="T41" fmla="*/ 18 h 51"/>
              <a:gd name="T42" fmla="*/ 0 w 126"/>
              <a:gd name="T43" fmla="*/ 24 h 51"/>
              <a:gd name="T44" fmla="*/ 0 w 126"/>
              <a:gd name="T45" fmla="*/ 31 h 51"/>
              <a:gd name="T46" fmla="*/ 2 w 126"/>
              <a:gd name="T47" fmla="*/ 38 h 51"/>
              <a:gd name="T48" fmla="*/ 4 w 126"/>
              <a:gd name="T49" fmla="*/ 44 h 51"/>
              <a:gd name="T50" fmla="*/ 5 w 126"/>
              <a:gd name="T51" fmla="*/ 51 h 51"/>
              <a:gd name="T52" fmla="*/ 9 w 126"/>
              <a:gd name="T53" fmla="*/ 48 h 51"/>
              <a:gd name="T54" fmla="*/ 7 w 126"/>
              <a:gd name="T55" fmla="*/ 41 h 51"/>
              <a:gd name="T56" fmla="*/ 5 w 126"/>
              <a:gd name="T57" fmla="*/ 34 h 51"/>
              <a:gd name="T58" fmla="*/ 4 w 126"/>
              <a:gd name="T59" fmla="*/ 28 h 51"/>
              <a:gd name="T60" fmla="*/ 4 w 126"/>
              <a:gd name="T61" fmla="*/ 21 h 51"/>
              <a:gd name="T62" fmla="*/ 5 w 126"/>
              <a:gd name="T63" fmla="*/ 14 h 51"/>
              <a:gd name="T64" fmla="*/ 7 w 126"/>
              <a:gd name="T65" fmla="*/ 8 h 51"/>
              <a:gd name="T66" fmla="*/ 9 w 126"/>
              <a:gd name="T67" fmla="*/ 1 h 51"/>
              <a:gd name="T68" fmla="*/ 7 w 12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51">
                <a:moveTo>
                  <a:pt x="126" y="24"/>
                </a:moveTo>
                <a:lnTo>
                  <a:pt x="126" y="21"/>
                </a:lnTo>
                <a:lnTo>
                  <a:pt x="126" y="18"/>
                </a:lnTo>
                <a:lnTo>
                  <a:pt x="124" y="14"/>
                </a:lnTo>
                <a:lnTo>
                  <a:pt x="124" y="11"/>
                </a:lnTo>
                <a:lnTo>
                  <a:pt x="124" y="8"/>
                </a:lnTo>
                <a:lnTo>
                  <a:pt x="123" y="4"/>
                </a:lnTo>
                <a:lnTo>
                  <a:pt x="121" y="1"/>
                </a:lnTo>
                <a:lnTo>
                  <a:pt x="119" y="0"/>
                </a:lnTo>
                <a:lnTo>
                  <a:pt x="116" y="0"/>
                </a:lnTo>
                <a:lnTo>
                  <a:pt x="118" y="1"/>
                </a:lnTo>
                <a:lnTo>
                  <a:pt x="119" y="4"/>
                </a:lnTo>
                <a:lnTo>
                  <a:pt x="119" y="8"/>
                </a:lnTo>
                <a:lnTo>
                  <a:pt x="121" y="11"/>
                </a:lnTo>
                <a:lnTo>
                  <a:pt x="121" y="14"/>
                </a:lnTo>
                <a:lnTo>
                  <a:pt x="123" y="18"/>
                </a:lnTo>
                <a:lnTo>
                  <a:pt x="123" y="21"/>
                </a:lnTo>
                <a:lnTo>
                  <a:pt x="123" y="24"/>
                </a:lnTo>
                <a:lnTo>
                  <a:pt x="123" y="28"/>
                </a:lnTo>
                <a:lnTo>
                  <a:pt x="123" y="31"/>
                </a:lnTo>
                <a:lnTo>
                  <a:pt x="121" y="34"/>
                </a:lnTo>
                <a:lnTo>
                  <a:pt x="121" y="38"/>
                </a:lnTo>
                <a:lnTo>
                  <a:pt x="121" y="41"/>
                </a:lnTo>
                <a:lnTo>
                  <a:pt x="119" y="44"/>
                </a:lnTo>
                <a:lnTo>
                  <a:pt x="118" y="48"/>
                </a:lnTo>
                <a:lnTo>
                  <a:pt x="118" y="51"/>
                </a:lnTo>
                <a:lnTo>
                  <a:pt x="121" y="51"/>
                </a:lnTo>
                <a:lnTo>
                  <a:pt x="121" y="48"/>
                </a:lnTo>
                <a:lnTo>
                  <a:pt x="123" y="44"/>
                </a:lnTo>
                <a:lnTo>
                  <a:pt x="124" y="41"/>
                </a:lnTo>
                <a:lnTo>
                  <a:pt x="124" y="38"/>
                </a:lnTo>
                <a:lnTo>
                  <a:pt x="124" y="34"/>
                </a:lnTo>
                <a:lnTo>
                  <a:pt x="126" y="31"/>
                </a:lnTo>
                <a:lnTo>
                  <a:pt x="126" y="28"/>
                </a:lnTo>
                <a:lnTo>
                  <a:pt x="126" y="24"/>
                </a:lnTo>
                <a:close/>
                <a:moveTo>
                  <a:pt x="7" y="0"/>
                </a:moveTo>
                <a:lnTo>
                  <a:pt x="5" y="1"/>
                </a:lnTo>
                <a:lnTo>
                  <a:pt x="4" y="4"/>
                </a:lnTo>
                <a:lnTo>
                  <a:pt x="4" y="8"/>
                </a:lnTo>
                <a:lnTo>
                  <a:pt x="2" y="11"/>
                </a:lnTo>
                <a:lnTo>
                  <a:pt x="2" y="14"/>
                </a:lnTo>
                <a:lnTo>
                  <a:pt x="0" y="18"/>
                </a:lnTo>
                <a:lnTo>
                  <a:pt x="0" y="21"/>
                </a:lnTo>
                <a:lnTo>
                  <a:pt x="0" y="24"/>
                </a:lnTo>
                <a:lnTo>
                  <a:pt x="0" y="28"/>
                </a:lnTo>
                <a:lnTo>
                  <a:pt x="0" y="31"/>
                </a:lnTo>
                <a:lnTo>
                  <a:pt x="2" y="34"/>
                </a:lnTo>
                <a:lnTo>
                  <a:pt x="2" y="38"/>
                </a:lnTo>
                <a:lnTo>
                  <a:pt x="4" y="41"/>
                </a:lnTo>
                <a:lnTo>
                  <a:pt x="4" y="44"/>
                </a:lnTo>
                <a:lnTo>
                  <a:pt x="5" y="48"/>
                </a:lnTo>
                <a:lnTo>
                  <a:pt x="5" y="51"/>
                </a:lnTo>
                <a:lnTo>
                  <a:pt x="10" y="51"/>
                </a:lnTo>
                <a:lnTo>
                  <a:pt x="9" y="48"/>
                </a:lnTo>
                <a:lnTo>
                  <a:pt x="7" y="44"/>
                </a:lnTo>
                <a:lnTo>
                  <a:pt x="7" y="41"/>
                </a:lnTo>
                <a:lnTo>
                  <a:pt x="5" y="38"/>
                </a:lnTo>
                <a:lnTo>
                  <a:pt x="5" y="34"/>
                </a:lnTo>
                <a:lnTo>
                  <a:pt x="4" y="31"/>
                </a:lnTo>
                <a:lnTo>
                  <a:pt x="4" y="28"/>
                </a:lnTo>
                <a:lnTo>
                  <a:pt x="4" y="24"/>
                </a:lnTo>
                <a:lnTo>
                  <a:pt x="4" y="21"/>
                </a:lnTo>
                <a:lnTo>
                  <a:pt x="4" y="18"/>
                </a:lnTo>
                <a:lnTo>
                  <a:pt x="5" y="14"/>
                </a:lnTo>
                <a:lnTo>
                  <a:pt x="5" y="11"/>
                </a:lnTo>
                <a:lnTo>
                  <a:pt x="7" y="8"/>
                </a:lnTo>
                <a:lnTo>
                  <a:pt x="7" y="4"/>
                </a:lnTo>
                <a:lnTo>
                  <a:pt x="9" y="1"/>
                </a:lnTo>
                <a:lnTo>
                  <a:pt x="10" y="0"/>
                </a:lnTo>
                <a:lnTo>
                  <a:pt x="7"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15" name="Freeform 1820">
            <a:extLst>
              <a:ext uri="{FF2B5EF4-FFF2-40B4-BE49-F238E27FC236}">
                <a16:creationId xmlns:a16="http://schemas.microsoft.com/office/drawing/2014/main" id="{3C80EBE9-4334-2406-0993-70201E734B8A}"/>
              </a:ext>
            </a:extLst>
          </p:cNvPr>
          <p:cNvSpPr>
            <a:spLocks noEditPoints="1"/>
          </p:cNvSpPr>
          <p:nvPr/>
        </p:nvSpPr>
        <p:spPr bwMode="auto">
          <a:xfrm>
            <a:off x="2460625" y="2719388"/>
            <a:ext cx="193675" cy="80963"/>
          </a:xfrm>
          <a:custGeom>
            <a:avLst/>
            <a:gdLst>
              <a:gd name="T0" fmla="*/ 122 w 122"/>
              <a:gd name="T1" fmla="*/ 21 h 51"/>
              <a:gd name="T2" fmla="*/ 121 w 122"/>
              <a:gd name="T3" fmla="*/ 14 h 51"/>
              <a:gd name="T4" fmla="*/ 121 w 122"/>
              <a:gd name="T5" fmla="*/ 8 h 51"/>
              <a:gd name="T6" fmla="*/ 117 w 122"/>
              <a:gd name="T7" fmla="*/ 1 h 51"/>
              <a:gd name="T8" fmla="*/ 113 w 122"/>
              <a:gd name="T9" fmla="*/ 0 h 51"/>
              <a:gd name="T10" fmla="*/ 116 w 122"/>
              <a:gd name="T11" fmla="*/ 4 h 51"/>
              <a:gd name="T12" fmla="*/ 117 w 122"/>
              <a:gd name="T13" fmla="*/ 11 h 51"/>
              <a:gd name="T14" fmla="*/ 119 w 122"/>
              <a:gd name="T15" fmla="*/ 18 h 51"/>
              <a:gd name="T16" fmla="*/ 119 w 122"/>
              <a:gd name="T17" fmla="*/ 24 h 51"/>
              <a:gd name="T18" fmla="*/ 119 w 122"/>
              <a:gd name="T19" fmla="*/ 31 h 51"/>
              <a:gd name="T20" fmla="*/ 117 w 122"/>
              <a:gd name="T21" fmla="*/ 38 h 51"/>
              <a:gd name="T22" fmla="*/ 116 w 122"/>
              <a:gd name="T23" fmla="*/ 44 h 51"/>
              <a:gd name="T24" fmla="*/ 113 w 122"/>
              <a:gd name="T25" fmla="*/ 51 h 51"/>
              <a:gd name="T26" fmla="*/ 117 w 122"/>
              <a:gd name="T27" fmla="*/ 48 h 51"/>
              <a:gd name="T28" fmla="*/ 121 w 122"/>
              <a:gd name="T29" fmla="*/ 41 h 51"/>
              <a:gd name="T30" fmla="*/ 121 w 122"/>
              <a:gd name="T31" fmla="*/ 34 h 51"/>
              <a:gd name="T32" fmla="*/ 122 w 122"/>
              <a:gd name="T33" fmla="*/ 28 h 51"/>
              <a:gd name="T34" fmla="*/ 7 w 122"/>
              <a:gd name="T35" fmla="*/ 0 h 51"/>
              <a:gd name="T36" fmla="*/ 3 w 122"/>
              <a:gd name="T37" fmla="*/ 4 h 51"/>
              <a:gd name="T38" fmla="*/ 2 w 122"/>
              <a:gd name="T39" fmla="*/ 11 h 51"/>
              <a:gd name="T40" fmla="*/ 0 w 122"/>
              <a:gd name="T41" fmla="*/ 18 h 51"/>
              <a:gd name="T42" fmla="*/ 0 w 122"/>
              <a:gd name="T43" fmla="*/ 24 h 51"/>
              <a:gd name="T44" fmla="*/ 0 w 122"/>
              <a:gd name="T45" fmla="*/ 31 h 51"/>
              <a:gd name="T46" fmla="*/ 2 w 122"/>
              <a:gd name="T47" fmla="*/ 38 h 51"/>
              <a:gd name="T48" fmla="*/ 3 w 122"/>
              <a:gd name="T49" fmla="*/ 44 h 51"/>
              <a:gd name="T50" fmla="*/ 5 w 122"/>
              <a:gd name="T51" fmla="*/ 51 h 51"/>
              <a:gd name="T52" fmla="*/ 8 w 122"/>
              <a:gd name="T53" fmla="*/ 48 h 51"/>
              <a:gd name="T54" fmla="*/ 7 w 122"/>
              <a:gd name="T55" fmla="*/ 41 h 51"/>
              <a:gd name="T56" fmla="*/ 5 w 122"/>
              <a:gd name="T57" fmla="*/ 34 h 51"/>
              <a:gd name="T58" fmla="*/ 3 w 122"/>
              <a:gd name="T59" fmla="*/ 28 h 51"/>
              <a:gd name="T60" fmla="*/ 3 w 122"/>
              <a:gd name="T61" fmla="*/ 21 h 51"/>
              <a:gd name="T62" fmla="*/ 5 w 122"/>
              <a:gd name="T63" fmla="*/ 14 h 51"/>
              <a:gd name="T64" fmla="*/ 7 w 122"/>
              <a:gd name="T65" fmla="*/ 8 h 51"/>
              <a:gd name="T66" fmla="*/ 8 w 122"/>
              <a:gd name="T67" fmla="*/ 1 h 51"/>
              <a:gd name="T68" fmla="*/ 7 w 12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2" h="51">
                <a:moveTo>
                  <a:pt x="122" y="24"/>
                </a:moveTo>
                <a:lnTo>
                  <a:pt x="122" y="21"/>
                </a:lnTo>
                <a:lnTo>
                  <a:pt x="122" y="18"/>
                </a:lnTo>
                <a:lnTo>
                  <a:pt x="121" y="14"/>
                </a:lnTo>
                <a:lnTo>
                  <a:pt x="121" y="11"/>
                </a:lnTo>
                <a:lnTo>
                  <a:pt x="121" y="8"/>
                </a:lnTo>
                <a:lnTo>
                  <a:pt x="119" y="4"/>
                </a:lnTo>
                <a:lnTo>
                  <a:pt x="117" y="1"/>
                </a:lnTo>
                <a:lnTo>
                  <a:pt x="116" y="0"/>
                </a:lnTo>
                <a:lnTo>
                  <a:pt x="113" y="0"/>
                </a:lnTo>
                <a:lnTo>
                  <a:pt x="114" y="1"/>
                </a:lnTo>
                <a:lnTo>
                  <a:pt x="116" y="4"/>
                </a:lnTo>
                <a:lnTo>
                  <a:pt x="116" y="8"/>
                </a:lnTo>
                <a:lnTo>
                  <a:pt x="117" y="11"/>
                </a:lnTo>
                <a:lnTo>
                  <a:pt x="117" y="14"/>
                </a:lnTo>
                <a:lnTo>
                  <a:pt x="119" y="18"/>
                </a:lnTo>
                <a:lnTo>
                  <a:pt x="119" y="21"/>
                </a:lnTo>
                <a:lnTo>
                  <a:pt x="119" y="24"/>
                </a:lnTo>
                <a:lnTo>
                  <a:pt x="119" y="28"/>
                </a:lnTo>
                <a:lnTo>
                  <a:pt x="119" y="31"/>
                </a:lnTo>
                <a:lnTo>
                  <a:pt x="117" y="34"/>
                </a:lnTo>
                <a:lnTo>
                  <a:pt x="117" y="38"/>
                </a:lnTo>
                <a:lnTo>
                  <a:pt x="117" y="41"/>
                </a:lnTo>
                <a:lnTo>
                  <a:pt x="116" y="44"/>
                </a:lnTo>
                <a:lnTo>
                  <a:pt x="114" y="48"/>
                </a:lnTo>
                <a:lnTo>
                  <a:pt x="113" y="51"/>
                </a:lnTo>
                <a:lnTo>
                  <a:pt x="117" y="51"/>
                </a:lnTo>
                <a:lnTo>
                  <a:pt x="117" y="48"/>
                </a:lnTo>
                <a:lnTo>
                  <a:pt x="119" y="44"/>
                </a:lnTo>
                <a:lnTo>
                  <a:pt x="121" y="41"/>
                </a:lnTo>
                <a:lnTo>
                  <a:pt x="121" y="38"/>
                </a:lnTo>
                <a:lnTo>
                  <a:pt x="121" y="34"/>
                </a:lnTo>
                <a:lnTo>
                  <a:pt x="122" y="31"/>
                </a:lnTo>
                <a:lnTo>
                  <a:pt x="122" y="28"/>
                </a:lnTo>
                <a:lnTo>
                  <a:pt x="122" y="24"/>
                </a:lnTo>
                <a:close/>
                <a:moveTo>
                  <a:pt x="7" y="0"/>
                </a:moveTo>
                <a:lnTo>
                  <a:pt x="5" y="1"/>
                </a:lnTo>
                <a:lnTo>
                  <a:pt x="3" y="4"/>
                </a:lnTo>
                <a:lnTo>
                  <a:pt x="3" y="8"/>
                </a:lnTo>
                <a:lnTo>
                  <a:pt x="2" y="11"/>
                </a:lnTo>
                <a:lnTo>
                  <a:pt x="2" y="14"/>
                </a:lnTo>
                <a:lnTo>
                  <a:pt x="0" y="18"/>
                </a:lnTo>
                <a:lnTo>
                  <a:pt x="0" y="21"/>
                </a:lnTo>
                <a:lnTo>
                  <a:pt x="0" y="24"/>
                </a:lnTo>
                <a:lnTo>
                  <a:pt x="0" y="28"/>
                </a:lnTo>
                <a:lnTo>
                  <a:pt x="0" y="31"/>
                </a:lnTo>
                <a:lnTo>
                  <a:pt x="2" y="34"/>
                </a:lnTo>
                <a:lnTo>
                  <a:pt x="2" y="38"/>
                </a:lnTo>
                <a:lnTo>
                  <a:pt x="3" y="41"/>
                </a:lnTo>
                <a:lnTo>
                  <a:pt x="3" y="44"/>
                </a:lnTo>
                <a:lnTo>
                  <a:pt x="5" y="48"/>
                </a:lnTo>
                <a:lnTo>
                  <a:pt x="5" y="51"/>
                </a:lnTo>
                <a:lnTo>
                  <a:pt x="10" y="51"/>
                </a:lnTo>
                <a:lnTo>
                  <a:pt x="8" y="48"/>
                </a:lnTo>
                <a:lnTo>
                  <a:pt x="7" y="44"/>
                </a:lnTo>
                <a:lnTo>
                  <a:pt x="7" y="41"/>
                </a:lnTo>
                <a:lnTo>
                  <a:pt x="5" y="38"/>
                </a:lnTo>
                <a:lnTo>
                  <a:pt x="5" y="34"/>
                </a:lnTo>
                <a:lnTo>
                  <a:pt x="3" y="31"/>
                </a:lnTo>
                <a:lnTo>
                  <a:pt x="3" y="28"/>
                </a:lnTo>
                <a:lnTo>
                  <a:pt x="3" y="24"/>
                </a:lnTo>
                <a:lnTo>
                  <a:pt x="3" y="21"/>
                </a:lnTo>
                <a:lnTo>
                  <a:pt x="3" y="18"/>
                </a:lnTo>
                <a:lnTo>
                  <a:pt x="5" y="14"/>
                </a:lnTo>
                <a:lnTo>
                  <a:pt x="5" y="11"/>
                </a:lnTo>
                <a:lnTo>
                  <a:pt x="7" y="8"/>
                </a:lnTo>
                <a:lnTo>
                  <a:pt x="7" y="4"/>
                </a:lnTo>
                <a:lnTo>
                  <a:pt x="8" y="1"/>
                </a:lnTo>
                <a:lnTo>
                  <a:pt x="10" y="0"/>
                </a:lnTo>
                <a:lnTo>
                  <a:pt x="7"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16" name="Freeform 1821">
            <a:extLst>
              <a:ext uri="{FF2B5EF4-FFF2-40B4-BE49-F238E27FC236}">
                <a16:creationId xmlns:a16="http://schemas.microsoft.com/office/drawing/2014/main" id="{49762664-BC8B-2EA5-1747-73C38C90FAAF}"/>
              </a:ext>
            </a:extLst>
          </p:cNvPr>
          <p:cNvSpPr>
            <a:spLocks noEditPoints="1"/>
          </p:cNvSpPr>
          <p:nvPr/>
        </p:nvSpPr>
        <p:spPr bwMode="auto">
          <a:xfrm>
            <a:off x="2463800" y="2719388"/>
            <a:ext cx="188913" cy="80963"/>
          </a:xfrm>
          <a:custGeom>
            <a:avLst/>
            <a:gdLst>
              <a:gd name="T0" fmla="*/ 119 w 119"/>
              <a:gd name="T1" fmla="*/ 21 h 51"/>
              <a:gd name="T2" fmla="*/ 117 w 119"/>
              <a:gd name="T3" fmla="*/ 14 h 51"/>
              <a:gd name="T4" fmla="*/ 115 w 119"/>
              <a:gd name="T5" fmla="*/ 8 h 51"/>
              <a:gd name="T6" fmla="*/ 114 w 119"/>
              <a:gd name="T7" fmla="*/ 1 h 51"/>
              <a:gd name="T8" fmla="*/ 109 w 119"/>
              <a:gd name="T9" fmla="*/ 0 h 51"/>
              <a:gd name="T10" fmla="*/ 112 w 119"/>
              <a:gd name="T11" fmla="*/ 4 h 51"/>
              <a:gd name="T12" fmla="*/ 114 w 119"/>
              <a:gd name="T13" fmla="*/ 11 h 51"/>
              <a:gd name="T14" fmla="*/ 115 w 119"/>
              <a:gd name="T15" fmla="*/ 18 h 51"/>
              <a:gd name="T16" fmla="*/ 115 w 119"/>
              <a:gd name="T17" fmla="*/ 24 h 51"/>
              <a:gd name="T18" fmla="*/ 115 w 119"/>
              <a:gd name="T19" fmla="*/ 31 h 51"/>
              <a:gd name="T20" fmla="*/ 114 w 119"/>
              <a:gd name="T21" fmla="*/ 38 h 51"/>
              <a:gd name="T22" fmla="*/ 112 w 119"/>
              <a:gd name="T23" fmla="*/ 44 h 51"/>
              <a:gd name="T24" fmla="*/ 109 w 119"/>
              <a:gd name="T25" fmla="*/ 51 h 51"/>
              <a:gd name="T26" fmla="*/ 114 w 119"/>
              <a:gd name="T27" fmla="*/ 48 h 51"/>
              <a:gd name="T28" fmla="*/ 117 w 119"/>
              <a:gd name="T29" fmla="*/ 41 h 51"/>
              <a:gd name="T30" fmla="*/ 117 w 119"/>
              <a:gd name="T31" fmla="*/ 34 h 51"/>
              <a:gd name="T32" fmla="*/ 119 w 119"/>
              <a:gd name="T33" fmla="*/ 28 h 51"/>
              <a:gd name="T34" fmla="*/ 6 w 119"/>
              <a:gd name="T35" fmla="*/ 0 h 51"/>
              <a:gd name="T36" fmla="*/ 3 w 119"/>
              <a:gd name="T37" fmla="*/ 4 h 51"/>
              <a:gd name="T38" fmla="*/ 1 w 119"/>
              <a:gd name="T39" fmla="*/ 11 h 51"/>
              <a:gd name="T40" fmla="*/ 0 w 119"/>
              <a:gd name="T41" fmla="*/ 18 h 51"/>
              <a:gd name="T42" fmla="*/ 0 w 119"/>
              <a:gd name="T43" fmla="*/ 24 h 51"/>
              <a:gd name="T44" fmla="*/ 0 w 119"/>
              <a:gd name="T45" fmla="*/ 31 h 51"/>
              <a:gd name="T46" fmla="*/ 1 w 119"/>
              <a:gd name="T47" fmla="*/ 38 h 51"/>
              <a:gd name="T48" fmla="*/ 3 w 119"/>
              <a:gd name="T49" fmla="*/ 44 h 51"/>
              <a:gd name="T50" fmla="*/ 6 w 119"/>
              <a:gd name="T51" fmla="*/ 51 h 51"/>
              <a:gd name="T52" fmla="*/ 8 w 119"/>
              <a:gd name="T53" fmla="*/ 48 h 51"/>
              <a:gd name="T54" fmla="*/ 6 w 119"/>
              <a:gd name="T55" fmla="*/ 41 h 51"/>
              <a:gd name="T56" fmla="*/ 5 w 119"/>
              <a:gd name="T57" fmla="*/ 34 h 51"/>
              <a:gd name="T58" fmla="*/ 3 w 119"/>
              <a:gd name="T59" fmla="*/ 28 h 51"/>
              <a:gd name="T60" fmla="*/ 3 w 119"/>
              <a:gd name="T61" fmla="*/ 21 h 51"/>
              <a:gd name="T62" fmla="*/ 5 w 119"/>
              <a:gd name="T63" fmla="*/ 14 h 51"/>
              <a:gd name="T64" fmla="*/ 6 w 119"/>
              <a:gd name="T65" fmla="*/ 8 h 51"/>
              <a:gd name="T66" fmla="*/ 8 w 119"/>
              <a:gd name="T67" fmla="*/ 1 h 51"/>
              <a:gd name="T68" fmla="*/ 6 w 11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19" h="51">
                <a:moveTo>
                  <a:pt x="119" y="24"/>
                </a:moveTo>
                <a:lnTo>
                  <a:pt x="119" y="21"/>
                </a:lnTo>
                <a:lnTo>
                  <a:pt x="119" y="18"/>
                </a:lnTo>
                <a:lnTo>
                  <a:pt x="117" y="14"/>
                </a:lnTo>
                <a:lnTo>
                  <a:pt x="117" y="11"/>
                </a:lnTo>
                <a:lnTo>
                  <a:pt x="115" y="8"/>
                </a:lnTo>
                <a:lnTo>
                  <a:pt x="115" y="4"/>
                </a:lnTo>
                <a:lnTo>
                  <a:pt x="114" y="1"/>
                </a:lnTo>
                <a:lnTo>
                  <a:pt x="112" y="0"/>
                </a:lnTo>
                <a:lnTo>
                  <a:pt x="109" y="0"/>
                </a:lnTo>
                <a:lnTo>
                  <a:pt x="111" y="1"/>
                </a:lnTo>
                <a:lnTo>
                  <a:pt x="112" y="4"/>
                </a:lnTo>
                <a:lnTo>
                  <a:pt x="112" y="8"/>
                </a:lnTo>
                <a:lnTo>
                  <a:pt x="114" y="11"/>
                </a:lnTo>
                <a:lnTo>
                  <a:pt x="114" y="14"/>
                </a:lnTo>
                <a:lnTo>
                  <a:pt x="115" y="18"/>
                </a:lnTo>
                <a:lnTo>
                  <a:pt x="115" y="21"/>
                </a:lnTo>
                <a:lnTo>
                  <a:pt x="115" y="24"/>
                </a:lnTo>
                <a:lnTo>
                  <a:pt x="115" y="28"/>
                </a:lnTo>
                <a:lnTo>
                  <a:pt x="115" y="31"/>
                </a:lnTo>
                <a:lnTo>
                  <a:pt x="114" y="34"/>
                </a:lnTo>
                <a:lnTo>
                  <a:pt x="114" y="38"/>
                </a:lnTo>
                <a:lnTo>
                  <a:pt x="114" y="41"/>
                </a:lnTo>
                <a:lnTo>
                  <a:pt x="112" y="44"/>
                </a:lnTo>
                <a:lnTo>
                  <a:pt x="111" y="48"/>
                </a:lnTo>
                <a:lnTo>
                  <a:pt x="109" y="51"/>
                </a:lnTo>
                <a:lnTo>
                  <a:pt x="114" y="51"/>
                </a:lnTo>
                <a:lnTo>
                  <a:pt x="114" y="48"/>
                </a:lnTo>
                <a:lnTo>
                  <a:pt x="115" y="44"/>
                </a:lnTo>
                <a:lnTo>
                  <a:pt x="117" y="41"/>
                </a:lnTo>
                <a:lnTo>
                  <a:pt x="117" y="38"/>
                </a:lnTo>
                <a:lnTo>
                  <a:pt x="117" y="34"/>
                </a:lnTo>
                <a:lnTo>
                  <a:pt x="119" y="31"/>
                </a:lnTo>
                <a:lnTo>
                  <a:pt x="119" y="28"/>
                </a:lnTo>
                <a:lnTo>
                  <a:pt x="119" y="24"/>
                </a:lnTo>
                <a:close/>
                <a:moveTo>
                  <a:pt x="6" y="0"/>
                </a:moveTo>
                <a:lnTo>
                  <a:pt x="5" y="1"/>
                </a:lnTo>
                <a:lnTo>
                  <a:pt x="3" y="4"/>
                </a:lnTo>
                <a:lnTo>
                  <a:pt x="3" y="8"/>
                </a:lnTo>
                <a:lnTo>
                  <a:pt x="1" y="11"/>
                </a:lnTo>
                <a:lnTo>
                  <a:pt x="1" y="14"/>
                </a:lnTo>
                <a:lnTo>
                  <a:pt x="0" y="18"/>
                </a:lnTo>
                <a:lnTo>
                  <a:pt x="0" y="21"/>
                </a:lnTo>
                <a:lnTo>
                  <a:pt x="0" y="24"/>
                </a:lnTo>
                <a:lnTo>
                  <a:pt x="0" y="28"/>
                </a:lnTo>
                <a:lnTo>
                  <a:pt x="0" y="31"/>
                </a:lnTo>
                <a:lnTo>
                  <a:pt x="1" y="34"/>
                </a:lnTo>
                <a:lnTo>
                  <a:pt x="1" y="38"/>
                </a:lnTo>
                <a:lnTo>
                  <a:pt x="3" y="41"/>
                </a:lnTo>
                <a:lnTo>
                  <a:pt x="3" y="44"/>
                </a:lnTo>
                <a:lnTo>
                  <a:pt x="5" y="48"/>
                </a:lnTo>
                <a:lnTo>
                  <a:pt x="6" y="51"/>
                </a:lnTo>
                <a:lnTo>
                  <a:pt x="10" y="51"/>
                </a:lnTo>
                <a:lnTo>
                  <a:pt x="8" y="48"/>
                </a:lnTo>
                <a:lnTo>
                  <a:pt x="6" y="44"/>
                </a:lnTo>
                <a:lnTo>
                  <a:pt x="6" y="41"/>
                </a:lnTo>
                <a:lnTo>
                  <a:pt x="5" y="38"/>
                </a:lnTo>
                <a:lnTo>
                  <a:pt x="5" y="34"/>
                </a:lnTo>
                <a:lnTo>
                  <a:pt x="3" y="31"/>
                </a:lnTo>
                <a:lnTo>
                  <a:pt x="3" y="28"/>
                </a:lnTo>
                <a:lnTo>
                  <a:pt x="3" y="24"/>
                </a:lnTo>
                <a:lnTo>
                  <a:pt x="3" y="21"/>
                </a:lnTo>
                <a:lnTo>
                  <a:pt x="3" y="18"/>
                </a:lnTo>
                <a:lnTo>
                  <a:pt x="5" y="14"/>
                </a:lnTo>
                <a:lnTo>
                  <a:pt x="5" y="11"/>
                </a:lnTo>
                <a:lnTo>
                  <a:pt x="6" y="8"/>
                </a:lnTo>
                <a:lnTo>
                  <a:pt x="6" y="4"/>
                </a:lnTo>
                <a:lnTo>
                  <a:pt x="8" y="1"/>
                </a:lnTo>
                <a:lnTo>
                  <a:pt x="10" y="0"/>
                </a:lnTo>
                <a:lnTo>
                  <a:pt x="6"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17" name="Freeform 1822">
            <a:extLst>
              <a:ext uri="{FF2B5EF4-FFF2-40B4-BE49-F238E27FC236}">
                <a16:creationId xmlns:a16="http://schemas.microsoft.com/office/drawing/2014/main" id="{AD80C7A1-6764-D49E-6F30-61EB1960C56D}"/>
              </a:ext>
            </a:extLst>
          </p:cNvPr>
          <p:cNvSpPr>
            <a:spLocks noEditPoints="1"/>
          </p:cNvSpPr>
          <p:nvPr/>
        </p:nvSpPr>
        <p:spPr bwMode="auto">
          <a:xfrm>
            <a:off x="2465388" y="2719388"/>
            <a:ext cx="184150" cy="80963"/>
          </a:xfrm>
          <a:custGeom>
            <a:avLst/>
            <a:gdLst>
              <a:gd name="T0" fmla="*/ 116 w 116"/>
              <a:gd name="T1" fmla="*/ 21 h 51"/>
              <a:gd name="T2" fmla="*/ 114 w 116"/>
              <a:gd name="T3" fmla="*/ 14 h 51"/>
              <a:gd name="T4" fmla="*/ 113 w 116"/>
              <a:gd name="T5" fmla="*/ 8 h 51"/>
              <a:gd name="T6" fmla="*/ 111 w 116"/>
              <a:gd name="T7" fmla="*/ 1 h 51"/>
              <a:gd name="T8" fmla="*/ 106 w 116"/>
              <a:gd name="T9" fmla="*/ 0 h 51"/>
              <a:gd name="T10" fmla="*/ 110 w 116"/>
              <a:gd name="T11" fmla="*/ 4 h 51"/>
              <a:gd name="T12" fmla="*/ 111 w 116"/>
              <a:gd name="T13" fmla="*/ 11 h 51"/>
              <a:gd name="T14" fmla="*/ 113 w 116"/>
              <a:gd name="T15" fmla="*/ 18 h 51"/>
              <a:gd name="T16" fmla="*/ 113 w 116"/>
              <a:gd name="T17" fmla="*/ 24 h 51"/>
              <a:gd name="T18" fmla="*/ 113 w 116"/>
              <a:gd name="T19" fmla="*/ 31 h 51"/>
              <a:gd name="T20" fmla="*/ 111 w 116"/>
              <a:gd name="T21" fmla="*/ 38 h 51"/>
              <a:gd name="T22" fmla="*/ 110 w 116"/>
              <a:gd name="T23" fmla="*/ 44 h 51"/>
              <a:gd name="T24" fmla="*/ 106 w 116"/>
              <a:gd name="T25" fmla="*/ 51 h 51"/>
              <a:gd name="T26" fmla="*/ 111 w 116"/>
              <a:gd name="T27" fmla="*/ 48 h 51"/>
              <a:gd name="T28" fmla="*/ 114 w 116"/>
              <a:gd name="T29" fmla="*/ 41 h 51"/>
              <a:gd name="T30" fmla="*/ 114 w 116"/>
              <a:gd name="T31" fmla="*/ 34 h 51"/>
              <a:gd name="T32" fmla="*/ 116 w 116"/>
              <a:gd name="T33" fmla="*/ 28 h 51"/>
              <a:gd name="T34" fmla="*/ 7 w 116"/>
              <a:gd name="T35" fmla="*/ 0 h 51"/>
              <a:gd name="T36" fmla="*/ 4 w 116"/>
              <a:gd name="T37" fmla="*/ 4 h 51"/>
              <a:gd name="T38" fmla="*/ 2 w 116"/>
              <a:gd name="T39" fmla="*/ 11 h 51"/>
              <a:gd name="T40" fmla="*/ 0 w 116"/>
              <a:gd name="T41" fmla="*/ 18 h 51"/>
              <a:gd name="T42" fmla="*/ 0 w 116"/>
              <a:gd name="T43" fmla="*/ 24 h 51"/>
              <a:gd name="T44" fmla="*/ 0 w 116"/>
              <a:gd name="T45" fmla="*/ 31 h 51"/>
              <a:gd name="T46" fmla="*/ 2 w 116"/>
              <a:gd name="T47" fmla="*/ 38 h 51"/>
              <a:gd name="T48" fmla="*/ 4 w 116"/>
              <a:gd name="T49" fmla="*/ 44 h 51"/>
              <a:gd name="T50" fmla="*/ 7 w 116"/>
              <a:gd name="T51" fmla="*/ 51 h 51"/>
              <a:gd name="T52" fmla="*/ 9 w 116"/>
              <a:gd name="T53" fmla="*/ 48 h 51"/>
              <a:gd name="T54" fmla="*/ 7 w 116"/>
              <a:gd name="T55" fmla="*/ 41 h 51"/>
              <a:gd name="T56" fmla="*/ 5 w 116"/>
              <a:gd name="T57" fmla="*/ 34 h 51"/>
              <a:gd name="T58" fmla="*/ 4 w 116"/>
              <a:gd name="T59" fmla="*/ 28 h 51"/>
              <a:gd name="T60" fmla="*/ 4 w 116"/>
              <a:gd name="T61" fmla="*/ 21 h 51"/>
              <a:gd name="T62" fmla="*/ 5 w 116"/>
              <a:gd name="T63" fmla="*/ 14 h 51"/>
              <a:gd name="T64" fmla="*/ 7 w 116"/>
              <a:gd name="T65" fmla="*/ 8 h 51"/>
              <a:gd name="T66" fmla="*/ 9 w 116"/>
              <a:gd name="T67" fmla="*/ 1 h 51"/>
              <a:gd name="T68" fmla="*/ 7 w 11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16" h="51">
                <a:moveTo>
                  <a:pt x="116" y="24"/>
                </a:moveTo>
                <a:lnTo>
                  <a:pt x="116" y="21"/>
                </a:lnTo>
                <a:lnTo>
                  <a:pt x="116" y="18"/>
                </a:lnTo>
                <a:lnTo>
                  <a:pt x="114" y="14"/>
                </a:lnTo>
                <a:lnTo>
                  <a:pt x="114" y="11"/>
                </a:lnTo>
                <a:lnTo>
                  <a:pt x="113" y="8"/>
                </a:lnTo>
                <a:lnTo>
                  <a:pt x="113" y="4"/>
                </a:lnTo>
                <a:lnTo>
                  <a:pt x="111" y="1"/>
                </a:lnTo>
                <a:lnTo>
                  <a:pt x="110" y="0"/>
                </a:lnTo>
                <a:lnTo>
                  <a:pt x="106" y="0"/>
                </a:lnTo>
                <a:lnTo>
                  <a:pt x="108" y="1"/>
                </a:lnTo>
                <a:lnTo>
                  <a:pt x="110" y="4"/>
                </a:lnTo>
                <a:lnTo>
                  <a:pt x="110" y="8"/>
                </a:lnTo>
                <a:lnTo>
                  <a:pt x="111" y="11"/>
                </a:lnTo>
                <a:lnTo>
                  <a:pt x="111" y="14"/>
                </a:lnTo>
                <a:lnTo>
                  <a:pt x="113" y="18"/>
                </a:lnTo>
                <a:lnTo>
                  <a:pt x="113" y="21"/>
                </a:lnTo>
                <a:lnTo>
                  <a:pt x="113" y="24"/>
                </a:lnTo>
                <a:lnTo>
                  <a:pt x="113" y="28"/>
                </a:lnTo>
                <a:lnTo>
                  <a:pt x="113" y="31"/>
                </a:lnTo>
                <a:lnTo>
                  <a:pt x="111" y="34"/>
                </a:lnTo>
                <a:lnTo>
                  <a:pt x="111" y="38"/>
                </a:lnTo>
                <a:lnTo>
                  <a:pt x="110" y="41"/>
                </a:lnTo>
                <a:lnTo>
                  <a:pt x="110" y="44"/>
                </a:lnTo>
                <a:lnTo>
                  <a:pt x="108" y="48"/>
                </a:lnTo>
                <a:lnTo>
                  <a:pt x="106" y="51"/>
                </a:lnTo>
                <a:lnTo>
                  <a:pt x="110" y="51"/>
                </a:lnTo>
                <a:lnTo>
                  <a:pt x="111" y="48"/>
                </a:lnTo>
                <a:lnTo>
                  <a:pt x="113" y="44"/>
                </a:lnTo>
                <a:lnTo>
                  <a:pt x="114" y="41"/>
                </a:lnTo>
                <a:lnTo>
                  <a:pt x="114" y="38"/>
                </a:lnTo>
                <a:lnTo>
                  <a:pt x="114" y="34"/>
                </a:lnTo>
                <a:lnTo>
                  <a:pt x="116" y="31"/>
                </a:lnTo>
                <a:lnTo>
                  <a:pt x="116" y="28"/>
                </a:lnTo>
                <a:lnTo>
                  <a:pt x="116" y="24"/>
                </a:lnTo>
                <a:close/>
                <a:moveTo>
                  <a:pt x="7" y="0"/>
                </a:moveTo>
                <a:lnTo>
                  <a:pt x="5" y="1"/>
                </a:lnTo>
                <a:lnTo>
                  <a:pt x="4" y="4"/>
                </a:lnTo>
                <a:lnTo>
                  <a:pt x="4" y="8"/>
                </a:lnTo>
                <a:lnTo>
                  <a:pt x="2" y="11"/>
                </a:lnTo>
                <a:lnTo>
                  <a:pt x="2" y="14"/>
                </a:lnTo>
                <a:lnTo>
                  <a:pt x="0" y="18"/>
                </a:lnTo>
                <a:lnTo>
                  <a:pt x="0" y="21"/>
                </a:lnTo>
                <a:lnTo>
                  <a:pt x="0" y="24"/>
                </a:lnTo>
                <a:lnTo>
                  <a:pt x="0" y="28"/>
                </a:lnTo>
                <a:lnTo>
                  <a:pt x="0" y="31"/>
                </a:lnTo>
                <a:lnTo>
                  <a:pt x="2" y="34"/>
                </a:lnTo>
                <a:lnTo>
                  <a:pt x="2" y="38"/>
                </a:lnTo>
                <a:lnTo>
                  <a:pt x="4" y="41"/>
                </a:lnTo>
                <a:lnTo>
                  <a:pt x="4" y="44"/>
                </a:lnTo>
                <a:lnTo>
                  <a:pt x="5" y="48"/>
                </a:lnTo>
                <a:lnTo>
                  <a:pt x="7" y="51"/>
                </a:lnTo>
                <a:lnTo>
                  <a:pt x="10" y="51"/>
                </a:lnTo>
                <a:lnTo>
                  <a:pt x="9" y="48"/>
                </a:lnTo>
                <a:lnTo>
                  <a:pt x="7" y="44"/>
                </a:lnTo>
                <a:lnTo>
                  <a:pt x="7" y="41"/>
                </a:lnTo>
                <a:lnTo>
                  <a:pt x="5" y="38"/>
                </a:lnTo>
                <a:lnTo>
                  <a:pt x="5" y="34"/>
                </a:lnTo>
                <a:lnTo>
                  <a:pt x="4" y="31"/>
                </a:lnTo>
                <a:lnTo>
                  <a:pt x="4" y="28"/>
                </a:lnTo>
                <a:lnTo>
                  <a:pt x="4" y="24"/>
                </a:lnTo>
                <a:lnTo>
                  <a:pt x="4" y="21"/>
                </a:lnTo>
                <a:lnTo>
                  <a:pt x="4" y="18"/>
                </a:lnTo>
                <a:lnTo>
                  <a:pt x="5" y="14"/>
                </a:lnTo>
                <a:lnTo>
                  <a:pt x="5" y="11"/>
                </a:lnTo>
                <a:lnTo>
                  <a:pt x="7" y="8"/>
                </a:lnTo>
                <a:lnTo>
                  <a:pt x="9" y="4"/>
                </a:lnTo>
                <a:lnTo>
                  <a:pt x="9" y="1"/>
                </a:lnTo>
                <a:lnTo>
                  <a:pt x="10" y="0"/>
                </a:lnTo>
                <a:lnTo>
                  <a:pt x="7"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18" name="Freeform 1823">
            <a:extLst>
              <a:ext uri="{FF2B5EF4-FFF2-40B4-BE49-F238E27FC236}">
                <a16:creationId xmlns:a16="http://schemas.microsoft.com/office/drawing/2014/main" id="{F1A150F0-E044-05AD-34C1-5E1BD0171058}"/>
              </a:ext>
            </a:extLst>
          </p:cNvPr>
          <p:cNvSpPr>
            <a:spLocks noEditPoints="1"/>
          </p:cNvSpPr>
          <p:nvPr/>
        </p:nvSpPr>
        <p:spPr bwMode="auto">
          <a:xfrm>
            <a:off x="2468563" y="2719388"/>
            <a:ext cx="177800" cy="80963"/>
          </a:xfrm>
          <a:custGeom>
            <a:avLst/>
            <a:gdLst>
              <a:gd name="T0" fmla="*/ 112 w 112"/>
              <a:gd name="T1" fmla="*/ 21 h 51"/>
              <a:gd name="T2" fmla="*/ 111 w 112"/>
              <a:gd name="T3" fmla="*/ 14 h 51"/>
              <a:gd name="T4" fmla="*/ 109 w 112"/>
              <a:gd name="T5" fmla="*/ 8 h 51"/>
              <a:gd name="T6" fmla="*/ 108 w 112"/>
              <a:gd name="T7" fmla="*/ 1 h 51"/>
              <a:gd name="T8" fmla="*/ 103 w 112"/>
              <a:gd name="T9" fmla="*/ 0 h 51"/>
              <a:gd name="T10" fmla="*/ 106 w 112"/>
              <a:gd name="T11" fmla="*/ 4 h 51"/>
              <a:gd name="T12" fmla="*/ 108 w 112"/>
              <a:gd name="T13" fmla="*/ 11 h 51"/>
              <a:gd name="T14" fmla="*/ 109 w 112"/>
              <a:gd name="T15" fmla="*/ 18 h 51"/>
              <a:gd name="T16" fmla="*/ 109 w 112"/>
              <a:gd name="T17" fmla="*/ 24 h 51"/>
              <a:gd name="T18" fmla="*/ 109 w 112"/>
              <a:gd name="T19" fmla="*/ 31 h 51"/>
              <a:gd name="T20" fmla="*/ 108 w 112"/>
              <a:gd name="T21" fmla="*/ 38 h 51"/>
              <a:gd name="T22" fmla="*/ 106 w 112"/>
              <a:gd name="T23" fmla="*/ 44 h 51"/>
              <a:gd name="T24" fmla="*/ 103 w 112"/>
              <a:gd name="T25" fmla="*/ 51 h 51"/>
              <a:gd name="T26" fmla="*/ 108 w 112"/>
              <a:gd name="T27" fmla="*/ 48 h 51"/>
              <a:gd name="T28" fmla="*/ 111 w 112"/>
              <a:gd name="T29" fmla="*/ 41 h 51"/>
              <a:gd name="T30" fmla="*/ 111 w 112"/>
              <a:gd name="T31" fmla="*/ 34 h 51"/>
              <a:gd name="T32" fmla="*/ 112 w 112"/>
              <a:gd name="T33" fmla="*/ 28 h 51"/>
              <a:gd name="T34" fmla="*/ 7 w 112"/>
              <a:gd name="T35" fmla="*/ 0 h 51"/>
              <a:gd name="T36" fmla="*/ 3 w 112"/>
              <a:gd name="T37" fmla="*/ 4 h 51"/>
              <a:gd name="T38" fmla="*/ 2 w 112"/>
              <a:gd name="T39" fmla="*/ 11 h 51"/>
              <a:gd name="T40" fmla="*/ 0 w 112"/>
              <a:gd name="T41" fmla="*/ 18 h 51"/>
              <a:gd name="T42" fmla="*/ 0 w 112"/>
              <a:gd name="T43" fmla="*/ 24 h 51"/>
              <a:gd name="T44" fmla="*/ 0 w 112"/>
              <a:gd name="T45" fmla="*/ 31 h 51"/>
              <a:gd name="T46" fmla="*/ 2 w 112"/>
              <a:gd name="T47" fmla="*/ 38 h 51"/>
              <a:gd name="T48" fmla="*/ 3 w 112"/>
              <a:gd name="T49" fmla="*/ 44 h 51"/>
              <a:gd name="T50" fmla="*/ 7 w 112"/>
              <a:gd name="T51" fmla="*/ 51 h 51"/>
              <a:gd name="T52" fmla="*/ 8 w 112"/>
              <a:gd name="T53" fmla="*/ 48 h 51"/>
              <a:gd name="T54" fmla="*/ 7 w 112"/>
              <a:gd name="T55" fmla="*/ 41 h 51"/>
              <a:gd name="T56" fmla="*/ 5 w 112"/>
              <a:gd name="T57" fmla="*/ 34 h 51"/>
              <a:gd name="T58" fmla="*/ 3 w 112"/>
              <a:gd name="T59" fmla="*/ 28 h 51"/>
              <a:gd name="T60" fmla="*/ 3 w 112"/>
              <a:gd name="T61" fmla="*/ 21 h 51"/>
              <a:gd name="T62" fmla="*/ 5 w 112"/>
              <a:gd name="T63" fmla="*/ 14 h 51"/>
              <a:gd name="T64" fmla="*/ 7 w 112"/>
              <a:gd name="T65" fmla="*/ 8 h 51"/>
              <a:gd name="T66" fmla="*/ 8 w 112"/>
              <a:gd name="T67" fmla="*/ 1 h 51"/>
              <a:gd name="T68" fmla="*/ 7 w 11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12" h="51">
                <a:moveTo>
                  <a:pt x="112" y="24"/>
                </a:moveTo>
                <a:lnTo>
                  <a:pt x="112" y="21"/>
                </a:lnTo>
                <a:lnTo>
                  <a:pt x="112" y="18"/>
                </a:lnTo>
                <a:lnTo>
                  <a:pt x="111" y="14"/>
                </a:lnTo>
                <a:lnTo>
                  <a:pt x="111" y="11"/>
                </a:lnTo>
                <a:lnTo>
                  <a:pt x="109" y="8"/>
                </a:lnTo>
                <a:lnTo>
                  <a:pt x="109" y="4"/>
                </a:lnTo>
                <a:lnTo>
                  <a:pt x="108" y="1"/>
                </a:lnTo>
                <a:lnTo>
                  <a:pt x="106" y="0"/>
                </a:lnTo>
                <a:lnTo>
                  <a:pt x="103" y="0"/>
                </a:lnTo>
                <a:lnTo>
                  <a:pt x="104" y="1"/>
                </a:lnTo>
                <a:lnTo>
                  <a:pt x="106" y="4"/>
                </a:lnTo>
                <a:lnTo>
                  <a:pt x="106" y="8"/>
                </a:lnTo>
                <a:lnTo>
                  <a:pt x="108" y="11"/>
                </a:lnTo>
                <a:lnTo>
                  <a:pt x="108" y="14"/>
                </a:lnTo>
                <a:lnTo>
                  <a:pt x="109" y="18"/>
                </a:lnTo>
                <a:lnTo>
                  <a:pt x="109" y="21"/>
                </a:lnTo>
                <a:lnTo>
                  <a:pt x="109" y="24"/>
                </a:lnTo>
                <a:lnTo>
                  <a:pt x="109" y="28"/>
                </a:lnTo>
                <a:lnTo>
                  <a:pt x="109" y="31"/>
                </a:lnTo>
                <a:lnTo>
                  <a:pt x="108" y="34"/>
                </a:lnTo>
                <a:lnTo>
                  <a:pt x="108" y="38"/>
                </a:lnTo>
                <a:lnTo>
                  <a:pt x="106" y="41"/>
                </a:lnTo>
                <a:lnTo>
                  <a:pt x="106" y="44"/>
                </a:lnTo>
                <a:lnTo>
                  <a:pt x="104" y="48"/>
                </a:lnTo>
                <a:lnTo>
                  <a:pt x="103" y="51"/>
                </a:lnTo>
                <a:lnTo>
                  <a:pt x="106" y="51"/>
                </a:lnTo>
                <a:lnTo>
                  <a:pt x="108" y="48"/>
                </a:lnTo>
                <a:lnTo>
                  <a:pt x="109" y="44"/>
                </a:lnTo>
                <a:lnTo>
                  <a:pt x="111" y="41"/>
                </a:lnTo>
                <a:lnTo>
                  <a:pt x="111" y="38"/>
                </a:lnTo>
                <a:lnTo>
                  <a:pt x="111" y="34"/>
                </a:lnTo>
                <a:lnTo>
                  <a:pt x="112" y="31"/>
                </a:lnTo>
                <a:lnTo>
                  <a:pt x="112" y="28"/>
                </a:lnTo>
                <a:lnTo>
                  <a:pt x="112" y="24"/>
                </a:lnTo>
                <a:close/>
                <a:moveTo>
                  <a:pt x="7" y="0"/>
                </a:moveTo>
                <a:lnTo>
                  <a:pt x="5" y="1"/>
                </a:lnTo>
                <a:lnTo>
                  <a:pt x="3" y="4"/>
                </a:lnTo>
                <a:lnTo>
                  <a:pt x="3" y="8"/>
                </a:lnTo>
                <a:lnTo>
                  <a:pt x="2" y="11"/>
                </a:lnTo>
                <a:lnTo>
                  <a:pt x="2" y="14"/>
                </a:lnTo>
                <a:lnTo>
                  <a:pt x="0" y="18"/>
                </a:lnTo>
                <a:lnTo>
                  <a:pt x="0" y="21"/>
                </a:lnTo>
                <a:lnTo>
                  <a:pt x="0" y="24"/>
                </a:lnTo>
                <a:lnTo>
                  <a:pt x="0" y="28"/>
                </a:lnTo>
                <a:lnTo>
                  <a:pt x="0" y="31"/>
                </a:lnTo>
                <a:lnTo>
                  <a:pt x="2" y="34"/>
                </a:lnTo>
                <a:lnTo>
                  <a:pt x="2" y="38"/>
                </a:lnTo>
                <a:lnTo>
                  <a:pt x="3" y="41"/>
                </a:lnTo>
                <a:lnTo>
                  <a:pt x="3" y="44"/>
                </a:lnTo>
                <a:lnTo>
                  <a:pt x="5" y="48"/>
                </a:lnTo>
                <a:lnTo>
                  <a:pt x="7" y="51"/>
                </a:lnTo>
                <a:lnTo>
                  <a:pt x="10" y="51"/>
                </a:lnTo>
                <a:lnTo>
                  <a:pt x="8" y="48"/>
                </a:lnTo>
                <a:lnTo>
                  <a:pt x="7" y="44"/>
                </a:lnTo>
                <a:lnTo>
                  <a:pt x="7" y="41"/>
                </a:lnTo>
                <a:lnTo>
                  <a:pt x="5" y="38"/>
                </a:lnTo>
                <a:lnTo>
                  <a:pt x="5" y="34"/>
                </a:lnTo>
                <a:lnTo>
                  <a:pt x="3" y="31"/>
                </a:lnTo>
                <a:lnTo>
                  <a:pt x="3" y="28"/>
                </a:lnTo>
                <a:lnTo>
                  <a:pt x="3" y="24"/>
                </a:lnTo>
                <a:lnTo>
                  <a:pt x="3" y="21"/>
                </a:lnTo>
                <a:lnTo>
                  <a:pt x="3" y="18"/>
                </a:lnTo>
                <a:lnTo>
                  <a:pt x="5" y="14"/>
                </a:lnTo>
                <a:lnTo>
                  <a:pt x="5" y="11"/>
                </a:lnTo>
                <a:lnTo>
                  <a:pt x="7" y="8"/>
                </a:lnTo>
                <a:lnTo>
                  <a:pt x="8" y="4"/>
                </a:lnTo>
                <a:lnTo>
                  <a:pt x="8" y="1"/>
                </a:lnTo>
                <a:lnTo>
                  <a:pt x="10" y="0"/>
                </a:lnTo>
                <a:lnTo>
                  <a:pt x="7"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19" name="Freeform 1824">
            <a:extLst>
              <a:ext uri="{FF2B5EF4-FFF2-40B4-BE49-F238E27FC236}">
                <a16:creationId xmlns:a16="http://schemas.microsoft.com/office/drawing/2014/main" id="{3731DCAC-2C3F-5192-C82D-6E91045DBA3C}"/>
              </a:ext>
            </a:extLst>
          </p:cNvPr>
          <p:cNvSpPr>
            <a:spLocks noEditPoints="1"/>
          </p:cNvSpPr>
          <p:nvPr/>
        </p:nvSpPr>
        <p:spPr bwMode="auto">
          <a:xfrm>
            <a:off x="2471738" y="2719388"/>
            <a:ext cx="173038" cy="80963"/>
          </a:xfrm>
          <a:custGeom>
            <a:avLst/>
            <a:gdLst>
              <a:gd name="T0" fmla="*/ 109 w 109"/>
              <a:gd name="T1" fmla="*/ 21 h 51"/>
              <a:gd name="T2" fmla="*/ 107 w 109"/>
              <a:gd name="T3" fmla="*/ 14 h 51"/>
              <a:gd name="T4" fmla="*/ 106 w 109"/>
              <a:gd name="T5" fmla="*/ 8 h 51"/>
              <a:gd name="T6" fmla="*/ 104 w 109"/>
              <a:gd name="T7" fmla="*/ 1 h 51"/>
              <a:gd name="T8" fmla="*/ 99 w 109"/>
              <a:gd name="T9" fmla="*/ 0 h 51"/>
              <a:gd name="T10" fmla="*/ 101 w 109"/>
              <a:gd name="T11" fmla="*/ 4 h 51"/>
              <a:gd name="T12" fmla="*/ 104 w 109"/>
              <a:gd name="T13" fmla="*/ 11 h 51"/>
              <a:gd name="T14" fmla="*/ 106 w 109"/>
              <a:gd name="T15" fmla="*/ 18 h 51"/>
              <a:gd name="T16" fmla="*/ 106 w 109"/>
              <a:gd name="T17" fmla="*/ 24 h 51"/>
              <a:gd name="T18" fmla="*/ 106 w 109"/>
              <a:gd name="T19" fmla="*/ 31 h 51"/>
              <a:gd name="T20" fmla="*/ 104 w 109"/>
              <a:gd name="T21" fmla="*/ 38 h 51"/>
              <a:gd name="T22" fmla="*/ 102 w 109"/>
              <a:gd name="T23" fmla="*/ 44 h 51"/>
              <a:gd name="T24" fmla="*/ 99 w 109"/>
              <a:gd name="T25" fmla="*/ 51 h 51"/>
              <a:gd name="T26" fmla="*/ 104 w 109"/>
              <a:gd name="T27" fmla="*/ 48 h 51"/>
              <a:gd name="T28" fmla="*/ 106 w 109"/>
              <a:gd name="T29" fmla="*/ 41 h 51"/>
              <a:gd name="T30" fmla="*/ 107 w 109"/>
              <a:gd name="T31" fmla="*/ 34 h 51"/>
              <a:gd name="T32" fmla="*/ 109 w 109"/>
              <a:gd name="T33" fmla="*/ 28 h 51"/>
              <a:gd name="T34" fmla="*/ 6 w 109"/>
              <a:gd name="T35" fmla="*/ 0 h 51"/>
              <a:gd name="T36" fmla="*/ 5 w 109"/>
              <a:gd name="T37" fmla="*/ 4 h 51"/>
              <a:gd name="T38" fmla="*/ 1 w 109"/>
              <a:gd name="T39" fmla="*/ 11 h 51"/>
              <a:gd name="T40" fmla="*/ 0 w 109"/>
              <a:gd name="T41" fmla="*/ 18 h 51"/>
              <a:gd name="T42" fmla="*/ 0 w 109"/>
              <a:gd name="T43" fmla="*/ 24 h 51"/>
              <a:gd name="T44" fmla="*/ 0 w 109"/>
              <a:gd name="T45" fmla="*/ 31 h 51"/>
              <a:gd name="T46" fmla="*/ 1 w 109"/>
              <a:gd name="T47" fmla="*/ 38 h 51"/>
              <a:gd name="T48" fmla="*/ 3 w 109"/>
              <a:gd name="T49" fmla="*/ 44 h 51"/>
              <a:gd name="T50" fmla="*/ 6 w 109"/>
              <a:gd name="T51" fmla="*/ 51 h 51"/>
              <a:gd name="T52" fmla="*/ 8 w 109"/>
              <a:gd name="T53" fmla="*/ 48 h 51"/>
              <a:gd name="T54" fmla="*/ 6 w 109"/>
              <a:gd name="T55" fmla="*/ 41 h 51"/>
              <a:gd name="T56" fmla="*/ 5 w 109"/>
              <a:gd name="T57" fmla="*/ 34 h 51"/>
              <a:gd name="T58" fmla="*/ 3 w 109"/>
              <a:gd name="T59" fmla="*/ 28 h 51"/>
              <a:gd name="T60" fmla="*/ 3 w 109"/>
              <a:gd name="T61" fmla="*/ 21 h 51"/>
              <a:gd name="T62" fmla="*/ 5 w 109"/>
              <a:gd name="T63" fmla="*/ 14 h 51"/>
              <a:gd name="T64" fmla="*/ 6 w 109"/>
              <a:gd name="T65" fmla="*/ 8 h 51"/>
              <a:gd name="T66" fmla="*/ 9 w 109"/>
              <a:gd name="T67" fmla="*/ 1 h 51"/>
              <a:gd name="T68" fmla="*/ 6 w 10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9" h="51">
                <a:moveTo>
                  <a:pt x="109" y="24"/>
                </a:moveTo>
                <a:lnTo>
                  <a:pt x="109" y="21"/>
                </a:lnTo>
                <a:lnTo>
                  <a:pt x="109" y="18"/>
                </a:lnTo>
                <a:lnTo>
                  <a:pt x="107" y="14"/>
                </a:lnTo>
                <a:lnTo>
                  <a:pt x="107" y="11"/>
                </a:lnTo>
                <a:lnTo>
                  <a:pt x="106" y="8"/>
                </a:lnTo>
                <a:lnTo>
                  <a:pt x="106" y="4"/>
                </a:lnTo>
                <a:lnTo>
                  <a:pt x="104" y="1"/>
                </a:lnTo>
                <a:lnTo>
                  <a:pt x="102" y="0"/>
                </a:lnTo>
                <a:lnTo>
                  <a:pt x="99" y="0"/>
                </a:lnTo>
                <a:lnTo>
                  <a:pt x="101" y="1"/>
                </a:lnTo>
                <a:lnTo>
                  <a:pt x="101" y="4"/>
                </a:lnTo>
                <a:lnTo>
                  <a:pt x="102" y="8"/>
                </a:lnTo>
                <a:lnTo>
                  <a:pt x="104" y="11"/>
                </a:lnTo>
                <a:lnTo>
                  <a:pt x="104" y="14"/>
                </a:lnTo>
                <a:lnTo>
                  <a:pt x="106" y="18"/>
                </a:lnTo>
                <a:lnTo>
                  <a:pt x="106" y="21"/>
                </a:lnTo>
                <a:lnTo>
                  <a:pt x="106" y="24"/>
                </a:lnTo>
                <a:lnTo>
                  <a:pt x="106" y="28"/>
                </a:lnTo>
                <a:lnTo>
                  <a:pt x="106" y="31"/>
                </a:lnTo>
                <a:lnTo>
                  <a:pt x="104" y="34"/>
                </a:lnTo>
                <a:lnTo>
                  <a:pt x="104" y="38"/>
                </a:lnTo>
                <a:lnTo>
                  <a:pt x="102" y="41"/>
                </a:lnTo>
                <a:lnTo>
                  <a:pt x="102" y="44"/>
                </a:lnTo>
                <a:lnTo>
                  <a:pt x="101" y="48"/>
                </a:lnTo>
                <a:lnTo>
                  <a:pt x="99" y="51"/>
                </a:lnTo>
                <a:lnTo>
                  <a:pt x="102" y="51"/>
                </a:lnTo>
                <a:lnTo>
                  <a:pt x="104" y="48"/>
                </a:lnTo>
                <a:lnTo>
                  <a:pt x="106" y="44"/>
                </a:lnTo>
                <a:lnTo>
                  <a:pt x="106" y="41"/>
                </a:lnTo>
                <a:lnTo>
                  <a:pt x="107" y="38"/>
                </a:lnTo>
                <a:lnTo>
                  <a:pt x="107" y="34"/>
                </a:lnTo>
                <a:lnTo>
                  <a:pt x="109" y="31"/>
                </a:lnTo>
                <a:lnTo>
                  <a:pt x="109" y="28"/>
                </a:lnTo>
                <a:lnTo>
                  <a:pt x="109" y="24"/>
                </a:lnTo>
                <a:close/>
                <a:moveTo>
                  <a:pt x="6" y="0"/>
                </a:moveTo>
                <a:lnTo>
                  <a:pt x="5" y="1"/>
                </a:lnTo>
                <a:lnTo>
                  <a:pt x="5" y="4"/>
                </a:lnTo>
                <a:lnTo>
                  <a:pt x="3" y="8"/>
                </a:lnTo>
                <a:lnTo>
                  <a:pt x="1" y="11"/>
                </a:lnTo>
                <a:lnTo>
                  <a:pt x="1" y="14"/>
                </a:lnTo>
                <a:lnTo>
                  <a:pt x="0" y="18"/>
                </a:lnTo>
                <a:lnTo>
                  <a:pt x="0" y="21"/>
                </a:lnTo>
                <a:lnTo>
                  <a:pt x="0" y="24"/>
                </a:lnTo>
                <a:lnTo>
                  <a:pt x="0" y="28"/>
                </a:lnTo>
                <a:lnTo>
                  <a:pt x="0" y="31"/>
                </a:lnTo>
                <a:lnTo>
                  <a:pt x="1" y="34"/>
                </a:lnTo>
                <a:lnTo>
                  <a:pt x="1" y="38"/>
                </a:lnTo>
                <a:lnTo>
                  <a:pt x="3" y="41"/>
                </a:lnTo>
                <a:lnTo>
                  <a:pt x="3" y="44"/>
                </a:lnTo>
                <a:lnTo>
                  <a:pt x="5" y="48"/>
                </a:lnTo>
                <a:lnTo>
                  <a:pt x="6" y="51"/>
                </a:lnTo>
                <a:lnTo>
                  <a:pt x="9" y="51"/>
                </a:lnTo>
                <a:lnTo>
                  <a:pt x="8" y="48"/>
                </a:lnTo>
                <a:lnTo>
                  <a:pt x="8" y="44"/>
                </a:lnTo>
                <a:lnTo>
                  <a:pt x="6" y="41"/>
                </a:lnTo>
                <a:lnTo>
                  <a:pt x="5" y="38"/>
                </a:lnTo>
                <a:lnTo>
                  <a:pt x="5" y="34"/>
                </a:lnTo>
                <a:lnTo>
                  <a:pt x="3" y="31"/>
                </a:lnTo>
                <a:lnTo>
                  <a:pt x="3" y="28"/>
                </a:lnTo>
                <a:lnTo>
                  <a:pt x="3" y="24"/>
                </a:lnTo>
                <a:lnTo>
                  <a:pt x="3" y="21"/>
                </a:lnTo>
                <a:lnTo>
                  <a:pt x="5" y="18"/>
                </a:lnTo>
                <a:lnTo>
                  <a:pt x="5" y="14"/>
                </a:lnTo>
                <a:lnTo>
                  <a:pt x="5" y="11"/>
                </a:lnTo>
                <a:lnTo>
                  <a:pt x="6" y="8"/>
                </a:lnTo>
                <a:lnTo>
                  <a:pt x="8" y="4"/>
                </a:lnTo>
                <a:lnTo>
                  <a:pt x="9" y="1"/>
                </a:lnTo>
                <a:lnTo>
                  <a:pt x="11" y="0"/>
                </a:lnTo>
                <a:lnTo>
                  <a:pt x="6"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20" name="Freeform 1825">
            <a:extLst>
              <a:ext uri="{FF2B5EF4-FFF2-40B4-BE49-F238E27FC236}">
                <a16:creationId xmlns:a16="http://schemas.microsoft.com/office/drawing/2014/main" id="{EDE04250-A943-AFBF-D65E-E0583AD70738}"/>
              </a:ext>
            </a:extLst>
          </p:cNvPr>
          <p:cNvSpPr>
            <a:spLocks noEditPoints="1"/>
          </p:cNvSpPr>
          <p:nvPr/>
        </p:nvSpPr>
        <p:spPr bwMode="auto">
          <a:xfrm>
            <a:off x="2473325" y="2719388"/>
            <a:ext cx="168275" cy="80963"/>
          </a:xfrm>
          <a:custGeom>
            <a:avLst/>
            <a:gdLst>
              <a:gd name="T0" fmla="*/ 106 w 106"/>
              <a:gd name="T1" fmla="*/ 21 h 51"/>
              <a:gd name="T2" fmla="*/ 105 w 106"/>
              <a:gd name="T3" fmla="*/ 14 h 51"/>
              <a:gd name="T4" fmla="*/ 103 w 106"/>
              <a:gd name="T5" fmla="*/ 8 h 51"/>
              <a:gd name="T6" fmla="*/ 101 w 106"/>
              <a:gd name="T7" fmla="*/ 1 h 51"/>
              <a:gd name="T8" fmla="*/ 95 w 106"/>
              <a:gd name="T9" fmla="*/ 0 h 51"/>
              <a:gd name="T10" fmla="*/ 98 w 106"/>
              <a:gd name="T11" fmla="*/ 4 h 51"/>
              <a:gd name="T12" fmla="*/ 101 w 106"/>
              <a:gd name="T13" fmla="*/ 11 h 51"/>
              <a:gd name="T14" fmla="*/ 103 w 106"/>
              <a:gd name="T15" fmla="*/ 18 h 51"/>
              <a:gd name="T16" fmla="*/ 103 w 106"/>
              <a:gd name="T17" fmla="*/ 24 h 51"/>
              <a:gd name="T18" fmla="*/ 103 w 106"/>
              <a:gd name="T19" fmla="*/ 31 h 51"/>
              <a:gd name="T20" fmla="*/ 101 w 106"/>
              <a:gd name="T21" fmla="*/ 38 h 51"/>
              <a:gd name="T22" fmla="*/ 100 w 106"/>
              <a:gd name="T23" fmla="*/ 44 h 51"/>
              <a:gd name="T24" fmla="*/ 96 w 106"/>
              <a:gd name="T25" fmla="*/ 51 h 51"/>
              <a:gd name="T26" fmla="*/ 101 w 106"/>
              <a:gd name="T27" fmla="*/ 48 h 51"/>
              <a:gd name="T28" fmla="*/ 103 w 106"/>
              <a:gd name="T29" fmla="*/ 41 h 51"/>
              <a:gd name="T30" fmla="*/ 105 w 106"/>
              <a:gd name="T31" fmla="*/ 34 h 51"/>
              <a:gd name="T32" fmla="*/ 106 w 106"/>
              <a:gd name="T33" fmla="*/ 28 h 51"/>
              <a:gd name="T34" fmla="*/ 7 w 106"/>
              <a:gd name="T35" fmla="*/ 0 h 51"/>
              <a:gd name="T36" fmla="*/ 5 w 106"/>
              <a:gd name="T37" fmla="*/ 4 h 51"/>
              <a:gd name="T38" fmla="*/ 2 w 106"/>
              <a:gd name="T39" fmla="*/ 11 h 51"/>
              <a:gd name="T40" fmla="*/ 0 w 106"/>
              <a:gd name="T41" fmla="*/ 18 h 51"/>
              <a:gd name="T42" fmla="*/ 0 w 106"/>
              <a:gd name="T43" fmla="*/ 24 h 51"/>
              <a:gd name="T44" fmla="*/ 0 w 106"/>
              <a:gd name="T45" fmla="*/ 31 h 51"/>
              <a:gd name="T46" fmla="*/ 2 w 106"/>
              <a:gd name="T47" fmla="*/ 38 h 51"/>
              <a:gd name="T48" fmla="*/ 4 w 106"/>
              <a:gd name="T49" fmla="*/ 44 h 51"/>
              <a:gd name="T50" fmla="*/ 7 w 106"/>
              <a:gd name="T51" fmla="*/ 51 h 51"/>
              <a:gd name="T52" fmla="*/ 8 w 106"/>
              <a:gd name="T53" fmla="*/ 48 h 51"/>
              <a:gd name="T54" fmla="*/ 7 w 106"/>
              <a:gd name="T55" fmla="*/ 41 h 51"/>
              <a:gd name="T56" fmla="*/ 5 w 106"/>
              <a:gd name="T57" fmla="*/ 34 h 51"/>
              <a:gd name="T58" fmla="*/ 4 w 106"/>
              <a:gd name="T59" fmla="*/ 28 h 51"/>
              <a:gd name="T60" fmla="*/ 4 w 106"/>
              <a:gd name="T61" fmla="*/ 21 h 51"/>
              <a:gd name="T62" fmla="*/ 5 w 106"/>
              <a:gd name="T63" fmla="*/ 14 h 51"/>
              <a:gd name="T64" fmla="*/ 7 w 106"/>
              <a:gd name="T65" fmla="*/ 8 h 51"/>
              <a:gd name="T66" fmla="*/ 10 w 106"/>
              <a:gd name="T67" fmla="*/ 1 h 51"/>
              <a:gd name="T68" fmla="*/ 7 w 10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6" h="51">
                <a:moveTo>
                  <a:pt x="106" y="24"/>
                </a:moveTo>
                <a:lnTo>
                  <a:pt x="106" y="21"/>
                </a:lnTo>
                <a:lnTo>
                  <a:pt x="106" y="18"/>
                </a:lnTo>
                <a:lnTo>
                  <a:pt x="105" y="14"/>
                </a:lnTo>
                <a:lnTo>
                  <a:pt x="105" y="11"/>
                </a:lnTo>
                <a:lnTo>
                  <a:pt x="103" y="8"/>
                </a:lnTo>
                <a:lnTo>
                  <a:pt x="103" y="4"/>
                </a:lnTo>
                <a:lnTo>
                  <a:pt x="101" y="1"/>
                </a:lnTo>
                <a:lnTo>
                  <a:pt x="100" y="0"/>
                </a:lnTo>
                <a:lnTo>
                  <a:pt x="95" y="0"/>
                </a:lnTo>
                <a:lnTo>
                  <a:pt x="96" y="1"/>
                </a:lnTo>
                <a:lnTo>
                  <a:pt x="98" y="4"/>
                </a:lnTo>
                <a:lnTo>
                  <a:pt x="100" y="8"/>
                </a:lnTo>
                <a:lnTo>
                  <a:pt x="101" y="11"/>
                </a:lnTo>
                <a:lnTo>
                  <a:pt x="101" y="14"/>
                </a:lnTo>
                <a:lnTo>
                  <a:pt x="103" y="18"/>
                </a:lnTo>
                <a:lnTo>
                  <a:pt x="103" y="21"/>
                </a:lnTo>
                <a:lnTo>
                  <a:pt x="103" y="24"/>
                </a:lnTo>
                <a:lnTo>
                  <a:pt x="103" y="28"/>
                </a:lnTo>
                <a:lnTo>
                  <a:pt x="103" y="31"/>
                </a:lnTo>
                <a:lnTo>
                  <a:pt x="101" y="34"/>
                </a:lnTo>
                <a:lnTo>
                  <a:pt x="101" y="38"/>
                </a:lnTo>
                <a:lnTo>
                  <a:pt x="100" y="41"/>
                </a:lnTo>
                <a:lnTo>
                  <a:pt x="100" y="44"/>
                </a:lnTo>
                <a:lnTo>
                  <a:pt x="98" y="48"/>
                </a:lnTo>
                <a:lnTo>
                  <a:pt x="96" y="51"/>
                </a:lnTo>
                <a:lnTo>
                  <a:pt x="100" y="51"/>
                </a:lnTo>
                <a:lnTo>
                  <a:pt x="101" y="48"/>
                </a:lnTo>
                <a:lnTo>
                  <a:pt x="103" y="44"/>
                </a:lnTo>
                <a:lnTo>
                  <a:pt x="103" y="41"/>
                </a:lnTo>
                <a:lnTo>
                  <a:pt x="105" y="38"/>
                </a:lnTo>
                <a:lnTo>
                  <a:pt x="105" y="34"/>
                </a:lnTo>
                <a:lnTo>
                  <a:pt x="106" y="31"/>
                </a:lnTo>
                <a:lnTo>
                  <a:pt x="106" y="28"/>
                </a:lnTo>
                <a:lnTo>
                  <a:pt x="106" y="24"/>
                </a:lnTo>
                <a:close/>
                <a:moveTo>
                  <a:pt x="7" y="0"/>
                </a:moveTo>
                <a:lnTo>
                  <a:pt x="5" y="1"/>
                </a:lnTo>
                <a:lnTo>
                  <a:pt x="5" y="4"/>
                </a:lnTo>
                <a:lnTo>
                  <a:pt x="4" y="8"/>
                </a:lnTo>
                <a:lnTo>
                  <a:pt x="2" y="11"/>
                </a:lnTo>
                <a:lnTo>
                  <a:pt x="2" y="14"/>
                </a:lnTo>
                <a:lnTo>
                  <a:pt x="0" y="18"/>
                </a:lnTo>
                <a:lnTo>
                  <a:pt x="0" y="21"/>
                </a:lnTo>
                <a:lnTo>
                  <a:pt x="0" y="24"/>
                </a:lnTo>
                <a:lnTo>
                  <a:pt x="0" y="28"/>
                </a:lnTo>
                <a:lnTo>
                  <a:pt x="0" y="31"/>
                </a:lnTo>
                <a:lnTo>
                  <a:pt x="2" y="34"/>
                </a:lnTo>
                <a:lnTo>
                  <a:pt x="2" y="38"/>
                </a:lnTo>
                <a:lnTo>
                  <a:pt x="4" y="41"/>
                </a:lnTo>
                <a:lnTo>
                  <a:pt x="4" y="44"/>
                </a:lnTo>
                <a:lnTo>
                  <a:pt x="5" y="48"/>
                </a:lnTo>
                <a:lnTo>
                  <a:pt x="7" y="51"/>
                </a:lnTo>
                <a:lnTo>
                  <a:pt x="10" y="51"/>
                </a:lnTo>
                <a:lnTo>
                  <a:pt x="8" y="48"/>
                </a:lnTo>
                <a:lnTo>
                  <a:pt x="8" y="44"/>
                </a:lnTo>
                <a:lnTo>
                  <a:pt x="7" y="41"/>
                </a:lnTo>
                <a:lnTo>
                  <a:pt x="5" y="38"/>
                </a:lnTo>
                <a:lnTo>
                  <a:pt x="5" y="34"/>
                </a:lnTo>
                <a:lnTo>
                  <a:pt x="4" y="31"/>
                </a:lnTo>
                <a:lnTo>
                  <a:pt x="4" y="28"/>
                </a:lnTo>
                <a:lnTo>
                  <a:pt x="4" y="24"/>
                </a:lnTo>
                <a:lnTo>
                  <a:pt x="4" y="21"/>
                </a:lnTo>
                <a:lnTo>
                  <a:pt x="5" y="18"/>
                </a:lnTo>
                <a:lnTo>
                  <a:pt x="5" y="14"/>
                </a:lnTo>
                <a:lnTo>
                  <a:pt x="5" y="11"/>
                </a:lnTo>
                <a:lnTo>
                  <a:pt x="7" y="8"/>
                </a:lnTo>
                <a:lnTo>
                  <a:pt x="8" y="4"/>
                </a:lnTo>
                <a:lnTo>
                  <a:pt x="10" y="1"/>
                </a:lnTo>
                <a:lnTo>
                  <a:pt x="12" y="0"/>
                </a:lnTo>
                <a:lnTo>
                  <a:pt x="7"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21" name="Freeform 1826">
            <a:extLst>
              <a:ext uri="{FF2B5EF4-FFF2-40B4-BE49-F238E27FC236}">
                <a16:creationId xmlns:a16="http://schemas.microsoft.com/office/drawing/2014/main" id="{CF16B86D-72C1-E468-6D85-AFE2BBCBFD65}"/>
              </a:ext>
            </a:extLst>
          </p:cNvPr>
          <p:cNvSpPr>
            <a:spLocks noEditPoints="1"/>
          </p:cNvSpPr>
          <p:nvPr/>
        </p:nvSpPr>
        <p:spPr bwMode="auto">
          <a:xfrm>
            <a:off x="2476500" y="2719388"/>
            <a:ext cx="163513" cy="80963"/>
          </a:xfrm>
          <a:custGeom>
            <a:avLst/>
            <a:gdLst>
              <a:gd name="T0" fmla="*/ 103 w 103"/>
              <a:gd name="T1" fmla="*/ 21 h 51"/>
              <a:gd name="T2" fmla="*/ 101 w 103"/>
              <a:gd name="T3" fmla="*/ 14 h 51"/>
              <a:gd name="T4" fmla="*/ 99 w 103"/>
              <a:gd name="T5" fmla="*/ 8 h 51"/>
              <a:gd name="T6" fmla="*/ 98 w 103"/>
              <a:gd name="T7" fmla="*/ 1 h 51"/>
              <a:gd name="T8" fmla="*/ 91 w 103"/>
              <a:gd name="T9" fmla="*/ 0 h 51"/>
              <a:gd name="T10" fmla="*/ 94 w 103"/>
              <a:gd name="T11" fmla="*/ 4 h 51"/>
              <a:gd name="T12" fmla="*/ 98 w 103"/>
              <a:gd name="T13" fmla="*/ 11 h 51"/>
              <a:gd name="T14" fmla="*/ 99 w 103"/>
              <a:gd name="T15" fmla="*/ 18 h 51"/>
              <a:gd name="T16" fmla="*/ 99 w 103"/>
              <a:gd name="T17" fmla="*/ 24 h 51"/>
              <a:gd name="T18" fmla="*/ 99 w 103"/>
              <a:gd name="T19" fmla="*/ 33 h 51"/>
              <a:gd name="T20" fmla="*/ 98 w 103"/>
              <a:gd name="T21" fmla="*/ 38 h 51"/>
              <a:gd name="T22" fmla="*/ 94 w 103"/>
              <a:gd name="T23" fmla="*/ 44 h 51"/>
              <a:gd name="T24" fmla="*/ 93 w 103"/>
              <a:gd name="T25" fmla="*/ 51 h 51"/>
              <a:gd name="T26" fmla="*/ 98 w 103"/>
              <a:gd name="T27" fmla="*/ 48 h 51"/>
              <a:gd name="T28" fmla="*/ 99 w 103"/>
              <a:gd name="T29" fmla="*/ 41 h 51"/>
              <a:gd name="T30" fmla="*/ 101 w 103"/>
              <a:gd name="T31" fmla="*/ 34 h 51"/>
              <a:gd name="T32" fmla="*/ 103 w 103"/>
              <a:gd name="T33" fmla="*/ 28 h 51"/>
              <a:gd name="T34" fmla="*/ 8 w 103"/>
              <a:gd name="T35" fmla="*/ 0 h 51"/>
              <a:gd name="T36" fmla="*/ 5 w 103"/>
              <a:gd name="T37" fmla="*/ 4 h 51"/>
              <a:gd name="T38" fmla="*/ 2 w 103"/>
              <a:gd name="T39" fmla="*/ 11 h 51"/>
              <a:gd name="T40" fmla="*/ 2 w 103"/>
              <a:gd name="T41" fmla="*/ 18 h 51"/>
              <a:gd name="T42" fmla="*/ 0 w 103"/>
              <a:gd name="T43" fmla="*/ 24 h 51"/>
              <a:gd name="T44" fmla="*/ 0 w 103"/>
              <a:gd name="T45" fmla="*/ 31 h 51"/>
              <a:gd name="T46" fmla="*/ 2 w 103"/>
              <a:gd name="T47" fmla="*/ 38 h 51"/>
              <a:gd name="T48" fmla="*/ 5 w 103"/>
              <a:gd name="T49" fmla="*/ 44 h 51"/>
              <a:gd name="T50" fmla="*/ 6 w 103"/>
              <a:gd name="T51" fmla="*/ 51 h 51"/>
              <a:gd name="T52" fmla="*/ 10 w 103"/>
              <a:gd name="T53" fmla="*/ 48 h 51"/>
              <a:gd name="T54" fmla="*/ 6 w 103"/>
              <a:gd name="T55" fmla="*/ 41 h 51"/>
              <a:gd name="T56" fmla="*/ 5 w 103"/>
              <a:gd name="T57" fmla="*/ 34 h 51"/>
              <a:gd name="T58" fmla="*/ 3 w 103"/>
              <a:gd name="T59" fmla="*/ 28 h 51"/>
              <a:gd name="T60" fmla="*/ 3 w 103"/>
              <a:gd name="T61" fmla="*/ 21 h 51"/>
              <a:gd name="T62" fmla="*/ 5 w 103"/>
              <a:gd name="T63" fmla="*/ 14 h 51"/>
              <a:gd name="T64" fmla="*/ 6 w 103"/>
              <a:gd name="T65" fmla="*/ 8 h 51"/>
              <a:gd name="T66" fmla="*/ 10 w 103"/>
              <a:gd name="T67" fmla="*/ 1 h 51"/>
              <a:gd name="T68" fmla="*/ 8 w 10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3" h="51">
                <a:moveTo>
                  <a:pt x="103" y="24"/>
                </a:moveTo>
                <a:lnTo>
                  <a:pt x="103" y="21"/>
                </a:lnTo>
                <a:lnTo>
                  <a:pt x="103" y="18"/>
                </a:lnTo>
                <a:lnTo>
                  <a:pt x="101" y="14"/>
                </a:lnTo>
                <a:lnTo>
                  <a:pt x="101" y="11"/>
                </a:lnTo>
                <a:lnTo>
                  <a:pt x="99" y="8"/>
                </a:lnTo>
                <a:lnTo>
                  <a:pt x="98" y="4"/>
                </a:lnTo>
                <a:lnTo>
                  <a:pt x="98" y="1"/>
                </a:lnTo>
                <a:lnTo>
                  <a:pt x="96" y="0"/>
                </a:lnTo>
                <a:lnTo>
                  <a:pt x="91" y="0"/>
                </a:lnTo>
                <a:lnTo>
                  <a:pt x="93" y="1"/>
                </a:lnTo>
                <a:lnTo>
                  <a:pt x="94" y="4"/>
                </a:lnTo>
                <a:lnTo>
                  <a:pt x="96" y="8"/>
                </a:lnTo>
                <a:lnTo>
                  <a:pt x="98" y="11"/>
                </a:lnTo>
                <a:lnTo>
                  <a:pt x="98" y="14"/>
                </a:lnTo>
                <a:lnTo>
                  <a:pt x="99" y="18"/>
                </a:lnTo>
                <a:lnTo>
                  <a:pt x="99" y="21"/>
                </a:lnTo>
                <a:lnTo>
                  <a:pt x="99" y="24"/>
                </a:lnTo>
                <a:lnTo>
                  <a:pt x="99" y="28"/>
                </a:lnTo>
                <a:lnTo>
                  <a:pt x="99" y="33"/>
                </a:lnTo>
                <a:lnTo>
                  <a:pt x="98" y="34"/>
                </a:lnTo>
                <a:lnTo>
                  <a:pt x="98" y="38"/>
                </a:lnTo>
                <a:lnTo>
                  <a:pt x="96" y="41"/>
                </a:lnTo>
                <a:lnTo>
                  <a:pt x="94" y="44"/>
                </a:lnTo>
                <a:lnTo>
                  <a:pt x="94" y="48"/>
                </a:lnTo>
                <a:lnTo>
                  <a:pt x="93" y="51"/>
                </a:lnTo>
                <a:lnTo>
                  <a:pt x="96" y="51"/>
                </a:lnTo>
                <a:lnTo>
                  <a:pt x="98" y="48"/>
                </a:lnTo>
                <a:lnTo>
                  <a:pt x="99" y="44"/>
                </a:lnTo>
                <a:lnTo>
                  <a:pt x="99" y="41"/>
                </a:lnTo>
                <a:lnTo>
                  <a:pt x="101" y="38"/>
                </a:lnTo>
                <a:lnTo>
                  <a:pt x="101" y="34"/>
                </a:lnTo>
                <a:lnTo>
                  <a:pt x="103" y="31"/>
                </a:lnTo>
                <a:lnTo>
                  <a:pt x="103" y="28"/>
                </a:lnTo>
                <a:lnTo>
                  <a:pt x="103" y="24"/>
                </a:lnTo>
                <a:close/>
                <a:moveTo>
                  <a:pt x="8" y="0"/>
                </a:moveTo>
                <a:lnTo>
                  <a:pt x="6" y="1"/>
                </a:lnTo>
                <a:lnTo>
                  <a:pt x="5" y="4"/>
                </a:lnTo>
                <a:lnTo>
                  <a:pt x="3" y="8"/>
                </a:lnTo>
                <a:lnTo>
                  <a:pt x="2" y="11"/>
                </a:lnTo>
                <a:lnTo>
                  <a:pt x="2" y="14"/>
                </a:lnTo>
                <a:lnTo>
                  <a:pt x="2" y="18"/>
                </a:lnTo>
                <a:lnTo>
                  <a:pt x="0" y="21"/>
                </a:lnTo>
                <a:lnTo>
                  <a:pt x="0" y="24"/>
                </a:lnTo>
                <a:lnTo>
                  <a:pt x="0" y="28"/>
                </a:lnTo>
                <a:lnTo>
                  <a:pt x="0" y="31"/>
                </a:lnTo>
                <a:lnTo>
                  <a:pt x="2" y="34"/>
                </a:lnTo>
                <a:lnTo>
                  <a:pt x="2" y="38"/>
                </a:lnTo>
                <a:lnTo>
                  <a:pt x="3" y="41"/>
                </a:lnTo>
                <a:lnTo>
                  <a:pt x="5" y="44"/>
                </a:lnTo>
                <a:lnTo>
                  <a:pt x="5" y="48"/>
                </a:lnTo>
                <a:lnTo>
                  <a:pt x="6" y="51"/>
                </a:lnTo>
                <a:lnTo>
                  <a:pt x="11" y="51"/>
                </a:lnTo>
                <a:lnTo>
                  <a:pt x="10" y="48"/>
                </a:lnTo>
                <a:lnTo>
                  <a:pt x="8" y="44"/>
                </a:lnTo>
                <a:lnTo>
                  <a:pt x="6" y="41"/>
                </a:lnTo>
                <a:lnTo>
                  <a:pt x="5" y="38"/>
                </a:lnTo>
                <a:lnTo>
                  <a:pt x="5" y="34"/>
                </a:lnTo>
                <a:lnTo>
                  <a:pt x="3" y="33"/>
                </a:lnTo>
                <a:lnTo>
                  <a:pt x="3" y="28"/>
                </a:lnTo>
                <a:lnTo>
                  <a:pt x="3" y="24"/>
                </a:lnTo>
                <a:lnTo>
                  <a:pt x="3" y="21"/>
                </a:lnTo>
                <a:lnTo>
                  <a:pt x="5" y="18"/>
                </a:lnTo>
                <a:lnTo>
                  <a:pt x="5" y="14"/>
                </a:lnTo>
                <a:lnTo>
                  <a:pt x="5" y="11"/>
                </a:lnTo>
                <a:lnTo>
                  <a:pt x="6" y="8"/>
                </a:lnTo>
                <a:lnTo>
                  <a:pt x="8" y="4"/>
                </a:lnTo>
                <a:lnTo>
                  <a:pt x="10" y="1"/>
                </a:lnTo>
                <a:lnTo>
                  <a:pt x="11" y="0"/>
                </a:lnTo>
                <a:lnTo>
                  <a:pt x="8"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22" name="Freeform 1827">
            <a:extLst>
              <a:ext uri="{FF2B5EF4-FFF2-40B4-BE49-F238E27FC236}">
                <a16:creationId xmlns:a16="http://schemas.microsoft.com/office/drawing/2014/main" id="{90D15E2E-35A7-62AF-A1CA-EB997455DBDB}"/>
              </a:ext>
            </a:extLst>
          </p:cNvPr>
          <p:cNvSpPr>
            <a:spLocks noEditPoints="1"/>
          </p:cNvSpPr>
          <p:nvPr/>
        </p:nvSpPr>
        <p:spPr bwMode="auto">
          <a:xfrm>
            <a:off x="2479675" y="2719388"/>
            <a:ext cx="157163" cy="80963"/>
          </a:xfrm>
          <a:custGeom>
            <a:avLst/>
            <a:gdLst>
              <a:gd name="T0" fmla="*/ 99 w 99"/>
              <a:gd name="T1" fmla="*/ 21 h 51"/>
              <a:gd name="T2" fmla="*/ 97 w 99"/>
              <a:gd name="T3" fmla="*/ 14 h 51"/>
              <a:gd name="T4" fmla="*/ 96 w 99"/>
              <a:gd name="T5" fmla="*/ 8 h 51"/>
              <a:gd name="T6" fmla="*/ 92 w 99"/>
              <a:gd name="T7" fmla="*/ 1 h 51"/>
              <a:gd name="T8" fmla="*/ 87 w 99"/>
              <a:gd name="T9" fmla="*/ 0 h 51"/>
              <a:gd name="T10" fmla="*/ 91 w 99"/>
              <a:gd name="T11" fmla="*/ 4 h 51"/>
              <a:gd name="T12" fmla="*/ 94 w 99"/>
              <a:gd name="T13" fmla="*/ 11 h 51"/>
              <a:gd name="T14" fmla="*/ 96 w 99"/>
              <a:gd name="T15" fmla="*/ 18 h 51"/>
              <a:gd name="T16" fmla="*/ 96 w 99"/>
              <a:gd name="T17" fmla="*/ 24 h 51"/>
              <a:gd name="T18" fmla="*/ 96 w 99"/>
              <a:gd name="T19" fmla="*/ 33 h 51"/>
              <a:gd name="T20" fmla="*/ 94 w 99"/>
              <a:gd name="T21" fmla="*/ 38 h 51"/>
              <a:gd name="T22" fmla="*/ 91 w 99"/>
              <a:gd name="T23" fmla="*/ 44 h 51"/>
              <a:gd name="T24" fmla="*/ 87 w 99"/>
              <a:gd name="T25" fmla="*/ 51 h 51"/>
              <a:gd name="T26" fmla="*/ 94 w 99"/>
              <a:gd name="T27" fmla="*/ 48 h 51"/>
              <a:gd name="T28" fmla="*/ 96 w 99"/>
              <a:gd name="T29" fmla="*/ 41 h 51"/>
              <a:gd name="T30" fmla="*/ 97 w 99"/>
              <a:gd name="T31" fmla="*/ 34 h 51"/>
              <a:gd name="T32" fmla="*/ 99 w 99"/>
              <a:gd name="T33" fmla="*/ 28 h 51"/>
              <a:gd name="T34" fmla="*/ 8 w 99"/>
              <a:gd name="T35" fmla="*/ 0 h 51"/>
              <a:gd name="T36" fmla="*/ 4 w 99"/>
              <a:gd name="T37" fmla="*/ 4 h 51"/>
              <a:gd name="T38" fmla="*/ 1 w 99"/>
              <a:gd name="T39" fmla="*/ 11 h 51"/>
              <a:gd name="T40" fmla="*/ 1 w 99"/>
              <a:gd name="T41" fmla="*/ 18 h 51"/>
              <a:gd name="T42" fmla="*/ 0 w 99"/>
              <a:gd name="T43" fmla="*/ 24 h 51"/>
              <a:gd name="T44" fmla="*/ 0 w 99"/>
              <a:gd name="T45" fmla="*/ 31 h 51"/>
              <a:gd name="T46" fmla="*/ 1 w 99"/>
              <a:gd name="T47" fmla="*/ 38 h 51"/>
              <a:gd name="T48" fmla="*/ 4 w 99"/>
              <a:gd name="T49" fmla="*/ 44 h 51"/>
              <a:gd name="T50" fmla="*/ 6 w 99"/>
              <a:gd name="T51" fmla="*/ 51 h 51"/>
              <a:gd name="T52" fmla="*/ 9 w 99"/>
              <a:gd name="T53" fmla="*/ 48 h 51"/>
              <a:gd name="T54" fmla="*/ 6 w 99"/>
              <a:gd name="T55" fmla="*/ 41 h 51"/>
              <a:gd name="T56" fmla="*/ 4 w 99"/>
              <a:gd name="T57" fmla="*/ 36 h 51"/>
              <a:gd name="T58" fmla="*/ 3 w 99"/>
              <a:gd name="T59" fmla="*/ 28 h 51"/>
              <a:gd name="T60" fmla="*/ 3 w 99"/>
              <a:gd name="T61" fmla="*/ 21 h 51"/>
              <a:gd name="T62" fmla="*/ 4 w 99"/>
              <a:gd name="T63" fmla="*/ 14 h 51"/>
              <a:gd name="T64" fmla="*/ 6 w 99"/>
              <a:gd name="T65" fmla="*/ 8 h 51"/>
              <a:gd name="T66" fmla="*/ 9 w 99"/>
              <a:gd name="T67" fmla="*/ 1 h 51"/>
              <a:gd name="T68" fmla="*/ 8 w 9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9" h="51">
                <a:moveTo>
                  <a:pt x="99" y="24"/>
                </a:moveTo>
                <a:lnTo>
                  <a:pt x="99" y="21"/>
                </a:lnTo>
                <a:lnTo>
                  <a:pt x="99" y="18"/>
                </a:lnTo>
                <a:lnTo>
                  <a:pt x="97" y="14"/>
                </a:lnTo>
                <a:lnTo>
                  <a:pt x="97" y="11"/>
                </a:lnTo>
                <a:lnTo>
                  <a:pt x="96" y="8"/>
                </a:lnTo>
                <a:lnTo>
                  <a:pt x="94" y="4"/>
                </a:lnTo>
                <a:lnTo>
                  <a:pt x="92" y="1"/>
                </a:lnTo>
                <a:lnTo>
                  <a:pt x="91" y="0"/>
                </a:lnTo>
                <a:lnTo>
                  <a:pt x="87" y="0"/>
                </a:lnTo>
                <a:lnTo>
                  <a:pt x="89" y="1"/>
                </a:lnTo>
                <a:lnTo>
                  <a:pt x="91" y="4"/>
                </a:lnTo>
                <a:lnTo>
                  <a:pt x="92" y="8"/>
                </a:lnTo>
                <a:lnTo>
                  <a:pt x="94" y="11"/>
                </a:lnTo>
                <a:lnTo>
                  <a:pt x="94" y="14"/>
                </a:lnTo>
                <a:lnTo>
                  <a:pt x="96" y="18"/>
                </a:lnTo>
                <a:lnTo>
                  <a:pt x="96" y="21"/>
                </a:lnTo>
                <a:lnTo>
                  <a:pt x="96" y="24"/>
                </a:lnTo>
                <a:lnTo>
                  <a:pt x="96" y="28"/>
                </a:lnTo>
                <a:lnTo>
                  <a:pt x="96" y="33"/>
                </a:lnTo>
                <a:lnTo>
                  <a:pt x="94" y="36"/>
                </a:lnTo>
                <a:lnTo>
                  <a:pt x="94" y="38"/>
                </a:lnTo>
                <a:lnTo>
                  <a:pt x="92" y="41"/>
                </a:lnTo>
                <a:lnTo>
                  <a:pt x="91" y="44"/>
                </a:lnTo>
                <a:lnTo>
                  <a:pt x="89" y="48"/>
                </a:lnTo>
                <a:lnTo>
                  <a:pt x="87" y="51"/>
                </a:lnTo>
                <a:lnTo>
                  <a:pt x="92" y="51"/>
                </a:lnTo>
                <a:lnTo>
                  <a:pt x="94" y="48"/>
                </a:lnTo>
                <a:lnTo>
                  <a:pt x="96" y="44"/>
                </a:lnTo>
                <a:lnTo>
                  <a:pt x="96" y="41"/>
                </a:lnTo>
                <a:lnTo>
                  <a:pt x="97" y="38"/>
                </a:lnTo>
                <a:lnTo>
                  <a:pt x="97" y="34"/>
                </a:lnTo>
                <a:lnTo>
                  <a:pt x="99" y="31"/>
                </a:lnTo>
                <a:lnTo>
                  <a:pt x="99" y="28"/>
                </a:lnTo>
                <a:lnTo>
                  <a:pt x="99" y="24"/>
                </a:lnTo>
                <a:close/>
                <a:moveTo>
                  <a:pt x="8" y="0"/>
                </a:moveTo>
                <a:lnTo>
                  <a:pt x="6" y="1"/>
                </a:lnTo>
                <a:lnTo>
                  <a:pt x="4" y="4"/>
                </a:lnTo>
                <a:lnTo>
                  <a:pt x="3" y="8"/>
                </a:lnTo>
                <a:lnTo>
                  <a:pt x="1" y="11"/>
                </a:lnTo>
                <a:lnTo>
                  <a:pt x="1" y="14"/>
                </a:lnTo>
                <a:lnTo>
                  <a:pt x="1" y="18"/>
                </a:lnTo>
                <a:lnTo>
                  <a:pt x="0" y="21"/>
                </a:lnTo>
                <a:lnTo>
                  <a:pt x="0" y="24"/>
                </a:lnTo>
                <a:lnTo>
                  <a:pt x="0" y="28"/>
                </a:lnTo>
                <a:lnTo>
                  <a:pt x="0" y="31"/>
                </a:lnTo>
                <a:lnTo>
                  <a:pt x="1" y="34"/>
                </a:lnTo>
                <a:lnTo>
                  <a:pt x="1" y="38"/>
                </a:lnTo>
                <a:lnTo>
                  <a:pt x="3" y="41"/>
                </a:lnTo>
                <a:lnTo>
                  <a:pt x="4" y="44"/>
                </a:lnTo>
                <a:lnTo>
                  <a:pt x="4" y="48"/>
                </a:lnTo>
                <a:lnTo>
                  <a:pt x="6" y="51"/>
                </a:lnTo>
                <a:lnTo>
                  <a:pt x="11" y="51"/>
                </a:lnTo>
                <a:lnTo>
                  <a:pt x="9" y="48"/>
                </a:lnTo>
                <a:lnTo>
                  <a:pt x="8" y="44"/>
                </a:lnTo>
                <a:lnTo>
                  <a:pt x="6" y="41"/>
                </a:lnTo>
                <a:lnTo>
                  <a:pt x="4" y="38"/>
                </a:lnTo>
                <a:lnTo>
                  <a:pt x="4" y="36"/>
                </a:lnTo>
                <a:lnTo>
                  <a:pt x="4" y="33"/>
                </a:lnTo>
                <a:lnTo>
                  <a:pt x="3" y="28"/>
                </a:lnTo>
                <a:lnTo>
                  <a:pt x="3" y="24"/>
                </a:lnTo>
                <a:lnTo>
                  <a:pt x="3" y="21"/>
                </a:lnTo>
                <a:lnTo>
                  <a:pt x="4" y="18"/>
                </a:lnTo>
                <a:lnTo>
                  <a:pt x="4" y="14"/>
                </a:lnTo>
                <a:lnTo>
                  <a:pt x="4" y="11"/>
                </a:lnTo>
                <a:lnTo>
                  <a:pt x="6" y="8"/>
                </a:lnTo>
                <a:lnTo>
                  <a:pt x="8" y="4"/>
                </a:lnTo>
                <a:lnTo>
                  <a:pt x="9" y="1"/>
                </a:lnTo>
                <a:lnTo>
                  <a:pt x="11" y="0"/>
                </a:lnTo>
                <a:lnTo>
                  <a:pt x="8"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23" name="Freeform 1828">
            <a:extLst>
              <a:ext uri="{FF2B5EF4-FFF2-40B4-BE49-F238E27FC236}">
                <a16:creationId xmlns:a16="http://schemas.microsoft.com/office/drawing/2014/main" id="{72E85661-D0B0-7007-DC10-0EF11C353C56}"/>
              </a:ext>
            </a:extLst>
          </p:cNvPr>
          <p:cNvSpPr>
            <a:spLocks noEditPoints="1"/>
          </p:cNvSpPr>
          <p:nvPr/>
        </p:nvSpPr>
        <p:spPr bwMode="auto">
          <a:xfrm>
            <a:off x="2481263" y="2719388"/>
            <a:ext cx="152400" cy="80963"/>
          </a:xfrm>
          <a:custGeom>
            <a:avLst/>
            <a:gdLst>
              <a:gd name="T0" fmla="*/ 96 w 96"/>
              <a:gd name="T1" fmla="*/ 21 h 51"/>
              <a:gd name="T2" fmla="*/ 95 w 96"/>
              <a:gd name="T3" fmla="*/ 14 h 51"/>
              <a:gd name="T4" fmla="*/ 93 w 96"/>
              <a:gd name="T5" fmla="*/ 8 h 51"/>
              <a:gd name="T6" fmla="*/ 90 w 96"/>
              <a:gd name="T7" fmla="*/ 1 h 51"/>
              <a:gd name="T8" fmla="*/ 85 w 96"/>
              <a:gd name="T9" fmla="*/ 0 h 51"/>
              <a:gd name="T10" fmla="*/ 88 w 96"/>
              <a:gd name="T11" fmla="*/ 4 h 51"/>
              <a:gd name="T12" fmla="*/ 91 w 96"/>
              <a:gd name="T13" fmla="*/ 11 h 51"/>
              <a:gd name="T14" fmla="*/ 93 w 96"/>
              <a:gd name="T15" fmla="*/ 18 h 51"/>
              <a:gd name="T16" fmla="*/ 93 w 96"/>
              <a:gd name="T17" fmla="*/ 24 h 51"/>
              <a:gd name="T18" fmla="*/ 93 w 96"/>
              <a:gd name="T19" fmla="*/ 33 h 51"/>
              <a:gd name="T20" fmla="*/ 91 w 96"/>
              <a:gd name="T21" fmla="*/ 38 h 51"/>
              <a:gd name="T22" fmla="*/ 88 w 96"/>
              <a:gd name="T23" fmla="*/ 44 h 51"/>
              <a:gd name="T24" fmla="*/ 85 w 96"/>
              <a:gd name="T25" fmla="*/ 51 h 51"/>
              <a:gd name="T26" fmla="*/ 91 w 96"/>
              <a:gd name="T27" fmla="*/ 48 h 51"/>
              <a:gd name="T28" fmla="*/ 93 w 96"/>
              <a:gd name="T29" fmla="*/ 41 h 51"/>
              <a:gd name="T30" fmla="*/ 95 w 96"/>
              <a:gd name="T31" fmla="*/ 34 h 51"/>
              <a:gd name="T32" fmla="*/ 96 w 96"/>
              <a:gd name="T33" fmla="*/ 28 h 51"/>
              <a:gd name="T34" fmla="*/ 8 w 96"/>
              <a:gd name="T35" fmla="*/ 0 h 51"/>
              <a:gd name="T36" fmla="*/ 5 w 96"/>
              <a:gd name="T37" fmla="*/ 4 h 51"/>
              <a:gd name="T38" fmla="*/ 2 w 96"/>
              <a:gd name="T39" fmla="*/ 11 h 51"/>
              <a:gd name="T40" fmla="*/ 2 w 96"/>
              <a:gd name="T41" fmla="*/ 18 h 51"/>
              <a:gd name="T42" fmla="*/ 0 w 96"/>
              <a:gd name="T43" fmla="*/ 24 h 51"/>
              <a:gd name="T44" fmla="*/ 0 w 96"/>
              <a:gd name="T45" fmla="*/ 33 h 51"/>
              <a:gd name="T46" fmla="*/ 2 w 96"/>
              <a:gd name="T47" fmla="*/ 38 h 51"/>
              <a:gd name="T48" fmla="*/ 5 w 96"/>
              <a:gd name="T49" fmla="*/ 44 h 51"/>
              <a:gd name="T50" fmla="*/ 8 w 96"/>
              <a:gd name="T51" fmla="*/ 51 h 51"/>
              <a:gd name="T52" fmla="*/ 10 w 96"/>
              <a:gd name="T53" fmla="*/ 48 h 51"/>
              <a:gd name="T54" fmla="*/ 7 w 96"/>
              <a:gd name="T55" fmla="*/ 41 h 51"/>
              <a:gd name="T56" fmla="*/ 5 w 96"/>
              <a:gd name="T57" fmla="*/ 36 h 51"/>
              <a:gd name="T58" fmla="*/ 3 w 96"/>
              <a:gd name="T59" fmla="*/ 29 h 51"/>
              <a:gd name="T60" fmla="*/ 3 w 96"/>
              <a:gd name="T61" fmla="*/ 21 h 51"/>
              <a:gd name="T62" fmla="*/ 5 w 96"/>
              <a:gd name="T63" fmla="*/ 14 h 51"/>
              <a:gd name="T64" fmla="*/ 7 w 96"/>
              <a:gd name="T65" fmla="*/ 8 h 51"/>
              <a:gd name="T66" fmla="*/ 10 w 96"/>
              <a:gd name="T67" fmla="*/ 1 h 51"/>
              <a:gd name="T68" fmla="*/ 8 w 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6" h="51">
                <a:moveTo>
                  <a:pt x="96" y="24"/>
                </a:moveTo>
                <a:lnTo>
                  <a:pt x="96" y="21"/>
                </a:lnTo>
                <a:lnTo>
                  <a:pt x="96" y="18"/>
                </a:lnTo>
                <a:lnTo>
                  <a:pt x="95" y="14"/>
                </a:lnTo>
                <a:lnTo>
                  <a:pt x="95" y="11"/>
                </a:lnTo>
                <a:lnTo>
                  <a:pt x="93" y="8"/>
                </a:lnTo>
                <a:lnTo>
                  <a:pt x="91" y="4"/>
                </a:lnTo>
                <a:lnTo>
                  <a:pt x="90" y="1"/>
                </a:lnTo>
                <a:lnTo>
                  <a:pt x="88" y="0"/>
                </a:lnTo>
                <a:lnTo>
                  <a:pt x="85" y="0"/>
                </a:lnTo>
                <a:lnTo>
                  <a:pt x="86" y="1"/>
                </a:lnTo>
                <a:lnTo>
                  <a:pt x="88" y="4"/>
                </a:lnTo>
                <a:lnTo>
                  <a:pt x="90" y="8"/>
                </a:lnTo>
                <a:lnTo>
                  <a:pt x="91" y="11"/>
                </a:lnTo>
                <a:lnTo>
                  <a:pt x="91" y="14"/>
                </a:lnTo>
                <a:lnTo>
                  <a:pt x="93" y="18"/>
                </a:lnTo>
                <a:lnTo>
                  <a:pt x="93" y="21"/>
                </a:lnTo>
                <a:lnTo>
                  <a:pt x="93" y="24"/>
                </a:lnTo>
                <a:lnTo>
                  <a:pt x="93" y="29"/>
                </a:lnTo>
                <a:lnTo>
                  <a:pt x="93" y="33"/>
                </a:lnTo>
                <a:lnTo>
                  <a:pt x="91" y="36"/>
                </a:lnTo>
                <a:lnTo>
                  <a:pt x="91" y="38"/>
                </a:lnTo>
                <a:lnTo>
                  <a:pt x="90" y="41"/>
                </a:lnTo>
                <a:lnTo>
                  <a:pt x="88" y="44"/>
                </a:lnTo>
                <a:lnTo>
                  <a:pt x="86" y="48"/>
                </a:lnTo>
                <a:lnTo>
                  <a:pt x="85" y="51"/>
                </a:lnTo>
                <a:lnTo>
                  <a:pt x="90" y="51"/>
                </a:lnTo>
                <a:lnTo>
                  <a:pt x="91" y="48"/>
                </a:lnTo>
                <a:lnTo>
                  <a:pt x="91" y="44"/>
                </a:lnTo>
                <a:lnTo>
                  <a:pt x="93" y="41"/>
                </a:lnTo>
                <a:lnTo>
                  <a:pt x="95" y="38"/>
                </a:lnTo>
                <a:lnTo>
                  <a:pt x="95" y="34"/>
                </a:lnTo>
                <a:lnTo>
                  <a:pt x="96" y="33"/>
                </a:lnTo>
                <a:lnTo>
                  <a:pt x="96" y="28"/>
                </a:lnTo>
                <a:lnTo>
                  <a:pt x="96" y="24"/>
                </a:lnTo>
                <a:close/>
                <a:moveTo>
                  <a:pt x="8" y="0"/>
                </a:moveTo>
                <a:lnTo>
                  <a:pt x="7" y="1"/>
                </a:lnTo>
                <a:lnTo>
                  <a:pt x="5" y="4"/>
                </a:lnTo>
                <a:lnTo>
                  <a:pt x="3" y="8"/>
                </a:lnTo>
                <a:lnTo>
                  <a:pt x="2" y="11"/>
                </a:lnTo>
                <a:lnTo>
                  <a:pt x="2" y="14"/>
                </a:lnTo>
                <a:lnTo>
                  <a:pt x="2" y="18"/>
                </a:lnTo>
                <a:lnTo>
                  <a:pt x="0" y="21"/>
                </a:lnTo>
                <a:lnTo>
                  <a:pt x="0" y="24"/>
                </a:lnTo>
                <a:lnTo>
                  <a:pt x="0" y="28"/>
                </a:lnTo>
                <a:lnTo>
                  <a:pt x="0" y="33"/>
                </a:lnTo>
                <a:lnTo>
                  <a:pt x="2" y="34"/>
                </a:lnTo>
                <a:lnTo>
                  <a:pt x="2" y="38"/>
                </a:lnTo>
                <a:lnTo>
                  <a:pt x="3" y="41"/>
                </a:lnTo>
                <a:lnTo>
                  <a:pt x="5" y="44"/>
                </a:lnTo>
                <a:lnTo>
                  <a:pt x="7" y="48"/>
                </a:lnTo>
                <a:lnTo>
                  <a:pt x="8" y="51"/>
                </a:lnTo>
                <a:lnTo>
                  <a:pt x="12" y="51"/>
                </a:lnTo>
                <a:lnTo>
                  <a:pt x="10" y="48"/>
                </a:lnTo>
                <a:lnTo>
                  <a:pt x="8" y="44"/>
                </a:lnTo>
                <a:lnTo>
                  <a:pt x="7" y="41"/>
                </a:lnTo>
                <a:lnTo>
                  <a:pt x="5" y="38"/>
                </a:lnTo>
                <a:lnTo>
                  <a:pt x="5" y="36"/>
                </a:lnTo>
                <a:lnTo>
                  <a:pt x="5" y="33"/>
                </a:lnTo>
                <a:lnTo>
                  <a:pt x="3" y="29"/>
                </a:lnTo>
                <a:lnTo>
                  <a:pt x="3" y="24"/>
                </a:lnTo>
                <a:lnTo>
                  <a:pt x="3" y="21"/>
                </a:lnTo>
                <a:lnTo>
                  <a:pt x="5" y="18"/>
                </a:lnTo>
                <a:lnTo>
                  <a:pt x="5" y="14"/>
                </a:lnTo>
                <a:lnTo>
                  <a:pt x="7" y="11"/>
                </a:lnTo>
                <a:lnTo>
                  <a:pt x="7" y="8"/>
                </a:lnTo>
                <a:lnTo>
                  <a:pt x="8" y="4"/>
                </a:lnTo>
                <a:lnTo>
                  <a:pt x="10" y="1"/>
                </a:lnTo>
                <a:lnTo>
                  <a:pt x="12" y="0"/>
                </a:lnTo>
                <a:lnTo>
                  <a:pt x="8"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24" name="Freeform 1829">
            <a:extLst>
              <a:ext uri="{FF2B5EF4-FFF2-40B4-BE49-F238E27FC236}">
                <a16:creationId xmlns:a16="http://schemas.microsoft.com/office/drawing/2014/main" id="{73751DBF-2791-BDC5-12CC-B3299A0158DA}"/>
              </a:ext>
            </a:extLst>
          </p:cNvPr>
          <p:cNvSpPr>
            <a:spLocks noEditPoints="1"/>
          </p:cNvSpPr>
          <p:nvPr/>
        </p:nvSpPr>
        <p:spPr bwMode="auto">
          <a:xfrm>
            <a:off x="2484438" y="2719388"/>
            <a:ext cx="147638" cy="80963"/>
          </a:xfrm>
          <a:custGeom>
            <a:avLst/>
            <a:gdLst>
              <a:gd name="T0" fmla="*/ 93 w 93"/>
              <a:gd name="T1" fmla="*/ 21 h 51"/>
              <a:gd name="T2" fmla="*/ 91 w 93"/>
              <a:gd name="T3" fmla="*/ 14 h 51"/>
              <a:gd name="T4" fmla="*/ 89 w 93"/>
              <a:gd name="T5" fmla="*/ 8 h 51"/>
              <a:gd name="T6" fmla="*/ 86 w 93"/>
              <a:gd name="T7" fmla="*/ 1 h 51"/>
              <a:gd name="T8" fmla="*/ 81 w 93"/>
              <a:gd name="T9" fmla="*/ 0 h 51"/>
              <a:gd name="T10" fmla="*/ 84 w 93"/>
              <a:gd name="T11" fmla="*/ 4 h 51"/>
              <a:gd name="T12" fmla="*/ 88 w 93"/>
              <a:gd name="T13" fmla="*/ 11 h 51"/>
              <a:gd name="T14" fmla="*/ 89 w 93"/>
              <a:gd name="T15" fmla="*/ 18 h 51"/>
              <a:gd name="T16" fmla="*/ 89 w 93"/>
              <a:gd name="T17" fmla="*/ 24 h 51"/>
              <a:gd name="T18" fmla="*/ 89 w 93"/>
              <a:gd name="T19" fmla="*/ 33 h 51"/>
              <a:gd name="T20" fmla="*/ 88 w 93"/>
              <a:gd name="T21" fmla="*/ 39 h 51"/>
              <a:gd name="T22" fmla="*/ 84 w 93"/>
              <a:gd name="T23" fmla="*/ 44 h 51"/>
              <a:gd name="T24" fmla="*/ 81 w 93"/>
              <a:gd name="T25" fmla="*/ 51 h 51"/>
              <a:gd name="T26" fmla="*/ 86 w 93"/>
              <a:gd name="T27" fmla="*/ 48 h 51"/>
              <a:gd name="T28" fmla="*/ 89 w 93"/>
              <a:gd name="T29" fmla="*/ 41 h 51"/>
              <a:gd name="T30" fmla="*/ 91 w 93"/>
              <a:gd name="T31" fmla="*/ 36 h 51"/>
              <a:gd name="T32" fmla="*/ 93 w 93"/>
              <a:gd name="T33" fmla="*/ 28 h 51"/>
              <a:gd name="T34" fmla="*/ 8 w 93"/>
              <a:gd name="T35" fmla="*/ 0 h 51"/>
              <a:gd name="T36" fmla="*/ 5 w 93"/>
              <a:gd name="T37" fmla="*/ 4 h 51"/>
              <a:gd name="T38" fmla="*/ 1 w 93"/>
              <a:gd name="T39" fmla="*/ 11 h 51"/>
              <a:gd name="T40" fmla="*/ 1 w 93"/>
              <a:gd name="T41" fmla="*/ 18 h 51"/>
              <a:gd name="T42" fmla="*/ 0 w 93"/>
              <a:gd name="T43" fmla="*/ 24 h 51"/>
              <a:gd name="T44" fmla="*/ 1 w 93"/>
              <a:gd name="T45" fmla="*/ 33 h 51"/>
              <a:gd name="T46" fmla="*/ 1 w 93"/>
              <a:gd name="T47" fmla="*/ 38 h 51"/>
              <a:gd name="T48" fmla="*/ 5 w 93"/>
              <a:gd name="T49" fmla="*/ 44 h 51"/>
              <a:gd name="T50" fmla="*/ 8 w 93"/>
              <a:gd name="T51" fmla="*/ 51 h 51"/>
              <a:gd name="T52" fmla="*/ 10 w 93"/>
              <a:gd name="T53" fmla="*/ 48 h 51"/>
              <a:gd name="T54" fmla="*/ 6 w 93"/>
              <a:gd name="T55" fmla="*/ 41 h 51"/>
              <a:gd name="T56" fmla="*/ 5 w 93"/>
              <a:gd name="T57" fmla="*/ 36 h 51"/>
              <a:gd name="T58" fmla="*/ 3 w 93"/>
              <a:gd name="T59" fmla="*/ 29 h 51"/>
              <a:gd name="T60" fmla="*/ 3 w 93"/>
              <a:gd name="T61" fmla="*/ 21 h 51"/>
              <a:gd name="T62" fmla="*/ 5 w 93"/>
              <a:gd name="T63" fmla="*/ 14 h 51"/>
              <a:gd name="T64" fmla="*/ 6 w 93"/>
              <a:gd name="T65" fmla="*/ 8 h 51"/>
              <a:gd name="T66" fmla="*/ 10 w 93"/>
              <a:gd name="T67" fmla="*/ 1 h 51"/>
              <a:gd name="T68" fmla="*/ 8 w 9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3" h="51">
                <a:moveTo>
                  <a:pt x="93" y="24"/>
                </a:moveTo>
                <a:lnTo>
                  <a:pt x="93" y="21"/>
                </a:lnTo>
                <a:lnTo>
                  <a:pt x="93" y="18"/>
                </a:lnTo>
                <a:lnTo>
                  <a:pt x="91" y="14"/>
                </a:lnTo>
                <a:lnTo>
                  <a:pt x="91" y="11"/>
                </a:lnTo>
                <a:lnTo>
                  <a:pt x="89" y="8"/>
                </a:lnTo>
                <a:lnTo>
                  <a:pt x="88" y="4"/>
                </a:lnTo>
                <a:lnTo>
                  <a:pt x="86" y="1"/>
                </a:lnTo>
                <a:lnTo>
                  <a:pt x="84" y="0"/>
                </a:lnTo>
                <a:lnTo>
                  <a:pt x="81" y="0"/>
                </a:lnTo>
                <a:lnTo>
                  <a:pt x="83" y="1"/>
                </a:lnTo>
                <a:lnTo>
                  <a:pt x="84" y="4"/>
                </a:lnTo>
                <a:lnTo>
                  <a:pt x="86" y="8"/>
                </a:lnTo>
                <a:lnTo>
                  <a:pt x="88" y="11"/>
                </a:lnTo>
                <a:lnTo>
                  <a:pt x="88" y="14"/>
                </a:lnTo>
                <a:lnTo>
                  <a:pt x="89" y="18"/>
                </a:lnTo>
                <a:lnTo>
                  <a:pt x="89" y="21"/>
                </a:lnTo>
                <a:lnTo>
                  <a:pt x="89" y="24"/>
                </a:lnTo>
                <a:lnTo>
                  <a:pt x="89" y="29"/>
                </a:lnTo>
                <a:lnTo>
                  <a:pt x="89" y="33"/>
                </a:lnTo>
                <a:lnTo>
                  <a:pt x="88" y="36"/>
                </a:lnTo>
                <a:lnTo>
                  <a:pt x="88" y="39"/>
                </a:lnTo>
                <a:lnTo>
                  <a:pt x="86" y="41"/>
                </a:lnTo>
                <a:lnTo>
                  <a:pt x="84" y="44"/>
                </a:lnTo>
                <a:lnTo>
                  <a:pt x="83" y="48"/>
                </a:lnTo>
                <a:lnTo>
                  <a:pt x="81" y="51"/>
                </a:lnTo>
                <a:lnTo>
                  <a:pt x="84" y="51"/>
                </a:lnTo>
                <a:lnTo>
                  <a:pt x="86" y="48"/>
                </a:lnTo>
                <a:lnTo>
                  <a:pt x="88" y="44"/>
                </a:lnTo>
                <a:lnTo>
                  <a:pt x="89" y="41"/>
                </a:lnTo>
                <a:lnTo>
                  <a:pt x="91" y="38"/>
                </a:lnTo>
                <a:lnTo>
                  <a:pt x="91" y="36"/>
                </a:lnTo>
                <a:lnTo>
                  <a:pt x="93" y="33"/>
                </a:lnTo>
                <a:lnTo>
                  <a:pt x="93" y="28"/>
                </a:lnTo>
                <a:lnTo>
                  <a:pt x="93" y="24"/>
                </a:lnTo>
                <a:close/>
                <a:moveTo>
                  <a:pt x="8" y="0"/>
                </a:moveTo>
                <a:lnTo>
                  <a:pt x="6" y="1"/>
                </a:lnTo>
                <a:lnTo>
                  <a:pt x="5" y="4"/>
                </a:lnTo>
                <a:lnTo>
                  <a:pt x="3" y="8"/>
                </a:lnTo>
                <a:lnTo>
                  <a:pt x="1" y="11"/>
                </a:lnTo>
                <a:lnTo>
                  <a:pt x="1" y="14"/>
                </a:lnTo>
                <a:lnTo>
                  <a:pt x="1" y="18"/>
                </a:lnTo>
                <a:lnTo>
                  <a:pt x="0" y="21"/>
                </a:lnTo>
                <a:lnTo>
                  <a:pt x="0" y="24"/>
                </a:lnTo>
                <a:lnTo>
                  <a:pt x="0" y="28"/>
                </a:lnTo>
                <a:lnTo>
                  <a:pt x="1" y="33"/>
                </a:lnTo>
                <a:lnTo>
                  <a:pt x="1" y="36"/>
                </a:lnTo>
                <a:lnTo>
                  <a:pt x="1" y="38"/>
                </a:lnTo>
                <a:lnTo>
                  <a:pt x="3" y="41"/>
                </a:lnTo>
                <a:lnTo>
                  <a:pt x="5" y="44"/>
                </a:lnTo>
                <a:lnTo>
                  <a:pt x="6" y="48"/>
                </a:lnTo>
                <a:lnTo>
                  <a:pt x="8" y="51"/>
                </a:lnTo>
                <a:lnTo>
                  <a:pt x="11" y="51"/>
                </a:lnTo>
                <a:lnTo>
                  <a:pt x="10" y="48"/>
                </a:lnTo>
                <a:lnTo>
                  <a:pt x="8" y="44"/>
                </a:lnTo>
                <a:lnTo>
                  <a:pt x="6" y="41"/>
                </a:lnTo>
                <a:lnTo>
                  <a:pt x="5" y="39"/>
                </a:lnTo>
                <a:lnTo>
                  <a:pt x="5" y="36"/>
                </a:lnTo>
                <a:lnTo>
                  <a:pt x="5" y="33"/>
                </a:lnTo>
                <a:lnTo>
                  <a:pt x="3" y="29"/>
                </a:lnTo>
                <a:lnTo>
                  <a:pt x="3" y="24"/>
                </a:lnTo>
                <a:lnTo>
                  <a:pt x="3" y="21"/>
                </a:lnTo>
                <a:lnTo>
                  <a:pt x="5" y="18"/>
                </a:lnTo>
                <a:lnTo>
                  <a:pt x="5" y="14"/>
                </a:lnTo>
                <a:lnTo>
                  <a:pt x="6" y="11"/>
                </a:lnTo>
                <a:lnTo>
                  <a:pt x="6" y="8"/>
                </a:lnTo>
                <a:lnTo>
                  <a:pt x="8" y="4"/>
                </a:lnTo>
                <a:lnTo>
                  <a:pt x="10" y="1"/>
                </a:lnTo>
                <a:lnTo>
                  <a:pt x="13" y="0"/>
                </a:lnTo>
                <a:lnTo>
                  <a:pt x="8"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25" name="Freeform 1830">
            <a:extLst>
              <a:ext uri="{FF2B5EF4-FFF2-40B4-BE49-F238E27FC236}">
                <a16:creationId xmlns:a16="http://schemas.microsoft.com/office/drawing/2014/main" id="{F46F3A2D-8B3D-19DA-9665-874562D5C7CE}"/>
              </a:ext>
            </a:extLst>
          </p:cNvPr>
          <p:cNvSpPr>
            <a:spLocks noEditPoints="1"/>
          </p:cNvSpPr>
          <p:nvPr/>
        </p:nvSpPr>
        <p:spPr bwMode="auto">
          <a:xfrm>
            <a:off x="2486025" y="2719388"/>
            <a:ext cx="142875" cy="80963"/>
          </a:xfrm>
          <a:custGeom>
            <a:avLst/>
            <a:gdLst>
              <a:gd name="T0" fmla="*/ 90 w 90"/>
              <a:gd name="T1" fmla="*/ 21 h 51"/>
              <a:gd name="T2" fmla="*/ 88 w 90"/>
              <a:gd name="T3" fmla="*/ 14 h 51"/>
              <a:gd name="T4" fmla="*/ 87 w 90"/>
              <a:gd name="T5" fmla="*/ 8 h 51"/>
              <a:gd name="T6" fmla="*/ 83 w 90"/>
              <a:gd name="T7" fmla="*/ 1 h 51"/>
              <a:gd name="T8" fmla="*/ 77 w 90"/>
              <a:gd name="T9" fmla="*/ 0 h 51"/>
              <a:gd name="T10" fmla="*/ 82 w 90"/>
              <a:gd name="T11" fmla="*/ 4 h 51"/>
              <a:gd name="T12" fmla="*/ 83 w 90"/>
              <a:gd name="T13" fmla="*/ 11 h 51"/>
              <a:gd name="T14" fmla="*/ 87 w 90"/>
              <a:gd name="T15" fmla="*/ 18 h 51"/>
              <a:gd name="T16" fmla="*/ 87 w 90"/>
              <a:gd name="T17" fmla="*/ 24 h 51"/>
              <a:gd name="T18" fmla="*/ 87 w 90"/>
              <a:gd name="T19" fmla="*/ 33 h 51"/>
              <a:gd name="T20" fmla="*/ 85 w 90"/>
              <a:gd name="T21" fmla="*/ 39 h 51"/>
              <a:gd name="T22" fmla="*/ 82 w 90"/>
              <a:gd name="T23" fmla="*/ 44 h 51"/>
              <a:gd name="T24" fmla="*/ 78 w 90"/>
              <a:gd name="T25" fmla="*/ 51 h 51"/>
              <a:gd name="T26" fmla="*/ 83 w 90"/>
              <a:gd name="T27" fmla="*/ 48 h 51"/>
              <a:gd name="T28" fmla="*/ 87 w 90"/>
              <a:gd name="T29" fmla="*/ 41 h 51"/>
              <a:gd name="T30" fmla="*/ 88 w 90"/>
              <a:gd name="T31" fmla="*/ 36 h 51"/>
              <a:gd name="T32" fmla="*/ 90 w 90"/>
              <a:gd name="T33" fmla="*/ 29 h 51"/>
              <a:gd name="T34" fmla="*/ 9 w 90"/>
              <a:gd name="T35" fmla="*/ 0 h 51"/>
              <a:gd name="T36" fmla="*/ 5 w 90"/>
              <a:gd name="T37" fmla="*/ 4 h 51"/>
              <a:gd name="T38" fmla="*/ 4 w 90"/>
              <a:gd name="T39" fmla="*/ 11 h 51"/>
              <a:gd name="T40" fmla="*/ 2 w 90"/>
              <a:gd name="T41" fmla="*/ 18 h 51"/>
              <a:gd name="T42" fmla="*/ 0 w 90"/>
              <a:gd name="T43" fmla="*/ 24 h 51"/>
              <a:gd name="T44" fmla="*/ 2 w 90"/>
              <a:gd name="T45" fmla="*/ 33 h 51"/>
              <a:gd name="T46" fmla="*/ 2 w 90"/>
              <a:gd name="T47" fmla="*/ 38 h 51"/>
              <a:gd name="T48" fmla="*/ 5 w 90"/>
              <a:gd name="T49" fmla="*/ 44 h 51"/>
              <a:gd name="T50" fmla="*/ 9 w 90"/>
              <a:gd name="T51" fmla="*/ 51 h 51"/>
              <a:gd name="T52" fmla="*/ 10 w 90"/>
              <a:gd name="T53" fmla="*/ 48 h 51"/>
              <a:gd name="T54" fmla="*/ 7 w 90"/>
              <a:gd name="T55" fmla="*/ 41 h 51"/>
              <a:gd name="T56" fmla="*/ 5 w 90"/>
              <a:gd name="T57" fmla="*/ 36 h 51"/>
              <a:gd name="T58" fmla="*/ 4 w 90"/>
              <a:gd name="T59" fmla="*/ 29 h 51"/>
              <a:gd name="T60" fmla="*/ 4 w 90"/>
              <a:gd name="T61" fmla="*/ 21 h 51"/>
              <a:gd name="T62" fmla="*/ 5 w 90"/>
              <a:gd name="T63" fmla="*/ 14 h 51"/>
              <a:gd name="T64" fmla="*/ 7 w 90"/>
              <a:gd name="T65" fmla="*/ 8 h 51"/>
              <a:gd name="T66" fmla="*/ 12 w 90"/>
              <a:gd name="T67" fmla="*/ 1 h 51"/>
              <a:gd name="T68" fmla="*/ 9 w 9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0" h="51">
                <a:moveTo>
                  <a:pt x="90" y="24"/>
                </a:moveTo>
                <a:lnTo>
                  <a:pt x="90" y="21"/>
                </a:lnTo>
                <a:lnTo>
                  <a:pt x="90" y="18"/>
                </a:lnTo>
                <a:lnTo>
                  <a:pt x="88" y="14"/>
                </a:lnTo>
                <a:lnTo>
                  <a:pt x="88" y="11"/>
                </a:lnTo>
                <a:lnTo>
                  <a:pt x="87" y="8"/>
                </a:lnTo>
                <a:lnTo>
                  <a:pt x="85" y="4"/>
                </a:lnTo>
                <a:lnTo>
                  <a:pt x="83" y="1"/>
                </a:lnTo>
                <a:lnTo>
                  <a:pt x="82" y="0"/>
                </a:lnTo>
                <a:lnTo>
                  <a:pt x="77" y="0"/>
                </a:lnTo>
                <a:lnTo>
                  <a:pt x="80" y="1"/>
                </a:lnTo>
                <a:lnTo>
                  <a:pt x="82" y="4"/>
                </a:lnTo>
                <a:lnTo>
                  <a:pt x="83" y="8"/>
                </a:lnTo>
                <a:lnTo>
                  <a:pt x="83" y="11"/>
                </a:lnTo>
                <a:lnTo>
                  <a:pt x="85" y="14"/>
                </a:lnTo>
                <a:lnTo>
                  <a:pt x="87" y="18"/>
                </a:lnTo>
                <a:lnTo>
                  <a:pt x="87" y="21"/>
                </a:lnTo>
                <a:lnTo>
                  <a:pt x="87" y="24"/>
                </a:lnTo>
                <a:lnTo>
                  <a:pt x="87" y="29"/>
                </a:lnTo>
                <a:lnTo>
                  <a:pt x="87" y="33"/>
                </a:lnTo>
                <a:lnTo>
                  <a:pt x="85" y="36"/>
                </a:lnTo>
                <a:lnTo>
                  <a:pt x="85" y="39"/>
                </a:lnTo>
                <a:lnTo>
                  <a:pt x="83" y="41"/>
                </a:lnTo>
                <a:lnTo>
                  <a:pt x="82" y="44"/>
                </a:lnTo>
                <a:lnTo>
                  <a:pt x="80" y="48"/>
                </a:lnTo>
                <a:lnTo>
                  <a:pt x="78" y="51"/>
                </a:lnTo>
                <a:lnTo>
                  <a:pt x="82" y="51"/>
                </a:lnTo>
                <a:lnTo>
                  <a:pt x="83" y="48"/>
                </a:lnTo>
                <a:lnTo>
                  <a:pt x="85" y="44"/>
                </a:lnTo>
                <a:lnTo>
                  <a:pt x="87" y="41"/>
                </a:lnTo>
                <a:lnTo>
                  <a:pt x="88" y="38"/>
                </a:lnTo>
                <a:lnTo>
                  <a:pt x="88" y="36"/>
                </a:lnTo>
                <a:lnTo>
                  <a:pt x="90" y="33"/>
                </a:lnTo>
                <a:lnTo>
                  <a:pt x="90" y="29"/>
                </a:lnTo>
                <a:lnTo>
                  <a:pt x="90" y="24"/>
                </a:lnTo>
                <a:close/>
                <a:moveTo>
                  <a:pt x="9" y="0"/>
                </a:moveTo>
                <a:lnTo>
                  <a:pt x="7" y="1"/>
                </a:lnTo>
                <a:lnTo>
                  <a:pt x="5" y="4"/>
                </a:lnTo>
                <a:lnTo>
                  <a:pt x="4" y="8"/>
                </a:lnTo>
                <a:lnTo>
                  <a:pt x="4" y="11"/>
                </a:lnTo>
                <a:lnTo>
                  <a:pt x="2" y="14"/>
                </a:lnTo>
                <a:lnTo>
                  <a:pt x="2" y="18"/>
                </a:lnTo>
                <a:lnTo>
                  <a:pt x="0" y="21"/>
                </a:lnTo>
                <a:lnTo>
                  <a:pt x="0" y="24"/>
                </a:lnTo>
                <a:lnTo>
                  <a:pt x="0" y="29"/>
                </a:lnTo>
                <a:lnTo>
                  <a:pt x="2" y="33"/>
                </a:lnTo>
                <a:lnTo>
                  <a:pt x="2" y="36"/>
                </a:lnTo>
                <a:lnTo>
                  <a:pt x="2" y="38"/>
                </a:lnTo>
                <a:lnTo>
                  <a:pt x="4" y="41"/>
                </a:lnTo>
                <a:lnTo>
                  <a:pt x="5" y="44"/>
                </a:lnTo>
                <a:lnTo>
                  <a:pt x="7" y="48"/>
                </a:lnTo>
                <a:lnTo>
                  <a:pt x="9" y="51"/>
                </a:lnTo>
                <a:lnTo>
                  <a:pt x="12" y="51"/>
                </a:lnTo>
                <a:lnTo>
                  <a:pt x="10" y="48"/>
                </a:lnTo>
                <a:lnTo>
                  <a:pt x="9" y="44"/>
                </a:lnTo>
                <a:lnTo>
                  <a:pt x="7" y="41"/>
                </a:lnTo>
                <a:lnTo>
                  <a:pt x="7" y="39"/>
                </a:lnTo>
                <a:lnTo>
                  <a:pt x="5" y="36"/>
                </a:lnTo>
                <a:lnTo>
                  <a:pt x="5" y="33"/>
                </a:lnTo>
                <a:lnTo>
                  <a:pt x="4" y="29"/>
                </a:lnTo>
                <a:lnTo>
                  <a:pt x="4" y="24"/>
                </a:lnTo>
                <a:lnTo>
                  <a:pt x="4" y="21"/>
                </a:lnTo>
                <a:lnTo>
                  <a:pt x="5" y="18"/>
                </a:lnTo>
                <a:lnTo>
                  <a:pt x="5" y="14"/>
                </a:lnTo>
                <a:lnTo>
                  <a:pt x="7" y="11"/>
                </a:lnTo>
                <a:lnTo>
                  <a:pt x="7" y="8"/>
                </a:lnTo>
                <a:lnTo>
                  <a:pt x="9" y="4"/>
                </a:lnTo>
                <a:lnTo>
                  <a:pt x="12" y="1"/>
                </a:lnTo>
                <a:lnTo>
                  <a:pt x="14" y="0"/>
                </a:lnTo>
                <a:lnTo>
                  <a:pt x="9"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26" name="Freeform 1831">
            <a:extLst>
              <a:ext uri="{FF2B5EF4-FFF2-40B4-BE49-F238E27FC236}">
                <a16:creationId xmlns:a16="http://schemas.microsoft.com/office/drawing/2014/main" id="{E1DB8A28-66EF-656D-FD58-2995BF18D543}"/>
              </a:ext>
            </a:extLst>
          </p:cNvPr>
          <p:cNvSpPr>
            <a:spLocks noEditPoints="1"/>
          </p:cNvSpPr>
          <p:nvPr/>
        </p:nvSpPr>
        <p:spPr bwMode="auto">
          <a:xfrm>
            <a:off x="2489200" y="2719388"/>
            <a:ext cx="136525" cy="80963"/>
          </a:xfrm>
          <a:custGeom>
            <a:avLst/>
            <a:gdLst>
              <a:gd name="T0" fmla="*/ 86 w 86"/>
              <a:gd name="T1" fmla="*/ 21 h 51"/>
              <a:gd name="T2" fmla="*/ 85 w 86"/>
              <a:gd name="T3" fmla="*/ 14 h 51"/>
              <a:gd name="T4" fmla="*/ 83 w 86"/>
              <a:gd name="T5" fmla="*/ 8 h 51"/>
              <a:gd name="T6" fmla="*/ 80 w 86"/>
              <a:gd name="T7" fmla="*/ 1 h 51"/>
              <a:gd name="T8" fmla="*/ 73 w 86"/>
              <a:gd name="T9" fmla="*/ 0 h 51"/>
              <a:gd name="T10" fmla="*/ 78 w 86"/>
              <a:gd name="T11" fmla="*/ 4 h 51"/>
              <a:gd name="T12" fmla="*/ 80 w 86"/>
              <a:gd name="T13" fmla="*/ 11 h 51"/>
              <a:gd name="T14" fmla="*/ 83 w 86"/>
              <a:gd name="T15" fmla="*/ 18 h 51"/>
              <a:gd name="T16" fmla="*/ 83 w 86"/>
              <a:gd name="T17" fmla="*/ 24 h 51"/>
              <a:gd name="T18" fmla="*/ 83 w 86"/>
              <a:gd name="T19" fmla="*/ 33 h 51"/>
              <a:gd name="T20" fmla="*/ 81 w 86"/>
              <a:gd name="T21" fmla="*/ 39 h 51"/>
              <a:gd name="T22" fmla="*/ 78 w 86"/>
              <a:gd name="T23" fmla="*/ 44 h 51"/>
              <a:gd name="T24" fmla="*/ 75 w 86"/>
              <a:gd name="T25" fmla="*/ 51 h 51"/>
              <a:gd name="T26" fmla="*/ 80 w 86"/>
              <a:gd name="T27" fmla="*/ 48 h 51"/>
              <a:gd name="T28" fmla="*/ 83 w 86"/>
              <a:gd name="T29" fmla="*/ 41 h 51"/>
              <a:gd name="T30" fmla="*/ 85 w 86"/>
              <a:gd name="T31" fmla="*/ 36 h 51"/>
              <a:gd name="T32" fmla="*/ 86 w 86"/>
              <a:gd name="T33" fmla="*/ 29 h 51"/>
              <a:gd name="T34" fmla="*/ 10 w 86"/>
              <a:gd name="T35" fmla="*/ 0 h 51"/>
              <a:gd name="T36" fmla="*/ 5 w 86"/>
              <a:gd name="T37" fmla="*/ 4 h 51"/>
              <a:gd name="T38" fmla="*/ 3 w 86"/>
              <a:gd name="T39" fmla="*/ 11 h 51"/>
              <a:gd name="T40" fmla="*/ 2 w 86"/>
              <a:gd name="T41" fmla="*/ 18 h 51"/>
              <a:gd name="T42" fmla="*/ 0 w 86"/>
              <a:gd name="T43" fmla="*/ 24 h 51"/>
              <a:gd name="T44" fmla="*/ 2 w 86"/>
              <a:gd name="T45" fmla="*/ 33 h 51"/>
              <a:gd name="T46" fmla="*/ 2 w 86"/>
              <a:gd name="T47" fmla="*/ 39 h 51"/>
              <a:gd name="T48" fmla="*/ 5 w 86"/>
              <a:gd name="T49" fmla="*/ 44 h 51"/>
              <a:gd name="T50" fmla="*/ 8 w 86"/>
              <a:gd name="T51" fmla="*/ 51 h 51"/>
              <a:gd name="T52" fmla="*/ 10 w 86"/>
              <a:gd name="T53" fmla="*/ 48 h 51"/>
              <a:gd name="T54" fmla="*/ 7 w 86"/>
              <a:gd name="T55" fmla="*/ 41 h 51"/>
              <a:gd name="T56" fmla="*/ 5 w 86"/>
              <a:gd name="T57" fmla="*/ 36 h 51"/>
              <a:gd name="T58" fmla="*/ 3 w 86"/>
              <a:gd name="T59" fmla="*/ 29 h 51"/>
              <a:gd name="T60" fmla="*/ 3 w 86"/>
              <a:gd name="T61" fmla="*/ 21 h 51"/>
              <a:gd name="T62" fmla="*/ 5 w 86"/>
              <a:gd name="T63" fmla="*/ 14 h 51"/>
              <a:gd name="T64" fmla="*/ 8 w 86"/>
              <a:gd name="T65" fmla="*/ 8 h 51"/>
              <a:gd name="T66" fmla="*/ 12 w 86"/>
              <a:gd name="T67" fmla="*/ 1 h 51"/>
              <a:gd name="T68" fmla="*/ 10 w 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86" h="51">
                <a:moveTo>
                  <a:pt x="86" y="24"/>
                </a:moveTo>
                <a:lnTo>
                  <a:pt x="86" y="21"/>
                </a:lnTo>
                <a:lnTo>
                  <a:pt x="86" y="18"/>
                </a:lnTo>
                <a:lnTo>
                  <a:pt x="85" y="14"/>
                </a:lnTo>
                <a:lnTo>
                  <a:pt x="85" y="11"/>
                </a:lnTo>
                <a:lnTo>
                  <a:pt x="83" y="8"/>
                </a:lnTo>
                <a:lnTo>
                  <a:pt x="81" y="4"/>
                </a:lnTo>
                <a:lnTo>
                  <a:pt x="80" y="1"/>
                </a:lnTo>
                <a:lnTo>
                  <a:pt x="78" y="0"/>
                </a:lnTo>
                <a:lnTo>
                  <a:pt x="73" y="0"/>
                </a:lnTo>
                <a:lnTo>
                  <a:pt x="75" y="1"/>
                </a:lnTo>
                <a:lnTo>
                  <a:pt x="78" y="4"/>
                </a:lnTo>
                <a:lnTo>
                  <a:pt x="80" y="8"/>
                </a:lnTo>
                <a:lnTo>
                  <a:pt x="80" y="11"/>
                </a:lnTo>
                <a:lnTo>
                  <a:pt x="81" y="14"/>
                </a:lnTo>
                <a:lnTo>
                  <a:pt x="83" y="18"/>
                </a:lnTo>
                <a:lnTo>
                  <a:pt x="83" y="21"/>
                </a:lnTo>
                <a:lnTo>
                  <a:pt x="83" y="24"/>
                </a:lnTo>
                <a:lnTo>
                  <a:pt x="83" y="29"/>
                </a:lnTo>
                <a:lnTo>
                  <a:pt x="83" y="33"/>
                </a:lnTo>
                <a:lnTo>
                  <a:pt x="81" y="36"/>
                </a:lnTo>
                <a:lnTo>
                  <a:pt x="81" y="39"/>
                </a:lnTo>
                <a:lnTo>
                  <a:pt x="80" y="41"/>
                </a:lnTo>
                <a:lnTo>
                  <a:pt x="78" y="44"/>
                </a:lnTo>
                <a:lnTo>
                  <a:pt x="76" y="48"/>
                </a:lnTo>
                <a:lnTo>
                  <a:pt x="75" y="51"/>
                </a:lnTo>
                <a:lnTo>
                  <a:pt x="78" y="51"/>
                </a:lnTo>
                <a:lnTo>
                  <a:pt x="80" y="48"/>
                </a:lnTo>
                <a:lnTo>
                  <a:pt x="81" y="44"/>
                </a:lnTo>
                <a:lnTo>
                  <a:pt x="83" y="41"/>
                </a:lnTo>
                <a:lnTo>
                  <a:pt x="85" y="39"/>
                </a:lnTo>
                <a:lnTo>
                  <a:pt x="85" y="36"/>
                </a:lnTo>
                <a:lnTo>
                  <a:pt x="86" y="33"/>
                </a:lnTo>
                <a:lnTo>
                  <a:pt x="86" y="29"/>
                </a:lnTo>
                <a:lnTo>
                  <a:pt x="86" y="24"/>
                </a:lnTo>
                <a:close/>
                <a:moveTo>
                  <a:pt x="10" y="0"/>
                </a:moveTo>
                <a:lnTo>
                  <a:pt x="7" y="1"/>
                </a:lnTo>
                <a:lnTo>
                  <a:pt x="5" y="4"/>
                </a:lnTo>
                <a:lnTo>
                  <a:pt x="3" y="8"/>
                </a:lnTo>
                <a:lnTo>
                  <a:pt x="3" y="11"/>
                </a:lnTo>
                <a:lnTo>
                  <a:pt x="2" y="14"/>
                </a:lnTo>
                <a:lnTo>
                  <a:pt x="2" y="18"/>
                </a:lnTo>
                <a:lnTo>
                  <a:pt x="0" y="21"/>
                </a:lnTo>
                <a:lnTo>
                  <a:pt x="0" y="24"/>
                </a:lnTo>
                <a:lnTo>
                  <a:pt x="0" y="29"/>
                </a:lnTo>
                <a:lnTo>
                  <a:pt x="2" y="33"/>
                </a:lnTo>
                <a:lnTo>
                  <a:pt x="2" y="36"/>
                </a:lnTo>
                <a:lnTo>
                  <a:pt x="2" y="39"/>
                </a:lnTo>
                <a:lnTo>
                  <a:pt x="3" y="41"/>
                </a:lnTo>
                <a:lnTo>
                  <a:pt x="5" y="44"/>
                </a:lnTo>
                <a:lnTo>
                  <a:pt x="7" y="48"/>
                </a:lnTo>
                <a:lnTo>
                  <a:pt x="8" y="51"/>
                </a:lnTo>
                <a:lnTo>
                  <a:pt x="13" y="51"/>
                </a:lnTo>
                <a:lnTo>
                  <a:pt x="10" y="48"/>
                </a:lnTo>
                <a:lnTo>
                  <a:pt x="8" y="44"/>
                </a:lnTo>
                <a:lnTo>
                  <a:pt x="7" y="41"/>
                </a:lnTo>
                <a:lnTo>
                  <a:pt x="7" y="39"/>
                </a:lnTo>
                <a:lnTo>
                  <a:pt x="5" y="36"/>
                </a:lnTo>
                <a:lnTo>
                  <a:pt x="5" y="33"/>
                </a:lnTo>
                <a:lnTo>
                  <a:pt x="3" y="29"/>
                </a:lnTo>
                <a:lnTo>
                  <a:pt x="3" y="24"/>
                </a:lnTo>
                <a:lnTo>
                  <a:pt x="3" y="21"/>
                </a:lnTo>
                <a:lnTo>
                  <a:pt x="5" y="18"/>
                </a:lnTo>
                <a:lnTo>
                  <a:pt x="5" y="14"/>
                </a:lnTo>
                <a:lnTo>
                  <a:pt x="7" y="11"/>
                </a:lnTo>
                <a:lnTo>
                  <a:pt x="8" y="8"/>
                </a:lnTo>
                <a:lnTo>
                  <a:pt x="10" y="4"/>
                </a:lnTo>
                <a:lnTo>
                  <a:pt x="12" y="1"/>
                </a:lnTo>
                <a:lnTo>
                  <a:pt x="13" y="0"/>
                </a:lnTo>
                <a:lnTo>
                  <a:pt x="10"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27" name="Freeform 1832">
            <a:extLst>
              <a:ext uri="{FF2B5EF4-FFF2-40B4-BE49-F238E27FC236}">
                <a16:creationId xmlns:a16="http://schemas.microsoft.com/office/drawing/2014/main" id="{99BE6205-2960-991F-13C4-D0F20E8BC558}"/>
              </a:ext>
            </a:extLst>
          </p:cNvPr>
          <p:cNvSpPr>
            <a:spLocks noEditPoints="1"/>
          </p:cNvSpPr>
          <p:nvPr/>
        </p:nvSpPr>
        <p:spPr bwMode="auto">
          <a:xfrm>
            <a:off x="2492375" y="2719388"/>
            <a:ext cx="131763" cy="80963"/>
          </a:xfrm>
          <a:custGeom>
            <a:avLst/>
            <a:gdLst>
              <a:gd name="T0" fmla="*/ 83 w 83"/>
              <a:gd name="T1" fmla="*/ 21 h 51"/>
              <a:gd name="T2" fmla="*/ 81 w 83"/>
              <a:gd name="T3" fmla="*/ 14 h 51"/>
              <a:gd name="T4" fmla="*/ 79 w 83"/>
              <a:gd name="T5" fmla="*/ 8 h 51"/>
              <a:gd name="T6" fmla="*/ 76 w 83"/>
              <a:gd name="T7" fmla="*/ 1 h 51"/>
              <a:gd name="T8" fmla="*/ 69 w 83"/>
              <a:gd name="T9" fmla="*/ 0 h 51"/>
              <a:gd name="T10" fmla="*/ 73 w 83"/>
              <a:gd name="T11" fmla="*/ 4 h 51"/>
              <a:gd name="T12" fmla="*/ 76 w 83"/>
              <a:gd name="T13" fmla="*/ 11 h 51"/>
              <a:gd name="T14" fmla="*/ 79 w 83"/>
              <a:gd name="T15" fmla="*/ 18 h 51"/>
              <a:gd name="T16" fmla="*/ 79 w 83"/>
              <a:gd name="T17" fmla="*/ 24 h 51"/>
              <a:gd name="T18" fmla="*/ 79 w 83"/>
              <a:gd name="T19" fmla="*/ 33 h 51"/>
              <a:gd name="T20" fmla="*/ 76 w 83"/>
              <a:gd name="T21" fmla="*/ 39 h 51"/>
              <a:gd name="T22" fmla="*/ 74 w 83"/>
              <a:gd name="T23" fmla="*/ 44 h 51"/>
              <a:gd name="T24" fmla="*/ 69 w 83"/>
              <a:gd name="T25" fmla="*/ 51 h 51"/>
              <a:gd name="T26" fmla="*/ 76 w 83"/>
              <a:gd name="T27" fmla="*/ 48 h 51"/>
              <a:gd name="T28" fmla="*/ 79 w 83"/>
              <a:gd name="T29" fmla="*/ 41 h 51"/>
              <a:gd name="T30" fmla="*/ 81 w 83"/>
              <a:gd name="T31" fmla="*/ 36 h 51"/>
              <a:gd name="T32" fmla="*/ 83 w 83"/>
              <a:gd name="T33" fmla="*/ 29 h 51"/>
              <a:gd name="T34" fmla="*/ 10 w 83"/>
              <a:gd name="T35" fmla="*/ 0 h 51"/>
              <a:gd name="T36" fmla="*/ 5 w 83"/>
              <a:gd name="T37" fmla="*/ 4 h 51"/>
              <a:gd name="T38" fmla="*/ 3 w 83"/>
              <a:gd name="T39" fmla="*/ 11 h 51"/>
              <a:gd name="T40" fmla="*/ 1 w 83"/>
              <a:gd name="T41" fmla="*/ 18 h 51"/>
              <a:gd name="T42" fmla="*/ 0 w 83"/>
              <a:gd name="T43" fmla="*/ 24 h 51"/>
              <a:gd name="T44" fmla="*/ 1 w 83"/>
              <a:gd name="T45" fmla="*/ 33 h 51"/>
              <a:gd name="T46" fmla="*/ 3 w 83"/>
              <a:gd name="T47" fmla="*/ 39 h 51"/>
              <a:gd name="T48" fmla="*/ 5 w 83"/>
              <a:gd name="T49" fmla="*/ 44 h 51"/>
              <a:gd name="T50" fmla="*/ 8 w 83"/>
              <a:gd name="T51" fmla="*/ 51 h 51"/>
              <a:gd name="T52" fmla="*/ 11 w 83"/>
              <a:gd name="T53" fmla="*/ 48 h 51"/>
              <a:gd name="T54" fmla="*/ 8 w 83"/>
              <a:gd name="T55" fmla="*/ 43 h 51"/>
              <a:gd name="T56" fmla="*/ 5 w 83"/>
              <a:gd name="T57" fmla="*/ 36 h 51"/>
              <a:gd name="T58" fmla="*/ 3 w 83"/>
              <a:gd name="T59" fmla="*/ 29 h 51"/>
              <a:gd name="T60" fmla="*/ 3 w 83"/>
              <a:gd name="T61" fmla="*/ 21 h 51"/>
              <a:gd name="T62" fmla="*/ 5 w 83"/>
              <a:gd name="T63" fmla="*/ 14 h 51"/>
              <a:gd name="T64" fmla="*/ 8 w 83"/>
              <a:gd name="T65" fmla="*/ 8 h 51"/>
              <a:gd name="T66" fmla="*/ 11 w 83"/>
              <a:gd name="T67" fmla="*/ 1 h 51"/>
              <a:gd name="T68" fmla="*/ 10 w 8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83" h="51">
                <a:moveTo>
                  <a:pt x="83" y="24"/>
                </a:moveTo>
                <a:lnTo>
                  <a:pt x="83" y="21"/>
                </a:lnTo>
                <a:lnTo>
                  <a:pt x="83" y="18"/>
                </a:lnTo>
                <a:lnTo>
                  <a:pt x="81" y="14"/>
                </a:lnTo>
                <a:lnTo>
                  <a:pt x="79" y="11"/>
                </a:lnTo>
                <a:lnTo>
                  <a:pt x="79" y="8"/>
                </a:lnTo>
                <a:lnTo>
                  <a:pt x="78" y="4"/>
                </a:lnTo>
                <a:lnTo>
                  <a:pt x="76" y="1"/>
                </a:lnTo>
                <a:lnTo>
                  <a:pt x="73" y="0"/>
                </a:lnTo>
                <a:lnTo>
                  <a:pt x="69" y="0"/>
                </a:lnTo>
                <a:lnTo>
                  <a:pt x="71" y="1"/>
                </a:lnTo>
                <a:lnTo>
                  <a:pt x="73" y="4"/>
                </a:lnTo>
                <a:lnTo>
                  <a:pt x="74" y="8"/>
                </a:lnTo>
                <a:lnTo>
                  <a:pt x="76" y="11"/>
                </a:lnTo>
                <a:lnTo>
                  <a:pt x="78" y="14"/>
                </a:lnTo>
                <a:lnTo>
                  <a:pt x="79" y="18"/>
                </a:lnTo>
                <a:lnTo>
                  <a:pt x="79" y="21"/>
                </a:lnTo>
                <a:lnTo>
                  <a:pt x="79" y="24"/>
                </a:lnTo>
                <a:lnTo>
                  <a:pt x="79" y="29"/>
                </a:lnTo>
                <a:lnTo>
                  <a:pt x="79" y="33"/>
                </a:lnTo>
                <a:lnTo>
                  <a:pt x="78" y="36"/>
                </a:lnTo>
                <a:lnTo>
                  <a:pt x="76" y="39"/>
                </a:lnTo>
                <a:lnTo>
                  <a:pt x="76" y="43"/>
                </a:lnTo>
                <a:lnTo>
                  <a:pt x="74" y="44"/>
                </a:lnTo>
                <a:lnTo>
                  <a:pt x="73" y="48"/>
                </a:lnTo>
                <a:lnTo>
                  <a:pt x="69" y="51"/>
                </a:lnTo>
                <a:lnTo>
                  <a:pt x="74" y="51"/>
                </a:lnTo>
                <a:lnTo>
                  <a:pt x="76" y="48"/>
                </a:lnTo>
                <a:lnTo>
                  <a:pt x="78" y="44"/>
                </a:lnTo>
                <a:lnTo>
                  <a:pt x="79" y="41"/>
                </a:lnTo>
                <a:lnTo>
                  <a:pt x="81" y="39"/>
                </a:lnTo>
                <a:lnTo>
                  <a:pt x="81" y="36"/>
                </a:lnTo>
                <a:lnTo>
                  <a:pt x="83" y="33"/>
                </a:lnTo>
                <a:lnTo>
                  <a:pt x="83" y="29"/>
                </a:lnTo>
                <a:lnTo>
                  <a:pt x="83" y="24"/>
                </a:lnTo>
                <a:close/>
                <a:moveTo>
                  <a:pt x="10" y="0"/>
                </a:moveTo>
                <a:lnTo>
                  <a:pt x="8" y="1"/>
                </a:lnTo>
                <a:lnTo>
                  <a:pt x="5" y="4"/>
                </a:lnTo>
                <a:lnTo>
                  <a:pt x="3" y="8"/>
                </a:lnTo>
                <a:lnTo>
                  <a:pt x="3" y="11"/>
                </a:lnTo>
                <a:lnTo>
                  <a:pt x="1" y="14"/>
                </a:lnTo>
                <a:lnTo>
                  <a:pt x="1" y="18"/>
                </a:lnTo>
                <a:lnTo>
                  <a:pt x="0" y="21"/>
                </a:lnTo>
                <a:lnTo>
                  <a:pt x="0" y="24"/>
                </a:lnTo>
                <a:lnTo>
                  <a:pt x="0" y="29"/>
                </a:lnTo>
                <a:lnTo>
                  <a:pt x="1" y="33"/>
                </a:lnTo>
                <a:lnTo>
                  <a:pt x="1" y="36"/>
                </a:lnTo>
                <a:lnTo>
                  <a:pt x="3" y="39"/>
                </a:lnTo>
                <a:lnTo>
                  <a:pt x="3" y="41"/>
                </a:lnTo>
                <a:lnTo>
                  <a:pt x="5" y="44"/>
                </a:lnTo>
                <a:lnTo>
                  <a:pt x="6" y="48"/>
                </a:lnTo>
                <a:lnTo>
                  <a:pt x="8" y="51"/>
                </a:lnTo>
                <a:lnTo>
                  <a:pt x="13" y="51"/>
                </a:lnTo>
                <a:lnTo>
                  <a:pt x="11" y="48"/>
                </a:lnTo>
                <a:lnTo>
                  <a:pt x="10" y="44"/>
                </a:lnTo>
                <a:lnTo>
                  <a:pt x="8" y="43"/>
                </a:lnTo>
                <a:lnTo>
                  <a:pt x="6" y="39"/>
                </a:lnTo>
                <a:lnTo>
                  <a:pt x="5" y="36"/>
                </a:lnTo>
                <a:lnTo>
                  <a:pt x="5" y="33"/>
                </a:lnTo>
                <a:lnTo>
                  <a:pt x="3" y="29"/>
                </a:lnTo>
                <a:lnTo>
                  <a:pt x="3" y="24"/>
                </a:lnTo>
                <a:lnTo>
                  <a:pt x="3" y="21"/>
                </a:lnTo>
                <a:lnTo>
                  <a:pt x="5" y="18"/>
                </a:lnTo>
                <a:lnTo>
                  <a:pt x="5" y="14"/>
                </a:lnTo>
                <a:lnTo>
                  <a:pt x="6" y="11"/>
                </a:lnTo>
                <a:lnTo>
                  <a:pt x="8" y="8"/>
                </a:lnTo>
                <a:lnTo>
                  <a:pt x="10" y="4"/>
                </a:lnTo>
                <a:lnTo>
                  <a:pt x="11" y="1"/>
                </a:lnTo>
                <a:lnTo>
                  <a:pt x="13" y="0"/>
                </a:lnTo>
                <a:lnTo>
                  <a:pt x="10"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28" name="Freeform 1833">
            <a:extLst>
              <a:ext uri="{FF2B5EF4-FFF2-40B4-BE49-F238E27FC236}">
                <a16:creationId xmlns:a16="http://schemas.microsoft.com/office/drawing/2014/main" id="{1A1FE4FF-F712-BC3B-78ED-DE1825421FB9}"/>
              </a:ext>
            </a:extLst>
          </p:cNvPr>
          <p:cNvSpPr>
            <a:spLocks noEditPoints="1"/>
          </p:cNvSpPr>
          <p:nvPr/>
        </p:nvSpPr>
        <p:spPr bwMode="auto">
          <a:xfrm>
            <a:off x="2493963" y="2719388"/>
            <a:ext cx="127000" cy="80963"/>
          </a:xfrm>
          <a:custGeom>
            <a:avLst/>
            <a:gdLst>
              <a:gd name="T0" fmla="*/ 80 w 80"/>
              <a:gd name="T1" fmla="*/ 21 h 51"/>
              <a:gd name="T2" fmla="*/ 78 w 80"/>
              <a:gd name="T3" fmla="*/ 14 h 51"/>
              <a:gd name="T4" fmla="*/ 77 w 80"/>
              <a:gd name="T5" fmla="*/ 8 h 51"/>
              <a:gd name="T6" fmla="*/ 72 w 80"/>
              <a:gd name="T7" fmla="*/ 1 h 51"/>
              <a:gd name="T8" fmla="*/ 65 w 80"/>
              <a:gd name="T9" fmla="*/ 0 h 51"/>
              <a:gd name="T10" fmla="*/ 70 w 80"/>
              <a:gd name="T11" fmla="*/ 4 h 51"/>
              <a:gd name="T12" fmla="*/ 73 w 80"/>
              <a:gd name="T13" fmla="*/ 11 h 51"/>
              <a:gd name="T14" fmla="*/ 77 w 80"/>
              <a:gd name="T15" fmla="*/ 18 h 51"/>
              <a:gd name="T16" fmla="*/ 77 w 80"/>
              <a:gd name="T17" fmla="*/ 24 h 51"/>
              <a:gd name="T18" fmla="*/ 77 w 80"/>
              <a:gd name="T19" fmla="*/ 33 h 51"/>
              <a:gd name="T20" fmla="*/ 73 w 80"/>
              <a:gd name="T21" fmla="*/ 39 h 51"/>
              <a:gd name="T22" fmla="*/ 70 w 80"/>
              <a:gd name="T23" fmla="*/ 44 h 51"/>
              <a:gd name="T24" fmla="*/ 67 w 80"/>
              <a:gd name="T25" fmla="*/ 51 h 51"/>
              <a:gd name="T26" fmla="*/ 73 w 80"/>
              <a:gd name="T27" fmla="*/ 48 h 51"/>
              <a:gd name="T28" fmla="*/ 77 w 80"/>
              <a:gd name="T29" fmla="*/ 41 h 51"/>
              <a:gd name="T30" fmla="*/ 78 w 80"/>
              <a:gd name="T31" fmla="*/ 36 h 51"/>
              <a:gd name="T32" fmla="*/ 80 w 80"/>
              <a:gd name="T33" fmla="*/ 29 h 51"/>
              <a:gd name="T34" fmla="*/ 10 w 80"/>
              <a:gd name="T35" fmla="*/ 0 h 51"/>
              <a:gd name="T36" fmla="*/ 7 w 80"/>
              <a:gd name="T37" fmla="*/ 4 h 51"/>
              <a:gd name="T38" fmla="*/ 4 w 80"/>
              <a:gd name="T39" fmla="*/ 11 h 51"/>
              <a:gd name="T40" fmla="*/ 2 w 80"/>
              <a:gd name="T41" fmla="*/ 18 h 51"/>
              <a:gd name="T42" fmla="*/ 0 w 80"/>
              <a:gd name="T43" fmla="*/ 24 h 51"/>
              <a:gd name="T44" fmla="*/ 2 w 80"/>
              <a:gd name="T45" fmla="*/ 33 h 51"/>
              <a:gd name="T46" fmla="*/ 4 w 80"/>
              <a:gd name="T47" fmla="*/ 39 h 51"/>
              <a:gd name="T48" fmla="*/ 5 w 80"/>
              <a:gd name="T49" fmla="*/ 44 h 51"/>
              <a:gd name="T50" fmla="*/ 10 w 80"/>
              <a:gd name="T51" fmla="*/ 51 h 51"/>
              <a:gd name="T52" fmla="*/ 12 w 80"/>
              <a:gd name="T53" fmla="*/ 48 h 51"/>
              <a:gd name="T54" fmla="*/ 9 w 80"/>
              <a:gd name="T55" fmla="*/ 43 h 51"/>
              <a:gd name="T56" fmla="*/ 5 w 80"/>
              <a:gd name="T57" fmla="*/ 36 h 51"/>
              <a:gd name="T58" fmla="*/ 4 w 80"/>
              <a:gd name="T59" fmla="*/ 29 h 51"/>
              <a:gd name="T60" fmla="*/ 4 w 80"/>
              <a:gd name="T61" fmla="*/ 21 h 51"/>
              <a:gd name="T62" fmla="*/ 5 w 80"/>
              <a:gd name="T63" fmla="*/ 14 h 51"/>
              <a:gd name="T64" fmla="*/ 9 w 80"/>
              <a:gd name="T65" fmla="*/ 8 h 51"/>
              <a:gd name="T66" fmla="*/ 12 w 80"/>
              <a:gd name="T67" fmla="*/ 1 h 51"/>
              <a:gd name="T68" fmla="*/ 10 w 8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80" h="51">
                <a:moveTo>
                  <a:pt x="80" y="24"/>
                </a:moveTo>
                <a:lnTo>
                  <a:pt x="80" y="21"/>
                </a:lnTo>
                <a:lnTo>
                  <a:pt x="80" y="18"/>
                </a:lnTo>
                <a:lnTo>
                  <a:pt x="78" y="14"/>
                </a:lnTo>
                <a:lnTo>
                  <a:pt x="77" y="11"/>
                </a:lnTo>
                <a:lnTo>
                  <a:pt x="77" y="8"/>
                </a:lnTo>
                <a:lnTo>
                  <a:pt x="75" y="4"/>
                </a:lnTo>
                <a:lnTo>
                  <a:pt x="72" y="1"/>
                </a:lnTo>
                <a:lnTo>
                  <a:pt x="70" y="0"/>
                </a:lnTo>
                <a:lnTo>
                  <a:pt x="65" y="0"/>
                </a:lnTo>
                <a:lnTo>
                  <a:pt x="68" y="1"/>
                </a:lnTo>
                <a:lnTo>
                  <a:pt x="70" y="4"/>
                </a:lnTo>
                <a:lnTo>
                  <a:pt x="72" y="8"/>
                </a:lnTo>
                <a:lnTo>
                  <a:pt x="73" y="11"/>
                </a:lnTo>
                <a:lnTo>
                  <a:pt x="75" y="14"/>
                </a:lnTo>
                <a:lnTo>
                  <a:pt x="77" y="18"/>
                </a:lnTo>
                <a:lnTo>
                  <a:pt x="77" y="21"/>
                </a:lnTo>
                <a:lnTo>
                  <a:pt x="77" y="24"/>
                </a:lnTo>
                <a:lnTo>
                  <a:pt x="77" y="29"/>
                </a:lnTo>
                <a:lnTo>
                  <a:pt x="77" y="33"/>
                </a:lnTo>
                <a:lnTo>
                  <a:pt x="75" y="36"/>
                </a:lnTo>
                <a:lnTo>
                  <a:pt x="73" y="39"/>
                </a:lnTo>
                <a:lnTo>
                  <a:pt x="72" y="43"/>
                </a:lnTo>
                <a:lnTo>
                  <a:pt x="70" y="44"/>
                </a:lnTo>
                <a:lnTo>
                  <a:pt x="68" y="48"/>
                </a:lnTo>
                <a:lnTo>
                  <a:pt x="67" y="51"/>
                </a:lnTo>
                <a:lnTo>
                  <a:pt x="72" y="51"/>
                </a:lnTo>
                <a:lnTo>
                  <a:pt x="73" y="48"/>
                </a:lnTo>
                <a:lnTo>
                  <a:pt x="75" y="44"/>
                </a:lnTo>
                <a:lnTo>
                  <a:pt x="77" y="41"/>
                </a:lnTo>
                <a:lnTo>
                  <a:pt x="78" y="39"/>
                </a:lnTo>
                <a:lnTo>
                  <a:pt x="78" y="36"/>
                </a:lnTo>
                <a:lnTo>
                  <a:pt x="80" y="33"/>
                </a:lnTo>
                <a:lnTo>
                  <a:pt x="80" y="29"/>
                </a:lnTo>
                <a:lnTo>
                  <a:pt x="80" y="24"/>
                </a:lnTo>
                <a:close/>
                <a:moveTo>
                  <a:pt x="10" y="0"/>
                </a:moveTo>
                <a:lnTo>
                  <a:pt x="9" y="1"/>
                </a:lnTo>
                <a:lnTo>
                  <a:pt x="7" y="4"/>
                </a:lnTo>
                <a:lnTo>
                  <a:pt x="5" y="8"/>
                </a:lnTo>
                <a:lnTo>
                  <a:pt x="4" y="11"/>
                </a:lnTo>
                <a:lnTo>
                  <a:pt x="2" y="14"/>
                </a:lnTo>
                <a:lnTo>
                  <a:pt x="2" y="18"/>
                </a:lnTo>
                <a:lnTo>
                  <a:pt x="0" y="21"/>
                </a:lnTo>
                <a:lnTo>
                  <a:pt x="0" y="24"/>
                </a:lnTo>
                <a:lnTo>
                  <a:pt x="0" y="29"/>
                </a:lnTo>
                <a:lnTo>
                  <a:pt x="2" y="33"/>
                </a:lnTo>
                <a:lnTo>
                  <a:pt x="2" y="36"/>
                </a:lnTo>
                <a:lnTo>
                  <a:pt x="4" y="39"/>
                </a:lnTo>
                <a:lnTo>
                  <a:pt x="4" y="41"/>
                </a:lnTo>
                <a:lnTo>
                  <a:pt x="5" y="44"/>
                </a:lnTo>
                <a:lnTo>
                  <a:pt x="7" y="48"/>
                </a:lnTo>
                <a:lnTo>
                  <a:pt x="10" y="51"/>
                </a:lnTo>
                <a:lnTo>
                  <a:pt x="14" y="51"/>
                </a:lnTo>
                <a:lnTo>
                  <a:pt x="12" y="48"/>
                </a:lnTo>
                <a:lnTo>
                  <a:pt x="10" y="44"/>
                </a:lnTo>
                <a:lnTo>
                  <a:pt x="9" y="43"/>
                </a:lnTo>
                <a:lnTo>
                  <a:pt x="7" y="39"/>
                </a:lnTo>
                <a:lnTo>
                  <a:pt x="5" y="36"/>
                </a:lnTo>
                <a:lnTo>
                  <a:pt x="5" y="33"/>
                </a:lnTo>
                <a:lnTo>
                  <a:pt x="4" y="29"/>
                </a:lnTo>
                <a:lnTo>
                  <a:pt x="4" y="24"/>
                </a:lnTo>
                <a:lnTo>
                  <a:pt x="4" y="21"/>
                </a:lnTo>
                <a:lnTo>
                  <a:pt x="5" y="18"/>
                </a:lnTo>
                <a:lnTo>
                  <a:pt x="5" y="14"/>
                </a:lnTo>
                <a:lnTo>
                  <a:pt x="7" y="11"/>
                </a:lnTo>
                <a:lnTo>
                  <a:pt x="9" y="8"/>
                </a:lnTo>
                <a:lnTo>
                  <a:pt x="10" y="4"/>
                </a:lnTo>
                <a:lnTo>
                  <a:pt x="12" y="1"/>
                </a:lnTo>
                <a:lnTo>
                  <a:pt x="15" y="0"/>
                </a:lnTo>
                <a:lnTo>
                  <a:pt x="10"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29" name="Freeform 1834">
            <a:extLst>
              <a:ext uri="{FF2B5EF4-FFF2-40B4-BE49-F238E27FC236}">
                <a16:creationId xmlns:a16="http://schemas.microsoft.com/office/drawing/2014/main" id="{B243489F-4C5D-041A-039D-F432777D705F}"/>
              </a:ext>
            </a:extLst>
          </p:cNvPr>
          <p:cNvSpPr>
            <a:spLocks noEditPoints="1"/>
          </p:cNvSpPr>
          <p:nvPr/>
        </p:nvSpPr>
        <p:spPr bwMode="auto">
          <a:xfrm>
            <a:off x="2497138" y="2719388"/>
            <a:ext cx="120650" cy="80963"/>
          </a:xfrm>
          <a:custGeom>
            <a:avLst/>
            <a:gdLst>
              <a:gd name="T0" fmla="*/ 76 w 76"/>
              <a:gd name="T1" fmla="*/ 21 h 51"/>
              <a:gd name="T2" fmla="*/ 75 w 76"/>
              <a:gd name="T3" fmla="*/ 14 h 51"/>
              <a:gd name="T4" fmla="*/ 71 w 76"/>
              <a:gd name="T5" fmla="*/ 8 h 51"/>
              <a:gd name="T6" fmla="*/ 68 w 76"/>
              <a:gd name="T7" fmla="*/ 1 h 51"/>
              <a:gd name="T8" fmla="*/ 61 w 76"/>
              <a:gd name="T9" fmla="*/ 0 h 51"/>
              <a:gd name="T10" fmla="*/ 66 w 76"/>
              <a:gd name="T11" fmla="*/ 4 h 51"/>
              <a:gd name="T12" fmla="*/ 70 w 76"/>
              <a:gd name="T13" fmla="*/ 11 h 51"/>
              <a:gd name="T14" fmla="*/ 71 w 76"/>
              <a:gd name="T15" fmla="*/ 18 h 51"/>
              <a:gd name="T16" fmla="*/ 73 w 76"/>
              <a:gd name="T17" fmla="*/ 24 h 51"/>
              <a:gd name="T18" fmla="*/ 73 w 76"/>
              <a:gd name="T19" fmla="*/ 33 h 51"/>
              <a:gd name="T20" fmla="*/ 70 w 76"/>
              <a:gd name="T21" fmla="*/ 39 h 51"/>
              <a:gd name="T22" fmla="*/ 66 w 76"/>
              <a:gd name="T23" fmla="*/ 44 h 51"/>
              <a:gd name="T24" fmla="*/ 61 w 76"/>
              <a:gd name="T25" fmla="*/ 51 h 51"/>
              <a:gd name="T26" fmla="*/ 70 w 76"/>
              <a:gd name="T27" fmla="*/ 48 h 51"/>
              <a:gd name="T28" fmla="*/ 73 w 76"/>
              <a:gd name="T29" fmla="*/ 43 h 51"/>
              <a:gd name="T30" fmla="*/ 75 w 76"/>
              <a:gd name="T31" fmla="*/ 36 h 51"/>
              <a:gd name="T32" fmla="*/ 76 w 76"/>
              <a:gd name="T33" fmla="*/ 29 h 51"/>
              <a:gd name="T34" fmla="*/ 10 w 76"/>
              <a:gd name="T35" fmla="*/ 0 h 51"/>
              <a:gd name="T36" fmla="*/ 7 w 76"/>
              <a:gd name="T37" fmla="*/ 4 h 51"/>
              <a:gd name="T38" fmla="*/ 3 w 76"/>
              <a:gd name="T39" fmla="*/ 11 h 51"/>
              <a:gd name="T40" fmla="*/ 2 w 76"/>
              <a:gd name="T41" fmla="*/ 18 h 51"/>
              <a:gd name="T42" fmla="*/ 0 w 76"/>
              <a:gd name="T43" fmla="*/ 24 h 51"/>
              <a:gd name="T44" fmla="*/ 2 w 76"/>
              <a:gd name="T45" fmla="*/ 33 h 51"/>
              <a:gd name="T46" fmla="*/ 3 w 76"/>
              <a:gd name="T47" fmla="*/ 39 h 51"/>
              <a:gd name="T48" fmla="*/ 7 w 76"/>
              <a:gd name="T49" fmla="*/ 44 h 51"/>
              <a:gd name="T50" fmla="*/ 10 w 76"/>
              <a:gd name="T51" fmla="*/ 51 h 51"/>
              <a:gd name="T52" fmla="*/ 12 w 76"/>
              <a:gd name="T53" fmla="*/ 48 h 51"/>
              <a:gd name="T54" fmla="*/ 8 w 76"/>
              <a:gd name="T55" fmla="*/ 43 h 51"/>
              <a:gd name="T56" fmla="*/ 5 w 76"/>
              <a:gd name="T57" fmla="*/ 36 h 51"/>
              <a:gd name="T58" fmla="*/ 3 w 76"/>
              <a:gd name="T59" fmla="*/ 29 h 51"/>
              <a:gd name="T60" fmla="*/ 3 w 76"/>
              <a:gd name="T61" fmla="*/ 21 h 51"/>
              <a:gd name="T62" fmla="*/ 5 w 76"/>
              <a:gd name="T63" fmla="*/ 14 h 51"/>
              <a:gd name="T64" fmla="*/ 8 w 76"/>
              <a:gd name="T65" fmla="*/ 8 h 51"/>
              <a:gd name="T66" fmla="*/ 13 w 76"/>
              <a:gd name="T67" fmla="*/ 1 h 51"/>
              <a:gd name="T68" fmla="*/ 10 w 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6" h="51">
                <a:moveTo>
                  <a:pt x="76" y="24"/>
                </a:moveTo>
                <a:lnTo>
                  <a:pt x="76" y="21"/>
                </a:lnTo>
                <a:lnTo>
                  <a:pt x="76" y="18"/>
                </a:lnTo>
                <a:lnTo>
                  <a:pt x="75" y="14"/>
                </a:lnTo>
                <a:lnTo>
                  <a:pt x="73" y="11"/>
                </a:lnTo>
                <a:lnTo>
                  <a:pt x="71" y="8"/>
                </a:lnTo>
                <a:lnTo>
                  <a:pt x="70" y="4"/>
                </a:lnTo>
                <a:lnTo>
                  <a:pt x="68" y="1"/>
                </a:lnTo>
                <a:lnTo>
                  <a:pt x="66" y="0"/>
                </a:lnTo>
                <a:lnTo>
                  <a:pt x="61" y="0"/>
                </a:lnTo>
                <a:lnTo>
                  <a:pt x="63" y="1"/>
                </a:lnTo>
                <a:lnTo>
                  <a:pt x="66" y="4"/>
                </a:lnTo>
                <a:lnTo>
                  <a:pt x="68" y="8"/>
                </a:lnTo>
                <a:lnTo>
                  <a:pt x="70" y="11"/>
                </a:lnTo>
                <a:lnTo>
                  <a:pt x="71" y="14"/>
                </a:lnTo>
                <a:lnTo>
                  <a:pt x="71" y="18"/>
                </a:lnTo>
                <a:lnTo>
                  <a:pt x="73" y="21"/>
                </a:lnTo>
                <a:lnTo>
                  <a:pt x="73" y="24"/>
                </a:lnTo>
                <a:lnTo>
                  <a:pt x="73" y="29"/>
                </a:lnTo>
                <a:lnTo>
                  <a:pt x="73" y="33"/>
                </a:lnTo>
                <a:lnTo>
                  <a:pt x="71" y="36"/>
                </a:lnTo>
                <a:lnTo>
                  <a:pt x="70" y="39"/>
                </a:lnTo>
                <a:lnTo>
                  <a:pt x="68" y="43"/>
                </a:lnTo>
                <a:lnTo>
                  <a:pt x="66" y="44"/>
                </a:lnTo>
                <a:lnTo>
                  <a:pt x="65" y="48"/>
                </a:lnTo>
                <a:lnTo>
                  <a:pt x="61" y="51"/>
                </a:lnTo>
                <a:lnTo>
                  <a:pt x="66" y="51"/>
                </a:lnTo>
                <a:lnTo>
                  <a:pt x="70" y="48"/>
                </a:lnTo>
                <a:lnTo>
                  <a:pt x="71" y="44"/>
                </a:lnTo>
                <a:lnTo>
                  <a:pt x="73" y="43"/>
                </a:lnTo>
                <a:lnTo>
                  <a:pt x="73" y="39"/>
                </a:lnTo>
                <a:lnTo>
                  <a:pt x="75" y="36"/>
                </a:lnTo>
                <a:lnTo>
                  <a:pt x="76" y="33"/>
                </a:lnTo>
                <a:lnTo>
                  <a:pt x="76" y="29"/>
                </a:lnTo>
                <a:lnTo>
                  <a:pt x="76" y="24"/>
                </a:lnTo>
                <a:close/>
                <a:moveTo>
                  <a:pt x="10" y="0"/>
                </a:moveTo>
                <a:lnTo>
                  <a:pt x="8" y="1"/>
                </a:lnTo>
                <a:lnTo>
                  <a:pt x="7" y="4"/>
                </a:lnTo>
                <a:lnTo>
                  <a:pt x="5" y="8"/>
                </a:lnTo>
                <a:lnTo>
                  <a:pt x="3" y="11"/>
                </a:lnTo>
                <a:lnTo>
                  <a:pt x="2" y="14"/>
                </a:lnTo>
                <a:lnTo>
                  <a:pt x="2" y="18"/>
                </a:lnTo>
                <a:lnTo>
                  <a:pt x="0" y="21"/>
                </a:lnTo>
                <a:lnTo>
                  <a:pt x="0" y="24"/>
                </a:lnTo>
                <a:lnTo>
                  <a:pt x="0" y="29"/>
                </a:lnTo>
                <a:lnTo>
                  <a:pt x="2" y="33"/>
                </a:lnTo>
                <a:lnTo>
                  <a:pt x="2" y="36"/>
                </a:lnTo>
                <a:lnTo>
                  <a:pt x="3" y="39"/>
                </a:lnTo>
                <a:lnTo>
                  <a:pt x="5" y="43"/>
                </a:lnTo>
                <a:lnTo>
                  <a:pt x="7" y="44"/>
                </a:lnTo>
                <a:lnTo>
                  <a:pt x="8" y="48"/>
                </a:lnTo>
                <a:lnTo>
                  <a:pt x="10" y="51"/>
                </a:lnTo>
                <a:lnTo>
                  <a:pt x="15" y="51"/>
                </a:lnTo>
                <a:lnTo>
                  <a:pt x="12" y="48"/>
                </a:lnTo>
                <a:lnTo>
                  <a:pt x="10" y="44"/>
                </a:lnTo>
                <a:lnTo>
                  <a:pt x="8" y="43"/>
                </a:lnTo>
                <a:lnTo>
                  <a:pt x="7" y="39"/>
                </a:lnTo>
                <a:lnTo>
                  <a:pt x="5" y="36"/>
                </a:lnTo>
                <a:lnTo>
                  <a:pt x="5" y="33"/>
                </a:lnTo>
                <a:lnTo>
                  <a:pt x="3" y="29"/>
                </a:lnTo>
                <a:lnTo>
                  <a:pt x="3" y="24"/>
                </a:lnTo>
                <a:lnTo>
                  <a:pt x="3" y="21"/>
                </a:lnTo>
                <a:lnTo>
                  <a:pt x="5" y="18"/>
                </a:lnTo>
                <a:lnTo>
                  <a:pt x="5" y="14"/>
                </a:lnTo>
                <a:lnTo>
                  <a:pt x="7" y="11"/>
                </a:lnTo>
                <a:lnTo>
                  <a:pt x="8" y="8"/>
                </a:lnTo>
                <a:lnTo>
                  <a:pt x="10" y="4"/>
                </a:lnTo>
                <a:lnTo>
                  <a:pt x="13" y="1"/>
                </a:lnTo>
                <a:lnTo>
                  <a:pt x="15" y="0"/>
                </a:lnTo>
                <a:lnTo>
                  <a:pt x="10"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30" name="Freeform 1835">
            <a:extLst>
              <a:ext uri="{FF2B5EF4-FFF2-40B4-BE49-F238E27FC236}">
                <a16:creationId xmlns:a16="http://schemas.microsoft.com/office/drawing/2014/main" id="{E70C5919-DBE3-F3A3-C2A3-D2FE62FB24A4}"/>
              </a:ext>
            </a:extLst>
          </p:cNvPr>
          <p:cNvSpPr>
            <a:spLocks noEditPoints="1"/>
          </p:cNvSpPr>
          <p:nvPr/>
        </p:nvSpPr>
        <p:spPr bwMode="auto">
          <a:xfrm>
            <a:off x="2500313" y="2719388"/>
            <a:ext cx="115888" cy="80963"/>
          </a:xfrm>
          <a:custGeom>
            <a:avLst/>
            <a:gdLst>
              <a:gd name="T0" fmla="*/ 73 w 73"/>
              <a:gd name="T1" fmla="*/ 21 h 51"/>
              <a:gd name="T2" fmla="*/ 71 w 73"/>
              <a:gd name="T3" fmla="*/ 14 h 51"/>
              <a:gd name="T4" fmla="*/ 68 w 73"/>
              <a:gd name="T5" fmla="*/ 8 h 51"/>
              <a:gd name="T6" fmla="*/ 64 w 73"/>
              <a:gd name="T7" fmla="*/ 1 h 51"/>
              <a:gd name="T8" fmla="*/ 56 w 73"/>
              <a:gd name="T9" fmla="*/ 0 h 51"/>
              <a:gd name="T10" fmla="*/ 61 w 73"/>
              <a:gd name="T11" fmla="*/ 4 h 51"/>
              <a:gd name="T12" fmla="*/ 66 w 73"/>
              <a:gd name="T13" fmla="*/ 9 h 51"/>
              <a:gd name="T14" fmla="*/ 68 w 73"/>
              <a:gd name="T15" fmla="*/ 18 h 51"/>
              <a:gd name="T16" fmla="*/ 69 w 73"/>
              <a:gd name="T17" fmla="*/ 24 h 51"/>
              <a:gd name="T18" fmla="*/ 69 w 73"/>
              <a:gd name="T19" fmla="*/ 33 h 51"/>
              <a:gd name="T20" fmla="*/ 66 w 73"/>
              <a:gd name="T21" fmla="*/ 39 h 51"/>
              <a:gd name="T22" fmla="*/ 63 w 73"/>
              <a:gd name="T23" fmla="*/ 46 h 51"/>
              <a:gd name="T24" fmla="*/ 58 w 73"/>
              <a:gd name="T25" fmla="*/ 51 h 51"/>
              <a:gd name="T26" fmla="*/ 64 w 73"/>
              <a:gd name="T27" fmla="*/ 48 h 51"/>
              <a:gd name="T28" fmla="*/ 68 w 73"/>
              <a:gd name="T29" fmla="*/ 43 h 51"/>
              <a:gd name="T30" fmla="*/ 71 w 73"/>
              <a:gd name="T31" fmla="*/ 36 h 51"/>
              <a:gd name="T32" fmla="*/ 73 w 73"/>
              <a:gd name="T33" fmla="*/ 29 h 51"/>
              <a:gd name="T34" fmla="*/ 11 w 73"/>
              <a:gd name="T35" fmla="*/ 0 h 51"/>
              <a:gd name="T36" fmla="*/ 6 w 73"/>
              <a:gd name="T37" fmla="*/ 4 h 51"/>
              <a:gd name="T38" fmla="*/ 3 w 73"/>
              <a:gd name="T39" fmla="*/ 11 h 51"/>
              <a:gd name="T40" fmla="*/ 1 w 73"/>
              <a:gd name="T41" fmla="*/ 18 h 51"/>
              <a:gd name="T42" fmla="*/ 0 w 73"/>
              <a:gd name="T43" fmla="*/ 24 h 51"/>
              <a:gd name="T44" fmla="*/ 1 w 73"/>
              <a:gd name="T45" fmla="*/ 33 h 51"/>
              <a:gd name="T46" fmla="*/ 3 w 73"/>
              <a:gd name="T47" fmla="*/ 39 h 51"/>
              <a:gd name="T48" fmla="*/ 6 w 73"/>
              <a:gd name="T49" fmla="*/ 44 h 51"/>
              <a:gd name="T50" fmla="*/ 10 w 73"/>
              <a:gd name="T51" fmla="*/ 51 h 51"/>
              <a:gd name="T52" fmla="*/ 13 w 73"/>
              <a:gd name="T53" fmla="*/ 48 h 51"/>
              <a:gd name="T54" fmla="*/ 8 w 73"/>
              <a:gd name="T55" fmla="*/ 43 h 51"/>
              <a:gd name="T56" fmla="*/ 5 w 73"/>
              <a:gd name="T57" fmla="*/ 36 h 51"/>
              <a:gd name="T58" fmla="*/ 3 w 73"/>
              <a:gd name="T59" fmla="*/ 29 h 51"/>
              <a:gd name="T60" fmla="*/ 3 w 73"/>
              <a:gd name="T61" fmla="*/ 21 h 51"/>
              <a:gd name="T62" fmla="*/ 5 w 73"/>
              <a:gd name="T63" fmla="*/ 14 h 51"/>
              <a:gd name="T64" fmla="*/ 8 w 73"/>
              <a:gd name="T65" fmla="*/ 8 h 51"/>
              <a:gd name="T66" fmla="*/ 13 w 73"/>
              <a:gd name="T67" fmla="*/ 1 h 51"/>
              <a:gd name="T68" fmla="*/ 11 w 7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3" h="51">
                <a:moveTo>
                  <a:pt x="73" y="24"/>
                </a:moveTo>
                <a:lnTo>
                  <a:pt x="73" y="21"/>
                </a:lnTo>
                <a:lnTo>
                  <a:pt x="73" y="18"/>
                </a:lnTo>
                <a:lnTo>
                  <a:pt x="71" y="14"/>
                </a:lnTo>
                <a:lnTo>
                  <a:pt x="69" y="11"/>
                </a:lnTo>
                <a:lnTo>
                  <a:pt x="68" y="8"/>
                </a:lnTo>
                <a:lnTo>
                  <a:pt x="66" y="4"/>
                </a:lnTo>
                <a:lnTo>
                  <a:pt x="64" y="1"/>
                </a:lnTo>
                <a:lnTo>
                  <a:pt x="61" y="0"/>
                </a:lnTo>
                <a:lnTo>
                  <a:pt x="56" y="0"/>
                </a:lnTo>
                <a:lnTo>
                  <a:pt x="59" y="1"/>
                </a:lnTo>
                <a:lnTo>
                  <a:pt x="61" y="4"/>
                </a:lnTo>
                <a:lnTo>
                  <a:pt x="64" y="8"/>
                </a:lnTo>
                <a:lnTo>
                  <a:pt x="66" y="9"/>
                </a:lnTo>
                <a:lnTo>
                  <a:pt x="68" y="14"/>
                </a:lnTo>
                <a:lnTo>
                  <a:pt x="68" y="18"/>
                </a:lnTo>
                <a:lnTo>
                  <a:pt x="69" y="21"/>
                </a:lnTo>
                <a:lnTo>
                  <a:pt x="69" y="24"/>
                </a:lnTo>
                <a:lnTo>
                  <a:pt x="69" y="29"/>
                </a:lnTo>
                <a:lnTo>
                  <a:pt x="69" y="33"/>
                </a:lnTo>
                <a:lnTo>
                  <a:pt x="68" y="36"/>
                </a:lnTo>
                <a:lnTo>
                  <a:pt x="66" y="39"/>
                </a:lnTo>
                <a:lnTo>
                  <a:pt x="64" y="43"/>
                </a:lnTo>
                <a:lnTo>
                  <a:pt x="63" y="46"/>
                </a:lnTo>
                <a:lnTo>
                  <a:pt x="61" y="48"/>
                </a:lnTo>
                <a:lnTo>
                  <a:pt x="58" y="51"/>
                </a:lnTo>
                <a:lnTo>
                  <a:pt x="63" y="51"/>
                </a:lnTo>
                <a:lnTo>
                  <a:pt x="64" y="48"/>
                </a:lnTo>
                <a:lnTo>
                  <a:pt x="66" y="44"/>
                </a:lnTo>
                <a:lnTo>
                  <a:pt x="68" y="43"/>
                </a:lnTo>
                <a:lnTo>
                  <a:pt x="69" y="39"/>
                </a:lnTo>
                <a:lnTo>
                  <a:pt x="71" y="36"/>
                </a:lnTo>
                <a:lnTo>
                  <a:pt x="73" y="33"/>
                </a:lnTo>
                <a:lnTo>
                  <a:pt x="73" y="29"/>
                </a:lnTo>
                <a:lnTo>
                  <a:pt x="73" y="24"/>
                </a:lnTo>
                <a:close/>
                <a:moveTo>
                  <a:pt x="11" y="0"/>
                </a:moveTo>
                <a:lnTo>
                  <a:pt x="8" y="1"/>
                </a:lnTo>
                <a:lnTo>
                  <a:pt x="6" y="4"/>
                </a:lnTo>
                <a:lnTo>
                  <a:pt x="5" y="8"/>
                </a:lnTo>
                <a:lnTo>
                  <a:pt x="3" y="11"/>
                </a:lnTo>
                <a:lnTo>
                  <a:pt x="1" y="14"/>
                </a:lnTo>
                <a:lnTo>
                  <a:pt x="1" y="18"/>
                </a:lnTo>
                <a:lnTo>
                  <a:pt x="0" y="21"/>
                </a:lnTo>
                <a:lnTo>
                  <a:pt x="0" y="24"/>
                </a:lnTo>
                <a:lnTo>
                  <a:pt x="0" y="29"/>
                </a:lnTo>
                <a:lnTo>
                  <a:pt x="1" y="33"/>
                </a:lnTo>
                <a:lnTo>
                  <a:pt x="1" y="36"/>
                </a:lnTo>
                <a:lnTo>
                  <a:pt x="3" y="39"/>
                </a:lnTo>
                <a:lnTo>
                  <a:pt x="5" y="43"/>
                </a:lnTo>
                <a:lnTo>
                  <a:pt x="6" y="44"/>
                </a:lnTo>
                <a:lnTo>
                  <a:pt x="8" y="48"/>
                </a:lnTo>
                <a:lnTo>
                  <a:pt x="10" y="51"/>
                </a:lnTo>
                <a:lnTo>
                  <a:pt x="15" y="51"/>
                </a:lnTo>
                <a:lnTo>
                  <a:pt x="13" y="48"/>
                </a:lnTo>
                <a:lnTo>
                  <a:pt x="10" y="46"/>
                </a:lnTo>
                <a:lnTo>
                  <a:pt x="8" y="43"/>
                </a:lnTo>
                <a:lnTo>
                  <a:pt x="6" y="39"/>
                </a:lnTo>
                <a:lnTo>
                  <a:pt x="5" y="36"/>
                </a:lnTo>
                <a:lnTo>
                  <a:pt x="5" y="33"/>
                </a:lnTo>
                <a:lnTo>
                  <a:pt x="3" y="29"/>
                </a:lnTo>
                <a:lnTo>
                  <a:pt x="3" y="24"/>
                </a:lnTo>
                <a:lnTo>
                  <a:pt x="3" y="21"/>
                </a:lnTo>
                <a:lnTo>
                  <a:pt x="5" y="18"/>
                </a:lnTo>
                <a:lnTo>
                  <a:pt x="5" y="14"/>
                </a:lnTo>
                <a:lnTo>
                  <a:pt x="6" y="9"/>
                </a:lnTo>
                <a:lnTo>
                  <a:pt x="8" y="8"/>
                </a:lnTo>
                <a:lnTo>
                  <a:pt x="11" y="4"/>
                </a:lnTo>
                <a:lnTo>
                  <a:pt x="13" y="1"/>
                </a:lnTo>
                <a:lnTo>
                  <a:pt x="16" y="0"/>
                </a:lnTo>
                <a:lnTo>
                  <a:pt x="11"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31" name="Freeform 1836">
            <a:extLst>
              <a:ext uri="{FF2B5EF4-FFF2-40B4-BE49-F238E27FC236}">
                <a16:creationId xmlns:a16="http://schemas.microsoft.com/office/drawing/2014/main" id="{40AA53B8-DF2C-DEBB-05F1-8669A66ED925}"/>
              </a:ext>
            </a:extLst>
          </p:cNvPr>
          <p:cNvSpPr>
            <a:spLocks noEditPoints="1"/>
          </p:cNvSpPr>
          <p:nvPr/>
        </p:nvSpPr>
        <p:spPr bwMode="auto">
          <a:xfrm>
            <a:off x="2501900" y="2719388"/>
            <a:ext cx="111125" cy="80963"/>
          </a:xfrm>
          <a:custGeom>
            <a:avLst/>
            <a:gdLst>
              <a:gd name="T0" fmla="*/ 70 w 70"/>
              <a:gd name="T1" fmla="*/ 21 h 51"/>
              <a:gd name="T2" fmla="*/ 68 w 70"/>
              <a:gd name="T3" fmla="*/ 14 h 51"/>
              <a:gd name="T4" fmla="*/ 65 w 70"/>
              <a:gd name="T5" fmla="*/ 8 h 51"/>
              <a:gd name="T6" fmla="*/ 60 w 70"/>
              <a:gd name="T7" fmla="*/ 1 h 51"/>
              <a:gd name="T8" fmla="*/ 53 w 70"/>
              <a:gd name="T9" fmla="*/ 0 h 51"/>
              <a:gd name="T10" fmla="*/ 58 w 70"/>
              <a:gd name="T11" fmla="*/ 4 h 51"/>
              <a:gd name="T12" fmla="*/ 63 w 70"/>
              <a:gd name="T13" fmla="*/ 9 h 51"/>
              <a:gd name="T14" fmla="*/ 65 w 70"/>
              <a:gd name="T15" fmla="*/ 18 h 51"/>
              <a:gd name="T16" fmla="*/ 67 w 70"/>
              <a:gd name="T17" fmla="*/ 24 h 51"/>
              <a:gd name="T18" fmla="*/ 65 w 70"/>
              <a:gd name="T19" fmla="*/ 33 h 51"/>
              <a:gd name="T20" fmla="*/ 63 w 70"/>
              <a:gd name="T21" fmla="*/ 39 h 51"/>
              <a:gd name="T22" fmla="*/ 60 w 70"/>
              <a:gd name="T23" fmla="*/ 46 h 51"/>
              <a:gd name="T24" fmla="*/ 53 w 70"/>
              <a:gd name="T25" fmla="*/ 51 h 51"/>
              <a:gd name="T26" fmla="*/ 62 w 70"/>
              <a:gd name="T27" fmla="*/ 48 h 51"/>
              <a:gd name="T28" fmla="*/ 65 w 70"/>
              <a:gd name="T29" fmla="*/ 43 h 51"/>
              <a:gd name="T30" fmla="*/ 68 w 70"/>
              <a:gd name="T31" fmla="*/ 36 h 51"/>
              <a:gd name="T32" fmla="*/ 70 w 70"/>
              <a:gd name="T33" fmla="*/ 29 h 51"/>
              <a:gd name="T34" fmla="*/ 12 w 70"/>
              <a:gd name="T35" fmla="*/ 0 h 51"/>
              <a:gd name="T36" fmla="*/ 7 w 70"/>
              <a:gd name="T37" fmla="*/ 4 h 51"/>
              <a:gd name="T38" fmla="*/ 4 w 70"/>
              <a:gd name="T39" fmla="*/ 11 h 51"/>
              <a:gd name="T40" fmla="*/ 2 w 70"/>
              <a:gd name="T41" fmla="*/ 18 h 51"/>
              <a:gd name="T42" fmla="*/ 0 w 70"/>
              <a:gd name="T43" fmla="*/ 24 h 51"/>
              <a:gd name="T44" fmla="*/ 2 w 70"/>
              <a:gd name="T45" fmla="*/ 33 h 51"/>
              <a:gd name="T46" fmla="*/ 4 w 70"/>
              <a:gd name="T47" fmla="*/ 39 h 51"/>
              <a:gd name="T48" fmla="*/ 7 w 70"/>
              <a:gd name="T49" fmla="*/ 44 h 51"/>
              <a:gd name="T50" fmla="*/ 12 w 70"/>
              <a:gd name="T51" fmla="*/ 51 h 51"/>
              <a:gd name="T52" fmla="*/ 14 w 70"/>
              <a:gd name="T53" fmla="*/ 48 h 51"/>
              <a:gd name="T54" fmla="*/ 9 w 70"/>
              <a:gd name="T55" fmla="*/ 43 h 51"/>
              <a:gd name="T56" fmla="*/ 5 w 70"/>
              <a:gd name="T57" fmla="*/ 36 h 51"/>
              <a:gd name="T58" fmla="*/ 4 w 70"/>
              <a:gd name="T59" fmla="*/ 29 h 51"/>
              <a:gd name="T60" fmla="*/ 4 w 70"/>
              <a:gd name="T61" fmla="*/ 21 h 51"/>
              <a:gd name="T62" fmla="*/ 5 w 70"/>
              <a:gd name="T63" fmla="*/ 13 h 51"/>
              <a:gd name="T64" fmla="*/ 10 w 70"/>
              <a:gd name="T65" fmla="*/ 6 h 51"/>
              <a:gd name="T66" fmla="*/ 15 w 70"/>
              <a:gd name="T67" fmla="*/ 1 h 51"/>
              <a:gd name="T68" fmla="*/ 12 w 7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 h="51">
                <a:moveTo>
                  <a:pt x="70" y="24"/>
                </a:moveTo>
                <a:lnTo>
                  <a:pt x="70" y="21"/>
                </a:lnTo>
                <a:lnTo>
                  <a:pt x="68" y="18"/>
                </a:lnTo>
                <a:lnTo>
                  <a:pt x="68" y="14"/>
                </a:lnTo>
                <a:lnTo>
                  <a:pt x="67" y="11"/>
                </a:lnTo>
                <a:lnTo>
                  <a:pt x="65" y="8"/>
                </a:lnTo>
                <a:lnTo>
                  <a:pt x="63" y="4"/>
                </a:lnTo>
                <a:lnTo>
                  <a:pt x="60" y="1"/>
                </a:lnTo>
                <a:lnTo>
                  <a:pt x="58" y="0"/>
                </a:lnTo>
                <a:lnTo>
                  <a:pt x="53" y="0"/>
                </a:lnTo>
                <a:lnTo>
                  <a:pt x="55" y="1"/>
                </a:lnTo>
                <a:lnTo>
                  <a:pt x="58" y="4"/>
                </a:lnTo>
                <a:lnTo>
                  <a:pt x="60" y="6"/>
                </a:lnTo>
                <a:lnTo>
                  <a:pt x="63" y="9"/>
                </a:lnTo>
                <a:lnTo>
                  <a:pt x="65" y="13"/>
                </a:lnTo>
                <a:lnTo>
                  <a:pt x="65" y="18"/>
                </a:lnTo>
                <a:lnTo>
                  <a:pt x="67" y="21"/>
                </a:lnTo>
                <a:lnTo>
                  <a:pt x="67" y="24"/>
                </a:lnTo>
                <a:lnTo>
                  <a:pt x="67" y="29"/>
                </a:lnTo>
                <a:lnTo>
                  <a:pt x="65" y="33"/>
                </a:lnTo>
                <a:lnTo>
                  <a:pt x="65" y="36"/>
                </a:lnTo>
                <a:lnTo>
                  <a:pt x="63" y="39"/>
                </a:lnTo>
                <a:lnTo>
                  <a:pt x="62" y="43"/>
                </a:lnTo>
                <a:lnTo>
                  <a:pt x="60" y="46"/>
                </a:lnTo>
                <a:lnTo>
                  <a:pt x="57" y="48"/>
                </a:lnTo>
                <a:lnTo>
                  <a:pt x="53" y="51"/>
                </a:lnTo>
                <a:lnTo>
                  <a:pt x="58" y="51"/>
                </a:lnTo>
                <a:lnTo>
                  <a:pt x="62" y="48"/>
                </a:lnTo>
                <a:lnTo>
                  <a:pt x="63" y="44"/>
                </a:lnTo>
                <a:lnTo>
                  <a:pt x="65" y="43"/>
                </a:lnTo>
                <a:lnTo>
                  <a:pt x="67" y="39"/>
                </a:lnTo>
                <a:lnTo>
                  <a:pt x="68" y="36"/>
                </a:lnTo>
                <a:lnTo>
                  <a:pt x="70" y="33"/>
                </a:lnTo>
                <a:lnTo>
                  <a:pt x="70" y="29"/>
                </a:lnTo>
                <a:lnTo>
                  <a:pt x="70" y="24"/>
                </a:lnTo>
                <a:close/>
                <a:moveTo>
                  <a:pt x="12" y="0"/>
                </a:moveTo>
                <a:lnTo>
                  <a:pt x="10" y="1"/>
                </a:lnTo>
                <a:lnTo>
                  <a:pt x="7" y="4"/>
                </a:lnTo>
                <a:lnTo>
                  <a:pt x="5" y="8"/>
                </a:lnTo>
                <a:lnTo>
                  <a:pt x="4" y="11"/>
                </a:lnTo>
                <a:lnTo>
                  <a:pt x="2" y="14"/>
                </a:lnTo>
                <a:lnTo>
                  <a:pt x="2" y="18"/>
                </a:lnTo>
                <a:lnTo>
                  <a:pt x="0" y="21"/>
                </a:lnTo>
                <a:lnTo>
                  <a:pt x="0" y="24"/>
                </a:lnTo>
                <a:lnTo>
                  <a:pt x="0" y="29"/>
                </a:lnTo>
                <a:lnTo>
                  <a:pt x="2" y="33"/>
                </a:lnTo>
                <a:lnTo>
                  <a:pt x="2" y="36"/>
                </a:lnTo>
                <a:lnTo>
                  <a:pt x="4" y="39"/>
                </a:lnTo>
                <a:lnTo>
                  <a:pt x="5" y="43"/>
                </a:lnTo>
                <a:lnTo>
                  <a:pt x="7" y="44"/>
                </a:lnTo>
                <a:lnTo>
                  <a:pt x="9" y="48"/>
                </a:lnTo>
                <a:lnTo>
                  <a:pt x="12" y="51"/>
                </a:lnTo>
                <a:lnTo>
                  <a:pt x="17" y="51"/>
                </a:lnTo>
                <a:lnTo>
                  <a:pt x="14" y="48"/>
                </a:lnTo>
                <a:lnTo>
                  <a:pt x="12" y="46"/>
                </a:lnTo>
                <a:lnTo>
                  <a:pt x="9" y="43"/>
                </a:lnTo>
                <a:lnTo>
                  <a:pt x="7" y="39"/>
                </a:lnTo>
                <a:lnTo>
                  <a:pt x="5" y="36"/>
                </a:lnTo>
                <a:lnTo>
                  <a:pt x="5" y="33"/>
                </a:lnTo>
                <a:lnTo>
                  <a:pt x="4" y="29"/>
                </a:lnTo>
                <a:lnTo>
                  <a:pt x="4" y="24"/>
                </a:lnTo>
                <a:lnTo>
                  <a:pt x="4" y="21"/>
                </a:lnTo>
                <a:lnTo>
                  <a:pt x="5" y="18"/>
                </a:lnTo>
                <a:lnTo>
                  <a:pt x="5" y="13"/>
                </a:lnTo>
                <a:lnTo>
                  <a:pt x="7" y="9"/>
                </a:lnTo>
                <a:lnTo>
                  <a:pt x="10" y="6"/>
                </a:lnTo>
                <a:lnTo>
                  <a:pt x="12" y="4"/>
                </a:lnTo>
                <a:lnTo>
                  <a:pt x="15" y="1"/>
                </a:lnTo>
                <a:lnTo>
                  <a:pt x="19" y="0"/>
                </a:lnTo>
                <a:lnTo>
                  <a:pt x="12"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32" name="Freeform 1837">
            <a:extLst>
              <a:ext uri="{FF2B5EF4-FFF2-40B4-BE49-F238E27FC236}">
                <a16:creationId xmlns:a16="http://schemas.microsoft.com/office/drawing/2014/main" id="{501D8419-D310-246C-4ACD-D72314B18AD3}"/>
              </a:ext>
            </a:extLst>
          </p:cNvPr>
          <p:cNvSpPr>
            <a:spLocks noEditPoints="1"/>
          </p:cNvSpPr>
          <p:nvPr/>
        </p:nvSpPr>
        <p:spPr bwMode="auto">
          <a:xfrm>
            <a:off x="2505075" y="2719388"/>
            <a:ext cx="104775" cy="80963"/>
          </a:xfrm>
          <a:custGeom>
            <a:avLst/>
            <a:gdLst>
              <a:gd name="T0" fmla="*/ 66 w 66"/>
              <a:gd name="T1" fmla="*/ 21 h 51"/>
              <a:gd name="T2" fmla="*/ 65 w 66"/>
              <a:gd name="T3" fmla="*/ 14 h 51"/>
              <a:gd name="T4" fmla="*/ 61 w 66"/>
              <a:gd name="T5" fmla="*/ 8 h 51"/>
              <a:gd name="T6" fmla="*/ 56 w 66"/>
              <a:gd name="T7" fmla="*/ 1 h 51"/>
              <a:gd name="T8" fmla="*/ 48 w 66"/>
              <a:gd name="T9" fmla="*/ 0 h 51"/>
              <a:gd name="T10" fmla="*/ 53 w 66"/>
              <a:gd name="T11" fmla="*/ 3 h 51"/>
              <a:gd name="T12" fmla="*/ 58 w 66"/>
              <a:gd name="T13" fmla="*/ 9 h 51"/>
              <a:gd name="T14" fmla="*/ 61 w 66"/>
              <a:gd name="T15" fmla="*/ 16 h 51"/>
              <a:gd name="T16" fmla="*/ 63 w 66"/>
              <a:gd name="T17" fmla="*/ 24 h 51"/>
              <a:gd name="T18" fmla="*/ 61 w 66"/>
              <a:gd name="T19" fmla="*/ 33 h 51"/>
              <a:gd name="T20" fmla="*/ 60 w 66"/>
              <a:gd name="T21" fmla="*/ 39 h 51"/>
              <a:gd name="T22" fmla="*/ 55 w 66"/>
              <a:gd name="T23" fmla="*/ 46 h 51"/>
              <a:gd name="T24" fmla="*/ 50 w 66"/>
              <a:gd name="T25" fmla="*/ 51 h 51"/>
              <a:gd name="T26" fmla="*/ 58 w 66"/>
              <a:gd name="T27" fmla="*/ 48 h 51"/>
              <a:gd name="T28" fmla="*/ 61 w 66"/>
              <a:gd name="T29" fmla="*/ 43 h 51"/>
              <a:gd name="T30" fmla="*/ 65 w 66"/>
              <a:gd name="T31" fmla="*/ 36 h 51"/>
              <a:gd name="T32" fmla="*/ 66 w 66"/>
              <a:gd name="T33" fmla="*/ 29 h 51"/>
              <a:gd name="T34" fmla="*/ 13 w 66"/>
              <a:gd name="T35" fmla="*/ 0 h 51"/>
              <a:gd name="T36" fmla="*/ 8 w 66"/>
              <a:gd name="T37" fmla="*/ 4 h 51"/>
              <a:gd name="T38" fmla="*/ 3 w 66"/>
              <a:gd name="T39" fmla="*/ 9 h 51"/>
              <a:gd name="T40" fmla="*/ 2 w 66"/>
              <a:gd name="T41" fmla="*/ 18 h 51"/>
              <a:gd name="T42" fmla="*/ 0 w 66"/>
              <a:gd name="T43" fmla="*/ 24 h 51"/>
              <a:gd name="T44" fmla="*/ 2 w 66"/>
              <a:gd name="T45" fmla="*/ 33 h 51"/>
              <a:gd name="T46" fmla="*/ 3 w 66"/>
              <a:gd name="T47" fmla="*/ 39 h 51"/>
              <a:gd name="T48" fmla="*/ 7 w 66"/>
              <a:gd name="T49" fmla="*/ 46 h 51"/>
              <a:gd name="T50" fmla="*/ 12 w 66"/>
              <a:gd name="T51" fmla="*/ 51 h 51"/>
              <a:gd name="T52" fmla="*/ 15 w 66"/>
              <a:gd name="T53" fmla="*/ 48 h 51"/>
              <a:gd name="T54" fmla="*/ 10 w 66"/>
              <a:gd name="T55" fmla="*/ 43 h 51"/>
              <a:gd name="T56" fmla="*/ 5 w 66"/>
              <a:gd name="T57" fmla="*/ 36 h 51"/>
              <a:gd name="T58" fmla="*/ 3 w 66"/>
              <a:gd name="T59" fmla="*/ 29 h 51"/>
              <a:gd name="T60" fmla="*/ 3 w 66"/>
              <a:gd name="T61" fmla="*/ 21 h 51"/>
              <a:gd name="T62" fmla="*/ 7 w 66"/>
              <a:gd name="T63" fmla="*/ 13 h 51"/>
              <a:gd name="T64" fmla="*/ 10 w 66"/>
              <a:gd name="T65" fmla="*/ 6 h 51"/>
              <a:gd name="T66" fmla="*/ 17 w 66"/>
              <a:gd name="T67" fmla="*/ 1 h 51"/>
              <a:gd name="T68" fmla="*/ 13 w 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 h="51">
                <a:moveTo>
                  <a:pt x="66" y="24"/>
                </a:moveTo>
                <a:lnTo>
                  <a:pt x="66" y="21"/>
                </a:lnTo>
                <a:lnTo>
                  <a:pt x="65" y="18"/>
                </a:lnTo>
                <a:lnTo>
                  <a:pt x="65" y="14"/>
                </a:lnTo>
                <a:lnTo>
                  <a:pt x="63" y="9"/>
                </a:lnTo>
                <a:lnTo>
                  <a:pt x="61" y="8"/>
                </a:lnTo>
                <a:lnTo>
                  <a:pt x="58" y="4"/>
                </a:lnTo>
                <a:lnTo>
                  <a:pt x="56" y="1"/>
                </a:lnTo>
                <a:lnTo>
                  <a:pt x="53" y="0"/>
                </a:lnTo>
                <a:lnTo>
                  <a:pt x="48" y="0"/>
                </a:lnTo>
                <a:lnTo>
                  <a:pt x="51" y="1"/>
                </a:lnTo>
                <a:lnTo>
                  <a:pt x="53" y="3"/>
                </a:lnTo>
                <a:lnTo>
                  <a:pt x="56" y="6"/>
                </a:lnTo>
                <a:lnTo>
                  <a:pt x="58" y="9"/>
                </a:lnTo>
                <a:lnTo>
                  <a:pt x="61" y="13"/>
                </a:lnTo>
                <a:lnTo>
                  <a:pt x="61" y="16"/>
                </a:lnTo>
                <a:lnTo>
                  <a:pt x="63" y="21"/>
                </a:lnTo>
                <a:lnTo>
                  <a:pt x="63" y="24"/>
                </a:lnTo>
                <a:lnTo>
                  <a:pt x="63" y="29"/>
                </a:lnTo>
                <a:lnTo>
                  <a:pt x="61" y="33"/>
                </a:lnTo>
                <a:lnTo>
                  <a:pt x="61" y="36"/>
                </a:lnTo>
                <a:lnTo>
                  <a:pt x="60" y="39"/>
                </a:lnTo>
                <a:lnTo>
                  <a:pt x="58" y="43"/>
                </a:lnTo>
                <a:lnTo>
                  <a:pt x="55" y="46"/>
                </a:lnTo>
                <a:lnTo>
                  <a:pt x="51" y="48"/>
                </a:lnTo>
                <a:lnTo>
                  <a:pt x="50" y="51"/>
                </a:lnTo>
                <a:lnTo>
                  <a:pt x="55" y="51"/>
                </a:lnTo>
                <a:lnTo>
                  <a:pt x="58" y="48"/>
                </a:lnTo>
                <a:lnTo>
                  <a:pt x="60" y="46"/>
                </a:lnTo>
                <a:lnTo>
                  <a:pt x="61" y="43"/>
                </a:lnTo>
                <a:lnTo>
                  <a:pt x="63" y="39"/>
                </a:lnTo>
                <a:lnTo>
                  <a:pt x="65" y="36"/>
                </a:lnTo>
                <a:lnTo>
                  <a:pt x="66" y="33"/>
                </a:lnTo>
                <a:lnTo>
                  <a:pt x="66" y="29"/>
                </a:lnTo>
                <a:lnTo>
                  <a:pt x="66" y="24"/>
                </a:lnTo>
                <a:close/>
                <a:moveTo>
                  <a:pt x="13" y="0"/>
                </a:moveTo>
                <a:lnTo>
                  <a:pt x="10" y="1"/>
                </a:lnTo>
                <a:lnTo>
                  <a:pt x="8" y="4"/>
                </a:lnTo>
                <a:lnTo>
                  <a:pt x="5" y="8"/>
                </a:lnTo>
                <a:lnTo>
                  <a:pt x="3" y="9"/>
                </a:lnTo>
                <a:lnTo>
                  <a:pt x="2" y="14"/>
                </a:lnTo>
                <a:lnTo>
                  <a:pt x="2" y="18"/>
                </a:lnTo>
                <a:lnTo>
                  <a:pt x="0" y="21"/>
                </a:lnTo>
                <a:lnTo>
                  <a:pt x="0" y="24"/>
                </a:lnTo>
                <a:lnTo>
                  <a:pt x="0" y="29"/>
                </a:lnTo>
                <a:lnTo>
                  <a:pt x="2" y="33"/>
                </a:lnTo>
                <a:lnTo>
                  <a:pt x="2" y="36"/>
                </a:lnTo>
                <a:lnTo>
                  <a:pt x="3" y="39"/>
                </a:lnTo>
                <a:lnTo>
                  <a:pt x="5" y="43"/>
                </a:lnTo>
                <a:lnTo>
                  <a:pt x="7" y="46"/>
                </a:lnTo>
                <a:lnTo>
                  <a:pt x="10" y="48"/>
                </a:lnTo>
                <a:lnTo>
                  <a:pt x="12" y="51"/>
                </a:lnTo>
                <a:lnTo>
                  <a:pt x="18" y="51"/>
                </a:lnTo>
                <a:lnTo>
                  <a:pt x="15" y="48"/>
                </a:lnTo>
                <a:lnTo>
                  <a:pt x="12" y="46"/>
                </a:lnTo>
                <a:lnTo>
                  <a:pt x="10" y="43"/>
                </a:lnTo>
                <a:lnTo>
                  <a:pt x="7" y="39"/>
                </a:lnTo>
                <a:lnTo>
                  <a:pt x="5" y="36"/>
                </a:lnTo>
                <a:lnTo>
                  <a:pt x="5" y="33"/>
                </a:lnTo>
                <a:lnTo>
                  <a:pt x="3" y="29"/>
                </a:lnTo>
                <a:lnTo>
                  <a:pt x="3" y="24"/>
                </a:lnTo>
                <a:lnTo>
                  <a:pt x="3" y="21"/>
                </a:lnTo>
                <a:lnTo>
                  <a:pt x="5" y="16"/>
                </a:lnTo>
                <a:lnTo>
                  <a:pt x="7" y="13"/>
                </a:lnTo>
                <a:lnTo>
                  <a:pt x="8" y="9"/>
                </a:lnTo>
                <a:lnTo>
                  <a:pt x="10" y="6"/>
                </a:lnTo>
                <a:lnTo>
                  <a:pt x="13" y="3"/>
                </a:lnTo>
                <a:lnTo>
                  <a:pt x="17" y="1"/>
                </a:lnTo>
                <a:lnTo>
                  <a:pt x="20" y="0"/>
                </a:lnTo>
                <a:lnTo>
                  <a:pt x="13"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33" name="Freeform 1838">
            <a:extLst>
              <a:ext uri="{FF2B5EF4-FFF2-40B4-BE49-F238E27FC236}">
                <a16:creationId xmlns:a16="http://schemas.microsoft.com/office/drawing/2014/main" id="{9ECA9977-BD00-CA7F-8727-108C5D9FA288}"/>
              </a:ext>
            </a:extLst>
          </p:cNvPr>
          <p:cNvSpPr>
            <a:spLocks noEditPoints="1"/>
          </p:cNvSpPr>
          <p:nvPr/>
        </p:nvSpPr>
        <p:spPr bwMode="auto">
          <a:xfrm>
            <a:off x="2508250" y="2719388"/>
            <a:ext cx="100013" cy="80963"/>
          </a:xfrm>
          <a:custGeom>
            <a:avLst/>
            <a:gdLst>
              <a:gd name="T0" fmla="*/ 63 w 63"/>
              <a:gd name="T1" fmla="*/ 21 h 51"/>
              <a:gd name="T2" fmla="*/ 61 w 63"/>
              <a:gd name="T3" fmla="*/ 13 h 51"/>
              <a:gd name="T4" fmla="*/ 56 w 63"/>
              <a:gd name="T5" fmla="*/ 6 h 51"/>
              <a:gd name="T6" fmla="*/ 51 w 63"/>
              <a:gd name="T7" fmla="*/ 1 h 51"/>
              <a:gd name="T8" fmla="*/ 41 w 63"/>
              <a:gd name="T9" fmla="*/ 0 h 51"/>
              <a:gd name="T10" fmla="*/ 49 w 63"/>
              <a:gd name="T11" fmla="*/ 3 h 51"/>
              <a:gd name="T12" fmla="*/ 54 w 63"/>
              <a:gd name="T13" fmla="*/ 9 h 51"/>
              <a:gd name="T14" fmla="*/ 58 w 63"/>
              <a:gd name="T15" fmla="*/ 16 h 51"/>
              <a:gd name="T16" fmla="*/ 59 w 63"/>
              <a:gd name="T17" fmla="*/ 24 h 51"/>
              <a:gd name="T18" fmla="*/ 58 w 63"/>
              <a:gd name="T19" fmla="*/ 33 h 51"/>
              <a:gd name="T20" fmla="*/ 54 w 63"/>
              <a:gd name="T21" fmla="*/ 39 h 51"/>
              <a:gd name="T22" fmla="*/ 49 w 63"/>
              <a:gd name="T23" fmla="*/ 46 h 51"/>
              <a:gd name="T24" fmla="*/ 44 w 63"/>
              <a:gd name="T25" fmla="*/ 51 h 51"/>
              <a:gd name="T26" fmla="*/ 53 w 63"/>
              <a:gd name="T27" fmla="*/ 48 h 51"/>
              <a:gd name="T28" fmla="*/ 58 w 63"/>
              <a:gd name="T29" fmla="*/ 43 h 51"/>
              <a:gd name="T30" fmla="*/ 61 w 63"/>
              <a:gd name="T31" fmla="*/ 36 h 51"/>
              <a:gd name="T32" fmla="*/ 63 w 63"/>
              <a:gd name="T33" fmla="*/ 29 h 51"/>
              <a:gd name="T34" fmla="*/ 15 w 63"/>
              <a:gd name="T35" fmla="*/ 0 h 51"/>
              <a:gd name="T36" fmla="*/ 8 w 63"/>
              <a:gd name="T37" fmla="*/ 4 h 51"/>
              <a:gd name="T38" fmla="*/ 3 w 63"/>
              <a:gd name="T39" fmla="*/ 9 h 51"/>
              <a:gd name="T40" fmla="*/ 1 w 63"/>
              <a:gd name="T41" fmla="*/ 18 h 51"/>
              <a:gd name="T42" fmla="*/ 0 w 63"/>
              <a:gd name="T43" fmla="*/ 24 h 51"/>
              <a:gd name="T44" fmla="*/ 1 w 63"/>
              <a:gd name="T45" fmla="*/ 33 h 51"/>
              <a:gd name="T46" fmla="*/ 3 w 63"/>
              <a:gd name="T47" fmla="*/ 39 h 51"/>
              <a:gd name="T48" fmla="*/ 8 w 63"/>
              <a:gd name="T49" fmla="*/ 46 h 51"/>
              <a:gd name="T50" fmla="*/ 13 w 63"/>
              <a:gd name="T51" fmla="*/ 51 h 51"/>
              <a:gd name="T52" fmla="*/ 16 w 63"/>
              <a:gd name="T53" fmla="*/ 48 h 51"/>
              <a:gd name="T54" fmla="*/ 10 w 63"/>
              <a:gd name="T55" fmla="*/ 43 h 51"/>
              <a:gd name="T56" fmla="*/ 6 w 63"/>
              <a:gd name="T57" fmla="*/ 36 h 51"/>
              <a:gd name="T58" fmla="*/ 3 w 63"/>
              <a:gd name="T59" fmla="*/ 29 h 51"/>
              <a:gd name="T60" fmla="*/ 3 w 63"/>
              <a:gd name="T61" fmla="*/ 21 h 51"/>
              <a:gd name="T62" fmla="*/ 6 w 63"/>
              <a:gd name="T63" fmla="*/ 13 h 51"/>
              <a:gd name="T64" fmla="*/ 11 w 63"/>
              <a:gd name="T65" fmla="*/ 6 h 51"/>
              <a:gd name="T66" fmla="*/ 18 w 63"/>
              <a:gd name="T67" fmla="*/ 1 h 51"/>
              <a:gd name="T68" fmla="*/ 15 w 6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 h="51">
                <a:moveTo>
                  <a:pt x="63" y="24"/>
                </a:moveTo>
                <a:lnTo>
                  <a:pt x="63" y="21"/>
                </a:lnTo>
                <a:lnTo>
                  <a:pt x="61" y="18"/>
                </a:lnTo>
                <a:lnTo>
                  <a:pt x="61" y="13"/>
                </a:lnTo>
                <a:lnTo>
                  <a:pt x="59" y="9"/>
                </a:lnTo>
                <a:lnTo>
                  <a:pt x="56" y="6"/>
                </a:lnTo>
                <a:lnTo>
                  <a:pt x="54" y="4"/>
                </a:lnTo>
                <a:lnTo>
                  <a:pt x="51" y="1"/>
                </a:lnTo>
                <a:lnTo>
                  <a:pt x="49" y="0"/>
                </a:lnTo>
                <a:lnTo>
                  <a:pt x="41" y="0"/>
                </a:lnTo>
                <a:lnTo>
                  <a:pt x="46" y="1"/>
                </a:lnTo>
                <a:lnTo>
                  <a:pt x="49" y="3"/>
                </a:lnTo>
                <a:lnTo>
                  <a:pt x="51" y="6"/>
                </a:lnTo>
                <a:lnTo>
                  <a:pt x="54" y="9"/>
                </a:lnTo>
                <a:lnTo>
                  <a:pt x="56" y="13"/>
                </a:lnTo>
                <a:lnTo>
                  <a:pt x="58" y="16"/>
                </a:lnTo>
                <a:lnTo>
                  <a:pt x="59" y="21"/>
                </a:lnTo>
                <a:lnTo>
                  <a:pt x="59" y="24"/>
                </a:lnTo>
                <a:lnTo>
                  <a:pt x="59" y="29"/>
                </a:lnTo>
                <a:lnTo>
                  <a:pt x="58" y="33"/>
                </a:lnTo>
                <a:lnTo>
                  <a:pt x="58" y="36"/>
                </a:lnTo>
                <a:lnTo>
                  <a:pt x="54" y="39"/>
                </a:lnTo>
                <a:lnTo>
                  <a:pt x="53" y="43"/>
                </a:lnTo>
                <a:lnTo>
                  <a:pt x="49" y="46"/>
                </a:lnTo>
                <a:lnTo>
                  <a:pt x="48" y="48"/>
                </a:lnTo>
                <a:lnTo>
                  <a:pt x="44" y="51"/>
                </a:lnTo>
                <a:lnTo>
                  <a:pt x="49" y="51"/>
                </a:lnTo>
                <a:lnTo>
                  <a:pt x="53" y="48"/>
                </a:lnTo>
                <a:lnTo>
                  <a:pt x="56" y="46"/>
                </a:lnTo>
                <a:lnTo>
                  <a:pt x="58" y="43"/>
                </a:lnTo>
                <a:lnTo>
                  <a:pt x="59" y="39"/>
                </a:lnTo>
                <a:lnTo>
                  <a:pt x="61" y="36"/>
                </a:lnTo>
                <a:lnTo>
                  <a:pt x="61" y="33"/>
                </a:lnTo>
                <a:lnTo>
                  <a:pt x="63" y="29"/>
                </a:lnTo>
                <a:lnTo>
                  <a:pt x="63" y="24"/>
                </a:lnTo>
                <a:close/>
                <a:moveTo>
                  <a:pt x="15" y="0"/>
                </a:moveTo>
                <a:lnTo>
                  <a:pt x="11" y="1"/>
                </a:lnTo>
                <a:lnTo>
                  <a:pt x="8" y="4"/>
                </a:lnTo>
                <a:lnTo>
                  <a:pt x="6" y="6"/>
                </a:lnTo>
                <a:lnTo>
                  <a:pt x="3" y="9"/>
                </a:lnTo>
                <a:lnTo>
                  <a:pt x="1" y="13"/>
                </a:lnTo>
                <a:lnTo>
                  <a:pt x="1" y="18"/>
                </a:lnTo>
                <a:lnTo>
                  <a:pt x="0" y="21"/>
                </a:lnTo>
                <a:lnTo>
                  <a:pt x="0" y="24"/>
                </a:lnTo>
                <a:lnTo>
                  <a:pt x="0" y="29"/>
                </a:lnTo>
                <a:lnTo>
                  <a:pt x="1" y="33"/>
                </a:lnTo>
                <a:lnTo>
                  <a:pt x="1" y="36"/>
                </a:lnTo>
                <a:lnTo>
                  <a:pt x="3" y="39"/>
                </a:lnTo>
                <a:lnTo>
                  <a:pt x="5" y="43"/>
                </a:lnTo>
                <a:lnTo>
                  <a:pt x="8" y="46"/>
                </a:lnTo>
                <a:lnTo>
                  <a:pt x="10" y="48"/>
                </a:lnTo>
                <a:lnTo>
                  <a:pt x="13" y="51"/>
                </a:lnTo>
                <a:lnTo>
                  <a:pt x="20" y="51"/>
                </a:lnTo>
                <a:lnTo>
                  <a:pt x="16" y="48"/>
                </a:lnTo>
                <a:lnTo>
                  <a:pt x="13" y="46"/>
                </a:lnTo>
                <a:lnTo>
                  <a:pt x="10" y="43"/>
                </a:lnTo>
                <a:lnTo>
                  <a:pt x="8" y="39"/>
                </a:lnTo>
                <a:lnTo>
                  <a:pt x="6" y="36"/>
                </a:lnTo>
                <a:lnTo>
                  <a:pt x="5" y="33"/>
                </a:lnTo>
                <a:lnTo>
                  <a:pt x="3" y="29"/>
                </a:lnTo>
                <a:lnTo>
                  <a:pt x="3" y="24"/>
                </a:lnTo>
                <a:lnTo>
                  <a:pt x="3" y="21"/>
                </a:lnTo>
                <a:lnTo>
                  <a:pt x="5" y="16"/>
                </a:lnTo>
                <a:lnTo>
                  <a:pt x="6" y="13"/>
                </a:lnTo>
                <a:lnTo>
                  <a:pt x="8" y="9"/>
                </a:lnTo>
                <a:lnTo>
                  <a:pt x="11" y="6"/>
                </a:lnTo>
                <a:lnTo>
                  <a:pt x="15" y="3"/>
                </a:lnTo>
                <a:lnTo>
                  <a:pt x="18" y="1"/>
                </a:lnTo>
                <a:lnTo>
                  <a:pt x="21" y="0"/>
                </a:lnTo>
                <a:lnTo>
                  <a:pt x="15"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34" name="Freeform 1839">
            <a:extLst>
              <a:ext uri="{FF2B5EF4-FFF2-40B4-BE49-F238E27FC236}">
                <a16:creationId xmlns:a16="http://schemas.microsoft.com/office/drawing/2014/main" id="{082CD79D-EF14-FBC2-C790-7692B93EF8BA}"/>
              </a:ext>
            </a:extLst>
          </p:cNvPr>
          <p:cNvSpPr>
            <a:spLocks noEditPoints="1"/>
          </p:cNvSpPr>
          <p:nvPr/>
        </p:nvSpPr>
        <p:spPr bwMode="auto">
          <a:xfrm>
            <a:off x="2509838" y="2719388"/>
            <a:ext cx="95250" cy="80963"/>
          </a:xfrm>
          <a:custGeom>
            <a:avLst/>
            <a:gdLst>
              <a:gd name="T0" fmla="*/ 60 w 60"/>
              <a:gd name="T1" fmla="*/ 21 h 51"/>
              <a:gd name="T2" fmla="*/ 58 w 60"/>
              <a:gd name="T3" fmla="*/ 13 h 51"/>
              <a:gd name="T4" fmla="*/ 53 w 60"/>
              <a:gd name="T5" fmla="*/ 6 h 51"/>
              <a:gd name="T6" fmla="*/ 48 w 60"/>
              <a:gd name="T7" fmla="*/ 1 h 51"/>
              <a:gd name="T8" fmla="*/ 33 w 60"/>
              <a:gd name="T9" fmla="*/ 0 h 51"/>
              <a:gd name="T10" fmla="*/ 43 w 60"/>
              <a:gd name="T11" fmla="*/ 1 h 51"/>
              <a:gd name="T12" fmla="*/ 50 w 60"/>
              <a:gd name="T13" fmla="*/ 8 h 51"/>
              <a:gd name="T14" fmla="*/ 55 w 60"/>
              <a:gd name="T15" fmla="*/ 16 h 51"/>
              <a:gd name="T16" fmla="*/ 57 w 60"/>
              <a:gd name="T17" fmla="*/ 24 h 51"/>
              <a:gd name="T18" fmla="*/ 55 w 60"/>
              <a:gd name="T19" fmla="*/ 33 h 51"/>
              <a:gd name="T20" fmla="*/ 52 w 60"/>
              <a:gd name="T21" fmla="*/ 41 h 51"/>
              <a:gd name="T22" fmla="*/ 45 w 60"/>
              <a:gd name="T23" fmla="*/ 46 h 51"/>
              <a:gd name="T24" fmla="*/ 38 w 60"/>
              <a:gd name="T25" fmla="*/ 51 h 51"/>
              <a:gd name="T26" fmla="*/ 48 w 60"/>
              <a:gd name="T27" fmla="*/ 48 h 51"/>
              <a:gd name="T28" fmla="*/ 55 w 60"/>
              <a:gd name="T29" fmla="*/ 43 h 51"/>
              <a:gd name="T30" fmla="*/ 58 w 60"/>
              <a:gd name="T31" fmla="*/ 36 h 51"/>
              <a:gd name="T32" fmla="*/ 60 w 60"/>
              <a:gd name="T33" fmla="*/ 29 h 51"/>
              <a:gd name="T34" fmla="*/ 17 w 60"/>
              <a:gd name="T35" fmla="*/ 0 h 51"/>
              <a:gd name="T36" fmla="*/ 10 w 60"/>
              <a:gd name="T37" fmla="*/ 3 h 51"/>
              <a:gd name="T38" fmla="*/ 5 w 60"/>
              <a:gd name="T39" fmla="*/ 9 h 51"/>
              <a:gd name="T40" fmla="*/ 2 w 60"/>
              <a:gd name="T41" fmla="*/ 16 h 51"/>
              <a:gd name="T42" fmla="*/ 0 w 60"/>
              <a:gd name="T43" fmla="*/ 24 h 51"/>
              <a:gd name="T44" fmla="*/ 2 w 60"/>
              <a:gd name="T45" fmla="*/ 33 h 51"/>
              <a:gd name="T46" fmla="*/ 4 w 60"/>
              <a:gd name="T47" fmla="*/ 39 h 51"/>
              <a:gd name="T48" fmla="*/ 9 w 60"/>
              <a:gd name="T49" fmla="*/ 46 h 51"/>
              <a:gd name="T50" fmla="*/ 15 w 60"/>
              <a:gd name="T51" fmla="*/ 51 h 51"/>
              <a:gd name="T52" fmla="*/ 19 w 60"/>
              <a:gd name="T53" fmla="*/ 49 h 51"/>
              <a:gd name="T54" fmla="*/ 12 w 60"/>
              <a:gd name="T55" fmla="*/ 44 h 51"/>
              <a:gd name="T56" fmla="*/ 7 w 60"/>
              <a:gd name="T57" fmla="*/ 38 h 51"/>
              <a:gd name="T58" fmla="*/ 4 w 60"/>
              <a:gd name="T59" fmla="*/ 29 h 51"/>
              <a:gd name="T60" fmla="*/ 4 w 60"/>
              <a:gd name="T61" fmla="*/ 19 h 51"/>
              <a:gd name="T62" fmla="*/ 7 w 60"/>
              <a:gd name="T63" fmla="*/ 11 h 51"/>
              <a:gd name="T64" fmla="*/ 14 w 60"/>
              <a:gd name="T65" fmla="*/ 4 h 51"/>
              <a:gd name="T66" fmla="*/ 22 w 60"/>
              <a:gd name="T67" fmla="*/ 0 h 51"/>
              <a:gd name="T68" fmla="*/ 17 w 6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 h="51">
                <a:moveTo>
                  <a:pt x="60" y="24"/>
                </a:moveTo>
                <a:lnTo>
                  <a:pt x="60" y="21"/>
                </a:lnTo>
                <a:lnTo>
                  <a:pt x="58" y="16"/>
                </a:lnTo>
                <a:lnTo>
                  <a:pt x="58" y="13"/>
                </a:lnTo>
                <a:lnTo>
                  <a:pt x="55" y="9"/>
                </a:lnTo>
                <a:lnTo>
                  <a:pt x="53" y="6"/>
                </a:lnTo>
                <a:lnTo>
                  <a:pt x="50" y="3"/>
                </a:lnTo>
                <a:lnTo>
                  <a:pt x="48" y="1"/>
                </a:lnTo>
                <a:lnTo>
                  <a:pt x="45" y="0"/>
                </a:lnTo>
                <a:lnTo>
                  <a:pt x="33" y="0"/>
                </a:lnTo>
                <a:lnTo>
                  <a:pt x="38" y="0"/>
                </a:lnTo>
                <a:lnTo>
                  <a:pt x="43" y="1"/>
                </a:lnTo>
                <a:lnTo>
                  <a:pt x="47" y="4"/>
                </a:lnTo>
                <a:lnTo>
                  <a:pt x="50" y="8"/>
                </a:lnTo>
                <a:lnTo>
                  <a:pt x="53" y="11"/>
                </a:lnTo>
                <a:lnTo>
                  <a:pt x="55" y="16"/>
                </a:lnTo>
                <a:lnTo>
                  <a:pt x="57" y="19"/>
                </a:lnTo>
                <a:lnTo>
                  <a:pt x="57" y="24"/>
                </a:lnTo>
                <a:lnTo>
                  <a:pt x="57" y="29"/>
                </a:lnTo>
                <a:lnTo>
                  <a:pt x="55" y="33"/>
                </a:lnTo>
                <a:lnTo>
                  <a:pt x="53" y="38"/>
                </a:lnTo>
                <a:lnTo>
                  <a:pt x="52" y="41"/>
                </a:lnTo>
                <a:lnTo>
                  <a:pt x="48" y="44"/>
                </a:lnTo>
                <a:lnTo>
                  <a:pt x="45" y="46"/>
                </a:lnTo>
                <a:lnTo>
                  <a:pt x="42" y="49"/>
                </a:lnTo>
                <a:lnTo>
                  <a:pt x="38" y="51"/>
                </a:lnTo>
                <a:lnTo>
                  <a:pt x="47" y="51"/>
                </a:lnTo>
                <a:lnTo>
                  <a:pt x="48" y="48"/>
                </a:lnTo>
                <a:lnTo>
                  <a:pt x="52" y="46"/>
                </a:lnTo>
                <a:lnTo>
                  <a:pt x="55" y="43"/>
                </a:lnTo>
                <a:lnTo>
                  <a:pt x="57" y="39"/>
                </a:lnTo>
                <a:lnTo>
                  <a:pt x="58" y="36"/>
                </a:lnTo>
                <a:lnTo>
                  <a:pt x="58" y="33"/>
                </a:lnTo>
                <a:lnTo>
                  <a:pt x="60" y="29"/>
                </a:lnTo>
                <a:lnTo>
                  <a:pt x="60" y="24"/>
                </a:lnTo>
                <a:close/>
                <a:moveTo>
                  <a:pt x="17" y="0"/>
                </a:moveTo>
                <a:lnTo>
                  <a:pt x="14" y="1"/>
                </a:lnTo>
                <a:lnTo>
                  <a:pt x="10" y="3"/>
                </a:lnTo>
                <a:lnTo>
                  <a:pt x="7" y="6"/>
                </a:lnTo>
                <a:lnTo>
                  <a:pt x="5" y="9"/>
                </a:lnTo>
                <a:lnTo>
                  <a:pt x="4" y="13"/>
                </a:lnTo>
                <a:lnTo>
                  <a:pt x="2" y="16"/>
                </a:lnTo>
                <a:lnTo>
                  <a:pt x="0" y="21"/>
                </a:lnTo>
                <a:lnTo>
                  <a:pt x="0" y="24"/>
                </a:lnTo>
                <a:lnTo>
                  <a:pt x="0" y="29"/>
                </a:lnTo>
                <a:lnTo>
                  <a:pt x="2" y="33"/>
                </a:lnTo>
                <a:lnTo>
                  <a:pt x="2" y="36"/>
                </a:lnTo>
                <a:lnTo>
                  <a:pt x="4" y="39"/>
                </a:lnTo>
                <a:lnTo>
                  <a:pt x="7" y="43"/>
                </a:lnTo>
                <a:lnTo>
                  <a:pt x="9" y="46"/>
                </a:lnTo>
                <a:lnTo>
                  <a:pt x="12" y="48"/>
                </a:lnTo>
                <a:lnTo>
                  <a:pt x="15" y="51"/>
                </a:lnTo>
                <a:lnTo>
                  <a:pt x="22" y="51"/>
                </a:lnTo>
                <a:lnTo>
                  <a:pt x="19" y="49"/>
                </a:lnTo>
                <a:lnTo>
                  <a:pt x="15" y="46"/>
                </a:lnTo>
                <a:lnTo>
                  <a:pt x="12" y="44"/>
                </a:lnTo>
                <a:lnTo>
                  <a:pt x="9" y="41"/>
                </a:lnTo>
                <a:lnTo>
                  <a:pt x="7" y="38"/>
                </a:lnTo>
                <a:lnTo>
                  <a:pt x="5" y="33"/>
                </a:lnTo>
                <a:lnTo>
                  <a:pt x="4" y="29"/>
                </a:lnTo>
                <a:lnTo>
                  <a:pt x="4" y="24"/>
                </a:lnTo>
                <a:lnTo>
                  <a:pt x="4" y="19"/>
                </a:lnTo>
                <a:lnTo>
                  <a:pt x="5" y="16"/>
                </a:lnTo>
                <a:lnTo>
                  <a:pt x="7" y="11"/>
                </a:lnTo>
                <a:lnTo>
                  <a:pt x="10" y="8"/>
                </a:lnTo>
                <a:lnTo>
                  <a:pt x="14" y="4"/>
                </a:lnTo>
                <a:lnTo>
                  <a:pt x="17" y="1"/>
                </a:lnTo>
                <a:lnTo>
                  <a:pt x="22" y="0"/>
                </a:lnTo>
                <a:lnTo>
                  <a:pt x="27" y="0"/>
                </a:lnTo>
                <a:lnTo>
                  <a:pt x="17" y="0"/>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35" name="Freeform 1840">
            <a:extLst>
              <a:ext uri="{FF2B5EF4-FFF2-40B4-BE49-F238E27FC236}">
                <a16:creationId xmlns:a16="http://schemas.microsoft.com/office/drawing/2014/main" id="{5DBEC44C-1AC4-740D-C2BE-93AFDB66D898}"/>
              </a:ext>
            </a:extLst>
          </p:cNvPr>
          <p:cNvSpPr>
            <a:spLocks noEditPoints="1"/>
          </p:cNvSpPr>
          <p:nvPr/>
        </p:nvSpPr>
        <p:spPr bwMode="auto">
          <a:xfrm>
            <a:off x="2513013" y="2719388"/>
            <a:ext cx="88900" cy="80963"/>
          </a:xfrm>
          <a:custGeom>
            <a:avLst/>
            <a:gdLst>
              <a:gd name="T0" fmla="*/ 56 w 56"/>
              <a:gd name="T1" fmla="*/ 21 h 51"/>
              <a:gd name="T2" fmla="*/ 53 w 56"/>
              <a:gd name="T3" fmla="*/ 13 h 51"/>
              <a:gd name="T4" fmla="*/ 48 w 56"/>
              <a:gd name="T5" fmla="*/ 6 h 51"/>
              <a:gd name="T6" fmla="*/ 43 w 56"/>
              <a:gd name="T7" fmla="*/ 1 h 51"/>
              <a:gd name="T8" fmla="*/ 18 w 56"/>
              <a:gd name="T9" fmla="*/ 0 h 51"/>
              <a:gd name="T10" fmla="*/ 12 w 56"/>
              <a:gd name="T11" fmla="*/ 3 h 51"/>
              <a:gd name="T12" fmla="*/ 5 w 56"/>
              <a:gd name="T13" fmla="*/ 9 h 51"/>
              <a:gd name="T14" fmla="*/ 2 w 56"/>
              <a:gd name="T15" fmla="*/ 16 h 51"/>
              <a:gd name="T16" fmla="*/ 0 w 56"/>
              <a:gd name="T17" fmla="*/ 24 h 51"/>
              <a:gd name="T18" fmla="*/ 2 w 56"/>
              <a:gd name="T19" fmla="*/ 33 h 51"/>
              <a:gd name="T20" fmla="*/ 5 w 56"/>
              <a:gd name="T21" fmla="*/ 39 h 51"/>
              <a:gd name="T22" fmla="*/ 10 w 56"/>
              <a:gd name="T23" fmla="*/ 46 h 51"/>
              <a:gd name="T24" fmla="*/ 17 w 56"/>
              <a:gd name="T25" fmla="*/ 51 h 51"/>
              <a:gd name="T26" fmla="*/ 45 w 56"/>
              <a:gd name="T27" fmla="*/ 48 h 51"/>
              <a:gd name="T28" fmla="*/ 50 w 56"/>
              <a:gd name="T29" fmla="*/ 43 h 51"/>
              <a:gd name="T30" fmla="*/ 55 w 56"/>
              <a:gd name="T31" fmla="*/ 36 h 51"/>
              <a:gd name="T32" fmla="*/ 56 w 56"/>
              <a:gd name="T33" fmla="*/ 29 h 51"/>
              <a:gd name="T34" fmla="*/ 53 w 56"/>
              <a:gd name="T35" fmla="*/ 24 h 51"/>
              <a:gd name="T36" fmla="*/ 51 w 56"/>
              <a:gd name="T37" fmla="*/ 34 h 51"/>
              <a:gd name="T38" fmla="*/ 46 w 56"/>
              <a:gd name="T39" fmla="*/ 43 h 51"/>
              <a:gd name="T40" fmla="*/ 38 w 56"/>
              <a:gd name="T41" fmla="*/ 48 h 51"/>
              <a:gd name="T42" fmla="*/ 28 w 56"/>
              <a:gd name="T43" fmla="*/ 49 h 51"/>
              <a:gd name="T44" fmla="*/ 18 w 56"/>
              <a:gd name="T45" fmla="*/ 48 h 51"/>
              <a:gd name="T46" fmla="*/ 12 w 56"/>
              <a:gd name="T47" fmla="*/ 43 h 51"/>
              <a:gd name="T48" fmla="*/ 5 w 56"/>
              <a:gd name="T49" fmla="*/ 34 h 51"/>
              <a:gd name="T50" fmla="*/ 3 w 56"/>
              <a:gd name="T51" fmla="*/ 24 h 51"/>
              <a:gd name="T52" fmla="*/ 5 w 56"/>
              <a:gd name="T53" fmla="*/ 16 h 51"/>
              <a:gd name="T54" fmla="*/ 12 w 56"/>
              <a:gd name="T55" fmla="*/ 8 h 51"/>
              <a:gd name="T56" fmla="*/ 18 w 56"/>
              <a:gd name="T57" fmla="*/ 3 h 51"/>
              <a:gd name="T58" fmla="*/ 28 w 56"/>
              <a:gd name="T59" fmla="*/ 0 h 51"/>
              <a:gd name="T60" fmla="*/ 38 w 56"/>
              <a:gd name="T61" fmla="*/ 3 h 51"/>
              <a:gd name="T62" fmla="*/ 46 w 56"/>
              <a:gd name="T63" fmla="*/ 8 h 51"/>
              <a:gd name="T64" fmla="*/ 51 w 56"/>
              <a:gd name="T65" fmla="*/ 16 h 51"/>
              <a:gd name="T66" fmla="*/ 53 w 56"/>
              <a:gd name="T67" fmla="*/ 2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6" h="51">
                <a:moveTo>
                  <a:pt x="56" y="24"/>
                </a:moveTo>
                <a:lnTo>
                  <a:pt x="56" y="21"/>
                </a:lnTo>
                <a:lnTo>
                  <a:pt x="55" y="16"/>
                </a:lnTo>
                <a:lnTo>
                  <a:pt x="53" y="13"/>
                </a:lnTo>
                <a:lnTo>
                  <a:pt x="51" y="9"/>
                </a:lnTo>
                <a:lnTo>
                  <a:pt x="48" y="6"/>
                </a:lnTo>
                <a:lnTo>
                  <a:pt x="46" y="3"/>
                </a:lnTo>
                <a:lnTo>
                  <a:pt x="43" y="1"/>
                </a:lnTo>
                <a:lnTo>
                  <a:pt x="38" y="0"/>
                </a:lnTo>
                <a:lnTo>
                  <a:pt x="18" y="0"/>
                </a:lnTo>
                <a:lnTo>
                  <a:pt x="15" y="1"/>
                </a:lnTo>
                <a:lnTo>
                  <a:pt x="12" y="3"/>
                </a:lnTo>
                <a:lnTo>
                  <a:pt x="8" y="6"/>
                </a:lnTo>
                <a:lnTo>
                  <a:pt x="5" y="9"/>
                </a:lnTo>
                <a:lnTo>
                  <a:pt x="3" y="13"/>
                </a:lnTo>
                <a:lnTo>
                  <a:pt x="2" y="16"/>
                </a:lnTo>
                <a:lnTo>
                  <a:pt x="0" y="21"/>
                </a:lnTo>
                <a:lnTo>
                  <a:pt x="0" y="24"/>
                </a:lnTo>
                <a:lnTo>
                  <a:pt x="0" y="29"/>
                </a:lnTo>
                <a:lnTo>
                  <a:pt x="2" y="33"/>
                </a:lnTo>
                <a:lnTo>
                  <a:pt x="3" y="36"/>
                </a:lnTo>
                <a:lnTo>
                  <a:pt x="5" y="39"/>
                </a:lnTo>
                <a:lnTo>
                  <a:pt x="7" y="43"/>
                </a:lnTo>
                <a:lnTo>
                  <a:pt x="10" y="46"/>
                </a:lnTo>
                <a:lnTo>
                  <a:pt x="13" y="48"/>
                </a:lnTo>
                <a:lnTo>
                  <a:pt x="17" y="51"/>
                </a:lnTo>
                <a:lnTo>
                  <a:pt x="41" y="51"/>
                </a:lnTo>
                <a:lnTo>
                  <a:pt x="45" y="48"/>
                </a:lnTo>
                <a:lnTo>
                  <a:pt x="46" y="46"/>
                </a:lnTo>
                <a:lnTo>
                  <a:pt x="50" y="43"/>
                </a:lnTo>
                <a:lnTo>
                  <a:pt x="51" y="39"/>
                </a:lnTo>
                <a:lnTo>
                  <a:pt x="55" y="36"/>
                </a:lnTo>
                <a:lnTo>
                  <a:pt x="55" y="33"/>
                </a:lnTo>
                <a:lnTo>
                  <a:pt x="56" y="29"/>
                </a:lnTo>
                <a:lnTo>
                  <a:pt x="56" y="24"/>
                </a:lnTo>
                <a:close/>
                <a:moveTo>
                  <a:pt x="53" y="24"/>
                </a:moveTo>
                <a:lnTo>
                  <a:pt x="53" y="29"/>
                </a:lnTo>
                <a:lnTo>
                  <a:pt x="51" y="34"/>
                </a:lnTo>
                <a:lnTo>
                  <a:pt x="48" y="39"/>
                </a:lnTo>
                <a:lnTo>
                  <a:pt x="46" y="43"/>
                </a:lnTo>
                <a:lnTo>
                  <a:pt x="41" y="46"/>
                </a:lnTo>
                <a:lnTo>
                  <a:pt x="38" y="48"/>
                </a:lnTo>
                <a:lnTo>
                  <a:pt x="33" y="49"/>
                </a:lnTo>
                <a:lnTo>
                  <a:pt x="28" y="49"/>
                </a:lnTo>
                <a:lnTo>
                  <a:pt x="23" y="49"/>
                </a:lnTo>
                <a:lnTo>
                  <a:pt x="18" y="48"/>
                </a:lnTo>
                <a:lnTo>
                  <a:pt x="15" y="46"/>
                </a:lnTo>
                <a:lnTo>
                  <a:pt x="12" y="43"/>
                </a:lnTo>
                <a:lnTo>
                  <a:pt x="8" y="39"/>
                </a:lnTo>
                <a:lnTo>
                  <a:pt x="5" y="34"/>
                </a:lnTo>
                <a:lnTo>
                  <a:pt x="3" y="29"/>
                </a:lnTo>
                <a:lnTo>
                  <a:pt x="3" y="24"/>
                </a:lnTo>
                <a:lnTo>
                  <a:pt x="3" y="19"/>
                </a:lnTo>
                <a:lnTo>
                  <a:pt x="5" y="16"/>
                </a:lnTo>
                <a:lnTo>
                  <a:pt x="8" y="11"/>
                </a:lnTo>
                <a:lnTo>
                  <a:pt x="12" y="8"/>
                </a:lnTo>
                <a:lnTo>
                  <a:pt x="15" y="4"/>
                </a:lnTo>
                <a:lnTo>
                  <a:pt x="18" y="3"/>
                </a:lnTo>
                <a:lnTo>
                  <a:pt x="23" y="1"/>
                </a:lnTo>
                <a:lnTo>
                  <a:pt x="28" y="0"/>
                </a:lnTo>
                <a:lnTo>
                  <a:pt x="33" y="1"/>
                </a:lnTo>
                <a:lnTo>
                  <a:pt x="38" y="3"/>
                </a:lnTo>
                <a:lnTo>
                  <a:pt x="41" y="4"/>
                </a:lnTo>
                <a:lnTo>
                  <a:pt x="46" y="8"/>
                </a:lnTo>
                <a:lnTo>
                  <a:pt x="48" y="11"/>
                </a:lnTo>
                <a:lnTo>
                  <a:pt x="51" y="16"/>
                </a:lnTo>
                <a:lnTo>
                  <a:pt x="53" y="19"/>
                </a:lnTo>
                <a:lnTo>
                  <a:pt x="53" y="24"/>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36" name="Freeform 1841">
            <a:extLst>
              <a:ext uri="{FF2B5EF4-FFF2-40B4-BE49-F238E27FC236}">
                <a16:creationId xmlns:a16="http://schemas.microsoft.com/office/drawing/2014/main" id="{D6417F93-AB69-9166-18AA-2A65446B3EF6}"/>
              </a:ext>
            </a:extLst>
          </p:cNvPr>
          <p:cNvSpPr>
            <a:spLocks noEditPoints="1"/>
          </p:cNvSpPr>
          <p:nvPr/>
        </p:nvSpPr>
        <p:spPr bwMode="auto">
          <a:xfrm>
            <a:off x="2516188" y="2719388"/>
            <a:ext cx="84138" cy="80963"/>
          </a:xfrm>
          <a:custGeom>
            <a:avLst/>
            <a:gdLst>
              <a:gd name="T0" fmla="*/ 53 w 53"/>
              <a:gd name="T1" fmla="*/ 19 h 51"/>
              <a:gd name="T2" fmla="*/ 49 w 53"/>
              <a:gd name="T3" fmla="*/ 11 h 51"/>
              <a:gd name="T4" fmla="*/ 43 w 53"/>
              <a:gd name="T5" fmla="*/ 4 h 51"/>
              <a:gd name="T6" fmla="*/ 34 w 53"/>
              <a:gd name="T7" fmla="*/ 0 h 51"/>
              <a:gd name="T8" fmla="*/ 23 w 53"/>
              <a:gd name="T9" fmla="*/ 0 h 51"/>
              <a:gd name="T10" fmla="*/ 13 w 53"/>
              <a:gd name="T11" fmla="*/ 1 h 51"/>
              <a:gd name="T12" fmla="*/ 6 w 53"/>
              <a:gd name="T13" fmla="*/ 8 h 51"/>
              <a:gd name="T14" fmla="*/ 1 w 53"/>
              <a:gd name="T15" fmla="*/ 16 h 51"/>
              <a:gd name="T16" fmla="*/ 0 w 53"/>
              <a:gd name="T17" fmla="*/ 24 h 51"/>
              <a:gd name="T18" fmla="*/ 1 w 53"/>
              <a:gd name="T19" fmla="*/ 33 h 51"/>
              <a:gd name="T20" fmla="*/ 5 w 53"/>
              <a:gd name="T21" fmla="*/ 41 h 51"/>
              <a:gd name="T22" fmla="*/ 11 w 53"/>
              <a:gd name="T23" fmla="*/ 46 h 51"/>
              <a:gd name="T24" fmla="*/ 18 w 53"/>
              <a:gd name="T25" fmla="*/ 51 h 51"/>
              <a:gd name="T26" fmla="*/ 38 w 53"/>
              <a:gd name="T27" fmla="*/ 49 h 51"/>
              <a:gd name="T28" fmla="*/ 44 w 53"/>
              <a:gd name="T29" fmla="*/ 44 h 51"/>
              <a:gd name="T30" fmla="*/ 49 w 53"/>
              <a:gd name="T31" fmla="*/ 38 h 51"/>
              <a:gd name="T32" fmla="*/ 53 w 53"/>
              <a:gd name="T33" fmla="*/ 29 h 51"/>
              <a:gd name="T34" fmla="*/ 49 w 53"/>
              <a:gd name="T35" fmla="*/ 24 h 51"/>
              <a:gd name="T36" fmla="*/ 48 w 53"/>
              <a:gd name="T37" fmla="*/ 34 h 51"/>
              <a:gd name="T38" fmla="*/ 43 w 53"/>
              <a:gd name="T39" fmla="*/ 41 h 51"/>
              <a:gd name="T40" fmla="*/ 36 w 53"/>
              <a:gd name="T41" fmla="*/ 46 h 51"/>
              <a:gd name="T42" fmla="*/ 26 w 53"/>
              <a:gd name="T43" fmla="*/ 48 h 51"/>
              <a:gd name="T44" fmla="*/ 18 w 53"/>
              <a:gd name="T45" fmla="*/ 46 h 51"/>
              <a:gd name="T46" fmla="*/ 10 w 53"/>
              <a:gd name="T47" fmla="*/ 41 h 51"/>
              <a:gd name="T48" fmla="*/ 5 w 53"/>
              <a:gd name="T49" fmla="*/ 34 h 51"/>
              <a:gd name="T50" fmla="*/ 3 w 53"/>
              <a:gd name="T51" fmla="*/ 24 h 51"/>
              <a:gd name="T52" fmla="*/ 5 w 53"/>
              <a:gd name="T53" fmla="*/ 16 h 51"/>
              <a:gd name="T54" fmla="*/ 10 w 53"/>
              <a:gd name="T55" fmla="*/ 9 h 51"/>
              <a:gd name="T56" fmla="*/ 18 w 53"/>
              <a:gd name="T57" fmla="*/ 4 h 51"/>
              <a:gd name="T58" fmla="*/ 26 w 53"/>
              <a:gd name="T59" fmla="*/ 1 h 51"/>
              <a:gd name="T60" fmla="*/ 36 w 53"/>
              <a:gd name="T61" fmla="*/ 4 h 51"/>
              <a:gd name="T62" fmla="*/ 43 w 53"/>
              <a:gd name="T63" fmla="*/ 9 h 51"/>
              <a:gd name="T64" fmla="*/ 48 w 53"/>
              <a:gd name="T65" fmla="*/ 16 h 51"/>
              <a:gd name="T66" fmla="*/ 49 w 53"/>
              <a:gd name="T67" fmla="*/ 2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3" h="51">
                <a:moveTo>
                  <a:pt x="53" y="24"/>
                </a:moveTo>
                <a:lnTo>
                  <a:pt x="53" y="19"/>
                </a:lnTo>
                <a:lnTo>
                  <a:pt x="51" y="16"/>
                </a:lnTo>
                <a:lnTo>
                  <a:pt x="49" y="11"/>
                </a:lnTo>
                <a:lnTo>
                  <a:pt x="46" y="8"/>
                </a:lnTo>
                <a:lnTo>
                  <a:pt x="43" y="4"/>
                </a:lnTo>
                <a:lnTo>
                  <a:pt x="39" y="1"/>
                </a:lnTo>
                <a:lnTo>
                  <a:pt x="34" y="0"/>
                </a:lnTo>
                <a:lnTo>
                  <a:pt x="29" y="0"/>
                </a:lnTo>
                <a:lnTo>
                  <a:pt x="23" y="0"/>
                </a:lnTo>
                <a:lnTo>
                  <a:pt x="18" y="0"/>
                </a:lnTo>
                <a:lnTo>
                  <a:pt x="13" y="1"/>
                </a:lnTo>
                <a:lnTo>
                  <a:pt x="10" y="4"/>
                </a:lnTo>
                <a:lnTo>
                  <a:pt x="6" y="8"/>
                </a:lnTo>
                <a:lnTo>
                  <a:pt x="3" y="11"/>
                </a:lnTo>
                <a:lnTo>
                  <a:pt x="1" y="16"/>
                </a:lnTo>
                <a:lnTo>
                  <a:pt x="0" y="19"/>
                </a:lnTo>
                <a:lnTo>
                  <a:pt x="0" y="24"/>
                </a:lnTo>
                <a:lnTo>
                  <a:pt x="0" y="29"/>
                </a:lnTo>
                <a:lnTo>
                  <a:pt x="1" y="33"/>
                </a:lnTo>
                <a:lnTo>
                  <a:pt x="3" y="38"/>
                </a:lnTo>
                <a:lnTo>
                  <a:pt x="5" y="41"/>
                </a:lnTo>
                <a:lnTo>
                  <a:pt x="8" y="44"/>
                </a:lnTo>
                <a:lnTo>
                  <a:pt x="11" y="46"/>
                </a:lnTo>
                <a:lnTo>
                  <a:pt x="15" y="49"/>
                </a:lnTo>
                <a:lnTo>
                  <a:pt x="18" y="51"/>
                </a:lnTo>
                <a:lnTo>
                  <a:pt x="34" y="51"/>
                </a:lnTo>
                <a:lnTo>
                  <a:pt x="38" y="49"/>
                </a:lnTo>
                <a:lnTo>
                  <a:pt x="41" y="46"/>
                </a:lnTo>
                <a:lnTo>
                  <a:pt x="44" y="44"/>
                </a:lnTo>
                <a:lnTo>
                  <a:pt x="48" y="41"/>
                </a:lnTo>
                <a:lnTo>
                  <a:pt x="49" y="38"/>
                </a:lnTo>
                <a:lnTo>
                  <a:pt x="51" y="33"/>
                </a:lnTo>
                <a:lnTo>
                  <a:pt x="53" y="29"/>
                </a:lnTo>
                <a:lnTo>
                  <a:pt x="53" y="24"/>
                </a:lnTo>
                <a:close/>
                <a:moveTo>
                  <a:pt x="49" y="24"/>
                </a:moveTo>
                <a:lnTo>
                  <a:pt x="49" y="29"/>
                </a:lnTo>
                <a:lnTo>
                  <a:pt x="48" y="34"/>
                </a:lnTo>
                <a:lnTo>
                  <a:pt x="46" y="38"/>
                </a:lnTo>
                <a:lnTo>
                  <a:pt x="43" y="41"/>
                </a:lnTo>
                <a:lnTo>
                  <a:pt x="39" y="44"/>
                </a:lnTo>
                <a:lnTo>
                  <a:pt x="36" y="46"/>
                </a:lnTo>
                <a:lnTo>
                  <a:pt x="31" y="48"/>
                </a:lnTo>
                <a:lnTo>
                  <a:pt x="26" y="48"/>
                </a:lnTo>
                <a:lnTo>
                  <a:pt x="21" y="48"/>
                </a:lnTo>
                <a:lnTo>
                  <a:pt x="18" y="46"/>
                </a:lnTo>
                <a:lnTo>
                  <a:pt x="13" y="44"/>
                </a:lnTo>
                <a:lnTo>
                  <a:pt x="10" y="41"/>
                </a:lnTo>
                <a:lnTo>
                  <a:pt x="8" y="38"/>
                </a:lnTo>
                <a:lnTo>
                  <a:pt x="5" y="34"/>
                </a:lnTo>
                <a:lnTo>
                  <a:pt x="3" y="29"/>
                </a:lnTo>
                <a:lnTo>
                  <a:pt x="3" y="24"/>
                </a:lnTo>
                <a:lnTo>
                  <a:pt x="3" y="21"/>
                </a:lnTo>
                <a:lnTo>
                  <a:pt x="5" y="16"/>
                </a:lnTo>
                <a:lnTo>
                  <a:pt x="8" y="13"/>
                </a:lnTo>
                <a:lnTo>
                  <a:pt x="10" y="9"/>
                </a:lnTo>
                <a:lnTo>
                  <a:pt x="13" y="6"/>
                </a:lnTo>
                <a:lnTo>
                  <a:pt x="18" y="4"/>
                </a:lnTo>
                <a:lnTo>
                  <a:pt x="21" y="3"/>
                </a:lnTo>
                <a:lnTo>
                  <a:pt x="26" y="1"/>
                </a:lnTo>
                <a:lnTo>
                  <a:pt x="31" y="3"/>
                </a:lnTo>
                <a:lnTo>
                  <a:pt x="36" y="4"/>
                </a:lnTo>
                <a:lnTo>
                  <a:pt x="39" y="6"/>
                </a:lnTo>
                <a:lnTo>
                  <a:pt x="43" y="9"/>
                </a:lnTo>
                <a:lnTo>
                  <a:pt x="46" y="13"/>
                </a:lnTo>
                <a:lnTo>
                  <a:pt x="48" y="16"/>
                </a:lnTo>
                <a:lnTo>
                  <a:pt x="49" y="21"/>
                </a:lnTo>
                <a:lnTo>
                  <a:pt x="49" y="24"/>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37" name="Freeform 1842">
            <a:extLst>
              <a:ext uri="{FF2B5EF4-FFF2-40B4-BE49-F238E27FC236}">
                <a16:creationId xmlns:a16="http://schemas.microsoft.com/office/drawing/2014/main" id="{1452A7A7-DF33-1726-9495-4FE742EB3B8E}"/>
              </a:ext>
            </a:extLst>
          </p:cNvPr>
          <p:cNvSpPr>
            <a:spLocks noEditPoints="1"/>
          </p:cNvSpPr>
          <p:nvPr/>
        </p:nvSpPr>
        <p:spPr bwMode="auto">
          <a:xfrm>
            <a:off x="2517775" y="2719388"/>
            <a:ext cx="79375" cy="77788"/>
          </a:xfrm>
          <a:custGeom>
            <a:avLst/>
            <a:gdLst>
              <a:gd name="T0" fmla="*/ 50 w 50"/>
              <a:gd name="T1" fmla="*/ 19 h 49"/>
              <a:gd name="T2" fmla="*/ 45 w 50"/>
              <a:gd name="T3" fmla="*/ 11 h 49"/>
              <a:gd name="T4" fmla="*/ 38 w 50"/>
              <a:gd name="T5" fmla="*/ 4 h 49"/>
              <a:gd name="T6" fmla="*/ 30 w 50"/>
              <a:gd name="T7" fmla="*/ 1 h 49"/>
              <a:gd name="T8" fmla="*/ 20 w 50"/>
              <a:gd name="T9" fmla="*/ 1 h 49"/>
              <a:gd name="T10" fmla="*/ 12 w 50"/>
              <a:gd name="T11" fmla="*/ 4 h 49"/>
              <a:gd name="T12" fmla="*/ 5 w 50"/>
              <a:gd name="T13" fmla="*/ 11 h 49"/>
              <a:gd name="T14" fmla="*/ 0 w 50"/>
              <a:gd name="T15" fmla="*/ 19 h 49"/>
              <a:gd name="T16" fmla="*/ 0 w 50"/>
              <a:gd name="T17" fmla="*/ 29 h 49"/>
              <a:gd name="T18" fmla="*/ 5 w 50"/>
              <a:gd name="T19" fmla="*/ 39 h 49"/>
              <a:gd name="T20" fmla="*/ 12 w 50"/>
              <a:gd name="T21" fmla="*/ 46 h 49"/>
              <a:gd name="T22" fmla="*/ 20 w 50"/>
              <a:gd name="T23" fmla="*/ 49 h 49"/>
              <a:gd name="T24" fmla="*/ 30 w 50"/>
              <a:gd name="T25" fmla="*/ 49 h 49"/>
              <a:gd name="T26" fmla="*/ 38 w 50"/>
              <a:gd name="T27" fmla="*/ 46 h 49"/>
              <a:gd name="T28" fmla="*/ 45 w 50"/>
              <a:gd name="T29" fmla="*/ 39 h 49"/>
              <a:gd name="T30" fmla="*/ 50 w 50"/>
              <a:gd name="T31" fmla="*/ 29 h 49"/>
              <a:gd name="T32" fmla="*/ 47 w 50"/>
              <a:gd name="T33" fmla="*/ 24 h 49"/>
              <a:gd name="T34" fmla="*/ 45 w 50"/>
              <a:gd name="T35" fmla="*/ 33 h 49"/>
              <a:gd name="T36" fmla="*/ 40 w 50"/>
              <a:gd name="T37" fmla="*/ 41 h 49"/>
              <a:gd name="T38" fmla="*/ 33 w 50"/>
              <a:gd name="T39" fmla="*/ 44 h 49"/>
              <a:gd name="T40" fmla="*/ 25 w 50"/>
              <a:gd name="T41" fmla="*/ 46 h 49"/>
              <a:gd name="T42" fmla="*/ 17 w 50"/>
              <a:gd name="T43" fmla="*/ 44 h 49"/>
              <a:gd name="T44" fmla="*/ 10 w 50"/>
              <a:gd name="T45" fmla="*/ 41 h 49"/>
              <a:gd name="T46" fmla="*/ 5 w 50"/>
              <a:gd name="T47" fmla="*/ 33 h 49"/>
              <a:gd name="T48" fmla="*/ 4 w 50"/>
              <a:gd name="T49" fmla="*/ 24 h 49"/>
              <a:gd name="T50" fmla="*/ 5 w 50"/>
              <a:gd name="T51" fmla="*/ 16 h 49"/>
              <a:gd name="T52" fmla="*/ 10 w 50"/>
              <a:gd name="T53" fmla="*/ 9 h 49"/>
              <a:gd name="T54" fmla="*/ 17 w 50"/>
              <a:gd name="T55" fmla="*/ 4 h 49"/>
              <a:gd name="T56" fmla="*/ 25 w 50"/>
              <a:gd name="T57" fmla="*/ 3 h 49"/>
              <a:gd name="T58" fmla="*/ 33 w 50"/>
              <a:gd name="T59" fmla="*/ 4 h 49"/>
              <a:gd name="T60" fmla="*/ 40 w 50"/>
              <a:gd name="T61" fmla="*/ 9 h 49"/>
              <a:gd name="T62" fmla="*/ 45 w 50"/>
              <a:gd name="T63" fmla="*/ 16 h 49"/>
              <a:gd name="T64" fmla="*/ 47 w 50"/>
              <a:gd name="T65" fmla="*/ 24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0" h="49">
                <a:moveTo>
                  <a:pt x="50" y="24"/>
                </a:moveTo>
                <a:lnTo>
                  <a:pt x="50" y="19"/>
                </a:lnTo>
                <a:lnTo>
                  <a:pt x="48" y="16"/>
                </a:lnTo>
                <a:lnTo>
                  <a:pt x="45" y="11"/>
                </a:lnTo>
                <a:lnTo>
                  <a:pt x="43" y="8"/>
                </a:lnTo>
                <a:lnTo>
                  <a:pt x="38" y="4"/>
                </a:lnTo>
                <a:lnTo>
                  <a:pt x="35" y="3"/>
                </a:lnTo>
                <a:lnTo>
                  <a:pt x="30" y="1"/>
                </a:lnTo>
                <a:lnTo>
                  <a:pt x="25" y="0"/>
                </a:lnTo>
                <a:lnTo>
                  <a:pt x="20" y="1"/>
                </a:lnTo>
                <a:lnTo>
                  <a:pt x="15" y="3"/>
                </a:lnTo>
                <a:lnTo>
                  <a:pt x="12" y="4"/>
                </a:lnTo>
                <a:lnTo>
                  <a:pt x="9" y="8"/>
                </a:lnTo>
                <a:lnTo>
                  <a:pt x="5" y="11"/>
                </a:lnTo>
                <a:lnTo>
                  <a:pt x="2" y="16"/>
                </a:lnTo>
                <a:lnTo>
                  <a:pt x="0" y="19"/>
                </a:lnTo>
                <a:lnTo>
                  <a:pt x="0" y="24"/>
                </a:lnTo>
                <a:lnTo>
                  <a:pt x="0" y="29"/>
                </a:lnTo>
                <a:lnTo>
                  <a:pt x="2" y="34"/>
                </a:lnTo>
                <a:lnTo>
                  <a:pt x="5" y="39"/>
                </a:lnTo>
                <a:lnTo>
                  <a:pt x="9" y="43"/>
                </a:lnTo>
                <a:lnTo>
                  <a:pt x="12" y="46"/>
                </a:lnTo>
                <a:lnTo>
                  <a:pt x="15" y="48"/>
                </a:lnTo>
                <a:lnTo>
                  <a:pt x="20" y="49"/>
                </a:lnTo>
                <a:lnTo>
                  <a:pt x="25" y="49"/>
                </a:lnTo>
                <a:lnTo>
                  <a:pt x="30" y="49"/>
                </a:lnTo>
                <a:lnTo>
                  <a:pt x="35" y="48"/>
                </a:lnTo>
                <a:lnTo>
                  <a:pt x="38" y="46"/>
                </a:lnTo>
                <a:lnTo>
                  <a:pt x="43" y="43"/>
                </a:lnTo>
                <a:lnTo>
                  <a:pt x="45" y="39"/>
                </a:lnTo>
                <a:lnTo>
                  <a:pt x="48" y="34"/>
                </a:lnTo>
                <a:lnTo>
                  <a:pt x="50" y="29"/>
                </a:lnTo>
                <a:lnTo>
                  <a:pt x="50" y="24"/>
                </a:lnTo>
                <a:close/>
                <a:moveTo>
                  <a:pt x="47" y="24"/>
                </a:moveTo>
                <a:lnTo>
                  <a:pt x="47" y="29"/>
                </a:lnTo>
                <a:lnTo>
                  <a:pt x="45" y="33"/>
                </a:lnTo>
                <a:lnTo>
                  <a:pt x="43" y="38"/>
                </a:lnTo>
                <a:lnTo>
                  <a:pt x="40" y="41"/>
                </a:lnTo>
                <a:lnTo>
                  <a:pt x="37" y="43"/>
                </a:lnTo>
                <a:lnTo>
                  <a:pt x="33" y="44"/>
                </a:lnTo>
                <a:lnTo>
                  <a:pt x="30" y="46"/>
                </a:lnTo>
                <a:lnTo>
                  <a:pt x="25" y="46"/>
                </a:lnTo>
                <a:lnTo>
                  <a:pt x="20" y="46"/>
                </a:lnTo>
                <a:lnTo>
                  <a:pt x="17" y="44"/>
                </a:lnTo>
                <a:lnTo>
                  <a:pt x="14" y="43"/>
                </a:lnTo>
                <a:lnTo>
                  <a:pt x="10" y="41"/>
                </a:lnTo>
                <a:lnTo>
                  <a:pt x="7" y="38"/>
                </a:lnTo>
                <a:lnTo>
                  <a:pt x="5" y="33"/>
                </a:lnTo>
                <a:lnTo>
                  <a:pt x="4" y="29"/>
                </a:lnTo>
                <a:lnTo>
                  <a:pt x="4" y="24"/>
                </a:lnTo>
                <a:lnTo>
                  <a:pt x="4" y="21"/>
                </a:lnTo>
                <a:lnTo>
                  <a:pt x="5" y="16"/>
                </a:lnTo>
                <a:lnTo>
                  <a:pt x="7" y="13"/>
                </a:lnTo>
                <a:lnTo>
                  <a:pt x="10" y="9"/>
                </a:lnTo>
                <a:lnTo>
                  <a:pt x="14" y="8"/>
                </a:lnTo>
                <a:lnTo>
                  <a:pt x="17" y="4"/>
                </a:lnTo>
                <a:lnTo>
                  <a:pt x="20" y="4"/>
                </a:lnTo>
                <a:lnTo>
                  <a:pt x="25" y="3"/>
                </a:lnTo>
                <a:lnTo>
                  <a:pt x="30" y="4"/>
                </a:lnTo>
                <a:lnTo>
                  <a:pt x="33" y="4"/>
                </a:lnTo>
                <a:lnTo>
                  <a:pt x="37" y="8"/>
                </a:lnTo>
                <a:lnTo>
                  <a:pt x="40" y="9"/>
                </a:lnTo>
                <a:lnTo>
                  <a:pt x="43" y="13"/>
                </a:lnTo>
                <a:lnTo>
                  <a:pt x="45" y="16"/>
                </a:lnTo>
                <a:lnTo>
                  <a:pt x="47" y="21"/>
                </a:lnTo>
                <a:lnTo>
                  <a:pt x="47" y="24"/>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38" name="Freeform 1843">
            <a:extLst>
              <a:ext uri="{FF2B5EF4-FFF2-40B4-BE49-F238E27FC236}">
                <a16:creationId xmlns:a16="http://schemas.microsoft.com/office/drawing/2014/main" id="{E3A607B0-59CF-844E-D3A7-6EB9BDF97D39}"/>
              </a:ext>
            </a:extLst>
          </p:cNvPr>
          <p:cNvSpPr>
            <a:spLocks noEditPoints="1"/>
          </p:cNvSpPr>
          <p:nvPr/>
        </p:nvSpPr>
        <p:spPr bwMode="auto">
          <a:xfrm>
            <a:off x="2520950" y="2720975"/>
            <a:ext cx="73025" cy="74613"/>
          </a:xfrm>
          <a:custGeom>
            <a:avLst/>
            <a:gdLst>
              <a:gd name="T0" fmla="*/ 46 w 46"/>
              <a:gd name="T1" fmla="*/ 20 h 47"/>
              <a:gd name="T2" fmla="*/ 43 w 46"/>
              <a:gd name="T3" fmla="*/ 12 h 47"/>
              <a:gd name="T4" fmla="*/ 36 w 46"/>
              <a:gd name="T5" fmla="*/ 5 h 47"/>
              <a:gd name="T6" fmla="*/ 28 w 46"/>
              <a:gd name="T7" fmla="*/ 2 h 47"/>
              <a:gd name="T8" fmla="*/ 18 w 46"/>
              <a:gd name="T9" fmla="*/ 2 h 47"/>
              <a:gd name="T10" fmla="*/ 10 w 46"/>
              <a:gd name="T11" fmla="*/ 5 h 47"/>
              <a:gd name="T12" fmla="*/ 5 w 46"/>
              <a:gd name="T13" fmla="*/ 12 h 47"/>
              <a:gd name="T14" fmla="*/ 0 w 46"/>
              <a:gd name="T15" fmla="*/ 20 h 47"/>
              <a:gd name="T16" fmla="*/ 0 w 46"/>
              <a:gd name="T17" fmla="*/ 28 h 47"/>
              <a:gd name="T18" fmla="*/ 5 w 46"/>
              <a:gd name="T19" fmla="*/ 37 h 47"/>
              <a:gd name="T20" fmla="*/ 10 w 46"/>
              <a:gd name="T21" fmla="*/ 43 h 47"/>
              <a:gd name="T22" fmla="*/ 18 w 46"/>
              <a:gd name="T23" fmla="*/ 47 h 47"/>
              <a:gd name="T24" fmla="*/ 28 w 46"/>
              <a:gd name="T25" fmla="*/ 47 h 47"/>
              <a:gd name="T26" fmla="*/ 36 w 46"/>
              <a:gd name="T27" fmla="*/ 43 h 47"/>
              <a:gd name="T28" fmla="*/ 43 w 46"/>
              <a:gd name="T29" fmla="*/ 37 h 47"/>
              <a:gd name="T30" fmla="*/ 46 w 46"/>
              <a:gd name="T31" fmla="*/ 28 h 47"/>
              <a:gd name="T32" fmla="*/ 43 w 46"/>
              <a:gd name="T33" fmla="*/ 23 h 47"/>
              <a:gd name="T34" fmla="*/ 41 w 46"/>
              <a:gd name="T35" fmla="*/ 32 h 47"/>
              <a:gd name="T36" fmla="*/ 38 w 46"/>
              <a:gd name="T37" fmla="*/ 38 h 47"/>
              <a:gd name="T38" fmla="*/ 31 w 46"/>
              <a:gd name="T39" fmla="*/ 42 h 47"/>
              <a:gd name="T40" fmla="*/ 23 w 46"/>
              <a:gd name="T41" fmla="*/ 43 h 47"/>
              <a:gd name="T42" fmla="*/ 15 w 46"/>
              <a:gd name="T43" fmla="*/ 42 h 47"/>
              <a:gd name="T44" fmla="*/ 10 w 46"/>
              <a:gd name="T45" fmla="*/ 38 h 47"/>
              <a:gd name="T46" fmla="*/ 5 w 46"/>
              <a:gd name="T47" fmla="*/ 32 h 47"/>
              <a:gd name="T48" fmla="*/ 3 w 46"/>
              <a:gd name="T49" fmla="*/ 23 h 47"/>
              <a:gd name="T50" fmla="*/ 5 w 46"/>
              <a:gd name="T51" fmla="*/ 17 h 47"/>
              <a:gd name="T52" fmla="*/ 10 w 46"/>
              <a:gd name="T53" fmla="*/ 10 h 47"/>
              <a:gd name="T54" fmla="*/ 15 w 46"/>
              <a:gd name="T55" fmla="*/ 5 h 47"/>
              <a:gd name="T56" fmla="*/ 23 w 46"/>
              <a:gd name="T57" fmla="*/ 3 h 47"/>
              <a:gd name="T58" fmla="*/ 31 w 46"/>
              <a:gd name="T59" fmla="*/ 5 h 47"/>
              <a:gd name="T60" fmla="*/ 38 w 46"/>
              <a:gd name="T61" fmla="*/ 10 h 47"/>
              <a:gd name="T62" fmla="*/ 41 w 46"/>
              <a:gd name="T63" fmla="*/ 17 h 47"/>
              <a:gd name="T64" fmla="*/ 43 w 46"/>
              <a:gd name="T65" fmla="*/ 23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6" h="47">
                <a:moveTo>
                  <a:pt x="46" y="23"/>
                </a:moveTo>
                <a:lnTo>
                  <a:pt x="46" y="20"/>
                </a:lnTo>
                <a:lnTo>
                  <a:pt x="45" y="15"/>
                </a:lnTo>
                <a:lnTo>
                  <a:pt x="43" y="12"/>
                </a:lnTo>
                <a:lnTo>
                  <a:pt x="40" y="8"/>
                </a:lnTo>
                <a:lnTo>
                  <a:pt x="36" y="5"/>
                </a:lnTo>
                <a:lnTo>
                  <a:pt x="33" y="3"/>
                </a:lnTo>
                <a:lnTo>
                  <a:pt x="28" y="2"/>
                </a:lnTo>
                <a:lnTo>
                  <a:pt x="23" y="0"/>
                </a:lnTo>
                <a:lnTo>
                  <a:pt x="18" y="2"/>
                </a:lnTo>
                <a:lnTo>
                  <a:pt x="15" y="3"/>
                </a:lnTo>
                <a:lnTo>
                  <a:pt x="10" y="5"/>
                </a:lnTo>
                <a:lnTo>
                  <a:pt x="7" y="8"/>
                </a:lnTo>
                <a:lnTo>
                  <a:pt x="5" y="12"/>
                </a:lnTo>
                <a:lnTo>
                  <a:pt x="2" y="15"/>
                </a:lnTo>
                <a:lnTo>
                  <a:pt x="0" y="20"/>
                </a:lnTo>
                <a:lnTo>
                  <a:pt x="0" y="23"/>
                </a:lnTo>
                <a:lnTo>
                  <a:pt x="0" y="28"/>
                </a:lnTo>
                <a:lnTo>
                  <a:pt x="2" y="33"/>
                </a:lnTo>
                <a:lnTo>
                  <a:pt x="5" y="37"/>
                </a:lnTo>
                <a:lnTo>
                  <a:pt x="7" y="40"/>
                </a:lnTo>
                <a:lnTo>
                  <a:pt x="10" y="43"/>
                </a:lnTo>
                <a:lnTo>
                  <a:pt x="15" y="45"/>
                </a:lnTo>
                <a:lnTo>
                  <a:pt x="18" y="47"/>
                </a:lnTo>
                <a:lnTo>
                  <a:pt x="23" y="47"/>
                </a:lnTo>
                <a:lnTo>
                  <a:pt x="28" y="47"/>
                </a:lnTo>
                <a:lnTo>
                  <a:pt x="33" y="45"/>
                </a:lnTo>
                <a:lnTo>
                  <a:pt x="36" y="43"/>
                </a:lnTo>
                <a:lnTo>
                  <a:pt x="40" y="40"/>
                </a:lnTo>
                <a:lnTo>
                  <a:pt x="43" y="37"/>
                </a:lnTo>
                <a:lnTo>
                  <a:pt x="45" y="33"/>
                </a:lnTo>
                <a:lnTo>
                  <a:pt x="46" y="28"/>
                </a:lnTo>
                <a:lnTo>
                  <a:pt x="46" y="23"/>
                </a:lnTo>
                <a:close/>
                <a:moveTo>
                  <a:pt x="43" y="23"/>
                </a:moveTo>
                <a:lnTo>
                  <a:pt x="43" y="28"/>
                </a:lnTo>
                <a:lnTo>
                  <a:pt x="41" y="32"/>
                </a:lnTo>
                <a:lnTo>
                  <a:pt x="40" y="35"/>
                </a:lnTo>
                <a:lnTo>
                  <a:pt x="38" y="38"/>
                </a:lnTo>
                <a:lnTo>
                  <a:pt x="35" y="40"/>
                </a:lnTo>
                <a:lnTo>
                  <a:pt x="31" y="42"/>
                </a:lnTo>
                <a:lnTo>
                  <a:pt x="26" y="43"/>
                </a:lnTo>
                <a:lnTo>
                  <a:pt x="23" y="43"/>
                </a:lnTo>
                <a:lnTo>
                  <a:pt x="20" y="43"/>
                </a:lnTo>
                <a:lnTo>
                  <a:pt x="15" y="42"/>
                </a:lnTo>
                <a:lnTo>
                  <a:pt x="12" y="40"/>
                </a:lnTo>
                <a:lnTo>
                  <a:pt x="10" y="38"/>
                </a:lnTo>
                <a:lnTo>
                  <a:pt x="7" y="35"/>
                </a:lnTo>
                <a:lnTo>
                  <a:pt x="5" y="32"/>
                </a:lnTo>
                <a:lnTo>
                  <a:pt x="3" y="28"/>
                </a:lnTo>
                <a:lnTo>
                  <a:pt x="3" y="23"/>
                </a:lnTo>
                <a:lnTo>
                  <a:pt x="3" y="20"/>
                </a:lnTo>
                <a:lnTo>
                  <a:pt x="5" y="17"/>
                </a:lnTo>
                <a:lnTo>
                  <a:pt x="7" y="13"/>
                </a:lnTo>
                <a:lnTo>
                  <a:pt x="10" y="10"/>
                </a:lnTo>
                <a:lnTo>
                  <a:pt x="12" y="8"/>
                </a:lnTo>
                <a:lnTo>
                  <a:pt x="15" y="5"/>
                </a:lnTo>
                <a:lnTo>
                  <a:pt x="20" y="5"/>
                </a:lnTo>
                <a:lnTo>
                  <a:pt x="23" y="3"/>
                </a:lnTo>
                <a:lnTo>
                  <a:pt x="26" y="5"/>
                </a:lnTo>
                <a:lnTo>
                  <a:pt x="31" y="5"/>
                </a:lnTo>
                <a:lnTo>
                  <a:pt x="35" y="8"/>
                </a:lnTo>
                <a:lnTo>
                  <a:pt x="38" y="10"/>
                </a:lnTo>
                <a:lnTo>
                  <a:pt x="40" y="13"/>
                </a:lnTo>
                <a:lnTo>
                  <a:pt x="41" y="17"/>
                </a:lnTo>
                <a:lnTo>
                  <a:pt x="43" y="20"/>
                </a:lnTo>
                <a:lnTo>
                  <a:pt x="43" y="23"/>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39" name="Freeform 1844">
            <a:extLst>
              <a:ext uri="{FF2B5EF4-FFF2-40B4-BE49-F238E27FC236}">
                <a16:creationId xmlns:a16="http://schemas.microsoft.com/office/drawing/2014/main" id="{2600B2E6-D11B-863D-CA7C-BEA39374B828}"/>
              </a:ext>
            </a:extLst>
          </p:cNvPr>
          <p:cNvSpPr>
            <a:spLocks noEditPoints="1"/>
          </p:cNvSpPr>
          <p:nvPr/>
        </p:nvSpPr>
        <p:spPr bwMode="auto">
          <a:xfrm>
            <a:off x="2524125" y="2724150"/>
            <a:ext cx="68263" cy="68263"/>
          </a:xfrm>
          <a:custGeom>
            <a:avLst/>
            <a:gdLst>
              <a:gd name="T0" fmla="*/ 43 w 43"/>
              <a:gd name="T1" fmla="*/ 18 h 43"/>
              <a:gd name="T2" fmla="*/ 39 w 43"/>
              <a:gd name="T3" fmla="*/ 10 h 43"/>
              <a:gd name="T4" fmla="*/ 33 w 43"/>
              <a:gd name="T5" fmla="*/ 5 h 43"/>
              <a:gd name="T6" fmla="*/ 26 w 43"/>
              <a:gd name="T7" fmla="*/ 1 h 43"/>
              <a:gd name="T8" fmla="*/ 16 w 43"/>
              <a:gd name="T9" fmla="*/ 1 h 43"/>
              <a:gd name="T10" fmla="*/ 10 w 43"/>
              <a:gd name="T11" fmla="*/ 5 h 43"/>
              <a:gd name="T12" fmla="*/ 3 w 43"/>
              <a:gd name="T13" fmla="*/ 10 h 43"/>
              <a:gd name="T14" fmla="*/ 0 w 43"/>
              <a:gd name="T15" fmla="*/ 18 h 43"/>
              <a:gd name="T16" fmla="*/ 0 w 43"/>
              <a:gd name="T17" fmla="*/ 26 h 43"/>
              <a:gd name="T18" fmla="*/ 3 w 43"/>
              <a:gd name="T19" fmla="*/ 35 h 43"/>
              <a:gd name="T20" fmla="*/ 10 w 43"/>
              <a:gd name="T21" fmla="*/ 40 h 43"/>
              <a:gd name="T22" fmla="*/ 16 w 43"/>
              <a:gd name="T23" fmla="*/ 43 h 43"/>
              <a:gd name="T24" fmla="*/ 26 w 43"/>
              <a:gd name="T25" fmla="*/ 43 h 43"/>
              <a:gd name="T26" fmla="*/ 33 w 43"/>
              <a:gd name="T27" fmla="*/ 40 h 43"/>
              <a:gd name="T28" fmla="*/ 39 w 43"/>
              <a:gd name="T29" fmla="*/ 35 h 43"/>
              <a:gd name="T30" fmla="*/ 43 w 43"/>
              <a:gd name="T31" fmla="*/ 26 h 43"/>
              <a:gd name="T32" fmla="*/ 39 w 43"/>
              <a:gd name="T33" fmla="*/ 21 h 43"/>
              <a:gd name="T34" fmla="*/ 38 w 43"/>
              <a:gd name="T35" fmla="*/ 30 h 43"/>
              <a:gd name="T36" fmla="*/ 34 w 43"/>
              <a:gd name="T37" fmla="*/ 35 h 43"/>
              <a:gd name="T38" fmla="*/ 28 w 43"/>
              <a:gd name="T39" fmla="*/ 40 h 43"/>
              <a:gd name="T40" fmla="*/ 21 w 43"/>
              <a:gd name="T41" fmla="*/ 40 h 43"/>
              <a:gd name="T42" fmla="*/ 15 w 43"/>
              <a:gd name="T43" fmla="*/ 40 h 43"/>
              <a:gd name="T44" fmla="*/ 8 w 43"/>
              <a:gd name="T45" fmla="*/ 35 h 43"/>
              <a:gd name="T46" fmla="*/ 5 w 43"/>
              <a:gd name="T47" fmla="*/ 30 h 43"/>
              <a:gd name="T48" fmla="*/ 3 w 43"/>
              <a:gd name="T49" fmla="*/ 21 h 43"/>
              <a:gd name="T50" fmla="*/ 5 w 43"/>
              <a:gd name="T51" fmla="*/ 15 h 43"/>
              <a:gd name="T52" fmla="*/ 8 w 43"/>
              <a:gd name="T53" fmla="*/ 10 h 43"/>
              <a:gd name="T54" fmla="*/ 15 w 43"/>
              <a:gd name="T55" fmla="*/ 5 h 43"/>
              <a:gd name="T56" fmla="*/ 21 w 43"/>
              <a:gd name="T57" fmla="*/ 3 h 43"/>
              <a:gd name="T58" fmla="*/ 28 w 43"/>
              <a:gd name="T59" fmla="*/ 5 h 43"/>
              <a:gd name="T60" fmla="*/ 34 w 43"/>
              <a:gd name="T61" fmla="*/ 10 h 43"/>
              <a:gd name="T62" fmla="*/ 38 w 43"/>
              <a:gd name="T63" fmla="*/ 15 h 43"/>
              <a:gd name="T64" fmla="*/ 39 w 43"/>
              <a:gd name="T65" fmla="*/ 21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3" h="43">
                <a:moveTo>
                  <a:pt x="43" y="21"/>
                </a:moveTo>
                <a:lnTo>
                  <a:pt x="43" y="18"/>
                </a:lnTo>
                <a:lnTo>
                  <a:pt x="41" y="13"/>
                </a:lnTo>
                <a:lnTo>
                  <a:pt x="39" y="10"/>
                </a:lnTo>
                <a:lnTo>
                  <a:pt x="36" y="6"/>
                </a:lnTo>
                <a:lnTo>
                  <a:pt x="33" y="5"/>
                </a:lnTo>
                <a:lnTo>
                  <a:pt x="29" y="1"/>
                </a:lnTo>
                <a:lnTo>
                  <a:pt x="26" y="1"/>
                </a:lnTo>
                <a:lnTo>
                  <a:pt x="21" y="0"/>
                </a:lnTo>
                <a:lnTo>
                  <a:pt x="16" y="1"/>
                </a:lnTo>
                <a:lnTo>
                  <a:pt x="13" y="1"/>
                </a:lnTo>
                <a:lnTo>
                  <a:pt x="10" y="5"/>
                </a:lnTo>
                <a:lnTo>
                  <a:pt x="6" y="6"/>
                </a:lnTo>
                <a:lnTo>
                  <a:pt x="3" y="10"/>
                </a:lnTo>
                <a:lnTo>
                  <a:pt x="1" y="13"/>
                </a:lnTo>
                <a:lnTo>
                  <a:pt x="0" y="18"/>
                </a:lnTo>
                <a:lnTo>
                  <a:pt x="0" y="21"/>
                </a:lnTo>
                <a:lnTo>
                  <a:pt x="0" y="26"/>
                </a:lnTo>
                <a:lnTo>
                  <a:pt x="1" y="30"/>
                </a:lnTo>
                <a:lnTo>
                  <a:pt x="3" y="35"/>
                </a:lnTo>
                <a:lnTo>
                  <a:pt x="6" y="38"/>
                </a:lnTo>
                <a:lnTo>
                  <a:pt x="10" y="40"/>
                </a:lnTo>
                <a:lnTo>
                  <a:pt x="13" y="41"/>
                </a:lnTo>
                <a:lnTo>
                  <a:pt x="16" y="43"/>
                </a:lnTo>
                <a:lnTo>
                  <a:pt x="21" y="43"/>
                </a:lnTo>
                <a:lnTo>
                  <a:pt x="26" y="43"/>
                </a:lnTo>
                <a:lnTo>
                  <a:pt x="29" y="41"/>
                </a:lnTo>
                <a:lnTo>
                  <a:pt x="33" y="40"/>
                </a:lnTo>
                <a:lnTo>
                  <a:pt x="36" y="38"/>
                </a:lnTo>
                <a:lnTo>
                  <a:pt x="39" y="35"/>
                </a:lnTo>
                <a:lnTo>
                  <a:pt x="41" y="30"/>
                </a:lnTo>
                <a:lnTo>
                  <a:pt x="43" y="26"/>
                </a:lnTo>
                <a:lnTo>
                  <a:pt x="43" y="21"/>
                </a:lnTo>
                <a:close/>
                <a:moveTo>
                  <a:pt x="39" y="21"/>
                </a:moveTo>
                <a:lnTo>
                  <a:pt x="39" y="26"/>
                </a:lnTo>
                <a:lnTo>
                  <a:pt x="38" y="30"/>
                </a:lnTo>
                <a:lnTo>
                  <a:pt x="36" y="33"/>
                </a:lnTo>
                <a:lnTo>
                  <a:pt x="34" y="35"/>
                </a:lnTo>
                <a:lnTo>
                  <a:pt x="31" y="38"/>
                </a:lnTo>
                <a:lnTo>
                  <a:pt x="28" y="40"/>
                </a:lnTo>
                <a:lnTo>
                  <a:pt x="24" y="40"/>
                </a:lnTo>
                <a:lnTo>
                  <a:pt x="21" y="40"/>
                </a:lnTo>
                <a:lnTo>
                  <a:pt x="18" y="40"/>
                </a:lnTo>
                <a:lnTo>
                  <a:pt x="15" y="40"/>
                </a:lnTo>
                <a:lnTo>
                  <a:pt x="11" y="38"/>
                </a:lnTo>
                <a:lnTo>
                  <a:pt x="8" y="35"/>
                </a:lnTo>
                <a:lnTo>
                  <a:pt x="6" y="33"/>
                </a:lnTo>
                <a:lnTo>
                  <a:pt x="5" y="30"/>
                </a:lnTo>
                <a:lnTo>
                  <a:pt x="3" y="26"/>
                </a:lnTo>
                <a:lnTo>
                  <a:pt x="3" y="21"/>
                </a:lnTo>
                <a:lnTo>
                  <a:pt x="3" y="18"/>
                </a:lnTo>
                <a:lnTo>
                  <a:pt x="5" y="15"/>
                </a:lnTo>
                <a:lnTo>
                  <a:pt x="6" y="11"/>
                </a:lnTo>
                <a:lnTo>
                  <a:pt x="8" y="10"/>
                </a:lnTo>
                <a:lnTo>
                  <a:pt x="11" y="6"/>
                </a:lnTo>
                <a:lnTo>
                  <a:pt x="15" y="5"/>
                </a:lnTo>
                <a:lnTo>
                  <a:pt x="18" y="5"/>
                </a:lnTo>
                <a:lnTo>
                  <a:pt x="21" y="3"/>
                </a:lnTo>
                <a:lnTo>
                  <a:pt x="24" y="5"/>
                </a:lnTo>
                <a:lnTo>
                  <a:pt x="28" y="5"/>
                </a:lnTo>
                <a:lnTo>
                  <a:pt x="31" y="6"/>
                </a:lnTo>
                <a:lnTo>
                  <a:pt x="34" y="10"/>
                </a:lnTo>
                <a:lnTo>
                  <a:pt x="36" y="11"/>
                </a:lnTo>
                <a:lnTo>
                  <a:pt x="38" y="15"/>
                </a:lnTo>
                <a:lnTo>
                  <a:pt x="39" y="18"/>
                </a:lnTo>
                <a:lnTo>
                  <a:pt x="39" y="21"/>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40" name="Freeform 1845">
            <a:extLst>
              <a:ext uri="{FF2B5EF4-FFF2-40B4-BE49-F238E27FC236}">
                <a16:creationId xmlns:a16="http://schemas.microsoft.com/office/drawing/2014/main" id="{1FD4DF13-7A5B-2ABE-C65C-5C89195B8308}"/>
              </a:ext>
            </a:extLst>
          </p:cNvPr>
          <p:cNvSpPr>
            <a:spLocks noEditPoints="1"/>
          </p:cNvSpPr>
          <p:nvPr/>
        </p:nvSpPr>
        <p:spPr bwMode="auto">
          <a:xfrm>
            <a:off x="2525713" y="2725738"/>
            <a:ext cx="63500" cy="63500"/>
          </a:xfrm>
          <a:custGeom>
            <a:avLst/>
            <a:gdLst>
              <a:gd name="T0" fmla="*/ 40 w 40"/>
              <a:gd name="T1" fmla="*/ 17 h 40"/>
              <a:gd name="T2" fmla="*/ 37 w 40"/>
              <a:gd name="T3" fmla="*/ 10 h 40"/>
              <a:gd name="T4" fmla="*/ 32 w 40"/>
              <a:gd name="T5" fmla="*/ 5 h 40"/>
              <a:gd name="T6" fmla="*/ 23 w 40"/>
              <a:gd name="T7" fmla="*/ 2 h 40"/>
              <a:gd name="T8" fmla="*/ 17 w 40"/>
              <a:gd name="T9" fmla="*/ 2 h 40"/>
              <a:gd name="T10" fmla="*/ 9 w 40"/>
              <a:gd name="T11" fmla="*/ 5 h 40"/>
              <a:gd name="T12" fmla="*/ 4 w 40"/>
              <a:gd name="T13" fmla="*/ 10 h 40"/>
              <a:gd name="T14" fmla="*/ 0 w 40"/>
              <a:gd name="T15" fmla="*/ 17 h 40"/>
              <a:gd name="T16" fmla="*/ 0 w 40"/>
              <a:gd name="T17" fmla="*/ 25 h 40"/>
              <a:gd name="T18" fmla="*/ 4 w 40"/>
              <a:gd name="T19" fmla="*/ 32 h 40"/>
              <a:gd name="T20" fmla="*/ 9 w 40"/>
              <a:gd name="T21" fmla="*/ 37 h 40"/>
              <a:gd name="T22" fmla="*/ 17 w 40"/>
              <a:gd name="T23" fmla="*/ 40 h 40"/>
              <a:gd name="T24" fmla="*/ 23 w 40"/>
              <a:gd name="T25" fmla="*/ 40 h 40"/>
              <a:gd name="T26" fmla="*/ 32 w 40"/>
              <a:gd name="T27" fmla="*/ 37 h 40"/>
              <a:gd name="T28" fmla="*/ 37 w 40"/>
              <a:gd name="T29" fmla="*/ 32 h 40"/>
              <a:gd name="T30" fmla="*/ 40 w 40"/>
              <a:gd name="T31" fmla="*/ 25 h 40"/>
              <a:gd name="T32" fmla="*/ 37 w 40"/>
              <a:gd name="T33" fmla="*/ 20 h 40"/>
              <a:gd name="T34" fmla="*/ 35 w 40"/>
              <a:gd name="T35" fmla="*/ 27 h 40"/>
              <a:gd name="T36" fmla="*/ 32 w 40"/>
              <a:gd name="T37" fmla="*/ 32 h 40"/>
              <a:gd name="T38" fmla="*/ 27 w 40"/>
              <a:gd name="T39" fmla="*/ 37 h 40"/>
              <a:gd name="T40" fmla="*/ 20 w 40"/>
              <a:gd name="T41" fmla="*/ 37 h 40"/>
              <a:gd name="T42" fmla="*/ 14 w 40"/>
              <a:gd name="T43" fmla="*/ 37 h 40"/>
              <a:gd name="T44" fmla="*/ 9 w 40"/>
              <a:gd name="T45" fmla="*/ 32 h 40"/>
              <a:gd name="T46" fmla="*/ 5 w 40"/>
              <a:gd name="T47" fmla="*/ 27 h 40"/>
              <a:gd name="T48" fmla="*/ 4 w 40"/>
              <a:gd name="T49" fmla="*/ 20 h 40"/>
              <a:gd name="T50" fmla="*/ 5 w 40"/>
              <a:gd name="T51" fmla="*/ 15 h 40"/>
              <a:gd name="T52" fmla="*/ 9 w 40"/>
              <a:gd name="T53" fmla="*/ 9 h 40"/>
              <a:gd name="T54" fmla="*/ 14 w 40"/>
              <a:gd name="T55" fmla="*/ 5 h 40"/>
              <a:gd name="T56" fmla="*/ 20 w 40"/>
              <a:gd name="T57" fmla="*/ 4 h 40"/>
              <a:gd name="T58" fmla="*/ 27 w 40"/>
              <a:gd name="T59" fmla="*/ 5 h 40"/>
              <a:gd name="T60" fmla="*/ 32 w 40"/>
              <a:gd name="T61" fmla="*/ 9 h 40"/>
              <a:gd name="T62" fmla="*/ 35 w 40"/>
              <a:gd name="T63" fmla="*/ 15 h 40"/>
              <a:gd name="T64" fmla="*/ 37 w 40"/>
              <a:gd name="T65" fmla="*/ 2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0" h="40">
                <a:moveTo>
                  <a:pt x="40" y="20"/>
                </a:moveTo>
                <a:lnTo>
                  <a:pt x="40" y="17"/>
                </a:lnTo>
                <a:lnTo>
                  <a:pt x="38" y="14"/>
                </a:lnTo>
                <a:lnTo>
                  <a:pt x="37" y="10"/>
                </a:lnTo>
                <a:lnTo>
                  <a:pt x="35" y="7"/>
                </a:lnTo>
                <a:lnTo>
                  <a:pt x="32" y="5"/>
                </a:lnTo>
                <a:lnTo>
                  <a:pt x="28" y="2"/>
                </a:lnTo>
                <a:lnTo>
                  <a:pt x="23" y="2"/>
                </a:lnTo>
                <a:lnTo>
                  <a:pt x="20" y="0"/>
                </a:lnTo>
                <a:lnTo>
                  <a:pt x="17" y="2"/>
                </a:lnTo>
                <a:lnTo>
                  <a:pt x="12" y="2"/>
                </a:lnTo>
                <a:lnTo>
                  <a:pt x="9" y="5"/>
                </a:lnTo>
                <a:lnTo>
                  <a:pt x="7" y="7"/>
                </a:lnTo>
                <a:lnTo>
                  <a:pt x="4" y="10"/>
                </a:lnTo>
                <a:lnTo>
                  <a:pt x="2" y="14"/>
                </a:lnTo>
                <a:lnTo>
                  <a:pt x="0" y="17"/>
                </a:lnTo>
                <a:lnTo>
                  <a:pt x="0" y="20"/>
                </a:lnTo>
                <a:lnTo>
                  <a:pt x="0" y="25"/>
                </a:lnTo>
                <a:lnTo>
                  <a:pt x="2" y="29"/>
                </a:lnTo>
                <a:lnTo>
                  <a:pt x="4" y="32"/>
                </a:lnTo>
                <a:lnTo>
                  <a:pt x="7" y="35"/>
                </a:lnTo>
                <a:lnTo>
                  <a:pt x="9" y="37"/>
                </a:lnTo>
                <a:lnTo>
                  <a:pt x="12" y="39"/>
                </a:lnTo>
                <a:lnTo>
                  <a:pt x="17" y="40"/>
                </a:lnTo>
                <a:lnTo>
                  <a:pt x="20" y="40"/>
                </a:lnTo>
                <a:lnTo>
                  <a:pt x="23" y="40"/>
                </a:lnTo>
                <a:lnTo>
                  <a:pt x="28" y="39"/>
                </a:lnTo>
                <a:lnTo>
                  <a:pt x="32" y="37"/>
                </a:lnTo>
                <a:lnTo>
                  <a:pt x="35" y="35"/>
                </a:lnTo>
                <a:lnTo>
                  <a:pt x="37" y="32"/>
                </a:lnTo>
                <a:lnTo>
                  <a:pt x="38" y="29"/>
                </a:lnTo>
                <a:lnTo>
                  <a:pt x="40" y="25"/>
                </a:lnTo>
                <a:lnTo>
                  <a:pt x="40" y="20"/>
                </a:lnTo>
                <a:close/>
                <a:moveTo>
                  <a:pt x="37" y="20"/>
                </a:moveTo>
                <a:lnTo>
                  <a:pt x="37" y="24"/>
                </a:lnTo>
                <a:lnTo>
                  <a:pt x="35" y="27"/>
                </a:lnTo>
                <a:lnTo>
                  <a:pt x="33" y="30"/>
                </a:lnTo>
                <a:lnTo>
                  <a:pt x="32" y="32"/>
                </a:lnTo>
                <a:lnTo>
                  <a:pt x="30" y="35"/>
                </a:lnTo>
                <a:lnTo>
                  <a:pt x="27" y="37"/>
                </a:lnTo>
                <a:lnTo>
                  <a:pt x="23" y="37"/>
                </a:lnTo>
                <a:lnTo>
                  <a:pt x="20" y="37"/>
                </a:lnTo>
                <a:lnTo>
                  <a:pt x="17" y="37"/>
                </a:lnTo>
                <a:lnTo>
                  <a:pt x="14" y="37"/>
                </a:lnTo>
                <a:lnTo>
                  <a:pt x="12" y="35"/>
                </a:lnTo>
                <a:lnTo>
                  <a:pt x="9" y="32"/>
                </a:lnTo>
                <a:lnTo>
                  <a:pt x="7" y="30"/>
                </a:lnTo>
                <a:lnTo>
                  <a:pt x="5" y="27"/>
                </a:lnTo>
                <a:lnTo>
                  <a:pt x="4" y="24"/>
                </a:lnTo>
                <a:lnTo>
                  <a:pt x="4" y="20"/>
                </a:lnTo>
                <a:lnTo>
                  <a:pt x="4" y="17"/>
                </a:lnTo>
                <a:lnTo>
                  <a:pt x="5" y="15"/>
                </a:lnTo>
                <a:lnTo>
                  <a:pt x="7" y="12"/>
                </a:lnTo>
                <a:lnTo>
                  <a:pt x="9" y="9"/>
                </a:lnTo>
                <a:lnTo>
                  <a:pt x="12" y="7"/>
                </a:lnTo>
                <a:lnTo>
                  <a:pt x="14" y="5"/>
                </a:lnTo>
                <a:lnTo>
                  <a:pt x="17" y="5"/>
                </a:lnTo>
                <a:lnTo>
                  <a:pt x="20" y="4"/>
                </a:lnTo>
                <a:lnTo>
                  <a:pt x="23" y="5"/>
                </a:lnTo>
                <a:lnTo>
                  <a:pt x="27" y="5"/>
                </a:lnTo>
                <a:lnTo>
                  <a:pt x="30" y="7"/>
                </a:lnTo>
                <a:lnTo>
                  <a:pt x="32" y="9"/>
                </a:lnTo>
                <a:lnTo>
                  <a:pt x="33" y="12"/>
                </a:lnTo>
                <a:lnTo>
                  <a:pt x="35" y="15"/>
                </a:lnTo>
                <a:lnTo>
                  <a:pt x="37" y="17"/>
                </a:lnTo>
                <a:lnTo>
                  <a:pt x="37" y="20"/>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41" name="Freeform 1846">
            <a:extLst>
              <a:ext uri="{FF2B5EF4-FFF2-40B4-BE49-F238E27FC236}">
                <a16:creationId xmlns:a16="http://schemas.microsoft.com/office/drawing/2014/main" id="{56CB05E7-E81C-A2C4-261C-BD5CD4F5C016}"/>
              </a:ext>
            </a:extLst>
          </p:cNvPr>
          <p:cNvSpPr>
            <a:spLocks noEditPoints="1"/>
          </p:cNvSpPr>
          <p:nvPr/>
        </p:nvSpPr>
        <p:spPr bwMode="auto">
          <a:xfrm>
            <a:off x="2528888" y="2728913"/>
            <a:ext cx="57150" cy="58738"/>
          </a:xfrm>
          <a:custGeom>
            <a:avLst/>
            <a:gdLst>
              <a:gd name="T0" fmla="*/ 36 w 36"/>
              <a:gd name="T1" fmla="*/ 15 h 37"/>
              <a:gd name="T2" fmla="*/ 33 w 36"/>
              <a:gd name="T3" fmla="*/ 8 h 37"/>
              <a:gd name="T4" fmla="*/ 28 w 36"/>
              <a:gd name="T5" fmla="*/ 3 h 37"/>
              <a:gd name="T6" fmla="*/ 21 w 36"/>
              <a:gd name="T7" fmla="*/ 2 h 37"/>
              <a:gd name="T8" fmla="*/ 15 w 36"/>
              <a:gd name="T9" fmla="*/ 2 h 37"/>
              <a:gd name="T10" fmla="*/ 8 w 36"/>
              <a:gd name="T11" fmla="*/ 3 h 37"/>
              <a:gd name="T12" fmla="*/ 3 w 36"/>
              <a:gd name="T13" fmla="*/ 8 h 37"/>
              <a:gd name="T14" fmla="*/ 0 w 36"/>
              <a:gd name="T15" fmla="*/ 15 h 37"/>
              <a:gd name="T16" fmla="*/ 0 w 36"/>
              <a:gd name="T17" fmla="*/ 23 h 37"/>
              <a:gd name="T18" fmla="*/ 3 w 36"/>
              <a:gd name="T19" fmla="*/ 30 h 37"/>
              <a:gd name="T20" fmla="*/ 8 w 36"/>
              <a:gd name="T21" fmla="*/ 35 h 37"/>
              <a:gd name="T22" fmla="*/ 15 w 36"/>
              <a:gd name="T23" fmla="*/ 37 h 37"/>
              <a:gd name="T24" fmla="*/ 21 w 36"/>
              <a:gd name="T25" fmla="*/ 37 h 37"/>
              <a:gd name="T26" fmla="*/ 28 w 36"/>
              <a:gd name="T27" fmla="*/ 35 h 37"/>
              <a:gd name="T28" fmla="*/ 33 w 36"/>
              <a:gd name="T29" fmla="*/ 30 h 37"/>
              <a:gd name="T30" fmla="*/ 36 w 36"/>
              <a:gd name="T31" fmla="*/ 23 h 37"/>
              <a:gd name="T32" fmla="*/ 33 w 36"/>
              <a:gd name="T33" fmla="*/ 18 h 37"/>
              <a:gd name="T34" fmla="*/ 31 w 36"/>
              <a:gd name="T35" fmla="*/ 25 h 37"/>
              <a:gd name="T36" fmla="*/ 28 w 36"/>
              <a:gd name="T37" fmla="*/ 30 h 37"/>
              <a:gd name="T38" fmla="*/ 25 w 36"/>
              <a:gd name="T39" fmla="*/ 33 h 37"/>
              <a:gd name="T40" fmla="*/ 18 w 36"/>
              <a:gd name="T41" fmla="*/ 33 h 37"/>
              <a:gd name="T42" fmla="*/ 13 w 36"/>
              <a:gd name="T43" fmla="*/ 33 h 37"/>
              <a:gd name="T44" fmla="*/ 8 w 36"/>
              <a:gd name="T45" fmla="*/ 30 h 37"/>
              <a:gd name="T46" fmla="*/ 5 w 36"/>
              <a:gd name="T47" fmla="*/ 25 h 37"/>
              <a:gd name="T48" fmla="*/ 3 w 36"/>
              <a:gd name="T49" fmla="*/ 18 h 37"/>
              <a:gd name="T50" fmla="*/ 5 w 36"/>
              <a:gd name="T51" fmla="*/ 13 h 37"/>
              <a:gd name="T52" fmla="*/ 8 w 36"/>
              <a:gd name="T53" fmla="*/ 8 h 37"/>
              <a:gd name="T54" fmla="*/ 13 w 36"/>
              <a:gd name="T55" fmla="*/ 5 h 37"/>
              <a:gd name="T56" fmla="*/ 18 w 36"/>
              <a:gd name="T57" fmla="*/ 3 h 37"/>
              <a:gd name="T58" fmla="*/ 25 w 36"/>
              <a:gd name="T59" fmla="*/ 5 h 37"/>
              <a:gd name="T60" fmla="*/ 28 w 36"/>
              <a:gd name="T61" fmla="*/ 8 h 37"/>
              <a:gd name="T62" fmla="*/ 31 w 36"/>
              <a:gd name="T63" fmla="*/ 13 h 37"/>
              <a:gd name="T64" fmla="*/ 33 w 36"/>
              <a:gd name="T65" fmla="*/ 18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6" h="37">
                <a:moveTo>
                  <a:pt x="36" y="18"/>
                </a:moveTo>
                <a:lnTo>
                  <a:pt x="36" y="15"/>
                </a:lnTo>
                <a:lnTo>
                  <a:pt x="35" y="12"/>
                </a:lnTo>
                <a:lnTo>
                  <a:pt x="33" y="8"/>
                </a:lnTo>
                <a:lnTo>
                  <a:pt x="31" y="7"/>
                </a:lnTo>
                <a:lnTo>
                  <a:pt x="28" y="3"/>
                </a:lnTo>
                <a:lnTo>
                  <a:pt x="25" y="2"/>
                </a:lnTo>
                <a:lnTo>
                  <a:pt x="21" y="2"/>
                </a:lnTo>
                <a:lnTo>
                  <a:pt x="18" y="0"/>
                </a:lnTo>
                <a:lnTo>
                  <a:pt x="15" y="2"/>
                </a:lnTo>
                <a:lnTo>
                  <a:pt x="12" y="2"/>
                </a:lnTo>
                <a:lnTo>
                  <a:pt x="8" y="3"/>
                </a:lnTo>
                <a:lnTo>
                  <a:pt x="5" y="7"/>
                </a:lnTo>
                <a:lnTo>
                  <a:pt x="3" y="8"/>
                </a:lnTo>
                <a:lnTo>
                  <a:pt x="2" y="12"/>
                </a:lnTo>
                <a:lnTo>
                  <a:pt x="0" y="15"/>
                </a:lnTo>
                <a:lnTo>
                  <a:pt x="0" y="18"/>
                </a:lnTo>
                <a:lnTo>
                  <a:pt x="0" y="23"/>
                </a:lnTo>
                <a:lnTo>
                  <a:pt x="2" y="27"/>
                </a:lnTo>
                <a:lnTo>
                  <a:pt x="3" y="30"/>
                </a:lnTo>
                <a:lnTo>
                  <a:pt x="5" y="32"/>
                </a:lnTo>
                <a:lnTo>
                  <a:pt x="8" y="35"/>
                </a:lnTo>
                <a:lnTo>
                  <a:pt x="12" y="37"/>
                </a:lnTo>
                <a:lnTo>
                  <a:pt x="15" y="37"/>
                </a:lnTo>
                <a:lnTo>
                  <a:pt x="18" y="37"/>
                </a:lnTo>
                <a:lnTo>
                  <a:pt x="21" y="37"/>
                </a:lnTo>
                <a:lnTo>
                  <a:pt x="25" y="37"/>
                </a:lnTo>
                <a:lnTo>
                  <a:pt x="28" y="35"/>
                </a:lnTo>
                <a:lnTo>
                  <a:pt x="31" y="32"/>
                </a:lnTo>
                <a:lnTo>
                  <a:pt x="33" y="30"/>
                </a:lnTo>
                <a:lnTo>
                  <a:pt x="35" y="27"/>
                </a:lnTo>
                <a:lnTo>
                  <a:pt x="36" y="23"/>
                </a:lnTo>
                <a:lnTo>
                  <a:pt x="36" y="18"/>
                </a:lnTo>
                <a:close/>
                <a:moveTo>
                  <a:pt x="33" y="18"/>
                </a:moveTo>
                <a:lnTo>
                  <a:pt x="33" y="22"/>
                </a:lnTo>
                <a:lnTo>
                  <a:pt x="31" y="25"/>
                </a:lnTo>
                <a:lnTo>
                  <a:pt x="31" y="27"/>
                </a:lnTo>
                <a:lnTo>
                  <a:pt x="28" y="30"/>
                </a:lnTo>
                <a:lnTo>
                  <a:pt x="26" y="32"/>
                </a:lnTo>
                <a:lnTo>
                  <a:pt x="25" y="33"/>
                </a:lnTo>
                <a:lnTo>
                  <a:pt x="21" y="33"/>
                </a:lnTo>
                <a:lnTo>
                  <a:pt x="18" y="33"/>
                </a:lnTo>
                <a:lnTo>
                  <a:pt x="15" y="33"/>
                </a:lnTo>
                <a:lnTo>
                  <a:pt x="13" y="33"/>
                </a:lnTo>
                <a:lnTo>
                  <a:pt x="10" y="32"/>
                </a:lnTo>
                <a:lnTo>
                  <a:pt x="8" y="30"/>
                </a:lnTo>
                <a:lnTo>
                  <a:pt x="7" y="27"/>
                </a:lnTo>
                <a:lnTo>
                  <a:pt x="5" y="25"/>
                </a:lnTo>
                <a:lnTo>
                  <a:pt x="3" y="22"/>
                </a:lnTo>
                <a:lnTo>
                  <a:pt x="3" y="18"/>
                </a:lnTo>
                <a:lnTo>
                  <a:pt x="3" y="17"/>
                </a:lnTo>
                <a:lnTo>
                  <a:pt x="5" y="13"/>
                </a:lnTo>
                <a:lnTo>
                  <a:pt x="7" y="10"/>
                </a:lnTo>
                <a:lnTo>
                  <a:pt x="8" y="8"/>
                </a:lnTo>
                <a:lnTo>
                  <a:pt x="10" y="7"/>
                </a:lnTo>
                <a:lnTo>
                  <a:pt x="13" y="5"/>
                </a:lnTo>
                <a:lnTo>
                  <a:pt x="15" y="5"/>
                </a:lnTo>
                <a:lnTo>
                  <a:pt x="18" y="3"/>
                </a:lnTo>
                <a:lnTo>
                  <a:pt x="21" y="5"/>
                </a:lnTo>
                <a:lnTo>
                  <a:pt x="25" y="5"/>
                </a:lnTo>
                <a:lnTo>
                  <a:pt x="26" y="7"/>
                </a:lnTo>
                <a:lnTo>
                  <a:pt x="28" y="8"/>
                </a:lnTo>
                <a:lnTo>
                  <a:pt x="31" y="10"/>
                </a:lnTo>
                <a:lnTo>
                  <a:pt x="31" y="13"/>
                </a:lnTo>
                <a:lnTo>
                  <a:pt x="33" y="17"/>
                </a:lnTo>
                <a:lnTo>
                  <a:pt x="33" y="18"/>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42" name="Freeform 1847">
            <a:extLst>
              <a:ext uri="{FF2B5EF4-FFF2-40B4-BE49-F238E27FC236}">
                <a16:creationId xmlns:a16="http://schemas.microsoft.com/office/drawing/2014/main" id="{FD284B9F-17BC-4A6E-DB5D-10ECC62EB987}"/>
              </a:ext>
            </a:extLst>
          </p:cNvPr>
          <p:cNvSpPr>
            <a:spLocks noEditPoints="1"/>
          </p:cNvSpPr>
          <p:nvPr/>
        </p:nvSpPr>
        <p:spPr bwMode="auto">
          <a:xfrm>
            <a:off x="2532063" y="2732088"/>
            <a:ext cx="52388" cy="52388"/>
          </a:xfrm>
          <a:custGeom>
            <a:avLst/>
            <a:gdLst>
              <a:gd name="T0" fmla="*/ 33 w 33"/>
              <a:gd name="T1" fmla="*/ 13 h 33"/>
              <a:gd name="T2" fmla="*/ 29 w 33"/>
              <a:gd name="T3" fmla="*/ 8 h 33"/>
              <a:gd name="T4" fmla="*/ 26 w 33"/>
              <a:gd name="T5" fmla="*/ 3 h 33"/>
              <a:gd name="T6" fmla="*/ 19 w 33"/>
              <a:gd name="T7" fmla="*/ 1 h 33"/>
              <a:gd name="T8" fmla="*/ 13 w 33"/>
              <a:gd name="T9" fmla="*/ 1 h 33"/>
              <a:gd name="T10" fmla="*/ 8 w 33"/>
              <a:gd name="T11" fmla="*/ 3 h 33"/>
              <a:gd name="T12" fmla="*/ 3 w 33"/>
              <a:gd name="T13" fmla="*/ 8 h 33"/>
              <a:gd name="T14" fmla="*/ 0 w 33"/>
              <a:gd name="T15" fmla="*/ 13 h 33"/>
              <a:gd name="T16" fmla="*/ 0 w 33"/>
              <a:gd name="T17" fmla="*/ 20 h 33"/>
              <a:gd name="T18" fmla="*/ 3 w 33"/>
              <a:gd name="T19" fmla="*/ 26 h 33"/>
              <a:gd name="T20" fmla="*/ 8 w 33"/>
              <a:gd name="T21" fmla="*/ 31 h 33"/>
              <a:gd name="T22" fmla="*/ 13 w 33"/>
              <a:gd name="T23" fmla="*/ 33 h 33"/>
              <a:gd name="T24" fmla="*/ 19 w 33"/>
              <a:gd name="T25" fmla="*/ 33 h 33"/>
              <a:gd name="T26" fmla="*/ 26 w 33"/>
              <a:gd name="T27" fmla="*/ 31 h 33"/>
              <a:gd name="T28" fmla="*/ 29 w 33"/>
              <a:gd name="T29" fmla="*/ 26 h 33"/>
              <a:gd name="T30" fmla="*/ 33 w 33"/>
              <a:gd name="T31" fmla="*/ 20 h 33"/>
              <a:gd name="T32" fmla="*/ 29 w 33"/>
              <a:gd name="T33" fmla="*/ 16 h 33"/>
              <a:gd name="T34" fmla="*/ 28 w 33"/>
              <a:gd name="T35" fmla="*/ 23 h 33"/>
              <a:gd name="T36" fmla="*/ 26 w 33"/>
              <a:gd name="T37" fmla="*/ 26 h 33"/>
              <a:gd name="T38" fmla="*/ 21 w 33"/>
              <a:gd name="T39" fmla="*/ 30 h 33"/>
              <a:gd name="T40" fmla="*/ 16 w 33"/>
              <a:gd name="T41" fmla="*/ 30 h 33"/>
              <a:gd name="T42" fmla="*/ 11 w 33"/>
              <a:gd name="T43" fmla="*/ 30 h 33"/>
              <a:gd name="T44" fmla="*/ 6 w 33"/>
              <a:gd name="T45" fmla="*/ 26 h 33"/>
              <a:gd name="T46" fmla="*/ 5 w 33"/>
              <a:gd name="T47" fmla="*/ 23 h 33"/>
              <a:gd name="T48" fmla="*/ 3 w 33"/>
              <a:gd name="T49" fmla="*/ 16 h 33"/>
              <a:gd name="T50" fmla="*/ 5 w 33"/>
              <a:gd name="T51" fmla="*/ 11 h 33"/>
              <a:gd name="T52" fmla="*/ 6 w 33"/>
              <a:gd name="T53" fmla="*/ 8 h 33"/>
              <a:gd name="T54" fmla="*/ 11 w 33"/>
              <a:gd name="T55" fmla="*/ 5 h 33"/>
              <a:gd name="T56" fmla="*/ 16 w 33"/>
              <a:gd name="T57" fmla="*/ 3 h 33"/>
              <a:gd name="T58" fmla="*/ 21 w 33"/>
              <a:gd name="T59" fmla="*/ 5 h 33"/>
              <a:gd name="T60" fmla="*/ 26 w 33"/>
              <a:gd name="T61" fmla="*/ 8 h 33"/>
              <a:gd name="T62" fmla="*/ 28 w 33"/>
              <a:gd name="T63" fmla="*/ 11 h 33"/>
              <a:gd name="T64" fmla="*/ 29 w 33"/>
              <a:gd name="T65" fmla="*/ 16 h 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3" h="33">
                <a:moveTo>
                  <a:pt x="33" y="16"/>
                </a:moveTo>
                <a:lnTo>
                  <a:pt x="33" y="13"/>
                </a:lnTo>
                <a:lnTo>
                  <a:pt x="31" y="11"/>
                </a:lnTo>
                <a:lnTo>
                  <a:pt x="29" y="8"/>
                </a:lnTo>
                <a:lnTo>
                  <a:pt x="28" y="5"/>
                </a:lnTo>
                <a:lnTo>
                  <a:pt x="26" y="3"/>
                </a:lnTo>
                <a:lnTo>
                  <a:pt x="23" y="1"/>
                </a:lnTo>
                <a:lnTo>
                  <a:pt x="19" y="1"/>
                </a:lnTo>
                <a:lnTo>
                  <a:pt x="16" y="0"/>
                </a:lnTo>
                <a:lnTo>
                  <a:pt x="13" y="1"/>
                </a:lnTo>
                <a:lnTo>
                  <a:pt x="10" y="1"/>
                </a:lnTo>
                <a:lnTo>
                  <a:pt x="8" y="3"/>
                </a:lnTo>
                <a:lnTo>
                  <a:pt x="5" y="5"/>
                </a:lnTo>
                <a:lnTo>
                  <a:pt x="3" y="8"/>
                </a:lnTo>
                <a:lnTo>
                  <a:pt x="1" y="11"/>
                </a:lnTo>
                <a:lnTo>
                  <a:pt x="0" y="13"/>
                </a:lnTo>
                <a:lnTo>
                  <a:pt x="0" y="16"/>
                </a:lnTo>
                <a:lnTo>
                  <a:pt x="0" y="20"/>
                </a:lnTo>
                <a:lnTo>
                  <a:pt x="1" y="23"/>
                </a:lnTo>
                <a:lnTo>
                  <a:pt x="3" y="26"/>
                </a:lnTo>
                <a:lnTo>
                  <a:pt x="5" y="28"/>
                </a:lnTo>
                <a:lnTo>
                  <a:pt x="8" y="31"/>
                </a:lnTo>
                <a:lnTo>
                  <a:pt x="10" y="33"/>
                </a:lnTo>
                <a:lnTo>
                  <a:pt x="13" y="33"/>
                </a:lnTo>
                <a:lnTo>
                  <a:pt x="16" y="33"/>
                </a:lnTo>
                <a:lnTo>
                  <a:pt x="19" y="33"/>
                </a:lnTo>
                <a:lnTo>
                  <a:pt x="23" y="33"/>
                </a:lnTo>
                <a:lnTo>
                  <a:pt x="26" y="31"/>
                </a:lnTo>
                <a:lnTo>
                  <a:pt x="28" y="28"/>
                </a:lnTo>
                <a:lnTo>
                  <a:pt x="29" y="26"/>
                </a:lnTo>
                <a:lnTo>
                  <a:pt x="31" y="23"/>
                </a:lnTo>
                <a:lnTo>
                  <a:pt x="33" y="20"/>
                </a:lnTo>
                <a:lnTo>
                  <a:pt x="33" y="16"/>
                </a:lnTo>
                <a:close/>
                <a:moveTo>
                  <a:pt x="29" y="16"/>
                </a:moveTo>
                <a:lnTo>
                  <a:pt x="29" y="20"/>
                </a:lnTo>
                <a:lnTo>
                  <a:pt x="28" y="23"/>
                </a:lnTo>
                <a:lnTo>
                  <a:pt x="28" y="25"/>
                </a:lnTo>
                <a:lnTo>
                  <a:pt x="26" y="26"/>
                </a:lnTo>
                <a:lnTo>
                  <a:pt x="24" y="28"/>
                </a:lnTo>
                <a:lnTo>
                  <a:pt x="21" y="30"/>
                </a:lnTo>
                <a:lnTo>
                  <a:pt x="19" y="30"/>
                </a:lnTo>
                <a:lnTo>
                  <a:pt x="16" y="30"/>
                </a:lnTo>
                <a:lnTo>
                  <a:pt x="13" y="30"/>
                </a:lnTo>
                <a:lnTo>
                  <a:pt x="11" y="30"/>
                </a:lnTo>
                <a:lnTo>
                  <a:pt x="10" y="28"/>
                </a:lnTo>
                <a:lnTo>
                  <a:pt x="6" y="26"/>
                </a:lnTo>
                <a:lnTo>
                  <a:pt x="5" y="25"/>
                </a:lnTo>
                <a:lnTo>
                  <a:pt x="5" y="23"/>
                </a:lnTo>
                <a:lnTo>
                  <a:pt x="3" y="20"/>
                </a:lnTo>
                <a:lnTo>
                  <a:pt x="3" y="16"/>
                </a:lnTo>
                <a:lnTo>
                  <a:pt x="3" y="15"/>
                </a:lnTo>
                <a:lnTo>
                  <a:pt x="5" y="11"/>
                </a:lnTo>
                <a:lnTo>
                  <a:pt x="5" y="10"/>
                </a:lnTo>
                <a:lnTo>
                  <a:pt x="6" y="8"/>
                </a:lnTo>
                <a:lnTo>
                  <a:pt x="10" y="6"/>
                </a:lnTo>
                <a:lnTo>
                  <a:pt x="11" y="5"/>
                </a:lnTo>
                <a:lnTo>
                  <a:pt x="13" y="5"/>
                </a:lnTo>
                <a:lnTo>
                  <a:pt x="16" y="3"/>
                </a:lnTo>
                <a:lnTo>
                  <a:pt x="19" y="5"/>
                </a:lnTo>
                <a:lnTo>
                  <a:pt x="21" y="5"/>
                </a:lnTo>
                <a:lnTo>
                  <a:pt x="24" y="6"/>
                </a:lnTo>
                <a:lnTo>
                  <a:pt x="26" y="8"/>
                </a:lnTo>
                <a:lnTo>
                  <a:pt x="28" y="10"/>
                </a:lnTo>
                <a:lnTo>
                  <a:pt x="28" y="11"/>
                </a:lnTo>
                <a:lnTo>
                  <a:pt x="29" y="15"/>
                </a:lnTo>
                <a:lnTo>
                  <a:pt x="29" y="16"/>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43" name="Freeform 1848">
            <a:extLst>
              <a:ext uri="{FF2B5EF4-FFF2-40B4-BE49-F238E27FC236}">
                <a16:creationId xmlns:a16="http://schemas.microsoft.com/office/drawing/2014/main" id="{E8C9E184-077E-61BC-9DBC-A5904B3DB38B}"/>
              </a:ext>
            </a:extLst>
          </p:cNvPr>
          <p:cNvSpPr>
            <a:spLocks noEditPoints="1"/>
          </p:cNvSpPr>
          <p:nvPr/>
        </p:nvSpPr>
        <p:spPr bwMode="auto">
          <a:xfrm>
            <a:off x="2533650" y="2733675"/>
            <a:ext cx="47625" cy="47625"/>
          </a:xfrm>
          <a:custGeom>
            <a:avLst/>
            <a:gdLst>
              <a:gd name="T0" fmla="*/ 30 w 30"/>
              <a:gd name="T1" fmla="*/ 14 h 30"/>
              <a:gd name="T2" fmla="*/ 28 w 30"/>
              <a:gd name="T3" fmla="*/ 7 h 30"/>
              <a:gd name="T4" fmla="*/ 23 w 30"/>
              <a:gd name="T5" fmla="*/ 4 h 30"/>
              <a:gd name="T6" fmla="*/ 18 w 30"/>
              <a:gd name="T7" fmla="*/ 2 h 30"/>
              <a:gd name="T8" fmla="*/ 12 w 30"/>
              <a:gd name="T9" fmla="*/ 2 h 30"/>
              <a:gd name="T10" fmla="*/ 7 w 30"/>
              <a:gd name="T11" fmla="*/ 4 h 30"/>
              <a:gd name="T12" fmla="*/ 4 w 30"/>
              <a:gd name="T13" fmla="*/ 7 h 30"/>
              <a:gd name="T14" fmla="*/ 0 w 30"/>
              <a:gd name="T15" fmla="*/ 14 h 30"/>
              <a:gd name="T16" fmla="*/ 0 w 30"/>
              <a:gd name="T17" fmla="*/ 19 h 30"/>
              <a:gd name="T18" fmla="*/ 4 w 30"/>
              <a:gd name="T19" fmla="*/ 24 h 30"/>
              <a:gd name="T20" fmla="*/ 7 w 30"/>
              <a:gd name="T21" fmla="*/ 29 h 30"/>
              <a:gd name="T22" fmla="*/ 12 w 30"/>
              <a:gd name="T23" fmla="*/ 30 h 30"/>
              <a:gd name="T24" fmla="*/ 18 w 30"/>
              <a:gd name="T25" fmla="*/ 30 h 30"/>
              <a:gd name="T26" fmla="*/ 23 w 30"/>
              <a:gd name="T27" fmla="*/ 29 h 30"/>
              <a:gd name="T28" fmla="*/ 28 w 30"/>
              <a:gd name="T29" fmla="*/ 24 h 30"/>
              <a:gd name="T30" fmla="*/ 30 w 30"/>
              <a:gd name="T31" fmla="*/ 19 h 30"/>
              <a:gd name="T32" fmla="*/ 27 w 30"/>
              <a:gd name="T33" fmla="*/ 15 h 30"/>
              <a:gd name="T34" fmla="*/ 27 w 30"/>
              <a:gd name="T35" fmla="*/ 20 h 30"/>
              <a:gd name="T36" fmla="*/ 23 w 30"/>
              <a:gd name="T37" fmla="*/ 24 h 30"/>
              <a:gd name="T38" fmla="*/ 20 w 30"/>
              <a:gd name="T39" fmla="*/ 27 h 30"/>
              <a:gd name="T40" fmla="*/ 15 w 30"/>
              <a:gd name="T41" fmla="*/ 27 h 30"/>
              <a:gd name="T42" fmla="*/ 10 w 30"/>
              <a:gd name="T43" fmla="*/ 27 h 30"/>
              <a:gd name="T44" fmla="*/ 7 w 30"/>
              <a:gd name="T45" fmla="*/ 24 h 30"/>
              <a:gd name="T46" fmla="*/ 5 w 30"/>
              <a:gd name="T47" fmla="*/ 20 h 30"/>
              <a:gd name="T48" fmla="*/ 4 w 30"/>
              <a:gd name="T49" fmla="*/ 15 h 30"/>
              <a:gd name="T50" fmla="*/ 5 w 30"/>
              <a:gd name="T51" fmla="*/ 12 h 30"/>
              <a:gd name="T52" fmla="*/ 7 w 30"/>
              <a:gd name="T53" fmla="*/ 7 h 30"/>
              <a:gd name="T54" fmla="*/ 10 w 30"/>
              <a:gd name="T55" fmla="*/ 5 h 30"/>
              <a:gd name="T56" fmla="*/ 15 w 30"/>
              <a:gd name="T57" fmla="*/ 4 h 30"/>
              <a:gd name="T58" fmla="*/ 20 w 30"/>
              <a:gd name="T59" fmla="*/ 5 h 30"/>
              <a:gd name="T60" fmla="*/ 23 w 30"/>
              <a:gd name="T61" fmla="*/ 7 h 30"/>
              <a:gd name="T62" fmla="*/ 27 w 30"/>
              <a:gd name="T63" fmla="*/ 12 h 30"/>
              <a:gd name="T64" fmla="*/ 27 w 30"/>
              <a:gd name="T65" fmla="*/ 15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0" h="30">
                <a:moveTo>
                  <a:pt x="30" y="15"/>
                </a:moveTo>
                <a:lnTo>
                  <a:pt x="30" y="14"/>
                </a:lnTo>
                <a:lnTo>
                  <a:pt x="28" y="10"/>
                </a:lnTo>
                <a:lnTo>
                  <a:pt x="28" y="7"/>
                </a:lnTo>
                <a:lnTo>
                  <a:pt x="25" y="5"/>
                </a:lnTo>
                <a:lnTo>
                  <a:pt x="23" y="4"/>
                </a:lnTo>
                <a:lnTo>
                  <a:pt x="22" y="2"/>
                </a:lnTo>
                <a:lnTo>
                  <a:pt x="18" y="2"/>
                </a:lnTo>
                <a:lnTo>
                  <a:pt x="15" y="0"/>
                </a:lnTo>
                <a:lnTo>
                  <a:pt x="12" y="2"/>
                </a:lnTo>
                <a:lnTo>
                  <a:pt x="10" y="2"/>
                </a:lnTo>
                <a:lnTo>
                  <a:pt x="7" y="4"/>
                </a:lnTo>
                <a:lnTo>
                  <a:pt x="5" y="5"/>
                </a:lnTo>
                <a:lnTo>
                  <a:pt x="4" y="7"/>
                </a:lnTo>
                <a:lnTo>
                  <a:pt x="2" y="10"/>
                </a:lnTo>
                <a:lnTo>
                  <a:pt x="0" y="14"/>
                </a:lnTo>
                <a:lnTo>
                  <a:pt x="0" y="15"/>
                </a:lnTo>
                <a:lnTo>
                  <a:pt x="0" y="19"/>
                </a:lnTo>
                <a:lnTo>
                  <a:pt x="2" y="22"/>
                </a:lnTo>
                <a:lnTo>
                  <a:pt x="4" y="24"/>
                </a:lnTo>
                <a:lnTo>
                  <a:pt x="5" y="27"/>
                </a:lnTo>
                <a:lnTo>
                  <a:pt x="7" y="29"/>
                </a:lnTo>
                <a:lnTo>
                  <a:pt x="10" y="30"/>
                </a:lnTo>
                <a:lnTo>
                  <a:pt x="12" y="30"/>
                </a:lnTo>
                <a:lnTo>
                  <a:pt x="15" y="30"/>
                </a:lnTo>
                <a:lnTo>
                  <a:pt x="18" y="30"/>
                </a:lnTo>
                <a:lnTo>
                  <a:pt x="22" y="30"/>
                </a:lnTo>
                <a:lnTo>
                  <a:pt x="23" y="29"/>
                </a:lnTo>
                <a:lnTo>
                  <a:pt x="25" y="27"/>
                </a:lnTo>
                <a:lnTo>
                  <a:pt x="28" y="24"/>
                </a:lnTo>
                <a:lnTo>
                  <a:pt x="28" y="22"/>
                </a:lnTo>
                <a:lnTo>
                  <a:pt x="30" y="19"/>
                </a:lnTo>
                <a:lnTo>
                  <a:pt x="30" y="15"/>
                </a:lnTo>
                <a:close/>
                <a:moveTo>
                  <a:pt x="27" y="15"/>
                </a:moveTo>
                <a:lnTo>
                  <a:pt x="27" y="19"/>
                </a:lnTo>
                <a:lnTo>
                  <a:pt x="27" y="20"/>
                </a:lnTo>
                <a:lnTo>
                  <a:pt x="25" y="22"/>
                </a:lnTo>
                <a:lnTo>
                  <a:pt x="23" y="24"/>
                </a:lnTo>
                <a:lnTo>
                  <a:pt x="22" y="25"/>
                </a:lnTo>
                <a:lnTo>
                  <a:pt x="20" y="27"/>
                </a:lnTo>
                <a:lnTo>
                  <a:pt x="17" y="27"/>
                </a:lnTo>
                <a:lnTo>
                  <a:pt x="15" y="27"/>
                </a:lnTo>
                <a:lnTo>
                  <a:pt x="14" y="27"/>
                </a:lnTo>
                <a:lnTo>
                  <a:pt x="10" y="27"/>
                </a:lnTo>
                <a:lnTo>
                  <a:pt x="9" y="25"/>
                </a:lnTo>
                <a:lnTo>
                  <a:pt x="7" y="24"/>
                </a:lnTo>
                <a:lnTo>
                  <a:pt x="5" y="22"/>
                </a:lnTo>
                <a:lnTo>
                  <a:pt x="5" y="20"/>
                </a:lnTo>
                <a:lnTo>
                  <a:pt x="4" y="19"/>
                </a:lnTo>
                <a:lnTo>
                  <a:pt x="4" y="15"/>
                </a:lnTo>
                <a:lnTo>
                  <a:pt x="4" y="14"/>
                </a:lnTo>
                <a:lnTo>
                  <a:pt x="5" y="12"/>
                </a:lnTo>
                <a:lnTo>
                  <a:pt x="5" y="10"/>
                </a:lnTo>
                <a:lnTo>
                  <a:pt x="7" y="7"/>
                </a:lnTo>
                <a:lnTo>
                  <a:pt x="9" y="7"/>
                </a:lnTo>
                <a:lnTo>
                  <a:pt x="10" y="5"/>
                </a:lnTo>
                <a:lnTo>
                  <a:pt x="14" y="5"/>
                </a:lnTo>
                <a:lnTo>
                  <a:pt x="15" y="4"/>
                </a:lnTo>
                <a:lnTo>
                  <a:pt x="17" y="5"/>
                </a:lnTo>
                <a:lnTo>
                  <a:pt x="20" y="5"/>
                </a:lnTo>
                <a:lnTo>
                  <a:pt x="22" y="7"/>
                </a:lnTo>
                <a:lnTo>
                  <a:pt x="23" y="7"/>
                </a:lnTo>
                <a:lnTo>
                  <a:pt x="25" y="10"/>
                </a:lnTo>
                <a:lnTo>
                  <a:pt x="27" y="12"/>
                </a:lnTo>
                <a:lnTo>
                  <a:pt x="27" y="14"/>
                </a:lnTo>
                <a:lnTo>
                  <a:pt x="27" y="15"/>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44" name="Freeform 1849">
            <a:extLst>
              <a:ext uri="{FF2B5EF4-FFF2-40B4-BE49-F238E27FC236}">
                <a16:creationId xmlns:a16="http://schemas.microsoft.com/office/drawing/2014/main" id="{370811BD-B0A7-485D-74A2-2483E6F05720}"/>
              </a:ext>
            </a:extLst>
          </p:cNvPr>
          <p:cNvSpPr>
            <a:spLocks noEditPoints="1"/>
          </p:cNvSpPr>
          <p:nvPr/>
        </p:nvSpPr>
        <p:spPr bwMode="auto">
          <a:xfrm>
            <a:off x="2536825" y="2736850"/>
            <a:ext cx="41275" cy="42863"/>
          </a:xfrm>
          <a:custGeom>
            <a:avLst/>
            <a:gdLst>
              <a:gd name="T0" fmla="*/ 26 w 26"/>
              <a:gd name="T1" fmla="*/ 12 h 27"/>
              <a:gd name="T2" fmla="*/ 25 w 26"/>
              <a:gd name="T3" fmla="*/ 7 h 27"/>
              <a:gd name="T4" fmla="*/ 21 w 26"/>
              <a:gd name="T5" fmla="*/ 3 h 27"/>
              <a:gd name="T6" fmla="*/ 16 w 26"/>
              <a:gd name="T7" fmla="*/ 2 h 27"/>
              <a:gd name="T8" fmla="*/ 10 w 26"/>
              <a:gd name="T9" fmla="*/ 2 h 27"/>
              <a:gd name="T10" fmla="*/ 7 w 26"/>
              <a:gd name="T11" fmla="*/ 3 h 27"/>
              <a:gd name="T12" fmla="*/ 2 w 26"/>
              <a:gd name="T13" fmla="*/ 7 h 27"/>
              <a:gd name="T14" fmla="*/ 0 w 26"/>
              <a:gd name="T15" fmla="*/ 12 h 27"/>
              <a:gd name="T16" fmla="*/ 0 w 26"/>
              <a:gd name="T17" fmla="*/ 17 h 27"/>
              <a:gd name="T18" fmla="*/ 2 w 26"/>
              <a:gd name="T19" fmla="*/ 22 h 27"/>
              <a:gd name="T20" fmla="*/ 7 w 26"/>
              <a:gd name="T21" fmla="*/ 25 h 27"/>
              <a:gd name="T22" fmla="*/ 10 w 26"/>
              <a:gd name="T23" fmla="*/ 27 h 27"/>
              <a:gd name="T24" fmla="*/ 16 w 26"/>
              <a:gd name="T25" fmla="*/ 27 h 27"/>
              <a:gd name="T26" fmla="*/ 21 w 26"/>
              <a:gd name="T27" fmla="*/ 25 h 27"/>
              <a:gd name="T28" fmla="*/ 25 w 26"/>
              <a:gd name="T29" fmla="*/ 22 h 27"/>
              <a:gd name="T30" fmla="*/ 26 w 26"/>
              <a:gd name="T31" fmla="*/ 17 h 27"/>
              <a:gd name="T32" fmla="*/ 23 w 26"/>
              <a:gd name="T33" fmla="*/ 13 h 27"/>
              <a:gd name="T34" fmla="*/ 23 w 26"/>
              <a:gd name="T35" fmla="*/ 18 h 27"/>
              <a:gd name="T36" fmla="*/ 20 w 26"/>
              <a:gd name="T37" fmla="*/ 22 h 27"/>
              <a:gd name="T38" fmla="*/ 16 w 26"/>
              <a:gd name="T39" fmla="*/ 23 h 27"/>
              <a:gd name="T40" fmla="*/ 13 w 26"/>
              <a:gd name="T41" fmla="*/ 23 h 27"/>
              <a:gd name="T42" fmla="*/ 10 w 26"/>
              <a:gd name="T43" fmla="*/ 23 h 27"/>
              <a:gd name="T44" fmla="*/ 7 w 26"/>
              <a:gd name="T45" fmla="*/ 22 h 27"/>
              <a:gd name="T46" fmla="*/ 5 w 26"/>
              <a:gd name="T47" fmla="*/ 18 h 27"/>
              <a:gd name="T48" fmla="*/ 3 w 26"/>
              <a:gd name="T49" fmla="*/ 13 h 27"/>
              <a:gd name="T50" fmla="*/ 5 w 26"/>
              <a:gd name="T51" fmla="*/ 10 h 27"/>
              <a:gd name="T52" fmla="*/ 7 w 26"/>
              <a:gd name="T53" fmla="*/ 7 h 27"/>
              <a:gd name="T54" fmla="*/ 10 w 26"/>
              <a:gd name="T55" fmla="*/ 5 h 27"/>
              <a:gd name="T56" fmla="*/ 13 w 26"/>
              <a:gd name="T57" fmla="*/ 3 h 27"/>
              <a:gd name="T58" fmla="*/ 16 w 26"/>
              <a:gd name="T59" fmla="*/ 5 h 27"/>
              <a:gd name="T60" fmla="*/ 20 w 26"/>
              <a:gd name="T61" fmla="*/ 7 h 27"/>
              <a:gd name="T62" fmla="*/ 23 w 26"/>
              <a:gd name="T63" fmla="*/ 10 h 27"/>
              <a:gd name="T64" fmla="*/ 23 w 26"/>
              <a:gd name="T65" fmla="*/ 13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6" h="27">
                <a:moveTo>
                  <a:pt x="26" y="13"/>
                </a:moveTo>
                <a:lnTo>
                  <a:pt x="26" y="12"/>
                </a:lnTo>
                <a:lnTo>
                  <a:pt x="25" y="8"/>
                </a:lnTo>
                <a:lnTo>
                  <a:pt x="25" y="7"/>
                </a:lnTo>
                <a:lnTo>
                  <a:pt x="23" y="5"/>
                </a:lnTo>
                <a:lnTo>
                  <a:pt x="21" y="3"/>
                </a:lnTo>
                <a:lnTo>
                  <a:pt x="18" y="2"/>
                </a:lnTo>
                <a:lnTo>
                  <a:pt x="16" y="2"/>
                </a:lnTo>
                <a:lnTo>
                  <a:pt x="13" y="0"/>
                </a:lnTo>
                <a:lnTo>
                  <a:pt x="10" y="2"/>
                </a:lnTo>
                <a:lnTo>
                  <a:pt x="8" y="2"/>
                </a:lnTo>
                <a:lnTo>
                  <a:pt x="7" y="3"/>
                </a:lnTo>
                <a:lnTo>
                  <a:pt x="3" y="5"/>
                </a:lnTo>
                <a:lnTo>
                  <a:pt x="2" y="7"/>
                </a:lnTo>
                <a:lnTo>
                  <a:pt x="2" y="8"/>
                </a:lnTo>
                <a:lnTo>
                  <a:pt x="0" y="12"/>
                </a:lnTo>
                <a:lnTo>
                  <a:pt x="0" y="13"/>
                </a:lnTo>
                <a:lnTo>
                  <a:pt x="0" y="17"/>
                </a:lnTo>
                <a:lnTo>
                  <a:pt x="2" y="20"/>
                </a:lnTo>
                <a:lnTo>
                  <a:pt x="2" y="22"/>
                </a:lnTo>
                <a:lnTo>
                  <a:pt x="3" y="23"/>
                </a:lnTo>
                <a:lnTo>
                  <a:pt x="7" y="25"/>
                </a:lnTo>
                <a:lnTo>
                  <a:pt x="8" y="27"/>
                </a:lnTo>
                <a:lnTo>
                  <a:pt x="10" y="27"/>
                </a:lnTo>
                <a:lnTo>
                  <a:pt x="13" y="27"/>
                </a:lnTo>
                <a:lnTo>
                  <a:pt x="16" y="27"/>
                </a:lnTo>
                <a:lnTo>
                  <a:pt x="18" y="27"/>
                </a:lnTo>
                <a:lnTo>
                  <a:pt x="21" y="25"/>
                </a:lnTo>
                <a:lnTo>
                  <a:pt x="23" y="23"/>
                </a:lnTo>
                <a:lnTo>
                  <a:pt x="25" y="22"/>
                </a:lnTo>
                <a:lnTo>
                  <a:pt x="25" y="20"/>
                </a:lnTo>
                <a:lnTo>
                  <a:pt x="26" y="17"/>
                </a:lnTo>
                <a:lnTo>
                  <a:pt x="26" y="13"/>
                </a:lnTo>
                <a:close/>
                <a:moveTo>
                  <a:pt x="23" y="13"/>
                </a:moveTo>
                <a:lnTo>
                  <a:pt x="23" y="17"/>
                </a:lnTo>
                <a:lnTo>
                  <a:pt x="23" y="18"/>
                </a:lnTo>
                <a:lnTo>
                  <a:pt x="21" y="20"/>
                </a:lnTo>
                <a:lnTo>
                  <a:pt x="20" y="22"/>
                </a:lnTo>
                <a:lnTo>
                  <a:pt x="18" y="22"/>
                </a:lnTo>
                <a:lnTo>
                  <a:pt x="16" y="23"/>
                </a:lnTo>
                <a:lnTo>
                  <a:pt x="15" y="23"/>
                </a:lnTo>
                <a:lnTo>
                  <a:pt x="13" y="23"/>
                </a:lnTo>
                <a:lnTo>
                  <a:pt x="12" y="23"/>
                </a:lnTo>
                <a:lnTo>
                  <a:pt x="10" y="23"/>
                </a:lnTo>
                <a:lnTo>
                  <a:pt x="8" y="22"/>
                </a:lnTo>
                <a:lnTo>
                  <a:pt x="7" y="22"/>
                </a:lnTo>
                <a:lnTo>
                  <a:pt x="5" y="20"/>
                </a:lnTo>
                <a:lnTo>
                  <a:pt x="5" y="18"/>
                </a:lnTo>
                <a:lnTo>
                  <a:pt x="3" y="17"/>
                </a:lnTo>
                <a:lnTo>
                  <a:pt x="3" y="13"/>
                </a:lnTo>
                <a:lnTo>
                  <a:pt x="3" y="12"/>
                </a:lnTo>
                <a:lnTo>
                  <a:pt x="5" y="10"/>
                </a:lnTo>
                <a:lnTo>
                  <a:pt x="5" y="8"/>
                </a:lnTo>
                <a:lnTo>
                  <a:pt x="7" y="7"/>
                </a:lnTo>
                <a:lnTo>
                  <a:pt x="8" y="5"/>
                </a:lnTo>
                <a:lnTo>
                  <a:pt x="10" y="5"/>
                </a:lnTo>
                <a:lnTo>
                  <a:pt x="12" y="5"/>
                </a:lnTo>
                <a:lnTo>
                  <a:pt x="13" y="3"/>
                </a:lnTo>
                <a:lnTo>
                  <a:pt x="15" y="5"/>
                </a:lnTo>
                <a:lnTo>
                  <a:pt x="16" y="5"/>
                </a:lnTo>
                <a:lnTo>
                  <a:pt x="18" y="5"/>
                </a:lnTo>
                <a:lnTo>
                  <a:pt x="20" y="7"/>
                </a:lnTo>
                <a:lnTo>
                  <a:pt x="21" y="8"/>
                </a:lnTo>
                <a:lnTo>
                  <a:pt x="23" y="10"/>
                </a:lnTo>
                <a:lnTo>
                  <a:pt x="23" y="12"/>
                </a:lnTo>
                <a:lnTo>
                  <a:pt x="23" y="13"/>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45" name="Freeform 1850">
            <a:extLst>
              <a:ext uri="{FF2B5EF4-FFF2-40B4-BE49-F238E27FC236}">
                <a16:creationId xmlns:a16="http://schemas.microsoft.com/office/drawing/2014/main" id="{4AC5F91D-7119-D486-1582-ECD77098846C}"/>
              </a:ext>
            </a:extLst>
          </p:cNvPr>
          <p:cNvSpPr>
            <a:spLocks noEditPoints="1"/>
          </p:cNvSpPr>
          <p:nvPr/>
        </p:nvSpPr>
        <p:spPr bwMode="auto">
          <a:xfrm>
            <a:off x="2540000" y="2740025"/>
            <a:ext cx="36513" cy="36513"/>
          </a:xfrm>
          <a:custGeom>
            <a:avLst/>
            <a:gdLst>
              <a:gd name="T0" fmla="*/ 23 w 23"/>
              <a:gd name="T1" fmla="*/ 10 h 23"/>
              <a:gd name="T2" fmla="*/ 21 w 23"/>
              <a:gd name="T3" fmla="*/ 6 h 23"/>
              <a:gd name="T4" fmla="*/ 18 w 23"/>
              <a:gd name="T5" fmla="*/ 3 h 23"/>
              <a:gd name="T6" fmla="*/ 13 w 23"/>
              <a:gd name="T7" fmla="*/ 1 h 23"/>
              <a:gd name="T8" fmla="*/ 10 w 23"/>
              <a:gd name="T9" fmla="*/ 1 h 23"/>
              <a:gd name="T10" fmla="*/ 5 w 23"/>
              <a:gd name="T11" fmla="*/ 3 h 23"/>
              <a:gd name="T12" fmla="*/ 1 w 23"/>
              <a:gd name="T13" fmla="*/ 6 h 23"/>
              <a:gd name="T14" fmla="*/ 0 w 23"/>
              <a:gd name="T15" fmla="*/ 10 h 23"/>
              <a:gd name="T16" fmla="*/ 0 w 23"/>
              <a:gd name="T17" fmla="*/ 15 h 23"/>
              <a:gd name="T18" fmla="*/ 1 w 23"/>
              <a:gd name="T19" fmla="*/ 18 h 23"/>
              <a:gd name="T20" fmla="*/ 5 w 23"/>
              <a:gd name="T21" fmla="*/ 21 h 23"/>
              <a:gd name="T22" fmla="*/ 10 w 23"/>
              <a:gd name="T23" fmla="*/ 23 h 23"/>
              <a:gd name="T24" fmla="*/ 13 w 23"/>
              <a:gd name="T25" fmla="*/ 23 h 23"/>
              <a:gd name="T26" fmla="*/ 18 w 23"/>
              <a:gd name="T27" fmla="*/ 21 h 23"/>
              <a:gd name="T28" fmla="*/ 21 w 23"/>
              <a:gd name="T29" fmla="*/ 18 h 23"/>
              <a:gd name="T30" fmla="*/ 23 w 23"/>
              <a:gd name="T31" fmla="*/ 15 h 23"/>
              <a:gd name="T32" fmla="*/ 19 w 23"/>
              <a:gd name="T33" fmla="*/ 11 h 23"/>
              <a:gd name="T34" fmla="*/ 19 w 23"/>
              <a:gd name="T35" fmla="*/ 15 h 23"/>
              <a:gd name="T36" fmla="*/ 18 w 23"/>
              <a:gd name="T37" fmla="*/ 18 h 23"/>
              <a:gd name="T38" fmla="*/ 14 w 23"/>
              <a:gd name="T39" fmla="*/ 20 h 23"/>
              <a:gd name="T40" fmla="*/ 11 w 23"/>
              <a:gd name="T41" fmla="*/ 20 h 23"/>
              <a:gd name="T42" fmla="*/ 8 w 23"/>
              <a:gd name="T43" fmla="*/ 20 h 23"/>
              <a:gd name="T44" fmla="*/ 6 w 23"/>
              <a:gd name="T45" fmla="*/ 18 h 23"/>
              <a:gd name="T46" fmla="*/ 3 w 23"/>
              <a:gd name="T47" fmla="*/ 15 h 23"/>
              <a:gd name="T48" fmla="*/ 3 w 23"/>
              <a:gd name="T49" fmla="*/ 11 h 23"/>
              <a:gd name="T50" fmla="*/ 3 w 23"/>
              <a:gd name="T51" fmla="*/ 8 h 23"/>
              <a:gd name="T52" fmla="*/ 6 w 23"/>
              <a:gd name="T53" fmla="*/ 6 h 23"/>
              <a:gd name="T54" fmla="*/ 8 w 23"/>
              <a:gd name="T55" fmla="*/ 5 h 23"/>
              <a:gd name="T56" fmla="*/ 11 w 23"/>
              <a:gd name="T57" fmla="*/ 3 h 23"/>
              <a:gd name="T58" fmla="*/ 14 w 23"/>
              <a:gd name="T59" fmla="*/ 5 h 23"/>
              <a:gd name="T60" fmla="*/ 18 w 23"/>
              <a:gd name="T61" fmla="*/ 6 h 23"/>
              <a:gd name="T62" fmla="*/ 19 w 23"/>
              <a:gd name="T63" fmla="*/ 8 h 23"/>
              <a:gd name="T64" fmla="*/ 19 w 23"/>
              <a:gd name="T65" fmla="*/ 11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3" h="23">
                <a:moveTo>
                  <a:pt x="23" y="11"/>
                </a:moveTo>
                <a:lnTo>
                  <a:pt x="23" y="10"/>
                </a:lnTo>
                <a:lnTo>
                  <a:pt x="23" y="8"/>
                </a:lnTo>
                <a:lnTo>
                  <a:pt x="21" y="6"/>
                </a:lnTo>
                <a:lnTo>
                  <a:pt x="19" y="3"/>
                </a:lnTo>
                <a:lnTo>
                  <a:pt x="18" y="3"/>
                </a:lnTo>
                <a:lnTo>
                  <a:pt x="16" y="1"/>
                </a:lnTo>
                <a:lnTo>
                  <a:pt x="13" y="1"/>
                </a:lnTo>
                <a:lnTo>
                  <a:pt x="11" y="0"/>
                </a:lnTo>
                <a:lnTo>
                  <a:pt x="10" y="1"/>
                </a:lnTo>
                <a:lnTo>
                  <a:pt x="6" y="1"/>
                </a:lnTo>
                <a:lnTo>
                  <a:pt x="5" y="3"/>
                </a:lnTo>
                <a:lnTo>
                  <a:pt x="3" y="3"/>
                </a:lnTo>
                <a:lnTo>
                  <a:pt x="1" y="6"/>
                </a:lnTo>
                <a:lnTo>
                  <a:pt x="1" y="8"/>
                </a:lnTo>
                <a:lnTo>
                  <a:pt x="0" y="10"/>
                </a:lnTo>
                <a:lnTo>
                  <a:pt x="0" y="11"/>
                </a:lnTo>
                <a:lnTo>
                  <a:pt x="0" y="15"/>
                </a:lnTo>
                <a:lnTo>
                  <a:pt x="1" y="16"/>
                </a:lnTo>
                <a:lnTo>
                  <a:pt x="1" y="18"/>
                </a:lnTo>
                <a:lnTo>
                  <a:pt x="3" y="20"/>
                </a:lnTo>
                <a:lnTo>
                  <a:pt x="5" y="21"/>
                </a:lnTo>
                <a:lnTo>
                  <a:pt x="6" y="23"/>
                </a:lnTo>
                <a:lnTo>
                  <a:pt x="10" y="23"/>
                </a:lnTo>
                <a:lnTo>
                  <a:pt x="11" y="23"/>
                </a:lnTo>
                <a:lnTo>
                  <a:pt x="13" y="23"/>
                </a:lnTo>
                <a:lnTo>
                  <a:pt x="16" y="23"/>
                </a:lnTo>
                <a:lnTo>
                  <a:pt x="18" y="21"/>
                </a:lnTo>
                <a:lnTo>
                  <a:pt x="19" y="20"/>
                </a:lnTo>
                <a:lnTo>
                  <a:pt x="21" y="18"/>
                </a:lnTo>
                <a:lnTo>
                  <a:pt x="23" y="16"/>
                </a:lnTo>
                <a:lnTo>
                  <a:pt x="23" y="15"/>
                </a:lnTo>
                <a:lnTo>
                  <a:pt x="23" y="11"/>
                </a:lnTo>
                <a:close/>
                <a:moveTo>
                  <a:pt x="19" y="11"/>
                </a:moveTo>
                <a:lnTo>
                  <a:pt x="19" y="13"/>
                </a:lnTo>
                <a:lnTo>
                  <a:pt x="19" y="15"/>
                </a:lnTo>
                <a:lnTo>
                  <a:pt x="18" y="16"/>
                </a:lnTo>
                <a:lnTo>
                  <a:pt x="18" y="18"/>
                </a:lnTo>
                <a:lnTo>
                  <a:pt x="16" y="20"/>
                </a:lnTo>
                <a:lnTo>
                  <a:pt x="14" y="20"/>
                </a:lnTo>
                <a:lnTo>
                  <a:pt x="13" y="20"/>
                </a:lnTo>
                <a:lnTo>
                  <a:pt x="11" y="20"/>
                </a:lnTo>
                <a:lnTo>
                  <a:pt x="10" y="20"/>
                </a:lnTo>
                <a:lnTo>
                  <a:pt x="8" y="20"/>
                </a:lnTo>
                <a:lnTo>
                  <a:pt x="6" y="20"/>
                </a:lnTo>
                <a:lnTo>
                  <a:pt x="6" y="18"/>
                </a:lnTo>
                <a:lnTo>
                  <a:pt x="5" y="16"/>
                </a:lnTo>
                <a:lnTo>
                  <a:pt x="3" y="15"/>
                </a:lnTo>
                <a:lnTo>
                  <a:pt x="3" y="13"/>
                </a:lnTo>
                <a:lnTo>
                  <a:pt x="3" y="11"/>
                </a:lnTo>
                <a:lnTo>
                  <a:pt x="3" y="10"/>
                </a:lnTo>
                <a:lnTo>
                  <a:pt x="3" y="8"/>
                </a:lnTo>
                <a:lnTo>
                  <a:pt x="5" y="8"/>
                </a:lnTo>
                <a:lnTo>
                  <a:pt x="6" y="6"/>
                </a:lnTo>
                <a:lnTo>
                  <a:pt x="6" y="5"/>
                </a:lnTo>
                <a:lnTo>
                  <a:pt x="8" y="5"/>
                </a:lnTo>
                <a:lnTo>
                  <a:pt x="10" y="5"/>
                </a:lnTo>
                <a:lnTo>
                  <a:pt x="11" y="3"/>
                </a:lnTo>
                <a:lnTo>
                  <a:pt x="13" y="5"/>
                </a:lnTo>
                <a:lnTo>
                  <a:pt x="14" y="5"/>
                </a:lnTo>
                <a:lnTo>
                  <a:pt x="16" y="5"/>
                </a:lnTo>
                <a:lnTo>
                  <a:pt x="18" y="6"/>
                </a:lnTo>
                <a:lnTo>
                  <a:pt x="18" y="8"/>
                </a:lnTo>
                <a:lnTo>
                  <a:pt x="19" y="8"/>
                </a:lnTo>
                <a:lnTo>
                  <a:pt x="19" y="10"/>
                </a:lnTo>
                <a:lnTo>
                  <a:pt x="19" y="11"/>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46" name="Freeform 1851">
            <a:extLst>
              <a:ext uri="{FF2B5EF4-FFF2-40B4-BE49-F238E27FC236}">
                <a16:creationId xmlns:a16="http://schemas.microsoft.com/office/drawing/2014/main" id="{59DBF0F1-FA63-37E2-E867-A4D8EEBF1C7C}"/>
              </a:ext>
            </a:extLst>
          </p:cNvPr>
          <p:cNvSpPr>
            <a:spLocks noEditPoints="1"/>
          </p:cNvSpPr>
          <p:nvPr/>
        </p:nvSpPr>
        <p:spPr bwMode="auto">
          <a:xfrm>
            <a:off x="2541588" y="2741613"/>
            <a:ext cx="31750" cy="31750"/>
          </a:xfrm>
          <a:custGeom>
            <a:avLst/>
            <a:gdLst>
              <a:gd name="T0" fmla="*/ 20 w 20"/>
              <a:gd name="T1" fmla="*/ 10 h 20"/>
              <a:gd name="T2" fmla="*/ 20 w 20"/>
              <a:gd name="T3" fmla="*/ 9 h 20"/>
              <a:gd name="T4" fmla="*/ 20 w 20"/>
              <a:gd name="T5" fmla="*/ 7 h 20"/>
              <a:gd name="T6" fmla="*/ 18 w 20"/>
              <a:gd name="T7" fmla="*/ 5 h 20"/>
              <a:gd name="T8" fmla="*/ 17 w 20"/>
              <a:gd name="T9" fmla="*/ 4 h 20"/>
              <a:gd name="T10" fmla="*/ 15 w 20"/>
              <a:gd name="T11" fmla="*/ 2 h 20"/>
              <a:gd name="T12" fmla="*/ 13 w 20"/>
              <a:gd name="T13" fmla="*/ 2 h 20"/>
              <a:gd name="T14" fmla="*/ 12 w 20"/>
              <a:gd name="T15" fmla="*/ 2 h 20"/>
              <a:gd name="T16" fmla="*/ 10 w 20"/>
              <a:gd name="T17" fmla="*/ 0 h 20"/>
              <a:gd name="T18" fmla="*/ 9 w 20"/>
              <a:gd name="T19" fmla="*/ 2 h 20"/>
              <a:gd name="T20" fmla="*/ 7 w 20"/>
              <a:gd name="T21" fmla="*/ 2 h 20"/>
              <a:gd name="T22" fmla="*/ 5 w 20"/>
              <a:gd name="T23" fmla="*/ 2 h 20"/>
              <a:gd name="T24" fmla="*/ 4 w 20"/>
              <a:gd name="T25" fmla="*/ 4 h 20"/>
              <a:gd name="T26" fmla="*/ 2 w 20"/>
              <a:gd name="T27" fmla="*/ 5 h 20"/>
              <a:gd name="T28" fmla="*/ 2 w 20"/>
              <a:gd name="T29" fmla="*/ 7 h 20"/>
              <a:gd name="T30" fmla="*/ 0 w 20"/>
              <a:gd name="T31" fmla="*/ 9 h 20"/>
              <a:gd name="T32" fmla="*/ 0 w 20"/>
              <a:gd name="T33" fmla="*/ 10 h 20"/>
              <a:gd name="T34" fmla="*/ 0 w 20"/>
              <a:gd name="T35" fmla="*/ 14 h 20"/>
              <a:gd name="T36" fmla="*/ 2 w 20"/>
              <a:gd name="T37" fmla="*/ 15 h 20"/>
              <a:gd name="T38" fmla="*/ 2 w 20"/>
              <a:gd name="T39" fmla="*/ 17 h 20"/>
              <a:gd name="T40" fmla="*/ 4 w 20"/>
              <a:gd name="T41" fmla="*/ 19 h 20"/>
              <a:gd name="T42" fmla="*/ 5 w 20"/>
              <a:gd name="T43" fmla="*/ 19 h 20"/>
              <a:gd name="T44" fmla="*/ 7 w 20"/>
              <a:gd name="T45" fmla="*/ 20 h 20"/>
              <a:gd name="T46" fmla="*/ 9 w 20"/>
              <a:gd name="T47" fmla="*/ 20 h 20"/>
              <a:gd name="T48" fmla="*/ 10 w 20"/>
              <a:gd name="T49" fmla="*/ 20 h 20"/>
              <a:gd name="T50" fmla="*/ 12 w 20"/>
              <a:gd name="T51" fmla="*/ 20 h 20"/>
              <a:gd name="T52" fmla="*/ 13 w 20"/>
              <a:gd name="T53" fmla="*/ 20 h 20"/>
              <a:gd name="T54" fmla="*/ 15 w 20"/>
              <a:gd name="T55" fmla="*/ 19 h 20"/>
              <a:gd name="T56" fmla="*/ 17 w 20"/>
              <a:gd name="T57" fmla="*/ 19 h 20"/>
              <a:gd name="T58" fmla="*/ 18 w 20"/>
              <a:gd name="T59" fmla="*/ 17 h 20"/>
              <a:gd name="T60" fmla="*/ 20 w 20"/>
              <a:gd name="T61" fmla="*/ 15 h 20"/>
              <a:gd name="T62" fmla="*/ 20 w 20"/>
              <a:gd name="T63" fmla="*/ 14 h 20"/>
              <a:gd name="T64" fmla="*/ 20 w 20"/>
              <a:gd name="T65" fmla="*/ 10 h 20"/>
              <a:gd name="T66" fmla="*/ 17 w 20"/>
              <a:gd name="T67" fmla="*/ 10 h 20"/>
              <a:gd name="T68" fmla="*/ 17 w 20"/>
              <a:gd name="T69" fmla="*/ 12 h 20"/>
              <a:gd name="T70" fmla="*/ 17 w 20"/>
              <a:gd name="T71" fmla="*/ 14 h 20"/>
              <a:gd name="T72" fmla="*/ 15 w 20"/>
              <a:gd name="T73" fmla="*/ 15 h 20"/>
              <a:gd name="T74" fmla="*/ 13 w 20"/>
              <a:gd name="T75" fmla="*/ 17 h 20"/>
              <a:gd name="T76" fmla="*/ 12 w 20"/>
              <a:gd name="T77" fmla="*/ 17 h 20"/>
              <a:gd name="T78" fmla="*/ 10 w 20"/>
              <a:gd name="T79" fmla="*/ 17 h 20"/>
              <a:gd name="T80" fmla="*/ 9 w 20"/>
              <a:gd name="T81" fmla="*/ 17 h 20"/>
              <a:gd name="T82" fmla="*/ 7 w 20"/>
              <a:gd name="T83" fmla="*/ 17 h 20"/>
              <a:gd name="T84" fmla="*/ 5 w 20"/>
              <a:gd name="T85" fmla="*/ 15 h 20"/>
              <a:gd name="T86" fmla="*/ 4 w 20"/>
              <a:gd name="T87" fmla="*/ 14 h 20"/>
              <a:gd name="T88" fmla="*/ 4 w 20"/>
              <a:gd name="T89" fmla="*/ 12 h 20"/>
              <a:gd name="T90" fmla="*/ 4 w 20"/>
              <a:gd name="T91" fmla="*/ 10 h 20"/>
              <a:gd name="T92" fmla="*/ 4 w 20"/>
              <a:gd name="T93" fmla="*/ 9 h 20"/>
              <a:gd name="T94" fmla="*/ 5 w 20"/>
              <a:gd name="T95" fmla="*/ 7 h 20"/>
              <a:gd name="T96" fmla="*/ 7 w 20"/>
              <a:gd name="T97" fmla="*/ 5 h 20"/>
              <a:gd name="T98" fmla="*/ 9 w 20"/>
              <a:gd name="T99" fmla="*/ 5 h 20"/>
              <a:gd name="T100" fmla="*/ 10 w 20"/>
              <a:gd name="T101" fmla="*/ 4 h 20"/>
              <a:gd name="T102" fmla="*/ 12 w 20"/>
              <a:gd name="T103" fmla="*/ 5 h 20"/>
              <a:gd name="T104" fmla="*/ 13 w 20"/>
              <a:gd name="T105" fmla="*/ 5 h 20"/>
              <a:gd name="T106" fmla="*/ 15 w 20"/>
              <a:gd name="T107" fmla="*/ 7 h 20"/>
              <a:gd name="T108" fmla="*/ 17 w 20"/>
              <a:gd name="T109" fmla="*/ 9 h 20"/>
              <a:gd name="T110" fmla="*/ 17 w 20"/>
              <a:gd name="T111" fmla="*/ 1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0" h="20">
                <a:moveTo>
                  <a:pt x="20" y="10"/>
                </a:moveTo>
                <a:lnTo>
                  <a:pt x="20" y="9"/>
                </a:lnTo>
                <a:lnTo>
                  <a:pt x="20" y="7"/>
                </a:lnTo>
                <a:lnTo>
                  <a:pt x="18" y="5"/>
                </a:lnTo>
                <a:lnTo>
                  <a:pt x="17" y="4"/>
                </a:lnTo>
                <a:lnTo>
                  <a:pt x="15" y="2"/>
                </a:lnTo>
                <a:lnTo>
                  <a:pt x="13" y="2"/>
                </a:lnTo>
                <a:lnTo>
                  <a:pt x="12" y="2"/>
                </a:lnTo>
                <a:lnTo>
                  <a:pt x="10" y="0"/>
                </a:lnTo>
                <a:lnTo>
                  <a:pt x="9" y="2"/>
                </a:lnTo>
                <a:lnTo>
                  <a:pt x="7" y="2"/>
                </a:lnTo>
                <a:lnTo>
                  <a:pt x="5" y="2"/>
                </a:lnTo>
                <a:lnTo>
                  <a:pt x="4" y="4"/>
                </a:lnTo>
                <a:lnTo>
                  <a:pt x="2" y="5"/>
                </a:lnTo>
                <a:lnTo>
                  <a:pt x="2" y="7"/>
                </a:lnTo>
                <a:lnTo>
                  <a:pt x="0" y="9"/>
                </a:lnTo>
                <a:lnTo>
                  <a:pt x="0" y="10"/>
                </a:lnTo>
                <a:lnTo>
                  <a:pt x="0" y="14"/>
                </a:lnTo>
                <a:lnTo>
                  <a:pt x="2" y="15"/>
                </a:lnTo>
                <a:lnTo>
                  <a:pt x="2" y="17"/>
                </a:lnTo>
                <a:lnTo>
                  <a:pt x="4" y="19"/>
                </a:lnTo>
                <a:lnTo>
                  <a:pt x="5" y="19"/>
                </a:lnTo>
                <a:lnTo>
                  <a:pt x="7" y="20"/>
                </a:lnTo>
                <a:lnTo>
                  <a:pt x="9" y="20"/>
                </a:lnTo>
                <a:lnTo>
                  <a:pt x="10" y="20"/>
                </a:lnTo>
                <a:lnTo>
                  <a:pt x="12" y="20"/>
                </a:lnTo>
                <a:lnTo>
                  <a:pt x="13" y="20"/>
                </a:lnTo>
                <a:lnTo>
                  <a:pt x="15" y="19"/>
                </a:lnTo>
                <a:lnTo>
                  <a:pt x="17" y="19"/>
                </a:lnTo>
                <a:lnTo>
                  <a:pt x="18" y="17"/>
                </a:lnTo>
                <a:lnTo>
                  <a:pt x="20" y="15"/>
                </a:lnTo>
                <a:lnTo>
                  <a:pt x="20" y="14"/>
                </a:lnTo>
                <a:lnTo>
                  <a:pt x="20" y="10"/>
                </a:lnTo>
                <a:close/>
                <a:moveTo>
                  <a:pt x="17" y="10"/>
                </a:moveTo>
                <a:lnTo>
                  <a:pt x="17" y="12"/>
                </a:lnTo>
                <a:lnTo>
                  <a:pt x="17" y="14"/>
                </a:lnTo>
                <a:lnTo>
                  <a:pt x="15" y="15"/>
                </a:lnTo>
                <a:lnTo>
                  <a:pt x="13" y="17"/>
                </a:lnTo>
                <a:lnTo>
                  <a:pt x="12" y="17"/>
                </a:lnTo>
                <a:lnTo>
                  <a:pt x="10" y="17"/>
                </a:lnTo>
                <a:lnTo>
                  <a:pt x="9" y="17"/>
                </a:lnTo>
                <a:lnTo>
                  <a:pt x="7" y="17"/>
                </a:lnTo>
                <a:lnTo>
                  <a:pt x="5" y="15"/>
                </a:lnTo>
                <a:lnTo>
                  <a:pt x="4" y="14"/>
                </a:lnTo>
                <a:lnTo>
                  <a:pt x="4" y="12"/>
                </a:lnTo>
                <a:lnTo>
                  <a:pt x="4" y="10"/>
                </a:lnTo>
                <a:lnTo>
                  <a:pt x="4" y="9"/>
                </a:lnTo>
                <a:lnTo>
                  <a:pt x="5" y="7"/>
                </a:lnTo>
                <a:lnTo>
                  <a:pt x="7" y="5"/>
                </a:lnTo>
                <a:lnTo>
                  <a:pt x="9" y="5"/>
                </a:lnTo>
                <a:lnTo>
                  <a:pt x="10" y="4"/>
                </a:lnTo>
                <a:lnTo>
                  <a:pt x="12" y="5"/>
                </a:lnTo>
                <a:lnTo>
                  <a:pt x="13" y="5"/>
                </a:lnTo>
                <a:lnTo>
                  <a:pt x="15" y="7"/>
                </a:lnTo>
                <a:lnTo>
                  <a:pt x="17" y="9"/>
                </a:lnTo>
                <a:lnTo>
                  <a:pt x="17" y="10"/>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47" name="Freeform 1852">
            <a:extLst>
              <a:ext uri="{FF2B5EF4-FFF2-40B4-BE49-F238E27FC236}">
                <a16:creationId xmlns:a16="http://schemas.microsoft.com/office/drawing/2014/main" id="{31E94900-5D1D-0D9D-9802-323554900E88}"/>
              </a:ext>
            </a:extLst>
          </p:cNvPr>
          <p:cNvSpPr>
            <a:spLocks noEditPoints="1"/>
          </p:cNvSpPr>
          <p:nvPr/>
        </p:nvSpPr>
        <p:spPr bwMode="auto">
          <a:xfrm>
            <a:off x="2544763" y="2744788"/>
            <a:ext cx="25400" cy="26988"/>
          </a:xfrm>
          <a:custGeom>
            <a:avLst/>
            <a:gdLst>
              <a:gd name="T0" fmla="*/ 16 w 16"/>
              <a:gd name="T1" fmla="*/ 8 h 17"/>
              <a:gd name="T2" fmla="*/ 16 w 16"/>
              <a:gd name="T3" fmla="*/ 7 h 17"/>
              <a:gd name="T4" fmla="*/ 16 w 16"/>
              <a:gd name="T5" fmla="*/ 5 h 17"/>
              <a:gd name="T6" fmla="*/ 15 w 16"/>
              <a:gd name="T7" fmla="*/ 5 h 17"/>
              <a:gd name="T8" fmla="*/ 15 w 16"/>
              <a:gd name="T9" fmla="*/ 3 h 17"/>
              <a:gd name="T10" fmla="*/ 13 w 16"/>
              <a:gd name="T11" fmla="*/ 2 h 17"/>
              <a:gd name="T12" fmla="*/ 11 w 16"/>
              <a:gd name="T13" fmla="*/ 2 h 17"/>
              <a:gd name="T14" fmla="*/ 10 w 16"/>
              <a:gd name="T15" fmla="*/ 2 h 17"/>
              <a:gd name="T16" fmla="*/ 8 w 16"/>
              <a:gd name="T17" fmla="*/ 0 h 17"/>
              <a:gd name="T18" fmla="*/ 7 w 16"/>
              <a:gd name="T19" fmla="*/ 2 h 17"/>
              <a:gd name="T20" fmla="*/ 5 w 16"/>
              <a:gd name="T21" fmla="*/ 2 h 17"/>
              <a:gd name="T22" fmla="*/ 3 w 16"/>
              <a:gd name="T23" fmla="*/ 2 h 17"/>
              <a:gd name="T24" fmla="*/ 3 w 16"/>
              <a:gd name="T25" fmla="*/ 3 h 17"/>
              <a:gd name="T26" fmla="*/ 2 w 16"/>
              <a:gd name="T27" fmla="*/ 5 h 17"/>
              <a:gd name="T28" fmla="*/ 0 w 16"/>
              <a:gd name="T29" fmla="*/ 5 h 17"/>
              <a:gd name="T30" fmla="*/ 0 w 16"/>
              <a:gd name="T31" fmla="*/ 7 h 17"/>
              <a:gd name="T32" fmla="*/ 0 w 16"/>
              <a:gd name="T33" fmla="*/ 8 h 17"/>
              <a:gd name="T34" fmla="*/ 0 w 16"/>
              <a:gd name="T35" fmla="*/ 10 h 17"/>
              <a:gd name="T36" fmla="*/ 0 w 16"/>
              <a:gd name="T37" fmla="*/ 12 h 17"/>
              <a:gd name="T38" fmla="*/ 2 w 16"/>
              <a:gd name="T39" fmla="*/ 13 h 17"/>
              <a:gd name="T40" fmla="*/ 3 w 16"/>
              <a:gd name="T41" fmla="*/ 15 h 17"/>
              <a:gd name="T42" fmla="*/ 3 w 16"/>
              <a:gd name="T43" fmla="*/ 17 h 17"/>
              <a:gd name="T44" fmla="*/ 5 w 16"/>
              <a:gd name="T45" fmla="*/ 17 h 17"/>
              <a:gd name="T46" fmla="*/ 7 w 16"/>
              <a:gd name="T47" fmla="*/ 17 h 17"/>
              <a:gd name="T48" fmla="*/ 8 w 16"/>
              <a:gd name="T49" fmla="*/ 17 h 17"/>
              <a:gd name="T50" fmla="*/ 10 w 16"/>
              <a:gd name="T51" fmla="*/ 17 h 17"/>
              <a:gd name="T52" fmla="*/ 11 w 16"/>
              <a:gd name="T53" fmla="*/ 17 h 17"/>
              <a:gd name="T54" fmla="*/ 13 w 16"/>
              <a:gd name="T55" fmla="*/ 17 h 17"/>
              <a:gd name="T56" fmla="*/ 15 w 16"/>
              <a:gd name="T57" fmla="*/ 15 h 17"/>
              <a:gd name="T58" fmla="*/ 15 w 16"/>
              <a:gd name="T59" fmla="*/ 13 h 17"/>
              <a:gd name="T60" fmla="*/ 16 w 16"/>
              <a:gd name="T61" fmla="*/ 12 h 17"/>
              <a:gd name="T62" fmla="*/ 16 w 16"/>
              <a:gd name="T63" fmla="*/ 10 h 17"/>
              <a:gd name="T64" fmla="*/ 16 w 16"/>
              <a:gd name="T65" fmla="*/ 8 h 17"/>
              <a:gd name="T66" fmla="*/ 13 w 16"/>
              <a:gd name="T67" fmla="*/ 8 h 17"/>
              <a:gd name="T68" fmla="*/ 13 w 16"/>
              <a:gd name="T69" fmla="*/ 10 h 17"/>
              <a:gd name="T70" fmla="*/ 13 w 16"/>
              <a:gd name="T71" fmla="*/ 12 h 17"/>
              <a:gd name="T72" fmla="*/ 11 w 16"/>
              <a:gd name="T73" fmla="*/ 13 h 17"/>
              <a:gd name="T74" fmla="*/ 10 w 16"/>
              <a:gd name="T75" fmla="*/ 13 h 17"/>
              <a:gd name="T76" fmla="*/ 8 w 16"/>
              <a:gd name="T77" fmla="*/ 13 h 17"/>
              <a:gd name="T78" fmla="*/ 7 w 16"/>
              <a:gd name="T79" fmla="*/ 13 h 17"/>
              <a:gd name="T80" fmla="*/ 5 w 16"/>
              <a:gd name="T81" fmla="*/ 13 h 17"/>
              <a:gd name="T82" fmla="*/ 5 w 16"/>
              <a:gd name="T83" fmla="*/ 12 h 17"/>
              <a:gd name="T84" fmla="*/ 3 w 16"/>
              <a:gd name="T85" fmla="*/ 12 h 17"/>
              <a:gd name="T86" fmla="*/ 3 w 16"/>
              <a:gd name="T87" fmla="*/ 10 h 17"/>
              <a:gd name="T88" fmla="*/ 3 w 16"/>
              <a:gd name="T89" fmla="*/ 8 h 17"/>
              <a:gd name="T90" fmla="*/ 3 w 16"/>
              <a:gd name="T91" fmla="*/ 7 h 17"/>
              <a:gd name="T92" fmla="*/ 5 w 16"/>
              <a:gd name="T93" fmla="*/ 7 h 17"/>
              <a:gd name="T94" fmla="*/ 5 w 16"/>
              <a:gd name="T95" fmla="*/ 5 h 17"/>
              <a:gd name="T96" fmla="*/ 7 w 16"/>
              <a:gd name="T97" fmla="*/ 5 h 17"/>
              <a:gd name="T98" fmla="*/ 7 w 16"/>
              <a:gd name="T99" fmla="*/ 3 h 17"/>
              <a:gd name="T100" fmla="*/ 8 w 16"/>
              <a:gd name="T101" fmla="*/ 3 h 17"/>
              <a:gd name="T102" fmla="*/ 10 w 16"/>
              <a:gd name="T103" fmla="*/ 3 h 17"/>
              <a:gd name="T104" fmla="*/ 10 w 16"/>
              <a:gd name="T105" fmla="*/ 5 h 17"/>
              <a:gd name="T106" fmla="*/ 11 w 16"/>
              <a:gd name="T107" fmla="*/ 5 h 17"/>
              <a:gd name="T108" fmla="*/ 13 w 16"/>
              <a:gd name="T109" fmla="*/ 7 h 17"/>
              <a:gd name="T110" fmla="*/ 13 w 16"/>
              <a:gd name="T11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6" h="17">
                <a:moveTo>
                  <a:pt x="16" y="8"/>
                </a:moveTo>
                <a:lnTo>
                  <a:pt x="16" y="7"/>
                </a:lnTo>
                <a:lnTo>
                  <a:pt x="16" y="5"/>
                </a:lnTo>
                <a:lnTo>
                  <a:pt x="15" y="5"/>
                </a:lnTo>
                <a:lnTo>
                  <a:pt x="15" y="3"/>
                </a:lnTo>
                <a:lnTo>
                  <a:pt x="13" y="2"/>
                </a:lnTo>
                <a:lnTo>
                  <a:pt x="11" y="2"/>
                </a:lnTo>
                <a:lnTo>
                  <a:pt x="10" y="2"/>
                </a:lnTo>
                <a:lnTo>
                  <a:pt x="8" y="0"/>
                </a:lnTo>
                <a:lnTo>
                  <a:pt x="7" y="2"/>
                </a:lnTo>
                <a:lnTo>
                  <a:pt x="5" y="2"/>
                </a:lnTo>
                <a:lnTo>
                  <a:pt x="3" y="2"/>
                </a:lnTo>
                <a:lnTo>
                  <a:pt x="3" y="3"/>
                </a:lnTo>
                <a:lnTo>
                  <a:pt x="2" y="5"/>
                </a:lnTo>
                <a:lnTo>
                  <a:pt x="0" y="5"/>
                </a:lnTo>
                <a:lnTo>
                  <a:pt x="0" y="7"/>
                </a:lnTo>
                <a:lnTo>
                  <a:pt x="0" y="8"/>
                </a:lnTo>
                <a:lnTo>
                  <a:pt x="0" y="10"/>
                </a:lnTo>
                <a:lnTo>
                  <a:pt x="0" y="12"/>
                </a:lnTo>
                <a:lnTo>
                  <a:pt x="2" y="13"/>
                </a:lnTo>
                <a:lnTo>
                  <a:pt x="3" y="15"/>
                </a:lnTo>
                <a:lnTo>
                  <a:pt x="3" y="17"/>
                </a:lnTo>
                <a:lnTo>
                  <a:pt x="5" y="17"/>
                </a:lnTo>
                <a:lnTo>
                  <a:pt x="7" y="17"/>
                </a:lnTo>
                <a:lnTo>
                  <a:pt x="8" y="17"/>
                </a:lnTo>
                <a:lnTo>
                  <a:pt x="10" y="17"/>
                </a:lnTo>
                <a:lnTo>
                  <a:pt x="11" y="17"/>
                </a:lnTo>
                <a:lnTo>
                  <a:pt x="13" y="17"/>
                </a:lnTo>
                <a:lnTo>
                  <a:pt x="15" y="15"/>
                </a:lnTo>
                <a:lnTo>
                  <a:pt x="15" y="13"/>
                </a:lnTo>
                <a:lnTo>
                  <a:pt x="16" y="12"/>
                </a:lnTo>
                <a:lnTo>
                  <a:pt x="16" y="10"/>
                </a:lnTo>
                <a:lnTo>
                  <a:pt x="16" y="8"/>
                </a:lnTo>
                <a:close/>
                <a:moveTo>
                  <a:pt x="13" y="8"/>
                </a:moveTo>
                <a:lnTo>
                  <a:pt x="13" y="10"/>
                </a:lnTo>
                <a:lnTo>
                  <a:pt x="13" y="12"/>
                </a:lnTo>
                <a:lnTo>
                  <a:pt x="11" y="13"/>
                </a:lnTo>
                <a:lnTo>
                  <a:pt x="10" y="13"/>
                </a:lnTo>
                <a:lnTo>
                  <a:pt x="8" y="13"/>
                </a:lnTo>
                <a:lnTo>
                  <a:pt x="7" y="13"/>
                </a:lnTo>
                <a:lnTo>
                  <a:pt x="5" y="13"/>
                </a:lnTo>
                <a:lnTo>
                  <a:pt x="5" y="12"/>
                </a:lnTo>
                <a:lnTo>
                  <a:pt x="3" y="12"/>
                </a:lnTo>
                <a:lnTo>
                  <a:pt x="3" y="10"/>
                </a:lnTo>
                <a:lnTo>
                  <a:pt x="3" y="8"/>
                </a:lnTo>
                <a:lnTo>
                  <a:pt x="3" y="7"/>
                </a:lnTo>
                <a:lnTo>
                  <a:pt x="5" y="7"/>
                </a:lnTo>
                <a:lnTo>
                  <a:pt x="5" y="5"/>
                </a:lnTo>
                <a:lnTo>
                  <a:pt x="7" y="5"/>
                </a:lnTo>
                <a:lnTo>
                  <a:pt x="7" y="3"/>
                </a:lnTo>
                <a:lnTo>
                  <a:pt x="8" y="3"/>
                </a:lnTo>
                <a:lnTo>
                  <a:pt x="10" y="3"/>
                </a:lnTo>
                <a:lnTo>
                  <a:pt x="10" y="5"/>
                </a:lnTo>
                <a:lnTo>
                  <a:pt x="11" y="5"/>
                </a:lnTo>
                <a:lnTo>
                  <a:pt x="13" y="7"/>
                </a:lnTo>
                <a:lnTo>
                  <a:pt x="13" y="8"/>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48" name="Freeform 1853">
            <a:extLst>
              <a:ext uri="{FF2B5EF4-FFF2-40B4-BE49-F238E27FC236}">
                <a16:creationId xmlns:a16="http://schemas.microsoft.com/office/drawing/2014/main" id="{9D3E2D60-5098-6510-98E1-B46E0A1EBDF3}"/>
              </a:ext>
            </a:extLst>
          </p:cNvPr>
          <p:cNvSpPr>
            <a:spLocks noEditPoints="1"/>
          </p:cNvSpPr>
          <p:nvPr/>
        </p:nvSpPr>
        <p:spPr bwMode="auto">
          <a:xfrm>
            <a:off x="2547938" y="2747963"/>
            <a:ext cx="20638" cy="20638"/>
          </a:xfrm>
          <a:custGeom>
            <a:avLst/>
            <a:gdLst>
              <a:gd name="T0" fmla="*/ 13 w 13"/>
              <a:gd name="T1" fmla="*/ 6 h 13"/>
              <a:gd name="T2" fmla="*/ 13 w 13"/>
              <a:gd name="T3" fmla="*/ 6 h 13"/>
              <a:gd name="T4" fmla="*/ 13 w 13"/>
              <a:gd name="T5" fmla="*/ 5 h 13"/>
              <a:gd name="T6" fmla="*/ 11 w 13"/>
              <a:gd name="T7" fmla="*/ 3 h 13"/>
              <a:gd name="T8" fmla="*/ 9 w 13"/>
              <a:gd name="T9" fmla="*/ 1 h 13"/>
              <a:gd name="T10" fmla="*/ 8 w 13"/>
              <a:gd name="T11" fmla="*/ 1 h 13"/>
              <a:gd name="T12" fmla="*/ 6 w 13"/>
              <a:gd name="T13" fmla="*/ 0 h 13"/>
              <a:gd name="T14" fmla="*/ 5 w 13"/>
              <a:gd name="T15" fmla="*/ 1 h 13"/>
              <a:gd name="T16" fmla="*/ 3 w 13"/>
              <a:gd name="T17" fmla="*/ 1 h 13"/>
              <a:gd name="T18" fmla="*/ 1 w 13"/>
              <a:gd name="T19" fmla="*/ 3 h 13"/>
              <a:gd name="T20" fmla="*/ 0 w 13"/>
              <a:gd name="T21" fmla="*/ 5 h 13"/>
              <a:gd name="T22" fmla="*/ 0 w 13"/>
              <a:gd name="T23" fmla="*/ 6 h 13"/>
              <a:gd name="T24" fmla="*/ 0 w 13"/>
              <a:gd name="T25" fmla="*/ 8 h 13"/>
              <a:gd name="T26" fmla="*/ 0 w 13"/>
              <a:gd name="T27" fmla="*/ 10 h 13"/>
              <a:gd name="T28" fmla="*/ 1 w 13"/>
              <a:gd name="T29" fmla="*/ 11 h 13"/>
              <a:gd name="T30" fmla="*/ 3 w 13"/>
              <a:gd name="T31" fmla="*/ 13 h 13"/>
              <a:gd name="T32" fmla="*/ 5 w 13"/>
              <a:gd name="T33" fmla="*/ 13 h 13"/>
              <a:gd name="T34" fmla="*/ 6 w 13"/>
              <a:gd name="T35" fmla="*/ 13 h 13"/>
              <a:gd name="T36" fmla="*/ 8 w 13"/>
              <a:gd name="T37" fmla="*/ 13 h 13"/>
              <a:gd name="T38" fmla="*/ 9 w 13"/>
              <a:gd name="T39" fmla="*/ 13 h 13"/>
              <a:gd name="T40" fmla="*/ 11 w 13"/>
              <a:gd name="T41" fmla="*/ 11 h 13"/>
              <a:gd name="T42" fmla="*/ 13 w 13"/>
              <a:gd name="T43" fmla="*/ 10 h 13"/>
              <a:gd name="T44" fmla="*/ 13 w 13"/>
              <a:gd name="T45" fmla="*/ 8 h 13"/>
              <a:gd name="T46" fmla="*/ 13 w 13"/>
              <a:gd name="T47" fmla="*/ 6 h 13"/>
              <a:gd name="T48" fmla="*/ 9 w 13"/>
              <a:gd name="T49" fmla="*/ 6 h 13"/>
              <a:gd name="T50" fmla="*/ 9 w 13"/>
              <a:gd name="T51" fmla="*/ 8 h 13"/>
              <a:gd name="T52" fmla="*/ 9 w 13"/>
              <a:gd name="T53" fmla="*/ 10 h 13"/>
              <a:gd name="T54" fmla="*/ 8 w 13"/>
              <a:gd name="T55" fmla="*/ 10 h 13"/>
              <a:gd name="T56" fmla="*/ 6 w 13"/>
              <a:gd name="T57" fmla="*/ 10 h 13"/>
              <a:gd name="T58" fmla="*/ 5 w 13"/>
              <a:gd name="T59" fmla="*/ 10 h 13"/>
              <a:gd name="T60" fmla="*/ 3 w 13"/>
              <a:gd name="T61" fmla="*/ 10 h 13"/>
              <a:gd name="T62" fmla="*/ 3 w 13"/>
              <a:gd name="T63" fmla="*/ 8 h 13"/>
              <a:gd name="T64" fmla="*/ 3 w 13"/>
              <a:gd name="T65" fmla="*/ 6 h 13"/>
              <a:gd name="T66" fmla="*/ 3 w 13"/>
              <a:gd name="T67" fmla="*/ 5 h 13"/>
              <a:gd name="T68" fmla="*/ 5 w 13"/>
              <a:gd name="T69" fmla="*/ 5 h 13"/>
              <a:gd name="T70" fmla="*/ 6 w 13"/>
              <a:gd name="T71" fmla="*/ 3 h 13"/>
              <a:gd name="T72" fmla="*/ 8 w 13"/>
              <a:gd name="T73" fmla="*/ 5 h 13"/>
              <a:gd name="T74" fmla="*/ 9 w 13"/>
              <a:gd name="T75" fmla="*/ 5 h 13"/>
              <a:gd name="T76" fmla="*/ 9 w 13"/>
              <a:gd name="T77" fmla="*/ 6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3" h="13">
                <a:moveTo>
                  <a:pt x="13" y="6"/>
                </a:moveTo>
                <a:lnTo>
                  <a:pt x="13" y="6"/>
                </a:lnTo>
                <a:lnTo>
                  <a:pt x="13" y="5"/>
                </a:lnTo>
                <a:lnTo>
                  <a:pt x="11" y="3"/>
                </a:lnTo>
                <a:lnTo>
                  <a:pt x="9" y="1"/>
                </a:lnTo>
                <a:lnTo>
                  <a:pt x="8" y="1"/>
                </a:lnTo>
                <a:lnTo>
                  <a:pt x="6" y="0"/>
                </a:lnTo>
                <a:lnTo>
                  <a:pt x="5" y="1"/>
                </a:lnTo>
                <a:lnTo>
                  <a:pt x="3" y="1"/>
                </a:lnTo>
                <a:lnTo>
                  <a:pt x="1" y="3"/>
                </a:lnTo>
                <a:lnTo>
                  <a:pt x="0" y="5"/>
                </a:lnTo>
                <a:lnTo>
                  <a:pt x="0" y="6"/>
                </a:lnTo>
                <a:lnTo>
                  <a:pt x="0" y="8"/>
                </a:lnTo>
                <a:lnTo>
                  <a:pt x="0" y="10"/>
                </a:lnTo>
                <a:lnTo>
                  <a:pt x="1" y="11"/>
                </a:lnTo>
                <a:lnTo>
                  <a:pt x="3" y="13"/>
                </a:lnTo>
                <a:lnTo>
                  <a:pt x="5" y="13"/>
                </a:lnTo>
                <a:lnTo>
                  <a:pt x="6" y="13"/>
                </a:lnTo>
                <a:lnTo>
                  <a:pt x="8" y="13"/>
                </a:lnTo>
                <a:lnTo>
                  <a:pt x="9" y="13"/>
                </a:lnTo>
                <a:lnTo>
                  <a:pt x="11" y="11"/>
                </a:lnTo>
                <a:lnTo>
                  <a:pt x="13" y="10"/>
                </a:lnTo>
                <a:lnTo>
                  <a:pt x="13" y="8"/>
                </a:lnTo>
                <a:lnTo>
                  <a:pt x="13" y="6"/>
                </a:lnTo>
                <a:close/>
                <a:moveTo>
                  <a:pt x="9" y="6"/>
                </a:moveTo>
                <a:lnTo>
                  <a:pt x="9" y="8"/>
                </a:lnTo>
                <a:lnTo>
                  <a:pt x="9" y="10"/>
                </a:lnTo>
                <a:lnTo>
                  <a:pt x="8" y="10"/>
                </a:lnTo>
                <a:lnTo>
                  <a:pt x="6" y="10"/>
                </a:lnTo>
                <a:lnTo>
                  <a:pt x="5" y="10"/>
                </a:lnTo>
                <a:lnTo>
                  <a:pt x="3" y="10"/>
                </a:lnTo>
                <a:lnTo>
                  <a:pt x="3" y="8"/>
                </a:lnTo>
                <a:lnTo>
                  <a:pt x="3" y="6"/>
                </a:lnTo>
                <a:lnTo>
                  <a:pt x="3" y="5"/>
                </a:lnTo>
                <a:lnTo>
                  <a:pt x="5" y="5"/>
                </a:lnTo>
                <a:lnTo>
                  <a:pt x="6" y="3"/>
                </a:lnTo>
                <a:lnTo>
                  <a:pt x="8" y="5"/>
                </a:lnTo>
                <a:lnTo>
                  <a:pt x="9" y="5"/>
                </a:lnTo>
                <a:lnTo>
                  <a:pt x="9" y="6"/>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49" name="Freeform 1854">
            <a:extLst>
              <a:ext uri="{FF2B5EF4-FFF2-40B4-BE49-F238E27FC236}">
                <a16:creationId xmlns:a16="http://schemas.microsoft.com/office/drawing/2014/main" id="{AEFD05BD-4953-9706-42F0-0C49B27BFD8B}"/>
              </a:ext>
            </a:extLst>
          </p:cNvPr>
          <p:cNvSpPr>
            <a:spLocks/>
          </p:cNvSpPr>
          <p:nvPr/>
        </p:nvSpPr>
        <p:spPr bwMode="auto">
          <a:xfrm>
            <a:off x="2549525" y="2749550"/>
            <a:ext cx="15875" cy="15875"/>
          </a:xfrm>
          <a:custGeom>
            <a:avLst/>
            <a:gdLst>
              <a:gd name="T0" fmla="*/ 10 w 10"/>
              <a:gd name="T1" fmla="*/ 5 h 10"/>
              <a:gd name="T2" fmla="*/ 10 w 10"/>
              <a:gd name="T3" fmla="*/ 5 h 10"/>
              <a:gd name="T4" fmla="*/ 10 w 10"/>
              <a:gd name="T5" fmla="*/ 4 h 10"/>
              <a:gd name="T6" fmla="*/ 8 w 10"/>
              <a:gd name="T7" fmla="*/ 2 h 10"/>
              <a:gd name="T8" fmla="*/ 7 w 10"/>
              <a:gd name="T9" fmla="*/ 2 h 10"/>
              <a:gd name="T10" fmla="*/ 7 w 10"/>
              <a:gd name="T11" fmla="*/ 0 h 10"/>
              <a:gd name="T12" fmla="*/ 5 w 10"/>
              <a:gd name="T13" fmla="*/ 0 h 10"/>
              <a:gd name="T14" fmla="*/ 4 w 10"/>
              <a:gd name="T15" fmla="*/ 0 h 10"/>
              <a:gd name="T16" fmla="*/ 4 w 10"/>
              <a:gd name="T17" fmla="*/ 2 h 10"/>
              <a:gd name="T18" fmla="*/ 2 w 10"/>
              <a:gd name="T19" fmla="*/ 2 h 10"/>
              <a:gd name="T20" fmla="*/ 2 w 10"/>
              <a:gd name="T21" fmla="*/ 4 h 10"/>
              <a:gd name="T22" fmla="*/ 0 w 10"/>
              <a:gd name="T23" fmla="*/ 4 h 10"/>
              <a:gd name="T24" fmla="*/ 0 w 10"/>
              <a:gd name="T25" fmla="*/ 5 h 10"/>
              <a:gd name="T26" fmla="*/ 0 w 10"/>
              <a:gd name="T27" fmla="*/ 7 h 10"/>
              <a:gd name="T28" fmla="*/ 0 w 10"/>
              <a:gd name="T29" fmla="*/ 9 h 10"/>
              <a:gd name="T30" fmla="*/ 2 w 10"/>
              <a:gd name="T31" fmla="*/ 9 h 10"/>
              <a:gd name="T32" fmla="*/ 2 w 10"/>
              <a:gd name="T33" fmla="*/ 10 h 10"/>
              <a:gd name="T34" fmla="*/ 4 w 10"/>
              <a:gd name="T35" fmla="*/ 10 h 10"/>
              <a:gd name="T36" fmla="*/ 5 w 10"/>
              <a:gd name="T37" fmla="*/ 10 h 10"/>
              <a:gd name="T38" fmla="*/ 7 w 10"/>
              <a:gd name="T39" fmla="*/ 10 h 10"/>
              <a:gd name="T40" fmla="*/ 8 w 10"/>
              <a:gd name="T41" fmla="*/ 10 h 10"/>
              <a:gd name="T42" fmla="*/ 10 w 10"/>
              <a:gd name="T43" fmla="*/ 9 h 10"/>
              <a:gd name="T44" fmla="*/ 10 w 10"/>
              <a:gd name="T45" fmla="*/ 7 h 10"/>
              <a:gd name="T46" fmla="*/ 10 w 10"/>
              <a:gd name="T47" fmla="*/ 5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0" h="10">
                <a:moveTo>
                  <a:pt x="10" y="5"/>
                </a:moveTo>
                <a:lnTo>
                  <a:pt x="10" y="5"/>
                </a:lnTo>
                <a:lnTo>
                  <a:pt x="10" y="4"/>
                </a:lnTo>
                <a:lnTo>
                  <a:pt x="8" y="2"/>
                </a:lnTo>
                <a:lnTo>
                  <a:pt x="7" y="2"/>
                </a:lnTo>
                <a:lnTo>
                  <a:pt x="7" y="0"/>
                </a:lnTo>
                <a:lnTo>
                  <a:pt x="5" y="0"/>
                </a:lnTo>
                <a:lnTo>
                  <a:pt x="4" y="0"/>
                </a:lnTo>
                <a:lnTo>
                  <a:pt x="4" y="2"/>
                </a:lnTo>
                <a:lnTo>
                  <a:pt x="2" y="2"/>
                </a:lnTo>
                <a:lnTo>
                  <a:pt x="2" y="4"/>
                </a:lnTo>
                <a:lnTo>
                  <a:pt x="0" y="4"/>
                </a:lnTo>
                <a:lnTo>
                  <a:pt x="0" y="5"/>
                </a:lnTo>
                <a:lnTo>
                  <a:pt x="0" y="7"/>
                </a:lnTo>
                <a:lnTo>
                  <a:pt x="0" y="9"/>
                </a:lnTo>
                <a:lnTo>
                  <a:pt x="2" y="9"/>
                </a:lnTo>
                <a:lnTo>
                  <a:pt x="2" y="10"/>
                </a:lnTo>
                <a:lnTo>
                  <a:pt x="4" y="10"/>
                </a:lnTo>
                <a:lnTo>
                  <a:pt x="5" y="10"/>
                </a:lnTo>
                <a:lnTo>
                  <a:pt x="7" y="10"/>
                </a:lnTo>
                <a:lnTo>
                  <a:pt x="8" y="10"/>
                </a:lnTo>
                <a:lnTo>
                  <a:pt x="10" y="9"/>
                </a:lnTo>
                <a:lnTo>
                  <a:pt x="10" y="7"/>
                </a:lnTo>
                <a:lnTo>
                  <a:pt x="10" y="5"/>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50" name="Freeform 1855">
            <a:extLst>
              <a:ext uri="{FF2B5EF4-FFF2-40B4-BE49-F238E27FC236}">
                <a16:creationId xmlns:a16="http://schemas.microsoft.com/office/drawing/2014/main" id="{070BCE2C-2E95-A065-79F9-806C4F4BC7CC}"/>
              </a:ext>
            </a:extLst>
          </p:cNvPr>
          <p:cNvSpPr>
            <a:spLocks/>
          </p:cNvSpPr>
          <p:nvPr/>
        </p:nvSpPr>
        <p:spPr bwMode="auto">
          <a:xfrm>
            <a:off x="2552700" y="2752725"/>
            <a:ext cx="9525" cy="11113"/>
          </a:xfrm>
          <a:custGeom>
            <a:avLst/>
            <a:gdLst>
              <a:gd name="T0" fmla="*/ 6 w 6"/>
              <a:gd name="T1" fmla="*/ 3 h 7"/>
              <a:gd name="T2" fmla="*/ 6 w 6"/>
              <a:gd name="T3" fmla="*/ 3 h 7"/>
              <a:gd name="T4" fmla="*/ 6 w 6"/>
              <a:gd name="T5" fmla="*/ 2 h 7"/>
              <a:gd name="T6" fmla="*/ 5 w 6"/>
              <a:gd name="T7" fmla="*/ 2 h 7"/>
              <a:gd name="T8" fmla="*/ 3 w 6"/>
              <a:gd name="T9" fmla="*/ 0 h 7"/>
              <a:gd name="T10" fmla="*/ 2 w 6"/>
              <a:gd name="T11" fmla="*/ 2 h 7"/>
              <a:gd name="T12" fmla="*/ 0 w 6"/>
              <a:gd name="T13" fmla="*/ 2 h 7"/>
              <a:gd name="T14" fmla="*/ 0 w 6"/>
              <a:gd name="T15" fmla="*/ 3 h 7"/>
              <a:gd name="T16" fmla="*/ 0 w 6"/>
              <a:gd name="T17" fmla="*/ 5 h 7"/>
              <a:gd name="T18" fmla="*/ 0 w 6"/>
              <a:gd name="T19" fmla="*/ 7 h 7"/>
              <a:gd name="T20" fmla="*/ 2 w 6"/>
              <a:gd name="T21" fmla="*/ 7 h 7"/>
              <a:gd name="T22" fmla="*/ 3 w 6"/>
              <a:gd name="T23" fmla="*/ 7 h 7"/>
              <a:gd name="T24" fmla="*/ 5 w 6"/>
              <a:gd name="T25" fmla="*/ 7 h 7"/>
              <a:gd name="T26" fmla="*/ 6 w 6"/>
              <a:gd name="T27" fmla="*/ 7 h 7"/>
              <a:gd name="T28" fmla="*/ 6 w 6"/>
              <a:gd name="T29" fmla="*/ 5 h 7"/>
              <a:gd name="T30" fmla="*/ 6 w 6"/>
              <a:gd name="T31" fmla="*/ 3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 h="7">
                <a:moveTo>
                  <a:pt x="6" y="3"/>
                </a:moveTo>
                <a:lnTo>
                  <a:pt x="6" y="3"/>
                </a:lnTo>
                <a:lnTo>
                  <a:pt x="6" y="2"/>
                </a:lnTo>
                <a:lnTo>
                  <a:pt x="5" y="2"/>
                </a:lnTo>
                <a:lnTo>
                  <a:pt x="3" y="0"/>
                </a:lnTo>
                <a:lnTo>
                  <a:pt x="2" y="2"/>
                </a:lnTo>
                <a:lnTo>
                  <a:pt x="0" y="2"/>
                </a:lnTo>
                <a:lnTo>
                  <a:pt x="0" y="3"/>
                </a:lnTo>
                <a:lnTo>
                  <a:pt x="0" y="5"/>
                </a:lnTo>
                <a:lnTo>
                  <a:pt x="0" y="7"/>
                </a:lnTo>
                <a:lnTo>
                  <a:pt x="2" y="7"/>
                </a:lnTo>
                <a:lnTo>
                  <a:pt x="3" y="7"/>
                </a:lnTo>
                <a:lnTo>
                  <a:pt x="5" y="7"/>
                </a:lnTo>
                <a:lnTo>
                  <a:pt x="6" y="7"/>
                </a:lnTo>
                <a:lnTo>
                  <a:pt x="6" y="5"/>
                </a:lnTo>
                <a:lnTo>
                  <a:pt x="6" y="3"/>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51" name="Freeform 1856">
            <a:extLst>
              <a:ext uri="{FF2B5EF4-FFF2-40B4-BE49-F238E27FC236}">
                <a16:creationId xmlns:a16="http://schemas.microsoft.com/office/drawing/2014/main" id="{D1BE066A-F813-9DFB-3617-407B0DCFD835}"/>
              </a:ext>
            </a:extLst>
          </p:cNvPr>
          <p:cNvSpPr>
            <a:spLocks/>
          </p:cNvSpPr>
          <p:nvPr/>
        </p:nvSpPr>
        <p:spPr bwMode="auto">
          <a:xfrm>
            <a:off x="2555875" y="2755900"/>
            <a:ext cx="4763" cy="4763"/>
          </a:xfrm>
          <a:custGeom>
            <a:avLst/>
            <a:gdLst>
              <a:gd name="T0" fmla="*/ 3 w 3"/>
              <a:gd name="T1" fmla="*/ 1 h 3"/>
              <a:gd name="T2" fmla="*/ 3 w 3"/>
              <a:gd name="T3" fmla="*/ 1 h 3"/>
              <a:gd name="T4" fmla="*/ 1 w 3"/>
              <a:gd name="T5" fmla="*/ 0 h 3"/>
              <a:gd name="T6" fmla="*/ 1 w 3"/>
              <a:gd name="T7" fmla="*/ 1 h 3"/>
              <a:gd name="T8" fmla="*/ 0 w 3"/>
              <a:gd name="T9" fmla="*/ 1 h 3"/>
              <a:gd name="T10" fmla="*/ 0 w 3"/>
              <a:gd name="T11" fmla="*/ 3 h 3"/>
              <a:gd name="T12" fmla="*/ 1 w 3"/>
              <a:gd name="T13" fmla="*/ 3 h 3"/>
              <a:gd name="T14" fmla="*/ 3 w 3"/>
              <a:gd name="T15" fmla="*/ 3 h 3"/>
              <a:gd name="T16" fmla="*/ 3 w 3"/>
              <a:gd name="T17" fmla="*/ 1 h 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 h="3">
                <a:moveTo>
                  <a:pt x="3" y="1"/>
                </a:moveTo>
                <a:lnTo>
                  <a:pt x="3" y="1"/>
                </a:lnTo>
                <a:lnTo>
                  <a:pt x="1" y="0"/>
                </a:lnTo>
                <a:lnTo>
                  <a:pt x="1" y="1"/>
                </a:lnTo>
                <a:lnTo>
                  <a:pt x="0" y="1"/>
                </a:lnTo>
                <a:lnTo>
                  <a:pt x="0" y="3"/>
                </a:lnTo>
                <a:lnTo>
                  <a:pt x="1" y="3"/>
                </a:lnTo>
                <a:lnTo>
                  <a:pt x="3" y="3"/>
                </a:lnTo>
                <a:lnTo>
                  <a:pt x="3"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52" name="Rectangle 1857">
            <a:extLst>
              <a:ext uri="{FF2B5EF4-FFF2-40B4-BE49-F238E27FC236}">
                <a16:creationId xmlns:a16="http://schemas.microsoft.com/office/drawing/2014/main" id="{EEDCACFB-01F4-507B-13FC-76F2F0764CA8}"/>
              </a:ext>
            </a:extLst>
          </p:cNvPr>
          <p:cNvSpPr>
            <a:spLocks noChangeArrowheads="1"/>
          </p:cNvSpPr>
          <p:nvPr/>
        </p:nvSpPr>
        <p:spPr bwMode="auto">
          <a:xfrm>
            <a:off x="1951038" y="2719388"/>
            <a:ext cx="1216025" cy="80963"/>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1653" name="Freeform 1858">
            <a:extLst>
              <a:ext uri="{FF2B5EF4-FFF2-40B4-BE49-F238E27FC236}">
                <a16:creationId xmlns:a16="http://schemas.microsoft.com/office/drawing/2014/main" id="{B8E16C50-7CE0-25D8-8208-240E07B59DE4}"/>
              </a:ext>
            </a:extLst>
          </p:cNvPr>
          <p:cNvSpPr>
            <a:spLocks noEditPoints="1"/>
          </p:cNvSpPr>
          <p:nvPr/>
        </p:nvSpPr>
        <p:spPr bwMode="auto">
          <a:xfrm>
            <a:off x="3167063" y="2403475"/>
            <a:ext cx="704850" cy="396875"/>
          </a:xfrm>
          <a:custGeom>
            <a:avLst/>
            <a:gdLst>
              <a:gd name="T0" fmla="*/ 441 w 444"/>
              <a:gd name="T1" fmla="*/ 0 h 250"/>
              <a:gd name="T2" fmla="*/ 444 w 444"/>
              <a:gd name="T3" fmla="*/ 0 h 250"/>
              <a:gd name="T4" fmla="*/ 444 w 444"/>
              <a:gd name="T5" fmla="*/ 6 h 250"/>
              <a:gd name="T6" fmla="*/ 444 w 444"/>
              <a:gd name="T7" fmla="*/ 5 h 250"/>
              <a:gd name="T8" fmla="*/ 443 w 444"/>
              <a:gd name="T9" fmla="*/ 5 h 250"/>
              <a:gd name="T10" fmla="*/ 443 w 444"/>
              <a:gd name="T11" fmla="*/ 3 h 250"/>
              <a:gd name="T12" fmla="*/ 441 w 444"/>
              <a:gd name="T13" fmla="*/ 1 h 250"/>
              <a:gd name="T14" fmla="*/ 441 w 444"/>
              <a:gd name="T15" fmla="*/ 0 h 250"/>
              <a:gd name="T16" fmla="*/ 4 w 444"/>
              <a:gd name="T17" fmla="*/ 248 h 250"/>
              <a:gd name="T18" fmla="*/ 0 w 444"/>
              <a:gd name="T19" fmla="*/ 250 h 250"/>
              <a:gd name="T20" fmla="*/ 0 w 444"/>
              <a:gd name="T21" fmla="*/ 243 h 250"/>
              <a:gd name="T22" fmla="*/ 0 w 444"/>
              <a:gd name="T23" fmla="*/ 245 h 250"/>
              <a:gd name="T24" fmla="*/ 2 w 444"/>
              <a:gd name="T25" fmla="*/ 245 h 250"/>
              <a:gd name="T26" fmla="*/ 2 w 444"/>
              <a:gd name="T27" fmla="*/ 247 h 250"/>
              <a:gd name="T28" fmla="*/ 2 w 444"/>
              <a:gd name="T29" fmla="*/ 248 h 250"/>
              <a:gd name="T30" fmla="*/ 4 w 444"/>
              <a:gd name="T31" fmla="*/ 248 h 2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44" h="250">
                <a:moveTo>
                  <a:pt x="441" y="0"/>
                </a:moveTo>
                <a:lnTo>
                  <a:pt x="444" y="0"/>
                </a:lnTo>
                <a:lnTo>
                  <a:pt x="444" y="6"/>
                </a:lnTo>
                <a:lnTo>
                  <a:pt x="444" y="5"/>
                </a:lnTo>
                <a:lnTo>
                  <a:pt x="443" y="5"/>
                </a:lnTo>
                <a:lnTo>
                  <a:pt x="443" y="3"/>
                </a:lnTo>
                <a:lnTo>
                  <a:pt x="441" y="1"/>
                </a:lnTo>
                <a:lnTo>
                  <a:pt x="441" y="0"/>
                </a:lnTo>
                <a:close/>
                <a:moveTo>
                  <a:pt x="4" y="248"/>
                </a:moveTo>
                <a:lnTo>
                  <a:pt x="0" y="250"/>
                </a:lnTo>
                <a:lnTo>
                  <a:pt x="0" y="243"/>
                </a:lnTo>
                <a:lnTo>
                  <a:pt x="0" y="245"/>
                </a:lnTo>
                <a:lnTo>
                  <a:pt x="2" y="245"/>
                </a:lnTo>
                <a:lnTo>
                  <a:pt x="2" y="247"/>
                </a:lnTo>
                <a:lnTo>
                  <a:pt x="2" y="248"/>
                </a:lnTo>
                <a:lnTo>
                  <a:pt x="4" y="248"/>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54" name="Freeform 1859">
            <a:extLst>
              <a:ext uri="{FF2B5EF4-FFF2-40B4-BE49-F238E27FC236}">
                <a16:creationId xmlns:a16="http://schemas.microsoft.com/office/drawing/2014/main" id="{0E08994C-178E-351D-F2FE-26640AC138E3}"/>
              </a:ext>
            </a:extLst>
          </p:cNvPr>
          <p:cNvSpPr>
            <a:spLocks noEditPoints="1"/>
          </p:cNvSpPr>
          <p:nvPr/>
        </p:nvSpPr>
        <p:spPr bwMode="auto">
          <a:xfrm>
            <a:off x="3167063" y="2403475"/>
            <a:ext cx="704850" cy="393700"/>
          </a:xfrm>
          <a:custGeom>
            <a:avLst/>
            <a:gdLst>
              <a:gd name="T0" fmla="*/ 444 w 444"/>
              <a:gd name="T1" fmla="*/ 3 h 248"/>
              <a:gd name="T2" fmla="*/ 444 w 444"/>
              <a:gd name="T3" fmla="*/ 1 h 248"/>
              <a:gd name="T4" fmla="*/ 443 w 444"/>
              <a:gd name="T5" fmla="*/ 1 h 248"/>
              <a:gd name="T6" fmla="*/ 443 w 444"/>
              <a:gd name="T7" fmla="*/ 0 h 248"/>
              <a:gd name="T8" fmla="*/ 439 w 444"/>
              <a:gd name="T9" fmla="*/ 1 h 248"/>
              <a:gd name="T10" fmla="*/ 441 w 444"/>
              <a:gd name="T11" fmla="*/ 3 h 248"/>
              <a:gd name="T12" fmla="*/ 441 w 444"/>
              <a:gd name="T13" fmla="*/ 5 h 248"/>
              <a:gd name="T14" fmla="*/ 443 w 444"/>
              <a:gd name="T15" fmla="*/ 6 h 248"/>
              <a:gd name="T16" fmla="*/ 443 w 444"/>
              <a:gd name="T17" fmla="*/ 8 h 248"/>
              <a:gd name="T18" fmla="*/ 444 w 444"/>
              <a:gd name="T19" fmla="*/ 10 h 248"/>
              <a:gd name="T20" fmla="*/ 444 w 444"/>
              <a:gd name="T21" fmla="*/ 3 h 248"/>
              <a:gd name="T22" fmla="*/ 0 w 444"/>
              <a:gd name="T23" fmla="*/ 247 h 248"/>
              <a:gd name="T24" fmla="*/ 0 w 444"/>
              <a:gd name="T25" fmla="*/ 247 h 248"/>
              <a:gd name="T26" fmla="*/ 0 w 444"/>
              <a:gd name="T27" fmla="*/ 248 h 248"/>
              <a:gd name="T28" fmla="*/ 2 w 444"/>
              <a:gd name="T29" fmla="*/ 248 h 248"/>
              <a:gd name="T30" fmla="*/ 4 w 444"/>
              <a:gd name="T31" fmla="*/ 248 h 248"/>
              <a:gd name="T32" fmla="*/ 4 w 444"/>
              <a:gd name="T33" fmla="*/ 247 h 248"/>
              <a:gd name="T34" fmla="*/ 4 w 444"/>
              <a:gd name="T35" fmla="*/ 245 h 248"/>
              <a:gd name="T36" fmla="*/ 2 w 444"/>
              <a:gd name="T37" fmla="*/ 245 h 248"/>
              <a:gd name="T38" fmla="*/ 2 w 444"/>
              <a:gd name="T39" fmla="*/ 243 h 248"/>
              <a:gd name="T40" fmla="*/ 2 w 444"/>
              <a:gd name="T41" fmla="*/ 242 h 248"/>
              <a:gd name="T42" fmla="*/ 0 w 444"/>
              <a:gd name="T43" fmla="*/ 242 h 248"/>
              <a:gd name="T44" fmla="*/ 0 w 444"/>
              <a:gd name="T45" fmla="*/ 240 h 248"/>
              <a:gd name="T46" fmla="*/ 0 w 444"/>
              <a:gd name="T47" fmla="*/ 247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44" h="248">
                <a:moveTo>
                  <a:pt x="444" y="3"/>
                </a:moveTo>
                <a:lnTo>
                  <a:pt x="444" y="1"/>
                </a:lnTo>
                <a:lnTo>
                  <a:pt x="443" y="1"/>
                </a:lnTo>
                <a:lnTo>
                  <a:pt x="443" y="0"/>
                </a:lnTo>
                <a:lnTo>
                  <a:pt x="439" y="1"/>
                </a:lnTo>
                <a:lnTo>
                  <a:pt x="441" y="3"/>
                </a:lnTo>
                <a:lnTo>
                  <a:pt x="441" y="5"/>
                </a:lnTo>
                <a:lnTo>
                  <a:pt x="443" y="6"/>
                </a:lnTo>
                <a:lnTo>
                  <a:pt x="443" y="8"/>
                </a:lnTo>
                <a:lnTo>
                  <a:pt x="444" y="10"/>
                </a:lnTo>
                <a:lnTo>
                  <a:pt x="444" y="3"/>
                </a:lnTo>
                <a:close/>
                <a:moveTo>
                  <a:pt x="0" y="247"/>
                </a:moveTo>
                <a:lnTo>
                  <a:pt x="0" y="247"/>
                </a:lnTo>
                <a:lnTo>
                  <a:pt x="0" y="248"/>
                </a:lnTo>
                <a:lnTo>
                  <a:pt x="2" y="248"/>
                </a:lnTo>
                <a:lnTo>
                  <a:pt x="4" y="248"/>
                </a:lnTo>
                <a:lnTo>
                  <a:pt x="4" y="247"/>
                </a:lnTo>
                <a:lnTo>
                  <a:pt x="4" y="245"/>
                </a:lnTo>
                <a:lnTo>
                  <a:pt x="2" y="245"/>
                </a:lnTo>
                <a:lnTo>
                  <a:pt x="2" y="243"/>
                </a:lnTo>
                <a:lnTo>
                  <a:pt x="2" y="242"/>
                </a:lnTo>
                <a:lnTo>
                  <a:pt x="0" y="242"/>
                </a:lnTo>
                <a:lnTo>
                  <a:pt x="0" y="240"/>
                </a:lnTo>
                <a:lnTo>
                  <a:pt x="0" y="247"/>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55" name="Freeform 1860">
            <a:extLst>
              <a:ext uri="{FF2B5EF4-FFF2-40B4-BE49-F238E27FC236}">
                <a16:creationId xmlns:a16="http://schemas.microsoft.com/office/drawing/2014/main" id="{FCD1940C-1C58-ED4A-0C84-8DA562199538}"/>
              </a:ext>
            </a:extLst>
          </p:cNvPr>
          <p:cNvSpPr>
            <a:spLocks noEditPoints="1"/>
          </p:cNvSpPr>
          <p:nvPr/>
        </p:nvSpPr>
        <p:spPr bwMode="auto">
          <a:xfrm>
            <a:off x="3167063" y="2403475"/>
            <a:ext cx="704850" cy="393700"/>
          </a:xfrm>
          <a:custGeom>
            <a:avLst/>
            <a:gdLst>
              <a:gd name="T0" fmla="*/ 444 w 444"/>
              <a:gd name="T1" fmla="*/ 6 h 248"/>
              <a:gd name="T2" fmla="*/ 444 w 444"/>
              <a:gd name="T3" fmla="*/ 5 h 248"/>
              <a:gd name="T4" fmla="*/ 443 w 444"/>
              <a:gd name="T5" fmla="*/ 5 h 248"/>
              <a:gd name="T6" fmla="*/ 443 w 444"/>
              <a:gd name="T7" fmla="*/ 3 h 248"/>
              <a:gd name="T8" fmla="*/ 441 w 444"/>
              <a:gd name="T9" fmla="*/ 1 h 248"/>
              <a:gd name="T10" fmla="*/ 441 w 444"/>
              <a:gd name="T11" fmla="*/ 0 h 248"/>
              <a:gd name="T12" fmla="*/ 438 w 444"/>
              <a:gd name="T13" fmla="*/ 1 h 248"/>
              <a:gd name="T14" fmla="*/ 439 w 444"/>
              <a:gd name="T15" fmla="*/ 3 h 248"/>
              <a:gd name="T16" fmla="*/ 439 w 444"/>
              <a:gd name="T17" fmla="*/ 5 h 248"/>
              <a:gd name="T18" fmla="*/ 441 w 444"/>
              <a:gd name="T19" fmla="*/ 6 h 248"/>
              <a:gd name="T20" fmla="*/ 441 w 444"/>
              <a:gd name="T21" fmla="*/ 8 h 248"/>
              <a:gd name="T22" fmla="*/ 443 w 444"/>
              <a:gd name="T23" fmla="*/ 10 h 248"/>
              <a:gd name="T24" fmla="*/ 443 w 444"/>
              <a:gd name="T25" fmla="*/ 11 h 248"/>
              <a:gd name="T26" fmla="*/ 444 w 444"/>
              <a:gd name="T27" fmla="*/ 13 h 248"/>
              <a:gd name="T28" fmla="*/ 444 w 444"/>
              <a:gd name="T29" fmla="*/ 6 h 248"/>
              <a:gd name="T30" fmla="*/ 0 w 444"/>
              <a:gd name="T31" fmla="*/ 243 h 248"/>
              <a:gd name="T32" fmla="*/ 0 w 444"/>
              <a:gd name="T33" fmla="*/ 243 h 248"/>
              <a:gd name="T34" fmla="*/ 0 w 444"/>
              <a:gd name="T35" fmla="*/ 245 h 248"/>
              <a:gd name="T36" fmla="*/ 2 w 444"/>
              <a:gd name="T37" fmla="*/ 245 h 248"/>
              <a:gd name="T38" fmla="*/ 2 w 444"/>
              <a:gd name="T39" fmla="*/ 247 h 248"/>
              <a:gd name="T40" fmla="*/ 2 w 444"/>
              <a:gd name="T41" fmla="*/ 248 h 248"/>
              <a:gd name="T42" fmla="*/ 4 w 444"/>
              <a:gd name="T43" fmla="*/ 248 h 248"/>
              <a:gd name="T44" fmla="*/ 5 w 444"/>
              <a:gd name="T45" fmla="*/ 247 h 248"/>
              <a:gd name="T46" fmla="*/ 5 w 444"/>
              <a:gd name="T47" fmla="*/ 245 h 248"/>
              <a:gd name="T48" fmla="*/ 4 w 444"/>
              <a:gd name="T49" fmla="*/ 243 h 248"/>
              <a:gd name="T50" fmla="*/ 2 w 444"/>
              <a:gd name="T51" fmla="*/ 242 h 248"/>
              <a:gd name="T52" fmla="*/ 2 w 444"/>
              <a:gd name="T53" fmla="*/ 240 h 248"/>
              <a:gd name="T54" fmla="*/ 2 w 444"/>
              <a:gd name="T55" fmla="*/ 238 h 248"/>
              <a:gd name="T56" fmla="*/ 0 w 444"/>
              <a:gd name="T57" fmla="*/ 237 h 248"/>
              <a:gd name="T58" fmla="*/ 0 w 444"/>
              <a:gd name="T59" fmla="*/ 235 h 248"/>
              <a:gd name="T60" fmla="*/ 0 w 444"/>
              <a:gd name="T61" fmla="*/ 243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44" h="248">
                <a:moveTo>
                  <a:pt x="444" y="6"/>
                </a:moveTo>
                <a:lnTo>
                  <a:pt x="444" y="5"/>
                </a:lnTo>
                <a:lnTo>
                  <a:pt x="443" y="5"/>
                </a:lnTo>
                <a:lnTo>
                  <a:pt x="443" y="3"/>
                </a:lnTo>
                <a:lnTo>
                  <a:pt x="441" y="1"/>
                </a:lnTo>
                <a:lnTo>
                  <a:pt x="441" y="0"/>
                </a:lnTo>
                <a:lnTo>
                  <a:pt x="438" y="1"/>
                </a:lnTo>
                <a:lnTo>
                  <a:pt x="439" y="3"/>
                </a:lnTo>
                <a:lnTo>
                  <a:pt x="439" y="5"/>
                </a:lnTo>
                <a:lnTo>
                  <a:pt x="441" y="6"/>
                </a:lnTo>
                <a:lnTo>
                  <a:pt x="441" y="8"/>
                </a:lnTo>
                <a:lnTo>
                  <a:pt x="443" y="10"/>
                </a:lnTo>
                <a:lnTo>
                  <a:pt x="443" y="11"/>
                </a:lnTo>
                <a:lnTo>
                  <a:pt x="444" y="13"/>
                </a:lnTo>
                <a:lnTo>
                  <a:pt x="444" y="6"/>
                </a:lnTo>
                <a:close/>
                <a:moveTo>
                  <a:pt x="0" y="243"/>
                </a:moveTo>
                <a:lnTo>
                  <a:pt x="0" y="243"/>
                </a:lnTo>
                <a:lnTo>
                  <a:pt x="0" y="245"/>
                </a:lnTo>
                <a:lnTo>
                  <a:pt x="2" y="245"/>
                </a:lnTo>
                <a:lnTo>
                  <a:pt x="2" y="247"/>
                </a:lnTo>
                <a:lnTo>
                  <a:pt x="2" y="248"/>
                </a:lnTo>
                <a:lnTo>
                  <a:pt x="4" y="248"/>
                </a:lnTo>
                <a:lnTo>
                  <a:pt x="5" y="247"/>
                </a:lnTo>
                <a:lnTo>
                  <a:pt x="5" y="245"/>
                </a:lnTo>
                <a:lnTo>
                  <a:pt x="4" y="243"/>
                </a:lnTo>
                <a:lnTo>
                  <a:pt x="2" y="242"/>
                </a:lnTo>
                <a:lnTo>
                  <a:pt x="2" y="240"/>
                </a:lnTo>
                <a:lnTo>
                  <a:pt x="2" y="238"/>
                </a:lnTo>
                <a:lnTo>
                  <a:pt x="0" y="237"/>
                </a:lnTo>
                <a:lnTo>
                  <a:pt x="0" y="235"/>
                </a:lnTo>
                <a:lnTo>
                  <a:pt x="0" y="243"/>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56" name="Freeform 1861">
            <a:extLst>
              <a:ext uri="{FF2B5EF4-FFF2-40B4-BE49-F238E27FC236}">
                <a16:creationId xmlns:a16="http://schemas.microsoft.com/office/drawing/2014/main" id="{864E49D1-46D5-D424-E73D-887DCB9A84A1}"/>
              </a:ext>
            </a:extLst>
          </p:cNvPr>
          <p:cNvSpPr>
            <a:spLocks noEditPoints="1"/>
          </p:cNvSpPr>
          <p:nvPr/>
        </p:nvSpPr>
        <p:spPr bwMode="auto">
          <a:xfrm>
            <a:off x="3167063" y="2405063"/>
            <a:ext cx="704850" cy="392113"/>
          </a:xfrm>
          <a:custGeom>
            <a:avLst/>
            <a:gdLst>
              <a:gd name="T0" fmla="*/ 444 w 444"/>
              <a:gd name="T1" fmla="*/ 9 h 247"/>
              <a:gd name="T2" fmla="*/ 443 w 444"/>
              <a:gd name="T3" fmla="*/ 7 h 247"/>
              <a:gd name="T4" fmla="*/ 443 w 444"/>
              <a:gd name="T5" fmla="*/ 5 h 247"/>
              <a:gd name="T6" fmla="*/ 441 w 444"/>
              <a:gd name="T7" fmla="*/ 4 h 247"/>
              <a:gd name="T8" fmla="*/ 441 w 444"/>
              <a:gd name="T9" fmla="*/ 2 h 247"/>
              <a:gd name="T10" fmla="*/ 439 w 444"/>
              <a:gd name="T11" fmla="*/ 0 h 247"/>
              <a:gd name="T12" fmla="*/ 436 w 444"/>
              <a:gd name="T13" fmla="*/ 2 h 247"/>
              <a:gd name="T14" fmla="*/ 438 w 444"/>
              <a:gd name="T15" fmla="*/ 4 h 247"/>
              <a:gd name="T16" fmla="*/ 438 w 444"/>
              <a:gd name="T17" fmla="*/ 5 h 247"/>
              <a:gd name="T18" fmla="*/ 439 w 444"/>
              <a:gd name="T19" fmla="*/ 7 h 247"/>
              <a:gd name="T20" fmla="*/ 441 w 444"/>
              <a:gd name="T21" fmla="*/ 9 h 247"/>
              <a:gd name="T22" fmla="*/ 441 w 444"/>
              <a:gd name="T23" fmla="*/ 10 h 247"/>
              <a:gd name="T24" fmla="*/ 443 w 444"/>
              <a:gd name="T25" fmla="*/ 12 h 247"/>
              <a:gd name="T26" fmla="*/ 443 w 444"/>
              <a:gd name="T27" fmla="*/ 14 h 247"/>
              <a:gd name="T28" fmla="*/ 444 w 444"/>
              <a:gd name="T29" fmla="*/ 15 h 247"/>
              <a:gd name="T30" fmla="*/ 444 w 444"/>
              <a:gd name="T31" fmla="*/ 9 h 247"/>
              <a:gd name="T32" fmla="*/ 0 w 444"/>
              <a:gd name="T33" fmla="*/ 239 h 247"/>
              <a:gd name="T34" fmla="*/ 0 w 444"/>
              <a:gd name="T35" fmla="*/ 239 h 247"/>
              <a:gd name="T36" fmla="*/ 0 w 444"/>
              <a:gd name="T37" fmla="*/ 241 h 247"/>
              <a:gd name="T38" fmla="*/ 2 w 444"/>
              <a:gd name="T39" fmla="*/ 241 h 247"/>
              <a:gd name="T40" fmla="*/ 2 w 444"/>
              <a:gd name="T41" fmla="*/ 242 h 247"/>
              <a:gd name="T42" fmla="*/ 2 w 444"/>
              <a:gd name="T43" fmla="*/ 244 h 247"/>
              <a:gd name="T44" fmla="*/ 4 w 444"/>
              <a:gd name="T45" fmla="*/ 244 h 247"/>
              <a:gd name="T46" fmla="*/ 4 w 444"/>
              <a:gd name="T47" fmla="*/ 246 h 247"/>
              <a:gd name="T48" fmla="*/ 4 w 444"/>
              <a:gd name="T49" fmla="*/ 247 h 247"/>
              <a:gd name="T50" fmla="*/ 7 w 444"/>
              <a:gd name="T51" fmla="*/ 246 h 247"/>
              <a:gd name="T52" fmla="*/ 7 w 444"/>
              <a:gd name="T53" fmla="*/ 244 h 247"/>
              <a:gd name="T54" fmla="*/ 5 w 444"/>
              <a:gd name="T55" fmla="*/ 242 h 247"/>
              <a:gd name="T56" fmla="*/ 4 w 444"/>
              <a:gd name="T57" fmla="*/ 241 h 247"/>
              <a:gd name="T58" fmla="*/ 4 w 444"/>
              <a:gd name="T59" fmla="*/ 237 h 247"/>
              <a:gd name="T60" fmla="*/ 2 w 444"/>
              <a:gd name="T61" fmla="*/ 236 h 247"/>
              <a:gd name="T62" fmla="*/ 2 w 444"/>
              <a:gd name="T63" fmla="*/ 234 h 247"/>
              <a:gd name="T64" fmla="*/ 0 w 444"/>
              <a:gd name="T65" fmla="*/ 232 h 247"/>
              <a:gd name="T66" fmla="*/ 0 w 444"/>
              <a:gd name="T67" fmla="*/ 231 h 247"/>
              <a:gd name="T68" fmla="*/ 0 w 444"/>
              <a:gd name="T69" fmla="*/ 239 h 2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4" h="247">
                <a:moveTo>
                  <a:pt x="444" y="9"/>
                </a:moveTo>
                <a:lnTo>
                  <a:pt x="443" y="7"/>
                </a:lnTo>
                <a:lnTo>
                  <a:pt x="443" y="5"/>
                </a:lnTo>
                <a:lnTo>
                  <a:pt x="441" y="4"/>
                </a:lnTo>
                <a:lnTo>
                  <a:pt x="441" y="2"/>
                </a:lnTo>
                <a:lnTo>
                  <a:pt x="439" y="0"/>
                </a:lnTo>
                <a:lnTo>
                  <a:pt x="436" y="2"/>
                </a:lnTo>
                <a:lnTo>
                  <a:pt x="438" y="4"/>
                </a:lnTo>
                <a:lnTo>
                  <a:pt x="438" y="5"/>
                </a:lnTo>
                <a:lnTo>
                  <a:pt x="439" y="7"/>
                </a:lnTo>
                <a:lnTo>
                  <a:pt x="441" y="9"/>
                </a:lnTo>
                <a:lnTo>
                  <a:pt x="441" y="10"/>
                </a:lnTo>
                <a:lnTo>
                  <a:pt x="443" y="12"/>
                </a:lnTo>
                <a:lnTo>
                  <a:pt x="443" y="14"/>
                </a:lnTo>
                <a:lnTo>
                  <a:pt x="444" y="15"/>
                </a:lnTo>
                <a:lnTo>
                  <a:pt x="444" y="9"/>
                </a:lnTo>
                <a:close/>
                <a:moveTo>
                  <a:pt x="0" y="239"/>
                </a:moveTo>
                <a:lnTo>
                  <a:pt x="0" y="239"/>
                </a:lnTo>
                <a:lnTo>
                  <a:pt x="0" y="241"/>
                </a:lnTo>
                <a:lnTo>
                  <a:pt x="2" y="241"/>
                </a:lnTo>
                <a:lnTo>
                  <a:pt x="2" y="242"/>
                </a:lnTo>
                <a:lnTo>
                  <a:pt x="2" y="244"/>
                </a:lnTo>
                <a:lnTo>
                  <a:pt x="4" y="244"/>
                </a:lnTo>
                <a:lnTo>
                  <a:pt x="4" y="246"/>
                </a:lnTo>
                <a:lnTo>
                  <a:pt x="4" y="247"/>
                </a:lnTo>
                <a:lnTo>
                  <a:pt x="7" y="246"/>
                </a:lnTo>
                <a:lnTo>
                  <a:pt x="7" y="244"/>
                </a:lnTo>
                <a:lnTo>
                  <a:pt x="5" y="242"/>
                </a:lnTo>
                <a:lnTo>
                  <a:pt x="4" y="241"/>
                </a:lnTo>
                <a:lnTo>
                  <a:pt x="4" y="237"/>
                </a:lnTo>
                <a:lnTo>
                  <a:pt x="2" y="236"/>
                </a:lnTo>
                <a:lnTo>
                  <a:pt x="2" y="234"/>
                </a:lnTo>
                <a:lnTo>
                  <a:pt x="0" y="232"/>
                </a:lnTo>
                <a:lnTo>
                  <a:pt x="0" y="231"/>
                </a:lnTo>
                <a:lnTo>
                  <a:pt x="0" y="239"/>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57" name="Freeform 1862">
            <a:extLst>
              <a:ext uri="{FF2B5EF4-FFF2-40B4-BE49-F238E27FC236}">
                <a16:creationId xmlns:a16="http://schemas.microsoft.com/office/drawing/2014/main" id="{1BBE0410-3901-3981-1FE0-139F34ED3EA5}"/>
              </a:ext>
            </a:extLst>
          </p:cNvPr>
          <p:cNvSpPr>
            <a:spLocks noEditPoints="1"/>
          </p:cNvSpPr>
          <p:nvPr/>
        </p:nvSpPr>
        <p:spPr bwMode="auto">
          <a:xfrm>
            <a:off x="3167063" y="2405063"/>
            <a:ext cx="704850" cy="390525"/>
          </a:xfrm>
          <a:custGeom>
            <a:avLst/>
            <a:gdLst>
              <a:gd name="T0" fmla="*/ 444 w 444"/>
              <a:gd name="T1" fmla="*/ 12 h 246"/>
              <a:gd name="T2" fmla="*/ 443 w 444"/>
              <a:gd name="T3" fmla="*/ 10 h 246"/>
              <a:gd name="T4" fmla="*/ 443 w 444"/>
              <a:gd name="T5" fmla="*/ 9 h 246"/>
              <a:gd name="T6" fmla="*/ 441 w 444"/>
              <a:gd name="T7" fmla="*/ 7 h 246"/>
              <a:gd name="T8" fmla="*/ 441 w 444"/>
              <a:gd name="T9" fmla="*/ 5 h 246"/>
              <a:gd name="T10" fmla="*/ 439 w 444"/>
              <a:gd name="T11" fmla="*/ 4 h 246"/>
              <a:gd name="T12" fmla="*/ 439 w 444"/>
              <a:gd name="T13" fmla="*/ 2 h 246"/>
              <a:gd name="T14" fmla="*/ 438 w 444"/>
              <a:gd name="T15" fmla="*/ 0 h 246"/>
              <a:gd name="T16" fmla="*/ 434 w 444"/>
              <a:gd name="T17" fmla="*/ 2 h 246"/>
              <a:gd name="T18" fmla="*/ 436 w 444"/>
              <a:gd name="T19" fmla="*/ 4 h 246"/>
              <a:gd name="T20" fmla="*/ 438 w 444"/>
              <a:gd name="T21" fmla="*/ 7 h 246"/>
              <a:gd name="T22" fmla="*/ 438 w 444"/>
              <a:gd name="T23" fmla="*/ 9 h 246"/>
              <a:gd name="T24" fmla="*/ 439 w 444"/>
              <a:gd name="T25" fmla="*/ 10 h 246"/>
              <a:gd name="T26" fmla="*/ 441 w 444"/>
              <a:gd name="T27" fmla="*/ 14 h 246"/>
              <a:gd name="T28" fmla="*/ 441 w 444"/>
              <a:gd name="T29" fmla="*/ 15 h 246"/>
              <a:gd name="T30" fmla="*/ 443 w 444"/>
              <a:gd name="T31" fmla="*/ 17 h 246"/>
              <a:gd name="T32" fmla="*/ 444 w 444"/>
              <a:gd name="T33" fmla="*/ 20 h 246"/>
              <a:gd name="T34" fmla="*/ 444 w 444"/>
              <a:gd name="T35" fmla="*/ 12 h 246"/>
              <a:gd name="T36" fmla="*/ 0 w 444"/>
              <a:gd name="T37" fmla="*/ 234 h 246"/>
              <a:gd name="T38" fmla="*/ 0 w 444"/>
              <a:gd name="T39" fmla="*/ 236 h 246"/>
              <a:gd name="T40" fmla="*/ 2 w 444"/>
              <a:gd name="T41" fmla="*/ 237 h 246"/>
              <a:gd name="T42" fmla="*/ 2 w 444"/>
              <a:gd name="T43" fmla="*/ 239 h 246"/>
              <a:gd name="T44" fmla="*/ 2 w 444"/>
              <a:gd name="T45" fmla="*/ 241 h 246"/>
              <a:gd name="T46" fmla="*/ 4 w 444"/>
              <a:gd name="T47" fmla="*/ 242 h 246"/>
              <a:gd name="T48" fmla="*/ 5 w 444"/>
              <a:gd name="T49" fmla="*/ 244 h 246"/>
              <a:gd name="T50" fmla="*/ 5 w 444"/>
              <a:gd name="T51" fmla="*/ 246 h 246"/>
              <a:gd name="T52" fmla="*/ 9 w 444"/>
              <a:gd name="T53" fmla="*/ 244 h 246"/>
              <a:gd name="T54" fmla="*/ 7 w 444"/>
              <a:gd name="T55" fmla="*/ 242 h 246"/>
              <a:gd name="T56" fmla="*/ 7 w 444"/>
              <a:gd name="T57" fmla="*/ 241 h 246"/>
              <a:gd name="T58" fmla="*/ 5 w 444"/>
              <a:gd name="T59" fmla="*/ 237 h 246"/>
              <a:gd name="T60" fmla="*/ 4 w 444"/>
              <a:gd name="T61" fmla="*/ 236 h 246"/>
              <a:gd name="T62" fmla="*/ 4 w 444"/>
              <a:gd name="T63" fmla="*/ 234 h 246"/>
              <a:gd name="T64" fmla="*/ 2 w 444"/>
              <a:gd name="T65" fmla="*/ 231 h 246"/>
              <a:gd name="T66" fmla="*/ 0 w 444"/>
              <a:gd name="T67" fmla="*/ 229 h 246"/>
              <a:gd name="T68" fmla="*/ 0 w 444"/>
              <a:gd name="T69" fmla="*/ 227 h 246"/>
              <a:gd name="T70" fmla="*/ 0 w 444"/>
              <a:gd name="T71" fmla="*/ 234 h 2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44" h="246">
                <a:moveTo>
                  <a:pt x="444" y="12"/>
                </a:moveTo>
                <a:lnTo>
                  <a:pt x="443" y="10"/>
                </a:lnTo>
                <a:lnTo>
                  <a:pt x="443" y="9"/>
                </a:lnTo>
                <a:lnTo>
                  <a:pt x="441" y="7"/>
                </a:lnTo>
                <a:lnTo>
                  <a:pt x="441" y="5"/>
                </a:lnTo>
                <a:lnTo>
                  <a:pt x="439" y="4"/>
                </a:lnTo>
                <a:lnTo>
                  <a:pt x="439" y="2"/>
                </a:lnTo>
                <a:lnTo>
                  <a:pt x="438" y="0"/>
                </a:lnTo>
                <a:lnTo>
                  <a:pt x="434" y="2"/>
                </a:lnTo>
                <a:lnTo>
                  <a:pt x="436" y="4"/>
                </a:lnTo>
                <a:lnTo>
                  <a:pt x="438" y="7"/>
                </a:lnTo>
                <a:lnTo>
                  <a:pt x="438" y="9"/>
                </a:lnTo>
                <a:lnTo>
                  <a:pt x="439" y="10"/>
                </a:lnTo>
                <a:lnTo>
                  <a:pt x="441" y="14"/>
                </a:lnTo>
                <a:lnTo>
                  <a:pt x="441" y="15"/>
                </a:lnTo>
                <a:lnTo>
                  <a:pt x="443" y="17"/>
                </a:lnTo>
                <a:lnTo>
                  <a:pt x="444" y="20"/>
                </a:lnTo>
                <a:lnTo>
                  <a:pt x="444" y="12"/>
                </a:lnTo>
                <a:close/>
                <a:moveTo>
                  <a:pt x="0" y="234"/>
                </a:moveTo>
                <a:lnTo>
                  <a:pt x="0" y="236"/>
                </a:lnTo>
                <a:lnTo>
                  <a:pt x="2" y="237"/>
                </a:lnTo>
                <a:lnTo>
                  <a:pt x="2" y="239"/>
                </a:lnTo>
                <a:lnTo>
                  <a:pt x="2" y="241"/>
                </a:lnTo>
                <a:lnTo>
                  <a:pt x="4" y="242"/>
                </a:lnTo>
                <a:lnTo>
                  <a:pt x="5" y="244"/>
                </a:lnTo>
                <a:lnTo>
                  <a:pt x="5" y="246"/>
                </a:lnTo>
                <a:lnTo>
                  <a:pt x="9" y="244"/>
                </a:lnTo>
                <a:lnTo>
                  <a:pt x="7" y="242"/>
                </a:lnTo>
                <a:lnTo>
                  <a:pt x="7" y="241"/>
                </a:lnTo>
                <a:lnTo>
                  <a:pt x="5" y="237"/>
                </a:lnTo>
                <a:lnTo>
                  <a:pt x="4" y="236"/>
                </a:lnTo>
                <a:lnTo>
                  <a:pt x="4" y="234"/>
                </a:lnTo>
                <a:lnTo>
                  <a:pt x="2" y="231"/>
                </a:lnTo>
                <a:lnTo>
                  <a:pt x="0" y="229"/>
                </a:lnTo>
                <a:lnTo>
                  <a:pt x="0" y="227"/>
                </a:lnTo>
                <a:lnTo>
                  <a:pt x="0" y="234"/>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58" name="Freeform 1863">
            <a:extLst>
              <a:ext uri="{FF2B5EF4-FFF2-40B4-BE49-F238E27FC236}">
                <a16:creationId xmlns:a16="http://schemas.microsoft.com/office/drawing/2014/main" id="{EC624A9C-7356-1442-E187-F350A195A302}"/>
              </a:ext>
            </a:extLst>
          </p:cNvPr>
          <p:cNvSpPr>
            <a:spLocks noEditPoints="1"/>
          </p:cNvSpPr>
          <p:nvPr/>
        </p:nvSpPr>
        <p:spPr bwMode="auto">
          <a:xfrm>
            <a:off x="3167063" y="2408238"/>
            <a:ext cx="704850" cy="387350"/>
          </a:xfrm>
          <a:custGeom>
            <a:avLst/>
            <a:gdLst>
              <a:gd name="T0" fmla="*/ 444 w 444"/>
              <a:gd name="T1" fmla="*/ 13 h 244"/>
              <a:gd name="T2" fmla="*/ 443 w 444"/>
              <a:gd name="T3" fmla="*/ 12 h 244"/>
              <a:gd name="T4" fmla="*/ 443 w 444"/>
              <a:gd name="T5" fmla="*/ 10 h 244"/>
              <a:gd name="T6" fmla="*/ 441 w 444"/>
              <a:gd name="T7" fmla="*/ 8 h 244"/>
              <a:gd name="T8" fmla="*/ 441 w 444"/>
              <a:gd name="T9" fmla="*/ 7 h 244"/>
              <a:gd name="T10" fmla="*/ 439 w 444"/>
              <a:gd name="T11" fmla="*/ 5 h 244"/>
              <a:gd name="T12" fmla="*/ 438 w 444"/>
              <a:gd name="T13" fmla="*/ 3 h 244"/>
              <a:gd name="T14" fmla="*/ 438 w 444"/>
              <a:gd name="T15" fmla="*/ 2 h 244"/>
              <a:gd name="T16" fmla="*/ 436 w 444"/>
              <a:gd name="T17" fmla="*/ 0 h 244"/>
              <a:gd name="T18" fmla="*/ 433 w 444"/>
              <a:gd name="T19" fmla="*/ 0 h 244"/>
              <a:gd name="T20" fmla="*/ 434 w 444"/>
              <a:gd name="T21" fmla="*/ 3 h 244"/>
              <a:gd name="T22" fmla="*/ 436 w 444"/>
              <a:gd name="T23" fmla="*/ 7 h 244"/>
              <a:gd name="T24" fmla="*/ 438 w 444"/>
              <a:gd name="T25" fmla="*/ 8 h 244"/>
              <a:gd name="T26" fmla="*/ 439 w 444"/>
              <a:gd name="T27" fmla="*/ 12 h 244"/>
              <a:gd name="T28" fmla="*/ 439 w 444"/>
              <a:gd name="T29" fmla="*/ 13 h 244"/>
              <a:gd name="T30" fmla="*/ 441 w 444"/>
              <a:gd name="T31" fmla="*/ 17 h 244"/>
              <a:gd name="T32" fmla="*/ 443 w 444"/>
              <a:gd name="T33" fmla="*/ 18 h 244"/>
              <a:gd name="T34" fmla="*/ 444 w 444"/>
              <a:gd name="T35" fmla="*/ 22 h 244"/>
              <a:gd name="T36" fmla="*/ 444 w 444"/>
              <a:gd name="T37" fmla="*/ 13 h 244"/>
              <a:gd name="T38" fmla="*/ 0 w 444"/>
              <a:gd name="T39" fmla="*/ 229 h 244"/>
              <a:gd name="T40" fmla="*/ 0 w 444"/>
              <a:gd name="T41" fmla="*/ 230 h 244"/>
              <a:gd name="T42" fmla="*/ 2 w 444"/>
              <a:gd name="T43" fmla="*/ 232 h 244"/>
              <a:gd name="T44" fmla="*/ 2 w 444"/>
              <a:gd name="T45" fmla="*/ 234 h 244"/>
              <a:gd name="T46" fmla="*/ 4 w 444"/>
              <a:gd name="T47" fmla="*/ 235 h 244"/>
              <a:gd name="T48" fmla="*/ 4 w 444"/>
              <a:gd name="T49" fmla="*/ 239 h 244"/>
              <a:gd name="T50" fmla="*/ 5 w 444"/>
              <a:gd name="T51" fmla="*/ 240 h 244"/>
              <a:gd name="T52" fmla="*/ 7 w 444"/>
              <a:gd name="T53" fmla="*/ 242 h 244"/>
              <a:gd name="T54" fmla="*/ 7 w 444"/>
              <a:gd name="T55" fmla="*/ 244 h 244"/>
              <a:gd name="T56" fmla="*/ 10 w 444"/>
              <a:gd name="T57" fmla="*/ 242 h 244"/>
              <a:gd name="T58" fmla="*/ 9 w 444"/>
              <a:gd name="T59" fmla="*/ 239 h 244"/>
              <a:gd name="T60" fmla="*/ 7 w 444"/>
              <a:gd name="T61" fmla="*/ 237 h 244"/>
              <a:gd name="T62" fmla="*/ 7 w 444"/>
              <a:gd name="T63" fmla="*/ 234 h 244"/>
              <a:gd name="T64" fmla="*/ 5 w 444"/>
              <a:gd name="T65" fmla="*/ 232 h 244"/>
              <a:gd name="T66" fmla="*/ 4 w 444"/>
              <a:gd name="T67" fmla="*/ 229 h 244"/>
              <a:gd name="T68" fmla="*/ 2 w 444"/>
              <a:gd name="T69" fmla="*/ 227 h 244"/>
              <a:gd name="T70" fmla="*/ 0 w 444"/>
              <a:gd name="T71" fmla="*/ 224 h 244"/>
              <a:gd name="T72" fmla="*/ 0 w 444"/>
              <a:gd name="T73" fmla="*/ 220 h 244"/>
              <a:gd name="T74" fmla="*/ 0 w 444"/>
              <a:gd name="T75" fmla="*/ 229 h 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44">
                <a:moveTo>
                  <a:pt x="444" y="13"/>
                </a:moveTo>
                <a:lnTo>
                  <a:pt x="443" y="12"/>
                </a:lnTo>
                <a:lnTo>
                  <a:pt x="443" y="10"/>
                </a:lnTo>
                <a:lnTo>
                  <a:pt x="441" y="8"/>
                </a:lnTo>
                <a:lnTo>
                  <a:pt x="441" y="7"/>
                </a:lnTo>
                <a:lnTo>
                  <a:pt x="439" y="5"/>
                </a:lnTo>
                <a:lnTo>
                  <a:pt x="438" y="3"/>
                </a:lnTo>
                <a:lnTo>
                  <a:pt x="438" y="2"/>
                </a:lnTo>
                <a:lnTo>
                  <a:pt x="436" y="0"/>
                </a:lnTo>
                <a:lnTo>
                  <a:pt x="433" y="0"/>
                </a:lnTo>
                <a:lnTo>
                  <a:pt x="434" y="3"/>
                </a:lnTo>
                <a:lnTo>
                  <a:pt x="436" y="7"/>
                </a:lnTo>
                <a:lnTo>
                  <a:pt x="438" y="8"/>
                </a:lnTo>
                <a:lnTo>
                  <a:pt x="439" y="12"/>
                </a:lnTo>
                <a:lnTo>
                  <a:pt x="439" y="13"/>
                </a:lnTo>
                <a:lnTo>
                  <a:pt x="441" y="17"/>
                </a:lnTo>
                <a:lnTo>
                  <a:pt x="443" y="18"/>
                </a:lnTo>
                <a:lnTo>
                  <a:pt x="444" y="22"/>
                </a:lnTo>
                <a:lnTo>
                  <a:pt x="444" y="13"/>
                </a:lnTo>
                <a:close/>
                <a:moveTo>
                  <a:pt x="0" y="229"/>
                </a:moveTo>
                <a:lnTo>
                  <a:pt x="0" y="230"/>
                </a:lnTo>
                <a:lnTo>
                  <a:pt x="2" y="232"/>
                </a:lnTo>
                <a:lnTo>
                  <a:pt x="2" y="234"/>
                </a:lnTo>
                <a:lnTo>
                  <a:pt x="4" y="235"/>
                </a:lnTo>
                <a:lnTo>
                  <a:pt x="4" y="239"/>
                </a:lnTo>
                <a:lnTo>
                  <a:pt x="5" y="240"/>
                </a:lnTo>
                <a:lnTo>
                  <a:pt x="7" y="242"/>
                </a:lnTo>
                <a:lnTo>
                  <a:pt x="7" y="244"/>
                </a:lnTo>
                <a:lnTo>
                  <a:pt x="10" y="242"/>
                </a:lnTo>
                <a:lnTo>
                  <a:pt x="9" y="239"/>
                </a:lnTo>
                <a:lnTo>
                  <a:pt x="7" y="237"/>
                </a:lnTo>
                <a:lnTo>
                  <a:pt x="7" y="234"/>
                </a:lnTo>
                <a:lnTo>
                  <a:pt x="5" y="232"/>
                </a:lnTo>
                <a:lnTo>
                  <a:pt x="4" y="229"/>
                </a:lnTo>
                <a:lnTo>
                  <a:pt x="2" y="227"/>
                </a:lnTo>
                <a:lnTo>
                  <a:pt x="0" y="224"/>
                </a:lnTo>
                <a:lnTo>
                  <a:pt x="0" y="220"/>
                </a:lnTo>
                <a:lnTo>
                  <a:pt x="0" y="229"/>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59" name="Freeform 1864">
            <a:extLst>
              <a:ext uri="{FF2B5EF4-FFF2-40B4-BE49-F238E27FC236}">
                <a16:creationId xmlns:a16="http://schemas.microsoft.com/office/drawing/2014/main" id="{E9AD6ADA-C4E8-4D62-F9B6-9FEAA5633E05}"/>
              </a:ext>
            </a:extLst>
          </p:cNvPr>
          <p:cNvSpPr>
            <a:spLocks noEditPoints="1"/>
          </p:cNvSpPr>
          <p:nvPr/>
        </p:nvSpPr>
        <p:spPr bwMode="auto">
          <a:xfrm>
            <a:off x="3167063" y="2408238"/>
            <a:ext cx="704850" cy="384175"/>
          </a:xfrm>
          <a:custGeom>
            <a:avLst/>
            <a:gdLst>
              <a:gd name="T0" fmla="*/ 444 w 444"/>
              <a:gd name="T1" fmla="*/ 18 h 242"/>
              <a:gd name="T2" fmla="*/ 443 w 444"/>
              <a:gd name="T3" fmla="*/ 15 h 242"/>
              <a:gd name="T4" fmla="*/ 441 w 444"/>
              <a:gd name="T5" fmla="*/ 13 h 242"/>
              <a:gd name="T6" fmla="*/ 441 w 444"/>
              <a:gd name="T7" fmla="*/ 12 h 242"/>
              <a:gd name="T8" fmla="*/ 439 w 444"/>
              <a:gd name="T9" fmla="*/ 8 h 242"/>
              <a:gd name="T10" fmla="*/ 438 w 444"/>
              <a:gd name="T11" fmla="*/ 7 h 242"/>
              <a:gd name="T12" fmla="*/ 438 w 444"/>
              <a:gd name="T13" fmla="*/ 5 h 242"/>
              <a:gd name="T14" fmla="*/ 436 w 444"/>
              <a:gd name="T15" fmla="*/ 2 h 242"/>
              <a:gd name="T16" fmla="*/ 434 w 444"/>
              <a:gd name="T17" fmla="*/ 0 h 242"/>
              <a:gd name="T18" fmla="*/ 431 w 444"/>
              <a:gd name="T19" fmla="*/ 2 h 242"/>
              <a:gd name="T20" fmla="*/ 433 w 444"/>
              <a:gd name="T21" fmla="*/ 5 h 242"/>
              <a:gd name="T22" fmla="*/ 434 w 444"/>
              <a:gd name="T23" fmla="*/ 7 h 242"/>
              <a:gd name="T24" fmla="*/ 436 w 444"/>
              <a:gd name="T25" fmla="*/ 10 h 242"/>
              <a:gd name="T26" fmla="*/ 438 w 444"/>
              <a:gd name="T27" fmla="*/ 13 h 242"/>
              <a:gd name="T28" fmla="*/ 439 w 444"/>
              <a:gd name="T29" fmla="*/ 17 h 242"/>
              <a:gd name="T30" fmla="*/ 441 w 444"/>
              <a:gd name="T31" fmla="*/ 20 h 242"/>
              <a:gd name="T32" fmla="*/ 443 w 444"/>
              <a:gd name="T33" fmla="*/ 23 h 242"/>
              <a:gd name="T34" fmla="*/ 444 w 444"/>
              <a:gd name="T35" fmla="*/ 25 h 242"/>
              <a:gd name="T36" fmla="*/ 444 w 444"/>
              <a:gd name="T37" fmla="*/ 18 h 242"/>
              <a:gd name="T38" fmla="*/ 0 w 444"/>
              <a:gd name="T39" fmla="*/ 225 h 242"/>
              <a:gd name="T40" fmla="*/ 0 w 444"/>
              <a:gd name="T41" fmla="*/ 227 h 242"/>
              <a:gd name="T42" fmla="*/ 2 w 444"/>
              <a:gd name="T43" fmla="*/ 229 h 242"/>
              <a:gd name="T44" fmla="*/ 4 w 444"/>
              <a:gd name="T45" fmla="*/ 232 h 242"/>
              <a:gd name="T46" fmla="*/ 4 w 444"/>
              <a:gd name="T47" fmla="*/ 234 h 242"/>
              <a:gd name="T48" fmla="*/ 5 w 444"/>
              <a:gd name="T49" fmla="*/ 235 h 242"/>
              <a:gd name="T50" fmla="*/ 7 w 444"/>
              <a:gd name="T51" fmla="*/ 239 h 242"/>
              <a:gd name="T52" fmla="*/ 7 w 444"/>
              <a:gd name="T53" fmla="*/ 240 h 242"/>
              <a:gd name="T54" fmla="*/ 9 w 444"/>
              <a:gd name="T55" fmla="*/ 242 h 242"/>
              <a:gd name="T56" fmla="*/ 12 w 444"/>
              <a:gd name="T57" fmla="*/ 240 h 242"/>
              <a:gd name="T58" fmla="*/ 10 w 444"/>
              <a:gd name="T59" fmla="*/ 239 h 242"/>
              <a:gd name="T60" fmla="*/ 9 w 444"/>
              <a:gd name="T61" fmla="*/ 235 h 242"/>
              <a:gd name="T62" fmla="*/ 7 w 444"/>
              <a:gd name="T63" fmla="*/ 232 h 242"/>
              <a:gd name="T64" fmla="*/ 5 w 444"/>
              <a:gd name="T65" fmla="*/ 229 h 242"/>
              <a:gd name="T66" fmla="*/ 4 w 444"/>
              <a:gd name="T67" fmla="*/ 225 h 242"/>
              <a:gd name="T68" fmla="*/ 2 w 444"/>
              <a:gd name="T69" fmla="*/ 224 h 242"/>
              <a:gd name="T70" fmla="*/ 2 w 444"/>
              <a:gd name="T71" fmla="*/ 220 h 242"/>
              <a:gd name="T72" fmla="*/ 0 w 444"/>
              <a:gd name="T73" fmla="*/ 217 h 242"/>
              <a:gd name="T74" fmla="*/ 0 w 444"/>
              <a:gd name="T75" fmla="*/ 225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42">
                <a:moveTo>
                  <a:pt x="444" y="18"/>
                </a:moveTo>
                <a:lnTo>
                  <a:pt x="443" y="15"/>
                </a:lnTo>
                <a:lnTo>
                  <a:pt x="441" y="13"/>
                </a:lnTo>
                <a:lnTo>
                  <a:pt x="441" y="12"/>
                </a:lnTo>
                <a:lnTo>
                  <a:pt x="439" y="8"/>
                </a:lnTo>
                <a:lnTo>
                  <a:pt x="438" y="7"/>
                </a:lnTo>
                <a:lnTo>
                  <a:pt x="438" y="5"/>
                </a:lnTo>
                <a:lnTo>
                  <a:pt x="436" y="2"/>
                </a:lnTo>
                <a:lnTo>
                  <a:pt x="434" y="0"/>
                </a:lnTo>
                <a:lnTo>
                  <a:pt x="431" y="2"/>
                </a:lnTo>
                <a:lnTo>
                  <a:pt x="433" y="5"/>
                </a:lnTo>
                <a:lnTo>
                  <a:pt x="434" y="7"/>
                </a:lnTo>
                <a:lnTo>
                  <a:pt x="436" y="10"/>
                </a:lnTo>
                <a:lnTo>
                  <a:pt x="438" y="13"/>
                </a:lnTo>
                <a:lnTo>
                  <a:pt x="439" y="17"/>
                </a:lnTo>
                <a:lnTo>
                  <a:pt x="441" y="20"/>
                </a:lnTo>
                <a:lnTo>
                  <a:pt x="443" y="23"/>
                </a:lnTo>
                <a:lnTo>
                  <a:pt x="444" y="25"/>
                </a:lnTo>
                <a:lnTo>
                  <a:pt x="444" y="18"/>
                </a:lnTo>
                <a:close/>
                <a:moveTo>
                  <a:pt x="0" y="225"/>
                </a:moveTo>
                <a:lnTo>
                  <a:pt x="0" y="227"/>
                </a:lnTo>
                <a:lnTo>
                  <a:pt x="2" y="229"/>
                </a:lnTo>
                <a:lnTo>
                  <a:pt x="4" y="232"/>
                </a:lnTo>
                <a:lnTo>
                  <a:pt x="4" y="234"/>
                </a:lnTo>
                <a:lnTo>
                  <a:pt x="5" y="235"/>
                </a:lnTo>
                <a:lnTo>
                  <a:pt x="7" y="239"/>
                </a:lnTo>
                <a:lnTo>
                  <a:pt x="7" y="240"/>
                </a:lnTo>
                <a:lnTo>
                  <a:pt x="9" y="242"/>
                </a:lnTo>
                <a:lnTo>
                  <a:pt x="12" y="240"/>
                </a:lnTo>
                <a:lnTo>
                  <a:pt x="10" y="239"/>
                </a:lnTo>
                <a:lnTo>
                  <a:pt x="9" y="235"/>
                </a:lnTo>
                <a:lnTo>
                  <a:pt x="7" y="232"/>
                </a:lnTo>
                <a:lnTo>
                  <a:pt x="5" y="229"/>
                </a:lnTo>
                <a:lnTo>
                  <a:pt x="4" y="225"/>
                </a:lnTo>
                <a:lnTo>
                  <a:pt x="2" y="224"/>
                </a:lnTo>
                <a:lnTo>
                  <a:pt x="2" y="220"/>
                </a:lnTo>
                <a:lnTo>
                  <a:pt x="0" y="217"/>
                </a:lnTo>
                <a:lnTo>
                  <a:pt x="0" y="225"/>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60" name="Freeform 1865">
            <a:extLst>
              <a:ext uri="{FF2B5EF4-FFF2-40B4-BE49-F238E27FC236}">
                <a16:creationId xmlns:a16="http://schemas.microsoft.com/office/drawing/2014/main" id="{D00121CE-FDB2-5976-D280-63BC920D1E5A}"/>
              </a:ext>
            </a:extLst>
          </p:cNvPr>
          <p:cNvSpPr>
            <a:spLocks noEditPoints="1"/>
          </p:cNvSpPr>
          <p:nvPr/>
        </p:nvSpPr>
        <p:spPr bwMode="auto">
          <a:xfrm>
            <a:off x="3167063" y="2408238"/>
            <a:ext cx="704850" cy="384175"/>
          </a:xfrm>
          <a:custGeom>
            <a:avLst/>
            <a:gdLst>
              <a:gd name="T0" fmla="*/ 444 w 444"/>
              <a:gd name="T1" fmla="*/ 22 h 242"/>
              <a:gd name="T2" fmla="*/ 443 w 444"/>
              <a:gd name="T3" fmla="*/ 18 h 242"/>
              <a:gd name="T4" fmla="*/ 441 w 444"/>
              <a:gd name="T5" fmla="*/ 17 h 242"/>
              <a:gd name="T6" fmla="*/ 439 w 444"/>
              <a:gd name="T7" fmla="*/ 13 h 242"/>
              <a:gd name="T8" fmla="*/ 439 w 444"/>
              <a:gd name="T9" fmla="*/ 12 h 242"/>
              <a:gd name="T10" fmla="*/ 438 w 444"/>
              <a:gd name="T11" fmla="*/ 8 h 242"/>
              <a:gd name="T12" fmla="*/ 436 w 444"/>
              <a:gd name="T13" fmla="*/ 7 h 242"/>
              <a:gd name="T14" fmla="*/ 434 w 444"/>
              <a:gd name="T15" fmla="*/ 3 h 242"/>
              <a:gd name="T16" fmla="*/ 433 w 444"/>
              <a:gd name="T17" fmla="*/ 0 h 242"/>
              <a:gd name="T18" fmla="*/ 431 w 444"/>
              <a:gd name="T19" fmla="*/ 2 h 242"/>
              <a:gd name="T20" fmla="*/ 433 w 444"/>
              <a:gd name="T21" fmla="*/ 5 h 242"/>
              <a:gd name="T22" fmla="*/ 434 w 444"/>
              <a:gd name="T23" fmla="*/ 8 h 242"/>
              <a:gd name="T24" fmla="*/ 436 w 444"/>
              <a:gd name="T25" fmla="*/ 12 h 242"/>
              <a:gd name="T26" fmla="*/ 438 w 444"/>
              <a:gd name="T27" fmla="*/ 17 h 242"/>
              <a:gd name="T28" fmla="*/ 439 w 444"/>
              <a:gd name="T29" fmla="*/ 20 h 242"/>
              <a:gd name="T30" fmla="*/ 441 w 444"/>
              <a:gd name="T31" fmla="*/ 23 h 242"/>
              <a:gd name="T32" fmla="*/ 443 w 444"/>
              <a:gd name="T33" fmla="*/ 27 h 242"/>
              <a:gd name="T34" fmla="*/ 444 w 444"/>
              <a:gd name="T35" fmla="*/ 30 h 242"/>
              <a:gd name="T36" fmla="*/ 444 w 444"/>
              <a:gd name="T37" fmla="*/ 22 h 242"/>
              <a:gd name="T38" fmla="*/ 0 w 444"/>
              <a:gd name="T39" fmla="*/ 220 h 242"/>
              <a:gd name="T40" fmla="*/ 0 w 444"/>
              <a:gd name="T41" fmla="*/ 224 h 242"/>
              <a:gd name="T42" fmla="*/ 2 w 444"/>
              <a:gd name="T43" fmla="*/ 227 h 242"/>
              <a:gd name="T44" fmla="*/ 4 w 444"/>
              <a:gd name="T45" fmla="*/ 229 h 242"/>
              <a:gd name="T46" fmla="*/ 5 w 444"/>
              <a:gd name="T47" fmla="*/ 232 h 242"/>
              <a:gd name="T48" fmla="*/ 7 w 444"/>
              <a:gd name="T49" fmla="*/ 234 h 242"/>
              <a:gd name="T50" fmla="*/ 7 w 444"/>
              <a:gd name="T51" fmla="*/ 237 h 242"/>
              <a:gd name="T52" fmla="*/ 9 w 444"/>
              <a:gd name="T53" fmla="*/ 239 h 242"/>
              <a:gd name="T54" fmla="*/ 10 w 444"/>
              <a:gd name="T55" fmla="*/ 242 h 242"/>
              <a:gd name="T56" fmla="*/ 14 w 444"/>
              <a:gd name="T57" fmla="*/ 240 h 242"/>
              <a:gd name="T58" fmla="*/ 12 w 444"/>
              <a:gd name="T59" fmla="*/ 237 h 242"/>
              <a:gd name="T60" fmla="*/ 10 w 444"/>
              <a:gd name="T61" fmla="*/ 234 h 242"/>
              <a:gd name="T62" fmla="*/ 9 w 444"/>
              <a:gd name="T63" fmla="*/ 230 h 242"/>
              <a:gd name="T64" fmla="*/ 7 w 444"/>
              <a:gd name="T65" fmla="*/ 227 h 242"/>
              <a:gd name="T66" fmla="*/ 5 w 444"/>
              <a:gd name="T67" fmla="*/ 224 h 242"/>
              <a:gd name="T68" fmla="*/ 4 w 444"/>
              <a:gd name="T69" fmla="*/ 220 h 242"/>
              <a:gd name="T70" fmla="*/ 2 w 444"/>
              <a:gd name="T71" fmla="*/ 215 h 242"/>
              <a:gd name="T72" fmla="*/ 0 w 444"/>
              <a:gd name="T73" fmla="*/ 212 h 242"/>
              <a:gd name="T74" fmla="*/ 0 w 444"/>
              <a:gd name="T75" fmla="*/ 220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42">
                <a:moveTo>
                  <a:pt x="444" y="22"/>
                </a:moveTo>
                <a:lnTo>
                  <a:pt x="443" y="18"/>
                </a:lnTo>
                <a:lnTo>
                  <a:pt x="441" y="17"/>
                </a:lnTo>
                <a:lnTo>
                  <a:pt x="439" y="13"/>
                </a:lnTo>
                <a:lnTo>
                  <a:pt x="439" y="12"/>
                </a:lnTo>
                <a:lnTo>
                  <a:pt x="438" y="8"/>
                </a:lnTo>
                <a:lnTo>
                  <a:pt x="436" y="7"/>
                </a:lnTo>
                <a:lnTo>
                  <a:pt x="434" y="3"/>
                </a:lnTo>
                <a:lnTo>
                  <a:pt x="433" y="0"/>
                </a:lnTo>
                <a:lnTo>
                  <a:pt x="431" y="2"/>
                </a:lnTo>
                <a:lnTo>
                  <a:pt x="433" y="5"/>
                </a:lnTo>
                <a:lnTo>
                  <a:pt x="434" y="8"/>
                </a:lnTo>
                <a:lnTo>
                  <a:pt x="436" y="12"/>
                </a:lnTo>
                <a:lnTo>
                  <a:pt x="438" y="17"/>
                </a:lnTo>
                <a:lnTo>
                  <a:pt x="439" y="20"/>
                </a:lnTo>
                <a:lnTo>
                  <a:pt x="441" y="23"/>
                </a:lnTo>
                <a:lnTo>
                  <a:pt x="443" y="27"/>
                </a:lnTo>
                <a:lnTo>
                  <a:pt x="444" y="30"/>
                </a:lnTo>
                <a:lnTo>
                  <a:pt x="444" y="22"/>
                </a:lnTo>
                <a:close/>
                <a:moveTo>
                  <a:pt x="0" y="220"/>
                </a:moveTo>
                <a:lnTo>
                  <a:pt x="0" y="224"/>
                </a:lnTo>
                <a:lnTo>
                  <a:pt x="2" y="227"/>
                </a:lnTo>
                <a:lnTo>
                  <a:pt x="4" y="229"/>
                </a:lnTo>
                <a:lnTo>
                  <a:pt x="5" y="232"/>
                </a:lnTo>
                <a:lnTo>
                  <a:pt x="7" y="234"/>
                </a:lnTo>
                <a:lnTo>
                  <a:pt x="7" y="237"/>
                </a:lnTo>
                <a:lnTo>
                  <a:pt x="9" y="239"/>
                </a:lnTo>
                <a:lnTo>
                  <a:pt x="10" y="242"/>
                </a:lnTo>
                <a:lnTo>
                  <a:pt x="14" y="240"/>
                </a:lnTo>
                <a:lnTo>
                  <a:pt x="12" y="237"/>
                </a:lnTo>
                <a:lnTo>
                  <a:pt x="10" y="234"/>
                </a:lnTo>
                <a:lnTo>
                  <a:pt x="9" y="230"/>
                </a:lnTo>
                <a:lnTo>
                  <a:pt x="7" y="227"/>
                </a:lnTo>
                <a:lnTo>
                  <a:pt x="5" y="224"/>
                </a:lnTo>
                <a:lnTo>
                  <a:pt x="4" y="220"/>
                </a:lnTo>
                <a:lnTo>
                  <a:pt x="2" y="215"/>
                </a:lnTo>
                <a:lnTo>
                  <a:pt x="0" y="212"/>
                </a:lnTo>
                <a:lnTo>
                  <a:pt x="0" y="22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61" name="Freeform 1866">
            <a:extLst>
              <a:ext uri="{FF2B5EF4-FFF2-40B4-BE49-F238E27FC236}">
                <a16:creationId xmlns:a16="http://schemas.microsoft.com/office/drawing/2014/main" id="{57178701-19FC-B117-4AE6-F6541279B2EF}"/>
              </a:ext>
            </a:extLst>
          </p:cNvPr>
          <p:cNvSpPr>
            <a:spLocks noEditPoints="1"/>
          </p:cNvSpPr>
          <p:nvPr/>
        </p:nvSpPr>
        <p:spPr bwMode="auto">
          <a:xfrm>
            <a:off x="3167063" y="2411413"/>
            <a:ext cx="704850" cy="377825"/>
          </a:xfrm>
          <a:custGeom>
            <a:avLst/>
            <a:gdLst>
              <a:gd name="T0" fmla="*/ 444 w 444"/>
              <a:gd name="T1" fmla="*/ 23 h 238"/>
              <a:gd name="T2" fmla="*/ 443 w 444"/>
              <a:gd name="T3" fmla="*/ 21 h 238"/>
              <a:gd name="T4" fmla="*/ 441 w 444"/>
              <a:gd name="T5" fmla="*/ 18 h 238"/>
              <a:gd name="T6" fmla="*/ 439 w 444"/>
              <a:gd name="T7" fmla="*/ 15 h 238"/>
              <a:gd name="T8" fmla="*/ 438 w 444"/>
              <a:gd name="T9" fmla="*/ 11 h 238"/>
              <a:gd name="T10" fmla="*/ 436 w 444"/>
              <a:gd name="T11" fmla="*/ 8 h 238"/>
              <a:gd name="T12" fmla="*/ 434 w 444"/>
              <a:gd name="T13" fmla="*/ 5 h 238"/>
              <a:gd name="T14" fmla="*/ 433 w 444"/>
              <a:gd name="T15" fmla="*/ 3 h 238"/>
              <a:gd name="T16" fmla="*/ 431 w 444"/>
              <a:gd name="T17" fmla="*/ 0 h 238"/>
              <a:gd name="T18" fmla="*/ 429 w 444"/>
              <a:gd name="T19" fmla="*/ 1 h 238"/>
              <a:gd name="T20" fmla="*/ 431 w 444"/>
              <a:gd name="T21" fmla="*/ 5 h 238"/>
              <a:gd name="T22" fmla="*/ 433 w 444"/>
              <a:gd name="T23" fmla="*/ 8 h 238"/>
              <a:gd name="T24" fmla="*/ 434 w 444"/>
              <a:gd name="T25" fmla="*/ 13 h 238"/>
              <a:gd name="T26" fmla="*/ 438 w 444"/>
              <a:gd name="T27" fmla="*/ 16 h 238"/>
              <a:gd name="T28" fmla="*/ 439 w 444"/>
              <a:gd name="T29" fmla="*/ 20 h 238"/>
              <a:gd name="T30" fmla="*/ 441 w 444"/>
              <a:gd name="T31" fmla="*/ 25 h 238"/>
              <a:gd name="T32" fmla="*/ 443 w 444"/>
              <a:gd name="T33" fmla="*/ 28 h 238"/>
              <a:gd name="T34" fmla="*/ 444 w 444"/>
              <a:gd name="T35" fmla="*/ 33 h 238"/>
              <a:gd name="T36" fmla="*/ 444 w 444"/>
              <a:gd name="T37" fmla="*/ 23 h 238"/>
              <a:gd name="T38" fmla="*/ 0 w 444"/>
              <a:gd name="T39" fmla="*/ 215 h 238"/>
              <a:gd name="T40" fmla="*/ 2 w 444"/>
              <a:gd name="T41" fmla="*/ 218 h 238"/>
              <a:gd name="T42" fmla="*/ 2 w 444"/>
              <a:gd name="T43" fmla="*/ 222 h 238"/>
              <a:gd name="T44" fmla="*/ 4 w 444"/>
              <a:gd name="T45" fmla="*/ 223 h 238"/>
              <a:gd name="T46" fmla="*/ 5 w 444"/>
              <a:gd name="T47" fmla="*/ 227 h 238"/>
              <a:gd name="T48" fmla="*/ 7 w 444"/>
              <a:gd name="T49" fmla="*/ 230 h 238"/>
              <a:gd name="T50" fmla="*/ 9 w 444"/>
              <a:gd name="T51" fmla="*/ 233 h 238"/>
              <a:gd name="T52" fmla="*/ 10 w 444"/>
              <a:gd name="T53" fmla="*/ 237 h 238"/>
              <a:gd name="T54" fmla="*/ 12 w 444"/>
              <a:gd name="T55" fmla="*/ 238 h 238"/>
              <a:gd name="T56" fmla="*/ 15 w 444"/>
              <a:gd name="T57" fmla="*/ 238 h 238"/>
              <a:gd name="T58" fmla="*/ 14 w 444"/>
              <a:gd name="T59" fmla="*/ 233 h 238"/>
              <a:gd name="T60" fmla="*/ 10 w 444"/>
              <a:gd name="T61" fmla="*/ 230 h 238"/>
              <a:gd name="T62" fmla="*/ 9 w 444"/>
              <a:gd name="T63" fmla="*/ 227 h 238"/>
              <a:gd name="T64" fmla="*/ 7 w 444"/>
              <a:gd name="T65" fmla="*/ 222 h 238"/>
              <a:gd name="T66" fmla="*/ 5 w 444"/>
              <a:gd name="T67" fmla="*/ 218 h 238"/>
              <a:gd name="T68" fmla="*/ 4 w 444"/>
              <a:gd name="T69" fmla="*/ 215 h 238"/>
              <a:gd name="T70" fmla="*/ 2 w 444"/>
              <a:gd name="T71" fmla="*/ 210 h 238"/>
              <a:gd name="T72" fmla="*/ 0 w 444"/>
              <a:gd name="T73" fmla="*/ 207 h 238"/>
              <a:gd name="T74" fmla="*/ 0 w 444"/>
              <a:gd name="T75" fmla="*/ 215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38">
                <a:moveTo>
                  <a:pt x="444" y="23"/>
                </a:moveTo>
                <a:lnTo>
                  <a:pt x="443" y="21"/>
                </a:lnTo>
                <a:lnTo>
                  <a:pt x="441" y="18"/>
                </a:lnTo>
                <a:lnTo>
                  <a:pt x="439" y="15"/>
                </a:lnTo>
                <a:lnTo>
                  <a:pt x="438" y="11"/>
                </a:lnTo>
                <a:lnTo>
                  <a:pt x="436" y="8"/>
                </a:lnTo>
                <a:lnTo>
                  <a:pt x="434" y="5"/>
                </a:lnTo>
                <a:lnTo>
                  <a:pt x="433" y="3"/>
                </a:lnTo>
                <a:lnTo>
                  <a:pt x="431" y="0"/>
                </a:lnTo>
                <a:lnTo>
                  <a:pt x="429" y="1"/>
                </a:lnTo>
                <a:lnTo>
                  <a:pt x="431" y="5"/>
                </a:lnTo>
                <a:lnTo>
                  <a:pt x="433" y="8"/>
                </a:lnTo>
                <a:lnTo>
                  <a:pt x="434" y="13"/>
                </a:lnTo>
                <a:lnTo>
                  <a:pt x="438" y="16"/>
                </a:lnTo>
                <a:lnTo>
                  <a:pt x="439" y="20"/>
                </a:lnTo>
                <a:lnTo>
                  <a:pt x="441" y="25"/>
                </a:lnTo>
                <a:lnTo>
                  <a:pt x="443" y="28"/>
                </a:lnTo>
                <a:lnTo>
                  <a:pt x="444" y="33"/>
                </a:lnTo>
                <a:lnTo>
                  <a:pt x="444" y="23"/>
                </a:lnTo>
                <a:close/>
                <a:moveTo>
                  <a:pt x="0" y="215"/>
                </a:moveTo>
                <a:lnTo>
                  <a:pt x="2" y="218"/>
                </a:lnTo>
                <a:lnTo>
                  <a:pt x="2" y="222"/>
                </a:lnTo>
                <a:lnTo>
                  <a:pt x="4" y="223"/>
                </a:lnTo>
                <a:lnTo>
                  <a:pt x="5" y="227"/>
                </a:lnTo>
                <a:lnTo>
                  <a:pt x="7" y="230"/>
                </a:lnTo>
                <a:lnTo>
                  <a:pt x="9" y="233"/>
                </a:lnTo>
                <a:lnTo>
                  <a:pt x="10" y="237"/>
                </a:lnTo>
                <a:lnTo>
                  <a:pt x="12" y="238"/>
                </a:lnTo>
                <a:lnTo>
                  <a:pt x="15" y="238"/>
                </a:lnTo>
                <a:lnTo>
                  <a:pt x="14" y="233"/>
                </a:lnTo>
                <a:lnTo>
                  <a:pt x="10" y="230"/>
                </a:lnTo>
                <a:lnTo>
                  <a:pt x="9" y="227"/>
                </a:lnTo>
                <a:lnTo>
                  <a:pt x="7" y="222"/>
                </a:lnTo>
                <a:lnTo>
                  <a:pt x="5" y="218"/>
                </a:lnTo>
                <a:lnTo>
                  <a:pt x="4" y="215"/>
                </a:lnTo>
                <a:lnTo>
                  <a:pt x="2" y="210"/>
                </a:lnTo>
                <a:lnTo>
                  <a:pt x="0" y="207"/>
                </a:lnTo>
                <a:lnTo>
                  <a:pt x="0" y="215"/>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62" name="Freeform 1867">
            <a:extLst>
              <a:ext uri="{FF2B5EF4-FFF2-40B4-BE49-F238E27FC236}">
                <a16:creationId xmlns:a16="http://schemas.microsoft.com/office/drawing/2014/main" id="{04B8117C-FD9E-599B-DC4F-469D08D26D8D}"/>
              </a:ext>
            </a:extLst>
          </p:cNvPr>
          <p:cNvSpPr>
            <a:spLocks noEditPoints="1"/>
          </p:cNvSpPr>
          <p:nvPr/>
        </p:nvSpPr>
        <p:spPr bwMode="auto">
          <a:xfrm>
            <a:off x="3167063" y="2411413"/>
            <a:ext cx="704850" cy="377825"/>
          </a:xfrm>
          <a:custGeom>
            <a:avLst/>
            <a:gdLst>
              <a:gd name="T0" fmla="*/ 444 w 444"/>
              <a:gd name="T1" fmla="*/ 28 h 238"/>
              <a:gd name="T2" fmla="*/ 443 w 444"/>
              <a:gd name="T3" fmla="*/ 25 h 238"/>
              <a:gd name="T4" fmla="*/ 441 w 444"/>
              <a:gd name="T5" fmla="*/ 21 h 238"/>
              <a:gd name="T6" fmla="*/ 439 w 444"/>
              <a:gd name="T7" fmla="*/ 18 h 238"/>
              <a:gd name="T8" fmla="*/ 438 w 444"/>
              <a:gd name="T9" fmla="*/ 13 h 238"/>
              <a:gd name="T10" fmla="*/ 436 w 444"/>
              <a:gd name="T11" fmla="*/ 10 h 238"/>
              <a:gd name="T12" fmla="*/ 434 w 444"/>
              <a:gd name="T13" fmla="*/ 6 h 238"/>
              <a:gd name="T14" fmla="*/ 433 w 444"/>
              <a:gd name="T15" fmla="*/ 3 h 238"/>
              <a:gd name="T16" fmla="*/ 431 w 444"/>
              <a:gd name="T17" fmla="*/ 0 h 238"/>
              <a:gd name="T18" fmla="*/ 428 w 444"/>
              <a:gd name="T19" fmla="*/ 1 h 238"/>
              <a:gd name="T20" fmla="*/ 429 w 444"/>
              <a:gd name="T21" fmla="*/ 6 h 238"/>
              <a:gd name="T22" fmla="*/ 433 w 444"/>
              <a:gd name="T23" fmla="*/ 10 h 238"/>
              <a:gd name="T24" fmla="*/ 434 w 444"/>
              <a:gd name="T25" fmla="*/ 15 h 238"/>
              <a:gd name="T26" fmla="*/ 436 w 444"/>
              <a:gd name="T27" fmla="*/ 20 h 238"/>
              <a:gd name="T28" fmla="*/ 438 w 444"/>
              <a:gd name="T29" fmla="*/ 23 h 238"/>
              <a:gd name="T30" fmla="*/ 441 w 444"/>
              <a:gd name="T31" fmla="*/ 28 h 238"/>
              <a:gd name="T32" fmla="*/ 443 w 444"/>
              <a:gd name="T33" fmla="*/ 33 h 238"/>
              <a:gd name="T34" fmla="*/ 444 w 444"/>
              <a:gd name="T35" fmla="*/ 38 h 238"/>
              <a:gd name="T36" fmla="*/ 444 w 444"/>
              <a:gd name="T37" fmla="*/ 28 h 238"/>
              <a:gd name="T38" fmla="*/ 0 w 444"/>
              <a:gd name="T39" fmla="*/ 210 h 238"/>
              <a:gd name="T40" fmla="*/ 2 w 444"/>
              <a:gd name="T41" fmla="*/ 213 h 238"/>
              <a:gd name="T42" fmla="*/ 4 w 444"/>
              <a:gd name="T43" fmla="*/ 218 h 238"/>
              <a:gd name="T44" fmla="*/ 5 w 444"/>
              <a:gd name="T45" fmla="*/ 222 h 238"/>
              <a:gd name="T46" fmla="*/ 7 w 444"/>
              <a:gd name="T47" fmla="*/ 225 h 238"/>
              <a:gd name="T48" fmla="*/ 9 w 444"/>
              <a:gd name="T49" fmla="*/ 228 h 238"/>
              <a:gd name="T50" fmla="*/ 10 w 444"/>
              <a:gd name="T51" fmla="*/ 232 h 238"/>
              <a:gd name="T52" fmla="*/ 12 w 444"/>
              <a:gd name="T53" fmla="*/ 235 h 238"/>
              <a:gd name="T54" fmla="*/ 14 w 444"/>
              <a:gd name="T55" fmla="*/ 238 h 238"/>
              <a:gd name="T56" fmla="*/ 17 w 444"/>
              <a:gd name="T57" fmla="*/ 237 h 238"/>
              <a:gd name="T58" fmla="*/ 14 w 444"/>
              <a:gd name="T59" fmla="*/ 233 h 238"/>
              <a:gd name="T60" fmla="*/ 12 w 444"/>
              <a:gd name="T61" fmla="*/ 228 h 238"/>
              <a:gd name="T62" fmla="*/ 10 w 444"/>
              <a:gd name="T63" fmla="*/ 223 h 238"/>
              <a:gd name="T64" fmla="*/ 7 w 444"/>
              <a:gd name="T65" fmla="*/ 220 h 238"/>
              <a:gd name="T66" fmla="*/ 5 w 444"/>
              <a:gd name="T67" fmla="*/ 215 h 238"/>
              <a:gd name="T68" fmla="*/ 4 w 444"/>
              <a:gd name="T69" fmla="*/ 210 h 238"/>
              <a:gd name="T70" fmla="*/ 2 w 444"/>
              <a:gd name="T71" fmla="*/ 207 h 238"/>
              <a:gd name="T72" fmla="*/ 0 w 444"/>
              <a:gd name="T73" fmla="*/ 202 h 238"/>
              <a:gd name="T74" fmla="*/ 0 w 444"/>
              <a:gd name="T75" fmla="*/ 210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38">
                <a:moveTo>
                  <a:pt x="444" y="28"/>
                </a:moveTo>
                <a:lnTo>
                  <a:pt x="443" y="25"/>
                </a:lnTo>
                <a:lnTo>
                  <a:pt x="441" y="21"/>
                </a:lnTo>
                <a:lnTo>
                  <a:pt x="439" y="18"/>
                </a:lnTo>
                <a:lnTo>
                  <a:pt x="438" y="13"/>
                </a:lnTo>
                <a:lnTo>
                  <a:pt x="436" y="10"/>
                </a:lnTo>
                <a:lnTo>
                  <a:pt x="434" y="6"/>
                </a:lnTo>
                <a:lnTo>
                  <a:pt x="433" y="3"/>
                </a:lnTo>
                <a:lnTo>
                  <a:pt x="431" y="0"/>
                </a:lnTo>
                <a:lnTo>
                  <a:pt x="428" y="1"/>
                </a:lnTo>
                <a:lnTo>
                  <a:pt x="429" y="6"/>
                </a:lnTo>
                <a:lnTo>
                  <a:pt x="433" y="10"/>
                </a:lnTo>
                <a:lnTo>
                  <a:pt x="434" y="15"/>
                </a:lnTo>
                <a:lnTo>
                  <a:pt x="436" y="20"/>
                </a:lnTo>
                <a:lnTo>
                  <a:pt x="438" y="23"/>
                </a:lnTo>
                <a:lnTo>
                  <a:pt x="441" y="28"/>
                </a:lnTo>
                <a:lnTo>
                  <a:pt x="443" y="33"/>
                </a:lnTo>
                <a:lnTo>
                  <a:pt x="444" y="38"/>
                </a:lnTo>
                <a:lnTo>
                  <a:pt x="444" y="28"/>
                </a:lnTo>
                <a:close/>
                <a:moveTo>
                  <a:pt x="0" y="210"/>
                </a:moveTo>
                <a:lnTo>
                  <a:pt x="2" y="213"/>
                </a:lnTo>
                <a:lnTo>
                  <a:pt x="4" y="218"/>
                </a:lnTo>
                <a:lnTo>
                  <a:pt x="5" y="222"/>
                </a:lnTo>
                <a:lnTo>
                  <a:pt x="7" y="225"/>
                </a:lnTo>
                <a:lnTo>
                  <a:pt x="9" y="228"/>
                </a:lnTo>
                <a:lnTo>
                  <a:pt x="10" y="232"/>
                </a:lnTo>
                <a:lnTo>
                  <a:pt x="12" y="235"/>
                </a:lnTo>
                <a:lnTo>
                  <a:pt x="14" y="238"/>
                </a:lnTo>
                <a:lnTo>
                  <a:pt x="17" y="237"/>
                </a:lnTo>
                <a:lnTo>
                  <a:pt x="14" y="233"/>
                </a:lnTo>
                <a:lnTo>
                  <a:pt x="12" y="228"/>
                </a:lnTo>
                <a:lnTo>
                  <a:pt x="10" y="223"/>
                </a:lnTo>
                <a:lnTo>
                  <a:pt x="7" y="220"/>
                </a:lnTo>
                <a:lnTo>
                  <a:pt x="5" y="215"/>
                </a:lnTo>
                <a:lnTo>
                  <a:pt x="4" y="210"/>
                </a:lnTo>
                <a:lnTo>
                  <a:pt x="2" y="207"/>
                </a:lnTo>
                <a:lnTo>
                  <a:pt x="0" y="202"/>
                </a:lnTo>
                <a:lnTo>
                  <a:pt x="0" y="21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63" name="Freeform 1868">
            <a:extLst>
              <a:ext uri="{FF2B5EF4-FFF2-40B4-BE49-F238E27FC236}">
                <a16:creationId xmlns:a16="http://schemas.microsoft.com/office/drawing/2014/main" id="{223D512D-6D6D-7B75-72DA-9004086489A3}"/>
              </a:ext>
            </a:extLst>
          </p:cNvPr>
          <p:cNvSpPr>
            <a:spLocks noEditPoints="1"/>
          </p:cNvSpPr>
          <p:nvPr/>
        </p:nvSpPr>
        <p:spPr bwMode="auto">
          <a:xfrm>
            <a:off x="3167063" y="2413000"/>
            <a:ext cx="704850" cy="376238"/>
          </a:xfrm>
          <a:custGeom>
            <a:avLst/>
            <a:gdLst>
              <a:gd name="T0" fmla="*/ 444 w 444"/>
              <a:gd name="T1" fmla="*/ 32 h 237"/>
              <a:gd name="T2" fmla="*/ 443 w 444"/>
              <a:gd name="T3" fmla="*/ 27 h 237"/>
              <a:gd name="T4" fmla="*/ 441 w 444"/>
              <a:gd name="T5" fmla="*/ 24 h 237"/>
              <a:gd name="T6" fmla="*/ 439 w 444"/>
              <a:gd name="T7" fmla="*/ 19 h 237"/>
              <a:gd name="T8" fmla="*/ 438 w 444"/>
              <a:gd name="T9" fmla="*/ 15 h 237"/>
              <a:gd name="T10" fmla="*/ 434 w 444"/>
              <a:gd name="T11" fmla="*/ 12 h 237"/>
              <a:gd name="T12" fmla="*/ 433 w 444"/>
              <a:gd name="T13" fmla="*/ 7 h 237"/>
              <a:gd name="T14" fmla="*/ 431 w 444"/>
              <a:gd name="T15" fmla="*/ 4 h 237"/>
              <a:gd name="T16" fmla="*/ 429 w 444"/>
              <a:gd name="T17" fmla="*/ 0 h 237"/>
              <a:gd name="T18" fmla="*/ 426 w 444"/>
              <a:gd name="T19" fmla="*/ 2 h 237"/>
              <a:gd name="T20" fmla="*/ 428 w 444"/>
              <a:gd name="T21" fmla="*/ 5 h 237"/>
              <a:gd name="T22" fmla="*/ 431 w 444"/>
              <a:gd name="T23" fmla="*/ 10 h 237"/>
              <a:gd name="T24" fmla="*/ 433 w 444"/>
              <a:gd name="T25" fmla="*/ 15 h 237"/>
              <a:gd name="T26" fmla="*/ 436 w 444"/>
              <a:gd name="T27" fmla="*/ 20 h 237"/>
              <a:gd name="T28" fmla="*/ 438 w 444"/>
              <a:gd name="T29" fmla="*/ 25 h 237"/>
              <a:gd name="T30" fmla="*/ 439 w 444"/>
              <a:gd name="T31" fmla="*/ 30 h 237"/>
              <a:gd name="T32" fmla="*/ 443 w 444"/>
              <a:gd name="T33" fmla="*/ 35 h 237"/>
              <a:gd name="T34" fmla="*/ 444 w 444"/>
              <a:gd name="T35" fmla="*/ 40 h 237"/>
              <a:gd name="T36" fmla="*/ 444 w 444"/>
              <a:gd name="T37" fmla="*/ 32 h 237"/>
              <a:gd name="T38" fmla="*/ 0 w 444"/>
              <a:gd name="T39" fmla="*/ 206 h 237"/>
              <a:gd name="T40" fmla="*/ 2 w 444"/>
              <a:gd name="T41" fmla="*/ 209 h 237"/>
              <a:gd name="T42" fmla="*/ 4 w 444"/>
              <a:gd name="T43" fmla="*/ 214 h 237"/>
              <a:gd name="T44" fmla="*/ 5 w 444"/>
              <a:gd name="T45" fmla="*/ 217 h 237"/>
              <a:gd name="T46" fmla="*/ 7 w 444"/>
              <a:gd name="T47" fmla="*/ 221 h 237"/>
              <a:gd name="T48" fmla="*/ 9 w 444"/>
              <a:gd name="T49" fmla="*/ 226 h 237"/>
              <a:gd name="T50" fmla="*/ 10 w 444"/>
              <a:gd name="T51" fmla="*/ 229 h 237"/>
              <a:gd name="T52" fmla="*/ 14 w 444"/>
              <a:gd name="T53" fmla="*/ 232 h 237"/>
              <a:gd name="T54" fmla="*/ 15 w 444"/>
              <a:gd name="T55" fmla="*/ 237 h 237"/>
              <a:gd name="T56" fmla="*/ 19 w 444"/>
              <a:gd name="T57" fmla="*/ 236 h 237"/>
              <a:gd name="T58" fmla="*/ 15 w 444"/>
              <a:gd name="T59" fmla="*/ 231 h 237"/>
              <a:gd name="T60" fmla="*/ 14 w 444"/>
              <a:gd name="T61" fmla="*/ 226 h 237"/>
              <a:gd name="T62" fmla="*/ 10 w 444"/>
              <a:gd name="T63" fmla="*/ 221 h 237"/>
              <a:gd name="T64" fmla="*/ 9 w 444"/>
              <a:gd name="T65" fmla="*/ 216 h 237"/>
              <a:gd name="T66" fmla="*/ 5 w 444"/>
              <a:gd name="T67" fmla="*/ 211 h 237"/>
              <a:gd name="T68" fmla="*/ 4 w 444"/>
              <a:gd name="T69" fmla="*/ 206 h 237"/>
              <a:gd name="T70" fmla="*/ 2 w 444"/>
              <a:gd name="T71" fmla="*/ 201 h 237"/>
              <a:gd name="T72" fmla="*/ 0 w 444"/>
              <a:gd name="T73" fmla="*/ 196 h 237"/>
              <a:gd name="T74" fmla="*/ 0 w 444"/>
              <a:gd name="T75" fmla="*/ 206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37">
                <a:moveTo>
                  <a:pt x="444" y="32"/>
                </a:moveTo>
                <a:lnTo>
                  <a:pt x="443" y="27"/>
                </a:lnTo>
                <a:lnTo>
                  <a:pt x="441" y="24"/>
                </a:lnTo>
                <a:lnTo>
                  <a:pt x="439" y="19"/>
                </a:lnTo>
                <a:lnTo>
                  <a:pt x="438" y="15"/>
                </a:lnTo>
                <a:lnTo>
                  <a:pt x="434" y="12"/>
                </a:lnTo>
                <a:lnTo>
                  <a:pt x="433" y="7"/>
                </a:lnTo>
                <a:lnTo>
                  <a:pt x="431" y="4"/>
                </a:lnTo>
                <a:lnTo>
                  <a:pt x="429" y="0"/>
                </a:lnTo>
                <a:lnTo>
                  <a:pt x="426" y="2"/>
                </a:lnTo>
                <a:lnTo>
                  <a:pt x="428" y="5"/>
                </a:lnTo>
                <a:lnTo>
                  <a:pt x="431" y="10"/>
                </a:lnTo>
                <a:lnTo>
                  <a:pt x="433" y="15"/>
                </a:lnTo>
                <a:lnTo>
                  <a:pt x="436" y="20"/>
                </a:lnTo>
                <a:lnTo>
                  <a:pt x="438" y="25"/>
                </a:lnTo>
                <a:lnTo>
                  <a:pt x="439" y="30"/>
                </a:lnTo>
                <a:lnTo>
                  <a:pt x="443" y="35"/>
                </a:lnTo>
                <a:lnTo>
                  <a:pt x="444" y="40"/>
                </a:lnTo>
                <a:lnTo>
                  <a:pt x="444" y="32"/>
                </a:lnTo>
                <a:close/>
                <a:moveTo>
                  <a:pt x="0" y="206"/>
                </a:moveTo>
                <a:lnTo>
                  <a:pt x="2" y="209"/>
                </a:lnTo>
                <a:lnTo>
                  <a:pt x="4" y="214"/>
                </a:lnTo>
                <a:lnTo>
                  <a:pt x="5" y="217"/>
                </a:lnTo>
                <a:lnTo>
                  <a:pt x="7" y="221"/>
                </a:lnTo>
                <a:lnTo>
                  <a:pt x="9" y="226"/>
                </a:lnTo>
                <a:lnTo>
                  <a:pt x="10" y="229"/>
                </a:lnTo>
                <a:lnTo>
                  <a:pt x="14" y="232"/>
                </a:lnTo>
                <a:lnTo>
                  <a:pt x="15" y="237"/>
                </a:lnTo>
                <a:lnTo>
                  <a:pt x="19" y="236"/>
                </a:lnTo>
                <a:lnTo>
                  <a:pt x="15" y="231"/>
                </a:lnTo>
                <a:lnTo>
                  <a:pt x="14" y="226"/>
                </a:lnTo>
                <a:lnTo>
                  <a:pt x="10" y="221"/>
                </a:lnTo>
                <a:lnTo>
                  <a:pt x="9" y="216"/>
                </a:lnTo>
                <a:lnTo>
                  <a:pt x="5" y="211"/>
                </a:lnTo>
                <a:lnTo>
                  <a:pt x="4" y="206"/>
                </a:lnTo>
                <a:lnTo>
                  <a:pt x="2" y="201"/>
                </a:lnTo>
                <a:lnTo>
                  <a:pt x="0" y="196"/>
                </a:lnTo>
                <a:lnTo>
                  <a:pt x="0" y="206"/>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64" name="Freeform 1869">
            <a:extLst>
              <a:ext uri="{FF2B5EF4-FFF2-40B4-BE49-F238E27FC236}">
                <a16:creationId xmlns:a16="http://schemas.microsoft.com/office/drawing/2014/main" id="{C6A3E3F3-09D3-7834-7F9F-D4C209EEDD22}"/>
              </a:ext>
            </a:extLst>
          </p:cNvPr>
          <p:cNvSpPr>
            <a:spLocks noEditPoints="1"/>
          </p:cNvSpPr>
          <p:nvPr/>
        </p:nvSpPr>
        <p:spPr bwMode="auto">
          <a:xfrm>
            <a:off x="3167063" y="2413000"/>
            <a:ext cx="704850" cy="374650"/>
          </a:xfrm>
          <a:custGeom>
            <a:avLst/>
            <a:gdLst>
              <a:gd name="T0" fmla="*/ 444 w 444"/>
              <a:gd name="T1" fmla="*/ 37 h 236"/>
              <a:gd name="T2" fmla="*/ 443 w 444"/>
              <a:gd name="T3" fmla="*/ 32 h 236"/>
              <a:gd name="T4" fmla="*/ 441 w 444"/>
              <a:gd name="T5" fmla="*/ 27 h 236"/>
              <a:gd name="T6" fmla="*/ 438 w 444"/>
              <a:gd name="T7" fmla="*/ 22 h 236"/>
              <a:gd name="T8" fmla="*/ 436 w 444"/>
              <a:gd name="T9" fmla="*/ 19 h 236"/>
              <a:gd name="T10" fmla="*/ 434 w 444"/>
              <a:gd name="T11" fmla="*/ 14 h 236"/>
              <a:gd name="T12" fmla="*/ 433 w 444"/>
              <a:gd name="T13" fmla="*/ 9 h 236"/>
              <a:gd name="T14" fmla="*/ 429 w 444"/>
              <a:gd name="T15" fmla="*/ 5 h 236"/>
              <a:gd name="T16" fmla="*/ 428 w 444"/>
              <a:gd name="T17" fmla="*/ 0 h 236"/>
              <a:gd name="T18" fmla="*/ 424 w 444"/>
              <a:gd name="T19" fmla="*/ 2 h 236"/>
              <a:gd name="T20" fmla="*/ 428 w 444"/>
              <a:gd name="T21" fmla="*/ 7 h 236"/>
              <a:gd name="T22" fmla="*/ 429 w 444"/>
              <a:gd name="T23" fmla="*/ 12 h 236"/>
              <a:gd name="T24" fmla="*/ 433 w 444"/>
              <a:gd name="T25" fmla="*/ 17 h 236"/>
              <a:gd name="T26" fmla="*/ 434 w 444"/>
              <a:gd name="T27" fmla="*/ 22 h 236"/>
              <a:gd name="T28" fmla="*/ 438 w 444"/>
              <a:gd name="T29" fmla="*/ 29 h 236"/>
              <a:gd name="T30" fmla="*/ 439 w 444"/>
              <a:gd name="T31" fmla="*/ 34 h 236"/>
              <a:gd name="T32" fmla="*/ 441 w 444"/>
              <a:gd name="T33" fmla="*/ 39 h 236"/>
              <a:gd name="T34" fmla="*/ 443 w 444"/>
              <a:gd name="T35" fmla="*/ 45 h 236"/>
              <a:gd name="T36" fmla="*/ 444 w 444"/>
              <a:gd name="T37" fmla="*/ 44 h 236"/>
              <a:gd name="T38" fmla="*/ 444 w 444"/>
              <a:gd name="T39" fmla="*/ 37 h 236"/>
              <a:gd name="T40" fmla="*/ 0 w 444"/>
              <a:gd name="T41" fmla="*/ 201 h 236"/>
              <a:gd name="T42" fmla="*/ 2 w 444"/>
              <a:gd name="T43" fmla="*/ 206 h 236"/>
              <a:gd name="T44" fmla="*/ 4 w 444"/>
              <a:gd name="T45" fmla="*/ 209 h 236"/>
              <a:gd name="T46" fmla="*/ 5 w 444"/>
              <a:gd name="T47" fmla="*/ 214 h 236"/>
              <a:gd name="T48" fmla="*/ 7 w 444"/>
              <a:gd name="T49" fmla="*/ 219 h 236"/>
              <a:gd name="T50" fmla="*/ 10 w 444"/>
              <a:gd name="T51" fmla="*/ 222 h 236"/>
              <a:gd name="T52" fmla="*/ 12 w 444"/>
              <a:gd name="T53" fmla="*/ 227 h 236"/>
              <a:gd name="T54" fmla="*/ 14 w 444"/>
              <a:gd name="T55" fmla="*/ 232 h 236"/>
              <a:gd name="T56" fmla="*/ 17 w 444"/>
              <a:gd name="T57" fmla="*/ 236 h 236"/>
              <a:gd name="T58" fmla="*/ 20 w 444"/>
              <a:gd name="T59" fmla="*/ 234 h 236"/>
              <a:gd name="T60" fmla="*/ 17 w 444"/>
              <a:gd name="T61" fmla="*/ 231 h 236"/>
              <a:gd name="T62" fmla="*/ 14 w 444"/>
              <a:gd name="T63" fmla="*/ 226 h 236"/>
              <a:gd name="T64" fmla="*/ 12 w 444"/>
              <a:gd name="T65" fmla="*/ 221 h 236"/>
              <a:gd name="T66" fmla="*/ 9 w 444"/>
              <a:gd name="T67" fmla="*/ 216 h 236"/>
              <a:gd name="T68" fmla="*/ 7 w 444"/>
              <a:gd name="T69" fmla="*/ 211 h 236"/>
              <a:gd name="T70" fmla="*/ 5 w 444"/>
              <a:gd name="T71" fmla="*/ 204 h 236"/>
              <a:gd name="T72" fmla="*/ 4 w 444"/>
              <a:gd name="T73" fmla="*/ 199 h 236"/>
              <a:gd name="T74" fmla="*/ 0 w 444"/>
              <a:gd name="T75" fmla="*/ 194 h 236"/>
              <a:gd name="T76" fmla="*/ 0 w 444"/>
              <a:gd name="T77" fmla="*/ 201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4" h="236">
                <a:moveTo>
                  <a:pt x="444" y="37"/>
                </a:moveTo>
                <a:lnTo>
                  <a:pt x="443" y="32"/>
                </a:lnTo>
                <a:lnTo>
                  <a:pt x="441" y="27"/>
                </a:lnTo>
                <a:lnTo>
                  <a:pt x="438" y="22"/>
                </a:lnTo>
                <a:lnTo>
                  <a:pt x="436" y="19"/>
                </a:lnTo>
                <a:lnTo>
                  <a:pt x="434" y="14"/>
                </a:lnTo>
                <a:lnTo>
                  <a:pt x="433" y="9"/>
                </a:lnTo>
                <a:lnTo>
                  <a:pt x="429" y="5"/>
                </a:lnTo>
                <a:lnTo>
                  <a:pt x="428" y="0"/>
                </a:lnTo>
                <a:lnTo>
                  <a:pt x="424" y="2"/>
                </a:lnTo>
                <a:lnTo>
                  <a:pt x="428" y="7"/>
                </a:lnTo>
                <a:lnTo>
                  <a:pt x="429" y="12"/>
                </a:lnTo>
                <a:lnTo>
                  <a:pt x="433" y="17"/>
                </a:lnTo>
                <a:lnTo>
                  <a:pt x="434" y="22"/>
                </a:lnTo>
                <a:lnTo>
                  <a:pt x="438" y="29"/>
                </a:lnTo>
                <a:lnTo>
                  <a:pt x="439" y="34"/>
                </a:lnTo>
                <a:lnTo>
                  <a:pt x="441" y="39"/>
                </a:lnTo>
                <a:lnTo>
                  <a:pt x="443" y="45"/>
                </a:lnTo>
                <a:lnTo>
                  <a:pt x="444" y="44"/>
                </a:lnTo>
                <a:lnTo>
                  <a:pt x="444" y="37"/>
                </a:lnTo>
                <a:close/>
                <a:moveTo>
                  <a:pt x="0" y="201"/>
                </a:moveTo>
                <a:lnTo>
                  <a:pt x="2" y="206"/>
                </a:lnTo>
                <a:lnTo>
                  <a:pt x="4" y="209"/>
                </a:lnTo>
                <a:lnTo>
                  <a:pt x="5" y="214"/>
                </a:lnTo>
                <a:lnTo>
                  <a:pt x="7" y="219"/>
                </a:lnTo>
                <a:lnTo>
                  <a:pt x="10" y="222"/>
                </a:lnTo>
                <a:lnTo>
                  <a:pt x="12" y="227"/>
                </a:lnTo>
                <a:lnTo>
                  <a:pt x="14" y="232"/>
                </a:lnTo>
                <a:lnTo>
                  <a:pt x="17" y="236"/>
                </a:lnTo>
                <a:lnTo>
                  <a:pt x="20" y="234"/>
                </a:lnTo>
                <a:lnTo>
                  <a:pt x="17" y="231"/>
                </a:lnTo>
                <a:lnTo>
                  <a:pt x="14" y="226"/>
                </a:lnTo>
                <a:lnTo>
                  <a:pt x="12" y="221"/>
                </a:lnTo>
                <a:lnTo>
                  <a:pt x="9" y="216"/>
                </a:lnTo>
                <a:lnTo>
                  <a:pt x="7" y="211"/>
                </a:lnTo>
                <a:lnTo>
                  <a:pt x="5" y="204"/>
                </a:lnTo>
                <a:lnTo>
                  <a:pt x="4" y="199"/>
                </a:lnTo>
                <a:lnTo>
                  <a:pt x="0" y="194"/>
                </a:lnTo>
                <a:lnTo>
                  <a:pt x="0" y="201"/>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65" name="Freeform 1870">
            <a:extLst>
              <a:ext uri="{FF2B5EF4-FFF2-40B4-BE49-F238E27FC236}">
                <a16:creationId xmlns:a16="http://schemas.microsoft.com/office/drawing/2014/main" id="{BE4584E5-B8C6-4C3F-4231-8DB76C29C503}"/>
              </a:ext>
            </a:extLst>
          </p:cNvPr>
          <p:cNvSpPr>
            <a:spLocks noEditPoints="1"/>
          </p:cNvSpPr>
          <p:nvPr/>
        </p:nvSpPr>
        <p:spPr bwMode="auto">
          <a:xfrm>
            <a:off x="3167063" y="2416175"/>
            <a:ext cx="704850" cy="371475"/>
          </a:xfrm>
          <a:custGeom>
            <a:avLst/>
            <a:gdLst>
              <a:gd name="T0" fmla="*/ 444 w 444"/>
              <a:gd name="T1" fmla="*/ 38 h 234"/>
              <a:gd name="T2" fmla="*/ 443 w 444"/>
              <a:gd name="T3" fmla="*/ 33 h 234"/>
              <a:gd name="T4" fmla="*/ 439 w 444"/>
              <a:gd name="T5" fmla="*/ 28 h 234"/>
              <a:gd name="T6" fmla="*/ 438 w 444"/>
              <a:gd name="T7" fmla="*/ 23 h 234"/>
              <a:gd name="T8" fmla="*/ 436 w 444"/>
              <a:gd name="T9" fmla="*/ 18 h 234"/>
              <a:gd name="T10" fmla="*/ 433 w 444"/>
              <a:gd name="T11" fmla="*/ 13 h 234"/>
              <a:gd name="T12" fmla="*/ 431 w 444"/>
              <a:gd name="T13" fmla="*/ 8 h 234"/>
              <a:gd name="T14" fmla="*/ 428 w 444"/>
              <a:gd name="T15" fmla="*/ 3 h 234"/>
              <a:gd name="T16" fmla="*/ 426 w 444"/>
              <a:gd name="T17" fmla="*/ 0 h 234"/>
              <a:gd name="T18" fmla="*/ 423 w 444"/>
              <a:gd name="T19" fmla="*/ 0 h 234"/>
              <a:gd name="T20" fmla="*/ 426 w 444"/>
              <a:gd name="T21" fmla="*/ 5 h 234"/>
              <a:gd name="T22" fmla="*/ 428 w 444"/>
              <a:gd name="T23" fmla="*/ 12 h 234"/>
              <a:gd name="T24" fmla="*/ 431 w 444"/>
              <a:gd name="T25" fmla="*/ 17 h 234"/>
              <a:gd name="T26" fmla="*/ 433 w 444"/>
              <a:gd name="T27" fmla="*/ 22 h 234"/>
              <a:gd name="T28" fmla="*/ 436 w 444"/>
              <a:gd name="T29" fmla="*/ 27 h 234"/>
              <a:gd name="T30" fmla="*/ 438 w 444"/>
              <a:gd name="T31" fmla="*/ 32 h 234"/>
              <a:gd name="T32" fmla="*/ 439 w 444"/>
              <a:gd name="T33" fmla="*/ 38 h 234"/>
              <a:gd name="T34" fmla="*/ 441 w 444"/>
              <a:gd name="T35" fmla="*/ 43 h 234"/>
              <a:gd name="T36" fmla="*/ 444 w 444"/>
              <a:gd name="T37" fmla="*/ 42 h 234"/>
              <a:gd name="T38" fmla="*/ 444 w 444"/>
              <a:gd name="T39" fmla="*/ 38 h 234"/>
              <a:gd name="T40" fmla="*/ 0 w 444"/>
              <a:gd name="T41" fmla="*/ 194 h 234"/>
              <a:gd name="T42" fmla="*/ 2 w 444"/>
              <a:gd name="T43" fmla="*/ 199 h 234"/>
              <a:gd name="T44" fmla="*/ 4 w 444"/>
              <a:gd name="T45" fmla="*/ 204 h 234"/>
              <a:gd name="T46" fmla="*/ 5 w 444"/>
              <a:gd name="T47" fmla="*/ 209 h 234"/>
              <a:gd name="T48" fmla="*/ 9 w 444"/>
              <a:gd name="T49" fmla="*/ 214 h 234"/>
              <a:gd name="T50" fmla="*/ 10 w 444"/>
              <a:gd name="T51" fmla="*/ 219 h 234"/>
              <a:gd name="T52" fmla="*/ 14 w 444"/>
              <a:gd name="T53" fmla="*/ 224 h 234"/>
              <a:gd name="T54" fmla="*/ 15 w 444"/>
              <a:gd name="T55" fmla="*/ 229 h 234"/>
              <a:gd name="T56" fmla="*/ 19 w 444"/>
              <a:gd name="T57" fmla="*/ 234 h 234"/>
              <a:gd name="T58" fmla="*/ 20 w 444"/>
              <a:gd name="T59" fmla="*/ 232 h 234"/>
              <a:gd name="T60" fmla="*/ 19 w 444"/>
              <a:gd name="T61" fmla="*/ 227 h 234"/>
              <a:gd name="T62" fmla="*/ 15 w 444"/>
              <a:gd name="T63" fmla="*/ 222 h 234"/>
              <a:gd name="T64" fmla="*/ 14 w 444"/>
              <a:gd name="T65" fmla="*/ 217 h 234"/>
              <a:gd name="T66" fmla="*/ 10 w 444"/>
              <a:gd name="T67" fmla="*/ 212 h 234"/>
              <a:gd name="T68" fmla="*/ 9 w 444"/>
              <a:gd name="T69" fmla="*/ 207 h 234"/>
              <a:gd name="T70" fmla="*/ 7 w 444"/>
              <a:gd name="T71" fmla="*/ 202 h 234"/>
              <a:gd name="T72" fmla="*/ 5 w 444"/>
              <a:gd name="T73" fmla="*/ 197 h 234"/>
              <a:gd name="T74" fmla="*/ 2 w 444"/>
              <a:gd name="T75" fmla="*/ 192 h 234"/>
              <a:gd name="T76" fmla="*/ 0 w 444"/>
              <a:gd name="T77" fmla="*/ 192 h 234"/>
              <a:gd name="T78" fmla="*/ 0 w 444"/>
              <a:gd name="T79" fmla="*/ 194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44" h="234">
                <a:moveTo>
                  <a:pt x="444" y="38"/>
                </a:moveTo>
                <a:lnTo>
                  <a:pt x="443" y="33"/>
                </a:lnTo>
                <a:lnTo>
                  <a:pt x="439" y="28"/>
                </a:lnTo>
                <a:lnTo>
                  <a:pt x="438" y="23"/>
                </a:lnTo>
                <a:lnTo>
                  <a:pt x="436" y="18"/>
                </a:lnTo>
                <a:lnTo>
                  <a:pt x="433" y="13"/>
                </a:lnTo>
                <a:lnTo>
                  <a:pt x="431" y="8"/>
                </a:lnTo>
                <a:lnTo>
                  <a:pt x="428" y="3"/>
                </a:lnTo>
                <a:lnTo>
                  <a:pt x="426" y="0"/>
                </a:lnTo>
                <a:lnTo>
                  <a:pt x="423" y="0"/>
                </a:lnTo>
                <a:lnTo>
                  <a:pt x="426" y="5"/>
                </a:lnTo>
                <a:lnTo>
                  <a:pt x="428" y="12"/>
                </a:lnTo>
                <a:lnTo>
                  <a:pt x="431" y="17"/>
                </a:lnTo>
                <a:lnTo>
                  <a:pt x="433" y="22"/>
                </a:lnTo>
                <a:lnTo>
                  <a:pt x="436" y="27"/>
                </a:lnTo>
                <a:lnTo>
                  <a:pt x="438" y="32"/>
                </a:lnTo>
                <a:lnTo>
                  <a:pt x="439" y="38"/>
                </a:lnTo>
                <a:lnTo>
                  <a:pt x="441" y="43"/>
                </a:lnTo>
                <a:lnTo>
                  <a:pt x="444" y="42"/>
                </a:lnTo>
                <a:lnTo>
                  <a:pt x="444" y="38"/>
                </a:lnTo>
                <a:close/>
                <a:moveTo>
                  <a:pt x="0" y="194"/>
                </a:moveTo>
                <a:lnTo>
                  <a:pt x="2" y="199"/>
                </a:lnTo>
                <a:lnTo>
                  <a:pt x="4" y="204"/>
                </a:lnTo>
                <a:lnTo>
                  <a:pt x="5" y="209"/>
                </a:lnTo>
                <a:lnTo>
                  <a:pt x="9" y="214"/>
                </a:lnTo>
                <a:lnTo>
                  <a:pt x="10" y="219"/>
                </a:lnTo>
                <a:lnTo>
                  <a:pt x="14" y="224"/>
                </a:lnTo>
                <a:lnTo>
                  <a:pt x="15" y="229"/>
                </a:lnTo>
                <a:lnTo>
                  <a:pt x="19" y="234"/>
                </a:lnTo>
                <a:lnTo>
                  <a:pt x="20" y="232"/>
                </a:lnTo>
                <a:lnTo>
                  <a:pt x="19" y="227"/>
                </a:lnTo>
                <a:lnTo>
                  <a:pt x="15" y="222"/>
                </a:lnTo>
                <a:lnTo>
                  <a:pt x="14" y="217"/>
                </a:lnTo>
                <a:lnTo>
                  <a:pt x="10" y="212"/>
                </a:lnTo>
                <a:lnTo>
                  <a:pt x="9" y="207"/>
                </a:lnTo>
                <a:lnTo>
                  <a:pt x="7" y="202"/>
                </a:lnTo>
                <a:lnTo>
                  <a:pt x="5" y="197"/>
                </a:lnTo>
                <a:lnTo>
                  <a:pt x="2" y="192"/>
                </a:lnTo>
                <a:lnTo>
                  <a:pt x="0" y="192"/>
                </a:lnTo>
                <a:lnTo>
                  <a:pt x="0" y="194"/>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66" name="Freeform 1871">
            <a:extLst>
              <a:ext uri="{FF2B5EF4-FFF2-40B4-BE49-F238E27FC236}">
                <a16:creationId xmlns:a16="http://schemas.microsoft.com/office/drawing/2014/main" id="{58F39CC0-AD65-E248-0D09-4247DAAFD8DE}"/>
              </a:ext>
            </a:extLst>
          </p:cNvPr>
          <p:cNvSpPr>
            <a:spLocks noEditPoints="1"/>
          </p:cNvSpPr>
          <p:nvPr/>
        </p:nvSpPr>
        <p:spPr bwMode="auto">
          <a:xfrm>
            <a:off x="3167063" y="2416175"/>
            <a:ext cx="703263" cy="368300"/>
          </a:xfrm>
          <a:custGeom>
            <a:avLst/>
            <a:gdLst>
              <a:gd name="T0" fmla="*/ 443 w 443"/>
              <a:gd name="T1" fmla="*/ 43 h 232"/>
              <a:gd name="T2" fmla="*/ 441 w 443"/>
              <a:gd name="T3" fmla="*/ 37 h 232"/>
              <a:gd name="T4" fmla="*/ 439 w 443"/>
              <a:gd name="T5" fmla="*/ 32 h 232"/>
              <a:gd name="T6" fmla="*/ 438 w 443"/>
              <a:gd name="T7" fmla="*/ 27 h 232"/>
              <a:gd name="T8" fmla="*/ 434 w 443"/>
              <a:gd name="T9" fmla="*/ 20 h 232"/>
              <a:gd name="T10" fmla="*/ 433 w 443"/>
              <a:gd name="T11" fmla="*/ 15 h 232"/>
              <a:gd name="T12" fmla="*/ 429 w 443"/>
              <a:gd name="T13" fmla="*/ 10 h 232"/>
              <a:gd name="T14" fmla="*/ 428 w 443"/>
              <a:gd name="T15" fmla="*/ 5 h 232"/>
              <a:gd name="T16" fmla="*/ 424 w 443"/>
              <a:gd name="T17" fmla="*/ 0 h 232"/>
              <a:gd name="T18" fmla="*/ 421 w 443"/>
              <a:gd name="T19" fmla="*/ 2 h 232"/>
              <a:gd name="T20" fmla="*/ 424 w 443"/>
              <a:gd name="T21" fmla="*/ 7 h 232"/>
              <a:gd name="T22" fmla="*/ 426 w 443"/>
              <a:gd name="T23" fmla="*/ 12 h 232"/>
              <a:gd name="T24" fmla="*/ 429 w 443"/>
              <a:gd name="T25" fmla="*/ 17 h 232"/>
              <a:gd name="T26" fmla="*/ 431 w 443"/>
              <a:gd name="T27" fmla="*/ 22 h 232"/>
              <a:gd name="T28" fmla="*/ 434 w 443"/>
              <a:gd name="T29" fmla="*/ 27 h 232"/>
              <a:gd name="T30" fmla="*/ 436 w 443"/>
              <a:gd name="T31" fmla="*/ 33 h 232"/>
              <a:gd name="T32" fmla="*/ 438 w 443"/>
              <a:gd name="T33" fmla="*/ 38 h 232"/>
              <a:gd name="T34" fmla="*/ 441 w 443"/>
              <a:gd name="T35" fmla="*/ 43 h 232"/>
              <a:gd name="T36" fmla="*/ 443 w 443"/>
              <a:gd name="T37" fmla="*/ 43 h 232"/>
              <a:gd name="T38" fmla="*/ 0 w 443"/>
              <a:gd name="T39" fmla="*/ 192 h 232"/>
              <a:gd name="T40" fmla="*/ 4 w 443"/>
              <a:gd name="T41" fmla="*/ 197 h 232"/>
              <a:gd name="T42" fmla="*/ 5 w 443"/>
              <a:gd name="T43" fmla="*/ 202 h 232"/>
              <a:gd name="T44" fmla="*/ 7 w 443"/>
              <a:gd name="T45" fmla="*/ 209 h 232"/>
              <a:gd name="T46" fmla="*/ 9 w 443"/>
              <a:gd name="T47" fmla="*/ 214 h 232"/>
              <a:gd name="T48" fmla="*/ 12 w 443"/>
              <a:gd name="T49" fmla="*/ 219 h 232"/>
              <a:gd name="T50" fmla="*/ 14 w 443"/>
              <a:gd name="T51" fmla="*/ 224 h 232"/>
              <a:gd name="T52" fmla="*/ 17 w 443"/>
              <a:gd name="T53" fmla="*/ 229 h 232"/>
              <a:gd name="T54" fmla="*/ 20 w 443"/>
              <a:gd name="T55" fmla="*/ 232 h 232"/>
              <a:gd name="T56" fmla="*/ 22 w 443"/>
              <a:gd name="T57" fmla="*/ 232 h 232"/>
              <a:gd name="T58" fmla="*/ 20 w 443"/>
              <a:gd name="T59" fmla="*/ 227 h 232"/>
              <a:gd name="T60" fmla="*/ 17 w 443"/>
              <a:gd name="T61" fmla="*/ 222 h 232"/>
              <a:gd name="T62" fmla="*/ 15 w 443"/>
              <a:gd name="T63" fmla="*/ 217 h 232"/>
              <a:gd name="T64" fmla="*/ 12 w 443"/>
              <a:gd name="T65" fmla="*/ 212 h 232"/>
              <a:gd name="T66" fmla="*/ 10 w 443"/>
              <a:gd name="T67" fmla="*/ 207 h 232"/>
              <a:gd name="T68" fmla="*/ 9 w 443"/>
              <a:gd name="T69" fmla="*/ 202 h 232"/>
              <a:gd name="T70" fmla="*/ 5 w 443"/>
              <a:gd name="T71" fmla="*/ 195 h 232"/>
              <a:gd name="T72" fmla="*/ 4 w 443"/>
              <a:gd name="T73" fmla="*/ 191 h 232"/>
              <a:gd name="T74" fmla="*/ 0 w 443"/>
              <a:gd name="T75" fmla="*/ 192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3" h="232">
                <a:moveTo>
                  <a:pt x="443" y="43"/>
                </a:moveTo>
                <a:lnTo>
                  <a:pt x="441" y="37"/>
                </a:lnTo>
                <a:lnTo>
                  <a:pt x="439" y="32"/>
                </a:lnTo>
                <a:lnTo>
                  <a:pt x="438" y="27"/>
                </a:lnTo>
                <a:lnTo>
                  <a:pt x="434" y="20"/>
                </a:lnTo>
                <a:lnTo>
                  <a:pt x="433" y="15"/>
                </a:lnTo>
                <a:lnTo>
                  <a:pt x="429" y="10"/>
                </a:lnTo>
                <a:lnTo>
                  <a:pt x="428" y="5"/>
                </a:lnTo>
                <a:lnTo>
                  <a:pt x="424" y="0"/>
                </a:lnTo>
                <a:lnTo>
                  <a:pt x="421" y="2"/>
                </a:lnTo>
                <a:lnTo>
                  <a:pt x="424" y="7"/>
                </a:lnTo>
                <a:lnTo>
                  <a:pt x="426" y="12"/>
                </a:lnTo>
                <a:lnTo>
                  <a:pt x="429" y="17"/>
                </a:lnTo>
                <a:lnTo>
                  <a:pt x="431" y="22"/>
                </a:lnTo>
                <a:lnTo>
                  <a:pt x="434" y="27"/>
                </a:lnTo>
                <a:lnTo>
                  <a:pt x="436" y="33"/>
                </a:lnTo>
                <a:lnTo>
                  <a:pt x="438" y="38"/>
                </a:lnTo>
                <a:lnTo>
                  <a:pt x="441" y="43"/>
                </a:lnTo>
                <a:lnTo>
                  <a:pt x="443" y="43"/>
                </a:lnTo>
                <a:close/>
                <a:moveTo>
                  <a:pt x="0" y="192"/>
                </a:moveTo>
                <a:lnTo>
                  <a:pt x="4" y="197"/>
                </a:lnTo>
                <a:lnTo>
                  <a:pt x="5" y="202"/>
                </a:lnTo>
                <a:lnTo>
                  <a:pt x="7" y="209"/>
                </a:lnTo>
                <a:lnTo>
                  <a:pt x="9" y="214"/>
                </a:lnTo>
                <a:lnTo>
                  <a:pt x="12" y="219"/>
                </a:lnTo>
                <a:lnTo>
                  <a:pt x="14" y="224"/>
                </a:lnTo>
                <a:lnTo>
                  <a:pt x="17" y="229"/>
                </a:lnTo>
                <a:lnTo>
                  <a:pt x="20" y="232"/>
                </a:lnTo>
                <a:lnTo>
                  <a:pt x="22" y="232"/>
                </a:lnTo>
                <a:lnTo>
                  <a:pt x="20" y="227"/>
                </a:lnTo>
                <a:lnTo>
                  <a:pt x="17" y="222"/>
                </a:lnTo>
                <a:lnTo>
                  <a:pt x="15" y="217"/>
                </a:lnTo>
                <a:lnTo>
                  <a:pt x="12" y="212"/>
                </a:lnTo>
                <a:lnTo>
                  <a:pt x="10" y="207"/>
                </a:lnTo>
                <a:lnTo>
                  <a:pt x="9" y="202"/>
                </a:lnTo>
                <a:lnTo>
                  <a:pt x="5" y="195"/>
                </a:lnTo>
                <a:lnTo>
                  <a:pt x="4" y="191"/>
                </a:lnTo>
                <a:lnTo>
                  <a:pt x="0" y="192"/>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67" name="Freeform 1872">
            <a:extLst>
              <a:ext uri="{FF2B5EF4-FFF2-40B4-BE49-F238E27FC236}">
                <a16:creationId xmlns:a16="http://schemas.microsoft.com/office/drawing/2014/main" id="{EC98D809-9C8A-CC13-69F2-C15BD01FE99B}"/>
              </a:ext>
            </a:extLst>
          </p:cNvPr>
          <p:cNvSpPr>
            <a:spLocks noEditPoints="1"/>
          </p:cNvSpPr>
          <p:nvPr/>
        </p:nvSpPr>
        <p:spPr bwMode="auto">
          <a:xfrm>
            <a:off x="3170238" y="2416175"/>
            <a:ext cx="696913" cy="368300"/>
          </a:xfrm>
          <a:custGeom>
            <a:avLst/>
            <a:gdLst>
              <a:gd name="T0" fmla="*/ 439 w 439"/>
              <a:gd name="T1" fmla="*/ 43 h 232"/>
              <a:gd name="T2" fmla="*/ 437 w 439"/>
              <a:gd name="T3" fmla="*/ 38 h 232"/>
              <a:gd name="T4" fmla="*/ 436 w 439"/>
              <a:gd name="T5" fmla="*/ 32 h 232"/>
              <a:gd name="T6" fmla="*/ 434 w 439"/>
              <a:gd name="T7" fmla="*/ 27 h 232"/>
              <a:gd name="T8" fmla="*/ 431 w 439"/>
              <a:gd name="T9" fmla="*/ 22 h 232"/>
              <a:gd name="T10" fmla="*/ 429 w 439"/>
              <a:gd name="T11" fmla="*/ 17 h 232"/>
              <a:gd name="T12" fmla="*/ 426 w 439"/>
              <a:gd name="T13" fmla="*/ 12 h 232"/>
              <a:gd name="T14" fmla="*/ 424 w 439"/>
              <a:gd name="T15" fmla="*/ 5 h 232"/>
              <a:gd name="T16" fmla="*/ 421 w 439"/>
              <a:gd name="T17" fmla="*/ 0 h 232"/>
              <a:gd name="T18" fmla="*/ 417 w 439"/>
              <a:gd name="T19" fmla="*/ 2 h 232"/>
              <a:gd name="T20" fmla="*/ 421 w 439"/>
              <a:gd name="T21" fmla="*/ 7 h 232"/>
              <a:gd name="T22" fmla="*/ 422 w 439"/>
              <a:gd name="T23" fmla="*/ 12 h 232"/>
              <a:gd name="T24" fmla="*/ 426 w 439"/>
              <a:gd name="T25" fmla="*/ 17 h 232"/>
              <a:gd name="T26" fmla="*/ 429 w 439"/>
              <a:gd name="T27" fmla="*/ 23 h 232"/>
              <a:gd name="T28" fmla="*/ 431 w 439"/>
              <a:gd name="T29" fmla="*/ 28 h 232"/>
              <a:gd name="T30" fmla="*/ 432 w 439"/>
              <a:gd name="T31" fmla="*/ 33 h 232"/>
              <a:gd name="T32" fmla="*/ 436 w 439"/>
              <a:gd name="T33" fmla="*/ 38 h 232"/>
              <a:gd name="T34" fmla="*/ 437 w 439"/>
              <a:gd name="T35" fmla="*/ 45 h 232"/>
              <a:gd name="T36" fmla="*/ 439 w 439"/>
              <a:gd name="T37" fmla="*/ 43 h 232"/>
              <a:gd name="T38" fmla="*/ 0 w 439"/>
              <a:gd name="T39" fmla="*/ 192 h 232"/>
              <a:gd name="T40" fmla="*/ 3 w 439"/>
              <a:gd name="T41" fmla="*/ 197 h 232"/>
              <a:gd name="T42" fmla="*/ 5 w 439"/>
              <a:gd name="T43" fmla="*/ 202 h 232"/>
              <a:gd name="T44" fmla="*/ 7 w 439"/>
              <a:gd name="T45" fmla="*/ 207 h 232"/>
              <a:gd name="T46" fmla="*/ 8 w 439"/>
              <a:gd name="T47" fmla="*/ 212 h 232"/>
              <a:gd name="T48" fmla="*/ 12 w 439"/>
              <a:gd name="T49" fmla="*/ 217 h 232"/>
              <a:gd name="T50" fmla="*/ 13 w 439"/>
              <a:gd name="T51" fmla="*/ 222 h 232"/>
              <a:gd name="T52" fmla="*/ 17 w 439"/>
              <a:gd name="T53" fmla="*/ 227 h 232"/>
              <a:gd name="T54" fmla="*/ 18 w 439"/>
              <a:gd name="T55" fmla="*/ 232 h 232"/>
              <a:gd name="T56" fmla="*/ 22 w 439"/>
              <a:gd name="T57" fmla="*/ 230 h 232"/>
              <a:gd name="T58" fmla="*/ 20 w 439"/>
              <a:gd name="T59" fmla="*/ 225 h 232"/>
              <a:gd name="T60" fmla="*/ 17 w 439"/>
              <a:gd name="T61" fmla="*/ 220 h 232"/>
              <a:gd name="T62" fmla="*/ 15 w 439"/>
              <a:gd name="T63" fmla="*/ 215 h 232"/>
              <a:gd name="T64" fmla="*/ 12 w 439"/>
              <a:gd name="T65" fmla="*/ 210 h 232"/>
              <a:gd name="T66" fmla="*/ 10 w 439"/>
              <a:gd name="T67" fmla="*/ 205 h 232"/>
              <a:gd name="T68" fmla="*/ 8 w 439"/>
              <a:gd name="T69" fmla="*/ 200 h 232"/>
              <a:gd name="T70" fmla="*/ 5 w 439"/>
              <a:gd name="T71" fmla="*/ 195 h 232"/>
              <a:gd name="T72" fmla="*/ 3 w 439"/>
              <a:gd name="T73" fmla="*/ 191 h 232"/>
              <a:gd name="T74" fmla="*/ 0 w 439"/>
              <a:gd name="T75" fmla="*/ 192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39" h="232">
                <a:moveTo>
                  <a:pt x="439" y="43"/>
                </a:moveTo>
                <a:lnTo>
                  <a:pt x="437" y="38"/>
                </a:lnTo>
                <a:lnTo>
                  <a:pt x="436" y="32"/>
                </a:lnTo>
                <a:lnTo>
                  <a:pt x="434" y="27"/>
                </a:lnTo>
                <a:lnTo>
                  <a:pt x="431" y="22"/>
                </a:lnTo>
                <a:lnTo>
                  <a:pt x="429" y="17"/>
                </a:lnTo>
                <a:lnTo>
                  <a:pt x="426" y="12"/>
                </a:lnTo>
                <a:lnTo>
                  <a:pt x="424" y="5"/>
                </a:lnTo>
                <a:lnTo>
                  <a:pt x="421" y="0"/>
                </a:lnTo>
                <a:lnTo>
                  <a:pt x="417" y="2"/>
                </a:lnTo>
                <a:lnTo>
                  <a:pt x="421" y="7"/>
                </a:lnTo>
                <a:lnTo>
                  <a:pt x="422" y="12"/>
                </a:lnTo>
                <a:lnTo>
                  <a:pt x="426" y="17"/>
                </a:lnTo>
                <a:lnTo>
                  <a:pt x="429" y="23"/>
                </a:lnTo>
                <a:lnTo>
                  <a:pt x="431" y="28"/>
                </a:lnTo>
                <a:lnTo>
                  <a:pt x="432" y="33"/>
                </a:lnTo>
                <a:lnTo>
                  <a:pt x="436" y="38"/>
                </a:lnTo>
                <a:lnTo>
                  <a:pt x="437" y="45"/>
                </a:lnTo>
                <a:lnTo>
                  <a:pt x="439" y="43"/>
                </a:lnTo>
                <a:close/>
                <a:moveTo>
                  <a:pt x="0" y="192"/>
                </a:moveTo>
                <a:lnTo>
                  <a:pt x="3" y="197"/>
                </a:lnTo>
                <a:lnTo>
                  <a:pt x="5" y="202"/>
                </a:lnTo>
                <a:lnTo>
                  <a:pt x="7" y="207"/>
                </a:lnTo>
                <a:lnTo>
                  <a:pt x="8" y="212"/>
                </a:lnTo>
                <a:lnTo>
                  <a:pt x="12" y="217"/>
                </a:lnTo>
                <a:lnTo>
                  <a:pt x="13" y="222"/>
                </a:lnTo>
                <a:lnTo>
                  <a:pt x="17" y="227"/>
                </a:lnTo>
                <a:lnTo>
                  <a:pt x="18" y="232"/>
                </a:lnTo>
                <a:lnTo>
                  <a:pt x="22" y="230"/>
                </a:lnTo>
                <a:lnTo>
                  <a:pt x="20" y="225"/>
                </a:lnTo>
                <a:lnTo>
                  <a:pt x="17" y="220"/>
                </a:lnTo>
                <a:lnTo>
                  <a:pt x="15" y="215"/>
                </a:lnTo>
                <a:lnTo>
                  <a:pt x="12" y="210"/>
                </a:lnTo>
                <a:lnTo>
                  <a:pt x="10" y="205"/>
                </a:lnTo>
                <a:lnTo>
                  <a:pt x="8" y="200"/>
                </a:lnTo>
                <a:lnTo>
                  <a:pt x="5" y="195"/>
                </a:lnTo>
                <a:lnTo>
                  <a:pt x="3" y="191"/>
                </a:lnTo>
                <a:lnTo>
                  <a:pt x="0" y="192"/>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68" name="Freeform 1873">
            <a:extLst>
              <a:ext uri="{FF2B5EF4-FFF2-40B4-BE49-F238E27FC236}">
                <a16:creationId xmlns:a16="http://schemas.microsoft.com/office/drawing/2014/main" id="{971C8D48-A224-61B9-97B2-12458A7AED96}"/>
              </a:ext>
            </a:extLst>
          </p:cNvPr>
          <p:cNvSpPr>
            <a:spLocks noEditPoints="1"/>
          </p:cNvSpPr>
          <p:nvPr/>
        </p:nvSpPr>
        <p:spPr bwMode="auto">
          <a:xfrm>
            <a:off x="3173413" y="2419350"/>
            <a:ext cx="693738" cy="365125"/>
          </a:xfrm>
          <a:custGeom>
            <a:avLst/>
            <a:gdLst>
              <a:gd name="T0" fmla="*/ 437 w 437"/>
              <a:gd name="T1" fmla="*/ 41 h 230"/>
              <a:gd name="T2" fmla="*/ 434 w 437"/>
              <a:gd name="T3" fmla="*/ 36 h 230"/>
              <a:gd name="T4" fmla="*/ 432 w 437"/>
              <a:gd name="T5" fmla="*/ 31 h 230"/>
              <a:gd name="T6" fmla="*/ 430 w 437"/>
              <a:gd name="T7" fmla="*/ 25 h 230"/>
              <a:gd name="T8" fmla="*/ 427 w 437"/>
              <a:gd name="T9" fmla="*/ 20 h 230"/>
              <a:gd name="T10" fmla="*/ 425 w 437"/>
              <a:gd name="T11" fmla="*/ 15 h 230"/>
              <a:gd name="T12" fmla="*/ 422 w 437"/>
              <a:gd name="T13" fmla="*/ 10 h 230"/>
              <a:gd name="T14" fmla="*/ 420 w 437"/>
              <a:gd name="T15" fmla="*/ 5 h 230"/>
              <a:gd name="T16" fmla="*/ 417 w 437"/>
              <a:gd name="T17" fmla="*/ 0 h 230"/>
              <a:gd name="T18" fmla="*/ 414 w 437"/>
              <a:gd name="T19" fmla="*/ 1 h 230"/>
              <a:gd name="T20" fmla="*/ 417 w 437"/>
              <a:gd name="T21" fmla="*/ 6 h 230"/>
              <a:gd name="T22" fmla="*/ 420 w 437"/>
              <a:gd name="T23" fmla="*/ 11 h 230"/>
              <a:gd name="T24" fmla="*/ 422 w 437"/>
              <a:gd name="T25" fmla="*/ 16 h 230"/>
              <a:gd name="T26" fmla="*/ 425 w 437"/>
              <a:gd name="T27" fmla="*/ 21 h 230"/>
              <a:gd name="T28" fmla="*/ 427 w 437"/>
              <a:gd name="T29" fmla="*/ 26 h 230"/>
              <a:gd name="T30" fmla="*/ 429 w 437"/>
              <a:gd name="T31" fmla="*/ 33 h 230"/>
              <a:gd name="T32" fmla="*/ 432 w 437"/>
              <a:gd name="T33" fmla="*/ 38 h 230"/>
              <a:gd name="T34" fmla="*/ 434 w 437"/>
              <a:gd name="T35" fmla="*/ 43 h 230"/>
              <a:gd name="T36" fmla="*/ 437 w 437"/>
              <a:gd name="T37" fmla="*/ 41 h 230"/>
              <a:gd name="T38" fmla="*/ 0 w 437"/>
              <a:gd name="T39" fmla="*/ 189 h 230"/>
              <a:gd name="T40" fmla="*/ 1 w 437"/>
              <a:gd name="T41" fmla="*/ 193 h 230"/>
              <a:gd name="T42" fmla="*/ 5 w 437"/>
              <a:gd name="T43" fmla="*/ 200 h 230"/>
              <a:gd name="T44" fmla="*/ 6 w 437"/>
              <a:gd name="T45" fmla="*/ 205 h 230"/>
              <a:gd name="T46" fmla="*/ 8 w 437"/>
              <a:gd name="T47" fmla="*/ 210 h 230"/>
              <a:gd name="T48" fmla="*/ 11 w 437"/>
              <a:gd name="T49" fmla="*/ 215 h 230"/>
              <a:gd name="T50" fmla="*/ 13 w 437"/>
              <a:gd name="T51" fmla="*/ 220 h 230"/>
              <a:gd name="T52" fmla="*/ 16 w 437"/>
              <a:gd name="T53" fmla="*/ 225 h 230"/>
              <a:gd name="T54" fmla="*/ 18 w 437"/>
              <a:gd name="T55" fmla="*/ 230 h 230"/>
              <a:gd name="T56" fmla="*/ 21 w 437"/>
              <a:gd name="T57" fmla="*/ 228 h 230"/>
              <a:gd name="T58" fmla="*/ 20 w 437"/>
              <a:gd name="T59" fmla="*/ 223 h 230"/>
              <a:gd name="T60" fmla="*/ 16 w 437"/>
              <a:gd name="T61" fmla="*/ 218 h 230"/>
              <a:gd name="T62" fmla="*/ 15 w 437"/>
              <a:gd name="T63" fmla="*/ 213 h 230"/>
              <a:gd name="T64" fmla="*/ 11 w 437"/>
              <a:gd name="T65" fmla="*/ 208 h 230"/>
              <a:gd name="T66" fmla="*/ 10 w 437"/>
              <a:gd name="T67" fmla="*/ 203 h 230"/>
              <a:gd name="T68" fmla="*/ 6 w 437"/>
              <a:gd name="T69" fmla="*/ 198 h 230"/>
              <a:gd name="T70" fmla="*/ 5 w 437"/>
              <a:gd name="T71" fmla="*/ 193 h 230"/>
              <a:gd name="T72" fmla="*/ 3 w 437"/>
              <a:gd name="T73" fmla="*/ 187 h 230"/>
              <a:gd name="T74" fmla="*/ 0 w 437"/>
              <a:gd name="T75" fmla="*/ 189 h 2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37" h="230">
                <a:moveTo>
                  <a:pt x="437" y="41"/>
                </a:moveTo>
                <a:lnTo>
                  <a:pt x="434" y="36"/>
                </a:lnTo>
                <a:lnTo>
                  <a:pt x="432" y="31"/>
                </a:lnTo>
                <a:lnTo>
                  <a:pt x="430" y="25"/>
                </a:lnTo>
                <a:lnTo>
                  <a:pt x="427" y="20"/>
                </a:lnTo>
                <a:lnTo>
                  <a:pt x="425" y="15"/>
                </a:lnTo>
                <a:lnTo>
                  <a:pt x="422" y="10"/>
                </a:lnTo>
                <a:lnTo>
                  <a:pt x="420" y="5"/>
                </a:lnTo>
                <a:lnTo>
                  <a:pt x="417" y="0"/>
                </a:lnTo>
                <a:lnTo>
                  <a:pt x="414" y="1"/>
                </a:lnTo>
                <a:lnTo>
                  <a:pt x="417" y="6"/>
                </a:lnTo>
                <a:lnTo>
                  <a:pt x="420" y="11"/>
                </a:lnTo>
                <a:lnTo>
                  <a:pt x="422" y="16"/>
                </a:lnTo>
                <a:lnTo>
                  <a:pt x="425" y="21"/>
                </a:lnTo>
                <a:lnTo>
                  <a:pt x="427" y="26"/>
                </a:lnTo>
                <a:lnTo>
                  <a:pt x="429" y="33"/>
                </a:lnTo>
                <a:lnTo>
                  <a:pt x="432" y="38"/>
                </a:lnTo>
                <a:lnTo>
                  <a:pt x="434" y="43"/>
                </a:lnTo>
                <a:lnTo>
                  <a:pt x="437" y="41"/>
                </a:lnTo>
                <a:close/>
                <a:moveTo>
                  <a:pt x="0" y="189"/>
                </a:moveTo>
                <a:lnTo>
                  <a:pt x="1" y="193"/>
                </a:lnTo>
                <a:lnTo>
                  <a:pt x="5" y="200"/>
                </a:lnTo>
                <a:lnTo>
                  <a:pt x="6" y="205"/>
                </a:lnTo>
                <a:lnTo>
                  <a:pt x="8" y="210"/>
                </a:lnTo>
                <a:lnTo>
                  <a:pt x="11" y="215"/>
                </a:lnTo>
                <a:lnTo>
                  <a:pt x="13" y="220"/>
                </a:lnTo>
                <a:lnTo>
                  <a:pt x="16" y="225"/>
                </a:lnTo>
                <a:lnTo>
                  <a:pt x="18" y="230"/>
                </a:lnTo>
                <a:lnTo>
                  <a:pt x="21" y="228"/>
                </a:lnTo>
                <a:lnTo>
                  <a:pt x="20" y="223"/>
                </a:lnTo>
                <a:lnTo>
                  <a:pt x="16" y="218"/>
                </a:lnTo>
                <a:lnTo>
                  <a:pt x="15" y="213"/>
                </a:lnTo>
                <a:lnTo>
                  <a:pt x="11" y="208"/>
                </a:lnTo>
                <a:lnTo>
                  <a:pt x="10" y="203"/>
                </a:lnTo>
                <a:lnTo>
                  <a:pt x="6" y="198"/>
                </a:lnTo>
                <a:lnTo>
                  <a:pt x="5" y="193"/>
                </a:lnTo>
                <a:lnTo>
                  <a:pt x="3" y="187"/>
                </a:lnTo>
                <a:lnTo>
                  <a:pt x="0" y="189"/>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69" name="Freeform 1874">
            <a:extLst>
              <a:ext uri="{FF2B5EF4-FFF2-40B4-BE49-F238E27FC236}">
                <a16:creationId xmlns:a16="http://schemas.microsoft.com/office/drawing/2014/main" id="{6492E9F9-6EAE-8DB2-DC12-1B69EB4ADEF1}"/>
              </a:ext>
            </a:extLst>
          </p:cNvPr>
          <p:cNvSpPr>
            <a:spLocks noEditPoints="1"/>
          </p:cNvSpPr>
          <p:nvPr/>
        </p:nvSpPr>
        <p:spPr bwMode="auto">
          <a:xfrm>
            <a:off x="3175000" y="2419350"/>
            <a:ext cx="688975" cy="361950"/>
          </a:xfrm>
          <a:custGeom>
            <a:avLst/>
            <a:gdLst>
              <a:gd name="T0" fmla="*/ 434 w 434"/>
              <a:gd name="T1" fmla="*/ 43 h 228"/>
              <a:gd name="T2" fmla="*/ 433 w 434"/>
              <a:gd name="T3" fmla="*/ 36 h 228"/>
              <a:gd name="T4" fmla="*/ 429 w 434"/>
              <a:gd name="T5" fmla="*/ 31 h 228"/>
              <a:gd name="T6" fmla="*/ 428 w 434"/>
              <a:gd name="T7" fmla="*/ 26 h 228"/>
              <a:gd name="T8" fmla="*/ 426 w 434"/>
              <a:gd name="T9" fmla="*/ 21 h 228"/>
              <a:gd name="T10" fmla="*/ 423 w 434"/>
              <a:gd name="T11" fmla="*/ 15 h 228"/>
              <a:gd name="T12" fmla="*/ 419 w 434"/>
              <a:gd name="T13" fmla="*/ 10 h 228"/>
              <a:gd name="T14" fmla="*/ 418 w 434"/>
              <a:gd name="T15" fmla="*/ 5 h 228"/>
              <a:gd name="T16" fmla="*/ 414 w 434"/>
              <a:gd name="T17" fmla="*/ 0 h 228"/>
              <a:gd name="T18" fmla="*/ 411 w 434"/>
              <a:gd name="T19" fmla="*/ 1 h 228"/>
              <a:gd name="T20" fmla="*/ 414 w 434"/>
              <a:gd name="T21" fmla="*/ 6 h 228"/>
              <a:gd name="T22" fmla="*/ 418 w 434"/>
              <a:gd name="T23" fmla="*/ 11 h 228"/>
              <a:gd name="T24" fmla="*/ 419 w 434"/>
              <a:gd name="T25" fmla="*/ 16 h 228"/>
              <a:gd name="T26" fmla="*/ 423 w 434"/>
              <a:gd name="T27" fmla="*/ 21 h 228"/>
              <a:gd name="T28" fmla="*/ 424 w 434"/>
              <a:gd name="T29" fmla="*/ 28 h 228"/>
              <a:gd name="T30" fmla="*/ 426 w 434"/>
              <a:gd name="T31" fmla="*/ 33 h 228"/>
              <a:gd name="T32" fmla="*/ 429 w 434"/>
              <a:gd name="T33" fmla="*/ 38 h 228"/>
              <a:gd name="T34" fmla="*/ 431 w 434"/>
              <a:gd name="T35" fmla="*/ 44 h 228"/>
              <a:gd name="T36" fmla="*/ 434 w 434"/>
              <a:gd name="T37" fmla="*/ 43 h 228"/>
              <a:gd name="T38" fmla="*/ 0 w 434"/>
              <a:gd name="T39" fmla="*/ 189 h 228"/>
              <a:gd name="T40" fmla="*/ 2 w 434"/>
              <a:gd name="T41" fmla="*/ 193 h 228"/>
              <a:gd name="T42" fmla="*/ 5 w 434"/>
              <a:gd name="T43" fmla="*/ 198 h 228"/>
              <a:gd name="T44" fmla="*/ 7 w 434"/>
              <a:gd name="T45" fmla="*/ 203 h 228"/>
              <a:gd name="T46" fmla="*/ 9 w 434"/>
              <a:gd name="T47" fmla="*/ 208 h 228"/>
              <a:gd name="T48" fmla="*/ 12 w 434"/>
              <a:gd name="T49" fmla="*/ 213 h 228"/>
              <a:gd name="T50" fmla="*/ 14 w 434"/>
              <a:gd name="T51" fmla="*/ 218 h 228"/>
              <a:gd name="T52" fmla="*/ 17 w 434"/>
              <a:gd name="T53" fmla="*/ 223 h 228"/>
              <a:gd name="T54" fmla="*/ 19 w 434"/>
              <a:gd name="T55" fmla="*/ 228 h 228"/>
              <a:gd name="T56" fmla="*/ 22 w 434"/>
              <a:gd name="T57" fmla="*/ 227 h 228"/>
              <a:gd name="T58" fmla="*/ 20 w 434"/>
              <a:gd name="T59" fmla="*/ 222 h 228"/>
              <a:gd name="T60" fmla="*/ 17 w 434"/>
              <a:gd name="T61" fmla="*/ 218 h 228"/>
              <a:gd name="T62" fmla="*/ 14 w 434"/>
              <a:gd name="T63" fmla="*/ 213 h 228"/>
              <a:gd name="T64" fmla="*/ 12 w 434"/>
              <a:gd name="T65" fmla="*/ 208 h 228"/>
              <a:gd name="T66" fmla="*/ 10 w 434"/>
              <a:gd name="T67" fmla="*/ 202 h 228"/>
              <a:gd name="T68" fmla="*/ 7 w 434"/>
              <a:gd name="T69" fmla="*/ 197 h 228"/>
              <a:gd name="T70" fmla="*/ 5 w 434"/>
              <a:gd name="T71" fmla="*/ 192 h 228"/>
              <a:gd name="T72" fmla="*/ 4 w 434"/>
              <a:gd name="T73" fmla="*/ 187 h 228"/>
              <a:gd name="T74" fmla="*/ 0 w 434"/>
              <a:gd name="T75" fmla="*/ 189 h 2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34" h="228">
                <a:moveTo>
                  <a:pt x="434" y="43"/>
                </a:moveTo>
                <a:lnTo>
                  <a:pt x="433" y="36"/>
                </a:lnTo>
                <a:lnTo>
                  <a:pt x="429" y="31"/>
                </a:lnTo>
                <a:lnTo>
                  <a:pt x="428" y="26"/>
                </a:lnTo>
                <a:lnTo>
                  <a:pt x="426" y="21"/>
                </a:lnTo>
                <a:lnTo>
                  <a:pt x="423" y="15"/>
                </a:lnTo>
                <a:lnTo>
                  <a:pt x="419" y="10"/>
                </a:lnTo>
                <a:lnTo>
                  <a:pt x="418" y="5"/>
                </a:lnTo>
                <a:lnTo>
                  <a:pt x="414" y="0"/>
                </a:lnTo>
                <a:lnTo>
                  <a:pt x="411" y="1"/>
                </a:lnTo>
                <a:lnTo>
                  <a:pt x="414" y="6"/>
                </a:lnTo>
                <a:lnTo>
                  <a:pt x="418" y="11"/>
                </a:lnTo>
                <a:lnTo>
                  <a:pt x="419" y="16"/>
                </a:lnTo>
                <a:lnTo>
                  <a:pt x="423" y="21"/>
                </a:lnTo>
                <a:lnTo>
                  <a:pt x="424" y="28"/>
                </a:lnTo>
                <a:lnTo>
                  <a:pt x="426" y="33"/>
                </a:lnTo>
                <a:lnTo>
                  <a:pt x="429" y="38"/>
                </a:lnTo>
                <a:lnTo>
                  <a:pt x="431" y="44"/>
                </a:lnTo>
                <a:lnTo>
                  <a:pt x="434" y="43"/>
                </a:lnTo>
                <a:close/>
                <a:moveTo>
                  <a:pt x="0" y="189"/>
                </a:moveTo>
                <a:lnTo>
                  <a:pt x="2" y="193"/>
                </a:lnTo>
                <a:lnTo>
                  <a:pt x="5" y="198"/>
                </a:lnTo>
                <a:lnTo>
                  <a:pt x="7" y="203"/>
                </a:lnTo>
                <a:lnTo>
                  <a:pt x="9" y="208"/>
                </a:lnTo>
                <a:lnTo>
                  <a:pt x="12" y="213"/>
                </a:lnTo>
                <a:lnTo>
                  <a:pt x="14" y="218"/>
                </a:lnTo>
                <a:lnTo>
                  <a:pt x="17" y="223"/>
                </a:lnTo>
                <a:lnTo>
                  <a:pt x="19" y="228"/>
                </a:lnTo>
                <a:lnTo>
                  <a:pt x="22" y="227"/>
                </a:lnTo>
                <a:lnTo>
                  <a:pt x="20" y="222"/>
                </a:lnTo>
                <a:lnTo>
                  <a:pt x="17" y="218"/>
                </a:lnTo>
                <a:lnTo>
                  <a:pt x="14" y="213"/>
                </a:lnTo>
                <a:lnTo>
                  <a:pt x="12" y="208"/>
                </a:lnTo>
                <a:lnTo>
                  <a:pt x="10" y="202"/>
                </a:lnTo>
                <a:lnTo>
                  <a:pt x="7" y="197"/>
                </a:lnTo>
                <a:lnTo>
                  <a:pt x="5" y="192"/>
                </a:lnTo>
                <a:lnTo>
                  <a:pt x="4" y="187"/>
                </a:lnTo>
                <a:lnTo>
                  <a:pt x="0" y="189"/>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70" name="Freeform 1875">
            <a:extLst>
              <a:ext uri="{FF2B5EF4-FFF2-40B4-BE49-F238E27FC236}">
                <a16:creationId xmlns:a16="http://schemas.microsoft.com/office/drawing/2014/main" id="{5F9CAC94-D1AB-4C2D-4A74-ABC0D8D6590B}"/>
              </a:ext>
            </a:extLst>
          </p:cNvPr>
          <p:cNvSpPr>
            <a:spLocks noEditPoints="1"/>
          </p:cNvSpPr>
          <p:nvPr/>
        </p:nvSpPr>
        <p:spPr bwMode="auto">
          <a:xfrm>
            <a:off x="3178175" y="2420938"/>
            <a:ext cx="684213" cy="360363"/>
          </a:xfrm>
          <a:custGeom>
            <a:avLst/>
            <a:gdLst>
              <a:gd name="T0" fmla="*/ 431 w 431"/>
              <a:gd name="T1" fmla="*/ 42 h 227"/>
              <a:gd name="T2" fmla="*/ 429 w 431"/>
              <a:gd name="T3" fmla="*/ 37 h 227"/>
              <a:gd name="T4" fmla="*/ 426 w 431"/>
              <a:gd name="T5" fmla="*/ 32 h 227"/>
              <a:gd name="T6" fmla="*/ 424 w 431"/>
              <a:gd name="T7" fmla="*/ 25 h 227"/>
              <a:gd name="T8" fmla="*/ 422 w 431"/>
              <a:gd name="T9" fmla="*/ 20 h 227"/>
              <a:gd name="T10" fmla="*/ 419 w 431"/>
              <a:gd name="T11" fmla="*/ 15 h 227"/>
              <a:gd name="T12" fmla="*/ 417 w 431"/>
              <a:gd name="T13" fmla="*/ 10 h 227"/>
              <a:gd name="T14" fmla="*/ 414 w 431"/>
              <a:gd name="T15" fmla="*/ 5 h 227"/>
              <a:gd name="T16" fmla="*/ 411 w 431"/>
              <a:gd name="T17" fmla="*/ 0 h 227"/>
              <a:gd name="T18" fmla="*/ 407 w 431"/>
              <a:gd name="T19" fmla="*/ 0 h 227"/>
              <a:gd name="T20" fmla="*/ 411 w 431"/>
              <a:gd name="T21" fmla="*/ 5 h 227"/>
              <a:gd name="T22" fmla="*/ 414 w 431"/>
              <a:gd name="T23" fmla="*/ 12 h 227"/>
              <a:gd name="T24" fmla="*/ 416 w 431"/>
              <a:gd name="T25" fmla="*/ 17 h 227"/>
              <a:gd name="T26" fmla="*/ 419 w 431"/>
              <a:gd name="T27" fmla="*/ 22 h 227"/>
              <a:gd name="T28" fmla="*/ 421 w 431"/>
              <a:gd name="T29" fmla="*/ 27 h 227"/>
              <a:gd name="T30" fmla="*/ 424 w 431"/>
              <a:gd name="T31" fmla="*/ 32 h 227"/>
              <a:gd name="T32" fmla="*/ 426 w 431"/>
              <a:gd name="T33" fmla="*/ 39 h 227"/>
              <a:gd name="T34" fmla="*/ 427 w 431"/>
              <a:gd name="T35" fmla="*/ 43 h 227"/>
              <a:gd name="T36" fmla="*/ 431 w 431"/>
              <a:gd name="T37" fmla="*/ 42 h 227"/>
              <a:gd name="T38" fmla="*/ 0 w 431"/>
              <a:gd name="T39" fmla="*/ 186 h 227"/>
              <a:gd name="T40" fmla="*/ 2 w 431"/>
              <a:gd name="T41" fmla="*/ 192 h 227"/>
              <a:gd name="T42" fmla="*/ 3 w 431"/>
              <a:gd name="T43" fmla="*/ 197 h 227"/>
              <a:gd name="T44" fmla="*/ 7 w 431"/>
              <a:gd name="T45" fmla="*/ 202 h 227"/>
              <a:gd name="T46" fmla="*/ 8 w 431"/>
              <a:gd name="T47" fmla="*/ 207 h 227"/>
              <a:gd name="T48" fmla="*/ 12 w 431"/>
              <a:gd name="T49" fmla="*/ 212 h 227"/>
              <a:gd name="T50" fmla="*/ 13 w 431"/>
              <a:gd name="T51" fmla="*/ 217 h 227"/>
              <a:gd name="T52" fmla="*/ 17 w 431"/>
              <a:gd name="T53" fmla="*/ 222 h 227"/>
              <a:gd name="T54" fmla="*/ 18 w 431"/>
              <a:gd name="T55" fmla="*/ 227 h 227"/>
              <a:gd name="T56" fmla="*/ 22 w 431"/>
              <a:gd name="T57" fmla="*/ 226 h 227"/>
              <a:gd name="T58" fmla="*/ 18 w 431"/>
              <a:gd name="T59" fmla="*/ 221 h 227"/>
              <a:gd name="T60" fmla="*/ 17 w 431"/>
              <a:gd name="T61" fmla="*/ 216 h 227"/>
              <a:gd name="T62" fmla="*/ 13 w 431"/>
              <a:gd name="T63" fmla="*/ 211 h 227"/>
              <a:gd name="T64" fmla="*/ 12 w 431"/>
              <a:gd name="T65" fmla="*/ 206 h 227"/>
              <a:gd name="T66" fmla="*/ 10 w 431"/>
              <a:gd name="T67" fmla="*/ 201 h 227"/>
              <a:gd name="T68" fmla="*/ 7 w 431"/>
              <a:gd name="T69" fmla="*/ 196 h 227"/>
              <a:gd name="T70" fmla="*/ 5 w 431"/>
              <a:gd name="T71" fmla="*/ 191 h 227"/>
              <a:gd name="T72" fmla="*/ 3 w 431"/>
              <a:gd name="T73" fmla="*/ 186 h 227"/>
              <a:gd name="T74" fmla="*/ 0 w 431"/>
              <a:gd name="T75" fmla="*/ 186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31" h="227">
                <a:moveTo>
                  <a:pt x="431" y="42"/>
                </a:moveTo>
                <a:lnTo>
                  <a:pt x="429" y="37"/>
                </a:lnTo>
                <a:lnTo>
                  <a:pt x="426" y="32"/>
                </a:lnTo>
                <a:lnTo>
                  <a:pt x="424" y="25"/>
                </a:lnTo>
                <a:lnTo>
                  <a:pt x="422" y="20"/>
                </a:lnTo>
                <a:lnTo>
                  <a:pt x="419" y="15"/>
                </a:lnTo>
                <a:lnTo>
                  <a:pt x="417" y="10"/>
                </a:lnTo>
                <a:lnTo>
                  <a:pt x="414" y="5"/>
                </a:lnTo>
                <a:lnTo>
                  <a:pt x="411" y="0"/>
                </a:lnTo>
                <a:lnTo>
                  <a:pt x="407" y="0"/>
                </a:lnTo>
                <a:lnTo>
                  <a:pt x="411" y="5"/>
                </a:lnTo>
                <a:lnTo>
                  <a:pt x="414" y="12"/>
                </a:lnTo>
                <a:lnTo>
                  <a:pt x="416" y="17"/>
                </a:lnTo>
                <a:lnTo>
                  <a:pt x="419" y="22"/>
                </a:lnTo>
                <a:lnTo>
                  <a:pt x="421" y="27"/>
                </a:lnTo>
                <a:lnTo>
                  <a:pt x="424" y="32"/>
                </a:lnTo>
                <a:lnTo>
                  <a:pt x="426" y="39"/>
                </a:lnTo>
                <a:lnTo>
                  <a:pt x="427" y="43"/>
                </a:lnTo>
                <a:lnTo>
                  <a:pt x="431" y="42"/>
                </a:lnTo>
                <a:close/>
                <a:moveTo>
                  <a:pt x="0" y="186"/>
                </a:moveTo>
                <a:lnTo>
                  <a:pt x="2" y="192"/>
                </a:lnTo>
                <a:lnTo>
                  <a:pt x="3" y="197"/>
                </a:lnTo>
                <a:lnTo>
                  <a:pt x="7" y="202"/>
                </a:lnTo>
                <a:lnTo>
                  <a:pt x="8" y="207"/>
                </a:lnTo>
                <a:lnTo>
                  <a:pt x="12" y="212"/>
                </a:lnTo>
                <a:lnTo>
                  <a:pt x="13" y="217"/>
                </a:lnTo>
                <a:lnTo>
                  <a:pt x="17" y="222"/>
                </a:lnTo>
                <a:lnTo>
                  <a:pt x="18" y="227"/>
                </a:lnTo>
                <a:lnTo>
                  <a:pt x="22" y="226"/>
                </a:lnTo>
                <a:lnTo>
                  <a:pt x="18" y="221"/>
                </a:lnTo>
                <a:lnTo>
                  <a:pt x="17" y="216"/>
                </a:lnTo>
                <a:lnTo>
                  <a:pt x="13" y="211"/>
                </a:lnTo>
                <a:lnTo>
                  <a:pt x="12" y="206"/>
                </a:lnTo>
                <a:lnTo>
                  <a:pt x="10" y="201"/>
                </a:lnTo>
                <a:lnTo>
                  <a:pt x="7" y="196"/>
                </a:lnTo>
                <a:lnTo>
                  <a:pt x="5" y="191"/>
                </a:lnTo>
                <a:lnTo>
                  <a:pt x="3" y="186"/>
                </a:lnTo>
                <a:lnTo>
                  <a:pt x="0" y="186"/>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71" name="Freeform 1876">
            <a:extLst>
              <a:ext uri="{FF2B5EF4-FFF2-40B4-BE49-F238E27FC236}">
                <a16:creationId xmlns:a16="http://schemas.microsoft.com/office/drawing/2014/main" id="{53A36CAA-16AA-8B66-F664-59C9140A7E56}"/>
              </a:ext>
            </a:extLst>
          </p:cNvPr>
          <p:cNvSpPr>
            <a:spLocks noEditPoints="1"/>
          </p:cNvSpPr>
          <p:nvPr/>
        </p:nvSpPr>
        <p:spPr bwMode="auto">
          <a:xfrm>
            <a:off x="3181350" y="2420938"/>
            <a:ext cx="677863" cy="358775"/>
          </a:xfrm>
          <a:custGeom>
            <a:avLst/>
            <a:gdLst>
              <a:gd name="T0" fmla="*/ 427 w 427"/>
              <a:gd name="T1" fmla="*/ 43 h 226"/>
              <a:gd name="T2" fmla="*/ 425 w 427"/>
              <a:gd name="T3" fmla="*/ 37 h 226"/>
              <a:gd name="T4" fmla="*/ 422 w 427"/>
              <a:gd name="T5" fmla="*/ 32 h 226"/>
              <a:gd name="T6" fmla="*/ 420 w 427"/>
              <a:gd name="T7" fmla="*/ 27 h 226"/>
              <a:gd name="T8" fmla="*/ 419 w 427"/>
              <a:gd name="T9" fmla="*/ 20 h 226"/>
              <a:gd name="T10" fmla="*/ 415 w 427"/>
              <a:gd name="T11" fmla="*/ 15 h 226"/>
              <a:gd name="T12" fmla="*/ 414 w 427"/>
              <a:gd name="T13" fmla="*/ 10 h 226"/>
              <a:gd name="T14" fmla="*/ 410 w 427"/>
              <a:gd name="T15" fmla="*/ 5 h 226"/>
              <a:gd name="T16" fmla="*/ 407 w 427"/>
              <a:gd name="T17" fmla="*/ 0 h 226"/>
              <a:gd name="T18" fmla="*/ 404 w 427"/>
              <a:gd name="T19" fmla="*/ 2 h 226"/>
              <a:gd name="T20" fmla="*/ 407 w 427"/>
              <a:gd name="T21" fmla="*/ 7 h 226"/>
              <a:gd name="T22" fmla="*/ 410 w 427"/>
              <a:gd name="T23" fmla="*/ 12 h 226"/>
              <a:gd name="T24" fmla="*/ 412 w 427"/>
              <a:gd name="T25" fmla="*/ 17 h 226"/>
              <a:gd name="T26" fmla="*/ 415 w 427"/>
              <a:gd name="T27" fmla="*/ 22 h 226"/>
              <a:gd name="T28" fmla="*/ 417 w 427"/>
              <a:gd name="T29" fmla="*/ 29 h 226"/>
              <a:gd name="T30" fmla="*/ 420 w 427"/>
              <a:gd name="T31" fmla="*/ 34 h 226"/>
              <a:gd name="T32" fmla="*/ 422 w 427"/>
              <a:gd name="T33" fmla="*/ 39 h 226"/>
              <a:gd name="T34" fmla="*/ 424 w 427"/>
              <a:gd name="T35" fmla="*/ 45 h 226"/>
              <a:gd name="T36" fmla="*/ 427 w 427"/>
              <a:gd name="T37" fmla="*/ 43 h 226"/>
              <a:gd name="T38" fmla="*/ 0 w 427"/>
              <a:gd name="T39" fmla="*/ 186 h 226"/>
              <a:gd name="T40" fmla="*/ 1 w 427"/>
              <a:gd name="T41" fmla="*/ 191 h 226"/>
              <a:gd name="T42" fmla="*/ 3 w 427"/>
              <a:gd name="T43" fmla="*/ 196 h 226"/>
              <a:gd name="T44" fmla="*/ 6 w 427"/>
              <a:gd name="T45" fmla="*/ 201 h 226"/>
              <a:gd name="T46" fmla="*/ 8 w 427"/>
              <a:gd name="T47" fmla="*/ 207 h 226"/>
              <a:gd name="T48" fmla="*/ 10 w 427"/>
              <a:gd name="T49" fmla="*/ 212 h 226"/>
              <a:gd name="T50" fmla="*/ 13 w 427"/>
              <a:gd name="T51" fmla="*/ 217 h 226"/>
              <a:gd name="T52" fmla="*/ 16 w 427"/>
              <a:gd name="T53" fmla="*/ 221 h 226"/>
              <a:gd name="T54" fmla="*/ 18 w 427"/>
              <a:gd name="T55" fmla="*/ 226 h 226"/>
              <a:gd name="T56" fmla="*/ 21 w 427"/>
              <a:gd name="T57" fmla="*/ 226 h 226"/>
              <a:gd name="T58" fmla="*/ 18 w 427"/>
              <a:gd name="T59" fmla="*/ 221 h 226"/>
              <a:gd name="T60" fmla="*/ 16 w 427"/>
              <a:gd name="T61" fmla="*/ 216 h 226"/>
              <a:gd name="T62" fmla="*/ 13 w 427"/>
              <a:gd name="T63" fmla="*/ 211 h 226"/>
              <a:gd name="T64" fmla="*/ 11 w 427"/>
              <a:gd name="T65" fmla="*/ 206 h 226"/>
              <a:gd name="T66" fmla="*/ 8 w 427"/>
              <a:gd name="T67" fmla="*/ 201 h 226"/>
              <a:gd name="T68" fmla="*/ 6 w 427"/>
              <a:gd name="T69" fmla="*/ 196 h 226"/>
              <a:gd name="T70" fmla="*/ 5 w 427"/>
              <a:gd name="T71" fmla="*/ 189 h 226"/>
              <a:gd name="T72" fmla="*/ 3 w 427"/>
              <a:gd name="T73" fmla="*/ 184 h 226"/>
              <a:gd name="T74" fmla="*/ 0 w 427"/>
              <a:gd name="T75" fmla="*/ 186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27" h="226">
                <a:moveTo>
                  <a:pt x="427" y="43"/>
                </a:moveTo>
                <a:lnTo>
                  <a:pt x="425" y="37"/>
                </a:lnTo>
                <a:lnTo>
                  <a:pt x="422" y="32"/>
                </a:lnTo>
                <a:lnTo>
                  <a:pt x="420" y="27"/>
                </a:lnTo>
                <a:lnTo>
                  <a:pt x="419" y="20"/>
                </a:lnTo>
                <a:lnTo>
                  <a:pt x="415" y="15"/>
                </a:lnTo>
                <a:lnTo>
                  <a:pt x="414" y="10"/>
                </a:lnTo>
                <a:lnTo>
                  <a:pt x="410" y="5"/>
                </a:lnTo>
                <a:lnTo>
                  <a:pt x="407" y="0"/>
                </a:lnTo>
                <a:lnTo>
                  <a:pt x="404" y="2"/>
                </a:lnTo>
                <a:lnTo>
                  <a:pt x="407" y="7"/>
                </a:lnTo>
                <a:lnTo>
                  <a:pt x="410" y="12"/>
                </a:lnTo>
                <a:lnTo>
                  <a:pt x="412" y="17"/>
                </a:lnTo>
                <a:lnTo>
                  <a:pt x="415" y="22"/>
                </a:lnTo>
                <a:lnTo>
                  <a:pt x="417" y="29"/>
                </a:lnTo>
                <a:lnTo>
                  <a:pt x="420" y="34"/>
                </a:lnTo>
                <a:lnTo>
                  <a:pt x="422" y="39"/>
                </a:lnTo>
                <a:lnTo>
                  <a:pt x="424" y="45"/>
                </a:lnTo>
                <a:lnTo>
                  <a:pt x="427" y="43"/>
                </a:lnTo>
                <a:close/>
                <a:moveTo>
                  <a:pt x="0" y="186"/>
                </a:moveTo>
                <a:lnTo>
                  <a:pt x="1" y="191"/>
                </a:lnTo>
                <a:lnTo>
                  <a:pt x="3" y="196"/>
                </a:lnTo>
                <a:lnTo>
                  <a:pt x="6" y="201"/>
                </a:lnTo>
                <a:lnTo>
                  <a:pt x="8" y="207"/>
                </a:lnTo>
                <a:lnTo>
                  <a:pt x="10" y="212"/>
                </a:lnTo>
                <a:lnTo>
                  <a:pt x="13" y="217"/>
                </a:lnTo>
                <a:lnTo>
                  <a:pt x="16" y="221"/>
                </a:lnTo>
                <a:lnTo>
                  <a:pt x="18" y="226"/>
                </a:lnTo>
                <a:lnTo>
                  <a:pt x="21" y="226"/>
                </a:lnTo>
                <a:lnTo>
                  <a:pt x="18" y="221"/>
                </a:lnTo>
                <a:lnTo>
                  <a:pt x="16" y="216"/>
                </a:lnTo>
                <a:lnTo>
                  <a:pt x="13" y="211"/>
                </a:lnTo>
                <a:lnTo>
                  <a:pt x="11" y="206"/>
                </a:lnTo>
                <a:lnTo>
                  <a:pt x="8" y="201"/>
                </a:lnTo>
                <a:lnTo>
                  <a:pt x="6" y="196"/>
                </a:lnTo>
                <a:lnTo>
                  <a:pt x="5" y="189"/>
                </a:lnTo>
                <a:lnTo>
                  <a:pt x="3" y="184"/>
                </a:lnTo>
                <a:lnTo>
                  <a:pt x="0" y="186"/>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72" name="Freeform 1877">
            <a:extLst>
              <a:ext uri="{FF2B5EF4-FFF2-40B4-BE49-F238E27FC236}">
                <a16:creationId xmlns:a16="http://schemas.microsoft.com/office/drawing/2014/main" id="{2DB6A63A-D97E-C76D-9EF3-031C179718C5}"/>
              </a:ext>
            </a:extLst>
          </p:cNvPr>
          <p:cNvSpPr>
            <a:spLocks noEditPoints="1"/>
          </p:cNvSpPr>
          <p:nvPr/>
        </p:nvSpPr>
        <p:spPr bwMode="auto">
          <a:xfrm>
            <a:off x="3182938" y="2420938"/>
            <a:ext cx="673100" cy="358775"/>
          </a:xfrm>
          <a:custGeom>
            <a:avLst/>
            <a:gdLst>
              <a:gd name="T0" fmla="*/ 424 w 424"/>
              <a:gd name="T1" fmla="*/ 43 h 226"/>
              <a:gd name="T2" fmla="*/ 423 w 424"/>
              <a:gd name="T3" fmla="*/ 39 h 226"/>
              <a:gd name="T4" fmla="*/ 421 w 424"/>
              <a:gd name="T5" fmla="*/ 32 h 226"/>
              <a:gd name="T6" fmla="*/ 418 w 424"/>
              <a:gd name="T7" fmla="*/ 27 h 226"/>
              <a:gd name="T8" fmla="*/ 416 w 424"/>
              <a:gd name="T9" fmla="*/ 22 h 226"/>
              <a:gd name="T10" fmla="*/ 413 w 424"/>
              <a:gd name="T11" fmla="*/ 17 h 226"/>
              <a:gd name="T12" fmla="*/ 411 w 424"/>
              <a:gd name="T13" fmla="*/ 12 h 226"/>
              <a:gd name="T14" fmla="*/ 408 w 424"/>
              <a:gd name="T15" fmla="*/ 5 h 226"/>
              <a:gd name="T16" fmla="*/ 404 w 424"/>
              <a:gd name="T17" fmla="*/ 0 h 226"/>
              <a:gd name="T18" fmla="*/ 403 w 424"/>
              <a:gd name="T19" fmla="*/ 2 h 226"/>
              <a:gd name="T20" fmla="*/ 404 w 424"/>
              <a:gd name="T21" fmla="*/ 7 h 226"/>
              <a:gd name="T22" fmla="*/ 408 w 424"/>
              <a:gd name="T23" fmla="*/ 12 h 226"/>
              <a:gd name="T24" fmla="*/ 409 w 424"/>
              <a:gd name="T25" fmla="*/ 19 h 226"/>
              <a:gd name="T26" fmla="*/ 413 w 424"/>
              <a:gd name="T27" fmla="*/ 24 h 226"/>
              <a:gd name="T28" fmla="*/ 414 w 424"/>
              <a:gd name="T29" fmla="*/ 29 h 226"/>
              <a:gd name="T30" fmla="*/ 418 w 424"/>
              <a:gd name="T31" fmla="*/ 34 h 226"/>
              <a:gd name="T32" fmla="*/ 419 w 424"/>
              <a:gd name="T33" fmla="*/ 40 h 226"/>
              <a:gd name="T34" fmla="*/ 421 w 424"/>
              <a:gd name="T35" fmla="*/ 45 h 226"/>
              <a:gd name="T36" fmla="*/ 424 w 424"/>
              <a:gd name="T37" fmla="*/ 43 h 226"/>
              <a:gd name="T38" fmla="*/ 0 w 424"/>
              <a:gd name="T39" fmla="*/ 186 h 226"/>
              <a:gd name="T40" fmla="*/ 2 w 424"/>
              <a:gd name="T41" fmla="*/ 191 h 226"/>
              <a:gd name="T42" fmla="*/ 4 w 424"/>
              <a:gd name="T43" fmla="*/ 196 h 226"/>
              <a:gd name="T44" fmla="*/ 7 w 424"/>
              <a:gd name="T45" fmla="*/ 201 h 226"/>
              <a:gd name="T46" fmla="*/ 9 w 424"/>
              <a:gd name="T47" fmla="*/ 206 h 226"/>
              <a:gd name="T48" fmla="*/ 10 w 424"/>
              <a:gd name="T49" fmla="*/ 211 h 226"/>
              <a:gd name="T50" fmla="*/ 14 w 424"/>
              <a:gd name="T51" fmla="*/ 216 h 226"/>
              <a:gd name="T52" fmla="*/ 15 w 424"/>
              <a:gd name="T53" fmla="*/ 221 h 226"/>
              <a:gd name="T54" fmla="*/ 19 w 424"/>
              <a:gd name="T55" fmla="*/ 226 h 226"/>
              <a:gd name="T56" fmla="*/ 22 w 424"/>
              <a:gd name="T57" fmla="*/ 224 h 226"/>
              <a:gd name="T58" fmla="*/ 19 w 424"/>
              <a:gd name="T59" fmla="*/ 219 h 226"/>
              <a:gd name="T60" fmla="*/ 17 w 424"/>
              <a:gd name="T61" fmla="*/ 214 h 226"/>
              <a:gd name="T62" fmla="*/ 14 w 424"/>
              <a:gd name="T63" fmla="*/ 209 h 226"/>
              <a:gd name="T64" fmla="*/ 12 w 424"/>
              <a:gd name="T65" fmla="*/ 204 h 226"/>
              <a:gd name="T66" fmla="*/ 9 w 424"/>
              <a:gd name="T67" fmla="*/ 199 h 226"/>
              <a:gd name="T68" fmla="*/ 7 w 424"/>
              <a:gd name="T69" fmla="*/ 194 h 226"/>
              <a:gd name="T70" fmla="*/ 5 w 424"/>
              <a:gd name="T71" fmla="*/ 189 h 226"/>
              <a:gd name="T72" fmla="*/ 4 w 424"/>
              <a:gd name="T73" fmla="*/ 184 h 226"/>
              <a:gd name="T74" fmla="*/ 0 w 424"/>
              <a:gd name="T75" fmla="*/ 186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24" h="226">
                <a:moveTo>
                  <a:pt x="424" y="43"/>
                </a:moveTo>
                <a:lnTo>
                  <a:pt x="423" y="39"/>
                </a:lnTo>
                <a:lnTo>
                  <a:pt x="421" y="32"/>
                </a:lnTo>
                <a:lnTo>
                  <a:pt x="418" y="27"/>
                </a:lnTo>
                <a:lnTo>
                  <a:pt x="416" y="22"/>
                </a:lnTo>
                <a:lnTo>
                  <a:pt x="413" y="17"/>
                </a:lnTo>
                <a:lnTo>
                  <a:pt x="411" y="12"/>
                </a:lnTo>
                <a:lnTo>
                  <a:pt x="408" y="5"/>
                </a:lnTo>
                <a:lnTo>
                  <a:pt x="404" y="0"/>
                </a:lnTo>
                <a:lnTo>
                  <a:pt x="403" y="2"/>
                </a:lnTo>
                <a:lnTo>
                  <a:pt x="404" y="7"/>
                </a:lnTo>
                <a:lnTo>
                  <a:pt x="408" y="12"/>
                </a:lnTo>
                <a:lnTo>
                  <a:pt x="409" y="19"/>
                </a:lnTo>
                <a:lnTo>
                  <a:pt x="413" y="24"/>
                </a:lnTo>
                <a:lnTo>
                  <a:pt x="414" y="29"/>
                </a:lnTo>
                <a:lnTo>
                  <a:pt x="418" y="34"/>
                </a:lnTo>
                <a:lnTo>
                  <a:pt x="419" y="40"/>
                </a:lnTo>
                <a:lnTo>
                  <a:pt x="421" y="45"/>
                </a:lnTo>
                <a:lnTo>
                  <a:pt x="424" y="43"/>
                </a:lnTo>
                <a:close/>
                <a:moveTo>
                  <a:pt x="0" y="186"/>
                </a:moveTo>
                <a:lnTo>
                  <a:pt x="2" y="191"/>
                </a:lnTo>
                <a:lnTo>
                  <a:pt x="4" y="196"/>
                </a:lnTo>
                <a:lnTo>
                  <a:pt x="7" y="201"/>
                </a:lnTo>
                <a:lnTo>
                  <a:pt x="9" y="206"/>
                </a:lnTo>
                <a:lnTo>
                  <a:pt x="10" y="211"/>
                </a:lnTo>
                <a:lnTo>
                  <a:pt x="14" y="216"/>
                </a:lnTo>
                <a:lnTo>
                  <a:pt x="15" y="221"/>
                </a:lnTo>
                <a:lnTo>
                  <a:pt x="19" y="226"/>
                </a:lnTo>
                <a:lnTo>
                  <a:pt x="22" y="224"/>
                </a:lnTo>
                <a:lnTo>
                  <a:pt x="19" y="219"/>
                </a:lnTo>
                <a:lnTo>
                  <a:pt x="17" y="214"/>
                </a:lnTo>
                <a:lnTo>
                  <a:pt x="14" y="209"/>
                </a:lnTo>
                <a:lnTo>
                  <a:pt x="12" y="204"/>
                </a:lnTo>
                <a:lnTo>
                  <a:pt x="9" y="199"/>
                </a:lnTo>
                <a:lnTo>
                  <a:pt x="7" y="194"/>
                </a:lnTo>
                <a:lnTo>
                  <a:pt x="5" y="189"/>
                </a:lnTo>
                <a:lnTo>
                  <a:pt x="4" y="184"/>
                </a:lnTo>
                <a:lnTo>
                  <a:pt x="0" y="186"/>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73" name="Freeform 1878">
            <a:extLst>
              <a:ext uri="{FF2B5EF4-FFF2-40B4-BE49-F238E27FC236}">
                <a16:creationId xmlns:a16="http://schemas.microsoft.com/office/drawing/2014/main" id="{C33A8D8A-2CE7-DBC3-159A-323729B2F40A}"/>
              </a:ext>
            </a:extLst>
          </p:cNvPr>
          <p:cNvSpPr>
            <a:spLocks noEditPoints="1"/>
          </p:cNvSpPr>
          <p:nvPr/>
        </p:nvSpPr>
        <p:spPr bwMode="auto">
          <a:xfrm>
            <a:off x="3186113" y="2424113"/>
            <a:ext cx="668338" cy="355600"/>
          </a:xfrm>
          <a:custGeom>
            <a:avLst/>
            <a:gdLst>
              <a:gd name="T0" fmla="*/ 421 w 421"/>
              <a:gd name="T1" fmla="*/ 43 h 224"/>
              <a:gd name="T2" fmla="*/ 419 w 421"/>
              <a:gd name="T3" fmla="*/ 37 h 224"/>
              <a:gd name="T4" fmla="*/ 417 w 421"/>
              <a:gd name="T5" fmla="*/ 32 h 224"/>
              <a:gd name="T6" fmla="*/ 414 w 421"/>
              <a:gd name="T7" fmla="*/ 27 h 224"/>
              <a:gd name="T8" fmla="*/ 412 w 421"/>
              <a:gd name="T9" fmla="*/ 20 h 224"/>
              <a:gd name="T10" fmla="*/ 409 w 421"/>
              <a:gd name="T11" fmla="*/ 15 h 224"/>
              <a:gd name="T12" fmla="*/ 407 w 421"/>
              <a:gd name="T13" fmla="*/ 10 h 224"/>
              <a:gd name="T14" fmla="*/ 404 w 421"/>
              <a:gd name="T15" fmla="*/ 5 h 224"/>
              <a:gd name="T16" fmla="*/ 401 w 421"/>
              <a:gd name="T17" fmla="*/ 0 h 224"/>
              <a:gd name="T18" fmla="*/ 399 w 421"/>
              <a:gd name="T19" fmla="*/ 2 h 224"/>
              <a:gd name="T20" fmla="*/ 401 w 421"/>
              <a:gd name="T21" fmla="*/ 7 h 224"/>
              <a:gd name="T22" fmla="*/ 404 w 421"/>
              <a:gd name="T23" fmla="*/ 12 h 224"/>
              <a:gd name="T24" fmla="*/ 407 w 421"/>
              <a:gd name="T25" fmla="*/ 17 h 224"/>
              <a:gd name="T26" fmla="*/ 409 w 421"/>
              <a:gd name="T27" fmla="*/ 22 h 224"/>
              <a:gd name="T28" fmla="*/ 411 w 421"/>
              <a:gd name="T29" fmla="*/ 27 h 224"/>
              <a:gd name="T30" fmla="*/ 414 w 421"/>
              <a:gd name="T31" fmla="*/ 33 h 224"/>
              <a:gd name="T32" fmla="*/ 416 w 421"/>
              <a:gd name="T33" fmla="*/ 38 h 224"/>
              <a:gd name="T34" fmla="*/ 417 w 421"/>
              <a:gd name="T35" fmla="*/ 43 h 224"/>
              <a:gd name="T36" fmla="*/ 421 w 421"/>
              <a:gd name="T37" fmla="*/ 43 h 224"/>
              <a:gd name="T38" fmla="*/ 0 w 421"/>
              <a:gd name="T39" fmla="*/ 182 h 224"/>
              <a:gd name="T40" fmla="*/ 2 w 421"/>
              <a:gd name="T41" fmla="*/ 187 h 224"/>
              <a:gd name="T42" fmla="*/ 3 w 421"/>
              <a:gd name="T43" fmla="*/ 194 h 224"/>
              <a:gd name="T44" fmla="*/ 5 w 421"/>
              <a:gd name="T45" fmla="*/ 199 h 224"/>
              <a:gd name="T46" fmla="*/ 8 w 421"/>
              <a:gd name="T47" fmla="*/ 204 h 224"/>
              <a:gd name="T48" fmla="*/ 10 w 421"/>
              <a:gd name="T49" fmla="*/ 209 h 224"/>
              <a:gd name="T50" fmla="*/ 13 w 421"/>
              <a:gd name="T51" fmla="*/ 214 h 224"/>
              <a:gd name="T52" fmla="*/ 15 w 421"/>
              <a:gd name="T53" fmla="*/ 219 h 224"/>
              <a:gd name="T54" fmla="*/ 18 w 421"/>
              <a:gd name="T55" fmla="*/ 224 h 224"/>
              <a:gd name="T56" fmla="*/ 22 w 421"/>
              <a:gd name="T57" fmla="*/ 222 h 224"/>
              <a:gd name="T58" fmla="*/ 18 w 421"/>
              <a:gd name="T59" fmla="*/ 217 h 224"/>
              <a:gd name="T60" fmla="*/ 17 w 421"/>
              <a:gd name="T61" fmla="*/ 212 h 224"/>
              <a:gd name="T62" fmla="*/ 13 w 421"/>
              <a:gd name="T63" fmla="*/ 207 h 224"/>
              <a:gd name="T64" fmla="*/ 12 w 421"/>
              <a:gd name="T65" fmla="*/ 202 h 224"/>
              <a:gd name="T66" fmla="*/ 8 w 421"/>
              <a:gd name="T67" fmla="*/ 197 h 224"/>
              <a:gd name="T68" fmla="*/ 7 w 421"/>
              <a:gd name="T69" fmla="*/ 192 h 224"/>
              <a:gd name="T70" fmla="*/ 5 w 421"/>
              <a:gd name="T71" fmla="*/ 187 h 224"/>
              <a:gd name="T72" fmla="*/ 3 w 421"/>
              <a:gd name="T73" fmla="*/ 181 h 224"/>
              <a:gd name="T74" fmla="*/ 0 w 421"/>
              <a:gd name="T75" fmla="*/ 18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21" h="224">
                <a:moveTo>
                  <a:pt x="421" y="43"/>
                </a:moveTo>
                <a:lnTo>
                  <a:pt x="419" y="37"/>
                </a:lnTo>
                <a:lnTo>
                  <a:pt x="417" y="32"/>
                </a:lnTo>
                <a:lnTo>
                  <a:pt x="414" y="27"/>
                </a:lnTo>
                <a:lnTo>
                  <a:pt x="412" y="20"/>
                </a:lnTo>
                <a:lnTo>
                  <a:pt x="409" y="15"/>
                </a:lnTo>
                <a:lnTo>
                  <a:pt x="407" y="10"/>
                </a:lnTo>
                <a:lnTo>
                  <a:pt x="404" y="5"/>
                </a:lnTo>
                <a:lnTo>
                  <a:pt x="401" y="0"/>
                </a:lnTo>
                <a:lnTo>
                  <a:pt x="399" y="2"/>
                </a:lnTo>
                <a:lnTo>
                  <a:pt x="401" y="7"/>
                </a:lnTo>
                <a:lnTo>
                  <a:pt x="404" y="12"/>
                </a:lnTo>
                <a:lnTo>
                  <a:pt x="407" y="17"/>
                </a:lnTo>
                <a:lnTo>
                  <a:pt x="409" y="22"/>
                </a:lnTo>
                <a:lnTo>
                  <a:pt x="411" y="27"/>
                </a:lnTo>
                <a:lnTo>
                  <a:pt x="414" y="33"/>
                </a:lnTo>
                <a:lnTo>
                  <a:pt x="416" y="38"/>
                </a:lnTo>
                <a:lnTo>
                  <a:pt x="417" y="43"/>
                </a:lnTo>
                <a:lnTo>
                  <a:pt x="421" y="43"/>
                </a:lnTo>
                <a:close/>
                <a:moveTo>
                  <a:pt x="0" y="182"/>
                </a:moveTo>
                <a:lnTo>
                  <a:pt x="2" y="187"/>
                </a:lnTo>
                <a:lnTo>
                  <a:pt x="3" y="194"/>
                </a:lnTo>
                <a:lnTo>
                  <a:pt x="5" y="199"/>
                </a:lnTo>
                <a:lnTo>
                  <a:pt x="8" y="204"/>
                </a:lnTo>
                <a:lnTo>
                  <a:pt x="10" y="209"/>
                </a:lnTo>
                <a:lnTo>
                  <a:pt x="13" y="214"/>
                </a:lnTo>
                <a:lnTo>
                  <a:pt x="15" y="219"/>
                </a:lnTo>
                <a:lnTo>
                  <a:pt x="18" y="224"/>
                </a:lnTo>
                <a:lnTo>
                  <a:pt x="22" y="222"/>
                </a:lnTo>
                <a:lnTo>
                  <a:pt x="18" y="217"/>
                </a:lnTo>
                <a:lnTo>
                  <a:pt x="17" y="212"/>
                </a:lnTo>
                <a:lnTo>
                  <a:pt x="13" y="207"/>
                </a:lnTo>
                <a:lnTo>
                  <a:pt x="12" y="202"/>
                </a:lnTo>
                <a:lnTo>
                  <a:pt x="8" y="197"/>
                </a:lnTo>
                <a:lnTo>
                  <a:pt x="7" y="192"/>
                </a:lnTo>
                <a:lnTo>
                  <a:pt x="5" y="187"/>
                </a:lnTo>
                <a:lnTo>
                  <a:pt x="3" y="181"/>
                </a:lnTo>
                <a:lnTo>
                  <a:pt x="0" y="182"/>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74" name="Freeform 1879">
            <a:extLst>
              <a:ext uri="{FF2B5EF4-FFF2-40B4-BE49-F238E27FC236}">
                <a16:creationId xmlns:a16="http://schemas.microsoft.com/office/drawing/2014/main" id="{5E1B3CD1-9441-2433-2709-E6270698773E}"/>
              </a:ext>
            </a:extLst>
          </p:cNvPr>
          <p:cNvSpPr>
            <a:spLocks noEditPoints="1"/>
          </p:cNvSpPr>
          <p:nvPr/>
        </p:nvSpPr>
        <p:spPr bwMode="auto">
          <a:xfrm>
            <a:off x="3189288" y="2424113"/>
            <a:ext cx="661988" cy="352425"/>
          </a:xfrm>
          <a:custGeom>
            <a:avLst/>
            <a:gdLst>
              <a:gd name="T0" fmla="*/ 417 w 417"/>
              <a:gd name="T1" fmla="*/ 43 h 222"/>
              <a:gd name="T2" fmla="*/ 415 w 417"/>
              <a:gd name="T3" fmla="*/ 38 h 222"/>
              <a:gd name="T4" fmla="*/ 414 w 417"/>
              <a:gd name="T5" fmla="*/ 32 h 222"/>
              <a:gd name="T6" fmla="*/ 410 w 417"/>
              <a:gd name="T7" fmla="*/ 27 h 222"/>
              <a:gd name="T8" fmla="*/ 409 w 417"/>
              <a:gd name="T9" fmla="*/ 22 h 222"/>
              <a:gd name="T10" fmla="*/ 405 w 417"/>
              <a:gd name="T11" fmla="*/ 17 h 222"/>
              <a:gd name="T12" fmla="*/ 404 w 417"/>
              <a:gd name="T13" fmla="*/ 10 h 222"/>
              <a:gd name="T14" fmla="*/ 400 w 417"/>
              <a:gd name="T15" fmla="*/ 5 h 222"/>
              <a:gd name="T16" fmla="*/ 399 w 417"/>
              <a:gd name="T17" fmla="*/ 0 h 222"/>
              <a:gd name="T18" fmla="*/ 395 w 417"/>
              <a:gd name="T19" fmla="*/ 2 h 222"/>
              <a:gd name="T20" fmla="*/ 397 w 417"/>
              <a:gd name="T21" fmla="*/ 7 h 222"/>
              <a:gd name="T22" fmla="*/ 400 w 417"/>
              <a:gd name="T23" fmla="*/ 12 h 222"/>
              <a:gd name="T24" fmla="*/ 404 w 417"/>
              <a:gd name="T25" fmla="*/ 17 h 222"/>
              <a:gd name="T26" fmla="*/ 405 w 417"/>
              <a:gd name="T27" fmla="*/ 23 h 222"/>
              <a:gd name="T28" fmla="*/ 409 w 417"/>
              <a:gd name="T29" fmla="*/ 28 h 222"/>
              <a:gd name="T30" fmla="*/ 410 w 417"/>
              <a:gd name="T31" fmla="*/ 33 h 222"/>
              <a:gd name="T32" fmla="*/ 412 w 417"/>
              <a:gd name="T33" fmla="*/ 38 h 222"/>
              <a:gd name="T34" fmla="*/ 414 w 417"/>
              <a:gd name="T35" fmla="*/ 45 h 222"/>
              <a:gd name="T36" fmla="*/ 417 w 417"/>
              <a:gd name="T37" fmla="*/ 43 h 222"/>
              <a:gd name="T38" fmla="*/ 0 w 417"/>
              <a:gd name="T39" fmla="*/ 182 h 222"/>
              <a:gd name="T40" fmla="*/ 1 w 417"/>
              <a:gd name="T41" fmla="*/ 187 h 222"/>
              <a:gd name="T42" fmla="*/ 3 w 417"/>
              <a:gd name="T43" fmla="*/ 192 h 222"/>
              <a:gd name="T44" fmla="*/ 5 w 417"/>
              <a:gd name="T45" fmla="*/ 197 h 222"/>
              <a:gd name="T46" fmla="*/ 8 w 417"/>
              <a:gd name="T47" fmla="*/ 202 h 222"/>
              <a:gd name="T48" fmla="*/ 10 w 417"/>
              <a:gd name="T49" fmla="*/ 207 h 222"/>
              <a:gd name="T50" fmla="*/ 13 w 417"/>
              <a:gd name="T51" fmla="*/ 212 h 222"/>
              <a:gd name="T52" fmla="*/ 15 w 417"/>
              <a:gd name="T53" fmla="*/ 217 h 222"/>
              <a:gd name="T54" fmla="*/ 18 w 417"/>
              <a:gd name="T55" fmla="*/ 222 h 222"/>
              <a:gd name="T56" fmla="*/ 21 w 417"/>
              <a:gd name="T57" fmla="*/ 220 h 222"/>
              <a:gd name="T58" fmla="*/ 18 w 417"/>
              <a:gd name="T59" fmla="*/ 215 h 222"/>
              <a:gd name="T60" fmla="*/ 16 w 417"/>
              <a:gd name="T61" fmla="*/ 210 h 222"/>
              <a:gd name="T62" fmla="*/ 13 w 417"/>
              <a:gd name="T63" fmla="*/ 205 h 222"/>
              <a:gd name="T64" fmla="*/ 11 w 417"/>
              <a:gd name="T65" fmla="*/ 200 h 222"/>
              <a:gd name="T66" fmla="*/ 8 w 417"/>
              <a:gd name="T67" fmla="*/ 195 h 222"/>
              <a:gd name="T68" fmla="*/ 6 w 417"/>
              <a:gd name="T69" fmla="*/ 190 h 222"/>
              <a:gd name="T70" fmla="*/ 5 w 417"/>
              <a:gd name="T71" fmla="*/ 186 h 222"/>
              <a:gd name="T72" fmla="*/ 3 w 417"/>
              <a:gd name="T73" fmla="*/ 181 h 222"/>
              <a:gd name="T74" fmla="*/ 0 w 417"/>
              <a:gd name="T75" fmla="*/ 182 h 2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17" h="222">
                <a:moveTo>
                  <a:pt x="417" y="43"/>
                </a:moveTo>
                <a:lnTo>
                  <a:pt x="415" y="38"/>
                </a:lnTo>
                <a:lnTo>
                  <a:pt x="414" y="32"/>
                </a:lnTo>
                <a:lnTo>
                  <a:pt x="410" y="27"/>
                </a:lnTo>
                <a:lnTo>
                  <a:pt x="409" y="22"/>
                </a:lnTo>
                <a:lnTo>
                  <a:pt x="405" y="17"/>
                </a:lnTo>
                <a:lnTo>
                  <a:pt x="404" y="10"/>
                </a:lnTo>
                <a:lnTo>
                  <a:pt x="400" y="5"/>
                </a:lnTo>
                <a:lnTo>
                  <a:pt x="399" y="0"/>
                </a:lnTo>
                <a:lnTo>
                  <a:pt x="395" y="2"/>
                </a:lnTo>
                <a:lnTo>
                  <a:pt x="397" y="7"/>
                </a:lnTo>
                <a:lnTo>
                  <a:pt x="400" y="12"/>
                </a:lnTo>
                <a:lnTo>
                  <a:pt x="404" y="17"/>
                </a:lnTo>
                <a:lnTo>
                  <a:pt x="405" y="23"/>
                </a:lnTo>
                <a:lnTo>
                  <a:pt x="409" y="28"/>
                </a:lnTo>
                <a:lnTo>
                  <a:pt x="410" y="33"/>
                </a:lnTo>
                <a:lnTo>
                  <a:pt x="412" y="38"/>
                </a:lnTo>
                <a:lnTo>
                  <a:pt x="414" y="45"/>
                </a:lnTo>
                <a:lnTo>
                  <a:pt x="417" y="43"/>
                </a:lnTo>
                <a:close/>
                <a:moveTo>
                  <a:pt x="0" y="182"/>
                </a:moveTo>
                <a:lnTo>
                  <a:pt x="1" y="187"/>
                </a:lnTo>
                <a:lnTo>
                  <a:pt x="3" y="192"/>
                </a:lnTo>
                <a:lnTo>
                  <a:pt x="5" y="197"/>
                </a:lnTo>
                <a:lnTo>
                  <a:pt x="8" y="202"/>
                </a:lnTo>
                <a:lnTo>
                  <a:pt x="10" y="207"/>
                </a:lnTo>
                <a:lnTo>
                  <a:pt x="13" y="212"/>
                </a:lnTo>
                <a:lnTo>
                  <a:pt x="15" y="217"/>
                </a:lnTo>
                <a:lnTo>
                  <a:pt x="18" y="222"/>
                </a:lnTo>
                <a:lnTo>
                  <a:pt x="21" y="220"/>
                </a:lnTo>
                <a:lnTo>
                  <a:pt x="18" y="215"/>
                </a:lnTo>
                <a:lnTo>
                  <a:pt x="16" y="210"/>
                </a:lnTo>
                <a:lnTo>
                  <a:pt x="13" y="205"/>
                </a:lnTo>
                <a:lnTo>
                  <a:pt x="11" y="200"/>
                </a:lnTo>
                <a:lnTo>
                  <a:pt x="8" y="195"/>
                </a:lnTo>
                <a:lnTo>
                  <a:pt x="6" y="190"/>
                </a:lnTo>
                <a:lnTo>
                  <a:pt x="5" y="186"/>
                </a:lnTo>
                <a:lnTo>
                  <a:pt x="3" y="181"/>
                </a:lnTo>
                <a:lnTo>
                  <a:pt x="0" y="182"/>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75" name="Freeform 1880">
            <a:extLst>
              <a:ext uri="{FF2B5EF4-FFF2-40B4-BE49-F238E27FC236}">
                <a16:creationId xmlns:a16="http://schemas.microsoft.com/office/drawing/2014/main" id="{58845B97-4A36-4839-34A7-450958893C20}"/>
              </a:ext>
            </a:extLst>
          </p:cNvPr>
          <p:cNvSpPr>
            <a:spLocks noEditPoints="1"/>
          </p:cNvSpPr>
          <p:nvPr/>
        </p:nvSpPr>
        <p:spPr bwMode="auto">
          <a:xfrm>
            <a:off x="3190875" y="2427288"/>
            <a:ext cx="657225" cy="349250"/>
          </a:xfrm>
          <a:custGeom>
            <a:avLst/>
            <a:gdLst>
              <a:gd name="T0" fmla="*/ 414 w 414"/>
              <a:gd name="T1" fmla="*/ 41 h 220"/>
              <a:gd name="T2" fmla="*/ 413 w 414"/>
              <a:gd name="T3" fmla="*/ 36 h 220"/>
              <a:gd name="T4" fmla="*/ 411 w 414"/>
              <a:gd name="T5" fmla="*/ 31 h 220"/>
              <a:gd name="T6" fmla="*/ 408 w 414"/>
              <a:gd name="T7" fmla="*/ 25 h 220"/>
              <a:gd name="T8" fmla="*/ 406 w 414"/>
              <a:gd name="T9" fmla="*/ 20 h 220"/>
              <a:gd name="T10" fmla="*/ 404 w 414"/>
              <a:gd name="T11" fmla="*/ 15 h 220"/>
              <a:gd name="T12" fmla="*/ 401 w 414"/>
              <a:gd name="T13" fmla="*/ 10 h 220"/>
              <a:gd name="T14" fmla="*/ 398 w 414"/>
              <a:gd name="T15" fmla="*/ 5 h 220"/>
              <a:gd name="T16" fmla="*/ 396 w 414"/>
              <a:gd name="T17" fmla="*/ 0 h 220"/>
              <a:gd name="T18" fmla="*/ 393 w 414"/>
              <a:gd name="T19" fmla="*/ 1 h 220"/>
              <a:gd name="T20" fmla="*/ 396 w 414"/>
              <a:gd name="T21" fmla="*/ 6 h 220"/>
              <a:gd name="T22" fmla="*/ 398 w 414"/>
              <a:gd name="T23" fmla="*/ 11 h 220"/>
              <a:gd name="T24" fmla="*/ 401 w 414"/>
              <a:gd name="T25" fmla="*/ 16 h 220"/>
              <a:gd name="T26" fmla="*/ 403 w 414"/>
              <a:gd name="T27" fmla="*/ 21 h 220"/>
              <a:gd name="T28" fmla="*/ 406 w 414"/>
              <a:gd name="T29" fmla="*/ 26 h 220"/>
              <a:gd name="T30" fmla="*/ 408 w 414"/>
              <a:gd name="T31" fmla="*/ 31 h 220"/>
              <a:gd name="T32" fmla="*/ 409 w 414"/>
              <a:gd name="T33" fmla="*/ 38 h 220"/>
              <a:gd name="T34" fmla="*/ 411 w 414"/>
              <a:gd name="T35" fmla="*/ 43 h 220"/>
              <a:gd name="T36" fmla="*/ 414 w 414"/>
              <a:gd name="T37" fmla="*/ 41 h 220"/>
              <a:gd name="T38" fmla="*/ 0 w 414"/>
              <a:gd name="T39" fmla="*/ 179 h 220"/>
              <a:gd name="T40" fmla="*/ 2 w 414"/>
              <a:gd name="T41" fmla="*/ 185 h 220"/>
              <a:gd name="T42" fmla="*/ 4 w 414"/>
              <a:gd name="T43" fmla="*/ 190 h 220"/>
              <a:gd name="T44" fmla="*/ 5 w 414"/>
              <a:gd name="T45" fmla="*/ 195 h 220"/>
              <a:gd name="T46" fmla="*/ 9 w 414"/>
              <a:gd name="T47" fmla="*/ 200 h 220"/>
              <a:gd name="T48" fmla="*/ 10 w 414"/>
              <a:gd name="T49" fmla="*/ 205 h 220"/>
              <a:gd name="T50" fmla="*/ 14 w 414"/>
              <a:gd name="T51" fmla="*/ 210 h 220"/>
              <a:gd name="T52" fmla="*/ 15 w 414"/>
              <a:gd name="T53" fmla="*/ 215 h 220"/>
              <a:gd name="T54" fmla="*/ 19 w 414"/>
              <a:gd name="T55" fmla="*/ 220 h 220"/>
              <a:gd name="T56" fmla="*/ 22 w 414"/>
              <a:gd name="T57" fmla="*/ 218 h 220"/>
              <a:gd name="T58" fmla="*/ 19 w 414"/>
              <a:gd name="T59" fmla="*/ 213 h 220"/>
              <a:gd name="T60" fmla="*/ 15 w 414"/>
              <a:gd name="T61" fmla="*/ 208 h 220"/>
              <a:gd name="T62" fmla="*/ 14 w 414"/>
              <a:gd name="T63" fmla="*/ 203 h 220"/>
              <a:gd name="T64" fmla="*/ 10 w 414"/>
              <a:gd name="T65" fmla="*/ 198 h 220"/>
              <a:gd name="T66" fmla="*/ 9 w 414"/>
              <a:gd name="T67" fmla="*/ 193 h 220"/>
              <a:gd name="T68" fmla="*/ 7 w 414"/>
              <a:gd name="T69" fmla="*/ 188 h 220"/>
              <a:gd name="T70" fmla="*/ 5 w 414"/>
              <a:gd name="T71" fmla="*/ 184 h 220"/>
              <a:gd name="T72" fmla="*/ 4 w 414"/>
              <a:gd name="T73" fmla="*/ 179 h 220"/>
              <a:gd name="T74" fmla="*/ 0 w 414"/>
              <a:gd name="T75" fmla="*/ 179 h 2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14" h="220">
                <a:moveTo>
                  <a:pt x="414" y="41"/>
                </a:moveTo>
                <a:lnTo>
                  <a:pt x="413" y="36"/>
                </a:lnTo>
                <a:lnTo>
                  <a:pt x="411" y="31"/>
                </a:lnTo>
                <a:lnTo>
                  <a:pt x="408" y="25"/>
                </a:lnTo>
                <a:lnTo>
                  <a:pt x="406" y="20"/>
                </a:lnTo>
                <a:lnTo>
                  <a:pt x="404" y="15"/>
                </a:lnTo>
                <a:lnTo>
                  <a:pt x="401" y="10"/>
                </a:lnTo>
                <a:lnTo>
                  <a:pt x="398" y="5"/>
                </a:lnTo>
                <a:lnTo>
                  <a:pt x="396" y="0"/>
                </a:lnTo>
                <a:lnTo>
                  <a:pt x="393" y="1"/>
                </a:lnTo>
                <a:lnTo>
                  <a:pt x="396" y="6"/>
                </a:lnTo>
                <a:lnTo>
                  <a:pt x="398" y="11"/>
                </a:lnTo>
                <a:lnTo>
                  <a:pt x="401" y="16"/>
                </a:lnTo>
                <a:lnTo>
                  <a:pt x="403" y="21"/>
                </a:lnTo>
                <a:lnTo>
                  <a:pt x="406" y="26"/>
                </a:lnTo>
                <a:lnTo>
                  <a:pt x="408" y="31"/>
                </a:lnTo>
                <a:lnTo>
                  <a:pt x="409" y="38"/>
                </a:lnTo>
                <a:lnTo>
                  <a:pt x="411" y="43"/>
                </a:lnTo>
                <a:lnTo>
                  <a:pt x="414" y="41"/>
                </a:lnTo>
                <a:close/>
                <a:moveTo>
                  <a:pt x="0" y="179"/>
                </a:moveTo>
                <a:lnTo>
                  <a:pt x="2" y="185"/>
                </a:lnTo>
                <a:lnTo>
                  <a:pt x="4" y="190"/>
                </a:lnTo>
                <a:lnTo>
                  <a:pt x="5" y="195"/>
                </a:lnTo>
                <a:lnTo>
                  <a:pt x="9" y="200"/>
                </a:lnTo>
                <a:lnTo>
                  <a:pt x="10" y="205"/>
                </a:lnTo>
                <a:lnTo>
                  <a:pt x="14" y="210"/>
                </a:lnTo>
                <a:lnTo>
                  <a:pt x="15" y="215"/>
                </a:lnTo>
                <a:lnTo>
                  <a:pt x="19" y="220"/>
                </a:lnTo>
                <a:lnTo>
                  <a:pt x="22" y="218"/>
                </a:lnTo>
                <a:lnTo>
                  <a:pt x="19" y="213"/>
                </a:lnTo>
                <a:lnTo>
                  <a:pt x="15" y="208"/>
                </a:lnTo>
                <a:lnTo>
                  <a:pt x="14" y="203"/>
                </a:lnTo>
                <a:lnTo>
                  <a:pt x="10" y="198"/>
                </a:lnTo>
                <a:lnTo>
                  <a:pt x="9" y="193"/>
                </a:lnTo>
                <a:lnTo>
                  <a:pt x="7" y="188"/>
                </a:lnTo>
                <a:lnTo>
                  <a:pt x="5" y="184"/>
                </a:lnTo>
                <a:lnTo>
                  <a:pt x="4" y="179"/>
                </a:lnTo>
                <a:lnTo>
                  <a:pt x="0" y="179"/>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76" name="Freeform 1881">
            <a:extLst>
              <a:ext uri="{FF2B5EF4-FFF2-40B4-BE49-F238E27FC236}">
                <a16:creationId xmlns:a16="http://schemas.microsoft.com/office/drawing/2014/main" id="{178D1F49-7E72-A160-9F5D-0239D552CEC5}"/>
              </a:ext>
            </a:extLst>
          </p:cNvPr>
          <p:cNvSpPr>
            <a:spLocks noEditPoints="1"/>
          </p:cNvSpPr>
          <p:nvPr/>
        </p:nvSpPr>
        <p:spPr bwMode="auto">
          <a:xfrm>
            <a:off x="3194050" y="2427288"/>
            <a:ext cx="652463" cy="346075"/>
          </a:xfrm>
          <a:custGeom>
            <a:avLst/>
            <a:gdLst>
              <a:gd name="T0" fmla="*/ 411 w 411"/>
              <a:gd name="T1" fmla="*/ 43 h 218"/>
              <a:gd name="T2" fmla="*/ 409 w 411"/>
              <a:gd name="T3" fmla="*/ 36 h 218"/>
              <a:gd name="T4" fmla="*/ 407 w 411"/>
              <a:gd name="T5" fmla="*/ 31 h 218"/>
              <a:gd name="T6" fmla="*/ 406 w 411"/>
              <a:gd name="T7" fmla="*/ 26 h 218"/>
              <a:gd name="T8" fmla="*/ 402 w 411"/>
              <a:gd name="T9" fmla="*/ 21 h 218"/>
              <a:gd name="T10" fmla="*/ 401 w 411"/>
              <a:gd name="T11" fmla="*/ 15 h 218"/>
              <a:gd name="T12" fmla="*/ 397 w 411"/>
              <a:gd name="T13" fmla="*/ 10 h 218"/>
              <a:gd name="T14" fmla="*/ 394 w 411"/>
              <a:gd name="T15" fmla="*/ 5 h 218"/>
              <a:gd name="T16" fmla="*/ 392 w 411"/>
              <a:gd name="T17" fmla="*/ 0 h 218"/>
              <a:gd name="T18" fmla="*/ 389 w 411"/>
              <a:gd name="T19" fmla="*/ 1 h 218"/>
              <a:gd name="T20" fmla="*/ 392 w 411"/>
              <a:gd name="T21" fmla="*/ 6 h 218"/>
              <a:gd name="T22" fmla="*/ 394 w 411"/>
              <a:gd name="T23" fmla="*/ 11 h 218"/>
              <a:gd name="T24" fmla="*/ 397 w 411"/>
              <a:gd name="T25" fmla="*/ 16 h 218"/>
              <a:gd name="T26" fmla="*/ 399 w 411"/>
              <a:gd name="T27" fmla="*/ 21 h 218"/>
              <a:gd name="T28" fmla="*/ 402 w 411"/>
              <a:gd name="T29" fmla="*/ 28 h 218"/>
              <a:gd name="T30" fmla="*/ 404 w 411"/>
              <a:gd name="T31" fmla="*/ 33 h 218"/>
              <a:gd name="T32" fmla="*/ 406 w 411"/>
              <a:gd name="T33" fmla="*/ 38 h 218"/>
              <a:gd name="T34" fmla="*/ 407 w 411"/>
              <a:gd name="T35" fmla="*/ 44 h 218"/>
              <a:gd name="T36" fmla="*/ 411 w 411"/>
              <a:gd name="T37" fmla="*/ 43 h 218"/>
              <a:gd name="T38" fmla="*/ 0 w 411"/>
              <a:gd name="T39" fmla="*/ 179 h 218"/>
              <a:gd name="T40" fmla="*/ 2 w 411"/>
              <a:gd name="T41" fmla="*/ 184 h 218"/>
              <a:gd name="T42" fmla="*/ 3 w 411"/>
              <a:gd name="T43" fmla="*/ 188 h 218"/>
              <a:gd name="T44" fmla="*/ 5 w 411"/>
              <a:gd name="T45" fmla="*/ 193 h 218"/>
              <a:gd name="T46" fmla="*/ 8 w 411"/>
              <a:gd name="T47" fmla="*/ 198 h 218"/>
              <a:gd name="T48" fmla="*/ 10 w 411"/>
              <a:gd name="T49" fmla="*/ 203 h 218"/>
              <a:gd name="T50" fmla="*/ 13 w 411"/>
              <a:gd name="T51" fmla="*/ 208 h 218"/>
              <a:gd name="T52" fmla="*/ 15 w 411"/>
              <a:gd name="T53" fmla="*/ 213 h 218"/>
              <a:gd name="T54" fmla="*/ 18 w 411"/>
              <a:gd name="T55" fmla="*/ 218 h 218"/>
              <a:gd name="T56" fmla="*/ 21 w 411"/>
              <a:gd name="T57" fmla="*/ 217 h 218"/>
              <a:gd name="T58" fmla="*/ 18 w 411"/>
              <a:gd name="T59" fmla="*/ 213 h 218"/>
              <a:gd name="T60" fmla="*/ 15 w 411"/>
              <a:gd name="T61" fmla="*/ 208 h 218"/>
              <a:gd name="T62" fmla="*/ 13 w 411"/>
              <a:gd name="T63" fmla="*/ 203 h 218"/>
              <a:gd name="T64" fmla="*/ 10 w 411"/>
              <a:gd name="T65" fmla="*/ 198 h 218"/>
              <a:gd name="T66" fmla="*/ 8 w 411"/>
              <a:gd name="T67" fmla="*/ 193 h 218"/>
              <a:gd name="T68" fmla="*/ 7 w 411"/>
              <a:gd name="T69" fmla="*/ 187 h 218"/>
              <a:gd name="T70" fmla="*/ 5 w 411"/>
              <a:gd name="T71" fmla="*/ 182 h 218"/>
              <a:gd name="T72" fmla="*/ 2 w 411"/>
              <a:gd name="T73" fmla="*/ 177 h 218"/>
              <a:gd name="T74" fmla="*/ 0 w 411"/>
              <a:gd name="T75" fmla="*/ 179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11" h="218">
                <a:moveTo>
                  <a:pt x="411" y="43"/>
                </a:moveTo>
                <a:lnTo>
                  <a:pt x="409" y="36"/>
                </a:lnTo>
                <a:lnTo>
                  <a:pt x="407" y="31"/>
                </a:lnTo>
                <a:lnTo>
                  <a:pt x="406" y="26"/>
                </a:lnTo>
                <a:lnTo>
                  <a:pt x="402" y="21"/>
                </a:lnTo>
                <a:lnTo>
                  <a:pt x="401" y="15"/>
                </a:lnTo>
                <a:lnTo>
                  <a:pt x="397" y="10"/>
                </a:lnTo>
                <a:lnTo>
                  <a:pt x="394" y="5"/>
                </a:lnTo>
                <a:lnTo>
                  <a:pt x="392" y="0"/>
                </a:lnTo>
                <a:lnTo>
                  <a:pt x="389" y="1"/>
                </a:lnTo>
                <a:lnTo>
                  <a:pt x="392" y="6"/>
                </a:lnTo>
                <a:lnTo>
                  <a:pt x="394" y="11"/>
                </a:lnTo>
                <a:lnTo>
                  <a:pt x="397" y="16"/>
                </a:lnTo>
                <a:lnTo>
                  <a:pt x="399" y="21"/>
                </a:lnTo>
                <a:lnTo>
                  <a:pt x="402" y="28"/>
                </a:lnTo>
                <a:lnTo>
                  <a:pt x="404" y="33"/>
                </a:lnTo>
                <a:lnTo>
                  <a:pt x="406" y="38"/>
                </a:lnTo>
                <a:lnTo>
                  <a:pt x="407" y="44"/>
                </a:lnTo>
                <a:lnTo>
                  <a:pt x="411" y="43"/>
                </a:lnTo>
                <a:close/>
                <a:moveTo>
                  <a:pt x="0" y="179"/>
                </a:moveTo>
                <a:lnTo>
                  <a:pt x="2" y="184"/>
                </a:lnTo>
                <a:lnTo>
                  <a:pt x="3" y="188"/>
                </a:lnTo>
                <a:lnTo>
                  <a:pt x="5" y="193"/>
                </a:lnTo>
                <a:lnTo>
                  <a:pt x="8" y="198"/>
                </a:lnTo>
                <a:lnTo>
                  <a:pt x="10" y="203"/>
                </a:lnTo>
                <a:lnTo>
                  <a:pt x="13" y="208"/>
                </a:lnTo>
                <a:lnTo>
                  <a:pt x="15" y="213"/>
                </a:lnTo>
                <a:lnTo>
                  <a:pt x="18" y="218"/>
                </a:lnTo>
                <a:lnTo>
                  <a:pt x="21" y="217"/>
                </a:lnTo>
                <a:lnTo>
                  <a:pt x="18" y="213"/>
                </a:lnTo>
                <a:lnTo>
                  <a:pt x="15" y="208"/>
                </a:lnTo>
                <a:lnTo>
                  <a:pt x="13" y="203"/>
                </a:lnTo>
                <a:lnTo>
                  <a:pt x="10" y="198"/>
                </a:lnTo>
                <a:lnTo>
                  <a:pt x="8" y="193"/>
                </a:lnTo>
                <a:lnTo>
                  <a:pt x="7" y="187"/>
                </a:lnTo>
                <a:lnTo>
                  <a:pt x="5" y="182"/>
                </a:lnTo>
                <a:lnTo>
                  <a:pt x="2" y="177"/>
                </a:lnTo>
                <a:lnTo>
                  <a:pt x="0" y="179"/>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77" name="Freeform 1882">
            <a:extLst>
              <a:ext uri="{FF2B5EF4-FFF2-40B4-BE49-F238E27FC236}">
                <a16:creationId xmlns:a16="http://schemas.microsoft.com/office/drawing/2014/main" id="{FF26B917-2FA0-47A0-F513-E5B0C1C5D059}"/>
              </a:ext>
            </a:extLst>
          </p:cNvPr>
          <p:cNvSpPr>
            <a:spLocks noEditPoints="1"/>
          </p:cNvSpPr>
          <p:nvPr/>
        </p:nvSpPr>
        <p:spPr bwMode="auto">
          <a:xfrm>
            <a:off x="3197225" y="2428875"/>
            <a:ext cx="646113" cy="344488"/>
          </a:xfrm>
          <a:custGeom>
            <a:avLst/>
            <a:gdLst>
              <a:gd name="T0" fmla="*/ 407 w 407"/>
              <a:gd name="T1" fmla="*/ 42 h 217"/>
              <a:gd name="T2" fmla="*/ 405 w 407"/>
              <a:gd name="T3" fmla="*/ 37 h 217"/>
              <a:gd name="T4" fmla="*/ 404 w 407"/>
              <a:gd name="T5" fmla="*/ 30 h 217"/>
              <a:gd name="T6" fmla="*/ 402 w 407"/>
              <a:gd name="T7" fmla="*/ 25 h 217"/>
              <a:gd name="T8" fmla="*/ 399 w 407"/>
              <a:gd name="T9" fmla="*/ 20 h 217"/>
              <a:gd name="T10" fmla="*/ 397 w 407"/>
              <a:gd name="T11" fmla="*/ 15 h 217"/>
              <a:gd name="T12" fmla="*/ 394 w 407"/>
              <a:gd name="T13" fmla="*/ 10 h 217"/>
              <a:gd name="T14" fmla="*/ 392 w 407"/>
              <a:gd name="T15" fmla="*/ 5 h 217"/>
              <a:gd name="T16" fmla="*/ 389 w 407"/>
              <a:gd name="T17" fmla="*/ 0 h 217"/>
              <a:gd name="T18" fmla="*/ 385 w 407"/>
              <a:gd name="T19" fmla="*/ 0 h 217"/>
              <a:gd name="T20" fmla="*/ 389 w 407"/>
              <a:gd name="T21" fmla="*/ 5 h 217"/>
              <a:gd name="T22" fmla="*/ 390 w 407"/>
              <a:gd name="T23" fmla="*/ 10 h 217"/>
              <a:gd name="T24" fmla="*/ 394 w 407"/>
              <a:gd name="T25" fmla="*/ 17 h 217"/>
              <a:gd name="T26" fmla="*/ 395 w 407"/>
              <a:gd name="T27" fmla="*/ 22 h 217"/>
              <a:gd name="T28" fmla="*/ 399 w 407"/>
              <a:gd name="T29" fmla="*/ 27 h 217"/>
              <a:gd name="T30" fmla="*/ 400 w 407"/>
              <a:gd name="T31" fmla="*/ 32 h 217"/>
              <a:gd name="T32" fmla="*/ 402 w 407"/>
              <a:gd name="T33" fmla="*/ 38 h 217"/>
              <a:gd name="T34" fmla="*/ 404 w 407"/>
              <a:gd name="T35" fmla="*/ 43 h 217"/>
              <a:gd name="T36" fmla="*/ 407 w 407"/>
              <a:gd name="T37" fmla="*/ 42 h 217"/>
              <a:gd name="T38" fmla="*/ 0 w 407"/>
              <a:gd name="T39" fmla="*/ 178 h 217"/>
              <a:gd name="T40" fmla="*/ 1 w 407"/>
              <a:gd name="T41" fmla="*/ 183 h 217"/>
              <a:gd name="T42" fmla="*/ 3 w 407"/>
              <a:gd name="T43" fmla="*/ 187 h 217"/>
              <a:gd name="T44" fmla="*/ 5 w 407"/>
              <a:gd name="T45" fmla="*/ 192 h 217"/>
              <a:gd name="T46" fmla="*/ 6 w 407"/>
              <a:gd name="T47" fmla="*/ 197 h 217"/>
              <a:gd name="T48" fmla="*/ 10 w 407"/>
              <a:gd name="T49" fmla="*/ 202 h 217"/>
              <a:gd name="T50" fmla="*/ 11 w 407"/>
              <a:gd name="T51" fmla="*/ 207 h 217"/>
              <a:gd name="T52" fmla="*/ 15 w 407"/>
              <a:gd name="T53" fmla="*/ 212 h 217"/>
              <a:gd name="T54" fmla="*/ 18 w 407"/>
              <a:gd name="T55" fmla="*/ 217 h 217"/>
              <a:gd name="T56" fmla="*/ 21 w 407"/>
              <a:gd name="T57" fmla="*/ 216 h 217"/>
              <a:gd name="T58" fmla="*/ 18 w 407"/>
              <a:gd name="T59" fmla="*/ 211 h 217"/>
              <a:gd name="T60" fmla="*/ 15 w 407"/>
              <a:gd name="T61" fmla="*/ 206 h 217"/>
              <a:gd name="T62" fmla="*/ 13 w 407"/>
              <a:gd name="T63" fmla="*/ 201 h 217"/>
              <a:gd name="T64" fmla="*/ 10 w 407"/>
              <a:gd name="T65" fmla="*/ 196 h 217"/>
              <a:gd name="T66" fmla="*/ 8 w 407"/>
              <a:gd name="T67" fmla="*/ 191 h 217"/>
              <a:gd name="T68" fmla="*/ 6 w 407"/>
              <a:gd name="T69" fmla="*/ 186 h 217"/>
              <a:gd name="T70" fmla="*/ 3 w 407"/>
              <a:gd name="T71" fmla="*/ 181 h 217"/>
              <a:gd name="T72" fmla="*/ 1 w 407"/>
              <a:gd name="T73" fmla="*/ 176 h 217"/>
              <a:gd name="T74" fmla="*/ 0 w 407"/>
              <a:gd name="T75" fmla="*/ 178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07" h="217">
                <a:moveTo>
                  <a:pt x="407" y="42"/>
                </a:moveTo>
                <a:lnTo>
                  <a:pt x="405" y="37"/>
                </a:lnTo>
                <a:lnTo>
                  <a:pt x="404" y="30"/>
                </a:lnTo>
                <a:lnTo>
                  <a:pt x="402" y="25"/>
                </a:lnTo>
                <a:lnTo>
                  <a:pt x="399" y="20"/>
                </a:lnTo>
                <a:lnTo>
                  <a:pt x="397" y="15"/>
                </a:lnTo>
                <a:lnTo>
                  <a:pt x="394" y="10"/>
                </a:lnTo>
                <a:lnTo>
                  <a:pt x="392" y="5"/>
                </a:lnTo>
                <a:lnTo>
                  <a:pt x="389" y="0"/>
                </a:lnTo>
                <a:lnTo>
                  <a:pt x="385" y="0"/>
                </a:lnTo>
                <a:lnTo>
                  <a:pt x="389" y="5"/>
                </a:lnTo>
                <a:lnTo>
                  <a:pt x="390" y="10"/>
                </a:lnTo>
                <a:lnTo>
                  <a:pt x="394" y="17"/>
                </a:lnTo>
                <a:lnTo>
                  <a:pt x="395" y="22"/>
                </a:lnTo>
                <a:lnTo>
                  <a:pt x="399" y="27"/>
                </a:lnTo>
                <a:lnTo>
                  <a:pt x="400" y="32"/>
                </a:lnTo>
                <a:lnTo>
                  <a:pt x="402" y="38"/>
                </a:lnTo>
                <a:lnTo>
                  <a:pt x="404" y="43"/>
                </a:lnTo>
                <a:lnTo>
                  <a:pt x="407" y="42"/>
                </a:lnTo>
                <a:close/>
                <a:moveTo>
                  <a:pt x="0" y="178"/>
                </a:moveTo>
                <a:lnTo>
                  <a:pt x="1" y="183"/>
                </a:lnTo>
                <a:lnTo>
                  <a:pt x="3" y="187"/>
                </a:lnTo>
                <a:lnTo>
                  <a:pt x="5" y="192"/>
                </a:lnTo>
                <a:lnTo>
                  <a:pt x="6" y="197"/>
                </a:lnTo>
                <a:lnTo>
                  <a:pt x="10" y="202"/>
                </a:lnTo>
                <a:lnTo>
                  <a:pt x="11" y="207"/>
                </a:lnTo>
                <a:lnTo>
                  <a:pt x="15" y="212"/>
                </a:lnTo>
                <a:lnTo>
                  <a:pt x="18" y="217"/>
                </a:lnTo>
                <a:lnTo>
                  <a:pt x="21" y="216"/>
                </a:lnTo>
                <a:lnTo>
                  <a:pt x="18" y="211"/>
                </a:lnTo>
                <a:lnTo>
                  <a:pt x="15" y="206"/>
                </a:lnTo>
                <a:lnTo>
                  <a:pt x="13" y="201"/>
                </a:lnTo>
                <a:lnTo>
                  <a:pt x="10" y="196"/>
                </a:lnTo>
                <a:lnTo>
                  <a:pt x="8" y="191"/>
                </a:lnTo>
                <a:lnTo>
                  <a:pt x="6" y="186"/>
                </a:lnTo>
                <a:lnTo>
                  <a:pt x="3" y="181"/>
                </a:lnTo>
                <a:lnTo>
                  <a:pt x="1" y="176"/>
                </a:lnTo>
                <a:lnTo>
                  <a:pt x="0" y="178"/>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78" name="Freeform 1883">
            <a:extLst>
              <a:ext uri="{FF2B5EF4-FFF2-40B4-BE49-F238E27FC236}">
                <a16:creationId xmlns:a16="http://schemas.microsoft.com/office/drawing/2014/main" id="{4D01EE20-3DF8-FCC9-B9F8-390D3E89D455}"/>
              </a:ext>
            </a:extLst>
          </p:cNvPr>
          <p:cNvSpPr>
            <a:spLocks noEditPoints="1"/>
          </p:cNvSpPr>
          <p:nvPr/>
        </p:nvSpPr>
        <p:spPr bwMode="auto">
          <a:xfrm>
            <a:off x="3197225" y="2428875"/>
            <a:ext cx="642938" cy="342900"/>
          </a:xfrm>
          <a:custGeom>
            <a:avLst/>
            <a:gdLst>
              <a:gd name="T0" fmla="*/ 405 w 405"/>
              <a:gd name="T1" fmla="*/ 43 h 216"/>
              <a:gd name="T2" fmla="*/ 404 w 405"/>
              <a:gd name="T3" fmla="*/ 37 h 216"/>
              <a:gd name="T4" fmla="*/ 402 w 405"/>
              <a:gd name="T5" fmla="*/ 32 h 216"/>
              <a:gd name="T6" fmla="*/ 400 w 405"/>
              <a:gd name="T7" fmla="*/ 27 h 216"/>
              <a:gd name="T8" fmla="*/ 397 w 405"/>
              <a:gd name="T9" fmla="*/ 20 h 216"/>
              <a:gd name="T10" fmla="*/ 395 w 405"/>
              <a:gd name="T11" fmla="*/ 15 h 216"/>
              <a:gd name="T12" fmla="*/ 392 w 405"/>
              <a:gd name="T13" fmla="*/ 10 h 216"/>
              <a:gd name="T14" fmla="*/ 390 w 405"/>
              <a:gd name="T15" fmla="*/ 5 h 216"/>
              <a:gd name="T16" fmla="*/ 387 w 405"/>
              <a:gd name="T17" fmla="*/ 0 h 216"/>
              <a:gd name="T18" fmla="*/ 384 w 405"/>
              <a:gd name="T19" fmla="*/ 2 h 216"/>
              <a:gd name="T20" fmla="*/ 387 w 405"/>
              <a:gd name="T21" fmla="*/ 7 h 216"/>
              <a:gd name="T22" fmla="*/ 389 w 405"/>
              <a:gd name="T23" fmla="*/ 12 h 216"/>
              <a:gd name="T24" fmla="*/ 392 w 405"/>
              <a:gd name="T25" fmla="*/ 17 h 216"/>
              <a:gd name="T26" fmla="*/ 395 w 405"/>
              <a:gd name="T27" fmla="*/ 22 h 216"/>
              <a:gd name="T28" fmla="*/ 397 w 405"/>
              <a:gd name="T29" fmla="*/ 27 h 216"/>
              <a:gd name="T30" fmla="*/ 399 w 405"/>
              <a:gd name="T31" fmla="*/ 34 h 216"/>
              <a:gd name="T32" fmla="*/ 400 w 405"/>
              <a:gd name="T33" fmla="*/ 38 h 216"/>
              <a:gd name="T34" fmla="*/ 404 w 405"/>
              <a:gd name="T35" fmla="*/ 43 h 216"/>
              <a:gd name="T36" fmla="*/ 405 w 405"/>
              <a:gd name="T37" fmla="*/ 43 h 216"/>
              <a:gd name="T38" fmla="*/ 0 w 405"/>
              <a:gd name="T39" fmla="*/ 176 h 216"/>
              <a:gd name="T40" fmla="*/ 3 w 405"/>
              <a:gd name="T41" fmla="*/ 181 h 216"/>
              <a:gd name="T42" fmla="*/ 5 w 405"/>
              <a:gd name="T43" fmla="*/ 186 h 216"/>
              <a:gd name="T44" fmla="*/ 6 w 405"/>
              <a:gd name="T45" fmla="*/ 192 h 216"/>
              <a:gd name="T46" fmla="*/ 8 w 405"/>
              <a:gd name="T47" fmla="*/ 197 h 216"/>
              <a:gd name="T48" fmla="*/ 11 w 405"/>
              <a:gd name="T49" fmla="*/ 202 h 216"/>
              <a:gd name="T50" fmla="*/ 13 w 405"/>
              <a:gd name="T51" fmla="*/ 207 h 216"/>
              <a:gd name="T52" fmla="*/ 16 w 405"/>
              <a:gd name="T53" fmla="*/ 212 h 216"/>
              <a:gd name="T54" fmla="*/ 19 w 405"/>
              <a:gd name="T55" fmla="*/ 216 h 216"/>
              <a:gd name="T56" fmla="*/ 21 w 405"/>
              <a:gd name="T57" fmla="*/ 216 h 216"/>
              <a:gd name="T58" fmla="*/ 19 w 405"/>
              <a:gd name="T59" fmla="*/ 211 h 216"/>
              <a:gd name="T60" fmla="*/ 16 w 405"/>
              <a:gd name="T61" fmla="*/ 206 h 216"/>
              <a:gd name="T62" fmla="*/ 15 w 405"/>
              <a:gd name="T63" fmla="*/ 201 h 216"/>
              <a:gd name="T64" fmla="*/ 11 w 405"/>
              <a:gd name="T65" fmla="*/ 196 h 216"/>
              <a:gd name="T66" fmla="*/ 10 w 405"/>
              <a:gd name="T67" fmla="*/ 191 h 216"/>
              <a:gd name="T68" fmla="*/ 8 w 405"/>
              <a:gd name="T69" fmla="*/ 186 h 216"/>
              <a:gd name="T70" fmla="*/ 5 w 405"/>
              <a:gd name="T71" fmla="*/ 179 h 216"/>
              <a:gd name="T72" fmla="*/ 3 w 405"/>
              <a:gd name="T73" fmla="*/ 174 h 216"/>
              <a:gd name="T74" fmla="*/ 0 w 405"/>
              <a:gd name="T75" fmla="*/ 176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05" h="216">
                <a:moveTo>
                  <a:pt x="405" y="43"/>
                </a:moveTo>
                <a:lnTo>
                  <a:pt x="404" y="37"/>
                </a:lnTo>
                <a:lnTo>
                  <a:pt x="402" y="32"/>
                </a:lnTo>
                <a:lnTo>
                  <a:pt x="400" y="27"/>
                </a:lnTo>
                <a:lnTo>
                  <a:pt x="397" y="20"/>
                </a:lnTo>
                <a:lnTo>
                  <a:pt x="395" y="15"/>
                </a:lnTo>
                <a:lnTo>
                  <a:pt x="392" y="10"/>
                </a:lnTo>
                <a:lnTo>
                  <a:pt x="390" y="5"/>
                </a:lnTo>
                <a:lnTo>
                  <a:pt x="387" y="0"/>
                </a:lnTo>
                <a:lnTo>
                  <a:pt x="384" y="2"/>
                </a:lnTo>
                <a:lnTo>
                  <a:pt x="387" y="7"/>
                </a:lnTo>
                <a:lnTo>
                  <a:pt x="389" y="12"/>
                </a:lnTo>
                <a:lnTo>
                  <a:pt x="392" y="17"/>
                </a:lnTo>
                <a:lnTo>
                  <a:pt x="395" y="22"/>
                </a:lnTo>
                <a:lnTo>
                  <a:pt x="397" y="27"/>
                </a:lnTo>
                <a:lnTo>
                  <a:pt x="399" y="34"/>
                </a:lnTo>
                <a:lnTo>
                  <a:pt x="400" y="38"/>
                </a:lnTo>
                <a:lnTo>
                  <a:pt x="404" y="43"/>
                </a:lnTo>
                <a:lnTo>
                  <a:pt x="405" y="43"/>
                </a:lnTo>
                <a:close/>
                <a:moveTo>
                  <a:pt x="0" y="176"/>
                </a:moveTo>
                <a:lnTo>
                  <a:pt x="3" y="181"/>
                </a:lnTo>
                <a:lnTo>
                  <a:pt x="5" y="186"/>
                </a:lnTo>
                <a:lnTo>
                  <a:pt x="6" y="192"/>
                </a:lnTo>
                <a:lnTo>
                  <a:pt x="8" y="197"/>
                </a:lnTo>
                <a:lnTo>
                  <a:pt x="11" y="202"/>
                </a:lnTo>
                <a:lnTo>
                  <a:pt x="13" y="207"/>
                </a:lnTo>
                <a:lnTo>
                  <a:pt x="16" y="212"/>
                </a:lnTo>
                <a:lnTo>
                  <a:pt x="19" y="216"/>
                </a:lnTo>
                <a:lnTo>
                  <a:pt x="21" y="216"/>
                </a:lnTo>
                <a:lnTo>
                  <a:pt x="19" y="211"/>
                </a:lnTo>
                <a:lnTo>
                  <a:pt x="16" y="206"/>
                </a:lnTo>
                <a:lnTo>
                  <a:pt x="15" y="201"/>
                </a:lnTo>
                <a:lnTo>
                  <a:pt x="11" y="196"/>
                </a:lnTo>
                <a:lnTo>
                  <a:pt x="10" y="191"/>
                </a:lnTo>
                <a:lnTo>
                  <a:pt x="8" y="186"/>
                </a:lnTo>
                <a:lnTo>
                  <a:pt x="5" y="179"/>
                </a:lnTo>
                <a:lnTo>
                  <a:pt x="3" y="174"/>
                </a:lnTo>
                <a:lnTo>
                  <a:pt x="0" y="176"/>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79" name="Freeform 1884">
            <a:extLst>
              <a:ext uri="{FF2B5EF4-FFF2-40B4-BE49-F238E27FC236}">
                <a16:creationId xmlns:a16="http://schemas.microsoft.com/office/drawing/2014/main" id="{7FA14522-BAB3-DC9B-0257-78E645008771}"/>
              </a:ext>
            </a:extLst>
          </p:cNvPr>
          <p:cNvSpPr>
            <a:spLocks noEditPoints="1"/>
          </p:cNvSpPr>
          <p:nvPr/>
        </p:nvSpPr>
        <p:spPr bwMode="auto">
          <a:xfrm>
            <a:off x="3198813" y="2428875"/>
            <a:ext cx="639763" cy="342900"/>
          </a:xfrm>
          <a:custGeom>
            <a:avLst/>
            <a:gdLst>
              <a:gd name="T0" fmla="*/ 403 w 403"/>
              <a:gd name="T1" fmla="*/ 43 h 216"/>
              <a:gd name="T2" fmla="*/ 401 w 403"/>
              <a:gd name="T3" fmla="*/ 38 h 216"/>
              <a:gd name="T4" fmla="*/ 399 w 403"/>
              <a:gd name="T5" fmla="*/ 32 h 216"/>
              <a:gd name="T6" fmla="*/ 398 w 403"/>
              <a:gd name="T7" fmla="*/ 27 h 216"/>
              <a:gd name="T8" fmla="*/ 394 w 403"/>
              <a:gd name="T9" fmla="*/ 22 h 216"/>
              <a:gd name="T10" fmla="*/ 393 w 403"/>
              <a:gd name="T11" fmla="*/ 17 h 216"/>
              <a:gd name="T12" fmla="*/ 389 w 403"/>
              <a:gd name="T13" fmla="*/ 10 h 216"/>
              <a:gd name="T14" fmla="*/ 388 w 403"/>
              <a:gd name="T15" fmla="*/ 5 h 216"/>
              <a:gd name="T16" fmla="*/ 384 w 403"/>
              <a:gd name="T17" fmla="*/ 0 h 216"/>
              <a:gd name="T18" fmla="*/ 381 w 403"/>
              <a:gd name="T19" fmla="*/ 2 h 216"/>
              <a:gd name="T20" fmla="*/ 384 w 403"/>
              <a:gd name="T21" fmla="*/ 7 h 216"/>
              <a:gd name="T22" fmla="*/ 388 w 403"/>
              <a:gd name="T23" fmla="*/ 12 h 216"/>
              <a:gd name="T24" fmla="*/ 389 w 403"/>
              <a:gd name="T25" fmla="*/ 17 h 216"/>
              <a:gd name="T26" fmla="*/ 393 w 403"/>
              <a:gd name="T27" fmla="*/ 24 h 216"/>
              <a:gd name="T28" fmla="*/ 394 w 403"/>
              <a:gd name="T29" fmla="*/ 29 h 216"/>
              <a:gd name="T30" fmla="*/ 396 w 403"/>
              <a:gd name="T31" fmla="*/ 34 h 216"/>
              <a:gd name="T32" fmla="*/ 399 w 403"/>
              <a:gd name="T33" fmla="*/ 38 h 216"/>
              <a:gd name="T34" fmla="*/ 401 w 403"/>
              <a:gd name="T35" fmla="*/ 45 h 216"/>
              <a:gd name="T36" fmla="*/ 403 w 403"/>
              <a:gd name="T37" fmla="*/ 43 h 216"/>
              <a:gd name="T38" fmla="*/ 0 w 403"/>
              <a:gd name="T39" fmla="*/ 176 h 216"/>
              <a:gd name="T40" fmla="*/ 2 w 403"/>
              <a:gd name="T41" fmla="*/ 181 h 216"/>
              <a:gd name="T42" fmla="*/ 5 w 403"/>
              <a:gd name="T43" fmla="*/ 186 h 216"/>
              <a:gd name="T44" fmla="*/ 7 w 403"/>
              <a:gd name="T45" fmla="*/ 191 h 216"/>
              <a:gd name="T46" fmla="*/ 9 w 403"/>
              <a:gd name="T47" fmla="*/ 196 h 216"/>
              <a:gd name="T48" fmla="*/ 12 w 403"/>
              <a:gd name="T49" fmla="*/ 201 h 216"/>
              <a:gd name="T50" fmla="*/ 14 w 403"/>
              <a:gd name="T51" fmla="*/ 206 h 216"/>
              <a:gd name="T52" fmla="*/ 17 w 403"/>
              <a:gd name="T53" fmla="*/ 211 h 216"/>
              <a:gd name="T54" fmla="*/ 20 w 403"/>
              <a:gd name="T55" fmla="*/ 216 h 216"/>
              <a:gd name="T56" fmla="*/ 22 w 403"/>
              <a:gd name="T57" fmla="*/ 214 h 216"/>
              <a:gd name="T58" fmla="*/ 20 w 403"/>
              <a:gd name="T59" fmla="*/ 209 h 216"/>
              <a:gd name="T60" fmla="*/ 17 w 403"/>
              <a:gd name="T61" fmla="*/ 204 h 216"/>
              <a:gd name="T62" fmla="*/ 15 w 403"/>
              <a:gd name="T63" fmla="*/ 199 h 216"/>
              <a:gd name="T64" fmla="*/ 12 w 403"/>
              <a:gd name="T65" fmla="*/ 194 h 216"/>
              <a:gd name="T66" fmla="*/ 10 w 403"/>
              <a:gd name="T67" fmla="*/ 189 h 216"/>
              <a:gd name="T68" fmla="*/ 9 w 403"/>
              <a:gd name="T69" fmla="*/ 184 h 216"/>
              <a:gd name="T70" fmla="*/ 5 w 403"/>
              <a:gd name="T71" fmla="*/ 179 h 216"/>
              <a:gd name="T72" fmla="*/ 4 w 403"/>
              <a:gd name="T73" fmla="*/ 174 h 216"/>
              <a:gd name="T74" fmla="*/ 0 w 403"/>
              <a:gd name="T75" fmla="*/ 176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03" h="216">
                <a:moveTo>
                  <a:pt x="403" y="43"/>
                </a:moveTo>
                <a:lnTo>
                  <a:pt x="401" y="38"/>
                </a:lnTo>
                <a:lnTo>
                  <a:pt x="399" y="32"/>
                </a:lnTo>
                <a:lnTo>
                  <a:pt x="398" y="27"/>
                </a:lnTo>
                <a:lnTo>
                  <a:pt x="394" y="22"/>
                </a:lnTo>
                <a:lnTo>
                  <a:pt x="393" y="17"/>
                </a:lnTo>
                <a:lnTo>
                  <a:pt x="389" y="10"/>
                </a:lnTo>
                <a:lnTo>
                  <a:pt x="388" y="5"/>
                </a:lnTo>
                <a:lnTo>
                  <a:pt x="384" y="0"/>
                </a:lnTo>
                <a:lnTo>
                  <a:pt x="381" y="2"/>
                </a:lnTo>
                <a:lnTo>
                  <a:pt x="384" y="7"/>
                </a:lnTo>
                <a:lnTo>
                  <a:pt x="388" y="12"/>
                </a:lnTo>
                <a:lnTo>
                  <a:pt x="389" y="17"/>
                </a:lnTo>
                <a:lnTo>
                  <a:pt x="393" y="24"/>
                </a:lnTo>
                <a:lnTo>
                  <a:pt x="394" y="29"/>
                </a:lnTo>
                <a:lnTo>
                  <a:pt x="396" y="34"/>
                </a:lnTo>
                <a:lnTo>
                  <a:pt x="399" y="38"/>
                </a:lnTo>
                <a:lnTo>
                  <a:pt x="401" y="45"/>
                </a:lnTo>
                <a:lnTo>
                  <a:pt x="403" y="43"/>
                </a:lnTo>
                <a:close/>
                <a:moveTo>
                  <a:pt x="0" y="176"/>
                </a:moveTo>
                <a:lnTo>
                  <a:pt x="2" y="181"/>
                </a:lnTo>
                <a:lnTo>
                  <a:pt x="5" y="186"/>
                </a:lnTo>
                <a:lnTo>
                  <a:pt x="7" y="191"/>
                </a:lnTo>
                <a:lnTo>
                  <a:pt x="9" y="196"/>
                </a:lnTo>
                <a:lnTo>
                  <a:pt x="12" y="201"/>
                </a:lnTo>
                <a:lnTo>
                  <a:pt x="14" y="206"/>
                </a:lnTo>
                <a:lnTo>
                  <a:pt x="17" y="211"/>
                </a:lnTo>
                <a:lnTo>
                  <a:pt x="20" y="216"/>
                </a:lnTo>
                <a:lnTo>
                  <a:pt x="22" y="214"/>
                </a:lnTo>
                <a:lnTo>
                  <a:pt x="20" y="209"/>
                </a:lnTo>
                <a:lnTo>
                  <a:pt x="17" y="204"/>
                </a:lnTo>
                <a:lnTo>
                  <a:pt x="15" y="199"/>
                </a:lnTo>
                <a:lnTo>
                  <a:pt x="12" y="194"/>
                </a:lnTo>
                <a:lnTo>
                  <a:pt x="10" y="189"/>
                </a:lnTo>
                <a:lnTo>
                  <a:pt x="9" y="184"/>
                </a:lnTo>
                <a:lnTo>
                  <a:pt x="5" y="179"/>
                </a:lnTo>
                <a:lnTo>
                  <a:pt x="4" y="174"/>
                </a:lnTo>
                <a:lnTo>
                  <a:pt x="0" y="176"/>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80" name="Freeform 1885">
            <a:extLst>
              <a:ext uri="{FF2B5EF4-FFF2-40B4-BE49-F238E27FC236}">
                <a16:creationId xmlns:a16="http://schemas.microsoft.com/office/drawing/2014/main" id="{93AE1185-A47D-A9C3-3D3B-592809E21792}"/>
              </a:ext>
            </a:extLst>
          </p:cNvPr>
          <p:cNvSpPr>
            <a:spLocks noEditPoints="1"/>
          </p:cNvSpPr>
          <p:nvPr/>
        </p:nvSpPr>
        <p:spPr bwMode="auto">
          <a:xfrm>
            <a:off x="3201988" y="2432050"/>
            <a:ext cx="636588" cy="339725"/>
          </a:xfrm>
          <a:custGeom>
            <a:avLst/>
            <a:gdLst>
              <a:gd name="T0" fmla="*/ 401 w 401"/>
              <a:gd name="T1" fmla="*/ 41 h 214"/>
              <a:gd name="T2" fmla="*/ 397 w 401"/>
              <a:gd name="T3" fmla="*/ 36 h 214"/>
              <a:gd name="T4" fmla="*/ 396 w 401"/>
              <a:gd name="T5" fmla="*/ 32 h 214"/>
              <a:gd name="T6" fmla="*/ 394 w 401"/>
              <a:gd name="T7" fmla="*/ 25 h 214"/>
              <a:gd name="T8" fmla="*/ 392 w 401"/>
              <a:gd name="T9" fmla="*/ 20 h 214"/>
              <a:gd name="T10" fmla="*/ 389 w 401"/>
              <a:gd name="T11" fmla="*/ 15 h 214"/>
              <a:gd name="T12" fmla="*/ 386 w 401"/>
              <a:gd name="T13" fmla="*/ 10 h 214"/>
              <a:gd name="T14" fmla="*/ 384 w 401"/>
              <a:gd name="T15" fmla="*/ 5 h 214"/>
              <a:gd name="T16" fmla="*/ 381 w 401"/>
              <a:gd name="T17" fmla="*/ 0 h 214"/>
              <a:gd name="T18" fmla="*/ 378 w 401"/>
              <a:gd name="T19" fmla="*/ 2 h 214"/>
              <a:gd name="T20" fmla="*/ 381 w 401"/>
              <a:gd name="T21" fmla="*/ 7 h 214"/>
              <a:gd name="T22" fmla="*/ 384 w 401"/>
              <a:gd name="T23" fmla="*/ 12 h 214"/>
              <a:gd name="T24" fmla="*/ 386 w 401"/>
              <a:gd name="T25" fmla="*/ 17 h 214"/>
              <a:gd name="T26" fmla="*/ 389 w 401"/>
              <a:gd name="T27" fmla="*/ 22 h 214"/>
              <a:gd name="T28" fmla="*/ 391 w 401"/>
              <a:gd name="T29" fmla="*/ 27 h 214"/>
              <a:gd name="T30" fmla="*/ 392 w 401"/>
              <a:gd name="T31" fmla="*/ 33 h 214"/>
              <a:gd name="T32" fmla="*/ 396 w 401"/>
              <a:gd name="T33" fmla="*/ 38 h 214"/>
              <a:gd name="T34" fmla="*/ 397 w 401"/>
              <a:gd name="T35" fmla="*/ 43 h 214"/>
              <a:gd name="T36" fmla="*/ 401 w 401"/>
              <a:gd name="T37" fmla="*/ 41 h 214"/>
              <a:gd name="T38" fmla="*/ 0 w 401"/>
              <a:gd name="T39" fmla="*/ 172 h 214"/>
              <a:gd name="T40" fmla="*/ 2 w 401"/>
              <a:gd name="T41" fmla="*/ 177 h 214"/>
              <a:gd name="T42" fmla="*/ 5 w 401"/>
              <a:gd name="T43" fmla="*/ 184 h 214"/>
              <a:gd name="T44" fmla="*/ 7 w 401"/>
              <a:gd name="T45" fmla="*/ 189 h 214"/>
              <a:gd name="T46" fmla="*/ 8 w 401"/>
              <a:gd name="T47" fmla="*/ 194 h 214"/>
              <a:gd name="T48" fmla="*/ 12 w 401"/>
              <a:gd name="T49" fmla="*/ 199 h 214"/>
              <a:gd name="T50" fmla="*/ 13 w 401"/>
              <a:gd name="T51" fmla="*/ 204 h 214"/>
              <a:gd name="T52" fmla="*/ 16 w 401"/>
              <a:gd name="T53" fmla="*/ 209 h 214"/>
              <a:gd name="T54" fmla="*/ 18 w 401"/>
              <a:gd name="T55" fmla="*/ 214 h 214"/>
              <a:gd name="T56" fmla="*/ 21 w 401"/>
              <a:gd name="T57" fmla="*/ 212 h 214"/>
              <a:gd name="T58" fmla="*/ 20 w 401"/>
              <a:gd name="T59" fmla="*/ 207 h 214"/>
              <a:gd name="T60" fmla="*/ 16 w 401"/>
              <a:gd name="T61" fmla="*/ 202 h 214"/>
              <a:gd name="T62" fmla="*/ 13 w 401"/>
              <a:gd name="T63" fmla="*/ 197 h 214"/>
              <a:gd name="T64" fmla="*/ 12 w 401"/>
              <a:gd name="T65" fmla="*/ 192 h 214"/>
              <a:gd name="T66" fmla="*/ 10 w 401"/>
              <a:gd name="T67" fmla="*/ 187 h 214"/>
              <a:gd name="T68" fmla="*/ 7 w 401"/>
              <a:gd name="T69" fmla="*/ 182 h 214"/>
              <a:gd name="T70" fmla="*/ 5 w 401"/>
              <a:gd name="T71" fmla="*/ 177 h 214"/>
              <a:gd name="T72" fmla="*/ 3 w 401"/>
              <a:gd name="T73" fmla="*/ 171 h 214"/>
              <a:gd name="T74" fmla="*/ 0 w 401"/>
              <a:gd name="T75" fmla="*/ 172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01" h="214">
                <a:moveTo>
                  <a:pt x="401" y="41"/>
                </a:moveTo>
                <a:lnTo>
                  <a:pt x="397" y="36"/>
                </a:lnTo>
                <a:lnTo>
                  <a:pt x="396" y="32"/>
                </a:lnTo>
                <a:lnTo>
                  <a:pt x="394" y="25"/>
                </a:lnTo>
                <a:lnTo>
                  <a:pt x="392" y="20"/>
                </a:lnTo>
                <a:lnTo>
                  <a:pt x="389" y="15"/>
                </a:lnTo>
                <a:lnTo>
                  <a:pt x="386" y="10"/>
                </a:lnTo>
                <a:lnTo>
                  <a:pt x="384" y="5"/>
                </a:lnTo>
                <a:lnTo>
                  <a:pt x="381" y="0"/>
                </a:lnTo>
                <a:lnTo>
                  <a:pt x="378" y="2"/>
                </a:lnTo>
                <a:lnTo>
                  <a:pt x="381" y="7"/>
                </a:lnTo>
                <a:lnTo>
                  <a:pt x="384" y="12"/>
                </a:lnTo>
                <a:lnTo>
                  <a:pt x="386" y="17"/>
                </a:lnTo>
                <a:lnTo>
                  <a:pt x="389" y="22"/>
                </a:lnTo>
                <a:lnTo>
                  <a:pt x="391" y="27"/>
                </a:lnTo>
                <a:lnTo>
                  <a:pt x="392" y="33"/>
                </a:lnTo>
                <a:lnTo>
                  <a:pt x="396" y="38"/>
                </a:lnTo>
                <a:lnTo>
                  <a:pt x="397" y="43"/>
                </a:lnTo>
                <a:lnTo>
                  <a:pt x="401" y="41"/>
                </a:lnTo>
                <a:close/>
                <a:moveTo>
                  <a:pt x="0" y="172"/>
                </a:moveTo>
                <a:lnTo>
                  <a:pt x="2" y="177"/>
                </a:lnTo>
                <a:lnTo>
                  <a:pt x="5" y="184"/>
                </a:lnTo>
                <a:lnTo>
                  <a:pt x="7" y="189"/>
                </a:lnTo>
                <a:lnTo>
                  <a:pt x="8" y="194"/>
                </a:lnTo>
                <a:lnTo>
                  <a:pt x="12" y="199"/>
                </a:lnTo>
                <a:lnTo>
                  <a:pt x="13" y="204"/>
                </a:lnTo>
                <a:lnTo>
                  <a:pt x="16" y="209"/>
                </a:lnTo>
                <a:lnTo>
                  <a:pt x="18" y="214"/>
                </a:lnTo>
                <a:lnTo>
                  <a:pt x="21" y="212"/>
                </a:lnTo>
                <a:lnTo>
                  <a:pt x="20" y="207"/>
                </a:lnTo>
                <a:lnTo>
                  <a:pt x="16" y="202"/>
                </a:lnTo>
                <a:lnTo>
                  <a:pt x="13" y="197"/>
                </a:lnTo>
                <a:lnTo>
                  <a:pt x="12" y="192"/>
                </a:lnTo>
                <a:lnTo>
                  <a:pt x="10" y="187"/>
                </a:lnTo>
                <a:lnTo>
                  <a:pt x="7" y="182"/>
                </a:lnTo>
                <a:lnTo>
                  <a:pt x="5" y="177"/>
                </a:lnTo>
                <a:lnTo>
                  <a:pt x="3" y="171"/>
                </a:lnTo>
                <a:lnTo>
                  <a:pt x="0" y="172"/>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81" name="Freeform 1886">
            <a:extLst>
              <a:ext uri="{FF2B5EF4-FFF2-40B4-BE49-F238E27FC236}">
                <a16:creationId xmlns:a16="http://schemas.microsoft.com/office/drawing/2014/main" id="{856110DB-A7BB-93C9-3406-94D8ACD04DB3}"/>
              </a:ext>
            </a:extLst>
          </p:cNvPr>
          <p:cNvSpPr>
            <a:spLocks noEditPoints="1"/>
          </p:cNvSpPr>
          <p:nvPr/>
        </p:nvSpPr>
        <p:spPr bwMode="auto">
          <a:xfrm>
            <a:off x="3205163" y="2432050"/>
            <a:ext cx="630238" cy="336550"/>
          </a:xfrm>
          <a:custGeom>
            <a:avLst/>
            <a:gdLst>
              <a:gd name="T0" fmla="*/ 397 w 397"/>
              <a:gd name="T1" fmla="*/ 43 h 212"/>
              <a:gd name="T2" fmla="*/ 395 w 397"/>
              <a:gd name="T3" fmla="*/ 36 h 212"/>
              <a:gd name="T4" fmla="*/ 392 w 397"/>
              <a:gd name="T5" fmla="*/ 32 h 212"/>
              <a:gd name="T6" fmla="*/ 390 w 397"/>
              <a:gd name="T7" fmla="*/ 27 h 212"/>
              <a:gd name="T8" fmla="*/ 389 w 397"/>
              <a:gd name="T9" fmla="*/ 22 h 212"/>
              <a:gd name="T10" fmla="*/ 385 w 397"/>
              <a:gd name="T11" fmla="*/ 15 h 212"/>
              <a:gd name="T12" fmla="*/ 384 w 397"/>
              <a:gd name="T13" fmla="*/ 10 h 212"/>
              <a:gd name="T14" fmla="*/ 380 w 397"/>
              <a:gd name="T15" fmla="*/ 5 h 212"/>
              <a:gd name="T16" fmla="*/ 377 w 397"/>
              <a:gd name="T17" fmla="*/ 0 h 212"/>
              <a:gd name="T18" fmla="*/ 374 w 397"/>
              <a:gd name="T19" fmla="*/ 2 h 212"/>
              <a:gd name="T20" fmla="*/ 377 w 397"/>
              <a:gd name="T21" fmla="*/ 7 h 212"/>
              <a:gd name="T22" fmla="*/ 380 w 397"/>
              <a:gd name="T23" fmla="*/ 12 h 212"/>
              <a:gd name="T24" fmla="*/ 382 w 397"/>
              <a:gd name="T25" fmla="*/ 17 h 212"/>
              <a:gd name="T26" fmla="*/ 385 w 397"/>
              <a:gd name="T27" fmla="*/ 22 h 212"/>
              <a:gd name="T28" fmla="*/ 387 w 397"/>
              <a:gd name="T29" fmla="*/ 28 h 212"/>
              <a:gd name="T30" fmla="*/ 389 w 397"/>
              <a:gd name="T31" fmla="*/ 33 h 212"/>
              <a:gd name="T32" fmla="*/ 392 w 397"/>
              <a:gd name="T33" fmla="*/ 38 h 212"/>
              <a:gd name="T34" fmla="*/ 394 w 397"/>
              <a:gd name="T35" fmla="*/ 45 h 212"/>
              <a:gd name="T36" fmla="*/ 397 w 397"/>
              <a:gd name="T37" fmla="*/ 43 h 212"/>
              <a:gd name="T38" fmla="*/ 0 w 397"/>
              <a:gd name="T39" fmla="*/ 172 h 212"/>
              <a:gd name="T40" fmla="*/ 1 w 397"/>
              <a:gd name="T41" fmla="*/ 177 h 212"/>
              <a:gd name="T42" fmla="*/ 3 w 397"/>
              <a:gd name="T43" fmla="*/ 182 h 212"/>
              <a:gd name="T44" fmla="*/ 6 w 397"/>
              <a:gd name="T45" fmla="*/ 187 h 212"/>
              <a:gd name="T46" fmla="*/ 8 w 397"/>
              <a:gd name="T47" fmla="*/ 192 h 212"/>
              <a:gd name="T48" fmla="*/ 11 w 397"/>
              <a:gd name="T49" fmla="*/ 197 h 212"/>
              <a:gd name="T50" fmla="*/ 13 w 397"/>
              <a:gd name="T51" fmla="*/ 202 h 212"/>
              <a:gd name="T52" fmla="*/ 16 w 397"/>
              <a:gd name="T53" fmla="*/ 207 h 212"/>
              <a:gd name="T54" fmla="*/ 18 w 397"/>
              <a:gd name="T55" fmla="*/ 212 h 212"/>
              <a:gd name="T56" fmla="*/ 21 w 397"/>
              <a:gd name="T57" fmla="*/ 210 h 212"/>
              <a:gd name="T58" fmla="*/ 19 w 397"/>
              <a:gd name="T59" fmla="*/ 207 h 212"/>
              <a:gd name="T60" fmla="*/ 16 w 397"/>
              <a:gd name="T61" fmla="*/ 202 h 212"/>
              <a:gd name="T62" fmla="*/ 13 w 397"/>
              <a:gd name="T63" fmla="*/ 197 h 212"/>
              <a:gd name="T64" fmla="*/ 11 w 397"/>
              <a:gd name="T65" fmla="*/ 192 h 212"/>
              <a:gd name="T66" fmla="*/ 10 w 397"/>
              <a:gd name="T67" fmla="*/ 185 h 212"/>
              <a:gd name="T68" fmla="*/ 6 w 397"/>
              <a:gd name="T69" fmla="*/ 181 h 212"/>
              <a:gd name="T70" fmla="*/ 5 w 397"/>
              <a:gd name="T71" fmla="*/ 176 h 212"/>
              <a:gd name="T72" fmla="*/ 3 w 397"/>
              <a:gd name="T73" fmla="*/ 171 h 212"/>
              <a:gd name="T74" fmla="*/ 0 w 397"/>
              <a:gd name="T75" fmla="*/ 172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97" h="212">
                <a:moveTo>
                  <a:pt x="397" y="43"/>
                </a:moveTo>
                <a:lnTo>
                  <a:pt x="395" y="36"/>
                </a:lnTo>
                <a:lnTo>
                  <a:pt x="392" y="32"/>
                </a:lnTo>
                <a:lnTo>
                  <a:pt x="390" y="27"/>
                </a:lnTo>
                <a:lnTo>
                  <a:pt x="389" y="22"/>
                </a:lnTo>
                <a:lnTo>
                  <a:pt x="385" y="15"/>
                </a:lnTo>
                <a:lnTo>
                  <a:pt x="384" y="10"/>
                </a:lnTo>
                <a:lnTo>
                  <a:pt x="380" y="5"/>
                </a:lnTo>
                <a:lnTo>
                  <a:pt x="377" y="0"/>
                </a:lnTo>
                <a:lnTo>
                  <a:pt x="374" y="2"/>
                </a:lnTo>
                <a:lnTo>
                  <a:pt x="377" y="7"/>
                </a:lnTo>
                <a:lnTo>
                  <a:pt x="380" y="12"/>
                </a:lnTo>
                <a:lnTo>
                  <a:pt x="382" y="17"/>
                </a:lnTo>
                <a:lnTo>
                  <a:pt x="385" y="22"/>
                </a:lnTo>
                <a:lnTo>
                  <a:pt x="387" y="28"/>
                </a:lnTo>
                <a:lnTo>
                  <a:pt x="389" y="33"/>
                </a:lnTo>
                <a:lnTo>
                  <a:pt x="392" y="38"/>
                </a:lnTo>
                <a:lnTo>
                  <a:pt x="394" y="45"/>
                </a:lnTo>
                <a:lnTo>
                  <a:pt x="397" y="43"/>
                </a:lnTo>
                <a:close/>
                <a:moveTo>
                  <a:pt x="0" y="172"/>
                </a:moveTo>
                <a:lnTo>
                  <a:pt x="1" y="177"/>
                </a:lnTo>
                <a:lnTo>
                  <a:pt x="3" y="182"/>
                </a:lnTo>
                <a:lnTo>
                  <a:pt x="6" y="187"/>
                </a:lnTo>
                <a:lnTo>
                  <a:pt x="8" y="192"/>
                </a:lnTo>
                <a:lnTo>
                  <a:pt x="11" y="197"/>
                </a:lnTo>
                <a:lnTo>
                  <a:pt x="13" y="202"/>
                </a:lnTo>
                <a:lnTo>
                  <a:pt x="16" y="207"/>
                </a:lnTo>
                <a:lnTo>
                  <a:pt x="18" y="212"/>
                </a:lnTo>
                <a:lnTo>
                  <a:pt x="21" y="210"/>
                </a:lnTo>
                <a:lnTo>
                  <a:pt x="19" y="207"/>
                </a:lnTo>
                <a:lnTo>
                  <a:pt x="16" y="202"/>
                </a:lnTo>
                <a:lnTo>
                  <a:pt x="13" y="197"/>
                </a:lnTo>
                <a:lnTo>
                  <a:pt x="11" y="192"/>
                </a:lnTo>
                <a:lnTo>
                  <a:pt x="10" y="185"/>
                </a:lnTo>
                <a:lnTo>
                  <a:pt x="6" y="181"/>
                </a:lnTo>
                <a:lnTo>
                  <a:pt x="5" y="176"/>
                </a:lnTo>
                <a:lnTo>
                  <a:pt x="3" y="171"/>
                </a:lnTo>
                <a:lnTo>
                  <a:pt x="0" y="172"/>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82" name="Freeform 1887">
            <a:extLst>
              <a:ext uri="{FF2B5EF4-FFF2-40B4-BE49-F238E27FC236}">
                <a16:creationId xmlns:a16="http://schemas.microsoft.com/office/drawing/2014/main" id="{F16643D3-C402-E789-4B45-B91A2D74C9B9}"/>
              </a:ext>
            </a:extLst>
          </p:cNvPr>
          <p:cNvSpPr>
            <a:spLocks noEditPoints="1"/>
          </p:cNvSpPr>
          <p:nvPr/>
        </p:nvSpPr>
        <p:spPr bwMode="auto">
          <a:xfrm>
            <a:off x="3206750" y="2435225"/>
            <a:ext cx="625475" cy="333375"/>
          </a:xfrm>
          <a:custGeom>
            <a:avLst/>
            <a:gdLst>
              <a:gd name="T0" fmla="*/ 394 w 394"/>
              <a:gd name="T1" fmla="*/ 41 h 210"/>
              <a:gd name="T2" fmla="*/ 393 w 394"/>
              <a:gd name="T3" fmla="*/ 36 h 210"/>
              <a:gd name="T4" fmla="*/ 389 w 394"/>
              <a:gd name="T5" fmla="*/ 31 h 210"/>
              <a:gd name="T6" fmla="*/ 388 w 394"/>
              <a:gd name="T7" fmla="*/ 25 h 210"/>
              <a:gd name="T8" fmla="*/ 386 w 394"/>
              <a:gd name="T9" fmla="*/ 20 h 210"/>
              <a:gd name="T10" fmla="*/ 383 w 394"/>
              <a:gd name="T11" fmla="*/ 15 h 210"/>
              <a:gd name="T12" fmla="*/ 381 w 394"/>
              <a:gd name="T13" fmla="*/ 10 h 210"/>
              <a:gd name="T14" fmla="*/ 378 w 394"/>
              <a:gd name="T15" fmla="*/ 5 h 210"/>
              <a:gd name="T16" fmla="*/ 375 w 394"/>
              <a:gd name="T17" fmla="*/ 0 h 210"/>
              <a:gd name="T18" fmla="*/ 371 w 394"/>
              <a:gd name="T19" fmla="*/ 0 h 210"/>
              <a:gd name="T20" fmla="*/ 375 w 394"/>
              <a:gd name="T21" fmla="*/ 5 h 210"/>
              <a:gd name="T22" fmla="*/ 378 w 394"/>
              <a:gd name="T23" fmla="*/ 11 h 210"/>
              <a:gd name="T24" fmla="*/ 379 w 394"/>
              <a:gd name="T25" fmla="*/ 16 h 210"/>
              <a:gd name="T26" fmla="*/ 383 w 394"/>
              <a:gd name="T27" fmla="*/ 21 h 210"/>
              <a:gd name="T28" fmla="*/ 384 w 394"/>
              <a:gd name="T29" fmla="*/ 26 h 210"/>
              <a:gd name="T30" fmla="*/ 388 w 394"/>
              <a:gd name="T31" fmla="*/ 31 h 210"/>
              <a:gd name="T32" fmla="*/ 389 w 394"/>
              <a:gd name="T33" fmla="*/ 38 h 210"/>
              <a:gd name="T34" fmla="*/ 391 w 394"/>
              <a:gd name="T35" fmla="*/ 43 h 210"/>
              <a:gd name="T36" fmla="*/ 394 w 394"/>
              <a:gd name="T37" fmla="*/ 41 h 210"/>
              <a:gd name="T38" fmla="*/ 0 w 394"/>
              <a:gd name="T39" fmla="*/ 169 h 210"/>
              <a:gd name="T40" fmla="*/ 2 w 394"/>
              <a:gd name="T41" fmla="*/ 175 h 210"/>
              <a:gd name="T42" fmla="*/ 4 w 394"/>
              <a:gd name="T43" fmla="*/ 180 h 210"/>
              <a:gd name="T44" fmla="*/ 7 w 394"/>
              <a:gd name="T45" fmla="*/ 185 h 210"/>
              <a:gd name="T46" fmla="*/ 9 w 394"/>
              <a:gd name="T47" fmla="*/ 190 h 210"/>
              <a:gd name="T48" fmla="*/ 10 w 394"/>
              <a:gd name="T49" fmla="*/ 195 h 210"/>
              <a:gd name="T50" fmla="*/ 13 w 394"/>
              <a:gd name="T51" fmla="*/ 200 h 210"/>
              <a:gd name="T52" fmla="*/ 17 w 394"/>
              <a:gd name="T53" fmla="*/ 205 h 210"/>
              <a:gd name="T54" fmla="*/ 18 w 394"/>
              <a:gd name="T55" fmla="*/ 210 h 210"/>
              <a:gd name="T56" fmla="*/ 22 w 394"/>
              <a:gd name="T57" fmla="*/ 208 h 210"/>
              <a:gd name="T58" fmla="*/ 18 w 394"/>
              <a:gd name="T59" fmla="*/ 203 h 210"/>
              <a:gd name="T60" fmla="*/ 17 w 394"/>
              <a:gd name="T61" fmla="*/ 198 h 210"/>
              <a:gd name="T62" fmla="*/ 13 w 394"/>
              <a:gd name="T63" fmla="*/ 193 h 210"/>
              <a:gd name="T64" fmla="*/ 12 w 394"/>
              <a:gd name="T65" fmla="*/ 188 h 210"/>
              <a:gd name="T66" fmla="*/ 10 w 394"/>
              <a:gd name="T67" fmla="*/ 183 h 210"/>
              <a:gd name="T68" fmla="*/ 7 w 394"/>
              <a:gd name="T69" fmla="*/ 179 h 210"/>
              <a:gd name="T70" fmla="*/ 5 w 394"/>
              <a:gd name="T71" fmla="*/ 174 h 210"/>
              <a:gd name="T72" fmla="*/ 4 w 394"/>
              <a:gd name="T73" fmla="*/ 169 h 210"/>
              <a:gd name="T74" fmla="*/ 0 w 394"/>
              <a:gd name="T75" fmla="*/ 169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94" h="210">
                <a:moveTo>
                  <a:pt x="394" y="41"/>
                </a:moveTo>
                <a:lnTo>
                  <a:pt x="393" y="36"/>
                </a:lnTo>
                <a:lnTo>
                  <a:pt x="389" y="31"/>
                </a:lnTo>
                <a:lnTo>
                  <a:pt x="388" y="25"/>
                </a:lnTo>
                <a:lnTo>
                  <a:pt x="386" y="20"/>
                </a:lnTo>
                <a:lnTo>
                  <a:pt x="383" y="15"/>
                </a:lnTo>
                <a:lnTo>
                  <a:pt x="381" y="10"/>
                </a:lnTo>
                <a:lnTo>
                  <a:pt x="378" y="5"/>
                </a:lnTo>
                <a:lnTo>
                  <a:pt x="375" y="0"/>
                </a:lnTo>
                <a:lnTo>
                  <a:pt x="371" y="0"/>
                </a:lnTo>
                <a:lnTo>
                  <a:pt x="375" y="5"/>
                </a:lnTo>
                <a:lnTo>
                  <a:pt x="378" y="11"/>
                </a:lnTo>
                <a:lnTo>
                  <a:pt x="379" y="16"/>
                </a:lnTo>
                <a:lnTo>
                  <a:pt x="383" y="21"/>
                </a:lnTo>
                <a:lnTo>
                  <a:pt x="384" y="26"/>
                </a:lnTo>
                <a:lnTo>
                  <a:pt x="388" y="31"/>
                </a:lnTo>
                <a:lnTo>
                  <a:pt x="389" y="38"/>
                </a:lnTo>
                <a:lnTo>
                  <a:pt x="391" y="43"/>
                </a:lnTo>
                <a:lnTo>
                  <a:pt x="394" y="41"/>
                </a:lnTo>
                <a:close/>
                <a:moveTo>
                  <a:pt x="0" y="169"/>
                </a:moveTo>
                <a:lnTo>
                  <a:pt x="2" y="175"/>
                </a:lnTo>
                <a:lnTo>
                  <a:pt x="4" y="180"/>
                </a:lnTo>
                <a:lnTo>
                  <a:pt x="7" y="185"/>
                </a:lnTo>
                <a:lnTo>
                  <a:pt x="9" y="190"/>
                </a:lnTo>
                <a:lnTo>
                  <a:pt x="10" y="195"/>
                </a:lnTo>
                <a:lnTo>
                  <a:pt x="13" y="200"/>
                </a:lnTo>
                <a:lnTo>
                  <a:pt x="17" y="205"/>
                </a:lnTo>
                <a:lnTo>
                  <a:pt x="18" y="210"/>
                </a:lnTo>
                <a:lnTo>
                  <a:pt x="22" y="208"/>
                </a:lnTo>
                <a:lnTo>
                  <a:pt x="18" y="203"/>
                </a:lnTo>
                <a:lnTo>
                  <a:pt x="17" y="198"/>
                </a:lnTo>
                <a:lnTo>
                  <a:pt x="13" y="193"/>
                </a:lnTo>
                <a:lnTo>
                  <a:pt x="12" y="188"/>
                </a:lnTo>
                <a:lnTo>
                  <a:pt x="10" y="183"/>
                </a:lnTo>
                <a:lnTo>
                  <a:pt x="7" y="179"/>
                </a:lnTo>
                <a:lnTo>
                  <a:pt x="5" y="174"/>
                </a:lnTo>
                <a:lnTo>
                  <a:pt x="4" y="169"/>
                </a:lnTo>
                <a:lnTo>
                  <a:pt x="0" y="169"/>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83" name="Freeform 1888">
            <a:extLst>
              <a:ext uri="{FF2B5EF4-FFF2-40B4-BE49-F238E27FC236}">
                <a16:creationId xmlns:a16="http://schemas.microsoft.com/office/drawing/2014/main" id="{7DEC4EFD-5EA6-F883-DEB7-A8DE764A0B1F}"/>
              </a:ext>
            </a:extLst>
          </p:cNvPr>
          <p:cNvSpPr>
            <a:spLocks noEditPoints="1"/>
          </p:cNvSpPr>
          <p:nvPr/>
        </p:nvSpPr>
        <p:spPr bwMode="auto">
          <a:xfrm>
            <a:off x="3209925" y="2435225"/>
            <a:ext cx="620713" cy="330200"/>
          </a:xfrm>
          <a:custGeom>
            <a:avLst/>
            <a:gdLst>
              <a:gd name="T0" fmla="*/ 391 w 391"/>
              <a:gd name="T1" fmla="*/ 43 h 208"/>
              <a:gd name="T2" fmla="*/ 389 w 391"/>
              <a:gd name="T3" fmla="*/ 36 h 208"/>
              <a:gd name="T4" fmla="*/ 386 w 391"/>
              <a:gd name="T5" fmla="*/ 31 h 208"/>
              <a:gd name="T6" fmla="*/ 384 w 391"/>
              <a:gd name="T7" fmla="*/ 26 h 208"/>
              <a:gd name="T8" fmla="*/ 382 w 391"/>
              <a:gd name="T9" fmla="*/ 20 h 208"/>
              <a:gd name="T10" fmla="*/ 379 w 391"/>
              <a:gd name="T11" fmla="*/ 15 h 208"/>
              <a:gd name="T12" fmla="*/ 377 w 391"/>
              <a:gd name="T13" fmla="*/ 10 h 208"/>
              <a:gd name="T14" fmla="*/ 374 w 391"/>
              <a:gd name="T15" fmla="*/ 5 h 208"/>
              <a:gd name="T16" fmla="*/ 371 w 391"/>
              <a:gd name="T17" fmla="*/ 0 h 208"/>
              <a:gd name="T18" fmla="*/ 368 w 391"/>
              <a:gd name="T19" fmla="*/ 1 h 208"/>
              <a:gd name="T20" fmla="*/ 371 w 391"/>
              <a:gd name="T21" fmla="*/ 6 h 208"/>
              <a:gd name="T22" fmla="*/ 374 w 391"/>
              <a:gd name="T23" fmla="*/ 11 h 208"/>
              <a:gd name="T24" fmla="*/ 376 w 391"/>
              <a:gd name="T25" fmla="*/ 16 h 208"/>
              <a:gd name="T26" fmla="*/ 379 w 391"/>
              <a:gd name="T27" fmla="*/ 21 h 208"/>
              <a:gd name="T28" fmla="*/ 381 w 391"/>
              <a:gd name="T29" fmla="*/ 26 h 208"/>
              <a:gd name="T30" fmla="*/ 384 w 391"/>
              <a:gd name="T31" fmla="*/ 33 h 208"/>
              <a:gd name="T32" fmla="*/ 386 w 391"/>
              <a:gd name="T33" fmla="*/ 38 h 208"/>
              <a:gd name="T34" fmla="*/ 387 w 391"/>
              <a:gd name="T35" fmla="*/ 43 h 208"/>
              <a:gd name="T36" fmla="*/ 391 w 391"/>
              <a:gd name="T37" fmla="*/ 43 h 208"/>
              <a:gd name="T38" fmla="*/ 0 w 391"/>
              <a:gd name="T39" fmla="*/ 169 h 208"/>
              <a:gd name="T40" fmla="*/ 2 w 391"/>
              <a:gd name="T41" fmla="*/ 174 h 208"/>
              <a:gd name="T42" fmla="*/ 3 w 391"/>
              <a:gd name="T43" fmla="*/ 179 h 208"/>
              <a:gd name="T44" fmla="*/ 7 w 391"/>
              <a:gd name="T45" fmla="*/ 183 h 208"/>
              <a:gd name="T46" fmla="*/ 8 w 391"/>
              <a:gd name="T47" fmla="*/ 190 h 208"/>
              <a:gd name="T48" fmla="*/ 10 w 391"/>
              <a:gd name="T49" fmla="*/ 195 h 208"/>
              <a:gd name="T50" fmla="*/ 13 w 391"/>
              <a:gd name="T51" fmla="*/ 200 h 208"/>
              <a:gd name="T52" fmla="*/ 16 w 391"/>
              <a:gd name="T53" fmla="*/ 205 h 208"/>
              <a:gd name="T54" fmla="*/ 18 w 391"/>
              <a:gd name="T55" fmla="*/ 208 h 208"/>
              <a:gd name="T56" fmla="*/ 21 w 391"/>
              <a:gd name="T57" fmla="*/ 208 h 208"/>
              <a:gd name="T58" fmla="*/ 18 w 391"/>
              <a:gd name="T59" fmla="*/ 203 h 208"/>
              <a:gd name="T60" fmla="*/ 16 w 391"/>
              <a:gd name="T61" fmla="*/ 198 h 208"/>
              <a:gd name="T62" fmla="*/ 13 w 391"/>
              <a:gd name="T63" fmla="*/ 193 h 208"/>
              <a:gd name="T64" fmla="*/ 11 w 391"/>
              <a:gd name="T65" fmla="*/ 188 h 208"/>
              <a:gd name="T66" fmla="*/ 8 w 391"/>
              <a:gd name="T67" fmla="*/ 183 h 208"/>
              <a:gd name="T68" fmla="*/ 7 w 391"/>
              <a:gd name="T69" fmla="*/ 179 h 208"/>
              <a:gd name="T70" fmla="*/ 5 w 391"/>
              <a:gd name="T71" fmla="*/ 172 h 208"/>
              <a:gd name="T72" fmla="*/ 3 w 391"/>
              <a:gd name="T73" fmla="*/ 167 h 208"/>
              <a:gd name="T74" fmla="*/ 0 w 391"/>
              <a:gd name="T75" fmla="*/ 169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91" h="208">
                <a:moveTo>
                  <a:pt x="391" y="43"/>
                </a:moveTo>
                <a:lnTo>
                  <a:pt x="389" y="36"/>
                </a:lnTo>
                <a:lnTo>
                  <a:pt x="386" y="31"/>
                </a:lnTo>
                <a:lnTo>
                  <a:pt x="384" y="26"/>
                </a:lnTo>
                <a:lnTo>
                  <a:pt x="382" y="20"/>
                </a:lnTo>
                <a:lnTo>
                  <a:pt x="379" y="15"/>
                </a:lnTo>
                <a:lnTo>
                  <a:pt x="377" y="10"/>
                </a:lnTo>
                <a:lnTo>
                  <a:pt x="374" y="5"/>
                </a:lnTo>
                <a:lnTo>
                  <a:pt x="371" y="0"/>
                </a:lnTo>
                <a:lnTo>
                  <a:pt x="368" y="1"/>
                </a:lnTo>
                <a:lnTo>
                  <a:pt x="371" y="6"/>
                </a:lnTo>
                <a:lnTo>
                  <a:pt x="374" y="11"/>
                </a:lnTo>
                <a:lnTo>
                  <a:pt x="376" y="16"/>
                </a:lnTo>
                <a:lnTo>
                  <a:pt x="379" y="21"/>
                </a:lnTo>
                <a:lnTo>
                  <a:pt x="381" y="26"/>
                </a:lnTo>
                <a:lnTo>
                  <a:pt x="384" y="33"/>
                </a:lnTo>
                <a:lnTo>
                  <a:pt x="386" y="38"/>
                </a:lnTo>
                <a:lnTo>
                  <a:pt x="387" y="43"/>
                </a:lnTo>
                <a:lnTo>
                  <a:pt x="391" y="43"/>
                </a:lnTo>
                <a:close/>
                <a:moveTo>
                  <a:pt x="0" y="169"/>
                </a:moveTo>
                <a:lnTo>
                  <a:pt x="2" y="174"/>
                </a:lnTo>
                <a:lnTo>
                  <a:pt x="3" y="179"/>
                </a:lnTo>
                <a:lnTo>
                  <a:pt x="7" y="183"/>
                </a:lnTo>
                <a:lnTo>
                  <a:pt x="8" y="190"/>
                </a:lnTo>
                <a:lnTo>
                  <a:pt x="10" y="195"/>
                </a:lnTo>
                <a:lnTo>
                  <a:pt x="13" y="200"/>
                </a:lnTo>
                <a:lnTo>
                  <a:pt x="16" y="205"/>
                </a:lnTo>
                <a:lnTo>
                  <a:pt x="18" y="208"/>
                </a:lnTo>
                <a:lnTo>
                  <a:pt x="21" y="208"/>
                </a:lnTo>
                <a:lnTo>
                  <a:pt x="18" y="203"/>
                </a:lnTo>
                <a:lnTo>
                  <a:pt x="16" y="198"/>
                </a:lnTo>
                <a:lnTo>
                  <a:pt x="13" y="193"/>
                </a:lnTo>
                <a:lnTo>
                  <a:pt x="11" y="188"/>
                </a:lnTo>
                <a:lnTo>
                  <a:pt x="8" y="183"/>
                </a:lnTo>
                <a:lnTo>
                  <a:pt x="7" y="179"/>
                </a:lnTo>
                <a:lnTo>
                  <a:pt x="5" y="172"/>
                </a:lnTo>
                <a:lnTo>
                  <a:pt x="3" y="167"/>
                </a:lnTo>
                <a:lnTo>
                  <a:pt x="0" y="169"/>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84" name="Freeform 1889">
            <a:extLst>
              <a:ext uri="{FF2B5EF4-FFF2-40B4-BE49-F238E27FC236}">
                <a16:creationId xmlns:a16="http://schemas.microsoft.com/office/drawing/2014/main" id="{FB609D18-8E55-DD84-2D01-2384153122D7}"/>
              </a:ext>
            </a:extLst>
          </p:cNvPr>
          <p:cNvSpPr>
            <a:spLocks noEditPoints="1"/>
          </p:cNvSpPr>
          <p:nvPr/>
        </p:nvSpPr>
        <p:spPr bwMode="auto">
          <a:xfrm>
            <a:off x="3213100" y="2435225"/>
            <a:ext cx="614363" cy="330200"/>
          </a:xfrm>
          <a:custGeom>
            <a:avLst/>
            <a:gdLst>
              <a:gd name="T0" fmla="*/ 387 w 387"/>
              <a:gd name="T1" fmla="*/ 43 h 208"/>
              <a:gd name="T2" fmla="*/ 385 w 387"/>
              <a:gd name="T3" fmla="*/ 38 h 208"/>
              <a:gd name="T4" fmla="*/ 384 w 387"/>
              <a:gd name="T5" fmla="*/ 31 h 208"/>
              <a:gd name="T6" fmla="*/ 380 w 387"/>
              <a:gd name="T7" fmla="*/ 26 h 208"/>
              <a:gd name="T8" fmla="*/ 379 w 387"/>
              <a:gd name="T9" fmla="*/ 21 h 208"/>
              <a:gd name="T10" fmla="*/ 375 w 387"/>
              <a:gd name="T11" fmla="*/ 16 h 208"/>
              <a:gd name="T12" fmla="*/ 374 w 387"/>
              <a:gd name="T13" fmla="*/ 11 h 208"/>
              <a:gd name="T14" fmla="*/ 371 w 387"/>
              <a:gd name="T15" fmla="*/ 5 h 208"/>
              <a:gd name="T16" fmla="*/ 367 w 387"/>
              <a:gd name="T17" fmla="*/ 0 h 208"/>
              <a:gd name="T18" fmla="*/ 366 w 387"/>
              <a:gd name="T19" fmla="*/ 1 h 208"/>
              <a:gd name="T20" fmla="*/ 367 w 387"/>
              <a:gd name="T21" fmla="*/ 6 h 208"/>
              <a:gd name="T22" fmla="*/ 371 w 387"/>
              <a:gd name="T23" fmla="*/ 11 h 208"/>
              <a:gd name="T24" fmla="*/ 374 w 387"/>
              <a:gd name="T25" fmla="*/ 16 h 208"/>
              <a:gd name="T26" fmla="*/ 375 w 387"/>
              <a:gd name="T27" fmla="*/ 23 h 208"/>
              <a:gd name="T28" fmla="*/ 377 w 387"/>
              <a:gd name="T29" fmla="*/ 28 h 208"/>
              <a:gd name="T30" fmla="*/ 380 w 387"/>
              <a:gd name="T31" fmla="*/ 33 h 208"/>
              <a:gd name="T32" fmla="*/ 382 w 387"/>
              <a:gd name="T33" fmla="*/ 38 h 208"/>
              <a:gd name="T34" fmla="*/ 384 w 387"/>
              <a:gd name="T35" fmla="*/ 44 h 208"/>
              <a:gd name="T36" fmla="*/ 387 w 387"/>
              <a:gd name="T37" fmla="*/ 43 h 208"/>
              <a:gd name="T38" fmla="*/ 0 w 387"/>
              <a:gd name="T39" fmla="*/ 169 h 208"/>
              <a:gd name="T40" fmla="*/ 1 w 387"/>
              <a:gd name="T41" fmla="*/ 174 h 208"/>
              <a:gd name="T42" fmla="*/ 3 w 387"/>
              <a:gd name="T43" fmla="*/ 179 h 208"/>
              <a:gd name="T44" fmla="*/ 6 w 387"/>
              <a:gd name="T45" fmla="*/ 183 h 208"/>
              <a:gd name="T46" fmla="*/ 8 w 387"/>
              <a:gd name="T47" fmla="*/ 188 h 208"/>
              <a:gd name="T48" fmla="*/ 9 w 387"/>
              <a:gd name="T49" fmla="*/ 193 h 208"/>
              <a:gd name="T50" fmla="*/ 13 w 387"/>
              <a:gd name="T51" fmla="*/ 198 h 208"/>
              <a:gd name="T52" fmla="*/ 14 w 387"/>
              <a:gd name="T53" fmla="*/ 203 h 208"/>
              <a:gd name="T54" fmla="*/ 18 w 387"/>
              <a:gd name="T55" fmla="*/ 208 h 208"/>
              <a:gd name="T56" fmla="*/ 21 w 387"/>
              <a:gd name="T57" fmla="*/ 207 h 208"/>
              <a:gd name="T58" fmla="*/ 18 w 387"/>
              <a:gd name="T59" fmla="*/ 202 h 208"/>
              <a:gd name="T60" fmla="*/ 16 w 387"/>
              <a:gd name="T61" fmla="*/ 197 h 208"/>
              <a:gd name="T62" fmla="*/ 13 w 387"/>
              <a:gd name="T63" fmla="*/ 192 h 208"/>
              <a:gd name="T64" fmla="*/ 11 w 387"/>
              <a:gd name="T65" fmla="*/ 187 h 208"/>
              <a:gd name="T66" fmla="*/ 8 w 387"/>
              <a:gd name="T67" fmla="*/ 182 h 208"/>
              <a:gd name="T68" fmla="*/ 6 w 387"/>
              <a:gd name="T69" fmla="*/ 177 h 208"/>
              <a:gd name="T70" fmla="*/ 5 w 387"/>
              <a:gd name="T71" fmla="*/ 172 h 208"/>
              <a:gd name="T72" fmla="*/ 3 w 387"/>
              <a:gd name="T73" fmla="*/ 167 h 208"/>
              <a:gd name="T74" fmla="*/ 0 w 387"/>
              <a:gd name="T75" fmla="*/ 169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7" h="208">
                <a:moveTo>
                  <a:pt x="387" y="43"/>
                </a:moveTo>
                <a:lnTo>
                  <a:pt x="385" y="38"/>
                </a:lnTo>
                <a:lnTo>
                  <a:pt x="384" y="31"/>
                </a:lnTo>
                <a:lnTo>
                  <a:pt x="380" y="26"/>
                </a:lnTo>
                <a:lnTo>
                  <a:pt x="379" y="21"/>
                </a:lnTo>
                <a:lnTo>
                  <a:pt x="375" y="16"/>
                </a:lnTo>
                <a:lnTo>
                  <a:pt x="374" y="11"/>
                </a:lnTo>
                <a:lnTo>
                  <a:pt x="371" y="5"/>
                </a:lnTo>
                <a:lnTo>
                  <a:pt x="367" y="0"/>
                </a:lnTo>
                <a:lnTo>
                  <a:pt x="366" y="1"/>
                </a:lnTo>
                <a:lnTo>
                  <a:pt x="367" y="6"/>
                </a:lnTo>
                <a:lnTo>
                  <a:pt x="371" y="11"/>
                </a:lnTo>
                <a:lnTo>
                  <a:pt x="374" y="16"/>
                </a:lnTo>
                <a:lnTo>
                  <a:pt x="375" y="23"/>
                </a:lnTo>
                <a:lnTo>
                  <a:pt x="377" y="28"/>
                </a:lnTo>
                <a:lnTo>
                  <a:pt x="380" y="33"/>
                </a:lnTo>
                <a:lnTo>
                  <a:pt x="382" y="38"/>
                </a:lnTo>
                <a:lnTo>
                  <a:pt x="384" y="44"/>
                </a:lnTo>
                <a:lnTo>
                  <a:pt x="387" y="43"/>
                </a:lnTo>
                <a:close/>
                <a:moveTo>
                  <a:pt x="0" y="169"/>
                </a:moveTo>
                <a:lnTo>
                  <a:pt x="1" y="174"/>
                </a:lnTo>
                <a:lnTo>
                  <a:pt x="3" y="179"/>
                </a:lnTo>
                <a:lnTo>
                  <a:pt x="6" y="183"/>
                </a:lnTo>
                <a:lnTo>
                  <a:pt x="8" y="188"/>
                </a:lnTo>
                <a:lnTo>
                  <a:pt x="9" y="193"/>
                </a:lnTo>
                <a:lnTo>
                  <a:pt x="13" y="198"/>
                </a:lnTo>
                <a:lnTo>
                  <a:pt x="14" y="203"/>
                </a:lnTo>
                <a:lnTo>
                  <a:pt x="18" y="208"/>
                </a:lnTo>
                <a:lnTo>
                  <a:pt x="21" y="207"/>
                </a:lnTo>
                <a:lnTo>
                  <a:pt x="18" y="202"/>
                </a:lnTo>
                <a:lnTo>
                  <a:pt x="16" y="197"/>
                </a:lnTo>
                <a:lnTo>
                  <a:pt x="13" y="192"/>
                </a:lnTo>
                <a:lnTo>
                  <a:pt x="11" y="187"/>
                </a:lnTo>
                <a:lnTo>
                  <a:pt x="8" y="182"/>
                </a:lnTo>
                <a:lnTo>
                  <a:pt x="6" y="177"/>
                </a:lnTo>
                <a:lnTo>
                  <a:pt x="5" y="172"/>
                </a:lnTo>
                <a:lnTo>
                  <a:pt x="3" y="167"/>
                </a:lnTo>
                <a:lnTo>
                  <a:pt x="0" y="169"/>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85" name="Freeform 1890">
            <a:extLst>
              <a:ext uri="{FF2B5EF4-FFF2-40B4-BE49-F238E27FC236}">
                <a16:creationId xmlns:a16="http://schemas.microsoft.com/office/drawing/2014/main" id="{CEC44FA1-0633-F3C2-11C6-21F281600304}"/>
              </a:ext>
            </a:extLst>
          </p:cNvPr>
          <p:cNvSpPr>
            <a:spLocks noEditPoints="1"/>
          </p:cNvSpPr>
          <p:nvPr/>
        </p:nvSpPr>
        <p:spPr bwMode="auto">
          <a:xfrm>
            <a:off x="3214688" y="2436813"/>
            <a:ext cx="609600" cy="328613"/>
          </a:xfrm>
          <a:custGeom>
            <a:avLst/>
            <a:gdLst>
              <a:gd name="T0" fmla="*/ 384 w 384"/>
              <a:gd name="T1" fmla="*/ 42 h 207"/>
              <a:gd name="T2" fmla="*/ 383 w 384"/>
              <a:gd name="T3" fmla="*/ 37 h 207"/>
              <a:gd name="T4" fmla="*/ 381 w 384"/>
              <a:gd name="T5" fmla="*/ 32 h 207"/>
              <a:gd name="T6" fmla="*/ 378 w 384"/>
              <a:gd name="T7" fmla="*/ 25 h 207"/>
              <a:gd name="T8" fmla="*/ 376 w 384"/>
              <a:gd name="T9" fmla="*/ 20 h 207"/>
              <a:gd name="T10" fmla="*/ 373 w 384"/>
              <a:gd name="T11" fmla="*/ 15 h 207"/>
              <a:gd name="T12" fmla="*/ 371 w 384"/>
              <a:gd name="T13" fmla="*/ 10 h 207"/>
              <a:gd name="T14" fmla="*/ 368 w 384"/>
              <a:gd name="T15" fmla="*/ 5 h 207"/>
              <a:gd name="T16" fmla="*/ 365 w 384"/>
              <a:gd name="T17" fmla="*/ 0 h 207"/>
              <a:gd name="T18" fmla="*/ 363 w 384"/>
              <a:gd name="T19" fmla="*/ 2 h 207"/>
              <a:gd name="T20" fmla="*/ 365 w 384"/>
              <a:gd name="T21" fmla="*/ 7 h 207"/>
              <a:gd name="T22" fmla="*/ 368 w 384"/>
              <a:gd name="T23" fmla="*/ 12 h 207"/>
              <a:gd name="T24" fmla="*/ 371 w 384"/>
              <a:gd name="T25" fmla="*/ 17 h 207"/>
              <a:gd name="T26" fmla="*/ 373 w 384"/>
              <a:gd name="T27" fmla="*/ 22 h 207"/>
              <a:gd name="T28" fmla="*/ 376 w 384"/>
              <a:gd name="T29" fmla="*/ 27 h 207"/>
              <a:gd name="T30" fmla="*/ 378 w 384"/>
              <a:gd name="T31" fmla="*/ 33 h 207"/>
              <a:gd name="T32" fmla="*/ 379 w 384"/>
              <a:gd name="T33" fmla="*/ 38 h 207"/>
              <a:gd name="T34" fmla="*/ 381 w 384"/>
              <a:gd name="T35" fmla="*/ 43 h 207"/>
              <a:gd name="T36" fmla="*/ 384 w 384"/>
              <a:gd name="T37" fmla="*/ 42 h 207"/>
              <a:gd name="T38" fmla="*/ 0 w 384"/>
              <a:gd name="T39" fmla="*/ 166 h 207"/>
              <a:gd name="T40" fmla="*/ 2 w 384"/>
              <a:gd name="T41" fmla="*/ 171 h 207"/>
              <a:gd name="T42" fmla="*/ 4 w 384"/>
              <a:gd name="T43" fmla="*/ 178 h 207"/>
              <a:gd name="T44" fmla="*/ 5 w 384"/>
              <a:gd name="T45" fmla="*/ 182 h 207"/>
              <a:gd name="T46" fmla="*/ 8 w 384"/>
              <a:gd name="T47" fmla="*/ 187 h 207"/>
              <a:gd name="T48" fmla="*/ 10 w 384"/>
              <a:gd name="T49" fmla="*/ 192 h 207"/>
              <a:gd name="T50" fmla="*/ 13 w 384"/>
              <a:gd name="T51" fmla="*/ 197 h 207"/>
              <a:gd name="T52" fmla="*/ 15 w 384"/>
              <a:gd name="T53" fmla="*/ 202 h 207"/>
              <a:gd name="T54" fmla="*/ 18 w 384"/>
              <a:gd name="T55" fmla="*/ 207 h 207"/>
              <a:gd name="T56" fmla="*/ 22 w 384"/>
              <a:gd name="T57" fmla="*/ 206 h 207"/>
              <a:gd name="T58" fmla="*/ 18 w 384"/>
              <a:gd name="T59" fmla="*/ 201 h 207"/>
              <a:gd name="T60" fmla="*/ 17 w 384"/>
              <a:gd name="T61" fmla="*/ 196 h 207"/>
              <a:gd name="T62" fmla="*/ 13 w 384"/>
              <a:gd name="T63" fmla="*/ 191 h 207"/>
              <a:gd name="T64" fmla="*/ 12 w 384"/>
              <a:gd name="T65" fmla="*/ 186 h 207"/>
              <a:gd name="T66" fmla="*/ 8 w 384"/>
              <a:gd name="T67" fmla="*/ 181 h 207"/>
              <a:gd name="T68" fmla="*/ 7 w 384"/>
              <a:gd name="T69" fmla="*/ 176 h 207"/>
              <a:gd name="T70" fmla="*/ 5 w 384"/>
              <a:gd name="T71" fmla="*/ 171 h 207"/>
              <a:gd name="T72" fmla="*/ 4 w 384"/>
              <a:gd name="T73" fmla="*/ 164 h 207"/>
              <a:gd name="T74" fmla="*/ 0 w 384"/>
              <a:gd name="T75" fmla="*/ 166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4" h="207">
                <a:moveTo>
                  <a:pt x="384" y="42"/>
                </a:moveTo>
                <a:lnTo>
                  <a:pt x="383" y="37"/>
                </a:lnTo>
                <a:lnTo>
                  <a:pt x="381" y="32"/>
                </a:lnTo>
                <a:lnTo>
                  <a:pt x="378" y="25"/>
                </a:lnTo>
                <a:lnTo>
                  <a:pt x="376" y="20"/>
                </a:lnTo>
                <a:lnTo>
                  <a:pt x="373" y="15"/>
                </a:lnTo>
                <a:lnTo>
                  <a:pt x="371" y="10"/>
                </a:lnTo>
                <a:lnTo>
                  <a:pt x="368" y="5"/>
                </a:lnTo>
                <a:lnTo>
                  <a:pt x="365" y="0"/>
                </a:lnTo>
                <a:lnTo>
                  <a:pt x="363" y="2"/>
                </a:lnTo>
                <a:lnTo>
                  <a:pt x="365" y="7"/>
                </a:lnTo>
                <a:lnTo>
                  <a:pt x="368" y="12"/>
                </a:lnTo>
                <a:lnTo>
                  <a:pt x="371" y="17"/>
                </a:lnTo>
                <a:lnTo>
                  <a:pt x="373" y="22"/>
                </a:lnTo>
                <a:lnTo>
                  <a:pt x="376" y="27"/>
                </a:lnTo>
                <a:lnTo>
                  <a:pt x="378" y="33"/>
                </a:lnTo>
                <a:lnTo>
                  <a:pt x="379" y="38"/>
                </a:lnTo>
                <a:lnTo>
                  <a:pt x="381" y="43"/>
                </a:lnTo>
                <a:lnTo>
                  <a:pt x="384" y="42"/>
                </a:lnTo>
                <a:close/>
                <a:moveTo>
                  <a:pt x="0" y="166"/>
                </a:moveTo>
                <a:lnTo>
                  <a:pt x="2" y="171"/>
                </a:lnTo>
                <a:lnTo>
                  <a:pt x="4" y="178"/>
                </a:lnTo>
                <a:lnTo>
                  <a:pt x="5" y="182"/>
                </a:lnTo>
                <a:lnTo>
                  <a:pt x="8" y="187"/>
                </a:lnTo>
                <a:lnTo>
                  <a:pt x="10" y="192"/>
                </a:lnTo>
                <a:lnTo>
                  <a:pt x="13" y="197"/>
                </a:lnTo>
                <a:lnTo>
                  <a:pt x="15" y="202"/>
                </a:lnTo>
                <a:lnTo>
                  <a:pt x="18" y="207"/>
                </a:lnTo>
                <a:lnTo>
                  <a:pt x="22" y="206"/>
                </a:lnTo>
                <a:lnTo>
                  <a:pt x="18" y="201"/>
                </a:lnTo>
                <a:lnTo>
                  <a:pt x="17" y="196"/>
                </a:lnTo>
                <a:lnTo>
                  <a:pt x="13" y="191"/>
                </a:lnTo>
                <a:lnTo>
                  <a:pt x="12" y="186"/>
                </a:lnTo>
                <a:lnTo>
                  <a:pt x="8" y="181"/>
                </a:lnTo>
                <a:lnTo>
                  <a:pt x="7" y="176"/>
                </a:lnTo>
                <a:lnTo>
                  <a:pt x="5" y="171"/>
                </a:lnTo>
                <a:lnTo>
                  <a:pt x="4" y="164"/>
                </a:lnTo>
                <a:lnTo>
                  <a:pt x="0" y="166"/>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86" name="Freeform 1891">
            <a:extLst>
              <a:ext uri="{FF2B5EF4-FFF2-40B4-BE49-F238E27FC236}">
                <a16:creationId xmlns:a16="http://schemas.microsoft.com/office/drawing/2014/main" id="{EEC03D42-9937-A468-EAC8-8BB95A3EF503}"/>
              </a:ext>
            </a:extLst>
          </p:cNvPr>
          <p:cNvSpPr>
            <a:spLocks noEditPoints="1"/>
          </p:cNvSpPr>
          <p:nvPr/>
        </p:nvSpPr>
        <p:spPr bwMode="auto">
          <a:xfrm>
            <a:off x="3217863" y="2436813"/>
            <a:ext cx="604838" cy="327025"/>
          </a:xfrm>
          <a:custGeom>
            <a:avLst/>
            <a:gdLst>
              <a:gd name="T0" fmla="*/ 381 w 381"/>
              <a:gd name="T1" fmla="*/ 43 h 206"/>
              <a:gd name="T2" fmla="*/ 379 w 381"/>
              <a:gd name="T3" fmla="*/ 37 h 206"/>
              <a:gd name="T4" fmla="*/ 377 w 381"/>
              <a:gd name="T5" fmla="*/ 32 h 206"/>
              <a:gd name="T6" fmla="*/ 374 w 381"/>
              <a:gd name="T7" fmla="*/ 27 h 206"/>
              <a:gd name="T8" fmla="*/ 372 w 381"/>
              <a:gd name="T9" fmla="*/ 22 h 206"/>
              <a:gd name="T10" fmla="*/ 371 w 381"/>
              <a:gd name="T11" fmla="*/ 15 h 206"/>
              <a:gd name="T12" fmla="*/ 368 w 381"/>
              <a:gd name="T13" fmla="*/ 10 h 206"/>
              <a:gd name="T14" fmla="*/ 364 w 381"/>
              <a:gd name="T15" fmla="*/ 5 h 206"/>
              <a:gd name="T16" fmla="*/ 363 w 381"/>
              <a:gd name="T17" fmla="*/ 0 h 206"/>
              <a:gd name="T18" fmla="*/ 359 w 381"/>
              <a:gd name="T19" fmla="*/ 2 h 206"/>
              <a:gd name="T20" fmla="*/ 363 w 381"/>
              <a:gd name="T21" fmla="*/ 7 h 206"/>
              <a:gd name="T22" fmla="*/ 364 w 381"/>
              <a:gd name="T23" fmla="*/ 12 h 206"/>
              <a:gd name="T24" fmla="*/ 368 w 381"/>
              <a:gd name="T25" fmla="*/ 17 h 206"/>
              <a:gd name="T26" fmla="*/ 369 w 381"/>
              <a:gd name="T27" fmla="*/ 22 h 206"/>
              <a:gd name="T28" fmla="*/ 372 w 381"/>
              <a:gd name="T29" fmla="*/ 29 h 206"/>
              <a:gd name="T30" fmla="*/ 374 w 381"/>
              <a:gd name="T31" fmla="*/ 33 h 206"/>
              <a:gd name="T32" fmla="*/ 376 w 381"/>
              <a:gd name="T33" fmla="*/ 38 h 206"/>
              <a:gd name="T34" fmla="*/ 377 w 381"/>
              <a:gd name="T35" fmla="*/ 45 h 206"/>
              <a:gd name="T36" fmla="*/ 381 w 381"/>
              <a:gd name="T37" fmla="*/ 43 h 206"/>
              <a:gd name="T38" fmla="*/ 0 w 381"/>
              <a:gd name="T39" fmla="*/ 166 h 206"/>
              <a:gd name="T40" fmla="*/ 2 w 381"/>
              <a:gd name="T41" fmla="*/ 171 h 206"/>
              <a:gd name="T42" fmla="*/ 3 w 381"/>
              <a:gd name="T43" fmla="*/ 176 h 206"/>
              <a:gd name="T44" fmla="*/ 5 w 381"/>
              <a:gd name="T45" fmla="*/ 181 h 206"/>
              <a:gd name="T46" fmla="*/ 8 w 381"/>
              <a:gd name="T47" fmla="*/ 186 h 206"/>
              <a:gd name="T48" fmla="*/ 10 w 381"/>
              <a:gd name="T49" fmla="*/ 191 h 206"/>
              <a:gd name="T50" fmla="*/ 13 w 381"/>
              <a:gd name="T51" fmla="*/ 196 h 206"/>
              <a:gd name="T52" fmla="*/ 15 w 381"/>
              <a:gd name="T53" fmla="*/ 201 h 206"/>
              <a:gd name="T54" fmla="*/ 18 w 381"/>
              <a:gd name="T55" fmla="*/ 206 h 206"/>
              <a:gd name="T56" fmla="*/ 21 w 381"/>
              <a:gd name="T57" fmla="*/ 204 h 206"/>
              <a:gd name="T58" fmla="*/ 18 w 381"/>
              <a:gd name="T59" fmla="*/ 199 h 206"/>
              <a:gd name="T60" fmla="*/ 15 w 381"/>
              <a:gd name="T61" fmla="*/ 196 h 206"/>
              <a:gd name="T62" fmla="*/ 13 w 381"/>
              <a:gd name="T63" fmla="*/ 191 h 206"/>
              <a:gd name="T64" fmla="*/ 11 w 381"/>
              <a:gd name="T65" fmla="*/ 186 h 206"/>
              <a:gd name="T66" fmla="*/ 8 w 381"/>
              <a:gd name="T67" fmla="*/ 179 h 206"/>
              <a:gd name="T68" fmla="*/ 6 w 381"/>
              <a:gd name="T69" fmla="*/ 174 h 206"/>
              <a:gd name="T70" fmla="*/ 5 w 381"/>
              <a:gd name="T71" fmla="*/ 169 h 206"/>
              <a:gd name="T72" fmla="*/ 3 w 381"/>
              <a:gd name="T73" fmla="*/ 164 h 206"/>
              <a:gd name="T74" fmla="*/ 0 w 381"/>
              <a:gd name="T75" fmla="*/ 166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1" h="206">
                <a:moveTo>
                  <a:pt x="381" y="43"/>
                </a:moveTo>
                <a:lnTo>
                  <a:pt x="379" y="37"/>
                </a:lnTo>
                <a:lnTo>
                  <a:pt x="377" y="32"/>
                </a:lnTo>
                <a:lnTo>
                  <a:pt x="374" y="27"/>
                </a:lnTo>
                <a:lnTo>
                  <a:pt x="372" y="22"/>
                </a:lnTo>
                <a:lnTo>
                  <a:pt x="371" y="15"/>
                </a:lnTo>
                <a:lnTo>
                  <a:pt x="368" y="10"/>
                </a:lnTo>
                <a:lnTo>
                  <a:pt x="364" y="5"/>
                </a:lnTo>
                <a:lnTo>
                  <a:pt x="363" y="0"/>
                </a:lnTo>
                <a:lnTo>
                  <a:pt x="359" y="2"/>
                </a:lnTo>
                <a:lnTo>
                  <a:pt x="363" y="7"/>
                </a:lnTo>
                <a:lnTo>
                  <a:pt x="364" y="12"/>
                </a:lnTo>
                <a:lnTo>
                  <a:pt x="368" y="17"/>
                </a:lnTo>
                <a:lnTo>
                  <a:pt x="369" y="22"/>
                </a:lnTo>
                <a:lnTo>
                  <a:pt x="372" y="29"/>
                </a:lnTo>
                <a:lnTo>
                  <a:pt x="374" y="33"/>
                </a:lnTo>
                <a:lnTo>
                  <a:pt x="376" y="38"/>
                </a:lnTo>
                <a:lnTo>
                  <a:pt x="377" y="45"/>
                </a:lnTo>
                <a:lnTo>
                  <a:pt x="381" y="43"/>
                </a:lnTo>
                <a:close/>
                <a:moveTo>
                  <a:pt x="0" y="166"/>
                </a:moveTo>
                <a:lnTo>
                  <a:pt x="2" y="171"/>
                </a:lnTo>
                <a:lnTo>
                  <a:pt x="3" y="176"/>
                </a:lnTo>
                <a:lnTo>
                  <a:pt x="5" y="181"/>
                </a:lnTo>
                <a:lnTo>
                  <a:pt x="8" y="186"/>
                </a:lnTo>
                <a:lnTo>
                  <a:pt x="10" y="191"/>
                </a:lnTo>
                <a:lnTo>
                  <a:pt x="13" y="196"/>
                </a:lnTo>
                <a:lnTo>
                  <a:pt x="15" y="201"/>
                </a:lnTo>
                <a:lnTo>
                  <a:pt x="18" y="206"/>
                </a:lnTo>
                <a:lnTo>
                  <a:pt x="21" y="204"/>
                </a:lnTo>
                <a:lnTo>
                  <a:pt x="18" y="199"/>
                </a:lnTo>
                <a:lnTo>
                  <a:pt x="15" y="196"/>
                </a:lnTo>
                <a:lnTo>
                  <a:pt x="13" y="191"/>
                </a:lnTo>
                <a:lnTo>
                  <a:pt x="11" y="186"/>
                </a:lnTo>
                <a:lnTo>
                  <a:pt x="8" y="179"/>
                </a:lnTo>
                <a:lnTo>
                  <a:pt x="6" y="174"/>
                </a:lnTo>
                <a:lnTo>
                  <a:pt x="5" y="169"/>
                </a:lnTo>
                <a:lnTo>
                  <a:pt x="3" y="164"/>
                </a:lnTo>
                <a:lnTo>
                  <a:pt x="0" y="166"/>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87" name="Freeform 1892">
            <a:extLst>
              <a:ext uri="{FF2B5EF4-FFF2-40B4-BE49-F238E27FC236}">
                <a16:creationId xmlns:a16="http://schemas.microsoft.com/office/drawing/2014/main" id="{987D36FC-F71E-D9F7-0D88-C8802FA2FED8}"/>
              </a:ext>
            </a:extLst>
          </p:cNvPr>
          <p:cNvSpPr>
            <a:spLocks noEditPoints="1"/>
          </p:cNvSpPr>
          <p:nvPr/>
        </p:nvSpPr>
        <p:spPr bwMode="auto">
          <a:xfrm>
            <a:off x="3221038" y="2439988"/>
            <a:ext cx="598488" cy="323850"/>
          </a:xfrm>
          <a:custGeom>
            <a:avLst/>
            <a:gdLst>
              <a:gd name="T0" fmla="*/ 377 w 377"/>
              <a:gd name="T1" fmla="*/ 41 h 204"/>
              <a:gd name="T2" fmla="*/ 375 w 377"/>
              <a:gd name="T3" fmla="*/ 36 h 204"/>
              <a:gd name="T4" fmla="*/ 374 w 377"/>
              <a:gd name="T5" fmla="*/ 31 h 204"/>
              <a:gd name="T6" fmla="*/ 372 w 377"/>
              <a:gd name="T7" fmla="*/ 25 h 204"/>
              <a:gd name="T8" fmla="*/ 369 w 377"/>
              <a:gd name="T9" fmla="*/ 20 h 204"/>
              <a:gd name="T10" fmla="*/ 367 w 377"/>
              <a:gd name="T11" fmla="*/ 15 h 204"/>
              <a:gd name="T12" fmla="*/ 364 w 377"/>
              <a:gd name="T13" fmla="*/ 10 h 204"/>
              <a:gd name="T14" fmla="*/ 361 w 377"/>
              <a:gd name="T15" fmla="*/ 5 h 204"/>
              <a:gd name="T16" fmla="*/ 359 w 377"/>
              <a:gd name="T17" fmla="*/ 0 h 204"/>
              <a:gd name="T18" fmla="*/ 356 w 377"/>
              <a:gd name="T19" fmla="*/ 0 h 204"/>
              <a:gd name="T20" fmla="*/ 359 w 377"/>
              <a:gd name="T21" fmla="*/ 7 h 204"/>
              <a:gd name="T22" fmla="*/ 361 w 377"/>
              <a:gd name="T23" fmla="*/ 12 h 204"/>
              <a:gd name="T24" fmla="*/ 364 w 377"/>
              <a:gd name="T25" fmla="*/ 17 h 204"/>
              <a:gd name="T26" fmla="*/ 366 w 377"/>
              <a:gd name="T27" fmla="*/ 22 h 204"/>
              <a:gd name="T28" fmla="*/ 369 w 377"/>
              <a:gd name="T29" fmla="*/ 27 h 204"/>
              <a:gd name="T30" fmla="*/ 370 w 377"/>
              <a:gd name="T31" fmla="*/ 31 h 204"/>
              <a:gd name="T32" fmla="*/ 372 w 377"/>
              <a:gd name="T33" fmla="*/ 38 h 204"/>
              <a:gd name="T34" fmla="*/ 374 w 377"/>
              <a:gd name="T35" fmla="*/ 43 h 204"/>
              <a:gd name="T36" fmla="*/ 377 w 377"/>
              <a:gd name="T37" fmla="*/ 41 h 204"/>
              <a:gd name="T38" fmla="*/ 0 w 377"/>
              <a:gd name="T39" fmla="*/ 162 h 204"/>
              <a:gd name="T40" fmla="*/ 1 w 377"/>
              <a:gd name="T41" fmla="*/ 169 h 204"/>
              <a:gd name="T42" fmla="*/ 3 w 377"/>
              <a:gd name="T43" fmla="*/ 174 h 204"/>
              <a:gd name="T44" fmla="*/ 4 w 377"/>
              <a:gd name="T45" fmla="*/ 179 h 204"/>
              <a:gd name="T46" fmla="*/ 8 w 377"/>
              <a:gd name="T47" fmla="*/ 184 h 204"/>
              <a:gd name="T48" fmla="*/ 9 w 377"/>
              <a:gd name="T49" fmla="*/ 189 h 204"/>
              <a:gd name="T50" fmla="*/ 13 w 377"/>
              <a:gd name="T51" fmla="*/ 194 h 204"/>
              <a:gd name="T52" fmla="*/ 14 w 377"/>
              <a:gd name="T53" fmla="*/ 199 h 204"/>
              <a:gd name="T54" fmla="*/ 18 w 377"/>
              <a:gd name="T55" fmla="*/ 204 h 204"/>
              <a:gd name="T56" fmla="*/ 21 w 377"/>
              <a:gd name="T57" fmla="*/ 202 h 204"/>
              <a:gd name="T58" fmla="*/ 18 w 377"/>
              <a:gd name="T59" fmla="*/ 197 h 204"/>
              <a:gd name="T60" fmla="*/ 14 w 377"/>
              <a:gd name="T61" fmla="*/ 192 h 204"/>
              <a:gd name="T62" fmla="*/ 13 w 377"/>
              <a:gd name="T63" fmla="*/ 187 h 204"/>
              <a:gd name="T64" fmla="*/ 9 w 377"/>
              <a:gd name="T65" fmla="*/ 182 h 204"/>
              <a:gd name="T66" fmla="*/ 8 w 377"/>
              <a:gd name="T67" fmla="*/ 177 h 204"/>
              <a:gd name="T68" fmla="*/ 6 w 377"/>
              <a:gd name="T69" fmla="*/ 172 h 204"/>
              <a:gd name="T70" fmla="*/ 4 w 377"/>
              <a:gd name="T71" fmla="*/ 167 h 204"/>
              <a:gd name="T72" fmla="*/ 3 w 377"/>
              <a:gd name="T73" fmla="*/ 162 h 204"/>
              <a:gd name="T74" fmla="*/ 0 w 377"/>
              <a:gd name="T75" fmla="*/ 162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77" h="204">
                <a:moveTo>
                  <a:pt x="377" y="41"/>
                </a:moveTo>
                <a:lnTo>
                  <a:pt x="375" y="36"/>
                </a:lnTo>
                <a:lnTo>
                  <a:pt x="374" y="31"/>
                </a:lnTo>
                <a:lnTo>
                  <a:pt x="372" y="25"/>
                </a:lnTo>
                <a:lnTo>
                  <a:pt x="369" y="20"/>
                </a:lnTo>
                <a:lnTo>
                  <a:pt x="367" y="15"/>
                </a:lnTo>
                <a:lnTo>
                  <a:pt x="364" y="10"/>
                </a:lnTo>
                <a:lnTo>
                  <a:pt x="361" y="5"/>
                </a:lnTo>
                <a:lnTo>
                  <a:pt x="359" y="0"/>
                </a:lnTo>
                <a:lnTo>
                  <a:pt x="356" y="0"/>
                </a:lnTo>
                <a:lnTo>
                  <a:pt x="359" y="7"/>
                </a:lnTo>
                <a:lnTo>
                  <a:pt x="361" y="12"/>
                </a:lnTo>
                <a:lnTo>
                  <a:pt x="364" y="17"/>
                </a:lnTo>
                <a:lnTo>
                  <a:pt x="366" y="22"/>
                </a:lnTo>
                <a:lnTo>
                  <a:pt x="369" y="27"/>
                </a:lnTo>
                <a:lnTo>
                  <a:pt x="370" y="31"/>
                </a:lnTo>
                <a:lnTo>
                  <a:pt x="372" y="38"/>
                </a:lnTo>
                <a:lnTo>
                  <a:pt x="374" y="43"/>
                </a:lnTo>
                <a:lnTo>
                  <a:pt x="377" y="41"/>
                </a:lnTo>
                <a:close/>
                <a:moveTo>
                  <a:pt x="0" y="162"/>
                </a:moveTo>
                <a:lnTo>
                  <a:pt x="1" y="169"/>
                </a:lnTo>
                <a:lnTo>
                  <a:pt x="3" y="174"/>
                </a:lnTo>
                <a:lnTo>
                  <a:pt x="4" y="179"/>
                </a:lnTo>
                <a:lnTo>
                  <a:pt x="8" y="184"/>
                </a:lnTo>
                <a:lnTo>
                  <a:pt x="9" y="189"/>
                </a:lnTo>
                <a:lnTo>
                  <a:pt x="13" y="194"/>
                </a:lnTo>
                <a:lnTo>
                  <a:pt x="14" y="199"/>
                </a:lnTo>
                <a:lnTo>
                  <a:pt x="18" y="204"/>
                </a:lnTo>
                <a:lnTo>
                  <a:pt x="21" y="202"/>
                </a:lnTo>
                <a:lnTo>
                  <a:pt x="18" y="197"/>
                </a:lnTo>
                <a:lnTo>
                  <a:pt x="14" y="192"/>
                </a:lnTo>
                <a:lnTo>
                  <a:pt x="13" y="187"/>
                </a:lnTo>
                <a:lnTo>
                  <a:pt x="9" y="182"/>
                </a:lnTo>
                <a:lnTo>
                  <a:pt x="8" y="177"/>
                </a:lnTo>
                <a:lnTo>
                  <a:pt x="6" y="172"/>
                </a:lnTo>
                <a:lnTo>
                  <a:pt x="4" y="167"/>
                </a:lnTo>
                <a:lnTo>
                  <a:pt x="3" y="162"/>
                </a:lnTo>
                <a:lnTo>
                  <a:pt x="0" y="162"/>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88" name="Freeform 1893">
            <a:extLst>
              <a:ext uri="{FF2B5EF4-FFF2-40B4-BE49-F238E27FC236}">
                <a16:creationId xmlns:a16="http://schemas.microsoft.com/office/drawing/2014/main" id="{705A38EB-F79D-2F58-9BC1-9A58703442F6}"/>
              </a:ext>
            </a:extLst>
          </p:cNvPr>
          <p:cNvSpPr>
            <a:spLocks noEditPoints="1"/>
          </p:cNvSpPr>
          <p:nvPr/>
        </p:nvSpPr>
        <p:spPr bwMode="auto">
          <a:xfrm>
            <a:off x="3222625" y="2439988"/>
            <a:ext cx="593725" cy="320675"/>
          </a:xfrm>
          <a:custGeom>
            <a:avLst/>
            <a:gdLst>
              <a:gd name="T0" fmla="*/ 374 w 374"/>
              <a:gd name="T1" fmla="*/ 43 h 202"/>
              <a:gd name="T2" fmla="*/ 373 w 374"/>
              <a:gd name="T3" fmla="*/ 36 h 202"/>
              <a:gd name="T4" fmla="*/ 371 w 374"/>
              <a:gd name="T5" fmla="*/ 31 h 202"/>
              <a:gd name="T6" fmla="*/ 369 w 374"/>
              <a:gd name="T7" fmla="*/ 27 h 202"/>
              <a:gd name="T8" fmla="*/ 366 w 374"/>
              <a:gd name="T9" fmla="*/ 20 h 202"/>
              <a:gd name="T10" fmla="*/ 365 w 374"/>
              <a:gd name="T11" fmla="*/ 15 h 202"/>
              <a:gd name="T12" fmla="*/ 361 w 374"/>
              <a:gd name="T13" fmla="*/ 10 h 202"/>
              <a:gd name="T14" fmla="*/ 360 w 374"/>
              <a:gd name="T15" fmla="*/ 5 h 202"/>
              <a:gd name="T16" fmla="*/ 356 w 374"/>
              <a:gd name="T17" fmla="*/ 0 h 202"/>
              <a:gd name="T18" fmla="*/ 353 w 374"/>
              <a:gd name="T19" fmla="*/ 2 h 202"/>
              <a:gd name="T20" fmla="*/ 356 w 374"/>
              <a:gd name="T21" fmla="*/ 7 h 202"/>
              <a:gd name="T22" fmla="*/ 358 w 374"/>
              <a:gd name="T23" fmla="*/ 12 h 202"/>
              <a:gd name="T24" fmla="*/ 361 w 374"/>
              <a:gd name="T25" fmla="*/ 17 h 202"/>
              <a:gd name="T26" fmla="*/ 363 w 374"/>
              <a:gd name="T27" fmla="*/ 22 h 202"/>
              <a:gd name="T28" fmla="*/ 366 w 374"/>
              <a:gd name="T29" fmla="*/ 28 h 202"/>
              <a:gd name="T30" fmla="*/ 368 w 374"/>
              <a:gd name="T31" fmla="*/ 33 h 202"/>
              <a:gd name="T32" fmla="*/ 369 w 374"/>
              <a:gd name="T33" fmla="*/ 38 h 202"/>
              <a:gd name="T34" fmla="*/ 371 w 374"/>
              <a:gd name="T35" fmla="*/ 45 h 202"/>
              <a:gd name="T36" fmla="*/ 374 w 374"/>
              <a:gd name="T37" fmla="*/ 43 h 202"/>
              <a:gd name="T38" fmla="*/ 0 w 374"/>
              <a:gd name="T39" fmla="*/ 162 h 202"/>
              <a:gd name="T40" fmla="*/ 2 w 374"/>
              <a:gd name="T41" fmla="*/ 167 h 202"/>
              <a:gd name="T42" fmla="*/ 3 w 374"/>
              <a:gd name="T43" fmla="*/ 172 h 202"/>
              <a:gd name="T44" fmla="*/ 5 w 374"/>
              <a:gd name="T45" fmla="*/ 177 h 202"/>
              <a:gd name="T46" fmla="*/ 8 w 374"/>
              <a:gd name="T47" fmla="*/ 184 h 202"/>
              <a:gd name="T48" fmla="*/ 10 w 374"/>
              <a:gd name="T49" fmla="*/ 189 h 202"/>
              <a:gd name="T50" fmla="*/ 12 w 374"/>
              <a:gd name="T51" fmla="*/ 194 h 202"/>
              <a:gd name="T52" fmla="*/ 15 w 374"/>
              <a:gd name="T53" fmla="*/ 197 h 202"/>
              <a:gd name="T54" fmla="*/ 18 w 374"/>
              <a:gd name="T55" fmla="*/ 202 h 202"/>
              <a:gd name="T56" fmla="*/ 22 w 374"/>
              <a:gd name="T57" fmla="*/ 202 h 202"/>
              <a:gd name="T58" fmla="*/ 18 w 374"/>
              <a:gd name="T59" fmla="*/ 197 h 202"/>
              <a:gd name="T60" fmla="*/ 15 w 374"/>
              <a:gd name="T61" fmla="*/ 192 h 202"/>
              <a:gd name="T62" fmla="*/ 13 w 374"/>
              <a:gd name="T63" fmla="*/ 187 h 202"/>
              <a:gd name="T64" fmla="*/ 10 w 374"/>
              <a:gd name="T65" fmla="*/ 182 h 202"/>
              <a:gd name="T66" fmla="*/ 8 w 374"/>
              <a:gd name="T67" fmla="*/ 177 h 202"/>
              <a:gd name="T68" fmla="*/ 7 w 374"/>
              <a:gd name="T69" fmla="*/ 171 h 202"/>
              <a:gd name="T70" fmla="*/ 5 w 374"/>
              <a:gd name="T71" fmla="*/ 166 h 202"/>
              <a:gd name="T72" fmla="*/ 2 w 374"/>
              <a:gd name="T73" fmla="*/ 161 h 202"/>
              <a:gd name="T74" fmla="*/ 0 w 374"/>
              <a:gd name="T75" fmla="*/ 162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74" h="202">
                <a:moveTo>
                  <a:pt x="374" y="43"/>
                </a:moveTo>
                <a:lnTo>
                  <a:pt x="373" y="36"/>
                </a:lnTo>
                <a:lnTo>
                  <a:pt x="371" y="31"/>
                </a:lnTo>
                <a:lnTo>
                  <a:pt x="369" y="27"/>
                </a:lnTo>
                <a:lnTo>
                  <a:pt x="366" y="20"/>
                </a:lnTo>
                <a:lnTo>
                  <a:pt x="365" y="15"/>
                </a:lnTo>
                <a:lnTo>
                  <a:pt x="361" y="10"/>
                </a:lnTo>
                <a:lnTo>
                  <a:pt x="360" y="5"/>
                </a:lnTo>
                <a:lnTo>
                  <a:pt x="356" y="0"/>
                </a:lnTo>
                <a:lnTo>
                  <a:pt x="353" y="2"/>
                </a:lnTo>
                <a:lnTo>
                  <a:pt x="356" y="7"/>
                </a:lnTo>
                <a:lnTo>
                  <a:pt x="358" y="12"/>
                </a:lnTo>
                <a:lnTo>
                  <a:pt x="361" y="17"/>
                </a:lnTo>
                <a:lnTo>
                  <a:pt x="363" y="22"/>
                </a:lnTo>
                <a:lnTo>
                  <a:pt x="366" y="28"/>
                </a:lnTo>
                <a:lnTo>
                  <a:pt x="368" y="33"/>
                </a:lnTo>
                <a:lnTo>
                  <a:pt x="369" y="38"/>
                </a:lnTo>
                <a:lnTo>
                  <a:pt x="371" y="45"/>
                </a:lnTo>
                <a:lnTo>
                  <a:pt x="374" y="43"/>
                </a:lnTo>
                <a:close/>
                <a:moveTo>
                  <a:pt x="0" y="162"/>
                </a:moveTo>
                <a:lnTo>
                  <a:pt x="2" y="167"/>
                </a:lnTo>
                <a:lnTo>
                  <a:pt x="3" y="172"/>
                </a:lnTo>
                <a:lnTo>
                  <a:pt x="5" y="177"/>
                </a:lnTo>
                <a:lnTo>
                  <a:pt x="8" y="184"/>
                </a:lnTo>
                <a:lnTo>
                  <a:pt x="10" y="189"/>
                </a:lnTo>
                <a:lnTo>
                  <a:pt x="12" y="194"/>
                </a:lnTo>
                <a:lnTo>
                  <a:pt x="15" y="197"/>
                </a:lnTo>
                <a:lnTo>
                  <a:pt x="18" y="202"/>
                </a:lnTo>
                <a:lnTo>
                  <a:pt x="22" y="202"/>
                </a:lnTo>
                <a:lnTo>
                  <a:pt x="18" y="197"/>
                </a:lnTo>
                <a:lnTo>
                  <a:pt x="15" y="192"/>
                </a:lnTo>
                <a:lnTo>
                  <a:pt x="13" y="187"/>
                </a:lnTo>
                <a:lnTo>
                  <a:pt x="10" y="182"/>
                </a:lnTo>
                <a:lnTo>
                  <a:pt x="8" y="177"/>
                </a:lnTo>
                <a:lnTo>
                  <a:pt x="7" y="171"/>
                </a:lnTo>
                <a:lnTo>
                  <a:pt x="5" y="166"/>
                </a:lnTo>
                <a:lnTo>
                  <a:pt x="2" y="161"/>
                </a:lnTo>
                <a:lnTo>
                  <a:pt x="0" y="162"/>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89" name="Freeform 1894">
            <a:extLst>
              <a:ext uri="{FF2B5EF4-FFF2-40B4-BE49-F238E27FC236}">
                <a16:creationId xmlns:a16="http://schemas.microsoft.com/office/drawing/2014/main" id="{BCBC84E2-3525-C440-4956-6D191289F6FB}"/>
              </a:ext>
            </a:extLst>
          </p:cNvPr>
          <p:cNvSpPr>
            <a:spLocks noEditPoints="1"/>
          </p:cNvSpPr>
          <p:nvPr/>
        </p:nvSpPr>
        <p:spPr bwMode="auto">
          <a:xfrm>
            <a:off x="3225800" y="2439988"/>
            <a:ext cx="588963" cy="320675"/>
          </a:xfrm>
          <a:custGeom>
            <a:avLst/>
            <a:gdLst>
              <a:gd name="T0" fmla="*/ 371 w 371"/>
              <a:gd name="T1" fmla="*/ 43 h 202"/>
              <a:gd name="T2" fmla="*/ 369 w 371"/>
              <a:gd name="T3" fmla="*/ 38 h 202"/>
              <a:gd name="T4" fmla="*/ 367 w 371"/>
              <a:gd name="T5" fmla="*/ 31 h 202"/>
              <a:gd name="T6" fmla="*/ 366 w 371"/>
              <a:gd name="T7" fmla="*/ 27 h 202"/>
              <a:gd name="T8" fmla="*/ 363 w 371"/>
              <a:gd name="T9" fmla="*/ 22 h 202"/>
              <a:gd name="T10" fmla="*/ 361 w 371"/>
              <a:gd name="T11" fmla="*/ 17 h 202"/>
              <a:gd name="T12" fmla="*/ 358 w 371"/>
              <a:gd name="T13" fmla="*/ 12 h 202"/>
              <a:gd name="T14" fmla="*/ 356 w 371"/>
              <a:gd name="T15" fmla="*/ 7 h 202"/>
              <a:gd name="T16" fmla="*/ 353 w 371"/>
              <a:gd name="T17" fmla="*/ 0 h 202"/>
              <a:gd name="T18" fmla="*/ 349 w 371"/>
              <a:gd name="T19" fmla="*/ 2 h 202"/>
              <a:gd name="T20" fmla="*/ 353 w 371"/>
              <a:gd name="T21" fmla="*/ 7 h 202"/>
              <a:gd name="T22" fmla="*/ 354 w 371"/>
              <a:gd name="T23" fmla="*/ 12 h 202"/>
              <a:gd name="T24" fmla="*/ 358 w 371"/>
              <a:gd name="T25" fmla="*/ 18 h 202"/>
              <a:gd name="T26" fmla="*/ 359 w 371"/>
              <a:gd name="T27" fmla="*/ 23 h 202"/>
              <a:gd name="T28" fmla="*/ 363 w 371"/>
              <a:gd name="T29" fmla="*/ 28 h 202"/>
              <a:gd name="T30" fmla="*/ 364 w 371"/>
              <a:gd name="T31" fmla="*/ 33 h 202"/>
              <a:gd name="T32" fmla="*/ 366 w 371"/>
              <a:gd name="T33" fmla="*/ 40 h 202"/>
              <a:gd name="T34" fmla="*/ 367 w 371"/>
              <a:gd name="T35" fmla="*/ 45 h 202"/>
              <a:gd name="T36" fmla="*/ 371 w 371"/>
              <a:gd name="T37" fmla="*/ 43 h 202"/>
              <a:gd name="T38" fmla="*/ 0 w 371"/>
              <a:gd name="T39" fmla="*/ 162 h 202"/>
              <a:gd name="T40" fmla="*/ 1 w 371"/>
              <a:gd name="T41" fmla="*/ 167 h 202"/>
              <a:gd name="T42" fmla="*/ 3 w 371"/>
              <a:gd name="T43" fmla="*/ 172 h 202"/>
              <a:gd name="T44" fmla="*/ 5 w 371"/>
              <a:gd name="T45" fmla="*/ 177 h 202"/>
              <a:gd name="T46" fmla="*/ 6 w 371"/>
              <a:gd name="T47" fmla="*/ 182 h 202"/>
              <a:gd name="T48" fmla="*/ 10 w 371"/>
              <a:gd name="T49" fmla="*/ 187 h 202"/>
              <a:gd name="T50" fmla="*/ 11 w 371"/>
              <a:gd name="T51" fmla="*/ 192 h 202"/>
              <a:gd name="T52" fmla="*/ 15 w 371"/>
              <a:gd name="T53" fmla="*/ 197 h 202"/>
              <a:gd name="T54" fmla="*/ 18 w 371"/>
              <a:gd name="T55" fmla="*/ 202 h 202"/>
              <a:gd name="T56" fmla="*/ 21 w 371"/>
              <a:gd name="T57" fmla="*/ 200 h 202"/>
              <a:gd name="T58" fmla="*/ 18 w 371"/>
              <a:gd name="T59" fmla="*/ 195 h 202"/>
              <a:gd name="T60" fmla="*/ 15 w 371"/>
              <a:gd name="T61" fmla="*/ 190 h 202"/>
              <a:gd name="T62" fmla="*/ 13 w 371"/>
              <a:gd name="T63" fmla="*/ 185 h 202"/>
              <a:gd name="T64" fmla="*/ 10 w 371"/>
              <a:gd name="T65" fmla="*/ 180 h 202"/>
              <a:gd name="T66" fmla="*/ 8 w 371"/>
              <a:gd name="T67" fmla="*/ 176 h 202"/>
              <a:gd name="T68" fmla="*/ 6 w 371"/>
              <a:gd name="T69" fmla="*/ 171 h 202"/>
              <a:gd name="T70" fmla="*/ 3 w 371"/>
              <a:gd name="T71" fmla="*/ 166 h 202"/>
              <a:gd name="T72" fmla="*/ 1 w 371"/>
              <a:gd name="T73" fmla="*/ 161 h 202"/>
              <a:gd name="T74" fmla="*/ 0 w 371"/>
              <a:gd name="T75" fmla="*/ 162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71" h="202">
                <a:moveTo>
                  <a:pt x="371" y="43"/>
                </a:moveTo>
                <a:lnTo>
                  <a:pt x="369" y="38"/>
                </a:lnTo>
                <a:lnTo>
                  <a:pt x="367" y="31"/>
                </a:lnTo>
                <a:lnTo>
                  <a:pt x="366" y="27"/>
                </a:lnTo>
                <a:lnTo>
                  <a:pt x="363" y="22"/>
                </a:lnTo>
                <a:lnTo>
                  <a:pt x="361" y="17"/>
                </a:lnTo>
                <a:lnTo>
                  <a:pt x="358" y="12"/>
                </a:lnTo>
                <a:lnTo>
                  <a:pt x="356" y="7"/>
                </a:lnTo>
                <a:lnTo>
                  <a:pt x="353" y="0"/>
                </a:lnTo>
                <a:lnTo>
                  <a:pt x="349" y="2"/>
                </a:lnTo>
                <a:lnTo>
                  <a:pt x="353" y="7"/>
                </a:lnTo>
                <a:lnTo>
                  <a:pt x="354" y="12"/>
                </a:lnTo>
                <a:lnTo>
                  <a:pt x="358" y="18"/>
                </a:lnTo>
                <a:lnTo>
                  <a:pt x="359" y="23"/>
                </a:lnTo>
                <a:lnTo>
                  <a:pt x="363" y="28"/>
                </a:lnTo>
                <a:lnTo>
                  <a:pt x="364" y="33"/>
                </a:lnTo>
                <a:lnTo>
                  <a:pt x="366" y="40"/>
                </a:lnTo>
                <a:lnTo>
                  <a:pt x="367" y="45"/>
                </a:lnTo>
                <a:lnTo>
                  <a:pt x="371" y="43"/>
                </a:lnTo>
                <a:close/>
                <a:moveTo>
                  <a:pt x="0" y="162"/>
                </a:moveTo>
                <a:lnTo>
                  <a:pt x="1" y="167"/>
                </a:lnTo>
                <a:lnTo>
                  <a:pt x="3" y="172"/>
                </a:lnTo>
                <a:lnTo>
                  <a:pt x="5" y="177"/>
                </a:lnTo>
                <a:lnTo>
                  <a:pt x="6" y="182"/>
                </a:lnTo>
                <a:lnTo>
                  <a:pt x="10" y="187"/>
                </a:lnTo>
                <a:lnTo>
                  <a:pt x="11" y="192"/>
                </a:lnTo>
                <a:lnTo>
                  <a:pt x="15" y="197"/>
                </a:lnTo>
                <a:lnTo>
                  <a:pt x="18" y="202"/>
                </a:lnTo>
                <a:lnTo>
                  <a:pt x="21" y="200"/>
                </a:lnTo>
                <a:lnTo>
                  <a:pt x="18" y="195"/>
                </a:lnTo>
                <a:lnTo>
                  <a:pt x="15" y="190"/>
                </a:lnTo>
                <a:lnTo>
                  <a:pt x="13" y="185"/>
                </a:lnTo>
                <a:lnTo>
                  <a:pt x="10" y="180"/>
                </a:lnTo>
                <a:lnTo>
                  <a:pt x="8" y="176"/>
                </a:lnTo>
                <a:lnTo>
                  <a:pt x="6" y="171"/>
                </a:lnTo>
                <a:lnTo>
                  <a:pt x="3" y="166"/>
                </a:lnTo>
                <a:lnTo>
                  <a:pt x="1" y="161"/>
                </a:lnTo>
                <a:lnTo>
                  <a:pt x="0" y="162"/>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90" name="Freeform 1895">
            <a:extLst>
              <a:ext uri="{FF2B5EF4-FFF2-40B4-BE49-F238E27FC236}">
                <a16:creationId xmlns:a16="http://schemas.microsoft.com/office/drawing/2014/main" id="{BA90519F-7A95-B545-AB41-308F2EF575AC}"/>
              </a:ext>
            </a:extLst>
          </p:cNvPr>
          <p:cNvSpPr>
            <a:spLocks noEditPoints="1"/>
          </p:cNvSpPr>
          <p:nvPr/>
        </p:nvSpPr>
        <p:spPr bwMode="auto">
          <a:xfrm>
            <a:off x="3225800" y="2443163"/>
            <a:ext cx="585788" cy="317500"/>
          </a:xfrm>
          <a:custGeom>
            <a:avLst/>
            <a:gdLst>
              <a:gd name="T0" fmla="*/ 369 w 369"/>
              <a:gd name="T1" fmla="*/ 43 h 200"/>
              <a:gd name="T2" fmla="*/ 367 w 369"/>
              <a:gd name="T3" fmla="*/ 36 h 200"/>
              <a:gd name="T4" fmla="*/ 366 w 369"/>
              <a:gd name="T5" fmla="*/ 31 h 200"/>
              <a:gd name="T6" fmla="*/ 364 w 369"/>
              <a:gd name="T7" fmla="*/ 26 h 200"/>
              <a:gd name="T8" fmla="*/ 361 w 369"/>
              <a:gd name="T9" fmla="*/ 20 h 200"/>
              <a:gd name="T10" fmla="*/ 359 w 369"/>
              <a:gd name="T11" fmla="*/ 15 h 200"/>
              <a:gd name="T12" fmla="*/ 356 w 369"/>
              <a:gd name="T13" fmla="*/ 10 h 200"/>
              <a:gd name="T14" fmla="*/ 354 w 369"/>
              <a:gd name="T15" fmla="*/ 5 h 200"/>
              <a:gd name="T16" fmla="*/ 351 w 369"/>
              <a:gd name="T17" fmla="*/ 0 h 200"/>
              <a:gd name="T18" fmla="*/ 348 w 369"/>
              <a:gd name="T19" fmla="*/ 1 h 200"/>
              <a:gd name="T20" fmla="*/ 351 w 369"/>
              <a:gd name="T21" fmla="*/ 6 h 200"/>
              <a:gd name="T22" fmla="*/ 354 w 369"/>
              <a:gd name="T23" fmla="*/ 11 h 200"/>
              <a:gd name="T24" fmla="*/ 356 w 369"/>
              <a:gd name="T25" fmla="*/ 16 h 200"/>
              <a:gd name="T26" fmla="*/ 359 w 369"/>
              <a:gd name="T27" fmla="*/ 21 h 200"/>
              <a:gd name="T28" fmla="*/ 361 w 369"/>
              <a:gd name="T29" fmla="*/ 26 h 200"/>
              <a:gd name="T30" fmla="*/ 363 w 369"/>
              <a:gd name="T31" fmla="*/ 33 h 200"/>
              <a:gd name="T32" fmla="*/ 364 w 369"/>
              <a:gd name="T33" fmla="*/ 38 h 200"/>
              <a:gd name="T34" fmla="*/ 367 w 369"/>
              <a:gd name="T35" fmla="*/ 43 h 200"/>
              <a:gd name="T36" fmla="*/ 369 w 369"/>
              <a:gd name="T37" fmla="*/ 43 h 200"/>
              <a:gd name="T38" fmla="*/ 0 w 369"/>
              <a:gd name="T39" fmla="*/ 159 h 200"/>
              <a:gd name="T40" fmla="*/ 3 w 369"/>
              <a:gd name="T41" fmla="*/ 164 h 200"/>
              <a:gd name="T42" fmla="*/ 5 w 369"/>
              <a:gd name="T43" fmla="*/ 169 h 200"/>
              <a:gd name="T44" fmla="*/ 6 w 369"/>
              <a:gd name="T45" fmla="*/ 175 h 200"/>
              <a:gd name="T46" fmla="*/ 8 w 369"/>
              <a:gd name="T47" fmla="*/ 180 h 200"/>
              <a:gd name="T48" fmla="*/ 11 w 369"/>
              <a:gd name="T49" fmla="*/ 185 h 200"/>
              <a:gd name="T50" fmla="*/ 13 w 369"/>
              <a:gd name="T51" fmla="*/ 190 h 200"/>
              <a:gd name="T52" fmla="*/ 16 w 369"/>
              <a:gd name="T53" fmla="*/ 195 h 200"/>
              <a:gd name="T54" fmla="*/ 20 w 369"/>
              <a:gd name="T55" fmla="*/ 200 h 200"/>
              <a:gd name="T56" fmla="*/ 21 w 369"/>
              <a:gd name="T57" fmla="*/ 198 h 200"/>
              <a:gd name="T58" fmla="*/ 20 w 369"/>
              <a:gd name="T59" fmla="*/ 193 h 200"/>
              <a:gd name="T60" fmla="*/ 16 w 369"/>
              <a:gd name="T61" fmla="*/ 188 h 200"/>
              <a:gd name="T62" fmla="*/ 15 w 369"/>
              <a:gd name="T63" fmla="*/ 183 h 200"/>
              <a:gd name="T64" fmla="*/ 11 w 369"/>
              <a:gd name="T65" fmla="*/ 178 h 200"/>
              <a:gd name="T66" fmla="*/ 10 w 369"/>
              <a:gd name="T67" fmla="*/ 174 h 200"/>
              <a:gd name="T68" fmla="*/ 8 w 369"/>
              <a:gd name="T69" fmla="*/ 169 h 200"/>
              <a:gd name="T70" fmla="*/ 5 w 369"/>
              <a:gd name="T71" fmla="*/ 162 h 200"/>
              <a:gd name="T72" fmla="*/ 3 w 369"/>
              <a:gd name="T73" fmla="*/ 157 h 200"/>
              <a:gd name="T74" fmla="*/ 0 w 369"/>
              <a:gd name="T75" fmla="*/ 15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69" h="200">
                <a:moveTo>
                  <a:pt x="369" y="43"/>
                </a:moveTo>
                <a:lnTo>
                  <a:pt x="367" y="36"/>
                </a:lnTo>
                <a:lnTo>
                  <a:pt x="366" y="31"/>
                </a:lnTo>
                <a:lnTo>
                  <a:pt x="364" y="26"/>
                </a:lnTo>
                <a:lnTo>
                  <a:pt x="361" y="20"/>
                </a:lnTo>
                <a:lnTo>
                  <a:pt x="359" y="15"/>
                </a:lnTo>
                <a:lnTo>
                  <a:pt x="356" y="10"/>
                </a:lnTo>
                <a:lnTo>
                  <a:pt x="354" y="5"/>
                </a:lnTo>
                <a:lnTo>
                  <a:pt x="351" y="0"/>
                </a:lnTo>
                <a:lnTo>
                  <a:pt x="348" y="1"/>
                </a:lnTo>
                <a:lnTo>
                  <a:pt x="351" y="6"/>
                </a:lnTo>
                <a:lnTo>
                  <a:pt x="354" y="11"/>
                </a:lnTo>
                <a:lnTo>
                  <a:pt x="356" y="16"/>
                </a:lnTo>
                <a:lnTo>
                  <a:pt x="359" y="21"/>
                </a:lnTo>
                <a:lnTo>
                  <a:pt x="361" y="26"/>
                </a:lnTo>
                <a:lnTo>
                  <a:pt x="363" y="33"/>
                </a:lnTo>
                <a:lnTo>
                  <a:pt x="364" y="38"/>
                </a:lnTo>
                <a:lnTo>
                  <a:pt x="367" y="43"/>
                </a:lnTo>
                <a:lnTo>
                  <a:pt x="369" y="43"/>
                </a:lnTo>
                <a:close/>
                <a:moveTo>
                  <a:pt x="0" y="159"/>
                </a:moveTo>
                <a:lnTo>
                  <a:pt x="3" y="164"/>
                </a:lnTo>
                <a:lnTo>
                  <a:pt x="5" y="169"/>
                </a:lnTo>
                <a:lnTo>
                  <a:pt x="6" y="175"/>
                </a:lnTo>
                <a:lnTo>
                  <a:pt x="8" y="180"/>
                </a:lnTo>
                <a:lnTo>
                  <a:pt x="11" y="185"/>
                </a:lnTo>
                <a:lnTo>
                  <a:pt x="13" y="190"/>
                </a:lnTo>
                <a:lnTo>
                  <a:pt x="16" y="195"/>
                </a:lnTo>
                <a:lnTo>
                  <a:pt x="20" y="200"/>
                </a:lnTo>
                <a:lnTo>
                  <a:pt x="21" y="198"/>
                </a:lnTo>
                <a:lnTo>
                  <a:pt x="20" y="193"/>
                </a:lnTo>
                <a:lnTo>
                  <a:pt x="16" y="188"/>
                </a:lnTo>
                <a:lnTo>
                  <a:pt x="15" y="183"/>
                </a:lnTo>
                <a:lnTo>
                  <a:pt x="11" y="178"/>
                </a:lnTo>
                <a:lnTo>
                  <a:pt x="10" y="174"/>
                </a:lnTo>
                <a:lnTo>
                  <a:pt x="8" y="169"/>
                </a:lnTo>
                <a:lnTo>
                  <a:pt x="5" y="162"/>
                </a:lnTo>
                <a:lnTo>
                  <a:pt x="3" y="157"/>
                </a:lnTo>
                <a:lnTo>
                  <a:pt x="0" y="159"/>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91" name="Freeform 1896">
            <a:extLst>
              <a:ext uri="{FF2B5EF4-FFF2-40B4-BE49-F238E27FC236}">
                <a16:creationId xmlns:a16="http://schemas.microsoft.com/office/drawing/2014/main" id="{6B84E0DE-DBA8-D555-CBE7-4628837C19F2}"/>
              </a:ext>
            </a:extLst>
          </p:cNvPr>
          <p:cNvSpPr>
            <a:spLocks noEditPoints="1"/>
          </p:cNvSpPr>
          <p:nvPr/>
        </p:nvSpPr>
        <p:spPr bwMode="auto">
          <a:xfrm>
            <a:off x="3227388" y="2443163"/>
            <a:ext cx="581025" cy="314325"/>
          </a:xfrm>
          <a:custGeom>
            <a:avLst/>
            <a:gdLst>
              <a:gd name="T0" fmla="*/ 366 w 366"/>
              <a:gd name="T1" fmla="*/ 43 h 198"/>
              <a:gd name="T2" fmla="*/ 365 w 366"/>
              <a:gd name="T3" fmla="*/ 38 h 198"/>
              <a:gd name="T4" fmla="*/ 363 w 366"/>
              <a:gd name="T5" fmla="*/ 31 h 198"/>
              <a:gd name="T6" fmla="*/ 362 w 366"/>
              <a:gd name="T7" fmla="*/ 26 h 198"/>
              <a:gd name="T8" fmla="*/ 358 w 366"/>
              <a:gd name="T9" fmla="*/ 21 h 198"/>
              <a:gd name="T10" fmla="*/ 357 w 366"/>
              <a:gd name="T11" fmla="*/ 16 h 198"/>
              <a:gd name="T12" fmla="*/ 353 w 366"/>
              <a:gd name="T13" fmla="*/ 10 h 198"/>
              <a:gd name="T14" fmla="*/ 352 w 366"/>
              <a:gd name="T15" fmla="*/ 5 h 198"/>
              <a:gd name="T16" fmla="*/ 348 w 366"/>
              <a:gd name="T17" fmla="*/ 0 h 198"/>
              <a:gd name="T18" fmla="*/ 345 w 366"/>
              <a:gd name="T19" fmla="*/ 1 h 198"/>
              <a:gd name="T20" fmla="*/ 348 w 366"/>
              <a:gd name="T21" fmla="*/ 6 h 198"/>
              <a:gd name="T22" fmla="*/ 352 w 366"/>
              <a:gd name="T23" fmla="*/ 11 h 198"/>
              <a:gd name="T24" fmla="*/ 353 w 366"/>
              <a:gd name="T25" fmla="*/ 16 h 198"/>
              <a:gd name="T26" fmla="*/ 357 w 366"/>
              <a:gd name="T27" fmla="*/ 23 h 198"/>
              <a:gd name="T28" fmla="*/ 358 w 366"/>
              <a:gd name="T29" fmla="*/ 28 h 198"/>
              <a:gd name="T30" fmla="*/ 360 w 366"/>
              <a:gd name="T31" fmla="*/ 33 h 198"/>
              <a:gd name="T32" fmla="*/ 363 w 366"/>
              <a:gd name="T33" fmla="*/ 38 h 198"/>
              <a:gd name="T34" fmla="*/ 365 w 366"/>
              <a:gd name="T35" fmla="*/ 44 h 198"/>
              <a:gd name="T36" fmla="*/ 366 w 366"/>
              <a:gd name="T37" fmla="*/ 43 h 198"/>
              <a:gd name="T38" fmla="*/ 0 w 366"/>
              <a:gd name="T39" fmla="*/ 159 h 198"/>
              <a:gd name="T40" fmla="*/ 2 w 366"/>
              <a:gd name="T41" fmla="*/ 164 h 198"/>
              <a:gd name="T42" fmla="*/ 5 w 366"/>
              <a:gd name="T43" fmla="*/ 169 h 198"/>
              <a:gd name="T44" fmla="*/ 7 w 366"/>
              <a:gd name="T45" fmla="*/ 174 h 198"/>
              <a:gd name="T46" fmla="*/ 9 w 366"/>
              <a:gd name="T47" fmla="*/ 178 h 198"/>
              <a:gd name="T48" fmla="*/ 12 w 366"/>
              <a:gd name="T49" fmla="*/ 183 h 198"/>
              <a:gd name="T50" fmla="*/ 14 w 366"/>
              <a:gd name="T51" fmla="*/ 188 h 198"/>
              <a:gd name="T52" fmla="*/ 17 w 366"/>
              <a:gd name="T53" fmla="*/ 193 h 198"/>
              <a:gd name="T54" fmla="*/ 20 w 366"/>
              <a:gd name="T55" fmla="*/ 198 h 198"/>
              <a:gd name="T56" fmla="*/ 22 w 366"/>
              <a:gd name="T57" fmla="*/ 197 h 198"/>
              <a:gd name="T58" fmla="*/ 20 w 366"/>
              <a:gd name="T59" fmla="*/ 192 h 198"/>
              <a:gd name="T60" fmla="*/ 17 w 366"/>
              <a:gd name="T61" fmla="*/ 187 h 198"/>
              <a:gd name="T62" fmla="*/ 15 w 366"/>
              <a:gd name="T63" fmla="*/ 183 h 198"/>
              <a:gd name="T64" fmla="*/ 12 w 366"/>
              <a:gd name="T65" fmla="*/ 177 h 198"/>
              <a:gd name="T66" fmla="*/ 10 w 366"/>
              <a:gd name="T67" fmla="*/ 172 h 198"/>
              <a:gd name="T68" fmla="*/ 7 w 366"/>
              <a:gd name="T69" fmla="*/ 167 h 198"/>
              <a:gd name="T70" fmla="*/ 5 w 366"/>
              <a:gd name="T71" fmla="*/ 162 h 198"/>
              <a:gd name="T72" fmla="*/ 4 w 366"/>
              <a:gd name="T73" fmla="*/ 157 h 198"/>
              <a:gd name="T74" fmla="*/ 0 w 366"/>
              <a:gd name="T75" fmla="*/ 159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66" h="198">
                <a:moveTo>
                  <a:pt x="366" y="43"/>
                </a:moveTo>
                <a:lnTo>
                  <a:pt x="365" y="38"/>
                </a:lnTo>
                <a:lnTo>
                  <a:pt x="363" y="31"/>
                </a:lnTo>
                <a:lnTo>
                  <a:pt x="362" y="26"/>
                </a:lnTo>
                <a:lnTo>
                  <a:pt x="358" y="21"/>
                </a:lnTo>
                <a:lnTo>
                  <a:pt x="357" y="16"/>
                </a:lnTo>
                <a:lnTo>
                  <a:pt x="353" y="10"/>
                </a:lnTo>
                <a:lnTo>
                  <a:pt x="352" y="5"/>
                </a:lnTo>
                <a:lnTo>
                  <a:pt x="348" y="0"/>
                </a:lnTo>
                <a:lnTo>
                  <a:pt x="345" y="1"/>
                </a:lnTo>
                <a:lnTo>
                  <a:pt x="348" y="6"/>
                </a:lnTo>
                <a:lnTo>
                  <a:pt x="352" y="11"/>
                </a:lnTo>
                <a:lnTo>
                  <a:pt x="353" y="16"/>
                </a:lnTo>
                <a:lnTo>
                  <a:pt x="357" y="23"/>
                </a:lnTo>
                <a:lnTo>
                  <a:pt x="358" y="28"/>
                </a:lnTo>
                <a:lnTo>
                  <a:pt x="360" y="33"/>
                </a:lnTo>
                <a:lnTo>
                  <a:pt x="363" y="38"/>
                </a:lnTo>
                <a:lnTo>
                  <a:pt x="365" y="44"/>
                </a:lnTo>
                <a:lnTo>
                  <a:pt x="366" y="43"/>
                </a:lnTo>
                <a:close/>
                <a:moveTo>
                  <a:pt x="0" y="159"/>
                </a:moveTo>
                <a:lnTo>
                  <a:pt x="2" y="164"/>
                </a:lnTo>
                <a:lnTo>
                  <a:pt x="5" y="169"/>
                </a:lnTo>
                <a:lnTo>
                  <a:pt x="7" y="174"/>
                </a:lnTo>
                <a:lnTo>
                  <a:pt x="9" y="178"/>
                </a:lnTo>
                <a:lnTo>
                  <a:pt x="12" y="183"/>
                </a:lnTo>
                <a:lnTo>
                  <a:pt x="14" y="188"/>
                </a:lnTo>
                <a:lnTo>
                  <a:pt x="17" y="193"/>
                </a:lnTo>
                <a:lnTo>
                  <a:pt x="20" y="198"/>
                </a:lnTo>
                <a:lnTo>
                  <a:pt x="22" y="197"/>
                </a:lnTo>
                <a:lnTo>
                  <a:pt x="20" y="192"/>
                </a:lnTo>
                <a:lnTo>
                  <a:pt x="17" y="187"/>
                </a:lnTo>
                <a:lnTo>
                  <a:pt x="15" y="183"/>
                </a:lnTo>
                <a:lnTo>
                  <a:pt x="12" y="177"/>
                </a:lnTo>
                <a:lnTo>
                  <a:pt x="10" y="172"/>
                </a:lnTo>
                <a:lnTo>
                  <a:pt x="7" y="167"/>
                </a:lnTo>
                <a:lnTo>
                  <a:pt x="5" y="162"/>
                </a:lnTo>
                <a:lnTo>
                  <a:pt x="4" y="157"/>
                </a:lnTo>
                <a:lnTo>
                  <a:pt x="0" y="159"/>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92" name="Freeform 1897">
            <a:extLst>
              <a:ext uri="{FF2B5EF4-FFF2-40B4-BE49-F238E27FC236}">
                <a16:creationId xmlns:a16="http://schemas.microsoft.com/office/drawing/2014/main" id="{A7268CE5-9A90-23FC-1653-E99EF840CF91}"/>
              </a:ext>
            </a:extLst>
          </p:cNvPr>
          <p:cNvSpPr>
            <a:spLocks noEditPoints="1"/>
          </p:cNvSpPr>
          <p:nvPr/>
        </p:nvSpPr>
        <p:spPr bwMode="auto">
          <a:xfrm>
            <a:off x="3230563" y="2444750"/>
            <a:ext cx="577850" cy="312738"/>
          </a:xfrm>
          <a:custGeom>
            <a:avLst/>
            <a:gdLst>
              <a:gd name="T0" fmla="*/ 364 w 364"/>
              <a:gd name="T1" fmla="*/ 42 h 197"/>
              <a:gd name="T2" fmla="*/ 361 w 364"/>
              <a:gd name="T3" fmla="*/ 37 h 197"/>
              <a:gd name="T4" fmla="*/ 360 w 364"/>
              <a:gd name="T5" fmla="*/ 32 h 197"/>
              <a:gd name="T6" fmla="*/ 358 w 364"/>
              <a:gd name="T7" fmla="*/ 25 h 197"/>
              <a:gd name="T8" fmla="*/ 356 w 364"/>
              <a:gd name="T9" fmla="*/ 20 h 197"/>
              <a:gd name="T10" fmla="*/ 353 w 364"/>
              <a:gd name="T11" fmla="*/ 15 h 197"/>
              <a:gd name="T12" fmla="*/ 351 w 364"/>
              <a:gd name="T13" fmla="*/ 10 h 197"/>
              <a:gd name="T14" fmla="*/ 348 w 364"/>
              <a:gd name="T15" fmla="*/ 5 h 197"/>
              <a:gd name="T16" fmla="*/ 345 w 364"/>
              <a:gd name="T17" fmla="*/ 0 h 197"/>
              <a:gd name="T18" fmla="*/ 341 w 364"/>
              <a:gd name="T19" fmla="*/ 2 h 197"/>
              <a:gd name="T20" fmla="*/ 345 w 364"/>
              <a:gd name="T21" fmla="*/ 7 h 197"/>
              <a:gd name="T22" fmla="*/ 348 w 364"/>
              <a:gd name="T23" fmla="*/ 12 h 197"/>
              <a:gd name="T24" fmla="*/ 350 w 364"/>
              <a:gd name="T25" fmla="*/ 17 h 197"/>
              <a:gd name="T26" fmla="*/ 353 w 364"/>
              <a:gd name="T27" fmla="*/ 22 h 197"/>
              <a:gd name="T28" fmla="*/ 355 w 364"/>
              <a:gd name="T29" fmla="*/ 27 h 197"/>
              <a:gd name="T30" fmla="*/ 356 w 364"/>
              <a:gd name="T31" fmla="*/ 32 h 197"/>
              <a:gd name="T32" fmla="*/ 360 w 364"/>
              <a:gd name="T33" fmla="*/ 38 h 197"/>
              <a:gd name="T34" fmla="*/ 361 w 364"/>
              <a:gd name="T35" fmla="*/ 43 h 197"/>
              <a:gd name="T36" fmla="*/ 364 w 364"/>
              <a:gd name="T37" fmla="*/ 42 h 197"/>
              <a:gd name="T38" fmla="*/ 0 w 364"/>
              <a:gd name="T39" fmla="*/ 156 h 197"/>
              <a:gd name="T40" fmla="*/ 2 w 364"/>
              <a:gd name="T41" fmla="*/ 161 h 197"/>
              <a:gd name="T42" fmla="*/ 5 w 364"/>
              <a:gd name="T43" fmla="*/ 168 h 197"/>
              <a:gd name="T44" fmla="*/ 7 w 364"/>
              <a:gd name="T45" fmla="*/ 173 h 197"/>
              <a:gd name="T46" fmla="*/ 8 w 364"/>
              <a:gd name="T47" fmla="*/ 177 h 197"/>
              <a:gd name="T48" fmla="*/ 12 w 364"/>
              <a:gd name="T49" fmla="*/ 182 h 197"/>
              <a:gd name="T50" fmla="*/ 13 w 364"/>
              <a:gd name="T51" fmla="*/ 187 h 197"/>
              <a:gd name="T52" fmla="*/ 17 w 364"/>
              <a:gd name="T53" fmla="*/ 192 h 197"/>
              <a:gd name="T54" fmla="*/ 18 w 364"/>
              <a:gd name="T55" fmla="*/ 197 h 197"/>
              <a:gd name="T56" fmla="*/ 22 w 364"/>
              <a:gd name="T57" fmla="*/ 196 h 197"/>
              <a:gd name="T58" fmla="*/ 20 w 364"/>
              <a:gd name="T59" fmla="*/ 191 h 197"/>
              <a:gd name="T60" fmla="*/ 17 w 364"/>
              <a:gd name="T61" fmla="*/ 186 h 197"/>
              <a:gd name="T62" fmla="*/ 13 w 364"/>
              <a:gd name="T63" fmla="*/ 181 h 197"/>
              <a:gd name="T64" fmla="*/ 12 w 364"/>
              <a:gd name="T65" fmla="*/ 176 h 197"/>
              <a:gd name="T66" fmla="*/ 10 w 364"/>
              <a:gd name="T67" fmla="*/ 171 h 197"/>
              <a:gd name="T68" fmla="*/ 7 w 364"/>
              <a:gd name="T69" fmla="*/ 166 h 197"/>
              <a:gd name="T70" fmla="*/ 5 w 364"/>
              <a:gd name="T71" fmla="*/ 161 h 197"/>
              <a:gd name="T72" fmla="*/ 3 w 364"/>
              <a:gd name="T73" fmla="*/ 154 h 197"/>
              <a:gd name="T74" fmla="*/ 0 w 364"/>
              <a:gd name="T75" fmla="*/ 156 h 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64" h="197">
                <a:moveTo>
                  <a:pt x="364" y="42"/>
                </a:moveTo>
                <a:lnTo>
                  <a:pt x="361" y="37"/>
                </a:lnTo>
                <a:lnTo>
                  <a:pt x="360" y="32"/>
                </a:lnTo>
                <a:lnTo>
                  <a:pt x="358" y="25"/>
                </a:lnTo>
                <a:lnTo>
                  <a:pt x="356" y="20"/>
                </a:lnTo>
                <a:lnTo>
                  <a:pt x="353" y="15"/>
                </a:lnTo>
                <a:lnTo>
                  <a:pt x="351" y="10"/>
                </a:lnTo>
                <a:lnTo>
                  <a:pt x="348" y="5"/>
                </a:lnTo>
                <a:lnTo>
                  <a:pt x="345" y="0"/>
                </a:lnTo>
                <a:lnTo>
                  <a:pt x="341" y="2"/>
                </a:lnTo>
                <a:lnTo>
                  <a:pt x="345" y="7"/>
                </a:lnTo>
                <a:lnTo>
                  <a:pt x="348" y="12"/>
                </a:lnTo>
                <a:lnTo>
                  <a:pt x="350" y="17"/>
                </a:lnTo>
                <a:lnTo>
                  <a:pt x="353" y="22"/>
                </a:lnTo>
                <a:lnTo>
                  <a:pt x="355" y="27"/>
                </a:lnTo>
                <a:lnTo>
                  <a:pt x="356" y="32"/>
                </a:lnTo>
                <a:lnTo>
                  <a:pt x="360" y="38"/>
                </a:lnTo>
                <a:lnTo>
                  <a:pt x="361" y="43"/>
                </a:lnTo>
                <a:lnTo>
                  <a:pt x="364" y="42"/>
                </a:lnTo>
                <a:close/>
                <a:moveTo>
                  <a:pt x="0" y="156"/>
                </a:moveTo>
                <a:lnTo>
                  <a:pt x="2" y="161"/>
                </a:lnTo>
                <a:lnTo>
                  <a:pt x="5" y="168"/>
                </a:lnTo>
                <a:lnTo>
                  <a:pt x="7" y="173"/>
                </a:lnTo>
                <a:lnTo>
                  <a:pt x="8" y="177"/>
                </a:lnTo>
                <a:lnTo>
                  <a:pt x="12" y="182"/>
                </a:lnTo>
                <a:lnTo>
                  <a:pt x="13" y="187"/>
                </a:lnTo>
                <a:lnTo>
                  <a:pt x="17" y="192"/>
                </a:lnTo>
                <a:lnTo>
                  <a:pt x="18" y="197"/>
                </a:lnTo>
                <a:lnTo>
                  <a:pt x="22" y="196"/>
                </a:lnTo>
                <a:lnTo>
                  <a:pt x="20" y="191"/>
                </a:lnTo>
                <a:lnTo>
                  <a:pt x="17" y="186"/>
                </a:lnTo>
                <a:lnTo>
                  <a:pt x="13" y="181"/>
                </a:lnTo>
                <a:lnTo>
                  <a:pt x="12" y="176"/>
                </a:lnTo>
                <a:lnTo>
                  <a:pt x="10" y="171"/>
                </a:lnTo>
                <a:lnTo>
                  <a:pt x="7" y="166"/>
                </a:lnTo>
                <a:lnTo>
                  <a:pt x="5" y="161"/>
                </a:lnTo>
                <a:lnTo>
                  <a:pt x="3" y="154"/>
                </a:lnTo>
                <a:lnTo>
                  <a:pt x="0" y="156"/>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93" name="Freeform 1898">
            <a:extLst>
              <a:ext uri="{FF2B5EF4-FFF2-40B4-BE49-F238E27FC236}">
                <a16:creationId xmlns:a16="http://schemas.microsoft.com/office/drawing/2014/main" id="{58854F2A-AFE0-3E6B-637A-533237A11BDA}"/>
              </a:ext>
            </a:extLst>
          </p:cNvPr>
          <p:cNvSpPr>
            <a:spLocks noEditPoints="1"/>
          </p:cNvSpPr>
          <p:nvPr/>
        </p:nvSpPr>
        <p:spPr bwMode="auto">
          <a:xfrm>
            <a:off x="3233738" y="2444750"/>
            <a:ext cx="573088" cy="311150"/>
          </a:xfrm>
          <a:custGeom>
            <a:avLst/>
            <a:gdLst>
              <a:gd name="T0" fmla="*/ 361 w 361"/>
              <a:gd name="T1" fmla="*/ 43 h 196"/>
              <a:gd name="T2" fmla="*/ 359 w 361"/>
              <a:gd name="T3" fmla="*/ 37 h 196"/>
              <a:gd name="T4" fmla="*/ 356 w 361"/>
              <a:gd name="T5" fmla="*/ 32 h 196"/>
              <a:gd name="T6" fmla="*/ 354 w 361"/>
              <a:gd name="T7" fmla="*/ 27 h 196"/>
              <a:gd name="T8" fmla="*/ 353 w 361"/>
              <a:gd name="T9" fmla="*/ 22 h 196"/>
              <a:gd name="T10" fmla="*/ 349 w 361"/>
              <a:gd name="T11" fmla="*/ 15 h 196"/>
              <a:gd name="T12" fmla="*/ 348 w 361"/>
              <a:gd name="T13" fmla="*/ 10 h 196"/>
              <a:gd name="T14" fmla="*/ 344 w 361"/>
              <a:gd name="T15" fmla="*/ 5 h 196"/>
              <a:gd name="T16" fmla="*/ 341 w 361"/>
              <a:gd name="T17" fmla="*/ 0 h 196"/>
              <a:gd name="T18" fmla="*/ 338 w 361"/>
              <a:gd name="T19" fmla="*/ 2 h 196"/>
              <a:gd name="T20" fmla="*/ 341 w 361"/>
              <a:gd name="T21" fmla="*/ 7 h 196"/>
              <a:gd name="T22" fmla="*/ 344 w 361"/>
              <a:gd name="T23" fmla="*/ 12 h 196"/>
              <a:gd name="T24" fmla="*/ 346 w 361"/>
              <a:gd name="T25" fmla="*/ 17 h 196"/>
              <a:gd name="T26" fmla="*/ 349 w 361"/>
              <a:gd name="T27" fmla="*/ 22 h 196"/>
              <a:gd name="T28" fmla="*/ 351 w 361"/>
              <a:gd name="T29" fmla="*/ 28 h 196"/>
              <a:gd name="T30" fmla="*/ 354 w 361"/>
              <a:gd name="T31" fmla="*/ 33 h 196"/>
              <a:gd name="T32" fmla="*/ 356 w 361"/>
              <a:gd name="T33" fmla="*/ 38 h 196"/>
              <a:gd name="T34" fmla="*/ 358 w 361"/>
              <a:gd name="T35" fmla="*/ 45 h 196"/>
              <a:gd name="T36" fmla="*/ 361 w 361"/>
              <a:gd name="T37" fmla="*/ 43 h 196"/>
              <a:gd name="T38" fmla="*/ 0 w 361"/>
              <a:gd name="T39" fmla="*/ 156 h 196"/>
              <a:gd name="T40" fmla="*/ 1 w 361"/>
              <a:gd name="T41" fmla="*/ 161 h 196"/>
              <a:gd name="T42" fmla="*/ 3 w 361"/>
              <a:gd name="T43" fmla="*/ 166 h 196"/>
              <a:gd name="T44" fmla="*/ 6 w 361"/>
              <a:gd name="T45" fmla="*/ 171 h 196"/>
              <a:gd name="T46" fmla="*/ 8 w 361"/>
              <a:gd name="T47" fmla="*/ 176 h 196"/>
              <a:gd name="T48" fmla="*/ 11 w 361"/>
              <a:gd name="T49" fmla="*/ 182 h 196"/>
              <a:gd name="T50" fmla="*/ 13 w 361"/>
              <a:gd name="T51" fmla="*/ 187 h 196"/>
              <a:gd name="T52" fmla="*/ 16 w 361"/>
              <a:gd name="T53" fmla="*/ 191 h 196"/>
              <a:gd name="T54" fmla="*/ 18 w 361"/>
              <a:gd name="T55" fmla="*/ 196 h 196"/>
              <a:gd name="T56" fmla="*/ 21 w 361"/>
              <a:gd name="T57" fmla="*/ 194 h 196"/>
              <a:gd name="T58" fmla="*/ 18 w 361"/>
              <a:gd name="T59" fmla="*/ 191 h 196"/>
              <a:gd name="T60" fmla="*/ 16 w 361"/>
              <a:gd name="T61" fmla="*/ 186 h 196"/>
              <a:gd name="T62" fmla="*/ 13 w 361"/>
              <a:gd name="T63" fmla="*/ 181 h 196"/>
              <a:gd name="T64" fmla="*/ 11 w 361"/>
              <a:gd name="T65" fmla="*/ 176 h 196"/>
              <a:gd name="T66" fmla="*/ 10 w 361"/>
              <a:gd name="T67" fmla="*/ 171 h 196"/>
              <a:gd name="T68" fmla="*/ 6 w 361"/>
              <a:gd name="T69" fmla="*/ 164 h 196"/>
              <a:gd name="T70" fmla="*/ 5 w 361"/>
              <a:gd name="T71" fmla="*/ 159 h 196"/>
              <a:gd name="T72" fmla="*/ 3 w 361"/>
              <a:gd name="T73" fmla="*/ 154 h 196"/>
              <a:gd name="T74" fmla="*/ 0 w 361"/>
              <a:gd name="T75" fmla="*/ 156 h 1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61" h="196">
                <a:moveTo>
                  <a:pt x="361" y="43"/>
                </a:moveTo>
                <a:lnTo>
                  <a:pt x="359" y="37"/>
                </a:lnTo>
                <a:lnTo>
                  <a:pt x="356" y="32"/>
                </a:lnTo>
                <a:lnTo>
                  <a:pt x="354" y="27"/>
                </a:lnTo>
                <a:lnTo>
                  <a:pt x="353" y="22"/>
                </a:lnTo>
                <a:lnTo>
                  <a:pt x="349" y="15"/>
                </a:lnTo>
                <a:lnTo>
                  <a:pt x="348" y="10"/>
                </a:lnTo>
                <a:lnTo>
                  <a:pt x="344" y="5"/>
                </a:lnTo>
                <a:lnTo>
                  <a:pt x="341" y="0"/>
                </a:lnTo>
                <a:lnTo>
                  <a:pt x="338" y="2"/>
                </a:lnTo>
                <a:lnTo>
                  <a:pt x="341" y="7"/>
                </a:lnTo>
                <a:lnTo>
                  <a:pt x="344" y="12"/>
                </a:lnTo>
                <a:lnTo>
                  <a:pt x="346" y="17"/>
                </a:lnTo>
                <a:lnTo>
                  <a:pt x="349" y="22"/>
                </a:lnTo>
                <a:lnTo>
                  <a:pt x="351" y="28"/>
                </a:lnTo>
                <a:lnTo>
                  <a:pt x="354" y="33"/>
                </a:lnTo>
                <a:lnTo>
                  <a:pt x="356" y="38"/>
                </a:lnTo>
                <a:lnTo>
                  <a:pt x="358" y="45"/>
                </a:lnTo>
                <a:lnTo>
                  <a:pt x="361" y="43"/>
                </a:lnTo>
                <a:close/>
                <a:moveTo>
                  <a:pt x="0" y="156"/>
                </a:moveTo>
                <a:lnTo>
                  <a:pt x="1" y="161"/>
                </a:lnTo>
                <a:lnTo>
                  <a:pt x="3" y="166"/>
                </a:lnTo>
                <a:lnTo>
                  <a:pt x="6" y="171"/>
                </a:lnTo>
                <a:lnTo>
                  <a:pt x="8" y="176"/>
                </a:lnTo>
                <a:lnTo>
                  <a:pt x="11" y="182"/>
                </a:lnTo>
                <a:lnTo>
                  <a:pt x="13" y="187"/>
                </a:lnTo>
                <a:lnTo>
                  <a:pt x="16" y="191"/>
                </a:lnTo>
                <a:lnTo>
                  <a:pt x="18" y="196"/>
                </a:lnTo>
                <a:lnTo>
                  <a:pt x="21" y="194"/>
                </a:lnTo>
                <a:lnTo>
                  <a:pt x="18" y="191"/>
                </a:lnTo>
                <a:lnTo>
                  <a:pt x="16" y="186"/>
                </a:lnTo>
                <a:lnTo>
                  <a:pt x="13" y="181"/>
                </a:lnTo>
                <a:lnTo>
                  <a:pt x="11" y="176"/>
                </a:lnTo>
                <a:lnTo>
                  <a:pt x="10" y="171"/>
                </a:lnTo>
                <a:lnTo>
                  <a:pt x="6" y="164"/>
                </a:lnTo>
                <a:lnTo>
                  <a:pt x="5" y="159"/>
                </a:lnTo>
                <a:lnTo>
                  <a:pt x="3" y="154"/>
                </a:lnTo>
                <a:lnTo>
                  <a:pt x="0" y="156"/>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94" name="Freeform 1899">
            <a:extLst>
              <a:ext uri="{FF2B5EF4-FFF2-40B4-BE49-F238E27FC236}">
                <a16:creationId xmlns:a16="http://schemas.microsoft.com/office/drawing/2014/main" id="{6675E81C-8C51-1FFF-EE8F-1792E7E58DD0}"/>
              </a:ext>
            </a:extLst>
          </p:cNvPr>
          <p:cNvSpPr>
            <a:spLocks noEditPoints="1"/>
          </p:cNvSpPr>
          <p:nvPr/>
        </p:nvSpPr>
        <p:spPr bwMode="auto">
          <a:xfrm>
            <a:off x="3235325" y="2447925"/>
            <a:ext cx="568325" cy="307975"/>
          </a:xfrm>
          <a:custGeom>
            <a:avLst/>
            <a:gdLst>
              <a:gd name="T0" fmla="*/ 358 w 358"/>
              <a:gd name="T1" fmla="*/ 41 h 194"/>
              <a:gd name="T2" fmla="*/ 357 w 358"/>
              <a:gd name="T3" fmla="*/ 36 h 194"/>
              <a:gd name="T4" fmla="*/ 353 w 358"/>
              <a:gd name="T5" fmla="*/ 30 h 194"/>
              <a:gd name="T6" fmla="*/ 352 w 358"/>
              <a:gd name="T7" fmla="*/ 25 h 194"/>
              <a:gd name="T8" fmla="*/ 350 w 358"/>
              <a:gd name="T9" fmla="*/ 20 h 194"/>
              <a:gd name="T10" fmla="*/ 347 w 358"/>
              <a:gd name="T11" fmla="*/ 15 h 194"/>
              <a:gd name="T12" fmla="*/ 345 w 358"/>
              <a:gd name="T13" fmla="*/ 10 h 194"/>
              <a:gd name="T14" fmla="*/ 342 w 358"/>
              <a:gd name="T15" fmla="*/ 5 h 194"/>
              <a:gd name="T16" fmla="*/ 338 w 358"/>
              <a:gd name="T17" fmla="*/ 0 h 194"/>
              <a:gd name="T18" fmla="*/ 335 w 358"/>
              <a:gd name="T19" fmla="*/ 0 h 194"/>
              <a:gd name="T20" fmla="*/ 338 w 358"/>
              <a:gd name="T21" fmla="*/ 5 h 194"/>
              <a:gd name="T22" fmla="*/ 342 w 358"/>
              <a:gd name="T23" fmla="*/ 10 h 194"/>
              <a:gd name="T24" fmla="*/ 343 w 358"/>
              <a:gd name="T25" fmla="*/ 17 h 194"/>
              <a:gd name="T26" fmla="*/ 347 w 358"/>
              <a:gd name="T27" fmla="*/ 22 h 194"/>
              <a:gd name="T28" fmla="*/ 348 w 358"/>
              <a:gd name="T29" fmla="*/ 26 h 194"/>
              <a:gd name="T30" fmla="*/ 352 w 358"/>
              <a:gd name="T31" fmla="*/ 31 h 194"/>
              <a:gd name="T32" fmla="*/ 353 w 358"/>
              <a:gd name="T33" fmla="*/ 38 h 194"/>
              <a:gd name="T34" fmla="*/ 355 w 358"/>
              <a:gd name="T35" fmla="*/ 43 h 194"/>
              <a:gd name="T36" fmla="*/ 358 w 358"/>
              <a:gd name="T37" fmla="*/ 41 h 194"/>
              <a:gd name="T38" fmla="*/ 0 w 358"/>
              <a:gd name="T39" fmla="*/ 152 h 194"/>
              <a:gd name="T40" fmla="*/ 2 w 358"/>
              <a:gd name="T41" fmla="*/ 159 h 194"/>
              <a:gd name="T42" fmla="*/ 4 w 358"/>
              <a:gd name="T43" fmla="*/ 164 h 194"/>
              <a:gd name="T44" fmla="*/ 7 w 358"/>
              <a:gd name="T45" fmla="*/ 169 h 194"/>
              <a:gd name="T46" fmla="*/ 9 w 358"/>
              <a:gd name="T47" fmla="*/ 174 h 194"/>
              <a:gd name="T48" fmla="*/ 10 w 358"/>
              <a:gd name="T49" fmla="*/ 179 h 194"/>
              <a:gd name="T50" fmla="*/ 14 w 358"/>
              <a:gd name="T51" fmla="*/ 184 h 194"/>
              <a:gd name="T52" fmla="*/ 17 w 358"/>
              <a:gd name="T53" fmla="*/ 189 h 194"/>
              <a:gd name="T54" fmla="*/ 19 w 358"/>
              <a:gd name="T55" fmla="*/ 194 h 194"/>
              <a:gd name="T56" fmla="*/ 22 w 358"/>
              <a:gd name="T57" fmla="*/ 192 h 194"/>
              <a:gd name="T58" fmla="*/ 19 w 358"/>
              <a:gd name="T59" fmla="*/ 187 h 194"/>
              <a:gd name="T60" fmla="*/ 17 w 358"/>
              <a:gd name="T61" fmla="*/ 182 h 194"/>
              <a:gd name="T62" fmla="*/ 14 w 358"/>
              <a:gd name="T63" fmla="*/ 177 h 194"/>
              <a:gd name="T64" fmla="*/ 12 w 358"/>
              <a:gd name="T65" fmla="*/ 172 h 194"/>
              <a:gd name="T66" fmla="*/ 9 w 358"/>
              <a:gd name="T67" fmla="*/ 167 h 194"/>
              <a:gd name="T68" fmla="*/ 7 w 358"/>
              <a:gd name="T69" fmla="*/ 162 h 194"/>
              <a:gd name="T70" fmla="*/ 5 w 358"/>
              <a:gd name="T71" fmla="*/ 157 h 194"/>
              <a:gd name="T72" fmla="*/ 4 w 358"/>
              <a:gd name="T73" fmla="*/ 152 h 194"/>
              <a:gd name="T74" fmla="*/ 0 w 358"/>
              <a:gd name="T75" fmla="*/ 152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58" h="194">
                <a:moveTo>
                  <a:pt x="358" y="41"/>
                </a:moveTo>
                <a:lnTo>
                  <a:pt x="357" y="36"/>
                </a:lnTo>
                <a:lnTo>
                  <a:pt x="353" y="30"/>
                </a:lnTo>
                <a:lnTo>
                  <a:pt x="352" y="25"/>
                </a:lnTo>
                <a:lnTo>
                  <a:pt x="350" y="20"/>
                </a:lnTo>
                <a:lnTo>
                  <a:pt x="347" y="15"/>
                </a:lnTo>
                <a:lnTo>
                  <a:pt x="345" y="10"/>
                </a:lnTo>
                <a:lnTo>
                  <a:pt x="342" y="5"/>
                </a:lnTo>
                <a:lnTo>
                  <a:pt x="338" y="0"/>
                </a:lnTo>
                <a:lnTo>
                  <a:pt x="335" y="0"/>
                </a:lnTo>
                <a:lnTo>
                  <a:pt x="338" y="5"/>
                </a:lnTo>
                <a:lnTo>
                  <a:pt x="342" y="10"/>
                </a:lnTo>
                <a:lnTo>
                  <a:pt x="343" y="17"/>
                </a:lnTo>
                <a:lnTo>
                  <a:pt x="347" y="22"/>
                </a:lnTo>
                <a:lnTo>
                  <a:pt x="348" y="26"/>
                </a:lnTo>
                <a:lnTo>
                  <a:pt x="352" y="31"/>
                </a:lnTo>
                <a:lnTo>
                  <a:pt x="353" y="38"/>
                </a:lnTo>
                <a:lnTo>
                  <a:pt x="355" y="43"/>
                </a:lnTo>
                <a:lnTo>
                  <a:pt x="358" y="41"/>
                </a:lnTo>
                <a:close/>
                <a:moveTo>
                  <a:pt x="0" y="152"/>
                </a:moveTo>
                <a:lnTo>
                  <a:pt x="2" y="159"/>
                </a:lnTo>
                <a:lnTo>
                  <a:pt x="4" y="164"/>
                </a:lnTo>
                <a:lnTo>
                  <a:pt x="7" y="169"/>
                </a:lnTo>
                <a:lnTo>
                  <a:pt x="9" y="174"/>
                </a:lnTo>
                <a:lnTo>
                  <a:pt x="10" y="179"/>
                </a:lnTo>
                <a:lnTo>
                  <a:pt x="14" y="184"/>
                </a:lnTo>
                <a:lnTo>
                  <a:pt x="17" y="189"/>
                </a:lnTo>
                <a:lnTo>
                  <a:pt x="19" y="194"/>
                </a:lnTo>
                <a:lnTo>
                  <a:pt x="22" y="192"/>
                </a:lnTo>
                <a:lnTo>
                  <a:pt x="19" y="187"/>
                </a:lnTo>
                <a:lnTo>
                  <a:pt x="17" y="182"/>
                </a:lnTo>
                <a:lnTo>
                  <a:pt x="14" y="177"/>
                </a:lnTo>
                <a:lnTo>
                  <a:pt x="12" y="172"/>
                </a:lnTo>
                <a:lnTo>
                  <a:pt x="9" y="167"/>
                </a:lnTo>
                <a:lnTo>
                  <a:pt x="7" y="162"/>
                </a:lnTo>
                <a:lnTo>
                  <a:pt x="5" y="157"/>
                </a:lnTo>
                <a:lnTo>
                  <a:pt x="4" y="152"/>
                </a:lnTo>
                <a:lnTo>
                  <a:pt x="0" y="152"/>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95" name="Freeform 1900">
            <a:extLst>
              <a:ext uri="{FF2B5EF4-FFF2-40B4-BE49-F238E27FC236}">
                <a16:creationId xmlns:a16="http://schemas.microsoft.com/office/drawing/2014/main" id="{43D7DA10-3039-4524-6400-D27650FA0734}"/>
              </a:ext>
            </a:extLst>
          </p:cNvPr>
          <p:cNvSpPr>
            <a:spLocks noEditPoints="1"/>
          </p:cNvSpPr>
          <p:nvPr/>
        </p:nvSpPr>
        <p:spPr bwMode="auto">
          <a:xfrm>
            <a:off x="3238500" y="2447925"/>
            <a:ext cx="563563" cy="304800"/>
          </a:xfrm>
          <a:custGeom>
            <a:avLst/>
            <a:gdLst>
              <a:gd name="T0" fmla="*/ 355 w 355"/>
              <a:gd name="T1" fmla="*/ 43 h 192"/>
              <a:gd name="T2" fmla="*/ 353 w 355"/>
              <a:gd name="T3" fmla="*/ 36 h 192"/>
              <a:gd name="T4" fmla="*/ 351 w 355"/>
              <a:gd name="T5" fmla="*/ 31 h 192"/>
              <a:gd name="T6" fmla="*/ 348 w 355"/>
              <a:gd name="T7" fmla="*/ 26 h 192"/>
              <a:gd name="T8" fmla="*/ 346 w 355"/>
              <a:gd name="T9" fmla="*/ 20 h 192"/>
              <a:gd name="T10" fmla="*/ 343 w 355"/>
              <a:gd name="T11" fmla="*/ 15 h 192"/>
              <a:gd name="T12" fmla="*/ 341 w 355"/>
              <a:gd name="T13" fmla="*/ 10 h 192"/>
              <a:gd name="T14" fmla="*/ 338 w 355"/>
              <a:gd name="T15" fmla="*/ 5 h 192"/>
              <a:gd name="T16" fmla="*/ 335 w 355"/>
              <a:gd name="T17" fmla="*/ 0 h 192"/>
              <a:gd name="T18" fmla="*/ 333 w 355"/>
              <a:gd name="T19" fmla="*/ 2 h 192"/>
              <a:gd name="T20" fmla="*/ 335 w 355"/>
              <a:gd name="T21" fmla="*/ 7 h 192"/>
              <a:gd name="T22" fmla="*/ 338 w 355"/>
              <a:gd name="T23" fmla="*/ 12 h 192"/>
              <a:gd name="T24" fmla="*/ 341 w 355"/>
              <a:gd name="T25" fmla="*/ 17 h 192"/>
              <a:gd name="T26" fmla="*/ 343 w 355"/>
              <a:gd name="T27" fmla="*/ 22 h 192"/>
              <a:gd name="T28" fmla="*/ 345 w 355"/>
              <a:gd name="T29" fmla="*/ 26 h 192"/>
              <a:gd name="T30" fmla="*/ 348 w 355"/>
              <a:gd name="T31" fmla="*/ 33 h 192"/>
              <a:gd name="T32" fmla="*/ 350 w 355"/>
              <a:gd name="T33" fmla="*/ 38 h 192"/>
              <a:gd name="T34" fmla="*/ 351 w 355"/>
              <a:gd name="T35" fmla="*/ 43 h 192"/>
              <a:gd name="T36" fmla="*/ 355 w 355"/>
              <a:gd name="T37" fmla="*/ 43 h 192"/>
              <a:gd name="T38" fmla="*/ 0 w 355"/>
              <a:gd name="T39" fmla="*/ 152 h 192"/>
              <a:gd name="T40" fmla="*/ 2 w 355"/>
              <a:gd name="T41" fmla="*/ 157 h 192"/>
              <a:gd name="T42" fmla="*/ 3 w 355"/>
              <a:gd name="T43" fmla="*/ 162 h 192"/>
              <a:gd name="T44" fmla="*/ 7 w 355"/>
              <a:gd name="T45" fmla="*/ 169 h 192"/>
              <a:gd name="T46" fmla="*/ 8 w 355"/>
              <a:gd name="T47" fmla="*/ 174 h 192"/>
              <a:gd name="T48" fmla="*/ 10 w 355"/>
              <a:gd name="T49" fmla="*/ 179 h 192"/>
              <a:gd name="T50" fmla="*/ 13 w 355"/>
              <a:gd name="T51" fmla="*/ 184 h 192"/>
              <a:gd name="T52" fmla="*/ 15 w 355"/>
              <a:gd name="T53" fmla="*/ 189 h 192"/>
              <a:gd name="T54" fmla="*/ 18 w 355"/>
              <a:gd name="T55" fmla="*/ 192 h 192"/>
              <a:gd name="T56" fmla="*/ 22 w 355"/>
              <a:gd name="T57" fmla="*/ 192 h 192"/>
              <a:gd name="T58" fmla="*/ 18 w 355"/>
              <a:gd name="T59" fmla="*/ 187 h 192"/>
              <a:gd name="T60" fmla="*/ 17 w 355"/>
              <a:gd name="T61" fmla="*/ 182 h 192"/>
              <a:gd name="T62" fmla="*/ 13 w 355"/>
              <a:gd name="T63" fmla="*/ 177 h 192"/>
              <a:gd name="T64" fmla="*/ 12 w 355"/>
              <a:gd name="T65" fmla="*/ 172 h 192"/>
              <a:gd name="T66" fmla="*/ 8 w 355"/>
              <a:gd name="T67" fmla="*/ 167 h 192"/>
              <a:gd name="T68" fmla="*/ 7 w 355"/>
              <a:gd name="T69" fmla="*/ 162 h 192"/>
              <a:gd name="T70" fmla="*/ 5 w 355"/>
              <a:gd name="T71" fmla="*/ 156 h 192"/>
              <a:gd name="T72" fmla="*/ 3 w 355"/>
              <a:gd name="T73" fmla="*/ 151 h 192"/>
              <a:gd name="T74" fmla="*/ 0 w 355"/>
              <a:gd name="T75" fmla="*/ 152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55" h="192">
                <a:moveTo>
                  <a:pt x="355" y="43"/>
                </a:moveTo>
                <a:lnTo>
                  <a:pt x="353" y="36"/>
                </a:lnTo>
                <a:lnTo>
                  <a:pt x="351" y="31"/>
                </a:lnTo>
                <a:lnTo>
                  <a:pt x="348" y="26"/>
                </a:lnTo>
                <a:lnTo>
                  <a:pt x="346" y="20"/>
                </a:lnTo>
                <a:lnTo>
                  <a:pt x="343" y="15"/>
                </a:lnTo>
                <a:lnTo>
                  <a:pt x="341" y="10"/>
                </a:lnTo>
                <a:lnTo>
                  <a:pt x="338" y="5"/>
                </a:lnTo>
                <a:lnTo>
                  <a:pt x="335" y="0"/>
                </a:lnTo>
                <a:lnTo>
                  <a:pt x="333" y="2"/>
                </a:lnTo>
                <a:lnTo>
                  <a:pt x="335" y="7"/>
                </a:lnTo>
                <a:lnTo>
                  <a:pt x="338" y="12"/>
                </a:lnTo>
                <a:lnTo>
                  <a:pt x="341" y="17"/>
                </a:lnTo>
                <a:lnTo>
                  <a:pt x="343" y="22"/>
                </a:lnTo>
                <a:lnTo>
                  <a:pt x="345" y="26"/>
                </a:lnTo>
                <a:lnTo>
                  <a:pt x="348" y="33"/>
                </a:lnTo>
                <a:lnTo>
                  <a:pt x="350" y="38"/>
                </a:lnTo>
                <a:lnTo>
                  <a:pt x="351" y="43"/>
                </a:lnTo>
                <a:lnTo>
                  <a:pt x="355" y="43"/>
                </a:lnTo>
                <a:close/>
                <a:moveTo>
                  <a:pt x="0" y="152"/>
                </a:moveTo>
                <a:lnTo>
                  <a:pt x="2" y="157"/>
                </a:lnTo>
                <a:lnTo>
                  <a:pt x="3" y="162"/>
                </a:lnTo>
                <a:lnTo>
                  <a:pt x="7" y="169"/>
                </a:lnTo>
                <a:lnTo>
                  <a:pt x="8" y="174"/>
                </a:lnTo>
                <a:lnTo>
                  <a:pt x="10" y="179"/>
                </a:lnTo>
                <a:lnTo>
                  <a:pt x="13" y="184"/>
                </a:lnTo>
                <a:lnTo>
                  <a:pt x="15" y="189"/>
                </a:lnTo>
                <a:lnTo>
                  <a:pt x="18" y="192"/>
                </a:lnTo>
                <a:lnTo>
                  <a:pt x="22" y="192"/>
                </a:lnTo>
                <a:lnTo>
                  <a:pt x="18" y="187"/>
                </a:lnTo>
                <a:lnTo>
                  <a:pt x="17" y="182"/>
                </a:lnTo>
                <a:lnTo>
                  <a:pt x="13" y="177"/>
                </a:lnTo>
                <a:lnTo>
                  <a:pt x="12" y="172"/>
                </a:lnTo>
                <a:lnTo>
                  <a:pt x="8" y="167"/>
                </a:lnTo>
                <a:lnTo>
                  <a:pt x="7" y="162"/>
                </a:lnTo>
                <a:lnTo>
                  <a:pt x="5" y="156"/>
                </a:lnTo>
                <a:lnTo>
                  <a:pt x="3" y="151"/>
                </a:lnTo>
                <a:lnTo>
                  <a:pt x="0" y="152"/>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96" name="Freeform 1901">
            <a:extLst>
              <a:ext uri="{FF2B5EF4-FFF2-40B4-BE49-F238E27FC236}">
                <a16:creationId xmlns:a16="http://schemas.microsoft.com/office/drawing/2014/main" id="{47B662EF-9416-1765-967C-2DADBFF9B2A5}"/>
              </a:ext>
            </a:extLst>
          </p:cNvPr>
          <p:cNvSpPr>
            <a:spLocks noEditPoints="1"/>
          </p:cNvSpPr>
          <p:nvPr/>
        </p:nvSpPr>
        <p:spPr bwMode="auto">
          <a:xfrm>
            <a:off x="3241675" y="2447925"/>
            <a:ext cx="557213" cy="304800"/>
          </a:xfrm>
          <a:custGeom>
            <a:avLst/>
            <a:gdLst>
              <a:gd name="T0" fmla="*/ 351 w 351"/>
              <a:gd name="T1" fmla="*/ 43 h 192"/>
              <a:gd name="T2" fmla="*/ 349 w 351"/>
              <a:gd name="T3" fmla="*/ 38 h 192"/>
              <a:gd name="T4" fmla="*/ 348 w 351"/>
              <a:gd name="T5" fmla="*/ 31 h 192"/>
              <a:gd name="T6" fmla="*/ 344 w 351"/>
              <a:gd name="T7" fmla="*/ 26 h 192"/>
              <a:gd name="T8" fmla="*/ 343 w 351"/>
              <a:gd name="T9" fmla="*/ 22 h 192"/>
              <a:gd name="T10" fmla="*/ 339 w 351"/>
              <a:gd name="T11" fmla="*/ 17 h 192"/>
              <a:gd name="T12" fmla="*/ 338 w 351"/>
              <a:gd name="T13" fmla="*/ 10 h 192"/>
              <a:gd name="T14" fmla="*/ 334 w 351"/>
              <a:gd name="T15" fmla="*/ 5 h 192"/>
              <a:gd name="T16" fmla="*/ 331 w 351"/>
              <a:gd name="T17" fmla="*/ 0 h 192"/>
              <a:gd name="T18" fmla="*/ 329 w 351"/>
              <a:gd name="T19" fmla="*/ 2 h 192"/>
              <a:gd name="T20" fmla="*/ 331 w 351"/>
              <a:gd name="T21" fmla="*/ 7 h 192"/>
              <a:gd name="T22" fmla="*/ 334 w 351"/>
              <a:gd name="T23" fmla="*/ 12 h 192"/>
              <a:gd name="T24" fmla="*/ 338 w 351"/>
              <a:gd name="T25" fmla="*/ 17 h 192"/>
              <a:gd name="T26" fmla="*/ 339 w 351"/>
              <a:gd name="T27" fmla="*/ 23 h 192"/>
              <a:gd name="T28" fmla="*/ 341 w 351"/>
              <a:gd name="T29" fmla="*/ 28 h 192"/>
              <a:gd name="T30" fmla="*/ 344 w 351"/>
              <a:gd name="T31" fmla="*/ 33 h 192"/>
              <a:gd name="T32" fmla="*/ 346 w 351"/>
              <a:gd name="T33" fmla="*/ 38 h 192"/>
              <a:gd name="T34" fmla="*/ 348 w 351"/>
              <a:gd name="T35" fmla="*/ 45 h 192"/>
              <a:gd name="T36" fmla="*/ 351 w 351"/>
              <a:gd name="T37" fmla="*/ 43 h 192"/>
              <a:gd name="T38" fmla="*/ 0 w 351"/>
              <a:gd name="T39" fmla="*/ 152 h 192"/>
              <a:gd name="T40" fmla="*/ 1 w 351"/>
              <a:gd name="T41" fmla="*/ 157 h 192"/>
              <a:gd name="T42" fmla="*/ 3 w 351"/>
              <a:gd name="T43" fmla="*/ 162 h 192"/>
              <a:gd name="T44" fmla="*/ 5 w 351"/>
              <a:gd name="T45" fmla="*/ 167 h 192"/>
              <a:gd name="T46" fmla="*/ 8 w 351"/>
              <a:gd name="T47" fmla="*/ 172 h 192"/>
              <a:gd name="T48" fmla="*/ 10 w 351"/>
              <a:gd name="T49" fmla="*/ 177 h 192"/>
              <a:gd name="T50" fmla="*/ 13 w 351"/>
              <a:gd name="T51" fmla="*/ 182 h 192"/>
              <a:gd name="T52" fmla="*/ 15 w 351"/>
              <a:gd name="T53" fmla="*/ 187 h 192"/>
              <a:gd name="T54" fmla="*/ 18 w 351"/>
              <a:gd name="T55" fmla="*/ 192 h 192"/>
              <a:gd name="T56" fmla="*/ 21 w 351"/>
              <a:gd name="T57" fmla="*/ 190 h 192"/>
              <a:gd name="T58" fmla="*/ 18 w 351"/>
              <a:gd name="T59" fmla="*/ 185 h 192"/>
              <a:gd name="T60" fmla="*/ 16 w 351"/>
              <a:gd name="T61" fmla="*/ 180 h 192"/>
              <a:gd name="T62" fmla="*/ 13 w 351"/>
              <a:gd name="T63" fmla="*/ 175 h 192"/>
              <a:gd name="T64" fmla="*/ 11 w 351"/>
              <a:gd name="T65" fmla="*/ 171 h 192"/>
              <a:gd name="T66" fmla="*/ 8 w 351"/>
              <a:gd name="T67" fmla="*/ 166 h 192"/>
              <a:gd name="T68" fmla="*/ 6 w 351"/>
              <a:gd name="T69" fmla="*/ 161 h 192"/>
              <a:gd name="T70" fmla="*/ 5 w 351"/>
              <a:gd name="T71" fmla="*/ 156 h 192"/>
              <a:gd name="T72" fmla="*/ 3 w 351"/>
              <a:gd name="T73" fmla="*/ 151 h 192"/>
              <a:gd name="T74" fmla="*/ 0 w 351"/>
              <a:gd name="T75" fmla="*/ 152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51" h="192">
                <a:moveTo>
                  <a:pt x="351" y="43"/>
                </a:moveTo>
                <a:lnTo>
                  <a:pt x="349" y="38"/>
                </a:lnTo>
                <a:lnTo>
                  <a:pt x="348" y="31"/>
                </a:lnTo>
                <a:lnTo>
                  <a:pt x="344" y="26"/>
                </a:lnTo>
                <a:lnTo>
                  <a:pt x="343" y="22"/>
                </a:lnTo>
                <a:lnTo>
                  <a:pt x="339" y="17"/>
                </a:lnTo>
                <a:lnTo>
                  <a:pt x="338" y="10"/>
                </a:lnTo>
                <a:lnTo>
                  <a:pt x="334" y="5"/>
                </a:lnTo>
                <a:lnTo>
                  <a:pt x="331" y="0"/>
                </a:lnTo>
                <a:lnTo>
                  <a:pt x="329" y="2"/>
                </a:lnTo>
                <a:lnTo>
                  <a:pt x="331" y="7"/>
                </a:lnTo>
                <a:lnTo>
                  <a:pt x="334" y="12"/>
                </a:lnTo>
                <a:lnTo>
                  <a:pt x="338" y="17"/>
                </a:lnTo>
                <a:lnTo>
                  <a:pt x="339" y="23"/>
                </a:lnTo>
                <a:lnTo>
                  <a:pt x="341" y="28"/>
                </a:lnTo>
                <a:lnTo>
                  <a:pt x="344" y="33"/>
                </a:lnTo>
                <a:lnTo>
                  <a:pt x="346" y="38"/>
                </a:lnTo>
                <a:lnTo>
                  <a:pt x="348" y="45"/>
                </a:lnTo>
                <a:lnTo>
                  <a:pt x="351" y="43"/>
                </a:lnTo>
                <a:close/>
                <a:moveTo>
                  <a:pt x="0" y="152"/>
                </a:moveTo>
                <a:lnTo>
                  <a:pt x="1" y="157"/>
                </a:lnTo>
                <a:lnTo>
                  <a:pt x="3" y="162"/>
                </a:lnTo>
                <a:lnTo>
                  <a:pt x="5" y="167"/>
                </a:lnTo>
                <a:lnTo>
                  <a:pt x="8" y="172"/>
                </a:lnTo>
                <a:lnTo>
                  <a:pt x="10" y="177"/>
                </a:lnTo>
                <a:lnTo>
                  <a:pt x="13" y="182"/>
                </a:lnTo>
                <a:lnTo>
                  <a:pt x="15" y="187"/>
                </a:lnTo>
                <a:lnTo>
                  <a:pt x="18" y="192"/>
                </a:lnTo>
                <a:lnTo>
                  <a:pt x="21" y="190"/>
                </a:lnTo>
                <a:lnTo>
                  <a:pt x="18" y="185"/>
                </a:lnTo>
                <a:lnTo>
                  <a:pt x="16" y="180"/>
                </a:lnTo>
                <a:lnTo>
                  <a:pt x="13" y="175"/>
                </a:lnTo>
                <a:lnTo>
                  <a:pt x="11" y="171"/>
                </a:lnTo>
                <a:lnTo>
                  <a:pt x="8" y="166"/>
                </a:lnTo>
                <a:lnTo>
                  <a:pt x="6" y="161"/>
                </a:lnTo>
                <a:lnTo>
                  <a:pt x="5" y="156"/>
                </a:lnTo>
                <a:lnTo>
                  <a:pt x="3" y="151"/>
                </a:lnTo>
                <a:lnTo>
                  <a:pt x="0" y="152"/>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97" name="Freeform 1902">
            <a:extLst>
              <a:ext uri="{FF2B5EF4-FFF2-40B4-BE49-F238E27FC236}">
                <a16:creationId xmlns:a16="http://schemas.microsoft.com/office/drawing/2014/main" id="{8219377B-6418-9FFC-91BA-38C5C454FBEF}"/>
              </a:ext>
            </a:extLst>
          </p:cNvPr>
          <p:cNvSpPr>
            <a:spLocks noEditPoints="1"/>
          </p:cNvSpPr>
          <p:nvPr/>
        </p:nvSpPr>
        <p:spPr bwMode="auto">
          <a:xfrm>
            <a:off x="3243263" y="2451100"/>
            <a:ext cx="552450" cy="301625"/>
          </a:xfrm>
          <a:custGeom>
            <a:avLst/>
            <a:gdLst>
              <a:gd name="T0" fmla="*/ 348 w 348"/>
              <a:gd name="T1" fmla="*/ 41 h 190"/>
              <a:gd name="T2" fmla="*/ 347 w 348"/>
              <a:gd name="T3" fmla="*/ 36 h 190"/>
              <a:gd name="T4" fmla="*/ 345 w 348"/>
              <a:gd name="T5" fmla="*/ 31 h 190"/>
              <a:gd name="T6" fmla="*/ 342 w 348"/>
              <a:gd name="T7" fmla="*/ 24 h 190"/>
              <a:gd name="T8" fmla="*/ 340 w 348"/>
              <a:gd name="T9" fmla="*/ 20 h 190"/>
              <a:gd name="T10" fmla="*/ 338 w 348"/>
              <a:gd name="T11" fmla="*/ 15 h 190"/>
              <a:gd name="T12" fmla="*/ 335 w 348"/>
              <a:gd name="T13" fmla="*/ 10 h 190"/>
              <a:gd name="T14" fmla="*/ 332 w 348"/>
              <a:gd name="T15" fmla="*/ 5 h 190"/>
              <a:gd name="T16" fmla="*/ 330 w 348"/>
              <a:gd name="T17" fmla="*/ 0 h 190"/>
              <a:gd name="T18" fmla="*/ 327 w 348"/>
              <a:gd name="T19" fmla="*/ 1 h 190"/>
              <a:gd name="T20" fmla="*/ 328 w 348"/>
              <a:gd name="T21" fmla="*/ 6 h 190"/>
              <a:gd name="T22" fmla="*/ 332 w 348"/>
              <a:gd name="T23" fmla="*/ 11 h 190"/>
              <a:gd name="T24" fmla="*/ 335 w 348"/>
              <a:gd name="T25" fmla="*/ 16 h 190"/>
              <a:gd name="T26" fmla="*/ 337 w 348"/>
              <a:gd name="T27" fmla="*/ 21 h 190"/>
              <a:gd name="T28" fmla="*/ 340 w 348"/>
              <a:gd name="T29" fmla="*/ 26 h 190"/>
              <a:gd name="T30" fmla="*/ 342 w 348"/>
              <a:gd name="T31" fmla="*/ 33 h 190"/>
              <a:gd name="T32" fmla="*/ 343 w 348"/>
              <a:gd name="T33" fmla="*/ 38 h 190"/>
              <a:gd name="T34" fmla="*/ 345 w 348"/>
              <a:gd name="T35" fmla="*/ 43 h 190"/>
              <a:gd name="T36" fmla="*/ 348 w 348"/>
              <a:gd name="T37" fmla="*/ 41 h 190"/>
              <a:gd name="T38" fmla="*/ 0 w 348"/>
              <a:gd name="T39" fmla="*/ 149 h 190"/>
              <a:gd name="T40" fmla="*/ 2 w 348"/>
              <a:gd name="T41" fmla="*/ 154 h 190"/>
              <a:gd name="T42" fmla="*/ 4 w 348"/>
              <a:gd name="T43" fmla="*/ 160 h 190"/>
              <a:gd name="T44" fmla="*/ 5 w 348"/>
              <a:gd name="T45" fmla="*/ 165 h 190"/>
              <a:gd name="T46" fmla="*/ 9 w 348"/>
              <a:gd name="T47" fmla="*/ 170 h 190"/>
              <a:gd name="T48" fmla="*/ 10 w 348"/>
              <a:gd name="T49" fmla="*/ 175 h 190"/>
              <a:gd name="T50" fmla="*/ 14 w 348"/>
              <a:gd name="T51" fmla="*/ 180 h 190"/>
              <a:gd name="T52" fmla="*/ 15 w 348"/>
              <a:gd name="T53" fmla="*/ 185 h 190"/>
              <a:gd name="T54" fmla="*/ 19 w 348"/>
              <a:gd name="T55" fmla="*/ 190 h 190"/>
              <a:gd name="T56" fmla="*/ 22 w 348"/>
              <a:gd name="T57" fmla="*/ 188 h 190"/>
              <a:gd name="T58" fmla="*/ 19 w 348"/>
              <a:gd name="T59" fmla="*/ 183 h 190"/>
              <a:gd name="T60" fmla="*/ 17 w 348"/>
              <a:gd name="T61" fmla="*/ 178 h 190"/>
              <a:gd name="T62" fmla="*/ 14 w 348"/>
              <a:gd name="T63" fmla="*/ 173 h 190"/>
              <a:gd name="T64" fmla="*/ 12 w 348"/>
              <a:gd name="T65" fmla="*/ 169 h 190"/>
              <a:gd name="T66" fmla="*/ 9 w 348"/>
              <a:gd name="T67" fmla="*/ 164 h 190"/>
              <a:gd name="T68" fmla="*/ 7 w 348"/>
              <a:gd name="T69" fmla="*/ 159 h 190"/>
              <a:gd name="T70" fmla="*/ 5 w 348"/>
              <a:gd name="T71" fmla="*/ 154 h 190"/>
              <a:gd name="T72" fmla="*/ 4 w 348"/>
              <a:gd name="T73" fmla="*/ 147 h 190"/>
              <a:gd name="T74" fmla="*/ 0 w 348"/>
              <a:gd name="T75"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48" h="190">
                <a:moveTo>
                  <a:pt x="348" y="41"/>
                </a:moveTo>
                <a:lnTo>
                  <a:pt x="347" y="36"/>
                </a:lnTo>
                <a:lnTo>
                  <a:pt x="345" y="31"/>
                </a:lnTo>
                <a:lnTo>
                  <a:pt x="342" y="24"/>
                </a:lnTo>
                <a:lnTo>
                  <a:pt x="340" y="20"/>
                </a:lnTo>
                <a:lnTo>
                  <a:pt x="338" y="15"/>
                </a:lnTo>
                <a:lnTo>
                  <a:pt x="335" y="10"/>
                </a:lnTo>
                <a:lnTo>
                  <a:pt x="332" y="5"/>
                </a:lnTo>
                <a:lnTo>
                  <a:pt x="330" y="0"/>
                </a:lnTo>
                <a:lnTo>
                  <a:pt x="327" y="1"/>
                </a:lnTo>
                <a:lnTo>
                  <a:pt x="328" y="6"/>
                </a:lnTo>
                <a:lnTo>
                  <a:pt x="332" y="11"/>
                </a:lnTo>
                <a:lnTo>
                  <a:pt x="335" y="16"/>
                </a:lnTo>
                <a:lnTo>
                  <a:pt x="337" y="21"/>
                </a:lnTo>
                <a:lnTo>
                  <a:pt x="340" y="26"/>
                </a:lnTo>
                <a:lnTo>
                  <a:pt x="342" y="33"/>
                </a:lnTo>
                <a:lnTo>
                  <a:pt x="343" y="38"/>
                </a:lnTo>
                <a:lnTo>
                  <a:pt x="345" y="43"/>
                </a:lnTo>
                <a:lnTo>
                  <a:pt x="348" y="41"/>
                </a:lnTo>
                <a:close/>
                <a:moveTo>
                  <a:pt x="0" y="149"/>
                </a:moveTo>
                <a:lnTo>
                  <a:pt x="2" y="154"/>
                </a:lnTo>
                <a:lnTo>
                  <a:pt x="4" y="160"/>
                </a:lnTo>
                <a:lnTo>
                  <a:pt x="5" y="165"/>
                </a:lnTo>
                <a:lnTo>
                  <a:pt x="9" y="170"/>
                </a:lnTo>
                <a:lnTo>
                  <a:pt x="10" y="175"/>
                </a:lnTo>
                <a:lnTo>
                  <a:pt x="14" y="180"/>
                </a:lnTo>
                <a:lnTo>
                  <a:pt x="15" y="185"/>
                </a:lnTo>
                <a:lnTo>
                  <a:pt x="19" y="190"/>
                </a:lnTo>
                <a:lnTo>
                  <a:pt x="22" y="188"/>
                </a:lnTo>
                <a:lnTo>
                  <a:pt x="19" y="183"/>
                </a:lnTo>
                <a:lnTo>
                  <a:pt x="17" y="178"/>
                </a:lnTo>
                <a:lnTo>
                  <a:pt x="14" y="173"/>
                </a:lnTo>
                <a:lnTo>
                  <a:pt x="12" y="169"/>
                </a:lnTo>
                <a:lnTo>
                  <a:pt x="9" y="164"/>
                </a:lnTo>
                <a:lnTo>
                  <a:pt x="7" y="159"/>
                </a:lnTo>
                <a:lnTo>
                  <a:pt x="5" y="154"/>
                </a:lnTo>
                <a:lnTo>
                  <a:pt x="4" y="147"/>
                </a:lnTo>
                <a:lnTo>
                  <a:pt x="0" y="149"/>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98" name="Freeform 1903">
            <a:extLst>
              <a:ext uri="{FF2B5EF4-FFF2-40B4-BE49-F238E27FC236}">
                <a16:creationId xmlns:a16="http://schemas.microsoft.com/office/drawing/2014/main" id="{6E55453D-E593-1B2F-CBE4-7E8F21A2D981}"/>
              </a:ext>
            </a:extLst>
          </p:cNvPr>
          <p:cNvSpPr>
            <a:spLocks noEditPoints="1"/>
          </p:cNvSpPr>
          <p:nvPr/>
        </p:nvSpPr>
        <p:spPr bwMode="auto">
          <a:xfrm>
            <a:off x="3246438" y="2451100"/>
            <a:ext cx="547688" cy="298450"/>
          </a:xfrm>
          <a:custGeom>
            <a:avLst/>
            <a:gdLst>
              <a:gd name="T0" fmla="*/ 345 w 345"/>
              <a:gd name="T1" fmla="*/ 43 h 188"/>
              <a:gd name="T2" fmla="*/ 343 w 345"/>
              <a:gd name="T3" fmla="*/ 36 h 188"/>
              <a:gd name="T4" fmla="*/ 341 w 345"/>
              <a:gd name="T5" fmla="*/ 31 h 188"/>
              <a:gd name="T6" fmla="*/ 340 w 345"/>
              <a:gd name="T7" fmla="*/ 26 h 188"/>
              <a:gd name="T8" fmla="*/ 336 w 345"/>
              <a:gd name="T9" fmla="*/ 21 h 188"/>
              <a:gd name="T10" fmla="*/ 335 w 345"/>
              <a:gd name="T11" fmla="*/ 15 h 188"/>
              <a:gd name="T12" fmla="*/ 331 w 345"/>
              <a:gd name="T13" fmla="*/ 10 h 188"/>
              <a:gd name="T14" fmla="*/ 328 w 345"/>
              <a:gd name="T15" fmla="*/ 5 h 188"/>
              <a:gd name="T16" fmla="*/ 326 w 345"/>
              <a:gd name="T17" fmla="*/ 0 h 188"/>
              <a:gd name="T18" fmla="*/ 323 w 345"/>
              <a:gd name="T19" fmla="*/ 1 h 188"/>
              <a:gd name="T20" fmla="*/ 326 w 345"/>
              <a:gd name="T21" fmla="*/ 6 h 188"/>
              <a:gd name="T22" fmla="*/ 328 w 345"/>
              <a:gd name="T23" fmla="*/ 11 h 188"/>
              <a:gd name="T24" fmla="*/ 331 w 345"/>
              <a:gd name="T25" fmla="*/ 16 h 188"/>
              <a:gd name="T26" fmla="*/ 333 w 345"/>
              <a:gd name="T27" fmla="*/ 21 h 188"/>
              <a:gd name="T28" fmla="*/ 336 w 345"/>
              <a:gd name="T29" fmla="*/ 28 h 188"/>
              <a:gd name="T30" fmla="*/ 338 w 345"/>
              <a:gd name="T31" fmla="*/ 33 h 188"/>
              <a:gd name="T32" fmla="*/ 340 w 345"/>
              <a:gd name="T33" fmla="*/ 38 h 188"/>
              <a:gd name="T34" fmla="*/ 341 w 345"/>
              <a:gd name="T35" fmla="*/ 44 h 188"/>
              <a:gd name="T36" fmla="*/ 345 w 345"/>
              <a:gd name="T37" fmla="*/ 43 h 188"/>
              <a:gd name="T38" fmla="*/ 0 w 345"/>
              <a:gd name="T39" fmla="*/ 149 h 188"/>
              <a:gd name="T40" fmla="*/ 2 w 345"/>
              <a:gd name="T41" fmla="*/ 154 h 188"/>
              <a:gd name="T42" fmla="*/ 3 w 345"/>
              <a:gd name="T43" fmla="*/ 159 h 188"/>
              <a:gd name="T44" fmla="*/ 5 w 345"/>
              <a:gd name="T45" fmla="*/ 164 h 188"/>
              <a:gd name="T46" fmla="*/ 8 w 345"/>
              <a:gd name="T47" fmla="*/ 169 h 188"/>
              <a:gd name="T48" fmla="*/ 10 w 345"/>
              <a:gd name="T49" fmla="*/ 173 h 188"/>
              <a:gd name="T50" fmla="*/ 13 w 345"/>
              <a:gd name="T51" fmla="*/ 178 h 188"/>
              <a:gd name="T52" fmla="*/ 15 w 345"/>
              <a:gd name="T53" fmla="*/ 183 h 188"/>
              <a:gd name="T54" fmla="*/ 18 w 345"/>
              <a:gd name="T55" fmla="*/ 188 h 188"/>
              <a:gd name="T56" fmla="*/ 22 w 345"/>
              <a:gd name="T57" fmla="*/ 187 h 188"/>
              <a:gd name="T58" fmla="*/ 18 w 345"/>
              <a:gd name="T59" fmla="*/ 183 h 188"/>
              <a:gd name="T60" fmla="*/ 15 w 345"/>
              <a:gd name="T61" fmla="*/ 178 h 188"/>
              <a:gd name="T62" fmla="*/ 13 w 345"/>
              <a:gd name="T63" fmla="*/ 173 h 188"/>
              <a:gd name="T64" fmla="*/ 10 w 345"/>
              <a:gd name="T65" fmla="*/ 169 h 188"/>
              <a:gd name="T66" fmla="*/ 8 w 345"/>
              <a:gd name="T67" fmla="*/ 164 h 188"/>
              <a:gd name="T68" fmla="*/ 7 w 345"/>
              <a:gd name="T69" fmla="*/ 157 h 188"/>
              <a:gd name="T70" fmla="*/ 5 w 345"/>
              <a:gd name="T71" fmla="*/ 152 h 188"/>
              <a:gd name="T72" fmla="*/ 3 w 345"/>
              <a:gd name="T73" fmla="*/ 147 h 188"/>
              <a:gd name="T74" fmla="*/ 0 w 345"/>
              <a:gd name="T75" fmla="*/ 149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45" h="188">
                <a:moveTo>
                  <a:pt x="345" y="43"/>
                </a:moveTo>
                <a:lnTo>
                  <a:pt x="343" y="36"/>
                </a:lnTo>
                <a:lnTo>
                  <a:pt x="341" y="31"/>
                </a:lnTo>
                <a:lnTo>
                  <a:pt x="340" y="26"/>
                </a:lnTo>
                <a:lnTo>
                  <a:pt x="336" y="21"/>
                </a:lnTo>
                <a:lnTo>
                  <a:pt x="335" y="15"/>
                </a:lnTo>
                <a:lnTo>
                  <a:pt x="331" y="10"/>
                </a:lnTo>
                <a:lnTo>
                  <a:pt x="328" y="5"/>
                </a:lnTo>
                <a:lnTo>
                  <a:pt x="326" y="0"/>
                </a:lnTo>
                <a:lnTo>
                  <a:pt x="323" y="1"/>
                </a:lnTo>
                <a:lnTo>
                  <a:pt x="326" y="6"/>
                </a:lnTo>
                <a:lnTo>
                  <a:pt x="328" y="11"/>
                </a:lnTo>
                <a:lnTo>
                  <a:pt x="331" y="16"/>
                </a:lnTo>
                <a:lnTo>
                  <a:pt x="333" y="21"/>
                </a:lnTo>
                <a:lnTo>
                  <a:pt x="336" y="28"/>
                </a:lnTo>
                <a:lnTo>
                  <a:pt x="338" y="33"/>
                </a:lnTo>
                <a:lnTo>
                  <a:pt x="340" y="38"/>
                </a:lnTo>
                <a:lnTo>
                  <a:pt x="341" y="44"/>
                </a:lnTo>
                <a:lnTo>
                  <a:pt x="345" y="43"/>
                </a:lnTo>
                <a:close/>
                <a:moveTo>
                  <a:pt x="0" y="149"/>
                </a:moveTo>
                <a:lnTo>
                  <a:pt x="2" y="154"/>
                </a:lnTo>
                <a:lnTo>
                  <a:pt x="3" y="159"/>
                </a:lnTo>
                <a:lnTo>
                  <a:pt x="5" y="164"/>
                </a:lnTo>
                <a:lnTo>
                  <a:pt x="8" y="169"/>
                </a:lnTo>
                <a:lnTo>
                  <a:pt x="10" y="173"/>
                </a:lnTo>
                <a:lnTo>
                  <a:pt x="13" y="178"/>
                </a:lnTo>
                <a:lnTo>
                  <a:pt x="15" y="183"/>
                </a:lnTo>
                <a:lnTo>
                  <a:pt x="18" y="188"/>
                </a:lnTo>
                <a:lnTo>
                  <a:pt x="22" y="187"/>
                </a:lnTo>
                <a:lnTo>
                  <a:pt x="18" y="183"/>
                </a:lnTo>
                <a:lnTo>
                  <a:pt x="15" y="178"/>
                </a:lnTo>
                <a:lnTo>
                  <a:pt x="13" y="173"/>
                </a:lnTo>
                <a:lnTo>
                  <a:pt x="10" y="169"/>
                </a:lnTo>
                <a:lnTo>
                  <a:pt x="8" y="164"/>
                </a:lnTo>
                <a:lnTo>
                  <a:pt x="7" y="157"/>
                </a:lnTo>
                <a:lnTo>
                  <a:pt x="5" y="152"/>
                </a:lnTo>
                <a:lnTo>
                  <a:pt x="3" y="147"/>
                </a:lnTo>
                <a:lnTo>
                  <a:pt x="0" y="149"/>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699" name="Freeform 1904">
            <a:extLst>
              <a:ext uri="{FF2B5EF4-FFF2-40B4-BE49-F238E27FC236}">
                <a16:creationId xmlns:a16="http://schemas.microsoft.com/office/drawing/2014/main" id="{6D5545B8-BF6B-4E9B-EF0A-CC7B6AD16D56}"/>
              </a:ext>
            </a:extLst>
          </p:cNvPr>
          <p:cNvSpPr>
            <a:spLocks noEditPoints="1"/>
          </p:cNvSpPr>
          <p:nvPr/>
        </p:nvSpPr>
        <p:spPr bwMode="auto">
          <a:xfrm>
            <a:off x="3249613" y="2452688"/>
            <a:ext cx="541338" cy="296863"/>
          </a:xfrm>
          <a:custGeom>
            <a:avLst/>
            <a:gdLst>
              <a:gd name="T0" fmla="*/ 341 w 341"/>
              <a:gd name="T1" fmla="*/ 42 h 187"/>
              <a:gd name="T2" fmla="*/ 339 w 341"/>
              <a:gd name="T3" fmla="*/ 37 h 187"/>
              <a:gd name="T4" fmla="*/ 338 w 341"/>
              <a:gd name="T5" fmla="*/ 32 h 187"/>
              <a:gd name="T6" fmla="*/ 336 w 341"/>
              <a:gd name="T7" fmla="*/ 25 h 187"/>
              <a:gd name="T8" fmla="*/ 333 w 341"/>
              <a:gd name="T9" fmla="*/ 20 h 187"/>
              <a:gd name="T10" fmla="*/ 331 w 341"/>
              <a:gd name="T11" fmla="*/ 15 h 187"/>
              <a:gd name="T12" fmla="*/ 328 w 341"/>
              <a:gd name="T13" fmla="*/ 10 h 187"/>
              <a:gd name="T14" fmla="*/ 324 w 341"/>
              <a:gd name="T15" fmla="*/ 5 h 187"/>
              <a:gd name="T16" fmla="*/ 323 w 341"/>
              <a:gd name="T17" fmla="*/ 0 h 187"/>
              <a:gd name="T18" fmla="*/ 319 w 341"/>
              <a:gd name="T19" fmla="*/ 0 h 187"/>
              <a:gd name="T20" fmla="*/ 323 w 341"/>
              <a:gd name="T21" fmla="*/ 5 h 187"/>
              <a:gd name="T22" fmla="*/ 324 w 341"/>
              <a:gd name="T23" fmla="*/ 12 h 187"/>
              <a:gd name="T24" fmla="*/ 328 w 341"/>
              <a:gd name="T25" fmla="*/ 17 h 187"/>
              <a:gd name="T26" fmla="*/ 329 w 341"/>
              <a:gd name="T27" fmla="*/ 22 h 187"/>
              <a:gd name="T28" fmla="*/ 333 w 341"/>
              <a:gd name="T29" fmla="*/ 27 h 187"/>
              <a:gd name="T30" fmla="*/ 334 w 341"/>
              <a:gd name="T31" fmla="*/ 32 h 187"/>
              <a:gd name="T32" fmla="*/ 336 w 341"/>
              <a:gd name="T33" fmla="*/ 38 h 187"/>
              <a:gd name="T34" fmla="*/ 338 w 341"/>
              <a:gd name="T35" fmla="*/ 43 h 187"/>
              <a:gd name="T36" fmla="*/ 341 w 341"/>
              <a:gd name="T37" fmla="*/ 42 h 187"/>
              <a:gd name="T38" fmla="*/ 0 w 341"/>
              <a:gd name="T39" fmla="*/ 146 h 187"/>
              <a:gd name="T40" fmla="*/ 1 w 341"/>
              <a:gd name="T41" fmla="*/ 153 h 187"/>
              <a:gd name="T42" fmla="*/ 3 w 341"/>
              <a:gd name="T43" fmla="*/ 158 h 187"/>
              <a:gd name="T44" fmla="*/ 5 w 341"/>
              <a:gd name="T45" fmla="*/ 163 h 187"/>
              <a:gd name="T46" fmla="*/ 8 w 341"/>
              <a:gd name="T47" fmla="*/ 168 h 187"/>
              <a:gd name="T48" fmla="*/ 10 w 341"/>
              <a:gd name="T49" fmla="*/ 172 h 187"/>
              <a:gd name="T50" fmla="*/ 13 w 341"/>
              <a:gd name="T51" fmla="*/ 177 h 187"/>
              <a:gd name="T52" fmla="*/ 15 w 341"/>
              <a:gd name="T53" fmla="*/ 182 h 187"/>
              <a:gd name="T54" fmla="*/ 18 w 341"/>
              <a:gd name="T55" fmla="*/ 187 h 187"/>
              <a:gd name="T56" fmla="*/ 21 w 341"/>
              <a:gd name="T57" fmla="*/ 186 h 187"/>
              <a:gd name="T58" fmla="*/ 18 w 341"/>
              <a:gd name="T59" fmla="*/ 181 h 187"/>
              <a:gd name="T60" fmla="*/ 15 w 341"/>
              <a:gd name="T61" fmla="*/ 176 h 187"/>
              <a:gd name="T62" fmla="*/ 13 w 341"/>
              <a:gd name="T63" fmla="*/ 171 h 187"/>
              <a:gd name="T64" fmla="*/ 10 w 341"/>
              <a:gd name="T65" fmla="*/ 166 h 187"/>
              <a:gd name="T66" fmla="*/ 8 w 341"/>
              <a:gd name="T67" fmla="*/ 161 h 187"/>
              <a:gd name="T68" fmla="*/ 6 w 341"/>
              <a:gd name="T69" fmla="*/ 156 h 187"/>
              <a:gd name="T70" fmla="*/ 5 w 341"/>
              <a:gd name="T71" fmla="*/ 151 h 187"/>
              <a:gd name="T72" fmla="*/ 3 w 341"/>
              <a:gd name="T73" fmla="*/ 146 h 187"/>
              <a:gd name="T74" fmla="*/ 0 w 341"/>
              <a:gd name="T75" fmla="*/ 146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41" h="187">
                <a:moveTo>
                  <a:pt x="341" y="42"/>
                </a:moveTo>
                <a:lnTo>
                  <a:pt x="339" y="37"/>
                </a:lnTo>
                <a:lnTo>
                  <a:pt x="338" y="32"/>
                </a:lnTo>
                <a:lnTo>
                  <a:pt x="336" y="25"/>
                </a:lnTo>
                <a:lnTo>
                  <a:pt x="333" y="20"/>
                </a:lnTo>
                <a:lnTo>
                  <a:pt x="331" y="15"/>
                </a:lnTo>
                <a:lnTo>
                  <a:pt x="328" y="10"/>
                </a:lnTo>
                <a:lnTo>
                  <a:pt x="324" y="5"/>
                </a:lnTo>
                <a:lnTo>
                  <a:pt x="323" y="0"/>
                </a:lnTo>
                <a:lnTo>
                  <a:pt x="319" y="0"/>
                </a:lnTo>
                <a:lnTo>
                  <a:pt x="323" y="5"/>
                </a:lnTo>
                <a:lnTo>
                  <a:pt x="324" y="12"/>
                </a:lnTo>
                <a:lnTo>
                  <a:pt x="328" y="17"/>
                </a:lnTo>
                <a:lnTo>
                  <a:pt x="329" y="22"/>
                </a:lnTo>
                <a:lnTo>
                  <a:pt x="333" y="27"/>
                </a:lnTo>
                <a:lnTo>
                  <a:pt x="334" y="32"/>
                </a:lnTo>
                <a:lnTo>
                  <a:pt x="336" y="38"/>
                </a:lnTo>
                <a:lnTo>
                  <a:pt x="338" y="43"/>
                </a:lnTo>
                <a:lnTo>
                  <a:pt x="341" y="42"/>
                </a:lnTo>
                <a:close/>
                <a:moveTo>
                  <a:pt x="0" y="146"/>
                </a:moveTo>
                <a:lnTo>
                  <a:pt x="1" y="153"/>
                </a:lnTo>
                <a:lnTo>
                  <a:pt x="3" y="158"/>
                </a:lnTo>
                <a:lnTo>
                  <a:pt x="5" y="163"/>
                </a:lnTo>
                <a:lnTo>
                  <a:pt x="8" y="168"/>
                </a:lnTo>
                <a:lnTo>
                  <a:pt x="10" y="172"/>
                </a:lnTo>
                <a:lnTo>
                  <a:pt x="13" y="177"/>
                </a:lnTo>
                <a:lnTo>
                  <a:pt x="15" y="182"/>
                </a:lnTo>
                <a:lnTo>
                  <a:pt x="18" y="187"/>
                </a:lnTo>
                <a:lnTo>
                  <a:pt x="21" y="186"/>
                </a:lnTo>
                <a:lnTo>
                  <a:pt x="18" y="181"/>
                </a:lnTo>
                <a:lnTo>
                  <a:pt x="15" y="176"/>
                </a:lnTo>
                <a:lnTo>
                  <a:pt x="13" y="171"/>
                </a:lnTo>
                <a:lnTo>
                  <a:pt x="10" y="166"/>
                </a:lnTo>
                <a:lnTo>
                  <a:pt x="8" y="161"/>
                </a:lnTo>
                <a:lnTo>
                  <a:pt x="6" y="156"/>
                </a:lnTo>
                <a:lnTo>
                  <a:pt x="5" y="151"/>
                </a:lnTo>
                <a:lnTo>
                  <a:pt x="3" y="146"/>
                </a:lnTo>
                <a:lnTo>
                  <a:pt x="0" y="146"/>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00" name="Freeform 1905">
            <a:extLst>
              <a:ext uri="{FF2B5EF4-FFF2-40B4-BE49-F238E27FC236}">
                <a16:creationId xmlns:a16="http://schemas.microsoft.com/office/drawing/2014/main" id="{36B7CDD9-6C47-289C-C29B-868A761819AE}"/>
              </a:ext>
            </a:extLst>
          </p:cNvPr>
          <p:cNvSpPr>
            <a:spLocks noEditPoints="1"/>
          </p:cNvSpPr>
          <p:nvPr/>
        </p:nvSpPr>
        <p:spPr bwMode="auto">
          <a:xfrm>
            <a:off x="3251200" y="2452688"/>
            <a:ext cx="536575" cy="295275"/>
          </a:xfrm>
          <a:custGeom>
            <a:avLst/>
            <a:gdLst>
              <a:gd name="T0" fmla="*/ 338 w 338"/>
              <a:gd name="T1" fmla="*/ 43 h 186"/>
              <a:gd name="T2" fmla="*/ 337 w 338"/>
              <a:gd name="T3" fmla="*/ 37 h 186"/>
              <a:gd name="T4" fmla="*/ 335 w 338"/>
              <a:gd name="T5" fmla="*/ 32 h 186"/>
              <a:gd name="T6" fmla="*/ 333 w 338"/>
              <a:gd name="T7" fmla="*/ 27 h 186"/>
              <a:gd name="T8" fmla="*/ 330 w 338"/>
              <a:gd name="T9" fmla="*/ 20 h 186"/>
              <a:gd name="T10" fmla="*/ 328 w 338"/>
              <a:gd name="T11" fmla="*/ 15 h 186"/>
              <a:gd name="T12" fmla="*/ 325 w 338"/>
              <a:gd name="T13" fmla="*/ 10 h 186"/>
              <a:gd name="T14" fmla="*/ 323 w 338"/>
              <a:gd name="T15" fmla="*/ 5 h 186"/>
              <a:gd name="T16" fmla="*/ 320 w 338"/>
              <a:gd name="T17" fmla="*/ 0 h 186"/>
              <a:gd name="T18" fmla="*/ 317 w 338"/>
              <a:gd name="T19" fmla="*/ 2 h 186"/>
              <a:gd name="T20" fmla="*/ 320 w 338"/>
              <a:gd name="T21" fmla="*/ 7 h 186"/>
              <a:gd name="T22" fmla="*/ 322 w 338"/>
              <a:gd name="T23" fmla="*/ 12 h 186"/>
              <a:gd name="T24" fmla="*/ 325 w 338"/>
              <a:gd name="T25" fmla="*/ 17 h 186"/>
              <a:gd name="T26" fmla="*/ 327 w 338"/>
              <a:gd name="T27" fmla="*/ 22 h 186"/>
              <a:gd name="T28" fmla="*/ 330 w 338"/>
              <a:gd name="T29" fmla="*/ 27 h 186"/>
              <a:gd name="T30" fmla="*/ 332 w 338"/>
              <a:gd name="T31" fmla="*/ 33 h 186"/>
              <a:gd name="T32" fmla="*/ 333 w 338"/>
              <a:gd name="T33" fmla="*/ 38 h 186"/>
              <a:gd name="T34" fmla="*/ 335 w 338"/>
              <a:gd name="T35" fmla="*/ 43 h 186"/>
              <a:gd name="T36" fmla="*/ 338 w 338"/>
              <a:gd name="T37" fmla="*/ 43 h 186"/>
              <a:gd name="T38" fmla="*/ 0 w 338"/>
              <a:gd name="T39" fmla="*/ 146 h 186"/>
              <a:gd name="T40" fmla="*/ 2 w 338"/>
              <a:gd name="T41" fmla="*/ 151 h 186"/>
              <a:gd name="T42" fmla="*/ 4 w 338"/>
              <a:gd name="T43" fmla="*/ 156 h 186"/>
              <a:gd name="T44" fmla="*/ 5 w 338"/>
              <a:gd name="T45" fmla="*/ 163 h 186"/>
              <a:gd name="T46" fmla="*/ 7 w 338"/>
              <a:gd name="T47" fmla="*/ 168 h 186"/>
              <a:gd name="T48" fmla="*/ 10 w 338"/>
              <a:gd name="T49" fmla="*/ 172 h 186"/>
              <a:gd name="T50" fmla="*/ 12 w 338"/>
              <a:gd name="T51" fmla="*/ 177 h 186"/>
              <a:gd name="T52" fmla="*/ 15 w 338"/>
              <a:gd name="T53" fmla="*/ 182 h 186"/>
              <a:gd name="T54" fmla="*/ 19 w 338"/>
              <a:gd name="T55" fmla="*/ 186 h 186"/>
              <a:gd name="T56" fmla="*/ 22 w 338"/>
              <a:gd name="T57" fmla="*/ 186 h 186"/>
              <a:gd name="T58" fmla="*/ 19 w 338"/>
              <a:gd name="T59" fmla="*/ 181 h 186"/>
              <a:gd name="T60" fmla="*/ 15 w 338"/>
              <a:gd name="T61" fmla="*/ 176 h 186"/>
              <a:gd name="T62" fmla="*/ 14 w 338"/>
              <a:gd name="T63" fmla="*/ 171 h 186"/>
              <a:gd name="T64" fmla="*/ 10 w 338"/>
              <a:gd name="T65" fmla="*/ 166 h 186"/>
              <a:gd name="T66" fmla="*/ 9 w 338"/>
              <a:gd name="T67" fmla="*/ 161 h 186"/>
              <a:gd name="T68" fmla="*/ 7 w 338"/>
              <a:gd name="T69" fmla="*/ 156 h 186"/>
              <a:gd name="T70" fmla="*/ 4 w 338"/>
              <a:gd name="T71" fmla="*/ 149 h 186"/>
              <a:gd name="T72" fmla="*/ 2 w 338"/>
              <a:gd name="T73" fmla="*/ 144 h 186"/>
              <a:gd name="T74" fmla="*/ 0 w 338"/>
              <a:gd name="T75" fmla="*/ 146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38" h="186">
                <a:moveTo>
                  <a:pt x="338" y="43"/>
                </a:moveTo>
                <a:lnTo>
                  <a:pt x="337" y="37"/>
                </a:lnTo>
                <a:lnTo>
                  <a:pt x="335" y="32"/>
                </a:lnTo>
                <a:lnTo>
                  <a:pt x="333" y="27"/>
                </a:lnTo>
                <a:lnTo>
                  <a:pt x="330" y="20"/>
                </a:lnTo>
                <a:lnTo>
                  <a:pt x="328" y="15"/>
                </a:lnTo>
                <a:lnTo>
                  <a:pt x="325" y="10"/>
                </a:lnTo>
                <a:lnTo>
                  <a:pt x="323" y="5"/>
                </a:lnTo>
                <a:lnTo>
                  <a:pt x="320" y="0"/>
                </a:lnTo>
                <a:lnTo>
                  <a:pt x="317" y="2"/>
                </a:lnTo>
                <a:lnTo>
                  <a:pt x="320" y="7"/>
                </a:lnTo>
                <a:lnTo>
                  <a:pt x="322" y="12"/>
                </a:lnTo>
                <a:lnTo>
                  <a:pt x="325" y="17"/>
                </a:lnTo>
                <a:lnTo>
                  <a:pt x="327" y="22"/>
                </a:lnTo>
                <a:lnTo>
                  <a:pt x="330" y="27"/>
                </a:lnTo>
                <a:lnTo>
                  <a:pt x="332" y="33"/>
                </a:lnTo>
                <a:lnTo>
                  <a:pt x="333" y="38"/>
                </a:lnTo>
                <a:lnTo>
                  <a:pt x="335" y="43"/>
                </a:lnTo>
                <a:lnTo>
                  <a:pt x="338" y="43"/>
                </a:lnTo>
                <a:close/>
                <a:moveTo>
                  <a:pt x="0" y="146"/>
                </a:moveTo>
                <a:lnTo>
                  <a:pt x="2" y="151"/>
                </a:lnTo>
                <a:lnTo>
                  <a:pt x="4" y="156"/>
                </a:lnTo>
                <a:lnTo>
                  <a:pt x="5" y="163"/>
                </a:lnTo>
                <a:lnTo>
                  <a:pt x="7" y="168"/>
                </a:lnTo>
                <a:lnTo>
                  <a:pt x="10" y="172"/>
                </a:lnTo>
                <a:lnTo>
                  <a:pt x="12" y="177"/>
                </a:lnTo>
                <a:lnTo>
                  <a:pt x="15" y="182"/>
                </a:lnTo>
                <a:lnTo>
                  <a:pt x="19" y="186"/>
                </a:lnTo>
                <a:lnTo>
                  <a:pt x="22" y="186"/>
                </a:lnTo>
                <a:lnTo>
                  <a:pt x="19" y="181"/>
                </a:lnTo>
                <a:lnTo>
                  <a:pt x="15" y="176"/>
                </a:lnTo>
                <a:lnTo>
                  <a:pt x="14" y="171"/>
                </a:lnTo>
                <a:lnTo>
                  <a:pt x="10" y="166"/>
                </a:lnTo>
                <a:lnTo>
                  <a:pt x="9" y="161"/>
                </a:lnTo>
                <a:lnTo>
                  <a:pt x="7" y="156"/>
                </a:lnTo>
                <a:lnTo>
                  <a:pt x="4" y="149"/>
                </a:lnTo>
                <a:lnTo>
                  <a:pt x="2" y="144"/>
                </a:lnTo>
                <a:lnTo>
                  <a:pt x="0" y="146"/>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01" name="Freeform 1906">
            <a:extLst>
              <a:ext uri="{FF2B5EF4-FFF2-40B4-BE49-F238E27FC236}">
                <a16:creationId xmlns:a16="http://schemas.microsoft.com/office/drawing/2014/main" id="{F18B70A7-1C09-7C6E-23D8-7A23E197875D}"/>
              </a:ext>
            </a:extLst>
          </p:cNvPr>
          <p:cNvSpPr>
            <a:spLocks noEditPoints="1"/>
          </p:cNvSpPr>
          <p:nvPr/>
        </p:nvSpPr>
        <p:spPr bwMode="auto">
          <a:xfrm>
            <a:off x="3254375" y="2452688"/>
            <a:ext cx="531813" cy="295275"/>
          </a:xfrm>
          <a:custGeom>
            <a:avLst/>
            <a:gdLst>
              <a:gd name="T0" fmla="*/ 335 w 335"/>
              <a:gd name="T1" fmla="*/ 43 h 186"/>
              <a:gd name="T2" fmla="*/ 333 w 335"/>
              <a:gd name="T3" fmla="*/ 38 h 186"/>
              <a:gd name="T4" fmla="*/ 331 w 335"/>
              <a:gd name="T5" fmla="*/ 32 h 186"/>
              <a:gd name="T6" fmla="*/ 330 w 335"/>
              <a:gd name="T7" fmla="*/ 27 h 186"/>
              <a:gd name="T8" fmla="*/ 326 w 335"/>
              <a:gd name="T9" fmla="*/ 22 h 186"/>
              <a:gd name="T10" fmla="*/ 325 w 335"/>
              <a:gd name="T11" fmla="*/ 17 h 186"/>
              <a:gd name="T12" fmla="*/ 321 w 335"/>
              <a:gd name="T13" fmla="*/ 12 h 186"/>
              <a:gd name="T14" fmla="*/ 320 w 335"/>
              <a:gd name="T15" fmla="*/ 5 h 186"/>
              <a:gd name="T16" fmla="*/ 316 w 335"/>
              <a:gd name="T17" fmla="*/ 0 h 186"/>
              <a:gd name="T18" fmla="*/ 313 w 335"/>
              <a:gd name="T19" fmla="*/ 2 h 186"/>
              <a:gd name="T20" fmla="*/ 316 w 335"/>
              <a:gd name="T21" fmla="*/ 7 h 186"/>
              <a:gd name="T22" fmla="*/ 318 w 335"/>
              <a:gd name="T23" fmla="*/ 12 h 186"/>
              <a:gd name="T24" fmla="*/ 321 w 335"/>
              <a:gd name="T25" fmla="*/ 17 h 186"/>
              <a:gd name="T26" fmla="*/ 325 w 335"/>
              <a:gd name="T27" fmla="*/ 23 h 186"/>
              <a:gd name="T28" fmla="*/ 326 w 335"/>
              <a:gd name="T29" fmla="*/ 28 h 186"/>
              <a:gd name="T30" fmla="*/ 328 w 335"/>
              <a:gd name="T31" fmla="*/ 33 h 186"/>
              <a:gd name="T32" fmla="*/ 330 w 335"/>
              <a:gd name="T33" fmla="*/ 38 h 186"/>
              <a:gd name="T34" fmla="*/ 331 w 335"/>
              <a:gd name="T35" fmla="*/ 45 h 186"/>
              <a:gd name="T36" fmla="*/ 335 w 335"/>
              <a:gd name="T37" fmla="*/ 43 h 186"/>
              <a:gd name="T38" fmla="*/ 0 w 335"/>
              <a:gd name="T39" fmla="*/ 146 h 186"/>
              <a:gd name="T40" fmla="*/ 2 w 335"/>
              <a:gd name="T41" fmla="*/ 151 h 186"/>
              <a:gd name="T42" fmla="*/ 3 w 335"/>
              <a:gd name="T43" fmla="*/ 156 h 186"/>
              <a:gd name="T44" fmla="*/ 5 w 335"/>
              <a:gd name="T45" fmla="*/ 161 h 186"/>
              <a:gd name="T46" fmla="*/ 7 w 335"/>
              <a:gd name="T47" fmla="*/ 166 h 186"/>
              <a:gd name="T48" fmla="*/ 10 w 335"/>
              <a:gd name="T49" fmla="*/ 171 h 186"/>
              <a:gd name="T50" fmla="*/ 12 w 335"/>
              <a:gd name="T51" fmla="*/ 176 h 186"/>
              <a:gd name="T52" fmla="*/ 15 w 335"/>
              <a:gd name="T53" fmla="*/ 181 h 186"/>
              <a:gd name="T54" fmla="*/ 18 w 335"/>
              <a:gd name="T55" fmla="*/ 186 h 186"/>
              <a:gd name="T56" fmla="*/ 22 w 335"/>
              <a:gd name="T57" fmla="*/ 184 h 186"/>
              <a:gd name="T58" fmla="*/ 18 w 335"/>
              <a:gd name="T59" fmla="*/ 179 h 186"/>
              <a:gd name="T60" fmla="*/ 15 w 335"/>
              <a:gd name="T61" fmla="*/ 174 h 186"/>
              <a:gd name="T62" fmla="*/ 13 w 335"/>
              <a:gd name="T63" fmla="*/ 169 h 186"/>
              <a:gd name="T64" fmla="*/ 10 w 335"/>
              <a:gd name="T65" fmla="*/ 164 h 186"/>
              <a:gd name="T66" fmla="*/ 8 w 335"/>
              <a:gd name="T67" fmla="*/ 159 h 186"/>
              <a:gd name="T68" fmla="*/ 7 w 335"/>
              <a:gd name="T69" fmla="*/ 154 h 186"/>
              <a:gd name="T70" fmla="*/ 3 w 335"/>
              <a:gd name="T71" fmla="*/ 149 h 186"/>
              <a:gd name="T72" fmla="*/ 2 w 335"/>
              <a:gd name="T73" fmla="*/ 144 h 186"/>
              <a:gd name="T74" fmla="*/ 0 w 335"/>
              <a:gd name="T75" fmla="*/ 146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35" h="186">
                <a:moveTo>
                  <a:pt x="335" y="43"/>
                </a:moveTo>
                <a:lnTo>
                  <a:pt x="333" y="38"/>
                </a:lnTo>
                <a:lnTo>
                  <a:pt x="331" y="32"/>
                </a:lnTo>
                <a:lnTo>
                  <a:pt x="330" y="27"/>
                </a:lnTo>
                <a:lnTo>
                  <a:pt x="326" y="22"/>
                </a:lnTo>
                <a:lnTo>
                  <a:pt x="325" y="17"/>
                </a:lnTo>
                <a:lnTo>
                  <a:pt x="321" y="12"/>
                </a:lnTo>
                <a:lnTo>
                  <a:pt x="320" y="5"/>
                </a:lnTo>
                <a:lnTo>
                  <a:pt x="316" y="0"/>
                </a:lnTo>
                <a:lnTo>
                  <a:pt x="313" y="2"/>
                </a:lnTo>
                <a:lnTo>
                  <a:pt x="316" y="7"/>
                </a:lnTo>
                <a:lnTo>
                  <a:pt x="318" y="12"/>
                </a:lnTo>
                <a:lnTo>
                  <a:pt x="321" y="17"/>
                </a:lnTo>
                <a:lnTo>
                  <a:pt x="325" y="23"/>
                </a:lnTo>
                <a:lnTo>
                  <a:pt x="326" y="28"/>
                </a:lnTo>
                <a:lnTo>
                  <a:pt x="328" y="33"/>
                </a:lnTo>
                <a:lnTo>
                  <a:pt x="330" y="38"/>
                </a:lnTo>
                <a:lnTo>
                  <a:pt x="331" y="45"/>
                </a:lnTo>
                <a:lnTo>
                  <a:pt x="335" y="43"/>
                </a:lnTo>
                <a:close/>
                <a:moveTo>
                  <a:pt x="0" y="146"/>
                </a:moveTo>
                <a:lnTo>
                  <a:pt x="2" y="151"/>
                </a:lnTo>
                <a:lnTo>
                  <a:pt x="3" y="156"/>
                </a:lnTo>
                <a:lnTo>
                  <a:pt x="5" y="161"/>
                </a:lnTo>
                <a:lnTo>
                  <a:pt x="7" y="166"/>
                </a:lnTo>
                <a:lnTo>
                  <a:pt x="10" y="171"/>
                </a:lnTo>
                <a:lnTo>
                  <a:pt x="12" y="176"/>
                </a:lnTo>
                <a:lnTo>
                  <a:pt x="15" y="181"/>
                </a:lnTo>
                <a:lnTo>
                  <a:pt x="18" y="186"/>
                </a:lnTo>
                <a:lnTo>
                  <a:pt x="22" y="184"/>
                </a:lnTo>
                <a:lnTo>
                  <a:pt x="18" y="179"/>
                </a:lnTo>
                <a:lnTo>
                  <a:pt x="15" y="174"/>
                </a:lnTo>
                <a:lnTo>
                  <a:pt x="13" y="169"/>
                </a:lnTo>
                <a:lnTo>
                  <a:pt x="10" y="164"/>
                </a:lnTo>
                <a:lnTo>
                  <a:pt x="8" y="159"/>
                </a:lnTo>
                <a:lnTo>
                  <a:pt x="7" y="154"/>
                </a:lnTo>
                <a:lnTo>
                  <a:pt x="3" y="149"/>
                </a:lnTo>
                <a:lnTo>
                  <a:pt x="2" y="144"/>
                </a:lnTo>
                <a:lnTo>
                  <a:pt x="0" y="146"/>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02" name="Freeform 1907">
            <a:extLst>
              <a:ext uri="{FF2B5EF4-FFF2-40B4-BE49-F238E27FC236}">
                <a16:creationId xmlns:a16="http://schemas.microsoft.com/office/drawing/2014/main" id="{92020613-4F15-66AE-6045-1041B64D8C1A}"/>
              </a:ext>
            </a:extLst>
          </p:cNvPr>
          <p:cNvSpPr>
            <a:spLocks noEditPoints="1"/>
          </p:cNvSpPr>
          <p:nvPr/>
        </p:nvSpPr>
        <p:spPr bwMode="auto">
          <a:xfrm>
            <a:off x="3254375" y="2455863"/>
            <a:ext cx="528638" cy="292100"/>
          </a:xfrm>
          <a:custGeom>
            <a:avLst/>
            <a:gdLst>
              <a:gd name="T0" fmla="*/ 333 w 333"/>
              <a:gd name="T1" fmla="*/ 41 h 184"/>
              <a:gd name="T2" fmla="*/ 331 w 333"/>
              <a:gd name="T3" fmla="*/ 36 h 184"/>
              <a:gd name="T4" fmla="*/ 330 w 333"/>
              <a:gd name="T5" fmla="*/ 31 h 184"/>
              <a:gd name="T6" fmla="*/ 328 w 333"/>
              <a:gd name="T7" fmla="*/ 25 h 184"/>
              <a:gd name="T8" fmla="*/ 325 w 333"/>
              <a:gd name="T9" fmla="*/ 20 h 184"/>
              <a:gd name="T10" fmla="*/ 323 w 333"/>
              <a:gd name="T11" fmla="*/ 15 h 184"/>
              <a:gd name="T12" fmla="*/ 320 w 333"/>
              <a:gd name="T13" fmla="*/ 10 h 184"/>
              <a:gd name="T14" fmla="*/ 318 w 333"/>
              <a:gd name="T15" fmla="*/ 5 h 184"/>
              <a:gd name="T16" fmla="*/ 315 w 333"/>
              <a:gd name="T17" fmla="*/ 0 h 184"/>
              <a:gd name="T18" fmla="*/ 311 w 333"/>
              <a:gd name="T19" fmla="*/ 2 h 184"/>
              <a:gd name="T20" fmla="*/ 315 w 333"/>
              <a:gd name="T21" fmla="*/ 7 h 184"/>
              <a:gd name="T22" fmla="*/ 318 w 333"/>
              <a:gd name="T23" fmla="*/ 12 h 184"/>
              <a:gd name="T24" fmla="*/ 320 w 333"/>
              <a:gd name="T25" fmla="*/ 17 h 184"/>
              <a:gd name="T26" fmla="*/ 323 w 333"/>
              <a:gd name="T27" fmla="*/ 21 h 184"/>
              <a:gd name="T28" fmla="*/ 325 w 333"/>
              <a:gd name="T29" fmla="*/ 26 h 184"/>
              <a:gd name="T30" fmla="*/ 326 w 333"/>
              <a:gd name="T31" fmla="*/ 33 h 184"/>
              <a:gd name="T32" fmla="*/ 328 w 333"/>
              <a:gd name="T33" fmla="*/ 38 h 184"/>
              <a:gd name="T34" fmla="*/ 331 w 333"/>
              <a:gd name="T35" fmla="*/ 43 h 184"/>
              <a:gd name="T36" fmla="*/ 333 w 333"/>
              <a:gd name="T37" fmla="*/ 41 h 184"/>
              <a:gd name="T38" fmla="*/ 0 w 333"/>
              <a:gd name="T39" fmla="*/ 142 h 184"/>
              <a:gd name="T40" fmla="*/ 2 w 333"/>
              <a:gd name="T41" fmla="*/ 147 h 184"/>
              <a:gd name="T42" fmla="*/ 5 w 333"/>
              <a:gd name="T43" fmla="*/ 154 h 184"/>
              <a:gd name="T44" fmla="*/ 7 w 333"/>
              <a:gd name="T45" fmla="*/ 159 h 184"/>
              <a:gd name="T46" fmla="*/ 8 w 333"/>
              <a:gd name="T47" fmla="*/ 164 h 184"/>
              <a:gd name="T48" fmla="*/ 12 w 333"/>
              <a:gd name="T49" fmla="*/ 169 h 184"/>
              <a:gd name="T50" fmla="*/ 13 w 333"/>
              <a:gd name="T51" fmla="*/ 174 h 184"/>
              <a:gd name="T52" fmla="*/ 17 w 333"/>
              <a:gd name="T53" fmla="*/ 179 h 184"/>
              <a:gd name="T54" fmla="*/ 20 w 333"/>
              <a:gd name="T55" fmla="*/ 184 h 184"/>
              <a:gd name="T56" fmla="*/ 22 w 333"/>
              <a:gd name="T57" fmla="*/ 182 h 184"/>
              <a:gd name="T58" fmla="*/ 20 w 333"/>
              <a:gd name="T59" fmla="*/ 177 h 184"/>
              <a:gd name="T60" fmla="*/ 17 w 333"/>
              <a:gd name="T61" fmla="*/ 172 h 184"/>
              <a:gd name="T62" fmla="*/ 15 w 333"/>
              <a:gd name="T63" fmla="*/ 167 h 184"/>
              <a:gd name="T64" fmla="*/ 12 w 333"/>
              <a:gd name="T65" fmla="*/ 162 h 184"/>
              <a:gd name="T66" fmla="*/ 10 w 333"/>
              <a:gd name="T67" fmla="*/ 157 h 184"/>
              <a:gd name="T68" fmla="*/ 7 w 333"/>
              <a:gd name="T69" fmla="*/ 152 h 184"/>
              <a:gd name="T70" fmla="*/ 5 w 333"/>
              <a:gd name="T71" fmla="*/ 147 h 184"/>
              <a:gd name="T72" fmla="*/ 3 w 333"/>
              <a:gd name="T73" fmla="*/ 141 h 184"/>
              <a:gd name="T74" fmla="*/ 0 w 333"/>
              <a:gd name="T75" fmla="*/ 142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33" h="184">
                <a:moveTo>
                  <a:pt x="333" y="41"/>
                </a:moveTo>
                <a:lnTo>
                  <a:pt x="331" y="36"/>
                </a:lnTo>
                <a:lnTo>
                  <a:pt x="330" y="31"/>
                </a:lnTo>
                <a:lnTo>
                  <a:pt x="328" y="25"/>
                </a:lnTo>
                <a:lnTo>
                  <a:pt x="325" y="20"/>
                </a:lnTo>
                <a:lnTo>
                  <a:pt x="323" y="15"/>
                </a:lnTo>
                <a:lnTo>
                  <a:pt x="320" y="10"/>
                </a:lnTo>
                <a:lnTo>
                  <a:pt x="318" y="5"/>
                </a:lnTo>
                <a:lnTo>
                  <a:pt x="315" y="0"/>
                </a:lnTo>
                <a:lnTo>
                  <a:pt x="311" y="2"/>
                </a:lnTo>
                <a:lnTo>
                  <a:pt x="315" y="7"/>
                </a:lnTo>
                <a:lnTo>
                  <a:pt x="318" y="12"/>
                </a:lnTo>
                <a:lnTo>
                  <a:pt x="320" y="17"/>
                </a:lnTo>
                <a:lnTo>
                  <a:pt x="323" y="21"/>
                </a:lnTo>
                <a:lnTo>
                  <a:pt x="325" y="26"/>
                </a:lnTo>
                <a:lnTo>
                  <a:pt x="326" y="33"/>
                </a:lnTo>
                <a:lnTo>
                  <a:pt x="328" y="38"/>
                </a:lnTo>
                <a:lnTo>
                  <a:pt x="331" y="43"/>
                </a:lnTo>
                <a:lnTo>
                  <a:pt x="333" y="41"/>
                </a:lnTo>
                <a:close/>
                <a:moveTo>
                  <a:pt x="0" y="142"/>
                </a:moveTo>
                <a:lnTo>
                  <a:pt x="2" y="147"/>
                </a:lnTo>
                <a:lnTo>
                  <a:pt x="5" y="154"/>
                </a:lnTo>
                <a:lnTo>
                  <a:pt x="7" y="159"/>
                </a:lnTo>
                <a:lnTo>
                  <a:pt x="8" y="164"/>
                </a:lnTo>
                <a:lnTo>
                  <a:pt x="12" y="169"/>
                </a:lnTo>
                <a:lnTo>
                  <a:pt x="13" y="174"/>
                </a:lnTo>
                <a:lnTo>
                  <a:pt x="17" y="179"/>
                </a:lnTo>
                <a:lnTo>
                  <a:pt x="20" y="184"/>
                </a:lnTo>
                <a:lnTo>
                  <a:pt x="22" y="182"/>
                </a:lnTo>
                <a:lnTo>
                  <a:pt x="20" y="177"/>
                </a:lnTo>
                <a:lnTo>
                  <a:pt x="17" y="172"/>
                </a:lnTo>
                <a:lnTo>
                  <a:pt x="15" y="167"/>
                </a:lnTo>
                <a:lnTo>
                  <a:pt x="12" y="162"/>
                </a:lnTo>
                <a:lnTo>
                  <a:pt x="10" y="157"/>
                </a:lnTo>
                <a:lnTo>
                  <a:pt x="7" y="152"/>
                </a:lnTo>
                <a:lnTo>
                  <a:pt x="5" y="147"/>
                </a:lnTo>
                <a:lnTo>
                  <a:pt x="3" y="141"/>
                </a:lnTo>
                <a:lnTo>
                  <a:pt x="0" y="142"/>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03" name="Freeform 1908">
            <a:extLst>
              <a:ext uri="{FF2B5EF4-FFF2-40B4-BE49-F238E27FC236}">
                <a16:creationId xmlns:a16="http://schemas.microsoft.com/office/drawing/2014/main" id="{43236D6C-6A73-A45D-CE30-B47205FF6297}"/>
              </a:ext>
            </a:extLst>
          </p:cNvPr>
          <p:cNvSpPr>
            <a:spLocks noEditPoints="1"/>
          </p:cNvSpPr>
          <p:nvPr/>
        </p:nvSpPr>
        <p:spPr bwMode="auto">
          <a:xfrm>
            <a:off x="3257550" y="2455863"/>
            <a:ext cx="522288" cy="288925"/>
          </a:xfrm>
          <a:custGeom>
            <a:avLst/>
            <a:gdLst>
              <a:gd name="T0" fmla="*/ 329 w 329"/>
              <a:gd name="T1" fmla="*/ 43 h 182"/>
              <a:gd name="T2" fmla="*/ 328 w 329"/>
              <a:gd name="T3" fmla="*/ 36 h 182"/>
              <a:gd name="T4" fmla="*/ 326 w 329"/>
              <a:gd name="T5" fmla="*/ 31 h 182"/>
              <a:gd name="T6" fmla="*/ 324 w 329"/>
              <a:gd name="T7" fmla="*/ 26 h 182"/>
              <a:gd name="T8" fmla="*/ 323 w 329"/>
              <a:gd name="T9" fmla="*/ 21 h 182"/>
              <a:gd name="T10" fmla="*/ 319 w 329"/>
              <a:gd name="T11" fmla="*/ 15 h 182"/>
              <a:gd name="T12" fmla="*/ 316 w 329"/>
              <a:gd name="T13" fmla="*/ 10 h 182"/>
              <a:gd name="T14" fmla="*/ 314 w 329"/>
              <a:gd name="T15" fmla="*/ 5 h 182"/>
              <a:gd name="T16" fmla="*/ 311 w 329"/>
              <a:gd name="T17" fmla="*/ 0 h 182"/>
              <a:gd name="T18" fmla="*/ 308 w 329"/>
              <a:gd name="T19" fmla="*/ 2 h 182"/>
              <a:gd name="T20" fmla="*/ 311 w 329"/>
              <a:gd name="T21" fmla="*/ 7 h 182"/>
              <a:gd name="T22" fmla="*/ 314 w 329"/>
              <a:gd name="T23" fmla="*/ 12 h 182"/>
              <a:gd name="T24" fmla="*/ 316 w 329"/>
              <a:gd name="T25" fmla="*/ 17 h 182"/>
              <a:gd name="T26" fmla="*/ 319 w 329"/>
              <a:gd name="T27" fmla="*/ 21 h 182"/>
              <a:gd name="T28" fmla="*/ 321 w 329"/>
              <a:gd name="T29" fmla="*/ 28 h 182"/>
              <a:gd name="T30" fmla="*/ 323 w 329"/>
              <a:gd name="T31" fmla="*/ 33 h 182"/>
              <a:gd name="T32" fmla="*/ 326 w 329"/>
              <a:gd name="T33" fmla="*/ 38 h 182"/>
              <a:gd name="T34" fmla="*/ 328 w 329"/>
              <a:gd name="T35" fmla="*/ 45 h 182"/>
              <a:gd name="T36" fmla="*/ 329 w 329"/>
              <a:gd name="T37" fmla="*/ 43 h 182"/>
              <a:gd name="T38" fmla="*/ 0 w 329"/>
              <a:gd name="T39" fmla="*/ 142 h 182"/>
              <a:gd name="T40" fmla="*/ 1 w 329"/>
              <a:gd name="T41" fmla="*/ 147 h 182"/>
              <a:gd name="T42" fmla="*/ 5 w 329"/>
              <a:gd name="T43" fmla="*/ 152 h 182"/>
              <a:gd name="T44" fmla="*/ 6 w 329"/>
              <a:gd name="T45" fmla="*/ 157 h 182"/>
              <a:gd name="T46" fmla="*/ 8 w 329"/>
              <a:gd name="T47" fmla="*/ 162 h 182"/>
              <a:gd name="T48" fmla="*/ 11 w 329"/>
              <a:gd name="T49" fmla="*/ 167 h 182"/>
              <a:gd name="T50" fmla="*/ 13 w 329"/>
              <a:gd name="T51" fmla="*/ 172 h 182"/>
              <a:gd name="T52" fmla="*/ 16 w 329"/>
              <a:gd name="T53" fmla="*/ 177 h 182"/>
              <a:gd name="T54" fmla="*/ 20 w 329"/>
              <a:gd name="T55" fmla="*/ 182 h 182"/>
              <a:gd name="T56" fmla="*/ 21 w 329"/>
              <a:gd name="T57" fmla="*/ 180 h 182"/>
              <a:gd name="T58" fmla="*/ 20 w 329"/>
              <a:gd name="T59" fmla="*/ 177 h 182"/>
              <a:gd name="T60" fmla="*/ 16 w 329"/>
              <a:gd name="T61" fmla="*/ 172 h 182"/>
              <a:gd name="T62" fmla="*/ 13 w 329"/>
              <a:gd name="T63" fmla="*/ 167 h 182"/>
              <a:gd name="T64" fmla="*/ 11 w 329"/>
              <a:gd name="T65" fmla="*/ 162 h 182"/>
              <a:gd name="T66" fmla="*/ 10 w 329"/>
              <a:gd name="T67" fmla="*/ 156 h 182"/>
              <a:gd name="T68" fmla="*/ 6 w 329"/>
              <a:gd name="T69" fmla="*/ 151 h 182"/>
              <a:gd name="T70" fmla="*/ 5 w 329"/>
              <a:gd name="T71" fmla="*/ 146 h 182"/>
              <a:gd name="T72" fmla="*/ 3 w 329"/>
              <a:gd name="T73" fmla="*/ 141 h 182"/>
              <a:gd name="T74" fmla="*/ 0 w 329"/>
              <a:gd name="T75" fmla="*/ 142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9" h="182">
                <a:moveTo>
                  <a:pt x="329" y="43"/>
                </a:moveTo>
                <a:lnTo>
                  <a:pt x="328" y="36"/>
                </a:lnTo>
                <a:lnTo>
                  <a:pt x="326" y="31"/>
                </a:lnTo>
                <a:lnTo>
                  <a:pt x="324" y="26"/>
                </a:lnTo>
                <a:lnTo>
                  <a:pt x="323" y="21"/>
                </a:lnTo>
                <a:lnTo>
                  <a:pt x="319" y="15"/>
                </a:lnTo>
                <a:lnTo>
                  <a:pt x="316" y="10"/>
                </a:lnTo>
                <a:lnTo>
                  <a:pt x="314" y="5"/>
                </a:lnTo>
                <a:lnTo>
                  <a:pt x="311" y="0"/>
                </a:lnTo>
                <a:lnTo>
                  <a:pt x="308" y="2"/>
                </a:lnTo>
                <a:lnTo>
                  <a:pt x="311" y="7"/>
                </a:lnTo>
                <a:lnTo>
                  <a:pt x="314" y="12"/>
                </a:lnTo>
                <a:lnTo>
                  <a:pt x="316" y="17"/>
                </a:lnTo>
                <a:lnTo>
                  <a:pt x="319" y="21"/>
                </a:lnTo>
                <a:lnTo>
                  <a:pt x="321" y="28"/>
                </a:lnTo>
                <a:lnTo>
                  <a:pt x="323" y="33"/>
                </a:lnTo>
                <a:lnTo>
                  <a:pt x="326" y="38"/>
                </a:lnTo>
                <a:lnTo>
                  <a:pt x="328" y="45"/>
                </a:lnTo>
                <a:lnTo>
                  <a:pt x="329" y="43"/>
                </a:lnTo>
                <a:close/>
                <a:moveTo>
                  <a:pt x="0" y="142"/>
                </a:moveTo>
                <a:lnTo>
                  <a:pt x="1" y="147"/>
                </a:lnTo>
                <a:lnTo>
                  <a:pt x="5" y="152"/>
                </a:lnTo>
                <a:lnTo>
                  <a:pt x="6" y="157"/>
                </a:lnTo>
                <a:lnTo>
                  <a:pt x="8" y="162"/>
                </a:lnTo>
                <a:lnTo>
                  <a:pt x="11" y="167"/>
                </a:lnTo>
                <a:lnTo>
                  <a:pt x="13" y="172"/>
                </a:lnTo>
                <a:lnTo>
                  <a:pt x="16" y="177"/>
                </a:lnTo>
                <a:lnTo>
                  <a:pt x="20" y="182"/>
                </a:lnTo>
                <a:lnTo>
                  <a:pt x="21" y="180"/>
                </a:lnTo>
                <a:lnTo>
                  <a:pt x="20" y="177"/>
                </a:lnTo>
                <a:lnTo>
                  <a:pt x="16" y="172"/>
                </a:lnTo>
                <a:lnTo>
                  <a:pt x="13" y="167"/>
                </a:lnTo>
                <a:lnTo>
                  <a:pt x="11" y="162"/>
                </a:lnTo>
                <a:lnTo>
                  <a:pt x="10" y="156"/>
                </a:lnTo>
                <a:lnTo>
                  <a:pt x="6" y="151"/>
                </a:lnTo>
                <a:lnTo>
                  <a:pt x="5" y="146"/>
                </a:lnTo>
                <a:lnTo>
                  <a:pt x="3" y="141"/>
                </a:lnTo>
                <a:lnTo>
                  <a:pt x="0" y="142"/>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04" name="Freeform 1909">
            <a:extLst>
              <a:ext uri="{FF2B5EF4-FFF2-40B4-BE49-F238E27FC236}">
                <a16:creationId xmlns:a16="http://schemas.microsoft.com/office/drawing/2014/main" id="{FF9C4269-29A9-867E-8712-67E44E623A7A}"/>
              </a:ext>
            </a:extLst>
          </p:cNvPr>
          <p:cNvSpPr>
            <a:spLocks noEditPoints="1"/>
          </p:cNvSpPr>
          <p:nvPr/>
        </p:nvSpPr>
        <p:spPr bwMode="auto">
          <a:xfrm>
            <a:off x="3259138" y="2459038"/>
            <a:ext cx="520700" cy="285750"/>
          </a:xfrm>
          <a:custGeom>
            <a:avLst/>
            <a:gdLst>
              <a:gd name="T0" fmla="*/ 328 w 328"/>
              <a:gd name="T1" fmla="*/ 41 h 180"/>
              <a:gd name="T2" fmla="*/ 325 w 328"/>
              <a:gd name="T3" fmla="*/ 36 h 180"/>
              <a:gd name="T4" fmla="*/ 323 w 328"/>
              <a:gd name="T5" fmla="*/ 31 h 180"/>
              <a:gd name="T6" fmla="*/ 322 w 328"/>
              <a:gd name="T7" fmla="*/ 24 h 180"/>
              <a:gd name="T8" fmla="*/ 320 w 328"/>
              <a:gd name="T9" fmla="*/ 19 h 180"/>
              <a:gd name="T10" fmla="*/ 317 w 328"/>
              <a:gd name="T11" fmla="*/ 15 h 180"/>
              <a:gd name="T12" fmla="*/ 315 w 328"/>
              <a:gd name="T13" fmla="*/ 10 h 180"/>
              <a:gd name="T14" fmla="*/ 312 w 328"/>
              <a:gd name="T15" fmla="*/ 5 h 180"/>
              <a:gd name="T16" fmla="*/ 308 w 328"/>
              <a:gd name="T17" fmla="*/ 0 h 180"/>
              <a:gd name="T18" fmla="*/ 305 w 328"/>
              <a:gd name="T19" fmla="*/ 1 h 180"/>
              <a:gd name="T20" fmla="*/ 308 w 328"/>
              <a:gd name="T21" fmla="*/ 6 h 180"/>
              <a:gd name="T22" fmla="*/ 312 w 328"/>
              <a:gd name="T23" fmla="*/ 11 h 180"/>
              <a:gd name="T24" fmla="*/ 313 w 328"/>
              <a:gd name="T25" fmla="*/ 16 h 180"/>
              <a:gd name="T26" fmla="*/ 317 w 328"/>
              <a:gd name="T27" fmla="*/ 21 h 180"/>
              <a:gd name="T28" fmla="*/ 318 w 328"/>
              <a:gd name="T29" fmla="*/ 26 h 180"/>
              <a:gd name="T30" fmla="*/ 320 w 328"/>
              <a:gd name="T31" fmla="*/ 31 h 180"/>
              <a:gd name="T32" fmla="*/ 323 w 328"/>
              <a:gd name="T33" fmla="*/ 38 h 180"/>
              <a:gd name="T34" fmla="*/ 325 w 328"/>
              <a:gd name="T35" fmla="*/ 43 h 180"/>
              <a:gd name="T36" fmla="*/ 328 w 328"/>
              <a:gd name="T37" fmla="*/ 41 h 180"/>
              <a:gd name="T38" fmla="*/ 0 w 328"/>
              <a:gd name="T39" fmla="*/ 139 h 180"/>
              <a:gd name="T40" fmla="*/ 2 w 328"/>
              <a:gd name="T41" fmla="*/ 145 h 180"/>
              <a:gd name="T42" fmla="*/ 4 w 328"/>
              <a:gd name="T43" fmla="*/ 150 h 180"/>
              <a:gd name="T44" fmla="*/ 7 w 328"/>
              <a:gd name="T45" fmla="*/ 155 h 180"/>
              <a:gd name="T46" fmla="*/ 9 w 328"/>
              <a:gd name="T47" fmla="*/ 160 h 180"/>
              <a:gd name="T48" fmla="*/ 12 w 328"/>
              <a:gd name="T49" fmla="*/ 165 h 180"/>
              <a:gd name="T50" fmla="*/ 14 w 328"/>
              <a:gd name="T51" fmla="*/ 170 h 180"/>
              <a:gd name="T52" fmla="*/ 17 w 328"/>
              <a:gd name="T53" fmla="*/ 175 h 180"/>
              <a:gd name="T54" fmla="*/ 19 w 328"/>
              <a:gd name="T55" fmla="*/ 180 h 180"/>
              <a:gd name="T56" fmla="*/ 22 w 328"/>
              <a:gd name="T57" fmla="*/ 178 h 180"/>
              <a:gd name="T58" fmla="*/ 20 w 328"/>
              <a:gd name="T59" fmla="*/ 173 h 180"/>
              <a:gd name="T60" fmla="*/ 17 w 328"/>
              <a:gd name="T61" fmla="*/ 168 h 180"/>
              <a:gd name="T62" fmla="*/ 14 w 328"/>
              <a:gd name="T63" fmla="*/ 164 h 180"/>
              <a:gd name="T64" fmla="*/ 12 w 328"/>
              <a:gd name="T65" fmla="*/ 159 h 180"/>
              <a:gd name="T66" fmla="*/ 10 w 328"/>
              <a:gd name="T67" fmla="*/ 154 h 180"/>
              <a:gd name="T68" fmla="*/ 7 w 328"/>
              <a:gd name="T69" fmla="*/ 149 h 180"/>
              <a:gd name="T70" fmla="*/ 5 w 328"/>
              <a:gd name="T71" fmla="*/ 144 h 180"/>
              <a:gd name="T72" fmla="*/ 4 w 328"/>
              <a:gd name="T73" fmla="*/ 137 h 180"/>
              <a:gd name="T74" fmla="*/ 0 w 328"/>
              <a:gd name="T75" fmla="*/ 139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8" h="180">
                <a:moveTo>
                  <a:pt x="328" y="41"/>
                </a:moveTo>
                <a:lnTo>
                  <a:pt x="325" y="36"/>
                </a:lnTo>
                <a:lnTo>
                  <a:pt x="323" y="31"/>
                </a:lnTo>
                <a:lnTo>
                  <a:pt x="322" y="24"/>
                </a:lnTo>
                <a:lnTo>
                  <a:pt x="320" y="19"/>
                </a:lnTo>
                <a:lnTo>
                  <a:pt x="317" y="15"/>
                </a:lnTo>
                <a:lnTo>
                  <a:pt x="315" y="10"/>
                </a:lnTo>
                <a:lnTo>
                  <a:pt x="312" y="5"/>
                </a:lnTo>
                <a:lnTo>
                  <a:pt x="308" y="0"/>
                </a:lnTo>
                <a:lnTo>
                  <a:pt x="305" y="1"/>
                </a:lnTo>
                <a:lnTo>
                  <a:pt x="308" y="6"/>
                </a:lnTo>
                <a:lnTo>
                  <a:pt x="312" y="11"/>
                </a:lnTo>
                <a:lnTo>
                  <a:pt x="313" y="16"/>
                </a:lnTo>
                <a:lnTo>
                  <a:pt x="317" y="21"/>
                </a:lnTo>
                <a:lnTo>
                  <a:pt x="318" y="26"/>
                </a:lnTo>
                <a:lnTo>
                  <a:pt x="320" y="31"/>
                </a:lnTo>
                <a:lnTo>
                  <a:pt x="323" y="38"/>
                </a:lnTo>
                <a:lnTo>
                  <a:pt x="325" y="43"/>
                </a:lnTo>
                <a:lnTo>
                  <a:pt x="328" y="41"/>
                </a:lnTo>
                <a:close/>
                <a:moveTo>
                  <a:pt x="0" y="139"/>
                </a:moveTo>
                <a:lnTo>
                  <a:pt x="2" y="145"/>
                </a:lnTo>
                <a:lnTo>
                  <a:pt x="4" y="150"/>
                </a:lnTo>
                <a:lnTo>
                  <a:pt x="7" y="155"/>
                </a:lnTo>
                <a:lnTo>
                  <a:pt x="9" y="160"/>
                </a:lnTo>
                <a:lnTo>
                  <a:pt x="12" y="165"/>
                </a:lnTo>
                <a:lnTo>
                  <a:pt x="14" y="170"/>
                </a:lnTo>
                <a:lnTo>
                  <a:pt x="17" y="175"/>
                </a:lnTo>
                <a:lnTo>
                  <a:pt x="19" y="180"/>
                </a:lnTo>
                <a:lnTo>
                  <a:pt x="22" y="178"/>
                </a:lnTo>
                <a:lnTo>
                  <a:pt x="20" y="173"/>
                </a:lnTo>
                <a:lnTo>
                  <a:pt x="17" y="168"/>
                </a:lnTo>
                <a:lnTo>
                  <a:pt x="14" y="164"/>
                </a:lnTo>
                <a:lnTo>
                  <a:pt x="12" y="159"/>
                </a:lnTo>
                <a:lnTo>
                  <a:pt x="10" y="154"/>
                </a:lnTo>
                <a:lnTo>
                  <a:pt x="7" y="149"/>
                </a:lnTo>
                <a:lnTo>
                  <a:pt x="5" y="144"/>
                </a:lnTo>
                <a:lnTo>
                  <a:pt x="4" y="137"/>
                </a:lnTo>
                <a:lnTo>
                  <a:pt x="0" y="139"/>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05" name="Freeform 1910">
            <a:extLst>
              <a:ext uri="{FF2B5EF4-FFF2-40B4-BE49-F238E27FC236}">
                <a16:creationId xmlns:a16="http://schemas.microsoft.com/office/drawing/2014/main" id="{42C4E630-BDD6-486D-0F26-210A06729060}"/>
              </a:ext>
            </a:extLst>
          </p:cNvPr>
          <p:cNvSpPr>
            <a:spLocks noEditPoints="1"/>
          </p:cNvSpPr>
          <p:nvPr/>
        </p:nvSpPr>
        <p:spPr bwMode="auto">
          <a:xfrm>
            <a:off x="3262313" y="2459038"/>
            <a:ext cx="515938" cy="282575"/>
          </a:xfrm>
          <a:custGeom>
            <a:avLst/>
            <a:gdLst>
              <a:gd name="T0" fmla="*/ 325 w 325"/>
              <a:gd name="T1" fmla="*/ 43 h 178"/>
              <a:gd name="T2" fmla="*/ 323 w 325"/>
              <a:gd name="T3" fmla="*/ 36 h 178"/>
              <a:gd name="T4" fmla="*/ 320 w 325"/>
              <a:gd name="T5" fmla="*/ 31 h 178"/>
              <a:gd name="T6" fmla="*/ 318 w 325"/>
              <a:gd name="T7" fmla="*/ 26 h 178"/>
              <a:gd name="T8" fmla="*/ 316 w 325"/>
              <a:gd name="T9" fmla="*/ 19 h 178"/>
              <a:gd name="T10" fmla="*/ 313 w 325"/>
              <a:gd name="T11" fmla="*/ 15 h 178"/>
              <a:gd name="T12" fmla="*/ 311 w 325"/>
              <a:gd name="T13" fmla="*/ 10 h 178"/>
              <a:gd name="T14" fmla="*/ 308 w 325"/>
              <a:gd name="T15" fmla="*/ 5 h 178"/>
              <a:gd name="T16" fmla="*/ 305 w 325"/>
              <a:gd name="T17" fmla="*/ 0 h 178"/>
              <a:gd name="T18" fmla="*/ 301 w 325"/>
              <a:gd name="T19" fmla="*/ 1 h 178"/>
              <a:gd name="T20" fmla="*/ 305 w 325"/>
              <a:gd name="T21" fmla="*/ 6 h 178"/>
              <a:gd name="T22" fmla="*/ 308 w 325"/>
              <a:gd name="T23" fmla="*/ 11 h 178"/>
              <a:gd name="T24" fmla="*/ 310 w 325"/>
              <a:gd name="T25" fmla="*/ 16 h 178"/>
              <a:gd name="T26" fmla="*/ 313 w 325"/>
              <a:gd name="T27" fmla="*/ 21 h 178"/>
              <a:gd name="T28" fmla="*/ 315 w 325"/>
              <a:gd name="T29" fmla="*/ 28 h 178"/>
              <a:gd name="T30" fmla="*/ 318 w 325"/>
              <a:gd name="T31" fmla="*/ 33 h 178"/>
              <a:gd name="T32" fmla="*/ 320 w 325"/>
              <a:gd name="T33" fmla="*/ 38 h 178"/>
              <a:gd name="T34" fmla="*/ 321 w 325"/>
              <a:gd name="T35" fmla="*/ 44 h 178"/>
              <a:gd name="T36" fmla="*/ 325 w 325"/>
              <a:gd name="T37" fmla="*/ 43 h 178"/>
              <a:gd name="T38" fmla="*/ 0 w 325"/>
              <a:gd name="T39" fmla="*/ 139 h 178"/>
              <a:gd name="T40" fmla="*/ 2 w 325"/>
              <a:gd name="T41" fmla="*/ 144 h 178"/>
              <a:gd name="T42" fmla="*/ 3 w 325"/>
              <a:gd name="T43" fmla="*/ 149 h 178"/>
              <a:gd name="T44" fmla="*/ 7 w 325"/>
              <a:gd name="T45" fmla="*/ 154 h 178"/>
              <a:gd name="T46" fmla="*/ 8 w 325"/>
              <a:gd name="T47" fmla="*/ 160 h 178"/>
              <a:gd name="T48" fmla="*/ 10 w 325"/>
              <a:gd name="T49" fmla="*/ 165 h 178"/>
              <a:gd name="T50" fmla="*/ 13 w 325"/>
              <a:gd name="T51" fmla="*/ 170 h 178"/>
              <a:gd name="T52" fmla="*/ 17 w 325"/>
              <a:gd name="T53" fmla="*/ 173 h 178"/>
              <a:gd name="T54" fmla="*/ 18 w 325"/>
              <a:gd name="T55" fmla="*/ 178 h 178"/>
              <a:gd name="T56" fmla="*/ 22 w 325"/>
              <a:gd name="T57" fmla="*/ 178 h 178"/>
              <a:gd name="T58" fmla="*/ 18 w 325"/>
              <a:gd name="T59" fmla="*/ 173 h 178"/>
              <a:gd name="T60" fmla="*/ 17 w 325"/>
              <a:gd name="T61" fmla="*/ 168 h 178"/>
              <a:gd name="T62" fmla="*/ 13 w 325"/>
              <a:gd name="T63" fmla="*/ 164 h 178"/>
              <a:gd name="T64" fmla="*/ 12 w 325"/>
              <a:gd name="T65" fmla="*/ 159 h 178"/>
              <a:gd name="T66" fmla="*/ 8 w 325"/>
              <a:gd name="T67" fmla="*/ 154 h 178"/>
              <a:gd name="T68" fmla="*/ 7 w 325"/>
              <a:gd name="T69" fmla="*/ 147 h 178"/>
              <a:gd name="T70" fmla="*/ 5 w 325"/>
              <a:gd name="T71" fmla="*/ 142 h 178"/>
              <a:gd name="T72" fmla="*/ 3 w 325"/>
              <a:gd name="T73" fmla="*/ 137 h 178"/>
              <a:gd name="T74" fmla="*/ 0 w 325"/>
              <a:gd name="T75" fmla="*/ 13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5" h="178">
                <a:moveTo>
                  <a:pt x="325" y="43"/>
                </a:moveTo>
                <a:lnTo>
                  <a:pt x="323" y="36"/>
                </a:lnTo>
                <a:lnTo>
                  <a:pt x="320" y="31"/>
                </a:lnTo>
                <a:lnTo>
                  <a:pt x="318" y="26"/>
                </a:lnTo>
                <a:lnTo>
                  <a:pt x="316" y="19"/>
                </a:lnTo>
                <a:lnTo>
                  <a:pt x="313" y="15"/>
                </a:lnTo>
                <a:lnTo>
                  <a:pt x="311" y="10"/>
                </a:lnTo>
                <a:lnTo>
                  <a:pt x="308" y="5"/>
                </a:lnTo>
                <a:lnTo>
                  <a:pt x="305" y="0"/>
                </a:lnTo>
                <a:lnTo>
                  <a:pt x="301" y="1"/>
                </a:lnTo>
                <a:lnTo>
                  <a:pt x="305" y="6"/>
                </a:lnTo>
                <a:lnTo>
                  <a:pt x="308" y="11"/>
                </a:lnTo>
                <a:lnTo>
                  <a:pt x="310" y="16"/>
                </a:lnTo>
                <a:lnTo>
                  <a:pt x="313" y="21"/>
                </a:lnTo>
                <a:lnTo>
                  <a:pt x="315" y="28"/>
                </a:lnTo>
                <a:lnTo>
                  <a:pt x="318" y="33"/>
                </a:lnTo>
                <a:lnTo>
                  <a:pt x="320" y="38"/>
                </a:lnTo>
                <a:lnTo>
                  <a:pt x="321" y="44"/>
                </a:lnTo>
                <a:lnTo>
                  <a:pt x="325" y="43"/>
                </a:lnTo>
                <a:close/>
                <a:moveTo>
                  <a:pt x="0" y="139"/>
                </a:moveTo>
                <a:lnTo>
                  <a:pt x="2" y="144"/>
                </a:lnTo>
                <a:lnTo>
                  <a:pt x="3" y="149"/>
                </a:lnTo>
                <a:lnTo>
                  <a:pt x="7" y="154"/>
                </a:lnTo>
                <a:lnTo>
                  <a:pt x="8" y="160"/>
                </a:lnTo>
                <a:lnTo>
                  <a:pt x="10" y="165"/>
                </a:lnTo>
                <a:lnTo>
                  <a:pt x="13" y="170"/>
                </a:lnTo>
                <a:lnTo>
                  <a:pt x="17" y="173"/>
                </a:lnTo>
                <a:lnTo>
                  <a:pt x="18" y="178"/>
                </a:lnTo>
                <a:lnTo>
                  <a:pt x="22" y="178"/>
                </a:lnTo>
                <a:lnTo>
                  <a:pt x="18" y="173"/>
                </a:lnTo>
                <a:lnTo>
                  <a:pt x="17" y="168"/>
                </a:lnTo>
                <a:lnTo>
                  <a:pt x="13" y="164"/>
                </a:lnTo>
                <a:lnTo>
                  <a:pt x="12" y="159"/>
                </a:lnTo>
                <a:lnTo>
                  <a:pt x="8" y="154"/>
                </a:lnTo>
                <a:lnTo>
                  <a:pt x="7" y="147"/>
                </a:lnTo>
                <a:lnTo>
                  <a:pt x="5" y="142"/>
                </a:lnTo>
                <a:lnTo>
                  <a:pt x="3" y="137"/>
                </a:lnTo>
                <a:lnTo>
                  <a:pt x="0" y="139"/>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06" name="Freeform 1911">
            <a:extLst>
              <a:ext uri="{FF2B5EF4-FFF2-40B4-BE49-F238E27FC236}">
                <a16:creationId xmlns:a16="http://schemas.microsoft.com/office/drawing/2014/main" id="{06A7A6A6-3B7A-4EC4-6C47-C25B9B54251B}"/>
              </a:ext>
            </a:extLst>
          </p:cNvPr>
          <p:cNvSpPr>
            <a:spLocks noEditPoints="1"/>
          </p:cNvSpPr>
          <p:nvPr/>
        </p:nvSpPr>
        <p:spPr bwMode="auto">
          <a:xfrm>
            <a:off x="3265488" y="2460625"/>
            <a:ext cx="509588" cy="280988"/>
          </a:xfrm>
          <a:custGeom>
            <a:avLst/>
            <a:gdLst>
              <a:gd name="T0" fmla="*/ 321 w 321"/>
              <a:gd name="T1" fmla="*/ 42 h 177"/>
              <a:gd name="T2" fmla="*/ 319 w 321"/>
              <a:gd name="T3" fmla="*/ 37 h 177"/>
              <a:gd name="T4" fmla="*/ 316 w 321"/>
              <a:gd name="T5" fmla="*/ 30 h 177"/>
              <a:gd name="T6" fmla="*/ 314 w 321"/>
              <a:gd name="T7" fmla="*/ 25 h 177"/>
              <a:gd name="T8" fmla="*/ 313 w 321"/>
              <a:gd name="T9" fmla="*/ 20 h 177"/>
              <a:gd name="T10" fmla="*/ 309 w 321"/>
              <a:gd name="T11" fmla="*/ 15 h 177"/>
              <a:gd name="T12" fmla="*/ 308 w 321"/>
              <a:gd name="T13" fmla="*/ 10 h 177"/>
              <a:gd name="T14" fmla="*/ 304 w 321"/>
              <a:gd name="T15" fmla="*/ 5 h 177"/>
              <a:gd name="T16" fmla="*/ 301 w 321"/>
              <a:gd name="T17" fmla="*/ 0 h 177"/>
              <a:gd name="T18" fmla="*/ 298 w 321"/>
              <a:gd name="T19" fmla="*/ 0 h 177"/>
              <a:gd name="T20" fmla="*/ 301 w 321"/>
              <a:gd name="T21" fmla="*/ 5 h 177"/>
              <a:gd name="T22" fmla="*/ 304 w 321"/>
              <a:gd name="T23" fmla="*/ 10 h 177"/>
              <a:gd name="T24" fmla="*/ 308 w 321"/>
              <a:gd name="T25" fmla="*/ 17 h 177"/>
              <a:gd name="T26" fmla="*/ 309 w 321"/>
              <a:gd name="T27" fmla="*/ 22 h 177"/>
              <a:gd name="T28" fmla="*/ 311 w 321"/>
              <a:gd name="T29" fmla="*/ 27 h 177"/>
              <a:gd name="T30" fmla="*/ 314 w 321"/>
              <a:gd name="T31" fmla="*/ 32 h 177"/>
              <a:gd name="T32" fmla="*/ 316 w 321"/>
              <a:gd name="T33" fmla="*/ 38 h 177"/>
              <a:gd name="T34" fmla="*/ 318 w 321"/>
              <a:gd name="T35" fmla="*/ 43 h 177"/>
              <a:gd name="T36" fmla="*/ 321 w 321"/>
              <a:gd name="T37" fmla="*/ 42 h 177"/>
              <a:gd name="T38" fmla="*/ 0 w 321"/>
              <a:gd name="T39" fmla="*/ 136 h 177"/>
              <a:gd name="T40" fmla="*/ 1 w 321"/>
              <a:gd name="T41" fmla="*/ 143 h 177"/>
              <a:gd name="T42" fmla="*/ 3 w 321"/>
              <a:gd name="T43" fmla="*/ 148 h 177"/>
              <a:gd name="T44" fmla="*/ 6 w 321"/>
              <a:gd name="T45" fmla="*/ 153 h 177"/>
              <a:gd name="T46" fmla="*/ 8 w 321"/>
              <a:gd name="T47" fmla="*/ 158 h 177"/>
              <a:gd name="T48" fmla="*/ 10 w 321"/>
              <a:gd name="T49" fmla="*/ 163 h 177"/>
              <a:gd name="T50" fmla="*/ 13 w 321"/>
              <a:gd name="T51" fmla="*/ 167 h 177"/>
              <a:gd name="T52" fmla="*/ 16 w 321"/>
              <a:gd name="T53" fmla="*/ 172 h 177"/>
              <a:gd name="T54" fmla="*/ 18 w 321"/>
              <a:gd name="T55" fmla="*/ 177 h 177"/>
              <a:gd name="T56" fmla="*/ 21 w 321"/>
              <a:gd name="T57" fmla="*/ 176 h 177"/>
              <a:gd name="T58" fmla="*/ 18 w 321"/>
              <a:gd name="T59" fmla="*/ 171 h 177"/>
              <a:gd name="T60" fmla="*/ 16 w 321"/>
              <a:gd name="T61" fmla="*/ 166 h 177"/>
              <a:gd name="T62" fmla="*/ 13 w 321"/>
              <a:gd name="T63" fmla="*/ 161 h 177"/>
              <a:gd name="T64" fmla="*/ 11 w 321"/>
              <a:gd name="T65" fmla="*/ 156 h 177"/>
              <a:gd name="T66" fmla="*/ 8 w 321"/>
              <a:gd name="T67" fmla="*/ 151 h 177"/>
              <a:gd name="T68" fmla="*/ 6 w 321"/>
              <a:gd name="T69" fmla="*/ 146 h 177"/>
              <a:gd name="T70" fmla="*/ 5 w 321"/>
              <a:gd name="T71" fmla="*/ 141 h 177"/>
              <a:gd name="T72" fmla="*/ 3 w 321"/>
              <a:gd name="T73" fmla="*/ 136 h 177"/>
              <a:gd name="T74" fmla="*/ 0 w 321"/>
              <a:gd name="T75" fmla="*/ 136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1" h="177">
                <a:moveTo>
                  <a:pt x="321" y="42"/>
                </a:moveTo>
                <a:lnTo>
                  <a:pt x="319" y="37"/>
                </a:lnTo>
                <a:lnTo>
                  <a:pt x="316" y="30"/>
                </a:lnTo>
                <a:lnTo>
                  <a:pt x="314" y="25"/>
                </a:lnTo>
                <a:lnTo>
                  <a:pt x="313" y="20"/>
                </a:lnTo>
                <a:lnTo>
                  <a:pt x="309" y="15"/>
                </a:lnTo>
                <a:lnTo>
                  <a:pt x="308" y="10"/>
                </a:lnTo>
                <a:lnTo>
                  <a:pt x="304" y="5"/>
                </a:lnTo>
                <a:lnTo>
                  <a:pt x="301" y="0"/>
                </a:lnTo>
                <a:lnTo>
                  <a:pt x="298" y="0"/>
                </a:lnTo>
                <a:lnTo>
                  <a:pt x="301" y="5"/>
                </a:lnTo>
                <a:lnTo>
                  <a:pt x="304" y="10"/>
                </a:lnTo>
                <a:lnTo>
                  <a:pt x="308" y="17"/>
                </a:lnTo>
                <a:lnTo>
                  <a:pt x="309" y="22"/>
                </a:lnTo>
                <a:lnTo>
                  <a:pt x="311" y="27"/>
                </a:lnTo>
                <a:lnTo>
                  <a:pt x="314" y="32"/>
                </a:lnTo>
                <a:lnTo>
                  <a:pt x="316" y="38"/>
                </a:lnTo>
                <a:lnTo>
                  <a:pt x="318" y="43"/>
                </a:lnTo>
                <a:lnTo>
                  <a:pt x="321" y="42"/>
                </a:lnTo>
                <a:close/>
                <a:moveTo>
                  <a:pt x="0" y="136"/>
                </a:moveTo>
                <a:lnTo>
                  <a:pt x="1" y="143"/>
                </a:lnTo>
                <a:lnTo>
                  <a:pt x="3" y="148"/>
                </a:lnTo>
                <a:lnTo>
                  <a:pt x="6" y="153"/>
                </a:lnTo>
                <a:lnTo>
                  <a:pt x="8" y="158"/>
                </a:lnTo>
                <a:lnTo>
                  <a:pt x="10" y="163"/>
                </a:lnTo>
                <a:lnTo>
                  <a:pt x="13" y="167"/>
                </a:lnTo>
                <a:lnTo>
                  <a:pt x="16" y="172"/>
                </a:lnTo>
                <a:lnTo>
                  <a:pt x="18" y="177"/>
                </a:lnTo>
                <a:lnTo>
                  <a:pt x="21" y="176"/>
                </a:lnTo>
                <a:lnTo>
                  <a:pt x="18" y="171"/>
                </a:lnTo>
                <a:lnTo>
                  <a:pt x="16" y="166"/>
                </a:lnTo>
                <a:lnTo>
                  <a:pt x="13" y="161"/>
                </a:lnTo>
                <a:lnTo>
                  <a:pt x="11" y="156"/>
                </a:lnTo>
                <a:lnTo>
                  <a:pt x="8" y="151"/>
                </a:lnTo>
                <a:lnTo>
                  <a:pt x="6" y="146"/>
                </a:lnTo>
                <a:lnTo>
                  <a:pt x="5" y="141"/>
                </a:lnTo>
                <a:lnTo>
                  <a:pt x="3" y="136"/>
                </a:lnTo>
                <a:lnTo>
                  <a:pt x="0" y="136"/>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07" name="Freeform 1912">
            <a:extLst>
              <a:ext uri="{FF2B5EF4-FFF2-40B4-BE49-F238E27FC236}">
                <a16:creationId xmlns:a16="http://schemas.microsoft.com/office/drawing/2014/main" id="{A2049CF3-4F18-98AF-9311-8584CF1B41A1}"/>
              </a:ext>
            </a:extLst>
          </p:cNvPr>
          <p:cNvSpPr>
            <a:spLocks noEditPoints="1"/>
          </p:cNvSpPr>
          <p:nvPr/>
        </p:nvSpPr>
        <p:spPr bwMode="auto">
          <a:xfrm>
            <a:off x="3267075" y="2460625"/>
            <a:ext cx="504825" cy="280988"/>
          </a:xfrm>
          <a:custGeom>
            <a:avLst/>
            <a:gdLst>
              <a:gd name="T0" fmla="*/ 318 w 318"/>
              <a:gd name="T1" fmla="*/ 43 h 177"/>
              <a:gd name="T2" fmla="*/ 317 w 318"/>
              <a:gd name="T3" fmla="*/ 37 h 177"/>
              <a:gd name="T4" fmla="*/ 315 w 318"/>
              <a:gd name="T5" fmla="*/ 32 h 177"/>
              <a:gd name="T6" fmla="*/ 312 w 318"/>
              <a:gd name="T7" fmla="*/ 27 h 177"/>
              <a:gd name="T8" fmla="*/ 310 w 318"/>
              <a:gd name="T9" fmla="*/ 20 h 177"/>
              <a:gd name="T10" fmla="*/ 307 w 318"/>
              <a:gd name="T11" fmla="*/ 15 h 177"/>
              <a:gd name="T12" fmla="*/ 305 w 318"/>
              <a:gd name="T13" fmla="*/ 10 h 177"/>
              <a:gd name="T14" fmla="*/ 302 w 318"/>
              <a:gd name="T15" fmla="*/ 5 h 177"/>
              <a:gd name="T16" fmla="*/ 298 w 318"/>
              <a:gd name="T17" fmla="*/ 0 h 177"/>
              <a:gd name="T18" fmla="*/ 295 w 318"/>
              <a:gd name="T19" fmla="*/ 2 h 177"/>
              <a:gd name="T20" fmla="*/ 298 w 318"/>
              <a:gd name="T21" fmla="*/ 7 h 177"/>
              <a:gd name="T22" fmla="*/ 302 w 318"/>
              <a:gd name="T23" fmla="*/ 12 h 177"/>
              <a:gd name="T24" fmla="*/ 305 w 318"/>
              <a:gd name="T25" fmla="*/ 17 h 177"/>
              <a:gd name="T26" fmla="*/ 307 w 318"/>
              <a:gd name="T27" fmla="*/ 22 h 177"/>
              <a:gd name="T28" fmla="*/ 308 w 318"/>
              <a:gd name="T29" fmla="*/ 27 h 177"/>
              <a:gd name="T30" fmla="*/ 312 w 318"/>
              <a:gd name="T31" fmla="*/ 33 h 177"/>
              <a:gd name="T32" fmla="*/ 313 w 318"/>
              <a:gd name="T33" fmla="*/ 38 h 177"/>
              <a:gd name="T34" fmla="*/ 315 w 318"/>
              <a:gd name="T35" fmla="*/ 43 h 177"/>
              <a:gd name="T36" fmla="*/ 318 w 318"/>
              <a:gd name="T37" fmla="*/ 43 h 177"/>
              <a:gd name="T38" fmla="*/ 0 w 318"/>
              <a:gd name="T39" fmla="*/ 136 h 177"/>
              <a:gd name="T40" fmla="*/ 2 w 318"/>
              <a:gd name="T41" fmla="*/ 141 h 177"/>
              <a:gd name="T42" fmla="*/ 4 w 318"/>
              <a:gd name="T43" fmla="*/ 146 h 177"/>
              <a:gd name="T44" fmla="*/ 5 w 318"/>
              <a:gd name="T45" fmla="*/ 153 h 177"/>
              <a:gd name="T46" fmla="*/ 9 w 318"/>
              <a:gd name="T47" fmla="*/ 158 h 177"/>
              <a:gd name="T48" fmla="*/ 10 w 318"/>
              <a:gd name="T49" fmla="*/ 163 h 177"/>
              <a:gd name="T50" fmla="*/ 14 w 318"/>
              <a:gd name="T51" fmla="*/ 167 h 177"/>
              <a:gd name="T52" fmla="*/ 15 w 318"/>
              <a:gd name="T53" fmla="*/ 172 h 177"/>
              <a:gd name="T54" fmla="*/ 19 w 318"/>
              <a:gd name="T55" fmla="*/ 177 h 177"/>
              <a:gd name="T56" fmla="*/ 22 w 318"/>
              <a:gd name="T57" fmla="*/ 176 h 177"/>
              <a:gd name="T58" fmla="*/ 19 w 318"/>
              <a:gd name="T59" fmla="*/ 171 h 177"/>
              <a:gd name="T60" fmla="*/ 17 w 318"/>
              <a:gd name="T61" fmla="*/ 166 h 177"/>
              <a:gd name="T62" fmla="*/ 14 w 318"/>
              <a:gd name="T63" fmla="*/ 161 h 177"/>
              <a:gd name="T64" fmla="*/ 12 w 318"/>
              <a:gd name="T65" fmla="*/ 156 h 177"/>
              <a:gd name="T66" fmla="*/ 9 w 318"/>
              <a:gd name="T67" fmla="*/ 151 h 177"/>
              <a:gd name="T68" fmla="*/ 7 w 318"/>
              <a:gd name="T69" fmla="*/ 146 h 177"/>
              <a:gd name="T70" fmla="*/ 5 w 318"/>
              <a:gd name="T71" fmla="*/ 139 h 177"/>
              <a:gd name="T72" fmla="*/ 4 w 318"/>
              <a:gd name="T73" fmla="*/ 134 h 177"/>
              <a:gd name="T74" fmla="*/ 0 w 318"/>
              <a:gd name="T75" fmla="*/ 136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18" h="177">
                <a:moveTo>
                  <a:pt x="318" y="43"/>
                </a:moveTo>
                <a:lnTo>
                  <a:pt x="317" y="37"/>
                </a:lnTo>
                <a:lnTo>
                  <a:pt x="315" y="32"/>
                </a:lnTo>
                <a:lnTo>
                  <a:pt x="312" y="27"/>
                </a:lnTo>
                <a:lnTo>
                  <a:pt x="310" y="20"/>
                </a:lnTo>
                <a:lnTo>
                  <a:pt x="307" y="15"/>
                </a:lnTo>
                <a:lnTo>
                  <a:pt x="305" y="10"/>
                </a:lnTo>
                <a:lnTo>
                  <a:pt x="302" y="5"/>
                </a:lnTo>
                <a:lnTo>
                  <a:pt x="298" y="0"/>
                </a:lnTo>
                <a:lnTo>
                  <a:pt x="295" y="2"/>
                </a:lnTo>
                <a:lnTo>
                  <a:pt x="298" y="7"/>
                </a:lnTo>
                <a:lnTo>
                  <a:pt x="302" y="12"/>
                </a:lnTo>
                <a:lnTo>
                  <a:pt x="305" y="17"/>
                </a:lnTo>
                <a:lnTo>
                  <a:pt x="307" y="22"/>
                </a:lnTo>
                <a:lnTo>
                  <a:pt x="308" y="27"/>
                </a:lnTo>
                <a:lnTo>
                  <a:pt x="312" y="33"/>
                </a:lnTo>
                <a:lnTo>
                  <a:pt x="313" y="38"/>
                </a:lnTo>
                <a:lnTo>
                  <a:pt x="315" y="43"/>
                </a:lnTo>
                <a:lnTo>
                  <a:pt x="318" y="43"/>
                </a:lnTo>
                <a:close/>
                <a:moveTo>
                  <a:pt x="0" y="136"/>
                </a:moveTo>
                <a:lnTo>
                  <a:pt x="2" y="141"/>
                </a:lnTo>
                <a:lnTo>
                  <a:pt x="4" y="146"/>
                </a:lnTo>
                <a:lnTo>
                  <a:pt x="5" y="153"/>
                </a:lnTo>
                <a:lnTo>
                  <a:pt x="9" y="158"/>
                </a:lnTo>
                <a:lnTo>
                  <a:pt x="10" y="163"/>
                </a:lnTo>
                <a:lnTo>
                  <a:pt x="14" y="167"/>
                </a:lnTo>
                <a:lnTo>
                  <a:pt x="15" y="172"/>
                </a:lnTo>
                <a:lnTo>
                  <a:pt x="19" y="177"/>
                </a:lnTo>
                <a:lnTo>
                  <a:pt x="22" y="176"/>
                </a:lnTo>
                <a:lnTo>
                  <a:pt x="19" y="171"/>
                </a:lnTo>
                <a:lnTo>
                  <a:pt x="17" y="166"/>
                </a:lnTo>
                <a:lnTo>
                  <a:pt x="14" y="161"/>
                </a:lnTo>
                <a:lnTo>
                  <a:pt x="12" y="156"/>
                </a:lnTo>
                <a:lnTo>
                  <a:pt x="9" y="151"/>
                </a:lnTo>
                <a:lnTo>
                  <a:pt x="7" y="146"/>
                </a:lnTo>
                <a:lnTo>
                  <a:pt x="5" y="139"/>
                </a:lnTo>
                <a:lnTo>
                  <a:pt x="4" y="134"/>
                </a:lnTo>
                <a:lnTo>
                  <a:pt x="0" y="136"/>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08" name="Freeform 1913">
            <a:extLst>
              <a:ext uri="{FF2B5EF4-FFF2-40B4-BE49-F238E27FC236}">
                <a16:creationId xmlns:a16="http://schemas.microsoft.com/office/drawing/2014/main" id="{6E24CD08-E164-C532-A030-3DAF39E56004}"/>
              </a:ext>
            </a:extLst>
          </p:cNvPr>
          <p:cNvSpPr>
            <a:spLocks noEditPoints="1"/>
          </p:cNvSpPr>
          <p:nvPr/>
        </p:nvSpPr>
        <p:spPr bwMode="auto">
          <a:xfrm>
            <a:off x="3270250" y="2460625"/>
            <a:ext cx="500063" cy="279400"/>
          </a:xfrm>
          <a:custGeom>
            <a:avLst/>
            <a:gdLst>
              <a:gd name="T0" fmla="*/ 315 w 315"/>
              <a:gd name="T1" fmla="*/ 43 h 176"/>
              <a:gd name="T2" fmla="*/ 313 w 315"/>
              <a:gd name="T3" fmla="*/ 38 h 176"/>
              <a:gd name="T4" fmla="*/ 311 w 315"/>
              <a:gd name="T5" fmla="*/ 32 h 176"/>
              <a:gd name="T6" fmla="*/ 308 w 315"/>
              <a:gd name="T7" fmla="*/ 27 h 176"/>
              <a:gd name="T8" fmla="*/ 306 w 315"/>
              <a:gd name="T9" fmla="*/ 22 h 176"/>
              <a:gd name="T10" fmla="*/ 305 w 315"/>
              <a:gd name="T11" fmla="*/ 17 h 176"/>
              <a:gd name="T12" fmla="*/ 301 w 315"/>
              <a:gd name="T13" fmla="*/ 10 h 176"/>
              <a:gd name="T14" fmla="*/ 298 w 315"/>
              <a:gd name="T15" fmla="*/ 5 h 176"/>
              <a:gd name="T16" fmla="*/ 295 w 315"/>
              <a:gd name="T17" fmla="*/ 0 h 176"/>
              <a:gd name="T18" fmla="*/ 293 w 315"/>
              <a:gd name="T19" fmla="*/ 2 h 176"/>
              <a:gd name="T20" fmla="*/ 295 w 315"/>
              <a:gd name="T21" fmla="*/ 7 h 176"/>
              <a:gd name="T22" fmla="*/ 298 w 315"/>
              <a:gd name="T23" fmla="*/ 12 h 176"/>
              <a:gd name="T24" fmla="*/ 301 w 315"/>
              <a:gd name="T25" fmla="*/ 17 h 176"/>
              <a:gd name="T26" fmla="*/ 303 w 315"/>
              <a:gd name="T27" fmla="*/ 23 h 176"/>
              <a:gd name="T28" fmla="*/ 306 w 315"/>
              <a:gd name="T29" fmla="*/ 28 h 176"/>
              <a:gd name="T30" fmla="*/ 308 w 315"/>
              <a:gd name="T31" fmla="*/ 33 h 176"/>
              <a:gd name="T32" fmla="*/ 310 w 315"/>
              <a:gd name="T33" fmla="*/ 38 h 176"/>
              <a:gd name="T34" fmla="*/ 311 w 315"/>
              <a:gd name="T35" fmla="*/ 45 h 176"/>
              <a:gd name="T36" fmla="*/ 315 w 315"/>
              <a:gd name="T37" fmla="*/ 43 h 176"/>
              <a:gd name="T38" fmla="*/ 0 w 315"/>
              <a:gd name="T39" fmla="*/ 136 h 176"/>
              <a:gd name="T40" fmla="*/ 2 w 315"/>
              <a:gd name="T41" fmla="*/ 141 h 176"/>
              <a:gd name="T42" fmla="*/ 3 w 315"/>
              <a:gd name="T43" fmla="*/ 146 h 176"/>
              <a:gd name="T44" fmla="*/ 5 w 315"/>
              <a:gd name="T45" fmla="*/ 151 h 176"/>
              <a:gd name="T46" fmla="*/ 8 w 315"/>
              <a:gd name="T47" fmla="*/ 156 h 176"/>
              <a:gd name="T48" fmla="*/ 10 w 315"/>
              <a:gd name="T49" fmla="*/ 161 h 176"/>
              <a:gd name="T50" fmla="*/ 13 w 315"/>
              <a:gd name="T51" fmla="*/ 166 h 176"/>
              <a:gd name="T52" fmla="*/ 15 w 315"/>
              <a:gd name="T53" fmla="*/ 171 h 176"/>
              <a:gd name="T54" fmla="*/ 18 w 315"/>
              <a:gd name="T55" fmla="*/ 176 h 176"/>
              <a:gd name="T56" fmla="*/ 22 w 315"/>
              <a:gd name="T57" fmla="*/ 174 h 176"/>
              <a:gd name="T58" fmla="*/ 18 w 315"/>
              <a:gd name="T59" fmla="*/ 169 h 176"/>
              <a:gd name="T60" fmla="*/ 17 w 315"/>
              <a:gd name="T61" fmla="*/ 166 h 176"/>
              <a:gd name="T62" fmla="*/ 13 w 315"/>
              <a:gd name="T63" fmla="*/ 161 h 176"/>
              <a:gd name="T64" fmla="*/ 12 w 315"/>
              <a:gd name="T65" fmla="*/ 154 h 176"/>
              <a:gd name="T66" fmla="*/ 8 w 315"/>
              <a:gd name="T67" fmla="*/ 149 h 176"/>
              <a:gd name="T68" fmla="*/ 7 w 315"/>
              <a:gd name="T69" fmla="*/ 144 h 176"/>
              <a:gd name="T70" fmla="*/ 5 w 315"/>
              <a:gd name="T71" fmla="*/ 139 h 176"/>
              <a:gd name="T72" fmla="*/ 3 w 315"/>
              <a:gd name="T73" fmla="*/ 134 h 176"/>
              <a:gd name="T74" fmla="*/ 0 w 315"/>
              <a:gd name="T75" fmla="*/ 136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15" h="176">
                <a:moveTo>
                  <a:pt x="315" y="43"/>
                </a:moveTo>
                <a:lnTo>
                  <a:pt x="313" y="38"/>
                </a:lnTo>
                <a:lnTo>
                  <a:pt x="311" y="32"/>
                </a:lnTo>
                <a:lnTo>
                  <a:pt x="308" y="27"/>
                </a:lnTo>
                <a:lnTo>
                  <a:pt x="306" y="22"/>
                </a:lnTo>
                <a:lnTo>
                  <a:pt x="305" y="17"/>
                </a:lnTo>
                <a:lnTo>
                  <a:pt x="301" y="10"/>
                </a:lnTo>
                <a:lnTo>
                  <a:pt x="298" y="5"/>
                </a:lnTo>
                <a:lnTo>
                  <a:pt x="295" y="0"/>
                </a:lnTo>
                <a:lnTo>
                  <a:pt x="293" y="2"/>
                </a:lnTo>
                <a:lnTo>
                  <a:pt x="295" y="7"/>
                </a:lnTo>
                <a:lnTo>
                  <a:pt x="298" y="12"/>
                </a:lnTo>
                <a:lnTo>
                  <a:pt x="301" y="17"/>
                </a:lnTo>
                <a:lnTo>
                  <a:pt x="303" y="23"/>
                </a:lnTo>
                <a:lnTo>
                  <a:pt x="306" y="28"/>
                </a:lnTo>
                <a:lnTo>
                  <a:pt x="308" y="33"/>
                </a:lnTo>
                <a:lnTo>
                  <a:pt x="310" y="38"/>
                </a:lnTo>
                <a:lnTo>
                  <a:pt x="311" y="45"/>
                </a:lnTo>
                <a:lnTo>
                  <a:pt x="315" y="43"/>
                </a:lnTo>
                <a:close/>
                <a:moveTo>
                  <a:pt x="0" y="136"/>
                </a:moveTo>
                <a:lnTo>
                  <a:pt x="2" y="141"/>
                </a:lnTo>
                <a:lnTo>
                  <a:pt x="3" y="146"/>
                </a:lnTo>
                <a:lnTo>
                  <a:pt x="5" y="151"/>
                </a:lnTo>
                <a:lnTo>
                  <a:pt x="8" y="156"/>
                </a:lnTo>
                <a:lnTo>
                  <a:pt x="10" y="161"/>
                </a:lnTo>
                <a:lnTo>
                  <a:pt x="13" y="166"/>
                </a:lnTo>
                <a:lnTo>
                  <a:pt x="15" y="171"/>
                </a:lnTo>
                <a:lnTo>
                  <a:pt x="18" y="176"/>
                </a:lnTo>
                <a:lnTo>
                  <a:pt x="22" y="174"/>
                </a:lnTo>
                <a:lnTo>
                  <a:pt x="18" y="169"/>
                </a:lnTo>
                <a:lnTo>
                  <a:pt x="17" y="166"/>
                </a:lnTo>
                <a:lnTo>
                  <a:pt x="13" y="161"/>
                </a:lnTo>
                <a:lnTo>
                  <a:pt x="12" y="154"/>
                </a:lnTo>
                <a:lnTo>
                  <a:pt x="8" y="149"/>
                </a:lnTo>
                <a:lnTo>
                  <a:pt x="7" y="144"/>
                </a:lnTo>
                <a:lnTo>
                  <a:pt x="5" y="139"/>
                </a:lnTo>
                <a:lnTo>
                  <a:pt x="3" y="134"/>
                </a:lnTo>
                <a:lnTo>
                  <a:pt x="0" y="136"/>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09" name="Freeform 1914">
            <a:extLst>
              <a:ext uri="{FF2B5EF4-FFF2-40B4-BE49-F238E27FC236}">
                <a16:creationId xmlns:a16="http://schemas.microsoft.com/office/drawing/2014/main" id="{65AF2BC6-1B28-83FA-C4F5-C449F23DA584}"/>
              </a:ext>
            </a:extLst>
          </p:cNvPr>
          <p:cNvSpPr>
            <a:spLocks noEditPoints="1"/>
          </p:cNvSpPr>
          <p:nvPr/>
        </p:nvSpPr>
        <p:spPr bwMode="auto">
          <a:xfrm>
            <a:off x="3273425" y="2463800"/>
            <a:ext cx="493713" cy="276225"/>
          </a:xfrm>
          <a:custGeom>
            <a:avLst/>
            <a:gdLst>
              <a:gd name="T0" fmla="*/ 311 w 311"/>
              <a:gd name="T1" fmla="*/ 41 h 174"/>
              <a:gd name="T2" fmla="*/ 309 w 311"/>
              <a:gd name="T3" fmla="*/ 36 h 174"/>
              <a:gd name="T4" fmla="*/ 308 w 311"/>
              <a:gd name="T5" fmla="*/ 31 h 174"/>
              <a:gd name="T6" fmla="*/ 304 w 311"/>
              <a:gd name="T7" fmla="*/ 25 h 174"/>
              <a:gd name="T8" fmla="*/ 303 w 311"/>
              <a:gd name="T9" fmla="*/ 20 h 174"/>
              <a:gd name="T10" fmla="*/ 301 w 311"/>
              <a:gd name="T11" fmla="*/ 15 h 174"/>
              <a:gd name="T12" fmla="*/ 298 w 311"/>
              <a:gd name="T13" fmla="*/ 10 h 174"/>
              <a:gd name="T14" fmla="*/ 294 w 311"/>
              <a:gd name="T15" fmla="*/ 5 h 174"/>
              <a:gd name="T16" fmla="*/ 291 w 311"/>
              <a:gd name="T17" fmla="*/ 0 h 174"/>
              <a:gd name="T18" fmla="*/ 289 w 311"/>
              <a:gd name="T19" fmla="*/ 2 h 174"/>
              <a:gd name="T20" fmla="*/ 291 w 311"/>
              <a:gd name="T21" fmla="*/ 7 h 174"/>
              <a:gd name="T22" fmla="*/ 294 w 311"/>
              <a:gd name="T23" fmla="*/ 12 h 174"/>
              <a:gd name="T24" fmla="*/ 298 w 311"/>
              <a:gd name="T25" fmla="*/ 16 h 174"/>
              <a:gd name="T26" fmla="*/ 299 w 311"/>
              <a:gd name="T27" fmla="*/ 21 h 174"/>
              <a:gd name="T28" fmla="*/ 303 w 311"/>
              <a:gd name="T29" fmla="*/ 26 h 174"/>
              <a:gd name="T30" fmla="*/ 304 w 311"/>
              <a:gd name="T31" fmla="*/ 31 h 174"/>
              <a:gd name="T32" fmla="*/ 306 w 311"/>
              <a:gd name="T33" fmla="*/ 38 h 174"/>
              <a:gd name="T34" fmla="*/ 308 w 311"/>
              <a:gd name="T35" fmla="*/ 43 h 174"/>
              <a:gd name="T36" fmla="*/ 311 w 311"/>
              <a:gd name="T37" fmla="*/ 41 h 174"/>
              <a:gd name="T38" fmla="*/ 0 w 311"/>
              <a:gd name="T39" fmla="*/ 132 h 174"/>
              <a:gd name="T40" fmla="*/ 1 w 311"/>
              <a:gd name="T41" fmla="*/ 137 h 174"/>
              <a:gd name="T42" fmla="*/ 3 w 311"/>
              <a:gd name="T43" fmla="*/ 144 h 174"/>
              <a:gd name="T44" fmla="*/ 5 w 311"/>
              <a:gd name="T45" fmla="*/ 149 h 174"/>
              <a:gd name="T46" fmla="*/ 8 w 311"/>
              <a:gd name="T47" fmla="*/ 154 h 174"/>
              <a:gd name="T48" fmla="*/ 10 w 311"/>
              <a:gd name="T49" fmla="*/ 159 h 174"/>
              <a:gd name="T50" fmla="*/ 13 w 311"/>
              <a:gd name="T51" fmla="*/ 164 h 174"/>
              <a:gd name="T52" fmla="*/ 15 w 311"/>
              <a:gd name="T53" fmla="*/ 169 h 174"/>
              <a:gd name="T54" fmla="*/ 18 w 311"/>
              <a:gd name="T55" fmla="*/ 174 h 174"/>
              <a:gd name="T56" fmla="*/ 21 w 311"/>
              <a:gd name="T57" fmla="*/ 172 h 174"/>
              <a:gd name="T58" fmla="*/ 18 w 311"/>
              <a:gd name="T59" fmla="*/ 167 h 174"/>
              <a:gd name="T60" fmla="*/ 15 w 311"/>
              <a:gd name="T61" fmla="*/ 162 h 174"/>
              <a:gd name="T62" fmla="*/ 13 w 311"/>
              <a:gd name="T63" fmla="*/ 157 h 174"/>
              <a:gd name="T64" fmla="*/ 10 w 311"/>
              <a:gd name="T65" fmla="*/ 152 h 174"/>
              <a:gd name="T66" fmla="*/ 8 w 311"/>
              <a:gd name="T67" fmla="*/ 147 h 174"/>
              <a:gd name="T68" fmla="*/ 6 w 311"/>
              <a:gd name="T69" fmla="*/ 142 h 174"/>
              <a:gd name="T70" fmla="*/ 5 w 311"/>
              <a:gd name="T71" fmla="*/ 137 h 174"/>
              <a:gd name="T72" fmla="*/ 3 w 311"/>
              <a:gd name="T73" fmla="*/ 131 h 174"/>
              <a:gd name="T74" fmla="*/ 0 w 311"/>
              <a:gd name="T75" fmla="*/ 132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11" h="174">
                <a:moveTo>
                  <a:pt x="311" y="41"/>
                </a:moveTo>
                <a:lnTo>
                  <a:pt x="309" y="36"/>
                </a:lnTo>
                <a:lnTo>
                  <a:pt x="308" y="31"/>
                </a:lnTo>
                <a:lnTo>
                  <a:pt x="304" y="25"/>
                </a:lnTo>
                <a:lnTo>
                  <a:pt x="303" y="20"/>
                </a:lnTo>
                <a:lnTo>
                  <a:pt x="301" y="15"/>
                </a:lnTo>
                <a:lnTo>
                  <a:pt x="298" y="10"/>
                </a:lnTo>
                <a:lnTo>
                  <a:pt x="294" y="5"/>
                </a:lnTo>
                <a:lnTo>
                  <a:pt x="291" y="0"/>
                </a:lnTo>
                <a:lnTo>
                  <a:pt x="289" y="2"/>
                </a:lnTo>
                <a:lnTo>
                  <a:pt x="291" y="7"/>
                </a:lnTo>
                <a:lnTo>
                  <a:pt x="294" y="12"/>
                </a:lnTo>
                <a:lnTo>
                  <a:pt x="298" y="16"/>
                </a:lnTo>
                <a:lnTo>
                  <a:pt x="299" y="21"/>
                </a:lnTo>
                <a:lnTo>
                  <a:pt x="303" y="26"/>
                </a:lnTo>
                <a:lnTo>
                  <a:pt x="304" y="31"/>
                </a:lnTo>
                <a:lnTo>
                  <a:pt x="306" y="38"/>
                </a:lnTo>
                <a:lnTo>
                  <a:pt x="308" y="43"/>
                </a:lnTo>
                <a:lnTo>
                  <a:pt x="311" y="41"/>
                </a:lnTo>
                <a:close/>
                <a:moveTo>
                  <a:pt x="0" y="132"/>
                </a:moveTo>
                <a:lnTo>
                  <a:pt x="1" y="137"/>
                </a:lnTo>
                <a:lnTo>
                  <a:pt x="3" y="144"/>
                </a:lnTo>
                <a:lnTo>
                  <a:pt x="5" y="149"/>
                </a:lnTo>
                <a:lnTo>
                  <a:pt x="8" y="154"/>
                </a:lnTo>
                <a:lnTo>
                  <a:pt x="10" y="159"/>
                </a:lnTo>
                <a:lnTo>
                  <a:pt x="13" y="164"/>
                </a:lnTo>
                <a:lnTo>
                  <a:pt x="15" y="169"/>
                </a:lnTo>
                <a:lnTo>
                  <a:pt x="18" y="174"/>
                </a:lnTo>
                <a:lnTo>
                  <a:pt x="21" y="172"/>
                </a:lnTo>
                <a:lnTo>
                  <a:pt x="18" y="167"/>
                </a:lnTo>
                <a:lnTo>
                  <a:pt x="15" y="162"/>
                </a:lnTo>
                <a:lnTo>
                  <a:pt x="13" y="157"/>
                </a:lnTo>
                <a:lnTo>
                  <a:pt x="10" y="152"/>
                </a:lnTo>
                <a:lnTo>
                  <a:pt x="8" y="147"/>
                </a:lnTo>
                <a:lnTo>
                  <a:pt x="6" y="142"/>
                </a:lnTo>
                <a:lnTo>
                  <a:pt x="5" y="137"/>
                </a:lnTo>
                <a:lnTo>
                  <a:pt x="3" y="131"/>
                </a:lnTo>
                <a:lnTo>
                  <a:pt x="0" y="132"/>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10" name="Freeform 1915">
            <a:extLst>
              <a:ext uri="{FF2B5EF4-FFF2-40B4-BE49-F238E27FC236}">
                <a16:creationId xmlns:a16="http://schemas.microsoft.com/office/drawing/2014/main" id="{97FFEF90-F697-9147-134B-FF506B3A0F3D}"/>
              </a:ext>
            </a:extLst>
          </p:cNvPr>
          <p:cNvSpPr>
            <a:spLocks noEditPoints="1"/>
          </p:cNvSpPr>
          <p:nvPr/>
        </p:nvSpPr>
        <p:spPr bwMode="auto">
          <a:xfrm>
            <a:off x="3275013" y="2463800"/>
            <a:ext cx="488950" cy="273050"/>
          </a:xfrm>
          <a:custGeom>
            <a:avLst/>
            <a:gdLst>
              <a:gd name="T0" fmla="*/ 308 w 308"/>
              <a:gd name="T1" fmla="*/ 43 h 172"/>
              <a:gd name="T2" fmla="*/ 307 w 308"/>
              <a:gd name="T3" fmla="*/ 36 h 172"/>
              <a:gd name="T4" fmla="*/ 305 w 308"/>
              <a:gd name="T5" fmla="*/ 31 h 172"/>
              <a:gd name="T6" fmla="*/ 303 w 308"/>
              <a:gd name="T7" fmla="*/ 26 h 172"/>
              <a:gd name="T8" fmla="*/ 300 w 308"/>
              <a:gd name="T9" fmla="*/ 21 h 172"/>
              <a:gd name="T10" fmla="*/ 298 w 308"/>
              <a:gd name="T11" fmla="*/ 15 h 172"/>
              <a:gd name="T12" fmla="*/ 295 w 308"/>
              <a:gd name="T13" fmla="*/ 10 h 172"/>
              <a:gd name="T14" fmla="*/ 292 w 308"/>
              <a:gd name="T15" fmla="*/ 5 h 172"/>
              <a:gd name="T16" fmla="*/ 290 w 308"/>
              <a:gd name="T17" fmla="*/ 0 h 172"/>
              <a:gd name="T18" fmla="*/ 287 w 308"/>
              <a:gd name="T19" fmla="*/ 2 h 172"/>
              <a:gd name="T20" fmla="*/ 290 w 308"/>
              <a:gd name="T21" fmla="*/ 7 h 172"/>
              <a:gd name="T22" fmla="*/ 292 w 308"/>
              <a:gd name="T23" fmla="*/ 12 h 172"/>
              <a:gd name="T24" fmla="*/ 295 w 308"/>
              <a:gd name="T25" fmla="*/ 16 h 172"/>
              <a:gd name="T26" fmla="*/ 297 w 308"/>
              <a:gd name="T27" fmla="*/ 21 h 172"/>
              <a:gd name="T28" fmla="*/ 300 w 308"/>
              <a:gd name="T29" fmla="*/ 28 h 172"/>
              <a:gd name="T30" fmla="*/ 302 w 308"/>
              <a:gd name="T31" fmla="*/ 33 h 172"/>
              <a:gd name="T32" fmla="*/ 303 w 308"/>
              <a:gd name="T33" fmla="*/ 38 h 172"/>
              <a:gd name="T34" fmla="*/ 305 w 308"/>
              <a:gd name="T35" fmla="*/ 45 h 172"/>
              <a:gd name="T36" fmla="*/ 308 w 308"/>
              <a:gd name="T37" fmla="*/ 43 h 172"/>
              <a:gd name="T38" fmla="*/ 0 w 308"/>
              <a:gd name="T39" fmla="*/ 132 h 172"/>
              <a:gd name="T40" fmla="*/ 2 w 308"/>
              <a:gd name="T41" fmla="*/ 137 h 172"/>
              <a:gd name="T42" fmla="*/ 4 w 308"/>
              <a:gd name="T43" fmla="*/ 142 h 172"/>
              <a:gd name="T44" fmla="*/ 5 w 308"/>
              <a:gd name="T45" fmla="*/ 147 h 172"/>
              <a:gd name="T46" fmla="*/ 9 w 308"/>
              <a:gd name="T47" fmla="*/ 152 h 172"/>
              <a:gd name="T48" fmla="*/ 10 w 308"/>
              <a:gd name="T49" fmla="*/ 159 h 172"/>
              <a:gd name="T50" fmla="*/ 14 w 308"/>
              <a:gd name="T51" fmla="*/ 164 h 172"/>
              <a:gd name="T52" fmla="*/ 15 w 308"/>
              <a:gd name="T53" fmla="*/ 167 h 172"/>
              <a:gd name="T54" fmla="*/ 19 w 308"/>
              <a:gd name="T55" fmla="*/ 172 h 172"/>
              <a:gd name="T56" fmla="*/ 22 w 308"/>
              <a:gd name="T57" fmla="*/ 170 h 172"/>
              <a:gd name="T58" fmla="*/ 19 w 308"/>
              <a:gd name="T59" fmla="*/ 167 h 172"/>
              <a:gd name="T60" fmla="*/ 15 w 308"/>
              <a:gd name="T61" fmla="*/ 162 h 172"/>
              <a:gd name="T62" fmla="*/ 14 w 308"/>
              <a:gd name="T63" fmla="*/ 157 h 172"/>
              <a:gd name="T64" fmla="*/ 10 w 308"/>
              <a:gd name="T65" fmla="*/ 152 h 172"/>
              <a:gd name="T66" fmla="*/ 9 w 308"/>
              <a:gd name="T67" fmla="*/ 147 h 172"/>
              <a:gd name="T68" fmla="*/ 7 w 308"/>
              <a:gd name="T69" fmla="*/ 141 h 172"/>
              <a:gd name="T70" fmla="*/ 5 w 308"/>
              <a:gd name="T71" fmla="*/ 136 h 172"/>
              <a:gd name="T72" fmla="*/ 4 w 308"/>
              <a:gd name="T73" fmla="*/ 131 h 172"/>
              <a:gd name="T74" fmla="*/ 0 w 308"/>
              <a:gd name="T75" fmla="*/ 132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08" h="172">
                <a:moveTo>
                  <a:pt x="308" y="43"/>
                </a:moveTo>
                <a:lnTo>
                  <a:pt x="307" y="36"/>
                </a:lnTo>
                <a:lnTo>
                  <a:pt x="305" y="31"/>
                </a:lnTo>
                <a:lnTo>
                  <a:pt x="303" y="26"/>
                </a:lnTo>
                <a:lnTo>
                  <a:pt x="300" y="21"/>
                </a:lnTo>
                <a:lnTo>
                  <a:pt x="298" y="15"/>
                </a:lnTo>
                <a:lnTo>
                  <a:pt x="295" y="10"/>
                </a:lnTo>
                <a:lnTo>
                  <a:pt x="292" y="5"/>
                </a:lnTo>
                <a:lnTo>
                  <a:pt x="290" y="0"/>
                </a:lnTo>
                <a:lnTo>
                  <a:pt x="287" y="2"/>
                </a:lnTo>
                <a:lnTo>
                  <a:pt x="290" y="7"/>
                </a:lnTo>
                <a:lnTo>
                  <a:pt x="292" y="12"/>
                </a:lnTo>
                <a:lnTo>
                  <a:pt x="295" y="16"/>
                </a:lnTo>
                <a:lnTo>
                  <a:pt x="297" y="21"/>
                </a:lnTo>
                <a:lnTo>
                  <a:pt x="300" y="28"/>
                </a:lnTo>
                <a:lnTo>
                  <a:pt x="302" y="33"/>
                </a:lnTo>
                <a:lnTo>
                  <a:pt x="303" y="38"/>
                </a:lnTo>
                <a:lnTo>
                  <a:pt x="305" y="45"/>
                </a:lnTo>
                <a:lnTo>
                  <a:pt x="308" y="43"/>
                </a:lnTo>
                <a:close/>
                <a:moveTo>
                  <a:pt x="0" y="132"/>
                </a:moveTo>
                <a:lnTo>
                  <a:pt x="2" y="137"/>
                </a:lnTo>
                <a:lnTo>
                  <a:pt x="4" y="142"/>
                </a:lnTo>
                <a:lnTo>
                  <a:pt x="5" y="147"/>
                </a:lnTo>
                <a:lnTo>
                  <a:pt x="9" y="152"/>
                </a:lnTo>
                <a:lnTo>
                  <a:pt x="10" y="159"/>
                </a:lnTo>
                <a:lnTo>
                  <a:pt x="14" y="164"/>
                </a:lnTo>
                <a:lnTo>
                  <a:pt x="15" y="167"/>
                </a:lnTo>
                <a:lnTo>
                  <a:pt x="19" y="172"/>
                </a:lnTo>
                <a:lnTo>
                  <a:pt x="22" y="170"/>
                </a:lnTo>
                <a:lnTo>
                  <a:pt x="19" y="167"/>
                </a:lnTo>
                <a:lnTo>
                  <a:pt x="15" y="162"/>
                </a:lnTo>
                <a:lnTo>
                  <a:pt x="14" y="157"/>
                </a:lnTo>
                <a:lnTo>
                  <a:pt x="10" y="152"/>
                </a:lnTo>
                <a:lnTo>
                  <a:pt x="9" y="147"/>
                </a:lnTo>
                <a:lnTo>
                  <a:pt x="7" y="141"/>
                </a:lnTo>
                <a:lnTo>
                  <a:pt x="5" y="136"/>
                </a:lnTo>
                <a:lnTo>
                  <a:pt x="4" y="131"/>
                </a:lnTo>
                <a:lnTo>
                  <a:pt x="0" y="132"/>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11" name="Freeform 1916">
            <a:extLst>
              <a:ext uri="{FF2B5EF4-FFF2-40B4-BE49-F238E27FC236}">
                <a16:creationId xmlns:a16="http://schemas.microsoft.com/office/drawing/2014/main" id="{B45F6F4F-C62F-8DDC-B7DE-6B6772A12B4B}"/>
              </a:ext>
            </a:extLst>
          </p:cNvPr>
          <p:cNvSpPr>
            <a:spLocks noEditPoints="1"/>
          </p:cNvSpPr>
          <p:nvPr/>
        </p:nvSpPr>
        <p:spPr bwMode="auto">
          <a:xfrm>
            <a:off x="3278188" y="2466975"/>
            <a:ext cx="484188" cy="269875"/>
          </a:xfrm>
          <a:custGeom>
            <a:avLst/>
            <a:gdLst>
              <a:gd name="T0" fmla="*/ 305 w 305"/>
              <a:gd name="T1" fmla="*/ 41 h 170"/>
              <a:gd name="T2" fmla="*/ 303 w 305"/>
              <a:gd name="T3" fmla="*/ 36 h 170"/>
              <a:gd name="T4" fmla="*/ 301 w 305"/>
              <a:gd name="T5" fmla="*/ 29 h 170"/>
              <a:gd name="T6" fmla="*/ 300 w 305"/>
              <a:gd name="T7" fmla="*/ 24 h 170"/>
              <a:gd name="T8" fmla="*/ 296 w 305"/>
              <a:gd name="T9" fmla="*/ 19 h 170"/>
              <a:gd name="T10" fmla="*/ 295 w 305"/>
              <a:gd name="T11" fmla="*/ 14 h 170"/>
              <a:gd name="T12" fmla="*/ 291 w 305"/>
              <a:gd name="T13" fmla="*/ 10 h 170"/>
              <a:gd name="T14" fmla="*/ 288 w 305"/>
              <a:gd name="T15" fmla="*/ 5 h 170"/>
              <a:gd name="T16" fmla="*/ 286 w 305"/>
              <a:gd name="T17" fmla="*/ 0 h 170"/>
              <a:gd name="T18" fmla="*/ 283 w 305"/>
              <a:gd name="T19" fmla="*/ 1 h 170"/>
              <a:gd name="T20" fmla="*/ 286 w 305"/>
              <a:gd name="T21" fmla="*/ 5 h 170"/>
              <a:gd name="T22" fmla="*/ 288 w 305"/>
              <a:gd name="T23" fmla="*/ 10 h 170"/>
              <a:gd name="T24" fmla="*/ 291 w 305"/>
              <a:gd name="T25" fmla="*/ 16 h 170"/>
              <a:gd name="T26" fmla="*/ 293 w 305"/>
              <a:gd name="T27" fmla="*/ 21 h 170"/>
              <a:gd name="T28" fmla="*/ 296 w 305"/>
              <a:gd name="T29" fmla="*/ 26 h 170"/>
              <a:gd name="T30" fmla="*/ 298 w 305"/>
              <a:gd name="T31" fmla="*/ 31 h 170"/>
              <a:gd name="T32" fmla="*/ 300 w 305"/>
              <a:gd name="T33" fmla="*/ 38 h 170"/>
              <a:gd name="T34" fmla="*/ 301 w 305"/>
              <a:gd name="T35" fmla="*/ 43 h 170"/>
              <a:gd name="T36" fmla="*/ 305 w 305"/>
              <a:gd name="T37" fmla="*/ 41 h 170"/>
              <a:gd name="T38" fmla="*/ 0 w 305"/>
              <a:gd name="T39" fmla="*/ 129 h 170"/>
              <a:gd name="T40" fmla="*/ 2 w 305"/>
              <a:gd name="T41" fmla="*/ 135 h 170"/>
              <a:gd name="T42" fmla="*/ 3 w 305"/>
              <a:gd name="T43" fmla="*/ 140 h 170"/>
              <a:gd name="T44" fmla="*/ 5 w 305"/>
              <a:gd name="T45" fmla="*/ 145 h 170"/>
              <a:gd name="T46" fmla="*/ 7 w 305"/>
              <a:gd name="T47" fmla="*/ 150 h 170"/>
              <a:gd name="T48" fmla="*/ 10 w 305"/>
              <a:gd name="T49" fmla="*/ 155 h 170"/>
              <a:gd name="T50" fmla="*/ 12 w 305"/>
              <a:gd name="T51" fmla="*/ 160 h 170"/>
              <a:gd name="T52" fmla="*/ 15 w 305"/>
              <a:gd name="T53" fmla="*/ 165 h 170"/>
              <a:gd name="T54" fmla="*/ 18 w 305"/>
              <a:gd name="T55" fmla="*/ 170 h 170"/>
              <a:gd name="T56" fmla="*/ 21 w 305"/>
              <a:gd name="T57" fmla="*/ 168 h 170"/>
              <a:gd name="T58" fmla="*/ 18 w 305"/>
              <a:gd name="T59" fmla="*/ 163 h 170"/>
              <a:gd name="T60" fmla="*/ 15 w 305"/>
              <a:gd name="T61" fmla="*/ 159 h 170"/>
              <a:gd name="T62" fmla="*/ 13 w 305"/>
              <a:gd name="T63" fmla="*/ 154 h 170"/>
              <a:gd name="T64" fmla="*/ 10 w 305"/>
              <a:gd name="T65" fmla="*/ 149 h 170"/>
              <a:gd name="T66" fmla="*/ 8 w 305"/>
              <a:gd name="T67" fmla="*/ 144 h 170"/>
              <a:gd name="T68" fmla="*/ 7 w 305"/>
              <a:gd name="T69" fmla="*/ 139 h 170"/>
              <a:gd name="T70" fmla="*/ 5 w 305"/>
              <a:gd name="T71" fmla="*/ 134 h 170"/>
              <a:gd name="T72" fmla="*/ 3 w 305"/>
              <a:gd name="T73" fmla="*/ 127 h 170"/>
              <a:gd name="T74" fmla="*/ 0 w 305"/>
              <a:gd name="T75" fmla="*/ 12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05" h="170">
                <a:moveTo>
                  <a:pt x="305" y="41"/>
                </a:moveTo>
                <a:lnTo>
                  <a:pt x="303" y="36"/>
                </a:lnTo>
                <a:lnTo>
                  <a:pt x="301" y="29"/>
                </a:lnTo>
                <a:lnTo>
                  <a:pt x="300" y="24"/>
                </a:lnTo>
                <a:lnTo>
                  <a:pt x="296" y="19"/>
                </a:lnTo>
                <a:lnTo>
                  <a:pt x="295" y="14"/>
                </a:lnTo>
                <a:lnTo>
                  <a:pt x="291" y="10"/>
                </a:lnTo>
                <a:lnTo>
                  <a:pt x="288" y="5"/>
                </a:lnTo>
                <a:lnTo>
                  <a:pt x="286" y="0"/>
                </a:lnTo>
                <a:lnTo>
                  <a:pt x="283" y="1"/>
                </a:lnTo>
                <a:lnTo>
                  <a:pt x="286" y="5"/>
                </a:lnTo>
                <a:lnTo>
                  <a:pt x="288" y="10"/>
                </a:lnTo>
                <a:lnTo>
                  <a:pt x="291" y="16"/>
                </a:lnTo>
                <a:lnTo>
                  <a:pt x="293" y="21"/>
                </a:lnTo>
                <a:lnTo>
                  <a:pt x="296" y="26"/>
                </a:lnTo>
                <a:lnTo>
                  <a:pt x="298" y="31"/>
                </a:lnTo>
                <a:lnTo>
                  <a:pt x="300" y="38"/>
                </a:lnTo>
                <a:lnTo>
                  <a:pt x="301" y="43"/>
                </a:lnTo>
                <a:lnTo>
                  <a:pt x="305" y="41"/>
                </a:lnTo>
                <a:close/>
                <a:moveTo>
                  <a:pt x="0" y="129"/>
                </a:moveTo>
                <a:lnTo>
                  <a:pt x="2" y="135"/>
                </a:lnTo>
                <a:lnTo>
                  <a:pt x="3" y="140"/>
                </a:lnTo>
                <a:lnTo>
                  <a:pt x="5" y="145"/>
                </a:lnTo>
                <a:lnTo>
                  <a:pt x="7" y="150"/>
                </a:lnTo>
                <a:lnTo>
                  <a:pt x="10" y="155"/>
                </a:lnTo>
                <a:lnTo>
                  <a:pt x="12" y="160"/>
                </a:lnTo>
                <a:lnTo>
                  <a:pt x="15" y="165"/>
                </a:lnTo>
                <a:lnTo>
                  <a:pt x="18" y="170"/>
                </a:lnTo>
                <a:lnTo>
                  <a:pt x="21" y="168"/>
                </a:lnTo>
                <a:lnTo>
                  <a:pt x="18" y="163"/>
                </a:lnTo>
                <a:lnTo>
                  <a:pt x="15" y="159"/>
                </a:lnTo>
                <a:lnTo>
                  <a:pt x="13" y="154"/>
                </a:lnTo>
                <a:lnTo>
                  <a:pt x="10" y="149"/>
                </a:lnTo>
                <a:lnTo>
                  <a:pt x="8" y="144"/>
                </a:lnTo>
                <a:lnTo>
                  <a:pt x="7" y="139"/>
                </a:lnTo>
                <a:lnTo>
                  <a:pt x="5" y="134"/>
                </a:lnTo>
                <a:lnTo>
                  <a:pt x="3" y="127"/>
                </a:lnTo>
                <a:lnTo>
                  <a:pt x="0" y="129"/>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12" name="Freeform 1917">
            <a:extLst>
              <a:ext uri="{FF2B5EF4-FFF2-40B4-BE49-F238E27FC236}">
                <a16:creationId xmlns:a16="http://schemas.microsoft.com/office/drawing/2014/main" id="{488DF8E0-FE75-8372-7C85-F27A33D7BC04}"/>
              </a:ext>
            </a:extLst>
          </p:cNvPr>
          <p:cNvSpPr>
            <a:spLocks noEditPoints="1"/>
          </p:cNvSpPr>
          <p:nvPr/>
        </p:nvSpPr>
        <p:spPr bwMode="auto">
          <a:xfrm>
            <a:off x="3281363" y="2466975"/>
            <a:ext cx="477838" cy="266700"/>
          </a:xfrm>
          <a:custGeom>
            <a:avLst/>
            <a:gdLst>
              <a:gd name="T0" fmla="*/ 301 w 301"/>
              <a:gd name="T1" fmla="*/ 43 h 168"/>
              <a:gd name="T2" fmla="*/ 299 w 301"/>
              <a:gd name="T3" fmla="*/ 36 h 168"/>
              <a:gd name="T4" fmla="*/ 298 w 301"/>
              <a:gd name="T5" fmla="*/ 31 h 168"/>
              <a:gd name="T6" fmla="*/ 296 w 301"/>
              <a:gd name="T7" fmla="*/ 26 h 168"/>
              <a:gd name="T8" fmla="*/ 293 w 301"/>
              <a:gd name="T9" fmla="*/ 19 h 168"/>
              <a:gd name="T10" fmla="*/ 291 w 301"/>
              <a:gd name="T11" fmla="*/ 14 h 168"/>
              <a:gd name="T12" fmla="*/ 288 w 301"/>
              <a:gd name="T13" fmla="*/ 10 h 168"/>
              <a:gd name="T14" fmla="*/ 286 w 301"/>
              <a:gd name="T15" fmla="*/ 5 h 168"/>
              <a:gd name="T16" fmla="*/ 283 w 301"/>
              <a:gd name="T17" fmla="*/ 0 h 168"/>
              <a:gd name="T18" fmla="*/ 279 w 301"/>
              <a:gd name="T19" fmla="*/ 1 h 168"/>
              <a:gd name="T20" fmla="*/ 283 w 301"/>
              <a:gd name="T21" fmla="*/ 6 h 168"/>
              <a:gd name="T22" fmla="*/ 284 w 301"/>
              <a:gd name="T23" fmla="*/ 11 h 168"/>
              <a:gd name="T24" fmla="*/ 288 w 301"/>
              <a:gd name="T25" fmla="*/ 16 h 168"/>
              <a:gd name="T26" fmla="*/ 291 w 301"/>
              <a:gd name="T27" fmla="*/ 21 h 168"/>
              <a:gd name="T28" fmla="*/ 293 w 301"/>
              <a:gd name="T29" fmla="*/ 26 h 168"/>
              <a:gd name="T30" fmla="*/ 294 w 301"/>
              <a:gd name="T31" fmla="*/ 33 h 168"/>
              <a:gd name="T32" fmla="*/ 296 w 301"/>
              <a:gd name="T33" fmla="*/ 38 h 168"/>
              <a:gd name="T34" fmla="*/ 298 w 301"/>
              <a:gd name="T35" fmla="*/ 43 h 168"/>
              <a:gd name="T36" fmla="*/ 301 w 301"/>
              <a:gd name="T37" fmla="*/ 43 h 168"/>
              <a:gd name="T38" fmla="*/ 0 w 301"/>
              <a:gd name="T39" fmla="*/ 129 h 168"/>
              <a:gd name="T40" fmla="*/ 1 w 301"/>
              <a:gd name="T41" fmla="*/ 134 h 168"/>
              <a:gd name="T42" fmla="*/ 3 w 301"/>
              <a:gd name="T43" fmla="*/ 139 h 168"/>
              <a:gd name="T44" fmla="*/ 5 w 301"/>
              <a:gd name="T45" fmla="*/ 145 h 168"/>
              <a:gd name="T46" fmla="*/ 6 w 301"/>
              <a:gd name="T47" fmla="*/ 150 h 168"/>
              <a:gd name="T48" fmla="*/ 10 w 301"/>
              <a:gd name="T49" fmla="*/ 155 h 168"/>
              <a:gd name="T50" fmla="*/ 11 w 301"/>
              <a:gd name="T51" fmla="*/ 160 h 168"/>
              <a:gd name="T52" fmla="*/ 15 w 301"/>
              <a:gd name="T53" fmla="*/ 165 h 168"/>
              <a:gd name="T54" fmla="*/ 18 w 301"/>
              <a:gd name="T55" fmla="*/ 168 h 168"/>
              <a:gd name="T56" fmla="*/ 21 w 301"/>
              <a:gd name="T57" fmla="*/ 168 h 168"/>
              <a:gd name="T58" fmla="*/ 18 w 301"/>
              <a:gd name="T59" fmla="*/ 163 h 168"/>
              <a:gd name="T60" fmla="*/ 15 w 301"/>
              <a:gd name="T61" fmla="*/ 159 h 168"/>
              <a:gd name="T62" fmla="*/ 13 w 301"/>
              <a:gd name="T63" fmla="*/ 154 h 168"/>
              <a:gd name="T64" fmla="*/ 10 w 301"/>
              <a:gd name="T65" fmla="*/ 149 h 168"/>
              <a:gd name="T66" fmla="*/ 8 w 301"/>
              <a:gd name="T67" fmla="*/ 144 h 168"/>
              <a:gd name="T68" fmla="*/ 6 w 301"/>
              <a:gd name="T69" fmla="*/ 139 h 168"/>
              <a:gd name="T70" fmla="*/ 3 w 301"/>
              <a:gd name="T71" fmla="*/ 132 h 168"/>
              <a:gd name="T72" fmla="*/ 1 w 301"/>
              <a:gd name="T73" fmla="*/ 127 h 168"/>
              <a:gd name="T74" fmla="*/ 0 w 301"/>
              <a:gd name="T75" fmla="*/ 129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01" h="168">
                <a:moveTo>
                  <a:pt x="301" y="43"/>
                </a:moveTo>
                <a:lnTo>
                  <a:pt x="299" y="36"/>
                </a:lnTo>
                <a:lnTo>
                  <a:pt x="298" y="31"/>
                </a:lnTo>
                <a:lnTo>
                  <a:pt x="296" y="26"/>
                </a:lnTo>
                <a:lnTo>
                  <a:pt x="293" y="19"/>
                </a:lnTo>
                <a:lnTo>
                  <a:pt x="291" y="14"/>
                </a:lnTo>
                <a:lnTo>
                  <a:pt x="288" y="10"/>
                </a:lnTo>
                <a:lnTo>
                  <a:pt x="286" y="5"/>
                </a:lnTo>
                <a:lnTo>
                  <a:pt x="283" y="0"/>
                </a:lnTo>
                <a:lnTo>
                  <a:pt x="279" y="1"/>
                </a:lnTo>
                <a:lnTo>
                  <a:pt x="283" y="6"/>
                </a:lnTo>
                <a:lnTo>
                  <a:pt x="284" y="11"/>
                </a:lnTo>
                <a:lnTo>
                  <a:pt x="288" y="16"/>
                </a:lnTo>
                <a:lnTo>
                  <a:pt x="291" y="21"/>
                </a:lnTo>
                <a:lnTo>
                  <a:pt x="293" y="26"/>
                </a:lnTo>
                <a:lnTo>
                  <a:pt x="294" y="33"/>
                </a:lnTo>
                <a:lnTo>
                  <a:pt x="296" y="38"/>
                </a:lnTo>
                <a:lnTo>
                  <a:pt x="298" y="43"/>
                </a:lnTo>
                <a:lnTo>
                  <a:pt x="301" y="43"/>
                </a:lnTo>
                <a:close/>
                <a:moveTo>
                  <a:pt x="0" y="129"/>
                </a:moveTo>
                <a:lnTo>
                  <a:pt x="1" y="134"/>
                </a:lnTo>
                <a:lnTo>
                  <a:pt x="3" y="139"/>
                </a:lnTo>
                <a:lnTo>
                  <a:pt x="5" y="145"/>
                </a:lnTo>
                <a:lnTo>
                  <a:pt x="6" y="150"/>
                </a:lnTo>
                <a:lnTo>
                  <a:pt x="10" y="155"/>
                </a:lnTo>
                <a:lnTo>
                  <a:pt x="11" y="160"/>
                </a:lnTo>
                <a:lnTo>
                  <a:pt x="15" y="165"/>
                </a:lnTo>
                <a:lnTo>
                  <a:pt x="18" y="168"/>
                </a:lnTo>
                <a:lnTo>
                  <a:pt x="21" y="168"/>
                </a:lnTo>
                <a:lnTo>
                  <a:pt x="18" y="163"/>
                </a:lnTo>
                <a:lnTo>
                  <a:pt x="15" y="159"/>
                </a:lnTo>
                <a:lnTo>
                  <a:pt x="13" y="154"/>
                </a:lnTo>
                <a:lnTo>
                  <a:pt x="10" y="149"/>
                </a:lnTo>
                <a:lnTo>
                  <a:pt x="8" y="144"/>
                </a:lnTo>
                <a:lnTo>
                  <a:pt x="6" y="139"/>
                </a:lnTo>
                <a:lnTo>
                  <a:pt x="3" y="132"/>
                </a:lnTo>
                <a:lnTo>
                  <a:pt x="1" y="127"/>
                </a:lnTo>
                <a:lnTo>
                  <a:pt x="0" y="129"/>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13" name="Freeform 1918">
            <a:extLst>
              <a:ext uri="{FF2B5EF4-FFF2-40B4-BE49-F238E27FC236}">
                <a16:creationId xmlns:a16="http://schemas.microsoft.com/office/drawing/2014/main" id="{E25B4CB1-DF0D-E370-C764-644906104DEF}"/>
              </a:ext>
            </a:extLst>
          </p:cNvPr>
          <p:cNvSpPr>
            <a:spLocks noEditPoints="1"/>
          </p:cNvSpPr>
          <p:nvPr/>
        </p:nvSpPr>
        <p:spPr bwMode="auto">
          <a:xfrm>
            <a:off x="3282950" y="2468563"/>
            <a:ext cx="473075" cy="265113"/>
          </a:xfrm>
          <a:custGeom>
            <a:avLst/>
            <a:gdLst>
              <a:gd name="T0" fmla="*/ 298 w 298"/>
              <a:gd name="T1" fmla="*/ 42 h 167"/>
              <a:gd name="T2" fmla="*/ 297 w 298"/>
              <a:gd name="T3" fmla="*/ 37 h 167"/>
              <a:gd name="T4" fmla="*/ 295 w 298"/>
              <a:gd name="T5" fmla="*/ 30 h 167"/>
              <a:gd name="T6" fmla="*/ 293 w 298"/>
              <a:gd name="T7" fmla="*/ 25 h 167"/>
              <a:gd name="T8" fmla="*/ 290 w 298"/>
              <a:gd name="T9" fmla="*/ 20 h 167"/>
              <a:gd name="T10" fmla="*/ 288 w 298"/>
              <a:gd name="T11" fmla="*/ 15 h 167"/>
              <a:gd name="T12" fmla="*/ 285 w 298"/>
              <a:gd name="T13" fmla="*/ 9 h 167"/>
              <a:gd name="T14" fmla="*/ 283 w 298"/>
              <a:gd name="T15" fmla="*/ 4 h 167"/>
              <a:gd name="T16" fmla="*/ 280 w 298"/>
              <a:gd name="T17" fmla="*/ 0 h 167"/>
              <a:gd name="T18" fmla="*/ 277 w 298"/>
              <a:gd name="T19" fmla="*/ 0 h 167"/>
              <a:gd name="T20" fmla="*/ 280 w 298"/>
              <a:gd name="T21" fmla="*/ 5 h 167"/>
              <a:gd name="T22" fmla="*/ 283 w 298"/>
              <a:gd name="T23" fmla="*/ 10 h 167"/>
              <a:gd name="T24" fmla="*/ 285 w 298"/>
              <a:gd name="T25" fmla="*/ 15 h 167"/>
              <a:gd name="T26" fmla="*/ 288 w 298"/>
              <a:gd name="T27" fmla="*/ 22 h 167"/>
              <a:gd name="T28" fmla="*/ 290 w 298"/>
              <a:gd name="T29" fmla="*/ 27 h 167"/>
              <a:gd name="T30" fmla="*/ 292 w 298"/>
              <a:gd name="T31" fmla="*/ 32 h 167"/>
              <a:gd name="T32" fmla="*/ 293 w 298"/>
              <a:gd name="T33" fmla="*/ 37 h 167"/>
              <a:gd name="T34" fmla="*/ 295 w 298"/>
              <a:gd name="T35" fmla="*/ 43 h 167"/>
              <a:gd name="T36" fmla="*/ 298 w 298"/>
              <a:gd name="T37" fmla="*/ 42 h 167"/>
              <a:gd name="T38" fmla="*/ 0 w 298"/>
              <a:gd name="T39" fmla="*/ 126 h 167"/>
              <a:gd name="T40" fmla="*/ 2 w 298"/>
              <a:gd name="T41" fmla="*/ 133 h 167"/>
              <a:gd name="T42" fmla="*/ 4 w 298"/>
              <a:gd name="T43" fmla="*/ 138 h 167"/>
              <a:gd name="T44" fmla="*/ 5 w 298"/>
              <a:gd name="T45" fmla="*/ 143 h 167"/>
              <a:gd name="T46" fmla="*/ 7 w 298"/>
              <a:gd name="T47" fmla="*/ 148 h 167"/>
              <a:gd name="T48" fmla="*/ 10 w 298"/>
              <a:gd name="T49" fmla="*/ 153 h 167"/>
              <a:gd name="T50" fmla="*/ 12 w 298"/>
              <a:gd name="T51" fmla="*/ 158 h 167"/>
              <a:gd name="T52" fmla="*/ 15 w 298"/>
              <a:gd name="T53" fmla="*/ 162 h 167"/>
              <a:gd name="T54" fmla="*/ 18 w 298"/>
              <a:gd name="T55" fmla="*/ 167 h 167"/>
              <a:gd name="T56" fmla="*/ 22 w 298"/>
              <a:gd name="T57" fmla="*/ 166 h 167"/>
              <a:gd name="T58" fmla="*/ 18 w 298"/>
              <a:gd name="T59" fmla="*/ 161 h 167"/>
              <a:gd name="T60" fmla="*/ 15 w 298"/>
              <a:gd name="T61" fmla="*/ 156 h 167"/>
              <a:gd name="T62" fmla="*/ 14 w 298"/>
              <a:gd name="T63" fmla="*/ 151 h 167"/>
              <a:gd name="T64" fmla="*/ 10 w 298"/>
              <a:gd name="T65" fmla="*/ 146 h 167"/>
              <a:gd name="T66" fmla="*/ 9 w 298"/>
              <a:gd name="T67" fmla="*/ 141 h 167"/>
              <a:gd name="T68" fmla="*/ 7 w 298"/>
              <a:gd name="T69" fmla="*/ 136 h 167"/>
              <a:gd name="T70" fmla="*/ 4 w 298"/>
              <a:gd name="T71" fmla="*/ 131 h 167"/>
              <a:gd name="T72" fmla="*/ 2 w 298"/>
              <a:gd name="T73" fmla="*/ 126 h 167"/>
              <a:gd name="T74" fmla="*/ 0 w 298"/>
              <a:gd name="T75" fmla="*/ 126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98" h="167">
                <a:moveTo>
                  <a:pt x="298" y="42"/>
                </a:moveTo>
                <a:lnTo>
                  <a:pt x="297" y="37"/>
                </a:lnTo>
                <a:lnTo>
                  <a:pt x="295" y="30"/>
                </a:lnTo>
                <a:lnTo>
                  <a:pt x="293" y="25"/>
                </a:lnTo>
                <a:lnTo>
                  <a:pt x="290" y="20"/>
                </a:lnTo>
                <a:lnTo>
                  <a:pt x="288" y="15"/>
                </a:lnTo>
                <a:lnTo>
                  <a:pt x="285" y="9"/>
                </a:lnTo>
                <a:lnTo>
                  <a:pt x="283" y="4"/>
                </a:lnTo>
                <a:lnTo>
                  <a:pt x="280" y="0"/>
                </a:lnTo>
                <a:lnTo>
                  <a:pt x="277" y="0"/>
                </a:lnTo>
                <a:lnTo>
                  <a:pt x="280" y="5"/>
                </a:lnTo>
                <a:lnTo>
                  <a:pt x="283" y="10"/>
                </a:lnTo>
                <a:lnTo>
                  <a:pt x="285" y="15"/>
                </a:lnTo>
                <a:lnTo>
                  <a:pt x="288" y="22"/>
                </a:lnTo>
                <a:lnTo>
                  <a:pt x="290" y="27"/>
                </a:lnTo>
                <a:lnTo>
                  <a:pt x="292" y="32"/>
                </a:lnTo>
                <a:lnTo>
                  <a:pt x="293" y="37"/>
                </a:lnTo>
                <a:lnTo>
                  <a:pt x="295" y="43"/>
                </a:lnTo>
                <a:lnTo>
                  <a:pt x="298" y="42"/>
                </a:lnTo>
                <a:close/>
                <a:moveTo>
                  <a:pt x="0" y="126"/>
                </a:moveTo>
                <a:lnTo>
                  <a:pt x="2" y="133"/>
                </a:lnTo>
                <a:lnTo>
                  <a:pt x="4" y="138"/>
                </a:lnTo>
                <a:lnTo>
                  <a:pt x="5" y="143"/>
                </a:lnTo>
                <a:lnTo>
                  <a:pt x="7" y="148"/>
                </a:lnTo>
                <a:lnTo>
                  <a:pt x="10" y="153"/>
                </a:lnTo>
                <a:lnTo>
                  <a:pt x="12" y="158"/>
                </a:lnTo>
                <a:lnTo>
                  <a:pt x="15" y="162"/>
                </a:lnTo>
                <a:lnTo>
                  <a:pt x="18" y="167"/>
                </a:lnTo>
                <a:lnTo>
                  <a:pt x="22" y="166"/>
                </a:lnTo>
                <a:lnTo>
                  <a:pt x="18" y="161"/>
                </a:lnTo>
                <a:lnTo>
                  <a:pt x="15" y="156"/>
                </a:lnTo>
                <a:lnTo>
                  <a:pt x="14" y="151"/>
                </a:lnTo>
                <a:lnTo>
                  <a:pt x="10" y="146"/>
                </a:lnTo>
                <a:lnTo>
                  <a:pt x="9" y="141"/>
                </a:lnTo>
                <a:lnTo>
                  <a:pt x="7" y="136"/>
                </a:lnTo>
                <a:lnTo>
                  <a:pt x="4" y="131"/>
                </a:lnTo>
                <a:lnTo>
                  <a:pt x="2" y="126"/>
                </a:lnTo>
                <a:lnTo>
                  <a:pt x="0" y="126"/>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14" name="Freeform 1919">
            <a:extLst>
              <a:ext uri="{FF2B5EF4-FFF2-40B4-BE49-F238E27FC236}">
                <a16:creationId xmlns:a16="http://schemas.microsoft.com/office/drawing/2014/main" id="{2B711602-5811-8B44-9260-2E96A0B634D8}"/>
              </a:ext>
            </a:extLst>
          </p:cNvPr>
          <p:cNvSpPr>
            <a:spLocks noEditPoints="1"/>
          </p:cNvSpPr>
          <p:nvPr/>
        </p:nvSpPr>
        <p:spPr bwMode="auto">
          <a:xfrm>
            <a:off x="3282950" y="2468563"/>
            <a:ext cx="471488" cy="265113"/>
          </a:xfrm>
          <a:custGeom>
            <a:avLst/>
            <a:gdLst>
              <a:gd name="T0" fmla="*/ 297 w 297"/>
              <a:gd name="T1" fmla="*/ 42 h 167"/>
              <a:gd name="T2" fmla="*/ 295 w 297"/>
              <a:gd name="T3" fmla="*/ 37 h 167"/>
              <a:gd name="T4" fmla="*/ 293 w 297"/>
              <a:gd name="T5" fmla="*/ 32 h 167"/>
              <a:gd name="T6" fmla="*/ 292 w 297"/>
              <a:gd name="T7" fmla="*/ 25 h 167"/>
              <a:gd name="T8" fmla="*/ 290 w 297"/>
              <a:gd name="T9" fmla="*/ 20 h 167"/>
              <a:gd name="T10" fmla="*/ 287 w 297"/>
              <a:gd name="T11" fmla="*/ 15 h 167"/>
              <a:gd name="T12" fmla="*/ 283 w 297"/>
              <a:gd name="T13" fmla="*/ 10 h 167"/>
              <a:gd name="T14" fmla="*/ 282 w 297"/>
              <a:gd name="T15" fmla="*/ 5 h 167"/>
              <a:gd name="T16" fmla="*/ 278 w 297"/>
              <a:gd name="T17" fmla="*/ 0 h 167"/>
              <a:gd name="T18" fmla="*/ 275 w 297"/>
              <a:gd name="T19" fmla="*/ 2 h 167"/>
              <a:gd name="T20" fmla="*/ 278 w 297"/>
              <a:gd name="T21" fmla="*/ 7 h 167"/>
              <a:gd name="T22" fmla="*/ 282 w 297"/>
              <a:gd name="T23" fmla="*/ 12 h 167"/>
              <a:gd name="T24" fmla="*/ 283 w 297"/>
              <a:gd name="T25" fmla="*/ 17 h 167"/>
              <a:gd name="T26" fmla="*/ 287 w 297"/>
              <a:gd name="T27" fmla="*/ 22 h 167"/>
              <a:gd name="T28" fmla="*/ 288 w 297"/>
              <a:gd name="T29" fmla="*/ 27 h 167"/>
              <a:gd name="T30" fmla="*/ 290 w 297"/>
              <a:gd name="T31" fmla="*/ 32 h 167"/>
              <a:gd name="T32" fmla="*/ 292 w 297"/>
              <a:gd name="T33" fmla="*/ 38 h 167"/>
              <a:gd name="T34" fmla="*/ 293 w 297"/>
              <a:gd name="T35" fmla="*/ 43 h 167"/>
              <a:gd name="T36" fmla="*/ 297 w 297"/>
              <a:gd name="T37" fmla="*/ 42 h 167"/>
              <a:gd name="T38" fmla="*/ 0 w 297"/>
              <a:gd name="T39" fmla="*/ 126 h 167"/>
              <a:gd name="T40" fmla="*/ 2 w 297"/>
              <a:gd name="T41" fmla="*/ 131 h 167"/>
              <a:gd name="T42" fmla="*/ 5 w 297"/>
              <a:gd name="T43" fmla="*/ 138 h 167"/>
              <a:gd name="T44" fmla="*/ 7 w 297"/>
              <a:gd name="T45" fmla="*/ 143 h 167"/>
              <a:gd name="T46" fmla="*/ 9 w 297"/>
              <a:gd name="T47" fmla="*/ 148 h 167"/>
              <a:gd name="T48" fmla="*/ 12 w 297"/>
              <a:gd name="T49" fmla="*/ 153 h 167"/>
              <a:gd name="T50" fmla="*/ 14 w 297"/>
              <a:gd name="T51" fmla="*/ 158 h 167"/>
              <a:gd name="T52" fmla="*/ 17 w 297"/>
              <a:gd name="T53" fmla="*/ 162 h 167"/>
              <a:gd name="T54" fmla="*/ 20 w 297"/>
              <a:gd name="T55" fmla="*/ 167 h 167"/>
              <a:gd name="T56" fmla="*/ 23 w 297"/>
              <a:gd name="T57" fmla="*/ 166 h 167"/>
              <a:gd name="T58" fmla="*/ 20 w 297"/>
              <a:gd name="T59" fmla="*/ 161 h 167"/>
              <a:gd name="T60" fmla="*/ 17 w 297"/>
              <a:gd name="T61" fmla="*/ 156 h 167"/>
              <a:gd name="T62" fmla="*/ 14 w 297"/>
              <a:gd name="T63" fmla="*/ 151 h 167"/>
              <a:gd name="T64" fmla="*/ 12 w 297"/>
              <a:gd name="T65" fmla="*/ 146 h 167"/>
              <a:gd name="T66" fmla="*/ 10 w 297"/>
              <a:gd name="T67" fmla="*/ 141 h 167"/>
              <a:gd name="T68" fmla="*/ 7 w 297"/>
              <a:gd name="T69" fmla="*/ 136 h 167"/>
              <a:gd name="T70" fmla="*/ 5 w 297"/>
              <a:gd name="T71" fmla="*/ 131 h 167"/>
              <a:gd name="T72" fmla="*/ 4 w 297"/>
              <a:gd name="T73" fmla="*/ 124 h 167"/>
              <a:gd name="T74" fmla="*/ 0 w 297"/>
              <a:gd name="T75" fmla="*/ 126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97" h="167">
                <a:moveTo>
                  <a:pt x="297" y="42"/>
                </a:moveTo>
                <a:lnTo>
                  <a:pt x="295" y="37"/>
                </a:lnTo>
                <a:lnTo>
                  <a:pt x="293" y="32"/>
                </a:lnTo>
                <a:lnTo>
                  <a:pt x="292" y="25"/>
                </a:lnTo>
                <a:lnTo>
                  <a:pt x="290" y="20"/>
                </a:lnTo>
                <a:lnTo>
                  <a:pt x="287" y="15"/>
                </a:lnTo>
                <a:lnTo>
                  <a:pt x="283" y="10"/>
                </a:lnTo>
                <a:lnTo>
                  <a:pt x="282" y="5"/>
                </a:lnTo>
                <a:lnTo>
                  <a:pt x="278" y="0"/>
                </a:lnTo>
                <a:lnTo>
                  <a:pt x="275" y="2"/>
                </a:lnTo>
                <a:lnTo>
                  <a:pt x="278" y="7"/>
                </a:lnTo>
                <a:lnTo>
                  <a:pt x="282" y="12"/>
                </a:lnTo>
                <a:lnTo>
                  <a:pt x="283" y="17"/>
                </a:lnTo>
                <a:lnTo>
                  <a:pt x="287" y="22"/>
                </a:lnTo>
                <a:lnTo>
                  <a:pt x="288" y="27"/>
                </a:lnTo>
                <a:lnTo>
                  <a:pt x="290" y="32"/>
                </a:lnTo>
                <a:lnTo>
                  <a:pt x="292" y="38"/>
                </a:lnTo>
                <a:lnTo>
                  <a:pt x="293" y="43"/>
                </a:lnTo>
                <a:lnTo>
                  <a:pt x="297" y="42"/>
                </a:lnTo>
                <a:close/>
                <a:moveTo>
                  <a:pt x="0" y="126"/>
                </a:moveTo>
                <a:lnTo>
                  <a:pt x="2" y="131"/>
                </a:lnTo>
                <a:lnTo>
                  <a:pt x="5" y="138"/>
                </a:lnTo>
                <a:lnTo>
                  <a:pt x="7" y="143"/>
                </a:lnTo>
                <a:lnTo>
                  <a:pt x="9" y="148"/>
                </a:lnTo>
                <a:lnTo>
                  <a:pt x="12" y="153"/>
                </a:lnTo>
                <a:lnTo>
                  <a:pt x="14" y="158"/>
                </a:lnTo>
                <a:lnTo>
                  <a:pt x="17" y="162"/>
                </a:lnTo>
                <a:lnTo>
                  <a:pt x="20" y="167"/>
                </a:lnTo>
                <a:lnTo>
                  <a:pt x="23" y="166"/>
                </a:lnTo>
                <a:lnTo>
                  <a:pt x="20" y="161"/>
                </a:lnTo>
                <a:lnTo>
                  <a:pt x="17" y="156"/>
                </a:lnTo>
                <a:lnTo>
                  <a:pt x="14" y="151"/>
                </a:lnTo>
                <a:lnTo>
                  <a:pt x="12" y="146"/>
                </a:lnTo>
                <a:lnTo>
                  <a:pt x="10" y="141"/>
                </a:lnTo>
                <a:lnTo>
                  <a:pt x="7" y="136"/>
                </a:lnTo>
                <a:lnTo>
                  <a:pt x="5" y="131"/>
                </a:lnTo>
                <a:lnTo>
                  <a:pt x="4" y="124"/>
                </a:lnTo>
                <a:lnTo>
                  <a:pt x="0" y="126"/>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15" name="Freeform 1920">
            <a:extLst>
              <a:ext uri="{FF2B5EF4-FFF2-40B4-BE49-F238E27FC236}">
                <a16:creationId xmlns:a16="http://schemas.microsoft.com/office/drawing/2014/main" id="{EA192B9B-E174-4151-04F8-4C2D10F2BF37}"/>
              </a:ext>
            </a:extLst>
          </p:cNvPr>
          <p:cNvSpPr>
            <a:spLocks noEditPoints="1"/>
          </p:cNvSpPr>
          <p:nvPr/>
        </p:nvSpPr>
        <p:spPr bwMode="auto">
          <a:xfrm>
            <a:off x="3286125" y="2468563"/>
            <a:ext cx="465138" cy="263525"/>
          </a:xfrm>
          <a:custGeom>
            <a:avLst/>
            <a:gdLst>
              <a:gd name="T0" fmla="*/ 293 w 293"/>
              <a:gd name="T1" fmla="*/ 43 h 166"/>
              <a:gd name="T2" fmla="*/ 291 w 293"/>
              <a:gd name="T3" fmla="*/ 37 h 166"/>
              <a:gd name="T4" fmla="*/ 290 w 293"/>
              <a:gd name="T5" fmla="*/ 32 h 166"/>
              <a:gd name="T6" fmla="*/ 288 w 293"/>
              <a:gd name="T7" fmla="*/ 27 h 166"/>
              <a:gd name="T8" fmla="*/ 286 w 293"/>
              <a:gd name="T9" fmla="*/ 22 h 166"/>
              <a:gd name="T10" fmla="*/ 283 w 293"/>
              <a:gd name="T11" fmla="*/ 15 h 166"/>
              <a:gd name="T12" fmla="*/ 281 w 293"/>
              <a:gd name="T13" fmla="*/ 10 h 166"/>
              <a:gd name="T14" fmla="*/ 278 w 293"/>
              <a:gd name="T15" fmla="*/ 5 h 166"/>
              <a:gd name="T16" fmla="*/ 275 w 293"/>
              <a:gd name="T17" fmla="*/ 0 h 166"/>
              <a:gd name="T18" fmla="*/ 272 w 293"/>
              <a:gd name="T19" fmla="*/ 2 h 166"/>
              <a:gd name="T20" fmla="*/ 275 w 293"/>
              <a:gd name="T21" fmla="*/ 7 h 166"/>
              <a:gd name="T22" fmla="*/ 278 w 293"/>
              <a:gd name="T23" fmla="*/ 12 h 166"/>
              <a:gd name="T24" fmla="*/ 280 w 293"/>
              <a:gd name="T25" fmla="*/ 17 h 166"/>
              <a:gd name="T26" fmla="*/ 283 w 293"/>
              <a:gd name="T27" fmla="*/ 22 h 166"/>
              <a:gd name="T28" fmla="*/ 285 w 293"/>
              <a:gd name="T29" fmla="*/ 28 h 166"/>
              <a:gd name="T30" fmla="*/ 286 w 293"/>
              <a:gd name="T31" fmla="*/ 33 h 166"/>
              <a:gd name="T32" fmla="*/ 290 w 293"/>
              <a:gd name="T33" fmla="*/ 38 h 166"/>
              <a:gd name="T34" fmla="*/ 291 w 293"/>
              <a:gd name="T35" fmla="*/ 45 h 166"/>
              <a:gd name="T36" fmla="*/ 293 w 293"/>
              <a:gd name="T37" fmla="*/ 43 h 166"/>
              <a:gd name="T38" fmla="*/ 0 w 293"/>
              <a:gd name="T39" fmla="*/ 126 h 166"/>
              <a:gd name="T40" fmla="*/ 2 w 293"/>
              <a:gd name="T41" fmla="*/ 131 h 166"/>
              <a:gd name="T42" fmla="*/ 5 w 293"/>
              <a:gd name="T43" fmla="*/ 136 h 166"/>
              <a:gd name="T44" fmla="*/ 7 w 293"/>
              <a:gd name="T45" fmla="*/ 141 h 166"/>
              <a:gd name="T46" fmla="*/ 8 w 293"/>
              <a:gd name="T47" fmla="*/ 146 h 166"/>
              <a:gd name="T48" fmla="*/ 12 w 293"/>
              <a:gd name="T49" fmla="*/ 151 h 166"/>
              <a:gd name="T50" fmla="*/ 13 w 293"/>
              <a:gd name="T51" fmla="*/ 156 h 166"/>
              <a:gd name="T52" fmla="*/ 16 w 293"/>
              <a:gd name="T53" fmla="*/ 161 h 166"/>
              <a:gd name="T54" fmla="*/ 20 w 293"/>
              <a:gd name="T55" fmla="*/ 166 h 166"/>
              <a:gd name="T56" fmla="*/ 21 w 293"/>
              <a:gd name="T57" fmla="*/ 164 h 166"/>
              <a:gd name="T58" fmla="*/ 20 w 293"/>
              <a:gd name="T59" fmla="*/ 161 h 166"/>
              <a:gd name="T60" fmla="*/ 16 w 293"/>
              <a:gd name="T61" fmla="*/ 156 h 166"/>
              <a:gd name="T62" fmla="*/ 13 w 293"/>
              <a:gd name="T63" fmla="*/ 151 h 166"/>
              <a:gd name="T64" fmla="*/ 12 w 293"/>
              <a:gd name="T65" fmla="*/ 146 h 166"/>
              <a:gd name="T66" fmla="*/ 10 w 293"/>
              <a:gd name="T67" fmla="*/ 141 h 166"/>
              <a:gd name="T68" fmla="*/ 7 w 293"/>
              <a:gd name="T69" fmla="*/ 134 h 166"/>
              <a:gd name="T70" fmla="*/ 5 w 293"/>
              <a:gd name="T71" fmla="*/ 129 h 166"/>
              <a:gd name="T72" fmla="*/ 3 w 293"/>
              <a:gd name="T73" fmla="*/ 124 h 166"/>
              <a:gd name="T74" fmla="*/ 0 w 293"/>
              <a:gd name="T75" fmla="*/ 126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93" h="166">
                <a:moveTo>
                  <a:pt x="293" y="43"/>
                </a:moveTo>
                <a:lnTo>
                  <a:pt x="291" y="37"/>
                </a:lnTo>
                <a:lnTo>
                  <a:pt x="290" y="32"/>
                </a:lnTo>
                <a:lnTo>
                  <a:pt x="288" y="27"/>
                </a:lnTo>
                <a:lnTo>
                  <a:pt x="286" y="22"/>
                </a:lnTo>
                <a:lnTo>
                  <a:pt x="283" y="15"/>
                </a:lnTo>
                <a:lnTo>
                  <a:pt x="281" y="10"/>
                </a:lnTo>
                <a:lnTo>
                  <a:pt x="278" y="5"/>
                </a:lnTo>
                <a:lnTo>
                  <a:pt x="275" y="0"/>
                </a:lnTo>
                <a:lnTo>
                  <a:pt x="272" y="2"/>
                </a:lnTo>
                <a:lnTo>
                  <a:pt x="275" y="7"/>
                </a:lnTo>
                <a:lnTo>
                  <a:pt x="278" y="12"/>
                </a:lnTo>
                <a:lnTo>
                  <a:pt x="280" y="17"/>
                </a:lnTo>
                <a:lnTo>
                  <a:pt x="283" y="22"/>
                </a:lnTo>
                <a:lnTo>
                  <a:pt x="285" y="28"/>
                </a:lnTo>
                <a:lnTo>
                  <a:pt x="286" y="33"/>
                </a:lnTo>
                <a:lnTo>
                  <a:pt x="290" y="38"/>
                </a:lnTo>
                <a:lnTo>
                  <a:pt x="291" y="45"/>
                </a:lnTo>
                <a:lnTo>
                  <a:pt x="293" y="43"/>
                </a:lnTo>
                <a:close/>
                <a:moveTo>
                  <a:pt x="0" y="126"/>
                </a:moveTo>
                <a:lnTo>
                  <a:pt x="2" y="131"/>
                </a:lnTo>
                <a:lnTo>
                  <a:pt x="5" y="136"/>
                </a:lnTo>
                <a:lnTo>
                  <a:pt x="7" y="141"/>
                </a:lnTo>
                <a:lnTo>
                  <a:pt x="8" y="146"/>
                </a:lnTo>
                <a:lnTo>
                  <a:pt x="12" y="151"/>
                </a:lnTo>
                <a:lnTo>
                  <a:pt x="13" y="156"/>
                </a:lnTo>
                <a:lnTo>
                  <a:pt x="16" y="161"/>
                </a:lnTo>
                <a:lnTo>
                  <a:pt x="20" y="166"/>
                </a:lnTo>
                <a:lnTo>
                  <a:pt x="21" y="164"/>
                </a:lnTo>
                <a:lnTo>
                  <a:pt x="20" y="161"/>
                </a:lnTo>
                <a:lnTo>
                  <a:pt x="16" y="156"/>
                </a:lnTo>
                <a:lnTo>
                  <a:pt x="13" y="151"/>
                </a:lnTo>
                <a:lnTo>
                  <a:pt x="12" y="146"/>
                </a:lnTo>
                <a:lnTo>
                  <a:pt x="10" y="141"/>
                </a:lnTo>
                <a:lnTo>
                  <a:pt x="7" y="134"/>
                </a:lnTo>
                <a:lnTo>
                  <a:pt x="5" y="129"/>
                </a:lnTo>
                <a:lnTo>
                  <a:pt x="3" y="124"/>
                </a:lnTo>
                <a:lnTo>
                  <a:pt x="0" y="126"/>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16" name="Freeform 1921">
            <a:extLst>
              <a:ext uri="{FF2B5EF4-FFF2-40B4-BE49-F238E27FC236}">
                <a16:creationId xmlns:a16="http://schemas.microsoft.com/office/drawing/2014/main" id="{627AE928-602F-3593-1757-AFC85F39D814}"/>
              </a:ext>
            </a:extLst>
          </p:cNvPr>
          <p:cNvSpPr>
            <a:spLocks noEditPoints="1"/>
          </p:cNvSpPr>
          <p:nvPr/>
        </p:nvSpPr>
        <p:spPr bwMode="auto">
          <a:xfrm>
            <a:off x="3289300" y="2471738"/>
            <a:ext cx="458788" cy="260350"/>
          </a:xfrm>
          <a:custGeom>
            <a:avLst/>
            <a:gdLst>
              <a:gd name="T0" fmla="*/ 289 w 289"/>
              <a:gd name="T1" fmla="*/ 41 h 164"/>
              <a:gd name="T2" fmla="*/ 288 w 289"/>
              <a:gd name="T3" fmla="*/ 36 h 164"/>
              <a:gd name="T4" fmla="*/ 286 w 289"/>
              <a:gd name="T5" fmla="*/ 30 h 164"/>
              <a:gd name="T6" fmla="*/ 284 w 289"/>
              <a:gd name="T7" fmla="*/ 25 h 164"/>
              <a:gd name="T8" fmla="*/ 283 w 289"/>
              <a:gd name="T9" fmla="*/ 20 h 164"/>
              <a:gd name="T10" fmla="*/ 279 w 289"/>
              <a:gd name="T11" fmla="*/ 15 h 164"/>
              <a:gd name="T12" fmla="*/ 278 w 289"/>
              <a:gd name="T13" fmla="*/ 10 h 164"/>
              <a:gd name="T14" fmla="*/ 274 w 289"/>
              <a:gd name="T15" fmla="*/ 5 h 164"/>
              <a:gd name="T16" fmla="*/ 271 w 289"/>
              <a:gd name="T17" fmla="*/ 0 h 164"/>
              <a:gd name="T18" fmla="*/ 268 w 289"/>
              <a:gd name="T19" fmla="*/ 2 h 164"/>
              <a:gd name="T20" fmla="*/ 271 w 289"/>
              <a:gd name="T21" fmla="*/ 7 h 164"/>
              <a:gd name="T22" fmla="*/ 274 w 289"/>
              <a:gd name="T23" fmla="*/ 11 h 164"/>
              <a:gd name="T24" fmla="*/ 276 w 289"/>
              <a:gd name="T25" fmla="*/ 16 h 164"/>
              <a:gd name="T26" fmla="*/ 279 w 289"/>
              <a:gd name="T27" fmla="*/ 21 h 164"/>
              <a:gd name="T28" fmla="*/ 281 w 289"/>
              <a:gd name="T29" fmla="*/ 26 h 164"/>
              <a:gd name="T30" fmla="*/ 284 w 289"/>
              <a:gd name="T31" fmla="*/ 31 h 164"/>
              <a:gd name="T32" fmla="*/ 286 w 289"/>
              <a:gd name="T33" fmla="*/ 38 h 164"/>
              <a:gd name="T34" fmla="*/ 288 w 289"/>
              <a:gd name="T35" fmla="*/ 43 h 164"/>
              <a:gd name="T36" fmla="*/ 289 w 289"/>
              <a:gd name="T37" fmla="*/ 41 h 164"/>
              <a:gd name="T38" fmla="*/ 0 w 289"/>
              <a:gd name="T39" fmla="*/ 122 h 164"/>
              <a:gd name="T40" fmla="*/ 1 w 289"/>
              <a:gd name="T41" fmla="*/ 129 h 164"/>
              <a:gd name="T42" fmla="*/ 3 w 289"/>
              <a:gd name="T43" fmla="*/ 134 h 164"/>
              <a:gd name="T44" fmla="*/ 6 w 289"/>
              <a:gd name="T45" fmla="*/ 139 h 164"/>
              <a:gd name="T46" fmla="*/ 8 w 289"/>
              <a:gd name="T47" fmla="*/ 144 h 164"/>
              <a:gd name="T48" fmla="*/ 10 w 289"/>
              <a:gd name="T49" fmla="*/ 149 h 164"/>
              <a:gd name="T50" fmla="*/ 13 w 289"/>
              <a:gd name="T51" fmla="*/ 154 h 164"/>
              <a:gd name="T52" fmla="*/ 16 w 289"/>
              <a:gd name="T53" fmla="*/ 159 h 164"/>
              <a:gd name="T54" fmla="*/ 19 w 289"/>
              <a:gd name="T55" fmla="*/ 164 h 164"/>
              <a:gd name="T56" fmla="*/ 21 w 289"/>
              <a:gd name="T57" fmla="*/ 162 h 164"/>
              <a:gd name="T58" fmla="*/ 19 w 289"/>
              <a:gd name="T59" fmla="*/ 157 h 164"/>
              <a:gd name="T60" fmla="*/ 16 w 289"/>
              <a:gd name="T61" fmla="*/ 152 h 164"/>
              <a:gd name="T62" fmla="*/ 13 w 289"/>
              <a:gd name="T63" fmla="*/ 147 h 164"/>
              <a:gd name="T64" fmla="*/ 11 w 289"/>
              <a:gd name="T65" fmla="*/ 142 h 164"/>
              <a:gd name="T66" fmla="*/ 8 w 289"/>
              <a:gd name="T67" fmla="*/ 137 h 164"/>
              <a:gd name="T68" fmla="*/ 6 w 289"/>
              <a:gd name="T69" fmla="*/ 132 h 164"/>
              <a:gd name="T70" fmla="*/ 5 w 289"/>
              <a:gd name="T71" fmla="*/ 127 h 164"/>
              <a:gd name="T72" fmla="*/ 3 w 289"/>
              <a:gd name="T73" fmla="*/ 121 h 164"/>
              <a:gd name="T74" fmla="*/ 0 w 289"/>
              <a:gd name="T75" fmla="*/ 122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9" h="164">
                <a:moveTo>
                  <a:pt x="289" y="41"/>
                </a:moveTo>
                <a:lnTo>
                  <a:pt x="288" y="36"/>
                </a:lnTo>
                <a:lnTo>
                  <a:pt x="286" y="30"/>
                </a:lnTo>
                <a:lnTo>
                  <a:pt x="284" y="25"/>
                </a:lnTo>
                <a:lnTo>
                  <a:pt x="283" y="20"/>
                </a:lnTo>
                <a:lnTo>
                  <a:pt x="279" y="15"/>
                </a:lnTo>
                <a:lnTo>
                  <a:pt x="278" y="10"/>
                </a:lnTo>
                <a:lnTo>
                  <a:pt x="274" y="5"/>
                </a:lnTo>
                <a:lnTo>
                  <a:pt x="271" y="0"/>
                </a:lnTo>
                <a:lnTo>
                  <a:pt x="268" y="2"/>
                </a:lnTo>
                <a:lnTo>
                  <a:pt x="271" y="7"/>
                </a:lnTo>
                <a:lnTo>
                  <a:pt x="274" y="11"/>
                </a:lnTo>
                <a:lnTo>
                  <a:pt x="276" y="16"/>
                </a:lnTo>
                <a:lnTo>
                  <a:pt x="279" y="21"/>
                </a:lnTo>
                <a:lnTo>
                  <a:pt x="281" y="26"/>
                </a:lnTo>
                <a:lnTo>
                  <a:pt x="284" y="31"/>
                </a:lnTo>
                <a:lnTo>
                  <a:pt x="286" y="38"/>
                </a:lnTo>
                <a:lnTo>
                  <a:pt x="288" y="43"/>
                </a:lnTo>
                <a:lnTo>
                  <a:pt x="289" y="41"/>
                </a:lnTo>
                <a:close/>
                <a:moveTo>
                  <a:pt x="0" y="122"/>
                </a:moveTo>
                <a:lnTo>
                  <a:pt x="1" y="129"/>
                </a:lnTo>
                <a:lnTo>
                  <a:pt x="3" y="134"/>
                </a:lnTo>
                <a:lnTo>
                  <a:pt x="6" y="139"/>
                </a:lnTo>
                <a:lnTo>
                  <a:pt x="8" y="144"/>
                </a:lnTo>
                <a:lnTo>
                  <a:pt x="10" y="149"/>
                </a:lnTo>
                <a:lnTo>
                  <a:pt x="13" y="154"/>
                </a:lnTo>
                <a:lnTo>
                  <a:pt x="16" y="159"/>
                </a:lnTo>
                <a:lnTo>
                  <a:pt x="19" y="164"/>
                </a:lnTo>
                <a:lnTo>
                  <a:pt x="21" y="162"/>
                </a:lnTo>
                <a:lnTo>
                  <a:pt x="19" y="157"/>
                </a:lnTo>
                <a:lnTo>
                  <a:pt x="16" y="152"/>
                </a:lnTo>
                <a:lnTo>
                  <a:pt x="13" y="147"/>
                </a:lnTo>
                <a:lnTo>
                  <a:pt x="11" y="142"/>
                </a:lnTo>
                <a:lnTo>
                  <a:pt x="8" y="137"/>
                </a:lnTo>
                <a:lnTo>
                  <a:pt x="6" y="132"/>
                </a:lnTo>
                <a:lnTo>
                  <a:pt x="5" y="127"/>
                </a:lnTo>
                <a:lnTo>
                  <a:pt x="3" y="121"/>
                </a:lnTo>
                <a:lnTo>
                  <a:pt x="0" y="122"/>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17" name="Freeform 1922">
            <a:extLst>
              <a:ext uri="{FF2B5EF4-FFF2-40B4-BE49-F238E27FC236}">
                <a16:creationId xmlns:a16="http://schemas.microsoft.com/office/drawing/2014/main" id="{C3467D23-7BAD-6ADE-EEF5-5FEFAB504A1D}"/>
              </a:ext>
            </a:extLst>
          </p:cNvPr>
          <p:cNvSpPr>
            <a:spLocks noEditPoints="1"/>
          </p:cNvSpPr>
          <p:nvPr/>
        </p:nvSpPr>
        <p:spPr bwMode="auto">
          <a:xfrm>
            <a:off x="3290888" y="2471738"/>
            <a:ext cx="457200" cy="257175"/>
          </a:xfrm>
          <a:custGeom>
            <a:avLst/>
            <a:gdLst>
              <a:gd name="T0" fmla="*/ 288 w 288"/>
              <a:gd name="T1" fmla="*/ 43 h 162"/>
              <a:gd name="T2" fmla="*/ 287 w 288"/>
              <a:gd name="T3" fmla="*/ 36 h 162"/>
              <a:gd name="T4" fmla="*/ 283 w 288"/>
              <a:gd name="T5" fmla="*/ 31 h 162"/>
              <a:gd name="T6" fmla="*/ 282 w 288"/>
              <a:gd name="T7" fmla="*/ 26 h 162"/>
              <a:gd name="T8" fmla="*/ 280 w 288"/>
              <a:gd name="T9" fmla="*/ 20 h 162"/>
              <a:gd name="T10" fmla="*/ 277 w 288"/>
              <a:gd name="T11" fmla="*/ 15 h 162"/>
              <a:gd name="T12" fmla="*/ 275 w 288"/>
              <a:gd name="T13" fmla="*/ 10 h 162"/>
              <a:gd name="T14" fmla="*/ 272 w 288"/>
              <a:gd name="T15" fmla="*/ 5 h 162"/>
              <a:gd name="T16" fmla="*/ 269 w 288"/>
              <a:gd name="T17" fmla="*/ 0 h 162"/>
              <a:gd name="T18" fmla="*/ 265 w 288"/>
              <a:gd name="T19" fmla="*/ 2 h 162"/>
              <a:gd name="T20" fmla="*/ 269 w 288"/>
              <a:gd name="T21" fmla="*/ 7 h 162"/>
              <a:gd name="T22" fmla="*/ 272 w 288"/>
              <a:gd name="T23" fmla="*/ 11 h 162"/>
              <a:gd name="T24" fmla="*/ 273 w 288"/>
              <a:gd name="T25" fmla="*/ 16 h 162"/>
              <a:gd name="T26" fmla="*/ 277 w 288"/>
              <a:gd name="T27" fmla="*/ 21 h 162"/>
              <a:gd name="T28" fmla="*/ 278 w 288"/>
              <a:gd name="T29" fmla="*/ 26 h 162"/>
              <a:gd name="T30" fmla="*/ 282 w 288"/>
              <a:gd name="T31" fmla="*/ 33 h 162"/>
              <a:gd name="T32" fmla="*/ 283 w 288"/>
              <a:gd name="T33" fmla="*/ 38 h 162"/>
              <a:gd name="T34" fmla="*/ 285 w 288"/>
              <a:gd name="T35" fmla="*/ 43 h 162"/>
              <a:gd name="T36" fmla="*/ 288 w 288"/>
              <a:gd name="T37" fmla="*/ 43 h 162"/>
              <a:gd name="T38" fmla="*/ 0 w 288"/>
              <a:gd name="T39" fmla="*/ 122 h 162"/>
              <a:gd name="T40" fmla="*/ 2 w 288"/>
              <a:gd name="T41" fmla="*/ 127 h 162"/>
              <a:gd name="T42" fmla="*/ 4 w 288"/>
              <a:gd name="T43" fmla="*/ 132 h 162"/>
              <a:gd name="T44" fmla="*/ 7 w 288"/>
              <a:gd name="T45" fmla="*/ 139 h 162"/>
              <a:gd name="T46" fmla="*/ 9 w 288"/>
              <a:gd name="T47" fmla="*/ 144 h 162"/>
              <a:gd name="T48" fmla="*/ 10 w 288"/>
              <a:gd name="T49" fmla="*/ 149 h 162"/>
              <a:gd name="T50" fmla="*/ 13 w 288"/>
              <a:gd name="T51" fmla="*/ 154 h 162"/>
              <a:gd name="T52" fmla="*/ 17 w 288"/>
              <a:gd name="T53" fmla="*/ 159 h 162"/>
              <a:gd name="T54" fmla="*/ 18 w 288"/>
              <a:gd name="T55" fmla="*/ 162 h 162"/>
              <a:gd name="T56" fmla="*/ 22 w 288"/>
              <a:gd name="T57" fmla="*/ 162 h 162"/>
              <a:gd name="T58" fmla="*/ 20 w 288"/>
              <a:gd name="T59" fmla="*/ 157 h 162"/>
              <a:gd name="T60" fmla="*/ 17 w 288"/>
              <a:gd name="T61" fmla="*/ 152 h 162"/>
              <a:gd name="T62" fmla="*/ 13 w 288"/>
              <a:gd name="T63" fmla="*/ 147 h 162"/>
              <a:gd name="T64" fmla="*/ 12 w 288"/>
              <a:gd name="T65" fmla="*/ 142 h 162"/>
              <a:gd name="T66" fmla="*/ 9 w 288"/>
              <a:gd name="T67" fmla="*/ 137 h 162"/>
              <a:gd name="T68" fmla="*/ 7 w 288"/>
              <a:gd name="T69" fmla="*/ 132 h 162"/>
              <a:gd name="T70" fmla="*/ 5 w 288"/>
              <a:gd name="T71" fmla="*/ 126 h 162"/>
              <a:gd name="T72" fmla="*/ 4 w 288"/>
              <a:gd name="T73" fmla="*/ 121 h 162"/>
              <a:gd name="T74" fmla="*/ 0 w 288"/>
              <a:gd name="T75" fmla="*/ 122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8" h="162">
                <a:moveTo>
                  <a:pt x="288" y="43"/>
                </a:moveTo>
                <a:lnTo>
                  <a:pt x="287" y="36"/>
                </a:lnTo>
                <a:lnTo>
                  <a:pt x="283" y="31"/>
                </a:lnTo>
                <a:lnTo>
                  <a:pt x="282" y="26"/>
                </a:lnTo>
                <a:lnTo>
                  <a:pt x="280" y="20"/>
                </a:lnTo>
                <a:lnTo>
                  <a:pt x="277" y="15"/>
                </a:lnTo>
                <a:lnTo>
                  <a:pt x="275" y="10"/>
                </a:lnTo>
                <a:lnTo>
                  <a:pt x="272" y="5"/>
                </a:lnTo>
                <a:lnTo>
                  <a:pt x="269" y="0"/>
                </a:lnTo>
                <a:lnTo>
                  <a:pt x="265" y="2"/>
                </a:lnTo>
                <a:lnTo>
                  <a:pt x="269" y="7"/>
                </a:lnTo>
                <a:lnTo>
                  <a:pt x="272" y="11"/>
                </a:lnTo>
                <a:lnTo>
                  <a:pt x="273" y="16"/>
                </a:lnTo>
                <a:lnTo>
                  <a:pt x="277" y="21"/>
                </a:lnTo>
                <a:lnTo>
                  <a:pt x="278" y="26"/>
                </a:lnTo>
                <a:lnTo>
                  <a:pt x="282" y="33"/>
                </a:lnTo>
                <a:lnTo>
                  <a:pt x="283" y="38"/>
                </a:lnTo>
                <a:lnTo>
                  <a:pt x="285" y="43"/>
                </a:lnTo>
                <a:lnTo>
                  <a:pt x="288" y="43"/>
                </a:lnTo>
                <a:close/>
                <a:moveTo>
                  <a:pt x="0" y="122"/>
                </a:moveTo>
                <a:lnTo>
                  <a:pt x="2" y="127"/>
                </a:lnTo>
                <a:lnTo>
                  <a:pt x="4" y="132"/>
                </a:lnTo>
                <a:lnTo>
                  <a:pt x="7" y="139"/>
                </a:lnTo>
                <a:lnTo>
                  <a:pt x="9" y="144"/>
                </a:lnTo>
                <a:lnTo>
                  <a:pt x="10" y="149"/>
                </a:lnTo>
                <a:lnTo>
                  <a:pt x="13" y="154"/>
                </a:lnTo>
                <a:lnTo>
                  <a:pt x="17" y="159"/>
                </a:lnTo>
                <a:lnTo>
                  <a:pt x="18" y="162"/>
                </a:lnTo>
                <a:lnTo>
                  <a:pt x="22" y="162"/>
                </a:lnTo>
                <a:lnTo>
                  <a:pt x="20" y="157"/>
                </a:lnTo>
                <a:lnTo>
                  <a:pt x="17" y="152"/>
                </a:lnTo>
                <a:lnTo>
                  <a:pt x="13" y="147"/>
                </a:lnTo>
                <a:lnTo>
                  <a:pt x="12" y="142"/>
                </a:lnTo>
                <a:lnTo>
                  <a:pt x="9" y="137"/>
                </a:lnTo>
                <a:lnTo>
                  <a:pt x="7" y="132"/>
                </a:lnTo>
                <a:lnTo>
                  <a:pt x="5" y="126"/>
                </a:lnTo>
                <a:lnTo>
                  <a:pt x="4" y="121"/>
                </a:lnTo>
                <a:lnTo>
                  <a:pt x="0" y="122"/>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18" name="Freeform 1923">
            <a:extLst>
              <a:ext uri="{FF2B5EF4-FFF2-40B4-BE49-F238E27FC236}">
                <a16:creationId xmlns:a16="http://schemas.microsoft.com/office/drawing/2014/main" id="{9BC979C1-D25E-DD24-E423-47E4D778B920}"/>
              </a:ext>
            </a:extLst>
          </p:cNvPr>
          <p:cNvSpPr>
            <a:spLocks noEditPoints="1"/>
          </p:cNvSpPr>
          <p:nvPr/>
        </p:nvSpPr>
        <p:spPr bwMode="auto">
          <a:xfrm>
            <a:off x="3294063" y="2474913"/>
            <a:ext cx="452438" cy="254000"/>
          </a:xfrm>
          <a:custGeom>
            <a:avLst/>
            <a:gdLst>
              <a:gd name="T0" fmla="*/ 285 w 285"/>
              <a:gd name="T1" fmla="*/ 41 h 160"/>
              <a:gd name="T2" fmla="*/ 283 w 285"/>
              <a:gd name="T3" fmla="*/ 36 h 160"/>
              <a:gd name="T4" fmla="*/ 281 w 285"/>
              <a:gd name="T5" fmla="*/ 29 h 160"/>
              <a:gd name="T6" fmla="*/ 278 w 285"/>
              <a:gd name="T7" fmla="*/ 24 h 160"/>
              <a:gd name="T8" fmla="*/ 276 w 285"/>
              <a:gd name="T9" fmla="*/ 19 h 160"/>
              <a:gd name="T10" fmla="*/ 273 w 285"/>
              <a:gd name="T11" fmla="*/ 14 h 160"/>
              <a:gd name="T12" fmla="*/ 271 w 285"/>
              <a:gd name="T13" fmla="*/ 9 h 160"/>
              <a:gd name="T14" fmla="*/ 268 w 285"/>
              <a:gd name="T15" fmla="*/ 5 h 160"/>
              <a:gd name="T16" fmla="*/ 265 w 285"/>
              <a:gd name="T17" fmla="*/ 0 h 160"/>
              <a:gd name="T18" fmla="*/ 262 w 285"/>
              <a:gd name="T19" fmla="*/ 0 h 160"/>
              <a:gd name="T20" fmla="*/ 265 w 285"/>
              <a:gd name="T21" fmla="*/ 5 h 160"/>
              <a:gd name="T22" fmla="*/ 268 w 285"/>
              <a:gd name="T23" fmla="*/ 9 h 160"/>
              <a:gd name="T24" fmla="*/ 271 w 285"/>
              <a:gd name="T25" fmla="*/ 14 h 160"/>
              <a:gd name="T26" fmla="*/ 273 w 285"/>
              <a:gd name="T27" fmla="*/ 21 h 160"/>
              <a:gd name="T28" fmla="*/ 275 w 285"/>
              <a:gd name="T29" fmla="*/ 26 h 160"/>
              <a:gd name="T30" fmla="*/ 278 w 285"/>
              <a:gd name="T31" fmla="*/ 31 h 160"/>
              <a:gd name="T32" fmla="*/ 280 w 285"/>
              <a:gd name="T33" fmla="*/ 36 h 160"/>
              <a:gd name="T34" fmla="*/ 281 w 285"/>
              <a:gd name="T35" fmla="*/ 43 h 160"/>
              <a:gd name="T36" fmla="*/ 285 w 285"/>
              <a:gd name="T37" fmla="*/ 41 h 160"/>
              <a:gd name="T38" fmla="*/ 0 w 285"/>
              <a:gd name="T39" fmla="*/ 119 h 160"/>
              <a:gd name="T40" fmla="*/ 2 w 285"/>
              <a:gd name="T41" fmla="*/ 125 h 160"/>
              <a:gd name="T42" fmla="*/ 3 w 285"/>
              <a:gd name="T43" fmla="*/ 130 h 160"/>
              <a:gd name="T44" fmla="*/ 5 w 285"/>
              <a:gd name="T45" fmla="*/ 135 h 160"/>
              <a:gd name="T46" fmla="*/ 8 w 285"/>
              <a:gd name="T47" fmla="*/ 140 h 160"/>
              <a:gd name="T48" fmla="*/ 10 w 285"/>
              <a:gd name="T49" fmla="*/ 145 h 160"/>
              <a:gd name="T50" fmla="*/ 13 w 285"/>
              <a:gd name="T51" fmla="*/ 150 h 160"/>
              <a:gd name="T52" fmla="*/ 16 w 285"/>
              <a:gd name="T53" fmla="*/ 155 h 160"/>
              <a:gd name="T54" fmla="*/ 18 w 285"/>
              <a:gd name="T55" fmla="*/ 160 h 160"/>
              <a:gd name="T56" fmla="*/ 21 w 285"/>
              <a:gd name="T57" fmla="*/ 158 h 160"/>
              <a:gd name="T58" fmla="*/ 18 w 285"/>
              <a:gd name="T59" fmla="*/ 154 h 160"/>
              <a:gd name="T60" fmla="*/ 16 w 285"/>
              <a:gd name="T61" fmla="*/ 149 h 160"/>
              <a:gd name="T62" fmla="*/ 13 w 285"/>
              <a:gd name="T63" fmla="*/ 144 h 160"/>
              <a:gd name="T64" fmla="*/ 11 w 285"/>
              <a:gd name="T65" fmla="*/ 139 h 160"/>
              <a:gd name="T66" fmla="*/ 8 w 285"/>
              <a:gd name="T67" fmla="*/ 134 h 160"/>
              <a:gd name="T68" fmla="*/ 7 w 285"/>
              <a:gd name="T69" fmla="*/ 129 h 160"/>
              <a:gd name="T70" fmla="*/ 5 w 285"/>
              <a:gd name="T71" fmla="*/ 124 h 160"/>
              <a:gd name="T72" fmla="*/ 3 w 285"/>
              <a:gd name="T73" fmla="*/ 119 h 160"/>
              <a:gd name="T74" fmla="*/ 0 w 285"/>
              <a:gd name="T75" fmla="*/ 11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5" h="160">
                <a:moveTo>
                  <a:pt x="285" y="41"/>
                </a:moveTo>
                <a:lnTo>
                  <a:pt x="283" y="36"/>
                </a:lnTo>
                <a:lnTo>
                  <a:pt x="281" y="29"/>
                </a:lnTo>
                <a:lnTo>
                  <a:pt x="278" y="24"/>
                </a:lnTo>
                <a:lnTo>
                  <a:pt x="276" y="19"/>
                </a:lnTo>
                <a:lnTo>
                  <a:pt x="273" y="14"/>
                </a:lnTo>
                <a:lnTo>
                  <a:pt x="271" y="9"/>
                </a:lnTo>
                <a:lnTo>
                  <a:pt x="268" y="5"/>
                </a:lnTo>
                <a:lnTo>
                  <a:pt x="265" y="0"/>
                </a:lnTo>
                <a:lnTo>
                  <a:pt x="262" y="0"/>
                </a:lnTo>
                <a:lnTo>
                  <a:pt x="265" y="5"/>
                </a:lnTo>
                <a:lnTo>
                  <a:pt x="268" y="9"/>
                </a:lnTo>
                <a:lnTo>
                  <a:pt x="271" y="14"/>
                </a:lnTo>
                <a:lnTo>
                  <a:pt x="273" y="21"/>
                </a:lnTo>
                <a:lnTo>
                  <a:pt x="275" y="26"/>
                </a:lnTo>
                <a:lnTo>
                  <a:pt x="278" y="31"/>
                </a:lnTo>
                <a:lnTo>
                  <a:pt x="280" y="36"/>
                </a:lnTo>
                <a:lnTo>
                  <a:pt x="281" y="43"/>
                </a:lnTo>
                <a:lnTo>
                  <a:pt x="285" y="41"/>
                </a:lnTo>
                <a:close/>
                <a:moveTo>
                  <a:pt x="0" y="119"/>
                </a:moveTo>
                <a:lnTo>
                  <a:pt x="2" y="125"/>
                </a:lnTo>
                <a:lnTo>
                  <a:pt x="3" y="130"/>
                </a:lnTo>
                <a:lnTo>
                  <a:pt x="5" y="135"/>
                </a:lnTo>
                <a:lnTo>
                  <a:pt x="8" y="140"/>
                </a:lnTo>
                <a:lnTo>
                  <a:pt x="10" y="145"/>
                </a:lnTo>
                <a:lnTo>
                  <a:pt x="13" y="150"/>
                </a:lnTo>
                <a:lnTo>
                  <a:pt x="16" y="155"/>
                </a:lnTo>
                <a:lnTo>
                  <a:pt x="18" y="160"/>
                </a:lnTo>
                <a:lnTo>
                  <a:pt x="21" y="158"/>
                </a:lnTo>
                <a:lnTo>
                  <a:pt x="18" y="154"/>
                </a:lnTo>
                <a:lnTo>
                  <a:pt x="16" y="149"/>
                </a:lnTo>
                <a:lnTo>
                  <a:pt x="13" y="144"/>
                </a:lnTo>
                <a:lnTo>
                  <a:pt x="11" y="139"/>
                </a:lnTo>
                <a:lnTo>
                  <a:pt x="8" y="134"/>
                </a:lnTo>
                <a:lnTo>
                  <a:pt x="7" y="129"/>
                </a:lnTo>
                <a:lnTo>
                  <a:pt x="5" y="124"/>
                </a:lnTo>
                <a:lnTo>
                  <a:pt x="3" y="119"/>
                </a:lnTo>
                <a:lnTo>
                  <a:pt x="0" y="119"/>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19" name="Freeform 1924">
            <a:extLst>
              <a:ext uri="{FF2B5EF4-FFF2-40B4-BE49-F238E27FC236}">
                <a16:creationId xmlns:a16="http://schemas.microsoft.com/office/drawing/2014/main" id="{24CDD1F1-51E8-7EE4-291E-2D73DCC0ED86}"/>
              </a:ext>
            </a:extLst>
          </p:cNvPr>
          <p:cNvSpPr>
            <a:spLocks noEditPoints="1"/>
          </p:cNvSpPr>
          <p:nvPr/>
        </p:nvSpPr>
        <p:spPr bwMode="auto">
          <a:xfrm>
            <a:off x="3297238" y="2474913"/>
            <a:ext cx="446088" cy="254000"/>
          </a:xfrm>
          <a:custGeom>
            <a:avLst/>
            <a:gdLst>
              <a:gd name="T0" fmla="*/ 281 w 281"/>
              <a:gd name="T1" fmla="*/ 41 h 160"/>
              <a:gd name="T2" fmla="*/ 279 w 281"/>
              <a:gd name="T3" fmla="*/ 36 h 160"/>
              <a:gd name="T4" fmla="*/ 278 w 281"/>
              <a:gd name="T5" fmla="*/ 31 h 160"/>
              <a:gd name="T6" fmla="*/ 274 w 281"/>
              <a:gd name="T7" fmla="*/ 24 h 160"/>
              <a:gd name="T8" fmla="*/ 273 w 281"/>
              <a:gd name="T9" fmla="*/ 19 h 160"/>
              <a:gd name="T10" fmla="*/ 269 w 281"/>
              <a:gd name="T11" fmla="*/ 14 h 160"/>
              <a:gd name="T12" fmla="*/ 268 w 281"/>
              <a:gd name="T13" fmla="*/ 9 h 160"/>
              <a:gd name="T14" fmla="*/ 265 w 281"/>
              <a:gd name="T15" fmla="*/ 5 h 160"/>
              <a:gd name="T16" fmla="*/ 261 w 281"/>
              <a:gd name="T17" fmla="*/ 0 h 160"/>
              <a:gd name="T18" fmla="*/ 258 w 281"/>
              <a:gd name="T19" fmla="*/ 1 h 160"/>
              <a:gd name="T20" fmla="*/ 261 w 281"/>
              <a:gd name="T21" fmla="*/ 6 h 160"/>
              <a:gd name="T22" fmla="*/ 265 w 281"/>
              <a:gd name="T23" fmla="*/ 11 h 160"/>
              <a:gd name="T24" fmla="*/ 268 w 281"/>
              <a:gd name="T25" fmla="*/ 16 h 160"/>
              <a:gd name="T26" fmla="*/ 269 w 281"/>
              <a:gd name="T27" fmla="*/ 21 h 160"/>
              <a:gd name="T28" fmla="*/ 273 w 281"/>
              <a:gd name="T29" fmla="*/ 26 h 160"/>
              <a:gd name="T30" fmla="*/ 274 w 281"/>
              <a:gd name="T31" fmla="*/ 33 h 160"/>
              <a:gd name="T32" fmla="*/ 276 w 281"/>
              <a:gd name="T33" fmla="*/ 38 h 160"/>
              <a:gd name="T34" fmla="*/ 278 w 281"/>
              <a:gd name="T35" fmla="*/ 43 h 160"/>
              <a:gd name="T36" fmla="*/ 281 w 281"/>
              <a:gd name="T37" fmla="*/ 41 h 160"/>
              <a:gd name="T38" fmla="*/ 0 w 281"/>
              <a:gd name="T39" fmla="*/ 119 h 160"/>
              <a:gd name="T40" fmla="*/ 1 w 281"/>
              <a:gd name="T41" fmla="*/ 124 h 160"/>
              <a:gd name="T42" fmla="*/ 3 w 281"/>
              <a:gd name="T43" fmla="*/ 130 h 160"/>
              <a:gd name="T44" fmla="*/ 5 w 281"/>
              <a:gd name="T45" fmla="*/ 135 h 160"/>
              <a:gd name="T46" fmla="*/ 8 w 281"/>
              <a:gd name="T47" fmla="*/ 140 h 160"/>
              <a:gd name="T48" fmla="*/ 9 w 281"/>
              <a:gd name="T49" fmla="*/ 145 h 160"/>
              <a:gd name="T50" fmla="*/ 13 w 281"/>
              <a:gd name="T51" fmla="*/ 150 h 160"/>
              <a:gd name="T52" fmla="*/ 16 w 281"/>
              <a:gd name="T53" fmla="*/ 155 h 160"/>
              <a:gd name="T54" fmla="*/ 18 w 281"/>
              <a:gd name="T55" fmla="*/ 160 h 160"/>
              <a:gd name="T56" fmla="*/ 21 w 281"/>
              <a:gd name="T57" fmla="*/ 158 h 160"/>
              <a:gd name="T58" fmla="*/ 18 w 281"/>
              <a:gd name="T59" fmla="*/ 154 h 160"/>
              <a:gd name="T60" fmla="*/ 16 w 281"/>
              <a:gd name="T61" fmla="*/ 149 h 160"/>
              <a:gd name="T62" fmla="*/ 13 w 281"/>
              <a:gd name="T63" fmla="*/ 144 h 160"/>
              <a:gd name="T64" fmla="*/ 11 w 281"/>
              <a:gd name="T65" fmla="*/ 139 h 160"/>
              <a:gd name="T66" fmla="*/ 8 w 281"/>
              <a:gd name="T67" fmla="*/ 134 h 160"/>
              <a:gd name="T68" fmla="*/ 6 w 281"/>
              <a:gd name="T69" fmla="*/ 129 h 160"/>
              <a:gd name="T70" fmla="*/ 5 w 281"/>
              <a:gd name="T71" fmla="*/ 122 h 160"/>
              <a:gd name="T72" fmla="*/ 3 w 281"/>
              <a:gd name="T73" fmla="*/ 117 h 160"/>
              <a:gd name="T74" fmla="*/ 0 w 281"/>
              <a:gd name="T75" fmla="*/ 11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1" h="160">
                <a:moveTo>
                  <a:pt x="281" y="41"/>
                </a:moveTo>
                <a:lnTo>
                  <a:pt x="279" y="36"/>
                </a:lnTo>
                <a:lnTo>
                  <a:pt x="278" y="31"/>
                </a:lnTo>
                <a:lnTo>
                  <a:pt x="274" y="24"/>
                </a:lnTo>
                <a:lnTo>
                  <a:pt x="273" y="19"/>
                </a:lnTo>
                <a:lnTo>
                  <a:pt x="269" y="14"/>
                </a:lnTo>
                <a:lnTo>
                  <a:pt x="268" y="9"/>
                </a:lnTo>
                <a:lnTo>
                  <a:pt x="265" y="5"/>
                </a:lnTo>
                <a:lnTo>
                  <a:pt x="261" y="0"/>
                </a:lnTo>
                <a:lnTo>
                  <a:pt x="258" y="1"/>
                </a:lnTo>
                <a:lnTo>
                  <a:pt x="261" y="6"/>
                </a:lnTo>
                <a:lnTo>
                  <a:pt x="265" y="11"/>
                </a:lnTo>
                <a:lnTo>
                  <a:pt x="268" y="16"/>
                </a:lnTo>
                <a:lnTo>
                  <a:pt x="269" y="21"/>
                </a:lnTo>
                <a:lnTo>
                  <a:pt x="273" y="26"/>
                </a:lnTo>
                <a:lnTo>
                  <a:pt x="274" y="33"/>
                </a:lnTo>
                <a:lnTo>
                  <a:pt x="276" y="38"/>
                </a:lnTo>
                <a:lnTo>
                  <a:pt x="278" y="43"/>
                </a:lnTo>
                <a:lnTo>
                  <a:pt x="281" y="41"/>
                </a:lnTo>
                <a:close/>
                <a:moveTo>
                  <a:pt x="0" y="119"/>
                </a:moveTo>
                <a:lnTo>
                  <a:pt x="1" y="124"/>
                </a:lnTo>
                <a:lnTo>
                  <a:pt x="3" y="130"/>
                </a:lnTo>
                <a:lnTo>
                  <a:pt x="5" y="135"/>
                </a:lnTo>
                <a:lnTo>
                  <a:pt x="8" y="140"/>
                </a:lnTo>
                <a:lnTo>
                  <a:pt x="9" y="145"/>
                </a:lnTo>
                <a:lnTo>
                  <a:pt x="13" y="150"/>
                </a:lnTo>
                <a:lnTo>
                  <a:pt x="16" y="155"/>
                </a:lnTo>
                <a:lnTo>
                  <a:pt x="18" y="160"/>
                </a:lnTo>
                <a:lnTo>
                  <a:pt x="21" y="158"/>
                </a:lnTo>
                <a:lnTo>
                  <a:pt x="18" y="154"/>
                </a:lnTo>
                <a:lnTo>
                  <a:pt x="16" y="149"/>
                </a:lnTo>
                <a:lnTo>
                  <a:pt x="13" y="144"/>
                </a:lnTo>
                <a:lnTo>
                  <a:pt x="11" y="139"/>
                </a:lnTo>
                <a:lnTo>
                  <a:pt x="8" y="134"/>
                </a:lnTo>
                <a:lnTo>
                  <a:pt x="6" y="129"/>
                </a:lnTo>
                <a:lnTo>
                  <a:pt x="5" y="122"/>
                </a:lnTo>
                <a:lnTo>
                  <a:pt x="3" y="117"/>
                </a:lnTo>
                <a:lnTo>
                  <a:pt x="0" y="119"/>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20" name="Freeform 1925">
            <a:extLst>
              <a:ext uri="{FF2B5EF4-FFF2-40B4-BE49-F238E27FC236}">
                <a16:creationId xmlns:a16="http://schemas.microsoft.com/office/drawing/2014/main" id="{4CA8FD9B-B042-BE1B-9DEA-D43CA541D44C}"/>
              </a:ext>
            </a:extLst>
          </p:cNvPr>
          <p:cNvSpPr>
            <a:spLocks noEditPoints="1"/>
          </p:cNvSpPr>
          <p:nvPr/>
        </p:nvSpPr>
        <p:spPr bwMode="auto">
          <a:xfrm>
            <a:off x="3298825" y="2474913"/>
            <a:ext cx="441325" cy="250825"/>
          </a:xfrm>
          <a:custGeom>
            <a:avLst/>
            <a:gdLst>
              <a:gd name="T0" fmla="*/ 278 w 278"/>
              <a:gd name="T1" fmla="*/ 43 h 158"/>
              <a:gd name="T2" fmla="*/ 277 w 278"/>
              <a:gd name="T3" fmla="*/ 36 h 158"/>
              <a:gd name="T4" fmla="*/ 275 w 278"/>
              <a:gd name="T5" fmla="*/ 31 h 158"/>
              <a:gd name="T6" fmla="*/ 272 w 278"/>
              <a:gd name="T7" fmla="*/ 26 h 158"/>
              <a:gd name="T8" fmla="*/ 270 w 278"/>
              <a:gd name="T9" fmla="*/ 21 h 158"/>
              <a:gd name="T10" fmla="*/ 268 w 278"/>
              <a:gd name="T11" fmla="*/ 14 h 158"/>
              <a:gd name="T12" fmla="*/ 265 w 278"/>
              <a:gd name="T13" fmla="*/ 9 h 158"/>
              <a:gd name="T14" fmla="*/ 262 w 278"/>
              <a:gd name="T15" fmla="*/ 5 h 158"/>
              <a:gd name="T16" fmla="*/ 259 w 278"/>
              <a:gd name="T17" fmla="*/ 0 h 158"/>
              <a:gd name="T18" fmla="*/ 257 w 278"/>
              <a:gd name="T19" fmla="*/ 1 h 158"/>
              <a:gd name="T20" fmla="*/ 259 w 278"/>
              <a:gd name="T21" fmla="*/ 6 h 158"/>
              <a:gd name="T22" fmla="*/ 262 w 278"/>
              <a:gd name="T23" fmla="*/ 11 h 158"/>
              <a:gd name="T24" fmla="*/ 265 w 278"/>
              <a:gd name="T25" fmla="*/ 16 h 158"/>
              <a:gd name="T26" fmla="*/ 267 w 278"/>
              <a:gd name="T27" fmla="*/ 21 h 158"/>
              <a:gd name="T28" fmla="*/ 270 w 278"/>
              <a:gd name="T29" fmla="*/ 28 h 158"/>
              <a:gd name="T30" fmla="*/ 272 w 278"/>
              <a:gd name="T31" fmla="*/ 33 h 158"/>
              <a:gd name="T32" fmla="*/ 273 w 278"/>
              <a:gd name="T33" fmla="*/ 38 h 158"/>
              <a:gd name="T34" fmla="*/ 275 w 278"/>
              <a:gd name="T35" fmla="*/ 44 h 158"/>
              <a:gd name="T36" fmla="*/ 278 w 278"/>
              <a:gd name="T37" fmla="*/ 43 h 158"/>
              <a:gd name="T38" fmla="*/ 0 w 278"/>
              <a:gd name="T39" fmla="*/ 119 h 158"/>
              <a:gd name="T40" fmla="*/ 2 w 278"/>
              <a:gd name="T41" fmla="*/ 124 h 158"/>
              <a:gd name="T42" fmla="*/ 4 w 278"/>
              <a:gd name="T43" fmla="*/ 129 h 158"/>
              <a:gd name="T44" fmla="*/ 5 w 278"/>
              <a:gd name="T45" fmla="*/ 134 h 158"/>
              <a:gd name="T46" fmla="*/ 8 w 278"/>
              <a:gd name="T47" fmla="*/ 139 h 158"/>
              <a:gd name="T48" fmla="*/ 10 w 278"/>
              <a:gd name="T49" fmla="*/ 144 h 158"/>
              <a:gd name="T50" fmla="*/ 13 w 278"/>
              <a:gd name="T51" fmla="*/ 149 h 158"/>
              <a:gd name="T52" fmla="*/ 15 w 278"/>
              <a:gd name="T53" fmla="*/ 154 h 158"/>
              <a:gd name="T54" fmla="*/ 18 w 278"/>
              <a:gd name="T55" fmla="*/ 158 h 158"/>
              <a:gd name="T56" fmla="*/ 22 w 278"/>
              <a:gd name="T57" fmla="*/ 157 h 158"/>
              <a:gd name="T58" fmla="*/ 18 w 278"/>
              <a:gd name="T59" fmla="*/ 152 h 158"/>
              <a:gd name="T60" fmla="*/ 17 w 278"/>
              <a:gd name="T61" fmla="*/ 149 h 158"/>
              <a:gd name="T62" fmla="*/ 13 w 278"/>
              <a:gd name="T63" fmla="*/ 144 h 158"/>
              <a:gd name="T64" fmla="*/ 10 w 278"/>
              <a:gd name="T65" fmla="*/ 139 h 158"/>
              <a:gd name="T66" fmla="*/ 8 w 278"/>
              <a:gd name="T67" fmla="*/ 132 h 158"/>
              <a:gd name="T68" fmla="*/ 7 w 278"/>
              <a:gd name="T69" fmla="*/ 127 h 158"/>
              <a:gd name="T70" fmla="*/ 5 w 278"/>
              <a:gd name="T71" fmla="*/ 122 h 158"/>
              <a:gd name="T72" fmla="*/ 4 w 278"/>
              <a:gd name="T73" fmla="*/ 117 h 158"/>
              <a:gd name="T74" fmla="*/ 0 w 278"/>
              <a:gd name="T75" fmla="*/ 119 h 1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78" h="158">
                <a:moveTo>
                  <a:pt x="278" y="43"/>
                </a:moveTo>
                <a:lnTo>
                  <a:pt x="277" y="36"/>
                </a:lnTo>
                <a:lnTo>
                  <a:pt x="275" y="31"/>
                </a:lnTo>
                <a:lnTo>
                  <a:pt x="272" y="26"/>
                </a:lnTo>
                <a:lnTo>
                  <a:pt x="270" y="21"/>
                </a:lnTo>
                <a:lnTo>
                  <a:pt x="268" y="14"/>
                </a:lnTo>
                <a:lnTo>
                  <a:pt x="265" y="9"/>
                </a:lnTo>
                <a:lnTo>
                  <a:pt x="262" y="5"/>
                </a:lnTo>
                <a:lnTo>
                  <a:pt x="259" y="0"/>
                </a:lnTo>
                <a:lnTo>
                  <a:pt x="257" y="1"/>
                </a:lnTo>
                <a:lnTo>
                  <a:pt x="259" y="6"/>
                </a:lnTo>
                <a:lnTo>
                  <a:pt x="262" y="11"/>
                </a:lnTo>
                <a:lnTo>
                  <a:pt x="265" y="16"/>
                </a:lnTo>
                <a:lnTo>
                  <a:pt x="267" y="21"/>
                </a:lnTo>
                <a:lnTo>
                  <a:pt x="270" y="28"/>
                </a:lnTo>
                <a:lnTo>
                  <a:pt x="272" y="33"/>
                </a:lnTo>
                <a:lnTo>
                  <a:pt x="273" y="38"/>
                </a:lnTo>
                <a:lnTo>
                  <a:pt x="275" y="44"/>
                </a:lnTo>
                <a:lnTo>
                  <a:pt x="278" y="43"/>
                </a:lnTo>
                <a:close/>
                <a:moveTo>
                  <a:pt x="0" y="119"/>
                </a:moveTo>
                <a:lnTo>
                  <a:pt x="2" y="124"/>
                </a:lnTo>
                <a:lnTo>
                  <a:pt x="4" y="129"/>
                </a:lnTo>
                <a:lnTo>
                  <a:pt x="5" y="134"/>
                </a:lnTo>
                <a:lnTo>
                  <a:pt x="8" y="139"/>
                </a:lnTo>
                <a:lnTo>
                  <a:pt x="10" y="144"/>
                </a:lnTo>
                <a:lnTo>
                  <a:pt x="13" y="149"/>
                </a:lnTo>
                <a:lnTo>
                  <a:pt x="15" y="154"/>
                </a:lnTo>
                <a:lnTo>
                  <a:pt x="18" y="158"/>
                </a:lnTo>
                <a:lnTo>
                  <a:pt x="22" y="157"/>
                </a:lnTo>
                <a:lnTo>
                  <a:pt x="18" y="152"/>
                </a:lnTo>
                <a:lnTo>
                  <a:pt x="17" y="149"/>
                </a:lnTo>
                <a:lnTo>
                  <a:pt x="13" y="144"/>
                </a:lnTo>
                <a:lnTo>
                  <a:pt x="10" y="139"/>
                </a:lnTo>
                <a:lnTo>
                  <a:pt x="8" y="132"/>
                </a:lnTo>
                <a:lnTo>
                  <a:pt x="7" y="127"/>
                </a:lnTo>
                <a:lnTo>
                  <a:pt x="5" y="122"/>
                </a:lnTo>
                <a:lnTo>
                  <a:pt x="4" y="117"/>
                </a:lnTo>
                <a:lnTo>
                  <a:pt x="0" y="119"/>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21" name="Freeform 1926">
            <a:extLst>
              <a:ext uri="{FF2B5EF4-FFF2-40B4-BE49-F238E27FC236}">
                <a16:creationId xmlns:a16="http://schemas.microsoft.com/office/drawing/2014/main" id="{C38CF6D3-CD21-30A5-4E33-E4BFB7AC88FE}"/>
              </a:ext>
            </a:extLst>
          </p:cNvPr>
          <p:cNvSpPr>
            <a:spLocks noEditPoints="1"/>
          </p:cNvSpPr>
          <p:nvPr/>
        </p:nvSpPr>
        <p:spPr bwMode="auto">
          <a:xfrm>
            <a:off x="3302000" y="2476500"/>
            <a:ext cx="436563" cy="249238"/>
          </a:xfrm>
          <a:custGeom>
            <a:avLst/>
            <a:gdLst>
              <a:gd name="T0" fmla="*/ 275 w 275"/>
              <a:gd name="T1" fmla="*/ 42 h 157"/>
              <a:gd name="T2" fmla="*/ 273 w 275"/>
              <a:gd name="T3" fmla="*/ 37 h 157"/>
              <a:gd name="T4" fmla="*/ 271 w 275"/>
              <a:gd name="T5" fmla="*/ 32 h 157"/>
              <a:gd name="T6" fmla="*/ 270 w 275"/>
              <a:gd name="T7" fmla="*/ 25 h 157"/>
              <a:gd name="T8" fmla="*/ 266 w 275"/>
              <a:gd name="T9" fmla="*/ 20 h 157"/>
              <a:gd name="T10" fmla="*/ 265 w 275"/>
              <a:gd name="T11" fmla="*/ 15 h 157"/>
              <a:gd name="T12" fmla="*/ 262 w 275"/>
              <a:gd name="T13" fmla="*/ 10 h 157"/>
              <a:gd name="T14" fmla="*/ 258 w 275"/>
              <a:gd name="T15" fmla="*/ 5 h 157"/>
              <a:gd name="T16" fmla="*/ 255 w 275"/>
              <a:gd name="T17" fmla="*/ 0 h 157"/>
              <a:gd name="T18" fmla="*/ 253 w 275"/>
              <a:gd name="T19" fmla="*/ 2 h 157"/>
              <a:gd name="T20" fmla="*/ 255 w 275"/>
              <a:gd name="T21" fmla="*/ 7 h 157"/>
              <a:gd name="T22" fmla="*/ 258 w 275"/>
              <a:gd name="T23" fmla="*/ 12 h 157"/>
              <a:gd name="T24" fmla="*/ 262 w 275"/>
              <a:gd name="T25" fmla="*/ 17 h 157"/>
              <a:gd name="T26" fmla="*/ 263 w 275"/>
              <a:gd name="T27" fmla="*/ 22 h 157"/>
              <a:gd name="T28" fmla="*/ 266 w 275"/>
              <a:gd name="T29" fmla="*/ 27 h 157"/>
              <a:gd name="T30" fmla="*/ 268 w 275"/>
              <a:gd name="T31" fmla="*/ 32 h 157"/>
              <a:gd name="T32" fmla="*/ 270 w 275"/>
              <a:gd name="T33" fmla="*/ 38 h 157"/>
              <a:gd name="T34" fmla="*/ 271 w 275"/>
              <a:gd name="T35" fmla="*/ 43 h 157"/>
              <a:gd name="T36" fmla="*/ 275 w 275"/>
              <a:gd name="T37" fmla="*/ 42 h 157"/>
              <a:gd name="T38" fmla="*/ 0 w 275"/>
              <a:gd name="T39" fmla="*/ 116 h 157"/>
              <a:gd name="T40" fmla="*/ 2 w 275"/>
              <a:gd name="T41" fmla="*/ 121 h 157"/>
              <a:gd name="T42" fmla="*/ 3 w 275"/>
              <a:gd name="T43" fmla="*/ 128 h 157"/>
              <a:gd name="T44" fmla="*/ 5 w 275"/>
              <a:gd name="T45" fmla="*/ 133 h 157"/>
              <a:gd name="T46" fmla="*/ 8 w 275"/>
              <a:gd name="T47" fmla="*/ 138 h 157"/>
              <a:gd name="T48" fmla="*/ 10 w 275"/>
              <a:gd name="T49" fmla="*/ 143 h 157"/>
              <a:gd name="T50" fmla="*/ 13 w 275"/>
              <a:gd name="T51" fmla="*/ 148 h 157"/>
              <a:gd name="T52" fmla="*/ 15 w 275"/>
              <a:gd name="T53" fmla="*/ 153 h 157"/>
              <a:gd name="T54" fmla="*/ 18 w 275"/>
              <a:gd name="T55" fmla="*/ 157 h 157"/>
              <a:gd name="T56" fmla="*/ 21 w 275"/>
              <a:gd name="T57" fmla="*/ 156 h 157"/>
              <a:gd name="T58" fmla="*/ 18 w 275"/>
              <a:gd name="T59" fmla="*/ 151 h 157"/>
              <a:gd name="T60" fmla="*/ 15 w 275"/>
              <a:gd name="T61" fmla="*/ 146 h 157"/>
              <a:gd name="T62" fmla="*/ 13 w 275"/>
              <a:gd name="T63" fmla="*/ 141 h 157"/>
              <a:gd name="T64" fmla="*/ 10 w 275"/>
              <a:gd name="T65" fmla="*/ 136 h 157"/>
              <a:gd name="T66" fmla="*/ 8 w 275"/>
              <a:gd name="T67" fmla="*/ 131 h 157"/>
              <a:gd name="T68" fmla="*/ 6 w 275"/>
              <a:gd name="T69" fmla="*/ 126 h 157"/>
              <a:gd name="T70" fmla="*/ 5 w 275"/>
              <a:gd name="T71" fmla="*/ 121 h 157"/>
              <a:gd name="T72" fmla="*/ 3 w 275"/>
              <a:gd name="T73" fmla="*/ 114 h 157"/>
              <a:gd name="T74" fmla="*/ 0 w 275"/>
              <a:gd name="T75" fmla="*/ 116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75" h="157">
                <a:moveTo>
                  <a:pt x="275" y="42"/>
                </a:moveTo>
                <a:lnTo>
                  <a:pt x="273" y="37"/>
                </a:lnTo>
                <a:lnTo>
                  <a:pt x="271" y="32"/>
                </a:lnTo>
                <a:lnTo>
                  <a:pt x="270" y="25"/>
                </a:lnTo>
                <a:lnTo>
                  <a:pt x="266" y="20"/>
                </a:lnTo>
                <a:lnTo>
                  <a:pt x="265" y="15"/>
                </a:lnTo>
                <a:lnTo>
                  <a:pt x="262" y="10"/>
                </a:lnTo>
                <a:lnTo>
                  <a:pt x="258" y="5"/>
                </a:lnTo>
                <a:lnTo>
                  <a:pt x="255" y="0"/>
                </a:lnTo>
                <a:lnTo>
                  <a:pt x="253" y="2"/>
                </a:lnTo>
                <a:lnTo>
                  <a:pt x="255" y="7"/>
                </a:lnTo>
                <a:lnTo>
                  <a:pt x="258" y="12"/>
                </a:lnTo>
                <a:lnTo>
                  <a:pt x="262" y="17"/>
                </a:lnTo>
                <a:lnTo>
                  <a:pt x="263" y="22"/>
                </a:lnTo>
                <a:lnTo>
                  <a:pt x="266" y="27"/>
                </a:lnTo>
                <a:lnTo>
                  <a:pt x="268" y="32"/>
                </a:lnTo>
                <a:lnTo>
                  <a:pt x="270" y="38"/>
                </a:lnTo>
                <a:lnTo>
                  <a:pt x="271" y="43"/>
                </a:lnTo>
                <a:lnTo>
                  <a:pt x="275" y="42"/>
                </a:lnTo>
                <a:close/>
                <a:moveTo>
                  <a:pt x="0" y="116"/>
                </a:moveTo>
                <a:lnTo>
                  <a:pt x="2" y="121"/>
                </a:lnTo>
                <a:lnTo>
                  <a:pt x="3" y="128"/>
                </a:lnTo>
                <a:lnTo>
                  <a:pt x="5" y="133"/>
                </a:lnTo>
                <a:lnTo>
                  <a:pt x="8" y="138"/>
                </a:lnTo>
                <a:lnTo>
                  <a:pt x="10" y="143"/>
                </a:lnTo>
                <a:lnTo>
                  <a:pt x="13" y="148"/>
                </a:lnTo>
                <a:lnTo>
                  <a:pt x="15" y="153"/>
                </a:lnTo>
                <a:lnTo>
                  <a:pt x="18" y="157"/>
                </a:lnTo>
                <a:lnTo>
                  <a:pt x="21" y="156"/>
                </a:lnTo>
                <a:lnTo>
                  <a:pt x="18" y="151"/>
                </a:lnTo>
                <a:lnTo>
                  <a:pt x="15" y="146"/>
                </a:lnTo>
                <a:lnTo>
                  <a:pt x="13" y="141"/>
                </a:lnTo>
                <a:lnTo>
                  <a:pt x="10" y="136"/>
                </a:lnTo>
                <a:lnTo>
                  <a:pt x="8" y="131"/>
                </a:lnTo>
                <a:lnTo>
                  <a:pt x="6" y="126"/>
                </a:lnTo>
                <a:lnTo>
                  <a:pt x="5" y="121"/>
                </a:lnTo>
                <a:lnTo>
                  <a:pt x="3" y="114"/>
                </a:lnTo>
                <a:lnTo>
                  <a:pt x="0" y="116"/>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22" name="Freeform 1927">
            <a:extLst>
              <a:ext uri="{FF2B5EF4-FFF2-40B4-BE49-F238E27FC236}">
                <a16:creationId xmlns:a16="http://schemas.microsoft.com/office/drawing/2014/main" id="{52AAE3E3-EBE4-0F7F-2CED-ECCBE0884D76}"/>
              </a:ext>
            </a:extLst>
          </p:cNvPr>
          <p:cNvSpPr>
            <a:spLocks noEditPoints="1"/>
          </p:cNvSpPr>
          <p:nvPr/>
        </p:nvSpPr>
        <p:spPr bwMode="auto">
          <a:xfrm>
            <a:off x="3305175" y="2476500"/>
            <a:ext cx="430213" cy="247650"/>
          </a:xfrm>
          <a:custGeom>
            <a:avLst/>
            <a:gdLst>
              <a:gd name="T0" fmla="*/ 271 w 271"/>
              <a:gd name="T1" fmla="*/ 43 h 156"/>
              <a:gd name="T2" fmla="*/ 269 w 271"/>
              <a:gd name="T3" fmla="*/ 37 h 156"/>
              <a:gd name="T4" fmla="*/ 268 w 271"/>
              <a:gd name="T5" fmla="*/ 32 h 156"/>
              <a:gd name="T6" fmla="*/ 266 w 271"/>
              <a:gd name="T7" fmla="*/ 27 h 156"/>
              <a:gd name="T8" fmla="*/ 263 w 271"/>
              <a:gd name="T9" fmla="*/ 20 h 156"/>
              <a:gd name="T10" fmla="*/ 261 w 271"/>
              <a:gd name="T11" fmla="*/ 15 h 156"/>
              <a:gd name="T12" fmla="*/ 258 w 271"/>
              <a:gd name="T13" fmla="*/ 10 h 156"/>
              <a:gd name="T14" fmla="*/ 255 w 271"/>
              <a:gd name="T15" fmla="*/ 5 h 156"/>
              <a:gd name="T16" fmla="*/ 253 w 271"/>
              <a:gd name="T17" fmla="*/ 0 h 156"/>
              <a:gd name="T18" fmla="*/ 250 w 271"/>
              <a:gd name="T19" fmla="*/ 2 h 156"/>
              <a:gd name="T20" fmla="*/ 253 w 271"/>
              <a:gd name="T21" fmla="*/ 7 h 156"/>
              <a:gd name="T22" fmla="*/ 255 w 271"/>
              <a:gd name="T23" fmla="*/ 12 h 156"/>
              <a:gd name="T24" fmla="*/ 258 w 271"/>
              <a:gd name="T25" fmla="*/ 17 h 156"/>
              <a:gd name="T26" fmla="*/ 260 w 271"/>
              <a:gd name="T27" fmla="*/ 22 h 156"/>
              <a:gd name="T28" fmla="*/ 263 w 271"/>
              <a:gd name="T29" fmla="*/ 27 h 156"/>
              <a:gd name="T30" fmla="*/ 264 w 271"/>
              <a:gd name="T31" fmla="*/ 33 h 156"/>
              <a:gd name="T32" fmla="*/ 266 w 271"/>
              <a:gd name="T33" fmla="*/ 38 h 156"/>
              <a:gd name="T34" fmla="*/ 268 w 271"/>
              <a:gd name="T35" fmla="*/ 45 h 156"/>
              <a:gd name="T36" fmla="*/ 271 w 271"/>
              <a:gd name="T37" fmla="*/ 43 h 156"/>
              <a:gd name="T38" fmla="*/ 0 w 271"/>
              <a:gd name="T39" fmla="*/ 116 h 156"/>
              <a:gd name="T40" fmla="*/ 1 w 271"/>
              <a:gd name="T41" fmla="*/ 121 h 156"/>
              <a:gd name="T42" fmla="*/ 3 w 271"/>
              <a:gd name="T43" fmla="*/ 126 h 156"/>
              <a:gd name="T44" fmla="*/ 4 w 271"/>
              <a:gd name="T45" fmla="*/ 131 h 156"/>
              <a:gd name="T46" fmla="*/ 6 w 271"/>
              <a:gd name="T47" fmla="*/ 138 h 156"/>
              <a:gd name="T48" fmla="*/ 9 w 271"/>
              <a:gd name="T49" fmla="*/ 143 h 156"/>
              <a:gd name="T50" fmla="*/ 13 w 271"/>
              <a:gd name="T51" fmla="*/ 148 h 156"/>
              <a:gd name="T52" fmla="*/ 14 w 271"/>
              <a:gd name="T53" fmla="*/ 151 h 156"/>
              <a:gd name="T54" fmla="*/ 18 w 271"/>
              <a:gd name="T55" fmla="*/ 156 h 156"/>
              <a:gd name="T56" fmla="*/ 21 w 271"/>
              <a:gd name="T57" fmla="*/ 156 h 156"/>
              <a:gd name="T58" fmla="*/ 18 w 271"/>
              <a:gd name="T59" fmla="*/ 151 h 156"/>
              <a:gd name="T60" fmla="*/ 14 w 271"/>
              <a:gd name="T61" fmla="*/ 146 h 156"/>
              <a:gd name="T62" fmla="*/ 13 w 271"/>
              <a:gd name="T63" fmla="*/ 141 h 156"/>
              <a:gd name="T64" fmla="*/ 9 w 271"/>
              <a:gd name="T65" fmla="*/ 136 h 156"/>
              <a:gd name="T66" fmla="*/ 8 w 271"/>
              <a:gd name="T67" fmla="*/ 131 h 156"/>
              <a:gd name="T68" fmla="*/ 6 w 271"/>
              <a:gd name="T69" fmla="*/ 124 h 156"/>
              <a:gd name="T70" fmla="*/ 4 w 271"/>
              <a:gd name="T71" fmla="*/ 119 h 156"/>
              <a:gd name="T72" fmla="*/ 3 w 271"/>
              <a:gd name="T73" fmla="*/ 114 h 156"/>
              <a:gd name="T74" fmla="*/ 0 w 271"/>
              <a:gd name="T75" fmla="*/ 116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71" h="156">
                <a:moveTo>
                  <a:pt x="271" y="43"/>
                </a:moveTo>
                <a:lnTo>
                  <a:pt x="269" y="37"/>
                </a:lnTo>
                <a:lnTo>
                  <a:pt x="268" y="32"/>
                </a:lnTo>
                <a:lnTo>
                  <a:pt x="266" y="27"/>
                </a:lnTo>
                <a:lnTo>
                  <a:pt x="263" y="20"/>
                </a:lnTo>
                <a:lnTo>
                  <a:pt x="261" y="15"/>
                </a:lnTo>
                <a:lnTo>
                  <a:pt x="258" y="10"/>
                </a:lnTo>
                <a:lnTo>
                  <a:pt x="255" y="5"/>
                </a:lnTo>
                <a:lnTo>
                  <a:pt x="253" y="0"/>
                </a:lnTo>
                <a:lnTo>
                  <a:pt x="250" y="2"/>
                </a:lnTo>
                <a:lnTo>
                  <a:pt x="253" y="7"/>
                </a:lnTo>
                <a:lnTo>
                  <a:pt x="255" y="12"/>
                </a:lnTo>
                <a:lnTo>
                  <a:pt x="258" y="17"/>
                </a:lnTo>
                <a:lnTo>
                  <a:pt x="260" y="22"/>
                </a:lnTo>
                <a:lnTo>
                  <a:pt x="263" y="27"/>
                </a:lnTo>
                <a:lnTo>
                  <a:pt x="264" y="33"/>
                </a:lnTo>
                <a:lnTo>
                  <a:pt x="266" y="38"/>
                </a:lnTo>
                <a:lnTo>
                  <a:pt x="268" y="45"/>
                </a:lnTo>
                <a:lnTo>
                  <a:pt x="271" y="43"/>
                </a:lnTo>
                <a:close/>
                <a:moveTo>
                  <a:pt x="0" y="116"/>
                </a:moveTo>
                <a:lnTo>
                  <a:pt x="1" y="121"/>
                </a:lnTo>
                <a:lnTo>
                  <a:pt x="3" y="126"/>
                </a:lnTo>
                <a:lnTo>
                  <a:pt x="4" y="131"/>
                </a:lnTo>
                <a:lnTo>
                  <a:pt x="6" y="138"/>
                </a:lnTo>
                <a:lnTo>
                  <a:pt x="9" y="143"/>
                </a:lnTo>
                <a:lnTo>
                  <a:pt x="13" y="148"/>
                </a:lnTo>
                <a:lnTo>
                  <a:pt x="14" y="151"/>
                </a:lnTo>
                <a:lnTo>
                  <a:pt x="18" y="156"/>
                </a:lnTo>
                <a:lnTo>
                  <a:pt x="21" y="156"/>
                </a:lnTo>
                <a:lnTo>
                  <a:pt x="18" y="151"/>
                </a:lnTo>
                <a:lnTo>
                  <a:pt x="14" y="146"/>
                </a:lnTo>
                <a:lnTo>
                  <a:pt x="13" y="141"/>
                </a:lnTo>
                <a:lnTo>
                  <a:pt x="9" y="136"/>
                </a:lnTo>
                <a:lnTo>
                  <a:pt x="8" y="131"/>
                </a:lnTo>
                <a:lnTo>
                  <a:pt x="6" y="124"/>
                </a:lnTo>
                <a:lnTo>
                  <a:pt x="4" y="119"/>
                </a:lnTo>
                <a:lnTo>
                  <a:pt x="3" y="114"/>
                </a:lnTo>
                <a:lnTo>
                  <a:pt x="0" y="116"/>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23" name="Freeform 1928">
            <a:extLst>
              <a:ext uri="{FF2B5EF4-FFF2-40B4-BE49-F238E27FC236}">
                <a16:creationId xmlns:a16="http://schemas.microsoft.com/office/drawing/2014/main" id="{4832D7B9-0005-702A-9047-55A5893EAF55}"/>
              </a:ext>
            </a:extLst>
          </p:cNvPr>
          <p:cNvSpPr>
            <a:spLocks noEditPoints="1"/>
          </p:cNvSpPr>
          <p:nvPr/>
        </p:nvSpPr>
        <p:spPr bwMode="auto">
          <a:xfrm>
            <a:off x="3306763" y="2479675"/>
            <a:ext cx="425450" cy="244475"/>
          </a:xfrm>
          <a:custGeom>
            <a:avLst/>
            <a:gdLst>
              <a:gd name="T0" fmla="*/ 268 w 268"/>
              <a:gd name="T1" fmla="*/ 41 h 154"/>
              <a:gd name="T2" fmla="*/ 267 w 268"/>
              <a:gd name="T3" fmla="*/ 36 h 154"/>
              <a:gd name="T4" fmla="*/ 265 w 268"/>
              <a:gd name="T5" fmla="*/ 30 h 154"/>
              <a:gd name="T6" fmla="*/ 263 w 268"/>
              <a:gd name="T7" fmla="*/ 25 h 154"/>
              <a:gd name="T8" fmla="*/ 260 w 268"/>
              <a:gd name="T9" fmla="*/ 20 h 154"/>
              <a:gd name="T10" fmla="*/ 259 w 268"/>
              <a:gd name="T11" fmla="*/ 15 h 154"/>
              <a:gd name="T12" fmla="*/ 255 w 268"/>
              <a:gd name="T13" fmla="*/ 10 h 154"/>
              <a:gd name="T14" fmla="*/ 252 w 268"/>
              <a:gd name="T15" fmla="*/ 5 h 154"/>
              <a:gd name="T16" fmla="*/ 250 w 268"/>
              <a:gd name="T17" fmla="*/ 0 h 154"/>
              <a:gd name="T18" fmla="*/ 247 w 268"/>
              <a:gd name="T19" fmla="*/ 2 h 154"/>
              <a:gd name="T20" fmla="*/ 250 w 268"/>
              <a:gd name="T21" fmla="*/ 5 h 154"/>
              <a:gd name="T22" fmla="*/ 252 w 268"/>
              <a:gd name="T23" fmla="*/ 10 h 154"/>
              <a:gd name="T24" fmla="*/ 255 w 268"/>
              <a:gd name="T25" fmla="*/ 16 h 154"/>
              <a:gd name="T26" fmla="*/ 259 w 268"/>
              <a:gd name="T27" fmla="*/ 21 h 154"/>
              <a:gd name="T28" fmla="*/ 260 w 268"/>
              <a:gd name="T29" fmla="*/ 26 h 154"/>
              <a:gd name="T30" fmla="*/ 262 w 268"/>
              <a:gd name="T31" fmla="*/ 31 h 154"/>
              <a:gd name="T32" fmla="*/ 263 w 268"/>
              <a:gd name="T33" fmla="*/ 38 h 154"/>
              <a:gd name="T34" fmla="*/ 265 w 268"/>
              <a:gd name="T35" fmla="*/ 43 h 154"/>
              <a:gd name="T36" fmla="*/ 268 w 268"/>
              <a:gd name="T37" fmla="*/ 41 h 154"/>
              <a:gd name="T38" fmla="*/ 0 w 268"/>
              <a:gd name="T39" fmla="*/ 112 h 154"/>
              <a:gd name="T40" fmla="*/ 2 w 268"/>
              <a:gd name="T41" fmla="*/ 119 h 154"/>
              <a:gd name="T42" fmla="*/ 3 w 268"/>
              <a:gd name="T43" fmla="*/ 124 h 154"/>
              <a:gd name="T44" fmla="*/ 5 w 268"/>
              <a:gd name="T45" fmla="*/ 129 h 154"/>
              <a:gd name="T46" fmla="*/ 7 w 268"/>
              <a:gd name="T47" fmla="*/ 134 h 154"/>
              <a:gd name="T48" fmla="*/ 10 w 268"/>
              <a:gd name="T49" fmla="*/ 139 h 154"/>
              <a:gd name="T50" fmla="*/ 12 w 268"/>
              <a:gd name="T51" fmla="*/ 144 h 154"/>
              <a:gd name="T52" fmla="*/ 15 w 268"/>
              <a:gd name="T53" fmla="*/ 149 h 154"/>
              <a:gd name="T54" fmla="*/ 18 w 268"/>
              <a:gd name="T55" fmla="*/ 154 h 154"/>
              <a:gd name="T56" fmla="*/ 22 w 268"/>
              <a:gd name="T57" fmla="*/ 152 h 154"/>
              <a:gd name="T58" fmla="*/ 18 w 268"/>
              <a:gd name="T59" fmla="*/ 147 h 154"/>
              <a:gd name="T60" fmla="*/ 15 w 268"/>
              <a:gd name="T61" fmla="*/ 142 h 154"/>
              <a:gd name="T62" fmla="*/ 13 w 268"/>
              <a:gd name="T63" fmla="*/ 137 h 154"/>
              <a:gd name="T64" fmla="*/ 10 w 268"/>
              <a:gd name="T65" fmla="*/ 132 h 154"/>
              <a:gd name="T66" fmla="*/ 8 w 268"/>
              <a:gd name="T67" fmla="*/ 127 h 154"/>
              <a:gd name="T68" fmla="*/ 7 w 268"/>
              <a:gd name="T69" fmla="*/ 122 h 154"/>
              <a:gd name="T70" fmla="*/ 5 w 268"/>
              <a:gd name="T71" fmla="*/ 117 h 154"/>
              <a:gd name="T72" fmla="*/ 3 w 268"/>
              <a:gd name="T73" fmla="*/ 111 h 154"/>
              <a:gd name="T74" fmla="*/ 0 w 268"/>
              <a:gd name="T75" fmla="*/ 112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68" h="154">
                <a:moveTo>
                  <a:pt x="268" y="41"/>
                </a:moveTo>
                <a:lnTo>
                  <a:pt x="267" y="36"/>
                </a:lnTo>
                <a:lnTo>
                  <a:pt x="265" y="30"/>
                </a:lnTo>
                <a:lnTo>
                  <a:pt x="263" y="25"/>
                </a:lnTo>
                <a:lnTo>
                  <a:pt x="260" y="20"/>
                </a:lnTo>
                <a:lnTo>
                  <a:pt x="259" y="15"/>
                </a:lnTo>
                <a:lnTo>
                  <a:pt x="255" y="10"/>
                </a:lnTo>
                <a:lnTo>
                  <a:pt x="252" y="5"/>
                </a:lnTo>
                <a:lnTo>
                  <a:pt x="250" y="0"/>
                </a:lnTo>
                <a:lnTo>
                  <a:pt x="247" y="2"/>
                </a:lnTo>
                <a:lnTo>
                  <a:pt x="250" y="5"/>
                </a:lnTo>
                <a:lnTo>
                  <a:pt x="252" y="10"/>
                </a:lnTo>
                <a:lnTo>
                  <a:pt x="255" y="16"/>
                </a:lnTo>
                <a:lnTo>
                  <a:pt x="259" y="21"/>
                </a:lnTo>
                <a:lnTo>
                  <a:pt x="260" y="26"/>
                </a:lnTo>
                <a:lnTo>
                  <a:pt x="262" y="31"/>
                </a:lnTo>
                <a:lnTo>
                  <a:pt x="263" y="38"/>
                </a:lnTo>
                <a:lnTo>
                  <a:pt x="265" y="43"/>
                </a:lnTo>
                <a:lnTo>
                  <a:pt x="268" y="41"/>
                </a:lnTo>
                <a:close/>
                <a:moveTo>
                  <a:pt x="0" y="112"/>
                </a:moveTo>
                <a:lnTo>
                  <a:pt x="2" y="119"/>
                </a:lnTo>
                <a:lnTo>
                  <a:pt x="3" y="124"/>
                </a:lnTo>
                <a:lnTo>
                  <a:pt x="5" y="129"/>
                </a:lnTo>
                <a:lnTo>
                  <a:pt x="7" y="134"/>
                </a:lnTo>
                <a:lnTo>
                  <a:pt x="10" y="139"/>
                </a:lnTo>
                <a:lnTo>
                  <a:pt x="12" y="144"/>
                </a:lnTo>
                <a:lnTo>
                  <a:pt x="15" y="149"/>
                </a:lnTo>
                <a:lnTo>
                  <a:pt x="18" y="154"/>
                </a:lnTo>
                <a:lnTo>
                  <a:pt x="22" y="152"/>
                </a:lnTo>
                <a:lnTo>
                  <a:pt x="18" y="147"/>
                </a:lnTo>
                <a:lnTo>
                  <a:pt x="15" y="142"/>
                </a:lnTo>
                <a:lnTo>
                  <a:pt x="13" y="137"/>
                </a:lnTo>
                <a:lnTo>
                  <a:pt x="10" y="132"/>
                </a:lnTo>
                <a:lnTo>
                  <a:pt x="8" y="127"/>
                </a:lnTo>
                <a:lnTo>
                  <a:pt x="7" y="122"/>
                </a:lnTo>
                <a:lnTo>
                  <a:pt x="5" y="117"/>
                </a:lnTo>
                <a:lnTo>
                  <a:pt x="3" y="111"/>
                </a:lnTo>
                <a:lnTo>
                  <a:pt x="0" y="112"/>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24" name="Freeform 1929">
            <a:extLst>
              <a:ext uri="{FF2B5EF4-FFF2-40B4-BE49-F238E27FC236}">
                <a16:creationId xmlns:a16="http://schemas.microsoft.com/office/drawing/2014/main" id="{6E1E33BA-6AB4-27C3-61FF-67858ECF1235}"/>
              </a:ext>
            </a:extLst>
          </p:cNvPr>
          <p:cNvSpPr>
            <a:spLocks noEditPoints="1"/>
          </p:cNvSpPr>
          <p:nvPr/>
        </p:nvSpPr>
        <p:spPr bwMode="auto">
          <a:xfrm>
            <a:off x="3309938" y="2479675"/>
            <a:ext cx="420688" cy="244475"/>
          </a:xfrm>
          <a:custGeom>
            <a:avLst/>
            <a:gdLst>
              <a:gd name="T0" fmla="*/ 265 w 265"/>
              <a:gd name="T1" fmla="*/ 43 h 154"/>
              <a:gd name="T2" fmla="*/ 263 w 265"/>
              <a:gd name="T3" fmla="*/ 36 h 154"/>
              <a:gd name="T4" fmla="*/ 261 w 265"/>
              <a:gd name="T5" fmla="*/ 31 h 154"/>
              <a:gd name="T6" fmla="*/ 260 w 265"/>
              <a:gd name="T7" fmla="*/ 25 h 154"/>
              <a:gd name="T8" fmla="*/ 257 w 265"/>
              <a:gd name="T9" fmla="*/ 20 h 154"/>
              <a:gd name="T10" fmla="*/ 255 w 265"/>
              <a:gd name="T11" fmla="*/ 15 h 154"/>
              <a:gd name="T12" fmla="*/ 252 w 265"/>
              <a:gd name="T13" fmla="*/ 10 h 154"/>
              <a:gd name="T14" fmla="*/ 250 w 265"/>
              <a:gd name="T15" fmla="*/ 5 h 154"/>
              <a:gd name="T16" fmla="*/ 247 w 265"/>
              <a:gd name="T17" fmla="*/ 0 h 154"/>
              <a:gd name="T18" fmla="*/ 243 w 265"/>
              <a:gd name="T19" fmla="*/ 2 h 154"/>
              <a:gd name="T20" fmla="*/ 247 w 265"/>
              <a:gd name="T21" fmla="*/ 6 h 154"/>
              <a:gd name="T22" fmla="*/ 248 w 265"/>
              <a:gd name="T23" fmla="*/ 11 h 154"/>
              <a:gd name="T24" fmla="*/ 252 w 265"/>
              <a:gd name="T25" fmla="*/ 16 h 154"/>
              <a:gd name="T26" fmla="*/ 255 w 265"/>
              <a:gd name="T27" fmla="*/ 21 h 154"/>
              <a:gd name="T28" fmla="*/ 257 w 265"/>
              <a:gd name="T29" fmla="*/ 26 h 154"/>
              <a:gd name="T30" fmla="*/ 258 w 265"/>
              <a:gd name="T31" fmla="*/ 33 h 154"/>
              <a:gd name="T32" fmla="*/ 260 w 265"/>
              <a:gd name="T33" fmla="*/ 38 h 154"/>
              <a:gd name="T34" fmla="*/ 261 w 265"/>
              <a:gd name="T35" fmla="*/ 43 h 154"/>
              <a:gd name="T36" fmla="*/ 265 w 265"/>
              <a:gd name="T37" fmla="*/ 43 h 154"/>
              <a:gd name="T38" fmla="*/ 0 w 265"/>
              <a:gd name="T39" fmla="*/ 112 h 154"/>
              <a:gd name="T40" fmla="*/ 1 w 265"/>
              <a:gd name="T41" fmla="*/ 117 h 154"/>
              <a:gd name="T42" fmla="*/ 3 w 265"/>
              <a:gd name="T43" fmla="*/ 122 h 154"/>
              <a:gd name="T44" fmla="*/ 5 w 265"/>
              <a:gd name="T45" fmla="*/ 129 h 154"/>
              <a:gd name="T46" fmla="*/ 6 w 265"/>
              <a:gd name="T47" fmla="*/ 134 h 154"/>
              <a:gd name="T48" fmla="*/ 10 w 265"/>
              <a:gd name="T49" fmla="*/ 139 h 154"/>
              <a:gd name="T50" fmla="*/ 11 w 265"/>
              <a:gd name="T51" fmla="*/ 144 h 154"/>
              <a:gd name="T52" fmla="*/ 15 w 265"/>
              <a:gd name="T53" fmla="*/ 149 h 154"/>
              <a:gd name="T54" fmla="*/ 18 w 265"/>
              <a:gd name="T55" fmla="*/ 154 h 154"/>
              <a:gd name="T56" fmla="*/ 21 w 265"/>
              <a:gd name="T57" fmla="*/ 152 h 154"/>
              <a:gd name="T58" fmla="*/ 18 w 265"/>
              <a:gd name="T59" fmla="*/ 147 h 154"/>
              <a:gd name="T60" fmla="*/ 15 w 265"/>
              <a:gd name="T61" fmla="*/ 142 h 154"/>
              <a:gd name="T62" fmla="*/ 13 w 265"/>
              <a:gd name="T63" fmla="*/ 137 h 154"/>
              <a:gd name="T64" fmla="*/ 10 w 265"/>
              <a:gd name="T65" fmla="*/ 132 h 154"/>
              <a:gd name="T66" fmla="*/ 8 w 265"/>
              <a:gd name="T67" fmla="*/ 127 h 154"/>
              <a:gd name="T68" fmla="*/ 6 w 265"/>
              <a:gd name="T69" fmla="*/ 122 h 154"/>
              <a:gd name="T70" fmla="*/ 3 w 265"/>
              <a:gd name="T71" fmla="*/ 116 h 154"/>
              <a:gd name="T72" fmla="*/ 3 w 265"/>
              <a:gd name="T73" fmla="*/ 111 h 154"/>
              <a:gd name="T74" fmla="*/ 0 w 265"/>
              <a:gd name="T75" fmla="*/ 112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65" h="154">
                <a:moveTo>
                  <a:pt x="265" y="43"/>
                </a:moveTo>
                <a:lnTo>
                  <a:pt x="263" y="36"/>
                </a:lnTo>
                <a:lnTo>
                  <a:pt x="261" y="31"/>
                </a:lnTo>
                <a:lnTo>
                  <a:pt x="260" y="25"/>
                </a:lnTo>
                <a:lnTo>
                  <a:pt x="257" y="20"/>
                </a:lnTo>
                <a:lnTo>
                  <a:pt x="255" y="15"/>
                </a:lnTo>
                <a:lnTo>
                  <a:pt x="252" y="10"/>
                </a:lnTo>
                <a:lnTo>
                  <a:pt x="250" y="5"/>
                </a:lnTo>
                <a:lnTo>
                  <a:pt x="247" y="0"/>
                </a:lnTo>
                <a:lnTo>
                  <a:pt x="243" y="2"/>
                </a:lnTo>
                <a:lnTo>
                  <a:pt x="247" y="6"/>
                </a:lnTo>
                <a:lnTo>
                  <a:pt x="248" y="11"/>
                </a:lnTo>
                <a:lnTo>
                  <a:pt x="252" y="16"/>
                </a:lnTo>
                <a:lnTo>
                  <a:pt x="255" y="21"/>
                </a:lnTo>
                <a:lnTo>
                  <a:pt x="257" y="26"/>
                </a:lnTo>
                <a:lnTo>
                  <a:pt x="258" y="33"/>
                </a:lnTo>
                <a:lnTo>
                  <a:pt x="260" y="38"/>
                </a:lnTo>
                <a:lnTo>
                  <a:pt x="261" y="43"/>
                </a:lnTo>
                <a:lnTo>
                  <a:pt x="265" y="43"/>
                </a:lnTo>
                <a:close/>
                <a:moveTo>
                  <a:pt x="0" y="112"/>
                </a:moveTo>
                <a:lnTo>
                  <a:pt x="1" y="117"/>
                </a:lnTo>
                <a:lnTo>
                  <a:pt x="3" y="122"/>
                </a:lnTo>
                <a:lnTo>
                  <a:pt x="5" y="129"/>
                </a:lnTo>
                <a:lnTo>
                  <a:pt x="6" y="134"/>
                </a:lnTo>
                <a:lnTo>
                  <a:pt x="10" y="139"/>
                </a:lnTo>
                <a:lnTo>
                  <a:pt x="11" y="144"/>
                </a:lnTo>
                <a:lnTo>
                  <a:pt x="15" y="149"/>
                </a:lnTo>
                <a:lnTo>
                  <a:pt x="18" y="154"/>
                </a:lnTo>
                <a:lnTo>
                  <a:pt x="21" y="152"/>
                </a:lnTo>
                <a:lnTo>
                  <a:pt x="18" y="147"/>
                </a:lnTo>
                <a:lnTo>
                  <a:pt x="15" y="142"/>
                </a:lnTo>
                <a:lnTo>
                  <a:pt x="13" y="137"/>
                </a:lnTo>
                <a:lnTo>
                  <a:pt x="10" y="132"/>
                </a:lnTo>
                <a:lnTo>
                  <a:pt x="8" y="127"/>
                </a:lnTo>
                <a:lnTo>
                  <a:pt x="6" y="122"/>
                </a:lnTo>
                <a:lnTo>
                  <a:pt x="3" y="116"/>
                </a:lnTo>
                <a:lnTo>
                  <a:pt x="3" y="111"/>
                </a:lnTo>
                <a:lnTo>
                  <a:pt x="0" y="112"/>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25" name="Freeform 1930">
            <a:extLst>
              <a:ext uri="{FF2B5EF4-FFF2-40B4-BE49-F238E27FC236}">
                <a16:creationId xmlns:a16="http://schemas.microsoft.com/office/drawing/2014/main" id="{5A582DF9-1FBE-16D3-0CEF-092075AEFA04}"/>
              </a:ext>
            </a:extLst>
          </p:cNvPr>
          <p:cNvSpPr>
            <a:spLocks noEditPoints="1"/>
          </p:cNvSpPr>
          <p:nvPr/>
        </p:nvSpPr>
        <p:spPr bwMode="auto">
          <a:xfrm>
            <a:off x="3311525" y="2482850"/>
            <a:ext cx="415925" cy="238125"/>
          </a:xfrm>
          <a:custGeom>
            <a:avLst/>
            <a:gdLst>
              <a:gd name="T0" fmla="*/ 262 w 262"/>
              <a:gd name="T1" fmla="*/ 41 h 150"/>
              <a:gd name="T2" fmla="*/ 260 w 262"/>
              <a:gd name="T3" fmla="*/ 36 h 150"/>
              <a:gd name="T4" fmla="*/ 259 w 262"/>
              <a:gd name="T5" fmla="*/ 29 h 150"/>
              <a:gd name="T6" fmla="*/ 257 w 262"/>
              <a:gd name="T7" fmla="*/ 24 h 150"/>
              <a:gd name="T8" fmla="*/ 256 w 262"/>
              <a:gd name="T9" fmla="*/ 19 h 150"/>
              <a:gd name="T10" fmla="*/ 252 w 262"/>
              <a:gd name="T11" fmla="*/ 14 h 150"/>
              <a:gd name="T12" fmla="*/ 249 w 262"/>
              <a:gd name="T13" fmla="*/ 8 h 150"/>
              <a:gd name="T14" fmla="*/ 247 w 262"/>
              <a:gd name="T15" fmla="*/ 3 h 150"/>
              <a:gd name="T16" fmla="*/ 244 w 262"/>
              <a:gd name="T17" fmla="*/ 0 h 150"/>
              <a:gd name="T18" fmla="*/ 241 w 262"/>
              <a:gd name="T19" fmla="*/ 0 h 150"/>
              <a:gd name="T20" fmla="*/ 244 w 262"/>
              <a:gd name="T21" fmla="*/ 4 h 150"/>
              <a:gd name="T22" fmla="*/ 247 w 262"/>
              <a:gd name="T23" fmla="*/ 9 h 150"/>
              <a:gd name="T24" fmla="*/ 249 w 262"/>
              <a:gd name="T25" fmla="*/ 14 h 150"/>
              <a:gd name="T26" fmla="*/ 252 w 262"/>
              <a:gd name="T27" fmla="*/ 21 h 150"/>
              <a:gd name="T28" fmla="*/ 254 w 262"/>
              <a:gd name="T29" fmla="*/ 26 h 150"/>
              <a:gd name="T30" fmla="*/ 256 w 262"/>
              <a:gd name="T31" fmla="*/ 31 h 150"/>
              <a:gd name="T32" fmla="*/ 257 w 262"/>
              <a:gd name="T33" fmla="*/ 36 h 150"/>
              <a:gd name="T34" fmla="*/ 259 w 262"/>
              <a:gd name="T35" fmla="*/ 43 h 150"/>
              <a:gd name="T36" fmla="*/ 262 w 262"/>
              <a:gd name="T37" fmla="*/ 41 h 150"/>
              <a:gd name="T38" fmla="*/ 0 w 262"/>
              <a:gd name="T39" fmla="*/ 109 h 150"/>
              <a:gd name="T40" fmla="*/ 2 w 262"/>
              <a:gd name="T41" fmla="*/ 115 h 150"/>
              <a:gd name="T42" fmla="*/ 4 w 262"/>
              <a:gd name="T43" fmla="*/ 120 h 150"/>
              <a:gd name="T44" fmla="*/ 5 w 262"/>
              <a:gd name="T45" fmla="*/ 125 h 150"/>
              <a:gd name="T46" fmla="*/ 7 w 262"/>
              <a:gd name="T47" fmla="*/ 130 h 150"/>
              <a:gd name="T48" fmla="*/ 10 w 262"/>
              <a:gd name="T49" fmla="*/ 135 h 150"/>
              <a:gd name="T50" fmla="*/ 12 w 262"/>
              <a:gd name="T51" fmla="*/ 140 h 150"/>
              <a:gd name="T52" fmla="*/ 15 w 262"/>
              <a:gd name="T53" fmla="*/ 145 h 150"/>
              <a:gd name="T54" fmla="*/ 19 w 262"/>
              <a:gd name="T55" fmla="*/ 150 h 150"/>
              <a:gd name="T56" fmla="*/ 22 w 262"/>
              <a:gd name="T57" fmla="*/ 149 h 150"/>
              <a:gd name="T58" fmla="*/ 19 w 262"/>
              <a:gd name="T59" fmla="*/ 144 h 150"/>
              <a:gd name="T60" fmla="*/ 15 w 262"/>
              <a:gd name="T61" fmla="*/ 140 h 150"/>
              <a:gd name="T62" fmla="*/ 14 w 262"/>
              <a:gd name="T63" fmla="*/ 135 h 150"/>
              <a:gd name="T64" fmla="*/ 10 w 262"/>
              <a:gd name="T65" fmla="*/ 130 h 150"/>
              <a:gd name="T66" fmla="*/ 9 w 262"/>
              <a:gd name="T67" fmla="*/ 124 h 150"/>
              <a:gd name="T68" fmla="*/ 5 w 262"/>
              <a:gd name="T69" fmla="*/ 119 h 150"/>
              <a:gd name="T70" fmla="*/ 4 w 262"/>
              <a:gd name="T71" fmla="*/ 114 h 150"/>
              <a:gd name="T72" fmla="*/ 2 w 262"/>
              <a:gd name="T73" fmla="*/ 109 h 150"/>
              <a:gd name="T74" fmla="*/ 0 w 262"/>
              <a:gd name="T75" fmla="*/ 109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62" h="150">
                <a:moveTo>
                  <a:pt x="262" y="41"/>
                </a:moveTo>
                <a:lnTo>
                  <a:pt x="260" y="36"/>
                </a:lnTo>
                <a:lnTo>
                  <a:pt x="259" y="29"/>
                </a:lnTo>
                <a:lnTo>
                  <a:pt x="257" y="24"/>
                </a:lnTo>
                <a:lnTo>
                  <a:pt x="256" y="19"/>
                </a:lnTo>
                <a:lnTo>
                  <a:pt x="252" y="14"/>
                </a:lnTo>
                <a:lnTo>
                  <a:pt x="249" y="8"/>
                </a:lnTo>
                <a:lnTo>
                  <a:pt x="247" y="3"/>
                </a:lnTo>
                <a:lnTo>
                  <a:pt x="244" y="0"/>
                </a:lnTo>
                <a:lnTo>
                  <a:pt x="241" y="0"/>
                </a:lnTo>
                <a:lnTo>
                  <a:pt x="244" y="4"/>
                </a:lnTo>
                <a:lnTo>
                  <a:pt x="247" y="9"/>
                </a:lnTo>
                <a:lnTo>
                  <a:pt x="249" y="14"/>
                </a:lnTo>
                <a:lnTo>
                  <a:pt x="252" y="21"/>
                </a:lnTo>
                <a:lnTo>
                  <a:pt x="254" y="26"/>
                </a:lnTo>
                <a:lnTo>
                  <a:pt x="256" y="31"/>
                </a:lnTo>
                <a:lnTo>
                  <a:pt x="257" y="36"/>
                </a:lnTo>
                <a:lnTo>
                  <a:pt x="259" y="43"/>
                </a:lnTo>
                <a:lnTo>
                  <a:pt x="262" y="41"/>
                </a:lnTo>
                <a:close/>
                <a:moveTo>
                  <a:pt x="0" y="109"/>
                </a:moveTo>
                <a:lnTo>
                  <a:pt x="2" y="115"/>
                </a:lnTo>
                <a:lnTo>
                  <a:pt x="4" y="120"/>
                </a:lnTo>
                <a:lnTo>
                  <a:pt x="5" y="125"/>
                </a:lnTo>
                <a:lnTo>
                  <a:pt x="7" y="130"/>
                </a:lnTo>
                <a:lnTo>
                  <a:pt x="10" y="135"/>
                </a:lnTo>
                <a:lnTo>
                  <a:pt x="12" y="140"/>
                </a:lnTo>
                <a:lnTo>
                  <a:pt x="15" y="145"/>
                </a:lnTo>
                <a:lnTo>
                  <a:pt x="19" y="150"/>
                </a:lnTo>
                <a:lnTo>
                  <a:pt x="22" y="149"/>
                </a:lnTo>
                <a:lnTo>
                  <a:pt x="19" y="144"/>
                </a:lnTo>
                <a:lnTo>
                  <a:pt x="15" y="140"/>
                </a:lnTo>
                <a:lnTo>
                  <a:pt x="14" y="135"/>
                </a:lnTo>
                <a:lnTo>
                  <a:pt x="10" y="130"/>
                </a:lnTo>
                <a:lnTo>
                  <a:pt x="9" y="124"/>
                </a:lnTo>
                <a:lnTo>
                  <a:pt x="5" y="119"/>
                </a:lnTo>
                <a:lnTo>
                  <a:pt x="4" y="114"/>
                </a:lnTo>
                <a:lnTo>
                  <a:pt x="2" y="109"/>
                </a:lnTo>
                <a:lnTo>
                  <a:pt x="0" y="109"/>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26" name="Freeform 1931">
            <a:extLst>
              <a:ext uri="{FF2B5EF4-FFF2-40B4-BE49-F238E27FC236}">
                <a16:creationId xmlns:a16="http://schemas.microsoft.com/office/drawing/2014/main" id="{78699345-BDBC-67C5-4095-C8B96582260E}"/>
              </a:ext>
            </a:extLst>
          </p:cNvPr>
          <p:cNvSpPr>
            <a:spLocks noEditPoints="1"/>
          </p:cNvSpPr>
          <p:nvPr/>
        </p:nvSpPr>
        <p:spPr bwMode="auto">
          <a:xfrm>
            <a:off x="3314700" y="2482850"/>
            <a:ext cx="409575" cy="238125"/>
          </a:xfrm>
          <a:custGeom>
            <a:avLst/>
            <a:gdLst>
              <a:gd name="T0" fmla="*/ 258 w 258"/>
              <a:gd name="T1" fmla="*/ 41 h 150"/>
              <a:gd name="T2" fmla="*/ 257 w 258"/>
              <a:gd name="T3" fmla="*/ 36 h 150"/>
              <a:gd name="T4" fmla="*/ 255 w 258"/>
              <a:gd name="T5" fmla="*/ 31 h 150"/>
              <a:gd name="T6" fmla="*/ 254 w 258"/>
              <a:gd name="T7" fmla="*/ 24 h 150"/>
              <a:gd name="T8" fmla="*/ 252 w 258"/>
              <a:gd name="T9" fmla="*/ 19 h 150"/>
              <a:gd name="T10" fmla="*/ 249 w 258"/>
              <a:gd name="T11" fmla="*/ 14 h 150"/>
              <a:gd name="T12" fmla="*/ 245 w 258"/>
              <a:gd name="T13" fmla="*/ 9 h 150"/>
              <a:gd name="T14" fmla="*/ 244 w 258"/>
              <a:gd name="T15" fmla="*/ 4 h 150"/>
              <a:gd name="T16" fmla="*/ 240 w 258"/>
              <a:gd name="T17" fmla="*/ 0 h 150"/>
              <a:gd name="T18" fmla="*/ 237 w 258"/>
              <a:gd name="T19" fmla="*/ 1 h 150"/>
              <a:gd name="T20" fmla="*/ 240 w 258"/>
              <a:gd name="T21" fmla="*/ 6 h 150"/>
              <a:gd name="T22" fmla="*/ 244 w 258"/>
              <a:gd name="T23" fmla="*/ 11 h 150"/>
              <a:gd name="T24" fmla="*/ 245 w 258"/>
              <a:gd name="T25" fmla="*/ 16 h 150"/>
              <a:gd name="T26" fmla="*/ 249 w 258"/>
              <a:gd name="T27" fmla="*/ 21 h 150"/>
              <a:gd name="T28" fmla="*/ 250 w 258"/>
              <a:gd name="T29" fmla="*/ 26 h 150"/>
              <a:gd name="T30" fmla="*/ 252 w 258"/>
              <a:gd name="T31" fmla="*/ 31 h 150"/>
              <a:gd name="T32" fmla="*/ 254 w 258"/>
              <a:gd name="T33" fmla="*/ 38 h 150"/>
              <a:gd name="T34" fmla="*/ 255 w 258"/>
              <a:gd name="T35" fmla="*/ 43 h 150"/>
              <a:gd name="T36" fmla="*/ 258 w 258"/>
              <a:gd name="T37" fmla="*/ 41 h 150"/>
              <a:gd name="T38" fmla="*/ 0 w 258"/>
              <a:gd name="T39" fmla="*/ 109 h 150"/>
              <a:gd name="T40" fmla="*/ 0 w 258"/>
              <a:gd name="T41" fmla="*/ 114 h 150"/>
              <a:gd name="T42" fmla="*/ 3 w 258"/>
              <a:gd name="T43" fmla="*/ 120 h 150"/>
              <a:gd name="T44" fmla="*/ 5 w 258"/>
              <a:gd name="T45" fmla="*/ 125 h 150"/>
              <a:gd name="T46" fmla="*/ 7 w 258"/>
              <a:gd name="T47" fmla="*/ 130 h 150"/>
              <a:gd name="T48" fmla="*/ 10 w 258"/>
              <a:gd name="T49" fmla="*/ 135 h 150"/>
              <a:gd name="T50" fmla="*/ 12 w 258"/>
              <a:gd name="T51" fmla="*/ 140 h 150"/>
              <a:gd name="T52" fmla="*/ 15 w 258"/>
              <a:gd name="T53" fmla="*/ 145 h 150"/>
              <a:gd name="T54" fmla="*/ 18 w 258"/>
              <a:gd name="T55" fmla="*/ 150 h 150"/>
              <a:gd name="T56" fmla="*/ 22 w 258"/>
              <a:gd name="T57" fmla="*/ 149 h 150"/>
              <a:gd name="T58" fmla="*/ 18 w 258"/>
              <a:gd name="T59" fmla="*/ 144 h 150"/>
              <a:gd name="T60" fmla="*/ 15 w 258"/>
              <a:gd name="T61" fmla="*/ 139 h 150"/>
              <a:gd name="T62" fmla="*/ 12 w 258"/>
              <a:gd name="T63" fmla="*/ 134 h 150"/>
              <a:gd name="T64" fmla="*/ 10 w 258"/>
              <a:gd name="T65" fmla="*/ 129 h 150"/>
              <a:gd name="T66" fmla="*/ 8 w 258"/>
              <a:gd name="T67" fmla="*/ 124 h 150"/>
              <a:gd name="T68" fmla="*/ 5 w 258"/>
              <a:gd name="T69" fmla="*/ 119 h 150"/>
              <a:gd name="T70" fmla="*/ 3 w 258"/>
              <a:gd name="T71" fmla="*/ 114 h 150"/>
              <a:gd name="T72" fmla="*/ 2 w 258"/>
              <a:gd name="T73" fmla="*/ 107 h 150"/>
              <a:gd name="T74" fmla="*/ 0 w 258"/>
              <a:gd name="T75" fmla="*/ 109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8" h="150">
                <a:moveTo>
                  <a:pt x="258" y="41"/>
                </a:moveTo>
                <a:lnTo>
                  <a:pt x="257" y="36"/>
                </a:lnTo>
                <a:lnTo>
                  <a:pt x="255" y="31"/>
                </a:lnTo>
                <a:lnTo>
                  <a:pt x="254" y="24"/>
                </a:lnTo>
                <a:lnTo>
                  <a:pt x="252" y="19"/>
                </a:lnTo>
                <a:lnTo>
                  <a:pt x="249" y="14"/>
                </a:lnTo>
                <a:lnTo>
                  <a:pt x="245" y="9"/>
                </a:lnTo>
                <a:lnTo>
                  <a:pt x="244" y="4"/>
                </a:lnTo>
                <a:lnTo>
                  <a:pt x="240" y="0"/>
                </a:lnTo>
                <a:lnTo>
                  <a:pt x="237" y="1"/>
                </a:lnTo>
                <a:lnTo>
                  <a:pt x="240" y="6"/>
                </a:lnTo>
                <a:lnTo>
                  <a:pt x="244" y="11"/>
                </a:lnTo>
                <a:lnTo>
                  <a:pt x="245" y="16"/>
                </a:lnTo>
                <a:lnTo>
                  <a:pt x="249" y="21"/>
                </a:lnTo>
                <a:lnTo>
                  <a:pt x="250" y="26"/>
                </a:lnTo>
                <a:lnTo>
                  <a:pt x="252" y="31"/>
                </a:lnTo>
                <a:lnTo>
                  <a:pt x="254" y="38"/>
                </a:lnTo>
                <a:lnTo>
                  <a:pt x="255" y="43"/>
                </a:lnTo>
                <a:lnTo>
                  <a:pt x="258" y="41"/>
                </a:lnTo>
                <a:close/>
                <a:moveTo>
                  <a:pt x="0" y="109"/>
                </a:moveTo>
                <a:lnTo>
                  <a:pt x="0" y="114"/>
                </a:lnTo>
                <a:lnTo>
                  <a:pt x="3" y="120"/>
                </a:lnTo>
                <a:lnTo>
                  <a:pt x="5" y="125"/>
                </a:lnTo>
                <a:lnTo>
                  <a:pt x="7" y="130"/>
                </a:lnTo>
                <a:lnTo>
                  <a:pt x="10" y="135"/>
                </a:lnTo>
                <a:lnTo>
                  <a:pt x="12" y="140"/>
                </a:lnTo>
                <a:lnTo>
                  <a:pt x="15" y="145"/>
                </a:lnTo>
                <a:lnTo>
                  <a:pt x="18" y="150"/>
                </a:lnTo>
                <a:lnTo>
                  <a:pt x="22" y="149"/>
                </a:lnTo>
                <a:lnTo>
                  <a:pt x="18" y="144"/>
                </a:lnTo>
                <a:lnTo>
                  <a:pt x="15" y="139"/>
                </a:lnTo>
                <a:lnTo>
                  <a:pt x="12" y="134"/>
                </a:lnTo>
                <a:lnTo>
                  <a:pt x="10" y="129"/>
                </a:lnTo>
                <a:lnTo>
                  <a:pt x="8" y="124"/>
                </a:lnTo>
                <a:lnTo>
                  <a:pt x="5" y="119"/>
                </a:lnTo>
                <a:lnTo>
                  <a:pt x="3" y="114"/>
                </a:lnTo>
                <a:lnTo>
                  <a:pt x="2" y="107"/>
                </a:lnTo>
                <a:lnTo>
                  <a:pt x="0" y="109"/>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27" name="Freeform 1932">
            <a:extLst>
              <a:ext uri="{FF2B5EF4-FFF2-40B4-BE49-F238E27FC236}">
                <a16:creationId xmlns:a16="http://schemas.microsoft.com/office/drawing/2014/main" id="{59722AAB-705A-8CDC-2821-EA39C75FC97B}"/>
              </a:ext>
            </a:extLst>
          </p:cNvPr>
          <p:cNvSpPr>
            <a:spLocks noEditPoints="1"/>
          </p:cNvSpPr>
          <p:nvPr/>
        </p:nvSpPr>
        <p:spPr bwMode="auto">
          <a:xfrm>
            <a:off x="3314700" y="2482850"/>
            <a:ext cx="407988" cy="236538"/>
          </a:xfrm>
          <a:custGeom>
            <a:avLst/>
            <a:gdLst>
              <a:gd name="T0" fmla="*/ 257 w 257"/>
              <a:gd name="T1" fmla="*/ 43 h 149"/>
              <a:gd name="T2" fmla="*/ 255 w 257"/>
              <a:gd name="T3" fmla="*/ 36 h 149"/>
              <a:gd name="T4" fmla="*/ 254 w 257"/>
              <a:gd name="T5" fmla="*/ 31 h 149"/>
              <a:gd name="T6" fmla="*/ 252 w 257"/>
              <a:gd name="T7" fmla="*/ 26 h 149"/>
              <a:gd name="T8" fmla="*/ 250 w 257"/>
              <a:gd name="T9" fmla="*/ 21 h 149"/>
              <a:gd name="T10" fmla="*/ 247 w 257"/>
              <a:gd name="T11" fmla="*/ 14 h 149"/>
              <a:gd name="T12" fmla="*/ 245 w 257"/>
              <a:gd name="T13" fmla="*/ 9 h 149"/>
              <a:gd name="T14" fmla="*/ 242 w 257"/>
              <a:gd name="T15" fmla="*/ 4 h 149"/>
              <a:gd name="T16" fmla="*/ 239 w 257"/>
              <a:gd name="T17" fmla="*/ 0 h 149"/>
              <a:gd name="T18" fmla="*/ 235 w 257"/>
              <a:gd name="T19" fmla="*/ 1 h 149"/>
              <a:gd name="T20" fmla="*/ 239 w 257"/>
              <a:gd name="T21" fmla="*/ 6 h 149"/>
              <a:gd name="T22" fmla="*/ 242 w 257"/>
              <a:gd name="T23" fmla="*/ 11 h 149"/>
              <a:gd name="T24" fmla="*/ 244 w 257"/>
              <a:gd name="T25" fmla="*/ 16 h 149"/>
              <a:gd name="T26" fmla="*/ 247 w 257"/>
              <a:gd name="T27" fmla="*/ 21 h 149"/>
              <a:gd name="T28" fmla="*/ 249 w 257"/>
              <a:gd name="T29" fmla="*/ 28 h 149"/>
              <a:gd name="T30" fmla="*/ 250 w 257"/>
              <a:gd name="T31" fmla="*/ 33 h 149"/>
              <a:gd name="T32" fmla="*/ 254 w 257"/>
              <a:gd name="T33" fmla="*/ 38 h 149"/>
              <a:gd name="T34" fmla="*/ 254 w 257"/>
              <a:gd name="T35" fmla="*/ 44 h 149"/>
              <a:gd name="T36" fmla="*/ 257 w 257"/>
              <a:gd name="T37" fmla="*/ 43 h 149"/>
              <a:gd name="T38" fmla="*/ 0 w 257"/>
              <a:gd name="T39" fmla="*/ 109 h 149"/>
              <a:gd name="T40" fmla="*/ 2 w 257"/>
              <a:gd name="T41" fmla="*/ 114 h 149"/>
              <a:gd name="T42" fmla="*/ 3 w 257"/>
              <a:gd name="T43" fmla="*/ 119 h 149"/>
              <a:gd name="T44" fmla="*/ 7 w 257"/>
              <a:gd name="T45" fmla="*/ 124 h 149"/>
              <a:gd name="T46" fmla="*/ 8 w 257"/>
              <a:gd name="T47" fmla="*/ 130 h 149"/>
              <a:gd name="T48" fmla="*/ 12 w 257"/>
              <a:gd name="T49" fmla="*/ 135 h 149"/>
              <a:gd name="T50" fmla="*/ 13 w 257"/>
              <a:gd name="T51" fmla="*/ 140 h 149"/>
              <a:gd name="T52" fmla="*/ 17 w 257"/>
              <a:gd name="T53" fmla="*/ 144 h 149"/>
              <a:gd name="T54" fmla="*/ 20 w 257"/>
              <a:gd name="T55" fmla="*/ 149 h 149"/>
              <a:gd name="T56" fmla="*/ 23 w 257"/>
              <a:gd name="T57" fmla="*/ 147 h 149"/>
              <a:gd name="T58" fmla="*/ 20 w 257"/>
              <a:gd name="T59" fmla="*/ 144 h 149"/>
              <a:gd name="T60" fmla="*/ 17 w 257"/>
              <a:gd name="T61" fmla="*/ 139 h 149"/>
              <a:gd name="T62" fmla="*/ 13 w 257"/>
              <a:gd name="T63" fmla="*/ 134 h 149"/>
              <a:gd name="T64" fmla="*/ 12 w 257"/>
              <a:gd name="T65" fmla="*/ 129 h 149"/>
              <a:gd name="T66" fmla="*/ 10 w 257"/>
              <a:gd name="T67" fmla="*/ 124 h 149"/>
              <a:gd name="T68" fmla="*/ 7 w 257"/>
              <a:gd name="T69" fmla="*/ 117 h 149"/>
              <a:gd name="T70" fmla="*/ 5 w 257"/>
              <a:gd name="T71" fmla="*/ 112 h 149"/>
              <a:gd name="T72" fmla="*/ 3 w 257"/>
              <a:gd name="T73" fmla="*/ 107 h 149"/>
              <a:gd name="T74" fmla="*/ 0 w 257"/>
              <a:gd name="T75" fmla="*/ 10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7" h="149">
                <a:moveTo>
                  <a:pt x="257" y="43"/>
                </a:moveTo>
                <a:lnTo>
                  <a:pt x="255" y="36"/>
                </a:lnTo>
                <a:lnTo>
                  <a:pt x="254" y="31"/>
                </a:lnTo>
                <a:lnTo>
                  <a:pt x="252" y="26"/>
                </a:lnTo>
                <a:lnTo>
                  <a:pt x="250" y="21"/>
                </a:lnTo>
                <a:lnTo>
                  <a:pt x="247" y="14"/>
                </a:lnTo>
                <a:lnTo>
                  <a:pt x="245" y="9"/>
                </a:lnTo>
                <a:lnTo>
                  <a:pt x="242" y="4"/>
                </a:lnTo>
                <a:lnTo>
                  <a:pt x="239" y="0"/>
                </a:lnTo>
                <a:lnTo>
                  <a:pt x="235" y="1"/>
                </a:lnTo>
                <a:lnTo>
                  <a:pt x="239" y="6"/>
                </a:lnTo>
                <a:lnTo>
                  <a:pt x="242" y="11"/>
                </a:lnTo>
                <a:lnTo>
                  <a:pt x="244" y="16"/>
                </a:lnTo>
                <a:lnTo>
                  <a:pt x="247" y="21"/>
                </a:lnTo>
                <a:lnTo>
                  <a:pt x="249" y="28"/>
                </a:lnTo>
                <a:lnTo>
                  <a:pt x="250" y="33"/>
                </a:lnTo>
                <a:lnTo>
                  <a:pt x="254" y="38"/>
                </a:lnTo>
                <a:lnTo>
                  <a:pt x="254" y="44"/>
                </a:lnTo>
                <a:lnTo>
                  <a:pt x="257" y="43"/>
                </a:lnTo>
                <a:close/>
                <a:moveTo>
                  <a:pt x="0" y="109"/>
                </a:moveTo>
                <a:lnTo>
                  <a:pt x="2" y="114"/>
                </a:lnTo>
                <a:lnTo>
                  <a:pt x="3" y="119"/>
                </a:lnTo>
                <a:lnTo>
                  <a:pt x="7" y="124"/>
                </a:lnTo>
                <a:lnTo>
                  <a:pt x="8" y="130"/>
                </a:lnTo>
                <a:lnTo>
                  <a:pt x="12" y="135"/>
                </a:lnTo>
                <a:lnTo>
                  <a:pt x="13" y="140"/>
                </a:lnTo>
                <a:lnTo>
                  <a:pt x="17" y="144"/>
                </a:lnTo>
                <a:lnTo>
                  <a:pt x="20" y="149"/>
                </a:lnTo>
                <a:lnTo>
                  <a:pt x="23" y="147"/>
                </a:lnTo>
                <a:lnTo>
                  <a:pt x="20" y="144"/>
                </a:lnTo>
                <a:lnTo>
                  <a:pt x="17" y="139"/>
                </a:lnTo>
                <a:lnTo>
                  <a:pt x="13" y="134"/>
                </a:lnTo>
                <a:lnTo>
                  <a:pt x="12" y="129"/>
                </a:lnTo>
                <a:lnTo>
                  <a:pt x="10" y="124"/>
                </a:lnTo>
                <a:lnTo>
                  <a:pt x="7" y="117"/>
                </a:lnTo>
                <a:lnTo>
                  <a:pt x="5" y="112"/>
                </a:lnTo>
                <a:lnTo>
                  <a:pt x="3" y="107"/>
                </a:lnTo>
                <a:lnTo>
                  <a:pt x="0" y="109"/>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28" name="Freeform 1933">
            <a:extLst>
              <a:ext uri="{FF2B5EF4-FFF2-40B4-BE49-F238E27FC236}">
                <a16:creationId xmlns:a16="http://schemas.microsoft.com/office/drawing/2014/main" id="{1410764D-F747-834D-F0A6-D6114B43DEBF}"/>
              </a:ext>
            </a:extLst>
          </p:cNvPr>
          <p:cNvSpPr>
            <a:spLocks noEditPoints="1"/>
          </p:cNvSpPr>
          <p:nvPr/>
        </p:nvSpPr>
        <p:spPr bwMode="auto">
          <a:xfrm>
            <a:off x="3317875" y="2484438"/>
            <a:ext cx="401638" cy="234950"/>
          </a:xfrm>
          <a:custGeom>
            <a:avLst/>
            <a:gdLst>
              <a:gd name="T0" fmla="*/ 253 w 253"/>
              <a:gd name="T1" fmla="*/ 42 h 148"/>
              <a:gd name="T2" fmla="*/ 252 w 253"/>
              <a:gd name="T3" fmla="*/ 37 h 148"/>
              <a:gd name="T4" fmla="*/ 250 w 253"/>
              <a:gd name="T5" fmla="*/ 30 h 148"/>
              <a:gd name="T6" fmla="*/ 248 w 253"/>
              <a:gd name="T7" fmla="*/ 25 h 148"/>
              <a:gd name="T8" fmla="*/ 247 w 253"/>
              <a:gd name="T9" fmla="*/ 20 h 148"/>
              <a:gd name="T10" fmla="*/ 243 w 253"/>
              <a:gd name="T11" fmla="*/ 15 h 148"/>
              <a:gd name="T12" fmla="*/ 242 w 253"/>
              <a:gd name="T13" fmla="*/ 10 h 148"/>
              <a:gd name="T14" fmla="*/ 238 w 253"/>
              <a:gd name="T15" fmla="*/ 5 h 148"/>
              <a:gd name="T16" fmla="*/ 235 w 253"/>
              <a:gd name="T17" fmla="*/ 0 h 148"/>
              <a:gd name="T18" fmla="*/ 232 w 253"/>
              <a:gd name="T19" fmla="*/ 2 h 148"/>
              <a:gd name="T20" fmla="*/ 235 w 253"/>
              <a:gd name="T21" fmla="*/ 7 h 148"/>
              <a:gd name="T22" fmla="*/ 238 w 253"/>
              <a:gd name="T23" fmla="*/ 12 h 148"/>
              <a:gd name="T24" fmla="*/ 240 w 253"/>
              <a:gd name="T25" fmla="*/ 17 h 148"/>
              <a:gd name="T26" fmla="*/ 243 w 253"/>
              <a:gd name="T27" fmla="*/ 22 h 148"/>
              <a:gd name="T28" fmla="*/ 245 w 253"/>
              <a:gd name="T29" fmla="*/ 27 h 148"/>
              <a:gd name="T30" fmla="*/ 248 w 253"/>
              <a:gd name="T31" fmla="*/ 32 h 148"/>
              <a:gd name="T32" fmla="*/ 250 w 253"/>
              <a:gd name="T33" fmla="*/ 38 h 148"/>
              <a:gd name="T34" fmla="*/ 252 w 253"/>
              <a:gd name="T35" fmla="*/ 43 h 148"/>
              <a:gd name="T36" fmla="*/ 253 w 253"/>
              <a:gd name="T37" fmla="*/ 42 h 148"/>
              <a:gd name="T38" fmla="*/ 0 w 253"/>
              <a:gd name="T39" fmla="*/ 106 h 148"/>
              <a:gd name="T40" fmla="*/ 1 w 253"/>
              <a:gd name="T41" fmla="*/ 113 h 148"/>
              <a:gd name="T42" fmla="*/ 3 w 253"/>
              <a:gd name="T43" fmla="*/ 118 h 148"/>
              <a:gd name="T44" fmla="*/ 6 w 253"/>
              <a:gd name="T45" fmla="*/ 123 h 148"/>
              <a:gd name="T46" fmla="*/ 8 w 253"/>
              <a:gd name="T47" fmla="*/ 128 h 148"/>
              <a:gd name="T48" fmla="*/ 10 w 253"/>
              <a:gd name="T49" fmla="*/ 133 h 148"/>
              <a:gd name="T50" fmla="*/ 13 w 253"/>
              <a:gd name="T51" fmla="*/ 138 h 148"/>
              <a:gd name="T52" fmla="*/ 16 w 253"/>
              <a:gd name="T53" fmla="*/ 143 h 148"/>
              <a:gd name="T54" fmla="*/ 20 w 253"/>
              <a:gd name="T55" fmla="*/ 148 h 148"/>
              <a:gd name="T56" fmla="*/ 21 w 253"/>
              <a:gd name="T57" fmla="*/ 146 h 148"/>
              <a:gd name="T58" fmla="*/ 20 w 253"/>
              <a:gd name="T59" fmla="*/ 141 h 148"/>
              <a:gd name="T60" fmla="*/ 16 w 253"/>
              <a:gd name="T61" fmla="*/ 136 h 148"/>
              <a:gd name="T62" fmla="*/ 13 w 253"/>
              <a:gd name="T63" fmla="*/ 131 h 148"/>
              <a:gd name="T64" fmla="*/ 11 w 253"/>
              <a:gd name="T65" fmla="*/ 126 h 148"/>
              <a:gd name="T66" fmla="*/ 8 w 253"/>
              <a:gd name="T67" fmla="*/ 121 h 148"/>
              <a:gd name="T68" fmla="*/ 6 w 253"/>
              <a:gd name="T69" fmla="*/ 116 h 148"/>
              <a:gd name="T70" fmla="*/ 5 w 253"/>
              <a:gd name="T71" fmla="*/ 111 h 148"/>
              <a:gd name="T72" fmla="*/ 3 w 253"/>
              <a:gd name="T73" fmla="*/ 104 h 148"/>
              <a:gd name="T74" fmla="*/ 0 w 253"/>
              <a:gd name="T75" fmla="*/ 106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3" h="148">
                <a:moveTo>
                  <a:pt x="253" y="42"/>
                </a:moveTo>
                <a:lnTo>
                  <a:pt x="252" y="37"/>
                </a:lnTo>
                <a:lnTo>
                  <a:pt x="250" y="30"/>
                </a:lnTo>
                <a:lnTo>
                  <a:pt x="248" y="25"/>
                </a:lnTo>
                <a:lnTo>
                  <a:pt x="247" y="20"/>
                </a:lnTo>
                <a:lnTo>
                  <a:pt x="243" y="15"/>
                </a:lnTo>
                <a:lnTo>
                  <a:pt x="242" y="10"/>
                </a:lnTo>
                <a:lnTo>
                  <a:pt x="238" y="5"/>
                </a:lnTo>
                <a:lnTo>
                  <a:pt x="235" y="0"/>
                </a:lnTo>
                <a:lnTo>
                  <a:pt x="232" y="2"/>
                </a:lnTo>
                <a:lnTo>
                  <a:pt x="235" y="7"/>
                </a:lnTo>
                <a:lnTo>
                  <a:pt x="238" y="12"/>
                </a:lnTo>
                <a:lnTo>
                  <a:pt x="240" y="17"/>
                </a:lnTo>
                <a:lnTo>
                  <a:pt x="243" y="22"/>
                </a:lnTo>
                <a:lnTo>
                  <a:pt x="245" y="27"/>
                </a:lnTo>
                <a:lnTo>
                  <a:pt x="248" y="32"/>
                </a:lnTo>
                <a:lnTo>
                  <a:pt x="250" y="38"/>
                </a:lnTo>
                <a:lnTo>
                  <a:pt x="252" y="43"/>
                </a:lnTo>
                <a:lnTo>
                  <a:pt x="253" y="42"/>
                </a:lnTo>
                <a:close/>
                <a:moveTo>
                  <a:pt x="0" y="106"/>
                </a:moveTo>
                <a:lnTo>
                  <a:pt x="1" y="113"/>
                </a:lnTo>
                <a:lnTo>
                  <a:pt x="3" y="118"/>
                </a:lnTo>
                <a:lnTo>
                  <a:pt x="6" y="123"/>
                </a:lnTo>
                <a:lnTo>
                  <a:pt x="8" y="128"/>
                </a:lnTo>
                <a:lnTo>
                  <a:pt x="10" y="133"/>
                </a:lnTo>
                <a:lnTo>
                  <a:pt x="13" y="138"/>
                </a:lnTo>
                <a:lnTo>
                  <a:pt x="16" y="143"/>
                </a:lnTo>
                <a:lnTo>
                  <a:pt x="20" y="148"/>
                </a:lnTo>
                <a:lnTo>
                  <a:pt x="21" y="146"/>
                </a:lnTo>
                <a:lnTo>
                  <a:pt x="20" y="141"/>
                </a:lnTo>
                <a:lnTo>
                  <a:pt x="16" y="136"/>
                </a:lnTo>
                <a:lnTo>
                  <a:pt x="13" y="131"/>
                </a:lnTo>
                <a:lnTo>
                  <a:pt x="11" y="126"/>
                </a:lnTo>
                <a:lnTo>
                  <a:pt x="8" y="121"/>
                </a:lnTo>
                <a:lnTo>
                  <a:pt x="6" y="116"/>
                </a:lnTo>
                <a:lnTo>
                  <a:pt x="5" y="111"/>
                </a:lnTo>
                <a:lnTo>
                  <a:pt x="3" y="104"/>
                </a:lnTo>
                <a:lnTo>
                  <a:pt x="0" y="106"/>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29" name="Freeform 1934">
            <a:extLst>
              <a:ext uri="{FF2B5EF4-FFF2-40B4-BE49-F238E27FC236}">
                <a16:creationId xmlns:a16="http://schemas.microsoft.com/office/drawing/2014/main" id="{BEAF09B2-9E6B-80C3-1CE5-72EF6EDE587D}"/>
              </a:ext>
            </a:extLst>
          </p:cNvPr>
          <p:cNvSpPr>
            <a:spLocks noEditPoints="1"/>
          </p:cNvSpPr>
          <p:nvPr/>
        </p:nvSpPr>
        <p:spPr bwMode="auto">
          <a:xfrm>
            <a:off x="3319463" y="2484438"/>
            <a:ext cx="398463" cy="231775"/>
          </a:xfrm>
          <a:custGeom>
            <a:avLst/>
            <a:gdLst>
              <a:gd name="T0" fmla="*/ 251 w 251"/>
              <a:gd name="T1" fmla="*/ 43 h 146"/>
              <a:gd name="T2" fmla="*/ 251 w 251"/>
              <a:gd name="T3" fmla="*/ 37 h 146"/>
              <a:gd name="T4" fmla="*/ 247 w 251"/>
              <a:gd name="T5" fmla="*/ 32 h 146"/>
              <a:gd name="T6" fmla="*/ 246 w 251"/>
              <a:gd name="T7" fmla="*/ 27 h 146"/>
              <a:gd name="T8" fmla="*/ 244 w 251"/>
              <a:gd name="T9" fmla="*/ 20 h 146"/>
              <a:gd name="T10" fmla="*/ 241 w 251"/>
              <a:gd name="T11" fmla="*/ 15 h 146"/>
              <a:gd name="T12" fmla="*/ 239 w 251"/>
              <a:gd name="T13" fmla="*/ 10 h 146"/>
              <a:gd name="T14" fmla="*/ 236 w 251"/>
              <a:gd name="T15" fmla="*/ 5 h 146"/>
              <a:gd name="T16" fmla="*/ 232 w 251"/>
              <a:gd name="T17" fmla="*/ 0 h 146"/>
              <a:gd name="T18" fmla="*/ 229 w 251"/>
              <a:gd name="T19" fmla="*/ 2 h 146"/>
              <a:gd name="T20" fmla="*/ 232 w 251"/>
              <a:gd name="T21" fmla="*/ 7 h 146"/>
              <a:gd name="T22" fmla="*/ 236 w 251"/>
              <a:gd name="T23" fmla="*/ 12 h 146"/>
              <a:gd name="T24" fmla="*/ 239 w 251"/>
              <a:gd name="T25" fmla="*/ 17 h 146"/>
              <a:gd name="T26" fmla="*/ 241 w 251"/>
              <a:gd name="T27" fmla="*/ 22 h 146"/>
              <a:gd name="T28" fmla="*/ 242 w 251"/>
              <a:gd name="T29" fmla="*/ 27 h 146"/>
              <a:gd name="T30" fmla="*/ 246 w 251"/>
              <a:gd name="T31" fmla="*/ 33 h 146"/>
              <a:gd name="T32" fmla="*/ 247 w 251"/>
              <a:gd name="T33" fmla="*/ 38 h 146"/>
              <a:gd name="T34" fmla="*/ 249 w 251"/>
              <a:gd name="T35" fmla="*/ 43 h 146"/>
              <a:gd name="T36" fmla="*/ 251 w 251"/>
              <a:gd name="T37" fmla="*/ 43 h 146"/>
              <a:gd name="T38" fmla="*/ 0 w 251"/>
              <a:gd name="T39" fmla="*/ 106 h 146"/>
              <a:gd name="T40" fmla="*/ 2 w 251"/>
              <a:gd name="T41" fmla="*/ 111 h 146"/>
              <a:gd name="T42" fmla="*/ 4 w 251"/>
              <a:gd name="T43" fmla="*/ 116 h 146"/>
              <a:gd name="T44" fmla="*/ 7 w 251"/>
              <a:gd name="T45" fmla="*/ 123 h 146"/>
              <a:gd name="T46" fmla="*/ 9 w 251"/>
              <a:gd name="T47" fmla="*/ 128 h 146"/>
              <a:gd name="T48" fmla="*/ 10 w 251"/>
              <a:gd name="T49" fmla="*/ 133 h 146"/>
              <a:gd name="T50" fmla="*/ 14 w 251"/>
              <a:gd name="T51" fmla="*/ 138 h 146"/>
              <a:gd name="T52" fmla="*/ 17 w 251"/>
              <a:gd name="T53" fmla="*/ 143 h 146"/>
              <a:gd name="T54" fmla="*/ 20 w 251"/>
              <a:gd name="T55" fmla="*/ 146 h 146"/>
              <a:gd name="T56" fmla="*/ 22 w 251"/>
              <a:gd name="T57" fmla="*/ 146 h 146"/>
              <a:gd name="T58" fmla="*/ 20 w 251"/>
              <a:gd name="T59" fmla="*/ 141 h 146"/>
              <a:gd name="T60" fmla="*/ 17 w 251"/>
              <a:gd name="T61" fmla="*/ 136 h 146"/>
              <a:gd name="T62" fmla="*/ 14 w 251"/>
              <a:gd name="T63" fmla="*/ 131 h 146"/>
              <a:gd name="T64" fmla="*/ 12 w 251"/>
              <a:gd name="T65" fmla="*/ 126 h 146"/>
              <a:gd name="T66" fmla="*/ 9 w 251"/>
              <a:gd name="T67" fmla="*/ 121 h 146"/>
              <a:gd name="T68" fmla="*/ 7 w 251"/>
              <a:gd name="T69" fmla="*/ 116 h 146"/>
              <a:gd name="T70" fmla="*/ 5 w 251"/>
              <a:gd name="T71" fmla="*/ 109 h 146"/>
              <a:gd name="T72" fmla="*/ 4 w 251"/>
              <a:gd name="T73" fmla="*/ 104 h 146"/>
              <a:gd name="T74" fmla="*/ 0 w 251"/>
              <a:gd name="T75" fmla="*/ 106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1" h="146">
                <a:moveTo>
                  <a:pt x="251" y="43"/>
                </a:moveTo>
                <a:lnTo>
                  <a:pt x="251" y="37"/>
                </a:lnTo>
                <a:lnTo>
                  <a:pt x="247" y="32"/>
                </a:lnTo>
                <a:lnTo>
                  <a:pt x="246" y="27"/>
                </a:lnTo>
                <a:lnTo>
                  <a:pt x="244" y="20"/>
                </a:lnTo>
                <a:lnTo>
                  <a:pt x="241" y="15"/>
                </a:lnTo>
                <a:lnTo>
                  <a:pt x="239" y="10"/>
                </a:lnTo>
                <a:lnTo>
                  <a:pt x="236" y="5"/>
                </a:lnTo>
                <a:lnTo>
                  <a:pt x="232" y="0"/>
                </a:lnTo>
                <a:lnTo>
                  <a:pt x="229" y="2"/>
                </a:lnTo>
                <a:lnTo>
                  <a:pt x="232" y="7"/>
                </a:lnTo>
                <a:lnTo>
                  <a:pt x="236" y="12"/>
                </a:lnTo>
                <a:lnTo>
                  <a:pt x="239" y="17"/>
                </a:lnTo>
                <a:lnTo>
                  <a:pt x="241" y="22"/>
                </a:lnTo>
                <a:lnTo>
                  <a:pt x="242" y="27"/>
                </a:lnTo>
                <a:lnTo>
                  <a:pt x="246" y="33"/>
                </a:lnTo>
                <a:lnTo>
                  <a:pt x="247" y="38"/>
                </a:lnTo>
                <a:lnTo>
                  <a:pt x="249" y="43"/>
                </a:lnTo>
                <a:lnTo>
                  <a:pt x="251" y="43"/>
                </a:lnTo>
                <a:close/>
                <a:moveTo>
                  <a:pt x="0" y="106"/>
                </a:moveTo>
                <a:lnTo>
                  <a:pt x="2" y="111"/>
                </a:lnTo>
                <a:lnTo>
                  <a:pt x="4" y="116"/>
                </a:lnTo>
                <a:lnTo>
                  <a:pt x="7" y="123"/>
                </a:lnTo>
                <a:lnTo>
                  <a:pt x="9" y="128"/>
                </a:lnTo>
                <a:lnTo>
                  <a:pt x="10" y="133"/>
                </a:lnTo>
                <a:lnTo>
                  <a:pt x="14" y="138"/>
                </a:lnTo>
                <a:lnTo>
                  <a:pt x="17" y="143"/>
                </a:lnTo>
                <a:lnTo>
                  <a:pt x="20" y="146"/>
                </a:lnTo>
                <a:lnTo>
                  <a:pt x="22" y="146"/>
                </a:lnTo>
                <a:lnTo>
                  <a:pt x="20" y="141"/>
                </a:lnTo>
                <a:lnTo>
                  <a:pt x="17" y="136"/>
                </a:lnTo>
                <a:lnTo>
                  <a:pt x="14" y="131"/>
                </a:lnTo>
                <a:lnTo>
                  <a:pt x="12" y="126"/>
                </a:lnTo>
                <a:lnTo>
                  <a:pt x="9" y="121"/>
                </a:lnTo>
                <a:lnTo>
                  <a:pt x="7" y="116"/>
                </a:lnTo>
                <a:lnTo>
                  <a:pt x="5" y="109"/>
                </a:lnTo>
                <a:lnTo>
                  <a:pt x="4" y="104"/>
                </a:lnTo>
                <a:lnTo>
                  <a:pt x="0" y="106"/>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30" name="Freeform 1935">
            <a:extLst>
              <a:ext uri="{FF2B5EF4-FFF2-40B4-BE49-F238E27FC236}">
                <a16:creationId xmlns:a16="http://schemas.microsoft.com/office/drawing/2014/main" id="{56ED60B3-6CB1-6383-BA78-888D3087BD24}"/>
              </a:ext>
            </a:extLst>
          </p:cNvPr>
          <p:cNvSpPr>
            <a:spLocks noEditPoints="1"/>
          </p:cNvSpPr>
          <p:nvPr/>
        </p:nvSpPr>
        <p:spPr bwMode="auto">
          <a:xfrm>
            <a:off x="3322638" y="2487613"/>
            <a:ext cx="395288" cy="228600"/>
          </a:xfrm>
          <a:custGeom>
            <a:avLst/>
            <a:gdLst>
              <a:gd name="T0" fmla="*/ 249 w 249"/>
              <a:gd name="T1" fmla="*/ 41 h 144"/>
              <a:gd name="T2" fmla="*/ 247 w 249"/>
              <a:gd name="T3" fmla="*/ 36 h 144"/>
              <a:gd name="T4" fmla="*/ 245 w 249"/>
              <a:gd name="T5" fmla="*/ 30 h 144"/>
              <a:gd name="T6" fmla="*/ 242 w 249"/>
              <a:gd name="T7" fmla="*/ 25 h 144"/>
              <a:gd name="T8" fmla="*/ 240 w 249"/>
              <a:gd name="T9" fmla="*/ 20 h 144"/>
              <a:gd name="T10" fmla="*/ 237 w 249"/>
              <a:gd name="T11" fmla="*/ 15 h 144"/>
              <a:gd name="T12" fmla="*/ 235 w 249"/>
              <a:gd name="T13" fmla="*/ 10 h 144"/>
              <a:gd name="T14" fmla="*/ 232 w 249"/>
              <a:gd name="T15" fmla="*/ 5 h 144"/>
              <a:gd name="T16" fmla="*/ 229 w 249"/>
              <a:gd name="T17" fmla="*/ 0 h 144"/>
              <a:gd name="T18" fmla="*/ 225 w 249"/>
              <a:gd name="T19" fmla="*/ 0 h 144"/>
              <a:gd name="T20" fmla="*/ 229 w 249"/>
              <a:gd name="T21" fmla="*/ 5 h 144"/>
              <a:gd name="T22" fmla="*/ 232 w 249"/>
              <a:gd name="T23" fmla="*/ 10 h 144"/>
              <a:gd name="T24" fmla="*/ 235 w 249"/>
              <a:gd name="T25" fmla="*/ 15 h 144"/>
              <a:gd name="T26" fmla="*/ 237 w 249"/>
              <a:gd name="T27" fmla="*/ 21 h 144"/>
              <a:gd name="T28" fmla="*/ 239 w 249"/>
              <a:gd name="T29" fmla="*/ 26 h 144"/>
              <a:gd name="T30" fmla="*/ 242 w 249"/>
              <a:gd name="T31" fmla="*/ 31 h 144"/>
              <a:gd name="T32" fmla="*/ 244 w 249"/>
              <a:gd name="T33" fmla="*/ 36 h 144"/>
              <a:gd name="T34" fmla="*/ 245 w 249"/>
              <a:gd name="T35" fmla="*/ 43 h 144"/>
              <a:gd name="T36" fmla="*/ 249 w 249"/>
              <a:gd name="T37" fmla="*/ 41 h 144"/>
              <a:gd name="T38" fmla="*/ 0 w 249"/>
              <a:gd name="T39" fmla="*/ 102 h 144"/>
              <a:gd name="T40" fmla="*/ 2 w 249"/>
              <a:gd name="T41" fmla="*/ 109 h 144"/>
              <a:gd name="T42" fmla="*/ 3 w 249"/>
              <a:gd name="T43" fmla="*/ 114 h 144"/>
              <a:gd name="T44" fmla="*/ 5 w 249"/>
              <a:gd name="T45" fmla="*/ 119 h 144"/>
              <a:gd name="T46" fmla="*/ 8 w 249"/>
              <a:gd name="T47" fmla="*/ 124 h 144"/>
              <a:gd name="T48" fmla="*/ 10 w 249"/>
              <a:gd name="T49" fmla="*/ 129 h 144"/>
              <a:gd name="T50" fmla="*/ 13 w 249"/>
              <a:gd name="T51" fmla="*/ 134 h 144"/>
              <a:gd name="T52" fmla="*/ 17 w 249"/>
              <a:gd name="T53" fmla="*/ 139 h 144"/>
              <a:gd name="T54" fmla="*/ 18 w 249"/>
              <a:gd name="T55" fmla="*/ 144 h 144"/>
              <a:gd name="T56" fmla="*/ 22 w 249"/>
              <a:gd name="T57" fmla="*/ 142 h 144"/>
              <a:gd name="T58" fmla="*/ 18 w 249"/>
              <a:gd name="T59" fmla="*/ 137 h 144"/>
              <a:gd name="T60" fmla="*/ 17 w 249"/>
              <a:gd name="T61" fmla="*/ 132 h 144"/>
              <a:gd name="T62" fmla="*/ 13 w 249"/>
              <a:gd name="T63" fmla="*/ 129 h 144"/>
              <a:gd name="T64" fmla="*/ 12 w 249"/>
              <a:gd name="T65" fmla="*/ 122 h 144"/>
              <a:gd name="T66" fmla="*/ 8 w 249"/>
              <a:gd name="T67" fmla="*/ 117 h 144"/>
              <a:gd name="T68" fmla="*/ 7 w 249"/>
              <a:gd name="T69" fmla="*/ 112 h 144"/>
              <a:gd name="T70" fmla="*/ 5 w 249"/>
              <a:gd name="T71" fmla="*/ 107 h 144"/>
              <a:gd name="T72" fmla="*/ 3 w 249"/>
              <a:gd name="T73" fmla="*/ 102 h 144"/>
              <a:gd name="T74" fmla="*/ 0 w 249"/>
              <a:gd name="T75" fmla="*/ 102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9" h="144">
                <a:moveTo>
                  <a:pt x="249" y="41"/>
                </a:moveTo>
                <a:lnTo>
                  <a:pt x="247" y="36"/>
                </a:lnTo>
                <a:lnTo>
                  <a:pt x="245" y="30"/>
                </a:lnTo>
                <a:lnTo>
                  <a:pt x="242" y="25"/>
                </a:lnTo>
                <a:lnTo>
                  <a:pt x="240" y="20"/>
                </a:lnTo>
                <a:lnTo>
                  <a:pt x="237" y="15"/>
                </a:lnTo>
                <a:lnTo>
                  <a:pt x="235" y="10"/>
                </a:lnTo>
                <a:lnTo>
                  <a:pt x="232" y="5"/>
                </a:lnTo>
                <a:lnTo>
                  <a:pt x="229" y="0"/>
                </a:lnTo>
                <a:lnTo>
                  <a:pt x="225" y="0"/>
                </a:lnTo>
                <a:lnTo>
                  <a:pt x="229" y="5"/>
                </a:lnTo>
                <a:lnTo>
                  <a:pt x="232" y="10"/>
                </a:lnTo>
                <a:lnTo>
                  <a:pt x="235" y="15"/>
                </a:lnTo>
                <a:lnTo>
                  <a:pt x="237" y="21"/>
                </a:lnTo>
                <a:lnTo>
                  <a:pt x="239" y="26"/>
                </a:lnTo>
                <a:lnTo>
                  <a:pt x="242" y="31"/>
                </a:lnTo>
                <a:lnTo>
                  <a:pt x="244" y="36"/>
                </a:lnTo>
                <a:lnTo>
                  <a:pt x="245" y="43"/>
                </a:lnTo>
                <a:lnTo>
                  <a:pt x="249" y="41"/>
                </a:lnTo>
                <a:close/>
                <a:moveTo>
                  <a:pt x="0" y="102"/>
                </a:moveTo>
                <a:lnTo>
                  <a:pt x="2" y="109"/>
                </a:lnTo>
                <a:lnTo>
                  <a:pt x="3" y="114"/>
                </a:lnTo>
                <a:lnTo>
                  <a:pt x="5" y="119"/>
                </a:lnTo>
                <a:lnTo>
                  <a:pt x="8" y="124"/>
                </a:lnTo>
                <a:lnTo>
                  <a:pt x="10" y="129"/>
                </a:lnTo>
                <a:lnTo>
                  <a:pt x="13" y="134"/>
                </a:lnTo>
                <a:lnTo>
                  <a:pt x="17" y="139"/>
                </a:lnTo>
                <a:lnTo>
                  <a:pt x="18" y="144"/>
                </a:lnTo>
                <a:lnTo>
                  <a:pt x="22" y="142"/>
                </a:lnTo>
                <a:lnTo>
                  <a:pt x="18" y="137"/>
                </a:lnTo>
                <a:lnTo>
                  <a:pt x="17" y="132"/>
                </a:lnTo>
                <a:lnTo>
                  <a:pt x="13" y="129"/>
                </a:lnTo>
                <a:lnTo>
                  <a:pt x="12" y="122"/>
                </a:lnTo>
                <a:lnTo>
                  <a:pt x="8" y="117"/>
                </a:lnTo>
                <a:lnTo>
                  <a:pt x="7" y="112"/>
                </a:lnTo>
                <a:lnTo>
                  <a:pt x="5" y="107"/>
                </a:lnTo>
                <a:lnTo>
                  <a:pt x="3" y="102"/>
                </a:lnTo>
                <a:lnTo>
                  <a:pt x="0" y="102"/>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31" name="Freeform 1936">
            <a:extLst>
              <a:ext uri="{FF2B5EF4-FFF2-40B4-BE49-F238E27FC236}">
                <a16:creationId xmlns:a16="http://schemas.microsoft.com/office/drawing/2014/main" id="{351520D1-D5CB-CD2B-5EB6-565478365CE0}"/>
              </a:ext>
            </a:extLst>
          </p:cNvPr>
          <p:cNvSpPr>
            <a:spLocks noEditPoints="1"/>
          </p:cNvSpPr>
          <p:nvPr/>
        </p:nvSpPr>
        <p:spPr bwMode="auto">
          <a:xfrm>
            <a:off x="3325813" y="2487613"/>
            <a:ext cx="388938" cy="228600"/>
          </a:xfrm>
          <a:custGeom>
            <a:avLst/>
            <a:gdLst>
              <a:gd name="T0" fmla="*/ 245 w 245"/>
              <a:gd name="T1" fmla="*/ 41 h 144"/>
              <a:gd name="T2" fmla="*/ 243 w 245"/>
              <a:gd name="T3" fmla="*/ 36 h 144"/>
              <a:gd name="T4" fmla="*/ 242 w 245"/>
              <a:gd name="T5" fmla="*/ 31 h 144"/>
              <a:gd name="T6" fmla="*/ 238 w 245"/>
              <a:gd name="T7" fmla="*/ 25 h 144"/>
              <a:gd name="T8" fmla="*/ 237 w 245"/>
              <a:gd name="T9" fmla="*/ 20 h 144"/>
              <a:gd name="T10" fmla="*/ 235 w 245"/>
              <a:gd name="T11" fmla="*/ 15 h 144"/>
              <a:gd name="T12" fmla="*/ 232 w 245"/>
              <a:gd name="T13" fmla="*/ 10 h 144"/>
              <a:gd name="T14" fmla="*/ 228 w 245"/>
              <a:gd name="T15" fmla="*/ 5 h 144"/>
              <a:gd name="T16" fmla="*/ 225 w 245"/>
              <a:gd name="T17" fmla="*/ 0 h 144"/>
              <a:gd name="T18" fmla="*/ 222 w 245"/>
              <a:gd name="T19" fmla="*/ 1 h 144"/>
              <a:gd name="T20" fmla="*/ 225 w 245"/>
              <a:gd name="T21" fmla="*/ 6 h 144"/>
              <a:gd name="T22" fmla="*/ 228 w 245"/>
              <a:gd name="T23" fmla="*/ 11 h 144"/>
              <a:gd name="T24" fmla="*/ 232 w 245"/>
              <a:gd name="T25" fmla="*/ 16 h 144"/>
              <a:gd name="T26" fmla="*/ 233 w 245"/>
              <a:gd name="T27" fmla="*/ 21 h 144"/>
              <a:gd name="T28" fmla="*/ 237 w 245"/>
              <a:gd name="T29" fmla="*/ 26 h 144"/>
              <a:gd name="T30" fmla="*/ 238 w 245"/>
              <a:gd name="T31" fmla="*/ 31 h 144"/>
              <a:gd name="T32" fmla="*/ 240 w 245"/>
              <a:gd name="T33" fmla="*/ 38 h 144"/>
              <a:gd name="T34" fmla="*/ 242 w 245"/>
              <a:gd name="T35" fmla="*/ 43 h 144"/>
              <a:gd name="T36" fmla="*/ 245 w 245"/>
              <a:gd name="T37" fmla="*/ 41 h 144"/>
              <a:gd name="T38" fmla="*/ 0 w 245"/>
              <a:gd name="T39" fmla="*/ 102 h 144"/>
              <a:gd name="T40" fmla="*/ 1 w 245"/>
              <a:gd name="T41" fmla="*/ 107 h 144"/>
              <a:gd name="T42" fmla="*/ 3 w 245"/>
              <a:gd name="T43" fmla="*/ 114 h 144"/>
              <a:gd name="T44" fmla="*/ 5 w 245"/>
              <a:gd name="T45" fmla="*/ 119 h 144"/>
              <a:gd name="T46" fmla="*/ 8 w 245"/>
              <a:gd name="T47" fmla="*/ 124 h 144"/>
              <a:gd name="T48" fmla="*/ 10 w 245"/>
              <a:gd name="T49" fmla="*/ 129 h 144"/>
              <a:gd name="T50" fmla="*/ 13 w 245"/>
              <a:gd name="T51" fmla="*/ 134 h 144"/>
              <a:gd name="T52" fmla="*/ 16 w 245"/>
              <a:gd name="T53" fmla="*/ 139 h 144"/>
              <a:gd name="T54" fmla="*/ 18 w 245"/>
              <a:gd name="T55" fmla="*/ 144 h 144"/>
              <a:gd name="T56" fmla="*/ 21 w 245"/>
              <a:gd name="T57" fmla="*/ 142 h 144"/>
              <a:gd name="T58" fmla="*/ 18 w 245"/>
              <a:gd name="T59" fmla="*/ 137 h 144"/>
              <a:gd name="T60" fmla="*/ 16 w 245"/>
              <a:gd name="T61" fmla="*/ 132 h 144"/>
              <a:gd name="T62" fmla="*/ 13 w 245"/>
              <a:gd name="T63" fmla="*/ 127 h 144"/>
              <a:gd name="T64" fmla="*/ 11 w 245"/>
              <a:gd name="T65" fmla="*/ 122 h 144"/>
              <a:gd name="T66" fmla="*/ 8 w 245"/>
              <a:gd name="T67" fmla="*/ 117 h 144"/>
              <a:gd name="T68" fmla="*/ 6 w 245"/>
              <a:gd name="T69" fmla="*/ 112 h 144"/>
              <a:gd name="T70" fmla="*/ 5 w 245"/>
              <a:gd name="T71" fmla="*/ 106 h 144"/>
              <a:gd name="T72" fmla="*/ 3 w 245"/>
              <a:gd name="T73" fmla="*/ 101 h 144"/>
              <a:gd name="T74" fmla="*/ 0 w 245"/>
              <a:gd name="T75" fmla="*/ 102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5" h="144">
                <a:moveTo>
                  <a:pt x="245" y="41"/>
                </a:moveTo>
                <a:lnTo>
                  <a:pt x="243" y="36"/>
                </a:lnTo>
                <a:lnTo>
                  <a:pt x="242" y="31"/>
                </a:lnTo>
                <a:lnTo>
                  <a:pt x="238" y="25"/>
                </a:lnTo>
                <a:lnTo>
                  <a:pt x="237" y="20"/>
                </a:lnTo>
                <a:lnTo>
                  <a:pt x="235" y="15"/>
                </a:lnTo>
                <a:lnTo>
                  <a:pt x="232" y="10"/>
                </a:lnTo>
                <a:lnTo>
                  <a:pt x="228" y="5"/>
                </a:lnTo>
                <a:lnTo>
                  <a:pt x="225" y="0"/>
                </a:lnTo>
                <a:lnTo>
                  <a:pt x="222" y="1"/>
                </a:lnTo>
                <a:lnTo>
                  <a:pt x="225" y="6"/>
                </a:lnTo>
                <a:lnTo>
                  <a:pt x="228" y="11"/>
                </a:lnTo>
                <a:lnTo>
                  <a:pt x="232" y="16"/>
                </a:lnTo>
                <a:lnTo>
                  <a:pt x="233" y="21"/>
                </a:lnTo>
                <a:lnTo>
                  <a:pt x="237" y="26"/>
                </a:lnTo>
                <a:lnTo>
                  <a:pt x="238" y="31"/>
                </a:lnTo>
                <a:lnTo>
                  <a:pt x="240" y="38"/>
                </a:lnTo>
                <a:lnTo>
                  <a:pt x="242" y="43"/>
                </a:lnTo>
                <a:lnTo>
                  <a:pt x="245" y="41"/>
                </a:lnTo>
                <a:close/>
                <a:moveTo>
                  <a:pt x="0" y="102"/>
                </a:moveTo>
                <a:lnTo>
                  <a:pt x="1" y="107"/>
                </a:lnTo>
                <a:lnTo>
                  <a:pt x="3" y="114"/>
                </a:lnTo>
                <a:lnTo>
                  <a:pt x="5" y="119"/>
                </a:lnTo>
                <a:lnTo>
                  <a:pt x="8" y="124"/>
                </a:lnTo>
                <a:lnTo>
                  <a:pt x="10" y="129"/>
                </a:lnTo>
                <a:lnTo>
                  <a:pt x="13" y="134"/>
                </a:lnTo>
                <a:lnTo>
                  <a:pt x="16" y="139"/>
                </a:lnTo>
                <a:lnTo>
                  <a:pt x="18" y="144"/>
                </a:lnTo>
                <a:lnTo>
                  <a:pt x="21" y="142"/>
                </a:lnTo>
                <a:lnTo>
                  <a:pt x="18" y="137"/>
                </a:lnTo>
                <a:lnTo>
                  <a:pt x="16" y="132"/>
                </a:lnTo>
                <a:lnTo>
                  <a:pt x="13" y="127"/>
                </a:lnTo>
                <a:lnTo>
                  <a:pt x="11" y="122"/>
                </a:lnTo>
                <a:lnTo>
                  <a:pt x="8" y="117"/>
                </a:lnTo>
                <a:lnTo>
                  <a:pt x="6" y="112"/>
                </a:lnTo>
                <a:lnTo>
                  <a:pt x="5" y="106"/>
                </a:lnTo>
                <a:lnTo>
                  <a:pt x="3" y="101"/>
                </a:lnTo>
                <a:lnTo>
                  <a:pt x="0" y="102"/>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32" name="Freeform 1937">
            <a:extLst>
              <a:ext uri="{FF2B5EF4-FFF2-40B4-BE49-F238E27FC236}">
                <a16:creationId xmlns:a16="http://schemas.microsoft.com/office/drawing/2014/main" id="{57B82A23-384E-1B5D-8A9A-7DD53E75D3FA}"/>
              </a:ext>
            </a:extLst>
          </p:cNvPr>
          <p:cNvSpPr>
            <a:spLocks noEditPoints="1"/>
          </p:cNvSpPr>
          <p:nvPr/>
        </p:nvSpPr>
        <p:spPr bwMode="auto">
          <a:xfrm>
            <a:off x="3327400" y="2487613"/>
            <a:ext cx="384175" cy="225425"/>
          </a:xfrm>
          <a:custGeom>
            <a:avLst/>
            <a:gdLst>
              <a:gd name="T0" fmla="*/ 242 w 242"/>
              <a:gd name="T1" fmla="*/ 43 h 142"/>
              <a:gd name="T2" fmla="*/ 241 w 242"/>
              <a:gd name="T3" fmla="*/ 36 h 142"/>
              <a:gd name="T4" fmla="*/ 239 w 242"/>
              <a:gd name="T5" fmla="*/ 31 h 142"/>
              <a:gd name="T6" fmla="*/ 236 w 242"/>
              <a:gd name="T7" fmla="*/ 26 h 142"/>
              <a:gd name="T8" fmla="*/ 234 w 242"/>
              <a:gd name="T9" fmla="*/ 21 h 142"/>
              <a:gd name="T10" fmla="*/ 232 w 242"/>
              <a:gd name="T11" fmla="*/ 15 h 142"/>
              <a:gd name="T12" fmla="*/ 229 w 242"/>
              <a:gd name="T13" fmla="*/ 10 h 142"/>
              <a:gd name="T14" fmla="*/ 226 w 242"/>
              <a:gd name="T15" fmla="*/ 5 h 142"/>
              <a:gd name="T16" fmla="*/ 222 w 242"/>
              <a:gd name="T17" fmla="*/ 0 h 142"/>
              <a:gd name="T18" fmla="*/ 219 w 242"/>
              <a:gd name="T19" fmla="*/ 1 h 142"/>
              <a:gd name="T20" fmla="*/ 222 w 242"/>
              <a:gd name="T21" fmla="*/ 6 h 142"/>
              <a:gd name="T22" fmla="*/ 226 w 242"/>
              <a:gd name="T23" fmla="*/ 11 h 142"/>
              <a:gd name="T24" fmla="*/ 229 w 242"/>
              <a:gd name="T25" fmla="*/ 16 h 142"/>
              <a:gd name="T26" fmla="*/ 231 w 242"/>
              <a:gd name="T27" fmla="*/ 21 h 142"/>
              <a:gd name="T28" fmla="*/ 234 w 242"/>
              <a:gd name="T29" fmla="*/ 28 h 142"/>
              <a:gd name="T30" fmla="*/ 236 w 242"/>
              <a:gd name="T31" fmla="*/ 33 h 142"/>
              <a:gd name="T32" fmla="*/ 237 w 242"/>
              <a:gd name="T33" fmla="*/ 38 h 142"/>
              <a:gd name="T34" fmla="*/ 239 w 242"/>
              <a:gd name="T35" fmla="*/ 45 h 142"/>
              <a:gd name="T36" fmla="*/ 242 w 242"/>
              <a:gd name="T37" fmla="*/ 43 h 142"/>
              <a:gd name="T38" fmla="*/ 0 w 242"/>
              <a:gd name="T39" fmla="*/ 102 h 142"/>
              <a:gd name="T40" fmla="*/ 2 w 242"/>
              <a:gd name="T41" fmla="*/ 107 h 142"/>
              <a:gd name="T42" fmla="*/ 4 w 242"/>
              <a:gd name="T43" fmla="*/ 112 h 142"/>
              <a:gd name="T44" fmla="*/ 5 w 242"/>
              <a:gd name="T45" fmla="*/ 117 h 142"/>
              <a:gd name="T46" fmla="*/ 9 w 242"/>
              <a:gd name="T47" fmla="*/ 122 h 142"/>
              <a:gd name="T48" fmla="*/ 10 w 242"/>
              <a:gd name="T49" fmla="*/ 129 h 142"/>
              <a:gd name="T50" fmla="*/ 14 w 242"/>
              <a:gd name="T51" fmla="*/ 132 h 142"/>
              <a:gd name="T52" fmla="*/ 15 w 242"/>
              <a:gd name="T53" fmla="*/ 137 h 142"/>
              <a:gd name="T54" fmla="*/ 19 w 242"/>
              <a:gd name="T55" fmla="*/ 142 h 142"/>
              <a:gd name="T56" fmla="*/ 22 w 242"/>
              <a:gd name="T57" fmla="*/ 141 h 142"/>
              <a:gd name="T58" fmla="*/ 19 w 242"/>
              <a:gd name="T59" fmla="*/ 137 h 142"/>
              <a:gd name="T60" fmla="*/ 17 w 242"/>
              <a:gd name="T61" fmla="*/ 132 h 142"/>
              <a:gd name="T62" fmla="*/ 14 w 242"/>
              <a:gd name="T63" fmla="*/ 127 h 142"/>
              <a:gd name="T64" fmla="*/ 10 w 242"/>
              <a:gd name="T65" fmla="*/ 122 h 142"/>
              <a:gd name="T66" fmla="*/ 9 w 242"/>
              <a:gd name="T67" fmla="*/ 117 h 142"/>
              <a:gd name="T68" fmla="*/ 7 w 242"/>
              <a:gd name="T69" fmla="*/ 111 h 142"/>
              <a:gd name="T70" fmla="*/ 5 w 242"/>
              <a:gd name="T71" fmla="*/ 106 h 142"/>
              <a:gd name="T72" fmla="*/ 4 w 242"/>
              <a:gd name="T73" fmla="*/ 101 h 142"/>
              <a:gd name="T74" fmla="*/ 0 w 242"/>
              <a:gd name="T75" fmla="*/ 102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2" h="142">
                <a:moveTo>
                  <a:pt x="242" y="43"/>
                </a:moveTo>
                <a:lnTo>
                  <a:pt x="241" y="36"/>
                </a:lnTo>
                <a:lnTo>
                  <a:pt x="239" y="31"/>
                </a:lnTo>
                <a:lnTo>
                  <a:pt x="236" y="26"/>
                </a:lnTo>
                <a:lnTo>
                  <a:pt x="234" y="21"/>
                </a:lnTo>
                <a:lnTo>
                  <a:pt x="232" y="15"/>
                </a:lnTo>
                <a:lnTo>
                  <a:pt x="229" y="10"/>
                </a:lnTo>
                <a:lnTo>
                  <a:pt x="226" y="5"/>
                </a:lnTo>
                <a:lnTo>
                  <a:pt x="222" y="0"/>
                </a:lnTo>
                <a:lnTo>
                  <a:pt x="219" y="1"/>
                </a:lnTo>
                <a:lnTo>
                  <a:pt x="222" y="6"/>
                </a:lnTo>
                <a:lnTo>
                  <a:pt x="226" y="11"/>
                </a:lnTo>
                <a:lnTo>
                  <a:pt x="229" y="16"/>
                </a:lnTo>
                <a:lnTo>
                  <a:pt x="231" y="21"/>
                </a:lnTo>
                <a:lnTo>
                  <a:pt x="234" y="28"/>
                </a:lnTo>
                <a:lnTo>
                  <a:pt x="236" y="33"/>
                </a:lnTo>
                <a:lnTo>
                  <a:pt x="237" y="38"/>
                </a:lnTo>
                <a:lnTo>
                  <a:pt x="239" y="45"/>
                </a:lnTo>
                <a:lnTo>
                  <a:pt x="242" y="43"/>
                </a:lnTo>
                <a:close/>
                <a:moveTo>
                  <a:pt x="0" y="102"/>
                </a:moveTo>
                <a:lnTo>
                  <a:pt x="2" y="107"/>
                </a:lnTo>
                <a:lnTo>
                  <a:pt x="4" y="112"/>
                </a:lnTo>
                <a:lnTo>
                  <a:pt x="5" y="117"/>
                </a:lnTo>
                <a:lnTo>
                  <a:pt x="9" y="122"/>
                </a:lnTo>
                <a:lnTo>
                  <a:pt x="10" y="129"/>
                </a:lnTo>
                <a:lnTo>
                  <a:pt x="14" y="132"/>
                </a:lnTo>
                <a:lnTo>
                  <a:pt x="15" y="137"/>
                </a:lnTo>
                <a:lnTo>
                  <a:pt x="19" y="142"/>
                </a:lnTo>
                <a:lnTo>
                  <a:pt x="22" y="141"/>
                </a:lnTo>
                <a:lnTo>
                  <a:pt x="19" y="137"/>
                </a:lnTo>
                <a:lnTo>
                  <a:pt x="17" y="132"/>
                </a:lnTo>
                <a:lnTo>
                  <a:pt x="14" y="127"/>
                </a:lnTo>
                <a:lnTo>
                  <a:pt x="10" y="122"/>
                </a:lnTo>
                <a:lnTo>
                  <a:pt x="9" y="117"/>
                </a:lnTo>
                <a:lnTo>
                  <a:pt x="7" y="111"/>
                </a:lnTo>
                <a:lnTo>
                  <a:pt x="5" y="106"/>
                </a:lnTo>
                <a:lnTo>
                  <a:pt x="4" y="101"/>
                </a:lnTo>
                <a:lnTo>
                  <a:pt x="0" y="102"/>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33" name="Freeform 1938">
            <a:extLst>
              <a:ext uri="{FF2B5EF4-FFF2-40B4-BE49-F238E27FC236}">
                <a16:creationId xmlns:a16="http://schemas.microsoft.com/office/drawing/2014/main" id="{793C2E81-E2C9-2B76-8F83-979C96679006}"/>
              </a:ext>
            </a:extLst>
          </p:cNvPr>
          <p:cNvSpPr>
            <a:spLocks noEditPoints="1"/>
          </p:cNvSpPr>
          <p:nvPr/>
        </p:nvSpPr>
        <p:spPr bwMode="auto">
          <a:xfrm>
            <a:off x="3330575" y="2489200"/>
            <a:ext cx="379413" cy="223838"/>
          </a:xfrm>
          <a:custGeom>
            <a:avLst/>
            <a:gdLst>
              <a:gd name="T0" fmla="*/ 239 w 239"/>
              <a:gd name="T1" fmla="*/ 42 h 141"/>
              <a:gd name="T2" fmla="*/ 237 w 239"/>
              <a:gd name="T3" fmla="*/ 37 h 141"/>
              <a:gd name="T4" fmla="*/ 235 w 239"/>
              <a:gd name="T5" fmla="*/ 30 h 141"/>
              <a:gd name="T6" fmla="*/ 234 w 239"/>
              <a:gd name="T7" fmla="*/ 25 h 141"/>
              <a:gd name="T8" fmla="*/ 230 w 239"/>
              <a:gd name="T9" fmla="*/ 20 h 141"/>
              <a:gd name="T10" fmla="*/ 229 w 239"/>
              <a:gd name="T11" fmla="*/ 15 h 141"/>
              <a:gd name="T12" fmla="*/ 225 w 239"/>
              <a:gd name="T13" fmla="*/ 10 h 141"/>
              <a:gd name="T14" fmla="*/ 222 w 239"/>
              <a:gd name="T15" fmla="*/ 5 h 141"/>
              <a:gd name="T16" fmla="*/ 219 w 239"/>
              <a:gd name="T17" fmla="*/ 0 h 141"/>
              <a:gd name="T18" fmla="*/ 217 w 239"/>
              <a:gd name="T19" fmla="*/ 2 h 141"/>
              <a:gd name="T20" fmla="*/ 219 w 239"/>
              <a:gd name="T21" fmla="*/ 7 h 141"/>
              <a:gd name="T22" fmla="*/ 222 w 239"/>
              <a:gd name="T23" fmla="*/ 12 h 141"/>
              <a:gd name="T24" fmla="*/ 225 w 239"/>
              <a:gd name="T25" fmla="*/ 17 h 141"/>
              <a:gd name="T26" fmla="*/ 227 w 239"/>
              <a:gd name="T27" fmla="*/ 22 h 141"/>
              <a:gd name="T28" fmla="*/ 230 w 239"/>
              <a:gd name="T29" fmla="*/ 27 h 141"/>
              <a:gd name="T30" fmla="*/ 232 w 239"/>
              <a:gd name="T31" fmla="*/ 32 h 141"/>
              <a:gd name="T32" fmla="*/ 234 w 239"/>
              <a:gd name="T33" fmla="*/ 39 h 141"/>
              <a:gd name="T34" fmla="*/ 235 w 239"/>
              <a:gd name="T35" fmla="*/ 44 h 141"/>
              <a:gd name="T36" fmla="*/ 239 w 239"/>
              <a:gd name="T37" fmla="*/ 42 h 141"/>
              <a:gd name="T38" fmla="*/ 0 w 239"/>
              <a:gd name="T39" fmla="*/ 100 h 141"/>
              <a:gd name="T40" fmla="*/ 2 w 239"/>
              <a:gd name="T41" fmla="*/ 105 h 141"/>
              <a:gd name="T42" fmla="*/ 3 w 239"/>
              <a:gd name="T43" fmla="*/ 111 h 141"/>
              <a:gd name="T44" fmla="*/ 5 w 239"/>
              <a:gd name="T45" fmla="*/ 116 h 141"/>
              <a:gd name="T46" fmla="*/ 8 w 239"/>
              <a:gd name="T47" fmla="*/ 121 h 141"/>
              <a:gd name="T48" fmla="*/ 10 w 239"/>
              <a:gd name="T49" fmla="*/ 126 h 141"/>
              <a:gd name="T50" fmla="*/ 13 w 239"/>
              <a:gd name="T51" fmla="*/ 131 h 141"/>
              <a:gd name="T52" fmla="*/ 15 w 239"/>
              <a:gd name="T53" fmla="*/ 136 h 141"/>
              <a:gd name="T54" fmla="*/ 18 w 239"/>
              <a:gd name="T55" fmla="*/ 141 h 141"/>
              <a:gd name="T56" fmla="*/ 22 w 239"/>
              <a:gd name="T57" fmla="*/ 140 h 141"/>
              <a:gd name="T58" fmla="*/ 18 w 239"/>
              <a:gd name="T59" fmla="*/ 135 h 141"/>
              <a:gd name="T60" fmla="*/ 15 w 239"/>
              <a:gd name="T61" fmla="*/ 130 h 141"/>
              <a:gd name="T62" fmla="*/ 13 w 239"/>
              <a:gd name="T63" fmla="*/ 125 h 141"/>
              <a:gd name="T64" fmla="*/ 10 w 239"/>
              <a:gd name="T65" fmla="*/ 120 h 141"/>
              <a:gd name="T66" fmla="*/ 8 w 239"/>
              <a:gd name="T67" fmla="*/ 115 h 141"/>
              <a:gd name="T68" fmla="*/ 7 w 239"/>
              <a:gd name="T69" fmla="*/ 110 h 141"/>
              <a:gd name="T70" fmla="*/ 5 w 239"/>
              <a:gd name="T71" fmla="*/ 105 h 141"/>
              <a:gd name="T72" fmla="*/ 3 w 239"/>
              <a:gd name="T73" fmla="*/ 98 h 141"/>
              <a:gd name="T74" fmla="*/ 0 w 239"/>
              <a:gd name="T75" fmla="*/ 100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39" h="141">
                <a:moveTo>
                  <a:pt x="239" y="42"/>
                </a:moveTo>
                <a:lnTo>
                  <a:pt x="237" y="37"/>
                </a:lnTo>
                <a:lnTo>
                  <a:pt x="235" y="30"/>
                </a:lnTo>
                <a:lnTo>
                  <a:pt x="234" y="25"/>
                </a:lnTo>
                <a:lnTo>
                  <a:pt x="230" y="20"/>
                </a:lnTo>
                <a:lnTo>
                  <a:pt x="229" y="15"/>
                </a:lnTo>
                <a:lnTo>
                  <a:pt x="225" y="10"/>
                </a:lnTo>
                <a:lnTo>
                  <a:pt x="222" y="5"/>
                </a:lnTo>
                <a:lnTo>
                  <a:pt x="219" y="0"/>
                </a:lnTo>
                <a:lnTo>
                  <a:pt x="217" y="2"/>
                </a:lnTo>
                <a:lnTo>
                  <a:pt x="219" y="7"/>
                </a:lnTo>
                <a:lnTo>
                  <a:pt x="222" y="12"/>
                </a:lnTo>
                <a:lnTo>
                  <a:pt x="225" y="17"/>
                </a:lnTo>
                <a:lnTo>
                  <a:pt x="227" y="22"/>
                </a:lnTo>
                <a:lnTo>
                  <a:pt x="230" y="27"/>
                </a:lnTo>
                <a:lnTo>
                  <a:pt x="232" y="32"/>
                </a:lnTo>
                <a:lnTo>
                  <a:pt x="234" y="39"/>
                </a:lnTo>
                <a:lnTo>
                  <a:pt x="235" y="44"/>
                </a:lnTo>
                <a:lnTo>
                  <a:pt x="239" y="42"/>
                </a:lnTo>
                <a:close/>
                <a:moveTo>
                  <a:pt x="0" y="100"/>
                </a:moveTo>
                <a:lnTo>
                  <a:pt x="2" y="105"/>
                </a:lnTo>
                <a:lnTo>
                  <a:pt x="3" y="111"/>
                </a:lnTo>
                <a:lnTo>
                  <a:pt x="5" y="116"/>
                </a:lnTo>
                <a:lnTo>
                  <a:pt x="8" y="121"/>
                </a:lnTo>
                <a:lnTo>
                  <a:pt x="10" y="126"/>
                </a:lnTo>
                <a:lnTo>
                  <a:pt x="13" y="131"/>
                </a:lnTo>
                <a:lnTo>
                  <a:pt x="15" y="136"/>
                </a:lnTo>
                <a:lnTo>
                  <a:pt x="18" y="141"/>
                </a:lnTo>
                <a:lnTo>
                  <a:pt x="22" y="140"/>
                </a:lnTo>
                <a:lnTo>
                  <a:pt x="18" y="135"/>
                </a:lnTo>
                <a:lnTo>
                  <a:pt x="15" y="130"/>
                </a:lnTo>
                <a:lnTo>
                  <a:pt x="13" y="125"/>
                </a:lnTo>
                <a:lnTo>
                  <a:pt x="10" y="120"/>
                </a:lnTo>
                <a:lnTo>
                  <a:pt x="8" y="115"/>
                </a:lnTo>
                <a:lnTo>
                  <a:pt x="7" y="110"/>
                </a:lnTo>
                <a:lnTo>
                  <a:pt x="5" y="105"/>
                </a:lnTo>
                <a:lnTo>
                  <a:pt x="3" y="98"/>
                </a:lnTo>
                <a:lnTo>
                  <a:pt x="0" y="10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34" name="Freeform 1939">
            <a:extLst>
              <a:ext uri="{FF2B5EF4-FFF2-40B4-BE49-F238E27FC236}">
                <a16:creationId xmlns:a16="http://schemas.microsoft.com/office/drawing/2014/main" id="{48723745-BEC7-DFE4-26A7-DCEF4383239E}"/>
              </a:ext>
            </a:extLst>
          </p:cNvPr>
          <p:cNvSpPr>
            <a:spLocks noEditPoints="1"/>
          </p:cNvSpPr>
          <p:nvPr/>
        </p:nvSpPr>
        <p:spPr bwMode="auto">
          <a:xfrm>
            <a:off x="3333750" y="2489200"/>
            <a:ext cx="373063" cy="222250"/>
          </a:xfrm>
          <a:custGeom>
            <a:avLst/>
            <a:gdLst>
              <a:gd name="T0" fmla="*/ 235 w 235"/>
              <a:gd name="T1" fmla="*/ 44 h 140"/>
              <a:gd name="T2" fmla="*/ 233 w 235"/>
              <a:gd name="T3" fmla="*/ 37 h 140"/>
              <a:gd name="T4" fmla="*/ 232 w 235"/>
              <a:gd name="T5" fmla="*/ 32 h 140"/>
              <a:gd name="T6" fmla="*/ 230 w 235"/>
              <a:gd name="T7" fmla="*/ 27 h 140"/>
              <a:gd name="T8" fmla="*/ 227 w 235"/>
              <a:gd name="T9" fmla="*/ 20 h 140"/>
              <a:gd name="T10" fmla="*/ 225 w 235"/>
              <a:gd name="T11" fmla="*/ 15 h 140"/>
              <a:gd name="T12" fmla="*/ 222 w 235"/>
              <a:gd name="T13" fmla="*/ 10 h 140"/>
              <a:gd name="T14" fmla="*/ 218 w 235"/>
              <a:gd name="T15" fmla="*/ 5 h 140"/>
              <a:gd name="T16" fmla="*/ 215 w 235"/>
              <a:gd name="T17" fmla="*/ 0 h 140"/>
              <a:gd name="T18" fmla="*/ 213 w 235"/>
              <a:gd name="T19" fmla="*/ 2 h 140"/>
              <a:gd name="T20" fmla="*/ 217 w 235"/>
              <a:gd name="T21" fmla="*/ 7 h 140"/>
              <a:gd name="T22" fmla="*/ 218 w 235"/>
              <a:gd name="T23" fmla="*/ 12 h 140"/>
              <a:gd name="T24" fmla="*/ 222 w 235"/>
              <a:gd name="T25" fmla="*/ 17 h 140"/>
              <a:gd name="T26" fmla="*/ 223 w 235"/>
              <a:gd name="T27" fmla="*/ 22 h 140"/>
              <a:gd name="T28" fmla="*/ 227 w 235"/>
              <a:gd name="T29" fmla="*/ 27 h 140"/>
              <a:gd name="T30" fmla="*/ 228 w 235"/>
              <a:gd name="T31" fmla="*/ 34 h 140"/>
              <a:gd name="T32" fmla="*/ 230 w 235"/>
              <a:gd name="T33" fmla="*/ 39 h 140"/>
              <a:gd name="T34" fmla="*/ 232 w 235"/>
              <a:gd name="T35" fmla="*/ 45 h 140"/>
              <a:gd name="T36" fmla="*/ 235 w 235"/>
              <a:gd name="T37" fmla="*/ 44 h 140"/>
              <a:gd name="T38" fmla="*/ 0 w 235"/>
              <a:gd name="T39" fmla="*/ 100 h 140"/>
              <a:gd name="T40" fmla="*/ 1 w 235"/>
              <a:gd name="T41" fmla="*/ 105 h 140"/>
              <a:gd name="T42" fmla="*/ 3 w 235"/>
              <a:gd name="T43" fmla="*/ 110 h 140"/>
              <a:gd name="T44" fmla="*/ 5 w 235"/>
              <a:gd name="T45" fmla="*/ 116 h 140"/>
              <a:gd name="T46" fmla="*/ 6 w 235"/>
              <a:gd name="T47" fmla="*/ 121 h 140"/>
              <a:gd name="T48" fmla="*/ 10 w 235"/>
              <a:gd name="T49" fmla="*/ 126 h 140"/>
              <a:gd name="T50" fmla="*/ 13 w 235"/>
              <a:gd name="T51" fmla="*/ 131 h 140"/>
              <a:gd name="T52" fmla="*/ 15 w 235"/>
              <a:gd name="T53" fmla="*/ 136 h 140"/>
              <a:gd name="T54" fmla="*/ 18 w 235"/>
              <a:gd name="T55" fmla="*/ 140 h 140"/>
              <a:gd name="T56" fmla="*/ 21 w 235"/>
              <a:gd name="T57" fmla="*/ 140 h 140"/>
              <a:gd name="T58" fmla="*/ 18 w 235"/>
              <a:gd name="T59" fmla="*/ 135 h 140"/>
              <a:gd name="T60" fmla="*/ 15 w 235"/>
              <a:gd name="T61" fmla="*/ 130 h 140"/>
              <a:gd name="T62" fmla="*/ 13 w 235"/>
              <a:gd name="T63" fmla="*/ 125 h 140"/>
              <a:gd name="T64" fmla="*/ 10 w 235"/>
              <a:gd name="T65" fmla="*/ 120 h 140"/>
              <a:gd name="T66" fmla="*/ 8 w 235"/>
              <a:gd name="T67" fmla="*/ 115 h 140"/>
              <a:gd name="T68" fmla="*/ 6 w 235"/>
              <a:gd name="T69" fmla="*/ 108 h 140"/>
              <a:gd name="T70" fmla="*/ 5 w 235"/>
              <a:gd name="T71" fmla="*/ 103 h 140"/>
              <a:gd name="T72" fmla="*/ 3 w 235"/>
              <a:gd name="T73" fmla="*/ 98 h 140"/>
              <a:gd name="T74" fmla="*/ 0 w 235"/>
              <a:gd name="T75" fmla="*/ 10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35" h="140">
                <a:moveTo>
                  <a:pt x="235" y="44"/>
                </a:moveTo>
                <a:lnTo>
                  <a:pt x="233" y="37"/>
                </a:lnTo>
                <a:lnTo>
                  <a:pt x="232" y="32"/>
                </a:lnTo>
                <a:lnTo>
                  <a:pt x="230" y="27"/>
                </a:lnTo>
                <a:lnTo>
                  <a:pt x="227" y="20"/>
                </a:lnTo>
                <a:lnTo>
                  <a:pt x="225" y="15"/>
                </a:lnTo>
                <a:lnTo>
                  <a:pt x="222" y="10"/>
                </a:lnTo>
                <a:lnTo>
                  <a:pt x="218" y="5"/>
                </a:lnTo>
                <a:lnTo>
                  <a:pt x="215" y="0"/>
                </a:lnTo>
                <a:lnTo>
                  <a:pt x="213" y="2"/>
                </a:lnTo>
                <a:lnTo>
                  <a:pt x="217" y="7"/>
                </a:lnTo>
                <a:lnTo>
                  <a:pt x="218" y="12"/>
                </a:lnTo>
                <a:lnTo>
                  <a:pt x="222" y="17"/>
                </a:lnTo>
                <a:lnTo>
                  <a:pt x="223" y="22"/>
                </a:lnTo>
                <a:lnTo>
                  <a:pt x="227" y="27"/>
                </a:lnTo>
                <a:lnTo>
                  <a:pt x="228" y="34"/>
                </a:lnTo>
                <a:lnTo>
                  <a:pt x="230" y="39"/>
                </a:lnTo>
                <a:lnTo>
                  <a:pt x="232" y="45"/>
                </a:lnTo>
                <a:lnTo>
                  <a:pt x="235" y="44"/>
                </a:lnTo>
                <a:close/>
                <a:moveTo>
                  <a:pt x="0" y="100"/>
                </a:moveTo>
                <a:lnTo>
                  <a:pt x="1" y="105"/>
                </a:lnTo>
                <a:lnTo>
                  <a:pt x="3" y="110"/>
                </a:lnTo>
                <a:lnTo>
                  <a:pt x="5" y="116"/>
                </a:lnTo>
                <a:lnTo>
                  <a:pt x="6" y="121"/>
                </a:lnTo>
                <a:lnTo>
                  <a:pt x="10" y="126"/>
                </a:lnTo>
                <a:lnTo>
                  <a:pt x="13" y="131"/>
                </a:lnTo>
                <a:lnTo>
                  <a:pt x="15" y="136"/>
                </a:lnTo>
                <a:lnTo>
                  <a:pt x="18" y="140"/>
                </a:lnTo>
                <a:lnTo>
                  <a:pt x="21" y="140"/>
                </a:lnTo>
                <a:lnTo>
                  <a:pt x="18" y="135"/>
                </a:lnTo>
                <a:lnTo>
                  <a:pt x="15" y="130"/>
                </a:lnTo>
                <a:lnTo>
                  <a:pt x="13" y="125"/>
                </a:lnTo>
                <a:lnTo>
                  <a:pt x="10" y="120"/>
                </a:lnTo>
                <a:lnTo>
                  <a:pt x="8" y="115"/>
                </a:lnTo>
                <a:lnTo>
                  <a:pt x="6" y="108"/>
                </a:lnTo>
                <a:lnTo>
                  <a:pt x="5" y="103"/>
                </a:lnTo>
                <a:lnTo>
                  <a:pt x="3" y="98"/>
                </a:lnTo>
                <a:lnTo>
                  <a:pt x="0" y="10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35" name="Freeform 1940">
            <a:extLst>
              <a:ext uri="{FF2B5EF4-FFF2-40B4-BE49-F238E27FC236}">
                <a16:creationId xmlns:a16="http://schemas.microsoft.com/office/drawing/2014/main" id="{296BDA82-24AE-543C-A81F-26D9D81F30E0}"/>
              </a:ext>
            </a:extLst>
          </p:cNvPr>
          <p:cNvSpPr>
            <a:spLocks noEditPoints="1"/>
          </p:cNvSpPr>
          <p:nvPr/>
        </p:nvSpPr>
        <p:spPr bwMode="auto">
          <a:xfrm>
            <a:off x="3335338" y="2492375"/>
            <a:ext cx="368300" cy="219075"/>
          </a:xfrm>
          <a:custGeom>
            <a:avLst/>
            <a:gdLst>
              <a:gd name="T0" fmla="*/ 232 w 232"/>
              <a:gd name="T1" fmla="*/ 42 h 138"/>
              <a:gd name="T2" fmla="*/ 231 w 232"/>
              <a:gd name="T3" fmla="*/ 37 h 138"/>
              <a:gd name="T4" fmla="*/ 229 w 232"/>
              <a:gd name="T5" fmla="*/ 30 h 138"/>
              <a:gd name="T6" fmla="*/ 227 w 232"/>
              <a:gd name="T7" fmla="*/ 25 h 138"/>
              <a:gd name="T8" fmla="*/ 224 w 232"/>
              <a:gd name="T9" fmla="*/ 20 h 138"/>
              <a:gd name="T10" fmla="*/ 222 w 232"/>
              <a:gd name="T11" fmla="*/ 15 h 138"/>
              <a:gd name="T12" fmla="*/ 219 w 232"/>
              <a:gd name="T13" fmla="*/ 10 h 138"/>
              <a:gd name="T14" fmla="*/ 216 w 232"/>
              <a:gd name="T15" fmla="*/ 5 h 138"/>
              <a:gd name="T16" fmla="*/ 214 w 232"/>
              <a:gd name="T17" fmla="*/ 0 h 138"/>
              <a:gd name="T18" fmla="*/ 211 w 232"/>
              <a:gd name="T19" fmla="*/ 2 h 138"/>
              <a:gd name="T20" fmla="*/ 214 w 232"/>
              <a:gd name="T21" fmla="*/ 5 h 138"/>
              <a:gd name="T22" fmla="*/ 216 w 232"/>
              <a:gd name="T23" fmla="*/ 10 h 138"/>
              <a:gd name="T24" fmla="*/ 219 w 232"/>
              <a:gd name="T25" fmla="*/ 15 h 138"/>
              <a:gd name="T26" fmla="*/ 222 w 232"/>
              <a:gd name="T27" fmla="*/ 22 h 138"/>
              <a:gd name="T28" fmla="*/ 224 w 232"/>
              <a:gd name="T29" fmla="*/ 27 h 138"/>
              <a:gd name="T30" fmla="*/ 226 w 232"/>
              <a:gd name="T31" fmla="*/ 32 h 138"/>
              <a:gd name="T32" fmla="*/ 227 w 232"/>
              <a:gd name="T33" fmla="*/ 38 h 138"/>
              <a:gd name="T34" fmla="*/ 229 w 232"/>
              <a:gd name="T35" fmla="*/ 43 h 138"/>
              <a:gd name="T36" fmla="*/ 232 w 232"/>
              <a:gd name="T37" fmla="*/ 42 h 138"/>
              <a:gd name="T38" fmla="*/ 0 w 232"/>
              <a:gd name="T39" fmla="*/ 96 h 138"/>
              <a:gd name="T40" fmla="*/ 2 w 232"/>
              <a:gd name="T41" fmla="*/ 103 h 138"/>
              <a:gd name="T42" fmla="*/ 4 w 232"/>
              <a:gd name="T43" fmla="*/ 108 h 138"/>
              <a:gd name="T44" fmla="*/ 5 w 232"/>
              <a:gd name="T45" fmla="*/ 113 h 138"/>
              <a:gd name="T46" fmla="*/ 7 w 232"/>
              <a:gd name="T47" fmla="*/ 118 h 138"/>
              <a:gd name="T48" fmla="*/ 10 w 232"/>
              <a:gd name="T49" fmla="*/ 123 h 138"/>
              <a:gd name="T50" fmla="*/ 12 w 232"/>
              <a:gd name="T51" fmla="*/ 128 h 138"/>
              <a:gd name="T52" fmla="*/ 15 w 232"/>
              <a:gd name="T53" fmla="*/ 133 h 138"/>
              <a:gd name="T54" fmla="*/ 19 w 232"/>
              <a:gd name="T55" fmla="*/ 138 h 138"/>
              <a:gd name="T56" fmla="*/ 22 w 232"/>
              <a:gd name="T57" fmla="*/ 136 h 138"/>
              <a:gd name="T58" fmla="*/ 19 w 232"/>
              <a:gd name="T59" fmla="*/ 131 h 138"/>
              <a:gd name="T60" fmla="*/ 15 w 232"/>
              <a:gd name="T61" fmla="*/ 126 h 138"/>
              <a:gd name="T62" fmla="*/ 14 w 232"/>
              <a:gd name="T63" fmla="*/ 121 h 138"/>
              <a:gd name="T64" fmla="*/ 10 w 232"/>
              <a:gd name="T65" fmla="*/ 116 h 138"/>
              <a:gd name="T66" fmla="*/ 9 w 232"/>
              <a:gd name="T67" fmla="*/ 111 h 138"/>
              <a:gd name="T68" fmla="*/ 7 w 232"/>
              <a:gd name="T69" fmla="*/ 106 h 138"/>
              <a:gd name="T70" fmla="*/ 5 w 232"/>
              <a:gd name="T71" fmla="*/ 101 h 138"/>
              <a:gd name="T72" fmla="*/ 4 w 232"/>
              <a:gd name="T73" fmla="*/ 95 h 138"/>
              <a:gd name="T74" fmla="*/ 0 w 232"/>
              <a:gd name="T75" fmla="*/ 96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32" h="138">
                <a:moveTo>
                  <a:pt x="232" y="42"/>
                </a:moveTo>
                <a:lnTo>
                  <a:pt x="231" y="37"/>
                </a:lnTo>
                <a:lnTo>
                  <a:pt x="229" y="30"/>
                </a:lnTo>
                <a:lnTo>
                  <a:pt x="227" y="25"/>
                </a:lnTo>
                <a:lnTo>
                  <a:pt x="224" y="20"/>
                </a:lnTo>
                <a:lnTo>
                  <a:pt x="222" y="15"/>
                </a:lnTo>
                <a:lnTo>
                  <a:pt x="219" y="10"/>
                </a:lnTo>
                <a:lnTo>
                  <a:pt x="216" y="5"/>
                </a:lnTo>
                <a:lnTo>
                  <a:pt x="214" y="0"/>
                </a:lnTo>
                <a:lnTo>
                  <a:pt x="211" y="2"/>
                </a:lnTo>
                <a:lnTo>
                  <a:pt x="214" y="5"/>
                </a:lnTo>
                <a:lnTo>
                  <a:pt x="216" y="10"/>
                </a:lnTo>
                <a:lnTo>
                  <a:pt x="219" y="15"/>
                </a:lnTo>
                <a:lnTo>
                  <a:pt x="222" y="22"/>
                </a:lnTo>
                <a:lnTo>
                  <a:pt x="224" y="27"/>
                </a:lnTo>
                <a:lnTo>
                  <a:pt x="226" y="32"/>
                </a:lnTo>
                <a:lnTo>
                  <a:pt x="227" y="38"/>
                </a:lnTo>
                <a:lnTo>
                  <a:pt x="229" y="43"/>
                </a:lnTo>
                <a:lnTo>
                  <a:pt x="232" y="42"/>
                </a:lnTo>
                <a:close/>
                <a:moveTo>
                  <a:pt x="0" y="96"/>
                </a:moveTo>
                <a:lnTo>
                  <a:pt x="2" y="103"/>
                </a:lnTo>
                <a:lnTo>
                  <a:pt x="4" y="108"/>
                </a:lnTo>
                <a:lnTo>
                  <a:pt x="5" y="113"/>
                </a:lnTo>
                <a:lnTo>
                  <a:pt x="7" y="118"/>
                </a:lnTo>
                <a:lnTo>
                  <a:pt x="10" y="123"/>
                </a:lnTo>
                <a:lnTo>
                  <a:pt x="12" y="128"/>
                </a:lnTo>
                <a:lnTo>
                  <a:pt x="15" y="133"/>
                </a:lnTo>
                <a:lnTo>
                  <a:pt x="19" y="138"/>
                </a:lnTo>
                <a:lnTo>
                  <a:pt x="22" y="136"/>
                </a:lnTo>
                <a:lnTo>
                  <a:pt x="19" y="131"/>
                </a:lnTo>
                <a:lnTo>
                  <a:pt x="15" y="126"/>
                </a:lnTo>
                <a:lnTo>
                  <a:pt x="14" y="121"/>
                </a:lnTo>
                <a:lnTo>
                  <a:pt x="10" y="116"/>
                </a:lnTo>
                <a:lnTo>
                  <a:pt x="9" y="111"/>
                </a:lnTo>
                <a:lnTo>
                  <a:pt x="7" y="106"/>
                </a:lnTo>
                <a:lnTo>
                  <a:pt x="5" y="101"/>
                </a:lnTo>
                <a:lnTo>
                  <a:pt x="4" y="95"/>
                </a:lnTo>
                <a:lnTo>
                  <a:pt x="0" y="96"/>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36" name="Freeform 1941">
            <a:extLst>
              <a:ext uri="{FF2B5EF4-FFF2-40B4-BE49-F238E27FC236}">
                <a16:creationId xmlns:a16="http://schemas.microsoft.com/office/drawing/2014/main" id="{6058B52F-5264-9097-2B2F-24E034B62429}"/>
              </a:ext>
            </a:extLst>
          </p:cNvPr>
          <p:cNvSpPr>
            <a:spLocks noEditPoints="1"/>
          </p:cNvSpPr>
          <p:nvPr/>
        </p:nvSpPr>
        <p:spPr bwMode="auto">
          <a:xfrm>
            <a:off x="3338513" y="2492375"/>
            <a:ext cx="363538" cy="219075"/>
          </a:xfrm>
          <a:custGeom>
            <a:avLst/>
            <a:gdLst>
              <a:gd name="T0" fmla="*/ 229 w 229"/>
              <a:gd name="T1" fmla="*/ 43 h 138"/>
              <a:gd name="T2" fmla="*/ 227 w 229"/>
              <a:gd name="T3" fmla="*/ 37 h 138"/>
              <a:gd name="T4" fmla="*/ 225 w 229"/>
              <a:gd name="T5" fmla="*/ 32 h 138"/>
              <a:gd name="T6" fmla="*/ 224 w 229"/>
              <a:gd name="T7" fmla="*/ 25 h 138"/>
              <a:gd name="T8" fmla="*/ 220 w 229"/>
              <a:gd name="T9" fmla="*/ 20 h 138"/>
              <a:gd name="T10" fmla="*/ 219 w 229"/>
              <a:gd name="T11" fmla="*/ 15 h 138"/>
              <a:gd name="T12" fmla="*/ 215 w 229"/>
              <a:gd name="T13" fmla="*/ 10 h 138"/>
              <a:gd name="T14" fmla="*/ 214 w 229"/>
              <a:gd name="T15" fmla="*/ 5 h 138"/>
              <a:gd name="T16" fmla="*/ 210 w 229"/>
              <a:gd name="T17" fmla="*/ 0 h 138"/>
              <a:gd name="T18" fmla="*/ 207 w 229"/>
              <a:gd name="T19" fmla="*/ 2 h 138"/>
              <a:gd name="T20" fmla="*/ 210 w 229"/>
              <a:gd name="T21" fmla="*/ 7 h 138"/>
              <a:gd name="T22" fmla="*/ 214 w 229"/>
              <a:gd name="T23" fmla="*/ 12 h 138"/>
              <a:gd name="T24" fmla="*/ 215 w 229"/>
              <a:gd name="T25" fmla="*/ 17 h 138"/>
              <a:gd name="T26" fmla="*/ 219 w 229"/>
              <a:gd name="T27" fmla="*/ 22 h 138"/>
              <a:gd name="T28" fmla="*/ 220 w 229"/>
              <a:gd name="T29" fmla="*/ 27 h 138"/>
              <a:gd name="T30" fmla="*/ 222 w 229"/>
              <a:gd name="T31" fmla="*/ 33 h 138"/>
              <a:gd name="T32" fmla="*/ 224 w 229"/>
              <a:gd name="T33" fmla="*/ 38 h 138"/>
              <a:gd name="T34" fmla="*/ 225 w 229"/>
              <a:gd name="T35" fmla="*/ 43 h 138"/>
              <a:gd name="T36" fmla="*/ 229 w 229"/>
              <a:gd name="T37" fmla="*/ 43 h 138"/>
              <a:gd name="T38" fmla="*/ 0 w 229"/>
              <a:gd name="T39" fmla="*/ 96 h 138"/>
              <a:gd name="T40" fmla="*/ 2 w 229"/>
              <a:gd name="T41" fmla="*/ 101 h 138"/>
              <a:gd name="T42" fmla="*/ 3 w 229"/>
              <a:gd name="T43" fmla="*/ 106 h 138"/>
              <a:gd name="T44" fmla="*/ 5 w 229"/>
              <a:gd name="T45" fmla="*/ 113 h 138"/>
              <a:gd name="T46" fmla="*/ 7 w 229"/>
              <a:gd name="T47" fmla="*/ 118 h 138"/>
              <a:gd name="T48" fmla="*/ 10 w 229"/>
              <a:gd name="T49" fmla="*/ 123 h 138"/>
              <a:gd name="T50" fmla="*/ 12 w 229"/>
              <a:gd name="T51" fmla="*/ 128 h 138"/>
              <a:gd name="T52" fmla="*/ 15 w 229"/>
              <a:gd name="T53" fmla="*/ 133 h 138"/>
              <a:gd name="T54" fmla="*/ 18 w 229"/>
              <a:gd name="T55" fmla="*/ 138 h 138"/>
              <a:gd name="T56" fmla="*/ 22 w 229"/>
              <a:gd name="T57" fmla="*/ 136 h 138"/>
              <a:gd name="T58" fmla="*/ 18 w 229"/>
              <a:gd name="T59" fmla="*/ 131 h 138"/>
              <a:gd name="T60" fmla="*/ 15 w 229"/>
              <a:gd name="T61" fmla="*/ 126 h 138"/>
              <a:gd name="T62" fmla="*/ 13 w 229"/>
              <a:gd name="T63" fmla="*/ 121 h 138"/>
              <a:gd name="T64" fmla="*/ 10 w 229"/>
              <a:gd name="T65" fmla="*/ 116 h 138"/>
              <a:gd name="T66" fmla="*/ 8 w 229"/>
              <a:gd name="T67" fmla="*/ 111 h 138"/>
              <a:gd name="T68" fmla="*/ 7 w 229"/>
              <a:gd name="T69" fmla="*/ 106 h 138"/>
              <a:gd name="T70" fmla="*/ 3 w 229"/>
              <a:gd name="T71" fmla="*/ 99 h 138"/>
              <a:gd name="T72" fmla="*/ 3 w 229"/>
              <a:gd name="T73" fmla="*/ 95 h 138"/>
              <a:gd name="T74" fmla="*/ 0 w 229"/>
              <a:gd name="T75" fmla="*/ 96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9" h="138">
                <a:moveTo>
                  <a:pt x="229" y="43"/>
                </a:moveTo>
                <a:lnTo>
                  <a:pt x="227" y="37"/>
                </a:lnTo>
                <a:lnTo>
                  <a:pt x="225" y="32"/>
                </a:lnTo>
                <a:lnTo>
                  <a:pt x="224" y="25"/>
                </a:lnTo>
                <a:lnTo>
                  <a:pt x="220" y="20"/>
                </a:lnTo>
                <a:lnTo>
                  <a:pt x="219" y="15"/>
                </a:lnTo>
                <a:lnTo>
                  <a:pt x="215" y="10"/>
                </a:lnTo>
                <a:lnTo>
                  <a:pt x="214" y="5"/>
                </a:lnTo>
                <a:lnTo>
                  <a:pt x="210" y="0"/>
                </a:lnTo>
                <a:lnTo>
                  <a:pt x="207" y="2"/>
                </a:lnTo>
                <a:lnTo>
                  <a:pt x="210" y="7"/>
                </a:lnTo>
                <a:lnTo>
                  <a:pt x="214" y="12"/>
                </a:lnTo>
                <a:lnTo>
                  <a:pt x="215" y="17"/>
                </a:lnTo>
                <a:lnTo>
                  <a:pt x="219" y="22"/>
                </a:lnTo>
                <a:lnTo>
                  <a:pt x="220" y="27"/>
                </a:lnTo>
                <a:lnTo>
                  <a:pt x="222" y="33"/>
                </a:lnTo>
                <a:lnTo>
                  <a:pt x="224" y="38"/>
                </a:lnTo>
                <a:lnTo>
                  <a:pt x="225" y="43"/>
                </a:lnTo>
                <a:lnTo>
                  <a:pt x="229" y="43"/>
                </a:lnTo>
                <a:close/>
                <a:moveTo>
                  <a:pt x="0" y="96"/>
                </a:moveTo>
                <a:lnTo>
                  <a:pt x="2" y="101"/>
                </a:lnTo>
                <a:lnTo>
                  <a:pt x="3" y="106"/>
                </a:lnTo>
                <a:lnTo>
                  <a:pt x="5" y="113"/>
                </a:lnTo>
                <a:lnTo>
                  <a:pt x="7" y="118"/>
                </a:lnTo>
                <a:lnTo>
                  <a:pt x="10" y="123"/>
                </a:lnTo>
                <a:lnTo>
                  <a:pt x="12" y="128"/>
                </a:lnTo>
                <a:lnTo>
                  <a:pt x="15" y="133"/>
                </a:lnTo>
                <a:lnTo>
                  <a:pt x="18" y="138"/>
                </a:lnTo>
                <a:lnTo>
                  <a:pt x="22" y="136"/>
                </a:lnTo>
                <a:lnTo>
                  <a:pt x="18" y="131"/>
                </a:lnTo>
                <a:lnTo>
                  <a:pt x="15" y="126"/>
                </a:lnTo>
                <a:lnTo>
                  <a:pt x="13" y="121"/>
                </a:lnTo>
                <a:lnTo>
                  <a:pt x="10" y="116"/>
                </a:lnTo>
                <a:lnTo>
                  <a:pt x="8" y="111"/>
                </a:lnTo>
                <a:lnTo>
                  <a:pt x="7" y="106"/>
                </a:lnTo>
                <a:lnTo>
                  <a:pt x="3" y="99"/>
                </a:lnTo>
                <a:lnTo>
                  <a:pt x="3" y="95"/>
                </a:lnTo>
                <a:lnTo>
                  <a:pt x="0" y="96"/>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37" name="Freeform 1942">
            <a:extLst>
              <a:ext uri="{FF2B5EF4-FFF2-40B4-BE49-F238E27FC236}">
                <a16:creationId xmlns:a16="http://schemas.microsoft.com/office/drawing/2014/main" id="{D3613DAE-CEB9-8F34-0F41-A9630BF6033D}"/>
              </a:ext>
            </a:extLst>
          </p:cNvPr>
          <p:cNvSpPr>
            <a:spLocks noEditPoints="1"/>
          </p:cNvSpPr>
          <p:nvPr/>
        </p:nvSpPr>
        <p:spPr bwMode="auto">
          <a:xfrm>
            <a:off x="3341688" y="2495550"/>
            <a:ext cx="357188" cy="212725"/>
          </a:xfrm>
          <a:custGeom>
            <a:avLst/>
            <a:gdLst>
              <a:gd name="T0" fmla="*/ 225 w 225"/>
              <a:gd name="T1" fmla="*/ 41 h 134"/>
              <a:gd name="T2" fmla="*/ 223 w 225"/>
              <a:gd name="T3" fmla="*/ 36 h 134"/>
              <a:gd name="T4" fmla="*/ 222 w 225"/>
              <a:gd name="T5" fmla="*/ 30 h 134"/>
              <a:gd name="T6" fmla="*/ 220 w 225"/>
              <a:gd name="T7" fmla="*/ 25 h 134"/>
              <a:gd name="T8" fmla="*/ 218 w 225"/>
              <a:gd name="T9" fmla="*/ 20 h 134"/>
              <a:gd name="T10" fmla="*/ 215 w 225"/>
              <a:gd name="T11" fmla="*/ 13 h 134"/>
              <a:gd name="T12" fmla="*/ 212 w 225"/>
              <a:gd name="T13" fmla="*/ 8 h 134"/>
              <a:gd name="T14" fmla="*/ 210 w 225"/>
              <a:gd name="T15" fmla="*/ 3 h 134"/>
              <a:gd name="T16" fmla="*/ 207 w 225"/>
              <a:gd name="T17" fmla="*/ 0 h 134"/>
              <a:gd name="T18" fmla="*/ 203 w 225"/>
              <a:gd name="T19" fmla="*/ 0 h 134"/>
              <a:gd name="T20" fmla="*/ 207 w 225"/>
              <a:gd name="T21" fmla="*/ 5 h 134"/>
              <a:gd name="T22" fmla="*/ 210 w 225"/>
              <a:gd name="T23" fmla="*/ 10 h 134"/>
              <a:gd name="T24" fmla="*/ 212 w 225"/>
              <a:gd name="T25" fmla="*/ 15 h 134"/>
              <a:gd name="T26" fmla="*/ 215 w 225"/>
              <a:gd name="T27" fmla="*/ 20 h 134"/>
              <a:gd name="T28" fmla="*/ 217 w 225"/>
              <a:gd name="T29" fmla="*/ 26 h 134"/>
              <a:gd name="T30" fmla="*/ 218 w 225"/>
              <a:gd name="T31" fmla="*/ 31 h 134"/>
              <a:gd name="T32" fmla="*/ 220 w 225"/>
              <a:gd name="T33" fmla="*/ 36 h 134"/>
              <a:gd name="T34" fmla="*/ 222 w 225"/>
              <a:gd name="T35" fmla="*/ 43 h 134"/>
              <a:gd name="T36" fmla="*/ 225 w 225"/>
              <a:gd name="T37" fmla="*/ 41 h 134"/>
              <a:gd name="T38" fmla="*/ 0 w 225"/>
              <a:gd name="T39" fmla="*/ 93 h 134"/>
              <a:gd name="T40" fmla="*/ 1 w 225"/>
              <a:gd name="T41" fmla="*/ 99 h 134"/>
              <a:gd name="T42" fmla="*/ 3 w 225"/>
              <a:gd name="T43" fmla="*/ 104 h 134"/>
              <a:gd name="T44" fmla="*/ 5 w 225"/>
              <a:gd name="T45" fmla="*/ 109 h 134"/>
              <a:gd name="T46" fmla="*/ 6 w 225"/>
              <a:gd name="T47" fmla="*/ 114 h 134"/>
              <a:gd name="T48" fmla="*/ 10 w 225"/>
              <a:gd name="T49" fmla="*/ 119 h 134"/>
              <a:gd name="T50" fmla="*/ 11 w 225"/>
              <a:gd name="T51" fmla="*/ 124 h 134"/>
              <a:gd name="T52" fmla="*/ 15 w 225"/>
              <a:gd name="T53" fmla="*/ 129 h 134"/>
              <a:gd name="T54" fmla="*/ 18 w 225"/>
              <a:gd name="T55" fmla="*/ 134 h 134"/>
              <a:gd name="T56" fmla="*/ 21 w 225"/>
              <a:gd name="T57" fmla="*/ 132 h 134"/>
              <a:gd name="T58" fmla="*/ 18 w 225"/>
              <a:gd name="T59" fmla="*/ 127 h 134"/>
              <a:gd name="T60" fmla="*/ 15 w 225"/>
              <a:gd name="T61" fmla="*/ 124 h 134"/>
              <a:gd name="T62" fmla="*/ 11 w 225"/>
              <a:gd name="T63" fmla="*/ 119 h 134"/>
              <a:gd name="T64" fmla="*/ 10 w 225"/>
              <a:gd name="T65" fmla="*/ 114 h 134"/>
              <a:gd name="T66" fmla="*/ 8 w 225"/>
              <a:gd name="T67" fmla="*/ 107 h 134"/>
              <a:gd name="T68" fmla="*/ 5 w 225"/>
              <a:gd name="T69" fmla="*/ 102 h 134"/>
              <a:gd name="T70" fmla="*/ 3 w 225"/>
              <a:gd name="T71" fmla="*/ 97 h 134"/>
              <a:gd name="T72" fmla="*/ 3 w 225"/>
              <a:gd name="T73" fmla="*/ 93 h 134"/>
              <a:gd name="T74" fmla="*/ 0 w 225"/>
              <a:gd name="T75" fmla="*/ 9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5" h="134">
                <a:moveTo>
                  <a:pt x="225" y="41"/>
                </a:moveTo>
                <a:lnTo>
                  <a:pt x="223" y="36"/>
                </a:lnTo>
                <a:lnTo>
                  <a:pt x="222" y="30"/>
                </a:lnTo>
                <a:lnTo>
                  <a:pt x="220" y="25"/>
                </a:lnTo>
                <a:lnTo>
                  <a:pt x="218" y="20"/>
                </a:lnTo>
                <a:lnTo>
                  <a:pt x="215" y="13"/>
                </a:lnTo>
                <a:lnTo>
                  <a:pt x="212" y="8"/>
                </a:lnTo>
                <a:lnTo>
                  <a:pt x="210" y="3"/>
                </a:lnTo>
                <a:lnTo>
                  <a:pt x="207" y="0"/>
                </a:lnTo>
                <a:lnTo>
                  <a:pt x="203" y="0"/>
                </a:lnTo>
                <a:lnTo>
                  <a:pt x="207" y="5"/>
                </a:lnTo>
                <a:lnTo>
                  <a:pt x="210" y="10"/>
                </a:lnTo>
                <a:lnTo>
                  <a:pt x="212" y="15"/>
                </a:lnTo>
                <a:lnTo>
                  <a:pt x="215" y="20"/>
                </a:lnTo>
                <a:lnTo>
                  <a:pt x="217" y="26"/>
                </a:lnTo>
                <a:lnTo>
                  <a:pt x="218" y="31"/>
                </a:lnTo>
                <a:lnTo>
                  <a:pt x="220" y="36"/>
                </a:lnTo>
                <a:lnTo>
                  <a:pt x="222" y="43"/>
                </a:lnTo>
                <a:lnTo>
                  <a:pt x="225" y="41"/>
                </a:lnTo>
                <a:close/>
                <a:moveTo>
                  <a:pt x="0" y="93"/>
                </a:moveTo>
                <a:lnTo>
                  <a:pt x="1" y="99"/>
                </a:lnTo>
                <a:lnTo>
                  <a:pt x="3" y="104"/>
                </a:lnTo>
                <a:lnTo>
                  <a:pt x="5" y="109"/>
                </a:lnTo>
                <a:lnTo>
                  <a:pt x="6" y="114"/>
                </a:lnTo>
                <a:lnTo>
                  <a:pt x="10" y="119"/>
                </a:lnTo>
                <a:lnTo>
                  <a:pt x="11" y="124"/>
                </a:lnTo>
                <a:lnTo>
                  <a:pt x="15" y="129"/>
                </a:lnTo>
                <a:lnTo>
                  <a:pt x="18" y="134"/>
                </a:lnTo>
                <a:lnTo>
                  <a:pt x="21" y="132"/>
                </a:lnTo>
                <a:lnTo>
                  <a:pt x="18" y="127"/>
                </a:lnTo>
                <a:lnTo>
                  <a:pt x="15" y="124"/>
                </a:lnTo>
                <a:lnTo>
                  <a:pt x="11" y="119"/>
                </a:lnTo>
                <a:lnTo>
                  <a:pt x="10" y="114"/>
                </a:lnTo>
                <a:lnTo>
                  <a:pt x="8" y="107"/>
                </a:lnTo>
                <a:lnTo>
                  <a:pt x="5" y="102"/>
                </a:lnTo>
                <a:lnTo>
                  <a:pt x="3" y="97"/>
                </a:lnTo>
                <a:lnTo>
                  <a:pt x="3" y="93"/>
                </a:lnTo>
                <a:lnTo>
                  <a:pt x="0" y="93"/>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38" name="Freeform 1943">
            <a:extLst>
              <a:ext uri="{FF2B5EF4-FFF2-40B4-BE49-F238E27FC236}">
                <a16:creationId xmlns:a16="http://schemas.microsoft.com/office/drawing/2014/main" id="{CB4542D2-3160-6BFB-0959-089926697857}"/>
              </a:ext>
            </a:extLst>
          </p:cNvPr>
          <p:cNvSpPr>
            <a:spLocks noEditPoints="1"/>
          </p:cNvSpPr>
          <p:nvPr/>
        </p:nvSpPr>
        <p:spPr bwMode="auto">
          <a:xfrm>
            <a:off x="3343275" y="2495550"/>
            <a:ext cx="352425" cy="212725"/>
          </a:xfrm>
          <a:custGeom>
            <a:avLst/>
            <a:gdLst>
              <a:gd name="T0" fmla="*/ 222 w 222"/>
              <a:gd name="T1" fmla="*/ 41 h 134"/>
              <a:gd name="T2" fmla="*/ 221 w 222"/>
              <a:gd name="T3" fmla="*/ 36 h 134"/>
              <a:gd name="T4" fmla="*/ 219 w 222"/>
              <a:gd name="T5" fmla="*/ 31 h 134"/>
              <a:gd name="T6" fmla="*/ 217 w 222"/>
              <a:gd name="T7" fmla="*/ 25 h 134"/>
              <a:gd name="T8" fmla="*/ 216 w 222"/>
              <a:gd name="T9" fmla="*/ 20 h 134"/>
              <a:gd name="T10" fmla="*/ 212 w 222"/>
              <a:gd name="T11" fmla="*/ 15 h 134"/>
              <a:gd name="T12" fmla="*/ 211 w 222"/>
              <a:gd name="T13" fmla="*/ 10 h 134"/>
              <a:gd name="T14" fmla="*/ 207 w 222"/>
              <a:gd name="T15" fmla="*/ 5 h 134"/>
              <a:gd name="T16" fmla="*/ 204 w 222"/>
              <a:gd name="T17" fmla="*/ 0 h 134"/>
              <a:gd name="T18" fmla="*/ 201 w 222"/>
              <a:gd name="T19" fmla="*/ 1 h 134"/>
              <a:gd name="T20" fmla="*/ 204 w 222"/>
              <a:gd name="T21" fmla="*/ 6 h 134"/>
              <a:gd name="T22" fmla="*/ 207 w 222"/>
              <a:gd name="T23" fmla="*/ 11 h 134"/>
              <a:gd name="T24" fmla="*/ 209 w 222"/>
              <a:gd name="T25" fmla="*/ 16 h 134"/>
              <a:gd name="T26" fmla="*/ 212 w 222"/>
              <a:gd name="T27" fmla="*/ 21 h 134"/>
              <a:gd name="T28" fmla="*/ 214 w 222"/>
              <a:gd name="T29" fmla="*/ 26 h 134"/>
              <a:gd name="T30" fmla="*/ 216 w 222"/>
              <a:gd name="T31" fmla="*/ 31 h 134"/>
              <a:gd name="T32" fmla="*/ 217 w 222"/>
              <a:gd name="T33" fmla="*/ 38 h 134"/>
              <a:gd name="T34" fmla="*/ 219 w 222"/>
              <a:gd name="T35" fmla="*/ 43 h 134"/>
              <a:gd name="T36" fmla="*/ 222 w 222"/>
              <a:gd name="T37" fmla="*/ 41 h 134"/>
              <a:gd name="T38" fmla="*/ 0 w 222"/>
              <a:gd name="T39" fmla="*/ 93 h 134"/>
              <a:gd name="T40" fmla="*/ 0 w 222"/>
              <a:gd name="T41" fmla="*/ 97 h 134"/>
              <a:gd name="T42" fmla="*/ 4 w 222"/>
              <a:gd name="T43" fmla="*/ 104 h 134"/>
              <a:gd name="T44" fmla="*/ 5 w 222"/>
              <a:gd name="T45" fmla="*/ 109 h 134"/>
              <a:gd name="T46" fmla="*/ 7 w 222"/>
              <a:gd name="T47" fmla="*/ 114 h 134"/>
              <a:gd name="T48" fmla="*/ 10 w 222"/>
              <a:gd name="T49" fmla="*/ 119 h 134"/>
              <a:gd name="T50" fmla="*/ 12 w 222"/>
              <a:gd name="T51" fmla="*/ 124 h 134"/>
              <a:gd name="T52" fmla="*/ 15 w 222"/>
              <a:gd name="T53" fmla="*/ 129 h 134"/>
              <a:gd name="T54" fmla="*/ 19 w 222"/>
              <a:gd name="T55" fmla="*/ 134 h 134"/>
              <a:gd name="T56" fmla="*/ 22 w 222"/>
              <a:gd name="T57" fmla="*/ 132 h 134"/>
              <a:gd name="T58" fmla="*/ 19 w 222"/>
              <a:gd name="T59" fmla="*/ 127 h 134"/>
              <a:gd name="T60" fmla="*/ 15 w 222"/>
              <a:gd name="T61" fmla="*/ 122 h 134"/>
              <a:gd name="T62" fmla="*/ 12 w 222"/>
              <a:gd name="T63" fmla="*/ 117 h 134"/>
              <a:gd name="T64" fmla="*/ 10 w 222"/>
              <a:gd name="T65" fmla="*/ 112 h 134"/>
              <a:gd name="T66" fmla="*/ 9 w 222"/>
              <a:gd name="T67" fmla="*/ 107 h 134"/>
              <a:gd name="T68" fmla="*/ 5 w 222"/>
              <a:gd name="T69" fmla="*/ 102 h 134"/>
              <a:gd name="T70" fmla="*/ 4 w 222"/>
              <a:gd name="T71" fmla="*/ 97 h 134"/>
              <a:gd name="T72" fmla="*/ 2 w 222"/>
              <a:gd name="T73" fmla="*/ 91 h 134"/>
              <a:gd name="T74" fmla="*/ 0 w 222"/>
              <a:gd name="T75" fmla="*/ 9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2" h="134">
                <a:moveTo>
                  <a:pt x="222" y="41"/>
                </a:moveTo>
                <a:lnTo>
                  <a:pt x="221" y="36"/>
                </a:lnTo>
                <a:lnTo>
                  <a:pt x="219" y="31"/>
                </a:lnTo>
                <a:lnTo>
                  <a:pt x="217" y="25"/>
                </a:lnTo>
                <a:lnTo>
                  <a:pt x="216" y="20"/>
                </a:lnTo>
                <a:lnTo>
                  <a:pt x="212" y="15"/>
                </a:lnTo>
                <a:lnTo>
                  <a:pt x="211" y="10"/>
                </a:lnTo>
                <a:lnTo>
                  <a:pt x="207" y="5"/>
                </a:lnTo>
                <a:lnTo>
                  <a:pt x="204" y="0"/>
                </a:lnTo>
                <a:lnTo>
                  <a:pt x="201" y="1"/>
                </a:lnTo>
                <a:lnTo>
                  <a:pt x="204" y="6"/>
                </a:lnTo>
                <a:lnTo>
                  <a:pt x="207" y="11"/>
                </a:lnTo>
                <a:lnTo>
                  <a:pt x="209" y="16"/>
                </a:lnTo>
                <a:lnTo>
                  <a:pt x="212" y="21"/>
                </a:lnTo>
                <a:lnTo>
                  <a:pt x="214" y="26"/>
                </a:lnTo>
                <a:lnTo>
                  <a:pt x="216" y="31"/>
                </a:lnTo>
                <a:lnTo>
                  <a:pt x="217" y="38"/>
                </a:lnTo>
                <a:lnTo>
                  <a:pt x="219" y="43"/>
                </a:lnTo>
                <a:lnTo>
                  <a:pt x="222" y="41"/>
                </a:lnTo>
                <a:close/>
                <a:moveTo>
                  <a:pt x="0" y="93"/>
                </a:moveTo>
                <a:lnTo>
                  <a:pt x="0" y="97"/>
                </a:lnTo>
                <a:lnTo>
                  <a:pt x="4" y="104"/>
                </a:lnTo>
                <a:lnTo>
                  <a:pt x="5" y="109"/>
                </a:lnTo>
                <a:lnTo>
                  <a:pt x="7" y="114"/>
                </a:lnTo>
                <a:lnTo>
                  <a:pt x="10" y="119"/>
                </a:lnTo>
                <a:lnTo>
                  <a:pt x="12" y="124"/>
                </a:lnTo>
                <a:lnTo>
                  <a:pt x="15" y="129"/>
                </a:lnTo>
                <a:lnTo>
                  <a:pt x="19" y="134"/>
                </a:lnTo>
                <a:lnTo>
                  <a:pt x="22" y="132"/>
                </a:lnTo>
                <a:lnTo>
                  <a:pt x="19" y="127"/>
                </a:lnTo>
                <a:lnTo>
                  <a:pt x="15" y="122"/>
                </a:lnTo>
                <a:lnTo>
                  <a:pt x="12" y="117"/>
                </a:lnTo>
                <a:lnTo>
                  <a:pt x="10" y="112"/>
                </a:lnTo>
                <a:lnTo>
                  <a:pt x="9" y="107"/>
                </a:lnTo>
                <a:lnTo>
                  <a:pt x="5" y="102"/>
                </a:lnTo>
                <a:lnTo>
                  <a:pt x="4" y="97"/>
                </a:lnTo>
                <a:lnTo>
                  <a:pt x="2" y="91"/>
                </a:lnTo>
                <a:lnTo>
                  <a:pt x="0" y="93"/>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39" name="Freeform 1944">
            <a:extLst>
              <a:ext uri="{FF2B5EF4-FFF2-40B4-BE49-F238E27FC236}">
                <a16:creationId xmlns:a16="http://schemas.microsoft.com/office/drawing/2014/main" id="{9666BFB7-45C5-F37C-CB8C-59A6FD8331CD}"/>
              </a:ext>
            </a:extLst>
          </p:cNvPr>
          <p:cNvSpPr>
            <a:spLocks noEditPoints="1"/>
          </p:cNvSpPr>
          <p:nvPr/>
        </p:nvSpPr>
        <p:spPr bwMode="auto">
          <a:xfrm>
            <a:off x="3346450" y="2495550"/>
            <a:ext cx="347663" cy="209550"/>
          </a:xfrm>
          <a:custGeom>
            <a:avLst/>
            <a:gdLst>
              <a:gd name="T0" fmla="*/ 219 w 219"/>
              <a:gd name="T1" fmla="*/ 43 h 132"/>
              <a:gd name="T2" fmla="*/ 217 w 219"/>
              <a:gd name="T3" fmla="*/ 36 h 132"/>
              <a:gd name="T4" fmla="*/ 215 w 219"/>
              <a:gd name="T5" fmla="*/ 31 h 132"/>
              <a:gd name="T6" fmla="*/ 214 w 219"/>
              <a:gd name="T7" fmla="*/ 26 h 132"/>
              <a:gd name="T8" fmla="*/ 212 w 219"/>
              <a:gd name="T9" fmla="*/ 20 h 132"/>
              <a:gd name="T10" fmla="*/ 209 w 219"/>
              <a:gd name="T11" fmla="*/ 15 h 132"/>
              <a:gd name="T12" fmla="*/ 207 w 219"/>
              <a:gd name="T13" fmla="*/ 10 h 132"/>
              <a:gd name="T14" fmla="*/ 204 w 219"/>
              <a:gd name="T15" fmla="*/ 5 h 132"/>
              <a:gd name="T16" fmla="*/ 200 w 219"/>
              <a:gd name="T17" fmla="*/ 0 h 132"/>
              <a:gd name="T18" fmla="*/ 197 w 219"/>
              <a:gd name="T19" fmla="*/ 1 h 132"/>
              <a:gd name="T20" fmla="*/ 200 w 219"/>
              <a:gd name="T21" fmla="*/ 6 h 132"/>
              <a:gd name="T22" fmla="*/ 204 w 219"/>
              <a:gd name="T23" fmla="*/ 11 h 132"/>
              <a:gd name="T24" fmla="*/ 205 w 219"/>
              <a:gd name="T25" fmla="*/ 16 h 132"/>
              <a:gd name="T26" fmla="*/ 209 w 219"/>
              <a:gd name="T27" fmla="*/ 21 h 132"/>
              <a:gd name="T28" fmla="*/ 210 w 219"/>
              <a:gd name="T29" fmla="*/ 26 h 132"/>
              <a:gd name="T30" fmla="*/ 212 w 219"/>
              <a:gd name="T31" fmla="*/ 33 h 132"/>
              <a:gd name="T32" fmla="*/ 214 w 219"/>
              <a:gd name="T33" fmla="*/ 38 h 132"/>
              <a:gd name="T34" fmla="*/ 215 w 219"/>
              <a:gd name="T35" fmla="*/ 44 h 132"/>
              <a:gd name="T36" fmla="*/ 219 w 219"/>
              <a:gd name="T37" fmla="*/ 43 h 132"/>
              <a:gd name="T38" fmla="*/ 0 w 219"/>
              <a:gd name="T39" fmla="*/ 93 h 132"/>
              <a:gd name="T40" fmla="*/ 0 w 219"/>
              <a:gd name="T41" fmla="*/ 97 h 132"/>
              <a:gd name="T42" fmla="*/ 2 w 219"/>
              <a:gd name="T43" fmla="*/ 102 h 132"/>
              <a:gd name="T44" fmla="*/ 5 w 219"/>
              <a:gd name="T45" fmla="*/ 107 h 132"/>
              <a:gd name="T46" fmla="*/ 7 w 219"/>
              <a:gd name="T47" fmla="*/ 114 h 132"/>
              <a:gd name="T48" fmla="*/ 8 w 219"/>
              <a:gd name="T49" fmla="*/ 119 h 132"/>
              <a:gd name="T50" fmla="*/ 12 w 219"/>
              <a:gd name="T51" fmla="*/ 124 h 132"/>
              <a:gd name="T52" fmla="*/ 15 w 219"/>
              <a:gd name="T53" fmla="*/ 127 h 132"/>
              <a:gd name="T54" fmla="*/ 18 w 219"/>
              <a:gd name="T55" fmla="*/ 132 h 132"/>
              <a:gd name="T56" fmla="*/ 22 w 219"/>
              <a:gd name="T57" fmla="*/ 131 h 132"/>
              <a:gd name="T58" fmla="*/ 18 w 219"/>
              <a:gd name="T59" fmla="*/ 127 h 132"/>
              <a:gd name="T60" fmla="*/ 15 w 219"/>
              <a:gd name="T61" fmla="*/ 122 h 132"/>
              <a:gd name="T62" fmla="*/ 12 w 219"/>
              <a:gd name="T63" fmla="*/ 117 h 132"/>
              <a:gd name="T64" fmla="*/ 10 w 219"/>
              <a:gd name="T65" fmla="*/ 112 h 132"/>
              <a:gd name="T66" fmla="*/ 7 w 219"/>
              <a:gd name="T67" fmla="*/ 107 h 132"/>
              <a:gd name="T68" fmla="*/ 5 w 219"/>
              <a:gd name="T69" fmla="*/ 101 h 132"/>
              <a:gd name="T70" fmla="*/ 3 w 219"/>
              <a:gd name="T71" fmla="*/ 96 h 132"/>
              <a:gd name="T72" fmla="*/ 2 w 219"/>
              <a:gd name="T73" fmla="*/ 91 h 132"/>
              <a:gd name="T74" fmla="*/ 0 w 219"/>
              <a:gd name="T75" fmla="*/ 93 h 1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9" h="132">
                <a:moveTo>
                  <a:pt x="219" y="43"/>
                </a:moveTo>
                <a:lnTo>
                  <a:pt x="217" y="36"/>
                </a:lnTo>
                <a:lnTo>
                  <a:pt x="215" y="31"/>
                </a:lnTo>
                <a:lnTo>
                  <a:pt x="214" y="26"/>
                </a:lnTo>
                <a:lnTo>
                  <a:pt x="212" y="20"/>
                </a:lnTo>
                <a:lnTo>
                  <a:pt x="209" y="15"/>
                </a:lnTo>
                <a:lnTo>
                  <a:pt x="207" y="10"/>
                </a:lnTo>
                <a:lnTo>
                  <a:pt x="204" y="5"/>
                </a:lnTo>
                <a:lnTo>
                  <a:pt x="200" y="0"/>
                </a:lnTo>
                <a:lnTo>
                  <a:pt x="197" y="1"/>
                </a:lnTo>
                <a:lnTo>
                  <a:pt x="200" y="6"/>
                </a:lnTo>
                <a:lnTo>
                  <a:pt x="204" y="11"/>
                </a:lnTo>
                <a:lnTo>
                  <a:pt x="205" y="16"/>
                </a:lnTo>
                <a:lnTo>
                  <a:pt x="209" y="21"/>
                </a:lnTo>
                <a:lnTo>
                  <a:pt x="210" y="26"/>
                </a:lnTo>
                <a:lnTo>
                  <a:pt x="212" y="33"/>
                </a:lnTo>
                <a:lnTo>
                  <a:pt x="214" y="38"/>
                </a:lnTo>
                <a:lnTo>
                  <a:pt x="215" y="44"/>
                </a:lnTo>
                <a:lnTo>
                  <a:pt x="219" y="43"/>
                </a:lnTo>
                <a:close/>
                <a:moveTo>
                  <a:pt x="0" y="93"/>
                </a:moveTo>
                <a:lnTo>
                  <a:pt x="0" y="97"/>
                </a:lnTo>
                <a:lnTo>
                  <a:pt x="2" y="102"/>
                </a:lnTo>
                <a:lnTo>
                  <a:pt x="5" y="107"/>
                </a:lnTo>
                <a:lnTo>
                  <a:pt x="7" y="114"/>
                </a:lnTo>
                <a:lnTo>
                  <a:pt x="8" y="119"/>
                </a:lnTo>
                <a:lnTo>
                  <a:pt x="12" y="124"/>
                </a:lnTo>
                <a:lnTo>
                  <a:pt x="15" y="127"/>
                </a:lnTo>
                <a:lnTo>
                  <a:pt x="18" y="132"/>
                </a:lnTo>
                <a:lnTo>
                  <a:pt x="22" y="131"/>
                </a:lnTo>
                <a:lnTo>
                  <a:pt x="18" y="127"/>
                </a:lnTo>
                <a:lnTo>
                  <a:pt x="15" y="122"/>
                </a:lnTo>
                <a:lnTo>
                  <a:pt x="12" y="117"/>
                </a:lnTo>
                <a:lnTo>
                  <a:pt x="10" y="112"/>
                </a:lnTo>
                <a:lnTo>
                  <a:pt x="7" y="107"/>
                </a:lnTo>
                <a:lnTo>
                  <a:pt x="5" y="101"/>
                </a:lnTo>
                <a:lnTo>
                  <a:pt x="3" y="96"/>
                </a:lnTo>
                <a:lnTo>
                  <a:pt x="2" y="91"/>
                </a:lnTo>
                <a:lnTo>
                  <a:pt x="0" y="93"/>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40" name="Freeform 1945">
            <a:extLst>
              <a:ext uri="{FF2B5EF4-FFF2-40B4-BE49-F238E27FC236}">
                <a16:creationId xmlns:a16="http://schemas.microsoft.com/office/drawing/2014/main" id="{E621FE82-C3F3-D443-7100-224297D6EAFD}"/>
              </a:ext>
            </a:extLst>
          </p:cNvPr>
          <p:cNvSpPr>
            <a:spLocks noEditPoints="1"/>
          </p:cNvSpPr>
          <p:nvPr/>
        </p:nvSpPr>
        <p:spPr bwMode="auto">
          <a:xfrm>
            <a:off x="3346450" y="2497138"/>
            <a:ext cx="344488" cy="207963"/>
          </a:xfrm>
          <a:custGeom>
            <a:avLst/>
            <a:gdLst>
              <a:gd name="T0" fmla="*/ 217 w 217"/>
              <a:gd name="T1" fmla="*/ 42 h 131"/>
              <a:gd name="T2" fmla="*/ 215 w 217"/>
              <a:gd name="T3" fmla="*/ 37 h 131"/>
              <a:gd name="T4" fmla="*/ 214 w 217"/>
              <a:gd name="T5" fmla="*/ 30 h 131"/>
              <a:gd name="T6" fmla="*/ 212 w 217"/>
              <a:gd name="T7" fmla="*/ 25 h 131"/>
              <a:gd name="T8" fmla="*/ 210 w 217"/>
              <a:gd name="T9" fmla="*/ 20 h 131"/>
              <a:gd name="T10" fmla="*/ 207 w 217"/>
              <a:gd name="T11" fmla="*/ 15 h 131"/>
              <a:gd name="T12" fmla="*/ 205 w 217"/>
              <a:gd name="T13" fmla="*/ 10 h 131"/>
              <a:gd name="T14" fmla="*/ 202 w 217"/>
              <a:gd name="T15" fmla="*/ 5 h 131"/>
              <a:gd name="T16" fmla="*/ 199 w 217"/>
              <a:gd name="T17" fmla="*/ 0 h 131"/>
              <a:gd name="T18" fmla="*/ 195 w 217"/>
              <a:gd name="T19" fmla="*/ 2 h 131"/>
              <a:gd name="T20" fmla="*/ 199 w 217"/>
              <a:gd name="T21" fmla="*/ 7 h 131"/>
              <a:gd name="T22" fmla="*/ 202 w 217"/>
              <a:gd name="T23" fmla="*/ 10 h 131"/>
              <a:gd name="T24" fmla="*/ 205 w 217"/>
              <a:gd name="T25" fmla="*/ 17 h 131"/>
              <a:gd name="T26" fmla="*/ 207 w 217"/>
              <a:gd name="T27" fmla="*/ 22 h 131"/>
              <a:gd name="T28" fmla="*/ 209 w 217"/>
              <a:gd name="T29" fmla="*/ 27 h 131"/>
              <a:gd name="T30" fmla="*/ 212 w 217"/>
              <a:gd name="T31" fmla="*/ 32 h 131"/>
              <a:gd name="T32" fmla="*/ 214 w 217"/>
              <a:gd name="T33" fmla="*/ 39 h 131"/>
              <a:gd name="T34" fmla="*/ 214 w 217"/>
              <a:gd name="T35" fmla="*/ 43 h 131"/>
              <a:gd name="T36" fmla="*/ 217 w 217"/>
              <a:gd name="T37" fmla="*/ 42 h 131"/>
              <a:gd name="T38" fmla="*/ 0 w 217"/>
              <a:gd name="T39" fmla="*/ 90 h 131"/>
              <a:gd name="T40" fmla="*/ 2 w 217"/>
              <a:gd name="T41" fmla="*/ 96 h 131"/>
              <a:gd name="T42" fmla="*/ 3 w 217"/>
              <a:gd name="T43" fmla="*/ 101 h 131"/>
              <a:gd name="T44" fmla="*/ 7 w 217"/>
              <a:gd name="T45" fmla="*/ 106 h 131"/>
              <a:gd name="T46" fmla="*/ 8 w 217"/>
              <a:gd name="T47" fmla="*/ 111 h 131"/>
              <a:gd name="T48" fmla="*/ 10 w 217"/>
              <a:gd name="T49" fmla="*/ 116 h 131"/>
              <a:gd name="T50" fmla="*/ 13 w 217"/>
              <a:gd name="T51" fmla="*/ 121 h 131"/>
              <a:gd name="T52" fmla="*/ 17 w 217"/>
              <a:gd name="T53" fmla="*/ 126 h 131"/>
              <a:gd name="T54" fmla="*/ 20 w 217"/>
              <a:gd name="T55" fmla="*/ 131 h 131"/>
              <a:gd name="T56" fmla="*/ 23 w 217"/>
              <a:gd name="T57" fmla="*/ 130 h 131"/>
              <a:gd name="T58" fmla="*/ 20 w 217"/>
              <a:gd name="T59" fmla="*/ 125 h 131"/>
              <a:gd name="T60" fmla="*/ 17 w 217"/>
              <a:gd name="T61" fmla="*/ 120 h 131"/>
              <a:gd name="T62" fmla="*/ 13 w 217"/>
              <a:gd name="T63" fmla="*/ 115 h 131"/>
              <a:gd name="T64" fmla="*/ 12 w 217"/>
              <a:gd name="T65" fmla="*/ 110 h 131"/>
              <a:gd name="T66" fmla="*/ 8 w 217"/>
              <a:gd name="T67" fmla="*/ 105 h 131"/>
              <a:gd name="T68" fmla="*/ 7 w 217"/>
              <a:gd name="T69" fmla="*/ 100 h 131"/>
              <a:gd name="T70" fmla="*/ 5 w 217"/>
              <a:gd name="T71" fmla="*/ 95 h 131"/>
              <a:gd name="T72" fmla="*/ 3 w 217"/>
              <a:gd name="T73" fmla="*/ 88 h 131"/>
              <a:gd name="T74" fmla="*/ 0 w 217"/>
              <a:gd name="T75" fmla="*/ 90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7" h="131">
                <a:moveTo>
                  <a:pt x="217" y="42"/>
                </a:moveTo>
                <a:lnTo>
                  <a:pt x="215" y="37"/>
                </a:lnTo>
                <a:lnTo>
                  <a:pt x="214" y="30"/>
                </a:lnTo>
                <a:lnTo>
                  <a:pt x="212" y="25"/>
                </a:lnTo>
                <a:lnTo>
                  <a:pt x="210" y="20"/>
                </a:lnTo>
                <a:lnTo>
                  <a:pt x="207" y="15"/>
                </a:lnTo>
                <a:lnTo>
                  <a:pt x="205" y="10"/>
                </a:lnTo>
                <a:lnTo>
                  <a:pt x="202" y="5"/>
                </a:lnTo>
                <a:lnTo>
                  <a:pt x="199" y="0"/>
                </a:lnTo>
                <a:lnTo>
                  <a:pt x="195" y="2"/>
                </a:lnTo>
                <a:lnTo>
                  <a:pt x="199" y="7"/>
                </a:lnTo>
                <a:lnTo>
                  <a:pt x="202" y="10"/>
                </a:lnTo>
                <a:lnTo>
                  <a:pt x="205" y="17"/>
                </a:lnTo>
                <a:lnTo>
                  <a:pt x="207" y="22"/>
                </a:lnTo>
                <a:lnTo>
                  <a:pt x="209" y="27"/>
                </a:lnTo>
                <a:lnTo>
                  <a:pt x="212" y="32"/>
                </a:lnTo>
                <a:lnTo>
                  <a:pt x="214" y="39"/>
                </a:lnTo>
                <a:lnTo>
                  <a:pt x="214" y="43"/>
                </a:lnTo>
                <a:lnTo>
                  <a:pt x="217" y="42"/>
                </a:lnTo>
                <a:close/>
                <a:moveTo>
                  <a:pt x="0" y="90"/>
                </a:moveTo>
                <a:lnTo>
                  <a:pt x="2" y="96"/>
                </a:lnTo>
                <a:lnTo>
                  <a:pt x="3" y="101"/>
                </a:lnTo>
                <a:lnTo>
                  <a:pt x="7" y="106"/>
                </a:lnTo>
                <a:lnTo>
                  <a:pt x="8" y="111"/>
                </a:lnTo>
                <a:lnTo>
                  <a:pt x="10" y="116"/>
                </a:lnTo>
                <a:lnTo>
                  <a:pt x="13" y="121"/>
                </a:lnTo>
                <a:lnTo>
                  <a:pt x="17" y="126"/>
                </a:lnTo>
                <a:lnTo>
                  <a:pt x="20" y="131"/>
                </a:lnTo>
                <a:lnTo>
                  <a:pt x="23" y="130"/>
                </a:lnTo>
                <a:lnTo>
                  <a:pt x="20" y="125"/>
                </a:lnTo>
                <a:lnTo>
                  <a:pt x="17" y="120"/>
                </a:lnTo>
                <a:lnTo>
                  <a:pt x="13" y="115"/>
                </a:lnTo>
                <a:lnTo>
                  <a:pt x="12" y="110"/>
                </a:lnTo>
                <a:lnTo>
                  <a:pt x="8" y="105"/>
                </a:lnTo>
                <a:lnTo>
                  <a:pt x="7" y="100"/>
                </a:lnTo>
                <a:lnTo>
                  <a:pt x="5" y="95"/>
                </a:lnTo>
                <a:lnTo>
                  <a:pt x="3" y="88"/>
                </a:lnTo>
                <a:lnTo>
                  <a:pt x="0" y="9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41" name="Freeform 1946">
            <a:extLst>
              <a:ext uri="{FF2B5EF4-FFF2-40B4-BE49-F238E27FC236}">
                <a16:creationId xmlns:a16="http://schemas.microsoft.com/office/drawing/2014/main" id="{D6B06E74-29F7-8FA2-6E9E-5FF08EC7C95A}"/>
              </a:ext>
            </a:extLst>
          </p:cNvPr>
          <p:cNvSpPr>
            <a:spLocks noEditPoints="1"/>
          </p:cNvSpPr>
          <p:nvPr/>
        </p:nvSpPr>
        <p:spPr bwMode="auto">
          <a:xfrm>
            <a:off x="3349625" y="2497138"/>
            <a:ext cx="338138" cy="206375"/>
          </a:xfrm>
          <a:custGeom>
            <a:avLst/>
            <a:gdLst>
              <a:gd name="T0" fmla="*/ 213 w 213"/>
              <a:gd name="T1" fmla="*/ 43 h 130"/>
              <a:gd name="T2" fmla="*/ 212 w 213"/>
              <a:gd name="T3" fmla="*/ 37 h 130"/>
              <a:gd name="T4" fmla="*/ 210 w 213"/>
              <a:gd name="T5" fmla="*/ 32 h 130"/>
              <a:gd name="T6" fmla="*/ 208 w 213"/>
              <a:gd name="T7" fmla="*/ 25 h 130"/>
              <a:gd name="T8" fmla="*/ 207 w 213"/>
              <a:gd name="T9" fmla="*/ 20 h 130"/>
              <a:gd name="T10" fmla="*/ 203 w 213"/>
              <a:gd name="T11" fmla="*/ 15 h 130"/>
              <a:gd name="T12" fmla="*/ 202 w 213"/>
              <a:gd name="T13" fmla="*/ 10 h 130"/>
              <a:gd name="T14" fmla="*/ 198 w 213"/>
              <a:gd name="T15" fmla="*/ 5 h 130"/>
              <a:gd name="T16" fmla="*/ 195 w 213"/>
              <a:gd name="T17" fmla="*/ 0 h 130"/>
              <a:gd name="T18" fmla="*/ 192 w 213"/>
              <a:gd name="T19" fmla="*/ 2 h 130"/>
              <a:gd name="T20" fmla="*/ 195 w 213"/>
              <a:gd name="T21" fmla="*/ 7 h 130"/>
              <a:gd name="T22" fmla="*/ 198 w 213"/>
              <a:gd name="T23" fmla="*/ 12 h 130"/>
              <a:gd name="T24" fmla="*/ 202 w 213"/>
              <a:gd name="T25" fmla="*/ 17 h 130"/>
              <a:gd name="T26" fmla="*/ 203 w 213"/>
              <a:gd name="T27" fmla="*/ 22 h 130"/>
              <a:gd name="T28" fmla="*/ 205 w 213"/>
              <a:gd name="T29" fmla="*/ 27 h 130"/>
              <a:gd name="T30" fmla="*/ 208 w 213"/>
              <a:gd name="T31" fmla="*/ 34 h 130"/>
              <a:gd name="T32" fmla="*/ 210 w 213"/>
              <a:gd name="T33" fmla="*/ 39 h 130"/>
              <a:gd name="T34" fmla="*/ 210 w 213"/>
              <a:gd name="T35" fmla="*/ 43 h 130"/>
              <a:gd name="T36" fmla="*/ 213 w 213"/>
              <a:gd name="T37" fmla="*/ 43 h 130"/>
              <a:gd name="T38" fmla="*/ 0 w 213"/>
              <a:gd name="T39" fmla="*/ 90 h 130"/>
              <a:gd name="T40" fmla="*/ 1 w 213"/>
              <a:gd name="T41" fmla="*/ 95 h 130"/>
              <a:gd name="T42" fmla="*/ 3 w 213"/>
              <a:gd name="T43" fmla="*/ 100 h 130"/>
              <a:gd name="T44" fmla="*/ 5 w 213"/>
              <a:gd name="T45" fmla="*/ 106 h 130"/>
              <a:gd name="T46" fmla="*/ 8 w 213"/>
              <a:gd name="T47" fmla="*/ 111 h 130"/>
              <a:gd name="T48" fmla="*/ 10 w 213"/>
              <a:gd name="T49" fmla="*/ 116 h 130"/>
              <a:gd name="T50" fmla="*/ 13 w 213"/>
              <a:gd name="T51" fmla="*/ 121 h 130"/>
              <a:gd name="T52" fmla="*/ 16 w 213"/>
              <a:gd name="T53" fmla="*/ 126 h 130"/>
              <a:gd name="T54" fmla="*/ 20 w 213"/>
              <a:gd name="T55" fmla="*/ 130 h 130"/>
              <a:gd name="T56" fmla="*/ 23 w 213"/>
              <a:gd name="T57" fmla="*/ 130 h 130"/>
              <a:gd name="T58" fmla="*/ 20 w 213"/>
              <a:gd name="T59" fmla="*/ 125 h 130"/>
              <a:gd name="T60" fmla="*/ 16 w 213"/>
              <a:gd name="T61" fmla="*/ 120 h 130"/>
              <a:gd name="T62" fmla="*/ 13 w 213"/>
              <a:gd name="T63" fmla="*/ 115 h 130"/>
              <a:gd name="T64" fmla="*/ 11 w 213"/>
              <a:gd name="T65" fmla="*/ 110 h 130"/>
              <a:gd name="T66" fmla="*/ 8 w 213"/>
              <a:gd name="T67" fmla="*/ 105 h 130"/>
              <a:gd name="T68" fmla="*/ 6 w 213"/>
              <a:gd name="T69" fmla="*/ 100 h 130"/>
              <a:gd name="T70" fmla="*/ 5 w 213"/>
              <a:gd name="T71" fmla="*/ 93 h 130"/>
              <a:gd name="T72" fmla="*/ 3 w 213"/>
              <a:gd name="T73" fmla="*/ 88 h 130"/>
              <a:gd name="T74" fmla="*/ 0 w 213"/>
              <a:gd name="T75" fmla="*/ 90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3" h="130">
                <a:moveTo>
                  <a:pt x="213" y="43"/>
                </a:moveTo>
                <a:lnTo>
                  <a:pt x="212" y="37"/>
                </a:lnTo>
                <a:lnTo>
                  <a:pt x="210" y="32"/>
                </a:lnTo>
                <a:lnTo>
                  <a:pt x="208" y="25"/>
                </a:lnTo>
                <a:lnTo>
                  <a:pt x="207" y="20"/>
                </a:lnTo>
                <a:lnTo>
                  <a:pt x="203" y="15"/>
                </a:lnTo>
                <a:lnTo>
                  <a:pt x="202" y="10"/>
                </a:lnTo>
                <a:lnTo>
                  <a:pt x="198" y="5"/>
                </a:lnTo>
                <a:lnTo>
                  <a:pt x="195" y="0"/>
                </a:lnTo>
                <a:lnTo>
                  <a:pt x="192" y="2"/>
                </a:lnTo>
                <a:lnTo>
                  <a:pt x="195" y="7"/>
                </a:lnTo>
                <a:lnTo>
                  <a:pt x="198" y="12"/>
                </a:lnTo>
                <a:lnTo>
                  <a:pt x="202" y="17"/>
                </a:lnTo>
                <a:lnTo>
                  <a:pt x="203" y="22"/>
                </a:lnTo>
                <a:lnTo>
                  <a:pt x="205" y="27"/>
                </a:lnTo>
                <a:lnTo>
                  <a:pt x="208" y="34"/>
                </a:lnTo>
                <a:lnTo>
                  <a:pt x="210" y="39"/>
                </a:lnTo>
                <a:lnTo>
                  <a:pt x="210" y="43"/>
                </a:lnTo>
                <a:lnTo>
                  <a:pt x="213" y="43"/>
                </a:lnTo>
                <a:close/>
                <a:moveTo>
                  <a:pt x="0" y="90"/>
                </a:moveTo>
                <a:lnTo>
                  <a:pt x="1" y="95"/>
                </a:lnTo>
                <a:lnTo>
                  <a:pt x="3" y="100"/>
                </a:lnTo>
                <a:lnTo>
                  <a:pt x="5" y="106"/>
                </a:lnTo>
                <a:lnTo>
                  <a:pt x="8" y="111"/>
                </a:lnTo>
                <a:lnTo>
                  <a:pt x="10" y="116"/>
                </a:lnTo>
                <a:lnTo>
                  <a:pt x="13" y="121"/>
                </a:lnTo>
                <a:lnTo>
                  <a:pt x="16" y="126"/>
                </a:lnTo>
                <a:lnTo>
                  <a:pt x="20" y="130"/>
                </a:lnTo>
                <a:lnTo>
                  <a:pt x="23" y="130"/>
                </a:lnTo>
                <a:lnTo>
                  <a:pt x="20" y="125"/>
                </a:lnTo>
                <a:lnTo>
                  <a:pt x="16" y="120"/>
                </a:lnTo>
                <a:lnTo>
                  <a:pt x="13" y="115"/>
                </a:lnTo>
                <a:lnTo>
                  <a:pt x="11" y="110"/>
                </a:lnTo>
                <a:lnTo>
                  <a:pt x="8" y="105"/>
                </a:lnTo>
                <a:lnTo>
                  <a:pt x="6" y="100"/>
                </a:lnTo>
                <a:lnTo>
                  <a:pt x="5" y="93"/>
                </a:lnTo>
                <a:lnTo>
                  <a:pt x="3" y="88"/>
                </a:lnTo>
                <a:lnTo>
                  <a:pt x="0" y="9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42" name="Freeform 1947">
            <a:extLst>
              <a:ext uri="{FF2B5EF4-FFF2-40B4-BE49-F238E27FC236}">
                <a16:creationId xmlns:a16="http://schemas.microsoft.com/office/drawing/2014/main" id="{978EDDE4-8BFA-7A76-7890-BF9ED991D9E8}"/>
              </a:ext>
            </a:extLst>
          </p:cNvPr>
          <p:cNvSpPr>
            <a:spLocks noEditPoints="1"/>
          </p:cNvSpPr>
          <p:nvPr/>
        </p:nvSpPr>
        <p:spPr bwMode="auto">
          <a:xfrm>
            <a:off x="3351213" y="2500313"/>
            <a:ext cx="334963" cy="203200"/>
          </a:xfrm>
          <a:custGeom>
            <a:avLst/>
            <a:gdLst>
              <a:gd name="T0" fmla="*/ 211 w 211"/>
              <a:gd name="T1" fmla="*/ 41 h 128"/>
              <a:gd name="T2" fmla="*/ 211 w 211"/>
              <a:gd name="T3" fmla="*/ 37 h 128"/>
              <a:gd name="T4" fmla="*/ 209 w 211"/>
              <a:gd name="T5" fmla="*/ 30 h 128"/>
              <a:gd name="T6" fmla="*/ 206 w 211"/>
              <a:gd name="T7" fmla="*/ 25 h 128"/>
              <a:gd name="T8" fmla="*/ 204 w 211"/>
              <a:gd name="T9" fmla="*/ 20 h 128"/>
              <a:gd name="T10" fmla="*/ 202 w 211"/>
              <a:gd name="T11" fmla="*/ 15 h 128"/>
              <a:gd name="T12" fmla="*/ 199 w 211"/>
              <a:gd name="T13" fmla="*/ 8 h 128"/>
              <a:gd name="T14" fmla="*/ 196 w 211"/>
              <a:gd name="T15" fmla="*/ 5 h 128"/>
              <a:gd name="T16" fmla="*/ 192 w 211"/>
              <a:gd name="T17" fmla="*/ 0 h 128"/>
              <a:gd name="T18" fmla="*/ 189 w 211"/>
              <a:gd name="T19" fmla="*/ 2 h 128"/>
              <a:gd name="T20" fmla="*/ 192 w 211"/>
              <a:gd name="T21" fmla="*/ 5 h 128"/>
              <a:gd name="T22" fmla="*/ 196 w 211"/>
              <a:gd name="T23" fmla="*/ 10 h 128"/>
              <a:gd name="T24" fmla="*/ 199 w 211"/>
              <a:gd name="T25" fmla="*/ 15 h 128"/>
              <a:gd name="T26" fmla="*/ 201 w 211"/>
              <a:gd name="T27" fmla="*/ 20 h 128"/>
              <a:gd name="T28" fmla="*/ 204 w 211"/>
              <a:gd name="T29" fmla="*/ 27 h 128"/>
              <a:gd name="T30" fmla="*/ 206 w 211"/>
              <a:gd name="T31" fmla="*/ 32 h 128"/>
              <a:gd name="T32" fmla="*/ 207 w 211"/>
              <a:gd name="T33" fmla="*/ 37 h 128"/>
              <a:gd name="T34" fmla="*/ 207 w 211"/>
              <a:gd name="T35" fmla="*/ 43 h 128"/>
              <a:gd name="T36" fmla="*/ 211 w 211"/>
              <a:gd name="T37" fmla="*/ 41 h 128"/>
              <a:gd name="T38" fmla="*/ 0 w 211"/>
              <a:gd name="T39" fmla="*/ 86 h 128"/>
              <a:gd name="T40" fmla="*/ 2 w 211"/>
              <a:gd name="T41" fmla="*/ 93 h 128"/>
              <a:gd name="T42" fmla="*/ 4 w 211"/>
              <a:gd name="T43" fmla="*/ 98 h 128"/>
              <a:gd name="T44" fmla="*/ 5 w 211"/>
              <a:gd name="T45" fmla="*/ 103 h 128"/>
              <a:gd name="T46" fmla="*/ 9 w 211"/>
              <a:gd name="T47" fmla="*/ 108 h 128"/>
              <a:gd name="T48" fmla="*/ 10 w 211"/>
              <a:gd name="T49" fmla="*/ 113 h 128"/>
              <a:gd name="T50" fmla="*/ 14 w 211"/>
              <a:gd name="T51" fmla="*/ 118 h 128"/>
              <a:gd name="T52" fmla="*/ 17 w 211"/>
              <a:gd name="T53" fmla="*/ 123 h 128"/>
              <a:gd name="T54" fmla="*/ 20 w 211"/>
              <a:gd name="T55" fmla="*/ 128 h 128"/>
              <a:gd name="T56" fmla="*/ 24 w 211"/>
              <a:gd name="T57" fmla="*/ 126 h 128"/>
              <a:gd name="T58" fmla="*/ 20 w 211"/>
              <a:gd name="T59" fmla="*/ 121 h 128"/>
              <a:gd name="T60" fmla="*/ 17 w 211"/>
              <a:gd name="T61" fmla="*/ 118 h 128"/>
              <a:gd name="T62" fmla="*/ 14 w 211"/>
              <a:gd name="T63" fmla="*/ 113 h 128"/>
              <a:gd name="T64" fmla="*/ 12 w 211"/>
              <a:gd name="T65" fmla="*/ 108 h 128"/>
              <a:gd name="T66" fmla="*/ 9 w 211"/>
              <a:gd name="T67" fmla="*/ 101 h 128"/>
              <a:gd name="T68" fmla="*/ 7 w 211"/>
              <a:gd name="T69" fmla="*/ 96 h 128"/>
              <a:gd name="T70" fmla="*/ 5 w 211"/>
              <a:gd name="T71" fmla="*/ 91 h 128"/>
              <a:gd name="T72" fmla="*/ 4 w 211"/>
              <a:gd name="T73" fmla="*/ 85 h 128"/>
              <a:gd name="T74" fmla="*/ 0 w 211"/>
              <a:gd name="T75" fmla="*/ 86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1" h="128">
                <a:moveTo>
                  <a:pt x="211" y="41"/>
                </a:moveTo>
                <a:lnTo>
                  <a:pt x="211" y="37"/>
                </a:lnTo>
                <a:lnTo>
                  <a:pt x="209" y="30"/>
                </a:lnTo>
                <a:lnTo>
                  <a:pt x="206" y="25"/>
                </a:lnTo>
                <a:lnTo>
                  <a:pt x="204" y="20"/>
                </a:lnTo>
                <a:lnTo>
                  <a:pt x="202" y="15"/>
                </a:lnTo>
                <a:lnTo>
                  <a:pt x="199" y="8"/>
                </a:lnTo>
                <a:lnTo>
                  <a:pt x="196" y="5"/>
                </a:lnTo>
                <a:lnTo>
                  <a:pt x="192" y="0"/>
                </a:lnTo>
                <a:lnTo>
                  <a:pt x="189" y="2"/>
                </a:lnTo>
                <a:lnTo>
                  <a:pt x="192" y="5"/>
                </a:lnTo>
                <a:lnTo>
                  <a:pt x="196" y="10"/>
                </a:lnTo>
                <a:lnTo>
                  <a:pt x="199" y="15"/>
                </a:lnTo>
                <a:lnTo>
                  <a:pt x="201" y="20"/>
                </a:lnTo>
                <a:lnTo>
                  <a:pt x="204" y="27"/>
                </a:lnTo>
                <a:lnTo>
                  <a:pt x="206" y="32"/>
                </a:lnTo>
                <a:lnTo>
                  <a:pt x="207" y="37"/>
                </a:lnTo>
                <a:lnTo>
                  <a:pt x="207" y="43"/>
                </a:lnTo>
                <a:lnTo>
                  <a:pt x="211" y="41"/>
                </a:lnTo>
                <a:close/>
                <a:moveTo>
                  <a:pt x="0" y="86"/>
                </a:moveTo>
                <a:lnTo>
                  <a:pt x="2" y="93"/>
                </a:lnTo>
                <a:lnTo>
                  <a:pt x="4" y="98"/>
                </a:lnTo>
                <a:lnTo>
                  <a:pt x="5" y="103"/>
                </a:lnTo>
                <a:lnTo>
                  <a:pt x="9" y="108"/>
                </a:lnTo>
                <a:lnTo>
                  <a:pt x="10" y="113"/>
                </a:lnTo>
                <a:lnTo>
                  <a:pt x="14" y="118"/>
                </a:lnTo>
                <a:lnTo>
                  <a:pt x="17" y="123"/>
                </a:lnTo>
                <a:lnTo>
                  <a:pt x="20" y="128"/>
                </a:lnTo>
                <a:lnTo>
                  <a:pt x="24" y="126"/>
                </a:lnTo>
                <a:lnTo>
                  <a:pt x="20" y="121"/>
                </a:lnTo>
                <a:lnTo>
                  <a:pt x="17" y="118"/>
                </a:lnTo>
                <a:lnTo>
                  <a:pt x="14" y="113"/>
                </a:lnTo>
                <a:lnTo>
                  <a:pt x="12" y="108"/>
                </a:lnTo>
                <a:lnTo>
                  <a:pt x="9" y="101"/>
                </a:lnTo>
                <a:lnTo>
                  <a:pt x="7" y="96"/>
                </a:lnTo>
                <a:lnTo>
                  <a:pt x="5" y="91"/>
                </a:lnTo>
                <a:lnTo>
                  <a:pt x="4" y="85"/>
                </a:lnTo>
                <a:lnTo>
                  <a:pt x="0" y="86"/>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43" name="Freeform 1948">
            <a:extLst>
              <a:ext uri="{FF2B5EF4-FFF2-40B4-BE49-F238E27FC236}">
                <a16:creationId xmlns:a16="http://schemas.microsoft.com/office/drawing/2014/main" id="{5EFFCE63-D2DC-ABD3-6563-A81C33CC5C87}"/>
              </a:ext>
            </a:extLst>
          </p:cNvPr>
          <p:cNvSpPr>
            <a:spLocks noEditPoints="1"/>
          </p:cNvSpPr>
          <p:nvPr/>
        </p:nvSpPr>
        <p:spPr bwMode="auto">
          <a:xfrm>
            <a:off x="3354388" y="2500313"/>
            <a:ext cx="328613" cy="203200"/>
          </a:xfrm>
          <a:custGeom>
            <a:avLst/>
            <a:gdLst>
              <a:gd name="T0" fmla="*/ 207 w 207"/>
              <a:gd name="T1" fmla="*/ 41 h 128"/>
              <a:gd name="T2" fmla="*/ 207 w 207"/>
              <a:gd name="T3" fmla="*/ 37 h 128"/>
              <a:gd name="T4" fmla="*/ 205 w 207"/>
              <a:gd name="T5" fmla="*/ 32 h 128"/>
              <a:gd name="T6" fmla="*/ 202 w 207"/>
              <a:gd name="T7" fmla="*/ 25 h 128"/>
              <a:gd name="T8" fmla="*/ 200 w 207"/>
              <a:gd name="T9" fmla="*/ 20 h 128"/>
              <a:gd name="T10" fmla="*/ 199 w 207"/>
              <a:gd name="T11" fmla="*/ 15 h 128"/>
              <a:gd name="T12" fmla="*/ 195 w 207"/>
              <a:gd name="T13" fmla="*/ 10 h 128"/>
              <a:gd name="T14" fmla="*/ 192 w 207"/>
              <a:gd name="T15" fmla="*/ 5 h 128"/>
              <a:gd name="T16" fmla="*/ 189 w 207"/>
              <a:gd name="T17" fmla="*/ 0 h 128"/>
              <a:gd name="T18" fmla="*/ 185 w 207"/>
              <a:gd name="T19" fmla="*/ 2 h 128"/>
              <a:gd name="T20" fmla="*/ 189 w 207"/>
              <a:gd name="T21" fmla="*/ 7 h 128"/>
              <a:gd name="T22" fmla="*/ 192 w 207"/>
              <a:gd name="T23" fmla="*/ 12 h 128"/>
              <a:gd name="T24" fmla="*/ 195 w 207"/>
              <a:gd name="T25" fmla="*/ 17 h 128"/>
              <a:gd name="T26" fmla="*/ 197 w 207"/>
              <a:gd name="T27" fmla="*/ 22 h 128"/>
              <a:gd name="T28" fmla="*/ 200 w 207"/>
              <a:gd name="T29" fmla="*/ 27 h 128"/>
              <a:gd name="T30" fmla="*/ 202 w 207"/>
              <a:gd name="T31" fmla="*/ 32 h 128"/>
              <a:gd name="T32" fmla="*/ 204 w 207"/>
              <a:gd name="T33" fmla="*/ 38 h 128"/>
              <a:gd name="T34" fmla="*/ 205 w 207"/>
              <a:gd name="T35" fmla="*/ 43 h 128"/>
              <a:gd name="T36" fmla="*/ 207 w 207"/>
              <a:gd name="T37" fmla="*/ 41 h 128"/>
              <a:gd name="T38" fmla="*/ 0 w 207"/>
              <a:gd name="T39" fmla="*/ 86 h 128"/>
              <a:gd name="T40" fmla="*/ 2 w 207"/>
              <a:gd name="T41" fmla="*/ 91 h 128"/>
              <a:gd name="T42" fmla="*/ 3 w 207"/>
              <a:gd name="T43" fmla="*/ 98 h 128"/>
              <a:gd name="T44" fmla="*/ 5 w 207"/>
              <a:gd name="T45" fmla="*/ 103 h 128"/>
              <a:gd name="T46" fmla="*/ 8 w 207"/>
              <a:gd name="T47" fmla="*/ 108 h 128"/>
              <a:gd name="T48" fmla="*/ 10 w 207"/>
              <a:gd name="T49" fmla="*/ 113 h 128"/>
              <a:gd name="T50" fmla="*/ 13 w 207"/>
              <a:gd name="T51" fmla="*/ 118 h 128"/>
              <a:gd name="T52" fmla="*/ 17 w 207"/>
              <a:gd name="T53" fmla="*/ 123 h 128"/>
              <a:gd name="T54" fmla="*/ 20 w 207"/>
              <a:gd name="T55" fmla="*/ 128 h 128"/>
              <a:gd name="T56" fmla="*/ 22 w 207"/>
              <a:gd name="T57" fmla="*/ 126 h 128"/>
              <a:gd name="T58" fmla="*/ 18 w 207"/>
              <a:gd name="T59" fmla="*/ 121 h 128"/>
              <a:gd name="T60" fmla="*/ 17 w 207"/>
              <a:gd name="T61" fmla="*/ 116 h 128"/>
              <a:gd name="T62" fmla="*/ 13 w 207"/>
              <a:gd name="T63" fmla="*/ 111 h 128"/>
              <a:gd name="T64" fmla="*/ 10 w 207"/>
              <a:gd name="T65" fmla="*/ 106 h 128"/>
              <a:gd name="T66" fmla="*/ 8 w 207"/>
              <a:gd name="T67" fmla="*/ 101 h 128"/>
              <a:gd name="T68" fmla="*/ 7 w 207"/>
              <a:gd name="T69" fmla="*/ 96 h 128"/>
              <a:gd name="T70" fmla="*/ 5 w 207"/>
              <a:gd name="T71" fmla="*/ 90 h 128"/>
              <a:gd name="T72" fmla="*/ 3 w 207"/>
              <a:gd name="T73" fmla="*/ 85 h 128"/>
              <a:gd name="T74" fmla="*/ 0 w 207"/>
              <a:gd name="T75" fmla="*/ 86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07" h="128">
                <a:moveTo>
                  <a:pt x="207" y="41"/>
                </a:moveTo>
                <a:lnTo>
                  <a:pt x="207" y="37"/>
                </a:lnTo>
                <a:lnTo>
                  <a:pt x="205" y="32"/>
                </a:lnTo>
                <a:lnTo>
                  <a:pt x="202" y="25"/>
                </a:lnTo>
                <a:lnTo>
                  <a:pt x="200" y="20"/>
                </a:lnTo>
                <a:lnTo>
                  <a:pt x="199" y="15"/>
                </a:lnTo>
                <a:lnTo>
                  <a:pt x="195" y="10"/>
                </a:lnTo>
                <a:lnTo>
                  <a:pt x="192" y="5"/>
                </a:lnTo>
                <a:lnTo>
                  <a:pt x="189" y="0"/>
                </a:lnTo>
                <a:lnTo>
                  <a:pt x="185" y="2"/>
                </a:lnTo>
                <a:lnTo>
                  <a:pt x="189" y="7"/>
                </a:lnTo>
                <a:lnTo>
                  <a:pt x="192" y="12"/>
                </a:lnTo>
                <a:lnTo>
                  <a:pt x="195" y="17"/>
                </a:lnTo>
                <a:lnTo>
                  <a:pt x="197" y="22"/>
                </a:lnTo>
                <a:lnTo>
                  <a:pt x="200" y="27"/>
                </a:lnTo>
                <a:lnTo>
                  <a:pt x="202" y="32"/>
                </a:lnTo>
                <a:lnTo>
                  <a:pt x="204" y="38"/>
                </a:lnTo>
                <a:lnTo>
                  <a:pt x="205" y="43"/>
                </a:lnTo>
                <a:lnTo>
                  <a:pt x="207" y="41"/>
                </a:lnTo>
                <a:close/>
                <a:moveTo>
                  <a:pt x="0" y="86"/>
                </a:moveTo>
                <a:lnTo>
                  <a:pt x="2" y="91"/>
                </a:lnTo>
                <a:lnTo>
                  <a:pt x="3" y="98"/>
                </a:lnTo>
                <a:lnTo>
                  <a:pt x="5" y="103"/>
                </a:lnTo>
                <a:lnTo>
                  <a:pt x="8" y="108"/>
                </a:lnTo>
                <a:lnTo>
                  <a:pt x="10" y="113"/>
                </a:lnTo>
                <a:lnTo>
                  <a:pt x="13" y="118"/>
                </a:lnTo>
                <a:lnTo>
                  <a:pt x="17" y="123"/>
                </a:lnTo>
                <a:lnTo>
                  <a:pt x="20" y="128"/>
                </a:lnTo>
                <a:lnTo>
                  <a:pt x="22" y="126"/>
                </a:lnTo>
                <a:lnTo>
                  <a:pt x="18" y="121"/>
                </a:lnTo>
                <a:lnTo>
                  <a:pt x="17" y="116"/>
                </a:lnTo>
                <a:lnTo>
                  <a:pt x="13" y="111"/>
                </a:lnTo>
                <a:lnTo>
                  <a:pt x="10" y="106"/>
                </a:lnTo>
                <a:lnTo>
                  <a:pt x="8" y="101"/>
                </a:lnTo>
                <a:lnTo>
                  <a:pt x="7" y="96"/>
                </a:lnTo>
                <a:lnTo>
                  <a:pt x="5" y="90"/>
                </a:lnTo>
                <a:lnTo>
                  <a:pt x="3" y="85"/>
                </a:lnTo>
                <a:lnTo>
                  <a:pt x="0" y="86"/>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44" name="Freeform 1949">
            <a:extLst>
              <a:ext uri="{FF2B5EF4-FFF2-40B4-BE49-F238E27FC236}">
                <a16:creationId xmlns:a16="http://schemas.microsoft.com/office/drawing/2014/main" id="{1EA3D04D-297C-8FA8-2115-ACE724F9750C}"/>
              </a:ext>
            </a:extLst>
          </p:cNvPr>
          <p:cNvSpPr>
            <a:spLocks noEditPoints="1"/>
          </p:cNvSpPr>
          <p:nvPr/>
        </p:nvSpPr>
        <p:spPr bwMode="auto">
          <a:xfrm>
            <a:off x="3357563" y="2503488"/>
            <a:ext cx="322263" cy="196850"/>
          </a:xfrm>
          <a:custGeom>
            <a:avLst/>
            <a:gdLst>
              <a:gd name="T0" fmla="*/ 203 w 203"/>
              <a:gd name="T1" fmla="*/ 41 h 124"/>
              <a:gd name="T2" fmla="*/ 203 w 203"/>
              <a:gd name="T3" fmla="*/ 35 h 124"/>
              <a:gd name="T4" fmla="*/ 202 w 203"/>
              <a:gd name="T5" fmla="*/ 30 h 124"/>
              <a:gd name="T6" fmla="*/ 200 w 203"/>
              <a:gd name="T7" fmla="*/ 25 h 124"/>
              <a:gd name="T8" fmla="*/ 197 w 203"/>
              <a:gd name="T9" fmla="*/ 18 h 124"/>
              <a:gd name="T10" fmla="*/ 195 w 203"/>
              <a:gd name="T11" fmla="*/ 13 h 124"/>
              <a:gd name="T12" fmla="*/ 192 w 203"/>
              <a:gd name="T13" fmla="*/ 8 h 124"/>
              <a:gd name="T14" fmla="*/ 188 w 203"/>
              <a:gd name="T15" fmla="*/ 3 h 124"/>
              <a:gd name="T16" fmla="*/ 185 w 203"/>
              <a:gd name="T17" fmla="*/ 0 h 124"/>
              <a:gd name="T18" fmla="*/ 182 w 203"/>
              <a:gd name="T19" fmla="*/ 0 h 124"/>
              <a:gd name="T20" fmla="*/ 185 w 203"/>
              <a:gd name="T21" fmla="*/ 5 h 124"/>
              <a:gd name="T22" fmla="*/ 188 w 203"/>
              <a:gd name="T23" fmla="*/ 10 h 124"/>
              <a:gd name="T24" fmla="*/ 192 w 203"/>
              <a:gd name="T25" fmla="*/ 15 h 124"/>
              <a:gd name="T26" fmla="*/ 193 w 203"/>
              <a:gd name="T27" fmla="*/ 20 h 124"/>
              <a:gd name="T28" fmla="*/ 197 w 203"/>
              <a:gd name="T29" fmla="*/ 26 h 124"/>
              <a:gd name="T30" fmla="*/ 198 w 203"/>
              <a:gd name="T31" fmla="*/ 31 h 124"/>
              <a:gd name="T32" fmla="*/ 200 w 203"/>
              <a:gd name="T33" fmla="*/ 36 h 124"/>
              <a:gd name="T34" fmla="*/ 202 w 203"/>
              <a:gd name="T35" fmla="*/ 43 h 124"/>
              <a:gd name="T36" fmla="*/ 203 w 203"/>
              <a:gd name="T37" fmla="*/ 41 h 124"/>
              <a:gd name="T38" fmla="*/ 0 w 203"/>
              <a:gd name="T39" fmla="*/ 83 h 124"/>
              <a:gd name="T40" fmla="*/ 1 w 203"/>
              <a:gd name="T41" fmla="*/ 89 h 124"/>
              <a:gd name="T42" fmla="*/ 3 w 203"/>
              <a:gd name="T43" fmla="*/ 94 h 124"/>
              <a:gd name="T44" fmla="*/ 5 w 203"/>
              <a:gd name="T45" fmla="*/ 99 h 124"/>
              <a:gd name="T46" fmla="*/ 8 w 203"/>
              <a:gd name="T47" fmla="*/ 106 h 124"/>
              <a:gd name="T48" fmla="*/ 10 w 203"/>
              <a:gd name="T49" fmla="*/ 111 h 124"/>
              <a:gd name="T50" fmla="*/ 13 w 203"/>
              <a:gd name="T51" fmla="*/ 116 h 124"/>
              <a:gd name="T52" fmla="*/ 16 w 203"/>
              <a:gd name="T53" fmla="*/ 119 h 124"/>
              <a:gd name="T54" fmla="*/ 20 w 203"/>
              <a:gd name="T55" fmla="*/ 124 h 124"/>
              <a:gd name="T56" fmla="*/ 21 w 203"/>
              <a:gd name="T57" fmla="*/ 122 h 124"/>
              <a:gd name="T58" fmla="*/ 18 w 203"/>
              <a:gd name="T59" fmla="*/ 119 h 124"/>
              <a:gd name="T60" fmla="*/ 16 w 203"/>
              <a:gd name="T61" fmla="*/ 114 h 124"/>
              <a:gd name="T62" fmla="*/ 13 w 203"/>
              <a:gd name="T63" fmla="*/ 109 h 124"/>
              <a:gd name="T64" fmla="*/ 10 w 203"/>
              <a:gd name="T65" fmla="*/ 104 h 124"/>
              <a:gd name="T66" fmla="*/ 8 w 203"/>
              <a:gd name="T67" fmla="*/ 99 h 124"/>
              <a:gd name="T68" fmla="*/ 6 w 203"/>
              <a:gd name="T69" fmla="*/ 92 h 124"/>
              <a:gd name="T70" fmla="*/ 5 w 203"/>
              <a:gd name="T71" fmla="*/ 88 h 124"/>
              <a:gd name="T72" fmla="*/ 3 w 203"/>
              <a:gd name="T73" fmla="*/ 83 h 124"/>
              <a:gd name="T74" fmla="*/ 0 w 203"/>
              <a:gd name="T75" fmla="*/ 83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03" h="124">
                <a:moveTo>
                  <a:pt x="203" y="41"/>
                </a:moveTo>
                <a:lnTo>
                  <a:pt x="203" y="35"/>
                </a:lnTo>
                <a:lnTo>
                  <a:pt x="202" y="30"/>
                </a:lnTo>
                <a:lnTo>
                  <a:pt x="200" y="25"/>
                </a:lnTo>
                <a:lnTo>
                  <a:pt x="197" y="18"/>
                </a:lnTo>
                <a:lnTo>
                  <a:pt x="195" y="13"/>
                </a:lnTo>
                <a:lnTo>
                  <a:pt x="192" y="8"/>
                </a:lnTo>
                <a:lnTo>
                  <a:pt x="188" y="3"/>
                </a:lnTo>
                <a:lnTo>
                  <a:pt x="185" y="0"/>
                </a:lnTo>
                <a:lnTo>
                  <a:pt x="182" y="0"/>
                </a:lnTo>
                <a:lnTo>
                  <a:pt x="185" y="5"/>
                </a:lnTo>
                <a:lnTo>
                  <a:pt x="188" y="10"/>
                </a:lnTo>
                <a:lnTo>
                  <a:pt x="192" y="15"/>
                </a:lnTo>
                <a:lnTo>
                  <a:pt x="193" y="20"/>
                </a:lnTo>
                <a:lnTo>
                  <a:pt x="197" y="26"/>
                </a:lnTo>
                <a:lnTo>
                  <a:pt x="198" y="31"/>
                </a:lnTo>
                <a:lnTo>
                  <a:pt x="200" y="36"/>
                </a:lnTo>
                <a:lnTo>
                  <a:pt x="202" y="43"/>
                </a:lnTo>
                <a:lnTo>
                  <a:pt x="203" y="41"/>
                </a:lnTo>
                <a:close/>
                <a:moveTo>
                  <a:pt x="0" y="83"/>
                </a:moveTo>
                <a:lnTo>
                  <a:pt x="1" y="89"/>
                </a:lnTo>
                <a:lnTo>
                  <a:pt x="3" y="94"/>
                </a:lnTo>
                <a:lnTo>
                  <a:pt x="5" y="99"/>
                </a:lnTo>
                <a:lnTo>
                  <a:pt x="8" y="106"/>
                </a:lnTo>
                <a:lnTo>
                  <a:pt x="10" y="111"/>
                </a:lnTo>
                <a:lnTo>
                  <a:pt x="13" y="116"/>
                </a:lnTo>
                <a:lnTo>
                  <a:pt x="16" y="119"/>
                </a:lnTo>
                <a:lnTo>
                  <a:pt x="20" y="124"/>
                </a:lnTo>
                <a:lnTo>
                  <a:pt x="21" y="122"/>
                </a:lnTo>
                <a:lnTo>
                  <a:pt x="18" y="119"/>
                </a:lnTo>
                <a:lnTo>
                  <a:pt x="16" y="114"/>
                </a:lnTo>
                <a:lnTo>
                  <a:pt x="13" y="109"/>
                </a:lnTo>
                <a:lnTo>
                  <a:pt x="10" y="104"/>
                </a:lnTo>
                <a:lnTo>
                  <a:pt x="8" y="99"/>
                </a:lnTo>
                <a:lnTo>
                  <a:pt x="6" y="92"/>
                </a:lnTo>
                <a:lnTo>
                  <a:pt x="5" y="88"/>
                </a:lnTo>
                <a:lnTo>
                  <a:pt x="3" y="83"/>
                </a:lnTo>
                <a:lnTo>
                  <a:pt x="0" y="83"/>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45" name="Freeform 1950">
            <a:extLst>
              <a:ext uri="{FF2B5EF4-FFF2-40B4-BE49-F238E27FC236}">
                <a16:creationId xmlns:a16="http://schemas.microsoft.com/office/drawing/2014/main" id="{D9855DA6-A404-66F8-6567-4A3341ABE796}"/>
              </a:ext>
            </a:extLst>
          </p:cNvPr>
          <p:cNvSpPr>
            <a:spLocks noEditPoints="1"/>
          </p:cNvSpPr>
          <p:nvPr/>
        </p:nvSpPr>
        <p:spPr bwMode="auto">
          <a:xfrm>
            <a:off x="3359150" y="2503488"/>
            <a:ext cx="320675" cy="196850"/>
          </a:xfrm>
          <a:custGeom>
            <a:avLst/>
            <a:gdLst>
              <a:gd name="T0" fmla="*/ 202 w 202"/>
              <a:gd name="T1" fmla="*/ 41 h 124"/>
              <a:gd name="T2" fmla="*/ 201 w 202"/>
              <a:gd name="T3" fmla="*/ 36 h 124"/>
              <a:gd name="T4" fmla="*/ 199 w 202"/>
              <a:gd name="T5" fmla="*/ 30 h 124"/>
              <a:gd name="T6" fmla="*/ 197 w 202"/>
              <a:gd name="T7" fmla="*/ 25 h 124"/>
              <a:gd name="T8" fmla="*/ 194 w 202"/>
              <a:gd name="T9" fmla="*/ 20 h 124"/>
              <a:gd name="T10" fmla="*/ 192 w 202"/>
              <a:gd name="T11" fmla="*/ 15 h 124"/>
              <a:gd name="T12" fmla="*/ 189 w 202"/>
              <a:gd name="T13" fmla="*/ 10 h 124"/>
              <a:gd name="T14" fmla="*/ 186 w 202"/>
              <a:gd name="T15" fmla="*/ 5 h 124"/>
              <a:gd name="T16" fmla="*/ 182 w 202"/>
              <a:gd name="T17" fmla="*/ 0 h 124"/>
              <a:gd name="T18" fmla="*/ 179 w 202"/>
              <a:gd name="T19" fmla="*/ 1 h 124"/>
              <a:gd name="T20" fmla="*/ 182 w 202"/>
              <a:gd name="T21" fmla="*/ 6 h 124"/>
              <a:gd name="T22" fmla="*/ 186 w 202"/>
              <a:gd name="T23" fmla="*/ 11 h 124"/>
              <a:gd name="T24" fmla="*/ 189 w 202"/>
              <a:gd name="T25" fmla="*/ 16 h 124"/>
              <a:gd name="T26" fmla="*/ 191 w 202"/>
              <a:gd name="T27" fmla="*/ 21 h 124"/>
              <a:gd name="T28" fmla="*/ 194 w 202"/>
              <a:gd name="T29" fmla="*/ 26 h 124"/>
              <a:gd name="T30" fmla="*/ 196 w 202"/>
              <a:gd name="T31" fmla="*/ 31 h 124"/>
              <a:gd name="T32" fmla="*/ 197 w 202"/>
              <a:gd name="T33" fmla="*/ 38 h 124"/>
              <a:gd name="T34" fmla="*/ 199 w 202"/>
              <a:gd name="T35" fmla="*/ 43 h 124"/>
              <a:gd name="T36" fmla="*/ 202 w 202"/>
              <a:gd name="T37" fmla="*/ 41 h 124"/>
              <a:gd name="T38" fmla="*/ 0 w 202"/>
              <a:gd name="T39" fmla="*/ 83 h 124"/>
              <a:gd name="T40" fmla="*/ 2 w 202"/>
              <a:gd name="T41" fmla="*/ 88 h 124"/>
              <a:gd name="T42" fmla="*/ 4 w 202"/>
              <a:gd name="T43" fmla="*/ 94 h 124"/>
              <a:gd name="T44" fmla="*/ 5 w 202"/>
              <a:gd name="T45" fmla="*/ 99 h 124"/>
              <a:gd name="T46" fmla="*/ 7 w 202"/>
              <a:gd name="T47" fmla="*/ 104 h 124"/>
              <a:gd name="T48" fmla="*/ 10 w 202"/>
              <a:gd name="T49" fmla="*/ 109 h 124"/>
              <a:gd name="T50" fmla="*/ 14 w 202"/>
              <a:gd name="T51" fmla="*/ 114 h 124"/>
              <a:gd name="T52" fmla="*/ 15 w 202"/>
              <a:gd name="T53" fmla="*/ 119 h 124"/>
              <a:gd name="T54" fmla="*/ 19 w 202"/>
              <a:gd name="T55" fmla="*/ 124 h 124"/>
              <a:gd name="T56" fmla="*/ 22 w 202"/>
              <a:gd name="T57" fmla="*/ 122 h 124"/>
              <a:gd name="T58" fmla="*/ 19 w 202"/>
              <a:gd name="T59" fmla="*/ 117 h 124"/>
              <a:gd name="T60" fmla="*/ 15 w 202"/>
              <a:gd name="T61" fmla="*/ 112 h 124"/>
              <a:gd name="T62" fmla="*/ 14 w 202"/>
              <a:gd name="T63" fmla="*/ 107 h 124"/>
              <a:gd name="T64" fmla="*/ 10 w 202"/>
              <a:gd name="T65" fmla="*/ 102 h 124"/>
              <a:gd name="T66" fmla="*/ 9 w 202"/>
              <a:gd name="T67" fmla="*/ 97 h 124"/>
              <a:gd name="T68" fmla="*/ 7 w 202"/>
              <a:gd name="T69" fmla="*/ 92 h 124"/>
              <a:gd name="T70" fmla="*/ 5 w 202"/>
              <a:gd name="T71" fmla="*/ 88 h 124"/>
              <a:gd name="T72" fmla="*/ 4 w 202"/>
              <a:gd name="T73" fmla="*/ 81 h 124"/>
              <a:gd name="T74" fmla="*/ 0 w 202"/>
              <a:gd name="T75" fmla="*/ 83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02" h="124">
                <a:moveTo>
                  <a:pt x="202" y="41"/>
                </a:moveTo>
                <a:lnTo>
                  <a:pt x="201" y="36"/>
                </a:lnTo>
                <a:lnTo>
                  <a:pt x="199" y="30"/>
                </a:lnTo>
                <a:lnTo>
                  <a:pt x="197" y="25"/>
                </a:lnTo>
                <a:lnTo>
                  <a:pt x="194" y="20"/>
                </a:lnTo>
                <a:lnTo>
                  <a:pt x="192" y="15"/>
                </a:lnTo>
                <a:lnTo>
                  <a:pt x="189" y="10"/>
                </a:lnTo>
                <a:lnTo>
                  <a:pt x="186" y="5"/>
                </a:lnTo>
                <a:lnTo>
                  <a:pt x="182" y="0"/>
                </a:lnTo>
                <a:lnTo>
                  <a:pt x="179" y="1"/>
                </a:lnTo>
                <a:lnTo>
                  <a:pt x="182" y="6"/>
                </a:lnTo>
                <a:lnTo>
                  <a:pt x="186" y="11"/>
                </a:lnTo>
                <a:lnTo>
                  <a:pt x="189" y="16"/>
                </a:lnTo>
                <a:lnTo>
                  <a:pt x="191" y="21"/>
                </a:lnTo>
                <a:lnTo>
                  <a:pt x="194" y="26"/>
                </a:lnTo>
                <a:lnTo>
                  <a:pt x="196" y="31"/>
                </a:lnTo>
                <a:lnTo>
                  <a:pt x="197" y="38"/>
                </a:lnTo>
                <a:lnTo>
                  <a:pt x="199" y="43"/>
                </a:lnTo>
                <a:lnTo>
                  <a:pt x="202" y="41"/>
                </a:lnTo>
                <a:close/>
                <a:moveTo>
                  <a:pt x="0" y="83"/>
                </a:moveTo>
                <a:lnTo>
                  <a:pt x="2" y="88"/>
                </a:lnTo>
                <a:lnTo>
                  <a:pt x="4" y="94"/>
                </a:lnTo>
                <a:lnTo>
                  <a:pt x="5" y="99"/>
                </a:lnTo>
                <a:lnTo>
                  <a:pt x="7" y="104"/>
                </a:lnTo>
                <a:lnTo>
                  <a:pt x="10" y="109"/>
                </a:lnTo>
                <a:lnTo>
                  <a:pt x="14" y="114"/>
                </a:lnTo>
                <a:lnTo>
                  <a:pt x="15" y="119"/>
                </a:lnTo>
                <a:lnTo>
                  <a:pt x="19" y="124"/>
                </a:lnTo>
                <a:lnTo>
                  <a:pt x="22" y="122"/>
                </a:lnTo>
                <a:lnTo>
                  <a:pt x="19" y="117"/>
                </a:lnTo>
                <a:lnTo>
                  <a:pt x="15" y="112"/>
                </a:lnTo>
                <a:lnTo>
                  <a:pt x="14" y="107"/>
                </a:lnTo>
                <a:lnTo>
                  <a:pt x="10" y="102"/>
                </a:lnTo>
                <a:lnTo>
                  <a:pt x="9" y="97"/>
                </a:lnTo>
                <a:lnTo>
                  <a:pt x="7" y="92"/>
                </a:lnTo>
                <a:lnTo>
                  <a:pt x="5" y="88"/>
                </a:lnTo>
                <a:lnTo>
                  <a:pt x="4" y="81"/>
                </a:lnTo>
                <a:lnTo>
                  <a:pt x="0" y="83"/>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46" name="Freeform 1951">
            <a:extLst>
              <a:ext uri="{FF2B5EF4-FFF2-40B4-BE49-F238E27FC236}">
                <a16:creationId xmlns:a16="http://schemas.microsoft.com/office/drawing/2014/main" id="{F63D5508-8CD8-DEC7-7319-AC80E87699EB}"/>
              </a:ext>
            </a:extLst>
          </p:cNvPr>
          <p:cNvSpPr>
            <a:spLocks noEditPoints="1"/>
          </p:cNvSpPr>
          <p:nvPr/>
        </p:nvSpPr>
        <p:spPr bwMode="auto">
          <a:xfrm>
            <a:off x="3362325" y="2503488"/>
            <a:ext cx="315913" cy="193675"/>
          </a:xfrm>
          <a:custGeom>
            <a:avLst/>
            <a:gdLst>
              <a:gd name="T0" fmla="*/ 199 w 199"/>
              <a:gd name="T1" fmla="*/ 43 h 122"/>
              <a:gd name="T2" fmla="*/ 197 w 199"/>
              <a:gd name="T3" fmla="*/ 36 h 122"/>
              <a:gd name="T4" fmla="*/ 195 w 199"/>
              <a:gd name="T5" fmla="*/ 31 h 122"/>
              <a:gd name="T6" fmla="*/ 194 w 199"/>
              <a:gd name="T7" fmla="*/ 26 h 122"/>
              <a:gd name="T8" fmla="*/ 190 w 199"/>
              <a:gd name="T9" fmla="*/ 20 h 122"/>
              <a:gd name="T10" fmla="*/ 189 w 199"/>
              <a:gd name="T11" fmla="*/ 15 h 122"/>
              <a:gd name="T12" fmla="*/ 185 w 199"/>
              <a:gd name="T13" fmla="*/ 10 h 122"/>
              <a:gd name="T14" fmla="*/ 182 w 199"/>
              <a:gd name="T15" fmla="*/ 5 h 122"/>
              <a:gd name="T16" fmla="*/ 179 w 199"/>
              <a:gd name="T17" fmla="*/ 0 h 122"/>
              <a:gd name="T18" fmla="*/ 175 w 199"/>
              <a:gd name="T19" fmla="*/ 1 h 122"/>
              <a:gd name="T20" fmla="*/ 179 w 199"/>
              <a:gd name="T21" fmla="*/ 6 h 122"/>
              <a:gd name="T22" fmla="*/ 182 w 199"/>
              <a:gd name="T23" fmla="*/ 11 h 122"/>
              <a:gd name="T24" fmla="*/ 185 w 199"/>
              <a:gd name="T25" fmla="*/ 16 h 122"/>
              <a:gd name="T26" fmla="*/ 189 w 199"/>
              <a:gd name="T27" fmla="*/ 21 h 122"/>
              <a:gd name="T28" fmla="*/ 190 w 199"/>
              <a:gd name="T29" fmla="*/ 26 h 122"/>
              <a:gd name="T30" fmla="*/ 192 w 199"/>
              <a:gd name="T31" fmla="*/ 33 h 122"/>
              <a:gd name="T32" fmla="*/ 194 w 199"/>
              <a:gd name="T33" fmla="*/ 38 h 122"/>
              <a:gd name="T34" fmla="*/ 195 w 199"/>
              <a:gd name="T35" fmla="*/ 44 h 122"/>
              <a:gd name="T36" fmla="*/ 199 w 199"/>
              <a:gd name="T37" fmla="*/ 43 h 122"/>
              <a:gd name="T38" fmla="*/ 0 w 199"/>
              <a:gd name="T39" fmla="*/ 83 h 122"/>
              <a:gd name="T40" fmla="*/ 2 w 199"/>
              <a:gd name="T41" fmla="*/ 88 h 122"/>
              <a:gd name="T42" fmla="*/ 3 w 199"/>
              <a:gd name="T43" fmla="*/ 92 h 122"/>
              <a:gd name="T44" fmla="*/ 5 w 199"/>
              <a:gd name="T45" fmla="*/ 99 h 122"/>
              <a:gd name="T46" fmla="*/ 7 w 199"/>
              <a:gd name="T47" fmla="*/ 104 h 122"/>
              <a:gd name="T48" fmla="*/ 10 w 199"/>
              <a:gd name="T49" fmla="*/ 109 h 122"/>
              <a:gd name="T50" fmla="*/ 13 w 199"/>
              <a:gd name="T51" fmla="*/ 114 h 122"/>
              <a:gd name="T52" fmla="*/ 15 w 199"/>
              <a:gd name="T53" fmla="*/ 119 h 122"/>
              <a:gd name="T54" fmla="*/ 18 w 199"/>
              <a:gd name="T55" fmla="*/ 122 h 122"/>
              <a:gd name="T56" fmla="*/ 21 w 199"/>
              <a:gd name="T57" fmla="*/ 121 h 122"/>
              <a:gd name="T58" fmla="*/ 18 w 199"/>
              <a:gd name="T59" fmla="*/ 117 h 122"/>
              <a:gd name="T60" fmla="*/ 15 w 199"/>
              <a:gd name="T61" fmla="*/ 112 h 122"/>
              <a:gd name="T62" fmla="*/ 13 w 199"/>
              <a:gd name="T63" fmla="*/ 107 h 122"/>
              <a:gd name="T64" fmla="*/ 10 w 199"/>
              <a:gd name="T65" fmla="*/ 102 h 122"/>
              <a:gd name="T66" fmla="*/ 8 w 199"/>
              <a:gd name="T67" fmla="*/ 97 h 122"/>
              <a:gd name="T68" fmla="*/ 7 w 199"/>
              <a:gd name="T69" fmla="*/ 92 h 122"/>
              <a:gd name="T70" fmla="*/ 5 w 199"/>
              <a:gd name="T71" fmla="*/ 86 h 122"/>
              <a:gd name="T72" fmla="*/ 3 w 199"/>
              <a:gd name="T73" fmla="*/ 81 h 122"/>
              <a:gd name="T74" fmla="*/ 0 w 199"/>
              <a:gd name="T75" fmla="*/ 8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9" h="122">
                <a:moveTo>
                  <a:pt x="199" y="43"/>
                </a:moveTo>
                <a:lnTo>
                  <a:pt x="197" y="36"/>
                </a:lnTo>
                <a:lnTo>
                  <a:pt x="195" y="31"/>
                </a:lnTo>
                <a:lnTo>
                  <a:pt x="194" y="26"/>
                </a:lnTo>
                <a:lnTo>
                  <a:pt x="190" y="20"/>
                </a:lnTo>
                <a:lnTo>
                  <a:pt x="189" y="15"/>
                </a:lnTo>
                <a:lnTo>
                  <a:pt x="185" y="10"/>
                </a:lnTo>
                <a:lnTo>
                  <a:pt x="182" y="5"/>
                </a:lnTo>
                <a:lnTo>
                  <a:pt x="179" y="0"/>
                </a:lnTo>
                <a:lnTo>
                  <a:pt x="175" y="1"/>
                </a:lnTo>
                <a:lnTo>
                  <a:pt x="179" y="6"/>
                </a:lnTo>
                <a:lnTo>
                  <a:pt x="182" y="11"/>
                </a:lnTo>
                <a:lnTo>
                  <a:pt x="185" y="16"/>
                </a:lnTo>
                <a:lnTo>
                  <a:pt x="189" y="21"/>
                </a:lnTo>
                <a:lnTo>
                  <a:pt x="190" y="26"/>
                </a:lnTo>
                <a:lnTo>
                  <a:pt x="192" y="33"/>
                </a:lnTo>
                <a:lnTo>
                  <a:pt x="194" y="38"/>
                </a:lnTo>
                <a:lnTo>
                  <a:pt x="195" y="44"/>
                </a:lnTo>
                <a:lnTo>
                  <a:pt x="199" y="43"/>
                </a:lnTo>
                <a:close/>
                <a:moveTo>
                  <a:pt x="0" y="83"/>
                </a:moveTo>
                <a:lnTo>
                  <a:pt x="2" y="88"/>
                </a:lnTo>
                <a:lnTo>
                  <a:pt x="3" y="92"/>
                </a:lnTo>
                <a:lnTo>
                  <a:pt x="5" y="99"/>
                </a:lnTo>
                <a:lnTo>
                  <a:pt x="7" y="104"/>
                </a:lnTo>
                <a:lnTo>
                  <a:pt x="10" y="109"/>
                </a:lnTo>
                <a:lnTo>
                  <a:pt x="13" y="114"/>
                </a:lnTo>
                <a:lnTo>
                  <a:pt x="15" y="119"/>
                </a:lnTo>
                <a:lnTo>
                  <a:pt x="18" y="122"/>
                </a:lnTo>
                <a:lnTo>
                  <a:pt x="21" y="121"/>
                </a:lnTo>
                <a:lnTo>
                  <a:pt x="18" y="117"/>
                </a:lnTo>
                <a:lnTo>
                  <a:pt x="15" y="112"/>
                </a:lnTo>
                <a:lnTo>
                  <a:pt x="13" y="107"/>
                </a:lnTo>
                <a:lnTo>
                  <a:pt x="10" y="102"/>
                </a:lnTo>
                <a:lnTo>
                  <a:pt x="8" y="97"/>
                </a:lnTo>
                <a:lnTo>
                  <a:pt x="7" y="92"/>
                </a:lnTo>
                <a:lnTo>
                  <a:pt x="5" y="86"/>
                </a:lnTo>
                <a:lnTo>
                  <a:pt x="3" y="81"/>
                </a:lnTo>
                <a:lnTo>
                  <a:pt x="0" y="83"/>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47" name="Freeform 1952">
            <a:extLst>
              <a:ext uri="{FF2B5EF4-FFF2-40B4-BE49-F238E27FC236}">
                <a16:creationId xmlns:a16="http://schemas.microsoft.com/office/drawing/2014/main" id="{6C47BAED-EA8B-76CD-8300-41803C501E35}"/>
              </a:ext>
            </a:extLst>
          </p:cNvPr>
          <p:cNvSpPr>
            <a:spLocks noEditPoints="1"/>
          </p:cNvSpPr>
          <p:nvPr/>
        </p:nvSpPr>
        <p:spPr bwMode="auto">
          <a:xfrm>
            <a:off x="3365500" y="2505075"/>
            <a:ext cx="309563" cy="192088"/>
          </a:xfrm>
          <a:custGeom>
            <a:avLst/>
            <a:gdLst>
              <a:gd name="T0" fmla="*/ 195 w 195"/>
              <a:gd name="T1" fmla="*/ 42 h 121"/>
              <a:gd name="T2" fmla="*/ 193 w 195"/>
              <a:gd name="T3" fmla="*/ 37 h 121"/>
              <a:gd name="T4" fmla="*/ 192 w 195"/>
              <a:gd name="T5" fmla="*/ 30 h 121"/>
              <a:gd name="T6" fmla="*/ 190 w 195"/>
              <a:gd name="T7" fmla="*/ 25 h 121"/>
              <a:gd name="T8" fmla="*/ 187 w 195"/>
              <a:gd name="T9" fmla="*/ 20 h 121"/>
              <a:gd name="T10" fmla="*/ 185 w 195"/>
              <a:gd name="T11" fmla="*/ 15 h 121"/>
              <a:gd name="T12" fmla="*/ 182 w 195"/>
              <a:gd name="T13" fmla="*/ 10 h 121"/>
              <a:gd name="T14" fmla="*/ 178 w 195"/>
              <a:gd name="T15" fmla="*/ 5 h 121"/>
              <a:gd name="T16" fmla="*/ 175 w 195"/>
              <a:gd name="T17" fmla="*/ 0 h 121"/>
              <a:gd name="T18" fmla="*/ 173 w 195"/>
              <a:gd name="T19" fmla="*/ 2 h 121"/>
              <a:gd name="T20" fmla="*/ 177 w 195"/>
              <a:gd name="T21" fmla="*/ 5 h 121"/>
              <a:gd name="T22" fmla="*/ 178 w 195"/>
              <a:gd name="T23" fmla="*/ 10 h 121"/>
              <a:gd name="T24" fmla="*/ 182 w 195"/>
              <a:gd name="T25" fmla="*/ 15 h 121"/>
              <a:gd name="T26" fmla="*/ 185 w 195"/>
              <a:gd name="T27" fmla="*/ 22 h 121"/>
              <a:gd name="T28" fmla="*/ 187 w 195"/>
              <a:gd name="T29" fmla="*/ 27 h 121"/>
              <a:gd name="T30" fmla="*/ 188 w 195"/>
              <a:gd name="T31" fmla="*/ 32 h 121"/>
              <a:gd name="T32" fmla="*/ 190 w 195"/>
              <a:gd name="T33" fmla="*/ 38 h 121"/>
              <a:gd name="T34" fmla="*/ 192 w 195"/>
              <a:gd name="T35" fmla="*/ 43 h 121"/>
              <a:gd name="T36" fmla="*/ 195 w 195"/>
              <a:gd name="T37" fmla="*/ 42 h 121"/>
              <a:gd name="T38" fmla="*/ 0 w 195"/>
              <a:gd name="T39" fmla="*/ 80 h 121"/>
              <a:gd name="T40" fmla="*/ 1 w 195"/>
              <a:gd name="T41" fmla="*/ 87 h 121"/>
              <a:gd name="T42" fmla="*/ 3 w 195"/>
              <a:gd name="T43" fmla="*/ 91 h 121"/>
              <a:gd name="T44" fmla="*/ 5 w 195"/>
              <a:gd name="T45" fmla="*/ 96 h 121"/>
              <a:gd name="T46" fmla="*/ 6 w 195"/>
              <a:gd name="T47" fmla="*/ 101 h 121"/>
              <a:gd name="T48" fmla="*/ 10 w 195"/>
              <a:gd name="T49" fmla="*/ 106 h 121"/>
              <a:gd name="T50" fmla="*/ 11 w 195"/>
              <a:gd name="T51" fmla="*/ 111 h 121"/>
              <a:gd name="T52" fmla="*/ 15 w 195"/>
              <a:gd name="T53" fmla="*/ 116 h 121"/>
              <a:gd name="T54" fmla="*/ 18 w 195"/>
              <a:gd name="T55" fmla="*/ 121 h 121"/>
              <a:gd name="T56" fmla="*/ 21 w 195"/>
              <a:gd name="T57" fmla="*/ 120 h 121"/>
              <a:gd name="T58" fmla="*/ 18 w 195"/>
              <a:gd name="T59" fmla="*/ 115 h 121"/>
              <a:gd name="T60" fmla="*/ 15 w 195"/>
              <a:gd name="T61" fmla="*/ 110 h 121"/>
              <a:gd name="T62" fmla="*/ 13 w 195"/>
              <a:gd name="T63" fmla="*/ 106 h 121"/>
              <a:gd name="T64" fmla="*/ 10 w 195"/>
              <a:gd name="T65" fmla="*/ 100 h 121"/>
              <a:gd name="T66" fmla="*/ 8 w 195"/>
              <a:gd name="T67" fmla="*/ 95 h 121"/>
              <a:gd name="T68" fmla="*/ 6 w 195"/>
              <a:gd name="T69" fmla="*/ 90 h 121"/>
              <a:gd name="T70" fmla="*/ 5 w 195"/>
              <a:gd name="T71" fmla="*/ 85 h 121"/>
              <a:gd name="T72" fmla="*/ 3 w 195"/>
              <a:gd name="T73" fmla="*/ 78 h 121"/>
              <a:gd name="T74" fmla="*/ 0 w 195"/>
              <a:gd name="T75" fmla="*/ 8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5" h="121">
                <a:moveTo>
                  <a:pt x="195" y="42"/>
                </a:moveTo>
                <a:lnTo>
                  <a:pt x="193" y="37"/>
                </a:lnTo>
                <a:lnTo>
                  <a:pt x="192" y="30"/>
                </a:lnTo>
                <a:lnTo>
                  <a:pt x="190" y="25"/>
                </a:lnTo>
                <a:lnTo>
                  <a:pt x="187" y="20"/>
                </a:lnTo>
                <a:lnTo>
                  <a:pt x="185" y="15"/>
                </a:lnTo>
                <a:lnTo>
                  <a:pt x="182" y="10"/>
                </a:lnTo>
                <a:lnTo>
                  <a:pt x="178" y="5"/>
                </a:lnTo>
                <a:lnTo>
                  <a:pt x="175" y="0"/>
                </a:lnTo>
                <a:lnTo>
                  <a:pt x="173" y="2"/>
                </a:lnTo>
                <a:lnTo>
                  <a:pt x="177" y="5"/>
                </a:lnTo>
                <a:lnTo>
                  <a:pt x="178" y="10"/>
                </a:lnTo>
                <a:lnTo>
                  <a:pt x="182" y="15"/>
                </a:lnTo>
                <a:lnTo>
                  <a:pt x="185" y="22"/>
                </a:lnTo>
                <a:lnTo>
                  <a:pt x="187" y="27"/>
                </a:lnTo>
                <a:lnTo>
                  <a:pt x="188" y="32"/>
                </a:lnTo>
                <a:lnTo>
                  <a:pt x="190" y="38"/>
                </a:lnTo>
                <a:lnTo>
                  <a:pt x="192" y="43"/>
                </a:lnTo>
                <a:lnTo>
                  <a:pt x="195" y="42"/>
                </a:lnTo>
                <a:close/>
                <a:moveTo>
                  <a:pt x="0" y="80"/>
                </a:moveTo>
                <a:lnTo>
                  <a:pt x="1" y="87"/>
                </a:lnTo>
                <a:lnTo>
                  <a:pt x="3" y="91"/>
                </a:lnTo>
                <a:lnTo>
                  <a:pt x="5" y="96"/>
                </a:lnTo>
                <a:lnTo>
                  <a:pt x="6" y="101"/>
                </a:lnTo>
                <a:lnTo>
                  <a:pt x="10" y="106"/>
                </a:lnTo>
                <a:lnTo>
                  <a:pt x="11" y="111"/>
                </a:lnTo>
                <a:lnTo>
                  <a:pt x="15" y="116"/>
                </a:lnTo>
                <a:lnTo>
                  <a:pt x="18" y="121"/>
                </a:lnTo>
                <a:lnTo>
                  <a:pt x="21" y="120"/>
                </a:lnTo>
                <a:lnTo>
                  <a:pt x="18" y="115"/>
                </a:lnTo>
                <a:lnTo>
                  <a:pt x="15" y="110"/>
                </a:lnTo>
                <a:lnTo>
                  <a:pt x="13" y="106"/>
                </a:lnTo>
                <a:lnTo>
                  <a:pt x="10" y="100"/>
                </a:lnTo>
                <a:lnTo>
                  <a:pt x="8" y="95"/>
                </a:lnTo>
                <a:lnTo>
                  <a:pt x="6" y="90"/>
                </a:lnTo>
                <a:lnTo>
                  <a:pt x="5" y="85"/>
                </a:lnTo>
                <a:lnTo>
                  <a:pt x="3" y="78"/>
                </a:lnTo>
                <a:lnTo>
                  <a:pt x="0" y="8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48" name="Freeform 1953">
            <a:extLst>
              <a:ext uri="{FF2B5EF4-FFF2-40B4-BE49-F238E27FC236}">
                <a16:creationId xmlns:a16="http://schemas.microsoft.com/office/drawing/2014/main" id="{8D750B01-5F0C-95F0-1A95-D071ABAC1F91}"/>
              </a:ext>
            </a:extLst>
          </p:cNvPr>
          <p:cNvSpPr>
            <a:spLocks noEditPoints="1"/>
          </p:cNvSpPr>
          <p:nvPr/>
        </p:nvSpPr>
        <p:spPr bwMode="auto">
          <a:xfrm>
            <a:off x="3367088" y="2505075"/>
            <a:ext cx="304800" cy="190500"/>
          </a:xfrm>
          <a:custGeom>
            <a:avLst/>
            <a:gdLst>
              <a:gd name="T0" fmla="*/ 192 w 192"/>
              <a:gd name="T1" fmla="*/ 43 h 120"/>
              <a:gd name="T2" fmla="*/ 191 w 192"/>
              <a:gd name="T3" fmla="*/ 37 h 120"/>
              <a:gd name="T4" fmla="*/ 189 w 192"/>
              <a:gd name="T5" fmla="*/ 32 h 120"/>
              <a:gd name="T6" fmla="*/ 187 w 192"/>
              <a:gd name="T7" fmla="*/ 25 h 120"/>
              <a:gd name="T8" fmla="*/ 186 w 192"/>
              <a:gd name="T9" fmla="*/ 20 h 120"/>
              <a:gd name="T10" fmla="*/ 182 w 192"/>
              <a:gd name="T11" fmla="*/ 15 h 120"/>
              <a:gd name="T12" fmla="*/ 179 w 192"/>
              <a:gd name="T13" fmla="*/ 10 h 120"/>
              <a:gd name="T14" fmla="*/ 176 w 192"/>
              <a:gd name="T15" fmla="*/ 5 h 120"/>
              <a:gd name="T16" fmla="*/ 172 w 192"/>
              <a:gd name="T17" fmla="*/ 0 h 120"/>
              <a:gd name="T18" fmla="*/ 171 w 192"/>
              <a:gd name="T19" fmla="*/ 2 h 120"/>
              <a:gd name="T20" fmla="*/ 174 w 192"/>
              <a:gd name="T21" fmla="*/ 7 h 120"/>
              <a:gd name="T22" fmla="*/ 177 w 192"/>
              <a:gd name="T23" fmla="*/ 12 h 120"/>
              <a:gd name="T24" fmla="*/ 179 w 192"/>
              <a:gd name="T25" fmla="*/ 17 h 120"/>
              <a:gd name="T26" fmla="*/ 182 w 192"/>
              <a:gd name="T27" fmla="*/ 22 h 120"/>
              <a:gd name="T28" fmla="*/ 184 w 192"/>
              <a:gd name="T29" fmla="*/ 27 h 120"/>
              <a:gd name="T30" fmla="*/ 186 w 192"/>
              <a:gd name="T31" fmla="*/ 34 h 120"/>
              <a:gd name="T32" fmla="*/ 187 w 192"/>
              <a:gd name="T33" fmla="*/ 38 h 120"/>
              <a:gd name="T34" fmla="*/ 189 w 192"/>
              <a:gd name="T35" fmla="*/ 43 h 120"/>
              <a:gd name="T36" fmla="*/ 192 w 192"/>
              <a:gd name="T37" fmla="*/ 43 h 120"/>
              <a:gd name="T38" fmla="*/ 0 w 192"/>
              <a:gd name="T39" fmla="*/ 80 h 120"/>
              <a:gd name="T40" fmla="*/ 2 w 192"/>
              <a:gd name="T41" fmla="*/ 85 h 120"/>
              <a:gd name="T42" fmla="*/ 4 w 192"/>
              <a:gd name="T43" fmla="*/ 91 h 120"/>
              <a:gd name="T44" fmla="*/ 5 w 192"/>
              <a:gd name="T45" fmla="*/ 96 h 120"/>
              <a:gd name="T46" fmla="*/ 7 w 192"/>
              <a:gd name="T47" fmla="*/ 101 h 120"/>
              <a:gd name="T48" fmla="*/ 10 w 192"/>
              <a:gd name="T49" fmla="*/ 106 h 120"/>
              <a:gd name="T50" fmla="*/ 12 w 192"/>
              <a:gd name="T51" fmla="*/ 111 h 120"/>
              <a:gd name="T52" fmla="*/ 15 w 192"/>
              <a:gd name="T53" fmla="*/ 116 h 120"/>
              <a:gd name="T54" fmla="*/ 18 w 192"/>
              <a:gd name="T55" fmla="*/ 120 h 120"/>
              <a:gd name="T56" fmla="*/ 22 w 192"/>
              <a:gd name="T57" fmla="*/ 120 h 120"/>
              <a:gd name="T58" fmla="*/ 18 w 192"/>
              <a:gd name="T59" fmla="*/ 115 h 120"/>
              <a:gd name="T60" fmla="*/ 15 w 192"/>
              <a:gd name="T61" fmla="*/ 110 h 120"/>
              <a:gd name="T62" fmla="*/ 14 w 192"/>
              <a:gd name="T63" fmla="*/ 105 h 120"/>
              <a:gd name="T64" fmla="*/ 10 w 192"/>
              <a:gd name="T65" fmla="*/ 100 h 120"/>
              <a:gd name="T66" fmla="*/ 9 w 192"/>
              <a:gd name="T67" fmla="*/ 95 h 120"/>
              <a:gd name="T68" fmla="*/ 7 w 192"/>
              <a:gd name="T69" fmla="*/ 90 h 120"/>
              <a:gd name="T70" fmla="*/ 5 w 192"/>
              <a:gd name="T71" fmla="*/ 83 h 120"/>
              <a:gd name="T72" fmla="*/ 4 w 192"/>
              <a:gd name="T73" fmla="*/ 78 h 120"/>
              <a:gd name="T74" fmla="*/ 0 w 192"/>
              <a:gd name="T75" fmla="*/ 8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2" h="120">
                <a:moveTo>
                  <a:pt x="192" y="43"/>
                </a:moveTo>
                <a:lnTo>
                  <a:pt x="191" y="37"/>
                </a:lnTo>
                <a:lnTo>
                  <a:pt x="189" y="32"/>
                </a:lnTo>
                <a:lnTo>
                  <a:pt x="187" y="25"/>
                </a:lnTo>
                <a:lnTo>
                  <a:pt x="186" y="20"/>
                </a:lnTo>
                <a:lnTo>
                  <a:pt x="182" y="15"/>
                </a:lnTo>
                <a:lnTo>
                  <a:pt x="179" y="10"/>
                </a:lnTo>
                <a:lnTo>
                  <a:pt x="176" y="5"/>
                </a:lnTo>
                <a:lnTo>
                  <a:pt x="172" y="0"/>
                </a:lnTo>
                <a:lnTo>
                  <a:pt x="171" y="2"/>
                </a:lnTo>
                <a:lnTo>
                  <a:pt x="174" y="7"/>
                </a:lnTo>
                <a:lnTo>
                  <a:pt x="177" y="12"/>
                </a:lnTo>
                <a:lnTo>
                  <a:pt x="179" y="17"/>
                </a:lnTo>
                <a:lnTo>
                  <a:pt x="182" y="22"/>
                </a:lnTo>
                <a:lnTo>
                  <a:pt x="184" y="27"/>
                </a:lnTo>
                <a:lnTo>
                  <a:pt x="186" y="34"/>
                </a:lnTo>
                <a:lnTo>
                  <a:pt x="187" y="38"/>
                </a:lnTo>
                <a:lnTo>
                  <a:pt x="189" y="43"/>
                </a:lnTo>
                <a:lnTo>
                  <a:pt x="192" y="43"/>
                </a:lnTo>
                <a:close/>
                <a:moveTo>
                  <a:pt x="0" y="80"/>
                </a:moveTo>
                <a:lnTo>
                  <a:pt x="2" y="85"/>
                </a:lnTo>
                <a:lnTo>
                  <a:pt x="4" y="91"/>
                </a:lnTo>
                <a:lnTo>
                  <a:pt x="5" y="96"/>
                </a:lnTo>
                <a:lnTo>
                  <a:pt x="7" y="101"/>
                </a:lnTo>
                <a:lnTo>
                  <a:pt x="10" y="106"/>
                </a:lnTo>
                <a:lnTo>
                  <a:pt x="12" y="111"/>
                </a:lnTo>
                <a:lnTo>
                  <a:pt x="15" y="116"/>
                </a:lnTo>
                <a:lnTo>
                  <a:pt x="18" y="120"/>
                </a:lnTo>
                <a:lnTo>
                  <a:pt x="22" y="120"/>
                </a:lnTo>
                <a:lnTo>
                  <a:pt x="18" y="115"/>
                </a:lnTo>
                <a:lnTo>
                  <a:pt x="15" y="110"/>
                </a:lnTo>
                <a:lnTo>
                  <a:pt x="14" y="105"/>
                </a:lnTo>
                <a:lnTo>
                  <a:pt x="10" y="100"/>
                </a:lnTo>
                <a:lnTo>
                  <a:pt x="9" y="95"/>
                </a:lnTo>
                <a:lnTo>
                  <a:pt x="7" y="90"/>
                </a:lnTo>
                <a:lnTo>
                  <a:pt x="5" y="83"/>
                </a:lnTo>
                <a:lnTo>
                  <a:pt x="4" y="78"/>
                </a:lnTo>
                <a:lnTo>
                  <a:pt x="0" y="8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49" name="Freeform 1954">
            <a:extLst>
              <a:ext uri="{FF2B5EF4-FFF2-40B4-BE49-F238E27FC236}">
                <a16:creationId xmlns:a16="http://schemas.microsoft.com/office/drawing/2014/main" id="{D602BE9D-9734-882D-F45A-73A388F88C8E}"/>
              </a:ext>
            </a:extLst>
          </p:cNvPr>
          <p:cNvSpPr>
            <a:spLocks noEditPoints="1"/>
          </p:cNvSpPr>
          <p:nvPr/>
        </p:nvSpPr>
        <p:spPr bwMode="auto">
          <a:xfrm>
            <a:off x="3370263" y="2508250"/>
            <a:ext cx="300038" cy="187325"/>
          </a:xfrm>
          <a:custGeom>
            <a:avLst/>
            <a:gdLst>
              <a:gd name="T0" fmla="*/ 189 w 189"/>
              <a:gd name="T1" fmla="*/ 41 h 118"/>
              <a:gd name="T2" fmla="*/ 187 w 189"/>
              <a:gd name="T3" fmla="*/ 36 h 118"/>
              <a:gd name="T4" fmla="*/ 185 w 189"/>
              <a:gd name="T5" fmla="*/ 30 h 118"/>
              <a:gd name="T6" fmla="*/ 184 w 189"/>
              <a:gd name="T7" fmla="*/ 25 h 118"/>
              <a:gd name="T8" fmla="*/ 182 w 189"/>
              <a:gd name="T9" fmla="*/ 20 h 118"/>
              <a:gd name="T10" fmla="*/ 179 w 189"/>
              <a:gd name="T11" fmla="*/ 13 h 118"/>
              <a:gd name="T12" fmla="*/ 175 w 189"/>
              <a:gd name="T13" fmla="*/ 8 h 118"/>
              <a:gd name="T14" fmla="*/ 174 w 189"/>
              <a:gd name="T15" fmla="*/ 3 h 118"/>
              <a:gd name="T16" fmla="*/ 170 w 189"/>
              <a:gd name="T17" fmla="*/ 0 h 118"/>
              <a:gd name="T18" fmla="*/ 167 w 189"/>
              <a:gd name="T19" fmla="*/ 2 h 118"/>
              <a:gd name="T20" fmla="*/ 170 w 189"/>
              <a:gd name="T21" fmla="*/ 5 h 118"/>
              <a:gd name="T22" fmla="*/ 174 w 189"/>
              <a:gd name="T23" fmla="*/ 10 h 118"/>
              <a:gd name="T24" fmla="*/ 175 w 189"/>
              <a:gd name="T25" fmla="*/ 15 h 118"/>
              <a:gd name="T26" fmla="*/ 179 w 189"/>
              <a:gd name="T27" fmla="*/ 20 h 118"/>
              <a:gd name="T28" fmla="*/ 180 w 189"/>
              <a:gd name="T29" fmla="*/ 27 h 118"/>
              <a:gd name="T30" fmla="*/ 182 w 189"/>
              <a:gd name="T31" fmla="*/ 32 h 118"/>
              <a:gd name="T32" fmla="*/ 184 w 189"/>
              <a:gd name="T33" fmla="*/ 36 h 118"/>
              <a:gd name="T34" fmla="*/ 185 w 189"/>
              <a:gd name="T35" fmla="*/ 43 h 118"/>
              <a:gd name="T36" fmla="*/ 189 w 189"/>
              <a:gd name="T37" fmla="*/ 41 h 118"/>
              <a:gd name="T38" fmla="*/ 0 w 189"/>
              <a:gd name="T39" fmla="*/ 76 h 118"/>
              <a:gd name="T40" fmla="*/ 2 w 189"/>
              <a:gd name="T41" fmla="*/ 83 h 118"/>
              <a:gd name="T42" fmla="*/ 3 w 189"/>
              <a:gd name="T43" fmla="*/ 88 h 118"/>
              <a:gd name="T44" fmla="*/ 5 w 189"/>
              <a:gd name="T45" fmla="*/ 93 h 118"/>
              <a:gd name="T46" fmla="*/ 7 w 189"/>
              <a:gd name="T47" fmla="*/ 98 h 118"/>
              <a:gd name="T48" fmla="*/ 10 w 189"/>
              <a:gd name="T49" fmla="*/ 104 h 118"/>
              <a:gd name="T50" fmla="*/ 12 w 189"/>
              <a:gd name="T51" fmla="*/ 108 h 118"/>
              <a:gd name="T52" fmla="*/ 15 w 189"/>
              <a:gd name="T53" fmla="*/ 113 h 118"/>
              <a:gd name="T54" fmla="*/ 18 w 189"/>
              <a:gd name="T55" fmla="*/ 118 h 118"/>
              <a:gd name="T56" fmla="*/ 21 w 189"/>
              <a:gd name="T57" fmla="*/ 116 h 118"/>
              <a:gd name="T58" fmla="*/ 18 w 189"/>
              <a:gd name="T59" fmla="*/ 113 h 118"/>
              <a:gd name="T60" fmla="*/ 15 w 189"/>
              <a:gd name="T61" fmla="*/ 108 h 118"/>
              <a:gd name="T62" fmla="*/ 12 w 189"/>
              <a:gd name="T63" fmla="*/ 103 h 118"/>
              <a:gd name="T64" fmla="*/ 10 w 189"/>
              <a:gd name="T65" fmla="*/ 98 h 118"/>
              <a:gd name="T66" fmla="*/ 8 w 189"/>
              <a:gd name="T67" fmla="*/ 93 h 118"/>
              <a:gd name="T68" fmla="*/ 5 w 189"/>
              <a:gd name="T69" fmla="*/ 86 h 118"/>
              <a:gd name="T70" fmla="*/ 3 w 189"/>
              <a:gd name="T71" fmla="*/ 81 h 118"/>
              <a:gd name="T72" fmla="*/ 3 w 189"/>
              <a:gd name="T73" fmla="*/ 75 h 118"/>
              <a:gd name="T74" fmla="*/ 0 w 189"/>
              <a:gd name="T75" fmla="*/ 7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89" h="118">
                <a:moveTo>
                  <a:pt x="189" y="41"/>
                </a:moveTo>
                <a:lnTo>
                  <a:pt x="187" y="36"/>
                </a:lnTo>
                <a:lnTo>
                  <a:pt x="185" y="30"/>
                </a:lnTo>
                <a:lnTo>
                  <a:pt x="184" y="25"/>
                </a:lnTo>
                <a:lnTo>
                  <a:pt x="182" y="20"/>
                </a:lnTo>
                <a:lnTo>
                  <a:pt x="179" y="13"/>
                </a:lnTo>
                <a:lnTo>
                  <a:pt x="175" y="8"/>
                </a:lnTo>
                <a:lnTo>
                  <a:pt x="174" y="3"/>
                </a:lnTo>
                <a:lnTo>
                  <a:pt x="170" y="0"/>
                </a:lnTo>
                <a:lnTo>
                  <a:pt x="167" y="2"/>
                </a:lnTo>
                <a:lnTo>
                  <a:pt x="170" y="5"/>
                </a:lnTo>
                <a:lnTo>
                  <a:pt x="174" y="10"/>
                </a:lnTo>
                <a:lnTo>
                  <a:pt x="175" y="15"/>
                </a:lnTo>
                <a:lnTo>
                  <a:pt x="179" y="20"/>
                </a:lnTo>
                <a:lnTo>
                  <a:pt x="180" y="27"/>
                </a:lnTo>
                <a:lnTo>
                  <a:pt x="182" y="32"/>
                </a:lnTo>
                <a:lnTo>
                  <a:pt x="184" y="36"/>
                </a:lnTo>
                <a:lnTo>
                  <a:pt x="185" y="43"/>
                </a:lnTo>
                <a:lnTo>
                  <a:pt x="189" y="41"/>
                </a:lnTo>
                <a:close/>
                <a:moveTo>
                  <a:pt x="0" y="76"/>
                </a:moveTo>
                <a:lnTo>
                  <a:pt x="2" y="83"/>
                </a:lnTo>
                <a:lnTo>
                  <a:pt x="3" y="88"/>
                </a:lnTo>
                <a:lnTo>
                  <a:pt x="5" y="93"/>
                </a:lnTo>
                <a:lnTo>
                  <a:pt x="7" y="98"/>
                </a:lnTo>
                <a:lnTo>
                  <a:pt x="10" y="104"/>
                </a:lnTo>
                <a:lnTo>
                  <a:pt x="12" y="108"/>
                </a:lnTo>
                <a:lnTo>
                  <a:pt x="15" y="113"/>
                </a:lnTo>
                <a:lnTo>
                  <a:pt x="18" y="118"/>
                </a:lnTo>
                <a:lnTo>
                  <a:pt x="21" y="116"/>
                </a:lnTo>
                <a:lnTo>
                  <a:pt x="18" y="113"/>
                </a:lnTo>
                <a:lnTo>
                  <a:pt x="15" y="108"/>
                </a:lnTo>
                <a:lnTo>
                  <a:pt x="12" y="103"/>
                </a:lnTo>
                <a:lnTo>
                  <a:pt x="10" y="98"/>
                </a:lnTo>
                <a:lnTo>
                  <a:pt x="8" y="93"/>
                </a:lnTo>
                <a:lnTo>
                  <a:pt x="5" y="86"/>
                </a:lnTo>
                <a:lnTo>
                  <a:pt x="3" y="81"/>
                </a:lnTo>
                <a:lnTo>
                  <a:pt x="3" y="75"/>
                </a:lnTo>
                <a:lnTo>
                  <a:pt x="0" y="76"/>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50" name="Freeform 1955">
            <a:extLst>
              <a:ext uri="{FF2B5EF4-FFF2-40B4-BE49-F238E27FC236}">
                <a16:creationId xmlns:a16="http://schemas.microsoft.com/office/drawing/2014/main" id="{2CABA32E-B3CA-75D0-0743-5479A6F4C412}"/>
              </a:ext>
            </a:extLst>
          </p:cNvPr>
          <p:cNvSpPr>
            <a:spLocks noEditPoints="1"/>
          </p:cNvSpPr>
          <p:nvPr/>
        </p:nvSpPr>
        <p:spPr bwMode="auto">
          <a:xfrm>
            <a:off x="3373438" y="2508250"/>
            <a:ext cx="293688" cy="187325"/>
          </a:xfrm>
          <a:custGeom>
            <a:avLst/>
            <a:gdLst>
              <a:gd name="T0" fmla="*/ 185 w 185"/>
              <a:gd name="T1" fmla="*/ 41 h 118"/>
              <a:gd name="T2" fmla="*/ 183 w 185"/>
              <a:gd name="T3" fmla="*/ 36 h 118"/>
              <a:gd name="T4" fmla="*/ 182 w 185"/>
              <a:gd name="T5" fmla="*/ 32 h 118"/>
              <a:gd name="T6" fmla="*/ 180 w 185"/>
              <a:gd name="T7" fmla="*/ 25 h 118"/>
              <a:gd name="T8" fmla="*/ 178 w 185"/>
              <a:gd name="T9" fmla="*/ 20 h 118"/>
              <a:gd name="T10" fmla="*/ 175 w 185"/>
              <a:gd name="T11" fmla="*/ 15 h 118"/>
              <a:gd name="T12" fmla="*/ 173 w 185"/>
              <a:gd name="T13" fmla="*/ 10 h 118"/>
              <a:gd name="T14" fmla="*/ 170 w 185"/>
              <a:gd name="T15" fmla="*/ 5 h 118"/>
              <a:gd name="T16" fmla="*/ 167 w 185"/>
              <a:gd name="T17" fmla="*/ 0 h 118"/>
              <a:gd name="T18" fmla="*/ 164 w 185"/>
              <a:gd name="T19" fmla="*/ 2 h 118"/>
              <a:gd name="T20" fmla="*/ 167 w 185"/>
              <a:gd name="T21" fmla="*/ 7 h 118"/>
              <a:gd name="T22" fmla="*/ 170 w 185"/>
              <a:gd name="T23" fmla="*/ 12 h 118"/>
              <a:gd name="T24" fmla="*/ 172 w 185"/>
              <a:gd name="T25" fmla="*/ 17 h 118"/>
              <a:gd name="T26" fmla="*/ 175 w 185"/>
              <a:gd name="T27" fmla="*/ 22 h 118"/>
              <a:gd name="T28" fmla="*/ 177 w 185"/>
              <a:gd name="T29" fmla="*/ 27 h 118"/>
              <a:gd name="T30" fmla="*/ 178 w 185"/>
              <a:gd name="T31" fmla="*/ 32 h 118"/>
              <a:gd name="T32" fmla="*/ 180 w 185"/>
              <a:gd name="T33" fmla="*/ 38 h 118"/>
              <a:gd name="T34" fmla="*/ 182 w 185"/>
              <a:gd name="T35" fmla="*/ 43 h 118"/>
              <a:gd name="T36" fmla="*/ 185 w 185"/>
              <a:gd name="T37" fmla="*/ 41 h 118"/>
              <a:gd name="T38" fmla="*/ 0 w 185"/>
              <a:gd name="T39" fmla="*/ 76 h 118"/>
              <a:gd name="T40" fmla="*/ 1 w 185"/>
              <a:gd name="T41" fmla="*/ 81 h 118"/>
              <a:gd name="T42" fmla="*/ 3 w 185"/>
              <a:gd name="T43" fmla="*/ 88 h 118"/>
              <a:gd name="T44" fmla="*/ 5 w 185"/>
              <a:gd name="T45" fmla="*/ 93 h 118"/>
              <a:gd name="T46" fmla="*/ 6 w 185"/>
              <a:gd name="T47" fmla="*/ 98 h 118"/>
              <a:gd name="T48" fmla="*/ 10 w 185"/>
              <a:gd name="T49" fmla="*/ 103 h 118"/>
              <a:gd name="T50" fmla="*/ 11 w 185"/>
              <a:gd name="T51" fmla="*/ 108 h 118"/>
              <a:gd name="T52" fmla="*/ 14 w 185"/>
              <a:gd name="T53" fmla="*/ 113 h 118"/>
              <a:gd name="T54" fmla="*/ 18 w 185"/>
              <a:gd name="T55" fmla="*/ 118 h 118"/>
              <a:gd name="T56" fmla="*/ 21 w 185"/>
              <a:gd name="T57" fmla="*/ 116 h 118"/>
              <a:gd name="T58" fmla="*/ 18 w 185"/>
              <a:gd name="T59" fmla="*/ 111 h 118"/>
              <a:gd name="T60" fmla="*/ 14 w 185"/>
              <a:gd name="T61" fmla="*/ 106 h 118"/>
              <a:gd name="T62" fmla="*/ 11 w 185"/>
              <a:gd name="T63" fmla="*/ 101 h 118"/>
              <a:gd name="T64" fmla="*/ 10 w 185"/>
              <a:gd name="T65" fmla="*/ 96 h 118"/>
              <a:gd name="T66" fmla="*/ 6 w 185"/>
              <a:gd name="T67" fmla="*/ 91 h 118"/>
              <a:gd name="T68" fmla="*/ 5 w 185"/>
              <a:gd name="T69" fmla="*/ 86 h 118"/>
              <a:gd name="T70" fmla="*/ 3 w 185"/>
              <a:gd name="T71" fmla="*/ 81 h 118"/>
              <a:gd name="T72" fmla="*/ 3 w 185"/>
              <a:gd name="T73" fmla="*/ 75 h 118"/>
              <a:gd name="T74" fmla="*/ 0 w 185"/>
              <a:gd name="T75" fmla="*/ 7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85" h="118">
                <a:moveTo>
                  <a:pt x="185" y="41"/>
                </a:moveTo>
                <a:lnTo>
                  <a:pt x="183" y="36"/>
                </a:lnTo>
                <a:lnTo>
                  <a:pt x="182" y="32"/>
                </a:lnTo>
                <a:lnTo>
                  <a:pt x="180" y="25"/>
                </a:lnTo>
                <a:lnTo>
                  <a:pt x="178" y="20"/>
                </a:lnTo>
                <a:lnTo>
                  <a:pt x="175" y="15"/>
                </a:lnTo>
                <a:lnTo>
                  <a:pt x="173" y="10"/>
                </a:lnTo>
                <a:lnTo>
                  <a:pt x="170" y="5"/>
                </a:lnTo>
                <a:lnTo>
                  <a:pt x="167" y="0"/>
                </a:lnTo>
                <a:lnTo>
                  <a:pt x="164" y="2"/>
                </a:lnTo>
                <a:lnTo>
                  <a:pt x="167" y="7"/>
                </a:lnTo>
                <a:lnTo>
                  <a:pt x="170" y="12"/>
                </a:lnTo>
                <a:lnTo>
                  <a:pt x="172" y="17"/>
                </a:lnTo>
                <a:lnTo>
                  <a:pt x="175" y="22"/>
                </a:lnTo>
                <a:lnTo>
                  <a:pt x="177" y="27"/>
                </a:lnTo>
                <a:lnTo>
                  <a:pt x="178" y="32"/>
                </a:lnTo>
                <a:lnTo>
                  <a:pt x="180" y="38"/>
                </a:lnTo>
                <a:lnTo>
                  <a:pt x="182" y="43"/>
                </a:lnTo>
                <a:lnTo>
                  <a:pt x="185" y="41"/>
                </a:lnTo>
                <a:close/>
                <a:moveTo>
                  <a:pt x="0" y="76"/>
                </a:moveTo>
                <a:lnTo>
                  <a:pt x="1" y="81"/>
                </a:lnTo>
                <a:lnTo>
                  <a:pt x="3" y="88"/>
                </a:lnTo>
                <a:lnTo>
                  <a:pt x="5" y="93"/>
                </a:lnTo>
                <a:lnTo>
                  <a:pt x="6" y="98"/>
                </a:lnTo>
                <a:lnTo>
                  <a:pt x="10" y="103"/>
                </a:lnTo>
                <a:lnTo>
                  <a:pt x="11" y="108"/>
                </a:lnTo>
                <a:lnTo>
                  <a:pt x="14" y="113"/>
                </a:lnTo>
                <a:lnTo>
                  <a:pt x="18" y="118"/>
                </a:lnTo>
                <a:lnTo>
                  <a:pt x="21" y="116"/>
                </a:lnTo>
                <a:lnTo>
                  <a:pt x="18" y="111"/>
                </a:lnTo>
                <a:lnTo>
                  <a:pt x="14" y="106"/>
                </a:lnTo>
                <a:lnTo>
                  <a:pt x="11" y="101"/>
                </a:lnTo>
                <a:lnTo>
                  <a:pt x="10" y="96"/>
                </a:lnTo>
                <a:lnTo>
                  <a:pt x="6" y="91"/>
                </a:lnTo>
                <a:lnTo>
                  <a:pt x="5" y="86"/>
                </a:lnTo>
                <a:lnTo>
                  <a:pt x="3" y="81"/>
                </a:lnTo>
                <a:lnTo>
                  <a:pt x="3" y="75"/>
                </a:lnTo>
                <a:lnTo>
                  <a:pt x="0" y="76"/>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51" name="Freeform 1956">
            <a:extLst>
              <a:ext uri="{FF2B5EF4-FFF2-40B4-BE49-F238E27FC236}">
                <a16:creationId xmlns:a16="http://schemas.microsoft.com/office/drawing/2014/main" id="{6A2FD30D-EFCD-FB4C-6983-3F711BF1C67B}"/>
              </a:ext>
            </a:extLst>
          </p:cNvPr>
          <p:cNvSpPr>
            <a:spLocks noEditPoints="1"/>
          </p:cNvSpPr>
          <p:nvPr/>
        </p:nvSpPr>
        <p:spPr bwMode="auto">
          <a:xfrm>
            <a:off x="3375025" y="2511425"/>
            <a:ext cx="288925" cy="180975"/>
          </a:xfrm>
          <a:custGeom>
            <a:avLst/>
            <a:gdLst>
              <a:gd name="T0" fmla="*/ 182 w 182"/>
              <a:gd name="T1" fmla="*/ 41 h 114"/>
              <a:gd name="T2" fmla="*/ 181 w 182"/>
              <a:gd name="T3" fmla="*/ 34 h 114"/>
              <a:gd name="T4" fmla="*/ 179 w 182"/>
              <a:gd name="T5" fmla="*/ 30 h 114"/>
              <a:gd name="T6" fmla="*/ 177 w 182"/>
              <a:gd name="T7" fmla="*/ 25 h 114"/>
              <a:gd name="T8" fmla="*/ 176 w 182"/>
              <a:gd name="T9" fmla="*/ 18 h 114"/>
              <a:gd name="T10" fmla="*/ 172 w 182"/>
              <a:gd name="T11" fmla="*/ 13 h 114"/>
              <a:gd name="T12" fmla="*/ 171 w 182"/>
              <a:gd name="T13" fmla="*/ 8 h 114"/>
              <a:gd name="T14" fmla="*/ 167 w 182"/>
              <a:gd name="T15" fmla="*/ 3 h 114"/>
              <a:gd name="T16" fmla="*/ 164 w 182"/>
              <a:gd name="T17" fmla="*/ 0 h 114"/>
              <a:gd name="T18" fmla="*/ 161 w 182"/>
              <a:gd name="T19" fmla="*/ 0 h 114"/>
              <a:gd name="T20" fmla="*/ 164 w 182"/>
              <a:gd name="T21" fmla="*/ 5 h 114"/>
              <a:gd name="T22" fmla="*/ 167 w 182"/>
              <a:gd name="T23" fmla="*/ 10 h 114"/>
              <a:gd name="T24" fmla="*/ 169 w 182"/>
              <a:gd name="T25" fmla="*/ 15 h 114"/>
              <a:gd name="T26" fmla="*/ 172 w 182"/>
              <a:gd name="T27" fmla="*/ 20 h 114"/>
              <a:gd name="T28" fmla="*/ 174 w 182"/>
              <a:gd name="T29" fmla="*/ 25 h 114"/>
              <a:gd name="T30" fmla="*/ 176 w 182"/>
              <a:gd name="T31" fmla="*/ 31 h 114"/>
              <a:gd name="T32" fmla="*/ 177 w 182"/>
              <a:gd name="T33" fmla="*/ 36 h 114"/>
              <a:gd name="T34" fmla="*/ 179 w 182"/>
              <a:gd name="T35" fmla="*/ 43 h 114"/>
              <a:gd name="T36" fmla="*/ 182 w 182"/>
              <a:gd name="T37" fmla="*/ 41 h 114"/>
              <a:gd name="T38" fmla="*/ 0 w 182"/>
              <a:gd name="T39" fmla="*/ 73 h 114"/>
              <a:gd name="T40" fmla="*/ 0 w 182"/>
              <a:gd name="T41" fmla="*/ 79 h 114"/>
              <a:gd name="T42" fmla="*/ 2 w 182"/>
              <a:gd name="T43" fmla="*/ 84 h 114"/>
              <a:gd name="T44" fmla="*/ 5 w 182"/>
              <a:gd name="T45" fmla="*/ 91 h 114"/>
              <a:gd name="T46" fmla="*/ 7 w 182"/>
              <a:gd name="T47" fmla="*/ 96 h 114"/>
              <a:gd name="T48" fmla="*/ 9 w 182"/>
              <a:gd name="T49" fmla="*/ 101 h 114"/>
              <a:gd name="T50" fmla="*/ 12 w 182"/>
              <a:gd name="T51" fmla="*/ 106 h 114"/>
              <a:gd name="T52" fmla="*/ 15 w 182"/>
              <a:gd name="T53" fmla="*/ 111 h 114"/>
              <a:gd name="T54" fmla="*/ 18 w 182"/>
              <a:gd name="T55" fmla="*/ 114 h 114"/>
              <a:gd name="T56" fmla="*/ 22 w 182"/>
              <a:gd name="T57" fmla="*/ 112 h 114"/>
              <a:gd name="T58" fmla="*/ 18 w 182"/>
              <a:gd name="T59" fmla="*/ 109 h 114"/>
              <a:gd name="T60" fmla="*/ 15 w 182"/>
              <a:gd name="T61" fmla="*/ 104 h 114"/>
              <a:gd name="T62" fmla="*/ 12 w 182"/>
              <a:gd name="T63" fmla="*/ 99 h 114"/>
              <a:gd name="T64" fmla="*/ 10 w 182"/>
              <a:gd name="T65" fmla="*/ 94 h 114"/>
              <a:gd name="T66" fmla="*/ 7 w 182"/>
              <a:gd name="T67" fmla="*/ 89 h 114"/>
              <a:gd name="T68" fmla="*/ 5 w 182"/>
              <a:gd name="T69" fmla="*/ 83 h 114"/>
              <a:gd name="T70" fmla="*/ 4 w 182"/>
              <a:gd name="T71" fmla="*/ 78 h 114"/>
              <a:gd name="T72" fmla="*/ 4 w 182"/>
              <a:gd name="T73" fmla="*/ 73 h 114"/>
              <a:gd name="T74" fmla="*/ 0 w 182"/>
              <a:gd name="T75" fmla="*/ 73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82" h="114">
                <a:moveTo>
                  <a:pt x="182" y="41"/>
                </a:moveTo>
                <a:lnTo>
                  <a:pt x="181" y="34"/>
                </a:lnTo>
                <a:lnTo>
                  <a:pt x="179" y="30"/>
                </a:lnTo>
                <a:lnTo>
                  <a:pt x="177" y="25"/>
                </a:lnTo>
                <a:lnTo>
                  <a:pt x="176" y="18"/>
                </a:lnTo>
                <a:lnTo>
                  <a:pt x="172" y="13"/>
                </a:lnTo>
                <a:lnTo>
                  <a:pt x="171" y="8"/>
                </a:lnTo>
                <a:lnTo>
                  <a:pt x="167" y="3"/>
                </a:lnTo>
                <a:lnTo>
                  <a:pt x="164" y="0"/>
                </a:lnTo>
                <a:lnTo>
                  <a:pt x="161" y="0"/>
                </a:lnTo>
                <a:lnTo>
                  <a:pt x="164" y="5"/>
                </a:lnTo>
                <a:lnTo>
                  <a:pt x="167" y="10"/>
                </a:lnTo>
                <a:lnTo>
                  <a:pt x="169" y="15"/>
                </a:lnTo>
                <a:lnTo>
                  <a:pt x="172" y="20"/>
                </a:lnTo>
                <a:lnTo>
                  <a:pt x="174" y="25"/>
                </a:lnTo>
                <a:lnTo>
                  <a:pt x="176" y="31"/>
                </a:lnTo>
                <a:lnTo>
                  <a:pt x="177" y="36"/>
                </a:lnTo>
                <a:lnTo>
                  <a:pt x="179" y="43"/>
                </a:lnTo>
                <a:lnTo>
                  <a:pt x="182" y="41"/>
                </a:lnTo>
                <a:close/>
                <a:moveTo>
                  <a:pt x="0" y="73"/>
                </a:moveTo>
                <a:lnTo>
                  <a:pt x="0" y="79"/>
                </a:lnTo>
                <a:lnTo>
                  <a:pt x="2" y="84"/>
                </a:lnTo>
                <a:lnTo>
                  <a:pt x="5" y="91"/>
                </a:lnTo>
                <a:lnTo>
                  <a:pt x="7" y="96"/>
                </a:lnTo>
                <a:lnTo>
                  <a:pt x="9" y="101"/>
                </a:lnTo>
                <a:lnTo>
                  <a:pt x="12" y="106"/>
                </a:lnTo>
                <a:lnTo>
                  <a:pt x="15" y="111"/>
                </a:lnTo>
                <a:lnTo>
                  <a:pt x="18" y="114"/>
                </a:lnTo>
                <a:lnTo>
                  <a:pt x="22" y="112"/>
                </a:lnTo>
                <a:lnTo>
                  <a:pt x="18" y="109"/>
                </a:lnTo>
                <a:lnTo>
                  <a:pt x="15" y="104"/>
                </a:lnTo>
                <a:lnTo>
                  <a:pt x="12" y="99"/>
                </a:lnTo>
                <a:lnTo>
                  <a:pt x="10" y="94"/>
                </a:lnTo>
                <a:lnTo>
                  <a:pt x="7" y="89"/>
                </a:lnTo>
                <a:lnTo>
                  <a:pt x="5" y="83"/>
                </a:lnTo>
                <a:lnTo>
                  <a:pt x="4" y="78"/>
                </a:lnTo>
                <a:lnTo>
                  <a:pt x="4" y="73"/>
                </a:lnTo>
                <a:lnTo>
                  <a:pt x="0" y="73"/>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52" name="Freeform 1957">
            <a:extLst>
              <a:ext uri="{FF2B5EF4-FFF2-40B4-BE49-F238E27FC236}">
                <a16:creationId xmlns:a16="http://schemas.microsoft.com/office/drawing/2014/main" id="{D361910B-71A3-E6B3-4A30-566EEEDA49F0}"/>
              </a:ext>
            </a:extLst>
          </p:cNvPr>
          <p:cNvSpPr>
            <a:spLocks noEditPoints="1"/>
          </p:cNvSpPr>
          <p:nvPr/>
        </p:nvSpPr>
        <p:spPr bwMode="auto">
          <a:xfrm>
            <a:off x="3378200" y="2511425"/>
            <a:ext cx="284163" cy="180975"/>
          </a:xfrm>
          <a:custGeom>
            <a:avLst/>
            <a:gdLst>
              <a:gd name="T0" fmla="*/ 179 w 179"/>
              <a:gd name="T1" fmla="*/ 41 h 114"/>
              <a:gd name="T2" fmla="*/ 177 w 179"/>
              <a:gd name="T3" fmla="*/ 36 h 114"/>
              <a:gd name="T4" fmla="*/ 175 w 179"/>
              <a:gd name="T5" fmla="*/ 30 h 114"/>
              <a:gd name="T6" fmla="*/ 174 w 179"/>
              <a:gd name="T7" fmla="*/ 25 h 114"/>
              <a:gd name="T8" fmla="*/ 172 w 179"/>
              <a:gd name="T9" fmla="*/ 20 h 114"/>
              <a:gd name="T10" fmla="*/ 169 w 179"/>
              <a:gd name="T11" fmla="*/ 15 h 114"/>
              <a:gd name="T12" fmla="*/ 167 w 179"/>
              <a:gd name="T13" fmla="*/ 10 h 114"/>
              <a:gd name="T14" fmla="*/ 164 w 179"/>
              <a:gd name="T15" fmla="*/ 5 h 114"/>
              <a:gd name="T16" fmla="*/ 161 w 179"/>
              <a:gd name="T17" fmla="*/ 0 h 114"/>
              <a:gd name="T18" fmla="*/ 157 w 179"/>
              <a:gd name="T19" fmla="*/ 1 h 114"/>
              <a:gd name="T20" fmla="*/ 161 w 179"/>
              <a:gd name="T21" fmla="*/ 6 h 114"/>
              <a:gd name="T22" fmla="*/ 164 w 179"/>
              <a:gd name="T23" fmla="*/ 10 h 114"/>
              <a:gd name="T24" fmla="*/ 167 w 179"/>
              <a:gd name="T25" fmla="*/ 15 h 114"/>
              <a:gd name="T26" fmla="*/ 169 w 179"/>
              <a:gd name="T27" fmla="*/ 21 h 114"/>
              <a:gd name="T28" fmla="*/ 170 w 179"/>
              <a:gd name="T29" fmla="*/ 26 h 114"/>
              <a:gd name="T30" fmla="*/ 174 w 179"/>
              <a:gd name="T31" fmla="*/ 31 h 114"/>
              <a:gd name="T32" fmla="*/ 174 w 179"/>
              <a:gd name="T33" fmla="*/ 38 h 114"/>
              <a:gd name="T34" fmla="*/ 175 w 179"/>
              <a:gd name="T35" fmla="*/ 43 h 114"/>
              <a:gd name="T36" fmla="*/ 179 w 179"/>
              <a:gd name="T37" fmla="*/ 41 h 114"/>
              <a:gd name="T38" fmla="*/ 0 w 179"/>
              <a:gd name="T39" fmla="*/ 73 h 114"/>
              <a:gd name="T40" fmla="*/ 0 w 179"/>
              <a:gd name="T41" fmla="*/ 79 h 114"/>
              <a:gd name="T42" fmla="*/ 2 w 179"/>
              <a:gd name="T43" fmla="*/ 84 h 114"/>
              <a:gd name="T44" fmla="*/ 3 w 179"/>
              <a:gd name="T45" fmla="*/ 89 h 114"/>
              <a:gd name="T46" fmla="*/ 7 w 179"/>
              <a:gd name="T47" fmla="*/ 94 h 114"/>
              <a:gd name="T48" fmla="*/ 8 w 179"/>
              <a:gd name="T49" fmla="*/ 99 h 114"/>
              <a:gd name="T50" fmla="*/ 11 w 179"/>
              <a:gd name="T51" fmla="*/ 104 h 114"/>
              <a:gd name="T52" fmla="*/ 15 w 179"/>
              <a:gd name="T53" fmla="*/ 109 h 114"/>
              <a:gd name="T54" fmla="*/ 18 w 179"/>
              <a:gd name="T55" fmla="*/ 114 h 114"/>
              <a:gd name="T56" fmla="*/ 21 w 179"/>
              <a:gd name="T57" fmla="*/ 112 h 114"/>
              <a:gd name="T58" fmla="*/ 18 w 179"/>
              <a:gd name="T59" fmla="*/ 107 h 114"/>
              <a:gd name="T60" fmla="*/ 15 w 179"/>
              <a:gd name="T61" fmla="*/ 102 h 114"/>
              <a:gd name="T62" fmla="*/ 11 w 179"/>
              <a:gd name="T63" fmla="*/ 99 h 114"/>
              <a:gd name="T64" fmla="*/ 10 w 179"/>
              <a:gd name="T65" fmla="*/ 92 h 114"/>
              <a:gd name="T66" fmla="*/ 7 w 179"/>
              <a:gd name="T67" fmla="*/ 87 h 114"/>
              <a:gd name="T68" fmla="*/ 5 w 179"/>
              <a:gd name="T69" fmla="*/ 83 h 114"/>
              <a:gd name="T70" fmla="*/ 3 w 179"/>
              <a:gd name="T71" fmla="*/ 78 h 114"/>
              <a:gd name="T72" fmla="*/ 3 w 179"/>
              <a:gd name="T73" fmla="*/ 71 h 114"/>
              <a:gd name="T74" fmla="*/ 0 w 179"/>
              <a:gd name="T75" fmla="*/ 73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79" h="114">
                <a:moveTo>
                  <a:pt x="179" y="41"/>
                </a:moveTo>
                <a:lnTo>
                  <a:pt x="177" y="36"/>
                </a:lnTo>
                <a:lnTo>
                  <a:pt x="175" y="30"/>
                </a:lnTo>
                <a:lnTo>
                  <a:pt x="174" y="25"/>
                </a:lnTo>
                <a:lnTo>
                  <a:pt x="172" y="20"/>
                </a:lnTo>
                <a:lnTo>
                  <a:pt x="169" y="15"/>
                </a:lnTo>
                <a:lnTo>
                  <a:pt x="167" y="10"/>
                </a:lnTo>
                <a:lnTo>
                  <a:pt x="164" y="5"/>
                </a:lnTo>
                <a:lnTo>
                  <a:pt x="161" y="0"/>
                </a:lnTo>
                <a:lnTo>
                  <a:pt x="157" y="1"/>
                </a:lnTo>
                <a:lnTo>
                  <a:pt x="161" y="6"/>
                </a:lnTo>
                <a:lnTo>
                  <a:pt x="164" y="10"/>
                </a:lnTo>
                <a:lnTo>
                  <a:pt x="167" y="15"/>
                </a:lnTo>
                <a:lnTo>
                  <a:pt x="169" y="21"/>
                </a:lnTo>
                <a:lnTo>
                  <a:pt x="170" y="26"/>
                </a:lnTo>
                <a:lnTo>
                  <a:pt x="174" y="31"/>
                </a:lnTo>
                <a:lnTo>
                  <a:pt x="174" y="38"/>
                </a:lnTo>
                <a:lnTo>
                  <a:pt x="175" y="43"/>
                </a:lnTo>
                <a:lnTo>
                  <a:pt x="179" y="41"/>
                </a:lnTo>
                <a:close/>
                <a:moveTo>
                  <a:pt x="0" y="73"/>
                </a:moveTo>
                <a:lnTo>
                  <a:pt x="0" y="79"/>
                </a:lnTo>
                <a:lnTo>
                  <a:pt x="2" y="84"/>
                </a:lnTo>
                <a:lnTo>
                  <a:pt x="3" y="89"/>
                </a:lnTo>
                <a:lnTo>
                  <a:pt x="7" y="94"/>
                </a:lnTo>
                <a:lnTo>
                  <a:pt x="8" y="99"/>
                </a:lnTo>
                <a:lnTo>
                  <a:pt x="11" y="104"/>
                </a:lnTo>
                <a:lnTo>
                  <a:pt x="15" y="109"/>
                </a:lnTo>
                <a:lnTo>
                  <a:pt x="18" y="114"/>
                </a:lnTo>
                <a:lnTo>
                  <a:pt x="21" y="112"/>
                </a:lnTo>
                <a:lnTo>
                  <a:pt x="18" y="107"/>
                </a:lnTo>
                <a:lnTo>
                  <a:pt x="15" y="102"/>
                </a:lnTo>
                <a:lnTo>
                  <a:pt x="11" y="99"/>
                </a:lnTo>
                <a:lnTo>
                  <a:pt x="10" y="92"/>
                </a:lnTo>
                <a:lnTo>
                  <a:pt x="7" y="87"/>
                </a:lnTo>
                <a:lnTo>
                  <a:pt x="5" y="83"/>
                </a:lnTo>
                <a:lnTo>
                  <a:pt x="3" y="78"/>
                </a:lnTo>
                <a:lnTo>
                  <a:pt x="3" y="71"/>
                </a:lnTo>
                <a:lnTo>
                  <a:pt x="0" y="73"/>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53" name="Freeform 1958">
            <a:extLst>
              <a:ext uri="{FF2B5EF4-FFF2-40B4-BE49-F238E27FC236}">
                <a16:creationId xmlns:a16="http://schemas.microsoft.com/office/drawing/2014/main" id="{C4DE63E6-392B-1C54-A42E-5975FBE7F099}"/>
              </a:ext>
            </a:extLst>
          </p:cNvPr>
          <p:cNvSpPr>
            <a:spLocks noEditPoints="1"/>
          </p:cNvSpPr>
          <p:nvPr/>
        </p:nvSpPr>
        <p:spPr bwMode="auto">
          <a:xfrm>
            <a:off x="3381375" y="2511425"/>
            <a:ext cx="277813" cy="177800"/>
          </a:xfrm>
          <a:custGeom>
            <a:avLst/>
            <a:gdLst>
              <a:gd name="T0" fmla="*/ 175 w 175"/>
              <a:gd name="T1" fmla="*/ 43 h 112"/>
              <a:gd name="T2" fmla="*/ 173 w 175"/>
              <a:gd name="T3" fmla="*/ 36 h 112"/>
              <a:gd name="T4" fmla="*/ 172 w 175"/>
              <a:gd name="T5" fmla="*/ 31 h 112"/>
              <a:gd name="T6" fmla="*/ 170 w 175"/>
              <a:gd name="T7" fmla="*/ 25 h 112"/>
              <a:gd name="T8" fmla="*/ 168 w 175"/>
              <a:gd name="T9" fmla="*/ 20 h 112"/>
              <a:gd name="T10" fmla="*/ 165 w 175"/>
              <a:gd name="T11" fmla="*/ 15 h 112"/>
              <a:gd name="T12" fmla="*/ 163 w 175"/>
              <a:gd name="T13" fmla="*/ 10 h 112"/>
              <a:gd name="T14" fmla="*/ 160 w 175"/>
              <a:gd name="T15" fmla="*/ 5 h 112"/>
              <a:gd name="T16" fmla="*/ 157 w 175"/>
              <a:gd name="T17" fmla="*/ 0 h 112"/>
              <a:gd name="T18" fmla="*/ 154 w 175"/>
              <a:gd name="T19" fmla="*/ 1 h 112"/>
              <a:gd name="T20" fmla="*/ 157 w 175"/>
              <a:gd name="T21" fmla="*/ 6 h 112"/>
              <a:gd name="T22" fmla="*/ 160 w 175"/>
              <a:gd name="T23" fmla="*/ 11 h 112"/>
              <a:gd name="T24" fmla="*/ 163 w 175"/>
              <a:gd name="T25" fmla="*/ 16 h 112"/>
              <a:gd name="T26" fmla="*/ 165 w 175"/>
              <a:gd name="T27" fmla="*/ 21 h 112"/>
              <a:gd name="T28" fmla="*/ 167 w 175"/>
              <a:gd name="T29" fmla="*/ 26 h 112"/>
              <a:gd name="T30" fmla="*/ 170 w 175"/>
              <a:gd name="T31" fmla="*/ 33 h 112"/>
              <a:gd name="T32" fmla="*/ 170 w 175"/>
              <a:gd name="T33" fmla="*/ 38 h 112"/>
              <a:gd name="T34" fmla="*/ 172 w 175"/>
              <a:gd name="T35" fmla="*/ 44 h 112"/>
              <a:gd name="T36" fmla="*/ 175 w 175"/>
              <a:gd name="T37" fmla="*/ 43 h 112"/>
              <a:gd name="T38" fmla="*/ 0 w 175"/>
              <a:gd name="T39" fmla="*/ 73 h 112"/>
              <a:gd name="T40" fmla="*/ 0 w 175"/>
              <a:gd name="T41" fmla="*/ 78 h 112"/>
              <a:gd name="T42" fmla="*/ 1 w 175"/>
              <a:gd name="T43" fmla="*/ 83 h 112"/>
              <a:gd name="T44" fmla="*/ 3 w 175"/>
              <a:gd name="T45" fmla="*/ 89 h 112"/>
              <a:gd name="T46" fmla="*/ 6 w 175"/>
              <a:gd name="T47" fmla="*/ 94 h 112"/>
              <a:gd name="T48" fmla="*/ 8 w 175"/>
              <a:gd name="T49" fmla="*/ 99 h 112"/>
              <a:gd name="T50" fmla="*/ 11 w 175"/>
              <a:gd name="T51" fmla="*/ 104 h 112"/>
              <a:gd name="T52" fmla="*/ 14 w 175"/>
              <a:gd name="T53" fmla="*/ 109 h 112"/>
              <a:gd name="T54" fmla="*/ 18 w 175"/>
              <a:gd name="T55" fmla="*/ 112 h 112"/>
              <a:gd name="T56" fmla="*/ 21 w 175"/>
              <a:gd name="T57" fmla="*/ 112 h 112"/>
              <a:gd name="T58" fmla="*/ 18 w 175"/>
              <a:gd name="T59" fmla="*/ 107 h 112"/>
              <a:gd name="T60" fmla="*/ 14 w 175"/>
              <a:gd name="T61" fmla="*/ 102 h 112"/>
              <a:gd name="T62" fmla="*/ 11 w 175"/>
              <a:gd name="T63" fmla="*/ 97 h 112"/>
              <a:gd name="T64" fmla="*/ 9 w 175"/>
              <a:gd name="T65" fmla="*/ 92 h 112"/>
              <a:gd name="T66" fmla="*/ 6 w 175"/>
              <a:gd name="T67" fmla="*/ 87 h 112"/>
              <a:gd name="T68" fmla="*/ 5 w 175"/>
              <a:gd name="T69" fmla="*/ 83 h 112"/>
              <a:gd name="T70" fmla="*/ 3 w 175"/>
              <a:gd name="T71" fmla="*/ 76 h 112"/>
              <a:gd name="T72" fmla="*/ 1 w 175"/>
              <a:gd name="T73" fmla="*/ 71 h 112"/>
              <a:gd name="T74" fmla="*/ 0 w 175"/>
              <a:gd name="T75"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75" h="112">
                <a:moveTo>
                  <a:pt x="175" y="43"/>
                </a:moveTo>
                <a:lnTo>
                  <a:pt x="173" y="36"/>
                </a:lnTo>
                <a:lnTo>
                  <a:pt x="172" y="31"/>
                </a:lnTo>
                <a:lnTo>
                  <a:pt x="170" y="25"/>
                </a:lnTo>
                <a:lnTo>
                  <a:pt x="168" y="20"/>
                </a:lnTo>
                <a:lnTo>
                  <a:pt x="165" y="15"/>
                </a:lnTo>
                <a:lnTo>
                  <a:pt x="163" y="10"/>
                </a:lnTo>
                <a:lnTo>
                  <a:pt x="160" y="5"/>
                </a:lnTo>
                <a:lnTo>
                  <a:pt x="157" y="0"/>
                </a:lnTo>
                <a:lnTo>
                  <a:pt x="154" y="1"/>
                </a:lnTo>
                <a:lnTo>
                  <a:pt x="157" y="6"/>
                </a:lnTo>
                <a:lnTo>
                  <a:pt x="160" y="11"/>
                </a:lnTo>
                <a:lnTo>
                  <a:pt x="163" y="16"/>
                </a:lnTo>
                <a:lnTo>
                  <a:pt x="165" y="21"/>
                </a:lnTo>
                <a:lnTo>
                  <a:pt x="167" y="26"/>
                </a:lnTo>
                <a:lnTo>
                  <a:pt x="170" y="33"/>
                </a:lnTo>
                <a:lnTo>
                  <a:pt x="170" y="38"/>
                </a:lnTo>
                <a:lnTo>
                  <a:pt x="172" y="44"/>
                </a:lnTo>
                <a:lnTo>
                  <a:pt x="175" y="43"/>
                </a:lnTo>
                <a:close/>
                <a:moveTo>
                  <a:pt x="0" y="73"/>
                </a:moveTo>
                <a:lnTo>
                  <a:pt x="0" y="78"/>
                </a:lnTo>
                <a:lnTo>
                  <a:pt x="1" y="83"/>
                </a:lnTo>
                <a:lnTo>
                  <a:pt x="3" y="89"/>
                </a:lnTo>
                <a:lnTo>
                  <a:pt x="6" y="94"/>
                </a:lnTo>
                <a:lnTo>
                  <a:pt x="8" y="99"/>
                </a:lnTo>
                <a:lnTo>
                  <a:pt x="11" y="104"/>
                </a:lnTo>
                <a:lnTo>
                  <a:pt x="14" y="109"/>
                </a:lnTo>
                <a:lnTo>
                  <a:pt x="18" y="112"/>
                </a:lnTo>
                <a:lnTo>
                  <a:pt x="21" y="112"/>
                </a:lnTo>
                <a:lnTo>
                  <a:pt x="18" y="107"/>
                </a:lnTo>
                <a:lnTo>
                  <a:pt x="14" y="102"/>
                </a:lnTo>
                <a:lnTo>
                  <a:pt x="11" y="97"/>
                </a:lnTo>
                <a:lnTo>
                  <a:pt x="9" y="92"/>
                </a:lnTo>
                <a:lnTo>
                  <a:pt x="6" y="87"/>
                </a:lnTo>
                <a:lnTo>
                  <a:pt x="5" y="83"/>
                </a:lnTo>
                <a:lnTo>
                  <a:pt x="3" y="76"/>
                </a:lnTo>
                <a:lnTo>
                  <a:pt x="1" y="71"/>
                </a:lnTo>
                <a:lnTo>
                  <a:pt x="0" y="73"/>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54" name="Freeform 1959">
            <a:extLst>
              <a:ext uri="{FF2B5EF4-FFF2-40B4-BE49-F238E27FC236}">
                <a16:creationId xmlns:a16="http://schemas.microsoft.com/office/drawing/2014/main" id="{EF597046-4A76-DB4C-CEE0-508C34477FB4}"/>
              </a:ext>
            </a:extLst>
          </p:cNvPr>
          <p:cNvSpPr>
            <a:spLocks noEditPoints="1"/>
          </p:cNvSpPr>
          <p:nvPr/>
        </p:nvSpPr>
        <p:spPr bwMode="auto">
          <a:xfrm>
            <a:off x="3382963" y="2513013"/>
            <a:ext cx="273050" cy="176213"/>
          </a:xfrm>
          <a:custGeom>
            <a:avLst/>
            <a:gdLst>
              <a:gd name="T0" fmla="*/ 172 w 172"/>
              <a:gd name="T1" fmla="*/ 42 h 111"/>
              <a:gd name="T2" fmla="*/ 171 w 172"/>
              <a:gd name="T3" fmla="*/ 37 h 111"/>
              <a:gd name="T4" fmla="*/ 171 w 172"/>
              <a:gd name="T5" fmla="*/ 30 h 111"/>
              <a:gd name="T6" fmla="*/ 167 w 172"/>
              <a:gd name="T7" fmla="*/ 25 h 111"/>
              <a:gd name="T8" fmla="*/ 166 w 172"/>
              <a:gd name="T9" fmla="*/ 20 h 111"/>
              <a:gd name="T10" fmla="*/ 164 w 172"/>
              <a:gd name="T11" fmla="*/ 14 h 111"/>
              <a:gd name="T12" fmla="*/ 161 w 172"/>
              <a:gd name="T13" fmla="*/ 9 h 111"/>
              <a:gd name="T14" fmla="*/ 158 w 172"/>
              <a:gd name="T15" fmla="*/ 5 h 111"/>
              <a:gd name="T16" fmla="*/ 154 w 172"/>
              <a:gd name="T17" fmla="*/ 0 h 111"/>
              <a:gd name="T18" fmla="*/ 151 w 172"/>
              <a:gd name="T19" fmla="*/ 2 h 111"/>
              <a:gd name="T20" fmla="*/ 154 w 172"/>
              <a:gd name="T21" fmla="*/ 5 h 111"/>
              <a:gd name="T22" fmla="*/ 158 w 172"/>
              <a:gd name="T23" fmla="*/ 10 h 111"/>
              <a:gd name="T24" fmla="*/ 161 w 172"/>
              <a:gd name="T25" fmla="*/ 15 h 111"/>
              <a:gd name="T26" fmla="*/ 162 w 172"/>
              <a:gd name="T27" fmla="*/ 20 h 111"/>
              <a:gd name="T28" fmla="*/ 166 w 172"/>
              <a:gd name="T29" fmla="*/ 27 h 111"/>
              <a:gd name="T30" fmla="*/ 167 w 172"/>
              <a:gd name="T31" fmla="*/ 32 h 111"/>
              <a:gd name="T32" fmla="*/ 169 w 172"/>
              <a:gd name="T33" fmla="*/ 37 h 111"/>
              <a:gd name="T34" fmla="*/ 169 w 172"/>
              <a:gd name="T35" fmla="*/ 43 h 111"/>
              <a:gd name="T36" fmla="*/ 172 w 172"/>
              <a:gd name="T37" fmla="*/ 42 h 111"/>
              <a:gd name="T38" fmla="*/ 0 w 172"/>
              <a:gd name="T39" fmla="*/ 70 h 111"/>
              <a:gd name="T40" fmla="*/ 0 w 172"/>
              <a:gd name="T41" fmla="*/ 77 h 111"/>
              <a:gd name="T42" fmla="*/ 2 w 172"/>
              <a:gd name="T43" fmla="*/ 82 h 111"/>
              <a:gd name="T44" fmla="*/ 4 w 172"/>
              <a:gd name="T45" fmla="*/ 86 h 111"/>
              <a:gd name="T46" fmla="*/ 7 w 172"/>
              <a:gd name="T47" fmla="*/ 91 h 111"/>
              <a:gd name="T48" fmla="*/ 8 w 172"/>
              <a:gd name="T49" fmla="*/ 98 h 111"/>
              <a:gd name="T50" fmla="*/ 12 w 172"/>
              <a:gd name="T51" fmla="*/ 101 h 111"/>
              <a:gd name="T52" fmla="*/ 15 w 172"/>
              <a:gd name="T53" fmla="*/ 106 h 111"/>
              <a:gd name="T54" fmla="*/ 18 w 172"/>
              <a:gd name="T55" fmla="*/ 111 h 111"/>
              <a:gd name="T56" fmla="*/ 22 w 172"/>
              <a:gd name="T57" fmla="*/ 110 h 111"/>
              <a:gd name="T58" fmla="*/ 18 w 172"/>
              <a:gd name="T59" fmla="*/ 105 h 111"/>
              <a:gd name="T60" fmla="*/ 15 w 172"/>
              <a:gd name="T61" fmla="*/ 101 h 111"/>
              <a:gd name="T62" fmla="*/ 12 w 172"/>
              <a:gd name="T63" fmla="*/ 96 h 111"/>
              <a:gd name="T64" fmla="*/ 8 w 172"/>
              <a:gd name="T65" fmla="*/ 91 h 111"/>
              <a:gd name="T66" fmla="*/ 7 w 172"/>
              <a:gd name="T67" fmla="*/ 85 h 111"/>
              <a:gd name="T68" fmla="*/ 5 w 172"/>
              <a:gd name="T69" fmla="*/ 80 h 111"/>
              <a:gd name="T70" fmla="*/ 4 w 172"/>
              <a:gd name="T71" fmla="*/ 75 h 111"/>
              <a:gd name="T72" fmla="*/ 2 w 172"/>
              <a:gd name="T73" fmla="*/ 68 h 111"/>
              <a:gd name="T74" fmla="*/ 0 w 172"/>
              <a:gd name="T75" fmla="*/ 70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72" h="111">
                <a:moveTo>
                  <a:pt x="172" y="42"/>
                </a:moveTo>
                <a:lnTo>
                  <a:pt x="171" y="37"/>
                </a:lnTo>
                <a:lnTo>
                  <a:pt x="171" y="30"/>
                </a:lnTo>
                <a:lnTo>
                  <a:pt x="167" y="25"/>
                </a:lnTo>
                <a:lnTo>
                  <a:pt x="166" y="20"/>
                </a:lnTo>
                <a:lnTo>
                  <a:pt x="164" y="14"/>
                </a:lnTo>
                <a:lnTo>
                  <a:pt x="161" y="9"/>
                </a:lnTo>
                <a:lnTo>
                  <a:pt x="158" y="5"/>
                </a:lnTo>
                <a:lnTo>
                  <a:pt x="154" y="0"/>
                </a:lnTo>
                <a:lnTo>
                  <a:pt x="151" y="2"/>
                </a:lnTo>
                <a:lnTo>
                  <a:pt x="154" y="5"/>
                </a:lnTo>
                <a:lnTo>
                  <a:pt x="158" y="10"/>
                </a:lnTo>
                <a:lnTo>
                  <a:pt x="161" y="15"/>
                </a:lnTo>
                <a:lnTo>
                  <a:pt x="162" y="20"/>
                </a:lnTo>
                <a:lnTo>
                  <a:pt x="166" y="27"/>
                </a:lnTo>
                <a:lnTo>
                  <a:pt x="167" y="32"/>
                </a:lnTo>
                <a:lnTo>
                  <a:pt x="169" y="37"/>
                </a:lnTo>
                <a:lnTo>
                  <a:pt x="169" y="43"/>
                </a:lnTo>
                <a:lnTo>
                  <a:pt x="172" y="42"/>
                </a:lnTo>
                <a:close/>
                <a:moveTo>
                  <a:pt x="0" y="70"/>
                </a:moveTo>
                <a:lnTo>
                  <a:pt x="0" y="77"/>
                </a:lnTo>
                <a:lnTo>
                  <a:pt x="2" y="82"/>
                </a:lnTo>
                <a:lnTo>
                  <a:pt x="4" y="86"/>
                </a:lnTo>
                <a:lnTo>
                  <a:pt x="7" y="91"/>
                </a:lnTo>
                <a:lnTo>
                  <a:pt x="8" y="98"/>
                </a:lnTo>
                <a:lnTo>
                  <a:pt x="12" y="101"/>
                </a:lnTo>
                <a:lnTo>
                  <a:pt x="15" y="106"/>
                </a:lnTo>
                <a:lnTo>
                  <a:pt x="18" y="111"/>
                </a:lnTo>
                <a:lnTo>
                  <a:pt x="22" y="110"/>
                </a:lnTo>
                <a:lnTo>
                  <a:pt x="18" y="105"/>
                </a:lnTo>
                <a:lnTo>
                  <a:pt x="15" y="101"/>
                </a:lnTo>
                <a:lnTo>
                  <a:pt x="12" y="96"/>
                </a:lnTo>
                <a:lnTo>
                  <a:pt x="8" y="91"/>
                </a:lnTo>
                <a:lnTo>
                  <a:pt x="7" y="85"/>
                </a:lnTo>
                <a:lnTo>
                  <a:pt x="5" y="80"/>
                </a:lnTo>
                <a:lnTo>
                  <a:pt x="4" y="75"/>
                </a:lnTo>
                <a:lnTo>
                  <a:pt x="2" y="68"/>
                </a:lnTo>
                <a:lnTo>
                  <a:pt x="0" y="7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55" name="Freeform 1960">
            <a:extLst>
              <a:ext uri="{FF2B5EF4-FFF2-40B4-BE49-F238E27FC236}">
                <a16:creationId xmlns:a16="http://schemas.microsoft.com/office/drawing/2014/main" id="{673D1FF6-0B69-5E03-63DC-4BD628E12E9F}"/>
              </a:ext>
            </a:extLst>
          </p:cNvPr>
          <p:cNvSpPr>
            <a:spLocks noEditPoints="1"/>
          </p:cNvSpPr>
          <p:nvPr/>
        </p:nvSpPr>
        <p:spPr bwMode="auto">
          <a:xfrm>
            <a:off x="3382963" y="2513013"/>
            <a:ext cx="271463" cy="176213"/>
          </a:xfrm>
          <a:custGeom>
            <a:avLst/>
            <a:gdLst>
              <a:gd name="T0" fmla="*/ 171 w 171"/>
              <a:gd name="T1" fmla="*/ 43 h 111"/>
              <a:gd name="T2" fmla="*/ 169 w 171"/>
              <a:gd name="T3" fmla="*/ 37 h 111"/>
              <a:gd name="T4" fmla="*/ 169 w 171"/>
              <a:gd name="T5" fmla="*/ 32 h 111"/>
              <a:gd name="T6" fmla="*/ 166 w 171"/>
              <a:gd name="T7" fmla="*/ 25 h 111"/>
              <a:gd name="T8" fmla="*/ 164 w 171"/>
              <a:gd name="T9" fmla="*/ 20 h 111"/>
              <a:gd name="T10" fmla="*/ 162 w 171"/>
              <a:gd name="T11" fmla="*/ 15 h 111"/>
              <a:gd name="T12" fmla="*/ 159 w 171"/>
              <a:gd name="T13" fmla="*/ 10 h 111"/>
              <a:gd name="T14" fmla="*/ 156 w 171"/>
              <a:gd name="T15" fmla="*/ 5 h 111"/>
              <a:gd name="T16" fmla="*/ 153 w 171"/>
              <a:gd name="T17" fmla="*/ 0 h 111"/>
              <a:gd name="T18" fmla="*/ 149 w 171"/>
              <a:gd name="T19" fmla="*/ 2 h 111"/>
              <a:gd name="T20" fmla="*/ 153 w 171"/>
              <a:gd name="T21" fmla="*/ 7 h 111"/>
              <a:gd name="T22" fmla="*/ 156 w 171"/>
              <a:gd name="T23" fmla="*/ 12 h 111"/>
              <a:gd name="T24" fmla="*/ 159 w 171"/>
              <a:gd name="T25" fmla="*/ 17 h 111"/>
              <a:gd name="T26" fmla="*/ 161 w 171"/>
              <a:gd name="T27" fmla="*/ 22 h 111"/>
              <a:gd name="T28" fmla="*/ 164 w 171"/>
              <a:gd name="T29" fmla="*/ 27 h 111"/>
              <a:gd name="T30" fmla="*/ 166 w 171"/>
              <a:gd name="T31" fmla="*/ 32 h 111"/>
              <a:gd name="T32" fmla="*/ 167 w 171"/>
              <a:gd name="T33" fmla="*/ 38 h 111"/>
              <a:gd name="T34" fmla="*/ 167 w 171"/>
              <a:gd name="T35" fmla="*/ 43 h 111"/>
              <a:gd name="T36" fmla="*/ 171 w 171"/>
              <a:gd name="T37" fmla="*/ 43 h 111"/>
              <a:gd name="T38" fmla="*/ 0 w 171"/>
              <a:gd name="T39" fmla="*/ 70 h 111"/>
              <a:gd name="T40" fmla="*/ 2 w 171"/>
              <a:gd name="T41" fmla="*/ 75 h 111"/>
              <a:gd name="T42" fmla="*/ 4 w 171"/>
              <a:gd name="T43" fmla="*/ 82 h 111"/>
              <a:gd name="T44" fmla="*/ 5 w 171"/>
              <a:gd name="T45" fmla="*/ 86 h 111"/>
              <a:gd name="T46" fmla="*/ 8 w 171"/>
              <a:gd name="T47" fmla="*/ 91 h 111"/>
              <a:gd name="T48" fmla="*/ 10 w 171"/>
              <a:gd name="T49" fmla="*/ 96 h 111"/>
              <a:gd name="T50" fmla="*/ 13 w 171"/>
              <a:gd name="T51" fmla="*/ 101 h 111"/>
              <a:gd name="T52" fmla="*/ 17 w 171"/>
              <a:gd name="T53" fmla="*/ 106 h 111"/>
              <a:gd name="T54" fmla="*/ 20 w 171"/>
              <a:gd name="T55" fmla="*/ 111 h 111"/>
              <a:gd name="T56" fmla="*/ 23 w 171"/>
              <a:gd name="T57" fmla="*/ 110 h 111"/>
              <a:gd name="T58" fmla="*/ 20 w 171"/>
              <a:gd name="T59" fmla="*/ 105 h 111"/>
              <a:gd name="T60" fmla="*/ 17 w 171"/>
              <a:gd name="T61" fmla="*/ 100 h 111"/>
              <a:gd name="T62" fmla="*/ 13 w 171"/>
              <a:gd name="T63" fmla="*/ 95 h 111"/>
              <a:gd name="T64" fmla="*/ 10 w 171"/>
              <a:gd name="T65" fmla="*/ 90 h 111"/>
              <a:gd name="T66" fmla="*/ 8 w 171"/>
              <a:gd name="T67" fmla="*/ 85 h 111"/>
              <a:gd name="T68" fmla="*/ 7 w 171"/>
              <a:gd name="T69" fmla="*/ 80 h 111"/>
              <a:gd name="T70" fmla="*/ 5 w 171"/>
              <a:gd name="T71" fmla="*/ 73 h 111"/>
              <a:gd name="T72" fmla="*/ 4 w 171"/>
              <a:gd name="T73" fmla="*/ 68 h 111"/>
              <a:gd name="T74" fmla="*/ 0 w 171"/>
              <a:gd name="T75" fmla="*/ 70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71" h="111">
                <a:moveTo>
                  <a:pt x="171" y="43"/>
                </a:moveTo>
                <a:lnTo>
                  <a:pt x="169" y="37"/>
                </a:lnTo>
                <a:lnTo>
                  <a:pt x="169" y="32"/>
                </a:lnTo>
                <a:lnTo>
                  <a:pt x="166" y="25"/>
                </a:lnTo>
                <a:lnTo>
                  <a:pt x="164" y="20"/>
                </a:lnTo>
                <a:lnTo>
                  <a:pt x="162" y="15"/>
                </a:lnTo>
                <a:lnTo>
                  <a:pt x="159" y="10"/>
                </a:lnTo>
                <a:lnTo>
                  <a:pt x="156" y="5"/>
                </a:lnTo>
                <a:lnTo>
                  <a:pt x="153" y="0"/>
                </a:lnTo>
                <a:lnTo>
                  <a:pt x="149" y="2"/>
                </a:lnTo>
                <a:lnTo>
                  <a:pt x="153" y="7"/>
                </a:lnTo>
                <a:lnTo>
                  <a:pt x="156" y="12"/>
                </a:lnTo>
                <a:lnTo>
                  <a:pt x="159" y="17"/>
                </a:lnTo>
                <a:lnTo>
                  <a:pt x="161" y="22"/>
                </a:lnTo>
                <a:lnTo>
                  <a:pt x="164" y="27"/>
                </a:lnTo>
                <a:lnTo>
                  <a:pt x="166" y="32"/>
                </a:lnTo>
                <a:lnTo>
                  <a:pt x="167" y="38"/>
                </a:lnTo>
                <a:lnTo>
                  <a:pt x="167" y="43"/>
                </a:lnTo>
                <a:lnTo>
                  <a:pt x="171" y="43"/>
                </a:lnTo>
                <a:close/>
                <a:moveTo>
                  <a:pt x="0" y="70"/>
                </a:moveTo>
                <a:lnTo>
                  <a:pt x="2" y="75"/>
                </a:lnTo>
                <a:lnTo>
                  <a:pt x="4" y="82"/>
                </a:lnTo>
                <a:lnTo>
                  <a:pt x="5" y="86"/>
                </a:lnTo>
                <a:lnTo>
                  <a:pt x="8" y="91"/>
                </a:lnTo>
                <a:lnTo>
                  <a:pt x="10" y="96"/>
                </a:lnTo>
                <a:lnTo>
                  <a:pt x="13" y="101"/>
                </a:lnTo>
                <a:lnTo>
                  <a:pt x="17" y="106"/>
                </a:lnTo>
                <a:lnTo>
                  <a:pt x="20" y="111"/>
                </a:lnTo>
                <a:lnTo>
                  <a:pt x="23" y="110"/>
                </a:lnTo>
                <a:lnTo>
                  <a:pt x="20" y="105"/>
                </a:lnTo>
                <a:lnTo>
                  <a:pt x="17" y="100"/>
                </a:lnTo>
                <a:lnTo>
                  <a:pt x="13" y="95"/>
                </a:lnTo>
                <a:lnTo>
                  <a:pt x="10" y="90"/>
                </a:lnTo>
                <a:lnTo>
                  <a:pt x="8" y="85"/>
                </a:lnTo>
                <a:lnTo>
                  <a:pt x="7" y="80"/>
                </a:lnTo>
                <a:lnTo>
                  <a:pt x="5" y="73"/>
                </a:lnTo>
                <a:lnTo>
                  <a:pt x="4" y="68"/>
                </a:lnTo>
                <a:lnTo>
                  <a:pt x="0" y="7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56" name="Freeform 1961">
            <a:extLst>
              <a:ext uri="{FF2B5EF4-FFF2-40B4-BE49-F238E27FC236}">
                <a16:creationId xmlns:a16="http://schemas.microsoft.com/office/drawing/2014/main" id="{1F53B8F8-5FC7-FDBE-5C32-E116882AC823}"/>
              </a:ext>
            </a:extLst>
          </p:cNvPr>
          <p:cNvSpPr>
            <a:spLocks noEditPoints="1"/>
          </p:cNvSpPr>
          <p:nvPr/>
        </p:nvSpPr>
        <p:spPr bwMode="auto">
          <a:xfrm>
            <a:off x="3386138" y="2516188"/>
            <a:ext cx="265113" cy="171450"/>
          </a:xfrm>
          <a:custGeom>
            <a:avLst/>
            <a:gdLst>
              <a:gd name="T0" fmla="*/ 167 w 167"/>
              <a:gd name="T1" fmla="*/ 41 h 108"/>
              <a:gd name="T2" fmla="*/ 167 w 167"/>
              <a:gd name="T3" fmla="*/ 35 h 108"/>
              <a:gd name="T4" fmla="*/ 165 w 167"/>
              <a:gd name="T5" fmla="*/ 30 h 108"/>
              <a:gd name="T6" fmla="*/ 164 w 167"/>
              <a:gd name="T7" fmla="*/ 25 h 108"/>
              <a:gd name="T8" fmla="*/ 160 w 167"/>
              <a:gd name="T9" fmla="*/ 18 h 108"/>
              <a:gd name="T10" fmla="*/ 159 w 167"/>
              <a:gd name="T11" fmla="*/ 13 h 108"/>
              <a:gd name="T12" fmla="*/ 156 w 167"/>
              <a:gd name="T13" fmla="*/ 8 h 108"/>
              <a:gd name="T14" fmla="*/ 152 w 167"/>
              <a:gd name="T15" fmla="*/ 3 h 108"/>
              <a:gd name="T16" fmla="*/ 149 w 167"/>
              <a:gd name="T17" fmla="*/ 0 h 108"/>
              <a:gd name="T18" fmla="*/ 146 w 167"/>
              <a:gd name="T19" fmla="*/ 0 h 108"/>
              <a:gd name="T20" fmla="*/ 149 w 167"/>
              <a:gd name="T21" fmla="*/ 5 h 108"/>
              <a:gd name="T22" fmla="*/ 152 w 167"/>
              <a:gd name="T23" fmla="*/ 10 h 108"/>
              <a:gd name="T24" fmla="*/ 156 w 167"/>
              <a:gd name="T25" fmla="*/ 15 h 108"/>
              <a:gd name="T26" fmla="*/ 157 w 167"/>
              <a:gd name="T27" fmla="*/ 20 h 108"/>
              <a:gd name="T28" fmla="*/ 160 w 167"/>
              <a:gd name="T29" fmla="*/ 25 h 108"/>
              <a:gd name="T30" fmla="*/ 162 w 167"/>
              <a:gd name="T31" fmla="*/ 31 h 108"/>
              <a:gd name="T32" fmla="*/ 164 w 167"/>
              <a:gd name="T33" fmla="*/ 36 h 108"/>
              <a:gd name="T34" fmla="*/ 164 w 167"/>
              <a:gd name="T35" fmla="*/ 43 h 108"/>
              <a:gd name="T36" fmla="*/ 167 w 167"/>
              <a:gd name="T37" fmla="*/ 41 h 108"/>
              <a:gd name="T38" fmla="*/ 0 w 167"/>
              <a:gd name="T39" fmla="*/ 66 h 108"/>
              <a:gd name="T40" fmla="*/ 2 w 167"/>
              <a:gd name="T41" fmla="*/ 73 h 108"/>
              <a:gd name="T42" fmla="*/ 3 w 167"/>
              <a:gd name="T43" fmla="*/ 78 h 108"/>
              <a:gd name="T44" fmla="*/ 5 w 167"/>
              <a:gd name="T45" fmla="*/ 83 h 108"/>
              <a:gd name="T46" fmla="*/ 6 w 167"/>
              <a:gd name="T47" fmla="*/ 89 h 108"/>
              <a:gd name="T48" fmla="*/ 10 w 167"/>
              <a:gd name="T49" fmla="*/ 94 h 108"/>
              <a:gd name="T50" fmla="*/ 13 w 167"/>
              <a:gd name="T51" fmla="*/ 99 h 108"/>
              <a:gd name="T52" fmla="*/ 16 w 167"/>
              <a:gd name="T53" fmla="*/ 103 h 108"/>
              <a:gd name="T54" fmla="*/ 20 w 167"/>
              <a:gd name="T55" fmla="*/ 108 h 108"/>
              <a:gd name="T56" fmla="*/ 23 w 167"/>
              <a:gd name="T57" fmla="*/ 106 h 108"/>
              <a:gd name="T58" fmla="*/ 20 w 167"/>
              <a:gd name="T59" fmla="*/ 103 h 108"/>
              <a:gd name="T60" fmla="*/ 16 w 167"/>
              <a:gd name="T61" fmla="*/ 98 h 108"/>
              <a:gd name="T62" fmla="*/ 13 w 167"/>
              <a:gd name="T63" fmla="*/ 93 h 108"/>
              <a:gd name="T64" fmla="*/ 10 w 167"/>
              <a:gd name="T65" fmla="*/ 88 h 108"/>
              <a:gd name="T66" fmla="*/ 8 w 167"/>
              <a:gd name="T67" fmla="*/ 83 h 108"/>
              <a:gd name="T68" fmla="*/ 6 w 167"/>
              <a:gd name="T69" fmla="*/ 76 h 108"/>
              <a:gd name="T70" fmla="*/ 5 w 167"/>
              <a:gd name="T71" fmla="*/ 71 h 108"/>
              <a:gd name="T72" fmla="*/ 3 w 167"/>
              <a:gd name="T73" fmla="*/ 66 h 108"/>
              <a:gd name="T74" fmla="*/ 0 w 167"/>
              <a:gd name="T75" fmla="*/ 66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67" h="108">
                <a:moveTo>
                  <a:pt x="167" y="41"/>
                </a:moveTo>
                <a:lnTo>
                  <a:pt x="167" y="35"/>
                </a:lnTo>
                <a:lnTo>
                  <a:pt x="165" y="30"/>
                </a:lnTo>
                <a:lnTo>
                  <a:pt x="164" y="25"/>
                </a:lnTo>
                <a:lnTo>
                  <a:pt x="160" y="18"/>
                </a:lnTo>
                <a:lnTo>
                  <a:pt x="159" y="13"/>
                </a:lnTo>
                <a:lnTo>
                  <a:pt x="156" y="8"/>
                </a:lnTo>
                <a:lnTo>
                  <a:pt x="152" y="3"/>
                </a:lnTo>
                <a:lnTo>
                  <a:pt x="149" y="0"/>
                </a:lnTo>
                <a:lnTo>
                  <a:pt x="146" y="0"/>
                </a:lnTo>
                <a:lnTo>
                  <a:pt x="149" y="5"/>
                </a:lnTo>
                <a:lnTo>
                  <a:pt x="152" y="10"/>
                </a:lnTo>
                <a:lnTo>
                  <a:pt x="156" y="15"/>
                </a:lnTo>
                <a:lnTo>
                  <a:pt x="157" y="20"/>
                </a:lnTo>
                <a:lnTo>
                  <a:pt x="160" y="25"/>
                </a:lnTo>
                <a:lnTo>
                  <a:pt x="162" y="31"/>
                </a:lnTo>
                <a:lnTo>
                  <a:pt x="164" y="36"/>
                </a:lnTo>
                <a:lnTo>
                  <a:pt x="164" y="43"/>
                </a:lnTo>
                <a:lnTo>
                  <a:pt x="167" y="41"/>
                </a:lnTo>
                <a:close/>
                <a:moveTo>
                  <a:pt x="0" y="66"/>
                </a:moveTo>
                <a:lnTo>
                  <a:pt x="2" y="73"/>
                </a:lnTo>
                <a:lnTo>
                  <a:pt x="3" y="78"/>
                </a:lnTo>
                <a:lnTo>
                  <a:pt x="5" y="83"/>
                </a:lnTo>
                <a:lnTo>
                  <a:pt x="6" y="89"/>
                </a:lnTo>
                <a:lnTo>
                  <a:pt x="10" y="94"/>
                </a:lnTo>
                <a:lnTo>
                  <a:pt x="13" y="99"/>
                </a:lnTo>
                <a:lnTo>
                  <a:pt x="16" y="103"/>
                </a:lnTo>
                <a:lnTo>
                  <a:pt x="20" y="108"/>
                </a:lnTo>
                <a:lnTo>
                  <a:pt x="23" y="106"/>
                </a:lnTo>
                <a:lnTo>
                  <a:pt x="20" y="103"/>
                </a:lnTo>
                <a:lnTo>
                  <a:pt x="16" y="98"/>
                </a:lnTo>
                <a:lnTo>
                  <a:pt x="13" y="93"/>
                </a:lnTo>
                <a:lnTo>
                  <a:pt x="10" y="88"/>
                </a:lnTo>
                <a:lnTo>
                  <a:pt x="8" y="83"/>
                </a:lnTo>
                <a:lnTo>
                  <a:pt x="6" y="76"/>
                </a:lnTo>
                <a:lnTo>
                  <a:pt x="5" y="71"/>
                </a:lnTo>
                <a:lnTo>
                  <a:pt x="3" y="66"/>
                </a:lnTo>
                <a:lnTo>
                  <a:pt x="0" y="66"/>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57" name="Freeform 1962">
            <a:extLst>
              <a:ext uri="{FF2B5EF4-FFF2-40B4-BE49-F238E27FC236}">
                <a16:creationId xmlns:a16="http://schemas.microsoft.com/office/drawing/2014/main" id="{26002153-B880-454A-8218-9131922FF425}"/>
              </a:ext>
            </a:extLst>
          </p:cNvPr>
          <p:cNvSpPr>
            <a:spLocks noEditPoints="1"/>
          </p:cNvSpPr>
          <p:nvPr/>
        </p:nvSpPr>
        <p:spPr bwMode="auto">
          <a:xfrm>
            <a:off x="3389313" y="2516188"/>
            <a:ext cx="258763" cy="171450"/>
          </a:xfrm>
          <a:custGeom>
            <a:avLst/>
            <a:gdLst>
              <a:gd name="T0" fmla="*/ 163 w 163"/>
              <a:gd name="T1" fmla="*/ 41 h 108"/>
              <a:gd name="T2" fmla="*/ 163 w 163"/>
              <a:gd name="T3" fmla="*/ 36 h 108"/>
              <a:gd name="T4" fmla="*/ 162 w 163"/>
              <a:gd name="T5" fmla="*/ 30 h 108"/>
              <a:gd name="T6" fmla="*/ 160 w 163"/>
              <a:gd name="T7" fmla="*/ 25 h 108"/>
              <a:gd name="T8" fmla="*/ 157 w 163"/>
              <a:gd name="T9" fmla="*/ 20 h 108"/>
              <a:gd name="T10" fmla="*/ 155 w 163"/>
              <a:gd name="T11" fmla="*/ 15 h 108"/>
              <a:gd name="T12" fmla="*/ 152 w 163"/>
              <a:gd name="T13" fmla="*/ 10 h 108"/>
              <a:gd name="T14" fmla="*/ 149 w 163"/>
              <a:gd name="T15" fmla="*/ 5 h 108"/>
              <a:gd name="T16" fmla="*/ 145 w 163"/>
              <a:gd name="T17" fmla="*/ 0 h 108"/>
              <a:gd name="T18" fmla="*/ 142 w 163"/>
              <a:gd name="T19" fmla="*/ 2 h 108"/>
              <a:gd name="T20" fmla="*/ 145 w 163"/>
              <a:gd name="T21" fmla="*/ 7 h 108"/>
              <a:gd name="T22" fmla="*/ 149 w 163"/>
              <a:gd name="T23" fmla="*/ 10 h 108"/>
              <a:gd name="T24" fmla="*/ 152 w 163"/>
              <a:gd name="T25" fmla="*/ 15 h 108"/>
              <a:gd name="T26" fmla="*/ 155 w 163"/>
              <a:gd name="T27" fmla="*/ 22 h 108"/>
              <a:gd name="T28" fmla="*/ 157 w 163"/>
              <a:gd name="T29" fmla="*/ 27 h 108"/>
              <a:gd name="T30" fmla="*/ 158 w 163"/>
              <a:gd name="T31" fmla="*/ 31 h 108"/>
              <a:gd name="T32" fmla="*/ 160 w 163"/>
              <a:gd name="T33" fmla="*/ 38 h 108"/>
              <a:gd name="T34" fmla="*/ 160 w 163"/>
              <a:gd name="T35" fmla="*/ 43 h 108"/>
              <a:gd name="T36" fmla="*/ 163 w 163"/>
              <a:gd name="T37" fmla="*/ 41 h 108"/>
              <a:gd name="T38" fmla="*/ 0 w 163"/>
              <a:gd name="T39" fmla="*/ 66 h 108"/>
              <a:gd name="T40" fmla="*/ 1 w 163"/>
              <a:gd name="T41" fmla="*/ 71 h 108"/>
              <a:gd name="T42" fmla="*/ 3 w 163"/>
              <a:gd name="T43" fmla="*/ 78 h 108"/>
              <a:gd name="T44" fmla="*/ 4 w 163"/>
              <a:gd name="T45" fmla="*/ 83 h 108"/>
              <a:gd name="T46" fmla="*/ 6 w 163"/>
              <a:gd name="T47" fmla="*/ 88 h 108"/>
              <a:gd name="T48" fmla="*/ 9 w 163"/>
              <a:gd name="T49" fmla="*/ 93 h 108"/>
              <a:gd name="T50" fmla="*/ 13 w 163"/>
              <a:gd name="T51" fmla="*/ 98 h 108"/>
              <a:gd name="T52" fmla="*/ 16 w 163"/>
              <a:gd name="T53" fmla="*/ 103 h 108"/>
              <a:gd name="T54" fmla="*/ 19 w 163"/>
              <a:gd name="T55" fmla="*/ 108 h 108"/>
              <a:gd name="T56" fmla="*/ 23 w 163"/>
              <a:gd name="T57" fmla="*/ 106 h 108"/>
              <a:gd name="T58" fmla="*/ 19 w 163"/>
              <a:gd name="T59" fmla="*/ 101 h 108"/>
              <a:gd name="T60" fmla="*/ 16 w 163"/>
              <a:gd name="T61" fmla="*/ 96 h 108"/>
              <a:gd name="T62" fmla="*/ 13 w 163"/>
              <a:gd name="T63" fmla="*/ 91 h 108"/>
              <a:gd name="T64" fmla="*/ 9 w 163"/>
              <a:gd name="T65" fmla="*/ 86 h 108"/>
              <a:gd name="T66" fmla="*/ 8 w 163"/>
              <a:gd name="T67" fmla="*/ 81 h 108"/>
              <a:gd name="T68" fmla="*/ 6 w 163"/>
              <a:gd name="T69" fmla="*/ 76 h 108"/>
              <a:gd name="T70" fmla="*/ 4 w 163"/>
              <a:gd name="T71" fmla="*/ 71 h 108"/>
              <a:gd name="T72" fmla="*/ 3 w 163"/>
              <a:gd name="T73" fmla="*/ 65 h 108"/>
              <a:gd name="T74" fmla="*/ 0 w 163"/>
              <a:gd name="T75" fmla="*/ 66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63" h="108">
                <a:moveTo>
                  <a:pt x="163" y="41"/>
                </a:moveTo>
                <a:lnTo>
                  <a:pt x="163" y="36"/>
                </a:lnTo>
                <a:lnTo>
                  <a:pt x="162" y="30"/>
                </a:lnTo>
                <a:lnTo>
                  <a:pt x="160" y="25"/>
                </a:lnTo>
                <a:lnTo>
                  <a:pt x="157" y="20"/>
                </a:lnTo>
                <a:lnTo>
                  <a:pt x="155" y="15"/>
                </a:lnTo>
                <a:lnTo>
                  <a:pt x="152" y="10"/>
                </a:lnTo>
                <a:lnTo>
                  <a:pt x="149" y="5"/>
                </a:lnTo>
                <a:lnTo>
                  <a:pt x="145" y="0"/>
                </a:lnTo>
                <a:lnTo>
                  <a:pt x="142" y="2"/>
                </a:lnTo>
                <a:lnTo>
                  <a:pt x="145" y="7"/>
                </a:lnTo>
                <a:lnTo>
                  <a:pt x="149" y="10"/>
                </a:lnTo>
                <a:lnTo>
                  <a:pt x="152" y="15"/>
                </a:lnTo>
                <a:lnTo>
                  <a:pt x="155" y="22"/>
                </a:lnTo>
                <a:lnTo>
                  <a:pt x="157" y="27"/>
                </a:lnTo>
                <a:lnTo>
                  <a:pt x="158" y="31"/>
                </a:lnTo>
                <a:lnTo>
                  <a:pt x="160" y="38"/>
                </a:lnTo>
                <a:lnTo>
                  <a:pt x="160" y="43"/>
                </a:lnTo>
                <a:lnTo>
                  <a:pt x="163" y="41"/>
                </a:lnTo>
                <a:close/>
                <a:moveTo>
                  <a:pt x="0" y="66"/>
                </a:moveTo>
                <a:lnTo>
                  <a:pt x="1" y="71"/>
                </a:lnTo>
                <a:lnTo>
                  <a:pt x="3" y="78"/>
                </a:lnTo>
                <a:lnTo>
                  <a:pt x="4" y="83"/>
                </a:lnTo>
                <a:lnTo>
                  <a:pt x="6" y="88"/>
                </a:lnTo>
                <a:lnTo>
                  <a:pt x="9" y="93"/>
                </a:lnTo>
                <a:lnTo>
                  <a:pt x="13" y="98"/>
                </a:lnTo>
                <a:lnTo>
                  <a:pt x="16" y="103"/>
                </a:lnTo>
                <a:lnTo>
                  <a:pt x="19" y="108"/>
                </a:lnTo>
                <a:lnTo>
                  <a:pt x="23" y="106"/>
                </a:lnTo>
                <a:lnTo>
                  <a:pt x="19" y="101"/>
                </a:lnTo>
                <a:lnTo>
                  <a:pt x="16" y="96"/>
                </a:lnTo>
                <a:lnTo>
                  <a:pt x="13" y="91"/>
                </a:lnTo>
                <a:lnTo>
                  <a:pt x="9" y="86"/>
                </a:lnTo>
                <a:lnTo>
                  <a:pt x="8" y="81"/>
                </a:lnTo>
                <a:lnTo>
                  <a:pt x="6" y="76"/>
                </a:lnTo>
                <a:lnTo>
                  <a:pt x="4" y="71"/>
                </a:lnTo>
                <a:lnTo>
                  <a:pt x="3" y="65"/>
                </a:lnTo>
                <a:lnTo>
                  <a:pt x="0" y="66"/>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58" name="Freeform 1963">
            <a:extLst>
              <a:ext uri="{FF2B5EF4-FFF2-40B4-BE49-F238E27FC236}">
                <a16:creationId xmlns:a16="http://schemas.microsoft.com/office/drawing/2014/main" id="{F9239825-DAD4-E711-7EDE-1BB4663A9F02}"/>
              </a:ext>
            </a:extLst>
          </p:cNvPr>
          <p:cNvSpPr>
            <a:spLocks noEditPoints="1"/>
          </p:cNvSpPr>
          <p:nvPr/>
        </p:nvSpPr>
        <p:spPr bwMode="auto">
          <a:xfrm>
            <a:off x="3390900" y="2516188"/>
            <a:ext cx="255588" cy="168275"/>
          </a:xfrm>
          <a:custGeom>
            <a:avLst/>
            <a:gdLst>
              <a:gd name="T0" fmla="*/ 161 w 161"/>
              <a:gd name="T1" fmla="*/ 43 h 106"/>
              <a:gd name="T2" fmla="*/ 161 w 161"/>
              <a:gd name="T3" fmla="*/ 36 h 106"/>
              <a:gd name="T4" fmla="*/ 159 w 161"/>
              <a:gd name="T5" fmla="*/ 31 h 106"/>
              <a:gd name="T6" fmla="*/ 157 w 161"/>
              <a:gd name="T7" fmla="*/ 25 h 106"/>
              <a:gd name="T8" fmla="*/ 154 w 161"/>
              <a:gd name="T9" fmla="*/ 20 h 106"/>
              <a:gd name="T10" fmla="*/ 153 w 161"/>
              <a:gd name="T11" fmla="*/ 15 h 106"/>
              <a:gd name="T12" fmla="*/ 149 w 161"/>
              <a:gd name="T13" fmla="*/ 10 h 106"/>
              <a:gd name="T14" fmla="*/ 146 w 161"/>
              <a:gd name="T15" fmla="*/ 5 h 106"/>
              <a:gd name="T16" fmla="*/ 143 w 161"/>
              <a:gd name="T17" fmla="*/ 0 h 106"/>
              <a:gd name="T18" fmla="*/ 139 w 161"/>
              <a:gd name="T19" fmla="*/ 2 h 106"/>
              <a:gd name="T20" fmla="*/ 143 w 161"/>
              <a:gd name="T21" fmla="*/ 7 h 106"/>
              <a:gd name="T22" fmla="*/ 146 w 161"/>
              <a:gd name="T23" fmla="*/ 12 h 106"/>
              <a:gd name="T24" fmla="*/ 149 w 161"/>
              <a:gd name="T25" fmla="*/ 17 h 106"/>
              <a:gd name="T26" fmla="*/ 153 w 161"/>
              <a:gd name="T27" fmla="*/ 22 h 106"/>
              <a:gd name="T28" fmla="*/ 154 w 161"/>
              <a:gd name="T29" fmla="*/ 27 h 106"/>
              <a:gd name="T30" fmla="*/ 156 w 161"/>
              <a:gd name="T31" fmla="*/ 33 h 106"/>
              <a:gd name="T32" fmla="*/ 157 w 161"/>
              <a:gd name="T33" fmla="*/ 38 h 106"/>
              <a:gd name="T34" fmla="*/ 157 w 161"/>
              <a:gd name="T35" fmla="*/ 45 h 106"/>
              <a:gd name="T36" fmla="*/ 161 w 161"/>
              <a:gd name="T37" fmla="*/ 43 h 106"/>
              <a:gd name="T38" fmla="*/ 0 w 161"/>
              <a:gd name="T39" fmla="*/ 66 h 106"/>
              <a:gd name="T40" fmla="*/ 2 w 161"/>
              <a:gd name="T41" fmla="*/ 71 h 106"/>
              <a:gd name="T42" fmla="*/ 3 w 161"/>
              <a:gd name="T43" fmla="*/ 76 h 106"/>
              <a:gd name="T44" fmla="*/ 5 w 161"/>
              <a:gd name="T45" fmla="*/ 83 h 106"/>
              <a:gd name="T46" fmla="*/ 7 w 161"/>
              <a:gd name="T47" fmla="*/ 88 h 106"/>
              <a:gd name="T48" fmla="*/ 10 w 161"/>
              <a:gd name="T49" fmla="*/ 93 h 106"/>
              <a:gd name="T50" fmla="*/ 13 w 161"/>
              <a:gd name="T51" fmla="*/ 98 h 106"/>
              <a:gd name="T52" fmla="*/ 17 w 161"/>
              <a:gd name="T53" fmla="*/ 103 h 106"/>
              <a:gd name="T54" fmla="*/ 20 w 161"/>
              <a:gd name="T55" fmla="*/ 106 h 106"/>
              <a:gd name="T56" fmla="*/ 23 w 161"/>
              <a:gd name="T57" fmla="*/ 104 h 106"/>
              <a:gd name="T58" fmla="*/ 18 w 161"/>
              <a:gd name="T59" fmla="*/ 101 h 106"/>
              <a:gd name="T60" fmla="*/ 15 w 161"/>
              <a:gd name="T61" fmla="*/ 96 h 106"/>
              <a:gd name="T62" fmla="*/ 13 w 161"/>
              <a:gd name="T63" fmla="*/ 91 h 106"/>
              <a:gd name="T64" fmla="*/ 10 w 161"/>
              <a:gd name="T65" fmla="*/ 86 h 106"/>
              <a:gd name="T66" fmla="*/ 8 w 161"/>
              <a:gd name="T67" fmla="*/ 81 h 106"/>
              <a:gd name="T68" fmla="*/ 7 w 161"/>
              <a:gd name="T69" fmla="*/ 76 h 106"/>
              <a:gd name="T70" fmla="*/ 5 w 161"/>
              <a:gd name="T71" fmla="*/ 70 h 106"/>
              <a:gd name="T72" fmla="*/ 3 w 161"/>
              <a:gd name="T73" fmla="*/ 65 h 106"/>
              <a:gd name="T74" fmla="*/ 0 w 161"/>
              <a:gd name="T75" fmla="*/ 66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61" h="106">
                <a:moveTo>
                  <a:pt x="161" y="43"/>
                </a:moveTo>
                <a:lnTo>
                  <a:pt x="161" y="36"/>
                </a:lnTo>
                <a:lnTo>
                  <a:pt x="159" y="31"/>
                </a:lnTo>
                <a:lnTo>
                  <a:pt x="157" y="25"/>
                </a:lnTo>
                <a:lnTo>
                  <a:pt x="154" y="20"/>
                </a:lnTo>
                <a:lnTo>
                  <a:pt x="153" y="15"/>
                </a:lnTo>
                <a:lnTo>
                  <a:pt x="149" y="10"/>
                </a:lnTo>
                <a:lnTo>
                  <a:pt x="146" y="5"/>
                </a:lnTo>
                <a:lnTo>
                  <a:pt x="143" y="0"/>
                </a:lnTo>
                <a:lnTo>
                  <a:pt x="139" y="2"/>
                </a:lnTo>
                <a:lnTo>
                  <a:pt x="143" y="7"/>
                </a:lnTo>
                <a:lnTo>
                  <a:pt x="146" y="12"/>
                </a:lnTo>
                <a:lnTo>
                  <a:pt x="149" y="17"/>
                </a:lnTo>
                <a:lnTo>
                  <a:pt x="153" y="22"/>
                </a:lnTo>
                <a:lnTo>
                  <a:pt x="154" y="27"/>
                </a:lnTo>
                <a:lnTo>
                  <a:pt x="156" y="33"/>
                </a:lnTo>
                <a:lnTo>
                  <a:pt x="157" y="38"/>
                </a:lnTo>
                <a:lnTo>
                  <a:pt x="157" y="45"/>
                </a:lnTo>
                <a:lnTo>
                  <a:pt x="161" y="43"/>
                </a:lnTo>
                <a:close/>
                <a:moveTo>
                  <a:pt x="0" y="66"/>
                </a:moveTo>
                <a:lnTo>
                  <a:pt x="2" y="71"/>
                </a:lnTo>
                <a:lnTo>
                  <a:pt x="3" y="76"/>
                </a:lnTo>
                <a:lnTo>
                  <a:pt x="5" y="83"/>
                </a:lnTo>
                <a:lnTo>
                  <a:pt x="7" y="88"/>
                </a:lnTo>
                <a:lnTo>
                  <a:pt x="10" y="93"/>
                </a:lnTo>
                <a:lnTo>
                  <a:pt x="13" y="98"/>
                </a:lnTo>
                <a:lnTo>
                  <a:pt x="17" y="103"/>
                </a:lnTo>
                <a:lnTo>
                  <a:pt x="20" y="106"/>
                </a:lnTo>
                <a:lnTo>
                  <a:pt x="23" y="104"/>
                </a:lnTo>
                <a:lnTo>
                  <a:pt x="18" y="101"/>
                </a:lnTo>
                <a:lnTo>
                  <a:pt x="15" y="96"/>
                </a:lnTo>
                <a:lnTo>
                  <a:pt x="13" y="91"/>
                </a:lnTo>
                <a:lnTo>
                  <a:pt x="10" y="86"/>
                </a:lnTo>
                <a:lnTo>
                  <a:pt x="8" y="81"/>
                </a:lnTo>
                <a:lnTo>
                  <a:pt x="7" y="76"/>
                </a:lnTo>
                <a:lnTo>
                  <a:pt x="5" y="70"/>
                </a:lnTo>
                <a:lnTo>
                  <a:pt x="3" y="65"/>
                </a:lnTo>
                <a:lnTo>
                  <a:pt x="0" y="66"/>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59" name="Freeform 1964">
            <a:extLst>
              <a:ext uri="{FF2B5EF4-FFF2-40B4-BE49-F238E27FC236}">
                <a16:creationId xmlns:a16="http://schemas.microsoft.com/office/drawing/2014/main" id="{1DC4D8D8-1BFA-C490-0409-E0918DE4BB17}"/>
              </a:ext>
            </a:extLst>
          </p:cNvPr>
          <p:cNvSpPr>
            <a:spLocks noEditPoints="1"/>
          </p:cNvSpPr>
          <p:nvPr/>
        </p:nvSpPr>
        <p:spPr bwMode="auto">
          <a:xfrm>
            <a:off x="3394075" y="2519363"/>
            <a:ext cx="249238" cy="165100"/>
          </a:xfrm>
          <a:custGeom>
            <a:avLst/>
            <a:gdLst>
              <a:gd name="T0" fmla="*/ 157 w 157"/>
              <a:gd name="T1" fmla="*/ 41 h 104"/>
              <a:gd name="T2" fmla="*/ 157 w 157"/>
              <a:gd name="T3" fmla="*/ 36 h 104"/>
              <a:gd name="T4" fmla="*/ 155 w 157"/>
              <a:gd name="T5" fmla="*/ 29 h 104"/>
              <a:gd name="T6" fmla="*/ 154 w 157"/>
              <a:gd name="T7" fmla="*/ 25 h 104"/>
              <a:gd name="T8" fmla="*/ 152 w 157"/>
              <a:gd name="T9" fmla="*/ 20 h 104"/>
              <a:gd name="T10" fmla="*/ 149 w 157"/>
              <a:gd name="T11" fmla="*/ 13 h 104"/>
              <a:gd name="T12" fmla="*/ 146 w 157"/>
              <a:gd name="T13" fmla="*/ 8 h 104"/>
              <a:gd name="T14" fmla="*/ 142 w 157"/>
              <a:gd name="T15" fmla="*/ 5 h 104"/>
              <a:gd name="T16" fmla="*/ 139 w 157"/>
              <a:gd name="T17" fmla="*/ 0 h 104"/>
              <a:gd name="T18" fmla="*/ 136 w 157"/>
              <a:gd name="T19" fmla="*/ 1 h 104"/>
              <a:gd name="T20" fmla="*/ 139 w 157"/>
              <a:gd name="T21" fmla="*/ 5 h 104"/>
              <a:gd name="T22" fmla="*/ 142 w 157"/>
              <a:gd name="T23" fmla="*/ 10 h 104"/>
              <a:gd name="T24" fmla="*/ 146 w 157"/>
              <a:gd name="T25" fmla="*/ 15 h 104"/>
              <a:gd name="T26" fmla="*/ 149 w 157"/>
              <a:gd name="T27" fmla="*/ 20 h 104"/>
              <a:gd name="T28" fmla="*/ 151 w 157"/>
              <a:gd name="T29" fmla="*/ 26 h 104"/>
              <a:gd name="T30" fmla="*/ 152 w 157"/>
              <a:gd name="T31" fmla="*/ 31 h 104"/>
              <a:gd name="T32" fmla="*/ 154 w 157"/>
              <a:gd name="T33" fmla="*/ 38 h 104"/>
              <a:gd name="T34" fmla="*/ 154 w 157"/>
              <a:gd name="T35" fmla="*/ 43 h 104"/>
              <a:gd name="T36" fmla="*/ 157 w 157"/>
              <a:gd name="T37" fmla="*/ 41 h 104"/>
              <a:gd name="T38" fmla="*/ 0 w 157"/>
              <a:gd name="T39" fmla="*/ 63 h 104"/>
              <a:gd name="T40" fmla="*/ 1 w 157"/>
              <a:gd name="T41" fmla="*/ 69 h 104"/>
              <a:gd name="T42" fmla="*/ 3 w 157"/>
              <a:gd name="T43" fmla="*/ 74 h 104"/>
              <a:gd name="T44" fmla="*/ 5 w 157"/>
              <a:gd name="T45" fmla="*/ 79 h 104"/>
              <a:gd name="T46" fmla="*/ 6 w 157"/>
              <a:gd name="T47" fmla="*/ 84 h 104"/>
              <a:gd name="T48" fmla="*/ 10 w 157"/>
              <a:gd name="T49" fmla="*/ 89 h 104"/>
              <a:gd name="T50" fmla="*/ 13 w 157"/>
              <a:gd name="T51" fmla="*/ 94 h 104"/>
              <a:gd name="T52" fmla="*/ 16 w 157"/>
              <a:gd name="T53" fmla="*/ 99 h 104"/>
              <a:gd name="T54" fmla="*/ 20 w 157"/>
              <a:gd name="T55" fmla="*/ 104 h 104"/>
              <a:gd name="T56" fmla="*/ 23 w 157"/>
              <a:gd name="T57" fmla="*/ 102 h 104"/>
              <a:gd name="T58" fmla="*/ 18 w 157"/>
              <a:gd name="T59" fmla="*/ 97 h 104"/>
              <a:gd name="T60" fmla="*/ 15 w 157"/>
              <a:gd name="T61" fmla="*/ 94 h 104"/>
              <a:gd name="T62" fmla="*/ 13 w 157"/>
              <a:gd name="T63" fmla="*/ 89 h 104"/>
              <a:gd name="T64" fmla="*/ 10 w 157"/>
              <a:gd name="T65" fmla="*/ 84 h 104"/>
              <a:gd name="T66" fmla="*/ 8 w 157"/>
              <a:gd name="T67" fmla="*/ 78 h 104"/>
              <a:gd name="T68" fmla="*/ 6 w 157"/>
              <a:gd name="T69" fmla="*/ 73 h 104"/>
              <a:gd name="T70" fmla="*/ 5 w 157"/>
              <a:gd name="T71" fmla="*/ 68 h 104"/>
              <a:gd name="T72" fmla="*/ 3 w 157"/>
              <a:gd name="T73" fmla="*/ 61 h 104"/>
              <a:gd name="T74" fmla="*/ 0 w 157"/>
              <a:gd name="T75" fmla="*/ 63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57" h="104">
                <a:moveTo>
                  <a:pt x="157" y="41"/>
                </a:moveTo>
                <a:lnTo>
                  <a:pt x="157" y="36"/>
                </a:lnTo>
                <a:lnTo>
                  <a:pt x="155" y="29"/>
                </a:lnTo>
                <a:lnTo>
                  <a:pt x="154" y="25"/>
                </a:lnTo>
                <a:lnTo>
                  <a:pt x="152" y="20"/>
                </a:lnTo>
                <a:lnTo>
                  <a:pt x="149" y="13"/>
                </a:lnTo>
                <a:lnTo>
                  <a:pt x="146" y="8"/>
                </a:lnTo>
                <a:lnTo>
                  <a:pt x="142" y="5"/>
                </a:lnTo>
                <a:lnTo>
                  <a:pt x="139" y="0"/>
                </a:lnTo>
                <a:lnTo>
                  <a:pt x="136" y="1"/>
                </a:lnTo>
                <a:lnTo>
                  <a:pt x="139" y="5"/>
                </a:lnTo>
                <a:lnTo>
                  <a:pt x="142" y="10"/>
                </a:lnTo>
                <a:lnTo>
                  <a:pt x="146" y="15"/>
                </a:lnTo>
                <a:lnTo>
                  <a:pt x="149" y="20"/>
                </a:lnTo>
                <a:lnTo>
                  <a:pt x="151" y="26"/>
                </a:lnTo>
                <a:lnTo>
                  <a:pt x="152" y="31"/>
                </a:lnTo>
                <a:lnTo>
                  <a:pt x="154" y="38"/>
                </a:lnTo>
                <a:lnTo>
                  <a:pt x="154" y="43"/>
                </a:lnTo>
                <a:lnTo>
                  <a:pt x="157" y="41"/>
                </a:lnTo>
                <a:close/>
                <a:moveTo>
                  <a:pt x="0" y="63"/>
                </a:moveTo>
                <a:lnTo>
                  <a:pt x="1" y="69"/>
                </a:lnTo>
                <a:lnTo>
                  <a:pt x="3" y="74"/>
                </a:lnTo>
                <a:lnTo>
                  <a:pt x="5" y="79"/>
                </a:lnTo>
                <a:lnTo>
                  <a:pt x="6" y="84"/>
                </a:lnTo>
                <a:lnTo>
                  <a:pt x="10" y="89"/>
                </a:lnTo>
                <a:lnTo>
                  <a:pt x="13" y="94"/>
                </a:lnTo>
                <a:lnTo>
                  <a:pt x="16" y="99"/>
                </a:lnTo>
                <a:lnTo>
                  <a:pt x="20" y="104"/>
                </a:lnTo>
                <a:lnTo>
                  <a:pt x="23" y="102"/>
                </a:lnTo>
                <a:lnTo>
                  <a:pt x="18" y="97"/>
                </a:lnTo>
                <a:lnTo>
                  <a:pt x="15" y="94"/>
                </a:lnTo>
                <a:lnTo>
                  <a:pt x="13" y="89"/>
                </a:lnTo>
                <a:lnTo>
                  <a:pt x="10" y="84"/>
                </a:lnTo>
                <a:lnTo>
                  <a:pt x="8" y="78"/>
                </a:lnTo>
                <a:lnTo>
                  <a:pt x="6" y="73"/>
                </a:lnTo>
                <a:lnTo>
                  <a:pt x="5" y="68"/>
                </a:lnTo>
                <a:lnTo>
                  <a:pt x="3" y="61"/>
                </a:lnTo>
                <a:lnTo>
                  <a:pt x="0" y="63"/>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60" name="Freeform 1965">
            <a:extLst>
              <a:ext uri="{FF2B5EF4-FFF2-40B4-BE49-F238E27FC236}">
                <a16:creationId xmlns:a16="http://schemas.microsoft.com/office/drawing/2014/main" id="{C1635B15-AA8D-A938-E1C5-DAA423F9A363}"/>
              </a:ext>
            </a:extLst>
          </p:cNvPr>
          <p:cNvSpPr>
            <a:spLocks noEditPoints="1"/>
          </p:cNvSpPr>
          <p:nvPr/>
        </p:nvSpPr>
        <p:spPr bwMode="auto">
          <a:xfrm>
            <a:off x="3395663" y="2519363"/>
            <a:ext cx="244475" cy="161925"/>
          </a:xfrm>
          <a:custGeom>
            <a:avLst/>
            <a:gdLst>
              <a:gd name="T0" fmla="*/ 154 w 154"/>
              <a:gd name="T1" fmla="*/ 43 h 102"/>
              <a:gd name="T2" fmla="*/ 154 w 154"/>
              <a:gd name="T3" fmla="*/ 36 h 102"/>
              <a:gd name="T4" fmla="*/ 153 w 154"/>
              <a:gd name="T5" fmla="*/ 31 h 102"/>
              <a:gd name="T6" fmla="*/ 151 w 154"/>
              <a:gd name="T7" fmla="*/ 25 h 102"/>
              <a:gd name="T8" fmla="*/ 150 w 154"/>
              <a:gd name="T9" fmla="*/ 20 h 102"/>
              <a:gd name="T10" fmla="*/ 146 w 154"/>
              <a:gd name="T11" fmla="*/ 15 h 102"/>
              <a:gd name="T12" fmla="*/ 143 w 154"/>
              <a:gd name="T13" fmla="*/ 10 h 102"/>
              <a:gd name="T14" fmla="*/ 140 w 154"/>
              <a:gd name="T15" fmla="*/ 5 h 102"/>
              <a:gd name="T16" fmla="*/ 136 w 154"/>
              <a:gd name="T17" fmla="*/ 0 h 102"/>
              <a:gd name="T18" fmla="*/ 133 w 154"/>
              <a:gd name="T19" fmla="*/ 1 h 102"/>
              <a:gd name="T20" fmla="*/ 136 w 154"/>
              <a:gd name="T21" fmla="*/ 6 h 102"/>
              <a:gd name="T22" fmla="*/ 140 w 154"/>
              <a:gd name="T23" fmla="*/ 11 h 102"/>
              <a:gd name="T24" fmla="*/ 143 w 154"/>
              <a:gd name="T25" fmla="*/ 16 h 102"/>
              <a:gd name="T26" fmla="*/ 146 w 154"/>
              <a:gd name="T27" fmla="*/ 21 h 102"/>
              <a:gd name="T28" fmla="*/ 148 w 154"/>
              <a:gd name="T29" fmla="*/ 26 h 102"/>
              <a:gd name="T30" fmla="*/ 150 w 154"/>
              <a:gd name="T31" fmla="*/ 31 h 102"/>
              <a:gd name="T32" fmla="*/ 151 w 154"/>
              <a:gd name="T33" fmla="*/ 38 h 102"/>
              <a:gd name="T34" fmla="*/ 151 w 154"/>
              <a:gd name="T35" fmla="*/ 44 h 102"/>
              <a:gd name="T36" fmla="*/ 154 w 154"/>
              <a:gd name="T37" fmla="*/ 43 h 102"/>
              <a:gd name="T38" fmla="*/ 0 w 154"/>
              <a:gd name="T39" fmla="*/ 63 h 102"/>
              <a:gd name="T40" fmla="*/ 2 w 154"/>
              <a:gd name="T41" fmla="*/ 68 h 102"/>
              <a:gd name="T42" fmla="*/ 4 w 154"/>
              <a:gd name="T43" fmla="*/ 74 h 102"/>
              <a:gd name="T44" fmla="*/ 5 w 154"/>
              <a:gd name="T45" fmla="*/ 79 h 102"/>
              <a:gd name="T46" fmla="*/ 7 w 154"/>
              <a:gd name="T47" fmla="*/ 84 h 102"/>
              <a:gd name="T48" fmla="*/ 10 w 154"/>
              <a:gd name="T49" fmla="*/ 89 h 102"/>
              <a:gd name="T50" fmla="*/ 12 w 154"/>
              <a:gd name="T51" fmla="*/ 94 h 102"/>
              <a:gd name="T52" fmla="*/ 15 w 154"/>
              <a:gd name="T53" fmla="*/ 99 h 102"/>
              <a:gd name="T54" fmla="*/ 20 w 154"/>
              <a:gd name="T55" fmla="*/ 102 h 102"/>
              <a:gd name="T56" fmla="*/ 24 w 154"/>
              <a:gd name="T57" fmla="*/ 102 h 102"/>
              <a:gd name="T58" fmla="*/ 19 w 154"/>
              <a:gd name="T59" fmla="*/ 97 h 102"/>
              <a:gd name="T60" fmla="*/ 15 w 154"/>
              <a:gd name="T61" fmla="*/ 92 h 102"/>
              <a:gd name="T62" fmla="*/ 14 w 154"/>
              <a:gd name="T63" fmla="*/ 87 h 102"/>
              <a:gd name="T64" fmla="*/ 10 w 154"/>
              <a:gd name="T65" fmla="*/ 82 h 102"/>
              <a:gd name="T66" fmla="*/ 9 w 154"/>
              <a:gd name="T67" fmla="*/ 78 h 102"/>
              <a:gd name="T68" fmla="*/ 7 w 154"/>
              <a:gd name="T69" fmla="*/ 73 h 102"/>
              <a:gd name="T70" fmla="*/ 5 w 154"/>
              <a:gd name="T71" fmla="*/ 66 h 102"/>
              <a:gd name="T72" fmla="*/ 4 w 154"/>
              <a:gd name="T73" fmla="*/ 61 h 102"/>
              <a:gd name="T74" fmla="*/ 0 w 154"/>
              <a:gd name="T75" fmla="*/ 63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54" h="102">
                <a:moveTo>
                  <a:pt x="154" y="43"/>
                </a:moveTo>
                <a:lnTo>
                  <a:pt x="154" y="36"/>
                </a:lnTo>
                <a:lnTo>
                  <a:pt x="153" y="31"/>
                </a:lnTo>
                <a:lnTo>
                  <a:pt x="151" y="25"/>
                </a:lnTo>
                <a:lnTo>
                  <a:pt x="150" y="20"/>
                </a:lnTo>
                <a:lnTo>
                  <a:pt x="146" y="15"/>
                </a:lnTo>
                <a:lnTo>
                  <a:pt x="143" y="10"/>
                </a:lnTo>
                <a:lnTo>
                  <a:pt x="140" y="5"/>
                </a:lnTo>
                <a:lnTo>
                  <a:pt x="136" y="0"/>
                </a:lnTo>
                <a:lnTo>
                  <a:pt x="133" y="1"/>
                </a:lnTo>
                <a:lnTo>
                  <a:pt x="136" y="6"/>
                </a:lnTo>
                <a:lnTo>
                  <a:pt x="140" y="11"/>
                </a:lnTo>
                <a:lnTo>
                  <a:pt x="143" y="16"/>
                </a:lnTo>
                <a:lnTo>
                  <a:pt x="146" y="21"/>
                </a:lnTo>
                <a:lnTo>
                  <a:pt x="148" y="26"/>
                </a:lnTo>
                <a:lnTo>
                  <a:pt x="150" y="31"/>
                </a:lnTo>
                <a:lnTo>
                  <a:pt x="151" y="38"/>
                </a:lnTo>
                <a:lnTo>
                  <a:pt x="151" y="44"/>
                </a:lnTo>
                <a:lnTo>
                  <a:pt x="154" y="43"/>
                </a:lnTo>
                <a:close/>
                <a:moveTo>
                  <a:pt x="0" y="63"/>
                </a:moveTo>
                <a:lnTo>
                  <a:pt x="2" y="68"/>
                </a:lnTo>
                <a:lnTo>
                  <a:pt x="4" y="74"/>
                </a:lnTo>
                <a:lnTo>
                  <a:pt x="5" y="79"/>
                </a:lnTo>
                <a:lnTo>
                  <a:pt x="7" y="84"/>
                </a:lnTo>
                <a:lnTo>
                  <a:pt x="10" y="89"/>
                </a:lnTo>
                <a:lnTo>
                  <a:pt x="12" y="94"/>
                </a:lnTo>
                <a:lnTo>
                  <a:pt x="15" y="99"/>
                </a:lnTo>
                <a:lnTo>
                  <a:pt x="20" y="102"/>
                </a:lnTo>
                <a:lnTo>
                  <a:pt x="24" y="102"/>
                </a:lnTo>
                <a:lnTo>
                  <a:pt x="19" y="97"/>
                </a:lnTo>
                <a:lnTo>
                  <a:pt x="15" y="92"/>
                </a:lnTo>
                <a:lnTo>
                  <a:pt x="14" y="87"/>
                </a:lnTo>
                <a:lnTo>
                  <a:pt x="10" y="82"/>
                </a:lnTo>
                <a:lnTo>
                  <a:pt x="9" y="78"/>
                </a:lnTo>
                <a:lnTo>
                  <a:pt x="7" y="73"/>
                </a:lnTo>
                <a:lnTo>
                  <a:pt x="5" y="66"/>
                </a:lnTo>
                <a:lnTo>
                  <a:pt x="4" y="61"/>
                </a:lnTo>
                <a:lnTo>
                  <a:pt x="0" y="63"/>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61" name="Freeform 1966">
            <a:extLst>
              <a:ext uri="{FF2B5EF4-FFF2-40B4-BE49-F238E27FC236}">
                <a16:creationId xmlns:a16="http://schemas.microsoft.com/office/drawing/2014/main" id="{91DFBD52-B81A-B3E3-6CA8-7EB8180EFEFB}"/>
              </a:ext>
            </a:extLst>
          </p:cNvPr>
          <p:cNvSpPr>
            <a:spLocks noEditPoints="1"/>
          </p:cNvSpPr>
          <p:nvPr/>
        </p:nvSpPr>
        <p:spPr bwMode="auto">
          <a:xfrm>
            <a:off x="3398838" y="2520950"/>
            <a:ext cx="239713" cy="160338"/>
          </a:xfrm>
          <a:custGeom>
            <a:avLst/>
            <a:gdLst>
              <a:gd name="T0" fmla="*/ 151 w 151"/>
              <a:gd name="T1" fmla="*/ 42 h 101"/>
              <a:gd name="T2" fmla="*/ 151 w 151"/>
              <a:gd name="T3" fmla="*/ 37 h 101"/>
              <a:gd name="T4" fmla="*/ 149 w 151"/>
              <a:gd name="T5" fmla="*/ 30 h 101"/>
              <a:gd name="T6" fmla="*/ 148 w 151"/>
              <a:gd name="T7" fmla="*/ 25 h 101"/>
              <a:gd name="T8" fmla="*/ 146 w 151"/>
              <a:gd name="T9" fmla="*/ 19 h 101"/>
              <a:gd name="T10" fmla="*/ 143 w 151"/>
              <a:gd name="T11" fmla="*/ 14 h 101"/>
              <a:gd name="T12" fmla="*/ 139 w 151"/>
              <a:gd name="T13" fmla="*/ 9 h 101"/>
              <a:gd name="T14" fmla="*/ 136 w 151"/>
              <a:gd name="T15" fmla="*/ 4 h 101"/>
              <a:gd name="T16" fmla="*/ 133 w 151"/>
              <a:gd name="T17" fmla="*/ 0 h 101"/>
              <a:gd name="T18" fmla="*/ 129 w 151"/>
              <a:gd name="T19" fmla="*/ 2 h 101"/>
              <a:gd name="T20" fmla="*/ 134 w 151"/>
              <a:gd name="T21" fmla="*/ 5 h 101"/>
              <a:gd name="T22" fmla="*/ 138 w 151"/>
              <a:gd name="T23" fmla="*/ 10 h 101"/>
              <a:gd name="T24" fmla="*/ 139 w 151"/>
              <a:gd name="T25" fmla="*/ 15 h 101"/>
              <a:gd name="T26" fmla="*/ 143 w 151"/>
              <a:gd name="T27" fmla="*/ 20 h 101"/>
              <a:gd name="T28" fmla="*/ 144 w 151"/>
              <a:gd name="T29" fmla="*/ 27 h 101"/>
              <a:gd name="T30" fmla="*/ 146 w 151"/>
              <a:gd name="T31" fmla="*/ 32 h 101"/>
              <a:gd name="T32" fmla="*/ 148 w 151"/>
              <a:gd name="T33" fmla="*/ 37 h 101"/>
              <a:gd name="T34" fmla="*/ 148 w 151"/>
              <a:gd name="T35" fmla="*/ 43 h 101"/>
              <a:gd name="T36" fmla="*/ 151 w 151"/>
              <a:gd name="T37" fmla="*/ 42 h 101"/>
              <a:gd name="T38" fmla="*/ 0 w 151"/>
              <a:gd name="T39" fmla="*/ 60 h 101"/>
              <a:gd name="T40" fmla="*/ 2 w 151"/>
              <a:gd name="T41" fmla="*/ 67 h 101"/>
              <a:gd name="T42" fmla="*/ 3 w 151"/>
              <a:gd name="T43" fmla="*/ 72 h 101"/>
              <a:gd name="T44" fmla="*/ 5 w 151"/>
              <a:gd name="T45" fmla="*/ 77 h 101"/>
              <a:gd name="T46" fmla="*/ 7 w 151"/>
              <a:gd name="T47" fmla="*/ 83 h 101"/>
              <a:gd name="T48" fmla="*/ 10 w 151"/>
              <a:gd name="T49" fmla="*/ 88 h 101"/>
              <a:gd name="T50" fmla="*/ 12 w 151"/>
              <a:gd name="T51" fmla="*/ 93 h 101"/>
              <a:gd name="T52" fmla="*/ 15 w 151"/>
              <a:gd name="T53" fmla="*/ 96 h 101"/>
              <a:gd name="T54" fmla="*/ 20 w 151"/>
              <a:gd name="T55" fmla="*/ 101 h 101"/>
              <a:gd name="T56" fmla="*/ 23 w 151"/>
              <a:gd name="T57" fmla="*/ 100 h 101"/>
              <a:gd name="T58" fmla="*/ 18 w 151"/>
              <a:gd name="T59" fmla="*/ 95 h 101"/>
              <a:gd name="T60" fmla="*/ 15 w 151"/>
              <a:gd name="T61" fmla="*/ 91 h 101"/>
              <a:gd name="T62" fmla="*/ 12 w 151"/>
              <a:gd name="T63" fmla="*/ 86 h 101"/>
              <a:gd name="T64" fmla="*/ 10 w 151"/>
              <a:gd name="T65" fmla="*/ 81 h 101"/>
              <a:gd name="T66" fmla="*/ 8 w 151"/>
              <a:gd name="T67" fmla="*/ 77 h 101"/>
              <a:gd name="T68" fmla="*/ 5 w 151"/>
              <a:gd name="T69" fmla="*/ 70 h 101"/>
              <a:gd name="T70" fmla="*/ 5 w 151"/>
              <a:gd name="T71" fmla="*/ 65 h 101"/>
              <a:gd name="T72" fmla="*/ 3 w 151"/>
              <a:gd name="T73" fmla="*/ 58 h 101"/>
              <a:gd name="T74" fmla="*/ 0 w 151"/>
              <a:gd name="T75" fmla="*/ 60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51" h="101">
                <a:moveTo>
                  <a:pt x="151" y="42"/>
                </a:moveTo>
                <a:lnTo>
                  <a:pt x="151" y="37"/>
                </a:lnTo>
                <a:lnTo>
                  <a:pt x="149" y="30"/>
                </a:lnTo>
                <a:lnTo>
                  <a:pt x="148" y="25"/>
                </a:lnTo>
                <a:lnTo>
                  <a:pt x="146" y="19"/>
                </a:lnTo>
                <a:lnTo>
                  <a:pt x="143" y="14"/>
                </a:lnTo>
                <a:lnTo>
                  <a:pt x="139" y="9"/>
                </a:lnTo>
                <a:lnTo>
                  <a:pt x="136" y="4"/>
                </a:lnTo>
                <a:lnTo>
                  <a:pt x="133" y="0"/>
                </a:lnTo>
                <a:lnTo>
                  <a:pt x="129" y="2"/>
                </a:lnTo>
                <a:lnTo>
                  <a:pt x="134" y="5"/>
                </a:lnTo>
                <a:lnTo>
                  <a:pt x="138" y="10"/>
                </a:lnTo>
                <a:lnTo>
                  <a:pt x="139" y="15"/>
                </a:lnTo>
                <a:lnTo>
                  <a:pt x="143" y="20"/>
                </a:lnTo>
                <a:lnTo>
                  <a:pt x="144" y="27"/>
                </a:lnTo>
                <a:lnTo>
                  <a:pt x="146" y="32"/>
                </a:lnTo>
                <a:lnTo>
                  <a:pt x="148" y="37"/>
                </a:lnTo>
                <a:lnTo>
                  <a:pt x="148" y="43"/>
                </a:lnTo>
                <a:lnTo>
                  <a:pt x="151" y="42"/>
                </a:lnTo>
                <a:close/>
                <a:moveTo>
                  <a:pt x="0" y="60"/>
                </a:moveTo>
                <a:lnTo>
                  <a:pt x="2" y="67"/>
                </a:lnTo>
                <a:lnTo>
                  <a:pt x="3" y="72"/>
                </a:lnTo>
                <a:lnTo>
                  <a:pt x="5" y="77"/>
                </a:lnTo>
                <a:lnTo>
                  <a:pt x="7" y="83"/>
                </a:lnTo>
                <a:lnTo>
                  <a:pt x="10" y="88"/>
                </a:lnTo>
                <a:lnTo>
                  <a:pt x="12" y="93"/>
                </a:lnTo>
                <a:lnTo>
                  <a:pt x="15" y="96"/>
                </a:lnTo>
                <a:lnTo>
                  <a:pt x="20" y="101"/>
                </a:lnTo>
                <a:lnTo>
                  <a:pt x="23" y="100"/>
                </a:lnTo>
                <a:lnTo>
                  <a:pt x="18" y="95"/>
                </a:lnTo>
                <a:lnTo>
                  <a:pt x="15" y="91"/>
                </a:lnTo>
                <a:lnTo>
                  <a:pt x="12" y="86"/>
                </a:lnTo>
                <a:lnTo>
                  <a:pt x="10" y="81"/>
                </a:lnTo>
                <a:lnTo>
                  <a:pt x="8" y="77"/>
                </a:lnTo>
                <a:lnTo>
                  <a:pt x="5" y="70"/>
                </a:lnTo>
                <a:lnTo>
                  <a:pt x="5" y="65"/>
                </a:lnTo>
                <a:lnTo>
                  <a:pt x="3" y="58"/>
                </a:lnTo>
                <a:lnTo>
                  <a:pt x="0" y="6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62" name="Freeform 1967">
            <a:extLst>
              <a:ext uri="{FF2B5EF4-FFF2-40B4-BE49-F238E27FC236}">
                <a16:creationId xmlns:a16="http://schemas.microsoft.com/office/drawing/2014/main" id="{32BBCB4D-0819-9619-A311-719247E4DB32}"/>
              </a:ext>
            </a:extLst>
          </p:cNvPr>
          <p:cNvSpPr>
            <a:spLocks noEditPoints="1"/>
          </p:cNvSpPr>
          <p:nvPr/>
        </p:nvSpPr>
        <p:spPr bwMode="auto">
          <a:xfrm>
            <a:off x="2320925" y="2719388"/>
            <a:ext cx="473075" cy="80963"/>
          </a:xfrm>
          <a:custGeom>
            <a:avLst/>
            <a:gdLst>
              <a:gd name="T0" fmla="*/ 298 w 298"/>
              <a:gd name="T1" fmla="*/ 21 h 51"/>
              <a:gd name="T2" fmla="*/ 298 w 298"/>
              <a:gd name="T3" fmla="*/ 14 h 51"/>
              <a:gd name="T4" fmla="*/ 297 w 298"/>
              <a:gd name="T5" fmla="*/ 8 h 51"/>
              <a:gd name="T6" fmla="*/ 297 w 298"/>
              <a:gd name="T7" fmla="*/ 3 h 51"/>
              <a:gd name="T8" fmla="*/ 292 w 298"/>
              <a:gd name="T9" fmla="*/ 0 h 51"/>
              <a:gd name="T10" fmla="*/ 293 w 298"/>
              <a:gd name="T11" fmla="*/ 6 h 51"/>
              <a:gd name="T12" fmla="*/ 293 w 298"/>
              <a:gd name="T13" fmla="*/ 11 h 51"/>
              <a:gd name="T14" fmla="*/ 295 w 298"/>
              <a:gd name="T15" fmla="*/ 18 h 51"/>
              <a:gd name="T16" fmla="*/ 295 w 298"/>
              <a:gd name="T17" fmla="*/ 24 h 51"/>
              <a:gd name="T18" fmla="*/ 295 w 298"/>
              <a:gd name="T19" fmla="*/ 31 h 51"/>
              <a:gd name="T20" fmla="*/ 293 w 298"/>
              <a:gd name="T21" fmla="*/ 38 h 51"/>
              <a:gd name="T22" fmla="*/ 293 w 298"/>
              <a:gd name="T23" fmla="*/ 44 h 51"/>
              <a:gd name="T24" fmla="*/ 292 w 298"/>
              <a:gd name="T25" fmla="*/ 51 h 51"/>
              <a:gd name="T26" fmla="*/ 297 w 298"/>
              <a:gd name="T27" fmla="*/ 48 h 51"/>
              <a:gd name="T28" fmla="*/ 297 w 298"/>
              <a:gd name="T29" fmla="*/ 41 h 51"/>
              <a:gd name="T30" fmla="*/ 298 w 298"/>
              <a:gd name="T31" fmla="*/ 34 h 51"/>
              <a:gd name="T32" fmla="*/ 298 w 298"/>
              <a:gd name="T33" fmla="*/ 28 h 51"/>
              <a:gd name="T34" fmla="*/ 3 w 298"/>
              <a:gd name="T35" fmla="*/ 0 h 51"/>
              <a:gd name="T36" fmla="*/ 2 w 298"/>
              <a:gd name="T37" fmla="*/ 6 h 51"/>
              <a:gd name="T38" fmla="*/ 2 w 298"/>
              <a:gd name="T39" fmla="*/ 11 h 51"/>
              <a:gd name="T40" fmla="*/ 2 w 298"/>
              <a:gd name="T41" fmla="*/ 18 h 51"/>
              <a:gd name="T42" fmla="*/ 0 w 298"/>
              <a:gd name="T43" fmla="*/ 24 h 51"/>
              <a:gd name="T44" fmla="*/ 2 w 298"/>
              <a:gd name="T45" fmla="*/ 31 h 51"/>
              <a:gd name="T46" fmla="*/ 2 w 298"/>
              <a:gd name="T47" fmla="*/ 38 h 51"/>
              <a:gd name="T48" fmla="*/ 2 w 298"/>
              <a:gd name="T49" fmla="*/ 44 h 51"/>
              <a:gd name="T50" fmla="*/ 3 w 298"/>
              <a:gd name="T51" fmla="*/ 51 h 51"/>
              <a:gd name="T52" fmla="*/ 5 w 298"/>
              <a:gd name="T53" fmla="*/ 48 h 51"/>
              <a:gd name="T54" fmla="*/ 5 w 298"/>
              <a:gd name="T55" fmla="*/ 41 h 51"/>
              <a:gd name="T56" fmla="*/ 5 w 298"/>
              <a:gd name="T57" fmla="*/ 34 h 51"/>
              <a:gd name="T58" fmla="*/ 3 w 298"/>
              <a:gd name="T59" fmla="*/ 28 h 51"/>
              <a:gd name="T60" fmla="*/ 3 w 298"/>
              <a:gd name="T61" fmla="*/ 21 h 51"/>
              <a:gd name="T62" fmla="*/ 5 w 298"/>
              <a:gd name="T63" fmla="*/ 14 h 51"/>
              <a:gd name="T64" fmla="*/ 5 w 298"/>
              <a:gd name="T65" fmla="*/ 8 h 51"/>
              <a:gd name="T66" fmla="*/ 7 w 298"/>
              <a:gd name="T67" fmla="*/ 3 h 51"/>
              <a:gd name="T68" fmla="*/ 3 w 29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8" h="51">
                <a:moveTo>
                  <a:pt x="298" y="24"/>
                </a:moveTo>
                <a:lnTo>
                  <a:pt x="298" y="21"/>
                </a:lnTo>
                <a:lnTo>
                  <a:pt x="298" y="18"/>
                </a:lnTo>
                <a:lnTo>
                  <a:pt x="298" y="14"/>
                </a:lnTo>
                <a:lnTo>
                  <a:pt x="297" y="11"/>
                </a:lnTo>
                <a:lnTo>
                  <a:pt x="297" y="8"/>
                </a:lnTo>
                <a:lnTo>
                  <a:pt x="297" y="6"/>
                </a:lnTo>
                <a:lnTo>
                  <a:pt x="297" y="3"/>
                </a:lnTo>
                <a:lnTo>
                  <a:pt x="295" y="0"/>
                </a:lnTo>
                <a:lnTo>
                  <a:pt x="292" y="0"/>
                </a:lnTo>
                <a:lnTo>
                  <a:pt x="293" y="3"/>
                </a:lnTo>
                <a:lnTo>
                  <a:pt x="293" y="6"/>
                </a:lnTo>
                <a:lnTo>
                  <a:pt x="293" y="8"/>
                </a:lnTo>
                <a:lnTo>
                  <a:pt x="293" y="11"/>
                </a:lnTo>
                <a:lnTo>
                  <a:pt x="295" y="14"/>
                </a:lnTo>
                <a:lnTo>
                  <a:pt x="295" y="18"/>
                </a:lnTo>
                <a:lnTo>
                  <a:pt x="295" y="21"/>
                </a:lnTo>
                <a:lnTo>
                  <a:pt x="295" y="24"/>
                </a:lnTo>
                <a:lnTo>
                  <a:pt x="295" y="28"/>
                </a:lnTo>
                <a:lnTo>
                  <a:pt x="295" y="31"/>
                </a:lnTo>
                <a:lnTo>
                  <a:pt x="295" y="34"/>
                </a:lnTo>
                <a:lnTo>
                  <a:pt x="293" y="38"/>
                </a:lnTo>
                <a:lnTo>
                  <a:pt x="293" y="41"/>
                </a:lnTo>
                <a:lnTo>
                  <a:pt x="293" y="44"/>
                </a:lnTo>
                <a:lnTo>
                  <a:pt x="293" y="48"/>
                </a:lnTo>
                <a:lnTo>
                  <a:pt x="292" y="51"/>
                </a:lnTo>
                <a:lnTo>
                  <a:pt x="295" y="51"/>
                </a:lnTo>
                <a:lnTo>
                  <a:pt x="297" y="48"/>
                </a:lnTo>
                <a:lnTo>
                  <a:pt x="297" y="44"/>
                </a:lnTo>
                <a:lnTo>
                  <a:pt x="297" y="41"/>
                </a:lnTo>
                <a:lnTo>
                  <a:pt x="297" y="38"/>
                </a:lnTo>
                <a:lnTo>
                  <a:pt x="298" y="34"/>
                </a:lnTo>
                <a:lnTo>
                  <a:pt x="298" y="31"/>
                </a:lnTo>
                <a:lnTo>
                  <a:pt x="298" y="28"/>
                </a:lnTo>
                <a:lnTo>
                  <a:pt x="298" y="24"/>
                </a:lnTo>
                <a:close/>
                <a:moveTo>
                  <a:pt x="3" y="0"/>
                </a:moveTo>
                <a:lnTo>
                  <a:pt x="3"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7" y="3"/>
                </a:lnTo>
                <a:lnTo>
                  <a:pt x="7" y="0"/>
                </a:lnTo>
                <a:lnTo>
                  <a:pt x="3"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63" name="Freeform 1968">
            <a:extLst>
              <a:ext uri="{FF2B5EF4-FFF2-40B4-BE49-F238E27FC236}">
                <a16:creationId xmlns:a16="http://schemas.microsoft.com/office/drawing/2014/main" id="{4B3DEE09-E615-6472-DF71-132D6A86BE12}"/>
              </a:ext>
            </a:extLst>
          </p:cNvPr>
          <p:cNvSpPr>
            <a:spLocks noEditPoints="1"/>
          </p:cNvSpPr>
          <p:nvPr/>
        </p:nvSpPr>
        <p:spPr bwMode="auto">
          <a:xfrm>
            <a:off x="2324100" y="2719388"/>
            <a:ext cx="468313" cy="80963"/>
          </a:xfrm>
          <a:custGeom>
            <a:avLst/>
            <a:gdLst>
              <a:gd name="T0" fmla="*/ 295 w 295"/>
              <a:gd name="T1" fmla="*/ 21 h 51"/>
              <a:gd name="T2" fmla="*/ 295 w 295"/>
              <a:gd name="T3" fmla="*/ 14 h 51"/>
              <a:gd name="T4" fmla="*/ 293 w 295"/>
              <a:gd name="T5" fmla="*/ 8 h 51"/>
              <a:gd name="T6" fmla="*/ 293 w 295"/>
              <a:gd name="T7" fmla="*/ 3 h 51"/>
              <a:gd name="T8" fmla="*/ 288 w 295"/>
              <a:gd name="T9" fmla="*/ 0 h 51"/>
              <a:gd name="T10" fmla="*/ 290 w 295"/>
              <a:gd name="T11" fmla="*/ 6 h 51"/>
              <a:gd name="T12" fmla="*/ 290 w 295"/>
              <a:gd name="T13" fmla="*/ 11 h 51"/>
              <a:gd name="T14" fmla="*/ 291 w 295"/>
              <a:gd name="T15" fmla="*/ 18 h 51"/>
              <a:gd name="T16" fmla="*/ 291 w 295"/>
              <a:gd name="T17" fmla="*/ 24 h 51"/>
              <a:gd name="T18" fmla="*/ 291 w 295"/>
              <a:gd name="T19" fmla="*/ 31 h 51"/>
              <a:gd name="T20" fmla="*/ 290 w 295"/>
              <a:gd name="T21" fmla="*/ 38 h 51"/>
              <a:gd name="T22" fmla="*/ 290 w 295"/>
              <a:gd name="T23" fmla="*/ 44 h 51"/>
              <a:gd name="T24" fmla="*/ 288 w 295"/>
              <a:gd name="T25" fmla="*/ 51 h 51"/>
              <a:gd name="T26" fmla="*/ 293 w 295"/>
              <a:gd name="T27" fmla="*/ 48 h 51"/>
              <a:gd name="T28" fmla="*/ 293 w 295"/>
              <a:gd name="T29" fmla="*/ 41 h 51"/>
              <a:gd name="T30" fmla="*/ 295 w 295"/>
              <a:gd name="T31" fmla="*/ 34 h 51"/>
              <a:gd name="T32" fmla="*/ 295 w 295"/>
              <a:gd name="T33" fmla="*/ 28 h 51"/>
              <a:gd name="T34" fmla="*/ 3 w 295"/>
              <a:gd name="T35" fmla="*/ 0 h 51"/>
              <a:gd name="T36" fmla="*/ 1 w 295"/>
              <a:gd name="T37" fmla="*/ 6 h 51"/>
              <a:gd name="T38" fmla="*/ 1 w 295"/>
              <a:gd name="T39" fmla="*/ 11 h 51"/>
              <a:gd name="T40" fmla="*/ 1 w 295"/>
              <a:gd name="T41" fmla="*/ 18 h 51"/>
              <a:gd name="T42" fmla="*/ 0 w 295"/>
              <a:gd name="T43" fmla="*/ 24 h 51"/>
              <a:gd name="T44" fmla="*/ 1 w 295"/>
              <a:gd name="T45" fmla="*/ 31 h 51"/>
              <a:gd name="T46" fmla="*/ 1 w 295"/>
              <a:gd name="T47" fmla="*/ 38 h 51"/>
              <a:gd name="T48" fmla="*/ 1 w 295"/>
              <a:gd name="T49" fmla="*/ 44 h 51"/>
              <a:gd name="T50" fmla="*/ 3 w 295"/>
              <a:gd name="T51" fmla="*/ 51 h 51"/>
              <a:gd name="T52" fmla="*/ 5 w 295"/>
              <a:gd name="T53" fmla="*/ 48 h 51"/>
              <a:gd name="T54" fmla="*/ 5 w 295"/>
              <a:gd name="T55" fmla="*/ 41 h 51"/>
              <a:gd name="T56" fmla="*/ 5 w 295"/>
              <a:gd name="T57" fmla="*/ 34 h 51"/>
              <a:gd name="T58" fmla="*/ 3 w 295"/>
              <a:gd name="T59" fmla="*/ 28 h 51"/>
              <a:gd name="T60" fmla="*/ 3 w 295"/>
              <a:gd name="T61" fmla="*/ 21 h 51"/>
              <a:gd name="T62" fmla="*/ 5 w 295"/>
              <a:gd name="T63" fmla="*/ 14 h 51"/>
              <a:gd name="T64" fmla="*/ 5 w 295"/>
              <a:gd name="T65" fmla="*/ 8 h 51"/>
              <a:gd name="T66" fmla="*/ 6 w 295"/>
              <a:gd name="T67" fmla="*/ 3 h 51"/>
              <a:gd name="T68" fmla="*/ 3 w 29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5" h="51">
                <a:moveTo>
                  <a:pt x="295" y="24"/>
                </a:moveTo>
                <a:lnTo>
                  <a:pt x="295" y="21"/>
                </a:lnTo>
                <a:lnTo>
                  <a:pt x="295" y="18"/>
                </a:lnTo>
                <a:lnTo>
                  <a:pt x="295" y="14"/>
                </a:lnTo>
                <a:lnTo>
                  <a:pt x="293" y="11"/>
                </a:lnTo>
                <a:lnTo>
                  <a:pt x="293" y="8"/>
                </a:lnTo>
                <a:lnTo>
                  <a:pt x="293" y="6"/>
                </a:lnTo>
                <a:lnTo>
                  <a:pt x="293" y="3"/>
                </a:lnTo>
                <a:lnTo>
                  <a:pt x="291" y="0"/>
                </a:lnTo>
                <a:lnTo>
                  <a:pt x="288" y="0"/>
                </a:lnTo>
                <a:lnTo>
                  <a:pt x="290" y="3"/>
                </a:lnTo>
                <a:lnTo>
                  <a:pt x="290" y="6"/>
                </a:lnTo>
                <a:lnTo>
                  <a:pt x="290" y="8"/>
                </a:lnTo>
                <a:lnTo>
                  <a:pt x="290" y="11"/>
                </a:lnTo>
                <a:lnTo>
                  <a:pt x="291" y="14"/>
                </a:lnTo>
                <a:lnTo>
                  <a:pt x="291" y="18"/>
                </a:lnTo>
                <a:lnTo>
                  <a:pt x="291" y="21"/>
                </a:lnTo>
                <a:lnTo>
                  <a:pt x="291" y="24"/>
                </a:lnTo>
                <a:lnTo>
                  <a:pt x="291" y="28"/>
                </a:lnTo>
                <a:lnTo>
                  <a:pt x="291" y="31"/>
                </a:lnTo>
                <a:lnTo>
                  <a:pt x="291" y="34"/>
                </a:lnTo>
                <a:lnTo>
                  <a:pt x="290" y="38"/>
                </a:lnTo>
                <a:lnTo>
                  <a:pt x="290" y="41"/>
                </a:lnTo>
                <a:lnTo>
                  <a:pt x="290" y="44"/>
                </a:lnTo>
                <a:lnTo>
                  <a:pt x="290" y="48"/>
                </a:lnTo>
                <a:lnTo>
                  <a:pt x="288" y="51"/>
                </a:lnTo>
                <a:lnTo>
                  <a:pt x="291" y="51"/>
                </a:lnTo>
                <a:lnTo>
                  <a:pt x="293" y="48"/>
                </a:lnTo>
                <a:lnTo>
                  <a:pt x="293" y="44"/>
                </a:lnTo>
                <a:lnTo>
                  <a:pt x="293" y="41"/>
                </a:lnTo>
                <a:lnTo>
                  <a:pt x="293" y="38"/>
                </a:lnTo>
                <a:lnTo>
                  <a:pt x="295" y="34"/>
                </a:lnTo>
                <a:lnTo>
                  <a:pt x="295" y="31"/>
                </a:lnTo>
                <a:lnTo>
                  <a:pt x="295" y="28"/>
                </a:lnTo>
                <a:lnTo>
                  <a:pt x="295" y="24"/>
                </a:lnTo>
                <a:close/>
                <a:moveTo>
                  <a:pt x="3" y="0"/>
                </a:moveTo>
                <a:lnTo>
                  <a:pt x="3" y="3"/>
                </a:lnTo>
                <a:lnTo>
                  <a:pt x="1" y="6"/>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6" y="3"/>
                </a:lnTo>
                <a:lnTo>
                  <a:pt x="6" y="0"/>
                </a:lnTo>
                <a:lnTo>
                  <a:pt x="3" y="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64" name="Freeform 1969">
            <a:extLst>
              <a:ext uri="{FF2B5EF4-FFF2-40B4-BE49-F238E27FC236}">
                <a16:creationId xmlns:a16="http://schemas.microsoft.com/office/drawing/2014/main" id="{9B3F983F-A5F8-A828-8527-538DA88FD777}"/>
              </a:ext>
            </a:extLst>
          </p:cNvPr>
          <p:cNvSpPr>
            <a:spLocks noEditPoints="1"/>
          </p:cNvSpPr>
          <p:nvPr/>
        </p:nvSpPr>
        <p:spPr bwMode="auto">
          <a:xfrm>
            <a:off x="2325688" y="2719388"/>
            <a:ext cx="463550" cy="80963"/>
          </a:xfrm>
          <a:custGeom>
            <a:avLst/>
            <a:gdLst>
              <a:gd name="T0" fmla="*/ 292 w 292"/>
              <a:gd name="T1" fmla="*/ 21 h 51"/>
              <a:gd name="T2" fmla="*/ 292 w 292"/>
              <a:gd name="T3" fmla="*/ 14 h 51"/>
              <a:gd name="T4" fmla="*/ 290 w 292"/>
              <a:gd name="T5" fmla="*/ 8 h 51"/>
              <a:gd name="T6" fmla="*/ 290 w 292"/>
              <a:gd name="T7" fmla="*/ 3 h 51"/>
              <a:gd name="T8" fmla="*/ 285 w 292"/>
              <a:gd name="T9" fmla="*/ 0 h 51"/>
              <a:gd name="T10" fmla="*/ 287 w 292"/>
              <a:gd name="T11" fmla="*/ 6 h 51"/>
              <a:gd name="T12" fmla="*/ 287 w 292"/>
              <a:gd name="T13" fmla="*/ 11 h 51"/>
              <a:gd name="T14" fmla="*/ 289 w 292"/>
              <a:gd name="T15" fmla="*/ 18 h 51"/>
              <a:gd name="T16" fmla="*/ 289 w 292"/>
              <a:gd name="T17" fmla="*/ 24 h 51"/>
              <a:gd name="T18" fmla="*/ 289 w 292"/>
              <a:gd name="T19" fmla="*/ 31 h 51"/>
              <a:gd name="T20" fmla="*/ 287 w 292"/>
              <a:gd name="T21" fmla="*/ 38 h 51"/>
              <a:gd name="T22" fmla="*/ 287 w 292"/>
              <a:gd name="T23" fmla="*/ 44 h 51"/>
              <a:gd name="T24" fmla="*/ 285 w 292"/>
              <a:gd name="T25" fmla="*/ 51 h 51"/>
              <a:gd name="T26" fmla="*/ 290 w 292"/>
              <a:gd name="T27" fmla="*/ 48 h 51"/>
              <a:gd name="T28" fmla="*/ 290 w 292"/>
              <a:gd name="T29" fmla="*/ 41 h 51"/>
              <a:gd name="T30" fmla="*/ 292 w 292"/>
              <a:gd name="T31" fmla="*/ 34 h 51"/>
              <a:gd name="T32" fmla="*/ 292 w 292"/>
              <a:gd name="T33" fmla="*/ 28 h 51"/>
              <a:gd name="T34" fmla="*/ 4 w 292"/>
              <a:gd name="T35" fmla="*/ 0 h 51"/>
              <a:gd name="T36" fmla="*/ 2 w 292"/>
              <a:gd name="T37" fmla="*/ 6 h 51"/>
              <a:gd name="T38" fmla="*/ 2 w 292"/>
              <a:gd name="T39" fmla="*/ 11 h 51"/>
              <a:gd name="T40" fmla="*/ 2 w 292"/>
              <a:gd name="T41" fmla="*/ 18 h 51"/>
              <a:gd name="T42" fmla="*/ 0 w 292"/>
              <a:gd name="T43" fmla="*/ 24 h 51"/>
              <a:gd name="T44" fmla="*/ 2 w 292"/>
              <a:gd name="T45" fmla="*/ 31 h 51"/>
              <a:gd name="T46" fmla="*/ 2 w 292"/>
              <a:gd name="T47" fmla="*/ 38 h 51"/>
              <a:gd name="T48" fmla="*/ 2 w 292"/>
              <a:gd name="T49" fmla="*/ 44 h 51"/>
              <a:gd name="T50" fmla="*/ 4 w 292"/>
              <a:gd name="T51" fmla="*/ 51 h 51"/>
              <a:gd name="T52" fmla="*/ 5 w 292"/>
              <a:gd name="T53" fmla="*/ 48 h 51"/>
              <a:gd name="T54" fmla="*/ 5 w 292"/>
              <a:gd name="T55" fmla="*/ 41 h 51"/>
              <a:gd name="T56" fmla="*/ 5 w 292"/>
              <a:gd name="T57" fmla="*/ 34 h 51"/>
              <a:gd name="T58" fmla="*/ 4 w 292"/>
              <a:gd name="T59" fmla="*/ 28 h 51"/>
              <a:gd name="T60" fmla="*/ 4 w 292"/>
              <a:gd name="T61" fmla="*/ 21 h 51"/>
              <a:gd name="T62" fmla="*/ 5 w 292"/>
              <a:gd name="T63" fmla="*/ 14 h 51"/>
              <a:gd name="T64" fmla="*/ 5 w 292"/>
              <a:gd name="T65" fmla="*/ 8 h 51"/>
              <a:gd name="T66" fmla="*/ 7 w 292"/>
              <a:gd name="T67" fmla="*/ 3 h 51"/>
              <a:gd name="T68" fmla="*/ 4 w 29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92" h="51">
                <a:moveTo>
                  <a:pt x="292" y="24"/>
                </a:moveTo>
                <a:lnTo>
                  <a:pt x="292" y="21"/>
                </a:lnTo>
                <a:lnTo>
                  <a:pt x="292" y="18"/>
                </a:lnTo>
                <a:lnTo>
                  <a:pt x="292" y="14"/>
                </a:lnTo>
                <a:lnTo>
                  <a:pt x="290" y="11"/>
                </a:lnTo>
                <a:lnTo>
                  <a:pt x="290" y="8"/>
                </a:lnTo>
                <a:lnTo>
                  <a:pt x="290" y="6"/>
                </a:lnTo>
                <a:lnTo>
                  <a:pt x="290" y="3"/>
                </a:lnTo>
                <a:lnTo>
                  <a:pt x="289" y="0"/>
                </a:lnTo>
                <a:lnTo>
                  <a:pt x="285" y="0"/>
                </a:lnTo>
                <a:lnTo>
                  <a:pt x="287" y="3"/>
                </a:lnTo>
                <a:lnTo>
                  <a:pt x="287" y="6"/>
                </a:lnTo>
                <a:lnTo>
                  <a:pt x="287" y="8"/>
                </a:lnTo>
                <a:lnTo>
                  <a:pt x="287" y="11"/>
                </a:lnTo>
                <a:lnTo>
                  <a:pt x="289" y="14"/>
                </a:lnTo>
                <a:lnTo>
                  <a:pt x="289" y="18"/>
                </a:lnTo>
                <a:lnTo>
                  <a:pt x="289" y="21"/>
                </a:lnTo>
                <a:lnTo>
                  <a:pt x="289" y="24"/>
                </a:lnTo>
                <a:lnTo>
                  <a:pt x="289" y="28"/>
                </a:lnTo>
                <a:lnTo>
                  <a:pt x="289" y="31"/>
                </a:lnTo>
                <a:lnTo>
                  <a:pt x="289" y="34"/>
                </a:lnTo>
                <a:lnTo>
                  <a:pt x="287" y="38"/>
                </a:lnTo>
                <a:lnTo>
                  <a:pt x="287" y="41"/>
                </a:lnTo>
                <a:lnTo>
                  <a:pt x="287" y="44"/>
                </a:lnTo>
                <a:lnTo>
                  <a:pt x="287" y="48"/>
                </a:lnTo>
                <a:lnTo>
                  <a:pt x="285" y="51"/>
                </a:lnTo>
                <a:lnTo>
                  <a:pt x="289" y="51"/>
                </a:lnTo>
                <a:lnTo>
                  <a:pt x="290" y="48"/>
                </a:lnTo>
                <a:lnTo>
                  <a:pt x="290" y="44"/>
                </a:lnTo>
                <a:lnTo>
                  <a:pt x="290" y="41"/>
                </a:lnTo>
                <a:lnTo>
                  <a:pt x="290" y="38"/>
                </a:lnTo>
                <a:lnTo>
                  <a:pt x="292" y="34"/>
                </a:lnTo>
                <a:lnTo>
                  <a:pt x="292" y="31"/>
                </a:lnTo>
                <a:lnTo>
                  <a:pt x="292" y="28"/>
                </a:lnTo>
                <a:lnTo>
                  <a:pt x="292" y="24"/>
                </a:lnTo>
                <a:close/>
                <a:moveTo>
                  <a:pt x="4" y="0"/>
                </a:moveTo>
                <a:lnTo>
                  <a:pt x="4"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6"/>
                </a:lnTo>
                <a:lnTo>
                  <a:pt x="7" y="3"/>
                </a:lnTo>
                <a:lnTo>
                  <a:pt x="7" y="0"/>
                </a:lnTo>
                <a:lnTo>
                  <a:pt x="4"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65" name="Freeform 1970">
            <a:extLst>
              <a:ext uri="{FF2B5EF4-FFF2-40B4-BE49-F238E27FC236}">
                <a16:creationId xmlns:a16="http://schemas.microsoft.com/office/drawing/2014/main" id="{B81B7455-C8AE-133C-24BD-D5C856A9A050}"/>
              </a:ext>
            </a:extLst>
          </p:cNvPr>
          <p:cNvSpPr>
            <a:spLocks noEditPoints="1"/>
          </p:cNvSpPr>
          <p:nvPr/>
        </p:nvSpPr>
        <p:spPr bwMode="auto">
          <a:xfrm>
            <a:off x="2328863" y="2719388"/>
            <a:ext cx="457200" cy="80963"/>
          </a:xfrm>
          <a:custGeom>
            <a:avLst/>
            <a:gdLst>
              <a:gd name="T0" fmla="*/ 288 w 288"/>
              <a:gd name="T1" fmla="*/ 21 h 51"/>
              <a:gd name="T2" fmla="*/ 288 w 288"/>
              <a:gd name="T3" fmla="*/ 14 h 51"/>
              <a:gd name="T4" fmla="*/ 287 w 288"/>
              <a:gd name="T5" fmla="*/ 8 h 51"/>
              <a:gd name="T6" fmla="*/ 287 w 288"/>
              <a:gd name="T7" fmla="*/ 3 h 51"/>
              <a:gd name="T8" fmla="*/ 282 w 288"/>
              <a:gd name="T9" fmla="*/ 0 h 51"/>
              <a:gd name="T10" fmla="*/ 283 w 288"/>
              <a:gd name="T11" fmla="*/ 6 h 51"/>
              <a:gd name="T12" fmla="*/ 283 w 288"/>
              <a:gd name="T13" fmla="*/ 11 h 51"/>
              <a:gd name="T14" fmla="*/ 285 w 288"/>
              <a:gd name="T15" fmla="*/ 18 h 51"/>
              <a:gd name="T16" fmla="*/ 285 w 288"/>
              <a:gd name="T17" fmla="*/ 24 h 51"/>
              <a:gd name="T18" fmla="*/ 285 w 288"/>
              <a:gd name="T19" fmla="*/ 31 h 51"/>
              <a:gd name="T20" fmla="*/ 283 w 288"/>
              <a:gd name="T21" fmla="*/ 38 h 51"/>
              <a:gd name="T22" fmla="*/ 283 w 288"/>
              <a:gd name="T23" fmla="*/ 44 h 51"/>
              <a:gd name="T24" fmla="*/ 282 w 288"/>
              <a:gd name="T25" fmla="*/ 51 h 51"/>
              <a:gd name="T26" fmla="*/ 287 w 288"/>
              <a:gd name="T27" fmla="*/ 48 h 51"/>
              <a:gd name="T28" fmla="*/ 287 w 288"/>
              <a:gd name="T29" fmla="*/ 41 h 51"/>
              <a:gd name="T30" fmla="*/ 288 w 288"/>
              <a:gd name="T31" fmla="*/ 34 h 51"/>
              <a:gd name="T32" fmla="*/ 288 w 288"/>
              <a:gd name="T33" fmla="*/ 28 h 51"/>
              <a:gd name="T34" fmla="*/ 3 w 288"/>
              <a:gd name="T35" fmla="*/ 0 h 51"/>
              <a:gd name="T36" fmla="*/ 2 w 288"/>
              <a:gd name="T37" fmla="*/ 6 h 51"/>
              <a:gd name="T38" fmla="*/ 2 w 288"/>
              <a:gd name="T39" fmla="*/ 11 h 51"/>
              <a:gd name="T40" fmla="*/ 2 w 288"/>
              <a:gd name="T41" fmla="*/ 18 h 51"/>
              <a:gd name="T42" fmla="*/ 0 w 288"/>
              <a:gd name="T43" fmla="*/ 24 h 51"/>
              <a:gd name="T44" fmla="*/ 2 w 288"/>
              <a:gd name="T45" fmla="*/ 31 h 51"/>
              <a:gd name="T46" fmla="*/ 2 w 288"/>
              <a:gd name="T47" fmla="*/ 38 h 51"/>
              <a:gd name="T48" fmla="*/ 2 w 288"/>
              <a:gd name="T49" fmla="*/ 44 h 51"/>
              <a:gd name="T50" fmla="*/ 3 w 288"/>
              <a:gd name="T51" fmla="*/ 51 h 51"/>
              <a:gd name="T52" fmla="*/ 5 w 288"/>
              <a:gd name="T53" fmla="*/ 48 h 51"/>
              <a:gd name="T54" fmla="*/ 5 w 288"/>
              <a:gd name="T55" fmla="*/ 41 h 51"/>
              <a:gd name="T56" fmla="*/ 5 w 288"/>
              <a:gd name="T57" fmla="*/ 34 h 51"/>
              <a:gd name="T58" fmla="*/ 3 w 288"/>
              <a:gd name="T59" fmla="*/ 28 h 51"/>
              <a:gd name="T60" fmla="*/ 3 w 288"/>
              <a:gd name="T61" fmla="*/ 21 h 51"/>
              <a:gd name="T62" fmla="*/ 5 w 288"/>
              <a:gd name="T63" fmla="*/ 14 h 51"/>
              <a:gd name="T64" fmla="*/ 5 w 288"/>
              <a:gd name="T65" fmla="*/ 8 h 51"/>
              <a:gd name="T66" fmla="*/ 7 w 288"/>
              <a:gd name="T67" fmla="*/ 3 h 51"/>
              <a:gd name="T68" fmla="*/ 3 w 28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8" h="51">
                <a:moveTo>
                  <a:pt x="288" y="24"/>
                </a:moveTo>
                <a:lnTo>
                  <a:pt x="288" y="21"/>
                </a:lnTo>
                <a:lnTo>
                  <a:pt x="288" y="18"/>
                </a:lnTo>
                <a:lnTo>
                  <a:pt x="288" y="14"/>
                </a:lnTo>
                <a:lnTo>
                  <a:pt x="287" y="11"/>
                </a:lnTo>
                <a:lnTo>
                  <a:pt x="287" y="8"/>
                </a:lnTo>
                <a:lnTo>
                  <a:pt x="287" y="6"/>
                </a:lnTo>
                <a:lnTo>
                  <a:pt x="287" y="3"/>
                </a:lnTo>
                <a:lnTo>
                  <a:pt x="285" y="0"/>
                </a:lnTo>
                <a:lnTo>
                  <a:pt x="282" y="0"/>
                </a:lnTo>
                <a:lnTo>
                  <a:pt x="283" y="3"/>
                </a:lnTo>
                <a:lnTo>
                  <a:pt x="283" y="6"/>
                </a:lnTo>
                <a:lnTo>
                  <a:pt x="283" y="8"/>
                </a:lnTo>
                <a:lnTo>
                  <a:pt x="283" y="11"/>
                </a:lnTo>
                <a:lnTo>
                  <a:pt x="285" y="14"/>
                </a:lnTo>
                <a:lnTo>
                  <a:pt x="285" y="18"/>
                </a:lnTo>
                <a:lnTo>
                  <a:pt x="285" y="21"/>
                </a:lnTo>
                <a:lnTo>
                  <a:pt x="285" y="24"/>
                </a:lnTo>
                <a:lnTo>
                  <a:pt x="285" y="28"/>
                </a:lnTo>
                <a:lnTo>
                  <a:pt x="285" y="31"/>
                </a:lnTo>
                <a:lnTo>
                  <a:pt x="285" y="34"/>
                </a:lnTo>
                <a:lnTo>
                  <a:pt x="283" y="38"/>
                </a:lnTo>
                <a:lnTo>
                  <a:pt x="283" y="41"/>
                </a:lnTo>
                <a:lnTo>
                  <a:pt x="283" y="44"/>
                </a:lnTo>
                <a:lnTo>
                  <a:pt x="283" y="48"/>
                </a:lnTo>
                <a:lnTo>
                  <a:pt x="282" y="51"/>
                </a:lnTo>
                <a:lnTo>
                  <a:pt x="285" y="51"/>
                </a:lnTo>
                <a:lnTo>
                  <a:pt x="287" y="48"/>
                </a:lnTo>
                <a:lnTo>
                  <a:pt x="287" y="44"/>
                </a:lnTo>
                <a:lnTo>
                  <a:pt x="287" y="41"/>
                </a:lnTo>
                <a:lnTo>
                  <a:pt x="287" y="38"/>
                </a:lnTo>
                <a:lnTo>
                  <a:pt x="288" y="34"/>
                </a:lnTo>
                <a:lnTo>
                  <a:pt x="288" y="31"/>
                </a:lnTo>
                <a:lnTo>
                  <a:pt x="288" y="28"/>
                </a:lnTo>
                <a:lnTo>
                  <a:pt x="288" y="24"/>
                </a:lnTo>
                <a:close/>
                <a:moveTo>
                  <a:pt x="3" y="0"/>
                </a:moveTo>
                <a:lnTo>
                  <a:pt x="3"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7"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6"/>
                </a:lnTo>
                <a:lnTo>
                  <a:pt x="7" y="3"/>
                </a:lnTo>
                <a:lnTo>
                  <a:pt x="7" y="0"/>
                </a:lnTo>
                <a:lnTo>
                  <a:pt x="3"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66" name="Freeform 1971">
            <a:extLst>
              <a:ext uri="{FF2B5EF4-FFF2-40B4-BE49-F238E27FC236}">
                <a16:creationId xmlns:a16="http://schemas.microsoft.com/office/drawing/2014/main" id="{2A843BAF-2B0D-B508-3248-45AA01ABE252}"/>
              </a:ext>
            </a:extLst>
          </p:cNvPr>
          <p:cNvSpPr>
            <a:spLocks noEditPoints="1"/>
          </p:cNvSpPr>
          <p:nvPr/>
        </p:nvSpPr>
        <p:spPr bwMode="auto">
          <a:xfrm>
            <a:off x="2332038" y="2719388"/>
            <a:ext cx="452438" cy="80963"/>
          </a:xfrm>
          <a:custGeom>
            <a:avLst/>
            <a:gdLst>
              <a:gd name="T0" fmla="*/ 285 w 285"/>
              <a:gd name="T1" fmla="*/ 21 h 51"/>
              <a:gd name="T2" fmla="*/ 285 w 285"/>
              <a:gd name="T3" fmla="*/ 14 h 51"/>
              <a:gd name="T4" fmla="*/ 283 w 285"/>
              <a:gd name="T5" fmla="*/ 8 h 51"/>
              <a:gd name="T6" fmla="*/ 283 w 285"/>
              <a:gd name="T7" fmla="*/ 3 h 51"/>
              <a:gd name="T8" fmla="*/ 278 w 285"/>
              <a:gd name="T9" fmla="*/ 0 h 51"/>
              <a:gd name="T10" fmla="*/ 280 w 285"/>
              <a:gd name="T11" fmla="*/ 4 h 51"/>
              <a:gd name="T12" fmla="*/ 280 w 285"/>
              <a:gd name="T13" fmla="*/ 11 h 51"/>
              <a:gd name="T14" fmla="*/ 281 w 285"/>
              <a:gd name="T15" fmla="*/ 18 h 51"/>
              <a:gd name="T16" fmla="*/ 281 w 285"/>
              <a:gd name="T17" fmla="*/ 24 h 51"/>
              <a:gd name="T18" fmla="*/ 281 w 285"/>
              <a:gd name="T19" fmla="*/ 31 h 51"/>
              <a:gd name="T20" fmla="*/ 280 w 285"/>
              <a:gd name="T21" fmla="*/ 38 h 51"/>
              <a:gd name="T22" fmla="*/ 280 w 285"/>
              <a:gd name="T23" fmla="*/ 44 h 51"/>
              <a:gd name="T24" fmla="*/ 278 w 285"/>
              <a:gd name="T25" fmla="*/ 51 h 51"/>
              <a:gd name="T26" fmla="*/ 283 w 285"/>
              <a:gd name="T27" fmla="*/ 48 h 51"/>
              <a:gd name="T28" fmla="*/ 283 w 285"/>
              <a:gd name="T29" fmla="*/ 41 h 51"/>
              <a:gd name="T30" fmla="*/ 285 w 285"/>
              <a:gd name="T31" fmla="*/ 34 h 51"/>
              <a:gd name="T32" fmla="*/ 285 w 285"/>
              <a:gd name="T33" fmla="*/ 28 h 51"/>
              <a:gd name="T34" fmla="*/ 3 w 285"/>
              <a:gd name="T35" fmla="*/ 0 h 51"/>
              <a:gd name="T36" fmla="*/ 1 w 285"/>
              <a:gd name="T37" fmla="*/ 6 h 51"/>
              <a:gd name="T38" fmla="*/ 1 w 285"/>
              <a:gd name="T39" fmla="*/ 11 h 51"/>
              <a:gd name="T40" fmla="*/ 1 w 285"/>
              <a:gd name="T41" fmla="*/ 18 h 51"/>
              <a:gd name="T42" fmla="*/ 0 w 285"/>
              <a:gd name="T43" fmla="*/ 24 h 51"/>
              <a:gd name="T44" fmla="*/ 1 w 285"/>
              <a:gd name="T45" fmla="*/ 31 h 51"/>
              <a:gd name="T46" fmla="*/ 1 w 285"/>
              <a:gd name="T47" fmla="*/ 38 h 51"/>
              <a:gd name="T48" fmla="*/ 1 w 285"/>
              <a:gd name="T49" fmla="*/ 44 h 51"/>
              <a:gd name="T50" fmla="*/ 3 w 285"/>
              <a:gd name="T51" fmla="*/ 51 h 51"/>
              <a:gd name="T52" fmla="*/ 5 w 285"/>
              <a:gd name="T53" fmla="*/ 48 h 51"/>
              <a:gd name="T54" fmla="*/ 5 w 285"/>
              <a:gd name="T55" fmla="*/ 41 h 51"/>
              <a:gd name="T56" fmla="*/ 5 w 285"/>
              <a:gd name="T57" fmla="*/ 34 h 51"/>
              <a:gd name="T58" fmla="*/ 3 w 285"/>
              <a:gd name="T59" fmla="*/ 28 h 51"/>
              <a:gd name="T60" fmla="*/ 3 w 285"/>
              <a:gd name="T61" fmla="*/ 21 h 51"/>
              <a:gd name="T62" fmla="*/ 5 w 285"/>
              <a:gd name="T63" fmla="*/ 14 h 51"/>
              <a:gd name="T64" fmla="*/ 5 w 285"/>
              <a:gd name="T65" fmla="*/ 8 h 51"/>
              <a:gd name="T66" fmla="*/ 6 w 285"/>
              <a:gd name="T67" fmla="*/ 3 h 51"/>
              <a:gd name="T68" fmla="*/ 3 w 28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5" h="51">
                <a:moveTo>
                  <a:pt x="285" y="24"/>
                </a:moveTo>
                <a:lnTo>
                  <a:pt x="285" y="21"/>
                </a:lnTo>
                <a:lnTo>
                  <a:pt x="285" y="18"/>
                </a:lnTo>
                <a:lnTo>
                  <a:pt x="285" y="14"/>
                </a:lnTo>
                <a:lnTo>
                  <a:pt x="283" y="11"/>
                </a:lnTo>
                <a:lnTo>
                  <a:pt x="283" y="8"/>
                </a:lnTo>
                <a:lnTo>
                  <a:pt x="283" y="6"/>
                </a:lnTo>
                <a:lnTo>
                  <a:pt x="283" y="3"/>
                </a:lnTo>
                <a:lnTo>
                  <a:pt x="281" y="0"/>
                </a:lnTo>
                <a:lnTo>
                  <a:pt x="278" y="0"/>
                </a:lnTo>
                <a:lnTo>
                  <a:pt x="280" y="3"/>
                </a:lnTo>
                <a:lnTo>
                  <a:pt x="280" y="4"/>
                </a:lnTo>
                <a:lnTo>
                  <a:pt x="280" y="8"/>
                </a:lnTo>
                <a:lnTo>
                  <a:pt x="280" y="11"/>
                </a:lnTo>
                <a:lnTo>
                  <a:pt x="281" y="14"/>
                </a:lnTo>
                <a:lnTo>
                  <a:pt x="281" y="18"/>
                </a:lnTo>
                <a:lnTo>
                  <a:pt x="281" y="21"/>
                </a:lnTo>
                <a:lnTo>
                  <a:pt x="281" y="24"/>
                </a:lnTo>
                <a:lnTo>
                  <a:pt x="281" y="28"/>
                </a:lnTo>
                <a:lnTo>
                  <a:pt x="281" y="31"/>
                </a:lnTo>
                <a:lnTo>
                  <a:pt x="281" y="34"/>
                </a:lnTo>
                <a:lnTo>
                  <a:pt x="280" y="38"/>
                </a:lnTo>
                <a:lnTo>
                  <a:pt x="280" y="41"/>
                </a:lnTo>
                <a:lnTo>
                  <a:pt x="280" y="44"/>
                </a:lnTo>
                <a:lnTo>
                  <a:pt x="280" y="48"/>
                </a:lnTo>
                <a:lnTo>
                  <a:pt x="278" y="51"/>
                </a:lnTo>
                <a:lnTo>
                  <a:pt x="281" y="51"/>
                </a:lnTo>
                <a:lnTo>
                  <a:pt x="283" y="48"/>
                </a:lnTo>
                <a:lnTo>
                  <a:pt x="283" y="44"/>
                </a:lnTo>
                <a:lnTo>
                  <a:pt x="283" y="41"/>
                </a:lnTo>
                <a:lnTo>
                  <a:pt x="283" y="38"/>
                </a:lnTo>
                <a:lnTo>
                  <a:pt x="285" y="34"/>
                </a:lnTo>
                <a:lnTo>
                  <a:pt x="285" y="31"/>
                </a:lnTo>
                <a:lnTo>
                  <a:pt x="285" y="28"/>
                </a:lnTo>
                <a:lnTo>
                  <a:pt x="285" y="24"/>
                </a:lnTo>
                <a:close/>
                <a:moveTo>
                  <a:pt x="3" y="0"/>
                </a:moveTo>
                <a:lnTo>
                  <a:pt x="3" y="3"/>
                </a:lnTo>
                <a:lnTo>
                  <a:pt x="1" y="6"/>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5"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4"/>
                </a:lnTo>
                <a:lnTo>
                  <a:pt x="6" y="3"/>
                </a:lnTo>
                <a:lnTo>
                  <a:pt x="6" y="0"/>
                </a:lnTo>
                <a:lnTo>
                  <a:pt x="3"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67" name="Freeform 1972">
            <a:extLst>
              <a:ext uri="{FF2B5EF4-FFF2-40B4-BE49-F238E27FC236}">
                <a16:creationId xmlns:a16="http://schemas.microsoft.com/office/drawing/2014/main" id="{CF211FB0-57C4-E471-17BA-D914956C83D7}"/>
              </a:ext>
            </a:extLst>
          </p:cNvPr>
          <p:cNvSpPr>
            <a:spLocks noEditPoints="1"/>
          </p:cNvSpPr>
          <p:nvPr/>
        </p:nvSpPr>
        <p:spPr bwMode="auto">
          <a:xfrm>
            <a:off x="2333625" y="2719388"/>
            <a:ext cx="447675" cy="80963"/>
          </a:xfrm>
          <a:custGeom>
            <a:avLst/>
            <a:gdLst>
              <a:gd name="T0" fmla="*/ 282 w 282"/>
              <a:gd name="T1" fmla="*/ 21 h 51"/>
              <a:gd name="T2" fmla="*/ 282 w 282"/>
              <a:gd name="T3" fmla="*/ 14 h 51"/>
              <a:gd name="T4" fmla="*/ 280 w 282"/>
              <a:gd name="T5" fmla="*/ 8 h 51"/>
              <a:gd name="T6" fmla="*/ 280 w 282"/>
              <a:gd name="T7" fmla="*/ 3 h 51"/>
              <a:gd name="T8" fmla="*/ 275 w 282"/>
              <a:gd name="T9" fmla="*/ 0 h 51"/>
              <a:gd name="T10" fmla="*/ 277 w 282"/>
              <a:gd name="T11" fmla="*/ 4 h 51"/>
              <a:gd name="T12" fmla="*/ 277 w 282"/>
              <a:gd name="T13" fmla="*/ 11 h 51"/>
              <a:gd name="T14" fmla="*/ 279 w 282"/>
              <a:gd name="T15" fmla="*/ 18 h 51"/>
              <a:gd name="T16" fmla="*/ 279 w 282"/>
              <a:gd name="T17" fmla="*/ 24 h 51"/>
              <a:gd name="T18" fmla="*/ 279 w 282"/>
              <a:gd name="T19" fmla="*/ 31 h 51"/>
              <a:gd name="T20" fmla="*/ 277 w 282"/>
              <a:gd name="T21" fmla="*/ 38 h 51"/>
              <a:gd name="T22" fmla="*/ 277 w 282"/>
              <a:gd name="T23" fmla="*/ 44 h 51"/>
              <a:gd name="T24" fmla="*/ 275 w 282"/>
              <a:gd name="T25" fmla="*/ 51 h 51"/>
              <a:gd name="T26" fmla="*/ 280 w 282"/>
              <a:gd name="T27" fmla="*/ 48 h 51"/>
              <a:gd name="T28" fmla="*/ 280 w 282"/>
              <a:gd name="T29" fmla="*/ 41 h 51"/>
              <a:gd name="T30" fmla="*/ 282 w 282"/>
              <a:gd name="T31" fmla="*/ 34 h 51"/>
              <a:gd name="T32" fmla="*/ 282 w 282"/>
              <a:gd name="T33" fmla="*/ 28 h 51"/>
              <a:gd name="T34" fmla="*/ 4 w 282"/>
              <a:gd name="T35" fmla="*/ 0 h 51"/>
              <a:gd name="T36" fmla="*/ 2 w 282"/>
              <a:gd name="T37" fmla="*/ 6 h 51"/>
              <a:gd name="T38" fmla="*/ 2 w 282"/>
              <a:gd name="T39" fmla="*/ 11 h 51"/>
              <a:gd name="T40" fmla="*/ 2 w 282"/>
              <a:gd name="T41" fmla="*/ 18 h 51"/>
              <a:gd name="T42" fmla="*/ 0 w 282"/>
              <a:gd name="T43" fmla="*/ 24 h 51"/>
              <a:gd name="T44" fmla="*/ 2 w 282"/>
              <a:gd name="T45" fmla="*/ 31 h 51"/>
              <a:gd name="T46" fmla="*/ 2 w 282"/>
              <a:gd name="T47" fmla="*/ 38 h 51"/>
              <a:gd name="T48" fmla="*/ 2 w 282"/>
              <a:gd name="T49" fmla="*/ 44 h 51"/>
              <a:gd name="T50" fmla="*/ 4 w 282"/>
              <a:gd name="T51" fmla="*/ 51 h 51"/>
              <a:gd name="T52" fmla="*/ 5 w 282"/>
              <a:gd name="T53" fmla="*/ 48 h 51"/>
              <a:gd name="T54" fmla="*/ 5 w 282"/>
              <a:gd name="T55" fmla="*/ 41 h 51"/>
              <a:gd name="T56" fmla="*/ 5 w 282"/>
              <a:gd name="T57" fmla="*/ 34 h 51"/>
              <a:gd name="T58" fmla="*/ 4 w 282"/>
              <a:gd name="T59" fmla="*/ 28 h 51"/>
              <a:gd name="T60" fmla="*/ 4 w 282"/>
              <a:gd name="T61" fmla="*/ 21 h 51"/>
              <a:gd name="T62" fmla="*/ 5 w 282"/>
              <a:gd name="T63" fmla="*/ 14 h 51"/>
              <a:gd name="T64" fmla="*/ 5 w 282"/>
              <a:gd name="T65" fmla="*/ 8 h 51"/>
              <a:gd name="T66" fmla="*/ 7 w 282"/>
              <a:gd name="T67" fmla="*/ 3 h 51"/>
              <a:gd name="T68" fmla="*/ 4 w 28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82" h="51">
                <a:moveTo>
                  <a:pt x="282" y="24"/>
                </a:moveTo>
                <a:lnTo>
                  <a:pt x="282" y="21"/>
                </a:lnTo>
                <a:lnTo>
                  <a:pt x="282" y="18"/>
                </a:lnTo>
                <a:lnTo>
                  <a:pt x="282" y="14"/>
                </a:lnTo>
                <a:lnTo>
                  <a:pt x="280" y="11"/>
                </a:lnTo>
                <a:lnTo>
                  <a:pt x="280" y="8"/>
                </a:lnTo>
                <a:lnTo>
                  <a:pt x="280" y="6"/>
                </a:lnTo>
                <a:lnTo>
                  <a:pt x="280" y="3"/>
                </a:lnTo>
                <a:lnTo>
                  <a:pt x="279" y="0"/>
                </a:lnTo>
                <a:lnTo>
                  <a:pt x="275" y="0"/>
                </a:lnTo>
                <a:lnTo>
                  <a:pt x="277" y="3"/>
                </a:lnTo>
                <a:lnTo>
                  <a:pt x="277" y="4"/>
                </a:lnTo>
                <a:lnTo>
                  <a:pt x="277" y="8"/>
                </a:lnTo>
                <a:lnTo>
                  <a:pt x="277" y="11"/>
                </a:lnTo>
                <a:lnTo>
                  <a:pt x="279" y="14"/>
                </a:lnTo>
                <a:lnTo>
                  <a:pt x="279" y="18"/>
                </a:lnTo>
                <a:lnTo>
                  <a:pt x="279" y="21"/>
                </a:lnTo>
                <a:lnTo>
                  <a:pt x="279" y="24"/>
                </a:lnTo>
                <a:lnTo>
                  <a:pt x="279" y="28"/>
                </a:lnTo>
                <a:lnTo>
                  <a:pt x="279" y="31"/>
                </a:lnTo>
                <a:lnTo>
                  <a:pt x="279" y="34"/>
                </a:lnTo>
                <a:lnTo>
                  <a:pt x="277" y="38"/>
                </a:lnTo>
                <a:lnTo>
                  <a:pt x="277" y="41"/>
                </a:lnTo>
                <a:lnTo>
                  <a:pt x="277" y="44"/>
                </a:lnTo>
                <a:lnTo>
                  <a:pt x="277" y="48"/>
                </a:lnTo>
                <a:lnTo>
                  <a:pt x="275" y="51"/>
                </a:lnTo>
                <a:lnTo>
                  <a:pt x="279" y="51"/>
                </a:lnTo>
                <a:lnTo>
                  <a:pt x="280" y="48"/>
                </a:lnTo>
                <a:lnTo>
                  <a:pt x="280" y="44"/>
                </a:lnTo>
                <a:lnTo>
                  <a:pt x="280" y="41"/>
                </a:lnTo>
                <a:lnTo>
                  <a:pt x="280" y="38"/>
                </a:lnTo>
                <a:lnTo>
                  <a:pt x="282" y="34"/>
                </a:lnTo>
                <a:lnTo>
                  <a:pt x="282" y="31"/>
                </a:lnTo>
                <a:lnTo>
                  <a:pt x="282" y="28"/>
                </a:lnTo>
                <a:lnTo>
                  <a:pt x="282" y="24"/>
                </a:lnTo>
                <a:close/>
                <a:moveTo>
                  <a:pt x="4" y="0"/>
                </a:moveTo>
                <a:lnTo>
                  <a:pt x="4" y="3"/>
                </a:lnTo>
                <a:lnTo>
                  <a:pt x="2" y="6"/>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4" y="51"/>
                </a:lnTo>
                <a:lnTo>
                  <a:pt x="7" y="51"/>
                </a:lnTo>
                <a:lnTo>
                  <a:pt x="5"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4"/>
                </a:lnTo>
                <a:lnTo>
                  <a:pt x="7" y="3"/>
                </a:lnTo>
                <a:lnTo>
                  <a:pt x="7" y="0"/>
                </a:lnTo>
                <a:lnTo>
                  <a:pt x="4"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68" name="Freeform 1973">
            <a:extLst>
              <a:ext uri="{FF2B5EF4-FFF2-40B4-BE49-F238E27FC236}">
                <a16:creationId xmlns:a16="http://schemas.microsoft.com/office/drawing/2014/main" id="{3FBAC3EC-4688-6EB2-CFC9-9927C00FC6DF}"/>
              </a:ext>
            </a:extLst>
          </p:cNvPr>
          <p:cNvSpPr>
            <a:spLocks noEditPoints="1"/>
          </p:cNvSpPr>
          <p:nvPr/>
        </p:nvSpPr>
        <p:spPr bwMode="auto">
          <a:xfrm>
            <a:off x="2336800" y="2719388"/>
            <a:ext cx="441325" cy="80963"/>
          </a:xfrm>
          <a:custGeom>
            <a:avLst/>
            <a:gdLst>
              <a:gd name="T0" fmla="*/ 278 w 278"/>
              <a:gd name="T1" fmla="*/ 21 h 51"/>
              <a:gd name="T2" fmla="*/ 278 w 278"/>
              <a:gd name="T3" fmla="*/ 14 h 51"/>
              <a:gd name="T4" fmla="*/ 277 w 278"/>
              <a:gd name="T5" fmla="*/ 8 h 51"/>
              <a:gd name="T6" fmla="*/ 277 w 278"/>
              <a:gd name="T7" fmla="*/ 3 h 51"/>
              <a:gd name="T8" fmla="*/ 272 w 278"/>
              <a:gd name="T9" fmla="*/ 0 h 51"/>
              <a:gd name="T10" fmla="*/ 273 w 278"/>
              <a:gd name="T11" fmla="*/ 4 h 51"/>
              <a:gd name="T12" fmla="*/ 273 w 278"/>
              <a:gd name="T13" fmla="*/ 11 h 51"/>
              <a:gd name="T14" fmla="*/ 275 w 278"/>
              <a:gd name="T15" fmla="*/ 18 h 51"/>
              <a:gd name="T16" fmla="*/ 275 w 278"/>
              <a:gd name="T17" fmla="*/ 24 h 51"/>
              <a:gd name="T18" fmla="*/ 275 w 278"/>
              <a:gd name="T19" fmla="*/ 31 h 51"/>
              <a:gd name="T20" fmla="*/ 273 w 278"/>
              <a:gd name="T21" fmla="*/ 38 h 51"/>
              <a:gd name="T22" fmla="*/ 273 w 278"/>
              <a:gd name="T23" fmla="*/ 44 h 51"/>
              <a:gd name="T24" fmla="*/ 272 w 278"/>
              <a:gd name="T25" fmla="*/ 51 h 51"/>
              <a:gd name="T26" fmla="*/ 277 w 278"/>
              <a:gd name="T27" fmla="*/ 48 h 51"/>
              <a:gd name="T28" fmla="*/ 277 w 278"/>
              <a:gd name="T29" fmla="*/ 41 h 51"/>
              <a:gd name="T30" fmla="*/ 278 w 278"/>
              <a:gd name="T31" fmla="*/ 34 h 51"/>
              <a:gd name="T32" fmla="*/ 278 w 278"/>
              <a:gd name="T33" fmla="*/ 28 h 51"/>
              <a:gd name="T34" fmla="*/ 3 w 278"/>
              <a:gd name="T35" fmla="*/ 0 h 51"/>
              <a:gd name="T36" fmla="*/ 2 w 278"/>
              <a:gd name="T37" fmla="*/ 4 h 51"/>
              <a:gd name="T38" fmla="*/ 2 w 278"/>
              <a:gd name="T39" fmla="*/ 11 h 51"/>
              <a:gd name="T40" fmla="*/ 2 w 278"/>
              <a:gd name="T41" fmla="*/ 18 h 51"/>
              <a:gd name="T42" fmla="*/ 0 w 278"/>
              <a:gd name="T43" fmla="*/ 24 h 51"/>
              <a:gd name="T44" fmla="*/ 2 w 278"/>
              <a:gd name="T45" fmla="*/ 31 h 51"/>
              <a:gd name="T46" fmla="*/ 2 w 278"/>
              <a:gd name="T47" fmla="*/ 38 h 51"/>
              <a:gd name="T48" fmla="*/ 2 w 278"/>
              <a:gd name="T49" fmla="*/ 44 h 51"/>
              <a:gd name="T50" fmla="*/ 3 w 278"/>
              <a:gd name="T51" fmla="*/ 51 h 51"/>
              <a:gd name="T52" fmla="*/ 7 w 278"/>
              <a:gd name="T53" fmla="*/ 48 h 51"/>
              <a:gd name="T54" fmla="*/ 5 w 278"/>
              <a:gd name="T55" fmla="*/ 41 h 51"/>
              <a:gd name="T56" fmla="*/ 5 w 278"/>
              <a:gd name="T57" fmla="*/ 34 h 51"/>
              <a:gd name="T58" fmla="*/ 3 w 278"/>
              <a:gd name="T59" fmla="*/ 28 h 51"/>
              <a:gd name="T60" fmla="*/ 3 w 278"/>
              <a:gd name="T61" fmla="*/ 21 h 51"/>
              <a:gd name="T62" fmla="*/ 5 w 278"/>
              <a:gd name="T63" fmla="*/ 14 h 51"/>
              <a:gd name="T64" fmla="*/ 5 w 278"/>
              <a:gd name="T65" fmla="*/ 8 h 51"/>
              <a:gd name="T66" fmla="*/ 7 w 278"/>
              <a:gd name="T67" fmla="*/ 3 h 51"/>
              <a:gd name="T68" fmla="*/ 3 w 27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8" h="51">
                <a:moveTo>
                  <a:pt x="278" y="24"/>
                </a:moveTo>
                <a:lnTo>
                  <a:pt x="278" y="21"/>
                </a:lnTo>
                <a:lnTo>
                  <a:pt x="278" y="18"/>
                </a:lnTo>
                <a:lnTo>
                  <a:pt x="278" y="14"/>
                </a:lnTo>
                <a:lnTo>
                  <a:pt x="277" y="11"/>
                </a:lnTo>
                <a:lnTo>
                  <a:pt x="277" y="8"/>
                </a:lnTo>
                <a:lnTo>
                  <a:pt x="277" y="4"/>
                </a:lnTo>
                <a:lnTo>
                  <a:pt x="277" y="3"/>
                </a:lnTo>
                <a:lnTo>
                  <a:pt x="275" y="0"/>
                </a:lnTo>
                <a:lnTo>
                  <a:pt x="272" y="0"/>
                </a:lnTo>
                <a:lnTo>
                  <a:pt x="273" y="3"/>
                </a:lnTo>
                <a:lnTo>
                  <a:pt x="273" y="4"/>
                </a:lnTo>
                <a:lnTo>
                  <a:pt x="273" y="8"/>
                </a:lnTo>
                <a:lnTo>
                  <a:pt x="273" y="11"/>
                </a:lnTo>
                <a:lnTo>
                  <a:pt x="275" y="14"/>
                </a:lnTo>
                <a:lnTo>
                  <a:pt x="275" y="18"/>
                </a:lnTo>
                <a:lnTo>
                  <a:pt x="275" y="21"/>
                </a:lnTo>
                <a:lnTo>
                  <a:pt x="275" y="24"/>
                </a:lnTo>
                <a:lnTo>
                  <a:pt x="275" y="28"/>
                </a:lnTo>
                <a:lnTo>
                  <a:pt x="275" y="31"/>
                </a:lnTo>
                <a:lnTo>
                  <a:pt x="275" y="34"/>
                </a:lnTo>
                <a:lnTo>
                  <a:pt x="273" y="38"/>
                </a:lnTo>
                <a:lnTo>
                  <a:pt x="273" y="41"/>
                </a:lnTo>
                <a:lnTo>
                  <a:pt x="273" y="44"/>
                </a:lnTo>
                <a:lnTo>
                  <a:pt x="273" y="48"/>
                </a:lnTo>
                <a:lnTo>
                  <a:pt x="272" y="51"/>
                </a:lnTo>
                <a:lnTo>
                  <a:pt x="275" y="51"/>
                </a:lnTo>
                <a:lnTo>
                  <a:pt x="277" y="48"/>
                </a:lnTo>
                <a:lnTo>
                  <a:pt x="277" y="44"/>
                </a:lnTo>
                <a:lnTo>
                  <a:pt x="277" y="41"/>
                </a:lnTo>
                <a:lnTo>
                  <a:pt x="277" y="38"/>
                </a:lnTo>
                <a:lnTo>
                  <a:pt x="278" y="34"/>
                </a:lnTo>
                <a:lnTo>
                  <a:pt x="278" y="31"/>
                </a:lnTo>
                <a:lnTo>
                  <a:pt x="278" y="28"/>
                </a:lnTo>
                <a:lnTo>
                  <a:pt x="278" y="24"/>
                </a:lnTo>
                <a:close/>
                <a:moveTo>
                  <a:pt x="3" y="0"/>
                </a:moveTo>
                <a:lnTo>
                  <a:pt x="3" y="3"/>
                </a:lnTo>
                <a:lnTo>
                  <a:pt x="2" y="4"/>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2" y="48"/>
                </a:lnTo>
                <a:lnTo>
                  <a:pt x="3" y="51"/>
                </a:lnTo>
                <a:lnTo>
                  <a:pt x="7" y="51"/>
                </a:lnTo>
                <a:lnTo>
                  <a:pt x="7"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4"/>
                </a:lnTo>
                <a:lnTo>
                  <a:pt x="7" y="3"/>
                </a:lnTo>
                <a:lnTo>
                  <a:pt x="7" y="0"/>
                </a:lnTo>
                <a:lnTo>
                  <a:pt x="3"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69" name="Freeform 1974">
            <a:extLst>
              <a:ext uri="{FF2B5EF4-FFF2-40B4-BE49-F238E27FC236}">
                <a16:creationId xmlns:a16="http://schemas.microsoft.com/office/drawing/2014/main" id="{363212B7-02A8-3999-311A-056DE57238FB}"/>
              </a:ext>
            </a:extLst>
          </p:cNvPr>
          <p:cNvSpPr>
            <a:spLocks noEditPoints="1"/>
          </p:cNvSpPr>
          <p:nvPr/>
        </p:nvSpPr>
        <p:spPr bwMode="auto">
          <a:xfrm>
            <a:off x="2339975" y="2719388"/>
            <a:ext cx="436563" cy="80963"/>
          </a:xfrm>
          <a:custGeom>
            <a:avLst/>
            <a:gdLst>
              <a:gd name="T0" fmla="*/ 275 w 275"/>
              <a:gd name="T1" fmla="*/ 21 h 51"/>
              <a:gd name="T2" fmla="*/ 275 w 275"/>
              <a:gd name="T3" fmla="*/ 14 h 51"/>
              <a:gd name="T4" fmla="*/ 273 w 275"/>
              <a:gd name="T5" fmla="*/ 8 h 51"/>
              <a:gd name="T6" fmla="*/ 273 w 275"/>
              <a:gd name="T7" fmla="*/ 3 h 51"/>
              <a:gd name="T8" fmla="*/ 268 w 275"/>
              <a:gd name="T9" fmla="*/ 0 h 51"/>
              <a:gd name="T10" fmla="*/ 270 w 275"/>
              <a:gd name="T11" fmla="*/ 4 h 51"/>
              <a:gd name="T12" fmla="*/ 270 w 275"/>
              <a:gd name="T13" fmla="*/ 11 h 51"/>
              <a:gd name="T14" fmla="*/ 271 w 275"/>
              <a:gd name="T15" fmla="*/ 18 h 51"/>
              <a:gd name="T16" fmla="*/ 271 w 275"/>
              <a:gd name="T17" fmla="*/ 24 h 51"/>
              <a:gd name="T18" fmla="*/ 271 w 275"/>
              <a:gd name="T19" fmla="*/ 31 h 51"/>
              <a:gd name="T20" fmla="*/ 270 w 275"/>
              <a:gd name="T21" fmla="*/ 38 h 51"/>
              <a:gd name="T22" fmla="*/ 270 w 275"/>
              <a:gd name="T23" fmla="*/ 44 h 51"/>
              <a:gd name="T24" fmla="*/ 268 w 275"/>
              <a:gd name="T25" fmla="*/ 51 h 51"/>
              <a:gd name="T26" fmla="*/ 273 w 275"/>
              <a:gd name="T27" fmla="*/ 48 h 51"/>
              <a:gd name="T28" fmla="*/ 273 w 275"/>
              <a:gd name="T29" fmla="*/ 41 h 51"/>
              <a:gd name="T30" fmla="*/ 275 w 275"/>
              <a:gd name="T31" fmla="*/ 34 h 51"/>
              <a:gd name="T32" fmla="*/ 275 w 275"/>
              <a:gd name="T33" fmla="*/ 28 h 51"/>
              <a:gd name="T34" fmla="*/ 3 w 275"/>
              <a:gd name="T35" fmla="*/ 0 h 51"/>
              <a:gd name="T36" fmla="*/ 1 w 275"/>
              <a:gd name="T37" fmla="*/ 4 h 51"/>
              <a:gd name="T38" fmla="*/ 1 w 275"/>
              <a:gd name="T39" fmla="*/ 11 h 51"/>
              <a:gd name="T40" fmla="*/ 1 w 275"/>
              <a:gd name="T41" fmla="*/ 18 h 51"/>
              <a:gd name="T42" fmla="*/ 0 w 275"/>
              <a:gd name="T43" fmla="*/ 24 h 51"/>
              <a:gd name="T44" fmla="*/ 1 w 275"/>
              <a:gd name="T45" fmla="*/ 31 h 51"/>
              <a:gd name="T46" fmla="*/ 1 w 275"/>
              <a:gd name="T47" fmla="*/ 38 h 51"/>
              <a:gd name="T48" fmla="*/ 1 w 275"/>
              <a:gd name="T49" fmla="*/ 44 h 51"/>
              <a:gd name="T50" fmla="*/ 3 w 275"/>
              <a:gd name="T51" fmla="*/ 51 h 51"/>
              <a:gd name="T52" fmla="*/ 6 w 275"/>
              <a:gd name="T53" fmla="*/ 48 h 51"/>
              <a:gd name="T54" fmla="*/ 5 w 275"/>
              <a:gd name="T55" fmla="*/ 41 h 51"/>
              <a:gd name="T56" fmla="*/ 5 w 275"/>
              <a:gd name="T57" fmla="*/ 34 h 51"/>
              <a:gd name="T58" fmla="*/ 3 w 275"/>
              <a:gd name="T59" fmla="*/ 28 h 51"/>
              <a:gd name="T60" fmla="*/ 3 w 275"/>
              <a:gd name="T61" fmla="*/ 21 h 51"/>
              <a:gd name="T62" fmla="*/ 5 w 275"/>
              <a:gd name="T63" fmla="*/ 14 h 51"/>
              <a:gd name="T64" fmla="*/ 5 w 275"/>
              <a:gd name="T65" fmla="*/ 8 h 51"/>
              <a:gd name="T66" fmla="*/ 6 w 275"/>
              <a:gd name="T67" fmla="*/ 3 h 51"/>
              <a:gd name="T68" fmla="*/ 3 w 27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5" h="51">
                <a:moveTo>
                  <a:pt x="275" y="24"/>
                </a:moveTo>
                <a:lnTo>
                  <a:pt x="275" y="21"/>
                </a:lnTo>
                <a:lnTo>
                  <a:pt x="275" y="18"/>
                </a:lnTo>
                <a:lnTo>
                  <a:pt x="275" y="14"/>
                </a:lnTo>
                <a:lnTo>
                  <a:pt x="273" y="11"/>
                </a:lnTo>
                <a:lnTo>
                  <a:pt x="273" y="8"/>
                </a:lnTo>
                <a:lnTo>
                  <a:pt x="273" y="4"/>
                </a:lnTo>
                <a:lnTo>
                  <a:pt x="273" y="3"/>
                </a:lnTo>
                <a:lnTo>
                  <a:pt x="271" y="0"/>
                </a:lnTo>
                <a:lnTo>
                  <a:pt x="268" y="0"/>
                </a:lnTo>
                <a:lnTo>
                  <a:pt x="270" y="3"/>
                </a:lnTo>
                <a:lnTo>
                  <a:pt x="270" y="4"/>
                </a:lnTo>
                <a:lnTo>
                  <a:pt x="270" y="8"/>
                </a:lnTo>
                <a:lnTo>
                  <a:pt x="270" y="11"/>
                </a:lnTo>
                <a:lnTo>
                  <a:pt x="271" y="14"/>
                </a:lnTo>
                <a:lnTo>
                  <a:pt x="271" y="18"/>
                </a:lnTo>
                <a:lnTo>
                  <a:pt x="271" y="21"/>
                </a:lnTo>
                <a:lnTo>
                  <a:pt x="271" y="24"/>
                </a:lnTo>
                <a:lnTo>
                  <a:pt x="271" y="28"/>
                </a:lnTo>
                <a:lnTo>
                  <a:pt x="271" y="31"/>
                </a:lnTo>
                <a:lnTo>
                  <a:pt x="271" y="34"/>
                </a:lnTo>
                <a:lnTo>
                  <a:pt x="270" y="38"/>
                </a:lnTo>
                <a:lnTo>
                  <a:pt x="270" y="41"/>
                </a:lnTo>
                <a:lnTo>
                  <a:pt x="270" y="44"/>
                </a:lnTo>
                <a:lnTo>
                  <a:pt x="270" y="48"/>
                </a:lnTo>
                <a:lnTo>
                  <a:pt x="268" y="51"/>
                </a:lnTo>
                <a:lnTo>
                  <a:pt x="271" y="51"/>
                </a:lnTo>
                <a:lnTo>
                  <a:pt x="273" y="48"/>
                </a:lnTo>
                <a:lnTo>
                  <a:pt x="273" y="44"/>
                </a:lnTo>
                <a:lnTo>
                  <a:pt x="273" y="41"/>
                </a:lnTo>
                <a:lnTo>
                  <a:pt x="273" y="38"/>
                </a:lnTo>
                <a:lnTo>
                  <a:pt x="275" y="34"/>
                </a:lnTo>
                <a:lnTo>
                  <a:pt x="275" y="31"/>
                </a:lnTo>
                <a:lnTo>
                  <a:pt x="275" y="28"/>
                </a:lnTo>
                <a:lnTo>
                  <a:pt x="275" y="24"/>
                </a:lnTo>
                <a:close/>
                <a:moveTo>
                  <a:pt x="3" y="0"/>
                </a:moveTo>
                <a:lnTo>
                  <a:pt x="3" y="3"/>
                </a:lnTo>
                <a:lnTo>
                  <a:pt x="1" y="4"/>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1" y="48"/>
                </a:lnTo>
                <a:lnTo>
                  <a:pt x="3" y="51"/>
                </a:lnTo>
                <a:lnTo>
                  <a:pt x="6" y="51"/>
                </a:lnTo>
                <a:lnTo>
                  <a:pt x="6"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4"/>
                </a:lnTo>
                <a:lnTo>
                  <a:pt x="6" y="3"/>
                </a:lnTo>
                <a:lnTo>
                  <a:pt x="6" y="0"/>
                </a:lnTo>
                <a:lnTo>
                  <a:pt x="3" y="0"/>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70" name="Freeform 1975">
            <a:extLst>
              <a:ext uri="{FF2B5EF4-FFF2-40B4-BE49-F238E27FC236}">
                <a16:creationId xmlns:a16="http://schemas.microsoft.com/office/drawing/2014/main" id="{8C159A51-0FC9-A67F-F878-AA5135BF316B}"/>
              </a:ext>
            </a:extLst>
          </p:cNvPr>
          <p:cNvSpPr>
            <a:spLocks noEditPoints="1"/>
          </p:cNvSpPr>
          <p:nvPr/>
        </p:nvSpPr>
        <p:spPr bwMode="auto">
          <a:xfrm>
            <a:off x="2341563" y="2719388"/>
            <a:ext cx="431800" cy="80963"/>
          </a:xfrm>
          <a:custGeom>
            <a:avLst/>
            <a:gdLst>
              <a:gd name="T0" fmla="*/ 272 w 272"/>
              <a:gd name="T1" fmla="*/ 21 h 51"/>
              <a:gd name="T2" fmla="*/ 272 w 272"/>
              <a:gd name="T3" fmla="*/ 14 h 51"/>
              <a:gd name="T4" fmla="*/ 270 w 272"/>
              <a:gd name="T5" fmla="*/ 8 h 51"/>
              <a:gd name="T6" fmla="*/ 270 w 272"/>
              <a:gd name="T7" fmla="*/ 3 h 51"/>
              <a:gd name="T8" fmla="*/ 265 w 272"/>
              <a:gd name="T9" fmla="*/ 0 h 51"/>
              <a:gd name="T10" fmla="*/ 267 w 272"/>
              <a:gd name="T11" fmla="*/ 4 h 51"/>
              <a:gd name="T12" fmla="*/ 267 w 272"/>
              <a:gd name="T13" fmla="*/ 11 h 51"/>
              <a:gd name="T14" fmla="*/ 269 w 272"/>
              <a:gd name="T15" fmla="*/ 18 h 51"/>
              <a:gd name="T16" fmla="*/ 269 w 272"/>
              <a:gd name="T17" fmla="*/ 24 h 51"/>
              <a:gd name="T18" fmla="*/ 269 w 272"/>
              <a:gd name="T19" fmla="*/ 31 h 51"/>
              <a:gd name="T20" fmla="*/ 267 w 272"/>
              <a:gd name="T21" fmla="*/ 38 h 51"/>
              <a:gd name="T22" fmla="*/ 267 w 272"/>
              <a:gd name="T23" fmla="*/ 44 h 51"/>
              <a:gd name="T24" fmla="*/ 265 w 272"/>
              <a:gd name="T25" fmla="*/ 51 h 51"/>
              <a:gd name="T26" fmla="*/ 270 w 272"/>
              <a:gd name="T27" fmla="*/ 48 h 51"/>
              <a:gd name="T28" fmla="*/ 270 w 272"/>
              <a:gd name="T29" fmla="*/ 41 h 51"/>
              <a:gd name="T30" fmla="*/ 272 w 272"/>
              <a:gd name="T31" fmla="*/ 34 h 51"/>
              <a:gd name="T32" fmla="*/ 272 w 272"/>
              <a:gd name="T33" fmla="*/ 28 h 51"/>
              <a:gd name="T34" fmla="*/ 4 w 272"/>
              <a:gd name="T35" fmla="*/ 0 h 51"/>
              <a:gd name="T36" fmla="*/ 2 w 272"/>
              <a:gd name="T37" fmla="*/ 4 h 51"/>
              <a:gd name="T38" fmla="*/ 2 w 272"/>
              <a:gd name="T39" fmla="*/ 11 h 51"/>
              <a:gd name="T40" fmla="*/ 2 w 272"/>
              <a:gd name="T41" fmla="*/ 18 h 51"/>
              <a:gd name="T42" fmla="*/ 0 w 272"/>
              <a:gd name="T43" fmla="*/ 24 h 51"/>
              <a:gd name="T44" fmla="*/ 2 w 272"/>
              <a:gd name="T45" fmla="*/ 31 h 51"/>
              <a:gd name="T46" fmla="*/ 2 w 272"/>
              <a:gd name="T47" fmla="*/ 38 h 51"/>
              <a:gd name="T48" fmla="*/ 2 w 272"/>
              <a:gd name="T49" fmla="*/ 44 h 51"/>
              <a:gd name="T50" fmla="*/ 4 w 272"/>
              <a:gd name="T51" fmla="*/ 51 h 51"/>
              <a:gd name="T52" fmla="*/ 7 w 272"/>
              <a:gd name="T53" fmla="*/ 48 h 51"/>
              <a:gd name="T54" fmla="*/ 5 w 272"/>
              <a:gd name="T55" fmla="*/ 41 h 51"/>
              <a:gd name="T56" fmla="*/ 5 w 272"/>
              <a:gd name="T57" fmla="*/ 34 h 51"/>
              <a:gd name="T58" fmla="*/ 4 w 272"/>
              <a:gd name="T59" fmla="*/ 28 h 51"/>
              <a:gd name="T60" fmla="*/ 4 w 272"/>
              <a:gd name="T61" fmla="*/ 21 h 51"/>
              <a:gd name="T62" fmla="*/ 5 w 272"/>
              <a:gd name="T63" fmla="*/ 14 h 51"/>
              <a:gd name="T64" fmla="*/ 5 w 272"/>
              <a:gd name="T65" fmla="*/ 8 h 51"/>
              <a:gd name="T66" fmla="*/ 7 w 272"/>
              <a:gd name="T67" fmla="*/ 3 h 51"/>
              <a:gd name="T68" fmla="*/ 4 w 2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72" h="51">
                <a:moveTo>
                  <a:pt x="272" y="24"/>
                </a:moveTo>
                <a:lnTo>
                  <a:pt x="272" y="21"/>
                </a:lnTo>
                <a:lnTo>
                  <a:pt x="272" y="18"/>
                </a:lnTo>
                <a:lnTo>
                  <a:pt x="272" y="14"/>
                </a:lnTo>
                <a:lnTo>
                  <a:pt x="270" y="11"/>
                </a:lnTo>
                <a:lnTo>
                  <a:pt x="270" y="8"/>
                </a:lnTo>
                <a:lnTo>
                  <a:pt x="270" y="4"/>
                </a:lnTo>
                <a:lnTo>
                  <a:pt x="270" y="3"/>
                </a:lnTo>
                <a:lnTo>
                  <a:pt x="269" y="0"/>
                </a:lnTo>
                <a:lnTo>
                  <a:pt x="265" y="0"/>
                </a:lnTo>
                <a:lnTo>
                  <a:pt x="267" y="3"/>
                </a:lnTo>
                <a:lnTo>
                  <a:pt x="267" y="4"/>
                </a:lnTo>
                <a:lnTo>
                  <a:pt x="267" y="8"/>
                </a:lnTo>
                <a:lnTo>
                  <a:pt x="267" y="11"/>
                </a:lnTo>
                <a:lnTo>
                  <a:pt x="269" y="14"/>
                </a:lnTo>
                <a:lnTo>
                  <a:pt x="269" y="18"/>
                </a:lnTo>
                <a:lnTo>
                  <a:pt x="269" y="21"/>
                </a:lnTo>
                <a:lnTo>
                  <a:pt x="269" y="24"/>
                </a:lnTo>
                <a:lnTo>
                  <a:pt x="269" y="28"/>
                </a:lnTo>
                <a:lnTo>
                  <a:pt x="269" y="31"/>
                </a:lnTo>
                <a:lnTo>
                  <a:pt x="269" y="34"/>
                </a:lnTo>
                <a:lnTo>
                  <a:pt x="267" y="38"/>
                </a:lnTo>
                <a:lnTo>
                  <a:pt x="267" y="41"/>
                </a:lnTo>
                <a:lnTo>
                  <a:pt x="267" y="44"/>
                </a:lnTo>
                <a:lnTo>
                  <a:pt x="267" y="48"/>
                </a:lnTo>
                <a:lnTo>
                  <a:pt x="265" y="51"/>
                </a:lnTo>
                <a:lnTo>
                  <a:pt x="269" y="51"/>
                </a:lnTo>
                <a:lnTo>
                  <a:pt x="270" y="48"/>
                </a:lnTo>
                <a:lnTo>
                  <a:pt x="270" y="44"/>
                </a:lnTo>
                <a:lnTo>
                  <a:pt x="270" y="41"/>
                </a:lnTo>
                <a:lnTo>
                  <a:pt x="270" y="38"/>
                </a:lnTo>
                <a:lnTo>
                  <a:pt x="272" y="34"/>
                </a:lnTo>
                <a:lnTo>
                  <a:pt x="272" y="31"/>
                </a:lnTo>
                <a:lnTo>
                  <a:pt x="272" y="28"/>
                </a:lnTo>
                <a:lnTo>
                  <a:pt x="272" y="24"/>
                </a:lnTo>
                <a:close/>
                <a:moveTo>
                  <a:pt x="4" y="0"/>
                </a:moveTo>
                <a:lnTo>
                  <a:pt x="4" y="3"/>
                </a:lnTo>
                <a:lnTo>
                  <a:pt x="2" y="4"/>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5" y="31"/>
                </a:lnTo>
                <a:lnTo>
                  <a:pt x="4" y="28"/>
                </a:lnTo>
                <a:lnTo>
                  <a:pt x="4" y="24"/>
                </a:lnTo>
                <a:lnTo>
                  <a:pt x="4" y="21"/>
                </a:lnTo>
                <a:lnTo>
                  <a:pt x="5" y="18"/>
                </a:lnTo>
                <a:lnTo>
                  <a:pt x="5" y="14"/>
                </a:lnTo>
                <a:lnTo>
                  <a:pt x="5" y="11"/>
                </a:lnTo>
                <a:lnTo>
                  <a:pt x="5" y="8"/>
                </a:lnTo>
                <a:lnTo>
                  <a:pt x="5" y="4"/>
                </a:lnTo>
                <a:lnTo>
                  <a:pt x="7" y="3"/>
                </a:lnTo>
                <a:lnTo>
                  <a:pt x="7" y="0"/>
                </a:lnTo>
                <a:lnTo>
                  <a:pt x="4"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71" name="Freeform 1976">
            <a:extLst>
              <a:ext uri="{FF2B5EF4-FFF2-40B4-BE49-F238E27FC236}">
                <a16:creationId xmlns:a16="http://schemas.microsoft.com/office/drawing/2014/main" id="{E35A0D01-3646-B7BD-80D3-5A4DBE0775D0}"/>
              </a:ext>
            </a:extLst>
          </p:cNvPr>
          <p:cNvSpPr>
            <a:spLocks noEditPoints="1"/>
          </p:cNvSpPr>
          <p:nvPr/>
        </p:nvSpPr>
        <p:spPr bwMode="auto">
          <a:xfrm>
            <a:off x="2344738" y="2719388"/>
            <a:ext cx="425450" cy="80963"/>
          </a:xfrm>
          <a:custGeom>
            <a:avLst/>
            <a:gdLst>
              <a:gd name="T0" fmla="*/ 268 w 268"/>
              <a:gd name="T1" fmla="*/ 21 h 51"/>
              <a:gd name="T2" fmla="*/ 268 w 268"/>
              <a:gd name="T3" fmla="*/ 14 h 51"/>
              <a:gd name="T4" fmla="*/ 267 w 268"/>
              <a:gd name="T5" fmla="*/ 8 h 51"/>
              <a:gd name="T6" fmla="*/ 267 w 268"/>
              <a:gd name="T7" fmla="*/ 3 h 51"/>
              <a:gd name="T8" fmla="*/ 262 w 268"/>
              <a:gd name="T9" fmla="*/ 0 h 51"/>
              <a:gd name="T10" fmla="*/ 263 w 268"/>
              <a:gd name="T11" fmla="*/ 4 h 51"/>
              <a:gd name="T12" fmla="*/ 263 w 268"/>
              <a:gd name="T13" fmla="*/ 11 h 51"/>
              <a:gd name="T14" fmla="*/ 265 w 268"/>
              <a:gd name="T15" fmla="*/ 18 h 51"/>
              <a:gd name="T16" fmla="*/ 265 w 268"/>
              <a:gd name="T17" fmla="*/ 24 h 51"/>
              <a:gd name="T18" fmla="*/ 265 w 268"/>
              <a:gd name="T19" fmla="*/ 31 h 51"/>
              <a:gd name="T20" fmla="*/ 263 w 268"/>
              <a:gd name="T21" fmla="*/ 38 h 51"/>
              <a:gd name="T22" fmla="*/ 263 w 268"/>
              <a:gd name="T23" fmla="*/ 44 h 51"/>
              <a:gd name="T24" fmla="*/ 262 w 268"/>
              <a:gd name="T25" fmla="*/ 51 h 51"/>
              <a:gd name="T26" fmla="*/ 267 w 268"/>
              <a:gd name="T27" fmla="*/ 48 h 51"/>
              <a:gd name="T28" fmla="*/ 267 w 268"/>
              <a:gd name="T29" fmla="*/ 41 h 51"/>
              <a:gd name="T30" fmla="*/ 268 w 268"/>
              <a:gd name="T31" fmla="*/ 34 h 51"/>
              <a:gd name="T32" fmla="*/ 268 w 268"/>
              <a:gd name="T33" fmla="*/ 28 h 51"/>
              <a:gd name="T34" fmla="*/ 3 w 268"/>
              <a:gd name="T35" fmla="*/ 0 h 51"/>
              <a:gd name="T36" fmla="*/ 2 w 268"/>
              <a:gd name="T37" fmla="*/ 4 h 51"/>
              <a:gd name="T38" fmla="*/ 2 w 268"/>
              <a:gd name="T39" fmla="*/ 11 h 51"/>
              <a:gd name="T40" fmla="*/ 2 w 268"/>
              <a:gd name="T41" fmla="*/ 18 h 51"/>
              <a:gd name="T42" fmla="*/ 0 w 268"/>
              <a:gd name="T43" fmla="*/ 24 h 51"/>
              <a:gd name="T44" fmla="*/ 2 w 268"/>
              <a:gd name="T45" fmla="*/ 31 h 51"/>
              <a:gd name="T46" fmla="*/ 2 w 268"/>
              <a:gd name="T47" fmla="*/ 38 h 51"/>
              <a:gd name="T48" fmla="*/ 2 w 268"/>
              <a:gd name="T49" fmla="*/ 44 h 51"/>
              <a:gd name="T50" fmla="*/ 3 w 268"/>
              <a:gd name="T51" fmla="*/ 51 h 51"/>
              <a:gd name="T52" fmla="*/ 7 w 268"/>
              <a:gd name="T53" fmla="*/ 48 h 51"/>
              <a:gd name="T54" fmla="*/ 5 w 268"/>
              <a:gd name="T55" fmla="*/ 41 h 51"/>
              <a:gd name="T56" fmla="*/ 5 w 268"/>
              <a:gd name="T57" fmla="*/ 34 h 51"/>
              <a:gd name="T58" fmla="*/ 3 w 268"/>
              <a:gd name="T59" fmla="*/ 28 h 51"/>
              <a:gd name="T60" fmla="*/ 3 w 268"/>
              <a:gd name="T61" fmla="*/ 21 h 51"/>
              <a:gd name="T62" fmla="*/ 5 w 268"/>
              <a:gd name="T63" fmla="*/ 14 h 51"/>
              <a:gd name="T64" fmla="*/ 5 w 268"/>
              <a:gd name="T65" fmla="*/ 8 h 51"/>
              <a:gd name="T66" fmla="*/ 7 w 268"/>
              <a:gd name="T67" fmla="*/ 3 h 51"/>
              <a:gd name="T68" fmla="*/ 3 w 26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8" h="51">
                <a:moveTo>
                  <a:pt x="268" y="24"/>
                </a:moveTo>
                <a:lnTo>
                  <a:pt x="268" y="21"/>
                </a:lnTo>
                <a:lnTo>
                  <a:pt x="268" y="18"/>
                </a:lnTo>
                <a:lnTo>
                  <a:pt x="268" y="14"/>
                </a:lnTo>
                <a:lnTo>
                  <a:pt x="267" y="11"/>
                </a:lnTo>
                <a:lnTo>
                  <a:pt x="267" y="8"/>
                </a:lnTo>
                <a:lnTo>
                  <a:pt x="267" y="4"/>
                </a:lnTo>
                <a:lnTo>
                  <a:pt x="267" y="3"/>
                </a:lnTo>
                <a:lnTo>
                  <a:pt x="265" y="0"/>
                </a:lnTo>
                <a:lnTo>
                  <a:pt x="262" y="0"/>
                </a:lnTo>
                <a:lnTo>
                  <a:pt x="263" y="3"/>
                </a:lnTo>
                <a:lnTo>
                  <a:pt x="263" y="4"/>
                </a:lnTo>
                <a:lnTo>
                  <a:pt x="263" y="8"/>
                </a:lnTo>
                <a:lnTo>
                  <a:pt x="263" y="11"/>
                </a:lnTo>
                <a:lnTo>
                  <a:pt x="265" y="14"/>
                </a:lnTo>
                <a:lnTo>
                  <a:pt x="265" y="18"/>
                </a:lnTo>
                <a:lnTo>
                  <a:pt x="265" y="21"/>
                </a:lnTo>
                <a:lnTo>
                  <a:pt x="265" y="24"/>
                </a:lnTo>
                <a:lnTo>
                  <a:pt x="265" y="28"/>
                </a:lnTo>
                <a:lnTo>
                  <a:pt x="265" y="31"/>
                </a:lnTo>
                <a:lnTo>
                  <a:pt x="265" y="34"/>
                </a:lnTo>
                <a:lnTo>
                  <a:pt x="263" y="38"/>
                </a:lnTo>
                <a:lnTo>
                  <a:pt x="263" y="41"/>
                </a:lnTo>
                <a:lnTo>
                  <a:pt x="263" y="44"/>
                </a:lnTo>
                <a:lnTo>
                  <a:pt x="263" y="48"/>
                </a:lnTo>
                <a:lnTo>
                  <a:pt x="262" y="51"/>
                </a:lnTo>
                <a:lnTo>
                  <a:pt x="265" y="51"/>
                </a:lnTo>
                <a:lnTo>
                  <a:pt x="267" y="48"/>
                </a:lnTo>
                <a:lnTo>
                  <a:pt x="267" y="44"/>
                </a:lnTo>
                <a:lnTo>
                  <a:pt x="267" y="41"/>
                </a:lnTo>
                <a:lnTo>
                  <a:pt x="267" y="38"/>
                </a:lnTo>
                <a:lnTo>
                  <a:pt x="268" y="34"/>
                </a:lnTo>
                <a:lnTo>
                  <a:pt x="268" y="31"/>
                </a:lnTo>
                <a:lnTo>
                  <a:pt x="268" y="28"/>
                </a:lnTo>
                <a:lnTo>
                  <a:pt x="268" y="24"/>
                </a:lnTo>
                <a:close/>
                <a:moveTo>
                  <a:pt x="3" y="0"/>
                </a:moveTo>
                <a:lnTo>
                  <a:pt x="3" y="3"/>
                </a:lnTo>
                <a:lnTo>
                  <a:pt x="2" y="4"/>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5" y="31"/>
                </a:lnTo>
                <a:lnTo>
                  <a:pt x="3" y="28"/>
                </a:lnTo>
                <a:lnTo>
                  <a:pt x="3" y="24"/>
                </a:lnTo>
                <a:lnTo>
                  <a:pt x="3" y="21"/>
                </a:lnTo>
                <a:lnTo>
                  <a:pt x="5" y="18"/>
                </a:lnTo>
                <a:lnTo>
                  <a:pt x="5" y="14"/>
                </a:lnTo>
                <a:lnTo>
                  <a:pt x="5" y="11"/>
                </a:lnTo>
                <a:lnTo>
                  <a:pt x="5" y="8"/>
                </a:lnTo>
                <a:lnTo>
                  <a:pt x="5" y="4"/>
                </a:lnTo>
                <a:lnTo>
                  <a:pt x="7" y="3"/>
                </a:lnTo>
                <a:lnTo>
                  <a:pt x="7" y="0"/>
                </a:lnTo>
                <a:lnTo>
                  <a:pt x="3"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72" name="Freeform 1977">
            <a:extLst>
              <a:ext uri="{FF2B5EF4-FFF2-40B4-BE49-F238E27FC236}">
                <a16:creationId xmlns:a16="http://schemas.microsoft.com/office/drawing/2014/main" id="{B7C233B6-1AE1-068A-5BF4-CAE7BB16C3DC}"/>
              </a:ext>
            </a:extLst>
          </p:cNvPr>
          <p:cNvSpPr>
            <a:spLocks noEditPoints="1"/>
          </p:cNvSpPr>
          <p:nvPr/>
        </p:nvSpPr>
        <p:spPr bwMode="auto">
          <a:xfrm>
            <a:off x="2347913" y="2719388"/>
            <a:ext cx="420688" cy="80963"/>
          </a:xfrm>
          <a:custGeom>
            <a:avLst/>
            <a:gdLst>
              <a:gd name="T0" fmla="*/ 265 w 265"/>
              <a:gd name="T1" fmla="*/ 21 h 51"/>
              <a:gd name="T2" fmla="*/ 265 w 265"/>
              <a:gd name="T3" fmla="*/ 14 h 51"/>
              <a:gd name="T4" fmla="*/ 263 w 265"/>
              <a:gd name="T5" fmla="*/ 8 h 51"/>
              <a:gd name="T6" fmla="*/ 263 w 265"/>
              <a:gd name="T7" fmla="*/ 3 h 51"/>
              <a:gd name="T8" fmla="*/ 258 w 265"/>
              <a:gd name="T9" fmla="*/ 0 h 51"/>
              <a:gd name="T10" fmla="*/ 260 w 265"/>
              <a:gd name="T11" fmla="*/ 4 h 51"/>
              <a:gd name="T12" fmla="*/ 260 w 265"/>
              <a:gd name="T13" fmla="*/ 11 h 51"/>
              <a:gd name="T14" fmla="*/ 261 w 265"/>
              <a:gd name="T15" fmla="*/ 18 h 51"/>
              <a:gd name="T16" fmla="*/ 261 w 265"/>
              <a:gd name="T17" fmla="*/ 24 h 51"/>
              <a:gd name="T18" fmla="*/ 261 w 265"/>
              <a:gd name="T19" fmla="*/ 31 h 51"/>
              <a:gd name="T20" fmla="*/ 260 w 265"/>
              <a:gd name="T21" fmla="*/ 38 h 51"/>
              <a:gd name="T22" fmla="*/ 260 w 265"/>
              <a:gd name="T23" fmla="*/ 44 h 51"/>
              <a:gd name="T24" fmla="*/ 258 w 265"/>
              <a:gd name="T25" fmla="*/ 51 h 51"/>
              <a:gd name="T26" fmla="*/ 263 w 265"/>
              <a:gd name="T27" fmla="*/ 48 h 51"/>
              <a:gd name="T28" fmla="*/ 263 w 265"/>
              <a:gd name="T29" fmla="*/ 41 h 51"/>
              <a:gd name="T30" fmla="*/ 265 w 265"/>
              <a:gd name="T31" fmla="*/ 34 h 51"/>
              <a:gd name="T32" fmla="*/ 265 w 265"/>
              <a:gd name="T33" fmla="*/ 28 h 51"/>
              <a:gd name="T34" fmla="*/ 3 w 265"/>
              <a:gd name="T35" fmla="*/ 0 h 51"/>
              <a:gd name="T36" fmla="*/ 1 w 265"/>
              <a:gd name="T37" fmla="*/ 4 h 51"/>
              <a:gd name="T38" fmla="*/ 1 w 265"/>
              <a:gd name="T39" fmla="*/ 11 h 51"/>
              <a:gd name="T40" fmla="*/ 1 w 265"/>
              <a:gd name="T41" fmla="*/ 18 h 51"/>
              <a:gd name="T42" fmla="*/ 0 w 265"/>
              <a:gd name="T43" fmla="*/ 24 h 51"/>
              <a:gd name="T44" fmla="*/ 1 w 265"/>
              <a:gd name="T45" fmla="*/ 31 h 51"/>
              <a:gd name="T46" fmla="*/ 1 w 265"/>
              <a:gd name="T47" fmla="*/ 38 h 51"/>
              <a:gd name="T48" fmla="*/ 1 w 265"/>
              <a:gd name="T49" fmla="*/ 44 h 51"/>
              <a:gd name="T50" fmla="*/ 3 w 265"/>
              <a:gd name="T51" fmla="*/ 51 h 51"/>
              <a:gd name="T52" fmla="*/ 6 w 265"/>
              <a:gd name="T53" fmla="*/ 48 h 51"/>
              <a:gd name="T54" fmla="*/ 5 w 265"/>
              <a:gd name="T55" fmla="*/ 41 h 51"/>
              <a:gd name="T56" fmla="*/ 5 w 265"/>
              <a:gd name="T57" fmla="*/ 34 h 51"/>
              <a:gd name="T58" fmla="*/ 3 w 265"/>
              <a:gd name="T59" fmla="*/ 28 h 51"/>
              <a:gd name="T60" fmla="*/ 3 w 265"/>
              <a:gd name="T61" fmla="*/ 21 h 51"/>
              <a:gd name="T62" fmla="*/ 5 w 265"/>
              <a:gd name="T63" fmla="*/ 14 h 51"/>
              <a:gd name="T64" fmla="*/ 5 w 265"/>
              <a:gd name="T65" fmla="*/ 8 h 51"/>
              <a:gd name="T66" fmla="*/ 6 w 265"/>
              <a:gd name="T67" fmla="*/ 3 h 51"/>
              <a:gd name="T68" fmla="*/ 3 w 26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5" h="51">
                <a:moveTo>
                  <a:pt x="265" y="24"/>
                </a:moveTo>
                <a:lnTo>
                  <a:pt x="265" y="21"/>
                </a:lnTo>
                <a:lnTo>
                  <a:pt x="265" y="18"/>
                </a:lnTo>
                <a:lnTo>
                  <a:pt x="265" y="14"/>
                </a:lnTo>
                <a:lnTo>
                  <a:pt x="263" y="11"/>
                </a:lnTo>
                <a:lnTo>
                  <a:pt x="263" y="8"/>
                </a:lnTo>
                <a:lnTo>
                  <a:pt x="263" y="4"/>
                </a:lnTo>
                <a:lnTo>
                  <a:pt x="263" y="3"/>
                </a:lnTo>
                <a:lnTo>
                  <a:pt x="261" y="0"/>
                </a:lnTo>
                <a:lnTo>
                  <a:pt x="258" y="0"/>
                </a:lnTo>
                <a:lnTo>
                  <a:pt x="260" y="3"/>
                </a:lnTo>
                <a:lnTo>
                  <a:pt x="260" y="4"/>
                </a:lnTo>
                <a:lnTo>
                  <a:pt x="260" y="8"/>
                </a:lnTo>
                <a:lnTo>
                  <a:pt x="260" y="11"/>
                </a:lnTo>
                <a:lnTo>
                  <a:pt x="261" y="14"/>
                </a:lnTo>
                <a:lnTo>
                  <a:pt x="261" y="18"/>
                </a:lnTo>
                <a:lnTo>
                  <a:pt x="261" y="21"/>
                </a:lnTo>
                <a:lnTo>
                  <a:pt x="261" y="24"/>
                </a:lnTo>
                <a:lnTo>
                  <a:pt x="261" y="28"/>
                </a:lnTo>
                <a:lnTo>
                  <a:pt x="261" y="31"/>
                </a:lnTo>
                <a:lnTo>
                  <a:pt x="261" y="34"/>
                </a:lnTo>
                <a:lnTo>
                  <a:pt x="260" y="38"/>
                </a:lnTo>
                <a:lnTo>
                  <a:pt x="260" y="41"/>
                </a:lnTo>
                <a:lnTo>
                  <a:pt x="260" y="44"/>
                </a:lnTo>
                <a:lnTo>
                  <a:pt x="260" y="48"/>
                </a:lnTo>
                <a:lnTo>
                  <a:pt x="258" y="51"/>
                </a:lnTo>
                <a:lnTo>
                  <a:pt x="261" y="51"/>
                </a:lnTo>
                <a:lnTo>
                  <a:pt x="263" y="48"/>
                </a:lnTo>
                <a:lnTo>
                  <a:pt x="263" y="44"/>
                </a:lnTo>
                <a:lnTo>
                  <a:pt x="263" y="41"/>
                </a:lnTo>
                <a:lnTo>
                  <a:pt x="263" y="38"/>
                </a:lnTo>
                <a:lnTo>
                  <a:pt x="265" y="34"/>
                </a:lnTo>
                <a:lnTo>
                  <a:pt x="265" y="31"/>
                </a:lnTo>
                <a:lnTo>
                  <a:pt x="265" y="28"/>
                </a:lnTo>
                <a:lnTo>
                  <a:pt x="265" y="24"/>
                </a:lnTo>
                <a:close/>
                <a:moveTo>
                  <a:pt x="3" y="0"/>
                </a:moveTo>
                <a:lnTo>
                  <a:pt x="3" y="3"/>
                </a:lnTo>
                <a:lnTo>
                  <a:pt x="1" y="4"/>
                </a:lnTo>
                <a:lnTo>
                  <a:pt x="1" y="8"/>
                </a:lnTo>
                <a:lnTo>
                  <a:pt x="1" y="11"/>
                </a:lnTo>
                <a:lnTo>
                  <a:pt x="1" y="14"/>
                </a:lnTo>
                <a:lnTo>
                  <a:pt x="1" y="18"/>
                </a:lnTo>
                <a:lnTo>
                  <a:pt x="0" y="21"/>
                </a:lnTo>
                <a:lnTo>
                  <a:pt x="0" y="24"/>
                </a:lnTo>
                <a:lnTo>
                  <a:pt x="0" y="28"/>
                </a:lnTo>
                <a:lnTo>
                  <a:pt x="1"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5" y="18"/>
                </a:lnTo>
                <a:lnTo>
                  <a:pt x="5" y="14"/>
                </a:lnTo>
                <a:lnTo>
                  <a:pt x="5" y="11"/>
                </a:lnTo>
                <a:lnTo>
                  <a:pt x="5" y="8"/>
                </a:lnTo>
                <a:lnTo>
                  <a:pt x="5" y="4"/>
                </a:lnTo>
                <a:lnTo>
                  <a:pt x="6" y="3"/>
                </a:lnTo>
                <a:lnTo>
                  <a:pt x="6" y="0"/>
                </a:lnTo>
                <a:lnTo>
                  <a:pt x="3"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73" name="Freeform 1978">
            <a:extLst>
              <a:ext uri="{FF2B5EF4-FFF2-40B4-BE49-F238E27FC236}">
                <a16:creationId xmlns:a16="http://schemas.microsoft.com/office/drawing/2014/main" id="{337B2405-A443-D4B1-F5A1-625D3CD42A0B}"/>
              </a:ext>
            </a:extLst>
          </p:cNvPr>
          <p:cNvSpPr>
            <a:spLocks noEditPoints="1"/>
          </p:cNvSpPr>
          <p:nvPr/>
        </p:nvSpPr>
        <p:spPr bwMode="auto">
          <a:xfrm>
            <a:off x="2349500" y="2719388"/>
            <a:ext cx="415925" cy="80963"/>
          </a:xfrm>
          <a:custGeom>
            <a:avLst/>
            <a:gdLst>
              <a:gd name="T0" fmla="*/ 262 w 262"/>
              <a:gd name="T1" fmla="*/ 21 h 51"/>
              <a:gd name="T2" fmla="*/ 262 w 262"/>
              <a:gd name="T3" fmla="*/ 14 h 51"/>
              <a:gd name="T4" fmla="*/ 260 w 262"/>
              <a:gd name="T5" fmla="*/ 8 h 51"/>
              <a:gd name="T6" fmla="*/ 260 w 262"/>
              <a:gd name="T7" fmla="*/ 3 h 51"/>
              <a:gd name="T8" fmla="*/ 255 w 262"/>
              <a:gd name="T9" fmla="*/ 0 h 51"/>
              <a:gd name="T10" fmla="*/ 257 w 262"/>
              <a:gd name="T11" fmla="*/ 4 h 51"/>
              <a:gd name="T12" fmla="*/ 257 w 262"/>
              <a:gd name="T13" fmla="*/ 11 h 51"/>
              <a:gd name="T14" fmla="*/ 259 w 262"/>
              <a:gd name="T15" fmla="*/ 18 h 51"/>
              <a:gd name="T16" fmla="*/ 259 w 262"/>
              <a:gd name="T17" fmla="*/ 24 h 51"/>
              <a:gd name="T18" fmla="*/ 259 w 262"/>
              <a:gd name="T19" fmla="*/ 31 h 51"/>
              <a:gd name="T20" fmla="*/ 257 w 262"/>
              <a:gd name="T21" fmla="*/ 38 h 51"/>
              <a:gd name="T22" fmla="*/ 257 w 262"/>
              <a:gd name="T23" fmla="*/ 44 h 51"/>
              <a:gd name="T24" fmla="*/ 255 w 262"/>
              <a:gd name="T25" fmla="*/ 51 h 51"/>
              <a:gd name="T26" fmla="*/ 260 w 262"/>
              <a:gd name="T27" fmla="*/ 48 h 51"/>
              <a:gd name="T28" fmla="*/ 260 w 262"/>
              <a:gd name="T29" fmla="*/ 41 h 51"/>
              <a:gd name="T30" fmla="*/ 262 w 262"/>
              <a:gd name="T31" fmla="*/ 34 h 51"/>
              <a:gd name="T32" fmla="*/ 262 w 262"/>
              <a:gd name="T33" fmla="*/ 28 h 51"/>
              <a:gd name="T34" fmla="*/ 4 w 262"/>
              <a:gd name="T35" fmla="*/ 0 h 51"/>
              <a:gd name="T36" fmla="*/ 2 w 262"/>
              <a:gd name="T37" fmla="*/ 4 h 51"/>
              <a:gd name="T38" fmla="*/ 2 w 262"/>
              <a:gd name="T39" fmla="*/ 11 h 51"/>
              <a:gd name="T40" fmla="*/ 2 w 262"/>
              <a:gd name="T41" fmla="*/ 18 h 51"/>
              <a:gd name="T42" fmla="*/ 0 w 262"/>
              <a:gd name="T43" fmla="*/ 24 h 51"/>
              <a:gd name="T44" fmla="*/ 2 w 262"/>
              <a:gd name="T45" fmla="*/ 31 h 51"/>
              <a:gd name="T46" fmla="*/ 2 w 262"/>
              <a:gd name="T47" fmla="*/ 38 h 51"/>
              <a:gd name="T48" fmla="*/ 2 w 262"/>
              <a:gd name="T49" fmla="*/ 44 h 51"/>
              <a:gd name="T50" fmla="*/ 4 w 262"/>
              <a:gd name="T51" fmla="*/ 51 h 51"/>
              <a:gd name="T52" fmla="*/ 7 w 262"/>
              <a:gd name="T53" fmla="*/ 48 h 51"/>
              <a:gd name="T54" fmla="*/ 5 w 262"/>
              <a:gd name="T55" fmla="*/ 41 h 51"/>
              <a:gd name="T56" fmla="*/ 5 w 262"/>
              <a:gd name="T57" fmla="*/ 34 h 51"/>
              <a:gd name="T58" fmla="*/ 4 w 262"/>
              <a:gd name="T59" fmla="*/ 28 h 51"/>
              <a:gd name="T60" fmla="*/ 4 w 262"/>
              <a:gd name="T61" fmla="*/ 21 h 51"/>
              <a:gd name="T62" fmla="*/ 5 w 262"/>
              <a:gd name="T63" fmla="*/ 14 h 51"/>
              <a:gd name="T64" fmla="*/ 5 w 262"/>
              <a:gd name="T65" fmla="*/ 8 h 51"/>
              <a:gd name="T66" fmla="*/ 7 w 262"/>
              <a:gd name="T67" fmla="*/ 3 h 51"/>
              <a:gd name="T68" fmla="*/ 4 w 2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2" h="51">
                <a:moveTo>
                  <a:pt x="262" y="24"/>
                </a:moveTo>
                <a:lnTo>
                  <a:pt x="262" y="21"/>
                </a:lnTo>
                <a:lnTo>
                  <a:pt x="262" y="18"/>
                </a:lnTo>
                <a:lnTo>
                  <a:pt x="262" y="14"/>
                </a:lnTo>
                <a:lnTo>
                  <a:pt x="260" y="11"/>
                </a:lnTo>
                <a:lnTo>
                  <a:pt x="260" y="8"/>
                </a:lnTo>
                <a:lnTo>
                  <a:pt x="260" y="4"/>
                </a:lnTo>
                <a:lnTo>
                  <a:pt x="260" y="3"/>
                </a:lnTo>
                <a:lnTo>
                  <a:pt x="259" y="0"/>
                </a:lnTo>
                <a:lnTo>
                  <a:pt x="255" y="0"/>
                </a:lnTo>
                <a:lnTo>
                  <a:pt x="257" y="3"/>
                </a:lnTo>
                <a:lnTo>
                  <a:pt x="257" y="4"/>
                </a:lnTo>
                <a:lnTo>
                  <a:pt x="257" y="8"/>
                </a:lnTo>
                <a:lnTo>
                  <a:pt x="257" y="11"/>
                </a:lnTo>
                <a:lnTo>
                  <a:pt x="259" y="14"/>
                </a:lnTo>
                <a:lnTo>
                  <a:pt x="259" y="18"/>
                </a:lnTo>
                <a:lnTo>
                  <a:pt x="259" y="21"/>
                </a:lnTo>
                <a:lnTo>
                  <a:pt x="259" y="24"/>
                </a:lnTo>
                <a:lnTo>
                  <a:pt x="259" y="28"/>
                </a:lnTo>
                <a:lnTo>
                  <a:pt x="259" y="31"/>
                </a:lnTo>
                <a:lnTo>
                  <a:pt x="259" y="34"/>
                </a:lnTo>
                <a:lnTo>
                  <a:pt x="257" y="38"/>
                </a:lnTo>
                <a:lnTo>
                  <a:pt x="257" y="41"/>
                </a:lnTo>
                <a:lnTo>
                  <a:pt x="257" y="44"/>
                </a:lnTo>
                <a:lnTo>
                  <a:pt x="257" y="48"/>
                </a:lnTo>
                <a:lnTo>
                  <a:pt x="255" y="51"/>
                </a:lnTo>
                <a:lnTo>
                  <a:pt x="259" y="51"/>
                </a:lnTo>
                <a:lnTo>
                  <a:pt x="260" y="48"/>
                </a:lnTo>
                <a:lnTo>
                  <a:pt x="260" y="44"/>
                </a:lnTo>
                <a:lnTo>
                  <a:pt x="260" y="41"/>
                </a:lnTo>
                <a:lnTo>
                  <a:pt x="260" y="38"/>
                </a:lnTo>
                <a:lnTo>
                  <a:pt x="262" y="34"/>
                </a:lnTo>
                <a:lnTo>
                  <a:pt x="262" y="31"/>
                </a:lnTo>
                <a:lnTo>
                  <a:pt x="262" y="28"/>
                </a:lnTo>
                <a:lnTo>
                  <a:pt x="262" y="24"/>
                </a:lnTo>
                <a:close/>
                <a:moveTo>
                  <a:pt x="4" y="0"/>
                </a:moveTo>
                <a:lnTo>
                  <a:pt x="4" y="3"/>
                </a:lnTo>
                <a:lnTo>
                  <a:pt x="2" y="4"/>
                </a:lnTo>
                <a:lnTo>
                  <a:pt x="2" y="8"/>
                </a:lnTo>
                <a:lnTo>
                  <a:pt x="2" y="11"/>
                </a:lnTo>
                <a:lnTo>
                  <a:pt x="2" y="14"/>
                </a:lnTo>
                <a:lnTo>
                  <a:pt x="2" y="18"/>
                </a:lnTo>
                <a:lnTo>
                  <a:pt x="0" y="21"/>
                </a:lnTo>
                <a:lnTo>
                  <a:pt x="0" y="24"/>
                </a:lnTo>
                <a:lnTo>
                  <a:pt x="0" y="28"/>
                </a:lnTo>
                <a:lnTo>
                  <a:pt x="2"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5" y="18"/>
                </a:lnTo>
                <a:lnTo>
                  <a:pt x="5" y="14"/>
                </a:lnTo>
                <a:lnTo>
                  <a:pt x="5" y="11"/>
                </a:lnTo>
                <a:lnTo>
                  <a:pt x="5" y="8"/>
                </a:lnTo>
                <a:lnTo>
                  <a:pt x="5" y="4"/>
                </a:lnTo>
                <a:lnTo>
                  <a:pt x="7" y="3"/>
                </a:lnTo>
                <a:lnTo>
                  <a:pt x="7" y="0"/>
                </a:lnTo>
                <a:lnTo>
                  <a:pt x="4"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74" name="Freeform 1979">
            <a:extLst>
              <a:ext uri="{FF2B5EF4-FFF2-40B4-BE49-F238E27FC236}">
                <a16:creationId xmlns:a16="http://schemas.microsoft.com/office/drawing/2014/main" id="{919468EB-A73E-3993-8E5D-A73AB86485B2}"/>
              </a:ext>
            </a:extLst>
          </p:cNvPr>
          <p:cNvSpPr>
            <a:spLocks noEditPoints="1"/>
          </p:cNvSpPr>
          <p:nvPr/>
        </p:nvSpPr>
        <p:spPr bwMode="auto">
          <a:xfrm>
            <a:off x="2352675" y="2719388"/>
            <a:ext cx="409575" cy="80963"/>
          </a:xfrm>
          <a:custGeom>
            <a:avLst/>
            <a:gdLst>
              <a:gd name="T0" fmla="*/ 258 w 258"/>
              <a:gd name="T1" fmla="*/ 21 h 51"/>
              <a:gd name="T2" fmla="*/ 258 w 258"/>
              <a:gd name="T3" fmla="*/ 14 h 51"/>
              <a:gd name="T4" fmla="*/ 257 w 258"/>
              <a:gd name="T5" fmla="*/ 8 h 51"/>
              <a:gd name="T6" fmla="*/ 257 w 258"/>
              <a:gd name="T7" fmla="*/ 3 h 51"/>
              <a:gd name="T8" fmla="*/ 252 w 258"/>
              <a:gd name="T9" fmla="*/ 0 h 51"/>
              <a:gd name="T10" fmla="*/ 253 w 258"/>
              <a:gd name="T11" fmla="*/ 4 h 51"/>
              <a:gd name="T12" fmla="*/ 253 w 258"/>
              <a:gd name="T13" fmla="*/ 11 h 51"/>
              <a:gd name="T14" fmla="*/ 255 w 258"/>
              <a:gd name="T15" fmla="*/ 18 h 51"/>
              <a:gd name="T16" fmla="*/ 255 w 258"/>
              <a:gd name="T17" fmla="*/ 24 h 51"/>
              <a:gd name="T18" fmla="*/ 255 w 258"/>
              <a:gd name="T19" fmla="*/ 31 h 51"/>
              <a:gd name="T20" fmla="*/ 253 w 258"/>
              <a:gd name="T21" fmla="*/ 38 h 51"/>
              <a:gd name="T22" fmla="*/ 253 w 258"/>
              <a:gd name="T23" fmla="*/ 44 h 51"/>
              <a:gd name="T24" fmla="*/ 252 w 258"/>
              <a:gd name="T25" fmla="*/ 51 h 51"/>
              <a:gd name="T26" fmla="*/ 257 w 258"/>
              <a:gd name="T27" fmla="*/ 48 h 51"/>
              <a:gd name="T28" fmla="*/ 257 w 258"/>
              <a:gd name="T29" fmla="*/ 41 h 51"/>
              <a:gd name="T30" fmla="*/ 258 w 258"/>
              <a:gd name="T31" fmla="*/ 34 h 51"/>
              <a:gd name="T32" fmla="*/ 258 w 258"/>
              <a:gd name="T33" fmla="*/ 28 h 51"/>
              <a:gd name="T34" fmla="*/ 3 w 258"/>
              <a:gd name="T35" fmla="*/ 0 h 51"/>
              <a:gd name="T36" fmla="*/ 2 w 258"/>
              <a:gd name="T37" fmla="*/ 4 h 51"/>
              <a:gd name="T38" fmla="*/ 2 w 258"/>
              <a:gd name="T39" fmla="*/ 11 h 51"/>
              <a:gd name="T40" fmla="*/ 2 w 258"/>
              <a:gd name="T41" fmla="*/ 18 h 51"/>
              <a:gd name="T42" fmla="*/ 0 w 258"/>
              <a:gd name="T43" fmla="*/ 24 h 51"/>
              <a:gd name="T44" fmla="*/ 0 w 258"/>
              <a:gd name="T45" fmla="*/ 31 h 51"/>
              <a:gd name="T46" fmla="*/ 2 w 258"/>
              <a:gd name="T47" fmla="*/ 38 h 51"/>
              <a:gd name="T48" fmla="*/ 2 w 258"/>
              <a:gd name="T49" fmla="*/ 44 h 51"/>
              <a:gd name="T50" fmla="*/ 3 w 258"/>
              <a:gd name="T51" fmla="*/ 51 h 51"/>
              <a:gd name="T52" fmla="*/ 7 w 258"/>
              <a:gd name="T53" fmla="*/ 48 h 51"/>
              <a:gd name="T54" fmla="*/ 5 w 258"/>
              <a:gd name="T55" fmla="*/ 41 h 51"/>
              <a:gd name="T56" fmla="*/ 5 w 258"/>
              <a:gd name="T57" fmla="*/ 34 h 51"/>
              <a:gd name="T58" fmla="*/ 3 w 258"/>
              <a:gd name="T59" fmla="*/ 28 h 51"/>
              <a:gd name="T60" fmla="*/ 3 w 258"/>
              <a:gd name="T61" fmla="*/ 21 h 51"/>
              <a:gd name="T62" fmla="*/ 5 w 258"/>
              <a:gd name="T63" fmla="*/ 14 h 51"/>
              <a:gd name="T64" fmla="*/ 5 w 258"/>
              <a:gd name="T65" fmla="*/ 8 h 51"/>
              <a:gd name="T66" fmla="*/ 7 w 258"/>
              <a:gd name="T67" fmla="*/ 3 h 51"/>
              <a:gd name="T68" fmla="*/ 3 w 25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8" h="51">
                <a:moveTo>
                  <a:pt x="258" y="24"/>
                </a:moveTo>
                <a:lnTo>
                  <a:pt x="258" y="21"/>
                </a:lnTo>
                <a:lnTo>
                  <a:pt x="258" y="18"/>
                </a:lnTo>
                <a:lnTo>
                  <a:pt x="258" y="14"/>
                </a:lnTo>
                <a:lnTo>
                  <a:pt x="257" y="11"/>
                </a:lnTo>
                <a:lnTo>
                  <a:pt x="257" y="8"/>
                </a:lnTo>
                <a:lnTo>
                  <a:pt x="257" y="4"/>
                </a:lnTo>
                <a:lnTo>
                  <a:pt x="257" y="3"/>
                </a:lnTo>
                <a:lnTo>
                  <a:pt x="255" y="0"/>
                </a:lnTo>
                <a:lnTo>
                  <a:pt x="252" y="0"/>
                </a:lnTo>
                <a:lnTo>
                  <a:pt x="253" y="3"/>
                </a:lnTo>
                <a:lnTo>
                  <a:pt x="253" y="4"/>
                </a:lnTo>
                <a:lnTo>
                  <a:pt x="253" y="8"/>
                </a:lnTo>
                <a:lnTo>
                  <a:pt x="253" y="11"/>
                </a:lnTo>
                <a:lnTo>
                  <a:pt x="255" y="14"/>
                </a:lnTo>
                <a:lnTo>
                  <a:pt x="255" y="18"/>
                </a:lnTo>
                <a:lnTo>
                  <a:pt x="255" y="21"/>
                </a:lnTo>
                <a:lnTo>
                  <a:pt x="255" y="24"/>
                </a:lnTo>
                <a:lnTo>
                  <a:pt x="255" y="28"/>
                </a:lnTo>
                <a:lnTo>
                  <a:pt x="255" y="31"/>
                </a:lnTo>
                <a:lnTo>
                  <a:pt x="255" y="34"/>
                </a:lnTo>
                <a:lnTo>
                  <a:pt x="253" y="38"/>
                </a:lnTo>
                <a:lnTo>
                  <a:pt x="253" y="41"/>
                </a:lnTo>
                <a:lnTo>
                  <a:pt x="253" y="44"/>
                </a:lnTo>
                <a:lnTo>
                  <a:pt x="253" y="48"/>
                </a:lnTo>
                <a:lnTo>
                  <a:pt x="252" y="51"/>
                </a:lnTo>
                <a:lnTo>
                  <a:pt x="255" y="51"/>
                </a:lnTo>
                <a:lnTo>
                  <a:pt x="257" y="48"/>
                </a:lnTo>
                <a:lnTo>
                  <a:pt x="257" y="44"/>
                </a:lnTo>
                <a:lnTo>
                  <a:pt x="257" y="41"/>
                </a:lnTo>
                <a:lnTo>
                  <a:pt x="257" y="38"/>
                </a:lnTo>
                <a:lnTo>
                  <a:pt x="258" y="34"/>
                </a:lnTo>
                <a:lnTo>
                  <a:pt x="258" y="31"/>
                </a:lnTo>
                <a:lnTo>
                  <a:pt x="258" y="28"/>
                </a:lnTo>
                <a:lnTo>
                  <a:pt x="258" y="24"/>
                </a:lnTo>
                <a:close/>
                <a:moveTo>
                  <a:pt x="3" y="0"/>
                </a:moveTo>
                <a:lnTo>
                  <a:pt x="3" y="3"/>
                </a:lnTo>
                <a:lnTo>
                  <a:pt x="2" y="4"/>
                </a:lnTo>
                <a:lnTo>
                  <a:pt x="2" y="8"/>
                </a:lnTo>
                <a:lnTo>
                  <a:pt x="2" y="11"/>
                </a:lnTo>
                <a:lnTo>
                  <a:pt x="2" y="14"/>
                </a:lnTo>
                <a:lnTo>
                  <a:pt x="2"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5" y="18"/>
                </a:lnTo>
                <a:lnTo>
                  <a:pt x="5" y="14"/>
                </a:lnTo>
                <a:lnTo>
                  <a:pt x="5" y="11"/>
                </a:lnTo>
                <a:lnTo>
                  <a:pt x="5" y="8"/>
                </a:lnTo>
                <a:lnTo>
                  <a:pt x="5" y="4"/>
                </a:lnTo>
                <a:lnTo>
                  <a:pt x="7" y="3"/>
                </a:lnTo>
                <a:lnTo>
                  <a:pt x="7" y="0"/>
                </a:lnTo>
                <a:lnTo>
                  <a:pt x="3"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75" name="Freeform 1980">
            <a:extLst>
              <a:ext uri="{FF2B5EF4-FFF2-40B4-BE49-F238E27FC236}">
                <a16:creationId xmlns:a16="http://schemas.microsoft.com/office/drawing/2014/main" id="{C6CC1523-C1F7-4A9E-19F9-44612FFC34C1}"/>
              </a:ext>
            </a:extLst>
          </p:cNvPr>
          <p:cNvSpPr>
            <a:spLocks noEditPoints="1"/>
          </p:cNvSpPr>
          <p:nvPr/>
        </p:nvSpPr>
        <p:spPr bwMode="auto">
          <a:xfrm>
            <a:off x="2355850" y="2719388"/>
            <a:ext cx="404813" cy="80963"/>
          </a:xfrm>
          <a:custGeom>
            <a:avLst/>
            <a:gdLst>
              <a:gd name="T0" fmla="*/ 255 w 255"/>
              <a:gd name="T1" fmla="*/ 21 h 51"/>
              <a:gd name="T2" fmla="*/ 255 w 255"/>
              <a:gd name="T3" fmla="*/ 14 h 51"/>
              <a:gd name="T4" fmla="*/ 253 w 255"/>
              <a:gd name="T5" fmla="*/ 8 h 51"/>
              <a:gd name="T6" fmla="*/ 253 w 255"/>
              <a:gd name="T7" fmla="*/ 3 h 51"/>
              <a:gd name="T8" fmla="*/ 248 w 255"/>
              <a:gd name="T9" fmla="*/ 0 h 51"/>
              <a:gd name="T10" fmla="*/ 250 w 255"/>
              <a:gd name="T11" fmla="*/ 4 h 51"/>
              <a:gd name="T12" fmla="*/ 250 w 255"/>
              <a:gd name="T13" fmla="*/ 11 h 51"/>
              <a:gd name="T14" fmla="*/ 251 w 255"/>
              <a:gd name="T15" fmla="*/ 18 h 51"/>
              <a:gd name="T16" fmla="*/ 251 w 255"/>
              <a:gd name="T17" fmla="*/ 24 h 51"/>
              <a:gd name="T18" fmla="*/ 251 w 255"/>
              <a:gd name="T19" fmla="*/ 31 h 51"/>
              <a:gd name="T20" fmla="*/ 250 w 255"/>
              <a:gd name="T21" fmla="*/ 38 h 51"/>
              <a:gd name="T22" fmla="*/ 250 w 255"/>
              <a:gd name="T23" fmla="*/ 44 h 51"/>
              <a:gd name="T24" fmla="*/ 248 w 255"/>
              <a:gd name="T25" fmla="*/ 51 h 51"/>
              <a:gd name="T26" fmla="*/ 253 w 255"/>
              <a:gd name="T27" fmla="*/ 48 h 51"/>
              <a:gd name="T28" fmla="*/ 253 w 255"/>
              <a:gd name="T29" fmla="*/ 41 h 51"/>
              <a:gd name="T30" fmla="*/ 255 w 255"/>
              <a:gd name="T31" fmla="*/ 34 h 51"/>
              <a:gd name="T32" fmla="*/ 255 w 255"/>
              <a:gd name="T33" fmla="*/ 28 h 51"/>
              <a:gd name="T34" fmla="*/ 3 w 255"/>
              <a:gd name="T35" fmla="*/ 0 h 51"/>
              <a:gd name="T36" fmla="*/ 1 w 255"/>
              <a:gd name="T37" fmla="*/ 4 h 51"/>
              <a:gd name="T38" fmla="*/ 1 w 255"/>
              <a:gd name="T39" fmla="*/ 11 h 51"/>
              <a:gd name="T40" fmla="*/ 1 w 255"/>
              <a:gd name="T41" fmla="*/ 18 h 51"/>
              <a:gd name="T42" fmla="*/ 0 w 255"/>
              <a:gd name="T43" fmla="*/ 24 h 51"/>
              <a:gd name="T44" fmla="*/ 0 w 255"/>
              <a:gd name="T45" fmla="*/ 31 h 51"/>
              <a:gd name="T46" fmla="*/ 1 w 255"/>
              <a:gd name="T47" fmla="*/ 38 h 51"/>
              <a:gd name="T48" fmla="*/ 1 w 255"/>
              <a:gd name="T49" fmla="*/ 44 h 51"/>
              <a:gd name="T50" fmla="*/ 3 w 255"/>
              <a:gd name="T51" fmla="*/ 51 h 51"/>
              <a:gd name="T52" fmla="*/ 6 w 255"/>
              <a:gd name="T53" fmla="*/ 48 h 51"/>
              <a:gd name="T54" fmla="*/ 5 w 255"/>
              <a:gd name="T55" fmla="*/ 41 h 51"/>
              <a:gd name="T56" fmla="*/ 5 w 255"/>
              <a:gd name="T57" fmla="*/ 34 h 51"/>
              <a:gd name="T58" fmla="*/ 3 w 255"/>
              <a:gd name="T59" fmla="*/ 28 h 51"/>
              <a:gd name="T60" fmla="*/ 3 w 255"/>
              <a:gd name="T61" fmla="*/ 21 h 51"/>
              <a:gd name="T62" fmla="*/ 5 w 255"/>
              <a:gd name="T63" fmla="*/ 14 h 51"/>
              <a:gd name="T64" fmla="*/ 5 w 255"/>
              <a:gd name="T65" fmla="*/ 8 h 51"/>
              <a:gd name="T66" fmla="*/ 6 w 255"/>
              <a:gd name="T67" fmla="*/ 3 h 51"/>
              <a:gd name="T68" fmla="*/ 3 w 25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5" h="51">
                <a:moveTo>
                  <a:pt x="255" y="24"/>
                </a:moveTo>
                <a:lnTo>
                  <a:pt x="255" y="21"/>
                </a:lnTo>
                <a:lnTo>
                  <a:pt x="255" y="18"/>
                </a:lnTo>
                <a:lnTo>
                  <a:pt x="255" y="14"/>
                </a:lnTo>
                <a:lnTo>
                  <a:pt x="253" y="11"/>
                </a:lnTo>
                <a:lnTo>
                  <a:pt x="253" y="8"/>
                </a:lnTo>
                <a:lnTo>
                  <a:pt x="253" y="4"/>
                </a:lnTo>
                <a:lnTo>
                  <a:pt x="253" y="3"/>
                </a:lnTo>
                <a:lnTo>
                  <a:pt x="251" y="0"/>
                </a:lnTo>
                <a:lnTo>
                  <a:pt x="248" y="0"/>
                </a:lnTo>
                <a:lnTo>
                  <a:pt x="248" y="3"/>
                </a:lnTo>
                <a:lnTo>
                  <a:pt x="250" y="4"/>
                </a:lnTo>
                <a:lnTo>
                  <a:pt x="250" y="8"/>
                </a:lnTo>
                <a:lnTo>
                  <a:pt x="250" y="11"/>
                </a:lnTo>
                <a:lnTo>
                  <a:pt x="251" y="14"/>
                </a:lnTo>
                <a:lnTo>
                  <a:pt x="251" y="18"/>
                </a:lnTo>
                <a:lnTo>
                  <a:pt x="251" y="21"/>
                </a:lnTo>
                <a:lnTo>
                  <a:pt x="251" y="24"/>
                </a:lnTo>
                <a:lnTo>
                  <a:pt x="251" y="28"/>
                </a:lnTo>
                <a:lnTo>
                  <a:pt x="251" y="31"/>
                </a:lnTo>
                <a:lnTo>
                  <a:pt x="251" y="34"/>
                </a:lnTo>
                <a:lnTo>
                  <a:pt x="250" y="38"/>
                </a:lnTo>
                <a:lnTo>
                  <a:pt x="250" y="41"/>
                </a:lnTo>
                <a:lnTo>
                  <a:pt x="250" y="44"/>
                </a:lnTo>
                <a:lnTo>
                  <a:pt x="250" y="48"/>
                </a:lnTo>
                <a:lnTo>
                  <a:pt x="248" y="51"/>
                </a:lnTo>
                <a:lnTo>
                  <a:pt x="251" y="51"/>
                </a:lnTo>
                <a:lnTo>
                  <a:pt x="253" y="48"/>
                </a:lnTo>
                <a:lnTo>
                  <a:pt x="253" y="44"/>
                </a:lnTo>
                <a:lnTo>
                  <a:pt x="253" y="41"/>
                </a:lnTo>
                <a:lnTo>
                  <a:pt x="253" y="38"/>
                </a:lnTo>
                <a:lnTo>
                  <a:pt x="255" y="34"/>
                </a:lnTo>
                <a:lnTo>
                  <a:pt x="255" y="31"/>
                </a:lnTo>
                <a:lnTo>
                  <a:pt x="255" y="28"/>
                </a:lnTo>
                <a:lnTo>
                  <a:pt x="255" y="24"/>
                </a:lnTo>
                <a:close/>
                <a:moveTo>
                  <a:pt x="3" y="0"/>
                </a:moveTo>
                <a:lnTo>
                  <a:pt x="3" y="3"/>
                </a:lnTo>
                <a:lnTo>
                  <a:pt x="1" y="4"/>
                </a:lnTo>
                <a:lnTo>
                  <a:pt x="1" y="8"/>
                </a:lnTo>
                <a:lnTo>
                  <a:pt x="1" y="11"/>
                </a:lnTo>
                <a:lnTo>
                  <a:pt x="1" y="14"/>
                </a:lnTo>
                <a:lnTo>
                  <a:pt x="1"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76" name="Freeform 1981">
            <a:extLst>
              <a:ext uri="{FF2B5EF4-FFF2-40B4-BE49-F238E27FC236}">
                <a16:creationId xmlns:a16="http://schemas.microsoft.com/office/drawing/2014/main" id="{BFDF67A1-40C9-0E9D-D9FF-F674AF4B4FCD}"/>
              </a:ext>
            </a:extLst>
          </p:cNvPr>
          <p:cNvSpPr>
            <a:spLocks noEditPoints="1"/>
          </p:cNvSpPr>
          <p:nvPr/>
        </p:nvSpPr>
        <p:spPr bwMode="auto">
          <a:xfrm>
            <a:off x="2357438" y="2719388"/>
            <a:ext cx="400050" cy="80963"/>
          </a:xfrm>
          <a:custGeom>
            <a:avLst/>
            <a:gdLst>
              <a:gd name="T0" fmla="*/ 252 w 252"/>
              <a:gd name="T1" fmla="*/ 21 h 51"/>
              <a:gd name="T2" fmla="*/ 252 w 252"/>
              <a:gd name="T3" fmla="*/ 14 h 51"/>
              <a:gd name="T4" fmla="*/ 250 w 252"/>
              <a:gd name="T5" fmla="*/ 8 h 51"/>
              <a:gd name="T6" fmla="*/ 250 w 252"/>
              <a:gd name="T7" fmla="*/ 3 h 51"/>
              <a:gd name="T8" fmla="*/ 245 w 252"/>
              <a:gd name="T9" fmla="*/ 0 h 51"/>
              <a:gd name="T10" fmla="*/ 247 w 252"/>
              <a:gd name="T11" fmla="*/ 4 h 51"/>
              <a:gd name="T12" fmla="*/ 247 w 252"/>
              <a:gd name="T13" fmla="*/ 11 h 51"/>
              <a:gd name="T14" fmla="*/ 249 w 252"/>
              <a:gd name="T15" fmla="*/ 18 h 51"/>
              <a:gd name="T16" fmla="*/ 249 w 252"/>
              <a:gd name="T17" fmla="*/ 24 h 51"/>
              <a:gd name="T18" fmla="*/ 249 w 252"/>
              <a:gd name="T19" fmla="*/ 31 h 51"/>
              <a:gd name="T20" fmla="*/ 247 w 252"/>
              <a:gd name="T21" fmla="*/ 38 h 51"/>
              <a:gd name="T22" fmla="*/ 247 w 252"/>
              <a:gd name="T23" fmla="*/ 44 h 51"/>
              <a:gd name="T24" fmla="*/ 245 w 252"/>
              <a:gd name="T25" fmla="*/ 51 h 51"/>
              <a:gd name="T26" fmla="*/ 250 w 252"/>
              <a:gd name="T27" fmla="*/ 48 h 51"/>
              <a:gd name="T28" fmla="*/ 250 w 252"/>
              <a:gd name="T29" fmla="*/ 41 h 51"/>
              <a:gd name="T30" fmla="*/ 252 w 252"/>
              <a:gd name="T31" fmla="*/ 34 h 51"/>
              <a:gd name="T32" fmla="*/ 252 w 252"/>
              <a:gd name="T33" fmla="*/ 28 h 51"/>
              <a:gd name="T34" fmla="*/ 4 w 252"/>
              <a:gd name="T35" fmla="*/ 0 h 51"/>
              <a:gd name="T36" fmla="*/ 2 w 252"/>
              <a:gd name="T37" fmla="*/ 4 h 51"/>
              <a:gd name="T38" fmla="*/ 2 w 252"/>
              <a:gd name="T39" fmla="*/ 11 h 51"/>
              <a:gd name="T40" fmla="*/ 2 w 252"/>
              <a:gd name="T41" fmla="*/ 18 h 51"/>
              <a:gd name="T42" fmla="*/ 0 w 252"/>
              <a:gd name="T43" fmla="*/ 24 h 51"/>
              <a:gd name="T44" fmla="*/ 0 w 252"/>
              <a:gd name="T45" fmla="*/ 31 h 51"/>
              <a:gd name="T46" fmla="*/ 2 w 252"/>
              <a:gd name="T47" fmla="*/ 38 h 51"/>
              <a:gd name="T48" fmla="*/ 2 w 252"/>
              <a:gd name="T49" fmla="*/ 44 h 51"/>
              <a:gd name="T50" fmla="*/ 4 w 252"/>
              <a:gd name="T51" fmla="*/ 51 h 51"/>
              <a:gd name="T52" fmla="*/ 7 w 252"/>
              <a:gd name="T53" fmla="*/ 48 h 51"/>
              <a:gd name="T54" fmla="*/ 5 w 252"/>
              <a:gd name="T55" fmla="*/ 41 h 51"/>
              <a:gd name="T56" fmla="*/ 5 w 252"/>
              <a:gd name="T57" fmla="*/ 34 h 51"/>
              <a:gd name="T58" fmla="*/ 4 w 252"/>
              <a:gd name="T59" fmla="*/ 28 h 51"/>
              <a:gd name="T60" fmla="*/ 4 w 252"/>
              <a:gd name="T61" fmla="*/ 21 h 51"/>
              <a:gd name="T62" fmla="*/ 5 w 252"/>
              <a:gd name="T63" fmla="*/ 14 h 51"/>
              <a:gd name="T64" fmla="*/ 5 w 252"/>
              <a:gd name="T65" fmla="*/ 8 h 51"/>
              <a:gd name="T66" fmla="*/ 7 w 252"/>
              <a:gd name="T67" fmla="*/ 3 h 51"/>
              <a:gd name="T68" fmla="*/ 4 w 2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52" h="51">
                <a:moveTo>
                  <a:pt x="252" y="24"/>
                </a:moveTo>
                <a:lnTo>
                  <a:pt x="252" y="21"/>
                </a:lnTo>
                <a:lnTo>
                  <a:pt x="252" y="18"/>
                </a:lnTo>
                <a:lnTo>
                  <a:pt x="252" y="14"/>
                </a:lnTo>
                <a:lnTo>
                  <a:pt x="250" y="11"/>
                </a:lnTo>
                <a:lnTo>
                  <a:pt x="250" y="8"/>
                </a:lnTo>
                <a:lnTo>
                  <a:pt x="250" y="4"/>
                </a:lnTo>
                <a:lnTo>
                  <a:pt x="250" y="3"/>
                </a:lnTo>
                <a:lnTo>
                  <a:pt x="249" y="0"/>
                </a:lnTo>
                <a:lnTo>
                  <a:pt x="245" y="0"/>
                </a:lnTo>
                <a:lnTo>
                  <a:pt x="245" y="3"/>
                </a:lnTo>
                <a:lnTo>
                  <a:pt x="247" y="4"/>
                </a:lnTo>
                <a:lnTo>
                  <a:pt x="247" y="8"/>
                </a:lnTo>
                <a:lnTo>
                  <a:pt x="247" y="11"/>
                </a:lnTo>
                <a:lnTo>
                  <a:pt x="249" y="14"/>
                </a:lnTo>
                <a:lnTo>
                  <a:pt x="249" y="18"/>
                </a:lnTo>
                <a:lnTo>
                  <a:pt x="249" y="21"/>
                </a:lnTo>
                <a:lnTo>
                  <a:pt x="249" y="24"/>
                </a:lnTo>
                <a:lnTo>
                  <a:pt x="249" y="28"/>
                </a:lnTo>
                <a:lnTo>
                  <a:pt x="249" y="31"/>
                </a:lnTo>
                <a:lnTo>
                  <a:pt x="249" y="34"/>
                </a:lnTo>
                <a:lnTo>
                  <a:pt x="247" y="38"/>
                </a:lnTo>
                <a:lnTo>
                  <a:pt x="247" y="41"/>
                </a:lnTo>
                <a:lnTo>
                  <a:pt x="247" y="44"/>
                </a:lnTo>
                <a:lnTo>
                  <a:pt x="247" y="48"/>
                </a:lnTo>
                <a:lnTo>
                  <a:pt x="245" y="51"/>
                </a:lnTo>
                <a:lnTo>
                  <a:pt x="249" y="51"/>
                </a:lnTo>
                <a:lnTo>
                  <a:pt x="250" y="48"/>
                </a:lnTo>
                <a:lnTo>
                  <a:pt x="250" y="44"/>
                </a:lnTo>
                <a:lnTo>
                  <a:pt x="250" y="41"/>
                </a:lnTo>
                <a:lnTo>
                  <a:pt x="250" y="38"/>
                </a:lnTo>
                <a:lnTo>
                  <a:pt x="252" y="34"/>
                </a:lnTo>
                <a:lnTo>
                  <a:pt x="252" y="31"/>
                </a:lnTo>
                <a:lnTo>
                  <a:pt x="252" y="28"/>
                </a:lnTo>
                <a:lnTo>
                  <a:pt x="252" y="24"/>
                </a:lnTo>
                <a:close/>
                <a:moveTo>
                  <a:pt x="4" y="0"/>
                </a:moveTo>
                <a:lnTo>
                  <a:pt x="4" y="3"/>
                </a:lnTo>
                <a:lnTo>
                  <a:pt x="2" y="4"/>
                </a:lnTo>
                <a:lnTo>
                  <a:pt x="2" y="8"/>
                </a:lnTo>
                <a:lnTo>
                  <a:pt x="2" y="11"/>
                </a:lnTo>
                <a:lnTo>
                  <a:pt x="2" y="14"/>
                </a:lnTo>
                <a:lnTo>
                  <a:pt x="2"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5" y="4"/>
                </a:lnTo>
                <a:lnTo>
                  <a:pt x="7" y="3"/>
                </a:lnTo>
                <a:lnTo>
                  <a:pt x="7" y="0"/>
                </a:lnTo>
                <a:lnTo>
                  <a:pt x="4"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77" name="Freeform 1982">
            <a:extLst>
              <a:ext uri="{FF2B5EF4-FFF2-40B4-BE49-F238E27FC236}">
                <a16:creationId xmlns:a16="http://schemas.microsoft.com/office/drawing/2014/main" id="{66A1793F-496D-39DC-4575-F45FAEF021A5}"/>
              </a:ext>
            </a:extLst>
          </p:cNvPr>
          <p:cNvSpPr>
            <a:spLocks noEditPoints="1"/>
          </p:cNvSpPr>
          <p:nvPr/>
        </p:nvSpPr>
        <p:spPr bwMode="auto">
          <a:xfrm>
            <a:off x="2360613" y="2719388"/>
            <a:ext cx="393700" cy="80963"/>
          </a:xfrm>
          <a:custGeom>
            <a:avLst/>
            <a:gdLst>
              <a:gd name="T0" fmla="*/ 248 w 248"/>
              <a:gd name="T1" fmla="*/ 21 h 51"/>
              <a:gd name="T2" fmla="*/ 248 w 248"/>
              <a:gd name="T3" fmla="*/ 14 h 51"/>
              <a:gd name="T4" fmla="*/ 247 w 248"/>
              <a:gd name="T5" fmla="*/ 8 h 51"/>
              <a:gd name="T6" fmla="*/ 245 w 248"/>
              <a:gd name="T7" fmla="*/ 3 h 51"/>
              <a:gd name="T8" fmla="*/ 242 w 248"/>
              <a:gd name="T9" fmla="*/ 0 h 51"/>
              <a:gd name="T10" fmla="*/ 243 w 248"/>
              <a:gd name="T11" fmla="*/ 4 h 51"/>
              <a:gd name="T12" fmla="*/ 243 w 248"/>
              <a:gd name="T13" fmla="*/ 11 h 51"/>
              <a:gd name="T14" fmla="*/ 245 w 248"/>
              <a:gd name="T15" fmla="*/ 18 h 51"/>
              <a:gd name="T16" fmla="*/ 245 w 248"/>
              <a:gd name="T17" fmla="*/ 24 h 51"/>
              <a:gd name="T18" fmla="*/ 245 w 248"/>
              <a:gd name="T19" fmla="*/ 31 h 51"/>
              <a:gd name="T20" fmla="*/ 243 w 248"/>
              <a:gd name="T21" fmla="*/ 38 h 51"/>
              <a:gd name="T22" fmla="*/ 243 w 248"/>
              <a:gd name="T23" fmla="*/ 44 h 51"/>
              <a:gd name="T24" fmla="*/ 242 w 248"/>
              <a:gd name="T25" fmla="*/ 51 h 51"/>
              <a:gd name="T26" fmla="*/ 247 w 248"/>
              <a:gd name="T27" fmla="*/ 48 h 51"/>
              <a:gd name="T28" fmla="*/ 247 w 248"/>
              <a:gd name="T29" fmla="*/ 41 h 51"/>
              <a:gd name="T30" fmla="*/ 248 w 248"/>
              <a:gd name="T31" fmla="*/ 34 h 51"/>
              <a:gd name="T32" fmla="*/ 248 w 248"/>
              <a:gd name="T33" fmla="*/ 28 h 51"/>
              <a:gd name="T34" fmla="*/ 3 w 248"/>
              <a:gd name="T35" fmla="*/ 0 h 51"/>
              <a:gd name="T36" fmla="*/ 2 w 248"/>
              <a:gd name="T37" fmla="*/ 4 h 51"/>
              <a:gd name="T38" fmla="*/ 2 w 248"/>
              <a:gd name="T39" fmla="*/ 11 h 51"/>
              <a:gd name="T40" fmla="*/ 0 w 248"/>
              <a:gd name="T41" fmla="*/ 18 h 51"/>
              <a:gd name="T42" fmla="*/ 0 w 248"/>
              <a:gd name="T43" fmla="*/ 24 h 51"/>
              <a:gd name="T44" fmla="*/ 0 w 248"/>
              <a:gd name="T45" fmla="*/ 31 h 51"/>
              <a:gd name="T46" fmla="*/ 2 w 248"/>
              <a:gd name="T47" fmla="*/ 38 h 51"/>
              <a:gd name="T48" fmla="*/ 2 w 248"/>
              <a:gd name="T49" fmla="*/ 44 h 51"/>
              <a:gd name="T50" fmla="*/ 3 w 248"/>
              <a:gd name="T51" fmla="*/ 51 h 51"/>
              <a:gd name="T52" fmla="*/ 7 w 248"/>
              <a:gd name="T53" fmla="*/ 48 h 51"/>
              <a:gd name="T54" fmla="*/ 5 w 248"/>
              <a:gd name="T55" fmla="*/ 41 h 51"/>
              <a:gd name="T56" fmla="*/ 5 w 248"/>
              <a:gd name="T57" fmla="*/ 34 h 51"/>
              <a:gd name="T58" fmla="*/ 3 w 248"/>
              <a:gd name="T59" fmla="*/ 28 h 51"/>
              <a:gd name="T60" fmla="*/ 3 w 248"/>
              <a:gd name="T61" fmla="*/ 21 h 51"/>
              <a:gd name="T62" fmla="*/ 5 w 248"/>
              <a:gd name="T63" fmla="*/ 14 h 51"/>
              <a:gd name="T64" fmla="*/ 5 w 248"/>
              <a:gd name="T65" fmla="*/ 8 h 51"/>
              <a:gd name="T66" fmla="*/ 7 w 248"/>
              <a:gd name="T67" fmla="*/ 3 h 51"/>
              <a:gd name="T68" fmla="*/ 3 w 24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8" h="51">
                <a:moveTo>
                  <a:pt x="248" y="24"/>
                </a:moveTo>
                <a:lnTo>
                  <a:pt x="248" y="21"/>
                </a:lnTo>
                <a:lnTo>
                  <a:pt x="248" y="18"/>
                </a:lnTo>
                <a:lnTo>
                  <a:pt x="248" y="14"/>
                </a:lnTo>
                <a:lnTo>
                  <a:pt x="247" y="11"/>
                </a:lnTo>
                <a:lnTo>
                  <a:pt x="247" y="8"/>
                </a:lnTo>
                <a:lnTo>
                  <a:pt x="247" y="4"/>
                </a:lnTo>
                <a:lnTo>
                  <a:pt x="245" y="3"/>
                </a:lnTo>
                <a:lnTo>
                  <a:pt x="245" y="0"/>
                </a:lnTo>
                <a:lnTo>
                  <a:pt x="242" y="0"/>
                </a:lnTo>
                <a:lnTo>
                  <a:pt x="242" y="3"/>
                </a:lnTo>
                <a:lnTo>
                  <a:pt x="243" y="4"/>
                </a:lnTo>
                <a:lnTo>
                  <a:pt x="243" y="8"/>
                </a:lnTo>
                <a:lnTo>
                  <a:pt x="243" y="11"/>
                </a:lnTo>
                <a:lnTo>
                  <a:pt x="245" y="14"/>
                </a:lnTo>
                <a:lnTo>
                  <a:pt x="245" y="18"/>
                </a:lnTo>
                <a:lnTo>
                  <a:pt x="245" y="21"/>
                </a:lnTo>
                <a:lnTo>
                  <a:pt x="245" y="24"/>
                </a:lnTo>
                <a:lnTo>
                  <a:pt x="245" y="28"/>
                </a:lnTo>
                <a:lnTo>
                  <a:pt x="245" y="31"/>
                </a:lnTo>
                <a:lnTo>
                  <a:pt x="245" y="34"/>
                </a:lnTo>
                <a:lnTo>
                  <a:pt x="243" y="38"/>
                </a:lnTo>
                <a:lnTo>
                  <a:pt x="243" y="41"/>
                </a:lnTo>
                <a:lnTo>
                  <a:pt x="243" y="44"/>
                </a:lnTo>
                <a:lnTo>
                  <a:pt x="243" y="48"/>
                </a:lnTo>
                <a:lnTo>
                  <a:pt x="242" y="51"/>
                </a:lnTo>
                <a:lnTo>
                  <a:pt x="245" y="51"/>
                </a:lnTo>
                <a:lnTo>
                  <a:pt x="247" y="48"/>
                </a:lnTo>
                <a:lnTo>
                  <a:pt x="247" y="44"/>
                </a:lnTo>
                <a:lnTo>
                  <a:pt x="247" y="41"/>
                </a:lnTo>
                <a:lnTo>
                  <a:pt x="247" y="38"/>
                </a:lnTo>
                <a:lnTo>
                  <a:pt x="248" y="34"/>
                </a:lnTo>
                <a:lnTo>
                  <a:pt x="248" y="31"/>
                </a:lnTo>
                <a:lnTo>
                  <a:pt x="248" y="28"/>
                </a:lnTo>
                <a:lnTo>
                  <a:pt x="248"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7" y="3"/>
                </a:lnTo>
                <a:lnTo>
                  <a:pt x="7" y="0"/>
                </a:lnTo>
                <a:lnTo>
                  <a:pt x="3"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78" name="Freeform 1983">
            <a:extLst>
              <a:ext uri="{FF2B5EF4-FFF2-40B4-BE49-F238E27FC236}">
                <a16:creationId xmlns:a16="http://schemas.microsoft.com/office/drawing/2014/main" id="{641240BB-D9DC-1453-76AE-5BF3202D6342}"/>
              </a:ext>
            </a:extLst>
          </p:cNvPr>
          <p:cNvSpPr>
            <a:spLocks noEditPoints="1"/>
          </p:cNvSpPr>
          <p:nvPr/>
        </p:nvSpPr>
        <p:spPr bwMode="auto">
          <a:xfrm>
            <a:off x="2363788" y="2719388"/>
            <a:ext cx="388938" cy="80963"/>
          </a:xfrm>
          <a:custGeom>
            <a:avLst/>
            <a:gdLst>
              <a:gd name="T0" fmla="*/ 245 w 245"/>
              <a:gd name="T1" fmla="*/ 21 h 51"/>
              <a:gd name="T2" fmla="*/ 245 w 245"/>
              <a:gd name="T3" fmla="*/ 14 h 51"/>
              <a:gd name="T4" fmla="*/ 243 w 245"/>
              <a:gd name="T5" fmla="*/ 8 h 51"/>
              <a:gd name="T6" fmla="*/ 241 w 245"/>
              <a:gd name="T7" fmla="*/ 3 h 51"/>
              <a:gd name="T8" fmla="*/ 238 w 245"/>
              <a:gd name="T9" fmla="*/ 0 h 51"/>
              <a:gd name="T10" fmla="*/ 240 w 245"/>
              <a:gd name="T11" fmla="*/ 4 h 51"/>
              <a:gd name="T12" fmla="*/ 240 w 245"/>
              <a:gd name="T13" fmla="*/ 11 h 51"/>
              <a:gd name="T14" fmla="*/ 241 w 245"/>
              <a:gd name="T15" fmla="*/ 18 h 51"/>
              <a:gd name="T16" fmla="*/ 241 w 245"/>
              <a:gd name="T17" fmla="*/ 24 h 51"/>
              <a:gd name="T18" fmla="*/ 241 w 245"/>
              <a:gd name="T19" fmla="*/ 31 h 51"/>
              <a:gd name="T20" fmla="*/ 240 w 245"/>
              <a:gd name="T21" fmla="*/ 38 h 51"/>
              <a:gd name="T22" fmla="*/ 240 w 245"/>
              <a:gd name="T23" fmla="*/ 44 h 51"/>
              <a:gd name="T24" fmla="*/ 238 w 245"/>
              <a:gd name="T25" fmla="*/ 51 h 51"/>
              <a:gd name="T26" fmla="*/ 243 w 245"/>
              <a:gd name="T27" fmla="*/ 48 h 51"/>
              <a:gd name="T28" fmla="*/ 243 w 245"/>
              <a:gd name="T29" fmla="*/ 41 h 51"/>
              <a:gd name="T30" fmla="*/ 245 w 245"/>
              <a:gd name="T31" fmla="*/ 34 h 51"/>
              <a:gd name="T32" fmla="*/ 245 w 245"/>
              <a:gd name="T33" fmla="*/ 28 h 51"/>
              <a:gd name="T34" fmla="*/ 3 w 245"/>
              <a:gd name="T35" fmla="*/ 0 h 51"/>
              <a:gd name="T36" fmla="*/ 1 w 245"/>
              <a:gd name="T37" fmla="*/ 4 h 51"/>
              <a:gd name="T38" fmla="*/ 1 w 245"/>
              <a:gd name="T39" fmla="*/ 11 h 51"/>
              <a:gd name="T40" fmla="*/ 0 w 245"/>
              <a:gd name="T41" fmla="*/ 18 h 51"/>
              <a:gd name="T42" fmla="*/ 0 w 245"/>
              <a:gd name="T43" fmla="*/ 24 h 51"/>
              <a:gd name="T44" fmla="*/ 0 w 245"/>
              <a:gd name="T45" fmla="*/ 31 h 51"/>
              <a:gd name="T46" fmla="*/ 1 w 245"/>
              <a:gd name="T47" fmla="*/ 38 h 51"/>
              <a:gd name="T48" fmla="*/ 1 w 245"/>
              <a:gd name="T49" fmla="*/ 44 h 51"/>
              <a:gd name="T50" fmla="*/ 3 w 245"/>
              <a:gd name="T51" fmla="*/ 51 h 51"/>
              <a:gd name="T52" fmla="*/ 6 w 245"/>
              <a:gd name="T53" fmla="*/ 48 h 51"/>
              <a:gd name="T54" fmla="*/ 5 w 245"/>
              <a:gd name="T55" fmla="*/ 41 h 51"/>
              <a:gd name="T56" fmla="*/ 5 w 245"/>
              <a:gd name="T57" fmla="*/ 34 h 51"/>
              <a:gd name="T58" fmla="*/ 3 w 245"/>
              <a:gd name="T59" fmla="*/ 28 h 51"/>
              <a:gd name="T60" fmla="*/ 3 w 245"/>
              <a:gd name="T61" fmla="*/ 21 h 51"/>
              <a:gd name="T62" fmla="*/ 5 w 245"/>
              <a:gd name="T63" fmla="*/ 14 h 51"/>
              <a:gd name="T64" fmla="*/ 5 w 245"/>
              <a:gd name="T65" fmla="*/ 8 h 51"/>
              <a:gd name="T66" fmla="*/ 6 w 245"/>
              <a:gd name="T67" fmla="*/ 3 h 51"/>
              <a:gd name="T68" fmla="*/ 3 w 24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5" h="51">
                <a:moveTo>
                  <a:pt x="245" y="24"/>
                </a:moveTo>
                <a:lnTo>
                  <a:pt x="245" y="21"/>
                </a:lnTo>
                <a:lnTo>
                  <a:pt x="245" y="18"/>
                </a:lnTo>
                <a:lnTo>
                  <a:pt x="245" y="14"/>
                </a:lnTo>
                <a:lnTo>
                  <a:pt x="243" y="11"/>
                </a:lnTo>
                <a:lnTo>
                  <a:pt x="243" y="8"/>
                </a:lnTo>
                <a:lnTo>
                  <a:pt x="243" y="4"/>
                </a:lnTo>
                <a:lnTo>
                  <a:pt x="241" y="3"/>
                </a:lnTo>
                <a:lnTo>
                  <a:pt x="241" y="0"/>
                </a:lnTo>
                <a:lnTo>
                  <a:pt x="238" y="0"/>
                </a:lnTo>
                <a:lnTo>
                  <a:pt x="238" y="3"/>
                </a:lnTo>
                <a:lnTo>
                  <a:pt x="240" y="4"/>
                </a:lnTo>
                <a:lnTo>
                  <a:pt x="240" y="8"/>
                </a:lnTo>
                <a:lnTo>
                  <a:pt x="240" y="11"/>
                </a:lnTo>
                <a:lnTo>
                  <a:pt x="241" y="14"/>
                </a:lnTo>
                <a:lnTo>
                  <a:pt x="241" y="18"/>
                </a:lnTo>
                <a:lnTo>
                  <a:pt x="241" y="21"/>
                </a:lnTo>
                <a:lnTo>
                  <a:pt x="241" y="24"/>
                </a:lnTo>
                <a:lnTo>
                  <a:pt x="241" y="28"/>
                </a:lnTo>
                <a:lnTo>
                  <a:pt x="241" y="31"/>
                </a:lnTo>
                <a:lnTo>
                  <a:pt x="241" y="34"/>
                </a:lnTo>
                <a:lnTo>
                  <a:pt x="240" y="38"/>
                </a:lnTo>
                <a:lnTo>
                  <a:pt x="240" y="41"/>
                </a:lnTo>
                <a:lnTo>
                  <a:pt x="240" y="44"/>
                </a:lnTo>
                <a:lnTo>
                  <a:pt x="240" y="48"/>
                </a:lnTo>
                <a:lnTo>
                  <a:pt x="238" y="51"/>
                </a:lnTo>
                <a:lnTo>
                  <a:pt x="241" y="51"/>
                </a:lnTo>
                <a:lnTo>
                  <a:pt x="243" y="48"/>
                </a:lnTo>
                <a:lnTo>
                  <a:pt x="243" y="44"/>
                </a:lnTo>
                <a:lnTo>
                  <a:pt x="243" y="41"/>
                </a:lnTo>
                <a:lnTo>
                  <a:pt x="243" y="38"/>
                </a:lnTo>
                <a:lnTo>
                  <a:pt x="245" y="34"/>
                </a:lnTo>
                <a:lnTo>
                  <a:pt x="245" y="31"/>
                </a:lnTo>
                <a:lnTo>
                  <a:pt x="245" y="28"/>
                </a:lnTo>
                <a:lnTo>
                  <a:pt x="245" y="24"/>
                </a:lnTo>
                <a:close/>
                <a:moveTo>
                  <a:pt x="3" y="0"/>
                </a:moveTo>
                <a:lnTo>
                  <a:pt x="3" y="3"/>
                </a:lnTo>
                <a:lnTo>
                  <a:pt x="1"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79" name="Freeform 1984">
            <a:extLst>
              <a:ext uri="{FF2B5EF4-FFF2-40B4-BE49-F238E27FC236}">
                <a16:creationId xmlns:a16="http://schemas.microsoft.com/office/drawing/2014/main" id="{39AFC8E4-3B08-A6C0-8402-BA2F844A17A3}"/>
              </a:ext>
            </a:extLst>
          </p:cNvPr>
          <p:cNvSpPr>
            <a:spLocks noEditPoints="1"/>
          </p:cNvSpPr>
          <p:nvPr/>
        </p:nvSpPr>
        <p:spPr bwMode="auto">
          <a:xfrm>
            <a:off x="2365375" y="2719388"/>
            <a:ext cx="384175" cy="80963"/>
          </a:xfrm>
          <a:custGeom>
            <a:avLst/>
            <a:gdLst>
              <a:gd name="T0" fmla="*/ 242 w 242"/>
              <a:gd name="T1" fmla="*/ 21 h 51"/>
              <a:gd name="T2" fmla="*/ 242 w 242"/>
              <a:gd name="T3" fmla="*/ 14 h 51"/>
              <a:gd name="T4" fmla="*/ 240 w 242"/>
              <a:gd name="T5" fmla="*/ 8 h 51"/>
              <a:gd name="T6" fmla="*/ 239 w 242"/>
              <a:gd name="T7" fmla="*/ 3 h 51"/>
              <a:gd name="T8" fmla="*/ 235 w 242"/>
              <a:gd name="T9" fmla="*/ 0 h 51"/>
              <a:gd name="T10" fmla="*/ 237 w 242"/>
              <a:gd name="T11" fmla="*/ 4 h 51"/>
              <a:gd name="T12" fmla="*/ 237 w 242"/>
              <a:gd name="T13" fmla="*/ 11 h 51"/>
              <a:gd name="T14" fmla="*/ 239 w 242"/>
              <a:gd name="T15" fmla="*/ 18 h 51"/>
              <a:gd name="T16" fmla="*/ 239 w 242"/>
              <a:gd name="T17" fmla="*/ 24 h 51"/>
              <a:gd name="T18" fmla="*/ 239 w 242"/>
              <a:gd name="T19" fmla="*/ 31 h 51"/>
              <a:gd name="T20" fmla="*/ 237 w 242"/>
              <a:gd name="T21" fmla="*/ 38 h 51"/>
              <a:gd name="T22" fmla="*/ 237 w 242"/>
              <a:gd name="T23" fmla="*/ 44 h 51"/>
              <a:gd name="T24" fmla="*/ 235 w 242"/>
              <a:gd name="T25" fmla="*/ 51 h 51"/>
              <a:gd name="T26" fmla="*/ 240 w 242"/>
              <a:gd name="T27" fmla="*/ 48 h 51"/>
              <a:gd name="T28" fmla="*/ 240 w 242"/>
              <a:gd name="T29" fmla="*/ 41 h 51"/>
              <a:gd name="T30" fmla="*/ 242 w 242"/>
              <a:gd name="T31" fmla="*/ 34 h 51"/>
              <a:gd name="T32" fmla="*/ 242 w 242"/>
              <a:gd name="T33" fmla="*/ 28 h 51"/>
              <a:gd name="T34" fmla="*/ 4 w 242"/>
              <a:gd name="T35" fmla="*/ 0 h 51"/>
              <a:gd name="T36" fmla="*/ 2 w 242"/>
              <a:gd name="T37" fmla="*/ 4 h 51"/>
              <a:gd name="T38" fmla="*/ 2 w 242"/>
              <a:gd name="T39" fmla="*/ 11 h 51"/>
              <a:gd name="T40" fmla="*/ 0 w 242"/>
              <a:gd name="T41" fmla="*/ 18 h 51"/>
              <a:gd name="T42" fmla="*/ 0 w 242"/>
              <a:gd name="T43" fmla="*/ 24 h 51"/>
              <a:gd name="T44" fmla="*/ 0 w 242"/>
              <a:gd name="T45" fmla="*/ 31 h 51"/>
              <a:gd name="T46" fmla="*/ 2 w 242"/>
              <a:gd name="T47" fmla="*/ 38 h 51"/>
              <a:gd name="T48" fmla="*/ 2 w 242"/>
              <a:gd name="T49" fmla="*/ 44 h 51"/>
              <a:gd name="T50" fmla="*/ 4 w 242"/>
              <a:gd name="T51" fmla="*/ 51 h 51"/>
              <a:gd name="T52" fmla="*/ 7 w 242"/>
              <a:gd name="T53" fmla="*/ 48 h 51"/>
              <a:gd name="T54" fmla="*/ 5 w 242"/>
              <a:gd name="T55" fmla="*/ 41 h 51"/>
              <a:gd name="T56" fmla="*/ 5 w 242"/>
              <a:gd name="T57" fmla="*/ 34 h 51"/>
              <a:gd name="T58" fmla="*/ 4 w 242"/>
              <a:gd name="T59" fmla="*/ 28 h 51"/>
              <a:gd name="T60" fmla="*/ 4 w 242"/>
              <a:gd name="T61" fmla="*/ 21 h 51"/>
              <a:gd name="T62" fmla="*/ 5 w 242"/>
              <a:gd name="T63" fmla="*/ 14 h 51"/>
              <a:gd name="T64" fmla="*/ 5 w 242"/>
              <a:gd name="T65" fmla="*/ 8 h 51"/>
              <a:gd name="T66" fmla="*/ 7 w 242"/>
              <a:gd name="T67" fmla="*/ 3 h 51"/>
              <a:gd name="T68" fmla="*/ 4 w 2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42" h="51">
                <a:moveTo>
                  <a:pt x="242" y="24"/>
                </a:moveTo>
                <a:lnTo>
                  <a:pt x="242" y="21"/>
                </a:lnTo>
                <a:lnTo>
                  <a:pt x="242" y="18"/>
                </a:lnTo>
                <a:lnTo>
                  <a:pt x="242" y="14"/>
                </a:lnTo>
                <a:lnTo>
                  <a:pt x="240" y="11"/>
                </a:lnTo>
                <a:lnTo>
                  <a:pt x="240" y="8"/>
                </a:lnTo>
                <a:lnTo>
                  <a:pt x="240" y="4"/>
                </a:lnTo>
                <a:lnTo>
                  <a:pt x="239" y="3"/>
                </a:lnTo>
                <a:lnTo>
                  <a:pt x="239" y="0"/>
                </a:lnTo>
                <a:lnTo>
                  <a:pt x="235" y="0"/>
                </a:lnTo>
                <a:lnTo>
                  <a:pt x="235" y="3"/>
                </a:lnTo>
                <a:lnTo>
                  <a:pt x="237" y="4"/>
                </a:lnTo>
                <a:lnTo>
                  <a:pt x="237" y="8"/>
                </a:lnTo>
                <a:lnTo>
                  <a:pt x="237" y="11"/>
                </a:lnTo>
                <a:lnTo>
                  <a:pt x="239" y="14"/>
                </a:lnTo>
                <a:lnTo>
                  <a:pt x="239" y="18"/>
                </a:lnTo>
                <a:lnTo>
                  <a:pt x="239" y="21"/>
                </a:lnTo>
                <a:lnTo>
                  <a:pt x="239" y="24"/>
                </a:lnTo>
                <a:lnTo>
                  <a:pt x="239" y="28"/>
                </a:lnTo>
                <a:lnTo>
                  <a:pt x="239" y="31"/>
                </a:lnTo>
                <a:lnTo>
                  <a:pt x="239" y="34"/>
                </a:lnTo>
                <a:lnTo>
                  <a:pt x="237" y="38"/>
                </a:lnTo>
                <a:lnTo>
                  <a:pt x="237" y="41"/>
                </a:lnTo>
                <a:lnTo>
                  <a:pt x="237" y="44"/>
                </a:lnTo>
                <a:lnTo>
                  <a:pt x="237" y="48"/>
                </a:lnTo>
                <a:lnTo>
                  <a:pt x="235" y="51"/>
                </a:lnTo>
                <a:lnTo>
                  <a:pt x="239" y="51"/>
                </a:lnTo>
                <a:lnTo>
                  <a:pt x="240" y="48"/>
                </a:lnTo>
                <a:lnTo>
                  <a:pt x="240" y="44"/>
                </a:lnTo>
                <a:lnTo>
                  <a:pt x="240" y="41"/>
                </a:lnTo>
                <a:lnTo>
                  <a:pt x="240" y="38"/>
                </a:lnTo>
                <a:lnTo>
                  <a:pt x="242" y="34"/>
                </a:lnTo>
                <a:lnTo>
                  <a:pt x="242" y="31"/>
                </a:lnTo>
                <a:lnTo>
                  <a:pt x="242" y="28"/>
                </a:lnTo>
                <a:lnTo>
                  <a:pt x="242" y="24"/>
                </a:lnTo>
                <a:close/>
                <a:moveTo>
                  <a:pt x="4" y="0"/>
                </a:moveTo>
                <a:lnTo>
                  <a:pt x="4"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5" y="4"/>
                </a:lnTo>
                <a:lnTo>
                  <a:pt x="7" y="3"/>
                </a:lnTo>
                <a:lnTo>
                  <a:pt x="7" y="0"/>
                </a:lnTo>
                <a:lnTo>
                  <a:pt x="4"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80" name="Freeform 1985">
            <a:extLst>
              <a:ext uri="{FF2B5EF4-FFF2-40B4-BE49-F238E27FC236}">
                <a16:creationId xmlns:a16="http://schemas.microsoft.com/office/drawing/2014/main" id="{420DF465-D744-4802-967C-9DF30898B7F0}"/>
              </a:ext>
            </a:extLst>
          </p:cNvPr>
          <p:cNvSpPr>
            <a:spLocks noEditPoints="1"/>
          </p:cNvSpPr>
          <p:nvPr/>
        </p:nvSpPr>
        <p:spPr bwMode="auto">
          <a:xfrm>
            <a:off x="2368550" y="2719388"/>
            <a:ext cx="377825" cy="80963"/>
          </a:xfrm>
          <a:custGeom>
            <a:avLst/>
            <a:gdLst>
              <a:gd name="T0" fmla="*/ 238 w 238"/>
              <a:gd name="T1" fmla="*/ 21 h 51"/>
              <a:gd name="T2" fmla="*/ 238 w 238"/>
              <a:gd name="T3" fmla="*/ 14 h 51"/>
              <a:gd name="T4" fmla="*/ 237 w 238"/>
              <a:gd name="T5" fmla="*/ 8 h 51"/>
              <a:gd name="T6" fmla="*/ 235 w 238"/>
              <a:gd name="T7" fmla="*/ 3 h 51"/>
              <a:gd name="T8" fmla="*/ 232 w 238"/>
              <a:gd name="T9" fmla="*/ 0 h 51"/>
              <a:gd name="T10" fmla="*/ 233 w 238"/>
              <a:gd name="T11" fmla="*/ 4 h 51"/>
              <a:gd name="T12" fmla="*/ 233 w 238"/>
              <a:gd name="T13" fmla="*/ 11 h 51"/>
              <a:gd name="T14" fmla="*/ 235 w 238"/>
              <a:gd name="T15" fmla="*/ 18 h 51"/>
              <a:gd name="T16" fmla="*/ 235 w 238"/>
              <a:gd name="T17" fmla="*/ 24 h 51"/>
              <a:gd name="T18" fmla="*/ 235 w 238"/>
              <a:gd name="T19" fmla="*/ 31 h 51"/>
              <a:gd name="T20" fmla="*/ 233 w 238"/>
              <a:gd name="T21" fmla="*/ 38 h 51"/>
              <a:gd name="T22" fmla="*/ 233 w 238"/>
              <a:gd name="T23" fmla="*/ 44 h 51"/>
              <a:gd name="T24" fmla="*/ 232 w 238"/>
              <a:gd name="T25" fmla="*/ 51 h 51"/>
              <a:gd name="T26" fmla="*/ 237 w 238"/>
              <a:gd name="T27" fmla="*/ 48 h 51"/>
              <a:gd name="T28" fmla="*/ 237 w 238"/>
              <a:gd name="T29" fmla="*/ 41 h 51"/>
              <a:gd name="T30" fmla="*/ 238 w 238"/>
              <a:gd name="T31" fmla="*/ 34 h 51"/>
              <a:gd name="T32" fmla="*/ 238 w 238"/>
              <a:gd name="T33" fmla="*/ 28 h 51"/>
              <a:gd name="T34" fmla="*/ 3 w 238"/>
              <a:gd name="T35" fmla="*/ 0 h 51"/>
              <a:gd name="T36" fmla="*/ 2 w 238"/>
              <a:gd name="T37" fmla="*/ 4 h 51"/>
              <a:gd name="T38" fmla="*/ 2 w 238"/>
              <a:gd name="T39" fmla="*/ 11 h 51"/>
              <a:gd name="T40" fmla="*/ 0 w 238"/>
              <a:gd name="T41" fmla="*/ 18 h 51"/>
              <a:gd name="T42" fmla="*/ 0 w 238"/>
              <a:gd name="T43" fmla="*/ 24 h 51"/>
              <a:gd name="T44" fmla="*/ 0 w 238"/>
              <a:gd name="T45" fmla="*/ 31 h 51"/>
              <a:gd name="T46" fmla="*/ 2 w 238"/>
              <a:gd name="T47" fmla="*/ 38 h 51"/>
              <a:gd name="T48" fmla="*/ 2 w 238"/>
              <a:gd name="T49" fmla="*/ 44 h 51"/>
              <a:gd name="T50" fmla="*/ 3 w 238"/>
              <a:gd name="T51" fmla="*/ 51 h 51"/>
              <a:gd name="T52" fmla="*/ 7 w 238"/>
              <a:gd name="T53" fmla="*/ 48 h 51"/>
              <a:gd name="T54" fmla="*/ 5 w 238"/>
              <a:gd name="T55" fmla="*/ 41 h 51"/>
              <a:gd name="T56" fmla="*/ 5 w 238"/>
              <a:gd name="T57" fmla="*/ 34 h 51"/>
              <a:gd name="T58" fmla="*/ 3 w 238"/>
              <a:gd name="T59" fmla="*/ 28 h 51"/>
              <a:gd name="T60" fmla="*/ 3 w 238"/>
              <a:gd name="T61" fmla="*/ 21 h 51"/>
              <a:gd name="T62" fmla="*/ 5 w 238"/>
              <a:gd name="T63" fmla="*/ 14 h 51"/>
              <a:gd name="T64" fmla="*/ 5 w 238"/>
              <a:gd name="T65" fmla="*/ 8 h 51"/>
              <a:gd name="T66" fmla="*/ 7 w 238"/>
              <a:gd name="T67" fmla="*/ 3 h 51"/>
              <a:gd name="T68" fmla="*/ 3 w 23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8" h="51">
                <a:moveTo>
                  <a:pt x="238" y="24"/>
                </a:moveTo>
                <a:lnTo>
                  <a:pt x="238" y="21"/>
                </a:lnTo>
                <a:lnTo>
                  <a:pt x="238" y="18"/>
                </a:lnTo>
                <a:lnTo>
                  <a:pt x="238" y="14"/>
                </a:lnTo>
                <a:lnTo>
                  <a:pt x="237" y="11"/>
                </a:lnTo>
                <a:lnTo>
                  <a:pt x="237" y="8"/>
                </a:lnTo>
                <a:lnTo>
                  <a:pt x="237" y="4"/>
                </a:lnTo>
                <a:lnTo>
                  <a:pt x="235" y="3"/>
                </a:lnTo>
                <a:lnTo>
                  <a:pt x="235" y="0"/>
                </a:lnTo>
                <a:lnTo>
                  <a:pt x="232" y="0"/>
                </a:lnTo>
                <a:lnTo>
                  <a:pt x="232" y="3"/>
                </a:lnTo>
                <a:lnTo>
                  <a:pt x="233" y="4"/>
                </a:lnTo>
                <a:lnTo>
                  <a:pt x="233" y="8"/>
                </a:lnTo>
                <a:lnTo>
                  <a:pt x="233" y="11"/>
                </a:lnTo>
                <a:lnTo>
                  <a:pt x="235" y="14"/>
                </a:lnTo>
                <a:lnTo>
                  <a:pt x="235" y="18"/>
                </a:lnTo>
                <a:lnTo>
                  <a:pt x="235" y="21"/>
                </a:lnTo>
                <a:lnTo>
                  <a:pt x="235" y="24"/>
                </a:lnTo>
                <a:lnTo>
                  <a:pt x="235" y="28"/>
                </a:lnTo>
                <a:lnTo>
                  <a:pt x="235" y="31"/>
                </a:lnTo>
                <a:lnTo>
                  <a:pt x="235" y="34"/>
                </a:lnTo>
                <a:lnTo>
                  <a:pt x="233" y="38"/>
                </a:lnTo>
                <a:lnTo>
                  <a:pt x="233" y="41"/>
                </a:lnTo>
                <a:lnTo>
                  <a:pt x="233" y="44"/>
                </a:lnTo>
                <a:lnTo>
                  <a:pt x="233" y="48"/>
                </a:lnTo>
                <a:lnTo>
                  <a:pt x="232" y="51"/>
                </a:lnTo>
                <a:lnTo>
                  <a:pt x="235" y="51"/>
                </a:lnTo>
                <a:lnTo>
                  <a:pt x="237" y="48"/>
                </a:lnTo>
                <a:lnTo>
                  <a:pt x="237" y="44"/>
                </a:lnTo>
                <a:lnTo>
                  <a:pt x="237" y="41"/>
                </a:lnTo>
                <a:lnTo>
                  <a:pt x="237" y="38"/>
                </a:lnTo>
                <a:lnTo>
                  <a:pt x="238" y="34"/>
                </a:lnTo>
                <a:lnTo>
                  <a:pt x="238" y="31"/>
                </a:lnTo>
                <a:lnTo>
                  <a:pt x="238" y="28"/>
                </a:lnTo>
                <a:lnTo>
                  <a:pt x="238"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7" y="3"/>
                </a:lnTo>
                <a:lnTo>
                  <a:pt x="7" y="0"/>
                </a:lnTo>
                <a:lnTo>
                  <a:pt x="3"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81" name="Freeform 1986">
            <a:extLst>
              <a:ext uri="{FF2B5EF4-FFF2-40B4-BE49-F238E27FC236}">
                <a16:creationId xmlns:a16="http://schemas.microsoft.com/office/drawing/2014/main" id="{969D0CE0-0FCA-2E97-D205-B43DD340EDFA}"/>
              </a:ext>
            </a:extLst>
          </p:cNvPr>
          <p:cNvSpPr>
            <a:spLocks noEditPoints="1"/>
          </p:cNvSpPr>
          <p:nvPr/>
        </p:nvSpPr>
        <p:spPr bwMode="auto">
          <a:xfrm>
            <a:off x="2371725" y="2719388"/>
            <a:ext cx="373063" cy="80963"/>
          </a:xfrm>
          <a:custGeom>
            <a:avLst/>
            <a:gdLst>
              <a:gd name="T0" fmla="*/ 235 w 235"/>
              <a:gd name="T1" fmla="*/ 21 h 51"/>
              <a:gd name="T2" fmla="*/ 235 w 235"/>
              <a:gd name="T3" fmla="*/ 14 h 51"/>
              <a:gd name="T4" fmla="*/ 233 w 235"/>
              <a:gd name="T5" fmla="*/ 8 h 51"/>
              <a:gd name="T6" fmla="*/ 231 w 235"/>
              <a:gd name="T7" fmla="*/ 3 h 51"/>
              <a:gd name="T8" fmla="*/ 228 w 235"/>
              <a:gd name="T9" fmla="*/ 0 h 51"/>
              <a:gd name="T10" fmla="*/ 230 w 235"/>
              <a:gd name="T11" fmla="*/ 4 h 51"/>
              <a:gd name="T12" fmla="*/ 230 w 235"/>
              <a:gd name="T13" fmla="*/ 11 h 51"/>
              <a:gd name="T14" fmla="*/ 231 w 235"/>
              <a:gd name="T15" fmla="*/ 18 h 51"/>
              <a:gd name="T16" fmla="*/ 231 w 235"/>
              <a:gd name="T17" fmla="*/ 24 h 51"/>
              <a:gd name="T18" fmla="*/ 231 w 235"/>
              <a:gd name="T19" fmla="*/ 31 h 51"/>
              <a:gd name="T20" fmla="*/ 230 w 235"/>
              <a:gd name="T21" fmla="*/ 38 h 51"/>
              <a:gd name="T22" fmla="*/ 230 w 235"/>
              <a:gd name="T23" fmla="*/ 44 h 51"/>
              <a:gd name="T24" fmla="*/ 228 w 235"/>
              <a:gd name="T25" fmla="*/ 51 h 51"/>
              <a:gd name="T26" fmla="*/ 233 w 235"/>
              <a:gd name="T27" fmla="*/ 48 h 51"/>
              <a:gd name="T28" fmla="*/ 233 w 235"/>
              <a:gd name="T29" fmla="*/ 41 h 51"/>
              <a:gd name="T30" fmla="*/ 235 w 235"/>
              <a:gd name="T31" fmla="*/ 34 h 51"/>
              <a:gd name="T32" fmla="*/ 235 w 235"/>
              <a:gd name="T33" fmla="*/ 28 h 51"/>
              <a:gd name="T34" fmla="*/ 3 w 235"/>
              <a:gd name="T35" fmla="*/ 0 h 51"/>
              <a:gd name="T36" fmla="*/ 1 w 235"/>
              <a:gd name="T37" fmla="*/ 4 h 51"/>
              <a:gd name="T38" fmla="*/ 1 w 235"/>
              <a:gd name="T39" fmla="*/ 11 h 51"/>
              <a:gd name="T40" fmla="*/ 0 w 235"/>
              <a:gd name="T41" fmla="*/ 18 h 51"/>
              <a:gd name="T42" fmla="*/ 0 w 235"/>
              <a:gd name="T43" fmla="*/ 24 h 51"/>
              <a:gd name="T44" fmla="*/ 0 w 235"/>
              <a:gd name="T45" fmla="*/ 31 h 51"/>
              <a:gd name="T46" fmla="*/ 1 w 235"/>
              <a:gd name="T47" fmla="*/ 38 h 51"/>
              <a:gd name="T48" fmla="*/ 1 w 235"/>
              <a:gd name="T49" fmla="*/ 44 h 51"/>
              <a:gd name="T50" fmla="*/ 3 w 235"/>
              <a:gd name="T51" fmla="*/ 51 h 51"/>
              <a:gd name="T52" fmla="*/ 6 w 235"/>
              <a:gd name="T53" fmla="*/ 48 h 51"/>
              <a:gd name="T54" fmla="*/ 5 w 235"/>
              <a:gd name="T55" fmla="*/ 41 h 51"/>
              <a:gd name="T56" fmla="*/ 5 w 235"/>
              <a:gd name="T57" fmla="*/ 34 h 51"/>
              <a:gd name="T58" fmla="*/ 3 w 235"/>
              <a:gd name="T59" fmla="*/ 28 h 51"/>
              <a:gd name="T60" fmla="*/ 3 w 235"/>
              <a:gd name="T61" fmla="*/ 21 h 51"/>
              <a:gd name="T62" fmla="*/ 5 w 235"/>
              <a:gd name="T63" fmla="*/ 14 h 51"/>
              <a:gd name="T64" fmla="*/ 5 w 235"/>
              <a:gd name="T65" fmla="*/ 8 h 51"/>
              <a:gd name="T66" fmla="*/ 6 w 235"/>
              <a:gd name="T67" fmla="*/ 3 h 51"/>
              <a:gd name="T68" fmla="*/ 3 w 23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5" h="51">
                <a:moveTo>
                  <a:pt x="235" y="24"/>
                </a:moveTo>
                <a:lnTo>
                  <a:pt x="235" y="21"/>
                </a:lnTo>
                <a:lnTo>
                  <a:pt x="235" y="18"/>
                </a:lnTo>
                <a:lnTo>
                  <a:pt x="235" y="14"/>
                </a:lnTo>
                <a:lnTo>
                  <a:pt x="233" y="11"/>
                </a:lnTo>
                <a:lnTo>
                  <a:pt x="233" y="8"/>
                </a:lnTo>
                <a:lnTo>
                  <a:pt x="233" y="4"/>
                </a:lnTo>
                <a:lnTo>
                  <a:pt x="231" y="3"/>
                </a:lnTo>
                <a:lnTo>
                  <a:pt x="231" y="0"/>
                </a:lnTo>
                <a:lnTo>
                  <a:pt x="228" y="0"/>
                </a:lnTo>
                <a:lnTo>
                  <a:pt x="228" y="3"/>
                </a:lnTo>
                <a:lnTo>
                  <a:pt x="230" y="4"/>
                </a:lnTo>
                <a:lnTo>
                  <a:pt x="230" y="8"/>
                </a:lnTo>
                <a:lnTo>
                  <a:pt x="230" y="11"/>
                </a:lnTo>
                <a:lnTo>
                  <a:pt x="231" y="14"/>
                </a:lnTo>
                <a:lnTo>
                  <a:pt x="231" y="18"/>
                </a:lnTo>
                <a:lnTo>
                  <a:pt x="231" y="21"/>
                </a:lnTo>
                <a:lnTo>
                  <a:pt x="231" y="24"/>
                </a:lnTo>
                <a:lnTo>
                  <a:pt x="231" y="28"/>
                </a:lnTo>
                <a:lnTo>
                  <a:pt x="231" y="31"/>
                </a:lnTo>
                <a:lnTo>
                  <a:pt x="231" y="34"/>
                </a:lnTo>
                <a:lnTo>
                  <a:pt x="230" y="38"/>
                </a:lnTo>
                <a:lnTo>
                  <a:pt x="230" y="41"/>
                </a:lnTo>
                <a:lnTo>
                  <a:pt x="230" y="44"/>
                </a:lnTo>
                <a:lnTo>
                  <a:pt x="230" y="48"/>
                </a:lnTo>
                <a:lnTo>
                  <a:pt x="228" y="51"/>
                </a:lnTo>
                <a:lnTo>
                  <a:pt x="231" y="51"/>
                </a:lnTo>
                <a:lnTo>
                  <a:pt x="233" y="48"/>
                </a:lnTo>
                <a:lnTo>
                  <a:pt x="233" y="44"/>
                </a:lnTo>
                <a:lnTo>
                  <a:pt x="233" y="41"/>
                </a:lnTo>
                <a:lnTo>
                  <a:pt x="233" y="38"/>
                </a:lnTo>
                <a:lnTo>
                  <a:pt x="235" y="34"/>
                </a:lnTo>
                <a:lnTo>
                  <a:pt x="235" y="31"/>
                </a:lnTo>
                <a:lnTo>
                  <a:pt x="235" y="28"/>
                </a:lnTo>
                <a:lnTo>
                  <a:pt x="235" y="24"/>
                </a:lnTo>
                <a:close/>
                <a:moveTo>
                  <a:pt x="3" y="0"/>
                </a:moveTo>
                <a:lnTo>
                  <a:pt x="3" y="3"/>
                </a:lnTo>
                <a:lnTo>
                  <a:pt x="1"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82" name="Freeform 1987">
            <a:extLst>
              <a:ext uri="{FF2B5EF4-FFF2-40B4-BE49-F238E27FC236}">
                <a16:creationId xmlns:a16="http://schemas.microsoft.com/office/drawing/2014/main" id="{D45552BE-C5F4-2DD3-1D6F-A9B340405F7E}"/>
              </a:ext>
            </a:extLst>
          </p:cNvPr>
          <p:cNvSpPr>
            <a:spLocks noEditPoints="1"/>
          </p:cNvSpPr>
          <p:nvPr/>
        </p:nvSpPr>
        <p:spPr bwMode="auto">
          <a:xfrm>
            <a:off x="2373313" y="2719388"/>
            <a:ext cx="368300" cy="80963"/>
          </a:xfrm>
          <a:custGeom>
            <a:avLst/>
            <a:gdLst>
              <a:gd name="T0" fmla="*/ 232 w 232"/>
              <a:gd name="T1" fmla="*/ 21 h 51"/>
              <a:gd name="T2" fmla="*/ 232 w 232"/>
              <a:gd name="T3" fmla="*/ 14 h 51"/>
              <a:gd name="T4" fmla="*/ 230 w 232"/>
              <a:gd name="T5" fmla="*/ 8 h 51"/>
              <a:gd name="T6" fmla="*/ 229 w 232"/>
              <a:gd name="T7" fmla="*/ 3 h 51"/>
              <a:gd name="T8" fmla="*/ 225 w 232"/>
              <a:gd name="T9" fmla="*/ 0 h 51"/>
              <a:gd name="T10" fmla="*/ 227 w 232"/>
              <a:gd name="T11" fmla="*/ 4 h 51"/>
              <a:gd name="T12" fmla="*/ 227 w 232"/>
              <a:gd name="T13" fmla="*/ 11 h 51"/>
              <a:gd name="T14" fmla="*/ 229 w 232"/>
              <a:gd name="T15" fmla="*/ 18 h 51"/>
              <a:gd name="T16" fmla="*/ 229 w 232"/>
              <a:gd name="T17" fmla="*/ 24 h 51"/>
              <a:gd name="T18" fmla="*/ 229 w 232"/>
              <a:gd name="T19" fmla="*/ 31 h 51"/>
              <a:gd name="T20" fmla="*/ 227 w 232"/>
              <a:gd name="T21" fmla="*/ 38 h 51"/>
              <a:gd name="T22" fmla="*/ 227 w 232"/>
              <a:gd name="T23" fmla="*/ 44 h 51"/>
              <a:gd name="T24" fmla="*/ 225 w 232"/>
              <a:gd name="T25" fmla="*/ 51 h 51"/>
              <a:gd name="T26" fmla="*/ 230 w 232"/>
              <a:gd name="T27" fmla="*/ 48 h 51"/>
              <a:gd name="T28" fmla="*/ 230 w 232"/>
              <a:gd name="T29" fmla="*/ 41 h 51"/>
              <a:gd name="T30" fmla="*/ 232 w 232"/>
              <a:gd name="T31" fmla="*/ 34 h 51"/>
              <a:gd name="T32" fmla="*/ 232 w 232"/>
              <a:gd name="T33" fmla="*/ 28 h 51"/>
              <a:gd name="T34" fmla="*/ 4 w 232"/>
              <a:gd name="T35" fmla="*/ 0 h 51"/>
              <a:gd name="T36" fmla="*/ 2 w 232"/>
              <a:gd name="T37" fmla="*/ 4 h 51"/>
              <a:gd name="T38" fmla="*/ 2 w 232"/>
              <a:gd name="T39" fmla="*/ 11 h 51"/>
              <a:gd name="T40" fmla="*/ 0 w 232"/>
              <a:gd name="T41" fmla="*/ 18 h 51"/>
              <a:gd name="T42" fmla="*/ 0 w 232"/>
              <a:gd name="T43" fmla="*/ 24 h 51"/>
              <a:gd name="T44" fmla="*/ 0 w 232"/>
              <a:gd name="T45" fmla="*/ 31 h 51"/>
              <a:gd name="T46" fmla="*/ 2 w 232"/>
              <a:gd name="T47" fmla="*/ 38 h 51"/>
              <a:gd name="T48" fmla="*/ 2 w 232"/>
              <a:gd name="T49" fmla="*/ 44 h 51"/>
              <a:gd name="T50" fmla="*/ 4 w 232"/>
              <a:gd name="T51" fmla="*/ 51 h 51"/>
              <a:gd name="T52" fmla="*/ 7 w 232"/>
              <a:gd name="T53" fmla="*/ 48 h 51"/>
              <a:gd name="T54" fmla="*/ 5 w 232"/>
              <a:gd name="T55" fmla="*/ 41 h 51"/>
              <a:gd name="T56" fmla="*/ 5 w 232"/>
              <a:gd name="T57" fmla="*/ 34 h 51"/>
              <a:gd name="T58" fmla="*/ 4 w 232"/>
              <a:gd name="T59" fmla="*/ 28 h 51"/>
              <a:gd name="T60" fmla="*/ 4 w 232"/>
              <a:gd name="T61" fmla="*/ 21 h 51"/>
              <a:gd name="T62" fmla="*/ 5 w 232"/>
              <a:gd name="T63" fmla="*/ 14 h 51"/>
              <a:gd name="T64" fmla="*/ 5 w 232"/>
              <a:gd name="T65" fmla="*/ 8 h 51"/>
              <a:gd name="T66" fmla="*/ 7 w 232"/>
              <a:gd name="T67" fmla="*/ 3 h 51"/>
              <a:gd name="T68" fmla="*/ 4 w 2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2" h="51">
                <a:moveTo>
                  <a:pt x="232" y="24"/>
                </a:moveTo>
                <a:lnTo>
                  <a:pt x="232" y="21"/>
                </a:lnTo>
                <a:lnTo>
                  <a:pt x="232" y="18"/>
                </a:lnTo>
                <a:lnTo>
                  <a:pt x="232" y="14"/>
                </a:lnTo>
                <a:lnTo>
                  <a:pt x="230" y="11"/>
                </a:lnTo>
                <a:lnTo>
                  <a:pt x="230" y="8"/>
                </a:lnTo>
                <a:lnTo>
                  <a:pt x="230" y="4"/>
                </a:lnTo>
                <a:lnTo>
                  <a:pt x="229" y="3"/>
                </a:lnTo>
                <a:lnTo>
                  <a:pt x="229" y="0"/>
                </a:lnTo>
                <a:lnTo>
                  <a:pt x="225" y="0"/>
                </a:lnTo>
                <a:lnTo>
                  <a:pt x="225" y="3"/>
                </a:lnTo>
                <a:lnTo>
                  <a:pt x="227" y="4"/>
                </a:lnTo>
                <a:lnTo>
                  <a:pt x="227" y="8"/>
                </a:lnTo>
                <a:lnTo>
                  <a:pt x="227" y="11"/>
                </a:lnTo>
                <a:lnTo>
                  <a:pt x="229" y="14"/>
                </a:lnTo>
                <a:lnTo>
                  <a:pt x="229" y="18"/>
                </a:lnTo>
                <a:lnTo>
                  <a:pt x="229" y="21"/>
                </a:lnTo>
                <a:lnTo>
                  <a:pt x="229" y="24"/>
                </a:lnTo>
                <a:lnTo>
                  <a:pt x="229" y="28"/>
                </a:lnTo>
                <a:lnTo>
                  <a:pt x="229" y="31"/>
                </a:lnTo>
                <a:lnTo>
                  <a:pt x="229" y="34"/>
                </a:lnTo>
                <a:lnTo>
                  <a:pt x="227" y="38"/>
                </a:lnTo>
                <a:lnTo>
                  <a:pt x="227" y="41"/>
                </a:lnTo>
                <a:lnTo>
                  <a:pt x="227" y="44"/>
                </a:lnTo>
                <a:lnTo>
                  <a:pt x="225" y="48"/>
                </a:lnTo>
                <a:lnTo>
                  <a:pt x="225" y="51"/>
                </a:lnTo>
                <a:lnTo>
                  <a:pt x="229" y="51"/>
                </a:lnTo>
                <a:lnTo>
                  <a:pt x="230" y="48"/>
                </a:lnTo>
                <a:lnTo>
                  <a:pt x="230" y="44"/>
                </a:lnTo>
                <a:lnTo>
                  <a:pt x="230" y="41"/>
                </a:lnTo>
                <a:lnTo>
                  <a:pt x="230" y="38"/>
                </a:lnTo>
                <a:lnTo>
                  <a:pt x="232" y="34"/>
                </a:lnTo>
                <a:lnTo>
                  <a:pt x="232" y="31"/>
                </a:lnTo>
                <a:lnTo>
                  <a:pt x="232" y="28"/>
                </a:lnTo>
                <a:lnTo>
                  <a:pt x="232" y="24"/>
                </a:lnTo>
                <a:close/>
                <a:moveTo>
                  <a:pt x="4" y="0"/>
                </a:moveTo>
                <a:lnTo>
                  <a:pt x="4"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5" y="4"/>
                </a:lnTo>
                <a:lnTo>
                  <a:pt x="7" y="3"/>
                </a:lnTo>
                <a:lnTo>
                  <a:pt x="7" y="0"/>
                </a:lnTo>
                <a:lnTo>
                  <a:pt x="4"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83" name="Freeform 1988">
            <a:extLst>
              <a:ext uri="{FF2B5EF4-FFF2-40B4-BE49-F238E27FC236}">
                <a16:creationId xmlns:a16="http://schemas.microsoft.com/office/drawing/2014/main" id="{66230825-ACAD-7813-5356-388818A801AC}"/>
              </a:ext>
            </a:extLst>
          </p:cNvPr>
          <p:cNvSpPr>
            <a:spLocks noEditPoints="1"/>
          </p:cNvSpPr>
          <p:nvPr/>
        </p:nvSpPr>
        <p:spPr bwMode="auto">
          <a:xfrm>
            <a:off x="2376488" y="2719388"/>
            <a:ext cx="361950" cy="80963"/>
          </a:xfrm>
          <a:custGeom>
            <a:avLst/>
            <a:gdLst>
              <a:gd name="T0" fmla="*/ 228 w 228"/>
              <a:gd name="T1" fmla="*/ 21 h 51"/>
              <a:gd name="T2" fmla="*/ 228 w 228"/>
              <a:gd name="T3" fmla="*/ 14 h 51"/>
              <a:gd name="T4" fmla="*/ 227 w 228"/>
              <a:gd name="T5" fmla="*/ 8 h 51"/>
              <a:gd name="T6" fmla="*/ 225 w 228"/>
              <a:gd name="T7" fmla="*/ 3 h 51"/>
              <a:gd name="T8" fmla="*/ 222 w 228"/>
              <a:gd name="T9" fmla="*/ 0 h 51"/>
              <a:gd name="T10" fmla="*/ 223 w 228"/>
              <a:gd name="T11" fmla="*/ 4 h 51"/>
              <a:gd name="T12" fmla="*/ 223 w 228"/>
              <a:gd name="T13" fmla="*/ 11 h 51"/>
              <a:gd name="T14" fmla="*/ 225 w 228"/>
              <a:gd name="T15" fmla="*/ 18 h 51"/>
              <a:gd name="T16" fmla="*/ 225 w 228"/>
              <a:gd name="T17" fmla="*/ 24 h 51"/>
              <a:gd name="T18" fmla="*/ 225 w 228"/>
              <a:gd name="T19" fmla="*/ 31 h 51"/>
              <a:gd name="T20" fmla="*/ 223 w 228"/>
              <a:gd name="T21" fmla="*/ 38 h 51"/>
              <a:gd name="T22" fmla="*/ 223 w 228"/>
              <a:gd name="T23" fmla="*/ 44 h 51"/>
              <a:gd name="T24" fmla="*/ 222 w 228"/>
              <a:gd name="T25" fmla="*/ 51 h 51"/>
              <a:gd name="T26" fmla="*/ 227 w 228"/>
              <a:gd name="T27" fmla="*/ 48 h 51"/>
              <a:gd name="T28" fmla="*/ 227 w 228"/>
              <a:gd name="T29" fmla="*/ 41 h 51"/>
              <a:gd name="T30" fmla="*/ 228 w 228"/>
              <a:gd name="T31" fmla="*/ 34 h 51"/>
              <a:gd name="T32" fmla="*/ 228 w 228"/>
              <a:gd name="T33" fmla="*/ 28 h 51"/>
              <a:gd name="T34" fmla="*/ 3 w 228"/>
              <a:gd name="T35" fmla="*/ 0 h 51"/>
              <a:gd name="T36" fmla="*/ 2 w 228"/>
              <a:gd name="T37" fmla="*/ 4 h 51"/>
              <a:gd name="T38" fmla="*/ 2 w 228"/>
              <a:gd name="T39" fmla="*/ 11 h 51"/>
              <a:gd name="T40" fmla="*/ 0 w 228"/>
              <a:gd name="T41" fmla="*/ 18 h 51"/>
              <a:gd name="T42" fmla="*/ 0 w 228"/>
              <a:gd name="T43" fmla="*/ 24 h 51"/>
              <a:gd name="T44" fmla="*/ 0 w 228"/>
              <a:gd name="T45" fmla="*/ 31 h 51"/>
              <a:gd name="T46" fmla="*/ 2 w 228"/>
              <a:gd name="T47" fmla="*/ 38 h 51"/>
              <a:gd name="T48" fmla="*/ 2 w 228"/>
              <a:gd name="T49" fmla="*/ 44 h 51"/>
              <a:gd name="T50" fmla="*/ 3 w 228"/>
              <a:gd name="T51" fmla="*/ 51 h 51"/>
              <a:gd name="T52" fmla="*/ 7 w 228"/>
              <a:gd name="T53" fmla="*/ 48 h 51"/>
              <a:gd name="T54" fmla="*/ 5 w 228"/>
              <a:gd name="T55" fmla="*/ 41 h 51"/>
              <a:gd name="T56" fmla="*/ 5 w 228"/>
              <a:gd name="T57" fmla="*/ 34 h 51"/>
              <a:gd name="T58" fmla="*/ 3 w 228"/>
              <a:gd name="T59" fmla="*/ 28 h 51"/>
              <a:gd name="T60" fmla="*/ 3 w 228"/>
              <a:gd name="T61" fmla="*/ 21 h 51"/>
              <a:gd name="T62" fmla="*/ 5 w 228"/>
              <a:gd name="T63" fmla="*/ 14 h 51"/>
              <a:gd name="T64" fmla="*/ 5 w 228"/>
              <a:gd name="T65" fmla="*/ 8 h 51"/>
              <a:gd name="T66" fmla="*/ 7 w 228"/>
              <a:gd name="T67" fmla="*/ 3 h 51"/>
              <a:gd name="T68" fmla="*/ 3 w 22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8" h="51">
                <a:moveTo>
                  <a:pt x="228" y="24"/>
                </a:moveTo>
                <a:lnTo>
                  <a:pt x="228" y="21"/>
                </a:lnTo>
                <a:lnTo>
                  <a:pt x="228" y="18"/>
                </a:lnTo>
                <a:lnTo>
                  <a:pt x="228" y="14"/>
                </a:lnTo>
                <a:lnTo>
                  <a:pt x="227" y="11"/>
                </a:lnTo>
                <a:lnTo>
                  <a:pt x="227" y="8"/>
                </a:lnTo>
                <a:lnTo>
                  <a:pt x="227" y="4"/>
                </a:lnTo>
                <a:lnTo>
                  <a:pt x="225" y="3"/>
                </a:lnTo>
                <a:lnTo>
                  <a:pt x="225" y="0"/>
                </a:lnTo>
                <a:lnTo>
                  <a:pt x="222" y="0"/>
                </a:lnTo>
                <a:lnTo>
                  <a:pt x="222" y="3"/>
                </a:lnTo>
                <a:lnTo>
                  <a:pt x="223" y="4"/>
                </a:lnTo>
                <a:lnTo>
                  <a:pt x="223" y="8"/>
                </a:lnTo>
                <a:lnTo>
                  <a:pt x="223" y="11"/>
                </a:lnTo>
                <a:lnTo>
                  <a:pt x="225" y="14"/>
                </a:lnTo>
                <a:lnTo>
                  <a:pt x="225" y="18"/>
                </a:lnTo>
                <a:lnTo>
                  <a:pt x="225" y="21"/>
                </a:lnTo>
                <a:lnTo>
                  <a:pt x="225" y="24"/>
                </a:lnTo>
                <a:lnTo>
                  <a:pt x="225" y="28"/>
                </a:lnTo>
                <a:lnTo>
                  <a:pt x="225" y="31"/>
                </a:lnTo>
                <a:lnTo>
                  <a:pt x="225" y="34"/>
                </a:lnTo>
                <a:lnTo>
                  <a:pt x="223" y="38"/>
                </a:lnTo>
                <a:lnTo>
                  <a:pt x="223" y="41"/>
                </a:lnTo>
                <a:lnTo>
                  <a:pt x="223" y="44"/>
                </a:lnTo>
                <a:lnTo>
                  <a:pt x="222" y="48"/>
                </a:lnTo>
                <a:lnTo>
                  <a:pt x="222" y="51"/>
                </a:lnTo>
                <a:lnTo>
                  <a:pt x="225" y="51"/>
                </a:lnTo>
                <a:lnTo>
                  <a:pt x="227" y="48"/>
                </a:lnTo>
                <a:lnTo>
                  <a:pt x="227" y="44"/>
                </a:lnTo>
                <a:lnTo>
                  <a:pt x="227" y="41"/>
                </a:lnTo>
                <a:lnTo>
                  <a:pt x="227" y="38"/>
                </a:lnTo>
                <a:lnTo>
                  <a:pt x="228" y="34"/>
                </a:lnTo>
                <a:lnTo>
                  <a:pt x="228" y="31"/>
                </a:lnTo>
                <a:lnTo>
                  <a:pt x="228" y="28"/>
                </a:lnTo>
                <a:lnTo>
                  <a:pt x="228"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7" y="3"/>
                </a:lnTo>
                <a:lnTo>
                  <a:pt x="7" y="0"/>
                </a:lnTo>
                <a:lnTo>
                  <a:pt x="3"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84" name="Freeform 1989">
            <a:extLst>
              <a:ext uri="{FF2B5EF4-FFF2-40B4-BE49-F238E27FC236}">
                <a16:creationId xmlns:a16="http://schemas.microsoft.com/office/drawing/2014/main" id="{6885189D-6E2A-1156-0A7C-06791FAE5F6B}"/>
              </a:ext>
            </a:extLst>
          </p:cNvPr>
          <p:cNvSpPr>
            <a:spLocks noEditPoints="1"/>
          </p:cNvSpPr>
          <p:nvPr/>
        </p:nvSpPr>
        <p:spPr bwMode="auto">
          <a:xfrm>
            <a:off x="2379663" y="2719388"/>
            <a:ext cx="357188" cy="80963"/>
          </a:xfrm>
          <a:custGeom>
            <a:avLst/>
            <a:gdLst>
              <a:gd name="T0" fmla="*/ 225 w 225"/>
              <a:gd name="T1" fmla="*/ 21 h 51"/>
              <a:gd name="T2" fmla="*/ 225 w 225"/>
              <a:gd name="T3" fmla="*/ 14 h 51"/>
              <a:gd name="T4" fmla="*/ 223 w 225"/>
              <a:gd name="T5" fmla="*/ 8 h 51"/>
              <a:gd name="T6" fmla="*/ 221 w 225"/>
              <a:gd name="T7" fmla="*/ 3 h 51"/>
              <a:gd name="T8" fmla="*/ 218 w 225"/>
              <a:gd name="T9" fmla="*/ 0 h 51"/>
              <a:gd name="T10" fmla="*/ 220 w 225"/>
              <a:gd name="T11" fmla="*/ 4 h 51"/>
              <a:gd name="T12" fmla="*/ 220 w 225"/>
              <a:gd name="T13" fmla="*/ 11 h 51"/>
              <a:gd name="T14" fmla="*/ 221 w 225"/>
              <a:gd name="T15" fmla="*/ 18 h 51"/>
              <a:gd name="T16" fmla="*/ 221 w 225"/>
              <a:gd name="T17" fmla="*/ 24 h 51"/>
              <a:gd name="T18" fmla="*/ 221 w 225"/>
              <a:gd name="T19" fmla="*/ 31 h 51"/>
              <a:gd name="T20" fmla="*/ 220 w 225"/>
              <a:gd name="T21" fmla="*/ 38 h 51"/>
              <a:gd name="T22" fmla="*/ 220 w 225"/>
              <a:gd name="T23" fmla="*/ 44 h 51"/>
              <a:gd name="T24" fmla="*/ 218 w 225"/>
              <a:gd name="T25" fmla="*/ 51 h 51"/>
              <a:gd name="T26" fmla="*/ 221 w 225"/>
              <a:gd name="T27" fmla="*/ 48 h 51"/>
              <a:gd name="T28" fmla="*/ 223 w 225"/>
              <a:gd name="T29" fmla="*/ 41 h 51"/>
              <a:gd name="T30" fmla="*/ 225 w 225"/>
              <a:gd name="T31" fmla="*/ 34 h 51"/>
              <a:gd name="T32" fmla="*/ 225 w 225"/>
              <a:gd name="T33" fmla="*/ 28 h 51"/>
              <a:gd name="T34" fmla="*/ 3 w 225"/>
              <a:gd name="T35" fmla="*/ 0 h 51"/>
              <a:gd name="T36" fmla="*/ 1 w 225"/>
              <a:gd name="T37" fmla="*/ 4 h 51"/>
              <a:gd name="T38" fmla="*/ 1 w 225"/>
              <a:gd name="T39" fmla="*/ 11 h 51"/>
              <a:gd name="T40" fmla="*/ 0 w 225"/>
              <a:gd name="T41" fmla="*/ 18 h 51"/>
              <a:gd name="T42" fmla="*/ 0 w 225"/>
              <a:gd name="T43" fmla="*/ 24 h 51"/>
              <a:gd name="T44" fmla="*/ 0 w 225"/>
              <a:gd name="T45" fmla="*/ 31 h 51"/>
              <a:gd name="T46" fmla="*/ 1 w 225"/>
              <a:gd name="T47" fmla="*/ 38 h 51"/>
              <a:gd name="T48" fmla="*/ 1 w 225"/>
              <a:gd name="T49" fmla="*/ 44 h 51"/>
              <a:gd name="T50" fmla="*/ 3 w 225"/>
              <a:gd name="T51" fmla="*/ 51 h 51"/>
              <a:gd name="T52" fmla="*/ 6 w 225"/>
              <a:gd name="T53" fmla="*/ 48 h 51"/>
              <a:gd name="T54" fmla="*/ 5 w 225"/>
              <a:gd name="T55" fmla="*/ 41 h 51"/>
              <a:gd name="T56" fmla="*/ 5 w 225"/>
              <a:gd name="T57" fmla="*/ 34 h 51"/>
              <a:gd name="T58" fmla="*/ 3 w 225"/>
              <a:gd name="T59" fmla="*/ 28 h 51"/>
              <a:gd name="T60" fmla="*/ 3 w 225"/>
              <a:gd name="T61" fmla="*/ 21 h 51"/>
              <a:gd name="T62" fmla="*/ 5 w 225"/>
              <a:gd name="T63" fmla="*/ 14 h 51"/>
              <a:gd name="T64" fmla="*/ 5 w 225"/>
              <a:gd name="T65" fmla="*/ 8 h 51"/>
              <a:gd name="T66" fmla="*/ 6 w 225"/>
              <a:gd name="T67" fmla="*/ 3 h 51"/>
              <a:gd name="T68" fmla="*/ 3 w 22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5" h="51">
                <a:moveTo>
                  <a:pt x="225" y="24"/>
                </a:moveTo>
                <a:lnTo>
                  <a:pt x="225" y="21"/>
                </a:lnTo>
                <a:lnTo>
                  <a:pt x="225" y="18"/>
                </a:lnTo>
                <a:lnTo>
                  <a:pt x="225" y="14"/>
                </a:lnTo>
                <a:lnTo>
                  <a:pt x="223" y="11"/>
                </a:lnTo>
                <a:lnTo>
                  <a:pt x="223" y="8"/>
                </a:lnTo>
                <a:lnTo>
                  <a:pt x="223" y="4"/>
                </a:lnTo>
                <a:lnTo>
                  <a:pt x="221" y="3"/>
                </a:lnTo>
                <a:lnTo>
                  <a:pt x="221" y="0"/>
                </a:lnTo>
                <a:lnTo>
                  <a:pt x="218" y="0"/>
                </a:lnTo>
                <a:lnTo>
                  <a:pt x="218" y="3"/>
                </a:lnTo>
                <a:lnTo>
                  <a:pt x="220" y="4"/>
                </a:lnTo>
                <a:lnTo>
                  <a:pt x="220" y="8"/>
                </a:lnTo>
                <a:lnTo>
                  <a:pt x="220" y="11"/>
                </a:lnTo>
                <a:lnTo>
                  <a:pt x="221" y="14"/>
                </a:lnTo>
                <a:lnTo>
                  <a:pt x="221" y="18"/>
                </a:lnTo>
                <a:lnTo>
                  <a:pt x="221" y="21"/>
                </a:lnTo>
                <a:lnTo>
                  <a:pt x="221" y="24"/>
                </a:lnTo>
                <a:lnTo>
                  <a:pt x="221" y="28"/>
                </a:lnTo>
                <a:lnTo>
                  <a:pt x="221" y="31"/>
                </a:lnTo>
                <a:lnTo>
                  <a:pt x="221" y="34"/>
                </a:lnTo>
                <a:lnTo>
                  <a:pt x="220" y="38"/>
                </a:lnTo>
                <a:lnTo>
                  <a:pt x="220" y="41"/>
                </a:lnTo>
                <a:lnTo>
                  <a:pt x="220" y="44"/>
                </a:lnTo>
                <a:lnTo>
                  <a:pt x="218" y="48"/>
                </a:lnTo>
                <a:lnTo>
                  <a:pt x="218" y="51"/>
                </a:lnTo>
                <a:lnTo>
                  <a:pt x="221" y="51"/>
                </a:lnTo>
                <a:lnTo>
                  <a:pt x="221" y="48"/>
                </a:lnTo>
                <a:lnTo>
                  <a:pt x="223" y="44"/>
                </a:lnTo>
                <a:lnTo>
                  <a:pt x="223" y="41"/>
                </a:lnTo>
                <a:lnTo>
                  <a:pt x="223" y="38"/>
                </a:lnTo>
                <a:lnTo>
                  <a:pt x="225" y="34"/>
                </a:lnTo>
                <a:lnTo>
                  <a:pt x="225" y="31"/>
                </a:lnTo>
                <a:lnTo>
                  <a:pt x="225" y="28"/>
                </a:lnTo>
                <a:lnTo>
                  <a:pt x="225" y="24"/>
                </a:lnTo>
                <a:close/>
                <a:moveTo>
                  <a:pt x="3" y="0"/>
                </a:moveTo>
                <a:lnTo>
                  <a:pt x="3" y="3"/>
                </a:lnTo>
                <a:lnTo>
                  <a:pt x="1"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85" name="Freeform 1990">
            <a:extLst>
              <a:ext uri="{FF2B5EF4-FFF2-40B4-BE49-F238E27FC236}">
                <a16:creationId xmlns:a16="http://schemas.microsoft.com/office/drawing/2014/main" id="{1D3B0C44-7FA2-78D3-E54A-16ECD4A4692D}"/>
              </a:ext>
            </a:extLst>
          </p:cNvPr>
          <p:cNvSpPr>
            <a:spLocks noEditPoints="1"/>
          </p:cNvSpPr>
          <p:nvPr/>
        </p:nvSpPr>
        <p:spPr bwMode="auto">
          <a:xfrm>
            <a:off x="2381250" y="2719388"/>
            <a:ext cx="352425" cy="80963"/>
          </a:xfrm>
          <a:custGeom>
            <a:avLst/>
            <a:gdLst>
              <a:gd name="T0" fmla="*/ 222 w 222"/>
              <a:gd name="T1" fmla="*/ 21 h 51"/>
              <a:gd name="T2" fmla="*/ 222 w 222"/>
              <a:gd name="T3" fmla="*/ 14 h 51"/>
              <a:gd name="T4" fmla="*/ 220 w 222"/>
              <a:gd name="T5" fmla="*/ 8 h 51"/>
              <a:gd name="T6" fmla="*/ 219 w 222"/>
              <a:gd name="T7" fmla="*/ 3 h 51"/>
              <a:gd name="T8" fmla="*/ 216 w 222"/>
              <a:gd name="T9" fmla="*/ 0 h 51"/>
              <a:gd name="T10" fmla="*/ 217 w 222"/>
              <a:gd name="T11" fmla="*/ 4 h 51"/>
              <a:gd name="T12" fmla="*/ 217 w 222"/>
              <a:gd name="T13" fmla="*/ 11 h 51"/>
              <a:gd name="T14" fmla="*/ 219 w 222"/>
              <a:gd name="T15" fmla="*/ 18 h 51"/>
              <a:gd name="T16" fmla="*/ 219 w 222"/>
              <a:gd name="T17" fmla="*/ 24 h 51"/>
              <a:gd name="T18" fmla="*/ 219 w 222"/>
              <a:gd name="T19" fmla="*/ 31 h 51"/>
              <a:gd name="T20" fmla="*/ 217 w 222"/>
              <a:gd name="T21" fmla="*/ 38 h 51"/>
              <a:gd name="T22" fmla="*/ 217 w 222"/>
              <a:gd name="T23" fmla="*/ 44 h 51"/>
              <a:gd name="T24" fmla="*/ 216 w 222"/>
              <a:gd name="T25" fmla="*/ 51 h 51"/>
              <a:gd name="T26" fmla="*/ 219 w 222"/>
              <a:gd name="T27" fmla="*/ 48 h 51"/>
              <a:gd name="T28" fmla="*/ 220 w 222"/>
              <a:gd name="T29" fmla="*/ 41 h 51"/>
              <a:gd name="T30" fmla="*/ 222 w 222"/>
              <a:gd name="T31" fmla="*/ 34 h 51"/>
              <a:gd name="T32" fmla="*/ 222 w 222"/>
              <a:gd name="T33" fmla="*/ 28 h 51"/>
              <a:gd name="T34" fmla="*/ 4 w 222"/>
              <a:gd name="T35" fmla="*/ 0 h 51"/>
              <a:gd name="T36" fmla="*/ 2 w 222"/>
              <a:gd name="T37" fmla="*/ 4 h 51"/>
              <a:gd name="T38" fmla="*/ 2 w 222"/>
              <a:gd name="T39" fmla="*/ 11 h 51"/>
              <a:gd name="T40" fmla="*/ 0 w 222"/>
              <a:gd name="T41" fmla="*/ 18 h 51"/>
              <a:gd name="T42" fmla="*/ 0 w 222"/>
              <a:gd name="T43" fmla="*/ 24 h 51"/>
              <a:gd name="T44" fmla="*/ 0 w 222"/>
              <a:gd name="T45" fmla="*/ 31 h 51"/>
              <a:gd name="T46" fmla="*/ 2 w 222"/>
              <a:gd name="T47" fmla="*/ 38 h 51"/>
              <a:gd name="T48" fmla="*/ 2 w 222"/>
              <a:gd name="T49" fmla="*/ 44 h 51"/>
              <a:gd name="T50" fmla="*/ 4 w 222"/>
              <a:gd name="T51" fmla="*/ 51 h 51"/>
              <a:gd name="T52" fmla="*/ 7 w 222"/>
              <a:gd name="T53" fmla="*/ 48 h 51"/>
              <a:gd name="T54" fmla="*/ 5 w 222"/>
              <a:gd name="T55" fmla="*/ 41 h 51"/>
              <a:gd name="T56" fmla="*/ 5 w 222"/>
              <a:gd name="T57" fmla="*/ 34 h 51"/>
              <a:gd name="T58" fmla="*/ 4 w 222"/>
              <a:gd name="T59" fmla="*/ 28 h 51"/>
              <a:gd name="T60" fmla="*/ 4 w 222"/>
              <a:gd name="T61" fmla="*/ 21 h 51"/>
              <a:gd name="T62" fmla="*/ 5 w 222"/>
              <a:gd name="T63" fmla="*/ 14 h 51"/>
              <a:gd name="T64" fmla="*/ 5 w 222"/>
              <a:gd name="T65" fmla="*/ 8 h 51"/>
              <a:gd name="T66" fmla="*/ 7 w 222"/>
              <a:gd name="T67" fmla="*/ 3 h 51"/>
              <a:gd name="T68" fmla="*/ 4 w 22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22" h="51">
                <a:moveTo>
                  <a:pt x="222" y="24"/>
                </a:moveTo>
                <a:lnTo>
                  <a:pt x="222" y="21"/>
                </a:lnTo>
                <a:lnTo>
                  <a:pt x="222" y="18"/>
                </a:lnTo>
                <a:lnTo>
                  <a:pt x="222" y="14"/>
                </a:lnTo>
                <a:lnTo>
                  <a:pt x="220" y="11"/>
                </a:lnTo>
                <a:lnTo>
                  <a:pt x="220" y="8"/>
                </a:lnTo>
                <a:lnTo>
                  <a:pt x="220" y="4"/>
                </a:lnTo>
                <a:lnTo>
                  <a:pt x="219" y="3"/>
                </a:lnTo>
                <a:lnTo>
                  <a:pt x="219" y="0"/>
                </a:lnTo>
                <a:lnTo>
                  <a:pt x="216" y="0"/>
                </a:lnTo>
                <a:lnTo>
                  <a:pt x="216" y="3"/>
                </a:lnTo>
                <a:lnTo>
                  <a:pt x="217" y="4"/>
                </a:lnTo>
                <a:lnTo>
                  <a:pt x="217" y="8"/>
                </a:lnTo>
                <a:lnTo>
                  <a:pt x="217" y="11"/>
                </a:lnTo>
                <a:lnTo>
                  <a:pt x="219" y="14"/>
                </a:lnTo>
                <a:lnTo>
                  <a:pt x="219" y="18"/>
                </a:lnTo>
                <a:lnTo>
                  <a:pt x="219" y="21"/>
                </a:lnTo>
                <a:lnTo>
                  <a:pt x="219" y="24"/>
                </a:lnTo>
                <a:lnTo>
                  <a:pt x="219" y="28"/>
                </a:lnTo>
                <a:lnTo>
                  <a:pt x="219" y="31"/>
                </a:lnTo>
                <a:lnTo>
                  <a:pt x="219" y="34"/>
                </a:lnTo>
                <a:lnTo>
                  <a:pt x="217" y="38"/>
                </a:lnTo>
                <a:lnTo>
                  <a:pt x="217" y="41"/>
                </a:lnTo>
                <a:lnTo>
                  <a:pt x="217" y="44"/>
                </a:lnTo>
                <a:lnTo>
                  <a:pt x="216" y="48"/>
                </a:lnTo>
                <a:lnTo>
                  <a:pt x="216" y="51"/>
                </a:lnTo>
                <a:lnTo>
                  <a:pt x="219" y="51"/>
                </a:lnTo>
                <a:lnTo>
                  <a:pt x="219" y="48"/>
                </a:lnTo>
                <a:lnTo>
                  <a:pt x="220" y="44"/>
                </a:lnTo>
                <a:lnTo>
                  <a:pt x="220" y="41"/>
                </a:lnTo>
                <a:lnTo>
                  <a:pt x="220" y="38"/>
                </a:lnTo>
                <a:lnTo>
                  <a:pt x="222" y="34"/>
                </a:lnTo>
                <a:lnTo>
                  <a:pt x="222" y="31"/>
                </a:lnTo>
                <a:lnTo>
                  <a:pt x="222" y="28"/>
                </a:lnTo>
                <a:lnTo>
                  <a:pt x="222" y="24"/>
                </a:lnTo>
                <a:close/>
                <a:moveTo>
                  <a:pt x="4" y="0"/>
                </a:moveTo>
                <a:lnTo>
                  <a:pt x="4"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5" y="4"/>
                </a:lnTo>
                <a:lnTo>
                  <a:pt x="7" y="3"/>
                </a:lnTo>
                <a:lnTo>
                  <a:pt x="7" y="0"/>
                </a:lnTo>
                <a:lnTo>
                  <a:pt x="4"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86" name="Freeform 1991">
            <a:extLst>
              <a:ext uri="{FF2B5EF4-FFF2-40B4-BE49-F238E27FC236}">
                <a16:creationId xmlns:a16="http://schemas.microsoft.com/office/drawing/2014/main" id="{0FD74324-6550-CC2C-12FB-D9CF2336A4D8}"/>
              </a:ext>
            </a:extLst>
          </p:cNvPr>
          <p:cNvSpPr>
            <a:spLocks noEditPoints="1"/>
          </p:cNvSpPr>
          <p:nvPr/>
        </p:nvSpPr>
        <p:spPr bwMode="auto">
          <a:xfrm>
            <a:off x="2384425" y="2719388"/>
            <a:ext cx="346075" cy="80963"/>
          </a:xfrm>
          <a:custGeom>
            <a:avLst/>
            <a:gdLst>
              <a:gd name="T0" fmla="*/ 218 w 218"/>
              <a:gd name="T1" fmla="*/ 21 h 51"/>
              <a:gd name="T2" fmla="*/ 218 w 218"/>
              <a:gd name="T3" fmla="*/ 14 h 51"/>
              <a:gd name="T4" fmla="*/ 217 w 218"/>
              <a:gd name="T5" fmla="*/ 8 h 51"/>
              <a:gd name="T6" fmla="*/ 215 w 218"/>
              <a:gd name="T7" fmla="*/ 3 h 51"/>
              <a:gd name="T8" fmla="*/ 212 w 218"/>
              <a:gd name="T9" fmla="*/ 0 h 51"/>
              <a:gd name="T10" fmla="*/ 214 w 218"/>
              <a:gd name="T11" fmla="*/ 4 h 51"/>
              <a:gd name="T12" fmla="*/ 214 w 218"/>
              <a:gd name="T13" fmla="*/ 11 h 51"/>
              <a:gd name="T14" fmla="*/ 215 w 218"/>
              <a:gd name="T15" fmla="*/ 18 h 51"/>
              <a:gd name="T16" fmla="*/ 215 w 218"/>
              <a:gd name="T17" fmla="*/ 24 h 51"/>
              <a:gd name="T18" fmla="*/ 215 w 218"/>
              <a:gd name="T19" fmla="*/ 31 h 51"/>
              <a:gd name="T20" fmla="*/ 214 w 218"/>
              <a:gd name="T21" fmla="*/ 38 h 51"/>
              <a:gd name="T22" fmla="*/ 214 w 218"/>
              <a:gd name="T23" fmla="*/ 44 h 51"/>
              <a:gd name="T24" fmla="*/ 212 w 218"/>
              <a:gd name="T25" fmla="*/ 51 h 51"/>
              <a:gd name="T26" fmla="*/ 215 w 218"/>
              <a:gd name="T27" fmla="*/ 48 h 51"/>
              <a:gd name="T28" fmla="*/ 217 w 218"/>
              <a:gd name="T29" fmla="*/ 41 h 51"/>
              <a:gd name="T30" fmla="*/ 218 w 218"/>
              <a:gd name="T31" fmla="*/ 34 h 51"/>
              <a:gd name="T32" fmla="*/ 218 w 218"/>
              <a:gd name="T33" fmla="*/ 28 h 51"/>
              <a:gd name="T34" fmla="*/ 3 w 218"/>
              <a:gd name="T35" fmla="*/ 0 h 51"/>
              <a:gd name="T36" fmla="*/ 2 w 218"/>
              <a:gd name="T37" fmla="*/ 4 h 51"/>
              <a:gd name="T38" fmla="*/ 2 w 218"/>
              <a:gd name="T39" fmla="*/ 11 h 51"/>
              <a:gd name="T40" fmla="*/ 0 w 218"/>
              <a:gd name="T41" fmla="*/ 18 h 51"/>
              <a:gd name="T42" fmla="*/ 0 w 218"/>
              <a:gd name="T43" fmla="*/ 24 h 51"/>
              <a:gd name="T44" fmla="*/ 0 w 218"/>
              <a:gd name="T45" fmla="*/ 31 h 51"/>
              <a:gd name="T46" fmla="*/ 2 w 218"/>
              <a:gd name="T47" fmla="*/ 38 h 51"/>
              <a:gd name="T48" fmla="*/ 2 w 218"/>
              <a:gd name="T49" fmla="*/ 44 h 51"/>
              <a:gd name="T50" fmla="*/ 3 w 218"/>
              <a:gd name="T51" fmla="*/ 51 h 51"/>
              <a:gd name="T52" fmla="*/ 7 w 218"/>
              <a:gd name="T53" fmla="*/ 48 h 51"/>
              <a:gd name="T54" fmla="*/ 5 w 218"/>
              <a:gd name="T55" fmla="*/ 41 h 51"/>
              <a:gd name="T56" fmla="*/ 5 w 218"/>
              <a:gd name="T57" fmla="*/ 34 h 51"/>
              <a:gd name="T58" fmla="*/ 3 w 218"/>
              <a:gd name="T59" fmla="*/ 28 h 51"/>
              <a:gd name="T60" fmla="*/ 3 w 218"/>
              <a:gd name="T61" fmla="*/ 21 h 51"/>
              <a:gd name="T62" fmla="*/ 5 w 218"/>
              <a:gd name="T63" fmla="*/ 14 h 51"/>
              <a:gd name="T64" fmla="*/ 5 w 218"/>
              <a:gd name="T65" fmla="*/ 8 h 51"/>
              <a:gd name="T66" fmla="*/ 7 w 218"/>
              <a:gd name="T67" fmla="*/ 3 h 51"/>
              <a:gd name="T68" fmla="*/ 3 w 218"/>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8" h="51">
                <a:moveTo>
                  <a:pt x="218" y="24"/>
                </a:moveTo>
                <a:lnTo>
                  <a:pt x="218" y="21"/>
                </a:lnTo>
                <a:lnTo>
                  <a:pt x="218" y="18"/>
                </a:lnTo>
                <a:lnTo>
                  <a:pt x="218" y="14"/>
                </a:lnTo>
                <a:lnTo>
                  <a:pt x="217" y="11"/>
                </a:lnTo>
                <a:lnTo>
                  <a:pt x="217" y="8"/>
                </a:lnTo>
                <a:lnTo>
                  <a:pt x="217" y="4"/>
                </a:lnTo>
                <a:lnTo>
                  <a:pt x="215" y="3"/>
                </a:lnTo>
                <a:lnTo>
                  <a:pt x="215" y="0"/>
                </a:lnTo>
                <a:lnTo>
                  <a:pt x="212" y="0"/>
                </a:lnTo>
                <a:lnTo>
                  <a:pt x="212" y="3"/>
                </a:lnTo>
                <a:lnTo>
                  <a:pt x="214" y="4"/>
                </a:lnTo>
                <a:lnTo>
                  <a:pt x="214" y="8"/>
                </a:lnTo>
                <a:lnTo>
                  <a:pt x="214" y="11"/>
                </a:lnTo>
                <a:lnTo>
                  <a:pt x="215" y="14"/>
                </a:lnTo>
                <a:lnTo>
                  <a:pt x="215" y="18"/>
                </a:lnTo>
                <a:lnTo>
                  <a:pt x="215" y="21"/>
                </a:lnTo>
                <a:lnTo>
                  <a:pt x="215" y="24"/>
                </a:lnTo>
                <a:lnTo>
                  <a:pt x="215" y="28"/>
                </a:lnTo>
                <a:lnTo>
                  <a:pt x="215" y="31"/>
                </a:lnTo>
                <a:lnTo>
                  <a:pt x="215" y="34"/>
                </a:lnTo>
                <a:lnTo>
                  <a:pt x="214" y="38"/>
                </a:lnTo>
                <a:lnTo>
                  <a:pt x="214" y="41"/>
                </a:lnTo>
                <a:lnTo>
                  <a:pt x="214" y="44"/>
                </a:lnTo>
                <a:lnTo>
                  <a:pt x="212" y="48"/>
                </a:lnTo>
                <a:lnTo>
                  <a:pt x="212" y="51"/>
                </a:lnTo>
                <a:lnTo>
                  <a:pt x="215" y="51"/>
                </a:lnTo>
                <a:lnTo>
                  <a:pt x="215" y="48"/>
                </a:lnTo>
                <a:lnTo>
                  <a:pt x="217" y="44"/>
                </a:lnTo>
                <a:lnTo>
                  <a:pt x="217" y="41"/>
                </a:lnTo>
                <a:lnTo>
                  <a:pt x="217" y="38"/>
                </a:lnTo>
                <a:lnTo>
                  <a:pt x="218" y="34"/>
                </a:lnTo>
                <a:lnTo>
                  <a:pt x="218" y="31"/>
                </a:lnTo>
                <a:lnTo>
                  <a:pt x="218" y="28"/>
                </a:lnTo>
                <a:lnTo>
                  <a:pt x="218"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7" y="3"/>
                </a:lnTo>
                <a:lnTo>
                  <a:pt x="7" y="0"/>
                </a:lnTo>
                <a:lnTo>
                  <a:pt x="3"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87" name="Freeform 1992">
            <a:extLst>
              <a:ext uri="{FF2B5EF4-FFF2-40B4-BE49-F238E27FC236}">
                <a16:creationId xmlns:a16="http://schemas.microsoft.com/office/drawing/2014/main" id="{50E55EC5-ACBA-1986-A6F1-8138DB70E5BC}"/>
              </a:ext>
            </a:extLst>
          </p:cNvPr>
          <p:cNvSpPr>
            <a:spLocks noEditPoints="1"/>
          </p:cNvSpPr>
          <p:nvPr/>
        </p:nvSpPr>
        <p:spPr bwMode="auto">
          <a:xfrm>
            <a:off x="2387600" y="2719388"/>
            <a:ext cx="341313" cy="80963"/>
          </a:xfrm>
          <a:custGeom>
            <a:avLst/>
            <a:gdLst>
              <a:gd name="T0" fmla="*/ 215 w 215"/>
              <a:gd name="T1" fmla="*/ 21 h 51"/>
              <a:gd name="T2" fmla="*/ 215 w 215"/>
              <a:gd name="T3" fmla="*/ 14 h 51"/>
              <a:gd name="T4" fmla="*/ 213 w 215"/>
              <a:gd name="T5" fmla="*/ 8 h 51"/>
              <a:gd name="T6" fmla="*/ 212 w 215"/>
              <a:gd name="T7" fmla="*/ 3 h 51"/>
              <a:gd name="T8" fmla="*/ 208 w 215"/>
              <a:gd name="T9" fmla="*/ 0 h 51"/>
              <a:gd name="T10" fmla="*/ 210 w 215"/>
              <a:gd name="T11" fmla="*/ 4 h 51"/>
              <a:gd name="T12" fmla="*/ 210 w 215"/>
              <a:gd name="T13" fmla="*/ 11 h 51"/>
              <a:gd name="T14" fmla="*/ 212 w 215"/>
              <a:gd name="T15" fmla="*/ 18 h 51"/>
              <a:gd name="T16" fmla="*/ 212 w 215"/>
              <a:gd name="T17" fmla="*/ 24 h 51"/>
              <a:gd name="T18" fmla="*/ 212 w 215"/>
              <a:gd name="T19" fmla="*/ 31 h 51"/>
              <a:gd name="T20" fmla="*/ 210 w 215"/>
              <a:gd name="T21" fmla="*/ 38 h 51"/>
              <a:gd name="T22" fmla="*/ 210 w 215"/>
              <a:gd name="T23" fmla="*/ 44 h 51"/>
              <a:gd name="T24" fmla="*/ 208 w 215"/>
              <a:gd name="T25" fmla="*/ 51 h 51"/>
              <a:gd name="T26" fmla="*/ 212 w 215"/>
              <a:gd name="T27" fmla="*/ 48 h 51"/>
              <a:gd name="T28" fmla="*/ 213 w 215"/>
              <a:gd name="T29" fmla="*/ 41 h 51"/>
              <a:gd name="T30" fmla="*/ 215 w 215"/>
              <a:gd name="T31" fmla="*/ 34 h 51"/>
              <a:gd name="T32" fmla="*/ 215 w 215"/>
              <a:gd name="T33" fmla="*/ 28 h 51"/>
              <a:gd name="T34" fmla="*/ 3 w 215"/>
              <a:gd name="T35" fmla="*/ 0 h 51"/>
              <a:gd name="T36" fmla="*/ 1 w 215"/>
              <a:gd name="T37" fmla="*/ 4 h 51"/>
              <a:gd name="T38" fmla="*/ 1 w 215"/>
              <a:gd name="T39" fmla="*/ 11 h 51"/>
              <a:gd name="T40" fmla="*/ 0 w 215"/>
              <a:gd name="T41" fmla="*/ 18 h 51"/>
              <a:gd name="T42" fmla="*/ 0 w 215"/>
              <a:gd name="T43" fmla="*/ 24 h 51"/>
              <a:gd name="T44" fmla="*/ 0 w 215"/>
              <a:gd name="T45" fmla="*/ 31 h 51"/>
              <a:gd name="T46" fmla="*/ 1 w 215"/>
              <a:gd name="T47" fmla="*/ 38 h 51"/>
              <a:gd name="T48" fmla="*/ 1 w 215"/>
              <a:gd name="T49" fmla="*/ 44 h 51"/>
              <a:gd name="T50" fmla="*/ 3 w 215"/>
              <a:gd name="T51" fmla="*/ 51 h 51"/>
              <a:gd name="T52" fmla="*/ 6 w 215"/>
              <a:gd name="T53" fmla="*/ 48 h 51"/>
              <a:gd name="T54" fmla="*/ 5 w 215"/>
              <a:gd name="T55" fmla="*/ 41 h 51"/>
              <a:gd name="T56" fmla="*/ 5 w 215"/>
              <a:gd name="T57" fmla="*/ 34 h 51"/>
              <a:gd name="T58" fmla="*/ 3 w 215"/>
              <a:gd name="T59" fmla="*/ 28 h 51"/>
              <a:gd name="T60" fmla="*/ 3 w 215"/>
              <a:gd name="T61" fmla="*/ 21 h 51"/>
              <a:gd name="T62" fmla="*/ 5 w 215"/>
              <a:gd name="T63" fmla="*/ 14 h 51"/>
              <a:gd name="T64" fmla="*/ 5 w 215"/>
              <a:gd name="T65" fmla="*/ 8 h 51"/>
              <a:gd name="T66" fmla="*/ 6 w 215"/>
              <a:gd name="T67" fmla="*/ 3 h 51"/>
              <a:gd name="T68" fmla="*/ 3 w 21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5" h="51">
                <a:moveTo>
                  <a:pt x="215" y="24"/>
                </a:moveTo>
                <a:lnTo>
                  <a:pt x="215" y="21"/>
                </a:lnTo>
                <a:lnTo>
                  <a:pt x="215" y="18"/>
                </a:lnTo>
                <a:lnTo>
                  <a:pt x="215" y="14"/>
                </a:lnTo>
                <a:lnTo>
                  <a:pt x="213" y="11"/>
                </a:lnTo>
                <a:lnTo>
                  <a:pt x="213" y="8"/>
                </a:lnTo>
                <a:lnTo>
                  <a:pt x="213" y="4"/>
                </a:lnTo>
                <a:lnTo>
                  <a:pt x="212" y="3"/>
                </a:lnTo>
                <a:lnTo>
                  <a:pt x="212" y="0"/>
                </a:lnTo>
                <a:lnTo>
                  <a:pt x="208" y="0"/>
                </a:lnTo>
                <a:lnTo>
                  <a:pt x="208" y="3"/>
                </a:lnTo>
                <a:lnTo>
                  <a:pt x="210" y="4"/>
                </a:lnTo>
                <a:lnTo>
                  <a:pt x="210" y="8"/>
                </a:lnTo>
                <a:lnTo>
                  <a:pt x="210" y="11"/>
                </a:lnTo>
                <a:lnTo>
                  <a:pt x="212" y="14"/>
                </a:lnTo>
                <a:lnTo>
                  <a:pt x="212" y="18"/>
                </a:lnTo>
                <a:lnTo>
                  <a:pt x="212" y="21"/>
                </a:lnTo>
                <a:lnTo>
                  <a:pt x="212" y="24"/>
                </a:lnTo>
                <a:lnTo>
                  <a:pt x="212" y="28"/>
                </a:lnTo>
                <a:lnTo>
                  <a:pt x="212" y="31"/>
                </a:lnTo>
                <a:lnTo>
                  <a:pt x="212" y="34"/>
                </a:lnTo>
                <a:lnTo>
                  <a:pt x="210" y="38"/>
                </a:lnTo>
                <a:lnTo>
                  <a:pt x="210" y="41"/>
                </a:lnTo>
                <a:lnTo>
                  <a:pt x="210" y="44"/>
                </a:lnTo>
                <a:lnTo>
                  <a:pt x="208" y="48"/>
                </a:lnTo>
                <a:lnTo>
                  <a:pt x="208" y="51"/>
                </a:lnTo>
                <a:lnTo>
                  <a:pt x="212" y="51"/>
                </a:lnTo>
                <a:lnTo>
                  <a:pt x="212" y="48"/>
                </a:lnTo>
                <a:lnTo>
                  <a:pt x="213" y="44"/>
                </a:lnTo>
                <a:lnTo>
                  <a:pt x="213" y="41"/>
                </a:lnTo>
                <a:lnTo>
                  <a:pt x="213" y="38"/>
                </a:lnTo>
                <a:lnTo>
                  <a:pt x="215" y="34"/>
                </a:lnTo>
                <a:lnTo>
                  <a:pt x="215" y="31"/>
                </a:lnTo>
                <a:lnTo>
                  <a:pt x="215" y="28"/>
                </a:lnTo>
                <a:lnTo>
                  <a:pt x="215" y="24"/>
                </a:lnTo>
                <a:close/>
                <a:moveTo>
                  <a:pt x="3" y="0"/>
                </a:moveTo>
                <a:lnTo>
                  <a:pt x="3" y="3"/>
                </a:lnTo>
                <a:lnTo>
                  <a:pt x="1"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5" y="4"/>
                </a:lnTo>
                <a:lnTo>
                  <a:pt x="6" y="3"/>
                </a:lnTo>
                <a:lnTo>
                  <a:pt x="6" y="0"/>
                </a:lnTo>
                <a:lnTo>
                  <a:pt x="3" y="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88" name="Freeform 1993">
            <a:extLst>
              <a:ext uri="{FF2B5EF4-FFF2-40B4-BE49-F238E27FC236}">
                <a16:creationId xmlns:a16="http://schemas.microsoft.com/office/drawing/2014/main" id="{048F1116-3BD8-5F4A-A5BE-0D6D68EC7DE2}"/>
              </a:ext>
            </a:extLst>
          </p:cNvPr>
          <p:cNvSpPr>
            <a:spLocks noEditPoints="1"/>
          </p:cNvSpPr>
          <p:nvPr/>
        </p:nvSpPr>
        <p:spPr bwMode="auto">
          <a:xfrm>
            <a:off x="2389188" y="2719388"/>
            <a:ext cx="336550" cy="80963"/>
          </a:xfrm>
          <a:custGeom>
            <a:avLst/>
            <a:gdLst>
              <a:gd name="T0" fmla="*/ 212 w 212"/>
              <a:gd name="T1" fmla="*/ 21 h 51"/>
              <a:gd name="T2" fmla="*/ 212 w 212"/>
              <a:gd name="T3" fmla="*/ 14 h 51"/>
              <a:gd name="T4" fmla="*/ 211 w 212"/>
              <a:gd name="T5" fmla="*/ 8 h 51"/>
              <a:gd name="T6" fmla="*/ 209 w 212"/>
              <a:gd name="T7" fmla="*/ 3 h 51"/>
              <a:gd name="T8" fmla="*/ 206 w 212"/>
              <a:gd name="T9" fmla="*/ 0 h 51"/>
              <a:gd name="T10" fmla="*/ 207 w 212"/>
              <a:gd name="T11" fmla="*/ 4 h 51"/>
              <a:gd name="T12" fmla="*/ 207 w 212"/>
              <a:gd name="T13" fmla="*/ 11 h 51"/>
              <a:gd name="T14" fmla="*/ 209 w 212"/>
              <a:gd name="T15" fmla="*/ 18 h 51"/>
              <a:gd name="T16" fmla="*/ 209 w 212"/>
              <a:gd name="T17" fmla="*/ 24 h 51"/>
              <a:gd name="T18" fmla="*/ 209 w 212"/>
              <a:gd name="T19" fmla="*/ 31 h 51"/>
              <a:gd name="T20" fmla="*/ 207 w 212"/>
              <a:gd name="T21" fmla="*/ 38 h 51"/>
              <a:gd name="T22" fmla="*/ 207 w 212"/>
              <a:gd name="T23" fmla="*/ 44 h 51"/>
              <a:gd name="T24" fmla="*/ 206 w 212"/>
              <a:gd name="T25" fmla="*/ 51 h 51"/>
              <a:gd name="T26" fmla="*/ 209 w 212"/>
              <a:gd name="T27" fmla="*/ 48 h 51"/>
              <a:gd name="T28" fmla="*/ 211 w 212"/>
              <a:gd name="T29" fmla="*/ 41 h 51"/>
              <a:gd name="T30" fmla="*/ 212 w 212"/>
              <a:gd name="T31" fmla="*/ 34 h 51"/>
              <a:gd name="T32" fmla="*/ 212 w 212"/>
              <a:gd name="T33" fmla="*/ 28 h 51"/>
              <a:gd name="T34" fmla="*/ 4 w 212"/>
              <a:gd name="T35" fmla="*/ 0 h 51"/>
              <a:gd name="T36" fmla="*/ 2 w 212"/>
              <a:gd name="T37" fmla="*/ 4 h 51"/>
              <a:gd name="T38" fmla="*/ 2 w 212"/>
              <a:gd name="T39" fmla="*/ 11 h 51"/>
              <a:gd name="T40" fmla="*/ 0 w 212"/>
              <a:gd name="T41" fmla="*/ 18 h 51"/>
              <a:gd name="T42" fmla="*/ 0 w 212"/>
              <a:gd name="T43" fmla="*/ 24 h 51"/>
              <a:gd name="T44" fmla="*/ 0 w 212"/>
              <a:gd name="T45" fmla="*/ 31 h 51"/>
              <a:gd name="T46" fmla="*/ 2 w 212"/>
              <a:gd name="T47" fmla="*/ 38 h 51"/>
              <a:gd name="T48" fmla="*/ 2 w 212"/>
              <a:gd name="T49" fmla="*/ 44 h 51"/>
              <a:gd name="T50" fmla="*/ 4 w 212"/>
              <a:gd name="T51" fmla="*/ 51 h 51"/>
              <a:gd name="T52" fmla="*/ 7 w 212"/>
              <a:gd name="T53" fmla="*/ 48 h 51"/>
              <a:gd name="T54" fmla="*/ 5 w 212"/>
              <a:gd name="T55" fmla="*/ 41 h 51"/>
              <a:gd name="T56" fmla="*/ 5 w 212"/>
              <a:gd name="T57" fmla="*/ 34 h 51"/>
              <a:gd name="T58" fmla="*/ 4 w 212"/>
              <a:gd name="T59" fmla="*/ 28 h 51"/>
              <a:gd name="T60" fmla="*/ 4 w 212"/>
              <a:gd name="T61" fmla="*/ 21 h 51"/>
              <a:gd name="T62" fmla="*/ 5 w 212"/>
              <a:gd name="T63" fmla="*/ 14 h 51"/>
              <a:gd name="T64" fmla="*/ 5 w 212"/>
              <a:gd name="T65" fmla="*/ 8 h 51"/>
              <a:gd name="T66" fmla="*/ 7 w 212"/>
              <a:gd name="T67" fmla="*/ 3 h 51"/>
              <a:gd name="T68" fmla="*/ 4 w 21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12" h="51">
                <a:moveTo>
                  <a:pt x="212" y="24"/>
                </a:moveTo>
                <a:lnTo>
                  <a:pt x="212" y="21"/>
                </a:lnTo>
                <a:lnTo>
                  <a:pt x="212" y="18"/>
                </a:lnTo>
                <a:lnTo>
                  <a:pt x="212" y="14"/>
                </a:lnTo>
                <a:lnTo>
                  <a:pt x="211" y="11"/>
                </a:lnTo>
                <a:lnTo>
                  <a:pt x="211" y="8"/>
                </a:lnTo>
                <a:lnTo>
                  <a:pt x="211" y="4"/>
                </a:lnTo>
                <a:lnTo>
                  <a:pt x="209" y="3"/>
                </a:lnTo>
                <a:lnTo>
                  <a:pt x="209" y="0"/>
                </a:lnTo>
                <a:lnTo>
                  <a:pt x="206" y="0"/>
                </a:lnTo>
                <a:lnTo>
                  <a:pt x="206" y="3"/>
                </a:lnTo>
                <a:lnTo>
                  <a:pt x="207" y="4"/>
                </a:lnTo>
                <a:lnTo>
                  <a:pt x="207" y="8"/>
                </a:lnTo>
                <a:lnTo>
                  <a:pt x="207" y="11"/>
                </a:lnTo>
                <a:lnTo>
                  <a:pt x="209" y="14"/>
                </a:lnTo>
                <a:lnTo>
                  <a:pt x="209" y="18"/>
                </a:lnTo>
                <a:lnTo>
                  <a:pt x="209" y="21"/>
                </a:lnTo>
                <a:lnTo>
                  <a:pt x="209" y="24"/>
                </a:lnTo>
                <a:lnTo>
                  <a:pt x="209" y="28"/>
                </a:lnTo>
                <a:lnTo>
                  <a:pt x="209" y="31"/>
                </a:lnTo>
                <a:lnTo>
                  <a:pt x="209" y="34"/>
                </a:lnTo>
                <a:lnTo>
                  <a:pt x="207" y="38"/>
                </a:lnTo>
                <a:lnTo>
                  <a:pt x="207" y="41"/>
                </a:lnTo>
                <a:lnTo>
                  <a:pt x="207" y="44"/>
                </a:lnTo>
                <a:lnTo>
                  <a:pt x="206" y="48"/>
                </a:lnTo>
                <a:lnTo>
                  <a:pt x="206" y="51"/>
                </a:lnTo>
                <a:lnTo>
                  <a:pt x="209" y="51"/>
                </a:lnTo>
                <a:lnTo>
                  <a:pt x="209" y="48"/>
                </a:lnTo>
                <a:lnTo>
                  <a:pt x="211" y="44"/>
                </a:lnTo>
                <a:lnTo>
                  <a:pt x="211" y="41"/>
                </a:lnTo>
                <a:lnTo>
                  <a:pt x="211" y="38"/>
                </a:lnTo>
                <a:lnTo>
                  <a:pt x="212" y="34"/>
                </a:lnTo>
                <a:lnTo>
                  <a:pt x="212" y="31"/>
                </a:lnTo>
                <a:lnTo>
                  <a:pt x="212" y="28"/>
                </a:lnTo>
                <a:lnTo>
                  <a:pt x="212" y="24"/>
                </a:lnTo>
                <a:close/>
                <a:moveTo>
                  <a:pt x="4" y="0"/>
                </a:moveTo>
                <a:lnTo>
                  <a:pt x="4"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7" y="0"/>
                </a:lnTo>
                <a:lnTo>
                  <a:pt x="4"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89" name="Freeform 1994">
            <a:extLst>
              <a:ext uri="{FF2B5EF4-FFF2-40B4-BE49-F238E27FC236}">
                <a16:creationId xmlns:a16="http://schemas.microsoft.com/office/drawing/2014/main" id="{CAFF4E64-FB73-A3E1-08A7-A0C47F5F5954}"/>
              </a:ext>
            </a:extLst>
          </p:cNvPr>
          <p:cNvSpPr>
            <a:spLocks noEditPoints="1"/>
          </p:cNvSpPr>
          <p:nvPr/>
        </p:nvSpPr>
        <p:spPr bwMode="auto">
          <a:xfrm>
            <a:off x="2392363" y="2719388"/>
            <a:ext cx="331788" cy="80963"/>
          </a:xfrm>
          <a:custGeom>
            <a:avLst/>
            <a:gdLst>
              <a:gd name="T0" fmla="*/ 209 w 209"/>
              <a:gd name="T1" fmla="*/ 21 h 51"/>
              <a:gd name="T2" fmla="*/ 209 w 209"/>
              <a:gd name="T3" fmla="*/ 14 h 51"/>
              <a:gd name="T4" fmla="*/ 207 w 209"/>
              <a:gd name="T5" fmla="*/ 8 h 51"/>
              <a:gd name="T6" fmla="*/ 205 w 209"/>
              <a:gd name="T7" fmla="*/ 3 h 51"/>
              <a:gd name="T8" fmla="*/ 202 w 209"/>
              <a:gd name="T9" fmla="*/ 0 h 51"/>
              <a:gd name="T10" fmla="*/ 204 w 209"/>
              <a:gd name="T11" fmla="*/ 4 h 51"/>
              <a:gd name="T12" fmla="*/ 204 w 209"/>
              <a:gd name="T13" fmla="*/ 11 h 51"/>
              <a:gd name="T14" fmla="*/ 205 w 209"/>
              <a:gd name="T15" fmla="*/ 18 h 51"/>
              <a:gd name="T16" fmla="*/ 205 w 209"/>
              <a:gd name="T17" fmla="*/ 24 h 51"/>
              <a:gd name="T18" fmla="*/ 205 w 209"/>
              <a:gd name="T19" fmla="*/ 31 h 51"/>
              <a:gd name="T20" fmla="*/ 204 w 209"/>
              <a:gd name="T21" fmla="*/ 38 h 51"/>
              <a:gd name="T22" fmla="*/ 204 w 209"/>
              <a:gd name="T23" fmla="*/ 44 h 51"/>
              <a:gd name="T24" fmla="*/ 202 w 209"/>
              <a:gd name="T25" fmla="*/ 51 h 51"/>
              <a:gd name="T26" fmla="*/ 205 w 209"/>
              <a:gd name="T27" fmla="*/ 48 h 51"/>
              <a:gd name="T28" fmla="*/ 207 w 209"/>
              <a:gd name="T29" fmla="*/ 41 h 51"/>
              <a:gd name="T30" fmla="*/ 209 w 209"/>
              <a:gd name="T31" fmla="*/ 34 h 51"/>
              <a:gd name="T32" fmla="*/ 209 w 209"/>
              <a:gd name="T33" fmla="*/ 28 h 51"/>
              <a:gd name="T34" fmla="*/ 3 w 209"/>
              <a:gd name="T35" fmla="*/ 0 h 51"/>
              <a:gd name="T36" fmla="*/ 2 w 209"/>
              <a:gd name="T37" fmla="*/ 4 h 51"/>
              <a:gd name="T38" fmla="*/ 2 w 209"/>
              <a:gd name="T39" fmla="*/ 11 h 51"/>
              <a:gd name="T40" fmla="*/ 0 w 209"/>
              <a:gd name="T41" fmla="*/ 18 h 51"/>
              <a:gd name="T42" fmla="*/ 0 w 209"/>
              <a:gd name="T43" fmla="*/ 24 h 51"/>
              <a:gd name="T44" fmla="*/ 0 w 209"/>
              <a:gd name="T45" fmla="*/ 31 h 51"/>
              <a:gd name="T46" fmla="*/ 2 w 209"/>
              <a:gd name="T47" fmla="*/ 38 h 51"/>
              <a:gd name="T48" fmla="*/ 2 w 209"/>
              <a:gd name="T49" fmla="*/ 44 h 51"/>
              <a:gd name="T50" fmla="*/ 3 w 209"/>
              <a:gd name="T51" fmla="*/ 51 h 51"/>
              <a:gd name="T52" fmla="*/ 6 w 209"/>
              <a:gd name="T53" fmla="*/ 48 h 51"/>
              <a:gd name="T54" fmla="*/ 5 w 209"/>
              <a:gd name="T55" fmla="*/ 41 h 51"/>
              <a:gd name="T56" fmla="*/ 5 w 209"/>
              <a:gd name="T57" fmla="*/ 34 h 51"/>
              <a:gd name="T58" fmla="*/ 3 w 209"/>
              <a:gd name="T59" fmla="*/ 28 h 51"/>
              <a:gd name="T60" fmla="*/ 3 w 209"/>
              <a:gd name="T61" fmla="*/ 21 h 51"/>
              <a:gd name="T62" fmla="*/ 5 w 209"/>
              <a:gd name="T63" fmla="*/ 14 h 51"/>
              <a:gd name="T64" fmla="*/ 5 w 209"/>
              <a:gd name="T65" fmla="*/ 8 h 51"/>
              <a:gd name="T66" fmla="*/ 6 w 209"/>
              <a:gd name="T67" fmla="*/ 3 h 51"/>
              <a:gd name="T68" fmla="*/ 3 w 20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09" h="51">
                <a:moveTo>
                  <a:pt x="209" y="24"/>
                </a:moveTo>
                <a:lnTo>
                  <a:pt x="209" y="21"/>
                </a:lnTo>
                <a:lnTo>
                  <a:pt x="209" y="18"/>
                </a:lnTo>
                <a:lnTo>
                  <a:pt x="209" y="14"/>
                </a:lnTo>
                <a:lnTo>
                  <a:pt x="207" y="11"/>
                </a:lnTo>
                <a:lnTo>
                  <a:pt x="207" y="8"/>
                </a:lnTo>
                <a:lnTo>
                  <a:pt x="207" y="4"/>
                </a:lnTo>
                <a:lnTo>
                  <a:pt x="205" y="3"/>
                </a:lnTo>
                <a:lnTo>
                  <a:pt x="205" y="0"/>
                </a:lnTo>
                <a:lnTo>
                  <a:pt x="202" y="0"/>
                </a:lnTo>
                <a:lnTo>
                  <a:pt x="202" y="3"/>
                </a:lnTo>
                <a:lnTo>
                  <a:pt x="204" y="4"/>
                </a:lnTo>
                <a:lnTo>
                  <a:pt x="204" y="8"/>
                </a:lnTo>
                <a:lnTo>
                  <a:pt x="204" y="11"/>
                </a:lnTo>
                <a:lnTo>
                  <a:pt x="205" y="14"/>
                </a:lnTo>
                <a:lnTo>
                  <a:pt x="205" y="18"/>
                </a:lnTo>
                <a:lnTo>
                  <a:pt x="205" y="21"/>
                </a:lnTo>
                <a:lnTo>
                  <a:pt x="205" y="24"/>
                </a:lnTo>
                <a:lnTo>
                  <a:pt x="205" y="28"/>
                </a:lnTo>
                <a:lnTo>
                  <a:pt x="205" y="31"/>
                </a:lnTo>
                <a:lnTo>
                  <a:pt x="205" y="34"/>
                </a:lnTo>
                <a:lnTo>
                  <a:pt x="204" y="38"/>
                </a:lnTo>
                <a:lnTo>
                  <a:pt x="204" y="41"/>
                </a:lnTo>
                <a:lnTo>
                  <a:pt x="204" y="44"/>
                </a:lnTo>
                <a:lnTo>
                  <a:pt x="202" y="48"/>
                </a:lnTo>
                <a:lnTo>
                  <a:pt x="202" y="51"/>
                </a:lnTo>
                <a:lnTo>
                  <a:pt x="205" y="51"/>
                </a:lnTo>
                <a:lnTo>
                  <a:pt x="205" y="48"/>
                </a:lnTo>
                <a:lnTo>
                  <a:pt x="207" y="44"/>
                </a:lnTo>
                <a:lnTo>
                  <a:pt x="207" y="41"/>
                </a:lnTo>
                <a:lnTo>
                  <a:pt x="207" y="38"/>
                </a:lnTo>
                <a:lnTo>
                  <a:pt x="209" y="34"/>
                </a:lnTo>
                <a:lnTo>
                  <a:pt x="209" y="31"/>
                </a:lnTo>
                <a:lnTo>
                  <a:pt x="209" y="28"/>
                </a:lnTo>
                <a:lnTo>
                  <a:pt x="209" y="24"/>
                </a:lnTo>
                <a:close/>
                <a:moveTo>
                  <a:pt x="3" y="0"/>
                </a:moveTo>
                <a:lnTo>
                  <a:pt x="3" y="3"/>
                </a:lnTo>
                <a:lnTo>
                  <a:pt x="2"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6" y="0"/>
                </a:lnTo>
                <a:lnTo>
                  <a:pt x="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90" name="Freeform 1995">
            <a:extLst>
              <a:ext uri="{FF2B5EF4-FFF2-40B4-BE49-F238E27FC236}">
                <a16:creationId xmlns:a16="http://schemas.microsoft.com/office/drawing/2014/main" id="{B31392D9-A8AD-D8AF-D650-72C05DFE87A2}"/>
              </a:ext>
            </a:extLst>
          </p:cNvPr>
          <p:cNvSpPr>
            <a:spLocks noEditPoints="1"/>
          </p:cNvSpPr>
          <p:nvPr/>
        </p:nvSpPr>
        <p:spPr bwMode="auto">
          <a:xfrm>
            <a:off x="2395538" y="2719388"/>
            <a:ext cx="325438" cy="80963"/>
          </a:xfrm>
          <a:custGeom>
            <a:avLst/>
            <a:gdLst>
              <a:gd name="T0" fmla="*/ 205 w 205"/>
              <a:gd name="T1" fmla="*/ 21 h 51"/>
              <a:gd name="T2" fmla="*/ 205 w 205"/>
              <a:gd name="T3" fmla="*/ 14 h 51"/>
              <a:gd name="T4" fmla="*/ 203 w 205"/>
              <a:gd name="T5" fmla="*/ 8 h 51"/>
              <a:gd name="T6" fmla="*/ 202 w 205"/>
              <a:gd name="T7" fmla="*/ 3 h 51"/>
              <a:gd name="T8" fmla="*/ 198 w 205"/>
              <a:gd name="T9" fmla="*/ 0 h 51"/>
              <a:gd name="T10" fmla="*/ 200 w 205"/>
              <a:gd name="T11" fmla="*/ 4 h 51"/>
              <a:gd name="T12" fmla="*/ 200 w 205"/>
              <a:gd name="T13" fmla="*/ 11 h 51"/>
              <a:gd name="T14" fmla="*/ 202 w 205"/>
              <a:gd name="T15" fmla="*/ 18 h 51"/>
              <a:gd name="T16" fmla="*/ 202 w 205"/>
              <a:gd name="T17" fmla="*/ 24 h 51"/>
              <a:gd name="T18" fmla="*/ 202 w 205"/>
              <a:gd name="T19" fmla="*/ 31 h 51"/>
              <a:gd name="T20" fmla="*/ 200 w 205"/>
              <a:gd name="T21" fmla="*/ 38 h 51"/>
              <a:gd name="T22" fmla="*/ 200 w 205"/>
              <a:gd name="T23" fmla="*/ 44 h 51"/>
              <a:gd name="T24" fmla="*/ 198 w 205"/>
              <a:gd name="T25" fmla="*/ 51 h 51"/>
              <a:gd name="T26" fmla="*/ 202 w 205"/>
              <a:gd name="T27" fmla="*/ 48 h 51"/>
              <a:gd name="T28" fmla="*/ 203 w 205"/>
              <a:gd name="T29" fmla="*/ 41 h 51"/>
              <a:gd name="T30" fmla="*/ 205 w 205"/>
              <a:gd name="T31" fmla="*/ 34 h 51"/>
              <a:gd name="T32" fmla="*/ 205 w 205"/>
              <a:gd name="T33" fmla="*/ 28 h 51"/>
              <a:gd name="T34" fmla="*/ 3 w 205"/>
              <a:gd name="T35" fmla="*/ 0 h 51"/>
              <a:gd name="T36" fmla="*/ 3 w 205"/>
              <a:gd name="T37" fmla="*/ 4 h 51"/>
              <a:gd name="T38" fmla="*/ 1 w 205"/>
              <a:gd name="T39" fmla="*/ 11 h 51"/>
              <a:gd name="T40" fmla="*/ 0 w 205"/>
              <a:gd name="T41" fmla="*/ 18 h 51"/>
              <a:gd name="T42" fmla="*/ 0 w 205"/>
              <a:gd name="T43" fmla="*/ 24 h 51"/>
              <a:gd name="T44" fmla="*/ 0 w 205"/>
              <a:gd name="T45" fmla="*/ 31 h 51"/>
              <a:gd name="T46" fmla="*/ 1 w 205"/>
              <a:gd name="T47" fmla="*/ 38 h 51"/>
              <a:gd name="T48" fmla="*/ 1 w 205"/>
              <a:gd name="T49" fmla="*/ 44 h 51"/>
              <a:gd name="T50" fmla="*/ 3 w 205"/>
              <a:gd name="T51" fmla="*/ 51 h 51"/>
              <a:gd name="T52" fmla="*/ 6 w 205"/>
              <a:gd name="T53" fmla="*/ 48 h 51"/>
              <a:gd name="T54" fmla="*/ 4 w 205"/>
              <a:gd name="T55" fmla="*/ 41 h 51"/>
              <a:gd name="T56" fmla="*/ 4 w 205"/>
              <a:gd name="T57" fmla="*/ 34 h 51"/>
              <a:gd name="T58" fmla="*/ 3 w 205"/>
              <a:gd name="T59" fmla="*/ 28 h 51"/>
              <a:gd name="T60" fmla="*/ 3 w 205"/>
              <a:gd name="T61" fmla="*/ 21 h 51"/>
              <a:gd name="T62" fmla="*/ 4 w 205"/>
              <a:gd name="T63" fmla="*/ 14 h 51"/>
              <a:gd name="T64" fmla="*/ 4 w 205"/>
              <a:gd name="T65" fmla="*/ 8 h 51"/>
              <a:gd name="T66" fmla="*/ 6 w 205"/>
              <a:gd name="T67" fmla="*/ 3 h 51"/>
              <a:gd name="T68" fmla="*/ 3 w 205"/>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05" h="51">
                <a:moveTo>
                  <a:pt x="205" y="24"/>
                </a:moveTo>
                <a:lnTo>
                  <a:pt x="205" y="21"/>
                </a:lnTo>
                <a:lnTo>
                  <a:pt x="205" y="18"/>
                </a:lnTo>
                <a:lnTo>
                  <a:pt x="205" y="14"/>
                </a:lnTo>
                <a:lnTo>
                  <a:pt x="203" y="11"/>
                </a:lnTo>
                <a:lnTo>
                  <a:pt x="203" y="8"/>
                </a:lnTo>
                <a:lnTo>
                  <a:pt x="203" y="4"/>
                </a:lnTo>
                <a:lnTo>
                  <a:pt x="202" y="3"/>
                </a:lnTo>
                <a:lnTo>
                  <a:pt x="202" y="0"/>
                </a:lnTo>
                <a:lnTo>
                  <a:pt x="198" y="0"/>
                </a:lnTo>
                <a:lnTo>
                  <a:pt x="198" y="3"/>
                </a:lnTo>
                <a:lnTo>
                  <a:pt x="200" y="4"/>
                </a:lnTo>
                <a:lnTo>
                  <a:pt x="200" y="8"/>
                </a:lnTo>
                <a:lnTo>
                  <a:pt x="200" y="11"/>
                </a:lnTo>
                <a:lnTo>
                  <a:pt x="202" y="14"/>
                </a:lnTo>
                <a:lnTo>
                  <a:pt x="202" y="18"/>
                </a:lnTo>
                <a:lnTo>
                  <a:pt x="202" y="21"/>
                </a:lnTo>
                <a:lnTo>
                  <a:pt x="202" y="24"/>
                </a:lnTo>
                <a:lnTo>
                  <a:pt x="202" y="28"/>
                </a:lnTo>
                <a:lnTo>
                  <a:pt x="202" y="31"/>
                </a:lnTo>
                <a:lnTo>
                  <a:pt x="202" y="34"/>
                </a:lnTo>
                <a:lnTo>
                  <a:pt x="200" y="38"/>
                </a:lnTo>
                <a:lnTo>
                  <a:pt x="200" y="41"/>
                </a:lnTo>
                <a:lnTo>
                  <a:pt x="200" y="44"/>
                </a:lnTo>
                <a:lnTo>
                  <a:pt x="198" y="48"/>
                </a:lnTo>
                <a:lnTo>
                  <a:pt x="198" y="51"/>
                </a:lnTo>
                <a:lnTo>
                  <a:pt x="202" y="51"/>
                </a:lnTo>
                <a:lnTo>
                  <a:pt x="202" y="48"/>
                </a:lnTo>
                <a:lnTo>
                  <a:pt x="203" y="44"/>
                </a:lnTo>
                <a:lnTo>
                  <a:pt x="203" y="41"/>
                </a:lnTo>
                <a:lnTo>
                  <a:pt x="203" y="38"/>
                </a:lnTo>
                <a:lnTo>
                  <a:pt x="205" y="34"/>
                </a:lnTo>
                <a:lnTo>
                  <a:pt x="205" y="31"/>
                </a:lnTo>
                <a:lnTo>
                  <a:pt x="205" y="28"/>
                </a:lnTo>
                <a:lnTo>
                  <a:pt x="205" y="24"/>
                </a:lnTo>
                <a:close/>
                <a:moveTo>
                  <a:pt x="3"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4" y="44"/>
                </a:lnTo>
                <a:lnTo>
                  <a:pt x="4" y="41"/>
                </a:lnTo>
                <a:lnTo>
                  <a:pt x="4" y="38"/>
                </a:lnTo>
                <a:lnTo>
                  <a:pt x="4" y="34"/>
                </a:lnTo>
                <a:lnTo>
                  <a:pt x="3" y="31"/>
                </a:lnTo>
                <a:lnTo>
                  <a:pt x="3" y="28"/>
                </a:lnTo>
                <a:lnTo>
                  <a:pt x="3" y="24"/>
                </a:lnTo>
                <a:lnTo>
                  <a:pt x="3" y="21"/>
                </a:lnTo>
                <a:lnTo>
                  <a:pt x="3" y="18"/>
                </a:lnTo>
                <a:lnTo>
                  <a:pt x="4" y="14"/>
                </a:lnTo>
                <a:lnTo>
                  <a:pt x="4" y="11"/>
                </a:lnTo>
                <a:lnTo>
                  <a:pt x="4" y="8"/>
                </a:lnTo>
                <a:lnTo>
                  <a:pt x="6" y="4"/>
                </a:lnTo>
                <a:lnTo>
                  <a:pt x="6" y="3"/>
                </a:lnTo>
                <a:lnTo>
                  <a:pt x="6" y="0"/>
                </a:lnTo>
                <a:lnTo>
                  <a:pt x="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91" name="Freeform 1996">
            <a:extLst>
              <a:ext uri="{FF2B5EF4-FFF2-40B4-BE49-F238E27FC236}">
                <a16:creationId xmlns:a16="http://schemas.microsoft.com/office/drawing/2014/main" id="{5DAE4DAB-6372-0F3E-B173-250D60377E8B}"/>
              </a:ext>
            </a:extLst>
          </p:cNvPr>
          <p:cNvSpPr>
            <a:spLocks noEditPoints="1"/>
          </p:cNvSpPr>
          <p:nvPr/>
        </p:nvSpPr>
        <p:spPr bwMode="auto">
          <a:xfrm>
            <a:off x="2397125" y="2719388"/>
            <a:ext cx="320675" cy="80963"/>
          </a:xfrm>
          <a:custGeom>
            <a:avLst/>
            <a:gdLst>
              <a:gd name="T0" fmla="*/ 202 w 202"/>
              <a:gd name="T1" fmla="*/ 21 h 51"/>
              <a:gd name="T2" fmla="*/ 202 w 202"/>
              <a:gd name="T3" fmla="*/ 14 h 51"/>
              <a:gd name="T4" fmla="*/ 201 w 202"/>
              <a:gd name="T5" fmla="*/ 8 h 51"/>
              <a:gd name="T6" fmla="*/ 199 w 202"/>
              <a:gd name="T7" fmla="*/ 3 h 51"/>
              <a:gd name="T8" fmla="*/ 196 w 202"/>
              <a:gd name="T9" fmla="*/ 0 h 51"/>
              <a:gd name="T10" fmla="*/ 197 w 202"/>
              <a:gd name="T11" fmla="*/ 4 h 51"/>
              <a:gd name="T12" fmla="*/ 197 w 202"/>
              <a:gd name="T13" fmla="*/ 11 h 51"/>
              <a:gd name="T14" fmla="*/ 199 w 202"/>
              <a:gd name="T15" fmla="*/ 18 h 51"/>
              <a:gd name="T16" fmla="*/ 199 w 202"/>
              <a:gd name="T17" fmla="*/ 24 h 51"/>
              <a:gd name="T18" fmla="*/ 199 w 202"/>
              <a:gd name="T19" fmla="*/ 31 h 51"/>
              <a:gd name="T20" fmla="*/ 197 w 202"/>
              <a:gd name="T21" fmla="*/ 38 h 51"/>
              <a:gd name="T22" fmla="*/ 197 w 202"/>
              <a:gd name="T23" fmla="*/ 44 h 51"/>
              <a:gd name="T24" fmla="*/ 196 w 202"/>
              <a:gd name="T25" fmla="*/ 51 h 51"/>
              <a:gd name="T26" fmla="*/ 199 w 202"/>
              <a:gd name="T27" fmla="*/ 48 h 51"/>
              <a:gd name="T28" fmla="*/ 201 w 202"/>
              <a:gd name="T29" fmla="*/ 41 h 51"/>
              <a:gd name="T30" fmla="*/ 202 w 202"/>
              <a:gd name="T31" fmla="*/ 34 h 51"/>
              <a:gd name="T32" fmla="*/ 202 w 202"/>
              <a:gd name="T33" fmla="*/ 28 h 51"/>
              <a:gd name="T34" fmla="*/ 3 w 202"/>
              <a:gd name="T35" fmla="*/ 0 h 51"/>
              <a:gd name="T36" fmla="*/ 3 w 202"/>
              <a:gd name="T37" fmla="*/ 4 h 51"/>
              <a:gd name="T38" fmla="*/ 2 w 202"/>
              <a:gd name="T39" fmla="*/ 11 h 51"/>
              <a:gd name="T40" fmla="*/ 0 w 202"/>
              <a:gd name="T41" fmla="*/ 18 h 51"/>
              <a:gd name="T42" fmla="*/ 0 w 202"/>
              <a:gd name="T43" fmla="*/ 24 h 51"/>
              <a:gd name="T44" fmla="*/ 0 w 202"/>
              <a:gd name="T45" fmla="*/ 31 h 51"/>
              <a:gd name="T46" fmla="*/ 2 w 202"/>
              <a:gd name="T47" fmla="*/ 38 h 51"/>
              <a:gd name="T48" fmla="*/ 2 w 202"/>
              <a:gd name="T49" fmla="*/ 44 h 51"/>
              <a:gd name="T50" fmla="*/ 3 w 202"/>
              <a:gd name="T51" fmla="*/ 51 h 51"/>
              <a:gd name="T52" fmla="*/ 7 w 202"/>
              <a:gd name="T53" fmla="*/ 48 h 51"/>
              <a:gd name="T54" fmla="*/ 5 w 202"/>
              <a:gd name="T55" fmla="*/ 41 h 51"/>
              <a:gd name="T56" fmla="*/ 5 w 202"/>
              <a:gd name="T57" fmla="*/ 34 h 51"/>
              <a:gd name="T58" fmla="*/ 3 w 202"/>
              <a:gd name="T59" fmla="*/ 28 h 51"/>
              <a:gd name="T60" fmla="*/ 3 w 202"/>
              <a:gd name="T61" fmla="*/ 21 h 51"/>
              <a:gd name="T62" fmla="*/ 5 w 202"/>
              <a:gd name="T63" fmla="*/ 14 h 51"/>
              <a:gd name="T64" fmla="*/ 5 w 202"/>
              <a:gd name="T65" fmla="*/ 8 h 51"/>
              <a:gd name="T66" fmla="*/ 7 w 202"/>
              <a:gd name="T67" fmla="*/ 3 h 51"/>
              <a:gd name="T68" fmla="*/ 3 w 20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02" h="51">
                <a:moveTo>
                  <a:pt x="202" y="24"/>
                </a:moveTo>
                <a:lnTo>
                  <a:pt x="202" y="21"/>
                </a:lnTo>
                <a:lnTo>
                  <a:pt x="202" y="18"/>
                </a:lnTo>
                <a:lnTo>
                  <a:pt x="202" y="14"/>
                </a:lnTo>
                <a:lnTo>
                  <a:pt x="201" y="11"/>
                </a:lnTo>
                <a:lnTo>
                  <a:pt x="201" y="8"/>
                </a:lnTo>
                <a:lnTo>
                  <a:pt x="201" y="4"/>
                </a:lnTo>
                <a:lnTo>
                  <a:pt x="199" y="3"/>
                </a:lnTo>
                <a:lnTo>
                  <a:pt x="199" y="0"/>
                </a:lnTo>
                <a:lnTo>
                  <a:pt x="196" y="0"/>
                </a:lnTo>
                <a:lnTo>
                  <a:pt x="196" y="3"/>
                </a:lnTo>
                <a:lnTo>
                  <a:pt x="197" y="4"/>
                </a:lnTo>
                <a:lnTo>
                  <a:pt x="197" y="8"/>
                </a:lnTo>
                <a:lnTo>
                  <a:pt x="197" y="11"/>
                </a:lnTo>
                <a:lnTo>
                  <a:pt x="199" y="14"/>
                </a:lnTo>
                <a:lnTo>
                  <a:pt x="199" y="18"/>
                </a:lnTo>
                <a:lnTo>
                  <a:pt x="199" y="21"/>
                </a:lnTo>
                <a:lnTo>
                  <a:pt x="199" y="24"/>
                </a:lnTo>
                <a:lnTo>
                  <a:pt x="199" y="28"/>
                </a:lnTo>
                <a:lnTo>
                  <a:pt x="199" y="31"/>
                </a:lnTo>
                <a:lnTo>
                  <a:pt x="199" y="34"/>
                </a:lnTo>
                <a:lnTo>
                  <a:pt x="197" y="38"/>
                </a:lnTo>
                <a:lnTo>
                  <a:pt x="197" y="41"/>
                </a:lnTo>
                <a:lnTo>
                  <a:pt x="197" y="44"/>
                </a:lnTo>
                <a:lnTo>
                  <a:pt x="196" y="48"/>
                </a:lnTo>
                <a:lnTo>
                  <a:pt x="196" y="51"/>
                </a:lnTo>
                <a:lnTo>
                  <a:pt x="199" y="51"/>
                </a:lnTo>
                <a:lnTo>
                  <a:pt x="199" y="48"/>
                </a:lnTo>
                <a:lnTo>
                  <a:pt x="201" y="44"/>
                </a:lnTo>
                <a:lnTo>
                  <a:pt x="201" y="41"/>
                </a:lnTo>
                <a:lnTo>
                  <a:pt x="201" y="38"/>
                </a:lnTo>
                <a:lnTo>
                  <a:pt x="202" y="34"/>
                </a:lnTo>
                <a:lnTo>
                  <a:pt x="202" y="31"/>
                </a:lnTo>
                <a:lnTo>
                  <a:pt x="202" y="28"/>
                </a:lnTo>
                <a:lnTo>
                  <a:pt x="202" y="24"/>
                </a:lnTo>
                <a:close/>
                <a:moveTo>
                  <a:pt x="3"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7" y="0"/>
                </a:lnTo>
                <a:lnTo>
                  <a:pt x="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92" name="Freeform 1997">
            <a:extLst>
              <a:ext uri="{FF2B5EF4-FFF2-40B4-BE49-F238E27FC236}">
                <a16:creationId xmlns:a16="http://schemas.microsoft.com/office/drawing/2014/main" id="{17851956-8F83-8BFA-BEAA-0CFE7251D93C}"/>
              </a:ext>
            </a:extLst>
          </p:cNvPr>
          <p:cNvSpPr>
            <a:spLocks noEditPoints="1"/>
          </p:cNvSpPr>
          <p:nvPr/>
        </p:nvSpPr>
        <p:spPr bwMode="auto">
          <a:xfrm>
            <a:off x="2400300" y="2719388"/>
            <a:ext cx="315913" cy="80963"/>
          </a:xfrm>
          <a:custGeom>
            <a:avLst/>
            <a:gdLst>
              <a:gd name="T0" fmla="*/ 199 w 199"/>
              <a:gd name="T1" fmla="*/ 21 h 51"/>
              <a:gd name="T2" fmla="*/ 199 w 199"/>
              <a:gd name="T3" fmla="*/ 14 h 51"/>
              <a:gd name="T4" fmla="*/ 197 w 199"/>
              <a:gd name="T5" fmla="*/ 8 h 51"/>
              <a:gd name="T6" fmla="*/ 195 w 199"/>
              <a:gd name="T7" fmla="*/ 3 h 51"/>
              <a:gd name="T8" fmla="*/ 192 w 199"/>
              <a:gd name="T9" fmla="*/ 0 h 51"/>
              <a:gd name="T10" fmla="*/ 194 w 199"/>
              <a:gd name="T11" fmla="*/ 4 h 51"/>
              <a:gd name="T12" fmla="*/ 194 w 199"/>
              <a:gd name="T13" fmla="*/ 11 h 51"/>
              <a:gd name="T14" fmla="*/ 195 w 199"/>
              <a:gd name="T15" fmla="*/ 18 h 51"/>
              <a:gd name="T16" fmla="*/ 195 w 199"/>
              <a:gd name="T17" fmla="*/ 24 h 51"/>
              <a:gd name="T18" fmla="*/ 195 w 199"/>
              <a:gd name="T19" fmla="*/ 31 h 51"/>
              <a:gd name="T20" fmla="*/ 194 w 199"/>
              <a:gd name="T21" fmla="*/ 38 h 51"/>
              <a:gd name="T22" fmla="*/ 194 w 199"/>
              <a:gd name="T23" fmla="*/ 44 h 51"/>
              <a:gd name="T24" fmla="*/ 192 w 199"/>
              <a:gd name="T25" fmla="*/ 51 h 51"/>
              <a:gd name="T26" fmla="*/ 195 w 199"/>
              <a:gd name="T27" fmla="*/ 48 h 51"/>
              <a:gd name="T28" fmla="*/ 197 w 199"/>
              <a:gd name="T29" fmla="*/ 41 h 51"/>
              <a:gd name="T30" fmla="*/ 199 w 199"/>
              <a:gd name="T31" fmla="*/ 34 h 51"/>
              <a:gd name="T32" fmla="*/ 199 w 199"/>
              <a:gd name="T33" fmla="*/ 28 h 51"/>
              <a:gd name="T34" fmla="*/ 3 w 199"/>
              <a:gd name="T35" fmla="*/ 0 h 51"/>
              <a:gd name="T36" fmla="*/ 3 w 199"/>
              <a:gd name="T37" fmla="*/ 4 h 51"/>
              <a:gd name="T38" fmla="*/ 1 w 199"/>
              <a:gd name="T39" fmla="*/ 11 h 51"/>
              <a:gd name="T40" fmla="*/ 0 w 199"/>
              <a:gd name="T41" fmla="*/ 18 h 51"/>
              <a:gd name="T42" fmla="*/ 0 w 199"/>
              <a:gd name="T43" fmla="*/ 24 h 51"/>
              <a:gd name="T44" fmla="*/ 0 w 199"/>
              <a:gd name="T45" fmla="*/ 31 h 51"/>
              <a:gd name="T46" fmla="*/ 1 w 199"/>
              <a:gd name="T47" fmla="*/ 38 h 51"/>
              <a:gd name="T48" fmla="*/ 1 w 199"/>
              <a:gd name="T49" fmla="*/ 44 h 51"/>
              <a:gd name="T50" fmla="*/ 3 w 199"/>
              <a:gd name="T51" fmla="*/ 51 h 51"/>
              <a:gd name="T52" fmla="*/ 6 w 199"/>
              <a:gd name="T53" fmla="*/ 48 h 51"/>
              <a:gd name="T54" fmla="*/ 5 w 199"/>
              <a:gd name="T55" fmla="*/ 41 h 51"/>
              <a:gd name="T56" fmla="*/ 5 w 199"/>
              <a:gd name="T57" fmla="*/ 34 h 51"/>
              <a:gd name="T58" fmla="*/ 3 w 199"/>
              <a:gd name="T59" fmla="*/ 28 h 51"/>
              <a:gd name="T60" fmla="*/ 3 w 199"/>
              <a:gd name="T61" fmla="*/ 21 h 51"/>
              <a:gd name="T62" fmla="*/ 5 w 199"/>
              <a:gd name="T63" fmla="*/ 14 h 51"/>
              <a:gd name="T64" fmla="*/ 5 w 199"/>
              <a:gd name="T65" fmla="*/ 8 h 51"/>
              <a:gd name="T66" fmla="*/ 6 w 199"/>
              <a:gd name="T67" fmla="*/ 3 h 51"/>
              <a:gd name="T68" fmla="*/ 3 w 19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9" h="51">
                <a:moveTo>
                  <a:pt x="199" y="24"/>
                </a:moveTo>
                <a:lnTo>
                  <a:pt x="199" y="21"/>
                </a:lnTo>
                <a:lnTo>
                  <a:pt x="199" y="18"/>
                </a:lnTo>
                <a:lnTo>
                  <a:pt x="199" y="14"/>
                </a:lnTo>
                <a:lnTo>
                  <a:pt x="197" y="11"/>
                </a:lnTo>
                <a:lnTo>
                  <a:pt x="197" y="8"/>
                </a:lnTo>
                <a:lnTo>
                  <a:pt x="197" y="4"/>
                </a:lnTo>
                <a:lnTo>
                  <a:pt x="195" y="3"/>
                </a:lnTo>
                <a:lnTo>
                  <a:pt x="195" y="0"/>
                </a:lnTo>
                <a:lnTo>
                  <a:pt x="192" y="0"/>
                </a:lnTo>
                <a:lnTo>
                  <a:pt x="192" y="3"/>
                </a:lnTo>
                <a:lnTo>
                  <a:pt x="194" y="4"/>
                </a:lnTo>
                <a:lnTo>
                  <a:pt x="194" y="8"/>
                </a:lnTo>
                <a:lnTo>
                  <a:pt x="194" y="11"/>
                </a:lnTo>
                <a:lnTo>
                  <a:pt x="195" y="14"/>
                </a:lnTo>
                <a:lnTo>
                  <a:pt x="195" y="18"/>
                </a:lnTo>
                <a:lnTo>
                  <a:pt x="195" y="21"/>
                </a:lnTo>
                <a:lnTo>
                  <a:pt x="195" y="24"/>
                </a:lnTo>
                <a:lnTo>
                  <a:pt x="195" y="28"/>
                </a:lnTo>
                <a:lnTo>
                  <a:pt x="195" y="31"/>
                </a:lnTo>
                <a:lnTo>
                  <a:pt x="195" y="34"/>
                </a:lnTo>
                <a:lnTo>
                  <a:pt x="194" y="38"/>
                </a:lnTo>
                <a:lnTo>
                  <a:pt x="194" y="41"/>
                </a:lnTo>
                <a:lnTo>
                  <a:pt x="194" y="44"/>
                </a:lnTo>
                <a:lnTo>
                  <a:pt x="192" y="48"/>
                </a:lnTo>
                <a:lnTo>
                  <a:pt x="192" y="51"/>
                </a:lnTo>
                <a:lnTo>
                  <a:pt x="195" y="51"/>
                </a:lnTo>
                <a:lnTo>
                  <a:pt x="195" y="48"/>
                </a:lnTo>
                <a:lnTo>
                  <a:pt x="197" y="44"/>
                </a:lnTo>
                <a:lnTo>
                  <a:pt x="197" y="41"/>
                </a:lnTo>
                <a:lnTo>
                  <a:pt x="197" y="38"/>
                </a:lnTo>
                <a:lnTo>
                  <a:pt x="199" y="34"/>
                </a:lnTo>
                <a:lnTo>
                  <a:pt x="199" y="31"/>
                </a:lnTo>
                <a:lnTo>
                  <a:pt x="199" y="28"/>
                </a:lnTo>
                <a:lnTo>
                  <a:pt x="199" y="24"/>
                </a:lnTo>
                <a:close/>
                <a:moveTo>
                  <a:pt x="3"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5"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3" y="0"/>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93" name="Freeform 1998">
            <a:extLst>
              <a:ext uri="{FF2B5EF4-FFF2-40B4-BE49-F238E27FC236}">
                <a16:creationId xmlns:a16="http://schemas.microsoft.com/office/drawing/2014/main" id="{17710CE2-BCFC-2125-C07B-AAEE536144A9}"/>
              </a:ext>
            </a:extLst>
          </p:cNvPr>
          <p:cNvSpPr>
            <a:spLocks noEditPoints="1"/>
          </p:cNvSpPr>
          <p:nvPr/>
        </p:nvSpPr>
        <p:spPr bwMode="auto">
          <a:xfrm>
            <a:off x="2401888" y="2719388"/>
            <a:ext cx="311150" cy="80963"/>
          </a:xfrm>
          <a:custGeom>
            <a:avLst/>
            <a:gdLst>
              <a:gd name="T0" fmla="*/ 196 w 196"/>
              <a:gd name="T1" fmla="*/ 21 h 51"/>
              <a:gd name="T2" fmla="*/ 196 w 196"/>
              <a:gd name="T3" fmla="*/ 14 h 51"/>
              <a:gd name="T4" fmla="*/ 194 w 196"/>
              <a:gd name="T5" fmla="*/ 8 h 51"/>
              <a:gd name="T6" fmla="*/ 193 w 196"/>
              <a:gd name="T7" fmla="*/ 3 h 51"/>
              <a:gd name="T8" fmla="*/ 189 w 196"/>
              <a:gd name="T9" fmla="*/ 0 h 51"/>
              <a:gd name="T10" fmla="*/ 191 w 196"/>
              <a:gd name="T11" fmla="*/ 4 h 51"/>
              <a:gd name="T12" fmla="*/ 191 w 196"/>
              <a:gd name="T13" fmla="*/ 11 h 51"/>
              <a:gd name="T14" fmla="*/ 193 w 196"/>
              <a:gd name="T15" fmla="*/ 18 h 51"/>
              <a:gd name="T16" fmla="*/ 193 w 196"/>
              <a:gd name="T17" fmla="*/ 24 h 51"/>
              <a:gd name="T18" fmla="*/ 193 w 196"/>
              <a:gd name="T19" fmla="*/ 31 h 51"/>
              <a:gd name="T20" fmla="*/ 191 w 196"/>
              <a:gd name="T21" fmla="*/ 38 h 51"/>
              <a:gd name="T22" fmla="*/ 191 w 196"/>
              <a:gd name="T23" fmla="*/ 44 h 51"/>
              <a:gd name="T24" fmla="*/ 189 w 196"/>
              <a:gd name="T25" fmla="*/ 51 h 51"/>
              <a:gd name="T26" fmla="*/ 193 w 196"/>
              <a:gd name="T27" fmla="*/ 48 h 51"/>
              <a:gd name="T28" fmla="*/ 194 w 196"/>
              <a:gd name="T29" fmla="*/ 41 h 51"/>
              <a:gd name="T30" fmla="*/ 196 w 196"/>
              <a:gd name="T31" fmla="*/ 34 h 51"/>
              <a:gd name="T32" fmla="*/ 196 w 196"/>
              <a:gd name="T33" fmla="*/ 28 h 51"/>
              <a:gd name="T34" fmla="*/ 4 w 196"/>
              <a:gd name="T35" fmla="*/ 0 h 51"/>
              <a:gd name="T36" fmla="*/ 4 w 196"/>
              <a:gd name="T37" fmla="*/ 4 h 51"/>
              <a:gd name="T38" fmla="*/ 2 w 196"/>
              <a:gd name="T39" fmla="*/ 11 h 51"/>
              <a:gd name="T40" fmla="*/ 0 w 196"/>
              <a:gd name="T41" fmla="*/ 18 h 51"/>
              <a:gd name="T42" fmla="*/ 0 w 196"/>
              <a:gd name="T43" fmla="*/ 24 h 51"/>
              <a:gd name="T44" fmla="*/ 0 w 196"/>
              <a:gd name="T45" fmla="*/ 31 h 51"/>
              <a:gd name="T46" fmla="*/ 2 w 196"/>
              <a:gd name="T47" fmla="*/ 38 h 51"/>
              <a:gd name="T48" fmla="*/ 2 w 196"/>
              <a:gd name="T49" fmla="*/ 44 h 51"/>
              <a:gd name="T50" fmla="*/ 4 w 196"/>
              <a:gd name="T51" fmla="*/ 51 h 51"/>
              <a:gd name="T52" fmla="*/ 7 w 196"/>
              <a:gd name="T53" fmla="*/ 48 h 51"/>
              <a:gd name="T54" fmla="*/ 5 w 196"/>
              <a:gd name="T55" fmla="*/ 41 h 51"/>
              <a:gd name="T56" fmla="*/ 5 w 196"/>
              <a:gd name="T57" fmla="*/ 34 h 51"/>
              <a:gd name="T58" fmla="*/ 4 w 196"/>
              <a:gd name="T59" fmla="*/ 28 h 51"/>
              <a:gd name="T60" fmla="*/ 4 w 196"/>
              <a:gd name="T61" fmla="*/ 21 h 51"/>
              <a:gd name="T62" fmla="*/ 5 w 196"/>
              <a:gd name="T63" fmla="*/ 14 h 51"/>
              <a:gd name="T64" fmla="*/ 5 w 196"/>
              <a:gd name="T65" fmla="*/ 8 h 51"/>
              <a:gd name="T66" fmla="*/ 7 w 196"/>
              <a:gd name="T67" fmla="*/ 3 h 51"/>
              <a:gd name="T68" fmla="*/ 4 w 1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6" h="51">
                <a:moveTo>
                  <a:pt x="196" y="24"/>
                </a:moveTo>
                <a:lnTo>
                  <a:pt x="196" y="21"/>
                </a:lnTo>
                <a:lnTo>
                  <a:pt x="196" y="18"/>
                </a:lnTo>
                <a:lnTo>
                  <a:pt x="196" y="14"/>
                </a:lnTo>
                <a:lnTo>
                  <a:pt x="194" y="11"/>
                </a:lnTo>
                <a:lnTo>
                  <a:pt x="194" y="8"/>
                </a:lnTo>
                <a:lnTo>
                  <a:pt x="194" y="4"/>
                </a:lnTo>
                <a:lnTo>
                  <a:pt x="193" y="3"/>
                </a:lnTo>
                <a:lnTo>
                  <a:pt x="193" y="0"/>
                </a:lnTo>
                <a:lnTo>
                  <a:pt x="189" y="0"/>
                </a:lnTo>
                <a:lnTo>
                  <a:pt x="189" y="3"/>
                </a:lnTo>
                <a:lnTo>
                  <a:pt x="191" y="4"/>
                </a:lnTo>
                <a:lnTo>
                  <a:pt x="191" y="8"/>
                </a:lnTo>
                <a:lnTo>
                  <a:pt x="191" y="11"/>
                </a:lnTo>
                <a:lnTo>
                  <a:pt x="193" y="14"/>
                </a:lnTo>
                <a:lnTo>
                  <a:pt x="193" y="18"/>
                </a:lnTo>
                <a:lnTo>
                  <a:pt x="193" y="21"/>
                </a:lnTo>
                <a:lnTo>
                  <a:pt x="193" y="24"/>
                </a:lnTo>
                <a:lnTo>
                  <a:pt x="193" y="28"/>
                </a:lnTo>
                <a:lnTo>
                  <a:pt x="193" y="31"/>
                </a:lnTo>
                <a:lnTo>
                  <a:pt x="193" y="34"/>
                </a:lnTo>
                <a:lnTo>
                  <a:pt x="191" y="38"/>
                </a:lnTo>
                <a:lnTo>
                  <a:pt x="191" y="41"/>
                </a:lnTo>
                <a:lnTo>
                  <a:pt x="191" y="44"/>
                </a:lnTo>
                <a:lnTo>
                  <a:pt x="189" y="48"/>
                </a:lnTo>
                <a:lnTo>
                  <a:pt x="189" y="51"/>
                </a:lnTo>
                <a:lnTo>
                  <a:pt x="193" y="51"/>
                </a:lnTo>
                <a:lnTo>
                  <a:pt x="193" y="48"/>
                </a:lnTo>
                <a:lnTo>
                  <a:pt x="194" y="44"/>
                </a:lnTo>
                <a:lnTo>
                  <a:pt x="194" y="41"/>
                </a:lnTo>
                <a:lnTo>
                  <a:pt x="194" y="38"/>
                </a:lnTo>
                <a:lnTo>
                  <a:pt x="196" y="34"/>
                </a:lnTo>
                <a:lnTo>
                  <a:pt x="196" y="31"/>
                </a:lnTo>
                <a:lnTo>
                  <a:pt x="196" y="28"/>
                </a:lnTo>
                <a:lnTo>
                  <a:pt x="196" y="24"/>
                </a:lnTo>
                <a:close/>
                <a:moveTo>
                  <a:pt x="4"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4" y="48"/>
                </a:lnTo>
                <a:lnTo>
                  <a:pt x="4" y="51"/>
                </a:lnTo>
                <a:lnTo>
                  <a:pt x="7" y="51"/>
                </a:lnTo>
                <a:lnTo>
                  <a:pt x="7" y="48"/>
                </a:lnTo>
                <a:lnTo>
                  <a:pt x="5"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9" y="0"/>
                </a:lnTo>
                <a:lnTo>
                  <a:pt x="4"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94" name="Freeform 1999">
            <a:extLst>
              <a:ext uri="{FF2B5EF4-FFF2-40B4-BE49-F238E27FC236}">
                <a16:creationId xmlns:a16="http://schemas.microsoft.com/office/drawing/2014/main" id="{FB1A6AB9-0DF8-D7EF-2521-106A97262093}"/>
              </a:ext>
            </a:extLst>
          </p:cNvPr>
          <p:cNvSpPr>
            <a:spLocks noEditPoints="1"/>
          </p:cNvSpPr>
          <p:nvPr/>
        </p:nvSpPr>
        <p:spPr bwMode="auto">
          <a:xfrm>
            <a:off x="2405063" y="2719388"/>
            <a:ext cx="304800" cy="80963"/>
          </a:xfrm>
          <a:custGeom>
            <a:avLst/>
            <a:gdLst>
              <a:gd name="T0" fmla="*/ 192 w 192"/>
              <a:gd name="T1" fmla="*/ 21 h 51"/>
              <a:gd name="T2" fmla="*/ 192 w 192"/>
              <a:gd name="T3" fmla="*/ 14 h 51"/>
              <a:gd name="T4" fmla="*/ 191 w 192"/>
              <a:gd name="T5" fmla="*/ 8 h 51"/>
              <a:gd name="T6" fmla="*/ 189 w 192"/>
              <a:gd name="T7" fmla="*/ 3 h 51"/>
              <a:gd name="T8" fmla="*/ 186 w 192"/>
              <a:gd name="T9" fmla="*/ 0 h 51"/>
              <a:gd name="T10" fmla="*/ 187 w 192"/>
              <a:gd name="T11" fmla="*/ 4 h 51"/>
              <a:gd name="T12" fmla="*/ 187 w 192"/>
              <a:gd name="T13" fmla="*/ 11 h 51"/>
              <a:gd name="T14" fmla="*/ 189 w 192"/>
              <a:gd name="T15" fmla="*/ 18 h 51"/>
              <a:gd name="T16" fmla="*/ 189 w 192"/>
              <a:gd name="T17" fmla="*/ 24 h 51"/>
              <a:gd name="T18" fmla="*/ 189 w 192"/>
              <a:gd name="T19" fmla="*/ 31 h 51"/>
              <a:gd name="T20" fmla="*/ 187 w 192"/>
              <a:gd name="T21" fmla="*/ 38 h 51"/>
              <a:gd name="T22" fmla="*/ 187 w 192"/>
              <a:gd name="T23" fmla="*/ 44 h 51"/>
              <a:gd name="T24" fmla="*/ 186 w 192"/>
              <a:gd name="T25" fmla="*/ 51 h 51"/>
              <a:gd name="T26" fmla="*/ 189 w 192"/>
              <a:gd name="T27" fmla="*/ 48 h 51"/>
              <a:gd name="T28" fmla="*/ 191 w 192"/>
              <a:gd name="T29" fmla="*/ 41 h 51"/>
              <a:gd name="T30" fmla="*/ 192 w 192"/>
              <a:gd name="T31" fmla="*/ 34 h 51"/>
              <a:gd name="T32" fmla="*/ 192 w 192"/>
              <a:gd name="T33" fmla="*/ 28 h 51"/>
              <a:gd name="T34" fmla="*/ 5 w 192"/>
              <a:gd name="T35" fmla="*/ 0 h 51"/>
              <a:gd name="T36" fmla="*/ 3 w 192"/>
              <a:gd name="T37" fmla="*/ 4 h 51"/>
              <a:gd name="T38" fmla="*/ 2 w 192"/>
              <a:gd name="T39" fmla="*/ 11 h 51"/>
              <a:gd name="T40" fmla="*/ 0 w 192"/>
              <a:gd name="T41" fmla="*/ 18 h 51"/>
              <a:gd name="T42" fmla="*/ 0 w 192"/>
              <a:gd name="T43" fmla="*/ 24 h 51"/>
              <a:gd name="T44" fmla="*/ 0 w 192"/>
              <a:gd name="T45" fmla="*/ 31 h 51"/>
              <a:gd name="T46" fmla="*/ 2 w 192"/>
              <a:gd name="T47" fmla="*/ 38 h 51"/>
              <a:gd name="T48" fmla="*/ 2 w 192"/>
              <a:gd name="T49" fmla="*/ 44 h 51"/>
              <a:gd name="T50" fmla="*/ 3 w 192"/>
              <a:gd name="T51" fmla="*/ 51 h 51"/>
              <a:gd name="T52" fmla="*/ 7 w 192"/>
              <a:gd name="T53" fmla="*/ 48 h 51"/>
              <a:gd name="T54" fmla="*/ 5 w 192"/>
              <a:gd name="T55" fmla="*/ 41 h 51"/>
              <a:gd name="T56" fmla="*/ 5 w 192"/>
              <a:gd name="T57" fmla="*/ 34 h 51"/>
              <a:gd name="T58" fmla="*/ 3 w 192"/>
              <a:gd name="T59" fmla="*/ 28 h 51"/>
              <a:gd name="T60" fmla="*/ 3 w 192"/>
              <a:gd name="T61" fmla="*/ 21 h 51"/>
              <a:gd name="T62" fmla="*/ 5 w 192"/>
              <a:gd name="T63" fmla="*/ 14 h 51"/>
              <a:gd name="T64" fmla="*/ 5 w 192"/>
              <a:gd name="T65" fmla="*/ 8 h 51"/>
              <a:gd name="T66" fmla="*/ 7 w 192"/>
              <a:gd name="T67" fmla="*/ 3 h 51"/>
              <a:gd name="T68" fmla="*/ 5 w 19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92" h="51">
                <a:moveTo>
                  <a:pt x="192" y="24"/>
                </a:moveTo>
                <a:lnTo>
                  <a:pt x="192" y="21"/>
                </a:lnTo>
                <a:lnTo>
                  <a:pt x="192" y="18"/>
                </a:lnTo>
                <a:lnTo>
                  <a:pt x="192" y="14"/>
                </a:lnTo>
                <a:lnTo>
                  <a:pt x="191" y="11"/>
                </a:lnTo>
                <a:lnTo>
                  <a:pt x="191" y="8"/>
                </a:lnTo>
                <a:lnTo>
                  <a:pt x="191" y="4"/>
                </a:lnTo>
                <a:lnTo>
                  <a:pt x="189" y="3"/>
                </a:lnTo>
                <a:lnTo>
                  <a:pt x="189" y="0"/>
                </a:lnTo>
                <a:lnTo>
                  <a:pt x="186" y="0"/>
                </a:lnTo>
                <a:lnTo>
                  <a:pt x="186" y="3"/>
                </a:lnTo>
                <a:lnTo>
                  <a:pt x="187" y="4"/>
                </a:lnTo>
                <a:lnTo>
                  <a:pt x="187" y="8"/>
                </a:lnTo>
                <a:lnTo>
                  <a:pt x="187" y="11"/>
                </a:lnTo>
                <a:lnTo>
                  <a:pt x="189" y="14"/>
                </a:lnTo>
                <a:lnTo>
                  <a:pt x="189" y="18"/>
                </a:lnTo>
                <a:lnTo>
                  <a:pt x="189" y="21"/>
                </a:lnTo>
                <a:lnTo>
                  <a:pt x="189" y="24"/>
                </a:lnTo>
                <a:lnTo>
                  <a:pt x="189" y="28"/>
                </a:lnTo>
                <a:lnTo>
                  <a:pt x="189" y="31"/>
                </a:lnTo>
                <a:lnTo>
                  <a:pt x="189" y="34"/>
                </a:lnTo>
                <a:lnTo>
                  <a:pt x="187" y="38"/>
                </a:lnTo>
                <a:lnTo>
                  <a:pt x="187" y="41"/>
                </a:lnTo>
                <a:lnTo>
                  <a:pt x="187" y="44"/>
                </a:lnTo>
                <a:lnTo>
                  <a:pt x="186" y="48"/>
                </a:lnTo>
                <a:lnTo>
                  <a:pt x="186" y="51"/>
                </a:lnTo>
                <a:lnTo>
                  <a:pt x="189" y="51"/>
                </a:lnTo>
                <a:lnTo>
                  <a:pt x="189" y="48"/>
                </a:lnTo>
                <a:lnTo>
                  <a:pt x="191" y="44"/>
                </a:lnTo>
                <a:lnTo>
                  <a:pt x="191" y="41"/>
                </a:lnTo>
                <a:lnTo>
                  <a:pt x="191" y="38"/>
                </a:lnTo>
                <a:lnTo>
                  <a:pt x="192" y="34"/>
                </a:lnTo>
                <a:lnTo>
                  <a:pt x="192" y="31"/>
                </a:lnTo>
                <a:lnTo>
                  <a:pt x="192" y="28"/>
                </a:lnTo>
                <a:lnTo>
                  <a:pt x="19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2" y="44"/>
                </a:lnTo>
                <a:lnTo>
                  <a:pt x="3" y="48"/>
                </a:lnTo>
                <a:lnTo>
                  <a:pt x="3" y="51"/>
                </a:lnTo>
                <a:lnTo>
                  <a:pt x="7"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8"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95" name="Freeform 2000">
            <a:extLst>
              <a:ext uri="{FF2B5EF4-FFF2-40B4-BE49-F238E27FC236}">
                <a16:creationId xmlns:a16="http://schemas.microsoft.com/office/drawing/2014/main" id="{8D8FA9B3-EA0A-2FBA-FADA-7FC3B3F55076}"/>
              </a:ext>
            </a:extLst>
          </p:cNvPr>
          <p:cNvSpPr>
            <a:spLocks noEditPoints="1"/>
          </p:cNvSpPr>
          <p:nvPr/>
        </p:nvSpPr>
        <p:spPr bwMode="auto">
          <a:xfrm>
            <a:off x="2408238" y="2719388"/>
            <a:ext cx="300038" cy="80963"/>
          </a:xfrm>
          <a:custGeom>
            <a:avLst/>
            <a:gdLst>
              <a:gd name="T0" fmla="*/ 189 w 189"/>
              <a:gd name="T1" fmla="*/ 21 h 51"/>
              <a:gd name="T2" fmla="*/ 189 w 189"/>
              <a:gd name="T3" fmla="*/ 14 h 51"/>
              <a:gd name="T4" fmla="*/ 187 w 189"/>
              <a:gd name="T5" fmla="*/ 8 h 51"/>
              <a:gd name="T6" fmla="*/ 185 w 189"/>
              <a:gd name="T7" fmla="*/ 3 h 51"/>
              <a:gd name="T8" fmla="*/ 182 w 189"/>
              <a:gd name="T9" fmla="*/ 0 h 51"/>
              <a:gd name="T10" fmla="*/ 184 w 189"/>
              <a:gd name="T11" fmla="*/ 4 h 51"/>
              <a:gd name="T12" fmla="*/ 184 w 189"/>
              <a:gd name="T13" fmla="*/ 11 h 51"/>
              <a:gd name="T14" fmla="*/ 185 w 189"/>
              <a:gd name="T15" fmla="*/ 18 h 51"/>
              <a:gd name="T16" fmla="*/ 185 w 189"/>
              <a:gd name="T17" fmla="*/ 24 h 51"/>
              <a:gd name="T18" fmla="*/ 185 w 189"/>
              <a:gd name="T19" fmla="*/ 31 h 51"/>
              <a:gd name="T20" fmla="*/ 184 w 189"/>
              <a:gd name="T21" fmla="*/ 38 h 51"/>
              <a:gd name="T22" fmla="*/ 184 w 189"/>
              <a:gd name="T23" fmla="*/ 44 h 51"/>
              <a:gd name="T24" fmla="*/ 182 w 189"/>
              <a:gd name="T25" fmla="*/ 51 h 51"/>
              <a:gd name="T26" fmla="*/ 185 w 189"/>
              <a:gd name="T27" fmla="*/ 48 h 51"/>
              <a:gd name="T28" fmla="*/ 187 w 189"/>
              <a:gd name="T29" fmla="*/ 41 h 51"/>
              <a:gd name="T30" fmla="*/ 189 w 189"/>
              <a:gd name="T31" fmla="*/ 34 h 51"/>
              <a:gd name="T32" fmla="*/ 189 w 189"/>
              <a:gd name="T33" fmla="*/ 28 h 51"/>
              <a:gd name="T34" fmla="*/ 5 w 189"/>
              <a:gd name="T35" fmla="*/ 0 h 51"/>
              <a:gd name="T36" fmla="*/ 3 w 189"/>
              <a:gd name="T37" fmla="*/ 4 h 51"/>
              <a:gd name="T38" fmla="*/ 1 w 189"/>
              <a:gd name="T39" fmla="*/ 11 h 51"/>
              <a:gd name="T40" fmla="*/ 0 w 189"/>
              <a:gd name="T41" fmla="*/ 18 h 51"/>
              <a:gd name="T42" fmla="*/ 0 w 189"/>
              <a:gd name="T43" fmla="*/ 24 h 51"/>
              <a:gd name="T44" fmla="*/ 0 w 189"/>
              <a:gd name="T45" fmla="*/ 31 h 51"/>
              <a:gd name="T46" fmla="*/ 1 w 189"/>
              <a:gd name="T47" fmla="*/ 38 h 51"/>
              <a:gd name="T48" fmla="*/ 1 w 189"/>
              <a:gd name="T49" fmla="*/ 44 h 51"/>
              <a:gd name="T50" fmla="*/ 3 w 189"/>
              <a:gd name="T51" fmla="*/ 51 h 51"/>
              <a:gd name="T52" fmla="*/ 6 w 189"/>
              <a:gd name="T53" fmla="*/ 48 h 51"/>
              <a:gd name="T54" fmla="*/ 5 w 189"/>
              <a:gd name="T55" fmla="*/ 41 h 51"/>
              <a:gd name="T56" fmla="*/ 5 w 189"/>
              <a:gd name="T57" fmla="*/ 34 h 51"/>
              <a:gd name="T58" fmla="*/ 3 w 189"/>
              <a:gd name="T59" fmla="*/ 28 h 51"/>
              <a:gd name="T60" fmla="*/ 3 w 189"/>
              <a:gd name="T61" fmla="*/ 21 h 51"/>
              <a:gd name="T62" fmla="*/ 5 w 189"/>
              <a:gd name="T63" fmla="*/ 14 h 51"/>
              <a:gd name="T64" fmla="*/ 5 w 189"/>
              <a:gd name="T65" fmla="*/ 8 h 51"/>
              <a:gd name="T66" fmla="*/ 6 w 189"/>
              <a:gd name="T67" fmla="*/ 3 h 51"/>
              <a:gd name="T68" fmla="*/ 5 w 18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9" h="51">
                <a:moveTo>
                  <a:pt x="189" y="24"/>
                </a:moveTo>
                <a:lnTo>
                  <a:pt x="189" y="21"/>
                </a:lnTo>
                <a:lnTo>
                  <a:pt x="189" y="18"/>
                </a:lnTo>
                <a:lnTo>
                  <a:pt x="189" y="14"/>
                </a:lnTo>
                <a:lnTo>
                  <a:pt x="187" y="11"/>
                </a:lnTo>
                <a:lnTo>
                  <a:pt x="187" y="8"/>
                </a:lnTo>
                <a:lnTo>
                  <a:pt x="187" y="4"/>
                </a:lnTo>
                <a:lnTo>
                  <a:pt x="185" y="3"/>
                </a:lnTo>
                <a:lnTo>
                  <a:pt x="185" y="0"/>
                </a:lnTo>
                <a:lnTo>
                  <a:pt x="182" y="0"/>
                </a:lnTo>
                <a:lnTo>
                  <a:pt x="182" y="3"/>
                </a:lnTo>
                <a:lnTo>
                  <a:pt x="184" y="4"/>
                </a:lnTo>
                <a:lnTo>
                  <a:pt x="184" y="8"/>
                </a:lnTo>
                <a:lnTo>
                  <a:pt x="184" y="11"/>
                </a:lnTo>
                <a:lnTo>
                  <a:pt x="185" y="14"/>
                </a:lnTo>
                <a:lnTo>
                  <a:pt x="185" y="18"/>
                </a:lnTo>
                <a:lnTo>
                  <a:pt x="185" y="21"/>
                </a:lnTo>
                <a:lnTo>
                  <a:pt x="185" y="24"/>
                </a:lnTo>
                <a:lnTo>
                  <a:pt x="185" y="28"/>
                </a:lnTo>
                <a:lnTo>
                  <a:pt x="185" y="31"/>
                </a:lnTo>
                <a:lnTo>
                  <a:pt x="185" y="34"/>
                </a:lnTo>
                <a:lnTo>
                  <a:pt x="184" y="38"/>
                </a:lnTo>
                <a:lnTo>
                  <a:pt x="184" y="41"/>
                </a:lnTo>
                <a:lnTo>
                  <a:pt x="184" y="44"/>
                </a:lnTo>
                <a:lnTo>
                  <a:pt x="182" y="48"/>
                </a:lnTo>
                <a:lnTo>
                  <a:pt x="182" y="51"/>
                </a:lnTo>
                <a:lnTo>
                  <a:pt x="185" y="51"/>
                </a:lnTo>
                <a:lnTo>
                  <a:pt x="185" y="48"/>
                </a:lnTo>
                <a:lnTo>
                  <a:pt x="187" y="44"/>
                </a:lnTo>
                <a:lnTo>
                  <a:pt x="187" y="41"/>
                </a:lnTo>
                <a:lnTo>
                  <a:pt x="187" y="38"/>
                </a:lnTo>
                <a:lnTo>
                  <a:pt x="189" y="34"/>
                </a:lnTo>
                <a:lnTo>
                  <a:pt x="189" y="31"/>
                </a:lnTo>
                <a:lnTo>
                  <a:pt x="189" y="28"/>
                </a:lnTo>
                <a:lnTo>
                  <a:pt x="189" y="24"/>
                </a:lnTo>
                <a:close/>
                <a:moveTo>
                  <a:pt x="5"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1" y="44"/>
                </a:lnTo>
                <a:lnTo>
                  <a:pt x="3" y="48"/>
                </a:lnTo>
                <a:lnTo>
                  <a:pt x="3" y="51"/>
                </a:lnTo>
                <a:lnTo>
                  <a:pt x="6"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96" name="Freeform 2001">
            <a:extLst>
              <a:ext uri="{FF2B5EF4-FFF2-40B4-BE49-F238E27FC236}">
                <a16:creationId xmlns:a16="http://schemas.microsoft.com/office/drawing/2014/main" id="{8A2D0FCD-5BC3-3DBC-0D75-CF6D2BC562B4}"/>
              </a:ext>
            </a:extLst>
          </p:cNvPr>
          <p:cNvSpPr>
            <a:spLocks noEditPoints="1"/>
          </p:cNvSpPr>
          <p:nvPr/>
        </p:nvSpPr>
        <p:spPr bwMode="auto">
          <a:xfrm>
            <a:off x="2409825" y="2719388"/>
            <a:ext cx="295275" cy="80963"/>
          </a:xfrm>
          <a:custGeom>
            <a:avLst/>
            <a:gdLst>
              <a:gd name="T0" fmla="*/ 186 w 186"/>
              <a:gd name="T1" fmla="*/ 21 h 51"/>
              <a:gd name="T2" fmla="*/ 186 w 186"/>
              <a:gd name="T3" fmla="*/ 14 h 51"/>
              <a:gd name="T4" fmla="*/ 184 w 186"/>
              <a:gd name="T5" fmla="*/ 8 h 51"/>
              <a:gd name="T6" fmla="*/ 183 w 186"/>
              <a:gd name="T7" fmla="*/ 3 h 51"/>
              <a:gd name="T8" fmla="*/ 179 w 186"/>
              <a:gd name="T9" fmla="*/ 0 h 51"/>
              <a:gd name="T10" fmla="*/ 181 w 186"/>
              <a:gd name="T11" fmla="*/ 4 h 51"/>
              <a:gd name="T12" fmla="*/ 181 w 186"/>
              <a:gd name="T13" fmla="*/ 11 h 51"/>
              <a:gd name="T14" fmla="*/ 183 w 186"/>
              <a:gd name="T15" fmla="*/ 18 h 51"/>
              <a:gd name="T16" fmla="*/ 183 w 186"/>
              <a:gd name="T17" fmla="*/ 24 h 51"/>
              <a:gd name="T18" fmla="*/ 183 w 186"/>
              <a:gd name="T19" fmla="*/ 31 h 51"/>
              <a:gd name="T20" fmla="*/ 181 w 186"/>
              <a:gd name="T21" fmla="*/ 38 h 51"/>
              <a:gd name="T22" fmla="*/ 181 w 186"/>
              <a:gd name="T23" fmla="*/ 44 h 51"/>
              <a:gd name="T24" fmla="*/ 179 w 186"/>
              <a:gd name="T25" fmla="*/ 51 h 51"/>
              <a:gd name="T26" fmla="*/ 183 w 186"/>
              <a:gd name="T27" fmla="*/ 48 h 51"/>
              <a:gd name="T28" fmla="*/ 184 w 186"/>
              <a:gd name="T29" fmla="*/ 41 h 51"/>
              <a:gd name="T30" fmla="*/ 186 w 186"/>
              <a:gd name="T31" fmla="*/ 34 h 51"/>
              <a:gd name="T32" fmla="*/ 186 w 186"/>
              <a:gd name="T33" fmla="*/ 28 h 51"/>
              <a:gd name="T34" fmla="*/ 5 w 186"/>
              <a:gd name="T35" fmla="*/ 0 h 51"/>
              <a:gd name="T36" fmla="*/ 4 w 186"/>
              <a:gd name="T37" fmla="*/ 4 h 51"/>
              <a:gd name="T38" fmla="*/ 2 w 186"/>
              <a:gd name="T39" fmla="*/ 11 h 51"/>
              <a:gd name="T40" fmla="*/ 0 w 186"/>
              <a:gd name="T41" fmla="*/ 18 h 51"/>
              <a:gd name="T42" fmla="*/ 0 w 186"/>
              <a:gd name="T43" fmla="*/ 24 h 51"/>
              <a:gd name="T44" fmla="*/ 0 w 186"/>
              <a:gd name="T45" fmla="*/ 31 h 51"/>
              <a:gd name="T46" fmla="*/ 2 w 186"/>
              <a:gd name="T47" fmla="*/ 38 h 51"/>
              <a:gd name="T48" fmla="*/ 4 w 186"/>
              <a:gd name="T49" fmla="*/ 44 h 51"/>
              <a:gd name="T50" fmla="*/ 4 w 186"/>
              <a:gd name="T51" fmla="*/ 51 h 51"/>
              <a:gd name="T52" fmla="*/ 7 w 186"/>
              <a:gd name="T53" fmla="*/ 48 h 51"/>
              <a:gd name="T54" fmla="*/ 5 w 186"/>
              <a:gd name="T55" fmla="*/ 41 h 51"/>
              <a:gd name="T56" fmla="*/ 5 w 186"/>
              <a:gd name="T57" fmla="*/ 34 h 51"/>
              <a:gd name="T58" fmla="*/ 4 w 186"/>
              <a:gd name="T59" fmla="*/ 28 h 51"/>
              <a:gd name="T60" fmla="*/ 4 w 186"/>
              <a:gd name="T61" fmla="*/ 21 h 51"/>
              <a:gd name="T62" fmla="*/ 5 w 186"/>
              <a:gd name="T63" fmla="*/ 14 h 51"/>
              <a:gd name="T64" fmla="*/ 5 w 186"/>
              <a:gd name="T65" fmla="*/ 8 h 51"/>
              <a:gd name="T66" fmla="*/ 7 w 186"/>
              <a:gd name="T67" fmla="*/ 3 h 51"/>
              <a:gd name="T68" fmla="*/ 5 w 1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6" h="51">
                <a:moveTo>
                  <a:pt x="186" y="24"/>
                </a:moveTo>
                <a:lnTo>
                  <a:pt x="186" y="21"/>
                </a:lnTo>
                <a:lnTo>
                  <a:pt x="186" y="18"/>
                </a:lnTo>
                <a:lnTo>
                  <a:pt x="186" y="14"/>
                </a:lnTo>
                <a:lnTo>
                  <a:pt x="184" y="11"/>
                </a:lnTo>
                <a:lnTo>
                  <a:pt x="184" y="8"/>
                </a:lnTo>
                <a:lnTo>
                  <a:pt x="184" y="4"/>
                </a:lnTo>
                <a:lnTo>
                  <a:pt x="183" y="3"/>
                </a:lnTo>
                <a:lnTo>
                  <a:pt x="183" y="0"/>
                </a:lnTo>
                <a:lnTo>
                  <a:pt x="179" y="0"/>
                </a:lnTo>
                <a:lnTo>
                  <a:pt x="179" y="3"/>
                </a:lnTo>
                <a:lnTo>
                  <a:pt x="181" y="4"/>
                </a:lnTo>
                <a:lnTo>
                  <a:pt x="181" y="8"/>
                </a:lnTo>
                <a:lnTo>
                  <a:pt x="181" y="11"/>
                </a:lnTo>
                <a:lnTo>
                  <a:pt x="183" y="14"/>
                </a:lnTo>
                <a:lnTo>
                  <a:pt x="183" y="18"/>
                </a:lnTo>
                <a:lnTo>
                  <a:pt x="183" y="21"/>
                </a:lnTo>
                <a:lnTo>
                  <a:pt x="183" y="24"/>
                </a:lnTo>
                <a:lnTo>
                  <a:pt x="183" y="28"/>
                </a:lnTo>
                <a:lnTo>
                  <a:pt x="183" y="31"/>
                </a:lnTo>
                <a:lnTo>
                  <a:pt x="183" y="34"/>
                </a:lnTo>
                <a:lnTo>
                  <a:pt x="181" y="38"/>
                </a:lnTo>
                <a:lnTo>
                  <a:pt x="181" y="41"/>
                </a:lnTo>
                <a:lnTo>
                  <a:pt x="181" y="44"/>
                </a:lnTo>
                <a:lnTo>
                  <a:pt x="179" y="48"/>
                </a:lnTo>
                <a:lnTo>
                  <a:pt x="179" y="51"/>
                </a:lnTo>
                <a:lnTo>
                  <a:pt x="183" y="51"/>
                </a:lnTo>
                <a:lnTo>
                  <a:pt x="183" y="48"/>
                </a:lnTo>
                <a:lnTo>
                  <a:pt x="184" y="44"/>
                </a:lnTo>
                <a:lnTo>
                  <a:pt x="184" y="41"/>
                </a:lnTo>
                <a:lnTo>
                  <a:pt x="184" y="38"/>
                </a:lnTo>
                <a:lnTo>
                  <a:pt x="186" y="34"/>
                </a:lnTo>
                <a:lnTo>
                  <a:pt x="186" y="31"/>
                </a:lnTo>
                <a:lnTo>
                  <a:pt x="186" y="28"/>
                </a:lnTo>
                <a:lnTo>
                  <a:pt x="186" y="24"/>
                </a:lnTo>
                <a:close/>
                <a:moveTo>
                  <a:pt x="5"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4" y="51"/>
                </a:lnTo>
                <a:lnTo>
                  <a:pt x="7"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9"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97" name="Freeform 2002">
            <a:extLst>
              <a:ext uri="{FF2B5EF4-FFF2-40B4-BE49-F238E27FC236}">
                <a16:creationId xmlns:a16="http://schemas.microsoft.com/office/drawing/2014/main" id="{D1239C30-EB42-7A40-8EF3-8D2CEA135580}"/>
              </a:ext>
            </a:extLst>
          </p:cNvPr>
          <p:cNvSpPr>
            <a:spLocks noEditPoints="1"/>
          </p:cNvSpPr>
          <p:nvPr/>
        </p:nvSpPr>
        <p:spPr bwMode="auto">
          <a:xfrm>
            <a:off x="2413000" y="2719388"/>
            <a:ext cx="288925" cy="80963"/>
          </a:xfrm>
          <a:custGeom>
            <a:avLst/>
            <a:gdLst>
              <a:gd name="T0" fmla="*/ 182 w 182"/>
              <a:gd name="T1" fmla="*/ 21 h 51"/>
              <a:gd name="T2" fmla="*/ 182 w 182"/>
              <a:gd name="T3" fmla="*/ 14 h 51"/>
              <a:gd name="T4" fmla="*/ 181 w 182"/>
              <a:gd name="T5" fmla="*/ 8 h 51"/>
              <a:gd name="T6" fmla="*/ 179 w 182"/>
              <a:gd name="T7" fmla="*/ 3 h 51"/>
              <a:gd name="T8" fmla="*/ 174 w 182"/>
              <a:gd name="T9" fmla="*/ 0 h 51"/>
              <a:gd name="T10" fmla="*/ 177 w 182"/>
              <a:gd name="T11" fmla="*/ 4 h 51"/>
              <a:gd name="T12" fmla="*/ 177 w 182"/>
              <a:gd name="T13" fmla="*/ 11 h 51"/>
              <a:gd name="T14" fmla="*/ 179 w 182"/>
              <a:gd name="T15" fmla="*/ 18 h 51"/>
              <a:gd name="T16" fmla="*/ 179 w 182"/>
              <a:gd name="T17" fmla="*/ 24 h 51"/>
              <a:gd name="T18" fmla="*/ 179 w 182"/>
              <a:gd name="T19" fmla="*/ 31 h 51"/>
              <a:gd name="T20" fmla="*/ 177 w 182"/>
              <a:gd name="T21" fmla="*/ 38 h 51"/>
              <a:gd name="T22" fmla="*/ 177 w 182"/>
              <a:gd name="T23" fmla="*/ 44 h 51"/>
              <a:gd name="T24" fmla="*/ 176 w 182"/>
              <a:gd name="T25" fmla="*/ 51 h 51"/>
              <a:gd name="T26" fmla="*/ 179 w 182"/>
              <a:gd name="T27" fmla="*/ 48 h 51"/>
              <a:gd name="T28" fmla="*/ 181 w 182"/>
              <a:gd name="T29" fmla="*/ 41 h 51"/>
              <a:gd name="T30" fmla="*/ 182 w 182"/>
              <a:gd name="T31" fmla="*/ 34 h 51"/>
              <a:gd name="T32" fmla="*/ 182 w 182"/>
              <a:gd name="T33" fmla="*/ 28 h 51"/>
              <a:gd name="T34" fmla="*/ 5 w 182"/>
              <a:gd name="T35" fmla="*/ 0 h 51"/>
              <a:gd name="T36" fmla="*/ 3 w 182"/>
              <a:gd name="T37" fmla="*/ 4 h 51"/>
              <a:gd name="T38" fmla="*/ 2 w 182"/>
              <a:gd name="T39" fmla="*/ 11 h 51"/>
              <a:gd name="T40" fmla="*/ 0 w 182"/>
              <a:gd name="T41" fmla="*/ 18 h 51"/>
              <a:gd name="T42" fmla="*/ 0 w 182"/>
              <a:gd name="T43" fmla="*/ 24 h 51"/>
              <a:gd name="T44" fmla="*/ 0 w 182"/>
              <a:gd name="T45" fmla="*/ 31 h 51"/>
              <a:gd name="T46" fmla="*/ 2 w 182"/>
              <a:gd name="T47" fmla="*/ 38 h 51"/>
              <a:gd name="T48" fmla="*/ 3 w 182"/>
              <a:gd name="T49" fmla="*/ 44 h 51"/>
              <a:gd name="T50" fmla="*/ 3 w 182"/>
              <a:gd name="T51" fmla="*/ 51 h 51"/>
              <a:gd name="T52" fmla="*/ 7 w 182"/>
              <a:gd name="T53" fmla="*/ 48 h 51"/>
              <a:gd name="T54" fmla="*/ 5 w 182"/>
              <a:gd name="T55" fmla="*/ 41 h 51"/>
              <a:gd name="T56" fmla="*/ 5 w 182"/>
              <a:gd name="T57" fmla="*/ 34 h 51"/>
              <a:gd name="T58" fmla="*/ 3 w 182"/>
              <a:gd name="T59" fmla="*/ 28 h 51"/>
              <a:gd name="T60" fmla="*/ 3 w 182"/>
              <a:gd name="T61" fmla="*/ 21 h 51"/>
              <a:gd name="T62" fmla="*/ 5 w 182"/>
              <a:gd name="T63" fmla="*/ 14 h 51"/>
              <a:gd name="T64" fmla="*/ 5 w 182"/>
              <a:gd name="T65" fmla="*/ 8 h 51"/>
              <a:gd name="T66" fmla="*/ 7 w 182"/>
              <a:gd name="T67" fmla="*/ 3 h 51"/>
              <a:gd name="T68" fmla="*/ 5 w 18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2" h="51">
                <a:moveTo>
                  <a:pt x="182" y="24"/>
                </a:moveTo>
                <a:lnTo>
                  <a:pt x="182" y="21"/>
                </a:lnTo>
                <a:lnTo>
                  <a:pt x="182" y="18"/>
                </a:lnTo>
                <a:lnTo>
                  <a:pt x="182" y="14"/>
                </a:lnTo>
                <a:lnTo>
                  <a:pt x="181" y="11"/>
                </a:lnTo>
                <a:lnTo>
                  <a:pt x="181" y="8"/>
                </a:lnTo>
                <a:lnTo>
                  <a:pt x="181" y="4"/>
                </a:lnTo>
                <a:lnTo>
                  <a:pt x="179" y="3"/>
                </a:lnTo>
                <a:lnTo>
                  <a:pt x="179" y="0"/>
                </a:lnTo>
                <a:lnTo>
                  <a:pt x="174" y="0"/>
                </a:lnTo>
                <a:lnTo>
                  <a:pt x="176" y="3"/>
                </a:lnTo>
                <a:lnTo>
                  <a:pt x="177" y="4"/>
                </a:lnTo>
                <a:lnTo>
                  <a:pt x="177" y="8"/>
                </a:lnTo>
                <a:lnTo>
                  <a:pt x="177" y="11"/>
                </a:lnTo>
                <a:lnTo>
                  <a:pt x="179" y="14"/>
                </a:lnTo>
                <a:lnTo>
                  <a:pt x="179" y="18"/>
                </a:lnTo>
                <a:lnTo>
                  <a:pt x="179" y="21"/>
                </a:lnTo>
                <a:lnTo>
                  <a:pt x="179" y="24"/>
                </a:lnTo>
                <a:lnTo>
                  <a:pt x="179" y="28"/>
                </a:lnTo>
                <a:lnTo>
                  <a:pt x="179" y="31"/>
                </a:lnTo>
                <a:lnTo>
                  <a:pt x="179" y="34"/>
                </a:lnTo>
                <a:lnTo>
                  <a:pt x="177" y="38"/>
                </a:lnTo>
                <a:lnTo>
                  <a:pt x="177" y="41"/>
                </a:lnTo>
                <a:lnTo>
                  <a:pt x="177" y="44"/>
                </a:lnTo>
                <a:lnTo>
                  <a:pt x="176" y="48"/>
                </a:lnTo>
                <a:lnTo>
                  <a:pt x="176" y="51"/>
                </a:lnTo>
                <a:lnTo>
                  <a:pt x="179" y="51"/>
                </a:lnTo>
                <a:lnTo>
                  <a:pt x="179" y="48"/>
                </a:lnTo>
                <a:lnTo>
                  <a:pt x="181" y="44"/>
                </a:lnTo>
                <a:lnTo>
                  <a:pt x="181" y="41"/>
                </a:lnTo>
                <a:lnTo>
                  <a:pt x="181" y="38"/>
                </a:lnTo>
                <a:lnTo>
                  <a:pt x="182" y="34"/>
                </a:lnTo>
                <a:lnTo>
                  <a:pt x="182" y="31"/>
                </a:lnTo>
                <a:lnTo>
                  <a:pt x="182" y="28"/>
                </a:lnTo>
                <a:lnTo>
                  <a:pt x="18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3" y="51"/>
                </a:lnTo>
                <a:lnTo>
                  <a:pt x="8"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8"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98" name="Freeform 2003">
            <a:extLst>
              <a:ext uri="{FF2B5EF4-FFF2-40B4-BE49-F238E27FC236}">
                <a16:creationId xmlns:a16="http://schemas.microsoft.com/office/drawing/2014/main" id="{79E8A44C-035D-4936-E72A-DA851170BD88}"/>
              </a:ext>
            </a:extLst>
          </p:cNvPr>
          <p:cNvSpPr>
            <a:spLocks noEditPoints="1"/>
          </p:cNvSpPr>
          <p:nvPr/>
        </p:nvSpPr>
        <p:spPr bwMode="auto">
          <a:xfrm>
            <a:off x="2416175" y="2719388"/>
            <a:ext cx="284163" cy="80963"/>
          </a:xfrm>
          <a:custGeom>
            <a:avLst/>
            <a:gdLst>
              <a:gd name="T0" fmla="*/ 179 w 179"/>
              <a:gd name="T1" fmla="*/ 21 h 51"/>
              <a:gd name="T2" fmla="*/ 179 w 179"/>
              <a:gd name="T3" fmla="*/ 14 h 51"/>
              <a:gd name="T4" fmla="*/ 177 w 179"/>
              <a:gd name="T5" fmla="*/ 8 h 51"/>
              <a:gd name="T6" fmla="*/ 175 w 179"/>
              <a:gd name="T7" fmla="*/ 3 h 51"/>
              <a:gd name="T8" fmla="*/ 170 w 179"/>
              <a:gd name="T9" fmla="*/ 0 h 51"/>
              <a:gd name="T10" fmla="*/ 172 w 179"/>
              <a:gd name="T11" fmla="*/ 4 h 51"/>
              <a:gd name="T12" fmla="*/ 174 w 179"/>
              <a:gd name="T13" fmla="*/ 11 h 51"/>
              <a:gd name="T14" fmla="*/ 175 w 179"/>
              <a:gd name="T15" fmla="*/ 18 h 51"/>
              <a:gd name="T16" fmla="*/ 175 w 179"/>
              <a:gd name="T17" fmla="*/ 24 h 51"/>
              <a:gd name="T18" fmla="*/ 175 w 179"/>
              <a:gd name="T19" fmla="*/ 31 h 51"/>
              <a:gd name="T20" fmla="*/ 174 w 179"/>
              <a:gd name="T21" fmla="*/ 38 h 51"/>
              <a:gd name="T22" fmla="*/ 174 w 179"/>
              <a:gd name="T23" fmla="*/ 44 h 51"/>
              <a:gd name="T24" fmla="*/ 172 w 179"/>
              <a:gd name="T25" fmla="*/ 51 h 51"/>
              <a:gd name="T26" fmla="*/ 175 w 179"/>
              <a:gd name="T27" fmla="*/ 48 h 51"/>
              <a:gd name="T28" fmla="*/ 177 w 179"/>
              <a:gd name="T29" fmla="*/ 41 h 51"/>
              <a:gd name="T30" fmla="*/ 179 w 179"/>
              <a:gd name="T31" fmla="*/ 34 h 51"/>
              <a:gd name="T32" fmla="*/ 179 w 179"/>
              <a:gd name="T33" fmla="*/ 28 h 51"/>
              <a:gd name="T34" fmla="*/ 5 w 179"/>
              <a:gd name="T35" fmla="*/ 0 h 51"/>
              <a:gd name="T36" fmla="*/ 3 w 179"/>
              <a:gd name="T37" fmla="*/ 4 h 51"/>
              <a:gd name="T38" fmla="*/ 1 w 179"/>
              <a:gd name="T39" fmla="*/ 11 h 51"/>
              <a:gd name="T40" fmla="*/ 0 w 179"/>
              <a:gd name="T41" fmla="*/ 18 h 51"/>
              <a:gd name="T42" fmla="*/ 0 w 179"/>
              <a:gd name="T43" fmla="*/ 24 h 51"/>
              <a:gd name="T44" fmla="*/ 0 w 179"/>
              <a:gd name="T45" fmla="*/ 31 h 51"/>
              <a:gd name="T46" fmla="*/ 1 w 179"/>
              <a:gd name="T47" fmla="*/ 38 h 51"/>
              <a:gd name="T48" fmla="*/ 3 w 179"/>
              <a:gd name="T49" fmla="*/ 44 h 51"/>
              <a:gd name="T50" fmla="*/ 3 w 179"/>
              <a:gd name="T51" fmla="*/ 51 h 51"/>
              <a:gd name="T52" fmla="*/ 6 w 179"/>
              <a:gd name="T53" fmla="*/ 48 h 51"/>
              <a:gd name="T54" fmla="*/ 5 w 179"/>
              <a:gd name="T55" fmla="*/ 41 h 51"/>
              <a:gd name="T56" fmla="*/ 5 w 179"/>
              <a:gd name="T57" fmla="*/ 34 h 51"/>
              <a:gd name="T58" fmla="*/ 3 w 179"/>
              <a:gd name="T59" fmla="*/ 28 h 51"/>
              <a:gd name="T60" fmla="*/ 3 w 179"/>
              <a:gd name="T61" fmla="*/ 21 h 51"/>
              <a:gd name="T62" fmla="*/ 5 w 179"/>
              <a:gd name="T63" fmla="*/ 14 h 51"/>
              <a:gd name="T64" fmla="*/ 5 w 179"/>
              <a:gd name="T65" fmla="*/ 8 h 51"/>
              <a:gd name="T66" fmla="*/ 6 w 179"/>
              <a:gd name="T67" fmla="*/ 3 h 51"/>
              <a:gd name="T68" fmla="*/ 5 w 17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9" h="51">
                <a:moveTo>
                  <a:pt x="179" y="24"/>
                </a:moveTo>
                <a:lnTo>
                  <a:pt x="179" y="21"/>
                </a:lnTo>
                <a:lnTo>
                  <a:pt x="179" y="18"/>
                </a:lnTo>
                <a:lnTo>
                  <a:pt x="179" y="14"/>
                </a:lnTo>
                <a:lnTo>
                  <a:pt x="177" y="11"/>
                </a:lnTo>
                <a:lnTo>
                  <a:pt x="177" y="8"/>
                </a:lnTo>
                <a:lnTo>
                  <a:pt x="177" y="4"/>
                </a:lnTo>
                <a:lnTo>
                  <a:pt x="175" y="3"/>
                </a:lnTo>
                <a:lnTo>
                  <a:pt x="175" y="0"/>
                </a:lnTo>
                <a:lnTo>
                  <a:pt x="170" y="0"/>
                </a:lnTo>
                <a:lnTo>
                  <a:pt x="172" y="3"/>
                </a:lnTo>
                <a:lnTo>
                  <a:pt x="172" y="4"/>
                </a:lnTo>
                <a:lnTo>
                  <a:pt x="174" y="8"/>
                </a:lnTo>
                <a:lnTo>
                  <a:pt x="174" y="11"/>
                </a:lnTo>
                <a:lnTo>
                  <a:pt x="175" y="14"/>
                </a:lnTo>
                <a:lnTo>
                  <a:pt x="175" y="18"/>
                </a:lnTo>
                <a:lnTo>
                  <a:pt x="175" y="21"/>
                </a:lnTo>
                <a:lnTo>
                  <a:pt x="175" y="24"/>
                </a:lnTo>
                <a:lnTo>
                  <a:pt x="175" y="28"/>
                </a:lnTo>
                <a:lnTo>
                  <a:pt x="175" y="31"/>
                </a:lnTo>
                <a:lnTo>
                  <a:pt x="175" y="34"/>
                </a:lnTo>
                <a:lnTo>
                  <a:pt x="174" y="38"/>
                </a:lnTo>
                <a:lnTo>
                  <a:pt x="174" y="41"/>
                </a:lnTo>
                <a:lnTo>
                  <a:pt x="174" y="44"/>
                </a:lnTo>
                <a:lnTo>
                  <a:pt x="172" y="48"/>
                </a:lnTo>
                <a:lnTo>
                  <a:pt x="172" y="51"/>
                </a:lnTo>
                <a:lnTo>
                  <a:pt x="175" y="51"/>
                </a:lnTo>
                <a:lnTo>
                  <a:pt x="175" y="48"/>
                </a:lnTo>
                <a:lnTo>
                  <a:pt x="177" y="44"/>
                </a:lnTo>
                <a:lnTo>
                  <a:pt x="177" y="41"/>
                </a:lnTo>
                <a:lnTo>
                  <a:pt x="177" y="38"/>
                </a:lnTo>
                <a:lnTo>
                  <a:pt x="179" y="34"/>
                </a:lnTo>
                <a:lnTo>
                  <a:pt x="179" y="31"/>
                </a:lnTo>
                <a:lnTo>
                  <a:pt x="179" y="28"/>
                </a:lnTo>
                <a:lnTo>
                  <a:pt x="179" y="24"/>
                </a:lnTo>
                <a:close/>
                <a:moveTo>
                  <a:pt x="5"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3" y="51"/>
                </a:lnTo>
                <a:lnTo>
                  <a:pt x="8"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5" y="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799" name="Freeform 2004">
            <a:extLst>
              <a:ext uri="{FF2B5EF4-FFF2-40B4-BE49-F238E27FC236}">
                <a16:creationId xmlns:a16="http://schemas.microsoft.com/office/drawing/2014/main" id="{ADE10DEF-2699-C3EF-06B7-EA068D1BB0FB}"/>
              </a:ext>
            </a:extLst>
          </p:cNvPr>
          <p:cNvSpPr>
            <a:spLocks noEditPoints="1"/>
          </p:cNvSpPr>
          <p:nvPr/>
        </p:nvSpPr>
        <p:spPr bwMode="auto">
          <a:xfrm>
            <a:off x="2417763" y="2719388"/>
            <a:ext cx="279400" cy="80963"/>
          </a:xfrm>
          <a:custGeom>
            <a:avLst/>
            <a:gdLst>
              <a:gd name="T0" fmla="*/ 176 w 176"/>
              <a:gd name="T1" fmla="*/ 21 h 51"/>
              <a:gd name="T2" fmla="*/ 176 w 176"/>
              <a:gd name="T3" fmla="*/ 14 h 51"/>
              <a:gd name="T4" fmla="*/ 174 w 176"/>
              <a:gd name="T5" fmla="*/ 8 h 51"/>
              <a:gd name="T6" fmla="*/ 173 w 176"/>
              <a:gd name="T7" fmla="*/ 3 h 51"/>
              <a:gd name="T8" fmla="*/ 168 w 176"/>
              <a:gd name="T9" fmla="*/ 0 h 51"/>
              <a:gd name="T10" fmla="*/ 169 w 176"/>
              <a:gd name="T11" fmla="*/ 4 h 51"/>
              <a:gd name="T12" fmla="*/ 171 w 176"/>
              <a:gd name="T13" fmla="*/ 11 h 51"/>
              <a:gd name="T14" fmla="*/ 173 w 176"/>
              <a:gd name="T15" fmla="*/ 18 h 51"/>
              <a:gd name="T16" fmla="*/ 173 w 176"/>
              <a:gd name="T17" fmla="*/ 24 h 51"/>
              <a:gd name="T18" fmla="*/ 173 w 176"/>
              <a:gd name="T19" fmla="*/ 31 h 51"/>
              <a:gd name="T20" fmla="*/ 171 w 176"/>
              <a:gd name="T21" fmla="*/ 38 h 51"/>
              <a:gd name="T22" fmla="*/ 171 w 176"/>
              <a:gd name="T23" fmla="*/ 44 h 51"/>
              <a:gd name="T24" fmla="*/ 169 w 176"/>
              <a:gd name="T25" fmla="*/ 51 h 51"/>
              <a:gd name="T26" fmla="*/ 173 w 176"/>
              <a:gd name="T27" fmla="*/ 48 h 51"/>
              <a:gd name="T28" fmla="*/ 174 w 176"/>
              <a:gd name="T29" fmla="*/ 41 h 51"/>
              <a:gd name="T30" fmla="*/ 176 w 176"/>
              <a:gd name="T31" fmla="*/ 34 h 51"/>
              <a:gd name="T32" fmla="*/ 176 w 176"/>
              <a:gd name="T33" fmla="*/ 28 h 51"/>
              <a:gd name="T34" fmla="*/ 5 w 176"/>
              <a:gd name="T35" fmla="*/ 0 h 51"/>
              <a:gd name="T36" fmla="*/ 4 w 176"/>
              <a:gd name="T37" fmla="*/ 4 h 51"/>
              <a:gd name="T38" fmla="*/ 2 w 176"/>
              <a:gd name="T39" fmla="*/ 11 h 51"/>
              <a:gd name="T40" fmla="*/ 0 w 176"/>
              <a:gd name="T41" fmla="*/ 18 h 51"/>
              <a:gd name="T42" fmla="*/ 0 w 176"/>
              <a:gd name="T43" fmla="*/ 24 h 51"/>
              <a:gd name="T44" fmla="*/ 0 w 176"/>
              <a:gd name="T45" fmla="*/ 31 h 51"/>
              <a:gd name="T46" fmla="*/ 2 w 176"/>
              <a:gd name="T47" fmla="*/ 38 h 51"/>
              <a:gd name="T48" fmla="*/ 4 w 176"/>
              <a:gd name="T49" fmla="*/ 44 h 51"/>
              <a:gd name="T50" fmla="*/ 5 w 176"/>
              <a:gd name="T51" fmla="*/ 51 h 51"/>
              <a:gd name="T52" fmla="*/ 7 w 176"/>
              <a:gd name="T53" fmla="*/ 48 h 51"/>
              <a:gd name="T54" fmla="*/ 5 w 176"/>
              <a:gd name="T55" fmla="*/ 41 h 51"/>
              <a:gd name="T56" fmla="*/ 5 w 176"/>
              <a:gd name="T57" fmla="*/ 34 h 51"/>
              <a:gd name="T58" fmla="*/ 4 w 176"/>
              <a:gd name="T59" fmla="*/ 28 h 51"/>
              <a:gd name="T60" fmla="*/ 4 w 176"/>
              <a:gd name="T61" fmla="*/ 21 h 51"/>
              <a:gd name="T62" fmla="*/ 5 w 176"/>
              <a:gd name="T63" fmla="*/ 14 h 51"/>
              <a:gd name="T64" fmla="*/ 5 w 176"/>
              <a:gd name="T65" fmla="*/ 8 h 51"/>
              <a:gd name="T66" fmla="*/ 7 w 176"/>
              <a:gd name="T67" fmla="*/ 3 h 51"/>
              <a:gd name="T68" fmla="*/ 5 w 1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6" h="51">
                <a:moveTo>
                  <a:pt x="176" y="24"/>
                </a:moveTo>
                <a:lnTo>
                  <a:pt x="176" y="21"/>
                </a:lnTo>
                <a:lnTo>
                  <a:pt x="176" y="18"/>
                </a:lnTo>
                <a:lnTo>
                  <a:pt x="176" y="14"/>
                </a:lnTo>
                <a:lnTo>
                  <a:pt x="174" y="11"/>
                </a:lnTo>
                <a:lnTo>
                  <a:pt x="174" y="8"/>
                </a:lnTo>
                <a:lnTo>
                  <a:pt x="174" y="4"/>
                </a:lnTo>
                <a:lnTo>
                  <a:pt x="173" y="3"/>
                </a:lnTo>
                <a:lnTo>
                  <a:pt x="171" y="0"/>
                </a:lnTo>
                <a:lnTo>
                  <a:pt x="168" y="0"/>
                </a:lnTo>
                <a:lnTo>
                  <a:pt x="169" y="3"/>
                </a:lnTo>
                <a:lnTo>
                  <a:pt x="169" y="4"/>
                </a:lnTo>
                <a:lnTo>
                  <a:pt x="171" y="8"/>
                </a:lnTo>
                <a:lnTo>
                  <a:pt x="171" y="11"/>
                </a:lnTo>
                <a:lnTo>
                  <a:pt x="173" y="14"/>
                </a:lnTo>
                <a:lnTo>
                  <a:pt x="173" y="18"/>
                </a:lnTo>
                <a:lnTo>
                  <a:pt x="173" y="21"/>
                </a:lnTo>
                <a:lnTo>
                  <a:pt x="173" y="24"/>
                </a:lnTo>
                <a:lnTo>
                  <a:pt x="173" y="28"/>
                </a:lnTo>
                <a:lnTo>
                  <a:pt x="173" y="31"/>
                </a:lnTo>
                <a:lnTo>
                  <a:pt x="173" y="34"/>
                </a:lnTo>
                <a:lnTo>
                  <a:pt x="171" y="38"/>
                </a:lnTo>
                <a:lnTo>
                  <a:pt x="171" y="41"/>
                </a:lnTo>
                <a:lnTo>
                  <a:pt x="171" y="44"/>
                </a:lnTo>
                <a:lnTo>
                  <a:pt x="169" y="48"/>
                </a:lnTo>
                <a:lnTo>
                  <a:pt x="169" y="51"/>
                </a:lnTo>
                <a:lnTo>
                  <a:pt x="173" y="51"/>
                </a:lnTo>
                <a:lnTo>
                  <a:pt x="173" y="48"/>
                </a:lnTo>
                <a:lnTo>
                  <a:pt x="174" y="44"/>
                </a:lnTo>
                <a:lnTo>
                  <a:pt x="174" y="41"/>
                </a:lnTo>
                <a:lnTo>
                  <a:pt x="174" y="38"/>
                </a:lnTo>
                <a:lnTo>
                  <a:pt x="176" y="34"/>
                </a:lnTo>
                <a:lnTo>
                  <a:pt x="176" y="31"/>
                </a:lnTo>
                <a:lnTo>
                  <a:pt x="176" y="28"/>
                </a:lnTo>
                <a:lnTo>
                  <a:pt x="176" y="24"/>
                </a:lnTo>
                <a:close/>
                <a:moveTo>
                  <a:pt x="5"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5" y="51"/>
                </a:lnTo>
                <a:lnTo>
                  <a:pt x="9"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9"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00" name="Freeform 2005">
            <a:extLst>
              <a:ext uri="{FF2B5EF4-FFF2-40B4-BE49-F238E27FC236}">
                <a16:creationId xmlns:a16="http://schemas.microsoft.com/office/drawing/2014/main" id="{0BE4D743-7F3F-75CB-8F65-9C885BA424FF}"/>
              </a:ext>
            </a:extLst>
          </p:cNvPr>
          <p:cNvSpPr>
            <a:spLocks noEditPoints="1"/>
          </p:cNvSpPr>
          <p:nvPr/>
        </p:nvSpPr>
        <p:spPr bwMode="auto">
          <a:xfrm>
            <a:off x="2420938" y="2719388"/>
            <a:ext cx="273050" cy="80963"/>
          </a:xfrm>
          <a:custGeom>
            <a:avLst/>
            <a:gdLst>
              <a:gd name="T0" fmla="*/ 172 w 172"/>
              <a:gd name="T1" fmla="*/ 21 h 51"/>
              <a:gd name="T2" fmla="*/ 172 w 172"/>
              <a:gd name="T3" fmla="*/ 14 h 51"/>
              <a:gd name="T4" fmla="*/ 171 w 172"/>
              <a:gd name="T5" fmla="*/ 8 h 51"/>
              <a:gd name="T6" fmla="*/ 169 w 172"/>
              <a:gd name="T7" fmla="*/ 3 h 51"/>
              <a:gd name="T8" fmla="*/ 164 w 172"/>
              <a:gd name="T9" fmla="*/ 0 h 51"/>
              <a:gd name="T10" fmla="*/ 166 w 172"/>
              <a:gd name="T11" fmla="*/ 4 h 51"/>
              <a:gd name="T12" fmla="*/ 167 w 172"/>
              <a:gd name="T13" fmla="*/ 11 h 51"/>
              <a:gd name="T14" fmla="*/ 169 w 172"/>
              <a:gd name="T15" fmla="*/ 18 h 51"/>
              <a:gd name="T16" fmla="*/ 169 w 172"/>
              <a:gd name="T17" fmla="*/ 24 h 51"/>
              <a:gd name="T18" fmla="*/ 169 w 172"/>
              <a:gd name="T19" fmla="*/ 31 h 51"/>
              <a:gd name="T20" fmla="*/ 167 w 172"/>
              <a:gd name="T21" fmla="*/ 38 h 51"/>
              <a:gd name="T22" fmla="*/ 167 w 172"/>
              <a:gd name="T23" fmla="*/ 44 h 51"/>
              <a:gd name="T24" fmla="*/ 166 w 172"/>
              <a:gd name="T25" fmla="*/ 51 h 51"/>
              <a:gd name="T26" fmla="*/ 169 w 172"/>
              <a:gd name="T27" fmla="*/ 48 h 51"/>
              <a:gd name="T28" fmla="*/ 171 w 172"/>
              <a:gd name="T29" fmla="*/ 41 h 51"/>
              <a:gd name="T30" fmla="*/ 172 w 172"/>
              <a:gd name="T31" fmla="*/ 34 h 51"/>
              <a:gd name="T32" fmla="*/ 172 w 172"/>
              <a:gd name="T33" fmla="*/ 28 h 51"/>
              <a:gd name="T34" fmla="*/ 5 w 172"/>
              <a:gd name="T35" fmla="*/ 0 h 51"/>
              <a:gd name="T36" fmla="*/ 3 w 172"/>
              <a:gd name="T37" fmla="*/ 4 h 51"/>
              <a:gd name="T38" fmla="*/ 2 w 172"/>
              <a:gd name="T39" fmla="*/ 11 h 51"/>
              <a:gd name="T40" fmla="*/ 0 w 172"/>
              <a:gd name="T41" fmla="*/ 18 h 51"/>
              <a:gd name="T42" fmla="*/ 0 w 172"/>
              <a:gd name="T43" fmla="*/ 24 h 51"/>
              <a:gd name="T44" fmla="*/ 0 w 172"/>
              <a:gd name="T45" fmla="*/ 31 h 51"/>
              <a:gd name="T46" fmla="*/ 2 w 172"/>
              <a:gd name="T47" fmla="*/ 38 h 51"/>
              <a:gd name="T48" fmla="*/ 3 w 172"/>
              <a:gd name="T49" fmla="*/ 44 h 51"/>
              <a:gd name="T50" fmla="*/ 5 w 172"/>
              <a:gd name="T51" fmla="*/ 51 h 51"/>
              <a:gd name="T52" fmla="*/ 7 w 172"/>
              <a:gd name="T53" fmla="*/ 48 h 51"/>
              <a:gd name="T54" fmla="*/ 5 w 172"/>
              <a:gd name="T55" fmla="*/ 41 h 51"/>
              <a:gd name="T56" fmla="*/ 5 w 172"/>
              <a:gd name="T57" fmla="*/ 34 h 51"/>
              <a:gd name="T58" fmla="*/ 3 w 172"/>
              <a:gd name="T59" fmla="*/ 28 h 51"/>
              <a:gd name="T60" fmla="*/ 3 w 172"/>
              <a:gd name="T61" fmla="*/ 21 h 51"/>
              <a:gd name="T62" fmla="*/ 5 w 172"/>
              <a:gd name="T63" fmla="*/ 14 h 51"/>
              <a:gd name="T64" fmla="*/ 5 w 172"/>
              <a:gd name="T65" fmla="*/ 8 h 51"/>
              <a:gd name="T66" fmla="*/ 7 w 172"/>
              <a:gd name="T67" fmla="*/ 3 h 51"/>
              <a:gd name="T68" fmla="*/ 5 w 17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2" h="51">
                <a:moveTo>
                  <a:pt x="172" y="24"/>
                </a:moveTo>
                <a:lnTo>
                  <a:pt x="172" y="21"/>
                </a:lnTo>
                <a:lnTo>
                  <a:pt x="172" y="18"/>
                </a:lnTo>
                <a:lnTo>
                  <a:pt x="172" y="14"/>
                </a:lnTo>
                <a:lnTo>
                  <a:pt x="171" y="11"/>
                </a:lnTo>
                <a:lnTo>
                  <a:pt x="171" y="8"/>
                </a:lnTo>
                <a:lnTo>
                  <a:pt x="169" y="4"/>
                </a:lnTo>
                <a:lnTo>
                  <a:pt x="169" y="3"/>
                </a:lnTo>
                <a:lnTo>
                  <a:pt x="167" y="0"/>
                </a:lnTo>
                <a:lnTo>
                  <a:pt x="164" y="0"/>
                </a:lnTo>
                <a:lnTo>
                  <a:pt x="166" y="3"/>
                </a:lnTo>
                <a:lnTo>
                  <a:pt x="166" y="4"/>
                </a:lnTo>
                <a:lnTo>
                  <a:pt x="167" y="8"/>
                </a:lnTo>
                <a:lnTo>
                  <a:pt x="167" y="11"/>
                </a:lnTo>
                <a:lnTo>
                  <a:pt x="169" y="14"/>
                </a:lnTo>
                <a:lnTo>
                  <a:pt x="169" y="18"/>
                </a:lnTo>
                <a:lnTo>
                  <a:pt x="169" y="21"/>
                </a:lnTo>
                <a:lnTo>
                  <a:pt x="169" y="24"/>
                </a:lnTo>
                <a:lnTo>
                  <a:pt x="169" y="28"/>
                </a:lnTo>
                <a:lnTo>
                  <a:pt x="169" y="31"/>
                </a:lnTo>
                <a:lnTo>
                  <a:pt x="169" y="34"/>
                </a:lnTo>
                <a:lnTo>
                  <a:pt x="167" y="38"/>
                </a:lnTo>
                <a:lnTo>
                  <a:pt x="167" y="41"/>
                </a:lnTo>
                <a:lnTo>
                  <a:pt x="167" y="44"/>
                </a:lnTo>
                <a:lnTo>
                  <a:pt x="166" y="48"/>
                </a:lnTo>
                <a:lnTo>
                  <a:pt x="166" y="51"/>
                </a:lnTo>
                <a:lnTo>
                  <a:pt x="169" y="51"/>
                </a:lnTo>
                <a:lnTo>
                  <a:pt x="169" y="48"/>
                </a:lnTo>
                <a:lnTo>
                  <a:pt x="171" y="44"/>
                </a:lnTo>
                <a:lnTo>
                  <a:pt x="171" y="41"/>
                </a:lnTo>
                <a:lnTo>
                  <a:pt x="171" y="38"/>
                </a:lnTo>
                <a:lnTo>
                  <a:pt x="172" y="34"/>
                </a:lnTo>
                <a:lnTo>
                  <a:pt x="172" y="31"/>
                </a:lnTo>
                <a:lnTo>
                  <a:pt x="172" y="28"/>
                </a:lnTo>
                <a:lnTo>
                  <a:pt x="17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5" y="51"/>
                </a:lnTo>
                <a:lnTo>
                  <a:pt x="8"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8"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01" name="Freeform 2006">
            <a:extLst>
              <a:ext uri="{FF2B5EF4-FFF2-40B4-BE49-F238E27FC236}">
                <a16:creationId xmlns:a16="http://schemas.microsoft.com/office/drawing/2014/main" id="{0BC3C44D-DF5F-C15F-1A61-C7C2BF2B5ADB}"/>
              </a:ext>
            </a:extLst>
          </p:cNvPr>
          <p:cNvSpPr>
            <a:spLocks noEditPoints="1"/>
          </p:cNvSpPr>
          <p:nvPr/>
        </p:nvSpPr>
        <p:spPr bwMode="auto">
          <a:xfrm>
            <a:off x="2424113" y="2719388"/>
            <a:ext cx="268288" cy="80963"/>
          </a:xfrm>
          <a:custGeom>
            <a:avLst/>
            <a:gdLst>
              <a:gd name="T0" fmla="*/ 169 w 169"/>
              <a:gd name="T1" fmla="*/ 21 h 51"/>
              <a:gd name="T2" fmla="*/ 169 w 169"/>
              <a:gd name="T3" fmla="*/ 14 h 51"/>
              <a:gd name="T4" fmla="*/ 167 w 169"/>
              <a:gd name="T5" fmla="*/ 8 h 51"/>
              <a:gd name="T6" fmla="*/ 165 w 169"/>
              <a:gd name="T7" fmla="*/ 3 h 51"/>
              <a:gd name="T8" fmla="*/ 160 w 169"/>
              <a:gd name="T9" fmla="*/ 0 h 51"/>
              <a:gd name="T10" fmla="*/ 162 w 169"/>
              <a:gd name="T11" fmla="*/ 4 h 51"/>
              <a:gd name="T12" fmla="*/ 164 w 169"/>
              <a:gd name="T13" fmla="*/ 11 h 51"/>
              <a:gd name="T14" fmla="*/ 165 w 169"/>
              <a:gd name="T15" fmla="*/ 18 h 51"/>
              <a:gd name="T16" fmla="*/ 165 w 169"/>
              <a:gd name="T17" fmla="*/ 24 h 51"/>
              <a:gd name="T18" fmla="*/ 165 w 169"/>
              <a:gd name="T19" fmla="*/ 31 h 51"/>
              <a:gd name="T20" fmla="*/ 164 w 169"/>
              <a:gd name="T21" fmla="*/ 38 h 51"/>
              <a:gd name="T22" fmla="*/ 164 w 169"/>
              <a:gd name="T23" fmla="*/ 44 h 51"/>
              <a:gd name="T24" fmla="*/ 160 w 169"/>
              <a:gd name="T25" fmla="*/ 51 h 51"/>
              <a:gd name="T26" fmla="*/ 165 w 169"/>
              <a:gd name="T27" fmla="*/ 48 h 51"/>
              <a:gd name="T28" fmla="*/ 167 w 169"/>
              <a:gd name="T29" fmla="*/ 41 h 51"/>
              <a:gd name="T30" fmla="*/ 169 w 169"/>
              <a:gd name="T31" fmla="*/ 34 h 51"/>
              <a:gd name="T32" fmla="*/ 169 w 169"/>
              <a:gd name="T33" fmla="*/ 28 h 51"/>
              <a:gd name="T34" fmla="*/ 5 w 169"/>
              <a:gd name="T35" fmla="*/ 0 h 51"/>
              <a:gd name="T36" fmla="*/ 3 w 169"/>
              <a:gd name="T37" fmla="*/ 4 h 51"/>
              <a:gd name="T38" fmla="*/ 1 w 169"/>
              <a:gd name="T39" fmla="*/ 11 h 51"/>
              <a:gd name="T40" fmla="*/ 0 w 169"/>
              <a:gd name="T41" fmla="*/ 18 h 51"/>
              <a:gd name="T42" fmla="*/ 0 w 169"/>
              <a:gd name="T43" fmla="*/ 24 h 51"/>
              <a:gd name="T44" fmla="*/ 0 w 169"/>
              <a:gd name="T45" fmla="*/ 31 h 51"/>
              <a:gd name="T46" fmla="*/ 1 w 169"/>
              <a:gd name="T47" fmla="*/ 38 h 51"/>
              <a:gd name="T48" fmla="*/ 3 w 169"/>
              <a:gd name="T49" fmla="*/ 44 h 51"/>
              <a:gd name="T50" fmla="*/ 5 w 169"/>
              <a:gd name="T51" fmla="*/ 51 h 51"/>
              <a:gd name="T52" fmla="*/ 6 w 169"/>
              <a:gd name="T53" fmla="*/ 48 h 51"/>
              <a:gd name="T54" fmla="*/ 5 w 169"/>
              <a:gd name="T55" fmla="*/ 41 h 51"/>
              <a:gd name="T56" fmla="*/ 5 w 169"/>
              <a:gd name="T57" fmla="*/ 34 h 51"/>
              <a:gd name="T58" fmla="*/ 3 w 169"/>
              <a:gd name="T59" fmla="*/ 28 h 51"/>
              <a:gd name="T60" fmla="*/ 3 w 169"/>
              <a:gd name="T61" fmla="*/ 21 h 51"/>
              <a:gd name="T62" fmla="*/ 5 w 169"/>
              <a:gd name="T63" fmla="*/ 14 h 51"/>
              <a:gd name="T64" fmla="*/ 5 w 169"/>
              <a:gd name="T65" fmla="*/ 8 h 51"/>
              <a:gd name="T66" fmla="*/ 6 w 169"/>
              <a:gd name="T67" fmla="*/ 3 h 51"/>
              <a:gd name="T68" fmla="*/ 5 w 16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69" h="51">
                <a:moveTo>
                  <a:pt x="169" y="24"/>
                </a:moveTo>
                <a:lnTo>
                  <a:pt x="169" y="21"/>
                </a:lnTo>
                <a:lnTo>
                  <a:pt x="169" y="18"/>
                </a:lnTo>
                <a:lnTo>
                  <a:pt x="169" y="14"/>
                </a:lnTo>
                <a:lnTo>
                  <a:pt x="167" y="11"/>
                </a:lnTo>
                <a:lnTo>
                  <a:pt x="167" y="8"/>
                </a:lnTo>
                <a:lnTo>
                  <a:pt x="165" y="4"/>
                </a:lnTo>
                <a:lnTo>
                  <a:pt x="165" y="3"/>
                </a:lnTo>
                <a:lnTo>
                  <a:pt x="164" y="0"/>
                </a:lnTo>
                <a:lnTo>
                  <a:pt x="160" y="0"/>
                </a:lnTo>
                <a:lnTo>
                  <a:pt x="162" y="3"/>
                </a:lnTo>
                <a:lnTo>
                  <a:pt x="162" y="4"/>
                </a:lnTo>
                <a:lnTo>
                  <a:pt x="164" y="8"/>
                </a:lnTo>
                <a:lnTo>
                  <a:pt x="164" y="11"/>
                </a:lnTo>
                <a:lnTo>
                  <a:pt x="165" y="14"/>
                </a:lnTo>
                <a:lnTo>
                  <a:pt x="165" y="18"/>
                </a:lnTo>
                <a:lnTo>
                  <a:pt x="165" y="21"/>
                </a:lnTo>
                <a:lnTo>
                  <a:pt x="165" y="24"/>
                </a:lnTo>
                <a:lnTo>
                  <a:pt x="165" y="28"/>
                </a:lnTo>
                <a:lnTo>
                  <a:pt x="165" y="31"/>
                </a:lnTo>
                <a:lnTo>
                  <a:pt x="165" y="34"/>
                </a:lnTo>
                <a:lnTo>
                  <a:pt x="164" y="38"/>
                </a:lnTo>
                <a:lnTo>
                  <a:pt x="164" y="41"/>
                </a:lnTo>
                <a:lnTo>
                  <a:pt x="164" y="44"/>
                </a:lnTo>
                <a:lnTo>
                  <a:pt x="162" y="48"/>
                </a:lnTo>
                <a:lnTo>
                  <a:pt x="160" y="51"/>
                </a:lnTo>
                <a:lnTo>
                  <a:pt x="165" y="51"/>
                </a:lnTo>
                <a:lnTo>
                  <a:pt x="165" y="48"/>
                </a:lnTo>
                <a:lnTo>
                  <a:pt x="167" y="44"/>
                </a:lnTo>
                <a:lnTo>
                  <a:pt x="167" y="41"/>
                </a:lnTo>
                <a:lnTo>
                  <a:pt x="167" y="38"/>
                </a:lnTo>
                <a:lnTo>
                  <a:pt x="169" y="34"/>
                </a:lnTo>
                <a:lnTo>
                  <a:pt x="169" y="31"/>
                </a:lnTo>
                <a:lnTo>
                  <a:pt x="169" y="28"/>
                </a:lnTo>
                <a:lnTo>
                  <a:pt x="169" y="24"/>
                </a:lnTo>
                <a:close/>
                <a:moveTo>
                  <a:pt x="5"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5" y="51"/>
                </a:lnTo>
                <a:lnTo>
                  <a:pt x="8"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02" name="Freeform 2007">
            <a:extLst>
              <a:ext uri="{FF2B5EF4-FFF2-40B4-BE49-F238E27FC236}">
                <a16:creationId xmlns:a16="http://schemas.microsoft.com/office/drawing/2014/main" id="{11B0B7C6-B1C4-A669-9EDC-EA27BD4261CB}"/>
              </a:ext>
            </a:extLst>
          </p:cNvPr>
          <p:cNvSpPr>
            <a:spLocks noEditPoints="1"/>
          </p:cNvSpPr>
          <p:nvPr/>
        </p:nvSpPr>
        <p:spPr bwMode="auto">
          <a:xfrm>
            <a:off x="2425700" y="2719388"/>
            <a:ext cx="263525" cy="80963"/>
          </a:xfrm>
          <a:custGeom>
            <a:avLst/>
            <a:gdLst>
              <a:gd name="T0" fmla="*/ 166 w 166"/>
              <a:gd name="T1" fmla="*/ 21 h 51"/>
              <a:gd name="T2" fmla="*/ 166 w 166"/>
              <a:gd name="T3" fmla="*/ 14 h 51"/>
              <a:gd name="T4" fmla="*/ 164 w 166"/>
              <a:gd name="T5" fmla="*/ 8 h 51"/>
              <a:gd name="T6" fmla="*/ 163 w 166"/>
              <a:gd name="T7" fmla="*/ 3 h 51"/>
              <a:gd name="T8" fmla="*/ 158 w 166"/>
              <a:gd name="T9" fmla="*/ 0 h 51"/>
              <a:gd name="T10" fmla="*/ 159 w 166"/>
              <a:gd name="T11" fmla="*/ 4 h 51"/>
              <a:gd name="T12" fmla="*/ 161 w 166"/>
              <a:gd name="T13" fmla="*/ 11 h 51"/>
              <a:gd name="T14" fmla="*/ 163 w 166"/>
              <a:gd name="T15" fmla="*/ 18 h 51"/>
              <a:gd name="T16" fmla="*/ 163 w 166"/>
              <a:gd name="T17" fmla="*/ 24 h 51"/>
              <a:gd name="T18" fmla="*/ 163 w 166"/>
              <a:gd name="T19" fmla="*/ 31 h 51"/>
              <a:gd name="T20" fmla="*/ 161 w 166"/>
              <a:gd name="T21" fmla="*/ 38 h 51"/>
              <a:gd name="T22" fmla="*/ 159 w 166"/>
              <a:gd name="T23" fmla="*/ 44 h 51"/>
              <a:gd name="T24" fmla="*/ 158 w 166"/>
              <a:gd name="T25" fmla="*/ 51 h 51"/>
              <a:gd name="T26" fmla="*/ 163 w 166"/>
              <a:gd name="T27" fmla="*/ 48 h 51"/>
              <a:gd name="T28" fmla="*/ 164 w 166"/>
              <a:gd name="T29" fmla="*/ 41 h 51"/>
              <a:gd name="T30" fmla="*/ 166 w 166"/>
              <a:gd name="T31" fmla="*/ 34 h 51"/>
              <a:gd name="T32" fmla="*/ 166 w 166"/>
              <a:gd name="T33" fmla="*/ 28 h 51"/>
              <a:gd name="T34" fmla="*/ 5 w 166"/>
              <a:gd name="T35" fmla="*/ 0 h 51"/>
              <a:gd name="T36" fmla="*/ 4 w 166"/>
              <a:gd name="T37" fmla="*/ 4 h 51"/>
              <a:gd name="T38" fmla="*/ 2 w 166"/>
              <a:gd name="T39" fmla="*/ 11 h 51"/>
              <a:gd name="T40" fmla="*/ 0 w 166"/>
              <a:gd name="T41" fmla="*/ 18 h 51"/>
              <a:gd name="T42" fmla="*/ 0 w 166"/>
              <a:gd name="T43" fmla="*/ 24 h 51"/>
              <a:gd name="T44" fmla="*/ 0 w 166"/>
              <a:gd name="T45" fmla="*/ 31 h 51"/>
              <a:gd name="T46" fmla="*/ 2 w 166"/>
              <a:gd name="T47" fmla="*/ 38 h 51"/>
              <a:gd name="T48" fmla="*/ 4 w 166"/>
              <a:gd name="T49" fmla="*/ 44 h 51"/>
              <a:gd name="T50" fmla="*/ 5 w 166"/>
              <a:gd name="T51" fmla="*/ 51 h 51"/>
              <a:gd name="T52" fmla="*/ 7 w 166"/>
              <a:gd name="T53" fmla="*/ 48 h 51"/>
              <a:gd name="T54" fmla="*/ 5 w 166"/>
              <a:gd name="T55" fmla="*/ 41 h 51"/>
              <a:gd name="T56" fmla="*/ 5 w 166"/>
              <a:gd name="T57" fmla="*/ 34 h 51"/>
              <a:gd name="T58" fmla="*/ 4 w 166"/>
              <a:gd name="T59" fmla="*/ 28 h 51"/>
              <a:gd name="T60" fmla="*/ 4 w 166"/>
              <a:gd name="T61" fmla="*/ 21 h 51"/>
              <a:gd name="T62" fmla="*/ 5 w 166"/>
              <a:gd name="T63" fmla="*/ 14 h 51"/>
              <a:gd name="T64" fmla="*/ 5 w 166"/>
              <a:gd name="T65" fmla="*/ 8 h 51"/>
              <a:gd name="T66" fmla="*/ 7 w 166"/>
              <a:gd name="T67" fmla="*/ 3 h 51"/>
              <a:gd name="T68" fmla="*/ 5 w 1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66" h="51">
                <a:moveTo>
                  <a:pt x="166" y="24"/>
                </a:moveTo>
                <a:lnTo>
                  <a:pt x="166" y="21"/>
                </a:lnTo>
                <a:lnTo>
                  <a:pt x="166" y="18"/>
                </a:lnTo>
                <a:lnTo>
                  <a:pt x="166" y="14"/>
                </a:lnTo>
                <a:lnTo>
                  <a:pt x="164" y="11"/>
                </a:lnTo>
                <a:lnTo>
                  <a:pt x="164" y="8"/>
                </a:lnTo>
                <a:lnTo>
                  <a:pt x="163" y="4"/>
                </a:lnTo>
                <a:lnTo>
                  <a:pt x="163" y="3"/>
                </a:lnTo>
                <a:lnTo>
                  <a:pt x="161" y="0"/>
                </a:lnTo>
                <a:lnTo>
                  <a:pt x="158" y="0"/>
                </a:lnTo>
                <a:lnTo>
                  <a:pt x="159" y="3"/>
                </a:lnTo>
                <a:lnTo>
                  <a:pt x="159" y="4"/>
                </a:lnTo>
                <a:lnTo>
                  <a:pt x="161" y="8"/>
                </a:lnTo>
                <a:lnTo>
                  <a:pt x="161" y="11"/>
                </a:lnTo>
                <a:lnTo>
                  <a:pt x="161" y="14"/>
                </a:lnTo>
                <a:lnTo>
                  <a:pt x="163" y="18"/>
                </a:lnTo>
                <a:lnTo>
                  <a:pt x="163" y="21"/>
                </a:lnTo>
                <a:lnTo>
                  <a:pt x="163" y="24"/>
                </a:lnTo>
                <a:lnTo>
                  <a:pt x="163" y="28"/>
                </a:lnTo>
                <a:lnTo>
                  <a:pt x="163" y="31"/>
                </a:lnTo>
                <a:lnTo>
                  <a:pt x="163" y="34"/>
                </a:lnTo>
                <a:lnTo>
                  <a:pt x="161" y="38"/>
                </a:lnTo>
                <a:lnTo>
                  <a:pt x="161" y="41"/>
                </a:lnTo>
                <a:lnTo>
                  <a:pt x="159" y="44"/>
                </a:lnTo>
                <a:lnTo>
                  <a:pt x="159" y="48"/>
                </a:lnTo>
                <a:lnTo>
                  <a:pt x="158" y="51"/>
                </a:lnTo>
                <a:lnTo>
                  <a:pt x="163" y="51"/>
                </a:lnTo>
                <a:lnTo>
                  <a:pt x="163" y="48"/>
                </a:lnTo>
                <a:lnTo>
                  <a:pt x="164" y="44"/>
                </a:lnTo>
                <a:lnTo>
                  <a:pt x="164" y="41"/>
                </a:lnTo>
                <a:lnTo>
                  <a:pt x="164" y="38"/>
                </a:lnTo>
                <a:lnTo>
                  <a:pt x="166" y="34"/>
                </a:lnTo>
                <a:lnTo>
                  <a:pt x="166" y="31"/>
                </a:lnTo>
                <a:lnTo>
                  <a:pt x="166" y="28"/>
                </a:lnTo>
                <a:lnTo>
                  <a:pt x="166" y="24"/>
                </a:lnTo>
                <a:close/>
                <a:moveTo>
                  <a:pt x="5"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5" y="51"/>
                </a:lnTo>
                <a:lnTo>
                  <a:pt x="9"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3"/>
                </a:lnTo>
                <a:lnTo>
                  <a:pt x="9"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03" name="Freeform 2008">
            <a:extLst>
              <a:ext uri="{FF2B5EF4-FFF2-40B4-BE49-F238E27FC236}">
                <a16:creationId xmlns:a16="http://schemas.microsoft.com/office/drawing/2014/main" id="{6ECD0739-0B73-425B-359A-062362B4E427}"/>
              </a:ext>
            </a:extLst>
          </p:cNvPr>
          <p:cNvSpPr>
            <a:spLocks noEditPoints="1"/>
          </p:cNvSpPr>
          <p:nvPr/>
        </p:nvSpPr>
        <p:spPr bwMode="auto">
          <a:xfrm>
            <a:off x="2428875" y="2719388"/>
            <a:ext cx="257175" cy="80963"/>
          </a:xfrm>
          <a:custGeom>
            <a:avLst/>
            <a:gdLst>
              <a:gd name="T0" fmla="*/ 162 w 162"/>
              <a:gd name="T1" fmla="*/ 21 h 51"/>
              <a:gd name="T2" fmla="*/ 162 w 162"/>
              <a:gd name="T3" fmla="*/ 14 h 51"/>
              <a:gd name="T4" fmla="*/ 161 w 162"/>
              <a:gd name="T5" fmla="*/ 8 h 51"/>
              <a:gd name="T6" fmla="*/ 159 w 162"/>
              <a:gd name="T7" fmla="*/ 3 h 51"/>
              <a:gd name="T8" fmla="*/ 154 w 162"/>
              <a:gd name="T9" fmla="*/ 0 h 51"/>
              <a:gd name="T10" fmla="*/ 156 w 162"/>
              <a:gd name="T11" fmla="*/ 4 h 51"/>
              <a:gd name="T12" fmla="*/ 157 w 162"/>
              <a:gd name="T13" fmla="*/ 11 h 51"/>
              <a:gd name="T14" fmla="*/ 159 w 162"/>
              <a:gd name="T15" fmla="*/ 18 h 51"/>
              <a:gd name="T16" fmla="*/ 159 w 162"/>
              <a:gd name="T17" fmla="*/ 24 h 51"/>
              <a:gd name="T18" fmla="*/ 159 w 162"/>
              <a:gd name="T19" fmla="*/ 31 h 51"/>
              <a:gd name="T20" fmla="*/ 157 w 162"/>
              <a:gd name="T21" fmla="*/ 38 h 51"/>
              <a:gd name="T22" fmla="*/ 156 w 162"/>
              <a:gd name="T23" fmla="*/ 44 h 51"/>
              <a:gd name="T24" fmla="*/ 154 w 162"/>
              <a:gd name="T25" fmla="*/ 51 h 51"/>
              <a:gd name="T26" fmla="*/ 159 w 162"/>
              <a:gd name="T27" fmla="*/ 48 h 51"/>
              <a:gd name="T28" fmla="*/ 161 w 162"/>
              <a:gd name="T29" fmla="*/ 41 h 51"/>
              <a:gd name="T30" fmla="*/ 162 w 162"/>
              <a:gd name="T31" fmla="*/ 34 h 51"/>
              <a:gd name="T32" fmla="*/ 162 w 162"/>
              <a:gd name="T33" fmla="*/ 28 h 51"/>
              <a:gd name="T34" fmla="*/ 5 w 162"/>
              <a:gd name="T35" fmla="*/ 0 h 51"/>
              <a:gd name="T36" fmla="*/ 3 w 162"/>
              <a:gd name="T37" fmla="*/ 4 h 51"/>
              <a:gd name="T38" fmla="*/ 2 w 162"/>
              <a:gd name="T39" fmla="*/ 11 h 51"/>
              <a:gd name="T40" fmla="*/ 0 w 162"/>
              <a:gd name="T41" fmla="*/ 18 h 51"/>
              <a:gd name="T42" fmla="*/ 0 w 162"/>
              <a:gd name="T43" fmla="*/ 24 h 51"/>
              <a:gd name="T44" fmla="*/ 0 w 162"/>
              <a:gd name="T45" fmla="*/ 31 h 51"/>
              <a:gd name="T46" fmla="*/ 2 w 162"/>
              <a:gd name="T47" fmla="*/ 38 h 51"/>
              <a:gd name="T48" fmla="*/ 3 w 162"/>
              <a:gd name="T49" fmla="*/ 44 h 51"/>
              <a:gd name="T50" fmla="*/ 5 w 162"/>
              <a:gd name="T51" fmla="*/ 51 h 51"/>
              <a:gd name="T52" fmla="*/ 7 w 162"/>
              <a:gd name="T53" fmla="*/ 48 h 51"/>
              <a:gd name="T54" fmla="*/ 5 w 162"/>
              <a:gd name="T55" fmla="*/ 41 h 51"/>
              <a:gd name="T56" fmla="*/ 5 w 162"/>
              <a:gd name="T57" fmla="*/ 34 h 51"/>
              <a:gd name="T58" fmla="*/ 3 w 162"/>
              <a:gd name="T59" fmla="*/ 28 h 51"/>
              <a:gd name="T60" fmla="*/ 3 w 162"/>
              <a:gd name="T61" fmla="*/ 21 h 51"/>
              <a:gd name="T62" fmla="*/ 5 w 162"/>
              <a:gd name="T63" fmla="*/ 14 h 51"/>
              <a:gd name="T64" fmla="*/ 5 w 162"/>
              <a:gd name="T65" fmla="*/ 8 h 51"/>
              <a:gd name="T66" fmla="*/ 7 w 162"/>
              <a:gd name="T67" fmla="*/ 3 h 51"/>
              <a:gd name="T68" fmla="*/ 5 w 16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62" h="51">
                <a:moveTo>
                  <a:pt x="162" y="24"/>
                </a:moveTo>
                <a:lnTo>
                  <a:pt x="162" y="21"/>
                </a:lnTo>
                <a:lnTo>
                  <a:pt x="162" y="18"/>
                </a:lnTo>
                <a:lnTo>
                  <a:pt x="162" y="14"/>
                </a:lnTo>
                <a:lnTo>
                  <a:pt x="161" y="11"/>
                </a:lnTo>
                <a:lnTo>
                  <a:pt x="161" y="8"/>
                </a:lnTo>
                <a:lnTo>
                  <a:pt x="159" y="4"/>
                </a:lnTo>
                <a:lnTo>
                  <a:pt x="159" y="3"/>
                </a:lnTo>
                <a:lnTo>
                  <a:pt x="157" y="0"/>
                </a:lnTo>
                <a:lnTo>
                  <a:pt x="154" y="0"/>
                </a:lnTo>
                <a:lnTo>
                  <a:pt x="156" y="3"/>
                </a:lnTo>
                <a:lnTo>
                  <a:pt x="156" y="4"/>
                </a:lnTo>
                <a:lnTo>
                  <a:pt x="157" y="8"/>
                </a:lnTo>
                <a:lnTo>
                  <a:pt x="157" y="11"/>
                </a:lnTo>
                <a:lnTo>
                  <a:pt x="157" y="14"/>
                </a:lnTo>
                <a:lnTo>
                  <a:pt x="159" y="18"/>
                </a:lnTo>
                <a:lnTo>
                  <a:pt x="159" y="21"/>
                </a:lnTo>
                <a:lnTo>
                  <a:pt x="159" y="24"/>
                </a:lnTo>
                <a:lnTo>
                  <a:pt x="159" y="28"/>
                </a:lnTo>
                <a:lnTo>
                  <a:pt x="159" y="31"/>
                </a:lnTo>
                <a:lnTo>
                  <a:pt x="159" y="34"/>
                </a:lnTo>
                <a:lnTo>
                  <a:pt x="157" y="38"/>
                </a:lnTo>
                <a:lnTo>
                  <a:pt x="157" y="41"/>
                </a:lnTo>
                <a:lnTo>
                  <a:pt x="156" y="44"/>
                </a:lnTo>
                <a:lnTo>
                  <a:pt x="156" y="48"/>
                </a:lnTo>
                <a:lnTo>
                  <a:pt x="154" y="51"/>
                </a:lnTo>
                <a:lnTo>
                  <a:pt x="157" y="51"/>
                </a:lnTo>
                <a:lnTo>
                  <a:pt x="159" y="48"/>
                </a:lnTo>
                <a:lnTo>
                  <a:pt x="161" y="44"/>
                </a:lnTo>
                <a:lnTo>
                  <a:pt x="161" y="41"/>
                </a:lnTo>
                <a:lnTo>
                  <a:pt x="161" y="38"/>
                </a:lnTo>
                <a:lnTo>
                  <a:pt x="162" y="34"/>
                </a:lnTo>
                <a:lnTo>
                  <a:pt x="162" y="31"/>
                </a:lnTo>
                <a:lnTo>
                  <a:pt x="162" y="28"/>
                </a:lnTo>
                <a:lnTo>
                  <a:pt x="16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5" y="51"/>
                </a:lnTo>
                <a:lnTo>
                  <a:pt x="8"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7" y="3"/>
                </a:lnTo>
                <a:lnTo>
                  <a:pt x="8"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04" name="Freeform 2009">
            <a:extLst>
              <a:ext uri="{FF2B5EF4-FFF2-40B4-BE49-F238E27FC236}">
                <a16:creationId xmlns:a16="http://schemas.microsoft.com/office/drawing/2014/main" id="{D3ACE5D9-AF01-B4F5-56E2-BF1381CD88A9}"/>
              </a:ext>
            </a:extLst>
          </p:cNvPr>
          <p:cNvSpPr>
            <a:spLocks noEditPoints="1"/>
          </p:cNvSpPr>
          <p:nvPr/>
        </p:nvSpPr>
        <p:spPr bwMode="auto">
          <a:xfrm>
            <a:off x="2432050" y="2719388"/>
            <a:ext cx="252413" cy="80963"/>
          </a:xfrm>
          <a:custGeom>
            <a:avLst/>
            <a:gdLst>
              <a:gd name="T0" fmla="*/ 159 w 159"/>
              <a:gd name="T1" fmla="*/ 21 h 51"/>
              <a:gd name="T2" fmla="*/ 157 w 159"/>
              <a:gd name="T3" fmla="*/ 14 h 51"/>
              <a:gd name="T4" fmla="*/ 157 w 159"/>
              <a:gd name="T5" fmla="*/ 8 h 51"/>
              <a:gd name="T6" fmla="*/ 155 w 159"/>
              <a:gd name="T7" fmla="*/ 3 h 51"/>
              <a:gd name="T8" fmla="*/ 150 w 159"/>
              <a:gd name="T9" fmla="*/ 0 h 51"/>
              <a:gd name="T10" fmla="*/ 152 w 159"/>
              <a:gd name="T11" fmla="*/ 4 h 51"/>
              <a:gd name="T12" fmla="*/ 154 w 159"/>
              <a:gd name="T13" fmla="*/ 11 h 51"/>
              <a:gd name="T14" fmla="*/ 155 w 159"/>
              <a:gd name="T15" fmla="*/ 18 h 51"/>
              <a:gd name="T16" fmla="*/ 155 w 159"/>
              <a:gd name="T17" fmla="*/ 24 h 51"/>
              <a:gd name="T18" fmla="*/ 155 w 159"/>
              <a:gd name="T19" fmla="*/ 31 h 51"/>
              <a:gd name="T20" fmla="*/ 154 w 159"/>
              <a:gd name="T21" fmla="*/ 38 h 51"/>
              <a:gd name="T22" fmla="*/ 152 w 159"/>
              <a:gd name="T23" fmla="*/ 44 h 51"/>
              <a:gd name="T24" fmla="*/ 150 w 159"/>
              <a:gd name="T25" fmla="*/ 51 h 51"/>
              <a:gd name="T26" fmla="*/ 155 w 159"/>
              <a:gd name="T27" fmla="*/ 48 h 51"/>
              <a:gd name="T28" fmla="*/ 157 w 159"/>
              <a:gd name="T29" fmla="*/ 41 h 51"/>
              <a:gd name="T30" fmla="*/ 159 w 159"/>
              <a:gd name="T31" fmla="*/ 34 h 51"/>
              <a:gd name="T32" fmla="*/ 159 w 159"/>
              <a:gd name="T33" fmla="*/ 28 h 51"/>
              <a:gd name="T34" fmla="*/ 5 w 159"/>
              <a:gd name="T35" fmla="*/ 0 h 51"/>
              <a:gd name="T36" fmla="*/ 3 w 159"/>
              <a:gd name="T37" fmla="*/ 4 h 51"/>
              <a:gd name="T38" fmla="*/ 1 w 159"/>
              <a:gd name="T39" fmla="*/ 11 h 51"/>
              <a:gd name="T40" fmla="*/ 0 w 159"/>
              <a:gd name="T41" fmla="*/ 18 h 51"/>
              <a:gd name="T42" fmla="*/ 0 w 159"/>
              <a:gd name="T43" fmla="*/ 24 h 51"/>
              <a:gd name="T44" fmla="*/ 0 w 159"/>
              <a:gd name="T45" fmla="*/ 31 h 51"/>
              <a:gd name="T46" fmla="*/ 1 w 159"/>
              <a:gd name="T47" fmla="*/ 38 h 51"/>
              <a:gd name="T48" fmla="*/ 3 w 159"/>
              <a:gd name="T49" fmla="*/ 44 h 51"/>
              <a:gd name="T50" fmla="*/ 5 w 159"/>
              <a:gd name="T51" fmla="*/ 51 h 51"/>
              <a:gd name="T52" fmla="*/ 6 w 159"/>
              <a:gd name="T53" fmla="*/ 48 h 51"/>
              <a:gd name="T54" fmla="*/ 5 w 159"/>
              <a:gd name="T55" fmla="*/ 41 h 51"/>
              <a:gd name="T56" fmla="*/ 5 w 159"/>
              <a:gd name="T57" fmla="*/ 34 h 51"/>
              <a:gd name="T58" fmla="*/ 3 w 159"/>
              <a:gd name="T59" fmla="*/ 28 h 51"/>
              <a:gd name="T60" fmla="*/ 3 w 159"/>
              <a:gd name="T61" fmla="*/ 21 h 51"/>
              <a:gd name="T62" fmla="*/ 5 w 159"/>
              <a:gd name="T63" fmla="*/ 14 h 51"/>
              <a:gd name="T64" fmla="*/ 5 w 159"/>
              <a:gd name="T65" fmla="*/ 8 h 51"/>
              <a:gd name="T66" fmla="*/ 6 w 159"/>
              <a:gd name="T67" fmla="*/ 3 h 51"/>
              <a:gd name="T68" fmla="*/ 5 w 15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59" h="51">
                <a:moveTo>
                  <a:pt x="159" y="24"/>
                </a:moveTo>
                <a:lnTo>
                  <a:pt x="159" y="21"/>
                </a:lnTo>
                <a:lnTo>
                  <a:pt x="159" y="18"/>
                </a:lnTo>
                <a:lnTo>
                  <a:pt x="157" y="14"/>
                </a:lnTo>
                <a:lnTo>
                  <a:pt x="157" y="11"/>
                </a:lnTo>
                <a:lnTo>
                  <a:pt x="157" y="8"/>
                </a:lnTo>
                <a:lnTo>
                  <a:pt x="155" y="4"/>
                </a:lnTo>
                <a:lnTo>
                  <a:pt x="155" y="3"/>
                </a:lnTo>
                <a:lnTo>
                  <a:pt x="154" y="0"/>
                </a:lnTo>
                <a:lnTo>
                  <a:pt x="150" y="0"/>
                </a:lnTo>
                <a:lnTo>
                  <a:pt x="152" y="3"/>
                </a:lnTo>
                <a:lnTo>
                  <a:pt x="152" y="4"/>
                </a:lnTo>
                <a:lnTo>
                  <a:pt x="154" y="8"/>
                </a:lnTo>
                <a:lnTo>
                  <a:pt x="154" y="11"/>
                </a:lnTo>
                <a:lnTo>
                  <a:pt x="154" y="14"/>
                </a:lnTo>
                <a:lnTo>
                  <a:pt x="155" y="18"/>
                </a:lnTo>
                <a:lnTo>
                  <a:pt x="155" y="21"/>
                </a:lnTo>
                <a:lnTo>
                  <a:pt x="155" y="24"/>
                </a:lnTo>
                <a:lnTo>
                  <a:pt x="155" y="28"/>
                </a:lnTo>
                <a:lnTo>
                  <a:pt x="155" y="31"/>
                </a:lnTo>
                <a:lnTo>
                  <a:pt x="155" y="34"/>
                </a:lnTo>
                <a:lnTo>
                  <a:pt x="154" y="38"/>
                </a:lnTo>
                <a:lnTo>
                  <a:pt x="154" y="41"/>
                </a:lnTo>
                <a:lnTo>
                  <a:pt x="152" y="44"/>
                </a:lnTo>
                <a:lnTo>
                  <a:pt x="152" y="48"/>
                </a:lnTo>
                <a:lnTo>
                  <a:pt x="150" y="51"/>
                </a:lnTo>
                <a:lnTo>
                  <a:pt x="154" y="51"/>
                </a:lnTo>
                <a:lnTo>
                  <a:pt x="155" y="48"/>
                </a:lnTo>
                <a:lnTo>
                  <a:pt x="155" y="44"/>
                </a:lnTo>
                <a:lnTo>
                  <a:pt x="157" y="41"/>
                </a:lnTo>
                <a:lnTo>
                  <a:pt x="157" y="38"/>
                </a:lnTo>
                <a:lnTo>
                  <a:pt x="159" y="34"/>
                </a:lnTo>
                <a:lnTo>
                  <a:pt x="159" y="31"/>
                </a:lnTo>
                <a:lnTo>
                  <a:pt x="159" y="28"/>
                </a:lnTo>
                <a:lnTo>
                  <a:pt x="159" y="24"/>
                </a:lnTo>
                <a:close/>
                <a:moveTo>
                  <a:pt x="5" y="0"/>
                </a:moveTo>
                <a:lnTo>
                  <a:pt x="3" y="3"/>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5" y="51"/>
                </a:lnTo>
                <a:lnTo>
                  <a:pt x="8"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6" y="3"/>
                </a:lnTo>
                <a:lnTo>
                  <a:pt x="8" y="0"/>
                </a:lnTo>
                <a:lnTo>
                  <a:pt x="5" y="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05" name="Freeform 2010">
            <a:extLst>
              <a:ext uri="{FF2B5EF4-FFF2-40B4-BE49-F238E27FC236}">
                <a16:creationId xmlns:a16="http://schemas.microsoft.com/office/drawing/2014/main" id="{5BAE3AE9-40F2-4369-A78B-23C7AD980B50}"/>
              </a:ext>
            </a:extLst>
          </p:cNvPr>
          <p:cNvSpPr>
            <a:spLocks noEditPoints="1"/>
          </p:cNvSpPr>
          <p:nvPr/>
        </p:nvSpPr>
        <p:spPr bwMode="auto">
          <a:xfrm>
            <a:off x="2433638" y="2719388"/>
            <a:ext cx="247650" cy="80963"/>
          </a:xfrm>
          <a:custGeom>
            <a:avLst/>
            <a:gdLst>
              <a:gd name="T0" fmla="*/ 156 w 156"/>
              <a:gd name="T1" fmla="*/ 21 h 51"/>
              <a:gd name="T2" fmla="*/ 154 w 156"/>
              <a:gd name="T3" fmla="*/ 14 h 51"/>
              <a:gd name="T4" fmla="*/ 154 w 156"/>
              <a:gd name="T5" fmla="*/ 8 h 51"/>
              <a:gd name="T6" fmla="*/ 153 w 156"/>
              <a:gd name="T7" fmla="*/ 3 h 51"/>
              <a:gd name="T8" fmla="*/ 148 w 156"/>
              <a:gd name="T9" fmla="*/ 0 h 51"/>
              <a:gd name="T10" fmla="*/ 149 w 156"/>
              <a:gd name="T11" fmla="*/ 4 h 51"/>
              <a:gd name="T12" fmla="*/ 151 w 156"/>
              <a:gd name="T13" fmla="*/ 11 h 51"/>
              <a:gd name="T14" fmla="*/ 153 w 156"/>
              <a:gd name="T15" fmla="*/ 18 h 51"/>
              <a:gd name="T16" fmla="*/ 153 w 156"/>
              <a:gd name="T17" fmla="*/ 24 h 51"/>
              <a:gd name="T18" fmla="*/ 153 w 156"/>
              <a:gd name="T19" fmla="*/ 31 h 51"/>
              <a:gd name="T20" fmla="*/ 151 w 156"/>
              <a:gd name="T21" fmla="*/ 38 h 51"/>
              <a:gd name="T22" fmla="*/ 149 w 156"/>
              <a:gd name="T23" fmla="*/ 44 h 51"/>
              <a:gd name="T24" fmla="*/ 148 w 156"/>
              <a:gd name="T25" fmla="*/ 51 h 51"/>
              <a:gd name="T26" fmla="*/ 153 w 156"/>
              <a:gd name="T27" fmla="*/ 48 h 51"/>
              <a:gd name="T28" fmla="*/ 154 w 156"/>
              <a:gd name="T29" fmla="*/ 41 h 51"/>
              <a:gd name="T30" fmla="*/ 156 w 156"/>
              <a:gd name="T31" fmla="*/ 34 h 51"/>
              <a:gd name="T32" fmla="*/ 156 w 156"/>
              <a:gd name="T33" fmla="*/ 28 h 51"/>
              <a:gd name="T34" fmla="*/ 5 w 156"/>
              <a:gd name="T35" fmla="*/ 0 h 51"/>
              <a:gd name="T36" fmla="*/ 4 w 156"/>
              <a:gd name="T37" fmla="*/ 4 h 51"/>
              <a:gd name="T38" fmla="*/ 2 w 156"/>
              <a:gd name="T39" fmla="*/ 11 h 51"/>
              <a:gd name="T40" fmla="*/ 0 w 156"/>
              <a:gd name="T41" fmla="*/ 18 h 51"/>
              <a:gd name="T42" fmla="*/ 0 w 156"/>
              <a:gd name="T43" fmla="*/ 24 h 51"/>
              <a:gd name="T44" fmla="*/ 0 w 156"/>
              <a:gd name="T45" fmla="*/ 31 h 51"/>
              <a:gd name="T46" fmla="*/ 2 w 156"/>
              <a:gd name="T47" fmla="*/ 38 h 51"/>
              <a:gd name="T48" fmla="*/ 4 w 156"/>
              <a:gd name="T49" fmla="*/ 44 h 51"/>
              <a:gd name="T50" fmla="*/ 5 w 156"/>
              <a:gd name="T51" fmla="*/ 51 h 51"/>
              <a:gd name="T52" fmla="*/ 7 w 156"/>
              <a:gd name="T53" fmla="*/ 48 h 51"/>
              <a:gd name="T54" fmla="*/ 5 w 156"/>
              <a:gd name="T55" fmla="*/ 41 h 51"/>
              <a:gd name="T56" fmla="*/ 5 w 156"/>
              <a:gd name="T57" fmla="*/ 34 h 51"/>
              <a:gd name="T58" fmla="*/ 4 w 156"/>
              <a:gd name="T59" fmla="*/ 28 h 51"/>
              <a:gd name="T60" fmla="*/ 4 w 156"/>
              <a:gd name="T61" fmla="*/ 21 h 51"/>
              <a:gd name="T62" fmla="*/ 5 w 156"/>
              <a:gd name="T63" fmla="*/ 14 h 51"/>
              <a:gd name="T64" fmla="*/ 5 w 156"/>
              <a:gd name="T65" fmla="*/ 8 h 51"/>
              <a:gd name="T66" fmla="*/ 7 w 156"/>
              <a:gd name="T67" fmla="*/ 1 h 51"/>
              <a:gd name="T68" fmla="*/ 5 w 15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56" h="51">
                <a:moveTo>
                  <a:pt x="156" y="24"/>
                </a:moveTo>
                <a:lnTo>
                  <a:pt x="156" y="21"/>
                </a:lnTo>
                <a:lnTo>
                  <a:pt x="156" y="18"/>
                </a:lnTo>
                <a:lnTo>
                  <a:pt x="154" y="14"/>
                </a:lnTo>
                <a:lnTo>
                  <a:pt x="154" y="11"/>
                </a:lnTo>
                <a:lnTo>
                  <a:pt x="154" y="8"/>
                </a:lnTo>
                <a:lnTo>
                  <a:pt x="153" y="4"/>
                </a:lnTo>
                <a:lnTo>
                  <a:pt x="153" y="3"/>
                </a:lnTo>
                <a:lnTo>
                  <a:pt x="151" y="0"/>
                </a:lnTo>
                <a:lnTo>
                  <a:pt x="148" y="0"/>
                </a:lnTo>
                <a:lnTo>
                  <a:pt x="149" y="1"/>
                </a:lnTo>
                <a:lnTo>
                  <a:pt x="149" y="4"/>
                </a:lnTo>
                <a:lnTo>
                  <a:pt x="151" y="8"/>
                </a:lnTo>
                <a:lnTo>
                  <a:pt x="151" y="11"/>
                </a:lnTo>
                <a:lnTo>
                  <a:pt x="151" y="14"/>
                </a:lnTo>
                <a:lnTo>
                  <a:pt x="153" y="18"/>
                </a:lnTo>
                <a:lnTo>
                  <a:pt x="153" y="21"/>
                </a:lnTo>
                <a:lnTo>
                  <a:pt x="153" y="24"/>
                </a:lnTo>
                <a:lnTo>
                  <a:pt x="153" y="28"/>
                </a:lnTo>
                <a:lnTo>
                  <a:pt x="153" y="31"/>
                </a:lnTo>
                <a:lnTo>
                  <a:pt x="153" y="34"/>
                </a:lnTo>
                <a:lnTo>
                  <a:pt x="151" y="38"/>
                </a:lnTo>
                <a:lnTo>
                  <a:pt x="151" y="41"/>
                </a:lnTo>
                <a:lnTo>
                  <a:pt x="149" y="44"/>
                </a:lnTo>
                <a:lnTo>
                  <a:pt x="149" y="48"/>
                </a:lnTo>
                <a:lnTo>
                  <a:pt x="148" y="51"/>
                </a:lnTo>
                <a:lnTo>
                  <a:pt x="151" y="51"/>
                </a:lnTo>
                <a:lnTo>
                  <a:pt x="153" y="48"/>
                </a:lnTo>
                <a:lnTo>
                  <a:pt x="153" y="44"/>
                </a:lnTo>
                <a:lnTo>
                  <a:pt x="154" y="41"/>
                </a:lnTo>
                <a:lnTo>
                  <a:pt x="154" y="38"/>
                </a:lnTo>
                <a:lnTo>
                  <a:pt x="156" y="34"/>
                </a:lnTo>
                <a:lnTo>
                  <a:pt x="156" y="31"/>
                </a:lnTo>
                <a:lnTo>
                  <a:pt x="156" y="28"/>
                </a:lnTo>
                <a:lnTo>
                  <a:pt x="156" y="24"/>
                </a:lnTo>
                <a:close/>
                <a:moveTo>
                  <a:pt x="5" y="0"/>
                </a:moveTo>
                <a:lnTo>
                  <a:pt x="4" y="3"/>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5" y="51"/>
                </a:lnTo>
                <a:lnTo>
                  <a:pt x="9"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7" y="1"/>
                </a:lnTo>
                <a:lnTo>
                  <a:pt x="9"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06" name="Freeform 2011">
            <a:extLst>
              <a:ext uri="{FF2B5EF4-FFF2-40B4-BE49-F238E27FC236}">
                <a16:creationId xmlns:a16="http://schemas.microsoft.com/office/drawing/2014/main" id="{A05656DE-3859-89DD-A826-28497EE526EF}"/>
              </a:ext>
            </a:extLst>
          </p:cNvPr>
          <p:cNvSpPr>
            <a:spLocks noEditPoints="1"/>
          </p:cNvSpPr>
          <p:nvPr/>
        </p:nvSpPr>
        <p:spPr bwMode="auto">
          <a:xfrm>
            <a:off x="2436813" y="2719388"/>
            <a:ext cx="241300" cy="80963"/>
          </a:xfrm>
          <a:custGeom>
            <a:avLst/>
            <a:gdLst>
              <a:gd name="T0" fmla="*/ 152 w 152"/>
              <a:gd name="T1" fmla="*/ 21 h 51"/>
              <a:gd name="T2" fmla="*/ 151 w 152"/>
              <a:gd name="T3" fmla="*/ 14 h 51"/>
              <a:gd name="T4" fmla="*/ 151 w 152"/>
              <a:gd name="T5" fmla="*/ 8 h 51"/>
              <a:gd name="T6" fmla="*/ 149 w 152"/>
              <a:gd name="T7" fmla="*/ 3 h 51"/>
              <a:gd name="T8" fmla="*/ 144 w 152"/>
              <a:gd name="T9" fmla="*/ 0 h 51"/>
              <a:gd name="T10" fmla="*/ 146 w 152"/>
              <a:gd name="T11" fmla="*/ 4 h 51"/>
              <a:gd name="T12" fmla="*/ 147 w 152"/>
              <a:gd name="T13" fmla="*/ 11 h 51"/>
              <a:gd name="T14" fmla="*/ 149 w 152"/>
              <a:gd name="T15" fmla="*/ 18 h 51"/>
              <a:gd name="T16" fmla="*/ 149 w 152"/>
              <a:gd name="T17" fmla="*/ 24 h 51"/>
              <a:gd name="T18" fmla="*/ 149 w 152"/>
              <a:gd name="T19" fmla="*/ 31 h 51"/>
              <a:gd name="T20" fmla="*/ 147 w 152"/>
              <a:gd name="T21" fmla="*/ 38 h 51"/>
              <a:gd name="T22" fmla="*/ 146 w 152"/>
              <a:gd name="T23" fmla="*/ 44 h 51"/>
              <a:gd name="T24" fmla="*/ 144 w 152"/>
              <a:gd name="T25" fmla="*/ 51 h 51"/>
              <a:gd name="T26" fmla="*/ 149 w 152"/>
              <a:gd name="T27" fmla="*/ 48 h 51"/>
              <a:gd name="T28" fmla="*/ 151 w 152"/>
              <a:gd name="T29" fmla="*/ 41 h 51"/>
              <a:gd name="T30" fmla="*/ 152 w 152"/>
              <a:gd name="T31" fmla="*/ 34 h 51"/>
              <a:gd name="T32" fmla="*/ 152 w 152"/>
              <a:gd name="T33" fmla="*/ 28 h 51"/>
              <a:gd name="T34" fmla="*/ 5 w 152"/>
              <a:gd name="T35" fmla="*/ 0 h 51"/>
              <a:gd name="T36" fmla="*/ 3 w 152"/>
              <a:gd name="T37" fmla="*/ 4 h 51"/>
              <a:gd name="T38" fmla="*/ 2 w 152"/>
              <a:gd name="T39" fmla="*/ 11 h 51"/>
              <a:gd name="T40" fmla="*/ 0 w 152"/>
              <a:gd name="T41" fmla="*/ 18 h 51"/>
              <a:gd name="T42" fmla="*/ 0 w 152"/>
              <a:gd name="T43" fmla="*/ 24 h 51"/>
              <a:gd name="T44" fmla="*/ 0 w 152"/>
              <a:gd name="T45" fmla="*/ 31 h 51"/>
              <a:gd name="T46" fmla="*/ 2 w 152"/>
              <a:gd name="T47" fmla="*/ 38 h 51"/>
              <a:gd name="T48" fmla="*/ 3 w 152"/>
              <a:gd name="T49" fmla="*/ 44 h 51"/>
              <a:gd name="T50" fmla="*/ 5 w 152"/>
              <a:gd name="T51" fmla="*/ 51 h 51"/>
              <a:gd name="T52" fmla="*/ 7 w 152"/>
              <a:gd name="T53" fmla="*/ 48 h 51"/>
              <a:gd name="T54" fmla="*/ 5 w 152"/>
              <a:gd name="T55" fmla="*/ 41 h 51"/>
              <a:gd name="T56" fmla="*/ 5 w 152"/>
              <a:gd name="T57" fmla="*/ 34 h 51"/>
              <a:gd name="T58" fmla="*/ 3 w 152"/>
              <a:gd name="T59" fmla="*/ 28 h 51"/>
              <a:gd name="T60" fmla="*/ 3 w 152"/>
              <a:gd name="T61" fmla="*/ 21 h 51"/>
              <a:gd name="T62" fmla="*/ 5 w 152"/>
              <a:gd name="T63" fmla="*/ 14 h 51"/>
              <a:gd name="T64" fmla="*/ 5 w 152"/>
              <a:gd name="T65" fmla="*/ 8 h 51"/>
              <a:gd name="T66" fmla="*/ 8 w 152"/>
              <a:gd name="T67" fmla="*/ 1 h 51"/>
              <a:gd name="T68" fmla="*/ 5 w 15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52" h="51">
                <a:moveTo>
                  <a:pt x="152" y="24"/>
                </a:moveTo>
                <a:lnTo>
                  <a:pt x="152" y="21"/>
                </a:lnTo>
                <a:lnTo>
                  <a:pt x="152" y="18"/>
                </a:lnTo>
                <a:lnTo>
                  <a:pt x="151" y="14"/>
                </a:lnTo>
                <a:lnTo>
                  <a:pt x="151" y="11"/>
                </a:lnTo>
                <a:lnTo>
                  <a:pt x="151" y="8"/>
                </a:lnTo>
                <a:lnTo>
                  <a:pt x="149" y="4"/>
                </a:lnTo>
                <a:lnTo>
                  <a:pt x="149" y="3"/>
                </a:lnTo>
                <a:lnTo>
                  <a:pt x="147" y="0"/>
                </a:lnTo>
                <a:lnTo>
                  <a:pt x="144" y="0"/>
                </a:lnTo>
                <a:lnTo>
                  <a:pt x="146" y="1"/>
                </a:lnTo>
                <a:lnTo>
                  <a:pt x="146" y="4"/>
                </a:lnTo>
                <a:lnTo>
                  <a:pt x="147" y="8"/>
                </a:lnTo>
                <a:lnTo>
                  <a:pt x="147" y="11"/>
                </a:lnTo>
                <a:lnTo>
                  <a:pt x="147" y="14"/>
                </a:lnTo>
                <a:lnTo>
                  <a:pt x="149" y="18"/>
                </a:lnTo>
                <a:lnTo>
                  <a:pt x="149" y="21"/>
                </a:lnTo>
                <a:lnTo>
                  <a:pt x="149" y="24"/>
                </a:lnTo>
                <a:lnTo>
                  <a:pt x="149" y="28"/>
                </a:lnTo>
                <a:lnTo>
                  <a:pt x="149" y="31"/>
                </a:lnTo>
                <a:lnTo>
                  <a:pt x="149" y="34"/>
                </a:lnTo>
                <a:lnTo>
                  <a:pt x="147" y="38"/>
                </a:lnTo>
                <a:lnTo>
                  <a:pt x="147" y="41"/>
                </a:lnTo>
                <a:lnTo>
                  <a:pt x="146" y="44"/>
                </a:lnTo>
                <a:lnTo>
                  <a:pt x="146" y="48"/>
                </a:lnTo>
                <a:lnTo>
                  <a:pt x="144" y="51"/>
                </a:lnTo>
                <a:lnTo>
                  <a:pt x="147" y="51"/>
                </a:lnTo>
                <a:lnTo>
                  <a:pt x="149" y="48"/>
                </a:lnTo>
                <a:lnTo>
                  <a:pt x="149" y="44"/>
                </a:lnTo>
                <a:lnTo>
                  <a:pt x="151" y="41"/>
                </a:lnTo>
                <a:lnTo>
                  <a:pt x="151" y="38"/>
                </a:lnTo>
                <a:lnTo>
                  <a:pt x="152" y="34"/>
                </a:lnTo>
                <a:lnTo>
                  <a:pt x="152" y="31"/>
                </a:lnTo>
                <a:lnTo>
                  <a:pt x="152" y="28"/>
                </a:lnTo>
                <a:lnTo>
                  <a:pt x="152" y="24"/>
                </a:lnTo>
                <a:close/>
                <a:moveTo>
                  <a:pt x="5" y="0"/>
                </a:moveTo>
                <a:lnTo>
                  <a:pt x="3" y="3"/>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5" y="51"/>
                </a:lnTo>
                <a:lnTo>
                  <a:pt x="8" y="51"/>
                </a:lnTo>
                <a:lnTo>
                  <a:pt x="7" y="48"/>
                </a:lnTo>
                <a:lnTo>
                  <a:pt x="7" y="44"/>
                </a:lnTo>
                <a:lnTo>
                  <a:pt x="5" y="41"/>
                </a:lnTo>
                <a:lnTo>
                  <a:pt x="5" y="38"/>
                </a:lnTo>
                <a:lnTo>
                  <a:pt x="5" y="34"/>
                </a:lnTo>
                <a:lnTo>
                  <a:pt x="3" y="31"/>
                </a:lnTo>
                <a:lnTo>
                  <a:pt x="3" y="28"/>
                </a:lnTo>
                <a:lnTo>
                  <a:pt x="3" y="24"/>
                </a:lnTo>
                <a:lnTo>
                  <a:pt x="3" y="21"/>
                </a:lnTo>
                <a:lnTo>
                  <a:pt x="3" y="18"/>
                </a:lnTo>
                <a:lnTo>
                  <a:pt x="5" y="14"/>
                </a:lnTo>
                <a:lnTo>
                  <a:pt x="5" y="11"/>
                </a:lnTo>
                <a:lnTo>
                  <a:pt x="5" y="8"/>
                </a:lnTo>
                <a:lnTo>
                  <a:pt x="7" y="4"/>
                </a:lnTo>
                <a:lnTo>
                  <a:pt x="8" y="1"/>
                </a:lnTo>
                <a:lnTo>
                  <a:pt x="8"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07" name="Freeform 2012">
            <a:extLst>
              <a:ext uri="{FF2B5EF4-FFF2-40B4-BE49-F238E27FC236}">
                <a16:creationId xmlns:a16="http://schemas.microsoft.com/office/drawing/2014/main" id="{4BC6EF11-E3AC-20F6-2CF7-019A5A33E115}"/>
              </a:ext>
            </a:extLst>
          </p:cNvPr>
          <p:cNvSpPr>
            <a:spLocks noEditPoints="1"/>
          </p:cNvSpPr>
          <p:nvPr/>
        </p:nvSpPr>
        <p:spPr bwMode="auto">
          <a:xfrm>
            <a:off x="2439988" y="2719388"/>
            <a:ext cx="236538" cy="80963"/>
          </a:xfrm>
          <a:custGeom>
            <a:avLst/>
            <a:gdLst>
              <a:gd name="T0" fmla="*/ 149 w 149"/>
              <a:gd name="T1" fmla="*/ 21 h 51"/>
              <a:gd name="T2" fmla="*/ 147 w 149"/>
              <a:gd name="T3" fmla="*/ 14 h 51"/>
              <a:gd name="T4" fmla="*/ 147 w 149"/>
              <a:gd name="T5" fmla="*/ 8 h 51"/>
              <a:gd name="T6" fmla="*/ 145 w 149"/>
              <a:gd name="T7" fmla="*/ 1 h 51"/>
              <a:gd name="T8" fmla="*/ 140 w 149"/>
              <a:gd name="T9" fmla="*/ 0 h 51"/>
              <a:gd name="T10" fmla="*/ 142 w 149"/>
              <a:gd name="T11" fmla="*/ 4 h 51"/>
              <a:gd name="T12" fmla="*/ 144 w 149"/>
              <a:gd name="T13" fmla="*/ 11 h 51"/>
              <a:gd name="T14" fmla="*/ 145 w 149"/>
              <a:gd name="T15" fmla="*/ 18 h 51"/>
              <a:gd name="T16" fmla="*/ 145 w 149"/>
              <a:gd name="T17" fmla="*/ 24 h 51"/>
              <a:gd name="T18" fmla="*/ 145 w 149"/>
              <a:gd name="T19" fmla="*/ 31 h 51"/>
              <a:gd name="T20" fmla="*/ 144 w 149"/>
              <a:gd name="T21" fmla="*/ 38 h 51"/>
              <a:gd name="T22" fmla="*/ 142 w 149"/>
              <a:gd name="T23" fmla="*/ 44 h 51"/>
              <a:gd name="T24" fmla="*/ 140 w 149"/>
              <a:gd name="T25" fmla="*/ 51 h 51"/>
              <a:gd name="T26" fmla="*/ 145 w 149"/>
              <a:gd name="T27" fmla="*/ 48 h 51"/>
              <a:gd name="T28" fmla="*/ 147 w 149"/>
              <a:gd name="T29" fmla="*/ 41 h 51"/>
              <a:gd name="T30" fmla="*/ 149 w 149"/>
              <a:gd name="T31" fmla="*/ 34 h 51"/>
              <a:gd name="T32" fmla="*/ 149 w 149"/>
              <a:gd name="T33" fmla="*/ 28 h 51"/>
              <a:gd name="T34" fmla="*/ 5 w 149"/>
              <a:gd name="T35" fmla="*/ 0 h 51"/>
              <a:gd name="T36" fmla="*/ 3 w 149"/>
              <a:gd name="T37" fmla="*/ 4 h 51"/>
              <a:gd name="T38" fmla="*/ 1 w 149"/>
              <a:gd name="T39" fmla="*/ 11 h 51"/>
              <a:gd name="T40" fmla="*/ 0 w 149"/>
              <a:gd name="T41" fmla="*/ 18 h 51"/>
              <a:gd name="T42" fmla="*/ 0 w 149"/>
              <a:gd name="T43" fmla="*/ 24 h 51"/>
              <a:gd name="T44" fmla="*/ 0 w 149"/>
              <a:gd name="T45" fmla="*/ 31 h 51"/>
              <a:gd name="T46" fmla="*/ 1 w 149"/>
              <a:gd name="T47" fmla="*/ 38 h 51"/>
              <a:gd name="T48" fmla="*/ 3 w 149"/>
              <a:gd name="T49" fmla="*/ 44 h 51"/>
              <a:gd name="T50" fmla="*/ 5 w 149"/>
              <a:gd name="T51" fmla="*/ 51 h 51"/>
              <a:gd name="T52" fmla="*/ 6 w 149"/>
              <a:gd name="T53" fmla="*/ 48 h 51"/>
              <a:gd name="T54" fmla="*/ 5 w 149"/>
              <a:gd name="T55" fmla="*/ 41 h 51"/>
              <a:gd name="T56" fmla="*/ 5 w 149"/>
              <a:gd name="T57" fmla="*/ 34 h 51"/>
              <a:gd name="T58" fmla="*/ 3 w 149"/>
              <a:gd name="T59" fmla="*/ 28 h 51"/>
              <a:gd name="T60" fmla="*/ 3 w 149"/>
              <a:gd name="T61" fmla="*/ 21 h 51"/>
              <a:gd name="T62" fmla="*/ 5 w 149"/>
              <a:gd name="T63" fmla="*/ 14 h 51"/>
              <a:gd name="T64" fmla="*/ 5 w 149"/>
              <a:gd name="T65" fmla="*/ 8 h 51"/>
              <a:gd name="T66" fmla="*/ 8 w 149"/>
              <a:gd name="T67" fmla="*/ 1 h 51"/>
              <a:gd name="T68" fmla="*/ 5 w 14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49" h="51">
                <a:moveTo>
                  <a:pt x="149" y="24"/>
                </a:moveTo>
                <a:lnTo>
                  <a:pt x="149" y="21"/>
                </a:lnTo>
                <a:lnTo>
                  <a:pt x="149" y="18"/>
                </a:lnTo>
                <a:lnTo>
                  <a:pt x="147" y="14"/>
                </a:lnTo>
                <a:lnTo>
                  <a:pt x="147" y="11"/>
                </a:lnTo>
                <a:lnTo>
                  <a:pt x="147" y="8"/>
                </a:lnTo>
                <a:lnTo>
                  <a:pt x="145" y="4"/>
                </a:lnTo>
                <a:lnTo>
                  <a:pt x="145" y="1"/>
                </a:lnTo>
                <a:lnTo>
                  <a:pt x="144" y="0"/>
                </a:lnTo>
                <a:lnTo>
                  <a:pt x="140" y="0"/>
                </a:lnTo>
                <a:lnTo>
                  <a:pt x="142" y="1"/>
                </a:lnTo>
                <a:lnTo>
                  <a:pt x="142" y="4"/>
                </a:lnTo>
                <a:lnTo>
                  <a:pt x="144" y="8"/>
                </a:lnTo>
                <a:lnTo>
                  <a:pt x="144" y="11"/>
                </a:lnTo>
                <a:lnTo>
                  <a:pt x="144" y="14"/>
                </a:lnTo>
                <a:lnTo>
                  <a:pt x="145" y="18"/>
                </a:lnTo>
                <a:lnTo>
                  <a:pt x="145" y="21"/>
                </a:lnTo>
                <a:lnTo>
                  <a:pt x="145" y="24"/>
                </a:lnTo>
                <a:lnTo>
                  <a:pt x="145" y="28"/>
                </a:lnTo>
                <a:lnTo>
                  <a:pt x="145" y="31"/>
                </a:lnTo>
                <a:lnTo>
                  <a:pt x="145" y="34"/>
                </a:lnTo>
                <a:lnTo>
                  <a:pt x="144" y="38"/>
                </a:lnTo>
                <a:lnTo>
                  <a:pt x="144" y="41"/>
                </a:lnTo>
                <a:lnTo>
                  <a:pt x="142" y="44"/>
                </a:lnTo>
                <a:lnTo>
                  <a:pt x="142" y="48"/>
                </a:lnTo>
                <a:lnTo>
                  <a:pt x="140" y="51"/>
                </a:lnTo>
                <a:lnTo>
                  <a:pt x="144" y="51"/>
                </a:lnTo>
                <a:lnTo>
                  <a:pt x="145" y="48"/>
                </a:lnTo>
                <a:lnTo>
                  <a:pt x="145" y="44"/>
                </a:lnTo>
                <a:lnTo>
                  <a:pt x="147" y="41"/>
                </a:lnTo>
                <a:lnTo>
                  <a:pt x="147" y="38"/>
                </a:lnTo>
                <a:lnTo>
                  <a:pt x="149" y="34"/>
                </a:lnTo>
                <a:lnTo>
                  <a:pt x="149" y="31"/>
                </a:lnTo>
                <a:lnTo>
                  <a:pt x="149" y="28"/>
                </a:lnTo>
                <a:lnTo>
                  <a:pt x="149" y="24"/>
                </a:lnTo>
                <a:close/>
                <a:moveTo>
                  <a:pt x="5" y="0"/>
                </a:moveTo>
                <a:lnTo>
                  <a:pt x="3" y="1"/>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5" y="51"/>
                </a:lnTo>
                <a:lnTo>
                  <a:pt x="8" y="51"/>
                </a:lnTo>
                <a:lnTo>
                  <a:pt x="6" y="48"/>
                </a:lnTo>
                <a:lnTo>
                  <a:pt x="6" y="44"/>
                </a:lnTo>
                <a:lnTo>
                  <a:pt x="5" y="41"/>
                </a:lnTo>
                <a:lnTo>
                  <a:pt x="5" y="38"/>
                </a:lnTo>
                <a:lnTo>
                  <a:pt x="5" y="34"/>
                </a:lnTo>
                <a:lnTo>
                  <a:pt x="3" y="31"/>
                </a:lnTo>
                <a:lnTo>
                  <a:pt x="3" y="28"/>
                </a:lnTo>
                <a:lnTo>
                  <a:pt x="3" y="24"/>
                </a:lnTo>
                <a:lnTo>
                  <a:pt x="3" y="21"/>
                </a:lnTo>
                <a:lnTo>
                  <a:pt x="3" y="18"/>
                </a:lnTo>
                <a:lnTo>
                  <a:pt x="5" y="14"/>
                </a:lnTo>
                <a:lnTo>
                  <a:pt x="5" y="11"/>
                </a:lnTo>
                <a:lnTo>
                  <a:pt x="5" y="8"/>
                </a:lnTo>
                <a:lnTo>
                  <a:pt x="6" y="4"/>
                </a:lnTo>
                <a:lnTo>
                  <a:pt x="8" y="1"/>
                </a:lnTo>
                <a:lnTo>
                  <a:pt x="8"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08" name="Freeform 2013">
            <a:extLst>
              <a:ext uri="{FF2B5EF4-FFF2-40B4-BE49-F238E27FC236}">
                <a16:creationId xmlns:a16="http://schemas.microsoft.com/office/drawing/2014/main" id="{7E35833A-DDE0-ABD4-8B09-82D78293C611}"/>
              </a:ext>
            </a:extLst>
          </p:cNvPr>
          <p:cNvSpPr>
            <a:spLocks noEditPoints="1"/>
          </p:cNvSpPr>
          <p:nvPr/>
        </p:nvSpPr>
        <p:spPr bwMode="auto">
          <a:xfrm>
            <a:off x="2441575" y="2719388"/>
            <a:ext cx="231775" cy="80963"/>
          </a:xfrm>
          <a:custGeom>
            <a:avLst/>
            <a:gdLst>
              <a:gd name="T0" fmla="*/ 146 w 146"/>
              <a:gd name="T1" fmla="*/ 21 h 51"/>
              <a:gd name="T2" fmla="*/ 144 w 146"/>
              <a:gd name="T3" fmla="*/ 14 h 51"/>
              <a:gd name="T4" fmla="*/ 144 w 146"/>
              <a:gd name="T5" fmla="*/ 8 h 51"/>
              <a:gd name="T6" fmla="*/ 143 w 146"/>
              <a:gd name="T7" fmla="*/ 1 h 51"/>
              <a:gd name="T8" fmla="*/ 138 w 146"/>
              <a:gd name="T9" fmla="*/ 0 h 51"/>
              <a:gd name="T10" fmla="*/ 139 w 146"/>
              <a:gd name="T11" fmla="*/ 4 h 51"/>
              <a:gd name="T12" fmla="*/ 141 w 146"/>
              <a:gd name="T13" fmla="*/ 11 h 51"/>
              <a:gd name="T14" fmla="*/ 143 w 146"/>
              <a:gd name="T15" fmla="*/ 18 h 51"/>
              <a:gd name="T16" fmla="*/ 143 w 146"/>
              <a:gd name="T17" fmla="*/ 24 h 51"/>
              <a:gd name="T18" fmla="*/ 143 w 146"/>
              <a:gd name="T19" fmla="*/ 31 h 51"/>
              <a:gd name="T20" fmla="*/ 141 w 146"/>
              <a:gd name="T21" fmla="*/ 38 h 51"/>
              <a:gd name="T22" fmla="*/ 139 w 146"/>
              <a:gd name="T23" fmla="*/ 44 h 51"/>
              <a:gd name="T24" fmla="*/ 138 w 146"/>
              <a:gd name="T25" fmla="*/ 51 h 51"/>
              <a:gd name="T26" fmla="*/ 143 w 146"/>
              <a:gd name="T27" fmla="*/ 48 h 51"/>
              <a:gd name="T28" fmla="*/ 144 w 146"/>
              <a:gd name="T29" fmla="*/ 41 h 51"/>
              <a:gd name="T30" fmla="*/ 146 w 146"/>
              <a:gd name="T31" fmla="*/ 34 h 51"/>
              <a:gd name="T32" fmla="*/ 146 w 146"/>
              <a:gd name="T33" fmla="*/ 28 h 51"/>
              <a:gd name="T34" fmla="*/ 5 w 146"/>
              <a:gd name="T35" fmla="*/ 0 h 51"/>
              <a:gd name="T36" fmla="*/ 4 w 146"/>
              <a:gd name="T37" fmla="*/ 4 h 51"/>
              <a:gd name="T38" fmla="*/ 2 w 146"/>
              <a:gd name="T39" fmla="*/ 11 h 51"/>
              <a:gd name="T40" fmla="*/ 0 w 146"/>
              <a:gd name="T41" fmla="*/ 18 h 51"/>
              <a:gd name="T42" fmla="*/ 0 w 146"/>
              <a:gd name="T43" fmla="*/ 24 h 51"/>
              <a:gd name="T44" fmla="*/ 0 w 146"/>
              <a:gd name="T45" fmla="*/ 31 h 51"/>
              <a:gd name="T46" fmla="*/ 2 w 146"/>
              <a:gd name="T47" fmla="*/ 38 h 51"/>
              <a:gd name="T48" fmla="*/ 4 w 146"/>
              <a:gd name="T49" fmla="*/ 44 h 51"/>
              <a:gd name="T50" fmla="*/ 5 w 146"/>
              <a:gd name="T51" fmla="*/ 51 h 51"/>
              <a:gd name="T52" fmla="*/ 7 w 146"/>
              <a:gd name="T53" fmla="*/ 48 h 51"/>
              <a:gd name="T54" fmla="*/ 5 w 146"/>
              <a:gd name="T55" fmla="*/ 41 h 51"/>
              <a:gd name="T56" fmla="*/ 5 w 146"/>
              <a:gd name="T57" fmla="*/ 34 h 51"/>
              <a:gd name="T58" fmla="*/ 4 w 146"/>
              <a:gd name="T59" fmla="*/ 28 h 51"/>
              <a:gd name="T60" fmla="*/ 4 w 146"/>
              <a:gd name="T61" fmla="*/ 21 h 51"/>
              <a:gd name="T62" fmla="*/ 5 w 146"/>
              <a:gd name="T63" fmla="*/ 14 h 51"/>
              <a:gd name="T64" fmla="*/ 5 w 146"/>
              <a:gd name="T65" fmla="*/ 8 h 51"/>
              <a:gd name="T66" fmla="*/ 9 w 146"/>
              <a:gd name="T67" fmla="*/ 1 h 51"/>
              <a:gd name="T68" fmla="*/ 5 w 14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46" h="51">
                <a:moveTo>
                  <a:pt x="146" y="24"/>
                </a:moveTo>
                <a:lnTo>
                  <a:pt x="146" y="21"/>
                </a:lnTo>
                <a:lnTo>
                  <a:pt x="146" y="18"/>
                </a:lnTo>
                <a:lnTo>
                  <a:pt x="144" y="14"/>
                </a:lnTo>
                <a:lnTo>
                  <a:pt x="144" y="11"/>
                </a:lnTo>
                <a:lnTo>
                  <a:pt x="144" y="8"/>
                </a:lnTo>
                <a:lnTo>
                  <a:pt x="143" y="4"/>
                </a:lnTo>
                <a:lnTo>
                  <a:pt x="143" y="1"/>
                </a:lnTo>
                <a:lnTo>
                  <a:pt x="141" y="0"/>
                </a:lnTo>
                <a:lnTo>
                  <a:pt x="138" y="0"/>
                </a:lnTo>
                <a:lnTo>
                  <a:pt x="139" y="1"/>
                </a:lnTo>
                <a:lnTo>
                  <a:pt x="139" y="4"/>
                </a:lnTo>
                <a:lnTo>
                  <a:pt x="141" y="8"/>
                </a:lnTo>
                <a:lnTo>
                  <a:pt x="141" y="11"/>
                </a:lnTo>
                <a:lnTo>
                  <a:pt x="141" y="14"/>
                </a:lnTo>
                <a:lnTo>
                  <a:pt x="143" y="18"/>
                </a:lnTo>
                <a:lnTo>
                  <a:pt x="143" y="21"/>
                </a:lnTo>
                <a:lnTo>
                  <a:pt x="143" y="24"/>
                </a:lnTo>
                <a:lnTo>
                  <a:pt x="143" y="28"/>
                </a:lnTo>
                <a:lnTo>
                  <a:pt x="143" y="31"/>
                </a:lnTo>
                <a:lnTo>
                  <a:pt x="141" y="34"/>
                </a:lnTo>
                <a:lnTo>
                  <a:pt x="141" y="38"/>
                </a:lnTo>
                <a:lnTo>
                  <a:pt x="141" y="41"/>
                </a:lnTo>
                <a:lnTo>
                  <a:pt x="139" y="44"/>
                </a:lnTo>
                <a:lnTo>
                  <a:pt x="139" y="48"/>
                </a:lnTo>
                <a:lnTo>
                  <a:pt x="138" y="51"/>
                </a:lnTo>
                <a:lnTo>
                  <a:pt x="141" y="51"/>
                </a:lnTo>
                <a:lnTo>
                  <a:pt x="143" y="48"/>
                </a:lnTo>
                <a:lnTo>
                  <a:pt x="143" y="44"/>
                </a:lnTo>
                <a:lnTo>
                  <a:pt x="144" y="41"/>
                </a:lnTo>
                <a:lnTo>
                  <a:pt x="144" y="38"/>
                </a:lnTo>
                <a:lnTo>
                  <a:pt x="146" y="34"/>
                </a:lnTo>
                <a:lnTo>
                  <a:pt x="146" y="31"/>
                </a:lnTo>
                <a:lnTo>
                  <a:pt x="146" y="28"/>
                </a:lnTo>
                <a:lnTo>
                  <a:pt x="146" y="24"/>
                </a:lnTo>
                <a:close/>
                <a:moveTo>
                  <a:pt x="5" y="0"/>
                </a:moveTo>
                <a:lnTo>
                  <a:pt x="5" y="1"/>
                </a:lnTo>
                <a:lnTo>
                  <a:pt x="4" y="4"/>
                </a:lnTo>
                <a:lnTo>
                  <a:pt x="2" y="8"/>
                </a:lnTo>
                <a:lnTo>
                  <a:pt x="2" y="11"/>
                </a:lnTo>
                <a:lnTo>
                  <a:pt x="2" y="14"/>
                </a:lnTo>
                <a:lnTo>
                  <a:pt x="0" y="18"/>
                </a:lnTo>
                <a:lnTo>
                  <a:pt x="0" y="21"/>
                </a:lnTo>
                <a:lnTo>
                  <a:pt x="0" y="24"/>
                </a:lnTo>
                <a:lnTo>
                  <a:pt x="0" y="28"/>
                </a:lnTo>
                <a:lnTo>
                  <a:pt x="0" y="31"/>
                </a:lnTo>
                <a:lnTo>
                  <a:pt x="2" y="34"/>
                </a:lnTo>
                <a:lnTo>
                  <a:pt x="2" y="38"/>
                </a:lnTo>
                <a:lnTo>
                  <a:pt x="2" y="41"/>
                </a:lnTo>
                <a:lnTo>
                  <a:pt x="4" y="44"/>
                </a:lnTo>
                <a:lnTo>
                  <a:pt x="4" y="48"/>
                </a:lnTo>
                <a:lnTo>
                  <a:pt x="5" y="51"/>
                </a:lnTo>
                <a:lnTo>
                  <a:pt x="9" y="51"/>
                </a:lnTo>
                <a:lnTo>
                  <a:pt x="7" y="48"/>
                </a:lnTo>
                <a:lnTo>
                  <a:pt x="7" y="44"/>
                </a:lnTo>
                <a:lnTo>
                  <a:pt x="5" y="41"/>
                </a:lnTo>
                <a:lnTo>
                  <a:pt x="5" y="38"/>
                </a:lnTo>
                <a:lnTo>
                  <a:pt x="5" y="34"/>
                </a:lnTo>
                <a:lnTo>
                  <a:pt x="4" y="31"/>
                </a:lnTo>
                <a:lnTo>
                  <a:pt x="4" y="28"/>
                </a:lnTo>
                <a:lnTo>
                  <a:pt x="4" y="24"/>
                </a:lnTo>
                <a:lnTo>
                  <a:pt x="4" y="21"/>
                </a:lnTo>
                <a:lnTo>
                  <a:pt x="4" y="18"/>
                </a:lnTo>
                <a:lnTo>
                  <a:pt x="5" y="14"/>
                </a:lnTo>
                <a:lnTo>
                  <a:pt x="5" y="11"/>
                </a:lnTo>
                <a:lnTo>
                  <a:pt x="5" y="8"/>
                </a:lnTo>
                <a:lnTo>
                  <a:pt x="7" y="4"/>
                </a:lnTo>
                <a:lnTo>
                  <a:pt x="9" y="1"/>
                </a:lnTo>
                <a:lnTo>
                  <a:pt x="9"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09" name="Freeform 2014">
            <a:extLst>
              <a:ext uri="{FF2B5EF4-FFF2-40B4-BE49-F238E27FC236}">
                <a16:creationId xmlns:a16="http://schemas.microsoft.com/office/drawing/2014/main" id="{75C536F5-834D-6845-7017-F210A50DB1E4}"/>
              </a:ext>
            </a:extLst>
          </p:cNvPr>
          <p:cNvSpPr>
            <a:spLocks noEditPoints="1"/>
          </p:cNvSpPr>
          <p:nvPr/>
        </p:nvSpPr>
        <p:spPr bwMode="auto">
          <a:xfrm>
            <a:off x="2444750" y="2719388"/>
            <a:ext cx="225425" cy="80963"/>
          </a:xfrm>
          <a:custGeom>
            <a:avLst/>
            <a:gdLst>
              <a:gd name="T0" fmla="*/ 142 w 142"/>
              <a:gd name="T1" fmla="*/ 21 h 51"/>
              <a:gd name="T2" fmla="*/ 141 w 142"/>
              <a:gd name="T3" fmla="*/ 14 h 51"/>
              <a:gd name="T4" fmla="*/ 141 w 142"/>
              <a:gd name="T5" fmla="*/ 8 h 51"/>
              <a:gd name="T6" fmla="*/ 139 w 142"/>
              <a:gd name="T7" fmla="*/ 1 h 51"/>
              <a:gd name="T8" fmla="*/ 134 w 142"/>
              <a:gd name="T9" fmla="*/ 0 h 51"/>
              <a:gd name="T10" fmla="*/ 136 w 142"/>
              <a:gd name="T11" fmla="*/ 4 h 51"/>
              <a:gd name="T12" fmla="*/ 137 w 142"/>
              <a:gd name="T13" fmla="*/ 11 h 51"/>
              <a:gd name="T14" fmla="*/ 139 w 142"/>
              <a:gd name="T15" fmla="*/ 18 h 51"/>
              <a:gd name="T16" fmla="*/ 139 w 142"/>
              <a:gd name="T17" fmla="*/ 24 h 51"/>
              <a:gd name="T18" fmla="*/ 139 w 142"/>
              <a:gd name="T19" fmla="*/ 31 h 51"/>
              <a:gd name="T20" fmla="*/ 137 w 142"/>
              <a:gd name="T21" fmla="*/ 38 h 51"/>
              <a:gd name="T22" fmla="*/ 136 w 142"/>
              <a:gd name="T23" fmla="*/ 44 h 51"/>
              <a:gd name="T24" fmla="*/ 134 w 142"/>
              <a:gd name="T25" fmla="*/ 51 h 51"/>
              <a:gd name="T26" fmla="*/ 139 w 142"/>
              <a:gd name="T27" fmla="*/ 48 h 51"/>
              <a:gd name="T28" fmla="*/ 141 w 142"/>
              <a:gd name="T29" fmla="*/ 41 h 51"/>
              <a:gd name="T30" fmla="*/ 142 w 142"/>
              <a:gd name="T31" fmla="*/ 34 h 51"/>
              <a:gd name="T32" fmla="*/ 142 w 142"/>
              <a:gd name="T33" fmla="*/ 28 h 51"/>
              <a:gd name="T34" fmla="*/ 5 w 142"/>
              <a:gd name="T35" fmla="*/ 0 h 51"/>
              <a:gd name="T36" fmla="*/ 3 w 142"/>
              <a:gd name="T37" fmla="*/ 4 h 51"/>
              <a:gd name="T38" fmla="*/ 2 w 142"/>
              <a:gd name="T39" fmla="*/ 11 h 51"/>
              <a:gd name="T40" fmla="*/ 0 w 142"/>
              <a:gd name="T41" fmla="*/ 18 h 51"/>
              <a:gd name="T42" fmla="*/ 0 w 142"/>
              <a:gd name="T43" fmla="*/ 24 h 51"/>
              <a:gd name="T44" fmla="*/ 0 w 142"/>
              <a:gd name="T45" fmla="*/ 31 h 51"/>
              <a:gd name="T46" fmla="*/ 2 w 142"/>
              <a:gd name="T47" fmla="*/ 38 h 51"/>
              <a:gd name="T48" fmla="*/ 3 w 142"/>
              <a:gd name="T49" fmla="*/ 44 h 51"/>
              <a:gd name="T50" fmla="*/ 5 w 142"/>
              <a:gd name="T51" fmla="*/ 51 h 51"/>
              <a:gd name="T52" fmla="*/ 8 w 142"/>
              <a:gd name="T53" fmla="*/ 48 h 51"/>
              <a:gd name="T54" fmla="*/ 5 w 142"/>
              <a:gd name="T55" fmla="*/ 41 h 51"/>
              <a:gd name="T56" fmla="*/ 5 w 142"/>
              <a:gd name="T57" fmla="*/ 34 h 51"/>
              <a:gd name="T58" fmla="*/ 3 w 142"/>
              <a:gd name="T59" fmla="*/ 28 h 51"/>
              <a:gd name="T60" fmla="*/ 3 w 142"/>
              <a:gd name="T61" fmla="*/ 21 h 51"/>
              <a:gd name="T62" fmla="*/ 5 w 142"/>
              <a:gd name="T63" fmla="*/ 14 h 51"/>
              <a:gd name="T64" fmla="*/ 7 w 142"/>
              <a:gd name="T65" fmla="*/ 8 h 51"/>
              <a:gd name="T66" fmla="*/ 8 w 142"/>
              <a:gd name="T67" fmla="*/ 1 h 51"/>
              <a:gd name="T68" fmla="*/ 5 w 14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42" h="51">
                <a:moveTo>
                  <a:pt x="142" y="24"/>
                </a:moveTo>
                <a:lnTo>
                  <a:pt x="142" y="21"/>
                </a:lnTo>
                <a:lnTo>
                  <a:pt x="142" y="18"/>
                </a:lnTo>
                <a:lnTo>
                  <a:pt x="141" y="14"/>
                </a:lnTo>
                <a:lnTo>
                  <a:pt x="141" y="11"/>
                </a:lnTo>
                <a:lnTo>
                  <a:pt x="141" y="8"/>
                </a:lnTo>
                <a:lnTo>
                  <a:pt x="139" y="4"/>
                </a:lnTo>
                <a:lnTo>
                  <a:pt x="139" y="1"/>
                </a:lnTo>
                <a:lnTo>
                  <a:pt x="137" y="0"/>
                </a:lnTo>
                <a:lnTo>
                  <a:pt x="134" y="0"/>
                </a:lnTo>
                <a:lnTo>
                  <a:pt x="134" y="1"/>
                </a:lnTo>
                <a:lnTo>
                  <a:pt x="136" y="4"/>
                </a:lnTo>
                <a:lnTo>
                  <a:pt x="137" y="8"/>
                </a:lnTo>
                <a:lnTo>
                  <a:pt x="137" y="11"/>
                </a:lnTo>
                <a:lnTo>
                  <a:pt x="137" y="14"/>
                </a:lnTo>
                <a:lnTo>
                  <a:pt x="139" y="18"/>
                </a:lnTo>
                <a:lnTo>
                  <a:pt x="139" y="21"/>
                </a:lnTo>
                <a:lnTo>
                  <a:pt x="139" y="24"/>
                </a:lnTo>
                <a:lnTo>
                  <a:pt x="139" y="28"/>
                </a:lnTo>
                <a:lnTo>
                  <a:pt x="139" y="31"/>
                </a:lnTo>
                <a:lnTo>
                  <a:pt x="137" y="34"/>
                </a:lnTo>
                <a:lnTo>
                  <a:pt x="137" y="38"/>
                </a:lnTo>
                <a:lnTo>
                  <a:pt x="137" y="41"/>
                </a:lnTo>
                <a:lnTo>
                  <a:pt x="136" y="44"/>
                </a:lnTo>
                <a:lnTo>
                  <a:pt x="136" y="48"/>
                </a:lnTo>
                <a:lnTo>
                  <a:pt x="134" y="51"/>
                </a:lnTo>
                <a:lnTo>
                  <a:pt x="137" y="51"/>
                </a:lnTo>
                <a:lnTo>
                  <a:pt x="139" y="48"/>
                </a:lnTo>
                <a:lnTo>
                  <a:pt x="139" y="44"/>
                </a:lnTo>
                <a:lnTo>
                  <a:pt x="141" y="41"/>
                </a:lnTo>
                <a:lnTo>
                  <a:pt x="141" y="38"/>
                </a:lnTo>
                <a:lnTo>
                  <a:pt x="142" y="34"/>
                </a:lnTo>
                <a:lnTo>
                  <a:pt x="142" y="31"/>
                </a:lnTo>
                <a:lnTo>
                  <a:pt x="142" y="28"/>
                </a:lnTo>
                <a:lnTo>
                  <a:pt x="142" y="24"/>
                </a:lnTo>
                <a:close/>
                <a:moveTo>
                  <a:pt x="5" y="0"/>
                </a:moveTo>
                <a:lnTo>
                  <a:pt x="5" y="1"/>
                </a:lnTo>
                <a:lnTo>
                  <a:pt x="3" y="4"/>
                </a:lnTo>
                <a:lnTo>
                  <a:pt x="2" y="8"/>
                </a:lnTo>
                <a:lnTo>
                  <a:pt x="2" y="11"/>
                </a:lnTo>
                <a:lnTo>
                  <a:pt x="2" y="14"/>
                </a:lnTo>
                <a:lnTo>
                  <a:pt x="0" y="18"/>
                </a:lnTo>
                <a:lnTo>
                  <a:pt x="0" y="21"/>
                </a:lnTo>
                <a:lnTo>
                  <a:pt x="0" y="24"/>
                </a:lnTo>
                <a:lnTo>
                  <a:pt x="0" y="28"/>
                </a:lnTo>
                <a:lnTo>
                  <a:pt x="0" y="31"/>
                </a:lnTo>
                <a:lnTo>
                  <a:pt x="2" y="34"/>
                </a:lnTo>
                <a:lnTo>
                  <a:pt x="2" y="38"/>
                </a:lnTo>
                <a:lnTo>
                  <a:pt x="2" y="41"/>
                </a:lnTo>
                <a:lnTo>
                  <a:pt x="3" y="44"/>
                </a:lnTo>
                <a:lnTo>
                  <a:pt x="3" y="48"/>
                </a:lnTo>
                <a:lnTo>
                  <a:pt x="5" y="51"/>
                </a:lnTo>
                <a:lnTo>
                  <a:pt x="8" y="51"/>
                </a:lnTo>
                <a:lnTo>
                  <a:pt x="8" y="48"/>
                </a:lnTo>
                <a:lnTo>
                  <a:pt x="7" y="44"/>
                </a:lnTo>
                <a:lnTo>
                  <a:pt x="5" y="41"/>
                </a:lnTo>
                <a:lnTo>
                  <a:pt x="5" y="38"/>
                </a:lnTo>
                <a:lnTo>
                  <a:pt x="5" y="34"/>
                </a:lnTo>
                <a:lnTo>
                  <a:pt x="3" y="31"/>
                </a:lnTo>
                <a:lnTo>
                  <a:pt x="3" y="28"/>
                </a:lnTo>
                <a:lnTo>
                  <a:pt x="3" y="24"/>
                </a:lnTo>
                <a:lnTo>
                  <a:pt x="3" y="21"/>
                </a:lnTo>
                <a:lnTo>
                  <a:pt x="3" y="18"/>
                </a:lnTo>
                <a:lnTo>
                  <a:pt x="5" y="14"/>
                </a:lnTo>
                <a:lnTo>
                  <a:pt x="5" y="11"/>
                </a:lnTo>
                <a:lnTo>
                  <a:pt x="7" y="8"/>
                </a:lnTo>
                <a:lnTo>
                  <a:pt x="7" y="4"/>
                </a:lnTo>
                <a:lnTo>
                  <a:pt x="8" y="1"/>
                </a:lnTo>
                <a:lnTo>
                  <a:pt x="8"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10" name="Freeform 2015">
            <a:extLst>
              <a:ext uri="{FF2B5EF4-FFF2-40B4-BE49-F238E27FC236}">
                <a16:creationId xmlns:a16="http://schemas.microsoft.com/office/drawing/2014/main" id="{44E436B3-532D-CE7A-9FE5-148E926450A4}"/>
              </a:ext>
            </a:extLst>
          </p:cNvPr>
          <p:cNvSpPr>
            <a:spLocks noEditPoints="1"/>
          </p:cNvSpPr>
          <p:nvPr/>
        </p:nvSpPr>
        <p:spPr bwMode="auto">
          <a:xfrm>
            <a:off x="2447925" y="2719388"/>
            <a:ext cx="220663" cy="80963"/>
          </a:xfrm>
          <a:custGeom>
            <a:avLst/>
            <a:gdLst>
              <a:gd name="T0" fmla="*/ 139 w 139"/>
              <a:gd name="T1" fmla="*/ 21 h 51"/>
              <a:gd name="T2" fmla="*/ 137 w 139"/>
              <a:gd name="T3" fmla="*/ 14 h 51"/>
              <a:gd name="T4" fmla="*/ 137 w 139"/>
              <a:gd name="T5" fmla="*/ 8 h 51"/>
              <a:gd name="T6" fmla="*/ 135 w 139"/>
              <a:gd name="T7" fmla="*/ 1 h 51"/>
              <a:gd name="T8" fmla="*/ 130 w 139"/>
              <a:gd name="T9" fmla="*/ 0 h 51"/>
              <a:gd name="T10" fmla="*/ 132 w 139"/>
              <a:gd name="T11" fmla="*/ 4 h 51"/>
              <a:gd name="T12" fmla="*/ 134 w 139"/>
              <a:gd name="T13" fmla="*/ 11 h 51"/>
              <a:gd name="T14" fmla="*/ 135 w 139"/>
              <a:gd name="T15" fmla="*/ 18 h 51"/>
              <a:gd name="T16" fmla="*/ 135 w 139"/>
              <a:gd name="T17" fmla="*/ 24 h 51"/>
              <a:gd name="T18" fmla="*/ 135 w 139"/>
              <a:gd name="T19" fmla="*/ 31 h 51"/>
              <a:gd name="T20" fmla="*/ 134 w 139"/>
              <a:gd name="T21" fmla="*/ 38 h 51"/>
              <a:gd name="T22" fmla="*/ 132 w 139"/>
              <a:gd name="T23" fmla="*/ 44 h 51"/>
              <a:gd name="T24" fmla="*/ 130 w 139"/>
              <a:gd name="T25" fmla="*/ 51 h 51"/>
              <a:gd name="T26" fmla="*/ 135 w 139"/>
              <a:gd name="T27" fmla="*/ 48 h 51"/>
              <a:gd name="T28" fmla="*/ 137 w 139"/>
              <a:gd name="T29" fmla="*/ 41 h 51"/>
              <a:gd name="T30" fmla="*/ 137 w 139"/>
              <a:gd name="T31" fmla="*/ 34 h 51"/>
              <a:gd name="T32" fmla="*/ 139 w 139"/>
              <a:gd name="T33" fmla="*/ 28 h 51"/>
              <a:gd name="T34" fmla="*/ 5 w 139"/>
              <a:gd name="T35" fmla="*/ 0 h 51"/>
              <a:gd name="T36" fmla="*/ 3 w 139"/>
              <a:gd name="T37" fmla="*/ 4 h 51"/>
              <a:gd name="T38" fmla="*/ 1 w 139"/>
              <a:gd name="T39" fmla="*/ 11 h 51"/>
              <a:gd name="T40" fmla="*/ 0 w 139"/>
              <a:gd name="T41" fmla="*/ 18 h 51"/>
              <a:gd name="T42" fmla="*/ 0 w 139"/>
              <a:gd name="T43" fmla="*/ 24 h 51"/>
              <a:gd name="T44" fmla="*/ 0 w 139"/>
              <a:gd name="T45" fmla="*/ 31 h 51"/>
              <a:gd name="T46" fmla="*/ 1 w 139"/>
              <a:gd name="T47" fmla="*/ 38 h 51"/>
              <a:gd name="T48" fmla="*/ 3 w 139"/>
              <a:gd name="T49" fmla="*/ 44 h 51"/>
              <a:gd name="T50" fmla="*/ 5 w 139"/>
              <a:gd name="T51" fmla="*/ 51 h 51"/>
              <a:gd name="T52" fmla="*/ 8 w 139"/>
              <a:gd name="T53" fmla="*/ 48 h 51"/>
              <a:gd name="T54" fmla="*/ 5 w 139"/>
              <a:gd name="T55" fmla="*/ 41 h 51"/>
              <a:gd name="T56" fmla="*/ 5 w 139"/>
              <a:gd name="T57" fmla="*/ 34 h 51"/>
              <a:gd name="T58" fmla="*/ 3 w 139"/>
              <a:gd name="T59" fmla="*/ 28 h 51"/>
              <a:gd name="T60" fmla="*/ 3 w 139"/>
              <a:gd name="T61" fmla="*/ 21 h 51"/>
              <a:gd name="T62" fmla="*/ 5 w 139"/>
              <a:gd name="T63" fmla="*/ 14 h 51"/>
              <a:gd name="T64" fmla="*/ 6 w 139"/>
              <a:gd name="T65" fmla="*/ 8 h 51"/>
              <a:gd name="T66" fmla="*/ 8 w 139"/>
              <a:gd name="T67" fmla="*/ 1 h 51"/>
              <a:gd name="T68" fmla="*/ 5 w 13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9" h="51">
                <a:moveTo>
                  <a:pt x="139" y="24"/>
                </a:moveTo>
                <a:lnTo>
                  <a:pt x="139" y="21"/>
                </a:lnTo>
                <a:lnTo>
                  <a:pt x="139" y="18"/>
                </a:lnTo>
                <a:lnTo>
                  <a:pt x="137" y="14"/>
                </a:lnTo>
                <a:lnTo>
                  <a:pt x="137" y="11"/>
                </a:lnTo>
                <a:lnTo>
                  <a:pt x="137" y="8"/>
                </a:lnTo>
                <a:lnTo>
                  <a:pt x="135" y="4"/>
                </a:lnTo>
                <a:lnTo>
                  <a:pt x="135" y="1"/>
                </a:lnTo>
                <a:lnTo>
                  <a:pt x="134" y="0"/>
                </a:lnTo>
                <a:lnTo>
                  <a:pt x="130" y="0"/>
                </a:lnTo>
                <a:lnTo>
                  <a:pt x="130" y="1"/>
                </a:lnTo>
                <a:lnTo>
                  <a:pt x="132" y="4"/>
                </a:lnTo>
                <a:lnTo>
                  <a:pt x="134" y="8"/>
                </a:lnTo>
                <a:lnTo>
                  <a:pt x="134" y="11"/>
                </a:lnTo>
                <a:lnTo>
                  <a:pt x="134" y="14"/>
                </a:lnTo>
                <a:lnTo>
                  <a:pt x="135" y="18"/>
                </a:lnTo>
                <a:lnTo>
                  <a:pt x="135" y="21"/>
                </a:lnTo>
                <a:lnTo>
                  <a:pt x="135" y="24"/>
                </a:lnTo>
                <a:lnTo>
                  <a:pt x="135" y="28"/>
                </a:lnTo>
                <a:lnTo>
                  <a:pt x="135" y="31"/>
                </a:lnTo>
                <a:lnTo>
                  <a:pt x="134" y="34"/>
                </a:lnTo>
                <a:lnTo>
                  <a:pt x="134" y="38"/>
                </a:lnTo>
                <a:lnTo>
                  <a:pt x="134" y="41"/>
                </a:lnTo>
                <a:lnTo>
                  <a:pt x="132" y="44"/>
                </a:lnTo>
                <a:lnTo>
                  <a:pt x="132" y="48"/>
                </a:lnTo>
                <a:lnTo>
                  <a:pt x="130" y="51"/>
                </a:lnTo>
                <a:lnTo>
                  <a:pt x="134" y="51"/>
                </a:lnTo>
                <a:lnTo>
                  <a:pt x="135" y="48"/>
                </a:lnTo>
                <a:lnTo>
                  <a:pt x="135" y="44"/>
                </a:lnTo>
                <a:lnTo>
                  <a:pt x="137" y="41"/>
                </a:lnTo>
                <a:lnTo>
                  <a:pt x="137" y="38"/>
                </a:lnTo>
                <a:lnTo>
                  <a:pt x="137" y="34"/>
                </a:lnTo>
                <a:lnTo>
                  <a:pt x="139" y="31"/>
                </a:lnTo>
                <a:lnTo>
                  <a:pt x="139" y="28"/>
                </a:lnTo>
                <a:lnTo>
                  <a:pt x="139" y="24"/>
                </a:lnTo>
                <a:close/>
                <a:moveTo>
                  <a:pt x="5" y="0"/>
                </a:moveTo>
                <a:lnTo>
                  <a:pt x="5" y="1"/>
                </a:lnTo>
                <a:lnTo>
                  <a:pt x="3" y="4"/>
                </a:lnTo>
                <a:lnTo>
                  <a:pt x="1" y="8"/>
                </a:lnTo>
                <a:lnTo>
                  <a:pt x="1" y="11"/>
                </a:lnTo>
                <a:lnTo>
                  <a:pt x="1" y="14"/>
                </a:lnTo>
                <a:lnTo>
                  <a:pt x="0" y="18"/>
                </a:lnTo>
                <a:lnTo>
                  <a:pt x="0" y="21"/>
                </a:lnTo>
                <a:lnTo>
                  <a:pt x="0" y="24"/>
                </a:lnTo>
                <a:lnTo>
                  <a:pt x="0" y="28"/>
                </a:lnTo>
                <a:lnTo>
                  <a:pt x="0" y="31"/>
                </a:lnTo>
                <a:lnTo>
                  <a:pt x="1" y="34"/>
                </a:lnTo>
                <a:lnTo>
                  <a:pt x="1" y="38"/>
                </a:lnTo>
                <a:lnTo>
                  <a:pt x="1" y="41"/>
                </a:lnTo>
                <a:lnTo>
                  <a:pt x="3" y="44"/>
                </a:lnTo>
                <a:lnTo>
                  <a:pt x="3" y="48"/>
                </a:lnTo>
                <a:lnTo>
                  <a:pt x="5" y="51"/>
                </a:lnTo>
                <a:lnTo>
                  <a:pt x="8" y="51"/>
                </a:lnTo>
                <a:lnTo>
                  <a:pt x="8" y="48"/>
                </a:lnTo>
                <a:lnTo>
                  <a:pt x="6" y="44"/>
                </a:lnTo>
                <a:lnTo>
                  <a:pt x="5" y="41"/>
                </a:lnTo>
                <a:lnTo>
                  <a:pt x="5" y="38"/>
                </a:lnTo>
                <a:lnTo>
                  <a:pt x="5" y="34"/>
                </a:lnTo>
                <a:lnTo>
                  <a:pt x="3" y="31"/>
                </a:lnTo>
                <a:lnTo>
                  <a:pt x="3" y="28"/>
                </a:lnTo>
                <a:lnTo>
                  <a:pt x="3" y="24"/>
                </a:lnTo>
                <a:lnTo>
                  <a:pt x="3" y="21"/>
                </a:lnTo>
                <a:lnTo>
                  <a:pt x="3" y="18"/>
                </a:lnTo>
                <a:lnTo>
                  <a:pt x="5" y="14"/>
                </a:lnTo>
                <a:lnTo>
                  <a:pt x="5" y="11"/>
                </a:lnTo>
                <a:lnTo>
                  <a:pt x="6" y="8"/>
                </a:lnTo>
                <a:lnTo>
                  <a:pt x="6" y="4"/>
                </a:lnTo>
                <a:lnTo>
                  <a:pt x="8" y="1"/>
                </a:lnTo>
                <a:lnTo>
                  <a:pt x="10" y="0"/>
                </a:lnTo>
                <a:lnTo>
                  <a:pt x="5" y="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11" name="Freeform 2016">
            <a:extLst>
              <a:ext uri="{FF2B5EF4-FFF2-40B4-BE49-F238E27FC236}">
                <a16:creationId xmlns:a16="http://schemas.microsoft.com/office/drawing/2014/main" id="{62DAFC29-4197-4260-C277-E7B3A323D89C}"/>
              </a:ext>
            </a:extLst>
          </p:cNvPr>
          <p:cNvSpPr>
            <a:spLocks noEditPoints="1"/>
          </p:cNvSpPr>
          <p:nvPr/>
        </p:nvSpPr>
        <p:spPr bwMode="auto">
          <a:xfrm>
            <a:off x="2449513" y="2719388"/>
            <a:ext cx="215900" cy="80963"/>
          </a:xfrm>
          <a:custGeom>
            <a:avLst/>
            <a:gdLst>
              <a:gd name="T0" fmla="*/ 136 w 136"/>
              <a:gd name="T1" fmla="*/ 21 h 51"/>
              <a:gd name="T2" fmla="*/ 134 w 136"/>
              <a:gd name="T3" fmla="*/ 14 h 51"/>
              <a:gd name="T4" fmla="*/ 134 w 136"/>
              <a:gd name="T5" fmla="*/ 8 h 51"/>
              <a:gd name="T6" fmla="*/ 131 w 136"/>
              <a:gd name="T7" fmla="*/ 1 h 51"/>
              <a:gd name="T8" fmla="*/ 128 w 136"/>
              <a:gd name="T9" fmla="*/ 0 h 51"/>
              <a:gd name="T10" fmla="*/ 129 w 136"/>
              <a:gd name="T11" fmla="*/ 4 h 51"/>
              <a:gd name="T12" fmla="*/ 131 w 136"/>
              <a:gd name="T13" fmla="*/ 11 h 51"/>
              <a:gd name="T14" fmla="*/ 133 w 136"/>
              <a:gd name="T15" fmla="*/ 18 h 51"/>
              <a:gd name="T16" fmla="*/ 133 w 136"/>
              <a:gd name="T17" fmla="*/ 24 h 51"/>
              <a:gd name="T18" fmla="*/ 133 w 136"/>
              <a:gd name="T19" fmla="*/ 31 h 51"/>
              <a:gd name="T20" fmla="*/ 131 w 136"/>
              <a:gd name="T21" fmla="*/ 38 h 51"/>
              <a:gd name="T22" fmla="*/ 129 w 136"/>
              <a:gd name="T23" fmla="*/ 44 h 51"/>
              <a:gd name="T24" fmla="*/ 128 w 136"/>
              <a:gd name="T25" fmla="*/ 51 h 51"/>
              <a:gd name="T26" fmla="*/ 133 w 136"/>
              <a:gd name="T27" fmla="*/ 48 h 51"/>
              <a:gd name="T28" fmla="*/ 134 w 136"/>
              <a:gd name="T29" fmla="*/ 41 h 51"/>
              <a:gd name="T30" fmla="*/ 134 w 136"/>
              <a:gd name="T31" fmla="*/ 34 h 51"/>
              <a:gd name="T32" fmla="*/ 136 w 136"/>
              <a:gd name="T33" fmla="*/ 28 h 51"/>
              <a:gd name="T34" fmla="*/ 5 w 136"/>
              <a:gd name="T35" fmla="*/ 0 h 51"/>
              <a:gd name="T36" fmla="*/ 4 w 136"/>
              <a:gd name="T37" fmla="*/ 4 h 51"/>
              <a:gd name="T38" fmla="*/ 2 w 136"/>
              <a:gd name="T39" fmla="*/ 11 h 51"/>
              <a:gd name="T40" fmla="*/ 0 w 136"/>
              <a:gd name="T41" fmla="*/ 18 h 51"/>
              <a:gd name="T42" fmla="*/ 0 w 136"/>
              <a:gd name="T43" fmla="*/ 24 h 51"/>
              <a:gd name="T44" fmla="*/ 0 w 136"/>
              <a:gd name="T45" fmla="*/ 31 h 51"/>
              <a:gd name="T46" fmla="*/ 2 w 136"/>
              <a:gd name="T47" fmla="*/ 38 h 51"/>
              <a:gd name="T48" fmla="*/ 4 w 136"/>
              <a:gd name="T49" fmla="*/ 44 h 51"/>
              <a:gd name="T50" fmla="*/ 5 w 136"/>
              <a:gd name="T51" fmla="*/ 51 h 51"/>
              <a:gd name="T52" fmla="*/ 9 w 136"/>
              <a:gd name="T53" fmla="*/ 48 h 51"/>
              <a:gd name="T54" fmla="*/ 5 w 136"/>
              <a:gd name="T55" fmla="*/ 41 h 51"/>
              <a:gd name="T56" fmla="*/ 5 w 136"/>
              <a:gd name="T57" fmla="*/ 34 h 51"/>
              <a:gd name="T58" fmla="*/ 4 w 136"/>
              <a:gd name="T59" fmla="*/ 28 h 51"/>
              <a:gd name="T60" fmla="*/ 4 w 136"/>
              <a:gd name="T61" fmla="*/ 21 h 51"/>
              <a:gd name="T62" fmla="*/ 5 w 136"/>
              <a:gd name="T63" fmla="*/ 14 h 51"/>
              <a:gd name="T64" fmla="*/ 7 w 136"/>
              <a:gd name="T65" fmla="*/ 8 h 51"/>
              <a:gd name="T66" fmla="*/ 9 w 136"/>
              <a:gd name="T67" fmla="*/ 1 h 51"/>
              <a:gd name="T68" fmla="*/ 5 w 13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6" h="51">
                <a:moveTo>
                  <a:pt x="136" y="24"/>
                </a:moveTo>
                <a:lnTo>
                  <a:pt x="136" y="21"/>
                </a:lnTo>
                <a:lnTo>
                  <a:pt x="136" y="18"/>
                </a:lnTo>
                <a:lnTo>
                  <a:pt x="134" y="14"/>
                </a:lnTo>
                <a:lnTo>
                  <a:pt x="134" y="11"/>
                </a:lnTo>
                <a:lnTo>
                  <a:pt x="134" y="8"/>
                </a:lnTo>
                <a:lnTo>
                  <a:pt x="133" y="4"/>
                </a:lnTo>
                <a:lnTo>
                  <a:pt x="131" y="1"/>
                </a:lnTo>
                <a:lnTo>
                  <a:pt x="131" y="0"/>
                </a:lnTo>
                <a:lnTo>
                  <a:pt x="128" y="0"/>
                </a:lnTo>
                <a:lnTo>
                  <a:pt x="128" y="1"/>
                </a:lnTo>
                <a:lnTo>
                  <a:pt x="129" y="4"/>
                </a:lnTo>
                <a:lnTo>
                  <a:pt x="131" y="8"/>
                </a:lnTo>
                <a:lnTo>
                  <a:pt x="131" y="11"/>
                </a:lnTo>
                <a:lnTo>
                  <a:pt x="131" y="14"/>
                </a:lnTo>
                <a:lnTo>
                  <a:pt x="133" y="18"/>
                </a:lnTo>
                <a:lnTo>
                  <a:pt x="133" y="21"/>
                </a:lnTo>
                <a:lnTo>
                  <a:pt x="133" y="24"/>
                </a:lnTo>
                <a:lnTo>
                  <a:pt x="133" y="28"/>
                </a:lnTo>
                <a:lnTo>
                  <a:pt x="133" y="31"/>
                </a:lnTo>
                <a:lnTo>
                  <a:pt x="131" y="34"/>
                </a:lnTo>
                <a:lnTo>
                  <a:pt x="131" y="38"/>
                </a:lnTo>
                <a:lnTo>
                  <a:pt x="131" y="41"/>
                </a:lnTo>
                <a:lnTo>
                  <a:pt x="129" y="44"/>
                </a:lnTo>
                <a:lnTo>
                  <a:pt x="129" y="48"/>
                </a:lnTo>
                <a:lnTo>
                  <a:pt x="128" y="51"/>
                </a:lnTo>
                <a:lnTo>
                  <a:pt x="131" y="51"/>
                </a:lnTo>
                <a:lnTo>
                  <a:pt x="133" y="48"/>
                </a:lnTo>
                <a:lnTo>
                  <a:pt x="133" y="44"/>
                </a:lnTo>
                <a:lnTo>
                  <a:pt x="134" y="41"/>
                </a:lnTo>
                <a:lnTo>
                  <a:pt x="134" y="38"/>
                </a:lnTo>
                <a:lnTo>
                  <a:pt x="134" y="34"/>
                </a:lnTo>
                <a:lnTo>
                  <a:pt x="136" y="31"/>
                </a:lnTo>
                <a:lnTo>
                  <a:pt x="136" y="28"/>
                </a:lnTo>
                <a:lnTo>
                  <a:pt x="136" y="24"/>
                </a:lnTo>
                <a:close/>
                <a:moveTo>
                  <a:pt x="5" y="0"/>
                </a:moveTo>
                <a:lnTo>
                  <a:pt x="5" y="1"/>
                </a:lnTo>
                <a:lnTo>
                  <a:pt x="4" y="4"/>
                </a:lnTo>
                <a:lnTo>
                  <a:pt x="4" y="8"/>
                </a:lnTo>
                <a:lnTo>
                  <a:pt x="2" y="11"/>
                </a:lnTo>
                <a:lnTo>
                  <a:pt x="2" y="14"/>
                </a:lnTo>
                <a:lnTo>
                  <a:pt x="0" y="18"/>
                </a:lnTo>
                <a:lnTo>
                  <a:pt x="0" y="21"/>
                </a:lnTo>
                <a:lnTo>
                  <a:pt x="0" y="24"/>
                </a:lnTo>
                <a:lnTo>
                  <a:pt x="0" y="28"/>
                </a:lnTo>
                <a:lnTo>
                  <a:pt x="0" y="31"/>
                </a:lnTo>
                <a:lnTo>
                  <a:pt x="2" y="34"/>
                </a:lnTo>
                <a:lnTo>
                  <a:pt x="2" y="38"/>
                </a:lnTo>
                <a:lnTo>
                  <a:pt x="2" y="41"/>
                </a:lnTo>
                <a:lnTo>
                  <a:pt x="4" y="44"/>
                </a:lnTo>
                <a:lnTo>
                  <a:pt x="5" y="48"/>
                </a:lnTo>
                <a:lnTo>
                  <a:pt x="5" y="51"/>
                </a:lnTo>
                <a:lnTo>
                  <a:pt x="9" y="51"/>
                </a:lnTo>
                <a:lnTo>
                  <a:pt x="9" y="48"/>
                </a:lnTo>
                <a:lnTo>
                  <a:pt x="7" y="44"/>
                </a:lnTo>
                <a:lnTo>
                  <a:pt x="5" y="41"/>
                </a:lnTo>
                <a:lnTo>
                  <a:pt x="5" y="38"/>
                </a:lnTo>
                <a:lnTo>
                  <a:pt x="5" y="34"/>
                </a:lnTo>
                <a:lnTo>
                  <a:pt x="4" y="31"/>
                </a:lnTo>
                <a:lnTo>
                  <a:pt x="4" y="28"/>
                </a:lnTo>
                <a:lnTo>
                  <a:pt x="4" y="24"/>
                </a:lnTo>
                <a:lnTo>
                  <a:pt x="4" y="21"/>
                </a:lnTo>
                <a:lnTo>
                  <a:pt x="4" y="18"/>
                </a:lnTo>
                <a:lnTo>
                  <a:pt x="5" y="14"/>
                </a:lnTo>
                <a:lnTo>
                  <a:pt x="5" y="11"/>
                </a:lnTo>
                <a:lnTo>
                  <a:pt x="7" y="8"/>
                </a:lnTo>
                <a:lnTo>
                  <a:pt x="7" y="4"/>
                </a:lnTo>
                <a:lnTo>
                  <a:pt x="9" y="1"/>
                </a:lnTo>
                <a:lnTo>
                  <a:pt x="10" y="0"/>
                </a:lnTo>
                <a:lnTo>
                  <a:pt x="5"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12" name="Freeform 2017">
            <a:extLst>
              <a:ext uri="{FF2B5EF4-FFF2-40B4-BE49-F238E27FC236}">
                <a16:creationId xmlns:a16="http://schemas.microsoft.com/office/drawing/2014/main" id="{C6D7DED3-42C6-E9D3-B0FD-F3D80B9CDBF6}"/>
              </a:ext>
            </a:extLst>
          </p:cNvPr>
          <p:cNvSpPr>
            <a:spLocks noEditPoints="1"/>
          </p:cNvSpPr>
          <p:nvPr/>
        </p:nvSpPr>
        <p:spPr bwMode="auto">
          <a:xfrm>
            <a:off x="2452688" y="2719388"/>
            <a:ext cx="209550" cy="80963"/>
          </a:xfrm>
          <a:custGeom>
            <a:avLst/>
            <a:gdLst>
              <a:gd name="T0" fmla="*/ 132 w 132"/>
              <a:gd name="T1" fmla="*/ 21 h 51"/>
              <a:gd name="T2" fmla="*/ 131 w 132"/>
              <a:gd name="T3" fmla="*/ 14 h 51"/>
              <a:gd name="T4" fmla="*/ 131 w 132"/>
              <a:gd name="T5" fmla="*/ 8 h 51"/>
              <a:gd name="T6" fmla="*/ 127 w 132"/>
              <a:gd name="T7" fmla="*/ 1 h 51"/>
              <a:gd name="T8" fmla="*/ 122 w 132"/>
              <a:gd name="T9" fmla="*/ 0 h 51"/>
              <a:gd name="T10" fmla="*/ 126 w 132"/>
              <a:gd name="T11" fmla="*/ 4 h 51"/>
              <a:gd name="T12" fmla="*/ 127 w 132"/>
              <a:gd name="T13" fmla="*/ 11 h 51"/>
              <a:gd name="T14" fmla="*/ 129 w 132"/>
              <a:gd name="T15" fmla="*/ 18 h 51"/>
              <a:gd name="T16" fmla="*/ 129 w 132"/>
              <a:gd name="T17" fmla="*/ 24 h 51"/>
              <a:gd name="T18" fmla="*/ 129 w 132"/>
              <a:gd name="T19" fmla="*/ 31 h 51"/>
              <a:gd name="T20" fmla="*/ 127 w 132"/>
              <a:gd name="T21" fmla="*/ 38 h 51"/>
              <a:gd name="T22" fmla="*/ 126 w 132"/>
              <a:gd name="T23" fmla="*/ 44 h 51"/>
              <a:gd name="T24" fmla="*/ 124 w 132"/>
              <a:gd name="T25" fmla="*/ 51 h 51"/>
              <a:gd name="T26" fmla="*/ 129 w 132"/>
              <a:gd name="T27" fmla="*/ 48 h 51"/>
              <a:gd name="T28" fmla="*/ 131 w 132"/>
              <a:gd name="T29" fmla="*/ 41 h 51"/>
              <a:gd name="T30" fmla="*/ 131 w 132"/>
              <a:gd name="T31" fmla="*/ 34 h 51"/>
              <a:gd name="T32" fmla="*/ 132 w 132"/>
              <a:gd name="T33" fmla="*/ 28 h 51"/>
              <a:gd name="T34" fmla="*/ 7 w 132"/>
              <a:gd name="T35" fmla="*/ 0 h 51"/>
              <a:gd name="T36" fmla="*/ 3 w 132"/>
              <a:gd name="T37" fmla="*/ 4 h 51"/>
              <a:gd name="T38" fmla="*/ 2 w 132"/>
              <a:gd name="T39" fmla="*/ 11 h 51"/>
              <a:gd name="T40" fmla="*/ 0 w 132"/>
              <a:gd name="T41" fmla="*/ 18 h 51"/>
              <a:gd name="T42" fmla="*/ 0 w 132"/>
              <a:gd name="T43" fmla="*/ 24 h 51"/>
              <a:gd name="T44" fmla="*/ 0 w 132"/>
              <a:gd name="T45" fmla="*/ 31 h 51"/>
              <a:gd name="T46" fmla="*/ 2 w 132"/>
              <a:gd name="T47" fmla="*/ 38 h 51"/>
              <a:gd name="T48" fmla="*/ 3 w 132"/>
              <a:gd name="T49" fmla="*/ 44 h 51"/>
              <a:gd name="T50" fmla="*/ 5 w 132"/>
              <a:gd name="T51" fmla="*/ 51 h 51"/>
              <a:gd name="T52" fmla="*/ 8 w 132"/>
              <a:gd name="T53" fmla="*/ 48 h 51"/>
              <a:gd name="T54" fmla="*/ 7 w 132"/>
              <a:gd name="T55" fmla="*/ 41 h 51"/>
              <a:gd name="T56" fmla="*/ 5 w 132"/>
              <a:gd name="T57" fmla="*/ 34 h 51"/>
              <a:gd name="T58" fmla="*/ 3 w 132"/>
              <a:gd name="T59" fmla="*/ 28 h 51"/>
              <a:gd name="T60" fmla="*/ 3 w 132"/>
              <a:gd name="T61" fmla="*/ 21 h 51"/>
              <a:gd name="T62" fmla="*/ 5 w 132"/>
              <a:gd name="T63" fmla="*/ 14 h 51"/>
              <a:gd name="T64" fmla="*/ 7 w 132"/>
              <a:gd name="T65" fmla="*/ 8 h 51"/>
              <a:gd name="T66" fmla="*/ 8 w 132"/>
              <a:gd name="T67" fmla="*/ 1 h 51"/>
              <a:gd name="T68" fmla="*/ 7 w 13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2" h="51">
                <a:moveTo>
                  <a:pt x="132" y="24"/>
                </a:moveTo>
                <a:lnTo>
                  <a:pt x="132" y="21"/>
                </a:lnTo>
                <a:lnTo>
                  <a:pt x="132" y="18"/>
                </a:lnTo>
                <a:lnTo>
                  <a:pt x="131" y="14"/>
                </a:lnTo>
                <a:lnTo>
                  <a:pt x="131" y="11"/>
                </a:lnTo>
                <a:lnTo>
                  <a:pt x="131" y="8"/>
                </a:lnTo>
                <a:lnTo>
                  <a:pt x="129" y="4"/>
                </a:lnTo>
                <a:lnTo>
                  <a:pt x="127" y="1"/>
                </a:lnTo>
                <a:lnTo>
                  <a:pt x="127" y="0"/>
                </a:lnTo>
                <a:lnTo>
                  <a:pt x="122" y="0"/>
                </a:lnTo>
                <a:lnTo>
                  <a:pt x="124" y="1"/>
                </a:lnTo>
                <a:lnTo>
                  <a:pt x="126" y="4"/>
                </a:lnTo>
                <a:lnTo>
                  <a:pt x="127" y="8"/>
                </a:lnTo>
                <a:lnTo>
                  <a:pt x="127" y="11"/>
                </a:lnTo>
                <a:lnTo>
                  <a:pt x="127" y="14"/>
                </a:lnTo>
                <a:lnTo>
                  <a:pt x="129" y="18"/>
                </a:lnTo>
                <a:lnTo>
                  <a:pt x="129" y="21"/>
                </a:lnTo>
                <a:lnTo>
                  <a:pt x="129" y="24"/>
                </a:lnTo>
                <a:lnTo>
                  <a:pt x="129" y="28"/>
                </a:lnTo>
                <a:lnTo>
                  <a:pt x="129" y="31"/>
                </a:lnTo>
                <a:lnTo>
                  <a:pt x="127" y="34"/>
                </a:lnTo>
                <a:lnTo>
                  <a:pt x="127" y="38"/>
                </a:lnTo>
                <a:lnTo>
                  <a:pt x="127" y="41"/>
                </a:lnTo>
                <a:lnTo>
                  <a:pt x="126" y="44"/>
                </a:lnTo>
                <a:lnTo>
                  <a:pt x="124" y="48"/>
                </a:lnTo>
                <a:lnTo>
                  <a:pt x="124" y="51"/>
                </a:lnTo>
                <a:lnTo>
                  <a:pt x="127" y="51"/>
                </a:lnTo>
                <a:lnTo>
                  <a:pt x="129" y="48"/>
                </a:lnTo>
                <a:lnTo>
                  <a:pt x="129" y="44"/>
                </a:lnTo>
                <a:lnTo>
                  <a:pt x="131" y="41"/>
                </a:lnTo>
                <a:lnTo>
                  <a:pt x="131" y="38"/>
                </a:lnTo>
                <a:lnTo>
                  <a:pt x="131" y="34"/>
                </a:lnTo>
                <a:lnTo>
                  <a:pt x="132" y="31"/>
                </a:lnTo>
                <a:lnTo>
                  <a:pt x="132" y="28"/>
                </a:lnTo>
                <a:lnTo>
                  <a:pt x="132" y="24"/>
                </a:lnTo>
                <a:close/>
                <a:moveTo>
                  <a:pt x="7" y="0"/>
                </a:moveTo>
                <a:lnTo>
                  <a:pt x="5" y="1"/>
                </a:lnTo>
                <a:lnTo>
                  <a:pt x="3" y="4"/>
                </a:lnTo>
                <a:lnTo>
                  <a:pt x="3" y="8"/>
                </a:lnTo>
                <a:lnTo>
                  <a:pt x="2" y="11"/>
                </a:lnTo>
                <a:lnTo>
                  <a:pt x="2" y="14"/>
                </a:lnTo>
                <a:lnTo>
                  <a:pt x="0" y="18"/>
                </a:lnTo>
                <a:lnTo>
                  <a:pt x="0" y="21"/>
                </a:lnTo>
                <a:lnTo>
                  <a:pt x="0" y="24"/>
                </a:lnTo>
                <a:lnTo>
                  <a:pt x="0" y="28"/>
                </a:lnTo>
                <a:lnTo>
                  <a:pt x="0" y="31"/>
                </a:lnTo>
                <a:lnTo>
                  <a:pt x="2" y="34"/>
                </a:lnTo>
                <a:lnTo>
                  <a:pt x="2" y="38"/>
                </a:lnTo>
                <a:lnTo>
                  <a:pt x="2" y="41"/>
                </a:lnTo>
                <a:lnTo>
                  <a:pt x="3" y="44"/>
                </a:lnTo>
                <a:lnTo>
                  <a:pt x="5" y="48"/>
                </a:lnTo>
                <a:lnTo>
                  <a:pt x="5" y="51"/>
                </a:lnTo>
                <a:lnTo>
                  <a:pt x="8" y="51"/>
                </a:lnTo>
                <a:lnTo>
                  <a:pt x="8" y="48"/>
                </a:lnTo>
                <a:lnTo>
                  <a:pt x="7" y="44"/>
                </a:lnTo>
                <a:lnTo>
                  <a:pt x="7" y="41"/>
                </a:lnTo>
                <a:lnTo>
                  <a:pt x="5" y="38"/>
                </a:lnTo>
                <a:lnTo>
                  <a:pt x="5" y="34"/>
                </a:lnTo>
                <a:lnTo>
                  <a:pt x="3" y="31"/>
                </a:lnTo>
                <a:lnTo>
                  <a:pt x="3" y="28"/>
                </a:lnTo>
                <a:lnTo>
                  <a:pt x="3" y="24"/>
                </a:lnTo>
                <a:lnTo>
                  <a:pt x="3" y="21"/>
                </a:lnTo>
                <a:lnTo>
                  <a:pt x="3" y="18"/>
                </a:lnTo>
                <a:lnTo>
                  <a:pt x="5" y="14"/>
                </a:lnTo>
                <a:lnTo>
                  <a:pt x="5" y="11"/>
                </a:lnTo>
                <a:lnTo>
                  <a:pt x="7" y="8"/>
                </a:lnTo>
                <a:lnTo>
                  <a:pt x="7" y="4"/>
                </a:lnTo>
                <a:lnTo>
                  <a:pt x="8" y="1"/>
                </a:lnTo>
                <a:lnTo>
                  <a:pt x="10" y="0"/>
                </a:lnTo>
                <a:lnTo>
                  <a:pt x="7"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13" name="Freeform 2018">
            <a:extLst>
              <a:ext uri="{FF2B5EF4-FFF2-40B4-BE49-F238E27FC236}">
                <a16:creationId xmlns:a16="http://schemas.microsoft.com/office/drawing/2014/main" id="{47475195-2D34-A0A2-E8EF-EC03562C2B90}"/>
              </a:ext>
            </a:extLst>
          </p:cNvPr>
          <p:cNvSpPr>
            <a:spLocks noEditPoints="1"/>
          </p:cNvSpPr>
          <p:nvPr/>
        </p:nvSpPr>
        <p:spPr bwMode="auto">
          <a:xfrm>
            <a:off x="2455863" y="2719388"/>
            <a:ext cx="204788" cy="80963"/>
          </a:xfrm>
          <a:custGeom>
            <a:avLst/>
            <a:gdLst>
              <a:gd name="T0" fmla="*/ 129 w 129"/>
              <a:gd name="T1" fmla="*/ 21 h 51"/>
              <a:gd name="T2" fmla="*/ 127 w 129"/>
              <a:gd name="T3" fmla="*/ 14 h 51"/>
              <a:gd name="T4" fmla="*/ 127 w 129"/>
              <a:gd name="T5" fmla="*/ 8 h 51"/>
              <a:gd name="T6" fmla="*/ 124 w 129"/>
              <a:gd name="T7" fmla="*/ 1 h 51"/>
              <a:gd name="T8" fmla="*/ 119 w 129"/>
              <a:gd name="T9" fmla="*/ 0 h 51"/>
              <a:gd name="T10" fmla="*/ 122 w 129"/>
              <a:gd name="T11" fmla="*/ 4 h 51"/>
              <a:gd name="T12" fmla="*/ 124 w 129"/>
              <a:gd name="T13" fmla="*/ 11 h 51"/>
              <a:gd name="T14" fmla="*/ 125 w 129"/>
              <a:gd name="T15" fmla="*/ 18 h 51"/>
              <a:gd name="T16" fmla="*/ 125 w 129"/>
              <a:gd name="T17" fmla="*/ 24 h 51"/>
              <a:gd name="T18" fmla="*/ 125 w 129"/>
              <a:gd name="T19" fmla="*/ 31 h 51"/>
              <a:gd name="T20" fmla="*/ 124 w 129"/>
              <a:gd name="T21" fmla="*/ 38 h 51"/>
              <a:gd name="T22" fmla="*/ 122 w 129"/>
              <a:gd name="T23" fmla="*/ 44 h 51"/>
              <a:gd name="T24" fmla="*/ 120 w 129"/>
              <a:gd name="T25" fmla="*/ 51 h 51"/>
              <a:gd name="T26" fmla="*/ 125 w 129"/>
              <a:gd name="T27" fmla="*/ 48 h 51"/>
              <a:gd name="T28" fmla="*/ 127 w 129"/>
              <a:gd name="T29" fmla="*/ 41 h 51"/>
              <a:gd name="T30" fmla="*/ 127 w 129"/>
              <a:gd name="T31" fmla="*/ 34 h 51"/>
              <a:gd name="T32" fmla="*/ 129 w 129"/>
              <a:gd name="T33" fmla="*/ 28 h 51"/>
              <a:gd name="T34" fmla="*/ 6 w 129"/>
              <a:gd name="T35" fmla="*/ 0 h 51"/>
              <a:gd name="T36" fmla="*/ 3 w 129"/>
              <a:gd name="T37" fmla="*/ 4 h 51"/>
              <a:gd name="T38" fmla="*/ 1 w 129"/>
              <a:gd name="T39" fmla="*/ 11 h 51"/>
              <a:gd name="T40" fmla="*/ 0 w 129"/>
              <a:gd name="T41" fmla="*/ 18 h 51"/>
              <a:gd name="T42" fmla="*/ 0 w 129"/>
              <a:gd name="T43" fmla="*/ 24 h 51"/>
              <a:gd name="T44" fmla="*/ 0 w 129"/>
              <a:gd name="T45" fmla="*/ 31 h 51"/>
              <a:gd name="T46" fmla="*/ 1 w 129"/>
              <a:gd name="T47" fmla="*/ 38 h 51"/>
              <a:gd name="T48" fmla="*/ 3 w 129"/>
              <a:gd name="T49" fmla="*/ 44 h 51"/>
              <a:gd name="T50" fmla="*/ 5 w 129"/>
              <a:gd name="T51" fmla="*/ 51 h 51"/>
              <a:gd name="T52" fmla="*/ 8 w 129"/>
              <a:gd name="T53" fmla="*/ 48 h 51"/>
              <a:gd name="T54" fmla="*/ 6 w 129"/>
              <a:gd name="T55" fmla="*/ 41 h 51"/>
              <a:gd name="T56" fmla="*/ 5 w 129"/>
              <a:gd name="T57" fmla="*/ 34 h 51"/>
              <a:gd name="T58" fmla="*/ 3 w 129"/>
              <a:gd name="T59" fmla="*/ 28 h 51"/>
              <a:gd name="T60" fmla="*/ 3 w 129"/>
              <a:gd name="T61" fmla="*/ 21 h 51"/>
              <a:gd name="T62" fmla="*/ 5 w 129"/>
              <a:gd name="T63" fmla="*/ 14 h 51"/>
              <a:gd name="T64" fmla="*/ 6 w 129"/>
              <a:gd name="T65" fmla="*/ 8 h 51"/>
              <a:gd name="T66" fmla="*/ 8 w 129"/>
              <a:gd name="T67" fmla="*/ 1 h 51"/>
              <a:gd name="T68" fmla="*/ 6 w 12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9" h="51">
                <a:moveTo>
                  <a:pt x="129" y="24"/>
                </a:moveTo>
                <a:lnTo>
                  <a:pt x="129" y="21"/>
                </a:lnTo>
                <a:lnTo>
                  <a:pt x="129" y="18"/>
                </a:lnTo>
                <a:lnTo>
                  <a:pt x="127" y="14"/>
                </a:lnTo>
                <a:lnTo>
                  <a:pt x="127" y="11"/>
                </a:lnTo>
                <a:lnTo>
                  <a:pt x="127" y="8"/>
                </a:lnTo>
                <a:lnTo>
                  <a:pt x="125" y="4"/>
                </a:lnTo>
                <a:lnTo>
                  <a:pt x="124" y="1"/>
                </a:lnTo>
                <a:lnTo>
                  <a:pt x="124" y="0"/>
                </a:lnTo>
                <a:lnTo>
                  <a:pt x="119" y="0"/>
                </a:lnTo>
                <a:lnTo>
                  <a:pt x="120" y="1"/>
                </a:lnTo>
                <a:lnTo>
                  <a:pt x="122" y="4"/>
                </a:lnTo>
                <a:lnTo>
                  <a:pt x="124" y="8"/>
                </a:lnTo>
                <a:lnTo>
                  <a:pt x="124" y="11"/>
                </a:lnTo>
                <a:lnTo>
                  <a:pt x="124" y="14"/>
                </a:lnTo>
                <a:lnTo>
                  <a:pt x="125" y="18"/>
                </a:lnTo>
                <a:lnTo>
                  <a:pt x="125" y="21"/>
                </a:lnTo>
                <a:lnTo>
                  <a:pt x="125" y="24"/>
                </a:lnTo>
                <a:lnTo>
                  <a:pt x="125" y="28"/>
                </a:lnTo>
                <a:lnTo>
                  <a:pt x="125" y="31"/>
                </a:lnTo>
                <a:lnTo>
                  <a:pt x="124" y="34"/>
                </a:lnTo>
                <a:lnTo>
                  <a:pt x="124" y="38"/>
                </a:lnTo>
                <a:lnTo>
                  <a:pt x="124" y="41"/>
                </a:lnTo>
                <a:lnTo>
                  <a:pt x="122" y="44"/>
                </a:lnTo>
                <a:lnTo>
                  <a:pt x="120" y="48"/>
                </a:lnTo>
                <a:lnTo>
                  <a:pt x="120" y="51"/>
                </a:lnTo>
                <a:lnTo>
                  <a:pt x="124" y="51"/>
                </a:lnTo>
                <a:lnTo>
                  <a:pt x="125" y="48"/>
                </a:lnTo>
                <a:lnTo>
                  <a:pt x="125" y="44"/>
                </a:lnTo>
                <a:lnTo>
                  <a:pt x="127" y="41"/>
                </a:lnTo>
                <a:lnTo>
                  <a:pt x="127" y="38"/>
                </a:lnTo>
                <a:lnTo>
                  <a:pt x="127" y="34"/>
                </a:lnTo>
                <a:lnTo>
                  <a:pt x="129" y="31"/>
                </a:lnTo>
                <a:lnTo>
                  <a:pt x="129" y="28"/>
                </a:lnTo>
                <a:lnTo>
                  <a:pt x="129" y="24"/>
                </a:lnTo>
                <a:close/>
                <a:moveTo>
                  <a:pt x="6" y="0"/>
                </a:moveTo>
                <a:lnTo>
                  <a:pt x="5" y="1"/>
                </a:lnTo>
                <a:lnTo>
                  <a:pt x="3" y="4"/>
                </a:lnTo>
                <a:lnTo>
                  <a:pt x="3" y="8"/>
                </a:lnTo>
                <a:lnTo>
                  <a:pt x="1" y="11"/>
                </a:lnTo>
                <a:lnTo>
                  <a:pt x="1" y="14"/>
                </a:lnTo>
                <a:lnTo>
                  <a:pt x="0" y="18"/>
                </a:lnTo>
                <a:lnTo>
                  <a:pt x="0" y="21"/>
                </a:lnTo>
                <a:lnTo>
                  <a:pt x="0" y="24"/>
                </a:lnTo>
                <a:lnTo>
                  <a:pt x="0" y="28"/>
                </a:lnTo>
                <a:lnTo>
                  <a:pt x="0" y="31"/>
                </a:lnTo>
                <a:lnTo>
                  <a:pt x="1" y="34"/>
                </a:lnTo>
                <a:lnTo>
                  <a:pt x="1" y="38"/>
                </a:lnTo>
                <a:lnTo>
                  <a:pt x="1" y="41"/>
                </a:lnTo>
                <a:lnTo>
                  <a:pt x="3" y="44"/>
                </a:lnTo>
                <a:lnTo>
                  <a:pt x="5" y="48"/>
                </a:lnTo>
                <a:lnTo>
                  <a:pt x="5" y="51"/>
                </a:lnTo>
                <a:lnTo>
                  <a:pt x="8" y="51"/>
                </a:lnTo>
                <a:lnTo>
                  <a:pt x="8" y="48"/>
                </a:lnTo>
                <a:lnTo>
                  <a:pt x="6" y="44"/>
                </a:lnTo>
                <a:lnTo>
                  <a:pt x="6" y="41"/>
                </a:lnTo>
                <a:lnTo>
                  <a:pt x="5" y="38"/>
                </a:lnTo>
                <a:lnTo>
                  <a:pt x="5" y="34"/>
                </a:lnTo>
                <a:lnTo>
                  <a:pt x="3" y="31"/>
                </a:lnTo>
                <a:lnTo>
                  <a:pt x="3" y="28"/>
                </a:lnTo>
                <a:lnTo>
                  <a:pt x="3" y="24"/>
                </a:lnTo>
                <a:lnTo>
                  <a:pt x="3" y="21"/>
                </a:lnTo>
                <a:lnTo>
                  <a:pt x="3" y="18"/>
                </a:lnTo>
                <a:lnTo>
                  <a:pt x="5" y="14"/>
                </a:lnTo>
                <a:lnTo>
                  <a:pt x="5" y="11"/>
                </a:lnTo>
                <a:lnTo>
                  <a:pt x="6" y="8"/>
                </a:lnTo>
                <a:lnTo>
                  <a:pt x="6" y="4"/>
                </a:lnTo>
                <a:lnTo>
                  <a:pt x="8" y="1"/>
                </a:lnTo>
                <a:lnTo>
                  <a:pt x="10" y="0"/>
                </a:lnTo>
                <a:lnTo>
                  <a:pt x="6"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14" name="Freeform 2019">
            <a:extLst>
              <a:ext uri="{FF2B5EF4-FFF2-40B4-BE49-F238E27FC236}">
                <a16:creationId xmlns:a16="http://schemas.microsoft.com/office/drawing/2014/main" id="{689AE531-1C3B-2B11-3C94-E7BD7FEA45C2}"/>
              </a:ext>
            </a:extLst>
          </p:cNvPr>
          <p:cNvSpPr>
            <a:spLocks noEditPoints="1"/>
          </p:cNvSpPr>
          <p:nvPr/>
        </p:nvSpPr>
        <p:spPr bwMode="auto">
          <a:xfrm>
            <a:off x="2457450" y="2719388"/>
            <a:ext cx="200025" cy="80963"/>
          </a:xfrm>
          <a:custGeom>
            <a:avLst/>
            <a:gdLst>
              <a:gd name="T0" fmla="*/ 126 w 126"/>
              <a:gd name="T1" fmla="*/ 21 h 51"/>
              <a:gd name="T2" fmla="*/ 124 w 126"/>
              <a:gd name="T3" fmla="*/ 14 h 51"/>
              <a:gd name="T4" fmla="*/ 124 w 126"/>
              <a:gd name="T5" fmla="*/ 8 h 51"/>
              <a:gd name="T6" fmla="*/ 121 w 126"/>
              <a:gd name="T7" fmla="*/ 1 h 51"/>
              <a:gd name="T8" fmla="*/ 116 w 126"/>
              <a:gd name="T9" fmla="*/ 0 h 51"/>
              <a:gd name="T10" fmla="*/ 119 w 126"/>
              <a:gd name="T11" fmla="*/ 4 h 51"/>
              <a:gd name="T12" fmla="*/ 121 w 126"/>
              <a:gd name="T13" fmla="*/ 11 h 51"/>
              <a:gd name="T14" fmla="*/ 123 w 126"/>
              <a:gd name="T15" fmla="*/ 18 h 51"/>
              <a:gd name="T16" fmla="*/ 123 w 126"/>
              <a:gd name="T17" fmla="*/ 24 h 51"/>
              <a:gd name="T18" fmla="*/ 123 w 126"/>
              <a:gd name="T19" fmla="*/ 31 h 51"/>
              <a:gd name="T20" fmla="*/ 121 w 126"/>
              <a:gd name="T21" fmla="*/ 38 h 51"/>
              <a:gd name="T22" fmla="*/ 119 w 126"/>
              <a:gd name="T23" fmla="*/ 44 h 51"/>
              <a:gd name="T24" fmla="*/ 118 w 126"/>
              <a:gd name="T25" fmla="*/ 51 h 51"/>
              <a:gd name="T26" fmla="*/ 121 w 126"/>
              <a:gd name="T27" fmla="*/ 48 h 51"/>
              <a:gd name="T28" fmla="*/ 124 w 126"/>
              <a:gd name="T29" fmla="*/ 41 h 51"/>
              <a:gd name="T30" fmla="*/ 124 w 126"/>
              <a:gd name="T31" fmla="*/ 34 h 51"/>
              <a:gd name="T32" fmla="*/ 126 w 126"/>
              <a:gd name="T33" fmla="*/ 28 h 51"/>
              <a:gd name="T34" fmla="*/ 7 w 126"/>
              <a:gd name="T35" fmla="*/ 0 h 51"/>
              <a:gd name="T36" fmla="*/ 4 w 126"/>
              <a:gd name="T37" fmla="*/ 4 h 51"/>
              <a:gd name="T38" fmla="*/ 2 w 126"/>
              <a:gd name="T39" fmla="*/ 11 h 51"/>
              <a:gd name="T40" fmla="*/ 0 w 126"/>
              <a:gd name="T41" fmla="*/ 18 h 51"/>
              <a:gd name="T42" fmla="*/ 0 w 126"/>
              <a:gd name="T43" fmla="*/ 24 h 51"/>
              <a:gd name="T44" fmla="*/ 0 w 126"/>
              <a:gd name="T45" fmla="*/ 31 h 51"/>
              <a:gd name="T46" fmla="*/ 2 w 126"/>
              <a:gd name="T47" fmla="*/ 38 h 51"/>
              <a:gd name="T48" fmla="*/ 4 w 126"/>
              <a:gd name="T49" fmla="*/ 44 h 51"/>
              <a:gd name="T50" fmla="*/ 5 w 126"/>
              <a:gd name="T51" fmla="*/ 51 h 51"/>
              <a:gd name="T52" fmla="*/ 9 w 126"/>
              <a:gd name="T53" fmla="*/ 48 h 51"/>
              <a:gd name="T54" fmla="*/ 7 w 126"/>
              <a:gd name="T55" fmla="*/ 41 h 51"/>
              <a:gd name="T56" fmla="*/ 5 w 126"/>
              <a:gd name="T57" fmla="*/ 34 h 51"/>
              <a:gd name="T58" fmla="*/ 4 w 126"/>
              <a:gd name="T59" fmla="*/ 28 h 51"/>
              <a:gd name="T60" fmla="*/ 4 w 126"/>
              <a:gd name="T61" fmla="*/ 21 h 51"/>
              <a:gd name="T62" fmla="*/ 5 w 126"/>
              <a:gd name="T63" fmla="*/ 14 h 51"/>
              <a:gd name="T64" fmla="*/ 7 w 126"/>
              <a:gd name="T65" fmla="*/ 8 h 51"/>
              <a:gd name="T66" fmla="*/ 9 w 126"/>
              <a:gd name="T67" fmla="*/ 1 h 51"/>
              <a:gd name="T68" fmla="*/ 7 w 12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6" h="51">
                <a:moveTo>
                  <a:pt x="126" y="24"/>
                </a:moveTo>
                <a:lnTo>
                  <a:pt x="126" y="21"/>
                </a:lnTo>
                <a:lnTo>
                  <a:pt x="126" y="18"/>
                </a:lnTo>
                <a:lnTo>
                  <a:pt x="124" y="14"/>
                </a:lnTo>
                <a:lnTo>
                  <a:pt x="124" y="11"/>
                </a:lnTo>
                <a:lnTo>
                  <a:pt x="124" y="8"/>
                </a:lnTo>
                <a:lnTo>
                  <a:pt x="123" y="4"/>
                </a:lnTo>
                <a:lnTo>
                  <a:pt x="121" y="1"/>
                </a:lnTo>
                <a:lnTo>
                  <a:pt x="119" y="0"/>
                </a:lnTo>
                <a:lnTo>
                  <a:pt x="116" y="0"/>
                </a:lnTo>
                <a:lnTo>
                  <a:pt x="118" y="1"/>
                </a:lnTo>
                <a:lnTo>
                  <a:pt x="119" y="4"/>
                </a:lnTo>
                <a:lnTo>
                  <a:pt x="119" y="8"/>
                </a:lnTo>
                <a:lnTo>
                  <a:pt x="121" y="11"/>
                </a:lnTo>
                <a:lnTo>
                  <a:pt x="121" y="14"/>
                </a:lnTo>
                <a:lnTo>
                  <a:pt x="123" y="18"/>
                </a:lnTo>
                <a:lnTo>
                  <a:pt x="123" y="21"/>
                </a:lnTo>
                <a:lnTo>
                  <a:pt x="123" y="24"/>
                </a:lnTo>
                <a:lnTo>
                  <a:pt x="123" y="28"/>
                </a:lnTo>
                <a:lnTo>
                  <a:pt x="123" y="31"/>
                </a:lnTo>
                <a:lnTo>
                  <a:pt x="121" y="34"/>
                </a:lnTo>
                <a:lnTo>
                  <a:pt x="121" y="38"/>
                </a:lnTo>
                <a:lnTo>
                  <a:pt x="121" y="41"/>
                </a:lnTo>
                <a:lnTo>
                  <a:pt x="119" y="44"/>
                </a:lnTo>
                <a:lnTo>
                  <a:pt x="118" y="48"/>
                </a:lnTo>
                <a:lnTo>
                  <a:pt x="118" y="51"/>
                </a:lnTo>
                <a:lnTo>
                  <a:pt x="121" y="51"/>
                </a:lnTo>
                <a:lnTo>
                  <a:pt x="121" y="48"/>
                </a:lnTo>
                <a:lnTo>
                  <a:pt x="123" y="44"/>
                </a:lnTo>
                <a:lnTo>
                  <a:pt x="124" y="41"/>
                </a:lnTo>
                <a:lnTo>
                  <a:pt x="124" y="38"/>
                </a:lnTo>
                <a:lnTo>
                  <a:pt x="124" y="34"/>
                </a:lnTo>
                <a:lnTo>
                  <a:pt x="126" y="31"/>
                </a:lnTo>
                <a:lnTo>
                  <a:pt x="126" y="28"/>
                </a:lnTo>
                <a:lnTo>
                  <a:pt x="126" y="24"/>
                </a:lnTo>
                <a:close/>
                <a:moveTo>
                  <a:pt x="7" y="0"/>
                </a:moveTo>
                <a:lnTo>
                  <a:pt x="5" y="1"/>
                </a:lnTo>
                <a:lnTo>
                  <a:pt x="4" y="4"/>
                </a:lnTo>
                <a:lnTo>
                  <a:pt x="4" y="8"/>
                </a:lnTo>
                <a:lnTo>
                  <a:pt x="2" y="11"/>
                </a:lnTo>
                <a:lnTo>
                  <a:pt x="2" y="14"/>
                </a:lnTo>
                <a:lnTo>
                  <a:pt x="0" y="18"/>
                </a:lnTo>
                <a:lnTo>
                  <a:pt x="0" y="21"/>
                </a:lnTo>
                <a:lnTo>
                  <a:pt x="0" y="24"/>
                </a:lnTo>
                <a:lnTo>
                  <a:pt x="0" y="28"/>
                </a:lnTo>
                <a:lnTo>
                  <a:pt x="0" y="31"/>
                </a:lnTo>
                <a:lnTo>
                  <a:pt x="2" y="34"/>
                </a:lnTo>
                <a:lnTo>
                  <a:pt x="2" y="38"/>
                </a:lnTo>
                <a:lnTo>
                  <a:pt x="4" y="41"/>
                </a:lnTo>
                <a:lnTo>
                  <a:pt x="4" y="44"/>
                </a:lnTo>
                <a:lnTo>
                  <a:pt x="5" y="48"/>
                </a:lnTo>
                <a:lnTo>
                  <a:pt x="5" y="51"/>
                </a:lnTo>
                <a:lnTo>
                  <a:pt x="10" y="51"/>
                </a:lnTo>
                <a:lnTo>
                  <a:pt x="9" y="48"/>
                </a:lnTo>
                <a:lnTo>
                  <a:pt x="7" y="44"/>
                </a:lnTo>
                <a:lnTo>
                  <a:pt x="7" y="41"/>
                </a:lnTo>
                <a:lnTo>
                  <a:pt x="5" y="38"/>
                </a:lnTo>
                <a:lnTo>
                  <a:pt x="5" y="34"/>
                </a:lnTo>
                <a:lnTo>
                  <a:pt x="4" y="31"/>
                </a:lnTo>
                <a:lnTo>
                  <a:pt x="4" y="28"/>
                </a:lnTo>
                <a:lnTo>
                  <a:pt x="4" y="24"/>
                </a:lnTo>
                <a:lnTo>
                  <a:pt x="4" y="21"/>
                </a:lnTo>
                <a:lnTo>
                  <a:pt x="4" y="18"/>
                </a:lnTo>
                <a:lnTo>
                  <a:pt x="5" y="14"/>
                </a:lnTo>
                <a:lnTo>
                  <a:pt x="5" y="11"/>
                </a:lnTo>
                <a:lnTo>
                  <a:pt x="7" y="8"/>
                </a:lnTo>
                <a:lnTo>
                  <a:pt x="7" y="4"/>
                </a:lnTo>
                <a:lnTo>
                  <a:pt x="9" y="1"/>
                </a:lnTo>
                <a:lnTo>
                  <a:pt x="10" y="0"/>
                </a:lnTo>
                <a:lnTo>
                  <a:pt x="7"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15" name="Freeform 2020">
            <a:extLst>
              <a:ext uri="{FF2B5EF4-FFF2-40B4-BE49-F238E27FC236}">
                <a16:creationId xmlns:a16="http://schemas.microsoft.com/office/drawing/2014/main" id="{54553611-9B87-432C-9BFC-2B800142FFCD}"/>
              </a:ext>
            </a:extLst>
          </p:cNvPr>
          <p:cNvSpPr>
            <a:spLocks noEditPoints="1"/>
          </p:cNvSpPr>
          <p:nvPr/>
        </p:nvSpPr>
        <p:spPr bwMode="auto">
          <a:xfrm>
            <a:off x="2460625" y="2719388"/>
            <a:ext cx="193675" cy="80963"/>
          </a:xfrm>
          <a:custGeom>
            <a:avLst/>
            <a:gdLst>
              <a:gd name="T0" fmla="*/ 122 w 122"/>
              <a:gd name="T1" fmla="*/ 21 h 51"/>
              <a:gd name="T2" fmla="*/ 121 w 122"/>
              <a:gd name="T3" fmla="*/ 14 h 51"/>
              <a:gd name="T4" fmla="*/ 121 w 122"/>
              <a:gd name="T5" fmla="*/ 8 h 51"/>
              <a:gd name="T6" fmla="*/ 117 w 122"/>
              <a:gd name="T7" fmla="*/ 1 h 51"/>
              <a:gd name="T8" fmla="*/ 113 w 122"/>
              <a:gd name="T9" fmla="*/ 0 h 51"/>
              <a:gd name="T10" fmla="*/ 116 w 122"/>
              <a:gd name="T11" fmla="*/ 4 h 51"/>
              <a:gd name="T12" fmla="*/ 117 w 122"/>
              <a:gd name="T13" fmla="*/ 11 h 51"/>
              <a:gd name="T14" fmla="*/ 119 w 122"/>
              <a:gd name="T15" fmla="*/ 18 h 51"/>
              <a:gd name="T16" fmla="*/ 119 w 122"/>
              <a:gd name="T17" fmla="*/ 24 h 51"/>
              <a:gd name="T18" fmla="*/ 119 w 122"/>
              <a:gd name="T19" fmla="*/ 31 h 51"/>
              <a:gd name="T20" fmla="*/ 117 w 122"/>
              <a:gd name="T21" fmla="*/ 38 h 51"/>
              <a:gd name="T22" fmla="*/ 116 w 122"/>
              <a:gd name="T23" fmla="*/ 44 h 51"/>
              <a:gd name="T24" fmla="*/ 113 w 122"/>
              <a:gd name="T25" fmla="*/ 51 h 51"/>
              <a:gd name="T26" fmla="*/ 117 w 122"/>
              <a:gd name="T27" fmla="*/ 48 h 51"/>
              <a:gd name="T28" fmla="*/ 121 w 122"/>
              <a:gd name="T29" fmla="*/ 41 h 51"/>
              <a:gd name="T30" fmla="*/ 121 w 122"/>
              <a:gd name="T31" fmla="*/ 34 h 51"/>
              <a:gd name="T32" fmla="*/ 122 w 122"/>
              <a:gd name="T33" fmla="*/ 28 h 51"/>
              <a:gd name="T34" fmla="*/ 7 w 122"/>
              <a:gd name="T35" fmla="*/ 0 h 51"/>
              <a:gd name="T36" fmla="*/ 3 w 122"/>
              <a:gd name="T37" fmla="*/ 4 h 51"/>
              <a:gd name="T38" fmla="*/ 2 w 122"/>
              <a:gd name="T39" fmla="*/ 11 h 51"/>
              <a:gd name="T40" fmla="*/ 0 w 122"/>
              <a:gd name="T41" fmla="*/ 18 h 51"/>
              <a:gd name="T42" fmla="*/ 0 w 122"/>
              <a:gd name="T43" fmla="*/ 24 h 51"/>
              <a:gd name="T44" fmla="*/ 0 w 122"/>
              <a:gd name="T45" fmla="*/ 31 h 51"/>
              <a:gd name="T46" fmla="*/ 2 w 122"/>
              <a:gd name="T47" fmla="*/ 38 h 51"/>
              <a:gd name="T48" fmla="*/ 3 w 122"/>
              <a:gd name="T49" fmla="*/ 44 h 51"/>
              <a:gd name="T50" fmla="*/ 5 w 122"/>
              <a:gd name="T51" fmla="*/ 51 h 51"/>
              <a:gd name="T52" fmla="*/ 8 w 122"/>
              <a:gd name="T53" fmla="*/ 48 h 51"/>
              <a:gd name="T54" fmla="*/ 7 w 122"/>
              <a:gd name="T55" fmla="*/ 41 h 51"/>
              <a:gd name="T56" fmla="*/ 5 w 122"/>
              <a:gd name="T57" fmla="*/ 34 h 51"/>
              <a:gd name="T58" fmla="*/ 3 w 122"/>
              <a:gd name="T59" fmla="*/ 28 h 51"/>
              <a:gd name="T60" fmla="*/ 3 w 122"/>
              <a:gd name="T61" fmla="*/ 21 h 51"/>
              <a:gd name="T62" fmla="*/ 5 w 122"/>
              <a:gd name="T63" fmla="*/ 14 h 51"/>
              <a:gd name="T64" fmla="*/ 7 w 122"/>
              <a:gd name="T65" fmla="*/ 8 h 51"/>
              <a:gd name="T66" fmla="*/ 8 w 122"/>
              <a:gd name="T67" fmla="*/ 1 h 51"/>
              <a:gd name="T68" fmla="*/ 7 w 12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2" h="51">
                <a:moveTo>
                  <a:pt x="122" y="24"/>
                </a:moveTo>
                <a:lnTo>
                  <a:pt x="122" y="21"/>
                </a:lnTo>
                <a:lnTo>
                  <a:pt x="122" y="18"/>
                </a:lnTo>
                <a:lnTo>
                  <a:pt x="121" y="14"/>
                </a:lnTo>
                <a:lnTo>
                  <a:pt x="121" y="11"/>
                </a:lnTo>
                <a:lnTo>
                  <a:pt x="121" y="8"/>
                </a:lnTo>
                <a:lnTo>
                  <a:pt x="119" y="4"/>
                </a:lnTo>
                <a:lnTo>
                  <a:pt x="117" y="1"/>
                </a:lnTo>
                <a:lnTo>
                  <a:pt x="116" y="0"/>
                </a:lnTo>
                <a:lnTo>
                  <a:pt x="113" y="0"/>
                </a:lnTo>
                <a:lnTo>
                  <a:pt x="114" y="1"/>
                </a:lnTo>
                <a:lnTo>
                  <a:pt x="116" y="4"/>
                </a:lnTo>
                <a:lnTo>
                  <a:pt x="116" y="8"/>
                </a:lnTo>
                <a:lnTo>
                  <a:pt x="117" y="11"/>
                </a:lnTo>
                <a:lnTo>
                  <a:pt x="117" y="14"/>
                </a:lnTo>
                <a:lnTo>
                  <a:pt x="119" y="18"/>
                </a:lnTo>
                <a:lnTo>
                  <a:pt x="119" y="21"/>
                </a:lnTo>
                <a:lnTo>
                  <a:pt x="119" y="24"/>
                </a:lnTo>
                <a:lnTo>
                  <a:pt x="119" y="28"/>
                </a:lnTo>
                <a:lnTo>
                  <a:pt x="119" y="31"/>
                </a:lnTo>
                <a:lnTo>
                  <a:pt x="117" y="34"/>
                </a:lnTo>
                <a:lnTo>
                  <a:pt x="117" y="38"/>
                </a:lnTo>
                <a:lnTo>
                  <a:pt x="117" y="41"/>
                </a:lnTo>
                <a:lnTo>
                  <a:pt x="116" y="44"/>
                </a:lnTo>
                <a:lnTo>
                  <a:pt x="114" y="48"/>
                </a:lnTo>
                <a:lnTo>
                  <a:pt x="113" y="51"/>
                </a:lnTo>
                <a:lnTo>
                  <a:pt x="117" y="51"/>
                </a:lnTo>
                <a:lnTo>
                  <a:pt x="117" y="48"/>
                </a:lnTo>
                <a:lnTo>
                  <a:pt x="119" y="44"/>
                </a:lnTo>
                <a:lnTo>
                  <a:pt x="121" y="41"/>
                </a:lnTo>
                <a:lnTo>
                  <a:pt x="121" y="38"/>
                </a:lnTo>
                <a:lnTo>
                  <a:pt x="121" y="34"/>
                </a:lnTo>
                <a:lnTo>
                  <a:pt x="122" y="31"/>
                </a:lnTo>
                <a:lnTo>
                  <a:pt x="122" y="28"/>
                </a:lnTo>
                <a:lnTo>
                  <a:pt x="122" y="24"/>
                </a:lnTo>
                <a:close/>
                <a:moveTo>
                  <a:pt x="7" y="0"/>
                </a:moveTo>
                <a:lnTo>
                  <a:pt x="5" y="1"/>
                </a:lnTo>
                <a:lnTo>
                  <a:pt x="3" y="4"/>
                </a:lnTo>
                <a:lnTo>
                  <a:pt x="3" y="8"/>
                </a:lnTo>
                <a:lnTo>
                  <a:pt x="2" y="11"/>
                </a:lnTo>
                <a:lnTo>
                  <a:pt x="2" y="14"/>
                </a:lnTo>
                <a:lnTo>
                  <a:pt x="0" y="18"/>
                </a:lnTo>
                <a:lnTo>
                  <a:pt x="0" y="21"/>
                </a:lnTo>
                <a:lnTo>
                  <a:pt x="0" y="24"/>
                </a:lnTo>
                <a:lnTo>
                  <a:pt x="0" y="28"/>
                </a:lnTo>
                <a:lnTo>
                  <a:pt x="0" y="31"/>
                </a:lnTo>
                <a:lnTo>
                  <a:pt x="2" y="34"/>
                </a:lnTo>
                <a:lnTo>
                  <a:pt x="2" y="38"/>
                </a:lnTo>
                <a:lnTo>
                  <a:pt x="3" y="41"/>
                </a:lnTo>
                <a:lnTo>
                  <a:pt x="3" y="44"/>
                </a:lnTo>
                <a:lnTo>
                  <a:pt x="5" y="48"/>
                </a:lnTo>
                <a:lnTo>
                  <a:pt x="5" y="51"/>
                </a:lnTo>
                <a:lnTo>
                  <a:pt x="10" y="51"/>
                </a:lnTo>
                <a:lnTo>
                  <a:pt x="8" y="48"/>
                </a:lnTo>
                <a:lnTo>
                  <a:pt x="7" y="44"/>
                </a:lnTo>
                <a:lnTo>
                  <a:pt x="7" y="41"/>
                </a:lnTo>
                <a:lnTo>
                  <a:pt x="5" y="38"/>
                </a:lnTo>
                <a:lnTo>
                  <a:pt x="5" y="34"/>
                </a:lnTo>
                <a:lnTo>
                  <a:pt x="3" y="31"/>
                </a:lnTo>
                <a:lnTo>
                  <a:pt x="3" y="28"/>
                </a:lnTo>
                <a:lnTo>
                  <a:pt x="3" y="24"/>
                </a:lnTo>
                <a:lnTo>
                  <a:pt x="3" y="21"/>
                </a:lnTo>
                <a:lnTo>
                  <a:pt x="3" y="18"/>
                </a:lnTo>
                <a:lnTo>
                  <a:pt x="5" y="14"/>
                </a:lnTo>
                <a:lnTo>
                  <a:pt x="5" y="11"/>
                </a:lnTo>
                <a:lnTo>
                  <a:pt x="7" y="8"/>
                </a:lnTo>
                <a:lnTo>
                  <a:pt x="7" y="4"/>
                </a:lnTo>
                <a:lnTo>
                  <a:pt x="8" y="1"/>
                </a:lnTo>
                <a:lnTo>
                  <a:pt x="10" y="0"/>
                </a:lnTo>
                <a:lnTo>
                  <a:pt x="7"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16" name="Freeform 2021">
            <a:extLst>
              <a:ext uri="{FF2B5EF4-FFF2-40B4-BE49-F238E27FC236}">
                <a16:creationId xmlns:a16="http://schemas.microsoft.com/office/drawing/2014/main" id="{E4D69CC7-99F5-C11C-C07F-26C0F604F279}"/>
              </a:ext>
            </a:extLst>
          </p:cNvPr>
          <p:cNvSpPr>
            <a:spLocks noEditPoints="1"/>
          </p:cNvSpPr>
          <p:nvPr/>
        </p:nvSpPr>
        <p:spPr bwMode="auto">
          <a:xfrm>
            <a:off x="2463800" y="2719388"/>
            <a:ext cx="188913" cy="80963"/>
          </a:xfrm>
          <a:custGeom>
            <a:avLst/>
            <a:gdLst>
              <a:gd name="T0" fmla="*/ 119 w 119"/>
              <a:gd name="T1" fmla="*/ 21 h 51"/>
              <a:gd name="T2" fmla="*/ 117 w 119"/>
              <a:gd name="T3" fmla="*/ 14 h 51"/>
              <a:gd name="T4" fmla="*/ 115 w 119"/>
              <a:gd name="T5" fmla="*/ 8 h 51"/>
              <a:gd name="T6" fmla="*/ 114 w 119"/>
              <a:gd name="T7" fmla="*/ 1 h 51"/>
              <a:gd name="T8" fmla="*/ 109 w 119"/>
              <a:gd name="T9" fmla="*/ 0 h 51"/>
              <a:gd name="T10" fmla="*/ 112 w 119"/>
              <a:gd name="T11" fmla="*/ 4 h 51"/>
              <a:gd name="T12" fmla="*/ 114 w 119"/>
              <a:gd name="T13" fmla="*/ 11 h 51"/>
              <a:gd name="T14" fmla="*/ 115 w 119"/>
              <a:gd name="T15" fmla="*/ 18 h 51"/>
              <a:gd name="T16" fmla="*/ 115 w 119"/>
              <a:gd name="T17" fmla="*/ 24 h 51"/>
              <a:gd name="T18" fmla="*/ 115 w 119"/>
              <a:gd name="T19" fmla="*/ 31 h 51"/>
              <a:gd name="T20" fmla="*/ 114 w 119"/>
              <a:gd name="T21" fmla="*/ 38 h 51"/>
              <a:gd name="T22" fmla="*/ 112 w 119"/>
              <a:gd name="T23" fmla="*/ 44 h 51"/>
              <a:gd name="T24" fmla="*/ 109 w 119"/>
              <a:gd name="T25" fmla="*/ 51 h 51"/>
              <a:gd name="T26" fmla="*/ 114 w 119"/>
              <a:gd name="T27" fmla="*/ 48 h 51"/>
              <a:gd name="T28" fmla="*/ 117 w 119"/>
              <a:gd name="T29" fmla="*/ 41 h 51"/>
              <a:gd name="T30" fmla="*/ 117 w 119"/>
              <a:gd name="T31" fmla="*/ 34 h 51"/>
              <a:gd name="T32" fmla="*/ 119 w 119"/>
              <a:gd name="T33" fmla="*/ 28 h 51"/>
              <a:gd name="T34" fmla="*/ 6 w 119"/>
              <a:gd name="T35" fmla="*/ 0 h 51"/>
              <a:gd name="T36" fmla="*/ 3 w 119"/>
              <a:gd name="T37" fmla="*/ 4 h 51"/>
              <a:gd name="T38" fmla="*/ 1 w 119"/>
              <a:gd name="T39" fmla="*/ 11 h 51"/>
              <a:gd name="T40" fmla="*/ 0 w 119"/>
              <a:gd name="T41" fmla="*/ 18 h 51"/>
              <a:gd name="T42" fmla="*/ 0 w 119"/>
              <a:gd name="T43" fmla="*/ 24 h 51"/>
              <a:gd name="T44" fmla="*/ 0 w 119"/>
              <a:gd name="T45" fmla="*/ 31 h 51"/>
              <a:gd name="T46" fmla="*/ 1 w 119"/>
              <a:gd name="T47" fmla="*/ 38 h 51"/>
              <a:gd name="T48" fmla="*/ 3 w 119"/>
              <a:gd name="T49" fmla="*/ 44 h 51"/>
              <a:gd name="T50" fmla="*/ 6 w 119"/>
              <a:gd name="T51" fmla="*/ 51 h 51"/>
              <a:gd name="T52" fmla="*/ 8 w 119"/>
              <a:gd name="T53" fmla="*/ 48 h 51"/>
              <a:gd name="T54" fmla="*/ 6 w 119"/>
              <a:gd name="T55" fmla="*/ 41 h 51"/>
              <a:gd name="T56" fmla="*/ 5 w 119"/>
              <a:gd name="T57" fmla="*/ 34 h 51"/>
              <a:gd name="T58" fmla="*/ 3 w 119"/>
              <a:gd name="T59" fmla="*/ 28 h 51"/>
              <a:gd name="T60" fmla="*/ 3 w 119"/>
              <a:gd name="T61" fmla="*/ 21 h 51"/>
              <a:gd name="T62" fmla="*/ 5 w 119"/>
              <a:gd name="T63" fmla="*/ 14 h 51"/>
              <a:gd name="T64" fmla="*/ 6 w 119"/>
              <a:gd name="T65" fmla="*/ 8 h 51"/>
              <a:gd name="T66" fmla="*/ 8 w 119"/>
              <a:gd name="T67" fmla="*/ 1 h 51"/>
              <a:gd name="T68" fmla="*/ 6 w 11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19" h="51">
                <a:moveTo>
                  <a:pt x="119" y="24"/>
                </a:moveTo>
                <a:lnTo>
                  <a:pt x="119" y="21"/>
                </a:lnTo>
                <a:lnTo>
                  <a:pt x="119" y="18"/>
                </a:lnTo>
                <a:lnTo>
                  <a:pt x="117" y="14"/>
                </a:lnTo>
                <a:lnTo>
                  <a:pt x="117" y="11"/>
                </a:lnTo>
                <a:lnTo>
                  <a:pt x="115" y="8"/>
                </a:lnTo>
                <a:lnTo>
                  <a:pt x="115" y="4"/>
                </a:lnTo>
                <a:lnTo>
                  <a:pt x="114" y="1"/>
                </a:lnTo>
                <a:lnTo>
                  <a:pt x="112" y="0"/>
                </a:lnTo>
                <a:lnTo>
                  <a:pt x="109" y="0"/>
                </a:lnTo>
                <a:lnTo>
                  <a:pt x="111" y="1"/>
                </a:lnTo>
                <a:lnTo>
                  <a:pt x="112" y="4"/>
                </a:lnTo>
                <a:lnTo>
                  <a:pt x="112" y="8"/>
                </a:lnTo>
                <a:lnTo>
                  <a:pt x="114" y="11"/>
                </a:lnTo>
                <a:lnTo>
                  <a:pt x="114" y="14"/>
                </a:lnTo>
                <a:lnTo>
                  <a:pt x="115" y="18"/>
                </a:lnTo>
                <a:lnTo>
                  <a:pt x="115" y="21"/>
                </a:lnTo>
                <a:lnTo>
                  <a:pt x="115" y="24"/>
                </a:lnTo>
                <a:lnTo>
                  <a:pt x="115" y="28"/>
                </a:lnTo>
                <a:lnTo>
                  <a:pt x="115" y="31"/>
                </a:lnTo>
                <a:lnTo>
                  <a:pt x="114" y="34"/>
                </a:lnTo>
                <a:lnTo>
                  <a:pt x="114" y="38"/>
                </a:lnTo>
                <a:lnTo>
                  <a:pt x="114" y="41"/>
                </a:lnTo>
                <a:lnTo>
                  <a:pt x="112" y="44"/>
                </a:lnTo>
                <a:lnTo>
                  <a:pt x="111" y="48"/>
                </a:lnTo>
                <a:lnTo>
                  <a:pt x="109" y="51"/>
                </a:lnTo>
                <a:lnTo>
                  <a:pt x="114" y="51"/>
                </a:lnTo>
                <a:lnTo>
                  <a:pt x="114" y="48"/>
                </a:lnTo>
                <a:lnTo>
                  <a:pt x="115" y="44"/>
                </a:lnTo>
                <a:lnTo>
                  <a:pt x="117" y="41"/>
                </a:lnTo>
                <a:lnTo>
                  <a:pt x="117" y="38"/>
                </a:lnTo>
                <a:lnTo>
                  <a:pt x="117" y="34"/>
                </a:lnTo>
                <a:lnTo>
                  <a:pt x="119" y="31"/>
                </a:lnTo>
                <a:lnTo>
                  <a:pt x="119" y="28"/>
                </a:lnTo>
                <a:lnTo>
                  <a:pt x="119" y="24"/>
                </a:lnTo>
                <a:close/>
                <a:moveTo>
                  <a:pt x="6" y="0"/>
                </a:moveTo>
                <a:lnTo>
                  <a:pt x="5" y="1"/>
                </a:lnTo>
                <a:lnTo>
                  <a:pt x="3" y="4"/>
                </a:lnTo>
                <a:lnTo>
                  <a:pt x="3" y="8"/>
                </a:lnTo>
                <a:lnTo>
                  <a:pt x="1" y="11"/>
                </a:lnTo>
                <a:lnTo>
                  <a:pt x="1" y="14"/>
                </a:lnTo>
                <a:lnTo>
                  <a:pt x="0" y="18"/>
                </a:lnTo>
                <a:lnTo>
                  <a:pt x="0" y="21"/>
                </a:lnTo>
                <a:lnTo>
                  <a:pt x="0" y="24"/>
                </a:lnTo>
                <a:lnTo>
                  <a:pt x="0" y="28"/>
                </a:lnTo>
                <a:lnTo>
                  <a:pt x="0" y="31"/>
                </a:lnTo>
                <a:lnTo>
                  <a:pt x="1" y="34"/>
                </a:lnTo>
                <a:lnTo>
                  <a:pt x="1" y="38"/>
                </a:lnTo>
                <a:lnTo>
                  <a:pt x="3" y="41"/>
                </a:lnTo>
                <a:lnTo>
                  <a:pt x="3" y="44"/>
                </a:lnTo>
                <a:lnTo>
                  <a:pt x="5" y="48"/>
                </a:lnTo>
                <a:lnTo>
                  <a:pt x="6" y="51"/>
                </a:lnTo>
                <a:lnTo>
                  <a:pt x="10" y="51"/>
                </a:lnTo>
                <a:lnTo>
                  <a:pt x="8" y="48"/>
                </a:lnTo>
                <a:lnTo>
                  <a:pt x="6" y="44"/>
                </a:lnTo>
                <a:lnTo>
                  <a:pt x="6" y="41"/>
                </a:lnTo>
                <a:lnTo>
                  <a:pt x="5" y="38"/>
                </a:lnTo>
                <a:lnTo>
                  <a:pt x="5" y="34"/>
                </a:lnTo>
                <a:lnTo>
                  <a:pt x="3" y="31"/>
                </a:lnTo>
                <a:lnTo>
                  <a:pt x="3" y="28"/>
                </a:lnTo>
                <a:lnTo>
                  <a:pt x="3" y="24"/>
                </a:lnTo>
                <a:lnTo>
                  <a:pt x="3" y="21"/>
                </a:lnTo>
                <a:lnTo>
                  <a:pt x="3" y="18"/>
                </a:lnTo>
                <a:lnTo>
                  <a:pt x="5" y="14"/>
                </a:lnTo>
                <a:lnTo>
                  <a:pt x="5" y="11"/>
                </a:lnTo>
                <a:lnTo>
                  <a:pt x="6" y="8"/>
                </a:lnTo>
                <a:lnTo>
                  <a:pt x="6" y="4"/>
                </a:lnTo>
                <a:lnTo>
                  <a:pt x="8" y="1"/>
                </a:lnTo>
                <a:lnTo>
                  <a:pt x="10" y="0"/>
                </a:lnTo>
                <a:lnTo>
                  <a:pt x="6" y="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17" name="Freeform 2022">
            <a:extLst>
              <a:ext uri="{FF2B5EF4-FFF2-40B4-BE49-F238E27FC236}">
                <a16:creationId xmlns:a16="http://schemas.microsoft.com/office/drawing/2014/main" id="{92140D3C-F376-D10A-17DB-601DBDF2752B}"/>
              </a:ext>
            </a:extLst>
          </p:cNvPr>
          <p:cNvSpPr>
            <a:spLocks noEditPoints="1"/>
          </p:cNvSpPr>
          <p:nvPr/>
        </p:nvSpPr>
        <p:spPr bwMode="auto">
          <a:xfrm>
            <a:off x="2465388" y="2719388"/>
            <a:ext cx="184150" cy="80963"/>
          </a:xfrm>
          <a:custGeom>
            <a:avLst/>
            <a:gdLst>
              <a:gd name="T0" fmla="*/ 116 w 116"/>
              <a:gd name="T1" fmla="*/ 21 h 51"/>
              <a:gd name="T2" fmla="*/ 114 w 116"/>
              <a:gd name="T3" fmla="*/ 14 h 51"/>
              <a:gd name="T4" fmla="*/ 113 w 116"/>
              <a:gd name="T5" fmla="*/ 8 h 51"/>
              <a:gd name="T6" fmla="*/ 111 w 116"/>
              <a:gd name="T7" fmla="*/ 1 h 51"/>
              <a:gd name="T8" fmla="*/ 106 w 116"/>
              <a:gd name="T9" fmla="*/ 0 h 51"/>
              <a:gd name="T10" fmla="*/ 110 w 116"/>
              <a:gd name="T11" fmla="*/ 4 h 51"/>
              <a:gd name="T12" fmla="*/ 111 w 116"/>
              <a:gd name="T13" fmla="*/ 11 h 51"/>
              <a:gd name="T14" fmla="*/ 113 w 116"/>
              <a:gd name="T15" fmla="*/ 18 h 51"/>
              <a:gd name="T16" fmla="*/ 113 w 116"/>
              <a:gd name="T17" fmla="*/ 24 h 51"/>
              <a:gd name="T18" fmla="*/ 113 w 116"/>
              <a:gd name="T19" fmla="*/ 31 h 51"/>
              <a:gd name="T20" fmla="*/ 111 w 116"/>
              <a:gd name="T21" fmla="*/ 38 h 51"/>
              <a:gd name="T22" fmla="*/ 110 w 116"/>
              <a:gd name="T23" fmla="*/ 44 h 51"/>
              <a:gd name="T24" fmla="*/ 106 w 116"/>
              <a:gd name="T25" fmla="*/ 51 h 51"/>
              <a:gd name="T26" fmla="*/ 111 w 116"/>
              <a:gd name="T27" fmla="*/ 48 h 51"/>
              <a:gd name="T28" fmla="*/ 114 w 116"/>
              <a:gd name="T29" fmla="*/ 41 h 51"/>
              <a:gd name="T30" fmla="*/ 114 w 116"/>
              <a:gd name="T31" fmla="*/ 34 h 51"/>
              <a:gd name="T32" fmla="*/ 116 w 116"/>
              <a:gd name="T33" fmla="*/ 28 h 51"/>
              <a:gd name="T34" fmla="*/ 7 w 116"/>
              <a:gd name="T35" fmla="*/ 0 h 51"/>
              <a:gd name="T36" fmla="*/ 4 w 116"/>
              <a:gd name="T37" fmla="*/ 4 h 51"/>
              <a:gd name="T38" fmla="*/ 2 w 116"/>
              <a:gd name="T39" fmla="*/ 11 h 51"/>
              <a:gd name="T40" fmla="*/ 0 w 116"/>
              <a:gd name="T41" fmla="*/ 18 h 51"/>
              <a:gd name="T42" fmla="*/ 0 w 116"/>
              <a:gd name="T43" fmla="*/ 24 h 51"/>
              <a:gd name="T44" fmla="*/ 0 w 116"/>
              <a:gd name="T45" fmla="*/ 31 h 51"/>
              <a:gd name="T46" fmla="*/ 2 w 116"/>
              <a:gd name="T47" fmla="*/ 38 h 51"/>
              <a:gd name="T48" fmla="*/ 4 w 116"/>
              <a:gd name="T49" fmla="*/ 44 h 51"/>
              <a:gd name="T50" fmla="*/ 7 w 116"/>
              <a:gd name="T51" fmla="*/ 51 h 51"/>
              <a:gd name="T52" fmla="*/ 9 w 116"/>
              <a:gd name="T53" fmla="*/ 48 h 51"/>
              <a:gd name="T54" fmla="*/ 7 w 116"/>
              <a:gd name="T55" fmla="*/ 41 h 51"/>
              <a:gd name="T56" fmla="*/ 5 w 116"/>
              <a:gd name="T57" fmla="*/ 34 h 51"/>
              <a:gd name="T58" fmla="*/ 4 w 116"/>
              <a:gd name="T59" fmla="*/ 28 h 51"/>
              <a:gd name="T60" fmla="*/ 4 w 116"/>
              <a:gd name="T61" fmla="*/ 21 h 51"/>
              <a:gd name="T62" fmla="*/ 5 w 116"/>
              <a:gd name="T63" fmla="*/ 14 h 51"/>
              <a:gd name="T64" fmla="*/ 7 w 116"/>
              <a:gd name="T65" fmla="*/ 8 h 51"/>
              <a:gd name="T66" fmla="*/ 9 w 116"/>
              <a:gd name="T67" fmla="*/ 1 h 51"/>
              <a:gd name="T68" fmla="*/ 7 w 11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16" h="51">
                <a:moveTo>
                  <a:pt x="116" y="24"/>
                </a:moveTo>
                <a:lnTo>
                  <a:pt x="116" y="21"/>
                </a:lnTo>
                <a:lnTo>
                  <a:pt x="116" y="18"/>
                </a:lnTo>
                <a:lnTo>
                  <a:pt x="114" y="14"/>
                </a:lnTo>
                <a:lnTo>
                  <a:pt x="114" y="11"/>
                </a:lnTo>
                <a:lnTo>
                  <a:pt x="113" y="8"/>
                </a:lnTo>
                <a:lnTo>
                  <a:pt x="113" y="4"/>
                </a:lnTo>
                <a:lnTo>
                  <a:pt x="111" y="1"/>
                </a:lnTo>
                <a:lnTo>
                  <a:pt x="110" y="0"/>
                </a:lnTo>
                <a:lnTo>
                  <a:pt x="106" y="0"/>
                </a:lnTo>
                <a:lnTo>
                  <a:pt x="108" y="1"/>
                </a:lnTo>
                <a:lnTo>
                  <a:pt x="110" y="4"/>
                </a:lnTo>
                <a:lnTo>
                  <a:pt x="110" y="8"/>
                </a:lnTo>
                <a:lnTo>
                  <a:pt x="111" y="11"/>
                </a:lnTo>
                <a:lnTo>
                  <a:pt x="111" y="14"/>
                </a:lnTo>
                <a:lnTo>
                  <a:pt x="113" y="18"/>
                </a:lnTo>
                <a:lnTo>
                  <a:pt x="113" y="21"/>
                </a:lnTo>
                <a:lnTo>
                  <a:pt x="113" y="24"/>
                </a:lnTo>
                <a:lnTo>
                  <a:pt x="113" y="28"/>
                </a:lnTo>
                <a:lnTo>
                  <a:pt x="113" y="31"/>
                </a:lnTo>
                <a:lnTo>
                  <a:pt x="111" y="34"/>
                </a:lnTo>
                <a:lnTo>
                  <a:pt x="111" y="38"/>
                </a:lnTo>
                <a:lnTo>
                  <a:pt x="110" y="41"/>
                </a:lnTo>
                <a:lnTo>
                  <a:pt x="110" y="44"/>
                </a:lnTo>
                <a:lnTo>
                  <a:pt x="108" y="48"/>
                </a:lnTo>
                <a:lnTo>
                  <a:pt x="106" y="51"/>
                </a:lnTo>
                <a:lnTo>
                  <a:pt x="110" y="51"/>
                </a:lnTo>
                <a:lnTo>
                  <a:pt x="111" y="48"/>
                </a:lnTo>
                <a:lnTo>
                  <a:pt x="113" y="44"/>
                </a:lnTo>
                <a:lnTo>
                  <a:pt x="114" y="41"/>
                </a:lnTo>
                <a:lnTo>
                  <a:pt x="114" y="38"/>
                </a:lnTo>
                <a:lnTo>
                  <a:pt x="114" y="34"/>
                </a:lnTo>
                <a:lnTo>
                  <a:pt x="116" y="31"/>
                </a:lnTo>
                <a:lnTo>
                  <a:pt x="116" y="28"/>
                </a:lnTo>
                <a:lnTo>
                  <a:pt x="116" y="24"/>
                </a:lnTo>
                <a:close/>
                <a:moveTo>
                  <a:pt x="7" y="0"/>
                </a:moveTo>
                <a:lnTo>
                  <a:pt x="5" y="1"/>
                </a:lnTo>
                <a:lnTo>
                  <a:pt x="4" y="4"/>
                </a:lnTo>
                <a:lnTo>
                  <a:pt x="4" y="8"/>
                </a:lnTo>
                <a:lnTo>
                  <a:pt x="2" y="11"/>
                </a:lnTo>
                <a:lnTo>
                  <a:pt x="2" y="14"/>
                </a:lnTo>
                <a:lnTo>
                  <a:pt x="0" y="18"/>
                </a:lnTo>
                <a:lnTo>
                  <a:pt x="0" y="21"/>
                </a:lnTo>
                <a:lnTo>
                  <a:pt x="0" y="24"/>
                </a:lnTo>
                <a:lnTo>
                  <a:pt x="0" y="28"/>
                </a:lnTo>
                <a:lnTo>
                  <a:pt x="0" y="31"/>
                </a:lnTo>
                <a:lnTo>
                  <a:pt x="2" y="34"/>
                </a:lnTo>
                <a:lnTo>
                  <a:pt x="2" y="38"/>
                </a:lnTo>
                <a:lnTo>
                  <a:pt x="4" y="41"/>
                </a:lnTo>
                <a:lnTo>
                  <a:pt x="4" y="44"/>
                </a:lnTo>
                <a:lnTo>
                  <a:pt x="5" y="48"/>
                </a:lnTo>
                <a:lnTo>
                  <a:pt x="7" y="51"/>
                </a:lnTo>
                <a:lnTo>
                  <a:pt x="10" y="51"/>
                </a:lnTo>
                <a:lnTo>
                  <a:pt x="9" y="48"/>
                </a:lnTo>
                <a:lnTo>
                  <a:pt x="7" y="44"/>
                </a:lnTo>
                <a:lnTo>
                  <a:pt x="7" y="41"/>
                </a:lnTo>
                <a:lnTo>
                  <a:pt x="5" y="38"/>
                </a:lnTo>
                <a:lnTo>
                  <a:pt x="5" y="34"/>
                </a:lnTo>
                <a:lnTo>
                  <a:pt x="4" y="31"/>
                </a:lnTo>
                <a:lnTo>
                  <a:pt x="4" y="28"/>
                </a:lnTo>
                <a:lnTo>
                  <a:pt x="4" y="24"/>
                </a:lnTo>
                <a:lnTo>
                  <a:pt x="4" y="21"/>
                </a:lnTo>
                <a:lnTo>
                  <a:pt x="4" y="18"/>
                </a:lnTo>
                <a:lnTo>
                  <a:pt x="5" y="14"/>
                </a:lnTo>
                <a:lnTo>
                  <a:pt x="5" y="11"/>
                </a:lnTo>
                <a:lnTo>
                  <a:pt x="7" y="8"/>
                </a:lnTo>
                <a:lnTo>
                  <a:pt x="9" y="4"/>
                </a:lnTo>
                <a:lnTo>
                  <a:pt x="9" y="1"/>
                </a:lnTo>
                <a:lnTo>
                  <a:pt x="10" y="0"/>
                </a:lnTo>
                <a:lnTo>
                  <a:pt x="7"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18" name="Freeform 2023">
            <a:extLst>
              <a:ext uri="{FF2B5EF4-FFF2-40B4-BE49-F238E27FC236}">
                <a16:creationId xmlns:a16="http://schemas.microsoft.com/office/drawing/2014/main" id="{0B23A340-AD91-4D82-C523-748718CECC95}"/>
              </a:ext>
            </a:extLst>
          </p:cNvPr>
          <p:cNvSpPr>
            <a:spLocks noEditPoints="1"/>
          </p:cNvSpPr>
          <p:nvPr/>
        </p:nvSpPr>
        <p:spPr bwMode="auto">
          <a:xfrm>
            <a:off x="2468563" y="2719388"/>
            <a:ext cx="177800" cy="80963"/>
          </a:xfrm>
          <a:custGeom>
            <a:avLst/>
            <a:gdLst>
              <a:gd name="T0" fmla="*/ 112 w 112"/>
              <a:gd name="T1" fmla="*/ 21 h 51"/>
              <a:gd name="T2" fmla="*/ 111 w 112"/>
              <a:gd name="T3" fmla="*/ 14 h 51"/>
              <a:gd name="T4" fmla="*/ 109 w 112"/>
              <a:gd name="T5" fmla="*/ 8 h 51"/>
              <a:gd name="T6" fmla="*/ 108 w 112"/>
              <a:gd name="T7" fmla="*/ 1 h 51"/>
              <a:gd name="T8" fmla="*/ 103 w 112"/>
              <a:gd name="T9" fmla="*/ 0 h 51"/>
              <a:gd name="T10" fmla="*/ 106 w 112"/>
              <a:gd name="T11" fmla="*/ 4 h 51"/>
              <a:gd name="T12" fmla="*/ 108 w 112"/>
              <a:gd name="T13" fmla="*/ 11 h 51"/>
              <a:gd name="T14" fmla="*/ 109 w 112"/>
              <a:gd name="T15" fmla="*/ 18 h 51"/>
              <a:gd name="T16" fmla="*/ 109 w 112"/>
              <a:gd name="T17" fmla="*/ 24 h 51"/>
              <a:gd name="T18" fmla="*/ 109 w 112"/>
              <a:gd name="T19" fmla="*/ 31 h 51"/>
              <a:gd name="T20" fmla="*/ 108 w 112"/>
              <a:gd name="T21" fmla="*/ 38 h 51"/>
              <a:gd name="T22" fmla="*/ 106 w 112"/>
              <a:gd name="T23" fmla="*/ 44 h 51"/>
              <a:gd name="T24" fmla="*/ 103 w 112"/>
              <a:gd name="T25" fmla="*/ 51 h 51"/>
              <a:gd name="T26" fmla="*/ 108 w 112"/>
              <a:gd name="T27" fmla="*/ 48 h 51"/>
              <a:gd name="T28" fmla="*/ 111 w 112"/>
              <a:gd name="T29" fmla="*/ 41 h 51"/>
              <a:gd name="T30" fmla="*/ 111 w 112"/>
              <a:gd name="T31" fmla="*/ 34 h 51"/>
              <a:gd name="T32" fmla="*/ 112 w 112"/>
              <a:gd name="T33" fmla="*/ 28 h 51"/>
              <a:gd name="T34" fmla="*/ 7 w 112"/>
              <a:gd name="T35" fmla="*/ 0 h 51"/>
              <a:gd name="T36" fmla="*/ 3 w 112"/>
              <a:gd name="T37" fmla="*/ 4 h 51"/>
              <a:gd name="T38" fmla="*/ 2 w 112"/>
              <a:gd name="T39" fmla="*/ 11 h 51"/>
              <a:gd name="T40" fmla="*/ 0 w 112"/>
              <a:gd name="T41" fmla="*/ 18 h 51"/>
              <a:gd name="T42" fmla="*/ 0 w 112"/>
              <a:gd name="T43" fmla="*/ 24 h 51"/>
              <a:gd name="T44" fmla="*/ 0 w 112"/>
              <a:gd name="T45" fmla="*/ 31 h 51"/>
              <a:gd name="T46" fmla="*/ 2 w 112"/>
              <a:gd name="T47" fmla="*/ 38 h 51"/>
              <a:gd name="T48" fmla="*/ 3 w 112"/>
              <a:gd name="T49" fmla="*/ 44 h 51"/>
              <a:gd name="T50" fmla="*/ 7 w 112"/>
              <a:gd name="T51" fmla="*/ 51 h 51"/>
              <a:gd name="T52" fmla="*/ 8 w 112"/>
              <a:gd name="T53" fmla="*/ 48 h 51"/>
              <a:gd name="T54" fmla="*/ 7 w 112"/>
              <a:gd name="T55" fmla="*/ 41 h 51"/>
              <a:gd name="T56" fmla="*/ 5 w 112"/>
              <a:gd name="T57" fmla="*/ 34 h 51"/>
              <a:gd name="T58" fmla="*/ 3 w 112"/>
              <a:gd name="T59" fmla="*/ 28 h 51"/>
              <a:gd name="T60" fmla="*/ 3 w 112"/>
              <a:gd name="T61" fmla="*/ 21 h 51"/>
              <a:gd name="T62" fmla="*/ 5 w 112"/>
              <a:gd name="T63" fmla="*/ 14 h 51"/>
              <a:gd name="T64" fmla="*/ 7 w 112"/>
              <a:gd name="T65" fmla="*/ 8 h 51"/>
              <a:gd name="T66" fmla="*/ 8 w 112"/>
              <a:gd name="T67" fmla="*/ 1 h 51"/>
              <a:gd name="T68" fmla="*/ 7 w 112"/>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12" h="51">
                <a:moveTo>
                  <a:pt x="112" y="24"/>
                </a:moveTo>
                <a:lnTo>
                  <a:pt x="112" y="21"/>
                </a:lnTo>
                <a:lnTo>
                  <a:pt x="112" y="18"/>
                </a:lnTo>
                <a:lnTo>
                  <a:pt x="111" y="14"/>
                </a:lnTo>
                <a:lnTo>
                  <a:pt x="111" y="11"/>
                </a:lnTo>
                <a:lnTo>
                  <a:pt x="109" y="8"/>
                </a:lnTo>
                <a:lnTo>
                  <a:pt x="109" y="4"/>
                </a:lnTo>
                <a:lnTo>
                  <a:pt x="108" y="1"/>
                </a:lnTo>
                <a:lnTo>
                  <a:pt x="106" y="0"/>
                </a:lnTo>
                <a:lnTo>
                  <a:pt x="103" y="0"/>
                </a:lnTo>
                <a:lnTo>
                  <a:pt x="104" y="1"/>
                </a:lnTo>
                <a:lnTo>
                  <a:pt x="106" y="4"/>
                </a:lnTo>
                <a:lnTo>
                  <a:pt x="106" y="8"/>
                </a:lnTo>
                <a:lnTo>
                  <a:pt x="108" y="11"/>
                </a:lnTo>
                <a:lnTo>
                  <a:pt x="108" y="14"/>
                </a:lnTo>
                <a:lnTo>
                  <a:pt x="109" y="18"/>
                </a:lnTo>
                <a:lnTo>
                  <a:pt x="109" y="21"/>
                </a:lnTo>
                <a:lnTo>
                  <a:pt x="109" y="24"/>
                </a:lnTo>
                <a:lnTo>
                  <a:pt x="109" y="28"/>
                </a:lnTo>
                <a:lnTo>
                  <a:pt x="109" y="31"/>
                </a:lnTo>
                <a:lnTo>
                  <a:pt x="108" y="34"/>
                </a:lnTo>
                <a:lnTo>
                  <a:pt x="108" y="38"/>
                </a:lnTo>
                <a:lnTo>
                  <a:pt x="106" y="41"/>
                </a:lnTo>
                <a:lnTo>
                  <a:pt x="106" y="44"/>
                </a:lnTo>
                <a:lnTo>
                  <a:pt x="104" y="48"/>
                </a:lnTo>
                <a:lnTo>
                  <a:pt x="103" y="51"/>
                </a:lnTo>
                <a:lnTo>
                  <a:pt x="106" y="51"/>
                </a:lnTo>
                <a:lnTo>
                  <a:pt x="108" y="48"/>
                </a:lnTo>
                <a:lnTo>
                  <a:pt x="109" y="44"/>
                </a:lnTo>
                <a:lnTo>
                  <a:pt x="111" y="41"/>
                </a:lnTo>
                <a:lnTo>
                  <a:pt x="111" y="38"/>
                </a:lnTo>
                <a:lnTo>
                  <a:pt x="111" y="34"/>
                </a:lnTo>
                <a:lnTo>
                  <a:pt x="112" y="31"/>
                </a:lnTo>
                <a:lnTo>
                  <a:pt x="112" y="28"/>
                </a:lnTo>
                <a:lnTo>
                  <a:pt x="112" y="24"/>
                </a:lnTo>
                <a:close/>
                <a:moveTo>
                  <a:pt x="7" y="0"/>
                </a:moveTo>
                <a:lnTo>
                  <a:pt x="5" y="1"/>
                </a:lnTo>
                <a:lnTo>
                  <a:pt x="3" y="4"/>
                </a:lnTo>
                <a:lnTo>
                  <a:pt x="3" y="8"/>
                </a:lnTo>
                <a:lnTo>
                  <a:pt x="2" y="11"/>
                </a:lnTo>
                <a:lnTo>
                  <a:pt x="2" y="14"/>
                </a:lnTo>
                <a:lnTo>
                  <a:pt x="0" y="18"/>
                </a:lnTo>
                <a:lnTo>
                  <a:pt x="0" y="21"/>
                </a:lnTo>
                <a:lnTo>
                  <a:pt x="0" y="24"/>
                </a:lnTo>
                <a:lnTo>
                  <a:pt x="0" y="28"/>
                </a:lnTo>
                <a:lnTo>
                  <a:pt x="0" y="31"/>
                </a:lnTo>
                <a:lnTo>
                  <a:pt x="2" y="34"/>
                </a:lnTo>
                <a:lnTo>
                  <a:pt x="2" y="38"/>
                </a:lnTo>
                <a:lnTo>
                  <a:pt x="3" y="41"/>
                </a:lnTo>
                <a:lnTo>
                  <a:pt x="3" y="44"/>
                </a:lnTo>
                <a:lnTo>
                  <a:pt x="5" y="48"/>
                </a:lnTo>
                <a:lnTo>
                  <a:pt x="7" y="51"/>
                </a:lnTo>
                <a:lnTo>
                  <a:pt x="10" y="51"/>
                </a:lnTo>
                <a:lnTo>
                  <a:pt x="8" y="48"/>
                </a:lnTo>
                <a:lnTo>
                  <a:pt x="7" y="44"/>
                </a:lnTo>
                <a:lnTo>
                  <a:pt x="7" y="41"/>
                </a:lnTo>
                <a:lnTo>
                  <a:pt x="5" y="38"/>
                </a:lnTo>
                <a:lnTo>
                  <a:pt x="5" y="34"/>
                </a:lnTo>
                <a:lnTo>
                  <a:pt x="3" y="31"/>
                </a:lnTo>
                <a:lnTo>
                  <a:pt x="3" y="28"/>
                </a:lnTo>
                <a:lnTo>
                  <a:pt x="3" y="24"/>
                </a:lnTo>
                <a:lnTo>
                  <a:pt x="3" y="21"/>
                </a:lnTo>
                <a:lnTo>
                  <a:pt x="3" y="18"/>
                </a:lnTo>
                <a:lnTo>
                  <a:pt x="5" y="14"/>
                </a:lnTo>
                <a:lnTo>
                  <a:pt x="5" y="11"/>
                </a:lnTo>
                <a:lnTo>
                  <a:pt x="7" y="8"/>
                </a:lnTo>
                <a:lnTo>
                  <a:pt x="8" y="4"/>
                </a:lnTo>
                <a:lnTo>
                  <a:pt x="8" y="1"/>
                </a:lnTo>
                <a:lnTo>
                  <a:pt x="10" y="0"/>
                </a:lnTo>
                <a:lnTo>
                  <a:pt x="7"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19" name="Freeform 2024">
            <a:extLst>
              <a:ext uri="{FF2B5EF4-FFF2-40B4-BE49-F238E27FC236}">
                <a16:creationId xmlns:a16="http://schemas.microsoft.com/office/drawing/2014/main" id="{8D72E373-8181-4AD4-3BB8-B7B17F0265D7}"/>
              </a:ext>
            </a:extLst>
          </p:cNvPr>
          <p:cNvSpPr>
            <a:spLocks noEditPoints="1"/>
          </p:cNvSpPr>
          <p:nvPr/>
        </p:nvSpPr>
        <p:spPr bwMode="auto">
          <a:xfrm>
            <a:off x="2471738" y="2719388"/>
            <a:ext cx="173038" cy="80963"/>
          </a:xfrm>
          <a:custGeom>
            <a:avLst/>
            <a:gdLst>
              <a:gd name="T0" fmla="*/ 109 w 109"/>
              <a:gd name="T1" fmla="*/ 21 h 51"/>
              <a:gd name="T2" fmla="*/ 107 w 109"/>
              <a:gd name="T3" fmla="*/ 14 h 51"/>
              <a:gd name="T4" fmla="*/ 106 w 109"/>
              <a:gd name="T5" fmla="*/ 8 h 51"/>
              <a:gd name="T6" fmla="*/ 104 w 109"/>
              <a:gd name="T7" fmla="*/ 1 h 51"/>
              <a:gd name="T8" fmla="*/ 99 w 109"/>
              <a:gd name="T9" fmla="*/ 0 h 51"/>
              <a:gd name="T10" fmla="*/ 101 w 109"/>
              <a:gd name="T11" fmla="*/ 4 h 51"/>
              <a:gd name="T12" fmla="*/ 104 w 109"/>
              <a:gd name="T13" fmla="*/ 11 h 51"/>
              <a:gd name="T14" fmla="*/ 106 w 109"/>
              <a:gd name="T15" fmla="*/ 18 h 51"/>
              <a:gd name="T16" fmla="*/ 106 w 109"/>
              <a:gd name="T17" fmla="*/ 24 h 51"/>
              <a:gd name="T18" fmla="*/ 106 w 109"/>
              <a:gd name="T19" fmla="*/ 31 h 51"/>
              <a:gd name="T20" fmla="*/ 104 w 109"/>
              <a:gd name="T21" fmla="*/ 38 h 51"/>
              <a:gd name="T22" fmla="*/ 102 w 109"/>
              <a:gd name="T23" fmla="*/ 44 h 51"/>
              <a:gd name="T24" fmla="*/ 99 w 109"/>
              <a:gd name="T25" fmla="*/ 51 h 51"/>
              <a:gd name="T26" fmla="*/ 104 w 109"/>
              <a:gd name="T27" fmla="*/ 48 h 51"/>
              <a:gd name="T28" fmla="*/ 106 w 109"/>
              <a:gd name="T29" fmla="*/ 41 h 51"/>
              <a:gd name="T30" fmla="*/ 107 w 109"/>
              <a:gd name="T31" fmla="*/ 34 h 51"/>
              <a:gd name="T32" fmla="*/ 109 w 109"/>
              <a:gd name="T33" fmla="*/ 28 h 51"/>
              <a:gd name="T34" fmla="*/ 6 w 109"/>
              <a:gd name="T35" fmla="*/ 0 h 51"/>
              <a:gd name="T36" fmla="*/ 5 w 109"/>
              <a:gd name="T37" fmla="*/ 4 h 51"/>
              <a:gd name="T38" fmla="*/ 1 w 109"/>
              <a:gd name="T39" fmla="*/ 11 h 51"/>
              <a:gd name="T40" fmla="*/ 0 w 109"/>
              <a:gd name="T41" fmla="*/ 18 h 51"/>
              <a:gd name="T42" fmla="*/ 0 w 109"/>
              <a:gd name="T43" fmla="*/ 24 h 51"/>
              <a:gd name="T44" fmla="*/ 0 w 109"/>
              <a:gd name="T45" fmla="*/ 31 h 51"/>
              <a:gd name="T46" fmla="*/ 1 w 109"/>
              <a:gd name="T47" fmla="*/ 38 h 51"/>
              <a:gd name="T48" fmla="*/ 3 w 109"/>
              <a:gd name="T49" fmla="*/ 44 h 51"/>
              <a:gd name="T50" fmla="*/ 6 w 109"/>
              <a:gd name="T51" fmla="*/ 51 h 51"/>
              <a:gd name="T52" fmla="*/ 8 w 109"/>
              <a:gd name="T53" fmla="*/ 48 h 51"/>
              <a:gd name="T54" fmla="*/ 6 w 109"/>
              <a:gd name="T55" fmla="*/ 41 h 51"/>
              <a:gd name="T56" fmla="*/ 5 w 109"/>
              <a:gd name="T57" fmla="*/ 34 h 51"/>
              <a:gd name="T58" fmla="*/ 3 w 109"/>
              <a:gd name="T59" fmla="*/ 28 h 51"/>
              <a:gd name="T60" fmla="*/ 3 w 109"/>
              <a:gd name="T61" fmla="*/ 21 h 51"/>
              <a:gd name="T62" fmla="*/ 5 w 109"/>
              <a:gd name="T63" fmla="*/ 14 h 51"/>
              <a:gd name="T64" fmla="*/ 6 w 109"/>
              <a:gd name="T65" fmla="*/ 8 h 51"/>
              <a:gd name="T66" fmla="*/ 9 w 109"/>
              <a:gd name="T67" fmla="*/ 1 h 51"/>
              <a:gd name="T68" fmla="*/ 6 w 10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9" h="51">
                <a:moveTo>
                  <a:pt x="109" y="24"/>
                </a:moveTo>
                <a:lnTo>
                  <a:pt x="109" y="21"/>
                </a:lnTo>
                <a:lnTo>
                  <a:pt x="109" y="18"/>
                </a:lnTo>
                <a:lnTo>
                  <a:pt x="107" y="14"/>
                </a:lnTo>
                <a:lnTo>
                  <a:pt x="107" y="11"/>
                </a:lnTo>
                <a:lnTo>
                  <a:pt x="106" y="8"/>
                </a:lnTo>
                <a:lnTo>
                  <a:pt x="106" y="4"/>
                </a:lnTo>
                <a:lnTo>
                  <a:pt x="104" y="1"/>
                </a:lnTo>
                <a:lnTo>
                  <a:pt x="102" y="0"/>
                </a:lnTo>
                <a:lnTo>
                  <a:pt x="99" y="0"/>
                </a:lnTo>
                <a:lnTo>
                  <a:pt x="101" y="1"/>
                </a:lnTo>
                <a:lnTo>
                  <a:pt x="101" y="4"/>
                </a:lnTo>
                <a:lnTo>
                  <a:pt x="102" y="8"/>
                </a:lnTo>
                <a:lnTo>
                  <a:pt x="104" y="11"/>
                </a:lnTo>
                <a:lnTo>
                  <a:pt x="104" y="14"/>
                </a:lnTo>
                <a:lnTo>
                  <a:pt x="106" y="18"/>
                </a:lnTo>
                <a:lnTo>
                  <a:pt x="106" y="21"/>
                </a:lnTo>
                <a:lnTo>
                  <a:pt x="106" y="24"/>
                </a:lnTo>
                <a:lnTo>
                  <a:pt x="106" y="28"/>
                </a:lnTo>
                <a:lnTo>
                  <a:pt x="106" y="31"/>
                </a:lnTo>
                <a:lnTo>
                  <a:pt x="104" y="34"/>
                </a:lnTo>
                <a:lnTo>
                  <a:pt x="104" y="38"/>
                </a:lnTo>
                <a:lnTo>
                  <a:pt x="102" y="41"/>
                </a:lnTo>
                <a:lnTo>
                  <a:pt x="102" y="44"/>
                </a:lnTo>
                <a:lnTo>
                  <a:pt x="101" y="48"/>
                </a:lnTo>
                <a:lnTo>
                  <a:pt x="99" y="51"/>
                </a:lnTo>
                <a:lnTo>
                  <a:pt x="102" y="51"/>
                </a:lnTo>
                <a:lnTo>
                  <a:pt x="104" y="48"/>
                </a:lnTo>
                <a:lnTo>
                  <a:pt x="106" y="44"/>
                </a:lnTo>
                <a:lnTo>
                  <a:pt x="106" y="41"/>
                </a:lnTo>
                <a:lnTo>
                  <a:pt x="107" y="38"/>
                </a:lnTo>
                <a:lnTo>
                  <a:pt x="107" y="34"/>
                </a:lnTo>
                <a:lnTo>
                  <a:pt x="109" y="31"/>
                </a:lnTo>
                <a:lnTo>
                  <a:pt x="109" y="28"/>
                </a:lnTo>
                <a:lnTo>
                  <a:pt x="109" y="24"/>
                </a:lnTo>
                <a:close/>
                <a:moveTo>
                  <a:pt x="6" y="0"/>
                </a:moveTo>
                <a:lnTo>
                  <a:pt x="5" y="1"/>
                </a:lnTo>
                <a:lnTo>
                  <a:pt x="5" y="4"/>
                </a:lnTo>
                <a:lnTo>
                  <a:pt x="3" y="8"/>
                </a:lnTo>
                <a:lnTo>
                  <a:pt x="1" y="11"/>
                </a:lnTo>
                <a:lnTo>
                  <a:pt x="1" y="14"/>
                </a:lnTo>
                <a:lnTo>
                  <a:pt x="0" y="18"/>
                </a:lnTo>
                <a:lnTo>
                  <a:pt x="0" y="21"/>
                </a:lnTo>
                <a:lnTo>
                  <a:pt x="0" y="24"/>
                </a:lnTo>
                <a:lnTo>
                  <a:pt x="0" y="28"/>
                </a:lnTo>
                <a:lnTo>
                  <a:pt x="0" y="31"/>
                </a:lnTo>
                <a:lnTo>
                  <a:pt x="1" y="34"/>
                </a:lnTo>
                <a:lnTo>
                  <a:pt x="1" y="38"/>
                </a:lnTo>
                <a:lnTo>
                  <a:pt x="3" y="41"/>
                </a:lnTo>
                <a:lnTo>
                  <a:pt x="3" y="44"/>
                </a:lnTo>
                <a:lnTo>
                  <a:pt x="5" y="48"/>
                </a:lnTo>
                <a:lnTo>
                  <a:pt x="6" y="51"/>
                </a:lnTo>
                <a:lnTo>
                  <a:pt x="9" y="51"/>
                </a:lnTo>
                <a:lnTo>
                  <a:pt x="8" y="48"/>
                </a:lnTo>
                <a:lnTo>
                  <a:pt x="8" y="44"/>
                </a:lnTo>
                <a:lnTo>
                  <a:pt x="6" y="41"/>
                </a:lnTo>
                <a:lnTo>
                  <a:pt x="5" y="38"/>
                </a:lnTo>
                <a:lnTo>
                  <a:pt x="5" y="34"/>
                </a:lnTo>
                <a:lnTo>
                  <a:pt x="3" y="31"/>
                </a:lnTo>
                <a:lnTo>
                  <a:pt x="3" y="28"/>
                </a:lnTo>
                <a:lnTo>
                  <a:pt x="3" y="24"/>
                </a:lnTo>
                <a:lnTo>
                  <a:pt x="3" y="21"/>
                </a:lnTo>
                <a:lnTo>
                  <a:pt x="5" y="18"/>
                </a:lnTo>
                <a:lnTo>
                  <a:pt x="5" y="14"/>
                </a:lnTo>
                <a:lnTo>
                  <a:pt x="5" y="11"/>
                </a:lnTo>
                <a:lnTo>
                  <a:pt x="6" y="8"/>
                </a:lnTo>
                <a:lnTo>
                  <a:pt x="8" y="4"/>
                </a:lnTo>
                <a:lnTo>
                  <a:pt x="9" y="1"/>
                </a:lnTo>
                <a:lnTo>
                  <a:pt x="11" y="0"/>
                </a:lnTo>
                <a:lnTo>
                  <a:pt x="6"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20" name="Freeform 2025">
            <a:extLst>
              <a:ext uri="{FF2B5EF4-FFF2-40B4-BE49-F238E27FC236}">
                <a16:creationId xmlns:a16="http://schemas.microsoft.com/office/drawing/2014/main" id="{1B65FDA7-BDCB-1ADE-EE15-F208AE332B81}"/>
              </a:ext>
            </a:extLst>
          </p:cNvPr>
          <p:cNvSpPr>
            <a:spLocks noEditPoints="1"/>
          </p:cNvSpPr>
          <p:nvPr/>
        </p:nvSpPr>
        <p:spPr bwMode="auto">
          <a:xfrm>
            <a:off x="2473325" y="2719388"/>
            <a:ext cx="168275" cy="80963"/>
          </a:xfrm>
          <a:custGeom>
            <a:avLst/>
            <a:gdLst>
              <a:gd name="T0" fmla="*/ 106 w 106"/>
              <a:gd name="T1" fmla="*/ 21 h 51"/>
              <a:gd name="T2" fmla="*/ 105 w 106"/>
              <a:gd name="T3" fmla="*/ 14 h 51"/>
              <a:gd name="T4" fmla="*/ 103 w 106"/>
              <a:gd name="T5" fmla="*/ 8 h 51"/>
              <a:gd name="T6" fmla="*/ 101 w 106"/>
              <a:gd name="T7" fmla="*/ 1 h 51"/>
              <a:gd name="T8" fmla="*/ 95 w 106"/>
              <a:gd name="T9" fmla="*/ 0 h 51"/>
              <a:gd name="T10" fmla="*/ 98 w 106"/>
              <a:gd name="T11" fmla="*/ 4 h 51"/>
              <a:gd name="T12" fmla="*/ 101 w 106"/>
              <a:gd name="T13" fmla="*/ 11 h 51"/>
              <a:gd name="T14" fmla="*/ 103 w 106"/>
              <a:gd name="T15" fmla="*/ 18 h 51"/>
              <a:gd name="T16" fmla="*/ 103 w 106"/>
              <a:gd name="T17" fmla="*/ 24 h 51"/>
              <a:gd name="T18" fmla="*/ 103 w 106"/>
              <a:gd name="T19" fmla="*/ 31 h 51"/>
              <a:gd name="T20" fmla="*/ 101 w 106"/>
              <a:gd name="T21" fmla="*/ 38 h 51"/>
              <a:gd name="T22" fmla="*/ 100 w 106"/>
              <a:gd name="T23" fmla="*/ 44 h 51"/>
              <a:gd name="T24" fmla="*/ 96 w 106"/>
              <a:gd name="T25" fmla="*/ 51 h 51"/>
              <a:gd name="T26" fmla="*/ 101 w 106"/>
              <a:gd name="T27" fmla="*/ 48 h 51"/>
              <a:gd name="T28" fmla="*/ 103 w 106"/>
              <a:gd name="T29" fmla="*/ 41 h 51"/>
              <a:gd name="T30" fmla="*/ 105 w 106"/>
              <a:gd name="T31" fmla="*/ 34 h 51"/>
              <a:gd name="T32" fmla="*/ 106 w 106"/>
              <a:gd name="T33" fmla="*/ 28 h 51"/>
              <a:gd name="T34" fmla="*/ 7 w 106"/>
              <a:gd name="T35" fmla="*/ 0 h 51"/>
              <a:gd name="T36" fmla="*/ 5 w 106"/>
              <a:gd name="T37" fmla="*/ 4 h 51"/>
              <a:gd name="T38" fmla="*/ 2 w 106"/>
              <a:gd name="T39" fmla="*/ 11 h 51"/>
              <a:gd name="T40" fmla="*/ 0 w 106"/>
              <a:gd name="T41" fmla="*/ 18 h 51"/>
              <a:gd name="T42" fmla="*/ 0 w 106"/>
              <a:gd name="T43" fmla="*/ 24 h 51"/>
              <a:gd name="T44" fmla="*/ 0 w 106"/>
              <a:gd name="T45" fmla="*/ 31 h 51"/>
              <a:gd name="T46" fmla="*/ 2 w 106"/>
              <a:gd name="T47" fmla="*/ 38 h 51"/>
              <a:gd name="T48" fmla="*/ 4 w 106"/>
              <a:gd name="T49" fmla="*/ 44 h 51"/>
              <a:gd name="T50" fmla="*/ 7 w 106"/>
              <a:gd name="T51" fmla="*/ 51 h 51"/>
              <a:gd name="T52" fmla="*/ 8 w 106"/>
              <a:gd name="T53" fmla="*/ 48 h 51"/>
              <a:gd name="T54" fmla="*/ 7 w 106"/>
              <a:gd name="T55" fmla="*/ 41 h 51"/>
              <a:gd name="T56" fmla="*/ 5 w 106"/>
              <a:gd name="T57" fmla="*/ 34 h 51"/>
              <a:gd name="T58" fmla="*/ 4 w 106"/>
              <a:gd name="T59" fmla="*/ 28 h 51"/>
              <a:gd name="T60" fmla="*/ 4 w 106"/>
              <a:gd name="T61" fmla="*/ 21 h 51"/>
              <a:gd name="T62" fmla="*/ 5 w 106"/>
              <a:gd name="T63" fmla="*/ 14 h 51"/>
              <a:gd name="T64" fmla="*/ 7 w 106"/>
              <a:gd name="T65" fmla="*/ 8 h 51"/>
              <a:gd name="T66" fmla="*/ 10 w 106"/>
              <a:gd name="T67" fmla="*/ 1 h 51"/>
              <a:gd name="T68" fmla="*/ 7 w 10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6" h="51">
                <a:moveTo>
                  <a:pt x="106" y="24"/>
                </a:moveTo>
                <a:lnTo>
                  <a:pt x="106" y="21"/>
                </a:lnTo>
                <a:lnTo>
                  <a:pt x="106" y="18"/>
                </a:lnTo>
                <a:lnTo>
                  <a:pt x="105" y="14"/>
                </a:lnTo>
                <a:lnTo>
                  <a:pt x="105" y="11"/>
                </a:lnTo>
                <a:lnTo>
                  <a:pt x="103" y="8"/>
                </a:lnTo>
                <a:lnTo>
                  <a:pt x="103" y="4"/>
                </a:lnTo>
                <a:lnTo>
                  <a:pt x="101" y="1"/>
                </a:lnTo>
                <a:lnTo>
                  <a:pt x="100" y="0"/>
                </a:lnTo>
                <a:lnTo>
                  <a:pt x="95" y="0"/>
                </a:lnTo>
                <a:lnTo>
                  <a:pt x="96" y="1"/>
                </a:lnTo>
                <a:lnTo>
                  <a:pt x="98" y="4"/>
                </a:lnTo>
                <a:lnTo>
                  <a:pt x="100" y="8"/>
                </a:lnTo>
                <a:lnTo>
                  <a:pt x="101" y="11"/>
                </a:lnTo>
                <a:lnTo>
                  <a:pt x="101" y="14"/>
                </a:lnTo>
                <a:lnTo>
                  <a:pt x="103" y="18"/>
                </a:lnTo>
                <a:lnTo>
                  <a:pt x="103" y="21"/>
                </a:lnTo>
                <a:lnTo>
                  <a:pt x="103" y="24"/>
                </a:lnTo>
                <a:lnTo>
                  <a:pt x="103" y="28"/>
                </a:lnTo>
                <a:lnTo>
                  <a:pt x="103" y="31"/>
                </a:lnTo>
                <a:lnTo>
                  <a:pt x="101" y="34"/>
                </a:lnTo>
                <a:lnTo>
                  <a:pt x="101" y="38"/>
                </a:lnTo>
                <a:lnTo>
                  <a:pt x="100" y="41"/>
                </a:lnTo>
                <a:lnTo>
                  <a:pt x="100" y="44"/>
                </a:lnTo>
                <a:lnTo>
                  <a:pt x="98" y="48"/>
                </a:lnTo>
                <a:lnTo>
                  <a:pt x="96" y="51"/>
                </a:lnTo>
                <a:lnTo>
                  <a:pt x="100" y="51"/>
                </a:lnTo>
                <a:lnTo>
                  <a:pt x="101" y="48"/>
                </a:lnTo>
                <a:lnTo>
                  <a:pt x="103" y="44"/>
                </a:lnTo>
                <a:lnTo>
                  <a:pt x="103" y="41"/>
                </a:lnTo>
                <a:lnTo>
                  <a:pt x="105" y="38"/>
                </a:lnTo>
                <a:lnTo>
                  <a:pt x="105" y="34"/>
                </a:lnTo>
                <a:lnTo>
                  <a:pt x="106" y="31"/>
                </a:lnTo>
                <a:lnTo>
                  <a:pt x="106" y="28"/>
                </a:lnTo>
                <a:lnTo>
                  <a:pt x="106" y="24"/>
                </a:lnTo>
                <a:close/>
                <a:moveTo>
                  <a:pt x="7" y="0"/>
                </a:moveTo>
                <a:lnTo>
                  <a:pt x="5" y="1"/>
                </a:lnTo>
                <a:lnTo>
                  <a:pt x="5" y="4"/>
                </a:lnTo>
                <a:lnTo>
                  <a:pt x="4" y="8"/>
                </a:lnTo>
                <a:lnTo>
                  <a:pt x="2" y="11"/>
                </a:lnTo>
                <a:lnTo>
                  <a:pt x="2" y="14"/>
                </a:lnTo>
                <a:lnTo>
                  <a:pt x="0" y="18"/>
                </a:lnTo>
                <a:lnTo>
                  <a:pt x="0" y="21"/>
                </a:lnTo>
                <a:lnTo>
                  <a:pt x="0" y="24"/>
                </a:lnTo>
                <a:lnTo>
                  <a:pt x="0" y="28"/>
                </a:lnTo>
                <a:lnTo>
                  <a:pt x="0" y="31"/>
                </a:lnTo>
                <a:lnTo>
                  <a:pt x="2" y="34"/>
                </a:lnTo>
                <a:lnTo>
                  <a:pt x="2" y="38"/>
                </a:lnTo>
                <a:lnTo>
                  <a:pt x="4" y="41"/>
                </a:lnTo>
                <a:lnTo>
                  <a:pt x="4" y="44"/>
                </a:lnTo>
                <a:lnTo>
                  <a:pt x="5" y="48"/>
                </a:lnTo>
                <a:lnTo>
                  <a:pt x="7" y="51"/>
                </a:lnTo>
                <a:lnTo>
                  <a:pt x="10" y="51"/>
                </a:lnTo>
                <a:lnTo>
                  <a:pt x="8" y="48"/>
                </a:lnTo>
                <a:lnTo>
                  <a:pt x="8" y="44"/>
                </a:lnTo>
                <a:lnTo>
                  <a:pt x="7" y="41"/>
                </a:lnTo>
                <a:lnTo>
                  <a:pt x="5" y="38"/>
                </a:lnTo>
                <a:lnTo>
                  <a:pt x="5" y="34"/>
                </a:lnTo>
                <a:lnTo>
                  <a:pt x="4" y="31"/>
                </a:lnTo>
                <a:lnTo>
                  <a:pt x="4" y="28"/>
                </a:lnTo>
                <a:lnTo>
                  <a:pt x="4" y="24"/>
                </a:lnTo>
                <a:lnTo>
                  <a:pt x="4" y="21"/>
                </a:lnTo>
                <a:lnTo>
                  <a:pt x="5" y="18"/>
                </a:lnTo>
                <a:lnTo>
                  <a:pt x="5" y="14"/>
                </a:lnTo>
                <a:lnTo>
                  <a:pt x="5" y="11"/>
                </a:lnTo>
                <a:lnTo>
                  <a:pt x="7" y="8"/>
                </a:lnTo>
                <a:lnTo>
                  <a:pt x="8" y="4"/>
                </a:lnTo>
                <a:lnTo>
                  <a:pt x="10" y="1"/>
                </a:lnTo>
                <a:lnTo>
                  <a:pt x="12" y="0"/>
                </a:lnTo>
                <a:lnTo>
                  <a:pt x="7"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21" name="Freeform 2026">
            <a:extLst>
              <a:ext uri="{FF2B5EF4-FFF2-40B4-BE49-F238E27FC236}">
                <a16:creationId xmlns:a16="http://schemas.microsoft.com/office/drawing/2014/main" id="{74C7C13B-4C57-2447-C1EE-281D3A51FB03}"/>
              </a:ext>
            </a:extLst>
          </p:cNvPr>
          <p:cNvSpPr>
            <a:spLocks noEditPoints="1"/>
          </p:cNvSpPr>
          <p:nvPr/>
        </p:nvSpPr>
        <p:spPr bwMode="auto">
          <a:xfrm>
            <a:off x="2476500" y="2719388"/>
            <a:ext cx="163513" cy="80963"/>
          </a:xfrm>
          <a:custGeom>
            <a:avLst/>
            <a:gdLst>
              <a:gd name="T0" fmla="*/ 103 w 103"/>
              <a:gd name="T1" fmla="*/ 21 h 51"/>
              <a:gd name="T2" fmla="*/ 101 w 103"/>
              <a:gd name="T3" fmla="*/ 14 h 51"/>
              <a:gd name="T4" fmla="*/ 99 w 103"/>
              <a:gd name="T5" fmla="*/ 8 h 51"/>
              <a:gd name="T6" fmla="*/ 98 w 103"/>
              <a:gd name="T7" fmla="*/ 1 h 51"/>
              <a:gd name="T8" fmla="*/ 91 w 103"/>
              <a:gd name="T9" fmla="*/ 0 h 51"/>
              <a:gd name="T10" fmla="*/ 94 w 103"/>
              <a:gd name="T11" fmla="*/ 4 h 51"/>
              <a:gd name="T12" fmla="*/ 98 w 103"/>
              <a:gd name="T13" fmla="*/ 11 h 51"/>
              <a:gd name="T14" fmla="*/ 99 w 103"/>
              <a:gd name="T15" fmla="*/ 18 h 51"/>
              <a:gd name="T16" fmla="*/ 99 w 103"/>
              <a:gd name="T17" fmla="*/ 24 h 51"/>
              <a:gd name="T18" fmla="*/ 99 w 103"/>
              <a:gd name="T19" fmla="*/ 33 h 51"/>
              <a:gd name="T20" fmla="*/ 98 w 103"/>
              <a:gd name="T21" fmla="*/ 38 h 51"/>
              <a:gd name="T22" fmla="*/ 94 w 103"/>
              <a:gd name="T23" fmla="*/ 44 h 51"/>
              <a:gd name="T24" fmla="*/ 93 w 103"/>
              <a:gd name="T25" fmla="*/ 51 h 51"/>
              <a:gd name="T26" fmla="*/ 98 w 103"/>
              <a:gd name="T27" fmla="*/ 48 h 51"/>
              <a:gd name="T28" fmla="*/ 99 w 103"/>
              <a:gd name="T29" fmla="*/ 41 h 51"/>
              <a:gd name="T30" fmla="*/ 101 w 103"/>
              <a:gd name="T31" fmla="*/ 34 h 51"/>
              <a:gd name="T32" fmla="*/ 103 w 103"/>
              <a:gd name="T33" fmla="*/ 28 h 51"/>
              <a:gd name="T34" fmla="*/ 8 w 103"/>
              <a:gd name="T35" fmla="*/ 0 h 51"/>
              <a:gd name="T36" fmla="*/ 5 w 103"/>
              <a:gd name="T37" fmla="*/ 4 h 51"/>
              <a:gd name="T38" fmla="*/ 2 w 103"/>
              <a:gd name="T39" fmla="*/ 11 h 51"/>
              <a:gd name="T40" fmla="*/ 2 w 103"/>
              <a:gd name="T41" fmla="*/ 18 h 51"/>
              <a:gd name="T42" fmla="*/ 0 w 103"/>
              <a:gd name="T43" fmla="*/ 24 h 51"/>
              <a:gd name="T44" fmla="*/ 0 w 103"/>
              <a:gd name="T45" fmla="*/ 31 h 51"/>
              <a:gd name="T46" fmla="*/ 2 w 103"/>
              <a:gd name="T47" fmla="*/ 38 h 51"/>
              <a:gd name="T48" fmla="*/ 5 w 103"/>
              <a:gd name="T49" fmla="*/ 44 h 51"/>
              <a:gd name="T50" fmla="*/ 6 w 103"/>
              <a:gd name="T51" fmla="*/ 51 h 51"/>
              <a:gd name="T52" fmla="*/ 10 w 103"/>
              <a:gd name="T53" fmla="*/ 48 h 51"/>
              <a:gd name="T54" fmla="*/ 6 w 103"/>
              <a:gd name="T55" fmla="*/ 41 h 51"/>
              <a:gd name="T56" fmla="*/ 5 w 103"/>
              <a:gd name="T57" fmla="*/ 34 h 51"/>
              <a:gd name="T58" fmla="*/ 3 w 103"/>
              <a:gd name="T59" fmla="*/ 28 h 51"/>
              <a:gd name="T60" fmla="*/ 3 w 103"/>
              <a:gd name="T61" fmla="*/ 21 h 51"/>
              <a:gd name="T62" fmla="*/ 5 w 103"/>
              <a:gd name="T63" fmla="*/ 14 h 51"/>
              <a:gd name="T64" fmla="*/ 6 w 103"/>
              <a:gd name="T65" fmla="*/ 8 h 51"/>
              <a:gd name="T66" fmla="*/ 10 w 103"/>
              <a:gd name="T67" fmla="*/ 1 h 51"/>
              <a:gd name="T68" fmla="*/ 8 w 10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3" h="51">
                <a:moveTo>
                  <a:pt x="103" y="24"/>
                </a:moveTo>
                <a:lnTo>
                  <a:pt x="103" y="21"/>
                </a:lnTo>
                <a:lnTo>
                  <a:pt x="103" y="18"/>
                </a:lnTo>
                <a:lnTo>
                  <a:pt x="101" y="14"/>
                </a:lnTo>
                <a:lnTo>
                  <a:pt x="101" y="11"/>
                </a:lnTo>
                <a:lnTo>
                  <a:pt x="99" y="8"/>
                </a:lnTo>
                <a:lnTo>
                  <a:pt x="98" y="4"/>
                </a:lnTo>
                <a:lnTo>
                  <a:pt x="98" y="1"/>
                </a:lnTo>
                <a:lnTo>
                  <a:pt x="96" y="0"/>
                </a:lnTo>
                <a:lnTo>
                  <a:pt x="91" y="0"/>
                </a:lnTo>
                <a:lnTo>
                  <a:pt x="93" y="1"/>
                </a:lnTo>
                <a:lnTo>
                  <a:pt x="94" y="4"/>
                </a:lnTo>
                <a:lnTo>
                  <a:pt x="96" y="8"/>
                </a:lnTo>
                <a:lnTo>
                  <a:pt x="98" y="11"/>
                </a:lnTo>
                <a:lnTo>
                  <a:pt x="98" y="14"/>
                </a:lnTo>
                <a:lnTo>
                  <a:pt x="99" y="18"/>
                </a:lnTo>
                <a:lnTo>
                  <a:pt x="99" y="21"/>
                </a:lnTo>
                <a:lnTo>
                  <a:pt x="99" y="24"/>
                </a:lnTo>
                <a:lnTo>
                  <a:pt x="99" y="28"/>
                </a:lnTo>
                <a:lnTo>
                  <a:pt x="99" y="33"/>
                </a:lnTo>
                <a:lnTo>
                  <a:pt x="98" y="34"/>
                </a:lnTo>
                <a:lnTo>
                  <a:pt x="98" y="38"/>
                </a:lnTo>
                <a:lnTo>
                  <a:pt x="96" y="41"/>
                </a:lnTo>
                <a:lnTo>
                  <a:pt x="94" y="44"/>
                </a:lnTo>
                <a:lnTo>
                  <a:pt x="94" y="48"/>
                </a:lnTo>
                <a:lnTo>
                  <a:pt x="93" y="51"/>
                </a:lnTo>
                <a:lnTo>
                  <a:pt x="96" y="51"/>
                </a:lnTo>
                <a:lnTo>
                  <a:pt x="98" y="48"/>
                </a:lnTo>
                <a:lnTo>
                  <a:pt x="99" y="44"/>
                </a:lnTo>
                <a:lnTo>
                  <a:pt x="99" y="41"/>
                </a:lnTo>
                <a:lnTo>
                  <a:pt x="101" y="38"/>
                </a:lnTo>
                <a:lnTo>
                  <a:pt x="101" y="34"/>
                </a:lnTo>
                <a:lnTo>
                  <a:pt x="103" y="31"/>
                </a:lnTo>
                <a:lnTo>
                  <a:pt x="103" y="28"/>
                </a:lnTo>
                <a:lnTo>
                  <a:pt x="103" y="24"/>
                </a:lnTo>
                <a:close/>
                <a:moveTo>
                  <a:pt x="8" y="0"/>
                </a:moveTo>
                <a:lnTo>
                  <a:pt x="6" y="1"/>
                </a:lnTo>
                <a:lnTo>
                  <a:pt x="5" y="4"/>
                </a:lnTo>
                <a:lnTo>
                  <a:pt x="3" y="8"/>
                </a:lnTo>
                <a:lnTo>
                  <a:pt x="2" y="11"/>
                </a:lnTo>
                <a:lnTo>
                  <a:pt x="2" y="14"/>
                </a:lnTo>
                <a:lnTo>
                  <a:pt x="2" y="18"/>
                </a:lnTo>
                <a:lnTo>
                  <a:pt x="0" y="21"/>
                </a:lnTo>
                <a:lnTo>
                  <a:pt x="0" y="24"/>
                </a:lnTo>
                <a:lnTo>
                  <a:pt x="0" y="28"/>
                </a:lnTo>
                <a:lnTo>
                  <a:pt x="0" y="31"/>
                </a:lnTo>
                <a:lnTo>
                  <a:pt x="2" y="34"/>
                </a:lnTo>
                <a:lnTo>
                  <a:pt x="2" y="38"/>
                </a:lnTo>
                <a:lnTo>
                  <a:pt x="3" y="41"/>
                </a:lnTo>
                <a:lnTo>
                  <a:pt x="5" y="44"/>
                </a:lnTo>
                <a:lnTo>
                  <a:pt x="5" y="48"/>
                </a:lnTo>
                <a:lnTo>
                  <a:pt x="6" y="51"/>
                </a:lnTo>
                <a:lnTo>
                  <a:pt x="11" y="51"/>
                </a:lnTo>
                <a:lnTo>
                  <a:pt x="10" y="48"/>
                </a:lnTo>
                <a:lnTo>
                  <a:pt x="8" y="44"/>
                </a:lnTo>
                <a:lnTo>
                  <a:pt x="6" y="41"/>
                </a:lnTo>
                <a:lnTo>
                  <a:pt x="5" y="38"/>
                </a:lnTo>
                <a:lnTo>
                  <a:pt x="5" y="34"/>
                </a:lnTo>
                <a:lnTo>
                  <a:pt x="3" y="33"/>
                </a:lnTo>
                <a:lnTo>
                  <a:pt x="3" y="28"/>
                </a:lnTo>
                <a:lnTo>
                  <a:pt x="3" y="24"/>
                </a:lnTo>
                <a:lnTo>
                  <a:pt x="3" y="21"/>
                </a:lnTo>
                <a:lnTo>
                  <a:pt x="5" y="18"/>
                </a:lnTo>
                <a:lnTo>
                  <a:pt x="5" y="14"/>
                </a:lnTo>
                <a:lnTo>
                  <a:pt x="5" y="11"/>
                </a:lnTo>
                <a:lnTo>
                  <a:pt x="6" y="8"/>
                </a:lnTo>
                <a:lnTo>
                  <a:pt x="8" y="4"/>
                </a:lnTo>
                <a:lnTo>
                  <a:pt x="10" y="1"/>
                </a:lnTo>
                <a:lnTo>
                  <a:pt x="11" y="0"/>
                </a:lnTo>
                <a:lnTo>
                  <a:pt x="8" y="0"/>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22" name="Freeform 2027">
            <a:extLst>
              <a:ext uri="{FF2B5EF4-FFF2-40B4-BE49-F238E27FC236}">
                <a16:creationId xmlns:a16="http://schemas.microsoft.com/office/drawing/2014/main" id="{C0CB2CF8-4F94-482B-5D22-B09BFCF52154}"/>
              </a:ext>
            </a:extLst>
          </p:cNvPr>
          <p:cNvSpPr>
            <a:spLocks noEditPoints="1"/>
          </p:cNvSpPr>
          <p:nvPr/>
        </p:nvSpPr>
        <p:spPr bwMode="auto">
          <a:xfrm>
            <a:off x="2479675" y="2719388"/>
            <a:ext cx="157163" cy="80963"/>
          </a:xfrm>
          <a:custGeom>
            <a:avLst/>
            <a:gdLst>
              <a:gd name="T0" fmla="*/ 99 w 99"/>
              <a:gd name="T1" fmla="*/ 21 h 51"/>
              <a:gd name="T2" fmla="*/ 97 w 99"/>
              <a:gd name="T3" fmla="*/ 14 h 51"/>
              <a:gd name="T4" fmla="*/ 96 w 99"/>
              <a:gd name="T5" fmla="*/ 8 h 51"/>
              <a:gd name="T6" fmla="*/ 92 w 99"/>
              <a:gd name="T7" fmla="*/ 1 h 51"/>
              <a:gd name="T8" fmla="*/ 87 w 99"/>
              <a:gd name="T9" fmla="*/ 0 h 51"/>
              <a:gd name="T10" fmla="*/ 91 w 99"/>
              <a:gd name="T11" fmla="*/ 4 h 51"/>
              <a:gd name="T12" fmla="*/ 94 w 99"/>
              <a:gd name="T13" fmla="*/ 11 h 51"/>
              <a:gd name="T14" fmla="*/ 96 w 99"/>
              <a:gd name="T15" fmla="*/ 18 h 51"/>
              <a:gd name="T16" fmla="*/ 96 w 99"/>
              <a:gd name="T17" fmla="*/ 24 h 51"/>
              <a:gd name="T18" fmla="*/ 96 w 99"/>
              <a:gd name="T19" fmla="*/ 33 h 51"/>
              <a:gd name="T20" fmla="*/ 94 w 99"/>
              <a:gd name="T21" fmla="*/ 38 h 51"/>
              <a:gd name="T22" fmla="*/ 91 w 99"/>
              <a:gd name="T23" fmla="*/ 44 h 51"/>
              <a:gd name="T24" fmla="*/ 87 w 99"/>
              <a:gd name="T25" fmla="*/ 51 h 51"/>
              <a:gd name="T26" fmla="*/ 94 w 99"/>
              <a:gd name="T27" fmla="*/ 48 h 51"/>
              <a:gd name="T28" fmla="*/ 96 w 99"/>
              <a:gd name="T29" fmla="*/ 41 h 51"/>
              <a:gd name="T30" fmla="*/ 97 w 99"/>
              <a:gd name="T31" fmla="*/ 34 h 51"/>
              <a:gd name="T32" fmla="*/ 99 w 99"/>
              <a:gd name="T33" fmla="*/ 28 h 51"/>
              <a:gd name="T34" fmla="*/ 8 w 99"/>
              <a:gd name="T35" fmla="*/ 0 h 51"/>
              <a:gd name="T36" fmla="*/ 4 w 99"/>
              <a:gd name="T37" fmla="*/ 4 h 51"/>
              <a:gd name="T38" fmla="*/ 1 w 99"/>
              <a:gd name="T39" fmla="*/ 11 h 51"/>
              <a:gd name="T40" fmla="*/ 1 w 99"/>
              <a:gd name="T41" fmla="*/ 18 h 51"/>
              <a:gd name="T42" fmla="*/ 0 w 99"/>
              <a:gd name="T43" fmla="*/ 24 h 51"/>
              <a:gd name="T44" fmla="*/ 0 w 99"/>
              <a:gd name="T45" fmla="*/ 31 h 51"/>
              <a:gd name="T46" fmla="*/ 1 w 99"/>
              <a:gd name="T47" fmla="*/ 38 h 51"/>
              <a:gd name="T48" fmla="*/ 4 w 99"/>
              <a:gd name="T49" fmla="*/ 44 h 51"/>
              <a:gd name="T50" fmla="*/ 6 w 99"/>
              <a:gd name="T51" fmla="*/ 51 h 51"/>
              <a:gd name="T52" fmla="*/ 9 w 99"/>
              <a:gd name="T53" fmla="*/ 48 h 51"/>
              <a:gd name="T54" fmla="*/ 6 w 99"/>
              <a:gd name="T55" fmla="*/ 41 h 51"/>
              <a:gd name="T56" fmla="*/ 4 w 99"/>
              <a:gd name="T57" fmla="*/ 36 h 51"/>
              <a:gd name="T58" fmla="*/ 3 w 99"/>
              <a:gd name="T59" fmla="*/ 28 h 51"/>
              <a:gd name="T60" fmla="*/ 3 w 99"/>
              <a:gd name="T61" fmla="*/ 21 h 51"/>
              <a:gd name="T62" fmla="*/ 4 w 99"/>
              <a:gd name="T63" fmla="*/ 14 h 51"/>
              <a:gd name="T64" fmla="*/ 6 w 99"/>
              <a:gd name="T65" fmla="*/ 8 h 51"/>
              <a:gd name="T66" fmla="*/ 9 w 99"/>
              <a:gd name="T67" fmla="*/ 1 h 51"/>
              <a:gd name="T68" fmla="*/ 8 w 99"/>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9" h="51">
                <a:moveTo>
                  <a:pt x="99" y="24"/>
                </a:moveTo>
                <a:lnTo>
                  <a:pt x="99" y="21"/>
                </a:lnTo>
                <a:lnTo>
                  <a:pt x="99" y="18"/>
                </a:lnTo>
                <a:lnTo>
                  <a:pt x="97" y="14"/>
                </a:lnTo>
                <a:lnTo>
                  <a:pt x="97" y="11"/>
                </a:lnTo>
                <a:lnTo>
                  <a:pt x="96" y="8"/>
                </a:lnTo>
                <a:lnTo>
                  <a:pt x="94" y="4"/>
                </a:lnTo>
                <a:lnTo>
                  <a:pt x="92" y="1"/>
                </a:lnTo>
                <a:lnTo>
                  <a:pt x="91" y="0"/>
                </a:lnTo>
                <a:lnTo>
                  <a:pt x="87" y="0"/>
                </a:lnTo>
                <a:lnTo>
                  <a:pt x="89" y="1"/>
                </a:lnTo>
                <a:lnTo>
                  <a:pt x="91" y="4"/>
                </a:lnTo>
                <a:lnTo>
                  <a:pt x="92" y="8"/>
                </a:lnTo>
                <a:lnTo>
                  <a:pt x="94" y="11"/>
                </a:lnTo>
                <a:lnTo>
                  <a:pt x="94" y="14"/>
                </a:lnTo>
                <a:lnTo>
                  <a:pt x="96" y="18"/>
                </a:lnTo>
                <a:lnTo>
                  <a:pt x="96" y="21"/>
                </a:lnTo>
                <a:lnTo>
                  <a:pt x="96" y="24"/>
                </a:lnTo>
                <a:lnTo>
                  <a:pt x="96" y="28"/>
                </a:lnTo>
                <a:lnTo>
                  <a:pt x="96" y="33"/>
                </a:lnTo>
                <a:lnTo>
                  <a:pt x="94" y="36"/>
                </a:lnTo>
                <a:lnTo>
                  <a:pt x="94" y="38"/>
                </a:lnTo>
                <a:lnTo>
                  <a:pt x="92" y="41"/>
                </a:lnTo>
                <a:lnTo>
                  <a:pt x="91" y="44"/>
                </a:lnTo>
                <a:lnTo>
                  <a:pt x="89" y="48"/>
                </a:lnTo>
                <a:lnTo>
                  <a:pt x="87" y="51"/>
                </a:lnTo>
                <a:lnTo>
                  <a:pt x="92" y="51"/>
                </a:lnTo>
                <a:lnTo>
                  <a:pt x="94" y="48"/>
                </a:lnTo>
                <a:lnTo>
                  <a:pt x="96" y="44"/>
                </a:lnTo>
                <a:lnTo>
                  <a:pt x="96" y="41"/>
                </a:lnTo>
                <a:lnTo>
                  <a:pt x="97" y="38"/>
                </a:lnTo>
                <a:lnTo>
                  <a:pt x="97" y="34"/>
                </a:lnTo>
                <a:lnTo>
                  <a:pt x="99" y="31"/>
                </a:lnTo>
                <a:lnTo>
                  <a:pt x="99" y="28"/>
                </a:lnTo>
                <a:lnTo>
                  <a:pt x="99" y="24"/>
                </a:lnTo>
                <a:close/>
                <a:moveTo>
                  <a:pt x="8" y="0"/>
                </a:moveTo>
                <a:lnTo>
                  <a:pt x="6" y="1"/>
                </a:lnTo>
                <a:lnTo>
                  <a:pt x="4" y="4"/>
                </a:lnTo>
                <a:lnTo>
                  <a:pt x="3" y="8"/>
                </a:lnTo>
                <a:lnTo>
                  <a:pt x="1" y="11"/>
                </a:lnTo>
                <a:lnTo>
                  <a:pt x="1" y="14"/>
                </a:lnTo>
                <a:lnTo>
                  <a:pt x="1" y="18"/>
                </a:lnTo>
                <a:lnTo>
                  <a:pt x="0" y="21"/>
                </a:lnTo>
                <a:lnTo>
                  <a:pt x="0" y="24"/>
                </a:lnTo>
                <a:lnTo>
                  <a:pt x="0" y="28"/>
                </a:lnTo>
                <a:lnTo>
                  <a:pt x="0" y="31"/>
                </a:lnTo>
                <a:lnTo>
                  <a:pt x="1" y="34"/>
                </a:lnTo>
                <a:lnTo>
                  <a:pt x="1" y="38"/>
                </a:lnTo>
                <a:lnTo>
                  <a:pt x="3" y="41"/>
                </a:lnTo>
                <a:lnTo>
                  <a:pt x="4" y="44"/>
                </a:lnTo>
                <a:lnTo>
                  <a:pt x="4" y="48"/>
                </a:lnTo>
                <a:lnTo>
                  <a:pt x="6" y="51"/>
                </a:lnTo>
                <a:lnTo>
                  <a:pt x="11" y="51"/>
                </a:lnTo>
                <a:lnTo>
                  <a:pt x="9" y="48"/>
                </a:lnTo>
                <a:lnTo>
                  <a:pt x="8" y="44"/>
                </a:lnTo>
                <a:lnTo>
                  <a:pt x="6" y="41"/>
                </a:lnTo>
                <a:lnTo>
                  <a:pt x="4" y="38"/>
                </a:lnTo>
                <a:lnTo>
                  <a:pt x="4" y="36"/>
                </a:lnTo>
                <a:lnTo>
                  <a:pt x="4" y="33"/>
                </a:lnTo>
                <a:lnTo>
                  <a:pt x="3" y="28"/>
                </a:lnTo>
                <a:lnTo>
                  <a:pt x="3" y="24"/>
                </a:lnTo>
                <a:lnTo>
                  <a:pt x="3" y="21"/>
                </a:lnTo>
                <a:lnTo>
                  <a:pt x="4" y="18"/>
                </a:lnTo>
                <a:lnTo>
                  <a:pt x="4" y="14"/>
                </a:lnTo>
                <a:lnTo>
                  <a:pt x="4" y="11"/>
                </a:lnTo>
                <a:lnTo>
                  <a:pt x="6" y="8"/>
                </a:lnTo>
                <a:lnTo>
                  <a:pt x="8" y="4"/>
                </a:lnTo>
                <a:lnTo>
                  <a:pt x="9" y="1"/>
                </a:lnTo>
                <a:lnTo>
                  <a:pt x="11" y="0"/>
                </a:lnTo>
                <a:lnTo>
                  <a:pt x="8"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23" name="Freeform 2028">
            <a:extLst>
              <a:ext uri="{FF2B5EF4-FFF2-40B4-BE49-F238E27FC236}">
                <a16:creationId xmlns:a16="http://schemas.microsoft.com/office/drawing/2014/main" id="{6CB373AE-FA6B-1712-1971-1DB835B08182}"/>
              </a:ext>
            </a:extLst>
          </p:cNvPr>
          <p:cNvSpPr>
            <a:spLocks noEditPoints="1"/>
          </p:cNvSpPr>
          <p:nvPr/>
        </p:nvSpPr>
        <p:spPr bwMode="auto">
          <a:xfrm>
            <a:off x="2481263" y="2719388"/>
            <a:ext cx="152400" cy="80963"/>
          </a:xfrm>
          <a:custGeom>
            <a:avLst/>
            <a:gdLst>
              <a:gd name="T0" fmla="*/ 96 w 96"/>
              <a:gd name="T1" fmla="*/ 21 h 51"/>
              <a:gd name="T2" fmla="*/ 95 w 96"/>
              <a:gd name="T3" fmla="*/ 14 h 51"/>
              <a:gd name="T4" fmla="*/ 93 w 96"/>
              <a:gd name="T5" fmla="*/ 8 h 51"/>
              <a:gd name="T6" fmla="*/ 90 w 96"/>
              <a:gd name="T7" fmla="*/ 1 h 51"/>
              <a:gd name="T8" fmla="*/ 85 w 96"/>
              <a:gd name="T9" fmla="*/ 0 h 51"/>
              <a:gd name="T10" fmla="*/ 88 w 96"/>
              <a:gd name="T11" fmla="*/ 4 h 51"/>
              <a:gd name="T12" fmla="*/ 91 w 96"/>
              <a:gd name="T13" fmla="*/ 11 h 51"/>
              <a:gd name="T14" fmla="*/ 93 w 96"/>
              <a:gd name="T15" fmla="*/ 18 h 51"/>
              <a:gd name="T16" fmla="*/ 93 w 96"/>
              <a:gd name="T17" fmla="*/ 24 h 51"/>
              <a:gd name="T18" fmla="*/ 93 w 96"/>
              <a:gd name="T19" fmla="*/ 33 h 51"/>
              <a:gd name="T20" fmla="*/ 91 w 96"/>
              <a:gd name="T21" fmla="*/ 38 h 51"/>
              <a:gd name="T22" fmla="*/ 88 w 96"/>
              <a:gd name="T23" fmla="*/ 44 h 51"/>
              <a:gd name="T24" fmla="*/ 85 w 96"/>
              <a:gd name="T25" fmla="*/ 51 h 51"/>
              <a:gd name="T26" fmla="*/ 91 w 96"/>
              <a:gd name="T27" fmla="*/ 48 h 51"/>
              <a:gd name="T28" fmla="*/ 93 w 96"/>
              <a:gd name="T29" fmla="*/ 41 h 51"/>
              <a:gd name="T30" fmla="*/ 95 w 96"/>
              <a:gd name="T31" fmla="*/ 34 h 51"/>
              <a:gd name="T32" fmla="*/ 96 w 96"/>
              <a:gd name="T33" fmla="*/ 28 h 51"/>
              <a:gd name="T34" fmla="*/ 8 w 96"/>
              <a:gd name="T35" fmla="*/ 0 h 51"/>
              <a:gd name="T36" fmla="*/ 5 w 96"/>
              <a:gd name="T37" fmla="*/ 4 h 51"/>
              <a:gd name="T38" fmla="*/ 2 w 96"/>
              <a:gd name="T39" fmla="*/ 11 h 51"/>
              <a:gd name="T40" fmla="*/ 2 w 96"/>
              <a:gd name="T41" fmla="*/ 18 h 51"/>
              <a:gd name="T42" fmla="*/ 0 w 96"/>
              <a:gd name="T43" fmla="*/ 24 h 51"/>
              <a:gd name="T44" fmla="*/ 0 w 96"/>
              <a:gd name="T45" fmla="*/ 33 h 51"/>
              <a:gd name="T46" fmla="*/ 2 w 96"/>
              <a:gd name="T47" fmla="*/ 38 h 51"/>
              <a:gd name="T48" fmla="*/ 5 w 96"/>
              <a:gd name="T49" fmla="*/ 44 h 51"/>
              <a:gd name="T50" fmla="*/ 8 w 96"/>
              <a:gd name="T51" fmla="*/ 51 h 51"/>
              <a:gd name="T52" fmla="*/ 10 w 96"/>
              <a:gd name="T53" fmla="*/ 48 h 51"/>
              <a:gd name="T54" fmla="*/ 7 w 96"/>
              <a:gd name="T55" fmla="*/ 41 h 51"/>
              <a:gd name="T56" fmla="*/ 5 w 96"/>
              <a:gd name="T57" fmla="*/ 36 h 51"/>
              <a:gd name="T58" fmla="*/ 3 w 96"/>
              <a:gd name="T59" fmla="*/ 29 h 51"/>
              <a:gd name="T60" fmla="*/ 3 w 96"/>
              <a:gd name="T61" fmla="*/ 21 h 51"/>
              <a:gd name="T62" fmla="*/ 5 w 96"/>
              <a:gd name="T63" fmla="*/ 14 h 51"/>
              <a:gd name="T64" fmla="*/ 7 w 96"/>
              <a:gd name="T65" fmla="*/ 8 h 51"/>
              <a:gd name="T66" fmla="*/ 10 w 96"/>
              <a:gd name="T67" fmla="*/ 1 h 51"/>
              <a:gd name="T68" fmla="*/ 8 w 9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6" h="51">
                <a:moveTo>
                  <a:pt x="96" y="24"/>
                </a:moveTo>
                <a:lnTo>
                  <a:pt x="96" y="21"/>
                </a:lnTo>
                <a:lnTo>
                  <a:pt x="96" y="18"/>
                </a:lnTo>
                <a:lnTo>
                  <a:pt x="95" y="14"/>
                </a:lnTo>
                <a:lnTo>
                  <a:pt x="95" y="11"/>
                </a:lnTo>
                <a:lnTo>
                  <a:pt x="93" y="8"/>
                </a:lnTo>
                <a:lnTo>
                  <a:pt x="91" y="4"/>
                </a:lnTo>
                <a:lnTo>
                  <a:pt x="90" y="1"/>
                </a:lnTo>
                <a:lnTo>
                  <a:pt x="88" y="0"/>
                </a:lnTo>
                <a:lnTo>
                  <a:pt x="85" y="0"/>
                </a:lnTo>
                <a:lnTo>
                  <a:pt x="86" y="1"/>
                </a:lnTo>
                <a:lnTo>
                  <a:pt x="88" y="4"/>
                </a:lnTo>
                <a:lnTo>
                  <a:pt x="90" y="8"/>
                </a:lnTo>
                <a:lnTo>
                  <a:pt x="91" y="11"/>
                </a:lnTo>
                <a:lnTo>
                  <a:pt x="91" y="14"/>
                </a:lnTo>
                <a:lnTo>
                  <a:pt x="93" y="18"/>
                </a:lnTo>
                <a:lnTo>
                  <a:pt x="93" y="21"/>
                </a:lnTo>
                <a:lnTo>
                  <a:pt x="93" y="24"/>
                </a:lnTo>
                <a:lnTo>
                  <a:pt x="93" y="29"/>
                </a:lnTo>
                <a:lnTo>
                  <a:pt x="93" y="33"/>
                </a:lnTo>
                <a:lnTo>
                  <a:pt x="91" y="36"/>
                </a:lnTo>
                <a:lnTo>
                  <a:pt x="91" y="38"/>
                </a:lnTo>
                <a:lnTo>
                  <a:pt x="90" y="41"/>
                </a:lnTo>
                <a:lnTo>
                  <a:pt x="88" y="44"/>
                </a:lnTo>
                <a:lnTo>
                  <a:pt x="86" y="48"/>
                </a:lnTo>
                <a:lnTo>
                  <a:pt x="85" y="51"/>
                </a:lnTo>
                <a:lnTo>
                  <a:pt x="90" y="51"/>
                </a:lnTo>
                <a:lnTo>
                  <a:pt x="91" y="48"/>
                </a:lnTo>
                <a:lnTo>
                  <a:pt x="91" y="44"/>
                </a:lnTo>
                <a:lnTo>
                  <a:pt x="93" y="41"/>
                </a:lnTo>
                <a:lnTo>
                  <a:pt x="95" y="38"/>
                </a:lnTo>
                <a:lnTo>
                  <a:pt x="95" y="34"/>
                </a:lnTo>
                <a:lnTo>
                  <a:pt x="96" y="33"/>
                </a:lnTo>
                <a:lnTo>
                  <a:pt x="96" y="28"/>
                </a:lnTo>
                <a:lnTo>
                  <a:pt x="96" y="24"/>
                </a:lnTo>
                <a:close/>
                <a:moveTo>
                  <a:pt x="8" y="0"/>
                </a:moveTo>
                <a:lnTo>
                  <a:pt x="7" y="1"/>
                </a:lnTo>
                <a:lnTo>
                  <a:pt x="5" y="4"/>
                </a:lnTo>
                <a:lnTo>
                  <a:pt x="3" y="8"/>
                </a:lnTo>
                <a:lnTo>
                  <a:pt x="2" y="11"/>
                </a:lnTo>
                <a:lnTo>
                  <a:pt x="2" y="14"/>
                </a:lnTo>
                <a:lnTo>
                  <a:pt x="2" y="18"/>
                </a:lnTo>
                <a:lnTo>
                  <a:pt x="0" y="21"/>
                </a:lnTo>
                <a:lnTo>
                  <a:pt x="0" y="24"/>
                </a:lnTo>
                <a:lnTo>
                  <a:pt x="0" y="28"/>
                </a:lnTo>
                <a:lnTo>
                  <a:pt x="0" y="33"/>
                </a:lnTo>
                <a:lnTo>
                  <a:pt x="2" y="34"/>
                </a:lnTo>
                <a:lnTo>
                  <a:pt x="2" y="38"/>
                </a:lnTo>
                <a:lnTo>
                  <a:pt x="3" y="41"/>
                </a:lnTo>
                <a:lnTo>
                  <a:pt x="5" y="44"/>
                </a:lnTo>
                <a:lnTo>
                  <a:pt x="7" y="48"/>
                </a:lnTo>
                <a:lnTo>
                  <a:pt x="8" y="51"/>
                </a:lnTo>
                <a:lnTo>
                  <a:pt x="12" y="51"/>
                </a:lnTo>
                <a:lnTo>
                  <a:pt x="10" y="48"/>
                </a:lnTo>
                <a:lnTo>
                  <a:pt x="8" y="44"/>
                </a:lnTo>
                <a:lnTo>
                  <a:pt x="7" y="41"/>
                </a:lnTo>
                <a:lnTo>
                  <a:pt x="5" y="38"/>
                </a:lnTo>
                <a:lnTo>
                  <a:pt x="5" y="36"/>
                </a:lnTo>
                <a:lnTo>
                  <a:pt x="5" y="33"/>
                </a:lnTo>
                <a:lnTo>
                  <a:pt x="3" y="29"/>
                </a:lnTo>
                <a:lnTo>
                  <a:pt x="3" y="24"/>
                </a:lnTo>
                <a:lnTo>
                  <a:pt x="3" y="21"/>
                </a:lnTo>
                <a:lnTo>
                  <a:pt x="5" y="18"/>
                </a:lnTo>
                <a:lnTo>
                  <a:pt x="5" y="14"/>
                </a:lnTo>
                <a:lnTo>
                  <a:pt x="7" y="11"/>
                </a:lnTo>
                <a:lnTo>
                  <a:pt x="7" y="8"/>
                </a:lnTo>
                <a:lnTo>
                  <a:pt x="8" y="4"/>
                </a:lnTo>
                <a:lnTo>
                  <a:pt x="10" y="1"/>
                </a:lnTo>
                <a:lnTo>
                  <a:pt x="12" y="0"/>
                </a:lnTo>
                <a:lnTo>
                  <a:pt x="8"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24" name="Freeform 2029">
            <a:extLst>
              <a:ext uri="{FF2B5EF4-FFF2-40B4-BE49-F238E27FC236}">
                <a16:creationId xmlns:a16="http://schemas.microsoft.com/office/drawing/2014/main" id="{F7EDF78E-2620-F921-F4D2-4899F37C47B3}"/>
              </a:ext>
            </a:extLst>
          </p:cNvPr>
          <p:cNvSpPr>
            <a:spLocks noEditPoints="1"/>
          </p:cNvSpPr>
          <p:nvPr/>
        </p:nvSpPr>
        <p:spPr bwMode="auto">
          <a:xfrm>
            <a:off x="2484438" y="2719388"/>
            <a:ext cx="147638" cy="80963"/>
          </a:xfrm>
          <a:custGeom>
            <a:avLst/>
            <a:gdLst>
              <a:gd name="T0" fmla="*/ 93 w 93"/>
              <a:gd name="T1" fmla="*/ 21 h 51"/>
              <a:gd name="T2" fmla="*/ 91 w 93"/>
              <a:gd name="T3" fmla="*/ 14 h 51"/>
              <a:gd name="T4" fmla="*/ 89 w 93"/>
              <a:gd name="T5" fmla="*/ 8 h 51"/>
              <a:gd name="T6" fmla="*/ 86 w 93"/>
              <a:gd name="T7" fmla="*/ 1 h 51"/>
              <a:gd name="T8" fmla="*/ 81 w 93"/>
              <a:gd name="T9" fmla="*/ 0 h 51"/>
              <a:gd name="T10" fmla="*/ 84 w 93"/>
              <a:gd name="T11" fmla="*/ 4 h 51"/>
              <a:gd name="T12" fmla="*/ 88 w 93"/>
              <a:gd name="T13" fmla="*/ 11 h 51"/>
              <a:gd name="T14" fmla="*/ 89 w 93"/>
              <a:gd name="T15" fmla="*/ 18 h 51"/>
              <a:gd name="T16" fmla="*/ 89 w 93"/>
              <a:gd name="T17" fmla="*/ 24 h 51"/>
              <a:gd name="T18" fmla="*/ 89 w 93"/>
              <a:gd name="T19" fmla="*/ 33 h 51"/>
              <a:gd name="T20" fmla="*/ 88 w 93"/>
              <a:gd name="T21" fmla="*/ 39 h 51"/>
              <a:gd name="T22" fmla="*/ 84 w 93"/>
              <a:gd name="T23" fmla="*/ 44 h 51"/>
              <a:gd name="T24" fmla="*/ 81 w 93"/>
              <a:gd name="T25" fmla="*/ 51 h 51"/>
              <a:gd name="T26" fmla="*/ 86 w 93"/>
              <a:gd name="T27" fmla="*/ 48 h 51"/>
              <a:gd name="T28" fmla="*/ 89 w 93"/>
              <a:gd name="T29" fmla="*/ 41 h 51"/>
              <a:gd name="T30" fmla="*/ 91 w 93"/>
              <a:gd name="T31" fmla="*/ 36 h 51"/>
              <a:gd name="T32" fmla="*/ 93 w 93"/>
              <a:gd name="T33" fmla="*/ 28 h 51"/>
              <a:gd name="T34" fmla="*/ 8 w 93"/>
              <a:gd name="T35" fmla="*/ 0 h 51"/>
              <a:gd name="T36" fmla="*/ 5 w 93"/>
              <a:gd name="T37" fmla="*/ 4 h 51"/>
              <a:gd name="T38" fmla="*/ 1 w 93"/>
              <a:gd name="T39" fmla="*/ 11 h 51"/>
              <a:gd name="T40" fmla="*/ 1 w 93"/>
              <a:gd name="T41" fmla="*/ 18 h 51"/>
              <a:gd name="T42" fmla="*/ 0 w 93"/>
              <a:gd name="T43" fmla="*/ 24 h 51"/>
              <a:gd name="T44" fmla="*/ 1 w 93"/>
              <a:gd name="T45" fmla="*/ 33 h 51"/>
              <a:gd name="T46" fmla="*/ 1 w 93"/>
              <a:gd name="T47" fmla="*/ 38 h 51"/>
              <a:gd name="T48" fmla="*/ 5 w 93"/>
              <a:gd name="T49" fmla="*/ 44 h 51"/>
              <a:gd name="T50" fmla="*/ 8 w 93"/>
              <a:gd name="T51" fmla="*/ 51 h 51"/>
              <a:gd name="T52" fmla="*/ 10 w 93"/>
              <a:gd name="T53" fmla="*/ 48 h 51"/>
              <a:gd name="T54" fmla="*/ 6 w 93"/>
              <a:gd name="T55" fmla="*/ 41 h 51"/>
              <a:gd name="T56" fmla="*/ 5 w 93"/>
              <a:gd name="T57" fmla="*/ 36 h 51"/>
              <a:gd name="T58" fmla="*/ 3 w 93"/>
              <a:gd name="T59" fmla="*/ 29 h 51"/>
              <a:gd name="T60" fmla="*/ 3 w 93"/>
              <a:gd name="T61" fmla="*/ 21 h 51"/>
              <a:gd name="T62" fmla="*/ 5 w 93"/>
              <a:gd name="T63" fmla="*/ 14 h 51"/>
              <a:gd name="T64" fmla="*/ 6 w 93"/>
              <a:gd name="T65" fmla="*/ 8 h 51"/>
              <a:gd name="T66" fmla="*/ 10 w 93"/>
              <a:gd name="T67" fmla="*/ 1 h 51"/>
              <a:gd name="T68" fmla="*/ 8 w 9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3" h="51">
                <a:moveTo>
                  <a:pt x="93" y="24"/>
                </a:moveTo>
                <a:lnTo>
                  <a:pt x="93" y="21"/>
                </a:lnTo>
                <a:lnTo>
                  <a:pt x="93" y="18"/>
                </a:lnTo>
                <a:lnTo>
                  <a:pt x="91" y="14"/>
                </a:lnTo>
                <a:lnTo>
                  <a:pt x="91" y="11"/>
                </a:lnTo>
                <a:lnTo>
                  <a:pt x="89" y="8"/>
                </a:lnTo>
                <a:lnTo>
                  <a:pt x="88" y="4"/>
                </a:lnTo>
                <a:lnTo>
                  <a:pt x="86" y="1"/>
                </a:lnTo>
                <a:lnTo>
                  <a:pt x="84" y="0"/>
                </a:lnTo>
                <a:lnTo>
                  <a:pt x="81" y="0"/>
                </a:lnTo>
                <a:lnTo>
                  <a:pt x="83" y="1"/>
                </a:lnTo>
                <a:lnTo>
                  <a:pt x="84" y="4"/>
                </a:lnTo>
                <a:lnTo>
                  <a:pt x="86" y="8"/>
                </a:lnTo>
                <a:lnTo>
                  <a:pt x="88" y="11"/>
                </a:lnTo>
                <a:lnTo>
                  <a:pt x="88" y="14"/>
                </a:lnTo>
                <a:lnTo>
                  <a:pt x="89" y="18"/>
                </a:lnTo>
                <a:lnTo>
                  <a:pt x="89" y="21"/>
                </a:lnTo>
                <a:lnTo>
                  <a:pt x="89" y="24"/>
                </a:lnTo>
                <a:lnTo>
                  <a:pt x="89" y="29"/>
                </a:lnTo>
                <a:lnTo>
                  <a:pt x="89" y="33"/>
                </a:lnTo>
                <a:lnTo>
                  <a:pt x="88" y="36"/>
                </a:lnTo>
                <a:lnTo>
                  <a:pt x="88" y="39"/>
                </a:lnTo>
                <a:lnTo>
                  <a:pt x="86" y="41"/>
                </a:lnTo>
                <a:lnTo>
                  <a:pt x="84" y="44"/>
                </a:lnTo>
                <a:lnTo>
                  <a:pt x="83" y="48"/>
                </a:lnTo>
                <a:lnTo>
                  <a:pt x="81" y="51"/>
                </a:lnTo>
                <a:lnTo>
                  <a:pt x="84" y="51"/>
                </a:lnTo>
                <a:lnTo>
                  <a:pt x="86" y="48"/>
                </a:lnTo>
                <a:lnTo>
                  <a:pt x="88" y="44"/>
                </a:lnTo>
                <a:lnTo>
                  <a:pt x="89" y="41"/>
                </a:lnTo>
                <a:lnTo>
                  <a:pt x="91" y="38"/>
                </a:lnTo>
                <a:lnTo>
                  <a:pt x="91" y="36"/>
                </a:lnTo>
                <a:lnTo>
                  <a:pt x="93" y="33"/>
                </a:lnTo>
                <a:lnTo>
                  <a:pt x="93" y="28"/>
                </a:lnTo>
                <a:lnTo>
                  <a:pt x="93" y="24"/>
                </a:lnTo>
                <a:close/>
                <a:moveTo>
                  <a:pt x="8" y="0"/>
                </a:moveTo>
                <a:lnTo>
                  <a:pt x="6" y="1"/>
                </a:lnTo>
                <a:lnTo>
                  <a:pt x="5" y="4"/>
                </a:lnTo>
                <a:lnTo>
                  <a:pt x="3" y="8"/>
                </a:lnTo>
                <a:lnTo>
                  <a:pt x="1" y="11"/>
                </a:lnTo>
                <a:lnTo>
                  <a:pt x="1" y="14"/>
                </a:lnTo>
                <a:lnTo>
                  <a:pt x="1" y="18"/>
                </a:lnTo>
                <a:lnTo>
                  <a:pt x="0" y="21"/>
                </a:lnTo>
                <a:lnTo>
                  <a:pt x="0" y="24"/>
                </a:lnTo>
                <a:lnTo>
                  <a:pt x="0" y="28"/>
                </a:lnTo>
                <a:lnTo>
                  <a:pt x="1" y="33"/>
                </a:lnTo>
                <a:lnTo>
                  <a:pt x="1" y="36"/>
                </a:lnTo>
                <a:lnTo>
                  <a:pt x="1" y="38"/>
                </a:lnTo>
                <a:lnTo>
                  <a:pt x="3" y="41"/>
                </a:lnTo>
                <a:lnTo>
                  <a:pt x="5" y="44"/>
                </a:lnTo>
                <a:lnTo>
                  <a:pt x="6" y="48"/>
                </a:lnTo>
                <a:lnTo>
                  <a:pt x="8" y="51"/>
                </a:lnTo>
                <a:lnTo>
                  <a:pt x="11" y="51"/>
                </a:lnTo>
                <a:lnTo>
                  <a:pt x="10" y="48"/>
                </a:lnTo>
                <a:lnTo>
                  <a:pt x="8" y="44"/>
                </a:lnTo>
                <a:lnTo>
                  <a:pt x="6" y="41"/>
                </a:lnTo>
                <a:lnTo>
                  <a:pt x="5" y="39"/>
                </a:lnTo>
                <a:lnTo>
                  <a:pt x="5" y="36"/>
                </a:lnTo>
                <a:lnTo>
                  <a:pt x="5" y="33"/>
                </a:lnTo>
                <a:lnTo>
                  <a:pt x="3" y="29"/>
                </a:lnTo>
                <a:lnTo>
                  <a:pt x="3" y="24"/>
                </a:lnTo>
                <a:lnTo>
                  <a:pt x="3" y="21"/>
                </a:lnTo>
                <a:lnTo>
                  <a:pt x="5" y="18"/>
                </a:lnTo>
                <a:lnTo>
                  <a:pt x="5" y="14"/>
                </a:lnTo>
                <a:lnTo>
                  <a:pt x="6" y="11"/>
                </a:lnTo>
                <a:lnTo>
                  <a:pt x="6" y="8"/>
                </a:lnTo>
                <a:lnTo>
                  <a:pt x="8" y="4"/>
                </a:lnTo>
                <a:lnTo>
                  <a:pt x="10" y="1"/>
                </a:lnTo>
                <a:lnTo>
                  <a:pt x="13" y="0"/>
                </a:lnTo>
                <a:lnTo>
                  <a:pt x="8"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25" name="Freeform 2030">
            <a:extLst>
              <a:ext uri="{FF2B5EF4-FFF2-40B4-BE49-F238E27FC236}">
                <a16:creationId xmlns:a16="http://schemas.microsoft.com/office/drawing/2014/main" id="{E3EE814F-2BBD-01A8-64F3-88630DB4095D}"/>
              </a:ext>
            </a:extLst>
          </p:cNvPr>
          <p:cNvSpPr>
            <a:spLocks noEditPoints="1"/>
          </p:cNvSpPr>
          <p:nvPr/>
        </p:nvSpPr>
        <p:spPr bwMode="auto">
          <a:xfrm>
            <a:off x="2486025" y="2719388"/>
            <a:ext cx="142875" cy="80963"/>
          </a:xfrm>
          <a:custGeom>
            <a:avLst/>
            <a:gdLst>
              <a:gd name="T0" fmla="*/ 90 w 90"/>
              <a:gd name="T1" fmla="*/ 21 h 51"/>
              <a:gd name="T2" fmla="*/ 88 w 90"/>
              <a:gd name="T3" fmla="*/ 14 h 51"/>
              <a:gd name="T4" fmla="*/ 87 w 90"/>
              <a:gd name="T5" fmla="*/ 8 h 51"/>
              <a:gd name="T6" fmla="*/ 83 w 90"/>
              <a:gd name="T7" fmla="*/ 1 h 51"/>
              <a:gd name="T8" fmla="*/ 77 w 90"/>
              <a:gd name="T9" fmla="*/ 0 h 51"/>
              <a:gd name="T10" fmla="*/ 82 w 90"/>
              <a:gd name="T11" fmla="*/ 4 h 51"/>
              <a:gd name="T12" fmla="*/ 83 w 90"/>
              <a:gd name="T13" fmla="*/ 11 h 51"/>
              <a:gd name="T14" fmla="*/ 87 w 90"/>
              <a:gd name="T15" fmla="*/ 18 h 51"/>
              <a:gd name="T16" fmla="*/ 87 w 90"/>
              <a:gd name="T17" fmla="*/ 24 h 51"/>
              <a:gd name="T18" fmla="*/ 87 w 90"/>
              <a:gd name="T19" fmla="*/ 33 h 51"/>
              <a:gd name="T20" fmla="*/ 85 w 90"/>
              <a:gd name="T21" fmla="*/ 39 h 51"/>
              <a:gd name="T22" fmla="*/ 82 w 90"/>
              <a:gd name="T23" fmla="*/ 44 h 51"/>
              <a:gd name="T24" fmla="*/ 78 w 90"/>
              <a:gd name="T25" fmla="*/ 51 h 51"/>
              <a:gd name="T26" fmla="*/ 83 w 90"/>
              <a:gd name="T27" fmla="*/ 48 h 51"/>
              <a:gd name="T28" fmla="*/ 87 w 90"/>
              <a:gd name="T29" fmla="*/ 41 h 51"/>
              <a:gd name="T30" fmla="*/ 88 w 90"/>
              <a:gd name="T31" fmla="*/ 36 h 51"/>
              <a:gd name="T32" fmla="*/ 90 w 90"/>
              <a:gd name="T33" fmla="*/ 29 h 51"/>
              <a:gd name="T34" fmla="*/ 9 w 90"/>
              <a:gd name="T35" fmla="*/ 0 h 51"/>
              <a:gd name="T36" fmla="*/ 5 w 90"/>
              <a:gd name="T37" fmla="*/ 4 h 51"/>
              <a:gd name="T38" fmla="*/ 4 w 90"/>
              <a:gd name="T39" fmla="*/ 11 h 51"/>
              <a:gd name="T40" fmla="*/ 2 w 90"/>
              <a:gd name="T41" fmla="*/ 18 h 51"/>
              <a:gd name="T42" fmla="*/ 0 w 90"/>
              <a:gd name="T43" fmla="*/ 24 h 51"/>
              <a:gd name="T44" fmla="*/ 2 w 90"/>
              <a:gd name="T45" fmla="*/ 33 h 51"/>
              <a:gd name="T46" fmla="*/ 2 w 90"/>
              <a:gd name="T47" fmla="*/ 38 h 51"/>
              <a:gd name="T48" fmla="*/ 5 w 90"/>
              <a:gd name="T49" fmla="*/ 44 h 51"/>
              <a:gd name="T50" fmla="*/ 9 w 90"/>
              <a:gd name="T51" fmla="*/ 51 h 51"/>
              <a:gd name="T52" fmla="*/ 10 w 90"/>
              <a:gd name="T53" fmla="*/ 48 h 51"/>
              <a:gd name="T54" fmla="*/ 7 w 90"/>
              <a:gd name="T55" fmla="*/ 41 h 51"/>
              <a:gd name="T56" fmla="*/ 5 w 90"/>
              <a:gd name="T57" fmla="*/ 36 h 51"/>
              <a:gd name="T58" fmla="*/ 4 w 90"/>
              <a:gd name="T59" fmla="*/ 29 h 51"/>
              <a:gd name="T60" fmla="*/ 4 w 90"/>
              <a:gd name="T61" fmla="*/ 21 h 51"/>
              <a:gd name="T62" fmla="*/ 5 w 90"/>
              <a:gd name="T63" fmla="*/ 14 h 51"/>
              <a:gd name="T64" fmla="*/ 7 w 90"/>
              <a:gd name="T65" fmla="*/ 8 h 51"/>
              <a:gd name="T66" fmla="*/ 12 w 90"/>
              <a:gd name="T67" fmla="*/ 1 h 51"/>
              <a:gd name="T68" fmla="*/ 9 w 9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0" h="51">
                <a:moveTo>
                  <a:pt x="90" y="24"/>
                </a:moveTo>
                <a:lnTo>
                  <a:pt x="90" y="21"/>
                </a:lnTo>
                <a:lnTo>
                  <a:pt x="90" y="18"/>
                </a:lnTo>
                <a:lnTo>
                  <a:pt x="88" y="14"/>
                </a:lnTo>
                <a:lnTo>
                  <a:pt x="88" y="11"/>
                </a:lnTo>
                <a:lnTo>
                  <a:pt x="87" y="8"/>
                </a:lnTo>
                <a:lnTo>
                  <a:pt x="85" y="4"/>
                </a:lnTo>
                <a:lnTo>
                  <a:pt x="83" y="1"/>
                </a:lnTo>
                <a:lnTo>
                  <a:pt x="82" y="0"/>
                </a:lnTo>
                <a:lnTo>
                  <a:pt x="77" y="0"/>
                </a:lnTo>
                <a:lnTo>
                  <a:pt x="80" y="1"/>
                </a:lnTo>
                <a:lnTo>
                  <a:pt x="82" y="4"/>
                </a:lnTo>
                <a:lnTo>
                  <a:pt x="83" y="8"/>
                </a:lnTo>
                <a:lnTo>
                  <a:pt x="83" y="11"/>
                </a:lnTo>
                <a:lnTo>
                  <a:pt x="85" y="14"/>
                </a:lnTo>
                <a:lnTo>
                  <a:pt x="87" y="18"/>
                </a:lnTo>
                <a:lnTo>
                  <a:pt x="87" y="21"/>
                </a:lnTo>
                <a:lnTo>
                  <a:pt x="87" y="24"/>
                </a:lnTo>
                <a:lnTo>
                  <a:pt x="87" y="29"/>
                </a:lnTo>
                <a:lnTo>
                  <a:pt x="87" y="33"/>
                </a:lnTo>
                <a:lnTo>
                  <a:pt x="85" y="36"/>
                </a:lnTo>
                <a:lnTo>
                  <a:pt x="85" y="39"/>
                </a:lnTo>
                <a:lnTo>
                  <a:pt x="83" y="41"/>
                </a:lnTo>
                <a:lnTo>
                  <a:pt x="82" y="44"/>
                </a:lnTo>
                <a:lnTo>
                  <a:pt x="80" y="48"/>
                </a:lnTo>
                <a:lnTo>
                  <a:pt x="78" y="51"/>
                </a:lnTo>
                <a:lnTo>
                  <a:pt x="82" y="51"/>
                </a:lnTo>
                <a:lnTo>
                  <a:pt x="83" y="48"/>
                </a:lnTo>
                <a:lnTo>
                  <a:pt x="85" y="44"/>
                </a:lnTo>
                <a:lnTo>
                  <a:pt x="87" y="41"/>
                </a:lnTo>
                <a:lnTo>
                  <a:pt x="88" y="38"/>
                </a:lnTo>
                <a:lnTo>
                  <a:pt x="88" y="36"/>
                </a:lnTo>
                <a:lnTo>
                  <a:pt x="90" y="33"/>
                </a:lnTo>
                <a:lnTo>
                  <a:pt x="90" y="29"/>
                </a:lnTo>
                <a:lnTo>
                  <a:pt x="90" y="24"/>
                </a:lnTo>
                <a:close/>
                <a:moveTo>
                  <a:pt x="9" y="0"/>
                </a:moveTo>
                <a:lnTo>
                  <a:pt x="7" y="1"/>
                </a:lnTo>
                <a:lnTo>
                  <a:pt x="5" y="4"/>
                </a:lnTo>
                <a:lnTo>
                  <a:pt x="4" y="8"/>
                </a:lnTo>
                <a:lnTo>
                  <a:pt x="4" y="11"/>
                </a:lnTo>
                <a:lnTo>
                  <a:pt x="2" y="14"/>
                </a:lnTo>
                <a:lnTo>
                  <a:pt x="2" y="18"/>
                </a:lnTo>
                <a:lnTo>
                  <a:pt x="0" y="21"/>
                </a:lnTo>
                <a:lnTo>
                  <a:pt x="0" y="24"/>
                </a:lnTo>
                <a:lnTo>
                  <a:pt x="0" y="29"/>
                </a:lnTo>
                <a:lnTo>
                  <a:pt x="2" y="33"/>
                </a:lnTo>
                <a:lnTo>
                  <a:pt x="2" y="36"/>
                </a:lnTo>
                <a:lnTo>
                  <a:pt x="2" y="38"/>
                </a:lnTo>
                <a:lnTo>
                  <a:pt x="4" y="41"/>
                </a:lnTo>
                <a:lnTo>
                  <a:pt x="5" y="44"/>
                </a:lnTo>
                <a:lnTo>
                  <a:pt x="7" y="48"/>
                </a:lnTo>
                <a:lnTo>
                  <a:pt x="9" y="51"/>
                </a:lnTo>
                <a:lnTo>
                  <a:pt x="12" y="51"/>
                </a:lnTo>
                <a:lnTo>
                  <a:pt x="10" y="48"/>
                </a:lnTo>
                <a:lnTo>
                  <a:pt x="9" y="44"/>
                </a:lnTo>
                <a:lnTo>
                  <a:pt x="7" y="41"/>
                </a:lnTo>
                <a:lnTo>
                  <a:pt x="7" y="39"/>
                </a:lnTo>
                <a:lnTo>
                  <a:pt x="5" y="36"/>
                </a:lnTo>
                <a:lnTo>
                  <a:pt x="5" y="33"/>
                </a:lnTo>
                <a:lnTo>
                  <a:pt x="4" y="29"/>
                </a:lnTo>
                <a:lnTo>
                  <a:pt x="4" y="24"/>
                </a:lnTo>
                <a:lnTo>
                  <a:pt x="4" y="21"/>
                </a:lnTo>
                <a:lnTo>
                  <a:pt x="5" y="18"/>
                </a:lnTo>
                <a:lnTo>
                  <a:pt x="5" y="14"/>
                </a:lnTo>
                <a:lnTo>
                  <a:pt x="7" y="11"/>
                </a:lnTo>
                <a:lnTo>
                  <a:pt x="7" y="8"/>
                </a:lnTo>
                <a:lnTo>
                  <a:pt x="9" y="4"/>
                </a:lnTo>
                <a:lnTo>
                  <a:pt x="12" y="1"/>
                </a:lnTo>
                <a:lnTo>
                  <a:pt x="14" y="0"/>
                </a:lnTo>
                <a:lnTo>
                  <a:pt x="9"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26" name="Freeform 2031">
            <a:extLst>
              <a:ext uri="{FF2B5EF4-FFF2-40B4-BE49-F238E27FC236}">
                <a16:creationId xmlns:a16="http://schemas.microsoft.com/office/drawing/2014/main" id="{597DBC81-80C3-A896-D7A3-6948FD19AE69}"/>
              </a:ext>
            </a:extLst>
          </p:cNvPr>
          <p:cNvSpPr>
            <a:spLocks noEditPoints="1"/>
          </p:cNvSpPr>
          <p:nvPr/>
        </p:nvSpPr>
        <p:spPr bwMode="auto">
          <a:xfrm>
            <a:off x="2489200" y="2719388"/>
            <a:ext cx="136525" cy="80963"/>
          </a:xfrm>
          <a:custGeom>
            <a:avLst/>
            <a:gdLst>
              <a:gd name="T0" fmla="*/ 86 w 86"/>
              <a:gd name="T1" fmla="*/ 21 h 51"/>
              <a:gd name="T2" fmla="*/ 85 w 86"/>
              <a:gd name="T3" fmla="*/ 14 h 51"/>
              <a:gd name="T4" fmla="*/ 83 w 86"/>
              <a:gd name="T5" fmla="*/ 8 h 51"/>
              <a:gd name="T6" fmla="*/ 80 w 86"/>
              <a:gd name="T7" fmla="*/ 1 h 51"/>
              <a:gd name="T8" fmla="*/ 73 w 86"/>
              <a:gd name="T9" fmla="*/ 0 h 51"/>
              <a:gd name="T10" fmla="*/ 78 w 86"/>
              <a:gd name="T11" fmla="*/ 4 h 51"/>
              <a:gd name="T12" fmla="*/ 80 w 86"/>
              <a:gd name="T13" fmla="*/ 11 h 51"/>
              <a:gd name="T14" fmla="*/ 83 w 86"/>
              <a:gd name="T15" fmla="*/ 18 h 51"/>
              <a:gd name="T16" fmla="*/ 83 w 86"/>
              <a:gd name="T17" fmla="*/ 24 h 51"/>
              <a:gd name="T18" fmla="*/ 83 w 86"/>
              <a:gd name="T19" fmla="*/ 33 h 51"/>
              <a:gd name="T20" fmla="*/ 81 w 86"/>
              <a:gd name="T21" fmla="*/ 39 h 51"/>
              <a:gd name="T22" fmla="*/ 78 w 86"/>
              <a:gd name="T23" fmla="*/ 44 h 51"/>
              <a:gd name="T24" fmla="*/ 75 w 86"/>
              <a:gd name="T25" fmla="*/ 51 h 51"/>
              <a:gd name="T26" fmla="*/ 80 w 86"/>
              <a:gd name="T27" fmla="*/ 48 h 51"/>
              <a:gd name="T28" fmla="*/ 83 w 86"/>
              <a:gd name="T29" fmla="*/ 41 h 51"/>
              <a:gd name="T30" fmla="*/ 85 w 86"/>
              <a:gd name="T31" fmla="*/ 36 h 51"/>
              <a:gd name="T32" fmla="*/ 86 w 86"/>
              <a:gd name="T33" fmla="*/ 29 h 51"/>
              <a:gd name="T34" fmla="*/ 10 w 86"/>
              <a:gd name="T35" fmla="*/ 0 h 51"/>
              <a:gd name="T36" fmla="*/ 5 w 86"/>
              <a:gd name="T37" fmla="*/ 4 h 51"/>
              <a:gd name="T38" fmla="*/ 3 w 86"/>
              <a:gd name="T39" fmla="*/ 11 h 51"/>
              <a:gd name="T40" fmla="*/ 2 w 86"/>
              <a:gd name="T41" fmla="*/ 18 h 51"/>
              <a:gd name="T42" fmla="*/ 0 w 86"/>
              <a:gd name="T43" fmla="*/ 24 h 51"/>
              <a:gd name="T44" fmla="*/ 2 w 86"/>
              <a:gd name="T45" fmla="*/ 33 h 51"/>
              <a:gd name="T46" fmla="*/ 2 w 86"/>
              <a:gd name="T47" fmla="*/ 39 h 51"/>
              <a:gd name="T48" fmla="*/ 5 w 86"/>
              <a:gd name="T49" fmla="*/ 44 h 51"/>
              <a:gd name="T50" fmla="*/ 8 w 86"/>
              <a:gd name="T51" fmla="*/ 51 h 51"/>
              <a:gd name="T52" fmla="*/ 10 w 86"/>
              <a:gd name="T53" fmla="*/ 48 h 51"/>
              <a:gd name="T54" fmla="*/ 7 w 86"/>
              <a:gd name="T55" fmla="*/ 41 h 51"/>
              <a:gd name="T56" fmla="*/ 5 w 86"/>
              <a:gd name="T57" fmla="*/ 36 h 51"/>
              <a:gd name="T58" fmla="*/ 3 w 86"/>
              <a:gd name="T59" fmla="*/ 29 h 51"/>
              <a:gd name="T60" fmla="*/ 3 w 86"/>
              <a:gd name="T61" fmla="*/ 21 h 51"/>
              <a:gd name="T62" fmla="*/ 5 w 86"/>
              <a:gd name="T63" fmla="*/ 14 h 51"/>
              <a:gd name="T64" fmla="*/ 8 w 86"/>
              <a:gd name="T65" fmla="*/ 8 h 51"/>
              <a:gd name="T66" fmla="*/ 12 w 86"/>
              <a:gd name="T67" fmla="*/ 1 h 51"/>
              <a:gd name="T68" fmla="*/ 10 w 8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86" h="51">
                <a:moveTo>
                  <a:pt x="86" y="24"/>
                </a:moveTo>
                <a:lnTo>
                  <a:pt x="86" y="21"/>
                </a:lnTo>
                <a:lnTo>
                  <a:pt x="86" y="18"/>
                </a:lnTo>
                <a:lnTo>
                  <a:pt x="85" y="14"/>
                </a:lnTo>
                <a:lnTo>
                  <a:pt x="85" y="11"/>
                </a:lnTo>
                <a:lnTo>
                  <a:pt x="83" y="8"/>
                </a:lnTo>
                <a:lnTo>
                  <a:pt x="81" y="4"/>
                </a:lnTo>
                <a:lnTo>
                  <a:pt x="80" y="1"/>
                </a:lnTo>
                <a:lnTo>
                  <a:pt x="78" y="0"/>
                </a:lnTo>
                <a:lnTo>
                  <a:pt x="73" y="0"/>
                </a:lnTo>
                <a:lnTo>
                  <a:pt x="75" y="1"/>
                </a:lnTo>
                <a:lnTo>
                  <a:pt x="78" y="4"/>
                </a:lnTo>
                <a:lnTo>
                  <a:pt x="80" y="8"/>
                </a:lnTo>
                <a:lnTo>
                  <a:pt x="80" y="11"/>
                </a:lnTo>
                <a:lnTo>
                  <a:pt x="81" y="14"/>
                </a:lnTo>
                <a:lnTo>
                  <a:pt x="83" y="18"/>
                </a:lnTo>
                <a:lnTo>
                  <a:pt x="83" y="21"/>
                </a:lnTo>
                <a:lnTo>
                  <a:pt x="83" y="24"/>
                </a:lnTo>
                <a:lnTo>
                  <a:pt x="83" y="29"/>
                </a:lnTo>
                <a:lnTo>
                  <a:pt x="83" y="33"/>
                </a:lnTo>
                <a:lnTo>
                  <a:pt x="81" y="36"/>
                </a:lnTo>
                <a:lnTo>
                  <a:pt x="81" y="39"/>
                </a:lnTo>
                <a:lnTo>
                  <a:pt x="80" y="41"/>
                </a:lnTo>
                <a:lnTo>
                  <a:pt x="78" y="44"/>
                </a:lnTo>
                <a:lnTo>
                  <a:pt x="76" y="48"/>
                </a:lnTo>
                <a:lnTo>
                  <a:pt x="75" y="51"/>
                </a:lnTo>
                <a:lnTo>
                  <a:pt x="78" y="51"/>
                </a:lnTo>
                <a:lnTo>
                  <a:pt x="80" y="48"/>
                </a:lnTo>
                <a:lnTo>
                  <a:pt x="81" y="44"/>
                </a:lnTo>
                <a:lnTo>
                  <a:pt x="83" y="41"/>
                </a:lnTo>
                <a:lnTo>
                  <a:pt x="85" y="39"/>
                </a:lnTo>
                <a:lnTo>
                  <a:pt x="85" y="36"/>
                </a:lnTo>
                <a:lnTo>
                  <a:pt x="86" y="33"/>
                </a:lnTo>
                <a:lnTo>
                  <a:pt x="86" y="29"/>
                </a:lnTo>
                <a:lnTo>
                  <a:pt x="86" y="24"/>
                </a:lnTo>
                <a:close/>
                <a:moveTo>
                  <a:pt x="10" y="0"/>
                </a:moveTo>
                <a:lnTo>
                  <a:pt x="7" y="1"/>
                </a:lnTo>
                <a:lnTo>
                  <a:pt x="5" y="4"/>
                </a:lnTo>
                <a:lnTo>
                  <a:pt x="3" y="8"/>
                </a:lnTo>
                <a:lnTo>
                  <a:pt x="3" y="11"/>
                </a:lnTo>
                <a:lnTo>
                  <a:pt x="2" y="14"/>
                </a:lnTo>
                <a:lnTo>
                  <a:pt x="2" y="18"/>
                </a:lnTo>
                <a:lnTo>
                  <a:pt x="0" y="21"/>
                </a:lnTo>
                <a:lnTo>
                  <a:pt x="0" y="24"/>
                </a:lnTo>
                <a:lnTo>
                  <a:pt x="0" y="29"/>
                </a:lnTo>
                <a:lnTo>
                  <a:pt x="2" y="33"/>
                </a:lnTo>
                <a:lnTo>
                  <a:pt x="2" y="36"/>
                </a:lnTo>
                <a:lnTo>
                  <a:pt x="2" y="39"/>
                </a:lnTo>
                <a:lnTo>
                  <a:pt x="3" y="41"/>
                </a:lnTo>
                <a:lnTo>
                  <a:pt x="5" y="44"/>
                </a:lnTo>
                <a:lnTo>
                  <a:pt x="7" y="48"/>
                </a:lnTo>
                <a:lnTo>
                  <a:pt x="8" y="51"/>
                </a:lnTo>
                <a:lnTo>
                  <a:pt x="13" y="51"/>
                </a:lnTo>
                <a:lnTo>
                  <a:pt x="10" y="48"/>
                </a:lnTo>
                <a:lnTo>
                  <a:pt x="8" y="44"/>
                </a:lnTo>
                <a:lnTo>
                  <a:pt x="7" y="41"/>
                </a:lnTo>
                <a:lnTo>
                  <a:pt x="7" y="39"/>
                </a:lnTo>
                <a:lnTo>
                  <a:pt x="5" y="36"/>
                </a:lnTo>
                <a:lnTo>
                  <a:pt x="5" y="33"/>
                </a:lnTo>
                <a:lnTo>
                  <a:pt x="3" y="29"/>
                </a:lnTo>
                <a:lnTo>
                  <a:pt x="3" y="24"/>
                </a:lnTo>
                <a:lnTo>
                  <a:pt x="3" y="21"/>
                </a:lnTo>
                <a:lnTo>
                  <a:pt x="5" y="18"/>
                </a:lnTo>
                <a:lnTo>
                  <a:pt x="5" y="14"/>
                </a:lnTo>
                <a:lnTo>
                  <a:pt x="7" y="11"/>
                </a:lnTo>
                <a:lnTo>
                  <a:pt x="8" y="8"/>
                </a:lnTo>
                <a:lnTo>
                  <a:pt x="10" y="4"/>
                </a:lnTo>
                <a:lnTo>
                  <a:pt x="12" y="1"/>
                </a:lnTo>
                <a:lnTo>
                  <a:pt x="13" y="0"/>
                </a:lnTo>
                <a:lnTo>
                  <a:pt x="10"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27" name="Freeform 2032">
            <a:extLst>
              <a:ext uri="{FF2B5EF4-FFF2-40B4-BE49-F238E27FC236}">
                <a16:creationId xmlns:a16="http://schemas.microsoft.com/office/drawing/2014/main" id="{55134B5E-33C2-26C0-AC96-E0BA2D401D4C}"/>
              </a:ext>
            </a:extLst>
          </p:cNvPr>
          <p:cNvSpPr>
            <a:spLocks noEditPoints="1"/>
          </p:cNvSpPr>
          <p:nvPr/>
        </p:nvSpPr>
        <p:spPr bwMode="auto">
          <a:xfrm>
            <a:off x="2492375" y="2719388"/>
            <a:ext cx="131763" cy="80963"/>
          </a:xfrm>
          <a:custGeom>
            <a:avLst/>
            <a:gdLst>
              <a:gd name="T0" fmla="*/ 83 w 83"/>
              <a:gd name="T1" fmla="*/ 21 h 51"/>
              <a:gd name="T2" fmla="*/ 81 w 83"/>
              <a:gd name="T3" fmla="*/ 14 h 51"/>
              <a:gd name="T4" fmla="*/ 79 w 83"/>
              <a:gd name="T5" fmla="*/ 8 h 51"/>
              <a:gd name="T6" fmla="*/ 76 w 83"/>
              <a:gd name="T7" fmla="*/ 1 h 51"/>
              <a:gd name="T8" fmla="*/ 69 w 83"/>
              <a:gd name="T9" fmla="*/ 0 h 51"/>
              <a:gd name="T10" fmla="*/ 73 w 83"/>
              <a:gd name="T11" fmla="*/ 4 h 51"/>
              <a:gd name="T12" fmla="*/ 76 w 83"/>
              <a:gd name="T13" fmla="*/ 11 h 51"/>
              <a:gd name="T14" fmla="*/ 79 w 83"/>
              <a:gd name="T15" fmla="*/ 18 h 51"/>
              <a:gd name="T16" fmla="*/ 79 w 83"/>
              <a:gd name="T17" fmla="*/ 24 h 51"/>
              <a:gd name="T18" fmla="*/ 79 w 83"/>
              <a:gd name="T19" fmla="*/ 33 h 51"/>
              <a:gd name="T20" fmla="*/ 76 w 83"/>
              <a:gd name="T21" fmla="*/ 39 h 51"/>
              <a:gd name="T22" fmla="*/ 74 w 83"/>
              <a:gd name="T23" fmla="*/ 44 h 51"/>
              <a:gd name="T24" fmla="*/ 69 w 83"/>
              <a:gd name="T25" fmla="*/ 51 h 51"/>
              <a:gd name="T26" fmla="*/ 76 w 83"/>
              <a:gd name="T27" fmla="*/ 48 h 51"/>
              <a:gd name="T28" fmla="*/ 79 w 83"/>
              <a:gd name="T29" fmla="*/ 41 h 51"/>
              <a:gd name="T30" fmla="*/ 81 w 83"/>
              <a:gd name="T31" fmla="*/ 36 h 51"/>
              <a:gd name="T32" fmla="*/ 83 w 83"/>
              <a:gd name="T33" fmla="*/ 29 h 51"/>
              <a:gd name="T34" fmla="*/ 10 w 83"/>
              <a:gd name="T35" fmla="*/ 0 h 51"/>
              <a:gd name="T36" fmla="*/ 5 w 83"/>
              <a:gd name="T37" fmla="*/ 4 h 51"/>
              <a:gd name="T38" fmla="*/ 3 w 83"/>
              <a:gd name="T39" fmla="*/ 11 h 51"/>
              <a:gd name="T40" fmla="*/ 1 w 83"/>
              <a:gd name="T41" fmla="*/ 18 h 51"/>
              <a:gd name="T42" fmla="*/ 0 w 83"/>
              <a:gd name="T43" fmla="*/ 24 h 51"/>
              <a:gd name="T44" fmla="*/ 1 w 83"/>
              <a:gd name="T45" fmla="*/ 33 h 51"/>
              <a:gd name="T46" fmla="*/ 3 w 83"/>
              <a:gd name="T47" fmla="*/ 39 h 51"/>
              <a:gd name="T48" fmla="*/ 5 w 83"/>
              <a:gd name="T49" fmla="*/ 44 h 51"/>
              <a:gd name="T50" fmla="*/ 8 w 83"/>
              <a:gd name="T51" fmla="*/ 51 h 51"/>
              <a:gd name="T52" fmla="*/ 11 w 83"/>
              <a:gd name="T53" fmla="*/ 48 h 51"/>
              <a:gd name="T54" fmla="*/ 8 w 83"/>
              <a:gd name="T55" fmla="*/ 43 h 51"/>
              <a:gd name="T56" fmla="*/ 5 w 83"/>
              <a:gd name="T57" fmla="*/ 36 h 51"/>
              <a:gd name="T58" fmla="*/ 3 w 83"/>
              <a:gd name="T59" fmla="*/ 29 h 51"/>
              <a:gd name="T60" fmla="*/ 3 w 83"/>
              <a:gd name="T61" fmla="*/ 21 h 51"/>
              <a:gd name="T62" fmla="*/ 5 w 83"/>
              <a:gd name="T63" fmla="*/ 14 h 51"/>
              <a:gd name="T64" fmla="*/ 8 w 83"/>
              <a:gd name="T65" fmla="*/ 8 h 51"/>
              <a:gd name="T66" fmla="*/ 11 w 83"/>
              <a:gd name="T67" fmla="*/ 1 h 51"/>
              <a:gd name="T68" fmla="*/ 10 w 8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83" h="51">
                <a:moveTo>
                  <a:pt x="83" y="24"/>
                </a:moveTo>
                <a:lnTo>
                  <a:pt x="83" y="21"/>
                </a:lnTo>
                <a:lnTo>
                  <a:pt x="83" y="18"/>
                </a:lnTo>
                <a:lnTo>
                  <a:pt x="81" y="14"/>
                </a:lnTo>
                <a:lnTo>
                  <a:pt x="79" y="11"/>
                </a:lnTo>
                <a:lnTo>
                  <a:pt x="79" y="8"/>
                </a:lnTo>
                <a:lnTo>
                  <a:pt x="78" y="4"/>
                </a:lnTo>
                <a:lnTo>
                  <a:pt x="76" y="1"/>
                </a:lnTo>
                <a:lnTo>
                  <a:pt x="73" y="0"/>
                </a:lnTo>
                <a:lnTo>
                  <a:pt x="69" y="0"/>
                </a:lnTo>
                <a:lnTo>
                  <a:pt x="71" y="1"/>
                </a:lnTo>
                <a:lnTo>
                  <a:pt x="73" y="4"/>
                </a:lnTo>
                <a:lnTo>
                  <a:pt x="74" y="8"/>
                </a:lnTo>
                <a:lnTo>
                  <a:pt x="76" y="11"/>
                </a:lnTo>
                <a:lnTo>
                  <a:pt x="78" y="14"/>
                </a:lnTo>
                <a:lnTo>
                  <a:pt x="79" y="18"/>
                </a:lnTo>
                <a:lnTo>
                  <a:pt x="79" y="21"/>
                </a:lnTo>
                <a:lnTo>
                  <a:pt x="79" y="24"/>
                </a:lnTo>
                <a:lnTo>
                  <a:pt x="79" y="29"/>
                </a:lnTo>
                <a:lnTo>
                  <a:pt x="79" y="33"/>
                </a:lnTo>
                <a:lnTo>
                  <a:pt x="78" y="36"/>
                </a:lnTo>
                <a:lnTo>
                  <a:pt x="76" y="39"/>
                </a:lnTo>
                <a:lnTo>
                  <a:pt x="76" y="43"/>
                </a:lnTo>
                <a:lnTo>
                  <a:pt x="74" y="44"/>
                </a:lnTo>
                <a:lnTo>
                  <a:pt x="73" y="48"/>
                </a:lnTo>
                <a:lnTo>
                  <a:pt x="69" y="51"/>
                </a:lnTo>
                <a:lnTo>
                  <a:pt x="74" y="51"/>
                </a:lnTo>
                <a:lnTo>
                  <a:pt x="76" y="48"/>
                </a:lnTo>
                <a:lnTo>
                  <a:pt x="78" y="44"/>
                </a:lnTo>
                <a:lnTo>
                  <a:pt x="79" y="41"/>
                </a:lnTo>
                <a:lnTo>
                  <a:pt x="81" y="39"/>
                </a:lnTo>
                <a:lnTo>
                  <a:pt x="81" y="36"/>
                </a:lnTo>
                <a:lnTo>
                  <a:pt x="83" y="33"/>
                </a:lnTo>
                <a:lnTo>
                  <a:pt x="83" y="29"/>
                </a:lnTo>
                <a:lnTo>
                  <a:pt x="83" y="24"/>
                </a:lnTo>
                <a:close/>
                <a:moveTo>
                  <a:pt x="10" y="0"/>
                </a:moveTo>
                <a:lnTo>
                  <a:pt x="8" y="1"/>
                </a:lnTo>
                <a:lnTo>
                  <a:pt x="5" y="4"/>
                </a:lnTo>
                <a:lnTo>
                  <a:pt x="3" y="8"/>
                </a:lnTo>
                <a:lnTo>
                  <a:pt x="3" y="11"/>
                </a:lnTo>
                <a:lnTo>
                  <a:pt x="1" y="14"/>
                </a:lnTo>
                <a:lnTo>
                  <a:pt x="1" y="18"/>
                </a:lnTo>
                <a:lnTo>
                  <a:pt x="0" y="21"/>
                </a:lnTo>
                <a:lnTo>
                  <a:pt x="0" y="24"/>
                </a:lnTo>
                <a:lnTo>
                  <a:pt x="0" y="29"/>
                </a:lnTo>
                <a:lnTo>
                  <a:pt x="1" y="33"/>
                </a:lnTo>
                <a:lnTo>
                  <a:pt x="1" y="36"/>
                </a:lnTo>
                <a:lnTo>
                  <a:pt x="3" y="39"/>
                </a:lnTo>
                <a:lnTo>
                  <a:pt x="3" y="41"/>
                </a:lnTo>
                <a:lnTo>
                  <a:pt x="5" y="44"/>
                </a:lnTo>
                <a:lnTo>
                  <a:pt x="6" y="48"/>
                </a:lnTo>
                <a:lnTo>
                  <a:pt x="8" y="51"/>
                </a:lnTo>
                <a:lnTo>
                  <a:pt x="13" y="51"/>
                </a:lnTo>
                <a:lnTo>
                  <a:pt x="11" y="48"/>
                </a:lnTo>
                <a:lnTo>
                  <a:pt x="10" y="44"/>
                </a:lnTo>
                <a:lnTo>
                  <a:pt x="8" y="43"/>
                </a:lnTo>
                <a:lnTo>
                  <a:pt x="6" y="39"/>
                </a:lnTo>
                <a:lnTo>
                  <a:pt x="5" y="36"/>
                </a:lnTo>
                <a:lnTo>
                  <a:pt x="5" y="33"/>
                </a:lnTo>
                <a:lnTo>
                  <a:pt x="3" y="29"/>
                </a:lnTo>
                <a:lnTo>
                  <a:pt x="3" y="24"/>
                </a:lnTo>
                <a:lnTo>
                  <a:pt x="3" y="21"/>
                </a:lnTo>
                <a:lnTo>
                  <a:pt x="5" y="18"/>
                </a:lnTo>
                <a:lnTo>
                  <a:pt x="5" y="14"/>
                </a:lnTo>
                <a:lnTo>
                  <a:pt x="6" y="11"/>
                </a:lnTo>
                <a:lnTo>
                  <a:pt x="8" y="8"/>
                </a:lnTo>
                <a:lnTo>
                  <a:pt x="10" y="4"/>
                </a:lnTo>
                <a:lnTo>
                  <a:pt x="11" y="1"/>
                </a:lnTo>
                <a:lnTo>
                  <a:pt x="13" y="0"/>
                </a:lnTo>
                <a:lnTo>
                  <a:pt x="10" y="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28" name="Freeform 2033">
            <a:extLst>
              <a:ext uri="{FF2B5EF4-FFF2-40B4-BE49-F238E27FC236}">
                <a16:creationId xmlns:a16="http://schemas.microsoft.com/office/drawing/2014/main" id="{8178729E-D18D-0663-F013-D8F420725569}"/>
              </a:ext>
            </a:extLst>
          </p:cNvPr>
          <p:cNvSpPr>
            <a:spLocks noEditPoints="1"/>
          </p:cNvSpPr>
          <p:nvPr/>
        </p:nvSpPr>
        <p:spPr bwMode="auto">
          <a:xfrm>
            <a:off x="2493963" y="2719388"/>
            <a:ext cx="127000" cy="80963"/>
          </a:xfrm>
          <a:custGeom>
            <a:avLst/>
            <a:gdLst>
              <a:gd name="T0" fmla="*/ 80 w 80"/>
              <a:gd name="T1" fmla="*/ 21 h 51"/>
              <a:gd name="T2" fmla="*/ 78 w 80"/>
              <a:gd name="T3" fmla="*/ 14 h 51"/>
              <a:gd name="T4" fmla="*/ 77 w 80"/>
              <a:gd name="T5" fmla="*/ 8 h 51"/>
              <a:gd name="T6" fmla="*/ 72 w 80"/>
              <a:gd name="T7" fmla="*/ 1 h 51"/>
              <a:gd name="T8" fmla="*/ 65 w 80"/>
              <a:gd name="T9" fmla="*/ 0 h 51"/>
              <a:gd name="T10" fmla="*/ 70 w 80"/>
              <a:gd name="T11" fmla="*/ 4 h 51"/>
              <a:gd name="T12" fmla="*/ 73 w 80"/>
              <a:gd name="T13" fmla="*/ 11 h 51"/>
              <a:gd name="T14" fmla="*/ 77 w 80"/>
              <a:gd name="T15" fmla="*/ 18 h 51"/>
              <a:gd name="T16" fmla="*/ 77 w 80"/>
              <a:gd name="T17" fmla="*/ 24 h 51"/>
              <a:gd name="T18" fmla="*/ 77 w 80"/>
              <a:gd name="T19" fmla="*/ 33 h 51"/>
              <a:gd name="T20" fmla="*/ 73 w 80"/>
              <a:gd name="T21" fmla="*/ 39 h 51"/>
              <a:gd name="T22" fmla="*/ 70 w 80"/>
              <a:gd name="T23" fmla="*/ 44 h 51"/>
              <a:gd name="T24" fmla="*/ 67 w 80"/>
              <a:gd name="T25" fmla="*/ 51 h 51"/>
              <a:gd name="T26" fmla="*/ 73 w 80"/>
              <a:gd name="T27" fmla="*/ 48 h 51"/>
              <a:gd name="T28" fmla="*/ 77 w 80"/>
              <a:gd name="T29" fmla="*/ 41 h 51"/>
              <a:gd name="T30" fmla="*/ 78 w 80"/>
              <a:gd name="T31" fmla="*/ 36 h 51"/>
              <a:gd name="T32" fmla="*/ 80 w 80"/>
              <a:gd name="T33" fmla="*/ 29 h 51"/>
              <a:gd name="T34" fmla="*/ 10 w 80"/>
              <a:gd name="T35" fmla="*/ 0 h 51"/>
              <a:gd name="T36" fmla="*/ 7 w 80"/>
              <a:gd name="T37" fmla="*/ 4 h 51"/>
              <a:gd name="T38" fmla="*/ 4 w 80"/>
              <a:gd name="T39" fmla="*/ 11 h 51"/>
              <a:gd name="T40" fmla="*/ 2 w 80"/>
              <a:gd name="T41" fmla="*/ 18 h 51"/>
              <a:gd name="T42" fmla="*/ 0 w 80"/>
              <a:gd name="T43" fmla="*/ 24 h 51"/>
              <a:gd name="T44" fmla="*/ 2 w 80"/>
              <a:gd name="T45" fmla="*/ 33 h 51"/>
              <a:gd name="T46" fmla="*/ 4 w 80"/>
              <a:gd name="T47" fmla="*/ 39 h 51"/>
              <a:gd name="T48" fmla="*/ 5 w 80"/>
              <a:gd name="T49" fmla="*/ 44 h 51"/>
              <a:gd name="T50" fmla="*/ 10 w 80"/>
              <a:gd name="T51" fmla="*/ 51 h 51"/>
              <a:gd name="T52" fmla="*/ 12 w 80"/>
              <a:gd name="T53" fmla="*/ 48 h 51"/>
              <a:gd name="T54" fmla="*/ 9 w 80"/>
              <a:gd name="T55" fmla="*/ 43 h 51"/>
              <a:gd name="T56" fmla="*/ 5 w 80"/>
              <a:gd name="T57" fmla="*/ 36 h 51"/>
              <a:gd name="T58" fmla="*/ 4 w 80"/>
              <a:gd name="T59" fmla="*/ 29 h 51"/>
              <a:gd name="T60" fmla="*/ 4 w 80"/>
              <a:gd name="T61" fmla="*/ 21 h 51"/>
              <a:gd name="T62" fmla="*/ 5 w 80"/>
              <a:gd name="T63" fmla="*/ 14 h 51"/>
              <a:gd name="T64" fmla="*/ 9 w 80"/>
              <a:gd name="T65" fmla="*/ 8 h 51"/>
              <a:gd name="T66" fmla="*/ 12 w 80"/>
              <a:gd name="T67" fmla="*/ 1 h 51"/>
              <a:gd name="T68" fmla="*/ 10 w 8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80" h="51">
                <a:moveTo>
                  <a:pt x="80" y="24"/>
                </a:moveTo>
                <a:lnTo>
                  <a:pt x="80" y="21"/>
                </a:lnTo>
                <a:lnTo>
                  <a:pt x="80" y="18"/>
                </a:lnTo>
                <a:lnTo>
                  <a:pt x="78" y="14"/>
                </a:lnTo>
                <a:lnTo>
                  <a:pt x="77" y="11"/>
                </a:lnTo>
                <a:lnTo>
                  <a:pt x="77" y="8"/>
                </a:lnTo>
                <a:lnTo>
                  <a:pt x="75" y="4"/>
                </a:lnTo>
                <a:lnTo>
                  <a:pt x="72" y="1"/>
                </a:lnTo>
                <a:lnTo>
                  <a:pt x="70" y="0"/>
                </a:lnTo>
                <a:lnTo>
                  <a:pt x="65" y="0"/>
                </a:lnTo>
                <a:lnTo>
                  <a:pt x="68" y="1"/>
                </a:lnTo>
                <a:lnTo>
                  <a:pt x="70" y="4"/>
                </a:lnTo>
                <a:lnTo>
                  <a:pt x="72" y="8"/>
                </a:lnTo>
                <a:lnTo>
                  <a:pt x="73" y="11"/>
                </a:lnTo>
                <a:lnTo>
                  <a:pt x="75" y="14"/>
                </a:lnTo>
                <a:lnTo>
                  <a:pt x="77" y="18"/>
                </a:lnTo>
                <a:lnTo>
                  <a:pt x="77" y="21"/>
                </a:lnTo>
                <a:lnTo>
                  <a:pt x="77" y="24"/>
                </a:lnTo>
                <a:lnTo>
                  <a:pt x="77" y="29"/>
                </a:lnTo>
                <a:lnTo>
                  <a:pt x="77" y="33"/>
                </a:lnTo>
                <a:lnTo>
                  <a:pt x="75" y="36"/>
                </a:lnTo>
                <a:lnTo>
                  <a:pt x="73" y="39"/>
                </a:lnTo>
                <a:lnTo>
                  <a:pt x="72" y="43"/>
                </a:lnTo>
                <a:lnTo>
                  <a:pt x="70" y="44"/>
                </a:lnTo>
                <a:lnTo>
                  <a:pt x="68" y="48"/>
                </a:lnTo>
                <a:lnTo>
                  <a:pt x="67" y="51"/>
                </a:lnTo>
                <a:lnTo>
                  <a:pt x="72" y="51"/>
                </a:lnTo>
                <a:lnTo>
                  <a:pt x="73" y="48"/>
                </a:lnTo>
                <a:lnTo>
                  <a:pt x="75" y="44"/>
                </a:lnTo>
                <a:lnTo>
                  <a:pt x="77" y="41"/>
                </a:lnTo>
                <a:lnTo>
                  <a:pt x="78" y="39"/>
                </a:lnTo>
                <a:lnTo>
                  <a:pt x="78" y="36"/>
                </a:lnTo>
                <a:lnTo>
                  <a:pt x="80" y="33"/>
                </a:lnTo>
                <a:lnTo>
                  <a:pt x="80" y="29"/>
                </a:lnTo>
                <a:lnTo>
                  <a:pt x="80" y="24"/>
                </a:lnTo>
                <a:close/>
                <a:moveTo>
                  <a:pt x="10" y="0"/>
                </a:moveTo>
                <a:lnTo>
                  <a:pt x="9" y="1"/>
                </a:lnTo>
                <a:lnTo>
                  <a:pt x="7" y="4"/>
                </a:lnTo>
                <a:lnTo>
                  <a:pt x="5" y="8"/>
                </a:lnTo>
                <a:lnTo>
                  <a:pt x="4" y="11"/>
                </a:lnTo>
                <a:lnTo>
                  <a:pt x="2" y="14"/>
                </a:lnTo>
                <a:lnTo>
                  <a:pt x="2" y="18"/>
                </a:lnTo>
                <a:lnTo>
                  <a:pt x="0" y="21"/>
                </a:lnTo>
                <a:lnTo>
                  <a:pt x="0" y="24"/>
                </a:lnTo>
                <a:lnTo>
                  <a:pt x="0" y="29"/>
                </a:lnTo>
                <a:lnTo>
                  <a:pt x="2" y="33"/>
                </a:lnTo>
                <a:lnTo>
                  <a:pt x="2" y="36"/>
                </a:lnTo>
                <a:lnTo>
                  <a:pt x="4" y="39"/>
                </a:lnTo>
                <a:lnTo>
                  <a:pt x="4" y="41"/>
                </a:lnTo>
                <a:lnTo>
                  <a:pt x="5" y="44"/>
                </a:lnTo>
                <a:lnTo>
                  <a:pt x="7" y="48"/>
                </a:lnTo>
                <a:lnTo>
                  <a:pt x="10" y="51"/>
                </a:lnTo>
                <a:lnTo>
                  <a:pt x="14" y="51"/>
                </a:lnTo>
                <a:lnTo>
                  <a:pt x="12" y="48"/>
                </a:lnTo>
                <a:lnTo>
                  <a:pt x="10" y="44"/>
                </a:lnTo>
                <a:lnTo>
                  <a:pt x="9" y="43"/>
                </a:lnTo>
                <a:lnTo>
                  <a:pt x="7" y="39"/>
                </a:lnTo>
                <a:lnTo>
                  <a:pt x="5" y="36"/>
                </a:lnTo>
                <a:lnTo>
                  <a:pt x="5" y="33"/>
                </a:lnTo>
                <a:lnTo>
                  <a:pt x="4" y="29"/>
                </a:lnTo>
                <a:lnTo>
                  <a:pt x="4" y="24"/>
                </a:lnTo>
                <a:lnTo>
                  <a:pt x="4" y="21"/>
                </a:lnTo>
                <a:lnTo>
                  <a:pt x="5" y="18"/>
                </a:lnTo>
                <a:lnTo>
                  <a:pt x="5" y="14"/>
                </a:lnTo>
                <a:lnTo>
                  <a:pt x="7" y="11"/>
                </a:lnTo>
                <a:lnTo>
                  <a:pt x="9" y="8"/>
                </a:lnTo>
                <a:lnTo>
                  <a:pt x="10" y="4"/>
                </a:lnTo>
                <a:lnTo>
                  <a:pt x="12" y="1"/>
                </a:lnTo>
                <a:lnTo>
                  <a:pt x="15" y="0"/>
                </a:lnTo>
                <a:lnTo>
                  <a:pt x="10"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29" name="Freeform 2034">
            <a:extLst>
              <a:ext uri="{FF2B5EF4-FFF2-40B4-BE49-F238E27FC236}">
                <a16:creationId xmlns:a16="http://schemas.microsoft.com/office/drawing/2014/main" id="{291FB23F-1C98-F0A8-D8A9-855CEDAD63C5}"/>
              </a:ext>
            </a:extLst>
          </p:cNvPr>
          <p:cNvSpPr>
            <a:spLocks noEditPoints="1"/>
          </p:cNvSpPr>
          <p:nvPr/>
        </p:nvSpPr>
        <p:spPr bwMode="auto">
          <a:xfrm>
            <a:off x="2497138" y="2719388"/>
            <a:ext cx="120650" cy="80963"/>
          </a:xfrm>
          <a:custGeom>
            <a:avLst/>
            <a:gdLst>
              <a:gd name="T0" fmla="*/ 76 w 76"/>
              <a:gd name="T1" fmla="*/ 21 h 51"/>
              <a:gd name="T2" fmla="*/ 75 w 76"/>
              <a:gd name="T3" fmla="*/ 14 h 51"/>
              <a:gd name="T4" fmla="*/ 71 w 76"/>
              <a:gd name="T5" fmla="*/ 8 h 51"/>
              <a:gd name="T6" fmla="*/ 68 w 76"/>
              <a:gd name="T7" fmla="*/ 1 h 51"/>
              <a:gd name="T8" fmla="*/ 61 w 76"/>
              <a:gd name="T9" fmla="*/ 0 h 51"/>
              <a:gd name="T10" fmla="*/ 66 w 76"/>
              <a:gd name="T11" fmla="*/ 4 h 51"/>
              <a:gd name="T12" fmla="*/ 70 w 76"/>
              <a:gd name="T13" fmla="*/ 11 h 51"/>
              <a:gd name="T14" fmla="*/ 71 w 76"/>
              <a:gd name="T15" fmla="*/ 18 h 51"/>
              <a:gd name="T16" fmla="*/ 73 w 76"/>
              <a:gd name="T17" fmla="*/ 24 h 51"/>
              <a:gd name="T18" fmla="*/ 73 w 76"/>
              <a:gd name="T19" fmla="*/ 33 h 51"/>
              <a:gd name="T20" fmla="*/ 70 w 76"/>
              <a:gd name="T21" fmla="*/ 39 h 51"/>
              <a:gd name="T22" fmla="*/ 66 w 76"/>
              <a:gd name="T23" fmla="*/ 44 h 51"/>
              <a:gd name="T24" fmla="*/ 61 w 76"/>
              <a:gd name="T25" fmla="*/ 51 h 51"/>
              <a:gd name="T26" fmla="*/ 70 w 76"/>
              <a:gd name="T27" fmla="*/ 48 h 51"/>
              <a:gd name="T28" fmla="*/ 73 w 76"/>
              <a:gd name="T29" fmla="*/ 43 h 51"/>
              <a:gd name="T30" fmla="*/ 75 w 76"/>
              <a:gd name="T31" fmla="*/ 36 h 51"/>
              <a:gd name="T32" fmla="*/ 76 w 76"/>
              <a:gd name="T33" fmla="*/ 29 h 51"/>
              <a:gd name="T34" fmla="*/ 10 w 76"/>
              <a:gd name="T35" fmla="*/ 0 h 51"/>
              <a:gd name="T36" fmla="*/ 7 w 76"/>
              <a:gd name="T37" fmla="*/ 4 h 51"/>
              <a:gd name="T38" fmla="*/ 3 w 76"/>
              <a:gd name="T39" fmla="*/ 11 h 51"/>
              <a:gd name="T40" fmla="*/ 2 w 76"/>
              <a:gd name="T41" fmla="*/ 18 h 51"/>
              <a:gd name="T42" fmla="*/ 0 w 76"/>
              <a:gd name="T43" fmla="*/ 24 h 51"/>
              <a:gd name="T44" fmla="*/ 2 w 76"/>
              <a:gd name="T45" fmla="*/ 33 h 51"/>
              <a:gd name="T46" fmla="*/ 3 w 76"/>
              <a:gd name="T47" fmla="*/ 39 h 51"/>
              <a:gd name="T48" fmla="*/ 7 w 76"/>
              <a:gd name="T49" fmla="*/ 44 h 51"/>
              <a:gd name="T50" fmla="*/ 10 w 76"/>
              <a:gd name="T51" fmla="*/ 51 h 51"/>
              <a:gd name="T52" fmla="*/ 12 w 76"/>
              <a:gd name="T53" fmla="*/ 48 h 51"/>
              <a:gd name="T54" fmla="*/ 8 w 76"/>
              <a:gd name="T55" fmla="*/ 43 h 51"/>
              <a:gd name="T56" fmla="*/ 5 w 76"/>
              <a:gd name="T57" fmla="*/ 36 h 51"/>
              <a:gd name="T58" fmla="*/ 3 w 76"/>
              <a:gd name="T59" fmla="*/ 29 h 51"/>
              <a:gd name="T60" fmla="*/ 3 w 76"/>
              <a:gd name="T61" fmla="*/ 21 h 51"/>
              <a:gd name="T62" fmla="*/ 5 w 76"/>
              <a:gd name="T63" fmla="*/ 14 h 51"/>
              <a:gd name="T64" fmla="*/ 8 w 76"/>
              <a:gd name="T65" fmla="*/ 8 h 51"/>
              <a:gd name="T66" fmla="*/ 13 w 76"/>
              <a:gd name="T67" fmla="*/ 1 h 51"/>
              <a:gd name="T68" fmla="*/ 10 w 7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6" h="51">
                <a:moveTo>
                  <a:pt x="76" y="24"/>
                </a:moveTo>
                <a:lnTo>
                  <a:pt x="76" y="21"/>
                </a:lnTo>
                <a:lnTo>
                  <a:pt x="76" y="18"/>
                </a:lnTo>
                <a:lnTo>
                  <a:pt x="75" y="14"/>
                </a:lnTo>
                <a:lnTo>
                  <a:pt x="73" y="11"/>
                </a:lnTo>
                <a:lnTo>
                  <a:pt x="71" y="8"/>
                </a:lnTo>
                <a:lnTo>
                  <a:pt x="70" y="4"/>
                </a:lnTo>
                <a:lnTo>
                  <a:pt x="68" y="1"/>
                </a:lnTo>
                <a:lnTo>
                  <a:pt x="66" y="0"/>
                </a:lnTo>
                <a:lnTo>
                  <a:pt x="61" y="0"/>
                </a:lnTo>
                <a:lnTo>
                  <a:pt x="63" y="1"/>
                </a:lnTo>
                <a:lnTo>
                  <a:pt x="66" y="4"/>
                </a:lnTo>
                <a:lnTo>
                  <a:pt x="68" y="8"/>
                </a:lnTo>
                <a:lnTo>
                  <a:pt x="70" y="11"/>
                </a:lnTo>
                <a:lnTo>
                  <a:pt x="71" y="14"/>
                </a:lnTo>
                <a:lnTo>
                  <a:pt x="71" y="18"/>
                </a:lnTo>
                <a:lnTo>
                  <a:pt x="73" y="21"/>
                </a:lnTo>
                <a:lnTo>
                  <a:pt x="73" y="24"/>
                </a:lnTo>
                <a:lnTo>
                  <a:pt x="73" y="29"/>
                </a:lnTo>
                <a:lnTo>
                  <a:pt x="73" y="33"/>
                </a:lnTo>
                <a:lnTo>
                  <a:pt x="71" y="36"/>
                </a:lnTo>
                <a:lnTo>
                  <a:pt x="70" y="39"/>
                </a:lnTo>
                <a:lnTo>
                  <a:pt x="68" y="43"/>
                </a:lnTo>
                <a:lnTo>
                  <a:pt x="66" y="44"/>
                </a:lnTo>
                <a:lnTo>
                  <a:pt x="65" y="48"/>
                </a:lnTo>
                <a:lnTo>
                  <a:pt x="61" y="51"/>
                </a:lnTo>
                <a:lnTo>
                  <a:pt x="66" y="51"/>
                </a:lnTo>
                <a:lnTo>
                  <a:pt x="70" y="48"/>
                </a:lnTo>
                <a:lnTo>
                  <a:pt x="71" y="44"/>
                </a:lnTo>
                <a:lnTo>
                  <a:pt x="73" y="43"/>
                </a:lnTo>
                <a:lnTo>
                  <a:pt x="73" y="39"/>
                </a:lnTo>
                <a:lnTo>
                  <a:pt x="75" y="36"/>
                </a:lnTo>
                <a:lnTo>
                  <a:pt x="76" y="33"/>
                </a:lnTo>
                <a:lnTo>
                  <a:pt x="76" y="29"/>
                </a:lnTo>
                <a:lnTo>
                  <a:pt x="76" y="24"/>
                </a:lnTo>
                <a:close/>
                <a:moveTo>
                  <a:pt x="10" y="0"/>
                </a:moveTo>
                <a:lnTo>
                  <a:pt x="8" y="1"/>
                </a:lnTo>
                <a:lnTo>
                  <a:pt x="7" y="4"/>
                </a:lnTo>
                <a:lnTo>
                  <a:pt x="5" y="8"/>
                </a:lnTo>
                <a:lnTo>
                  <a:pt x="3" y="11"/>
                </a:lnTo>
                <a:lnTo>
                  <a:pt x="2" y="14"/>
                </a:lnTo>
                <a:lnTo>
                  <a:pt x="2" y="18"/>
                </a:lnTo>
                <a:lnTo>
                  <a:pt x="0" y="21"/>
                </a:lnTo>
                <a:lnTo>
                  <a:pt x="0" y="24"/>
                </a:lnTo>
                <a:lnTo>
                  <a:pt x="0" y="29"/>
                </a:lnTo>
                <a:lnTo>
                  <a:pt x="2" y="33"/>
                </a:lnTo>
                <a:lnTo>
                  <a:pt x="2" y="36"/>
                </a:lnTo>
                <a:lnTo>
                  <a:pt x="3" y="39"/>
                </a:lnTo>
                <a:lnTo>
                  <a:pt x="5" y="43"/>
                </a:lnTo>
                <a:lnTo>
                  <a:pt x="7" y="44"/>
                </a:lnTo>
                <a:lnTo>
                  <a:pt x="8" y="48"/>
                </a:lnTo>
                <a:lnTo>
                  <a:pt x="10" y="51"/>
                </a:lnTo>
                <a:lnTo>
                  <a:pt x="15" y="51"/>
                </a:lnTo>
                <a:lnTo>
                  <a:pt x="12" y="48"/>
                </a:lnTo>
                <a:lnTo>
                  <a:pt x="10" y="44"/>
                </a:lnTo>
                <a:lnTo>
                  <a:pt x="8" y="43"/>
                </a:lnTo>
                <a:lnTo>
                  <a:pt x="7" y="39"/>
                </a:lnTo>
                <a:lnTo>
                  <a:pt x="5" y="36"/>
                </a:lnTo>
                <a:lnTo>
                  <a:pt x="5" y="33"/>
                </a:lnTo>
                <a:lnTo>
                  <a:pt x="3" y="29"/>
                </a:lnTo>
                <a:lnTo>
                  <a:pt x="3" y="24"/>
                </a:lnTo>
                <a:lnTo>
                  <a:pt x="3" y="21"/>
                </a:lnTo>
                <a:lnTo>
                  <a:pt x="5" y="18"/>
                </a:lnTo>
                <a:lnTo>
                  <a:pt x="5" y="14"/>
                </a:lnTo>
                <a:lnTo>
                  <a:pt x="7" y="11"/>
                </a:lnTo>
                <a:lnTo>
                  <a:pt x="8" y="8"/>
                </a:lnTo>
                <a:lnTo>
                  <a:pt x="10" y="4"/>
                </a:lnTo>
                <a:lnTo>
                  <a:pt x="13" y="1"/>
                </a:lnTo>
                <a:lnTo>
                  <a:pt x="15" y="0"/>
                </a:lnTo>
                <a:lnTo>
                  <a:pt x="10"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30" name="Freeform 2035">
            <a:extLst>
              <a:ext uri="{FF2B5EF4-FFF2-40B4-BE49-F238E27FC236}">
                <a16:creationId xmlns:a16="http://schemas.microsoft.com/office/drawing/2014/main" id="{0DE6CAC2-F600-0F24-8086-8C49F3972952}"/>
              </a:ext>
            </a:extLst>
          </p:cNvPr>
          <p:cNvSpPr>
            <a:spLocks noEditPoints="1"/>
          </p:cNvSpPr>
          <p:nvPr/>
        </p:nvSpPr>
        <p:spPr bwMode="auto">
          <a:xfrm>
            <a:off x="2500313" y="2719388"/>
            <a:ext cx="115888" cy="80963"/>
          </a:xfrm>
          <a:custGeom>
            <a:avLst/>
            <a:gdLst>
              <a:gd name="T0" fmla="*/ 73 w 73"/>
              <a:gd name="T1" fmla="*/ 21 h 51"/>
              <a:gd name="T2" fmla="*/ 71 w 73"/>
              <a:gd name="T3" fmla="*/ 14 h 51"/>
              <a:gd name="T4" fmla="*/ 68 w 73"/>
              <a:gd name="T5" fmla="*/ 8 h 51"/>
              <a:gd name="T6" fmla="*/ 64 w 73"/>
              <a:gd name="T7" fmla="*/ 1 h 51"/>
              <a:gd name="T8" fmla="*/ 56 w 73"/>
              <a:gd name="T9" fmla="*/ 0 h 51"/>
              <a:gd name="T10" fmla="*/ 61 w 73"/>
              <a:gd name="T11" fmla="*/ 4 h 51"/>
              <a:gd name="T12" fmla="*/ 66 w 73"/>
              <a:gd name="T13" fmla="*/ 9 h 51"/>
              <a:gd name="T14" fmla="*/ 68 w 73"/>
              <a:gd name="T15" fmla="*/ 18 h 51"/>
              <a:gd name="T16" fmla="*/ 69 w 73"/>
              <a:gd name="T17" fmla="*/ 24 h 51"/>
              <a:gd name="T18" fmla="*/ 69 w 73"/>
              <a:gd name="T19" fmla="*/ 33 h 51"/>
              <a:gd name="T20" fmla="*/ 66 w 73"/>
              <a:gd name="T21" fmla="*/ 39 h 51"/>
              <a:gd name="T22" fmla="*/ 63 w 73"/>
              <a:gd name="T23" fmla="*/ 46 h 51"/>
              <a:gd name="T24" fmla="*/ 58 w 73"/>
              <a:gd name="T25" fmla="*/ 51 h 51"/>
              <a:gd name="T26" fmla="*/ 64 w 73"/>
              <a:gd name="T27" fmla="*/ 48 h 51"/>
              <a:gd name="T28" fmla="*/ 68 w 73"/>
              <a:gd name="T29" fmla="*/ 43 h 51"/>
              <a:gd name="T30" fmla="*/ 71 w 73"/>
              <a:gd name="T31" fmla="*/ 36 h 51"/>
              <a:gd name="T32" fmla="*/ 73 w 73"/>
              <a:gd name="T33" fmla="*/ 29 h 51"/>
              <a:gd name="T34" fmla="*/ 11 w 73"/>
              <a:gd name="T35" fmla="*/ 0 h 51"/>
              <a:gd name="T36" fmla="*/ 6 w 73"/>
              <a:gd name="T37" fmla="*/ 4 h 51"/>
              <a:gd name="T38" fmla="*/ 3 w 73"/>
              <a:gd name="T39" fmla="*/ 11 h 51"/>
              <a:gd name="T40" fmla="*/ 1 w 73"/>
              <a:gd name="T41" fmla="*/ 18 h 51"/>
              <a:gd name="T42" fmla="*/ 0 w 73"/>
              <a:gd name="T43" fmla="*/ 24 h 51"/>
              <a:gd name="T44" fmla="*/ 1 w 73"/>
              <a:gd name="T45" fmla="*/ 33 h 51"/>
              <a:gd name="T46" fmla="*/ 3 w 73"/>
              <a:gd name="T47" fmla="*/ 39 h 51"/>
              <a:gd name="T48" fmla="*/ 6 w 73"/>
              <a:gd name="T49" fmla="*/ 44 h 51"/>
              <a:gd name="T50" fmla="*/ 10 w 73"/>
              <a:gd name="T51" fmla="*/ 51 h 51"/>
              <a:gd name="T52" fmla="*/ 13 w 73"/>
              <a:gd name="T53" fmla="*/ 48 h 51"/>
              <a:gd name="T54" fmla="*/ 8 w 73"/>
              <a:gd name="T55" fmla="*/ 43 h 51"/>
              <a:gd name="T56" fmla="*/ 5 w 73"/>
              <a:gd name="T57" fmla="*/ 36 h 51"/>
              <a:gd name="T58" fmla="*/ 3 w 73"/>
              <a:gd name="T59" fmla="*/ 29 h 51"/>
              <a:gd name="T60" fmla="*/ 3 w 73"/>
              <a:gd name="T61" fmla="*/ 21 h 51"/>
              <a:gd name="T62" fmla="*/ 5 w 73"/>
              <a:gd name="T63" fmla="*/ 14 h 51"/>
              <a:gd name="T64" fmla="*/ 8 w 73"/>
              <a:gd name="T65" fmla="*/ 8 h 51"/>
              <a:gd name="T66" fmla="*/ 13 w 73"/>
              <a:gd name="T67" fmla="*/ 1 h 51"/>
              <a:gd name="T68" fmla="*/ 11 w 7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3" h="51">
                <a:moveTo>
                  <a:pt x="73" y="24"/>
                </a:moveTo>
                <a:lnTo>
                  <a:pt x="73" y="21"/>
                </a:lnTo>
                <a:lnTo>
                  <a:pt x="73" y="18"/>
                </a:lnTo>
                <a:lnTo>
                  <a:pt x="71" y="14"/>
                </a:lnTo>
                <a:lnTo>
                  <a:pt x="69" y="11"/>
                </a:lnTo>
                <a:lnTo>
                  <a:pt x="68" y="8"/>
                </a:lnTo>
                <a:lnTo>
                  <a:pt x="66" y="4"/>
                </a:lnTo>
                <a:lnTo>
                  <a:pt x="64" y="1"/>
                </a:lnTo>
                <a:lnTo>
                  <a:pt x="61" y="0"/>
                </a:lnTo>
                <a:lnTo>
                  <a:pt x="56" y="0"/>
                </a:lnTo>
                <a:lnTo>
                  <a:pt x="59" y="1"/>
                </a:lnTo>
                <a:lnTo>
                  <a:pt x="61" y="4"/>
                </a:lnTo>
                <a:lnTo>
                  <a:pt x="64" y="8"/>
                </a:lnTo>
                <a:lnTo>
                  <a:pt x="66" y="9"/>
                </a:lnTo>
                <a:lnTo>
                  <a:pt x="68" y="14"/>
                </a:lnTo>
                <a:lnTo>
                  <a:pt x="68" y="18"/>
                </a:lnTo>
                <a:lnTo>
                  <a:pt x="69" y="21"/>
                </a:lnTo>
                <a:lnTo>
                  <a:pt x="69" y="24"/>
                </a:lnTo>
                <a:lnTo>
                  <a:pt x="69" y="29"/>
                </a:lnTo>
                <a:lnTo>
                  <a:pt x="69" y="33"/>
                </a:lnTo>
                <a:lnTo>
                  <a:pt x="68" y="36"/>
                </a:lnTo>
                <a:lnTo>
                  <a:pt x="66" y="39"/>
                </a:lnTo>
                <a:lnTo>
                  <a:pt x="64" y="43"/>
                </a:lnTo>
                <a:lnTo>
                  <a:pt x="63" y="46"/>
                </a:lnTo>
                <a:lnTo>
                  <a:pt x="61" y="48"/>
                </a:lnTo>
                <a:lnTo>
                  <a:pt x="58" y="51"/>
                </a:lnTo>
                <a:lnTo>
                  <a:pt x="63" y="51"/>
                </a:lnTo>
                <a:lnTo>
                  <a:pt x="64" y="48"/>
                </a:lnTo>
                <a:lnTo>
                  <a:pt x="66" y="44"/>
                </a:lnTo>
                <a:lnTo>
                  <a:pt x="68" y="43"/>
                </a:lnTo>
                <a:lnTo>
                  <a:pt x="69" y="39"/>
                </a:lnTo>
                <a:lnTo>
                  <a:pt x="71" y="36"/>
                </a:lnTo>
                <a:lnTo>
                  <a:pt x="73" y="33"/>
                </a:lnTo>
                <a:lnTo>
                  <a:pt x="73" y="29"/>
                </a:lnTo>
                <a:lnTo>
                  <a:pt x="73" y="24"/>
                </a:lnTo>
                <a:close/>
                <a:moveTo>
                  <a:pt x="11" y="0"/>
                </a:moveTo>
                <a:lnTo>
                  <a:pt x="8" y="1"/>
                </a:lnTo>
                <a:lnTo>
                  <a:pt x="6" y="4"/>
                </a:lnTo>
                <a:lnTo>
                  <a:pt x="5" y="8"/>
                </a:lnTo>
                <a:lnTo>
                  <a:pt x="3" y="11"/>
                </a:lnTo>
                <a:lnTo>
                  <a:pt x="1" y="14"/>
                </a:lnTo>
                <a:lnTo>
                  <a:pt x="1" y="18"/>
                </a:lnTo>
                <a:lnTo>
                  <a:pt x="0" y="21"/>
                </a:lnTo>
                <a:lnTo>
                  <a:pt x="0" y="24"/>
                </a:lnTo>
                <a:lnTo>
                  <a:pt x="0" y="29"/>
                </a:lnTo>
                <a:lnTo>
                  <a:pt x="1" y="33"/>
                </a:lnTo>
                <a:lnTo>
                  <a:pt x="1" y="36"/>
                </a:lnTo>
                <a:lnTo>
                  <a:pt x="3" y="39"/>
                </a:lnTo>
                <a:lnTo>
                  <a:pt x="5" y="43"/>
                </a:lnTo>
                <a:lnTo>
                  <a:pt x="6" y="44"/>
                </a:lnTo>
                <a:lnTo>
                  <a:pt x="8" y="48"/>
                </a:lnTo>
                <a:lnTo>
                  <a:pt x="10" y="51"/>
                </a:lnTo>
                <a:lnTo>
                  <a:pt x="15" y="51"/>
                </a:lnTo>
                <a:lnTo>
                  <a:pt x="13" y="48"/>
                </a:lnTo>
                <a:lnTo>
                  <a:pt x="10" y="46"/>
                </a:lnTo>
                <a:lnTo>
                  <a:pt x="8" y="43"/>
                </a:lnTo>
                <a:lnTo>
                  <a:pt x="6" y="39"/>
                </a:lnTo>
                <a:lnTo>
                  <a:pt x="5" y="36"/>
                </a:lnTo>
                <a:lnTo>
                  <a:pt x="5" y="33"/>
                </a:lnTo>
                <a:lnTo>
                  <a:pt x="3" y="29"/>
                </a:lnTo>
                <a:lnTo>
                  <a:pt x="3" y="24"/>
                </a:lnTo>
                <a:lnTo>
                  <a:pt x="3" y="21"/>
                </a:lnTo>
                <a:lnTo>
                  <a:pt x="5" y="18"/>
                </a:lnTo>
                <a:lnTo>
                  <a:pt x="5" y="14"/>
                </a:lnTo>
                <a:lnTo>
                  <a:pt x="6" y="9"/>
                </a:lnTo>
                <a:lnTo>
                  <a:pt x="8" y="8"/>
                </a:lnTo>
                <a:lnTo>
                  <a:pt x="11" y="4"/>
                </a:lnTo>
                <a:lnTo>
                  <a:pt x="13" y="1"/>
                </a:lnTo>
                <a:lnTo>
                  <a:pt x="16" y="0"/>
                </a:lnTo>
                <a:lnTo>
                  <a:pt x="11"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31" name="Freeform 2036">
            <a:extLst>
              <a:ext uri="{FF2B5EF4-FFF2-40B4-BE49-F238E27FC236}">
                <a16:creationId xmlns:a16="http://schemas.microsoft.com/office/drawing/2014/main" id="{EEC5701E-A999-24DA-FF40-7B4602D279B1}"/>
              </a:ext>
            </a:extLst>
          </p:cNvPr>
          <p:cNvSpPr>
            <a:spLocks noEditPoints="1"/>
          </p:cNvSpPr>
          <p:nvPr/>
        </p:nvSpPr>
        <p:spPr bwMode="auto">
          <a:xfrm>
            <a:off x="2501900" y="2719388"/>
            <a:ext cx="111125" cy="80963"/>
          </a:xfrm>
          <a:custGeom>
            <a:avLst/>
            <a:gdLst>
              <a:gd name="T0" fmla="*/ 70 w 70"/>
              <a:gd name="T1" fmla="*/ 21 h 51"/>
              <a:gd name="T2" fmla="*/ 68 w 70"/>
              <a:gd name="T3" fmla="*/ 14 h 51"/>
              <a:gd name="T4" fmla="*/ 65 w 70"/>
              <a:gd name="T5" fmla="*/ 8 h 51"/>
              <a:gd name="T6" fmla="*/ 60 w 70"/>
              <a:gd name="T7" fmla="*/ 1 h 51"/>
              <a:gd name="T8" fmla="*/ 53 w 70"/>
              <a:gd name="T9" fmla="*/ 0 h 51"/>
              <a:gd name="T10" fmla="*/ 58 w 70"/>
              <a:gd name="T11" fmla="*/ 4 h 51"/>
              <a:gd name="T12" fmla="*/ 63 w 70"/>
              <a:gd name="T13" fmla="*/ 9 h 51"/>
              <a:gd name="T14" fmla="*/ 65 w 70"/>
              <a:gd name="T15" fmla="*/ 18 h 51"/>
              <a:gd name="T16" fmla="*/ 67 w 70"/>
              <a:gd name="T17" fmla="*/ 24 h 51"/>
              <a:gd name="T18" fmla="*/ 65 w 70"/>
              <a:gd name="T19" fmla="*/ 33 h 51"/>
              <a:gd name="T20" fmla="*/ 63 w 70"/>
              <a:gd name="T21" fmla="*/ 39 h 51"/>
              <a:gd name="T22" fmla="*/ 60 w 70"/>
              <a:gd name="T23" fmla="*/ 46 h 51"/>
              <a:gd name="T24" fmla="*/ 53 w 70"/>
              <a:gd name="T25" fmla="*/ 51 h 51"/>
              <a:gd name="T26" fmla="*/ 62 w 70"/>
              <a:gd name="T27" fmla="*/ 48 h 51"/>
              <a:gd name="T28" fmla="*/ 65 w 70"/>
              <a:gd name="T29" fmla="*/ 43 h 51"/>
              <a:gd name="T30" fmla="*/ 68 w 70"/>
              <a:gd name="T31" fmla="*/ 36 h 51"/>
              <a:gd name="T32" fmla="*/ 70 w 70"/>
              <a:gd name="T33" fmla="*/ 29 h 51"/>
              <a:gd name="T34" fmla="*/ 12 w 70"/>
              <a:gd name="T35" fmla="*/ 0 h 51"/>
              <a:gd name="T36" fmla="*/ 7 w 70"/>
              <a:gd name="T37" fmla="*/ 4 h 51"/>
              <a:gd name="T38" fmla="*/ 4 w 70"/>
              <a:gd name="T39" fmla="*/ 11 h 51"/>
              <a:gd name="T40" fmla="*/ 2 w 70"/>
              <a:gd name="T41" fmla="*/ 18 h 51"/>
              <a:gd name="T42" fmla="*/ 0 w 70"/>
              <a:gd name="T43" fmla="*/ 24 h 51"/>
              <a:gd name="T44" fmla="*/ 2 w 70"/>
              <a:gd name="T45" fmla="*/ 33 h 51"/>
              <a:gd name="T46" fmla="*/ 4 w 70"/>
              <a:gd name="T47" fmla="*/ 39 h 51"/>
              <a:gd name="T48" fmla="*/ 7 w 70"/>
              <a:gd name="T49" fmla="*/ 44 h 51"/>
              <a:gd name="T50" fmla="*/ 12 w 70"/>
              <a:gd name="T51" fmla="*/ 51 h 51"/>
              <a:gd name="T52" fmla="*/ 14 w 70"/>
              <a:gd name="T53" fmla="*/ 48 h 51"/>
              <a:gd name="T54" fmla="*/ 9 w 70"/>
              <a:gd name="T55" fmla="*/ 43 h 51"/>
              <a:gd name="T56" fmla="*/ 5 w 70"/>
              <a:gd name="T57" fmla="*/ 36 h 51"/>
              <a:gd name="T58" fmla="*/ 4 w 70"/>
              <a:gd name="T59" fmla="*/ 29 h 51"/>
              <a:gd name="T60" fmla="*/ 4 w 70"/>
              <a:gd name="T61" fmla="*/ 21 h 51"/>
              <a:gd name="T62" fmla="*/ 5 w 70"/>
              <a:gd name="T63" fmla="*/ 13 h 51"/>
              <a:gd name="T64" fmla="*/ 10 w 70"/>
              <a:gd name="T65" fmla="*/ 6 h 51"/>
              <a:gd name="T66" fmla="*/ 15 w 70"/>
              <a:gd name="T67" fmla="*/ 1 h 51"/>
              <a:gd name="T68" fmla="*/ 12 w 7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 h="51">
                <a:moveTo>
                  <a:pt x="70" y="24"/>
                </a:moveTo>
                <a:lnTo>
                  <a:pt x="70" y="21"/>
                </a:lnTo>
                <a:lnTo>
                  <a:pt x="68" y="18"/>
                </a:lnTo>
                <a:lnTo>
                  <a:pt x="68" y="14"/>
                </a:lnTo>
                <a:lnTo>
                  <a:pt x="67" y="11"/>
                </a:lnTo>
                <a:lnTo>
                  <a:pt x="65" y="8"/>
                </a:lnTo>
                <a:lnTo>
                  <a:pt x="63" y="4"/>
                </a:lnTo>
                <a:lnTo>
                  <a:pt x="60" y="1"/>
                </a:lnTo>
                <a:lnTo>
                  <a:pt x="58" y="0"/>
                </a:lnTo>
                <a:lnTo>
                  <a:pt x="53" y="0"/>
                </a:lnTo>
                <a:lnTo>
                  <a:pt x="55" y="1"/>
                </a:lnTo>
                <a:lnTo>
                  <a:pt x="58" y="4"/>
                </a:lnTo>
                <a:lnTo>
                  <a:pt x="60" y="6"/>
                </a:lnTo>
                <a:lnTo>
                  <a:pt x="63" y="9"/>
                </a:lnTo>
                <a:lnTo>
                  <a:pt x="65" y="13"/>
                </a:lnTo>
                <a:lnTo>
                  <a:pt x="65" y="18"/>
                </a:lnTo>
                <a:lnTo>
                  <a:pt x="67" y="21"/>
                </a:lnTo>
                <a:lnTo>
                  <a:pt x="67" y="24"/>
                </a:lnTo>
                <a:lnTo>
                  <a:pt x="67" y="29"/>
                </a:lnTo>
                <a:lnTo>
                  <a:pt x="65" y="33"/>
                </a:lnTo>
                <a:lnTo>
                  <a:pt x="65" y="36"/>
                </a:lnTo>
                <a:lnTo>
                  <a:pt x="63" y="39"/>
                </a:lnTo>
                <a:lnTo>
                  <a:pt x="62" y="43"/>
                </a:lnTo>
                <a:lnTo>
                  <a:pt x="60" y="46"/>
                </a:lnTo>
                <a:lnTo>
                  <a:pt x="57" y="48"/>
                </a:lnTo>
                <a:lnTo>
                  <a:pt x="53" y="51"/>
                </a:lnTo>
                <a:lnTo>
                  <a:pt x="58" y="51"/>
                </a:lnTo>
                <a:lnTo>
                  <a:pt x="62" y="48"/>
                </a:lnTo>
                <a:lnTo>
                  <a:pt x="63" y="44"/>
                </a:lnTo>
                <a:lnTo>
                  <a:pt x="65" y="43"/>
                </a:lnTo>
                <a:lnTo>
                  <a:pt x="67" y="39"/>
                </a:lnTo>
                <a:lnTo>
                  <a:pt x="68" y="36"/>
                </a:lnTo>
                <a:lnTo>
                  <a:pt x="70" y="33"/>
                </a:lnTo>
                <a:lnTo>
                  <a:pt x="70" y="29"/>
                </a:lnTo>
                <a:lnTo>
                  <a:pt x="70" y="24"/>
                </a:lnTo>
                <a:close/>
                <a:moveTo>
                  <a:pt x="12" y="0"/>
                </a:moveTo>
                <a:lnTo>
                  <a:pt x="10" y="1"/>
                </a:lnTo>
                <a:lnTo>
                  <a:pt x="7" y="4"/>
                </a:lnTo>
                <a:lnTo>
                  <a:pt x="5" y="8"/>
                </a:lnTo>
                <a:lnTo>
                  <a:pt x="4" y="11"/>
                </a:lnTo>
                <a:lnTo>
                  <a:pt x="2" y="14"/>
                </a:lnTo>
                <a:lnTo>
                  <a:pt x="2" y="18"/>
                </a:lnTo>
                <a:lnTo>
                  <a:pt x="0" y="21"/>
                </a:lnTo>
                <a:lnTo>
                  <a:pt x="0" y="24"/>
                </a:lnTo>
                <a:lnTo>
                  <a:pt x="0" y="29"/>
                </a:lnTo>
                <a:lnTo>
                  <a:pt x="2" y="33"/>
                </a:lnTo>
                <a:lnTo>
                  <a:pt x="2" y="36"/>
                </a:lnTo>
                <a:lnTo>
                  <a:pt x="4" y="39"/>
                </a:lnTo>
                <a:lnTo>
                  <a:pt x="5" y="43"/>
                </a:lnTo>
                <a:lnTo>
                  <a:pt x="7" y="44"/>
                </a:lnTo>
                <a:lnTo>
                  <a:pt x="9" y="48"/>
                </a:lnTo>
                <a:lnTo>
                  <a:pt x="12" y="51"/>
                </a:lnTo>
                <a:lnTo>
                  <a:pt x="17" y="51"/>
                </a:lnTo>
                <a:lnTo>
                  <a:pt x="14" y="48"/>
                </a:lnTo>
                <a:lnTo>
                  <a:pt x="12" y="46"/>
                </a:lnTo>
                <a:lnTo>
                  <a:pt x="9" y="43"/>
                </a:lnTo>
                <a:lnTo>
                  <a:pt x="7" y="39"/>
                </a:lnTo>
                <a:lnTo>
                  <a:pt x="5" y="36"/>
                </a:lnTo>
                <a:lnTo>
                  <a:pt x="5" y="33"/>
                </a:lnTo>
                <a:lnTo>
                  <a:pt x="4" y="29"/>
                </a:lnTo>
                <a:lnTo>
                  <a:pt x="4" y="24"/>
                </a:lnTo>
                <a:lnTo>
                  <a:pt x="4" y="21"/>
                </a:lnTo>
                <a:lnTo>
                  <a:pt x="5" y="18"/>
                </a:lnTo>
                <a:lnTo>
                  <a:pt x="5" y="13"/>
                </a:lnTo>
                <a:lnTo>
                  <a:pt x="7" y="9"/>
                </a:lnTo>
                <a:lnTo>
                  <a:pt x="10" y="6"/>
                </a:lnTo>
                <a:lnTo>
                  <a:pt x="12" y="4"/>
                </a:lnTo>
                <a:lnTo>
                  <a:pt x="15" y="1"/>
                </a:lnTo>
                <a:lnTo>
                  <a:pt x="19" y="0"/>
                </a:lnTo>
                <a:lnTo>
                  <a:pt x="12"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32" name="Freeform 2037">
            <a:extLst>
              <a:ext uri="{FF2B5EF4-FFF2-40B4-BE49-F238E27FC236}">
                <a16:creationId xmlns:a16="http://schemas.microsoft.com/office/drawing/2014/main" id="{AE514B20-B757-1749-F58B-1F1F94B32E93}"/>
              </a:ext>
            </a:extLst>
          </p:cNvPr>
          <p:cNvSpPr>
            <a:spLocks noEditPoints="1"/>
          </p:cNvSpPr>
          <p:nvPr/>
        </p:nvSpPr>
        <p:spPr bwMode="auto">
          <a:xfrm>
            <a:off x="2505075" y="2719388"/>
            <a:ext cx="104775" cy="80963"/>
          </a:xfrm>
          <a:custGeom>
            <a:avLst/>
            <a:gdLst>
              <a:gd name="T0" fmla="*/ 66 w 66"/>
              <a:gd name="T1" fmla="*/ 21 h 51"/>
              <a:gd name="T2" fmla="*/ 65 w 66"/>
              <a:gd name="T3" fmla="*/ 14 h 51"/>
              <a:gd name="T4" fmla="*/ 61 w 66"/>
              <a:gd name="T5" fmla="*/ 8 h 51"/>
              <a:gd name="T6" fmla="*/ 56 w 66"/>
              <a:gd name="T7" fmla="*/ 1 h 51"/>
              <a:gd name="T8" fmla="*/ 48 w 66"/>
              <a:gd name="T9" fmla="*/ 0 h 51"/>
              <a:gd name="T10" fmla="*/ 53 w 66"/>
              <a:gd name="T11" fmla="*/ 3 h 51"/>
              <a:gd name="T12" fmla="*/ 58 w 66"/>
              <a:gd name="T13" fmla="*/ 9 h 51"/>
              <a:gd name="T14" fmla="*/ 61 w 66"/>
              <a:gd name="T15" fmla="*/ 16 h 51"/>
              <a:gd name="T16" fmla="*/ 63 w 66"/>
              <a:gd name="T17" fmla="*/ 24 h 51"/>
              <a:gd name="T18" fmla="*/ 61 w 66"/>
              <a:gd name="T19" fmla="*/ 33 h 51"/>
              <a:gd name="T20" fmla="*/ 60 w 66"/>
              <a:gd name="T21" fmla="*/ 39 h 51"/>
              <a:gd name="T22" fmla="*/ 55 w 66"/>
              <a:gd name="T23" fmla="*/ 46 h 51"/>
              <a:gd name="T24" fmla="*/ 50 w 66"/>
              <a:gd name="T25" fmla="*/ 51 h 51"/>
              <a:gd name="T26" fmla="*/ 58 w 66"/>
              <a:gd name="T27" fmla="*/ 48 h 51"/>
              <a:gd name="T28" fmla="*/ 61 w 66"/>
              <a:gd name="T29" fmla="*/ 43 h 51"/>
              <a:gd name="T30" fmla="*/ 65 w 66"/>
              <a:gd name="T31" fmla="*/ 36 h 51"/>
              <a:gd name="T32" fmla="*/ 66 w 66"/>
              <a:gd name="T33" fmla="*/ 29 h 51"/>
              <a:gd name="T34" fmla="*/ 13 w 66"/>
              <a:gd name="T35" fmla="*/ 0 h 51"/>
              <a:gd name="T36" fmla="*/ 8 w 66"/>
              <a:gd name="T37" fmla="*/ 4 h 51"/>
              <a:gd name="T38" fmla="*/ 3 w 66"/>
              <a:gd name="T39" fmla="*/ 9 h 51"/>
              <a:gd name="T40" fmla="*/ 2 w 66"/>
              <a:gd name="T41" fmla="*/ 18 h 51"/>
              <a:gd name="T42" fmla="*/ 0 w 66"/>
              <a:gd name="T43" fmla="*/ 24 h 51"/>
              <a:gd name="T44" fmla="*/ 2 w 66"/>
              <a:gd name="T45" fmla="*/ 33 h 51"/>
              <a:gd name="T46" fmla="*/ 3 w 66"/>
              <a:gd name="T47" fmla="*/ 39 h 51"/>
              <a:gd name="T48" fmla="*/ 7 w 66"/>
              <a:gd name="T49" fmla="*/ 46 h 51"/>
              <a:gd name="T50" fmla="*/ 12 w 66"/>
              <a:gd name="T51" fmla="*/ 51 h 51"/>
              <a:gd name="T52" fmla="*/ 15 w 66"/>
              <a:gd name="T53" fmla="*/ 48 h 51"/>
              <a:gd name="T54" fmla="*/ 10 w 66"/>
              <a:gd name="T55" fmla="*/ 43 h 51"/>
              <a:gd name="T56" fmla="*/ 5 w 66"/>
              <a:gd name="T57" fmla="*/ 36 h 51"/>
              <a:gd name="T58" fmla="*/ 3 w 66"/>
              <a:gd name="T59" fmla="*/ 29 h 51"/>
              <a:gd name="T60" fmla="*/ 3 w 66"/>
              <a:gd name="T61" fmla="*/ 21 h 51"/>
              <a:gd name="T62" fmla="*/ 7 w 66"/>
              <a:gd name="T63" fmla="*/ 13 h 51"/>
              <a:gd name="T64" fmla="*/ 10 w 66"/>
              <a:gd name="T65" fmla="*/ 6 h 51"/>
              <a:gd name="T66" fmla="*/ 17 w 66"/>
              <a:gd name="T67" fmla="*/ 1 h 51"/>
              <a:gd name="T68" fmla="*/ 13 w 66"/>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6" h="51">
                <a:moveTo>
                  <a:pt x="66" y="24"/>
                </a:moveTo>
                <a:lnTo>
                  <a:pt x="66" y="21"/>
                </a:lnTo>
                <a:lnTo>
                  <a:pt x="65" y="18"/>
                </a:lnTo>
                <a:lnTo>
                  <a:pt x="65" y="14"/>
                </a:lnTo>
                <a:lnTo>
                  <a:pt x="63" y="9"/>
                </a:lnTo>
                <a:lnTo>
                  <a:pt x="61" y="8"/>
                </a:lnTo>
                <a:lnTo>
                  <a:pt x="58" y="4"/>
                </a:lnTo>
                <a:lnTo>
                  <a:pt x="56" y="1"/>
                </a:lnTo>
                <a:lnTo>
                  <a:pt x="53" y="0"/>
                </a:lnTo>
                <a:lnTo>
                  <a:pt x="48" y="0"/>
                </a:lnTo>
                <a:lnTo>
                  <a:pt x="51" y="1"/>
                </a:lnTo>
                <a:lnTo>
                  <a:pt x="53" y="3"/>
                </a:lnTo>
                <a:lnTo>
                  <a:pt x="56" y="6"/>
                </a:lnTo>
                <a:lnTo>
                  <a:pt x="58" y="9"/>
                </a:lnTo>
                <a:lnTo>
                  <a:pt x="61" y="13"/>
                </a:lnTo>
                <a:lnTo>
                  <a:pt x="61" y="16"/>
                </a:lnTo>
                <a:lnTo>
                  <a:pt x="63" y="21"/>
                </a:lnTo>
                <a:lnTo>
                  <a:pt x="63" y="24"/>
                </a:lnTo>
                <a:lnTo>
                  <a:pt x="63" y="29"/>
                </a:lnTo>
                <a:lnTo>
                  <a:pt x="61" y="33"/>
                </a:lnTo>
                <a:lnTo>
                  <a:pt x="61" y="36"/>
                </a:lnTo>
                <a:lnTo>
                  <a:pt x="60" y="39"/>
                </a:lnTo>
                <a:lnTo>
                  <a:pt x="58" y="43"/>
                </a:lnTo>
                <a:lnTo>
                  <a:pt x="55" y="46"/>
                </a:lnTo>
                <a:lnTo>
                  <a:pt x="51" y="48"/>
                </a:lnTo>
                <a:lnTo>
                  <a:pt x="50" y="51"/>
                </a:lnTo>
                <a:lnTo>
                  <a:pt x="55" y="51"/>
                </a:lnTo>
                <a:lnTo>
                  <a:pt x="58" y="48"/>
                </a:lnTo>
                <a:lnTo>
                  <a:pt x="60" y="46"/>
                </a:lnTo>
                <a:lnTo>
                  <a:pt x="61" y="43"/>
                </a:lnTo>
                <a:lnTo>
                  <a:pt x="63" y="39"/>
                </a:lnTo>
                <a:lnTo>
                  <a:pt x="65" y="36"/>
                </a:lnTo>
                <a:lnTo>
                  <a:pt x="66" y="33"/>
                </a:lnTo>
                <a:lnTo>
                  <a:pt x="66" y="29"/>
                </a:lnTo>
                <a:lnTo>
                  <a:pt x="66" y="24"/>
                </a:lnTo>
                <a:close/>
                <a:moveTo>
                  <a:pt x="13" y="0"/>
                </a:moveTo>
                <a:lnTo>
                  <a:pt x="10" y="1"/>
                </a:lnTo>
                <a:lnTo>
                  <a:pt x="8" y="4"/>
                </a:lnTo>
                <a:lnTo>
                  <a:pt x="5" y="8"/>
                </a:lnTo>
                <a:lnTo>
                  <a:pt x="3" y="9"/>
                </a:lnTo>
                <a:lnTo>
                  <a:pt x="2" y="14"/>
                </a:lnTo>
                <a:lnTo>
                  <a:pt x="2" y="18"/>
                </a:lnTo>
                <a:lnTo>
                  <a:pt x="0" y="21"/>
                </a:lnTo>
                <a:lnTo>
                  <a:pt x="0" y="24"/>
                </a:lnTo>
                <a:lnTo>
                  <a:pt x="0" y="29"/>
                </a:lnTo>
                <a:lnTo>
                  <a:pt x="2" y="33"/>
                </a:lnTo>
                <a:lnTo>
                  <a:pt x="2" y="36"/>
                </a:lnTo>
                <a:lnTo>
                  <a:pt x="3" y="39"/>
                </a:lnTo>
                <a:lnTo>
                  <a:pt x="5" y="43"/>
                </a:lnTo>
                <a:lnTo>
                  <a:pt x="7" y="46"/>
                </a:lnTo>
                <a:lnTo>
                  <a:pt x="10" y="48"/>
                </a:lnTo>
                <a:lnTo>
                  <a:pt x="12" y="51"/>
                </a:lnTo>
                <a:lnTo>
                  <a:pt x="18" y="51"/>
                </a:lnTo>
                <a:lnTo>
                  <a:pt x="15" y="48"/>
                </a:lnTo>
                <a:lnTo>
                  <a:pt x="12" y="46"/>
                </a:lnTo>
                <a:lnTo>
                  <a:pt x="10" y="43"/>
                </a:lnTo>
                <a:lnTo>
                  <a:pt x="7" y="39"/>
                </a:lnTo>
                <a:lnTo>
                  <a:pt x="5" y="36"/>
                </a:lnTo>
                <a:lnTo>
                  <a:pt x="5" y="33"/>
                </a:lnTo>
                <a:lnTo>
                  <a:pt x="3" y="29"/>
                </a:lnTo>
                <a:lnTo>
                  <a:pt x="3" y="24"/>
                </a:lnTo>
                <a:lnTo>
                  <a:pt x="3" y="21"/>
                </a:lnTo>
                <a:lnTo>
                  <a:pt x="5" y="16"/>
                </a:lnTo>
                <a:lnTo>
                  <a:pt x="7" y="13"/>
                </a:lnTo>
                <a:lnTo>
                  <a:pt x="8" y="9"/>
                </a:lnTo>
                <a:lnTo>
                  <a:pt x="10" y="6"/>
                </a:lnTo>
                <a:lnTo>
                  <a:pt x="13" y="3"/>
                </a:lnTo>
                <a:lnTo>
                  <a:pt x="17" y="1"/>
                </a:lnTo>
                <a:lnTo>
                  <a:pt x="20" y="0"/>
                </a:lnTo>
                <a:lnTo>
                  <a:pt x="13"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33" name="Freeform 2038">
            <a:extLst>
              <a:ext uri="{FF2B5EF4-FFF2-40B4-BE49-F238E27FC236}">
                <a16:creationId xmlns:a16="http://schemas.microsoft.com/office/drawing/2014/main" id="{852DB0D2-2393-A4C3-90B6-F44BE11A3613}"/>
              </a:ext>
            </a:extLst>
          </p:cNvPr>
          <p:cNvSpPr>
            <a:spLocks noEditPoints="1"/>
          </p:cNvSpPr>
          <p:nvPr/>
        </p:nvSpPr>
        <p:spPr bwMode="auto">
          <a:xfrm>
            <a:off x="2508250" y="2719388"/>
            <a:ext cx="100013" cy="80963"/>
          </a:xfrm>
          <a:custGeom>
            <a:avLst/>
            <a:gdLst>
              <a:gd name="T0" fmla="*/ 63 w 63"/>
              <a:gd name="T1" fmla="*/ 21 h 51"/>
              <a:gd name="T2" fmla="*/ 61 w 63"/>
              <a:gd name="T3" fmla="*/ 13 h 51"/>
              <a:gd name="T4" fmla="*/ 56 w 63"/>
              <a:gd name="T5" fmla="*/ 6 h 51"/>
              <a:gd name="T6" fmla="*/ 51 w 63"/>
              <a:gd name="T7" fmla="*/ 1 h 51"/>
              <a:gd name="T8" fmla="*/ 41 w 63"/>
              <a:gd name="T9" fmla="*/ 0 h 51"/>
              <a:gd name="T10" fmla="*/ 49 w 63"/>
              <a:gd name="T11" fmla="*/ 3 h 51"/>
              <a:gd name="T12" fmla="*/ 54 w 63"/>
              <a:gd name="T13" fmla="*/ 9 h 51"/>
              <a:gd name="T14" fmla="*/ 58 w 63"/>
              <a:gd name="T15" fmla="*/ 16 h 51"/>
              <a:gd name="T16" fmla="*/ 59 w 63"/>
              <a:gd name="T17" fmla="*/ 24 h 51"/>
              <a:gd name="T18" fmla="*/ 58 w 63"/>
              <a:gd name="T19" fmla="*/ 33 h 51"/>
              <a:gd name="T20" fmla="*/ 54 w 63"/>
              <a:gd name="T21" fmla="*/ 39 h 51"/>
              <a:gd name="T22" fmla="*/ 49 w 63"/>
              <a:gd name="T23" fmla="*/ 46 h 51"/>
              <a:gd name="T24" fmla="*/ 44 w 63"/>
              <a:gd name="T25" fmla="*/ 51 h 51"/>
              <a:gd name="T26" fmla="*/ 53 w 63"/>
              <a:gd name="T27" fmla="*/ 48 h 51"/>
              <a:gd name="T28" fmla="*/ 58 w 63"/>
              <a:gd name="T29" fmla="*/ 43 h 51"/>
              <a:gd name="T30" fmla="*/ 61 w 63"/>
              <a:gd name="T31" fmla="*/ 36 h 51"/>
              <a:gd name="T32" fmla="*/ 63 w 63"/>
              <a:gd name="T33" fmla="*/ 29 h 51"/>
              <a:gd name="T34" fmla="*/ 15 w 63"/>
              <a:gd name="T35" fmla="*/ 0 h 51"/>
              <a:gd name="T36" fmla="*/ 8 w 63"/>
              <a:gd name="T37" fmla="*/ 4 h 51"/>
              <a:gd name="T38" fmla="*/ 3 w 63"/>
              <a:gd name="T39" fmla="*/ 9 h 51"/>
              <a:gd name="T40" fmla="*/ 1 w 63"/>
              <a:gd name="T41" fmla="*/ 18 h 51"/>
              <a:gd name="T42" fmla="*/ 0 w 63"/>
              <a:gd name="T43" fmla="*/ 24 h 51"/>
              <a:gd name="T44" fmla="*/ 1 w 63"/>
              <a:gd name="T45" fmla="*/ 33 h 51"/>
              <a:gd name="T46" fmla="*/ 3 w 63"/>
              <a:gd name="T47" fmla="*/ 39 h 51"/>
              <a:gd name="T48" fmla="*/ 8 w 63"/>
              <a:gd name="T49" fmla="*/ 46 h 51"/>
              <a:gd name="T50" fmla="*/ 13 w 63"/>
              <a:gd name="T51" fmla="*/ 51 h 51"/>
              <a:gd name="T52" fmla="*/ 16 w 63"/>
              <a:gd name="T53" fmla="*/ 48 h 51"/>
              <a:gd name="T54" fmla="*/ 10 w 63"/>
              <a:gd name="T55" fmla="*/ 43 h 51"/>
              <a:gd name="T56" fmla="*/ 6 w 63"/>
              <a:gd name="T57" fmla="*/ 36 h 51"/>
              <a:gd name="T58" fmla="*/ 3 w 63"/>
              <a:gd name="T59" fmla="*/ 29 h 51"/>
              <a:gd name="T60" fmla="*/ 3 w 63"/>
              <a:gd name="T61" fmla="*/ 21 h 51"/>
              <a:gd name="T62" fmla="*/ 6 w 63"/>
              <a:gd name="T63" fmla="*/ 13 h 51"/>
              <a:gd name="T64" fmla="*/ 11 w 63"/>
              <a:gd name="T65" fmla="*/ 6 h 51"/>
              <a:gd name="T66" fmla="*/ 18 w 63"/>
              <a:gd name="T67" fmla="*/ 1 h 51"/>
              <a:gd name="T68" fmla="*/ 15 w 63"/>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3" h="51">
                <a:moveTo>
                  <a:pt x="63" y="24"/>
                </a:moveTo>
                <a:lnTo>
                  <a:pt x="63" y="21"/>
                </a:lnTo>
                <a:lnTo>
                  <a:pt x="61" y="18"/>
                </a:lnTo>
                <a:lnTo>
                  <a:pt x="61" y="13"/>
                </a:lnTo>
                <a:lnTo>
                  <a:pt x="59" y="9"/>
                </a:lnTo>
                <a:lnTo>
                  <a:pt x="56" y="6"/>
                </a:lnTo>
                <a:lnTo>
                  <a:pt x="54" y="4"/>
                </a:lnTo>
                <a:lnTo>
                  <a:pt x="51" y="1"/>
                </a:lnTo>
                <a:lnTo>
                  <a:pt x="49" y="0"/>
                </a:lnTo>
                <a:lnTo>
                  <a:pt x="41" y="0"/>
                </a:lnTo>
                <a:lnTo>
                  <a:pt x="46" y="1"/>
                </a:lnTo>
                <a:lnTo>
                  <a:pt x="49" y="3"/>
                </a:lnTo>
                <a:lnTo>
                  <a:pt x="51" y="6"/>
                </a:lnTo>
                <a:lnTo>
                  <a:pt x="54" y="9"/>
                </a:lnTo>
                <a:lnTo>
                  <a:pt x="56" y="13"/>
                </a:lnTo>
                <a:lnTo>
                  <a:pt x="58" y="16"/>
                </a:lnTo>
                <a:lnTo>
                  <a:pt x="59" y="21"/>
                </a:lnTo>
                <a:lnTo>
                  <a:pt x="59" y="24"/>
                </a:lnTo>
                <a:lnTo>
                  <a:pt x="59" y="29"/>
                </a:lnTo>
                <a:lnTo>
                  <a:pt x="58" y="33"/>
                </a:lnTo>
                <a:lnTo>
                  <a:pt x="58" y="36"/>
                </a:lnTo>
                <a:lnTo>
                  <a:pt x="54" y="39"/>
                </a:lnTo>
                <a:lnTo>
                  <a:pt x="53" y="43"/>
                </a:lnTo>
                <a:lnTo>
                  <a:pt x="49" y="46"/>
                </a:lnTo>
                <a:lnTo>
                  <a:pt x="48" y="48"/>
                </a:lnTo>
                <a:lnTo>
                  <a:pt x="44" y="51"/>
                </a:lnTo>
                <a:lnTo>
                  <a:pt x="49" y="51"/>
                </a:lnTo>
                <a:lnTo>
                  <a:pt x="53" y="48"/>
                </a:lnTo>
                <a:lnTo>
                  <a:pt x="56" y="46"/>
                </a:lnTo>
                <a:lnTo>
                  <a:pt x="58" y="43"/>
                </a:lnTo>
                <a:lnTo>
                  <a:pt x="59" y="39"/>
                </a:lnTo>
                <a:lnTo>
                  <a:pt x="61" y="36"/>
                </a:lnTo>
                <a:lnTo>
                  <a:pt x="61" y="33"/>
                </a:lnTo>
                <a:lnTo>
                  <a:pt x="63" y="29"/>
                </a:lnTo>
                <a:lnTo>
                  <a:pt x="63" y="24"/>
                </a:lnTo>
                <a:close/>
                <a:moveTo>
                  <a:pt x="15" y="0"/>
                </a:moveTo>
                <a:lnTo>
                  <a:pt x="11" y="1"/>
                </a:lnTo>
                <a:lnTo>
                  <a:pt x="8" y="4"/>
                </a:lnTo>
                <a:lnTo>
                  <a:pt x="6" y="6"/>
                </a:lnTo>
                <a:lnTo>
                  <a:pt x="3" y="9"/>
                </a:lnTo>
                <a:lnTo>
                  <a:pt x="1" y="13"/>
                </a:lnTo>
                <a:lnTo>
                  <a:pt x="1" y="18"/>
                </a:lnTo>
                <a:lnTo>
                  <a:pt x="0" y="21"/>
                </a:lnTo>
                <a:lnTo>
                  <a:pt x="0" y="24"/>
                </a:lnTo>
                <a:lnTo>
                  <a:pt x="0" y="29"/>
                </a:lnTo>
                <a:lnTo>
                  <a:pt x="1" y="33"/>
                </a:lnTo>
                <a:lnTo>
                  <a:pt x="1" y="36"/>
                </a:lnTo>
                <a:lnTo>
                  <a:pt x="3" y="39"/>
                </a:lnTo>
                <a:lnTo>
                  <a:pt x="5" y="43"/>
                </a:lnTo>
                <a:lnTo>
                  <a:pt x="8" y="46"/>
                </a:lnTo>
                <a:lnTo>
                  <a:pt x="10" y="48"/>
                </a:lnTo>
                <a:lnTo>
                  <a:pt x="13" y="51"/>
                </a:lnTo>
                <a:lnTo>
                  <a:pt x="20" y="51"/>
                </a:lnTo>
                <a:lnTo>
                  <a:pt x="16" y="48"/>
                </a:lnTo>
                <a:lnTo>
                  <a:pt x="13" y="46"/>
                </a:lnTo>
                <a:lnTo>
                  <a:pt x="10" y="43"/>
                </a:lnTo>
                <a:lnTo>
                  <a:pt x="8" y="39"/>
                </a:lnTo>
                <a:lnTo>
                  <a:pt x="6" y="36"/>
                </a:lnTo>
                <a:lnTo>
                  <a:pt x="5" y="33"/>
                </a:lnTo>
                <a:lnTo>
                  <a:pt x="3" y="29"/>
                </a:lnTo>
                <a:lnTo>
                  <a:pt x="3" y="24"/>
                </a:lnTo>
                <a:lnTo>
                  <a:pt x="3" y="21"/>
                </a:lnTo>
                <a:lnTo>
                  <a:pt x="5" y="16"/>
                </a:lnTo>
                <a:lnTo>
                  <a:pt x="6" y="13"/>
                </a:lnTo>
                <a:lnTo>
                  <a:pt x="8" y="9"/>
                </a:lnTo>
                <a:lnTo>
                  <a:pt x="11" y="6"/>
                </a:lnTo>
                <a:lnTo>
                  <a:pt x="15" y="3"/>
                </a:lnTo>
                <a:lnTo>
                  <a:pt x="18" y="1"/>
                </a:lnTo>
                <a:lnTo>
                  <a:pt x="21" y="0"/>
                </a:lnTo>
                <a:lnTo>
                  <a:pt x="15" y="0"/>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34" name="Freeform 2039">
            <a:extLst>
              <a:ext uri="{FF2B5EF4-FFF2-40B4-BE49-F238E27FC236}">
                <a16:creationId xmlns:a16="http://schemas.microsoft.com/office/drawing/2014/main" id="{3BA28FCD-D66B-AC65-C834-08782CF48990}"/>
              </a:ext>
            </a:extLst>
          </p:cNvPr>
          <p:cNvSpPr>
            <a:spLocks noEditPoints="1"/>
          </p:cNvSpPr>
          <p:nvPr/>
        </p:nvSpPr>
        <p:spPr bwMode="auto">
          <a:xfrm>
            <a:off x="2509838" y="2719388"/>
            <a:ext cx="95250" cy="80963"/>
          </a:xfrm>
          <a:custGeom>
            <a:avLst/>
            <a:gdLst>
              <a:gd name="T0" fmla="*/ 60 w 60"/>
              <a:gd name="T1" fmla="*/ 21 h 51"/>
              <a:gd name="T2" fmla="*/ 58 w 60"/>
              <a:gd name="T3" fmla="*/ 13 h 51"/>
              <a:gd name="T4" fmla="*/ 53 w 60"/>
              <a:gd name="T5" fmla="*/ 6 h 51"/>
              <a:gd name="T6" fmla="*/ 48 w 60"/>
              <a:gd name="T7" fmla="*/ 1 h 51"/>
              <a:gd name="T8" fmla="*/ 33 w 60"/>
              <a:gd name="T9" fmla="*/ 0 h 51"/>
              <a:gd name="T10" fmla="*/ 43 w 60"/>
              <a:gd name="T11" fmla="*/ 1 h 51"/>
              <a:gd name="T12" fmla="*/ 50 w 60"/>
              <a:gd name="T13" fmla="*/ 8 h 51"/>
              <a:gd name="T14" fmla="*/ 55 w 60"/>
              <a:gd name="T15" fmla="*/ 16 h 51"/>
              <a:gd name="T16" fmla="*/ 57 w 60"/>
              <a:gd name="T17" fmla="*/ 24 h 51"/>
              <a:gd name="T18" fmla="*/ 55 w 60"/>
              <a:gd name="T19" fmla="*/ 33 h 51"/>
              <a:gd name="T20" fmla="*/ 52 w 60"/>
              <a:gd name="T21" fmla="*/ 41 h 51"/>
              <a:gd name="T22" fmla="*/ 45 w 60"/>
              <a:gd name="T23" fmla="*/ 46 h 51"/>
              <a:gd name="T24" fmla="*/ 38 w 60"/>
              <a:gd name="T25" fmla="*/ 51 h 51"/>
              <a:gd name="T26" fmla="*/ 48 w 60"/>
              <a:gd name="T27" fmla="*/ 48 h 51"/>
              <a:gd name="T28" fmla="*/ 55 w 60"/>
              <a:gd name="T29" fmla="*/ 43 h 51"/>
              <a:gd name="T30" fmla="*/ 58 w 60"/>
              <a:gd name="T31" fmla="*/ 36 h 51"/>
              <a:gd name="T32" fmla="*/ 60 w 60"/>
              <a:gd name="T33" fmla="*/ 29 h 51"/>
              <a:gd name="T34" fmla="*/ 17 w 60"/>
              <a:gd name="T35" fmla="*/ 0 h 51"/>
              <a:gd name="T36" fmla="*/ 10 w 60"/>
              <a:gd name="T37" fmla="*/ 3 h 51"/>
              <a:gd name="T38" fmla="*/ 5 w 60"/>
              <a:gd name="T39" fmla="*/ 9 h 51"/>
              <a:gd name="T40" fmla="*/ 2 w 60"/>
              <a:gd name="T41" fmla="*/ 16 h 51"/>
              <a:gd name="T42" fmla="*/ 0 w 60"/>
              <a:gd name="T43" fmla="*/ 24 h 51"/>
              <a:gd name="T44" fmla="*/ 2 w 60"/>
              <a:gd name="T45" fmla="*/ 33 h 51"/>
              <a:gd name="T46" fmla="*/ 4 w 60"/>
              <a:gd name="T47" fmla="*/ 39 h 51"/>
              <a:gd name="T48" fmla="*/ 9 w 60"/>
              <a:gd name="T49" fmla="*/ 46 h 51"/>
              <a:gd name="T50" fmla="*/ 15 w 60"/>
              <a:gd name="T51" fmla="*/ 51 h 51"/>
              <a:gd name="T52" fmla="*/ 19 w 60"/>
              <a:gd name="T53" fmla="*/ 49 h 51"/>
              <a:gd name="T54" fmla="*/ 12 w 60"/>
              <a:gd name="T55" fmla="*/ 44 h 51"/>
              <a:gd name="T56" fmla="*/ 7 w 60"/>
              <a:gd name="T57" fmla="*/ 38 h 51"/>
              <a:gd name="T58" fmla="*/ 4 w 60"/>
              <a:gd name="T59" fmla="*/ 29 h 51"/>
              <a:gd name="T60" fmla="*/ 4 w 60"/>
              <a:gd name="T61" fmla="*/ 19 h 51"/>
              <a:gd name="T62" fmla="*/ 7 w 60"/>
              <a:gd name="T63" fmla="*/ 11 h 51"/>
              <a:gd name="T64" fmla="*/ 14 w 60"/>
              <a:gd name="T65" fmla="*/ 4 h 51"/>
              <a:gd name="T66" fmla="*/ 22 w 60"/>
              <a:gd name="T67" fmla="*/ 0 h 51"/>
              <a:gd name="T68" fmla="*/ 17 w 60"/>
              <a:gd name="T69"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0" h="51">
                <a:moveTo>
                  <a:pt x="60" y="24"/>
                </a:moveTo>
                <a:lnTo>
                  <a:pt x="60" y="21"/>
                </a:lnTo>
                <a:lnTo>
                  <a:pt x="58" y="16"/>
                </a:lnTo>
                <a:lnTo>
                  <a:pt x="58" y="13"/>
                </a:lnTo>
                <a:lnTo>
                  <a:pt x="55" y="9"/>
                </a:lnTo>
                <a:lnTo>
                  <a:pt x="53" y="6"/>
                </a:lnTo>
                <a:lnTo>
                  <a:pt x="50" y="3"/>
                </a:lnTo>
                <a:lnTo>
                  <a:pt x="48" y="1"/>
                </a:lnTo>
                <a:lnTo>
                  <a:pt x="45" y="0"/>
                </a:lnTo>
                <a:lnTo>
                  <a:pt x="33" y="0"/>
                </a:lnTo>
                <a:lnTo>
                  <a:pt x="38" y="0"/>
                </a:lnTo>
                <a:lnTo>
                  <a:pt x="43" y="1"/>
                </a:lnTo>
                <a:lnTo>
                  <a:pt x="47" y="4"/>
                </a:lnTo>
                <a:lnTo>
                  <a:pt x="50" y="8"/>
                </a:lnTo>
                <a:lnTo>
                  <a:pt x="53" y="11"/>
                </a:lnTo>
                <a:lnTo>
                  <a:pt x="55" y="16"/>
                </a:lnTo>
                <a:lnTo>
                  <a:pt x="57" y="19"/>
                </a:lnTo>
                <a:lnTo>
                  <a:pt x="57" y="24"/>
                </a:lnTo>
                <a:lnTo>
                  <a:pt x="57" y="29"/>
                </a:lnTo>
                <a:lnTo>
                  <a:pt x="55" y="33"/>
                </a:lnTo>
                <a:lnTo>
                  <a:pt x="53" y="38"/>
                </a:lnTo>
                <a:lnTo>
                  <a:pt x="52" y="41"/>
                </a:lnTo>
                <a:lnTo>
                  <a:pt x="48" y="44"/>
                </a:lnTo>
                <a:lnTo>
                  <a:pt x="45" y="46"/>
                </a:lnTo>
                <a:lnTo>
                  <a:pt x="42" y="49"/>
                </a:lnTo>
                <a:lnTo>
                  <a:pt x="38" y="51"/>
                </a:lnTo>
                <a:lnTo>
                  <a:pt x="47" y="51"/>
                </a:lnTo>
                <a:lnTo>
                  <a:pt x="48" y="48"/>
                </a:lnTo>
                <a:lnTo>
                  <a:pt x="52" y="46"/>
                </a:lnTo>
                <a:lnTo>
                  <a:pt x="55" y="43"/>
                </a:lnTo>
                <a:lnTo>
                  <a:pt x="57" y="39"/>
                </a:lnTo>
                <a:lnTo>
                  <a:pt x="58" y="36"/>
                </a:lnTo>
                <a:lnTo>
                  <a:pt x="58" y="33"/>
                </a:lnTo>
                <a:lnTo>
                  <a:pt x="60" y="29"/>
                </a:lnTo>
                <a:lnTo>
                  <a:pt x="60" y="24"/>
                </a:lnTo>
                <a:close/>
                <a:moveTo>
                  <a:pt x="17" y="0"/>
                </a:moveTo>
                <a:lnTo>
                  <a:pt x="14" y="1"/>
                </a:lnTo>
                <a:lnTo>
                  <a:pt x="10" y="3"/>
                </a:lnTo>
                <a:lnTo>
                  <a:pt x="7" y="6"/>
                </a:lnTo>
                <a:lnTo>
                  <a:pt x="5" y="9"/>
                </a:lnTo>
                <a:lnTo>
                  <a:pt x="4" y="13"/>
                </a:lnTo>
                <a:lnTo>
                  <a:pt x="2" y="16"/>
                </a:lnTo>
                <a:lnTo>
                  <a:pt x="0" y="21"/>
                </a:lnTo>
                <a:lnTo>
                  <a:pt x="0" y="24"/>
                </a:lnTo>
                <a:lnTo>
                  <a:pt x="0" y="29"/>
                </a:lnTo>
                <a:lnTo>
                  <a:pt x="2" y="33"/>
                </a:lnTo>
                <a:lnTo>
                  <a:pt x="2" y="36"/>
                </a:lnTo>
                <a:lnTo>
                  <a:pt x="4" y="39"/>
                </a:lnTo>
                <a:lnTo>
                  <a:pt x="7" y="43"/>
                </a:lnTo>
                <a:lnTo>
                  <a:pt x="9" y="46"/>
                </a:lnTo>
                <a:lnTo>
                  <a:pt x="12" y="48"/>
                </a:lnTo>
                <a:lnTo>
                  <a:pt x="15" y="51"/>
                </a:lnTo>
                <a:lnTo>
                  <a:pt x="22" y="51"/>
                </a:lnTo>
                <a:lnTo>
                  <a:pt x="19" y="49"/>
                </a:lnTo>
                <a:lnTo>
                  <a:pt x="15" y="46"/>
                </a:lnTo>
                <a:lnTo>
                  <a:pt x="12" y="44"/>
                </a:lnTo>
                <a:lnTo>
                  <a:pt x="9" y="41"/>
                </a:lnTo>
                <a:lnTo>
                  <a:pt x="7" y="38"/>
                </a:lnTo>
                <a:lnTo>
                  <a:pt x="5" y="33"/>
                </a:lnTo>
                <a:lnTo>
                  <a:pt x="4" y="29"/>
                </a:lnTo>
                <a:lnTo>
                  <a:pt x="4" y="24"/>
                </a:lnTo>
                <a:lnTo>
                  <a:pt x="4" y="19"/>
                </a:lnTo>
                <a:lnTo>
                  <a:pt x="5" y="16"/>
                </a:lnTo>
                <a:lnTo>
                  <a:pt x="7" y="11"/>
                </a:lnTo>
                <a:lnTo>
                  <a:pt x="10" y="8"/>
                </a:lnTo>
                <a:lnTo>
                  <a:pt x="14" y="4"/>
                </a:lnTo>
                <a:lnTo>
                  <a:pt x="17" y="1"/>
                </a:lnTo>
                <a:lnTo>
                  <a:pt x="22" y="0"/>
                </a:lnTo>
                <a:lnTo>
                  <a:pt x="27" y="0"/>
                </a:lnTo>
                <a:lnTo>
                  <a:pt x="17" y="0"/>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35" name="Freeform 2040">
            <a:extLst>
              <a:ext uri="{FF2B5EF4-FFF2-40B4-BE49-F238E27FC236}">
                <a16:creationId xmlns:a16="http://schemas.microsoft.com/office/drawing/2014/main" id="{03E7BC2F-2029-CA99-EE2E-470561A2F61B}"/>
              </a:ext>
            </a:extLst>
          </p:cNvPr>
          <p:cNvSpPr>
            <a:spLocks noEditPoints="1"/>
          </p:cNvSpPr>
          <p:nvPr/>
        </p:nvSpPr>
        <p:spPr bwMode="auto">
          <a:xfrm>
            <a:off x="2513013" y="2719388"/>
            <a:ext cx="88900" cy="80963"/>
          </a:xfrm>
          <a:custGeom>
            <a:avLst/>
            <a:gdLst>
              <a:gd name="T0" fmla="*/ 56 w 56"/>
              <a:gd name="T1" fmla="*/ 21 h 51"/>
              <a:gd name="T2" fmla="*/ 53 w 56"/>
              <a:gd name="T3" fmla="*/ 13 h 51"/>
              <a:gd name="T4" fmla="*/ 48 w 56"/>
              <a:gd name="T5" fmla="*/ 6 h 51"/>
              <a:gd name="T6" fmla="*/ 43 w 56"/>
              <a:gd name="T7" fmla="*/ 1 h 51"/>
              <a:gd name="T8" fmla="*/ 18 w 56"/>
              <a:gd name="T9" fmla="*/ 0 h 51"/>
              <a:gd name="T10" fmla="*/ 12 w 56"/>
              <a:gd name="T11" fmla="*/ 3 h 51"/>
              <a:gd name="T12" fmla="*/ 5 w 56"/>
              <a:gd name="T13" fmla="*/ 9 h 51"/>
              <a:gd name="T14" fmla="*/ 2 w 56"/>
              <a:gd name="T15" fmla="*/ 16 h 51"/>
              <a:gd name="T16" fmla="*/ 0 w 56"/>
              <a:gd name="T17" fmla="*/ 24 h 51"/>
              <a:gd name="T18" fmla="*/ 2 w 56"/>
              <a:gd name="T19" fmla="*/ 33 h 51"/>
              <a:gd name="T20" fmla="*/ 5 w 56"/>
              <a:gd name="T21" fmla="*/ 39 h 51"/>
              <a:gd name="T22" fmla="*/ 10 w 56"/>
              <a:gd name="T23" fmla="*/ 46 h 51"/>
              <a:gd name="T24" fmla="*/ 17 w 56"/>
              <a:gd name="T25" fmla="*/ 51 h 51"/>
              <a:gd name="T26" fmla="*/ 45 w 56"/>
              <a:gd name="T27" fmla="*/ 48 h 51"/>
              <a:gd name="T28" fmla="*/ 50 w 56"/>
              <a:gd name="T29" fmla="*/ 43 h 51"/>
              <a:gd name="T30" fmla="*/ 55 w 56"/>
              <a:gd name="T31" fmla="*/ 36 h 51"/>
              <a:gd name="T32" fmla="*/ 56 w 56"/>
              <a:gd name="T33" fmla="*/ 29 h 51"/>
              <a:gd name="T34" fmla="*/ 53 w 56"/>
              <a:gd name="T35" fmla="*/ 24 h 51"/>
              <a:gd name="T36" fmla="*/ 51 w 56"/>
              <a:gd name="T37" fmla="*/ 34 h 51"/>
              <a:gd name="T38" fmla="*/ 46 w 56"/>
              <a:gd name="T39" fmla="*/ 43 h 51"/>
              <a:gd name="T40" fmla="*/ 38 w 56"/>
              <a:gd name="T41" fmla="*/ 48 h 51"/>
              <a:gd name="T42" fmla="*/ 28 w 56"/>
              <a:gd name="T43" fmla="*/ 49 h 51"/>
              <a:gd name="T44" fmla="*/ 18 w 56"/>
              <a:gd name="T45" fmla="*/ 48 h 51"/>
              <a:gd name="T46" fmla="*/ 12 w 56"/>
              <a:gd name="T47" fmla="*/ 43 h 51"/>
              <a:gd name="T48" fmla="*/ 5 w 56"/>
              <a:gd name="T49" fmla="*/ 34 h 51"/>
              <a:gd name="T50" fmla="*/ 3 w 56"/>
              <a:gd name="T51" fmla="*/ 24 h 51"/>
              <a:gd name="T52" fmla="*/ 5 w 56"/>
              <a:gd name="T53" fmla="*/ 16 h 51"/>
              <a:gd name="T54" fmla="*/ 12 w 56"/>
              <a:gd name="T55" fmla="*/ 8 h 51"/>
              <a:gd name="T56" fmla="*/ 18 w 56"/>
              <a:gd name="T57" fmla="*/ 3 h 51"/>
              <a:gd name="T58" fmla="*/ 28 w 56"/>
              <a:gd name="T59" fmla="*/ 0 h 51"/>
              <a:gd name="T60" fmla="*/ 38 w 56"/>
              <a:gd name="T61" fmla="*/ 3 h 51"/>
              <a:gd name="T62" fmla="*/ 46 w 56"/>
              <a:gd name="T63" fmla="*/ 8 h 51"/>
              <a:gd name="T64" fmla="*/ 51 w 56"/>
              <a:gd name="T65" fmla="*/ 16 h 51"/>
              <a:gd name="T66" fmla="*/ 53 w 56"/>
              <a:gd name="T67" fmla="*/ 2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6" h="51">
                <a:moveTo>
                  <a:pt x="56" y="24"/>
                </a:moveTo>
                <a:lnTo>
                  <a:pt x="56" y="21"/>
                </a:lnTo>
                <a:lnTo>
                  <a:pt x="55" y="16"/>
                </a:lnTo>
                <a:lnTo>
                  <a:pt x="53" y="13"/>
                </a:lnTo>
                <a:lnTo>
                  <a:pt x="51" y="9"/>
                </a:lnTo>
                <a:lnTo>
                  <a:pt x="48" y="6"/>
                </a:lnTo>
                <a:lnTo>
                  <a:pt x="46" y="3"/>
                </a:lnTo>
                <a:lnTo>
                  <a:pt x="43" y="1"/>
                </a:lnTo>
                <a:lnTo>
                  <a:pt x="38" y="0"/>
                </a:lnTo>
                <a:lnTo>
                  <a:pt x="18" y="0"/>
                </a:lnTo>
                <a:lnTo>
                  <a:pt x="15" y="1"/>
                </a:lnTo>
                <a:lnTo>
                  <a:pt x="12" y="3"/>
                </a:lnTo>
                <a:lnTo>
                  <a:pt x="8" y="6"/>
                </a:lnTo>
                <a:lnTo>
                  <a:pt x="5" y="9"/>
                </a:lnTo>
                <a:lnTo>
                  <a:pt x="3" y="13"/>
                </a:lnTo>
                <a:lnTo>
                  <a:pt x="2" y="16"/>
                </a:lnTo>
                <a:lnTo>
                  <a:pt x="0" y="21"/>
                </a:lnTo>
                <a:lnTo>
                  <a:pt x="0" y="24"/>
                </a:lnTo>
                <a:lnTo>
                  <a:pt x="0" y="29"/>
                </a:lnTo>
                <a:lnTo>
                  <a:pt x="2" y="33"/>
                </a:lnTo>
                <a:lnTo>
                  <a:pt x="3" y="36"/>
                </a:lnTo>
                <a:lnTo>
                  <a:pt x="5" y="39"/>
                </a:lnTo>
                <a:lnTo>
                  <a:pt x="7" y="43"/>
                </a:lnTo>
                <a:lnTo>
                  <a:pt x="10" y="46"/>
                </a:lnTo>
                <a:lnTo>
                  <a:pt x="13" y="48"/>
                </a:lnTo>
                <a:lnTo>
                  <a:pt x="17" y="51"/>
                </a:lnTo>
                <a:lnTo>
                  <a:pt x="41" y="51"/>
                </a:lnTo>
                <a:lnTo>
                  <a:pt x="45" y="48"/>
                </a:lnTo>
                <a:lnTo>
                  <a:pt x="46" y="46"/>
                </a:lnTo>
                <a:lnTo>
                  <a:pt x="50" y="43"/>
                </a:lnTo>
                <a:lnTo>
                  <a:pt x="51" y="39"/>
                </a:lnTo>
                <a:lnTo>
                  <a:pt x="55" y="36"/>
                </a:lnTo>
                <a:lnTo>
                  <a:pt x="55" y="33"/>
                </a:lnTo>
                <a:lnTo>
                  <a:pt x="56" y="29"/>
                </a:lnTo>
                <a:lnTo>
                  <a:pt x="56" y="24"/>
                </a:lnTo>
                <a:close/>
                <a:moveTo>
                  <a:pt x="53" y="24"/>
                </a:moveTo>
                <a:lnTo>
                  <a:pt x="53" y="29"/>
                </a:lnTo>
                <a:lnTo>
                  <a:pt x="51" y="34"/>
                </a:lnTo>
                <a:lnTo>
                  <a:pt x="48" y="39"/>
                </a:lnTo>
                <a:lnTo>
                  <a:pt x="46" y="43"/>
                </a:lnTo>
                <a:lnTo>
                  <a:pt x="41" y="46"/>
                </a:lnTo>
                <a:lnTo>
                  <a:pt x="38" y="48"/>
                </a:lnTo>
                <a:lnTo>
                  <a:pt x="33" y="49"/>
                </a:lnTo>
                <a:lnTo>
                  <a:pt x="28" y="49"/>
                </a:lnTo>
                <a:lnTo>
                  <a:pt x="23" y="49"/>
                </a:lnTo>
                <a:lnTo>
                  <a:pt x="18" y="48"/>
                </a:lnTo>
                <a:lnTo>
                  <a:pt x="15" y="46"/>
                </a:lnTo>
                <a:lnTo>
                  <a:pt x="12" y="43"/>
                </a:lnTo>
                <a:lnTo>
                  <a:pt x="8" y="39"/>
                </a:lnTo>
                <a:lnTo>
                  <a:pt x="5" y="34"/>
                </a:lnTo>
                <a:lnTo>
                  <a:pt x="3" y="29"/>
                </a:lnTo>
                <a:lnTo>
                  <a:pt x="3" y="24"/>
                </a:lnTo>
                <a:lnTo>
                  <a:pt x="3" y="19"/>
                </a:lnTo>
                <a:lnTo>
                  <a:pt x="5" y="16"/>
                </a:lnTo>
                <a:lnTo>
                  <a:pt x="8" y="11"/>
                </a:lnTo>
                <a:lnTo>
                  <a:pt x="12" y="8"/>
                </a:lnTo>
                <a:lnTo>
                  <a:pt x="15" y="4"/>
                </a:lnTo>
                <a:lnTo>
                  <a:pt x="18" y="3"/>
                </a:lnTo>
                <a:lnTo>
                  <a:pt x="23" y="1"/>
                </a:lnTo>
                <a:lnTo>
                  <a:pt x="28" y="0"/>
                </a:lnTo>
                <a:lnTo>
                  <a:pt x="33" y="1"/>
                </a:lnTo>
                <a:lnTo>
                  <a:pt x="38" y="3"/>
                </a:lnTo>
                <a:lnTo>
                  <a:pt x="41" y="4"/>
                </a:lnTo>
                <a:lnTo>
                  <a:pt x="46" y="8"/>
                </a:lnTo>
                <a:lnTo>
                  <a:pt x="48" y="11"/>
                </a:lnTo>
                <a:lnTo>
                  <a:pt x="51" y="16"/>
                </a:lnTo>
                <a:lnTo>
                  <a:pt x="53" y="19"/>
                </a:lnTo>
                <a:lnTo>
                  <a:pt x="53" y="24"/>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36" name="Freeform 2041">
            <a:extLst>
              <a:ext uri="{FF2B5EF4-FFF2-40B4-BE49-F238E27FC236}">
                <a16:creationId xmlns:a16="http://schemas.microsoft.com/office/drawing/2014/main" id="{2548A4BB-F6AB-70C7-294F-F5662ACC4DF6}"/>
              </a:ext>
            </a:extLst>
          </p:cNvPr>
          <p:cNvSpPr>
            <a:spLocks noEditPoints="1"/>
          </p:cNvSpPr>
          <p:nvPr/>
        </p:nvSpPr>
        <p:spPr bwMode="auto">
          <a:xfrm>
            <a:off x="2516188" y="2719388"/>
            <a:ext cx="84138" cy="80963"/>
          </a:xfrm>
          <a:custGeom>
            <a:avLst/>
            <a:gdLst>
              <a:gd name="T0" fmla="*/ 53 w 53"/>
              <a:gd name="T1" fmla="*/ 19 h 51"/>
              <a:gd name="T2" fmla="*/ 49 w 53"/>
              <a:gd name="T3" fmla="*/ 11 h 51"/>
              <a:gd name="T4" fmla="*/ 43 w 53"/>
              <a:gd name="T5" fmla="*/ 4 h 51"/>
              <a:gd name="T6" fmla="*/ 34 w 53"/>
              <a:gd name="T7" fmla="*/ 0 h 51"/>
              <a:gd name="T8" fmla="*/ 23 w 53"/>
              <a:gd name="T9" fmla="*/ 0 h 51"/>
              <a:gd name="T10" fmla="*/ 13 w 53"/>
              <a:gd name="T11" fmla="*/ 1 h 51"/>
              <a:gd name="T12" fmla="*/ 6 w 53"/>
              <a:gd name="T13" fmla="*/ 8 h 51"/>
              <a:gd name="T14" fmla="*/ 1 w 53"/>
              <a:gd name="T15" fmla="*/ 16 h 51"/>
              <a:gd name="T16" fmla="*/ 0 w 53"/>
              <a:gd name="T17" fmla="*/ 24 h 51"/>
              <a:gd name="T18" fmla="*/ 1 w 53"/>
              <a:gd name="T19" fmla="*/ 33 h 51"/>
              <a:gd name="T20" fmla="*/ 5 w 53"/>
              <a:gd name="T21" fmla="*/ 41 h 51"/>
              <a:gd name="T22" fmla="*/ 11 w 53"/>
              <a:gd name="T23" fmla="*/ 46 h 51"/>
              <a:gd name="T24" fmla="*/ 18 w 53"/>
              <a:gd name="T25" fmla="*/ 51 h 51"/>
              <a:gd name="T26" fmla="*/ 38 w 53"/>
              <a:gd name="T27" fmla="*/ 49 h 51"/>
              <a:gd name="T28" fmla="*/ 44 w 53"/>
              <a:gd name="T29" fmla="*/ 44 h 51"/>
              <a:gd name="T30" fmla="*/ 49 w 53"/>
              <a:gd name="T31" fmla="*/ 38 h 51"/>
              <a:gd name="T32" fmla="*/ 53 w 53"/>
              <a:gd name="T33" fmla="*/ 29 h 51"/>
              <a:gd name="T34" fmla="*/ 49 w 53"/>
              <a:gd name="T35" fmla="*/ 24 h 51"/>
              <a:gd name="T36" fmla="*/ 48 w 53"/>
              <a:gd name="T37" fmla="*/ 34 h 51"/>
              <a:gd name="T38" fmla="*/ 43 w 53"/>
              <a:gd name="T39" fmla="*/ 41 h 51"/>
              <a:gd name="T40" fmla="*/ 36 w 53"/>
              <a:gd name="T41" fmla="*/ 46 h 51"/>
              <a:gd name="T42" fmla="*/ 26 w 53"/>
              <a:gd name="T43" fmla="*/ 48 h 51"/>
              <a:gd name="T44" fmla="*/ 18 w 53"/>
              <a:gd name="T45" fmla="*/ 46 h 51"/>
              <a:gd name="T46" fmla="*/ 10 w 53"/>
              <a:gd name="T47" fmla="*/ 41 h 51"/>
              <a:gd name="T48" fmla="*/ 5 w 53"/>
              <a:gd name="T49" fmla="*/ 34 h 51"/>
              <a:gd name="T50" fmla="*/ 3 w 53"/>
              <a:gd name="T51" fmla="*/ 24 h 51"/>
              <a:gd name="T52" fmla="*/ 5 w 53"/>
              <a:gd name="T53" fmla="*/ 16 h 51"/>
              <a:gd name="T54" fmla="*/ 10 w 53"/>
              <a:gd name="T55" fmla="*/ 9 h 51"/>
              <a:gd name="T56" fmla="*/ 18 w 53"/>
              <a:gd name="T57" fmla="*/ 4 h 51"/>
              <a:gd name="T58" fmla="*/ 26 w 53"/>
              <a:gd name="T59" fmla="*/ 1 h 51"/>
              <a:gd name="T60" fmla="*/ 36 w 53"/>
              <a:gd name="T61" fmla="*/ 4 h 51"/>
              <a:gd name="T62" fmla="*/ 43 w 53"/>
              <a:gd name="T63" fmla="*/ 9 h 51"/>
              <a:gd name="T64" fmla="*/ 48 w 53"/>
              <a:gd name="T65" fmla="*/ 16 h 51"/>
              <a:gd name="T66" fmla="*/ 49 w 53"/>
              <a:gd name="T67" fmla="*/ 24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3" h="51">
                <a:moveTo>
                  <a:pt x="53" y="24"/>
                </a:moveTo>
                <a:lnTo>
                  <a:pt x="53" y="19"/>
                </a:lnTo>
                <a:lnTo>
                  <a:pt x="51" y="16"/>
                </a:lnTo>
                <a:lnTo>
                  <a:pt x="49" y="11"/>
                </a:lnTo>
                <a:lnTo>
                  <a:pt x="46" y="8"/>
                </a:lnTo>
                <a:lnTo>
                  <a:pt x="43" y="4"/>
                </a:lnTo>
                <a:lnTo>
                  <a:pt x="39" y="1"/>
                </a:lnTo>
                <a:lnTo>
                  <a:pt x="34" y="0"/>
                </a:lnTo>
                <a:lnTo>
                  <a:pt x="29" y="0"/>
                </a:lnTo>
                <a:lnTo>
                  <a:pt x="23" y="0"/>
                </a:lnTo>
                <a:lnTo>
                  <a:pt x="18" y="0"/>
                </a:lnTo>
                <a:lnTo>
                  <a:pt x="13" y="1"/>
                </a:lnTo>
                <a:lnTo>
                  <a:pt x="10" y="4"/>
                </a:lnTo>
                <a:lnTo>
                  <a:pt x="6" y="8"/>
                </a:lnTo>
                <a:lnTo>
                  <a:pt x="3" y="11"/>
                </a:lnTo>
                <a:lnTo>
                  <a:pt x="1" y="16"/>
                </a:lnTo>
                <a:lnTo>
                  <a:pt x="0" y="19"/>
                </a:lnTo>
                <a:lnTo>
                  <a:pt x="0" y="24"/>
                </a:lnTo>
                <a:lnTo>
                  <a:pt x="0" y="29"/>
                </a:lnTo>
                <a:lnTo>
                  <a:pt x="1" y="33"/>
                </a:lnTo>
                <a:lnTo>
                  <a:pt x="3" y="38"/>
                </a:lnTo>
                <a:lnTo>
                  <a:pt x="5" y="41"/>
                </a:lnTo>
                <a:lnTo>
                  <a:pt x="8" y="44"/>
                </a:lnTo>
                <a:lnTo>
                  <a:pt x="11" y="46"/>
                </a:lnTo>
                <a:lnTo>
                  <a:pt x="15" y="49"/>
                </a:lnTo>
                <a:lnTo>
                  <a:pt x="18" y="51"/>
                </a:lnTo>
                <a:lnTo>
                  <a:pt x="34" y="51"/>
                </a:lnTo>
                <a:lnTo>
                  <a:pt x="38" y="49"/>
                </a:lnTo>
                <a:lnTo>
                  <a:pt x="41" y="46"/>
                </a:lnTo>
                <a:lnTo>
                  <a:pt x="44" y="44"/>
                </a:lnTo>
                <a:lnTo>
                  <a:pt x="48" y="41"/>
                </a:lnTo>
                <a:lnTo>
                  <a:pt x="49" y="38"/>
                </a:lnTo>
                <a:lnTo>
                  <a:pt x="51" y="33"/>
                </a:lnTo>
                <a:lnTo>
                  <a:pt x="53" y="29"/>
                </a:lnTo>
                <a:lnTo>
                  <a:pt x="53" y="24"/>
                </a:lnTo>
                <a:close/>
                <a:moveTo>
                  <a:pt x="49" y="24"/>
                </a:moveTo>
                <a:lnTo>
                  <a:pt x="49" y="29"/>
                </a:lnTo>
                <a:lnTo>
                  <a:pt x="48" y="34"/>
                </a:lnTo>
                <a:lnTo>
                  <a:pt x="46" y="38"/>
                </a:lnTo>
                <a:lnTo>
                  <a:pt x="43" y="41"/>
                </a:lnTo>
                <a:lnTo>
                  <a:pt x="39" y="44"/>
                </a:lnTo>
                <a:lnTo>
                  <a:pt x="36" y="46"/>
                </a:lnTo>
                <a:lnTo>
                  <a:pt x="31" y="48"/>
                </a:lnTo>
                <a:lnTo>
                  <a:pt x="26" y="48"/>
                </a:lnTo>
                <a:lnTo>
                  <a:pt x="21" y="48"/>
                </a:lnTo>
                <a:lnTo>
                  <a:pt x="18" y="46"/>
                </a:lnTo>
                <a:lnTo>
                  <a:pt x="13" y="44"/>
                </a:lnTo>
                <a:lnTo>
                  <a:pt x="10" y="41"/>
                </a:lnTo>
                <a:lnTo>
                  <a:pt x="8" y="38"/>
                </a:lnTo>
                <a:lnTo>
                  <a:pt x="5" y="34"/>
                </a:lnTo>
                <a:lnTo>
                  <a:pt x="3" y="29"/>
                </a:lnTo>
                <a:lnTo>
                  <a:pt x="3" y="24"/>
                </a:lnTo>
                <a:lnTo>
                  <a:pt x="3" y="21"/>
                </a:lnTo>
                <a:lnTo>
                  <a:pt x="5" y="16"/>
                </a:lnTo>
                <a:lnTo>
                  <a:pt x="8" y="13"/>
                </a:lnTo>
                <a:lnTo>
                  <a:pt x="10" y="9"/>
                </a:lnTo>
                <a:lnTo>
                  <a:pt x="13" y="6"/>
                </a:lnTo>
                <a:lnTo>
                  <a:pt x="18" y="4"/>
                </a:lnTo>
                <a:lnTo>
                  <a:pt x="21" y="3"/>
                </a:lnTo>
                <a:lnTo>
                  <a:pt x="26" y="1"/>
                </a:lnTo>
                <a:lnTo>
                  <a:pt x="31" y="3"/>
                </a:lnTo>
                <a:lnTo>
                  <a:pt x="36" y="4"/>
                </a:lnTo>
                <a:lnTo>
                  <a:pt x="39" y="6"/>
                </a:lnTo>
                <a:lnTo>
                  <a:pt x="43" y="9"/>
                </a:lnTo>
                <a:lnTo>
                  <a:pt x="46" y="13"/>
                </a:lnTo>
                <a:lnTo>
                  <a:pt x="48" y="16"/>
                </a:lnTo>
                <a:lnTo>
                  <a:pt x="49" y="21"/>
                </a:lnTo>
                <a:lnTo>
                  <a:pt x="49" y="24"/>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37" name="Freeform 2042">
            <a:extLst>
              <a:ext uri="{FF2B5EF4-FFF2-40B4-BE49-F238E27FC236}">
                <a16:creationId xmlns:a16="http://schemas.microsoft.com/office/drawing/2014/main" id="{12FD8E9B-3B0E-A9C3-075F-BE77D378954E}"/>
              </a:ext>
            </a:extLst>
          </p:cNvPr>
          <p:cNvSpPr>
            <a:spLocks noEditPoints="1"/>
          </p:cNvSpPr>
          <p:nvPr/>
        </p:nvSpPr>
        <p:spPr bwMode="auto">
          <a:xfrm>
            <a:off x="2517775" y="2719388"/>
            <a:ext cx="79375" cy="77788"/>
          </a:xfrm>
          <a:custGeom>
            <a:avLst/>
            <a:gdLst>
              <a:gd name="T0" fmla="*/ 50 w 50"/>
              <a:gd name="T1" fmla="*/ 19 h 49"/>
              <a:gd name="T2" fmla="*/ 45 w 50"/>
              <a:gd name="T3" fmla="*/ 11 h 49"/>
              <a:gd name="T4" fmla="*/ 38 w 50"/>
              <a:gd name="T5" fmla="*/ 4 h 49"/>
              <a:gd name="T6" fmla="*/ 30 w 50"/>
              <a:gd name="T7" fmla="*/ 1 h 49"/>
              <a:gd name="T8" fmla="*/ 20 w 50"/>
              <a:gd name="T9" fmla="*/ 1 h 49"/>
              <a:gd name="T10" fmla="*/ 12 w 50"/>
              <a:gd name="T11" fmla="*/ 4 h 49"/>
              <a:gd name="T12" fmla="*/ 5 w 50"/>
              <a:gd name="T13" fmla="*/ 11 h 49"/>
              <a:gd name="T14" fmla="*/ 0 w 50"/>
              <a:gd name="T15" fmla="*/ 19 h 49"/>
              <a:gd name="T16" fmla="*/ 0 w 50"/>
              <a:gd name="T17" fmla="*/ 29 h 49"/>
              <a:gd name="T18" fmla="*/ 5 w 50"/>
              <a:gd name="T19" fmla="*/ 39 h 49"/>
              <a:gd name="T20" fmla="*/ 12 w 50"/>
              <a:gd name="T21" fmla="*/ 46 h 49"/>
              <a:gd name="T22" fmla="*/ 20 w 50"/>
              <a:gd name="T23" fmla="*/ 49 h 49"/>
              <a:gd name="T24" fmla="*/ 30 w 50"/>
              <a:gd name="T25" fmla="*/ 49 h 49"/>
              <a:gd name="T26" fmla="*/ 38 w 50"/>
              <a:gd name="T27" fmla="*/ 46 h 49"/>
              <a:gd name="T28" fmla="*/ 45 w 50"/>
              <a:gd name="T29" fmla="*/ 39 h 49"/>
              <a:gd name="T30" fmla="*/ 50 w 50"/>
              <a:gd name="T31" fmla="*/ 29 h 49"/>
              <a:gd name="T32" fmla="*/ 47 w 50"/>
              <a:gd name="T33" fmla="*/ 24 h 49"/>
              <a:gd name="T34" fmla="*/ 45 w 50"/>
              <a:gd name="T35" fmla="*/ 33 h 49"/>
              <a:gd name="T36" fmla="*/ 40 w 50"/>
              <a:gd name="T37" fmla="*/ 41 h 49"/>
              <a:gd name="T38" fmla="*/ 33 w 50"/>
              <a:gd name="T39" fmla="*/ 44 h 49"/>
              <a:gd name="T40" fmla="*/ 25 w 50"/>
              <a:gd name="T41" fmla="*/ 46 h 49"/>
              <a:gd name="T42" fmla="*/ 17 w 50"/>
              <a:gd name="T43" fmla="*/ 44 h 49"/>
              <a:gd name="T44" fmla="*/ 10 w 50"/>
              <a:gd name="T45" fmla="*/ 41 h 49"/>
              <a:gd name="T46" fmla="*/ 5 w 50"/>
              <a:gd name="T47" fmla="*/ 33 h 49"/>
              <a:gd name="T48" fmla="*/ 4 w 50"/>
              <a:gd name="T49" fmla="*/ 24 h 49"/>
              <a:gd name="T50" fmla="*/ 5 w 50"/>
              <a:gd name="T51" fmla="*/ 16 h 49"/>
              <a:gd name="T52" fmla="*/ 10 w 50"/>
              <a:gd name="T53" fmla="*/ 9 h 49"/>
              <a:gd name="T54" fmla="*/ 17 w 50"/>
              <a:gd name="T55" fmla="*/ 4 h 49"/>
              <a:gd name="T56" fmla="*/ 25 w 50"/>
              <a:gd name="T57" fmla="*/ 3 h 49"/>
              <a:gd name="T58" fmla="*/ 33 w 50"/>
              <a:gd name="T59" fmla="*/ 4 h 49"/>
              <a:gd name="T60" fmla="*/ 40 w 50"/>
              <a:gd name="T61" fmla="*/ 9 h 49"/>
              <a:gd name="T62" fmla="*/ 45 w 50"/>
              <a:gd name="T63" fmla="*/ 16 h 49"/>
              <a:gd name="T64" fmla="*/ 47 w 50"/>
              <a:gd name="T65" fmla="*/ 24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0" h="49">
                <a:moveTo>
                  <a:pt x="50" y="24"/>
                </a:moveTo>
                <a:lnTo>
                  <a:pt x="50" y="19"/>
                </a:lnTo>
                <a:lnTo>
                  <a:pt x="48" y="16"/>
                </a:lnTo>
                <a:lnTo>
                  <a:pt x="45" y="11"/>
                </a:lnTo>
                <a:lnTo>
                  <a:pt x="43" y="8"/>
                </a:lnTo>
                <a:lnTo>
                  <a:pt x="38" y="4"/>
                </a:lnTo>
                <a:lnTo>
                  <a:pt x="35" y="3"/>
                </a:lnTo>
                <a:lnTo>
                  <a:pt x="30" y="1"/>
                </a:lnTo>
                <a:lnTo>
                  <a:pt x="25" y="0"/>
                </a:lnTo>
                <a:lnTo>
                  <a:pt x="20" y="1"/>
                </a:lnTo>
                <a:lnTo>
                  <a:pt x="15" y="3"/>
                </a:lnTo>
                <a:lnTo>
                  <a:pt x="12" y="4"/>
                </a:lnTo>
                <a:lnTo>
                  <a:pt x="9" y="8"/>
                </a:lnTo>
                <a:lnTo>
                  <a:pt x="5" y="11"/>
                </a:lnTo>
                <a:lnTo>
                  <a:pt x="2" y="16"/>
                </a:lnTo>
                <a:lnTo>
                  <a:pt x="0" y="19"/>
                </a:lnTo>
                <a:lnTo>
                  <a:pt x="0" y="24"/>
                </a:lnTo>
                <a:lnTo>
                  <a:pt x="0" y="29"/>
                </a:lnTo>
                <a:lnTo>
                  <a:pt x="2" y="34"/>
                </a:lnTo>
                <a:lnTo>
                  <a:pt x="5" y="39"/>
                </a:lnTo>
                <a:lnTo>
                  <a:pt x="9" y="43"/>
                </a:lnTo>
                <a:lnTo>
                  <a:pt x="12" y="46"/>
                </a:lnTo>
                <a:lnTo>
                  <a:pt x="15" y="48"/>
                </a:lnTo>
                <a:lnTo>
                  <a:pt x="20" y="49"/>
                </a:lnTo>
                <a:lnTo>
                  <a:pt x="25" y="49"/>
                </a:lnTo>
                <a:lnTo>
                  <a:pt x="30" y="49"/>
                </a:lnTo>
                <a:lnTo>
                  <a:pt x="35" y="48"/>
                </a:lnTo>
                <a:lnTo>
                  <a:pt x="38" y="46"/>
                </a:lnTo>
                <a:lnTo>
                  <a:pt x="43" y="43"/>
                </a:lnTo>
                <a:lnTo>
                  <a:pt x="45" y="39"/>
                </a:lnTo>
                <a:lnTo>
                  <a:pt x="48" y="34"/>
                </a:lnTo>
                <a:lnTo>
                  <a:pt x="50" y="29"/>
                </a:lnTo>
                <a:lnTo>
                  <a:pt x="50" y="24"/>
                </a:lnTo>
                <a:close/>
                <a:moveTo>
                  <a:pt x="47" y="24"/>
                </a:moveTo>
                <a:lnTo>
                  <a:pt x="47" y="29"/>
                </a:lnTo>
                <a:lnTo>
                  <a:pt x="45" y="33"/>
                </a:lnTo>
                <a:lnTo>
                  <a:pt x="43" y="38"/>
                </a:lnTo>
                <a:lnTo>
                  <a:pt x="40" y="41"/>
                </a:lnTo>
                <a:lnTo>
                  <a:pt x="37" y="43"/>
                </a:lnTo>
                <a:lnTo>
                  <a:pt x="33" y="44"/>
                </a:lnTo>
                <a:lnTo>
                  <a:pt x="30" y="46"/>
                </a:lnTo>
                <a:lnTo>
                  <a:pt x="25" y="46"/>
                </a:lnTo>
                <a:lnTo>
                  <a:pt x="20" y="46"/>
                </a:lnTo>
                <a:lnTo>
                  <a:pt x="17" y="44"/>
                </a:lnTo>
                <a:lnTo>
                  <a:pt x="14" y="43"/>
                </a:lnTo>
                <a:lnTo>
                  <a:pt x="10" y="41"/>
                </a:lnTo>
                <a:lnTo>
                  <a:pt x="7" y="38"/>
                </a:lnTo>
                <a:lnTo>
                  <a:pt x="5" y="33"/>
                </a:lnTo>
                <a:lnTo>
                  <a:pt x="4" y="29"/>
                </a:lnTo>
                <a:lnTo>
                  <a:pt x="4" y="24"/>
                </a:lnTo>
                <a:lnTo>
                  <a:pt x="4" y="21"/>
                </a:lnTo>
                <a:lnTo>
                  <a:pt x="5" y="16"/>
                </a:lnTo>
                <a:lnTo>
                  <a:pt x="7" y="13"/>
                </a:lnTo>
                <a:lnTo>
                  <a:pt x="10" y="9"/>
                </a:lnTo>
                <a:lnTo>
                  <a:pt x="14" y="8"/>
                </a:lnTo>
                <a:lnTo>
                  <a:pt x="17" y="4"/>
                </a:lnTo>
                <a:lnTo>
                  <a:pt x="20" y="4"/>
                </a:lnTo>
                <a:lnTo>
                  <a:pt x="25" y="3"/>
                </a:lnTo>
                <a:lnTo>
                  <a:pt x="30" y="4"/>
                </a:lnTo>
                <a:lnTo>
                  <a:pt x="33" y="4"/>
                </a:lnTo>
                <a:lnTo>
                  <a:pt x="37" y="8"/>
                </a:lnTo>
                <a:lnTo>
                  <a:pt x="40" y="9"/>
                </a:lnTo>
                <a:lnTo>
                  <a:pt x="43" y="13"/>
                </a:lnTo>
                <a:lnTo>
                  <a:pt x="45" y="16"/>
                </a:lnTo>
                <a:lnTo>
                  <a:pt x="47" y="21"/>
                </a:lnTo>
                <a:lnTo>
                  <a:pt x="47" y="24"/>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38" name="Freeform 2043">
            <a:extLst>
              <a:ext uri="{FF2B5EF4-FFF2-40B4-BE49-F238E27FC236}">
                <a16:creationId xmlns:a16="http://schemas.microsoft.com/office/drawing/2014/main" id="{19183E83-0654-D671-38E6-0492A1F9E1ED}"/>
              </a:ext>
            </a:extLst>
          </p:cNvPr>
          <p:cNvSpPr>
            <a:spLocks noEditPoints="1"/>
          </p:cNvSpPr>
          <p:nvPr/>
        </p:nvSpPr>
        <p:spPr bwMode="auto">
          <a:xfrm>
            <a:off x="2520950" y="2720975"/>
            <a:ext cx="73025" cy="74613"/>
          </a:xfrm>
          <a:custGeom>
            <a:avLst/>
            <a:gdLst>
              <a:gd name="T0" fmla="*/ 46 w 46"/>
              <a:gd name="T1" fmla="*/ 20 h 47"/>
              <a:gd name="T2" fmla="*/ 43 w 46"/>
              <a:gd name="T3" fmla="*/ 12 h 47"/>
              <a:gd name="T4" fmla="*/ 36 w 46"/>
              <a:gd name="T5" fmla="*/ 5 h 47"/>
              <a:gd name="T6" fmla="*/ 28 w 46"/>
              <a:gd name="T7" fmla="*/ 2 h 47"/>
              <a:gd name="T8" fmla="*/ 18 w 46"/>
              <a:gd name="T9" fmla="*/ 2 h 47"/>
              <a:gd name="T10" fmla="*/ 10 w 46"/>
              <a:gd name="T11" fmla="*/ 5 h 47"/>
              <a:gd name="T12" fmla="*/ 5 w 46"/>
              <a:gd name="T13" fmla="*/ 12 h 47"/>
              <a:gd name="T14" fmla="*/ 0 w 46"/>
              <a:gd name="T15" fmla="*/ 20 h 47"/>
              <a:gd name="T16" fmla="*/ 0 w 46"/>
              <a:gd name="T17" fmla="*/ 28 h 47"/>
              <a:gd name="T18" fmla="*/ 5 w 46"/>
              <a:gd name="T19" fmla="*/ 37 h 47"/>
              <a:gd name="T20" fmla="*/ 10 w 46"/>
              <a:gd name="T21" fmla="*/ 43 h 47"/>
              <a:gd name="T22" fmla="*/ 18 w 46"/>
              <a:gd name="T23" fmla="*/ 47 h 47"/>
              <a:gd name="T24" fmla="*/ 28 w 46"/>
              <a:gd name="T25" fmla="*/ 47 h 47"/>
              <a:gd name="T26" fmla="*/ 36 w 46"/>
              <a:gd name="T27" fmla="*/ 43 h 47"/>
              <a:gd name="T28" fmla="*/ 43 w 46"/>
              <a:gd name="T29" fmla="*/ 37 h 47"/>
              <a:gd name="T30" fmla="*/ 46 w 46"/>
              <a:gd name="T31" fmla="*/ 28 h 47"/>
              <a:gd name="T32" fmla="*/ 43 w 46"/>
              <a:gd name="T33" fmla="*/ 23 h 47"/>
              <a:gd name="T34" fmla="*/ 41 w 46"/>
              <a:gd name="T35" fmla="*/ 32 h 47"/>
              <a:gd name="T36" fmla="*/ 38 w 46"/>
              <a:gd name="T37" fmla="*/ 38 h 47"/>
              <a:gd name="T38" fmla="*/ 31 w 46"/>
              <a:gd name="T39" fmla="*/ 42 h 47"/>
              <a:gd name="T40" fmla="*/ 23 w 46"/>
              <a:gd name="T41" fmla="*/ 43 h 47"/>
              <a:gd name="T42" fmla="*/ 15 w 46"/>
              <a:gd name="T43" fmla="*/ 42 h 47"/>
              <a:gd name="T44" fmla="*/ 10 w 46"/>
              <a:gd name="T45" fmla="*/ 38 h 47"/>
              <a:gd name="T46" fmla="*/ 5 w 46"/>
              <a:gd name="T47" fmla="*/ 32 h 47"/>
              <a:gd name="T48" fmla="*/ 3 w 46"/>
              <a:gd name="T49" fmla="*/ 23 h 47"/>
              <a:gd name="T50" fmla="*/ 5 w 46"/>
              <a:gd name="T51" fmla="*/ 17 h 47"/>
              <a:gd name="T52" fmla="*/ 10 w 46"/>
              <a:gd name="T53" fmla="*/ 10 h 47"/>
              <a:gd name="T54" fmla="*/ 15 w 46"/>
              <a:gd name="T55" fmla="*/ 5 h 47"/>
              <a:gd name="T56" fmla="*/ 23 w 46"/>
              <a:gd name="T57" fmla="*/ 3 h 47"/>
              <a:gd name="T58" fmla="*/ 31 w 46"/>
              <a:gd name="T59" fmla="*/ 5 h 47"/>
              <a:gd name="T60" fmla="*/ 38 w 46"/>
              <a:gd name="T61" fmla="*/ 10 h 47"/>
              <a:gd name="T62" fmla="*/ 41 w 46"/>
              <a:gd name="T63" fmla="*/ 17 h 47"/>
              <a:gd name="T64" fmla="*/ 43 w 46"/>
              <a:gd name="T65" fmla="*/ 23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6" h="47">
                <a:moveTo>
                  <a:pt x="46" y="23"/>
                </a:moveTo>
                <a:lnTo>
                  <a:pt x="46" y="20"/>
                </a:lnTo>
                <a:lnTo>
                  <a:pt x="45" y="15"/>
                </a:lnTo>
                <a:lnTo>
                  <a:pt x="43" y="12"/>
                </a:lnTo>
                <a:lnTo>
                  <a:pt x="40" y="8"/>
                </a:lnTo>
                <a:lnTo>
                  <a:pt x="36" y="5"/>
                </a:lnTo>
                <a:lnTo>
                  <a:pt x="33" y="3"/>
                </a:lnTo>
                <a:lnTo>
                  <a:pt x="28" y="2"/>
                </a:lnTo>
                <a:lnTo>
                  <a:pt x="23" y="0"/>
                </a:lnTo>
                <a:lnTo>
                  <a:pt x="18" y="2"/>
                </a:lnTo>
                <a:lnTo>
                  <a:pt x="15" y="3"/>
                </a:lnTo>
                <a:lnTo>
                  <a:pt x="10" y="5"/>
                </a:lnTo>
                <a:lnTo>
                  <a:pt x="7" y="8"/>
                </a:lnTo>
                <a:lnTo>
                  <a:pt x="5" y="12"/>
                </a:lnTo>
                <a:lnTo>
                  <a:pt x="2" y="15"/>
                </a:lnTo>
                <a:lnTo>
                  <a:pt x="0" y="20"/>
                </a:lnTo>
                <a:lnTo>
                  <a:pt x="0" y="23"/>
                </a:lnTo>
                <a:lnTo>
                  <a:pt x="0" y="28"/>
                </a:lnTo>
                <a:lnTo>
                  <a:pt x="2" y="33"/>
                </a:lnTo>
                <a:lnTo>
                  <a:pt x="5" y="37"/>
                </a:lnTo>
                <a:lnTo>
                  <a:pt x="7" y="40"/>
                </a:lnTo>
                <a:lnTo>
                  <a:pt x="10" y="43"/>
                </a:lnTo>
                <a:lnTo>
                  <a:pt x="15" y="45"/>
                </a:lnTo>
                <a:lnTo>
                  <a:pt x="18" y="47"/>
                </a:lnTo>
                <a:lnTo>
                  <a:pt x="23" y="47"/>
                </a:lnTo>
                <a:lnTo>
                  <a:pt x="28" y="47"/>
                </a:lnTo>
                <a:lnTo>
                  <a:pt x="33" y="45"/>
                </a:lnTo>
                <a:lnTo>
                  <a:pt x="36" y="43"/>
                </a:lnTo>
                <a:lnTo>
                  <a:pt x="40" y="40"/>
                </a:lnTo>
                <a:lnTo>
                  <a:pt x="43" y="37"/>
                </a:lnTo>
                <a:lnTo>
                  <a:pt x="45" y="33"/>
                </a:lnTo>
                <a:lnTo>
                  <a:pt x="46" y="28"/>
                </a:lnTo>
                <a:lnTo>
                  <a:pt x="46" y="23"/>
                </a:lnTo>
                <a:close/>
                <a:moveTo>
                  <a:pt x="43" y="23"/>
                </a:moveTo>
                <a:lnTo>
                  <a:pt x="43" y="28"/>
                </a:lnTo>
                <a:lnTo>
                  <a:pt x="41" y="32"/>
                </a:lnTo>
                <a:lnTo>
                  <a:pt x="40" y="35"/>
                </a:lnTo>
                <a:lnTo>
                  <a:pt x="38" y="38"/>
                </a:lnTo>
                <a:lnTo>
                  <a:pt x="35" y="40"/>
                </a:lnTo>
                <a:lnTo>
                  <a:pt x="31" y="42"/>
                </a:lnTo>
                <a:lnTo>
                  <a:pt x="26" y="43"/>
                </a:lnTo>
                <a:lnTo>
                  <a:pt x="23" y="43"/>
                </a:lnTo>
                <a:lnTo>
                  <a:pt x="20" y="43"/>
                </a:lnTo>
                <a:lnTo>
                  <a:pt x="15" y="42"/>
                </a:lnTo>
                <a:lnTo>
                  <a:pt x="12" y="40"/>
                </a:lnTo>
                <a:lnTo>
                  <a:pt x="10" y="38"/>
                </a:lnTo>
                <a:lnTo>
                  <a:pt x="7" y="35"/>
                </a:lnTo>
                <a:lnTo>
                  <a:pt x="5" y="32"/>
                </a:lnTo>
                <a:lnTo>
                  <a:pt x="3" y="28"/>
                </a:lnTo>
                <a:lnTo>
                  <a:pt x="3" y="23"/>
                </a:lnTo>
                <a:lnTo>
                  <a:pt x="3" y="20"/>
                </a:lnTo>
                <a:lnTo>
                  <a:pt x="5" y="17"/>
                </a:lnTo>
                <a:lnTo>
                  <a:pt x="7" y="13"/>
                </a:lnTo>
                <a:lnTo>
                  <a:pt x="10" y="10"/>
                </a:lnTo>
                <a:lnTo>
                  <a:pt x="12" y="8"/>
                </a:lnTo>
                <a:lnTo>
                  <a:pt x="15" y="5"/>
                </a:lnTo>
                <a:lnTo>
                  <a:pt x="20" y="5"/>
                </a:lnTo>
                <a:lnTo>
                  <a:pt x="23" y="3"/>
                </a:lnTo>
                <a:lnTo>
                  <a:pt x="26" y="5"/>
                </a:lnTo>
                <a:lnTo>
                  <a:pt x="31" y="5"/>
                </a:lnTo>
                <a:lnTo>
                  <a:pt x="35" y="8"/>
                </a:lnTo>
                <a:lnTo>
                  <a:pt x="38" y="10"/>
                </a:lnTo>
                <a:lnTo>
                  <a:pt x="40" y="13"/>
                </a:lnTo>
                <a:lnTo>
                  <a:pt x="41" y="17"/>
                </a:lnTo>
                <a:lnTo>
                  <a:pt x="43" y="20"/>
                </a:lnTo>
                <a:lnTo>
                  <a:pt x="43" y="23"/>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39" name="Freeform 2044">
            <a:extLst>
              <a:ext uri="{FF2B5EF4-FFF2-40B4-BE49-F238E27FC236}">
                <a16:creationId xmlns:a16="http://schemas.microsoft.com/office/drawing/2014/main" id="{FB1048E2-339C-7927-BB4C-AF168D7A3AF6}"/>
              </a:ext>
            </a:extLst>
          </p:cNvPr>
          <p:cNvSpPr>
            <a:spLocks noEditPoints="1"/>
          </p:cNvSpPr>
          <p:nvPr/>
        </p:nvSpPr>
        <p:spPr bwMode="auto">
          <a:xfrm>
            <a:off x="2524125" y="2724150"/>
            <a:ext cx="68263" cy="68263"/>
          </a:xfrm>
          <a:custGeom>
            <a:avLst/>
            <a:gdLst>
              <a:gd name="T0" fmla="*/ 43 w 43"/>
              <a:gd name="T1" fmla="*/ 18 h 43"/>
              <a:gd name="T2" fmla="*/ 39 w 43"/>
              <a:gd name="T3" fmla="*/ 10 h 43"/>
              <a:gd name="T4" fmla="*/ 33 w 43"/>
              <a:gd name="T5" fmla="*/ 5 h 43"/>
              <a:gd name="T6" fmla="*/ 26 w 43"/>
              <a:gd name="T7" fmla="*/ 1 h 43"/>
              <a:gd name="T8" fmla="*/ 16 w 43"/>
              <a:gd name="T9" fmla="*/ 1 h 43"/>
              <a:gd name="T10" fmla="*/ 10 w 43"/>
              <a:gd name="T11" fmla="*/ 5 h 43"/>
              <a:gd name="T12" fmla="*/ 3 w 43"/>
              <a:gd name="T13" fmla="*/ 10 h 43"/>
              <a:gd name="T14" fmla="*/ 0 w 43"/>
              <a:gd name="T15" fmla="*/ 18 h 43"/>
              <a:gd name="T16" fmla="*/ 0 w 43"/>
              <a:gd name="T17" fmla="*/ 26 h 43"/>
              <a:gd name="T18" fmla="*/ 3 w 43"/>
              <a:gd name="T19" fmla="*/ 35 h 43"/>
              <a:gd name="T20" fmla="*/ 10 w 43"/>
              <a:gd name="T21" fmla="*/ 40 h 43"/>
              <a:gd name="T22" fmla="*/ 16 w 43"/>
              <a:gd name="T23" fmla="*/ 43 h 43"/>
              <a:gd name="T24" fmla="*/ 26 w 43"/>
              <a:gd name="T25" fmla="*/ 43 h 43"/>
              <a:gd name="T26" fmla="*/ 33 w 43"/>
              <a:gd name="T27" fmla="*/ 40 h 43"/>
              <a:gd name="T28" fmla="*/ 39 w 43"/>
              <a:gd name="T29" fmla="*/ 35 h 43"/>
              <a:gd name="T30" fmla="*/ 43 w 43"/>
              <a:gd name="T31" fmla="*/ 26 h 43"/>
              <a:gd name="T32" fmla="*/ 39 w 43"/>
              <a:gd name="T33" fmla="*/ 21 h 43"/>
              <a:gd name="T34" fmla="*/ 38 w 43"/>
              <a:gd name="T35" fmla="*/ 30 h 43"/>
              <a:gd name="T36" fmla="*/ 34 w 43"/>
              <a:gd name="T37" fmla="*/ 35 h 43"/>
              <a:gd name="T38" fmla="*/ 28 w 43"/>
              <a:gd name="T39" fmla="*/ 40 h 43"/>
              <a:gd name="T40" fmla="*/ 21 w 43"/>
              <a:gd name="T41" fmla="*/ 40 h 43"/>
              <a:gd name="T42" fmla="*/ 15 w 43"/>
              <a:gd name="T43" fmla="*/ 40 h 43"/>
              <a:gd name="T44" fmla="*/ 8 w 43"/>
              <a:gd name="T45" fmla="*/ 35 h 43"/>
              <a:gd name="T46" fmla="*/ 5 w 43"/>
              <a:gd name="T47" fmla="*/ 30 h 43"/>
              <a:gd name="T48" fmla="*/ 3 w 43"/>
              <a:gd name="T49" fmla="*/ 21 h 43"/>
              <a:gd name="T50" fmla="*/ 5 w 43"/>
              <a:gd name="T51" fmla="*/ 15 h 43"/>
              <a:gd name="T52" fmla="*/ 8 w 43"/>
              <a:gd name="T53" fmla="*/ 10 h 43"/>
              <a:gd name="T54" fmla="*/ 15 w 43"/>
              <a:gd name="T55" fmla="*/ 5 h 43"/>
              <a:gd name="T56" fmla="*/ 21 w 43"/>
              <a:gd name="T57" fmla="*/ 3 h 43"/>
              <a:gd name="T58" fmla="*/ 28 w 43"/>
              <a:gd name="T59" fmla="*/ 5 h 43"/>
              <a:gd name="T60" fmla="*/ 34 w 43"/>
              <a:gd name="T61" fmla="*/ 10 h 43"/>
              <a:gd name="T62" fmla="*/ 38 w 43"/>
              <a:gd name="T63" fmla="*/ 15 h 43"/>
              <a:gd name="T64" fmla="*/ 39 w 43"/>
              <a:gd name="T65" fmla="*/ 21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3" h="43">
                <a:moveTo>
                  <a:pt x="43" y="21"/>
                </a:moveTo>
                <a:lnTo>
                  <a:pt x="43" y="18"/>
                </a:lnTo>
                <a:lnTo>
                  <a:pt x="41" y="13"/>
                </a:lnTo>
                <a:lnTo>
                  <a:pt x="39" y="10"/>
                </a:lnTo>
                <a:lnTo>
                  <a:pt x="36" y="6"/>
                </a:lnTo>
                <a:lnTo>
                  <a:pt x="33" y="5"/>
                </a:lnTo>
                <a:lnTo>
                  <a:pt x="29" y="1"/>
                </a:lnTo>
                <a:lnTo>
                  <a:pt x="26" y="1"/>
                </a:lnTo>
                <a:lnTo>
                  <a:pt x="21" y="0"/>
                </a:lnTo>
                <a:lnTo>
                  <a:pt x="16" y="1"/>
                </a:lnTo>
                <a:lnTo>
                  <a:pt x="13" y="1"/>
                </a:lnTo>
                <a:lnTo>
                  <a:pt x="10" y="5"/>
                </a:lnTo>
                <a:lnTo>
                  <a:pt x="6" y="6"/>
                </a:lnTo>
                <a:lnTo>
                  <a:pt x="3" y="10"/>
                </a:lnTo>
                <a:lnTo>
                  <a:pt x="1" y="13"/>
                </a:lnTo>
                <a:lnTo>
                  <a:pt x="0" y="18"/>
                </a:lnTo>
                <a:lnTo>
                  <a:pt x="0" y="21"/>
                </a:lnTo>
                <a:lnTo>
                  <a:pt x="0" y="26"/>
                </a:lnTo>
                <a:lnTo>
                  <a:pt x="1" y="30"/>
                </a:lnTo>
                <a:lnTo>
                  <a:pt x="3" y="35"/>
                </a:lnTo>
                <a:lnTo>
                  <a:pt x="6" y="38"/>
                </a:lnTo>
                <a:lnTo>
                  <a:pt x="10" y="40"/>
                </a:lnTo>
                <a:lnTo>
                  <a:pt x="13" y="41"/>
                </a:lnTo>
                <a:lnTo>
                  <a:pt x="16" y="43"/>
                </a:lnTo>
                <a:lnTo>
                  <a:pt x="21" y="43"/>
                </a:lnTo>
                <a:lnTo>
                  <a:pt x="26" y="43"/>
                </a:lnTo>
                <a:lnTo>
                  <a:pt x="29" y="41"/>
                </a:lnTo>
                <a:lnTo>
                  <a:pt x="33" y="40"/>
                </a:lnTo>
                <a:lnTo>
                  <a:pt x="36" y="38"/>
                </a:lnTo>
                <a:lnTo>
                  <a:pt x="39" y="35"/>
                </a:lnTo>
                <a:lnTo>
                  <a:pt x="41" y="30"/>
                </a:lnTo>
                <a:lnTo>
                  <a:pt x="43" y="26"/>
                </a:lnTo>
                <a:lnTo>
                  <a:pt x="43" y="21"/>
                </a:lnTo>
                <a:close/>
                <a:moveTo>
                  <a:pt x="39" y="21"/>
                </a:moveTo>
                <a:lnTo>
                  <a:pt x="39" y="26"/>
                </a:lnTo>
                <a:lnTo>
                  <a:pt x="38" y="30"/>
                </a:lnTo>
                <a:lnTo>
                  <a:pt x="36" y="33"/>
                </a:lnTo>
                <a:lnTo>
                  <a:pt x="34" y="35"/>
                </a:lnTo>
                <a:lnTo>
                  <a:pt x="31" y="38"/>
                </a:lnTo>
                <a:lnTo>
                  <a:pt x="28" y="40"/>
                </a:lnTo>
                <a:lnTo>
                  <a:pt x="24" y="40"/>
                </a:lnTo>
                <a:lnTo>
                  <a:pt x="21" y="40"/>
                </a:lnTo>
                <a:lnTo>
                  <a:pt x="18" y="40"/>
                </a:lnTo>
                <a:lnTo>
                  <a:pt x="15" y="40"/>
                </a:lnTo>
                <a:lnTo>
                  <a:pt x="11" y="38"/>
                </a:lnTo>
                <a:lnTo>
                  <a:pt x="8" y="35"/>
                </a:lnTo>
                <a:lnTo>
                  <a:pt x="6" y="33"/>
                </a:lnTo>
                <a:lnTo>
                  <a:pt x="5" y="30"/>
                </a:lnTo>
                <a:lnTo>
                  <a:pt x="3" y="26"/>
                </a:lnTo>
                <a:lnTo>
                  <a:pt x="3" y="21"/>
                </a:lnTo>
                <a:lnTo>
                  <a:pt x="3" y="18"/>
                </a:lnTo>
                <a:lnTo>
                  <a:pt x="5" y="15"/>
                </a:lnTo>
                <a:lnTo>
                  <a:pt x="6" y="11"/>
                </a:lnTo>
                <a:lnTo>
                  <a:pt x="8" y="10"/>
                </a:lnTo>
                <a:lnTo>
                  <a:pt x="11" y="6"/>
                </a:lnTo>
                <a:lnTo>
                  <a:pt x="15" y="5"/>
                </a:lnTo>
                <a:lnTo>
                  <a:pt x="18" y="5"/>
                </a:lnTo>
                <a:lnTo>
                  <a:pt x="21" y="3"/>
                </a:lnTo>
                <a:lnTo>
                  <a:pt x="24" y="5"/>
                </a:lnTo>
                <a:lnTo>
                  <a:pt x="28" y="5"/>
                </a:lnTo>
                <a:lnTo>
                  <a:pt x="31" y="6"/>
                </a:lnTo>
                <a:lnTo>
                  <a:pt x="34" y="10"/>
                </a:lnTo>
                <a:lnTo>
                  <a:pt x="36" y="11"/>
                </a:lnTo>
                <a:lnTo>
                  <a:pt x="38" y="15"/>
                </a:lnTo>
                <a:lnTo>
                  <a:pt x="39" y="18"/>
                </a:lnTo>
                <a:lnTo>
                  <a:pt x="39" y="21"/>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40" name="Freeform 2045">
            <a:extLst>
              <a:ext uri="{FF2B5EF4-FFF2-40B4-BE49-F238E27FC236}">
                <a16:creationId xmlns:a16="http://schemas.microsoft.com/office/drawing/2014/main" id="{21FBC96A-5824-5980-23A8-DE1737C8B9E1}"/>
              </a:ext>
            </a:extLst>
          </p:cNvPr>
          <p:cNvSpPr>
            <a:spLocks noEditPoints="1"/>
          </p:cNvSpPr>
          <p:nvPr/>
        </p:nvSpPr>
        <p:spPr bwMode="auto">
          <a:xfrm>
            <a:off x="2525713" y="2725738"/>
            <a:ext cx="63500" cy="63500"/>
          </a:xfrm>
          <a:custGeom>
            <a:avLst/>
            <a:gdLst>
              <a:gd name="T0" fmla="*/ 40 w 40"/>
              <a:gd name="T1" fmla="*/ 17 h 40"/>
              <a:gd name="T2" fmla="*/ 37 w 40"/>
              <a:gd name="T3" fmla="*/ 10 h 40"/>
              <a:gd name="T4" fmla="*/ 32 w 40"/>
              <a:gd name="T5" fmla="*/ 5 h 40"/>
              <a:gd name="T6" fmla="*/ 23 w 40"/>
              <a:gd name="T7" fmla="*/ 2 h 40"/>
              <a:gd name="T8" fmla="*/ 17 w 40"/>
              <a:gd name="T9" fmla="*/ 2 h 40"/>
              <a:gd name="T10" fmla="*/ 9 w 40"/>
              <a:gd name="T11" fmla="*/ 5 h 40"/>
              <a:gd name="T12" fmla="*/ 4 w 40"/>
              <a:gd name="T13" fmla="*/ 10 h 40"/>
              <a:gd name="T14" fmla="*/ 0 w 40"/>
              <a:gd name="T15" fmla="*/ 17 h 40"/>
              <a:gd name="T16" fmla="*/ 0 w 40"/>
              <a:gd name="T17" fmla="*/ 25 h 40"/>
              <a:gd name="T18" fmla="*/ 4 w 40"/>
              <a:gd name="T19" fmla="*/ 32 h 40"/>
              <a:gd name="T20" fmla="*/ 9 w 40"/>
              <a:gd name="T21" fmla="*/ 37 h 40"/>
              <a:gd name="T22" fmla="*/ 17 w 40"/>
              <a:gd name="T23" fmla="*/ 40 h 40"/>
              <a:gd name="T24" fmla="*/ 23 w 40"/>
              <a:gd name="T25" fmla="*/ 40 h 40"/>
              <a:gd name="T26" fmla="*/ 32 w 40"/>
              <a:gd name="T27" fmla="*/ 37 h 40"/>
              <a:gd name="T28" fmla="*/ 37 w 40"/>
              <a:gd name="T29" fmla="*/ 32 h 40"/>
              <a:gd name="T30" fmla="*/ 40 w 40"/>
              <a:gd name="T31" fmla="*/ 25 h 40"/>
              <a:gd name="T32" fmla="*/ 37 w 40"/>
              <a:gd name="T33" fmla="*/ 20 h 40"/>
              <a:gd name="T34" fmla="*/ 35 w 40"/>
              <a:gd name="T35" fmla="*/ 27 h 40"/>
              <a:gd name="T36" fmla="*/ 32 w 40"/>
              <a:gd name="T37" fmla="*/ 32 h 40"/>
              <a:gd name="T38" fmla="*/ 27 w 40"/>
              <a:gd name="T39" fmla="*/ 37 h 40"/>
              <a:gd name="T40" fmla="*/ 20 w 40"/>
              <a:gd name="T41" fmla="*/ 37 h 40"/>
              <a:gd name="T42" fmla="*/ 14 w 40"/>
              <a:gd name="T43" fmla="*/ 37 h 40"/>
              <a:gd name="T44" fmla="*/ 9 w 40"/>
              <a:gd name="T45" fmla="*/ 32 h 40"/>
              <a:gd name="T46" fmla="*/ 5 w 40"/>
              <a:gd name="T47" fmla="*/ 27 h 40"/>
              <a:gd name="T48" fmla="*/ 4 w 40"/>
              <a:gd name="T49" fmla="*/ 20 h 40"/>
              <a:gd name="T50" fmla="*/ 5 w 40"/>
              <a:gd name="T51" fmla="*/ 15 h 40"/>
              <a:gd name="T52" fmla="*/ 9 w 40"/>
              <a:gd name="T53" fmla="*/ 9 h 40"/>
              <a:gd name="T54" fmla="*/ 14 w 40"/>
              <a:gd name="T55" fmla="*/ 5 h 40"/>
              <a:gd name="T56" fmla="*/ 20 w 40"/>
              <a:gd name="T57" fmla="*/ 4 h 40"/>
              <a:gd name="T58" fmla="*/ 27 w 40"/>
              <a:gd name="T59" fmla="*/ 5 h 40"/>
              <a:gd name="T60" fmla="*/ 32 w 40"/>
              <a:gd name="T61" fmla="*/ 9 h 40"/>
              <a:gd name="T62" fmla="*/ 35 w 40"/>
              <a:gd name="T63" fmla="*/ 15 h 40"/>
              <a:gd name="T64" fmla="*/ 37 w 40"/>
              <a:gd name="T65" fmla="*/ 2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0" h="40">
                <a:moveTo>
                  <a:pt x="40" y="20"/>
                </a:moveTo>
                <a:lnTo>
                  <a:pt x="40" y="17"/>
                </a:lnTo>
                <a:lnTo>
                  <a:pt x="38" y="14"/>
                </a:lnTo>
                <a:lnTo>
                  <a:pt x="37" y="10"/>
                </a:lnTo>
                <a:lnTo>
                  <a:pt x="35" y="7"/>
                </a:lnTo>
                <a:lnTo>
                  <a:pt x="32" y="5"/>
                </a:lnTo>
                <a:lnTo>
                  <a:pt x="28" y="2"/>
                </a:lnTo>
                <a:lnTo>
                  <a:pt x="23" y="2"/>
                </a:lnTo>
                <a:lnTo>
                  <a:pt x="20" y="0"/>
                </a:lnTo>
                <a:lnTo>
                  <a:pt x="17" y="2"/>
                </a:lnTo>
                <a:lnTo>
                  <a:pt x="12" y="2"/>
                </a:lnTo>
                <a:lnTo>
                  <a:pt x="9" y="5"/>
                </a:lnTo>
                <a:lnTo>
                  <a:pt x="7" y="7"/>
                </a:lnTo>
                <a:lnTo>
                  <a:pt x="4" y="10"/>
                </a:lnTo>
                <a:lnTo>
                  <a:pt x="2" y="14"/>
                </a:lnTo>
                <a:lnTo>
                  <a:pt x="0" y="17"/>
                </a:lnTo>
                <a:lnTo>
                  <a:pt x="0" y="20"/>
                </a:lnTo>
                <a:lnTo>
                  <a:pt x="0" y="25"/>
                </a:lnTo>
                <a:lnTo>
                  <a:pt x="2" y="29"/>
                </a:lnTo>
                <a:lnTo>
                  <a:pt x="4" y="32"/>
                </a:lnTo>
                <a:lnTo>
                  <a:pt x="7" y="35"/>
                </a:lnTo>
                <a:lnTo>
                  <a:pt x="9" y="37"/>
                </a:lnTo>
                <a:lnTo>
                  <a:pt x="12" y="39"/>
                </a:lnTo>
                <a:lnTo>
                  <a:pt x="17" y="40"/>
                </a:lnTo>
                <a:lnTo>
                  <a:pt x="20" y="40"/>
                </a:lnTo>
                <a:lnTo>
                  <a:pt x="23" y="40"/>
                </a:lnTo>
                <a:lnTo>
                  <a:pt x="28" y="39"/>
                </a:lnTo>
                <a:lnTo>
                  <a:pt x="32" y="37"/>
                </a:lnTo>
                <a:lnTo>
                  <a:pt x="35" y="35"/>
                </a:lnTo>
                <a:lnTo>
                  <a:pt x="37" y="32"/>
                </a:lnTo>
                <a:lnTo>
                  <a:pt x="38" y="29"/>
                </a:lnTo>
                <a:lnTo>
                  <a:pt x="40" y="25"/>
                </a:lnTo>
                <a:lnTo>
                  <a:pt x="40" y="20"/>
                </a:lnTo>
                <a:close/>
                <a:moveTo>
                  <a:pt x="37" y="20"/>
                </a:moveTo>
                <a:lnTo>
                  <a:pt x="37" y="24"/>
                </a:lnTo>
                <a:lnTo>
                  <a:pt x="35" y="27"/>
                </a:lnTo>
                <a:lnTo>
                  <a:pt x="33" y="30"/>
                </a:lnTo>
                <a:lnTo>
                  <a:pt x="32" y="32"/>
                </a:lnTo>
                <a:lnTo>
                  <a:pt x="30" y="35"/>
                </a:lnTo>
                <a:lnTo>
                  <a:pt x="27" y="37"/>
                </a:lnTo>
                <a:lnTo>
                  <a:pt x="23" y="37"/>
                </a:lnTo>
                <a:lnTo>
                  <a:pt x="20" y="37"/>
                </a:lnTo>
                <a:lnTo>
                  <a:pt x="17" y="37"/>
                </a:lnTo>
                <a:lnTo>
                  <a:pt x="14" y="37"/>
                </a:lnTo>
                <a:lnTo>
                  <a:pt x="12" y="35"/>
                </a:lnTo>
                <a:lnTo>
                  <a:pt x="9" y="32"/>
                </a:lnTo>
                <a:lnTo>
                  <a:pt x="7" y="30"/>
                </a:lnTo>
                <a:lnTo>
                  <a:pt x="5" y="27"/>
                </a:lnTo>
                <a:lnTo>
                  <a:pt x="4" y="24"/>
                </a:lnTo>
                <a:lnTo>
                  <a:pt x="4" y="20"/>
                </a:lnTo>
                <a:lnTo>
                  <a:pt x="4" y="17"/>
                </a:lnTo>
                <a:lnTo>
                  <a:pt x="5" y="15"/>
                </a:lnTo>
                <a:lnTo>
                  <a:pt x="7" y="12"/>
                </a:lnTo>
                <a:lnTo>
                  <a:pt x="9" y="9"/>
                </a:lnTo>
                <a:lnTo>
                  <a:pt x="12" y="7"/>
                </a:lnTo>
                <a:lnTo>
                  <a:pt x="14" y="5"/>
                </a:lnTo>
                <a:lnTo>
                  <a:pt x="17" y="5"/>
                </a:lnTo>
                <a:lnTo>
                  <a:pt x="20" y="4"/>
                </a:lnTo>
                <a:lnTo>
                  <a:pt x="23" y="5"/>
                </a:lnTo>
                <a:lnTo>
                  <a:pt x="27" y="5"/>
                </a:lnTo>
                <a:lnTo>
                  <a:pt x="30" y="7"/>
                </a:lnTo>
                <a:lnTo>
                  <a:pt x="32" y="9"/>
                </a:lnTo>
                <a:lnTo>
                  <a:pt x="33" y="12"/>
                </a:lnTo>
                <a:lnTo>
                  <a:pt x="35" y="15"/>
                </a:lnTo>
                <a:lnTo>
                  <a:pt x="37" y="17"/>
                </a:lnTo>
                <a:lnTo>
                  <a:pt x="37" y="20"/>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41" name="Freeform 2046">
            <a:extLst>
              <a:ext uri="{FF2B5EF4-FFF2-40B4-BE49-F238E27FC236}">
                <a16:creationId xmlns:a16="http://schemas.microsoft.com/office/drawing/2014/main" id="{C9D9B33F-05DB-073D-C1C6-7E31932750CA}"/>
              </a:ext>
            </a:extLst>
          </p:cNvPr>
          <p:cNvSpPr>
            <a:spLocks noEditPoints="1"/>
          </p:cNvSpPr>
          <p:nvPr/>
        </p:nvSpPr>
        <p:spPr bwMode="auto">
          <a:xfrm>
            <a:off x="2528888" y="2728913"/>
            <a:ext cx="57150" cy="58738"/>
          </a:xfrm>
          <a:custGeom>
            <a:avLst/>
            <a:gdLst>
              <a:gd name="T0" fmla="*/ 36 w 36"/>
              <a:gd name="T1" fmla="*/ 15 h 37"/>
              <a:gd name="T2" fmla="*/ 33 w 36"/>
              <a:gd name="T3" fmla="*/ 8 h 37"/>
              <a:gd name="T4" fmla="*/ 28 w 36"/>
              <a:gd name="T5" fmla="*/ 3 h 37"/>
              <a:gd name="T6" fmla="*/ 21 w 36"/>
              <a:gd name="T7" fmla="*/ 2 h 37"/>
              <a:gd name="T8" fmla="*/ 15 w 36"/>
              <a:gd name="T9" fmla="*/ 2 h 37"/>
              <a:gd name="T10" fmla="*/ 8 w 36"/>
              <a:gd name="T11" fmla="*/ 3 h 37"/>
              <a:gd name="T12" fmla="*/ 3 w 36"/>
              <a:gd name="T13" fmla="*/ 8 h 37"/>
              <a:gd name="T14" fmla="*/ 0 w 36"/>
              <a:gd name="T15" fmla="*/ 15 h 37"/>
              <a:gd name="T16" fmla="*/ 0 w 36"/>
              <a:gd name="T17" fmla="*/ 23 h 37"/>
              <a:gd name="T18" fmla="*/ 3 w 36"/>
              <a:gd name="T19" fmla="*/ 30 h 37"/>
              <a:gd name="T20" fmla="*/ 8 w 36"/>
              <a:gd name="T21" fmla="*/ 35 h 37"/>
              <a:gd name="T22" fmla="*/ 15 w 36"/>
              <a:gd name="T23" fmla="*/ 37 h 37"/>
              <a:gd name="T24" fmla="*/ 21 w 36"/>
              <a:gd name="T25" fmla="*/ 37 h 37"/>
              <a:gd name="T26" fmla="*/ 28 w 36"/>
              <a:gd name="T27" fmla="*/ 35 h 37"/>
              <a:gd name="T28" fmla="*/ 33 w 36"/>
              <a:gd name="T29" fmla="*/ 30 h 37"/>
              <a:gd name="T30" fmla="*/ 36 w 36"/>
              <a:gd name="T31" fmla="*/ 23 h 37"/>
              <a:gd name="T32" fmla="*/ 33 w 36"/>
              <a:gd name="T33" fmla="*/ 18 h 37"/>
              <a:gd name="T34" fmla="*/ 31 w 36"/>
              <a:gd name="T35" fmla="*/ 25 h 37"/>
              <a:gd name="T36" fmla="*/ 28 w 36"/>
              <a:gd name="T37" fmla="*/ 30 h 37"/>
              <a:gd name="T38" fmla="*/ 25 w 36"/>
              <a:gd name="T39" fmla="*/ 33 h 37"/>
              <a:gd name="T40" fmla="*/ 18 w 36"/>
              <a:gd name="T41" fmla="*/ 33 h 37"/>
              <a:gd name="T42" fmla="*/ 13 w 36"/>
              <a:gd name="T43" fmla="*/ 33 h 37"/>
              <a:gd name="T44" fmla="*/ 8 w 36"/>
              <a:gd name="T45" fmla="*/ 30 h 37"/>
              <a:gd name="T46" fmla="*/ 5 w 36"/>
              <a:gd name="T47" fmla="*/ 25 h 37"/>
              <a:gd name="T48" fmla="*/ 3 w 36"/>
              <a:gd name="T49" fmla="*/ 18 h 37"/>
              <a:gd name="T50" fmla="*/ 5 w 36"/>
              <a:gd name="T51" fmla="*/ 13 h 37"/>
              <a:gd name="T52" fmla="*/ 8 w 36"/>
              <a:gd name="T53" fmla="*/ 8 h 37"/>
              <a:gd name="T54" fmla="*/ 13 w 36"/>
              <a:gd name="T55" fmla="*/ 5 h 37"/>
              <a:gd name="T56" fmla="*/ 18 w 36"/>
              <a:gd name="T57" fmla="*/ 3 h 37"/>
              <a:gd name="T58" fmla="*/ 25 w 36"/>
              <a:gd name="T59" fmla="*/ 5 h 37"/>
              <a:gd name="T60" fmla="*/ 28 w 36"/>
              <a:gd name="T61" fmla="*/ 8 h 37"/>
              <a:gd name="T62" fmla="*/ 31 w 36"/>
              <a:gd name="T63" fmla="*/ 13 h 37"/>
              <a:gd name="T64" fmla="*/ 33 w 36"/>
              <a:gd name="T65" fmla="*/ 18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6" h="37">
                <a:moveTo>
                  <a:pt x="36" y="18"/>
                </a:moveTo>
                <a:lnTo>
                  <a:pt x="36" y="15"/>
                </a:lnTo>
                <a:lnTo>
                  <a:pt x="35" y="12"/>
                </a:lnTo>
                <a:lnTo>
                  <a:pt x="33" y="8"/>
                </a:lnTo>
                <a:lnTo>
                  <a:pt x="31" y="7"/>
                </a:lnTo>
                <a:lnTo>
                  <a:pt x="28" y="3"/>
                </a:lnTo>
                <a:lnTo>
                  <a:pt x="25" y="2"/>
                </a:lnTo>
                <a:lnTo>
                  <a:pt x="21" y="2"/>
                </a:lnTo>
                <a:lnTo>
                  <a:pt x="18" y="0"/>
                </a:lnTo>
                <a:lnTo>
                  <a:pt x="15" y="2"/>
                </a:lnTo>
                <a:lnTo>
                  <a:pt x="12" y="2"/>
                </a:lnTo>
                <a:lnTo>
                  <a:pt x="8" y="3"/>
                </a:lnTo>
                <a:lnTo>
                  <a:pt x="5" y="7"/>
                </a:lnTo>
                <a:lnTo>
                  <a:pt x="3" y="8"/>
                </a:lnTo>
                <a:lnTo>
                  <a:pt x="2" y="12"/>
                </a:lnTo>
                <a:lnTo>
                  <a:pt x="0" y="15"/>
                </a:lnTo>
                <a:lnTo>
                  <a:pt x="0" y="18"/>
                </a:lnTo>
                <a:lnTo>
                  <a:pt x="0" y="23"/>
                </a:lnTo>
                <a:lnTo>
                  <a:pt x="2" y="27"/>
                </a:lnTo>
                <a:lnTo>
                  <a:pt x="3" y="30"/>
                </a:lnTo>
                <a:lnTo>
                  <a:pt x="5" y="32"/>
                </a:lnTo>
                <a:lnTo>
                  <a:pt x="8" y="35"/>
                </a:lnTo>
                <a:lnTo>
                  <a:pt x="12" y="37"/>
                </a:lnTo>
                <a:lnTo>
                  <a:pt x="15" y="37"/>
                </a:lnTo>
                <a:lnTo>
                  <a:pt x="18" y="37"/>
                </a:lnTo>
                <a:lnTo>
                  <a:pt x="21" y="37"/>
                </a:lnTo>
                <a:lnTo>
                  <a:pt x="25" y="37"/>
                </a:lnTo>
                <a:lnTo>
                  <a:pt x="28" y="35"/>
                </a:lnTo>
                <a:lnTo>
                  <a:pt x="31" y="32"/>
                </a:lnTo>
                <a:lnTo>
                  <a:pt x="33" y="30"/>
                </a:lnTo>
                <a:lnTo>
                  <a:pt x="35" y="27"/>
                </a:lnTo>
                <a:lnTo>
                  <a:pt x="36" y="23"/>
                </a:lnTo>
                <a:lnTo>
                  <a:pt x="36" y="18"/>
                </a:lnTo>
                <a:close/>
                <a:moveTo>
                  <a:pt x="33" y="18"/>
                </a:moveTo>
                <a:lnTo>
                  <a:pt x="33" y="22"/>
                </a:lnTo>
                <a:lnTo>
                  <a:pt x="31" y="25"/>
                </a:lnTo>
                <a:lnTo>
                  <a:pt x="31" y="27"/>
                </a:lnTo>
                <a:lnTo>
                  <a:pt x="28" y="30"/>
                </a:lnTo>
                <a:lnTo>
                  <a:pt x="26" y="32"/>
                </a:lnTo>
                <a:lnTo>
                  <a:pt x="25" y="33"/>
                </a:lnTo>
                <a:lnTo>
                  <a:pt x="21" y="33"/>
                </a:lnTo>
                <a:lnTo>
                  <a:pt x="18" y="33"/>
                </a:lnTo>
                <a:lnTo>
                  <a:pt x="15" y="33"/>
                </a:lnTo>
                <a:lnTo>
                  <a:pt x="13" y="33"/>
                </a:lnTo>
                <a:lnTo>
                  <a:pt x="10" y="32"/>
                </a:lnTo>
                <a:lnTo>
                  <a:pt x="8" y="30"/>
                </a:lnTo>
                <a:lnTo>
                  <a:pt x="7" y="27"/>
                </a:lnTo>
                <a:lnTo>
                  <a:pt x="5" y="25"/>
                </a:lnTo>
                <a:lnTo>
                  <a:pt x="3" y="22"/>
                </a:lnTo>
                <a:lnTo>
                  <a:pt x="3" y="18"/>
                </a:lnTo>
                <a:lnTo>
                  <a:pt x="3" y="17"/>
                </a:lnTo>
                <a:lnTo>
                  <a:pt x="5" y="13"/>
                </a:lnTo>
                <a:lnTo>
                  <a:pt x="7" y="10"/>
                </a:lnTo>
                <a:lnTo>
                  <a:pt x="8" y="8"/>
                </a:lnTo>
                <a:lnTo>
                  <a:pt x="10" y="7"/>
                </a:lnTo>
                <a:lnTo>
                  <a:pt x="13" y="5"/>
                </a:lnTo>
                <a:lnTo>
                  <a:pt x="15" y="5"/>
                </a:lnTo>
                <a:lnTo>
                  <a:pt x="18" y="3"/>
                </a:lnTo>
                <a:lnTo>
                  <a:pt x="21" y="5"/>
                </a:lnTo>
                <a:lnTo>
                  <a:pt x="25" y="5"/>
                </a:lnTo>
                <a:lnTo>
                  <a:pt x="26" y="7"/>
                </a:lnTo>
                <a:lnTo>
                  <a:pt x="28" y="8"/>
                </a:lnTo>
                <a:lnTo>
                  <a:pt x="31" y="10"/>
                </a:lnTo>
                <a:lnTo>
                  <a:pt x="31" y="13"/>
                </a:lnTo>
                <a:lnTo>
                  <a:pt x="33" y="17"/>
                </a:lnTo>
                <a:lnTo>
                  <a:pt x="33" y="18"/>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42" name="Freeform 2047">
            <a:extLst>
              <a:ext uri="{FF2B5EF4-FFF2-40B4-BE49-F238E27FC236}">
                <a16:creationId xmlns:a16="http://schemas.microsoft.com/office/drawing/2014/main" id="{BD278238-7C9C-9A2A-4CC2-3E97BED19342}"/>
              </a:ext>
            </a:extLst>
          </p:cNvPr>
          <p:cNvSpPr>
            <a:spLocks noEditPoints="1"/>
          </p:cNvSpPr>
          <p:nvPr/>
        </p:nvSpPr>
        <p:spPr bwMode="auto">
          <a:xfrm>
            <a:off x="2532063" y="2732088"/>
            <a:ext cx="52388" cy="52388"/>
          </a:xfrm>
          <a:custGeom>
            <a:avLst/>
            <a:gdLst>
              <a:gd name="T0" fmla="*/ 33 w 33"/>
              <a:gd name="T1" fmla="*/ 13 h 33"/>
              <a:gd name="T2" fmla="*/ 29 w 33"/>
              <a:gd name="T3" fmla="*/ 8 h 33"/>
              <a:gd name="T4" fmla="*/ 26 w 33"/>
              <a:gd name="T5" fmla="*/ 3 h 33"/>
              <a:gd name="T6" fmla="*/ 19 w 33"/>
              <a:gd name="T7" fmla="*/ 1 h 33"/>
              <a:gd name="T8" fmla="*/ 13 w 33"/>
              <a:gd name="T9" fmla="*/ 1 h 33"/>
              <a:gd name="T10" fmla="*/ 8 w 33"/>
              <a:gd name="T11" fmla="*/ 3 h 33"/>
              <a:gd name="T12" fmla="*/ 3 w 33"/>
              <a:gd name="T13" fmla="*/ 8 h 33"/>
              <a:gd name="T14" fmla="*/ 0 w 33"/>
              <a:gd name="T15" fmla="*/ 13 h 33"/>
              <a:gd name="T16" fmla="*/ 0 w 33"/>
              <a:gd name="T17" fmla="*/ 20 h 33"/>
              <a:gd name="T18" fmla="*/ 3 w 33"/>
              <a:gd name="T19" fmla="*/ 26 h 33"/>
              <a:gd name="T20" fmla="*/ 8 w 33"/>
              <a:gd name="T21" fmla="*/ 31 h 33"/>
              <a:gd name="T22" fmla="*/ 13 w 33"/>
              <a:gd name="T23" fmla="*/ 33 h 33"/>
              <a:gd name="T24" fmla="*/ 19 w 33"/>
              <a:gd name="T25" fmla="*/ 33 h 33"/>
              <a:gd name="T26" fmla="*/ 26 w 33"/>
              <a:gd name="T27" fmla="*/ 31 h 33"/>
              <a:gd name="T28" fmla="*/ 29 w 33"/>
              <a:gd name="T29" fmla="*/ 26 h 33"/>
              <a:gd name="T30" fmla="*/ 33 w 33"/>
              <a:gd name="T31" fmla="*/ 20 h 33"/>
              <a:gd name="T32" fmla="*/ 29 w 33"/>
              <a:gd name="T33" fmla="*/ 16 h 33"/>
              <a:gd name="T34" fmla="*/ 28 w 33"/>
              <a:gd name="T35" fmla="*/ 23 h 33"/>
              <a:gd name="T36" fmla="*/ 26 w 33"/>
              <a:gd name="T37" fmla="*/ 26 h 33"/>
              <a:gd name="T38" fmla="*/ 21 w 33"/>
              <a:gd name="T39" fmla="*/ 30 h 33"/>
              <a:gd name="T40" fmla="*/ 16 w 33"/>
              <a:gd name="T41" fmla="*/ 30 h 33"/>
              <a:gd name="T42" fmla="*/ 11 w 33"/>
              <a:gd name="T43" fmla="*/ 30 h 33"/>
              <a:gd name="T44" fmla="*/ 6 w 33"/>
              <a:gd name="T45" fmla="*/ 26 h 33"/>
              <a:gd name="T46" fmla="*/ 5 w 33"/>
              <a:gd name="T47" fmla="*/ 23 h 33"/>
              <a:gd name="T48" fmla="*/ 3 w 33"/>
              <a:gd name="T49" fmla="*/ 16 h 33"/>
              <a:gd name="T50" fmla="*/ 5 w 33"/>
              <a:gd name="T51" fmla="*/ 11 h 33"/>
              <a:gd name="T52" fmla="*/ 6 w 33"/>
              <a:gd name="T53" fmla="*/ 8 h 33"/>
              <a:gd name="T54" fmla="*/ 11 w 33"/>
              <a:gd name="T55" fmla="*/ 5 h 33"/>
              <a:gd name="T56" fmla="*/ 16 w 33"/>
              <a:gd name="T57" fmla="*/ 3 h 33"/>
              <a:gd name="T58" fmla="*/ 21 w 33"/>
              <a:gd name="T59" fmla="*/ 5 h 33"/>
              <a:gd name="T60" fmla="*/ 26 w 33"/>
              <a:gd name="T61" fmla="*/ 8 h 33"/>
              <a:gd name="T62" fmla="*/ 28 w 33"/>
              <a:gd name="T63" fmla="*/ 11 h 33"/>
              <a:gd name="T64" fmla="*/ 29 w 33"/>
              <a:gd name="T65" fmla="*/ 16 h 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3" h="33">
                <a:moveTo>
                  <a:pt x="33" y="16"/>
                </a:moveTo>
                <a:lnTo>
                  <a:pt x="33" y="13"/>
                </a:lnTo>
                <a:lnTo>
                  <a:pt x="31" y="11"/>
                </a:lnTo>
                <a:lnTo>
                  <a:pt x="29" y="8"/>
                </a:lnTo>
                <a:lnTo>
                  <a:pt x="28" y="5"/>
                </a:lnTo>
                <a:lnTo>
                  <a:pt x="26" y="3"/>
                </a:lnTo>
                <a:lnTo>
                  <a:pt x="23" y="1"/>
                </a:lnTo>
                <a:lnTo>
                  <a:pt x="19" y="1"/>
                </a:lnTo>
                <a:lnTo>
                  <a:pt x="16" y="0"/>
                </a:lnTo>
                <a:lnTo>
                  <a:pt x="13" y="1"/>
                </a:lnTo>
                <a:lnTo>
                  <a:pt x="10" y="1"/>
                </a:lnTo>
                <a:lnTo>
                  <a:pt x="8" y="3"/>
                </a:lnTo>
                <a:lnTo>
                  <a:pt x="5" y="5"/>
                </a:lnTo>
                <a:lnTo>
                  <a:pt x="3" y="8"/>
                </a:lnTo>
                <a:lnTo>
                  <a:pt x="1" y="11"/>
                </a:lnTo>
                <a:lnTo>
                  <a:pt x="0" y="13"/>
                </a:lnTo>
                <a:lnTo>
                  <a:pt x="0" y="16"/>
                </a:lnTo>
                <a:lnTo>
                  <a:pt x="0" y="20"/>
                </a:lnTo>
                <a:lnTo>
                  <a:pt x="1" y="23"/>
                </a:lnTo>
                <a:lnTo>
                  <a:pt x="3" y="26"/>
                </a:lnTo>
                <a:lnTo>
                  <a:pt x="5" y="28"/>
                </a:lnTo>
                <a:lnTo>
                  <a:pt x="8" y="31"/>
                </a:lnTo>
                <a:lnTo>
                  <a:pt x="10" y="33"/>
                </a:lnTo>
                <a:lnTo>
                  <a:pt x="13" y="33"/>
                </a:lnTo>
                <a:lnTo>
                  <a:pt x="16" y="33"/>
                </a:lnTo>
                <a:lnTo>
                  <a:pt x="19" y="33"/>
                </a:lnTo>
                <a:lnTo>
                  <a:pt x="23" y="33"/>
                </a:lnTo>
                <a:lnTo>
                  <a:pt x="26" y="31"/>
                </a:lnTo>
                <a:lnTo>
                  <a:pt x="28" y="28"/>
                </a:lnTo>
                <a:lnTo>
                  <a:pt x="29" y="26"/>
                </a:lnTo>
                <a:lnTo>
                  <a:pt x="31" y="23"/>
                </a:lnTo>
                <a:lnTo>
                  <a:pt x="33" y="20"/>
                </a:lnTo>
                <a:lnTo>
                  <a:pt x="33" y="16"/>
                </a:lnTo>
                <a:close/>
                <a:moveTo>
                  <a:pt x="29" y="16"/>
                </a:moveTo>
                <a:lnTo>
                  <a:pt x="29" y="20"/>
                </a:lnTo>
                <a:lnTo>
                  <a:pt x="28" y="23"/>
                </a:lnTo>
                <a:lnTo>
                  <a:pt x="28" y="25"/>
                </a:lnTo>
                <a:lnTo>
                  <a:pt x="26" y="26"/>
                </a:lnTo>
                <a:lnTo>
                  <a:pt x="24" y="28"/>
                </a:lnTo>
                <a:lnTo>
                  <a:pt x="21" y="30"/>
                </a:lnTo>
                <a:lnTo>
                  <a:pt x="19" y="30"/>
                </a:lnTo>
                <a:lnTo>
                  <a:pt x="16" y="30"/>
                </a:lnTo>
                <a:lnTo>
                  <a:pt x="13" y="30"/>
                </a:lnTo>
                <a:lnTo>
                  <a:pt x="11" y="30"/>
                </a:lnTo>
                <a:lnTo>
                  <a:pt x="10" y="28"/>
                </a:lnTo>
                <a:lnTo>
                  <a:pt x="6" y="26"/>
                </a:lnTo>
                <a:lnTo>
                  <a:pt x="5" y="25"/>
                </a:lnTo>
                <a:lnTo>
                  <a:pt x="5" y="23"/>
                </a:lnTo>
                <a:lnTo>
                  <a:pt x="3" y="20"/>
                </a:lnTo>
                <a:lnTo>
                  <a:pt x="3" y="16"/>
                </a:lnTo>
                <a:lnTo>
                  <a:pt x="3" y="15"/>
                </a:lnTo>
                <a:lnTo>
                  <a:pt x="5" y="11"/>
                </a:lnTo>
                <a:lnTo>
                  <a:pt x="5" y="10"/>
                </a:lnTo>
                <a:lnTo>
                  <a:pt x="6" y="8"/>
                </a:lnTo>
                <a:lnTo>
                  <a:pt x="10" y="6"/>
                </a:lnTo>
                <a:lnTo>
                  <a:pt x="11" y="5"/>
                </a:lnTo>
                <a:lnTo>
                  <a:pt x="13" y="5"/>
                </a:lnTo>
                <a:lnTo>
                  <a:pt x="16" y="3"/>
                </a:lnTo>
                <a:lnTo>
                  <a:pt x="19" y="5"/>
                </a:lnTo>
                <a:lnTo>
                  <a:pt x="21" y="5"/>
                </a:lnTo>
                <a:lnTo>
                  <a:pt x="24" y="6"/>
                </a:lnTo>
                <a:lnTo>
                  <a:pt x="26" y="8"/>
                </a:lnTo>
                <a:lnTo>
                  <a:pt x="28" y="10"/>
                </a:lnTo>
                <a:lnTo>
                  <a:pt x="28" y="11"/>
                </a:lnTo>
                <a:lnTo>
                  <a:pt x="29" y="15"/>
                </a:lnTo>
                <a:lnTo>
                  <a:pt x="29" y="16"/>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43" name="Freeform 2048">
            <a:extLst>
              <a:ext uri="{FF2B5EF4-FFF2-40B4-BE49-F238E27FC236}">
                <a16:creationId xmlns:a16="http://schemas.microsoft.com/office/drawing/2014/main" id="{5CB1901E-12CD-95F4-084C-7138888C3896}"/>
              </a:ext>
            </a:extLst>
          </p:cNvPr>
          <p:cNvSpPr>
            <a:spLocks noEditPoints="1"/>
          </p:cNvSpPr>
          <p:nvPr/>
        </p:nvSpPr>
        <p:spPr bwMode="auto">
          <a:xfrm>
            <a:off x="2533650" y="2733675"/>
            <a:ext cx="47625" cy="47625"/>
          </a:xfrm>
          <a:custGeom>
            <a:avLst/>
            <a:gdLst>
              <a:gd name="T0" fmla="*/ 30 w 30"/>
              <a:gd name="T1" fmla="*/ 14 h 30"/>
              <a:gd name="T2" fmla="*/ 28 w 30"/>
              <a:gd name="T3" fmla="*/ 7 h 30"/>
              <a:gd name="T4" fmla="*/ 23 w 30"/>
              <a:gd name="T5" fmla="*/ 4 h 30"/>
              <a:gd name="T6" fmla="*/ 18 w 30"/>
              <a:gd name="T7" fmla="*/ 2 h 30"/>
              <a:gd name="T8" fmla="*/ 12 w 30"/>
              <a:gd name="T9" fmla="*/ 2 h 30"/>
              <a:gd name="T10" fmla="*/ 7 w 30"/>
              <a:gd name="T11" fmla="*/ 4 h 30"/>
              <a:gd name="T12" fmla="*/ 4 w 30"/>
              <a:gd name="T13" fmla="*/ 7 h 30"/>
              <a:gd name="T14" fmla="*/ 0 w 30"/>
              <a:gd name="T15" fmla="*/ 14 h 30"/>
              <a:gd name="T16" fmla="*/ 0 w 30"/>
              <a:gd name="T17" fmla="*/ 19 h 30"/>
              <a:gd name="T18" fmla="*/ 4 w 30"/>
              <a:gd name="T19" fmla="*/ 24 h 30"/>
              <a:gd name="T20" fmla="*/ 7 w 30"/>
              <a:gd name="T21" fmla="*/ 29 h 30"/>
              <a:gd name="T22" fmla="*/ 12 w 30"/>
              <a:gd name="T23" fmla="*/ 30 h 30"/>
              <a:gd name="T24" fmla="*/ 18 w 30"/>
              <a:gd name="T25" fmla="*/ 30 h 30"/>
              <a:gd name="T26" fmla="*/ 23 w 30"/>
              <a:gd name="T27" fmla="*/ 29 h 30"/>
              <a:gd name="T28" fmla="*/ 28 w 30"/>
              <a:gd name="T29" fmla="*/ 24 h 30"/>
              <a:gd name="T30" fmla="*/ 30 w 30"/>
              <a:gd name="T31" fmla="*/ 19 h 30"/>
              <a:gd name="T32" fmla="*/ 27 w 30"/>
              <a:gd name="T33" fmla="*/ 15 h 30"/>
              <a:gd name="T34" fmla="*/ 27 w 30"/>
              <a:gd name="T35" fmla="*/ 20 h 30"/>
              <a:gd name="T36" fmla="*/ 23 w 30"/>
              <a:gd name="T37" fmla="*/ 24 h 30"/>
              <a:gd name="T38" fmla="*/ 20 w 30"/>
              <a:gd name="T39" fmla="*/ 27 h 30"/>
              <a:gd name="T40" fmla="*/ 15 w 30"/>
              <a:gd name="T41" fmla="*/ 27 h 30"/>
              <a:gd name="T42" fmla="*/ 10 w 30"/>
              <a:gd name="T43" fmla="*/ 27 h 30"/>
              <a:gd name="T44" fmla="*/ 7 w 30"/>
              <a:gd name="T45" fmla="*/ 24 h 30"/>
              <a:gd name="T46" fmla="*/ 5 w 30"/>
              <a:gd name="T47" fmla="*/ 20 h 30"/>
              <a:gd name="T48" fmla="*/ 4 w 30"/>
              <a:gd name="T49" fmla="*/ 15 h 30"/>
              <a:gd name="T50" fmla="*/ 5 w 30"/>
              <a:gd name="T51" fmla="*/ 12 h 30"/>
              <a:gd name="T52" fmla="*/ 7 w 30"/>
              <a:gd name="T53" fmla="*/ 7 h 30"/>
              <a:gd name="T54" fmla="*/ 10 w 30"/>
              <a:gd name="T55" fmla="*/ 5 h 30"/>
              <a:gd name="T56" fmla="*/ 15 w 30"/>
              <a:gd name="T57" fmla="*/ 4 h 30"/>
              <a:gd name="T58" fmla="*/ 20 w 30"/>
              <a:gd name="T59" fmla="*/ 5 h 30"/>
              <a:gd name="T60" fmla="*/ 23 w 30"/>
              <a:gd name="T61" fmla="*/ 7 h 30"/>
              <a:gd name="T62" fmla="*/ 27 w 30"/>
              <a:gd name="T63" fmla="*/ 12 h 30"/>
              <a:gd name="T64" fmla="*/ 27 w 30"/>
              <a:gd name="T65" fmla="*/ 15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0" h="30">
                <a:moveTo>
                  <a:pt x="30" y="15"/>
                </a:moveTo>
                <a:lnTo>
                  <a:pt x="30" y="14"/>
                </a:lnTo>
                <a:lnTo>
                  <a:pt x="28" y="10"/>
                </a:lnTo>
                <a:lnTo>
                  <a:pt x="28" y="7"/>
                </a:lnTo>
                <a:lnTo>
                  <a:pt x="25" y="5"/>
                </a:lnTo>
                <a:lnTo>
                  <a:pt x="23" y="4"/>
                </a:lnTo>
                <a:lnTo>
                  <a:pt x="22" y="2"/>
                </a:lnTo>
                <a:lnTo>
                  <a:pt x="18" y="2"/>
                </a:lnTo>
                <a:lnTo>
                  <a:pt x="15" y="0"/>
                </a:lnTo>
                <a:lnTo>
                  <a:pt x="12" y="2"/>
                </a:lnTo>
                <a:lnTo>
                  <a:pt x="10" y="2"/>
                </a:lnTo>
                <a:lnTo>
                  <a:pt x="7" y="4"/>
                </a:lnTo>
                <a:lnTo>
                  <a:pt x="5" y="5"/>
                </a:lnTo>
                <a:lnTo>
                  <a:pt x="4" y="7"/>
                </a:lnTo>
                <a:lnTo>
                  <a:pt x="2" y="10"/>
                </a:lnTo>
                <a:lnTo>
                  <a:pt x="0" y="14"/>
                </a:lnTo>
                <a:lnTo>
                  <a:pt x="0" y="15"/>
                </a:lnTo>
                <a:lnTo>
                  <a:pt x="0" y="19"/>
                </a:lnTo>
                <a:lnTo>
                  <a:pt x="2" y="22"/>
                </a:lnTo>
                <a:lnTo>
                  <a:pt x="4" y="24"/>
                </a:lnTo>
                <a:lnTo>
                  <a:pt x="5" y="27"/>
                </a:lnTo>
                <a:lnTo>
                  <a:pt x="7" y="29"/>
                </a:lnTo>
                <a:lnTo>
                  <a:pt x="10" y="30"/>
                </a:lnTo>
                <a:lnTo>
                  <a:pt x="12" y="30"/>
                </a:lnTo>
                <a:lnTo>
                  <a:pt x="15" y="30"/>
                </a:lnTo>
                <a:lnTo>
                  <a:pt x="18" y="30"/>
                </a:lnTo>
                <a:lnTo>
                  <a:pt x="22" y="30"/>
                </a:lnTo>
                <a:lnTo>
                  <a:pt x="23" y="29"/>
                </a:lnTo>
                <a:lnTo>
                  <a:pt x="25" y="27"/>
                </a:lnTo>
                <a:lnTo>
                  <a:pt x="28" y="24"/>
                </a:lnTo>
                <a:lnTo>
                  <a:pt x="28" y="22"/>
                </a:lnTo>
                <a:lnTo>
                  <a:pt x="30" y="19"/>
                </a:lnTo>
                <a:lnTo>
                  <a:pt x="30" y="15"/>
                </a:lnTo>
                <a:close/>
                <a:moveTo>
                  <a:pt x="27" y="15"/>
                </a:moveTo>
                <a:lnTo>
                  <a:pt x="27" y="19"/>
                </a:lnTo>
                <a:lnTo>
                  <a:pt x="27" y="20"/>
                </a:lnTo>
                <a:lnTo>
                  <a:pt x="25" y="22"/>
                </a:lnTo>
                <a:lnTo>
                  <a:pt x="23" y="24"/>
                </a:lnTo>
                <a:lnTo>
                  <a:pt x="22" y="25"/>
                </a:lnTo>
                <a:lnTo>
                  <a:pt x="20" y="27"/>
                </a:lnTo>
                <a:lnTo>
                  <a:pt x="17" y="27"/>
                </a:lnTo>
                <a:lnTo>
                  <a:pt x="15" y="27"/>
                </a:lnTo>
                <a:lnTo>
                  <a:pt x="14" y="27"/>
                </a:lnTo>
                <a:lnTo>
                  <a:pt x="10" y="27"/>
                </a:lnTo>
                <a:lnTo>
                  <a:pt x="9" y="25"/>
                </a:lnTo>
                <a:lnTo>
                  <a:pt x="7" y="24"/>
                </a:lnTo>
                <a:lnTo>
                  <a:pt x="5" y="22"/>
                </a:lnTo>
                <a:lnTo>
                  <a:pt x="5" y="20"/>
                </a:lnTo>
                <a:lnTo>
                  <a:pt x="4" y="19"/>
                </a:lnTo>
                <a:lnTo>
                  <a:pt x="4" y="15"/>
                </a:lnTo>
                <a:lnTo>
                  <a:pt x="4" y="14"/>
                </a:lnTo>
                <a:lnTo>
                  <a:pt x="5" y="12"/>
                </a:lnTo>
                <a:lnTo>
                  <a:pt x="5" y="10"/>
                </a:lnTo>
                <a:lnTo>
                  <a:pt x="7" y="7"/>
                </a:lnTo>
                <a:lnTo>
                  <a:pt x="9" y="7"/>
                </a:lnTo>
                <a:lnTo>
                  <a:pt x="10" y="5"/>
                </a:lnTo>
                <a:lnTo>
                  <a:pt x="14" y="5"/>
                </a:lnTo>
                <a:lnTo>
                  <a:pt x="15" y="4"/>
                </a:lnTo>
                <a:lnTo>
                  <a:pt x="17" y="5"/>
                </a:lnTo>
                <a:lnTo>
                  <a:pt x="20" y="5"/>
                </a:lnTo>
                <a:lnTo>
                  <a:pt x="22" y="7"/>
                </a:lnTo>
                <a:lnTo>
                  <a:pt x="23" y="7"/>
                </a:lnTo>
                <a:lnTo>
                  <a:pt x="25" y="10"/>
                </a:lnTo>
                <a:lnTo>
                  <a:pt x="27" y="12"/>
                </a:lnTo>
                <a:lnTo>
                  <a:pt x="27" y="14"/>
                </a:lnTo>
                <a:lnTo>
                  <a:pt x="27" y="15"/>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44" name="Freeform 2049">
            <a:extLst>
              <a:ext uri="{FF2B5EF4-FFF2-40B4-BE49-F238E27FC236}">
                <a16:creationId xmlns:a16="http://schemas.microsoft.com/office/drawing/2014/main" id="{9C3F9C4C-31E9-7447-0BDA-69D5EF56D6B3}"/>
              </a:ext>
            </a:extLst>
          </p:cNvPr>
          <p:cNvSpPr>
            <a:spLocks noEditPoints="1"/>
          </p:cNvSpPr>
          <p:nvPr/>
        </p:nvSpPr>
        <p:spPr bwMode="auto">
          <a:xfrm>
            <a:off x="2536825" y="2736850"/>
            <a:ext cx="41275" cy="42863"/>
          </a:xfrm>
          <a:custGeom>
            <a:avLst/>
            <a:gdLst>
              <a:gd name="T0" fmla="*/ 26 w 26"/>
              <a:gd name="T1" fmla="*/ 12 h 27"/>
              <a:gd name="T2" fmla="*/ 25 w 26"/>
              <a:gd name="T3" fmla="*/ 7 h 27"/>
              <a:gd name="T4" fmla="*/ 21 w 26"/>
              <a:gd name="T5" fmla="*/ 3 h 27"/>
              <a:gd name="T6" fmla="*/ 16 w 26"/>
              <a:gd name="T7" fmla="*/ 2 h 27"/>
              <a:gd name="T8" fmla="*/ 10 w 26"/>
              <a:gd name="T9" fmla="*/ 2 h 27"/>
              <a:gd name="T10" fmla="*/ 7 w 26"/>
              <a:gd name="T11" fmla="*/ 3 h 27"/>
              <a:gd name="T12" fmla="*/ 2 w 26"/>
              <a:gd name="T13" fmla="*/ 7 h 27"/>
              <a:gd name="T14" fmla="*/ 0 w 26"/>
              <a:gd name="T15" fmla="*/ 12 h 27"/>
              <a:gd name="T16" fmla="*/ 0 w 26"/>
              <a:gd name="T17" fmla="*/ 17 h 27"/>
              <a:gd name="T18" fmla="*/ 2 w 26"/>
              <a:gd name="T19" fmla="*/ 22 h 27"/>
              <a:gd name="T20" fmla="*/ 7 w 26"/>
              <a:gd name="T21" fmla="*/ 25 h 27"/>
              <a:gd name="T22" fmla="*/ 10 w 26"/>
              <a:gd name="T23" fmla="*/ 27 h 27"/>
              <a:gd name="T24" fmla="*/ 16 w 26"/>
              <a:gd name="T25" fmla="*/ 27 h 27"/>
              <a:gd name="T26" fmla="*/ 21 w 26"/>
              <a:gd name="T27" fmla="*/ 25 h 27"/>
              <a:gd name="T28" fmla="*/ 25 w 26"/>
              <a:gd name="T29" fmla="*/ 22 h 27"/>
              <a:gd name="T30" fmla="*/ 26 w 26"/>
              <a:gd name="T31" fmla="*/ 17 h 27"/>
              <a:gd name="T32" fmla="*/ 23 w 26"/>
              <a:gd name="T33" fmla="*/ 13 h 27"/>
              <a:gd name="T34" fmla="*/ 23 w 26"/>
              <a:gd name="T35" fmla="*/ 18 h 27"/>
              <a:gd name="T36" fmla="*/ 20 w 26"/>
              <a:gd name="T37" fmla="*/ 22 h 27"/>
              <a:gd name="T38" fmla="*/ 16 w 26"/>
              <a:gd name="T39" fmla="*/ 23 h 27"/>
              <a:gd name="T40" fmla="*/ 13 w 26"/>
              <a:gd name="T41" fmla="*/ 23 h 27"/>
              <a:gd name="T42" fmla="*/ 10 w 26"/>
              <a:gd name="T43" fmla="*/ 23 h 27"/>
              <a:gd name="T44" fmla="*/ 7 w 26"/>
              <a:gd name="T45" fmla="*/ 22 h 27"/>
              <a:gd name="T46" fmla="*/ 5 w 26"/>
              <a:gd name="T47" fmla="*/ 18 h 27"/>
              <a:gd name="T48" fmla="*/ 3 w 26"/>
              <a:gd name="T49" fmla="*/ 13 h 27"/>
              <a:gd name="T50" fmla="*/ 5 w 26"/>
              <a:gd name="T51" fmla="*/ 10 h 27"/>
              <a:gd name="T52" fmla="*/ 7 w 26"/>
              <a:gd name="T53" fmla="*/ 7 h 27"/>
              <a:gd name="T54" fmla="*/ 10 w 26"/>
              <a:gd name="T55" fmla="*/ 5 h 27"/>
              <a:gd name="T56" fmla="*/ 13 w 26"/>
              <a:gd name="T57" fmla="*/ 3 h 27"/>
              <a:gd name="T58" fmla="*/ 16 w 26"/>
              <a:gd name="T59" fmla="*/ 5 h 27"/>
              <a:gd name="T60" fmla="*/ 20 w 26"/>
              <a:gd name="T61" fmla="*/ 7 h 27"/>
              <a:gd name="T62" fmla="*/ 23 w 26"/>
              <a:gd name="T63" fmla="*/ 10 h 27"/>
              <a:gd name="T64" fmla="*/ 23 w 26"/>
              <a:gd name="T65" fmla="*/ 13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6" h="27">
                <a:moveTo>
                  <a:pt x="26" y="13"/>
                </a:moveTo>
                <a:lnTo>
                  <a:pt x="26" y="12"/>
                </a:lnTo>
                <a:lnTo>
                  <a:pt x="25" y="8"/>
                </a:lnTo>
                <a:lnTo>
                  <a:pt x="25" y="7"/>
                </a:lnTo>
                <a:lnTo>
                  <a:pt x="23" y="5"/>
                </a:lnTo>
                <a:lnTo>
                  <a:pt x="21" y="3"/>
                </a:lnTo>
                <a:lnTo>
                  <a:pt x="18" y="2"/>
                </a:lnTo>
                <a:lnTo>
                  <a:pt x="16" y="2"/>
                </a:lnTo>
                <a:lnTo>
                  <a:pt x="13" y="0"/>
                </a:lnTo>
                <a:lnTo>
                  <a:pt x="10" y="2"/>
                </a:lnTo>
                <a:lnTo>
                  <a:pt x="8" y="2"/>
                </a:lnTo>
                <a:lnTo>
                  <a:pt x="7" y="3"/>
                </a:lnTo>
                <a:lnTo>
                  <a:pt x="3" y="5"/>
                </a:lnTo>
                <a:lnTo>
                  <a:pt x="2" y="7"/>
                </a:lnTo>
                <a:lnTo>
                  <a:pt x="2" y="8"/>
                </a:lnTo>
                <a:lnTo>
                  <a:pt x="0" y="12"/>
                </a:lnTo>
                <a:lnTo>
                  <a:pt x="0" y="13"/>
                </a:lnTo>
                <a:lnTo>
                  <a:pt x="0" y="17"/>
                </a:lnTo>
                <a:lnTo>
                  <a:pt x="2" y="20"/>
                </a:lnTo>
                <a:lnTo>
                  <a:pt x="2" y="22"/>
                </a:lnTo>
                <a:lnTo>
                  <a:pt x="3" y="23"/>
                </a:lnTo>
                <a:lnTo>
                  <a:pt x="7" y="25"/>
                </a:lnTo>
                <a:lnTo>
                  <a:pt x="8" y="27"/>
                </a:lnTo>
                <a:lnTo>
                  <a:pt x="10" y="27"/>
                </a:lnTo>
                <a:lnTo>
                  <a:pt x="13" y="27"/>
                </a:lnTo>
                <a:lnTo>
                  <a:pt x="16" y="27"/>
                </a:lnTo>
                <a:lnTo>
                  <a:pt x="18" y="27"/>
                </a:lnTo>
                <a:lnTo>
                  <a:pt x="21" y="25"/>
                </a:lnTo>
                <a:lnTo>
                  <a:pt x="23" y="23"/>
                </a:lnTo>
                <a:lnTo>
                  <a:pt x="25" y="22"/>
                </a:lnTo>
                <a:lnTo>
                  <a:pt x="25" y="20"/>
                </a:lnTo>
                <a:lnTo>
                  <a:pt x="26" y="17"/>
                </a:lnTo>
                <a:lnTo>
                  <a:pt x="26" y="13"/>
                </a:lnTo>
                <a:close/>
                <a:moveTo>
                  <a:pt x="23" y="13"/>
                </a:moveTo>
                <a:lnTo>
                  <a:pt x="23" y="17"/>
                </a:lnTo>
                <a:lnTo>
                  <a:pt x="23" y="18"/>
                </a:lnTo>
                <a:lnTo>
                  <a:pt x="21" y="20"/>
                </a:lnTo>
                <a:lnTo>
                  <a:pt x="20" y="22"/>
                </a:lnTo>
                <a:lnTo>
                  <a:pt x="18" y="22"/>
                </a:lnTo>
                <a:lnTo>
                  <a:pt x="16" y="23"/>
                </a:lnTo>
                <a:lnTo>
                  <a:pt x="15" y="23"/>
                </a:lnTo>
                <a:lnTo>
                  <a:pt x="13" y="23"/>
                </a:lnTo>
                <a:lnTo>
                  <a:pt x="12" y="23"/>
                </a:lnTo>
                <a:lnTo>
                  <a:pt x="10" y="23"/>
                </a:lnTo>
                <a:lnTo>
                  <a:pt x="8" y="22"/>
                </a:lnTo>
                <a:lnTo>
                  <a:pt x="7" y="22"/>
                </a:lnTo>
                <a:lnTo>
                  <a:pt x="5" y="20"/>
                </a:lnTo>
                <a:lnTo>
                  <a:pt x="5" y="18"/>
                </a:lnTo>
                <a:lnTo>
                  <a:pt x="3" y="17"/>
                </a:lnTo>
                <a:lnTo>
                  <a:pt x="3" y="13"/>
                </a:lnTo>
                <a:lnTo>
                  <a:pt x="3" y="12"/>
                </a:lnTo>
                <a:lnTo>
                  <a:pt x="5" y="10"/>
                </a:lnTo>
                <a:lnTo>
                  <a:pt x="5" y="8"/>
                </a:lnTo>
                <a:lnTo>
                  <a:pt x="7" y="7"/>
                </a:lnTo>
                <a:lnTo>
                  <a:pt x="8" y="5"/>
                </a:lnTo>
                <a:lnTo>
                  <a:pt x="10" y="5"/>
                </a:lnTo>
                <a:lnTo>
                  <a:pt x="12" y="5"/>
                </a:lnTo>
                <a:lnTo>
                  <a:pt x="13" y="3"/>
                </a:lnTo>
                <a:lnTo>
                  <a:pt x="15" y="5"/>
                </a:lnTo>
                <a:lnTo>
                  <a:pt x="16" y="5"/>
                </a:lnTo>
                <a:lnTo>
                  <a:pt x="18" y="5"/>
                </a:lnTo>
                <a:lnTo>
                  <a:pt x="20" y="7"/>
                </a:lnTo>
                <a:lnTo>
                  <a:pt x="21" y="8"/>
                </a:lnTo>
                <a:lnTo>
                  <a:pt x="23" y="10"/>
                </a:lnTo>
                <a:lnTo>
                  <a:pt x="23" y="12"/>
                </a:lnTo>
                <a:lnTo>
                  <a:pt x="23" y="13"/>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45" name="Freeform 2050">
            <a:extLst>
              <a:ext uri="{FF2B5EF4-FFF2-40B4-BE49-F238E27FC236}">
                <a16:creationId xmlns:a16="http://schemas.microsoft.com/office/drawing/2014/main" id="{01EA12B8-C033-69A8-F543-5AC7305A1A9A}"/>
              </a:ext>
            </a:extLst>
          </p:cNvPr>
          <p:cNvSpPr>
            <a:spLocks noEditPoints="1"/>
          </p:cNvSpPr>
          <p:nvPr/>
        </p:nvSpPr>
        <p:spPr bwMode="auto">
          <a:xfrm>
            <a:off x="2540000" y="2740025"/>
            <a:ext cx="36513" cy="36513"/>
          </a:xfrm>
          <a:custGeom>
            <a:avLst/>
            <a:gdLst>
              <a:gd name="T0" fmla="*/ 23 w 23"/>
              <a:gd name="T1" fmla="*/ 10 h 23"/>
              <a:gd name="T2" fmla="*/ 21 w 23"/>
              <a:gd name="T3" fmla="*/ 6 h 23"/>
              <a:gd name="T4" fmla="*/ 18 w 23"/>
              <a:gd name="T5" fmla="*/ 3 h 23"/>
              <a:gd name="T6" fmla="*/ 13 w 23"/>
              <a:gd name="T7" fmla="*/ 1 h 23"/>
              <a:gd name="T8" fmla="*/ 10 w 23"/>
              <a:gd name="T9" fmla="*/ 1 h 23"/>
              <a:gd name="T10" fmla="*/ 5 w 23"/>
              <a:gd name="T11" fmla="*/ 3 h 23"/>
              <a:gd name="T12" fmla="*/ 1 w 23"/>
              <a:gd name="T13" fmla="*/ 6 h 23"/>
              <a:gd name="T14" fmla="*/ 0 w 23"/>
              <a:gd name="T15" fmla="*/ 10 h 23"/>
              <a:gd name="T16" fmla="*/ 0 w 23"/>
              <a:gd name="T17" fmla="*/ 15 h 23"/>
              <a:gd name="T18" fmla="*/ 1 w 23"/>
              <a:gd name="T19" fmla="*/ 18 h 23"/>
              <a:gd name="T20" fmla="*/ 5 w 23"/>
              <a:gd name="T21" fmla="*/ 21 h 23"/>
              <a:gd name="T22" fmla="*/ 10 w 23"/>
              <a:gd name="T23" fmla="*/ 23 h 23"/>
              <a:gd name="T24" fmla="*/ 13 w 23"/>
              <a:gd name="T25" fmla="*/ 23 h 23"/>
              <a:gd name="T26" fmla="*/ 18 w 23"/>
              <a:gd name="T27" fmla="*/ 21 h 23"/>
              <a:gd name="T28" fmla="*/ 21 w 23"/>
              <a:gd name="T29" fmla="*/ 18 h 23"/>
              <a:gd name="T30" fmla="*/ 23 w 23"/>
              <a:gd name="T31" fmla="*/ 15 h 23"/>
              <a:gd name="T32" fmla="*/ 19 w 23"/>
              <a:gd name="T33" fmla="*/ 11 h 23"/>
              <a:gd name="T34" fmla="*/ 19 w 23"/>
              <a:gd name="T35" fmla="*/ 15 h 23"/>
              <a:gd name="T36" fmla="*/ 18 w 23"/>
              <a:gd name="T37" fmla="*/ 18 h 23"/>
              <a:gd name="T38" fmla="*/ 14 w 23"/>
              <a:gd name="T39" fmla="*/ 20 h 23"/>
              <a:gd name="T40" fmla="*/ 11 w 23"/>
              <a:gd name="T41" fmla="*/ 20 h 23"/>
              <a:gd name="T42" fmla="*/ 8 w 23"/>
              <a:gd name="T43" fmla="*/ 20 h 23"/>
              <a:gd name="T44" fmla="*/ 6 w 23"/>
              <a:gd name="T45" fmla="*/ 18 h 23"/>
              <a:gd name="T46" fmla="*/ 3 w 23"/>
              <a:gd name="T47" fmla="*/ 15 h 23"/>
              <a:gd name="T48" fmla="*/ 3 w 23"/>
              <a:gd name="T49" fmla="*/ 11 h 23"/>
              <a:gd name="T50" fmla="*/ 3 w 23"/>
              <a:gd name="T51" fmla="*/ 8 h 23"/>
              <a:gd name="T52" fmla="*/ 6 w 23"/>
              <a:gd name="T53" fmla="*/ 6 h 23"/>
              <a:gd name="T54" fmla="*/ 8 w 23"/>
              <a:gd name="T55" fmla="*/ 5 h 23"/>
              <a:gd name="T56" fmla="*/ 11 w 23"/>
              <a:gd name="T57" fmla="*/ 3 h 23"/>
              <a:gd name="T58" fmla="*/ 14 w 23"/>
              <a:gd name="T59" fmla="*/ 5 h 23"/>
              <a:gd name="T60" fmla="*/ 18 w 23"/>
              <a:gd name="T61" fmla="*/ 6 h 23"/>
              <a:gd name="T62" fmla="*/ 19 w 23"/>
              <a:gd name="T63" fmla="*/ 8 h 23"/>
              <a:gd name="T64" fmla="*/ 19 w 23"/>
              <a:gd name="T65" fmla="*/ 11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3" h="23">
                <a:moveTo>
                  <a:pt x="23" y="11"/>
                </a:moveTo>
                <a:lnTo>
                  <a:pt x="23" y="10"/>
                </a:lnTo>
                <a:lnTo>
                  <a:pt x="23" y="8"/>
                </a:lnTo>
                <a:lnTo>
                  <a:pt x="21" y="6"/>
                </a:lnTo>
                <a:lnTo>
                  <a:pt x="19" y="3"/>
                </a:lnTo>
                <a:lnTo>
                  <a:pt x="18" y="3"/>
                </a:lnTo>
                <a:lnTo>
                  <a:pt x="16" y="1"/>
                </a:lnTo>
                <a:lnTo>
                  <a:pt x="13" y="1"/>
                </a:lnTo>
                <a:lnTo>
                  <a:pt x="11" y="0"/>
                </a:lnTo>
                <a:lnTo>
                  <a:pt x="10" y="1"/>
                </a:lnTo>
                <a:lnTo>
                  <a:pt x="6" y="1"/>
                </a:lnTo>
                <a:lnTo>
                  <a:pt x="5" y="3"/>
                </a:lnTo>
                <a:lnTo>
                  <a:pt x="3" y="3"/>
                </a:lnTo>
                <a:lnTo>
                  <a:pt x="1" y="6"/>
                </a:lnTo>
                <a:lnTo>
                  <a:pt x="1" y="8"/>
                </a:lnTo>
                <a:lnTo>
                  <a:pt x="0" y="10"/>
                </a:lnTo>
                <a:lnTo>
                  <a:pt x="0" y="11"/>
                </a:lnTo>
                <a:lnTo>
                  <a:pt x="0" y="15"/>
                </a:lnTo>
                <a:lnTo>
                  <a:pt x="1" y="16"/>
                </a:lnTo>
                <a:lnTo>
                  <a:pt x="1" y="18"/>
                </a:lnTo>
                <a:lnTo>
                  <a:pt x="3" y="20"/>
                </a:lnTo>
                <a:lnTo>
                  <a:pt x="5" y="21"/>
                </a:lnTo>
                <a:lnTo>
                  <a:pt x="6" y="23"/>
                </a:lnTo>
                <a:lnTo>
                  <a:pt x="10" y="23"/>
                </a:lnTo>
                <a:lnTo>
                  <a:pt x="11" y="23"/>
                </a:lnTo>
                <a:lnTo>
                  <a:pt x="13" y="23"/>
                </a:lnTo>
                <a:lnTo>
                  <a:pt x="16" y="23"/>
                </a:lnTo>
                <a:lnTo>
                  <a:pt x="18" y="21"/>
                </a:lnTo>
                <a:lnTo>
                  <a:pt x="19" y="20"/>
                </a:lnTo>
                <a:lnTo>
                  <a:pt x="21" y="18"/>
                </a:lnTo>
                <a:lnTo>
                  <a:pt x="23" y="16"/>
                </a:lnTo>
                <a:lnTo>
                  <a:pt x="23" y="15"/>
                </a:lnTo>
                <a:lnTo>
                  <a:pt x="23" y="11"/>
                </a:lnTo>
                <a:close/>
                <a:moveTo>
                  <a:pt x="19" y="11"/>
                </a:moveTo>
                <a:lnTo>
                  <a:pt x="19" y="13"/>
                </a:lnTo>
                <a:lnTo>
                  <a:pt x="19" y="15"/>
                </a:lnTo>
                <a:lnTo>
                  <a:pt x="18" y="16"/>
                </a:lnTo>
                <a:lnTo>
                  <a:pt x="18" y="18"/>
                </a:lnTo>
                <a:lnTo>
                  <a:pt x="16" y="20"/>
                </a:lnTo>
                <a:lnTo>
                  <a:pt x="14" y="20"/>
                </a:lnTo>
                <a:lnTo>
                  <a:pt x="13" y="20"/>
                </a:lnTo>
                <a:lnTo>
                  <a:pt x="11" y="20"/>
                </a:lnTo>
                <a:lnTo>
                  <a:pt x="10" y="20"/>
                </a:lnTo>
                <a:lnTo>
                  <a:pt x="8" y="20"/>
                </a:lnTo>
                <a:lnTo>
                  <a:pt x="6" y="20"/>
                </a:lnTo>
                <a:lnTo>
                  <a:pt x="6" y="18"/>
                </a:lnTo>
                <a:lnTo>
                  <a:pt x="5" y="16"/>
                </a:lnTo>
                <a:lnTo>
                  <a:pt x="3" y="15"/>
                </a:lnTo>
                <a:lnTo>
                  <a:pt x="3" y="13"/>
                </a:lnTo>
                <a:lnTo>
                  <a:pt x="3" y="11"/>
                </a:lnTo>
                <a:lnTo>
                  <a:pt x="3" y="10"/>
                </a:lnTo>
                <a:lnTo>
                  <a:pt x="3" y="8"/>
                </a:lnTo>
                <a:lnTo>
                  <a:pt x="5" y="8"/>
                </a:lnTo>
                <a:lnTo>
                  <a:pt x="6" y="6"/>
                </a:lnTo>
                <a:lnTo>
                  <a:pt x="6" y="5"/>
                </a:lnTo>
                <a:lnTo>
                  <a:pt x="8" y="5"/>
                </a:lnTo>
                <a:lnTo>
                  <a:pt x="10" y="5"/>
                </a:lnTo>
                <a:lnTo>
                  <a:pt x="11" y="3"/>
                </a:lnTo>
                <a:lnTo>
                  <a:pt x="13" y="5"/>
                </a:lnTo>
                <a:lnTo>
                  <a:pt x="14" y="5"/>
                </a:lnTo>
                <a:lnTo>
                  <a:pt x="16" y="5"/>
                </a:lnTo>
                <a:lnTo>
                  <a:pt x="18" y="6"/>
                </a:lnTo>
                <a:lnTo>
                  <a:pt x="18" y="8"/>
                </a:lnTo>
                <a:lnTo>
                  <a:pt x="19" y="8"/>
                </a:lnTo>
                <a:lnTo>
                  <a:pt x="19" y="10"/>
                </a:lnTo>
                <a:lnTo>
                  <a:pt x="19" y="11"/>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46" name="Freeform 2051">
            <a:extLst>
              <a:ext uri="{FF2B5EF4-FFF2-40B4-BE49-F238E27FC236}">
                <a16:creationId xmlns:a16="http://schemas.microsoft.com/office/drawing/2014/main" id="{C2D81D9E-D922-3694-CAA9-2C9D3868CFF2}"/>
              </a:ext>
            </a:extLst>
          </p:cNvPr>
          <p:cNvSpPr>
            <a:spLocks noEditPoints="1"/>
          </p:cNvSpPr>
          <p:nvPr/>
        </p:nvSpPr>
        <p:spPr bwMode="auto">
          <a:xfrm>
            <a:off x="2541588" y="2741613"/>
            <a:ext cx="31750" cy="31750"/>
          </a:xfrm>
          <a:custGeom>
            <a:avLst/>
            <a:gdLst>
              <a:gd name="T0" fmla="*/ 20 w 20"/>
              <a:gd name="T1" fmla="*/ 10 h 20"/>
              <a:gd name="T2" fmla="*/ 20 w 20"/>
              <a:gd name="T3" fmla="*/ 9 h 20"/>
              <a:gd name="T4" fmla="*/ 20 w 20"/>
              <a:gd name="T5" fmla="*/ 7 h 20"/>
              <a:gd name="T6" fmla="*/ 18 w 20"/>
              <a:gd name="T7" fmla="*/ 5 h 20"/>
              <a:gd name="T8" fmla="*/ 17 w 20"/>
              <a:gd name="T9" fmla="*/ 4 h 20"/>
              <a:gd name="T10" fmla="*/ 15 w 20"/>
              <a:gd name="T11" fmla="*/ 2 h 20"/>
              <a:gd name="T12" fmla="*/ 13 w 20"/>
              <a:gd name="T13" fmla="*/ 2 h 20"/>
              <a:gd name="T14" fmla="*/ 12 w 20"/>
              <a:gd name="T15" fmla="*/ 2 h 20"/>
              <a:gd name="T16" fmla="*/ 10 w 20"/>
              <a:gd name="T17" fmla="*/ 0 h 20"/>
              <a:gd name="T18" fmla="*/ 9 w 20"/>
              <a:gd name="T19" fmla="*/ 2 h 20"/>
              <a:gd name="T20" fmla="*/ 7 w 20"/>
              <a:gd name="T21" fmla="*/ 2 h 20"/>
              <a:gd name="T22" fmla="*/ 5 w 20"/>
              <a:gd name="T23" fmla="*/ 2 h 20"/>
              <a:gd name="T24" fmla="*/ 4 w 20"/>
              <a:gd name="T25" fmla="*/ 4 h 20"/>
              <a:gd name="T26" fmla="*/ 2 w 20"/>
              <a:gd name="T27" fmla="*/ 5 h 20"/>
              <a:gd name="T28" fmla="*/ 2 w 20"/>
              <a:gd name="T29" fmla="*/ 7 h 20"/>
              <a:gd name="T30" fmla="*/ 0 w 20"/>
              <a:gd name="T31" fmla="*/ 9 h 20"/>
              <a:gd name="T32" fmla="*/ 0 w 20"/>
              <a:gd name="T33" fmla="*/ 10 h 20"/>
              <a:gd name="T34" fmla="*/ 0 w 20"/>
              <a:gd name="T35" fmla="*/ 14 h 20"/>
              <a:gd name="T36" fmla="*/ 2 w 20"/>
              <a:gd name="T37" fmla="*/ 15 h 20"/>
              <a:gd name="T38" fmla="*/ 2 w 20"/>
              <a:gd name="T39" fmla="*/ 17 h 20"/>
              <a:gd name="T40" fmla="*/ 4 w 20"/>
              <a:gd name="T41" fmla="*/ 19 h 20"/>
              <a:gd name="T42" fmla="*/ 5 w 20"/>
              <a:gd name="T43" fmla="*/ 19 h 20"/>
              <a:gd name="T44" fmla="*/ 7 w 20"/>
              <a:gd name="T45" fmla="*/ 20 h 20"/>
              <a:gd name="T46" fmla="*/ 9 w 20"/>
              <a:gd name="T47" fmla="*/ 20 h 20"/>
              <a:gd name="T48" fmla="*/ 10 w 20"/>
              <a:gd name="T49" fmla="*/ 20 h 20"/>
              <a:gd name="T50" fmla="*/ 12 w 20"/>
              <a:gd name="T51" fmla="*/ 20 h 20"/>
              <a:gd name="T52" fmla="*/ 13 w 20"/>
              <a:gd name="T53" fmla="*/ 20 h 20"/>
              <a:gd name="T54" fmla="*/ 15 w 20"/>
              <a:gd name="T55" fmla="*/ 19 h 20"/>
              <a:gd name="T56" fmla="*/ 17 w 20"/>
              <a:gd name="T57" fmla="*/ 19 h 20"/>
              <a:gd name="T58" fmla="*/ 18 w 20"/>
              <a:gd name="T59" fmla="*/ 17 h 20"/>
              <a:gd name="T60" fmla="*/ 20 w 20"/>
              <a:gd name="T61" fmla="*/ 15 h 20"/>
              <a:gd name="T62" fmla="*/ 20 w 20"/>
              <a:gd name="T63" fmla="*/ 14 h 20"/>
              <a:gd name="T64" fmla="*/ 20 w 20"/>
              <a:gd name="T65" fmla="*/ 10 h 20"/>
              <a:gd name="T66" fmla="*/ 17 w 20"/>
              <a:gd name="T67" fmla="*/ 10 h 20"/>
              <a:gd name="T68" fmla="*/ 17 w 20"/>
              <a:gd name="T69" fmla="*/ 12 h 20"/>
              <a:gd name="T70" fmla="*/ 17 w 20"/>
              <a:gd name="T71" fmla="*/ 14 h 20"/>
              <a:gd name="T72" fmla="*/ 15 w 20"/>
              <a:gd name="T73" fmla="*/ 15 h 20"/>
              <a:gd name="T74" fmla="*/ 13 w 20"/>
              <a:gd name="T75" fmla="*/ 17 h 20"/>
              <a:gd name="T76" fmla="*/ 12 w 20"/>
              <a:gd name="T77" fmla="*/ 17 h 20"/>
              <a:gd name="T78" fmla="*/ 10 w 20"/>
              <a:gd name="T79" fmla="*/ 17 h 20"/>
              <a:gd name="T80" fmla="*/ 9 w 20"/>
              <a:gd name="T81" fmla="*/ 17 h 20"/>
              <a:gd name="T82" fmla="*/ 7 w 20"/>
              <a:gd name="T83" fmla="*/ 17 h 20"/>
              <a:gd name="T84" fmla="*/ 5 w 20"/>
              <a:gd name="T85" fmla="*/ 15 h 20"/>
              <a:gd name="T86" fmla="*/ 4 w 20"/>
              <a:gd name="T87" fmla="*/ 14 h 20"/>
              <a:gd name="T88" fmla="*/ 4 w 20"/>
              <a:gd name="T89" fmla="*/ 12 h 20"/>
              <a:gd name="T90" fmla="*/ 4 w 20"/>
              <a:gd name="T91" fmla="*/ 10 h 20"/>
              <a:gd name="T92" fmla="*/ 4 w 20"/>
              <a:gd name="T93" fmla="*/ 9 h 20"/>
              <a:gd name="T94" fmla="*/ 5 w 20"/>
              <a:gd name="T95" fmla="*/ 7 h 20"/>
              <a:gd name="T96" fmla="*/ 7 w 20"/>
              <a:gd name="T97" fmla="*/ 5 h 20"/>
              <a:gd name="T98" fmla="*/ 9 w 20"/>
              <a:gd name="T99" fmla="*/ 5 h 20"/>
              <a:gd name="T100" fmla="*/ 10 w 20"/>
              <a:gd name="T101" fmla="*/ 4 h 20"/>
              <a:gd name="T102" fmla="*/ 12 w 20"/>
              <a:gd name="T103" fmla="*/ 5 h 20"/>
              <a:gd name="T104" fmla="*/ 13 w 20"/>
              <a:gd name="T105" fmla="*/ 5 h 20"/>
              <a:gd name="T106" fmla="*/ 15 w 20"/>
              <a:gd name="T107" fmla="*/ 7 h 20"/>
              <a:gd name="T108" fmla="*/ 17 w 20"/>
              <a:gd name="T109" fmla="*/ 9 h 20"/>
              <a:gd name="T110" fmla="*/ 17 w 20"/>
              <a:gd name="T111" fmla="*/ 1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0" h="20">
                <a:moveTo>
                  <a:pt x="20" y="10"/>
                </a:moveTo>
                <a:lnTo>
                  <a:pt x="20" y="9"/>
                </a:lnTo>
                <a:lnTo>
                  <a:pt x="20" y="7"/>
                </a:lnTo>
                <a:lnTo>
                  <a:pt x="18" y="5"/>
                </a:lnTo>
                <a:lnTo>
                  <a:pt x="17" y="4"/>
                </a:lnTo>
                <a:lnTo>
                  <a:pt x="15" y="2"/>
                </a:lnTo>
                <a:lnTo>
                  <a:pt x="13" y="2"/>
                </a:lnTo>
                <a:lnTo>
                  <a:pt x="12" y="2"/>
                </a:lnTo>
                <a:lnTo>
                  <a:pt x="10" y="0"/>
                </a:lnTo>
                <a:lnTo>
                  <a:pt x="9" y="2"/>
                </a:lnTo>
                <a:lnTo>
                  <a:pt x="7" y="2"/>
                </a:lnTo>
                <a:lnTo>
                  <a:pt x="5" y="2"/>
                </a:lnTo>
                <a:lnTo>
                  <a:pt x="4" y="4"/>
                </a:lnTo>
                <a:lnTo>
                  <a:pt x="2" y="5"/>
                </a:lnTo>
                <a:lnTo>
                  <a:pt x="2" y="7"/>
                </a:lnTo>
                <a:lnTo>
                  <a:pt x="0" y="9"/>
                </a:lnTo>
                <a:lnTo>
                  <a:pt x="0" y="10"/>
                </a:lnTo>
                <a:lnTo>
                  <a:pt x="0" y="14"/>
                </a:lnTo>
                <a:lnTo>
                  <a:pt x="2" y="15"/>
                </a:lnTo>
                <a:lnTo>
                  <a:pt x="2" y="17"/>
                </a:lnTo>
                <a:lnTo>
                  <a:pt x="4" y="19"/>
                </a:lnTo>
                <a:lnTo>
                  <a:pt x="5" y="19"/>
                </a:lnTo>
                <a:lnTo>
                  <a:pt x="7" y="20"/>
                </a:lnTo>
                <a:lnTo>
                  <a:pt x="9" y="20"/>
                </a:lnTo>
                <a:lnTo>
                  <a:pt x="10" y="20"/>
                </a:lnTo>
                <a:lnTo>
                  <a:pt x="12" y="20"/>
                </a:lnTo>
                <a:lnTo>
                  <a:pt x="13" y="20"/>
                </a:lnTo>
                <a:lnTo>
                  <a:pt x="15" y="19"/>
                </a:lnTo>
                <a:lnTo>
                  <a:pt x="17" y="19"/>
                </a:lnTo>
                <a:lnTo>
                  <a:pt x="18" y="17"/>
                </a:lnTo>
                <a:lnTo>
                  <a:pt x="20" y="15"/>
                </a:lnTo>
                <a:lnTo>
                  <a:pt x="20" y="14"/>
                </a:lnTo>
                <a:lnTo>
                  <a:pt x="20" y="10"/>
                </a:lnTo>
                <a:close/>
                <a:moveTo>
                  <a:pt x="17" y="10"/>
                </a:moveTo>
                <a:lnTo>
                  <a:pt x="17" y="12"/>
                </a:lnTo>
                <a:lnTo>
                  <a:pt x="17" y="14"/>
                </a:lnTo>
                <a:lnTo>
                  <a:pt x="15" y="15"/>
                </a:lnTo>
                <a:lnTo>
                  <a:pt x="13" y="17"/>
                </a:lnTo>
                <a:lnTo>
                  <a:pt x="12" y="17"/>
                </a:lnTo>
                <a:lnTo>
                  <a:pt x="10" y="17"/>
                </a:lnTo>
                <a:lnTo>
                  <a:pt x="9" y="17"/>
                </a:lnTo>
                <a:lnTo>
                  <a:pt x="7" y="17"/>
                </a:lnTo>
                <a:lnTo>
                  <a:pt x="5" y="15"/>
                </a:lnTo>
                <a:lnTo>
                  <a:pt x="4" y="14"/>
                </a:lnTo>
                <a:lnTo>
                  <a:pt x="4" y="12"/>
                </a:lnTo>
                <a:lnTo>
                  <a:pt x="4" y="10"/>
                </a:lnTo>
                <a:lnTo>
                  <a:pt x="4" y="9"/>
                </a:lnTo>
                <a:lnTo>
                  <a:pt x="5" y="7"/>
                </a:lnTo>
                <a:lnTo>
                  <a:pt x="7" y="5"/>
                </a:lnTo>
                <a:lnTo>
                  <a:pt x="9" y="5"/>
                </a:lnTo>
                <a:lnTo>
                  <a:pt x="10" y="4"/>
                </a:lnTo>
                <a:lnTo>
                  <a:pt x="12" y="5"/>
                </a:lnTo>
                <a:lnTo>
                  <a:pt x="13" y="5"/>
                </a:lnTo>
                <a:lnTo>
                  <a:pt x="15" y="7"/>
                </a:lnTo>
                <a:lnTo>
                  <a:pt x="17" y="9"/>
                </a:lnTo>
                <a:lnTo>
                  <a:pt x="17" y="10"/>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47" name="Freeform 2052">
            <a:extLst>
              <a:ext uri="{FF2B5EF4-FFF2-40B4-BE49-F238E27FC236}">
                <a16:creationId xmlns:a16="http://schemas.microsoft.com/office/drawing/2014/main" id="{706C0E8D-C69A-708E-BF2B-22829DB354E6}"/>
              </a:ext>
            </a:extLst>
          </p:cNvPr>
          <p:cNvSpPr>
            <a:spLocks noEditPoints="1"/>
          </p:cNvSpPr>
          <p:nvPr/>
        </p:nvSpPr>
        <p:spPr bwMode="auto">
          <a:xfrm>
            <a:off x="2544763" y="2744788"/>
            <a:ext cx="25400" cy="26988"/>
          </a:xfrm>
          <a:custGeom>
            <a:avLst/>
            <a:gdLst>
              <a:gd name="T0" fmla="*/ 16 w 16"/>
              <a:gd name="T1" fmla="*/ 8 h 17"/>
              <a:gd name="T2" fmla="*/ 16 w 16"/>
              <a:gd name="T3" fmla="*/ 7 h 17"/>
              <a:gd name="T4" fmla="*/ 16 w 16"/>
              <a:gd name="T5" fmla="*/ 5 h 17"/>
              <a:gd name="T6" fmla="*/ 15 w 16"/>
              <a:gd name="T7" fmla="*/ 5 h 17"/>
              <a:gd name="T8" fmla="*/ 15 w 16"/>
              <a:gd name="T9" fmla="*/ 3 h 17"/>
              <a:gd name="T10" fmla="*/ 13 w 16"/>
              <a:gd name="T11" fmla="*/ 2 h 17"/>
              <a:gd name="T12" fmla="*/ 11 w 16"/>
              <a:gd name="T13" fmla="*/ 2 h 17"/>
              <a:gd name="T14" fmla="*/ 10 w 16"/>
              <a:gd name="T15" fmla="*/ 2 h 17"/>
              <a:gd name="T16" fmla="*/ 8 w 16"/>
              <a:gd name="T17" fmla="*/ 0 h 17"/>
              <a:gd name="T18" fmla="*/ 7 w 16"/>
              <a:gd name="T19" fmla="*/ 2 h 17"/>
              <a:gd name="T20" fmla="*/ 5 w 16"/>
              <a:gd name="T21" fmla="*/ 2 h 17"/>
              <a:gd name="T22" fmla="*/ 3 w 16"/>
              <a:gd name="T23" fmla="*/ 2 h 17"/>
              <a:gd name="T24" fmla="*/ 3 w 16"/>
              <a:gd name="T25" fmla="*/ 3 h 17"/>
              <a:gd name="T26" fmla="*/ 2 w 16"/>
              <a:gd name="T27" fmla="*/ 5 h 17"/>
              <a:gd name="T28" fmla="*/ 0 w 16"/>
              <a:gd name="T29" fmla="*/ 5 h 17"/>
              <a:gd name="T30" fmla="*/ 0 w 16"/>
              <a:gd name="T31" fmla="*/ 7 h 17"/>
              <a:gd name="T32" fmla="*/ 0 w 16"/>
              <a:gd name="T33" fmla="*/ 8 h 17"/>
              <a:gd name="T34" fmla="*/ 0 w 16"/>
              <a:gd name="T35" fmla="*/ 10 h 17"/>
              <a:gd name="T36" fmla="*/ 0 w 16"/>
              <a:gd name="T37" fmla="*/ 12 h 17"/>
              <a:gd name="T38" fmla="*/ 2 w 16"/>
              <a:gd name="T39" fmla="*/ 13 h 17"/>
              <a:gd name="T40" fmla="*/ 3 w 16"/>
              <a:gd name="T41" fmla="*/ 15 h 17"/>
              <a:gd name="T42" fmla="*/ 3 w 16"/>
              <a:gd name="T43" fmla="*/ 17 h 17"/>
              <a:gd name="T44" fmla="*/ 5 w 16"/>
              <a:gd name="T45" fmla="*/ 17 h 17"/>
              <a:gd name="T46" fmla="*/ 7 w 16"/>
              <a:gd name="T47" fmla="*/ 17 h 17"/>
              <a:gd name="T48" fmla="*/ 8 w 16"/>
              <a:gd name="T49" fmla="*/ 17 h 17"/>
              <a:gd name="T50" fmla="*/ 10 w 16"/>
              <a:gd name="T51" fmla="*/ 17 h 17"/>
              <a:gd name="T52" fmla="*/ 11 w 16"/>
              <a:gd name="T53" fmla="*/ 17 h 17"/>
              <a:gd name="T54" fmla="*/ 13 w 16"/>
              <a:gd name="T55" fmla="*/ 17 h 17"/>
              <a:gd name="T56" fmla="*/ 15 w 16"/>
              <a:gd name="T57" fmla="*/ 15 h 17"/>
              <a:gd name="T58" fmla="*/ 15 w 16"/>
              <a:gd name="T59" fmla="*/ 13 h 17"/>
              <a:gd name="T60" fmla="*/ 16 w 16"/>
              <a:gd name="T61" fmla="*/ 12 h 17"/>
              <a:gd name="T62" fmla="*/ 16 w 16"/>
              <a:gd name="T63" fmla="*/ 10 h 17"/>
              <a:gd name="T64" fmla="*/ 16 w 16"/>
              <a:gd name="T65" fmla="*/ 8 h 17"/>
              <a:gd name="T66" fmla="*/ 13 w 16"/>
              <a:gd name="T67" fmla="*/ 8 h 17"/>
              <a:gd name="T68" fmla="*/ 13 w 16"/>
              <a:gd name="T69" fmla="*/ 10 h 17"/>
              <a:gd name="T70" fmla="*/ 13 w 16"/>
              <a:gd name="T71" fmla="*/ 12 h 17"/>
              <a:gd name="T72" fmla="*/ 11 w 16"/>
              <a:gd name="T73" fmla="*/ 13 h 17"/>
              <a:gd name="T74" fmla="*/ 10 w 16"/>
              <a:gd name="T75" fmla="*/ 13 h 17"/>
              <a:gd name="T76" fmla="*/ 8 w 16"/>
              <a:gd name="T77" fmla="*/ 13 h 17"/>
              <a:gd name="T78" fmla="*/ 7 w 16"/>
              <a:gd name="T79" fmla="*/ 13 h 17"/>
              <a:gd name="T80" fmla="*/ 5 w 16"/>
              <a:gd name="T81" fmla="*/ 13 h 17"/>
              <a:gd name="T82" fmla="*/ 5 w 16"/>
              <a:gd name="T83" fmla="*/ 12 h 17"/>
              <a:gd name="T84" fmla="*/ 3 w 16"/>
              <a:gd name="T85" fmla="*/ 12 h 17"/>
              <a:gd name="T86" fmla="*/ 3 w 16"/>
              <a:gd name="T87" fmla="*/ 10 h 17"/>
              <a:gd name="T88" fmla="*/ 3 w 16"/>
              <a:gd name="T89" fmla="*/ 8 h 17"/>
              <a:gd name="T90" fmla="*/ 3 w 16"/>
              <a:gd name="T91" fmla="*/ 7 h 17"/>
              <a:gd name="T92" fmla="*/ 5 w 16"/>
              <a:gd name="T93" fmla="*/ 7 h 17"/>
              <a:gd name="T94" fmla="*/ 5 w 16"/>
              <a:gd name="T95" fmla="*/ 5 h 17"/>
              <a:gd name="T96" fmla="*/ 7 w 16"/>
              <a:gd name="T97" fmla="*/ 5 h 17"/>
              <a:gd name="T98" fmla="*/ 7 w 16"/>
              <a:gd name="T99" fmla="*/ 3 h 17"/>
              <a:gd name="T100" fmla="*/ 8 w 16"/>
              <a:gd name="T101" fmla="*/ 3 h 17"/>
              <a:gd name="T102" fmla="*/ 10 w 16"/>
              <a:gd name="T103" fmla="*/ 3 h 17"/>
              <a:gd name="T104" fmla="*/ 10 w 16"/>
              <a:gd name="T105" fmla="*/ 5 h 17"/>
              <a:gd name="T106" fmla="*/ 11 w 16"/>
              <a:gd name="T107" fmla="*/ 5 h 17"/>
              <a:gd name="T108" fmla="*/ 13 w 16"/>
              <a:gd name="T109" fmla="*/ 7 h 17"/>
              <a:gd name="T110" fmla="*/ 13 w 16"/>
              <a:gd name="T11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6" h="17">
                <a:moveTo>
                  <a:pt x="16" y="8"/>
                </a:moveTo>
                <a:lnTo>
                  <a:pt x="16" y="7"/>
                </a:lnTo>
                <a:lnTo>
                  <a:pt x="16" y="5"/>
                </a:lnTo>
                <a:lnTo>
                  <a:pt x="15" y="5"/>
                </a:lnTo>
                <a:lnTo>
                  <a:pt x="15" y="3"/>
                </a:lnTo>
                <a:lnTo>
                  <a:pt x="13" y="2"/>
                </a:lnTo>
                <a:lnTo>
                  <a:pt x="11" y="2"/>
                </a:lnTo>
                <a:lnTo>
                  <a:pt x="10" y="2"/>
                </a:lnTo>
                <a:lnTo>
                  <a:pt x="8" y="0"/>
                </a:lnTo>
                <a:lnTo>
                  <a:pt x="7" y="2"/>
                </a:lnTo>
                <a:lnTo>
                  <a:pt x="5" y="2"/>
                </a:lnTo>
                <a:lnTo>
                  <a:pt x="3" y="2"/>
                </a:lnTo>
                <a:lnTo>
                  <a:pt x="3" y="3"/>
                </a:lnTo>
                <a:lnTo>
                  <a:pt x="2" y="5"/>
                </a:lnTo>
                <a:lnTo>
                  <a:pt x="0" y="5"/>
                </a:lnTo>
                <a:lnTo>
                  <a:pt x="0" y="7"/>
                </a:lnTo>
                <a:lnTo>
                  <a:pt x="0" y="8"/>
                </a:lnTo>
                <a:lnTo>
                  <a:pt x="0" y="10"/>
                </a:lnTo>
                <a:lnTo>
                  <a:pt x="0" y="12"/>
                </a:lnTo>
                <a:lnTo>
                  <a:pt x="2" y="13"/>
                </a:lnTo>
                <a:lnTo>
                  <a:pt x="3" y="15"/>
                </a:lnTo>
                <a:lnTo>
                  <a:pt x="3" y="17"/>
                </a:lnTo>
                <a:lnTo>
                  <a:pt x="5" y="17"/>
                </a:lnTo>
                <a:lnTo>
                  <a:pt x="7" y="17"/>
                </a:lnTo>
                <a:lnTo>
                  <a:pt x="8" y="17"/>
                </a:lnTo>
                <a:lnTo>
                  <a:pt x="10" y="17"/>
                </a:lnTo>
                <a:lnTo>
                  <a:pt x="11" y="17"/>
                </a:lnTo>
                <a:lnTo>
                  <a:pt x="13" y="17"/>
                </a:lnTo>
                <a:lnTo>
                  <a:pt x="15" y="15"/>
                </a:lnTo>
                <a:lnTo>
                  <a:pt x="15" y="13"/>
                </a:lnTo>
                <a:lnTo>
                  <a:pt x="16" y="12"/>
                </a:lnTo>
                <a:lnTo>
                  <a:pt x="16" y="10"/>
                </a:lnTo>
                <a:lnTo>
                  <a:pt x="16" y="8"/>
                </a:lnTo>
                <a:close/>
                <a:moveTo>
                  <a:pt x="13" y="8"/>
                </a:moveTo>
                <a:lnTo>
                  <a:pt x="13" y="10"/>
                </a:lnTo>
                <a:lnTo>
                  <a:pt x="13" y="12"/>
                </a:lnTo>
                <a:lnTo>
                  <a:pt x="11" y="13"/>
                </a:lnTo>
                <a:lnTo>
                  <a:pt x="10" y="13"/>
                </a:lnTo>
                <a:lnTo>
                  <a:pt x="8" y="13"/>
                </a:lnTo>
                <a:lnTo>
                  <a:pt x="7" y="13"/>
                </a:lnTo>
                <a:lnTo>
                  <a:pt x="5" y="13"/>
                </a:lnTo>
                <a:lnTo>
                  <a:pt x="5" y="12"/>
                </a:lnTo>
                <a:lnTo>
                  <a:pt x="3" y="12"/>
                </a:lnTo>
                <a:lnTo>
                  <a:pt x="3" y="10"/>
                </a:lnTo>
                <a:lnTo>
                  <a:pt x="3" y="8"/>
                </a:lnTo>
                <a:lnTo>
                  <a:pt x="3" y="7"/>
                </a:lnTo>
                <a:lnTo>
                  <a:pt x="5" y="7"/>
                </a:lnTo>
                <a:lnTo>
                  <a:pt x="5" y="5"/>
                </a:lnTo>
                <a:lnTo>
                  <a:pt x="7" y="5"/>
                </a:lnTo>
                <a:lnTo>
                  <a:pt x="7" y="3"/>
                </a:lnTo>
                <a:lnTo>
                  <a:pt x="8" y="3"/>
                </a:lnTo>
                <a:lnTo>
                  <a:pt x="10" y="3"/>
                </a:lnTo>
                <a:lnTo>
                  <a:pt x="10" y="5"/>
                </a:lnTo>
                <a:lnTo>
                  <a:pt x="11" y="5"/>
                </a:lnTo>
                <a:lnTo>
                  <a:pt x="13" y="7"/>
                </a:lnTo>
                <a:lnTo>
                  <a:pt x="13" y="8"/>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48" name="Freeform 2053">
            <a:extLst>
              <a:ext uri="{FF2B5EF4-FFF2-40B4-BE49-F238E27FC236}">
                <a16:creationId xmlns:a16="http://schemas.microsoft.com/office/drawing/2014/main" id="{84C79E3E-45F1-5974-C7BF-6979479809CA}"/>
              </a:ext>
            </a:extLst>
          </p:cNvPr>
          <p:cNvSpPr>
            <a:spLocks noEditPoints="1"/>
          </p:cNvSpPr>
          <p:nvPr/>
        </p:nvSpPr>
        <p:spPr bwMode="auto">
          <a:xfrm>
            <a:off x="2547938" y="2747963"/>
            <a:ext cx="20638" cy="20638"/>
          </a:xfrm>
          <a:custGeom>
            <a:avLst/>
            <a:gdLst>
              <a:gd name="T0" fmla="*/ 13 w 13"/>
              <a:gd name="T1" fmla="*/ 6 h 13"/>
              <a:gd name="T2" fmla="*/ 13 w 13"/>
              <a:gd name="T3" fmla="*/ 6 h 13"/>
              <a:gd name="T4" fmla="*/ 13 w 13"/>
              <a:gd name="T5" fmla="*/ 5 h 13"/>
              <a:gd name="T6" fmla="*/ 11 w 13"/>
              <a:gd name="T7" fmla="*/ 3 h 13"/>
              <a:gd name="T8" fmla="*/ 9 w 13"/>
              <a:gd name="T9" fmla="*/ 1 h 13"/>
              <a:gd name="T10" fmla="*/ 8 w 13"/>
              <a:gd name="T11" fmla="*/ 1 h 13"/>
              <a:gd name="T12" fmla="*/ 6 w 13"/>
              <a:gd name="T13" fmla="*/ 0 h 13"/>
              <a:gd name="T14" fmla="*/ 5 w 13"/>
              <a:gd name="T15" fmla="*/ 1 h 13"/>
              <a:gd name="T16" fmla="*/ 3 w 13"/>
              <a:gd name="T17" fmla="*/ 1 h 13"/>
              <a:gd name="T18" fmla="*/ 1 w 13"/>
              <a:gd name="T19" fmla="*/ 3 h 13"/>
              <a:gd name="T20" fmla="*/ 0 w 13"/>
              <a:gd name="T21" fmla="*/ 5 h 13"/>
              <a:gd name="T22" fmla="*/ 0 w 13"/>
              <a:gd name="T23" fmla="*/ 6 h 13"/>
              <a:gd name="T24" fmla="*/ 0 w 13"/>
              <a:gd name="T25" fmla="*/ 8 h 13"/>
              <a:gd name="T26" fmla="*/ 0 w 13"/>
              <a:gd name="T27" fmla="*/ 10 h 13"/>
              <a:gd name="T28" fmla="*/ 1 w 13"/>
              <a:gd name="T29" fmla="*/ 11 h 13"/>
              <a:gd name="T30" fmla="*/ 3 w 13"/>
              <a:gd name="T31" fmla="*/ 13 h 13"/>
              <a:gd name="T32" fmla="*/ 5 w 13"/>
              <a:gd name="T33" fmla="*/ 13 h 13"/>
              <a:gd name="T34" fmla="*/ 6 w 13"/>
              <a:gd name="T35" fmla="*/ 13 h 13"/>
              <a:gd name="T36" fmla="*/ 8 w 13"/>
              <a:gd name="T37" fmla="*/ 13 h 13"/>
              <a:gd name="T38" fmla="*/ 9 w 13"/>
              <a:gd name="T39" fmla="*/ 13 h 13"/>
              <a:gd name="T40" fmla="*/ 11 w 13"/>
              <a:gd name="T41" fmla="*/ 11 h 13"/>
              <a:gd name="T42" fmla="*/ 13 w 13"/>
              <a:gd name="T43" fmla="*/ 10 h 13"/>
              <a:gd name="T44" fmla="*/ 13 w 13"/>
              <a:gd name="T45" fmla="*/ 8 h 13"/>
              <a:gd name="T46" fmla="*/ 13 w 13"/>
              <a:gd name="T47" fmla="*/ 6 h 13"/>
              <a:gd name="T48" fmla="*/ 9 w 13"/>
              <a:gd name="T49" fmla="*/ 6 h 13"/>
              <a:gd name="T50" fmla="*/ 9 w 13"/>
              <a:gd name="T51" fmla="*/ 8 h 13"/>
              <a:gd name="T52" fmla="*/ 9 w 13"/>
              <a:gd name="T53" fmla="*/ 10 h 13"/>
              <a:gd name="T54" fmla="*/ 8 w 13"/>
              <a:gd name="T55" fmla="*/ 10 h 13"/>
              <a:gd name="T56" fmla="*/ 6 w 13"/>
              <a:gd name="T57" fmla="*/ 10 h 13"/>
              <a:gd name="T58" fmla="*/ 5 w 13"/>
              <a:gd name="T59" fmla="*/ 10 h 13"/>
              <a:gd name="T60" fmla="*/ 3 w 13"/>
              <a:gd name="T61" fmla="*/ 10 h 13"/>
              <a:gd name="T62" fmla="*/ 3 w 13"/>
              <a:gd name="T63" fmla="*/ 8 h 13"/>
              <a:gd name="T64" fmla="*/ 3 w 13"/>
              <a:gd name="T65" fmla="*/ 6 h 13"/>
              <a:gd name="T66" fmla="*/ 3 w 13"/>
              <a:gd name="T67" fmla="*/ 5 h 13"/>
              <a:gd name="T68" fmla="*/ 5 w 13"/>
              <a:gd name="T69" fmla="*/ 5 h 13"/>
              <a:gd name="T70" fmla="*/ 6 w 13"/>
              <a:gd name="T71" fmla="*/ 3 h 13"/>
              <a:gd name="T72" fmla="*/ 8 w 13"/>
              <a:gd name="T73" fmla="*/ 5 h 13"/>
              <a:gd name="T74" fmla="*/ 9 w 13"/>
              <a:gd name="T75" fmla="*/ 5 h 13"/>
              <a:gd name="T76" fmla="*/ 9 w 13"/>
              <a:gd name="T77" fmla="*/ 6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3" h="13">
                <a:moveTo>
                  <a:pt x="13" y="6"/>
                </a:moveTo>
                <a:lnTo>
                  <a:pt x="13" y="6"/>
                </a:lnTo>
                <a:lnTo>
                  <a:pt x="13" y="5"/>
                </a:lnTo>
                <a:lnTo>
                  <a:pt x="11" y="3"/>
                </a:lnTo>
                <a:lnTo>
                  <a:pt x="9" y="1"/>
                </a:lnTo>
                <a:lnTo>
                  <a:pt x="8" y="1"/>
                </a:lnTo>
                <a:lnTo>
                  <a:pt x="6" y="0"/>
                </a:lnTo>
                <a:lnTo>
                  <a:pt x="5" y="1"/>
                </a:lnTo>
                <a:lnTo>
                  <a:pt x="3" y="1"/>
                </a:lnTo>
                <a:lnTo>
                  <a:pt x="1" y="3"/>
                </a:lnTo>
                <a:lnTo>
                  <a:pt x="0" y="5"/>
                </a:lnTo>
                <a:lnTo>
                  <a:pt x="0" y="6"/>
                </a:lnTo>
                <a:lnTo>
                  <a:pt x="0" y="8"/>
                </a:lnTo>
                <a:lnTo>
                  <a:pt x="0" y="10"/>
                </a:lnTo>
                <a:lnTo>
                  <a:pt x="1" y="11"/>
                </a:lnTo>
                <a:lnTo>
                  <a:pt x="3" y="13"/>
                </a:lnTo>
                <a:lnTo>
                  <a:pt x="5" y="13"/>
                </a:lnTo>
                <a:lnTo>
                  <a:pt x="6" y="13"/>
                </a:lnTo>
                <a:lnTo>
                  <a:pt x="8" y="13"/>
                </a:lnTo>
                <a:lnTo>
                  <a:pt x="9" y="13"/>
                </a:lnTo>
                <a:lnTo>
                  <a:pt x="11" y="11"/>
                </a:lnTo>
                <a:lnTo>
                  <a:pt x="13" y="10"/>
                </a:lnTo>
                <a:lnTo>
                  <a:pt x="13" y="8"/>
                </a:lnTo>
                <a:lnTo>
                  <a:pt x="13" y="6"/>
                </a:lnTo>
                <a:close/>
                <a:moveTo>
                  <a:pt x="9" y="6"/>
                </a:moveTo>
                <a:lnTo>
                  <a:pt x="9" y="8"/>
                </a:lnTo>
                <a:lnTo>
                  <a:pt x="9" y="10"/>
                </a:lnTo>
                <a:lnTo>
                  <a:pt x="8" y="10"/>
                </a:lnTo>
                <a:lnTo>
                  <a:pt x="6" y="10"/>
                </a:lnTo>
                <a:lnTo>
                  <a:pt x="5" y="10"/>
                </a:lnTo>
                <a:lnTo>
                  <a:pt x="3" y="10"/>
                </a:lnTo>
                <a:lnTo>
                  <a:pt x="3" y="8"/>
                </a:lnTo>
                <a:lnTo>
                  <a:pt x="3" y="6"/>
                </a:lnTo>
                <a:lnTo>
                  <a:pt x="3" y="5"/>
                </a:lnTo>
                <a:lnTo>
                  <a:pt x="5" y="5"/>
                </a:lnTo>
                <a:lnTo>
                  <a:pt x="6" y="3"/>
                </a:lnTo>
                <a:lnTo>
                  <a:pt x="8" y="5"/>
                </a:lnTo>
                <a:lnTo>
                  <a:pt x="9" y="5"/>
                </a:lnTo>
                <a:lnTo>
                  <a:pt x="9" y="6"/>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49" name="Freeform 2054">
            <a:extLst>
              <a:ext uri="{FF2B5EF4-FFF2-40B4-BE49-F238E27FC236}">
                <a16:creationId xmlns:a16="http://schemas.microsoft.com/office/drawing/2014/main" id="{409C0FB4-529D-0296-9154-AAD9D0FC22F6}"/>
              </a:ext>
            </a:extLst>
          </p:cNvPr>
          <p:cNvSpPr>
            <a:spLocks/>
          </p:cNvSpPr>
          <p:nvPr/>
        </p:nvSpPr>
        <p:spPr bwMode="auto">
          <a:xfrm>
            <a:off x="2549525" y="2749550"/>
            <a:ext cx="15875" cy="15875"/>
          </a:xfrm>
          <a:custGeom>
            <a:avLst/>
            <a:gdLst>
              <a:gd name="T0" fmla="*/ 10 w 10"/>
              <a:gd name="T1" fmla="*/ 5 h 10"/>
              <a:gd name="T2" fmla="*/ 10 w 10"/>
              <a:gd name="T3" fmla="*/ 5 h 10"/>
              <a:gd name="T4" fmla="*/ 10 w 10"/>
              <a:gd name="T5" fmla="*/ 4 h 10"/>
              <a:gd name="T6" fmla="*/ 8 w 10"/>
              <a:gd name="T7" fmla="*/ 2 h 10"/>
              <a:gd name="T8" fmla="*/ 7 w 10"/>
              <a:gd name="T9" fmla="*/ 2 h 10"/>
              <a:gd name="T10" fmla="*/ 7 w 10"/>
              <a:gd name="T11" fmla="*/ 0 h 10"/>
              <a:gd name="T12" fmla="*/ 5 w 10"/>
              <a:gd name="T13" fmla="*/ 0 h 10"/>
              <a:gd name="T14" fmla="*/ 4 w 10"/>
              <a:gd name="T15" fmla="*/ 0 h 10"/>
              <a:gd name="T16" fmla="*/ 4 w 10"/>
              <a:gd name="T17" fmla="*/ 2 h 10"/>
              <a:gd name="T18" fmla="*/ 2 w 10"/>
              <a:gd name="T19" fmla="*/ 2 h 10"/>
              <a:gd name="T20" fmla="*/ 2 w 10"/>
              <a:gd name="T21" fmla="*/ 4 h 10"/>
              <a:gd name="T22" fmla="*/ 0 w 10"/>
              <a:gd name="T23" fmla="*/ 4 h 10"/>
              <a:gd name="T24" fmla="*/ 0 w 10"/>
              <a:gd name="T25" fmla="*/ 5 h 10"/>
              <a:gd name="T26" fmla="*/ 0 w 10"/>
              <a:gd name="T27" fmla="*/ 7 h 10"/>
              <a:gd name="T28" fmla="*/ 0 w 10"/>
              <a:gd name="T29" fmla="*/ 9 h 10"/>
              <a:gd name="T30" fmla="*/ 2 w 10"/>
              <a:gd name="T31" fmla="*/ 9 h 10"/>
              <a:gd name="T32" fmla="*/ 2 w 10"/>
              <a:gd name="T33" fmla="*/ 10 h 10"/>
              <a:gd name="T34" fmla="*/ 4 w 10"/>
              <a:gd name="T35" fmla="*/ 10 h 10"/>
              <a:gd name="T36" fmla="*/ 5 w 10"/>
              <a:gd name="T37" fmla="*/ 10 h 10"/>
              <a:gd name="T38" fmla="*/ 7 w 10"/>
              <a:gd name="T39" fmla="*/ 10 h 10"/>
              <a:gd name="T40" fmla="*/ 8 w 10"/>
              <a:gd name="T41" fmla="*/ 10 h 10"/>
              <a:gd name="T42" fmla="*/ 10 w 10"/>
              <a:gd name="T43" fmla="*/ 9 h 10"/>
              <a:gd name="T44" fmla="*/ 10 w 10"/>
              <a:gd name="T45" fmla="*/ 7 h 10"/>
              <a:gd name="T46" fmla="*/ 10 w 10"/>
              <a:gd name="T47" fmla="*/ 5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0" h="10">
                <a:moveTo>
                  <a:pt x="10" y="5"/>
                </a:moveTo>
                <a:lnTo>
                  <a:pt x="10" y="5"/>
                </a:lnTo>
                <a:lnTo>
                  <a:pt x="10" y="4"/>
                </a:lnTo>
                <a:lnTo>
                  <a:pt x="8" y="2"/>
                </a:lnTo>
                <a:lnTo>
                  <a:pt x="7" y="2"/>
                </a:lnTo>
                <a:lnTo>
                  <a:pt x="7" y="0"/>
                </a:lnTo>
                <a:lnTo>
                  <a:pt x="5" y="0"/>
                </a:lnTo>
                <a:lnTo>
                  <a:pt x="4" y="0"/>
                </a:lnTo>
                <a:lnTo>
                  <a:pt x="4" y="2"/>
                </a:lnTo>
                <a:lnTo>
                  <a:pt x="2" y="2"/>
                </a:lnTo>
                <a:lnTo>
                  <a:pt x="2" y="4"/>
                </a:lnTo>
                <a:lnTo>
                  <a:pt x="0" y="4"/>
                </a:lnTo>
                <a:lnTo>
                  <a:pt x="0" y="5"/>
                </a:lnTo>
                <a:lnTo>
                  <a:pt x="0" y="7"/>
                </a:lnTo>
                <a:lnTo>
                  <a:pt x="0" y="9"/>
                </a:lnTo>
                <a:lnTo>
                  <a:pt x="2" y="9"/>
                </a:lnTo>
                <a:lnTo>
                  <a:pt x="2" y="10"/>
                </a:lnTo>
                <a:lnTo>
                  <a:pt x="4" y="10"/>
                </a:lnTo>
                <a:lnTo>
                  <a:pt x="5" y="10"/>
                </a:lnTo>
                <a:lnTo>
                  <a:pt x="7" y="10"/>
                </a:lnTo>
                <a:lnTo>
                  <a:pt x="8" y="10"/>
                </a:lnTo>
                <a:lnTo>
                  <a:pt x="10" y="9"/>
                </a:lnTo>
                <a:lnTo>
                  <a:pt x="10" y="7"/>
                </a:lnTo>
                <a:lnTo>
                  <a:pt x="10" y="5"/>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50" name="Freeform 2055">
            <a:extLst>
              <a:ext uri="{FF2B5EF4-FFF2-40B4-BE49-F238E27FC236}">
                <a16:creationId xmlns:a16="http://schemas.microsoft.com/office/drawing/2014/main" id="{172A565D-CEEB-A346-BB1B-8D9920CC5930}"/>
              </a:ext>
            </a:extLst>
          </p:cNvPr>
          <p:cNvSpPr>
            <a:spLocks/>
          </p:cNvSpPr>
          <p:nvPr/>
        </p:nvSpPr>
        <p:spPr bwMode="auto">
          <a:xfrm>
            <a:off x="2552700" y="2752725"/>
            <a:ext cx="9525" cy="11113"/>
          </a:xfrm>
          <a:custGeom>
            <a:avLst/>
            <a:gdLst>
              <a:gd name="T0" fmla="*/ 6 w 6"/>
              <a:gd name="T1" fmla="*/ 3 h 7"/>
              <a:gd name="T2" fmla="*/ 6 w 6"/>
              <a:gd name="T3" fmla="*/ 3 h 7"/>
              <a:gd name="T4" fmla="*/ 6 w 6"/>
              <a:gd name="T5" fmla="*/ 2 h 7"/>
              <a:gd name="T6" fmla="*/ 5 w 6"/>
              <a:gd name="T7" fmla="*/ 2 h 7"/>
              <a:gd name="T8" fmla="*/ 3 w 6"/>
              <a:gd name="T9" fmla="*/ 0 h 7"/>
              <a:gd name="T10" fmla="*/ 2 w 6"/>
              <a:gd name="T11" fmla="*/ 2 h 7"/>
              <a:gd name="T12" fmla="*/ 0 w 6"/>
              <a:gd name="T13" fmla="*/ 2 h 7"/>
              <a:gd name="T14" fmla="*/ 0 w 6"/>
              <a:gd name="T15" fmla="*/ 3 h 7"/>
              <a:gd name="T16" fmla="*/ 0 w 6"/>
              <a:gd name="T17" fmla="*/ 5 h 7"/>
              <a:gd name="T18" fmla="*/ 0 w 6"/>
              <a:gd name="T19" fmla="*/ 7 h 7"/>
              <a:gd name="T20" fmla="*/ 2 w 6"/>
              <a:gd name="T21" fmla="*/ 7 h 7"/>
              <a:gd name="T22" fmla="*/ 3 w 6"/>
              <a:gd name="T23" fmla="*/ 7 h 7"/>
              <a:gd name="T24" fmla="*/ 5 w 6"/>
              <a:gd name="T25" fmla="*/ 7 h 7"/>
              <a:gd name="T26" fmla="*/ 6 w 6"/>
              <a:gd name="T27" fmla="*/ 7 h 7"/>
              <a:gd name="T28" fmla="*/ 6 w 6"/>
              <a:gd name="T29" fmla="*/ 5 h 7"/>
              <a:gd name="T30" fmla="*/ 6 w 6"/>
              <a:gd name="T31" fmla="*/ 3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 h="7">
                <a:moveTo>
                  <a:pt x="6" y="3"/>
                </a:moveTo>
                <a:lnTo>
                  <a:pt x="6" y="3"/>
                </a:lnTo>
                <a:lnTo>
                  <a:pt x="6" y="2"/>
                </a:lnTo>
                <a:lnTo>
                  <a:pt x="5" y="2"/>
                </a:lnTo>
                <a:lnTo>
                  <a:pt x="3" y="0"/>
                </a:lnTo>
                <a:lnTo>
                  <a:pt x="2" y="2"/>
                </a:lnTo>
                <a:lnTo>
                  <a:pt x="0" y="2"/>
                </a:lnTo>
                <a:lnTo>
                  <a:pt x="0" y="3"/>
                </a:lnTo>
                <a:lnTo>
                  <a:pt x="0" y="5"/>
                </a:lnTo>
                <a:lnTo>
                  <a:pt x="0" y="7"/>
                </a:lnTo>
                <a:lnTo>
                  <a:pt x="2" y="7"/>
                </a:lnTo>
                <a:lnTo>
                  <a:pt x="3" y="7"/>
                </a:lnTo>
                <a:lnTo>
                  <a:pt x="5" y="7"/>
                </a:lnTo>
                <a:lnTo>
                  <a:pt x="6" y="7"/>
                </a:lnTo>
                <a:lnTo>
                  <a:pt x="6" y="5"/>
                </a:lnTo>
                <a:lnTo>
                  <a:pt x="6" y="3"/>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51" name="Freeform 2056">
            <a:extLst>
              <a:ext uri="{FF2B5EF4-FFF2-40B4-BE49-F238E27FC236}">
                <a16:creationId xmlns:a16="http://schemas.microsoft.com/office/drawing/2014/main" id="{3107C604-5073-2151-3AE8-211EDA05C2B4}"/>
              </a:ext>
            </a:extLst>
          </p:cNvPr>
          <p:cNvSpPr>
            <a:spLocks/>
          </p:cNvSpPr>
          <p:nvPr/>
        </p:nvSpPr>
        <p:spPr bwMode="auto">
          <a:xfrm>
            <a:off x="2555875" y="2755900"/>
            <a:ext cx="4763" cy="4763"/>
          </a:xfrm>
          <a:custGeom>
            <a:avLst/>
            <a:gdLst>
              <a:gd name="T0" fmla="*/ 3 w 3"/>
              <a:gd name="T1" fmla="*/ 1 h 3"/>
              <a:gd name="T2" fmla="*/ 3 w 3"/>
              <a:gd name="T3" fmla="*/ 1 h 3"/>
              <a:gd name="T4" fmla="*/ 1 w 3"/>
              <a:gd name="T5" fmla="*/ 0 h 3"/>
              <a:gd name="T6" fmla="*/ 1 w 3"/>
              <a:gd name="T7" fmla="*/ 1 h 3"/>
              <a:gd name="T8" fmla="*/ 0 w 3"/>
              <a:gd name="T9" fmla="*/ 1 h 3"/>
              <a:gd name="T10" fmla="*/ 0 w 3"/>
              <a:gd name="T11" fmla="*/ 3 h 3"/>
              <a:gd name="T12" fmla="*/ 1 w 3"/>
              <a:gd name="T13" fmla="*/ 3 h 3"/>
              <a:gd name="T14" fmla="*/ 3 w 3"/>
              <a:gd name="T15" fmla="*/ 3 h 3"/>
              <a:gd name="T16" fmla="*/ 3 w 3"/>
              <a:gd name="T17" fmla="*/ 1 h 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 h="3">
                <a:moveTo>
                  <a:pt x="3" y="1"/>
                </a:moveTo>
                <a:lnTo>
                  <a:pt x="3" y="1"/>
                </a:lnTo>
                <a:lnTo>
                  <a:pt x="1" y="0"/>
                </a:lnTo>
                <a:lnTo>
                  <a:pt x="1" y="1"/>
                </a:lnTo>
                <a:lnTo>
                  <a:pt x="0" y="1"/>
                </a:lnTo>
                <a:lnTo>
                  <a:pt x="0" y="3"/>
                </a:lnTo>
                <a:lnTo>
                  <a:pt x="1" y="3"/>
                </a:lnTo>
                <a:lnTo>
                  <a:pt x="3" y="3"/>
                </a:lnTo>
                <a:lnTo>
                  <a:pt x="3"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52" name="Rectangle 2057">
            <a:extLst>
              <a:ext uri="{FF2B5EF4-FFF2-40B4-BE49-F238E27FC236}">
                <a16:creationId xmlns:a16="http://schemas.microsoft.com/office/drawing/2014/main" id="{A1828A4D-AFAC-2F51-BCF3-9C5F42583860}"/>
              </a:ext>
            </a:extLst>
          </p:cNvPr>
          <p:cNvSpPr>
            <a:spLocks noChangeArrowheads="1"/>
          </p:cNvSpPr>
          <p:nvPr/>
        </p:nvSpPr>
        <p:spPr bwMode="auto">
          <a:xfrm>
            <a:off x="1951038" y="2719388"/>
            <a:ext cx="1216025" cy="80963"/>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1853" name="Freeform 2058">
            <a:extLst>
              <a:ext uri="{FF2B5EF4-FFF2-40B4-BE49-F238E27FC236}">
                <a16:creationId xmlns:a16="http://schemas.microsoft.com/office/drawing/2014/main" id="{B140C6BD-0C80-4CFE-9A32-E82FBD066CA8}"/>
              </a:ext>
            </a:extLst>
          </p:cNvPr>
          <p:cNvSpPr>
            <a:spLocks noEditPoints="1"/>
          </p:cNvSpPr>
          <p:nvPr/>
        </p:nvSpPr>
        <p:spPr bwMode="auto">
          <a:xfrm>
            <a:off x="3167063" y="2403475"/>
            <a:ext cx="704850" cy="396875"/>
          </a:xfrm>
          <a:custGeom>
            <a:avLst/>
            <a:gdLst>
              <a:gd name="T0" fmla="*/ 441 w 444"/>
              <a:gd name="T1" fmla="*/ 0 h 250"/>
              <a:gd name="T2" fmla="*/ 444 w 444"/>
              <a:gd name="T3" fmla="*/ 0 h 250"/>
              <a:gd name="T4" fmla="*/ 444 w 444"/>
              <a:gd name="T5" fmla="*/ 6 h 250"/>
              <a:gd name="T6" fmla="*/ 444 w 444"/>
              <a:gd name="T7" fmla="*/ 5 h 250"/>
              <a:gd name="T8" fmla="*/ 443 w 444"/>
              <a:gd name="T9" fmla="*/ 5 h 250"/>
              <a:gd name="T10" fmla="*/ 443 w 444"/>
              <a:gd name="T11" fmla="*/ 3 h 250"/>
              <a:gd name="T12" fmla="*/ 441 w 444"/>
              <a:gd name="T13" fmla="*/ 1 h 250"/>
              <a:gd name="T14" fmla="*/ 441 w 444"/>
              <a:gd name="T15" fmla="*/ 0 h 250"/>
              <a:gd name="T16" fmla="*/ 4 w 444"/>
              <a:gd name="T17" fmla="*/ 248 h 250"/>
              <a:gd name="T18" fmla="*/ 0 w 444"/>
              <a:gd name="T19" fmla="*/ 250 h 250"/>
              <a:gd name="T20" fmla="*/ 0 w 444"/>
              <a:gd name="T21" fmla="*/ 243 h 250"/>
              <a:gd name="T22" fmla="*/ 0 w 444"/>
              <a:gd name="T23" fmla="*/ 245 h 250"/>
              <a:gd name="T24" fmla="*/ 2 w 444"/>
              <a:gd name="T25" fmla="*/ 245 h 250"/>
              <a:gd name="T26" fmla="*/ 2 w 444"/>
              <a:gd name="T27" fmla="*/ 247 h 250"/>
              <a:gd name="T28" fmla="*/ 2 w 444"/>
              <a:gd name="T29" fmla="*/ 248 h 250"/>
              <a:gd name="T30" fmla="*/ 4 w 444"/>
              <a:gd name="T31" fmla="*/ 248 h 2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44" h="250">
                <a:moveTo>
                  <a:pt x="441" y="0"/>
                </a:moveTo>
                <a:lnTo>
                  <a:pt x="444" y="0"/>
                </a:lnTo>
                <a:lnTo>
                  <a:pt x="444" y="6"/>
                </a:lnTo>
                <a:lnTo>
                  <a:pt x="444" y="5"/>
                </a:lnTo>
                <a:lnTo>
                  <a:pt x="443" y="5"/>
                </a:lnTo>
                <a:lnTo>
                  <a:pt x="443" y="3"/>
                </a:lnTo>
                <a:lnTo>
                  <a:pt x="441" y="1"/>
                </a:lnTo>
                <a:lnTo>
                  <a:pt x="441" y="0"/>
                </a:lnTo>
                <a:close/>
                <a:moveTo>
                  <a:pt x="4" y="248"/>
                </a:moveTo>
                <a:lnTo>
                  <a:pt x="0" y="250"/>
                </a:lnTo>
                <a:lnTo>
                  <a:pt x="0" y="243"/>
                </a:lnTo>
                <a:lnTo>
                  <a:pt x="0" y="245"/>
                </a:lnTo>
                <a:lnTo>
                  <a:pt x="2" y="245"/>
                </a:lnTo>
                <a:lnTo>
                  <a:pt x="2" y="247"/>
                </a:lnTo>
                <a:lnTo>
                  <a:pt x="2" y="248"/>
                </a:lnTo>
                <a:lnTo>
                  <a:pt x="4" y="248"/>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54" name="Freeform 2059">
            <a:extLst>
              <a:ext uri="{FF2B5EF4-FFF2-40B4-BE49-F238E27FC236}">
                <a16:creationId xmlns:a16="http://schemas.microsoft.com/office/drawing/2014/main" id="{2DBE9E3A-A71C-E47A-967C-957822A4EDEC}"/>
              </a:ext>
            </a:extLst>
          </p:cNvPr>
          <p:cNvSpPr>
            <a:spLocks noEditPoints="1"/>
          </p:cNvSpPr>
          <p:nvPr/>
        </p:nvSpPr>
        <p:spPr bwMode="auto">
          <a:xfrm>
            <a:off x="3167063" y="2403475"/>
            <a:ext cx="704850" cy="393700"/>
          </a:xfrm>
          <a:custGeom>
            <a:avLst/>
            <a:gdLst>
              <a:gd name="T0" fmla="*/ 444 w 444"/>
              <a:gd name="T1" fmla="*/ 3 h 248"/>
              <a:gd name="T2" fmla="*/ 444 w 444"/>
              <a:gd name="T3" fmla="*/ 1 h 248"/>
              <a:gd name="T4" fmla="*/ 443 w 444"/>
              <a:gd name="T5" fmla="*/ 1 h 248"/>
              <a:gd name="T6" fmla="*/ 443 w 444"/>
              <a:gd name="T7" fmla="*/ 0 h 248"/>
              <a:gd name="T8" fmla="*/ 439 w 444"/>
              <a:gd name="T9" fmla="*/ 1 h 248"/>
              <a:gd name="T10" fmla="*/ 441 w 444"/>
              <a:gd name="T11" fmla="*/ 3 h 248"/>
              <a:gd name="T12" fmla="*/ 441 w 444"/>
              <a:gd name="T13" fmla="*/ 5 h 248"/>
              <a:gd name="T14" fmla="*/ 443 w 444"/>
              <a:gd name="T15" fmla="*/ 6 h 248"/>
              <a:gd name="T16" fmla="*/ 443 w 444"/>
              <a:gd name="T17" fmla="*/ 8 h 248"/>
              <a:gd name="T18" fmla="*/ 444 w 444"/>
              <a:gd name="T19" fmla="*/ 10 h 248"/>
              <a:gd name="T20" fmla="*/ 444 w 444"/>
              <a:gd name="T21" fmla="*/ 3 h 248"/>
              <a:gd name="T22" fmla="*/ 0 w 444"/>
              <a:gd name="T23" fmla="*/ 247 h 248"/>
              <a:gd name="T24" fmla="*/ 0 w 444"/>
              <a:gd name="T25" fmla="*/ 247 h 248"/>
              <a:gd name="T26" fmla="*/ 0 w 444"/>
              <a:gd name="T27" fmla="*/ 248 h 248"/>
              <a:gd name="T28" fmla="*/ 2 w 444"/>
              <a:gd name="T29" fmla="*/ 248 h 248"/>
              <a:gd name="T30" fmla="*/ 4 w 444"/>
              <a:gd name="T31" fmla="*/ 248 h 248"/>
              <a:gd name="T32" fmla="*/ 4 w 444"/>
              <a:gd name="T33" fmla="*/ 247 h 248"/>
              <a:gd name="T34" fmla="*/ 4 w 444"/>
              <a:gd name="T35" fmla="*/ 245 h 248"/>
              <a:gd name="T36" fmla="*/ 2 w 444"/>
              <a:gd name="T37" fmla="*/ 245 h 248"/>
              <a:gd name="T38" fmla="*/ 2 w 444"/>
              <a:gd name="T39" fmla="*/ 243 h 248"/>
              <a:gd name="T40" fmla="*/ 2 w 444"/>
              <a:gd name="T41" fmla="*/ 242 h 248"/>
              <a:gd name="T42" fmla="*/ 0 w 444"/>
              <a:gd name="T43" fmla="*/ 242 h 248"/>
              <a:gd name="T44" fmla="*/ 0 w 444"/>
              <a:gd name="T45" fmla="*/ 240 h 248"/>
              <a:gd name="T46" fmla="*/ 0 w 444"/>
              <a:gd name="T47" fmla="*/ 247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44" h="248">
                <a:moveTo>
                  <a:pt x="444" y="3"/>
                </a:moveTo>
                <a:lnTo>
                  <a:pt x="444" y="1"/>
                </a:lnTo>
                <a:lnTo>
                  <a:pt x="443" y="1"/>
                </a:lnTo>
                <a:lnTo>
                  <a:pt x="443" y="0"/>
                </a:lnTo>
                <a:lnTo>
                  <a:pt x="439" y="1"/>
                </a:lnTo>
                <a:lnTo>
                  <a:pt x="441" y="3"/>
                </a:lnTo>
                <a:lnTo>
                  <a:pt x="441" y="5"/>
                </a:lnTo>
                <a:lnTo>
                  <a:pt x="443" y="6"/>
                </a:lnTo>
                <a:lnTo>
                  <a:pt x="443" y="8"/>
                </a:lnTo>
                <a:lnTo>
                  <a:pt x="444" y="10"/>
                </a:lnTo>
                <a:lnTo>
                  <a:pt x="444" y="3"/>
                </a:lnTo>
                <a:close/>
                <a:moveTo>
                  <a:pt x="0" y="247"/>
                </a:moveTo>
                <a:lnTo>
                  <a:pt x="0" y="247"/>
                </a:lnTo>
                <a:lnTo>
                  <a:pt x="0" y="248"/>
                </a:lnTo>
                <a:lnTo>
                  <a:pt x="2" y="248"/>
                </a:lnTo>
                <a:lnTo>
                  <a:pt x="4" y="248"/>
                </a:lnTo>
                <a:lnTo>
                  <a:pt x="4" y="247"/>
                </a:lnTo>
                <a:lnTo>
                  <a:pt x="4" y="245"/>
                </a:lnTo>
                <a:lnTo>
                  <a:pt x="2" y="245"/>
                </a:lnTo>
                <a:lnTo>
                  <a:pt x="2" y="243"/>
                </a:lnTo>
                <a:lnTo>
                  <a:pt x="2" y="242"/>
                </a:lnTo>
                <a:lnTo>
                  <a:pt x="0" y="242"/>
                </a:lnTo>
                <a:lnTo>
                  <a:pt x="0" y="240"/>
                </a:lnTo>
                <a:lnTo>
                  <a:pt x="0" y="247"/>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55" name="Freeform 2060">
            <a:extLst>
              <a:ext uri="{FF2B5EF4-FFF2-40B4-BE49-F238E27FC236}">
                <a16:creationId xmlns:a16="http://schemas.microsoft.com/office/drawing/2014/main" id="{CE0A4630-7BB3-F1A0-A5F3-71B6A013E6BB}"/>
              </a:ext>
            </a:extLst>
          </p:cNvPr>
          <p:cNvSpPr>
            <a:spLocks noEditPoints="1"/>
          </p:cNvSpPr>
          <p:nvPr/>
        </p:nvSpPr>
        <p:spPr bwMode="auto">
          <a:xfrm>
            <a:off x="3167063" y="2403475"/>
            <a:ext cx="704850" cy="393700"/>
          </a:xfrm>
          <a:custGeom>
            <a:avLst/>
            <a:gdLst>
              <a:gd name="T0" fmla="*/ 444 w 444"/>
              <a:gd name="T1" fmla="*/ 6 h 248"/>
              <a:gd name="T2" fmla="*/ 444 w 444"/>
              <a:gd name="T3" fmla="*/ 5 h 248"/>
              <a:gd name="T4" fmla="*/ 443 w 444"/>
              <a:gd name="T5" fmla="*/ 5 h 248"/>
              <a:gd name="T6" fmla="*/ 443 w 444"/>
              <a:gd name="T7" fmla="*/ 3 h 248"/>
              <a:gd name="T8" fmla="*/ 441 w 444"/>
              <a:gd name="T9" fmla="*/ 1 h 248"/>
              <a:gd name="T10" fmla="*/ 441 w 444"/>
              <a:gd name="T11" fmla="*/ 0 h 248"/>
              <a:gd name="T12" fmla="*/ 438 w 444"/>
              <a:gd name="T13" fmla="*/ 1 h 248"/>
              <a:gd name="T14" fmla="*/ 439 w 444"/>
              <a:gd name="T15" fmla="*/ 3 h 248"/>
              <a:gd name="T16" fmla="*/ 439 w 444"/>
              <a:gd name="T17" fmla="*/ 5 h 248"/>
              <a:gd name="T18" fmla="*/ 441 w 444"/>
              <a:gd name="T19" fmla="*/ 6 h 248"/>
              <a:gd name="T20" fmla="*/ 441 w 444"/>
              <a:gd name="T21" fmla="*/ 8 h 248"/>
              <a:gd name="T22" fmla="*/ 443 w 444"/>
              <a:gd name="T23" fmla="*/ 10 h 248"/>
              <a:gd name="T24" fmla="*/ 443 w 444"/>
              <a:gd name="T25" fmla="*/ 11 h 248"/>
              <a:gd name="T26" fmla="*/ 444 w 444"/>
              <a:gd name="T27" fmla="*/ 13 h 248"/>
              <a:gd name="T28" fmla="*/ 444 w 444"/>
              <a:gd name="T29" fmla="*/ 6 h 248"/>
              <a:gd name="T30" fmla="*/ 0 w 444"/>
              <a:gd name="T31" fmla="*/ 243 h 248"/>
              <a:gd name="T32" fmla="*/ 0 w 444"/>
              <a:gd name="T33" fmla="*/ 243 h 248"/>
              <a:gd name="T34" fmla="*/ 0 w 444"/>
              <a:gd name="T35" fmla="*/ 245 h 248"/>
              <a:gd name="T36" fmla="*/ 2 w 444"/>
              <a:gd name="T37" fmla="*/ 245 h 248"/>
              <a:gd name="T38" fmla="*/ 2 w 444"/>
              <a:gd name="T39" fmla="*/ 247 h 248"/>
              <a:gd name="T40" fmla="*/ 2 w 444"/>
              <a:gd name="T41" fmla="*/ 248 h 248"/>
              <a:gd name="T42" fmla="*/ 4 w 444"/>
              <a:gd name="T43" fmla="*/ 248 h 248"/>
              <a:gd name="T44" fmla="*/ 5 w 444"/>
              <a:gd name="T45" fmla="*/ 247 h 248"/>
              <a:gd name="T46" fmla="*/ 5 w 444"/>
              <a:gd name="T47" fmla="*/ 245 h 248"/>
              <a:gd name="T48" fmla="*/ 4 w 444"/>
              <a:gd name="T49" fmla="*/ 243 h 248"/>
              <a:gd name="T50" fmla="*/ 2 w 444"/>
              <a:gd name="T51" fmla="*/ 242 h 248"/>
              <a:gd name="T52" fmla="*/ 2 w 444"/>
              <a:gd name="T53" fmla="*/ 240 h 248"/>
              <a:gd name="T54" fmla="*/ 2 w 444"/>
              <a:gd name="T55" fmla="*/ 238 h 248"/>
              <a:gd name="T56" fmla="*/ 0 w 444"/>
              <a:gd name="T57" fmla="*/ 237 h 248"/>
              <a:gd name="T58" fmla="*/ 0 w 444"/>
              <a:gd name="T59" fmla="*/ 235 h 248"/>
              <a:gd name="T60" fmla="*/ 0 w 444"/>
              <a:gd name="T61" fmla="*/ 243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44" h="248">
                <a:moveTo>
                  <a:pt x="444" y="6"/>
                </a:moveTo>
                <a:lnTo>
                  <a:pt x="444" y="5"/>
                </a:lnTo>
                <a:lnTo>
                  <a:pt x="443" y="5"/>
                </a:lnTo>
                <a:lnTo>
                  <a:pt x="443" y="3"/>
                </a:lnTo>
                <a:lnTo>
                  <a:pt x="441" y="1"/>
                </a:lnTo>
                <a:lnTo>
                  <a:pt x="441" y="0"/>
                </a:lnTo>
                <a:lnTo>
                  <a:pt x="438" y="1"/>
                </a:lnTo>
                <a:lnTo>
                  <a:pt x="439" y="3"/>
                </a:lnTo>
                <a:lnTo>
                  <a:pt x="439" y="5"/>
                </a:lnTo>
                <a:lnTo>
                  <a:pt x="441" y="6"/>
                </a:lnTo>
                <a:lnTo>
                  <a:pt x="441" y="8"/>
                </a:lnTo>
                <a:lnTo>
                  <a:pt x="443" y="10"/>
                </a:lnTo>
                <a:lnTo>
                  <a:pt x="443" y="11"/>
                </a:lnTo>
                <a:lnTo>
                  <a:pt x="444" y="13"/>
                </a:lnTo>
                <a:lnTo>
                  <a:pt x="444" y="6"/>
                </a:lnTo>
                <a:close/>
                <a:moveTo>
                  <a:pt x="0" y="243"/>
                </a:moveTo>
                <a:lnTo>
                  <a:pt x="0" y="243"/>
                </a:lnTo>
                <a:lnTo>
                  <a:pt x="0" y="245"/>
                </a:lnTo>
                <a:lnTo>
                  <a:pt x="2" y="245"/>
                </a:lnTo>
                <a:lnTo>
                  <a:pt x="2" y="247"/>
                </a:lnTo>
                <a:lnTo>
                  <a:pt x="2" y="248"/>
                </a:lnTo>
                <a:lnTo>
                  <a:pt x="4" y="248"/>
                </a:lnTo>
                <a:lnTo>
                  <a:pt x="5" y="247"/>
                </a:lnTo>
                <a:lnTo>
                  <a:pt x="5" y="245"/>
                </a:lnTo>
                <a:lnTo>
                  <a:pt x="4" y="243"/>
                </a:lnTo>
                <a:lnTo>
                  <a:pt x="2" y="242"/>
                </a:lnTo>
                <a:lnTo>
                  <a:pt x="2" y="240"/>
                </a:lnTo>
                <a:lnTo>
                  <a:pt x="2" y="238"/>
                </a:lnTo>
                <a:lnTo>
                  <a:pt x="0" y="237"/>
                </a:lnTo>
                <a:lnTo>
                  <a:pt x="0" y="235"/>
                </a:lnTo>
                <a:lnTo>
                  <a:pt x="0" y="243"/>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56" name="Freeform 2061">
            <a:extLst>
              <a:ext uri="{FF2B5EF4-FFF2-40B4-BE49-F238E27FC236}">
                <a16:creationId xmlns:a16="http://schemas.microsoft.com/office/drawing/2014/main" id="{91662B14-8175-E8C6-0EFF-FDDE3A937912}"/>
              </a:ext>
            </a:extLst>
          </p:cNvPr>
          <p:cNvSpPr>
            <a:spLocks noEditPoints="1"/>
          </p:cNvSpPr>
          <p:nvPr/>
        </p:nvSpPr>
        <p:spPr bwMode="auto">
          <a:xfrm>
            <a:off x="3167063" y="2405063"/>
            <a:ext cx="704850" cy="392113"/>
          </a:xfrm>
          <a:custGeom>
            <a:avLst/>
            <a:gdLst>
              <a:gd name="T0" fmla="*/ 444 w 444"/>
              <a:gd name="T1" fmla="*/ 9 h 247"/>
              <a:gd name="T2" fmla="*/ 443 w 444"/>
              <a:gd name="T3" fmla="*/ 7 h 247"/>
              <a:gd name="T4" fmla="*/ 443 w 444"/>
              <a:gd name="T5" fmla="*/ 5 h 247"/>
              <a:gd name="T6" fmla="*/ 441 w 444"/>
              <a:gd name="T7" fmla="*/ 4 h 247"/>
              <a:gd name="T8" fmla="*/ 441 w 444"/>
              <a:gd name="T9" fmla="*/ 2 h 247"/>
              <a:gd name="T10" fmla="*/ 439 w 444"/>
              <a:gd name="T11" fmla="*/ 0 h 247"/>
              <a:gd name="T12" fmla="*/ 436 w 444"/>
              <a:gd name="T13" fmla="*/ 2 h 247"/>
              <a:gd name="T14" fmla="*/ 438 w 444"/>
              <a:gd name="T15" fmla="*/ 4 h 247"/>
              <a:gd name="T16" fmla="*/ 438 w 444"/>
              <a:gd name="T17" fmla="*/ 5 h 247"/>
              <a:gd name="T18" fmla="*/ 439 w 444"/>
              <a:gd name="T19" fmla="*/ 7 h 247"/>
              <a:gd name="T20" fmla="*/ 441 w 444"/>
              <a:gd name="T21" fmla="*/ 9 h 247"/>
              <a:gd name="T22" fmla="*/ 441 w 444"/>
              <a:gd name="T23" fmla="*/ 10 h 247"/>
              <a:gd name="T24" fmla="*/ 443 w 444"/>
              <a:gd name="T25" fmla="*/ 12 h 247"/>
              <a:gd name="T26" fmla="*/ 443 w 444"/>
              <a:gd name="T27" fmla="*/ 14 h 247"/>
              <a:gd name="T28" fmla="*/ 444 w 444"/>
              <a:gd name="T29" fmla="*/ 15 h 247"/>
              <a:gd name="T30" fmla="*/ 444 w 444"/>
              <a:gd name="T31" fmla="*/ 9 h 247"/>
              <a:gd name="T32" fmla="*/ 0 w 444"/>
              <a:gd name="T33" fmla="*/ 239 h 247"/>
              <a:gd name="T34" fmla="*/ 0 w 444"/>
              <a:gd name="T35" fmla="*/ 239 h 247"/>
              <a:gd name="T36" fmla="*/ 0 w 444"/>
              <a:gd name="T37" fmla="*/ 241 h 247"/>
              <a:gd name="T38" fmla="*/ 2 w 444"/>
              <a:gd name="T39" fmla="*/ 241 h 247"/>
              <a:gd name="T40" fmla="*/ 2 w 444"/>
              <a:gd name="T41" fmla="*/ 242 h 247"/>
              <a:gd name="T42" fmla="*/ 2 w 444"/>
              <a:gd name="T43" fmla="*/ 244 h 247"/>
              <a:gd name="T44" fmla="*/ 4 w 444"/>
              <a:gd name="T45" fmla="*/ 244 h 247"/>
              <a:gd name="T46" fmla="*/ 4 w 444"/>
              <a:gd name="T47" fmla="*/ 246 h 247"/>
              <a:gd name="T48" fmla="*/ 4 w 444"/>
              <a:gd name="T49" fmla="*/ 247 h 247"/>
              <a:gd name="T50" fmla="*/ 7 w 444"/>
              <a:gd name="T51" fmla="*/ 246 h 247"/>
              <a:gd name="T52" fmla="*/ 7 w 444"/>
              <a:gd name="T53" fmla="*/ 244 h 247"/>
              <a:gd name="T54" fmla="*/ 5 w 444"/>
              <a:gd name="T55" fmla="*/ 242 h 247"/>
              <a:gd name="T56" fmla="*/ 4 w 444"/>
              <a:gd name="T57" fmla="*/ 241 h 247"/>
              <a:gd name="T58" fmla="*/ 4 w 444"/>
              <a:gd name="T59" fmla="*/ 237 h 247"/>
              <a:gd name="T60" fmla="*/ 2 w 444"/>
              <a:gd name="T61" fmla="*/ 236 h 247"/>
              <a:gd name="T62" fmla="*/ 2 w 444"/>
              <a:gd name="T63" fmla="*/ 234 h 247"/>
              <a:gd name="T64" fmla="*/ 0 w 444"/>
              <a:gd name="T65" fmla="*/ 232 h 247"/>
              <a:gd name="T66" fmla="*/ 0 w 444"/>
              <a:gd name="T67" fmla="*/ 231 h 247"/>
              <a:gd name="T68" fmla="*/ 0 w 444"/>
              <a:gd name="T69" fmla="*/ 239 h 2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4" h="247">
                <a:moveTo>
                  <a:pt x="444" y="9"/>
                </a:moveTo>
                <a:lnTo>
                  <a:pt x="443" y="7"/>
                </a:lnTo>
                <a:lnTo>
                  <a:pt x="443" y="5"/>
                </a:lnTo>
                <a:lnTo>
                  <a:pt x="441" y="4"/>
                </a:lnTo>
                <a:lnTo>
                  <a:pt x="441" y="2"/>
                </a:lnTo>
                <a:lnTo>
                  <a:pt x="439" y="0"/>
                </a:lnTo>
                <a:lnTo>
                  <a:pt x="436" y="2"/>
                </a:lnTo>
                <a:lnTo>
                  <a:pt x="438" y="4"/>
                </a:lnTo>
                <a:lnTo>
                  <a:pt x="438" y="5"/>
                </a:lnTo>
                <a:lnTo>
                  <a:pt x="439" y="7"/>
                </a:lnTo>
                <a:lnTo>
                  <a:pt x="441" y="9"/>
                </a:lnTo>
                <a:lnTo>
                  <a:pt x="441" y="10"/>
                </a:lnTo>
                <a:lnTo>
                  <a:pt x="443" y="12"/>
                </a:lnTo>
                <a:lnTo>
                  <a:pt x="443" y="14"/>
                </a:lnTo>
                <a:lnTo>
                  <a:pt x="444" y="15"/>
                </a:lnTo>
                <a:lnTo>
                  <a:pt x="444" y="9"/>
                </a:lnTo>
                <a:close/>
                <a:moveTo>
                  <a:pt x="0" y="239"/>
                </a:moveTo>
                <a:lnTo>
                  <a:pt x="0" y="239"/>
                </a:lnTo>
                <a:lnTo>
                  <a:pt x="0" y="241"/>
                </a:lnTo>
                <a:lnTo>
                  <a:pt x="2" y="241"/>
                </a:lnTo>
                <a:lnTo>
                  <a:pt x="2" y="242"/>
                </a:lnTo>
                <a:lnTo>
                  <a:pt x="2" y="244"/>
                </a:lnTo>
                <a:lnTo>
                  <a:pt x="4" y="244"/>
                </a:lnTo>
                <a:lnTo>
                  <a:pt x="4" y="246"/>
                </a:lnTo>
                <a:lnTo>
                  <a:pt x="4" y="247"/>
                </a:lnTo>
                <a:lnTo>
                  <a:pt x="7" y="246"/>
                </a:lnTo>
                <a:lnTo>
                  <a:pt x="7" y="244"/>
                </a:lnTo>
                <a:lnTo>
                  <a:pt x="5" y="242"/>
                </a:lnTo>
                <a:lnTo>
                  <a:pt x="4" y="241"/>
                </a:lnTo>
                <a:lnTo>
                  <a:pt x="4" y="237"/>
                </a:lnTo>
                <a:lnTo>
                  <a:pt x="2" y="236"/>
                </a:lnTo>
                <a:lnTo>
                  <a:pt x="2" y="234"/>
                </a:lnTo>
                <a:lnTo>
                  <a:pt x="0" y="232"/>
                </a:lnTo>
                <a:lnTo>
                  <a:pt x="0" y="231"/>
                </a:lnTo>
                <a:lnTo>
                  <a:pt x="0" y="239"/>
                </a:lnTo>
                <a:close/>
              </a:path>
            </a:pathLst>
          </a:custGeom>
          <a:solidFill>
            <a:srgbClr val="74C3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57" name="Freeform 2062">
            <a:extLst>
              <a:ext uri="{FF2B5EF4-FFF2-40B4-BE49-F238E27FC236}">
                <a16:creationId xmlns:a16="http://schemas.microsoft.com/office/drawing/2014/main" id="{35E67C68-B30D-730A-245B-C30590E79298}"/>
              </a:ext>
            </a:extLst>
          </p:cNvPr>
          <p:cNvSpPr>
            <a:spLocks noEditPoints="1"/>
          </p:cNvSpPr>
          <p:nvPr/>
        </p:nvSpPr>
        <p:spPr bwMode="auto">
          <a:xfrm>
            <a:off x="3167063" y="2405063"/>
            <a:ext cx="704850" cy="390525"/>
          </a:xfrm>
          <a:custGeom>
            <a:avLst/>
            <a:gdLst>
              <a:gd name="T0" fmla="*/ 444 w 444"/>
              <a:gd name="T1" fmla="*/ 12 h 246"/>
              <a:gd name="T2" fmla="*/ 443 w 444"/>
              <a:gd name="T3" fmla="*/ 10 h 246"/>
              <a:gd name="T4" fmla="*/ 443 w 444"/>
              <a:gd name="T5" fmla="*/ 9 h 246"/>
              <a:gd name="T6" fmla="*/ 441 w 444"/>
              <a:gd name="T7" fmla="*/ 7 h 246"/>
              <a:gd name="T8" fmla="*/ 441 w 444"/>
              <a:gd name="T9" fmla="*/ 5 h 246"/>
              <a:gd name="T10" fmla="*/ 439 w 444"/>
              <a:gd name="T11" fmla="*/ 4 h 246"/>
              <a:gd name="T12" fmla="*/ 439 w 444"/>
              <a:gd name="T13" fmla="*/ 2 h 246"/>
              <a:gd name="T14" fmla="*/ 438 w 444"/>
              <a:gd name="T15" fmla="*/ 0 h 246"/>
              <a:gd name="T16" fmla="*/ 434 w 444"/>
              <a:gd name="T17" fmla="*/ 2 h 246"/>
              <a:gd name="T18" fmla="*/ 436 w 444"/>
              <a:gd name="T19" fmla="*/ 4 h 246"/>
              <a:gd name="T20" fmla="*/ 438 w 444"/>
              <a:gd name="T21" fmla="*/ 7 h 246"/>
              <a:gd name="T22" fmla="*/ 438 w 444"/>
              <a:gd name="T23" fmla="*/ 9 h 246"/>
              <a:gd name="T24" fmla="*/ 439 w 444"/>
              <a:gd name="T25" fmla="*/ 10 h 246"/>
              <a:gd name="T26" fmla="*/ 441 w 444"/>
              <a:gd name="T27" fmla="*/ 14 h 246"/>
              <a:gd name="T28" fmla="*/ 441 w 444"/>
              <a:gd name="T29" fmla="*/ 15 h 246"/>
              <a:gd name="T30" fmla="*/ 443 w 444"/>
              <a:gd name="T31" fmla="*/ 17 h 246"/>
              <a:gd name="T32" fmla="*/ 444 w 444"/>
              <a:gd name="T33" fmla="*/ 20 h 246"/>
              <a:gd name="T34" fmla="*/ 444 w 444"/>
              <a:gd name="T35" fmla="*/ 12 h 246"/>
              <a:gd name="T36" fmla="*/ 0 w 444"/>
              <a:gd name="T37" fmla="*/ 234 h 246"/>
              <a:gd name="T38" fmla="*/ 0 w 444"/>
              <a:gd name="T39" fmla="*/ 236 h 246"/>
              <a:gd name="T40" fmla="*/ 2 w 444"/>
              <a:gd name="T41" fmla="*/ 237 h 246"/>
              <a:gd name="T42" fmla="*/ 2 w 444"/>
              <a:gd name="T43" fmla="*/ 239 h 246"/>
              <a:gd name="T44" fmla="*/ 2 w 444"/>
              <a:gd name="T45" fmla="*/ 241 h 246"/>
              <a:gd name="T46" fmla="*/ 4 w 444"/>
              <a:gd name="T47" fmla="*/ 242 h 246"/>
              <a:gd name="T48" fmla="*/ 5 w 444"/>
              <a:gd name="T49" fmla="*/ 244 h 246"/>
              <a:gd name="T50" fmla="*/ 5 w 444"/>
              <a:gd name="T51" fmla="*/ 246 h 246"/>
              <a:gd name="T52" fmla="*/ 9 w 444"/>
              <a:gd name="T53" fmla="*/ 244 h 246"/>
              <a:gd name="T54" fmla="*/ 7 w 444"/>
              <a:gd name="T55" fmla="*/ 242 h 246"/>
              <a:gd name="T56" fmla="*/ 7 w 444"/>
              <a:gd name="T57" fmla="*/ 241 h 246"/>
              <a:gd name="T58" fmla="*/ 5 w 444"/>
              <a:gd name="T59" fmla="*/ 237 h 246"/>
              <a:gd name="T60" fmla="*/ 4 w 444"/>
              <a:gd name="T61" fmla="*/ 236 h 246"/>
              <a:gd name="T62" fmla="*/ 4 w 444"/>
              <a:gd name="T63" fmla="*/ 234 h 246"/>
              <a:gd name="T64" fmla="*/ 2 w 444"/>
              <a:gd name="T65" fmla="*/ 231 h 246"/>
              <a:gd name="T66" fmla="*/ 0 w 444"/>
              <a:gd name="T67" fmla="*/ 229 h 246"/>
              <a:gd name="T68" fmla="*/ 0 w 444"/>
              <a:gd name="T69" fmla="*/ 227 h 246"/>
              <a:gd name="T70" fmla="*/ 0 w 444"/>
              <a:gd name="T71" fmla="*/ 234 h 2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44" h="246">
                <a:moveTo>
                  <a:pt x="444" y="12"/>
                </a:moveTo>
                <a:lnTo>
                  <a:pt x="443" y="10"/>
                </a:lnTo>
                <a:lnTo>
                  <a:pt x="443" y="9"/>
                </a:lnTo>
                <a:lnTo>
                  <a:pt x="441" y="7"/>
                </a:lnTo>
                <a:lnTo>
                  <a:pt x="441" y="5"/>
                </a:lnTo>
                <a:lnTo>
                  <a:pt x="439" y="4"/>
                </a:lnTo>
                <a:lnTo>
                  <a:pt x="439" y="2"/>
                </a:lnTo>
                <a:lnTo>
                  <a:pt x="438" y="0"/>
                </a:lnTo>
                <a:lnTo>
                  <a:pt x="434" y="2"/>
                </a:lnTo>
                <a:lnTo>
                  <a:pt x="436" y="4"/>
                </a:lnTo>
                <a:lnTo>
                  <a:pt x="438" y="7"/>
                </a:lnTo>
                <a:lnTo>
                  <a:pt x="438" y="9"/>
                </a:lnTo>
                <a:lnTo>
                  <a:pt x="439" y="10"/>
                </a:lnTo>
                <a:lnTo>
                  <a:pt x="441" y="14"/>
                </a:lnTo>
                <a:lnTo>
                  <a:pt x="441" y="15"/>
                </a:lnTo>
                <a:lnTo>
                  <a:pt x="443" y="17"/>
                </a:lnTo>
                <a:lnTo>
                  <a:pt x="444" y="20"/>
                </a:lnTo>
                <a:lnTo>
                  <a:pt x="444" y="12"/>
                </a:lnTo>
                <a:close/>
                <a:moveTo>
                  <a:pt x="0" y="234"/>
                </a:moveTo>
                <a:lnTo>
                  <a:pt x="0" y="236"/>
                </a:lnTo>
                <a:lnTo>
                  <a:pt x="2" y="237"/>
                </a:lnTo>
                <a:lnTo>
                  <a:pt x="2" y="239"/>
                </a:lnTo>
                <a:lnTo>
                  <a:pt x="2" y="241"/>
                </a:lnTo>
                <a:lnTo>
                  <a:pt x="4" y="242"/>
                </a:lnTo>
                <a:lnTo>
                  <a:pt x="5" y="244"/>
                </a:lnTo>
                <a:lnTo>
                  <a:pt x="5" y="246"/>
                </a:lnTo>
                <a:lnTo>
                  <a:pt x="9" y="244"/>
                </a:lnTo>
                <a:lnTo>
                  <a:pt x="7" y="242"/>
                </a:lnTo>
                <a:lnTo>
                  <a:pt x="7" y="241"/>
                </a:lnTo>
                <a:lnTo>
                  <a:pt x="5" y="237"/>
                </a:lnTo>
                <a:lnTo>
                  <a:pt x="4" y="236"/>
                </a:lnTo>
                <a:lnTo>
                  <a:pt x="4" y="234"/>
                </a:lnTo>
                <a:lnTo>
                  <a:pt x="2" y="231"/>
                </a:lnTo>
                <a:lnTo>
                  <a:pt x="0" y="229"/>
                </a:lnTo>
                <a:lnTo>
                  <a:pt x="0" y="227"/>
                </a:lnTo>
                <a:lnTo>
                  <a:pt x="0" y="234"/>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58" name="Freeform 2063">
            <a:extLst>
              <a:ext uri="{FF2B5EF4-FFF2-40B4-BE49-F238E27FC236}">
                <a16:creationId xmlns:a16="http://schemas.microsoft.com/office/drawing/2014/main" id="{2FD8646D-28EB-74C7-E546-19EEEB2B0864}"/>
              </a:ext>
            </a:extLst>
          </p:cNvPr>
          <p:cNvSpPr>
            <a:spLocks noEditPoints="1"/>
          </p:cNvSpPr>
          <p:nvPr/>
        </p:nvSpPr>
        <p:spPr bwMode="auto">
          <a:xfrm>
            <a:off x="3167063" y="2408238"/>
            <a:ext cx="704850" cy="387350"/>
          </a:xfrm>
          <a:custGeom>
            <a:avLst/>
            <a:gdLst>
              <a:gd name="T0" fmla="*/ 444 w 444"/>
              <a:gd name="T1" fmla="*/ 13 h 244"/>
              <a:gd name="T2" fmla="*/ 443 w 444"/>
              <a:gd name="T3" fmla="*/ 12 h 244"/>
              <a:gd name="T4" fmla="*/ 443 w 444"/>
              <a:gd name="T5" fmla="*/ 10 h 244"/>
              <a:gd name="T6" fmla="*/ 441 w 444"/>
              <a:gd name="T7" fmla="*/ 8 h 244"/>
              <a:gd name="T8" fmla="*/ 441 w 444"/>
              <a:gd name="T9" fmla="*/ 7 h 244"/>
              <a:gd name="T10" fmla="*/ 439 w 444"/>
              <a:gd name="T11" fmla="*/ 5 h 244"/>
              <a:gd name="T12" fmla="*/ 438 w 444"/>
              <a:gd name="T13" fmla="*/ 3 h 244"/>
              <a:gd name="T14" fmla="*/ 438 w 444"/>
              <a:gd name="T15" fmla="*/ 2 h 244"/>
              <a:gd name="T16" fmla="*/ 436 w 444"/>
              <a:gd name="T17" fmla="*/ 0 h 244"/>
              <a:gd name="T18" fmla="*/ 433 w 444"/>
              <a:gd name="T19" fmla="*/ 0 h 244"/>
              <a:gd name="T20" fmla="*/ 434 w 444"/>
              <a:gd name="T21" fmla="*/ 3 h 244"/>
              <a:gd name="T22" fmla="*/ 436 w 444"/>
              <a:gd name="T23" fmla="*/ 7 h 244"/>
              <a:gd name="T24" fmla="*/ 438 w 444"/>
              <a:gd name="T25" fmla="*/ 8 h 244"/>
              <a:gd name="T26" fmla="*/ 439 w 444"/>
              <a:gd name="T27" fmla="*/ 12 h 244"/>
              <a:gd name="T28" fmla="*/ 439 w 444"/>
              <a:gd name="T29" fmla="*/ 13 h 244"/>
              <a:gd name="T30" fmla="*/ 441 w 444"/>
              <a:gd name="T31" fmla="*/ 17 h 244"/>
              <a:gd name="T32" fmla="*/ 443 w 444"/>
              <a:gd name="T33" fmla="*/ 18 h 244"/>
              <a:gd name="T34" fmla="*/ 444 w 444"/>
              <a:gd name="T35" fmla="*/ 22 h 244"/>
              <a:gd name="T36" fmla="*/ 444 w 444"/>
              <a:gd name="T37" fmla="*/ 13 h 244"/>
              <a:gd name="T38" fmla="*/ 0 w 444"/>
              <a:gd name="T39" fmla="*/ 229 h 244"/>
              <a:gd name="T40" fmla="*/ 0 w 444"/>
              <a:gd name="T41" fmla="*/ 230 h 244"/>
              <a:gd name="T42" fmla="*/ 2 w 444"/>
              <a:gd name="T43" fmla="*/ 232 h 244"/>
              <a:gd name="T44" fmla="*/ 2 w 444"/>
              <a:gd name="T45" fmla="*/ 234 h 244"/>
              <a:gd name="T46" fmla="*/ 4 w 444"/>
              <a:gd name="T47" fmla="*/ 235 h 244"/>
              <a:gd name="T48" fmla="*/ 4 w 444"/>
              <a:gd name="T49" fmla="*/ 239 h 244"/>
              <a:gd name="T50" fmla="*/ 5 w 444"/>
              <a:gd name="T51" fmla="*/ 240 h 244"/>
              <a:gd name="T52" fmla="*/ 7 w 444"/>
              <a:gd name="T53" fmla="*/ 242 h 244"/>
              <a:gd name="T54" fmla="*/ 7 w 444"/>
              <a:gd name="T55" fmla="*/ 244 h 244"/>
              <a:gd name="T56" fmla="*/ 10 w 444"/>
              <a:gd name="T57" fmla="*/ 242 h 244"/>
              <a:gd name="T58" fmla="*/ 9 w 444"/>
              <a:gd name="T59" fmla="*/ 239 h 244"/>
              <a:gd name="T60" fmla="*/ 7 w 444"/>
              <a:gd name="T61" fmla="*/ 237 h 244"/>
              <a:gd name="T62" fmla="*/ 7 w 444"/>
              <a:gd name="T63" fmla="*/ 234 h 244"/>
              <a:gd name="T64" fmla="*/ 5 w 444"/>
              <a:gd name="T65" fmla="*/ 232 h 244"/>
              <a:gd name="T66" fmla="*/ 4 w 444"/>
              <a:gd name="T67" fmla="*/ 229 h 244"/>
              <a:gd name="T68" fmla="*/ 2 w 444"/>
              <a:gd name="T69" fmla="*/ 227 h 244"/>
              <a:gd name="T70" fmla="*/ 0 w 444"/>
              <a:gd name="T71" fmla="*/ 224 h 244"/>
              <a:gd name="T72" fmla="*/ 0 w 444"/>
              <a:gd name="T73" fmla="*/ 220 h 244"/>
              <a:gd name="T74" fmla="*/ 0 w 444"/>
              <a:gd name="T75" fmla="*/ 229 h 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44">
                <a:moveTo>
                  <a:pt x="444" y="13"/>
                </a:moveTo>
                <a:lnTo>
                  <a:pt x="443" y="12"/>
                </a:lnTo>
                <a:lnTo>
                  <a:pt x="443" y="10"/>
                </a:lnTo>
                <a:lnTo>
                  <a:pt x="441" y="8"/>
                </a:lnTo>
                <a:lnTo>
                  <a:pt x="441" y="7"/>
                </a:lnTo>
                <a:lnTo>
                  <a:pt x="439" y="5"/>
                </a:lnTo>
                <a:lnTo>
                  <a:pt x="438" y="3"/>
                </a:lnTo>
                <a:lnTo>
                  <a:pt x="438" y="2"/>
                </a:lnTo>
                <a:lnTo>
                  <a:pt x="436" y="0"/>
                </a:lnTo>
                <a:lnTo>
                  <a:pt x="433" y="0"/>
                </a:lnTo>
                <a:lnTo>
                  <a:pt x="434" y="3"/>
                </a:lnTo>
                <a:lnTo>
                  <a:pt x="436" y="7"/>
                </a:lnTo>
                <a:lnTo>
                  <a:pt x="438" y="8"/>
                </a:lnTo>
                <a:lnTo>
                  <a:pt x="439" y="12"/>
                </a:lnTo>
                <a:lnTo>
                  <a:pt x="439" y="13"/>
                </a:lnTo>
                <a:lnTo>
                  <a:pt x="441" y="17"/>
                </a:lnTo>
                <a:lnTo>
                  <a:pt x="443" y="18"/>
                </a:lnTo>
                <a:lnTo>
                  <a:pt x="444" y="22"/>
                </a:lnTo>
                <a:lnTo>
                  <a:pt x="444" y="13"/>
                </a:lnTo>
                <a:close/>
                <a:moveTo>
                  <a:pt x="0" y="229"/>
                </a:moveTo>
                <a:lnTo>
                  <a:pt x="0" y="230"/>
                </a:lnTo>
                <a:lnTo>
                  <a:pt x="2" y="232"/>
                </a:lnTo>
                <a:lnTo>
                  <a:pt x="2" y="234"/>
                </a:lnTo>
                <a:lnTo>
                  <a:pt x="4" y="235"/>
                </a:lnTo>
                <a:lnTo>
                  <a:pt x="4" y="239"/>
                </a:lnTo>
                <a:lnTo>
                  <a:pt x="5" y="240"/>
                </a:lnTo>
                <a:lnTo>
                  <a:pt x="7" y="242"/>
                </a:lnTo>
                <a:lnTo>
                  <a:pt x="7" y="244"/>
                </a:lnTo>
                <a:lnTo>
                  <a:pt x="10" y="242"/>
                </a:lnTo>
                <a:lnTo>
                  <a:pt x="9" y="239"/>
                </a:lnTo>
                <a:lnTo>
                  <a:pt x="7" y="237"/>
                </a:lnTo>
                <a:lnTo>
                  <a:pt x="7" y="234"/>
                </a:lnTo>
                <a:lnTo>
                  <a:pt x="5" y="232"/>
                </a:lnTo>
                <a:lnTo>
                  <a:pt x="4" y="229"/>
                </a:lnTo>
                <a:lnTo>
                  <a:pt x="2" y="227"/>
                </a:lnTo>
                <a:lnTo>
                  <a:pt x="0" y="224"/>
                </a:lnTo>
                <a:lnTo>
                  <a:pt x="0" y="220"/>
                </a:lnTo>
                <a:lnTo>
                  <a:pt x="0" y="229"/>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59" name="Freeform 2064">
            <a:extLst>
              <a:ext uri="{FF2B5EF4-FFF2-40B4-BE49-F238E27FC236}">
                <a16:creationId xmlns:a16="http://schemas.microsoft.com/office/drawing/2014/main" id="{6E070473-5481-AFDA-E0EF-618B047F0C5C}"/>
              </a:ext>
            </a:extLst>
          </p:cNvPr>
          <p:cNvSpPr>
            <a:spLocks noEditPoints="1"/>
          </p:cNvSpPr>
          <p:nvPr/>
        </p:nvSpPr>
        <p:spPr bwMode="auto">
          <a:xfrm>
            <a:off x="3167063" y="2408238"/>
            <a:ext cx="704850" cy="384175"/>
          </a:xfrm>
          <a:custGeom>
            <a:avLst/>
            <a:gdLst>
              <a:gd name="T0" fmla="*/ 444 w 444"/>
              <a:gd name="T1" fmla="*/ 18 h 242"/>
              <a:gd name="T2" fmla="*/ 443 w 444"/>
              <a:gd name="T3" fmla="*/ 15 h 242"/>
              <a:gd name="T4" fmla="*/ 441 w 444"/>
              <a:gd name="T5" fmla="*/ 13 h 242"/>
              <a:gd name="T6" fmla="*/ 441 w 444"/>
              <a:gd name="T7" fmla="*/ 12 h 242"/>
              <a:gd name="T8" fmla="*/ 439 w 444"/>
              <a:gd name="T9" fmla="*/ 8 h 242"/>
              <a:gd name="T10" fmla="*/ 438 w 444"/>
              <a:gd name="T11" fmla="*/ 7 h 242"/>
              <a:gd name="T12" fmla="*/ 438 w 444"/>
              <a:gd name="T13" fmla="*/ 5 h 242"/>
              <a:gd name="T14" fmla="*/ 436 w 444"/>
              <a:gd name="T15" fmla="*/ 2 h 242"/>
              <a:gd name="T16" fmla="*/ 434 w 444"/>
              <a:gd name="T17" fmla="*/ 0 h 242"/>
              <a:gd name="T18" fmla="*/ 431 w 444"/>
              <a:gd name="T19" fmla="*/ 2 h 242"/>
              <a:gd name="T20" fmla="*/ 433 w 444"/>
              <a:gd name="T21" fmla="*/ 5 h 242"/>
              <a:gd name="T22" fmla="*/ 434 w 444"/>
              <a:gd name="T23" fmla="*/ 7 h 242"/>
              <a:gd name="T24" fmla="*/ 436 w 444"/>
              <a:gd name="T25" fmla="*/ 10 h 242"/>
              <a:gd name="T26" fmla="*/ 438 w 444"/>
              <a:gd name="T27" fmla="*/ 13 h 242"/>
              <a:gd name="T28" fmla="*/ 439 w 444"/>
              <a:gd name="T29" fmla="*/ 17 h 242"/>
              <a:gd name="T30" fmla="*/ 441 w 444"/>
              <a:gd name="T31" fmla="*/ 20 h 242"/>
              <a:gd name="T32" fmla="*/ 443 w 444"/>
              <a:gd name="T33" fmla="*/ 23 h 242"/>
              <a:gd name="T34" fmla="*/ 444 w 444"/>
              <a:gd name="T35" fmla="*/ 25 h 242"/>
              <a:gd name="T36" fmla="*/ 444 w 444"/>
              <a:gd name="T37" fmla="*/ 18 h 242"/>
              <a:gd name="T38" fmla="*/ 0 w 444"/>
              <a:gd name="T39" fmla="*/ 225 h 242"/>
              <a:gd name="T40" fmla="*/ 0 w 444"/>
              <a:gd name="T41" fmla="*/ 227 h 242"/>
              <a:gd name="T42" fmla="*/ 2 w 444"/>
              <a:gd name="T43" fmla="*/ 229 h 242"/>
              <a:gd name="T44" fmla="*/ 4 w 444"/>
              <a:gd name="T45" fmla="*/ 232 h 242"/>
              <a:gd name="T46" fmla="*/ 4 w 444"/>
              <a:gd name="T47" fmla="*/ 234 h 242"/>
              <a:gd name="T48" fmla="*/ 5 w 444"/>
              <a:gd name="T49" fmla="*/ 235 h 242"/>
              <a:gd name="T50" fmla="*/ 7 w 444"/>
              <a:gd name="T51" fmla="*/ 239 h 242"/>
              <a:gd name="T52" fmla="*/ 7 w 444"/>
              <a:gd name="T53" fmla="*/ 240 h 242"/>
              <a:gd name="T54" fmla="*/ 9 w 444"/>
              <a:gd name="T55" fmla="*/ 242 h 242"/>
              <a:gd name="T56" fmla="*/ 12 w 444"/>
              <a:gd name="T57" fmla="*/ 240 h 242"/>
              <a:gd name="T58" fmla="*/ 10 w 444"/>
              <a:gd name="T59" fmla="*/ 239 h 242"/>
              <a:gd name="T60" fmla="*/ 9 w 444"/>
              <a:gd name="T61" fmla="*/ 235 h 242"/>
              <a:gd name="T62" fmla="*/ 7 w 444"/>
              <a:gd name="T63" fmla="*/ 232 h 242"/>
              <a:gd name="T64" fmla="*/ 5 w 444"/>
              <a:gd name="T65" fmla="*/ 229 h 242"/>
              <a:gd name="T66" fmla="*/ 4 w 444"/>
              <a:gd name="T67" fmla="*/ 225 h 242"/>
              <a:gd name="T68" fmla="*/ 2 w 444"/>
              <a:gd name="T69" fmla="*/ 224 h 242"/>
              <a:gd name="T70" fmla="*/ 2 w 444"/>
              <a:gd name="T71" fmla="*/ 220 h 242"/>
              <a:gd name="T72" fmla="*/ 0 w 444"/>
              <a:gd name="T73" fmla="*/ 217 h 242"/>
              <a:gd name="T74" fmla="*/ 0 w 444"/>
              <a:gd name="T75" fmla="*/ 225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42">
                <a:moveTo>
                  <a:pt x="444" y="18"/>
                </a:moveTo>
                <a:lnTo>
                  <a:pt x="443" y="15"/>
                </a:lnTo>
                <a:lnTo>
                  <a:pt x="441" y="13"/>
                </a:lnTo>
                <a:lnTo>
                  <a:pt x="441" y="12"/>
                </a:lnTo>
                <a:lnTo>
                  <a:pt x="439" y="8"/>
                </a:lnTo>
                <a:lnTo>
                  <a:pt x="438" y="7"/>
                </a:lnTo>
                <a:lnTo>
                  <a:pt x="438" y="5"/>
                </a:lnTo>
                <a:lnTo>
                  <a:pt x="436" y="2"/>
                </a:lnTo>
                <a:lnTo>
                  <a:pt x="434" y="0"/>
                </a:lnTo>
                <a:lnTo>
                  <a:pt x="431" y="2"/>
                </a:lnTo>
                <a:lnTo>
                  <a:pt x="433" y="5"/>
                </a:lnTo>
                <a:lnTo>
                  <a:pt x="434" y="7"/>
                </a:lnTo>
                <a:lnTo>
                  <a:pt x="436" y="10"/>
                </a:lnTo>
                <a:lnTo>
                  <a:pt x="438" y="13"/>
                </a:lnTo>
                <a:lnTo>
                  <a:pt x="439" y="17"/>
                </a:lnTo>
                <a:lnTo>
                  <a:pt x="441" y="20"/>
                </a:lnTo>
                <a:lnTo>
                  <a:pt x="443" y="23"/>
                </a:lnTo>
                <a:lnTo>
                  <a:pt x="444" y="25"/>
                </a:lnTo>
                <a:lnTo>
                  <a:pt x="444" y="18"/>
                </a:lnTo>
                <a:close/>
                <a:moveTo>
                  <a:pt x="0" y="225"/>
                </a:moveTo>
                <a:lnTo>
                  <a:pt x="0" y="227"/>
                </a:lnTo>
                <a:lnTo>
                  <a:pt x="2" y="229"/>
                </a:lnTo>
                <a:lnTo>
                  <a:pt x="4" y="232"/>
                </a:lnTo>
                <a:lnTo>
                  <a:pt x="4" y="234"/>
                </a:lnTo>
                <a:lnTo>
                  <a:pt x="5" y="235"/>
                </a:lnTo>
                <a:lnTo>
                  <a:pt x="7" y="239"/>
                </a:lnTo>
                <a:lnTo>
                  <a:pt x="7" y="240"/>
                </a:lnTo>
                <a:lnTo>
                  <a:pt x="9" y="242"/>
                </a:lnTo>
                <a:lnTo>
                  <a:pt x="12" y="240"/>
                </a:lnTo>
                <a:lnTo>
                  <a:pt x="10" y="239"/>
                </a:lnTo>
                <a:lnTo>
                  <a:pt x="9" y="235"/>
                </a:lnTo>
                <a:lnTo>
                  <a:pt x="7" y="232"/>
                </a:lnTo>
                <a:lnTo>
                  <a:pt x="5" y="229"/>
                </a:lnTo>
                <a:lnTo>
                  <a:pt x="4" y="225"/>
                </a:lnTo>
                <a:lnTo>
                  <a:pt x="2" y="224"/>
                </a:lnTo>
                <a:lnTo>
                  <a:pt x="2" y="220"/>
                </a:lnTo>
                <a:lnTo>
                  <a:pt x="0" y="217"/>
                </a:lnTo>
                <a:lnTo>
                  <a:pt x="0" y="225"/>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60" name="Freeform 2065">
            <a:extLst>
              <a:ext uri="{FF2B5EF4-FFF2-40B4-BE49-F238E27FC236}">
                <a16:creationId xmlns:a16="http://schemas.microsoft.com/office/drawing/2014/main" id="{D27DE929-2A86-4BEB-FA35-7DD90B02D4CD}"/>
              </a:ext>
            </a:extLst>
          </p:cNvPr>
          <p:cNvSpPr>
            <a:spLocks noEditPoints="1"/>
          </p:cNvSpPr>
          <p:nvPr/>
        </p:nvSpPr>
        <p:spPr bwMode="auto">
          <a:xfrm>
            <a:off x="3167063" y="2408238"/>
            <a:ext cx="704850" cy="384175"/>
          </a:xfrm>
          <a:custGeom>
            <a:avLst/>
            <a:gdLst>
              <a:gd name="T0" fmla="*/ 444 w 444"/>
              <a:gd name="T1" fmla="*/ 22 h 242"/>
              <a:gd name="T2" fmla="*/ 443 w 444"/>
              <a:gd name="T3" fmla="*/ 18 h 242"/>
              <a:gd name="T4" fmla="*/ 441 w 444"/>
              <a:gd name="T5" fmla="*/ 17 h 242"/>
              <a:gd name="T6" fmla="*/ 439 w 444"/>
              <a:gd name="T7" fmla="*/ 13 h 242"/>
              <a:gd name="T8" fmla="*/ 439 w 444"/>
              <a:gd name="T9" fmla="*/ 12 h 242"/>
              <a:gd name="T10" fmla="*/ 438 w 444"/>
              <a:gd name="T11" fmla="*/ 8 h 242"/>
              <a:gd name="T12" fmla="*/ 436 w 444"/>
              <a:gd name="T13" fmla="*/ 7 h 242"/>
              <a:gd name="T14" fmla="*/ 434 w 444"/>
              <a:gd name="T15" fmla="*/ 3 h 242"/>
              <a:gd name="T16" fmla="*/ 433 w 444"/>
              <a:gd name="T17" fmla="*/ 0 h 242"/>
              <a:gd name="T18" fmla="*/ 431 w 444"/>
              <a:gd name="T19" fmla="*/ 2 h 242"/>
              <a:gd name="T20" fmla="*/ 433 w 444"/>
              <a:gd name="T21" fmla="*/ 5 h 242"/>
              <a:gd name="T22" fmla="*/ 434 w 444"/>
              <a:gd name="T23" fmla="*/ 8 h 242"/>
              <a:gd name="T24" fmla="*/ 436 w 444"/>
              <a:gd name="T25" fmla="*/ 12 h 242"/>
              <a:gd name="T26" fmla="*/ 438 w 444"/>
              <a:gd name="T27" fmla="*/ 17 h 242"/>
              <a:gd name="T28" fmla="*/ 439 w 444"/>
              <a:gd name="T29" fmla="*/ 20 h 242"/>
              <a:gd name="T30" fmla="*/ 441 w 444"/>
              <a:gd name="T31" fmla="*/ 23 h 242"/>
              <a:gd name="T32" fmla="*/ 443 w 444"/>
              <a:gd name="T33" fmla="*/ 27 h 242"/>
              <a:gd name="T34" fmla="*/ 444 w 444"/>
              <a:gd name="T35" fmla="*/ 30 h 242"/>
              <a:gd name="T36" fmla="*/ 444 w 444"/>
              <a:gd name="T37" fmla="*/ 22 h 242"/>
              <a:gd name="T38" fmla="*/ 0 w 444"/>
              <a:gd name="T39" fmla="*/ 220 h 242"/>
              <a:gd name="T40" fmla="*/ 0 w 444"/>
              <a:gd name="T41" fmla="*/ 224 h 242"/>
              <a:gd name="T42" fmla="*/ 2 w 444"/>
              <a:gd name="T43" fmla="*/ 227 h 242"/>
              <a:gd name="T44" fmla="*/ 4 w 444"/>
              <a:gd name="T45" fmla="*/ 229 h 242"/>
              <a:gd name="T46" fmla="*/ 5 w 444"/>
              <a:gd name="T47" fmla="*/ 232 h 242"/>
              <a:gd name="T48" fmla="*/ 7 w 444"/>
              <a:gd name="T49" fmla="*/ 234 h 242"/>
              <a:gd name="T50" fmla="*/ 7 w 444"/>
              <a:gd name="T51" fmla="*/ 237 h 242"/>
              <a:gd name="T52" fmla="*/ 9 w 444"/>
              <a:gd name="T53" fmla="*/ 239 h 242"/>
              <a:gd name="T54" fmla="*/ 10 w 444"/>
              <a:gd name="T55" fmla="*/ 242 h 242"/>
              <a:gd name="T56" fmla="*/ 14 w 444"/>
              <a:gd name="T57" fmla="*/ 240 h 242"/>
              <a:gd name="T58" fmla="*/ 12 w 444"/>
              <a:gd name="T59" fmla="*/ 237 h 242"/>
              <a:gd name="T60" fmla="*/ 10 w 444"/>
              <a:gd name="T61" fmla="*/ 234 h 242"/>
              <a:gd name="T62" fmla="*/ 9 w 444"/>
              <a:gd name="T63" fmla="*/ 230 h 242"/>
              <a:gd name="T64" fmla="*/ 7 w 444"/>
              <a:gd name="T65" fmla="*/ 227 h 242"/>
              <a:gd name="T66" fmla="*/ 5 w 444"/>
              <a:gd name="T67" fmla="*/ 224 h 242"/>
              <a:gd name="T68" fmla="*/ 4 w 444"/>
              <a:gd name="T69" fmla="*/ 220 h 242"/>
              <a:gd name="T70" fmla="*/ 2 w 444"/>
              <a:gd name="T71" fmla="*/ 215 h 242"/>
              <a:gd name="T72" fmla="*/ 0 w 444"/>
              <a:gd name="T73" fmla="*/ 212 h 242"/>
              <a:gd name="T74" fmla="*/ 0 w 444"/>
              <a:gd name="T75" fmla="*/ 220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42">
                <a:moveTo>
                  <a:pt x="444" y="22"/>
                </a:moveTo>
                <a:lnTo>
                  <a:pt x="443" y="18"/>
                </a:lnTo>
                <a:lnTo>
                  <a:pt x="441" y="17"/>
                </a:lnTo>
                <a:lnTo>
                  <a:pt x="439" y="13"/>
                </a:lnTo>
                <a:lnTo>
                  <a:pt x="439" y="12"/>
                </a:lnTo>
                <a:lnTo>
                  <a:pt x="438" y="8"/>
                </a:lnTo>
                <a:lnTo>
                  <a:pt x="436" y="7"/>
                </a:lnTo>
                <a:lnTo>
                  <a:pt x="434" y="3"/>
                </a:lnTo>
                <a:lnTo>
                  <a:pt x="433" y="0"/>
                </a:lnTo>
                <a:lnTo>
                  <a:pt x="431" y="2"/>
                </a:lnTo>
                <a:lnTo>
                  <a:pt x="433" y="5"/>
                </a:lnTo>
                <a:lnTo>
                  <a:pt x="434" y="8"/>
                </a:lnTo>
                <a:lnTo>
                  <a:pt x="436" y="12"/>
                </a:lnTo>
                <a:lnTo>
                  <a:pt x="438" y="17"/>
                </a:lnTo>
                <a:lnTo>
                  <a:pt x="439" y="20"/>
                </a:lnTo>
                <a:lnTo>
                  <a:pt x="441" y="23"/>
                </a:lnTo>
                <a:lnTo>
                  <a:pt x="443" y="27"/>
                </a:lnTo>
                <a:lnTo>
                  <a:pt x="444" y="30"/>
                </a:lnTo>
                <a:lnTo>
                  <a:pt x="444" y="22"/>
                </a:lnTo>
                <a:close/>
                <a:moveTo>
                  <a:pt x="0" y="220"/>
                </a:moveTo>
                <a:lnTo>
                  <a:pt x="0" y="224"/>
                </a:lnTo>
                <a:lnTo>
                  <a:pt x="2" y="227"/>
                </a:lnTo>
                <a:lnTo>
                  <a:pt x="4" y="229"/>
                </a:lnTo>
                <a:lnTo>
                  <a:pt x="5" y="232"/>
                </a:lnTo>
                <a:lnTo>
                  <a:pt x="7" y="234"/>
                </a:lnTo>
                <a:lnTo>
                  <a:pt x="7" y="237"/>
                </a:lnTo>
                <a:lnTo>
                  <a:pt x="9" y="239"/>
                </a:lnTo>
                <a:lnTo>
                  <a:pt x="10" y="242"/>
                </a:lnTo>
                <a:lnTo>
                  <a:pt x="14" y="240"/>
                </a:lnTo>
                <a:lnTo>
                  <a:pt x="12" y="237"/>
                </a:lnTo>
                <a:lnTo>
                  <a:pt x="10" y="234"/>
                </a:lnTo>
                <a:lnTo>
                  <a:pt x="9" y="230"/>
                </a:lnTo>
                <a:lnTo>
                  <a:pt x="7" y="227"/>
                </a:lnTo>
                <a:lnTo>
                  <a:pt x="5" y="224"/>
                </a:lnTo>
                <a:lnTo>
                  <a:pt x="4" y="220"/>
                </a:lnTo>
                <a:lnTo>
                  <a:pt x="2" y="215"/>
                </a:lnTo>
                <a:lnTo>
                  <a:pt x="0" y="212"/>
                </a:lnTo>
                <a:lnTo>
                  <a:pt x="0" y="220"/>
                </a:lnTo>
                <a:close/>
              </a:path>
            </a:pathLst>
          </a:custGeom>
          <a:solidFill>
            <a:srgbClr val="78C4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61" name="Freeform 2066">
            <a:extLst>
              <a:ext uri="{FF2B5EF4-FFF2-40B4-BE49-F238E27FC236}">
                <a16:creationId xmlns:a16="http://schemas.microsoft.com/office/drawing/2014/main" id="{B3BDD168-46CF-8827-1BC8-8278139A8B1D}"/>
              </a:ext>
            </a:extLst>
          </p:cNvPr>
          <p:cNvSpPr>
            <a:spLocks noEditPoints="1"/>
          </p:cNvSpPr>
          <p:nvPr/>
        </p:nvSpPr>
        <p:spPr bwMode="auto">
          <a:xfrm>
            <a:off x="3167063" y="2411413"/>
            <a:ext cx="704850" cy="377825"/>
          </a:xfrm>
          <a:custGeom>
            <a:avLst/>
            <a:gdLst>
              <a:gd name="T0" fmla="*/ 444 w 444"/>
              <a:gd name="T1" fmla="*/ 23 h 238"/>
              <a:gd name="T2" fmla="*/ 443 w 444"/>
              <a:gd name="T3" fmla="*/ 21 h 238"/>
              <a:gd name="T4" fmla="*/ 441 w 444"/>
              <a:gd name="T5" fmla="*/ 18 h 238"/>
              <a:gd name="T6" fmla="*/ 439 w 444"/>
              <a:gd name="T7" fmla="*/ 15 h 238"/>
              <a:gd name="T8" fmla="*/ 438 w 444"/>
              <a:gd name="T9" fmla="*/ 11 h 238"/>
              <a:gd name="T10" fmla="*/ 436 w 444"/>
              <a:gd name="T11" fmla="*/ 8 h 238"/>
              <a:gd name="T12" fmla="*/ 434 w 444"/>
              <a:gd name="T13" fmla="*/ 5 h 238"/>
              <a:gd name="T14" fmla="*/ 433 w 444"/>
              <a:gd name="T15" fmla="*/ 3 h 238"/>
              <a:gd name="T16" fmla="*/ 431 w 444"/>
              <a:gd name="T17" fmla="*/ 0 h 238"/>
              <a:gd name="T18" fmla="*/ 429 w 444"/>
              <a:gd name="T19" fmla="*/ 1 h 238"/>
              <a:gd name="T20" fmla="*/ 431 w 444"/>
              <a:gd name="T21" fmla="*/ 5 h 238"/>
              <a:gd name="T22" fmla="*/ 433 w 444"/>
              <a:gd name="T23" fmla="*/ 8 h 238"/>
              <a:gd name="T24" fmla="*/ 434 w 444"/>
              <a:gd name="T25" fmla="*/ 13 h 238"/>
              <a:gd name="T26" fmla="*/ 438 w 444"/>
              <a:gd name="T27" fmla="*/ 16 h 238"/>
              <a:gd name="T28" fmla="*/ 439 w 444"/>
              <a:gd name="T29" fmla="*/ 20 h 238"/>
              <a:gd name="T30" fmla="*/ 441 w 444"/>
              <a:gd name="T31" fmla="*/ 25 h 238"/>
              <a:gd name="T32" fmla="*/ 443 w 444"/>
              <a:gd name="T33" fmla="*/ 28 h 238"/>
              <a:gd name="T34" fmla="*/ 444 w 444"/>
              <a:gd name="T35" fmla="*/ 33 h 238"/>
              <a:gd name="T36" fmla="*/ 444 w 444"/>
              <a:gd name="T37" fmla="*/ 23 h 238"/>
              <a:gd name="T38" fmla="*/ 0 w 444"/>
              <a:gd name="T39" fmla="*/ 215 h 238"/>
              <a:gd name="T40" fmla="*/ 2 w 444"/>
              <a:gd name="T41" fmla="*/ 218 h 238"/>
              <a:gd name="T42" fmla="*/ 2 w 444"/>
              <a:gd name="T43" fmla="*/ 222 h 238"/>
              <a:gd name="T44" fmla="*/ 4 w 444"/>
              <a:gd name="T45" fmla="*/ 223 h 238"/>
              <a:gd name="T46" fmla="*/ 5 w 444"/>
              <a:gd name="T47" fmla="*/ 227 h 238"/>
              <a:gd name="T48" fmla="*/ 7 w 444"/>
              <a:gd name="T49" fmla="*/ 230 h 238"/>
              <a:gd name="T50" fmla="*/ 9 w 444"/>
              <a:gd name="T51" fmla="*/ 233 h 238"/>
              <a:gd name="T52" fmla="*/ 10 w 444"/>
              <a:gd name="T53" fmla="*/ 237 h 238"/>
              <a:gd name="T54" fmla="*/ 12 w 444"/>
              <a:gd name="T55" fmla="*/ 238 h 238"/>
              <a:gd name="T56" fmla="*/ 15 w 444"/>
              <a:gd name="T57" fmla="*/ 238 h 238"/>
              <a:gd name="T58" fmla="*/ 14 w 444"/>
              <a:gd name="T59" fmla="*/ 233 h 238"/>
              <a:gd name="T60" fmla="*/ 10 w 444"/>
              <a:gd name="T61" fmla="*/ 230 h 238"/>
              <a:gd name="T62" fmla="*/ 9 w 444"/>
              <a:gd name="T63" fmla="*/ 227 h 238"/>
              <a:gd name="T64" fmla="*/ 7 w 444"/>
              <a:gd name="T65" fmla="*/ 222 h 238"/>
              <a:gd name="T66" fmla="*/ 5 w 444"/>
              <a:gd name="T67" fmla="*/ 218 h 238"/>
              <a:gd name="T68" fmla="*/ 4 w 444"/>
              <a:gd name="T69" fmla="*/ 215 h 238"/>
              <a:gd name="T70" fmla="*/ 2 w 444"/>
              <a:gd name="T71" fmla="*/ 210 h 238"/>
              <a:gd name="T72" fmla="*/ 0 w 444"/>
              <a:gd name="T73" fmla="*/ 207 h 238"/>
              <a:gd name="T74" fmla="*/ 0 w 444"/>
              <a:gd name="T75" fmla="*/ 215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38">
                <a:moveTo>
                  <a:pt x="444" y="23"/>
                </a:moveTo>
                <a:lnTo>
                  <a:pt x="443" y="21"/>
                </a:lnTo>
                <a:lnTo>
                  <a:pt x="441" y="18"/>
                </a:lnTo>
                <a:lnTo>
                  <a:pt x="439" y="15"/>
                </a:lnTo>
                <a:lnTo>
                  <a:pt x="438" y="11"/>
                </a:lnTo>
                <a:lnTo>
                  <a:pt x="436" y="8"/>
                </a:lnTo>
                <a:lnTo>
                  <a:pt x="434" y="5"/>
                </a:lnTo>
                <a:lnTo>
                  <a:pt x="433" y="3"/>
                </a:lnTo>
                <a:lnTo>
                  <a:pt x="431" y="0"/>
                </a:lnTo>
                <a:lnTo>
                  <a:pt x="429" y="1"/>
                </a:lnTo>
                <a:lnTo>
                  <a:pt x="431" y="5"/>
                </a:lnTo>
                <a:lnTo>
                  <a:pt x="433" y="8"/>
                </a:lnTo>
                <a:lnTo>
                  <a:pt x="434" y="13"/>
                </a:lnTo>
                <a:lnTo>
                  <a:pt x="438" y="16"/>
                </a:lnTo>
                <a:lnTo>
                  <a:pt x="439" y="20"/>
                </a:lnTo>
                <a:lnTo>
                  <a:pt x="441" y="25"/>
                </a:lnTo>
                <a:lnTo>
                  <a:pt x="443" y="28"/>
                </a:lnTo>
                <a:lnTo>
                  <a:pt x="444" y="33"/>
                </a:lnTo>
                <a:lnTo>
                  <a:pt x="444" y="23"/>
                </a:lnTo>
                <a:close/>
                <a:moveTo>
                  <a:pt x="0" y="215"/>
                </a:moveTo>
                <a:lnTo>
                  <a:pt x="2" y="218"/>
                </a:lnTo>
                <a:lnTo>
                  <a:pt x="2" y="222"/>
                </a:lnTo>
                <a:lnTo>
                  <a:pt x="4" y="223"/>
                </a:lnTo>
                <a:lnTo>
                  <a:pt x="5" y="227"/>
                </a:lnTo>
                <a:lnTo>
                  <a:pt x="7" y="230"/>
                </a:lnTo>
                <a:lnTo>
                  <a:pt x="9" y="233"/>
                </a:lnTo>
                <a:lnTo>
                  <a:pt x="10" y="237"/>
                </a:lnTo>
                <a:lnTo>
                  <a:pt x="12" y="238"/>
                </a:lnTo>
                <a:lnTo>
                  <a:pt x="15" y="238"/>
                </a:lnTo>
                <a:lnTo>
                  <a:pt x="14" y="233"/>
                </a:lnTo>
                <a:lnTo>
                  <a:pt x="10" y="230"/>
                </a:lnTo>
                <a:lnTo>
                  <a:pt x="9" y="227"/>
                </a:lnTo>
                <a:lnTo>
                  <a:pt x="7" y="222"/>
                </a:lnTo>
                <a:lnTo>
                  <a:pt x="5" y="218"/>
                </a:lnTo>
                <a:lnTo>
                  <a:pt x="4" y="215"/>
                </a:lnTo>
                <a:lnTo>
                  <a:pt x="2" y="210"/>
                </a:lnTo>
                <a:lnTo>
                  <a:pt x="0" y="207"/>
                </a:lnTo>
                <a:lnTo>
                  <a:pt x="0" y="215"/>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62" name="Freeform 2067">
            <a:extLst>
              <a:ext uri="{FF2B5EF4-FFF2-40B4-BE49-F238E27FC236}">
                <a16:creationId xmlns:a16="http://schemas.microsoft.com/office/drawing/2014/main" id="{E871E8D6-D6BA-2835-574B-418E5F14F6C7}"/>
              </a:ext>
            </a:extLst>
          </p:cNvPr>
          <p:cNvSpPr>
            <a:spLocks noEditPoints="1"/>
          </p:cNvSpPr>
          <p:nvPr/>
        </p:nvSpPr>
        <p:spPr bwMode="auto">
          <a:xfrm>
            <a:off x="3167063" y="2411413"/>
            <a:ext cx="704850" cy="377825"/>
          </a:xfrm>
          <a:custGeom>
            <a:avLst/>
            <a:gdLst>
              <a:gd name="T0" fmla="*/ 444 w 444"/>
              <a:gd name="T1" fmla="*/ 28 h 238"/>
              <a:gd name="T2" fmla="*/ 443 w 444"/>
              <a:gd name="T3" fmla="*/ 25 h 238"/>
              <a:gd name="T4" fmla="*/ 441 w 444"/>
              <a:gd name="T5" fmla="*/ 21 h 238"/>
              <a:gd name="T6" fmla="*/ 439 w 444"/>
              <a:gd name="T7" fmla="*/ 18 h 238"/>
              <a:gd name="T8" fmla="*/ 438 w 444"/>
              <a:gd name="T9" fmla="*/ 13 h 238"/>
              <a:gd name="T10" fmla="*/ 436 w 444"/>
              <a:gd name="T11" fmla="*/ 10 h 238"/>
              <a:gd name="T12" fmla="*/ 434 w 444"/>
              <a:gd name="T13" fmla="*/ 6 h 238"/>
              <a:gd name="T14" fmla="*/ 433 w 444"/>
              <a:gd name="T15" fmla="*/ 3 h 238"/>
              <a:gd name="T16" fmla="*/ 431 w 444"/>
              <a:gd name="T17" fmla="*/ 0 h 238"/>
              <a:gd name="T18" fmla="*/ 428 w 444"/>
              <a:gd name="T19" fmla="*/ 1 h 238"/>
              <a:gd name="T20" fmla="*/ 429 w 444"/>
              <a:gd name="T21" fmla="*/ 6 h 238"/>
              <a:gd name="T22" fmla="*/ 433 w 444"/>
              <a:gd name="T23" fmla="*/ 10 h 238"/>
              <a:gd name="T24" fmla="*/ 434 w 444"/>
              <a:gd name="T25" fmla="*/ 15 h 238"/>
              <a:gd name="T26" fmla="*/ 436 w 444"/>
              <a:gd name="T27" fmla="*/ 20 h 238"/>
              <a:gd name="T28" fmla="*/ 438 w 444"/>
              <a:gd name="T29" fmla="*/ 23 h 238"/>
              <a:gd name="T30" fmla="*/ 441 w 444"/>
              <a:gd name="T31" fmla="*/ 28 h 238"/>
              <a:gd name="T32" fmla="*/ 443 w 444"/>
              <a:gd name="T33" fmla="*/ 33 h 238"/>
              <a:gd name="T34" fmla="*/ 444 w 444"/>
              <a:gd name="T35" fmla="*/ 38 h 238"/>
              <a:gd name="T36" fmla="*/ 444 w 444"/>
              <a:gd name="T37" fmla="*/ 28 h 238"/>
              <a:gd name="T38" fmla="*/ 0 w 444"/>
              <a:gd name="T39" fmla="*/ 210 h 238"/>
              <a:gd name="T40" fmla="*/ 2 w 444"/>
              <a:gd name="T41" fmla="*/ 213 h 238"/>
              <a:gd name="T42" fmla="*/ 4 w 444"/>
              <a:gd name="T43" fmla="*/ 218 h 238"/>
              <a:gd name="T44" fmla="*/ 5 w 444"/>
              <a:gd name="T45" fmla="*/ 222 h 238"/>
              <a:gd name="T46" fmla="*/ 7 w 444"/>
              <a:gd name="T47" fmla="*/ 225 h 238"/>
              <a:gd name="T48" fmla="*/ 9 w 444"/>
              <a:gd name="T49" fmla="*/ 228 h 238"/>
              <a:gd name="T50" fmla="*/ 10 w 444"/>
              <a:gd name="T51" fmla="*/ 232 h 238"/>
              <a:gd name="T52" fmla="*/ 12 w 444"/>
              <a:gd name="T53" fmla="*/ 235 h 238"/>
              <a:gd name="T54" fmla="*/ 14 w 444"/>
              <a:gd name="T55" fmla="*/ 238 h 238"/>
              <a:gd name="T56" fmla="*/ 17 w 444"/>
              <a:gd name="T57" fmla="*/ 237 h 238"/>
              <a:gd name="T58" fmla="*/ 14 w 444"/>
              <a:gd name="T59" fmla="*/ 233 h 238"/>
              <a:gd name="T60" fmla="*/ 12 w 444"/>
              <a:gd name="T61" fmla="*/ 228 h 238"/>
              <a:gd name="T62" fmla="*/ 10 w 444"/>
              <a:gd name="T63" fmla="*/ 223 h 238"/>
              <a:gd name="T64" fmla="*/ 7 w 444"/>
              <a:gd name="T65" fmla="*/ 220 h 238"/>
              <a:gd name="T66" fmla="*/ 5 w 444"/>
              <a:gd name="T67" fmla="*/ 215 h 238"/>
              <a:gd name="T68" fmla="*/ 4 w 444"/>
              <a:gd name="T69" fmla="*/ 210 h 238"/>
              <a:gd name="T70" fmla="*/ 2 w 444"/>
              <a:gd name="T71" fmla="*/ 207 h 238"/>
              <a:gd name="T72" fmla="*/ 0 w 444"/>
              <a:gd name="T73" fmla="*/ 202 h 238"/>
              <a:gd name="T74" fmla="*/ 0 w 444"/>
              <a:gd name="T75" fmla="*/ 210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38">
                <a:moveTo>
                  <a:pt x="444" y="28"/>
                </a:moveTo>
                <a:lnTo>
                  <a:pt x="443" y="25"/>
                </a:lnTo>
                <a:lnTo>
                  <a:pt x="441" y="21"/>
                </a:lnTo>
                <a:lnTo>
                  <a:pt x="439" y="18"/>
                </a:lnTo>
                <a:lnTo>
                  <a:pt x="438" y="13"/>
                </a:lnTo>
                <a:lnTo>
                  <a:pt x="436" y="10"/>
                </a:lnTo>
                <a:lnTo>
                  <a:pt x="434" y="6"/>
                </a:lnTo>
                <a:lnTo>
                  <a:pt x="433" y="3"/>
                </a:lnTo>
                <a:lnTo>
                  <a:pt x="431" y="0"/>
                </a:lnTo>
                <a:lnTo>
                  <a:pt x="428" y="1"/>
                </a:lnTo>
                <a:lnTo>
                  <a:pt x="429" y="6"/>
                </a:lnTo>
                <a:lnTo>
                  <a:pt x="433" y="10"/>
                </a:lnTo>
                <a:lnTo>
                  <a:pt x="434" y="15"/>
                </a:lnTo>
                <a:lnTo>
                  <a:pt x="436" y="20"/>
                </a:lnTo>
                <a:lnTo>
                  <a:pt x="438" y="23"/>
                </a:lnTo>
                <a:lnTo>
                  <a:pt x="441" y="28"/>
                </a:lnTo>
                <a:lnTo>
                  <a:pt x="443" y="33"/>
                </a:lnTo>
                <a:lnTo>
                  <a:pt x="444" y="38"/>
                </a:lnTo>
                <a:lnTo>
                  <a:pt x="444" y="28"/>
                </a:lnTo>
                <a:close/>
                <a:moveTo>
                  <a:pt x="0" y="210"/>
                </a:moveTo>
                <a:lnTo>
                  <a:pt x="2" y="213"/>
                </a:lnTo>
                <a:lnTo>
                  <a:pt x="4" y="218"/>
                </a:lnTo>
                <a:lnTo>
                  <a:pt x="5" y="222"/>
                </a:lnTo>
                <a:lnTo>
                  <a:pt x="7" y="225"/>
                </a:lnTo>
                <a:lnTo>
                  <a:pt x="9" y="228"/>
                </a:lnTo>
                <a:lnTo>
                  <a:pt x="10" y="232"/>
                </a:lnTo>
                <a:lnTo>
                  <a:pt x="12" y="235"/>
                </a:lnTo>
                <a:lnTo>
                  <a:pt x="14" y="238"/>
                </a:lnTo>
                <a:lnTo>
                  <a:pt x="17" y="237"/>
                </a:lnTo>
                <a:lnTo>
                  <a:pt x="14" y="233"/>
                </a:lnTo>
                <a:lnTo>
                  <a:pt x="12" y="228"/>
                </a:lnTo>
                <a:lnTo>
                  <a:pt x="10" y="223"/>
                </a:lnTo>
                <a:lnTo>
                  <a:pt x="7" y="220"/>
                </a:lnTo>
                <a:lnTo>
                  <a:pt x="5" y="215"/>
                </a:lnTo>
                <a:lnTo>
                  <a:pt x="4" y="210"/>
                </a:lnTo>
                <a:lnTo>
                  <a:pt x="2" y="207"/>
                </a:lnTo>
                <a:lnTo>
                  <a:pt x="0" y="202"/>
                </a:lnTo>
                <a:lnTo>
                  <a:pt x="0" y="210"/>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63" name="Freeform 2068">
            <a:extLst>
              <a:ext uri="{FF2B5EF4-FFF2-40B4-BE49-F238E27FC236}">
                <a16:creationId xmlns:a16="http://schemas.microsoft.com/office/drawing/2014/main" id="{9B33F8D7-ECDA-194B-170A-6F34F5BA865A}"/>
              </a:ext>
            </a:extLst>
          </p:cNvPr>
          <p:cNvSpPr>
            <a:spLocks noEditPoints="1"/>
          </p:cNvSpPr>
          <p:nvPr/>
        </p:nvSpPr>
        <p:spPr bwMode="auto">
          <a:xfrm>
            <a:off x="3167063" y="2413000"/>
            <a:ext cx="704850" cy="376238"/>
          </a:xfrm>
          <a:custGeom>
            <a:avLst/>
            <a:gdLst>
              <a:gd name="T0" fmla="*/ 444 w 444"/>
              <a:gd name="T1" fmla="*/ 32 h 237"/>
              <a:gd name="T2" fmla="*/ 443 w 444"/>
              <a:gd name="T3" fmla="*/ 27 h 237"/>
              <a:gd name="T4" fmla="*/ 441 w 444"/>
              <a:gd name="T5" fmla="*/ 24 h 237"/>
              <a:gd name="T6" fmla="*/ 439 w 444"/>
              <a:gd name="T7" fmla="*/ 19 h 237"/>
              <a:gd name="T8" fmla="*/ 438 w 444"/>
              <a:gd name="T9" fmla="*/ 15 h 237"/>
              <a:gd name="T10" fmla="*/ 434 w 444"/>
              <a:gd name="T11" fmla="*/ 12 h 237"/>
              <a:gd name="T12" fmla="*/ 433 w 444"/>
              <a:gd name="T13" fmla="*/ 7 h 237"/>
              <a:gd name="T14" fmla="*/ 431 w 444"/>
              <a:gd name="T15" fmla="*/ 4 h 237"/>
              <a:gd name="T16" fmla="*/ 429 w 444"/>
              <a:gd name="T17" fmla="*/ 0 h 237"/>
              <a:gd name="T18" fmla="*/ 426 w 444"/>
              <a:gd name="T19" fmla="*/ 2 h 237"/>
              <a:gd name="T20" fmla="*/ 428 w 444"/>
              <a:gd name="T21" fmla="*/ 5 h 237"/>
              <a:gd name="T22" fmla="*/ 431 w 444"/>
              <a:gd name="T23" fmla="*/ 10 h 237"/>
              <a:gd name="T24" fmla="*/ 433 w 444"/>
              <a:gd name="T25" fmla="*/ 15 h 237"/>
              <a:gd name="T26" fmla="*/ 436 w 444"/>
              <a:gd name="T27" fmla="*/ 20 h 237"/>
              <a:gd name="T28" fmla="*/ 438 w 444"/>
              <a:gd name="T29" fmla="*/ 25 h 237"/>
              <a:gd name="T30" fmla="*/ 439 w 444"/>
              <a:gd name="T31" fmla="*/ 30 h 237"/>
              <a:gd name="T32" fmla="*/ 443 w 444"/>
              <a:gd name="T33" fmla="*/ 35 h 237"/>
              <a:gd name="T34" fmla="*/ 444 w 444"/>
              <a:gd name="T35" fmla="*/ 40 h 237"/>
              <a:gd name="T36" fmla="*/ 444 w 444"/>
              <a:gd name="T37" fmla="*/ 32 h 237"/>
              <a:gd name="T38" fmla="*/ 0 w 444"/>
              <a:gd name="T39" fmla="*/ 206 h 237"/>
              <a:gd name="T40" fmla="*/ 2 w 444"/>
              <a:gd name="T41" fmla="*/ 209 h 237"/>
              <a:gd name="T42" fmla="*/ 4 w 444"/>
              <a:gd name="T43" fmla="*/ 214 h 237"/>
              <a:gd name="T44" fmla="*/ 5 w 444"/>
              <a:gd name="T45" fmla="*/ 217 h 237"/>
              <a:gd name="T46" fmla="*/ 7 w 444"/>
              <a:gd name="T47" fmla="*/ 221 h 237"/>
              <a:gd name="T48" fmla="*/ 9 w 444"/>
              <a:gd name="T49" fmla="*/ 226 h 237"/>
              <a:gd name="T50" fmla="*/ 10 w 444"/>
              <a:gd name="T51" fmla="*/ 229 h 237"/>
              <a:gd name="T52" fmla="*/ 14 w 444"/>
              <a:gd name="T53" fmla="*/ 232 h 237"/>
              <a:gd name="T54" fmla="*/ 15 w 444"/>
              <a:gd name="T55" fmla="*/ 237 h 237"/>
              <a:gd name="T56" fmla="*/ 19 w 444"/>
              <a:gd name="T57" fmla="*/ 236 h 237"/>
              <a:gd name="T58" fmla="*/ 15 w 444"/>
              <a:gd name="T59" fmla="*/ 231 h 237"/>
              <a:gd name="T60" fmla="*/ 14 w 444"/>
              <a:gd name="T61" fmla="*/ 226 h 237"/>
              <a:gd name="T62" fmla="*/ 10 w 444"/>
              <a:gd name="T63" fmla="*/ 221 h 237"/>
              <a:gd name="T64" fmla="*/ 9 w 444"/>
              <a:gd name="T65" fmla="*/ 216 h 237"/>
              <a:gd name="T66" fmla="*/ 5 w 444"/>
              <a:gd name="T67" fmla="*/ 211 h 237"/>
              <a:gd name="T68" fmla="*/ 4 w 444"/>
              <a:gd name="T69" fmla="*/ 206 h 237"/>
              <a:gd name="T70" fmla="*/ 2 w 444"/>
              <a:gd name="T71" fmla="*/ 201 h 237"/>
              <a:gd name="T72" fmla="*/ 0 w 444"/>
              <a:gd name="T73" fmla="*/ 196 h 237"/>
              <a:gd name="T74" fmla="*/ 0 w 444"/>
              <a:gd name="T75" fmla="*/ 206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4" h="237">
                <a:moveTo>
                  <a:pt x="444" y="32"/>
                </a:moveTo>
                <a:lnTo>
                  <a:pt x="443" y="27"/>
                </a:lnTo>
                <a:lnTo>
                  <a:pt x="441" y="24"/>
                </a:lnTo>
                <a:lnTo>
                  <a:pt x="439" y="19"/>
                </a:lnTo>
                <a:lnTo>
                  <a:pt x="438" y="15"/>
                </a:lnTo>
                <a:lnTo>
                  <a:pt x="434" y="12"/>
                </a:lnTo>
                <a:lnTo>
                  <a:pt x="433" y="7"/>
                </a:lnTo>
                <a:lnTo>
                  <a:pt x="431" y="4"/>
                </a:lnTo>
                <a:lnTo>
                  <a:pt x="429" y="0"/>
                </a:lnTo>
                <a:lnTo>
                  <a:pt x="426" y="2"/>
                </a:lnTo>
                <a:lnTo>
                  <a:pt x="428" y="5"/>
                </a:lnTo>
                <a:lnTo>
                  <a:pt x="431" y="10"/>
                </a:lnTo>
                <a:lnTo>
                  <a:pt x="433" y="15"/>
                </a:lnTo>
                <a:lnTo>
                  <a:pt x="436" y="20"/>
                </a:lnTo>
                <a:lnTo>
                  <a:pt x="438" y="25"/>
                </a:lnTo>
                <a:lnTo>
                  <a:pt x="439" y="30"/>
                </a:lnTo>
                <a:lnTo>
                  <a:pt x="443" y="35"/>
                </a:lnTo>
                <a:lnTo>
                  <a:pt x="444" y="40"/>
                </a:lnTo>
                <a:lnTo>
                  <a:pt x="444" y="32"/>
                </a:lnTo>
                <a:close/>
                <a:moveTo>
                  <a:pt x="0" y="206"/>
                </a:moveTo>
                <a:lnTo>
                  <a:pt x="2" y="209"/>
                </a:lnTo>
                <a:lnTo>
                  <a:pt x="4" y="214"/>
                </a:lnTo>
                <a:lnTo>
                  <a:pt x="5" y="217"/>
                </a:lnTo>
                <a:lnTo>
                  <a:pt x="7" y="221"/>
                </a:lnTo>
                <a:lnTo>
                  <a:pt x="9" y="226"/>
                </a:lnTo>
                <a:lnTo>
                  <a:pt x="10" y="229"/>
                </a:lnTo>
                <a:lnTo>
                  <a:pt x="14" y="232"/>
                </a:lnTo>
                <a:lnTo>
                  <a:pt x="15" y="237"/>
                </a:lnTo>
                <a:lnTo>
                  <a:pt x="19" y="236"/>
                </a:lnTo>
                <a:lnTo>
                  <a:pt x="15" y="231"/>
                </a:lnTo>
                <a:lnTo>
                  <a:pt x="14" y="226"/>
                </a:lnTo>
                <a:lnTo>
                  <a:pt x="10" y="221"/>
                </a:lnTo>
                <a:lnTo>
                  <a:pt x="9" y="216"/>
                </a:lnTo>
                <a:lnTo>
                  <a:pt x="5" y="211"/>
                </a:lnTo>
                <a:lnTo>
                  <a:pt x="4" y="206"/>
                </a:lnTo>
                <a:lnTo>
                  <a:pt x="2" y="201"/>
                </a:lnTo>
                <a:lnTo>
                  <a:pt x="0" y="196"/>
                </a:lnTo>
                <a:lnTo>
                  <a:pt x="0" y="206"/>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64" name="Freeform 2069">
            <a:extLst>
              <a:ext uri="{FF2B5EF4-FFF2-40B4-BE49-F238E27FC236}">
                <a16:creationId xmlns:a16="http://schemas.microsoft.com/office/drawing/2014/main" id="{F44645AD-0578-9519-61ED-6E4C1485F950}"/>
              </a:ext>
            </a:extLst>
          </p:cNvPr>
          <p:cNvSpPr>
            <a:spLocks noEditPoints="1"/>
          </p:cNvSpPr>
          <p:nvPr/>
        </p:nvSpPr>
        <p:spPr bwMode="auto">
          <a:xfrm>
            <a:off x="3167063" y="2413000"/>
            <a:ext cx="704850" cy="374650"/>
          </a:xfrm>
          <a:custGeom>
            <a:avLst/>
            <a:gdLst>
              <a:gd name="T0" fmla="*/ 444 w 444"/>
              <a:gd name="T1" fmla="*/ 37 h 236"/>
              <a:gd name="T2" fmla="*/ 443 w 444"/>
              <a:gd name="T3" fmla="*/ 32 h 236"/>
              <a:gd name="T4" fmla="*/ 441 w 444"/>
              <a:gd name="T5" fmla="*/ 27 h 236"/>
              <a:gd name="T6" fmla="*/ 438 w 444"/>
              <a:gd name="T7" fmla="*/ 22 h 236"/>
              <a:gd name="T8" fmla="*/ 436 w 444"/>
              <a:gd name="T9" fmla="*/ 19 h 236"/>
              <a:gd name="T10" fmla="*/ 434 w 444"/>
              <a:gd name="T11" fmla="*/ 14 h 236"/>
              <a:gd name="T12" fmla="*/ 433 w 444"/>
              <a:gd name="T13" fmla="*/ 9 h 236"/>
              <a:gd name="T14" fmla="*/ 429 w 444"/>
              <a:gd name="T15" fmla="*/ 5 h 236"/>
              <a:gd name="T16" fmla="*/ 428 w 444"/>
              <a:gd name="T17" fmla="*/ 0 h 236"/>
              <a:gd name="T18" fmla="*/ 424 w 444"/>
              <a:gd name="T19" fmla="*/ 2 h 236"/>
              <a:gd name="T20" fmla="*/ 428 w 444"/>
              <a:gd name="T21" fmla="*/ 7 h 236"/>
              <a:gd name="T22" fmla="*/ 429 w 444"/>
              <a:gd name="T23" fmla="*/ 12 h 236"/>
              <a:gd name="T24" fmla="*/ 433 w 444"/>
              <a:gd name="T25" fmla="*/ 17 h 236"/>
              <a:gd name="T26" fmla="*/ 434 w 444"/>
              <a:gd name="T27" fmla="*/ 22 h 236"/>
              <a:gd name="T28" fmla="*/ 438 w 444"/>
              <a:gd name="T29" fmla="*/ 29 h 236"/>
              <a:gd name="T30" fmla="*/ 439 w 444"/>
              <a:gd name="T31" fmla="*/ 34 h 236"/>
              <a:gd name="T32" fmla="*/ 441 w 444"/>
              <a:gd name="T33" fmla="*/ 39 h 236"/>
              <a:gd name="T34" fmla="*/ 443 w 444"/>
              <a:gd name="T35" fmla="*/ 45 h 236"/>
              <a:gd name="T36" fmla="*/ 444 w 444"/>
              <a:gd name="T37" fmla="*/ 44 h 236"/>
              <a:gd name="T38" fmla="*/ 444 w 444"/>
              <a:gd name="T39" fmla="*/ 37 h 236"/>
              <a:gd name="T40" fmla="*/ 0 w 444"/>
              <a:gd name="T41" fmla="*/ 201 h 236"/>
              <a:gd name="T42" fmla="*/ 2 w 444"/>
              <a:gd name="T43" fmla="*/ 206 h 236"/>
              <a:gd name="T44" fmla="*/ 4 w 444"/>
              <a:gd name="T45" fmla="*/ 209 h 236"/>
              <a:gd name="T46" fmla="*/ 5 w 444"/>
              <a:gd name="T47" fmla="*/ 214 h 236"/>
              <a:gd name="T48" fmla="*/ 7 w 444"/>
              <a:gd name="T49" fmla="*/ 219 h 236"/>
              <a:gd name="T50" fmla="*/ 10 w 444"/>
              <a:gd name="T51" fmla="*/ 222 h 236"/>
              <a:gd name="T52" fmla="*/ 12 w 444"/>
              <a:gd name="T53" fmla="*/ 227 h 236"/>
              <a:gd name="T54" fmla="*/ 14 w 444"/>
              <a:gd name="T55" fmla="*/ 232 h 236"/>
              <a:gd name="T56" fmla="*/ 17 w 444"/>
              <a:gd name="T57" fmla="*/ 236 h 236"/>
              <a:gd name="T58" fmla="*/ 20 w 444"/>
              <a:gd name="T59" fmla="*/ 234 h 236"/>
              <a:gd name="T60" fmla="*/ 17 w 444"/>
              <a:gd name="T61" fmla="*/ 231 h 236"/>
              <a:gd name="T62" fmla="*/ 14 w 444"/>
              <a:gd name="T63" fmla="*/ 226 h 236"/>
              <a:gd name="T64" fmla="*/ 12 w 444"/>
              <a:gd name="T65" fmla="*/ 221 h 236"/>
              <a:gd name="T66" fmla="*/ 9 w 444"/>
              <a:gd name="T67" fmla="*/ 216 h 236"/>
              <a:gd name="T68" fmla="*/ 7 w 444"/>
              <a:gd name="T69" fmla="*/ 211 h 236"/>
              <a:gd name="T70" fmla="*/ 5 w 444"/>
              <a:gd name="T71" fmla="*/ 204 h 236"/>
              <a:gd name="T72" fmla="*/ 4 w 444"/>
              <a:gd name="T73" fmla="*/ 199 h 236"/>
              <a:gd name="T74" fmla="*/ 0 w 444"/>
              <a:gd name="T75" fmla="*/ 194 h 236"/>
              <a:gd name="T76" fmla="*/ 0 w 444"/>
              <a:gd name="T77" fmla="*/ 201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4" h="236">
                <a:moveTo>
                  <a:pt x="444" y="37"/>
                </a:moveTo>
                <a:lnTo>
                  <a:pt x="443" y="32"/>
                </a:lnTo>
                <a:lnTo>
                  <a:pt x="441" y="27"/>
                </a:lnTo>
                <a:lnTo>
                  <a:pt x="438" y="22"/>
                </a:lnTo>
                <a:lnTo>
                  <a:pt x="436" y="19"/>
                </a:lnTo>
                <a:lnTo>
                  <a:pt x="434" y="14"/>
                </a:lnTo>
                <a:lnTo>
                  <a:pt x="433" y="9"/>
                </a:lnTo>
                <a:lnTo>
                  <a:pt x="429" y="5"/>
                </a:lnTo>
                <a:lnTo>
                  <a:pt x="428" y="0"/>
                </a:lnTo>
                <a:lnTo>
                  <a:pt x="424" y="2"/>
                </a:lnTo>
                <a:lnTo>
                  <a:pt x="428" y="7"/>
                </a:lnTo>
                <a:lnTo>
                  <a:pt x="429" y="12"/>
                </a:lnTo>
                <a:lnTo>
                  <a:pt x="433" y="17"/>
                </a:lnTo>
                <a:lnTo>
                  <a:pt x="434" y="22"/>
                </a:lnTo>
                <a:lnTo>
                  <a:pt x="438" y="29"/>
                </a:lnTo>
                <a:lnTo>
                  <a:pt x="439" y="34"/>
                </a:lnTo>
                <a:lnTo>
                  <a:pt x="441" y="39"/>
                </a:lnTo>
                <a:lnTo>
                  <a:pt x="443" y="45"/>
                </a:lnTo>
                <a:lnTo>
                  <a:pt x="444" y="44"/>
                </a:lnTo>
                <a:lnTo>
                  <a:pt x="444" y="37"/>
                </a:lnTo>
                <a:close/>
                <a:moveTo>
                  <a:pt x="0" y="201"/>
                </a:moveTo>
                <a:lnTo>
                  <a:pt x="2" y="206"/>
                </a:lnTo>
                <a:lnTo>
                  <a:pt x="4" y="209"/>
                </a:lnTo>
                <a:lnTo>
                  <a:pt x="5" y="214"/>
                </a:lnTo>
                <a:lnTo>
                  <a:pt x="7" y="219"/>
                </a:lnTo>
                <a:lnTo>
                  <a:pt x="10" y="222"/>
                </a:lnTo>
                <a:lnTo>
                  <a:pt x="12" y="227"/>
                </a:lnTo>
                <a:lnTo>
                  <a:pt x="14" y="232"/>
                </a:lnTo>
                <a:lnTo>
                  <a:pt x="17" y="236"/>
                </a:lnTo>
                <a:lnTo>
                  <a:pt x="20" y="234"/>
                </a:lnTo>
                <a:lnTo>
                  <a:pt x="17" y="231"/>
                </a:lnTo>
                <a:lnTo>
                  <a:pt x="14" y="226"/>
                </a:lnTo>
                <a:lnTo>
                  <a:pt x="12" y="221"/>
                </a:lnTo>
                <a:lnTo>
                  <a:pt x="9" y="216"/>
                </a:lnTo>
                <a:lnTo>
                  <a:pt x="7" y="211"/>
                </a:lnTo>
                <a:lnTo>
                  <a:pt x="5" y="204"/>
                </a:lnTo>
                <a:lnTo>
                  <a:pt x="4" y="199"/>
                </a:lnTo>
                <a:lnTo>
                  <a:pt x="0" y="194"/>
                </a:lnTo>
                <a:lnTo>
                  <a:pt x="0" y="201"/>
                </a:lnTo>
                <a:close/>
              </a:path>
            </a:pathLst>
          </a:custGeom>
          <a:solidFill>
            <a:srgbClr val="7AC5F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65" name="Freeform 2070">
            <a:extLst>
              <a:ext uri="{FF2B5EF4-FFF2-40B4-BE49-F238E27FC236}">
                <a16:creationId xmlns:a16="http://schemas.microsoft.com/office/drawing/2014/main" id="{AEC84AEE-8B94-3F97-77A0-8BB2EED8FBE7}"/>
              </a:ext>
            </a:extLst>
          </p:cNvPr>
          <p:cNvSpPr>
            <a:spLocks noEditPoints="1"/>
          </p:cNvSpPr>
          <p:nvPr/>
        </p:nvSpPr>
        <p:spPr bwMode="auto">
          <a:xfrm>
            <a:off x="3167063" y="2416175"/>
            <a:ext cx="704850" cy="371475"/>
          </a:xfrm>
          <a:custGeom>
            <a:avLst/>
            <a:gdLst>
              <a:gd name="T0" fmla="*/ 444 w 444"/>
              <a:gd name="T1" fmla="*/ 38 h 234"/>
              <a:gd name="T2" fmla="*/ 443 w 444"/>
              <a:gd name="T3" fmla="*/ 33 h 234"/>
              <a:gd name="T4" fmla="*/ 439 w 444"/>
              <a:gd name="T5" fmla="*/ 28 h 234"/>
              <a:gd name="T6" fmla="*/ 438 w 444"/>
              <a:gd name="T7" fmla="*/ 23 h 234"/>
              <a:gd name="T8" fmla="*/ 436 w 444"/>
              <a:gd name="T9" fmla="*/ 18 h 234"/>
              <a:gd name="T10" fmla="*/ 433 w 444"/>
              <a:gd name="T11" fmla="*/ 13 h 234"/>
              <a:gd name="T12" fmla="*/ 431 w 444"/>
              <a:gd name="T13" fmla="*/ 8 h 234"/>
              <a:gd name="T14" fmla="*/ 428 w 444"/>
              <a:gd name="T15" fmla="*/ 3 h 234"/>
              <a:gd name="T16" fmla="*/ 426 w 444"/>
              <a:gd name="T17" fmla="*/ 0 h 234"/>
              <a:gd name="T18" fmla="*/ 423 w 444"/>
              <a:gd name="T19" fmla="*/ 0 h 234"/>
              <a:gd name="T20" fmla="*/ 426 w 444"/>
              <a:gd name="T21" fmla="*/ 5 h 234"/>
              <a:gd name="T22" fmla="*/ 428 w 444"/>
              <a:gd name="T23" fmla="*/ 12 h 234"/>
              <a:gd name="T24" fmla="*/ 431 w 444"/>
              <a:gd name="T25" fmla="*/ 17 h 234"/>
              <a:gd name="T26" fmla="*/ 433 w 444"/>
              <a:gd name="T27" fmla="*/ 22 h 234"/>
              <a:gd name="T28" fmla="*/ 436 w 444"/>
              <a:gd name="T29" fmla="*/ 27 h 234"/>
              <a:gd name="T30" fmla="*/ 438 w 444"/>
              <a:gd name="T31" fmla="*/ 32 h 234"/>
              <a:gd name="T32" fmla="*/ 439 w 444"/>
              <a:gd name="T33" fmla="*/ 38 h 234"/>
              <a:gd name="T34" fmla="*/ 441 w 444"/>
              <a:gd name="T35" fmla="*/ 43 h 234"/>
              <a:gd name="T36" fmla="*/ 444 w 444"/>
              <a:gd name="T37" fmla="*/ 42 h 234"/>
              <a:gd name="T38" fmla="*/ 444 w 444"/>
              <a:gd name="T39" fmla="*/ 38 h 234"/>
              <a:gd name="T40" fmla="*/ 0 w 444"/>
              <a:gd name="T41" fmla="*/ 194 h 234"/>
              <a:gd name="T42" fmla="*/ 2 w 444"/>
              <a:gd name="T43" fmla="*/ 199 h 234"/>
              <a:gd name="T44" fmla="*/ 4 w 444"/>
              <a:gd name="T45" fmla="*/ 204 h 234"/>
              <a:gd name="T46" fmla="*/ 5 w 444"/>
              <a:gd name="T47" fmla="*/ 209 h 234"/>
              <a:gd name="T48" fmla="*/ 9 w 444"/>
              <a:gd name="T49" fmla="*/ 214 h 234"/>
              <a:gd name="T50" fmla="*/ 10 w 444"/>
              <a:gd name="T51" fmla="*/ 219 h 234"/>
              <a:gd name="T52" fmla="*/ 14 w 444"/>
              <a:gd name="T53" fmla="*/ 224 h 234"/>
              <a:gd name="T54" fmla="*/ 15 w 444"/>
              <a:gd name="T55" fmla="*/ 229 h 234"/>
              <a:gd name="T56" fmla="*/ 19 w 444"/>
              <a:gd name="T57" fmla="*/ 234 h 234"/>
              <a:gd name="T58" fmla="*/ 20 w 444"/>
              <a:gd name="T59" fmla="*/ 232 h 234"/>
              <a:gd name="T60" fmla="*/ 19 w 444"/>
              <a:gd name="T61" fmla="*/ 227 h 234"/>
              <a:gd name="T62" fmla="*/ 15 w 444"/>
              <a:gd name="T63" fmla="*/ 222 h 234"/>
              <a:gd name="T64" fmla="*/ 14 w 444"/>
              <a:gd name="T65" fmla="*/ 217 h 234"/>
              <a:gd name="T66" fmla="*/ 10 w 444"/>
              <a:gd name="T67" fmla="*/ 212 h 234"/>
              <a:gd name="T68" fmla="*/ 9 w 444"/>
              <a:gd name="T69" fmla="*/ 207 h 234"/>
              <a:gd name="T70" fmla="*/ 7 w 444"/>
              <a:gd name="T71" fmla="*/ 202 h 234"/>
              <a:gd name="T72" fmla="*/ 5 w 444"/>
              <a:gd name="T73" fmla="*/ 197 h 234"/>
              <a:gd name="T74" fmla="*/ 2 w 444"/>
              <a:gd name="T75" fmla="*/ 192 h 234"/>
              <a:gd name="T76" fmla="*/ 0 w 444"/>
              <a:gd name="T77" fmla="*/ 192 h 234"/>
              <a:gd name="T78" fmla="*/ 0 w 444"/>
              <a:gd name="T79" fmla="*/ 194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44" h="234">
                <a:moveTo>
                  <a:pt x="444" y="38"/>
                </a:moveTo>
                <a:lnTo>
                  <a:pt x="443" y="33"/>
                </a:lnTo>
                <a:lnTo>
                  <a:pt x="439" y="28"/>
                </a:lnTo>
                <a:lnTo>
                  <a:pt x="438" y="23"/>
                </a:lnTo>
                <a:lnTo>
                  <a:pt x="436" y="18"/>
                </a:lnTo>
                <a:lnTo>
                  <a:pt x="433" y="13"/>
                </a:lnTo>
                <a:lnTo>
                  <a:pt x="431" y="8"/>
                </a:lnTo>
                <a:lnTo>
                  <a:pt x="428" y="3"/>
                </a:lnTo>
                <a:lnTo>
                  <a:pt x="426" y="0"/>
                </a:lnTo>
                <a:lnTo>
                  <a:pt x="423" y="0"/>
                </a:lnTo>
                <a:lnTo>
                  <a:pt x="426" y="5"/>
                </a:lnTo>
                <a:lnTo>
                  <a:pt x="428" y="12"/>
                </a:lnTo>
                <a:lnTo>
                  <a:pt x="431" y="17"/>
                </a:lnTo>
                <a:lnTo>
                  <a:pt x="433" y="22"/>
                </a:lnTo>
                <a:lnTo>
                  <a:pt x="436" y="27"/>
                </a:lnTo>
                <a:lnTo>
                  <a:pt x="438" y="32"/>
                </a:lnTo>
                <a:lnTo>
                  <a:pt x="439" y="38"/>
                </a:lnTo>
                <a:lnTo>
                  <a:pt x="441" y="43"/>
                </a:lnTo>
                <a:lnTo>
                  <a:pt x="444" y="42"/>
                </a:lnTo>
                <a:lnTo>
                  <a:pt x="444" y="38"/>
                </a:lnTo>
                <a:close/>
                <a:moveTo>
                  <a:pt x="0" y="194"/>
                </a:moveTo>
                <a:lnTo>
                  <a:pt x="2" y="199"/>
                </a:lnTo>
                <a:lnTo>
                  <a:pt x="4" y="204"/>
                </a:lnTo>
                <a:lnTo>
                  <a:pt x="5" y="209"/>
                </a:lnTo>
                <a:lnTo>
                  <a:pt x="9" y="214"/>
                </a:lnTo>
                <a:lnTo>
                  <a:pt x="10" y="219"/>
                </a:lnTo>
                <a:lnTo>
                  <a:pt x="14" y="224"/>
                </a:lnTo>
                <a:lnTo>
                  <a:pt x="15" y="229"/>
                </a:lnTo>
                <a:lnTo>
                  <a:pt x="19" y="234"/>
                </a:lnTo>
                <a:lnTo>
                  <a:pt x="20" y="232"/>
                </a:lnTo>
                <a:lnTo>
                  <a:pt x="19" y="227"/>
                </a:lnTo>
                <a:lnTo>
                  <a:pt x="15" y="222"/>
                </a:lnTo>
                <a:lnTo>
                  <a:pt x="14" y="217"/>
                </a:lnTo>
                <a:lnTo>
                  <a:pt x="10" y="212"/>
                </a:lnTo>
                <a:lnTo>
                  <a:pt x="9" y="207"/>
                </a:lnTo>
                <a:lnTo>
                  <a:pt x="7" y="202"/>
                </a:lnTo>
                <a:lnTo>
                  <a:pt x="5" y="197"/>
                </a:lnTo>
                <a:lnTo>
                  <a:pt x="2" y="192"/>
                </a:lnTo>
                <a:lnTo>
                  <a:pt x="0" y="192"/>
                </a:lnTo>
                <a:lnTo>
                  <a:pt x="0" y="194"/>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66" name="Freeform 2071">
            <a:extLst>
              <a:ext uri="{FF2B5EF4-FFF2-40B4-BE49-F238E27FC236}">
                <a16:creationId xmlns:a16="http://schemas.microsoft.com/office/drawing/2014/main" id="{6362B043-012A-DF13-85AC-E80B6CF75472}"/>
              </a:ext>
            </a:extLst>
          </p:cNvPr>
          <p:cNvSpPr>
            <a:spLocks noEditPoints="1"/>
          </p:cNvSpPr>
          <p:nvPr/>
        </p:nvSpPr>
        <p:spPr bwMode="auto">
          <a:xfrm>
            <a:off x="3167063" y="2416175"/>
            <a:ext cx="703263" cy="368300"/>
          </a:xfrm>
          <a:custGeom>
            <a:avLst/>
            <a:gdLst>
              <a:gd name="T0" fmla="*/ 443 w 443"/>
              <a:gd name="T1" fmla="*/ 43 h 232"/>
              <a:gd name="T2" fmla="*/ 441 w 443"/>
              <a:gd name="T3" fmla="*/ 37 h 232"/>
              <a:gd name="T4" fmla="*/ 439 w 443"/>
              <a:gd name="T5" fmla="*/ 32 h 232"/>
              <a:gd name="T6" fmla="*/ 438 w 443"/>
              <a:gd name="T7" fmla="*/ 27 h 232"/>
              <a:gd name="T8" fmla="*/ 434 w 443"/>
              <a:gd name="T9" fmla="*/ 20 h 232"/>
              <a:gd name="T10" fmla="*/ 433 w 443"/>
              <a:gd name="T11" fmla="*/ 15 h 232"/>
              <a:gd name="T12" fmla="*/ 429 w 443"/>
              <a:gd name="T13" fmla="*/ 10 h 232"/>
              <a:gd name="T14" fmla="*/ 428 w 443"/>
              <a:gd name="T15" fmla="*/ 5 h 232"/>
              <a:gd name="T16" fmla="*/ 424 w 443"/>
              <a:gd name="T17" fmla="*/ 0 h 232"/>
              <a:gd name="T18" fmla="*/ 421 w 443"/>
              <a:gd name="T19" fmla="*/ 2 h 232"/>
              <a:gd name="T20" fmla="*/ 424 w 443"/>
              <a:gd name="T21" fmla="*/ 7 h 232"/>
              <a:gd name="T22" fmla="*/ 426 w 443"/>
              <a:gd name="T23" fmla="*/ 12 h 232"/>
              <a:gd name="T24" fmla="*/ 429 w 443"/>
              <a:gd name="T25" fmla="*/ 17 h 232"/>
              <a:gd name="T26" fmla="*/ 431 w 443"/>
              <a:gd name="T27" fmla="*/ 22 h 232"/>
              <a:gd name="T28" fmla="*/ 434 w 443"/>
              <a:gd name="T29" fmla="*/ 27 h 232"/>
              <a:gd name="T30" fmla="*/ 436 w 443"/>
              <a:gd name="T31" fmla="*/ 33 h 232"/>
              <a:gd name="T32" fmla="*/ 438 w 443"/>
              <a:gd name="T33" fmla="*/ 38 h 232"/>
              <a:gd name="T34" fmla="*/ 441 w 443"/>
              <a:gd name="T35" fmla="*/ 43 h 232"/>
              <a:gd name="T36" fmla="*/ 443 w 443"/>
              <a:gd name="T37" fmla="*/ 43 h 232"/>
              <a:gd name="T38" fmla="*/ 0 w 443"/>
              <a:gd name="T39" fmla="*/ 192 h 232"/>
              <a:gd name="T40" fmla="*/ 4 w 443"/>
              <a:gd name="T41" fmla="*/ 197 h 232"/>
              <a:gd name="T42" fmla="*/ 5 w 443"/>
              <a:gd name="T43" fmla="*/ 202 h 232"/>
              <a:gd name="T44" fmla="*/ 7 w 443"/>
              <a:gd name="T45" fmla="*/ 209 h 232"/>
              <a:gd name="T46" fmla="*/ 9 w 443"/>
              <a:gd name="T47" fmla="*/ 214 h 232"/>
              <a:gd name="T48" fmla="*/ 12 w 443"/>
              <a:gd name="T49" fmla="*/ 219 h 232"/>
              <a:gd name="T50" fmla="*/ 14 w 443"/>
              <a:gd name="T51" fmla="*/ 224 h 232"/>
              <a:gd name="T52" fmla="*/ 17 w 443"/>
              <a:gd name="T53" fmla="*/ 229 h 232"/>
              <a:gd name="T54" fmla="*/ 20 w 443"/>
              <a:gd name="T55" fmla="*/ 232 h 232"/>
              <a:gd name="T56" fmla="*/ 22 w 443"/>
              <a:gd name="T57" fmla="*/ 232 h 232"/>
              <a:gd name="T58" fmla="*/ 20 w 443"/>
              <a:gd name="T59" fmla="*/ 227 h 232"/>
              <a:gd name="T60" fmla="*/ 17 w 443"/>
              <a:gd name="T61" fmla="*/ 222 h 232"/>
              <a:gd name="T62" fmla="*/ 15 w 443"/>
              <a:gd name="T63" fmla="*/ 217 h 232"/>
              <a:gd name="T64" fmla="*/ 12 w 443"/>
              <a:gd name="T65" fmla="*/ 212 h 232"/>
              <a:gd name="T66" fmla="*/ 10 w 443"/>
              <a:gd name="T67" fmla="*/ 207 h 232"/>
              <a:gd name="T68" fmla="*/ 9 w 443"/>
              <a:gd name="T69" fmla="*/ 202 h 232"/>
              <a:gd name="T70" fmla="*/ 5 w 443"/>
              <a:gd name="T71" fmla="*/ 195 h 232"/>
              <a:gd name="T72" fmla="*/ 4 w 443"/>
              <a:gd name="T73" fmla="*/ 191 h 232"/>
              <a:gd name="T74" fmla="*/ 0 w 443"/>
              <a:gd name="T75" fmla="*/ 192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43" h="232">
                <a:moveTo>
                  <a:pt x="443" y="43"/>
                </a:moveTo>
                <a:lnTo>
                  <a:pt x="441" y="37"/>
                </a:lnTo>
                <a:lnTo>
                  <a:pt x="439" y="32"/>
                </a:lnTo>
                <a:lnTo>
                  <a:pt x="438" y="27"/>
                </a:lnTo>
                <a:lnTo>
                  <a:pt x="434" y="20"/>
                </a:lnTo>
                <a:lnTo>
                  <a:pt x="433" y="15"/>
                </a:lnTo>
                <a:lnTo>
                  <a:pt x="429" y="10"/>
                </a:lnTo>
                <a:lnTo>
                  <a:pt x="428" y="5"/>
                </a:lnTo>
                <a:lnTo>
                  <a:pt x="424" y="0"/>
                </a:lnTo>
                <a:lnTo>
                  <a:pt x="421" y="2"/>
                </a:lnTo>
                <a:lnTo>
                  <a:pt x="424" y="7"/>
                </a:lnTo>
                <a:lnTo>
                  <a:pt x="426" y="12"/>
                </a:lnTo>
                <a:lnTo>
                  <a:pt x="429" y="17"/>
                </a:lnTo>
                <a:lnTo>
                  <a:pt x="431" y="22"/>
                </a:lnTo>
                <a:lnTo>
                  <a:pt x="434" y="27"/>
                </a:lnTo>
                <a:lnTo>
                  <a:pt x="436" y="33"/>
                </a:lnTo>
                <a:lnTo>
                  <a:pt x="438" y="38"/>
                </a:lnTo>
                <a:lnTo>
                  <a:pt x="441" y="43"/>
                </a:lnTo>
                <a:lnTo>
                  <a:pt x="443" y="43"/>
                </a:lnTo>
                <a:close/>
                <a:moveTo>
                  <a:pt x="0" y="192"/>
                </a:moveTo>
                <a:lnTo>
                  <a:pt x="4" y="197"/>
                </a:lnTo>
                <a:lnTo>
                  <a:pt x="5" y="202"/>
                </a:lnTo>
                <a:lnTo>
                  <a:pt x="7" y="209"/>
                </a:lnTo>
                <a:lnTo>
                  <a:pt x="9" y="214"/>
                </a:lnTo>
                <a:lnTo>
                  <a:pt x="12" y="219"/>
                </a:lnTo>
                <a:lnTo>
                  <a:pt x="14" y="224"/>
                </a:lnTo>
                <a:lnTo>
                  <a:pt x="17" y="229"/>
                </a:lnTo>
                <a:lnTo>
                  <a:pt x="20" y="232"/>
                </a:lnTo>
                <a:lnTo>
                  <a:pt x="22" y="232"/>
                </a:lnTo>
                <a:lnTo>
                  <a:pt x="20" y="227"/>
                </a:lnTo>
                <a:lnTo>
                  <a:pt x="17" y="222"/>
                </a:lnTo>
                <a:lnTo>
                  <a:pt x="15" y="217"/>
                </a:lnTo>
                <a:lnTo>
                  <a:pt x="12" y="212"/>
                </a:lnTo>
                <a:lnTo>
                  <a:pt x="10" y="207"/>
                </a:lnTo>
                <a:lnTo>
                  <a:pt x="9" y="202"/>
                </a:lnTo>
                <a:lnTo>
                  <a:pt x="5" y="195"/>
                </a:lnTo>
                <a:lnTo>
                  <a:pt x="4" y="191"/>
                </a:lnTo>
                <a:lnTo>
                  <a:pt x="0" y="192"/>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67" name="Freeform 2072">
            <a:extLst>
              <a:ext uri="{FF2B5EF4-FFF2-40B4-BE49-F238E27FC236}">
                <a16:creationId xmlns:a16="http://schemas.microsoft.com/office/drawing/2014/main" id="{551F6919-9BA9-9515-2487-B5C09525FAFC}"/>
              </a:ext>
            </a:extLst>
          </p:cNvPr>
          <p:cNvSpPr>
            <a:spLocks noEditPoints="1"/>
          </p:cNvSpPr>
          <p:nvPr/>
        </p:nvSpPr>
        <p:spPr bwMode="auto">
          <a:xfrm>
            <a:off x="3170238" y="2416175"/>
            <a:ext cx="696913" cy="368300"/>
          </a:xfrm>
          <a:custGeom>
            <a:avLst/>
            <a:gdLst>
              <a:gd name="T0" fmla="*/ 439 w 439"/>
              <a:gd name="T1" fmla="*/ 43 h 232"/>
              <a:gd name="T2" fmla="*/ 437 w 439"/>
              <a:gd name="T3" fmla="*/ 38 h 232"/>
              <a:gd name="T4" fmla="*/ 436 w 439"/>
              <a:gd name="T5" fmla="*/ 32 h 232"/>
              <a:gd name="T6" fmla="*/ 434 w 439"/>
              <a:gd name="T7" fmla="*/ 27 h 232"/>
              <a:gd name="T8" fmla="*/ 431 w 439"/>
              <a:gd name="T9" fmla="*/ 22 h 232"/>
              <a:gd name="T10" fmla="*/ 429 w 439"/>
              <a:gd name="T11" fmla="*/ 17 h 232"/>
              <a:gd name="T12" fmla="*/ 426 w 439"/>
              <a:gd name="T13" fmla="*/ 12 h 232"/>
              <a:gd name="T14" fmla="*/ 424 w 439"/>
              <a:gd name="T15" fmla="*/ 5 h 232"/>
              <a:gd name="T16" fmla="*/ 421 w 439"/>
              <a:gd name="T17" fmla="*/ 0 h 232"/>
              <a:gd name="T18" fmla="*/ 417 w 439"/>
              <a:gd name="T19" fmla="*/ 2 h 232"/>
              <a:gd name="T20" fmla="*/ 421 w 439"/>
              <a:gd name="T21" fmla="*/ 7 h 232"/>
              <a:gd name="T22" fmla="*/ 422 w 439"/>
              <a:gd name="T23" fmla="*/ 12 h 232"/>
              <a:gd name="T24" fmla="*/ 426 w 439"/>
              <a:gd name="T25" fmla="*/ 17 h 232"/>
              <a:gd name="T26" fmla="*/ 429 w 439"/>
              <a:gd name="T27" fmla="*/ 23 h 232"/>
              <a:gd name="T28" fmla="*/ 431 w 439"/>
              <a:gd name="T29" fmla="*/ 28 h 232"/>
              <a:gd name="T30" fmla="*/ 432 w 439"/>
              <a:gd name="T31" fmla="*/ 33 h 232"/>
              <a:gd name="T32" fmla="*/ 436 w 439"/>
              <a:gd name="T33" fmla="*/ 38 h 232"/>
              <a:gd name="T34" fmla="*/ 437 w 439"/>
              <a:gd name="T35" fmla="*/ 45 h 232"/>
              <a:gd name="T36" fmla="*/ 439 w 439"/>
              <a:gd name="T37" fmla="*/ 43 h 232"/>
              <a:gd name="T38" fmla="*/ 0 w 439"/>
              <a:gd name="T39" fmla="*/ 192 h 232"/>
              <a:gd name="T40" fmla="*/ 3 w 439"/>
              <a:gd name="T41" fmla="*/ 197 h 232"/>
              <a:gd name="T42" fmla="*/ 5 w 439"/>
              <a:gd name="T43" fmla="*/ 202 h 232"/>
              <a:gd name="T44" fmla="*/ 7 w 439"/>
              <a:gd name="T45" fmla="*/ 207 h 232"/>
              <a:gd name="T46" fmla="*/ 8 w 439"/>
              <a:gd name="T47" fmla="*/ 212 h 232"/>
              <a:gd name="T48" fmla="*/ 12 w 439"/>
              <a:gd name="T49" fmla="*/ 217 h 232"/>
              <a:gd name="T50" fmla="*/ 13 w 439"/>
              <a:gd name="T51" fmla="*/ 222 h 232"/>
              <a:gd name="T52" fmla="*/ 17 w 439"/>
              <a:gd name="T53" fmla="*/ 227 h 232"/>
              <a:gd name="T54" fmla="*/ 18 w 439"/>
              <a:gd name="T55" fmla="*/ 232 h 232"/>
              <a:gd name="T56" fmla="*/ 22 w 439"/>
              <a:gd name="T57" fmla="*/ 230 h 232"/>
              <a:gd name="T58" fmla="*/ 20 w 439"/>
              <a:gd name="T59" fmla="*/ 225 h 232"/>
              <a:gd name="T60" fmla="*/ 17 w 439"/>
              <a:gd name="T61" fmla="*/ 220 h 232"/>
              <a:gd name="T62" fmla="*/ 15 w 439"/>
              <a:gd name="T63" fmla="*/ 215 h 232"/>
              <a:gd name="T64" fmla="*/ 12 w 439"/>
              <a:gd name="T65" fmla="*/ 210 h 232"/>
              <a:gd name="T66" fmla="*/ 10 w 439"/>
              <a:gd name="T67" fmla="*/ 205 h 232"/>
              <a:gd name="T68" fmla="*/ 8 w 439"/>
              <a:gd name="T69" fmla="*/ 200 h 232"/>
              <a:gd name="T70" fmla="*/ 5 w 439"/>
              <a:gd name="T71" fmla="*/ 195 h 232"/>
              <a:gd name="T72" fmla="*/ 3 w 439"/>
              <a:gd name="T73" fmla="*/ 191 h 232"/>
              <a:gd name="T74" fmla="*/ 0 w 439"/>
              <a:gd name="T75" fmla="*/ 192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39" h="232">
                <a:moveTo>
                  <a:pt x="439" y="43"/>
                </a:moveTo>
                <a:lnTo>
                  <a:pt x="437" y="38"/>
                </a:lnTo>
                <a:lnTo>
                  <a:pt x="436" y="32"/>
                </a:lnTo>
                <a:lnTo>
                  <a:pt x="434" y="27"/>
                </a:lnTo>
                <a:lnTo>
                  <a:pt x="431" y="22"/>
                </a:lnTo>
                <a:lnTo>
                  <a:pt x="429" y="17"/>
                </a:lnTo>
                <a:lnTo>
                  <a:pt x="426" y="12"/>
                </a:lnTo>
                <a:lnTo>
                  <a:pt x="424" y="5"/>
                </a:lnTo>
                <a:lnTo>
                  <a:pt x="421" y="0"/>
                </a:lnTo>
                <a:lnTo>
                  <a:pt x="417" y="2"/>
                </a:lnTo>
                <a:lnTo>
                  <a:pt x="421" y="7"/>
                </a:lnTo>
                <a:lnTo>
                  <a:pt x="422" y="12"/>
                </a:lnTo>
                <a:lnTo>
                  <a:pt x="426" y="17"/>
                </a:lnTo>
                <a:lnTo>
                  <a:pt x="429" y="23"/>
                </a:lnTo>
                <a:lnTo>
                  <a:pt x="431" y="28"/>
                </a:lnTo>
                <a:lnTo>
                  <a:pt x="432" y="33"/>
                </a:lnTo>
                <a:lnTo>
                  <a:pt x="436" y="38"/>
                </a:lnTo>
                <a:lnTo>
                  <a:pt x="437" y="45"/>
                </a:lnTo>
                <a:lnTo>
                  <a:pt x="439" y="43"/>
                </a:lnTo>
                <a:close/>
                <a:moveTo>
                  <a:pt x="0" y="192"/>
                </a:moveTo>
                <a:lnTo>
                  <a:pt x="3" y="197"/>
                </a:lnTo>
                <a:lnTo>
                  <a:pt x="5" y="202"/>
                </a:lnTo>
                <a:lnTo>
                  <a:pt x="7" y="207"/>
                </a:lnTo>
                <a:lnTo>
                  <a:pt x="8" y="212"/>
                </a:lnTo>
                <a:lnTo>
                  <a:pt x="12" y="217"/>
                </a:lnTo>
                <a:lnTo>
                  <a:pt x="13" y="222"/>
                </a:lnTo>
                <a:lnTo>
                  <a:pt x="17" y="227"/>
                </a:lnTo>
                <a:lnTo>
                  <a:pt x="18" y="232"/>
                </a:lnTo>
                <a:lnTo>
                  <a:pt x="22" y="230"/>
                </a:lnTo>
                <a:lnTo>
                  <a:pt x="20" y="225"/>
                </a:lnTo>
                <a:lnTo>
                  <a:pt x="17" y="220"/>
                </a:lnTo>
                <a:lnTo>
                  <a:pt x="15" y="215"/>
                </a:lnTo>
                <a:lnTo>
                  <a:pt x="12" y="210"/>
                </a:lnTo>
                <a:lnTo>
                  <a:pt x="10" y="205"/>
                </a:lnTo>
                <a:lnTo>
                  <a:pt x="8" y="200"/>
                </a:lnTo>
                <a:lnTo>
                  <a:pt x="5" y="195"/>
                </a:lnTo>
                <a:lnTo>
                  <a:pt x="3" y="191"/>
                </a:lnTo>
                <a:lnTo>
                  <a:pt x="0" y="192"/>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68" name="Freeform 2073">
            <a:extLst>
              <a:ext uri="{FF2B5EF4-FFF2-40B4-BE49-F238E27FC236}">
                <a16:creationId xmlns:a16="http://schemas.microsoft.com/office/drawing/2014/main" id="{BDEF2BE1-6F90-CEF1-9472-20D360544491}"/>
              </a:ext>
            </a:extLst>
          </p:cNvPr>
          <p:cNvSpPr>
            <a:spLocks noEditPoints="1"/>
          </p:cNvSpPr>
          <p:nvPr/>
        </p:nvSpPr>
        <p:spPr bwMode="auto">
          <a:xfrm>
            <a:off x="3173413" y="2419350"/>
            <a:ext cx="693738" cy="365125"/>
          </a:xfrm>
          <a:custGeom>
            <a:avLst/>
            <a:gdLst>
              <a:gd name="T0" fmla="*/ 437 w 437"/>
              <a:gd name="T1" fmla="*/ 41 h 230"/>
              <a:gd name="T2" fmla="*/ 434 w 437"/>
              <a:gd name="T3" fmla="*/ 36 h 230"/>
              <a:gd name="T4" fmla="*/ 432 w 437"/>
              <a:gd name="T5" fmla="*/ 31 h 230"/>
              <a:gd name="T6" fmla="*/ 430 w 437"/>
              <a:gd name="T7" fmla="*/ 25 h 230"/>
              <a:gd name="T8" fmla="*/ 427 w 437"/>
              <a:gd name="T9" fmla="*/ 20 h 230"/>
              <a:gd name="T10" fmla="*/ 425 w 437"/>
              <a:gd name="T11" fmla="*/ 15 h 230"/>
              <a:gd name="T12" fmla="*/ 422 w 437"/>
              <a:gd name="T13" fmla="*/ 10 h 230"/>
              <a:gd name="T14" fmla="*/ 420 w 437"/>
              <a:gd name="T15" fmla="*/ 5 h 230"/>
              <a:gd name="T16" fmla="*/ 417 w 437"/>
              <a:gd name="T17" fmla="*/ 0 h 230"/>
              <a:gd name="T18" fmla="*/ 414 w 437"/>
              <a:gd name="T19" fmla="*/ 1 h 230"/>
              <a:gd name="T20" fmla="*/ 417 w 437"/>
              <a:gd name="T21" fmla="*/ 6 h 230"/>
              <a:gd name="T22" fmla="*/ 420 w 437"/>
              <a:gd name="T23" fmla="*/ 11 h 230"/>
              <a:gd name="T24" fmla="*/ 422 w 437"/>
              <a:gd name="T25" fmla="*/ 16 h 230"/>
              <a:gd name="T26" fmla="*/ 425 w 437"/>
              <a:gd name="T27" fmla="*/ 21 h 230"/>
              <a:gd name="T28" fmla="*/ 427 w 437"/>
              <a:gd name="T29" fmla="*/ 26 h 230"/>
              <a:gd name="T30" fmla="*/ 429 w 437"/>
              <a:gd name="T31" fmla="*/ 33 h 230"/>
              <a:gd name="T32" fmla="*/ 432 w 437"/>
              <a:gd name="T33" fmla="*/ 38 h 230"/>
              <a:gd name="T34" fmla="*/ 434 w 437"/>
              <a:gd name="T35" fmla="*/ 43 h 230"/>
              <a:gd name="T36" fmla="*/ 437 w 437"/>
              <a:gd name="T37" fmla="*/ 41 h 230"/>
              <a:gd name="T38" fmla="*/ 0 w 437"/>
              <a:gd name="T39" fmla="*/ 189 h 230"/>
              <a:gd name="T40" fmla="*/ 1 w 437"/>
              <a:gd name="T41" fmla="*/ 193 h 230"/>
              <a:gd name="T42" fmla="*/ 5 w 437"/>
              <a:gd name="T43" fmla="*/ 200 h 230"/>
              <a:gd name="T44" fmla="*/ 6 w 437"/>
              <a:gd name="T45" fmla="*/ 205 h 230"/>
              <a:gd name="T46" fmla="*/ 8 w 437"/>
              <a:gd name="T47" fmla="*/ 210 h 230"/>
              <a:gd name="T48" fmla="*/ 11 w 437"/>
              <a:gd name="T49" fmla="*/ 215 h 230"/>
              <a:gd name="T50" fmla="*/ 13 w 437"/>
              <a:gd name="T51" fmla="*/ 220 h 230"/>
              <a:gd name="T52" fmla="*/ 16 w 437"/>
              <a:gd name="T53" fmla="*/ 225 h 230"/>
              <a:gd name="T54" fmla="*/ 18 w 437"/>
              <a:gd name="T55" fmla="*/ 230 h 230"/>
              <a:gd name="T56" fmla="*/ 21 w 437"/>
              <a:gd name="T57" fmla="*/ 228 h 230"/>
              <a:gd name="T58" fmla="*/ 20 w 437"/>
              <a:gd name="T59" fmla="*/ 223 h 230"/>
              <a:gd name="T60" fmla="*/ 16 w 437"/>
              <a:gd name="T61" fmla="*/ 218 h 230"/>
              <a:gd name="T62" fmla="*/ 15 w 437"/>
              <a:gd name="T63" fmla="*/ 213 h 230"/>
              <a:gd name="T64" fmla="*/ 11 w 437"/>
              <a:gd name="T65" fmla="*/ 208 h 230"/>
              <a:gd name="T66" fmla="*/ 10 w 437"/>
              <a:gd name="T67" fmla="*/ 203 h 230"/>
              <a:gd name="T68" fmla="*/ 6 w 437"/>
              <a:gd name="T69" fmla="*/ 198 h 230"/>
              <a:gd name="T70" fmla="*/ 5 w 437"/>
              <a:gd name="T71" fmla="*/ 193 h 230"/>
              <a:gd name="T72" fmla="*/ 3 w 437"/>
              <a:gd name="T73" fmla="*/ 187 h 230"/>
              <a:gd name="T74" fmla="*/ 0 w 437"/>
              <a:gd name="T75" fmla="*/ 189 h 2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37" h="230">
                <a:moveTo>
                  <a:pt x="437" y="41"/>
                </a:moveTo>
                <a:lnTo>
                  <a:pt x="434" y="36"/>
                </a:lnTo>
                <a:lnTo>
                  <a:pt x="432" y="31"/>
                </a:lnTo>
                <a:lnTo>
                  <a:pt x="430" y="25"/>
                </a:lnTo>
                <a:lnTo>
                  <a:pt x="427" y="20"/>
                </a:lnTo>
                <a:lnTo>
                  <a:pt x="425" y="15"/>
                </a:lnTo>
                <a:lnTo>
                  <a:pt x="422" y="10"/>
                </a:lnTo>
                <a:lnTo>
                  <a:pt x="420" y="5"/>
                </a:lnTo>
                <a:lnTo>
                  <a:pt x="417" y="0"/>
                </a:lnTo>
                <a:lnTo>
                  <a:pt x="414" y="1"/>
                </a:lnTo>
                <a:lnTo>
                  <a:pt x="417" y="6"/>
                </a:lnTo>
                <a:lnTo>
                  <a:pt x="420" y="11"/>
                </a:lnTo>
                <a:lnTo>
                  <a:pt x="422" y="16"/>
                </a:lnTo>
                <a:lnTo>
                  <a:pt x="425" y="21"/>
                </a:lnTo>
                <a:lnTo>
                  <a:pt x="427" y="26"/>
                </a:lnTo>
                <a:lnTo>
                  <a:pt x="429" y="33"/>
                </a:lnTo>
                <a:lnTo>
                  <a:pt x="432" y="38"/>
                </a:lnTo>
                <a:lnTo>
                  <a:pt x="434" y="43"/>
                </a:lnTo>
                <a:lnTo>
                  <a:pt x="437" y="41"/>
                </a:lnTo>
                <a:close/>
                <a:moveTo>
                  <a:pt x="0" y="189"/>
                </a:moveTo>
                <a:lnTo>
                  <a:pt x="1" y="193"/>
                </a:lnTo>
                <a:lnTo>
                  <a:pt x="5" y="200"/>
                </a:lnTo>
                <a:lnTo>
                  <a:pt x="6" y="205"/>
                </a:lnTo>
                <a:lnTo>
                  <a:pt x="8" y="210"/>
                </a:lnTo>
                <a:lnTo>
                  <a:pt x="11" y="215"/>
                </a:lnTo>
                <a:lnTo>
                  <a:pt x="13" y="220"/>
                </a:lnTo>
                <a:lnTo>
                  <a:pt x="16" y="225"/>
                </a:lnTo>
                <a:lnTo>
                  <a:pt x="18" y="230"/>
                </a:lnTo>
                <a:lnTo>
                  <a:pt x="21" y="228"/>
                </a:lnTo>
                <a:lnTo>
                  <a:pt x="20" y="223"/>
                </a:lnTo>
                <a:lnTo>
                  <a:pt x="16" y="218"/>
                </a:lnTo>
                <a:lnTo>
                  <a:pt x="15" y="213"/>
                </a:lnTo>
                <a:lnTo>
                  <a:pt x="11" y="208"/>
                </a:lnTo>
                <a:lnTo>
                  <a:pt x="10" y="203"/>
                </a:lnTo>
                <a:lnTo>
                  <a:pt x="6" y="198"/>
                </a:lnTo>
                <a:lnTo>
                  <a:pt x="5" y="193"/>
                </a:lnTo>
                <a:lnTo>
                  <a:pt x="3" y="187"/>
                </a:lnTo>
                <a:lnTo>
                  <a:pt x="0" y="189"/>
                </a:lnTo>
                <a:close/>
              </a:path>
            </a:pathLst>
          </a:custGeom>
          <a:solidFill>
            <a:srgbClr val="7EC7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69" name="Freeform 2074">
            <a:extLst>
              <a:ext uri="{FF2B5EF4-FFF2-40B4-BE49-F238E27FC236}">
                <a16:creationId xmlns:a16="http://schemas.microsoft.com/office/drawing/2014/main" id="{D4323FD1-A881-AEB4-6426-D14D10361103}"/>
              </a:ext>
            </a:extLst>
          </p:cNvPr>
          <p:cNvSpPr>
            <a:spLocks noEditPoints="1"/>
          </p:cNvSpPr>
          <p:nvPr/>
        </p:nvSpPr>
        <p:spPr bwMode="auto">
          <a:xfrm>
            <a:off x="3175000" y="2419350"/>
            <a:ext cx="688975" cy="361950"/>
          </a:xfrm>
          <a:custGeom>
            <a:avLst/>
            <a:gdLst>
              <a:gd name="T0" fmla="*/ 434 w 434"/>
              <a:gd name="T1" fmla="*/ 43 h 228"/>
              <a:gd name="T2" fmla="*/ 433 w 434"/>
              <a:gd name="T3" fmla="*/ 36 h 228"/>
              <a:gd name="T4" fmla="*/ 429 w 434"/>
              <a:gd name="T5" fmla="*/ 31 h 228"/>
              <a:gd name="T6" fmla="*/ 428 w 434"/>
              <a:gd name="T7" fmla="*/ 26 h 228"/>
              <a:gd name="T8" fmla="*/ 426 w 434"/>
              <a:gd name="T9" fmla="*/ 21 h 228"/>
              <a:gd name="T10" fmla="*/ 423 w 434"/>
              <a:gd name="T11" fmla="*/ 15 h 228"/>
              <a:gd name="T12" fmla="*/ 419 w 434"/>
              <a:gd name="T13" fmla="*/ 10 h 228"/>
              <a:gd name="T14" fmla="*/ 418 w 434"/>
              <a:gd name="T15" fmla="*/ 5 h 228"/>
              <a:gd name="T16" fmla="*/ 414 w 434"/>
              <a:gd name="T17" fmla="*/ 0 h 228"/>
              <a:gd name="T18" fmla="*/ 411 w 434"/>
              <a:gd name="T19" fmla="*/ 1 h 228"/>
              <a:gd name="T20" fmla="*/ 414 w 434"/>
              <a:gd name="T21" fmla="*/ 6 h 228"/>
              <a:gd name="T22" fmla="*/ 418 w 434"/>
              <a:gd name="T23" fmla="*/ 11 h 228"/>
              <a:gd name="T24" fmla="*/ 419 w 434"/>
              <a:gd name="T25" fmla="*/ 16 h 228"/>
              <a:gd name="T26" fmla="*/ 423 w 434"/>
              <a:gd name="T27" fmla="*/ 21 h 228"/>
              <a:gd name="T28" fmla="*/ 424 w 434"/>
              <a:gd name="T29" fmla="*/ 28 h 228"/>
              <a:gd name="T30" fmla="*/ 426 w 434"/>
              <a:gd name="T31" fmla="*/ 33 h 228"/>
              <a:gd name="T32" fmla="*/ 429 w 434"/>
              <a:gd name="T33" fmla="*/ 38 h 228"/>
              <a:gd name="T34" fmla="*/ 431 w 434"/>
              <a:gd name="T35" fmla="*/ 44 h 228"/>
              <a:gd name="T36" fmla="*/ 434 w 434"/>
              <a:gd name="T37" fmla="*/ 43 h 228"/>
              <a:gd name="T38" fmla="*/ 0 w 434"/>
              <a:gd name="T39" fmla="*/ 189 h 228"/>
              <a:gd name="T40" fmla="*/ 2 w 434"/>
              <a:gd name="T41" fmla="*/ 193 h 228"/>
              <a:gd name="T42" fmla="*/ 5 w 434"/>
              <a:gd name="T43" fmla="*/ 198 h 228"/>
              <a:gd name="T44" fmla="*/ 7 w 434"/>
              <a:gd name="T45" fmla="*/ 203 h 228"/>
              <a:gd name="T46" fmla="*/ 9 w 434"/>
              <a:gd name="T47" fmla="*/ 208 h 228"/>
              <a:gd name="T48" fmla="*/ 12 w 434"/>
              <a:gd name="T49" fmla="*/ 213 h 228"/>
              <a:gd name="T50" fmla="*/ 14 w 434"/>
              <a:gd name="T51" fmla="*/ 218 h 228"/>
              <a:gd name="T52" fmla="*/ 17 w 434"/>
              <a:gd name="T53" fmla="*/ 223 h 228"/>
              <a:gd name="T54" fmla="*/ 19 w 434"/>
              <a:gd name="T55" fmla="*/ 228 h 228"/>
              <a:gd name="T56" fmla="*/ 22 w 434"/>
              <a:gd name="T57" fmla="*/ 227 h 228"/>
              <a:gd name="T58" fmla="*/ 20 w 434"/>
              <a:gd name="T59" fmla="*/ 222 h 228"/>
              <a:gd name="T60" fmla="*/ 17 w 434"/>
              <a:gd name="T61" fmla="*/ 218 h 228"/>
              <a:gd name="T62" fmla="*/ 14 w 434"/>
              <a:gd name="T63" fmla="*/ 213 h 228"/>
              <a:gd name="T64" fmla="*/ 12 w 434"/>
              <a:gd name="T65" fmla="*/ 208 h 228"/>
              <a:gd name="T66" fmla="*/ 10 w 434"/>
              <a:gd name="T67" fmla="*/ 202 h 228"/>
              <a:gd name="T68" fmla="*/ 7 w 434"/>
              <a:gd name="T69" fmla="*/ 197 h 228"/>
              <a:gd name="T70" fmla="*/ 5 w 434"/>
              <a:gd name="T71" fmla="*/ 192 h 228"/>
              <a:gd name="T72" fmla="*/ 4 w 434"/>
              <a:gd name="T73" fmla="*/ 187 h 228"/>
              <a:gd name="T74" fmla="*/ 0 w 434"/>
              <a:gd name="T75" fmla="*/ 189 h 2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34" h="228">
                <a:moveTo>
                  <a:pt x="434" y="43"/>
                </a:moveTo>
                <a:lnTo>
                  <a:pt x="433" y="36"/>
                </a:lnTo>
                <a:lnTo>
                  <a:pt x="429" y="31"/>
                </a:lnTo>
                <a:lnTo>
                  <a:pt x="428" y="26"/>
                </a:lnTo>
                <a:lnTo>
                  <a:pt x="426" y="21"/>
                </a:lnTo>
                <a:lnTo>
                  <a:pt x="423" y="15"/>
                </a:lnTo>
                <a:lnTo>
                  <a:pt x="419" y="10"/>
                </a:lnTo>
                <a:lnTo>
                  <a:pt x="418" y="5"/>
                </a:lnTo>
                <a:lnTo>
                  <a:pt x="414" y="0"/>
                </a:lnTo>
                <a:lnTo>
                  <a:pt x="411" y="1"/>
                </a:lnTo>
                <a:lnTo>
                  <a:pt x="414" y="6"/>
                </a:lnTo>
                <a:lnTo>
                  <a:pt x="418" y="11"/>
                </a:lnTo>
                <a:lnTo>
                  <a:pt x="419" y="16"/>
                </a:lnTo>
                <a:lnTo>
                  <a:pt x="423" y="21"/>
                </a:lnTo>
                <a:lnTo>
                  <a:pt x="424" y="28"/>
                </a:lnTo>
                <a:lnTo>
                  <a:pt x="426" y="33"/>
                </a:lnTo>
                <a:lnTo>
                  <a:pt x="429" y="38"/>
                </a:lnTo>
                <a:lnTo>
                  <a:pt x="431" y="44"/>
                </a:lnTo>
                <a:lnTo>
                  <a:pt x="434" y="43"/>
                </a:lnTo>
                <a:close/>
                <a:moveTo>
                  <a:pt x="0" y="189"/>
                </a:moveTo>
                <a:lnTo>
                  <a:pt x="2" y="193"/>
                </a:lnTo>
                <a:lnTo>
                  <a:pt x="5" y="198"/>
                </a:lnTo>
                <a:lnTo>
                  <a:pt x="7" y="203"/>
                </a:lnTo>
                <a:lnTo>
                  <a:pt x="9" y="208"/>
                </a:lnTo>
                <a:lnTo>
                  <a:pt x="12" y="213"/>
                </a:lnTo>
                <a:lnTo>
                  <a:pt x="14" y="218"/>
                </a:lnTo>
                <a:lnTo>
                  <a:pt x="17" y="223"/>
                </a:lnTo>
                <a:lnTo>
                  <a:pt x="19" y="228"/>
                </a:lnTo>
                <a:lnTo>
                  <a:pt x="22" y="227"/>
                </a:lnTo>
                <a:lnTo>
                  <a:pt x="20" y="222"/>
                </a:lnTo>
                <a:lnTo>
                  <a:pt x="17" y="218"/>
                </a:lnTo>
                <a:lnTo>
                  <a:pt x="14" y="213"/>
                </a:lnTo>
                <a:lnTo>
                  <a:pt x="12" y="208"/>
                </a:lnTo>
                <a:lnTo>
                  <a:pt x="10" y="202"/>
                </a:lnTo>
                <a:lnTo>
                  <a:pt x="7" y="197"/>
                </a:lnTo>
                <a:lnTo>
                  <a:pt x="5" y="192"/>
                </a:lnTo>
                <a:lnTo>
                  <a:pt x="4" y="187"/>
                </a:lnTo>
                <a:lnTo>
                  <a:pt x="0" y="189"/>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70" name="Freeform 2075">
            <a:extLst>
              <a:ext uri="{FF2B5EF4-FFF2-40B4-BE49-F238E27FC236}">
                <a16:creationId xmlns:a16="http://schemas.microsoft.com/office/drawing/2014/main" id="{FF95BAB9-667B-9B43-0893-AC7CFC15BDAB}"/>
              </a:ext>
            </a:extLst>
          </p:cNvPr>
          <p:cNvSpPr>
            <a:spLocks noEditPoints="1"/>
          </p:cNvSpPr>
          <p:nvPr/>
        </p:nvSpPr>
        <p:spPr bwMode="auto">
          <a:xfrm>
            <a:off x="3178175" y="2420938"/>
            <a:ext cx="684213" cy="360363"/>
          </a:xfrm>
          <a:custGeom>
            <a:avLst/>
            <a:gdLst>
              <a:gd name="T0" fmla="*/ 431 w 431"/>
              <a:gd name="T1" fmla="*/ 42 h 227"/>
              <a:gd name="T2" fmla="*/ 429 w 431"/>
              <a:gd name="T3" fmla="*/ 37 h 227"/>
              <a:gd name="T4" fmla="*/ 426 w 431"/>
              <a:gd name="T5" fmla="*/ 32 h 227"/>
              <a:gd name="T6" fmla="*/ 424 w 431"/>
              <a:gd name="T7" fmla="*/ 25 h 227"/>
              <a:gd name="T8" fmla="*/ 422 w 431"/>
              <a:gd name="T9" fmla="*/ 20 h 227"/>
              <a:gd name="T10" fmla="*/ 419 w 431"/>
              <a:gd name="T11" fmla="*/ 15 h 227"/>
              <a:gd name="T12" fmla="*/ 417 w 431"/>
              <a:gd name="T13" fmla="*/ 10 h 227"/>
              <a:gd name="T14" fmla="*/ 414 w 431"/>
              <a:gd name="T15" fmla="*/ 5 h 227"/>
              <a:gd name="T16" fmla="*/ 411 w 431"/>
              <a:gd name="T17" fmla="*/ 0 h 227"/>
              <a:gd name="T18" fmla="*/ 407 w 431"/>
              <a:gd name="T19" fmla="*/ 0 h 227"/>
              <a:gd name="T20" fmla="*/ 411 w 431"/>
              <a:gd name="T21" fmla="*/ 5 h 227"/>
              <a:gd name="T22" fmla="*/ 414 w 431"/>
              <a:gd name="T23" fmla="*/ 12 h 227"/>
              <a:gd name="T24" fmla="*/ 416 w 431"/>
              <a:gd name="T25" fmla="*/ 17 h 227"/>
              <a:gd name="T26" fmla="*/ 419 w 431"/>
              <a:gd name="T27" fmla="*/ 22 h 227"/>
              <a:gd name="T28" fmla="*/ 421 w 431"/>
              <a:gd name="T29" fmla="*/ 27 h 227"/>
              <a:gd name="T30" fmla="*/ 424 w 431"/>
              <a:gd name="T31" fmla="*/ 32 h 227"/>
              <a:gd name="T32" fmla="*/ 426 w 431"/>
              <a:gd name="T33" fmla="*/ 39 h 227"/>
              <a:gd name="T34" fmla="*/ 427 w 431"/>
              <a:gd name="T35" fmla="*/ 43 h 227"/>
              <a:gd name="T36" fmla="*/ 431 w 431"/>
              <a:gd name="T37" fmla="*/ 42 h 227"/>
              <a:gd name="T38" fmla="*/ 0 w 431"/>
              <a:gd name="T39" fmla="*/ 186 h 227"/>
              <a:gd name="T40" fmla="*/ 2 w 431"/>
              <a:gd name="T41" fmla="*/ 192 h 227"/>
              <a:gd name="T42" fmla="*/ 3 w 431"/>
              <a:gd name="T43" fmla="*/ 197 h 227"/>
              <a:gd name="T44" fmla="*/ 7 w 431"/>
              <a:gd name="T45" fmla="*/ 202 h 227"/>
              <a:gd name="T46" fmla="*/ 8 w 431"/>
              <a:gd name="T47" fmla="*/ 207 h 227"/>
              <a:gd name="T48" fmla="*/ 12 w 431"/>
              <a:gd name="T49" fmla="*/ 212 h 227"/>
              <a:gd name="T50" fmla="*/ 13 w 431"/>
              <a:gd name="T51" fmla="*/ 217 h 227"/>
              <a:gd name="T52" fmla="*/ 17 w 431"/>
              <a:gd name="T53" fmla="*/ 222 h 227"/>
              <a:gd name="T54" fmla="*/ 18 w 431"/>
              <a:gd name="T55" fmla="*/ 227 h 227"/>
              <a:gd name="T56" fmla="*/ 22 w 431"/>
              <a:gd name="T57" fmla="*/ 226 h 227"/>
              <a:gd name="T58" fmla="*/ 18 w 431"/>
              <a:gd name="T59" fmla="*/ 221 h 227"/>
              <a:gd name="T60" fmla="*/ 17 w 431"/>
              <a:gd name="T61" fmla="*/ 216 h 227"/>
              <a:gd name="T62" fmla="*/ 13 w 431"/>
              <a:gd name="T63" fmla="*/ 211 h 227"/>
              <a:gd name="T64" fmla="*/ 12 w 431"/>
              <a:gd name="T65" fmla="*/ 206 h 227"/>
              <a:gd name="T66" fmla="*/ 10 w 431"/>
              <a:gd name="T67" fmla="*/ 201 h 227"/>
              <a:gd name="T68" fmla="*/ 7 w 431"/>
              <a:gd name="T69" fmla="*/ 196 h 227"/>
              <a:gd name="T70" fmla="*/ 5 w 431"/>
              <a:gd name="T71" fmla="*/ 191 h 227"/>
              <a:gd name="T72" fmla="*/ 3 w 431"/>
              <a:gd name="T73" fmla="*/ 186 h 227"/>
              <a:gd name="T74" fmla="*/ 0 w 431"/>
              <a:gd name="T75" fmla="*/ 186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31" h="227">
                <a:moveTo>
                  <a:pt x="431" y="42"/>
                </a:moveTo>
                <a:lnTo>
                  <a:pt x="429" y="37"/>
                </a:lnTo>
                <a:lnTo>
                  <a:pt x="426" y="32"/>
                </a:lnTo>
                <a:lnTo>
                  <a:pt x="424" y="25"/>
                </a:lnTo>
                <a:lnTo>
                  <a:pt x="422" y="20"/>
                </a:lnTo>
                <a:lnTo>
                  <a:pt x="419" y="15"/>
                </a:lnTo>
                <a:lnTo>
                  <a:pt x="417" y="10"/>
                </a:lnTo>
                <a:lnTo>
                  <a:pt x="414" y="5"/>
                </a:lnTo>
                <a:lnTo>
                  <a:pt x="411" y="0"/>
                </a:lnTo>
                <a:lnTo>
                  <a:pt x="407" y="0"/>
                </a:lnTo>
                <a:lnTo>
                  <a:pt x="411" y="5"/>
                </a:lnTo>
                <a:lnTo>
                  <a:pt x="414" y="12"/>
                </a:lnTo>
                <a:lnTo>
                  <a:pt x="416" y="17"/>
                </a:lnTo>
                <a:lnTo>
                  <a:pt x="419" y="22"/>
                </a:lnTo>
                <a:lnTo>
                  <a:pt x="421" y="27"/>
                </a:lnTo>
                <a:lnTo>
                  <a:pt x="424" y="32"/>
                </a:lnTo>
                <a:lnTo>
                  <a:pt x="426" y="39"/>
                </a:lnTo>
                <a:lnTo>
                  <a:pt x="427" y="43"/>
                </a:lnTo>
                <a:lnTo>
                  <a:pt x="431" y="42"/>
                </a:lnTo>
                <a:close/>
                <a:moveTo>
                  <a:pt x="0" y="186"/>
                </a:moveTo>
                <a:lnTo>
                  <a:pt x="2" y="192"/>
                </a:lnTo>
                <a:lnTo>
                  <a:pt x="3" y="197"/>
                </a:lnTo>
                <a:lnTo>
                  <a:pt x="7" y="202"/>
                </a:lnTo>
                <a:lnTo>
                  <a:pt x="8" y="207"/>
                </a:lnTo>
                <a:lnTo>
                  <a:pt x="12" y="212"/>
                </a:lnTo>
                <a:lnTo>
                  <a:pt x="13" y="217"/>
                </a:lnTo>
                <a:lnTo>
                  <a:pt x="17" y="222"/>
                </a:lnTo>
                <a:lnTo>
                  <a:pt x="18" y="227"/>
                </a:lnTo>
                <a:lnTo>
                  <a:pt x="22" y="226"/>
                </a:lnTo>
                <a:lnTo>
                  <a:pt x="18" y="221"/>
                </a:lnTo>
                <a:lnTo>
                  <a:pt x="17" y="216"/>
                </a:lnTo>
                <a:lnTo>
                  <a:pt x="13" y="211"/>
                </a:lnTo>
                <a:lnTo>
                  <a:pt x="12" y="206"/>
                </a:lnTo>
                <a:lnTo>
                  <a:pt x="10" y="201"/>
                </a:lnTo>
                <a:lnTo>
                  <a:pt x="7" y="196"/>
                </a:lnTo>
                <a:lnTo>
                  <a:pt x="5" y="191"/>
                </a:lnTo>
                <a:lnTo>
                  <a:pt x="3" y="186"/>
                </a:lnTo>
                <a:lnTo>
                  <a:pt x="0" y="186"/>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71" name="Freeform 2076">
            <a:extLst>
              <a:ext uri="{FF2B5EF4-FFF2-40B4-BE49-F238E27FC236}">
                <a16:creationId xmlns:a16="http://schemas.microsoft.com/office/drawing/2014/main" id="{8A5D3FEC-9E7F-BFE6-A239-EA668158A107}"/>
              </a:ext>
            </a:extLst>
          </p:cNvPr>
          <p:cNvSpPr>
            <a:spLocks noEditPoints="1"/>
          </p:cNvSpPr>
          <p:nvPr/>
        </p:nvSpPr>
        <p:spPr bwMode="auto">
          <a:xfrm>
            <a:off x="3181350" y="2420938"/>
            <a:ext cx="677863" cy="358775"/>
          </a:xfrm>
          <a:custGeom>
            <a:avLst/>
            <a:gdLst>
              <a:gd name="T0" fmla="*/ 427 w 427"/>
              <a:gd name="T1" fmla="*/ 43 h 226"/>
              <a:gd name="T2" fmla="*/ 425 w 427"/>
              <a:gd name="T3" fmla="*/ 37 h 226"/>
              <a:gd name="T4" fmla="*/ 422 w 427"/>
              <a:gd name="T5" fmla="*/ 32 h 226"/>
              <a:gd name="T6" fmla="*/ 420 w 427"/>
              <a:gd name="T7" fmla="*/ 27 h 226"/>
              <a:gd name="T8" fmla="*/ 419 w 427"/>
              <a:gd name="T9" fmla="*/ 20 h 226"/>
              <a:gd name="T10" fmla="*/ 415 w 427"/>
              <a:gd name="T11" fmla="*/ 15 h 226"/>
              <a:gd name="T12" fmla="*/ 414 w 427"/>
              <a:gd name="T13" fmla="*/ 10 h 226"/>
              <a:gd name="T14" fmla="*/ 410 w 427"/>
              <a:gd name="T15" fmla="*/ 5 h 226"/>
              <a:gd name="T16" fmla="*/ 407 w 427"/>
              <a:gd name="T17" fmla="*/ 0 h 226"/>
              <a:gd name="T18" fmla="*/ 404 w 427"/>
              <a:gd name="T19" fmla="*/ 2 h 226"/>
              <a:gd name="T20" fmla="*/ 407 w 427"/>
              <a:gd name="T21" fmla="*/ 7 h 226"/>
              <a:gd name="T22" fmla="*/ 410 w 427"/>
              <a:gd name="T23" fmla="*/ 12 h 226"/>
              <a:gd name="T24" fmla="*/ 412 w 427"/>
              <a:gd name="T25" fmla="*/ 17 h 226"/>
              <a:gd name="T26" fmla="*/ 415 w 427"/>
              <a:gd name="T27" fmla="*/ 22 h 226"/>
              <a:gd name="T28" fmla="*/ 417 w 427"/>
              <a:gd name="T29" fmla="*/ 29 h 226"/>
              <a:gd name="T30" fmla="*/ 420 w 427"/>
              <a:gd name="T31" fmla="*/ 34 h 226"/>
              <a:gd name="T32" fmla="*/ 422 w 427"/>
              <a:gd name="T33" fmla="*/ 39 h 226"/>
              <a:gd name="T34" fmla="*/ 424 w 427"/>
              <a:gd name="T35" fmla="*/ 45 h 226"/>
              <a:gd name="T36" fmla="*/ 427 w 427"/>
              <a:gd name="T37" fmla="*/ 43 h 226"/>
              <a:gd name="T38" fmla="*/ 0 w 427"/>
              <a:gd name="T39" fmla="*/ 186 h 226"/>
              <a:gd name="T40" fmla="*/ 1 w 427"/>
              <a:gd name="T41" fmla="*/ 191 h 226"/>
              <a:gd name="T42" fmla="*/ 3 w 427"/>
              <a:gd name="T43" fmla="*/ 196 h 226"/>
              <a:gd name="T44" fmla="*/ 6 w 427"/>
              <a:gd name="T45" fmla="*/ 201 h 226"/>
              <a:gd name="T46" fmla="*/ 8 w 427"/>
              <a:gd name="T47" fmla="*/ 207 h 226"/>
              <a:gd name="T48" fmla="*/ 10 w 427"/>
              <a:gd name="T49" fmla="*/ 212 h 226"/>
              <a:gd name="T50" fmla="*/ 13 w 427"/>
              <a:gd name="T51" fmla="*/ 217 h 226"/>
              <a:gd name="T52" fmla="*/ 16 w 427"/>
              <a:gd name="T53" fmla="*/ 221 h 226"/>
              <a:gd name="T54" fmla="*/ 18 w 427"/>
              <a:gd name="T55" fmla="*/ 226 h 226"/>
              <a:gd name="T56" fmla="*/ 21 w 427"/>
              <a:gd name="T57" fmla="*/ 226 h 226"/>
              <a:gd name="T58" fmla="*/ 18 w 427"/>
              <a:gd name="T59" fmla="*/ 221 h 226"/>
              <a:gd name="T60" fmla="*/ 16 w 427"/>
              <a:gd name="T61" fmla="*/ 216 h 226"/>
              <a:gd name="T62" fmla="*/ 13 w 427"/>
              <a:gd name="T63" fmla="*/ 211 h 226"/>
              <a:gd name="T64" fmla="*/ 11 w 427"/>
              <a:gd name="T65" fmla="*/ 206 h 226"/>
              <a:gd name="T66" fmla="*/ 8 w 427"/>
              <a:gd name="T67" fmla="*/ 201 h 226"/>
              <a:gd name="T68" fmla="*/ 6 w 427"/>
              <a:gd name="T69" fmla="*/ 196 h 226"/>
              <a:gd name="T70" fmla="*/ 5 w 427"/>
              <a:gd name="T71" fmla="*/ 189 h 226"/>
              <a:gd name="T72" fmla="*/ 3 w 427"/>
              <a:gd name="T73" fmla="*/ 184 h 226"/>
              <a:gd name="T74" fmla="*/ 0 w 427"/>
              <a:gd name="T75" fmla="*/ 186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27" h="226">
                <a:moveTo>
                  <a:pt x="427" y="43"/>
                </a:moveTo>
                <a:lnTo>
                  <a:pt x="425" y="37"/>
                </a:lnTo>
                <a:lnTo>
                  <a:pt x="422" y="32"/>
                </a:lnTo>
                <a:lnTo>
                  <a:pt x="420" y="27"/>
                </a:lnTo>
                <a:lnTo>
                  <a:pt x="419" y="20"/>
                </a:lnTo>
                <a:lnTo>
                  <a:pt x="415" y="15"/>
                </a:lnTo>
                <a:lnTo>
                  <a:pt x="414" y="10"/>
                </a:lnTo>
                <a:lnTo>
                  <a:pt x="410" y="5"/>
                </a:lnTo>
                <a:lnTo>
                  <a:pt x="407" y="0"/>
                </a:lnTo>
                <a:lnTo>
                  <a:pt x="404" y="2"/>
                </a:lnTo>
                <a:lnTo>
                  <a:pt x="407" y="7"/>
                </a:lnTo>
                <a:lnTo>
                  <a:pt x="410" y="12"/>
                </a:lnTo>
                <a:lnTo>
                  <a:pt x="412" y="17"/>
                </a:lnTo>
                <a:lnTo>
                  <a:pt x="415" y="22"/>
                </a:lnTo>
                <a:lnTo>
                  <a:pt x="417" y="29"/>
                </a:lnTo>
                <a:lnTo>
                  <a:pt x="420" y="34"/>
                </a:lnTo>
                <a:lnTo>
                  <a:pt x="422" y="39"/>
                </a:lnTo>
                <a:lnTo>
                  <a:pt x="424" y="45"/>
                </a:lnTo>
                <a:lnTo>
                  <a:pt x="427" y="43"/>
                </a:lnTo>
                <a:close/>
                <a:moveTo>
                  <a:pt x="0" y="186"/>
                </a:moveTo>
                <a:lnTo>
                  <a:pt x="1" y="191"/>
                </a:lnTo>
                <a:lnTo>
                  <a:pt x="3" y="196"/>
                </a:lnTo>
                <a:lnTo>
                  <a:pt x="6" y="201"/>
                </a:lnTo>
                <a:lnTo>
                  <a:pt x="8" y="207"/>
                </a:lnTo>
                <a:lnTo>
                  <a:pt x="10" y="212"/>
                </a:lnTo>
                <a:lnTo>
                  <a:pt x="13" y="217"/>
                </a:lnTo>
                <a:lnTo>
                  <a:pt x="16" y="221"/>
                </a:lnTo>
                <a:lnTo>
                  <a:pt x="18" y="226"/>
                </a:lnTo>
                <a:lnTo>
                  <a:pt x="21" y="226"/>
                </a:lnTo>
                <a:lnTo>
                  <a:pt x="18" y="221"/>
                </a:lnTo>
                <a:lnTo>
                  <a:pt x="16" y="216"/>
                </a:lnTo>
                <a:lnTo>
                  <a:pt x="13" y="211"/>
                </a:lnTo>
                <a:lnTo>
                  <a:pt x="11" y="206"/>
                </a:lnTo>
                <a:lnTo>
                  <a:pt x="8" y="201"/>
                </a:lnTo>
                <a:lnTo>
                  <a:pt x="6" y="196"/>
                </a:lnTo>
                <a:lnTo>
                  <a:pt x="5" y="189"/>
                </a:lnTo>
                <a:lnTo>
                  <a:pt x="3" y="184"/>
                </a:lnTo>
                <a:lnTo>
                  <a:pt x="0" y="186"/>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72" name="Freeform 2077">
            <a:extLst>
              <a:ext uri="{FF2B5EF4-FFF2-40B4-BE49-F238E27FC236}">
                <a16:creationId xmlns:a16="http://schemas.microsoft.com/office/drawing/2014/main" id="{4BF31B17-ACC6-DE76-4F07-8353F599D075}"/>
              </a:ext>
            </a:extLst>
          </p:cNvPr>
          <p:cNvSpPr>
            <a:spLocks noEditPoints="1"/>
          </p:cNvSpPr>
          <p:nvPr/>
        </p:nvSpPr>
        <p:spPr bwMode="auto">
          <a:xfrm>
            <a:off x="3182938" y="2420938"/>
            <a:ext cx="673100" cy="358775"/>
          </a:xfrm>
          <a:custGeom>
            <a:avLst/>
            <a:gdLst>
              <a:gd name="T0" fmla="*/ 424 w 424"/>
              <a:gd name="T1" fmla="*/ 43 h 226"/>
              <a:gd name="T2" fmla="*/ 423 w 424"/>
              <a:gd name="T3" fmla="*/ 39 h 226"/>
              <a:gd name="T4" fmla="*/ 421 w 424"/>
              <a:gd name="T5" fmla="*/ 32 h 226"/>
              <a:gd name="T6" fmla="*/ 418 w 424"/>
              <a:gd name="T7" fmla="*/ 27 h 226"/>
              <a:gd name="T8" fmla="*/ 416 w 424"/>
              <a:gd name="T9" fmla="*/ 22 h 226"/>
              <a:gd name="T10" fmla="*/ 413 w 424"/>
              <a:gd name="T11" fmla="*/ 17 h 226"/>
              <a:gd name="T12" fmla="*/ 411 w 424"/>
              <a:gd name="T13" fmla="*/ 12 h 226"/>
              <a:gd name="T14" fmla="*/ 408 w 424"/>
              <a:gd name="T15" fmla="*/ 5 h 226"/>
              <a:gd name="T16" fmla="*/ 404 w 424"/>
              <a:gd name="T17" fmla="*/ 0 h 226"/>
              <a:gd name="T18" fmla="*/ 403 w 424"/>
              <a:gd name="T19" fmla="*/ 2 h 226"/>
              <a:gd name="T20" fmla="*/ 404 w 424"/>
              <a:gd name="T21" fmla="*/ 7 h 226"/>
              <a:gd name="T22" fmla="*/ 408 w 424"/>
              <a:gd name="T23" fmla="*/ 12 h 226"/>
              <a:gd name="T24" fmla="*/ 409 w 424"/>
              <a:gd name="T25" fmla="*/ 19 h 226"/>
              <a:gd name="T26" fmla="*/ 413 w 424"/>
              <a:gd name="T27" fmla="*/ 24 h 226"/>
              <a:gd name="T28" fmla="*/ 414 w 424"/>
              <a:gd name="T29" fmla="*/ 29 h 226"/>
              <a:gd name="T30" fmla="*/ 418 w 424"/>
              <a:gd name="T31" fmla="*/ 34 h 226"/>
              <a:gd name="T32" fmla="*/ 419 w 424"/>
              <a:gd name="T33" fmla="*/ 40 h 226"/>
              <a:gd name="T34" fmla="*/ 421 w 424"/>
              <a:gd name="T35" fmla="*/ 45 h 226"/>
              <a:gd name="T36" fmla="*/ 424 w 424"/>
              <a:gd name="T37" fmla="*/ 43 h 226"/>
              <a:gd name="T38" fmla="*/ 0 w 424"/>
              <a:gd name="T39" fmla="*/ 186 h 226"/>
              <a:gd name="T40" fmla="*/ 2 w 424"/>
              <a:gd name="T41" fmla="*/ 191 h 226"/>
              <a:gd name="T42" fmla="*/ 4 w 424"/>
              <a:gd name="T43" fmla="*/ 196 h 226"/>
              <a:gd name="T44" fmla="*/ 7 w 424"/>
              <a:gd name="T45" fmla="*/ 201 h 226"/>
              <a:gd name="T46" fmla="*/ 9 w 424"/>
              <a:gd name="T47" fmla="*/ 206 h 226"/>
              <a:gd name="T48" fmla="*/ 10 w 424"/>
              <a:gd name="T49" fmla="*/ 211 h 226"/>
              <a:gd name="T50" fmla="*/ 14 w 424"/>
              <a:gd name="T51" fmla="*/ 216 h 226"/>
              <a:gd name="T52" fmla="*/ 15 w 424"/>
              <a:gd name="T53" fmla="*/ 221 h 226"/>
              <a:gd name="T54" fmla="*/ 19 w 424"/>
              <a:gd name="T55" fmla="*/ 226 h 226"/>
              <a:gd name="T56" fmla="*/ 22 w 424"/>
              <a:gd name="T57" fmla="*/ 224 h 226"/>
              <a:gd name="T58" fmla="*/ 19 w 424"/>
              <a:gd name="T59" fmla="*/ 219 h 226"/>
              <a:gd name="T60" fmla="*/ 17 w 424"/>
              <a:gd name="T61" fmla="*/ 214 h 226"/>
              <a:gd name="T62" fmla="*/ 14 w 424"/>
              <a:gd name="T63" fmla="*/ 209 h 226"/>
              <a:gd name="T64" fmla="*/ 12 w 424"/>
              <a:gd name="T65" fmla="*/ 204 h 226"/>
              <a:gd name="T66" fmla="*/ 9 w 424"/>
              <a:gd name="T67" fmla="*/ 199 h 226"/>
              <a:gd name="T68" fmla="*/ 7 w 424"/>
              <a:gd name="T69" fmla="*/ 194 h 226"/>
              <a:gd name="T70" fmla="*/ 5 w 424"/>
              <a:gd name="T71" fmla="*/ 189 h 226"/>
              <a:gd name="T72" fmla="*/ 4 w 424"/>
              <a:gd name="T73" fmla="*/ 184 h 226"/>
              <a:gd name="T74" fmla="*/ 0 w 424"/>
              <a:gd name="T75" fmla="*/ 186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24" h="226">
                <a:moveTo>
                  <a:pt x="424" y="43"/>
                </a:moveTo>
                <a:lnTo>
                  <a:pt x="423" y="39"/>
                </a:lnTo>
                <a:lnTo>
                  <a:pt x="421" y="32"/>
                </a:lnTo>
                <a:lnTo>
                  <a:pt x="418" y="27"/>
                </a:lnTo>
                <a:lnTo>
                  <a:pt x="416" y="22"/>
                </a:lnTo>
                <a:lnTo>
                  <a:pt x="413" y="17"/>
                </a:lnTo>
                <a:lnTo>
                  <a:pt x="411" y="12"/>
                </a:lnTo>
                <a:lnTo>
                  <a:pt x="408" y="5"/>
                </a:lnTo>
                <a:lnTo>
                  <a:pt x="404" y="0"/>
                </a:lnTo>
                <a:lnTo>
                  <a:pt x="403" y="2"/>
                </a:lnTo>
                <a:lnTo>
                  <a:pt x="404" y="7"/>
                </a:lnTo>
                <a:lnTo>
                  <a:pt x="408" y="12"/>
                </a:lnTo>
                <a:lnTo>
                  <a:pt x="409" y="19"/>
                </a:lnTo>
                <a:lnTo>
                  <a:pt x="413" y="24"/>
                </a:lnTo>
                <a:lnTo>
                  <a:pt x="414" y="29"/>
                </a:lnTo>
                <a:lnTo>
                  <a:pt x="418" y="34"/>
                </a:lnTo>
                <a:lnTo>
                  <a:pt x="419" y="40"/>
                </a:lnTo>
                <a:lnTo>
                  <a:pt x="421" y="45"/>
                </a:lnTo>
                <a:lnTo>
                  <a:pt x="424" y="43"/>
                </a:lnTo>
                <a:close/>
                <a:moveTo>
                  <a:pt x="0" y="186"/>
                </a:moveTo>
                <a:lnTo>
                  <a:pt x="2" y="191"/>
                </a:lnTo>
                <a:lnTo>
                  <a:pt x="4" y="196"/>
                </a:lnTo>
                <a:lnTo>
                  <a:pt x="7" y="201"/>
                </a:lnTo>
                <a:lnTo>
                  <a:pt x="9" y="206"/>
                </a:lnTo>
                <a:lnTo>
                  <a:pt x="10" y="211"/>
                </a:lnTo>
                <a:lnTo>
                  <a:pt x="14" y="216"/>
                </a:lnTo>
                <a:lnTo>
                  <a:pt x="15" y="221"/>
                </a:lnTo>
                <a:lnTo>
                  <a:pt x="19" y="226"/>
                </a:lnTo>
                <a:lnTo>
                  <a:pt x="22" y="224"/>
                </a:lnTo>
                <a:lnTo>
                  <a:pt x="19" y="219"/>
                </a:lnTo>
                <a:lnTo>
                  <a:pt x="17" y="214"/>
                </a:lnTo>
                <a:lnTo>
                  <a:pt x="14" y="209"/>
                </a:lnTo>
                <a:lnTo>
                  <a:pt x="12" y="204"/>
                </a:lnTo>
                <a:lnTo>
                  <a:pt x="9" y="199"/>
                </a:lnTo>
                <a:lnTo>
                  <a:pt x="7" y="194"/>
                </a:lnTo>
                <a:lnTo>
                  <a:pt x="5" y="189"/>
                </a:lnTo>
                <a:lnTo>
                  <a:pt x="4" y="184"/>
                </a:lnTo>
                <a:lnTo>
                  <a:pt x="0" y="186"/>
                </a:lnTo>
                <a:close/>
              </a:path>
            </a:pathLst>
          </a:custGeom>
          <a:solidFill>
            <a:srgbClr val="80C8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73" name="Freeform 2078">
            <a:extLst>
              <a:ext uri="{FF2B5EF4-FFF2-40B4-BE49-F238E27FC236}">
                <a16:creationId xmlns:a16="http://schemas.microsoft.com/office/drawing/2014/main" id="{B16909DF-08AF-3C95-ABB8-F245828568D3}"/>
              </a:ext>
            </a:extLst>
          </p:cNvPr>
          <p:cNvSpPr>
            <a:spLocks noEditPoints="1"/>
          </p:cNvSpPr>
          <p:nvPr/>
        </p:nvSpPr>
        <p:spPr bwMode="auto">
          <a:xfrm>
            <a:off x="3186113" y="2424113"/>
            <a:ext cx="668338" cy="355600"/>
          </a:xfrm>
          <a:custGeom>
            <a:avLst/>
            <a:gdLst>
              <a:gd name="T0" fmla="*/ 421 w 421"/>
              <a:gd name="T1" fmla="*/ 43 h 224"/>
              <a:gd name="T2" fmla="*/ 419 w 421"/>
              <a:gd name="T3" fmla="*/ 37 h 224"/>
              <a:gd name="T4" fmla="*/ 417 w 421"/>
              <a:gd name="T5" fmla="*/ 32 h 224"/>
              <a:gd name="T6" fmla="*/ 414 w 421"/>
              <a:gd name="T7" fmla="*/ 27 h 224"/>
              <a:gd name="T8" fmla="*/ 412 w 421"/>
              <a:gd name="T9" fmla="*/ 20 h 224"/>
              <a:gd name="T10" fmla="*/ 409 w 421"/>
              <a:gd name="T11" fmla="*/ 15 h 224"/>
              <a:gd name="T12" fmla="*/ 407 w 421"/>
              <a:gd name="T13" fmla="*/ 10 h 224"/>
              <a:gd name="T14" fmla="*/ 404 w 421"/>
              <a:gd name="T15" fmla="*/ 5 h 224"/>
              <a:gd name="T16" fmla="*/ 401 w 421"/>
              <a:gd name="T17" fmla="*/ 0 h 224"/>
              <a:gd name="T18" fmla="*/ 399 w 421"/>
              <a:gd name="T19" fmla="*/ 2 h 224"/>
              <a:gd name="T20" fmla="*/ 401 w 421"/>
              <a:gd name="T21" fmla="*/ 7 h 224"/>
              <a:gd name="T22" fmla="*/ 404 w 421"/>
              <a:gd name="T23" fmla="*/ 12 h 224"/>
              <a:gd name="T24" fmla="*/ 407 w 421"/>
              <a:gd name="T25" fmla="*/ 17 h 224"/>
              <a:gd name="T26" fmla="*/ 409 w 421"/>
              <a:gd name="T27" fmla="*/ 22 h 224"/>
              <a:gd name="T28" fmla="*/ 411 w 421"/>
              <a:gd name="T29" fmla="*/ 27 h 224"/>
              <a:gd name="T30" fmla="*/ 414 w 421"/>
              <a:gd name="T31" fmla="*/ 33 h 224"/>
              <a:gd name="T32" fmla="*/ 416 w 421"/>
              <a:gd name="T33" fmla="*/ 38 h 224"/>
              <a:gd name="T34" fmla="*/ 417 w 421"/>
              <a:gd name="T35" fmla="*/ 43 h 224"/>
              <a:gd name="T36" fmla="*/ 421 w 421"/>
              <a:gd name="T37" fmla="*/ 43 h 224"/>
              <a:gd name="T38" fmla="*/ 0 w 421"/>
              <a:gd name="T39" fmla="*/ 182 h 224"/>
              <a:gd name="T40" fmla="*/ 2 w 421"/>
              <a:gd name="T41" fmla="*/ 187 h 224"/>
              <a:gd name="T42" fmla="*/ 3 w 421"/>
              <a:gd name="T43" fmla="*/ 194 h 224"/>
              <a:gd name="T44" fmla="*/ 5 w 421"/>
              <a:gd name="T45" fmla="*/ 199 h 224"/>
              <a:gd name="T46" fmla="*/ 8 w 421"/>
              <a:gd name="T47" fmla="*/ 204 h 224"/>
              <a:gd name="T48" fmla="*/ 10 w 421"/>
              <a:gd name="T49" fmla="*/ 209 h 224"/>
              <a:gd name="T50" fmla="*/ 13 w 421"/>
              <a:gd name="T51" fmla="*/ 214 h 224"/>
              <a:gd name="T52" fmla="*/ 15 w 421"/>
              <a:gd name="T53" fmla="*/ 219 h 224"/>
              <a:gd name="T54" fmla="*/ 18 w 421"/>
              <a:gd name="T55" fmla="*/ 224 h 224"/>
              <a:gd name="T56" fmla="*/ 22 w 421"/>
              <a:gd name="T57" fmla="*/ 222 h 224"/>
              <a:gd name="T58" fmla="*/ 18 w 421"/>
              <a:gd name="T59" fmla="*/ 217 h 224"/>
              <a:gd name="T60" fmla="*/ 17 w 421"/>
              <a:gd name="T61" fmla="*/ 212 h 224"/>
              <a:gd name="T62" fmla="*/ 13 w 421"/>
              <a:gd name="T63" fmla="*/ 207 h 224"/>
              <a:gd name="T64" fmla="*/ 12 w 421"/>
              <a:gd name="T65" fmla="*/ 202 h 224"/>
              <a:gd name="T66" fmla="*/ 8 w 421"/>
              <a:gd name="T67" fmla="*/ 197 h 224"/>
              <a:gd name="T68" fmla="*/ 7 w 421"/>
              <a:gd name="T69" fmla="*/ 192 h 224"/>
              <a:gd name="T70" fmla="*/ 5 w 421"/>
              <a:gd name="T71" fmla="*/ 187 h 224"/>
              <a:gd name="T72" fmla="*/ 3 w 421"/>
              <a:gd name="T73" fmla="*/ 181 h 224"/>
              <a:gd name="T74" fmla="*/ 0 w 421"/>
              <a:gd name="T75" fmla="*/ 18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21" h="224">
                <a:moveTo>
                  <a:pt x="421" y="43"/>
                </a:moveTo>
                <a:lnTo>
                  <a:pt x="419" y="37"/>
                </a:lnTo>
                <a:lnTo>
                  <a:pt x="417" y="32"/>
                </a:lnTo>
                <a:lnTo>
                  <a:pt x="414" y="27"/>
                </a:lnTo>
                <a:lnTo>
                  <a:pt x="412" y="20"/>
                </a:lnTo>
                <a:lnTo>
                  <a:pt x="409" y="15"/>
                </a:lnTo>
                <a:lnTo>
                  <a:pt x="407" y="10"/>
                </a:lnTo>
                <a:lnTo>
                  <a:pt x="404" y="5"/>
                </a:lnTo>
                <a:lnTo>
                  <a:pt x="401" y="0"/>
                </a:lnTo>
                <a:lnTo>
                  <a:pt x="399" y="2"/>
                </a:lnTo>
                <a:lnTo>
                  <a:pt x="401" y="7"/>
                </a:lnTo>
                <a:lnTo>
                  <a:pt x="404" y="12"/>
                </a:lnTo>
                <a:lnTo>
                  <a:pt x="407" y="17"/>
                </a:lnTo>
                <a:lnTo>
                  <a:pt x="409" y="22"/>
                </a:lnTo>
                <a:lnTo>
                  <a:pt x="411" y="27"/>
                </a:lnTo>
                <a:lnTo>
                  <a:pt x="414" y="33"/>
                </a:lnTo>
                <a:lnTo>
                  <a:pt x="416" y="38"/>
                </a:lnTo>
                <a:lnTo>
                  <a:pt x="417" y="43"/>
                </a:lnTo>
                <a:lnTo>
                  <a:pt x="421" y="43"/>
                </a:lnTo>
                <a:close/>
                <a:moveTo>
                  <a:pt x="0" y="182"/>
                </a:moveTo>
                <a:lnTo>
                  <a:pt x="2" y="187"/>
                </a:lnTo>
                <a:lnTo>
                  <a:pt x="3" y="194"/>
                </a:lnTo>
                <a:lnTo>
                  <a:pt x="5" y="199"/>
                </a:lnTo>
                <a:lnTo>
                  <a:pt x="8" y="204"/>
                </a:lnTo>
                <a:lnTo>
                  <a:pt x="10" y="209"/>
                </a:lnTo>
                <a:lnTo>
                  <a:pt x="13" y="214"/>
                </a:lnTo>
                <a:lnTo>
                  <a:pt x="15" y="219"/>
                </a:lnTo>
                <a:lnTo>
                  <a:pt x="18" y="224"/>
                </a:lnTo>
                <a:lnTo>
                  <a:pt x="22" y="222"/>
                </a:lnTo>
                <a:lnTo>
                  <a:pt x="18" y="217"/>
                </a:lnTo>
                <a:lnTo>
                  <a:pt x="17" y="212"/>
                </a:lnTo>
                <a:lnTo>
                  <a:pt x="13" y="207"/>
                </a:lnTo>
                <a:lnTo>
                  <a:pt x="12" y="202"/>
                </a:lnTo>
                <a:lnTo>
                  <a:pt x="8" y="197"/>
                </a:lnTo>
                <a:lnTo>
                  <a:pt x="7" y="192"/>
                </a:lnTo>
                <a:lnTo>
                  <a:pt x="5" y="187"/>
                </a:lnTo>
                <a:lnTo>
                  <a:pt x="3" y="181"/>
                </a:lnTo>
                <a:lnTo>
                  <a:pt x="0" y="182"/>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74" name="Freeform 2079">
            <a:extLst>
              <a:ext uri="{FF2B5EF4-FFF2-40B4-BE49-F238E27FC236}">
                <a16:creationId xmlns:a16="http://schemas.microsoft.com/office/drawing/2014/main" id="{7D0613EA-B335-2D9C-8684-3DD6171002C0}"/>
              </a:ext>
            </a:extLst>
          </p:cNvPr>
          <p:cNvSpPr>
            <a:spLocks noEditPoints="1"/>
          </p:cNvSpPr>
          <p:nvPr/>
        </p:nvSpPr>
        <p:spPr bwMode="auto">
          <a:xfrm>
            <a:off x="3189288" y="2424113"/>
            <a:ext cx="661988" cy="352425"/>
          </a:xfrm>
          <a:custGeom>
            <a:avLst/>
            <a:gdLst>
              <a:gd name="T0" fmla="*/ 417 w 417"/>
              <a:gd name="T1" fmla="*/ 43 h 222"/>
              <a:gd name="T2" fmla="*/ 415 w 417"/>
              <a:gd name="T3" fmla="*/ 38 h 222"/>
              <a:gd name="T4" fmla="*/ 414 w 417"/>
              <a:gd name="T5" fmla="*/ 32 h 222"/>
              <a:gd name="T6" fmla="*/ 410 w 417"/>
              <a:gd name="T7" fmla="*/ 27 h 222"/>
              <a:gd name="T8" fmla="*/ 409 w 417"/>
              <a:gd name="T9" fmla="*/ 22 h 222"/>
              <a:gd name="T10" fmla="*/ 405 w 417"/>
              <a:gd name="T11" fmla="*/ 17 h 222"/>
              <a:gd name="T12" fmla="*/ 404 w 417"/>
              <a:gd name="T13" fmla="*/ 10 h 222"/>
              <a:gd name="T14" fmla="*/ 400 w 417"/>
              <a:gd name="T15" fmla="*/ 5 h 222"/>
              <a:gd name="T16" fmla="*/ 399 w 417"/>
              <a:gd name="T17" fmla="*/ 0 h 222"/>
              <a:gd name="T18" fmla="*/ 395 w 417"/>
              <a:gd name="T19" fmla="*/ 2 h 222"/>
              <a:gd name="T20" fmla="*/ 397 w 417"/>
              <a:gd name="T21" fmla="*/ 7 h 222"/>
              <a:gd name="T22" fmla="*/ 400 w 417"/>
              <a:gd name="T23" fmla="*/ 12 h 222"/>
              <a:gd name="T24" fmla="*/ 404 w 417"/>
              <a:gd name="T25" fmla="*/ 17 h 222"/>
              <a:gd name="T26" fmla="*/ 405 w 417"/>
              <a:gd name="T27" fmla="*/ 23 h 222"/>
              <a:gd name="T28" fmla="*/ 409 w 417"/>
              <a:gd name="T29" fmla="*/ 28 h 222"/>
              <a:gd name="T30" fmla="*/ 410 w 417"/>
              <a:gd name="T31" fmla="*/ 33 h 222"/>
              <a:gd name="T32" fmla="*/ 412 w 417"/>
              <a:gd name="T33" fmla="*/ 38 h 222"/>
              <a:gd name="T34" fmla="*/ 414 w 417"/>
              <a:gd name="T35" fmla="*/ 45 h 222"/>
              <a:gd name="T36" fmla="*/ 417 w 417"/>
              <a:gd name="T37" fmla="*/ 43 h 222"/>
              <a:gd name="T38" fmla="*/ 0 w 417"/>
              <a:gd name="T39" fmla="*/ 182 h 222"/>
              <a:gd name="T40" fmla="*/ 1 w 417"/>
              <a:gd name="T41" fmla="*/ 187 h 222"/>
              <a:gd name="T42" fmla="*/ 3 w 417"/>
              <a:gd name="T43" fmla="*/ 192 h 222"/>
              <a:gd name="T44" fmla="*/ 5 w 417"/>
              <a:gd name="T45" fmla="*/ 197 h 222"/>
              <a:gd name="T46" fmla="*/ 8 w 417"/>
              <a:gd name="T47" fmla="*/ 202 h 222"/>
              <a:gd name="T48" fmla="*/ 10 w 417"/>
              <a:gd name="T49" fmla="*/ 207 h 222"/>
              <a:gd name="T50" fmla="*/ 13 w 417"/>
              <a:gd name="T51" fmla="*/ 212 h 222"/>
              <a:gd name="T52" fmla="*/ 15 w 417"/>
              <a:gd name="T53" fmla="*/ 217 h 222"/>
              <a:gd name="T54" fmla="*/ 18 w 417"/>
              <a:gd name="T55" fmla="*/ 222 h 222"/>
              <a:gd name="T56" fmla="*/ 21 w 417"/>
              <a:gd name="T57" fmla="*/ 220 h 222"/>
              <a:gd name="T58" fmla="*/ 18 w 417"/>
              <a:gd name="T59" fmla="*/ 215 h 222"/>
              <a:gd name="T60" fmla="*/ 16 w 417"/>
              <a:gd name="T61" fmla="*/ 210 h 222"/>
              <a:gd name="T62" fmla="*/ 13 w 417"/>
              <a:gd name="T63" fmla="*/ 205 h 222"/>
              <a:gd name="T64" fmla="*/ 11 w 417"/>
              <a:gd name="T65" fmla="*/ 200 h 222"/>
              <a:gd name="T66" fmla="*/ 8 w 417"/>
              <a:gd name="T67" fmla="*/ 195 h 222"/>
              <a:gd name="T68" fmla="*/ 6 w 417"/>
              <a:gd name="T69" fmla="*/ 190 h 222"/>
              <a:gd name="T70" fmla="*/ 5 w 417"/>
              <a:gd name="T71" fmla="*/ 186 h 222"/>
              <a:gd name="T72" fmla="*/ 3 w 417"/>
              <a:gd name="T73" fmla="*/ 181 h 222"/>
              <a:gd name="T74" fmla="*/ 0 w 417"/>
              <a:gd name="T75" fmla="*/ 182 h 2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17" h="222">
                <a:moveTo>
                  <a:pt x="417" y="43"/>
                </a:moveTo>
                <a:lnTo>
                  <a:pt x="415" y="38"/>
                </a:lnTo>
                <a:lnTo>
                  <a:pt x="414" y="32"/>
                </a:lnTo>
                <a:lnTo>
                  <a:pt x="410" y="27"/>
                </a:lnTo>
                <a:lnTo>
                  <a:pt x="409" y="22"/>
                </a:lnTo>
                <a:lnTo>
                  <a:pt x="405" y="17"/>
                </a:lnTo>
                <a:lnTo>
                  <a:pt x="404" y="10"/>
                </a:lnTo>
                <a:lnTo>
                  <a:pt x="400" y="5"/>
                </a:lnTo>
                <a:lnTo>
                  <a:pt x="399" y="0"/>
                </a:lnTo>
                <a:lnTo>
                  <a:pt x="395" y="2"/>
                </a:lnTo>
                <a:lnTo>
                  <a:pt x="397" y="7"/>
                </a:lnTo>
                <a:lnTo>
                  <a:pt x="400" y="12"/>
                </a:lnTo>
                <a:lnTo>
                  <a:pt x="404" y="17"/>
                </a:lnTo>
                <a:lnTo>
                  <a:pt x="405" y="23"/>
                </a:lnTo>
                <a:lnTo>
                  <a:pt x="409" y="28"/>
                </a:lnTo>
                <a:lnTo>
                  <a:pt x="410" y="33"/>
                </a:lnTo>
                <a:lnTo>
                  <a:pt x="412" y="38"/>
                </a:lnTo>
                <a:lnTo>
                  <a:pt x="414" y="45"/>
                </a:lnTo>
                <a:lnTo>
                  <a:pt x="417" y="43"/>
                </a:lnTo>
                <a:close/>
                <a:moveTo>
                  <a:pt x="0" y="182"/>
                </a:moveTo>
                <a:lnTo>
                  <a:pt x="1" y="187"/>
                </a:lnTo>
                <a:lnTo>
                  <a:pt x="3" y="192"/>
                </a:lnTo>
                <a:lnTo>
                  <a:pt x="5" y="197"/>
                </a:lnTo>
                <a:lnTo>
                  <a:pt x="8" y="202"/>
                </a:lnTo>
                <a:lnTo>
                  <a:pt x="10" y="207"/>
                </a:lnTo>
                <a:lnTo>
                  <a:pt x="13" y="212"/>
                </a:lnTo>
                <a:lnTo>
                  <a:pt x="15" y="217"/>
                </a:lnTo>
                <a:lnTo>
                  <a:pt x="18" y="222"/>
                </a:lnTo>
                <a:lnTo>
                  <a:pt x="21" y="220"/>
                </a:lnTo>
                <a:lnTo>
                  <a:pt x="18" y="215"/>
                </a:lnTo>
                <a:lnTo>
                  <a:pt x="16" y="210"/>
                </a:lnTo>
                <a:lnTo>
                  <a:pt x="13" y="205"/>
                </a:lnTo>
                <a:lnTo>
                  <a:pt x="11" y="200"/>
                </a:lnTo>
                <a:lnTo>
                  <a:pt x="8" y="195"/>
                </a:lnTo>
                <a:lnTo>
                  <a:pt x="6" y="190"/>
                </a:lnTo>
                <a:lnTo>
                  <a:pt x="5" y="186"/>
                </a:lnTo>
                <a:lnTo>
                  <a:pt x="3" y="181"/>
                </a:lnTo>
                <a:lnTo>
                  <a:pt x="0" y="182"/>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75" name="Freeform 2080">
            <a:extLst>
              <a:ext uri="{FF2B5EF4-FFF2-40B4-BE49-F238E27FC236}">
                <a16:creationId xmlns:a16="http://schemas.microsoft.com/office/drawing/2014/main" id="{0A6580DE-547B-397A-A160-CEAE8ED0E620}"/>
              </a:ext>
            </a:extLst>
          </p:cNvPr>
          <p:cNvSpPr>
            <a:spLocks noEditPoints="1"/>
          </p:cNvSpPr>
          <p:nvPr/>
        </p:nvSpPr>
        <p:spPr bwMode="auto">
          <a:xfrm>
            <a:off x="3190875" y="2427288"/>
            <a:ext cx="657225" cy="349250"/>
          </a:xfrm>
          <a:custGeom>
            <a:avLst/>
            <a:gdLst>
              <a:gd name="T0" fmla="*/ 414 w 414"/>
              <a:gd name="T1" fmla="*/ 41 h 220"/>
              <a:gd name="T2" fmla="*/ 413 w 414"/>
              <a:gd name="T3" fmla="*/ 36 h 220"/>
              <a:gd name="T4" fmla="*/ 411 w 414"/>
              <a:gd name="T5" fmla="*/ 31 h 220"/>
              <a:gd name="T6" fmla="*/ 408 w 414"/>
              <a:gd name="T7" fmla="*/ 25 h 220"/>
              <a:gd name="T8" fmla="*/ 406 w 414"/>
              <a:gd name="T9" fmla="*/ 20 h 220"/>
              <a:gd name="T10" fmla="*/ 404 w 414"/>
              <a:gd name="T11" fmla="*/ 15 h 220"/>
              <a:gd name="T12" fmla="*/ 401 w 414"/>
              <a:gd name="T13" fmla="*/ 10 h 220"/>
              <a:gd name="T14" fmla="*/ 398 w 414"/>
              <a:gd name="T15" fmla="*/ 5 h 220"/>
              <a:gd name="T16" fmla="*/ 396 w 414"/>
              <a:gd name="T17" fmla="*/ 0 h 220"/>
              <a:gd name="T18" fmla="*/ 393 w 414"/>
              <a:gd name="T19" fmla="*/ 1 h 220"/>
              <a:gd name="T20" fmla="*/ 396 w 414"/>
              <a:gd name="T21" fmla="*/ 6 h 220"/>
              <a:gd name="T22" fmla="*/ 398 w 414"/>
              <a:gd name="T23" fmla="*/ 11 h 220"/>
              <a:gd name="T24" fmla="*/ 401 w 414"/>
              <a:gd name="T25" fmla="*/ 16 h 220"/>
              <a:gd name="T26" fmla="*/ 403 w 414"/>
              <a:gd name="T27" fmla="*/ 21 h 220"/>
              <a:gd name="T28" fmla="*/ 406 w 414"/>
              <a:gd name="T29" fmla="*/ 26 h 220"/>
              <a:gd name="T30" fmla="*/ 408 w 414"/>
              <a:gd name="T31" fmla="*/ 31 h 220"/>
              <a:gd name="T32" fmla="*/ 409 w 414"/>
              <a:gd name="T33" fmla="*/ 38 h 220"/>
              <a:gd name="T34" fmla="*/ 411 w 414"/>
              <a:gd name="T35" fmla="*/ 43 h 220"/>
              <a:gd name="T36" fmla="*/ 414 w 414"/>
              <a:gd name="T37" fmla="*/ 41 h 220"/>
              <a:gd name="T38" fmla="*/ 0 w 414"/>
              <a:gd name="T39" fmla="*/ 179 h 220"/>
              <a:gd name="T40" fmla="*/ 2 w 414"/>
              <a:gd name="T41" fmla="*/ 185 h 220"/>
              <a:gd name="T42" fmla="*/ 4 w 414"/>
              <a:gd name="T43" fmla="*/ 190 h 220"/>
              <a:gd name="T44" fmla="*/ 5 w 414"/>
              <a:gd name="T45" fmla="*/ 195 h 220"/>
              <a:gd name="T46" fmla="*/ 9 w 414"/>
              <a:gd name="T47" fmla="*/ 200 h 220"/>
              <a:gd name="T48" fmla="*/ 10 w 414"/>
              <a:gd name="T49" fmla="*/ 205 h 220"/>
              <a:gd name="T50" fmla="*/ 14 w 414"/>
              <a:gd name="T51" fmla="*/ 210 h 220"/>
              <a:gd name="T52" fmla="*/ 15 w 414"/>
              <a:gd name="T53" fmla="*/ 215 h 220"/>
              <a:gd name="T54" fmla="*/ 19 w 414"/>
              <a:gd name="T55" fmla="*/ 220 h 220"/>
              <a:gd name="T56" fmla="*/ 22 w 414"/>
              <a:gd name="T57" fmla="*/ 218 h 220"/>
              <a:gd name="T58" fmla="*/ 19 w 414"/>
              <a:gd name="T59" fmla="*/ 213 h 220"/>
              <a:gd name="T60" fmla="*/ 15 w 414"/>
              <a:gd name="T61" fmla="*/ 208 h 220"/>
              <a:gd name="T62" fmla="*/ 14 w 414"/>
              <a:gd name="T63" fmla="*/ 203 h 220"/>
              <a:gd name="T64" fmla="*/ 10 w 414"/>
              <a:gd name="T65" fmla="*/ 198 h 220"/>
              <a:gd name="T66" fmla="*/ 9 w 414"/>
              <a:gd name="T67" fmla="*/ 193 h 220"/>
              <a:gd name="T68" fmla="*/ 7 w 414"/>
              <a:gd name="T69" fmla="*/ 188 h 220"/>
              <a:gd name="T70" fmla="*/ 5 w 414"/>
              <a:gd name="T71" fmla="*/ 184 h 220"/>
              <a:gd name="T72" fmla="*/ 4 w 414"/>
              <a:gd name="T73" fmla="*/ 179 h 220"/>
              <a:gd name="T74" fmla="*/ 0 w 414"/>
              <a:gd name="T75" fmla="*/ 179 h 2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14" h="220">
                <a:moveTo>
                  <a:pt x="414" y="41"/>
                </a:moveTo>
                <a:lnTo>
                  <a:pt x="413" y="36"/>
                </a:lnTo>
                <a:lnTo>
                  <a:pt x="411" y="31"/>
                </a:lnTo>
                <a:lnTo>
                  <a:pt x="408" y="25"/>
                </a:lnTo>
                <a:lnTo>
                  <a:pt x="406" y="20"/>
                </a:lnTo>
                <a:lnTo>
                  <a:pt x="404" y="15"/>
                </a:lnTo>
                <a:lnTo>
                  <a:pt x="401" y="10"/>
                </a:lnTo>
                <a:lnTo>
                  <a:pt x="398" y="5"/>
                </a:lnTo>
                <a:lnTo>
                  <a:pt x="396" y="0"/>
                </a:lnTo>
                <a:lnTo>
                  <a:pt x="393" y="1"/>
                </a:lnTo>
                <a:lnTo>
                  <a:pt x="396" y="6"/>
                </a:lnTo>
                <a:lnTo>
                  <a:pt x="398" y="11"/>
                </a:lnTo>
                <a:lnTo>
                  <a:pt x="401" y="16"/>
                </a:lnTo>
                <a:lnTo>
                  <a:pt x="403" y="21"/>
                </a:lnTo>
                <a:lnTo>
                  <a:pt x="406" y="26"/>
                </a:lnTo>
                <a:lnTo>
                  <a:pt x="408" y="31"/>
                </a:lnTo>
                <a:lnTo>
                  <a:pt x="409" y="38"/>
                </a:lnTo>
                <a:lnTo>
                  <a:pt x="411" y="43"/>
                </a:lnTo>
                <a:lnTo>
                  <a:pt x="414" y="41"/>
                </a:lnTo>
                <a:close/>
                <a:moveTo>
                  <a:pt x="0" y="179"/>
                </a:moveTo>
                <a:lnTo>
                  <a:pt x="2" y="185"/>
                </a:lnTo>
                <a:lnTo>
                  <a:pt x="4" y="190"/>
                </a:lnTo>
                <a:lnTo>
                  <a:pt x="5" y="195"/>
                </a:lnTo>
                <a:lnTo>
                  <a:pt x="9" y="200"/>
                </a:lnTo>
                <a:lnTo>
                  <a:pt x="10" y="205"/>
                </a:lnTo>
                <a:lnTo>
                  <a:pt x="14" y="210"/>
                </a:lnTo>
                <a:lnTo>
                  <a:pt x="15" y="215"/>
                </a:lnTo>
                <a:lnTo>
                  <a:pt x="19" y="220"/>
                </a:lnTo>
                <a:lnTo>
                  <a:pt x="22" y="218"/>
                </a:lnTo>
                <a:lnTo>
                  <a:pt x="19" y="213"/>
                </a:lnTo>
                <a:lnTo>
                  <a:pt x="15" y="208"/>
                </a:lnTo>
                <a:lnTo>
                  <a:pt x="14" y="203"/>
                </a:lnTo>
                <a:lnTo>
                  <a:pt x="10" y="198"/>
                </a:lnTo>
                <a:lnTo>
                  <a:pt x="9" y="193"/>
                </a:lnTo>
                <a:lnTo>
                  <a:pt x="7" y="188"/>
                </a:lnTo>
                <a:lnTo>
                  <a:pt x="5" y="184"/>
                </a:lnTo>
                <a:lnTo>
                  <a:pt x="4" y="179"/>
                </a:lnTo>
                <a:lnTo>
                  <a:pt x="0" y="179"/>
                </a:lnTo>
                <a:close/>
              </a:path>
            </a:pathLst>
          </a:custGeom>
          <a:solidFill>
            <a:srgbClr val="84C9F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76" name="Freeform 2081">
            <a:extLst>
              <a:ext uri="{FF2B5EF4-FFF2-40B4-BE49-F238E27FC236}">
                <a16:creationId xmlns:a16="http://schemas.microsoft.com/office/drawing/2014/main" id="{307A505F-9926-22FD-8421-7F8C87262BCE}"/>
              </a:ext>
            </a:extLst>
          </p:cNvPr>
          <p:cNvSpPr>
            <a:spLocks noEditPoints="1"/>
          </p:cNvSpPr>
          <p:nvPr/>
        </p:nvSpPr>
        <p:spPr bwMode="auto">
          <a:xfrm>
            <a:off x="3194050" y="2427288"/>
            <a:ext cx="652463" cy="346075"/>
          </a:xfrm>
          <a:custGeom>
            <a:avLst/>
            <a:gdLst>
              <a:gd name="T0" fmla="*/ 411 w 411"/>
              <a:gd name="T1" fmla="*/ 43 h 218"/>
              <a:gd name="T2" fmla="*/ 409 w 411"/>
              <a:gd name="T3" fmla="*/ 36 h 218"/>
              <a:gd name="T4" fmla="*/ 407 w 411"/>
              <a:gd name="T5" fmla="*/ 31 h 218"/>
              <a:gd name="T6" fmla="*/ 406 w 411"/>
              <a:gd name="T7" fmla="*/ 26 h 218"/>
              <a:gd name="T8" fmla="*/ 402 w 411"/>
              <a:gd name="T9" fmla="*/ 21 h 218"/>
              <a:gd name="T10" fmla="*/ 401 w 411"/>
              <a:gd name="T11" fmla="*/ 15 h 218"/>
              <a:gd name="T12" fmla="*/ 397 w 411"/>
              <a:gd name="T13" fmla="*/ 10 h 218"/>
              <a:gd name="T14" fmla="*/ 394 w 411"/>
              <a:gd name="T15" fmla="*/ 5 h 218"/>
              <a:gd name="T16" fmla="*/ 392 w 411"/>
              <a:gd name="T17" fmla="*/ 0 h 218"/>
              <a:gd name="T18" fmla="*/ 389 w 411"/>
              <a:gd name="T19" fmla="*/ 1 h 218"/>
              <a:gd name="T20" fmla="*/ 392 w 411"/>
              <a:gd name="T21" fmla="*/ 6 h 218"/>
              <a:gd name="T22" fmla="*/ 394 w 411"/>
              <a:gd name="T23" fmla="*/ 11 h 218"/>
              <a:gd name="T24" fmla="*/ 397 w 411"/>
              <a:gd name="T25" fmla="*/ 16 h 218"/>
              <a:gd name="T26" fmla="*/ 399 w 411"/>
              <a:gd name="T27" fmla="*/ 21 h 218"/>
              <a:gd name="T28" fmla="*/ 402 w 411"/>
              <a:gd name="T29" fmla="*/ 28 h 218"/>
              <a:gd name="T30" fmla="*/ 404 w 411"/>
              <a:gd name="T31" fmla="*/ 33 h 218"/>
              <a:gd name="T32" fmla="*/ 406 w 411"/>
              <a:gd name="T33" fmla="*/ 38 h 218"/>
              <a:gd name="T34" fmla="*/ 407 w 411"/>
              <a:gd name="T35" fmla="*/ 44 h 218"/>
              <a:gd name="T36" fmla="*/ 411 w 411"/>
              <a:gd name="T37" fmla="*/ 43 h 218"/>
              <a:gd name="T38" fmla="*/ 0 w 411"/>
              <a:gd name="T39" fmla="*/ 179 h 218"/>
              <a:gd name="T40" fmla="*/ 2 w 411"/>
              <a:gd name="T41" fmla="*/ 184 h 218"/>
              <a:gd name="T42" fmla="*/ 3 w 411"/>
              <a:gd name="T43" fmla="*/ 188 h 218"/>
              <a:gd name="T44" fmla="*/ 5 w 411"/>
              <a:gd name="T45" fmla="*/ 193 h 218"/>
              <a:gd name="T46" fmla="*/ 8 w 411"/>
              <a:gd name="T47" fmla="*/ 198 h 218"/>
              <a:gd name="T48" fmla="*/ 10 w 411"/>
              <a:gd name="T49" fmla="*/ 203 h 218"/>
              <a:gd name="T50" fmla="*/ 13 w 411"/>
              <a:gd name="T51" fmla="*/ 208 h 218"/>
              <a:gd name="T52" fmla="*/ 15 w 411"/>
              <a:gd name="T53" fmla="*/ 213 h 218"/>
              <a:gd name="T54" fmla="*/ 18 w 411"/>
              <a:gd name="T55" fmla="*/ 218 h 218"/>
              <a:gd name="T56" fmla="*/ 21 w 411"/>
              <a:gd name="T57" fmla="*/ 217 h 218"/>
              <a:gd name="T58" fmla="*/ 18 w 411"/>
              <a:gd name="T59" fmla="*/ 213 h 218"/>
              <a:gd name="T60" fmla="*/ 15 w 411"/>
              <a:gd name="T61" fmla="*/ 208 h 218"/>
              <a:gd name="T62" fmla="*/ 13 w 411"/>
              <a:gd name="T63" fmla="*/ 203 h 218"/>
              <a:gd name="T64" fmla="*/ 10 w 411"/>
              <a:gd name="T65" fmla="*/ 198 h 218"/>
              <a:gd name="T66" fmla="*/ 8 w 411"/>
              <a:gd name="T67" fmla="*/ 193 h 218"/>
              <a:gd name="T68" fmla="*/ 7 w 411"/>
              <a:gd name="T69" fmla="*/ 187 h 218"/>
              <a:gd name="T70" fmla="*/ 5 w 411"/>
              <a:gd name="T71" fmla="*/ 182 h 218"/>
              <a:gd name="T72" fmla="*/ 2 w 411"/>
              <a:gd name="T73" fmla="*/ 177 h 218"/>
              <a:gd name="T74" fmla="*/ 0 w 411"/>
              <a:gd name="T75" fmla="*/ 179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11" h="218">
                <a:moveTo>
                  <a:pt x="411" y="43"/>
                </a:moveTo>
                <a:lnTo>
                  <a:pt x="409" y="36"/>
                </a:lnTo>
                <a:lnTo>
                  <a:pt x="407" y="31"/>
                </a:lnTo>
                <a:lnTo>
                  <a:pt x="406" y="26"/>
                </a:lnTo>
                <a:lnTo>
                  <a:pt x="402" y="21"/>
                </a:lnTo>
                <a:lnTo>
                  <a:pt x="401" y="15"/>
                </a:lnTo>
                <a:lnTo>
                  <a:pt x="397" y="10"/>
                </a:lnTo>
                <a:lnTo>
                  <a:pt x="394" y="5"/>
                </a:lnTo>
                <a:lnTo>
                  <a:pt x="392" y="0"/>
                </a:lnTo>
                <a:lnTo>
                  <a:pt x="389" y="1"/>
                </a:lnTo>
                <a:lnTo>
                  <a:pt x="392" y="6"/>
                </a:lnTo>
                <a:lnTo>
                  <a:pt x="394" y="11"/>
                </a:lnTo>
                <a:lnTo>
                  <a:pt x="397" y="16"/>
                </a:lnTo>
                <a:lnTo>
                  <a:pt x="399" y="21"/>
                </a:lnTo>
                <a:lnTo>
                  <a:pt x="402" y="28"/>
                </a:lnTo>
                <a:lnTo>
                  <a:pt x="404" y="33"/>
                </a:lnTo>
                <a:lnTo>
                  <a:pt x="406" y="38"/>
                </a:lnTo>
                <a:lnTo>
                  <a:pt x="407" y="44"/>
                </a:lnTo>
                <a:lnTo>
                  <a:pt x="411" y="43"/>
                </a:lnTo>
                <a:close/>
                <a:moveTo>
                  <a:pt x="0" y="179"/>
                </a:moveTo>
                <a:lnTo>
                  <a:pt x="2" y="184"/>
                </a:lnTo>
                <a:lnTo>
                  <a:pt x="3" y="188"/>
                </a:lnTo>
                <a:lnTo>
                  <a:pt x="5" y="193"/>
                </a:lnTo>
                <a:lnTo>
                  <a:pt x="8" y="198"/>
                </a:lnTo>
                <a:lnTo>
                  <a:pt x="10" y="203"/>
                </a:lnTo>
                <a:lnTo>
                  <a:pt x="13" y="208"/>
                </a:lnTo>
                <a:lnTo>
                  <a:pt x="15" y="213"/>
                </a:lnTo>
                <a:lnTo>
                  <a:pt x="18" y="218"/>
                </a:lnTo>
                <a:lnTo>
                  <a:pt x="21" y="217"/>
                </a:lnTo>
                <a:lnTo>
                  <a:pt x="18" y="213"/>
                </a:lnTo>
                <a:lnTo>
                  <a:pt x="15" y="208"/>
                </a:lnTo>
                <a:lnTo>
                  <a:pt x="13" y="203"/>
                </a:lnTo>
                <a:lnTo>
                  <a:pt x="10" y="198"/>
                </a:lnTo>
                <a:lnTo>
                  <a:pt x="8" y="193"/>
                </a:lnTo>
                <a:lnTo>
                  <a:pt x="7" y="187"/>
                </a:lnTo>
                <a:lnTo>
                  <a:pt x="5" y="182"/>
                </a:lnTo>
                <a:lnTo>
                  <a:pt x="2" y="177"/>
                </a:lnTo>
                <a:lnTo>
                  <a:pt x="0" y="179"/>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77" name="Freeform 2082">
            <a:extLst>
              <a:ext uri="{FF2B5EF4-FFF2-40B4-BE49-F238E27FC236}">
                <a16:creationId xmlns:a16="http://schemas.microsoft.com/office/drawing/2014/main" id="{0BDD1C93-6FF4-9F5F-D3FE-CCFC13D716AA}"/>
              </a:ext>
            </a:extLst>
          </p:cNvPr>
          <p:cNvSpPr>
            <a:spLocks noEditPoints="1"/>
          </p:cNvSpPr>
          <p:nvPr/>
        </p:nvSpPr>
        <p:spPr bwMode="auto">
          <a:xfrm>
            <a:off x="3197225" y="2428875"/>
            <a:ext cx="646113" cy="344488"/>
          </a:xfrm>
          <a:custGeom>
            <a:avLst/>
            <a:gdLst>
              <a:gd name="T0" fmla="*/ 407 w 407"/>
              <a:gd name="T1" fmla="*/ 42 h 217"/>
              <a:gd name="T2" fmla="*/ 405 w 407"/>
              <a:gd name="T3" fmla="*/ 37 h 217"/>
              <a:gd name="T4" fmla="*/ 404 w 407"/>
              <a:gd name="T5" fmla="*/ 30 h 217"/>
              <a:gd name="T6" fmla="*/ 402 w 407"/>
              <a:gd name="T7" fmla="*/ 25 h 217"/>
              <a:gd name="T8" fmla="*/ 399 w 407"/>
              <a:gd name="T9" fmla="*/ 20 h 217"/>
              <a:gd name="T10" fmla="*/ 397 w 407"/>
              <a:gd name="T11" fmla="*/ 15 h 217"/>
              <a:gd name="T12" fmla="*/ 394 w 407"/>
              <a:gd name="T13" fmla="*/ 10 h 217"/>
              <a:gd name="T14" fmla="*/ 392 w 407"/>
              <a:gd name="T15" fmla="*/ 5 h 217"/>
              <a:gd name="T16" fmla="*/ 389 w 407"/>
              <a:gd name="T17" fmla="*/ 0 h 217"/>
              <a:gd name="T18" fmla="*/ 385 w 407"/>
              <a:gd name="T19" fmla="*/ 0 h 217"/>
              <a:gd name="T20" fmla="*/ 389 w 407"/>
              <a:gd name="T21" fmla="*/ 5 h 217"/>
              <a:gd name="T22" fmla="*/ 390 w 407"/>
              <a:gd name="T23" fmla="*/ 10 h 217"/>
              <a:gd name="T24" fmla="*/ 394 w 407"/>
              <a:gd name="T25" fmla="*/ 17 h 217"/>
              <a:gd name="T26" fmla="*/ 395 w 407"/>
              <a:gd name="T27" fmla="*/ 22 h 217"/>
              <a:gd name="T28" fmla="*/ 399 w 407"/>
              <a:gd name="T29" fmla="*/ 27 h 217"/>
              <a:gd name="T30" fmla="*/ 400 w 407"/>
              <a:gd name="T31" fmla="*/ 32 h 217"/>
              <a:gd name="T32" fmla="*/ 402 w 407"/>
              <a:gd name="T33" fmla="*/ 38 h 217"/>
              <a:gd name="T34" fmla="*/ 404 w 407"/>
              <a:gd name="T35" fmla="*/ 43 h 217"/>
              <a:gd name="T36" fmla="*/ 407 w 407"/>
              <a:gd name="T37" fmla="*/ 42 h 217"/>
              <a:gd name="T38" fmla="*/ 0 w 407"/>
              <a:gd name="T39" fmla="*/ 178 h 217"/>
              <a:gd name="T40" fmla="*/ 1 w 407"/>
              <a:gd name="T41" fmla="*/ 183 h 217"/>
              <a:gd name="T42" fmla="*/ 3 w 407"/>
              <a:gd name="T43" fmla="*/ 187 h 217"/>
              <a:gd name="T44" fmla="*/ 5 w 407"/>
              <a:gd name="T45" fmla="*/ 192 h 217"/>
              <a:gd name="T46" fmla="*/ 6 w 407"/>
              <a:gd name="T47" fmla="*/ 197 h 217"/>
              <a:gd name="T48" fmla="*/ 10 w 407"/>
              <a:gd name="T49" fmla="*/ 202 h 217"/>
              <a:gd name="T50" fmla="*/ 11 w 407"/>
              <a:gd name="T51" fmla="*/ 207 h 217"/>
              <a:gd name="T52" fmla="*/ 15 w 407"/>
              <a:gd name="T53" fmla="*/ 212 h 217"/>
              <a:gd name="T54" fmla="*/ 18 w 407"/>
              <a:gd name="T55" fmla="*/ 217 h 217"/>
              <a:gd name="T56" fmla="*/ 21 w 407"/>
              <a:gd name="T57" fmla="*/ 216 h 217"/>
              <a:gd name="T58" fmla="*/ 18 w 407"/>
              <a:gd name="T59" fmla="*/ 211 h 217"/>
              <a:gd name="T60" fmla="*/ 15 w 407"/>
              <a:gd name="T61" fmla="*/ 206 h 217"/>
              <a:gd name="T62" fmla="*/ 13 w 407"/>
              <a:gd name="T63" fmla="*/ 201 h 217"/>
              <a:gd name="T64" fmla="*/ 10 w 407"/>
              <a:gd name="T65" fmla="*/ 196 h 217"/>
              <a:gd name="T66" fmla="*/ 8 w 407"/>
              <a:gd name="T67" fmla="*/ 191 h 217"/>
              <a:gd name="T68" fmla="*/ 6 w 407"/>
              <a:gd name="T69" fmla="*/ 186 h 217"/>
              <a:gd name="T70" fmla="*/ 3 w 407"/>
              <a:gd name="T71" fmla="*/ 181 h 217"/>
              <a:gd name="T72" fmla="*/ 1 w 407"/>
              <a:gd name="T73" fmla="*/ 176 h 217"/>
              <a:gd name="T74" fmla="*/ 0 w 407"/>
              <a:gd name="T75" fmla="*/ 178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07" h="217">
                <a:moveTo>
                  <a:pt x="407" y="42"/>
                </a:moveTo>
                <a:lnTo>
                  <a:pt x="405" y="37"/>
                </a:lnTo>
                <a:lnTo>
                  <a:pt x="404" y="30"/>
                </a:lnTo>
                <a:lnTo>
                  <a:pt x="402" y="25"/>
                </a:lnTo>
                <a:lnTo>
                  <a:pt x="399" y="20"/>
                </a:lnTo>
                <a:lnTo>
                  <a:pt x="397" y="15"/>
                </a:lnTo>
                <a:lnTo>
                  <a:pt x="394" y="10"/>
                </a:lnTo>
                <a:lnTo>
                  <a:pt x="392" y="5"/>
                </a:lnTo>
                <a:lnTo>
                  <a:pt x="389" y="0"/>
                </a:lnTo>
                <a:lnTo>
                  <a:pt x="385" y="0"/>
                </a:lnTo>
                <a:lnTo>
                  <a:pt x="389" y="5"/>
                </a:lnTo>
                <a:lnTo>
                  <a:pt x="390" y="10"/>
                </a:lnTo>
                <a:lnTo>
                  <a:pt x="394" y="17"/>
                </a:lnTo>
                <a:lnTo>
                  <a:pt x="395" y="22"/>
                </a:lnTo>
                <a:lnTo>
                  <a:pt x="399" y="27"/>
                </a:lnTo>
                <a:lnTo>
                  <a:pt x="400" y="32"/>
                </a:lnTo>
                <a:lnTo>
                  <a:pt x="402" y="38"/>
                </a:lnTo>
                <a:lnTo>
                  <a:pt x="404" y="43"/>
                </a:lnTo>
                <a:lnTo>
                  <a:pt x="407" y="42"/>
                </a:lnTo>
                <a:close/>
                <a:moveTo>
                  <a:pt x="0" y="178"/>
                </a:moveTo>
                <a:lnTo>
                  <a:pt x="1" y="183"/>
                </a:lnTo>
                <a:lnTo>
                  <a:pt x="3" y="187"/>
                </a:lnTo>
                <a:lnTo>
                  <a:pt x="5" y="192"/>
                </a:lnTo>
                <a:lnTo>
                  <a:pt x="6" y="197"/>
                </a:lnTo>
                <a:lnTo>
                  <a:pt x="10" y="202"/>
                </a:lnTo>
                <a:lnTo>
                  <a:pt x="11" y="207"/>
                </a:lnTo>
                <a:lnTo>
                  <a:pt x="15" y="212"/>
                </a:lnTo>
                <a:lnTo>
                  <a:pt x="18" y="217"/>
                </a:lnTo>
                <a:lnTo>
                  <a:pt x="21" y="216"/>
                </a:lnTo>
                <a:lnTo>
                  <a:pt x="18" y="211"/>
                </a:lnTo>
                <a:lnTo>
                  <a:pt x="15" y="206"/>
                </a:lnTo>
                <a:lnTo>
                  <a:pt x="13" y="201"/>
                </a:lnTo>
                <a:lnTo>
                  <a:pt x="10" y="196"/>
                </a:lnTo>
                <a:lnTo>
                  <a:pt x="8" y="191"/>
                </a:lnTo>
                <a:lnTo>
                  <a:pt x="6" y="186"/>
                </a:lnTo>
                <a:lnTo>
                  <a:pt x="3" y="181"/>
                </a:lnTo>
                <a:lnTo>
                  <a:pt x="1" y="176"/>
                </a:lnTo>
                <a:lnTo>
                  <a:pt x="0" y="178"/>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78" name="Freeform 2083">
            <a:extLst>
              <a:ext uri="{FF2B5EF4-FFF2-40B4-BE49-F238E27FC236}">
                <a16:creationId xmlns:a16="http://schemas.microsoft.com/office/drawing/2014/main" id="{DD59BACC-3B18-03E3-354B-7010AA55075D}"/>
              </a:ext>
            </a:extLst>
          </p:cNvPr>
          <p:cNvSpPr>
            <a:spLocks noEditPoints="1"/>
          </p:cNvSpPr>
          <p:nvPr/>
        </p:nvSpPr>
        <p:spPr bwMode="auto">
          <a:xfrm>
            <a:off x="3197225" y="2428875"/>
            <a:ext cx="642938" cy="342900"/>
          </a:xfrm>
          <a:custGeom>
            <a:avLst/>
            <a:gdLst>
              <a:gd name="T0" fmla="*/ 405 w 405"/>
              <a:gd name="T1" fmla="*/ 43 h 216"/>
              <a:gd name="T2" fmla="*/ 404 w 405"/>
              <a:gd name="T3" fmla="*/ 37 h 216"/>
              <a:gd name="T4" fmla="*/ 402 w 405"/>
              <a:gd name="T5" fmla="*/ 32 h 216"/>
              <a:gd name="T6" fmla="*/ 400 w 405"/>
              <a:gd name="T7" fmla="*/ 27 h 216"/>
              <a:gd name="T8" fmla="*/ 397 w 405"/>
              <a:gd name="T9" fmla="*/ 20 h 216"/>
              <a:gd name="T10" fmla="*/ 395 w 405"/>
              <a:gd name="T11" fmla="*/ 15 h 216"/>
              <a:gd name="T12" fmla="*/ 392 w 405"/>
              <a:gd name="T13" fmla="*/ 10 h 216"/>
              <a:gd name="T14" fmla="*/ 390 w 405"/>
              <a:gd name="T15" fmla="*/ 5 h 216"/>
              <a:gd name="T16" fmla="*/ 387 w 405"/>
              <a:gd name="T17" fmla="*/ 0 h 216"/>
              <a:gd name="T18" fmla="*/ 384 w 405"/>
              <a:gd name="T19" fmla="*/ 2 h 216"/>
              <a:gd name="T20" fmla="*/ 387 w 405"/>
              <a:gd name="T21" fmla="*/ 7 h 216"/>
              <a:gd name="T22" fmla="*/ 389 w 405"/>
              <a:gd name="T23" fmla="*/ 12 h 216"/>
              <a:gd name="T24" fmla="*/ 392 w 405"/>
              <a:gd name="T25" fmla="*/ 17 h 216"/>
              <a:gd name="T26" fmla="*/ 395 w 405"/>
              <a:gd name="T27" fmla="*/ 22 h 216"/>
              <a:gd name="T28" fmla="*/ 397 w 405"/>
              <a:gd name="T29" fmla="*/ 27 h 216"/>
              <a:gd name="T30" fmla="*/ 399 w 405"/>
              <a:gd name="T31" fmla="*/ 34 h 216"/>
              <a:gd name="T32" fmla="*/ 400 w 405"/>
              <a:gd name="T33" fmla="*/ 38 h 216"/>
              <a:gd name="T34" fmla="*/ 404 w 405"/>
              <a:gd name="T35" fmla="*/ 43 h 216"/>
              <a:gd name="T36" fmla="*/ 405 w 405"/>
              <a:gd name="T37" fmla="*/ 43 h 216"/>
              <a:gd name="T38" fmla="*/ 0 w 405"/>
              <a:gd name="T39" fmla="*/ 176 h 216"/>
              <a:gd name="T40" fmla="*/ 3 w 405"/>
              <a:gd name="T41" fmla="*/ 181 h 216"/>
              <a:gd name="T42" fmla="*/ 5 w 405"/>
              <a:gd name="T43" fmla="*/ 186 h 216"/>
              <a:gd name="T44" fmla="*/ 6 w 405"/>
              <a:gd name="T45" fmla="*/ 192 h 216"/>
              <a:gd name="T46" fmla="*/ 8 w 405"/>
              <a:gd name="T47" fmla="*/ 197 h 216"/>
              <a:gd name="T48" fmla="*/ 11 w 405"/>
              <a:gd name="T49" fmla="*/ 202 h 216"/>
              <a:gd name="T50" fmla="*/ 13 w 405"/>
              <a:gd name="T51" fmla="*/ 207 h 216"/>
              <a:gd name="T52" fmla="*/ 16 w 405"/>
              <a:gd name="T53" fmla="*/ 212 h 216"/>
              <a:gd name="T54" fmla="*/ 19 w 405"/>
              <a:gd name="T55" fmla="*/ 216 h 216"/>
              <a:gd name="T56" fmla="*/ 21 w 405"/>
              <a:gd name="T57" fmla="*/ 216 h 216"/>
              <a:gd name="T58" fmla="*/ 19 w 405"/>
              <a:gd name="T59" fmla="*/ 211 h 216"/>
              <a:gd name="T60" fmla="*/ 16 w 405"/>
              <a:gd name="T61" fmla="*/ 206 h 216"/>
              <a:gd name="T62" fmla="*/ 15 w 405"/>
              <a:gd name="T63" fmla="*/ 201 h 216"/>
              <a:gd name="T64" fmla="*/ 11 w 405"/>
              <a:gd name="T65" fmla="*/ 196 h 216"/>
              <a:gd name="T66" fmla="*/ 10 w 405"/>
              <a:gd name="T67" fmla="*/ 191 h 216"/>
              <a:gd name="T68" fmla="*/ 8 w 405"/>
              <a:gd name="T69" fmla="*/ 186 h 216"/>
              <a:gd name="T70" fmla="*/ 5 w 405"/>
              <a:gd name="T71" fmla="*/ 179 h 216"/>
              <a:gd name="T72" fmla="*/ 3 w 405"/>
              <a:gd name="T73" fmla="*/ 174 h 216"/>
              <a:gd name="T74" fmla="*/ 0 w 405"/>
              <a:gd name="T75" fmla="*/ 176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05" h="216">
                <a:moveTo>
                  <a:pt x="405" y="43"/>
                </a:moveTo>
                <a:lnTo>
                  <a:pt x="404" y="37"/>
                </a:lnTo>
                <a:lnTo>
                  <a:pt x="402" y="32"/>
                </a:lnTo>
                <a:lnTo>
                  <a:pt x="400" y="27"/>
                </a:lnTo>
                <a:lnTo>
                  <a:pt x="397" y="20"/>
                </a:lnTo>
                <a:lnTo>
                  <a:pt x="395" y="15"/>
                </a:lnTo>
                <a:lnTo>
                  <a:pt x="392" y="10"/>
                </a:lnTo>
                <a:lnTo>
                  <a:pt x="390" y="5"/>
                </a:lnTo>
                <a:lnTo>
                  <a:pt x="387" y="0"/>
                </a:lnTo>
                <a:lnTo>
                  <a:pt x="384" y="2"/>
                </a:lnTo>
                <a:lnTo>
                  <a:pt x="387" y="7"/>
                </a:lnTo>
                <a:lnTo>
                  <a:pt x="389" y="12"/>
                </a:lnTo>
                <a:lnTo>
                  <a:pt x="392" y="17"/>
                </a:lnTo>
                <a:lnTo>
                  <a:pt x="395" y="22"/>
                </a:lnTo>
                <a:lnTo>
                  <a:pt x="397" y="27"/>
                </a:lnTo>
                <a:lnTo>
                  <a:pt x="399" y="34"/>
                </a:lnTo>
                <a:lnTo>
                  <a:pt x="400" y="38"/>
                </a:lnTo>
                <a:lnTo>
                  <a:pt x="404" y="43"/>
                </a:lnTo>
                <a:lnTo>
                  <a:pt x="405" y="43"/>
                </a:lnTo>
                <a:close/>
                <a:moveTo>
                  <a:pt x="0" y="176"/>
                </a:moveTo>
                <a:lnTo>
                  <a:pt x="3" y="181"/>
                </a:lnTo>
                <a:lnTo>
                  <a:pt x="5" y="186"/>
                </a:lnTo>
                <a:lnTo>
                  <a:pt x="6" y="192"/>
                </a:lnTo>
                <a:lnTo>
                  <a:pt x="8" y="197"/>
                </a:lnTo>
                <a:lnTo>
                  <a:pt x="11" y="202"/>
                </a:lnTo>
                <a:lnTo>
                  <a:pt x="13" y="207"/>
                </a:lnTo>
                <a:lnTo>
                  <a:pt x="16" y="212"/>
                </a:lnTo>
                <a:lnTo>
                  <a:pt x="19" y="216"/>
                </a:lnTo>
                <a:lnTo>
                  <a:pt x="21" y="216"/>
                </a:lnTo>
                <a:lnTo>
                  <a:pt x="19" y="211"/>
                </a:lnTo>
                <a:lnTo>
                  <a:pt x="16" y="206"/>
                </a:lnTo>
                <a:lnTo>
                  <a:pt x="15" y="201"/>
                </a:lnTo>
                <a:lnTo>
                  <a:pt x="11" y="196"/>
                </a:lnTo>
                <a:lnTo>
                  <a:pt x="10" y="191"/>
                </a:lnTo>
                <a:lnTo>
                  <a:pt x="8" y="186"/>
                </a:lnTo>
                <a:lnTo>
                  <a:pt x="5" y="179"/>
                </a:lnTo>
                <a:lnTo>
                  <a:pt x="3" y="174"/>
                </a:lnTo>
                <a:lnTo>
                  <a:pt x="0" y="176"/>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79" name="Freeform 2084">
            <a:extLst>
              <a:ext uri="{FF2B5EF4-FFF2-40B4-BE49-F238E27FC236}">
                <a16:creationId xmlns:a16="http://schemas.microsoft.com/office/drawing/2014/main" id="{D1AB424C-2A6F-BF97-EC83-1FA326E95F13}"/>
              </a:ext>
            </a:extLst>
          </p:cNvPr>
          <p:cNvSpPr>
            <a:spLocks noEditPoints="1"/>
          </p:cNvSpPr>
          <p:nvPr/>
        </p:nvSpPr>
        <p:spPr bwMode="auto">
          <a:xfrm>
            <a:off x="3198813" y="2428875"/>
            <a:ext cx="639763" cy="342900"/>
          </a:xfrm>
          <a:custGeom>
            <a:avLst/>
            <a:gdLst>
              <a:gd name="T0" fmla="*/ 403 w 403"/>
              <a:gd name="T1" fmla="*/ 43 h 216"/>
              <a:gd name="T2" fmla="*/ 401 w 403"/>
              <a:gd name="T3" fmla="*/ 38 h 216"/>
              <a:gd name="T4" fmla="*/ 399 w 403"/>
              <a:gd name="T5" fmla="*/ 32 h 216"/>
              <a:gd name="T6" fmla="*/ 398 w 403"/>
              <a:gd name="T7" fmla="*/ 27 h 216"/>
              <a:gd name="T8" fmla="*/ 394 w 403"/>
              <a:gd name="T9" fmla="*/ 22 h 216"/>
              <a:gd name="T10" fmla="*/ 393 w 403"/>
              <a:gd name="T11" fmla="*/ 17 h 216"/>
              <a:gd name="T12" fmla="*/ 389 w 403"/>
              <a:gd name="T13" fmla="*/ 10 h 216"/>
              <a:gd name="T14" fmla="*/ 388 w 403"/>
              <a:gd name="T15" fmla="*/ 5 h 216"/>
              <a:gd name="T16" fmla="*/ 384 w 403"/>
              <a:gd name="T17" fmla="*/ 0 h 216"/>
              <a:gd name="T18" fmla="*/ 381 w 403"/>
              <a:gd name="T19" fmla="*/ 2 h 216"/>
              <a:gd name="T20" fmla="*/ 384 w 403"/>
              <a:gd name="T21" fmla="*/ 7 h 216"/>
              <a:gd name="T22" fmla="*/ 388 w 403"/>
              <a:gd name="T23" fmla="*/ 12 h 216"/>
              <a:gd name="T24" fmla="*/ 389 w 403"/>
              <a:gd name="T25" fmla="*/ 17 h 216"/>
              <a:gd name="T26" fmla="*/ 393 w 403"/>
              <a:gd name="T27" fmla="*/ 24 h 216"/>
              <a:gd name="T28" fmla="*/ 394 w 403"/>
              <a:gd name="T29" fmla="*/ 29 h 216"/>
              <a:gd name="T30" fmla="*/ 396 w 403"/>
              <a:gd name="T31" fmla="*/ 34 h 216"/>
              <a:gd name="T32" fmla="*/ 399 w 403"/>
              <a:gd name="T33" fmla="*/ 38 h 216"/>
              <a:gd name="T34" fmla="*/ 401 w 403"/>
              <a:gd name="T35" fmla="*/ 45 h 216"/>
              <a:gd name="T36" fmla="*/ 403 w 403"/>
              <a:gd name="T37" fmla="*/ 43 h 216"/>
              <a:gd name="T38" fmla="*/ 0 w 403"/>
              <a:gd name="T39" fmla="*/ 176 h 216"/>
              <a:gd name="T40" fmla="*/ 2 w 403"/>
              <a:gd name="T41" fmla="*/ 181 h 216"/>
              <a:gd name="T42" fmla="*/ 5 w 403"/>
              <a:gd name="T43" fmla="*/ 186 h 216"/>
              <a:gd name="T44" fmla="*/ 7 w 403"/>
              <a:gd name="T45" fmla="*/ 191 h 216"/>
              <a:gd name="T46" fmla="*/ 9 w 403"/>
              <a:gd name="T47" fmla="*/ 196 h 216"/>
              <a:gd name="T48" fmla="*/ 12 w 403"/>
              <a:gd name="T49" fmla="*/ 201 h 216"/>
              <a:gd name="T50" fmla="*/ 14 w 403"/>
              <a:gd name="T51" fmla="*/ 206 h 216"/>
              <a:gd name="T52" fmla="*/ 17 w 403"/>
              <a:gd name="T53" fmla="*/ 211 h 216"/>
              <a:gd name="T54" fmla="*/ 20 w 403"/>
              <a:gd name="T55" fmla="*/ 216 h 216"/>
              <a:gd name="T56" fmla="*/ 22 w 403"/>
              <a:gd name="T57" fmla="*/ 214 h 216"/>
              <a:gd name="T58" fmla="*/ 20 w 403"/>
              <a:gd name="T59" fmla="*/ 209 h 216"/>
              <a:gd name="T60" fmla="*/ 17 w 403"/>
              <a:gd name="T61" fmla="*/ 204 h 216"/>
              <a:gd name="T62" fmla="*/ 15 w 403"/>
              <a:gd name="T63" fmla="*/ 199 h 216"/>
              <a:gd name="T64" fmla="*/ 12 w 403"/>
              <a:gd name="T65" fmla="*/ 194 h 216"/>
              <a:gd name="T66" fmla="*/ 10 w 403"/>
              <a:gd name="T67" fmla="*/ 189 h 216"/>
              <a:gd name="T68" fmla="*/ 9 w 403"/>
              <a:gd name="T69" fmla="*/ 184 h 216"/>
              <a:gd name="T70" fmla="*/ 5 w 403"/>
              <a:gd name="T71" fmla="*/ 179 h 216"/>
              <a:gd name="T72" fmla="*/ 4 w 403"/>
              <a:gd name="T73" fmla="*/ 174 h 216"/>
              <a:gd name="T74" fmla="*/ 0 w 403"/>
              <a:gd name="T75" fmla="*/ 176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03" h="216">
                <a:moveTo>
                  <a:pt x="403" y="43"/>
                </a:moveTo>
                <a:lnTo>
                  <a:pt x="401" y="38"/>
                </a:lnTo>
                <a:lnTo>
                  <a:pt x="399" y="32"/>
                </a:lnTo>
                <a:lnTo>
                  <a:pt x="398" y="27"/>
                </a:lnTo>
                <a:lnTo>
                  <a:pt x="394" y="22"/>
                </a:lnTo>
                <a:lnTo>
                  <a:pt x="393" y="17"/>
                </a:lnTo>
                <a:lnTo>
                  <a:pt x="389" y="10"/>
                </a:lnTo>
                <a:lnTo>
                  <a:pt x="388" y="5"/>
                </a:lnTo>
                <a:lnTo>
                  <a:pt x="384" y="0"/>
                </a:lnTo>
                <a:lnTo>
                  <a:pt x="381" y="2"/>
                </a:lnTo>
                <a:lnTo>
                  <a:pt x="384" y="7"/>
                </a:lnTo>
                <a:lnTo>
                  <a:pt x="388" y="12"/>
                </a:lnTo>
                <a:lnTo>
                  <a:pt x="389" y="17"/>
                </a:lnTo>
                <a:lnTo>
                  <a:pt x="393" y="24"/>
                </a:lnTo>
                <a:lnTo>
                  <a:pt x="394" y="29"/>
                </a:lnTo>
                <a:lnTo>
                  <a:pt x="396" y="34"/>
                </a:lnTo>
                <a:lnTo>
                  <a:pt x="399" y="38"/>
                </a:lnTo>
                <a:lnTo>
                  <a:pt x="401" y="45"/>
                </a:lnTo>
                <a:lnTo>
                  <a:pt x="403" y="43"/>
                </a:lnTo>
                <a:close/>
                <a:moveTo>
                  <a:pt x="0" y="176"/>
                </a:moveTo>
                <a:lnTo>
                  <a:pt x="2" y="181"/>
                </a:lnTo>
                <a:lnTo>
                  <a:pt x="5" y="186"/>
                </a:lnTo>
                <a:lnTo>
                  <a:pt x="7" y="191"/>
                </a:lnTo>
                <a:lnTo>
                  <a:pt x="9" y="196"/>
                </a:lnTo>
                <a:lnTo>
                  <a:pt x="12" y="201"/>
                </a:lnTo>
                <a:lnTo>
                  <a:pt x="14" y="206"/>
                </a:lnTo>
                <a:lnTo>
                  <a:pt x="17" y="211"/>
                </a:lnTo>
                <a:lnTo>
                  <a:pt x="20" y="216"/>
                </a:lnTo>
                <a:lnTo>
                  <a:pt x="22" y="214"/>
                </a:lnTo>
                <a:lnTo>
                  <a:pt x="20" y="209"/>
                </a:lnTo>
                <a:lnTo>
                  <a:pt x="17" y="204"/>
                </a:lnTo>
                <a:lnTo>
                  <a:pt x="15" y="199"/>
                </a:lnTo>
                <a:lnTo>
                  <a:pt x="12" y="194"/>
                </a:lnTo>
                <a:lnTo>
                  <a:pt x="10" y="189"/>
                </a:lnTo>
                <a:lnTo>
                  <a:pt x="9" y="184"/>
                </a:lnTo>
                <a:lnTo>
                  <a:pt x="5" y="179"/>
                </a:lnTo>
                <a:lnTo>
                  <a:pt x="4" y="174"/>
                </a:lnTo>
                <a:lnTo>
                  <a:pt x="0" y="176"/>
                </a:lnTo>
                <a:close/>
              </a:path>
            </a:pathLst>
          </a:custGeom>
          <a:solidFill>
            <a:srgbClr val="86CA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80" name="Freeform 2085">
            <a:extLst>
              <a:ext uri="{FF2B5EF4-FFF2-40B4-BE49-F238E27FC236}">
                <a16:creationId xmlns:a16="http://schemas.microsoft.com/office/drawing/2014/main" id="{FE4DA1ED-AB13-B7BB-2F4A-FB98764F3734}"/>
              </a:ext>
            </a:extLst>
          </p:cNvPr>
          <p:cNvSpPr>
            <a:spLocks noEditPoints="1"/>
          </p:cNvSpPr>
          <p:nvPr/>
        </p:nvSpPr>
        <p:spPr bwMode="auto">
          <a:xfrm>
            <a:off x="3201988" y="2432050"/>
            <a:ext cx="636588" cy="339725"/>
          </a:xfrm>
          <a:custGeom>
            <a:avLst/>
            <a:gdLst>
              <a:gd name="T0" fmla="*/ 401 w 401"/>
              <a:gd name="T1" fmla="*/ 41 h 214"/>
              <a:gd name="T2" fmla="*/ 397 w 401"/>
              <a:gd name="T3" fmla="*/ 36 h 214"/>
              <a:gd name="T4" fmla="*/ 396 w 401"/>
              <a:gd name="T5" fmla="*/ 32 h 214"/>
              <a:gd name="T6" fmla="*/ 394 w 401"/>
              <a:gd name="T7" fmla="*/ 25 h 214"/>
              <a:gd name="T8" fmla="*/ 392 w 401"/>
              <a:gd name="T9" fmla="*/ 20 h 214"/>
              <a:gd name="T10" fmla="*/ 389 w 401"/>
              <a:gd name="T11" fmla="*/ 15 h 214"/>
              <a:gd name="T12" fmla="*/ 386 w 401"/>
              <a:gd name="T13" fmla="*/ 10 h 214"/>
              <a:gd name="T14" fmla="*/ 384 w 401"/>
              <a:gd name="T15" fmla="*/ 5 h 214"/>
              <a:gd name="T16" fmla="*/ 381 w 401"/>
              <a:gd name="T17" fmla="*/ 0 h 214"/>
              <a:gd name="T18" fmla="*/ 378 w 401"/>
              <a:gd name="T19" fmla="*/ 2 h 214"/>
              <a:gd name="T20" fmla="*/ 381 w 401"/>
              <a:gd name="T21" fmla="*/ 7 h 214"/>
              <a:gd name="T22" fmla="*/ 384 w 401"/>
              <a:gd name="T23" fmla="*/ 12 h 214"/>
              <a:gd name="T24" fmla="*/ 386 w 401"/>
              <a:gd name="T25" fmla="*/ 17 h 214"/>
              <a:gd name="T26" fmla="*/ 389 w 401"/>
              <a:gd name="T27" fmla="*/ 22 h 214"/>
              <a:gd name="T28" fmla="*/ 391 w 401"/>
              <a:gd name="T29" fmla="*/ 27 h 214"/>
              <a:gd name="T30" fmla="*/ 392 w 401"/>
              <a:gd name="T31" fmla="*/ 33 h 214"/>
              <a:gd name="T32" fmla="*/ 396 w 401"/>
              <a:gd name="T33" fmla="*/ 38 h 214"/>
              <a:gd name="T34" fmla="*/ 397 w 401"/>
              <a:gd name="T35" fmla="*/ 43 h 214"/>
              <a:gd name="T36" fmla="*/ 401 w 401"/>
              <a:gd name="T37" fmla="*/ 41 h 214"/>
              <a:gd name="T38" fmla="*/ 0 w 401"/>
              <a:gd name="T39" fmla="*/ 172 h 214"/>
              <a:gd name="T40" fmla="*/ 2 w 401"/>
              <a:gd name="T41" fmla="*/ 177 h 214"/>
              <a:gd name="T42" fmla="*/ 5 w 401"/>
              <a:gd name="T43" fmla="*/ 184 h 214"/>
              <a:gd name="T44" fmla="*/ 7 w 401"/>
              <a:gd name="T45" fmla="*/ 189 h 214"/>
              <a:gd name="T46" fmla="*/ 8 w 401"/>
              <a:gd name="T47" fmla="*/ 194 h 214"/>
              <a:gd name="T48" fmla="*/ 12 w 401"/>
              <a:gd name="T49" fmla="*/ 199 h 214"/>
              <a:gd name="T50" fmla="*/ 13 w 401"/>
              <a:gd name="T51" fmla="*/ 204 h 214"/>
              <a:gd name="T52" fmla="*/ 16 w 401"/>
              <a:gd name="T53" fmla="*/ 209 h 214"/>
              <a:gd name="T54" fmla="*/ 18 w 401"/>
              <a:gd name="T55" fmla="*/ 214 h 214"/>
              <a:gd name="T56" fmla="*/ 21 w 401"/>
              <a:gd name="T57" fmla="*/ 212 h 214"/>
              <a:gd name="T58" fmla="*/ 20 w 401"/>
              <a:gd name="T59" fmla="*/ 207 h 214"/>
              <a:gd name="T60" fmla="*/ 16 w 401"/>
              <a:gd name="T61" fmla="*/ 202 h 214"/>
              <a:gd name="T62" fmla="*/ 13 w 401"/>
              <a:gd name="T63" fmla="*/ 197 h 214"/>
              <a:gd name="T64" fmla="*/ 12 w 401"/>
              <a:gd name="T65" fmla="*/ 192 h 214"/>
              <a:gd name="T66" fmla="*/ 10 w 401"/>
              <a:gd name="T67" fmla="*/ 187 h 214"/>
              <a:gd name="T68" fmla="*/ 7 w 401"/>
              <a:gd name="T69" fmla="*/ 182 h 214"/>
              <a:gd name="T70" fmla="*/ 5 w 401"/>
              <a:gd name="T71" fmla="*/ 177 h 214"/>
              <a:gd name="T72" fmla="*/ 3 w 401"/>
              <a:gd name="T73" fmla="*/ 171 h 214"/>
              <a:gd name="T74" fmla="*/ 0 w 401"/>
              <a:gd name="T75" fmla="*/ 172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01" h="214">
                <a:moveTo>
                  <a:pt x="401" y="41"/>
                </a:moveTo>
                <a:lnTo>
                  <a:pt x="397" y="36"/>
                </a:lnTo>
                <a:lnTo>
                  <a:pt x="396" y="32"/>
                </a:lnTo>
                <a:lnTo>
                  <a:pt x="394" y="25"/>
                </a:lnTo>
                <a:lnTo>
                  <a:pt x="392" y="20"/>
                </a:lnTo>
                <a:lnTo>
                  <a:pt x="389" y="15"/>
                </a:lnTo>
                <a:lnTo>
                  <a:pt x="386" y="10"/>
                </a:lnTo>
                <a:lnTo>
                  <a:pt x="384" y="5"/>
                </a:lnTo>
                <a:lnTo>
                  <a:pt x="381" y="0"/>
                </a:lnTo>
                <a:lnTo>
                  <a:pt x="378" y="2"/>
                </a:lnTo>
                <a:lnTo>
                  <a:pt x="381" y="7"/>
                </a:lnTo>
                <a:lnTo>
                  <a:pt x="384" y="12"/>
                </a:lnTo>
                <a:lnTo>
                  <a:pt x="386" y="17"/>
                </a:lnTo>
                <a:lnTo>
                  <a:pt x="389" y="22"/>
                </a:lnTo>
                <a:lnTo>
                  <a:pt x="391" y="27"/>
                </a:lnTo>
                <a:lnTo>
                  <a:pt x="392" y="33"/>
                </a:lnTo>
                <a:lnTo>
                  <a:pt x="396" y="38"/>
                </a:lnTo>
                <a:lnTo>
                  <a:pt x="397" y="43"/>
                </a:lnTo>
                <a:lnTo>
                  <a:pt x="401" y="41"/>
                </a:lnTo>
                <a:close/>
                <a:moveTo>
                  <a:pt x="0" y="172"/>
                </a:moveTo>
                <a:lnTo>
                  <a:pt x="2" y="177"/>
                </a:lnTo>
                <a:lnTo>
                  <a:pt x="5" y="184"/>
                </a:lnTo>
                <a:lnTo>
                  <a:pt x="7" y="189"/>
                </a:lnTo>
                <a:lnTo>
                  <a:pt x="8" y="194"/>
                </a:lnTo>
                <a:lnTo>
                  <a:pt x="12" y="199"/>
                </a:lnTo>
                <a:lnTo>
                  <a:pt x="13" y="204"/>
                </a:lnTo>
                <a:lnTo>
                  <a:pt x="16" y="209"/>
                </a:lnTo>
                <a:lnTo>
                  <a:pt x="18" y="214"/>
                </a:lnTo>
                <a:lnTo>
                  <a:pt x="21" y="212"/>
                </a:lnTo>
                <a:lnTo>
                  <a:pt x="20" y="207"/>
                </a:lnTo>
                <a:lnTo>
                  <a:pt x="16" y="202"/>
                </a:lnTo>
                <a:lnTo>
                  <a:pt x="13" y="197"/>
                </a:lnTo>
                <a:lnTo>
                  <a:pt x="12" y="192"/>
                </a:lnTo>
                <a:lnTo>
                  <a:pt x="10" y="187"/>
                </a:lnTo>
                <a:lnTo>
                  <a:pt x="7" y="182"/>
                </a:lnTo>
                <a:lnTo>
                  <a:pt x="5" y="177"/>
                </a:lnTo>
                <a:lnTo>
                  <a:pt x="3" y="171"/>
                </a:lnTo>
                <a:lnTo>
                  <a:pt x="0" y="172"/>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81" name="Freeform 2086">
            <a:extLst>
              <a:ext uri="{FF2B5EF4-FFF2-40B4-BE49-F238E27FC236}">
                <a16:creationId xmlns:a16="http://schemas.microsoft.com/office/drawing/2014/main" id="{9F56E05F-57E2-DCE1-D02C-3796A31A0E4F}"/>
              </a:ext>
            </a:extLst>
          </p:cNvPr>
          <p:cNvSpPr>
            <a:spLocks noEditPoints="1"/>
          </p:cNvSpPr>
          <p:nvPr/>
        </p:nvSpPr>
        <p:spPr bwMode="auto">
          <a:xfrm>
            <a:off x="3205163" y="2432050"/>
            <a:ext cx="630238" cy="336550"/>
          </a:xfrm>
          <a:custGeom>
            <a:avLst/>
            <a:gdLst>
              <a:gd name="T0" fmla="*/ 397 w 397"/>
              <a:gd name="T1" fmla="*/ 43 h 212"/>
              <a:gd name="T2" fmla="*/ 395 w 397"/>
              <a:gd name="T3" fmla="*/ 36 h 212"/>
              <a:gd name="T4" fmla="*/ 392 w 397"/>
              <a:gd name="T5" fmla="*/ 32 h 212"/>
              <a:gd name="T6" fmla="*/ 390 w 397"/>
              <a:gd name="T7" fmla="*/ 27 h 212"/>
              <a:gd name="T8" fmla="*/ 389 w 397"/>
              <a:gd name="T9" fmla="*/ 22 h 212"/>
              <a:gd name="T10" fmla="*/ 385 w 397"/>
              <a:gd name="T11" fmla="*/ 15 h 212"/>
              <a:gd name="T12" fmla="*/ 384 w 397"/>
              <a:gd name="T13" fmla="*/ 10 h 212"/>
              <a:gd name="T14" fmla="*/ 380 w 397"/>
              <a:gd name="T15" fmla="*/ 5 h 212"/>
              <a:gd name="T16" fmla="*/ 377 w 397"/>
              <a:gd name="T17" fmla="*/ 0 h 212"/>
              <a:gd name="T18" fmla="*/ 374 w 397"/>
              <a:gd name="T19" fmla="*/ 2 h 212"/>
              <a:gd name="T20" fmla="*/ 377 w 397"/>
              <a:gd name="T21" fmla="*/ 7 h 212"/>
              <a:gd name="T22" fmla="*/ 380 w 397"/>
              <a:gd name="T23" fmla="*/ 12 h 212"/>
              <a:gd name="T24" fmla="*/ 382 w 397"/>
              <a:gd name="T25" fmla="*/ 17 h 212"/>
              <a:gd name="T26" fmla="*/ 385 w 397"/>
              <a:gd name="T27" fmla="*/ 22 h 212"/>
              <a:gd name="T28" fmla="*/ 387 w 397"/>
              <a:gd name="T29" fmla="*/ 28 h 212"/>
              <a:gd name="T30" fmla="*/ 389 w 397"/>
              <a:gd name="T31" fmla="*/ 33 h 212"/>
              <a:gd name="T32" fmla="*/ 392 w 397"/>
              <a:gd name="T33" fmla="*/ 38 h 212"/>
              <a:gd name="T34" fmla="*/ 394 w 397"/>
              <a:gd name="T35" fmla="*/ 45 h 212"/>
              <a:gd name="T36" fmla="*/ 397 w 397"/>
              <a:gd name="T37" fmla="*/ 43 h 212"/>
              <a:gd name="T38" fmla="*/ 0 w 397"/>
              <a:gd name="T39" fmla="*/ 172 h 212"/>
              <a:gd name="T40" fmla="*/ 1 w 397"/>
              <a:gd name="T41" fmla="*/ 177 h 212"/>
              <a:gd name="T42" fmla="*/ 3 w 397"/>
              <a:gd name="T43" fmla="*/ 182 h 212"/>
              <a:gd name="T44" fmla="*/ 6 w 397"/>
              <a:gd name="T45" fmla="*/ 187 h 212"/>
              <a:gd name="T46" fmla="*/ 8 w 397"/>
              <a:gd name="T47" fmla="*/ 192 h 212"/>
              <a:gd name="T48" fmla="*/ 11 w 397"/>
              <a:gd name="T49" fmla="*/ 197 h 212"/>
              <a:gd name="T50" fmla="*/ 13 w 397"/>
              <a:gd name="T51" fmla="*/ 202 h 212"/>
              <a:gd name="T52" fmla="*/ 16 w 397"/>
              <a:gd name="T53" fmla="*/ 207 h 212"/>
              <a:gd name="T54" fmla="*/ 18 w 397"/>
              <a:gd name="T55" fmla="*/ 212 h 212"/>
              <a:gd name="T56" fmla="*/ 21 w 397"/>
              <a:gd name="T57" fmla="*/ 210 h 212"/>
              <a:gd name="T58" fmla="*/ 19 w 397"/>
              <a:gd name="T59" fmla="*/ 207 h 212"/>
              <a:gd name="T60" fmla="*/ 16 w 397"/>
              <a:gd name="T61" fmla="*/ 202 h 212"/>
              <a:gd name="T62" fmla="*/ 13 w 397"/>
              <a:gd name="T63" fmla="*/ 197 h 212"/>
              <a:gd name="T64" fmla="*/ 11 w 397"/>
              <a:gd name="T65" fmla="*/ 192 h 212"/>
              <a:gd name="T66" fmla="*/ 10 w 397"/>
              <a:gd name="T67" fmla="*/ 185 h 212"/>
              <a:gd name="T68" fmla="*/ 6 w 397"/>
              <a:gd name="T69" fmla="*/ 181 h 212"/>
              <a:gd name="T70" fmla="*/ 5 w 397"/>
              <a:gd name="T71" fmla="*/ 176 h 212"/>
              <a:gd name="T72" fmla="*/ 3 w 397"/>
              <a:gd name="T73" fmla="*/ 171 h 212"/>
              <a:gd name="T74" fmla="*/ 0 w 397"/>
              <a:gd name="T75" fmla="*/ 172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97" h="212">
                <a:moveTo>
                  <a:pt x="397" y="43"/>
                </a:moveTo>
                <a:lnTo>
                  <a:pt x="395" y="36"/>
                </a:lnTo>
                <a:lnTo>
                  <a:pt x="392" y="32"/>
                </a:lnTo>
                <a:lnTo>
                  <a:pt x="390" y="27"/>
                </a:lnTo>
                <a:lnTo>
                  <a:pt x="389" y="22"/>
                </a:lnTo>
                <a:lnTo>
                  <a:pt x="385" y="15"/>
                </a:lnTo>
                <a:lnTo>
                  <a:pt x="384" y="10"/>
                </a:lnTo>
                <a:lnTo>
                  <a:pt x="380" y="5"/>
                </a:lnTo>
                <a:lnTo>
                  <a:pt x="377" y="0"/>
                </a:lnTo>
                <a:lnTo>
                  <a:pt x="374" y="2"/>
                </a:lnTo>
                <a:lnTo>
                  <a:pt x="377" y="7"/>
                </a:lnTo>
                <a:lnTo>
                  <a:pt x="380" y="12"/>
                </a:lnTo>
                <a:lnTo>
                  <a:pt x="382" y="17"/>
                </a:lnTo>
                <a:lnTo>
                  <a:pt x="385" y="22"/>
                </a:lnTo>
                <a:lnTo>
                  <a:pt x="387" y="28"/>
                </a:lnTo>
                <a:lnTo>
                  <a:pt x="389" y="33"/>
                </a:lnTo>
                <a:lnTo>
                  <a:pt x="392" y="38"/>
                </a:lnTo>
                <a:lnTo>
                  <a:pt x="394" y="45"/>
                </a:lnTo>
                <a:lnTo>
                  <a:pt x="397" y="43"/>
                </a:lnTo>
                <a:close/>
                <a:moveTo>
                  <a:pt x="0" y="172"/>
                </a:moveTo>
                <a:lnTo>
                  <a:pt x="1" y="177"/>
                </a:lnTo>
                <a:lnTo>
                  <a:pt x="3" y="182"/>
                </a:lnTo>
                <a:lnTo>
                  <a:pt x="6" y="187"/>
                </a:lnTo>
                <a:lnTo>
                  <a:pt x="8" y="192"/>
                </a:lnTo>
                <a:lnTo>
                  <a:pt x="11" y="197"/>
                </a:lnTo>
                <a:lnTo>
                  <a:pt x="13" y="202"/>
                </a:lnTo>
                <a:lnTo>
                  <a:pt x="16" y="207"/>
                </a:lnTo>
                <a:lnTo>
                  <a:pt x="18" y="212"/>
                </a:lnTo>
                <a:lnTo>
                  <a:pt x="21" y="210"/>
                </a:lnTo>
                <a:lnTo>
                  <a:pt x="19" y="207"/>
                </a:lnTo>
                <a:lnTo>
                  <a:pt x="16" y="202"/>
                </a:lnTo>
                <a:lnTo>
                  <a:pt x="13" y="197"/>
                </a:lnTo>
                <a:lnTo>
                  <a:pt x="11" y="192"/>
                </a:lnTo>
                <a:lnTo>
                  <a:pt x="10" y="185"/>
                </a:lnTo>
                <a:lnTo>
                  <a:pt x="6" y="181"/>
                </a:lnTo>
                <a:lnTo>
                  <a:pt x="5" y="176"/>
                </a:lnTo>
                <a:lnTo>
                  <a:pt x="3" y="171"/>
                </a:lnTo>
                <a:lnTo>
                  <a:pt x="0" y="172"/>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82" name="Freeform 2087">
            <a:extLst>
              <a:ext uri="{FF2B5EF4-FFF2-40B4-BE49-F238E27FC236}">
                <a16:creationId xmlns:a16="http://schemas.microsoft.com/office/drawing/2014/main" id="{0517A597-65E2-FC7C-BBA1-AAE990457E94}"/>
              </a:ext>
            </a:extLst>
          </p:cNvPr>
          <p:cNvSpPr>
            <a:spLocks noEditPoints="1"/>
          </p:cNvSpPr>
          <p:nvPr/>
        </p:nvSpPr>
        <p:spPr bwMode="auto">
          <a:xfrm>
            <a:off x="3206750" y="2435225"/>
            <a:ext cx="625475" cy="333375"/>
          </a:xfrm>
          <a:custGeom>
            <a:avLst/>
            <a:gdLst>
              <a:gd name="T0" fmla="*/ 394 w 394"/>
              <a:gd name="T1" fmla="*/ 41 h 210"/>
              <a:gd name="T2" fmla="*/ 393 w 394"/>
              <a:gd name="T3" fmla="*/ 36 h 210"/>
              <a:gd name="T4" fmla="*/ 389 w 394"/>
              <a:gd name="T5" fmla="*/ 31 h 210"/>
              <a:gd name="T6" fmla="*/ 388 w 394"/>
              <a:gd name="T7" fmla="*/ 25 h 210"/>
              <a:gd name="T8" fmla="*/ 386 w 394"/>
              <a:gd name="T9" fmla="*/ 20 h 210"/>
              <a:gd name="T10" fmla="*/ 383 w 394"/>
              <a:gd name="T11" fmla="*/ 15 h 210"/>
              <a:gd name="T12" fmla="*/ 381 w 394"/>
              <a:gd name="T13" fmla="*/ 10 h 210"/>
              <a:gd name="T14" fmla="*/ 378 w 394"/>
              <a:gd name="T15" fmla="*/ 5 h 210"/>
              <a:gd name="T16" fmla="*/ 375 w 394"/>
              <a:gd name="T17" fmla="*/ 0 h 210"/>
              <a:gd name="T18" fmla="*/ 371 w 394"/>
              <a:gd name="T19" fmla="*/ 0 h 210"/>
              <a:gd name="T20" fmla="*/ 375 w 394"/>
              <a:gd name="T21" fmla="*/ 5 h 210"/>
              <a:gd name="T22" fmla="*/ 378 w 394"/>
              <a:gd name="T23" fmla="*/ 11 h 210"/>
              <a:gd name="T24" fmla="*/ 379 w 394"/>
              <a:gd name="T25" fmla="*/ 16 h 210"/>
              <a:gd name="T26" fmla="*/ 383 w 394"/>
              <a:gd name="T27" fmla="*/ 21 h 210"/>
              <a:gd name="T28" fmla="*/ 384 w 394"/>
              <a:gd name="T29" fmla="*/ 26 h 210"/>
              <a:gd name="T30" fmla="*/ 388 w 394"/>
              <a:gd name="T31" fmla="*/ 31 h 210"/>
              <a:gd name="T32" fmla="*/ 389 w 394"/>
              <a:gd name="T33" fmla="*/ 38 h 210"/>
              <a:gd name="T34" fmla="*/ 391 w 394"/>
              <a:gd name="T35" fmla="*/ 43 h 210"/>
              <a:gd name="T36" fmla="*/ 394 w 394"/>
              <a:gd name="T37" fmla="*/ 41 h 210"/>
              <a:gd name="T38" fmla="*/ 0 w 394"/>
              <a:gd name="T39" fmla="*/ 169 h 210"/>
              <a:gd name="T40" fmla="*/ 2 w 394"/>
              <a:gd name="T41" fmla="*/ 175 h 210"/>
              <a:gd name="T42" fmla="*/ 4 w 394"/>
              <a:gd name="T43" fmla="*/ 180 h 210"/>
              <a:gd name="T44" fmla="*/ 7 w 394"/>
              <a:gd name="T45" fmla="*/ 185 h 210"/>
              <a:gd name="T46" fmla="*/ 9 w 394"/>
              <a:gd name="T47" fmla="*/ 190 h 210"/>
              <a:gd name="T48" fmla="*/ 10 w 394"/>
              <a:gd name="T49" fmla="*/ 195 h 210"/>
              <a:gd name="T50" fmla="*/ 13 w 394"/>
              <a:gd name="T51" fmla="*/ 200 h 210"/>
              <a:gd name="T52" fmla="*/ 17 w 394"/>
              <a:gd name="T53" fmla="*/ 205 h 210"/>
              <a:gd name="T54" fmla="*/ 18 w 394"/>
              <a:gd name="T55" fmla="*/ 210 h 210"/>
              <a:gd name="T56" fmla="*/ 22 w 394"/>
              <a:gd name="T57" fmla="*/ 208 h 210"/>
              <a:gd name="T58" fmla="*/ 18 w 394"/>
              <a:gd name="T59" fmla="*/ 203 h 210"/>
              <a:gd name="T60" fmla="*/ 17 w 394"/>
              <a:gd name="T61" fmla="*/ 198 h 210"/>
              <a:gd name="T62" fmla="*/ 13 w 394"/>
              <a:gd name="T63" fmla="*/ 193 h 210"/>
              <a:gd name="T64" fmla="*/ 12 w 394"/>
              <a:gd name="T65" fmla="*/ 188 h 210"/>
              <a:gd name="T66" fmla="*/ 10 w 394"/>
              <a:gd name="T67" fmla="*/ 183 h 210"/>
              <a:gd name="T68" fmla="*/ 7 w 394"/>
              <a:gd name="T69" fmla="*/ 179 h 210"/>
              <a:gd name="T70" fmla="*/ 5 w 394"/>
              <a:gd name="T71" fmla="*/ 174 h 210"/>
              <a:gd name="T72" fmla="*/ 4 w 394"/>
              <a:gd name="T73" fmla="*/ 169 h 210"/>
              <a:gd name="T74" fmla="*/ 0 w 394"/>
              <a:gd name="T75" fmla="*/ 169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94" h="210">
                <a:moveTo>
                  <a:pt x="394" y="41"/>
                </a:moveTo>
                <a:lnTo>
                  <a:pt x="393" y="36"/>
                </a:lnTo>
                <a:lnTo>
                  <a:pt x="389" y="31"/>
                </a:lnTo>
                <a:lnTo>
                  <a:pt x="388" y="25"/>
                </a:lnTo>
                <a:lnTo>
                  <a:pt x="386" y="20"/>
                </a:lnTo>
                <a:lnTo>
                  <a:pt x="383" y="15"/>
                </a:lnTo>
                <a:lnTo>
                  <a:pt x="381" y="10"/>
                </a:lnTo>
                <a:lnTo>
                  <a:pt x="378" y="5"/>
                </a:lnTo>
                <a:lnTo>
                  <a:pt x="375" y="0"/>
                </a:lnTo>
                <a:lnTo>
                  <a:pt x="371" y="0"/>
                </a:lnTo>
                <a:lnTo>
                  <a:pt x="375" y="5"/>
                </a:lnTo>
                <a:lnTo>
                  <a:pt x="378" y="11"/>
                </a:lnTo>
                <a:lnTo>
                  <a:pt x="379" y="16"/>
                </a:lnTo>
                <a:lnTo>
                  <a:pt x="383" y="21"/>
                </a:lnTo>
                <a:lnTo>
                  <a:pt x="384" y="26"/>
                </a:lnTo>
                <a:lnTo>
                  <a:pt x="388" y="31"/>
                </a:lnTo>
                <a:lnTo>
                  <a:pt x="389" y="38"/>
                </a:lnTo>
                <a:lnTo>
                  <a:pt x="391" y="43"/>
                </a:lnTo>
                <a:lnTo>
                  <a:pt x="394" y="41"/>
                </a:lnTo>
                <a:close/>
                <a:moveTo>
                  <a:pt x="0" y="169"/>
                </a:moveTo>
                <a:lnTo>
                  <a:pt x="2" y="175"/>
                </a:lnTo>
                <a:lnTo>
                  <a:pt x="4" y="180"/>
                </a:lnTo>
                <a:lnTo>
                  <a:pt x="7" y="185"/>
                </a:lnTo>
                <a:lnTo>
                  <a:pt x="9" y="190"/>
                </a:lnTo>
                <a:lnTo>
                  <a:pt x="10" y="195"/>
                </a:lnTo>
                <a:lnTo>
                  <a:pt x="13" y="200"/>
                </a:lnTo>
                <a:lnTo>
                  <a:pt x="17" y="205"/>
                </a:lnTo>
                <a:lnTo>
                  <a:pt x="18" y="210"/>
                </a:lnTo>
                <a:lnTo>
                  <a:pt x="22" y="208"/>
                </a:lnTo>
                <a:lnTo>
                  <a:pt x="18" y="203"/>
                </a:lnTo>
                <a:lnTo>
                  <a:pt x="17" y="198"/>
                </a:lnTo>
                <a:lnTo>
                  <a:pt x="13" y="193"/>
                </a:lnTo>
                <a:lnTo>
                  <a:pt x="12" y="188"/>
                </a:lnTo>
                <a:lnTo>
                  <a:pt x="10" y="183"/>
                </a:lnTo>
                <a:lnTo>
                  <a:pt x="7" y="179"/>
                </a:lnTo>
                <a:lnTo>
                  <a:pt x="5" y="174"/>
                </a:lnTo>
                <a:lnTo>
                  <a:pt x="4" y="169"/>
                </a:lnTo>
                <a:lnTo>
                  <a:pt x="0" y="169"/>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83" name="Freeform 2088">
            <a:extLst>
              <a:ext uri="{FF2B5EF4-FFF2-40B4-BE49-F238E27FC236}">
                <a16:creationId xmlns:a16="http://schemas.microsoft.com/office/drawing/2014/main" id="{B0FC8350-DC95-F709-5441-AD814AAC8948}"/>
              </a:ext>
            </a:extLst>
          </p:cNvPr>
          <p:cNvSpPr>
            <a:spLocks noEditPoints="1"/>
          </p:cNvSpPr>
          <p:nvPr/>
        </p:nvSpPr>
        <p:spPr bwMode="auto">
          <a:xfrm>
            <a:off x="3209925" y="2435225"/>
            <a:ext cx="620713" cy="330200"/>
          </a:xfrm>
          <a:custGeom>
            <a:avLst/>
            <a:gdLst>
              <a:gd name="T0" fmla="*/ 391 w 391"/>
              <a:gd name="T1" fmla="*/ 43 h 208"/>
              <a:gd name="T2" fmla="*/ 389 w 391"/>
              <a:gd name="T3" fmla="*/ 36 h 208"/>
              <a:gd name="T4" fmla="*/ 386 w 391"/>
              <a:gd name="T5" fmla="*/ 31 h 208"/>
              <a:gd name="T6" fmla="*/ 384 w 391"/>
              <a:gd name="T7" fmla="*/ 26 h 208"/>
              <a:gd name="T8" fmla="*/ 382 w 391"/>
              <a:gd name="T9" fmla="*/ 20 h 208"/>
              <a:gd name="T10" fmla="*/ 379 w 391"/>
              <a:gd name="T11" fmla="*/ 15 h 208"/>
              <a:gd name="T12" fmla="*/ 377 w 391"/>
              <a:gd name="T13" fmla="*/ 10 h 208"/>
              <a:gd name="T14" fmla="*/ 374 w 391"/>
              <a:gd name="T15" fmla="*/ 5 h 208"/>
              <a:gd name="T16" fmla="*/ 371 w 391"/>
              <a:gd name="T17" fmla="*/ 0 h 208"/>
              <a:gd name="T18" fmla="*/ 368 w 391"/>
              <a:gd name="T19" fmla="*/ 1 h 208"/>
              <a:gd name="T20" fmla="*/ 371 w 391"/>
              <a:gd name="T21" fmla="*/ 6 h 208"/>
              <a:gd name="T22" fmla="*/ 374 w 391"/>
              <a:gd name="T23" fmla="*/ 11 h 208"/>
              <a:gd name="T24" fmla="*/ 376 w 391"/>
              <a:gd name="T25" fmla="*/ 16 h 208"/>
              <a:gd name="T26" fmla="*/ 379 w 391"/>
              <a:gd name="T27" fmla="*/ 21 h 208"/>
              <a:gd name="T28" fmla="*/ 381 w 391"/>
              <a:gd name="T29" fmla="*/ 26 h 208"/>
              <a:gd name="T30" fmla="*/ 384 w 391"/>
              <a:gd name="T31" fmla="*/ 33 h 208"/>
              <a:gd name="T32" fmla="*/ 386 w 391"/>
              <a:gd name="T33" fmla="*/ 38 h 208"/>
              <a:gd name="T34" fmla="*/ 387 w 391"/>
              <a:gd name="T35" fmla="*/ 43 h 208"/>
              <a:gd name="T36" fmla="*/ 391 w 391"/>
              <a:gd name="T37" fmla="*/ 43 h 208"/>
              <a:gd name="T38" fmla="*/ 0 w 391"/>
              <a:gd name="T39" fmla="*/ 169 h 208"/>
              <a:gd name="T40" fmla="*/ 2 w 391"/>
              <a:gd name="T41" fmla="*/ 174 h 208"/>
              <a:gd name="T42" fmla="*/ 3 w 391"/>
              <a:gd name="T43" fmla="*/ 179 h 208"/>
              <a:gd name="T44" fmla="*/ 7 w 391"/>
              <a:gd name="T45" fmla="*/ 183 h 208"/>
              <a:gd name="T46" fmla="*/ 8 w 391"/>
              <a:gd name="T47" fmla="*/ 190 h 208"/>
              <a:gd name="T48" fmla="*/ 10 w 391"/>
              <a:gd name="T49" fmla="*/ 195 h 208"/>
              <a:gd name="T50" fmla="*/ 13 w 391"/>
              <a:gd name="T51" fmla="*/ 200 h 208"/>
              <a:gd name="T52" fmla="*/ 16 w 391"/>
              <a:gd name="T53" fmla="*/ 205 h 208"/>
              <a:gd name="T54" fmla="*/ 18 w 391"/>
              <a:gd name="T55" fmla="*/ 208 h 208"/>
              <a:gd name="T56" fmla="*/ 21 w 391"/>
              <a:gd name="T57" fmla="*/ 208 h 208"/>
              <a:gd name="T58" fmla="*/ 18 w 391"/>
              <a:gd name="T59" fmla="*/ 203 h 208"/>
              <a:gd name="T60" fmla="*/ 16 w 391"/>
              <a:gd name="T61" fmla="*/ 198 h 208"/>
              <a:gd name="T62" fmla="*/ 13 w 391"/>
              <a:gd name="T63" fmla="*/ 193 h 208"/>
              <a:gd name="T64" fmla="*/ 11 w 391"/>
              <a:gd name="T65" fmla="*/ 188 h 208"/>
              <a:gd name="T66" fmla="*/ 8 w 391"/>
              <a:gd name="T67" fmla="*/ 183 h 208"/>
              <a:gd name="T68" fmla="*/ 7 w 391"/>
              <a:gd name="T69" fmla="*/ 179 h 208"/>
              <a:gd name="T70" fmla="*/ 5 w 391"/>
              <a:gd name="T71" fmla="*/ 172 h 208"/>
              <a:gd name="T72" fmla="*/ 3 w 391"/>
              <a:gd name="T73" fmla="*/ 167 h 208"/>
              <a:gd name="T74" fmla="*/ 0 w 391"/>
              <a:gd name="T75" fmla="*/ 169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91" h="208">
                <a:moveTo>
                  <a:pt x="391" y="43"/>
                </a:moveTo>
                <a:lnTo>
                  <a:pt x="389" y="36"/>
                </a:lnTo>
                <a:lnTo>
                  <a:pt x="386" y="31"/>
                </a:lnTo>
                <a:lnTo>
                  <a:pt x="384" y="26"/>
                </a:lnTo>
                <a:lnTo>
                  <a:pt x="382" y="20"/>
                </a:lnTo>
                <a:lnTo>
                  <a:pt x="379" y="15"/>
                </a:lnTo>
                <a:lnTo>
                  <a:pt x="377" y="10"/>
                </a:lnTo>
                <a:lnTo>
                  <a:pt x="374" y="5"/>
                </a:lnTo>
                <a:lnTo>
                  <a:pt x="371" y="0"/>
                </a:lnTo>
                <a:lnTo>
                  <a:pt x="368" y="1"/>
                </a:lnTo>
                <a:lnTo>
                  <a:pt x="371" y="6"/>
                </a:lnTo>
                <a:lnTo>
                  <a:pt x="374" y="11"/>
                </a:lnTo>
                <a:lnTo>
                  <a:pt x="376" y="16"/>
                </a:lnTo>
                <a:lnTo>
                  <a:pt x="379" y="21"/>
                </a:lnTo>
                <a:lnTo>
                  <a:pt x="381" y="26"/>
                </a:lnTo>
                <a:lnTo>
                  <a:pt x="384" y="33"/>
                </a:lnTo>
                <a:lnTo>
                  <a:pt x="386" y="38"/>
                </a:lnTo>
                <a:lnTo>
                  <a:pt x="387" y="43"/>
                </a:lnTo>
                <a:lnTo>
                  <a:pt x="391" y="43"/>
                </a:lnTo>
                <a:close/>
                <a:moveTo>
                  <a:pt x="0" y="169"/>
                </a:moveTo>
                <a:lnTo>
                  <a:pt x="2" y="174"/>
                </a:lnTo>
                <a:lnTo>
                  <a:pt x="3" y="179"/>
                </a:lnTo>
                <a:lnTo>
                  <a:pt x="7" y="183"/>
                </a:lnTo>
                <a:lnTo>
                  <a:pt x="8" y="190"/>
                </a:lnTo>
                <a:lnTo>
                  <a:pt x="10" y="195"/>
                </a:lnTo>
                <a:lnTo>
                  <a:pt x="13" y="200"/>
                </a:lnTo>
                <a:lnTo>
                  <a:pt x="16" y="205"/>
                </a:lnTo>
                <a:lnTo>
                  <a:pt x="18" y="208"/>
                </a:lnTo>
                <a:lnTo>
                  <a:pt x="21" y="208"/>
                </a:lnTo>
                <a:lnTo>
                  <a:pt x="18" y="203"/>
                </a:lnTo>
                <a:lnTo>
                  <a:pt x="16" y="198"/>
                </a:lnTo>
                <a:lnTo>
                  <a:pt x="13" y="193"/>
                </a:lnTo>
                <a:lnTo>
                  <a:pt x="11" y="188"/>
                </a:lnTo>
                <a:lnTo>
                  <a:pt x="8" y="183"/>
                </a:lnTo>
                <a:lnTo>
                  <a:pt x="7" y="179"/>
                </a:lnTo>
                <a:lnTo>
                  <a:pt x="5" y="172"/>
                </a:lnTo>
                <a:lnTo>
                  <a:pt x="3" y="167"/>
                </a:lnTo>
                <a:lnTo>
                  <a:pt x="0" y="169"/>
                </a:lnTo>
                <a:close/>
              </a:path>
            </a:pathLst>
          </a:custGeom>
          <a:solidFill>
            <a:srgbClr val="8ACB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84" name="Freeform 2089">
            <a:extLst>
              <a:ext uri="{FF2B5EF4-FFF2-40B4-BE49-F238E27FC236}">
                <a16:creationId xmlns:a16="http://schemas.microsoft.com/office/drawing/2014/main" id="{1F8C1D30-9C42-5ABA-4831-47BD588BDA4B}"/>
              </a:ext>
            </a:extLst>
          </p:cNvPr>
          <p:cNvSpPr>
            <a:spLocks noEditPoints="1"/>
          </p:cNvSpPr>
          <p:nvPr/>
        </p:nvSpPr>
        <p:spPr bwMode="auto">
          <a:xfrm>
            <a:off x="3213100" y="2435225"/>
            <a:ext cx="614363" cy="330200"/>
          </a:xfrm>
          <a:custGeom>
            <a:avLst/>
            <a:gdLst>
              <a:gd name="T0" fmla="*/ 387 w 387"/>
              <a:gd name="T1" fmla="*/ 43 h 208"/>
              <a:gd name="T2" fmla="*/ 385 w 387"/>
              <a:gd name="T3" fmla="*/ 38 h 208"/>
              <a:gd name="T4" fmla="*/ 384 w 387"/>
              <a:gd name="T5" fmla="*/ 31 h 208"/>
              <a:gd name="T6" fmla="*/ 380 w 387"/>
              <a:gd name="T7" fmla="*/ 26 h 208"/>
              <a:gd name="T8" fmla="*/ 379 w 387"/>
              <a:gd name="T9" fmla="*/ 21 h 208"/>
              <a:gd name="T10" fmla="*/ 375 w 387"/>
              <a:gd name="T11" fmla="*/ 16 h 208"/>
              <a:gd name="T12" fmla="*/ 374 w 387"/>
              <a:gd name="T13" fmla="*/ 11 h 208"/>
              <a:gd name="T14" fmla="*/ 371 w 387"/>
              <a:gd name="T15" fmla="*/ 5 h 208"/>
              <a:gd name="T16" fmla="*/ 367 w 387"/>
              <a:gd name="T17" fmla="*/ 0 h 208"/>
              <a:gd name="T18" fmla="*/ 366 w 387"/>
              <a:gd name="T19" fmla="*/ 1 h 208"/>
              <a:gd name="T20" fmla="*/ 367 w 387"/>
              <a:gd name="T21" fmla="*/ 6 h 208"/>
              <a:gd name="T22" fmla="*/ 371 w 387"/>
              <a:gd name="T23" fmla="*/ 11 h 208"/>
              <a:gd name="T24" fmla="*/ 374 w 387"/>
              <a:gd name="T25" fmla="*/ 16 h 208"/>
              <a:gd name="T26" fmla="*/ 375 w 387"/>
              <a:gd name="T27" fmla="*/ 23 h 208"/>
              <a:gd name="T28" fmla="*/ 377 w 387"/>
              <a:gd name="T29" fmla="*/ 28 h 208"/>
              <a:gd name="T30" fmla="*/ 380 w 387"/>
              <a:gd name="T31" fmla="*/ 33 h 208"/>
              <a:gd name="T32" fmla="*/ 382 w 387"/>
              <a:gd name="T33" fmla="*/ 38 h 208"/>
              <a:gd name="T34" fmla="*/ 384 w 387"/>
              <a:gd name="T35" fmla="*/ 44 h 208"/>
              <a:gd name="T36" fmla="*/ 387 w 387"/>
              <a:gd name="T37" fmla="*/ 43 h 208"/>
              <a:gd name="T38" fmla="*/ 0 w 387"/>
              <a:gd name="T39" fmla="*/ 169 h 208"/>
              <a:gd name="T40" fmla="*/ 1 w 387"/>
              <a:gd name="T41" fmla="*/ 174 h 208"/>
              <a:gd name="T42" fmla="*/ 3 w 387"/>
              <a:gd name="T43" fmla="*/ 179 h 208"/>
              <a:gd name="T44" fmla="*/ 6 w 387"/>
              <a:gd name="T45" fmla="*/ 183 h 208"/>
              <a:gd name="T46" fmla="*/ 8 w 387"/>
              <a:gd name="T47" fmla="*/ 188 h 208"/>
              <a:gd name="T48" fmla="*/ 9 w 387"/>
              <a:gd name="T49" fmla="*/ 193 h 208"/>
              <a:gd name="T50" fmla="*/ 13 w 387"/>
              <a:gd name="T51" fmla="*/ 198 h 208"/>
              <a:gd name="T52" fmla="*/ 14 w 387"/>
              <a:gd name="T53" fmla="*/ 203 h 208"/>
              <a:gd name="T54" fmla="*/ 18 w 387"/>
              <a:gd name="T55" fmla="*/ 208 h 208"/>
              <a:gd name="T56" fmla="*/ 21 w 387"/>
              <a:gd name="T57" fmla="*/ 207 h 208"/>
              <a:gd name="T58" fmla="*/ 18 w 387"/>
              <a:gd name="T59" fmla="*/ 202 h 208"/>
              <a:gd name="T60" fmla="*/ 16 w 387"/>
              <a:gd name="T61" fmla="*/ 197 h 208"/>
              <a:gd name="T62" fmla="*/ 13 w 387"/>
              <a:gd name="T63" fmla="*/ 192 h 208"/>
              <a:gd name="T64" fmla="*/ 11 w 387"/>
              <a:gd name="T65" fmla="*/ 187 h 208"/>
              <a:gd name="T66" fmla="*/ 8 w 387"/>
              <a:gd name="T67" fmla="*/ 182 h 208"/>
              <a:gd name="T68" fmla="*/ 6 w 387"/>
              <a:gd name="T69" fmla="*/ 177 h 208"/>
              <a:gd name="T70" fmla="*/ 5 w 387"/>
              <a:gd name="T71" fmla="*/ 172 h 208"/>
              <a:gd name="T72" fmla="*/ 3 w 387"/>
              <a:gd name="T73" fmla="*/ 167 h 208"/>
              <a:gd name="T74" fmla="*/ 0 w 387"/>
              <a:gd name="T75" fmla="*/ 169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7" h="208">
                <a:moveTo>
                  <a:pt x="387" y="43"/>
                </a:moveTo>
                <a:lnTo>
                  <a:pt x="385" y="38"/>
                </a:lnTo>
                <a:lnTo>
                  <a:pt x="384" y="31"/>
                </a:lnTo>
                <a:lnTo>
                  <a:pt x="380" y="26"/>
                </a:lnTo>
                <a:lnTo>
                  <a:pt x="379" y="21"/>
                </a:lnTo>
                <a:lnTo>
                  <a:pt x="375" y="16"/>
                </a:lnTo>
                <a:lnTo>
                  <a:pt x="374" y="11"/>
                </a:lnTo>
                <a:lnTo>
                  <a:pt x="371" y="5"/>
                </a:lnTo>
                <a:lnTo>
                  <a:pt x="367" y="0"/>
                </a:lnTo>
                <a:lnTo>
                  <a:pt x="366" y="1"/>
                </a:lnTo>
                <a:lnTo>
                  <a:pt x="367" y="6"/>
                </a:lnTo>
                <a:lnTo>
                  <a:pt x="371" y="11"/>
                </a:lnTo>
                <a:lnTo>
                  <a:pt x="374" y="16"/>
                </a:lnTo>
                <a:lnTo>
                  <a:pt x="375" y="23"/>
                </a:lnTo>
                <a:lnTo>
                  <a:pt x="377" y="28"/>
                </a:lnTo>
                <a:lnTo>
                  <a:pt x="380" y="33"/>
                </a:lnTo>
                <a:lnTo>
                  <a:pt x="382" y="38"/>
                </a:lnTo>
                <a:lnTo>
                  <a:pt x="384" y="44"/>
                </a:lnTo>
                <a:lnTo>
                  <a:pt x="387" y="43"/>
                </a:lnTo>
                <a:close/>
                <a:moveTo>
                  <a:pt x="0" y="169"/>
                </a:moveTo>
                <a:lnTo>
                  <a:pt x="1" y="174"/>
                </a:lnTo>
                <a:lnTo>
                  <a:pt x="3" y="179"/>
                </a:lnTo>
                <a:lnTo>
                  <a:pt x="6" y="183"/>
                </a:lnTo>
                <a:lnTo>
                  <a:pt x="8" y="188"/>
                </a:lnTo>
                <a:lnTo>
                  <a:pt x="9" y="193"/>
                </a:lnTo>
                <a:lnTo>
                  <a:pt x="13" y="198"/>
                </a:lnTo>
                <a:lnTo>
                  <a:pt x="14" y="203"/>
                </a:lnTo>
                <a:lnTo>
                  <a:pt x="18" y="208"/>
                </a:lnTo>
                <a:lnTo>
                  <a:pt x="21" y="207"/>
                </a:lnTo>
                <a:lnTo>
                  <a:pt x="18" y="202"/>
                </a:lnTo>
                <a:lnTo>
                  <a:pt x="16" y="197"/>
                </a:lnTo>
                <a:lnTo>
                  <a:pt x="13" y="192"/>
                </a:lnTo>
                <a:lnTo>
                  <a:pt x="11" y="187"/>
                </a:lnTo>
                <a:lnTo>
                  <a:pt x="8" y="182"/>
                </a:lnTo>
                <a:lnTo>
                  <a:pt x="6" y="177"/>
                </a:lnTo>
                <a:lnTo>
                  <a:pt x="5" y="172"/>
                </a:lnTo>
                <a:lnTo>
                  <a:pt x="3" y="167"/>
                </a:lnTo>
                <a:lnTo>
                  <a:pt x="0" y="169"/>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85" name="Freeform 2090">
            <a:extLst>
              <a:ext uri="{FF2B5EF4-FFF2-40B4-BE49-F238E27FC236}">
                <a16:creationId xmlns:a16="http://schemas.microsoft.com/office/drawing/2014/main" id="{33FA47A0-A61A-E381-11FD-36A3CAB07E45}"/>
              </a:ext>
            </a:extLst>
          </p:cNvPr>
          <p:cNvSpPr>
            <a:spLocks noEditPoints="1"/>
          </p:cNvSpPr>
          <p:nvPr/>
        </p:nvSpPr>
        <p:spPr bwMode="auto">
          <a:xfrm>
            <a:off x="3214688" y="2436813"/>
            <a:ext cx="609600" cy="328613"/>
          </a:xfrm>
          <a:custGeom>
            <a:avLst/>
            <a:gdLst>
              <a:gd name="T0" fmla="*/ 384 w 384"/>
              <a:gd name="T1" fmla="*/ 42 h 207"/>
              <a:gd name="T2" fmla="*/ 383 w 384"/>
              <a:gd name="T3" fmla="*/ 37 h 207"/>
              <a:gd name="T4" fmla="*/ 381 w 384"/>
              <a:gd name="T5" fmla="*/ 32 h 207"/>
              <a:gd name="T6" fmla="*/ 378 w 384"/>
              <a:gd name="T7" fmla="*/ 25 h 207"/>
              <a:gd name="T8" fmla="*/ 376 w 384"/>
              <a:gd name="T9" fmla="*/ 20 h 207"/>
              <a:gd name="T10" fmla="*/ 373 w 384"/>
              <a:gd name="T11" fmla="*/ 15 h 207"/>
              <a:gd name="T12" fmla="*/ 371 w 384"/>
              <a:gd name="T13" fmla="*/ 10 h 207"/>
              <a:gd name="T14" fmla="*/ 368 w 384"/>
              <a:gd name="T15" fmla="*/ 5 h 207"/>
              <a:gd name="T16" fmla="*/ 365 w 384"/>
              <a:gd name="T17" fmla="*/ 0 h 207"/>
              <a:gd name="T18" fmla="*/ 363 w 384"/>
              <a:gd name="T19" fmla="*/ 2 h 207"/>
              <a:gd name="T20" fmla="*/ 365 w 384"/>
              <a:gd name="T21" fmla="*/ 7 h 207"/>
              <a:gd name="T22" fmla="*/ 368 w 384"/>
              <a:gd name="T23" fmla="*/ 12 h 207"/>
              <a:gd name="T24" fmla="*/ 371 w 384"/>
              <a:gd name="T25" fmla="*/ 17 h 207"/>
              <a:gd name="T26" fmla="*/ 373 w 384"/>
              <a:gd name="T27" fmla="*/ 22 h 207"/>
              <a:gd name="T28" fmla="*/ 376 w 384"/>
              <a:gd name="T29" fmla="*/ 27 h 207"/>
              <a:gd name="T30" fmla="*/ 378 w 384"/>
              <a:gd name="T31" fmla="*/ 33 h 207"/>
              <a:gd name="T32" fmla="*/ 379 w 384"/>
              <a:gd name="T33" fmla="*/ 38 h 207"/>
              <a:gd name="T34" fmla="*/ 381 w 384"/>
              <a:gd name="T35" fmla="*/ 43 h 207"/>
              <a:gd name="T36" fmla="*/ 384 w 384"/>
              <a:gd name="T37" fmla="*/ 42 h 207"/>
              <a:gd name="T38" fmla="*/ 0 w 384"/>
              <a:gd name="T39" fmla="*/ 166 h 207"/>
              <a:gd name="T40" fmla="*/ 2 w 384"/>
              <a:gd name="T41" fmla="*/ 171 h 207"/>
              <a:gd name="T42" fmla="*/ 4 w 384"/>
              <a:gd name="T43" fmla="*/ 178 h 207"/>
              <a:gd name="T44" fmla="*/ 5 w 384"/>
              <a:gd name="T45" fmla="*/ 182 h 207"/>
              <a:gd name="T46" fmla="*/ 8 w 384"/>
              <a:gd name="T47" fmla="*/ 187 h 207"/>
              <a:gd name="T48" fmla="*/ 10 w 384"/>
              <a:gd name="T49" fmla="*/ 192 h 207"/>
              <a:gd name="T50" fmla="*/ 13 w 384"/>
              <a:gd name="T51" fmla="*/ 197 h 207"/>
              <a:gd name="T52" fmla="*/ 15 w 384"/>
              <a:gd name="T53" fmla="*/ 202 h 207"/>
              <a:gd name="T54" fmla="*/ 18 w 384"/>
              <a:gd name="T55" fmla="*/ 207 h 207"/>
              <a:gd name="T56" fmla="*/ 22 w 384"/>
              <a:gd name="T57" fmla="*/ 206 h 207"/>
              <a:gd name="T58" fmla="*/ 18 w 384"/>
              <a:gd name="T59" fmla="*/ 201 h 207"/>
              <a:gd name="T60" fmla="*/ 17 w 384"/>
              <a:gd name="T61" fmla="*/ 196 h 207"/>
              <a:gd name="T62" fmla="*/ 13 w 384"/>
              <a:gd name="T63" fmla="*/ 191 h 207"/>
              <a:gd name="T64" fmla="*/ 12 w 384"/>
              <a:gd name="T65" fmla="*/ 186 h 207"/>
              <a:gd name="T66" fmla="*/ 8 w 384"/>
              <a:gd name="T67" fmla="*/ 181 h 207"/>
              <a:gd name="T68" fmla="*/ 7 w 384"/>
              <a:gd name="T69" fmla="*/ 176 h 207"/>
              <a:gd name="T70" fmla="*/ 5 w 384"/>
              <a:gd name="T71" fmla="*/ 171 h 207"/>
              <a:gd name="T72" fmla="*/ 4 w 384"/>
              <a:gd name="T73" fmla="*/ 164 h 207"/>
              <a:gd name="T74" fmla="*/ 0 w 384"/>
              <a:gd name="T75" fmla="*/ 166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4" h="207">
                <a:moveTo>
                  <a:pt x="384" y="42"/>
                </a:moveTo>
                <a:lnTo>
                  <a:pt x="383" y="37"/>
                </a:lnTo>
                <a:lnTo>
                  <a:pt x="381" y="32"/>
                </a:lnTo>
                <a:lnTo>
                  <a:pt x="378" y="25"/>
                </a:lnTo>
                <a:lnTo>
                  <a:pt x="376" y="20"/>
                </a:lnTo>
                <a:lnTo>
                  <a:pt x="373" y="15"/>
                </a:lnTo>
                <a:lnTo>
                  <a:pt x="371" y="10"/>
                </a:lnTo>
                <a:lnTo>
                  <a:pt x="368" y="5"/>
                </a:lnTo>
                <a:lnTo>
                  <a:pt x="365" y="0"/>
                </a:lnTo>
                <a:lnTo>
                  <a:pt x="363" y="2"/>
                </a:lnTo>
                <a:lnTo>
                  <a:pt x="365" y="7"/>
                </a:lnTo>
                <a:lnTo>
                  <a:pt x="368" y="12"/>
                </a:lnTo>
                <a:lnTo>
                  <a:pt x="371" y="17"/>
                </a:lnTo>
                <a:lnTo>
                  <a:pt x="373" y="22"/>
                </a:lnTo>
                <a:lnTo>
                  <a:pt x="376" y="27"/>
                </a:lnTo>
                <a:lnTo>
                  <a:pt x="378" y="33"/>
                </a:lnTo>
                <a:lnTo>
                  <a:pt x="379" y="38"/>
                </a:lnTo>
                <a:lnTo>
                  <a:pt x="381" y="43"/>
                </a:lnTo>
                <a:lnTo>
                  <a:pt x="384" y="42"/>
                </a:lnTo>
                <a:close/>
                <a:moveTo>
                  <a:pt x="0" y="166"/>
                </a:moveTo>
                <a:lnTo>
                  <a:pt x="2" y="171"/>
                </a:lnTo>
                <a:lnTo>
                  <a:pt x="4" y="178"/>
                </a:lnTo>
                <a:lnTo>
                  <a:pt x="5" y="182"/>
                </a:lnTo>
                <a:lnTo>
                  <a:pt x="8" y="187"/>
                </a:lnTo>
                <a:lnTo>
                  <a:pt x="10" y="192"/>
                </a:lnTo>
                <a:lnTo>
                  <a:pt x="13" y="197"/>
                </a:lnTo>
                <a:lnTo>
                  <a:pt x="15" y="202"/>
                </a:lnTo>
                <a:lnTo>
                  <a:pt x="18" y="207"/>
                </a:lnTo>
                <a:lnTo>
                  <a:pt x="22" y="206"/>
                </a:lnTo>
                <a:lnTo>
                  <a:pt x="18" y="201"/>
                </a:lnTo>
                <a:lnTo>
                  <a:pt x="17" y="196"/>
                </a:lnTo>
                <a:lnTo>
                  <a:pt x="13" y="191"/>
                </a:lnTo>
                <a:lnTo>
                  <a:pt x="12" y="186"/>
                </a:lnTo>
                <a:lnTo>
                  <a:pt x="8" y="181"/>
                </a:lnTo>
                <a:lnTo>
                  <a:pt x="7" y="176"/>
                </a:lnTo>
                <a:lnTo>
                  <a:pt x="5" y="171"/>
                </a:lnTo>
                <a:lnTo>
                  <a:pt x="4" y="164"/>
                </a:lnTo>
                <a:lnTo>
                  <a:pt x="0" y="166"/>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86" name="Freeform 2091">
            <a:extLst>
              <a:ext uri="{FF2B5EF4-FFF2-40B4-BE49-F238E27FC236}">
                <a16:creationId xmlns:a16="http://schemas.microsoft.com/office/drawing/2014/main" id="{68E98F16-CDCC-AC78-8578-A04C263BFD19}"/>
              </a:ext>
            </a:extLst>
          </p:cNvPr>
          <p:cNvSpPr>
            <a:spLocks noEditPoints="1"/>
          </p:cNvSpPr>
          <p:nvPr/>
        </p:nvSpPr>
        <p:spPr bwMode="auto">
          <a:xfrm>
            <a:off x="3217863" y="2436813"/>
            <a:ext cx="604838" cy="327025"/>
          </a:xfrm>
          <a:custGeom>
            <a:avLst/>
            <a:gdLst>
              <a:gd name="T0" fmla="*/ 381 w 381"/>
              <a:gd name="T1" fmla="*/ 43 h 206"/>
              <a:gd name="T2" fmla="*/ 379 w 381"/>
              <a:gd name="T3" fmla="*/ 37 h 206"/>
              <a:gd name="T4" fmla="*/ 377 w 381"/>
              <a:gd name="T5" fmla="*/ 32 h 206"/>
              <a:gd name="T6" fmla="*/ 374 w 381"/>
              <a:gd name="T7" fmla="*/ 27 h 206"/>
              <a:gd name="T8" fmla="*/ 372 w 381"/>
              <a:gd name="T9" fmla="*/ 22 h 206"/>
              <a:gd name="T10" fmla="*/ 371 w 381"/>
              <a:gd name="T11" fmla="*/ 15 h 206"/>
              <a:gd name="T12" fmla="*/ 368 w 381"/>
              <a:gd name="T13" fmla="*/ 10 h 206"/>
              <a:gd name="T14" fmla="*/ 364 w 381"/>
              <a:gd name="T15" fmla="*/ 5 h 206"/>
              <a:gd name="T16" fmla="*/ 363 w 381"/>
              <a:gd name="T17" fmla="*/ 0 h 206"/>
              <a:gd name="T18" fmla="*/ 359 w 381"/>
              <a:gd name="T19" fmla="*/ 2 h 206"/>
              <a:gd name="T20" fmla="*/ 363 w 381"/>
              <a:gd name="T21" fmla="*/ 7 h 206"/>
              <a:gd name="T22" fmla="*/ 364 w 381"/>
              <a:gd name="T23" fmla="*/ 12 h 206"/>
              <a:gd name="T24" fmla="*/ 368 w 381"/>
              <a:gd name="T25" fmla="*/ 17 h 206"/>
              <a:gd name="T26" fmla="*/ 369 w 381"/>
              <a:gd name="T27" fmla="*/ 22 h 206"/>
              <a:gd name="T28" fmla="*/ 372 w 381"/>
              <a:gd name="T29" fmla="*/ 29 h 206"/>
              <a:gd name="T30" fmla="*/ 374 w 381"/>
              <a:gd name="T31" fmla="*/ 33 h 206"/>
              <a:gd name="T32" fmla="*/ 376 w 381"/>
              <a:gd name="T33" fmla="*/ 38 h 206"/>
              <a:gd name="T34" fmla="*/ 377 w 381"/>
              <a:gd name="T35" fmla="*/ 45 h 206"/>
              <a:gd name="T36" fmla="*/ 381 w 381"/>
              <a:gd name="T37" fmla="*/ 43 h 206"/>
              <a:gd name="T38" fmla="*/ 0 w 381"/>
              <a:gd name="T39" fmla="*/ 166 h 206"/>
              <a:gd name="T40" fmla="*/ 2 w 381"/>
              <a:gd name="T41" fmla="*/ 171 h 206"/>
              <a:gd name="T42" fmla="*/ 3 w 381"/>
              <a:gd name="T43" fmla="*/ 176 h 206"/>
              <a:gd name="T44" fmla="*/ 5 w 381"/>
              <a:gd name="T45" fmla="*/ 181 h 206"/>
              <a:gd name="T46" fmla="*/ 8 w 381"/>
              <a:gd name="T47" fmla="*/ 186 h 206"/>
              <a:gd name="T48" fmla="*/ 10 w 381"/>
              <a:gd name="T49" fmla="*/ 191 h 206"/>
              <a:gd name="T50" fmla="*/ 13 w 381"/>
              <a:gd name="T51" fmla="*/ 196 h 206"/>
              <a:gd name="T52" fmla="*/ 15 w 381"/>
              <a:gd name="T53" fmla="*/ 201 h 206"/>
              <a:gd name="T54" fmla="*/ 18 w 381"/>
              <a:gd name="T55" fmla="*/ 206 h 206"/>
              <a:gd name="T56" fmla="*/ 21 w 381"/>
              <a:gd name="T57" fmla="*/ 204 h 206"/>
              <a:gd name="T58" fmla="*/ 18 w 381"/>
              <a:gd name="T59" fmla="*/ 199 h 206"/>
              <a:gd name="T60" fmla="*/ 15 w 381"/>
              <a:gd name="T61" fmla="*/ 196 h 206"/>
              <a:gd name="T62" fmla="*/ 13 w 381"/>
              <a:gd name="T63" fmla="*/ 191 h 206"/>
              <a:gd name="T64" fmla="*/ 11 w 381"/>
              <a:gd name="T65" fmla="*/ 186 h 206"/>
              <a:gd name="T66" fmla="*/ 8 w 381"/>
              <a:gd name="T67" fmla="*/ 179 h 206"/>
              <a:gd name="T68" fmla="*/ 6 w 381"/>
              <a:gd name="T69" fmla="*/ 174 h 206"/>
              <a:gd name="T70" fmla="*/ 5 w 381"/>
              <a:gd name="T71" fmla="*/ 169 h 206"/>
              <a:gd name="T72" fmla="*/ 3 w 381"/>
              <a:gd name="T73" fmla="*/ 164 h 206"/>
              <a:gd name="T74" fmla="*/ 0 w 381"/>
              <a:gd name="T75" fmla="*/ 166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1" h="206">
                <a:moveTo>
                  <a:pt x="381" y="43"/>
                </a:moveTo>
                <a:lnTo>
                  <a:pt x="379" y="37"/>
                </a:lnTo>
                <a:lnTo>
                  <a:pt x="377" y="32"/>
                </a:lnTo>
                <a:lnTo>
                  <a:pt x="374" y="27"/>
                </a:lnTo>
                <a:lnTo>
                  <a:pt x="372" y="22"/>
                </a:lnTo>
                <a:lnTo>
                  <a:pt x="371" y="15"/>
                </a:lnTo>
                <a:lnTo>
                  <a:pt x="368" y="10"/>
                </a:lnTo>
                <a:lnTo>
                  <a:pt x="364" y="5"/>
                </a:lnTo>
                <a:lnTo>
                  <a:pt x="363" y="0"/>
                </a:lnTo>
                <a:lnTo>
                  <a:pt x="359" y="2"/>
                </a:lnTo>
                <a:lnTo>
                  <a:pt x="363" y="7"/>
                </a:lnTo>
                <a:lnTo>
                  <a:pt x="364" y="12"/>
                </a:lnTo>
                <a:lnTo>
                  <a:pt x="368" y="17"/>
                </a:lnTo>
                <a:lnTo>
                  <a:pt x="369" y="22"/>
                </a:lnTo>
                <a:lnTo>
                  <a:pt x="372" y="29"/>
                </a:lnTo>
                <a:lnTo>
                  <a:pt x="374" y="33"/>
                </a:lnTo>
                <a:lnTo>
                  <a:pt x="376" y="38"/>
                </a:lnTo>
                <a:lnTo>
                  <a:pt x="377" y="45"/>
                </a:lnTo>
                <a:lnTo>
                  <a:pt x="381" y="43"/>
                </a:lnTo>
                <a:close/>
                <a:moveTo>
                  <a:pt x="0" y="166"/>
                </a:moveTo>
                <a:lnTo>
                  <a:pt x="2" y="171"/>
                </a:lnTo>
                <a:lnTo>
                  <a:pt x="3" y="176"/>
                </a:lnTo>
                <a:lnTo>
                  <a:pt x="5" y="181"/>
                </a:lnTo>
                <a:lnTo>
                  <a:pt x="8" y="186"/>
                </a:lnTo>
                <a:lnTo>
                  <a:pt x="10" y="191"/>
                </a:lnTo>
                <a:lnTo>
                  <a:pt x="13" y="196"/>
                </a:lnTo>
                <a:lnTo>
                  <a:pt x="15" y="201"/>
                </a:lnTo>
                <a:lnTo>
                  <a:pt x="18" y="206"/>
                </a:lnTo>
                <a:lnTo>
                  <a:pt x="21" y="204"/>
                </a:lnTo>
                <a:lnTo>
                  <a:pt x="18" y="199"/>
                </a:lnTo>
                <a:lnTo>
                  <a:pt x="15" y="196"/>
                </a:lnTo>
                <a:lnTo>
                  <a:pt x="13" y="191"/>
                </a:lnTo>
                <a:lnTo>
                  <a:pt x="11" y="186"/>
                </a:lnTo>
                <a:lnTo>
                  <a:pt x="8" y="179"/>
                </a:lnTo>
                <a:lnTo>
                  <a:pt x="6" y="174"/>
                </a:lnTo>
                <a:lnTo>
                  <a:pt x="5" y="169"/>
                </a:lnTo>
                <a:lnTo>
                  <a:pt x="3" y="164"/>
                </a:lnTo>
                <a:lnTo>
                  <a:pt x="0" y="166"/>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87" name="Freeform 2092">
            <a:extLst>
              <a:ext uri="{FF2B5EF4-FFF2-40B4-BE49-F238E27FC236}">
                <a16:creationId xmlns:a16="http://schemas.microsoft.com/office/drawing/2014/main" id="{79760E25-13A3-A5C4-9F9B-3E2F4CA2DA28}"/>
              </a:ext>
            </a:extLst>
          </p:cNvPr>
          <p:cNvSpPr>
            <a:spLocks noEditPoints="1"/>
          </p:cNvSpPr>
          <p:nvPr/>
        </p:nvSpPr>
        <p:spPr bwMode="auto">
          <a:xfrm>
            <a:off x="3221038" y="2439988"/>
            <a:ext cx="598488" cy="323850"/>
          </a:xfrm>
          <a:custGeom>
            <a:avLst/>
            <a:gdLst>
              <a:gd name="T0" fmla="*/ 377 w 377"/>
              <a:gd name="T1" fmla="*/ 41 h 204"/>
              <a:gd name="T2" fmla="*/ 375 w 377"/>
              <a:gd name="T3" fmla="*/ 36 h 204"/>
              <a:gd name="T4" fmla="*/ 374 w 377"/>
              <a:gd name="T5" fmla="*/ 31 h 204"/>
              <a:gd name="T6" fmla="*/ 372 w 377"/>
              <a:gd name="T7" fmla="*/ 25 h 204"/>
              <a:gd name="T8" fmla="*/ 369 w 377"/>
              <a:gd name="T9" fmla="*/ 20 h 204"/>
              <a:gd name="T10" fmla="*/ 367 w 377"/>
              <a:gd name="T11" fmla="*/ 15 h 204"/>
              <a:gd name="T12" fmla="*/ 364 w 377"/>
              <a:gd name="T13" fmla="*/ 10 h 204"/>
              <a:gd name="T14" fmla="*/ 361 w 377"/>
              <a:gd name="T15" fmla="*/ 5 h 204"/>
              <a:gd name="T16" fmla="*/ 359 w 377"/>
              <a:gd name="T17" fmla="*/ 0 h 204"/>
              <a:gd name="T18" fmla="*/ 356 w 377"/>
              <a:gd name="T19" fmla="*/ 0 h 204"/>
              <a:gd name="T20" fmla="*/ 359 w 377"/>
              <a:gd name="T21" fmla="*/ 7 h 204"/>
              <a:gd name="T22" fmla="*/ 361 w 377"/>
              <a:gd name="T23" fmla="*/ 12 h 204"/>
              <a:gd name="T24" fmla="*/ 364 w 377"/>
              <a:gd name="T25" fmla="*/ 17 h 204"/>
              <a:gd name="T26" fmla="*/ 366 w 377"/>
              <a:gd name="T27" fmla="*/ 22 h 204"/>
              <a:gd name="T28" fmla="*/ 369 w 377"/>
              <a:gd name="T29" fmla="*/ 27 h 204"/>
              <a:gd name="T30" fmla="*/ 370 w 377"/>
              <a:gd name="T31" fmla="*/ 31 h 204"/>
              <a:gd name="T32" fmla="*/ 372 w 377"/>
              <a:gd name="T33" fmla="*/ 38 h 204"/>
              <a:gd name="T34" fmla="*/ 374 w 377"/>
              <a:gd name="T35" fmla="*/ 43 h 204"/>
              <a:gd name="T36" fmla="*/ 377 w 377"/>
              <a:gd name="T37" fmla="*/ 41 h 204"/>
              <a:gd name="T38" fmla="*/ 0 w 377"/>
              <a:gd name="T39" fmla="*/ 162 h 204"/>
              <a:gd name="T40" fmla="*/ 1 w 377"/>
              <a:gd name="T41" fmla="*/ 169 h 204"/>
              <a:gd name="T42" fmla="*/ 3 w 377"/>
              <a:gd name="T43" fmla="*/ 174 h 204"/>
              <a:gd name="T44" fmla="*/ 4 w 377"/>
              <a:gd name="T45" fmla="*/ 179 h 204"/>
              <a:gd name="T46" fmla="*/ 8 w 377"/>
              <a:gd name="T47" fmla="*/ 184 h 204"/>
              <a:gd name="T48" fmla="*/ 9 w 377"/>
              <a:gd name="T49" fmla="*/ 189 h 204"/>
              <a:gd name="T50" fmla="*/ 13 w 377"/>
              <a:gd name="T51" fmla="*/ 194 h 204"/>
              <a:gd name="T52" fmla="*/ 14 w 377"/>
              <a:gd name="T53" fmla="*/ 199 h 204"/>
              <a:gd name="T54" fmla="*/ 18 w 377"/>
              <a:gd name="T55" fmla="*/ 204 h 204"/>
              <a:gd name="T56" fmla="*/ 21 w 377"/>
              <a:gd name="T57" fmla="*/ 202 h 204"/>
              <a:gd name="T58" fmla="*/ 18 w 377"/>
              <a:gd name="T59" fmla="*/ 197 h 204"/>
              <a:gd name="T60" fmla="*/ 14 w 377"/>
              <a:gd name="T61" fmla="*/ 192 h 204"/>
              <a:gd name="T62" fmla="*/ 13 w 377"/>
              <a:gd name="T63" fmla="*/ 187 h 204"/>
              <a:gd name="T64" fmla="*/ 9 w 377"/>
              <a:gd name="T65" fmla="*/ 182 h 204"/>
              <a:gd name="T66" fmla="*/ 8 w 377"/>
              <a:gd name="T67" fmla="*/ 177 h 204"/>
              <a:gd name="T68" fmla="*/ 6 w 377"/>
              <a:gd name="T69" fmla="*/ 172 h 204"/>
              <a:gd name="T70" fmla="*/ 4 w 377"/>
              <a:gd name="T71" fmla="*/ 167 h 204"/>
              <a:gd name="T72" fmla="*/ 3 w 377"/>
              <a:gd name="T73" fmla="*/ 162 h 204"/>
              <a:gd name="T74" fmla="*/ 0 w 377"/>
              <a:gd name="T75" fmla="*/ 162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77" h="204">
                <a:moveTo>
                  <a:pt x="377" y="41"/>
                </a:moveTo>
                <a:lnTo>
                  <a:pt x="375" y="36"/>
                </a:lnTo>
                <a:lnTo>
                  <a:pt x="374" y="31"/>
                </a:lnTo>
                <a:lnTo>
                  <a:pt x="372" y="25"/>
                </a:lnTo>
                <a:lnTo>
                  <a:pt x="369" y="20"/>
                </a:lnTo>
                <a:lnTo>
                  <a:pt x="367" y="15"/>
                </a:lnTo>
                <a:lnTo>
                  <a:pt x="364" y="10"/>
                </a:lnTo>
                <a:lnTo>
                  <a:pt x="361" y="5"/>
                </a:lnTo>
                <a:lnTo>
                  <a:pt x="359" y="0"/>
                </a:lnTo>
                <a:lnTo>
                  <a:pt x="356" y="0"/>
                </a:lnTo>
                <a:lnTo>
                  <a:pt x="359" y="7"/>
                </a:lnTo>
                <a:lnTo>
                  <a:pt x="361" y="12"/>
                </a:lnTo>
                <a:lnTo>
                  <a:pt x="364" y="17"/>
                </a:lnTo>
                <a:lnTo>
                  <a:pt x="366" y="22"/>
                </a:lnTo>
                <a:lnTo>
                  <a:pt x="369" y="27"/>
                </a:lnTo>
                <a:lnTo>
                  <a:pt x="370" y="31"/>
                </a:lnTo>
                <a:lnTo>
                  <a:pt x="372" y="38"/>
                </a:lnTo>
                <a:lnTo>
                  <a:pt x="374" y="43"/>
                </a:lnTo>
                <a:lnTo>
                  <a:pt x="377" y="41"/>
                </a:lnTo>
                <a:close/>
                <a:moveTo>
                  <a:pt x="0" y="162"/>
                </a:moveTo>
                <a:lnTo>
                  <a:pt x="1" y="169"/>
                </a:lnTo>
                <a:lnTo>
                  <a:pt x="3" y="174"/>
                </a:lnTo>
                <a:lnTo>
                  <a:pt x="4" y="179"/>
                </a:lnTo>
                <a:lnTo>
                  <a:pt x="8" y="184"/>
                </a:lnTo>
                <a:lnTo>
                  <a:pt x="9" y="189"/>
                </a:lnTo>
                <a:lnTo>
                  <a:pt x="13" y="194"/>
                </a:lnTo>
                <a:lnTo>
                  <a:pt x="14" y="199"/>
                </a:lnTo>
                <a:lnTo>
                  <a:pt x="18" y="204"/>
                </a:lnTo>
                <a:lnTo>
                  <a:pt x="21" y="202"/>
                </a:lnTo>
                <a:lnTo>
                  <a:pt x="18" y="197"/>
                </a:lnTo>
                <a:lnTo>
                  <a:pt x="14" y="192"/>
                </a:lnTo>
                <a:lnTo>
                  <a:pt x="13" y="187"/>
                </a:lnTo>
                <a:lnTo>
                  <a:pt x="9" y="182"/>
                </a:lnTo>
                <a:lnTo>
                  <a:pt x="8" y="177"/>
                </a:lnTo>
                <a:lnTo>
                  <a:pt x="6" y="172"/>
                </a:lnTo>
                <a:lnTo>
                  <a:pt x="4" y="167"/>
                </a:lnTo>
                <a:lnTo>
                  <a:pt x="3" y="162"/>
                </a:lnTo>
                <a:lnTo>
                  <a:pt x="0" y="162"/>
                </a:lnTo>
                <a:close/>
              </a:path>
            </a:pathLst>
          </a:custGeom>
          <a:solidFill>
            <a:srgbClr val="8CCC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88" name="Freeform 2093">
            <a:extLst>
              <a:ext uri="{FF2B5EF4-FFF2-40B4-BE49-F238E27FC236}">
                <a16:creationId xmlns:a16="http://schemas.microsoft.com/office/drawing/2014/main" id="{8DC4113A-B753-EC09-5B89-DFD742EE62C8}"/>
              </a:ext>
            </a:extLst>
          </p:cNvPr>
          <p:cNvSpPr>
            <a:spLocks noEditPoints="1"/>
          </p:cNvSpPr>
          <p:nvPr/>
        </p:nvSpPr>
        <p:spPr bwMode="auto">
          <a:xfrm>
            <a:off x="3222625" y="2439988"/>
            <a:ext cx="593725" cy="320675"/>
          </a:xfrm>
          <a:custGeom>
            <a:avLst/>
            <a:gdLst>
              <a:gd name="T0" fmla="*/ 374 w 374"/>
              <a:gd name="T1" fmla="*/ 43 h 202"/>
              <a:gd name="T2" fmla="*/ 373 w 374"/>
              <a:gd name="T3" fmla="*/ 36 h 202"/>
              <a:gd name="T4" fmla="*/ 371 w 374"/>
              <a:gd name="T5" fmla="*/ 31 h 202"/>
              <a:gd name="T6" fmla="*/ 369 w 374"/>
              <a:gd name="T7" fmla="*/ 27 h 202"/>
              <a:gd name="T8" fmla="*/ 366 w 374"/>
              <a:gd name="T9" fmla="*/ 20 h 202"/>
              <a:gd name="T10" fmla="*/ 365 w 374"/>
              <a:gd name="T11" fmla="*/ 15 h 202"/>
              <a:gd name="T12" fmla="*/ 361 w 374"/>
              <a:gd name="T13" fmla="*/ 10 h 202"/>
              <a:gd name="T14" fmla="*/ 360 w 374"/>
              <a:gd name="T15" fmla="*/ 5 h 202"/>
              <a:gd name="T16" fmla="*/ 356 w 374"/>
              <a:gd name="T17" fmla="*/ 0 h 202"/>
              <a:gd name="T18" fmla="*/ 353 w 374"/>
              <a:gd name="T19" fmla="*/ 2 h 202"/>
              <a:gd name="T20" fmla="*/ 356 w 374"/>
              <a:gd name="T21" fmla="*/ 7 h 202"/>
              <a:gd name="T22" fmla="*/ 358 w 374"/>
              <a:gd name="T23" fmla="*/ 12 h 202"/>
              <a:gd name="T24" fmla="*/ 361 w 374"/>
              <a:gd name="T25" fmla="*/ 17 h 202"/>
              <a:gd name="T26" fmla="*/ 363 w 374"/>
              <a:gd name="T27" fmla="*/ 22 h 202"/>
              <a:gd name="T28" fmla="*/ 366 w 374"/>
              <a:gd name="T29" fmla="*/ 28 h 202"/>
              <a:gd name="T30" fmla="*/ 368 w 374"/>
              <a:gd name="T31" fmla="*/ 33 h 202"/>
              <a:gd name="T32" fmla="*/ 369 w 374"/>
              <a:gd name="T33" fmla="*/ 38 h 202"/>
              <a:gd name="T34" fmla="*/ 371 w 374"/>
              <a:gd name="T35" fmla="*/ 45 h 202"/>
              <a:gd name="T36" fmla="*/ 374 w 374"/>
              <a:gd name="T37" fmla="*/ 43 h 202"/>
              <a:gd name="T38" fmla="*/ 0 w 374"/>
              <a:gd name="T39" fmla="*/ 162 h 202"/>
              <a:gd name="T40" fmla="*/ 2 w 374"/>
              <a:gd name="T41" fmla="*/ 167 h 202"/>
              <a:gd name="T42" fmla="*/ 3 w 374"/>
              <a:gd name="T43" fmla="*/ 172 h 202"/>
              <a:gd name="T44" fmla="*/ 5 w 374"/>
              <a:gd name="T45" fmla="*/ 177 h 202"/>
              <a:gd name="T46" fmla="*/ 8 w 374"/>
              <a:gd name="T47" fmla="*/ 184 h 202"/>
              <a:gd name="T48" fmla="*/ 10 w 374"/>
              <a:gd name="T49" fmla="*/ 189 h 202"/>
              <a:gd name="T50" fmla="*/ 12 w 374"/>
              <a:gd name="T51" fmla="*/ 194 h 202"/>
              <a:gd name="T52" fmla="*/ 15 w 374"/>
              <a:gd name="T53" fmla="*/ 197 h 202"/>
              <a:gd name="T54" fmla="*/ 18 w 374"/>
              <a:gd name="T55" fmla="*/ 202 h 202"/>
              <a:gd name="T56" fmla="*/ 22 w 374"/>
              <a:gd name="T57" fmla="*/ 202 h 202"/>
              <a:gd name="T58" fmla="*/ 18 w 374"/>
              <a:gd name="T59" fmla="*/ 197 h 202"/>
              <a:gd name="T60" fmla="*/ 15 w 374"/>
              <a:gd name="T61" fmla="*/ 192 h 202"/>
              <a:gd name="T62" fmla="*/ 13 w 374"/>
              <a:gd name="T63" fmla="*/ 187 h 202"/>
              <a:gd name="T64" fmla="*/ 10 w 374"/>
              <a:gd name="T65" fmla="*/ 182 h 202"/>
              <a:gd name="T66" fmla="*/ 8 w 374"/>
              <a:gd name="T67" fmla="*/ 177 h 202"/>
              <a:gd name="T68" fmla="*/ 7 w 374"/>
              <a:gd name="T69" fmla="*/ 171 h 202"/>
              <a:gd name="T70" fmla="*/ 5 w 374"/>
              <a:gd name="T71" fmla="*/ 166 h 202"/>
              <a:gd name="T72" fmla="*/ 2 w 374"/>
              <a:gd name="T73" fmla="*/ 161 h 202"/>
              <a:gd name="T74" fmla="*/ 0 w 374"/>
              <a:gd name="T75" fmla="*/ 162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74" h="202">
                <a:moveTo>
                  <a:pt x="374" y="43"/>
                </a:moveTo>
                <a:lnTo>
                  <a:pt x="373" y="36"/>
                </a:lnTo>
                <a:lnTo>
                  <a:pt x="371" y="31"/>
                </a:lnTo>
                <a:lnTo>
                  <a:pt x="369" y="27"/>
                </a:lnTo>
                <a:lnTo>
                  <a:pt x="366" y="20"/>
                </a:lnTo>
                <a:lnTo>
                  <a:pt x="365" y="15"/>
                </a:lnTo>
                <a:lnTo>
                  <a:pt x="361" y="10"/>
                </a:lnTo>
                <a:lnTo>
                  <a:pt x="360" y="5"/>
                </a:lnTo>
                <a:lnTo>
                  <a:pt x="356" y="0"/>
                </a:lnTo>
                <a:lnTo>
                  <a:pt x="353" y="2"/>
                </a:lnTo>
                <a:lnTo>
                  <a:pt x="356" y="7"/>
                </a:lnTo>
                <a:lnTo>
                  <a:pt x="358" y="12"/>
                </a:lnTo>
                <a:lnTo>
                  <a:pt x="361" y="17"/>
                </a:lnTo>
                <a:lnTo>
                  <a:pt x="363" y="22"/>
                </a:lnTo>
                <a:lnTo>
                  <a:pt x="366" y="28"/>
                </a:lnTo>
                <a:lnTo>
                  <a:pt x="368" y="33"/>
                </a:lnTo>
                <a:lnTo>
                  <a:pt x="369" y="38"/>
                </a:lnTo>
                <a:lnTo>
                  <a:pt x="371" y="45"/>
                </a:lnTo>
                <a:lnTo>
                  <a:pt x="374" y="43"/>
                </a:lnTo>
                <a:close/>
                <a:moveTo>
                  <a:pt x="0" y="162"/>
                </a:moveTo>
                <a:lnTo>
                  <a:pt x="2" y="167"/>
                </a:lnTo>
                <a:lnTo>
                  <a:pt x="3" y="172"/>
                </a:lnTo>
                <a:lnTo>
                  <a:pt x="5" y="177"/>
                </a:lnTo>
                <a:lnTo>
                  <a:pt x="8" y="184"/>
                </a:lnTo>
                <a:lnTo>
                  <a:pt x="10" y="189"/>
                </a:lnTo>
                <a:lnTo>
                  <a:pt x="12" y="194"/>
                </a:lnTo>
                <a:lnTo>
                  <a:pt x="15" y="197"/>
                </a:lnTo>
                <a:lnTo>
                  <a:pt x="18" y="202"/>
                </a:lnTo>
                <a:lnTo>
                  <a:pt x="22" y="202"/>
                </a:lnTo>
                <a:lnTo>
                  <a:pt x="18" y="197"/>
                </a:lnTo>
                <a:lnTo>
                  <a:pt x="15" y="192"/>
                </a:lnTo>
                <a:lnTo>
                  <a:pt x="13" y="187"/>
                </a:lnTo>
                <a:lnTo>
                  <a:pt x="10" y="182"/>
                </a:lnTo>
                <a:lnTo>
                  <a:pt x="8" y="177"/>
                </a:lnTo>
                <a:lnTo>
                  <a:pt x="7" y="171"/>
                </a:lnTo>
                <a:lnTo>
                  <a:pt x="5" y="166"/>
                </a:lnTo>
                <a:lnTo>
                  <a:pt x="2" y="161"/>
                </a:lnTo>
                <a:lnTo>
                  <a:pt x="0" y="162"/>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89" name="Freeform 2094">
            <a:extLst>
              <a:ext uri="{FF2B5EF4-FFF2-40B4-BE49-F238E27FC236}">
                <a16:creationId xmlns:a16="http://schemas.microsoft.com/office/drawing/2014/main" id="{3B482218-DE02-9589-7E94-4BFB23403AAF}"/>
              </a:ext>
            </a:extLst>
          </p:cNvPr>
          <p:cNvSpPr>
            <a:spLocks noEditPoints="1"/>
          </p:cNvSpPr>
          <p:nvPr/>
        </p:nvSpPr>
        <p:spPr bwMode="auto">
          <a:xfrm>
            <a:off x="3225800" y="2439988"/>
            <a:ext cx="588963" cy="320675"/>
          </a:xfrm>
          <a:custGeom>
            <a:avLst/>
            <a:gdLst>
              <a:gd name="T0" fmla="*/ 371 w 371"/>
              <a:gd name="T1" fmla="*/ 43 h 202"/>
              <a:gd name="T2" fmla="*/ 369 w 371"/>
              <a:gd name="T3" fmla="*/ 38 h 202"/>
              <a:gd name="T4" fmla="*/ 367 w 371"/>
              <a:gd name="T5" fmla="*/ 31 h 202"/>
              <a:gd name="T6" fmla="*/ 366 w 371"/>
              <a:gd name="T7" fmla="*/ 27 h 202"/>
              <a:gd name="T8" fmla="*/ 363 w 371"/>
              <a:gd name="T9" fmla="*/ 22 h 202"/>
              <a:gd name="T10" fmla="*/ 361 w 371"/>
              <a:gd name="T11" fmla="*/ 17 h 202"/>
              <a:gd name="T12" fmla="*/ 358 w 371"/>
              <a:gd name="T13" fmla="*/ 12 h 202"/>
              <a:gd name="T14" fmla="*/ 356 w 371"/>
              <a:gd name="T15" fmla="*/ 7 h 202"/>
              <a:gd name="T16" fmla="*/ 353 w 371"/>
              <a:gd name="T17" fmla="*/ 0 h 202"/>
              <a:gd name="T18" fmla="*/ 349 w 371"/>
              <a:gd name="T19" fmla="*/ 2 h 202"/>
              <a:gd name="T20" fmla="*/ 353 w 371"/>
              <a:gd name="T21" fmla="*/ 7 h 202"/>
              <a:gd name="T22" fmla="*/ 354 w 371"/>
              <a:gd name="T23" fmla="*/ 12 h 202"/>
              <a:gd name="T24" fmla="*/ 358 w 371"/>
              <a:gd name="T25" fmla="*/ 18 h 202"/>
              <a:gd name="T26" fmla="*/ 359 w 371"/>
              <a:gd name="T27" fmla="*/ 23 h 202"/>
              <a:gd name="T28" fmla="*/ 363 w 371"/>
              <a:gd name="T29" fmla="*/ 28 h 202"/>
              <a:gd name="T30" fmla="*/ 364 w 371"/>
              <a:gd name="T31" fmla="*/ 33 h 202"/>
              <a:gd name="T32" fmla="*/ 366 w 371"/>
              <a:gd name="T33" fmla="*/ 40 h 202"/>
              <a:gd name="T34" fmla="*/ 367 w 371"/>
              <a:gd name="T35" fmla="*/ 45 h 202"/>
              <a:gd name="T36" fmla="*/ 371 w 371"/>
              <a:gd name="T37" fmla="*/ 43 h 202"/>
              <a:gd name="T38" fmla="*/ 0 w 371"/>
              <a:gd name="T39" fmla="*/ 162 h 202"/>
              <a:gd name="T40" fmla="*/ 1 w 371"/>
              <a:gd name="T41" fmla="*/ 167 h 202"/>
              <a:gd name="T42" fmla="*/ 3 w 371"/>
              <a:gd name="T43" fmla="*/ 172 h 202"/>
              <a:gd name="T44" fmla="*/ 5 w 371"/>
              <a:gd name="T45" fmla="*/ 177 h 202"/>
              <a:gd name="T46" fmla="*/ 6 w 371"/>
              <a:gd name="T47" fmla="*/ 182 h 202"/>
              <a:gd name="T48" fmla="*/ 10 w 371"/>
              <a:gd name="T49" fmla="*/ 187 h 202"/>
              <a:gd name="T50" fmla="*/ 11 w 371"/>
              <a:gd name="T51" fmla="*/ 192 h 202"/>
              <a:gd name="T52" fmla="*/ 15 w 371"/>
              <a:gd name="T53" fmla="*/ 197 h 202"/>
              <a:gd name="T54" fmla="*/ 18 w 371"/>
              <a:gd name="T55" fmla="*/ 202 h 202"/>
              <a:gd name="T56" fmla="*/ 21 w 371"/>
              <a:gd name="T57" fmla="*/ 200 h 202"/>
              <a:gd name="T58" fmla="*/ 18 w 371"/>
              <a:gd name="T59" fmla="*/ 195 h 202"/>
              <a:gd name="T60" fmla="*/ 15 w 371"/>
              <a:gd name="T61" fmla="*/ 190 h 202"/>
              <a:gd name="T62" fmla="*/ 13 w 371"/>
              <a:gd name="T63" fmla="*/ 185 h 202"/>
              <a:gd name="T64" fmla="*/ 10 w 371"/>
              <a:gd name="T65" fmla="*/ 180 h 202"/>
              <a:gd name="T66" fmla="*/ 8 w 371"/>
              <a:gd name="T67" fmla="*/ 176 h 202"/>
              <a:gd name="T68" fmla="*/ 6 w 371"/>
              <a:gd name="T69" fmla="*/ 171 h 202"/>
              <a:gd name="T70" fmla="*/ 3 w 371"/>
              <a:gd name="T71" fmla="*/ 166 h 202"/>
              <a:gd name="T72" fmla="*/ 1 w 371"/>
              <a:gd name="T73" fmla="*/ 161 h 202"/>
              <a:gd name="T74" fmla="*/ 0 w 371"/>
              <a:gd name="T75" fmla="*/ 162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71" h="202">
                <a:moveTo>
                  <a:pt x="371" y="43"/>
                </a:moveTo>
                <a:lnTo>
                  <a:pt x="369" y="38"/>
                </a:lnTo>
                <a:lnTo>
                  <a:pt x="367" y="31"/>
                </a:lnTo>
                <a:lnTo>
                  <a:pt x="366" y="27"/>
                </a:lnTo>
                <a:lnTo>
                  <a:pt x="363" y="22"/>
                </a:lnTo>
                <a:lnTo>
                  <a:pt x="361" y="17"/>
                </a:lnTo>
                <a:lnTo>
                  <a:pt x="358" y="12"/>
                </a:lnTo>
                <a:lnTo>
                  <a:pt x="356" y="7"/>
                </a:lnTo>
                <a:lnTo>
                  <a:pt x="353" y="0"/>
                </a:lnTo>
                <a:lnTo>
                  <a:pt x="349" y="2"/>
                </a:lnTo>
                <a:lnTo>
                  <a:pt x="353" y="7"/>
                </a:lnTo>
                <a:lnTo>
                  <a:pt x="354" y="12"/>
                </a:lnTo>
                <a:lnTo>
                  <a:pt x="358" y="18"/>
                </a:lnTo>
                <a:lnTo>
                  <a:pt x="359" y="23"/>
                </a:lnTo>
                <a:lnTo>
                  <a:pt x="363" y="28"/>
                </a:lnTo>
                <a:lnTo>
                  <a:pt x="364" y="33"/>
                </a:lnTo>
                <a:lnTo>
                  <a:pt x="366" y="40"/>
                </a:lnTo>
                <a:lnTo>
                  <a:pt x="367" y="45"/>
                </a:lnTo>
                <a:lnTo>
                  <a:pt x="371" y="43"/>
                </a:lnTo>
                <a:close/>
                <a:moveTo>
                  <a:pt x="0" y="162"/>
                </a:moveTo>
                <a:lnTo>
                  <a:pt x="1" y="167"/>
                </a:lnTo>
                <a:lnTo>
                  <a:pt x="3" y="172"/>
                </a:lnTo>
                <a:lnTo>
                  <a:pt x="5" y="177"/>
                </a:lnTo>
                <a:lnTo>
                  <a:pt x="6" y="182"/>
                </a:lnTo>
                <a:lnTo>
                  <a:pt x="10" y="187"/>
                </a:lnTo>
                <a:lnTo>
                  <a:pt x="11" y="192"/>
                </a:lnTo>
                <a:lnTo>
                  <a:pt x="15" y="197"/>
                </a:lnTo>
                <a:lnTo>
                  <a:pt x="18" y="202"/>
                </a:lnTo>
                <a:lnTo>
                  <a:pt x="21" y="200"/>
                </a:lnTo>
                <a:lnTo>
                  <a:pt x="18" y="195"/>
                </a:lnTo>
                <a:lnTo>
                  <a:pt x="15" y="190"/>
                </a:lnTo>
                <a:lnTo>
                  <a:pt x="13" y="185"/>
                </a:lnTo>
                <a:lnTo>
                  <a:pt x="10" y="180"/>
                </a:lnTo>
                <a:lnTo>
                  <a:pt x="8" y="176"/>
                </a:lnTo>
                <a:lnTo>
                  <a:pt x="6" y="171"/>
                </a:lnTo>
                <a:lnTo>
                  <a:pt x="3" y="166"/>
                </a:lnTo>
                <a:lnTo>
                  <a:pt x="1" y="161"/>
                </a:lnTo>
                <a:lnTo>
                  <a:pt x="0" y="162"/>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90" name="Freeform 2095">
            <a:extLst>
              <a:ext uri="{FF2B5EF4-FFF2-40B4-BE49-F238E27FC236}">
                <a16:creationId xmlns:a16="http://schemas.microsoft.com/office/drawing/2014/main" id="{9DDC7AC9-FF35-D3C6-7286-D6CD76A32450}"/>
              </a:ext>
            </a:extLst>
          </p:cNvPr>
          <p:cNvSpPr>
            <a:spLocks noEditPoints="1"/>
          </p:cNvSpPr>
          <p:nvPr/>
        </p:nvSpPr>
        <p:spPr bwMode="auto">
          <a:xfrm>
            <a:off x="3225800" y="2443163"/>
            <a:ext cx="585788" cy="317500"/>
          </a:xfrm>
          <a:custGeom>
            <a:avLst/>
            <a:gdLst>
              <a:gd name="T0" fmla="*/ 369 w 369"/>
              <a:gd name="T1" fmla="*/ 43 h 200"/>
              <a:gd name="T2" fmla="*/ 367 w 369"/>
              <a:gd name="T3" fmla="*/ 36 h 200"/>
              <a:gd name="T4" fmla="*/ 366 w 369"/>
              <a:gd name="T5" fmla="*/ 31 h 200"/>
              <a:gd name="T6" fmla="*/ 364 w 369"/>
              <a:gd name="T7" fmla="*/ 26 h 200"/>
              <a:gd name="T8" fmla="*/ 361 w 369"/>
              <a:gd name="T9" fmla="*/ 20 h 200"/>
              <a:gd name="T10" fmla="*/ 359 w 369"/>
              <a:gd name="T11" fmla="*/ 15 h 200"/>
              <a:gd name="T12" fmla="*/ 356 w 369"/>
              <a:gd name="T13" fmla="*/ 10 h 200"/>
              <a:gd name="T14" fmla="*/ 354 w 369"/>
              <a:gd name="T15" fmla="*/ 5 h 200"/>
              <a:gd name="T16" fmla="*/ 351 w 369"/>
              <a:gd name="T17" fmla="*/ 0 h 200"/>
              <a:gd name="T18" fmla="*/ 348 w 369"/>
              <a:gd name="T19" fmla="*/ 1 h 200"/>
              <a:gd name="T20" fmla="*/ 351 w 369"/>
              <a:gd name="T21" fmla="*/ 6 h 200"/>
              <a:gd name="T22" fmla="*/ 354 w 369"/>
              <a:gd name="T23" fmla="*/ 11 h 200"/>
              <a:gd name="T24" fmla="*/ 356 w 369"/>
              <a:gd name="T25" fmla="*/ 16 h 200"/>
              <a:gd name="T26" fmla="*/ 359 w 369"/>
              <a:gd name="T27" fmla="*/ 21 h 200"/>
              <a:gd name="T28" fmla="*/ 361 w 369"/>
              <a:gd name="T29" fmla="*/ 26 h 200"/>
              <a:gd name="T30" fmla="*/ 363 w 369"/>
              <a:gd name="T31" fmla="*/ 33 h 200"/>
              <a:gd name="T32" fmla="*/ 364 w 369"/>
              <a:gd name="T33" fmla="*/ 38 h 200"/>
              <a:gd name="T34" fmla="*/ 367 w 369"/>
              <a:gd name="T35" fmla="*/ 43 h 200"/>
              <a:gd name="T36" fmla="*/ 369 w 369"/>
              <a:gd name="T37" fmla="*/ 43 h 200"/>
              <a:gd name="T38" fmla="*/ 0 w 369"/>
              <a:gd name="T39" fmla="*/ 159 h 200"/>
              <a:gd name="T40" fmla="*/ 3 w 369"/>
              <a:gd name="T41" fmla="*/ 164 h 200"/>
              <a:gd name="T42" fmla="*/ 5 w 369"/>
              <a:gd name="T43" fmla="*/ 169 h 200"/>
              <a:gd name="T44" fmla="*/ 6 w 369"/>
              <a:gd name="T45" fmla="*/ 175 h 200"/>
              <a:gd name="T46" fmla="*/ 8 w 369"/>
              <a:gd name="T47" fmla="*/ 180 h 200"/>
              <a:gd name="T48" fmla="*/ 11 w 369"/>
              <a:gd name="T49" fmla="*/ 185 h 200"/>
              <a:gd name="T50" fmla="*/ 13 w 369"/>
              <a:gd name="T51" fmla="*/ 190 h 200"/>
              <a:gd name="T52" fmla="*/ 16 w 369"/>
              <a:gd name="T53" fmla="*/ 195 h 200"/>
              <a:gd name="T54" fmla="*/ 20 w 369"/>
              <a:gd name="T55" fmla="*/ 200 h 200"/>
              <a:gd name="T56" fmla="*/ 21 w 369"/>
              <a:gd name="T57" fmla="*/ 198 h 200"/>
              <a:gd name="T58" fmla="*/ 20 w 369"/>
              <a:gd name="T59" fmla="*/ 193 h 200"/>
              <a:gd name="T60" fmla="*/ 16 w 369"/>
              <a:gd name="T61" fmla="*/ 188 h 200"/>
              <a:gd name="T62" fmla="*/ 15 w 369"/>
              <a:gd name="T63" fmla="*/ 183 h 200"/>
              <a:gd name="T64" fmla="*/ 11 w 369"/>
              <a:gd name="T65" fmla="*/ 178 h 200"/>
              <a:gd name="T66" fmla="*/ 10 w 369"/>
              <a:gd name="T67" fmla="*/ 174 h 200"/>
              <a:gd name="T68" fmla="*/ 8 w 369"/>
              <a:gd name="T69" fmla="*/ 169 h 200"/>
              <a:gd name="T70" fmla="*/ 5 w 369"/>
              <a:gd name="T71" fmla="*/ 162 h 200"/>
              <a:gd name="T72" fmla="*/ 3 w 369"/>
              <a:gd name="T73" fmla="*/ 157 h 200"/>
              <a:gd name="T74" fmla="*/ 0 w 369"/>
              <a:gd name="T75" fmla="*/ 15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69" h="200">
                <a:moveTo>
                  <a:pt x="369" y="43"/>
                </a:moveTo>
                <a:lnTo>
                  <a:pt x="367" y="36"/>
                </a:lnTo>
                <a:lnTo>
                  <a:pt x="366" y="31"/>
                </a:lnTo>
                <a:lnTo>
                  <a:pt x="364" y="26"/>
                </a:lnTo>
                <a:lnTo>
                  <a:pt x="361" y="20"/>
                </a:lnTo>
                <a:lnTo>
                  <a:pt x="359" y="15"/>
                </a:lnTo>
                <a:lnTo>
                  <a:pt x="356" y="10"/>
                </a:lnTo>
                <a:lnTo>
                  <a:pt x="354" y="5"/>
                </a:lnTo>
                <a:lnTo>
                  <a:pt x="351" y="0"/>
                </a:lnTo>
                <a:lnTo>
                  <a:pt x="348" y="1"/>
                </a:lnTo>
                <a:lnTo>
                  <a:pt x="351" y="6"/>
                </a:lnTo>
                <a:lnTo>
                  <a:pt x="354" y="11"/>
                </a:lnTo>
                <a:lnTo>
                  <a:pt x="356" y="16"/>
                </a:lnTo>
                <a:lnTo>
                  <a:pt x="359" y="21"/>
                </a:lnTo>
                <a:lnTo>
                  <a:pt x="361" y="26"/>
                </a:lnTo>
                <a:lnTo>
                  <a:pt x="363" y="33"/>
                </a:lnTo>
                <a:lnTo>
                  <a:pt x="364" y="38"/>
                </a:lnTo>
                <a:lnTo>
                  <a:pt x="367" y="43"/>
                </a:lnTo>
                <a:lnTo>
                  <a:pt x="369" y="43"/>
                </a:lnTo>
                <a:close/>
                <a:moveTo>
                  <a:pt x="0" y="159"/>
                </a:moveTo>
                <a:lnTo>
                  <a:pt x="3" y="164"/>
                </a:lnTo>
                <a:lnTo>
                  <a:pt x="5" y="169"/>
                </a:lnTo>
                <a:lnTo>
                  <a:pt x="6" y="175"/>
                </a:lnTo>
                <a:lnTo>
                  <a:pt x="8" y="180"/>
                </a:lnTo>
                <a:lnTo>
                  <a:pt x="11" y="185"/>
                </a:lnTo>
                <a:lnTo>
                  <a:pt x="13" y="190"/>
                </a:lnTo>
                <a:lnTo>
                  <a:pt x="16" y="195"/>
                </a:lnTo>
                <a:lnTo>
                  <a:pt x="20" y="200"/>
                </a:lnTo>
                <a:lnTo>
                  <a:pt x="21" y="198"/>
                </a:lnTo>
                <a:lnTo>
                  <a:pt x="20" y="193"/>
                </a:lnTo>
                <a:lnTo>
                  <a:pt x="16" y="188"/>
                </a:lnTo>
                <a:lnTo>
                  <a:pt x="15" y="183"/>
                </a:lnTo>
                <a:lnTo>
                  <a:pt x="11" y="178"/>
                </a:lnTo>
                <a:lnTo>
                  <a:pt x="10" y="174"/>
                </a:lnTo>
                <a:lnTo>
                  <a:pt x="8" y="169"/>
                </a:lnTo>
                <a:lnTo>
                  <a:pt x="5" y="162"/>
                </a:lnTo>
                <a:lnTo>
                  <a:pt x="3" y="157"/>
                </a:lnTo>
                <a:lnTo>
                  <a:pt x="0" y="159"/>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91" name="Freeform 2096">
            <a:extLst>
              <a:ext uri="{FF2B5EF4-FFF2-40B4-BE49-F238E27FC236}">
                <a16:creationId xmlns:a16="http://schemas.microsoft.com/office/drawing/2014/main" id="{A5F41AF4-4EB8-1B8D-A6AA-81424D5862E1}"/>
              </a:ext>
            </a:extLst>
          </p:cNvPr>
          <p:cNvSpPr>
            <a:spLocks noEditPoints="1"/>
          </p:cNvSpPr>
          <p:nvPr/>
        </p:nvSpPr>
        <p:spPr bwMode="auto">
          <a:xfrm>
            <a:off x="3227388" y="2443163"/>
            <a:ext cx="581025" cy="314325"/>
          </a:xfrm>
          <a:custGeom>
            <a:avLst/>
            <a:gdLst>
              <a:gd name="T0" fmla="*/ 366 w 366"/>
              <a:gd name="T1" fmla="*/ 43 h 198"/>
              <a:gd name="T2" fmla="*/ 365 w 366"/>
              <a:gd name="T3" fmla="*/ 38 h 198"/>
              <a:gd name="T4" fmla="*/ 363 w 366"/>
              <a:gd name="T5" fmla="*/ 31 h 198"/>
              <a:gd name="T6" fmla="*/ 362 w 366"/>
              <a:gd name="T7" fmla="*/ 26 h 198"/>
              <a:gd name="T8" fmla="*/ 358 w 366"/>
              <a:gd name="T9" fmla="*/ 21 h 198"/>
              <a:gd name="T10" fmla="*/ 357 w 366"/>
              <a:gd name="T11" fmla="*/ 16 h 198"/>
              <a:gd name="T12" fmla="*/ 353 w 366"/>
              <a:gd name="T13" fmla="*/ 10 h 198"/>
              <a:gd name="T14" fmla="*/ 352 w 366"/>
              <a:gd name="T15" fmla="*/ 5 h 198"/>
              <a:gd name="T16" fmla="*/ 348 w 366"/>
              <a:gd name="T17" fmla="*/ 0 h 198"/>
              <a:gd name="T18" fmla="*/ 345 w 366"/>
              <a:gd name="T19" fmla="*/ 1 h 198"/>
              <a:gd name="T20" fmla="*/ 348 w 366"/>
              <a:gd name="T21" fmla="*/ 6 h 198"/>
              <a:gd name="T22" fmla="*/ 352 w 366"/>
              <a:gd name="T23" fmla="*/ 11 h 198"/>
              <a:gd name="T24" fmla="*/ 353 w 366"/>
              <a:gd name="T25" fmla="*/ 16 h 198"/>
              <a:gd name="T26" fmla="*/ 357 w 366"/>
              <a:gd name="T27" fmla="*/ 23 h 198"/>
              <a:gd name="T28" fmla="*/ 358 w 366"/>
              <a:gd name="T29" fmla="*/ 28 h 198"/>
              <a:gd name="T30" fmla="*/ 360 w 366"/>
              <a:gd name="T31" fmla="*/ 33 h 198"/>
              <a:gd name="T32" fmla="*/ 363 w 366"/>
              <a:gd name="T33" fmla="*/ 38 h 198"/>
              <a:gd name="T34" fmla="*/ 365 w 366"/>
              <a:gd name="T35" fmla="*/ 44 h 198"/>
              <a:gd name="T36" fmla="*/ 366 w 366"/>
              <a:gd name="T37" fmla="*/ 43 h 198"/>
              <a:gd name="T38" fmla="*/ 0 w 366"/>
              <a:gd name="T39" fmla="*/ 159 h 198"/>
              <a:gd name="T40" fmla="*/ 2 w 366"/>
              <a:gd name="T41" fmla="*/ 164 h 198"/>
              <a:gd name="T42" fmla="*/ 5 w 366"/>
              <a:gd name="T43" fmla="*/ 169 h 198"/>
              <a:gd name="T44" fmla="*/ 7 w 366"/>
              <a:gd name="T45" fmla="*/ 174 h 198"/>
              <a:gd name="T46" fmla="*/ 9 w 366"/>
              <a:gd name="T47" fmla="*/ 178 h 198"/>
              <a:gd name="T48" fmla="*/ 12 w 366"/>
              <a:gd name="T49" fmla="*/ 183 h 198"/>
              <a:gd name="T50" fmla="*/ 14 w 366"/>
              <a:gd name="T51" fmla="*/ 188 h 198"/>
              <a:gd name="T52" fmla="*/ 17 w 366"/>
              <a:gd name="T53" fmla="*/ 193 h 198"/>
              <a:gd name="T54" fmla="*/ 20 w 366"/>
              <a:gd name="T55" fmla="*/ 198 h 198"/>
              <a:gd name="T56" fmla="*/ 22 w 366"/>
              <a:gd name="T57" fmla="*/ 197 h 198"/>
              <a:gd name="T58" fmla="*/ 20 w 366"/>
              <a:gd name="T59" fmla="*/ 192 h 198"/>
              <a:gd name="T60" fmla="*/ 17 w 366"/>
              <a:gd name="T61" fmla="*/ 187 h 198"/>
              <a:gd name="T62" fmla="*/ 15 w 366"/>
              <a:gd name="T63" fmla="*/ 183 h 198"/>
              <a:gd name="T64" fmla="*/ 12 w 366"/>
              <a:gd name="T65" fmla="*/ 177 h 198"/>
              <a:gd name="T66" fmla="*/ 10 w 366"/>
              <a:gd name="T67" fmla="*/ 172 h 198"/>
              <a:gd name="T68" fmla="*/ 7 w 366"/>
              <a:gd name="T69" fmla="*/ 167 h 198"/>
              <a:gd name="T70" fmla="*/ 5 w 366"/>
              <a:gd name="T71" fmla="*/ 162 h 198"/>
              <a:gd name="T72" fmla="*/ 4 w 366"/>
              <a:gd name="T73" fmla="*/ 157 h 198"/>
              <a:gd name="T74" fmla="*/ 0 w 366"/>
              <a:gd name="T75" fmla="*/ 159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66" h="198">
                <a:moveTo>
                  <a:pt x="366" y="43"/>
                </a:moveTo>
                <a:lnTo>
                  <a:pt x="365" y="38"/>
                </a:lnTo>
                <a:lnTo>
                  <a:pt x="363" y="31"/>
                </a:lnTo>
                <a:lnTo>
                  <a:pt x="362" y="26"/>
                </a:lnTo>
                <a:lnTo>
                  <a:pt x="358" y="21"/>
                </a:lnTo>
                <a:lnTo>
                  <a:pt x="357" y="16"/>
                </a:lnTo>
                <a:lnTo>
                  <a:pt x="353" y="10"/>
                </a:lnTo>
                <a:lnTo>
                  <a:pt x="352" y="5"/>
                </a:lnTo>
                <a:lnTo>
                  <a:pt x="348" y="0"/>
                </a:lnTo>
                <a:lnTo>
                  <a:pt x="345" y="1"/>
                </a:lnTo>
                <a:lnTo>
                  <a:pt x="348" y="6"/>
                </a:lnTo>
                <a:lnTo>
                  <a:pt x="352" y="11"/>
                </a:lnTo>
                <a:lnTo>
                  <a:pt x="353" y="16"/>
                </a:lnTo>
                <a:lnTo>
                  <a:pt x="357" y="23"/>
                </a:lnTo>
                <a:lnTo>
                  <a:pt x="358" y="28"/>
                </a:lnTo>
                <a:lnTo>
                  <a:pt x="360" y="33"/>
                </a:lnTo>
                <a:lnTo>
                  <a:pt x="363" y="38"/>
                </a:lnTo>
                <a:lnTo>
                  <a:pt x="365" y="44"/>
                </a:lnTo>
                <a:lnTo>
                  <a:pt x="366" y="43"/>
                </a:lnTo>
                <a:close/>
                <a:moveTo>
                  <a:pt x="0" y="159"/>
                </a:moveTo>
                <a:lnTo>
                  <a:pt x="2" y="164"/>
                </a:lnTo>
                <a:lnTo>
                  <a:pt x="5" y="169"/>
                </a:lnTo>
                <a:lnTo>
                  <a:pt x="7" y="174"/>
                </a:lnTo>
                <a:lnTo>
                  <a:pt x="9" y="178"/>
                </a:lnTo>
                <a:lnTo>
                  <a:pt x="12" y="183"/>
                </a:lnTo>
                <a:lnTo>
                  <a:pt x="14" y="188"/>
                </a:lnTo>
                <a:lnTo>
                  <a:pt x="17" y="193"/>
                </a:lnTo>
                <a:lnTo>
                  <a:pt x="20" y="198"/>
                </a:lnTo>
                <a:lnTo>
                  <a:pt x="22" y="197"/>
                </a:lnTo>
                <a:lnTo>
                  <a:pt x="20" y="192"/>
                </a:lnTo>
                <a:lnTo>
                  <a:pt x="17" y="187"/>
                </a:lnTo>
                <a:lnTo>
                  <a:pt x="15" y="183"/>
                </a:lnTo>
                <a:lnTo>
                  <a:pt x="12" y="177"/>
                </a:lnTo>
                <a:lnTo>
                  <a:pt x="10" y="172"/>
                </a:lnTo>
                <a:lnTo>
                  <a:pt x="7" y="167"/>
                </a:lnTo>
                <a:lnTo>
                  <a:pt x="5" y="162"/>
                </a:lnTo>
                <a:lnTo>
                  <a:pt x="4" y="157"/>
                </a:lnTo>
                <a:lnTo>
                  <a:pt x="0" y="159"/>
                </a:lnTo>
                <a:close/>
              </a:path>
            </a:pathLst>
          </a:custGeom>
          <a:solidFill>
            <a:srgbClr val="90CD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92" name="Freeform 2097">
            <a:extLst>
              <a:ext uri="{FF2B5EF4-FFF2-40B4-BE49-F238E27FC236}">
                <a16:creationId xmlns:a16="http://schemas.microsoft.com/office/drawing/2014/main" id="{245CBAF7-ABB2-06D4-F95B-B02CB9EFF692}"/>
              </a:ext>
            </a:extLst>
          </p:cNvPr>
          <p:cNvSpPr>
            <a:spLocks noEditPoints="1"/>
          </p:cNvSpPr>
          <p:nvPr/>
        </p:nvSpPr>
        <p:spPr bwMode="auto">
          <a:xfrm>
            <a:off x="3230563" y="2444750"/>
            <a:ext cx="577850" cy="312738"/>
          </a:xfrm>
          <a:custGeom>
            <a:avLst/>
            <a:gdLst>
              <a:gd name="T0" fmla="*/ 364 w 364"/>
              <a:gd name="T1" fmla="*/ 42 h 197"/>
              <a:gd name="T2" fmla="*/ 361 w 364"/>
              <a:gd name="T3" fmla="*/ 37 h 197"/>
              <a:gd name="T4" fmla="*/ 360 w 364"/>
              <a:gd name="T5" fmla="*/ 32 h 197"/>
              <a:gd name="T6" fmla="*/ 358 w 364"/>
              <a:gd name="T7" fmla="*/ 25 h 197"/>
              <a:gd name="T8" fmla="*/ 356 w 364"/>
              <a:gd name="T9" fmla="*/ 20 h 197"/>
              <a:gd name="T10" fmla="*/ 353 w 364"/>
              <a:gd name="T11" fmla="*/ 15 h 197"/>
              <a:gd name="T12" fmla="*/ 351 w 364"/>
              <a:gd name="T13" fmla="*/ 10 h 197"/>
              <a:gd name="T14" fmla="*/ 348 w 364"/>
              <a:gd name="T15" fmla="*/ 5 h 197"/>
              <a:gd name="T16" fmla="*/ 345 w 364"/>
              <a:gd name="T17" fmla="*/ 0 h 197"/>
              <a:gd name="T18" fmla="*/ 341 w 364"/>
              <a:gd name="T19" fmla="*/ 2 h 197"/>
              <a:gd name="T20" fmla="*/ 345 w 364"/>
              <a:gd name="T21" fmla="*/ 7 h 197"/>
              <a:gd name="T22" fmla="*/ 348 w 364"/>
              <a:gd name="T23" fmla="*/ 12 h 197"/>
              <a:gd name="T24" fmla="*/ 350 w 364"/>
              <a:gd name="T25" fmla="*/ 17 h 197"/>
              <a:gd name="T26" fmla="*/ 353 w 364"/>
              <a:gd name="T27" fmla="*/ 22 h 197"/>
              <a:gd name="T28" fmla="*/ 355 w 364"/>
              <a:gd name="T29" fmla="*/ 27 h 197"/>
              <a:gd name="T30" fmla="*/ 356 w 364"/>
              <a:gd name="T31" fmla="*/ 32 h 197"/>
              <a:gd name="T32" fmla="*/ 360 w 364"/>
              <a:gd name="T33" fmla="*/ 38 h 197"/>
              <a:gd name="T34" fmla="*/ 361 w 364"/>
              <a:gd name="T35" fmla="*/ 43 h 197"/>
              <a:gd name="T36" fmla="*/ 364 w 364"/>
              <a:gd name="T37" fmla="*/ 42 h 197"/>
              <a:gd name="T38" fmla="*/ 0 w 364"/>
              <a:gd name="T39" fmla="*/ 156 h 197"/>
              <a:gd name="T40" fmla="*/ 2 w 364"/>
              <a:gd name="T41" fmla="*/ 161 h 197"/>
              <a:gd name="T42" fmla="*/ 5 w 364"/>
              <a:gd name="T43" fmla="*/ 168 h 197"/>
              <a:gd name="T44" fmla="*/ 7 w 364"/>
              <a:gd name="T45" fmla="*/ 173 h 197"/>
              <a:gd name="T46" fmla="*/ 8 w 364"/>
              <a:gd name="T47" fmla="*/ 177 h 197"/>
              <a:gd name="T48" fmla="*/ 12 w 364"/>
              <a:gd name="T49" fmla="*/ 182 h 197"/>
              <a:gd name="T50" fmla="*/ 13 w 364"/>
              <a:gd name="T51" fmla="*/ 187 h 197"/>
              <a:gd name="T52" fmla="*/ 17 w 364"/>
              <a:gd name="T53" fmla="*/ 192 h 197"/>
              <a:gd name="T54" fmla="*/ 18 w 364"/>
              <a:gd name="T55" fmla="*/ 197 h 197"/>
              <a:gd name="T56" fmla="*/ 22 w 364"/>
              <a:gd name="T57" fmla="*/ 196 h 197"/>
              <a:gd name="T58" fmla="*/ 20 w 364"/>
              <a:gd name="T59" fmla="*/ 191 h 197"/>
              <a:gd name="T60" fmla="*/ 17 w 364"/>
              <a:gd name="T61" fmla="*/ 186 h 197"/>
              <a:gd name="T62" fmla="*/ 13 w 364"/>
              <a:gd name="T63" fmla="*/ 181 h 197"/>
              <a:gd name="T64" fmla="*/ 12 w 364"/>
              <a:gd name="T65" fmla="*/ 176 h 197"/>
              <a:gd name="T66" fmla="*/ 10 w 364"/>
              <a:gd name="T67" fmla="*/ 171 h 197"/>
              <a:gd name="T68" fmla="*/ 7 w 364"/>
              <a:gd name="T69" fmla="*/ 166 h 197"/>
              <a:gd name="T70" fmla="*/ 5 w 364"/>
              <a:gd name="T71" fmla="*/ 161 h 197"/>
              <a:gd name="T72" fmla="*/ 3 w 364"/>
              <a:gd name="T73" fmla="*/ 154 h 197"/>
              <a:gd name="T74" fmla="*/ 0 w 364"/>
              <a:gd name="T75" fmla="*/ 156 h 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64" h="197">
                <a:moveTo>
                  <a:pt x="364" y="42"/>
                </a:moveTo>
                <a:lnTo>
                  <a:pt x="361" y="37"/>
                </a:lnTo>
                <a:lnTo>
                  <a:pt x="360" y="32"/>
                </a:lnTo>
                <a:lnTo>
                  <a:pt x="358" y="25"/>
                </a:lnTo>
                <a:lnTo>
                  <a:pt x="356" y="20"/>
                </a:lnTo>
                <a:lnTo>
                  <a:pt x="353" y="15"/>
                </a:lnTo>
                <a:lnTo>
                  <a:pt x="351" y="10"/>
                </a:lnTo>
                <a:lnTo>
                  <a:pt x="348" y="5"/>
                </a:lnTo>
                <a:lnTo>
                  <a:pt x="345" y="0"/>
                </a:lnTo>
                <a:lnTo>
                  <a:pt x="341" y="2"/>
                </a:lnTo>
                <a:lnTo>
                  <a:pt x="345" y="7"/>
                </a:lnTo>
                <a:lnTo>
                  <a:pt x="348" y="12"/>
                </a:lnTo>
                <a:lnTo>
                  <a:pt x="350" y="17"/>
                </a:lnTo>
                <a:lnTo>
                  <a:pt x="353" y="22"/>
                </a:lnTo>
                <a:lnTo>
                  <a:pt x="355" y="27"/>
                </a:lnTo>
                <a:lnTo>
                  <a:pt x="356" y="32"/>
                </a:lnTo>
                <a:lnTo>
                  <a:pt x="360" y="38"/>
                </a:lnTo>
                <a:lnTo>
                  <a:pt x="361" y="43"/>
                </a:lnTo>
                <a:lnTo>
                  <a:pt x="364" y="42"/>
                </a:lnTo>
                <a:close/>
                <a:moveTo>
                  <a:pt x="0" y="156"/>
                </a:moveTo>
                <a:lnTo>
                  <a:pt x="2" y="161"/>
                </a:lnTo>
                <a:lnTo>
                  <a:pt x="5" y="168"/>
                </a:lnTo>
                <a:lnTo>
                  <a:pt x="7" y="173"/>
                </a:lnTo>
                <a:lnTo>
                  <a:pt x="8" y="177"/>
                </a:lnTo>
                <a:lnTo>
                  <a:pt x="12" y="182"/>
                </a:lnTo>
                <a:lnTo>
                  <a:pt x="13" y="187"/>
                </a:lnTo>
                <a:lnTo>
                  <a:pt x="17" y="192"/>
                </a:lnTo>
                <a:lnTo>
                  <a:pt x="18" y="197"/>
                </a:lnTo>
                <a:lnTo>
                  <a:pt x="22" y="196"/>
                </a:lnTo>
                <a:lnTo>
                  <a:pt x="20" y="191"/>
                </a:lnTo>
                <a:lnTo>
                  <a:pt x="17" y="186"/>
                </a:lnTo>
                <a:lnTo>
                  <a:pt x="13" y="181"/>
                </a:lnTo>
                <a:lnTo>
                  <a:pt x="12" y="176"/>
                </a:lnTo>
                <a:lnTo>
                  <a:pt x="10" y="171"/>
                </a:lnTo>
                <a:lnTo>
                  <a:pt x="7" y="166"/>
                </a:lnTo>
                <a:lnTo>
                  <a:pt x="5" y="161"/>
                </a:lnTo>
                <a:lnTo>
                  <a:pt x="3" y="154"/>
                </a:lnTo>
                <a:lnTo>
                  <a:pt x="0" y="156"/>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93" name="Freeform 2098">
            <a:extLst>
              <a:ext uri="{FF2B5EF4-FFF2-40B4-BE49-F238E27FC236}">
                <a16:creationId xmlns:a16="http://schemas.microsoft.com/office/drawing/2014/main" id="{5DA1F5C9-1152-6905-5F53-03F923A1B242}"/>
              </a:ext>
            </a:extLst>
          </p:cNvPr>
          <p:cNvSpPr>
            <a:spLocks noEditPoints="1"/>
          </p:cNvSpPr>
          <p:nvPr/>
        </p:nvSpPr>
        <p:spPr bwMode="auto">
          <a:xfrm>
            <a:off x="3233738" y="2444750"/>
            <a:ext cx="573088" cy="311150"/>
          </a:xfrm>
          <a:custGeom>
            <a:avLst/>
            <a:gdLst>
              <a:gd name="T0" fmla="*/ 361 w 361"/>
              <a:gd name="T1" fmla="*/ 43 h 196"/>
              <a:gd name="T2" fmla="*/ 359 w 361"/>
              <a:gd name="T3" fmla="*/ 37 h 196"/>
              <a:gd name="T4" fmla="*/ 356 w 361"/>
              <a:gd name="T5" fmla="*/ 32 h 196"/>
              <a:gd name="T6" fmla="*/ 354 w 361"/>
              <a:gd name="T7" fmla="*/ 27 h 196"/>
              <a:gd name="T8" fmla="*/ 353 w 361"/>
              <a:gd name="T9" fmla="*/ 22 h 196"/>
              <a:gd name="T10" fmla="*/ 349 w 361"/>
              <a:gd name="T11" fmla="*/ 15 h 196"/>
              <a:gd name="T12" fmla="*/ 348 w 361"/>
              <a:gd name="T13" fmla="*/ 10 h 196"/>
              <a:gd name="T14" fmla="*/ 344 w 361"/>
              <a:gd name="T15" fmla="*/ 5 h 196"/>
              <a:gd name="T16" fmla="*/ 341 w 361"/>
              <a:gd name="T17" fmla="*/ 0 h 196"/>
              <a:gd name="T18" fmla="*/ 338 w 361"/>
              <a:gd name="T19" fmla="*/ 2 h 196"/>
              <a:gd name="T20" fmla="*/ 341 w 361"/>
              <a:gd name="T21" fmla="*/ 7 h 196"/>
              <a:gd name="T22" fmla="*/ 344 w 361"/>
              <a:gd name="T23" fmla="*/ 12 h 196"/>
              <a:gd name="T24" fmla="*/ 346 w 361"/>
              <a:gd name="T25" fmla="*/ 17 h 196"/>
              <a:gd name="T26" fmla="*/ 349 w 361"/>
              <a:gd name="T27" fmla="*/ 22 h 196"/>
              <a:gd name="T28" fmla="*/ 351 w 361"/>
              <a:gd name="T29" fmla="*/ 28 h 196"/>
              <a:gd name="T30" fmla="*/ 354 w 361"/>
              <a:gd name="T31" fmla="*/ 33 h 196"/>
              <a:gd name="T32" fmla="*/ 356 w 361"/>
              <a:gd name="T33" fmla="*/ 38 h 196"/>
              <a:gd name="T34" fmla="*/ 358 w 361"/>
              <a:gd name="T35" fmla="*/ 45 h 196"/>
              <a:gd name="T36" fmla="*/ 361 w 361"/>
              <a:gd name="T37" fmla="*/ 43 h 196"/>
              <a:gd name="T38" fmla="*/ 0 w 361"/>
              <a:gd name="T39" fmla="*/ 156 h 196"/>
              <a:gd name="T40" fmla="*/ 1 w 361"/>
              <a:gd name="T41" fmla="*/ 161 h 196"/>
              <a:gd name="T42" fmla="*/ 3 w 361"/>
              <a:gd name="T43" fmla="*/ 166 h 196"/>
              <a:gd name="T44" fmla="*/ 6 w 361"/>
              <a:gd name="T45" fmla="*/ 171 h 196"/>
              <a:gd name="T46" fmla="*/ 8 w 361"/>
              <a:gd name="T47" fmla="*/ 176 h 196"/>
              <a:gd name="T48" fmla="*/ 11 w 361"/>
              <a:gd name="T49" fmla="*/ 182 h 196"/>
              <a:gd name="T50" fmla="*/ 13 w 361"/>
              <a:gd name="T51" fmla="*/ 187 h 196"/>
              <a:gd name="T52" fmla="*/ 16 w 361"/>
              <a:gd name="T53" fmla="*/ 191 h 196"/>
              <a:gd name="T54" fmla="*/ 18 w 361"/>
              <a:gd name="T55" fmla="*/ 196 h 196"/>
              <a:gd name="T56" fmla="*/ 21 w 361"/>
              <a:gd name="T57" fmla="*/ 194 h 196"/>
              <a:gd name="T58" fmla="*/ 18 w 361"/>
              <a:gd name="T59" fmla="*/ 191 h 196"/>
              <a:gd name="T60" fmla="*/ 16 w 361"/>
              <a:gd name="T61" fmla="*/ 186 h 196"/>
              <a:gd name="T62" fmla="*/ 13 w 361"/>
              <a:gd name="T63" fmla="*/ 181 h 196"/>
              <a:gd name="T64" fmla="*/ 11 w 361"/>
              <a:gd name="T65" fmla="*/ 176 h 196"/>
              <a:gd name="T66" fmla="*/ 10 w 361"/>
              <a:gd name="T67" fmla="*/ 171 h 196"/>
              <a:gd name="T68" fmla="*/ 6 w 361"/>
              <a:gd name="T69" fmla="*/ 164 h 196"/>
              <a:gd name="T70" fmla="*/ 5 w 361"/>
              <a:gd name="T71" fmla="*/ 159 h 196"/>
              <a:gd name="T72" fmla="*/ 3 w 361"/>
              <a:gd name="T73" fmla="*/ 154 h 196"/>
              <a:gd name="T74" fmla="*/ 0 w 361"/>
              <a:gd name="T75" fmla="*/ 156 h 1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61" h="196">
                <a:moveTo>
                  <a:pt x="361" y="43"/>
                </a:moveTo>
                <a:lnTo>
                  <a:pt x="359" y="37"/>
                </a:lnTo>
                <a:lnTo>
                  <a:pt x="356" y="32"/>
                </a:lnTo>
                <a:lnTo>
                  <a:pt x="354" y="27"/>
                </a:lnTo>
                <a:lnTo>
                  <a:pt x="353" y="22"/>
                </a:lnTo>
                <a:lnTo>
                  <a:pt x="349" y="15"/>
                </a:lnTo>
                <a:lnTo>
                  <a:pt x="348" y="10"/>
                </a:lnTo>
                <a:lnTo>
                  <a:pt x="344" y="5"/>
                </a:lnTo>
                <a:lnTo>
                  <a:pt x="341" y="0"/>
                </a:lnTo>
                <a:lnTo>
                  <a:pt x="338" y="2"/>
                </a:lnTo>
                <a:lnTo>
                  <a:pt x="341" y="7"/>
                </a:lnTo>
                <a:lnTo>
                  <a:pt x="344" y="12"/>
                </a:lnTo>
                <a:lnTo>
                  <a:pt x="346" y="17"/>
                </a:lnTo>
                <a:lnTo>
                  <a:pt x="349" y="22"/>
                </a:lnTo>
                <a:lnTo>
                  <a:pt x="351" y="28"/>
                </a:lnTo>
                <a:lnTo>
                  <a:pt x="354" y="33"/>
                </a:lnTo>
                <a:lnTo>
                  <a:pt x="356" y="38"/>
                </a:lnTo>
                <a:lnTo>
                  <a:pt x="358" y="45"/>
                </a:lnTo>
                <a:lnTo>
                  <a:pt x="361" y="43"/>
                </a:lnTo>
                <a:close/>
                <a:moveTo>
                  <a:pt x="0" y="156"/>
                </a:moveTo>
                <a:lnTo>
                  <a:pt x="1" y="161"/>
                </a:lnTo>
                <a:lnTo>
                  <a:pt x="3" y="166"/>
                </a:lnTo>
                <a:lnTo>
                  <a:pt x="6" y="171"/>
                </a:lnTo>
                <a:lnTo>
                  <a:pt x="8" y="176"/>
                </a:lnTo>
                <a:lnTo>
                  <a:pt x="11" y="182"/>
                </a:lnTo>
                <a:lnTo>
                  <a:pt x="13" y="187"/>
                </a:lnTo>
                <a:lnTo>
                  <a:pt x="16" y="191"/>
                </a:lnTo>
                <a:lnTo>
                  <a:pt x="18" y="196"/>
                </a:lnTo>
                <a:lnTo>
                  <a:pt x="21" y="194"/>
                </a:lnTo>
                <a:lnTo>
                  <a:pt x="18" y="191"/>
                </a:lnTo>
                <a:lnTo>
                  <a:pt x="16" y="186"/>
                </a:lnTo>
                <a:lnTo>
                  <a:pt x="13" y="181"/>
                </a:lnTo>
                <a:lnTo>
                  <a:pt x="11" y="176"/>
                </a:lnTo>
                <a:lnTo>
                  <a:pt x="10" y="171"/>
                </a:lnTo>
                <a:lnTo>
                  <a:pt x="6" y="164"/>
                </a:lnTo>
                <a:lnTo>
                  <a:pt x="5" y="159"/>
                </a:lnTo>
                <a:lnTo>
                  <a:pt x="3" y="154"/>
                </a:lnTo>
                <a:lnTo>
                  <a:pt x="0" y="156"/>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94" name="Freeform 2099">
            <a:extLst>
              <a:ext uri="{FF2B5EF4-FFF2-40B4-BE49-F238E27FC236}">
                <a16:creationId xmlns:a16="http://schemas.microsoft.com/office/drawing/2014/main" id="{3C3D527A-A203-B439-C2F9-AA63B69EFE1F}"/>
              </a:ext>
            </a:extLst>
          </p:cNvPr>
          <p:cNvSpPr>
            <a:spLocks noEditPoints="1"/>
          </p:cNvSpPr>
          <p:nvPr/>
        </p:nvSpPr>
        <p:spPr bwMode="auto">
          <a:xfrm>
            <a:off x="3235325" y="2447925"/>
            <a:ext cx="568325" cy="307975"/>
          </a:xfrm>
          <a:custGeom>
            <a:avLst/>
            <a:gdLst>
              <a:gd name="T0" fmla="*/ 358 w 358"/>
              <a:gd name="T1" fmla="*/ 41 h 194"/>
              <a:gd name="T2" fmla="*/ 357 w 358"/>
              <a:gd name="T3" fmla="*/ 36 h 194"/>
              <a:gd name="T4" fmla="*/ 353 w 358"/>
              <a:gd name="T5" fmla="*/ 30 h 194"/>
              <a:gd name="T6" fmla="*/ 352 w 358"/>
              <a:gd name="T7" fmla="*/ 25 h 194"/>
              <a:gd name="T8" fmla="*/ 350 w 358"/>
              <a:gd name="T9" fmla="*/ 20 h 194"/>
              <a:gd name="T10" fmla="*/ 347 w 358"/>
              <a:gd name="T11" fmla="*/ 15 h 194"/>
              <a:gd name="T12" fmla="*/ 345 w 358"/>
              <a:gd name="T13" fmla="*/ 10 h 194"/>
              <a:gd name="T14" fmla="*/ 342 w 358"/>
              <a:gd name="T15" fmla="*/ 5 h 194"/>
              <a:gd name="T16" fmla="*/ 338 w 358"/>
              <a:gd name="T17" fmla="*/ 0 h 194"/>
              <a:gd name="T18" fmla="*/ 335 w 358"/>
              <a:gd name="T19" fmla="*/ 0 h 194"/>
              <a:gd name="T20" fmla="*/ 338 w 358"/>
              <a:gd name="T21" fmla="*/ 5 h 194"/>
              <a:gd name="T22" fmla="*/ 342 w 358"/>
              <a:gd name="T23" fmla="*/ 10 h 194"/>
              <a:gd name="T24" fmla="*/ 343 w 358"/>
              <a:gd name="T25" fmla="*/ 17 h 194"/>
              <a:gd name="T26" fmla="*/ 347 w 358"/>
              <a:gd name="T27" fmla="*/ 22 h 194"/>
              <a:gd name="T28" fmla="*/ 348 w 358"/>
              <a:gd name="T29" fmla="*/ 26 h 194"/>
              <a:gd name="T30" fmla="*/ 352 w 358"/>
              <a:gd name="T31" fmla="*/ 31 h 194"/>
              <a:gd name="T32" fmla="*/ 353 w 358"/>
              <a:gd name="T33" fmla="*/ 38 h 194"/>
              <a:gd name="T34" fmla="*/ 355 w 358"/>
              <a:gd name="T35" fmla="*/ 43 h 194"/>
              <a:gd name="T36" fmla="*/ 358 w 358"/>
              <a:gd name="T37" fmla="*/ 41 h 194"/>
              <a:gd name="T38" fmla="*/ 0 w 358"/>
              <a:gd name="T39" fmla="*/ 152 h 194"/>
              <a:gd name="T40" fmla="*/ 2 w 358"/>
              <a:gd name="T41" fmla="*/ 159 h 194"/>
              <a:gd name="T42" fmla="*/ 4 w 358"/>
              <a:gd name="T43" fmla="*/ 164 h 194"/>
              <a:gd name="T44" fmla="*/ 7 w 358"/>
              <a:gd name="T45" fmla="*/ 169 h 194"/>
              <a:gd name="T46" fmla="*/ 9 w 358"/>
              <a:gd name="T47" fmla="*/ 174 h 194"/>
              <a:gd name="T48" fmla="*/ 10 w 358"/>
              <a:gd name="T49" fmla="*/ 179 h 194"/>
              <a:gd name="T50" fmla="*/ 14 w 358"/>
              <a:gd name="T51" fmla="*/ 184 h 194"/>
              <a:gd name="T52" fmla="*/ 17 w 358"/>
              <a:gd name="T53" fmla="*/ 189 h 194"/>
              <a:gd name="T54" fmla="*/ 19 w 358"/>
              <a:gd name="T55" fmla="*/ 194 h 194"/>
              <a:gd name="T56" fmla="*/ 22 w 358"/>
              <a:gd name="T57" fmla="*/ 192 h 194"/>
              <a:gd name="T58" fmla="*/ 19 w 358"/>
              <a:gd name="T59" fmla="*/ 187 h 194"/>
              <a:gd name="T60" fmla="*/ 17 w 358"/>
              <a:gd name="T61" fmla="*/ 182 h 194"/>
              <a:gd name="T62" fmla="*/ 14 w 358"/>
              <a:gd name="T63" fmla="*/ 177 h 194"/>
              <a:gd name="T64" fmla="*/ 12 w 358"/>
              <a:gd name="T65" fmla="*/ 172 h 194"/>
              <a:gd name="T66" fmla="*/ 9 w 358"/>
              <a:gd name="T67" fmla="*/ 167 h 194"/>
              <a:gd name="T68" fmla="*/ 7 w 358"/>
              <a:gd name="T69" fmla="*/ 162 h 194"/>
              <a:gd name="T70" fmla="*/ 5 w 358"/>
              <a:gd name="T71" fmla="*/ 157 h 194"/>
              <a:gd name="T72" fmla="*/ 4 w 358"/>
              <a:gd name="T73" fmla="*/ 152 h 194"/>
              <a:gd name="T74" fmla="*/ 0 w 358"/>
              <a:gd name="T75" fmla="*/ 152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58" h="194">
                <a:moveTo>
                  <a:pt x="358" y="41"/>
                </a:moveTo>
                <a:lnTo>
                  <a:pt x="357" y="36"/>
                </a:lnTo>
                <a:lnTo>
                  <a:pt x="353" y="30"/>
                </a:lnTo>
                <a:lnTo>
                  <a:pt x="352" y="25"/>
                </a:lnTo>
                <a:lnTo>
                  <a:pt x="350" y="20"/>
                </a:lnTo>
                <a:lnTo>
                  <a:pt x="347" y="15"/>
                </a:lnTo>
                <a:lnTo>
                  <a:pt x="345" y="10"/>
                </a:lnTo>
                <a:lnTo>
                  <a:pt x="342" y="5"/>
                </a:lnTo>
                <a:lnTo>
                  <a:pt x="338" y="0"/>
                </a:lnTo>
                <a:lnTo>
                  <a:pt x="335" y="0"/>
                </a:lnTo>
                <a:lnTo>
                  <a:pt x="338" y="5"/>
                </a:lnTo>
                <a:lnTo>
                  <a:pt x="342" y="10"/>
                </a:lnTo>
                <a:lnTo>
                  <a:pt x="343" y="17"/>
                </a:lnTo>
                <a:lnTo>
                  <a:pt x="347" y="22"/>
                </a:lnTo>
                <a:lnTo>
                  <a:pt x="348" y="26"/>
                </a:lnTo>
                <a:lnTo>
                  <a:pt x="352" y="31"/>
                </a:lnTo>
                <a:lnTo>
                  <a:pt x="353" y="38"/>
                </a:lnTo>
                <a:lnTo>
                  <a:pt x="355" y="43"/>
                </a:lnTo>
                <a:lnTo>
                  <a:pt x="358" y="41"/>
                </a:lnTo>
                <a:close/>
                <a:moveTo>
                  <a:pt x="0" y="152"/>
                </a:moveTo>
                <a:lnTo>
                  <a:pt x="2" y="159"/>
                </a:lnTo>
                <a:lnTo>
                  <a:pt x="4" y="164"/>
                </a:lnTo>
                <a:lnTo>
                  <a:pt x="7" y="169"/>
                </a:lnTo>
                <a:lnTo>
                  <a:pt x="9" y="174"/>
                </a:lnTo>
                <a:lnTo>
                  <a:pt x="10" y="179"/>
                </a:lnTo>
                <a:lnTo>
                  <a:pt x="14" y="184"/>
                </a:lnTo>
                <a:lnTo>
                  <a:pt x="17" y="189"/>
                </a:lnTo>
                <a:lnTo>
                  <a:pt x="19" y="194"/>
                </a:lnTo>
                <a:lnTo>
                  <a:pt x="22" y="192"/>
                </a:lnTo>
                <a:lnTo>
                  <a:pt x="19" y="187"/>
                </a:lnTo>
                <a:lnTo>
                  <a:pt x="17" y="182"/>
                </a:lnTo>
                <a:lnTo>
                  <a:pt x="14" y="177"/>
                </a:lnTo>
                <a:lnTo>
                  <a:pt x="12" y="172"/>
                </a:lnTo>
                <a:lnTo>
                  <a:pt x="9" y="167"/>
                </a:lnTo>
                <a:lnTo>
                  <a:pt x="7" y="162"/>
                </a:lnTo>
                <a:lnTo>
                  <a:pt x="5" y="157"/>
                </a:lnTo>
                <a:lnTo>
                  <a:pt x="4" y="152"/>
                </a:lnTo>
                <a:lnTo>
                  <a:pt x="0" y="152"/>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95" name="Freeform 2100">
            <a:extLst>
              <a:ext uri="{FF2B5EF4-FFF2-40B4-BE49-F238E27FC236}">
                <a16:creationId xmlns:a16="http://schemas.microsoft.com/office/drawing/2014/main" id="{29C72DB4-4DB7-7F87-8820-92E6FC148763}"/>
              </a:ext>
            </a:extLst>
          </p:cNvPr>
          <p:cNvSpPr>
            <a:spLocks noEditPoints="1"/>
          </p:cNvSpPr>
          <p:nvPr/>
        </p:nvSpPr>
        <p:spPr bwMode="auto">
          <a:xfrm>
            <a:off x="3238500" y="2447925"/>
            <a:ext cx="563563" cy="304800"/>
          </a:xfrm>
          <a:custGeom>
            <a:avLst/>
            <a:gdLst>
              <a:gd name="T0" fmla="*/ 355 w 355"/>
              <a:gd name="T1" fmla="*/ 43 h 192"/>
              <a:gd name="T2" fmla="*/ 353 w 355"/>
              <a:gd name="T3" fmla="*/ 36 h 192"/>
              <a:gd name="T4" fmla="*/ 351 w 355"/>
              <a:gd name="T5" fmla="*/ 31 h 192"/>
              <a:gd name="T6" fmla="*/ 348 w 355"/>
              <a:gd name="T7" fmla="*/ 26 h 192"/>
              <a:gd name="T8" fmla="*/ 346 w 355"/>
              <a:gd name="T9" fmla="*/ 20 h 192"/>
              <a:gd name="T10" fmla="*/ 343 w 355"/>
              <a:gd name="T11" fmla="*/ 15 h 192"/>
              <a:gd name="T12" fmla="*/ 341 w 355"/>
              <a:gd name="T13" fmla="*/ 10 h 192"/>
              <a:gd name="T14" fmla="*/ 338 w 355"/>
              <a:gd name="T15" fmla="*/ 5 h 192"/>
              <a:gd name="T16" fmla="*/ 335 w 355"/>
              <a:gd name="T17" fmla="*/ 0 h 192"/>
              <a:gd name="T18" fmla="*/ 333 w 355"/>
              <a:gd name="T19" fmla="*/ 2 h 192"/>
              <a:gd name="T20" fmla="*/ 335 w 355"/>
              <a:gd name="T21" fmla="*/ 7 h 192"/>
              <a:gd name="T22" fmla="*/ 338 w 355"/>
              <a:gd name="T23" fmla="*/ 12 h 192"/>
              <a:gd name="T24" fmla="*/ 341 w 355"/>
              <a:gd name="T25" fmla="*/ 17 h 192"/>
              <a:gd name="T26" fmla="*/ 343 w 355"/>
              <a:gd name="T27" fmla="*/ 22 h 192"/>
              <a:gd name="T28" fmla="*/ 345 w 355"/>
              <a:gd name="T29" fmla="*/ 26 h 192"/>
              <a:gd name="T30" fmla="*/ 348 w 355"/>
              <a:gd name="T31" fmla="*/ 33 h 192"/>
              <a:gd name="T32" fmla="*/ 350 w 355"/>
              <a:gd name="T33" fmla="*/ 38 h 192"/>
              <a:gd name="T34" fmla="*/ 351 w 355"/>
              <a:gd name="T35" fmla="*/ 43 h 192"/>
              <a:gd name="T36" fmla="*/ 355 w 355"/>
              <a:gd name="T37" fmla="*/ 43 h 192"/>
              <a:gd name="T38" fmla="*/ 0 w 355"/>
              <a:gd name="T39" fmla="*/ 152 h 192"/>
              <a:gd name="T40" fmla="*/ 2 w 355"/>
              <a:gd name="T41" fmla="*/ 157 h 192"/>
              <a:gd name="T42" fmla="*/ 3 w 355"/>
              <a:gd name="T43" fmla="*/ 162 h 192"/>
              <a:gd name="T44" fmla="*/ 7 w 355"/>
              <a:gd name="T45" fmla="*/ 169 h 192"/>
              <a:gd name="T46" fmla="*/ 8 w 355"/>
              <a:gd name="T47" fmla="*/ 174 h 192"/>
              <a:gd name="T48" fmla="*/ 10 w 355"/>
              <a:gd name="T49" fmla="*/ 179 h 192"/>
              <a:gd name="T50" fmla="*/ 13 w 355"/>
              <a:gd name="T51" fmla="*/ 184 h 192"/>
              <a:gd name="T52" fmla="*/ 15 w 355"/>
              <a:gd name="T53" fmla="*/ 189 h 192"/>
              <a:gd name="T54" fmla="*/ 18 w 355"/>
              <a:gd name="T55" fmla="*/ 192 h 192"/>
              <a:gd name="T56" fmla="*/ 22 w 355"/>
              <a:gd name="T57" fmla="*/ 192 h 192"/>
              <a:gd name="T58" fmla="*/ 18 w 355"/>
              <a:gd name="T59" fmla="*/ 187 h 192"/>
              <a:gd name="T60" fmla="*/ 17 w 355"/>
              <a:gd name="T61" fmla="*/ 182 h 192"/>
              <a:gd name="T62" fmla="*/ 13 w 355"/>
              <a:gd name="T63" fmla="*/ 177 h 192"/>
              <a:gd name="T64" fmla="*/ 12 w 355"/>
              <a:gd name="T65" fmla="*/ 172 h 192"/>
              <a:gd name="T66" fmla="*/ 8 w 355"/>
              <a:gd name="T67" fmla="*/ 167 h 192"/>
              <a:gd name="T68" fmla="*/ 7 w 355"/>
              <a:gd name="T69" fmla="*/ 162 h 192"/>
              <a:gd name="T70" fmla="*/ 5 w 355"/>
              <a:gd name="T71" fmla="*/ 156 h 192"/>
              <a:gd name="T72" fmla="*/ 3 w 355"/>
              <a:gd name="T73" fmla="*/ 151 h 192"/>
              <a:gd name="T74" fmla="*/ 0 w 355"/>
              <a:gd name="T75" fmla="*/ 152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55" h="192">
                <a:moveTo>
                  <a:pt x="355" y="43"/>
                </a:moveTo>
                <a:lnTo>
                  <a:pt x="353" y="36"/>
                </a:lnTo>
                <a:lnTo>
                  <a:pt x="351" y="31"/>
                </a:lnTo>
                <a:lnTo>
                  <a:pt x="348" y="26"/>
                </a:lnTo>
                <a:lnTo>
                  <a:pt x="346" y="20"/>
                </a:lnTo>
                <a:lnTo>
                  <a:pt x="343" y="15"/>
                </a:lnTo>
                <a:lnTo>
                  <a:pt x="341" y="10"/>
                </a:lnTo>
                <a:lnTo>
                  <a:pt x="338" y="5"/>
                </a:lnTo>
                <a:lnTo>
                  <a:pt x="335" y="0"/>
                </a:lnTo>
                <a:lnTo>
                  <a:pt x="333" y="2"/>
                </a:lnTo>
                <a:lnTo>
                  <a:pt x="335" y="7"/>
                </a:lnTo>
                <a:lnTo>
                  <a:pt x="338" y="12"/>
                </a:lnTo>
                <a:lnTo>
                  <a:pt x="341" y="17"/>
                </a:lnTo>
                <a:lnTo>
                  <a:pt x="343" y="22"/>
                </a:lnTo>
                <a:lnTo>
                  <a:pt x="345" y="26"/>
                </a:lnTo>
                <a:lnTo>
                  <a:pt x="348" y="33"/>
                </a:lnTo>
                <a:lnTo>
                  <a:pt x="350" y="38"/>
                </a:lnTo>
                <a:lnTo>
                  <a:pt x="351" y="43"/>
                </a:lnTo>
                <a:lnTo>
                  <a:pt x="355" y="43"/>
                </a:lnTo>
                <a:close/>
                <a:moveTo>
                  <a:pt x="0" y="152"/>
                </a:moveTo>
                <a:lnTo>
                  <a:pt x="2" y="157"/>
                </a:lnTo>
                <a:lnTo>
                  <a:pt x="3" y="162"/>
                </a:lnTo>
                <a:lnTo>
                  <a:pt x="7" y="169"/>
                </a:lnTo>
                <a:lnTo>
                  <a:pt x="8" y="174"/>
                </a:lnTo>
                <a:lnTo>
                  <a:pt x="10" y="179"/>
                </a:lnTo>
                <a:lnTo>
                  <a:pt x="13" y="184"/>
                </a:lnTo>
                <a:lnTo>
                  <a:pt x="15" y="189"/>
                </a:lnTo>
                <a:lnTo>
                  <a:pt x="18" y="192"/>
                </a:lnTo>
                <a:lnTo>
                  <a:pt x="22" y="192"/>
                </a:lnTo>
                <a:lnTo>
                  <a:pt x="18" y="187"/>
                </a:lnTo>
                <a:lnTo>
                  <a:pt x="17" y="182"/>
                </a:lnTo>
                <a:lnTo>
                  <a:pt x="13" y="177"/>
                </a:lnTo>
                <a:lnTo>
                  <a:pt x="12" y="172"/>
                </a:lnTo>
                <a:lnTo>
                  <a:pt x="8" y="167"/>
                </a:lnTo>
                <a:lnTo>
                  <a:pt x="7" y="162"/>
                </a:lnTo>
                <a:lnTo>
                  <a:pt x="5" y="156"/>
                </a:lnTo>
                <a:lnTo>
                  <a:pt x="3" y="151"/>
                </a:lnTo>
                <a:lnTo>
                  <a:pt x="0" y="152"/>
                </a:lnTo>
                <a:close/>
              </a:path>
            </a:pathLst>
          </a:custGeom>
          <a:solidFill>
            <a:srgbClr val="92CE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96" name="Freeform 2101">
            <a:extLst>
              <a:ext uri="{FF2B5EF4-FFF2-40B4-BE49-F238E27FC236}">
                <a16:creationId xmlns:a16="http://schemas.microsoft.com/office/drawing/2014/main" id="{C5AB8ECA-C80B-0957-6374-6984FEAC8F3B}"/>
              </a:ext>
            </a:extLst>
          </p:cNvPr>
          <p:cNvSpPr>
            <a:spLocks noEditPoints="1"/>
          </p:cNvSpPr>
          <p:nvPr/>
        </p:nvSpPr>
        <p:spPr bwMode="auto">
          <a:xfrm>
            <a:off x="3241675" y="2447925"/>
            <a:ext cx="557213" cy="304800"/>
          </a:xfrm>
          <a:custGeom>
            <a:avLst/>
            <a:gdLst>
              <a:gd name="T0" fmla="*/ 351 w 351"/>
              <a:gd name="T1" fmla="*/ 43 h 192"/>
              <a:gd name="T2" fmla="*/ 349 w 351"/>
              <a:gd name="T3" fmla="*/ 38 h 192"/>
              <a:gd name="T4" fmla="*/ 348 w 351"/>
              <a:gd name="T5" fmla="*/ 31 h 192"/>
              <a:gd name="T6" fmla="*/ 344 w 351"/>
              <a:gd name="T7" fmla="*/ 26 h 192"/>
              <a:gd name="T8" fmla="*/ 343 w 351"/>
              <a:gd name="T9" fmla="*/ 22 h 192"/>
              <a:gd name="T10" fmla="*/ 339 w 351"/>
              <a:gd name="T11" fmla="*/ 17 h 192"/>
              <a:gd name="T12" fmla="*/ 338 w 351"/>
              <a:gd name="T13" fmla="*/ 10 h 192"/>
              <a:gd name="T14" fmla="*/ 334 w 351"/>
              <a:gd name="T15" fmla="*/ 5 h 192"/>
              <a:gd name="T16" fmla="*/ 331 w 351"/>
              <a:gd name="T17" fmla="*/ 0 h 192"/>
              <a:gd name="T18" fmla="*/ 329 w 351"/>
              <a:gd name="T19" fmla="*/ 2 h 192"/>
              <a:gd name="T20" fmla="*/ 331 w 351"/>
              <a:gd name="T21" fmla="*/ 7 h 192"/>
              <a:gd name="T22" fmla="*/ 334 w 351"/>
              <a:gd name="T23" fmla="*/ 12 h 192"/>
              <a:gd name="T24" fmla="*/ 338 w 351"/>
              <a:gd name="T25" fmla="*/ 17 h 192"/>
              <a:gd name="T26" fmla="*/ 339 w 351"/>
              <a:gd name="T27" fmla="*/ 23 h 192"/>
              <a:gd name="T28" fmla="*/ 341 w 351"/>
              <a:gd name="T29" fmla="*/ 28 h 192"/>
              <a:gd name="T30" fmla="*/ 344 w 351"/>
              <a:gd name="T31" fmla="*/ 33 h 192"/>
              <a:gd name="T32" fmla="*/ 346 w 351"/>
              <a:gd name="T33" fmla="*/ 38 h 192"/>
              <a:gd name="T34" fmla="*/ 348 w 351"/>
              <a:gd name="T35" fmla="*/ 45 h 192"/>
              <a:gd name="T36" fmla="*/ 351 w 351"/>
              <a:gd name="T37" fmla="*/ 43 h 192"/>
              <a:gd name="T38" fmla="*/ 0 w 351"/>
              <a:gd name="T39" fmla="*/ 152 h 192"/>
              <a:gd name="T40" fmla="*/ 1 w 351"/>
              <a:gd name="T41" fmla="*/ 157 h 192"/>
              <a:gd name="T42" fmla="*/ 3 w 351"/>
              <a:gd name="T43" fmla="*/ 162 h 192"/>
              <a:gd name="T44" fmla="*/ 5 w 351"/>
              <a:gd name="T45" fmla="*/ 167 h 192"/>
              <a:gd name="T46" fmla="*/ 8 w 351"/>
              <a:gd name="T47" fmla="*/ 172 h 192"/>
              <a:gd name="T48" fmla="*/ 10 w 351"/>
              <a:gd name="T49" fmla="*/ 177 h 192"/>
              <a:gd name="T50" fmla="*/ 13 w 351"/>
              <a:gd name="T51" fmla="*/ 182 h 192"/>
              <a:gd name="T52" fmla="*/ 15 w 351"/>
              <a:gd name="T53" fmla="*/ 187 h 192"/>
              <a:gd name="T54" fmla="*/ 18 w 351"/>
              <a:gd name="T55" fmla="*/ 192 h 192"/>
              <a:gd name="T56" fmla="*/ 21 w 351"/>
              <a:gd name="T57" fmla="*/ 190 h 192"/>
              <a:gd name="T58" fmla="*/ 18 w 351"/>
              <a:gd name="T59" fmla="*/ 185 h 192"/>
              <a:gd name="T60" fmla="*/ 16 w 351"/>
              <a:gd name="T61" fmla="*/ 180 h 192"/>
              <a:gd name="T62" fmla="*/ 13 w 351"/>
              <a:gd name="T63" fmla="*/ 175 h 192"/>
              <a:gd name="T64" fmla="*/ 11 w 351"/>
              <a:gd name="T65" fmla="*/ 171 h 192"/>
              <a:gd name="T66" fmla="*/ 8 w 351"/>
              <a:gd name="T67" fmla="*/ 166 h 192"/>
              <a:gd name="T68" fmla="*/ 6 w 351"/>
              <a:gd name="T69" fmla="*/ 161 h 192"/>
              <a:gd name="T70" fmla="*/ 5 w 351"/>
              <a:gd name="T71" fmla="*/ 156 h 192"/>
              <a:gd name="T72" fmla="*/ 3 w 351"/>
              <a:gd name="T73" fmla="*/ 151 h 192"/>
              <a:gd name="T74" fmla="*/ 0 w 351"/>
              <a:gd name="T75" fmla="*/ 152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51" h="192">
                <a:moveTo>
                  <a:pt x="351" y="43"/>
                </a:moveTo>
                <a:lnTo>
                  <a:pt x="349" y="38"/>
                </a:lnTo>
                <a:lnTo>
                  <a:pt x="348" y="31"/>
                </a:lnTo>
                <a:lnTo>
                  <a:pt x="344" y="26"/>
                </a:lnTo>
                <a:lnTo>
                  <a:pt x="343" y="22"/>
                </a:lnTo>
                <a:lnTo>
                  <a:pt x="339" y="17"/>
                </a:lnTo>
                <a:lnTo>
                  <a:pt x="338" y="10"/>
                </a:lnTo>
                <a:lnTo>
                  <a:pt x="334" y="5"/>
                </a:lnTo>
                <a:lnTo>
                  <a:pt x="331" y="0"/>
                </a:lnTo>
                <a:lnTo>
                  <a:pt x="329" y="2"/>
                </a:lnTo>
                <a:lnTo>
                  <a:pt x="331" y="7"/>
                </a:lnTo>
                <a:lnTo>
                  <a:pt x="334" y="12"/>
                </a:lnTo>
                <a:lnTo>
                  <a:pt x="338" y="17"/>
                </a:lnTo>
                <a:lnTo>
                  <a:pt x="339" y="23"/>
                </a:lnTo>
                <a:lnTo>
                  <a:pt x="341" y="28"/>
                </a:lnTo>
                <a:lnTo>
                  <a:pt x="344" y="33"/>
                </a:lnTo>
                <a:lnTo>
                  <a:pt x="346" y="38"/>
                </a:lnTo>
                <a:lnTo>
                  <a:pt x="348" y="45"/>
                </a:lnTo>
                <a:lnTo>
                  <a:pt x="351" y="43"/>
                </a:lnTo>
                <a:close/>
                <a:moveTo>
                  <a:pt x="0" y="152"/>
                </a:moveTo>
                <a:lnTo>
                  <a:pt x="1" y="157"/>
                </a:lnTo>
                <a:lnTo>
                  <a:pt x="3" y="162"/>
                </a:lnTo>
                <a:lnTo>
                  <a:pt x="5" y="167"/>
                </a:lnTo>
                <a:lnTo>
                  <a:pt x="8" y="172"/>
                </a:lnTo>
                <a:lnTo>
                  <a:pt x="10" y="177"/>
                </a:lnTo>
                <a:lnTo>
                  <a:pt x="13" y="182"/>
                </a:lnTo>
                <a:lnTo>
                  <a:pt x="15" y="187"/>
                </a:lnTo>
                <a:lnTo>
                  <a:pt x="18" y="192"/>
                </a:lnTo>
                <a:lnTo>
                  <a:pt x="21" y="190"/>
                </a:lnTo>
                <a:lnTo>
                  <a:pt x="18" y="185"/>
                </a:lnTo>
                <a:lnTo>
                  <a:pt x="16" y="180"/>
                </a:lnTo>
                <a:lnTo>
                  <a:pt x="13" y="175"/>
                </a:lnTo>
                <a:lnTo>
                  <a:pt x="11" y="171"/>
                </a:lnTo>
                <a:lnTo>
                  <a:pt x="8" y="166"/>
                </a:lnTo>
                <a:lnTo>
                  <a:pt x="6" y="161"/>
                </a:lnTo>
                <a:lnTo>
                  <a:pt x="5" y="156"/>
                </a:lnTo>
                <a:lnTo>
                  <a:pt x="3" y="151"/>
                </a:lnTo>
                <a:lnTo>
                  <a:pt x="0" y="152"/>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97" name="Freeform 2102">
            <a:extLst>
              <a:ext uri="{FF2B5EF4-FFF2-40B4-BE49-F238E27FC236}">
                <a16:creationId xmlns:a16="http://schemas.microsoft.com/office/drawing/2014/main" id="{514CAB4B-42AD-6E78-B260-53A849746AA7}"/>
              </a:ext>
            </a:extLst>
          </p:cNvPr>
          <p:cNvSpPr>
            <a:spLocks noEditPoints="1"/>
          </p:cNvSpPr>
          <p:nvPr/>
        </p:nvSpPr>
        <p:spPr bwMode="auto">
          <a:xfrm>
            <a:off x="3243263" y="2451100"/>
            <a:ext cx="552450" cy="301625"/>
          </a:xfrm>
          <a:custGeom>
            <a:avLst/>
            <a:gdLst>
              <a:gd name="T0" fmla="*/ 348 w 348"/>
              <a:gd name="T1" fmla="*/ 41 h 190"/>
              <a:gd name="T2" fmla="*/ 347 w 348"/>
              <a:gd name="T3" fmla="*/ 36 h 190"/>
              <a:gd name="T4" fmla="*/ 345 w 348"/>
              <a:gd name="T5" fmla="*/ 31 h 190"/>
              <a:gd name="T6" fmla="*/ 342 w 348"/>
              <a:gd name="T7" fmla="*/ 24 h 190"/>
              <a:gd name="T8" fmla="*/ 340 w 348"/>
              <a:gd name="T9" fmla="*/ 20 h 190"/>
              <a:gd name="T10" fmla="*/ 338 w 348"/>
              <a:gd name="T11" fmla="*/ 15 h 190"/>
              <a:gd name="T12" fmla="*/ 335 w 348"/>
              <a:gd name="T13" fmla="*/ 10 h 190"/>
              <a:gd name="T14" fmla="*/ 332 w 348"/>
              <a:gd name="T15" fmla="*/ 5 h 190"/>
              <a:gd name="T16" fmla="*/ 330 w 348"/>
              <a:gd name="T17" fmla="*/ 0 h 190"/>
              <a:gd name="T18" fmla="*/ 327 w 348"/>
              <a:gd name="T19" fmla="*/ 1 h 190"/>
              <a:gd name="T20" fmla="*/ 328 w 348"/>
              <a:gd name="T21" fmla="*/ 6 h 190"/>
              <a:gd name="T22" fmla="*/ 332 w 348"/>
              <a:gd name="T23" fmla="*/ 11 h 190"/>
              <a:gd name="T24" fmla="*/ 335 w 348"/>
              <a:gd name="T25" fmla="*/ 16 h 190"/>
              <a:gd name="T26" fmla="*/ 337 w 348"/>
              <a:gd name="T27" fmla="*/ 21 h 190"/>
              <a:gd name="T28" fmla="*/ 340 w 348"/>
              <a:gd name="T29" fmla="*/ 26 h 190"/>
              <a:gd name="T30" fmla="*/ 342 w 348"/>
              <a:gd name="T31" fmla="*/ 33 h 190"/>
              <a:gd name="T32" fmla="*/ 343 w 348"/>
              <a:gd name="T33" fmla="*/ 38 h 190"/>
              <a:gd name="T34" fmla="*/ 345 w 348"/>
              <a:gd name="T35" fmla="*/ 43 h 190"/>
              <a:gd name="T36" fmla="*/ 348 w 348"/>
              <a:gd name="T37" fmla="*/ 41 h 190"/>
              <a:gd name="T38" fmla="*/ 0 w 348"/>
              <a:gd name="T39" fmla="*/ 149 h 190"/>
              <a:gd name="T40" fmla="*/ 2 w 348"/>
              <a:gd name="T41" fmla="*/ 154 h 190"/>
              <a:gd name="T42" fmla="*/ 4 w 348"/>
              <a:gd name="T43" fmla="*/ 160 h 190"/>
              <a:gd name="T44" fmla="*/ 5 w 348"/>
              <a:gd name="T45" fmla="*/ 165 h 190"/>
              <a:gd name="T46" fmla="*/ 9 w 348"/>
              <a:gd name="T47" fmla="*/ 170 h 190"/>
              <a:gd name="T48" fmla="*/ 10 w 348"/>
              <a:gd name="T49" fmla="*/ 175 h 190"/>
              <a:gd name="T50" fmla="*/ 14 w 348"/>
              <a:gd name="T51" fmla="*/ 180 h 190"/>
              <a:gd name="T52" fmla="*/ 15 w 348"/>
              <a:gd name="T53" fmla="*/ 185 h 190"/>
              <a:gd name="T54" fmla="*/ 19 w 348"/>
              <a:gd name="T55" fmla="*/ 190 h 190"/>
              <a:gd name="T56" fmla="*/ 22 w 348"/>
              <a:gd name="T57" fmla="*/ 188 h 190"/>
              <a:gd name="T58" fmla="*/ 19 w 348"/>
              <a:gd name="T59" fmla="*/ 183 h 190"/>
              <a:gd name="T60" fmla="*/ 17 w 348"/>
              <a:gd name="T61" fmla="*/ 178 h 190"/>
              <a:gd name="T62" fmla="*/ 14 w 348"/>
              <a:gd name="T63" fmla="*/ 173 h 190"/>
              <a:gd name="T64" fmla="*/ 12 w 348"/>
              <a:gd name="T65" fmla="*/ 169 h 190"/>
              <a:gd name="T66" fmla="*/ 9 w 348"/>
              <a:gd name="T67" fmla="*/ 164 h 190"/>
              <a:gd name="T68" fmla="*/ 7 w 348"/>
              <a:gd name="T69" fmla="*/ 159 h 190"/>
              <a:gd name="T70" fmla="*/ 5 w 348"/>
              <a:gd name="T71" fmla="*/ 154 h 190"/>
              <a:gd name="T72" fmla="*/ 4 w 348"/>
              <a:gd name="T73" fmla="*/ 147 h 190"/>
              <a:gd name="T74" fmla="*/ 0 w 348"/>
              <a:gd name="T75"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48" h="190">
                <a:moveTo>
                  <a:pt x="348" y="41"/>
                </a:moveTo>
                <a:lnTo>
                  <a:pt x="347" y="36"/>
                </a:lnTo>
                <a:lnTo>
                  <a:pt x="345" y="31"/>
                </a:lnTo>
                <a:lnTo>
                  <a:pt x="342" y="24"/>
                </a:lnTo>
                <a:lnTo>
                  <a:pt x="340" y="20"/>
                </a:lnTo>
                <a:lnTo>
                  <a:pt x="338" y="15"/>
                </a:lnTo>
                <a:lnTo>
                  <a:pt x="335" y="10"/>
                </a:lnTo>
                <a:lnTo>
                  <a:pt x="332" y="5"/>
                </a:lnTo>
                <a:lnTo>
                  <a:pt x="330" y="0"/>
                </a:lnTo>
                <a:lnTo>
                  <a:pt x="327" y="1"/>
                </a:lnTo>
                <a:lnTo>
                  <a:pt x="328" y="6"/>
                </a:lnTo>
                <a:lnTo>
                  <a:pt x="332" y="11"/>
                </a:lnTo>
                <a:lnTo>
                  <a:pt x="335" y="16"/>
                </a:lnTo>
                <a:lnTo>
                  <a:pt x="337" y="21"/>
                </a:lnTo>
                <a:lnTo>
                  <a:pt x="340" y="26"/>
                </a:lnTo>
                <a:lnTo>
                  <a:pt x="342" y="33"/>
                </a:lnTo>
                <a:lnTo>
                  <a:pt x="343" y="38"/>
                </a:lnTo>
                <a:lnTo>
                  <a:pt x="345" y="43"/>
                </a:lnTo>
                <a:lnTo>
                  <a:pt x="348" y="41"/>
                </a:lnTo>
                <a:close/>
                <a:moveTo>
                  <a:pt x="0" y="149"/>
                </a:moveTo>
                <a:lnTo>
                  <a:pt x="2" y="154"/>
                </a:lnTo>
                <a:lnTo>
                  <a:pt x="4" y="160"/>
                </a:lnTo>
                <a:lnTo>
                  <a:pt x="5" y="165"/>
                </a:lnTo>
                <a:lnTo>
                  <a:pt x="9" y="170"/>
                </a:lnTo>
                <a:lnTo>
                  <a:pt x="10" y="175"/>
                </a:lnTo>
                <a:lnTo>
                  <a:pt x="14" y="180"/>
                </a:lnTo>
                <a:lnTo>
                  <a:pt x="15" y="185"/>
                </a:lnTo>
                <a:lnTo>
                  <a:pt x="19" y="190"/>
                </a:lnTo>
                <a:lnTo>
                  <a:pt x="22" y="188"/>
                </a:lnTo>
                <a:lnTo>
                  <a:pt x="19" y="183"/>
                </a:lnTo>
                <a:lnTo>
                  <a:pt x="17" y="178"/>
                </a:lnTo>
                <a:lnTo>
                  <a:pt x="14" y="173"/>
                </a:lnTo>
                <a:lnTo>
                  <a:pt x="12" y="169"/>
                </a:lnTo>
                <a:lnTo>
                  <a:pt x="9" y="164"/>
                </a:lnTo>
                <a:lnTo>
                  <a:pt x="7" y="159"/>
                </a:lnTo>
                <a:lnTo>
                  <a:pt x="5" y="154"/>
                </a:lnTo>
                <a:lnTo>
                  <a:pt x="4" y="147"/>
                </a:lnTo>
                <a:lnTo>
                  <a:pt x="0" y="149"/>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98" name="Freeform 2103">
            <a:extLst>
              <a:ext uri="{FF2B5EF4-FFF2-40B4-BE49-F238E27FC236}">
                <a16:creationId xmlns:a16="http://schemas.microsoft.com/office/drawing/2014/main" id="{9591E7D7-66E5-B26B-F9C8-6AA34D2138F2}"/>
              </a:ext>
            </a:extLst>
          </p:cNvPr>
          <p:cNvSpPr>
            <a:spLocks noEditPoints="1"/>
          </p:cNvSpPr>
          <p:nvPr/>
        </p:nvSpPr>
        <p:spPr bwMode="auto">
          <a:xfrm>
            <a:off x="3246438" y="2451100"/>
            <a:ext cx="547688" cy="298450"/>
          </a:xfrm>
          <a:custGeom>
            <a:avLst/>
            <a:gdLst>
              <a:gd name="T0" fmla="*/ 345 w 345"/>
              <a:gd name="T1" fmla="*/ 43 h 188"/>
              <a:gd name="T2" fmla="*/ 343 w 345"/>
              <a:gd name="T3" fmla="*/ 36 h 188"/>
              <a:gd name="T4" fmla="*/ 341 w 345"/>
              <a:gd name="T5" fmla="*/ 31 h 188"/>
              <a:gd name="T6" fmla="*/ 340 w 345"/>
              <a:gd name="T7" fmla="*/ 26 h 188"/>
              <a:gd name="T8" fmla="*/ 336 w 345"/>
              <a:gd name="T9" fmla="*/ 21 h 188"/>
              <a:gd name="T10" fmla="*/ 335 w 345"/>
              <a:gd name="T11" fmla="*/ 15 h 188"/>
              <a:gd name="T12" fmla="*/ 331 w 345"/>
              <a:gd name="T13" fmla="*/ 10 h 188"/>
              <a:gd name="T14" fmla="*/ 328 w 345"/>
              <a:gd name="T15" fmla="*/ 5 h 188"/>
              <a:gd name="T16" fmla="*/ 326 w 345"/>
              <a:gd name="T17" fmla="*/ 0 h 188"/>
              <a:gd name="T18" fmla="*/ 323 w 345"/>
              <a:gd name="T19" fmla="*/ 1 h 188"/>
              <a:gd name="T20" fmla="*/ 326 w 345"/>
              <a:gd name="T21" fmla="*/ 6 h 188"/>
              <a:gd name="T22" fmla="*/ 328 w 345"/>
              <a:gd name="T23" fmla="*/ 11 h 188"/>
              <a:gd name="T24" fmla="*/ 331 w 345"/>
              <a:gd name="T25" fmla="*/ 16 h 188"/>
              <a:gd name="T26" fmla="*/ 333 w 345"/>
              <a:gd name="T27" fmla="*/ 21 h 188"/>
              <a:gd name="T28" fmla="*/ 336 w 345"/>
              <a:gd name="T29" fmla="*/ 28 h 188"/>
              <a:gd name="T30" fmla="*/ 338 w 345"/>
              <a:gd name="T31" fmla="*/ 33 h 188"/>
              <a:gd name="T32" fmla="*/ 340 w 345"/>
              <a:gd name="T33" fmla="*/ 38 h 188"/>
              <a:gd name="T34" fmla="*/ 341 w 345"/>
              <a:gd name="T35" fmla="*/ 44 h 188"/>
              <a:gd name="T36" fmla="*/ 345 w 345"/>
              <a:gd name="T37" fmla="*/ 43 h 188"/>
              <a:gd name="T38" fmla="*/ 0 w 345"/>
              <a:gd name="T39" fmla="*/ 149 h 188"/>
              <a:gd name="T40" fmla="*/ 2 w 345"/>
              <a:gd name="T41" fmla="*/ 154 h 188"/>
              <a:gd name="T42" fmla="*/ 3 w 345"/>
              <a:gd name="T43" fmla="*/ 159 h 188"/>
              <a:gd name="T44" fmla="*/ 5 w 345"/>
              <a:gd name="T45" fmla="*/ 164 h 188"/>
              <a:gd name="T46" fmla="*/ 8 w 345"/>
              <a:gd name="T47" fmla="*/ 169 h 188"/>
              <a:gd name="T48" fmla="*/ 10 w 345"/>
              <a:gd name="T49" fmla="*/ 173 h 188"/>
              <a:gd name="T50" fmla="*/ 13 w 345"/>
              <a:gd name="T51" fmla="*/ 178 h 188"/>
              <a:gd name="T52" fmla="*/ 15 w 345"/>
              <a:gd name="T53" fmla="*/ 183 h 188"/>
              <a:gd name="T54" fmla="*/ 18 w 345"/>
              <a:gd name="T55" fmla="*/ 188 h 188"/>
              <a:gd name="T56" fmla="*/ 22 w 345"/>
              <a:gd name="T57" fmla="*/ 187 h 188"/>
              <a:gd name="T58" fmla="*/ 18 w 345"/>
              <a:gd name="T59" fmla="*/ 183 h 188"/>
              <a:gd name="T60" fmla="*/ 15 w 345"/>
              <a:gd name="T61" fmla="*/ 178 h 188"/>
              <a:gd name="T62" fmla="*/ 13 w 345"/>
              <a:gd name="T63" fmla="*/ 173 h 188"/>
              <a:gd name="T64" fmla="*/ 10 w 345"/>
              <a:gd name="T65" fmla="*/ 169 h 188"/>
              <a:gd name="T66" fmla="*/ 8 w 345"/>
              <a:gd name="T67" fmla="*/ 164 h 188"/>
              <a:gd name="T68" fmla="*/ 7 w 345"/>
              <a:gd name="T69" fmla="*/ 157 h 188"/>
              <a:gd name="T70" fmla="*/ 5 w 345"/>
              <a:gd name="T71" fmla="*/ 152 h 188"/>
              <a:gd name="T72" fmla="*/ 3 w 345"/>
              <a:gd name="T73" fmla="*/ 147 h 188"/>
              <a:gd name="T74" fmla="*/ 0 w 345"/>
              <a:gd name="T75" fmla="*/ 149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45" h="188">
                <a:moveTo>
                  <a:pt x="345" y="43"/>
                </a:moveTo>
                <a:lnTo>
                  <a:pt x="343" y="36"/>
                </a:lnTo>
                <a:lnTo>
                  <a:pt x="341" y="31"/>
                </a:lnTo>
                <a:lnTo>
                  <a:pt x="340" y="26"/>
                </a:lnTo>
                <a:lnTo>
                  <a:pt x="336" y="21"/>
                </a:lnTo>
                <a:lnTo>
                  <a:pt x="335" y="15"/>
                </a:lnTo>
                <a:lnTo>
                  <a:pt x="331" y="10"/>
                </a:lnTo>
                <a:lnTo>
                  <a:pt x="328" y="5"/>
                </a:lnTo>
                <a:lnTo>
                  <a:pt x="326" y="0"/>
                </a:lnTo>
                <a:lnTo>
                  <a:pt x="323" y="1"/>
                </a:lnTo>
                <a:lnTo>
                  <a:pt x="326" y="6"/>
                </a:lnTo>
                <a:lnTo>
                  <a:pt x="328" y="11"/>
                </a:lnTo>
                <a:lnTo>
                  <a:pt x="331" y="16"/>
                </a:lnTo>
                <a:lnTo>
                  <a:pt x="333" y="21"/>
                </a:lnTo>
                <a:lnTo>
                  <a:pt x="336" y="28"/>
                </a:lnTo>
                <a:lnTo>
                  <a:pt x="338" y="33"/>
                </a:lnTo>
                <a:lnTo>
                  <a:pt x="340" y="38"/>
                </a:lnTo>
                <a:lnTo>
                  <a:pt x="341" y="44"/>
                </a:lnTo>
                <a:lnTo>
                  <a:pt x="345" y="43"/>
                </a:lnTo>
                <a:close/>
                <a:moveTo>
                  <a:pt x="0" y="149"/>
                </a:moveTo>
                <a:lnTo>
                  <a:pt x="2" y="154"/>
                </a:lnTo>
                <a:lnTo>
                  <a:pt x="3" y="159"/>
                </a:lnTo>
                <a:lnTo>
                  <a:pt x="5" y="164"/>
                </a:lnTo>
                <a:lnTo>
                  <a:pt x="8" y="169"/>
                </a:lnTo>
                <a:lnTo>
                  <a:pt x="10" y="173"/>
                </a:lnTo>
                <a:lnTo>
                  <a:pt x="13" y="178"/>
                </a:lnTo>
                <a:lnTo>
                  <a:pt x="15" y="183"/>
                </a:lnTo>
                <a:lnTo>
                  <a:pt x="18" y="188"/>
                </a:lnTo>
                <a:lnTo>
                  <a:pt x="22" y="187"/>
                </a:lnTo>
                <a:lnTo>
                  <a:pt x="18" y="183"/>
                </a:lnTo>
                <a:lnTo>
                  <a:pt x="15" y="178"/>
                </a:lnTo>
                <a:lnTo>
                  <a:pt x="13" y="173"/>
                </a:lnTo>
                <a:lnTo>
                  <a:pt x="10" y="169"/>
                </a:lnTo>
                <a:lnTo>
                  <a:pt x="8" y="164"/>
                </a:lnTo>
                <a:lnTo>
                  <a:pt x="7" y="157"/>
                </a:lnTo>
                <a:lnTo>
                  <a:pt x="5" y="152"/>
                </a:lnTo>
                <a:lnTo>
                  <a:pt x="3" y="147"/>
                </a:lnTo>
                <a:lnTo>
                  <a:pt x="0" y="149"/>
                </a:lnTo>
                <a:close/>
              </a:path>
            </a:pathLst>
          </a:custGeom>
          <a:solidFill>
            <a:srgbClr val="96D0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899" name="Freeform 2104">
            <a:extLst>
              <a:ext uri="{FF2B5EF4-FFF2-40B4-BE49-F238E27FC236}">
                <a16:creationId xmlns:a16="http://schemas.microsoft.com/office/drawing/2014/main" id="{6707358F-44F8-7736-B5AA-6F9AE0544B8E}"/>
              </a:ext>
            </a:extLst>
          </p:cNvPr>
          <p:cNvSpPr>
            <a:spLocks noEditPoints="1"/>
          </p:cNvSpPr>
          <p:nvPr/>
        </p:nvSpPr>
        <p:spPr bwMode="auto">
          <a:xfrm>
            <a:off x="3249613" y="2452688"/>
            <a:ext cx="541338" cy="296863"/>
          </a:xfrm>
          <a:custGeom>
            <a:avLst/>
            <a:gdLst>
              <a:gd name="T0" fmla="*/ 341 w 341"/>
              <a:gd name="T1" fmla="*/ 42 h 187"/>
              <a:gd name="T2" fmla="*/ 339 w 341"/>
              <a:gd name="T3" fmla="*/ 37 h 187"/>
              <a:gd name="T4" fmla="*/ 338 w 341"/>
              <a:gd name="T5" fmla="*/ 32 h 187"/>
              <a:gd name="T6" fmla="*/ 336 w 341"/>
              <a:gd name="T7" fmla="*/ 25 h 187"/>
              <a:gd name="T8" fmla="*/ 333 w 341"/>
              <a:gd name="T9" fmla="*/ 20 h 187"/>
              <a:gd name="T10" fmla="*/ 331 w 341"/>
              <a:gd name="T11" fmla="*/ 15 h 187"/>
              <a:gd name="T12" fmla="*/ 328 w 341"/>
              <a:gd name="T13" fmla="*/ 10 h 187"/>
              <a:gd name="T14" fmla="*/ 324 w 341"/>
              <a:gd name="T15" fmla="*/ 5 h 187"/>
              <a:gd name="T16" fmla="*/ 323 w 341"/>
              <a:gd name="T17" fmla="*/ 0 h 187"/>
              <a:gd name="T18" fmla="*/ 319 w 341"/>
              <a:gd name="T19" fmla="*/ 0 h 187"/>
              <a:gd name="T20" fmla="*/ 323 w 341"/>
              <a:gd name="T21" fmla="*/ 5 h 187"/>
              <a:gd name="T22" fmla="*/ 324 w 341"/>
              <a:gd name="T23" fmla="*/ 12 h 187"/>
              <a:gd name="T24" fmla="*/ 328 w 341"/>
              <a:gd name="T25" fmla="*/ 17 h 187"/>
              <a:gd name="T26" fmla="*/ 329 w 341"/>
              <a:gd name="T27" fmla="*/ 22 h 187"/>
              <a:gd name="T28" fmla="*/ 333 w 341"/>
              <a:gd name="T29" fmla="*/ 27 h 187"/>
              <a:gd name="T30" fmla="*/ 334 w 341"/>
              <a:gd name="T31" fmla="*/ 32 h 187"/>
              <a:gd name="T32" fmla="*/ 336 w 341"/>
              <a:gd name="T33" fmla="*/ 38 h 187"/>
              <a:gd name="T34" fmla="*/ 338 w 341"/>
              <a:gd name="T35" fmla="*/ 43 h 187"/>
              <a:gd name="T36" fmla="*/ 341 w 341"/>
              <a:gd name="T37" fmla="*/ 42 h 187"/>
              <a:gd name="T38" fmla="*/ 0 w 341"/>
              <a:gd name="T39" fmla="*/ 146 h 187"/>
              <a:gd name="T40" fmla="*/ 1 w 341"/>
              <a:gd name="T41" fmla="*/ 153 h 187"/>
              <a:gd name="T42" fmla="*/ 3 w 341"/>
              <a:gd name="T43" fmla="*/ 158 h 187"/>
              <a:gd name="T44" fmla="*/ 5 w 341"/>
              <a:gd name="T45" fmla="*/ 163 h 187"/>
              <a:gd name="T46" fmla="*/ 8 w 341"/>
              <a:gd name="T47" fmla="*/ 168 h 187"/>
              <a:gd name="T48" fmla="*/ 10 w 341"/>
              <a:gd name="T49" fmla="*/ 172 h 187"/>
              <a:gd name="T50" fmla="*/ 13 w 341"/>
              <a:gd name="T51" fmla="*/ 177 h 187"/>
              <a:gd name="T52" fmla="*/ 15 w 341"/>
              <a:gd name="T53" fmla="*/ 182 h 187"/>
              <a:gd name="T54" fmla="*/ 18 w 341"/>
              <a:gd name="T55" fmla="*/ 187 h 187"/>
              <a:gd name="T56" fmla="*/ 21 w 341"/>
              <a:gd name="T57" fmla="*/ 186 h 187"/>
              <a:gd name="T58" fmla="*/ 18 w 341"/>
              <a:gd name="T59" fmla="*/ 181 h 187"/>
              <a:gd name="T60" fmla="*/ 15 w 341"/>
              <a:gd name="T61" fmla="*/ 176 h 187"/>
              <a:gd name="T62" fmla="*/ 13 w 341"/>
              <a:gd name="T63" fmla="*/ 171 h 187"/>
              <a:gd name="T64" fmla="*/ 10 w 341"/>
              <a:gd name="T65" fmla="*/ 166 h 187"/>
              <a:gd name="T66" fmla="*/ 8 w 341"/>
              <a:gd name="T67" fmla="*/ 161 h 187"/>
              <a:gd name="T68" fmla="*/ 6 w 341"/>
              <a:gd name="T69" fmla="*/ 156 h 187"/>
              <a:gd name="T70" fmla="*/ 5 w 341"/>
              <a:gd name="T71" fmla="*/ 151 h 187"/>
              <a:gd name="T72" fmla="*/ 3 w 341"/>
              <a:gd name="T73" fmla="*/ 146 h 187"/>
              <a:gd name="T74" fmla="*/ 0 w 341"/>
              <a:gd name="T75" fmla="*/ 146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41" h="187">
                <a:moveTo>
                  <a:pt x="341" y="42"/>
                </a:moveTo>
                <a:lnTo>
                  <a:pt x="339" y="37"/>
                </a:lnTo>
                <a:lnTo>
                  <a:pt x="338" y="32"/>
                </a:lnTo>
                <a:lnTo>
                  <a:pt x="336" y="25"/>
                </a:lnTo>
                <a:lnTo>
                  <a:pt x="333" y="20"/>
                </a:lnTo>
                <a:lnTo>
                  <a:pt x="331" y="15"/>
                </a:lnTo>
                <a:lnTo>
                  <a:pt x="328" y="10"/>
                </a:lnTo>
                <a:lnTo>
                  <a:pt x="324" y="5"/>
                </a:lnTo>
                <a:lnTo>
                  <a:pt x="323" y="0"/>
                </a:lnTo>
                <a:lnTo>
                  <a:pt x="319" y="0"/>
                </a:lnTo>
                <a:lnTo>
                  <a:pt x="323" y="5"/>
                </a:lnTo>
                <a:lnTo>
                  <a:pt x="324" y="12"/>
                </a:lnTo>
                <a:lnTo>
                  <a:pt x="328" y="17"/>
                </a:lnTo>
                <a:lnTo>
                  <a:pt x="329" y="22"/>
                </a:lnTo>
                <a:lnTo>
                  <a:pt x="333" y="27"/>
                </a:lnTo>
                <a:lnTo>
                  <a:pt x="334" y="32"/>
                </a:lnTo>
                <a:lnTo>
                  <a:pt x="336" y="38"/>
                </a:lnTo>
                <a:lnTo>
                  <a:pt x="338" y="43"/>
                </a:lnTo>
                <a:lnTo>
                  <a:pt x="341" y="42"/>
                </a:lnTo>
                <a:close/>
                <a:moveTo>
                  <a:pt x="0" y="146"/>
                </a:moveTo>
                <a:lnTo>
                  <a:pt x="1" y="153"/>
                </a:lnTo>
                <a:lnTo>
                  <a:pt x="3" y="158"/>
                </a:lnTo>
                <a:lnTo>
                  <a:pt x="5" y="163"/>
                </a:lnTo>
                <a:lnTo>
                  <a:pt x="8" y="168"/>
                </a:lnTo>
                <a:lnTo>
                  <a:pt x="10" y="172"/>
                </a:lnTo>
                <a:lnTo>
                  <a:pt x="13" y="177"/>
                </a:lnTo>
                <a:lnTo>
                  <a:pt x="15" y="182"/>
                </a:lnTo>
                <a:lnTo>
                  <a:pt x="18" y="187"/>
                </a:lnTo>
                <a:lnTo>
                  <a:pt x="21" y="186"/>
                </a:lnTo>
                <a:lnTo>
                  <a:pt x="18" y="181"/>
                </a:lnTo>
                <a:lnTo>
                  <a:pt x="15" y="176"/>
                </a:lnTo>
                <a:lnTo>
                  <a:pt x="13" y="171"/>
                </a:lnTo>
                <a:lnTo>
                  <a:pt x="10" y="166"/>
                </a:lnTo>
                <a:lnTo>
                  <a:pt x="8" y="161"/>
                </a:lnTo>
                <a:lnTo>
                  <a:pt x="6" y="156"/>
                </a:lnTo>
                <a:lnTo>
                  <a:pt x="5" y="151"/>
                </a:lnTo>
                <a:lnTo>
                  <a:pt x="3" y="146"/>
                </a:lnTo>
                <a:lnTo>
                  <a:pt x="0" y="146"/>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00" name="Freeform 2105">
            <a:extLst>
              <a:ext uri="{FF2B5EF4-FFF2-40B4-BE49-F238E27FC236}">
                <a16:creationId xmlns:a16="http://schemas.microsoft.com/office/drawing/2014/main" id="{8D959CE1-B637-2D2E-0471-8DEADCA9E49D}"/>
              </a:ext>
            </a:extLst>
          </p:cNvPr>
          <p:cNvSpPr>
            <a:spLocks noEditPoints="1"/>
          </p:cNvSpPr>
          <p:nvPr/>
        </p:nvSpPr>
        <p:spPr bwMode="auto">
          <a:xfrm>
            <a:off x="3251200" y="2452688"/>
            <a:ext cx="536575" cy="295275"/>
          </a:xfrm>
          <a:custGeom>
            <a:avLst/>
            <a:gdLst>
              <a:gd name="T0" fmla="*/ 338 w 338"/>
              <a:gd name="T1" fmla="*/ 43 h 186"/>
              <a:gd name="T2" fmla="*/ 337 w 338"/>
              <a:gd name="T3" fmla="*/ 37 h 186"/>
              <a:gd name="T4" fmla="*/ 335 w 338"/>
              <a:gd name="T5" fmla="*/ 32 h 186"/>
              <a:gd name="T6" fmla="*/ 333 w 338"/>
              <a:gd name="T7" fmla="*/ 27 h 186"/>
              <a:gd name="T8" fmla="*/ 330 w 338"/>
              <a:gd name="T9" fmla="*/ 20 h 186"/>
              <a:gd name="T10" fmla="*/ 328 w 338"/>
              <a:gd name="T11" fmla="*/ 15 h 186"/>
              <a:gd name="T12" fmla="*/ 325 w 338"/>
              <a:gd name="T13" fmla="*/ 10 h 186"/>
              <a:gd name="T14" fmla="*/ 323 w 338"/>
              <a:gd name="T15" fmla="*/ 5 h 186"/>
              <a:gd name="T16" fmla="*/ 320 w 338"/>
              <a:gd name="T17" fmla="*/ 0 h 186"/>
              <a:gd name="T18" fmla="*/ 317 w 338"/>
              <a:gd name="T19" fmla="*/ 2 h 186"/>
              <a:gd name="T20" fmla="*/ 320 w 338"/>
              <a:gd name="T21" fmla="*/ 7 h 186"/>
              <a:gd name="T22" fmla="*/ 322 w 338"/>
              <a:gd name="T23" fmla="*/ 12 h 186"/>
              <a:gd name="T24" fmla="*/ 325 w 338"/>
              <a:gd name="T25" fmla="*/ 17 h 186"/>
              <a:gd name="T26" fmla="*/ 327 w 338"/>
              <a:gd name="T27" fmla="*/ 22 h 186"/>
              <a:gd name="T28" fmla="*/ 330 w 338"/>
              <a:gd name="T29" fmla="*/ 27 h 186"/>
              <a:gd name="T30" fmla="*/ 332 w 338"/>
              <a:gd name="T31" fmla="*/ 33 h 186"/>
              <a:gd name="T32" fmla="*/ 333 w 338"/>
              <a:gd name="T33" fmla="*/ 38 h 186"/>
              <a:gd name="T34" fmla="*/ 335 w 338"/>
              <a:gd name="T35" fmla="*/ 43 h 186"/>
              <a:gd name="T36" fmla="*/ 338 w 338"/>
              <a:gd name="T37" fmla="*/ 43 h 186"/>
              <a:gd name="T38" fmla="*/ 0 w 338"/>
              <a:gd name="T39" fmla="*/ 146 h 186"/>
              <a:gd name="T40" fmla="*/ 2 w 338"/>
              <a:gd name="T41" fmla="*/ 151 h 186"/>
              <a:gd name="T42" fmla="*/ 4 w 338"/>
              <a:gd name="T43" fmla="*/ 156 h 186"/>
              <a:gd name="T44" fmla="*/ 5 w 338"/>
              <a:gd name="T45" fmla="*/ 163 h 186"/>
              <a:gd name="T46" fmla="*/ 7 w 338"/>
              <a:gd name="T47" fmla="*/ 168 h 186"/>
              <a:gd name="T48" fmla="*/ 10 w 338"/>
              <a:gd name="T49" fmla="*/ 172 h 186"/>
              <a:gd name="T50" fmla="*/ 12 w 338"/>
              <a:gd name="T51" fmla="*/ 177 h 186"/>
              <a:gd name="T52" fmla="*/ 15 w 338"/>
              <a:gd name="T53" fmla="*/ 182 h 186"/>
              <a:gd name="T54" fmla="*/ 19 w 338"/>
              <a:gd name="T55" fmla="*/ 186 h 186"/>
              <a:gd name="T56" fmla="*/ 22 w 338"/>
              <a:gd name="T57" fmla="*/ 186 h 186"/>
              <a:gd name="T58" fmla="*/ 19 w 338"/>
              <a:gd name="T59" fmla="*/ 181 h 186"/>
              <a:gd name="T60" fmla="*/ 15 w 338"/>
              <a:gd name="T61" fmla="*/ 176 h 186"/>
              <a:gd name="T62" fmla="*/ 14 w 338"/>
              <a:gd name="T63" fmla="*/ 171 h 186"/>
              <a:gd name="T64" fmla="*/ 10 w 338"/>
              <a:gd name="T65" fmla="*/ 166 h 186"/>
              <a:gd name="T66" fmla="*/ 9 w 338"/>
              <a:gd name="T67" fmla="*/ 161 h 186"/>
              <a:gd name="T68" fmla="*/ 7 w 338"/>
              <a:gd name="T69" fmla="*/ 156 h 186"/>
              <a:gd name="T70" fmla="*/ 4 w 338"/>
              <a:gd name="T71" fmla="*/ 149 h 186"/>
              <a:gd name="T72" fmla="*/ 2 w 338"/>
              <a:gd name="T73" fmla="*/ 144 h 186"/>
              <a:gd name="T74" fmla="*/ 0 w 338"/>
              <a:gd name="T75" fmla="*/ 146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38" h="186">
                <a:moveTo>
                  <a:pt x="338" y="43"/>
                </a:moveTo>
                <a:lnTo>
                  <a:pt x="337" y="37"/>
                </a:lnTo>
                <a:lnTo>
                  <a:pt x="335" y="32"/>
                </a:lnTo>
                <a:lnTo>
                  <a:pt x="333" y="27"/>
                </a:lnTo>
                <a:lnTo>
                  <a:pt x="330" y="20"/>
                </a:lnTo>
                <a:lnTo>
                  <a:pt x="328" y="15"/>
                </a:lnTo>
                <a:lnTo>
                  <a:pt x="325" y="10"/>
                </a:lnTo>
                <a:lnTo>
                  <a:pt x="323" y="5"/>
                </a:lnTo>
                <a:lnTo>
                  <a:pt x="320" y="0"/>
                </a:lnTo>
                <a:lnTo>
                  <a:pt x="317" y="2"/>
                </a:lnTo>
                <a:lnTo>
                  <a:pt x="320" y="7"/>
                </a:lnTo>
                <a:lnTo>
                  <a:pt x="322" y="12"/>
                </a:lnTo>
                <a:lnTo>
                  <a:pt x="325" y="17"/>
                </a:lnTo>
                <a:lnTo>
                  <a:pt x="327" y="22"/>
                </a:lnTo>
                <a:lnTo>
                  <a:pt x="330" y="27"/>
                </a:lnTo>
                <a:lnTo>
                  <a:pt x="332" y="33"/>
                </a:lnTo>
                <a:lnTo>
                  <a:pt x="333" y="38"/>
                </a:lnTo>
                <a:lnTo>
                  <a:pt x="335" y="43"/>
                </a:lnTo>
                <a:lnTo>
                  <a:pt x="338" y="43"/>
                </a:lnTo>
                <a:close/>
                <a:moveTo>
                  <a:pt x="0" y="146"/>
                </a:moveTo>
                <a:lnTo>
                  <a:pt x="2" y="151"/>
                </a:lnTo>
                <a:lnTo>
                  <a:pt x="4" y="156"/>
                </a:lnTo>
                <a:lnTo>
                  <a:pt x="5" y="163"/>
                </a:lnTo>
                <a:lnTo>
                  <a:pt x="7" y="168"/>
                </a:lnTo>
                <a:lnTo>
                  <a:pt x="10" y="172"/>
                </a:lnTo>
                <a:lnTo>
                  <a:pt x="12" y="177"/>
                </a:lnTo>
                <a:lnTo>
                  <a:pt x="15" y="182"/>
                </a:lnTo>
                <a:lnTo>
                  <a:pt x="19" y="186"/>
                </a:lnTo>
                <a:lnTo>
                  <a:pt x="22" y="186"/>
                </a:lnTo>
                <a:lnTo>
                  <a:pt x="19" y="181"/>
                </a:lnTo>
                <a:lnTo>
                  <a:pt x="15" y="176"/>
                </a:lnTo>
                <a:lnTo>
                  <a:pt x="14" y="171"/>
                </a:lnTo>
                <a:lnTo>
                  <a:pt x="10" y="166"/>
                </a:lnTo>
                <a:lnTo>
                  <a:pt x="9" y="161"/>
                </a:lnTo>
                <a:lnTo>
                  <a:pt x="7" y="156"/>
                </a:lnTo>
                <a:lnTo>
                  <a:pt x="4" y="149"/>
                </a:lnTo>
                <a:lnTo>
                  <a:pt x="2" y="144"/>
                </a:lnTo>
                <a:lnTo>
                  <a:pt x="0" y="146"/>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01" name="Freeform 2106">
            <a:extLst>
              <a:ext uri="{FF2B5EF4-FFF2-40B4-BE49-F238E27FC236}">
                <a16:creationId xmlns:a16="http://schemas.microsoft.com/office/drawing/2014/main" id="{7820CE7F-97C4-AB8B-5608-2528E0347100}"/>
              </a:ext>
            </a:extLst>
          </p:cNvPr>
          <p:cNvSpPr>
            <a:spLocks noEditPoints="1"/>
          </p:cNvSpPr>
          <p:nvPr/>
        </p:nvSpPr>
        <p:spPr bwMode="auto">
          <a:xfrm>
            <a:off x="3254375" y="2452688"/>
            <a:ext cx="531813" cy="295275"/>
          </a:xfrm>
          <a:custGeom>
            <a:avLst/>
            <a:gdLst>
              <a:gd name="T0" fmla="*/ 335 w 335"/>
              <a:gd name="T1" fmla="*/ 43 h 186"/>
              <a:gd name="T2" fmla="*/ 333 w 335"/>
              <a:gd name="T3" fmla="*/ 38 h 186"/>
              <a:gd name="T4" fmla="*/ 331 w 335"/>
              <a:gd name="T5" fmla="*/ 32 h 186"/>
              <a:gd name="T6" fmla="*/ 330 w 335"/>
              <a:gd name="T7" fmla="*/ 27 h 186"/>
              <a:gd name="T8" fmla="*/ 326 w 335"/>
              <a:gd name="T9" fmla="*/ 22 h 186"/>
              <a:gd name="T10" fmla="*/ 325 w 335"/>
              <a:gd name="T11" fmla="*/ 17 h 186"/>
              <a:gd name="T12" fmla="*/ 321 w 335"/>
              <a:gd name="T13" fmla="*/ 12 h 186"/>
              <a:gd name="T14" fmla="*/ 320 w 335"/>
              <a:gd name="T15" fmla="*/ 5 h 186"/>
              <a:gd name="T16" fmla="*/ 316 w 335"/>
              <a:gd name="T17" fmla="*/ 0 h 186"/>
              <a:gd name="T18" fmla="*/ 313 w 335"/>
              <a:gd name="T19" fmla="*/ 2 h 186"/>
              <a:gd name="T20" fmla="*/ 316 w 335"/>
              <a:gd name="T21" fmla="*/ 7 h 186"/>
              <a:gd name="T22" fmla="*/ 318 w 335"/>
              <a:gd name="T23" fmla="*/ 12 h 186"/>
              <a:gd name="T24" fmla="*/ 321 w 335"/>
              <a:gd name="T25" fmla="*/ 17 h 186"/>
              <a:gd name="T26" fmla="*/ 325 w 335"/>
              <a:gd name="T27" fmla="*/ 23 h 186"/>
              <a:gd name="T28" fmla="*/ 326 w 335"/>
              <a:gd name="T29" fmla="*/ 28 h 186"/>
              <a:gd name="T30" fmla="*/ 328 w 335"/>
              <a:gd name="T31" fmla="*/ 33 h 186"/>
              <a:gd name="T32" fmla="*/ 330 w 335"/>
              <a:gd name="T33" fmla="*/ 38 h 186"/>
              <a:gd name="T34" fmla="*/ 331 w 335"/>
              <a:gd name="T35" fmla="*/ 45 h 186"/>
              <a:gd name="T36" fmla="*/ 335 w 335"/>
              <a:gd name="T37" fmla="*/ 43 h 186"/>
              <a:gd name="T38" fmla="*/ 0 w 335"/>
              <a:gd name="T39" fmla="*/ 146 h 186"/>
              <a:gd name="T40" fmla="*/ 2 w 335"/>
              <a:gd name="T41" fmla="*/ 151 h 186"/>
              <a:gd name="T42" fmla="*/ 3 w 335"/>
              <a:gd name="T43" fmla="*/ 156 h 186"/>
              <a:gd name="T44" fmla="*/ 5 w 335"/>
              <a:gd name="T45" fmla="*/ 161 h 186"/>
              <a:gd name="T46" fmla="*/ 7 w 335"/>
              <a:gd name="T47" fmla="*/ 166 h 186"/>
              <a:gd name="T48" fmla="*/ 10 w 335"/>
              <a:gd name="T49" fmla="*/ 171 h 186"/>
              <a:gd name="T50" fmla="*/ 12 w 335"/>
              <a:gd name="T51" fmla="*/ 176 h 186"/>
              <a:gd name="T52" fmla="*/ 15 w 335"/>
              <a:gd name="T53" fmla="*/ 181 h 186"/>
              <a:gd name="T54" fmla="*/ 18 w 335"/>
              <a:gd name="T55" fmla="*/ 186 h 186"/>
              <a:gd name="T56" fmla="*/ 22 w 335"/>
              <a:gd name="T57" fmla="*/ 184 h 186"/>
              <a:gd name="T58" fmla="*/ 18 w 335"/>
              <a:gd name="T59" fmla="*/ 179 h 186"/>
              <a:gd name="T60" fmla="*/ 15 w 335"/>
              <a:gd name="T61" fmla="*/ 174 h 186"/>
              <a:gd name="T62" fmla="*/ 13 w 335"/>
              <a:gd name="T63" fmla="*/ 169 h 186"/>
              <a:gd name="T64" fmla="*/ 10 w 335"/>
              <a:gd name="T65" fmla="*/ 164 h 186"/>
              <a:gd name="T66" fmla="*/ 8 w 335"/>
              <a:gd name="T67" fmla="*/ 159 h 186"/>
              <a:gd name="T68" fmla="*/ 7 w 335"/>
              <a:gd name="T69" fmla="*/ 154 h 186"/>
              <a:gd name="T70" fmla="*/ 3 w 335"/>
              <a:gd name="T71" fmla="*/ 149 h 186"/>
              <a:gd name="T72" fmla="*/ 2 w 335"/>
              <a:gd name="T73" fmla="*/ 144 h 186"/>
              <a:gd name="T74" fmla="*/ 0 w 335"/>
              <a:gd name="T75" fmla="*/ 146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35" h="186">
                <a:moveTo>
                  <a:pt x="335" y="43"/>
                </a:moveTo>
                <a:lnTo>
                  <a:pt x="333" y="38"/>
                </a:lnTo>
                <a:lnTo>
                  <a:pt x="331" y="32"/>
                </a:lnTo>
                <a:lnTo>
                  <a:pt x="330" y="27"/>
                </a:lnTo>
                <a:lnTo>
                  <a:pt x="326" y="22"/>
                </a:lnTo>
                <a:lnTo>
                  <a:pt x="325" y="17"/>
                </a:lnTo>
                <a:lnTo>
                  <a:pt x="321" y="12"/>
                </a:lnTo>
                <a:lnTo>
                  <a:pt x="320" y="5"/>
                </a:lnTo>
                <a:lnTo>
                  <a:pt x="316" y="0"/>
                </a:lnTo>
                <a:lnTo>
                  <a:pt x="313" y="2"/>
                </a:lnTo>
                <a:lnTo>
                  <a:pt x="316" y="7"/>
                </a:lnTo>
                <a:lnTo>
                  <a:pt x="318" y="12"/>
                </a:lnTo>
                <a:lnTo>
                  <a:pt x="321" y="17"/>
                </a:lnTo>
                <a:lnTo>
                  <a:pt x="325" y="23"/>
                </a:lnTo>
                <a:lnTo>
                  <a:pt x="326" y="28"/>
                </a:lnTo>
                <a:lnTo>
                  <a:pt x="328" y="33"/>
                </a:lnTo>
                <a:lnTo>
                  <a:pt x="330" y="38"/>
                </a:lnTo>
                <a:lnTo>
                  <a:pt x="331" y="45"/>
                </a:lnTo>
                <a:lnTo>
                  <a:pt x="335" y="43"/>
                </a:lnTo>
                <a:close/>
                <a:moveTo>
                  <a:pt x="0" y="146"/>
                </a:moveTo>
                <a:lnTo>
                  <a:pt x="2" y="151"/>
                </a:lnTo>
                <a:lnTo>
                  <a:pt x="3" y="156"/>
                </a:lnTo>
                <a:lnTo>
                  <a:pt x="5" y="161"/>
                </a:lnTo>
                <a:lnTo>
                  <a:pt x="7" y="166"/>
                </a:lnTo>
                <a:lnTo>
                  <a:pt x="10" y="171"/>
                </a:lnTo>
                <a:lnTo>
                  <a:pt x="12" y="176"/>
                </a:lnTo>
                <a:lnTo>
                  <a:pt x="15" y="181"/>
                </a:lnTo>
                <a:lnTo>
                  <a:pt x="18" y="186"/>
                </a:lnTo>
                <a:lnTo>
                  <a:pt x="22" y="184"/>
                </a:lnTo>
                <a:lnTo>
                  <a:pt x="18" y="179"/>
                </a:lnTo>
                <a:lnTo>
                  <a:pt x="15" y="174"/>
                </a:lnTo>
                <a:lnTo>
                  <a:pt x="13" y="169"/>
                </a:lnTo>
                <a:lnTo>
                  <a:pt x="10" y="164"/>
                </a:lnTo>
                <a:lnTo>
                  <a:pt x="8" y="159"/>
                </a:lnTo>
                <a:lnTo>
                  <a:pt x="7" y="154"/>
                </a:lnTo>
                <a:lnTo>
                  <a:pt x="3" y="149"/>
                </a:lnTo>
                <a:lnTo>
                  <a:pt x="2" y="144"/>
                </a:lnTo>
                <a:lnTo>
                  <a:pt x="0" y="146"/>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02" name="Freeform 2107">
            <a:extLst>
              <a:ext uri="{FF2B5EF4-FFF2-40B4-BE49-F238E27FC236}">
                <a16:creationId xmlns:a16="http://schemas.microsoft.com/office/drawing/2014/main" id="{994B5847-94C0-F5CA-7B0D-9F7E815E20C8}"/>
              </a:ext>
            </a:extLst>
          </p:cNvPr>
          <p:cNvSpPr>
            <a:spLocks noEditPoints="1"/>
          </p:cNvSpPr>
          <p:nvPr/>
        </p:nvSpPr>
        <p:spPr bwMode="auto">
          <a:xfrm>
            <a:off x="3254375" y="2455863"/>
            <a:ext cx="528638" cy="292100"/>
          </a:xfrm>
          <a:custGeom>
            <a:avLst/>
            <a:gdLst>
              <a:gd name="T0" fmla="*/ 333 w 333"/>
              <a:gd name="T1" fmla="*/ 41 h 184"/>
              <a:gd name="T2" fmla="*/ 331 w 333"/>
              <a:gd name="T3" fmla="*/ 36 h 184"/>
              <a:gd name="T4" fmla="*/ 330 w 333"/>
              <a:gd name="T5" fmla="*/ 31 h 184"/>
              <a:gd name="T6" fmla="*/ 328 w 333"/>
              <a:gd name="T7" fmla="*/ 25 h 184"/>
              <a:gd name="T8" fmla="*/ 325 w 333"/>
              <a:gd name="T9" fmla="*/ 20 h 184"/>
              <a:gd name="T10" fmla="*/ 323 w 333"/>
              <a:gd name="T11" fmla="*/ 15 h 184"/>
              <a:gd name="T12" fmla="*/ 320 w 333"/>
              <a:gd name="T13" fmla="*/ 10 h 184"/>
              <a:gd name="T14" fmla="*/ 318 w 333"/>
              <a:gd name="T15" fmla="*/ 5 h 184"/>
              <a:gd name="T16" fmla="*/ 315 w 333"/>
              <a:gd name="T17" fmla="*/ 0 h 184"/>
              <a:gd name="T18" fmla="*/ 311 w 333"/>
              <a:gd name="T19" fmla="*/ 2 h 184"/>
              <a:gd name="T20" fmla="*/ 315 w 333"/>
              <a:gd name="T21" fmla="*/ 7 h 184"/>
              <a:gd name="T22" fmla="*/ 318 w 333"/>
              <a:gd name="T23" fmla="*/ 12 h 184"/>
              <a:gd name="T24" fmla="*/ 320 w 333"/>
              <a:gd name="T25" fmla="*/ 17 h 184"/>
              <a:gd name="T26" fmla="*/ 323 w 333"/>
              <a:gd name="T27" fmla="*/ 21 h 184"/>
              <a:gd name="T28" fmla="*/ 325 w 333"/>
              <a:gd name="T29" fmla="*/ 26 h 184"/>
              <a:gd name="T30" fmla="*/ 326 w 333"/>
              <a:gd name="T31" fmla="*/ 33 h 184"/>
              <a:gd name="T32" fmla="*/ 328 w 333"/>
              <a:gd name="T33" fmla="*/ 38 h 184"/>
              <a:gd name="T34" fmla="*/ 331 w 333"/>
              <a:gd name="T35" fmla="*/ 43 h 184"/>
              <a:gd name="T36" fmla="*/ 333 w 333"/>
              <a:gd name="T37" fmla="*/ 41 h 184"/>
              <a:gd name="T38" fmla="*/ 0 w 333"/>
              <a:gd name="T39" fmla="*/ 142 h 184"/>
              <a:gd name="T40" fmla="*/ 2 w 333"/>
              <a:gd name="T41" fmla="*/ 147 h 184"/>
              <a:gd name="T42" fmla="*/ 5 w 333"/>
              <a:gd name="T43" fmla="*/ 154 h 184"/>
              <a:gd name="T44" fmla="*/ 7 w 333"/>
              <a:gd name="T45" fmla="*/ 159 h 184"/>
              <a:gd name="T46" fmla="*/ 8 w 333"/>
              <a:gd name="T47" fmla="*/ 164 h 184"/>
              <a:gd name="T48" fmla="*/ 12 w 333"/>
              <a:gd name="T49" fmla="*/ 169 h 184"/>
              <a:gd name="T50" fmla="*/ 13 w 333"/>
              <a:gd name="T51" fmla="*/ 174 h 184"/>
              <a:gd name="T52" fmla="*/ 17 w 333"/>
              <a:gd name="T53" fmla="*/ 179 h 184"/>
              <a:gd name="T54" fmla="*/ 20 w 333"/>
              <a:gd name="T55" fmla="*/ 184 h 184"/>
              <a:gd name="T56" fmla="*/ 22 w 333"/>
              <a:gd name="T57" fmla="*/ 182 h 184"/>
              <a:gd name="T58" fmla="*/ 20 w 333"/>
              <a:gd name="T59" fmla="*/ 177 h 184"/>
              <a:gd name="T60" fmla="*/ 17 w 333"/>
              <a:gd name="T61" fmla="*/ 172 h 184"/>
              <a:gd name="T62" fmla="*/ 15 w 333"/>
              <a:gd name="T63" fmla="*/ 167 h 184"/>
              <a:gd name="T64" fmla="*/ 12 w 333"/>
              <a:gd name="T65" fmla="*/ 162 h 184"/>
              <a:gd name="T66" fmla="*/ 10 w 333"/>
              <a:gd name="T67" fmla="*/ 157 h 184"/>
              <a:gd name="T68" fmla="*/ 7 w 333"/>
              <a:gd name="T69" fmla="*/ 152 h 184"/>
              <a:gd name="T70" fmla="*/ 5 w 333"/>
              <a:gd name="T71" fmla="*/ 147 h 184"/>
              <a:gd name="T72" fmla="*/ 3 w 333"/>
              <a:gd name="T73" fmla="*/ 141 h 184"/>
              <a:gd name="T74" fmla="*/ 0 w 333"/>
              <a:gd name="T75" fmla="*/ 142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33" h="184">
                <a:moveTo>
                  <a:pt x="333" y="41"/>
                </a:moveTo>
                <a:lnTo>
                  <a:pt x="331" y="36"/>
                </a:lnTo>
                <a:lnTo>
                  <a:pt x="330" y="31"/>
                </a:lnTo>
                <a:lnTo>
                  <a:pt x="328" y="25"/>
                </a:lnTo>
                <a:lnTo>
                  <a:pt x="325" y="20"/>
                </a:lnTo>
                <a:lnTo>
                  <a:pt x="323" y="15"/>
                </a:lnTo>
                <a:lnTo>
                  <a:pt x="320" y="10"/>
                </a:lnTo>
                <a:lnTo>
                  <a:pt x="318" y="5"/>
                </a:lnTo>
                <a:lnTo>
                  <a:pt x="315" y="0"/>
                </a:lnTo>
                <a:lnTo>
                  <a:pt x="311" y="2"/>
                </a:lnTo>
                <a:lnTo>
                  <a:pt x="315" y="7"/>
                </a:lnTo>
                <a:lnTo>
                  <a:pt x="318" y="12"/>
                </a:lnTo>
                <a:lnTo>
                  <a:pt x="320" y="17"/>
                </a:lnTo>
                <a:lnTo>
                  <a:pt x="323" y="21"/>
                </a:lnTo>
                <a:lnTo>
                  <a:pt x="325" y="26"/>
                </a:lnTo>
                <a:lnTo>
                  <a:pt x="326" y="33"/>
                </a:lnTo>
                <a:lnTo>
                  <a:pt x="328" y="38"/>
                </a:lnTo>
                <a:lnTo>
                  <a:pt x="331" y="43"/>
                </a:lnTo>
                <a:lnTo>
                  <a:pt x="333" y="41"/>
                </a:lnTo>
                <a:close/>
                <a:moveTo>
                  <a:pt x="0" y="142"/>
                </a:moveTo>
                <a:lnTo>
                  <a:pt x="2" y="147"/>
                </a:lnTo>
                <a:lnTo>
                  <a:pt x="5" y="154"/>
                </a:lnTo>
                <a:lnTo>
                  <a:pt x="7" y="159"/>
                </a:lnTo>
                <a:lnTo>
                  <a:pt x="8" y="164"/>
                </a:lnTo>
                <a:lnTo>
                  <a:pt x="12" y="169"/>
                </a:lnTo>
                <a:lnTo>
                  <a:pt x="13" y="174"/>
                </a:lnTo>
                <a:lnTo>
                  <a:pt x="17" y="179"/>
                </a:lnTo>
                <a:lnTo>
                  <a:pt x="20" y="184"/>
                </a:lnTo>
                <a:lnTo>
                  <a:pt x="22" y="182"/>
                </a:lnTo>
                <a:lnTo>
                  <a:pt x="20" y="177"/>
                </a:lnTo>
                <a:lnTo>
                  <a:pt x="17" y="172"/>
                </a:lnTo>
                <a:lnTo>
                  <a:pt x="15" y="167"/>
                </a:lnTo>
                <a:lnTo>
                  <a:pt x="12" y="162"/>
                </a:lnTo>
                <a:lnTo>
                  <a:pt x="10" y="157"/>
                </a:lnTo>
                <a:lnTo>
                  <a:pt x="7" y="152"/>
                </a:lnTo>
                <a:lnTo>
                  <a:pt x="5" y="147"/>
                </a:lnTo>
                <a:lnTo>
                  <a:pt x="3" y="141"/>
                </a:lnTo>
                <a:lnTo>
                  <a:pt x="0" y="142"/>
                </a:lnTo>
                <a:close/>
              </a:path>
            </a:pathLst>
          </a:custGeom>
          <a:solidFill>
            <a:srgbClr val="99D1F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03" name="Freeform 2108">
            <a:extLst>
              <a:ext uri="{FF2B5EF4-FFF2-40B4-BE49-F238E27FC236}">
                <a16:creationId xmlns:a16="http://schemas.microsoft.com/office/drawing/2014/main" id="{88C324B5-9F44-98F3-F7A1-5F47636D8C4E}"/>
              </a:ext>
            </a:extLst>
          </p:cNvPr>
          <p:cNvSpPr>
            <a:spLocks noEditPoints="1"/>
          </p:cNvSpPr>
          <p:nvPr/>
        </p:nvSpPr>
        <p:spPr bwMode="auto">
          <a:xfrm>
            <a:off x="3257550" y="2455863"/>
            <a:ext cx="522288" cy="288925"/>
          </a:xfrm>
          <a:custGeom>
            <a:avLst/>
            <a:gdLst>
              <a:gd name="T0" fmla="*/ 329 w 329"/>
              <a:gd name="T1" fmla="*/ 43 h 182"/>
              <a:gd name="T2" fmla="*/ 328 w 329"/>
              <a:gd name="T3" fmla="*/ 36 h 182"/>
              <a:gd name="T4" fmla="*/ 326 w 329"/>
              <a:gd name="T5" fmla="*/ 31 h 182"/>
              <a:gd name="T6" fmla="*/ 324 w 329"/>
              <a:gd name="T7" fmla="*/ 26 h 182"/>
              <a:gd name="T8" fmla="*/ 323 w 329"/>
              <a:gd name="T9" fmla="*/ 21 h 182"/>
              <a:gd name="T10" fmla="*/ 319 w 329"/>
              <a:gd name="T11" fmla="*/ 15 h 182"/>
              <a:gd name="T12" fmla="*/ 316 w 329"/>
              <a:gd name="T13" fmla="*/ 10 h 182"/>
              <a:gd name="T14" fmla="*/ 314 w 329"/>
              <a:gd name="T15" fmla="*/ 5 h 182"/>
              <a:gd name="T16" fmla="*/ 311 w 329"/>
              <a:gd name="T17" fmla="*/ 0 h 182"/>
              <a:gd name="T18" fmla="*/ 308 w 329"/>
              <a:gd name="T19" fmla="*/ 2 h 182"/>
              <a:gd name="T20" fmla="*/ 311 w 329"/>
              <a:gd name="T21" fmla="*/ 7 h 182"/>
              <a:gd name="T22" fmla="*/ 314 w 329"/>
              <a:gd name="T23" fmla="*/ 12 h 182"/>
              <a:gd name="T24" fmla="*/ 316 w 329"/>
              <a:gd name="T25" fmla="*/ 17 h 182"/>
              <a:gd name="T26" fmla="*/ 319 w 329"/>
              <a:gd name="T27" fmla="*/ 21 h 182"/>
              <a:gd name="T28" fmla="*/ 321 w 329"/>
              <a:gd name="T29" fmla="*/ 28 h 182"/>
              <a:gd name="T30" fmla="*/ 323 w 329"/>
              <a:gd name="T31" fmla="*/ 33 h 182"/>
              <a:gd name="T32" fmla="*/ 326 w 329"/>
              <a:gd name="T33" fmla="*/ 38 h 182"/>
              <a:gd name="T34" fmla="*/ 328 w 329"/>
              <a:gd name="T35" fmla="*/ 45 h 182"/>
              <a:gd name="T36" fmla="*/ 329 w 329"/>
              <a:gd name="T37" fmla="*/ 43 h 182"/>
              <a:gd name="T38" fmla="*/ 0 w 329"/>
              <a:gd name="T39" fmla="*/ 142 h 182"/>
              <a:gd name="T40" fmla="*/ 1 w 329"/>
              <a:gd name="T41" fmla="*/ 147 h 182"/>
              <a:gd name="T42" fmla="*/ 5 w 329"/>
              <a:gd name="T43" fmla="*/ 152 h 182"/>
              <a:gd name="T44" fmla="*/ 6 w 329"/>
              <a:gd name="T45" fmla="*/ 157 h 182"/>
              <a:gd name="T46" fmla="*/ 8 w 329"/>
              <a:gd name="T47" fmla="*/ 162 h 182"/>
              <a:gd name="T48" fmla="*/ 11 w 329"/>
              <a:gd name="T49" fmla="*/ 167 h 182"/>
              <a:gd name="T50" fmla="*/ 13 w 329"/>
              <a:gd name="T51" fmla="*/ 172 h 182"/>
              <a:gd name="T52" fmla="*/ 16 w 329"/>
              <a:gd name="T53" fmla="*/ 177 h 182"/>
              <a:gd name="T54" fmla="*/ 20 w 329"/>
              <a:gd name="T55" fmla="*/ 182 h 182"/>
              <a:gd name="T56" fmla="*/ 21 w 329"/>
              <a:gd name="T57" fmla="*/ 180 h 182"/>
              <a:gd name="T58" fmla="*/ 20 w 329"/>
              <a:gd name="T59" fmla="*/ 177 h 182"/>
              <a:gd name="T60" fmla="*/ 16 w 329"/>
              <a:gd name="T61" fmla="*/ 172 h 182"/>
              <a:gd name="T62" fmla="*/ 13 w 329"/>
              <a:gd name="T63" fmla="*/ 167 h 182"/>
              <a:gd name="T64" fmla="*/ 11 w 329"/>
              <a:gd name="T65" fmla="*/ 162 h 182"/>
              <a:gd name="T66" fmla="*/ 10 w 329"/>
              <a:gd name="T67" fmla="*/ 156 h 182"/>
              <a:gd name="T68" fmla="*/ 6 w 329"/>
              <a:gd name="T69" fmla="*/ 151 h 182"/>
              <a:gd name="T70" fmla="*/ 5 w 329"/>
              <a:gd name="T71" fmla="*/ 146 h 182"/>
              <a:gd name="T72" fmla="*/ 3 w 329"/>
              <a:gd name="T73" fmla="*/ 141 h 182"/>
              <a:gd name="T74" fmla="*/ 0 w 329"/>
              <a:gd name="T75" fmla="*/ 142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9" h="182">
                <a:moveTo>
                  <a:pt x="329" y="43"/>
                </a:moveTo>
                <a:lnTo>
                  <a:pt x="328" y="36"/>
                </a:lnTo>
                <a:lnTo>
                  <a:pt x="326" y="31"/>
                </a:lnTo>
                <a:lnTo>
                  <a:pt x="324" y="26"/>
                </a:lnTo>
                <a:lnTo>
                  <a:pt x="323" y="21"/>
                </a:lnTo>
                <a:lnTo>
                  <a:pt x="319" y="15"/>
                </a:lnTo>
                <a:lnTo>
                  <a:pt x="316" y="10"/>
                </a:lnTo>
                <a:lnTo>
                  <a:pt x="314" y="5"/>
                </a:lnTo>
                <a:lnTo>
                  <a:pt x="311" y="0"/>
                </a:lnTo>
                <a:lnTo>
                  <a:pt x="308" y="2"/>
                </a:lnTo>
                <a:lnTo>
                  <a:pt x="311" y="7"/>
                </a:lnTo>
                <a:lnTo>
                  <a:pt x="314" y="12"/>
                </a:lnTo>
                <a:lnTo>
                  <a:pt x="316" y="17"/>
                </a:lnTo>
                <a:lnTo>
                  <a:pt x="319" y="21"/>
                </a:lnTo>
                <a:lnTo>
                  <a:pt x="321" y="28"/>
                </a:lnTo>
                <a:lnTo>
                  <a:pt x="323" y="33"/>
                </a:lnTo>
                <a:lnTo>
                  <a:pt x="326" y="38"/>
                </a:lnTo>
                <a:lnTo>
                  <a:pt x="328" y="45"/>
                </a:lnTo>
                <a:lnTo>
                  <a:pt x="329" y="43"/>
                </a:lnTo>
                <a:close/>
                <a:moveTo>
                  <a:pt x="0" y="142"/>
                </a:moveTo>
                <a:lnTo>
                  <a:pt x="1" y="147"/>
                </a:lnTo>
                <a:lnTo>
                  <a:pt x="5" y="152"/>
                </a:lnTo>
                <a:lnTo>
                  <a:pt x="6" y="157"/>
                </a:lnTo>
                <a:lnTo>
                  <a:pt x="8" y="162"/>
                </a:lnTo>
                <a:lnTo>
                  <a:pt x="11" y="167"/>
                </a:lnTo>
                <a:lnTo>
                  <a:pt x="13" y="172"/>
                </a:lnTo>
                <a:lnTo>
                  <a:pt x="16" y="177"/>
                </a:lnTo>
                <a:lnTo>
                  <a:pt x="20" y="182"/>
                </a:lnTo>
                <a:lnTo>
                  <a:pt x="21" y="180"/>
                </a:lnTo>
                <a:lnTo>
                  <a:pt x="20" y="177"/>
                </a:lnTo>
                <a:lnTo>
                  <a:pt x="16" y="172"/>
                </a:lnTo>
                <a:lnTo>
                  <a:pt x="13" y="167"/>
                </a:lnTo>
                <a:lnTo>
                  <a:pt x="11" y="162"/>
                </a:lnTo>
                <a:lnTo>
                  <a:pt x="10" y="156"/>
                </a:lnTo>
                <a:lnTo>
                  <a:pt x="6" y="151"/>
                </a:lnTo>
                <a:lnTo>
                  <a:pt x="5" y="146"/>
                </a:lnTo>
                <a:lnTo>
                  <a:pt x="3" y="141"/>
                </a:lnTo>
                <a:lnTo>
                  <a:pt x="0" y="142"/>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04" name="Freeform 2109">
            <a:extLst>
              <a:ext uri="{FF2B5EF4-FFF2-40B4-BE49-F238E27FC236}">
                <a16:creationId xmlns:a16="http://schemas.microsoft.com/office/drawing/2014/main" id="{C7D0969A-9DFD-93B5-5E65-44801D5125BD}"/>
              </a:ext>
            </a:extLst>
          </p:cNvPr>
          <p:cNvSpPr>
            <a:spLocks noEditPoints="1"/>
          </p:cNvSpPr>
          <p:nvPr/>
        </p:nvSpPr>
        <p:spPr bwMode="auto">
          <a:xfrm>
            <a:off x="3259138" y="2459038"/>
            <a:ext cx="520700" cy="285750"/>
          </a:xfrm>
          <a:custGeom>
            <a:avLst/>
            <a:gdLst>
              <a:gd name="T0" fmla="*/ 328 w 328"/>
              <a:gd name="T1" fmla="*/ 41 h 180"/>
              <a:gd name="T2" fmla="*/ 325 w 328"/>
              <a:gd name="T3" fmla="*/ 36 h 180"/>
              <a:gd name="T4" fmla="*/ 323 w 328"/>
              <a:gd name="T5" fmla="*/ 31 h 180"/>
              <a:gd name="T6" fmla="*/ 322 w 328"/>
              <a:gd name="T7" fmla="*/ 24 h 180"/>
              <a:gd name="T8" fmla="*/ 320 w 328"/>
              <a:gd name="T9" fmla="*/ 19 h 180"/>
              <a:gd name="T10" fmla="*/ 317 w 328"/>
              <a:gd name="T11" fmla="*/ 15 h 180"/>
              <a:gd name="T12" fmla="*/ 315 w 328"/>
              <a:gd name="T13" fmla="*/ 10 h 180"/>
              <a:gd name="T14" fmla="*/ 312 w 328"/>
              <a:gd name="T15" fmla="*/ 5 h 180"/>
              <a:gd name="T16" fmla="*/ 308 w 328"/>
              <a:gd name="T17" fmla="*/ 0 h 180"/>
              <a:gd name="T18" fmla="*/ 305 w 328"/>
              <a:gd name="T19" fmla="*/ 1 h 180"/>
              <a:gd name="T20" fmla="*/ 308 w 328"/>
              <a:gd name="T21" fmla="*/ 6 h 180"/>
              <a:gd name="T22" fmla="*/ 312 w 328"/>
              <a:gd name="T23" fmla="*/ 11 h 180"/>
              <a:gd name="T24" fmla="*/ 313 w 328"/>
              <a:gd name="T25" fmla="*/ 16 h 180"/>
              <a:gd name="T26" fmla="*/ 317 w 328"/>
              <a:gd name="T27" fmla="*/ 21 h 180"/>
              <a:gd name="T28" fmla="*/ 318 w 328"/>
              <a:gd name="T29" fmla="*/ 26 h 180"/>
              <a:gd name="T30" fmla="*/ 320 w 328"/>
              <a:gd name="T31" fmla="*/ 31 h 180"/>
              <a:gd name="T32" fmla="*/ 323 w 328"/>
              <a:gd name="T33" fmla="*/ 38 h 180"/>
              <a:gd name="T34" fmla="*/ 325 w 328"/>
              <a:gd name="T35" fmla="*/ 43 h 180"/>
              <a:gd name="T36" fmla="*/ 328 w 328"/>
              <a:gd name="T37" fmla="*/ 41 h 180"/>
              <a:gd name="T38" fmla="*/ 0 w 328"/>
              <a:gd name="T39" fmla="*/ 139 h 180"/>
              <a:gd name="T40" fmla="*/ 2 w 328"/>
              <a:gd name="T41" fmla="*/ 145 h 180"/>
              <a:gd name="T42" fmla="*/ 4 w 328"/>
              <a:gd name="T43" fmla="*/ 150 h 180"/>
              <a:gd name="T44" fmla="*/ 7 w 328"/>
              <a:gd name="T45" fmla="*/ 155 h 180"/>
              <a:gd name="T46" fmla="*/ 9 w 328"/>
              <a:gd name="T47" fmla="*/ 160 h 180"/>
              <a:gd name="T48" fmla="*/ 12 w 328"/>
              <a:gd name="T49" fmla="*/ 165 h 180"/>
              <a:gd name="T50" fmla="*/ 14 w 328"/>
              <a:gd name="T51" fmla="*/ 170 h 180"/>
              <a:gd name="T52" fmla="*/ 17 w 328"/>
              <a:gd name="T53" fmla="*/ 175 h 180"/>
              <a:gd name="T54" fmla="*/ 19 w 328"/>
              <a:gd name="T55" fmla="*/ 180 h 180"/>
              <a:gd name="T56" fmla="*/ 22 w 328"/>
              <a:gd name="T57" fmla="*/ 178 h 180"/>
              <a:gd name="T58" fmla="*/ 20 w 328"/>
              <a:gd name="T59" fmla="*/ 173 h 180"/>
              <a:gd name="T60" fmla="*/ 17 w 328"/>
              <a:gd name="T61" fmla="*/ 168 h 180"/>
              <a:gd name="T62" fmla="*/ 14 w 328"/>
              <a:gd name="T63" fmla="*/ 164 h 180"/>
              <a:gd name="T64" fmla="*/ 12 w 328"/>
              <a:gd name="T65" fmla="*/ 159 h 180"/>
              <a:gd name="T66" fmla="*/ 10 w 328"/>
              <a:gd name="T67" fmla="*/ 154 h 180"/>
              <a:gd name="T68" fmla="*/ 7 w 328"/>
              <a:gd name="T69" fmla="*/ 149 h 180"/>
              <a:gd name="T70" fmla="*/ 5 w 328"/>
              <a:gd name="T71" fmla="*/ 144 h 180"/>
              <a:gd name="T72" fmla="*/ 4 w 328"/>
              <a:gd name="T73" fmla="*/ 137 h 180"/>
              <a:gd name="T74" fmla="*/ 0 w 328"/>
              <a:gd name="T75" fmla="*/ 139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8" h="180">
                <a:moveTo>
                  <a:pt x="328" y="41"/>
                </a:moveTo>
                <a:lnTo>
                  <a:pt x="325" y="36"/>
                </a:lnTo>
                <a:lnTo>
                  <a:pt x="323" y="31"/>
                </a:lnTo>
                <a:lnTo>
                  <a:pt x="322" y="24"/>
                </a:lnTo>
                <a:lnTo>
                  <a:pt x="320" y="19"/>
                </a:lnTo>
                <a:lnTo>
                  <a:pt x="317" y="15"/>
                </a:lnTo>
                <a:lnTo>
                  <a:pt x="315" y="10"/>
                </a:lnTo>
                <a:lnTo>
                  <a:pt x="312" y="5"/>
                </a:lnTo>
                <a:lnTo>
                  <a:pt x="308" y="0"/>
                </a:lnTo>
                <a:lnTo>
                  <a:pt x="305" y="1"/>
                </a:lnTo>
                <a:lnTo>
                  <a:pt x="308" y="6"/>
                </a:lnTo>
                <a:lnTo>
                  <a:pt x="312" y="11"/>
                </a:lnTo>
                <a:lnTo>
                  <a:pt x="313" y="16"/>
                </a:lnTo>
                <a:lnTo>
                  <a:pt x="317" y="21"/>
                </a:lnTo>
                <a:lnTo>
                  <a:pt x="318" y="26"/>
                </a:lnTo>
                <a:lnTo>
                  <a:pt x="320" y="31"/>
                </a:lnTo>
                <a:lnTo>
                  <a:pt x="323" y="38"/>
                </a:lnTo>
                <a:lnTo>
                  <a:pt x="325" y="43"/>
                </a:lnTo>
                <a:lnTo>
                  <a:pt x="328" y="41"/>
                </a:lnTo>
                <a:close/>
                <a:moveTo>
                  <a:pt x="0" y="139"/>
                </a:moveTo>
                <a:lnTo>
                  <a:pt x="2" y="145"/>
                </a:lnTo>
                <a:lnTo>
                  <a:pt x="4" y="150"/>
                </a:lnTo>
                <a:lnTo>
                  <a:pt x="7" y="155"/>
                </a:lnTo>
                <a:lnTo>
                  <a:pt x="9" y="160"/>
                </a:lnTo>
                <a:lnTo>
                  <a:pt x="12" y="165"/>
                </a:lnTo>
                <a:lnTo>
                  <a:pt x="14" y="170"/>
                </a:lnTo>
                <a:lnTo>
                  <a:pt x="17" y="175"/>
                </a:lnTo>
                <a:lnTo>
                  <a:pt x="19" y="180"/>
                </a:lnTo>
                <a:lnTo>
                  <a:pt x="22" y="178"/>
                </a:lnTo>
                <a:lnTo>
                  <a:pt x="20" y="173"/>
                </a:lnTo>
                <a:lnTo>
                  <a:pt x="17" y="168"/>
                </a:lnTo>
                <a:lnTo>
                  <a:pt x="14" y="164"/>
                </a:lnTo>
                <a:lnTo>
                  <a:pt x="12" y="159"/>
                </a:lnTo>
                <a:lnTo>
                  <a:pt x="10" y="154"/>
                </a:lnTo>
                <a:lnTo>
                  <a:pt x="7" y="149"/>
                </a:lnTo>
                <a:lnTo>
                  <a:pt x="5" y="144"/>
                </a:lnTo>
                <a:lnTo>
                  <a:pt x="4" y="137"/>
                </a:lnTo>
                <a:lnTo>
                  <a:pt x="0" y="139"/>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05" name="Freeform 2110">
            <a:extLst>
              <a:ext uri="{FF2B5EF4-FFF2-40B4-BE49-F238E27FC236}">
                <a16:creationId xmlns:a16="http://schemas.microsoft.com/office/drawing/2014/main" id="{04ACFB38-3CAD-203F-892E-1742934651FF}"/>
              </a:ext>
            </a:extLst>
          </p:cNvPr>
          <p:cNvSpPr>
            <a:spLocks noEditPoints="1"/>
          </p:cNvSpPr>
          <p:nvPr/>
        </p:nvSpPr>
        <p:spPr bwMode="auto">
          <a:xfrm>
            <a:off x="3262313" y="2459038"/>
            <a:ext cx="515938" cy="282575"/>
          </a:xfrm>
          <a:custGeom>
            <a:avLst/>
            <a:gdLst>
              <a:gd name="T0" fmla="*/ 325 w 325"/>
              <a:gd name="T1" fmla="*/ 43 h 178"/>
              <a:gd name="T2" fmla="*/ 323 w 325"/>
              <a:gd name="T3" fmla="*/ 36 h 178"/>
              <a:gd name="T4" fmla="*/ 320 w 325"/>
              <a:gd name="T5" fmla="*/ 31 h 178"/>
              <a:gd name="T6" fmla="*/ 318 w 325"/>
              <a:gd name="T7" fmla="*/ 26 h 178"/>
              <a:gd name="T8" fmla="*/ 316 w 325"/>
              <a:gd name="T9" fmla="*/ 19 h 178"/>
              <a:gd name="T10" fmla="*/ 313 w 325"/>
              <a:gd name="T11" fmla="*/ 15 h 178"/>
              <a:gd name="T12" fmla="*/ 311 w 325"/>
              <a:gd name="T13" fmla="*/ 10 h 178"/>
              <a:gd name="T14" fmla="*/ 308 w 325"/>
              <a:gd name="T15" fmla="*/ 5 h 178"/>
              <a:gd name="T16" fmla="*/ 305 w 325"/>
              <a:gd name="T17" fmla="*/ 0 h 178"/>
              <a:gd name="T18" fmla="*/ 301 w 325"/>
              <a:gd name="T19" fmla="*/ 1 h 178"/>
              <a:gd name="T20" fmla="*/ 305 w 325"/>
              <a:gd name="T21" fmla="*/ 6 h 178"/>
              <a:gd name="T22" fmla="*/ 308 w 325"/>
              <a:gd name="T23" fmla="*/ 11 h 178"/>
              <a:gd name="T24" fmla="*/ 310 w 325"/>
              <a:gd name="T25" fmla="*/ 16 h 178"/>
              <a:gd name="T26" fmla="*/ 313 w 325"/>
              <a:gd name="T27" fmla="*/ 21 h 178"/>
              <a:gd name="T28" fmla="*/ 315 w 325"/>
              <a:gd name="T29" fmla="*/ 28 h 178"/>
              <a:gd name="T30" fmla="*/ 318 w 325"/>
              <a:gd name="T31" fmla="*/ 33 h 178"/>
              <a:gd name="T32" fmla="*/ 320 w 325"/>
              <a:gd name="T33" fmla="*/ 38 h 178"/>
              <a:gd name="T34" fmla="*/ 321 w 325"/>
              <a:gd name="T35" fmla="*/ 44 h 178"/>
              <a:gd name="T36" fmla="*/ 325 w 325"/>
              <a:gd name="T37" fmla="*/ 43 h 178"/>
              <a:gd name="T38" fmla="*/ 0 w 325"/>
              <a:gd name="T39" fmla="*/ 139 h 178"/>
              <a:gd name="T40" fmla="*/ 2 w 325"/>
              <a:gd name="T41" fmla="*/ 144 h 178"/>
              <a:gd name="T42" fmla="*/ 3 w 325"/>
              <a:gd name="T43" fmla="*/ 149 h 178"/>
              <a:gd name="T44" fmla="*/ 7 w 325"/>
              <a:gd name="T45" fmla="*/ 154 h 178"/>
              <a:gd name="T46" fmla="*/ 8 w 325"/>
              <a:gd name="T47" fmla="*/ 160 h 178"/>
              <a:gd name="T48" fmla="*/ 10 w 325"/>
              <a:gd name="T49" fmla="*/ 165 h 178"/>
              <a:gd name="T50" fmla="*/ 13 w 325"/>
              <a:gd name="T51" fmla="*/ 170 h 178"/>
              <a:gd name="T52" fmla="*/ 17 w 325"/>
              <a:gd name="T53" fmla="*/ 173 h 178"/>
              <a:gd name="T54" fmla="*/ 18 w 325"/>
              <a:gd name="T55" fmla="*/ 178 h 178"/>
              <a:gd name="T56" fmla="*/ 22 w 325"/>
              <a:gd name="T57" fmla="*/ 178 h 178"/>
              <a:gd name="T58" fmla="*/ 18 w 325"/>
              <a:gd name="T59" fmla="*/ 173 h 178"/>
              <a:gd name="T60" fmla="*/ 17 w 325"/>
              <a:gd name="T61" fmla="*/ 168 h 178"/>
              <a:gd name="T62" fmla="*/ 13 w 325"/>
              <a:gd name="T63" fmla="*/ 164 h 178"/>
              <a:gd name="T64" fmla="*/ 12 w 325"/>
              <a:gd name="T65" fmla="*/ 159 h 178"/>
              <a:gd name="T66" fmla="*/ 8 w 325"/>
              <a:gd name="T67" fmla="*/ 154 h 178"/>
              <a:gd name="T68" fmla="*/ 7 w 325"/>
              <a:gd name="T69" fmla="*/ 147 h 178"/>
              <a:gd name="T70" fmla="*/ 5 w 325"/>
              <a:gd name="T71" fmla="*/ 142 h 178"/>
              <a:gd name="T72" fmla="*/ 3 w 325"/>
              <a:gd name="T73" fmla="*/ 137 h 178"/>
              <a:gd name="T74" fmla="*/ 0 w 325"/>
              <a:gd name="T75" fmla="*/ 13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5" h="178">
                <a:moveTo>
                  <a:pt x="325" y="43"/>
                </a:moveTo>
                <a:lnTo>
                  <a:pt x="323" y="36"/>
                </a:lnTo>
                <a:lnTo>
                  <a:pt x="320" y="31"/>
                </a:lnTo>
                <a:lnTo>
                  <a:pt x="318" y="26"/>
                </a:lnTo>
                <a:lnTo>
                  <a:pt x="316" y="19"/>
                </a:lnTo>
                <a:lnTo>
                  <a:pt x="313" y="15"/>
                </a:lnTo>
                <a:lnTo>
                  <a:pt x="311" y="10"/>
                </a:lnTo>
                <a:lnTo>
                  <a:pt x="308" y="5"/>
                </a:lnTo>
                <a:lnTo>
                  <a:pt x="305" y="0"/>
                </a:lnTo>
                <a:lnTo>
                  <a:pt x="301" y="1"/>
                </a:lnTo>
                <a:lnTo>
                  <a:pt x="305" y="6"/>
                </a:lnTo>
                <a:lnTo>
                  <a:pt x="308" y="11"/>
                </a:lnTo>
                <a:lnTo>
                  <a:pt x="310" y="16"/>
                </a:lnTo>
                <a:lnTo>
                  <a:pt x="313" y="21"/>
                </a:lnTo>
                <a:lnTo>
                  <a:pt x="315" y="28"/>
                </a:lnTo>
                <a:lnTo>
                  <a:pt x="318" y="33"/>
                </a:lnTo>
                <a:lnTo>
                  <a:pt x="320" y="38"/>
                </a:lnTo>
                <a:lnTo>
                  <a:pt x="321" y="44"/>
                </a:lnTo>
                <a:lnTo>
                  <a:pt x="325" y="43"/>
                </a:lnTo>
                <a:close/>
                <a:moveTo>
                  <a:pt x="0" y="139"/>
                </a:moveTo>
                <a:lnTo>
                  <a:pt x="2" y="144"/>
                </a:lnTo>
                <a:lnTo>
                  <a:pt x="3" y="149"/>
                </a:lnTo>
                <a:lnTo>
                  <a:pt x="7" y="154"/>
                </a:lnTo>
                <a:lnTo>
                  <a:pt x="8" y="160"/>
                </a:lnTo>
                <a:lnTo>
                  <a:pt x="10" y="165"/>
                </a:lnTo>
                <a:lnTo>
                  <a:pt x="13" y="170"/>
                </a:lnTo>
                <a:lnTo>
                  <a:pt x="17" y="173"/>
                </a:lnTo>
                <a:lnTo>
                  <a:pt x="18" y="178"/>
                </a:lnTo>
                <a:lnTo>
                  <a:pt x="22" y="178"/>
                </a:lnTo>
                <a:lnTo>
                  <a:pt x="18" y="173"/>
                </a:lnTo>
                <a:lnTo>
                  <a:pt x="17" y="168"/>
                </a:lnTo>
                <a:lnTo>
                  <a:pt x="13" y="164"/>
                </a:lnTo>
                <a:lnTo>
                  <a:pt x="12" y="159"/>
                </a:lnTo>
                <a:lnTo>
                  <a:pt x="8" y="154"/>
                </a:lnTo>
                <a:lnTo>
                  <a:pt x="7" y="147"/>
                </a:lnTo>
                <a:lnTo>
                  <a:pt x="5" y="142"/>
                </a:lnTo>
                <a:lnTo>
                  <a:pt x="3" y="137"/>
                </a:lnTo>
                <a:lnTo>
                  <a:pt x="0" y="139"/>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06" name="Freeform 2111">
            <a:extLst>
              <a:ext uri="{FF2B5EF4-FFF2-40B4-BE49-F238E27FC236}">
                <a16:creationId xmlns:a16="http://schemas.microsoft.com/office/drawing/2014/main" id="{073D26AB-7681-50A7-4EC8-5DFDCA37D299}"/>
              </a:ext>
            </a:extLst>
          </p:cNvPr>
          <p:cNvSpPr>
            <a:spLocks noEditPoints="1"/>
          </p:cNvSpPr>
          <p:nvPr/>
        </p:nvSpPr>
        <p:spPr bwMode="auto">
          <a:xfrm>
            <a:off x="3265488" y="2460625"/>
            <a:ext cx="509588" cy="280988"/>
          </a:xfrm>
          <a:custGeom>
            <a:avLst/>
            <a:gdLst>
              <a:gd name="T0" fmla="*/ 321 w 321"/>
              <a:gd name="T1" fmla="*/ 42 h 177"/>
              <a:gd name="T2" fmla="*/ 319 w 321"/>
              <a:gd name="T3" fmla="*/ 37 h 177"/>
              <a:gd name="T4" fmla="*/ 316 w 321"/>
              <a:gd name="T5" fmla="*/ 30 h 177"/>
              <a:gd name="T6" fmla="*/ 314 w 321"/>
              <a:gd name="T7" fmla="*/ 25 h 177"/>
              <a:gd name="T8" fmla="*/ 313 w 321"/>
              <a:gd name="T9" fmla="*/ 20 h 177"/>
              <a:gd name="T10" fmla="*/ 309 w 321"/>
              <a:gd name="T11" fmla="*/ 15 h 177"/>
              <a:gd name="T12" fmla="*/ 308 w 321"/>
              <a:gd name="T13" fmla="*/ 10 h 177"/>
              <a:gd name="T14" fmla="*/ 304 w 321"/>
              <a:gd name="T15" fmla="*/ 5 h 177"/>
              <a:gd name="T16" fmla="*/ 301 w 321"/>
              <a:gd name="T17" fmla="*/ 0 h 177"/>
              <a:gd name="T18" fmla="*/ 298 w 321"/>
              <a:gd name="T19" fmla="*/ 0 h 177"/>
              <a:gd name="T20" fmla="*/ 301 w 321"/>
              <a:gd name="T21" fmla="*/ 5 h 177"/>
              <a:gd name="T22" fmla="*/ 304 w 321"/>
              <a:gd name="T23" fmla="*/ 10 h 177"/>
              <a:gd name="T24" fmla="*/ 308 w 321"/>
              <a:gd name="T25" fmla="*/ 17 h 177"/>
              <a:gd name="T26" fmla="*/ 309 w 321"/>
              <a:gd name="T27" fmla="*/ 22 h 177"/>
              <a:gd name="T28" fmla="*/ 311 w 321"/>
              <a:gd name="T29" fmla="*/ 27 h 177"/>
              <a:gd name="T30" fmla="*/ 314 w 321"/>
              <a:gd name="T31" fmla="*/ 32 h 177"/>
              <a:gd name="T32" fmla="*/ 316 w 321"/>
              <a:gd name="T33" fmla="*/ 38 h 177"/>
              <a:gd name="T34" fmla="*/ 318 w 321"/>
              <a:gd name="T35" fmla="*/ 43 h 177"/>
              <a:gd name="T36" fmla="*/ 321 w 321"/>
              <a:gd name="T37" fmla="*/ 42 h 177"/>
              <a:gd name="T38" fmla="*/ 0 w 321"/>
              <a:gd name="T39" fmla="*/ 136 h 177"/>
              <a:gd name="T40" fmla="*/ 1 w 321"/>
              <a:gd name="T41" fmla="*/ 143 h 177"/>
              <a:gd name="T42" fmla="*/ 3 w 321"/>
              <a:gd name="T43" fmla="*/ 148 h 177"/>
              <a:gd name="T44" fmla="*/ 6 w 321"/>
              <a:gd name="T45" fmla="*/ 153 h 177"/>
              <a:gd name="T46" fmla="*/ 8 w 321"/>
              <a:gd name="T47" fmla="*/ 158 h 177"/>
              <a:gd name="T48" fmla="*/ 10 w 321"/>
              <a:gd name="T49" fmla="*/ 163 h 177"/>
              <a:gd name="T50" fmla="*/ 13 w 321"/>
              <a:gd name="T51" fmla="*/ 167 h 177"/>
              <a:gd name="T52" fmla="*/ 16 w 321"/>
              <a:gd name="T53" fmla="*/ 172 h 177"/>
              <a:gd name="T54" fmla="*/ 18 w 321"/>
              <a:gd name="T55" fmla="*/ 177 h 177"/>
              <a:gd name="T56" fmla="*/ 21 w 321"/>
              <a:gd name="T57" fmla="*/ 176 h 177"/>
              <a:gd name="T58" fmla="*/ 18 w 321"/>
              <a:gd name="T59" fmla="*/ 171 h 177"/>
              <a:gd name="T60" fmla="*/ 16 w 321"/>
              <a:gd name="T61" fmla="*/ 166 h 177"/>
              <a:gd name="T62" fmla="*/ 13 w 321"/>
              <a:gd name="T63" fmla="*/ 161 h 177"/>
              <a:gd name="T64" fmla="*/ 11 w 321"/>
              <a:gd name="T65" fmla="*/ 156 h 177"/>
              <a:gd name="T66" fmla="*/ 8 w 321"/>
              <a:gd name="T67" fmla="*/ 151 h 177"/>
              <a:gd name="T68" fmla="*/ 6 w 321"/>
              <a:gd name="T69" fmla="*/ 146 h 177"/>
              <a:gd name="T70" fmla="*/ 5 w 321"/>
              <a:gd name="T71" fmla="*/ 141 h 177"/>
              <a:gd name="T72" fmla="*/ 3 w 321"/>
              <a:gd name="T73" fmla="*/ 136 h 177"/>
              <a:gd name="T74" fmla="*/ 0 w 321"/>
              <a:gd name="T75" fmla="*/ 136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1" h="177">
                <a:moveTo>
                  <a:pt x="321" y="42"/>
                </a:moveTo>
                <a:lnTo>
                  <a:pt x="319" y="37"/>
                </a:lnTo>
                <a:lnTo>
                  <a:pt x="316" y="30"/>
                </a:lnTo>
                <a:lnTo>
                  <a:pt x="314" y="25"/>
                </a:lnTo>
                <a:lnTo>
                  <a:pt x="313" y="20"/>
                </a:lnTo>
                <a:lnTo>
                  <a:pt x="309" y="15"/>
                </a:lnTo>
                <a:lnTo>
                  <a:pt x="308" y="10"/>
                </a:lnTo>
                <a:lnTo>
                  <a:pt x="304" y="5"/>
                </a:lnTo>
                <a:lnTo>
                  <a:pt x="301" y="0"/>
                </a:lnTo>
                <a:lnTo>
                  <a:pt x="298" y="0"/>
                </a:lnTo>
                <a:lnTo>
                  <a:pt x="301" y="5"/>
                </a:lnTo>
                <a:lnTo>
                  <a:pt x="304" y="10"/>
                </a:lnTo>
                <a:lnTo>
                  <a:pt x="308" y="17"/>
                </a:lnTo>
                <a:lnTo>
                  <a:pt x="309" y="22"/>
                </a:lnTo>
                <a:lnTo>
                  <a:pt x="311" y="27"/>
                </a:lnTo>
                <a:lnTo>
                  <a:pt x="314" y="32"/>
                </a:lnTo>
                <a:lnTo>
                  <a:pt x="316" y="38"/>
                </a:lnTo>
                <a:lnTo>
                  <a:pt x="318" y="43"/>
                </a:lnTo>
                <a:lnTo>
                  <a:pt x="321" y="42"/>
                </a:lnTo>
                <a:close/>
                <a:moveTo>
                  <a:pt x="0" y="136"/>
                </a:moveTo>
                <a:lnTo>
                  <a:pt x="1" y="143"/>
                </a:lnTo>
                <a:lnTo>
                  <a:pt x="3" y="148"/>
                </a:lnTo>
                <a:lnTo>
                  <a:pt x="6" y="153"/>
                </a:lnTo>
                <a:lnTo>
                  <a:pt x="8" y="158"/>
                </a:lnTo>
                <a:lnTo>
                  <a:pt x="10" y="163"/>
                </a:lnTo>
                <a:lnTo>
                  <a:pt x="13" y="167"/>
                </a:lnTo>
                <a:lnTo>
                  <a:pt x="16" y="172"/>
                </a:lnTo>
                <a:lnTo>
                  <a:pt x="18" y="177"/>
                </a:lnTo>
                <a:lnTo>
                  <a:pt x="21" y="176"/>
                </a:lnTo>
                <a:lnTo>
                  <a:pt x="18" y="171"/>
                </a:lnTo>
                <a:lnTo>
                  <a:pt x="16" y="166"/>
                </a:lnTo>
                <a:lnTo>
                  <a:pt x="13" y="161"/>
                </a:lnTo>
                <a:lnTo>
                  <a:pt x="11" y="156"/>
                </a:lnTo>
                <a:lnTo>
                  <a:pt x="8" y="151"/>
                </a:lnTo>
                <a:lnTo>
                  <a:pt x="6" y="146"/>
                </a:lnTo>
                <a:lnTo>
                  <a:pt x="5" y="141"/>
                </a:lnTo>
                <a:lnTo>
                  <a:pt x="3" y="136"/>
                </a:lnTo>
                <a:lnTo>
                  <a:pt x="0" y="136"/>
                </a:lnTo>
                <a:close/>
              </a:path>
            </a:pathLst>
          </a:custGeom>
          <a:solidFill>
            <a:srgbClr val="9CD2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07" name="Freeform 2112">
            <a:extLst>
              <a:ext uri="{FF2B5EF4-FFF2-40B4-BE49-F238E27FC236}">
                <a16:creationId xmlns:a16="http://schemas.microsoft.com/office/drawing/2014/main" id="{5E7A6570-328D-AF8E-6316-C42ED25A9829}"/>
              </a:ext>
            </a:extLst>
          </p:cNvPr>
          <p:cNvSpPr>
            <a:spLocks noEditPoints="1"/>
          </p:cNvSpPr>
          <p:nvPr/>
        </p:nvSpPr>
        <p:spPr bwMode="auto">
          <a:xfrm>
            <a:off x="3267075" y="2460625"/>
            <a:ext cx="504825" cy="280988"/>
          </a:xfrm>
          <a:custGeom>
            <a:avLst/>
            <a:gdLst>
              <a:gd name="T0" fmla="*/ 318 w 318"/>
              <a:gd name="T1" fmla="*/ 43 h 177"/>
              <a:gd name="T2" fmla="*/ 317 w 318"/>
              <a:gd name="T3" fmla="*/ 37 h 177"/>
              <a:gd name="T4" fmla="*/ 315 w 318"/>
              <a:gd name="T5" fmla="*/ 32 h 177"/>
              <a:gd name="T6" fmla="*/ 312 w 318"/>
              <a:gd name="T7" fmla="*/ 27 h 177"/>
              <a:gd name="T8" fmla="*/ 310 w 318"/>
              <a:gd name="T9" fmla="*/ 20 h 177"/>
              <a:gd name="T10" fmla="*/ 307 w 318"/>
              <a:gd name="T11" fmla="*/ 15 h 177"/>
              <a:gd name="T12" fmla="*/ 305 w 318"/>
              <a:gd name="T13" fmla="*/ 10 h 177"/>
              <a:gd name="T14" fmla="*/ 302 w 318"/>
              <a:gd name="T15" fmla="*/ 5 h 177"/>
              <a:gd name="T16" fmla="*/ 298 w 318"/>
              <a:gd name="T17" fmla="*/ 0 h 177"/>
              <a:gd name="T18" fmla="*/ 295 w 318"/>
              <a:gd name="T19" fmla="*/ 2 h 177"/>
              <a:gd name="T20" fmla="*/ 298 w 318"/>
              <a:gd name="T21" fmla="*/ 7 h 177"/>
              <a:gd name="T22" fmla="*/ 302 w 318"/>
              <a:gd name="T23" fmla="*/ 12 h 177"/>
              <a:gd name="T24" fmla="*/ 305 w 318"/>
              <a:gd name="T25" fmla="*/ 17 h 177"/>
              <a:gd name="T26" fmla="*/ 307 w 318"/>
              <a:gd name="T27" fmla="*/ 22 h 177"/>
              <a:gd name="T28" fmla="*/ 308 w 318"/>
              <a:gd name="T29" fmla="*/ 27 h 177"/>
              <a:gd name="T30" fmla="*/ 312 w 318"/>
              <a:gd name="T31" fmla="*/ 33 h 177"/>
              <a:gd name="T32" fmla="*/ 313 w 318"/>
              <a:gd name="T33" fmla="*/ 38 h 177"/>
              <a:gd name="T34" fmla="*/ 315 w 318"/>
              <a:gd name="T35" fmla="*/ 43 h 177"/>
              <a:gd name="T36" fmla="*/ 318 w 318"/>
              <a:gd name="T37" fmla="*/ 43 h 177"/>
              <a:gd name="T38" fmla="*/ 0 w 318"/>
              <a:gd name="T39" fmla="*/ 136 h 177"/>
              <a:gd name="T40" fmla="*/ 2 w 318"/>
              <a:gd name="T41" fmla="*/ 141 h 177"/>
              <a:gd name="T42" fmla="*/ 4 w 318"/>
              <a:gd name="T43" fmla="*/ 146 h 177"/>
              <a:gd name="T44" fmla="*/ 5 w 318"/>
              <a:gd name="T45" fmla="*/ 153 h 177"/>
              <a:gd name="T46" fmla="*/ 9 w 318"/>
              <a:gd name="T47" fmla="*/ 158 h 177"/>
              <a:gd name="T48" fmla="*/ 10 w 318"/>
              <a:gd name="T49" fmla="*/ 163 h 177"/>
              <a:gd name="T50" fmla="*/ 14 w 318"/>
              <a:gd name="T51" fmla="*/ 167 h 177"/>
              <a:gd name="T52" fmla="*/ 15 w 318"/>
              <a:gd name="T53" fmla="*/ 172 h 177"/>
              <a:gd name="T54" fmla="*/ 19 w 318"/>
              <a:gd name="T55" fmla="*/ 177 h 177"/>
              <a:gd name="T56" fmla="*/ 22 w 318"/>
              <a:gd name="T57" fmla="*/ 176 h 177"/>
              <a:gd name="T58" fmla="*/ 19 w 318"/>
              <a:gd name="T59" fmla="*/ 171 h 177"/>
              <a:gd name="T60" fmla="*/ 17 w 318"/>
              <a:gd name="T61" fmla="*/ 166 h 177"/>
              <a:gd name="T62" fmla="*/ 14 w 318"/>
              <a:gd name="T63" fmla="*/ 161 h 177"/>
              <a:gd name="T64" fmla="*/ 12 w 318"/>
              <a:gd name="T65" fmla="*/ 156 h 177"/>
              <a:gd name="T66" fmla="*/ 9 w 318"/>
              <a:gd name="T67" fmla="*/ 151 h 177"/>
              <a:gd name="T68" fmla="*/ 7 w 318"/>
              <a:gd name="T69" fmla="*/ 146 h 177"/>
              <a:gd name="T70" fmla="*/ 5 w 318"/>
              <a:gd name="T71" fmla="*/ 139 h 177"/>
              <a:gd name="T72" fmla="*/ 4 w 318"/>
              <a:gd name="T73" fmla="*/ 134 h 177"/>
              <a:gd name="T74" fmla="*/ 0 w 318"/>
              <a:gd name="T75" fmla="*/ 136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18" h="177">
                <a:moveTo>
                  <a:pt x="318" y="43"/>
                </a:moveTo>
                <a:lnTo>
                  <a:pt x="317" y="37"/>
                </a:lnTo>
                <a:lnTo>
                  <a:pt x="315" y="32"/>
                </a:lnTo>
                <a:lnTo>
                  <a:pt x="312" y="27"/>
                </a:lnTo>
                <a:lnTo>
                  <a:pt x="310" y="20"/>
                </a:lnTo>
                <a:lnTo>
                  <a:pt x="307" y="15"/>
                </a:lnTo>
                <a:lnTo>
                  <a:pt x="305" y="10"/>
                </a:lnTo>
                <a:lnTo>
                  <a:pt x="302" y="5"/>
                </a:lnTo>
                <a:lnTo>
                  <a:pt x="298" y="0"/>
                </a:lnTo>
                <a:lnTo>
                  <a:pt x="295" y="2"/>
                </a:lnTo>
                <a:lnTo>
                  <a:pt x="298" y="7"/>
                </a:lnTo>
                <a:lnTo>
                  <a:pt x="302" y="12"/>
                </a:lnTo>
                <a:lnTo>
                  <a:pt x="305" y="17"/>
                </a:lnTo>
                <a:lnTo>
                  <a:pt x="307" y="22"/>
                </a:lnTo>
                <a:lnTo>
                  <a:pt x="308" y="27"/>
                </a:lnTo>
                <a:lnTo>
                  <a:pt x="312" y="33"/>
                </a:lnTo>
                <a:lnTo>
                  <a:pt x="313" y="38"/>
                </a:lnTo>
                <a:lnTo>
                  <a:pt x="315" y="43"/>
                </a:lnTo>
                <a:lnTo>
                  <a:pt x="318" y="43"/>
                </a:lnTo>
                <a:close/>
                <a:moveTo>
                  <a:pt x="0" y="136"/>
                </a:moveTo>
                <a:lnTo>
                  <a:pt x="2" y="141"/>
                </a:lnTo>
                <a:lnTo>
                  <a:pt x="4" y="146"/>
                </a:lnTo>
                <a:lnTo>
                  <a:pt x="5" y="153"/>
                </a:lnTo>
                <a:lnTo>
                  <a:pt x="9" y="158"/>
                </a:lnTo>
                <a:lnTo>
                  <a:pt x="10" y="163"/>
                </a:lnTo>
                <a:lnTo>
                  <a:pt x="14" y="167"/>
                </a:lnTo>
                <a:lnTo>
                  <a:pt x="15" y="172"/>
                </a:lnTo>
                <a:lnTo>
                  <a:pt x="19" y="177"/>
                </a:lnTo>
                <a:lnTo>
                  <a:pt x="22" y="176"/>
                </a:lnTo>
                <a:lnTo>
                  <a:pt x="19" y="171"/>
                </a:lnTo>
                <a:lnTo>
                  <a:pt x="17" y="166"/>
                </a:lnTo>
                <a:lnTo>
                  <a:pt x="14" y="161"/>
                </a:lnTo>
                <a:lnTo>
                  <a:pt x="12" y="156"/>
                </a:lnTo>
                <a:lnTo>
                  <a:pt x="9" y="151"/>
                </a:lnTo>
                <a:lnTo>
                  <a:pt x="7" y="146"/>
                </a:lnTo>
                <a:lnTo>
                  <a:pt x="5" y="139"/>
                </a:lnTo>
                <a:lnTo>
                  <a:pt x="4" y="134"/>
                </a:lnTo>
                <a:lnTo>
                  <a:pt x="0" y="136"/>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08" name="Freeform 2113">
            <a:extLst>
              <a:ext uri="{FF2B5EF4-FFF2-40B4-BE49-F238E27FC236}">
                <a16:creationId xmlns:a16="http://schemas.microsoft.com/office/drawing/2014/main" id="{EDC27CF0-CC24-F904-54AD-397CEB017065}"/>
              </a:ext>
            </a:extLst>
          </p:cNvPr>
          <p:cNvSpPr>
            <a:spLocks noEditPoints="1"/>
          </p:cNvSpPr>
          <p:nvPr/>
        </p:nvSpPr>
        <p:spPr bwMode="auto">
          <a:xfrm>
            <a:off x="3270250" y="2460625"/>
            <a:ext cx="500063" cy="279400"/>
          </a:xfrm>
          <a:custGeom>
            <a:avLst/>
            <a:gdLst>
              <a:gd name="T0" fmla="*/ 315 w 315"/>
              <a:gd name="T1" fmla="*/ 43 h 176"/>
              <a:gd name="T2" fmla="*/ 313 w 315"/>
              <a:gd name="T3" fmla="*/ 38 h 176"/>
              <a:gd name="T4" fmla="*/ 311 w 315"/>
              <a:gd name="T5" fmla="*/ 32 h 176"/>
              <a:gd name="T6" fmla="*/ 308 w 315"/>
              <a:gd name="T7" fmla="*/ 27 h 176"/>
              <a:gd name="T8" fmla="*/ 306 w 315"/>
              <a:gd name="T9" fmla="*/ 22 h 176"/>
              <a:gd name="T10" fmla="*/ 305 w 315"/>
              <a:gd name="T11" fmla="*/ 17 h 176"/>
              <a:gd name="T12" fmla="*/ 301 w 315"/>
              <a:gd name="T13" fmla="*/ 10 h 176"/>
              <a:gd name="T14" fmla="*/ 298 w 315"/>
              <a:gd name="T15" fmla="*/ 5 h 176"/>
              <a:gd name="T16" fmla="*/ 295 w 315"/>
              <a:gd name="T17" fmla="*/ 0 h 176"/>
              <a:gd name="T18" fmla="*/ 293 w 315"/>
              <a:gd name="T19" fmla="*/ 2 h 176"/>
              <a:gd name="T20" fmla="*/ 295 w 315"/>
              <a:gd name="T21" fmla="*/ 7 h 176"/>
              <a:gd name="T22" fmla="*/ 298 w 315"/>
              <a:gd name="T23" fmla="*/ 12 h 176"/>
              <a:gd name="T24" fmla="*/ 301 w 315"/>
              <a:gd name="T25" fmla="*/ 17 h 176"/>
              <a:gd name="T26" fmla="*/ 303 w 315"/>
              <a:gd name="T27" fmla="*/ 23 h 176"/>
              <a:gd name="T28" fmla="*/ 306 w 315"/>
              <a:gd name="T29" fmla="*/ 28 h 176"/>
              <a:gd name="T30" fmla="*/ 308 w 315"/>
              <a:gd name="T31" fmla="*/ 33 h 176"/>
              <a:gd name="T32" fmla="*/ 310 w 315"/>
              <a:gd name="T33" fmla="*/ 38 h 176"/>
              <a:gd name="T34" fmla="*/ 311 w 315"/>
              <a:gd name="T35" fmla="*/ 45 h 176"/>
              <a:gd name="T36" fmla="*/ 315 w 315"/>
              <a:gd name="T37" fmla="*/ 43 h 176"/>
              <a:gd name="T38" fmla="*/ 0 w 315"/>
              <a:gd name="T39" fmla="*/ 136 h 176"/>
              <a:gd name="T40" fmla="*/ 2 w 315"/>
              <a:gd name="T41" fmla="*/ 141 h 176"/>
              <a:gd name="T42" fmla="*/ 3 w 315"/>
              <a:gd name="T43" fmla="*/ 146 h 176"/>
              <a:gd name="T44" fmla="*/ 5 w 315"/>
              <a:gd name="T45" fmla="*/ 151 h 176"/>
              <a:gd name="T46" fmla="*/ 8 w 315"/>
              <a:gd name="T47" fmla="*/ 156 h 176"/>
              <a:gd name="T48" fmla="*/ 10 w 315"/>
              <a:gd name="T49" fmla="*/ 161 h 176"/>
              <a:gd name="T50" fmla="*/ 13 w 315"/>
              <a:gd name="T51" fmla="*/ 166 h 176"/>
              <a:gd name="T52" fmla="*/ 15 w 315"/>
              <a:gd name="T53" fmla="*/ 171 h 176"/>
              <a:gd name="T54" fmla="*/ 18 w 315"/>
              <a:gd name="T55" fmla="*/ 176 h 176"/>
              <a:gd name="T56" fmla="*/ 22 w 315"/>
              <a:gd name="T57" fmla="*/ 174 h 176"/>
              <a:gd name="T58" fmla="*/ 18 w 315"/>
              <a:gd name="T59" fmla="*/ 169 h 176"/>
              <a:gd name="T60" fmla="*/ 17 w 315"/>
              <a:gd name="T61" fmla="*/ 166 h 176"/>
              <a:gd name="T62" fmla="*/ 13 w 315"/>
              <a:gd name="T63" fmla="*/ 161 h 176"/>
              <a:gd name="T64" fmla="*/ 12 w 315"/>
              <a:gd name="T65" fmla="*/ 154 h 176"/>
              <a:gd name="T66" fmla="*/ 8 w 315"/>
              <a:gd name="T67" fmla="*/ 149 h 176"/>
              <a:gd name="T68" fmla="*/ 7 w 315"/>
              <a:gd name="T69" fmla="*/ 144 h 176"/>
              <a:gd name="T70" fmla="*/ 5 w 315"/>
              <a:gd name="T71" fmla="*/ 139 h 176"/>
              <a:gd name="T72" fmla="*/ 3 w 315"/>
              <a:gd name="T73" fmla="*/ 134 h 176"/>
              <a:gd name="T74" fmla="*/ 0 w 315"/>
              <a:gd name="T75" fmla="*/ 136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15" h="176">
                <a:moveTo>
                  <a:pt x="315" y="43"/>
                </a:moveTo>
                <a:lnTo>
                  <a:pt x="313" y="38"/>
                </a:lnTo>
                <a:lnTo>
                  <a:pt x="311" y="32"/>
                </a:lnTo>
                <a:lnTo>
                  <a:pt x="308" y="27"/>
                </a:lnTo>
                <a:lnTo>
                  <a:pt x="306" y="22"/>
                </a:lnTo>
                <a:lnTo>
                  <a:pt x="305" y="17"/>
                </a:lnTo>
                <a:lnTo>
                  <a:pt x="301" y="10"/>
                </a:lnTo>
                <a:lnTo>
                  <a:pt x="298" y="5"/>
                </a:lnTo>
                <a:lnTo>
                  <a:pt x="295" y="0"/>
                </a:lnTo>
                <a:lnTo>
                  <a:pt x="293" y="2"/>
                </a:lnTo>
                <a:lnTo>
                  <a:pt x="295" y="7"/>
                </a:lnTo>
                <a:lnTo>
                  <a:pt x="298" y="12"/>
                </a:lnTo>
                <a:lnTo>
                  <a:pt x="301" y="17"/>
                </a:lnTo>
                <a:lnTo>
                  <a:pt x="303" y="23"/>
                </a:lnTo>
                <a:lnTo>
                  <a:pt x="306" y="28"/>
                </a:lnTo>
                <a:lnTo>
                  <a:pt x="308" y="33"/>
                </a:lnTo>
                <a:lnTo>
                  <a:pt x="310" y="38"/>
                </a:lnTo>
                <a:lnTo>
                  <a:pt x="311" y="45"/>
                </a:lnTo>
                <a:lnTo>
                  <a:pt x="315" y="43"/>
                </a:lnTo>
                <a:close/>
                <a:moveTo>
                  <a:pt x="0" y="136"/>
                </a:moveTo>
                <a:lnTo>
                  <a:pt x="2" y="141"/>
                </a:lnTo>
                <a:lnTo>
                  <a:pt x="3" y="146"/>
                </a:lnTo>
                <a:lnTo>
                  <a:pt x="5" y="151"/>
                </a:lnTo>
                <a:lnTo>
                  <a:pt x="8" y="156"/>
                </a:lnTo>
                <a:lnTo>
                  <a:pt x="10" y="161"/>
                </a:lnTo>
                <a:lnTo>
                  <a:pt x="13" y="166"/>
                </a:lnTo>
                <a:lnTo>
                  <a:pt x="15" y="171"/>
                </a:lnTo>
                <a:lnTo>
                  <a:pt x="18" y="176"/>
                </a:lnTo>
                <a:lnTo>
                  <a:pt x="22" y="174"/>
                </a:lnTo>
                <a:lnTo>
                  <a:pt x="18" y="169"/>
                </a:lnTo>
                <a:lnTo>
                  <a:pt x="17" y="166"/>
                </a:lnTo>
                <a:lnTo>
                  <a:pt x="13" y="161"/>
                </a:lnTo>
                <a:lnTo>
                  <a:pt x="12" y="154"/>
                </a:lnTo>
                <a:lnTo>
                  <a:pt x="8" y="149"/>
                </a:lnTo>
                <a:lnTo>
                  <a:pt x="7" y="144"/>
                </a:lnTo>
                <a:lnTo>
                  <a:pt x="5" y="139"/>
                </a:lnTo>
                <a:lnTo>
                  <a:pt x="3" y="134"/>
                </a:lnTo>
                <a:lnTo>
                  <a:pt x="0" y="136"/>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09" name="Freeform 2114">
            <a:extLst>
              <a:ext uri="{FF2B5EF4-FFF2-40B4-BE49-F238E27FC236}">
                <a16:creationId xmlns:a16="http://schemas.microsoft.com/office/drawing/2014/main" id="{A25DC684-E9BB-7505-4A9C-F53D7CE29E93}"/>
              </a:ext>
            </a:extLst>
          </p:cNvPr>
          <p:cNvSpPr>
            <a:spLocks noEditPoints="1"/>
          </p:cNvSpPr>
          <p:nvPr/>
        </p:nvSpPr>
        <p:spPr bwMode="auto">
          <a:xfrm>
            <a:off x="3273425" y="2463800"/>
            <a:ext cx="493713" cy="276225"/>
          </a:xfrm>
          <a:custGeom>
            <a:avLst/>
            <a:gdLst>
              <a:gd name="T0" fmla="*/ 311 w 311"/>
              <a:gd name="T1" fmla="*/ 41 h 174"/>
              <a:gd name="T2" fmla="*/ 309 w 311"/>
              <a:gd name="T3" fmla="*/ 36 h 174"/>
              <a:gd name="T4" fmla="*/ 308 w 311"/>
              <a:gd name="T5" fmla="*/ 31 h 174"/>
              <a:gd name="T6" fmla="*/ 304 w 311"/>
              <a:gd name="T7" fmla="*/ 25 h 174"/>
              <a:gd name="T8" fmla="*/ 303 w 311"/>
              <a:gd name="T9" fmla="*/ 20 h 174"/>
              <a:gd name="T10" fmla="*/ 301 w 311"/>
              <a:gd name="T11" fmla="*/ 15 h 174"/>
              <a:gd name="T12" fmla="*/ 298 w 311"/>
              <a:gd name="T13" fmla="*/ 10 h 174"/>
              <a:gd name="T14" fmla="*/ 294 w 311"/>
              <a:gd name="T15" fmla="*/ 5 h 174"/>
              <a:gd name="T16" fmla="*/ 291 w 311"/>
              <a:gd name="T17" fmla="*/ 0 h 174"/>
              <a:gd name="T18" fmla="*/ 289 w 311"/>
              <a:gd name="T19" fmla="*/ 2 h 174"/>
              <a:gd name="T20" fmla="*/ 291 w 311"/>
              <a:gd name="T21" fmla="*/ 7 h 174"/>
              <a:gd name="T22" fmla="*/ 294 w 311"/>
              <a:gd name="T23" fmla="*/ 12 h 174"/>
              <a:gd name="T24" fmla="*/ 298 w 311"/>
              <a:gd name="T25" fmla="*/ 16 h 174"/>
              <a:gd name="T26" fmla="*/ 299 w 311"/>
              <a:gd name="T27" fmla="*/ 21 h 174"/>
              <a:gd name="T28" fmla="*/ 303 w 311"/>
              <a:gd name="T29" fmla="*/ 26 h 174"/>
              <a:gd name="T30" fmla="*/ 304 w 311"/>
              <a:gd name="T31" fmla="*/ 31 h 174"/>
              <a:gd name="T32" fmla="*/ 306 w 311"/>
              <a:gd name="T33" fmla="*/ 38 h 174"/>
              <a:gd name="T34" fmla="*/ 308 w 311"/>
              <a:gd name="T35" fmla="*/ 43 h 174"/>
              <a:gd name="T36" fmla="*/ 311 w 311"/>
              <a:gd name="T37" fmla="*/ 41 h 174"/>
              <a:gd name="T38" fmla="*/ 0 w 311"/>
              <a:gd name="T39" fmla="*/ 132 h 174"/>
              <a:gd name="T40" fmla="*/ 1 w 311"/>
              <a:gd name="T41" fmla="*/ 137 h 174"/>
              <a:gd name="T42" fmla="*/ 3 w 311"/>
              <a:gd name="T43" fmla="*/ 144 h 174"/>
              <a:gd name="T44" fmla="*/ 5 w 311"/>
              <a:gd name="T45" fmla="*/ 149 h 174"/>
              <a:gd name="T46" fmla="*/ 8 w 311"/>
              <a:gd name="T47" fmla="*/ 154 h 174"/>
              <a:gd name="T48" fmla="*/ 10 w 311"/>
              <a:gd name="T49" fmla="*/ 159 h 174"/>
              <a:gd name="T50" fmla="*/ 13 w 311"/>
              <a:gd name="T51" fmla="*/ 164 h 174"/>
              <a:gd name="T52" fmla="*/ 15 w 311"/>
              <a:gd name="T53" fmla="*/ 169 h 174"/>
              <a:gd name="T54" fmla="*/ 18 w 311"/>
              <a:gd name="T55" fmla="*/ 174 h 174"/>
              <a:gd name="T56" fmla="*/ 21 w 311"/>
              <a:gd name="T57" fmla="*/ 172 h 174"/>
              <a:gd name="T58" fmla="*/ 18 w 311"/>
              <a:gd name="T59" fmla="*/ 167 h 174"/>
              <a:gd name="T60" fmla="*/ 15 w 311"/>
              <a:gd name="T61" fmla="*/ 162 h 174"/>
              <a:gd name="T62" fmla="*/ 13 w 311"/>
              <a:gd name="T63" fmla="*/ 157 h 174"/>
              <a:gd name="T64" fmla="*/ 10 w 311"/>
              <a:gd name="T65" fmla="*/ 152 h 174"/>
              <a:gd name="T66" fmla="*/ 8 w 311"/>
              <a:gd name="T67" fmla="*/ 147 h 174"/>
              <a:gd name="T68" fmla="*/ 6 w 311"/>
              <a:gd name="T69" fmla="*/ 142 h 174"/>
              <a:gd name="T70" fmla="*/ 5 w 311"/>
              <a:gd name="T71" fmla="*/ 137 h 174"/>
              <a:gd name="T72" fmla="*/ 3 w 311"/>
              <a:gd name="T73" fmla="*/ 131 h 174"/>
              <a:gd name="T74" fmla="*/ 0 w 311"/>
              <a:gd name="T75" fmla="*/ 132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11" h="174">
                <a:moveTo>
                  <a:pt x="311" y="41"/>
                </a:moveTo>
                <a:lnTo>
                  <a:pt x="309" y="36"/>
                </a:lnTo>
                <a:lnTo>
                  <a:pt x="308" y="31"/>
                </a:lnTo>
                <a:lnTo>
                  <a:pt x="304" y="25"/>
                </a:lnTo>
                <a:lnTo>
                  <a:pt x="303" y="20"/>
                </a:lnTo>
                <a:lnTo>
                  <a:pt x="301" y="15"/>
                </a:lnTo>
                <a:lnTo>
                  <a:pt x="298" y="10"/>
                </a:lnTo>
                <a:lnTo>
                  <a:pt x="294" y="5"/>
                </a:lnTo>
                <a:lnTo>
                  <a:pt x="291" y="0"/>
                </a:lnTo>
                <a:lnTo>
                  <a:pt x="289" y="2"/>
                </a:lnTo>
                <a:lnTo>
                  <a:pt x="291" y="7"/>
                </a:lnTo>
                <a:lnTo>
                  <a:pt x="294" y="12"/>
                </a:lnTo>
                <a:lnTo>
                  <a:pt x="298" y="16"/>
                </a:lnTo>
                <a:lnTo>
                  <a:pt x="299" y="21"/>
                </a:lnTo>
                <a:lnTo>
                  <a:pt x="303" y="26"/>
                </a:lnTo>
                <a:lnTo>
                  <a:pt x="304" y="31"/>
                </a:lnTo>
                <a:lnTo>
                  <a:pt x="306" y="38"/>
                </a:lnTo>
                <a:lnTo>
                  <a:pt x="308" y="43"/>
                </a:lnTo>
                <a:lnTo>
                  <a:pt x="311" y="41"/>
                </a:lnTo>
                <a:close/>
                <a:moveTo>
                  <a:pt x="0" y="132"/>
                </a:moveTo>
                <a:lnTo>
                  <a:pt x="1" y="137"/>
                </a:lnTo>
                <a:lnTo>
                  <a:pt x="3" y="144"/>
                </a:lnTo>
                <a:lnTo>
                  <a:pt x="5" y="149"/>
                </a:lnTo>
                <a:lnTo>
                  <a:pt x="8" y="154"/>
                </a:lnTo>
                <a:lnTo>
                  <a:pt x="10" y="159"/>
                </a:lnTo>
                <a:lnTo>
                  <a:pt x="13" y="164"/>
                </a:lnTo>
                <a:lnTo>
                  <a:pt x="15" y="169"/>
                </a:lnTo>
                <a:lnTo>
                  <a:pt x="18" y="174"/>
                </a:lnTo>
                <a:lnTo>
                  <a:pt x="21" y="172"/>
                </a:lnTo>
                <a:lnTo>
                  <a:pt x="18" y="167"/>
                </a:lnTo>
                <a:lnTo>
                  <a:pt x="15" y="162"/>
                </a:lnTo>
                <a:lnTo>
                  <a:pt x="13" y="157"/>
                </a:lnTo>
                <a:lnTo>
                  <a:pt x="10" y="152"/>
                </a:lnTo>
                <a:lnTo>
                  <a:pt x="8" y="147"/>
                </a:lnTo>
                <a:lnTo>
                  <a:pt x="6" y="142"/>
                </a:lnTo>
                <a:lnTo>
                  <a:pt x="5" y="137"/>
                </a:lnTo>
                <a:lnTo>
                  <a:pt x="3" y="131"/>
                </a:lnTo>
                <a:lnTo>
                  <a:pt x="0" y="132"/>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10" name="Freeform 2115">
            <a:extLst>
              <a:ext uri="{FF2B5EF4-FFF2-40B4-BE49-F238E27FC236}">
                <a16:creationId xmlns:a16="http://schemas.microsoft.com/office/drawing/2014/main" id="{6988EC89-6D91-4D74-29FE-8C6948FF6B8D}"/>
              </a:ext>
            </a:extLst>
          </p:cNvPr>
          <p:cNvSpPr>
            <a:spLocks noEditPoints="1"/>
          </p:cNvSpPr>
          <p:nvPr/>
        </p:nvSpPr>
        <p:spPr bwMode="auto">
          <a:xfrm>
            <a:off x="3275013" y="2463800"/>
            <a:ext cx="488950" cy="273050"/>
          </a:xfrm>
          <a:custGeom>
            <a:avLst/>
            <a:gdLst>
              <a:gd name="T0" fmla="*/ 308 w 308"/>
              <a:gd name="T1" fmla="*/ 43 h 172"/>
              <a:gd name="T2" fmla="*/ 307 w 308"/>
              <a:gd name="T3" fmla="*/ 36 h 172"/>
              <a:gd name="T4" fmla="*/ 305 w 308"/>
              <a:gd name="T5" fmla="*/ 31 h 172"/>
              <a:gd name="T6" fmla="*/ 303 w 308"/>
              <a:gd name="T7" fmla="*/ 26 h 172"/>
              <a:gd name="T8" fmla="*/ 300 w 308"/>
              <a:gd name="T9" fmla="*/ 21 h 172"/>
              <a:gd name="T10" fmla="*/ 298 w 308"/>
              <a:gd name="T11" fmla="*/ 15 h 172"/>
              <a:gd name="T12" fmla="*/ 295 w 308"/>
              <a:gd name="T13" fmla="*/ 10 h 172"/>
              <a:gd name="T14" fmla="*/ 292 w 308"/>
              <a:gd name="T15" fmla="*/ 5 h 172"/>
              <a:gd name="T16" fmla="*/ 290 w 308"/>
              <a:gd name="T17" fmla="*/ 0 h 172"/>
              <a:gd name="T18" fmla="*/ 287 w 308"/>
              <a:gd name="T19" fmla="*/ 2 h 172"/>
              <a:gd name="T20" fmla="*/ 290 w 308"/>
              <a:gd name="T21" fmla="*/ 7 h 172"/>
              <a:gd name="T22" fmla="*/ 292 w 308"/>
              <a:gd name="T23" fmla="*/ 12 h 172"/>
              <a:gd name="T24" fmla="*/ 295 w 308"/>
              <a:gd name="T25" fmla="*/ 16 h 172"/>
              <a:gd name="T26" fmla="*/ 297 w 308"/>
              <a:gd name="T27" fmla="*/ 21 h 172"/>
              <a:gd name="T28" fmla="*/ 300 w 308"/>
              <a:gd name="T29" fmla="*/ 28 h 172"/>
              <a:gd name="T30" fmla="*/ 302 w 308"/>
              <a:gd name="T31" fmla="*/ 33 h 172"/>
              <a:gd name="T32" fmla="*/ 303 w 308"/>
              <a:gd name="T33" fmla="*/ 38 h 172"/>
              <a:gd name="T34" fmla="*/ 305 w 308"/>
              <a:gd name="T35" fmla="*/ 45 h 172"/>
              <a:gd name="T36" fmla="*/ 308 w 308"/>
              <a:gd name="T37" fmla="*/ 43 h 172"/>
              <a:gd name="T38" fmla="*/ 0 w 308"/>
              <a:gd name="T39" fmla="*/ 132 h 172"/>
              <a:gd name="T40" fmla="*/ 2 w 308"/>
              <a:gd name="T41" fmla="*/ 137 h 172"/>
              <a:gd name="T42" fmla="*/ 4 w 308"/>
              <a:gd name="T43" fmla="*/ 142 h 172"/>
              <a:gd name="T44" fmla="*/ 5 w 308"/>
              <a:gd name="T45" fmla="*/ 147 h 172"/>
              <a:gd name="T46" fmla="*/ 9 w 308"/>
              <a:gd name="T47" fmla="*/ 152 h 172"/>
              <a:gd name="T48" fmla="*/ 10 w 308"/>
              <a:gd name="T49" fmla="*/ 159 h 172"/>
              <a:gd name="T50" fmla="*/ 14 w 308"/>
              <a:gd name="T51" fmla="*/ 164 h 172"/>
              <a:gd name="T52" fmla="*/ 15 w 308"/>
              <a:gd name="T53" fmla="*/ 167 h 172"/>
              <a:gd name="T54" fmla="*/ 19 w 308"/>
              <a:gd name="T55" fmla="*/ 172 h 172"/>
              <a:gd name="T56" fmla="*/ 22 w 308"/>
              <a:gd name="T57" fmla="*/ 170 h 172"/>
              <a:gd name="T58" fmla="*/ 19 w 308"/>
              <a:gd name="T59" fmla="*/ 167 h 172"/>
              <a:gd name="T60" fmla="*/ 15 w 308"/>
              <a:gd name="T61" fmla="*/ 162 h 172"/>
              <a:gd name="T62" fmla="*/ 14 w 308"/>
              <a:gd name="T63" fmla="*/ 157 h 172"/>
              <a:gd name="T64" fmla="*/ 10 w 308"/>
              <a:gd name="T65" fmla="*/ 152 h 172"/>
              <a:gd name="T66" fmla="*/ 9 w 308"/>
              <a:gd name="T67" fmla="*/ 147 h 172"/>
              <a:gd name="T68" fmla="*/ 7 w 308"/>
              <a:gd name="T69" fmla="*/ 141 h 172"/>
              <a:gd name="T70" fmla="*/ 5 w 308"/>
              <a:gd name="T71" fmla="*/ 136 h 172"/>
              <a:gd name="T72" fmla="*/ 4 w 308"/>
              <a:gd name="T73" fmla="*/ 131 h 172"/>
              <a:gd name="T74" fmla="*/ 0 w 308"/>
              <a:gd name="T75" fmla="*/ 132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08" h="172">
                <a:moveTo>
                  <a:pt x="308" y="43"/>
                </a:moveTo>
                <a:lnTo>
                  <a:pt x="307" y="36"/>
                </a:lnTo>
                <a:lnTo>
                  <a:pt x="305" y="31"/>
                </a:lnTo>
                <a:lnTo>
                  <a:pt x="303" y="26"/>
                </a:lnTo>
                <a:lnTo>
                  <a:pt x="300" y="21"/>
                </a:lnTo>
                <a:lnTo>
                  <a:pt x="298" y="15"/>
                </a:lnTo>
                <a:lnTo>
                  <a:pt x="295" y="10"/>
                </a:lnTo>
                <a:lnTo>
                  <a:pt x="292" y="5"/>
                </a:lnTo>
                <a:lnTo>
                  <a:pt x="290" y="0"/>
                </a:lnTo>
                <a:lnTo>
                  <a:pt x="287" y="2"/>
                </a:lnTo>
                <a:lnTo>
                  <a:pt x="290" y="7"/>
                </a:lnTo>
                <a:lnTo>
                  <a:pt x="292" y="12"/>
                </a:lnTo>
                <a:lnTo>
                  <a:pt x="295" y="16"/>
                </a:lnTo>
                <a:lnTo>
                  <a:pt x="297" y="21"/>
                </a:lnTo>
                <a:lnTo>
                  <a:pt x="300" y="28"/>
                </a:lnTo>
                <a:lnTo>
                  <a:pt x="302" y="33"/>
                </a:lnTo>
                <a:lnTo>
                  <a:pt x="303" y="38"/>
                </a:lnTo>
                <a:lnTo>
                  <a:pt x="305" y="45"/>
                </a:lnTo>
                <a:lnTo>
                  <a:pt x="308" y="43"/>
                </a:lnTo>
                <a:close/>
                <a:moveTo>
                  <a:pt x="0" y="132"/>
                </a:moveTo>
                <a:lnTo>
                  <a:pt x="2" y="137"/>
                </a:lnTo>
                <a:lnTo>
                  <a:pt x="4" y="142"/>
                </a:lnTo>
                <a:lnTo>
                  <a:pt x="5" y="147"/>
                </a:lnTo>
                <a:lnTo>
                  <a:pt x="9" y="152"/>
                </a:lnTo>
                <a:lnTo>
                  <a:pt x="10" y="159"/>
                </a:lnTo>
                <a:lnTo>
                  <a:pt x="14" y="164"/>
                </a:lnTo>
                <a:lnTo>
                  <a:pt x="15" y="167"/>
                </a:lnTo>
                <a:lnTo>
                  <a:pt x="19" y="172"/>
                </a:lnTo>
                <a:lnTo>
                  <a:pt x="22" y="170"/>
                </a:lnTo>
                <a:lnTo>
                  <a:pt x="19" y="167"/>
                </a:lnTo>
                <a:lnTo>
                  <a:pt x="15" y="162"/>
                </a:lnTo>
                <a:lnTo>
                  <a:pt x="14" y="157"/>
                </a:lnTo>
                <a:lnTo>
                  <a:pt x="10" y="152"/>
                </a:lnTo>
                <a:lnTo>
                  <a:pt x="9" y="147"/>
                </a:lnTo>
                <a:lnTo>
                  <a:pt x="7" y="141"/>
                </a:lnTo>
                <a:lnTo>
                  <a:pt x="5" y="136"/>
                </a:lnTo>
                <a:lnTo>
                  <a:pt x="4" y="131"/>
                </a:lnTo>
                <a:lnTo>
                  <a:pt x="0" y="132"/>
                </a:lnTo>
                <a:close/>
              </a:path>
            </a:pathLst>
          </a:custGeom>
          <a:solidFill>
            <a:srgbClr val="A0D4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11" name="Freeform 2116">
            <a:extLst>
              <a:ext uri="{FF2B5EF4-FFF2-40B4-BE49-F238E27FC236}">
                <a16:creationId xmlns:a16="http://schemas.microsoft.com/office/drawing/2014/main" id="{1AA1616C-EBEA-8673-7ACE-CB86CAEEBC3C}"/>
              </a:ext>
            </a:extLst>
          </p:cNvPr>
          <p:cNvSpPr>
            <a:spLocks noEditPoints="1"/>
          </p:cNvSpPr>
          <p:nvPr/>
        </p:nvSpPr>
        <p:spPr bwMode="auto">
          <a:xfrm>
            <a:off x="3278188" y="2466975"/>
            <a:ext cx="484188" cy="269875"/>
          </a:xfrm>
          <a:custGeom>
            <a:avLst/>
            <a:gdLst>
              <a:gd name="T0" fmla="*/ 305 w 305"/>
              <a:gd name="T1" fmla="*/ 41 h 170"/>
              <a:gd name="T2" fmla="*/ 303 w 305"/>
              <a:gd name="T3" fmla="*/ 36 h 170"/>
              <a:gd name="T4" fmla="*/ 301 w 305"/>
              <a:gd name="T5" fmla="*/ 29 h 170"/>
              <a:gd name="T6" fmla="*/ 300 w 305"/>
              <a:gd name="T7" fmla="*/ 24 h 170"/>
              <a:gd name="T8" fmla="*/ 296 w 305"/>
              <a:gd name="T9" fmla="*/ 19 h 170"/>
              <a:gd name="T10" fmla="*/ 295 w 305"/>
              <a:gd name="T11" fmla="*/ 14 h 170"/>
              <a:gd name="T12" fmla="*/ 291 w 305"/>
              <a:gd name="T13" fmla="*/ 10 h 170"/>
              <a:gd name="T14" fmla="*/ 288 w 305"/>
              <a:gd name="T15" fmla="*/ 5 h 170"/>
              <a:gd name="T16" fmla="*/ 286 w 305"/>
              <a:gd name="T17" fmla="*/ 0 h 170"/>
              <a:gd name="T18" fmla="*/ 283 w 305"/>
              <a:gd name="T19" fmla="*/ 1 h 170"/>
              <a:gd name="T20" fmla="*/ 286 w 305"/>
              <a:gd name="T21" fmla="*/ 5 h 170"/>
              <a:gd name="T22" fmla="*/ 288 w 305"/>
              <a:gd name="T23" fmla="*/ 10 h 170"/>
              <a:gd name="T24" fmla="*/ 291 w 305"/>
              <a:gd name="T25" fmla="*/ 16 h 170"/>
              <a:gd name="T26" fmla="*/ 293 w 305"/>
              <a:gd name="T27" fmla="*/ 21 h 170"/>
              <a:gd name="T28" fmla="*/ 296 w 305"/>
              <a:gd name="T29" fmla="*/ 26 h 170"/>
              <a:gd name="T30" fmla="*/ 298 w 305"/>
              <a:gd name="T31" fmla="*/ 31 h 170"/>
              <a:gd name="T32" fmla="*/ 300 w 305"/>
              <a:gd name="T33" fmla="*/ 38 h 170"/>
              <a:gd name="T34" fmla="*/ 301 w 305"/>
              <a:gd name="T35" fmla="*/ 43 h 170"/>
              <a:gd name="T36" fmla="*/ 305 w 305"/>
              <a:gd name="T37" fmla="*/ 41 h 170"/>
              <a:gd name="T38" fmla="*/ 0 w 305"/>
              <a:gd name="T39" fmla="*/ 129 h 170"/>
              <a:gd name="T40" fmla="*/ 2 w 305"/>
              <a:gd name="T41" fmla="*/ 135 h 170"/>
              <a:gd name="T42" fmla="*/ 3 w 305"/>
              <a:gd name="T43" fmla="*/ 140 h 170"/>
              <a:gd name="T44" fmla="*/ 5 w 305"/>
              <a:gd name="T45" fmla="*/ 145 h 170"/>
              <a:gd name="T46" fmla="*/ 7 w 305"/>
              <a:gd name="T47" fmla="*/ 150 h 170"/>
              <a:gd name="T48" fmla="*/ 10 w 305"/>
              <a:gd name="T49" fmla="*/ 155 h 170"/>
              <a:gd name="T50" fmla="*/ 12 w 305"/>
              <a:gd name="T51" fmla="*/ 160 h 170"/>
              <a:gd name="T52" fmla="*/ 15 w 305"/>
              <a:gd name="T53" fmla="*/ 165 h 170"/>
              <a:gd name="T54" fmla="*/ 18 w 305"/>
              <a:gd name="T55" fmla="*/ 170 h 170"/>
              <a:gd name="T56" fmla="*/ 21 w 305"/>
              <a:gd name="T57" fmla="*/ 168 h 170"/>
              <a:gd name="T58" fmla="*/ 18 w 305"/>
              <a:gd name="T59" fmla="*/ 163 h 170"/>
              <a:gd name="T60" fmla="*/ 15 w 305"/>
              <a:gd name="T61" fmla="*/ 159 h 170"/>
              <a:gd name="T62" fmla="*/ 13 w 305"/>
              <a:gd name="T63" fmla="*/ 154 h 170"/>
              <a:gd name="T64" fmla="*/ 10 w 305"/>
              <a:gd name="T65" fmla="*/ 149 h 170"/>
              <a:gd name="T66" fmla="*/ 8 w 305"/>
              <a:gd name="T67" fmla="*/ 144 h 170"/>
              <a:gd name="T68" fmla="*/ 7 w 305"/>
              <a:gd name="T69" fmla="*/ 139 h 170"/>
              <a:gd name="T70" fmla="*/ 5 w 305"/>
              <a:gd name="T71" fmla="*/ 134 h 170"/>
              <a:gd name="T72" fmla="*/ 3 w 305"/>
              <a:gd name="T73" fmla="*/ 127 h 170"/>
              <a:gd name="T74" fmla="*/ 0 w 305"/>
              <a:gd name="T75" fmla="*/ 12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05" h="170">
                <a:moveTo>
                  <a:pt x="305" y="41"/>
                </a:moveTo>
                <a:lnTo>
                  <a:pt x="303" y="36"/>
                </a:lnTo>
                <a:lnTo>
                  <a:pt x="301" y="29"/>
                </a:lnTo>
                <a:lnTo>
                  <a:pt x="300" y="24"/>
                </a:lnTo>
                <a:lnTo>
                  <a:pt x="296" y="19"/>
                </a:lnTo>
                <a:lnTo>
                  <a:pt x="295" y="14"/>
                </a:lnTo>
                <a:lnTo>
                  <a:pt x="291" y="10"/>
                </a:lnTo>
                <a:lnTo>
                  <a:pt x="288" y="5"/>
                </a:lnTo>
                <a:lnTo>
                  <a:pt x="286" y="0"/>
                </a:lnTo>
                <a:lnTo>
                  <a:pt x="283" y="1"/>
                </a:lnTo>
                <a:lnTo>
                  <a:pt x="286" y="5"/>
                </a:lnTo>
                <a:lnTo>
                  <a:pt x="288" y="10"/>
                </a:lnTo>
                <a:lnTo>
                  <a:pt x="291" y="16"/>
                </a:lnTo>
                <a:lnTo>
                  <a:pt x="293" y="21"/>
                </a:lnTo>
                <a:lnTo>
                  <a:pt x="296" y="26"/>
                </a:lnTo>
                <a:lnTo>
                  <a:pt x="298" y="31"/>
                </a:lnTo>
                <a:lnTo>
                  <a:pt x="300" y="38"/>
                </a:lnTo>
                <a:lnTo>
                  <a:pt x="301" y="43"/>
                </a:lnTo>
                <a:lnTo>
                  <a:pt x="305" y="41"/>
                </a:lnTo>
                <a:close/>
                <a:moveTo>
                  <a:pt x="0" y="129"/>
                </a:moveTo>
                <a:lnTo>
                  <a:pt x="2" y="135"/>
                </a:lnTo>
                <a:lnTo>
                  <a:pt x="3" y="140"/>
                </a:lnTo>
                <a:lnTo>
                  <a:pt x="5" y="145"/>
                </a:lnTo>
                <a:lnTo>
                  <a:pt x="7" y="150"/>
                </a:lnTo>
                <a:lnTo>
                  <a:pt x="10" y="155"/>
                </a:lnTo>
                <a:lnTo>
                  <a:pt x="12" y="160"/>
                </a:lnTo>
                <a:lnTo>
                  <a:pt x="15" y="165"/>
                </a:lnTo>
                <a:lnTo>
                  <a:pt x="18" y="170"/>
                </a:lnTo>
                <a:lnTo>
                  <a:pt x="21" y="168"/>
                </a:lnTo>
                <a:lnTo>
                  <a:pt x="18" y="163"/>
                </a:lnTo>
                <a:lnTo>
                  <a:pt x="15" y="159"/>
                </a:lnTo>
                <a:lnTo>
                  <a:pt x="13" y="154"/>
                </a:lnTo>
                <a:lnTo>
                  <a:pt x="10" y="149"/>
                </a:lnTo>
                <a:lnTo>
                  <a:pt x="8" y="144"/>
                </a:lnTo>
                <a:lnTo>
                  <a:pt x="7" y="139"/>
                </a:lnTo>
                <a:lnTo>
                  <a:pt x="5" y="134"/>
                </a:lnTo>
                <a:lnTo>
                  <a:pt x="3" y="127"/>
                </a:lnTo>
                <a:lnTo>
                  <a:pt x="0" y="129"/>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12" name="Freeform 2117">
            <a:extLst>
              <a:ext uri="{FF2B5EF4-FFF2-40B4-BE49-F238E27FC236}">
                <a16:creationId xmlns:a16="http://schemas.microsoft.com/office/drawing/2014/main" id="{0F39E2EB-7788-7963-C390-773FEFB5B688}"/>
              </a:ext>
            </a:extLst>
          </p:cNvPr>
          <p:cNvSpPr>
            <a:spLocks noEditPoints="1"/>
          </p:cNvSpPr>
          <p:nvPr/>
        </p:nvSpPr>
        <p:spPr bwMode="auto">
          <a:xfrm>
            <a:off x="3281363" y="2466975"/>
            <a:ext cx="477838" cy="266700"/>
          </a:xfrm>
          <a:custGeom>
            <a:avLst/>
            <a:gdLst>
              <a:gd name="T0" fmla="*/ 301 w 301"/>
              <a:gd name="T1" fmla="*/ 43 h 168"/>
              <a:gd name="T2" fmla="*/ 299 w 301"/>
              <a:gd name="T3" fmla="*/ 36 h 168"/>
              <a:gd name="T4" fmla="*/ 298 w 301"/>
              <a:gd name="T5" fmla="*/ 31 h 168"/>
              <a:gd name="T6" fmla="*/ 296 w 301"/>
              <a:gd name="T7" fmla="*/ 26 h 168"/>
              <a:gd name="T8" fmla="*/ 293 w 301"/>
              <a:gd name="T9" fmla="*/ 19 h 168"/>
              <a:gd name="T10" fmla="*/ 291 w 301"/>
              <a:gd name="T11" fmla="*/ 14 h 168"/>
              <a:gd name="T12" fmla="*/ 288 w 301"/>
              <a:gd name="T13" fmla="*/ 10 h 168"/>
              <a:gd name="T14" fmla="*/ 286 w 301"/>
              <a:gd name="T15" fmla="*/ 5 h 168"/>
              <a:gd name="T16" fmla="*/ 283 w 301"/>
              <a:gd name="T17" fmla="*/ 0 h 168"/>
              <a:gd name="T18" fmla="*/ 279 w 301"/>
              <a:gd name="T19" fmla="*/ 1 h 168"/>
              <a:gd name="T20" fmla="*/ 283 w 301"/>
              <a:gd name="T21" fmla="*/ 6 h 168"/>
              <a:gd name="T22" fmla="*/ 284 w 301"/>
              <a:gd name="T23" fmla="*/ 11 h 168"/>
              <a:gd name="T24" fmla="*/ 288 w 301"/>
              <a:gd name="T25" fmla="*/ 16 h 168"/>
              <a:gd name="T26" fmla="*/ 291 w 301"/>
              <a:gd name="T27" fmla="*/ 21 h 168"/>
              <a:gd name="T28" fmla="*/ 293 w 301"/>
              <a:gd name="T29" fmla="*/ 26 h 168"/>
              <a:gd name="T30" fmla="*/ 294 w 301"/>
              <a:gd name="T31" fmla="*/ 33 h 168"/>
              <a:gd name="T32" fmla="*/ 296 w 301"/>
              <a:gd name="T33" fmla="*/ 38 h 168"/>
              <a:gd name="T34" fmla="*/ 298 w 301"/>
              <a:gd name="T35" fmla="*/ 43 h 168"/>
              <a:gd name="T36" fmla="*/ 301 w 301"/>
              <a:gd name="T37" fmla="*/ 43 h 168"/>
              <a:gd name="T38" fmla="*/ 0 w 301"/>
              <a:gd name="T39" fmla="*/ 129 h 168"/>
              <a:gd name="T40" fmla="*/ 1 w 301"/>
              <a:gd name="T41" fmla="*/ 134 h 168"/>
              <a:gd name="T42" fmla="*/ 3 w 301"/>
              <a:gd name="T43" fmla="*/ 139 h 168"/>
              <a:gd name="T44" fmla="*/ 5 w 301"/>
              <a:gd name="T45" fmla="*/ 145 h 168"/>
              <a:gd name="T46" fmla="*/ 6 w 301"/>
              <a:gd name="T47" fmla="*/ 150 h 168"/>
              <a:gd name="T48" fmla="*/ 10 w 301"/>
              <a:gd name="T49" fmla="*/ 155 h 168"/>
              <a:gd name="T50" fmla="*/ 11 w 301"/>
              <a:gd name="T51" fmla="*/ 160 h 168"/>
              <a:gd name="T52" fmla="*/ 15 w 301"/>
              <a:gd name="T53" fmla="*/ 165 h 168"/>
              <a:gd name="T54" fmla="*/ 18 w 301"/>
              <a:gd name="T55" fmla="*/ 168 h 168"/>
              <a:gd name="T56" fmla="*/ 21 w 301"/>
              <a:gd name="T57" fmla="*/ 168 h 168"/>
              <a:gd name="T58" fmla="*/ 18 w 301"/>
              <a:gd name="T59" fmla="*/ 163 h 168"/>
              <a:gd name="T60" fmla="*/ 15 w 301"/>
              <a:gd name="T61" fmla="*/ 159 h 168"/>
              <a:gd name="T62" fmla="*/ 13 w 301"/>
              <a:gd name="T63" fmla="*/ 154 h 168"/>
              <a:gd name="T64" fmla="*/ 10 w 301"/>
              <a:gd name="T65" fmla="*/ 149 h 168"/>
              <a:gd name="T66" fmla="*/ 8 w 301"/>
              <a:gd name="T67" fmla="*/ 144 h 168"/>
              <a:gd name="T68" fmla="*/ 6 w 301"/>
              <a:gd name="T69" fmla="*/ 139 h 168"/>
              <a:gd name="T70" fmla="*/ 3 w 301"/>
              <a:gd name="T71" fmla="*/ 132 h 168"/>
              <a:gd name="T72" fmla="*/ 1 w 301"/>
              <a:gd name="T73" fmla="*/ 127 h 168"/>
              <a:gd name="T74" fmla="*/ 0 w 301"/>
              <a:gd name="T75" fmla="*/ 129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01" h="168">
                <a:moveTo>
                  <a:pt x="301" y="43"/>
                </a:moveTo>
                <a:lnTo>
                  <a:pt x="299" y="36"/>
                </a:lnTo>
                <a:lnTo>
                  <a:pt x="298" y="31"/>
                </a:lnTo>
                <a:lnTo>
                  <a:pt x="296" y="26"/>
                </a:lnTo>
                <a:lnTo>
                  <a:pt x="293" y="19"/>
                </a:lnTo>
                <a:lnTo>
                  <a:pt x="291" y="14"/>
                </a:lnTo>
                <a:lnTo>
                  <a:pt x="288" y="10"/>
                </a:lnTo>
                <a:lnTo>
                  <a:pt x="286" y="5"/>
                </a:lnTo>
                <a:lnTo>
                  <a:pt x="283" y="0"/>
                </a:lnTo>
                <a:lnTo>
                  <a:pt x="279" y="1"/>
                </a:lnTo>
                <a:lnTo>
                  <a:pt x="283" y="6"/>
                </a:lnTo>
                <a:lnTo>
                  <a:pt x="284" y="11"/>
                </a:lnTo>
                <a:lnTo>
                  <a:pt x="288" y="16"/>
                </a:lnTo>
                <a:lnTo>
                  <a:pt x="291" y="21"/>
                </a:lnTo>
                <a:lnTo>
                  <a:pt x="293" y="26"/>
                </a:lnTo>
                <a:lnTo>
                  <a:pt x="294" y="33"/>
                </a:lnTo>
                <a:lnTo>
                  <a:pt x="296" y="38"/>
                </a:lnTo>
                <a:lnTo>
                  <a:pt x="298" y="43"/>
                </a:lnTo>
                <a:lnTo>
                  <a:pt x="301" y="43"/>
                </a:lnTo>
                <a:close/>
                <a:moveTo>
                  <a:pt x="0" y="129"/>
                </a:moveTo>
                <a:lnTo>
                  <a:pt x="1" y="134"/>
                </a:lnTo>
                <a:lnTo>
                  <a:pt x="3" y="139"/>
                </a:lnTo>
                <a:lnTo>
                  <a:pt x="5" y="145"/>
                </a:lnTo>
                <a:lnTo>
                  <a:pt x="6" y="150"/>
                </a:lnTo>
                <a:lnTo>
                  <a:pt x="10" y="155"/>
                </a:lnTo>
                <a:lnTo>
                  <a:pt x="11" y="160"/>
                </a:lnTo>
                <a:lnTo>
                  <a:pt x="15" y="165"/>
                </a:lnTo>
                <a:lnTo>
                  <a:pt x="18" y="168"/>
                </a:lnTo>
                <a:lnTo>
                  <a:pt x="21" y="168"/>
                </a:lnTo>
                <a:lnTo>
                  <a:pt x="18" y="163"/>
                </a:lnTo>
                <a:lnTo>
                  <a:pt x="15" y="159"/>
                </a:lnTo>
                <a:lnTo>
                  <a:pt x="13" y="154"/>
                </a:lnTo>
                <a:lnTo>
                  <a:pt x="10" y="149"/>
                </a:lnTo>
                <a:lnTo>
                  <a:pt x="8" y="144"/>
                </a:lnTo>
                <a:lnTo>
                  <a:pt x="6" y="139"/>
                </a:lnTo>
                <a:lnTo>
                  <a:pt x="3" y="132"/>
                </a:lnTo>
                <a:lnTo>
                  <a:pt x="1" y="127"/>
                </a:lnTo>
                <a:lnTo>
                  <a:pt x="0" y="129"/>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13" name="Freeform 2118">
            <a:extLst>
              <a:ext uri="{FF2B5EF4-FFF2-40B4-BE49-F238E27FC236}">
                <a16:creationId xmlns:a16="http://schemas.microsoft.com/office/drawing/2014/main" id="{B3665193-90E9-6F79-5485-BF3A57F67EFD}"/>
              </a:ext>
            </a:extLst>
          </p:cNvPr>
          <p:cNvSpPr>
            <a:spLocks noEditPoints="1"/>
          </p:cNvSpPr>
          <p:nvPr/>
        </p:nvSpPr>
        <p:spPr bwMode="auto">
          <a:xfrm>
            <a:off x="3282950" y="2468563"/>
            <a:ext cx="473075" cy="265113"/>
          </a:xfrm>
          <a:custGeom>
            <a:avLst/>
            <a:gdLst>
              <a:gd name="T0" fmla="*/ 298 w 298"/>
              <a:gd name="T1" fmla="*/ 42 h 167"/>
              <a:gd name="T2" fmla="*/ 297 w 298"/>
              <a:gd name="T3" fmla="*/ 37 h 167"/>
              <a:gd name="T4" fmla="*/ 295 w 298"/>
              <a:gd name="T5" fmla="*/ 30 h 167"/>
              <a:gd name="T6" fmla="*/ 293 w 298"/>
              <a:gd name="T7" fmla="*/ 25 h 167"/>
              <a:gd name="T8" fmla="*/ 290 w 298"/>
              <a:gd name="T9" fmla="*/ 20 h 167"/>
              <a:gd name="T10" fmla="*/ 288 w 298"/>
              <a:gd name="T11" fmla="*/ 15 h 167"/>
              <a:gd name="T12" fmla="*/ 285 w 298"/>
              <a:gd name="T13" fmla="*/ 9 h 167"/>
              <a:gd name="T14" fmla="*/ 283 w 298"/>
              <a:gd name="T15" fmla="*/ 4 h 167"/>
              <a:gd name="T16" fmla="*/ 280 w 298"/>
              <a:gd name="T17" fmla="*/ 0 h 167"/>
              <a:gd name="T18" fmla="*/ 277 w 298"/>
              <a:gd name="T19" fmla="*/ 0 h 167"/>
              <a:gd name="T20" fmla="*/ 280 w 298"/>
              <a:gd name="T21" fmla="*/ 5 h 167"/>
              <a:gd name="T22" fmla="*/ 283 w 298"/>
              <a:gd name="T23" fmla="*/ 10 h 167"/>
              <a:gd name="T24" fmla="*/ 285 w 298"/>
              <a:gd name="T25" fmla="*/ 15 h 167"/>
              <a:gd name="T26" fmla="*/ 288 w 298"/>
              <a:gd name="T27" fmla="*/ 22 h 167"/>
              <a:gd name="T28" fmla="*/ 290 w 298"/>
              <a:gd name="T29" fmla="*/ 27 h 167"/>
              <a:gd name="T30" fmla="*/ 292 w 298"/>
              <a:gd name="T31" fmla="*/ 32 h 167"/>
              <a:gd name="T32" fmla="*/ 293 w 298"/>
              <a:gd name="T33" fmla="*/ 37 h 167"/>
              <a:gd name="T34" fmla="*/ 295 w 298"/>
              <a:gd name="T35" fmla="*/ 43 h 167"/>
              <a:gd name="T36" fmla="*/ 298 w 298"/>
              <a:gd name="T37" fmla="*/ 42 h 167"/>
              <a:gd name="T38" fmla="*/ 0 w 298"/>
              <a:gd name="T39" fmla="*/ 126 h 167"/>
              <a:gd name="T40" fmla="*/ 2 w 298"/>
              <a:gd name="T41" fmla="*/ 133 h 167"/>
              <a:gd name="T42" fmla="*/ 4 w 298"/>
              <a:gd name="T43" fmla="*/ 138 h 167"/>
              <a:gd name="T44" fmla="*/ 5 w 298"/>
              <a:gd name="T45" fmla="*/ 143 h 167"/>
              <a:gd name="T46" fmla="*/ 7 w 298"/>
              <a:gd name="T47" fmla="*/ 148 h 167"/>
              <a:gd name="T48" fmla="*/ 10 w 298"/>
              <a:gd name="T49" fmla="*/ 153 h 167"/>
              <a:gd name="T50" fmla="*/ 12 w 298"/>
              <a:gd name="T51" fmla="*/ 158 h 167"/>
              <a:gd name="T52" fmla="*/ 15 w 298"/>
              <a:gd name="T53" fmla="*/ 162 h 167"/>
              <a:gd name="T54" fmla="*/ 18 w 298"/>
              <a:gd name="T55" fmla="*/ 167 h 167"/>
              <a:gd name="T56" fmla="*/ 22 w 298"/>
              <a:gd name="T57" fmla="*/ 166 h 167"/>
              <a:gd name="T58" fmla="*/ 18 w 298"/>
              <a:gd name="T59" fmla="*/ 161 h 167"/>
              <a:gd name="T60" fmla="*/ 15 w 298"/>
              <a:gd name="T61" fmla="*/ 156 h 167"/>
              <a:gd name="T62" fmla="*/ 14 w 298"/>
              <a:gd name="T63" fmla="*/ 151 h 167"/>
              <a:gd name="T64" fmla="*/ 10 w 298"/>
              <a:gd name="T65" fmla="*/ 146 h 167"/>
              <a:gd name="T66" fmla="*/ 9 w 298"/>
              <a:gd name="T67" fmla="*/ 141 h 167"/>
              <a:gd name="T68" fmla="*/ 7 w 298"/>
              <a:gd name="T69" fmla="*/ 136 h 167"/>
              <a:gd name="T70" fmla="*/ 4 w 298"/>
              <a:gd name="T71" fmla="*/ 131 h 167"/>
              <a:gd name="T72" fmla="*/ 2 w 298"/>
              <a:gd name="T73" fmla="*/ 126 h 167"/>
              <a:gd name="T74" fmla="*/ 0 w 298"/>
              <a:gd name="T75" fmla="*/ 126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98" h="167">
                <a:moveTo>
                  <a:pt x="298" y="42"/>
                </a:moveTo>
                <a:lnTo>
                  <a:pt x="297" y="37"/>
                </a:lnTo>
                <a:lnTo>
                  <a:pt x="295" y="30"/>
                </a:lnTo>
                <a:lnTo>
                  <a:pt x="293" y="25"/>
                </a:lnTo>
                <a:lnTo>
                  <a:pt x="290" y="20"/>
                </a:lnTo>
                <a:lnTo>
                  <a:pt x="288" y="15"/>
                </a:lnTo>
                <a:lnTo>
                  <a:pt x="285" y="9"/>
                </a:lnTo>
                <a:lnTo>
                  <a:pt x="283" y="4"/>
                </a:lnTo>
                <a:lnTo>
                  <a:pt x="280" y="0"/>
                </a:lnTo>
                <a:lnTo>
                  <a:pt x="277" y="0"/>
                </a:lnTo>
                <a:lnTo>
                  <a:pt x="280" y="5"/>
                </a:lnTo>
                <a:lnTo>
                  <a:pt x="283" y="10"/>
                </a:lnTo>
                <a:lnTo>
                  <a:pt x="285" y="15"/>
                </a:lnTo>
                <a:lnTo>
                  <a:pt x="288" y="22"/>
                </a:lnTo>
                <a:lnTo>
                  <a:pt x="290" y="27"/>
                </a:lnTo>
                <a:lnTo>
                  <a:pt x="292" y="32"/>
                </a:lnTo>
                <a:lnTo>
                  <a:pt x="293" y="37"/>
                </a:lnTo>
                <a:lnTo>
                  <a:pt x="295" y="43"/>
                </a:lnTo>
                <a:lnTo>
                  <a:pt x="298" y="42"/>
                </a:lnTo>
                <a:close/>
                <a:moveTo>
                  <a:pt x="0" y="126"/>
                </a:moveTo>
                <a:lnTo>
                  <a:pt x="2" y="133"/>
                </a:lnTo>
                <a:lnTo>
                  <a:pt x="4" y="138"/>
                </a:lnTo>
                <a:lnTo>
                  <a:pt x="5" y="143"/>
                </a:lnTo>
                <a:lnTo>
                  <a:pt x="7" y="148"/>
                </a:lnTo>
                <a:lnTo>
                  <a:pt x="10" y="153"/>
                </a:lnTo>
                <a:lnTo>
                  <a:pt x="12" y="158"/>
                </a:lnTo>
                <a:lnTo>
                  <a:pt x="15" y="162"/>
                </a:lnTo>
                <a:lnTo>
                  <a:pt x="18" y="167"/>
                </a:lnTo>
                <a:lnTo>
                  <a:pt x="22" y="166"/>
                </a:lnTo>
                <a:lnTo>
                  <a:pt x="18" y="161"/>
                </a:lnTo>
                <a:lnTo>
                  <a:pt x="15" y="156"/>
                </a:lnTo>
                <a:lnTo>
                  <a:pt x="14" y="151"/>
                </a:lnTo>
                <a:lnTo>
                  <a:pt x="10" y="146"/>
                </a:lnTo>
                <a:lnTo>
                  <a:pt x="9" y="141"/>
                </a:lnTo>
                <a:lnTo>
                  <a:pt x="7" y="136"/>
                </a:lnTo>
                <a:lnTo>
                  <a:pt x="4" y="131"/>
                </a:lnTo>
                <a:lnTo>
                  <a:pt x="2" y="126"/>
                </a:lnTo>
                <a:lnTo>
                  <a:pt x="0" y="126"/>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14" name="Freeform 2119">
            <a:extLst>
              <a:ext uri="{FF2B5EF4-FFF2-40B4-BE49-F238E27FC236}">
                <a16:creationId xmlns:a16="http://schemas.microsoft.com/office/drawing/2014/main" id="{7521C1BE-0062-9F04-A006-76E6E9682250}"/>
              </a:ext>
            </a:extLst>
          </p:cNvPr>
          <p:cNvSpPr>
            <a:spLocks noEditPoints="1"/>
          </p:cNvSpPr>
          <p:nvPr/>
        </p:nvSpPr>
        <p:spPr bwMode="auto">
          <a:xfrm>
            <a:off x="3282950" y="2468563"/>
            <a:ext cx="471488" cy="265113"/>
          </a:xfrm>
          <a:custGeom>
            <a:avLst/>
            <a:gdLst>
              <a:gd name="T0" fmla="*/ 297 w 297"/>
              <a:gd name="T1" fmla="*/ 42 h 167"/>
              <a:gd name="T2" fmla="*/ 295 w 297"/>
              <a:gd name="T3" fmla="*/ 37 h 167"/>
              <a:gd name="T4" fmla="*/ 293 w 297"/>
              <a:gd name="T5" fmla="*/ 32 h 167"/>
              <a:gd name="T6" fmla="*/ 292 w 297"/>
              <a:gd name="T7" fmla="*/ 25 h 167"/>
              <a:gd name="T8" fmla="*/ 290 w 297"/>
              <a:gd name="T9" fmla="*/ 20 h 167"/>
              <a:gd name="T10" fmla="*/ 287 w 297"/>
              <a:gd name="T11" fmla="*/ 15 h 167"/>
              <a:gd name="T12" fmla="*/ 283 w 297"/>
              <a:gd name="T13" fmla="*/ 10 h 167"/>
              <a:gd name="T14" fmla="*/ 282 w 297"/>
              <a:gd name="T15" fmla="*/ 5 h 167"/>
              <a:gd name="T16" fmla="*/ 278 w 297"/>
              <a:gd name="T17" fmla="*/ 0 h 167"/>
              <a:gd name="T18" fmla="*/ 275 w 297"/>
              <a:gd name="T19" fmla="*/ 2 h 167"/>
              <a:gd name="T20" fmla="*/ 278 w 297"/>
              <a:gd name="T21" fmla="*/ 7 h 167"/>
              <a:gd name="T22" fmla="*/ 282 w 297"/>
              <a:gd name="T23" fmla="*/ 12 h 167"/>
              <a:gd name="T24" fmla="*/ 283 w 297"/>
              <a:gd name="T25" fmla="*/ 17 h 167"/>
              <a:gd name="T26" fmla="*/ 287 w 297"/>
              <a:gd name="T27" fmla="*/ 22 h 167"/>
              <a:gd name="T28" fmla="*/ 288 w 297"/>
              <a:gd name="T29" fmla="*/ 27 h 167"/>
              <a:gd name="T30" fmla="*/ 290 w 297"/>
              <a:gd name="T31" fmla="*/ 32 h 167"/>
              <a:gd name="T32" fmla="*/ 292 w 297"/>
              <a:gd name="T33" fmla="*/ 38 h 167"/>
              <a:gd name="T34" fmla="*/ 293 w 297"/>
              <a:gd name="T35" fmla="*/ 43 h 167"/>
              <a:gd name="T36" fmla="*/ 297 w 297"/>
              <a:gd name="T37" fmla="*/ 42 h 167"/>
              <a:gd name="T38" fmla="*/ 0 w 297"/>
              <a:gd name="T39" fmla="*/ 126 h 167"/>
              <a:gd name="T40" fmla="*/ 2 w 297"/>
              <a:gd name="T41" fmla="*/ 131 h 167"/>
              <a:gd name="T42" fmla="*/ 5 w 297"/>
              <a:gd name="T43" fmla="*/ 138 h 167"/>
              <a:gd name="T44" fmla="*/ 7 w 297"/>
              <a:gd name="T45" fmla="*/ 143 h 167"/>
              <a:gd name="T46" fmla="*/ 9 w 297"/>
              <a:gd name="T47" fmla="*/ 148 h 167"/>
              <a:gd name="T48" fmla="*/ 12 w 297"/>
              <a:gd name="T49" fmla="*/ 153 h 167"/>
              <a:gd name="T50" fmla="*/ 14 w 297"/>
              <a:gd name="T51" fmla="*/ 158 h 167"/>
              <a:gd name="T52" fmla="*/ 17 w 297"/>
              <a:gd name="T53" fmla="*/ 162 h 167"/>
              <a:gd name="T54" fmla="*/ 20 w 297"/>
              <a:gd name="T55" fmla="*/ 167 h 167"/>
              <a:gd name="T56" fmla="*/ 23 w 297"/>
              <a:gd name="T57" fmla="*/ 166 h 167"/>
              <a:gd name="T58" fmla="*/ 20 w 297"/>
              <a:gd name="T59" fmla="*/ 161 h 167"/>
              <a:gd name="T60" fmla="*/ 17 w 297"/>
              <a:gd name="T61" fmla="*/ 156 h 167"/>
              <a:gd name="T62" fmla="*/ 14 w 297"/>
              <a:gd name="T63" fmla="*/ 151 h 167"/>
              <a:gd name="T64" fmla="*/ 12 w 297"/>
              <a:gd name="T65" fmla="*/ 146 h 167"/>
              <a:gd name="T66" fmla="*/ 10 w 297"/>
              <a:gd name="T67" fmla="*/ 141 h 167"/>
              <a:gd name="T68" fmla="*/ 7 w 297"/>
              <a:gd name="T69" fmla="*/ 136 h 167"/>
              <a:gd name="T70" fmla="*/ 5 w 297"/>
              <a:gd name="T71" fmla="*/ 131 h 167"/>
              <a:gd name="T72" fmla="*/ 4 w 297"/>
              <a:gd name="T73" fmla="*/ 124 h 167"/>
              <a:gd name="T74" fmla="*/ 0 w 297"/>
              <a:gd name="T75" fmla="*/ 126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97" h="167">
                <a:moveTo>
                  <a:pt x="297" y="42"/>
                </a:moveTo>
                <a:lnTo>
                  <a:pt x="295" y="37"/>
                </a:lnTo>
                <a:lnTo>
                  <a:pt x="293" y="32"/>
                </a:lnTo>
                <a:lnTo>
                  <a:pt x="292" y="25"/>
                </a:lnTo>
                <a:lnTo>
                  <a:pt x="290" y="20"/>
                </a:lnTo>
                <a:lnTo>
                  <a:pt x="287" y="15"/>
                </a:lnTo>
                <a:lnTo>
                  <a:pt x="283" y="10"/>
                </a:lnTo>
                <a:lnTo>
                  <a:pt x="282" y="5"/>
                </a:lnTo>
                <a:lnTo>
                  <a:pt x="278" y="0"/>
                </a:lnTo>
                <a:lnTo>
                  <a:pt x="275" y="2"/>
                </a:lnTo>
                <a:lnTo>
                  <a:pt x="278" y="7"/>
                </a:lnTo>
                <a:lnTo>
                  <a:pt x="282" y="12"/>
                </a:lnTo>
                <a:lnTo>
                  <a:pt x="283" y="17"/>
                </a:lnTo>
                <a:lnTo>
                  <a:pt x="287" y="22"/>
                </a:lnTo>
                <a:lnTo>
                  <a:pt x="288" y="27"/>
                </a:lnTo>
                <a:lnTo>
                  <a:pt x="290" y="32"/>
                </a:lnTo>
                <a:lnTo>
                  <a:pt x="292" y="38"/>
                </a:lnTo>
                <a:lnTo>
                  <a:pt x="293" y="43"/>
                </a:lnTo>
                <a:lnTo>
                  <a:pt x="297" y="42"/>
                </a:lnTo>
                <a:close/>
                <a:moveTo>
                  <a:pt x="0" y="126"/>
                </a:moveTo>
                <a:lnTo>
                  <a:pt x="2" y="131"/>
                </a:lnTo>
                <a:lnTo>
                  <a:pt x="5" y="138"/>
                </a:lnTo>
                <a:lnTo>
                  <a:pt x="7" y="143"/>
                </a:lnTo>
                <a:lnTo>
                  <a:pt x="9" y="148"/>
                </a:lnTo>
                <a:lnTo>
                  <a:pt x="12" y="153"/>
                </a:lnTo>
                <a:lnTo>
                  <a:pt x="14" y="158"/>
                </a:lnTo>
                <a:lnTo>
                  <a:pt x="17" y="162"/>
                </a:lnTo>
                <a:lnTo>
                  <a:pt x="20" y="167"/>
                </a:lnTo>
                <a:lnTo>
                  <a:pt x="23" y="166"/>
                </a:lnTo>
                <a:lnTo>
                  <a:pt x="20" y="161"/>
                </a:lnTo>
                <a:lnTo>
                  <a:pt x="17" y="156"/>
                </a:lnTo>
                <a:lnTo>
                  <a:pt x="14" y="151"/>
                </a:lnTo>
                <a:lnTo>
                  <a:pt x="12" y="146"/>
                </a:lnTo>
                <a:lnTo>
                  <a:pt x="10" y="141"/>
                </a:lnTo>
                <a:lnTo>
                  <a:pt x="7" y="136"/>
                </a:lnTo>
                <a:lnTo>
                  <a:pt x="5" y="131"/>
                </a:lnTo>
                <a:lnTo>
                  <a:pt x="4" y="124"/>
                </a:lnTo>
                <a:lnTo>
                  <a:pt x="0" y="126"/>
                </a:lnTo>
                <a:close/>
              </a:path>
            </a:pathLst>
          </a:custGeom>
          <a:solidFill>
            <a:srgbClr val="A2D5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15" name="Freeform 2120">
            <a:extLst>
              <a:ext uri="{FF2B5EF4-FFF2-40B4-BE49-F238E27FC236}">
                <a16:creationId xmlns:a16="http://schemas.microsoft.com/office/drawing/2014/main" id="{B1D4EC29-843F-A8E8-8DDB-AD7C5FDB10B8}"/>
              </a:ext>
            </a:extLst>
          </p:cNvPr>
          <p:cNvSpPr>
            <a:spLocks noEditPoints="1"/>
          </p:cNvSpPr>
          <p:nvPr/>
        </p:nvSpPr>
        <p:spPr bwMode="auto">
          <a:xfrm>
            <a:off x="3286125" y="2468563"/>
            <a:ext cx="465138" cy="263525"/>
          </a:xfrm>
          <a:custGeom>
            <a:avLst/>
            <a:gdLst>
              <a:gd name="T0" fmla="*/ 293 w 293"/>
              <a:gd name="T1" fmla="*/ 43 h 166"/>
              <a:gd name="T2" fmla="*/ 291 w 293"/>
              <a:gd name="T3" fmla="*/ 37 h 166"/>
              <a:gd name="T4" fmla="*/ 290 w 293"/>
              <a:gd name="T5" fmla="*/ 32 h 166"/>
              <a:gd name="T6" fmla="*/ 288 w 293"/>
              <a:gd name="T7" fmla="*/ 27 h 166"/>
              <a:gd name="T8" fmla="*/ 286 w 293"/>
              <a:gd name="T9" fmla="*/ 22 h 166"/>
              <a:gd name="T10" fmla="*/ 283 w 293"/>
              <a:gd name="T11" fmla="*/ 15 h 166"/>
              <a:gd name="T12" fmla="*/ 281 w 293"/>
              <a:gd name="T13" fmla="*/ 10 h 166"/>
              <a:gd name="T14" fmla="*/ 278 w 293"/>
              <a:gd name="T15" fmla="*/ 5 h 166"/>
              <a:gd name="T16" fmla="*/ 275 w 293"/>
              <a:gd name="T17" fmla="*/ 0 h 166"/>
              <a:gd name="T18" fmla="*/ 272 w 293"/>
              <a:gd name="T19" fmla="*/ 2 h 166"/>
              <a:gd name="T20" fmla="*/ 275 w 293"/>
              <a:gd name="T21" fmla="*/ 7 h 166"/>
              <a:gd name="T22" fmla="*/ 278 w 293"/>
              <a:gd name="T23" fmla="*/ 12 h 166"/>
              <a:gd name="T24" fmla="*/ 280 w 293"/>
              <a:gd name="T25" fmla="*/ 17 h 166"/>
              <a:gd name="T26" fmla="*/ 283 w 293"/>
              <a:gd name="T27" fmla="*/ 22 h 166"/>
              <a:gd name="T28" fmla="*/ 285 w 293"/>
              <a:gd name="T29" fmla="*/ 28 h 166"/>
              <a:gd name="T30" fmla="*/ 286 w 293"/>
              <a:gd name="T31" fmla="*/ 33 h 166"/>
              <a:gd name="T32" fmla="*/ 290 w 293"/>
              <a:gd name="T33" fmla="*/ 38 h 166"/>
              <a:gd name="T34" fmla="*/ 291 w 293"/>
              <a:gd name="T35" fmla="*/ 45 h 166"/>
              <a:gd name="T36" fmla="*/ 293 w 293"/>
              <a:gd name="T37" fmla="*/ 43 h 166"/>
              <a:gd name="T38" fmla="*/ 0 w 293"/>
              <a:gd name="T39" fmla="*/ 126 h 166"/>
              <a:gd name="T40" fmla="*/ 2 w 293"/>
              <a:gd name="T41" fmla="*/ 131 h 166"/>
              <a:gd name="T42" fmla="*/ 5 w 293"/>
              <a:gd name="T43" fmla="*/ 136 h 166"/>
              <a:gd name="T44" fmla="*/ 7 w 293"/>
              <a:gd name="T45" fmla="*/ 141 h 166"/>
              <a:gd name="T46" fmla="*/ 8 w 293"/>
              <a:gd name="T47" fmla="*/ 146 h 166"/>
              <a:gd name="T48" fmla="*/ 12 w 293"/>
              <a:gd name="T49" fmla="*/ 151 h 166"/>
              <a:gd name="T50" fmla="*/ 13 w 293"/>
              <a:gd name="T51" fmla="*/ 156 h 166"/>
              <a:gd name="T52" fmla="*/ 16 w 293"/>
              <a:gd name="T53" fmla="*/ 161 h 166"/>
              <a:gd name="T54" fmla="*/ 20 w 293"/>
              <a:gd name="T55" fmla="*/ 166 h 166"/>
              <a:gd name="T56" fmla="*/ 21 w 293"/>
              <a:gd name="T57" fmla="*/ 164 h 166"/>
              <a:gd name="T58" fmla="*/ 20 w 293"/>
              <a:gd name="T59" fmla="*/ 161 h 166"/>
              <a:gd name="T60" fmla="*/ 16 w 293"/>
              <a:gd name="T61" fmla="*/ 156 h 166"/>
              <a:gd name="T62" fmla="*/ 13 w 293"/>
              <a:gd name="T63" fmla="*/ 151 h 166"/>
              <a:gd name="T64" fmla="*/ 12 w 293"/>
              <a:gd name="T65" fmla="*/ 146 h 166"/>
              <a:gd name="T66" fmla="*/ 10 w 293"/>
              <a:gd name="T67" fmla="*/ 141 h 166"/>
              <a:gd name="T68" fmla="*/ 7 w 293"/>
              <a:gd name="T69" fmla="*/ 134 h 166"/>
              <a:gd name="T70" fmla="*/ 5 w 293"/>
              <a:gd name="T71" fmla="*/ 129 h 166"/>
              <a:gd name="T72" fmla="*/ 3 w 293"/>
              <a:gd name="T73" fmla="*/ 124 h 166"/>
              <a:gd name="T74" fmla="*/ 0 w 293"/>
              <a:gd name="T75" fmla="*/ 126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93" h="166">
                <a:moveTo>
                  <a:pt x="293" y="43"/>
                </a:moveTo>
                <a:lnTo>
                  <a:pt x="291" y="37"/>
                </a:lnTo>
                <a:lnTo>
                  <a:pt x="290" y="32"/>
                </a:lnTo>
                <a:lnTo>
                  <a:pt x="288" y="27"/>
                </a:lnTo>
                <a:lnTo>
                  <a:pt x="286" y="22"/>
                </a:lnTo>
                <a:lnTo>
                  <a:pt x="283" y="15"/>
                </a:lnTo>
                <a:lnTo>
                  <a:pt x="281" y="10"/>
                </a:lnTo>
                <a:lnTo>
                  <a:pt x="278" y="5"/>
                </a:lnTo>
                <a:lnTo>
                  <a:pt x="275" y="0"/>
                </a:lnTo>
                <a:lnTo>
                  <a:pt x="272" y="2"/>
                </a:lnTo>
                <a:lnTo>
                  <a:pt x="275" y="7"/>
                </a:lnTo>
                <a:lnTo>
                  <a:pt x="278" y="12"/>
                </a:lnTo>
                <a:lnTo>
                  <a:pt x="280" y="17"/>
                </a:lnTo>
                <a:lnTo>
                  <a:pt x="283" y="22"/>
                </a:lnTo>
                <a:lnTo>
                  <a:pt x="285" y="28"/>
                </a:lnTo>
                <a:lnTo>
                  <a:pt x="286" y="33"/>
                </a:lnTo>
                <a:lnTo>
                  <a:pt x="290" y="38"/>
                </a:lnTo>
                <a:lnTo>
                  <a:pt x="291" y="45"/>
                </a:lnTo>
                <a:lnTo>
                  <a:pt x="293" y="43"/>
                </a:lnTo>
                <a:close/>
                <a:moveTo>
                  <a:pt x="0" y="126"/>
                </a:moveTo>
                <a:lnTo>
                  <a:pt x="2" y="131"/>
                </a:lnTo>
                <a:lnTo>
                  <a:pt x="5" y="136"/>
                </a:lnTo>
                <a:lnTo>
                  <a:pt x="7" y="141"/>
                </a:lnTo>
                <a:lnTo>
                  <a:pt x="8" y="146"/>
                </a:lnTo>
                <a:lnTo>
                  <a:pt x="12" y="151"/>
                </a:lnTo>
                <a:lnTo>
                  <a:pt x="13" y="156"/>
                </a:lnTo>
                <a:lnTo>
                  <a:pt x="16" y="161"/>
                </a:lnTo>
                <a:lnTo>
                  <a:pt x="20" y="166"/>
                </a:lnTo>
                <a:lnTo>
                  <a:pt x="21" y="164"/>
                </a:lnTo>
                <a:lnTo>
                  <a:pt x="20" y="161"/>
                </a:lnTo>
                <a:lnTo>
                  <a:pt x="16" y="156"/>
                </a:lnTo>
                <a:lnTo>
                  <a:pt x="13" y="151"/>
                </a:lnTo>
                <a:lnTo>
                  <a:pt x="12" y="146"/>
                </a:lnTo>
                <a:lnTo>
                  <a:pt x="10" y="141"/>
                </a:lnTo>
                <a:lnTo>
                  <a:pt x="7" y="134"/>
                </a:lnTo>
                <a:lnTo>
                  <a:pt x="5" y="129"/>
                </a:lnTo>
                <a:lnTo>
                  <a:pt x="3" y="124"/>
                </a:lnTo>
                <a:lnTo>
                  <a:pt x="0" y="126"/>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16" name="Freeform 2121">
            <a:extLst>
              <a:ext uri="{FF2B5EF4-FFF2-40B4-BE49-F238E27FC236}">
                <a16:creationId xmlns:a16="http://schemas.microsoft.com/office/drawing/2014/main" id="{35E99FEA-10E2-531B-BA3C-8B59F60B490F}"/>
              </a:ext>
            </a:extLst>
          </p:cNvPr>
          <p:cNvSpPr>
            <a:spLocks noEditPoints="1"/>
          </p:cNvSpPr>
          <p:nvPr/>
        </p:nvSpPr>
        <p:spPr bwMode="auto">
          <a:xfrm>
            <a:off x="3289300" y="2471738"/>
            <a:ext cx="458788" cy="260350"/>
          </a:xfrm>
          <a:custGeom>
            <a:avLst/>
            <a:gdLst>
              <a:gd name="T0" fmla="*/ 289 w 289"/>
              <a:gd name="T1" fmla="*/ 41 h 164"/>
              <a:gd name="T2" fmla="*/ 288 w 289"/>
              <a:gd name="T3" fmla="*/ 36 h 164"/>
              <a:gd name="T4" fmla="*/ 286 w 289"/>
              <a:gd name="T5" fmla="*/ 30 h 164"/>
              <a:gd name="T6" fmla="*/ 284 w 289"/>
              <a:gd name="T7" fmla="*/ 25 h 164"/>
              <a:gd name="T8" fmla="*/ 283 w 289"/>
              <a:gd name="T9" fmla="*/ 20 h 164"/>
              <a:gd name="T10" fmla="*/ 279 w 289"/>
              <a:gd name="T11" fmla="*/ 15 h 164"/>
              <a:gd name="T12" fmla="*/ 278 w 289"/>
              <a:gd name="T13" fmla="*/ 10 h 164"/>
              <a:gd name="T14" fmla="*/ 274 w 289"/>
              <a:gd name="T15" fmla="*/ 5 h 164"/>
              <a:gd name="T16" fmla="*/ 271 w 289"/>
              <a:gd name="T17" fmla="*/ 0 h 164"/>
              <a:gd name="T18" fmla="*/ 268 w 289"/>
              <a:gd name="T19" fmla="*/ 2 h 164"/>
              <a:gd name="T20" fmla="*/ 271 w 289"/>
              <a:gd name="T21" fmla="*/ 7 h 164"/>
              <a:gd name="T22" fmla="*/ 274 w 289"/>
              <a:gd name="T23" fmla="*/ 11 h 164"/>
              <a:gd name="T24" fmla="*/ 276 w 289"/>
              <a:gd name="T25" fmla="*/ 16 h 164"/>
              <a:gd name="T26" fmla="*/ 279 w 289"/>
              <a:gd name="T27" fmla="*/ 21 h 164"/>
              <a:gd name="T28" fmla="*/ 281 w 289"/>
              <a:gd name="T29" fmla="*/ 26 h 164"/>
              <a:gd name="T30" fmla="*/ 284 w 289"/>
              <a:gd name="T31" fmla="*/ 31 h 164"/>
              <a:gd name="T32" fmla="*/ 286 w 289"/>
              <a:gd name="T33" fmla="*/ 38 h 164"/>
              <a:gd name="T34" fmla="*/ 288 w 289"/>
              <a:gd name="T35" fmla="*/ 43 h 164"/>
              <a:gd name="T36" fmla="*/ 289 w 289"/>
              <a:gd name="T37" fmla="*/ 41 h 164"/>
              <a:gd name="T38" fmla="*/ 0 w 289"/>
              <a:gd name="T39" fmla="*/ 122 h 164"/>
              <a:gd name="T40" fmla="*/ 1 w 289"/>
              <a:gd name="T41" fmla="*/ 129 h 164"/>
              <a:gd name="T42" fmla="*/ 3 w 289"/>
              <a:gd name="T43" fmla="*/ 134 h 164"/>
              <a:gd name="T44" fmla="*/ 6 w 289"/>
              <a:gd name="T45" fmla="*/ 139 h 164"/>
              <a:gd name="T46" fmla="*/ 8 w 289"/>
              <a:gd name="T47" fmla="*/ 144 h 164"/>
              <a:gd name="T48" fmla="*/ 10 w 289"/>
              <a:gd name="T49" fmla="*/ 149 h 164"/>
              <a:gd name="T50" fmla="*/ 13 w 289"/>
              <a:gd name="T51" fmla="*/ 154 h 164"/>
              <a:gd name="T52" fmla="*/ 16 w 289"/>
              <a:gd name="T53" fmla="*/ 159 h 164"/>
              <a:gd name="T54" fmla="*/ 19 w 289"/>
              <a:gd name="T55" fmla="*/ 164 h 164"/>
              <a:gd name="T56" fmla="*/ 21 w 289"/>
              <a:gd name="T57" fmla="*/ 162 h 164"/>
              <a:gd name="T58" fmla="*/ 19 w 289"/>
              <a:gd name="T59" fmla="*/ 157 h 164"/>
              <a:gd name="T60" fmla="*/ 16 w 289"/>
              <a:gd name="T61" fmla="*/ 152 h 164"/>
              <a:gd name="T62" fmla="*/ 13 w 289"/>
              <a:gd name="T63" fmla="*/ 147 h 164"/>
              <a:gd name="T64" fmla="*/ 11 w 289"/>
              <a:gd name="T65" fmla="*/ 142 h 164"/>
              <a:gd name="T66" fmla="*/ 8 w 289"/>
              <a:gd name="T67" fmla="*/ 137 h 164"/>
              <a:gd name="T68" fmla="*/ 6 w 289"/>
              <a:gd name="T69" fmla="*/ 132 h 164"/>
              <a:gd name="T70" fmla="*/ 5 w 289"/>
              <a:gd name="T71" fmla="*/ 127 h 164"/>
              <a:gd name="T72" fmla="*/ 3 w 289"/>
              <a:gd name="T73" fmla="*/ 121 h 164"/>
              <a:gd name="T74" fmla="*/ 0 w 289"/>
              <a:gd name="T75" fmla="*/ 122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9" h="164">
                <a:moveTo>
                  <a:pt x="289" y="41"/>
                </a:moveTo>
                <a:lnTo>
                  <a:pt x="288" y="36"/>
                </a:lnTo>
                <a:lnTo>
                  <a:pt x="286" y="30"/>
                </a:lnTo>
                <a:lnTo>
                  <a:pt x="284" y="25"/>
                </a:lnTo>
                <a:lnTo>
                  <a:pt x="283" y="20"/>
                </a:lnTo>
                <a:lnTo>
                  <a:pt x="279" y="15"/>
                </a:lnTo>
                <a:lnTo>
                  <a:pt x="278" y="10"/>
                </a:lnTo>
                <a:lnTo>
                  <a:pt x="274" y="5"/>
                </a:lnTo>
                <a:lnTo>
                  <a:pt x="271" y="0"/>
                </a:lnTo>
                <a:lnTo>
                  <a:pt x="268" y="2"/>
                </a:lnTo>
                <a:lnTo>
                  <a:pt x="271" y="7"/>
                </a:lnTo>
                <a:lnTo>
                  <a:pt x="274" y="11"/>
                </a:lnTo>
                <a:lnTo>
                  <a:pt x="276" y="16"/>
                </a:lnTo>
                <a:lnTo>
                  <a:pt x="279" y="21"/>
                </a:lnTo>
                <a:lnTo>
                  <a:pt x="281" y="26"/>
                </a:lnTo>
                <a:lnTo>
                  <a:pt x="284" y="31"/>
                </a:lnTo>
                <a:lnTo>
                  <a:pt x="286" y="38"/>
                </a:lnTo>
                <a:lnTo>
                  <a:pt x="288" y="43"/>
                </a:lnTo>
                <a:lnTo>
                  <a:pt x="289" y="41"/>
                </a:lnTo>
                <a:close/>
                <a:moveTo>
                  <a:pt x="0" y="122"/>
                </a:moveTo>
                <a:lnTo>
                  <a:pt x="1" y="129"/>
                </a:lnTo>
                <a:lnTo>
                  <a:pt x="3" y="134"/>
                </a:lnTo>
                <a:lnTo>
                  <a:pt x="6" y="139"/>
                </a:lnTo>
                <a:lnTo>
                  <a:pt x="8" y="144"/>
                </a:lnTo>
                <a:lnTo>
                  <a:pt x="10" y="149"/>
                </a:lnTo>
                <a:lnTo>
                  <a:pt x="13" y="154"/>
                </a:lnTo>
                <a:lnTo>
                  <a:pt x="16" y="159"/>
                </a:lnTo>
                <a:lnTo>
                  <a:pt x="19" y="164"/>
                </a:lnTo>
                <a:lnTo>
                  <a:pt x="21" y="162"/>
                </a:lnTo>
                <a:lnTo>
                  <a:pt x="19" y="157"/>
                </a:lnTo>
                <a:lnTo>
                  <a:pt x="16" y="152"/>
                </a:lnTo>
                <a:lnTo>
                  <a:pt x="13" y="147"/>
                </a:lnTo>
                <a:lnTo>
                  <a:pt x="11" y="142"/>
                </a:lnTo>
                <a:lnTo>
                  <a:pt x="8" y="137"/>
                </a:lnTo>
                <a:lnTo>
                  <a:pt x="6" y="132"/>
                </a:lnTo>
                <a:lnTo>
                  <a:pt x="5" y="127"/>
                </a:lnTo>
                <a:lnTo>
                  <a:pt x="3" y="121"/>
                </a:lnTo>
                <a:lnTo>
                  <a:pt x="0" y="122"/>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17" name="Freeform 2122">
            <a:extLst>
              <a:ext uri="{FF2B5EF4-FFF2-40B4-BE49-F238E27FC236}">
                <a16:creationId xmlns:a16="http://schemas.microsoft.com/office/drawing/2014/main" id="{C7F6B759-52B2-D64C-30B0-5C476682DA69}"/>
              </a:ext>
            </a:extLst>
          </p:cNvPr>
          <p:cNvSpPr>
            <a:spLocks noEditPoints="1"/>
          </p:cNvSpPr>
          <p:nvPr/>
        </p:nvSpPr>
        <p:spPr bwMode="auto">
          <a:xfrm>
            <a:off x="3290888" y="2471738"/>
            <a:ext cx="457200" cy="257175"/>
          </a:xfrm>
          <a:custGeom>
            <a:avLst/>
            <a:gdLst>
              <a:gd name="T0" fmla="*/ 288 w 288"/>
              <a:gd name="T1" fmla="*/ 43 h 162"/>
              <a:gd name="T2" fmla="*/ 287 w 288"/>
              <a:gd name="T3" fmla="*/ 36 h 162"/>
              <a:gd name="T4" fmla="*/ 283 w 288"/>
              <a:gd name="T5" fmla="*/ 31 h 162"/>
              <a:gd name="T6" fmla="*/ 282 w 288"/>
              <a:gd name="T7" fmla="*/ 26 h 162"/>
              <a:gd name="T8" fmla="*/ 280 w 288"/>
              <a:gd name="T9" fmla="*/ 20 h 162"/>
              <a:gd name="T10" fmla="*/ 277 w 288"/>
              <a:gd name="T11" fmla="*/ 15 h 162"/>
              <a:gd name="T12" fmla="*/ 275 w 288"/>
              <a:gd name="T13" fmla="*/ 10 h 162"/>
              <a:gd name="T14" fmla="*/ 272 w 288"/>
              <a:gd name="T15" fmla="*/ 5 h 162"/>
              <a:gd name="T16" fmla="*/ 269 w 288"/>
              <a:gd name="T17" fmla="*/ 0 h 162"/>
              <a:gd name="T18" fmla="*/ 265 w 288"/>
              <a:gd name="T19" fmla="*/ 2 h 162"/>
              <a:gd name="T20" fmla="*/ 269 w 288"/>
              <a:gd name="T21" fmla="*/ 7 h 162"/>
              <a:gd name="T22" fmla="*/ 272 w 288"/>
              <a:gd name="T23" fmla="*/ 11 h 162"/>
              <a:gd name="T24" fmla="*/ 273 w 288"/>
              <a:gd name="T25" fmla="*/ 16 h 162"/>
              <a:gd name="T26" fmla="*/ 277 w 288"/>
              <a:gd name="T27" fmla="*/ 21 h 162"/>
              <a:gd name="T28" fmla="*/ 278 w 288"/>
              <a:gd name="T29" fmla="*/ 26 h 162"/>
              <a:gd name="T30" fmla="*/ 282 w 288"/>
              <a:gd name="T31" fmla="*/ 33 h 162"/>
              <a:gd name="T32" fmla="*/ 283 w 288"/>
              <a:gd name="T33" fmla="*/ 38 h 162"/>
              <a:gd name="T34" fmla="*/ 285 w 288"/>
              <a:gd name="T35" fmla="*/ 43 h 162"/>
              <a:gd name="T36" fmla="*/ 288 w 288"/>
              <a:gd name="T37" fmla="*/ 43 h 162"/>
              <a:gd name="T38" fmla="*/ 0 w 288"/>
              <a:gd name="T39" fmla="*/ 122 h 162"/>
              <a:gd name="T40" fmla="*/ 2 w 288"/>
              <a:gd name="T41" fmla="*/ 127 h 162"/>
              <a:gd name="T42" fmla="*/ 4 w 288"/>
              <a:gd name="T43" fmla="*/ 132 h 162"/>
              <a:gd name="T44" fmla="*/ 7 w 288"/>
              <a:gd name="T45" fmla="*/ 139 h 162"/>
              <a:gd name="T46" fmla="*/ 9 w 288"/>
              <a:gd name="T47" fmla="*/ 144 h 162"/>
              <a:gd name="T48" fmla="*/ 10 w 288"/>
              <a:gd name="T49" fmla="*/ 149 h 162"/>
              <a:gd name="T50" fmla="*/ 13 w 288"/>
              <a:gd name="T51" fmla="*/ 154 h 162"/>
              <a:gd name="T52" fmla="*/ 17 w 288"/>
              <a:gd name="T53" fmla="*/ 159 h 162"/>
              <a:gd name="T54" fmla="*/ 18 w 288"/>
              <a:gd name="T55" fmla="*/ 162 h 162"/>
              <a:gd name="T56" fmla="*/ 22 w 288"/>
              <a:gd name="T57" fmla="*/ 162 h 162"/>
              <a:gd name="T58" fmla="*/ 20 w 288"/>
              <a:gd name="T59" fmla="*/ 157 h 162"/>
              <a:gd name="T60" fmla="*/ 17 w 288"/>
              <a:gd name="T61" fmla="*/ 152 h 162"/>
              <a:gd name="T62" fmla="*/ 13 w 288"/>
              <a:gd name="T63" fmla="*/ 147 h 162"/>
              <a:gd name="T64" fmla="*/ 12 w 288"/>
              <a:gd name="T65" fmla="*/ 142 h 162"/>
              <a:gd name="T66" fmla="*/ 9 w 288"/>
              <a:gd name="T67" fmla="*/ 137 h 162"/>
              <a:gd name="T68" fmla="*/ 7 w 288"/>
              <a:gd name="T69" fmla="*/ 132 h 162"/>
              <a:gd name="T70" fmla="*/ 5 w 288"/>
              <a:gd name="T71" fmla="*/ 126 h 162"/>
              <a:gd name="T72" fmla="*/ 4 w 288"/>
              <a:gd name="T73" fmla="*/ 121 h 162"/>
              <a:gd name="T74" fmla="*/ 0 w 288"/>
              <a:gd name="T75" fmla="*/ 122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8" h="162">
                <a:moveTo>
                  <a:pt x="288" y="43"/>
                </a:moveTo>
                <a:lnTo>
                  <a:pt x="287" y="36"/>
                </a:lnTo>
                <a:lnTo>
                  <a:pt x="283" y="31"/>
                </a:lnTo>
                <a:lnTo>
                  <a:pt x="282" y="26"/>
                </a:lnTo>
                <a:lnTo>
                  <a:pt x="280" y="20"/>
                </a:lnTo>
                <a:lnTo>
                  <a:pt x="277" y="15"/>
                </a:lnTo>
                <a:lnTo>
                  <a:pt x="275" y="10"/>
                </a:lnTo>
                <a:lnTo>
                  <a:pt x="272" y="5"/>
                </a:lnTo>
                <a:lnTo>
                  <a:pt x="269" y="0"/>
                </a:lnTo>
                <a:lnTo>
                  <a:pt x="265" y="2"/>
                </a:lnTo>
                <a:lnTo>
                  <a:pt x="269" y="7"/>
                </a:lnTo>
                <a:lnTo>
                  <a:pt x="272" y="11"/>
                </a:lnTo>
                <a:lnTo>
                  <a:pt x="273" y="16"/>
                </a:lnTo>
                <a:lnTo>
                  <a:pt x="277" y="21"/>
                </a:lnTo>
                <a:lnTo>
                  <a:pt x="278" y="26"/>
                </a:lnTo>
                <a:lnTo>
                  <a:pt x="282" y="33"/>
                </a:lnTo>
                <a:lnTo>
                  <a:pt x="283" y="38"/>
                </a:lnTo>
                <a:lnTo>
                  <a:pt x="285" y="43"/>
                </a:lnTo>
                <a:lnTo>
                  <a:pt x="288" y="43"/>
                </a:lnTo>
                <a:close/>
                <a:moveTo>
                  <a:pt x="0" y="122"/>
                </a:moveTo>
                <a:lnTo>
                  <a:pt x="2" y="127"/>
                </a:lnTo>
                <a:lnTo>
                  <a:pt x="4" y="132"/>
                </a:lnTo>
                <a:lnTo>
                  <a:pt x="7" y="139"/>
                </a:lnTo>
                <a:lnTo>
                  <a:pt x="9" y="144"/>
                </a:lnTo>
                <a:lnTo>
                  <a:pt x="10" y="149"/>
                </a:lnTo>
                <a:lnTo>
                  <a:pt x="13" y="154"/>
                </a:lnTo>
                <a:lnTo>
                  <a:pt x="17" y="159"/>
                </a:lnTo>
                <a:lnTo>
                  <a:pt x="18" y="162"/>
                </a:lnTo>
                <a:lnTo>
                  <a:pt x="22" y="162"/>
                </a:lnTo>
                <a:lnTo>
                  <a:pt x="20" y="157"/>
                </a:lnTo>
                <a:lnTo>
                  <a:pt x="17" y="152"/>
                </a:lnTo>
                <a:lnTo>
                  <a:pt x="13" y="147"/>
                </a:lnTo>
                <a:lnTo>
                  <a:pt x="12" y="142"/>
                </a:lnTo>
                <a:lnTo>
                  <a:pt x="9" y="137"/>
                </a:lnTo>
                <a:lnTo>
                  <a:pt x="7" y="132"/>
                </a:lnTo>
                <a:lnTo>
                  <a:pt x="5" y="126"/>
                </a:lnTo>
                <a:lnTo>
                  <a:pt x="4" y="121"/>
                </a:lnTo>
                <a:lnTo>
                  <a:pt x="0" y="122"/>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18" name="Freeform 2123">
            <a:extLst>
              <a:ext uri="{FF2B5EF4-FFF2-40B4-BE49-F238E27FC236}">
                <a16:creationId xmlns:a16="http://schemas.microsoft.com/office/drawing/2014/main" id="{B1679586-1C57-74F6-F476-900C7B432537}"/>
              </a:ext>
            </a:extLst>
          </p:cNvPr>
          <p:cNvSpPr>
            <a:spLocks noEditPoints="1"/>
          </p:cNvSpPr>
          <p:nvPr/>
        </p:nvSpPr>
        <p:spPr bwMode="auto">
          <a:xfrm>
            <a:off x="3294063" y="2474913"/>
            <a:ext cx="452438" cy="254000"/>
          </a:xfrm>
          <a:custGeom>
            <a:avLst/>
            <a:gdLst>
              <a:gd name="T0" fmla="*/ 285 w 285"/>
              <a:gd name="T1" fmla="*/ 41 h 160"/>
              <a:gd name="T2" fmla="*/ 283 w 285"/>
              <a:gd name="T3" fmla="*/ 36 h 160"/>
              <a:gd name="T4" fmla="*/ 281 w 285"/>
              <a:gd name="T5" fmla="*/ 29 h 160"/>
              <a:gd name="T6" fmla="*/ 278 w 285"/>
              <a:gd name="T7" fmla="*/ 24 h 160"/>
              <a:gd name="T8" fmla="*/ 276 w 285"/>
              <a:gd name="T9" fmla="*/ 19 h 160"/>
              <a:gd name="T10" fmla="*/ 273 w 285"/>
              <a:gd name="T11" fmla="*/ 14 h 160"/>
              <a:gd name="T12" fmla="*/ 271 w 285"/>
              <a:gd name="T13" fmla="*/ 9 h 160"/>
              <a:gd name="T14" fmla="*/ 268 w 285"/>
              <a:gd name="T15" fmla="*/ 5 h 160"/>
              <a:gd name="T16" fmla="*/ 265 w 285"/>
              <a:gd name="T17" fmla="*/ 0 h 160"/>
              <a:gd name="T18" fmla="*/ 262 w 285"/>
              <a:gd name="T19" fmla="*/ 0 h 160"/>
              <a:gd name="T20" fmla="*/ 265 w 285"/>
              <a:gd name="T21" fmla="*/ 5 h 160"/>
              <a:gd name="T22" fmla="*/ 268 w 285"/>
              <a:gd name="T23" fmla="*/ 9 h 160"/>
              <a:gd name="T24" fmla="*/ 271 w 285"/>
              <a:gd name="T25" fmla="*/ 14 h 160"/>
              <a:gd name="T26" fmla="*/ 273 w 285"/>
              <a:gd name="T27" fmla="*/ 21 h 160"/>
              <a:gd name="T28" fmla="*/ 275 w 285"/>
              <a:gd name="T29" fmla="*/ 26 h 160"/>
              <a:gd name="T30" fmla="*/ 278 w 285"/>
              <a:gd name="T31" fmla="*/ 31 h 160"/>
              <a:gd name="T32" fmla="*/ 280 w 285"/>
              <a:gd name="T33" fmla="*/ 36 h 160"/>
              <a:gd name="T34" fmla="*/ 281 w 285"/>
              <a:gd name="T35" fmla="*/ 43 h 160"/>
              <a:gd name="T36" fmla="*/ 285 w 285"/>
              <a:gd name="T37" fmla="*/ 41 h 160"/>
              <a:gd name="T38" fmla="*/ 0 w 285"/>
              <a:gd name="T39" fmla="*/ 119 h 160"/>
              <a:gd name="T40" fmla="*/ 2 w 285"/>
              <a:gd name="T41" fmla="*/ 125 h 160"/>
              <a:gd name="T42" fmla="*/ 3 w 285"/>
              <a:gd name="T43" fmla="*/ 130 h 160"/>
              <a:gd name="T44" fmla="*/ 5 w 285"/>
              <a:gd name="T45" fmla="*/ 135 h 160"/>
              <a:gd name="T46" fmla="*/ 8 w 285"/>
              <a:gd name="T47" fmla="*/ 140 h 160"/>
              <a:gd name="T48" fmla="*/ 10 w 285"/>
              <a:gd name="T49" fmla="*/ 145 h 160"/>
              <a:gd name="T50" fmla="*/ 13 w 285"/>
              <a:gd name="T51" fmla="*/ 150 h 160"/>
              <a:gd name="T52" fmla="*/ 16 w 285"/>
              <a:gd name="T53" fmla="*/ 155 h 160"/>
              <a:gd name="T54" fmla="*/ 18 w 285"/>
              <a:gd name="T55" fmla="*/ 160 h 160"/>
              <a:gd name="T56" fmla="*/ 21 w 285"/>
              <a:gd name="T57" fmla="*/ 158 h 160"/>
              <a:gd name="T58" fmla="*/ 18 w 285"/>
              <a:gd name="T59" fmla="*/ 154 h 160"/>
              <a:gd name="T60" fmla="*/ 16 w 285"/>
              <a:gd name="T61" fmla="*/ 149 h 160"/>
              <a:gd name="T62" fmla="*/ 13 w 285"/>
              <a:gd name="T63" fmla="*/ 144 h 160"/>
              <a:gd name="T64" fmla="*/ 11 w 285"/>
              <a:gd name="T65" fmla="*/ 139 h 160"/>
              <a:gd name="T66" fmla="*/ 8 w 285"/>
              <a:gd name="T67" fmla="*/ 134 h 160"/>
              <a:gd name="T68" fmla="*/ 7 w 285"/>
              <a:gd name="T69" fmla="*/ 129 h 160"/>
              <a:gd name="T70" fmla="*/ 5 w 285"/>
              <a:gd name="T71" fmla="*/ 124 h 160"/>
              <a:gd name="T72" fmla="*/ 3 w 285"/>
              <a:gd name="T73" fmla="*/ 119 h 160"/>
              <a:gd name="T74" fmla="*/ 0 w 285"/>
              <a:gd name="T75" fmla="*/ 11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5" h="160">
                <a:moveTo>
                  <a:pt x="285" y="41"/>
                </a:moveTo>
                <a:lnTo>
                  <a:pt x="283" y="36"/>
                </a:lnTo>
                <a:lnTo>
                  <a:pt x="281" y="29"/>
                </a:lnTo>
                <a:lnTo>
                  <a:pt x="278" y="24"/>
                </a:lnTo>
                <a:lnTo>
                  <a:pt x="276" y="19"/>
                </a:lnTo>
                <a:lnTo>
                  <a:pt x="273" y="14"/>
                </a:lnTo>
                <a:lnTo>
                  <a:pt x="271" y="9"/>
                </a:lnTo>
                <a:lnTo>
                  <a:pt x="268" y="5"/>
                </a:lnTo>
                <a:lnTo>
                  <a:pt x="265" y="0"/>
                </a:lnTo>
                <a:lnTo>
                  <a:pt x="262" y="0"/>
                </a:lnTo>
                <a:lnTo>
                  <a:pt x="265" y="5"/>
                </a:lnTo>
                <a:lnTo>
                  <a:pt x="268" y="9"/>
                </a:lnTo>
                <a:lnTo>
                  <a:pt x="271" y="14"/>
                </a:lnTo>
                <a:lnTo>
                  <a:pt x="273" y="21"/>
                </a:lnTo>
                <a:lnTo>
                  <a:pt x="275" y="26"/>
                </a:lnTo>
                <a:lnTo>
                  <a:pt x="278" y="31"/>
                </a:lnTo>
                <a:lnTo>
                  <a:pt x="280" y="36"/>
                </a:lnTo>
                <a:lnTo>
                  <a:pt x="281" y="43"/>
                </a:lnTo>
                <a:lnTo>
                  <a:pt x="285" y="41"/>
                </a:lnTo>
                <a:close/>
                <a:moveTo>
                  <a:pt x="0" y="119"/>
                </a:moveTo>
                <a:lnTo>
                  <a:pt x="2" y="125"/>
                </a:lnTo>
                <a:lnTo>
                  <a:pt x="3" y="130"/>
                </a:lnTo>
                <a:lnTo>
                  <a:pt x="5" y="135"/>
                </a:lnTo>
                <a:lnTo>
                  <a:pt x="8" y="140"/>
                </a:lnTo>
                <a:lnTo>
                  <a:pt x="10" y="145"/>
                </a:lnTo>
                <a:lnTo>
                  <a:pt x="13" y="150"/>
                </a:lnTo>
                <a:lnTo>
                  <a:pt x="16" y="155"/>
                </a:lnTo>
                <a:lnTo>
                  <a:pt x="18" y="160"/>
                </a:lnTo>
                <a:lnTo>
                  <a:pt x="21" y="158"/>
                </a:lnTo>
                <a:lnTo>
                  <a:pt x="18" y="154"/>
                </a:lnTo>
                <a:lnTo>
                  <a:pt x="16" y="149"/>
                </a:lnTo>
                <a:lnTo>
                  <a:pt x="13" y="144"/>
                </a:lnTo>
                <a:lnTo>
                  <a:pt x="11" y="139"/>
                </a:lnTo>
                <a:lnTo>
                  <a:pt x="8" y="134"/>
                </a:lnTo>
                <a:lnTo>
                  <a:pt x="7" y="129"/>
                </a:lnTo>
                <a:lnTo>
                  <a:pt x="5" y="124"/>
                </a:lnTo>
                <a:lnTo>
                  <a:pt x="3" y="119"/>
                </a:lnTo>
                <a:lnTo>
                  <a:pt x="0" y="119"/>
                </a:lnTo>
                <a:close/>
              </a:path>
            </a:pathLst>
          </a:custGeom>
          <a:solidFill>
            <a:srgbClr val="A6D7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19" name="Freeform 2124">
            <a:extLst>
              <a:ext uri="{FF2B5EF4-FFF2-40B4-BE49-F238E27FC236}">
                <a16:creationId xmlns:a16="http://schemas.microsoft.com/office/drawing/2014/main" id="{DBB38551-E5D6-7242-94AC-3032B66E03B5}"/>
              </a:ext>
            </a:extLst>
          </p:cNvPr>
          <p:cNvSpPr>
            <a:spLocks noEditPoints="1"/>
          </p:cNvSpPr>
          <p:nvPr/>
        </p:nvSpPr>
        <p:spPr bwMode="auto">
          <a:xfrm>
            <a:off x="3297238" y="2474913"/>
            <a:ext cx="446088" cy="254000"/>
          </a:xfrm>
          <a:custGeom>
            <a:avLst/>
            <a:gdLst>
              <a:gd name="T0" fmla="*/ 281 w 281"/>
              <a:gd name="T1" fmla="*/ 41 h 160"/>
              <a:gd name="T2" fmla="*/ 279 w 281"/>
              <a:gd name="T3" fmla="*/ 36 h 160"/>
              <a:gd name="T4" fmla="*/ 278 w 281"/>
              <a:gd name="T5" fmla="*/ 31 h 160"/>
              <a:gd name="T6" fmla="*/ 274 w 281"/>
              <a:gd name="T7" fmla="*/ 24 h 160"/>
              <a:gd name="T8" fmla="*/ 273 w 281"/>
              <a:gd name="T9" fmla="*/ 19 h 160"/>
              <a:gd name="T10" fmla="*/ 269 w 281"/>
              <a:gd name="T11" fmla="*/ 14 h 160"/>
              <a:gd name="T12" fmla="*/ 268 w 281"/>
              <a:gd name="T13" fmla="*/ 9 h 160"/>
              <a:gd name="T14" fmla="*/ 265 w 281"/>
              <a:gd name="T15" fmla="*/ 5 h 160"/>
              <a:gd name="T16" fmla="*/ 261 w 281"/>
              <a:gd name="T17" fmla="*/ 0 h 160"/>
              <a:gd name="T18" fmla="*/ 258 w 281"/>
              <a:gd name="T19" fmla="*/ 1 h 160"/>
              <a:gd name="T20" fmla="*/ 261 w 281"/>
              <a:gd name="T21" fmla="*/ 6 h 160"/>
              <a:gd name="T22" fmla="*/ 265 w 281"/>
              <a:gd name="T23" fmla="*/ 11 h 160"/>
              <a:gd name="T24" fmla="*/ 268 w 281"/>
              <a:gd name="T25" fmla="*/ 16 h 160"/>
              <a:gd name="T26" fmla="*/ 269 w 281"/>
              <a:gd name="T27" fmla="*/ 21 h 160"/>
              <a:gd name="T28" fmla="*/ 273 w 281"/>
              <a:gd name="T29" fmla="*/ 26 h 160"/>
              <a:gd name="T30" fmla="*/ 274 w 281"/>
              <a:gd name="T31" fmla="*/ 33 h 160"/>
              <a:gd name="T32" fmla="*/ 276 w 281"/>
              <a:gd name="T33" fmla="*/ 38 h 160"/>
              <a:gd name="T34" fmla="*/ 278 w 281"/>
              <a:gd name="T35" fmla="*/ 43 h 160"/>
              <a:gd name="T36" fmla="*/ 281 w 281"/>
              <a:gd name="T37" fmla="*/ 41 h 160"/>
              <a:gd name="T38" fmla="*/ 0 w 281"/>
              <a:gd name="T39" fmla="*/ 119 h 160"/>
              <a:gd name="T40" fmla="*/ 1 w 281"/>
              <a:gd name="T41" fmla="*/ 124 h 160"/>
              <a:gd name="T42" fmla="*/ 3 w 281"/>
              <a:gd name="T43" fmla="*/ 130 h 160"/>
              <a:gd name="T44" fmla="*/ 5 w 281"/>
              <a:gd name="T45" fmla="*/ 135 h 160"/>
              <a:gd name="T46" fmla="*/ 8 w 281"/>
              <a:gd name="T47" fmla="*/ 140 h 160"/>
              <a:gd name="T48" fmla="*/ 9 w 281"/>
              <a:gd name="T49" fmla="*/ 145 h 160"/>
              <a:gd name="T50" fmla="*/ 13 w 281"/>
              <a:gd name="T51" fmla="*/ 150 h 160"/>
              <a:gd name="T52" fmla="*/ 16 w 281"/>
              <a:gd name="T53" fmla="*/ 155 h 160"/>
              <a:gd name="T54" fmla="*/ 18 w 281"/>
              <a:gd name="T55" fmla="*/ 160 h 160"/>
              <a:gd name="T56" fmla="*/ 21 w 281"/>
              <a:gd name="T57" fmla="*/ 158 h 160"/>
              <a:gd name="T58" fmla="*/ 18 w 281"/>
              <a:gd name="T59" fmla="*/ 154 h 160"/>
              <a:gd name="T60" fmla="*/ 16 w 281"/>
              <a:gd name="T61" fmla="*/ 149 h 160"/>
              <a:gd name="T62" fmla="*/ 13 w 281"/>
              <a:gd name="T63" fmla="*/ 144 h 160"/>
              <a:gd name="T64" fmla="*/ 11 w 281"/>
              <a:gd name="T65" fmla="*/ 139 h 160"/>
              <a:gd name="T66" fmla="*/ 8 w 281"/>
              <a:gd name="T67" fmla="*/ 134 h 160"/>
              <a:gd name="T68" fmla="*/ 6 w 281"/>
              <a:gd name="T69" fmla="*/ 129 h 160"/>
              <a:gd name="T70" fmla="*/ 5 w 281"/>
              <a:gd name="T71" fmla="*/ 122 h 160"/>
              <a:gd name="T72" fmla="*/ 3 w 281"/>
              <a:gd name="T73" fmla="*/ 117 h 160"/>
              <a:gd name="T74" fmla="*/ 0 w 281"/>
              <a:gd name="T75" fmla="*/ 11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1" h="160">
                <a:moveTo>
                  <a:pt x="281" y="41"/>
                </a:moveTo>
                <a:lnTo>
                  <a:pt x="279" y="36"/>
                </a:lnTo>
                <a:lnTo>
                  <a:pt x="278" y="31"/>
                </a:lnTo>
                <a:lnTo>
                  <a:pt x="274" y="24"/>
                </a:lnTo>
                <a:lnTo>
                  <a:pt x="273" y="19"/>
                </a:lnTo>
                <a:lnTo>
                  <a:pt x="269" y="14"/>
                </a:lnTo>
                <a:lnTo>
                  <a:pt x="268" y="9"/>
                </a:lnTo>
                <a:lnTo>
                  <a:pt x="265" y="5"/>
                </a:lnTo>
                <a:lnTo>
                  <a:pt x="261" y="0"/>
                </a:lnTo>
                <a:lnTo>
                  <a:pt x="258" y="1"/>
                </a:lnTo>
                <a:lnTo>
                  <a:pt x="261" y="6"/>
                </a:lnTo>
                <a:lnTo>
                  <a:pt x="265" y="11"/>
                </a:lnTo>
                <a:lnTo>
                  <a:pt x="268" y="16"/>
                </a:lnTo>
                <a:lnTo>
                  <a:pt x="269" y="21"/>
                </a:lnTo>
                <a:lnTo>
                  <a:pt x="273" y="26"/>
                </a:lnTo>
                <a:lnTo>
                  <a:pt x="274" y="33"/>
                </a:lnTo>
                <a:lnTo>
                  <a:pt x="276" y="38"/>
                </a:lnTo>
                <a:lnTo>
                  <a:pt x="278" y="43"/>
                </a:lnTo>
                <a:lnTo>
                  <a:pt x="281" y="41"/>
                </a:lnTo>
                <a:close/>
                <a:moveTo>
                  <a:pt x="0" y="119"/>
                </a:moveTo>
                <a:lnTo>
                  <a:pt x="1" y="124"/>
                </a:lnTo>
                <a:lnTo>
                  <a:pt x="3" y="130"/>
                </a:lnTo>
                <a:lnTo>
                  <a:pt x="5" y="135"/>
                </a:lnTo>
                <a:lnTo>
                  <a:pt x="8" y="140"/>
                </a:lnTo>
                <a:lnTo>
                  <a:pt x="9" y="145"/>
                </a:lnTo>
                <a:lnTo>
                  <a:pt x="13" y="150"/>
                </a:lnTo>
                <a:lnTo>
                  <a:pt x="16" y="155"/>
                </a:lnTo>
                <a:lnTo>
                  <a:pt x="18" y="160"/>
                </a:lnTo>
                <a:lnTo>
                  <a:pt x="21" y="158"/>
                </a:lnTo>
                <a:lnTo>
                  <a:pt x="18" y="154"/>
                </a:lnTo>
                <a:lnTo>
                  <a:pt x="16" y="149"/>
                </a:lnTo>
                <a:lnTo>
                  <a:pt x="13" y="144"/>
                </a:lnTo>
                <a:lnTo>
                  <a:pt x="11" y="139"/>
                </a:lnTo>
                <a:lnTo>
                  <a:pt x="8" y="134"/>
                </a:lnTo>
                <a:lnTo>
                  <a:pt x="6" y="129"/>
                </a:lnTo>
                <a:lnTo>
                  <a:pt x="5" y="122"/>
                </a:lnTo>
                <a:lnTo>
                  <a:pt x="3" y="117"/>
                </a:lnTo>
                <a:lnTo>
                  <a:pt x="0" y="119"/>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20" name="Freeform 2125">
            <a:extLst>
              <a:ext uri="{FF2B5EF4-FFF2-40B4-BE49-F238E27FC236}">
                <a16:creationId xmlns:a16="http://schemas.microsoft.com/office/drawing/2014/main" id="{B6F3D0AF-4F15-2E1E-7793-23BF72907B17}"/>
              </a:ext>
            </a:extLst>
          </p:cNvPr>
          <p:cNvSpPr>
            <a:spLocks noEditPoints="1"/>
          </p:cNvSpPr>
          <p:nvPr/>
        </p:nvSpPr>
        <p:spPr bwMode="auto">
          <a:xfrm>
            <a:off x="3298825" y="2474913"/>
            <a:ext cx="441325" cy="250825"/>
          </a:xfrm>
          <a:custGeom>
            <a:avLst/>
            <a:gdLst>
              <a:gd name="T0" fmla="*/ 278 w 278"/>
              <a:gd name="T1" fmla="*/ 43 h 158"/>
              <a:gd name="T2" fmla="*/ 277 w 278"/>
              <a:gd name="T3" fmla="*/ 36 h 158"/>
              <a:gd name="T4" fmla="*/ 275 w 278"/>
              <a:gd name="T5" fmla="*/ 31 h 158"/>
              <a:gd name="T6" fmla="*/ 272 w 278"/>
              <a:gd name="T7" fmla="*/ 26 h 158"/>
              <a:gd name="T8" fmla="*/ 270 w 278"/>
              <a:gd name="T9" fmla="*/ 21 h 158"/>
              <a:gd name="T10" fmla="*/ 268 w 278"/>
              <a:gd name="T11" fmla="*/ 14 h 158"/>
              <a:gd name="T12" fmla="*/ 265 w 278"/>
              <a:gd name="T13" fmla="*/ 9 h 158"/>
              <a:gd name="T14" fmla="*/ 262 w 278"/>
              <a:gd name="T15" fmla="*/ 5 h 158"/>
              <a:gd name="T16" fmla="*/ 259 w 278"/>
              <a:gd name="T17" fmla="*/ 0 h 158"/>
              <a:gd name="T18" fmla="*/ 257 w 278"/>
              <a:gd name="T19" fmla="*/ 1 h 158"/>
              <a:gd name="T20" fmla="*/ 259 w 278"/>
              <a:gd name="T21" fmla="*/ 6 h 158"/>
              <a:gd name="T22" fmla="*/ 262 w 278"/>
              <a:gd name="T23" fmla="*/ 11 h 158"/>
              <a:gd name="T24" fmla="*/ 265 w 278"/>
              <a:gd name="T25" fmla="*/ 16 h 158"/>
              <a:gd name="T26" fmla="*/ 267 w 278"/>
              <a:gd name="T27" fmla="*/ 21 h 158"/>
              <a:gd name="T28" fmla="*/ 270 w 278"/>
              <a:gd name="T29" fmla="*/ 28 h 158"/>
              <a:gd name="T30" fmla="*/ 272 w 278"/>
              <a:gd name="T31" fmla="*/ 33 h 158"/>
              <a:gd name="T32" fmla="*/ 273 w 278"/>
              <a:gd name="T33" fmla="*/ 38 h 158"/>
              <a:gd name="T34" fmla="*/ 275 w 278"/>
              <a:gd name="T35" fmla="*/ 44 h 158"/>
              <a:gd name="T36" fmla="*/ 278 w 278"/>
              <a:gd name="T37" fmla="*/ 43 h 158"/>
              <a:gd name="T38" fmla="*/ 0 w 278"/>
              <a:gd name="T39" fmla="*/ 119 h 158"/>
              <a:gd name="T40" fmla="*/ 2 w 278"/>
              <a:gd name="T41" fmla="*/ 124 h 158"/>
              <a:gd name="T42" fmla="*/ 4 w 278"/>
              <a:gd name="T43" fmla="*/ 129 h 158"/>
              <a:gd name="T44" fmla="*/ 5 w 278"/>
              <a:gd name="T45" fmla="*/ 134 h 158"/>
              <a:gd name="T46" fmla="*/ 8 w 278"/>
              <a:gd name="T47" fmla="*/ 139 h 158"/>
              <a:gd name="T48" fmla="*/ 10 w 278"/>
              <a:gd name="T49" fmla="*/ 144 h 158"/>
              <a:gd name="T50" fmla="*/ 13 w 278"/>
              <a:gd name="T51" fmla="*/ 149 h 158"/>
              <a:gd name="T52" fmla="*/ 15 w 278"/>
              <a:gd name="T53" fmla="*/ 154 h 158"/>
              <a:gd name="T54" fmla="*/ 18 w 278"/>
              <a:gd name="T55" fmla="*/ 158 h 158"/>
              <a:gd name="T56" fmla="*/ 22 w 278"/>
              <a:gd name="T57" fmla="*/ 157 h 158"/>
              <a:gd name="T58" fmla="*/ 18 w 278"/>
              <a:gd name="T59" fmla="*/ 152 h 158"/>
              <a:gd name="T60" fmla="*/ 17 w 278"/>
              <a:gd name="T61" fmla="*/ 149 h 158"/>
              <a:gd name="T62" fmla="*/ 13 w 278"/>
              <a:gd name="T63" fmla="*/ 144 h 158"/>
              <a:gd name="T64" fmla="*/ 10 w 278"/>
              <a:gd name="T65" fmla="*/ 139 h 158"/>
              <a:gd name="T66" fmla="*/ 8 w 278"/>
              <a:gd name="T67" fmla="*/ 132 h 158"/>
              <a:gd name="T68" fmla="*/ 7 w 278"/>
              <a:gd name="T69" fmla="*/ 127 h 158"/>
              <a:gd name="T70" fmla="*/ 5 w 278"/>
              <a:gd name="T71" fmla="*/ 122 h 158"/>
              <a:gd name="T72" fmla="*/ 4 w 278"/>
              <a:gd name="T73" fmla="*/ 117 h 158"/>
              <a:gd name="T74" fmla="*/ 0 w 278"/>
              <a:gd name="T75" fmla="*/ 119 h 1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78" h="158">
                <a:moveTo>
                  <a:pt x="278" y="43"/>
                </a:moveTo>
                <a:lnTo>
                  <a:pt x="277" y="36"/>
                </a:lnTo>
                <a:lnTo>
                  <a:pt x="275" y="31"/>
                </a:lnTo>
                <a:lnTo>
                  <a:pt x="272" y="26"/>
                </a:lnTo>
                <a:lnTo>
                  <a:pt x="270" y="21"/>
                </a:lnTo>
                <a:lnTo>
                  <a:pt x="268" y="14"/>
                </a:lnTo>
                <a:lnTo>
                  <a:pt x="265" y="9"/>
                </a:lnTo>
                <a:lnTo>
                  <a:pt x="262" y="5"/>
                </a:lnTo>
                <a:lnTo>
                  <a:pt x="259" y="0"/>
                </a:lnTo>
                <a:lnTo>
                  <a:pt x="257" y="1"/>
                </a:lnTo>
                <a:lnTo>
                  <a:pt x="259" y="6"/>
                </a:lnTo>
                <a:lnTo>
                  <a:pt x="262" y="11"/>
                </a:lnTo>
                <a:lnTo>
                  <a:pt x="265" y="16"/>
                </a:lnTo>
                <a:lnTo>
                  <a:pt x="267" y="21"/>
                </a:lnTo>
                <a:lnTo>
                  <a:pt x="270" y="28"/>
                </a:lnTo>
                <a:lnTo>
                  <a:pt x="272" y="33"/>
                </a:lnTo>
                <a:lnTo>
                  <a:pt x="273" y="38"/>
                </a:lnTo>
                <a:lnTo>
                  <a:pt x="275" y="44"/>
                </a:lnTo>
                <a:lnTo>
                  <a:pt x="278" y="43"/>
                </a:lnTo>
                <a:close/>
                <a:moveTo>
                  <a:pt x="0" y="119"/>
                </a:moveTo>
                <a:lnTo>
                  <a:pt x="2" y="124"/>
                </a:lnTo>
                <a:lnTo>
                  <a:pt x="4" y="129"/>
                </a:lnTo>
                <a:lnTo>
                  <a:pt x="5" y="134"/>
                </a:lnTo>
                <a:lnTo>
                  <a:pt x="8" y="139"/>
                </a:lnTo>
                <a:lnTo>
                  <a:pt x="10" y="144"/>
                </a:lnTo>
                <a:lnTo>
                  <a:pt x="13" y="149"/>
                </a:lnTo>
                <a:lnTo>
                  <a:pt x="15" y="154"/>
                </a:lnTo>
                <a:lnTo>
                  <a:pt x="18" y="158"/>
                </a:lnTo>
                <a:lnTo>
                  <a:pt x="22" y="157"/>
                </a:lnTo>
                <a:lnTo>
                  <a:pt x="18" y="152"/>
                </a:lnTo>
                <a:lnTo>
                  <a:pt x="17" y="149"/>
                </a:lnTo>
                <a:lnTo>
                  <a:pt x="13" y="144"/>
                </a:lnTo>
                <a:lnTo>
                  <a:pt x="10" y="139"/>
                </a:lnTo>
                <a:lnTo>
                  <a:pt x="8" y="132"/>
                </a:lnTo>
                <a:lnTo>
                  <a:pt x="7" y="127"/>
                </a:lnTo>
                <a:lnTo>
                  <a:pt x="5" y="122"/>
                </a:lnTo>
                <a:lnTo>
                  <a:pt x="4" y="117"/>
                </a:lnTo>
                <a:lnTo>
                  <a:pt x="0" y="119"/>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21" name="Freeform 2126">
            <a:extLst>
              <a:ext uri="{FF2B5EF4-FFF2-40B4-BE49-F238E27FC236}">
                <a16:creationId xmlns:a16="http://schemas.microsoft.com/office/drawing/2014/main" id="{9A44BC62-F2A4-CBFD-D078-85C8FBAAE6D0}"/>
              </a:ext>
            </a:extLst>
          </p:cNvPr>
          <p:cNvSpPr>
            <a:spLocks noEditPoints="1"/>
          </p:cNvSpPr>
          <p:nvPr/>
        </p:nvSpPr>
        <p:spPr bwMode="auto">
          <a:xfrm>
            <a:off x="3302000" y="2476500"/>
            <a:ext cx="436563" cy="249238"/>
          </a:xfrm>
          <a:custGeom>
            <a:avLst/>
            <a:gdLst>
              <a:gd name="T0" fmla="*/ 275 w 275"/>
              <a:gd name="T1" fmla="*/ 42 h 157"/>
              <a:gd name="T2" fmla="*/ 273 w 275"/>
              <a:gd name="T3" fmla="*/ 37 h 157"/>
              <a:gd name="T4" fmla="*/ 271 w 275"/>
              <a:gd name="T5" fmla="*/ 32 h 157"/>
              <a:gd name="T6" fmla="*/ 270 w 275"/>
              <a:gd name="T7" fmla="*/ 25 h 157"/>
              <a:gd name="T8" fmla="*/ 266 w 275"/>
              <a:gd name="T9" fmla="*/ 20 h 157"/>
              <a:gd name="T10" fmla="*/ 265 w 275"/>
              <a:gd name="T11" fmla="*/ 15 h 157"/>
              <a:gd name="T12" fmla="*/ 262 w 275"/>
              <a:gd name="T13" fmla="*/ 10 h 157"/>
              <a:gd name="T14" fmla="*/ 258 w 275"/>
              <a:gd name="T15" fmla="*/ 5 h 157"/>
              <a:gd name="T16" fmla="*/ 255 w 275"/>
              <a:gd name="T17" fmla="*/ 0 h 157"/>
              <a:gd name="T18" fmla="*/ 253 w 275"/>
              <a:gd name="T19" fmla="*/ 2 h 157"/>
              <a:gd name="T20" fmla="*/ 255 w 275"/>
              <a:gd name="T21" fmla="*/ 7 h 157"/>
              <a:gd name="T22" fmla="*/ 258 w 275"/>
              <a:gd name="T23" fmla="*/ 12 h 157"/>
              <a:gd name="T24" fmla="*/ 262 w 275"/>
              <a:gd name="T25" fmla="*/ 17 h 157"/>
              <a:gd name="T26" fmla="*/ 263 w 275"/>
              <a:gd name="T27" fmla="*/ 22 h 157"/>
              <a:gd name="T28" fmla="*/ 266 w 275"/>
              <a:gd name="T29" fmla="*/ 27 h 157"/>
              <a:gd name="T30" fmla="*/ 268 w 275"/>
              <a:gd name="T31" fmla="*/ 32 h 157"/>
              <a:gd name="T32" fmla="*/ 270 w 275"/>
              <a:gd name="T33" fmla="*/ 38 h 157"/>
              <a:gd name="T34" fmla="*/ 271 w 275"/>
              <a:gd name="T35" fmla="*/ 43 h 157"/>
              <a:gd name="T36" fmla="*/ 275 w 275"/>
              <a:gd name="T37" fmla="*/ 42 h 157"/>
              <a:gd name="T38" fmla="*/ 0 w 275"/>
              <a:gd name="T39" fmla="*/ 116 h 157"/>
              <a:gd name="T40" fmla="*/ 2 w 275"/>
              <a:gd name="T41" fmla="*/ 121 h 157"/>
              <a:gd name="T42" fmla="*/ 3 w 275"/>
              <a:gd name="T43" fmla="*/ 128 h 157"/>
              <a:gd name="T44" fmla="*/ 5 w 275"/>
              <a:gd name="T45" fmla="*/ 133 h 157"/>
              <a:gd name="T46" fmla="*/ 8 w 275"/>
              <a:gd name="T47" fmla="*/ 138 h 157"/>
              <a:gd name="T48" fmla="*/ 10 w 275"/>
              <a:gd name="T49" fmla="*/ 143 h 157"/>
              <a:gd name="T50" fmla="*/ 13 w 275"/>
              <a:gd name="T51" fmla="*/ 148 h 157"/>
              <a:gd name="T52" fmla="*/ 15 w 275"/>
              <a:gd name="T53" fmla="*/ 153 h 157"/>
              <a:gd name="T54" fmla="*/ 18 w 275"/>
              <a:gd name="T55" fmla="*/ 157 h 157"/>
              <a:gd name="T56" fmla="*/ 21 w 275"/>
              <a:gd name="T57" fmla="*/ 156 h 157"/>
              <a:gd name="T58" fmla="*/ 18 w 275"/>
              <a:gd name="T59" fmla="*/ 151 h 157"/>
              <a:gd name="T60" fmla="*/ 15 w 275"/>
              <a:gd name="T61" fmla="*/ 146 h 157"/>
              <a:gd name="T62" fmla="*/ 13 w 275"/>
              <a:gd name="T63" fmla="*/ 141 h 157"/>
              <a:gd name="T64" fmla="*/ 10 w 275"/>
              <a:gd name="T65" fmla="*/ 136 h 157"/>
              <a:gd name="T66" fmla="*/ 8 w 275"/>
              <a:gd name="T67" fmla="*/ 131 h 157"/>
              <a:gd name="T68" fmla="*/ 6 w 275"/>
              <a:gd name="T69" fmla="*/ 126 h 157"/>
              <a:gd name="T70" fmla="*/ 5 w 275"/>
              <a:gd name="T71" fmla="*/ 121 h 157"/>
              <a:gd name="T72" fmla="*/ 3 w 275"/>
              <a:gd name="T73" fmla="*/ 114 h 157"/>
              <a:gd name="T74" fmla="*/ 0 w 275"/>
              <a:gd name="T75" fmla="*/ 116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75" h="157">
                <a:moveTo>
                  <a:pt x="275" y="42"/>
                </a:moveTo>
                <a:lnTo>
                  <a:pt x="273" y="37"/>
                </a:lnTo>
                <a:lnTo>
                  <a:pt x="271" y="32"/>
                </a:lnTo>
                <a:lnTo>
                  <a:pt x="270" y="25"/>
                </a:lnTo>
                <a:lnTo>
                  <a:pt x="266" y="20"/>
                </a:lnTo>
                <a:lnTo>
                  <a:pt x="265" y="15"/>
                </a:lnTo>
                <a:lnTo>
                  <a:pt x="262" y="10"/>
                </a:lnTo>
                <a:lnTo>
                  <a:pt x="258" y="5"/>
                </a:lnTo>
                <a:lnTo>
                  <a:pt x="255" y="0"/>
                </a:lnTo>
                <a:lnTo>
                  <a:pt x="253" y="2"/>
                </a:lnTo>
                <a:lnTo>
                  <a:pt x="255" y="7"/>
                </a:lnTo>
                <a:lnTo>
                  <a:pt x="258" y="12"/>
                </a:lnTo>
                <a:lnTo>
                  <a:pt x="262" y="17"/>
                </a:lnTo>
                <a:lnTo>
                  <a:pt x="263" y="22"/>
                </a:lnTo>
                <a:lnTo>
                  <a:pt x="266" y="27"/>
                </a:lnTo>
                <a:lnTo>
                  <a:pt x="268" y="32"/>
                </a:lnTo>
                <a:lnTo>
                  <a:pt x="270" y="38"/>
                </a:lnTo>
                <a:lnTo>
                  <a:pt x="271" y="43"/>
                </a:lnTo>
                <a:lnTo>
                  <a:pt x="275" y="42"/>
                </a:lnTo>
                <a:close/>
                <a:moveTo>
                  <a:pt x="0" y="116"/>
                </a:moveTo>
                <a:lnTo>
                  <a:pt x="2" y="121"/>
                </a:lnTo>
                <a:lnTo>
                  <a:pt x="3" y="128"/>
                </a:lnTo>
                <a:lnTo>
                  <a:pt x="5" y="133"/>
                </a:lnTo>
                <a:lnTo>
                  <a:pt x="8" y="138"/>
                </a:lnTo>
                <a:lnTo>
                  <a:pt x="10" y="143"/>
                </a:lnTo>
                <a:lnTo>
                  <a:pt x="13" y="148"/>
                </a:lnTo>
                <a:lnTo>
                  <a:pt x="15" y="153"/>
                </a:lnTo>
                <a:lnTo>
                  <a:pt x="18" y="157"/>
                </a:lnTo>
                <a:lnTo>
                  <a:pt x="21" y="156"/>
                </a:lnTo>
                <a:lnTo>
                  <a:pt x="18" y="151"/>
                </a:lnTo>
                <a:lnTo>
                  <a:pt x="15" y="146"/>
                </a:lnTo>
                <a:lnTo>
                  <a:pt x="13" y="141"/>
                </a:lnTo>
                <a:lnTo>
                  <a:pt x="10" y="136"/>
                </a:lnTo>
                <a:lnTo>
                  <a:pt x="8" y="131"/>
                </a:lnTo>
                <a:lnTo>
                  <a:pt x="6" y="126"/>
                </a:lnTo>
                <a:lnTo>
                  <a:pt x="5" y="121"/>
                </a:lnTo>
                <a:lnTo>
                  <a:pt x="3" y="114"/>
                </a:lnTo>
                <a:lnTo>
                  <a:pt x="0" y="116"/>
                </a:lnTo>
                <a:close/>
              </a:path>
            </a:pathLst>
          </a:custGeom>
          <a:solidFill>
            <a:srgbClr val="A9D8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22" name="Freeform 2127">
            <a:extLst>
              <a:ext uri="{FF2B5EF4-FFF2-40B4-BE49-F238E27FC236}">
                <a16:creationId xmlns:a16="http://schemas.microsoft.com/office/drawing/2014/main" id="{AC026732-4A75-116C-2E58-AA44418AB72C}"/>
              </a:ext>
            </a:extLst>
          </p:cNvPr>
          <p:cNvSpPr>
            <a:spLocks noEditPoints="1"/>
          </p:cNvSpPr>
          <p:nvPr/>
        </p:nvSpPr>
        <p:spPr bwMode="auto">
          <a:xfrm>
            <a:off x="3305175" y="2476500"/>
            <a:ext cx="430213" cy="247650"/>
          </a:xfrm>
          <a:custGeom>
            <a:avLst/>
            <a:gdLst>
              <a:gd name="T0" fmla="*/ 271 w 271"/>
              <a:gd name="T1" fmla="*/ 43 h 156"/>
              <a:gd name="T2" fmla="*/ 269 w 271"/>
              <a:gd name="T3" fmla="*/ 37 h 156"/>
              <a:gd name="T4" fmla="*/ 268 w 271"/>
              <a:gd name="T5" fmla="*/ 32 h 156"/>
              <a:gd name="T6" fmla="*/ 266 w 271"/>
              <a:gd name="T7" fmla="*/ 27 h 156"/>
              <a:gd name="T8" fmla="*/ 263 w 271"/>
              <a:gd name="T9" fmla="*/ 20 h 156"/>
              <a:gd name="T10" fmla="*/ 261 w 271"/>
              <a:gd name="T11" fmla="*/ 15 h 156"/>
              <a:gd name="T12" fmla="*/ 258 w 271"/>
              <a:gd name="T13" fmla="*/ 10 h 156"/>
              <a:gd name="T14" fmla="*/ 255 w 271"/>
              <a:gd name="T15" fmla="*/ 5 h 156"/>
              <a:gd name="T16" fmla="*/ 253 w 271"/>
              <a:gd name="T17" fmla="*/ 0 h 156"/>
              <a:gd name="T18" fmla="*/ 250 w 271"/>
              <a:gd name="T19" fmla="*/ 2 h 156"/>
              <a:gd name="T20" fmla="*/ 253 w 271"/>
              <a:gd name="T21" fmla="*/ 7 h 156"/>
              <a:gd name="T22" fmla="*/ 255 w 271"/>
              <a:gd name="T23" fmla="*/ 12 h 156"/>
              <a:gd name="T24" fmla="*/ 258 w 271"/>
              <a:gd name="T25" fmla="*/ 17 h 156"/>
              <a:gd name="T26" fmla="*/ 260 w 271"/>
              <a:gd name="T27" fmla="*/ 22 h 156"/>
              <a:gd name="T28" fmla="*/ 263 w 271"/>
              <a:gd name="T29" fmla="*/ 27 h 156"/>
              <a:gd name="T30" fmla="*/ 264 w 271"/>
              <a:gd name="T31" fmla="*/ 33 h 156"/>
              <a:gd name="T32" fmla="*/ 266 w 271"/>
              <a:gd name="T33" fmla="*/ 38 h 156"/>
              <a:gd name="T34" fmla="*/ 268 w 271"/>
              <a:gd name="T35" fmla="*/ 45 h 156"/>
              <a:gd name="T36" fmla="*/ 271 w 271"/>
              <a:gd name="T37" fmla="*/ 43 h 156"/>
              <a:gd name="T38" fmla="*/ 0 w 271"/>
              <a:gd name="T39" fmla="*/ 116 h 156"/>
              <a:gd name="T40" fmla="*/ 1 w 271"/>
              <a:gd name="T41" fmla="*/ 121 h 156"/>
              <a:gd name="T42" fmla="*/ 3 w 271"/>
              <a:gd name="T43" fmla="*/ 126 h 156"/>
              <a:gd name="T44" fmla="*/ 4 w 271"/>
              <a:gd name="T45" fmla="*/ 131 h 156"/>
              <a:gd name="T46" fmla="*/ 6 w 271"/>
              <a:gd name="T47" fmla="*/ 138 h 156"/>
              <a:gd name="T48" fmla="*/ 9 w 271"/>
              <a:gd name="T49" fmla="*/ 143 h 156"/>
              <a:gd name="T50" fmla="*/ 13 w 271"/>
              <a:gd name="T51" fmla="*/ 148 h 156"/>
              <a:gd name="T52" fmla="*/ 14 w 271"/>
              <a:gd name="T53" fmla="*/ 151 h 156"/>
              <a:gd name="T54" fmla="*/ 18 w 271"/>
              <a:gd name="T55" fmla="*/ 156 h 156"/>
              <a:gd name="T56" fmla="*/ 21 w 271"/>
              <a:gd name="T57" fmla="*/ 156 h 156"/>
              <a:gd name="T58" fmla="*/ 18 w 271"/>
              <a:gd name="T59" fmla="*/ 151 h 156"/>
              <a:gd name="T60" fmla="*/ 14 w 271"/>
              <a:gd name="T61" fmla="*/ 146 h 156"/>
              <a:gd name="T62" fmla="*/ 13 w 271"/>
              <a:gd name="T63" fmla="*/ 141 h 156"/>
              <a:gd name="T64" fmla="*/ 9 w 271"/>
              <a:gd name="T65" fmla="*/ 136 h 156"/>
              <a:gd name="T66" fmla="*/ 8 w 271"/>
              <a:gd name="T67" fmla="*/ 131 h 156"/>
              <a:gd name="T68" fmla="*/ 6 w 271"/>
              <a:gd name="T69" fmla="*/ 124 h 156"/>
              <a:gd name="T70" fmla="*/ 4 w 271"/>
              <a:gd name="T71" fmla="*/ 119 h 156"/>
              <a:gd name="T72" fmla="*/ 3 w 271"/>
              <a:gd name="T73" fmla="*/ 114 h 156"/>
              <a:gd name="T74" fmla="*/ 0 w 271"/>
              <a:gd name="T75" fmla="*/ 116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71" h="156">
                <a:moveTo>
                  <a:pt x="271" y="43"/>
                </a:moveTo>
                <a:lnTo>
                  <a:pt x="269" y="37"/>
                </a:lnTo>
                <a:lnTo>
                  <a:pt x="268" y="32"/>
                </a:lnTo>
                <a:lnTo>
                  <a:pt x="266" y="27"/>
                </a:lnTo>
                <a:lnTo>
                  <a:pt x="263" y="20"/>
                </a:lnTo>
                <a:lnTo>
                  <a:pt x="261" y="15"/>
                </a:lnTo>
                <a:lnTo>
                  <a:pt x="258" y="10"/>
                </a:lnTo>
                <a:lnTo>
                  <a:pt x="255" y="5"/>
                </a:lnTo>
                <a:lnTo>
                  <a:pt x="253" y="0"/>
                </a:lnTo>
                <a:lnTo>
                  <a:pt x="250" y="2"/>
                </a:lnTo>
                <a:lnTo>
                  <a:pt x="253" y="7"/>
                </a:lnTo>
                <a:lnTo>
                  <a:pt x="255" y="12"/>
                </a:lnTo>
                <a:lnTo>
                  <a:pt x="258" y="17"/>
                </a:lnTo>
                <a:lnTo>
                  <a:pt x="260" y="22"/>
                </a:lnTo>
                <a:lnTo>
                  <a:pt x="263" y="27"/>
                </a:lnTo>
                <a:lnTo>
                  <a:pt x="264" y="33"/>
                </a:lnTo>
                <a:lnTo>
                  <a:pt x="266" y="38"/>
                </a:lnTo>
                <a:lnTo>
                  <a:pt x="268" y="45"/>
                </a:lnTo>
                <a:lnTo>
                  <a:pt x="271" y="43"/>
                </a:lnTo>
                <a:close/>
                <a:moveTo>
                  <a:pt x="0" y="116"/>
                </a:moveTo>
                <a:lnTo>
                  <a:pt x="1" y="121"/>
                </a:lnTo>
                <a:lnTo>
                  <a:pt x="3" y="126"/>
                </a:lnTo>
                <a:lnTo>
                  <a:pt x="4" y="131"/>
                </a:lnTo>
                <a:lnTo>
                  <a:pt x="6" y="138"/>
                </a:lnTo>
                <a:lnTo>
                  <a:pt x="9" y="143"/>
                </a:lnTo>
                <a:lnTo>
                  <a:pt x="13" y="148"/>
                </a:lnTo>
                <a:lnTo>
                  <a:pt x="14" y="151"/>
                </a:lnTo>
                <a:lnTo>
                  <a:pt x="18" y="156"/>
                </a:lnTo>
                <a:lnTo>
                  <a:pt x="21" y="156"/>
                </a:lnTo>
                <a:lnTo>
                  <a:pt x="18" y="151"/>
                </a:lnTo>
                <a:lnTo>
                  <a:pt x="14" y="146"/>
                </a:lnTo>
                <a:lnTo>
                  <a:pt x="13" y="141"/>
                </a:lnTo>
                <a:lnTo>
                  <a:pt x="9" y="136"/>
                </a:lnTo>
                <a:lnTo>
                  <a:pt x="8" y="131"/>
                </a:lnTo>
                <a:lnTo>
                  <a:pt x="6" y="124"/>
                </a:lnTo>
                <a:lnTo>
                  <a:pt x="4" y="119"/>
                </a:lnTo>
                <a:lnTo>
                  <a:pt x="3" y="114"/>
                </a:lnTo>
                <a:lnTo>
                  <a:pt x="0" y="116"/>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23" name="Freeform 2128">
            <a:extLst>
              <a:ext uri="{FF2B5EF4-FFF2-40B4-BE49-F238E27FC236}">
                <a16:creationId xmlns:a16="http://schemas.microsoft.com/office/drawing/2014/main" id="{18E1F811-C30B-C615-9D0E-F09B504E6398}"/>
              </a:ext>
            </a:extLst>
          </p:cNvPr>
          <p:cNvSpPr>
            <a:spLocks noEditPoints="1"/>
          </p:cNvSpPr>
          <p:nvPr/>
        </p:nvSpPr>
        <p:spPr bwMode="auto">
          <a:xfrm>
            <a:off x="3306763" y="2479675"/>
            <a:ext cx="425450" cy="244475"/>
          </a:xfrm>
          <a:custGeom>
            <a:avLst/>
            <a:gdLst>
              <a:gd name="T0" fmla="*/ 268 w 268"/>
              <a:gd name="T1" fmla="*/ 41 h 154"/>
              <a:gd name="T2" fmla="*/ 267 w 268"/>
              <a:gd name="T3" fmla="*/ 36 h 154"/>
              <a:gd name="T4" fmla="*/ 265 w 268"/>
              <a:gd name="T5" fmla="*/ 30 h 154"/>
              <a:gd name="T6" fmla="*/ 263 w 268"/>
              <a:gd name="T7" fmla="*/ 25 h 154"/>
              <a:gd name="T8" fmla="*/ 260 w 268"/>
              <a:gd name="T9" fmla="*/ 20 h 154"/>
              <a:gd name="T10" fmla="*/ 259 w 268"/>
              <a:gd name="T11" fmla="*/ 15 h 154"/>
              <a:gd name="T12" fmla="*/ 255 w 268"/>
              <a:gd name="T13" fmla="*/ 10 h 154"/>
              <a:gd name="T14" fmla="*/ 252 w 268"/>
              <a:gd name="T15" fmla="*/ 5 h 154"/>
              <a:gd name="T16" fmla="*/ 250 w 268"/>
              <a:gd name="T17" fmla="*/ 0 h 154"/>
              <a:gd name="T18" fmla="*/ 247 w 268"/>
              <a:gd name="T19" fmla="*/ 2 h 154"/>
              <a:gd name="T20" fmla="*/ 250 w 268"/>
              <a:gd name="T21" fmla="*/ 5 h 154"/>
              <a:gd name="T22" fmla="*/ 252 w 268"/>
              <a:gd name="T23" fmla="*/ 10 h 154"/>
              <a:gd name="T24" fmla="*/ 255 w 268"/>
              <a:gd name="T25" fmla="*/ 16 h 154"/>
              <a:gd name="T26" fmla="*/ 259 w 268"/>
              <a:gd name="T27" fmla="*/ 21 h 154"/>
              <a:gd name="T28" fmla="*/ 260 w 268"/>
              <a:gd name="T29" fmla="*/ 26 h 154"/>
              <a:gd name="T30" fmla="*/ 262 w 268"/>
              <a:gd name="T31" fmla="*/ 31 h 154"/>
              <a:gd name="T32" fmla="*/ 263 w 268"/>
              <a:gd name="T33" fmla="*/ 38 h 154"/>
              <a:gd name="T34" fmla="*/ 265 w 268"/>
              <a:gd name="T35" fmla="*/ 43 h 154"/>
              <a:gd name="T36" fmla="*/ 268 w 268"/>
              <a:gd name="T37" fmla="*/ 41 h 154"/>
              <a:gd name="T38" fmla="*/ 0 w 268"/>
              <a:gd name="T39" fmla="*/ 112 h 154"/>
              <a:gd name="T40" fmla="*/ 2 w 268"/>
              <a:gd name="T41" fmla="*/ 119 h 154"/>
              <a:gd name="T42" fmla="*/ 3 w 268"/>
              <a:gd name="T43" fmla="*/ 124 h 154"/>
              <a:gd name="T44" fmla="*/ 5 w 268"/>
              <a:gd name="T45" fmla="*/ 129 h 154"/>
              <a:gd name="T46" fmla="*/ 7 w 268"/>
              <a:gd name="T47" fmla="*/ 134 h 154"/>
              <a:gd name="T48" fmla="*/ 10 w 268"/>
              <a:gd name="T49" fmla="*/ 139 h 154"/>
              <a:gd name="T50" fmla="*/ 12 w 268"/>
              <a:gd name="T51" fmla="*/ 144 h 154"/>
              <a:gd name="T52" fmla="*/ 15 w 268"/>
              <a:gd name="T53" fmla="*/ 149 h 154"/>
              <a:gd name="T54" fmla="*/ 18 w 268"/>
              <a:gd name="T55" fmla="*/ 154 h 154"/>
              <a:gd name="T56" fmla="*/ 22 w 268"/>
              <a:gd name="T57" fmla="*/ 152 h 154"/>
              <a:gd name="T58" fmla="*/ 18 w 268"/>
              <a:gd name="T59" fmla="*/ 147 h 154"/>
              <a:gd name="T60" fmla="*/ 15 w 268"/>
              <a:gd name="T61" fmla="*/ 142 h 154"/>
              <a:gd name="T62" fmla="*/ 13 w 268"/>
              <a:gd name="T63" fmla="*/ 137 h 154"/>
              <a:gd name="T64" fmla="*/ 10 w 268"/>
              <a:gd name="T65" fmla="*/ 132 h 154"/>
              <a:gd name="T66" fmla="*/ 8 w 268"/>
              <a:gd name="T67" fmla="*/ 127 h 154"/>
              <a:gd name="T68" fmla="*/ 7 w 268"/>
              <a:gd name="T69" fmla="*/ 122 h 154"/>
              <a:gd name="T70" fmla="*/ 5 w 268"/>
              <a:gd name="T71" fmla="*/ 117 h 154"/>
              <a:gd name="T72" fmla="*/ 3 w 268"/>
              <a:gd name="T73" fmla="*/ 111 h 154"/>
              <a:gd name="T74" fmla="*/ 0 w 268"/>
              <a:gd name="T75" fmla="*/ 112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68" h="154">
                <a:moveTo>
                  <a:pt x="268" y="41"/>
                </a:moveTo>
                <a:lnTo>
                  <a:pt x="267" y="36"/>
                </a:lnTo>
                <a:lnTo>
                  <a:pt x="265" y="30"/>
                </a:lnTo>
                <a:lnTo>
                  <a:pt x="263" y="25"/>
                </a:lnTo>
                <a:lnTo>
                  <a:pt x="260" y="20"/>
                </a:lnTo>
                <a:lnTo>
                  <a:pt x="259" y="15"/>
                </a:lnTo>
                <a:lnTo>
                  <a:pt x="255" y="10"/>
                </a:lnTo>
                <a:lnTo>
                  <a:pt x="252" y="5"/>
                </a:lnTo>
                <a:lnTo>
                  <a:pt x="250" y="0"/>
                </a:lnTo>
                <a:lnTo>
                  <a:pt x="247" y="2"/>
                </a:lnTo>
                <a:lnTo>
                  <a:pt x="250" y="5"/>
                </a:lnTo>
                <a:lnTo>
                  <a:pt x="252" y="10"/>
                </a:lnTo>
                <a:lnTo>
                  <a:pt x="255" y="16"/>
                </a:lnTo>
                <a:lnTo>
                  <a:pt x="259" y="21"/>
                </a:lnTo>
                <a:lnTo>
                  <a:pt x="260" y="26"/>
                </a:lnTo>
                <a:lnTo>
                  <a:pt x="262" y="31"/>
                </a:lnTo>
                <a:lnTo>
                  <a:pt x="263" y="38"/>
                </a:lnTo>
                <a:lnTo>
                  <a:pt x="265" y="43"/>
                </a:lnTo>
                <a:lnTo>
                  <a:pt x="268" y="41"/>
                </a:lnTo>
                <a:close/>
                <a:moveTo>
                  <a:pt x="0" y="112"/>
                </a:moveTo>
                <a:lnTo>
                  <a:pt x="2" y="119"/>
                </a:lnTo>
                <a:lnTo>
                  <a:pt x="3" y="124"/>
                </a:lnTo>
                <a:lnTo>
                  <a:pt x="5" y="129"/>
                </a:lnTo>
                <a:lnTo>
                  <a:pt x="7" y="134"/>
                </a:lnTo>
                <a:lnTo>
                  <a:pt x="10" y="139"/>
                </a:lnTo>
                <a:lnTo>
                  <a:pt x="12" y="144"/>
                </a:lnTo>
                <a:lnTo>
                  <a:pt x="15" y="149"/>
                </a:lnTo>
                <a:lnTo>
                  <a:pt x="18" y="154"/>
                </a:lnTo>
                <a:lnTo>
                  <a:pt x="22" y="152"/>
                </a:lnTo>
                <a:lnTo>
                  <a:pt x="18" y="147"/>
                </a:lnTo>
                <a:lnTo>
                  <a:pt x="15" y="142"/>
                </a:lnTo>
                <a:lnTo>
                  <a:pt x="13" y="137"/>
                </a:lnTo>
                <a:lnTo>
                  <a:pt x="10" y="132"/>
                </a:lnTo>
                <a:lnTo>
                  <a:pt x="8" y="127"/>
                </a:lnTo>
                <a:lnTo>
                  <a:pt x="7" y="122"/>
                </a:lnTo>
                <a:lnTo>
                  <a:pt x="5" y="117"/>
                </a:lnTo>
                <a:lnTo>
                  <a:pt x="3" y="111"/>
                </a:lnTo>
                <a:lnTo>
                  <a:pt x="0" y="112"/>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24" name="Freeform 2129">
            <a:extLst>
              <a:ext uri="{FF2B5EF4-FFF2-40B4-BE49-F238E27FC236}">
                <a16:creationId xmlns:a16="http://schemas.microsoft.com/office/drawing/2014/main" id="{9C7FBE58-31A0-8D70-FBA0-03E5140ABBB1}"/>
              </a:ext>
            </a:extLst>
          </p:cNvPr>
          <p:cNvSpPr>
            <a:spLocks noEditPoints="1"/>
          </p:cNvSpPr>
          <p:nvPr/>
        </p:nvSpPr>
        <p:spPr bwMode="auto">
          <a:xfrm>
            <a:off x="3309938" y="2479675"/>
            <a:ext cx="420688" cy="244475"/>
          </a:xfrm>
          <a:custGeom>
            <a:avLst/>
            <a:gdLst>
              <a:gd name="T0" fmla="*/ 265 w 265"/>
              <a:gd name="T1" fmla="*/ 43 h 154"/>
              <a:gd name="T2" fmla="*/ 263 w 265"/>
              <a:gd name="T3" fmla="*/ 36 h 154"/>
              <a:gd name="T4" fmla="*/ 261 w 265"/>
              <a:gd name="T5" fmla="*/ 31 h 154"/>
              <a:gd name="T6" fmla="*/ 260 w 265"/>
              <a:gd name="T7" fmla="*/ 25 h 154"/>
              <a:gd name="T8" fmla="*/ 257 w 265"/>
              <a:gd name="T9" fmla="*/ 20 h 154"/>
              <a:gd name="T10" fmla="*/ 255 w 265"/>
              <a:gd name="T11" fmla="*/ 15 h 154"/>
              <a:gd name="T12" fmla="*/ 252 w 265"/>
              <a:gd name="T13" fmla="*/ 10 h 154"/>
              <a:gd name="T14" fmla="*/ 250 w 265"/>
              <a:gd name="T15" fmla="*/ 5 h 154"/>
              <a:gd name="T16" fmla="*/ 247 w 265"/>
              <a:gd name="T17" fmla="*/ 0 h 154"/>
              <a:gd name="T18" fmla="*/ 243 w 265"/>
              <a:gd name="T19" fmla="*/ 2 h 154"/>
              <a:gd name="T20" fmla="*/ 247 w 265"/>
              <a:gd name="T21" fmla="*/ 6 h 154"/>
              <a:gd name="T22" fmla="*/ 248 w 265"/>
              <a:gd name="T23" fmla="*/ 11 h 154"/>
              <a:gd name="T24" fmla="*/ 252 w 265"/>
              <a:gd name="T25" fmla="*/ 16 h 154"/>
              <a:gd name="T26" fmla="*/ 255 w 265"/>
              <a:gd name="T27" fmla="*/ 21 h 154"/>
              <a:gd name="T28" fmla="*/ 257 w 265"/>
              <a:gd name="T29" fmla="*/ 26 h 154"/>
              <a:gd name="T30" fmla="*/ 258 w 265"/>
              <a:gd name="T31" fmla="*/ 33 h 154"/>
              <a:gd name="T32" fmla="*/ 260 w 265"/>
              <a:gd name="T33" fmla="*/ 38 h 154"/>
              <a:gd name="T34" fmla="*/ 261 w 265"/>
              <a:gd name="T35" fmla="*/ 43 h 154"/>
              <a:gd name="T36" fmla="*/ 265 w 265"/>
              <a:gd name="T37" fmla="*/ 43 h 154"/>
              <a:gd name="T38" fmla="*/ 0 w 265"/>
              <a:gd name="T39" fmla="*/ 112 h 154"/>
              <a:gd name="T40" fmla="*/ 1 w 265"/>
              <a:gd name="T41" fmla="*/ 117 h 154"/>
              <a:gd name="T42" fmla="*/ 3 w 265"/>
              <a:gd name="T43" fmla="*/ 122 h 154"/>
              <a:gd name="T44" fmla="*/ 5 w 265"/>
              <a:gd name="T45" fmla="*/ 129 h 154"/>
              <a:gd name="T46" fmla="*/ 6 w 265"/>
              <a:gd name="T47" fmla="*/ 134 h 154"/>
              <a:gd name="T48" fmla="*/ 10 w 265"/>
              <a:gd name="T49" fmla="*/ 139 h 154"/>
              <a:gd name="T50" fmla="*/ 11 w 265"/>
              <a:gd name="T51" fmla="*/ 144 h 154"/>
              <a:gd name="T52" fmla="*/ 15 w 265"/>
              <a:gd name="T53" fmla="*/ 149 h 154"/>
              <a:gd name="T54" fmla="*/ 18 w 265"/>
              <a:gd name="T55" fmla="*/ 154 h 154"/>
              <a:gd name="T56" fmla="*/ 21 w 265"/>
              <a:gd name="T57" fmla="*/ 152 h 154"/>
              <a:gd name="T58" fmla="*/ 18 w 265"/>
              <a:gd name="T59" fmla="*/ 147 h 154"/>
              <a:gd name="T60" fmla="*/ 15 w 265"/>
              <a:gd name="T61" fmla="*/ 142 h 154"/>
              <a:gd name="T62" fmla="*/ 13 w 265"/>
              <a:gd name="T63" fmla="*/ 137 h 154"/>
              <a:gd name="T64" fmla="*/ 10 w 265"/>
              <a:gd name="T65" fmla="*/ 132 h 154"/>
              <a:gd name="T66" fmla="*/ 8 w 265"/>
              <a:gd name="T67" fmla="*/ 127 h 154"/>
              <a:gd name="T68" fmla="*/ 6 w 265"/>
              <a:gd name="T69" fmla="*/ 122 h 154"/>
              <a:gd name="T70" fmla="*/ 3 w 265"/>
              <a:gd name="T71" fmla="*/ 116 h 154"/>
              <a:gd name="T72" fmla="*/ 3 w 265"/>
              <a:gd name="T73" fmla="*/ 111 h 154"/>
              <a:gd name="T74" fmla="*/ 0 w 265"/>
              <a:gd name="T75" fmla="*/ 112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65" h="154">
                <a:moveTo>
                  <a:pt x="265" y="43"/>
                </a:moveTo>
                <a:lnTo>
                  <a:pt x="263" y="36"/>
                </a:lnTo>
                <a:lnTo>
                  <a:pt x="261" y="31"/>
                </a:lnTo>
                <a:lnTo>
                  <a:pt x="260" y="25"/>
                </a:lnTo>
                <a:lnTo>
                  <a:pt x="257" y="20"/>
                </a:lnTo>
                <a:lnTo>
                  <a:pt x="255" y="15"/>
                </a:lnTo>
                <a:lnTo>
                  <a:pt x="252" y="10"/>
                </a:lnTo>
                <a:lnTo>
                  <a:pt x="250" y="5"/>
                </a:lnTo>
                <a:lnTo>
                  <a:pt x="247" y="0"/>
                </a:lnTo>
                <a:lnTo>
                  <a:pt x="243" y="2"/>
                </a:lnTo>
                <a:lnTo>
                  <a:pt x="247" y="6"/>
                </a:lnTo>
                <a:lnTo>
                  <a:pt x="248" y="11"/>
                </a:lnTo>
                <a:lnTo>
                  <a:pt x="252" y="16"/>
                </a:lnTo>
                <a:lnTo>
                  <a:pt x="255" y="21"/>
                </a:lnTo>
                <a:lnTo>
                  <a:pt x="257" y="26"/>
                </a:lnTo>
                <a:lnTo>
                  <a:pt x="258" y="33"/>
                </a:lnTo>
                <a:lnTo>
                  <a:pt x="260" y="38"/>
                </a:lnTo>
                <a:lnTo>
                  <a:pt x="261" y="43"/>
                </a:lnTo>
                <a:lnTo>
                  <a:pt x="265" y="43"/>
                </a:lnTo>
                <a:close/>
                <a:moveTo>
                  <a:pt x="0" y="112"/>
                </a:moveTo>
                <a:lnTo>
                  <a:pt x="1" y="117"/>
                </a:lnTo>
                <a:lnTo>
                  <a:pt x="3" y="122"/>
                </a:lnTo>
                <a:lnTo>
                  <a:pt x="5" y="129"/>
                </a:lnTo>
                <a:lnTo>
                  <a:pt x="6" y="134"/>
                </a:lnTo>
                <a:lnTo>
                  <a:pt x="10" y="139"/>
                </a:lnTo>
                <a:lnTo>
                  <a:pt x="11" y="144"/>
                </a:lnTo>
                <a:lnTo>
                  <a:pt x="15" y="149"/>
                </a:lnTo>
                <a:lnTo>
                  <a:pt x="18" y="154"/>
                </a:lnTo>
                <a:lnTo>
                  <a:pt x="21" y="152"/>
                </a:lnTo>
                <a:lnTo>
                  <a:pt x="18" y="147"/>
                </a:lnTo>
                <a:lnTo>
                  <a:pt x="15" y="142"/>
                </a:lnTo>
                <a:lnTo>
                  <a:pt x="13" y="137"/>
                </a:lnTo>
                <a:lnTo>
                  <a:pt x="10" y="132"/>
                </a:lnTo>
                <a:lnTo>
                  <a:pt x="8" y="127"/>
                </a:lnTo>
                <a:lnTo>
                  <a:pt x="6" y="122"/>
                </a:lnTo>
                <a:lnTo>
                  <a:pt x="3" y="116"/>
                </a:lnTo>
                <a:lnTo>
                  <a:pt x="3" y="111"/>
                </a:lnTo>
                <a:lnTo>
                  <a:pt x="0" y="112"/>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25" name="Freeform 2130">
            <a:extLst>
              <a:ext uri="{FF2B5EF4-FFF2-40B4-BE49-F238E27FC236}">
                <a16:creationId xmlns:a16="http://schemas.microsoft.com/office/drawing/2014/main" id="{B5323C74-614D-B384-5415-AFB901148A8C}"/>
              </a:ext>
            </a:extLst>
          </p:cNvPr>
          <p:cNvSpPr>
            <a:spLocks noEditPoints="1"/>
          </p:cNvSpPr>
          <p:nvPr/>
        </p:nvSpPr>
        <p:spPr bwMode="auto">
          <a:xfrm>
            <a:off x="3311525" y="2482850"/>
            <a:ext cx="415925" cy="238125"/>
          </a:xfrm>
          <a:custGeom>
            <a:avLst/>
            <a:gdLst>
              <a:gd name="T0" fmla="*/ 262 w 262"/>
              <a:gd name="T1" fmla="*/ 41 h 150"/>
              <a:gd name="T2" fmla="*/ 260 w 262"/>
              <a:gd name="T3" fmla="*/ 36 h 150"/>
              <a:gd name="T4" fmla="*/ 259 w 262"/>
              <a:gd name="T5" fmla="*/ 29 h 150"/>
              <a:gd name="T6" fmla="*/ 257 w 262"/>
              <a:gd name="T7" fmla="*/ 24 h 150"/>
              <a:gd name="T8" fmla="*/ 256 w 262"/>
              <a:gd name="T9" fmla="*/ 19 h 150"/>
              <a:gd name="T10" fmla="*/ 252 w 262"/>
              <a:gd name="T11" fmla="*/ 14 h 150"/>
              <a:gd name="T12" fmla="*/ 249 w 262"/>
              <a:gd name="T13" fmla="*/ 8 h 150"/>
              <a:gd name="T14" fmla="*/ 247 w 262"/>
              <a:gd name="T15" fmla="*/ 3 h 150"/>
              <a:gd name="T16" fmla="*/ 244 w 262"/>
              <a:gd name="T17" fmla="*/ 0 h 150"/>
              <a:gd name="T18" fmla="*/ 241 w 262"/>
              <a:gd name="T19" fmla="*/ 0 h 150"/>
              <a:gd name="T20" fmla="*/ 244 w 262"/>
              <a:gd name="T21" fmla="*/ 4 h 150"/>
              <a:gd name="T22" fmla="*/ 247 w 262"/>
              <a:gd name="T23" fmla="*/ 9 h 150"/>
              <a:gd name="T24" fmla="*/ 249 w 262"/>
              <a:gd name="T25" fmla="*/ 14 h 150"/>
              <a:gd name="T26" fmla="*/ 252 w 262"/>
              <a:gd name="T27" fmla="*/ 21 h 150"/>
              <a:gd name="T28" fmla="*/ 254 w 262"/>
              <a:gd name="T29" fmla="*/ 26 h 150"/>
              <a:gd name="T30" fmla="*/ 256 w 262"/>
              <a:gd name="T31" fmla="*/ 31 h 150"/>
              <a:gd name="T32" fmla="*/ 257 w 262"/>
              <a:gd name="T33" fmla="*/ 36 h 150"/>
              <a:gd name="T34" fmla="*/ 259 w 262"/>
              <a:gd name="T35" fmla="*/ 43 h 150"/>
              <a:gd name="T36" fmla="*/ 262 w 262"/>
              <a:gd name="T37" fmla="*/ 41 h 150"/>
              <a:gd name="T38" fmla="*/ 0 w 262"/>
              <a:gd name="T39" fmla="*/ 109 h 150"/>
              <a:gd name="T40" fmla="*/ 2 w 262"/>
              <a:gd name="T41" fmla="*/ 115 h 150"/>
              <a:gd name="T42" fmla="*/ 4 w 262"/>
              <a:gd name="T43" fmla="*/ 120 h 150"/>
              <a:gd name="T44" fmla="*/ 5 w 262"/>
              <a:gd name="T45" fmla="*/ 125 h 150"/>
              <a:gd name="T46" fmla="*/ 7 w 262"/>
              <a:gd name="T47" fmla="*/ 130 h 150"/>
              <a:gd name="T48" fmla="*/ 10 w 262"/>
              <a:gd name="T49" fmla="*/ 135 h 150"/>
              <a:gd name="T50" fmla="*/ 12 w 262"/>
              <a:gd name="T51" fmla="*/ 140 h 150"/>
              <a:gd name="T52" fmla="*/ 15 w 262"/>
              <a:gd name="T53" fmla="*/ 145 h 150"/>
              <a:gd name="T54" fmla="*/ 19 w 262"/>
              <a:gd name="T55" fmla="*/ 150 h 150"/>
              <a:gd name="T56" fmla="*/ 22 w 262"/>
              <a:gd name="T57" fmla="*/ 149 h 150"/>
              <a:gd name="T58" fmla="*/ 19 w 262"/>
              <a:gd name="T59" fmla="*/ 144 h 150"/>
              <a:gd name="T60" fmla="*/ 15 w 262"/>
              <a:gd name="T61" fmla="*/ 140 h 150"/>
              <a:gd name="T62" fmla="*/ 14 w 262"/>
              <a:gd name="T63" fmla="*/ 135 h 150"/>
              <a:gd name="T64" fmla="*/ 10 w 262"/>
              <a:gd name="T65" fmla="*/ 130 h 150"/>
              <a:gd name="T66" fmla="*/ 9 w 262"/>
              <a:gd name="T67" fmla="*/ 124 h 150"/>
              <a:gd name="T68" fmla="*/ 5 w 262"/>
              <a:gd name="T69" fmla="*/ 119 h 150"/>
              <a:gd name="T70" fmla="*/ 4 w 262"/>
              <a:gd name="T71" fmla="*/ 114 h 150"/>
              <a:gd name="T72" fmla="*/ 2 w 262"/>
              <a:gd name="T73" fmla="*/ 109 h 150"/>
              <a:gd name="T74" fmla="*/ 0 w 262"/>
              <a:gd name="T75" fmla="*/ 109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62" h="150">
                <a:moveTo>
                  <a:pt x="262" y="41"/>
                </a:moveTo>
                <a:lnTo>
                  <a:pt x="260" y="36"/>
                </a:lnTo>
                <a:lnTo>
                  <a:pt x="259" y="29"/>
                </a:lnTo>
                <a:lnTo>
                  <a:pt x="257" y="24"/>
                </a:lnTo>
                <a:lnTo>
                  <a:pt x="256" y="19"/>
                </a:lnTo>
                <a:lnTo>
                  <a:pt x="252" y="14"/>
                </a:lnTo>
                <a:lnTo>
                  <a:pt x="249" y="8"/>
                </a:lnTo>
                <a:lnTo>
                  <a:pt x="247" y="3"/>
                </a:lnTo>
                <a:lnTo>
                  <a:pt x="244" y="0"/>
                </a:lnTo>
                <a:lnTo>
                  <a:pt x="241" y="0"/>
                </a:lnTo>
                <a:lnTo>
                  <a:pt x="244" y="4"/>
                </a:lnTo>
                <a:lnTo>
                  <a:pt x="247" y="9"/>
                </a:lnTo>
                <a:lnTo>
                  <a:pt x="249" y="14"/>
                </a:lnTo>
                <a:lnTo>
                  <a:pt x="252" y="21"/>
                </a:lnTo>
                <a:lnTo>
                  <a:pt x="254" y="26"/>
                </a:lnTo>
                <a:lnTo>
                  <a:pt x="256" y="31"/>
                </a:lnTo>
                <a:lnTo>
                  <a:pt x="257" y="36"/>
                </a:lnTo>
                <a:lnTo>
                  <a:pt x="259" y="43"/>
                </a:lnTo>
                <a:lnTo>
                  <a:pt x="262" y="41"/>
                </a:lnTo>
                <a:close/>
                <a:moveTo>
                  <a:pt x="0" y="109"/>
                </a:moveTo>
                <a:lnTo>
                  <a:pt x="2" y="115"/>
                </a:lnTo>
                <a:lnTo>
                  <a:pt x="4" y="120"/>
                </a:lnTo>
                <a:lnTo>
                  <a:pt x="5" y="125"/>
                </a:lnTo>
                <a:lnTo>
                  <a:pt x="7" y="130"/>
                </a:lnTo>
                <a:lnTo>
                  <a:pt x="10" y="135"/>
                </a:lnTo>
                <a:lnTo>
                  <a:pt x="12" y="140"/>
                </a:lnTo>
                <a:lnTo>
                  <a:pt x="15" y="145"/>
                </a:lnTo>
                <a:lnTo>
                  <a:pt x="19" y="150"/>
                </a:lnTo>
                <a:lnTo>
                  <a:pt x="22" y="149"/>
                </a:lnTo>
                <a:lnTo>
                  <a:pt x="19" y="144"/>
                </a:lnTo>
                <a:lnTo>
                  <a:pt x="15" y="140"/>
                </a:lnTo>
                <a:lnTo>
                  <a:pt x="14" y="135"/>
                </a:lnTo>
                <a:lnTo>
                  <a:pt x="10" y="130"/>
                </a:lnTo>
                <a:lnTo>
                  <a:pt x="9" y="124"/>
                </a:lnTo>
                <a:lnTo>
                  <a:pt x="5" y="119"/>
                </a:lnTo>
                <a:lnTo>
                  <a:pt x="4" y="114"/>
                </a:lnTo>
                <a:lnTo>
                  <a:pt x="2" y="109"/>
                </a:lnTo>
                <a:lnTo>
                  <a:pt x="0" y="109"/>
                </a:lnTo>
                <a:close/>
              </a:path>
            </a:pathLst>
          </a:custGeom>
          <a:solidFill>
            <a:srgbClr val="ADDAF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26" name="Freeform 2131">
            <a:extLst>
              <a:ext uri="{FF2B5EF4-FFF2-40B4-BE49-F238E27FC236}">
                <a16:creationId xmlns:a16="http://schemas.microsoft.com/office/drawing/2014/main" id="{CFD18B93-4CF4-D6C5-53C6-644063531CBF}"/>
              </a:ext>
            </a:extLst>
          </p:cNvPr>
          <p:cNvSpPr>
            <a:spLocks noEditPoints="1"/>
          </p:cNvSpPr>
          <p:nvPr/>
        </p:nvSpPr>
        <p:spPr bwMode="auto">
          <a:xfrm>
            <a:off x="3314700" y="2482850"/>
            <a:ext cx="409575" cy="238125"/>
          </a:xfrm>
          <a:custGeom>
            <a:avLst/>
            <a:gdLst>
              <a:gd name="T0" fmla="*/ 258 w 258"/>
              <a:gd name="T1" fmla="*/ 41 h 150"/>
              <a:gd name="T2" fmla="*/ 257 w 258"/>
              <a:gd name="T3" fmla="*/ 36 h 150"/>
              <a:gd name="T4" fmla="*/ 255 w 258"/>
              <a:gd name="T5" fmla="*/ 31 h 150"/>
              <a:gd name="T6" fmla="*/ 254 w 258"/>
              <a:gd name="T7" fmla="*/ 24 h 150"/>
              <a:gd name="T8" fmla="*/ 252 w 258"/>
              <a:gd name="T9" fmla="*/ 19 h 150"/>
              <a:gd name="T10" fmla="*/ 249 w 258"/>
              <a:gd name="T11" fmla="*/ 14 h 150"/>
              <a:gd name="T12" fmla="*/ 245 w 258"/>
              <a:gd name="T13" fmla="*/ 9 h 150"/>
              <a:gd name="T14" fmla="*/ 244 w 258"/>
              <a:gd name="T15" fmla="*/ 4 h 150"/>
              <a:gd name="T16" fmla="*/ 240 w 258"/>
              <a:gd name="T17" fmla="*/ 0 h 150"/>
              <a:gd name="T18" fmla="*/ 237 w 258"/>
              <a:gd name="T19" fmla="*/ 1 h 150"/>
              <a:gd name="T20" fmla="*/ 240 w 258"/>
              <a:gd name="T21" fmla="*/ 6 h 150"/>
              <a:gd name="T22" fmla="*/ 244 w 258"/>
              <a:gd name="T23" fmla="*/ 11 h 150"/>
              <a:gd name="T24" fmla="*/ 245 w 258"/>
              <a:gd name="T25" fmla="*/ 16 h 150"/>
              <a:gd name="T26" fmla="*/ 249 w 258"/>
              <a:gd name="T27" fmla="*/ 21 h 150"/>
              <a:gd name="T28" fmla="*/ 250 w 258"/>
              <a:gd name="T29" fmla="*/ 26 h 150"/>
              <a:gd name="T30" fmla="*/ 252 w 258"/>
              <a:gd name="T31" fmla="*/ 31 h 150"/>
              <a:gd name="T32" fmla="*/ 254 w 258"/>
              <a:gd name="T33" fmla="*/ 38 h 150"/>
              <a:gd name="T34" fmla="*/ 255 w 258"/>
              <a:gd name="T35" fmla="*/ 43 h 150"/>
              <a:gd name="T36" fmla="*/ 258 w 258"/>
              <a:gd name="T37" fmla="*/ 41 h 150"/>
              <a:gd name="T38" fmla="*/ 0 w 258"/>
              <a:gd name="T39" fmla="*/ 109 h 150"/>
              <a:gd name="T40" fmla="*/ 0 w 258"/>
              <a:gd name="T41" fmla="*/ 114 h 150"/>
              <a:gd name="T42" fmla="*/ 3 w 258"/>
              <a:gd name="T43" fmla="*/ 120 h 150"/>
              <a:gd name="T44" fmla="*/ 5 w 258"/>
              <a:gd name="T45" fmla="*/ 125 h 150"/>
              <a:gd name="T46" fmla="*/ 7 w 258"/>
              <a:gd name="T47" fmla="*/ 130 h 150"/>
              <a:gd name="T48" fmla="*/ 10 w 258"/>
              <a:gd name="T49" fmla="*/ 135 h 150"/>
              <a:gd name="T50" fmla="*/ 12 w 258"/>
              <a:gd name="T51" fmla="*/ 140 h 150"/>
              <a:gd name="T52" fmla="*/ 15 w 258"/>
              <a:gd name="T53" fmla="*/ 145 h 150"/>
              <a:gd name="T54" fmla="*/ 18 w 258"/>
              <a:gd name="T55" fmla="*/ 150 h 150"/>
              <a:gd name="T56" fmla="*/ 22 w 258"/>
              <a:gd name="T57" fmla="*/ 149 h 150"/>
              <a:gd name="T58" fmla="*/ 18 w 258"/>
              <a:gd name="T59" fmla="*/ 144 h 150"/>
              <a:gd name="T60" fmla="*/ 15 w 258"/>
              <a:gd name="T61" fmla="*/ 139 h 150"/>
              <a:gd name="T62" fmla="*/ 12 w 258"/>
              <a:gd name="T63" fmla="*/ 134 h 150"/>
              <a:gd name="T64" fmla="*/ 10 w 258"/>
              <a:gd name="T65" fmla="*/ 129 h 150"/>
              <a:gd name="T66" fmla="*/ 8 w 258"/>
              <a:gd name="T67" fmla="*/ 124 h 150"/>
              <a:gd name="T68" fmla="*/ 5 w 258"/>
              <a:gd name="T69" fmla="*/ 119 h 150"/>
              <a:gd name="T70" fmla="*/ 3 w 258"/>
              <a:gd name="T71" fmla="*/ 114 h 150"/>
              <a:gd name="T72" fmla="*/ 2 w 258"/>
              <a:gd name="T73" fmla="*/ 107 h 150"/>
              <a:gd name="T74" fmla="*/ 0 w 258"/>
              <a:gd name="T75" fmla="*/ 109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8" h="150">
                <a:moveTo>
                  <a:pt x="258" y="41"/>
                </a:moveTo>
                <a:lnTo>
                  <a:pt x="257" y="36"/>
                </a:lnTo>
                <a:lnTo>
                  <a:pt x="255" y="31"/>
                </a:lnTo>
                <a:lnTo>
                  <a:pt x="254" y="24"/>
                </a:lnTo>
                <a:lnTo>
                  <a:pt x="252" y="19"/>
                </a:lnTo>
                <a:lnTo>
                  <a:pt x="249" y="14"/>
                </a:lnTo>
                <a:lnTo>
                  <a:pt x="245" y="9"/>
                </a:lnTo>
                <a:lnTo>
                  <a:pt x="244" y="4"/>
                </a:lnTo>
                <a:lnTo>
                  <a:pt x="240" y="0"/>
                </a:lnTo>
                <a:lnTo>
                  <a:pt x="237" y="1"/>
                </a:lnTo>
                <a:lnTo>
                  <a:pt x="240" y="6"/>
                </a:lnTo>
                <a:lnTo>
                  <a:pt x="244" y="11"/>
                </a:lnTo>
                <a:lnTo>
                  <a:pt x="245" y="16"/>
                </a:lnTo>
                <a:lnTo>
                  <a:pt x="249" y="21"/>
                </a:lnTo>
                <a:lnTo>
                  <a:pt x="250" y="26"/>
                </a:lnTo>
                <a:lnTo>
                  <a:pt x="252" y="31"/>
                </a:lnTo>
                <a:lnTo>
                  <a:pt x="254" y="38"/>
                </a:lnTo>
                <a:lnTo>
                  <a:pt x="255" y="43"/>
                </a:lnTo>
                <a:lnTo>
                  <a:pt x="258" y="41"/>
                </a:lnTo>
                <a:close/>
                <a:moveTo>
                  <a:pt x="0" y="109"/>
                </a:moveTo>
                <a:lnTo>
                  <a:pt x="0" y="114"/>
                </a:lnTo>
                <a:lnTo>
                  <a:pt x="3" y="120"/>
                </a:lnTo>
                <a:lnTo>
                  <a:pt x="5" y="125"/>
                </a:lnTo>
                <a:lnTo>
                  <a:pt x="7" y="130"/>
                </a:lnTo>
                <a:lnTo>
                  <a:pt x="10" y="135"/>
                </a:lnTo>
                <a:lnTo>
                  <a:pt x="12" y="140"/>
                </a:lnTo>
                <a:lnTo>
                  <a:pt x="15" y="145"/>
                </a:lnTo>
                <a:lnTo>
                  <a:pt x="18" y="150"/>
                </a:lnTo>
                <a:lnTo>
                  <a:pt x="22" y="149"/>
                </a:lnTo>
                <a:lnTo>
                  <a:pt x="18" y="144"/>
                </a:lnTo>
                <a:lnTo>
                  <a:pt x="15" y="139"/>
                </a:lnTo>
                <a:lnTo>
                  <a:pt x="12" y="134"/>
                </a:lnTo>
                <a:lnTo>
                  <a:pt x="10" y="129"/>
                </a:lnTo>
                <a:lnTo>
                  <a:pt x="8" y="124"/>
                </a:lnTo>
                <a:lnTo>
                  <a:pt x="5" y="119"/>
                </a:lnTo>
                <a:lnTo>
                  <a:pt x="3" y="114"/>
                </a:lnTo>
                <a:lnTo>
                  <a:pt x="2" y="107"/>
                </a:lnTo>
                <a:lnTo>
                  <a:pt x="0" y="109"/>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27" name="Freeform 2132">
            <a:extLst>
              <a:ext uri="{FF2B5EF4-FFF2-40B4-BE49-F238E27FC236}">
                <a16:creationId xmlns:a16="http://schemas.microsoft.com/office/drawing/2014/main" id="{22547A4F-F3C7-1D4D-66A8-5F0F2E6531DF}"/>
              </a:ext>
            </a:extLst>
          </p:cNvPr>
          <p:cNvSpPr>
            <a:spLocks noEditPoints="1"/>
          </p:cNvSpPr>
          <p:nvPr/>
        </p:nvSpPr>
        <p:spPr bwMode="auto">
          <a:xfrm>
            <a:off x="3314700" y="2482850"/>
            <a:ext cx="407988" cy="236538"/>
          </a:xfrm>
          <a:custGeom>
            <a:avLst/>
            <a:gdLst>
              <a:gd name="T0" fmla="*/ 257 w 257"/>
              <a:gd name="T1" fmla="*/ 43 h 149"/>
              <a:gd name="T2" fmla="*/ 255 w 257"/>
              <a:gd name="T3" fmla="*/ 36 h 149"/>
              <a:gd name="T4" fmla="*/ 254 w 257"/>
              <a:gd name="T5" fmla="*/ 31 h 149"/>
              <a:gd name="T6" fmla="*/ 252 w 257"/>
              <a:gd name="T7" fmla="*/ 26 h 149"/>
              <a:gd name="T8" fmla="*/ 250 w 257"/>
              <a:gd name="T9" fmla="*/ 21 h 149"/>
              <a:gd name="T10" fmla="*/ 247 w 257"/>
              <a:gd name="T11" fmla="*/ 14 h 149"/>
              <a:gd name="T12" fmla="*/ 245 w 257"/>
              <a:gd name="T13" fmla="*/ 9 h 149"/>
              <a:gd name="T14" fmla="*/ 242 w 257"/>
              <a:gd name="T15" fmla="*/ 4 h 149"/>
              <a:gd name="T16" fmla="*/ 239 w 257"/>
              <a:gd name="T17" fmla="*/ 0 h 149"/>
              <a:gd name="T18" fmla="*/ 235 w 257"/>
              <a:gd name="T19" fmla="*/ 1 h 149"/>
              <a:gd name="T20" fmla="*/ 239 w 257"/>
              <a:gd name="T21" fmla="*/ 6 h 149"/>
              <a:gd name="T22" fmla="*/ 242 w 257"/>
              <a:gd name="T23" fmla="*/ 11 h 149"/>
              <a:gd name="T24" fmla="*/ 244 w 257"/>
              <a:gd name="T25" fmla="*/ 16 h 149"/>
              <a:gd name="T26" fmla="*/ 247 w 257"/>
              <a:gd name="T27" fmla="*/ 21 h 149"/>
              <a:gd name="T28" fmla="*/ 249 w 257"/>
              <a:gd name="T29" fmla="*/ 28 h 149"/>
              <a:gd name="T30" fmla="*/ 250 w 257"/>
              <a:gd name="T31" fmla="*/ 33 h 149"/>
              <a:gd name="T32" fmla="*/ 254 w 257"/>
              <a:gd name="T33" fmla="*/ 38 h 149"/>
              <a:gd name="T34" fmla="*/ 254 w 257"/>
              <a:gd name="T35" fmla="*/ 44 h 149"/>
              <a:gd name="T36" fmla="*/ 257 w 257"/>
              <a:gd name="T37" fmla="*/ 43 h 149"/>
              <a:gd name="T38" fmla="*/ 0 w 257"/>
              <a:gd name="T39" fmla="*/ 109 h 149"/>
              <a:gd name="T40" fmla="*/ 2 w 257"/>
              <a:gd name="T41" fmla="*/ 114 h 149"/>
              <a:gd name="T42" fmla="*/ 3 w 257"/>
              <a:gd name="T43" fmla="*/ 119 h 149"/>
              <a:gd name="T44" fmla="*/ 7 w 257"/>
              <a:gd name="T45" fmla="*/ 124 h 149"/>
              <a:gd name="T46" fmla="*/ 8 w 257"/>
              <a:gd name="T47" fmla="*/ 130 h 149"/>
              <a:gd name="T48" fmla="*/ 12 w 257"/>
              <a:gd name="T49" fmla="*/ 135 h 149"/>
              <a:gd name="T50" fmla="*/ 13 w 257"/>
              <a:gd name="T51" fmla="*/ 140 h 149"/>
              <a:gd name="T52" fmla="*/ 17 w 257"/>
              <a:gd name="T53" fmla="*/ 144 h 149"/>
              <a:gd name="T54" fmla="*/ 20 w 257"/>
              <a:gd name="T55" fmla="*/ 149 h 149"/>
              <a:gd name="T56" fmla="*/ 23 w 257"/>
              <a:gd name="T57" fmla="*/ 147 h 149"/>
              <a:gd name="T58" fmla="*/ 20 w 257"/>
              <a:gd name="T59" fmla="*/ 144 h 149"/>
              <a:gd name="T60" fmla="*/ 17 w 257"/>
              <a:gd name="T61" fmla="*/ 139 h 149"/>
              <a:gd name="T62" fmla="*/ 13 w 257"/>
              <a:gd name="T63" fmla="*/ 134 h 149"/>
              <a:gd name="T64" fmla="*/ 12 w 257"/>
              <a:gd name="T65" fmla="*/ 129 h 149"/>
              <a:gd name="T66" fmla="*/ 10 w 257"/>
              <a:gd name="T67" fmla="*/ 124 h 149"/>
              <a:gd name="T68" fmla="*/ 7 w 257"/>
              <a:gd name="T69" fmla="*/ 117 h 149"/>
              <a:gd name="T70" fmla="*/ 5 w 257"/>
              <a:gd name="T71" fmla="*/ 112 h 149"/>
              <a:gd name="T72" fmla="*/ 3 w 257"/>
              <a:gd name="T73" fmla="*/ 107 h 149"/>
              <a:gd name="T74" fmla="*/ 0 w 257"/>
              <a:gd name="T75" fmla="*/ 10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7" h="149">
                <a:moveTo>
                  <a:pt x="257" y="43"/>
                </a:moveTo>
                <a:lnTo>
                  <a:pt x="255" y="36"/>
                </a:lnTo>
                <a:lnTo>
                  <a:pt x="254" y="31"/>
                </a:lnTo>
                <a:lnTo>
                  <a:pt x="252" y="26"/>
                </a:lnTo>
                <a:lnTo>
                  <a:pt x="250" y="21"/>
                </a:lnTo>
                <a:lnTo>
                  <a:pt x="247" y="14"/>
                </a:lnTo>
                <a:lnTo>
                  <a:pt x="245" y="9"/>
                </a:lnTo>
                <a:lnTo>
                  <a:pt x="242" y="4"/>
                </a:lnTo>
                <a:lnTo>
                  <a:pt x="239" y="0"/>
                </a:lnTo>
                <a:lnTo>
                  <a:pt x="235" y="1"/>
                </a:lnTo>
                <a:lnTo>
                  <a:pt x="239" y="6"/>
                </a:lnTo>
                <a:lnTo>
                  <a:pt x="242" y="11"/>
                </a:lnTo>
                <a:lnTo>
                  <a:pt x="244" y="16"/>
                </a:lnTo>
                <a:lnTo>
                  <a:pt x="247" y="21"/>
                </a:lnTo>
                <a:lnTo>
                  <a:pt x="249" y="28"/>
                </a:lnTo>
                <a:lnTo>
                  <a:pt x="250" y="33"/>
                </a:lnTo>
                <a:lnTo>
                  <a:pt x="254" y="38"/>
                </a:lnTo>
                <a:lnTo>
                  <a:pt x="254" y="44"/>
                </a:lnTo>
                <a:lnTo>
                  <a:pt x="257" y="43"/>
                </a:lnTo>
                <a:close/>
                <a:moveTo>
                  <a:pt x="0" y="109"/>
                </a:moveTo>
                <a:lnTo>
                  <a:pt x="2" y="114"/>
                </a:lnTo>
                <a:lnTo>
                  <a:pt x="3" y="119"/>
                </a:lnTo>
                <a:lnTo>
                  <a:pt x="7" y="124"/>
                </a:lnTo>
                <a:lnTo>
                  <a:pt x="8" y="130"/>
                </a:lnTo>
                <a:lnTo>
                  <a:pt x="12" y="135"/>
                </a:lnTo>
                <a:lnTo>
                  <a:pt x="13" y="140"/>
                </a:lnTo>
                <a:lnTo>
                  <a:pt x="17" y="144"/>
                </a:lnTo>
                <a:lnTo>
                  <a:pt x="20" y="149"/>
                </a:lnTo>
                <a:lnTo>
                  <a:pt x="23" y="147"/>
                </a:lnTo>
                <a:lnTo>
                  <a:pt x="20" y="144"/>
                </a:lnTo>
                <a:lnTo>
                  <a:pt x="17" y="139"/>
                </a:lnTo>
                <a:lnTo>
                  <a:pt x="13" y="134"/>
                </a:lnTo>
                <a:lnTo>
                  <a:pt x="12" y="129"/>
                </a:lnTo>
                <a:lnTo>
                  <a:pt x="10" y="124"/>
                </a:lnTo>
                <a:lnTo>
                  <a:pt x="7" y="117"/>
                </a:lnTo>
                <a:lnTo>
                  <a:pt x="5" y="112"/>
                </a:lnTo>
                <a:lnTo>
                  <a:pt x="3" y="107"/>
                </a:lnTo>
                <a:lnTo>
                  <a:pt x="0" y="109"/>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28" name="Freeform 2133">
            <a:extLst>
              <a:ext uri="{FF2B5EF4-FFF2-40B4-BE49-F238E27FC236}">
                <a16:creationId xmlns:a16="http://schemas.microsoft.com/office/drawing/2014/main" id="{720F4A50-30E2-9F4A-3BC4-7A955226ECE9}"/>
              </a:ext>
            </a:extLst>
          </p:cNvPr>
          <p:cNvSpPr>
            <a:spLocks noEditPoints="1"/>
          </p:cNvSpPr>
          <p:nvPr/>
        </p:nvSpPr>
        <p:spPr bwMode="auto">
          <a:xfrm>
            <a:off x="3317875" y="2484438"/>
            <a:ext cx="401638" cy="234950"/>
          </a:xfrm>
          <a:custGeom>
            <a:avLst/>
            <a:gdLst>
              <a:gd name="T0" fmla="*/ 253 w 253"/>
              <a:gd name="T1" fmla="*/ 42 h 148"/>
              <a:gd name="T2" fmla="*/ 252 w 253"/>
              <a:gd name="T3" fmla="*/ 37 h 148"/>
              <a:gd name="T4" fmla="*/ 250 w 253"/>
              <a:gd name="T5" fmla="*/ 30 h 148"/>
              <a:gd name="T6" fmla="*/ 248 w 253"/>
              <a:gd name="T7" fmla="*/ 25 h 148"/>
              <a:gd name="T8" fmla="*/ 247 w 253"/>
              <a:gd name="T9" fmla="*/ 20 h 148"/>
              <a:gd name="T10" fmla="*/ 243 w 253"/>
              <a:gd name="T11" fmla="*/ 15 h 148"/>
              <a:gd name="T12" fmla="*/ 242 w 253"/>
              <a:gd name="T13" fmla="*/ 10 h 148"/>
              <a:gd name="T14" fmla="*/ 238 w 253"/>
              <a:gd name="T15" fmla="*/ 5 h 148"/>
              <a:gd name="T16" fmla="*/ 235 w 253"/>
              <a:gd name="T17" fmla="*/ 0 h 148"/>
              <a:gd name="T18" fmla="*/ 232 w 253"/>
              <a:gd name="T19" fmla="*/ 2 h 148"/>
              <a:gd name="T20" fmla="*/ 235 w 253"/>
              <a:gd name="T21" fmla="*/ 7 h 148"/>
              <a:gd name="T22" fmla="*/ 238 w 253"/>
              <a:gd name="T23" fmla="*/ 12 h 148"/>
              <a:gd name="T24" fmla="*/ 240 w 253"/>
              <a:gd name="T25" fmla="*/ 17 h 148"/>
              <a:gd name="T26" fmla="*/ 243 w 253"/>
              <a:gd name="T27" fmla="*/ 22 h 148"/>
              <a:gd name="T28" fmla="*/ 245 w 253"/>
              <a:gd name="T29" fmla="*/ 27 h 148"/>
              <a:gd name="T30" fmla="*/ 248 w 253"/>
              <a:gd name="T31" fmla="*/ 32 h 148"/>
              <a:gd name="T32" fmla="*/ 250 w 253"/>
              <a:gd name="T33" fmla="*/ 38 h 148"/>
              <a:gd name="T34" fmla="*/ 252 w 253"/>
              <a:gd name="T35" fmla="*/ 43 h 148"/>
              <a:gd name="T36" fmla="*/ 253 w 253"/>
              <a:gd name="T37" fmla="*/ 42 h 148"/>
              <a:gd name="T38" fmla="*/ 0 w 253"/>
              <a:gd name="T39" fmla="*/ 106 h 148"/>
              <a:gd name="T40" fmla="*/ 1 w 253"/>
              <a:gd name="T41" fmla="*/ 113 h 148"/>
              <a:gd name="T42" fmla="*/ 3 w 253"/>
              <a:gd name="T43" fmla="*/ 118 h 148"/>
              <a:gd name="T44" fmla="*/ 6 w 253"/>
              <a:gd name="T45" fmla="*/ 123 h 148"/>
              <a:gd name="T46" fmla="*/ 8 w 253"/>
              <a:gd name="T47" fmla="*/ 128 h 148"/>
              <a:gd name="T48" fmla="*/ 10 w 253"/>
              <a:gd name="T49" fmla="*/ 133 h 148"/>
              <a:gd name="T50" fmla="*/ 13 w 253"/>
              <a:gd name="T51" fmla="*/ 138 h 148"/>
              <a:gd name="T52" fmla="*/ 16 w 253"/>
              <a:gd name="T53" fmla="*/ 143 h 148"/>
              <a:gd name="T54" fmla="*/ 20 w 253"/>
              <a:gd name="T55" fmla="*/ 148 h 148"/>
              <a:gd name="T56" fmla="*/ 21 w 253"/>
              <a:gd name="T57" fmla="*/ 146 h 148"/>
              <a:gd name="T58" fmla="*/ 20 w 253"/>
              <a:gd name="T59" fmla="*/ 141 h 148"/>
              <a:gd name="T60" fmla="*/ 16 w 253"/>
              <a:gd name="T61" fmla="*/ 136 h 148"/>
              <a:gd name="T62" fmla="*/ 13 w 253"/>
              <a:gd name="T63" fmla="*/ 131 h 148"/>
              <a:gd name="T64" fmla="*/ 11 w 253"/>
              <a:gd name="T65" fmla="*/ 126 h 148"/>
              <a:gd name="T66" fmla="*/ 8 w 253"/>
              <a:gd name="T67" fmla="*/ 121 h 148"/>
              <a:gd name="T68" fmla="*/ 6 w 253"/>
              <a:gd name="T69" fmla="*/ 116 h 148"/>
              <a:gd name="T70" fmla="*/ 5 w 253"/>
              <a:gd name="T71" fmla="*/ 111 h 148"/>
              <a:gd name="T72" fmla="*/ 3 w 253"/>
              <a:gd name="T73" fmla="*/ 104 h 148"/>
              <a:gd name="T74" fmla="*/ 0 w 253"/>
              <a:gd name="T75" fmla="*/ 106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3" h="148">
                <a:moveTo>
                  <a:pt x="253" y="42"/>
                </a:moveTo>
                <a:lnTo>
                  <a:pt x="252" y="37"/>
                </a:lnTo>
                <a:lnTo>
                  <a:pt x="250" y="30"/>
                </a:lnTo>
                <a:lnTo>
                  <a:pt x="248" y="25"/>
                </a:lnTo>
                <a:lnTo>
                  <a:pt x="247" y="20"/>
                </a:lnTo>
                <a:lnTo>
                  <a:pt x="243" y="15"/>
                </a:lnTo>
                <a:lnTo>
                  <a:pt x="242" y="10"/>
                </a:lnTo>
                <a:lnTo>
                  <a:pt x="238" y="5"/>
                </a:lnTo>
                <a:lnTo>
                  <a:pt x="235" y="0"/>
                </a:lnTo>
                <a:lnTo>
                  <a:pt x="232" y="2"/>
                </a:lnTo>
                <a:lnTo>
                  <a:pt x="235" y="7"/>
                </a:lnTo>
                <a:lnTo>
                  <a:pt x="238" y="12"/>
                </a:lnTo>
                <a:lnTo>
                  <a:pt x="240" y="17"/>
                </a:lnTo>
                <a:lnTo>
                  <a:pt x="243" y="22"/>
                </a:lnTo>
                <a:lnTo>
                  <a:pt x="245" y="27"/>
                </a:lnTo>
                <a:lnTo>
                  <a:pt x="248" y="32"/>
                </a:lnTo>
                <a:lnTo>
                  <a:pt x="250" y="38"/>
                </a:lnTo>
                <a:lnTo>
                  <a:pt x="252" y="43"/>
                </a:lnTo>
                <a:lnTo>
                  <a:pt x="253" y="42"/>
                </a:lnTo>
                <a:close/>
                <a:moveTo>
                  <a:pt x="0" y="106"/>
                </a:moveTo>
                <a:lnTo>
                  <a:pt x="1" y="113"/>
                </a:lnTo>
                <a:lnTo>
                  <a:pt x="3" y="118"/>
                </a:lnTo>
                <a:lnTo>
                  <a:pt x="6" y="123"/>
                </a:lnTo>
                <a:lnTo>
                  <a:pt x="8" y="128"/>
                </a:lnTo>
                <a:lnTo>
                  <a:pt x="10" y="133"/>
                </a:lnTo>
                <a:lnTo>
                  <a:pt x="13" y="138"/>
                </a:lnTo>
                <a:lnTo>
                  <a:pt x="16" y="143"/>
                </a:lnTo>
                <a:lnTo>
                  <a:pt x="20" y="148"/>
                </a:lnTo>
                <a:lnTo>
                  <a:pt x="21" y="146"/>
                </a:lnTo>
                <a:lnTo>
                  <a:pt x="20" y="141"/>
                </a:lnTo>
                <a:lnTo>
                  <a:pt x="16" y="136"/>
                </a:lnTo>
                <a:lnTo>
                  <a:pt x="13" y="131"/>
                </a:lnTo>
                <a:lnTo>
                  <a:pt x="11" y="126"/>
                </a:lnTo>
                <a:lnTo>
                  <a:pt x="8" y="121"/>
                </a:lnTo>
                <a:lnTo>
                  <a:pt x="6" y="116"/>
                </a:lnTo>
                <a:lnTo>
                  <a:pt x="5" y="111"/>
                </a:lnTo>
                <a:lnTo>
                  <a:pt x="3" y="104"/>
                </a:lnTo>
                <a:lnTo>
                  <a:pt x="0" y="106"/>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29" name="Freeform 2134">
            <a:extLst>
              <a:ext uri="{FF2B5EF4-FFF2-40B4-BE49-F238E27FC236}">
                <a16:creationId xmlns:a16="http://schemas.microsoft.com/office/drawing/2014/main" id="{737D43D2-1556-2FD5-E508-E5B2644F16F4}"/>
              </a:ext>
            </a:extLst>
          </p:cNvPr>
          <p:cNvSpPr>
            <a:spLocks noEditPoints="1"/>
          </p:cNvSpPr>
          <p:nvPr/>
        </p:nvSpPr>
        <p:spPr bwMode="auto">
          <a:xfrm>
            <a:off x="3319463" y="2484438"/>
            <a:ext cx="398463" cy="231775"/>
          </a:xfrm>
          <a:custGeom>
            <a:avLst/>
            <a:gdLst>
              <a:gd name="T0" fmla="*/ 251 w 251"/>
              <a:gd name="T1" fmla="*/ 43 h 146"/>
              <a:gd name="T2" fmla="*/ 251 w 251"/>
              <a:gd name="T3" fmla="*/ 37 h 146"/>
              <a:gd name="T4" fmla="*/ 247 w 251"/>
              <a:gd name="T5" fmla="*/ 32 h 146"/>
              <a:gd name="T6" fmla="*/ 246 w 251"/>
              <a:gd name="T7" fmla="*/ 27 h 146"/>
              <a:gd name="T8" fmla="*/ 244 w 251"/>
              <a:gd name="T9" fmla="*/ 20 h 146"/>
              <a:gd name="T10" fmla="*/ 241 w 251"/>
              <a:gd name="T11" fmla="*/ 15 h 146"/>
              <a:gd name="T12" fmla="*/ 239 w 251"/>
              <a:gd name="T13" fmla="*/ 10 h 146"/>
              <a:gd name="T14" fmla="*/ 236 w 251"/>
              <a:gd name="T15" fmla="*/ 5 h 146"/>
              <a:gd name="T16" fmla="*/ 232 w 251"/>
              <a:gd name="T17" fmla="*/ 0 h 146"/>
              <a:gd name="T18" fmla="*/ 229 w 251"/>
              <a:gd name="T19" fmla="*/ 2 h 146"/>
              <a:gd name="T20" fmla="*/ 232 w 251"/>
              <a:gd name="T21" fmla="*/ 7 h 146"/>
              <a:gd name="T22" fmla="*/ 236 w 251"/>
              <a:gd name="T23" fmla="*/ 12 h 146"/>
              <a:gd name="T24" fmla="*/ 239 w 251"/>
              <a:gd name="T25" fmla="*/ 17 h 146"/>
              <a:gd name="T26" fmla="*/ 241 w 251"/>
              <a:gd name="T27" fmla="*/ 22 h 146"/>
              <a:gd name="T28" fmla="*/ 242 w 251"/>
              <a:gd name="T29" fmla="*/ 27 h 146"/>
              <a:gd name="T30" fmla="*/ 246 w 251"/>
              <a:gd name="T31" fmla="*/ 33 h 146"/>
              <a:gd name="T32" fmla="*/ 247 w 251"/>
              <a:gd name="T33" fmla="*/ 38 h 146"/>
              <a:gd name="T34" fmla="*/ 249 w 251"/>
              <a:gd name="T35" fmla="*/ 43 h 146"/>
              <a:gd name="T36" fmla="*/ 251 w 251"/>
              <a:gd name="T37" fmla="*/ 43 h 146"/>
              <a:gd name="T38" fmla="*/ 0 w 251"/>
              <a:gd name="T39" fmla="*/ 106 h 146"/>
              <a:gd name="T40" fmla="*/ 2 w 251"/>
              <a:gd name="T41" fmla="*/ 111 h 146"/>
              <a:gd name="T42" fmla="*/ 4 w 251"/>
              <a:gd name="T43" fmla="*/ 116 h 146"/>
              <a:gd name="T44" fmla="*/ 7 w 251"/>
              <a:gd name="T45" fmla="*/ 123 h 146"/>
              <a:gd name="T46" fmla="*/ 9 w 251"/>
              <a:gd name="T47" fmla="*/ 128 h 146"/>
              <a:gd name="T48" fmla="*/ 10 w 251"/>
              <a:gd name="T49" fmla="*/ 133 h 146"/>
              <a:gd name="T50" fmla="*/ 14 w 251"/>
              <a:gd name="T51" fmla="*/ 138 h 146"/>
              <a:gd name="T52" fmla="*/ 17 w 251"/>
              <a:gd name="T53" fmla="*/ 143 h 146"/>
              <a:gd name="T54" fmla="*/ 20 w 251"/>
              <a:gd name="T55" fmla="*/ 146 h 146"/>
              <a:gd name="T56" fmla="*/ 22 w 251"/>
              <a:gd name="T57" fmla="*/ 146 h 146"/>
              <a:gd name="T58" fmla="*/ 20 w 251"/>
              <a:gd name="T59" fmla="*/ 141 h 146"/>
              <a:gd name="T60" fmla="*/ 17 w 251"/>
              <a:gd name="T61" fmla="*/ 136 h 146"/>
              <a:gd name="T62" fmla="*/ 14 w 251"/>
              <a:gd name="T63" fmla="*/ 131 h 146"/>
              <a:gd name="T64" fmla="*/ 12 w 251"/>
              <a:gd name="T65" fmla="*/ 126 h 146"/>
              <a:gd name="T66" fmla="*/ 9 w 251"/>
              <a:gd name="T67" fmla="*/ 121 h 146"/>
              <a:gd name="T68" fmla="*/ 7 w 251"/>
              <a:gd name="T69" fmla="*/ 116 h 146"/>
              <a:gd name="T70" fmla="*/ 5 w 251"/>
              <a:gd name="T71" fmla="*/ 109 h 146"/>
              <a:gd name="T72" fmla="*/ 4 w 251"/>
              <a:gd name="T73" fmla="*/ 104 h 146"/>
              <a:gd name="T74" fmla="*/ 0 w 251"/>
              <a:gd name="T75" fmla="*/ 106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51" h="146">
                <a:moveTo>
                  <a:pt x="251" y="43"/>
                </a:moveTo>
                <a:lnTo>
                  <a:pt x="251" y="37"/>
                </a:lnTo>
                <a:lnTo>
                  <a:pt x="247" y="32"/>
                </a:lnTo>
                <a:lnTo>
                  <a:pt x="246" y="27"/>
                </a:lnTo>
                <a:lnTo>
                  <a:pt x="244" y="20"/>
                </a:lnTo>
                <a:lnTo>
                  <a:pt x="241" y="15"/>
                </a:lnTo>
                <a:lnTo>
                  <a:pt x="239" y="10"/>
                </a:lnTo>
                <a:lnTo>
                  <a:pt x="236" y="5"/>
                </a:lnTo>
                <a:lnTo>
                  <a:pt x="232" y="0"/>
                </a:lnTo>
                <a:lnTo>
                  <a:pt x="229" y="2"/>
                </a:lnTo>
                <a:lnTo>
                  <a:pt x="232" y="7"/>
                </a:lnTo>
                <a:lnTo>
                  <a:pt x="236" y="12"/>
                </a:lnTo>
                <a:lnTo>
                  <a:pt x="239" y="17"/>
                </a:lnTo>
                <a:lnTo>
                  <a:pt x="241" y="22"/>
                </a:lnTo>
                <a:lnTo>
                  <a:pt x="242" y="27"/>
                </a:lnTo>
                <a:lnTo>
                  <a:pt x="246" y="33"/>
                </a:lnTo>
                <a:lnTo>
                  <a:pt x="247" y="38"/>
                </a:lnTo>
                <a:lnTo>
                  <a:pt x="249" y="43"/>
                </a:lnTo>
                <a:lnTo>
                  <a:pt x="251" y="43"/>
                </a:lnTo>
                <a:close/>
                <a:moveTo>
                  <a:pt x="0" y="106"/>
                </a:moveTo>
                <a:lnTo>
                  <a:pt x="2" y="111"/>
                </a:lnTo>
                <a:lnTo>
                  <a:pt x="4" y="116"/>
                </a:lnTo>
                <a:lnTo>
                  <a:pt x="7" y="123"/>
                </a:lnTo>
                <a:lnTo>
                  <a:pt x="9" y="128"/>
                </a:lnTo>
                <a:lnTo>
                  <a:pt x="10" y="133"/>
                </a:lnTo>
                <a:lnTo>
                  <a:pt x="14" y="138"/>
                </a:lnTo>
                <a:lnTo>
                  <a:pt x="17" y="143"/>
                </a:lnTo>
                <a:lnTo>
                  <a:pt x="20" y="146"/>
                </a:lnTo>
                <a:lnTo>
                  <a:pt x="22" y="146"/>
                </a:lnTo>
                <a:lnTo>
                  <a:pt x="20" y="141"/>
                </a:lnTo>
                <a:lnTo>
                  <a:pt x="17" y="136"/>
                </a:lnTo>
                <a:lnTo>
                  <a:pt x="14" y="131"/>
                </a:lnTo>
                <a:lnTo>
                  <a:pt x="12" y="126"/>
                </a:lnTo>
                <a:lnTo>
                  <a:pt x="9" y="121"/>
                </a:lnTo>
                <a:lnTo>
                  <a:pt x="7" y="116"/>
                </a:lnTo>
                <a:lnTo>
                  <a:pt x="5" y="109"/>
                </a:lnTo>
                <a:lnTo>
                  <a:pt x="4" y="104"/>
                </a:lnTo>
                <a:lnTo>
                  <a:pt x="0" y="106"/>
                </a:lnTo>
                <a:close/>
              </a:path>
            </a:pathLst>
          </a:custGeom>
          <a:solidFill>
            <a:srgbClr val="AFDB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30" name="Freeform 2135">
            <a:extLst>
              <a:ext uri="{FF2B5EF4-FFF2-40B4-BE49-F238E27FC236}">
                <a16:creationId xmlns:a16="http://schemas.microsoft.com/office/drawing/2014/main" id="{9C02A568-80DA-8E98-73B5-B15EB2C251BD}"/>
              </a:ext>
            </a:extLst>
          </p:cNvPr>
          <p:cNvSpPr>
            <a:spLocks noEditPoints="1"/>
          </p:cNvSpPr>
          <p:nvPr/>
        </p:nvSpPr>
        <p:spPr bwMode="auto">
          <a:xfrm>
            <a:off x="3322638" y="2487613"/>
            <a:ext cx="395288" cy="228600"/>
          </a:xfrm>
          <a:custGeom>
            <a:avLst/>
            <a:gdLst>
              <a:gd name="T0" fmla="*/ 249 w 249"/>
              <a:gd name="T1" fmla="*/ 41 h 144"/>
              <a:gd name="T2" fmla="*/ 247 w 249"/>
              <a:gd name="T3" fmla="*/ 36 h 144"/>
              <a:gd name="T4" fmla="*/ 245 w 249"/>
              <a:gd name="T5" fmla="*/ 30 h 144"/>
              <a:gd name="T6" fmla="*/ 242 w 249"/>
              <a:gd name="T7" fmla="*/ 25 h 144"/>
              <a:gd name="T8" fmla="*/ 240 w 249"/>
              <a:gd name="T9" fmla="*/ 20 h 144"/>
              <a:gd name="T10" fmla="*/ 237 w 249"/>
              <a:gd name="T11" fmla="*/ 15 h 144"/>
              <a:gd name="T12" fmla="*/ 235 w 249"/>
              <a:gd name="T13" fmla="*/ 10 h 144"/>
              <a:gd name="T14" fmla="*/ 232 w 249"/>
              <a:gd name="T15" fmla="*/ 5 h 144"/>
              <a:gd name="T16" fmla="*/ 229 w 249"/>
              <a:gd name="T17" fmla="*/ 0 h 144"/>
              <a:gd name="T18" fmla="*/ 225 w 249"/>
              <a:gd name="T19" fmla="*/ 0 h 144"/>
              <a:gd name="T20" fmla="*/ 229 w 249"/>
              <a:gd name="T21" fmla="*/ 5 h 144"/>
              <a:gd name="T22" fmla="*/ 232 w 249"/>
              <a:gd name="T23" fmla="*/ 10 h 144"/>
              <a:gd name="T24" fmla="*/ 235 w 249"/>
              <a:gd name="T25" fmla="*/ 15 h 144"/>
              <a:gd name="T26" fmla="*/ 237 w 249"/>
              <a:gd name="T27" fmla="*/ 21 h 144"/>
              <a:gd name="T28" fmla="*/ 239 w 249"/>
              <a:gd name="T29" fmla="*/ 26 h 144"/>
              <a:gd name="T30" fmla="*/ 242 w 249"/>
              <a:gd name="T31" fmla="*/ 31 h 144"/>
              <a:gd name="T32" fmla="*/ 244 w 249"/>
              <a:gd name="T33" fmla="*/ 36 h 144"/>
              <a:gd name="T34" fmla="*/ 245 w 249"/>
              <a:gd name="T35" fmla="*/ 43 h 144"/>
              <a:gd name="T36" fmla="*/ 249 w 249"/>
              <a:gd name="T37" fmla="*/ 41 h 144"/>
              <a:gd name="T38" fmla="*/ 0 w 249"/>
              <a:gd name="T39" fmla="*/ 102 h 144"/>
              <a:gd name="T40" fmla="*/ 2 w 249"/>
              <a:gd name="T41" fmla="*/ 109 h 144"/>
              <a:gd name="T42" fmla="*/ 3 w 249"/>
              <a:gd name="T43" fmla="*/ 114 h 144"/>
              <a:gd name="T44" fmla="*/ 5 w 249"/>
              <a:gd name="T45" fmla="*/ 119 h 144"/>
              <a:gd name="T46" fmla="*/ 8 w 249"/>
              <a:gd name="T47" fmla="*/ 124 h 144"/>
              <a:gd name="T48" fmla="*/ 10 w 249"/>
              <a:gd name="T49" fmla="*/ 129 h 144"/>
              <a:gd name="T50" fmla="*/ 13 w 249"/>
              <a:gd name="T51" fmla="*/ 134 h 144"/>
              <a:gd name="T52" fmla="*/ 17 w 249"/>
              <a:gd name="T53" fmla="*/ 139 h 144"/>
              <a:gd name="T54" fmla="*/ 18 w 249"/>
              <a:gd name="T55" fmla="*/ 144 h 144"/>
              <a:gd name="T56" fmla="*/ 22 w 249"/>
              <a:gd name="T57" fmla="*/ 142 h 144"/>
              <a:gd name="T58" fmla="*/ 18 w 249"/>
              <a:gd name="T59" fmla="*/ 137 h 144"/>
              <a:gd name="T60" fmla="*/ 17 w 249"/>
              <a:gd name="T61" fmla="*/ 132 h 144"/>
              <a:gd name="T62" fmla="*/ 13 w 249"/>
              <a:gd name="T63" fmla="*/ 129 h 144"/>
              <a:gd name="T64" fmla="*/ 12 w 249"/>
              <a:gd name="T65" fmla="*/ 122 h 144"/>
              <a:gd name="T66" fmla="*/ 8 w 249"/>
              <a:gd name="T67" fmla="*/ 117 h 144"/>
              <a:gd name="T68" fmla="*/ 7 w 249"/>
              <a:gd name="T69" fmla="*/ 112 h 144"/>
              <a:gd name="T70" fmla="*/ 5 w 249"/>
              <a:gd name="T71" fmla="*/ 107 h 144"/>
              <a:gd name="T72" fmla="*/ 3 w 249"/>
              <a:gd name="T73" fmla="*/ 102 h 144"/>
              <a:gd name="T74" fmla="*/ 0 w 249"/>
              <a:gd name="T75" fmla="*/ 102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9" h="144">
                <a:moveTo>
                  <a:pt x="249" y="41"/>
                </a:moveTo>
                <a:lnTo>
                  <a:pt x="247" y="36"/>
                </a:lnTo>
                <a:lnTo>
                  <a:pt x="245" y="30"/>
                </a:lnTo>
                <a:lnTo>
                  <a:pt x="242" y="25"/>
                </a:lnTo>
                <a:lnTo>
                  <a:pt x="240" y="20"/>
                </a:lnTo>
                <a:lnTo>
                  <a:pt x="237" y="15"/>
                </a:lnTo>
                <a:lnTo>
                  <a:pt x="235" y="10"/>
                </a:lnTo>
                <a:lnTo>
                  <a:pt x="232" y="5"/>
                </a:lnTo>
                <a:lnTo>
                  <a:pt x="229" y="0"/>
                </a:lnTo>
                <a:lnTo>
                  <a:pt x="225" y="0"/>
                </a:lnTo>
                <a:lnTo>
                  <a:pt x="229" y="5"/>
                </a:lnTo>
                <a:lnTo>
                  <a:pt x="232" y="10"/>
                </a:lnTo>
                <a:lnTo>
                  <a:pt x="235" y="15"/>
                </a:lnTo>
                <a:lnTo>
                  <a:pt x="237" y="21"/>
                </a:lnTo>
                <a:lnTo>
                  <a:pt x="239" y="26"/>
                </a:lnTo>
                <a:lnTo>
                  <a:pt x="242" y="31"/>
                </a:lnTo>
                <a:lnTo>
                  <a:pt x="244" y="36"/>
                </a:lnTo>
                <a:lnTo>
                  <a:pt x="245" y="43"/>
                </a:lnTo>
                <a:lnTo>
                  <a:pt x="249" y="41"/>
                </a:lnTo>
                <a:close/>
                <a:moveTo>
                  <a:pt x="0" y="102"/>
                </a:moveTo>
                <a:lnTo>
                  <a:pt x="2" y="109"/>
                </a:lnTo>
                <a:lnTo>
                  <a:pt x="3" y="114"/>
                </a:lnTo>
                <a:lnTo>
                  <a:pt x="5" y="119"/>
                </a:lnTo>
                <a:lnTo>
                  <a:pt x="8" y="124"/>
                </a:lnTo>
                <a:lnTo>
                  <a:pt x="10" y="129"/>
                </a:lnTo>
                <a:lnTo>
                  <a:pt x="13" y="134"/>
                </a:lnTo>
                <a:lnTo>
                  <a:pt x="17" y="139"/>
                </a:lnTo>
                <a:lnTo>
                  <a:pt x="18" y="144"/>
                </a:lnTo>
                <a:lnTo>
                  <a:pt x="22" y="142"/>
                </a:lnTo>
                <a:lnTo>
                  <a:pt x="18" y="137"/>
                </a:lnTo>
                <a:lnTo>
                  <a:pt x="17" y="132"/>
                </a:lnTo>
                <a:lnTo>
                  <a:pt x="13" y="129"/>
                </a:lnTo>
                <a:lnTo>
                  <a:pt x="12" y="122"/>
                </a:lnTo>
                <a:lnTo>
                  <a:pt x="8" y="117"/>
                </a:lnTo>
                <a:lnTo>
                  <a:pt x="7" y="112"/>
                </a:lnTo>
                <a:lnTo>
                  <a:pt x="5" y="107"/>
                </a:lnTo>
                <a:lnTo>
                  <a:pt x="3" y="102"/>
                </a:lnTo>
                <a:lnTo>
                  <a:pt x="0" y="102"/>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31" name="Freeform 2136">
            <a:extLst>
              <a:ext uri="{FF2B5EF4-FFF2-40B4-BE49-F238E27FC236}">
                <a16:creationId xmlns:a16="http://schemas.microsoft.com/office/drawing/2014/main" id="{DD09C041-7F2D-379A-6C00-FF99FAEEE19C}"/>
              </a:ext>
            </a:extLst>
          </p:cNvPr>
          <p:cNvSpPr>
            <a:spLocks noEditPoints="1"/>
          </p:cNvSpPr>
          <p:nvPr/>
        </p:nvSpPr>
        <p:spPr bwMode="auto">
          <a:xfrm>
            <a:off x="3325813" y="2487613"/>
            <a:ext cx="388938" cy="228600"/>
          </a:xfrm>
          <a:custGeom>
            <a:avLst/>
            <a:gdLst>
              <a:gd name="T0" fmla="*/ 245 w 245"/>
              <a:gd name="T1" fmla="*/ 41 h 144"/>
              <a:gd name="T2" fmla="*/ 243 w 245"/>
              <a:gd name="T3" fmla="*/ 36 h 144"/>
              <a:gd name="T4" fmla="*/ 242 w 245"/>
              <a:gd name="T5" fmla="*/ 31 h 144"/>
              <a:gd name="T6" fmla="*/ 238 w 245"/>
              <a:gd name="T7" fmla="*/ 25 h 144"/>
              <a:gd name="T8" fmla="*/ 237 w 245"/>
              <a:gd name="T9" fmla="*/ 20 h 144"/>
              <a:gd name="T10" fmla="*/ 235 w 245"/>
              <a:gd name="T11" fmla="*/ 15 h 144"/>
              <a:gd name="T12" fmla="*/ 232 w 245"/>
              <a:gd name="T13" fmla="*/ 10 h 144"/>
              <a:gd name="T14" fmla="*/ 228 w 245"/>
              <a:gd name="T15" fmla="*/ 5 h 144"/>
              <a:gd name="T16" fmla="*/ 225 w 245"/>
              <a:gd name="T17" fmla="*/ 0 h 144"/>
              <a:gd name="T18" fmla="*/ 222 w 245"/>
              <a:gd name="T19" fmla="*/ 1 h 144"/>
              <a:gd name="T20" fmla="*/ 225 w 245"/>
              <a:gd name="T21" fmla="*/ 6 h 144"/>
              <a:gd name="T22" fmla="*/ 228 w 245"/>
              <a:gd name="T23" fmla="*/ 11 h 144"/>
              <a:gd name="T24" fmla="*/ 232 w 245"/>
              <a:gd name="T25" fmla="*/ 16 h 144"/>
              <a:gd name="T26" fmla="*/ 233 w 245"/>
              <a:gd name="T27" fmla="*/ 21 h 144"/>
              <a:gd name="T28" fmla="*/ 237 w 245"/>
              <a:gd name="T29" fmla="*/ 26 h 144"/>
              <a:gd name="T30" fmla="*/ 238 w 245"/>
              <a:gd name="T31" fmla="*/ 31 h 144"/>
              <a:gd name="T32" fmla="*/ 240 w 245"/>
              <a:gd name="T33" fmla="*/ 38 h 144"/>
              <a:gd name="T34" fmla="*/ 242 w 245"/>
              <a:gd name="T35" fmla="*/ 43 h 144"/>
              <a:gd name="T36" fmla="*/ 245 w 245"/>
              <a:gd name="T37" fmla="*/ 41 h 144"/>
              <a:gd name="T38" fmla="*/ 0 w 245"/>
              <a:gd name="T39" fmla="*/ 102 h 144"/>
              <a:gd name="T40" fmla="*/ 1 w 245"/>
              <a:gd name="T41" fmla="*/ 107 h 144"/>
              <a:gd name="T42" fmla="*/ 3 w 245"/>
              <a:gd name="T43" fmla="*/ 114 h 144"/>
              <a:gd name="T44" fmla="*/ 5 w 245"/>
              <a:gd name="T45" fmla="*/ 119 h 144"/>
              <a:gd name="T46" fmla="*/ 8 w 245"/>
              <a:gd name="T47" fmla="*/ 124 h 144"/>
              <a:gd name="T48" fmla="*/ 10 w 245"/>
              <a:gd name="T49" fmla="*/ 129 h 144"/>
              <a:gd name="T50" fmla="*/ 13 w 245"/>
              <a:gd name="T51" fmla="*/ 134 h 144"/>
              <a:gd name="T52" fmla="*/ 16 w 245"/>
              <a:gd name="T53" fmla="*/ 139 h 144"/>
              <a:gd name="T54" fmla="*/ 18 w 245"/>
              <a:gd name="T55" fmla="*/ 144 h 144"/>
              <a:gd name="T56" fmla="*/ 21 w 245"/>
              <a:gd name="T57" fmla="*/ 142 h 144"/>
              <a:gd name="T58" fmla="*/ 18 w 245"/>
              <a:gd name="T59" fmla="*/ 137 h 144"/>
              <a:gd name="T60" fmla="*/ 16 w 245"/>
              <a:gd name="T61" fmla="*/ 132 h 144"/>
              <a:gd name="T62" fmla="*/ 13 w 245"/>
              <a:gd name="T63" fmla="*/ 127 h 144"/>
              <a:gd name="T64" fmla="*/ 11 w 245"/>
              <a:gd name="T65" fmla="*/ 122 h 144"/>
              <a:gd name="T66" fmla="*/ 8 w 245"/>
              <a:gd name="T67" fmla="*/ 117 h 144"/>
              <a:gd name="T68" fmla="*/ 6 w 245"/>
              <a:gd name="T69" fmla="*/ 112 h 144"/>
              <a:gd name="T70" fmla="*/ 5 w 245"/>
              <a:gd name="T71" fmla="*/ 106 h 144"/>
              <a:gd name="T72" fmla="*/ 3 w 245"/>
              <a:gd name="T73" fmla="*/ 101 h 144"/>
              <a:gd name="T74" fmla="*/ 0 w 245"/>
              <a:gd name="T75" fmla="*/ 102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5" h="144">
                <a:moveTo>
                  <a:pt x="245" y="41"/>
                </a:moveTo>
                <a:lnTo>
                  <a:pt x="243" y="36"/>
                </a:lnTo>
                <a:lnTo>
                  <a:pt x="242" y="31"/>
                </a:lnTo>
                <a:lnTo>
                  <a:pt x="238" y="25"/>
                </a:lnTo>
                <a:lnTo>
                  <a:pt x="237" y="20"/>
                </a:lnTo>
                <a:lnTo>
                  <a:pt x="235" y="15"/>
                </a:lnTo>
                <a:lnTo>
                  <a:pt x="232" y="10"/>
                </a:lnTo>
                <a:lnTo>
                  <a:pt x="228" y="5"/>
                </a:lnTo>
                <a:lnTo>
                  <a:pt x="225" y="0"/>
                </a:lnTo>
                <a:lnTo>
                  <a:pt x="222" y="1"/>
                </a:lnTo>
                <a:lnTo>
                  <a:pt x="225" y="6"/>
                </a:lnTo>
                <a:lnTo>
                  <a:pt x="228" y="11"/>
                </a:lnTo>
                <a:lnTo>
                  <a:pt x="232" y="16"/>
                </a:lnTo>
                <a:lnTo>
                  <a:pt x="233" y="21"/>
                </a:lnTo>
                <a:lnTo>
                  <a:pt x="237" y="26"/>
                </a:lnTo>
                <a:lnTo>
                  <a:pt x="238" y="31"/>
                </a:lnTo>
                <a:lnTo>
                  <a:pt x="240" y="38"/>
                </a:lnTo>
                <a:lnTo>
                  <a:pt x="242" y="43"/>
                </a:lnTo>
                <a:lnTo>
                  <a:pt x="245" y="41"/>
                </a:lnTo>
                <a:close/>
                <a:moveTo>
                  <a:pt x="0" y="102"/>
                </a:moveTo>
                <a:lnTo>
                  <a:pt x="1" y="107"/>
                </a:lnTo>
                <a:lnTo>
                  <a:pt x="3" y="114"/>
                </a:lnTo>
                <a:lnTo>
                  <a:pt x="5" y="119"/>
                </a:lnTo>
                <a:lnTo>
                  <a:pt x="8" y="124"/>
                </a:lnTo>
                <a:lnTo>
                  <a:pt x="10" y="129"/>
                </a:lnTo>
                <a:lnTo>
                  <a:pt x="13" y="134"/>
                </a:lnTo>
                <a:lnTo>
                  <a:pt x="16" y="139"/>
                </a:lnTo>
                <a:lnTo>
                  <a:pt x="18" y="144"/>
                </a:lnTo>
                <a:lnTo>
                  <a:pt x="21" y="142"/>
                </a:lnTo>
                <a:lnTo>
                  <a:pt x="18" y="137"/>
                </a:lnTo>
                <a:lnTo>
                  <a:pt x="16" y="132"/>
                </a:lnTo>
                <a:lnTo>
                  <a:pt x="13" y="127"/>
                </a:lnTo>
                <a:lnTo>
                  <a:pt x="11" y="122"/>
                </a:lnTo>
                <a:lnTo>
                  <a:pt x="8" y="117"/>
                </a:lnTo>
                <a:lnTo>
                  <a:pt x="6" y="112"/>
                </a:lnTo>
                <a:lnTo>
                  <a:pt x="5" y="106"/>
                </a:lnTo>
                <a:lnTo>
                  <a:pt x="3" y="101"/>
                </a:lnTo>
                <a:lnTo>
                  <a:pt x="0" y="102"/>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32" name="Freeform 2137">
            <a:extLst>
              <a:ext uri="{FF2B5EF4-FFF2-40B4-BE49-F238E27FC236}">
                <a16:creationId xmlns:a16="http://schemas.microsoft.com/office/drawing/2014/main" id="{C426531D-9211-CF50-B1C7-25CDBC906CDA}"/>
              </a:ext>
            </a:extLst>
          </p:cNvPr>
          <p:cNvSpPr>
            <a:spLocks noEditPoints="1"/>
          </p:cNvSpPr>
          <p:nvPr/>
        </p:nvSpPr>
        <p:spPr bwMode="auto">
          <a:xfrm>
            <a:off x="3327400" y="2487613"/>
            <a:ext cx="384175" cy="225425"/>
          </a:xfrm>
          <a:custGeom>
            <a:avLst/>
            <a:gdLst>
              <a:gd name="T0" fmla="*/ 242 w 242"/>
              <a:gd name="T1" fmla="*/ 43 h 142"/>
              <a:gd name="T2" fmla="*/ 241 w 242"/>
              <a:gd name="T3" fmla="*/ 36 h 142"/>
              <a:gd name="T4" fmla="*/ 239 w 242"/>
              <a:gd name="T5" fmla="*/ 31 h 142"/>
              <a:gd name="T6" fmla="*/ 236 w 242"/>
              <a:gd name="T7" fmla="*/ 26 h 142"/>
              <a:gd name="T8" fmla="*/ 234 w 242"/>
              <a:gd name="T9" fmla="*/ 21 h 142"/>
              <a:gd name="T10" fmla="*/ 232 w 242"/>
              <a:gd name="T11" fmla="*/ 15 h 142"/>
              <a:gd name="T12" fmla="*/ 229 w 242"/>
              <a:gd name="T13" fmla="*/ 10 h 142"/>
              <a:gd name="T14" fmla="*/ 226 w 242"/>
              <a:gd name="T15" fmla="*/ 5 h 142"/>
              <a:gd name="T16" fmla="*/ 222 w 242"/>
              <a:gd name="T17" fmla="*/ 0 h 142"/>
              <a:gd name="T18" fmla="*/ 219 w 242"/>
              <a:gd name="T19" fmla="*/ 1 h 142"/>
              <a:gd name="T20" fmla="*/ 222 w 242"/>
              <a:gd name="T21" fmla="*/ 6 h 142"/>
              <a:gd name="T22" fmla="*/ 226 w 242"/>
              <a:gd name="T23" fmla="*/ 11 h 142"/>
              <a:gd name="T24" fmla="*/ 229 w 242"/>
              <a:gd name="T25" fmla="*/ 16 h 142"/>
              <a:gd name="T26" fmla="*/ 231 w 242"/>
              <a:gd name="T27" fmla="*/ 21 h 142"/>
              <a:gd name="T28" fmla="*/ 234 w 242"/>
              <a:gd name="T29" fmla="*/ 28 h 142"/>
              <a:gd name="T30" fmla="*/ 236 w 242"/>
              <a:gd name="T31" fmla="*/ 33 h 142"/>
              <a:gd name="T32" fmla="*/ 237 w 242"/>
              <a:gd name="T33" fmla="*/ 38 h 142"/>
              <a:gd name="T34" fmla="*/ 239 w 242"/>
              <a:gd name="T35" fmla="*/ 45 h 142"/>
              <a:gd name="T36" fmla="*/ 242 w 242"/>
              <a:gd name="T37" fmla="*/ 43 h 142"/>
              <a:gd name="T38" fmla="*/ 0 w 242"/>
              <a:gd name="T39" fmla="*/ 102 h 142"/>
              <a:gd name="T40" fmla="*/ 2 w 242"/>
              <a:gd name="T41" fmla="*/ 107 h 142"/>
              <a:gd name="T42" fmla="*/ 4 w 242"/>
              <a:gd name="T43" fmla="*/ 112 h 142"/>
              <a:gd name="T44" fmla="*/ 5 w 242"/>
              <a:gd name="T45" fmla="*/ 117 h 142"/>
              <a:gd name="T46" fmla="*/ 9 w 242"/>
              <a:gd name="T47" fmla="*/ 122 h 142"/>
              <a:gd name="T48" fmla="*/ 10 w 242"/>
              <a:gd name="T49" fmla="*/ 129 h 142"/>
              <a:gd name="T50" fmla="*/ 14 w 242"/>
              <a:gd name="T51" fmla="*/ 132 h 142"/>
              <a:gd name="T52" fmla="*/ 15 w 242"/>
              <a:gd name="T53" fmla="*/ 137 h 142"/>
              <a:gd name="T54" fmla="*/ 19 w 242"/>
              <a:gd name="T55" fmla="*/ 142 h 142"/>
              <a:gd name="T56" fmla="*/ 22 w 242"/>
              <a:gd name="T57" fmla="*/ 141 h 142"/>
              <a:gd name="T58" fmla="*/ 19 w 242"/>
              <a:gd name="T59" fmla="*/ 137 h 142"/>
              <a:gd name="T60" fmla="*/ 17 w 242"/>
              <a:gd name="T61" fmla="*/ 132 h 142"/>
              <a:gd name="T62" fmla="*/ 14 w 242"/>
              <a:gd name="T63" fmla="*/ 127 h 142"/>
              <a:gd name="T64" fmla="*/ 10 w 242"/>
              <a:gd name="T65" fmla="*/ 122 h 142"/>
              <a:gd name="T66" fmla="*/ 9 w 242"/>
              <a:gd name="T67" fmla="*/ 117 h 142"/>
              <a:gd name="T68" fmla="*/ 7 w 242"/>
              <a:gd name="T69" fmla="*/ 111 h 142"/>
              <a:gd name="T70" fmla="*/ 5 w 242"/>
              <a:gd name="T71" fmla="*/ 106 h 142"/>
              <a:gd name="T72" fmla="*/ 4 w 242"/>
              <a:gd name="T73" fmla="*/ 101 h 142"/>
              <a:gd name="T74" fmla="*/ 0 w 242"/>
              <a:gd name="T75" fmla="*/ 102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2" h="142">
                <a:moveTo>
                  <a:pt x="242" y="43"/>
                </a:moveTo>
                <a:lnTo>
                  <a:pt x="241" y="36"/>
                </a:lnTo>
                <a:lnTo>
                  <a:pt x="239" y="31"/>
                </a:lnTo>
                <a:lnTo>
                  <a:pt x="236" y="26"/>
                </a:lnTo>
                <a:lnTo>
                  <a:pt x="234" y="21"/>
                </a:lnTo>
                <a:lnTo>
                  <a:pt x="232" y="15"/>
                </a:lnTo>
                <a:lnTo>
                  <a:pt x="229" y="10"/>
                </a:lnTo>
                <a:lnTo>
                  <a:pt x="226" y="5"/>
                </a:lnTo>
                <a:lnTo>
                  <a:pt x="222" y="0"/>
                </a:lnTo>
                <a:lnTo>
                  <a:pt x="219" y="1"/>
                </a:lnTo>
                <a:lnTo>
                  <a:pt x="222" y="6"/>
                </a:lnTo>
                <a:lnTo>
                  <a:pt x="226" y="11"/>
                </a:lnTo>
                <a:lnTo>
                  <a:pt x="229" y="16"/>
                </a:lnTo>
                <a:lnTo>
                  <a:pt x="231" y="21"/>
                </a:lnTo>
                <a:lnTo>
                  <a:pt x="234" y="28"/>
                </a:lnTo>
                <a:lnTo>
                  <a:pt x="236" y="33"/>
                </a:lnTo>
                <a:lnTo>
                  <a:pt x="237" y="38"/>
                </a:lnTo>
                <a:lnTo>
                  <a:pt x="239" y="45"/>
                </a:lnTo>
                <a:lnTo>
                  <a:pt x="242" y="43"/>
                </a:lnTo>
                <a:close/>
                <a:moveTo>
                  <a:pt x="0" y="102"/>
                </a:moveTo>
                <a:lnTo>
                  <a:pt x="2" y="107"/>
                </a:lnTo>
                <a:lnTo>
                  <a:pt x="4" y="112"/>
                </a:lnTo>
                <a:lnTo>
                  <a:pt x="5" y="117"/>
                </a:lnTo>
                <a:lnTo>
                  <a:pt x="9" y="122"/>
                </a:lnTo>
                <a:lnTo>
                  <a:pt x="10" y="129"/>
                </a:lnTo>
                <a:lnTo>
                  <a:pt x="14" y="132"/>
                </a:lnTo>
                <a:lnTo>
                  <a:pt x="15" y="137"/>
                </a:lnTo>
                <a:lnTo>
                  <a:pt x="19" y="142"/>
                </a:lnTo>
                <a:lnTo>
                  <a:pt x="22" y="141"/>
                </a:lnTo>
                <a:lnTo>
                  <a:pt x="19" y="137"/>
                </a:lnTo>
                <a:lnTo>
                  <a:pt x="17" y="132"/>
                </a:lnTo>
                <a:lnTo>
                  <a:pt x="14" y="127"/>
                </a:lnTo>
                <a:lnTo>
                  <a:pt x="10" y="122"/>
                </a:lnTo>
                <a:lnTo>
                  <a:pt x="9" y="117"/>
                </a:lnTo>
                <a:lnTo>
                  <a:pt x="7" y="111"/>
                </a:lnTo>
                <a:lnTo>
                  <a:pt x="5" y="106"/>
                </a:lnTo>
                <a:lnTo>
                  <a:pt x="4" y="101"/>
                </a:lnTo>
                <a:lnTo>
                  <a:pt x="0" y="102"/>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33" name="Freeform 2138">
            <a:extLst>
              <a:ext uri="{FF2B5EF4-FFF2-40B4-BE49-F238E27FC236}">
                <a16:creationId xmlns:a16="http://schemas.microsoft.com/office/drawing/2014/main" id="{630B6687-8E4B-D8FE-7C1D-646031024EC6}"/>
              </a:ext>
            </a:extLst>
          </p:cNvPr>
          <p:cNvSpPr>
            <a:spLocks noEditPoints="1"/>
          </p:cNvSpPr>
          <p:nvPr/>
        </p:nvSpPr>
        <p:spPr bwMode="auto">
          <a:xfrm>
            <a:off x="3330575" y="2489200"/>
            <a:ext cx="379413" cy="223838"/>
          </a:xfrm>
          <a:custGeom>
            <a:avLst/>
            <a:gdLst>
              <a:gd name="T0" fmla="*/ 239 w 239"/>
              <a:gd name="T1" fmla="*/ 42 h 141"/>
              <a:gd name="T2" fmla="*/ 237 w 239"/>
              <a:gd name="T3" fmla="*/ 37 h 141"/>
              <a:gd name="T4" fmla="*/ 235 w 239"/>
              <a:gd name="T5" fmla="*/ 30 h 141"/>
              <a:gd name="T6" fmla="*/ 234 w 239"/>
              <a:gd name="T7" fmla="*/ 25 h 141"/>
              <a:gd name="T8" fmla="*/ 230 w 239"/>
              <a:gd name="T9" fmla="*/ 20 h 141"/>
              <a:gd name="T10" fmla="*/ 229 w 239"/>
              <a:gd name="T11" fmla="*/ 15 h 141"/>
              <a:gd name="T12" fmla="*/ 225 w 239"/>
              <a:gd name="T13" fmla="*/ 10 h 141"/>
              <a:gd name="T14" fmla="*/ 222 w 239"/>
              <a:gd name="T15" fmla="*/ 5 h 141"/>
              <a:gd name="T16" fmla="*/ 219 w 239"/>
              <a:gd name="T17" fmla="*/ 0 h 141"/>
              <a:gd name="T18" fmla="*/ 217 w 239"/>
              <a:gd name="T19" fmla="*/ 2 h 141"/>
              <a:gd name="T20" fmla="*/ 219 w 239"/>
              <a:gd name="T21" fmla="*/ 7 h 141"/>
              <a:gd name="T22" fmla="*/ 222 w 239"/>
              <a:gd name="T23" fmla="*/ 12 h 141"/>
              <a:gd name="T24" fmla="*/ 225 w 239"/>
              <a:gd name="T25" fmla="*/ 17 h 141"/>
              <a:gd name="T26" fmla="*/ 227 w 239"/>
              <a:gd name="T27" fmla="*/ 22 h 141"/>
              <a:gd name="T28" fmla="*/ 230 w 239"/>
              <a:gd name="T29" fmla="*/ 27 h 141"/>
              <a:gd name="T30" fmla="*/ 232 w 239"/>
              <a:gd name="T31" fmla="*/ 32 h 141"/>
              <a:gd name="T32" fmla="*/ 234 w 239"/>
              <a:gd name="T33" fmla="*/ 39 h 141"/>
              <a:gd name="T34" fmla="*/ 235 w 239"/>
              <a:gd name="T35" fmla="*/ 44 h 141"/>
              <a:gd name="T36" fmla="*/ 239 w 239"/>
              <a:gd name="T37" fmla="*/ 42 h 141"/>
              <a:gd name="T38" fmla="*/ 0 w 239"/>
              <a:gd name="T39" fmla="*/ 100 h 141"/>
              <a:gd name="T40" fmla="*/ 2 w 239"/>
              <a:gd name="T41" fmla="*/ 105 h 141"/>
              <a:gd name="T42" fmla="*/ 3 w 239"/>
              <a:gd name="T43" fmla="*/ 111 h 141"/>
              <a:gd name="T44" fmla="*/ 5 w 239"/>
              <a:gd name="T45" fmla="*/ 116 h 141"/>
              <a:gd name="T46" fmla="*/ 8 w 239"/>
              <a:gd name="T47" fmla="*/ 121 h 141"/>
              <a:gd name="T48" fmla="*/ 10 w 239"/>
              <a:gd name="T49" fmla="*/ 126 h 141"/>
              <a:gd name="T50" fmla="*/ 13 w 239"/>
              <a:gd name="T51" fmla="*/ 131 h 141"/>
              <a:gd name="T52" fmla="*/ 15 w 239"/>
              <a:gd name="T53" fmla="*/ 136 h 141"/>
              <a:gd name="T54" fmla="*/ 18 w 239"/>
              <a:gd name="T55" fmla="*/ 141 h 141"/>
              <a:gd name="T56" fmla="*/ 22 w 239"/>
              <a:gd name="T57" fmla="*/ 140 h 141"/>
              <a:gd name="T58" fmla="*/ 18 w 239"/>
              <a:gd name="T59" fmla="*/ 135 h 141"/>
              <a:gd name="T60" fmla="*/ 15 w 239"/>
              <a:gd name="T61" fmla="*/ 130 h 141"/>
              <a:gd name="T62" fmla="*/ 13 w 239"/>
              <a:gd name="T63" fmla="*/ 125 h 141"/>
              <a:gd name="T64" fmla="*/ 10 w 239"/>
              <a:gd name="T65" fmla="*/ 120 h 141"/>
              <a:gd name="T66" fmla="*/ 8 w 239"/>
              <a:gd name="T67" fmla="*/ 115 h 141"/>
              <a:gd name="T68" fmla="*/ 7 w 239"/>
              <a:gd name="T69" fmla="*/ 110 h 141"/>
              <a:gd name="T70" fmla="*/ 5 w 239"/>
              <a:gd name="T71" fmla="*/ 105 h 141"/>
              <a:gd name="T72" fmla="*/ 3 w 239"/>
              <a:gd name="T73" fmla="*/ 98 h 141"/>
              <a:gd name="T74" fmla="*/ 0 w 239"/>
              <a:gd name="T75" fmla="*/ 100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39" h="141">
                <a:moveTo>
                  <a:pt x="239" y="42"/>
                </a:moveTo>
                <a:lnTo>
                  <a:pt x="237" y="37"/>
                </a:lnTo>
                <a:lnTo>
                  <a:pt x="235" y="30"/>
                </a:lnTo>
                <a:lnTo>
                  <a:pt x="234" y="25"/>
                </a:lnTo>
                <a:lnTo>
                  <a:pt x="230" y="20"/>
                </a:lnTo>
                <a:lnTo>
                  <a:pt x="229" y="15"/>
                </a:lnTo>
                <a:lnTo>
                  <a:pt x="225" y="10"/>
                </a:lnTo>
                <a:lnTo>
                  <a:pt x="222" y="5"/>
                </a:lnTo>
                <a:lnTo>
                  <a:pt x="219" y="0"/>
                </a:lnTo>
                <a:lnTo>
                  <a:pt x="217" y="2"/>
                </a:lnTo>
                <a:lnTo>
                  <a:pt x="219" y="7"/>
                </a:lnTo>
                <a:lnTo>
                  <a:pt x="222" y="12"/>
                </a:lnTo>
                <a:lnTo>
                  <a:pt x="225" y="17"/>
                </a:lnTo>
                <a:lnTo>
                  <a:pt x="227" y="22"/>
                </a:lnTo>
                <a:lnTo>
                  <a:pt x="230" y="27"/>
                </a:lnTo>
                <a:lnTo>
                  <a:pt x="232" y="32"/>
                </a:lnTo>
                <a:lnTo>
                  <a:pt x="234" y="39"/>
                </a:lnTo>
                <a:lnTo>
                  <a:pt x="235" y="44"/>
                </a:lnTo>
                <a:lnTo>
                  <a:pt x="239" y="42"/>
                </a:lnTo>
                <a:close/>
                <a:moveTo>
                  <a:pt x="0" y="100"/>
                </a:moveTo>
                <a:lnTo>
                  <a:pt x="2" y="105"/>
                </a:lnTo>
                <a:lnTo>
                  <a:pt x="3" y="111"/>
                </a:lnTo>
                <a:lnTo>
                  <a:pt x="5" y="116"/>
                </a:lnTo>
                <a:lnTo>
                  <a:pt x="8" y="121"/>
                </a:lnTo>
                <a:lnTo>
                  <a:pt x="10" y="126"/>
                </a:lnTo>
                <a:lnTo>
                  <a:pt x="13" y="131"/>
                </a:lnTo>
                <a:lnTo>
                  <a:pt x="15" y="136"/>
                </a:lnTo>
                <a:lnTo>
                  <a:pt x="18" y="141"/>
                </a:lnTo>
                <a:lnTo>
                  <a:pt x="22" y="140"/>
                </a:lnTo>
                <a:lnTo>
                  <a:pt x="18" y="135"/>
                </a:lnTo>
                <a:lnTo>
                  <a:pt x="15" y="130"/>
                </a:lnTo>
                <a:lnTo>
                  <a:pt x="13" y="125"/>
                </a:lnTo>
                <a:lnTo>
                  <a:pt x="10" y="120"/>
                </a:lnTo>
                <a:lnTo>
                  <a:pt x="8" y="115"/>
                </a:lnTo>
                <a:lnTo>
                  <a:pt x="7" y="110"/>
                </a:lnTo>
                <a:lnTo>
                  <a:pt x="5" y="105"/>
                </a:lnTo>
                <a:lnTo>
                  <a:pt x="3" y="98"/>
                </a:lnTo>
                <a:lnTo>
                  <a:pt x="0" y="100"/>
                </a:lnTo>
                <a:close/>
              </a:path>
            </a:pathLst>
          </a:custGeom>
          <a:solidFill>
            <a:srgbClr val="B3DDF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34" name="Freeform 2139">
            <a:extLst>
              <a:ext uri="{FF2B5EF4-FFF2-40B4-BE49-F238E27FC236}">
                <a16:creationId xmlns:a16="http://schemas.microsoft.com/office/drawing/2014/main" id="{A0DED3A7-D34D-05D6-7ADD-90FF409750F0}"/>
              </a:ext>
            </a:extLst>
          </p:cNvPr>
          <p:cNvSpPr>
            <a:spLocks noEditPoints="1"/>
          </p:cNvSpPr>
          <p:nvPr/>
        </p:nvSpPr>
        <p:spPr bwMode="auto">
          <a:xfrm>
            <a:off x="3333750" y="2489200"/>
            <a:ext cx="373063" cy="222250"/>
          </a:xfrm>
          <a:custGeom>
            <a:avLst/>
            <a:gdLst>
              <a:gd name="T0" fmla="*/ 235 w 235"/>
              <a:gd name="T1" fmla="*/ 44 h 140"/>
              <a:gd name="T2" fmla="*/ 233 w 235"/>
              <a:gd name="T3" fmla="*/ 37 h 140"/>
              <a:gd name="T4" fmla="*/ 232 w 235"/>
              <a:gd name="T5" fmla="*/ 32 h 140"/>
              <a:gd name="T6" fmla="*/ 230 w 235"/>
              <a:gd name="T7" fmla="*/ 27 h 140"/>
              <a:gd name="T8" fmla="*/ 227 w 235"/>
              <a:gd name="T9" fmla="*/ 20 h 140"/>
              <a:gd name="T10" fmla="*/ 225 w 235"/>
              <a:gd name="T11" fmla="*/ 15 h 140"/>
              <a:gd name="T12" fmla="*/ 222 w 235"/>
              <a:gd name="T13" fmla="*/ 10 h 140"/>
              <a:gd name="T14" fmla="*/ 218 w 235"/>
              <a:gd name="T15" fmla="*/ 5 h 140"/>
              <a:gd name="T16" fmla="*/ 215 w 235"/>
              <a:gd name="T17" fmla="*/ 0 h 140"/>
              <a:gd name="T18" fmla="*/ 213 w 235"/>
              <a:gd name="T19" fmla="*/ 2 h 140"/>
              <a:gd name="T20" fmla="*/ 217 w 235"/>
              <a:gd name="T21" fmla="*/ 7 h 140"/>
              <a:gd name="T22" fmla="*/ 218 w 235"/>
              <a:gd name="T23" fmla="*/ 12 h 140"/>
              <a:gd name="T24" fmla="*/ 222 w 235"/>
              <a:gd name="T25" fmla="*/ 17 h 140"/>
              <a:gd name="T26" fmla="*/ 223 w 235"/>
              <a:gd name="T27" fmla="*/ 22 h 140"/>
              <a:gd name="T28" fmla="*/ 227 w 235"/>
              <a:gd name="T29" fmla="*/ 27 h 140"/>
              <a:gd name="T30" fmla="*/ 228 w 235"/>
              <a:gd name="T31" fmla="*/ 34 h 140"/>
              <a:gd name="T32" fmla="*/ 230 w 235"/>
              <a:gd name="T33" fmla="*/ 39 h 140"/>
              <a:gd name="T34" fmla="*/ 232 w 235"/>
              <a:gd name="T35" fmla="*/ 45 h 140"/>
              <a:gd name="T36" fmla="*/ 235 w 235"/>
              <a:gd name="T37" fmla="*/ 44 h 140"/>
              <a:gd name="T38" fmla="*/ 0 w 235"/>
              <a:gd name="T39" fmla="*/ 100 h 140"/>
              <a:gd name="T40" fmla="*/ 1 w 235"/>
              <a:gd name="T41" fmla="*/ 105 h 140"/>
              <a:gd name="T42" fmla="*/ 3 w 235"/>
              <a:gd name="T43" fmla="*/ 110 h 140"/>
              <a:gd name="T44" fmla="*/ 5 w 235"/>
              <a:gd name="T45" fmla="*/ 116 h 140"/>
              <a:gd name="T46" fmla="*/ 6 w 235"/>
              <a:gd name="T47" fmla="*/ 121 h 140"/>
              <a:gd name="T48" fmla="*/ 10 w 235"/>
              <a:gd name="T49" fmla="*/ 126 h 140"/>
              <a:gd name="T50" fmla="*/ 13 w 235"/>
              <a:gd name="T51" fmla="*/ 131 h 140"/>
              <a:gd name="T52" fmla="*/ 15 w 235"/>
              <a:gd name="T53" fmla="*/ 136 h 140"/>
              <a:gd name="T54" fmla="*/ 18 w 235"/>
              <a:gd name="T55" fmla="*/ 140 h 140"/>
              <a:gd name="T56" fmla="*/ 21 w 235"/>
              <a:gd name="T57" fmla="*/ 140 h 140"/>
              <a:gd name="T58" fmla="*/ 18 w 235"/>
              <a:gd name="T59" fmla="*/ 135 h 140"/>
              <a:gd name="T60" fmla="*/ 15 w 235"/>
              <a:gd name="T61" fmla="*/ 130 h 140"/>
              <a:gd name="T62" fmla="*/ 13 w 235"/>
              <a:gd name="T63" fmla="*/ 125 h 140"/>
              <a:gd name="T64" fmla="*/ 10 w 235"/>
              <a:gd name="T65" fmla="*/ 120 h 140"/>
              <a:gd name="T66" fmla="*/ 8 w 235"/>
              <a:gd name="T67" fmla="*/ 115 h 140"/>
              <a:gd name="T68" fmla="*/ 6 w 235"/>
              <a:gd name="T69" fmla="*/ 108 h 140"/>
              <a:gd name="T70" fmla="*/ 5 w 235"/>
              <a:gd name="T71" fmla="*/ 103 h 140"/>
              <a:gd name="T72" fmla="*/ 3 w 235"/>
              <a:gd name="T73" fmla="*/ 98 h 140"/>
              <a:gd name="T74" fmla="*/ 0 w 235"/>
              <a:gd name="T75" fmla="*/ 10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35" h="140">
                <a:moveTo>
                  <a:pt x="235" y="44"/>
                </a:moveTo>
                <a:lnTo>
                  <a:pt x="233" y="37"/>
                </a:lnTo>
                <a:lnTo>
                  <a:pt x="232" y="32"/>
                </a:lnTo>
                <a:lnTo>
                  <a:pt x="230" y="27"/>
                </a:lnTo>
                <a:lnTo>
                  <a:pt x="227" y="20"/>
                </a:lnTo>
                <a:lnTo>
                  <a:pt x="225" y="15"/>
                </a:lnTo>
                <a:lnTo>
                  <a:pt x="222" y="10"/>
                </a:lnTo>
                <a:lnTo>
                  <a:pt x="218" y="5"/>
                </a:lnTo>
                <a:lnTo>
                  <a:pt x="215" y="0"/>
                </a:lnTo>
                <a:lnTo>
                  <a:pt x="213" y="2"/>
                </a:lnTo>
                <a:lnTo>
                  <a:pt x="217" y="7"/>
                </a:lnTo>
                <a:lnTo>
                  <a:pt x="218" y="12"/>
                </a:lnTo>
                <a:lnTo>
                  <a:pt x="222" y="17"/>
                </a:lnTo>
                <a:lnTo>
                  <a:pt x="223" y="22"/>
                </a:lnTo>
                <a:lnTo>
                  <a:pt x="227" y="27"/>
                </a:lnTo>
                <a:lnTo>
                  <a:pt x="228" y="34"/>
                </a:lnTo>
                <a:lnTo>
                  <a:pt x="230" y="39"/>
                </a:lnTo>
                <a:lnTo>
                  <a:pt x="232" y="45"/>
                </a:lnTo>
                <a:lnTo>
                  <a:pt x="235" y="44"/>
                </a:lnTo>
                <a:close/>
                <a:moveTo>
                  <a:pt x="0" y="100"/>
                </a:moveTo>
                <a:lnTo>
                  <a:pt x="1" y="105"/>
                </a:lnTo>
                <a:lnTo>
                  <a:pt x="3" y="110"/>
                </a:lnTo>
                <a:lnTo>
                  <a:pt x="5" y="116"/>
                </a:lnTo>
                <a:lnTo>
                  <a:pt x="6" y="121"/>
                </a:lnTo>
                <a:lnTo>
                  <a:pt x="10" y="126"/>
                </a:lnTo>
                <a:lnTo>
                  <a:pt x="13" y="131"/>
                </a:lnTo>
                <a:lnTo>
                  <a:pt x="15" y="136"/>
                </a:lnTo>
                <a:lnTo>
                  <a:pt x="18" y="140"/>
                </a:lnTo>
                <a:lnTo>
                  <a:pt x="21" y="140"/>
                </a:lnTo>
                <a:lnTo>
                  <a:pt x="18" y="135"/>
                </a:lnTo>
                <a:lnTo>
                  <a:pt x="15" y="130"/>
                </a:lnTo>
                <a:lnTo>
                  <a:pt x="13" y="125"/>
                </a:lnTo>
                <a:lnTo>
                  <a:pt x="10" y="120"/>
                </a:lnTo>
                <a:lnTo>
                  <a:pt x="8" y="115"/>
                </a:lnTo>
                <a:lnTo>
                  <a:pt x="6" y="108"/>
                </a:lnTo>
                <a:lnTo>
                  <a:pt x="5" y="103"/>
                </a:lnTo>
                <a:lnTo>
                  <a:pt x="3" y="98"/>
                </a:lnTo>
                <a:lnTo>
                  <a:pt x="0" y="100"/>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35" name="Freeform 2140">
            <a:extLst>
              <a:ext uri="{FF2B5EF4-FFF2-40B4-BE49-F238E27FC236}">
                <a16:creationId xmlns:a16="http://schemas.microsoft.com/office/drawing/2014/main" id="{9DD0A84C-7DD5-D242-6F66-42BFA2398086}"/>
              </a:ext>
            </a:extLst>
          </p:cNvPr>
          <p:cNvSpPr>
            <a:spLocks noEditPoints="1"/>
          </p:cNvSpPr>
          <p:nvPr/>
        </p:nvSpPr>
        <p:spPr bwMode="auto">
          <a:xfrm>
            <a:off x="3335338" y="2492375"/>
            <a:ext cx="368300" cy="219075"/>
          </a:xfrm>
          <a:custGeom>
            <a:avLst/>
            <a:gdLst>
              <a:gd name="T0" fmla="*/ 232 w 232"/>
              <a:gd name="T1" fmla="*/ 42 h 138"/>
              <a:gd name="T2" fmla="*/ 231 w 232"/>
              <a:gd name="T3" fmla="*/ 37 h 138"/>
              <a:gd name="T4" fmla="*/ 229 w 232"/>
              <a:gd name="T5" fmla="*/ 30 h 138"/>
              <a:gd name="T6" fmla="*/ 227 w 232"/>
              <a:gd name="T7" fmla="*/ 25 h 138"/>
              <a:gd name="T8" fmla="*/ 224 w 232"/>
              <a:gd name="T9" fmla="*/ 20 h 138"/>
              <a:gd name="T10" fmla="*/ 222 w 232"/>
              <a:gd name="T11" fmla="*/ 15 h 138"/>
              <a:gd name="T12" fmla="*/ 219 w 232"/>
              <a:gd name="T13" fmla="*/ 10 h 138"/>
              <a:gd name="T14" fmla="*/ 216 w 232"/>
              <a:gd name="T15" fmla="*/ 5 h 138"/>
              <a:gd name="T16" fmla="*/ 214 w 232"/>
              <a:gd name="T17" fmla="*/ 0 h 138"/>
              <a:gd name="T18" fmla="*/ 211 w 232"/>
              <a:gd name="T19" fmla="*/ 2 h 138"/>
              <a:gd name="T20" fmla="*/ 214 w 232"/>
              <a:gd name="T21" fmla="*/ 5 h 138"/>
              <a:gd name="T22" fmla="*/ 216 w 232"/>
              <a:gd name="T23" fmla="*/ 10 h 138"/>
              <a:gd name="T24" fmla="*/ 219 w 232"/>
              <a:gd name="T25" fmla="*/ 15 h 138"/>
              <a:gd name="T26" fmla="*/ 222 w 232"/>
              <a:gd name="T27" fmla="*/ 22 h 138"/>
              <a:gd name="T28" fmla="*/ 224 w 232"/>
              <a:gd name="T29" fmla="*/ 27 h 138"/>
              <a:gd name="T30" fmla="*/ 226 w 232"/>
              <a:gd name="T31" fmla="*/ 32 h 138"/>
              <a:gd name="T32" fmla="*/ 227 w 232"/>
              <a:gd name="T33" fmla="*/ 38 h 138"/>
              <a:gd name="T34" fmla="*/ 229 w 232"/>
              <a:gd name="T35" fmla="*/ 43 h 138"/>
              <a:gd name="T36" fmla="*/ 232 w 232"/>
              <a:gd name="T37" fmla="*/ 42 h 138"/>
              <a:gd name="T38" fmla="*/ 0 w 232"/>
              <a:gd name="T39" fmla="*/ 96 h 138"/>
              <a:gd name="T40" fmla="*/ 2 w 232"/>
              <a:gd name="T41" fmla="*/ 103 h 138"/>
              <a:gd name="T42" fmla="*/ 4 w 232"/>
              <a:gd name="T43" fmla="*/ 108 h 138"/>
              <a:gd name="T44" fmla="*/ 5 w 232"/>
              <a:gd name="T45" fmla="*/ 113 h 138"/>
              <a:gd name="T46" fmla="*/ 7 w 232"/>
              <a:gd name="T47" fmla="*/ 118 h 138"/>
              <a:gd name="T48" fmla="*/ 10 w 232"/>
              <a:gd name="T49" fmla="*/ 123 h 138"/>
              <a:gd name="T50" fmla="*/ 12 w 232"/>
              <a:gd name="T51" fmla="*/ 128 h 138"/>
              <a:gd name="T52" fmla="*/ 15 w 232"/>
              <a:gd name="T53" fmla="*/ 133 h 138"/>
              <a:gd name="T54" fmla="*/ 19 w 232"/>
              <a:gd name="T55" fmla="*/ 138 h 138"/>
              <a:gd name="T56" fmla="*/ 22 w 232"/>
              <a:gd name="T57" fmla="*/ 136 h 138"/>
              <a:gd name="T58" fmla="*/ 19 w 232"/>
              <a:gd name="T59" fmla="*/ 131 h 138"/>
              <a:gd name="T60" fmla="*/ 15 w 232"/>
              <a:gd name="T61" fmla="*/ 126 h 138"/>
              <a:gd name="T62" fmla="*/ 14 w 232"/>
              <a:gd name="T63" fmla="*/ 121 h 138"/>
              <a:gd name="T64" fmla="*/ 10 w 232"/>
              <a:gd name="T65" fmla="*/ 116 h 138"/>
              <a:gd name="T66" fmla="*/ 9 w 232"/>
              <a:gd name="T67" fmla="*/ 111 h 138"/>
              <a:gd name="T68" fmla="*/ 7 w 232"/>
              <a:gd name="T69" fmla="*/ 106 h 138"/>
              <a:gd name="T70" fmla="*/ 5 w 232"/>
              <a:gd name="T71" fmla="*/ 101 h 138"/>
              <a:gd name="T72" fmla="*/ 4 w 232"/>
              <a:gd name="T73" fmla="*/ 95 h 138"/>
              <a:gd name="T74" fmla="*/ 0 w 232"/>
              <a:gd name="T75" fmla="*/ 96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32" h="138">
                <a:moveTo>
                  <a:pt x="232" y="42"/>
                </a:moveTo>
                <a:lnTo>
                  <a:pt x="231" y="37"/>
                </a:lnTo>
                <a:lnTo>
                  <a:pt x="229" y="30"/>
                </a:lnTo>
                <a:lnTo>
                  <a:pt x="227" y="25"/>
                </a:lnTo>
                <a:lnTo>
                  <a:pt x="224" y="20"/>
                </a:lnTo>
                <a:lnTo>
                  <a:pt x="222" y="15"/>
                </a:lnTo>
                <a:lnTo>
                  <a:pt x="219" y="10"/>
                </a:lnTo>
                <a:lnTo>
                  <a:pt x="216" y="5"/>
                </a:lnTo>
                <a:lnTo>
                  <a:pt x="214" y="0"/>
                </a:lnTo>
                <a:lnTo>
                  <a:pt x="211" y="2"/>
                </a:lnTo>
                <a:lnTo>
                  <a:pt x="214" y="5"/>
                </a:lnTo>
                <a:lnTo>
                  <a:pt x="216" y="10"/>
                </a:lnTo>
                <a:lnTo>
                  <a:pt x="219" y="15"/>
                </a:lnTo>
                <a:lnTo>
                  <a:pt x="222" y="22"/>
                </a:lnTo>
                <a:lnTo>
                  <a:pt x="224" y="27"/>
                </a:lnTo>
                <a:lnTo>
                  <a:pt x="226" y="32"/>
                </a:lnTo>
                <a:lnTo>
                  <a:pt x="227" y="38"/>
                </a:lnTo>
                <a:lnTo>
                  <a:pt x="229" y="43"/>
                </a:lnTo>
                <a:lnTo>
                  <a:pt x="232" y="42"/>
                </a:lnTo>
                <a:close/>
                <a:moveTo>
                  <a:pt x="0" y="96"/>
                </a:moveTo>
                <a:lnTo>
                  <a:pt x="2" y="103"/>
                </a:lnTo>
                <a:lnTo>
                  <a:pt x="4" y="108"/>
                </a:lnTo>
                <a:lnTo>
                  <a:pt x="5" y="113"/>
                </a:lnTo>
                <a:lnTo>
                  <a:pt x="7" y="118"/>
                </a:lnTo>
                <a:lnTo>
                  <a:pt x="10" y="123"/>
                </a:lnTo>
                <a:lnTo>
                  <a:pt x="12" y="128"/>
                </a:lnTo>
                <a:lnTo>
                  <a:pt x="15" y="133"/>
                </a:lnTo>
                <a:lnTo>
                  <a:pt x="19" y="138"/>
                </a:lnTo>
                <a:lnTo>
                  <a:pt x="22" y="136"/>
                </a:lnTo>
                <a:lnTo>
                  <a:pt x="19" y="131"/>
                </a:lnTo>
                <a:lnTo>
                  <a:pt x="15" y="126"/>
                </a:lnTo>
                <a:lnTo>
                  <a:pt x="14" y="121"/>
                </a:lnTo>
                <a:lnTo>
                  <a:pt x="10" y="116"/>
                </a:lnTo>
                <a:lnTo>
                  <a:pt x="9" y="111"/>
                </a:lnTo>
                <a:lnTo>
                  <a:pt x="7" y="106"/>
                </a:lnTo>
                <a:lnTo>
                  <a:pt x="5" y="101"/>
                </a:lnTo>
                <a:lnTo>
                  <a:pt x="4" y="95"/>
                </a:lnTo>
                <a:lnTo>
                  <a:pt x="0" y="96"/>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36" name="Freeform 2141">
            <a:extLst>
              <a:ext uri="{FF2B5EF4-FFF2-40B4-BE49-F238E27FC236}">
                <a16:creationId xmlns:a16="http://schemas.microsoft.com/office/drawing/2014/main" id="{9FD83DB6-3607-CFFB-0099-7813BB0D9ECA}"/>
              </a:ext>
            </a:extLst>
          </p:cNvPr>
          <p:cNvSpPr>
            <a:spLocks noEditPoints="1"/>
          </p:cNvSpPr>
          <p:nvPr/>
        </p:nvSpPr>
        <p:spPr bwMode="auto">
          <a:xfrm>
            <a:off x="3338513" y="2492375"/>
            <a:ext cx="363538" cy="219075"/>
          </a:xfrm>
          <a:custGeom>
            <a:avLst/>
            <a:gdLst>
              <a:gd name="T0" fmla="*/ 229 w 229"/>
              <a:gd name="T1" fmla="*/ 43 h 138"/>
              <a:gd name="T2" fmla="*/ 227 w 229"/>
              <a:gd name="T3" fmla="*/ 37 h 138"/>
              <a:gd name="T4" fmla="*/ 225 w 229"/>
              <a:gd name="T5" fmla="*/ 32 h 138"/>
              <a:gd name="T6" fmla="*/ 224 w 229"/>
              <a:gd name="T7" fmla="*/ 25 h 138"/>
              <a:gd name="T8" fmla="*/ 220 w 229"/>
              <a:gd name="T9" fmla="*/ 20 h 138"/>
              <a:gd name="T10" fmla="*/ 219 w 229"/>
              <a:gd name="T11" fmla="*/ 15 h 138"/>
              <a:gd name="T12" fmla="*/ 215 w 229"/>
              <a:gd name="T13" fmla="*/ 10 h 138"/>
              <a:gd name="T14" fmla="*/ 214 w 229"/>
              <a:gd name="T15" fmla="*/ 5 h 138"/>
              <a:gd name="T16" fmla="*/ 210 w 229"/>
              <a:gd name="T17" fmla="*/ 0 h 138"/>
              <a:gd name="T18" fmla="*/ 207 w 229"/>
              <a:gd name="T19" fmla="*/ 2 h 138"/>
              <a:gd name="T20" fmla="*/ 210 w 229"/>
              <a:gd name="T21" fmla="*/ 7 h 138"/>
              <a:gd name="T22" fmla="*/ 214 w 229"/>
              <a:gd name="T23" fmla="*/ 12 h 138"/>
              <a:gd name="T24" fmla="*/ 215 w 229"/>
              <a:gd name="T25" fmla="*/ 17 h 138"/>
              <a:gd name="T26" fmla="*/ 219 w 229"/>
              <a:gd name="T27" fmla="*/ 22 h 138"/>
              <a:gd name="T28" fmla="*/ 220 w 229"/>
              <a:gd name="T29" fmla="*/ 27 h 138"/>
              <a:gd name="T30" fmla="*/ 222 w 229"/>
              <a:gd name="T31" fmla="*/ 33 h 138"/>
              <a:gd name="T32" fmla="*/ 224 w 229"/>
              <a:gd name="T33" fmla="*/ 38 h 138"/>
              <a:gd name="T34" fmla="*/ 225 w 229"/>
              <a:gd name="T35" fmla="*/ 43 h 138"/>
              <a:gd name="T36" fmla="*/ 229 w 229"/>
              <a:gd name="T37" fmla="*/ 43 h 138"/>
              <a:gd name="T38" fmla="*/ 0 w 229"/>
              <a:gd name="T39" fmla="*/ 96 h 138"/>
              <a:gd name="T40" fmla="*/ 2 w 229"/>
              <a:gd name="T41" fmla="*/ 101 h 138"/>
              <a:gd name="T42" fmla="*/ 3 w 229"/>
              <a:gd name="T43" fmla="*/ 106 h 138"/>
              <a:gd name="T44" fmla="*/ 5 w 229"/>
              <a:gd name="T45" fmla="*/ 113 h 138"/>
              <a:gd name="T46" fmla="*/ 7 w 229"/>
              <a:gd name="T47" fmla="*/ 118 h 138"/>
              <a:gd name="T48" fmla="*/ 10 w 229"/>
              <a:gd name="T49" fmla="*/ 123 h 138"/>
              <a:gd name="T50" fmla="*/ 12 w 229"/>
              <a:gd name="T51" fmla="*/ 128 h 138"/>
              <a:gd name="T52" fmla="*/ 15 w 229"/>
              <a:gd name="T53" fmla="*/ 133 h 138"/>
              <a:gd name="T54" fmla="*/ 18 w 229"/>
              <a:gd name="T55" fmla="*/ 138 h 138"/>
              <a:gd name="T56" fmla="*/ 22 w 229"/>
              <a:gd name="T57" fmla="*/ 136 h 138"/>
              <a:gd name="T58" fmla="*/ 18 w 229"/>
              <a:gd name="T59" fmla="*/ 131 h 138"/>
              <a:gd name="T60" fmla="*/ 15 w 229"/>
              <a:gd name="T61" fmla="*/ 126 h 138"/>
              <a:gd name="T62" fmla="*/ 13 w 229"/>
              <a:gd name="T63" fmla="*/ 121 h 138"/>
              <a:gd name="T64" fmla="*/ 10 w 229"/>
              <a:gd name="T65" fmla="*/ 116 h 138"/>
              <a:gd name="T66" fmla="*/ 8 w 229"/>
              <a:gd name="T67" fmla="*/ 111 h 138"/>
              <a:gd name="T68" fmla="*/ 7 w 229"/>
              <a:gd name="T69" fmla="*/ 106 h 138"/>
              <a:gd name="T70" fmla="*/ 3 w 229"/>
              <a:gd name="T71" fmla="*/ 99 h 138"/>
              <a:gd name="T72" fmla="*/ 3 w 229"/>
              <a:gd name="T73" fmla="*/ 95 h 138"/>
              <a:gd name="T74" fmla="*/ 0 w 229"/>
              <a:gd name="T75" fmla="*/ 96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9" h="138">
                <a:moveTo>
                  <a:pt x="229" y="43"/>
                </a:moveTo>
                <a:lnTo>
                  <a:pt x="227" y="37"/>
                </a:lnTo>
                <a:lnTo>
                  <a:pt x="225" y="32"/>
                </a:lnTo>
                <a:lnTo>
                  <a:pt x="224" y="25"/>
                </a:lnTo>
                <a:lnTo>
                  <a:pt x="220" y="20"/>
                </a:lnTo>
                <a:lnTo>
                  <a:pt x="219" y="15"/>
                </a:lnTo>
                <a:lnTo>
                  <a:pt x="215" y="10"/>
                </a:lnTo>
                <a:lnTo>
                  <a:pt x="214" y="5"/>
                </a:lnTo>
                <a:lnTo>
                  <a:pt x="210" y="0"/>
                </a:lnTo>
                <a:lnTo>
                  <a:pt x="207" y="2"/>
                </a:lnTo>
                <a:lnTo>
                  <a:pt x="210" y="7"/>
                </a:lnTo>
                <a:lnTo>
                  <a:pt x="214" y="12"/>
                </a:lnTo>
                <a:lnTo>
                  <a:pt x="215" y="17"/>
                </a:lnTo>
                <a:lnTo>
                  <a:pt x="219" y="22"/>
                </a:lnTo>
                <a:lnTo>
                  <a:pt x="220" y="27"/>
                </a:lnTo>
                <a:lnTo>
                  <a:pt x="222" y="33"/>
                </a:lnTo>
                <a:lnTo>
                  <a:pt x="224" y="38"/>
                </a:lnTo>
                <a:lnTo>
                  <a:pt x="225" y="43"/>
                </a:lnTo>
                <a:lnTo>
                  <a:pt x="229" y="43"/>
                </a:lnTo>
                <a:close/>
                <a:moveTo>
                  <a:pt x="0" y="96"/>
                </a:moveTo>
                <a:lnTo>
                  <a:pt x="2" y="101"/>
                </a:lnTo>
                <a:lnTo>
                  <a:pt x="3" y="106"/>
                </a:lnTo>
                <a:lnTo>
                  <a:pt x="5" y="113"/>
                </a:lnTo>
                <a:lnTo>
                  <a:pt x="7" y="118"/>
                </a:lnTo>
                <a:lnTo>
                  <a:pt x="10" y="123"/>
                </a:lnTo>
                <a:lnTo>
                  <a:pt x="12" y="128"/>
                </a:lnTo>
                <a:lnTo>
                  <a:pt x="15" y="133"/>
                </a:lnTo>
                <a:lnTo>
                  <a:pt x="18" y="138"/>
                </a:lnTo>
                <a:lnTo>
                  <a:pt x="22" y="136"/>
                </a:lnTo>
                <a:lnTo>
                  <a:pt x="18" y="131"/>
                </a:lnTo>
                <a:lnTo>
                  <a:pt x="15" y="126"/>
                </a:lnTo>
                <a:lnTo>
                  <a:pt x="13" y="121"/>
                </a:lnTo>
                <a:lnTo>
                  <a:pt x="10" y="116"/>
                </a:lnTo>
                <a:lnTo>
                  <a:pt x="8" y="111"/>
                </a:lnTo>
                <a:lnTo>
                  <a:pt x="7" y="106"/>
                </a:lnTo>
                <a:lnTo>
                  <a:pt x="3" y="99"/>
                </a:lnTo>
                <a:lnTo>
                  <a:pt x="3" y="95"/>
                </a:lnTo>
                <a:lnTo>
                  <a:pt x="0" y="96"/>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37" name="Freeform 2142">
            <a:extLst>
              <a:ext uri="{FF2B5EF4-FFF2-40B4-BE49-F238E27FC236}">
                <a16:creationId xmlns:a16="http://schemas.microsoft.com/office/drawing/2014/main" id="{C6F43A3F-C9D5-90B2-F085-143889B9132C}"/>
              </a:ext>
            </a:extLst>
          </p:cNvPr>
          <p:cNvSpPr>
            <a:spLocks noEditPoints="1"/>
          </p:cNvSpPr>
          <p:nvPr/>
        </p:nvSpPr>
        <p:spPr bwMode="auto">
          <a:xfrm>
            <a:off x="3341688" y="2495550"/>
            <a:ext cx="357188" cy="212725"/>
          </a:xfrm>
          <a:custGeom>
            <a:avLst/>
            <a:gdLst>
              <a:gd name="T0" fmla="*/ 225 w 225"/>
              <a:gd name="T1" fmla="*/ 41 h 134"/>
              <a:gd name="T2" fmla="*/ 223 w 225"/>
              <a:gd name="T3" fmla="*/ 36 h 134"/>
              <a:gd name="T4" fmla="*/ 222 w 225"/>
              <a:gd name="T5" fmla="*/ 30 h 134"/>
              <a:gd name="T6" fmla="*/ 220 w 225"/>
              <a:gd name="T7" fmla="*/ 25 h 134"/>
              <a:gd name="T8" fmla="*/ 218 w 225"/>
              <a:gd name="T9" fmla="*/ 20 h 134"/>
              <a:gd name="T10" fmla="*/ 215 w 225"/>
              <a:gd name="T11" fmla="*/ 13 h 134"/>
              <a:gd name="T12" fmla="*/ 212 w 225"/>
              <a:gd name="T13" fmla="*/ 8 h 134"/>
              <a:gd name="T14" fmla="*/ 210 w 225"/>
              <a:gd name="T15" fmla="*/ 3 h 134"/>
              <a:gd name="T16" fmla="*/ 207 w 225"/>
              <a:gd name="T17" fmla="*/ 0 h 134"/>
              <a:gd name="T18" fmla="*/ 203 w 225"/>
              <a:gd name="T19" fmla="*/ 0 h 134"/>
              <a:gd name="T20" fmla="*/ 207 w 225"/>
              <a:gd name="T21" fmla="*/ 5 h 134"/>
              <a:gd name="T22" fmla="*/ 210 w 225"/>
              <a:gd name="T23" fmla="*/ 10 h 134"/>
              <a:gd name="T24" fmla="*/ 212 w 225"/>
              <a:gd name="T25" fmla="*/ 15 h 134"/>
              <a:gd name="T26" fmla="*/ 215 w 225"/>
              <a:gd name="T27" fmla="*/ 20 h 134"/>
              <a:gd name="T28" fmla="*/ 217 w 225"/>
              <a:gd name="T29" fmla="*/ 26 h 134"/>
              <a:gd name="T30" fmla="*/ 218 w 225"/>
              <a:gd name="T31" fmla="*/ 31 h 134"/>
              <a:gd name="T32" fmla="*/ 220 w 225"/>
              <a:gd name="T33" fmla="*/ 36 h 134"/>
              <a:gd name="T34" fmla="*/ 222 w 225"/>
              <a:gd name="T35" fmla="*/ 43 h 134"/>
              <a:gd name="T36" fmla="*/ 225 w 225"/>
              <a:gd name="T37" fmla="*/ 41 h 134"/>
              <a:gd name="T38" fmla="*/ 0 w 225"/>
              <a:gd name="T39" fmla="*/ 93 h 134"/>
              <a:gd name="T40" fmla="*/ 1 w 225"/>
              <a:gd name="T41" fmla="*/ 99 h 134"/>
              <a:gd name="T42" fmla="*/ 3 w 225"/>
              <a:gd name="T43" fmla="*/ 104 h 134"/>
              <a:gd name="T44" fmla="*/ 5 w 225"/>
              <a:gd name="T45" fmla="*/ 109 h 134"/>
              <a:gd name="T46" fmla="*/ 6 w 225"/>
              <a:gd name="T47" fmla="*/ 114 h 134"/>
              <a:gd name="T48" fmla="*/ 10 w 225"/>
              <a:gd name="T49" fmla="*/ 119 h 134"/>
              <a:gd name="T50" fmla="*/ 11 w 225"/>
              <a:gd name="T51" fmla="*/ 124 h 134"/>
              <a:gd name="T52" fmla="*/ 15 w 225"/>
              <a:gd name="T53" fmla="*/ 129 h 134"/>
              <a:gd name="T54" fmla="*/ 18 w 225"/>
              <a:gd name="T55" fmla="*/ 134 h 134"/>
              <a:gd name="T56" fmla="*/ 21 w 225"/>
              <a:gd name="T57" fmla="*/ 132 h 134"/>
              <a:gd name="T58" fmla="*/ 18 w 225"/>
              <a:gd name="T59" fmla="*/ 127 h 134"/>
              <a:gd name="T60" fmla="*/ 15 w 225"/>
              <a:gd name="T61" fmla="*/ 124 h 134"/>
              <a:gd name="T62" fmla="*/ 11 w 225"/>
              <a:gd name="T63" fmla="*/ 119 h 134"/>
              <a:gd name="T64" fmla="*/ 10 w 225"/>
              <a:gd name="T65" fmla="*/ 114 h 134"/>
              <a:gd name="T66" fmla="*/ 8 w 225"/>
              <a:gd name="T67" fmla="*/ 107 h 134"/>
              <a:gd name="T68" fmla="*/ 5 w 225"/>
              <a:gd name="T69" fmla="*/ 102 h 134"/>
              <a:gd name="T70" fmla="*/ 3 w 225"/>
              <a:gd name="T71" fmla="*/ 97 h 134"/>
              <a:gd name="T72" fmla="*/ 3 w 225"/>
              <a:gd name="T73" fmla="*/ 93 h 134"/>
              <a:gd name="T74" fmla="*/ 0 w 225"/>
              <a:gd name="T75" fmla="*/ 9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5" h="134">
                <a:moveTo>
                  <a:pt x="225" y="41"/>
                </a:moveTo>
                <a:lnTo>
                  <a:pt x="223" y="36"/>
                </a:lnTo>
                <a:lnTo>
                  <a:pt x="222" y="30"/>
                </a:lnTo>
                <a:lnTo>
                  <a:pt x="220" y="25"/>
                </a:lnTo>
                <a:lnTo>
                  <a:pt x="218" y="20"/>
                </a:lnTo>
                <a:lnTo>
                  <a:pt x="215" y="13"/>
                </a:lnTo>
                <a:lnTo>
                  <a:pt x="212" y="8"/>
                </a:lnTo>
                <a:lnTo>
                  <a:pt x="210" y="3"/>
                </a:lnTo>
                <a:lnTo>
                  <a:pt x="207" y="0"/>
                </a:lnTo>
                <a:lnTo>
                  <a:pt x="203" y="0"/>
                </a:lnTo>
                <a:lnTo>
                  <a:pt x="207" y="5"/>
                </a:lnTo>
                <a:lnTo>
                  <a:pt x="210" y="10"/>
                </a:lnTo>
                <a:lnTo>
                  <a:pt x="212" y="15"/>
                </a:lnTo>
                <a:lnTo>
                  <a:pt x="215" y="20"/>
                </a:lnTo>
                <a:lnTo>
                  <a:pt x="217" y="26"/>
                </a:lnTo>
                <a:lnTo>
                  <a:pt x="218" y="31"/>
                </a:lnTo>
                <a:lnTo>
                  <a:pt x="220" y="36"/>
                </a:lnTo>
                <a:lnTo>
                  <a:pt x="222" y="43"/>
                </a:lnTo>
                <a:lnTo>
                  <a:pt x="225" y="41"/>
                </a:lnTo>
                <a:close/>
                <a:moveTo>
                  <a:pt x="0" y="93"/>
                </a:moveTo>
                <a:lnTo>
                  <a:pt x="1" y="99"/>
                </a:lnTo>
                <a:lnTo>
                  <a:pt x="3" y="104"/>
                </a:lnTo>
                <a:lnTo>
                  <a:pt x="5" y="109"/>
                </a:lnTo>
                <a:lnTo>
                  <a:pt x="6" y="114"/>
                </a:lnTo>
                <a:lnTo>
                  <a:pt x="10" y="119"/>
                </a:lnTo>
                <a:lnTo>
                  <a:pt x="11" y="124"/>
                </a:lnTo>
                <a:lnTo>
                  <a:pt x="15" y="129"/>
                </a:lnTo>
                <a:lnTo>
                  <a:pt x="18" y="134"/>
                </a:lnTo>
                <a:lnTo>
                  <a:pt x="21" y="132"/>
                </a:lnTo>
                <a:lnTo>
                  <a:pt x="18" y="127"/>
                </a:lnTo>
                <a:lnTo>
                  <a:pt x="15" y="124"/>
                </a:lnTo>
                <a:lnTo>
                  <a:pt x="11" y="119"/>
                </a:lnTo>
                <a:lnTo>
                  <a:pt x="10" y="114"/>
                </a:lnTo>
                <a:lnTo>
                  <a:pt x="8" y="107"/>
                </a:lnTo>
                <a:lnTo>
                  <a:pt x="5" y="102"/>
                </a:lnTo>
                <a:lnTo>
                  <a:pt x="3" y="97"/>
                </a:lnTo>
                <a:lnTo>
                  <a:pt x="3" y="93"/>
                </a:lnTo>
                <a:lnTo>
                  <a:pt x="0" y="93"/>
                </a:lnTo>
                <a:close/>
              </a:path>
            </a:pathLst>
          </a:custGeom>
          <a:solidFill>
            <a:srgbClr val="B7DE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38" name="Freeform 2143">
            <a:extLst>
              <a:ext uri="{FF2B5EF4-FFF2-40B4-BE49-F238E27FC236}">
                <a16:creationId xmlns:a16="http://schemas.microsoft.com/office/drawing/2014/main" id="{B86E5F8E-D4BC-D6DF-DC25-8BCB378B95EE}"/>
              </a:ext>
            </a:extLst>
          </p:cNvPr>
          <p:cNvSpPr>
            <a:spLocks noEditPoints="1"/>
          </p:cNvSpPr>
          <p:nvPr/>
        </p:nvSpPr>
        <p:spPr bwMode="auto">
          <a:xfrm>
            <a:off x="3343275" y="2495550"/>
            <a:ext cx="352425" cy="212725"/>
          </a:xfrm>
          <a:custGeom>
            <a:avLst/>
            <a:gdLst>
              <a:gd name="T0" fmla="*/ 222 w 222"/>
              <a:gd name="T1" fmla="*/ 41 h 134"/>
              <a:gd name="T2" fmla="*/ 221 w 222"/>
              <a:gd name="T3" fmla="*/ 36 h 134"/>
              <a:gd name="T4" fmla="*/ 219 w 222"/>
              <a:gd name="T5" fmla="*/ 31 h 134"/>
              <a:gd name="T6" fmla="*/ 217 w 222"/>
              <a:gd name="T7" fmla="*/ 25 h 134"/>
              <a:gd name="T8" fmla="*/ 216 w 222"/>
              <a:gd name="T9" fmla="*/ 20 h 134"/>
              <a:gd name="T10" fmla="*/ 212 w 222"/>
              <a:gd name="T11" fmla="*/ 15 h 134"/>
              <a:gd name="T12" fmla="*/ 211 w 222"/>
              <a:gd name="T13" fmla="*/ 10 h 134"/>
              <a:gd name="T14" fmla="*/ 207 w 222"/>
              <a:gd name="T15" fmla="*/ 5 h 134"/>
              <a:gd name="T16" fmla="*/ 204 w 222"/>
              <a:gd name="T17" fmla="*/ 0 h 134"/>
              <a:gd name="T18" fmla="*/ 201 w 222"/>
              <a:gd name="T19" fmla="*/ 1 h 134"/>
              <a:gd name="T20" fmla="*/ 204 w 222"/>
              <a:gd name="T21" fmla="*/ 6 h 134"/>
              <a:gd name="T22" fmla="*/ 207 w 222"/>
              <a:gd name="T23" fmla="*/ 11 h 134"/>
              <a:gd name="T24" fmla="*/ 209 w 222"/>
              <a:gd name="T25" fmla="*/ 16 h 134"/>
              <a:gd name="T26" fmla="*/ 212 w 222"/>
              <a:gd name="T27" fmla="*/ 21 h 134"/>
              <a:gd name="T28" fmla="*/ 214 w 222"/>
              <a:gd name="T29" fmla="*/ 26 h 134"/>
              <a:gd name="T30" fmla="*/ 216 w 222"/>
              <a:gd name="T31" fmla="*/ 31 h 134"/>
              <a:gd name="T32" fmla="*/ 217 w 222"/>
              <a:gd name="T33" fmla="*/ 38 h 134"/>
              <a:gd name="T34" fmla="*/ 219 w 222"/>
              <a:gd name="T35" fmla="*/ 43 h 134"/>
              <a:gd name="T36" fmla="*/ 222 w 222"/>
              <a:gd name="T37" fmla="*/ 41 h 134"/>
              <a:gd name="T38" fmla="*/ 0 w 222"/>
              <a:gd name="T39" fmla="*/ 93 h 134"/>
              <a:gd name="T40" fmla="*/ 0 w 222"/>
              <a:gd name="T41" fmla="*/ 97 h 134"/>
              <a:gd name="T42" fmla="*/ 4 w 222"/>
              <a:gd name="T43" fmla="*/ 104 h 134"/>
              <a:gd name="T44" fmla="*/ 5 w 222"/>
              <a:gd name="T45" fmla="*/ 109 h 134"/>
              <a:gd name="T46" fmla="*/ 7 w 222"/>
              <a:gd name="T47" fmla="*/ 114 h 134"/>
              <a:gd name="T48" fmla="*/ 10 w 222"/>
              <a:gd name="T49" fmla="*/ 119 h 134"/>
              <a:gd name="T50" fmla="*/ 12 w 222"/>
              <a:gd name="T51" fmla="*/ 124 h 134"/>
              <a:gd name="T52" fmla="*/ 15 w 222"/>
              <a:gd name="T53" fmla="*/ 129 h 134"/>
              <a:gd name="T54" fmla="*/ 19 w 222"/>
              <a:gd name="T55" fmla="*/ 134 h 134"/>
              <a:gd name="T56" fmla="*/ 22 w 222"/>
              <a:gd name="T57" fmla="*/ 132 h 134"/>
              <a:gd name="T58" fmla="*/ 19 w 222"/>
              <a:gd name="T59" fmla="*/ 127 h 134"/>
              <a:gd name="T60" fmla="*/ 15 w 222"/>
              <a:gd name="T61" fmla="*/ 122 h 134"/>
              <a:gd name="T62" fmla="*/ 12 w 222"/>
              <a:gd name="T63" fmla="*/ 117 h 134"/>
              <a:gd name="T64" fmla="*/ 10 w 222"/>
              <a:gd name="T65" fmla="*/ 112 h 134"/>
              <a:gd name="T66" fmla="*/ 9 w 222"/>
              <a:gd name="T67" fmla="*/ 107 h 134"/>
              <a:gd name="T68" fmla="*/ 5 w 222"/>
              <a:gd name="T69" fmla="*/ 102 h 134"/>
              <a:gd name="T70" fmla="*/ 4 w 222"/>
              <a:gd name="T71" fmla="*/ 97 h 134"/>
              <a:gd name="T72" fmla="*/ 2 w 222"/>
              <a:gd name="T73" fmla="*/ 91 h 134"/>
              <a:gd name="T74" fmla="*/ 0 w 222"/>
              <a:gd name="T75" fmla="*/ 9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2" h="134">
                <a:moveTo>
                  <a:pt x="222" y="41"/>
                </a:moveTo>
                <a:lnTo>
                  <a:pt x="221" y="36"/>
                </a:lnTo>
                <a:lnTo>
                  <a:pt x="219" y="31"/>
                </a:lnTo>
                <a:lnTo>
                  <a:pt x="217" y="25"/>
                </a:lnTo>
                <a:lnTo>
                  <a:pt x="216" y="20"/>
                </a:lnTo>
                <a:lnTo>
                  <a:pt x="212" y="15"/>
                </a:lnTo>
                <a:lnTo>
                  <a:pt x="211" y="10"/>
                </a:lnTo>
                <a:lnTo>
                  <a:pt x="207" y="5"/>
                </a:lnTo>
                <a:lnTo>
                  <a:pt x="204" y="0"/>
                </a:lnTo>
                <a:lnTo>
                  <a:pt x="201" y="1"/>
                </a:lnTo>
                <a:lnTo>
                  <a:pt x="204" y="6"/>
                </a:lnTo>
                <a:lnTo>
                  <a:pt x="207" y="11"/>
                </a:lnTo>
                <a:lnTo>
                  <a:pt x="209" y="16"/>
                </a:lnTo>
                <a:lnTo>
                  <a:pt x="212" y="21"/>
                </a:lnTo>
                <a:lnTo>
                  <a:pt x="214" y="26"/>
                </a:lnTo>
                <a:lnTo>
                  <a:pt x="216" y="31"/>
                </a:lnTo>
                <a:lnTo>
                  <a:pt x="217" y="38"/>
                </a:lnTo>
                <a:lnTo>
                  <a:pt x="219" y="43"/>
                </a:lnTo>
                <a:lnTo>
                  <a:pt x="222" y="41"/>
                </a:lnTo>
                <a:close/>
                <a:moveTo>
                  <a:pt x="0" y="93"/>
                </a:moveTo>
                <a:lnTo>
                  <a:pt x="0" y="97"/>
                </a:lnTo>
                <a:lnTo>
                  <a:pt x="4" y="104"/>
                </a:lnTo>
                <a:lnTo>
                  <a:pt x="5" y="109"/>
                </a:lnTo>
                <a:lnTo>
                  <a:pt x="7" y="114"/>
                </a:lnTo>
                <a:lnTo>
                  <a:pt x="10" y="119"/>
                </a:lnTo>
                <a:lnTo>
                  <a:pt x="12" y="124"/>
                </a:lnTo>
                <a:lnTo>
                  <a:pt x="15" y="129"/>
                </a:lnTo>
                <a:lnTo>
                  <a:pt x="19" y="134"/>
                </a:lnTo>
                <a:lnTo>
                  <a:pt x="22" y="132"/>
                </a:lnTo>
                <a:lnTo>
                  <a:pt x="19" y="127"/>
                </a:lnTo>
                <a:lnTo>
                  <a:pt x="15" y="122"/>
                </a:lnTo>
                <a:lnTo>
                  <a:pt x="12" y="117"/>
                </a:lnTo>
                <a:lnTo>
                  <a:pt x="10" y="112"/>
                </a:lnTo>
                <a:lnTo>
                  <a:pt x="9" y="107"/>
                </a:lnTo>
                <a:lnTo>
                  <a:pt x="5" y="102"/>
                </a:lnTo>
                <a:lnTo>
                  <a:pt x="4" y="97"/>
                </a:lnTo>
                <a:lnTo>
                  <a:pt x="2" y="91"/>
                </a:lnTo>
                <a:lnTo>
                  <a:pt x="0" y="93"/>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39" name="Freeform 2144">
            <a:extLst>
              <a:ext uri="{FF2B5EF4-FFF2-40B4-BE49-F238E27FC236}">
                <a16:creationId xmlns:a16="http://schemas.microsoft.com/office/drawing/2014/main" id="{EF2E90CC-EAA2-C607-C758-14BEF617EADC}"/>
              </a:ext>
            </a:extLst>
          </p:cNvPr>
          <p:cNvSpPr>
            <a:spLocks noEditPoints="1"/>
          </p:cNvSpPr>
          <p:nvPr/>
        </p:nvSpPr>
        <p:spPr bwMode="auto">
          <a:xfrm>
            <a:off x="3346450" y="2495550"/>
            <a:ext cx="347663" cy="209550"/>
          </a:xfrm>
          <a:custGeom>
            <a:avLst/>
            <a:gdLst>
              <a:gd name="T0" fmla="*/ 219 w 219"/>
              <a:gd name="T1" fmla="*/ 43 h 132"/>
              <a:gd name="T2" fmla="*/ 217 w 219"/>
              <a:gd name="T3" fmla="*/ 36 h 132"/>
              <a:gd name="T4" fmla="*/ 215 w 219"/>
              <a:gd name="T5" fmla="*/ 31 h 132"/>
              <a:gd name="T6" fmla="*/ 214 w 219"/>
              <a:gd name="T7" fmla="*/ 26 h 132"/>
              <a:gd name="T8" fmla="*/ 212 w 219"/>
              <a:gd name="T9" fmla="*/ 20 h 132"/>
              <a:gd name="T10" fmla="*/ 209 w 219"/>
              <a:gd name="T11" fmla="*/ 15 h 132"/>
              <a:gd name="T12" fmla="*/ 207 w 219"/>
              <a:gd name="T13" fmla="*/ 10 h 132"/>
              <a:gd name="T14" fmla="*/ 204 w 219"/>
              <a:gd name="T15" fmla="*/ 5 h 132"/>
              <a:gd name="T16" fmla="*/ 200 w 219"/>
              <a:gd name="T17" fmla="*/ 0 h 132"/>
              <a:gd name="T18" fmla="*/ 197 w 219"/>
              <a:gd name="T19" fmla="*/ 1 h 132"/>
              <a:gd name="T20" fmla="*/ 200 w 219"/>
              <a:gd name="T21" fmla="*/ 6 h 132"/>
              <a:gd name="T22" fmla="*/ 204 w 219"/>
              <a:gd name="T23" fmla="*/ 11 h 132"/>
              <a:gd name="T24" fmla="*/ 205 w 219"/>
              <a:gd name="T25" fmla="*/ 16 h 132"/>
              <a:gd name="T26" fmla="*/ 209 w 219"/>
              <a:gd name="T27" fmla="*/ 21 h 132"/>
              <a:gd name="T28" fmla="*/ 210 w 219"/>
              <a:gd name="T29" fmla="*/ 26 h 132"/>
              <a:gd name="T30" fmla="*/ 212 w 219"/>
              <a:gd name="T31" fmla="*/ 33 h 132"/>
              <a:gd name="T32" fmla="*/ 214 w 219"/>
              <a:gd name="T33" fmla="*/ 38 h 132"/>
              <a:gd name="T34" fmla="*/ 215 w 219"/>
              <a:gd name="T35" fmla="*/ 44 h 132"/>
              <a:gd name="T36" fmla="*/ 219 w 219"/>
              <a:gd name="T37" fmla="*/ 43 h 132"/>
              <a:gd name="T38" fmla="*/ 0 w 219"/>
              <a:gd name="T39" fmla="*/ 93 h 132"/>
              <a:gd name="T40" fmla="*/ 0 w 219"/>
              <a:gd name="T41" fmla="*/ 97 h 132"/>
              <a:gd name="T42" fmla="*/ 2 w 219"/>
              <a:gd name="T43" fmla="*/ 102 h 132"/>
              <a:gd name="T44" fmla="*/ 5 w 219"/>
              <a:gd name="T45" fmla="*/ 107 h 132"/>
              <a:gd name="T46" fmla="*/ 7 w 219"/>
              <a:gd name="T47" fmla="*/ 114 h 132"/>
              <a:gd name="T48" fmla="*/ 8 w 219"/>
              <a:gd name="T49" fmla="*/ 119 h 132"/>
              <a:gd name="T50" fmla="*/ 12 w 219"/>
              <a:gd name="T51" fmla="*/ 124 h 132"/>
              <a:gd name="T52" fmla="*/ 15 w 219"/>
              <a:gd name="T53" fmla="*/ 127 h 132"/>
              <a:gd name="T54" fmla="*/ 18 w 219"/>
              <a:gd name="T55" fmla="*/ 132 h 132"/>
              <a:gd name="T56" fmla="*/ 22 w 219"/>
              <a:gd name="T57" fmla="*/ 131 h 132"/>
              <a:gd name="T58" fmla="*/ 18 w 219"/>
              <a:gd name="T59" fmla="*/ 127 h 132"/>
              <a:gd name="T60" fmla="*/ 15 w 219"/>
              <a:gd name="T61" fmla="*/ 122 h 132"/>
              <a:gd name="T62" fmla="*/ 12 w 219"/>
              <a:gd name="T63" fmla="*/ 117 h 132"/>
              <a:gd name="T64" fmla="*/ 10 w 219"/>
              <a:gd name="T65" fmla="*/ 112 h 132"/>
              <a:gd name="T66" fmla="*/ 7 w 219"/>
              <a:gd name="T67" fmla="*/ 107 h 132"/>
              <a:gd name="T68" fmla="*/ 5 w 219"/>
              <a:gd name="T69" fmla="*/ 101 h 132"/>
              <a:gd name="T70" fmla="*/ 3 w 219"/>
              <a:gd name="T71" fmla="*/ 96 h 132"/>
              <a:gd name="T72" fmla="*/ 2 w 219"/>
              <a:gd name="T73" fmla="*/ 91 h 132"/>
              <a:gd name="T74" fmla="*/ 0 w 219"/>
              <a:gd name="T75" fmla="*/ 93 h 1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9" h="132">
                <a:moveTo>
                  <a:pt x="219" y="43"/>
                </a:moveTo>
                <a:lnTo>
                  <a:pt x="217" y="36"/>
                </a:lnTo>
                <a:lnTo>
                  <a:pt x="215" y="31"/>
                </a:lnTo>
                <a:lnTo>
                  <a:pt x="214" y="26"/>
                </a:lnTo>
                <a:lnTo>
                  <a:pt x="212" y="20"/>
                </a:lnTo>
                <a:lnTo>
                  <a:pt x="209" y="15"/>
                </a:lnTo>
                <a:lnTo>
                  <a:pt x="207" y="10"/>
                </a:lnTo>
                <a:lnTo>
                  <a:pt x="204" y="5"/>
                </a:lnTo>
                <a:lnTo>
                  <a:pt x="200" y="0"/>
                </a:lnTo>
                <a:lnTo>
                  <a:pt x="197" y="1"/>
                </a:lnTo>
                <a:lnTo>
                  <a:pt x="200" y="6"/>
                </a:lnTo>
                <a:lnTo>
                  <a:pt x="204" y="11"/>
                </a:lnTo>
                <a:lnTo>
                  <a:pt x="205" y="16"/>
                </a:lnTo>
                <a:lnTo>
                  <a:pt x="209" y="21"/>
                </a:lnTo>
                <a:lnTo>
                  <a:pt x="210" y="26"/>
                </a:lnTo>
                <a:lnTo>
                  <a:pt x="212" y="33"/>
                </a:lnTo>
                <a:lnTo>
                  <a:pt x="214" y="38"/>
                </a:lnTo>
                <a:lnTo>
                  <a:pt x="215" y="44"/>
                </a:lnTo>
                <a:lnTo>
                  <a:pt x="219" y="43"/>
                </a:lnTo>
                <a:close/>
                <a:moveTo>
                  <a:pt x="0" y="93"/>
                </a:moveTo>
                <a:lnTo>
                  <a:pt x="0" y="97"/>
                </a:lnTo>
                <a:lnTo>
                  <a:pt x="2" y="102"/>
                </a:lnTo>
                <a:lnTo>
                  <a:pt x="5" y="107"/>
                </a:lnTo>
                <a:lnTo>
                  <a:pt x="7" y="114"/>
                </a:lnTo>
                <a:lnTo>
                  <a:pt x="8" y="119"/>
                </a:lnTo>
                <a:lnTo>
                  <a:pt x="12" y="124"/>
                </a:lnTo>
                <a:lnTo>
                  <a:pt x="15" y="127"/>
                </a:lnTo>
                <a:lnTo>
                  <a:pt x="18" y="132"/>
                </a:lnTo>
                <a:lnTo>
                  <a:pt x="22" y="131"/>
                </a:lnTo>
                <a:lnTo>
                  <a:pt x="18" y="127"/>
                </a:lnTo>
                <a:lnTo>
                  <a:pt x="15" y="122"/>
                </a:lnTo>
                <a:lnTo>
                  <a:pt x="12" y="117"/>
                </a:lnTo>
                <a:lnTo>
                  <a:pt x="10" y="112"/>
                </a:lnTo>
                <a:lnTo>
                  <a:pt x="7" y="107"/>
                </a:lnTo>
                <a:lnTo>
                  <a:pt x="5" y="101"/>
                </a:lnTo>
                <a:lnTo>
                  <a:pt x="3" y="96"/>
                </a:lnTo>
                <a:lnTo>
                  <a:pt x="2" y="91"/>
                </a:lnTo>
                <a:lnTo>
                  <a:pt x="0" y="93"/>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40" name="Freeform 2145">
            <a:extLst>
              <a:ext uri="{FF2B5EF4-FFF2-40B4-BE49-F238E27FC236}">
                <a16:creationId xmlns:a16="http://schemas.microsoft.com/office/drawing/2014/main" id="{542FD212-740A-44C6-9C82-2BC7753AC3BA}"/>
              </a:ext>
            </a:extLst>
          </p:cNvPr>
          <p:cNvSpPr>
            <a:spLocks noEditPoints="1"/>
          </p:cNvSpPr>
          <p:nvPr/>
        </p:nvSpPr>
        <p:spPr bwMode="auto">
          <a:xfrm>
            <a:off x="3346450" y="2497138"/>
            <a:ext cx="344488" cy="207963"/>
          </a:xfrm>
          <a:custGeom>
            <a:avLst/>
            <a:gdLst>
              <a:gd name="T0" fmla="*/ 217 w 217"/>
              <a:gd name="T1" fmla="*/ 42 h 131"/>
              <a:gd name="T2" fmla="*/ 215 w 217"/>
              <a:gd name="T3" fmla="*/ 37 h 131"/>
              <a:gd name="T4" fmla="*/ 214 w 217"/>
              <a:gd name="T5" fmla="*/ 30 h 131"/>
              <a:gd name="T6" fmla="*/ 212 w 217"/>
              <a:gd name="T7" fmla="*/ 25 h 131"/>
              <a:gd name="T8" fmla="*/ 210 w 217"/>
              <a:gd name="T9" fmla="*/ 20 h 131"/>
              <a:gd name="T10" fmla="*/ 207 w 217"/>
              <a:gd name="T11" fmla="*/ 15 h 131"/>
              <a:gd name="T12" fmla="*/ 205 w 217"/>
              <a:gd name="T13" fmla="*/ 10 h 131"/>
              <a:gd name="T14" fmla="*/ 202 w 217"/>
              <a:gd name="T15" fmla="*/ 5 h 131"/>
              <a:gd name="T16" fmla="*/ 199 w 217"/>
              <a:gd name="T17" fmla="*/ 0 h 131"/>
              <a:gd name="T18" fmla="*/ 195 w 217"/>
              <a:gd name="T19" fmla="*/ 2 h 131"/>
              <a:gd name="T20" fmla="*/ 199 w 217"/>
              <a:gd name="T21" fmla="*/ 7 h 131"/>
              <a:gd name="T22" fmla="*/ 202 w 217"/>
              <a:gd name="T23" fmla="*/ 10 h 131"/>
              <a:gd name="T24" fmla="*/ 205 w 217"/>
              <a:gd name="T25" fmla="*/ 17 h 131"/>
              <a:gd name="T26" fmla="*/ 207 w 217"/>
              <a:gd name="T27" fmla="*/ 22 h 131"/>
              <a:gd name="T28" fmla="*/ 209 w 217"/>
              <a:gd name="T29" fmla="*/ 27 h 131"/>
              <a:gd name="T30" fmla="*/ 212 w 217"/>
              <a:gd name="T31" fmla="*/ 32 h 131"/>
              <a:gd name="T32" fmla="*/ 214 w 217"/>
              <a:gd name="T33" fmla="*/ 39 h 131"/>
              <a:gd name="T34" fmla="*/ 214 w 217"/>
              <a:gd name="T35" fmla="*/ 43 h 131"/>
              <a:gd name="T36" fmla="*/ 217 w 217"/>
              <a:gd name="T37" fmla="*/ 42 h 131"/>
              <a:gd name="T38" fmla="*/ 0 w 217"/>
              <a:gd name="T39" fmla="*/ 90 h 131"/>
              <a:gd name="T40" fmla="*/ 2 w 217"/>
              <a:gd name="T41" fmla="*/ 96 h 131"/>
              <a:gd name="T42" fmla="*/ 3 w 217"/>
              <a:gd name="T43" fmla="*/ 101 h 131"/>
              <a:gd name="T44" fmla="*/ 7 w 217"/>
              <a:gd name="T45" fmla="*/ 106 h 131"/>
              <a:gd name="T46" fmla="*/ 8 w 217"/>
              <a:gd name="T47" fmla="*/ 111 h 131"/>
              <a:gd name="T48" fmla="*/ 10 w 217"/>
              <a:gd name="T49" fmla="*/ 116 h 131"/>
              <a:gd name="T50" fmla="*/ 13 w 217"/>
              <a:gd name="T51" fmla="*/ 121 h 131"/>
              <a:gd name="T52" fmla="*/ 17 w 217"/>
              <a:gd name="T53" fmla="*/ 126 h 131"/>
              <a:gd name="T54" fmla="*/ 20 w 217"/>
              <a:gd name="T55" fmla="*/ 131 h 131"/>
              <a:gd name="T56" fmla="*/ 23 w 217"/>
              <a:gd name="T57" fmla="*/ 130 h 131"/>
              <a:gd name="T58" fmla="*/ 20 w 217"/>
              <a:gd name="T59" fmla="*/ 125 h 131"/>
              <a:gd name="T60" fmla="*/ 17 w 217"/>
              <a:gd name="T61" fmla="*/ 120 h 131"/>
              <a:gd name="T62" fmla="*/ 13 w 217"/>
              <a:gd name="T63" fmla="*/ 115 h 131"/>
              <a:gd name="T64" fmla="*/ 12 w 217"/>
              <a:gd name="T65" fmla="*/ 110 h 131"/>
              <a:gd name="T66" fmla="*/ 8 w 217"/>
              <a:gd name="T67" fmla="*/ 105 h 131"/>
              <a:gd name="T68" fmla="*/ 7 w 217"/>
              <a:gd name="T69" fmla="*/ 100 h 131"/>
              <a:gd name="T70" fmla="*/ 5 w 217"/>
              <a:gd name="T71" fmla="*/ 95 h 131"/>
              <a:gd name="T72" fmla="*/ 3 w 217"/>
              <a:gd name="T73" fmla="*/ 88 h 131"/>
              <a:gd name="T74" fmla="*/ 0 w 217"/>
              <a:gd name="T75" fmla="*/ 90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7" h="131">
                <a:moveTo>
                  <a:pt x="217" y="42"/>
                </a:moveTo>
                <a:lnTo>
                  <a:pt x="215" y="37"/>
                </a:lnTo>
                <a:lnTo>
                  <a:pt x="214" y="30"/>
                </a:lnTo>
                <a:lnTo>
                  <a:pt x="212" y="25"/>
                </a:lnTo>
                <a:lnTo>
                  <a:pt x="210" y="20"/>
                </a:lnTo>
                <a:lnTo>
                  <a:pt x="207" y="15"/>
                </a:lnTo>
                <a:lnTo>
                  <a:pt x="205" y="10"/>
                </a:lnTo>
                <a:lnTo>
                  <a:pt x="202" y="5"/>
                </a:lnTo>
                <a:lnTo>
                  <a:pt x="199" y="0"/>
                </a:lnTo>
                <a:lnTo>
                  <a:pt x="195" y="2"/>
                </a:lnTo>
                <a:lnTo>
                  <a:pt x="199" y="7"/>
                </a:lnTo>
                <a:lnTo>
                  <a:pt x="202" y="10"/>
                </a:lnTo>
                <a:lnTo>
                  <a:pt x="205" y="17"/>
                </a:lnTo>
                <a:lnTo>
                  <a:pt x="207" y="22"/>
                </a:lnTo>
                <a:lnTo>
                  <a:pt x="209" y="27"/>
                </a:lnTo>
                <a:lnTo>
                  <a:pt x="212" y="32"/>
                </a:lnTo>
                <a:lnTo>
                  <a:pt x="214" y="39"/>
                </a:lnTo>
                <a:lnTo>
                  <a:pt x="214" y="43"/>
                </a:lnTo>
                <a:lnTo>
                  <a:pt x="217" y="42"/>
                </a:lnTo>
                <a:close/>
                <a:moveTo>
                  <a:pt x="0" y="90"/>
                </a:moveTo>
                <a:lnTo>
                  <a:pt x="2" y="96"/>
                </a:lnTo>
                <a:lnTo>
                  <a:pt x="3" y="101"/>
                </a:lnTo>
                <a:lnTo>
                  <a:pt x="7" y="106"/>
                </a:lnTo>
                <a:lnTo>
                  <a:pt x="8" y="111"/>
                </a:lnTo>
                <a:lnTo>
                  <a:pt x="10" y="116"/>
                </a:lnTo>
                <a:lnTo>
                  <a:pt x="13" y="121"/>
                </a:lnTo>
                <a:lnTo>
                  <a:pt x="17" y="126"/>
                </a:lnTo>
                <a:lnTo>
                  <a:pt x="20" y="131"/>
                </a:lnTo>
                <a:lnTo>
                  <a:pt x="23" y="130"/>
                </a:lnTo>
                <a:lnTo>
                  <a:pt x="20" y="125"/>
                </a:lnTo>
                <a:lnTo>
                  <a:pt x="17" y="120"/>
                </a:lnTo>
                <a:lnTo>
                  <a:pt x="13" y="115"/>
                </a:lnTo>
                <a:lnTo>
                  <a:pt x="12" y="110"/>
                </a:lnTo>
                <a:lnTo>
                  <a:pt x="8" y="105"/>
                </a:lnTo>
                <a:lnTo>
                  <a:pt x="7" y="100"/>
                </a:lnTo>
                <a:lnTo>
                  <a:pt x="5" y="95"/>
                </a:lnTo>
                <a:lnTo>
                  <a:pt x="3" y="88"/>
                </a:lnTo>
                <a:lnTo>
                  <a:pt x="0" y="90"/>
                </a:lnTo>
                <a:close/>
              </a:path>
            </a:pathLst>
          </a:custGeom>
          <a:solidFill>
            <a:srgbClr val="B9E0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41" name="Freeform 2146">
            <a:extLst>
              <a:ext uri="{FF2B5EF4-FFF2-40B4-BE49-F238E27FC236}">
                <a16:creationId xmlns:a16="http://schemas.microsoft.com/office/drawing/2014/main" id="{C401BFFC-A51C-5661-9597-54C0DD3263CF}"/>
              </a:ext>
            </a:extLst>
          </p:cNvPr>
          <p:cNvSpPr>
            <a:spLocks noEditPoints="1"/>
          </p:cNvSpPr>
          <p:nvPr/>
        </p:nvSpPr>
        <p:spPr bwMode="auto">
          <a:xfrm>
            <a:off x="3349625" y="2497138"/>
            <a:ext cx="338138" cy="206375"/>
          </a:xfrm>
          <a:custGeom>
            <a:avLst/>
            <a:gdLst>
              <a:gd name="T0" fmla="*/ 213 w 213"/>
              <a:gd name="T1" fmla="*/ 43 h 130"/>
              <a:gd name="T2" fmla="*/ 212 w 213"/>
              <a:gd name="T3" fmla="*/ 37 h 130"/>
              <a:gd name="T4" fmla="*/ 210 w 213"/>
              <a:gd name="T5" fmla="*/ 32 h 130"/>
              <a:gd name="T6" fmla="*/ 208 w 213"/>
              <a:gd name="T7" fmla="*/ 25 h 130"/>
              <a:gd name="T8" fmla="*/ 207 w 213"/>
              <a:gd name="T9" fmla="*/ 20 h 130"/>
              <a:gd name="T10" fmla="*/ 203 w 213"/>
              <a:gd name="T11" fmla="*/ 15 h 130"/>
              <a:gd name="T12" fmla="*/ 202 w 213"/>
              <a:gd name="T13" fmla="*/ 10 h 130"/>
              <a:gd name="T14" fmla="*/ 198 w 213"/>
              <a:gd name="T15" fmla="*/ 5 h 130"/>
              <a:gd name="T16" fmla="*/ 195 w 213"/>
              <a:gd name="T17" fmla="*/ 0 h 130"/>
              <a:gd name="T18" fmla="*/ 192 w 213"/>
              <a:gd name="T19" fmla="*/ 2 h 130"/>
              <a:gd name="T20" fmla="*/ 195 w 213"/>
              <a:gd name="T21" fmla="*/ 7 h 130"/>
              <a:gd name="T22" fmla="*/ 198 w 213"/>
              <a:gd name="T23" fmla="*/ 12 h 130"/>
              <a:gd name="T24" fmla="*/ 202 w 213"/>
              <a:gd name="T25" fmla="*/ 17 h 130"/>
              <a:gd name="T26" fmla="*/ 203 w 213"/>
              <a:gd name="T27" fmla="*/ 22 h 130"/>
              <a:gd name="T28" fmla="*/ 205 w 213"/>
              <a:gd name="T29" fmla="*/ 27 h 130"/>
              <a:gd name="T30" fmla="*/ 208 w 213"/>
              <a:gd name="T31" fmla="*/ 34 h 130"/>
              <a:gd name="T32" fmla="*/ 210 w 213"/>
              <a:gd name="T33" fmla="*/ 39 h 130"/>
              <a:gd name="T34" fmla="*/ 210 w 213"/>
              <a:gd name="T35" fmla="*/ 43 h 130"/>
              <a:gd name="T36" fmla="*/ 213 w 213"/>
              <a:gd name="T37" fmla="*/ 43 h 130"/>
              <a:gd name="T38" fmla="*/ 0 w 213"/>
              <a:gd name="T39" fmla="*/ 90 h 130"/>
              <a:gd name="T40" fmla="*/ 1 w 213"/>
              <a:gd name="T41" fmla="*/ 95 h 130"/>
              <a:gd name="T42" fmla="*/ 3 w 213"/>
              <a:gd name="T43" fmla="*/ 100 h 130"/>
              <a:gd name="T44" fmla="*/ 5 w 213"/>
              <a:gd name="T45" fmla="*/ 106 h 130"/>
              <a:gd name="T46" fmla="*/ 8 w 213"/>
              <a:gd name="T47" fmla="*/ 111 h 130"/>
              <a:gd name="T48" fmla="*/ 10 w 213"/>
              <a:gd name="T49" fmla="*/ 116 h 130"/>
              <a:gd name="T50" fmla="*/ 13 w 213"/>
              <a:gd name="T51" fmla="*/ 121 h 130"/>
              <a:gd name="T52" fmla="*/ 16 w 213"/>
              <a:gd name="T53" fmla="*/ 126 h 130"/>
              <a:gd name="T54" fmla="*/ 20 w 213"/>
              <a:gd name="T55" fmla="*/ 130 h 130"/>
              <a:gd name="T56" fmla="*/ 23 w 213"/>
              <a:gd name="T57" fmla="*/ 130 h 130"/>
              <a:gd name="T58" fmla="*/ 20 w 213"/>
              <a:gd name="T59" fmla="*/ 125 h 130"/>
              <a:gd name="T60" fmla="*/ 16 w 213"/>
              <a:gd name="T61" fmla="*/ 120 h 130"/>
              <a:gd name="T62" fmla="*/ 13 w 213"/>
              <a:gd name="T63" fmla="*/ 115 h 130"/>
              <a:gd name="T64" fmla="*/ 11 w 213"/>
              <a:gd name="T65" fmla="*/ 110 h 130"/>
              <a:gd name="T66" fmla="*/ 8 w 213"/>
              <a:gd name="T67" fmla="*/ 105 h 130"/>
              <a:gd name="T68" fmla="*/ 6 w 213"/>
              <a:gd name="T69" fmla="*/ 100 h 130"/>
              <a:gd name="T70" fmla="*/ 5 w 213"/>
              <a:gd name="T71" fmla="*/ 93 h 130"/>
              <a:gd name="T72" fmla="*/ 3 w 213"/>
              <a:gd name="T73" fmla="*/ 88 h 130"/>
              <a:gd name="T74" fmla="*/ 0 w 213"/>
              <a:gd name="T75" fmla="*/ 90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3" h="130">
                <a:moveTo>
                  <a:pt x="213" y="43"/>
                </a:moveTo>
                <a:lnTo>
                  <a:pt x="212" y="37"/>
                </a:lnTo>
                <a:lnTo>
                  <a:pt x="210" y="32"/>
                </a:lnTo>
                <a:lnTo>
                  <a:pt x="208" y="25"/>
                </a:lnTo>
                <a:lnTo>
                  <a:pt x="207" y="20"/>
                </a:lnTo>
                <a:lnTo>
                  <a:pt x="203" y="15"/>
                </a:lnTo>
                <a:lnTo>
                  <a:pt x="202" y="10"/>
                </a:lnTo>
                <a:lnTo>
                  <a:pt x="198" y="5"/>
                </a:lnTo>
                <a:lnTo>
                  <a:pt x="195" y="0"/>
                </a:lnTo>
                <a:lnTo>
                  <a:pt x="192" y="2"/>
                </a:lnTo>
                <a:lnTo>
                  <a:pt x="195" y="7"/>
                </a:lnTo>
                <a:lnTo>
                  <a:pt x="198" y="12"/>
                </a:lnTo>
                <a:lnTo>
                  <a:pt x="202" y="17"/>
                </a:lnTo>
                <a:lnTo>
                  <a:pt x="203" y="22"/>
                </a:lnTo>
                <a:lnTo>
                  <a:pt x="205" y="27"/>
                </a:lnTo>
                <a:lnTo>
                  <a:pt x="208" y="34"/>
                </a:lnTo>
                <a:lnTo>
                  <a:pt x="210" y="39"/>
                </a:lnTo>
                <a:lnTo>
                  <a:pt x="210" y="43"/>
                </a:lnTo>
                <a:lnTo>
                  <a:pt x="213" y="43"/>
                </a:lnTo>
                <a:close/>
                <a:moveTo>
                  <a:pt x="0" y="90"/>
                </a:moveTo>
                <a:lnTo>
                  <a:pt x="1" y="95"/>
                </a:lnTo>
                <a:lnTo>
                  <a:pt x="3" y="100"/>
                </a:lnTo>
                <a:lnTo>
                  <a:pt x="5" y="106"/>
                </a:lnTo>
                <a:lnTo>
                  <a:pt x="8" y="111"/>
                </a:lnTo>
                <a:lnTo>
                  <a:pt x="10" y="116"/>
                </a:lnTo>
                <a:lnTo>
                  <a:pt x="13" y="121"/>
                </a:lnTo>
                <a:lnTo>
                  <a:pt x="16" y="126"/>
                </a:lnTo>
                <a:lnTo>
                  <a:pt x="20" y="130"/>
                </a:lnTo>
                <a:lnTo>
                  <a:pt x="23" y="130"/>
                </a:lnTo>
                <a:lnTo>
                  <a:pt x="20" y="125"/>
                </a:lnTo>
                <a:lnTo>
                  <a:pt x="16" y="120"/>
                </a:lnTo>
                <a:lnTo>
                  <a:pt x="13" y="115"/>
                </a:lnTo>
                <a:lnTo>
                  <a:pt x="11" y="110"/>
                </a:lnTo>
                <a:lnTo>
                  <a:pt x="8" y="105"/>
                </a:lnTo>
                <a:lnTo>
                  <a:pt x="6" y="100"/>
                </a:lnTo>
                <a:lnTo>
                  <a:pt x="5" y="93"/>
                </a:lnTo>
                <a:lnTo>
                  <a:pt x="3" y="88"/>
                </a:lnTo>
                <a:lnTo>
                  <a:pt x="0" y="90"/>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42" name="Freeform 2147">
            <a:extLst>
              <a:ext uri="{FF2B5EF4-FFF2-40B4-BE49-F238E27FC236}">
                <a16:creationId xmlns:a16="http://schemas.microsoft.com/office/drawing/2014/main" id="{CF95DDC0-C1BC-3953-1C71-74D9A78145E1}"/>
              </a:ext>
            </a:extLst>
          </p:cNvPr>
          <p:cNvSpPr>
            <a:spLocks noEditPoints="1"/>
          </p:cNvSpPr>
          <p:nvPr/>
        </p:nvSpPr>
        <p:spPr bwMode="auto">
          <a:xfrm>
            <a:off x="3351213" y="2500313"/>
            <a:ext cx="334963" cy="203200"/>
          </a:xfrm>
          <a:custGeom>
            <a:avLst/>
            <a:gdLst>
              <a:gd name="T0" fmla="*/ 211 w 211"/>
              <a:gd name="T1" fmla="*/ 41 h 128"/>
              <a:gd name="T2" fmla="*/ 211 w 211"/>
              <a:gd name="T3" fmla="*/ 37 h 128"/>
              <a:gd name="T4" fmla="*/ 209 w 211"/>
              <a:gd name="T5" fmla="*/ 30 h 128"/>
              <a:gd name="T6" fmla="*/ 206 w 211"/>
              <a:gd name="T7" fmla="*/ 25 h 128"/>
              <a:gd name="T8" fmla="*/ 204 w 211"/>
              <a:gd name="T9" fmla="*/ 20 h 128"/>
              <a:gd name="T10" fmla="*/ 202 w 211"/>
              <a:gd name="T11" fmla="*/ 15 h 128"/>
              <a:gd name="T12" fmla="*/ 199 w 211"/>
              <a:gd name="T13" fmla="*/ 8 h 128"/>
              <a:gd name="T14" fmla="*/ 196 w 211"/>
              <a:gd name="T15" fmla="*/ 5 h 128"/>
              <a:gd name="T16" fmla="*/ 192 w 211"/>
              <a:gd name="T17" fmla="*/ 0 h 128"/>
              <a:gd name="T18" fmla="*/ 189 w 211"/>
              <a:gd name="T19" fmla="*/ 2 h 128"/>
              <a:gd name="T20" fmla="*/ 192 w 211"/>
              <a:gd name="T21" fmla="*/ 5 h 128"/>
              <a:gd name="T22" fmla="*/ 196 w 211"/>
              <a:gd name="T23" fmla="*/ 10 h 128"/>
              <a:gd name="T24" fmla="*/ 199 w 211"/>
              <a:gd name="T25" fmla="*/ 15 h 128"/>
              <a:gd name="T26" fmla="*/ 201 w 211"/>
              <a:gd name="T27" fmla="*/ 20 h 128"/>
              <a:gd name="T28" fmla="*/ 204 w 211"/>
              <a:gd name="T29" fmla="*/ 27 h 128"/>
              <a:gd name="T30" fmla="*/ 206 w 211"/>
              <a:gd name="T31" fmla="*/ 32 h 128"/>
              <a:gd name="T32" fmla="*/ 207 w 211"/>
              <a:gd name="T33" fmla="*/ 37 h 128"/>
              <a:gd name="T34" fmla="*/ 207 w 211"/>
              <a:gd name="T35" fmla="*/ 43 h 128"/>
              <a:gd name="T36" fmla="*/ 211 w 211"/>
              <a:gd name="T37" fmla="*/ 41 h 128"/>
              <a:gd name="T38" fmla="*/ 0 w 211"/>
              <a:gd name="T39" fmla="*/ 86 h 128"/>
              <a:gd name="T40" fmla="*/ 2 w 211"/>
              <a:gd name="T41" fmla="*/ 93 h 128"/>
              <a:gd name="T42" fmla="*/ 4 w 211"/>
              <a:gd name="T43" fmla="*/ 98 h 128"/>
              <a:gd name="T44" fmla="*/ 5 w 211"/>
              <a:gd name="T45" fmla="*/ 103 h 128"/>
              <a:gd name="T46" fmla="*/ 9 w 211"/>
              <a:gd name="T47" fmla="*/ 108 h 128"/>
              <a:gd name="T48" fmla="*/ 10 w 211"/>
              <a:gd name="T49" fmla="*/ 113 h 128"/>
              <a:gd name="T50" fmla="*/ 14 w 211"/>
              <a:gd name="T51" fmla="*/ 118 h 128"/>
              <a:gd name="T52" fmla="*/ 17 w 211"/>
              <a:gd name="T53" fmla="*/ 123 h 128"/>
              <a:gd name="T54" fmla="*/ 20 w 211"/>
              <a:gd name="T55" fmla="*/ 128 h 128"/>
              <a:gd name="T56" fmla="*/ 24 w 211"/>
              <a:gd name="T57" fmla="*/ 126 h 128"/>
              <a:gd name="T58" fmla="*/ 20 w 211"/>
              <a:gd name="T59" fmla="*/ 121 h 128"/>
              <a:gd name="T60" fmla="*/ 17 w 211"/>
              <a:gd name="T61" fmla="*/ 118 h 128"/>
              <a:gd name="T62" fmla="*/ 14 w 211"/>
              <a:gd name="T63" fmla="*/ 113 h 128"/>
              <a:gd name="T64" fmla="*/ 12 w 211"/>
              <a:gd name="T65" fmla="*/ 108 h 128"/>
              <a:gd name="T66" fmla="*/ 9 w 211"/>
              <a:gd name="T67" fmla="*/ 101 h 128"/>
              <a:gd name="T68" fmla="*/ 7 w 211"/>
              <a:gd name="T69" fmla="*/ 96 h 128"/>
              <a:gd name="T70" fmla="*/ 5 w 211"/>
              <a:gd name="T71" fmla="*/ 91 h 128"/>
              <a:gd name="T72" fmla="*/ 4 w 211"/>
              <a:gd name="T73" fmla="*/ 85 h 128"/>
              <a:gd name="T74" fmla="*/ 0 w 211"/>
              <a:gd name="T75" fmla="*/ 86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1" h="128">
                <a:moveTo>
                  <a:pt x="211" y="41"/>
                </a:moveTo>
                <a:lnTo>
                  <a:pt x="211" y="37"/>
                </a:lnTo>
                <a:lnTo>
                  <a:pt x="209" y="30"/>
                </a:lnTo>
                <a:lnTo>
                  <a:pt x="206" y="25"/>
                </a:lnTo>
                <a:lnTo>
                  <a:pt x="204" y="20"/>
                </a:lnTo>
                <a:lnTo>
                  <a:pt x="202" y="15"/>
                </a:lnTo>
                <a:lnTo>
                  <a:pt x="199" y="8"/>
                </a:lnTo>
                <a:lnTo>
                  <a:pt x="196" y="5"/>
                </a:lnTo>
                <a:lnTo>
                  <a:pt x="192" y="0"/>
                </a:lnTo>
                <a:lnTo>
                  <a:pt x="189" y="2"/>
                </a:lnTo>
                <a:lnTo>
                  <a:pt x="192" y="5"/>
                </a:lnTo>
                <a:lnTo>
                  <a:pt x="196" y="10"/>
                </a:lnTo>
                <a:lnTo>
                  <a:pt x="199" y="15"/>
                </a:lnTo>
                <a:lnTo>
                  <a:pt x="201" y="20"/>
                </a:lnTo>
                <a:lnTo>
                  <a:pt x="204" y="27"/>
                </a:lnTo>
                <a:lnTo>
                  <a:pt x="206" y="32"/>
                </a:lnTo>
                <a:lnTo>
                  <a:pt x="207" y="37"/>
                </a:lnTo>
                <a:lnTo>
                  <a:pt x="207" y="43"/>
                </a:lnTo>
                <a:lnTo>
                  <a:pt x="211" y="41"/>
                </a:lnTo>
                <a:close/>
                <a:moveTo>
                  <a:pt x="0" y="86"/>
                </a:moveTo>
                <a:lnTo>
                  <a:pt x="2" y="93"/>
                </a:lnTo>
                <a:lnTo>
                  <a:pt x="4" y="98"/>
                </a:lnTo>
                <a:lnTo>
                  <a:pt x="5" y="103"/>
                </a:lnTo>
                <a:lnTo>
                  <a:pt x="9" y="108"/>
                </a:lnTo>
                <a:lnTo>
                  <a:pt x="10" y="113"/>
                </a:lnTo>
                <a:lnTo>
                  <a:pt x="14" y="118"/>
                </a:lnTo>
                <a:lnTo>
                  <a:pt x="17" y="123"/>
                </a:lnTo>
                <a:lnTo>
                  <a:pt x="20" y="128"/>
                </a:lnTo>
                <a:lnTo>
                  <a:pt x="24" y="126"/>
                </a:lnTo>
                <a:lnTo>
                  <a:pt x="20" y="121"/>
                </a:lnTo>
                <a:lnTo>
                  <a:pt x="17" y="118"/>
                </a:lnTo>
                <a:lnTo>
                  <a:pt x="14" y="113"/>
                </a:lnTo>
                <a:lnTo>
                  <a:pt x="12" y="108"/>
                </a:lnTo>
                <a:lnTo>
                  <a:pt x="9" y="101"/>
                </a:lnTo>
                <a:lnTo>
                  <a:pt x="7" y="96"/>
                </a:lnTo>
                <a:lnTo>
                  <a:pt x="5" y="91"/>
                </a:lnTo>
                <a:lnTo>
                  <a:pt x="4" y="85"/>
                </a:lnTo>
                <a:lnTo>
                  <a:pt x="0" y="86"/>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43" name="Freeform 2148">
            <a:extLst>
              <a:ext uri="{FF2B5EF4-FFF2-40B4-BE49-F238E27FC236}">
                <a16:creationId xmlns:a16="http://schemas.microsoft.com/office/drawing/2014/main" id="{F8AE94C0-470F-9904-836E-3B3B4DD13F55}"/>
              </a:ext>
            </a:extLst>
          </p:cNvPr>
          <p:cNvSpPr>
            <a:spLocks noEditPoints="1"/>
          </p:cNvSpPr>
          <p:nvPr/>
        </p:nvSpPr>
        <p:spPr bwMode="auto">
          <a:xfrm>
            <a:off x="3354388" y="2500313"/>
            <a:ext cx="328613" cy="203200"/>
          </a:xfrm>
          <a:custGeom>
            <a:avLst/>
            <a:gdLst>
              <a:gd name="T0" fmla="*/ 207 w 207"/>
              <a:gd name="T1" fmla="*/ 41 h 128"/>
              <a:gd name="T2" fmla="*/ 207 w 207"/>
              <a:gd name="T3" fmla="*/ 37 h 128"/>
              <a:gd name="T4" fmla="*/ 205 w 207"/>
              <a:gd name="T5" fmla="*/ 32 h 128"/>
              <a:gd name="T6" fmla="*/ 202 w 207"/>
              <a:gd name="T7" fmla="*/ 25 h 128"/>
              <a:gd name="T8" fmla="*/ 200 w 207"/>
              <a:gd name="T9" fmla="*/ 20 h 128"/>
              <a:gd name="T10" fmla="*/ 199 w 207"/>
              <a:gd name="T11" fmla="*/ 15 h 128"/>
              <a:gd name="T12" fmla="*/ 195 w 207"/>
              <a:gd name="T13" fmla="*/ 10 h 128"/>
              <a:gd name="T14" fmla="*/ 192 w 207"/>
              <a:gd name="T15" fmla="*/ 5 h 128"/>
              <a:gd name="T16" fmla="*/ 189 w 207"/>
              <a:gd name="T17" fmla="*/ 0 h 128"/>
              <a:gd name="T18" fmla="*/ 185 w 207"/>
              <a:gd name="T19" fmla="*/ 2 h 128"/>
              <a:gd name="T20" fmla="*/ 189 w 207"/>
              <a:gd name="T21" fmla="*/ 7 h 128"/>
              <a:gd name="T22" fmla="*/ 192 w 207"/>
              <a:gd name="T23" fmla="*/ 12 h 128"/>
              <a:gd name="T24" fmla="*/ 195 w 207"/>
              <a:gd name="T25" fmla="*/ 17 h 128"/>
              <a:gd name="T26" fmla="*/ 197 w 207"/>
              <a:gd name="T27" fmla="*/ 22 h 128"/>
              <a:gd name="T28" fmla="*/ 200 w 207"/>
              <a:gd name="T29" fmla="*/ 27 h 128"/>
              <a:gd name="T30" fmla="*/ 202 w 207"/>
              <a:gd name="T31" fmla="*/ 32 h 128"/>
              <a:gd name="T32" fmla="*/ 204 w 207"/>
              <a:gd name="T33" fmla="*/ 38 h 128"/>
              <a:gd name="T34" fmla="*/ 205 w 207"/>
              <a:gd name="T35" fmla="*/ 43 h 128"/>
              <a:gd name="T36" fmla="*/ 207 w 207"/>
              <a:gd name="T37" fmla="*/ 41 h 128"/>
              <a:gd name="T38" fmla="*/ 0 w 207"/>
              <a:gd name="T39" fmla="*/ 86 h 128"/>
              <a:gd name="T40" fmla="*/ 2 w 207"/>
              <a:gd name="T41" fmla="*/ 91 h 128"/>
              <a:gd name="T42" fmla="*/ 3 w 207"/>
              <a:gd name="T43" fmla="*/ 98 h 128"/>
              <a:gd name="T44" fmla="*/ 5 w 207"/>
              <a:gd name="T45" fmla="*/ 103 h 128"/>
              <a:gd name="T46" fmla="*/ 8 w 207"/>
              <a:gd name="T47" fmla="*/ 108 h 128"/>
              <a:gd name="T48" fmla="*/ 10 w 207"/>
              <a:gd name="T49" fmla="*/ 113 h 128"/>
              <a:gd name="T50" fmla="*/ 13 w 207"/>
              <a:gd name="T51" fmla="*/ 118 h 128"/>
              <a:gd name="T52" fmla="*/ 17 w 207"/>
              <a:gd name="T53" fmla="*/ 123 h 128"/>
              <a:gd name="T54" fmla="*/ 20 w 207"/>
              <a:gd name="T55" fmla="*/ 128 h 128"/>
              <a:gd name="T56" fmla="*/ 22 w 207"/>
              <a:gd name="T57" fmla="*/ 126 h 128"/>
              <a:gd name="T58" fmla="*/ 18 w 207"/>
              <a:gd name="T59" fmla="*/ 121 h 128"/>
              <a:gd name="T60" fmla="*/ 17 w 207"/>
              <a:gd name="T61" fmla="*/ 116 h 128"/>
              <a:gd name="T62" fmla="*/ 13 w 207"/>
              <a:gd name="T63" fmla="*/ 111 h 128"/>
              <a:gd name="T64" fmla="*/ 10 w 207"/>
              <a:gd name="T65" fmla="*/ 106 h 128"/>
              <a:gd name="T66" fmla="*/ 8 w 207"/>
              <a:gd name="T67" fmla="*/ 101 h 128"/>
              <a:gd name="T68" fmla="*/ 7 w 207"/>
              <a:gd name="T69" fmla="*/ 96 h 128"/>
              <a:gd name="T70" fmla="*/ 5 w 207"/>
              <a:gd name="T71" fmla="*/ 90 h 128"/>
              <a:gd name="T72" fmla="*/ 3 w 207"/>
              <a:gd name="T73" fmla="*/ 85 h 128"/>
              <a:gd name="T74" fmla="*/ 0 w 207"/>
              <a:gd name="T75" fmla="*/ 86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07" h="128">
                <a:moveTo>
                  <a:pt x="207" y="41"/>
                </a:moveTo>
                <a:lnTo>
                  <a:pt x="207" y="37"/>
                </a:lnTo>
                <a:lnTo>
                  <a:pt x="205" y="32"/>
                </a:lnTo>
                <a:lnTo>
                  <a:pt x="202" y="25"/>
                </a:lnTo>
                <a:lnTo>
                  <a:pt x="200" y="20"/>
                </a:lnTo>
                <a:lnTo>
                  <a:pt x="199" y="15"/>
                </a:lnTo>
                <a:lnTo>
                  <a:pt x="195" y="10"/>
                </a:lnTo>
                <a:lnTo>
                  <a:pt x="192" y="5"/>
                </a:lnTo>
                <a:lnTo>
                  <a:pt x="189" y="0"/>
                </a:lnTo>
                <a:lnTo>
                  <a:pt x="185" y="2"/>
                </a:lnTo>
                <a:lnTo>
                  <a:pt x="189" y="7"/>
                </a:lnTo>
                <a:lnTo>
                  <a:pt x="192" y="12"/>
                </a:lnTo>
                <a:lnTo>
                  <a:pt x="195" y="17"/>
                </a:lnTo>
                <a:lnTo>
                  <a:pt x="197" y="22"/>
                </a:lnTo>
                <a:lnTo>
                  <a:pt x="200" y="27"/>
                </a:lnTo>
                <a:lnTo>
                  <a:pt x="202" y="32"/>
                </a:lnTo>
                <a:lnTo>
                  <a:pt x="204" y="38"/>
                </a:lnTo>
                <a:lnTo>
                  <a:pt x="205" y="43"/>
                </a:lnTo>
                <a:lnTo>
                  <a:pt x="207" y="41"/>
                </a:lnTo>
                <a:close/>
                <a:moveTo>
                  <a:pt x="0" y="86"/>
                </a:moveTo>
                <a:lnTo>
                  <a:pt x="2" y="91"/>
                </a:lnTo>
                <a:lnTo>
                  <a:pt x="3" y="98"/>
                </a:lnTo>
                <a:lnTo>
                  <a:pt x="5" y="103"/>
                </a:lnTo>
                <a:lnTo>
                  <a:pt x="8" y="108"/>
                </a:lnTo>
                <a:lnTo>
                  <a:pt x="10" y="113"/>
                </a:lnTo>
                <a:lnTo>
                  <a:pt x="13" y="118"/>
                </a:lnTo>
                <a:lnTo>
                  <a:pt x="17" y="123"/>
                </a:lnTo>
                <a:lnTo>
                  <a:pt x="20" y="128"/>
                </a:lnTo>
                <a:lnTo>
                  <a:pt x="22" y="126"/>
                </a:lnTo>
                <a:lnTo>
                  <a:pt x="18" y="121"/>
                </a:lnTo>
                <a:lnTo>
                  <a:pt x="17" y="116"/>
                </a:lnTo>
                <a:lnTo>
                  <a:pt x="13" y="111"/>
                </a:lnTo>
                <a:lnTo>
                  <a:pt x="10" y="106"/>
                </a:lnTo>
                <a:lnTo>
                  <a:pt x="8" y="101"/>
                </a:lnTo>
                <a:lnTo>
                  <a:pt x="7" y="96"/>
                </a:lnTo>
                <a:lnTo>
                  <a:pt x="5" y="90"/>
                </a:lnTo>
                <a:lnTo>
                  <a:pt x="3" y="85"/>
                </a:lnTo>
                <a:lnTo>
                  <a:pt x="0" y="86"/>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44" name="Freeform 2149">
            <a:extLst>
              <a:ext uri="{FF2B5EF4-FFF2-40B4-BE49-F238E27FC236}">
                <a16:creationId xmlns:a16="http://schemas.microsoft.com/office/drawing/2014/main" id="{DD6FF3EF-6F7C-1CB7-8E5D-DF7CF0BF0953}"/>
              </a:ext>
            </a:extLst>
          </p:cNvPr>
          <p:cNvSpPr>
            <a:spLocks noEditPoints="1"/>
          </p:cNvSpPr>
          <p:nvPr/>
        </p:nvSpPr>
        <p:spPr bwMode="auto">
          <a:xfrm>
            <a:off x="3357563" y="2503488"/>
            <a:ext cx="322263" cy="196850"/>
          </a:xfrm>
          <a:custGeom>
            <a:avLst/>
            <a:gdLst>
              <a:gd name="T0" fmla="*/ 203 w 203"/>
              <a:gd name="T1" fmla="*/ 41 h 124"/>
              <a:gd name="T2" fmla="*/ 203 w 203"/>
              <a:gd name="T3" fmla="*/ 35 h 124"/>
              <a:gd name="T4" fmla="*/ 202 w 203"/>
              <a:gd name="T5" fmla="*/ 30 h 124"/>
              <a:gd name="T6" fmla="*/ 200 w 203"/>
              <a:gd name="T7" fmla="*/ 25 h 124"/>
              <a:gd name="T8" fmla="*/ 197 w 203"/>
              <a:gd name="T9" fmla="*/ 18 h 124"/>
              <a:gd name="T10" fmla="*/ 195 w 203"/>
              <a:gd name="T11" fmla="*/ 13 h 124"/>
              <a:gd name="T12" fmla="*/ 192 w 203"/>
              <a:gd name="T13" fmla="*/ 8 h 124"/>
              <a:gd name="T14" fmla="*/ 188 w 203"/>
              <a:gd name="T15" fmla="*/ 3 h 124"/>
              <a:gd name="T16" fmla="*/ 185 w 203"/>
              <a:gd name="T17" fmla="*/ 0 h 124"/>
              <a:gd name="T18" fmla="*/ 182 w 203"/>
              <a:gd name="T19" fmla="*/ 0 h 124"/>
              <a:gd name="T20" fmla="*/ 185 w 203"/>
              <a:gd name="T21" fmla="*/ 5 h 124"/>
              <a:gd name="T22" fmla="*/ 188 w 203"/>
              <a:gd name="T23" fmla="*/ 10 h 124"/>
              <a:gd name="T24" fmla="*/ 192 w 203"/>
              <a:gd name="T25" fmla="*/ 15 h 124"/>
              <a:gd name="T26" fmla="*/ 193 w 203"/>
              <a:gd name="T27" fmla="*/ 20 h 124"/>
              <a:gd name="T28" fmla="*/ 197 w 203"/>
              <a:gd name="T29" fmla="*/ 26 h 124"/>
              <a:gd name="T30" fmla="*/ 198 w 203"/>
              <a:gd name="T31" fmla="*/ 31 h 124"/>
              <a:gd name="T32" fmla="*/ 200 w 203"/>
              <a:gd name="T33" fmla="*/ 36 h 124"/>
              <a:gd name="T34" fmla="*/ 202 w 203"/>
              <a:gd name="T35" fmla="*/ 43 h 124"/>
              <a:gd name="T36" fmla="*/ 203 w 203"/>
              <a:gd name="T37" fmla="*/ 41 h 124"/>
              <a:gd name="T38" fmla="*/ 0 w 203"/>
              <a:gd name="T39" fmla="*/ 83 h 124"/>
              <a:gd name="T40" fmla="*/ 1 w 203"/>
              <a:gd name="T41" fmla="*/ 89 h 124"/>
              <a:gd name="T42" fmla="*/ 3 w 203"/>
              <a:gd name="T43" fmla="*/ 94 h 124"/>
              <a:gd name="T44" fmla="*/ 5 w 203"/>
              <a:gd name="T45" fmla="*/ 99 h 124"/>
              <a:gd name="T46" fmla="*/ 8 w 203"/>
              <a:gd name="T47" fmla="*/ 106 h 124"/>
              <a:gd name="T48" fmla="*/ 10 w 203"/>
              <a:gd name="T49" fmla="*/ 111 h 124"/>
              <a:gd name="T50" fmla="*/ 13 w 203"/>
              <a:gd name="T51" fmla="*/ 116 h 124"/>
              <a:gd name="T52" fmla="*/ 16 w 203"/>
              <a:gd name="T53" fmla="*/ 119 h 124"/>
              <a:gd name="T54" fmla="*/ 20 w 203"/>
              <a:gd name="T55" fmla="*/ 124 h 124"/>
              <a:gd name="T56" fmla="*/ 21 w 203"/>
              <a:gd name="T57" fmla="*/ 122 h 124"/>
              <a:gd name="T58" fmla="*/ 18 w 203"/>
              <a:gd name="T59" fmla="*/ 119 h 124"/>
              <a:gd name="T60" fmla="*/ 16 w 203"/>
              <a:gd name="T61" fmla="*/ 114 h 124"/>
              <a:gd name="T62" fmla="*/ 13 w 203"/>
              <a:gd name="T63" fmla="*/ 109 h 124"/>
              <a:gd name="T64" fmla="*/ 10 w 203"/>
              <a:gd name="T65" fmla="*/ 104 h 124"/>
              <a:gd name="T66" fmla="*/ 8 w 203"/>
              <a:gd name="T67" fmla="*/ 99 h 124"/>
              <a:gd name="T68" fmla="*/ 6 w 203"/>
              <a:gd name="T69" fmla="*/ 92 h 124"/>
              <a:gd name="T70" fmla="*/ 5 w 203"/>
              <a:gd name="T71" fmla="*/ 88 h 124"/>
              <a:gd name="T72" fmla="*/ 3 w 203"/>
              <a:gd name="T73" fmla="*/ 83 h 124"/>
              <a:gd name="T74" fmla="*/ 0 w 203"/>
              <a:gd name="T75" fmla="*/ 83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03" h="124">
                <a:moveTo>
                  <a:pt x="203" y="41"/>
                </a:moveTo>
                <a:lnTo>
                  <a:pt x="203" y="35"/>
                </a:lnTo>
                <a:lnTo>
                  <a:pt x="202" y="30"/>
                </a:lnTo>
                <a:lnTo>
                  <a:pt x="200" y="25"/>
                </a:lnTo>
                <a:lnTo>
                  <a:pt x="197" y="18"/>
                </a:lnTo>
                <a:lnTo>
                  <a:pt x="195" y="13"/>
                </a:lnTo>
                <a:lnTo>
                  <a:pt x="192" y="8"/>
                </a:lnTo>
                <a:lnTo>
                  <a:pt x="188" y="3"/>
                </a:lnTo>
                <a:lnTo>
                  <a:pt x="185" y="0"/>
                </a:lnTo>
                <a:lnTo>
                  <a:pt x="182" y="0"/>
                </a:lnTo>
                <a:lnTo>
                  <a:pt x="185" y="5"/>
                </a:lnTo>
                <a:lnTo>
                  <a:pt x="188" y="10"/>
                </a:lnTo>
                <a:lnTo>
                  <a:pt x="192" y="15"/>
                </a:lnTo>
                <a:lnTo>
                  <a:pt x="193" y="20"/>
                </a:lnTo>
                <a:lnTo>
                  <a:pt x="197" y="26"/>
                </a:lnTo>
                <a:lnTo>
                  <a:pt x="198" y="31"/>
                </a:lnTo>
                <a:lnTo>
                  <a:pt x="200" y="36"/>
                </a:lnTo>
                <a:lnTo>
                  <a:pt x="202" y="43"/>
                </a:lnTo>
                <a:lnTo>
                  <a:pt x="203" y="41"/>
                </a:lnTo>
                <a:close/>
                <a:moveTo>
                  <a:pt x="0" y="83"/>
                </a:moveTo>
                <a:lnTo>
                  <a:pt x="1" y="89"/>
                </a:lnTo>
                <a:lnTo>
                  <a:pt x="3" y="94"/>
                </a:lnTo>
                <a:lnTo>
                  <a:pt x="5" y="99"/>
                </a:lnTo>
                <a:lnTo>
                  <a:pt x="8" y="106"/>
                </a:lnTo>
                <a:lnTo>
                  <a:pt x="10" y="111"/>
                </a:lnTo>
                <a:lnTo>
                  <a:pt x="13" y="116"/>
                </a:lnTo>
                <a:lnTo>
                  <a:pt x="16" y="119"/>
                </a:lnTo>
                <a:lnTo>
                  <a:pt x="20" y="124"/>
                </a:lnTo>
                <a:lnTo>
                  <a:pt x="21" y="122"/>
                </a:lnTo>
                <a:lnTo>
                  <a:pt x="18" y="119"/>
                </a:lnTo>
                <a:lnTo>
                  <a:pt x="16" y="114"/>
                </a:lnTo>
                <a:lnTo>
                  <a:pt x="13" y="109"/>
                </a:lnTo>
                <a:lnTo>
                  <a:pt x="10" y="104"/>
                </a:lnTo>
                <a:lnTo>
                  <a:pt x="8" y="99"/>
                </a:lnTo>
                <a:lnTo>
                  <a:pt x="6" y="92"/>
                </a:lnTo>
                <a:lnTo>
                  <a:pt x="5" y="88"/>
                </a:lnTo>
                <a:lnTo>
                  <a:pt x="3" y="83"/>
                </a:lnTo>
                <a:lnTo>
                  <a:pt x="0" y="83"/>
                </a:lnTo>
                <a:close/>
              </a:path>
            </a:pathLst>
          </a:custGeom>
          <a:solidFill>
            <a:srgbClr val="BDE1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45" name="Freeform 2150">
            <a:extLst>
              <a:ext uri="{FF2B5EF4-FFF2-40B4-BE49-F238E27FC236}">
                <a16:creationId xmlns:a16="http://schemas.microsoft.com/office/drawing/2014/main" id="{95D5155F-D5BB-3660-5584-6E02D0FDCEAD}"/>
              </a:ext>
            </a:extLst>
          </p:cNvPr>
          <p:cNvSpPr>
            <a:spLocks noEditPoints="1"/>
          </p:cNvSpPr>
          <p:nvPr/>
        </p:nvSpPr>
        <p:spPr bwMode="auto">
          <a:xfrm>
            <a:off x="3359150" y="2503488"/>
            <a:ext cx="320675" cy="196850"/>
          </a:xfrm>
          <a:custGeom>
            <a:avLst/>
            <a:gdLst>
              <a:gd name="T0" fmla="*/ 202 w 202"/>
              <a:gd name="T1" fmla="*/ 41 h 124"/>
              <a:gd name="T2" fmla="*/ 201 w 202"/>
              <a:gd name="T3" fmla="*/ 36 h 124"/>
              <a:gd name="T4" fmla="*/ 199 w 202"/>
              <a:gd name="T5" fmla="*/ 30 h 124"/>
              <a:gd name="T6" fmla="*/ 197 w 202"/>
              <a:gd name="T7" fmla="*/ 25 h 124"/>
              <a:gd name="T8" fmla="*/ 194 w 202"/>
              <a:gd name="T9" fmla="*/ 20 h 124"/>
              <a:gd name="T10" fmla="*/ 192 w 202"/>
              <a:gd name="T11" fmla="*/ 15 h 124"/>
              <a:gd name="T12" fmla="*/ 189 w 202"/>
              <a:gd name="T13" fmla="*/ 10 h 124"/>
              <a:gd name="T14" fmla="*/ 186 w 202"/>
              <a:gd name="T15" fmla="*/ 5 h 124"/>
              <a:gd name="T16" fmla="*/ 182 w 202"/>
              <a:gd name="T17" fmla="*/ 0 h 124"/>
              <a:gd name="T18" fmla="*/ 179 w 202"/>
              <a:gd name="T19" fmla="*/ 1 h 124"/>
              <a:gd name="T20" fmla="*/ 182 w 202"/>
              <a:gd name="T21" fmla="*/ 6 h 124"/>
              <a:gd name="T22" fmla="*/ 186 w 202"/>
              <a:gd name="T23" fmla="*/ 11 h 124"/>
              <a:gd name="T24" fmla="*/ 189 w 202"/>
              <a:gd name="T25" fmla="*/ 16 h 124"/>
              <a:gd name="T26" fmla="*/ 191 w 202"/>
              <a:gd name="T27" fmla="*/ 21 h 124"/>
              <a:gd name="T28" fmla="*/ 194 w 202"/>
              <a:gd name="T29" fmla="*/ 26 h 124"/>
              <a:gd name="T30" fmla="*/ 196 w 202"/>
              <a:gd name="T31" fmla="*/ 31 h 124"/>
              <a:gd name="T32" fmla="*/ 197 w 202"/>
              <a:gd name="T33" fmla="*/ 38 h 124"/>
              <a:gd name="T34" fmla="*/ 199 w 202"/>
              <a:gd name="T35" fmla="*/ 43 h 124"/>
              <a:gd name="T36" fmla="*/ 202 w 202"/>
              <a:gd name="T37" fmla="*/ 41 h 124"/>
              <a:gd name="T38" fmla="*/ 0 w 202"/>
              <a:gd name="T39" fmla="*/ 83 h 124"/>
              <a:gd name="T40" fmla="*/ 2 w 202"/>
              <a:gd name="T41" fmla="*/ 88 h 124"/>
              <a:gd name="T42" fmla="*/ 4 w 202"/>
              <a:gd name="T43" fmla="*/ 94 h 124"/>
              <a:gd name="T44" fmla="*/ 5 w 202"/>
              <a:gd name="T45" fmla="*/ 99 h 124"/>
              <a:gd name="T46" fmla="*/ 7 w 202"/>
              <a:gd name="T47" fmla="*/ 104 h 124"/>
              <a:gd name="T48" fmla="*/ 10 w 202"/>
              <a:gd name="T49" fmla="*/ 109 h 124"/>
              <a:gd name="T50" fmla="*/ 14 w 202"/>
              <a:gd name="T51" fmla="*/ 114 h 124"/>
              <a:gd name="T52" fmla="*/ 15 w 202"/>
              <a:gd name="T53" fmla="*/ 119 h 124"/>
              <a:gd name="T54" fmla="*/ 19 w 202"/>
              <a:gd name="T55" fmla="*/ 124 h 124"/>
              <a:gd name="T56" fmla="*/ 22 w 202"/>
              <a:gd name="T57" fmla="*/ 122 h 124"/>
              <a:gd name="T58" fmla="*/ 19 w 202"/>
              <a:gd name="T59" fmla="*/ 117 h 124"/>
              <a:gd name="T60" fmla="*/ 15 w 202"/>
              <a:gd name="T61" fmla="*/ 112 h 124"/>
              <a:gd name="T62" fmla="*/ 14 w 202"/>
              <a:gd name="T63" fmla="*/ 107 h 124"/>
              <a:gd name="T64" fmla="*/ 10 w 202"/>
              <a:gd name="T65" fmla="*/ 102 h 124"/>
              <a:gd name="T66" fmla="*/ 9 w 202"/>
              <a:gd name="T67" fmla="*/ 97 h 124"/>
              <a:gd name="T68" fmla="*/ 7 w 202"/>
              <a:gd name="T69" fmla="*/ 92 h 124"/>
              <a:gd name="T70" fmla="*/ 5 w 202"/>
              <a:gd name="T71" fmla="*/ 88 h 124"/>
              <a:gd name="T72" fmla="*/ 4 w 202"/>
              <a:gd name="T73" fmla="*/ 81 h 124"/>
              <a:gd name="T74" fmla="*/ 0 w 202"/>
              <a:gd name="T75" fmla="*/ 83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02" h="124">
                <a:moveTo>
                  <a:pt x="202" y="41"/>
                </a:moveTo>
                <a:lnTo>
                  <a:pt x="201" y="36"/>
                </a:lnTo>
                <a:lnTo>
                  <a:pt x="199" y="30"/>
                </a:lnTo>
                <a:lnTo>
                  <a:pt x="197" y="25"/>
                </a:lnTo>
                <a:lnTo>
                  <a:pt x="194" y="20"/>
                </a:lnTo>
                <a:lnTo>
                  <a:pt x="192" y="15"/>
                </a:lnTo>
                <a:lnTo>
                  <a:pt x="189" y="10"/>
                </a:lnTo>
                <a:lnTo>
                  <a:pt x="186" y="5"/>
                </a:lnTo>
                <a:lnTo>
                  <a:pt x="182" y="0"/>
                </a:lnTo>
                <a:lnTo>
                  <a:pt x="179" y="1"/>
                </a:lnTo>
                <a:lnTo>
                  <a:pt x="182" y="6"/>
                </a:lnTo>
                <a:lnTo>
                  <a:pt x="186" y="11"/>
                </a:lnTo>
                <a:lnTo>
                  <a:pt x="189" y="16"/>
                </a:lnTo>
                <a:lnTo>
                  <a:pt x="191" y="21"/>
                </a:lnTo>
                <a:lnTo>
                  <a:pt x="194" y="26"/>
                </a:lnTo>
                <a:lnTo>
                  <a:pt x="196" y="31"/>
                </a:lnTo>
                <a:lnTo>
                  <a:pt x="197" y="38"/>
                </a:lnTo>
                <a:lnTo>
                  <a:pt x="199" y="43"/>
                </a:lnTo>
                <a:lnTo>
                  <a:pt x="202" y="41"/>
                </a:lnTo>
                <a:close/>
                <a:moveTo>
                  <a:pt x="0" y="83"/>
                </a:moveTo>
                <a:lnTo>
                  <a:pt x="2" y="88"/>
                </a:lnTo>
                <a:lnTo>
                  <a:pt x="4" y="94"/>
                </a:lnTo>
                <a:lnTo>
                  <a:pt x="5" y="99"/>
                </a:lnTo>
                <a:lnTo>
                  <a:pt x="7" y="104"/>
                </a:lnTo>
                <a:lnTo>
                  <a:pt x="10" y="109"/>
                </a:lnTo>
                <a:lnTo>
                  <a:pt x="14" y="114"/>
                </a:lnTo>
                <a:lnTo>
                  <a:pt x="15" y="119"/>
                </a:lnTo>
                <a:lnTo>
                  <a:pt x="19" y="124"/>
                </a:lnTo>
                <a:lnTo>
                  <a:pt x="22" y="122"/>
                </a:lnTo>
                <a:lnTo>
                  <a:pt x="19" y="117"/>
                </a:lnTo>
                <a:lnTo>
                  <a:pt x="15" y="112"/>
                </a:lnTo>
                <a:lnTo>
                  <a:pt x="14" y="107"/>
                </a:lnTo>
                <a:lnTo>
                  <a:pt x="10" y="102"/>
                </a:lnTo>
                <a:lnTo>
                  <a:pt x="9" y="97"/>
                </a:lnTo>
                <a:lnTo>
                  <a:pt x="7" y="92"/>
                </a:lnTo>
                <a:lnTo>
                  <a:pt x="5" y="88"/>
                </a:lnTo>
                <a:lnTo>
                  <a:pt x="4" y="81"/>
                </a:lnTo>
                <a:lnTo>
                  <a:pt x="0" y="83"/>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46" name="Freeform 2151">
            <a:extLst>
              <a:ext uri="{FF2B5EF4-FFF2-40B4-BE49-F238E27FC236}">
                <a16:creationId xmlns:a16="http://schemas.microsoft.com/office/drawing/2014/main" id="{B6FDD8D8-32D8-F670-669A-F98F8D444BE8}"/>
              </a:ext>
            </a:extLst>
          </p:cNvPr>
          <p:cNvSpPr>
            <a:spLocks noEditPoints="1"/>
          </p:cNvSpPr>
          <p:nvPr/>
        </p:nvSpPr>
        <p:spPr bwMode="auto">
          <a:xfrm>
            <a:off x="3362325" y="2503488"/>
            <a:ext cx="315913" cy="193675"/>
          </a:xfrm>
          <a:custGeom>
            <a:avLst/>
            <a:gdLst>
              <a:gd name="T0" fmla="*/ 199 w 199"/>
              <a:gd name="T1" fmla="*/ 43 h 122"/>
              <a:gd name="T2" fmla="*/ 197 w 199"/>
              <a:gd name="T3" fmla="*/ 36 h 122"/>
              <a:gd name="T4" fmla="*/ 195 w 199"/>
              <a:gd name="T5" fmla="*/ 31 h 122"/>
              <a:gd name="T6" fmla="*/ 194 w 199"/>
              <a:gd name="T7" fmla="*/ 26 h 122"/>
              <a:gd name="T8" fmla="*/ 190 w 199"/>
              <a:gd name="T9" fmla="*/ 20 h 122"/>
              <a:gd name="T10" fmla="*/ 189 w 199"/>
              <a:gd name="T11" fmla="*/ 15 h 122"/>
              <a:gd name="T12" fmla="*/ 185 w 199"/>
              <a:gd name="T13" fmla="*/ 10 h 122"/>
              <a:gd name="T14" fmla="*/ 182 w 199"/>
              <a:gd name="T15" fmla="*/ 5 h 122"/>
              <a:gd name="T16" fmla="*/ 179 w 199"/>
              <a:gd name="T17" fmla="*/ 0 h 122"/>
              <a:gd name="T18" fmla="*/ 175 w 199"/>
              <a:gd name="T19" fmla="*/ 1 h 122"/>
              <a:gd name="T20" fmla="*/ 179 w 199"/>
              <a:gd name="T21" fmla="*/ 6 h 122"/>
              <a:gd name="T22" fmla="*/ 182 w 199"/>
              <a:gd name="T23" fmla="*/ 11 h 122"/>
              <a:gd name="T24" fmla="*/ 185 w 199"/>
              <a:gd name="T25" fmla="*/ 16 h 122"/>
              <a:gd name="T26" fmla="*/ 189 w 199"/>
              <a:gd name="T27" fmla="*/ 21 h 122"/>
              <a:gd name="T28" fmla="*/ 190 w 199"/>
              <a:gd name="T29" fmla="*/ 26 h 122"/>
              <a:gd name="T30" fmla="*/ 192 w 199"/>
              <a:gd name="T31" fmla="*/ 33 h 122"/>
              <a:gd name="T32" fmla="*/ 194 w 199"/>
              <a:gd name="T33" fmla="*/ 38 h 122"/>
              <a:gd name="T34" fmla="*/ 195 w 199"/>
              <a:gd name="T35" fmla="*/ 44 h 122"/>
              <a:gd name="T36" fmla="*/ 199 w 199"/>
              <a:gd name="T37" fmla="*/ 43 h 122"/>
              <a:gd name="T38" fmla="*/ 0 w 199"/>
              <a:gd name="T39" fmla="*/ 83 h 122"/>
              <a:gd name="T40" fmla="*/ 2 w 199"/>
              <a:gd name="T41" fmla="*/ 88 h 122"/>
              <a:gd name="T42" fmla="*/ 3 w 199"/>
              <a:gd name="T43" fmla="*/ 92 h 122"/>
              <a:gd name="T44" fmla="*/ 5 w 199"/>
              <a:gd name="T45" fmla="*/ 99 h 122"/>
              <a:gd name="T46" fmla="*/ 7 w 199"/>
              <a:gd name="T47" fmla="*/ 104 h 122"/>
              <a:gd name="T48" fmla="*/ 10 w 199"/>
              <a:gd name="T49" fmla="*/ 109 h 122"/>
              <a:gd name="T50" fmla="*/ 13 w 199"/>
              <a:gd name="T51" fmla="*/ 114 h 122"/>
              <a:gd name="T52" fmla="*/ 15 w 199"/>
              <a:gd name="T53" fmla="*/ 119 h 122"/>
              <a:gd name="T54" fmla="*/ 18 w 199"/>
              <a:gd name="T55" fmla="*/ 122 h 122"/>
              <a:gd name="T56" fmla="*/ 21 w 199"/>
              <a:gd name="T57" fmla="*/ 121 h 122"/>
              <a:gd name="T58" fmla="*/ 18 w 199"/>
              <a:gd name="T59" fmla="*/ 117 h 122"/>
              <a:gd name="T60" fmla="*/ 15 w 199"/>
              <a:gd name="T61" fmla="*/ 112 h 122"/>
              <a:gd name="T62" fmla="*/ 13 w 199"/>
              <a:gd name="T63" fmla="*/ 107 h 122"/>
              <a:gd name="T64" fmla="*/ 10 w 199"/>
              <a:gd name="T65" fmla="*/ 102 h 122"/>
              <a:gd name="T66" fmla="*/ 8 w 199"/>
              <a:gd name="T67" fmla="*/ 97 h 122"/>
              <a:gd name="T68" fmla="*/ 7 w 199"/>
              <a:gd name="T69" fmla="*/ 92 h 122"/>
              <a:gd name="T70" fmla="*/ 5 w 199"/>
              <a:gd name="T71" fmla="*/ 86 h 122"/>
              <a:gd name="T72" fmla="*/ 3 w 199"/>
              <a:gd name="T73" fmla="*/ 81 h 122"/>
              <a:gd name="T74" fmla="*/ 0 w 199"/>
              <a:gd name="T75" fmla="*/ 83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9" h="122">
                <a:moveTo>
                  <a:pt x="199" y="43"/>
                </a:moveTo>
                <a:lnTo>
                  <a:pt x="197" y="36"/>
                </a:lnTo>
                <a:lnTo>
                  <a:pt x="195" y="31"/>
                </a:lnTo>
                <a:lnTo>
                  <a:pt x="194" y="26"/>
                </a:lnTo>
                <a:lnTo>
                  <a:pt x="190" y="20"/>
                </a:lnTo>
                <a:lnTo>
                  <a:pt x="189" y="15"/>
                </a:lnTo>
                <a:lnTo>
                  <a:pt x="185" y="10"/>
                </a:lnTo>
                <a:lnTo>
                  <a:pt x="182" y="5"/>
                </a:lnTo>
                <a:lnTo>
                  <a:pt x="179" y="0"/>
                </a:lnTo>
                <a:lnTo>
                  <a:pt x="175" y="1"/>
                </a:lnTo>
                <a:lnTo>
                  <a:pt x="179" y="6"/>
                </a:lnTo>
                <a:lnTo>
                  <a:pt x="182" y="11"/>
                </a:lnTo>
                <a:lnTo>
                  <a:pt x="185" y="16"/>
                </a:lnTo>
                <a:lnTo>
                  <a:pt x="189" y="21"/>
                </a:lnTo>
                <a:lnTo>
                  <a:pt x="190" y="26"/>
                </a:lnTo>
                <a:lnTo>
                  <a:pt x="192" y="33"/>
                </a:lnTo>
                <a:lnTo>
                  <a:pt x="194" y="38"/>
                </a:lnTo>
                <a:lnTo>
                  <a:pt x="195" y="44"/>
                </a:lnTo>
                <a:lnTo>
                  <a:pt x="199" y="43"/>
                </a:lnTo>
                <a:close/>
                <a:moveTo>
                  <a:pt x="0" y="83"/>
                </a:moveTo>
                <a:lnTo>
                  <a:pt x="2" y="88"/>
                </a:lnTo>
                <a:lnTo>
                  <a:pt x="3" y="92"/>
                </a:lnTo>
                <a:lnTo>
                  <a:pt x="5" y="99"/>
                </a:lnTo>
                <a:lnTo>
                  <a:pt x="7" y="104"/>
                </a:lnTo>
                <a:lnTo>
                  <a:pt x="10" y="109"/>
                </a:lnTo>
                <a:lnTo>
                  <a:pt x="13" y="114"/>
                </a:lnTo>
                <a:lnTo>
                  <a:pt x="15" y="119"/>
                </a:lnTo>
                <a:lnTo>
                  <a:pt x="18" y="122"/>
                </a:lnTo>
                <a:lnTo>
                  <a:pt x="21" y="121"/>
                </a:lnTo>
                <a:lnTo>
                  <a:pt x="18" y="117"/>
                </a:lnTo>
                <a:lnTo>
                  <a:pt x="15" y="112"/>
                </a:lnTo>
                <a:lnTo>
                  <a:pt x="13" y="107"/>
                </a:lnTo>
                <a:lnTo>
                  <a:pt x="10" y="102"/>
                </a:lnTo>
                <a:lnTo>
                  <a:pt x="8" y="97"/>
                </a:lnTo>
                <a:lnTo>
                  <a:pt x="7" y="92"/>
                </a:lnTo>
                <a:lnTo>
                  <a:pt x="5" y="86"/>
                </a:lnTo>
                <a:lnTo>
                  <a:pt x="3" y="81"/>
                </a:lnTo>
                <a:lnTo>
                  <a:pt x="0" y="83"/>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47" name="Freeform 2152">
            <a:extLst>
              <a:ext uri="{FF2B5EF4-FFF2-40B4-BE49-F238E27FC236}">
                <a16:creationId xmlns:a16="http://schemas.microsoft.com/office/drawing/2014/main" id="{D4F691A0-D4C9-433B-8D60-9DA30DAA9E41}"/>
              </a:ext>
            </a:extLst>
          </p:cNvPr>
          <p:cNvSpPr>
            <a:spLocks noEditPoints="1"/>
          </p:cNvSpPr>
          <p:nvPr/>
        </p:nvSpPr>
        <p:spPr bwMode="auto">
          <a:xfrm>
            <a:off x="3365500" y="2505075"/>
            <a:ext cx="309563" cy="192088"/>
          </a:xfrm>
          <a:custGeom>
            <a:avLst/>
            <a:gdLst>
              <a:gd name="T0" fmla="*/ 195 w 195"/>
              <a:gd name="T1" fmla="*/ 42 h 121"/>
              <a:gd name="T2" fmla="*/ 193 w 195"/>
              <a:gd name="T3" fmla="*/ 37 h 121"/>
              <a:gd name="T4" fmla="*/ 192 w 195"/>
              <a:gd name="T5" fmla="*/ 30 h 121"/>
              <a:gd name="T6" fmla="*/ 190 w 195"/>
              <a:gd name="T7" fmla="*/ 25 h 121"/>
              <a:gd name="T8" fmla="*/ 187 w 195"/>
              <a:gd name="T9" fmla="*/ 20 h 121"/>
              <a:gd name="T10" fmla="*/ 185 w 195"/>
              <a:gd name="T11" fmla="*/ 15 h 121"/>
              <a:gd name="T12" fmla="*/ 182 w 195"/>
              <a:gd name="T13" fmla="*/ 10 h 121"/>
              <a:gd name="T14" fmla="*/ 178 w 195"/>
              <a:gd name="T15" fmla="*/ 5 h 121"/>
              <a:gd name="T16" fmla="*/ 175 w 195"/>
              <a:gd name="T17" fmla="*/ 0 h 121"/>
              <a:gd name="T18" fmla="*/ 173 w 195"/>
              <a:gd name="T19" fmla="*/ 2 h 121"/>
              <a:gd name="T20" fmla="*/ 177 w 195"/>
              <a:gd name="T21" fmla="*/ 5 h 121"/>
              <a:gd name="T22" fmla="*/ 178 w 195"/>
              <a:gd name="T23" fmla="*/ 10 h 121"/>
              <a:gd name="T24" fmla="*/ 182 w 195"/>
              <a:gd name="T25" fmla="*/ 15 h 121"/>
              <a:gd name="T26" fmla="*/ 185 w 195"/>
              <a:gd name="T27" fmla="*/ 22 h 121"/>
              <a:gd name="T28" fmla="*/ 187 w 195"/>
              <a:gd name="T29" fmla="*/ 27 h 121"/>
              <a:gd name="T30" fmla="*/ 188 w 195"/>
              <a:gd name="T31" fmla="*/ 32 h 121"/>
              <a:gd name="T32" fmla="*/ 190 w 195"/>
              <a:gd name="T33" fmla="*/ 38 h 121"/>
              <a:gd name="T34" fmla="*/ 192 w 195"/>
              <a:gd name="T35" fmla="*/ 43 h 121"/>
              <a:gd name="T36" fmla="*/ 195 w 195"/>
              <a:gd name="T37" fmla="*/ 42 h 121"/>
              <a:gd name="T38" fmla="*/ 0 w 195"/>
              <a:gd name="T39" fmla="*/ 80 h 121"/>
              <a:gd name="T40" fmla="*/ 1 w 195"/>
              <a:gd name="T41" fmla="*/ 87 h 121"/>
              <a:gd name="T42" fmla="*/ 3 w 195"/>
              <a:gd name="T43" fmla="*/ 91 h 121"/>
              <a:gd name="T44" fmla="*/ 5 w 195"/>
              <a:gd name="T45" fmla="*/ 96 h 121"/>
              <a:gd name="T46" fmla="*/ 6 w 195"/>
              <a:gd name="T47" fmla="*/ 101 h 121"/>
              <a:gd name="T48" fmla="*/ 10 w 195"/>
              <a:gd name="T49" fmla="*/ 106 h 121"/>
              <a:gd name="T50" fmla="*/ 11 w 195"/>
              <a:gd name="T51" fmla="*/ 111 h 121"/>
              <a:gd name="T52" fmla="*/ 15 w 195"/>
              <a:gd name="T53" fmla="*/ 116 h 121"/>
              <a:gd name="T54" fmla="*/ 18 w 195"/>
              <a:gd name="T55" fmla="*/ 121 h 121"/>
              <a:gd name="T56" fmla="*/ 21 w 195"/>
              <a:gd name="T57" fmla="*/ 120 h 121"/>
              <a:gd name="T58" fmla="*/ 18 w 195"/>
              <a:gd name="T59" fmla="*/ 115 h 121"/>
              <a:gd name="T60" fmla="*/ 15 w 195"/>
              <a:gd name="T61" fmla="*/ 110 h 121"/>
              <a:gd name="T62" fmla="*/ 13 w 195"/>
              <a:gd name="T63" fmla="*/ 106 h 121"/>
              <a:gd name="T64" fmla="*/ 10 w 195"/>
              <a:gd name="T65" fmla="*/ 100 h 121"/>
              <a:gd name="T66" fmla="*/ 8 w 195"/>
              <a:gd name="T67" fmla="*/ 95 h 121"/>
              <a:gd name="T68" fmla="*/ 6 w 195"/>
              <a:gd name="T69" fmla="*/ 90 h 121"/>
              <a:gd name="T70" fmla="*/ 5 w 195"/>
              <a:gd name="T71" fmla="*/ 85 h 121"/>
              <a:gd name="T72" fmla="*/ 3 w 195"/>
              <a:gd name="T73" fmla="*/ 78 h 121"/>
              <a:gd name="T74" fmla="*/ 0 w 195"/>
              <a:gd name="T75" fmla="*/ 8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5" h="121">
                <a:moveTo>
                  <a:pt x="195" y="42"/>
                </a:moveTo>
                <a:lnTo>
                  <a:pt x="193" y="37"/>
                </a:lnTo>
                <a:lnTo>
                  <a:pt x="192" y="30"/>
                </a:lnTo>
                <a:lnTo>
                  <a:pt x="190" y="25"/>
                </a:lnTo>
                <a:lnTo>
                  <a:pt x="187" y="20"/>
                </a:lnTo>
                <a:lnTo>
                  <a:pt x="185" y="15"/>
                </a:lnTo>
                <a:lnTo>
                  <a:pt x="182" y="10"/>
                </a:lnTo>
                <a:lnTo>
                  <a:pt x="178" y="5"/>
                </a:lnTo>
                <a:lnTo>
                  <a:pt x="175" y="0"/>
                </a:lnTo>
                <a:lnTo>
                  <a:pt x="173" y="2"/>
                </a:lnTo>
                <a:lnTo>
                  <a:pt x="177" y="5"/>
                </a:lnTo>
                <a:lnTo>
                  <a:pt x="178" y="10"/>
                </a:lnTo>
                <a:lnTo>
                  <a:pt x="182" y="15"/>
                </a:lnTo>
                <a:lnTo>
                  <a:pt x="185" y="22"/>
                </a:lnTo>
                <a:lnTo>
                  <a:pt x="187" y="27"/>
                </a:lnTo>
                <a:lnTo>
                  <a:pt x="188" y="32"/>
                </a:lnTo>
                <a:lnTo>
                  <a:pt x="190" y="38"/>
                </a:lnTo>
                <a:lnTo>
                  <a:pt x="192" y="43"/>
                </a:lnTo>
                <a:lnTo>
                  <a:pt x="195" y="42"/>
                </a:lnTo>
                <a:close/>
                <a:moveTo>
                  <a:pt x="0" y="80"/>
                </a:moveTo>
                <a:lnTo>
                  <a:pt x="1" y="87"/>
                </a:lnTo>
                <a:lnTo>
                  <a:pt x="3" y="91"/>
                </a:lnTo>
                <a:lnTo>
                  <a:pt x="5" y="96"/>
                </a:lnTo>
                <a:lnTo>
                  <a:pt x="6" y="101"/>
                </a:lnTo>
                <a:lnTo>
                  <a:pt x="10" y="106"/>
                </a:lnTo>
                <a:lnTo>
                  <a:pt x="11" y="111"/>
                </a:lnTo>
                <a:lnTo>
                  <a:pt x="15" y="116"/>
                </a:lnTo>
                <a:lnTo>
                  <a:pt x="18" y="121"/>
                </a:lnTo>
                <a:lnTo>
                  <a:pt x="21" y="120"/>
                </a:lnTo>
                <a:lnTo>
                  <a:pt x="18" y="115"/>
                </a:lnTo>
                <a:lnTo>
                  <a:pt x="15" y="110"/>
                </a:lnTo>
                <a:lnTo>
                  <a:pt x="13" y="106"/>
                </a:lnTo>
                <a:lnTo>
                  <a:pt x="10" y="100"/>
                </a:lnTo>
                <a:lnTo>
                  <a:pt x="8" y="95"/>
                </a:lnTo>
                <a:lnTo>
                  <a:pt x="6" y="90"/>
                </a:lnTo>
                <a:lnTo>
                  <a:pt x="5" y="85"/>
                </a:lnTo>
                <a:lnTo>
                  <a:pt x="3" y="78"/>
                </a:lnTo>
                <a:lnTo>
                  <a:pt x="0" y="8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48" name="Freeform 2153">
            <a:extLst>
              <a:ext uri="{FF2B5EF4-FFF2-40B4-BE49-F238E27FC236}">
                <a16:creationId xmlns:a16="http://schemas.microsoft.com/office/drawing/2014/main" id="{8650CBAE-C577-8520-173B-53DE476E4633}"/>
              </a:ext>
            </a:extLst>
          </p:cNvPr>
          <p:cNvSpPr>
            <a:spLocks noEditPoints="1"/>
          </p:cNvSpPr>
          <p:nvPr/>
        </p:nvSpPr>
        <p:spPr bwMode="auto">
          <a:xfrm>
            <a:off x="3367088" y="2505075"/>
            <a:ext cx="304800" cy="190500"/>
          </a:xfrm>
          <a:custGeom>
            <a:avLst/>
            <a:gdLst>
              <a:gd name="T0" fmla="*/ 192 w 192"/>
              <a:gd name="T1" fmla="*/ 43 h 120"/>
              <a:gd name="T2" fmla="*/ 191 w 192"/>
              <a:gd name="T3" fmla="*/ 37 h 120"/>
              <a:gd name="T4" fmla="*/ 189 w 192"/>
              <a:gd name="T5" fmla="*/ 32 h 120"/>
              <a:gd name="T6" fmla="*/ 187 w 192"/>
              <a:gd name="T7" fmla="*/ 25 h 120"/>
              <a:gd name="T8" fmla="*/ 186 w 192"/>
              <a:gd name="T9" fmla="*/ 20 h 120"/>
              <a:gd name="T10" fmla="*/ 182 w 192"/>
              <a:gd name="T11" fmla="*/ 15 h 120"/>
              <a:gd name="T12" fmla="*/ 179 w 192"/>
              <a:gd name="T13" fmla="*/ 10 h 120"/>
              <a:gd name="T14" fmla="*/ 176 w 192"/>
              <a:gd name="T15" fmla="*/ 5 h 120"/>
              <a:gd name="T16" fmla="*/ 172 w 192"/>
              <a:gd name="T17" fmla="*/ 0 h 120"/>
              <a:gd name="T18" fmla="*/ 171 w 192"/>
              <a:gd name="T19" fmla="*/ 2 h 120"/>
              <a:gd name="T20" fmla="*/ 174 w 192"/>
              <a:gd name="T21" fmla="*/ 7 h 120"/>
              <a:gd name="T22" fmla="*/ 177 w 192"/>
              <a:gd name="T23" fmla="*/ 12 h 120"/>
              <a:gd name="T24" fmla="*/ 179 w 192"/>
              <a:gd name="T25" fmla="*/ 17 h 120"/>
              <a:gd name="T26" fmla="*/ 182 w 192"/>
              <a:gd name="T27" fmla="*/ 22 h 120"/>
              <a:gd name="T28" fmla="*/ 184 w 192"/>
              <a:gd name="T29" fmla="*/ 27 h 120"/>
              <a:gd name="T30" fmla="*/ 186 w 192"/>
              <a:gd name="T31" fmla="*/ 34 h 120"/>
              <a:gd name="T32" fmla="*/ 187 w 192"/>
              <a:gd name="T33" fmla="*/ 38 h 120"/>
              <a:gd name="T34" fmla="*/ 189 w 192"/>
              <a:gd name="T35" fmla="*/ 43 h 120"/>
              <a:gd name="T36" fmla="*/ 192 w 192"/>
              <a:gd name="T37" fmla="*/ 43 h 120"/>
              <a:gd name="T38" fmla="*/ 0 w 192"/>
              <a:gd name="T39" fmla="*/ 80 h 120"/>
              <a:gd name="T40" fmla="*/ 2 w 192"/>
              <a:gd name="T41" fmla="*/ 85 h 120"/>
              <a:gd name="T42" fmla="*/ 4 w 192"/>
              <a:gd name="T43" fmla="*/ 91 h 120"/>
              <a:gd name="T44" fmla="*/ 5 w 192"/>
              <a:gd name="T45" fmla="*/ 96 h 120"/>
              <a:gd name="T46" fmla="*/ 7 w 192"/>
              <a:gd name="T47" fmla="*/ 101 h 120"/>
              <a:gd name="T48" fmla="*/ 10 w 192"/>
              <a:gd name="T49" fmla="*/ 106 h 120"/>
              <a:gd name="T50" fmla="*/ 12 w 192"/>
              <a:gd name="T51" fmla="*/ 111 h 120"/>
              <a:gd name="T52" fmla="*/ 15 w 192"/>
              <a:gd name="T53" fmla="*/ 116 h 120"/>
              <a:gd name="T54" fmla="*/ 18 w 192"/>
              <a:gd name="T55" fmla="*/ 120 h 120"/>
              <a:gd name="T56" fmla="*/ 22 w 192"/>
              <a:gd name="T57" fmla="*/ 120 h 120"/>
              <a:gd name="T58" fmla="*/ 18 w 192"/>
              <a:gd name="T59" fmla="*/ 115 h 120"/>
              <a:gd name="T60" fmla="*/ 15 w 192"/>
              <a:gd name="T61" fmla="*/ 110 h 120"/>
              <a:gd name="T62" fmla="*/ 14 w 192"/>
              <a:gd name="T63" fmla="*/ 105 h 120"/>
              <a:gd name="T64" fmla="*/ 10 w 192"/>
              <a:gd name="T65" fmla="*/ 100 h 120"/>
              <a:gd name="T66" fmla="*/ 9 w 192"/>
              <a:gd name="T67" fmla="*/ 95 h 120"/>
              <a:gd name="T68" fmla="*/ 7 w 192"/>
              <a:gd name="T69" fmla="*/ 90 h 120"/>
              <a:gd name="T70" fmla="*/ 5 w 192"/>
              <a:gd name="T71" fmla="*/ 83 h 120"/>
              <a:gd name="T72" fmla="*/ 4 w 192"/>
              <a:gd name="T73" fmla="*/ 78 h 120"/>
              <a:gd name="T74" fmla="*/ 0 w 192"/>
              <a:gd name="T75" fmla="*/ 8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2" h="120">
                <a:moveTo>
                  <a:pt x="192" y="43"/>
                </a:moveTo>
                <a:lnTo>
                  <a:pt x="191" y="37"/>
                </a:lnTo>
                <a:lnTo>
                  <a:pt x="189" y="32"/>
                </a:lnTo>
                <a:lnTo>
                  <a:pt x="187" y="25"/>
                </a:lnTo>
                <a:lnTo>
                  <a:pt x="186" y="20"/>
                </a:lnTo>
                <a:lnTo>
                  <a:pt x="182" y="15"/>
                </a:lnTo>
                <a:lnTo>
                  <a:pt x="179" y="10"/>
                </a:lnTo>
                <a:lnTo>
                  <a:pt x="176" y="5"/>
                </a:lnTo>
                <a:lnTo>
                  <a:pt x="172" y="0"/>
                </a:lnTo>
                <a:lnTo>
                  <a:pt x="171" y="2"/>
                </a:lnTo>
                <a:lnTo>
                  <a:pt x="174" y="7"/>
                </a:lnTo>
                <a:lnTo>
                  <a:pt x="177" y="12"/>
                </a:lnTo>
                <a:lnTo>
                  <a:pt x="179" y="17"/>
                </a:lnTo>
                <a:lnTo>
                  <a:pt x="182" y="22"/>
                </a:lnTo>
                <a:lnTo>
                  <a:pt x="184" y="27"/>
                </a:lnTo>
                <a:lnTo>
                  <a:pt x="186" y="34"/>
                </a:lnTo>
                <a:lnTo>
                  <a:pt x="187" y="38"/>
                </a:lnTo>
                <a:lnTo>
                  <a:pt x="189" y="43"/>
                </a:lnTo>
                <a:lnTo>
                  <a:pt x="192" y="43"/>
                </a:lnTo>
                <a:close/>
                <a:moveTo>
                  <a:pt x="0" y="80"/>
                </a:moveTo>
                <a:lnTo>
                  <a:pt x="2" y="85"/>
                </a:lnTo>
                <a:lnTo>
                  <a:pt x="4" y="91"/>
                </a:lnTo>
                <a:lnTo>
                  <a:pt x="5" y="96"/>
                </a:lnTo>
                <a:lnTo>
                  <a:pt x="7" y="101"/>
                </a:lnTo>
                <a:lnTo>
                  <a:pt x="10" y="106"/>
                </a:lnTo>
                <a:lnTo>
                  <a:pt x="12" y="111"/>
                </a:lnTo>
                <a:lnTo>
                  <a:pt x="15" y="116"/>
                </a:lnTo>
                <a:lnTo>
                  <a:pt x="18" y="120"/>
                </a:lnTo>
                <a:lnTo>
                  <a:pt x="22" y="120"/>
                </a:lnTo>
                <a:lnTo>
                  <a:pt x="18" y="115"/>
                </a:lnTo>
                <a:lnTo>
                  <a:pt x="15" y="110"/>
                </a:lnTo>
                <a:lnTo>
                  <a:pt x="14" y="105"/>
                </a:lnTo>
                <a:lnTo>
                  <a:pt x="10" y="100"/>
                </a:lnTo>
                <a:lnTo>
                  <a:pt x="9" y="95"/>
                </a:lnTo>
                <a:lnTo>
                  <a:pt x="7" y="90"/>
                </a:lnTo>
                <a:lnTo>
                  <a:pt x="5" y="83"/>
                </a:lnTo>
                <a:lnTo>
                  <a:pt x="4" y="78"/>
                </a:lnTo>
                <a:lnTo>
                  <a:pt x="0" y="80"/>
                </a:lnTo>
                <a:close/>
              </a:path>
            </a:pathLst>
          </a:custGeom>
          <a:solidFill>
            <a:srgbClr val="C0E2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49" name="Freeform 2154">
            <a:extLst>
              <a:ext uri="{FF2B5EF4-FFF2-40B4-BE49-F238E27FC236}">
                <a16:creationId xmlns:a16="http://schemas.microsoft.com/office/drawing/2014/main" id="{F27E40FA-28A3-0D54-F45F-5AE61E262F42}"/>
              </a:ext>
            </a:extLst>
          </p:cNvPr>
          <p:cNvSpPr>
            <a:spLocks noEditPoints="1"/>
          </p:cNvSpPr>
          <p:nvPr/>
        </p:nvSpPr>
        <p:spPr bwMode="auto">
          <a:xfrm>
            <a:off x="3370263" y="2508250"/>
            <a:ext cx="300038" cy="187325"/>
          </a:xfrm>
          <a:custGeom>
            <a:avLst/>
            <a:gdLst>
              <a:gd name="T0" fmla="*/ 189 w 189"/>
              <a:gd name="T1" fmla="*/ 41 h 118"/>
              <a:gd name="T2" fmla="*/ 187 w 189"/>
              <a:gd name="T3" fmla="*/ 36 h 118"/>
              <a:gd name="T4" fmla="*/ 185 w 189"/>
              <a:gd name="T5" fmla="*/ 30 h 118"/>
              <a:gd name="T6" fmla="*/ 184 w 189"/>
              <a:gd name="T7" fmla="*/ 25 h 118"/>
              <a:gd name="T8" fmla="*/ 182 w 189"/>
              <a:gd name="T9" fmla="*/ 20 h 118"/>
              <a:gd name="T10" fmla="*/ 179 w 189"/>
              <a:gd name="T11" fmla="*/ 13 h 118"/>
              <a:gd name="T12" fmla="*/ 175 w 189"/>
              <a:gd name="T13" fmla="*/ 8 h 118"/>
              <a:gd name="T14" fmla="*/ 174 w 189"/>
              <a:gd name="T15" fmla="*/ 3 h 118"/>
              <a:gd name="T16" fmla="*/ 170 w 189"/>
              <a:gd name="T17" fmla="*/ 0 h 118"/>
              <a:gd name="T18" fmla="*/ 167 w 189"/>
              <a:gd name="T19" fmla="*/ 2 h 118"/>
              <a:gd name="T20" fmla="*/ 170 w 189"/>
              <a:gd name="T21" fmla="*/ 5 h 118"/>
              <a:gd name="T22" fmla="*/ 174 w 189"/>
              <a:gd name="T23" fmla="*/ 10 h 118"/>
              <a:gd name="T24" fmla="*/ 175 w 189"/>
              <a:gd name="T25" fmla="*/ 15 h 118"/>
              <a:gd name="T26" fmla="*/ 179 w 189"/>
              <a:gd name="T27" fmla="*/ 20 h 118"/>
              <a:gd name="T28" fmla="*/ 180 w 189"/>
              <a:gd name="T29" fmla="*/ 27 h 118"/>
              <a:gd name="T30" fmla="*/ 182 w 189"/>
              <a:gd name="T31" fmla="*/ 32 h 118"/>
              <a:gd name="T32" fmla="*/ 184 w 189"/>
              <a:gd name="T33" fmla="*/ 36 h 118"/>
              <a:gd name="T34" fmla="*/ 185 w 189"/>
              <a:gd name="T35" fmla="*/ 43 h 118"/>
              <a:gd name="T36" fmla="*/ 189 w 189"/>
              <a:gd name="T37" fmla="*/ 41 h 118"/>
              <a:gd name="T38" fmla="*/ 0 w 189"/>
              <a:gd name="T39" fmla="*/ 76 h 118"/>
              <a:gd name="T40" fmla="*/ 2 w 189"/>
              <a:gd name="T41" fmla="*/ 83 h 118"/>
              <a:gd name="T42" fmla="*/ 3 w 189"/>
              <a:gd name="T43" fmla="*/ 88 h 118"/>
              <a:gd name="T44" fmla="*/ 5 w 189"/>
              <a:gd name="T45" fmla="*/ 93 h 118"/>
              <a:gd name="T46" fmla="*/ 7 w 189"/>
              <a:gd name="T47" fmla="*/ 98 h 118"/>
              <a:gd name="T48" fmla="*/ 10 w 189"/>
              <a:gd name="T49" fmla="*/ 104 h 118"/>
              <a:gd name="T50" fmla="*/ 12 w 189"/>
              <a:gd name="T51" fmla="*/ 108 h 118"/>
              <a:gd name="T52" fmla="*/ 15 w 189"/>
              <a:gd name="T53" fmla="*/ 113 h 118"/>
              <a:gd name="T54" fmla="*/ 18 w 189"/>
              <a:gd name="T55" fmla="*/ 118 h 118"/>
              <a:gd name="T56" fmla="*/ 21 w 189"/>
              <a:gd name="T57" fmla="*/ 116 h 118"/>
              <a:gd name="T58" fmla="*/ 18 w 189"/>
              <a:gd name="T59" fmla="*/ 113 h 118"/>
              <a:gd name="T60" fmla="*/ 15 w 189"/>
              <a:gd name="T61" fmla="*/ 108 h 118"/>
              <a:gd name="T62" fmla="*/ 12 w 189"/>
              <a:gd name="T63" fmla="*/ 103 h 118"/>
              <a:gd name="T64" fmla="*/ 10 w 189"/>
              <a:gd name="T65" fmla="*/ 98 h 118"/>
              <a:gd name="T66" fmla="*/ 8 w 189"/>
              <a:gd name="T67" fmla="*/ 93 h 118"/>
              <a:gd name="T68" fmla="*/ 5 w 189"/>
              <a:gd name="T69" fmla="*/ 86 h 118"/>
              <a:gd name="T70" fmla="*/ 3 w 189"/>
              <a:gd name="T71" fmla="*/ 81 h 118"/>
              <a:gd name="T72" fmla="*/ 3 w 189"/>
              <a:gd name="T73" fmla="*/ 75 h 118"/>
              <a:gd name="T74" fmla="*/ 0 w 189"/>
              <a:gd name="T75" fmla="*/ 7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89" h="118">
                <a:moveTo>
                  <a:pt x="189" y="41"/>
                </a:moveTo>
                <a:lnTo>
                  <a:pt x="187" y="36"/>
                </a:lnTo>
                <a:lnTo>
                  <a:pt x="185" y="30"/>
                </a:lnTo>
                <a:lnTo>
                  <a:pt x="184" y="25"/>
                </a:lnTo>
                <a:lnTo>
                  <a:pt x="182" y="20"/>
                </a:lnTo>
                <a:lnTo>
                  <a:pt x="179" y="13"/>
                </a:lnTo>
                <a:lnTo>
                  <a:pt x="175" y="8"/>
                </a:lnTo>
                <a:lnTo>
                  <a:pt x="174" y="3"/>
                </a:lnTo>
                <a:lnTo>
                  <a:pt x="170" y="0"/>
                </a:lnTo>
                <a:lnTo>
                  <a:pt x="167" y="2"/>
                </a:lnTo>
                <a:lnTo>
                  <a:pt x="170" y="5"/>
                </a:lnTo>
                <a:lnTo>
                  <a:pt x="174" y="10"/>
                </a:lnTo>
                <a:lnTo>
                  <a:pt x="175" y="15"/>
                </a:lnTo>
                <a:lnTo>
                  <a:pt x="179" y="20"/>
                </a:lnTo>
                <a:lnTo>
                  <a:pt x="180" y="27"/>
                </a:lnTo>
                <a:lnTo>
                  <a:pt x="182" y="32"/>
                </a:lnTo>
                <a:lnTo>
                  <a:pt x="184" y="36"/>
                </a:lnTo>
                <a:lnTo>
                  <a:pt x="185" y="43"/>
                </a:lnTo>
                <a:lnTo>
                  <a:pt x="189" y="41"/>
                </a:lnTo>
                <a:close/>
                <a:moveTo>
                  <a:pt x="0" y="76"/>
                </a:moveTo>
                <a:lnTo>
                  <a:pt x="2" y="83"/>
                </a:lnTo>
                <a:lnTo>
                  <a:pt x="3" y="88"/>
                </a:lnTo>
                <a:lnTo>
                  <a:pt x="5" y="93"/>
                </a:lnTo>
                <a:lnTo>
                  <a:pt x="7" y="98"/>
                </a:lnTo>
                <a:lnTo>
                  <a:pt x="10" y="104"/>
                </a:lnTo>
                <a:lnTo>
                  <a:pt x="12" y="108"/>
                </a:lnTo>
                <a:lnTo>
                  <a:pt x="15" y="113"/>
                </a:lnTo>
                <a:lnTo>
                  <a:pt x="18" y="118"/>
                </a:lnTo>
                <a:lnTo>
                  <a:pt x="21" y="116"/>
                </a:lnTo>
                <a:lnTo>
                  <a:pt x="18" y="113"/>
                </a:lnTo>
                <a:lnTo>
                  <a:pt x="15" y="108"/>
                </a:lnTo>
                <a:lnTo>
                  <a:pt x="12" y="103"/>
                </a:lnTo>
                <a:lnTo>
                  <a:pt x="10" y="98"/>
                </a:lnTo>
                <a:lnTo>
                  <a:pt x="8" y="93"/>
                </a:lnTo>
                <a:lnTo>
                  <a:pt x="5" y="86"/>
                </a:lnTo>
                <a:lnTo>
                  <a:pt x="3" y="81"/>
                </a:lnTo>
                <a:lnTo>
                  <a:pt x="3" y="75"/>
                </a:lnTo>
                <a:lnTo>
                  <a:pt x="0" y="76"/>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50" name="Freeform 2155">
            <a:extLst>
              <a:ext uri="{FF2B5EF4-FFF2-40B4-BE49-F238E27FC236}">
                <a16:creationId xmlns:a16="http://schemas.microsoft.com/office/drawing/2014/main" id="{3120F8D9-426F-5C46-F846-6ABDB772EFAC}"/>
              </a:ext>
            </a:extLst>
          </p:cNvPr>
          <p:cNvSpPr>
            <a:spLocks noEditPoints="1"/>
          </p:cNvSpPr>
          <p:nvPr/>
        </p:nvSpPr>
        <p:spPr bwMode="auto">
          <a:xfrm>
            <a:off x="3373438" y="2508250"/>
            <a:ext cx="293688" cy="187325"/>
          </a:xfrm>
          <a:custGeom>
            <a:avLst/>
            <a:gdLst>
              <a:gd name="T0" fmla="*/ 185 w 185"/>
              <a:gd name="T1" fmla="*/ 41 h 118"/>
              <a:gd name="T2" fmla="*/ 183 w 185"/>
              <a:gd name="T3" fmla="*/ 36 h 118"/>
              <a:gd name="T4" fmla="*/ 182 w 185"/>
              <a:gd name="T5" fmla="*/ 32 h 118"/>
              <a:gd name="T6" fmla="*/ 180 w 185"/>
              <a:gd name="T7" fmla="*/ 25 h 118"/>
              <a:gd name="T8" fmla="*/ 178 w 185"/>
              <a:gd name="T9" fmla="*/ 20 h 118"/>
              <a:gd name="T10" fmla="*/ 175 w 185"/>
              <a:gd name="T11" fmla="*/ 15 h 118"/>
              <a:gd name="T12" fmla="*/ 173 w 185"/>
              <a:gd name="T13" fmla="*/ 10 h 118"/>
              <a:gd name="T14" fmla="*/ 170 w 185"/>
              <a:gd name="T15" fmla="*/ 5 h 118"/>
              <a:gd name="T16" fmla="*/ 167 w 185"/>
              <a:gd name="T17" fmla="*/ 0 h 118"/>
              <a:gd name="T18" fmla="*/ 164 w 185"/>
              <a:gd name="T19" fmla="*/ 2 h 118"/>
              <a:gd name="T20" fmla="*/ 167 w 185"/>
              <a:gd name="T21" fmla="*/ 7 h 118"/>
              <a:gd name="T22" fmla="*/ 170 w 185"/>
              <a:gd name="T23" fmla="*/ 12 h 118"/>
              <a:gd name="T24" fmla="*/ 172 w 185"/>
              <a:gd name="T25" fmla="*/ 17 h 118"/>
              <a:gd name="T26" fmla="*/ 175 w 185"/>
              <a:gd name="T27" fmla="*/ 22 h 118"/>
              <a:gd name="T28" fmla="*/ 177 w 185"/>
              <a:gd name="T29" fmla="*/ 27 h 118"/>
              <a:gd name="T30" fmla="*/ 178 w 185"/>
              <a:gd name="T31" fmla="*/ 32 h 118"/>
              <a:gd name="T32" fmla="*/ 180 w 185"/>
              <a:gd name="T33" fmla="*/ 38 h 118"/>
              <a:gd name="T34" fmla="*/ 182 w 185"/>
              <a:gd name="T35" fmla="*/ 43 h 118"/>
              <a:gd name="T36" fmla="*/ 185 w 185"/>
              <a:gd name="T37" fmla="*/ 41 h 118"/>
              <a:gd name="T38" fmla="*/ 0 w 185"/>
              <a:gd name="T39" fmla="*/ 76 h 118"/>
              <a:gd name="T40" fmla="*/ 1 w 185"/>
              <a:gd name="T41" fmla="*/ 81 h 118"/>
              <a:gd name="T42" fmla="*/ 3 w 185"/>
              <a:gd name="T43" fmla="*/ 88 h 118"/>
              <a:gd name="T44" fmla="*/ 5 w 185"/>
              <a:gd name="T45" fmla="*/ 93 h 118"/>
              <a:gd name="T46" fmla="*/ 6 w 185"/>
              <a:gd name="T47" fmla="*/ 98 h 118"/>
              <a:gd name="T48" fmla="*/ 10 w 185"/>
              <a:gd name="T49" fmla="*/ 103 h 118"/>
              <a:gd name="T50" fmla="*/ 11 w 185"/>
              <a:gd name="T51" fmla="*/ 108 h 118"/>
              <a:gd name="T52" fmla="*/ 14 w 185"/>
              <a:gd name="T53" fmla="*/ 113 h 118"/>
              <a:gd name="T54" fmla="*/ 18 w 185"/>
              <a:gd name="T55" fmla="*/ 118 h 118"/>
              <a:gd name="T56" fmla="*/ 21 w 185"/>
              <a:gd name="T57" fmla="*/ 116 h 118"/>
              <a:gd name="T58" fmla="*/ 18 w 185"/>
              <a:gd name="T59" fmla="*/ 111 h 118"/>
              <a:gd name="T60" fmla="*/ 14 w 185"/>
              <a:gd name="T61" fmla="*/ 106 h 118"/>
              <a:gd name="T62" fmla="*/ 11 w 185"/>
              <a:gd name="T63" fmla="*/ 101 h 118"/>
              <a:gd name="T64" fmla="*/ 10 w 185"/>
              <a:gd name="T65" fmla="*/ 96 h 118"/>
              <a:gd name="T66" fmla="*/ 6 w 185"/>
              <a:gd name="T67" fmla="*/ 91 h 118"/>
              <a:gd name="T68" fmla="*/ 5 w 185"/>
              <a:gd name="T69" fmla="*/ 86 h 118"/>
              <a:gd name="T70" fmla="*/ 3 w 185"/>
              <a:gd name="T71" fmla="*/ 81 h 118"/>
              <a:gd name="T72" fmla="*/ 3 w 185"/>
              <a:gd name="T73" fmla="*/ 75 h 118"/>
              <a:gd name="T74" fmla="*/ 0 w 185"/>
              <a:gd name="T75" fmla="*/ 7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85" h="118">
                <a:moveTo>
                  <a:pt x="185" y="41"/>
                </a:moveTo>
                <a:lnTo>
                  <a:pt x="183" y="36"/>
                </a:lnTo>
                <a:lnTo>
                  <a:pt x="182" y="32"/>
                </a:lnTo>
                <a:lnTo>
                  <a:pt x="180" y="25"/>
                </a:lnTo>
                <a:lnTo>
                  <a:pt x="178" y="20"/>
                </a:lnTo>
                <a:lnTo>
                  <a:pt x="175" y="15"/>
                </a:lnTo>
                <a:lnTo>
                  <a:pt x="173" y="10"/>
                </a:lnTo>
                <a:lnTo>
                  <a:pt x="170" y="5"/>
                </a:lnTo>
                <a:lnTo>
                  <a:pt x="167" y="0"/>
                </a:lnTo>
                <a:lnTo>
                  <a:pt x="164" y="2"/>
                </a:lnTo>
                <a:lnTo>
                  <a:pt x="167" y="7"/>
                </a:lnTo>
                <a:lnTo>
                  <a:pt x="170" y="12"/>
                </a:lnTo>
                <a:lnTo>
                  <a:pt x="172" y="17"/>
                </a:lnTo>
                <a:lnTo>
                  <a:pt x="175" y="22"/>
                </a:lnTo>
                <a:lnTo>
                  <a:pt x="177" y="27"/>
                </a:lnTo>
                <a:lnTo>
                  <a:pt x="178" y="32"/>
                </a:lnTo>
                <a:lnTo>
                  <a:pt x="180" y="38"/>
                </a:lnTo>
                <a:lnTo>
                  <a:pt x="182" y="43"/>
                </a:lnTo>
                <a:lnTo>
                  <a:pt x="185" y="41"/>
                </a:lnTo>
                <a:close/>
                <a:moveTo>
                  <a:pt x="0" y="76"/>
                </a:moveTo>
                <a:lnTo>
                  <a:pt x="1" y="81"/>
                </a:lnTo>
                <a:lnTo>
                  <a:pt x="3" y="88"/>
                </a:lnTo>
                <a:lnTo>
                  <a:pt x="5" y="93"/>
                </a:lnTo>
                <a:lnTo>
                  <a:pt x="6" y="98"/>
                </a:lnTo>
                <a:lnTo>
                  <a:pt x="10" y="103"/>
                </a:lnTo>
                <a:lnTo>
                  <a:pt x="11" y="108"/>
                </a:lnTo>
                <a:lnTo>
                  <a:pt x="14" y="113"/>
                </a:lnTo>
                <a:lnTo>
                  <a:pt x="18" y="118"/>
                </a:lnTo>
                <a:lnTo>
                  <a:pt x="21" y="116"/>
                </a:lnTo>
                <a:lnTo>
                  <a:pt x="18" y="111"/>
                </a:lnTo>
                <a:lnTo>
                  <a:pt x="14" y="106"/>
                </a:lnTo>
                <a:lnTo>
                  <a:pt x="11" y="101"/>
                </a:lnTo>
                <a:lnTo>
                  <a:pt x="10" y="96"/>
                </a:lnTo>
                <a:lnTo>
                  <a:pt x="6" y="91"/>
                </a:lnTo>
                <a:lnTo>
                  <a:pt x="5" y="86"/>
                </a:lnTo>
                <a:lnTo>
                  <a:pt x="3" y="81"/>
                </a:lnTo>
                <a:lnTo>
                  <a:pt x="3" y="75"/>
                </a:lnTo>
                <a:lnTo>
                  <a:pt x="0" y="76"/>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51" name="Freeform 2156">
            <a:extLst>
              <a:ext uri="{FF2B5EF4-FFF2-40B4-BE49-F238E27FC236}">
                <a16:creationId xmlns:a16="http://schemas.microsoft.com/office/drawing/2014/main" id="{9BE0C4A8-4FFE-E04D-1905-FD30A552945D}"/>
              </a:ext>
            </a:extLst>
          </p:cNvPr>
          <p:cNvSpPr>
            <a:spLocks noEditPoints="1"/>
          </p:cNvSpPr>
          <p:nvPr/>
        </p:nvSpPr>
        <p:spPr bwMode="auto">
          <a:xfrm>
            <a:off x="3375025" y="2511425"/>
            <a:ext cx="288925" cy="180975"/>
          </a:xfrm>
          <a:custGeom>
            <a:avLst/>
            <a:gdLst>
              <a:gd name="T0" fmla="*/ 182 w 182"/>
              <a:gd name="T1" fmla="*/ 41 h 114"/>
              <a:gd name="T2" fmla="*/ 181 w 182"/>
              <a:gd name="T3" fmla="*/ 34 h 114"/>
              <a:gd name="T4" fmla="*/ 179 w 182"/>
              <a:gd name="T5" fmla="*/ 30 h 114"/>
              <a:gd name="T6" fmla="*/ 177 w 182"/>
              <a:gd name="T7" fmla="*/ 25 h 114"/>
              <a:gd name="T8" fmla="*/ 176 w 182"/>
              <a:gd name="T9" fmla="*/ 18 h 114"/>
              <a:gd name="T10" fmla="*/ 172 w 182"/>
              <a:gd name="T11" fmla="*/ 13 h 114"/>
              <a:gd name="T12" fmla="*/ 171 w 182"/>
              <a:gd name="T13" fmla="*/ 8 h 114"/>
              <a:gd name="T14" fmla="*/ 167 w 182"/>
              <a:gd name="T15" fmla="*/ 3 h 114"/>
              <a:gd name="T16" fmla="*/ 164 w 182"/>
              <a:gd name="T17" fmla="*/ 0 h 114"/>
              <a:gd name="T18" fmla="*/ 161 w 182"/>
              <a:gd name="T19" fmla="*/ 0 h 114"/>
              <a:gd name="T20" fmla="*/ 164 w 182"/>
              <a:gd name="T21" fmla="*/ 5 h 114"/>
              <a:gd name="T22" fmla="*/ 167 w 182"/>
              <a:gd name="T23" fmla="*/ 10 h 114"/>
              <a:gd name="T24" fmla="*/ 169 w 182"/>
              <a:gd name="T25" fmla="*/ 15 h 114"/>
              <a:gd name="T26" fmla="*/ 172 w 182"/>
              <a:gd name="T27" fmla="*/ 20 h 114"/>
              <a:gd name="T28" fmla="*/ 174 w 182"/>
              <a:gd name="T29" fmla="*/ 25 h 114"/>
              <a:gd name="T30" fmla="*/ 176 w 182"/>
              <a:gd name="T31" fmla="*/ 31 h 114"/>
              <a:gd name="T32" fmla="*/ 177 w 182"/>
              <a:gd name="T33" fmla="*/ 36 h 114"/>
              <a:gd name="T34" fmla="*/ 179 w 182"/>
              <a:gd name="T35" fmla="*/ 43 h 114"/>
              <a:gd name="T36" fmla="*/ 182 w 182"/>
              <a:gd name="T37" fmla="*/ 41 h 114"/>
              <a:gd name="T38" fmla="*/ 0 w 182"/>
              <a:gd name="T39" fmla="*/ 73 h 114"/>
              <a:gd name="T40" fmla="*/ 0 w 182"/>
              <a:gd name="T41" fmla="*/ 79 h 114"/>
              <a:gd name="T42" fmla="*/ 2 w 182"/>
              <a:gd name="T43" fmla="*/ 84 h 114"/>
              <a:gd name="T44" fmla="*/ 5 w 182"/>
              <a:gd name="T45" fmla="*/ 91 h 114"/>
              <a:gd name="T46" fmla="*/ 7 w 182"/>
              <a:gd name="T47" fmla="*/ 96 h 114"/>
              <a:gd name="T48" fmla="*/ 9 w 182"/>
              <a:gd name="T49" fmla="*/ 101 h 114"/>
              <a:gd name="T50" fmla="*/ 12 w 182"/>
              <a:gd name="T51" fmla="*/ 106 h 114"/>
              <a:gd name="T52" fmla="*/ 15 w 182"/>
              <a:gd name="T53" fmla="*/ 111 h 114"/>
              <a:gd name="T54" fmla="*/ 18 w 182"/>
              <a:gd name="T55" fmla="*/ 114 h 114"/>
              <a:gd name="T56" fmla="*/ 22 w 182"/>
              <a:gd name="T57" fmla="*/ 112 h 114"/>
              <a:gd name="T58" fmla="*/ 18 w 182"/>
              <a:gd name="T59" fmla="*/ 109 h 114"/>
              <a:gd name="T60" fmla="*/ 15 w 182"/>
              <a:gd name="T61" fmla="*/ 104 h 114"/>
              <a:gd name="T62" fmla="*/ 12 w 182"/>
              <a:gd name="T63" fmla="*/ 99 h 114"/>
              <a:gd name="T64" fmla="*/ 10 w 182"/>
              <a:gd name="T65" fmla="*/ 94 h 114"/>
              <a:gd name="T66" fmla="*/ 7 w 182"/>
              <a:gd name="T67" fmla="*/ 89 h 114"/>
              <a:gd name="T68" fmla="*/ 5 w 182"/>
              <a:gd name="T69" fmla="*/ 83 h 114"/>
              <a:gd name="T70" fmla="*/ 4 w 182"/>
              <a:gd name="T71" fmla="*/ 78 h 114"/>
              <a:gd name="T72" fmla="*/ 4 w 182"/>
              <a:gd name="T73" fmla="*/ 73 h 114"/>
              <a:gd name="T74" fmla="*/ 0 w 182"/>
              <a:gd name="T75" fmla="*/ 73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82" h="114">
                <a:moveTo>
                  <a:pt x="182" y="41"/>
                </a:moveTo>
                <a:lnTo>
                  <a:pt x="181" y="34"/>
                </a:lnTo>
                <a:lnTo>
                  <a:pt x="179" y="30"/>
                </a:lnTo>
                <a:lnTo>
                  <a:pt x="177" y="25"/>
                </a:lnTo>
                <a:lnTo>
                  <a:pt x="176" y="18"/>
                </a:lnTo>
                <a:lnTo>
                  <a:pt x="172" y="13"/>
                </a:lnTo>
                <a:lnTo>
                  <a:pt x="171" y="8"/>
                </a:lnTo>
                <a:lnTo>
                  <a:pt x="167" y="3"/>
                </a:lnTo>
                <a:lnTo>
                  <a:pt x="164" y="0"/>
                </a:lnTo>
                <a:lnTo>
                  <a:pt x="161" y="0"/>
                </a:lnTo>
                <a:lnTo>
                  <a:pt x="164" y="5"/>
                </a:lnTo>
                <a:lnTo>
                  <a:pt x="167" y="10"/>
                </a:lnTo>
                <a:lnTo>
                  <a:pt x="169" y="15"/>
                </a:lnTo>
                <a:lnTo>
                  <a:pt x="172" y="20"/>
                </a:lnTo>
                <a:lnTo>
                  <a:pt x="174" y="25"/>
                </a:lnTo>
                <a:lnTo>
                  <a:pt x="176" y="31"/>
                </a:lnTo>
                <a:lnTo>
                  <a:pt x="177" y="36"/>
                </a:lnTo>
                <a:lnTo>
                  <a:pt x="179" y="43"/>
                </a:lnTo>
                <a:lnTo>
                  <a:pt x="182" y="41"/>
                </a:lnTo>
                <a:close/>
                <a:moveTo>
                  <a:pt x="0" y="73"/>
                </a:moveTo>
                <a:lnTo>
                  <a:pt x="0" y="79"/>
                </a:lnTo>
                <a:lnTo>
                  <a:pt x="2" y="84"/>
                </a:lnTo>
                <a:lnTo>
                  <a:pt x="5" y="91"/>
                </a:lnTo>
                <a:lnTo>
                  <a:pt x="7" y="96"/>
                </a:lnTo>
                <a:lnTo>
                  <a:pt x="9" y="101"/>
                </a:lnTo>
                <a:lnTo>
                  <a:pt x="12" y="106"/>
                </a:lnTo>
                <a:lnTo>
                  <a:pt x="15" y="111"/>
                </a:lnTo>
                <a:lnTo>
                  <a:pt x="18" y="114"/>
                </a:lnTo>
                <a:lnTo>
                  <a:pt x="22" y="112"/>
                </a:lnTo>
                <a:lnTo>
                  <a:pt x="18" y="109"/>
                </a:lnTo>
                <a:lnTo>
                  <a:pt x="15" y="104"/>
                </a:lnTo>
                <a:lnTo>
                  <a:pt x="12" y="99"/>
                </a:lnTo>
                <a:lnTo>
                  <a:pt x="10" y="94"/>
                </a:lnTo>
                <a:lnTo>
                  <a:pt x="7" y="89"/>
                </a:lnTo>
                <a:lnTo>
                  <a:pt x="5" y="83"/>
                </a:lnTo>
                <a:lnTo>
                  <a:pt x="4" y="78"/>
                </a:lnTo>
                <a:lnTo>
                  <a:pt x="4" y="73"/>
                </a:lnTo>
                <a:lnTo>
                  <a:pt x="0" y="73"/>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52" name="Freeform 2157">
            <a:extLst>
              <a:ext uri="{FF2B5EF4-FFF2-40B4-BE49-F238E27FC236}">
                <a16:creationId xmlns:a16="http://schemas.microsoft.com/office/drawing/2014/main" id="{8425E04B-D1EF-9023-58EA-F9D8DF2BCB2D}"/>
              </a:ext>
            </a:extLst>
          </p:cNvPr>
          <p:cNvSpPr>
            <a:spLocks noEditPoints="1"/>
          </p:cNvSpPr>
          <p:nvPr/>
        </p:nvSpPr>
        <p:spPr bwMode="auto">
          <a:xfrm>
            <a:off x="3378200" y="2511425"/>
            <a:ext cx="284163" cy="180975"/>
          </a:xfrm>
          <a:custGeom>
            <a:avLst/>
            <a:gdLst>
              <a:gd name="T0" fmla="*/ 179 w 179"/>
              <a:gd name="T1" fmla="*/ 41 h 114"/>
              <a:gd name="T2" fmla="*/ 177 w 179"/>
              <a:gd name="T3" fmla="*/ 36 h 114"/>
              <a:gd name="T4" fmla="*/ 175 w 179"/>
              <a:gd name="T5" fmla="*/ 30 h 114"/>
              <a:gd name="T6" fmla="*/ 174 w 179"/>
              <a:gd name="T7" fmla="*/ 25 h 114"/>
              <a:gd name="T8" fmla="*/ 172 w 179"/>
              <a:gd name="T9" fmla="*/ 20 h 114"/>
              <a:gd name="T10" fmla="*/ 169 w 179"/>
              <a:gd name="T11" fmla="*/ 15 h 114"/>
              <a:gd name="T12" fmla="*/ 167 w 179"/>
              <a:gd name="T13" fmla="*/ 10 h 114"/>
              <a:gd name="T14" fmla="*/ 164 w 179"/>
              <a:gd name="T15" fmla="*/ 5 h 114"/>
              <a:gd name="T16" fmla="*/ 161 w 179"/>
              <a:gd name="T17" fmla="*/ 0 h 114"/>
              <a:gd name="T18" fmla="*/ 157 w 179"/>
              <a:gd name="T19" fmla="*/ 1 h 114"/>
              <a:gd name="T20" fmla="*/ 161 w 179"/>
              <a:gd name="T21" fmla="*/ 6 h 114"/>
              <a:gd name="T22" fmla="*/ 164 w 179"/>
              <a:gd name="T23" fmla="*/ 10 h 114"/>
              <a:gd name="T24" fmla="*/ 167 w 179"/>
              <a:gd name="T25" fmla="*/ 15 h 114"/>
              <a:gd name="T26" fmla="*/ 169 w 179"/>
              <a:gd name="T27" fmla="*/ 21 h 114"/>
              <a:gd name="T28" fmla="*/ 170 w 179"/>
              <a:gd name="T29" fmla="*/ 26 h 114"/>
              <a:gd name="T30" fmla="*/ 174 w 179"/>
              <a:gd name="T31" fmla="*/ 31 h 114"/>
              <a:gd name="T32" fmla="*/ 174 w 179"/>
              <a:gd name="T33" fmla="*/ 38 h 114"/>
              <a:gd name="T34" fmla="*/ 175 w 179"/>
              <a:gd name="T35" fmla="*/ 43 h 114"/>
              <a:gd name="T36" fmla="*/ 179 w 179"/>
              <a:gd name="T37" fmla="*/ 41 h 114"/>
              <a:gd name="T38" fmla="*/ 0 w 179"/>
              <a:gd name="T39" fmla="*/ 73 h 114"/>
              <a:gd name="T40" fmla="*/ 0 w 179"/>
              <a:gd name="T41" fmla="*/ 79 h 114"/>
              <a:gd name="T42" fmla="*/ 2 w 179"/>
              <a:gd name="T43" fmla="*/ 84 h 114"/>
              <a:gd name="T44" fmla="*/ 3 w 179"/>
              <a:gd name="T45" fmla="*/ 89 h 114"/>
              <a:gd name="T46" fmla="*/ 7 w 179"/>
              <a:gd name="T47" fmla="*/ 94 h 114"/>
              <a:gd name="T48" fmla="*/ 8 w 179"/>
              <a:gd name="T49" fmla="*/ 99 h 114"/>
              <a:gd name="T50" fmla="*/ 11 w 179"/>
              <a:gd name="T51" fmla="*/ 104 h 114"/>
              <a:gd name="T52" fmla="*/ 15 w 179"/>
              <a:gd name="T53" fmla="*/ 109 h 114"/>
              <a:gd name="T54" fmla="*/ 18 w 179"/>
              <a:gd name="T55" fmla="*/ 114 h 114"/>
              <a:gd name="T56" fmla="*/ 21 w 179"/>
              <a:gd name="T57" fmla="*/ 112 h 114"/>
              <a:gd name="T58" fmla="*/ 18 w 179"/>
              <a:gd name="T59" fmla="*/ 107 h 114"/>
              <a:gd name="T60" fmla="*/ 15 w 179"/>
              <a:gd name="T61" fmla="*/ 102 h 114"/>
              <a:gd name="T62" fmla="*/ 11 w 179"/>
              <a:gd name="T63" fmla="*/ 99 h 114"/>
              <a:gd name="T64" fmla="*/ 10 w 179"/>
              <a:gd name="T65" fmla="*/ 92 h 114"/>
              <a:gd name="T66" fmla="*/ 7 w 179"/>
              <a:gd name="T67" fmla="*/ 87 h 114"/>
              <a:gd name="T68" fmla="*/ 5 w 179"/>
              <a:gd name="T69" fmla="*/ 83 h 114"/>
              <a:gd name="T70" fmla="*/ 3 w 179"/>
              <a:gd name="T71" fmla="*/ 78 h 114"/>
              <a:gd name="T72" fmla="*/ 3 w 179"/>
              <a:gd name="T73" fmla="*/ 71 h 114"/>
              <a:gd name="T74" fmla="*/ 0 w 179"/>
              <a:gd name="T75" fmla="*/ 73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79" h="114">
                <a:moveTo>
                  <a:pt x="179" y="41"/>
                </a:moveTo>
                <a:lnTo>
                  <a:pt x="177" y="36"/>
                </a:lnTo>
                <a:lnTo>
                  <a:pt x="175" y="30"/>
                </a:lnTo>
                <a:lnTo>
                  <a:pt x="174" y="25"/>
                </a:lnTo>
                <a:lnTo>
                  <a:pt x="172" y="20"/>
                </a:lnTo>
                <a:lnTo>
                  <a:pt x="169" y="15"/>
                </a:lnTo>
                <a:lnTo>
                  <a:pt x="167" y="10"/>
                </a:lnTo>
                <a:lnTo>
                  <a:pt x="164" y="5"/>
                </a:lnTo>
                <a:lnTo>
                  <a:pt x="161" y="0"/>
                </a:lnTo>
                <a:lnTo>
                  <a:pt x="157" y="1"/>
                </a:lnTo>
                <a:lnTo>
                  <a:pt x="161" y="6"/>
                </a:lnTo>
                <a:lnTo>
                  <a:pt x="164" y="10"/>
                </a:lnTo>
                <a:lnTo>
                  <a:pt x="167" y="15"/>
                </a:lnTo>
                <a:lnTo>
                  <a:pt x="169" y="21"/>
                </a:lnTo>
                <a:lnTo>
                  <a:pt x="170" y="26"/>
                </a:lnTo>
                <a:lnTo>
                  <a:pt x="174" y="31"/>
                </a:lnTo>
                <a:lnTo>
                  <a:pt x="174" y="38"/>
                </a:lnTo>
                <a:lnTo>
                  <a:pt x="175" y="43"/>
                </a:lnTo>
                <a:lnTo>
                  <a:pt x="179" y="41"/>
                </a:lnTo>
                <a:close/>
                <a:moveTo>
                  <a:pt x="0" y="73"/>
                </a:moveTo>
                <a:lnTo>
                  <a:pt x="0" y="79"/>
                </a:lnTo>
                <a:lnTo>
                  <a:pt x="2" y="84"/>
                </a:lnTo>
                <a:lnTo>
                  <a:pt x="3" y="89"/>
                </a:lnTo>
                <a:lnTo>
                  <a:pt x="7" y="94"/>
                </a:lnTo>
                <a:lnTo>
                  <a:pt x="8" y="99"/>
                </a:lnTo>
                <a:lnTo>
                  <a:pt x="11" y="104"/>
                </a:lnTo>
                <a:lnTo>
                  <a:pt x="15" y="109"/>
                </a:lnTo>
                <a:lnTo>
                  <a:pt x="18" y="114"/>
                </a:lnTo>
                <a:lnTo>
                  <a:pt x="21" y="112"/>
                </a:lnTo>
                <a:lnTo>
                  <a:pt x="18" y="107"/>
                </a:lnTo>
                <a:lnTo>
                  <a:pt x="15" y="102"/>
                </a:lnTo>
                <a:lnTo>
                  <a:pt x="11" y="99"/>
                </a:lnTo>
                <a:lnTo>
                  <a:pt x="10" y="92"/>
                </a:lnTo>
                <a:lnTo>
                  <a:pt x="7" y="87"/>
                </a:lnTo>
                <a:lnTo>
                  <a:pt x="5" y="83"/>
                </a:lnTo>
                <a:lnTo>
                  <a:pt x="3" y="78"/>
                </a:lnTo>
                <a:lnTo>
                  <a:pt x="3" y="71"/>
                </a:lnTo>
                <a:lnTo>
                  <a:pt x="0" y="73"/>
                </a:lnTo>
                <a:close/>
              </a:path>
            </a:pathLst>
          </a:custGeom>
          <a:solidFill>
            <a:srgbClr val="C4E4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53" name="Freeform 2158">
            <a:extLst>
              <a:ext uri="{FF2B5EF4-FFF2-40B4-BE49-F238E27FC236}">
                <a16:creationId xmlns:a16="http://schemas.microsoft.com/office/drawing/2014/main" id="{BD908EF8-7071-5699-D9DC-EDD673FE1269}"/>
              </a:ext>
            </a:extLst>
          </p:cNvPr>
          <p:cNvSpPr>
            <a:spLocks noEditPoints="1"/>
          </p:cNvSpPr>
          <p:nvPr/>
        </p:nvSpPr>
        <p:spPr bwMode="auto">
          <a:xfrm>
            <a:off x="3381375" y="2511425"/>
            <a:ext cx="277813" cy="177800"/>
          </a:xfrm>
          <a:custGeom>
            <a:avLst/>
            <a:gdLst>
              <a:gd name="T0" fmla="*/ 175 w 175"/>
              <a:gd name="T1" fmla="*/ 43 h 112"/>
              <a:gd name="T2" fmla="*/ 173 w 175"/>
              <a:gd name="T3" fmla="*/ 36 h 112"/>
              <a:gd name="T4" fmla="*/ 172 w 175"/>
              <a:gd name="T5" fmla="*/ 31 h 112"/>
              <a:gd name="T6" fmla="*/ 170 w 175"/>
              <a:gd name="T7" fmla="*/ 25 h 112"/>
              <a:gd name="T8" fmla="*/ 168 w 175"/>
              <a:gd name="T9" fmla="*/ 20 h 112"/>
              <a:gd name="T10" fmla="*/ 165 w 175"/>
              <a:gd name="T11" fmla="*/ 15 h 112"/>
              <a:gd name="T12" fmla="*/ 163 w 175"/>
              <a:gd name="T13" fmla="*/ 10 h 112"/>
              <a:gd name="T14" fmla="*/ 160 w 175"/>
              <a:gd name="T15" fmla="*/ 5 h 112"/>
              <a:gd name="T16" fmla="*/ 157 w 175"/>
              <a:gd name="T17" fmla="*/ 0 h 112"/>
              <a:gd name="T18" fmla="*/ 154 w 175"/>
              <a:gd name="T19" fmla="*/ 1 h 112"/>
              <a:gd name="T20" fmla="*/ 157 w 175"/>
              <a:gd name="T21" fmla="*/ 6 h 112"/>
              <a:gd name="T22" fmla="*/ 160 w 175"/>
              <a:gd name="T23" fmla="*/ 11 h 112"/>
              <a:gd name="T24" fmla="*/ 163 w 175"/>
              <a:gd name="T25" fmla="*/ 16 h 112"/>
              <a:gd name="T26" fmla="*/ 165 w 175"/>
              <a:gd name="T27" fmla="*/ 21 h 112"/>
              <a:gd name="T28" fmla="*/ 167 w 175"/>
              <a:gd name="T29" fmla="*/ 26 h 112"/>
              <a:gd name="T30" fmla="*/ 170 w 175"/>
              <a:gd name="T31" fmla="*/ 33 h 112"/>
              <a:gd name="T32" fmla="*/ 170 w 175"/>
              <a:gd name="T33" fmla="*/ 38 h 112"/>
              <a:gd name="T34" fmla="*/ 172 w 175"/>
              <a:gd name="T35" fmla="*/ 44 h 112"/>
              <a:gd name="T36" fmla="*/ 175 w 175"/>
              <a:gd name="T37" fmla="*/ 43 h 112"/>
              <a:gd name="T38" fmla="*/ 0 w 175"/>
              <a:gd name="T39" fmla="*/ 73 h 112"/>
              <a:gd name="T40" fmla="*/ 0 w 175"/>
              <a:gd name="T41" fmla="*/ 78 h 112"/>
              <a:gd name="T42" fmla="*/ 1 w 175"/>
              <a:gd name="T43" fmla="*/ 83 h 112"/>
              <a:gd name="T44" fmla="*/ 3 w 175"/>
              <a:gd name="T45" fmla="*/ 89 h 112"/>
              <a:gd name="T46" fmla="*/ 6 w 175"/>
              <a:gd name="T47" fmla="*/ 94 h 112"/>
              <a:gd name="T48" fmla="*/ 8 w 175"/>
              <a:gd name="T49" fmla="*/ 99 h 112"/>
              <a:gd name="T50" fmla="*/ 11 w 175"/>
              <a:gd name="T51" fmla="*/ 104 h 112"/>
              <a:gd name="T52" fmla="*/ 14 w 175"/>
              <a:gd name="T53" fmla="*/ 109 h 112"/>
              <a:gd name="T54" fmla="*/ 18 w 175"/>
              <a:gd name="T55" fmla="*/ 112 h 112"/>
              <a:gd name="T56" fmla="*/ 21 w 175"/>
              <a:gd name="T57" fmla="*/ 112 h 112"/>
              <a:gd name="T58" fmla="*/ 18 w 175"/>
              <a:gd name="T59" fmla="*/ 107 h 112"/>
              <a:gd name="T60" fmla="*/ 14 w 175"/>
              <a:gd name="T61" fmla="*/ 102 h 112"/>
              <a:gd name="T62" fmla="*/ 11 w 175"/>
              <a:gd name="T63" fmla="*/ 97 h 112"/>
              <a:gd name="T64" fmla="*/ 9 w 175"/>
              <a:gd name="T65" fmla="*/ 92 h 112"/>
              <a:gd name="T66" fmla="*/ 6 w 175"/>
              <a:gd name="T67" fmla="*/ 87 h 112"/>
              <a:gd name="T68" fmla="*/ 5 w 175"/>
              <a:gd name="T69" fmla="*/ 83 h 112"/>
              <a:gd name="T70" fmla="*/ 3 w 175"/>
              <a:gd name="T71" fmla="*/ 76 h 112"/>
              <a:gd name="T72" fmla="*/ 1 w 175"/>
              <a:gd name="T73" fmla="*/ 71 h 112"/>
              <a:gd name="T74" fmla="*/ 0 w 175"/>
              <a:gd name="T75" fmla="*/ 73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75" h="112">
                <a:moveTo>
                  <a:pt x="175" y="43"/>
                </a:moveTo>
                <a:lnTo>
                  <a:pt x="173" y="36"/>
                </a:lnTo>
                <a:lnTo>
                  <a:pt x="172" y="31"/>
                </a:lnTo>
                <a:lnTo>
                  <a:pt x="170" y="25"/>
                </a:lnTo>
                <a:lnTo>
                  <a:pt x="168" y="20"/>
                </a:lnTo>
                <a:lnTo>
                  <a:pt x="165" y="15"/>
                </a:lnTo>
                <a:lnTo>
                  <a:pt x="163" y="10"/>
                </a:lnTo>
                <a:lnTo>
                  <a:pt x="160" y="5"/>
                </a:lnTo>
                <a:lnTo>
                  <a:pt x="157" y="0"/>
                </a:lnTo>
                <a:lnTo>
                  <a:pt x="154" y="1"/>
                </a:lnTo>
                <a:lnTo>
                  <a:pt x="157" y="6"/>
                </a:lnTo>
                <a:lnTo>
                  <a:pt x="160" y="11"/>
                </a:lnTo>
                <a:lnTo>
                  <a:pt x="163" y="16"/>
                </a:lnTo>
                <a:lnTo>
                  <a:pt x="165" y="21"/>
                </a:lnTo>
                <a:lnTo>
                  <a:pt x="167" y="26"/>
                </a:lnTo>
                <a:lnTo>
                  <a:pt x="170" y="33"/>
                </a:lnTo>
                <a:lnTo>
                  <a:pt x="170" y="38"/>
                </a:lnTo>
                <a:lnTo>
                  <a:pt x="172" y="44"/>
                </a:lnTo>
                <a:lnTo>
                  <a:pt x="175" y="43"/>
                </a:lnTo>
                <a:close/>
                <a:moveTo>
                  <a:pt x="0" y="73"/>
                </a:moveTo>
                <a:lnTo>
                  <a:pt x="0" y="78"/>
                </a:lnTo>
                <a:lnTo>
                  <a:pt x="1" y="83"/>
                </a:lnTo>
                <a:lnTo>
                  <a:pt x="3" y="89"/>
                </a:lnTo>
                <a:lnTo>
                  <a:pt x="6" y="94"/>
                </a:lnTo>
                <a:lnTo>
                  <a:pt x="8" y="99"/>
                </a:lnTo>
                <a:lnTo>
                  <a:pt x="11" y="104"/>
                </a:lnTo>
                <a:lnTo>
                  <a:pt x="14" y="109"/>
                </a:lnTo>
                <a:lnTo>
                  <a:pt x="18" y="112"/>
                </a:lnTo>
                <a:lnTo>
                  <a:pt x="21" y="112"/>
                </a:lnTo>
                <a:lnTo>
                  <a:pt x="18" y="107"/>
                </a:lnTo>
                <a:lnTo>
                  <a:pt x="14" y="102"/>
                </a:lnTo>
                <a:lnTo>
                  <a:pt x="11" y="97"/>
                </a:lnTo>
                <a:lnTo>
                  <a:pt x="9" y="92"/>
                </a:lnTo>
                <a:lnTo>
                  <a:pt x="6" y="87"/>
                </a:lnTo>
                <a:lnTo>
                  <a:pt x="5" y="83"/>
                </a:lnTo>
                <a:lnTo>
                  <a:pt x="3" y="76"/>
                </a:lnTo>
                <a:lnTo>
                  <a:pt x="1" y="71"/>
                </a:lnTo>
                <a:lnTo>
                  <a:pt x="0" y="73"/>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54" name="Freeform 2159">
            <a:extLst>
              <a:ext uri="{FF2B5EF4-FFF2-40B4-BE49-F238E27FC236}">
                <a16:creationId xmlns:a16="http://schemas.microsoft.com/office/drawing/2014/main" id="{2392EB62-6C7C-9E56-7B5C-E30BC4299D7A}"/>
              </a:ext>
            </a:extLst>
          </p:cNvPr>
          <p:cNvSpPr>
            <a:spLocks noEditPoints="1"/>
          </p:cNvSpPr>
          <p:nvPr/>
        </p:nvSpPr>
        <p:spPr bwMode="auto">
          <a:xfrm>
            <a:off x="3382963" y="2513013"/>
            <a:ext cx="273050" cy="176213"/>
          </a:xfrm>
          <a:custGeom>
            <a:avLst/>
            <a:gdLst>
              <a:gd name="T0" fmla="*/ 172 w 172"/>
              <a:gd name="T1" fmla="*/ 42 h 111"/>
              <a:gd name="T2" fmla="*/ 171 w 172"/>
              <a:gd name="T3" fmla="*/ 37 h 111"/>
              <a:gd name="T4" fmla="*/ 171 w 172"/>
              <a:gd name="T5" fmla="*/ 30 h 111"/>
              <a:gd name="T6" fmla="*/ 167 w 172"/>
              <a:gd name="T7" fmla="*/ 25 h 111"/>
              <a:gd name="T8" fmla="*/ 166 w 172"/>
              <a:gd name="T9" fmla="*/ 20 h 111"/>
              <a:gd name="T10" fmla="*/ 164 w 172"/>
              <a:gd name="T11" fmla="*/ 14 h 111"/>
              <a:gd name="T12" fmla="*/ 161 w 172"/>
              <a:gd name="T13" fmla="*/ 9 h 111"/>
              <a:gd name="T14" fmla="*/ 158 w 172"/>
              <a:gd name="T15" fmla="*/ 5 h 111"/>
              <a:gd name="T16" fmla="*/ 154 w 172"/>
              <a:gd name="T17" fmla="*/ 0 h 111"/>
              <a:gd name="T18" fmla="*/ 151 w 172"/>
              <a:gd name="T19" fmla="*/ 2 h 111"/>
              <a:gd name="T20" fmla="*/ 154 w 172"/>
              <a:gd name="T21" fmla="*/ 5 h 111"/>
              <a:gd name="T22" fmla="*/ 158 w 172"/>
              <a:gd name="T23" fmla="*/ 10 h 111"/>
              <a:gd name="T24" fmla="*/ 161 w 172"/>
              <a:gd name="T25" fmla="*/ 15 h 111"/>
              <a:gd name="T26" fmla="*/ 162 w 172"/>
              <a:gd name="T27" fmla="*/ 20 h 111"/>
              <a:gd name="T28" fmla="*/ 166 w 172"/>
              <a:gd name="T29" fmla="*/ 27 h 111"/>
              <a:gd name="T30" fmla="*/ 167 w 172"/>
              <a:gd name="T31" fmla="*/ 32 h 111"/>
              <a:gd name="T32" fmla="*/ 169 w 172"/>
              <a:gd name="T33" fmla="*/ 37 h 111"/>
              <a:gd name="T34" fmla="*/ 169 w 172"/>
              <a:gd name="T35" fmla="*/ 43 h 111"/>
              <a:gd name="T36" fmla="*/ 172 w 172"/>
              <a:gd name="T37" fmla="*/ 42 h 111"/>
              <a:gd name="T38" fmla="*/ 0 w 172"/>
              <a:gd name="T39" fmla="*/ 70 h 111"/>
              <a:gd name="T40" fmla="*/ 0 w 172"/>
              <a:gd name="T41" fmla="*/ 77 h 111"/>
              <a:gd name="T42" fmla="*/ 2 w 172"/>
              <a:gd name="T43" fmla="*/ 82 h 111"/>
              <a:gd name="T44" fmla="*/ 4 w 172"/>
              <a:gd name="T45" fmla="*/ 86 h 111"/>
              <a:gd name="T46" fmla="*/ 7 w 172"/>
              <a:gd name="T47" fmla="*/ 91 h 111"/>
              <a:gd name="T48" fmla="*/ 8 w 172"/>
              <a:gd name="T49" fmla="*/ 98 h 111"/>
              <a:gd name="T50" fmla="*/ 12 w 172"/>
              <a:gd name="T51" fmla="*/ 101 h 111"/>
              <a:gd name="T52" fmla="*/ 15 w 172"/>
              <a:gd name="T53" fmla="*/ 106 h 111"/>
              <a:gd name="T54" fmla="*/ 18 w 172"/>
              <a:gd name="T55" fmla="*/ 111 h 111"/>
              <a:gd name="T56" fmla="*/ 22 w 172"/>
              <a:gd name="T57" fmla="*/ 110 h 111"/>
              <a:gd name="T58" fmla="*/ 18 w 172"/>
              <a:gd name="T59" fmla="*/ 105 h 111"/>
              <a:gd name="T60" fmla="*/ 15 w 172"/>
              <a:gd name="T61" fmla="*/ 101 h 111"/>
              <a:gd name="T62" fmla="*/ 12 w 172"/>
              <a:gd name="T63" fmla="*/ 96 h 111"/>
              <a:gd name="T64" fmla="*/ 8 w 172"/>
              <a:gd name="T65" fmla="*/ 91 h 111"/>
              <a:gd name="T66" fmla="*/ 7 w 172"/>
              <a:gd name="T67" fmla="*/ 85 h 111"/>
              <a:gd name="T68" fmla="*/ 5 w 172"/>
              <a:gd name="T69" fmla="*/ 80 h 111"/>
              <a:gd name="T70" fmla="*/ 4 w 172"/>
              <a:gd name="T71" fmla="*/ 75 h 111"/>
              <a:gd name="T72" fmla="*/ 2 w 172"/>
              <a:gd name="T73" fmla="*/ 68 h 111"/>
              <a:gd name="T74" fmla="*/ 0 w 172"/>
              <a:gd name="T75" fmla="*/ 70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72" h="111">
                <a:moveTo>
                  <a:pt x="172" y="42"/>
                </a:moveTo>
                <a:lnTo>
                  <a:pt x="171" y="37"/>
                </a:lnTo>
                <a:lnTo>
                  <a:pt x="171" y="30"/>
                </a:lnTo>
                <a:lnTo>
                  <a:pt x="167" y="25"/>
                </a:lnTo>
                <a:lnTo>
                  <a:pt x="166" y="20"/>
                </a:lnTo>
                <a:lnTo>
                  <a:pt x="164" y="14"/>
                </a:lnTo>
                <a:lnTo>
                  <a:pt x="161" y="9"/>
                </a:lnTo>
                <a:lnTo>
                  <a:pt x="158" y="5"/>
                </a:lnTo>
                <a:lnTo>
                  <a:pt x="154" y="0"/>
                </a:lnTo>
                <a:lnTo>
                  <a:pt x="151" y="2"/>
                </a:lnTo>
                <a:lnTo>
                  <a:pt x="154" y="5"/>
                </a:lnTo>
                <a:lnTo>
                  <a:pt x="158" y="10"/>
                </a:lnTo>
                <a:lnTo>
                  <a:pt x="161" y="15"/>
                </a:lnTo>
                <a:lnTo>
                  <a:pt x="162" y="20"/>
                </a:lnTo>
                <a:lnTo>
                  <a:pt x="166" y="27"/>
                </a:lnTo>
                <a:lnTo>
                  <a:pt x="167" y="32"/>
                </a:lnTo>
                <a:lnTo>
                  <a:pt x="169" y="37"/>
                </a:lnTo>
                <a:lnTo>
                  <a:pt x="169" y="43"/>
                </a:lnTo>
                <a:lnTo>
                  <a:pt x="172" y="42"/>
                </a:lnTo>
                <a:close/>
                <a:moveTo>
                  <a:pt x="0" y="70"/>
                </a:moveTo>
                <a:lnTo>
                  <a:pt x="0" y="77"/>
                </a:lnTo>
                <a:lnTo>
                  <a:pt x="2" y="82"/>
                </a:lnTo>
                <a:lnTo>
                  <a:pt x="4" y="86"/>
                </a:lnTo>
                <a:lnTo>
                  <a:pt x="7" y="91"/>
                </a:lnTo>
                <a:lnTo>
                  <a:pt x="8" y="98"/>
                </a:lnTo>
                <a:lnTo>
                  <a:pt x="12" y="101"/>
                </a:lnTo>
                <a:lnTo>
                  <a:pt x="15" y="106"/>
                </a:lnTo>
                <a:lnTo>
                  <a:pt x="18" y="111"/>
                </a:lnTo>
                <a:lnTo>
                  <a:pt x="22" y="110"/>
                </a:lnTo>
                <a:lnTo>
                  <a:pt x="18" y="105"/>
                </a:lnTo>
                <a:lnTo>
                  <a:pt x="15" y="101"/>
                </a:lnTo>
                <a:lnTo>
                  <a:pt x="12" y="96"/>
                </a:lnTo>
                <a:lnTo>
                  <a:pt x="8" y="91"/>
                </a:lnTo>
                <a:lnTo>
                  <a:pt x="7" y="85"/>
                </a:lnTo>
                <a:lnTo>
                  <a:pt x="5" y="80"/>
                </a:lnTo>
                <a:lnTo>
                  <a:pt x="4" y="75"/>
                </a:lnTo>
                <a:lnTo>
                  <a:pt x="2" y="68"/>
                </a:lnTo>
                <a:lnTo>
                  <a:pt x="0" y="7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55" name="Freeform 2160">
            <a:extLst>
              <a:ext uri="{FF2B5EF4-FFF2-40B4-BE49-F238E27FC236}">
                <a16:creationId xmlns:a16="http://schemas.microsoft.com/office/drawing/2014/main" id="{7A22ED95-12E9-9D44-5A94-F2B5490A4A46}"/>
              </a:ext>
            </a:extLst>
          </p:cNvPr>
          <p:cNvSpPr>
            <a:spLocks noEditPoints="1"/>
          </p:cNvSpPr>
          <p:nvPr/>
        </p:nvSpPr>
        <p:spPr bwMode="auto">
          <a:xfrm>
            <a:off x="3382963" y="2513013"/>
            <a:ext cx="271463" cy="176213"/>
          </a:xfrm>
          <a:custGeom>
            <a:avLst/>
            <a:gdLst>
              <a:gd name="T0" fmla="*/ 171 w 171"/>
              <a:gd name="T1" fmla="*/ 43 h 111"/>
              <a:gd name="T2" fmla="*/ 169 w 171"/>
              <a:gd name="T3" fmla="*/ 37 h 111"/>
              <a:gd name="T4" fmla="*/ 169 w 171"/>
              <a:gd name="T5" fmla="*/ 32 h 111"/>
              <a:gd name="T6" fmla="*/ 166 w 171"/>
              <a:gd name="T7" fmla="*/ 25 h 111"/>
              <a:gd name="T8" fmla="*/ 164 w 171"/>
              <a:gd name="T9" fmla="*/ 20 h 111"/>
              <a:gd name="T10" fmla="*/ 162 w 171"/>
              <a:gd name="T11" fmla="*/ 15 h 111"/>
              <a:gd name="T12" fmla="*/ 159 w 171"/>
              <a:gd name="T13" fmla="*/ 10 h 111"/>
              <a:gd name="T14" fmla="*/ 156 w 171"/>
              <a:gd name="T15" fmla="*/ 5 h 111"/>
              <a:gd name="T16" fmla="*/ 153 w 171"/>
              <a:gd name="T17" fmla="*/ 0 h 111"/>
              <a:gd name="T18" fmla="*/ 149 w 171"/>
              <a:gd name="T19" fmla="*/ 2 h 111"/>
              <a:gd name="T20" fmla="*/ 153 w 171"/>
              <a:gd name="T21" fmla="*/ 7 h 111"/>
              <a:gd name="T22" fmla="*/ 156 w 171"/>
              <a:gd name="T23" fmla="*/ 12 h 111"/>
              <a:gd name="T24" fmla="*/ 159 w 171"/>
              <a:gd name="T25" fmla="*/ 17 h 111"/>
              <a:gd name="T26" fmla="*/ 161 w 171"/>
              <a:gd name="T27" fmla="*/ 22 h 111"/>
              <a:gd name="T28" fmla="*/ 164 w 171"/>
              <a:gd name="T29" fmla="*/ 27 h 111"/>
              <a:gd name="T30" fmla="*/ 166 w 171"/>
              <a:gd name="T31" fmla="*/ 32 h 111"/>
              <a:gd name="T32" fmla="*/ 167 w 171"/>
              <a:gd name="T33" fmla="*/ 38 h 111"/>
              <a:gd name="T34" fmla="*/ 167 w 171"/>
              <a:gd name="T35" fmla="*/ 43 h 111"/>
              <a:gd name="T36" fmla="*/ 171 w 171"/>
              <a:gd name="T37" fmla="*/ 43 h 111"/>
              <a:gd name="T38" fmla="*/ 0 w 171"/>
              <a:gd name="T39" fmla="*/ 70 h 111"/>
              <a:gd name="T40" fmla="*/ 2 w 171"/>
              <a:gd name="T41" fmla="*/ 75 h 111"/>
              <a:gd name="T42" fmla="*/ 4 w 171"/>
              <a:gd name="T43" fmla="*/ 82 h 111"/>
              <a:gd name="T44" fmla="*/ 5 w 171"/>
              <a:gd name="T45" fmla="*/ 86 h 111"/>
              <a:gd name="T46" fmla="*/ 8 w 171"/>
              <a:gd name="T47" fmla="*/ 91 h 111"/>
              <a:gd name="T48" fmla="*/ 10 w 171"/>
              <a:gd name="T49" fmla="*/ 96 h 111"/>
              <a:gd name="T50" fmla="*/ 13 w 171"/>
              <a:gd name="T51" fmla="*/ 101 h 111"/>
              <a:gd name="T52" fmla="*/ 17 w 171"/>
              <a:gd name="T53" fmla="*/ 106 h 111"/>
              <a:gd name="T54" fmla="*/ 20 w 171"/>
              <a:gd name="T55" fmla="*/ 111 h 111"/>
              <a:gd name="T56" fmla="*/ 23 w 171"/>
              <a:gd name="T57" fmla="*/ 110 h 111"/>
              <a:gd name="T58" fmla="*/ 20 w 171"/>
              <a:gd name="T59" fmla="*/ 105 h 111"/>
              <a:gd name="T60" fmla="*/ 17 w 171"/>
              <a:gd name="T61" fmla="*/ 100 h 111"/>
              <a:gd name="T62" fmla="*/ 13 w 171"/>
              <a:gd name="T63" fmla="*/ 95 h 111"/>
              <a:gd name="T64" fmla="*/ 10 w 171"/>
              <a:gd name="T65" fmla="*/ 90 h 111"/>
              <a:gd name="T66" fmla="*/ 8 w 171"/>
              <a:gd name="T67" fmla="*/ 85 h 111"/>
              <a:gd name="T68" fmla="*/ 7 w 171"/>
              <a:gd name="T69" fmla="*/ 80 h 111"/>
              <a:gd name="T70" fmla="*/ 5 w 171"/>
              <a:gd name="T71" fmla="*/ 73 h 111"/>
              <a:gd name="T72" fmla="*/ 4 w 171"/>
              <a:gd name="T73" fmla="*/ 68 h 111"/>
              <a:gd name="T74" fmla="*/ 0 w 171"/>
              <a:gd name="T75" fmla="*/ 70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71" h="111">
                <a:moveTo>
                  <a:pt x="171" y="43"/>
                </a:moveTo>
                <a:lnTo>
                  <a:pt x="169" y="37"/>
                </a:lnTo>
                <a:lnTo>
                  <a:pt x="169" y="32"/>
                </a:lnTo>
                <a:lnTo>
                  <a:pt x="166" y="25"/>
                </a:lnTo>
                <a:lnTo>
                  <a:pt x="164" y="20"/>
                </a:lnTo>
                <a:lnTo>
                  <a:pt x="162" y="15"/>
                </a:lnTo>
                <a:lnTo>
                  <a:pt x="159" y="10"/>
                </a:lnTo>
                <a:lnTo>
                  <a:pt x="156" y="5"/>
                </a:lnTo>
                <a:lnTo>
                  <a:pt x="153" y="0"/>
                </a:lnTo>
                <a:lnTo>
                  <a:pt x="149" y="2"/>
                </a:lnTo>
                <a:lnTo>
                  <a:pt x="153" y="7"/>
                </a:lnTo>
                <a:lnTo>
                  <a:pt x="156" y="12"/>
                </a:lnTo>
                <a:lnTo>
                  <a:pt x="159" y="17"/>
                </a:lnTo>
                <a:lnTo>
                  <a:pt x="161" y="22"/>
                </a:lnTo>
                <a:lnTo>
                  <a:pt x="164" y="27"/>
                </a:lnTo>
                <a:lnTo>
                  <a:pt x="166" y="32"/>
                </a:lnTo>
                <a:lnTo>
                  <a:pt x="167" y="38"/>
                </a:lnTo>
                <a:lnTo>
                  <a:pt x="167" y="43"/>
                </a:lnTo>
                <a:lnTo>
                  <a:pt x="171" y="43"/>
                </a:lnTo>
                <a:close/>
                <a:moveTo>
                  <a:pt x="0" y="70"/>
                </a:moveTo>
                <a:lnTo>
                  <a:pt x="2" y="75"/>
                </a:lnTo>
                <a:lnTo>
                  <a:pt x="4" y="82"/>
                </a:lnTo>
                <a:lnTo>
                  <a:pt x="5" y="86"/>
                </a:lnTo>
                <a:lnTo>
                  <a:pt x="8" y="91"/>
                </a:lnTo>
                <a:lnTo>
                  <a:pt x="10" y="96"/>
                </a:lnTo>
                <a:lnTo>
                  <a:pt x="13" y="101"/>
                </a:lnTo>
                <a:lnTo>
                  <a:pt x="17" y="106"/>
                </a:lnTo>
                <a:lnTo>
                  <a:pt x="20" y="111"/>
                </a:lnTo>
                <a:lnTo>
                  <a:pt x="23" y="110"/>
                </a:lnTo>
                <a:lnTo>
                  <a:pt x="20" y="105"/>
                </a:lnTo>
                <a:lnTo>
                  <a:pt x="17" y="100"/>
                </a:lnTo>
                <a:lnTo>
                  <a:pt x="13" y="95"/>
                </a:lnTo>
                <a:lnTo>
                  <a:pt x="10" y="90"/>
                </a:lnTo>
                <a:lnTo>
                  <a:pt x="8" y="85"/>
                </a:lnTo>
                <a:lnTo>
                  <a:pt x="7" y="80"/>
                </a:lnTo>
                <a:lnTo>
                  <a:pt x="5" y="73"/>
                </a:lnTo>
                <a:lnTo>
                  <a:pt x="4" y="68"/>
                </a:lnTo>
                <a:lnTo>
                  <a:pt x="0" y="70"/>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56" name="Freeform 2161">
            <a:extLst>
              <a:ext uri="{FF2B5EF4-FFF2-40B4-BE49-F238E27FC236}">
                <a16:creationId xmlns:a16="http://schemas.microsoft.com/office/drawing/2014/main" id="{11A30810-375E-F06D-5F91-1AF70C67E6A0}"/>
              </a:ext>
            </a:extLst>
          </p:cNvPr>
          <p:cNvSpPr>
            <a:spLocks noEditPoints="1"/>
          </p:cNvSpPr>
          <p:nvPr/>
        </p:nvSpPr>
        <p:spPr bwMode="auto">
          <a:xfrm>
            <a:off x="3386138" y="2516188"/>
            <a:ext cx="265113" cy="171450"/>
          </a:xfrm>
          <a:custGeom>
            <a:avLst/>
            <a:gdLst>
              <a:gd name="T0" fmla="*/ 167 w 167"/>
              <a:gd name="T1" fmla="*/ 41 h 108"/>
              <a:gd name="T2" fmla="*/ 167 w 167"/>
              <a:gd name="T3" fmla="*/ 35 h 108"/>
              <a:gd name="T4" fmla="*/ 165 w 167"/>
              <a:gd name="T5" fmla="*/ 30 h 108"/>
              <a:gd name="T6" fmla="*/ 164 w 167"/>
              <a:gd name="T7" fmla="*/ 25 h 108"/>
              <a:gd name="T8" fmla="*/ 160 w 167"/>
              <a:gd name="T9" fmla="*/ 18 h 108"/>
              <a:gd name="T10" fmla="*/ 159 w 167"/>
              <a:gd name="T11" fmla="*/ 13 h 108"/>
              <a:gd name="T12" fmla="*/ 156 w 167"/>
              <a:gd name="T13" fmla="*/ 8 h 108"/>
              <a:gd name="T14" fmla="*/ 152 w 167"/>
              <a:gd name="T15" fmla="*/ 3 h 108"/>
              <a:gd name="T16" fmla="*/ 149 w 167"/>
              <a:gd name="T17" fmla="*/ 0 h 108"/>
              <a:gd name="T18" fmla="*/ 146 w 167"/>
              <a:gd name="T19" fmla="*/ 0 h 108"/>
              <a:gd name="T20" fmla="*/ 149 w 167"/>
              <a:gd name="T21" fmla="*/ 5 h 108"/>
              <a:gd name="T22" fmla="*/ 152 w 167"/>
              <a:gd name="T23" fmla="*/ 10 h 108"/>
              <a:gd name="T24" fmla="*/ 156 w 167"/>
              <a:gd name="T25" fmla="*/ 15 h 108"/>
              <a:gd name="T26" fmla="*/ 157 w 167"/>
              <a:gd name="T27" fmla="*/ 20 h 108"/>
              <a:gd name="T28" fmla="*/ 160 w 167"/>
              <a:gd name="T29" fmla="*/ 25 h 108"/>
              <a:gd name="T30" fmla="*/ 162 w 167"/>
              <a:gd name="T31" fmla="*/ 31 h 108"/>
              <a:gd name="T32" fmla="*/ 164 w 167"/>
              <a:gd name="T33" fmla="*/ 36 h 108"/>
              <a:gd name="T34" fmla="*/ 164 w 167"/>
              <a:gd name="T35" fmla="*/ 43 h 108"/>
              <a:gd name="T36" fmla="*/ 167 w 167"/>
              <a:gd name="T37" fmla="*/ 41 h 108"/>
              <a:gd name="T38" fmla="*/ 0 w 167"/>
              <a:gd name="T39" fmla="*/ 66 h 108"/>
              <a:gd name="T40" fmla="*/ 2 w 167"/>
              <a:gd name="T41" fmla="*/ 73 h 108"/>
              <a:gd name="T42" fmla="*/ 3 w 167"/>
              <a:gd name="T43" fmla="*/ 78 h 108"/>
              <a:gd name="T44" fmla="*/ 5 w 167"/>
              <a:gd name="T45" fmla="*/ 83 h 108"/>
              <a:gd name="T46" fmla="*/ 6 w 167"/>
              <a:gd name="T47" fmla="*/ 89 h 108"/>
              <a:gd name="T48" fmla="*/ 10 w 167"/>
              <a:gd name="T49" fmla="*/ 94 h 108"/>
              <a:gd name="T50" fmla="*/ 13 w 167"/>
              <a:gd name="T51" fmla="*/ 99 h 108"/>
              <a:gd name="T52" fmla="*/ 16 w 167"/>
              <a:gd name="T53" fmla="*/ 103 h 108"/>
              <a:gd name="T54" fmla="*/ 20 w 167"/>
              <a:gd name="T55" fmla="*/ 108 h 108"/>
              <a:gd name="T56" fmla="*/ 23 w 167"/>
              <a:gd name="T57" fmla="*/ 106 h 108"/>
              <a:gd name="T58" fmla="*/ 20 w 167"/>
              <a:gd name="T59" fmla="*/ 103 h 108"/>
              <a:gd name="T60" fmla="*/ 16 w 167"/>
              <a:gd name="T61" fmla="*/ 98 h 108"/>
              <a:gd name="T62" fmla="*/ 13 w 167"/>
              <a:gd name="T63" fmla="*/ 93 h 108"/>
              <a:gd name="T64" fmla="*/ 10 w 167"/>
              <a:gd name="T65" fmla="*/ 88 h 108"/>
              <a:gd name="T66" fmla="*/ 8 w 167"/>
              <a:gd name="T67" fmla="*/ 83 h 108"/>
              <a:gd name="T68" fmla="*/ 6 w 167"/>
              <a:gd name="T69" fmla="*/ 76 h 108"/>
              <a:gd name="T70" fmla="*/ 5 w 167"/>
              <a:gd name="T71" fmla="*/ 71 h 108"/>
              <a:gd name="T72" fmla="*/ 3 w 167"/>
              <a:gd name="T73" fmla="*/ 66 h 108"/>
              <a:gd name="T74" fmla="*/ 0 w 167"/>
              <a:gd name="T75" fmla="*/ 66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67" h="108">
                <a:moveTo>
                  <a:pt x="167" y="41"/>
                </a:moveTo>
                <a:lnTo>
                  <a:pt x="167" y="35"/>
                </a:lnTo>
                <a:lnTo>
                  <a:pt x="165" y="30"/>
                </a:lnTo>
                <a:lnTo>
                  <a:pt x="164" y="25"/>
                </a:lnTo>
                <a:lnTo>
                  <a:pt x="160" y="18"/>
                </a:lnTo>
                <a:lnTo>
                  <a:pt x="159" y="13"/>
                </a:lnTo>
                <a:lnTo>
                  <a:pt x="156" y="8"/>
                </a:lnTo>
                <a:lnTo>
                  <a:pt x="152" y="3"/>
                </a:lnTo>
                <a:lnTo>
                  <a:pt x="149" y="0"/>
                </a:lnTo>
                <a:lnTo>
                  <a:pt x="146" y="0"/>
                </a:lnTo>
                <a:lnTo>
                  <a:pt x="149" y="5"/>
                </a:lnTo>
                <a:lnTo>
                  <a:pt x="152" y="10"/>
                </a:lnTo>
                <a:lnTo>
                  <a:pt x="156" y="15"/>
                </a:lnTo>
                <a:lnTo>
                  <a:pt x="157" y="20"/>
                </a:lnTo>
                <a:lnTo>
                  <a:pt x="160" y="25"/>
                </a:lnTo>
                <a:lnTo>
                  <a:pt x="162" y="31"/>
                </a:lnTo>
                <a:lnTo>
                  <a:pt x="164" y="36"/>
                </a:lnTo>
                <a:lnTo>
                  <a:pt x="164" y="43"/>
                </a:lnTo>
                <a:lnTo>
                  <a:pt x="167" y="41"/>
                </a:lnTo>
                <a:close/>
                <a:moveTo>
                  <a:pt x="0" y="66"/>
                </a:moveTo>
                <a:lnTo>
                  <a:pt x="2" y="73"/>
                </a:lnTo>
                <a:lnTo>
                  <a:pt x="3" y="78"/>
                </a:lnTo>
                <a:lnTo>
                  <a:pt x="5" y="83"/>
                </a:lnTo>
                <a:lnTo>
                  <a:pt x="6" y="89"/>
                </a:lnTo>
                <a:lnTo>
                  <a:pt x="10" y="94"/>
                </a:lnTo>
                <a:lnTo>
                  <a:pt x="13" y="99"/>
                </a:lnTo>
                <a:lnTo>
                  <a:pt x="16" y="103"/>
                </a:lnTo>
                <a:lnTo>
                  <a:pt x="20" y="108"/>
                </a:lnTo>
                <a:lnTo>
                  <a:pt x="23" y="106"/>
                </a:lnTo>
                <a:lnTo>
                  <a:pt x="20" y="103"/>
                </a:lnTo>
                <a:lnTo>
                  <a:pt x="16" y="98"/>
                </a:lnTo>
                <a:lnTo>
                  <a:pt x="13" y="93"/>
                </a:lnTo>
                <a:lnTo>
                  <a:pt x="10" y="88"/>
                </a:lnTo>
                <a:lnTo>
                  <a:pt x="8" y="83"/>
                </a:lnTo>
                <a:lnTo>
                  <a:pt x="6" y="76"/>
                </a:lnTo>
                <a:lnTo>
                  <a:pt x="5" y="71"/>
                </a:lnTo>
                <a:lnTo>
                  <a:pt x="3" y="66"/>
                </a:lnTo>
                <a:lnTo>
                  <a:pt x="0" y="66"/>
                </a:lnTo>
                <a:close/>
              </a:path>
            </a:pathLst>
          </a:custGeom>
          <a:solidFill>
            <a:srgbClr val="C6E5F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57" name="Freeform 2162">
            <a:extLst>
              <a:ext uri="{FF2B5EF4-FFF2-40B4-BE49-F238E27FC236}">
                <a16:creationId xmlns:a16="http://schemas.microsoft.com/office/drawing/2014/main" id="{948CB94F-3DEF-920F-C7BC-A4F6C993D91E}"/>
              </a:ext>
            </a:extLst>
          </p:cNvPr>
          <p:cNvSpPr>
            <a:spLocks noEditPoints="1"/>
          </p:cNvSpPr>
          <p:nvPr/>
        </p:nvSpPr>
        <p:spPr bwMode="auto">
          <a:xfrm>
            <a:off x="3389313" y="2516188"/>
            <a:ext cx="258763" cy="171450"/>
          </a:xfrm>
          <a:custGeom>
            <a:avLst/>
            <a:gdLst>
              <a:gd name="T0" fmla="*/ 163 w 163"/>
              <a:gd name="T1" fmla="*/ 41 h 108"/>
              <a:gd name="T2" fmla="*/ 163 w 163"/>
              <a:gd name="T3" fmla="*/ 36 h 108"/>
              <a:gd name="T4" fmla="*/ 162 w 163"/>
              <a:gd name="T5" fmla="*/ 30 h 108"/>
              <a:gd name="T6" fmla="*/ 160 w 163"/>
              <a:gd name="T7" fmla="*/ 25 h 108"/>
              <a:gd name="T8" fmla="*/ 157 w 163"/>
              <a:gd name="T9" fmla="*/ 20 h 108"/>
              <a:gd name="T10" fmla="*/ 155 w 163"/>
              <a:gd name="T11" fmla="*/ 15 h 108"/>
              <a:gd name="T12" fmla="*/ 152 w 163"/>
              <a:gd name="T13" fmla="*/ 10 h 108"/>
              <a:gd name="T14" fmla="*/ 149 w 163"/>
              <a:gd name="T15" fmla="*/ 5 h 108"/>
              <a:gd name="T16" fmla="*/ 145 w 163"/>
              <a:gd name="T17" fmla="*/ 0 h 108"/>
              <a:gd name="T18" fmla="*/ 142 w 163"/>
              <a:gd name="T19" fmla="*/ 2 h 108"/>
              <a:gd name="T20" fmla="*/ 145 w 163"/>
              <a:gd name="T21" fmla="*/ 7 h 108"/>
              <a:gd name="T22" fmla="*/ 149 w 163"/>
              <a:gd name="T23" fmla="*/ 10 h 108"/>
              <a:gd name="T24" fmla="*/ 152 w 163"/>
              <a:gd name="T25" fmla="*/ 15 h 108"/>
              <a:gd name="T26" fmla="*/ 155 w 163"/>
              <a:gd name="T27" fmla="*/ 22 h 108"/>
              <a:gd name="T28" fmla="*/ 157 w 163"/>
              <a:gd name="T29" fmla="*/ 27 h 108"/>
              <a:gd name="T30" fmla="*/ 158 w 163"/>
              <a:gd name="T31" fmla="*/ 31 h 108"/>
              <a:gd name="T32" fmla="*/ 160 w 163"/>
              <a:gd name="T33" fmla="*/ 38 h 108"/>
              <a:gd name="T34" fmla="*/ 160 w 163"/>
              <a:gd name="T35" fmla="*/ 43 h 108"/>
              <a:gd name="T36" fmla="*/ 163 w 163"/>
              <a:gd name="T37" fmla="*/ 41 h 108"/>
              <a:gd name="T38" fmla="*/ 0 w 163"/>
              <a:gd name="T39" fmla="*/ 66 h 108"/>
              <a:gd name="T40" fmla="*/ 1 w 163"/>
              <a:gd name="T41" fmla="*/ 71 h 108"/>
              <a:gd name="T42" fmla="*/ 3 w 163"/>
              <a:gd name="T43" fmla="*/ 78 h 108"/>
              <a:gd name="T44" fmla="*/ 4 w 163"/>
              <a:gd name="T45" fmla="*/ 83 h 108"/>
              <a:gd name="T46" fmla="*/ 6 w 163"/>
              <a:gd name="T47" fmla="*/ 88 h 108"/>
              <a:gd name="T48" fmla="*/ 9 w 163"/>
              <a:gd name="T49" fmla="*/ 93 h 108"/>
              <a:gd name="T50" fmla="*/ 13 w 163"/>
              <a:gd name="T51" fmla="*/ 98 h 108"/>
              <a:gd name="T52" fmla="*/ 16 w 163"/>
              <a:gd name="T53" fmla="*/ 103 h 108"/>
              <a:gd name="T54" fmla="*/ 19 w 163"/>
              <a:gd name="T55" fmla="*/ 108 h 108"/>
              <a:gd name="T56" fmla="*/ 23 w 163"/>
              <a:gd name="T57" fmla="*/ 106 h 108"/>
              <a:gd name="T58" fmla="*/ 19 w 163"/>
              <a:gd name="T59" fmla="*/ 101 h 108"/>
              <a:gd name="T60" fmla="*/ 16 w 163"/>
              <a:gd name="T61" fmla="*/ 96 h 108"/>
              <a:gd name="T62" fmla="*/ 13 w 163"/>
              <a:gd name="T63" fmla="*/ 91 h 108"/>
              <a:gd name="T64" fmla="*/ 9 w 163"/>
              <a:gd name="T65" fmla="*/ 86 h 108"/>
              <a:gd name="T66" fmla="*/ 8 w 163"/>
              <a:gd name="T67" fmla="*/ 81 h 108"/>
              <a:gd name="T68" fmla="*/ 6 w 163"/>
              <a:gd name="T69" fmla="*/ 76 h 108"/>
              <a:gd name="T70" fmla="*/ 4 w 163"/>
              <a:gd name="T71" fmla="*/ 71 h 108"/>
              <a:gd name="T72" fmla="*/ 3 w 163"/>
              <a:gd name="T73" fmla="*/ 65 h 108"/>
              <a:gd name="T74" fmla="*/ 0 w 163"/>
              <a:gd name="T75" fmla="*/ 66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63" h="108">
                <a:moveTo>
                  <a:pt x="163" y="41"/>
                </a:moveTo>
                <a:lnTo>
                  <a:pt x="163" y="36"/>
                </a:lnTo>
                <a:lnTo>
                  <a:pt x="162" y="30"/>
                </a:lnTo>
                <a:lnTo>
                  <a:pt x="160" y="25"/>
                </a:lnTo>
                <a:lnTo>
                  <a:pt x="157" y="20"/>
                </a:lnTo>
                <a:lnTo>
                  <a:pt x="155" y="15"/>
                </a:lnTo>
                <a:lnTo>
                  <a:pt x="152" y="10"/>
                </a:lnTo>
                <a:lnTo>
                  <a:pt x="149" y="5"/>
                </a:lnTo>
                <a:lnTo>
                  <a:pt x="145" y="0"/>
                </a:lnTo>
                <a:lnTo>
                  <a:pt x="142" y="2"/>
                </a:lnTo>
                <a:lnTo>
                  <a:pt x="145" y="7"/>
                </a:lnTo>
                <a:lnTo>
                  <a:pt x="149" y="10"/>
                </a:lnTo>
                <a:lnTo>
                  <a:pt x="152" y="15"/>
                </a:lnTo>
                <a:lnTo>
                  <a:pt x="155" y="22"/>
                </a:lnTo>
                <a:lnTo>
                  <a:pt x="157" y="27"/>
                </a:lnTo>
                <a:lnTo>
                  <a:pt x="158" y="31"/>
                </a:lnTo>
                <a:lnTo>
                  <a:pt x="160" y="38"/>
                </a:lnTo>
                <a:lnTo>
                  <a:pt x="160" y="43"/>
                </a:lnTo>
                <a:lnTo>
                  <a:pt x="163" y="41"/>
                </a:lnTo>
                <a:close/>
                <a:moveTo>
                  <a:pt x="0" y="66"/>
                </a:moveTo>
                <a:lnTo>
                  <a:pt x="1" y="71"/>
                </a:lnTo>
                <a:lnTo>
                  <a:pt x="3" y="78"/>
                </a:lnTo>
                <a:lnTo>
                  <a:pt x="4" y="83"/>
                </a:lnTo>
                <a:lnTo>
                  <a:pt x="6" y="88"/>
                </a:lnTo>
                <a:lnTo>
                  <a:pt x="9" y="93"/>
                </a:lnTo>
                <a:lnTo>
                  <a:pt x="13" y="98"/>
                </a:lnTo>
                <a:lnTo>
                  <a:pt x="16" y="103"/>
                </a:lnTo>
                <a:lnTo>
                  <a:pt x="19" y="108"/>
                </a:lnTo>
                <a:lnTo>
                  <a:pt x="23" y="106"/>
                </a:lnTo>
                <a:lnTo>
                  <a:pt x="19" y="101"/>
                </a:lnTo>
                <a:lnTo>
                  <a:pt x="16" y="96"/>
                </a:lnTo>
                <a:lnTo>
                  <a:pt x="13" y="91"/>
                </a:lnTo>
                <a:lnTo>
                  <a:pt x="9" y="86"/>
                </a:lnTo>
                <a:lnTo>
                  <a:pt x="8" y="81"/>
                </a:lnTo>
                <a:lnTo>
                  <a:pt x="6" y="76"/>
                </a:lnTo>
                <a:lnTo>
                  <a:pt x="4" y="71"/>
                </a:lnTo>
                <a:lnTo>
                  <a:pt x="3" y="65"/>
                </a:lnTo>
                <a:lnTo>
                  <a:pt x="0" y="66"/>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58" name="Freeform 2163">
            <a:extLst>
              <a:ext uri="{FF2B5EF4-FFF2-40B4-BE49-F238E27FC236}">
                <a16:creationId xmlns:a16="http://schemas.microsoft.com/office/drawing/2014/main" id="{FCFE7BFA-E8E3-4BD3-1CFE-1CD4AB887B86}"/>
              </a:ext>
            </a:extLst>
          </p:cNvPr>
          <p:cNvSpPr>
            <a:spLocks noEditPoints="1"/>
          </p:cNvSpPr>
          <p:nvPr/>
        </p:nvSpPr>
        <p:spPr bwMode="auto">
          <a:xfrm>
            <a:off x="3390900" y="2516188"/>
            <a:ext cx="255588" cy="168275"/>
          </a:xfrm>
          <a:custGeom>
            <a:avLst/>
            <a:gdLst>
              <a:gd name="T0" fmla="*/ 161 w 161"/>
              <a:gd name="T1" fmla="*/ 43 h 106"/>
              <a:gd name="T2" fmla="*/ 161 w 161"/>
              <a:gd name="T3" fmla="*/ 36 h 106"/>
              <a:gd name="T4" fmla="*/ 159 w 161"/>
              <a:gd name="T5" fmla="*/ 31 h 106"/>
              <a:gd name="T6" fmla="*/ 157 w 161"/>
              <a:gd name="T7" fmla="*/ 25 h 106"/>
              <a:gd name="T8" fmla="*/ 154 w 161"/>
              <a:gd name="T9" fmla="*/ 20 h 106"/>
              <a:gd name="T10" fmla="*/ 153 w 161"/>
              <a:gd name="T11" fmla="*/ 15 h 106"/>
              <a:gd name="T12" fmla="*/ 149 w 161"/>
              <a:gd name="T13" fmla="*/ 10 h 106"/>
              <a:gd name="T14" fmla="*/ 146 w 161"/>
              <a:gd name="T15" fmla="*/ 5 h 106"/>
              <a:gd name="T16" fmla="*/ 143 w 161"/>
              <a:gd name="T17" fmla="*/ 0 h 106"/>
              <a:gd name="T18" fmla="*/ 139 w 161"/>
              <a:gd name="T19" fmla="*/ 2 h 106"/>
              <a:gd name="T20" fmla="*/ 143 w 161"/>
              <a:gd name="T21" fmla="*/ 7 h 106"/>
              <a:gd name="T22" fmla="*/ 146 w 161"/>
              <a:gd name="T23" fmla="*/ 12 h 106"/>
              <a:gd name="T24" fmla="*/ 149 w 161"/>
              <a:gd name="T25" fmla="*/ 17 h 106"/>
              <a:gd name="T26" fmla="*/ 153 w 161"/>
              <a:gd name="T27" fmla="*/ 22 h 106"/>
              <a:gd name="T28" fmla="*/ 154 w 161"/>
              <a:gd name="T29" fmla="*/ 27 h 106"/>
              <a:gd name="T30" fmla="*/ 156 w 161"/>
              <a:gd name="T31" fmla="*/ 33 h 106"/>
              <a:gd name="T32" fmla="*/ 157 w 161"/>
              <a:gd name="T33" fmla="*/ 38 h 106"/>
              <a:gd name="T34" fmla="*/ 157 w 161"/>
              <a:gd name="T35" fmla="*/ 45 h 106"/>
              <a:gd name="T36" fmla="*/ 161 w 161"/>
              <a:gd name="T37" fmla="*/ 43 h 106"/>
              <a:gd name="T38" fmla="*/ 0 w 161"/>
              <a:gd name="T39" fmla="*/ 66 h 106"/>
              <a:gd name="T40" fmla="*/ 2 w 161"/>
              <a:gd name="T41" fmla="*/ 71 h 106"/>
              <a:gd name="T42" fmla="*/ 3 w 161"/>
              <a:gd name="T43" fmla="*/ 76 h 106"/>
              <a:gd name="T44" fmla="*/ 5 w 161"/>
              <a:gd name="T45" fmla="*/ 83 h 106"/>
              <a:gd name="T46" fmla="*/ 7 w 161"/>
              <a:gd name="T47" fmla="*/ 88 h 106"/>
              <a:gd name="T48" fmla="*/ 10 w 161"/>
              <a:gd name="T49" fmla="*/ 93 h 106"/>
              <a:gd name="T50" fmla="*/ 13 w 161"/>
              <a:gd name="T51" fmla="*/ 98 h 106"/>
              <a:gd name="T52" fmla="*/ 17 w 161"/>
              <a:gd name="T53" fmla="*/ 103 h 106"/>
              <a:gd name="T54" fmla="*/ 20 w 161"/>
              <a:gd name="T55" fmla="*/ 106 h 106"/>
              <a:gd name="T56" fmla="*/ 23 w 161"/>
              <a:gd name="T57" fmla="*/ 104 h 106"/>
              <a:gd name="T58" fmla="*/ 18 w 161"/>
              <a:gd name="T59" fmla="*/ 101 h 106"/>
              <a:gd name="T60" fmla="*/ 15 w 161"/>
              <a:gd name="T61" fmla="*/ 96 h 106"/>
              <a:gd name="T62" fmla="*/ 13 w 161"/>
              <a:gd name="T63" fmla="*/ 91 h 106"/>
              <a:gd name="T64" fmla="*/ 10 w 161"/>
              <a:gd name="T65" fmla="*/ 86 h 106"/>
              <a:gd name="T66" fmla="*/ 8 w 161"/>
              <a:gd name="T67" fmla="*/ 81 h 106"/>
              <a:gd name="T68" fmla="*/ 7 w 161"/>
              <a:gd name="T69" fmla="*/ 76 h 106"/>
              <a:gd name="T70" fmla="*/ 5 w 161"/>
              <a:gd name="T71" fmla="*/ 70 h 106"/>
              <a:gd name="T72" fmla="*/ 3 w 161"/>
              <a:gd name="T73" fmla="*/ 65 h 106"/>
              <a:gd name="T74" fmla="*/ 0 w 161"/>
              <a:gd name="T75" fmla="*/ 66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61" h="106">
                <a:moveTo>
                  <a:pt x="161" y="43"/>
                </a:moveTo>
                <a:lnTo>
                  <a:pt x="161" y="36"/>
                </a:lnTo>
                <a:lnTo>
                  <a:pt x="159" y="31"/>
                </a:lnTo>
                <a:lnTo>
                  <a:pt x="157" y="25"/>
                </a:lnTo>
                <a:lnTo>
                  <a:pt x="154" y="20"/>
                </a:lnTo>
                <a:lnTo>
                  <a:pt x="153" y="15"/>
                </a:lnTo>
                <a:lnTo>
                  <a:pt x="149" y="10"/>
                </a:lnTo>
                <a:lnTo>
                  <a:pt x="146" y="5"/>
                </a:lnTo>
                <a:lnTo>
                  <a:pt x="143" y="0"/>
                </a:lnTo>
                <a:lnTo>
                  <a:pt x="139" y="2"/>
                </a:lnTo>
                <a:lnTo>
                  <a:pt x="143" y="7"/>
                </a:lnTo>
                <a:lnTo>
                  <a:pt x="146" y="12"/>
                </a:lnTo>
                <a:lnTo>
                  <a:pt x="149" y="17"/>
                </a:lnTo>
                <a:lnTo>
                  <a:pt x="153" y="22"/>
                </a:lnTo>
                <a:lnTo>
                  <a:pt x="154" y="27"/>
                </a:lnTo>
                <a:lnTo>
                  <a:pt x="156" y="33"/>
                </a:lnTo>
                <a:lnTo>
                  <a:pt x="157" y="38"/>
                </a:lnTo>
                <a:lnTo>
                  <a:pt x="157" y="45"/>
                </a:lnTo>
                <a:lnTo>
                  <a:pt x="161" y="43"/>
                </a:lnTo>
                <a:close/>
                <a:moveTo>
                  <a:pt x="0" y="66"/>
                </a:moveTo>
                <a:lnTo>
                  <a:pt x="2" y="71"/>
                </a:lnTo>
                <a:lnTo>
                  <a:pt x="3" y="76"/>
                </a:lnTo>
                <a:lnTo>
                  <a:pt x="5" y="83"/>
                </a:lnTo>
                <a:lnTo>
                  <a:pt x="7" y="88"/>
                </a:lnTo>
                <a:lnTo>
                  <a:pt x="10" y="93"/>
                </a:lnTo>
                <a:lnTo>
                  <a:pt x="13" y="98"/>
                </a:lnTo>
                <a:lnTo>
                  <a:pt x="17" y="103"/>
                </a:lnTo>
                <a:lnTo>
                  <a:pt x="20" y="106"/>
                </a:lnTo>
                <a:lnTo>
                  <a:pt x="23" y="104"/>
                </a:lnTo>
                <a:lnTo>
                  <a:pt x="18" y="101"/>
                </a:lnTo>
                <a:lnTo>
                  <a:pt x="15" y="96"/>
                </a:lnTo>
                <a:lnTo>
                  <a:pt x="13" y="91"/>
                </a:lnTo>
                <a:lnTo>
                  <a:pt x="10" y="86"/>
                </a:lnTo>
                <a:lnTo>
                  <a:pt x="8" y="81"/>
                </a:lnTo>
                <a:lnTo>
                  <a:pt x="7" y="76"/>
                </a:lnTo>
                <a:lnTo>
                  <a:pt x="5" y="70"/>
                </a:lnTo>
                <a:lnTo>
                  <a:pt x="3" y="65"/>
                </a:lnTo>
                <a:lnTo>
                  <a:pt x="0" y="66"/>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59" name="Freeform 2164">
            <a:extLst>
              <a:ext uri="{FF2B5EF4-FFF2-40B4-BE49-F238E27FC236}">
                <a16:creationId xmlns:a16="http://schemas.microsoft.com/office/drawing/2014/main" id="{04B3BD40-9CFE-31E9-B844-3494680C0827}"/>
              </a:ext>
            </a:extLst>
          </p:cNvPr>
          <p:cNvSpPr>
            <a:spLocks noEditPoints="1"/>
          </p:cNvSpPr>
          <p:nvPr/>
        </p:nvSpPr>
        <p:spPr bwMode="auto">
          <a:xfrm>
            <a:off x="3394075" y="2519363"/>
            <a:ext cx="249238" cy="165100"/>
          </a:xfrm>
          <a:custGeom>
            <a:avLst/>
            <a:gdLst>
              <a:gd name="T0" fmla="*/ 157 w 157"/>
              <a:gd name="T1" fmla="*/ 41 h 104"/>
              <a:gd name="T2" fmla="*/ 157 w 157"/>
              <a:gd name="T3" fmla="*/ 36 h 104"/>
              <a:gd name="T4" fmla="*/ 155 w 157"/>
              <a:gd name="T5" fmla="*/ 29 h 104"/>
              <a:gd name="T6" fmla="*/ 154 w 157"/>
              <a:gd name="T7" fmla="*/ 25 h 104"/>
              <a:gd name="T8" fmla="*/ 152 w 157"/>
              <a:gd name="T9" fmla="*/ 20 h 104"/>
              <a:gd name="T10" fmla="*/ 149 w 157"/>
              <a:gd name="T11" fmla="*/ 13 h 104"/>
              <a:gd name="T12" fmla="*/ 146 w 157"/>
              <a:gd name="T13" fmla="*/ 8 h 104"/>
              <a:gd name="T14" fmla="*/ 142 w 157"/>
              <a:gd name="T15" fmla="*/ 5 h 104"/>
              <a:gd name="T16" fmla="*/ 139 w 157"/>
              <a:gd name="T17" fmla="*/ 0 h 104"/>
              <a:gd name="T18" fmla="*/ 136 w 157"/>
              <a:gd name="T19" fmla="*/ 1 h 104"/>
              <a:gd name="T20" fmla="*/ 139 w 157"/>
              <a:gd name="T21" fmla="*/ 5 h 104"/>
              <a:gd name="T22" fmla="*/ 142 w 157"/>
              <a:gd name="T23" fmla="*/ 10 h 104"/>
              <a:gd name="T24" fmla="*/ 146 w 157"/>
              <a:gd name="T25" fmla="*/ 15 h 104"/>
              <a:gd name="T26" fmla="*/ 149 w 157"/>
              <a:gd name="T27" fmla="*/ 20 h 104"/>
              <a:gd name="T28" fmla="*/ 151 w 157"/>
              <a:gd name="T29" fmla="*/ 26 h 104"/>
              <a:gd name="T30" fmla="*/ 152 w 157"/>
              <a:gd name="T31" fmla="*/ 31 h 104"/>
              <a:gd name="T32" fmla="*/ 154 w 157"/>
              <a:gd name="T33" fmla="*/ 38 h 104"/>
              <a:gd name="T34" fmla="*/ 154 w 157"/>
              <a:gd name="T35" fmla="*/ 43 h 104"/>
              <a:gd name="T36" fmla="*/ 157 w 157"/>
              <a:gd name="T37" fmla="*/ 41 h 104"/>
              <a:gd name="T38" fmla="*/ 0 w 157"/>
              <a:gd name="T39" fmla="*/ 63 h 104"/>
              <a:gd name="T40" fmla="*/ 1 w 157"/>
              <a:gd name="T41" fmla="*/ 69 h 104"/>
              <a:gd name="T42" fmla="*/ 3 w 157"/>
              <a:gd name="T43" fmla="*/ 74 h 104"/>
              <a:gd name="T44" fmla="*/ 5 w 157"/>
              <a:gd name="T45" fmla="*/ 79 h 104"/>
              <a:gd name="T46" fmla="*/ 6 w 157"/>
              <a:gd name="T47" fmla="*/ 84 h 104"/>
              <a:gd name="T48" fmla="*/ 10 w 157"/>
              <a:gd name="T49" fmla="*/ 89 h 104"/>
              <a:gd name="T50" fmla="*/ 13 w 157"/>
              <a:gd name="T51" fmla="*/ 94 h 104"/>
              <a:gd name="T52" fmla="*/ 16 w 157"/>
              <a:gd name="T53" fmla="*/ 99 h 104"/>
              <a:gd name="T54" fmla="*/ 20 w 157"/>
              <a:gd name="T55" fmla="*/ 104 h 104"/>
              <a:gd name="T56" fmla="*/ 23 w 157"/>
              <a:gd name="T57" fmla="*/ 102 h 104"/>
              <a:gd name="T58" fmla="*/ 18 w 157"/>
              <a:gd name="T59" fmla="*/ 97 h 104"/>
              <a:gd name="T60" fmla="*/ 15 w 157"/>
              <a:gd name="T61" fmla="*/ 94 h 104"/>
              <a:gd name="T62" fmla="*/ 13 w 157"/>
              <a:gd name="T63" fmla="*/ 89 h 104"/>
              <a:gd name="T64" fmla="*/ 10 w 157"/>
              <a:gd name="T65" fmla="*/ 84 h 104"/>
              <a:gd name="T66" fmla="*/ 8 w 157"/>
              <a:gd name="T67" fmla="*/ 78 h 104"/>
              <a:gd name="T68" fmla="*/ 6 w 157"/>
              <a:gd name="T69" fmla="*/ 73 h 104"/>
              <a:gd name="T70" fmla="*/ 5 w 157"/>
              <a:gd name="T71" fmla="*/ 68 h 104"/>
              <a:gd name="T72" fmla="*/ 3 w 157"/>
              <a:gd name="T73" fmla="*/ 61 h 104"/>
              <a:gd name="T74" fmla="*/ 0 w 157"/>
              <a:gd name="T75" fmla="*/ 63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57" h="104">
                <a:moveTo>
                  <a:pt x="157" y="41"/>
                </a:moveTo>
                <a:lnTo>
                  <a:pt x="157" y="36"/>
                </a:lnTo>
                <a:lnTo>
                  <a:pt x="155" y="29"/>
                </a:lnTo>
                <a:lnTo>
                  <a:pt x="154" y="25"/>
                </a:lnTo>
                <a:lnTo>
                  <a:pt x="152" y="20"/>
                </a:lnTo>
                <a:lnTo>
                  <a:pt x="149" y="13"/>
                </a:lnTo>
                <a:lnTo>
                  <a:pt x="146" y="8"/>
                </a:lnTo>
                <a:lnTo>
                  <a:pt x="142" y="5"/>
                </a:lnTo>
                <a:lnTo>
                  <a:pt x="139" y="0"/>
                </a:lnTo>
                <a:lnTo>
                  <a:pt x="136" y="1"/>
                </a:lnTo>
                <a:lnTo>
                  <a:pt x="139" y="5"/>
                </a:lnTo>
                <a:lnTo>
                  <a:pt x="142" y="10"/>
                </a:lnTo>
                <a:lnTo>
                  <a:pt x="146" y="15"/>
                </a:lnTo>
                <a:lnTo>
                  <a:pt x="149" y="20"/>
                </a:lnTo>
                <a:lnTo>
                  <a:pt x="151" y="26"/>
                </a:lnTo>
                <a:lnTo>
                  <a:pt x="152" y="31"/>
                </a:lnTo>
                <a:lnTo>
                  <a:pt x="154" y="38"/>
                </a:lnTo>
                <a:lnTo>
                  <a:pt x="154" y="43"/>
                </a:lnTo>
                <a:lnTo>
                  <a:pt x="157" y="41"/>
                </a:lnTo>
                <a:close/>
                <a:moveTo>
                  <a:pt x="0" y="63"/>
                </a:moveTo>
                <a:lnTo>
                  <a:pt x="1" y="69"/>
                </a:lnTo>
                <a:lnTo>
                  <a:pt x="3" y="74"/>
                </a:lnTo>
                <a:lnTo>
                  <a:pt x="5" y="79"/>
                </a:lnTo>
                <a:lnTo>
                  <a:pt x="6" y="84"/>
                </a:lnTo>
                <a:lnTo>
                  <a:pt x="10" y="89"/>
                </a:lnTo>
                <a:lnTo>
                  <a:pt x="13" y="94"/>
                </a:lnTo>
                <a:lnTo>
                  <a:pt x="16" y="99"/>
                </a:lnTo>
                <a:lnTo>
                  <a:pt x="20" y="104"/>
                </a:lnTo>
                <a:lnTo>
                  <a:pt x="23" y="102"/>
                </a:lnTo>
                <a:lnTo>
                  <a:pt x="18" y="97"/>
                </a:lnTo>
                <a:lnTo>
                  <a:pt x="15" y="94"/>
                </a:lnTo>
                <a:lnTo>
                  <a:pt x="13" y="89"/>
                </a:lnTo>
                <a:lnTo>
                  <a:pt x="10" y="84"/>
                </a:lnTo>
                <a:lnTo>
                  <a:pt x="8" y="78"/>
                </a:lnTo>
                <a:lnTo>
                  <a:pt x="6" y="73"/>
                </a:lnTo>
                <a:lnTo>
                  <a:pt x="5" y="68"/>
                </a:lnTo>
                <a:lnTo>
                  <a:pt x="3" y="61"/>
                </a:lnTo>
                <a:lnTo>
                  <a:pt x="0" y="63"/>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60" name="Freeform 2165">
            <a:extLst>
              <a:ext uri="{FF2B5EF4-FFF2-40B4-BE49-F238E27FC236}">
                <a16:creationId xmlns:a16="http://schemas.microsoft.com/office/drawing/2014/main" id="{F5C08CB7-CE30-7C1C-B072-C97E798C696F}"/>
              </a:ext>
            </a:extLst>
          </p:cNvPr>
          <p:cNvSpPr>
            <a:spLocks noEditPoints="1"/>
          </p:cNvSpPr>
          <p:nvPr/>
        </p:nvSpPr>
        <p:spPr bwMode="auto">
          <a:xfrm>
            <a:off x="3395663" y="2519363"/>
            <a:ext cx="244475" cy="161925"/>
          </a:xfrm>
          <a:custGeom>
            <a:avLst/>
            <a:gdLst>
              <a:gd name="T0" fmla="*/ 154 w 154"/>
              <a:gd name="T1" fmla="*/ 43 h 102"/>
              <a:gd name="T2" fmla="*/ 154 w 154"/>
              <a:gd name="T3" fmla="*/ 36 h 102"/>
              <a:gd name="T4" fmla="*/ 153 w 154"/>
              <a:gd name="T5" fmla="*/ 31 h 102"/>
              <a:gd name="T6" fmla="*/ 151 w 154"/>
              <a:gd name="T7" fmla="*/ 25 h 102"/>
              <a:gd name="T8" fmla="*/ 150 w 154"/>
              <a:gd name="T9" fmla="*/ 20 h 102"/>
              <a:gd name="T10" fmla="*/ 146 w 154"/>
              <a:gd name="T11" fmla="*/ 15 h 102"/>
              <a:gd name="T12" fmla="*/ 143 w 154"/>
              <a:gd name="T13" fmla="*/ 10 h 102"/>
              <a:gd name="T14" fmla="*/ 140 w 154"/>
              <a:gd name="T15" fmla="*/ 5 h 102"/>
              <a:gd name="T16" fmla="*/ 136 w 154"/>
              <a:gd name="T17" fmla="*/ 0 h 102"/>
              <a:gd name="T18" fmla="*/ 133 w 154"/>
              <a:gd name="T19" fmla="*/ 1 h 102"/>
              <a:gd name="T20" fmla="*/ 136 w 154"/>
              <a:gd name="T21" fmla="*/ 6 h 102"/>
              <a:gd name="T22" fmla="*/ 140 w 154"/>
              <a:gd name="T23" fmla="*/ 11 h 102"/>
              <a:gd name="T24" fmla="*/ 143 w 154"/>
              <a:gd name="T25" fmla="*/ 16 h 102"/>
              <a:gd name="T26" fmla="*/ 146 w 154"/>
              <a:gd name="T27" fmla="*/ 21 h 102"/>
              <a:gd name="T28" fmla="*/ 148 w 154"/>
              <a:gd name="T29" fmla="*/ 26 h 102"/>
              <a:gd name="T30" fmla="*/ 150 w 154"/>
              <a:gd name="T31" fmla="*/ 31 h 102"/>
              <a:gd name="T32" fmla="*/ 151 w 154"/>
              <a:gd name="T33" fmla="*/ 38 h 102"/>
              <a:gd name="T34" fmla="*/ 151 w 154"/>
              <a:gd name="T35" fmla="*/ 44 h 102"/>
              <a:gd name="T36" fmla="*/ 154 w 154"/>
              <a:gd name="T37" fmla="*/ 43 h 102"/>
              <a:gd name="T38" fmla="*/ 0 w 154"/>
              <a:gd name="T39" fmla="*/ 63 h 102"/>
              <a:gd name="T40" fmla="*/ 2 w 154"/>
              <a:gd name="T41" fmla="*/ 68 h 102"/>
              <a:gd name="T42" fmla="*/ 4 w 154"/>
              <a:gd name="T43" fmla="*/ 74 h 102"/>
              <a:gd name="T44" fmla="*/ 5 w 154"/>
              <a:gd name="T45" fmla="*/ 79 h 102"/>
              <a:gd name="T46" fmla="*/ 7 w 154"/>
              <a:gd name="T47" fmla="*/ 84 h 102"/>
              <a:gd name="T48" fmla="*/ 10 w 154"/>
              <a:gd name="T49" fmla="*/ 89 h 102"/>
              <a:gd name="T50" fmla="*/ 12 w 154"/>
              <a:gd name="T51" fmla="*/ 94 h 102"/>
              <a:gd name="T52" fmla="*/ 15 w 154"/>
              <a:gd name="T53" fmla="*/ 99 h 102"/>
              <a:gd name="T54" fmla="*/ 20 w 154"/>
              <a:gd name="T55" fmla="*/ 102 h 102"/>
              <a:gd name="T56" fmla="*/ 24 w 154"/>
              <a:gd name="T57" fmla="*/ 102 h 102"/>
              <a:gd name="T58" fmla="*/ 19 w 154"/>
              <a:gd name="T59" fmla="*/ 97 h 102"/>
              <a:gd name="T60" fmla="*/ 15 w 154"/>
              <a:gd name="T61" fmla="*/ 92 h 102"/>
              <a:gd name="T62" fmla="*/ 14 w 154"/>
              <a:gd name="T63" fmla="*/ 87 h 102"/>
              <a:gd name="T64" fmla="*/ 10 w 154"/>
              <a:gd name="T65" fmla="*/ 82 h 102"/>
              <a:gd name="T66" fmla="*/ 9 w 154"/>
              <a:gd name="T67" fmla="*/ 78 h 102"/>
              <a:gd name="T68" fmla="*/ 7 w 154"/>
              <a:gd name="T69" fmla="*/ 73 h 102"/>
              <a:gd name="T70" fmla="*/ 5 w 154"/>
              <a:gd name="T71" fmla="*/ 66 h 102"/>
              <a:gd name="T72" fmla="*/ 4 w 154"/>
              <a:gd name="T73" fmla="*/ 61 h 102"/>
              <a:gd name="T74" fmla="*/ 0 w 154"/>
              <a:gd name="T75" fmla="*/ 63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54" h="102">
                <a:moveTo>
                  <a:pt x="154" y="43"/>
                </a:moveTo>
                <a:lnTo>
                  <a:pt x="154" y="36"/>
                </a:lnTo>
                <a:lnTo>
                  <a:pt x="153" y="31"/>
                </a:lnTo>
                <a:lnTo>
                  <a:pt x="151" y="25"/>
                </a:lnTo>
                <a:lnTo>
                  <a:pt x="150" y="20"/>
                </a:lnTo>
                <a:lnTo>
                  <a:pt x="146" y="15"/>
                </a:lnTo>
                <a:lnTo>
                  <a:pt x="143" y="10"/>
                </a:lnTo>
                <a:lnTo>
                  <a:pt x="140" y="5"/>
                </a:lnTo>
                <a:lnTo>
                  <a:pt x="136" y="0"/>
                </a:lnTo>
                <a:lnTo>
                  <a:pt x="133" y="1"/>
                </a:lnTo>
                <a:lnTo>
                  <a:pt x="136" y="6"/>
                </a:lnTo>
                <a:lnTo>
                  <a:pt x="140" y="11"/>
                </a:lnTo>
                <a:lnTo>
                  <a:pt x="143" y="16"/>
                </a:lnTo>
                <a:lnTo>
                  <a:pt x="146" y="21"/>
                </a:lnTo>
                <a:lnTo>
                  <a:pt x="148" y="26"/>
                </a:lnTo>
                <a:lnTo>
                  <a:pt x="150" y="31"/>
                </a:lnTo>
                <a:lnTo>
                  <a:pt x="151" y="38"/>
                </a:lnTo>
                <a:lnTo>
                  <a:pt x="151" y="44"/>
                </a:lnTo>
                <a:lnTo>
                  <a:pt x="154" y="43"/>
                </a:lnTo>
                <a:close/>
                <a:moveTo>
                  <a:pt x="0" y="63"/>
                </a:moveTo>
                <a:lnTo>
                  <a:pt x="2" y="68"/>
                </a:lnTo>
                <a:lnTo>
                  <a:pt x="4" y="74"/>
                </a:lnTo>
                <a:lnTo>
                  <a:pt x="5" y="79"/>
                </a:lnTo>
                <a:lnTo>
                  <a:pt x="7" y="84"/>
                </a:lnTo>
                <a:lnTo>
                  <a:pt x="10" y="89"/>
                </a:lnTo>
                <a:lnTo>
                  <a:pt x="12" y="94"/>
                </a:lnTo>
                <a:lnTo>
                  <a:pt x="15" y="99"/>
                </a:lnTo>
                <a:lnTo>
                  <a:pt x="20" y="102"/>
                </a:lnTo>
                <a:lnTo>
                  <a:pt x="24" y="102"/>
                </a:lnTo>
                <a:lnTo>
                  <a:pt x="19" y="97"/>
                </a:lnTo>
                <a:lnTo>
                  <a:pt x="15" y="92"/>
                </a:lnTo>
                <a:lnTo>
                  <a:pt x="14" y="87"/>
                </a:lnTo>
                <a:lnTo>
                  <a:pt x="10" y="82"/>
                </a:lnTo>
                <a:lnTo>
                  <a:pt x="9" y="78"/>
                </a:lnTo>
                <a:lnTo>
                  <a:pt x="7" y="73"/>
                </a:lnTo>
                <a:lnTo>
                  <a:pt x="5" y="66"/>
                </a:lnTo>
                <a:lnTo>
                  <a:pt x="4" y="61"/>
                </a:lnTo>
                <a:lnTo>
                  <a:pt x="0" y="63"/>
                </a:lnTo>
                <a:close/>
              </a:path>
            </a:pathLst>
          </a:custGeom>
          <a:solidFill>
            <a:srgbClr val="CBE7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61" name="Freeform 2166">
            <a:extLst>
              <a:ext uri="{FF2B5EF4-FFF2-40B4-BE49-F238E27FC236}">
                <a16:creationId xmlns:a16="http://schemas.microsoft.com/office/drawing/2014/main" id="{294071DB-AA1D-DDBE-AF68-F859DDDA5885}"/>
              </a:ext>
            </a:extLst>
          </p:cNvPr>
          <p:cNvSpPr>
            <a:spLocks noEditPoints="1"/>
          </p:cNvSpPr>
          <p:nvPr/>
        </p:nvSpPr>
        <p:spPr bwMode="auto">
          <a:xfrm>
            <a:off x="3398838" y="2520950"/>
            <a:ext cx="239713" cy="160338"/>
          </a:xfrm>
          <a:custGeom>
            <a:avLst/>
            <a:gdLst>
              <a:gd name="T0" fmla="*/ 151 w 151"/>
              <a:gd name="T1" fmla="*/ 42 h 101"/>
              <a:gd name="T2" fmla="*/ 151 w 151"/>
              <a:gd name="T3" fmla="*/ 37 h 101"/>
              <a:gd name="T4" fmla="*/ 149 w 151"/>
              <a:gd name="T5" fmla="*/ 30 h 101"/>
              <a:gd name="T6" fmla="*/ 148 w 151"/>
              <a:gd name="T7" fmla="*/ 25 h 101"/>
              <a:gd name="T8" fmla="*/ 146 w 151"/>
              <a:gd name="T9" fmla="*/ 19 h 101"/>
              <a:gd name="T10" fmla="*/ 143 w 151"/>
              <a:gd name="T11" fmla="*/ 14 h 101"/>
              <a:gd name="T12" fmla="*/ 139 w 151"/>
              <a:gd name="T13" fmla="*/ 9 h 101"/>
              <a:gd name="T14" fmla="*/ 136 w 151"/>
              <a:gd name="T15" fmla="*/ 4 h 101"/>
              <a:gd name="T16" fmla="*/ 133 w 151"/>
              <a:gd name="T17" fmla="*/ 0 h 101"/>
              <a:gd name="T18" fmla="*/ 129 w 151"/>
              <a:gd name="T19" fmla="*/ 2 h 101"/>
              <a:gd name="T20" fmla="*/ 134 w 151"/>
              <a:gd name="T21" fmla="*/ 5 h 101"/>
              <a:gd name="T22" fmla="*/ 138 w 151"/>
              <a:gd name="T23" fmla="*/ 10 h 101"/>
              <a:gd name="T24" fmla="*/ 139 w 151"/>
              <a:gd name="T25" fmla="*/ 15 h 101"/>
              <a:gd name="T26" fmla="*/ 143 w 151"/>
              <a:gd name="T27" fmla="*/ 20 h 101"/>
              <a:gd name="T28" fmla="*/ 144 w 151"/>
              <a:gd name="T29" fmla="*/ 27 h 101"/>
              <a:gd name="T30" fmla="*/ 146 w 151"/>
              <a:gd name="T31" fmla="*/ 32 h 101"/>
              <a:gd name="T32" fmla="*/ 148 w 151"/>
              <a:gd name="T33" fmla="*/ 37 h 101"/>
              <a:gd name="T34" fmla="*/ 148 w 151"/>
              <a:gd name="T35" fmla="*/ 43 h 101"/>
              <a:gd name="T36" fmla="*/ 151 w 151"/>
              <a:gd name="T37" fmla="*/ 42 h 101"/>
              <a:gd name="T38" fmla="*/ 0 w 151"/>
              <a:gd name="T39" fmla="*/ 60 h 101"/>
              <a:gd name="T40" fmla="*/ 2 w 151"/>
              <a:gd name="T41" fmla="*/ 67 h 101"/>
              <a:gd name="T42" fmla="*/ 3 w 151"/>
              <a:gd name="T43" fmla="*/ 72 h 101"/>
              <a:gd name="T44" fmla="*/ 5 w 151"/>
              <a:gd name="T45" fmla="*/ 77 h 101"/>
              <a:gd name="T46" fmla="*/ 7 w 151"/>
              <a:gd name="T47" fmla="*/ 83 h 101"/>
              <a:gd name="T48" fmla="*/ 10 w 151"/>
              <a:gd name="T49" fmla="*/ 88 h 101"/>
              <a:gd name="T50" fmla="*/ 12 w 151"/>
              <a:gd name="T51" fmla="*/ 93 h 101"/>
              <a:gd name="T52" fmla="*/ 15 w 151"/>
              <a:gd name="T53" fmla="*/ 96 h 101"/>
              <a:gd name="T54" fmla="*/ 20 w 151"/>
              <a:gd name="T55" fmla="*/ 101 h 101"/>
              <a:gd name="T56" fmla="*/ 23 w 151"/>
              <a:gd name="T57" fmla="*/ 100 h 101"/>
              <a:gd name="T58" fmla="*/ 18 w 151"/>
              <a:gd name="T59" fmla="*/ 95 h 101"/>
              <a:gd name="T60" fmla="*/ 15 w 151"/>
              <a:gd name="T61" fmla="*/ 91 h 101"/>
              <a:gd name="T62" fmla="*/ 12 w 151"/>
              <a:gd name="T63" fmla="*/ 86 h 101"/>
              <a:gd name="T64" fmla="*/ 10 w 151"/>
              <a:gd name="T65" fmla="*/ 81 h 101"/>
              <a:gd name="T66" fmla="*/ 8 w 151"/>
              <a:gd name="T67" fmla="*/ 77 h 101"/>
              <a:gd name="T68" fmla="*/ 5 w 151"/>
              <a:gd name="T69" fmla="*/ 70 h 101"/>
              <a:gd name="T70" fmla="*/ 5 w 151"/>
              <a:gd name="T71" fmla="*/ 65 h 101"/>
              <a:gd name="T72" fmla="*/ 3 w 151"/>
              <a:gd name="T73" fmla="*/ 58 h 101"/>
              <a:gd name="T74" fmla="*/ 0 w 151"/>
              <a:gd name="T75" fmla="*/ 60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51" h="101">
                <a:moveTo>
                  <a:pt x="151" y="42"/>
                </a:moveTo>
                <a:lnTo>
                  <a:pt x="151" y="37"/>
                </a:lnTo>
                <a:lnTo>
                  <a:pt x="149" y="30"/>
                </a:lnTo>
                <a:lnTo>
                  <a:pt x="148" y="25"/>
                </a:lnTo>
                <a:lnTo>
                  <a:pt x="146" y="19"/>
                </a:lnTo>
                <a:lnTo>
                  <a:pt x="143" y="14"/>
                </a:lnTo>
                <a:lnTo>
                  <a:pt x="139" y="9"/>
                </a:lnTo>
                <a:lnTo>
                  <a:pt x="136" y="4"/>
                </a:lnTo>
                <a:lnTo>
                  <a:pt x="133" y="0"/>
                </a:lnTo>
                <a:lnTo>
                  <a:pt x="129" y="2"/>
                </a:lnTo>
                <a:lnTo>
                  <a:pt x="134" y="5"/>
                </a:lnTo>
                <a:lnTo>
                  <a:pt x="138" y="10"/>
                </a:lnTo>
                <a:lnTo>
                  <a:pt x="139" y="15"/>
                </a:lnTo>
                <a:lnTo>
                  <a:pt x="143" y="20"/>
                </a:lnTo>
                <a:lnTo>
                  <a:pt x="144" y="27"/>
                </a:lnTo>
                <a:lnTo>
                  <a:pt x="146" y="32"/>
                </a:lnTo>
                <a:lnTo>
                  <a:pt x="148" y="37"/>
                </a:lnTo>
                <a:lnTo>
                  <a:pt x="148" y="43"/>
                </a:lnTo>
                <a:lnTo>
                  <a:pt x="151" y="42"/>
                </a:lnTo>
                <a:close/>
                <a:moveTo>
                  <a:pt x="0" y="60"/>
                </a:moveTo>
                <a:lnTo>
                  <a:pt x="2" y="67"/>
                </a:lnTo>
                <a:lnTo>
                  <a:pt x="3" y="72"/>
                </a:lnTo>
                <a:lnTo>
                  <a:pt x="5" y="77"/>
                </a:lnTo>
                <a:lnTo>
                  <a:pt x="7" y="83"/>
                </a:lnTo>
                <a:lnTo>
                  <a:pt x="10" y="88"/>
                </a:lnTo>
                <a:lnTo>
                  <a:pt x="12" y="93"/>
                </a:lnTo>
                <a:lnTo>
                  <a:pt x="15" y="96"/>
                </a:lnTo>
                <a:lnTo>
                  <a:pt x="20" y="101"/>
                </a:lnTo>
                <a:lnTo>
                  <a:pt x="23" y="100"/>
                </a:lnTo>
                <a:lnTo>
                  <a:pt x="18" y="95"/>
                </a:lnTo>
                <a:lnTo>
                  <a:pt x="15" y="91"/>
                </a:lnTo>
                <a:lnTo>
                  <a:pt x="12" y="86"/>
                </a:lnTo>
                <a:lnTo>
                  <a:pt x="10" y="81"/>
                </a:lnTo>
                <a:lnTo>
                  <a:pt x="8" y="77"/>
                </a:lnTo>
                <a:lnTo>
                  <a:pt x="5" y="70"/>
                </a:lnTo>
                <a:lnTo>
                  <a:pt x="5" y="65"/>
                </a:lnTo>
                <a:lnTo>
                  <a:pt x="3" y="58"/>
                </a:lnTo>
                <a:lnTo>
                  <a:pt x="0" y="6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62" name="Freeform 2167">
            <a:extLst>
              <a:ext uri="{FF2B5EF4-FFF2-40B4-BE49-F238E27FC236}">
                <a16:creationId xmlns:a16="http://schemas.microsoft.com/office/drawing/2014/main" id="{E08D6050-58D5-0D9C-9FDE-D902E531BD29}"/>
              </a:ext>
            </a:extLst>
          </p:cNvPr>
          <p:cNvSpPr>
            <a:spLocks noEditPoints="1"/>
          </p:cNvSpPr>
          <p:nvPr/>
        </p:nvSpPr>
        <p:spPr bwMode="auto">
          <a:xfrm>
            <a:off x="3402013" y="2520950"/>
            <a:ext cx="233363" cy="160338"/>
          </a:xfrm>
          <a:custGeom>
            <a:avLst/>
            <a:gdLst>
              <a:gd name="T0" fmla="*/ 147 w 147"/>
              <a:gd name="T1" fmla="*/ 43 h 101"/>
              <a:gd name="T2" fmla="*/ 147 w 147"/>
              <a:gd name="T3" fmla="*/ 37 h 101"/>
              <a:gd name="T4" fmla="*/ 146 w 147"/>
              <a:gd name="T5" fmla="*/ 30 h 101"/>
              <a:gd name="T6" fmla="*/ 144 w 147"/>
              <a:gd name="T7" fmla="*/ 25 h 101"/>
              <a:gd name="T8" fmla="*/ 142 w 147"/>
              <a:gd name="T9" fmla="*/ 20 h 101"/>
              <a:gd name="T10" fmla="*/ 139 w 147"/>
              <a:gd name="T11" fmla="*/ 15 h 101"/>
              <a:gd name="T12" fmla="*/ 136 w 147"/>
              <a:gd name="T13" fmla="*/ 10 h 101"/>
              <a:gd name="T14" fmla="*/ 132 w 147"/>
              <a:gd name="T15" fmla="*/ 5 h 101"/>
              <a:gd name="T16" fmla="*/ 129 w 147"/>
              <a:gd name="T17" fmla="*/ 0 h 101"/>
              <a:gd name="T18" fmla="*/ 126 w 147"/>
              <a:gd name="T19" fmla="*/ 2 h 101"/>
              <a:gd name="T20" fmla="*/ 131 w 147"/>
              <a:gd name="T21" fmla="*/ 7 h 101"/>
              <a:gd name="T22" fmla="*/ 134 w 147"/>
              <a:gd name="T23" fmla="*/ 12 h 101"/>
              <a:gd name="T24" fmla="*/ 136 w 147"/>
              <a:gd name="T25" fmla="*/ 17 h 101"/>
              <a:gd name="T26" fmla="*/ 139 w 147"/>
              <a:gd name="T27" fmla="*/ 22 h 101"/>
              <a:gd name="T28" fmla="*/ 141 w 147"/>
              <a:gd name="T29" fmla="*/ 27 h 101"/>
              <a:gd name="T30" fmla="*/ 142 w 147"/>
              <a:gd name="T31" fmla="*/ 32 h 101"/>
              <a:gd name="T32" fmla="*/ 144 w 147"/>
              <a:gd name="T33" fmla="*/ 38 h 101"/>
              <a:gd name="T34" fmla="*/ 146 w 147"/>
              <a:gd name="T35" fmla="*/ 43 h 101"/>
              <a:gd name="T36" fmla="*/ 147 w 147"/>
              <a:gd name="T37" fmla="*/ 43 h 101"/>
              <a:gd name="T38" fmla="*/ 0 w 147"/>
              <a:gd name="T39" fmla="*/ 60 h 101"/>
              <a:gd name="T40" fmla="*/ 1 w 147"/>
              <a:gd name="T41" fmla="*/ 65 h 101"/>
              <a:gd name="T42" fmla="*/ 3 w 147"/>
              <a:gd name="T43" fmla="*/ 72 h 101"/>
              <a:gd name="T44" fmla="*/ 5 w 147"/>
              <a:gd name="T45" fmla="*/ 77 h 101"/>
              <a:gd name="T46" fmla="*/ 6 w 147"/>
              <a:gd name="T47" fmla="*/ 81 h 101"/>
              <a:gd name="T48" fmla="*/ 10 w 147"/>
              <a:gd name="T49" fmla="*/ 86 h 101"/>
              <a:gd name="T50" fmla="*/ 11 w 147"/>
              <a:gd name="T51" fmla="*/ 91 h 101"/>
              <a:gd name="T52" fmla="*/ 15 w 147"/>
              <a:gd name="T53" fmla="*/ 96 h 101"/>
              <a:gd name="T54" fmla="*/ 20 w 147"/>
              <a:gd name="T55" fmla="*/ 101 h 101"/>
              <a:gd name="T56" fmla="*/ 21 w 147"/>
              <a:gd name="T57" fmla="*/ 100 h 101"/>
              <a:gd name="T58" fmla="*/ 18 w 147"/>
              <a:gd name="T59" fmla="*/ 95 h 101"/>
              <a:gd name="T60" fmla="*/ 15 w 147"/>
              <a:gd name="T61" fmla="*/ 90 h 101"/>
              <a:gd name="T62" fmla="*/ 11 w 147"/>
              <a:gd name="T63" fmla="*/ 85 h 101"/>
              <a:gd name="T64" fmla="*/ 10 w 147"/>
              <a:gd name="T65" fmla="*/ 80 h 101"/>
              <a:gd name="T66" fmla="*/ 6 w 147"/>
              <a:gd name="T67" fmla="*/ 75 h 101"/>
              <a:gd name="T68" fmla="*/ 5 w 147"/>
              <a:gd name="T69" fmla="*/ 70 h 101"/>
              <a:gd name="T70" fmla="*/ 5 w 147"/>
              <a:gd name="T71" fmla="*/ 63 h 101"/>
              <a:gd name="T72" fmla="*/ 3 w 147"/>
              <a:gd name="T73" fmla="*/ 58 h 101"/>
              <a:gd name="T74" fmla="*/ 0 w 147"/>
              <a:gd name="T75" fmla="*/ 60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47" h="101">
                <a:moveTo>
                  <a:pt x="147" y="43"/>
                </a:moveTo>
                <a:lnTo>
                  <a:pt x="147" y="37"/>
                </a:lnTo>
                <a:lnTo>
                  <a:pt x="146" y="30"/>
                </a:lnTo>
                <a:lnTo>
                  <a:pt x="144" y="25"/>
                </a:lnTo>
                <a:lnTo>
                  <a:pt x="142" y="20"/>
                </a:lnTo>
                <a:lnTo>
                  <a:pt x="139" y="15"/>
                </a:lnTo>
                <a:lnTo>
                  <a:pt x="136" y="10"/>
                </a:lnTo>
                <a:lnTo>
                  <a:pt x="132" y="5"/>
                </a:lnTo>
                <a:lnTo>
                  <a:pt x="129" y="0"/>
                </a:lnTo>
                <a:lnTo>
                  <a:pt x="126" y="2"/>
                </a:lnTo>
                <a:lnTo>
                  <a:pt x="131" y="7"/>
                </a:lnTo>
                <a:lnTo>
                  <a:pt x="134" y="12"/>
                </a:lnTo>
                <a:lnTo>
                  <a:pt x="136" y="17"/>
                </a:lnTo>
                <a:lnTo>
                  <a:pt x="139" y="22"/>
                </a:lnTo>
                <a:lnTo>
                  <a:pt x="141" y="27"/>
                </a:lnTo>
                <a:lnTo>
                  <a:pt x="142" y="32"/>
                </a:lnTo>
                <a:lnTo>
                  <a:pt x="144" y="38"/>
                </a:lnTo>
                <a:lnTo>
                  <a:pt x="146" y="43"/>
                </a:lnTo>
                <a:lnTo>
                  <a:pt x="147" y="43"/>
                </a:lnTo>
                <a:close/>
                <a:moveTo>
                  <a:pt x="0" y="60"/>
                </a:moveTo>
                <a:lnTo>
                  <a:pt x="1" y="65"/>
                </a:lnTo>
                <a:lnTo>
                  <a:pt x="3" y="72"/>
                </a:lnTo>
                <a:lnTo>
                  <a:pt x="5" y="77"/>
                </a:lnTo>
                <a:lnTo>
                  <a:pt x="6" y="81"/>
                </a:lnTo>
                <a:lnTo>
                  <a:pt x="10" y="86"/>
                </a:lnTo>
                <a:lnTo>
                  <a:pt x="11" y="91"/>
                </a:lnTo>
                <a:lnTo>
                  <a:pt x="15" y="96"/>
                </a:lnTo>
                <a:lnTo>
                  <a:pt x="20" y="101"/>
                </a:lnTo>
                <a:lnTo>
                  <a:pt x="21" y="100"/>
                </a:lnTo>
                <a:lnTo>
                  <a:pt x="18" y="95"/>
                </a:lnTo>
                <a:lnTo>
                  <a:pt x="15" y="90"/>
                </a:lnTo>
                <a:lnTo>
                  <a:pt x="11" y="85"/>
                </a:lnTo>
                <a:lnTo>
                  <a:pt x="10" y="80"/>
                </a:lnTo>
                <a:lnTo>
                  <a:pt x="6" y="75"/>
                </a:lnTo>
                <a:lnTo>
                  <a:pt x="5" y="70"/>
                </a:lnTo>
                <a:lnTo>
                  <a:pt x="5" y="63"/>
                </a:lnTo>
                <a:lnTo>
                  <a:pt x="3" y="58"/>
                </a:lnTo>
                <a:lnTo>
                  <a:pt x="0" y="6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63" name="Freeform 2168">
            <a:extLst>
              <a:ext uri="{FF2B5EF4-FFF2-40B4-BE49-F238E27FC236}">
                <a16:creationId xmlns:a16="http://schemas.microsoft.com/office/drawing/2014/main" id="{DE89601D-CDD3-B659-DF1D-9BA35C6AFED8}"/>
              </a:ext>
            </a:extLst>
          </p:cNvPr>
          <p:cNvSpPr>
            <a:spLocks noEditPoints="1"/>
          </p:cNvSpPr>
          <p:nvPr/>
        </p:nvSpPr>
        <p:spPr bwMode="auto">
          <a:xfrm>
            <a:off x="3403600" y="2524125"/>
            <a:ext cx="230188" cy="155575"/>
          </a:xfrm>
          <a:custGeom>
            <a:avLst/>
            <a:gdLst>
              <a:gd name="T0" fmla="*/ 145 w 145"/>
              <a:gd name="T1" fmla="*/ 41 h 98"/>
              <a:gd name="T2" fmla="*/ 145 w 145"/>
              <a:gd name="T3" fmla="*/ 35 h 98"/>
              <a:gd name="T4" fmla="*/ 143 w 145"/>
              <a:gd name="T5" fmla="*/ 30 h 98"/>
              <a:gd name="T6" fmla="*/ 141 w 145"/>
              <a:gd name="T7" fmla="*/ 25 h 98"/>
              <a:gd name="T8" fmla="*/ 140 w 145"/>
              <a:gd name="T9" fmla="*/ 18 h 98"/>
              <a:gd name="T10" fmla="*/ 136 w 145"/>
              <a:gd name="T11" fmla="*/ 13 h 98"/>
              <a:gd name="T12" fmla="*/ 135 w 145"/>
              <a:gd name="T13" fmla="*/ 8 h 98"/>
              <a:gd name="T14" fmla="*/ 131 w 145"/>
              <a:gd name="T15" fmla="*/ 3 h 98"/>
              <a:gd name="T16" fmla="*/ 126 w 145"/>
              <a:gd name="T17" fmla="*/ 0 h 98"/>
              <a:gd name="T18" fmla="*/ 123 w 145"/>
              <a:gd name="T19" fmla="*/ 2 h 98"/>
              <a:gd name="T20" fmla="*/ 128 w 145"/>
              <a:gd name="T21" fmla="*/ 5 h 98"/>
              <a:gd name="T22" fmla="*/ 131 w 145"/>
              <a:gd name="T23" fmla="*/ 10 h 98"/>
              <a:gd name="T24" fmla="*/ 133 w 145"/>
              <a:gd name="T25" fmla="*/ 15 h 98"/>
              <a:gd name="T26" fmla="*/ 136 w 145"/>
              <a:gd name="T27" fmla="*/ 20 h 98"/>
              <a:gd name="T28" fmla="*/ 138 w 145"/>
              <a:gd name="T29" fmla="*/ 25 h 98"/>
              <a:gd name="T30" fmla="*/ 140 w 145"/>
              <a:gd name="T31" fmla="*/ 31 h 98"/>
              <a:gd name="T32" fmla="*/ 141 w 145"/>
              <a:gd name="T33" fmla="*/ 36 h 98"/>
              <a:gd name="T34" fmla="*/ 143 w 145"/>
              <a:gd name="T35" fmla="*/ 43 h 98"/>
              <a:gd name="T36" fmla="*/ 145 w 145"/>
              <a:gd name="T37" fmla="*/ 41 h 98"/>
              <a:gd name="T38" fmla="*/ 0 w 145"/>
              <a:gd name="T39" fmla="*/ 56 h 98"/>
              <a:gd name="T40" fmla="*/ 2 w 145"/>
              <a:gd name="T41" fmla="*/ 63 h 98"/>
              <a:gd name="T42" fmla="*/ 2 w 145"/>
              <a:gd name="T43" fmla="*/ 68 h 98"/>
              <a:gd name="T44" fmla="*/ 5 w 145"/>
              <a:gd name="T45" fmla="*/ 75 h 98"/>
              <a:gd name="T46" fmla="*/ 7 w 145"/>
              <a:gd name="T47" fmla="*/ 79 h 98"/>
              <a:gd name="T48" fmla="*/ 9 w 145"/>
              <a:gd name="T49" fmla="*/ 84 h 98"/>
              <a:gd name="T50" fmla="*/ 12 w 145"/>
              <a:gd name="T51" fmla="*/ 89 h 98"/>
              <a:gd name="T52" fmla="*/ 15 w 145"/>
              <a:gd name="T53" fmla="*/ 93 h 98"/>
              <a:gd name="T54" fmla="*/ 20 w 145"/>
              <a:gd name="T55" fmla="*/ 98 h 98"/>
              <a:gd name="T56" fmla="*/ 22 w 145"/>
              <a:gd name="T57" fmla="*/ 96 h 98"/>
              <a:gd name="T58" fmla="*/ 19 w 145"/>
              <a:gd name="T59" fmla="*/ 93 h 98"/>
              <a:gd name="T60" fmla="*/ 15 w 145"/>
              <a:gd name="T61" fmla="*/ 88 h 98"/>
              <a:gd name="T62" fmla="*/ 12 w 145"/>
              <a:gd name="T63" fmla="*/ 83 h 98"/>
              <a:gd name="T64" fmla="*/ 10 w 145"/>
              <a:gd name="T65" fmla="*/ 78 h 98"/>
              <a:gd name="T66" fmla="*/ 7 w 145"/>
              <a:gd name="T67" fmla="*/ 73 h 98"/>
              <a:gd name="T68" fmla="*/ 5 w 145"/>
              <a:gd name="T69" fmla="*/ 66 h 98"/>
              <a:gd name="T70" fmla="*/ 4 w 145"/>
              <a:gd name="T71" fmla="*/ 61 h 98"/>
              <a:gd name="T72" fmla="*/ 4 w 145"/>
              <a:gd name="T73" fmla="*/ 55 h 98"/>
              <a:gd name="T74" fmla="*/ 0 w 145"/>
              <a:gd name="T75" fmla="*/ 56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45" h="98">
                <a:moveTo>
                  <a:pt x="145" y="41"/>
                </a:moveTo>
                <a:lnTo>
                  <a:pt x="145" y="35"/>
                </a:lnTo>
                <a:lnTo>
                  <a:pt x="143" y="30"/>
                </a:lnTo>
                <a:lnTo>
                  <a:pt x="141" y="25"/>
                </a:lnTo>
                <a:lnTo>
                  <a:pt x="140" y="18"/>
                </a:lnTo>
                <a:lnTo>
                  <a:pt x="136" y="13"/>
                </a:lnTo>
                <a:lnTo>
                  <a:pt x="135" y="8"/>
                </a:lnTo>
                <a:lnTo>
                  <a:pt x="131" y="3"/>
                </a:lnTo>
                <a:lnTo>
                  <a:pt x="126" y="0"/>
                </a:lnTo>
                <a:lnTo>
                  <a:pt x="123" y="2"/>
                </a:lnTo>
                <a:lnTo>
                  <a:pt x="128" y="5"/>
                </a:lnTo>
                <a:lnTo>
                  <a:pt x="131" y="10"/>
                </a:lnTo>
                <a:lnTo>
                  <a:pt x="133" y="15"/>
                </a:lnTo>
                <a:lnTo>
                  <a:pt x="136" y="20"/>
                </a:lnTo>
                <a:lnTo>
                  <a:pt x="138" y="25"/>
                </a:lnTo>
                <a:lnTo>
                  <a:pt x="140" y="31"/>
                </a:lnTo>
                <a:lnTo>
                  <a:pt x="141" y="36"/>
                </a:lnTo>
                <a:lnTo>
                  <a:pt x="143" y="43"/>
                </a:lnTo>
                <a:lnTo>
                  <a:pt x="145" y="41"/>
                </a:lnTo>
                <a:close/>
                <a:moveTo>
                  <a:pt x="0" y="56"/>
                </a:moveTo>
                <a:lnTo>
                  <a:pt x="2" y="63"/>
                </a:lnTo>
                <a:lnTo>
                  <a:pt x="2" y="68"/>
                </a:lnTo>
                <a:lnTo>
                  <a:pt x="5" y="75"/>
                </a:lnTo>
                <a:lnTo>
                  <a:pt x="7" y="79"/>
                </a:lnTo>
                <a:lnTo>
                  <a:pt x="9" y="84"/>
                </a:lnTo>
                <a:lnTo>
                  <a:pt x="12" y="89"/>
                </a:lnTo>
                <a:lnTo>
                  <a:pt x="15" y="93"/>
                </a:lnTo>
                <a:lnTo>
                  <a:pt x="20" y="98"/>
                </a:lnTo>
                <a:lnTo>
                  <a:pt x="22" y="96"/>
                </a:lnTo>
                <a:lnTo>
                  <a:pt x="19" y="93"/>
                </a:lnTo>
                <a:lnTo>
                  <a:pt x="15" y="88"/>
                </a:lnTo>
                <a:lnTo>
                  <a:pt x="12" y="83"/>
                </a:lnTo>
                <a:lnTo>
                  <a:pt x="10" y="78"/>
                </a:lnTo>
                <a:lnTo>
                  <a:pt x="7" y="73"/>
                </a:lnTo>
                <a:lnTo>
                  <a:pt x="5" y="66"/>
                </a:lnTo>
                <a:lnTo>
                  <a:pt x="4" y="61"/>
                </a:lnTo>
                <a:lnTo>
                  <a:pt x="4" y="55"/>
                </a:lnTo>
                <a:lnTo>
                  <a:pt x="0" y="56"/>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64" name="Freeform 2169">
            <a:extLst>
              <a:ext uri="{FF2B5EF4-FFF2-40B4-BE49-F238E27FC236}">
                <a16:creationId xmlns:a16="http://schemas.microsoft.com/office/drawing/2014/main" id="{83BD0894-CBA9-485A-403A-7AC36B99EF31}"/>
              </a:ext>
            </a:extLst>
          </p:cNvPr>
          <p:cNvSpPr>
            <a:spLocks noEditPoints="1"/>
          </p:cNvSpPr>
          <p:nvPr/>
        </p:nvSpPr>
        <p:spPr bwMode="auto">
          <a:xfrm>
            <a:off x="3406775" y="2524125"/>
            <a:ext cx="227013" cy="155575"/>
          </a:xfrm>
          <a:custGeom>
            <a:avLst/>
            <a:gdLst>
              <a:gd name="T0" fmla="*/ 143 w 143"/>
              <a:gd name="T1" fmla="*/ 41 h 98"/>
              <a:gd name="T2" fmla="*/ 141 w 143"/>
              <a:gd name="T3" fmla="*/ 36 h 98"/>
              <a:gd name="T4" fmla="*/ 139 w 143"/>
              <a:gd name="T5" fmla="*/ 30 h 98"/>
              <a:gd name="T6" fmla="*/ 138 w 143"/>
              <a:gd name="T7" fmla="*/ 25 h 98"/>
              <a:gd name="T8" fmla="*/ 136 w 143"/>
              <a:gd name="T9" fmla="*/ 20 h 98"/>
              <a:gd name="T10" fmla="*/ 133 w 143"/>
              <a:gd name="T11" fmla="*/ 15 h 98"/>
              <a:gd name="T12" fmla="*/ 131 w 143"/>
              <a:gd name="T13" fmla="*/ 10 h 98"/>
              <a:gd name="T14" fmla="*/ 128 w 143"/>
              <a:gd name="T15" fmla="*/ 5 h 98"/>
              <a:gd name="T16" fmla="*/ 123 w 143"/>
              <a:gd name="T17" fmla="*/ 0 h 98"/>
              <a:gd name="T18" fmla="*/ 119 w 143"/>
              <a:gd name="T19" fmla="*/ 2 h 98"/>
              <a:gd name="T20" fmla="*/ 124 w 143"/>
              <a:gd name="T21" fmla="*/ 7 h 98"/>
              <a:gd name="T22" fmla="*/ 128 w 143"/>
              <a:gd name="T23" fmla="*/ 10 h 98"/>
              <a:gd name="T24" fmla="*/ 131 w 143"/>
              <a:gd name="T25" fmla="*/ 15 h 98"/>
              <a:gd name="T26" fmla="*/ 133 w 143"/>
              <a:gd name="T27" fmla="*/ 20 h 98"/>
              <a:gd name="T28" fmla="*/ 134 w 143"/>
              <a:gd name="T29" fmla="*/ 26 h 98"/>
              <a:gd name="T30" fmla="*/ 136 w 143"/>
              <a:gd name="T31" fmla="*/ 31 h 98"/>
              <a:gd name="T32" fmla="*/ 138 w 143"/>
              <a:gd name="T33" fmla="*/ 38 h 98"/>
              <a:gd name="T34" fmla="*/ 139 w 143"/>
              <a:gd name="T35" fmla="*/ 43 h 98"/>
              <a:gd name="T36" fmla="*/ 143 w 143"/>
              <a:gd name="T37" fmla="*/ 41 h 98"/>
              <a:gd name="T38" fmla="*/ 0 w 143"/>
              <a:gd name="T39" fmla="*/ 56 h 98"/>
              <a:gd name="T40" fmla="*/ 2 w 143"/>
              <a:gd name="T41" fmla="*/ 61 h 98"/>
              <a:gd name="T42" fmla="*/ 2 w 143"/>
              <a:gd name="T43" fmla="*/ 68 h 98"/>
              <a:gd name="T44" fmla="*/ 3 w 143"/>
              <a:gd name="T45" fmla="*/ 73 h 98"/>
              <a:gd name="T46" fmla="*/ 7 w 143"/>
              <a:gd name="T47" fmla="*/ 78 h 98"/>
              <a:gd name="T48" fmla="*/ 8 w 143"/>
              <a:gd name="T49" fmla="*/ 83 h 98"/>
              <a:gd name="T50" fmla="*/ 12 w 143"/>
              <a:gd name="T51" fmla="*/ 88 h 98"/>
              <a:gd name="T52" fmla="*/ 15 w 143"/>
              <a:gd name="T53" fmla="*/ 93 h 98"/>
              <a:gd name="T54" fmla="*/ 18 w 143"/>
              <a:gd name="T55" fmla="*/ 98 h 98"/>
              <a:gd name="T56" fmla="*/ 22 w 143"/>
              <a:gd name="T57" fmla="*/ 96 h 98"/>
              <a:gd name="T58" fmla="*/ 18 w 143"/>
              <a:gd name="T59" fmla="*/ 91 h 98"/>
              <a:gd name="T60" fmla="*/ 15 w 143"/>
              <a:gd name="T61" fmla="*/ 88 h 98"/>
              <a:gd name="T62" fmla="*/ 12 w 143"/>
              <a:gd name="T63" fmla="*/ 83 h 98"/>
              <a:gd name="T64" fmla="*/ 10 w 143"/>
              <a:gd name="T65" fmla="*/ 78 h 98"/>
              <a:gd name="T66" fmla="*/ 7 w 143"/>
              <a:gd name="T67" fmla="*/ 71 h 98"/>
              <a:gd name="T68" fmla="*/ 5 w 143"/>
              <a:gd name="T69" fmla="*/ 66 h 98"/>
              <a:gd name="T70" fmla="*/ 3 w 143"/>
              <a:gd name="T71" fmla="*/ 61 h 98"/>
              <a:gd name="T72" fmla="*/ 3 w 143"/>
              <a:gd name="T73" fmla="*/ 55 h 98"/>
              <a:gd name="T74" fmla="*/ 0 w 143"/>
              <a:gd name="T75" fmla="*/ 56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43" h="98">
                <a:moveTo>
                  <a:pt x="143" y="41"/>
                </a:moveTo>
                <a:lnTo>
                  <a:pt x="141" y="36"/>
                </a:lnTo>
                <a:lnTo>
                  <a:pt x="139" y="30"/>
                </a:lnTo>
                <a:lnTo>
                  <a:pt x="138" y="25"/>
                </a:lnTo>
                <a:lnTo>
                  <a:pt x="136" y="20"/>
                </a:lnTo>
                <a:lnTo>
                  <a:pt x="133" y="15"/>
                </a:lnTo>
                <a:lnTo>
                  <a:pt x="131" y="10"/>
                </a:lnTo>
                <a:lnTo>
                  <a:pt x="128" y="5"/>
                </a:lnTo>
                <a:lnTo>
                  <a:pt x="123" y="0"/>
                </a:lnTo>
                <a:lnTo>
                  <a:pt x="119" y="2"/>
                </a:lnTo>
                <a:lnTo>
                  <a:pt x="124" y="7"/>
                </a:lnTo>
                <a:lnTo>
                  <a:pt x="128" y="10"/>
                </a:lnTo>
                <a:lnTo>
                  <a:pt x="131" y="15"/>
                </a:lnTo>
                <a:lnTo>
                  <a:pt x="133" y="20"/>
                </a:lnTo>
                <a:lnTo>
                  <a:pt x="134" y="26"/>
                </a:lnTo>
                <a:lnTo>
                  <a:pt x="136" y="31"/>
                </a:lnTo>
                <a:lnTo>
                  <a:pt x="138" y="38"/>
                </a:lnTo>
                <a:lnTo>
                  <a:pt x="139" y="43"/>
                </a:lnTo>
                <a:lnTo>
                  <a:pt x="143" y="41"/>
                </a:lnTo>
                <a:close/>
                <a:moveTo>
                  <a:pt x="0" y="56"/>
                </a:moveTo>
                <a:lnTo>
                  <a:pt x="2" y="61"/>
                </a:lnTo>
                <a:lnTo>
                  <a:pt x="2" y="68"/>
                </a:lnTo>
                <a:lnTo>
                  <a:pt x="3" y="73"/>
                </a:lnTo>
                <a:lnTo>
                  <a:pt x="7" y="78"/>
                </a:lnTo>
                <a:lnTo>
                  <a:pt x="8" y="83"/>
                </a:lnTo>
                <a:lnTo>
                  <a:pt x="12" y="88"/>
                </a:lnTo>
                <a:lnTo>
                  <a:pt x="15" y="93"/>
                </a:lnTo>
                <a:lnTo>
                  <a:pt x="18" y="98"/>
                </a:lnTo>
                <a:lnTo>
                  <a:pt x="22" y="96"/>
                </a:lnTo>
                <a:lnTo>
                  <a:pt x="18" y="91"/>
                </a:lnTo>
                <a:lnTo>
                  <a:pt x="15" y="88"/>
                </a:lnTo>
                <a:lnTo>
                  <a:pt x="12" y="83"/>
                </a:lnTo>
                <a:lnTo>
                  <a:pt x="10" y="78"/>
                </a:lnTo>
                <a:lnTo>
                  <a:pt x="7" y="71"/>
                </a:lnTo>
                <a:lnTo>
                  <a:pt x="5" y="66"/>
                </a:lnTo>
                <a:lnTo>
                  <a:pt x="3" y="61"/>
                </a:lnTo>
                <a:lnTo>
                  <a:pt x="3" y="55"/>
                </a:lnTo>
                <a:lnTo>
                  <a:pt x="0" y="56"/>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65" name="Freeform 2170">
            <a:extLst>
              <a:ext uri="{FF2B5EF4-FFF2-40B4-BE49-F238E27FC236}">
                <a16:creationId xmlns:a16="http://schemas.microsoft.com/office/drawing/2014/main" id="{9F0A6835-C23A-B829-B980-84D8397F8735}"/>
              </a:ext>
            </a:extLst>
          </p:cNvPr>
          <p:cNvSpPr>
            <a:spLocks noEditPoints="1"/>
          </p:cNvSpPr>
          <p:nvPr/>
        </p:nvSpPr>
        <p:spPr bwMode="auto">
          <a:xfrm>
            <a:off x="3409950" y="2527300"/>
            <a:ext cx="220663" cy="149225"/>
          </a:xfrm>
          <a:custGeom>
            <a:avLst/>
            <a:gdLst>
              <a:gd name="T0" fmla="*/ 139 w 139"/>
              <a:gd name="T1" fmla="*/ 41 h 94"/>
              <a:gd name="T2" fmla="*/ 137 w 139"/>
              <a:gd name="T3" fmla="*/ 34 h 94"/>
              <a:gd name="T4" fmla="*/ 136 w 139"/>
              <a:gd name="T5" fmla="*/ 29 h 94"/>
              <a:gd name="T6" fmla="*/ 134 w 139"/>
              <a:gd name="T7" fmla="*/ 23 h 94"/>
              <a:gd name="T8" fmla="*/ 132 w 139"/>
              <a:gd name="T9" fmla="*/ 18 h 94"/>
              <a:gd name="T10" fmla="*/ 129 w 139"/>
              <a:gd name="T11" fmla="*/ 13 h 94"/>
              <a:gd name="T12" fmla="*/ 127 w 139"/>
              <a:gd name="T13" fmla="*/ 8 h 94"/>
              <a:gd name="T14" fmla="*/ 124 w 139"/>
              <a:gd name="T15" fmla="*/ 3 h 94"/>
              <a:gd name="T16" fmla="*/ 119 w 139"/>
              <a:gd name="T17" fmla="*/ 0 h 94"/>
              <a:gd name="T18" fmla="*/ 116 w 139"/>
              <a:gd name="T19" fmla="*/ 0 h 94"/>
              <a:gd name="T20" fmla="*/ 121 w 139"/>
              <a:gd name="T21" fmla="*/ 5 h 94"/>
              <a:gd name="T22" fmla="*/ 124 w 139"/>
              <a:gd name="T23" fmla="*/ 10 h 94"/>
              <a:gd name="T24" fmla="*/ 127 w 139"/>
              <a:gd name="T25" fmla="*/ 15 h 94"/>
              <a:gd name="T26" fmla="*/ 129 w 139"/>
              <a:gd name="T27" fmla="*/ 20 h 94"/>
              <a:gd name="T28" fmla="*/ 132 w 139"/>
              <a:gd name="T29" fmla="*/ 24 h 94"/>
              <a:gd name="T30" fmla="*/ 134 w 139"/>
              <a:gd name="T31" fmla="*/ 31 h 94"/>
              <a:gd name="T32" fmla="*/ 134 w 139"/>
              <a:gd name="T33" fmla="*/ 36 h 94"/>
              <a:gd name="T34" fmla="*/ 136 w 139"/>
              <a:gd name="T35" fmla="*/ 43 h 94"/>
              <a:gd name="T36" fmla="*/ 139 w 139"/>
              <a:gd name="T37" fmla="*/ 41 h 94"/>
              <a:gd name="T38" fmla="*/ 0 w 139"/>
              <a:gd name="T39" fmla="*/ 53 h 94"/>
              <a:gd name="T40" fmla="*/ 0 w 139"/>
              <a:gd name="T41" fmla="*/ 59 h 94"/>
              <a:gd name="T42" fmla="*/ 1 w 139"/>
              <a:gd name="T43" fmla="*/ 64 h 94"/>
              <a:gd name="T44" fmla="*/ 3 w 139"/>
              <a:gd name="T45" fmla="*/ 71 h 94"/>
              <a:gd name="T46" fmla="*/ 6 w 139"/>
              <a:gd name="T47" fmla="*/ 76 h 94"/>
              <a:gd name="T48" fmla="*/ 8 w 139"/>
              <a:gd name="T49" fmla="*/ 81 h 94"/>
              <a:gd name="T50" fmla="*/ 11 w 139"/>
              <a:gd name="T51" fmla="*/ 86 h 94"/>
              <a:gd name="T52" fmla="*/ 15 w 139"/>
              <a:gd name="T53" fmla="*/ 91 h 94"/>
              <a:gd name="T54" fmla="*/ 18 w 139"/>
              <a:gd name="T55" fmla="*/ 94 h 94"/>
              <a:gd name="T56" fmla="*/ 21 w 139"/>
              <a:gd name="T57" fmla="*/ 92 h 94"/>
              <a:gd name="T58" fmla="*/ 18 w 139"/>
              <a:gd name="T59" fmla="*/ 89 h 94"/>
              <a:gd name="T60" fmla="*/ 15 w 139"/>
              <a:gd name="T61" fmla="*/ 84 h 94"/>
              <a:gd name="T62" fmla="*/ 11 w 139"/>
              <a:gd name="T63" fmla="*/ 79 h 94"/>
              <a:gd name="T64" fmla="*/ 10 w 139"/>
              <a:gd name="T65" fmla="*/ 74 h 94"/>
              <a:gd name="T66" fmla="*/ 6 w 139"/>
              <a:gd name="T67" fmla="*/ 69 h 94"/>
              <a:gd name="T68" fmla="*/ 5 w 139"/>
              <a:gd name="T69" fmla="*/ 64 h 94"/>
              <a:gd name="T70" fmla="*/ 3 w 139"/>
              <a:gd name="T71" fmla="*/ 58 h 94"/>
              <a:gd name="T72" fmla="*/ 3 w 139"/>
              <a:gd name="T73" fmla="*/ 53 h 94"/>
              <a:gd name="T74" fmla="*/ 0 w 139"/>
              <a:gd name="T75" fmla="*/ 53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39" h="94">
                <a:moveTo>
                  <a:pt x="139" y="41"/>
                </a:moveTo>
                <a:lnTo>
                  <a:pt x="137" y="34"/>
                </a:lnTo>
                <a:lnTo>
                  <a:pt x="136" y="29"/>
                </a:lnTo>
                <a:lnTo>
                  <a:pt x="134" y="23"/>
                </a:lnTo>
                <a:lnTo>
                  <a:pt x="132" y="18"/>
                </a:lnTo>
                <a:lnTo>
                  <a:pt x="129" y="13"/>
                </a:lnTo>
                <a:lnTo>
                  <a:pt x="127" y="8"/>
                </a:lnTo>
                <a:lnTo>
                  <a:pt x="124" y="3"/>
                </a:lnTo>
                <a:lnTo>
                  <a:pt x="119" y="0"/>
                </a:lnTo>
                <a:lnTo>
                  <a:pt x="116" y="0"/>
                </a:lnTo>
                <a:lnTo>
                  <a:pt x="121" y="5"/>
                </a:lnTo>
                <a:lnTo>
                  <a:pt x="124" y="10"/>
                </a:lnTo>
                <a:lnTo>
                  <a:pt x="127" y="15"/>
                </a:lnTo>
                <a:lnTo>
                  <a:pt x="129" y="20"/>
                </a:lnTo>
                <a:lnTo>
                  <a:pt x="132" y="24"/>
                </a:lnTo>
                <a:lnTo>
                  <a:pt x="134" y="31"/>
                </a:lnTo>
                <a:lnTo>
                  <a:pt x="134" y="36"/>
                </a:lnTo>
                <a:lnTo>
                  <a:pt x="136" y="43"/>
                </a:lnTo>
                <a:lnTo>
                  <a:pt x="139" y="41"/>
                </a:lnTo>
                <a:close/>
                <a:moveTo>
                  <a:pt x="0" y="53"/>
                </a:moveTo>
                <a:lnTo>
                  <a:pt x="0" y="59"/>
                </a:lnTo>
                <a:lnTo>
                  <a:pt x="1" y="64"/>
                </a:lnTo>
                <a:lnTo>
                  <a:pt x="3" y="71"/>
                </a:lnTo>
                <a:lnTo>
                  <a:pt x="6" y="76"/>
                </a:lnTo>
                <a:lnTo>
                  <a:pt x="8" y="81"/>
                </a:lnTo>
                <a:lnTo>
                  <a:pt x="11" y="86"/>
                </a:lnTo>
                <a:lnTo>
                  <a:pt x="15" y="91"/>
                </a:lnTo>
                <a:lnTo>
                  <a:pt x="18" y="94"/>
                </a:lnTo>
                <a:lnTo>
                  <a:pt x="21" y="92"/>
                </a:lnTo>
                <a:lnTo>
                  <a:pt x="18" y="89"/>
                </a:lnTo>
                <a:lnTo>
                  <a:pt x="15" y="84"/>
                </a:lnTo>
                <a:lnTo>
                  <a:pt x="11" y="79"/>
                </a:lnTo>
                <a:lnTo>
                  <a:pt x="10" y="74"/>
                </a:lnTo>
                <a:lnTo>
                  <a:pt x="6" y="69"/>
                </a:lnTo>
                <a:lnTo>
                  <a:pt x="5" y="64"/>
                </a:lnTo>
                <a:lnTo>
                  <a:pt x="3" y="58"/>
                </a:lnTo>
                <a:lnTo>
                  <a:pt x="3" y="53"/>
                </a:lnTo>
                <a:lnTo>
                  <a:pt x="0" y="53"/>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66" name="Freeform 2171">
            <a:extLst>
              <a:ext uri="{FF2B5EF4-FFF2-40B4-BE49-F238E27FC236}">
                <a16:creationId xmlns:a16="http://schemas.microsoft.com/office/drawing/2014/main" id="{A8EC83B0-E681-F6E6-C292-A3308405A762}"/>
              </a:ext>
            </a:extLst>
          </p:cNvPr>
          <p:cNvSpPr>
            <a:spLocks noEditPoints="1"/>
          </p:cNvSpPr>
          <p:nvPr/>
        </p:nvSpPr>
        <p:spPr bwMode="auto">
          <a:xfrm>
            <a:off x="3411538" y="2527300"/>
            <a:ext cx="215900" cy="149225"/>
          </a:xfrm>
          <a:custGeom>
            <a:avLst/>
            <a:gdLst>
              <a:gd name="T0" fmla="*/ 136 w 136"/>
              <a:gd name="T1" fmla="*/ 41 h 94"/>
              <a:gd name="T2" fmla="*/ 135 w 136"/>
              <a:gd name="T3" fmla="*/ 36 h 94"/>
              <a:gd name="T4" fmla="*/ 133 w 136"/>
              <a:gd name="T5" fmla="*/ 29 h 94"/>
              <a:gd name="T6" fmla="*/ 131 w 136"/>
              <a:gd name="T7" fmla="*/ 24 h 94"/>
              <a:gd name="T8" fmla="*/ 130 w 136"/>
              <a:gd name="T9" fmla="*/ 18 h 94"/>
              <a:gd name="T10" fmla="*/ 128 w 136"/>
              <a:gd name="T11" fmla="*/ 13 h 94"/>
              <a:gd name="T12" fmla="*/ 125 w 136"/>
              <a:gd name="T13" fmla="*/ 8 h 94"/>
              <a:gd name="T14" fmla="*/ 121 w 136"/>
              <a:gd name="T15" fmla="*/ 5 h 94"/>
              <a:gd name="T16" fmla="*/ 116 w 136"/>
              <a:gd name="T17" fmla="*/ 0 h 94"/>
              <a:gd name="T18" fmla="*/ 115 w 136"/>
              <a:gd name="T19" fmla="*/ 1 h 94"/>
              <a:gd name="T20" fmla="*/ 118 w 136"/>
              <a:gd name="T21" fmla="*/ 5 h 94"/>
              <a:gd name="T22" fmla="*/ 121 w 136"/>
              <a:gd name="T23" fmla="*/ 10 h 94"/>
              <a:gd name="T24" fmla="*/ 125 w 136"/>
              <a:gd name="T25" fmla="*/ 15 h 94"/>
              <a:gd name="T26" fmla="*/ 126 w 136"/>
              <a:gd name="T27" fmla="*/ 20 h 94"/>
              <a:gd name="T28" fmla="*/ 130 w 136"/>
              <a:gd name="T29" fmla="*/ 26 h 94"/>
              <a:gd name="T30" fmla="*/ 131 w 136"/>
              <a:gd name="T31" fmla="*/ 31 h 94"/>
              <a:gd name="T32" fmla="*/ 131 w 136"/>
              <a:gd name="T33" fmla="*/ 38 h 94"/>
              <a:gd name="T34" fmla="*/ 133 w 136"/>
              <a:gd name="T35" fmla="*/ 43 h 94"/>
              <a:gd name="T36" fmla="*/ 136 w 136"/>
              <a:gd name="T37" fmla="*/ 41 h 94"/>
              <a:gd name="T38" fmla="*/ 0 w 136"/>
              <a:gd name="T39" fmla="*/ 53 h 94"/>
              <a:gd name="T40" fmla="*/ 0 w 136"/>
              <a:gd name="T41" fmla="*/ 59 h 94"/>
              <a:gd name="T42" fmla="*/ 2 w 136"/>
              <a:gd name="T43" fmla="*/ 64 h 94"/>
              <a:gd name="T44" fmla="*/ 4 w 136"/>
              <a:gd name="T45" fmla="*/ 69 h 94"/>
              <a:gd name="T46" fmla="*/ 7 w 136"/>
              <a:gd name="T47" fmla="*/ 76 h 94"/>
              <a:gd name="T48" fmla="*/ 9 w 136"/>
              <a:gd name="T49" fmla="*/ 81 h 94"/>
              <a:gd name="T50" fmla="*/ 12 w 136"/>
              <a:gd name="T51" fmla="*/ 86 h 94"/>
              <a:gd name="T52" fmla="*/ 15 w 136"/>
              <a:gd name="T53" fmla="*/ 89 h 94"/>
              <a:gd name="T54" fmla="*/ 19 w 136"/>
              <a:gd name="T55" fmla="*/ 94 h 94"/>
              <a:gd name="T56" fmla="*/ 22 w 136"/>
              <a:gd name="T57" fmla="*/ 92 h 94"/>
              <a:gd name="T58" fmla="*/ 19 w 136"/>
              <a:gd name="T59" fmla="*/ 87 h 94"/>
              <a:gd name="T60" fmla="*/ 15 w 136"/>
              <a:gd name="T61" fmla="*/ 84 h 94"/>
              <a:gd name="T62" fmla="*/ 12 w 136"/>
              <a:gd name="T63" fmla="*/ 79 h 94"/>
              <a:gd name="T64" fmla="*/ 9 w 136"/>
              <a:gd name="T65" fmla="*/ 74 h 94"/>
              <a:gd name="T66" fmla="*/ 7 w 136"/>
              <a:gd name="T67" fmla="*/ 69 h 94"/>
              <a:gd name="T68" fmla="*/ 5 w 136"/>
              <a:gd name="T69" fmla="*/ 63 h 94"/>
              <a:gd name="T70" fmla="*/ 4 w 136"/>
              <a:gd name="T71" fmla="*/ 58 h 94"/>
              <a:gd name="T72" fmla="*/ 4 w 136"/>
              <a:gd name="T73" fmla="*/ 51 h 94"/>
              <a:gd name="T74" fmla="*/ 0 w 136"/>
              <a:gd name="T75" fmla="*/ 53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36" h="94">
                <a:moveTo>
                  <a:pt x="136" y="41"/>
                </a:moveTo>
                <a:lnTo>
                  <a:pt x="135" y="36"/>
                </a:lnTo>
                <a:lnTo>
                  <a:pt x="133" y="29"/>
                </a:lnTo>
                <a:lnTo>
                  <a:pt x="131" y="24"/>
                </a:lnTo>
                <a:lnTo>
                  <a:pt x="130" y="18"/>
                </a:lnTo>
                <a:lnTo>
                  <a:pt x="128" y="13"/>
                </a:lnTo>
                <a:lnTo>
                  <a:pt x="125" y="8"/>
                </a:lnTo>
                <a:lnTo>
                  <a:pt x="121" y="5"/>
                </a:lnTo>
                <a:lnTo>
                  <a:pt x="116" y="0"/>
                </a:lnTo>
                <a:lnTo>
                  <a:pt x="115" y="1"/>
                </a:lnTo>
                <a:lnTo>
                  <a:pt x="118" y="5"/>
                </a:lnTo>
                <a:lnTo>
                  <a:pt x="121" y="10"/>
                </a:lnTo>
                <a:lnTo>
                  <a:pt x="125" y="15"/>
                </a:lnTo>
                <a:lnTo>
                  <a:pt x="126" y="20"/>
                </a:lnTo>
                <a:lnTo>
                  <a:pt x="130" y="26"/>
                </a:lnTo>
                <a:lnTo>
                  <a:pt x="131" y="31"/>
                </a:lnTo>
                <a:lnTo>
                  <a:pt x="131" y="38"/>
                </a:lnTo>
                <a:lnTo>
                  <a:pt x="133" y="43"/>
                </a:lnTo>
                <a:lnTo>
                  <a:pt x="136" y="41"/>
                </a:lnTo>
                <a:close/>
                <a:moveTo>
                  <a:pt x="0" y="53"/>
                </a:moveTo>
                <a:lnTo>
                  <a:pt x="0" y="59"/>
                </a:lnTo>
                <a:lnTo>
                  <a:pt x="2" y="64"/>
                </a:lnTo>
                <a:lnTo>
                  <a:pt x="4" y="69"/>
                </a:lnTo>
                <a:lnTo>
                  <a:pt x="7" y="76"/>
                </a:lnTo>
                <a:lnTo>
                  <a:pt x="9" y="81"/>
                </a:lnTo>
                <a:lnTo>
                  <a:pt x="12" y="86"/>
                </a:lnTo>
                <a:lnTo>
                  <a:pt x="15" y="89"/>
                </a:lnTo>
                <a:lnTo>
                  <a:pt x="19" y="94"/>
                </a:lnTo>
                <a:lnTo>
                  <a:pt x="22" y="92"/>
                </a:lnTo>
                <a:lnTo>
                  <a:pt x="19" y="87"/>
                </a:lnTo>
                <a:lnTo>
                  <a:pt x="15" y="84"/>
                </a:lnTo>
                <a:lnTo>
                  <a:pt x="12" y="79"/>
                </a:lnTo>
                <a:lnTo>
                  <a:pt x="9" y="74"/>
                </a:lnTo>
                <a:lnTo>
                  <a:pt x="7" y="69"/>
                </a:lnTo>
                <a:lnTo>
                  <a:pt x="5" y="63"/>
                </a:lnTo>
                <a:lnTo>
                  <a:pt x="4" y="58"/>
                </a:lnTo>
                <a:lnTo>
                  <a:pt x="4" y="51"/>
                </a:lnTo>
                <a:lnTo>
                  <a:pt x="0" y="53"/>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67" name="Freeform 2172">
            <a:extLst>
              <a:ext uri="{FF2B5EF4-FFF2-40B4-BE49-F238E27FC236}">
                <a16:creationId xmlns:a16="http://schemas.microsoft.com/office/drawing/2014/main" id="{8B4597AE-0B84-AF31-BA16-A08E832DE049}"/>
              </a:ext>
            </a:extLst>
          </p:cNvPr>
          <p:cNvSpPr>
            <a:spLocks noEditPoints="1"/>
          </p:cNvSpPr>
          <p:nvPr/>
        </p:nvSpPr>
        <p:spPr bwMode="auto">
          <a:xfrm>
            <a:off x="3414713" y="2527300"/>
            <a:ext cx="211138" cy="146050"/>
          </a:xfrm>
          <a:custGeom>
            <a:avLst/>
            <a:gdLst>
              <a:gd name="T0" fmla="*/ 133 w 133"/>
              <a:gd name="T1" fmla="*/ 43 h 92"/>
              <a:gd name="T2" fmla="*/ 131 w 133"/>
              <a:gd name="T3" fmla="*/ 36 h 92"/>
              <a:gd name="T4" fmla="*/ 131 w 133"/>
              <a:gd name="T5" fmla="*/ 31 h 92"/>
              <a:gd name="T6" fmla="*/ 129 w 133"/>
              <a:gd name="T7" fmla="*/ 24 h 92"/>
              <a:gd name="T8" fmla="*/ 126 w 133"/>
              <a:gd name="T9" fmla="*/ 20 h 92"/>
              <a:gd name="T10" fmla="*/ 124 w 133"/>
              <a:gd name="T11" fmla="*/ 15 h 92"/>
              <a:gd name="T12" fmla="*/ 121 w 133"/>
              <a:gd name="T13" fmla="*/ 10 h 92"/>
              <a:gd name="T14" fmla="*/ 118 w 133"/>
              <a:gd name="T15" fmla="*/ 5 h 92"/>
              <a:gd name="T16" fmla="*/ 113 w 133"/>
              <a:gd name="T17" fmla="*/ 0 h 92"/>
              <a:gd name="T18" fmla="*/ 111 w 133"/>
              <a:gd name="T19" fmla="*/ 1 h 92"/>
              <a:gd name="T20" fmla="*/ 114 w 133"/>
              <a:gd name="T21" fmla="*/ 6 h 92"/>
              <a:gd name="T22" fmla="*/ 118 w 133"/>
              <a:gd name="T23" fmla="*/ 11 h 92"/>
              <a:gd name="T24" fmla="*/ 121 w 133"/>
              <a:gd name="T25" fmla="*/ 16 h 92"/>
              <a:gd name="T26" fmla="*/ 123 w 133"/>
              <a:gd name="T27" fmla="*/ 21 h 92"/>
              <a:gd name="T28" fmla="*/ 126 w 133"/>
              <a:gd name="T29" fmla="*/ 26 h 92"/>
              <a:gd name="T30" fmla="*/ 128 w 133"/>
              <a:gd name="T31" fmla="*/ 31 h 92"/>
              <a:gd name="T32" fmla="*/ 128 w 133"/>
              <a:gd name="T33" fmla="*/ 38 h 92"/>
              <a:gd name="T34" fmla="*/ 129 w 133"/>
              <a:gd name="T35" fmla="*/ 44 h 92"/>
              <a:gd name="T36" fmla="*/ 133 w 133"/>
              <a:gd name="T37" fmla="*/ 43 h 92"/>
              <a:gd name="T38" fmla="*/ 0 w 133"/>
              <a:gd name="T39" fmla="*/ 53 h 92"/>
              <a:gd name="T40" fmla="*/ 0 w 133"/>
              <a:gd name="T41" fmla="*/ 58 h 92"/>
              <a:gd name="T42" fmla="*/ 2 w 133"/>
              <a:gd name="T43" fmla="*/ 64 h 92"/>
              <a:gd name="T44" fmla="*/ 3 w 133"/>
              <a:gd name="T45" fmla="*/ 69 h 92"/>
              <a:gd name="T46" fmla="*/ 7 w 133"/>
              <a:gd name="T47" fmla="*/ 74 h 92"/>
              <a:gd name="T48" fmla="*/ 8 w 133"/>
              <a:gd name="T49" fmla="*/ 79 h 92"/>
              <a:gd name="T50" fmla="*/ 12 w 133"/>
              <a:gd name="T51" fmla="*/ 84 h 92"/>
              <a:gd name="T52" fmla="*/ 15 w 133"/>
              <a:gd name="T53" fmla="*/ 89 h 92"/>
              <a:gd name="T54" fmla="*/ 18 w 133"/>
              <a:gd name="T55" fmla="*/ 92 h 92"/>
              <a:gd name="T56" fmla="*/ 22 w 133"/>
              <a:gd name="T57" fmla="*/ 91 h 92"/>
              <a:gd name="T58" fmla="*/ 18 w 133"/>
              <a:gd name="T59" fmla="*/ 87 h 92"/>
              <a:gd name="T60" fmla="*/ 15 w 133"/>
              <a:gd name="T61" fmla="*/ 82 h 92"/>
              <a:gd name="T62" fmla="*/ 12 w 133"/>
              <a:gd name="T63" fmla="*/ 77 h 92"/>
              <a:gd name="T64" fmla="*/ 8 w 133"/>
              <a:gd name="T65" fmla="*/ 73 h 92"/>
              <a:gd name="T66" fmla="*/ 7 w 133"/>
              <a:gd name="T67" fmla="*/ 68 h 92"/>
              <a:gd name="T68" fmla="*/ 5 w 133"/>
              <a:gd name="T69" fmla="*/ 63 h 92"/>
              <a:gd name="T70" fmla="*/ 3 w 133"/>
              <a:gd name="T71" fmla="*/ 56 h 92"/>
              <a:gd name="T72" fmla="*/ 3 w 133"/>
              <a:gd name="T73" fmla="*/ 51 h 92"/>
              <a:gd name="T74" fmla="*/ 0 w 133"/>
              <a:gd name="T75" fmla="*/ 53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33" h="92">
                <a:moveTo>
                  <a:pt x="133" y="43"/>
                </a:moveTo>
                <a:lnTo>
                  <a:pt x="131" y="36"/>
                </a:lnTo>
                <a:lnTo>
                  <a:pt x="131" y="31"/>
                </a:lnTo>
                <a:lnTo>
                  <a:pt x="129" y="24"/>
                </a:lnTo>
                <a:lnTo>
                  <a:pt x="126" y="20"/>
                </a:lnTo>
                <a:lnTo>
                  <a:pt x="124" y="15"/>
                </a:lnTo>
                <a:lnTo>
                  <a:pt x="121" y="10"/>
                </a:lnTo>
                <a:lnTo>
                  <a:pt x="118" y="5"/>
                </a:lnTo>
                <a:lnTo>
                  <a:pt x="113" y="0"/>
                </a:lnTo>
                <a:lnTo>
                  <a:pt x="111" y="1"/>
                </a:lnTo>
                <a:lnTo>
                  <a:pt x="114" y="6"/>
                </a:lnTo>
                <a:lnTo>
                  <a:pt x="118" y="11"/>
                </a:lnTo>
                <a:lnTo>
                  <a:pt x="121" y="16"/>
                </a:lnTo>
                <a:lnTo>
                  <a:pt x="123" y="21"/>
                </a:lnTo>
                <a:lnTo>
                  <a:pt x="126" y="26"/>
                </a:lnTo>
                <a:lnTo>
                  <a:pt x="128" y="31"/>
                </a:lnTo>
                <a:lnTo>
                  <a:pt x="128" y="38"/>
                </a:lnTo>
                <a:lnTo>
                  <a:pt x="129" y="44"/>
                </a:lnTo>
                <a:lnTo>
                  <a:pt x="133" y="43"/>
                </a:lnTo>
                <a:close/>
                <a:moveTo>
                  <a:pt x="0" y="53"/>
                </a:moveTo>
                <a:lnTo>
                  <a:pt x="0" y="58"/>
                </a:lnTo>
                <a:lnTo>
                  <a:pt x="2" y="64"/>
                </a:lnTo>
                <a:lnTo>
                  <a:pt x="3" y="69"/>
                </a:lnTo>
                <a:lnTo>
                  <a:pt x="7" y="74"/>
                </a:lnTo>
                <a:lnTo>
                  <a:pt x="8" y="79"/>
                </a:lnTo>
                <a:lnTo>
                  <a:pt x="12" y="84"/>
                </a:lnTo>
                <a:lnTo>
                  <a:pt x="15" y="89"/>
                </a:lnTo>
                <a:lnTo>
                  <a:pt x="18" y="92"/>
                </a:lnTo>
                <a:lnTo>
                  <a:pt x="22" y="91"/>
                </a:lnTo>
                <a:lnTo>
                  <a:pt x="18" y="87"/>
                </a:lnTo>
                <a:lnTo>
                  <a:pt x="15" y="82"/>
                </a:lnTo>
                <a:lnTo>
                  <a:pt x="12" y="77"/>
                </a:lnTo>
                <a:lnTo>
                  <a:pt x="8" y="73"/>
                </a:lnTo>
                <a:lnTo>
                  <a:pt x="7" y="68"/>
                </a:lnTo>
                <a:lnTo>
                  <a:pt x="5" y="63"/>
                </a:lnTo>
                <a:lnTo>
                  <a:pt x="3" y="56"/>
                </a:lnTo>
                <a:lnTo>
                  <a:pt x="3" y="51"/>
                </a:lnTo>
                <a:lnTo>
                  <a:pt x="0" y="53"/>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68" name="Freeform 2173">
            <a:extLst>
              <a:ext uri="{FF2B5EF4-FFF2-40B4-BE49-F238E27FC236}">
                <a16:creationId xmlns:a16="http://schemas.microsoft.com/office/drawing/2014/main" id="{2153D484-8CE0-EEDC-94EC-6A3ECC3446FA}"/>
              </a:ext>
            </a:extLst>
          </p:cNvPr>
          <p:cNvSpPr>
            <a:spLocks noEditPoints="1"/>
          </p:cNvSpPr>
          <p:nvPr/>
        </p:nvSpPr>
        <p:spPr bwMode="auto">
          <a:xfrm>
            <a:off x="3417888" y="2528888"/>
            <a:ext cx="204788" cy="144463"/>
          </a:xfrm>
          <a:custGeom>
            <a:avLst/>
            <a:gdLst>
              <a:gd name="T0" fmla="*/ 129 w 129"/>
              <a:gd name="T1" fmla="*/ 42 h 91"/>
              <a:gd name="T2" fmla="*/ 127 w 129"/>
              <a:gd name="T3" fmla="*/ 37 h 91"/>
              <a:gd name="T4" fmla="*/ 127 w 129"/>
              <a:gd name="T5" fmla="*/ 30 h 91"/>
              <a:gd name="T6" fmla="*/ 126 w 129"/>
              <a:gd name="T7" fmla="*/ 25 h 91"/>
              <a:gd name="T8" fmla="*/ 122 w 129"/>
              <a:gd name="T9" fmla="*/ 19 h 91"/>
              <a:gd name="T10" fmla="*/ 121 w 129"/>
              <a:gd name="T11" fmla="*/ 14 h 91"/>
              <a:gd name="T12" fmla="*/ 117 w 129"/>
              <a:gd name="T13" fmla="*/ 9 h 91"/>
              <a:gd name="T14" fmla="*/ 114 w 129"/>
              <a:gd name="T15" fmla="*/ 4 h 91"/>
              <a:gd name="T16" fmla="*/ 111 w 129"/>
              <a:gd name="T17" fmla="*/ 0 h 91"/>
              <a:gd name="T18" fmla="*/ 107 w 129"/>
              <a:gd name="T19" fmla="*/ 2 h 91"/>
              <a:gd name="T20" fmla="*/ 111 w 129"/>
              <a:gd name="T21" fmla="*/ 5 h 91"/>
              <a:gd name="T22" fmla="*/ 114 w 129"/>
              <a:gd name="T23" fmla="*/ 10 h 91"/>
              <a:gd name="T24" fmla="*/ 117 w 129"/>
              <a:gd name="T25" fmla="*/ 15 h 91"/>
              <a:gd name="T26" fmla="*/ 119 w 129"/>
              <a:gd name="T27" fmla="*/ 20 h 91"/>
              <a:gd name="T28" fmla="*/ 122 w 129"/>
              <a:gd name="T29" fmla="*/ 25 h 91"/>
              <a:gd name="T30" fmla="*/ 124 w 129"/>
              <a:gd name="T31" fmla="*/ 32 h 91"/>
              <a:gd name="T32" fmla="*/ 124 w 129"/>
              <a:gd name="T33" fmla="*/ 37 h 91"/>
              <a:gd name="T34" fmla="*/ 126 w 129"/>
              <a:gd name="T35" fmla="*/ 43 h 91"/>
              <a:gd name="T36" fmla="*/ 129 w 129"/>
              <a:gd name="T37" fmla="*/ 42 h 91"/>
              <a:gd name="T38" fmla="*/ 0 w 129"/>
              <a:gd name="T39" fmla="*/ 50 h 91"/>
              <a:gd name="T40" fmla="*/ 0 w 129"/>
              <a:gd name="T41" fmla="*/ 57 h 91"/>
              <a:gd name="T42" fmla="*/ 1 w 129"/>
              <a:gd name="T43" fmla="*/ 62 h 91"/>
              <a:gd name="T44" fmla="*/ 3 w 129"/>
              <a:gd name="T45" fmla="*/ 68 h 91"/>
              <a:gd name="T46" fmla="*/ 5 w 129"/>
              <a:gd name="T47" fmla="*/ 73 h 91"/>
              <a:gd name="T48" fmla="*/ 8 w 129"/>
              <a:gd name="T49" fmla="*/ 78 h 91"/>
              <a:gd name="T50" fmla="*/ 11 w 129"/>
              <a:gd name="T51" fmla="*/ 83 h 91"/>
              <a:gd name="T52" fmla="*/ 15 w 129"/>
              <a:gd name="T53" fmla="*/ 86 h 91"/>
              <a:gd name="T54" fmla="*/ 18 w 129"/>
              <a:gd name="T55" fmla="*/ 91 h 91"/>
              <a:gd name="T56" fmla="*/ 21 w 129"/>
              <a:gd name="T57" fmla="*/ 90 h 91"/>
              <a:gd name="T58" fmla="*/ 18 w 129"/>
              <a:gd name="T59" fmla="*/ 86 h 91"/>
              <a:gd name="T60" fmla="*/ 15 w 129"/>
              <a:gd name="T61" fmla="*/ 81 h 91"/>
              <a:gd name="T62" fmla="*/ 11 w 129"/>
              <a:gd name="T63" fmla="*/ 76 h 91"/>
              <a:gd name="T64" fmla="*/ 8 w 129"/>
              <a:gd name="T65" fmla="*/ 72 h 91"/>
              <a:gd name="T66" fmla="*/ 6 w 129"/>
              <a:gd name="T67" fmla="*/ 67 h 91"/>
              <a:gd name="T68" fmla="*/ 5 w 129"/>
              <a:gd name="T69" fmla="*/ 60 h 91"/>
              <a:gd name="T70" fmla="*/ 3 w 129"/>
              <a:gd name="T71" fmla="*/ 55 h 91"/>
              <a:gd name="T72" fmla="*/ 3 w 129"/>
              <a:gd name="T73" fmla="*/ 48 h 91"/>
              <a:gd name="T74" fmla="*/ 0 w 129"/>
              <a:gd name="T75" fmla="*/ 5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9" h="91">
                <a:moveTo>
                  <a:pt x="129" y="42"/>
                </a:moveTo>
                <a:lnTo>
                  <a:pt x="127" y="37"/>
                </a:lnTo>
                <a:lnTo>
                  <a:pt x="127" y="30"/>
                </a:lnTo>
                <a:lnTo>
                  <a:pt x="126" y="25"/>
                </a:lnTo>
                <a:lnTo>
                  <a:pt x="122" y="19"/>
                </a:lnTo>
                <a:lnTo>
                  <a:pt x="121" y="14"/>
                </a:lnTo>
                <a:lnTo>
                  <a:pt x="117" y="9"/>
                </a:lnTo>
                <a:lnTo>
                  <a:pt x="114" y="4"/>
                </a:lnTo>
                <a:lnTo>
                  <a:pt x="111" y="0"/>
                </a:lnTo>
                <a:lnTo>
                  <a:pt x="107" y="2"/>
                </a:lnTo>
                <a:lnTo>
                  <a:pt x="111" y="5"/>
                </a:lnTo>
                <a:lnTo>
                  <a:pt x="114" y="10"/>
                </a:lnTo>
                <a:lnTo>
                  <a:pt x="117" y="15"/>
                </a:lnTo>
                <a:lnTo>
                  <a:pt x="119" y="20"/>
                </a:lnTo>
                <a:lnTo>
                  <a:pt x="122" y="25"/>
                </a:lnTo>
                <a:lnTo>
                  <a:pt x="124" y="32"/>
                </a:lnTo>
                <a:lnTo>
                  <a:pt x="124" y="37"/>
                </a:lnTo>
                <a:lnTo>
                  <a:pt x="126" y="43"/>
                </a:lnTo>
                <a:lnTo>
                  <a:pt x="129" y="42"/>
                </a:lnTo>
                <a:close/>
                <a:moveTo>
                  <a:pt x="0" y="50"/>
                </a:moveTo>
                <a:lnTo>
                  <a:pt x="0" y="57"/>
                </a:lnTo>
                <a:lnTo>
                  <a:pt x="1" y="62"/>
                </a:lnTo>
                <a:lnTo>
                  <a:pt x="3" y="68"/>
                </a:lnTo>
                <a:lnTo>
                  <a:pt x="5" y="73"/>
                </a:lnTo>
                <a:lnTo>
                  <a:pt x="8" y="78"/>
                </a:lnTo>
                <a:lnTo>
                  <a:pt x="11" y="83"/>
                </a:lnTo>
                <a:lnTo>
                  <a:pt x="15" y="86"/>
                </a:lnTo>
                <a:lnTo>
                  <a:pt x="18" y="91"/>
                </a:lnTo>
                <a:lnTo>
                  <a:pt x="21" y="90"/>
                </a:lnTo>
                <a:lnTo>
                  <a:pt x="18" y="86"/>
                </a:lnTo>
                <a:lnTo>
                  <a:pt x="15" y="81"/>
                </a:lnTo>
                <a:lnTo>
                  <a:pt x="11" y="76"/>
                </a:lnTo>
                <a:lnTo>
                  <a:pt x="8" y="72"/>
                </a:lnTo>
                <a:lnTo>
                  <a:pt x="6" y="67"/>
                </a:lnTo>
                <a:lnTo>
                  <a:pt x="5" y="60"/>
                </a:lnTo>
                <a:lnTo>
                  <a:pt x="3" y="55"/>
                </a:lnTo>
                <a:lnTo>
                  <a:pt x="3" y="48"/>
                </a:lnTo>
                <a:lnTo>
                  <a:pt x="0" y="5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69" name="Freeform 2174">
            <a:extLst>
              <a:ext uri="{FF2B5EF4-FFF2-40B4-BE49-F238E27FC236}">
                <a16:creationId xmlns:a16="http://schemas.microsoft.com/office/drawing/2014/main" id="{50DCCFBB-18CB-A767-1B46-73F17A33B34A}"/>
              </a:ext>
            </a:extLst>
          </p:cNvPr>
          <p:cNvSpPr>
            <a:spLocks noEditPoints="1"/>
          </p:cNvSpPr>
          <p:nvPr/>
        </p:nvSpPr>
        <p:spPr bwMode="auto">
          <a:xfrm>
            <a:off x="3419475" y="2528888"/>
            <a:ext cx="200025" cy="142875"/>
          </a:xfrm>
          <a:custGeom>
            <a:avLst/>
            <a:gdLst>
              <a:gd name="T0" fmla="*/ 126 w 126"/>
              <a:gd name="T1" fmla="*/ 43 h 90"/>
              <a:gd name="T2" fmla="*/ 125 w 126"/>
              <a:gd name="T3" fmla="*/ 37 h 90"/>
              <a:gd name="T4" fmla="*/ 125 w 126"/>
              <a:gd name="T5" fmla="*/ 30 h 90"/>
              <a:gd name="T6" fmla="*/ 123 w 126"/>
              <a:gd name="T7" fmla="*/ 25 h 90"/>
              <a:gd name="T8" fmla="*/ 120 w 126"/>
              <a:gd name="T9" fmla="*/ 20 h 90"/>
              <a:gd name="T10" fmla="*/ 118 w 126"/>
              <a:gd name="T11" fmla="*/ 15 h 90"/>
              <a:gd name="T12" fmla="*/ 115 w 126"/>
              <a:gd name="T13" fmla="*/ 10 h 90"/>
              <a:gd name="T14" fmla="*/ 111 w 126"/>
              <a:gd name="T15" fmla="*/ 5 h 90"/>
              <a:gd name="T16" fmla="*/ 108 w 126"/>
              <a:gd name="T17" fmla="*/ 0 h 90"/>
              <a:gd name="T18" fmla="*/ 105 w 126"/>
              <a:gd name="T19" fmla="*/ 2 h 90"/>
              <a:gd name="T20" fmla="*/ 108 w 126"/>
              <a:gd name="T21" fmla="*/ 7 h 90"/>
              <a:gd name="T22" fmla="*/ 111 w 126"/>
              <a:gd name="T23" fmla="*/ 10 h 90"/>
              <a:gd name="T24" fmla="*/ 115 w 126"/>
              <a:gd name="T25" fmla="*/ 15 h 90"/>
              <a:gd name="T26" fmla="*/ 118 w 126"/>
              <a:gd name="T27" fmla="*/ 22 h 90"/>
              <a:gd name="T28" fmla="*/ 120 w 126"/>
              <a:gd name="T29" fmla="*/ 27 h 90"/>
              <a:gd name="T30" fmla="*/ 121 w 126"/>
              <a:gd name="T31" fmla="*/ 32 h 90"/>
              <a:gd name="T32" fmla="*/ 121 w 126"/>
              <a:gd name="T33" fmla="*/ 38 h 90"/>
              <a:gd name="T34" fmla="*/ 123 w 126"/>
              <a:gd name="T35" fmla="*/ 43 h 90"/>
              <a:gd name="T36" fmla="*/ 126 w 126"/>
              <a:gd name="T37" fmla="*/ 43 h 90"/>
              <a:gd name="T38" fmla="*/ 0 w 126"/>
              <a:gd name="T39" fmla="*/ 50 h 90"/>
              <a:gd name="T40" fmla="*/ 0 w 126"/>
              <a:gd name="T41" fmla="*/ 55 h 90"/>
              <a:gd name="T42" fmla="*/ 2 w 126"/>
              <a:gd name="T43" fmla="*/ 62 h 90"/>
              <a:gd name="T44" fmla="*/ 4 w 126"/>
              <a:gd name="T45" fmla="*/ 67 h 90"/>
              <a:gd name="T46" fmla="*/ 5 w 126"/>
              <a:gd name="T47" fmla="*/ 72 h 90"/>
              <a:gd name="T48" fmla="*/ 9 w 126"/>
              <a:gd name="T49" fmla="*/ 76 h 90"/>
              <a:gd name="T50" fmla="*/ 12 w 126"/>
              <a:gd name="T51" fmla="*/ 81 h 90"/>
              <a:gd name="T52" fmla="*/ 15 w 126"/>
              <a:gd name="T53" fmla="*/ 86 h 90"/>
              <a:gd name="T54" fmla="*/ 19 w 126"/>
              <a:gd name="T55" fmla="*/ 90 h 90"/>
              <a:gd name="T56" fmla="*/ 22 w 126"/>
              <a:gd name="T57" fmla="*/ 90 h 90"/>
              <a:gd name="T58" fmla="*/ 19 w 126"/>
              <a:gd name="T59" fmla="*/ 85 h 90"/>
              <a:gd name="T60" fmla="*/ 15 w 126"/>
              <a:gd name="T61" fmla="*/ 80 h 90"/>
              <a:gd name="T62" fmla="*/ 12 w 126"/>
              <a:gd name="T63" fmla="*/ 76 h 90"/>
              <a:gd name="T64" fmla="*/ 9 w 126"/>
              <a:gd name="T65" fmla="*/ 72 h 90"/>
              <a:gd name="T66" fmla="*/ 7 w 126"/>
              <a:gd name="T67" fmla="*/ 65 h 90"/>
              <a:gd name="T68" fmla="*/ 5 w 126"/>
              <a:gd name="T69" fmla="*/ 60 h 90"/>
              <a:gd name="T70" fmla="*/ 4 w 126"/>
              <a:gd name="T71" fmla="*/ 53 h 90"/>
              <a:gd name="T72" fmla="*/ 4 w 126"/>
              <a:gd name="T73" fmla="*/ 48 h 90"/>
              <a:gd name="T74" fmla="*/ 0 w 126"/>
              <a:gd name="T75" fmla="*/ 5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6" h="90">
                <a:moveTo>
                  <a:pt x="126" y="43"/>
                </a:moveTo>
                <a:lnTo>
                  <a:pt x="125" y="37"/>
                </a:lnTo>
                <a:lnTo>
                  <a:pt x="125" y="30"/>
                </a:lnTo>
                <a:lnTo>
                  <a:pt x="123" y="25"/>
                </a:lnTo>
                <a:lnTo>
                  <a:pt x="120" y="20"/>
                </a:lnTo>
                <a:lnTo>
                  <a:pt x="118" y="15"/>
                </a:lnTo>
                <a:lnTo>
                  <a:pt x="115" y="10"/>
                </a:lnTo>
                <a:lnTo>
                  <a:pt x="111" y="5"/>
                </a:lnTo>
                <a:lnTo>
                  <a:pt x="108" y="0"/>
                </a:lnTo>
                <a:lnTo>
                  <a:pt x="105" y="2"/>
                </a:lnTo>
                <a:lnTo>
                  <a:pt x="108" y="7"/>
                </a:lnTo>
                <a:lnTo>
                  <a:pt x="111" y="10"/>
                </a:lnTo>
                <a:lnTo>
                  <a:pt x="115" y="15"/>
                </a:lnTo>
                <a:lnTo>
                  <a:pt x="118" y="22"/>
                </a:lnTo>
                <a:lnTo>
                  <a:pt x="120" y="27"/>
                </a:lnTo>
                <a:lnTo>
                  <a:pt x="121" y="32"/>
                </a:lnTo>
                <a:lnTo>
                  <a:pt x="121" y="38"/>
                </a:lnTo>
                <a:lnTo>
                  <a:pt x="123" y="43"/>
                </a:lnTo>
                <a:lnTo>
                  <a:pt x="126" y="43"/>
                </a:lnTo>
                <a:close/>
                <a:moveTo>
                  <a:pt x="0" y="50"/>
                </a:moveTo>
                <a:lnTo>
                  <a:pt x="0" y="55"/>
                </a:lnTo>
                <a:lnTo>
                  <a:pt x="2" y="62"/>
                </a:lnTo>
                <a:lnTo>
                  <a:pt x="4" y="67"/>
                </a:lnTo>
                <a:lnTo>
                  <a:pt x="5" y="72"/>
                </a:lnTo>
                <a:lnTo>
                  <a:pt x="9" y="76"/>
                </a:lnTo>
                <a:lnTo>
                  <a:pt x="12" y="81"/>
                </a:lnTo>
                <a:lnTo>
                  <a:pt x="15" y="86"/>
                </a:lnTo>
                <a:lnTo>
                  <a:pt x="19" y="90"/>
                </a:lnTo>
                <a:lnTo>
                  <a:pt x="22" y="90"/>
                </a:lnTo>
                <a:lnTo>
                  <a:pt x="19" y="85"/>
                </a:lnTo>
                <a:lnTo>
                  <a:pt x="15" y="80"/>
                </a:lnTo>
                <a:lnTo>
                  <a:pt x="12" y="76"/>
                </a:lnTo>
                <a:lnTo>
                  <a:pt x="9" y="72"/>
                </a:lnTo>
                <a:lnTo>
                  <a:pt x="7" y="65"/>
                </a:lnTo>
                <a:lnTo>
                  <a:pt x="5" y="60"/>
                </a:lnTo>
                <a:lnTo>
                  <a:pt x="4" y="53"/>
                </a:lnTo>
                <a:lnTo>
                  <a:pt x="4" y="48"/>
                </a:lnTo>
                <a:lnTo>
                  <a:pt x="0" y="5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70" name="Freeform 2175">
            <a:extLst>
              <a:ext uri="{FF2B5EF4-FFF2-40B4-BE49-F238E27FC236}">
                <a16:creationId xmlns:a16="http://schemas.microsoft.com/office/drawing/2014/main" id="{A039F8BD-1271-DD9A-6350-F5C51CC50224}"/>
              </a:ext>
            </a:extLst>
          </p:cNvPr>
          <p:cNvSpPr>
            <a:spLocks noEditPoints="1"/>
          </p:cNvSpPr>
          <p:nvPr/>
        </p:nvSpPr>
        <p:spPr bwMode="auto">
          <a:xfrm>
            <a:off x="3422650" y="2532063"/>
            <a:ext cx="195263" cy="139700"/>
          </a:xfrm>
          <a:custGeom>
            <a:avLst/>
            <a:gdLst>
              <a:gd name="T0" fmla="*/ 123 w 123"/>
              <a:gd name="T1" fmla="*/ 41 h 88"/>
              <a:gd name="T2" fmla="*/ 121 w 123"/>
              <a:gd name="T3" fmla="*/ 35 h 88"/>
              <a:gd name="T4" fmla="*/ 121 w 123"/>
              <a:gd name="T5" fmla="*/ 30 h 88"/>
              <a:gd name="T6" fmla="*/ 119 w 123"/>
              <a:gd name="T7" fmla="*/ 23 h 88"/>
              <a:gd name="T8" fmla="*/ 116 w 123"/>
              <a:gd name="T9" fmla="*/ 18 h 88"/>
              <a:gd name="T10" fmla="*/ 114 w 123"/>
              <a:gd name="T11" fmla="*/ 13 h 88"/>
              <a:gd name="T12" fmla="*/ 111 w 123"/>
              <a:gd name="T13" fmla="*/ 8 h 88"/>
              <a:gd name="T14" fmla="*/ 108 w 123"/>
              <a:gd name="T15" fmla="*/ 3 h 88"/>
              <a:gd name="T16" fmla="*/ 104 w 123"/>
              <a:gd name="T17" fmla="*/ 0 h 88"/>
              <a:gd name="T18" fmla="*/ 101 w 123"/>
              <a:gd name="T19" fmla="*/ 2 h 88"/>
              <a:gd name="T20" fmla="*/ 104 w 123"/>
              <a:gd name="T21" fmla="*/ 5 h 88"/>
              <a:gd name="T22" fmla="*/ 108 w 123"/>
              <a:gd name="T23" fmla="*/ 10 h 88"/>
              <a:gd name="T24" fmla="*/ 111 w 123"/>
              <a:gd name="T25" fmla="*/ 15 h 88"/>
              <a:gd name="T26" fmla="*/ 114 w 123"/>
              <a:gd name="T27" fmla="*/ 20 h 88"/>
              <a:gd name="T28" fmla="*/ 116 w 123"/>
              <a:gd name="T29" fmla="*/ 25 h 88"/>
              <a:gd name="T30" fmla="*/ 118 w 123"/>
              <a:gd name="T31" fmla="*/ 31 h 88"/>
              <a:gd name="T32" fmla="*/ 118 w 123"/>
              <a:gd name="T33" fmla="*/ 36 h 88"/>
              <a:gd name="T34" fmla="*/ 119 w 123"/>
              <a:gd name="T35" fmla="*/ 43 h 88"/>
              <a:gd name="T36" fmla="*/ 123 w 123"/>
              <a:gd name="T37" fmla="*/ 41 h 88"/>
              <a:gd name="T38" fmla="*/ 0 w 123"/>
              <a:gd name="T39" fmla="*/ 46 h 88"/>
              <a:gd name="T40" fmla="*/ 0 w 123"/>
              <a:gd name="T41" fmla="*/ 53 h 88"/>
              <a:gd name="T42" fmla="*/ 2 w 123"/>
              <a:gd name="T43" fmla="*/ 58 h 88"/>
              <a:gd name="T44" fmla="*/ 3 w 123"/>
              <a:gd name="T45" fmla="*/ 65 h 88"/>
              <a:gd name="T46" fmla="*/ 5 w 123"/>
              <a:gd name="T47" fmla="*/ 70 h 88"/>
              <a:gd name="T48" fmla="*/ 8 w 123"/>
              <a:gd name="T49" fmla="*/ 74 h 88"/>
              <a:gd name="T50" fmla="*/ 12 w 123"/>
              <a:gd name="T51" fmla="*/ 79 h 88"/>
              <a:gd name="T52" fmla="*/ 15 w 123"/>
              <a:gd name="T53" fmla="*/ 84 h 88"/>
              <a:gd name="T54" fmla="*/ 18 w 123"/>
              <a:gd name="T55" fmla="*/ 88 h 88"/>
              <a:gd name="T56" fmla="*/ 22 w 123"/>
              <a:gd name="T57" fmla="*/ 86 h 88"/>
              <a:gd name="T58" fmla="*/ 18 w 123"/>
              <a:gd name="T59" fmla="*/ 83 h 88"/>
              <a:gd name="T60" fmla="*/ 15 w 123"/>
              <a:gd name="T61" fmla="*/ 78 h 88"/>
              <a:gd name="T62" fmla="*/ 12 w 123"/>
              <a:gd name="T63" fmla="*/ 73 h 88"/>
              <a:gd name="T64" fmla="*/ 8 w 123"/>
              <a:gd name="T65" fmla="*/ 68 h 88"/>
              <a:gd name="T66" fmla="*/ 7 w 123"/>
              <a:gd name="T67" fmla="*/ 63 h 88"/>
              <a:gd name="T68" fmla="*/ 5 w 123"/>
              <a:gd name="T69" fmla="*/ 58 h 88"/>
              <a:gd name="T70" fmla="*/ 3 w 123"/>
              <a:gd name="T71" fmla="*/ 51 h 88"/>
              <a:gd name="T72" fmla="*/ 3 w 123"/>
              <a:gd name="T73" fmla="*/ 45 h 88"/>
              <a:gd name="T74" fmla="*/ 0 w 123"/>
              <a:gd name="T75" fmla="*/ 4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88">
                <a:moveTo>
                  <a:pt x="123" y="41"/>
                </a:moveTo>
                <a:lnTo>
                  <a:pt x="121" y="35"/>
                </a:lnTo>
                <a:lnTo>
                  <a:pt x="121" y="30"/>
                </a:lnTo>
                <a:lnTo>
                  <a:pt x="119" y="23"/>
                </a:lnTo>
                <a:lnTo>
                  <a:pt x="116" y="18"/>
                </a:lnTo>
                <a:lnTo>
                  <a:pt x="114" y="13"/>
                </a:lnTo>
                <a:lnTo>
                  <a:pt x="111" y="8"/>
                </a:lnTo>
                <a:lnTo>
                  <a:pt x="108" y="3"/>
                </a:lnTo>
                <a:lnTo>
                  <a:pt x="104" y="0"/>
                </a:lnTo>
                <a:lnTo>
                  <a:pt x="101" y="2"/>
                </a:lnTo>
                <a:lnTo>
                  <a:pt x="104" y="5"/>
                </a:lnTo>
                <a:lnTo>
                  <a:pt x="108" y="10"/>
                </a:lnTo>
                <a:lnTo>
                  <a:pt x="111" y="15"/>
                </a:lnTo>
                <a:lnTo>
                  <a:pt x="114" y="20"/>
                </a:lnTo>
                <a:lnTo>
                  <a:pt x="116" y="25"/>
                </a:lnTo>
                <a:lnTo>
                  <a:pt x="118" y="31"/>
                </a:lnTo>
                <a:lnTo>
                  <a:pt x="118" y="36"/>
                </a:lnTo>
                <a:lnTo>
                  <a:pt x="119" y="43"/>
                </a:lnTo>
                <a:lnTo>
                  <a:pt x="123" y="41"/>
                </a:lnTo>
                <a:close/>
                <a:moveTo>
                  <a:pt x="0" y="46"/>
                </a:moveTo>
                <a:lnTo>
                  <a:pt x="0" y="53"/>
                </a:lnTo>
                <a:lnTo>
                  <a:pt x="2" y="58"/>
                </a:lnTo>
                <a:lnTo>
                  <a:pt x="3" y="65"/>
                </a:lnTo>
                <a:lnTo>
                  <a:pt x="5" y="70"/>
                </a:lnTo>
                <a:lnTo>
                  <a:pt x="8" y="74"/>
                </a:lnTo>
                <a:lnTo>
                  <a:pt x="12" y="79"/>
                </a:lnTo>
                <a:lnTo>
                  <a:pt x="15" y="84"/>
                </a:lnTo>
                <a:lnTo>
                  <a:pt x="18" y="88"/>
                </a:lnTo>
                <a:lnTo>
                  <a:pt x="22" y="86"/>
                </a:lnTo>
                <a:lnTo>
                  <a:pt x="18" y="83"/>
                </a:lnTo>
                <a:lnTo>
                  <a:pt x="15" y="78"/>
                </a:lnTo>
                <a:lnTo>
                  <a:pt x="12" y="73"/>
                </a:lnTo>
                <a:lnTo>
                  <a:pt x="8" y="68"/>
                </a:lnTo>
                <a:lnTo>
                  <a:pt x="7" y="63"/>
                </a:lnTo>
                <a:lnTo>
                  <a:pt x="5" y="58"/>
                </a:lnTo>
                <a:lnTo>
                  <a:pt x="3" y="51"/>
                </a:lnTo>
                <a:lnTo>
                  <a:pt x="3" y="45"/>
                </a:lnTo>
                <a:lnTo>
                  <a:pt x="0" y="46"/>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71" name="Freeform 2176">
            <a:extLst>
              <a:ext uri="{FF2B5EF4-FFF2-40B4-BE49-F238E27FC236}">
                <a16:creationId xmlns:a16="http://schemas.microsoft.com/office/drawing/2014/main" id="{C7811003-5F62-155E-3912-BBE6DF91E6E7}"/>
              </a:ext>
            </a:extLst>
          </p:cNvPr>
          <p:cNvSpPr>
            <a:spLocks noEditPoints="1"/>
          </p:cNvSpPr>
          <p:nvPr/>
        </p:nvSpPr>
        <p:spPr bwMode="auto">
          <a:xfrm>
            <a:off x="3425825" y="2532063"/>
            <a:ext cx="188913" cy="139700"/>
          </a:xfrm>
          <a:custGeom>
            <a:avLst/>
            <a:gdLst>
              <a:gd name="T0" fmla="*/ 119 w 119"/>
              <a:gd name="T1" fmla="*/ 41 h 88"/>
              <a:gd name="T2" fmla="*/ 117 w 119"/>
              <a:gd name="T3" fmla="*/ 36 h 88"/>
              <a:gd name="T4" fmla="*/ 117 w 119"/>
              <a:gd name="T5" fmla="*/ 30 h 88"/>
              <a:gd name="T6" fmla="*/ 116 w 119"/>
              <a:gd name="T7" fmla="*/ 25 h 88"/>
              <a:gd name="T8" fmla="*/ 114 w 119"/>
              <a:gd name="T9" fmla="*/ 20 h 88"/>
              <a:gd name="T10" fmla="*/ 111 w 119"/>
              <a:gd name="T11" fmla="*/ 13 h 88"/>
              <a:gd name="T12" fmla="*/ 107 w 119"/>
              <a:gd name="T13" fmla="*/ 8 h 88"/>
              <a:gd name="T14" fmla="*/ 104 w 119"/>
              <a:gd name="T15" fmla="*/ 5 h 88"/>
              <a:gd name="T16" fmla="*/ 101 w 119"/>
              <a:gd name="T17" fmla="*/ 0 h 88"/>
              <a:gd name="T18" fmla="*/ 97 w 119"/>
              <a:gd name="T19" fmla="*/ 2 h 88"/>
              <a:gd name="T20" fmla="*/ 101 w 119"/>
              <a:gd name="T21" fmla="*/ 7 h 88"/>
              <a:gd name="T22" fmla="*/ 104 w 119"/>
              <a:gd name="T23" fmla="*/ 10 h 88"/>
              <a:gd name="T24" fmla="*/ 107 w 119"/>
              <a:gd name="T25" fmla="*/ 15 h 88"/>
              <a:gd name="T26" fmla="*/ 111 w 119"/>
              <a:gd name="T27" fmla="*/ 20 h 88"/>
              <a:gd name="T28" fmla="*/ 112 w 119"/>
              <a:gd name="T29" fmla="*/ 25 h 88"/>
              <a:gd name="T30" fmla="*/ 114 w 119"/>
              <a:gd name="T31" fmla="*/ 31 h 88"/>
              <a:gd name="T32" fmla="*/ 114 w 119"/>
              <a:gd name="T33" fmla="*/ 36 h 88"/>
              <a:gd name="T34" fmla="*/ 116 w 119"/>
              <a:gd name="T35" fmla="*/ 43 h 88"/>
              <a:gd name="T36" fmla="*/ 119 w 119"/>
              <a:gd name="T37" fmla="*/ 41 h 88"/>
              <a:gd name="T38" fmla="*/ 0 w 119"/>
              <a:gd name="T39" fmla="*/ 46 h 88"/>
              <a:gd name="T40" fmla="*/ 0 w 119"/>
              <a:gd name="T41" fmla="*/ 51 h 88"/>
              <a:gd name="T42" fmla="*/ 1 w 119"/>
              <a:gd name="T43" fmla="*/ 58 h 88"/>
              <a:gd name="T44" fmla="*/ 3 w 119"/>
              <a:gd name="T45" fmla="*/ 63 h 88"/>
              <a:gd name="T46" fmla="*/ 5 w 119"/>
              <a:gd name="T47" fmla="*/ 70 h 88"/>
              <a:gd name="T48" fmla="*/ 8 w 119"/>
              <a:gd name="T49" fmla="*/ 74 h 88"/>
              <a:gd name="T50" fmla="*/ 11 w 119"/>
              <a:gd name="T51" fmla="*/ 78 h 88"/>
              <a:gd name="T52" fmla="*/ 15 w 119"/>
              <a:gd name="T53" fmla="*/ 83 h 88"/>
              <a:gd name="T54" fmla="*/ 18 w 119"/>
              <a:gd name="T55" fmla="*/ 88 h 88"/>
              <a:gd name="T56" fmla="*/ 21 w 119"/>
              <a:gd name="T57" fmla="*/ 86 h 88"/>
              <a:gd name="T58" fmla="*/ 18 w 119"/>
              <a:gd name="T59" fmla="*/ 81 h 88"/>
              <a:gd name="T60" fmla="*/ 15 w 119"/>
              <a:gd name="T61" fmla="*/ 78 h 88"/>
              <a:gd name="T62" fmla="*/ 11 w 119"/>
              <a:gd name="T63" fmla="*/ 73 h 88"/>
              <a:gd name="T64" fmla="*/ 8 w 119"/>
              <a:gd name="T65" fmla="*/ 68 h 88"/>
              <a:gd name="T66" fmla="*/ 6 w 119"/>
              <a:gd name="T67" fmla="*/ 61 h 88"/>
              <a:gd name="T68" fmla="*/ 5 w 119"/>
              <a:gd name="T69" fmla="*/ 56 h 88"/>
              <a:gd name="T70" fmla="*/ 3 w 119"/>
              <a:gd name="T71" fmla="*/ 51 h 88"/>
              <a:gd name="T72" fmla="*/ 3 w 119"/>
              <a:gd name="T73" fmla="*/ 45 h 88"/>
              <a:gd name="T74" fmla="*/ 0 w 119"/>
              <a:gd name="T75" fmla="*/ 4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9" h="88">
                <a:moveTo>
                  <a:pt x="119" y="41"/>
                </a:moveTo>
                <a:lnTo>
                  <a:pt x="117" y="36"/>
                </a:lnTo>
                <a:lnTo>
                  <a:pt x="117" y="30"/>
                </a:lnTo>
                <a:lnTo>
                  <a:pt x="116" y="25"/>
                </a:lnTo>
                <a:lnTo>
                  <a:pt x="114" y="20"/>
                </a:lnTo>
                <a:lnTo>
                  <a:pt x="111" y="13"/>
                </a:lnTo>
                <a:lnTo>
                  <a:pt x="107" y="8"/>
                </a:lnTo>
                <a:lnTo>
                  <a:pt x="104" y="5"/>
                </a:lnTo>
                <a:lnTo>
                  <a:pt x="101" y="0"/>
                </a:lnTo>
                <a:lnTo>
                  <a:pt x="97" y="2"/>
                </a:lnTo>
                <a:lnTo>
                  <a:pt x="101" y="7"/>
                </a:lnTo>
                <a:lnTo>
                  <a:pt x="104" y="10"/>
                </a:lnTo>
                <a:lnTo>
                  <a:pt x="107" y="15"/>
                </a:lnTo>
                <a:lnTo>
                  <a:pt x="111" y="20"/>
                </a:lnTo>
                <a:lnTo>
                  <a:pt x="112" y="25"/>
                </a:lnTo>
                <a:lnTo>
                  <a:pt x="114" y="31"/>
                </a:lnTo>
                <a:lnTo>
                  <a:pt x="114" y="36"/>
                </a:lnTo>
                <a:lnTo>
                  <a:pt x="116" y="43"/>
                </a:lnTo>
                <a:lnTo>
                  <a:pt x="119" y="41"/>
                </a:lnTo>
                <a:close/>
                <a:moveTo>
                  <a:pt x="0" y="46"/>
                </a:moveTo>
                <a:lnTo>
                  <a:pt x="0" y="51"/>
                </a:lnTo>
                <a:lnTo>
                  <a:pt x="1" y="58"/>
                </a:lnTo>
                <a:lnTo>
                  <a:pt x="3" y="63"/>
                </a:lnTo>
                <a:lnTo>
                  <a:pt x="5" y="70"/>
                </a:lnTo>
                <a:lnTo>
                  <a:pt x="8" y="74"/>
                </a:lnTo>
                <a:lnTo>
                  <a:pt x="11" y="78"/>
                </a:lnTo>
                <a:lnTo>
                  <a:pt x="15" y="83"/>
                </a:lnTo>
                <a:lnTo>
                  <a:pt x="18" y="88"/>
                </a:lnTo>
                <a:lnTo>
                  <a:pt x="21" y="86"/>
                </a:lnTo>
                <a:lnTo>
                  <a:pt x="18" y="81"/>
                </a:lnTo>
                <a:lnTo>
                  <a:pt x="15" y="78"/>
                </a:lnTo>
                <a:lnTo>
                  <a:pt x="11" y="73"/>
                </a:lnTo>
                <a:lnTo>
                  <a:pt x="8" y="68"/>
                </a:lnTo>
                <a:lnTo>
                  <a:pt x="6" y="61"/>
                </a:lnTo>
                <a:lnTo>
                  <a:pt x="5" y="56"/>
                </a:lnTo>
                <a:lnTo>
                  <a:pt x="3" y="51"/>
                </a:lnTo>
                <a:lnTo>
                  <a:pt x="3" y="45"/>
                </a:lnTo>
                <a:lnTo>
                  <a:pt x="0" y="46"/>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72" name="Freeform 2177">
            <a:extLst>
              <a:ext uri="{FF2B5EF4-FFF2-40B4-BE49-F238E27FC236}">
                <a16:creationId xmlns:a16="http://schemas.microsoft.com/office/drawing/2014/main" id="{FEF10370-C582-43A3-831D-0E66538C442C}"/>
              </a:ext>
            </a:extLst>
          </p:cNvPr>
          <p:cNvSpPr>
            <a:spLocks noEditPoints="1"/>
          </p:cNvSpPr>
          <p:nvPr/>
        </p:nvSpPr>
        <p:spPr bwMode="auto">
          <a:xfrm>
            <a:off x="3427413" y="2535238"/>
            <a:ext cx="184150" cy="133350"/>
          </a:xfrm>
          <a:custGeom>
            <a:avLst/>
            <a:gdLst>
              <a:gd name="T0" fmla="*/ 116 w 116"/>
              <a:gd name="T1" fmla="*/ 41 h 84"/>
              <a:gd name="T2" fmla="*/ 115 w 116"/>
              <a:gd name="T3" fmla="*/ 34 h 84"/>
              <a:gd name="T4" fmla="*/ 115 w 116"/>
              <a:gd name="T5" fmla="*/ 29 h 84"/>
              <a:gd name="T6" fmla="*/ 113 w 116"/>
              <a:gd name="T7" fmla="*/ 23 h 84"/>
              <a:gd name="T8" fmla="*/ 111 w 116"/>
              <a:gd name="T9" fmla="*/ 18 h 84"/>
              <a:gd name="T10" fmla="*/ 108 w 116"/>
              <a:gd name="T11" fmla="*/ 13 h 84"/>
              <a:gd name="T12" fmla="*/ 105 w 116"/>
              <a:gd name="T13" fmla="*/ 8 h 84"/>
              <a:gd name="T14" fmla="*/ 101 w 116"/>
              <a:gd name="T15" fmla="*/ 3 h 84"/>
              <a:gd name="T16" fmla="*/ 98 w 116"/>
              <a:gd name="T17" fmla="*/ 0 h 84"/>
              <a:gd name="T18" fmla="*/ 95 w 116"/>
              <a:gd name="T19" fmla="*/ 1 h 84"/>
              <a:gd name="T20" fmla="*/ 98 w 116"/>
              <a:gd name="T21" fmla="*/ 5 h 84"/>
              <a:gd name="T22" fmla="*/ 101 w 116"/>
              <a:gd name="T23" fmla="*/ 10 h 84"/>
              <a:gd name="T24" fmla="*/ 105 w 116"/>
              <a:gd name="T25" fmla="*/ 13 h 84"/>
              <a:gd name="T26" fmla="*/ 108 w 116"/>
              <a:gd name="T27" fmla="*/ 18 h 84"/>
              <a:gd name="T28" fmla="*/ 110 w 116"/>
              <a:gd name="T29" fmla="*/ 24 h 84"/>
              <a:gd name="T30" fmla="*/ 111 w 116"/>
              <a:gd name="T31" fmla="*/ 29 h 84"/>
              <a:gd name="T32" fmla="*/ 111 w 116"/>
              <a:gd name="T33" fmla="*/ 36 h 84"/>
              <a:gd name="T34" fmla="*/ 113 w 116"/>
              <a:gd name="T35" fmla="*/ 41 h 84"/>
              <a:gd name="T36" fmla="*/ 113 w 116"/>
              <a:gd name="T37" fmla="*/ 43 h 84"/>
              <a:gd name="T38" fmla="*/ 116 w 116"/>
              <a:gd name="T39" fmla="*/ 41 h 84"/>
              <a:gd name="T40" fmla="*/ 0 w 116"/>
              <a:gd name="T41" fmla="*/ 43 h 84"/>
              <a:gd name="T42" fmla="*/ 0 w 116"/>
              <a:gd name="T43" fmla="*/ 49 h 84"/>
              <a:gd name="T44" fmla="*/ 2 w 116"/>
              <a:gd name="T45" fmla="*/ 56 h 84"/>
              <a:gd name="T46" fmla="*/ 4 w 116"/>
              <a:gd name="T47" fmla="*/ 61 h 84"/>
              <a:gd name="T48" fmla="*/ 5 w 116"/>
              <a:gd name="T49" fmla="*/ 66 h 84"/>
              <a:gd name="T50" fmla="*/ 9 w 116"/>
              <a:gd name="T51" fmla="*/ 71 h 84"/>
              <a:gd name="T52" fmla="*/ 12 w 116"/>
              <a:gd name="T53" fmla="*/ 76 h 84"/>
              <a:gd name="T54" fmla="*/ 15 w 116"/>
              <a:gd name="T55" fmla="*/ 81 h 84"/>
              <a:gd name="T56" fmla="*/ 19 w 116"/>
              <a:gd name="T57" fmla="*/ 84 h 84"/>
              <a:gd name="T58" fmla="*/ 22 w 116"/>
              <a:gd name="T59" fmla="*/ 82 h 84"/>
              <a:gd name="T60" fmla="*/ 19 w 116"/>
              <a:gd name="T61" fmla="*/ 79 h 84"/>
              <a:gd name="T62" fmla="*/ 15 w 116"/>
              <a:gd name="T63" fmla="*/ 74 h 84"/>
              <a:gd name="T64" fmla="*/ 12 w 116"/>
              <a:gd name="T65" fmla="*/ 69 h 84"/>
              <a:gd name="T66" fmla="*/ 9 w 116"/>
              <a:gd name="T67" fmla="*/ 64 h 84"/>
              <a:gd name="T68" fmla="*/ 7 w 116"/>
              <a:gd name="T69" fmla="*/ 59 h 84"/>
              <a:gd name="T70" fmla="*/ 5 w 116"/>
              <a:gd name="T71" fmla="*/ 54 h 84"/>
              <a:gd name="T72" fmla="*/ 4 w 116"/>
              <a:gd name="T73" fmla="*/ 48 h 84"/>
              <a:gd name="T74" fmla="*/ 4 w 116"/>
              <a:gd name="T75" fmla="*/ 41 h 84"/>
              <a:gd name="T76" fmla="*/ 0 w 116"/>
              <a:gd name="T77" fmla="*/ 43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16" h="84">
                <a:moveTo>
                  <a:pt x="116" y="41"/>
                </a:moveTo>
                <a:lnTo>
                  <a:pt x="115" y="34"/>
                </a:lnTo>
                <a:lnTo>
                  <a:pt x="115" y="29"/>
                </a:lnTo>
                <a:lnTo>
                  <a:pt x="113" y="23"/>
                </a:lnTo>
                <a:lnTo>
                  <a:pt x="111" y="18"/>
                </a:lnTo>
                <a:lnTo>
                  <a:pt x="108" y="13"/>
                </a:lnTo>
                <a:lnTo>
                  <a:pt x="105" y="8"/>
                </a:lnTo>
                <a:lnTo>
                  <a:pt x="101" y="3"/>
                </a:lnTo>
                <a:lnTo>
                  <a:pt x="98" y="0"/>
                </a:lnTo>
                <a:lnTo>
                  <a:pt x="95" y="1"/>
                </a:lnTo>
                <a:lnTo>
                  <a:pt x="98" y="5"/>
                </a:lnTo>
                <a:lnTo>
                  <a:pt x="101" y="10"/>
                </a:lnTo>
                <a:lnTo>
                  <a:pt x="105" y="13"/>
                </a:lnTo>
                <a:lnTo>
                  <a:pt x="108" y="18"/>
                </a:lnTo>
                <a:lnTo>
                  <a:pt x="110" y="24"/>
                </a:lnTo>
                <a:lnTo>
                  <a:pt x="111" y="29"/>
                </a:lnTo>
                <a:lnTo>
                  <a:pt x="111" y="36"/>
                </a:lnTo>
                <a:lnTo>
                  <a:pt x="113" y="41"/>
                </a:lnTo>
                <a:lnTo>
                  <a:pt x="113" y="43"/>
                </a:lnTo>
                <a:lnTo>
                  <a:pt x="116" y="41"/>
                </a:lnTo>
                <a:close/>
                <a:moveTo>
                  <a:pt x="0" y="43"/>
                </a:moveTo>
                <a:lnTo>
                  <a:pt x="0" y="49"/>
                </a:lnTo>
                <a:lnTo>
                  <a:pt x="2" y="56"/>
                </a:lnTo>
                <a:lnTo>
                  <a:pt x="4" y="61"/>
                </a:lnTo>
                <a:lnTo>
                  <a:pt x="5" y="66"/>
                </a:lnTo>
                <a:lnTo>
                  <a:pt x="9" y="71"/>
                </a:lnTo>
                <a:lnTo>
                  <a:pt x="12" y="76"/>
                </a:lnTo>
                <a:lnTo>
                  <a:pt x="15" y="81"/>
                </a:lnTo>
                <a:lnTo>
                  <a:pt x="19" y="84"/>
                </a:lnTo>
                <a:lnTo>
                  <a:pt x="22" y="82"/>
                </a:lnTo>
                <a:lnTo>
                  <a:pt x="19" y="79"/>
                </a:lnTo>
                <a:lnTo>
                  <a:pt x="15" y="74"/>
                </a:lnTo>
                <a:lnTo>
                  <a:pt x="12" y="69"/>
                </a:lnTo>
                <a:lnTo>
                  <a:pt x="9" y="64"/>
                </a:lnTo>
                <a:lnTo>
                  <a:pt x="7" y="59"/>
                </a:lnTo>
                <a:lnTo>
                  <a:pt x="5" y="54"/>
                </a:lnTo>
                <a:lnTo>
                  <a:pt x="4" y="48"/>
                </a:lnTo>
                <a:lnTo>
                  <a:pt x="4" y="41"/>
                </a:lnTo>
                <a:lnTo>
                  <a:pt x="0" y="43"/>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73" name="Freeform 2178">
            <a:extLst>
              <a:ext uri="{FF2B5EF4-FFF2-40B4-BE49-F238E27FC236}">
                <a16:creationId xmlns:a16="http://schemas.microsoft.com/office/drawing/2014/main" id="{B008576A-FC5A-988C-4F65-7612A64F38C2}"/>
              </a:ext>
            </a:extLst>
          </p:cNvPr>
          <p:cNvSpPr>
            <a:spLocks noEditPoints="1"/>
          </p:cNvSpPr>
          <p:nvPr/>
        </p:nvSpPr>
        <p:spPr bwMode="auto">
          <a:xfrm>
            <a:off x="3430588" y="2535238"/>
            <a:ext cx="179388" cy="133350"/>
          </a:xfrm>
          <a:custGeom>
            <a:avLst/>
            <a:gdLst>
              <a:gd name="T0" fmla="*/ 113 w 113"/>
              <a:gd name="T1" fmla="*/ 41 h 84"/>
              <a:gd name="T2" fmla="*/ 111 w 113"/>
              <a:gd name="T3" fmla="*/ 34 h 84"/>
              <a:gd name="T4" fmla="*/ 111 w 113"/>
              <a:gd name="T5" fmla="*/ 29 h 84"/>
              <a:gd name="T6" fmla="*/ 109 w 113"/>
              <a:gd name="T7" fmla="*/ 23 h 84"/>
              <a:gd name="T8" fmla="*/ 108 w 113"/>
              <a:gd name="T9" fmla="*/ 18 h 84"/>
              <a:gd name="T10" fmla="*/ 104 w 113"/>
              <a:gd name="T11" fmla="*/ 13 h 84"/>
              <a:gd name="T12" fmla="*/ 101 w 113"/>
              <a:gd name="T13" fmla="*/ 8 h 84"/>
              <a:gd name="T14" fmla="*/ 98 w 113"/>
              <a:gd name="T15" fmla="*/ 5 h 84"/>
              <a:gd name="T16" fmla="*/ 94 w 113"/>
              <a:gd name="T17" fmla="*/ 0 h 84"/>
              <a:gd name="T18" fmla="*/ 91 w 113"/>
              <a:gd name="T19" fmla="*/ 1 h 84"/>
              <a:gd name="T20" fmla="*/ 94 w 113"/>
              <a:gd name="T21" fmla="*/ 5 h 84"/>
              <a:gd name="T22" fmla="*/ 98 w 113"/>
              <a:gd name="T23" fmla="*/ 10 h 84"/>
              <a:gd name="T24" fmla="*/ 101 w 113"/>
              <a:gd name="T25" fmla="*/ 15 h 84"/>
              <a:gd name="T26" fmla="*/ 104 w 113"/>
              <a:gd name="T27" fmla="*/ 19 h 84"/>
              <a:gd name="T28" fmla="*/ 106 w 113"/>
              <a:gd name="T29" fmla="*/ 24 h 84"/>
              <a:gd name="T30" fmla="*/ 108 w 113"/>
              <a:gd name="T31" fmla="*/ 29 h 84"/>
              <a:gd name="T32" fmla="*/ 108 w 113"/>
              <a:gd name="T33" fmla="*/ 36 h 84"/>
              <a:gd name="T34" fmla="*/ 109 w 113"/>
              <a:gd name="T35" fmla="*/ 41 h 84"/>
              <a:gd name="T36" fmla="*/ 109 w 113"/>
              <a:gd name="T37" fmla="*/ 43 h 84"/>
              <a:gd name="T38" fmla="*/ 113 w 113"/>
              <a:gd name="T39" fmla="*/ 41 h 84"/>
              <a:gd name="T40" fmla="*/ 0 w 113"/>
              <a:gd name="T41" fmla="*/ 43 h 84"/>
              <a:gd name="T42" fmla="*/ 0 w 113"/>
              <a:gd name="T43" fmla="*/ 49 h 84"/>
              <a:gd name="T44" fmla="*/ 2 w 113"/>
              <a:gd name="T45" fmla="*/ 54 h 84"/>
              <a:gd name="T46" fmla="*/ 3 w 113"/>
              <a:gd name="T47" fmla="*/ 59 h 84"/>
              <a:gd name="T48" fmla="*/ 5 w 113"/>
              <a:gd name="T49" fmla="*/ 66 h 84"/>
              <a:gd name="T50" fmla="*/ 8 w 113"/>
              <a:gd name="T51" fmla="*/ 71 h 84"/>
              <a:gd name="T52" fmla="*/ 12 w 113"/>
              <a:gd name="T53" fmla="*/ 76 h 84"/>
              <a:gd name="T54" fmla="*/ 15 w 113"/>
              <a:gd name="T55" fmla="*/ 79 h 84"/>
              <a:gd name="T56" fmla="*/ 18 w 113"/>
              <a:gd name="T57" fmla="*/ 84 h 84"/>
              <a:gd name="T58" fmla="*/ 22 w 113"/>
              <a:gd name="T59" fmla="*/ 82 h 84"/>
              <a:gd name="T60" fmla="*/ 18 w 113"/>
              <a:gd name="T61" fmla="*/ 77 h 84"/>
              <a:gd name="T62" fmla="*/ 15 w 113"/>
              <a:gd name="T63" fmla="*/ 74 h 84"/>
              <a:gd name="T64" fmla="*/ 12 w 113"/>
              <a:gd name="T65" fmla="*/ 69 h 84"/>
              <a:gd name="T66" fmla="*/ 8 w 113"/>
              <a:gd name="T67" fmla="*/ 64 h 84"/>
              <a:gd name="T68" fmla="*/ 7 w 113"/>
              <a:gd name="T69" fmla="*/ 59 h 84"/>
              <a:gd name="T70" fmla="*/ 5 w 113"/>
              <a:gd name="T71" fmla="*/ 53 h 84"/>
              <a:gd name="T72" fmla="*/ 3 w 113"/>
              <a:gd name="T73" fmla="*/ 48 h 84"/>
              <a:gd name="T74" fmla="*/ 3 w 113"/>
              <a:gd name="T75" fmla="*/ 41 h 84"/>
              <a:gd name="T76" fmla="*/ 0 w 113"/>
              <a:gd name="T77" fmla="*/ 43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13" h="84">
                <a:moveTo>
                  <a:pt x="113" y="41"/>
                </a:moveTo>
                <a:lnTo>
                  <a:pt x="111" y="34"/>
                </a:lnTo>
                <a:lnTo>
                  <a:pt x="111" y="29"/>
                </a:lnTo>
                <a:lnTo>
                  <a:pt x="109" y="23"/>
                </a:lnTo>
                <a:lnTo>
                  <a:pt x="108" y="18"/>
                </a:lnTo>
                <a:lnTo>
                  <a:pt x="104" y="13"/>
                </a:lnTo>
                <a:lnTo>
                  <a:pt x="101" y="8"/>
                </a:lnTo>
                <a:lnTo>
                  <a:pt x="98" y="5"/>
                </a:lnTo>
                <a:lnTo>
                  <a:pt x="94" y="0"/>
                </a:lnTo>
                <a:lnTo>
                  <a:pt x="91" y="1"/>
                </a:lnTo>
                <a:lnTo>
                  <a:pt x="94" y="5"/>
                </a:lnTo>
                <a:lnTo>
                  <a:pt x="98" y="10"/>
                </a:lnTo>
                <a:lnTo>
                  <a:pt x="101" y="15"/>
                </a:lnTo>
                <a:lnTo>
                  <a:pt x="104" y="19"/>
                </a:lnTo>
                <a:lnTo>
                  <a:pt x="106" y="24"/>
                </a:lnTo>
                <a:lnTo>
                  <a:pt x="108" y="29"/>
                </a:lnTo>
                <a:lnTo>
                  <a:pt x="108" y="36"/>
                </a:lnTo>
                <a:lnTo>
                  <a:pt x="109" y="41"/>
                </a:lnTo>
                <a:lnTo>
                  <a:pt x="109" y="43"/>
                </a:lnTo>
                <a:lnTo>
                  <a:pt x="113" y="41"/>
                </a:lnTo>
                <a:close/>
                <a:moveTo>
                  <a:pt x="0" y="43"/>
                </a:moveTo>
                <a:lnTo>
                  <a:pt x="0" y="49"/>
                </a:lnTo>
                <a:lnTo>
                  <a:pt x="2" y="54"/>
                </a:lnTo>
                <a:lnTo>
                  <a:pt x="3" y="59"/>
                </a:lnTo>
                <a:lnTo>
                  <a:pt x="5" y="66"/>
                </a:lnTo>
                <a:lnTo>
                  <a:pt x="8" y="71"/>
                </a:lnTo>
                <a:lnTo>
                  <a:pt x="12" y="76"/>
                </a:lnTo>
                <a:lnTo>
                  <a:pt x="15" y="79"/>
                </a:lnTo>
                <a:lnTo>
                  <a:pt x="18" y="84"/>
                </a:lnTo>
                <a:lnTo>
                  <a:pt x="22" y="82"/>
                </a:lnTo>
                <a:lnTo>
                  <a:pt x="18" y="77"/>
                </a:lnTo>
                <a:lnTo>
                  <a:pt x="15" y="74"/>
                </a:lnTo>
                <a:lnTo>
                  <a:pt x="12" y="69"/>
                </a:lnTo>
                <a:lnTo>
                  <a:pt x="8" y="64"/>
                </a:lnTo>
                <a:lnTo>
                  <a:pt x="7" y="59"/>
                </a:lnTo>
                <a:lnTo>
                  <a:pt x="5" y="53"/>
                </a:lnTo>
                <a:lnTo>
                  <a:pt x="3" y="48"/>
                </a:lnTo>
                <a:lnTo>
                  <a:pt x="3" y="41"/>
                </a:lnTo>
                <a:lnTo>
                  <a:pt x="0" y="43"/>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74" name="Freeform 2179">
            <a:extLst>
              <a:ext uri="{FF2B5EF4-FFF2-40B4-BE49-F238E27FC236}">
                <a16:creationId xmlns:a16="http://schemas.microsoft.com/office/drawing/2014/main" id="{CF32D817-FF98-8F35-A79E-3B360C2F01DA}"/>
              </a:ext>
            </a:extLst>
          </p:cNvPr>
          <p:cNvSpPr>
            <a:spLocks noEditPoints="1"/>
          </p:cNvSpPr>
          <p:nvPr/>
        </p:nvSpPr>
        <p:spPr bwMode="auto">
          <a:xfrm>
            <a:off x="3433763" y="2536825"/>
            <a:ext cx="173038" cy="128588"/>
          </a:xfrm>
          <a:custGeom>
            <a:avLst/>
            <a:gdLst>
              <a:gd name="T0" fmla="*/ 109 w 109"/>
              <a:gd name="T1" fmla="*/ 40 h 81"/>
              <a:gd name="T2" fmla="*/ 107 w 109"/>
              <a:gd name="T3" fmla="*/ 35 h 81"/>
              <a:gd name="T4" fmla="*/ 107 w 109"/>
              <a:gd name="T5" fmla="*/ 28 h 81"/>
              <a:gd name="T6" fmla="*/ 106 w 109"/>
              <a:gd name="T7" fmla="*/ 23 h 81"/>
              <a:gd name="T8" fmla="*/ 104 w 109"/>
              <a:gd name="T9" fmla="*/ 17 h 81"/>
              <a:gd name="T10" fmla="*/ 101 w 109"/>
              <a:gd name="T11" fmla="*/ 12 h 81"/>
              <a:gd name="T12" fmla="*/ 97 w 109"/>
              <a:gd name="T13" fmla="*/ 9 h 81"/>
              <a:gd name="T14" fmla="*/ 94 w 109"/>
              <a:gd name="T15" fmla="*/ 4 h 81"/>
              <a:gd name="T16" fmla="*/ 91 w 109"/>
              <a:gd name="T17" fmla="*/ 0 h 81"/>
              <a:gd name="T18" fmla="*/ 87 w 109"/>
              <a:gd name="T19" fmla="*/ 0 h 81"/>
              <a:gd name="T20" fmla="*/ 91 w 109"/>
              <a:gd name="T21" fmla="*/ 5 h 81"/>
              <a:gd name="T22" fmla="*/ 94 w 109"/>
              <a:gd name="T23" fmla="*/ 9 h 81"/>
              <a:gd name="T24" fmla="*/ 97 w 109"/>
              <a:gd name="T25" fmla="*/ 14 h 81"/>
              <a:gd name="T26" fmla="*/ 101 w 109"/>
              <a:gd name="T27" fmla="*/ 18 h 81"/>
              <a:gd name="T28" fmla="*/ 102 w 109"/>
              <a:gd name="T29" fmla="*/ 23 h 81"/>
              <a:gd name="T30" fmla="*/ 104 w 109"/>
              <a:gd name="T31" fmla="*/ 28 h 81"/>
              <a:gd name="T32" fmla="*/ 104 w 109"/>
              <a:gd name="T33" fmla="*/ 35 h 81"/>
              <a:gd name="T34" fmla="*/ 106 w 109"/>
              <a:gd name="T35" fmla="*/ 40 h 81"/>
              <a:gd name="T36" fmla="*/ 106 w 109"/>
              <a:gd name="T37" fmla="*/ 42 h 81"/>
              <a:gd name="T38" fmla="*/ 106 w 109"/>
              <a:gd name="T39" fmla="*/ 43 h 81"/>
              <a:gd name="T40" fmla="*/ 109 w 109"/>
              <a:gd name="T41" fmla="*/ 42 h 81"/>
              <a:gd name="T42" fmla="*/ 109 w 109"/>
              <a:gd name="T43" fmla="*/ 40 h 81"/>
              <a:gd name="T44" fmla="*/ 0 w 109"/>
              <a:gd name="T45" fmla="*/ 40 h 81"/>
              <a:gd name="T46" fmla="*/ 0 w 109"/>
              <a:gd name="T47" fmla="*/ 47 h 81"/>
              <a:gd name="T48" fmla="*/ 1 w 109"/>
              <a:gd name="T49" fmla="*/ 53 h 81"/>
              <a:gd name="T50" fmla="*/ 3 w 109"/>
              <a:gd name="T51" fmla="*/ 58 h 81"/>
              <a:gd name="T52" fmla="*/ 5 w 109"/>
              <a:gd name="T53" fmla="*/ 63 h 81"/>
              <a:gd name="T54" fmla="*/ 8 w 109"/>
              <a:gd name="T55" fmla="*/ 68 h 81"/>
              <a:gd name="T56" fmla="*/ 11 w 109"/>
              <a:gd name="T57" fmla="*/ 73 h 81"/>
              <a:gd name="T58" fmla="*/ 15 w 109"/>
              <a:gd name="T59" fmla="*/ 78 h 81"/>
              <a:gd name="T60" fmla="*/ 18 w 109"/>
              <a:gd name="T61" fmla="*/ 81 h 81"/>
              <a:gd name="T62" fmla="*/ 21 w 109"/>
              <a:gd name="T63" fmla="*/ 80 h 81"/>
              <a:gd name="T64" fmla="*/ 18 w 109"/>
              <a:gd name="T65" fmla="*/ 76 h 81"/>
              <a:gd name="T66" fmla="*/ 15 w 109"/>
              <a:gd name="T67" fmla="*/ 73 h 81"/>
              <a:gd name="T68" fmla="*/ 11 w 109"/>
              <a:gd name="T69" fmla="*/ 68 h 81"/>
              <a:gd name="T70" fmla="*/ 8 w 109"/>
              <a:gd name="T71" fmla="*/ 63 h 81"/>
              <a:gd name="T72" fmla="*/ 6 w 109"/>
              <a:gd name="T73" fmla="*/ 58 h 81"/>
              <a:gd name="T74" fmla="*/ 5 w 109"/>
              <a:gd name="T75" fmla="*/ 52 h 81"/>
              <a:gd name="T76" fmla="*/ 3 w 109"/>
              <a:gd name="T77" fmla="*/ 47 h 81"/>
              <a:gd name="T78" fmla="*/ 3 w 109"/>
              <a:gd name="T79" fmla="*/ 40 h 81"/>
              <a:gd name="T80" fmla="*/ 0 w 109"/>
              <a:gd name="T81" fmla="*/ 40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09" h="81">
                <a:moveTo>
                  <a:pt x="109" y="40"/>
                </a:moveTo>
                <a:lnTo>
                  <a:pt x="107" y="35"/>
                </a:lnTo>
                <a:lnTo>
                  <a:pt x="107" y="28"/>
                </a:lnTo>
                <a:lnTo>
                  <a:pt x="106" y="23"/>
                </a:lnTo>
                <a:lnTo>
                  <a:pt x="104" y="17"/>
                </a:lnTo>
                <a:lnTo>
                  <a:pt x="101" y="12"/>
                </a:lnTo>
                <a:lnTo>
                  <a:pt x="97" y="9"/>
                </a:lnTo>
                <a:lnTo>
                  <a:pt x="94" y="4"/>
                </a:lnTo>
                <a:lnTo>
                  <a:pt x="91" y="0"/>
                </a:lnTo>
                <a:lnTo>
                  <a:pt x="87" y="0"/>
                </a:lnTo>
                <a:lnTo>
                  <a:pt x="91" y="5"/>
                </a:lnTo>
                <a:lnTo>
                  <a:pt x="94" y="9"/>
                </a:lnTo>
                <a:lnTo>
                  <a:pt x="97" y="14"/>
                </a:lnTo>
                <a:lnTo>
                  <a:pt x="101" y="18"/>
                </a:lnTo>
                <a:lnTo>
                  <a:pt x="102" y="23"/>
                </a:lnTo>
                <a:lnTo>
                  <a:pt x="104" y="28"/>
                </a:lnTo>
                <a:lnTo>
                  <a:pt x="104" y="35"/>
                </a:lnTo>
                <a:lnTo>
                  <a:pt x="106" y="40"/>
                </a:lnTo>
                <a:lnTo>
                  <a:pt x="106" y="42"/>
                </a:lnTo>
                <a:lnTo>
                  <a:pt x="106" y="43"/>
                </a:lnTo>
                <a:lnTo>
                  <a:pt x="109" y="42"/>
                </a:lnTo>
                <a:lnTo>
                  <a:pt x="109" y="40"/>
                </a:lnTo>
                <a:close/>
                <a:moveTo>
                  <a:pt x="0" y="40"/>
                </a:moveTo>
                <a:lnTo>
                  <a:pt x="0" y="47"/>
                </a:lnTo>
                <a:lnTo>
                  <a:pt x="1" y="53"/>
                </a:lnTo>
                <a:lnTo>
                  <a:pt x="3" y="58"/>
                </a:lnTo>
                <a:lnTo>
                  <a:pt x="5" y="63"/>
                </a:lnTo>
                <a:lnTo>
                  <a:pt x="8" y="68"/>
                </a:lnTo>
                <a:lnTo>
                  <a:pt x="11" y="73"/>
                </a:lnTo>
                <a:lnTo>
                  <a:pt x="15" y="78"/>
                </a:lnTo>
                <a:lnTo>
                  <a:pt x="18" y="81"/>
                </a:lnTo>
                <a:lnTo>
                  <a:pt x="21" y="80"/>
                </a:lnTo>
                <a:lnTo>
                  <a:pt x="18" y="76"/>
                </a:lnTo>
                <a:lnTo>
                  <a:pt x="15" y="73"/>
                </a:lnTo>
                <a:lnTo>
                  <a:pt x="11" y="68"/>
                </a:lnTo>
                <a:lnTo>
                  <a:pt x="8" y="63"/>
                </a:lnTo>
                <a:lnTo>
                  <a:pt x="6" y="58"/>
                </a:lnTo>
                <a:lnTo>
                  <a:pt x="5" y="52"/>
                </a:lnTo>
                <a:lnTo>
                  <a:pt x="3" y="47"/>
                </a:lnTo>
                <a:lnTo>
                  <a:pt x="3" y="40"/>
                </a:lnTo>
                <a:lnTo>
                  <a:pt x="0" y="4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75" name="Freeform 2180">
            <a:extLst>
              <a:ext uri="{FF2B5EF4-FFF2-40B4-BE49-F238E27FC236}">
                <a16:creationId xmlns:a16="http://schemas.microsoft.com/office/drawing/2014/main" id="{DF9EE7E4-D3AE-715F-90C8-43231B4B5F0C}"/>
              </a:ext>
            </a:extLst>
          </p:cNvPr>
          <p:cNvSpPr>
            <a:spLocks noEditPoints="1"/>
          </p:cNvSpPr>
          <p:nvPr/>
        </p:nvSpPr>
        <p:spPr bwMode="auto">
          <a:xfrm>
            <a:off x="3435350" y="2536825"/>
            <a:ext cx="168275" cy="128588"/>
          </a:xfrm>
          <a:custGeom>
            <a:avLst/>
            <a:gdLst>
              <a:gd name="T0" fmla="*/ 106 w 106"/>
              <a:gd name="T1" fmla="*/ 40 h 81"/>
              <a:gd name="T2" fmla="*/ 105 w 106"/>
              <a:gd name="T3" fmla="*/ 35 h 81"/>
              <a:gd name="T4" fmla="*/ 105 w 106"/>
              <a:gd name="T5" fmla="*/ 28 h 81"/>
              <a:gd name="T6" fmla="*/ 103 w 106"/>
              <a:gd name="T7" fmla="*/ 23 h 81"/>
              <a:gd name="T8" fmla="*/ 101 w 106"/>
              <a:gd name="T9" fmla="*/ 18 h 81"/>
              <a:gd name="T10" fmla="*/ 98 w 106"/>
              <a:gd name="T11" fmla="*/ 14 h 81"/>
              <a:gd name="T12" fmla="*/ 95 w 106"/>
              <a:gd name="T13" fmla="*/ 9 h 81"/>
              <a:gd name="T14" fmla="*/ 91 w 106"/>
              <a:gd name="T15" fmla="*/ 4 h 81"/>
              <a:gd name="T16" fmla="*/ 88 w 106"/>
              <a:gd name="T17" fmla="*/ 0 h 81"/>
              <a:gd name="T18" fmla="*/ 85 w 106"/>
              <a:gd name="T19" fmla="*/ 2 h 81"/>
              <a:gd name="T20" fmla="*/ 88 w 106"/>
              <a:gd name="T21" fmla="*/ 5 h 81"/>
              <a:gd name="T22" fmla="*/ 91 w 106"/>
              <a:gd name="T23" fmla="*/ 10 h 81"/>
              <a:gd name="T24" fmla="*/ 95 w 106"/>
              <a:gd name="T25" fmla="*/ 14 h 81"/>
              <a:gd name="T26" fmla="*/ 98 w 106"/>
              <a:gd name="T27" fmla="*/ 18 h 81"/>
              <a:gd name="T28" fmla="*/ 100 w 106"/>
              <a:gd name="T29" fmla="*/ 23 h 81"/>
              <a:gd name="T30" fmla="*/ 101 w 106"/>
              <a:gd name="T31" fmla="*/ 28 h 81"/>
              <a:gd name="T32" fmla="*/ 101 w 106"/>
              <a:gd name="T33" fmla="*/ 35 h 81"/>
              <a:gd name="T34" fmla="*/ 103 w 106"/>
              <a:gd name="T35" fmla="*/ 40 h 81"/>
              <a:gd name="T36" fmla="*/ 103 w 106"/>
              <a:gd name="T37" fmla="*/ 42 h 81"/>
              <a:gd name="T38" fmla="*/ 103 w 106"/>
              <a:gd name="T39" fmla="*/ 43 h 81"/>
              <a:gd name="T40" fmla="*/ 106 w 106"/>
              <a:gd name="T41" fmla="*/ 42 h 81"/>
              <a:gd name="T42" fmla="*/ 106 w 106"/>
              <a:gd name="T43" fmla="*/ 40 h 81"/>
              <a:gd name="T44" fmla="*/ 0 w 106"/>
              <a:gd name="T45" fmla="*/ 40 h 81"/>
              <a:gd name="T46" fmla="*/ 0 w 106"/>
              <a:gd name="T47" fmla="*/ 40 h 81"/>
              <a:gd name="T48" fmla="*/ 0 w 106"/>
              <a:gd name="T49" fmla="*/ 47 h 81"/>
              <a:gd name="T50" fmla="*/ 2 w 106"/>
              <a:gd name="T51" fmla="*/ 52 h 81"/>
              <a:gd name="T52" fmla="*/ 4 w 106"/>
              <a:gd name="T53" fmla="*/ 58 h 81"/>
              <a:gd name="T54" fmla="*/ 5 w 106"/>
              <a:gd name="T55" fmla="*/ 63 h 81"/>
              <a:gd name="T56" fmla="*/ 9 w 106"/>
              <a:gd name="T57" fmla="*/ 68 h 81"/>
              <a:gd name="T58" fmla="*/ 12 w 106"/>
              <a:gd name="T59" fmla="*/ 73 h 81"/>
              <a:gd name="T60" fmla="*/ 15 w 106"/>
              <a:gd name="T61" fmla="*/ 76 h 81"/>
              <a:gd name="T62" fmla="*/ 19 w 106"/>
              <a:gd name="T63" fmla="*/ 81 h 81"/>
              <a:gd name="T64" fmla="*/ 22 w 106"/>
              <a:gd name="T65" fmla="*/ 80 h 81"/>
              <a:gd name="T66" fmla="*/ 19 w 106"/>
              <a:gd name="T67" fmla="*/ 76 h 81"/>
              <a:gd name="T68" fmla="*/ 15 w 106"/>
              <a:gd name="T69" fmla="*/ 71 h 81"/>
              <a:gd name="T70" fmla="*/ 12 w 106"/>
              <a:gd name="T71" fmla="*/ 67 h 81"/>
              <a:gd name="T72" fmla="*/ 9 w 106"/>
              <a:gd name="T73" fmla="*/ 63 h 81"/>
              <a:gd name="T74" fmla="*/ 7 w 106"/>
              <a:gd name="T75" fmla="*/ 57 h 81"/>
              <a:gd name="T76" fmla="*/ 5 w 106"/>
              <a:gd name="T77" fmla="*/ 52 h 81"/>
              <a:gd name="T78" fmla="*/ 4 w 106"/>
              <a:gd name="T79" fmla="*/ 47 h 81"/>
              <a:gd name="T80" fmla="*/ 4 w 106"/>
              <a:gd name="T81" fmla="*/ 40 h 81"/>
              <a:gd name="T82" fmla="*/ 4 w 106"/>
              <a:gd name="T83" fmla="*/ 38 h 81"/>
              <a:gd name="T84" fmla="*/ 0 w 106"/>
              <a:gd name="T85" fmla="*/ 40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06" h="81">
                <a:moveTo>
                  <a:pt x="106" y="40"/>
                </a:moveTo>
                <a:lnTo>
                  <a:pt x="105" y="35"/>
                </a:lnTo>
                <a:lnTo>
                  <a:pt x="105" y="28"/>
                </a:lnTo>
                <a:lnTo>
                  <a:pt x="103" y="23"/>
                </a:lnTo>
                <a:lnTo>
                  <a:pt x="101" y="18"/>
                </a:lnTo>
                <a:lnTo>
                  <a:pt x="98" y="14"/>
                </a:lnTo>
                <a:lnTo>
                  <a:pt x="95" y="9"/>
                </a:lnTo>
                <a:lnTo>
                  <a:pt x="91" y="4"/>
                </a:lnTo>
                <a:lnTo>
                  <a:pt x="88" y="0"/>
                </a:lnTo>
                <a:lnTo>
                  <a:pt x="85" y="2"/>
                </a:lnTo>
                <a:lnTo>
                  <a:pt x="88" y="5"/>
                </a:lnTo>
                <a:lnTo>
                  <a:pt x="91" y="10"/>
                </a:lnTo>
                <a:lnTo>
                  <a:pt x="95" y="14"/>
                </a:lnTo>
                <a:lnTo>
                  <a:pt x="98" y="18"/>
                </a:lnTo>
                <a:lnTo>
                  <a:pt x="100" y="23"/>
                </a:lnTo>
                <a:lnTo>
                  <a:pt x="101" y="28"/>
                </a:lnTo>
                <a:lnTo>
                  <a:pt x="101" y="35"/>
                </a:lnTo>
                <a:lnTo>
                  <a:pt x="103" y="40"/>
                </a:lnTo>
                <a:lnTo>
                  <a:pt x="103" y="42"/>
                </a:lnTo>
                <a:lnTo>
                  <a:pt x="103" y="43"/>
                </a:lnTo>
                <a:lnTo>
                  <a:pt x="106" y="42"/>
                </a:lnTo>
                <a:lnTo>
                  <a:pt x="106" y="40"/>
                </a:lnTo>
                <a:close/>
                <a:moveTo>
                  <a:pt x="0" y="40"/>
                </a:moveTo>
                <a:lnTo>
                  <a:pt x="0" y="40"/>
                </a:lnTo>
                <a:lnTo>
                  <a:pt x="0" y="47"/>
                </a:lnTo>
                <a:lnTo>
                  <a:pt x="2" y="52"/>
                </a:lnTo>
                <a:lnTo>
                  <a:pt x="4" y="58"/>
                </a:lnTo>
                <a:lnTo>
                  <a:pt x="5" y="63"/>
                </a:lnTo>
                <a:lnTo>
                  <a:pt x="9" y="68"/>
                </a:lnTo>
                <a:lnTo>
                  <a:pt x="12" y="73"/>
                </a:lnTo>
                <a:lnTo>
                  <a:pt x="15" y="76"/>
                </a:lnTo>
                <a:lnTo>
                  <a:pt x="19" y="81"/>
                </a:lnTo>
                <a:lnTo>
                  <a:pt x="22" y="80"/>
                </a:lnTo>
                <a:lnTo>
                  <a:pt x="19" y="76"/>
                </a:lnTo>
                <a:lnTo>
                  <a:pt x="15" y="71"/>
                </a:lnTo>
                <a:lnTo>
                  <a:pt x="12" y="67"/>
                </a:lnTo>
                <a:lnTo>
                  <a:pt x="9" y="63"/>
                </a:lnTo>
                <a:lnTo>
                  <a:pt x="7" y="57"/>
                </a:lnTo>
                <a:lnTo>
                  <a:pt x="5" y="52"/>
                </a:lnTo>
                <a:lnTo>
                  <a:pt x="4" y="47"/>
                </a:lnTo>
                <a:lnTo>
                  <a:pt x="4" y="40"/>
                </a:lnTo>
                <a:lnTo>
                  <a:pt x="4" y="38"/>
                </a:lnTo>
                <a:lnTo>
                  <a:pt x="0" y="4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76" name="Freeform 2181">
            <a:extLst>
              <a:ext uri="{FF2B5EF4-FFF2-40B4-BE49-F238E27FC236}">
                <a16:creationId xmlns:a16="http://schemas.microsoft.com/office/drawing/2014/main" id="{7873E6B9-2CCA-0EDC-E7BB-30CFA53E6428}"/>
              </a:ext>
            </a:extLst>
          </p:cNvPr>
          <p:cNvSpPr>
            <a:spLocks noEditPoints="1"/>
          </p:cNvSpPr>
          <p:nvPr/>
        </p:nvSpPr>
        <p:spPr bwMode="auto">
          <a:xfrm>
            <a:off x="3438525" y="2536825"/>
            <a:ext cx="163513" cy="127000"/>
          </a:xfrm>
          <a:custGeom>
            <a:avLst/>
            <a:gdLst>
              <a:gd name="T0" fmla="*/ 103 w 103"/>
              <a:gd name="T1" fmla="*/ 40 h 80"/>
              <a:gd name="T2" fmla="*/ 101 w 103"/>
              <a:gd name="T3" fmla="*/ 35 h 80"/>
              <a:gd name="T4" fmla="*/ 101 w 103"/>
              <a:gd name="T5" fmla="*/ 28 h 80"/>
              <a:gd name="T6" fmla="*/ 99 w 103"/>
              <a:gd name="T7" fmla="*/ 23 h 80"/>
              <a:gd name="T8" fmla="*/ 98 w 103"/>
              <a:gd name="T9" fmla="*/ 18 h 80"/>
              <a:gd name="T10" fmla="*/ 94 w 103"/>
              <a:gd name="T11" fmla="*/ 14 h 80"/>
              <a:gd name="T12" fmla="*/ 91 w 103"/>
              <a:gd name="T13" fmla="*/ 9 h 80"/>
              <a:gd name="T14" fmla="*/ 88 w 103"/>
              <a:gd name="T15" fmla="*/ 5 h 80"/>
              <a:gd name="T16" fmla="*/ 84 w 103"/>
              <a:gd name="T17" fmla="*/ 0 h 80"/>
              <a:gd name="T18" fmla="*/ 81 w 103"/>
              <a:gd name="T19" fmla="*/ 2 h 80"/>
              <a:gd name="T20" fmla="*/ 84 w 103"/>
              <a:gd name="T21" fmla="*/ 5 h 80"/>
              <a:gd name="T22" fmla="*/ 88 w 103"/>
              <a:gd name="T23" fmla="*/ 10 h 80"/>
              <a:gd name="T24" fmla="*/ 91 w 103"/>
              <a:gd name="T25" fmla="*/ 14 h 80"/>
              <a:gd name="T26" fmla="*/ 94 w 103"/>
              <a:gd name="T27" fmla="*/ 18 h 80"/>
              <a:gd name="T28" fmla="*/ 96 w 103"/>
              <a:gd name="T29" fmla="*/ 23 h 80"/>
              <a:gd name="T30" fmla="*/ 98 w 103"/>
              <a:gd name="T31" fmla="*/ 28 h 80"/>
              <a:gd name="T32" fmla="*/ 98 w 103"/>
              <a:gd name="T33" fmla="*/ 35 h 80"/>
              <a:gd name="T34" fmla="*/ 99 w 103"/>
              <a:gd name="T35" fmla="*/ 40 h 80"/>
              <a:gd name="T36" fmla="*/ 99 w 103"/>
              <a:gd name="T37" fmla="*/ 42 h 80"/>
              <a:gd name="T38" fmla="*/ 99 w 103"/>
              <a:gd name="T39" fmla="*/ 43 h 80"/>
              <a:gd name="T40" fmla="*/ 99 w 103"/>
              <a:gd name="T41" fmla="*/ 45 h 80"/>
              <a:gd name="T42" fmla="*/ 103 w 103"/>
              <a:gd name="T43" fmla="*/ 43 h 80"/>
              <a:gd name="T44" fmla="*/ 103 w 103"/>
              <a:gd name="T45" fmla="*/ 42 h 80"/>
              <a:gd name="T46" fmla="*/ 103 w 103"/>
              <a:gd name="T47" fmla="*/ 40 h 80"/>
              <a:gd name="T48" fmla="*/ 0 w 103"/>
              <a:gd name="T49" fmla="*/ 40 h 80"/>
              <a:gd name="T50" fmla="*/ 0 w 103"/>
              <a:gd name="T51" fmla="*/ 40 h 80"/>
              <a:gd name="T52" fmla="*/ 0 w 103"/>
              <a:gd name="T53" fmla="*/ 47 h 80"/>
              <a:gd name="T54" fmla="*/ 2 w 103"/>
              <a:gd name="T55" fmla="*/ 52 h 80"/>
              <a:gd name="T56" fmla="*/ 3 w 103"/>
              <a:gd name="T57" fmla="*/ 58 h 80"/>
              <a:gd name="T58" fmla="*/ 5 w 103"/>
              <a:gd name="T59" fmla="*/ 63 h 80"/>
              <a:gd name="T60" fmla="*/ 8 w 103"/>
              <a:gd name="T61" fmla="*/ 68 h 80"/>
              <a:gd name="T62" fmla="*/ 12 w 103"/>
              <a:gd name="T63" fmla="*/ 73 h 80"/>
              <a:gd name="T64" fmla="*/ 15 w 103"/>
              <a:gd name="T65" fmla="*/ 76 h 80"/>
              <a:gd name="T66" fmla="*/ 18 w 103"/>
              <a:gd name="T67" fmla="*/ 80 h 80"/>
              <a:gd name="T68" fmla="*/ 21 w 103"/>
              <a:gd name="T69" fmla="*/ 78 h 80"/>
              <a:gd name="T70" fmla="*/ 18 w 103"/>
              <a:gd name="T71" fmla="*/ 75 h 80"/>
              <a:gd name="T72" fmla="*/ 15 w 103"/>
              <a:gd name="T73" fmla="*/ 71 h 80"/>
              <a:gd name="T74" fmla="*/ 12 w 103"/>
              <a:gd name="T75" fmla="*/ 67 h 80"/>
              <a:gd name="T76" fmla="*/ 8 w 103"/>
              <a:gd name="T77" fmla="*/ 62 h 80"/>
              <a:gd name="T78" fmla="*/ 7 w 103"/>
              <a:gd name="T79" fmla="*/ 57 h 80"/>
              <a:gd name="T80" fmla="*/ 5 w 103"/>
              <a:gd name="T81" fmla="*/ 52 h 80"/>
              <a:gd name="T82" fmla="*/ 3 w 103"/>
              <a:gd name="T83" fmla="*/ 47 h 80"/>
              <a:gd name="T84" fmla="*/ 3 w 103"/>
              <a:gd name="T85" fmla="*/ 40 h 80"/>
              <a:gd name="T86" fmla="*/ 3 w 103"/>
              <a:gd name="T87" fmla="*/ 38 h 80"/>
              <a:gd name="T88" fmla="*/ 0 w 103"/>
              <a:gd name="T89" fmla="*/ 4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03" h="80">
                <a:moveTo>
                  <a:pt x="103" y="40"/>
                </a:moveTo>
                <a:lnTo>
                  <a:pt x="101" y="35"/>
                </a:lnTo>
                <a:lnTo>
                  <a:pt x="101" y="28"/>
                </a:lnTo>
                <a:lnTo>
                  <a:pt x="99" y="23"/>
                </a:lnTo>
                <a:lnTo>
                  <a:pt x="98" y="18"/>
                </a:lnTo>
                <a:lnTo>
                  <a:pt x="94" y="14"/>
                </a:lnTo>
                <a:lnTo>
                  <a:pt x="91" y="9"/>
                </a:lnTo>
                <a:lnTo>
                  <a:pt x="88" y="5"/>
                </a:lnTo>
                <a:lnTo>
                  <a:pt x="84" y="0"/>
                </a:lnTo>
                <a:lnTo>
                  <a:pt x="81" y="2"/>
                </a:lnTo>
                <a:lnTo>
                  <a:pt x="84" y="5"/>
                </a:lnTo>
                <a:lnTo>
                  <a:pt x="88" y="10"/>
                </a:lnTo>
                <a:lnTo>
                  <a:pt x="91" y="14"/>
                </a:lnTo>
                <a:lnTo>
                  <a:pt x="94" y="18"/>
                </a:lnTo>
                <a:lnTo>
                  <a:pt x="96" y="23"/>
                </a:lnTo>
                <a:lnTo>
                  <a:pt x="98" y="28"/>
                </a:lnTo>
                <a:lnTo>
                  <a:pt x="98" y="35"/>
                </a:lnTo>
                <a:lnTo>
                  <a:pt x="99" y="40"/>
                </a:lnTo>
                <a:lnTo>
                  <a:pt x="99" y="42"/>
                </a:lnTo>
                <a:lnTo>
                  <a:pt x="99" y="43"/>
                </a:lnTo>
                <a:lnTo>
                  <a:pt x="99" y="45"/>
                </a:lnTo>
                <a:lnTo>
                  <a:pt x="103" y="43"/>
                </a:lnTo>
                <a:lnTo>
                  <a:pt x="103" y="42"/>
                </a:lnTo>
                <a:lnTo>
                  <a:pt x="103" y="40"/>
                </a:lnTo>
                <a:close/>
                <a:moveTo>
                  <a:pt x="0" y="40"/>
                </a:moveTo>
                <a:lnTo>
                  <a:pt x="0" y="40"/>
                </a:lnTo>
                <a:lnTo>
                  <a:pt x="0" y="47"/>
                </a:lnTo>
                <a:lnTo>
                  <a:pt x="2" y="52"/>
                </a:lnTo>
                <a:lnTo>
                  <a:pt x="3" y="58"/>
                </a:lnTo>
                <a:lnTo>
                  <a:pt x="5" y="63"/>
                </a:lnTo>
                <a:lnTo>
                  <a:pt x="8" y="68"/>
                </a:lnTo>
                <a:lnTo>
                  <a:pt x="12" y="73"/>
                </a:lnTo>
                <a:lnTo>
                  <a:pt x="15" y="76"/>
                </a:lnTo>
                <a:lnTo>
                  <a:pt x="18" y="80"/>
                </a:lnTo>
                <a:lnTo>
                  <a:pt x="21" y="78"/>
                </a:lnTo>
                <a:lnTo>
                  <a:pt x="18" y="75"/>
                </a:lnTo>
                <a:lnTo>
                  <a:pt x="15" y="71"/>
                </a:lnTo>
                <a:lnTo>
                  <a:pt x="12" y="67"/>
                </a:lnTo>
                <a:lnTo>
                  <a:pt x="8" y="62"/>
                </a:lnTo>
                <a:lnTo>
                  <a:pt x="7" y="57"/>
                </a:lnTo>
                <a:lnTo>
                  <a:pt x="5" y="52"/>
                </a:lnTo>
                <a:lnTo>
                  <a:pt x="3" y="47"/>
                </a:lnTo>
                <a:lnTo>
                  <a:pt x="3" y="40"/>
                </a:lnTo>
                <a:lnTo>
                  <a:pt x="3" y="38"/>
                </a:lnTo>
                <a:lnTo>
                  <a:pt x="0" y="4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77" name="Freeform 2182">
            <a:extLst>
              <a:ext uri="{FF2B5EF4-FFF2-40B4-BE49-F238E27FC236}">
                <a16:creationId xmlns:a16="http://schemas.microsoft.com/office/drawing/2014/main" id="{A099DDF9-CEB3-B265-57E8-E506FD898C45}"/>
              </a:ext>
            </a:extLst>
          </p:cNvPr>
          <p:cNvSpPr>
            <a:spLocks noEditPoints="1"/>
          </p:cNvSpPr>
          <p:nvPr/>
        </p:nvSpPr>
        <p:spPr bwMode="auto">
          <a:xfrm>
            <a:off x="3441700" y="2540000"/>
            <a:ext cx="157163" cy="123825"/>
          </a:xfrm>
          <a:custGeom>
            <a:avLst/>
            <a:gdLst>
              <a:gd name="T0" fmla="*/ 99 w 99"/>
              <a:gd name="T1" fmla="*/ 38 h 78"/>
              <a:gd name="T2" fmla="*/ 97 w 99"/>
              <a:gd name="T3" fmla="*/ 33 h 78"/>
              <a:gd name="T4" fmla="*/ 97 w 99"/>
              <a:gd name="T5" fmla="*/ 26 h 78"/>
              <a:gd name="T6" fmla="*/ 96 w 99"/>
              <a:gd name="T7" fmla="*/ 21 h 78"/>
              <a:gd name="T8" fmla="*/ 94 w 99"/>
              <a:gd name="T9" fmla="*/ 16 h 78"/>
              <a:gd name="T10" fmla="*/ 91 w 99"/>
              <a:gd name="T11" fmla="*/ 12 h 78"/>
              <a:gd name="T12" fmla="*/ 87 w 99"/>
              <a:gd name="T13" fmla="*/ 8 h 78"/>
              <a:gd name="T14" fmla="*/ 84 w 99"/>
              <a:gd name="T15" fmla="*/ 3 h 78"/>
              <a:gd name="T16" fmla="*/ 81 w 99"/>
              <a:gd name="T17" fmla="*/ 0 h 78"/>
              <a:gd name="T18" fmla="*/ 77 w 99"/>
              <a:gd name="T19" fmla="*/ 2 h 78"/>
              <a:gd name="T20" fmla="*/ 81 w 99"/>
              <a:gd name="T21" fmla="*/ 5 h 78"/>
              <a:gd name="T22" fmla="*/ 84 w 99"/>
              <a:gd name="T23" fmla="*/ 8 h 78"/>
              <a:gd name="T24" fmla="*/ 87 w 99"/>
              <a:gd name="T25" fmla="*/ 13 h 78"/>
              <a:gd name="T26" fmla="*/ 91 w 99"/>
              <a:gd name="T27" fmla="*/ 16 h 78"/>
              <a:gd name="T28" fmla="*/ 92 w 99"/>
              <a:gd name="T29" fmla="*/ 21 h 78"/>
              <a:gd name="T30" fmla="*/ 94 w 99"/>
              <a:gd name="T31" fmla="*/ 28 h 78"/>
              <a:gd name="T32" fmla="*/ 94 w 99"/>
              <a:gd name="T33" fmla="*/ 33 h 78"/>
              <a:gd name="T34" fmla="*/ 96 w 99"/>
              <a:gd name="T35" fmla="*/ 38 h 78"/>
              <a:gd name="T36" fmla="*/ 96 w 99"/>
              <a:gd name="T37" fmla="*/ 40 h 78"/>
              <a:gd name="T38" fmla="*/ 96 w 99"/>
              <a:gd name="T39" fmla="*/ 41 h 78"/>
              <a:gd name="T40" fmla="*/ 96 w 99"/>
              <a:gd name="T41" fmla="*/ 43 h 78"/>
              <a:gd name="T42" fmla="*/ 99 w 99"/>
              <a:gd name="T43" fmla="*/ 41 h 78"/>
              <a:gd name="T44" fmla="*/ 99 w 99"/>
              <a:gd name="T45" fmla="*/ 40 h 78"/>
              <a:gd name="T46" fmla="*/ 99 w 99"/>
              <a:gd name="T47" fmla="*/ 38 h 78"/>
              <a:gd name="T48" fmla="*/ 0 w 99"/>
              <a:gd name="T49" fmla="*/ 36 h 78"/>
              <a:gd name="T50" fmla="*/ 0 w 99"/>
              <a:gd name="T51" fmla="*/ 36 h 78"/>
              <a:gd name="T52" fmla="*/ 0 w 99"/>
              <a:gd name="T53" fmla="*/ 38 h 78"/>
              <a:gd name="T54" fmla="*/ 0 w 99"/>
              <a:gd name="T55" fmla="*/ 45 h 78"/>
              <a:gd name="T56" fmla="*/ 1 w 99"/>
              <a:gd name="T57" fmla="*/ 50 h 78"/>
              <a:gd name="T58" fmla="*/ 3 w 99"/>
              <a:gd name="T59" fmla="*/ 55 h 78"/>
              <a:gd name="T60" fmla="*/ 5 w 99"/>
              <a:gd name="T61" fmla="*/ 61 h 78"/>
              <a:gd name="T62" fmla="*/ 8 w 99"/>
              <a:gd name="T63" fmla="*/ 65 h 78"/>
              <a:gd name="T64" fmla="*/ 11 w 99"/>
              <a:gd name="T65" fmla="*/ 69 h 78"/>
              <a:gd name="T66" fmla="*/ 15 w 99"/>
              <a:gd name="T67" fmla="*/ 74 h 78"/>
              <a:gd name="T68" fmla="*/ 18 w 99"/>
              <a:gd name="T69" fmla="*/ 78 h 78"/>
              <a:gd name="T70" fmla="*/ 21 w 99"/>
              <a:gd name="T71" fmla="*/ 76 h 78"/>
              <a:gd name="T72" fmla="*/ 18 w 99"/>
              <a:gd name="T73" fmla="*/ 73 h 78"/>
              <a:gd name="T74" fmla="*/ 15 w 99"/>
              <a:gd name="T75" fmla="*/ 69 h 78"/>
              <a:gd name="T76" fmla="*/ 11 w 99"/>
              <a:gd name="T77" fmla="*/ 65 h 78"/>
              <a:gd name="T78" fmla="*/ 8 w 99"/>
              <a:gd name="T79" fmla="*/ 60 h 78"/>
              <a:gd name="T80" fmla="*/ 6 w 99"/>
              <a:gd name="T81" fmla="*/ 55 h 78"/>
              <a:gd name="T82" fmla="*/ 5 w 99"/>
              <a:gd name="T83" fmla="*/ 50 h 78"/>
              <a:gd name="T84" fmla="*/ 3 w 99"/>
              <a:gd name="T85" fmla="*/ 45 h 78"/>
              <a:gd name="T86" fmla="*/ 3 w 99"/>
              <a:gd name="T87" fmla="*/ 38 h 78"/>
              <a:gd name="T88" fmla="*/ 3 w 99"/>
              <a:gd name="T89" fmla="*/ 36 h 78"/>
              <a:gd name="T90" fmla="*/ 3 w 99"/>
              <a:gd name="T91" fmla="*/ 35 h 78"/>
              <a:gd name="T92" fmla="*/ 0 w 99"/>
              <a:gd name="T93" fmla="*/ 36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9" h="78">
                <a:moveTo>
                  <a:pt x="99" y="38"/>
                </a:moveTo>
                <a:lnTo>
                  <a:pt x="97" y="33"/>
                </a:lnTo>
                <a:lnTo>
                  <a:pt x="97" y="26"/>
                </a:lnTo>
                <a:lnTo>
                  <a:pt x="96" y="21"/>
                </a:lnTo>
                <a:lnTo>
                  <a:pt x="94" y="16"/>
                </a:lnTo>
                <a:lnTo>
                  <a:pt x="91" y="12"/>
                </a:lnTo>
                <a:lnTo>
                  <a:pt x="87" y="8"/>
                </a:lnTo>
                <a:lnTo>
                  <a:pt x="84" y="3"/>
                </a:lnTo>
                <a:lnTo>
                  <a:pt x="81" y="0"/>
                </a:lnTo>
                <a:lnTo>
                  <a:pt x="77" y="2"/>
                </a:lnTo>
                <a:lnTo>
                  <a:pt x="81" y="5"/>
                </a:lnTo>
                <a:lnTo>
                  <a:pt x="84" y="8"/>
                </a:lnTo>
                <a:lnTo>
                  <a:pt x="87" y="13"/>
                </a:lnTo>
                <a:lnTo>
                  <a:pt x="91" y="16"/>
                </a:lnTo>
                <a:lnTo>
                  <a:pt x="92" y="21"/>
                </a:lnTo>
                <a:lnTo>
                  <a:pt x="94" y="28"/>
                </a:lnTo>
                <a:lnTo>
                  <a:pt x="94" y="33"/>
                </a:lnTo>
                <a:lnTo>
                  <a:pt x="96" y="38"/>
                </a:lnTo>
                <a:lnTo>
                  <a:pt x="96" y="40"/>
                </a:lnTo>
                <a:lnTo>
                  <a:pt x="96" y="41"/>
                </a:lnTo>
                <a:lnTo>
                  <a:pt x="96" y="43"/>
                </a:lnTo>
                <a:lnTo>
                  <a:pt x="99" y="41"/>
                </a:lnTo>
                <a:lnTo>
                  <a:pt x="99" y="40"/>
                </a:lnTo>
                <a:lnTo>
                  <a:pt x="99" y="38"/>
                </a:lnTo>
                <a:close/>
                <a:moveTo>
                  <a:pt x="0" y="36"/>
                </a:moveTo>
                <a:lnTo>
                  <a:pt x="0" y="36"/>
                </a:lnTo>
                <a:lnTo>
                  <a:pt x="0" y="38"/>
                </a:lnTo>
                <a:lnTo>
                  <a:pt x="0" y="45"/>
                </a:lnTo>
                <a:lnTo>
                  <a:pt x="1" y="50"/>
                </a:lnTo>
                <a:lnTo>
                  <a:pt x="3" y="55"/>
                </a:lnTo>
                <a:lnTo>
                  <a:pt x="5" y="61"/>
                </a:lnTo>
                <a:lnTo>
                  <a:pt x="8" y="65"/>
                </a:lnTo>
                <a:lnTo>
                  <a:pt x="11" y="69"/>
                </a:lnTo>
                <a:lnTo>
                  <a:pt x="15" y="74"/>
                </a:lnTo>
                <a:lnTo>
                  <a:pt x="18" y="78"/>
                </a:lnTo>
                <a:lnTo>
                  <a:pt x="21" y="76"/>
                </a:lnTo>
                <a:lnTo>
                  <a:pt x="18" y="73"/>
                </a:lnTo>
                <a:lnTo>
                  <a:pt x="15" y="69"/>
                </a:lnTo>
                <a:lnTo>
                  <a:pt x="11" y="65"/>
                </a:lnTo>
                <a:lnTo>
                  <a:pt x="8" y="60"/>
                </a:lnTo>
                <a:lnTo>
                  <a:pt x="6" y="55"/>
                </a:lnTo>
                <a:lnTo>
                  <a:pt x="5" y="50"/>
                </a:lnTo>
                <a:lnTo>
                  <a:pt x="3" y="45"/>
                </a:lnTo>
                <a:lnTo>
                  <a:pt x="3" y="38"/>
                </a:lnTo>
                <a:lnTo>
                  <a:pt x="3" y="36"/>
                </a:lnTo>
                <a:lnTo>
                  <a:pt x="3" y="35"/>
                </a:lnTo>
                <a:lnTo>
                  <a:pt x="0" y="36"/>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78" name="Freeform 2183">
            <a:extLst>
              <a:ext uri="{FF2B5EF4-FFF2-40B4-BE49-F238E27FC236}">
                <a16:creationId xmlns:a16="http://schemas.microsoft.com/office/drawing/2014/main" id="{8CCB915B-E0AA-7F7E-DB62-D207A35E6593}"/>
              </a:ext>
            </a:extLst>
          </p:cNvPr>
          <p:cNvSpPr>
            <a:spLocks noEditPoints="1"/>
          </p:cNvSpPr>
          <p:nvPr/>
        </p:nvSpPr>
        <p:spPr bwMode="auto">
          <a:xfrm>
            <a:off x="3443288" y="2540000"/>
            <a:ext cx="152400" cy="120650"/>
          </a:xfrm>
          <a:custGeom>
            <a:avLst/>
            <a:gdLst>
              <a:gd name="T0" fmla="*/ 96 w 96"/>
              <a:gd name="T1" fmla="*/ 38 h 76"/>
              <a:gd name="T2" fmla="*/ 95 w 96"/>
              <a:gd name="T3" fmla="*/ 33 h 76"/>
              <a:gd name="T4" fmla="*/ 95 w 96"/>
              <a:gd name="T5" fmla="*/ 26 h 76"/>
              <a:gd name="T6" fmla="*/ 93 w 96"/>
              <a:gd name="T7" fmla="*/ 21 h 76"/>
              <a:gd name="T8" fmla="*/ 91 w 96"/>
              <a:gd name="T9" fmla="*/ 16 h 76"/>
              <a:gd name="T10" fmla="*/ 88 w 96"/>
              <a:gd name="T11" fmla="*/ 12 h 76"/>
              <a:gd name="T12" fmla="*/ 85 w 96"/>
              <a:gd name="T13" fmla="*/ 8 h 76"/>
              <a:gd name="T14" fmla="*/ 81 w 96"/>
              <a:gd name="T15" fmla="*/ 3 h 76"/>
              <a:gd name="T16" fmla="*/ 78 w 96"/>
              <a:gd name="T17" fmla="*/ 0 h 76"/>
              <a:gd name="T18" fmla="*/ 75 w 96"/>
              <a:gd name="T19" fmla="*/ 2 h 76"/>
              <a:gd name="T20" fmla="*/ 78 w 96"/>
              <a:gd name="T21" fmla="*/ 5 h 76"/>
              <a:gd name="T22" fmla="*/ 81 w 96"/>
              <a:gd name="T23" fmla="*/ 10 h 76"/>
              <a:gd name="T24" fmla="*/ 85 w 96"/>
              <a:gd name="T25" fmla="*/ 13 h 76"/>
              <a:gd name="T26" fmla="*/ 88 w 96"/>
              <a:gd name="T27" fmla="*/ 18 h 76"/>
              <a:gd name="T28" fmla="*/ 90 w 96"/>
              <a:gd name="T29" fmla="*/ 23 h 76"/>
              <a:gd name="T30" fmla="*/ 91 w 96"/>
              <a:gd name="T31" fmla="*/ 28 h 76"/>
              <a:gd name="T32" fmla="*/ 91 w 96"/>
              <a:gd name="T33" fmla="*/ 33 h 76"/>
              <a:gd name="T34" fmla="*/ 93 w 96"/>
              <a:gd name="T35" fmla="*/ 38 h 76"/>
              <a:gd name="T36" fmla="*/ 93 w 96"/>
              <a:gd name="T37" fmla="*/ 40 h 76"/>
              <a:gd name="T38" fmla="*/ 93 w 96"/>
              <a:gd name="T39" fmla="*/ 41 h 76"/>
              <a:gd name="T40" fmla="*/ 93 w 96"/>
              <a:gd name="T41" fmla="*/ 43 h 76"/>
              <a:gd name="T42" fmla="*/ 91 w 96"/>
              <a:gd name="T43" fmla="*/ 45 h 76"/>
              <a:gd name="T44" fmla="*/ 96 w 96"/>
              <a:gd name="T45" fmla="*/ 43 h 76"/>
              <a:gd name="T46" fmla="*/ 96 w 96"/>
              <a:gd name="T47" fmla="*/ 41 h 76"/>
              <a:gd name="T48" fmla="*/ 96 w 96"/>
              <a:gd name="T49" fmla="*/ 40 h 76"/>
              <a:gd name="T50" fmla="*/ 96 w 96"/>
              <a:gd name="T51" fmla="*/ 38 h 76"/>
              <a:gd name="T52" fmla="*/ 0 w 96"/>
              <a:gd name="T53" fmla="*/ 36 h 76"/>
              <a:gd name="T54" fmla="*/ 0 w 96"/>
              <a:gd name="T55" fmla="*/ 36 h 76"/>
              <a:gd name="T56" fmla="*/ 0 w 96"/>
              <a:gd name="T57" fmla="*/ 38 h 76"/>
              <a:gd name="T58" fmla="*/ 0 w 96"/>
              <a:gd name="T59" fmla="*/ 45 h 76"/>
              <a:gd name="T60" fmla="*/ 2 w 96"/>
              <a:gd name="T61" fmla="*/ 50 h 76"/>
              <a:gd name="T62" fmla="*/ 4 w 96"/>
              <a:gd name="T63" fmla="*/ 55 h 76"/>
              <a:gd name="T64" fmla="*/ 5 w 96"/>
              <a:gd name="T65" fmla="*/ 60 h 76"/>
              <a:gd name="T66" fmla="*/ 9 w 96"/>
              <a:gd name="T67" fmla="*/ 65 h 76"/>
              <a:gd name="T68" fmla="*/ 12 w 96"/>
              <a:gd name="T69" fmla="*/ 69 h 76"/>
              <a:gd name="T70" fmla="*/ 15 w 96"/>
              <a:gd name="T71" fmla="*/ 73 h 76"/>
              <a:gd name="T72" fmla="*/ 18 w 96"/>
              <a:gd name="T73" fmla="*/ 76 h 76"/>
              <a:gd name="T74" fmla="*/ 23 w 96"/>
              <a:gd name="T75" fmla="*/ 74 h 76"/>
              <a:gd name="T76" fmla="*/ 18 w 96"/>
              <a:gd name="T77" fmla="*/ 71 h 76"/>
              <a:gd name="T78" fmla="*/ 15 w 96"/>
              <a:gd name="T79" fmla="*/ 68 h 76"/>
              <a:gd name="T80" fmla="*/ 12 w 96"/>
              <a:gd name="T81" fmla="*/ 65 h 76"/>
              <a:gd name="T82" fmla="*/ 9 w 96"/>
              <a:gd name="T83" fmla="*/ 60 h 76"/>
              <a:gd name="T84" fmla="*/ 7 w 96"/>
              <a:gd name="T85" fmla="*/ 55 h 76"/>
              <a:gd name="T86" fmla="*/ 5 w 96"/>
              <a:gd name="T87" fmla="*/ 50 h 76"/>
              <a:gd name="T88" fmla="*/ 4 w 96"/>
              <a:gd name="T89" fmla="*/ 45 h 76"/>
              <a:gd name="T90" fmla="*/ 4 w 96"/>
              <a:gd name="T91" fmla="*/ 38 h 76"/>
              <a:gd name="T92" fmla="*/ 4 w 96"/>
              <a:gd name="T93" fmla="*/ 36 h 76"/>
              <a:gd name="T94" fmla="*/ 4 w 96"/>
              <a:gd name="T95" fmla="*/ 35 h 76"/>
              <a:gd name="T96" fmla="*/ 0 w 96"/>
              <a:gd name="T97" fmla="*/ 36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96" h="76">
                <a:moveTo>
                  <a:pt x="96" y="38"/>
                </a:moveTo>
                <a:lnTo>
                  <a:pt x="95" y="33"/>
                </a:lnTo>
                <a:lnTo>
                  <a:pt x="95" y="26"/>
                </a:lnTo>
                <a:lnTo>
                  <a:pt x="93" y="21"/>
                </a:lnTo>
                <a:lnTo>
                  <a:pt x="91" y="16"/>
                </a:lnTo>
                <a:lnTo>
                  <a:pt x="88" y="12"/>
                </a:lnTo>
                <a:lnTo>
                  <a:pt x="85" y="8"/>
                </a:lnTo>
                <a:lnTo>
                  <a:pt x="81" y="3"/>
                </a:lnTo>
                <a:lnTo>
                  <a:pt x="78" y="0"/>
                </a:lnTo>
                <a:lnTo>
                  <a:pt x="75" y="2"/>
                </a:lnTo>
                <a:lnTo>
                  <a:pt x="78" y="5"/>
                </a:lnTo>
                <a:lnTo>
                  <a:pt x="81" y="10"/>
                </a:lnTo>
                <a:lnTo>
                  <a:pt x="85" y="13"/>
                </a:lnTo>
                <a:lnTo>
                  <a:pt x="88" y="18"/>
                </a:lnTo>
                <a:lnTo>
                  <a:pt x="90" y="23"/>
                </a:lnTo>
                <a:lnTo>
                  <a:pt x="91" y="28"/>
                </a:lnTo>
                <a:lnTo>
                  <a:pt x="91" y="33"/>
                </a:lnTo>
                <a:lnTo>
                  <a:pt x="93" y="38"/>
                </a:lnTo>
                <a:lnTo>
                  <a:pt x="93" y="40"/>
                </a:lnTo>
                <a:lnTo>
                  <a:pt x="93" y="41"/>
                </a:lnTo>
                <a:lnTo>
                  <a:pt x="93" y="43"/>
                </a:lnTo>
                <a:lnTo>
                  <a:pt x="91" y="45"/>
                </a:lnTo>
                <a:lnTo>
                  <a:pt x="96" y="43"/>
                </a:lnTo>
                <a:lnTo>
                  <a:pt x="96" y="41"/>
                </a:lnTo>
                <a:lnTo>
                  <a:pt x="96" y="40"/>
                </a:lnTo>
                <a:lnTo>
                  <a:pt x="96" y="38"/>
                </a:lnTo>
                <a:close/>
                <a:moveTo>
                  <a:pt x="0" y="36"/>
                </a:moveTo>
                <a:lnTo>
                  <a:pt x="0" y="36"/>
                </a:lnTo>
                <a:lnTo>
                  <a:pt x="0" y="38"/>
                </a:lnTo>
                <a:lnTo>
                  <a:pt x="0" y="45"/>
                </a:lnTo>
                <a:lnTo>
                  <a:pt x="2" y="50"/>
                </a:lnTo>
                <a:lnTo>
                  <a:pt x="4" y="55"/>
                </a:lnTo>
                <a:lnTo>
                  <a:pt x="5" y="60"/>
                </a:lnTo>
                <a:lnTo>
                  <a:pt x="9" y="65"/>
                </a:lnTo>
                <a:lnTo>
                  <a:pt x="12" y="69"/>
                </a:lnTo>
                <a:lnTo>
                  <a:pt x="15" y="73"/>
                </a:lnTo>
                <a:lnTo>
                  <a:pt x="18" y="76"/>
                </a:lnTo>
                <a:lnTo>
                  <a:pt x="23" y="74"/>
                </a:lnTo>
                <a:lnTo>
                  <a:pt x="18" y="71"/>
                </a:lnTo>
                <a:lnTo>
                  <a:pt x="15" y="68"/>
                </a:lnTo>
                <a:lnTo>
                  <a:pt x="12" y="65"/>
                </a:lnTo>
                <a:lnTo>
                  <a:pt x="9" y="60"/>
                </a:lnTo>
                <a:lnTo>
                  <a:pt x="7" y="55"/>
                </a:lnTo>
                <a:lnTo>
                  <a:pt x="5" y="50"/>
                </a:lnTo>
                <a:lnTo>
                  <a:pt x="4" y="45"/>
                </a:lnTo>
                <a:lnTo>
                  <a:pt x="4" y="38"/>
                </a:lnTo>
                <a:lnTo>
                  <a:pt x="4" y="36"/>
                </a:lnTo>
                <a:lnTo>
                  <a:pt x="4" y="35"/>
                </a:lnTo>
                <a:lnTo>
                  <a:pt x="0" y="36"/>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79" name="Freeform 2184">
            <a:extLst>
              <a:ext uri="{FF2B5EF4-FFF2-40B4-BE49-F238E27FC236}">
                <a16:creationId xmlns:a16="http://schemas.microsoft.com/office/drawing/2014/main" id="{DCF32235-DA11-98E6-2DF6-58DB7FC1C2AA}"/>
              </a:ext>
            </a:extLst>
          </p:cNvPr>
          <p:cNvSpPr>
            <a:spLocks noEditPoints="1"/>
          </p:cNvSpPr>
          <p:nvPr/>
        </p:nvSpPr>
        <p:spPr bwMode="auto">
          <a:xfrm>
            <a:off x="3446463" y="2543175"/>
            <a:ext cx="147638" cy="117475"/>
          </a:xfrm>
          <a:custGeom>
            <a:avLst/>
            <a:gdLst>
              <a:gd name="T0" fmla="*/ 93 w 93"/>
              <a:gd name="T1" fmla="*/ 36 h 74"/>
              <a:gd name="T2" fmla="*/ 91 w 93"/>
              <a:gd name="T3" fmla="*/ 31 h 74"/>
              <a:gd name="T4" fmla="*/ 91 w 93"/>
              <a:gd name="T5" fmla="*/ 26 h 74"/>
              <a:gd name="T6" fmla="*/ 89 w 93"/>
              <a:gd name="T7" fmla="*/ 19 h 74"/>
              <a:gd name="T8" fmla="*/ 88 w 93"/>
              <a:gd name="T9" fmla="*/ 14 h 74"/>
              <a:gd name="T10" fmla="*/ 84 w 93"/>
              <a:gd name="T11" fmla="*/ 11 h 74"/>
              <a:gd name="T12" fmla="*/ 81 w 93"/>
              <a:gd name="T13" fmla="*/ 6 h 74"/>
              <a:gd name="T14" fmla="*/ 78 w 93"/>
              <a:gd name="T15" fmla="*/ 3 h 74"/>
              <a:gd name="T16" fmla="*/ 74 w 93"/>
              <a:gd name="T17" fmla="*/ 0 h 74"/>
              <a:gd name="T18" fmla="*/ 69 w 93"/>
              <a:gd name="T19" fmla="*/ 1 h 74"/>
              <a:gd name="T20" fmla="*/ 74 w 93"/>
              <a:gd name="T21" fmla="*/ 5 h 74"/>
              <a:gd name="T22" fmla="*/ 78 w 93"/>
              <a:gd name="T23" fmla="*/ 8 h 74"/>
              <a:gd name="T24" fmla="*/ 81 w 93"/>
              <a:gd name="T25" fmla="*/ 11 h 74"/>
              <a:gd name="T26" fmla="*/ 84 w 93"/>
              <a:gd name="T27" fmla="*/ 16 h 74"/>
              <a:gd name="T28" fmla="*/ 86 w 93"/>
              <a:gd name="T29" fmla="*/ 21 h 74"/>
              <a:gd name="T30" fmla="*/ 88 w 93"/>
              <a:gd name="T31" fmla="*/ 26 h 74"/>
              <a:gd name="T32" fmla="*/ 88 w 93"/>
              <a:gd name="T33" fmla="*/ 31 h 74"/>
              <a:gd name="T34" fmla="*/ 89 w 93"/>
              <a:gd name="T35" fmla="*/ 36 h 74"/>
              <a:gd name="T36" fmla="*/ 89 w 93"/>
              <a:gd name="T37" fmla="*/ 38 h 74"/>
              <a:gd name="T38" fmla="*/ 89 w 93"/>
              <a:gd name="T39" fmla="*/ 39 h 74"/>
              <a:gd name="T40" fmla="*/ 89 w 93"/>
              <a:gd name="T41" fmla="*/ 41 h 74"/>
              <a:gd name="T42" fmla="*/ 88 w 93"/>
              <a:gd name="T43" fmla="*/ 43 h 74"/>
              <a:gd name="T44" fmla="*/ 93 w 93"/>
              <a:gd name="T45" fmla="*/ 41 h 74"/>
              <a:gd name="T46" fmla="*/ 93 w 93"/>
              <a:gd name="T47" fmla="*/ 39 h 74"/>
              <a:gd name="T48" fmla="*/ 93 w 93"/>
              <a:gd name="T49" fmla="*/ 38 h 74"/>
              <a:gd name="T50" fmla="*/ 93 w 93"/>
              <a:gd name="T51" fmla="*/ 36 h 74"/>
              <a:gd name="T52" fmla="*/ 0 w 93"/>
              <a:gd name="T53" fmla="*/ 33 h 74"/>
              <a:gd name="T54" fmla="*/ 0 w 93"/>
              <a:gd name="T55" fmla="*/ 33 h 74"/>
              <a:gd name="T56" fmla="*/ 0 w 93"/>
              <a:gd name="T57" fmla="*/ 34 h 74"/>
              <a:gd name="T58" fmla="*/ 0 w 93"/>
              <a:gd name="T59" fmla="*/ 36 h 74"/>
              <a:gd name="T60" fmla="*/ 0 w 93"/>
              <a:gd name="T61" fmla="*/ 43 h 74"/>
              <a:gd name="T62" fmla="*/ 2 w 93"/>
              <a:gd name="T63" fmla="*/ 48 h 74"/>
              <a:gd name="T64" fmla="*/ 3 w 93"/>
              <a:gd name="T65" fmla="*/ 53 h 74"/>
              <a:gd name="T66" fmla="*/ 5 w 93"/>
              <a:gd name="T67" fmla="*/ 58 h 74"/>
              <a:gd name="T68" fmla="*/ 8 w 93"/>
              <a:gd name="T69" fmla="*/ 63 h 74"/>
              <a:gd name="T70" fmla="*/ 12 w 93"/>
              <a:gd name="T71" fmla="*/ 67 h 74"/>
              <a:gd name="T72" fmla="*/ 15 w 93"/>
              <a:gd name="T73" fmla="*/ 71 h 74"/>
              <a:gd name="T74" fmla="*/ 18 w 93"/>
              <a:gd name="T75" fmla="*/ 74 h 74"/>
              <a:gd name="T76" fmla="*/ 23 w 93"/>
              <a:gd name="T77" fmla="*/ 72 h 74"/>
              <a:gd name="T78" fmla="*/ 18 w 93"/>
              <a:gd name="T79" fmla="*/ 69 h 74"/>
              <a:gd name="T80" fmla="*/ 15 w 93"/>
              <a:gd name="T81" fmla="*/ 66 h 74"/>
              <a:gd name="T82" fmla="*/ 12 w 93"/>
              <a:gd name="T83" fmla="*/ 61 h 74"/>
              <a:gd name="T84" fmla="*/ 8 w 93"/>
              <a:gd name="T85" fmla="*/ 58 h 74"/>
              <a:gd name="T86" fmla="*/ 7 w 93"/>
              <a:gd name="T87" fmla="*/ 53 h 74"/>
              <a:gd name="T88" fmla="*/ 5 w 93"/>
              <a:gd name="T89" fmla="*/ 48 h 74"/>
              <a:gd name="T90" fmla="*/ 3 w 93"/>
              <a:gd name="T91" fmla="*/ 43 h 74"/>
              <a:gd name="T92" fmla="*/ 3 w 93"/>
              <a:gd name="T93" fmla="*/ 36 h 74"/>
              <a:gd name="T94" fmla="*/ 3 w 93"/>
              <a:gd name="T95" fmla="*/ 34 h 74"/>
              <a:gd name="T96" fmla="*/ 3 w 93"/>
              <a:gd name="T97" fmla="*/ 33 h 74"/>
              <a:gd name="T98" fmla="*/ 3 w 93"/>
              <a:gd name="T99" fmla="*/ 31 h 74"/>
              <a:gd name="T100" fmla="*/ 0 w 93"/>
              <a:gd name="T101" fmla="*/ 33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3" h="74">
                <a:moveTo>
                  <a:pt x="93" y="36"/>
                </a:moveTo>
                <a:lnTo>
                  <a:pt x="91" y="31"/>
                </a:lnTo>
                <a:lnTo>
                  <a:pt x="91" y="26"/>
                </a:lnTo>
                <a:lnTo>
                  <a:pt x="89" y="19"/>
                </a:lnTo>
                <a:lnTo>
                  <a:pt x="88" y="14"/>
                </a:lnTo>
                <a:lnTo>
                  <a:pt x="84" y="11"/>
                </a:lnTo>
                <a:lnTo>
                  <a:pt x="81" y="6"/>
                </a:lnTo>
                <a:lnTo>
                  <a:pt x="78" y="3"/>
                </a:lnTo>
                <a:lnTo>
                  <a:pt x="74" y="0"/>
                </a:lnTo>
                <a:lnTo>
                  <a:pt x="69" y="1"/>
                </a:lnTo>
                <a:lnTo>
                  <a:pt x="74" y="5"/>
                </a:lnTo>
                <a:lnTo>
                  <a:pt x="78" y="8"/>
                </a:lnTo>
                <a:lnTo>
                  <a:pt x="81" y="11"/>
                </a:lnTo>
                <a:lnTo>
                  <a:pt x="84" y="16"/>
                </a:lnTo>
                <a:lnTo>
                  <a:pt x="86" y="21"/>
                </a:lnTo>
                <a:lnTo>
                  <a:pt x="88" y="26"/>
                </a:lnTo>
                <a:lnTo>
                  <a:pt x="88" y="31"/>
                </a:lnTo>
                <a:lnTo>
                  <a:pt x="89" y="36"/>
                </a:lnTo>
                <a:lnTo>
                  <a:pt x="89" y="38"/>
                </a:lnTo>
                <a:lnTo>
                  <a:pt x="89" y="39"/>
                </a:lnTo>
                <a:lnTo>
                  <a:pt x="89" y="41"/>
                </a:lnTo>
                <a:lnTo>
                  <a:pt x="88" y="43"/>
                </a:lnTo>
                <a:lnTo>
                  <a:pt x="93" y="41"/>
                </a:lnTo>
                <a:lnTo>
                  <a:pt x="93" y="39"/>
                </a:lnTo>
                <a:lnTo>
                  <a:pt x="93" y="38"/>
                </a:lnTo>
                <a:lnTo>
                  <a:pt x="93" y="36"/>
                </a:lnTo>
                <a:close/>
                <a:moveTo>
                  <a:pt x="0" y="33"/>
                </a:moveTo>
                <a:lnTo>
                  <a:pt x="0" y="33"/>
                </a:lnTo>
                <a:lnTo>
                  <a:pt x="0" y="34"/>
                </a:lnTo>
                <a:lnTo>
                  <a:pt x="0" y="36"/>
                </a:lnTo>
                <a:lnTo>
                  <a:pt x="0" y="43"/>
                </a:lnTo>
                <a:lnTo>
                  <a:pt x="2" y="48"/>
                </a:lnTo>
                <a:lnTo>
                  <a:pt x="3" y="53"/>
                </a:lnTo>
                <a:lnTo>
                  <a:pt x="5" y="58"/>
                </a:lnTo>
                <a:lnTo>
                  <a:pt x="8" y="63"/>
                </a:lnTo>
                <a:lnTo>
                  <a:pt x="12" y="67"/>
                </a:lnTo>
                <a:lnTo>
                  <a:pt x="15" y="71"/>
                </a:lnTo>
                <a:lnTo>
                  <a:pt x="18" y="74"/>
                </a:lnTo>
                <a:lnTo>
                  <a:pt x="23" y="72"/>
                </a:lnTo>
                <a:lnTo>
                  <a:pt x="18" y="69"/>
                </a:lnTo>
                <a:lnTo>
                  <a:pt x="15" y="66"/>
                </a:lnTo>
                <a:lnTo>
                  <a:pt x="12" y="61"/>
                </a:lnTo>
                <a:lnTo>
                  <a:pt x="8" y="58"/>
                </a:lnTo>
                <a:lnTo>
                  <a:pt x="7" y="53"/>
                </a:lnTo>
                <a:lnTo>
                  <a:pt x="5" y="48"/>
                </a:lnTo>
                <a:lnTo>
                  <a:pt x="3" y="43"/>
                </a:lnTo>
                <a:lnTo>
                  <a:pt x="3" y="36"/>
                </a:lnTo>
                <a:lnTo>
                  <a:pt x="3" y="34"/>
                </a:lnTo>
                <a:lnTo>
                  <a:pt x="3" y="33"/>
                </a:lnTo>
                <a:lnTo>
                  <a:pt x="3" y="31"/>
                </a:lnTo>
                <a:lnTo>
                  <a:pt x="0" y="33"/>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80" name="Freeform 2185">
            <a:extLst>
              <a:ext uri="{FF2B5EF4-FFF2-40B4-BE49-F238E27FC236}">
                <a16:creationId xmlns:a16="http://schemas.microsoft.com/office/drawing/2014/main" id="{E9D16699-B007-0AEF-8858-23D825E40382}"/>
              </a:ext>
            </a:extLst>
          </p:cNvPr>
          <p:cNvSpPr>
            <a:spLocks noEditPoints="1"/>
          </p:cNvSpPr>
          <p:nvPr/>
        </p:nvSpPr>
        <p:spPr bwMode="auto">
          <a:xfrm>
            <a:off x="3449638" y="2543175"/>
            <a:ext cx="141288" cy="114300"/>
          </a:xfrm>
          <a:custGeom>
            <a:avLst/>
            <a:gdLst>
              <a:gd name="T0" fmla="*/ 89 w 89"/>
              <a:gd name="T1" fmla="*/ 36 h 72"/>
              <a:gd name="T2" fmla="*/ 87 w 89"/>
              <a:gd name="T3" fmla="*/ 31 h 72"/>
              <a:gd name="T4" fmla="*/ 87 w 89"/>
              <a:gd name="T5" fmla="*/ 26 h 72"/>
              <a:gd name="T6" fmla="*/ 86 w 89"/>
              <a:gd name="T7" fmla="*/ 21 h 72"/>
              <a:gd name="T8" fmla="*/ 84 w 89"/>
              <a:gd name="T9" fmla="*/ 16 h 72"/>
              <a:gd name="T10" fmla="*/ 81 w 89"/>
              <a:gd name="T11" fmla="*/ 11 h 72"/>
              <a:gd name="T12" fmla="*/ 77 w 89"/>
              <a:gd name="T13" fmla="*/ 8 h 72"/>
              <a:gd name="T14" fmla="*/ 74 w 89"/>
              <a:gd name="T15" fmla="*/ 3 h 72"/>
              <a:gd name="T16" fmla="*/ 71 w 89"/>
              <a:gd name="T17" fmla="*/ 0 h 72"/>
              <a:gd name="T18" fmla="*/ 66 w 89"/>
              <a:gd name="T19" fmla="*/ 1 h 72"/>
              <a:gd name="T20" fmla="*/ 71 w 89"/>
              <a:gd name="T21" fmla="*/ 5 h 72"/>
              <a:gd name="T22" fmla="*/ 74 w 89"/>
              <a:gd name="T23" fmla="*/ 8 h 72"/>
              <a:gd name="T24" fmla="*/ 77 w 89"/>
              <a:gd name="T25" fmla="*/ 13 h 72"/>
              <a:gd name="T26" fmla="*/ 81 w 89"/>
              <a:gd name="T27" fmla="*/ 16 h 72"/>
              <a:gd name="T28" fmla="*/ 82 w 89"/>
              <a:gd name="T29" fmla="*/ 21 h 72"/>
              <a:gd name="T30" fmla="*/ 84 w 89"/>
              <a:gd name="T31" fmla="*/ 26 h 72"/>
              <a:gd name="T32" fmla="*/ 84 w 89"/>
              <a:gd name="T33" fmla="*/ 31 h 72"/>
              <a:gd name="T34" fmla="*/ 86 w 89"/>
              <a:gd name="T35" fmla="*/ 36 h 72"/>
              <a:gd name="T36" fmla="*/ 86 w 89"/>
              <a:gd name="T37" fmla="*/ 38 h 72"/>
              <a:gd name="T38" fmla="*/ 86 w 89"/>
              <a:gd name="T39" fmla="*/ 39 h 72"/>
              <a:gd name="T40" fmla="*/ 86 w 89"/>
              <a:gd name="T41" fmla="*/ 41 h 72"/>
              <a:gd name="T42" fmla="*/ 84 w 89"/>
              <a:gd name="T43" fmla="*/ 43 h 72"/>
              <a:gd name="T44" fmla="*/ 84 w 89"/>
              <a:gd name="T45" fmla="*/ 44 h 72"/>
              <a:gd name="T46" fmla="*/ 87 w 89"/>
              <a:gd name="T47" fmla="*/ 43 h 72"/>
              <a:gd name="T48" fmla="*/ 89 w 89"/>
              <a:gd name="T49" fmla="*/ 41 h 72"/>
              <a:gd name="T50" fmla="*/ 89 w 89"/>
              <a:gd name="T51" fmla="*/ 39 h 72"/>
              <a:gd name="T52" fmla="*/ 89 w 89"/>
              <a:gd name="T53" fmla="*/ 38 h 72"/>
              <a:gd name="T54" fmla="*/ 89 w 89"/>
              <a:gd name="T55" fmla="*/ 36 h 72"/>
              <a:gd name="T56" fmla="*/ 0 w 89"/>
              <a:gd name="T57" fmla="*/ 33 h 72"/>
              <a:gd name="T58" fmla="*/ 0 w 89"/>
              <a:gd name="T59" fmla="*/ 33 h 72"/>
              <a:gd name="T60" fmla="*/ 0 w 89"/>
              <a:gd name="T61" fmla="*/ 34 h 72"/>
              <a:gd name="T62" fmla="*/ 0 w 89"/>
              <a:gd name="T63" fmla="*/ 36 h 72"/>
              <a:gd name="T64" fmla="*/ 0 w 89"/>
              <a:gd name="T65" fmla="*/ 43 h 72"/>
              <a:gd name="T66" fmla="*/ 1 w 89"/>
              <a:gd name="T67" fmla="*/ 48 h 72"/>
              <a:gd name="T68" fmla="*/ 3 w 89"/>
              <a:gd name="T69" fmla="*/ 53 h 72"/>
              <a:gd name="T70" fmla="*/ 5 w 89"/>
              <a:gd name="T71" fmla="*/ 58 h 72"/>
              <a:gd name="T72" fmla="*/ 8 w 89"/>
              <a:gd name="T73" fmla="*/ 63 h 72"/>
              <a:gd name="T74" fmla="*/ 11 w 89"/>
              <a:gd name="T75" fmla="*/ 66 h 72"/>
              <a:gd name="T76" fmla="*/ 14 w 89"/>
              <a:gd name="T77" fmla="*/ 69 h 72"/>
              <a:gd name="T78" fmla="*/ 19 w 89"/>
              <a:gd name="T79" fmla="*/ 72 h 72"/>
              <a:gd name="T80" fmla="*/ 23 w 89"/>
              <a:gd name="T81" fmla="*/ 71 h 72"/>
              <a:gd name="T82" fmla="*/ 18 w 89"/>
              <a:gd name="T83" fmla="*/ 69 h 72"/>
              <a:gd name="T84" fmla="*/ 14 w 89"/>
              <a:gd name="T85" fmla="*/ 66 h 72"/>
              <a:gd name="T86" fmla="*/ 11 w 89"/>
              <a:gd name="T87" fmla="*/ 61 h 72"/>
              <a:gd name="T88" fmla="*/ 8 w 89"/>
              <a:gd name="T89" fmla="*/ 58 h 72"/>
              <a:gd name="T90" fmla="*/ 6 w 89"/>
              <a:gd name="T91" fmla="*/ 53 h 72"/>
              <a:gd name="T92" fmla="*/ 5 w 89"/>
              <a:gd name="T93" fmla="*/ 48 h 72"/>
              <a:gd name="T94" fmla="*/ 3 w 89"/>
              <a:gd name="T95" fmla="*/ 41 h 72"/>
              <a:gd name="T96" fmla="*/ 3 w 89"/>
              <a:gd name="T97" fmla="*/ 36 h 72"/>
              <a:gd name="T98" fmla="*/ 3 w 89"/>
              <a:gd name="T99" fmla="*/ 34 h 72"/>
              <a:gd name="T100" fmla="*/ 3 w 89"/>
              <a:gd name="T101" fmla="*/ 33 h 72"/>
              <a:gd name="T102" fmla="*/ 3 w 89"/>
              <a:gd name="T103" fmla="*/ 31 h 72"/>
              <a:gd name="T104" fmla="*/ 0 w 89"/>
              <a:gd name="T105" fmla="*/ 33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89" h="72">
                <a:moveTo>
                  <a:pt x="89" y="36"/>
                </a:moveTo>
                <a:lnTo>
                  <a:pt x="87" y="31"/>
                </a:lnTo>
                <a:lnTo>
                  <a:pt x="87" y="26"/>
                </a:lnTo>
                <a:lnTo>
                  <a:pt x="86" y="21"/>
                </a:lnTo>
                <a:lnTo>
                  <a:pt x="84" y="16"/>
                </a:lnTo>
                <a:lnTo>
                  <a:pt x="81" y="11"/>
                </a:lnTo>
                <a:lnTo>
                  <a:pt x="77" y="8"/>
                </a:lnTo>
                <a:lnTo>
                  <a:pt x="74" y="3"/>
                </a:lnTo>
                <a:lnTo>
                  <a:pt x="71" y="0"/>
                </a:lnTo>
                <a:lnTo>
                  <a:pt x="66" y="1"/>
                </a:lnTo>
                <a:lnTo>
                  <a:pt x="71" y="5"/>
                </a:lnTo>
                <a:lnTo>
                  <a:pt x="74" y="8"/>
                </a:lnTo>
                <a:lnTo>
                  <a:pt x="77" y="13"/>
                </a:lnTo>
                <a:lnTo>
                  <a:pt x="81" y="16"/>
                </a:lnTo>
                <a:lnTo>
                  <a:pt x="82" y="21"/>
                </a:lnTo>
                <a:lnTo>
                  <a:pt x="84" y="26"/>
                </a:lnTo>
                <a:lnTo>
                  <a:pt x="84" y="31"/>
                </a:lnTo>
                <a:lnTo>
                  <a:pt x="86" y="36"/>
                </a:lnTo>
                <a:lnTo>
                  <a:pt x="86" y="38"/>
                </a:lnTo>
                <a:lnTo>
                  <a:pt x="86" y="39"/>
                </a:lnTo>
                <a:lnTo>
                  <a:pt x="86" y="41"/>
                </a:lnTo>
                <a:lnTo>
                  <a:pt x="84" y="43"/>
                </a:lnTo>
                <a:lnTo>
                  <a:pt x="84" y="44"/>
                </a:lnTo>
                <a:lnTo>
                  <a:pt x="87" y="43"/>
                </a:lnTo>
                <a:lnTo>
                  <a:pt x="89" y="41"/>
                </a:lnTo>
                <a:lnTo>
                  <a:pt x="89" y="39"/>
                </a:lnTo>
                <a:lnTo>
                  <a:pt x="89" y="38"/>
                </a:lnTo>
                <a:lnTo>
                  <a:pt x="89" y="36"/>
                </a:lnTo>
                <a:close/>
                <a:moveTo>
                  <a:pt x="0" y="33"/>
                </a:moveTo>
                <a:lnTo>
                  <a:pt x="0" y="33"/>
                </a:lnTo>
                <a:lnTo>
                  <a:pt x="0" y="34"/>
                </a:lnTo>
                <a:lnTo>
                  <a:pt x="0" y="36"/>
                </a:lnTo>
                <a:lnTo>
                  <a:pt x="0" y="43"/>
                </a:lnTo>
                <a:lnTo>
                  <a:pt x="1" y="48"/>
                </a:lnTo>
                <a:lnTo>
                  <a:pt x="3" y="53"/>
                </a:lnTo>
                <a:lnTo>
                  <a:pt x="5" y="58"/>
                </a:lnTo>
                <a:lnTo>
                  <a:pt x="8" y="63"/>
                </a:lnTo>
                <a:lnTo>
                  <a:pt x="11" y="66"/>
                </a:lnTo>
                <a:lnTo>
                  <a:pt x="14" y="69"/>
                </a:lnTo>
                <a:lnTo>
                  <a:pt x="19" y="72"/>
                </a:lnTo>
                <a:lnTo>
                  <a:pt x="23" y="71"/>
                </a:lnTo>
                <a:lnTo>
                  <a:pt x="18" y="69"/>
                </a:lnTo>
                <a:lnTo>
                  <a:pt x="14" y="66"/>
                </a:lnTo>
                <a:lnTo>
                  <a:pt x="11" y="61"/>
                </a:lnTo>
                <a:lnTo>
                  <a:pt x="8" y="58"/>
                </a:lnTo>
                <a:lnTo>
                  <a:pt x="6" y="53"/>
                </a:lnTo>
                <a:lnTo>
                  <a:pt x="5" y="48"/>
                </a:lnTo>
                <a:lnTo>
                  <a:pt x="3" y="41"/>
                </a:lnTo>
                <a:lnTo>
                  <a:pt x="3" y="36"/>
                </a:lnTo>
                <a:lnTo>
                  <a:pt x="3" y="34"/>
                </a:lnTo>
                <a:lnTo>
                  <a:pt x="3" y="33"/>
                </a:lnTo>
                <a:lnTo>
                  <a:pt x="3" y="31"/>
                </a:lnTo>
                <a:lnTo>
                  <a:pt x="0" y="33"/>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81" name="Freeform 2186">
            <a:extLst>
              <a:ext uri="{FF2B5EF4-FFF2-40B4-BE49-F238E27FC236}">
                <a16:creationId xmlns:a16="http://schemas.microsoft.com/office/drawing/2014/main" id="{1E617AB9-C990-C650-1815-6F67490C103E}"/>
              </a:ext>
            </a:extLst>
          </p:cNvPr>
          <p:cNvSpPr>
            <a:spLocks noEditPoints="1"/>
          </p:cNvSpPr>
          <p:nvPr/>
        </p:nvSpPr>
        <p:spPr bwMode="auto">
          <a:xfrm>
            <a:off x="3451225" y="2544763"/>
            <a:ext cx="136525" cy="112713"/>
          </a:xfrm>
          <a:custGeom>
            <a:avLst/>
            <a:gdLst>
              <a:gd name="T0" fmla="*/ 86 w 86"/>
              <a:gd name="T1" fmla="*/ 35 h 71"/>
              <a:gd name="T2" fmla="*/ 85 w 86"/>
              <a:gd name="T3" fmla="*/ 30 h 71"/>
              <a:gd name="T4" fmla="*/ 85 w 86"/>
              <a:gd name="T5" fmla="*/ 25 h 71"/>
              <a:gd name="T6" fmla="*/ 83 w 86"/>
              <a:gd name="T7" fmla="*/ 20 h 71"/>
              <a:gd name="T8" fmla="*/ 81 w 86"/>
              <a:gd name="T9" fmla="*/ 15 h 71"/>
              <a:gd name="T10" fmla="*/ 78 w 86"/>
              <a:gd name="T11" fmla="*/ 10 h 71"/>
              <a:gd name="T12" fmla="*/ 75 w 86"/>
              <a:gd name="T13" fmla="*/ 7 h 71"/>
              <a:gd name="T14" fmla="*/ 71 w 86"/>
              <a:gd name="T15" fmla="*/ 4 h 71"/>
              <a:gd name="T16" fmla="*/ 66 w 86"/>
              <a:gd name="T17" fmla="*/ 0 h 71"/>
              <a:gd name="T18" fmla="*/ 63 w 86"/>
              <a:gd name="T19" fmla="*/ 2 h 71"/>
              <a:gd name="T20" fmla="*/ 68 w 86"/>
              <a:gd name="T21" fmla="*/ 4 h 71"/>
              <a:gd name="T22" fmla="*/ 71 w 86"/>
              <a:gd name="T23" fmla="*/ 9 h 71"/>
              <a:gd name="T24" fmla="*/ 75 w 86"/>
              <a:gd name="T25" fmla="*/ 12 h 71"/>
              <a:gd name="T26" fmla="*/ 78 w 86"/>
              <a:gd name="T27" fmla="*/ 15 h 71"/>
              <a:gd name="T28" fmla="*/ 80 w 86"/>
              <a:gd name="T29" fmla="*/ 20 h 71"/>
              <a:gd name="T30" fmla="*/ 81 w 86"/>
              <a:gd name="T31" fmla="*/ 25 h 71"/>
              <a:gd name="T32" fmla="*/ 81 w 86"/>
              <a:gd name="T33" fmla="*/ 30 h 71"/>
              <a:gd name="T34" fmla="*/ 83 w 86"/>
              <a:gd name="T35" fmla="*/ 35 h 71"/>
              <a:gd name="T36" fmla="*/ 83 w 86"/>
              <a:gd name="T37" fmla="*/ 37 h 71"/>
              <a:gd name="T38" fmla="*/ 83 w 86"/>
              <a:gd name="T39" fmla="*/ 38 h 71"/>
              <a:gd name="T40" fmla="*/ 83 w 86"/>
              <a:gd name="T41" fmla="*/ 40 h 71"/>
              <a:gd name="T42" fmla="*/ 81 w 86"/>
              <a:gd name="T43" fmla="*/ 40 h 71"/>
              <a:gd name="T44" fmla="*/ 81 w 86"/>
              <a:gd name="T45" fmla="*/ 42 h 71"/>
              <a:gd name="T46" fmla="*/ 81 w 86"/>
              <a:gd name="T47" fmla="*/ 43 h 71"/>
              <a:gd name="T48" fmla="*/ 85 w 86"/>
              <a:gd name="T49" fmla="*/ 42 h 71"/>
              <a:gd name="T50" fmla="*/ 86 w 86"/>
              <a:gd name="T51" fmla="*/ 40 h 71"/>
              <a:gd name="T52" fmla="*/ 86 w 86"/>
              <a:gd name="T53" fmla="*/ 38 h 71"/>
              <a:gd name="T54" fmla="*/ 86 w 86"/>
              <a:gd name="T55" fmla="*/ 37 h 71"/>
              <a:gd name="T56" fmla="*/ 86 w 86"/>
              <a:gd name="T57" fmla="*/ 35 h 71"/>
              <a:gd name="T58" fmla="*/ 0 w 86"/>
              <a:gd name="T59" fmla="*/ 30 h 71"/>
              <a:gd name="T60" fmla="*/ 0 w 86"/>
              <a:gd name="T61" fmla="*/ 32 h 71"/>
              <a:gd name="T62" fmla="*/ 0 w 86"/>
              <a:gd name="T63" fmla="*/ 33 h 71"/>
              <a:gd name="T64" fmla="*/ 0 w 86"/>
              <a:gd name="T65" fmla="*/ 35 h 71"/>
              <a:gd name="T66" fmla="*/ 0 w 86"/>
              <a:gd name="T67" fmla="*/ 42 h 71"/>
              <a:gd name="T68" fmla="*/ 2 w 86"/>
              <a:gd name="T69" fmla="*/ 47 h 71"/>
              <a:gd name="T70" fmla="*/ 4 w 86"/>
              <a:gd name="T71" fmla="*/ 52 h 71"/>
              <a:gd name="T72" fmla="*/ 5 w 86"/>
              <a:gd name="T73" fmla="*/ 57 h 71"/>
              <a:gd name="T74" fmla="*/ 9 w 86"/>
              <a:gd name="T75" fmla="*/ 60 h 71"/>
              <a:gd name="T76" fmla="*/ 12 w 86"/>
              <a:gd name="T77" fmla="*/ 65 h 71"/>
              <a:gd name="T78" fmla="*/ 15 w 86"/>
              <a:gd name="T79" fmla="*/ 68 h 71"/>
              <a:gd name="T80" fmla="*/ 20 w 86"/>
              <a:gd name="T81" fmla="*/ 71 h 71"/>
              <a:gd name="T82" fmla="*/ 23 w 86"/>
              <a:gd name="T83" fmla="*/ 70 h 71"/>
              <a:gd name="T84" fmla="*/ 18 w 86"/>
              <a:gd name="T85" fmla="*/ 66 h 71"/>
              <a:gd name="T86" fmla="*/ 15 w 86"/>
              <a:gd name="T87" fmla="*/ 63 h 71"/>
              <a:gd name="T88" fmla="*/ 12 w 86"/>
              <a:gd name="T89" fmla="*/ 60 h 71"/>
              <a:gd name="T90" fmla="*/ 9 w 86"/>
              <a:gd name="T91" fmla="*/ 55 h 71"/>
              <a:gd name="T92" fmla="*/ 7 w 86"/>
              <a:gd name="T93" fmla="*/ 52 h 71"/>
              <a:gd name="T94" fmla="*/ 5 w 86"/>
              <a:gd name="T95" fmla="*/ 47 h 71"/>
              <a:gd name="T96" fmla="*/ 4 w 86"/>
              <a:gd name="T97" fmla="*/ 40 h 71"/>
              <a:gd name="T98" fmla="*/ 4 w 86"/>
              <a:gd name="T99" fmla="*/ 35 h 71"/>
              <a:gd name="T100" fmla="*/ 4 w 86"/>
              <a:gd name="T101" fmla="*/ 33 h 71"/>
              <a:gd name="T102" fmla="*/ 4 w 86"/>
              <a:gd name="T103" fmla="*/ 32 h 71"/>
              <a:gd name="T104" fmla="*/ 4 w 86"/>
              <a:gd name="T105" fmla="*/ 30 h 71"/>
              <a:gd name="T106" fmla="*/ 4 w 86"/>
              <a:gd name="T107" fmla="*/ 28 h 71"/>
              <a:gd name="T108" fmla="*/ 0 w 86"/>
              <a:gd name="T109" fmla="*/ 30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6" h="71">
                <a:moveTo>
                  <a:pt x="86" y="35"/>
                </a:moveTo>
                <a:lnTo>
                  <a:pt x="85" y="30"/>
                </a:lnTo>
                <a:lnTo>
                  <a:pt x="85" y="25"/>
                </a:lnTo>
                <a:lnTo>
                  <a:pt x="83" y="20"/>
                </a:lnTo>
                <a:lnTo>
                  <a:pt x="81" y="15"/>
                </a:lnTo>
                <a:lnTo>
                  <a:pt x="78" y="10"/>
                </a:lnTo>
                <a:lnTo>
                  <a:pt x="75" y="7"/>
                </a:lnTo>
                <a:lnTo>
                  <a:pt x="71" y="4"/>
                </a:lnTo>
                <a:lnTo>
                  <a:pt x="66" y="0"/>
                </a:lnTo>
                <a:lnTo>
                  <a:pt x="63" y="2"/>
                </a:lnTo>
                <a:lnTo>
                  <a:pt x="68" y="4"/>
                </a:lnTo>
                <a:lnTo>
                  <a:pt x="71" y="9"/>
                </a:lnTo>
                <a:lnTo>
                  <a:pt x="75" y="12"/>
                </a:lnTo>
                <a:lnTo>
                  <a:pt x="78" y="15"/>
                </a:lnTo>
                <a:lnTo>
                  <a:pt x="80" y="20"/>
                </a:lnTo>
                <a:lnTo>
                  <a:pt x="81" y="25"/>
                </a:lnTo>
                <a:lnTo>
                  <a:pt x="81" y="30"/>
                </a:lnTo>
                <a:lnTo>
                  <a:pt x="83" y="35"/>
                </a:lnTo>
                <a:lnTo>
                  <a:pt x="83" y="37"/>
                </a:lnTo>
                <a:lnTo>
                  <a:pt x="83" y="38"/>
                </a:lnTo>
                <a:lnTo>
                  <a:pt x="83" y="40"/>
                </a:lnTo>
                <a:lnTo>
                  <a:pt x="81" y="40"/>
                </a:lnTo>
                <a:lnTo>
                  <a:pt x="81" y="42"/>
                </a:lnTo>
                <a:lnTo>
                  <a:pt x="81" y="43"/>
                </a:lnTo>
                <a:lnTo>
                  <a:pt x="85" y="42"/>
                </a:lnTo>
                <a:lnTo>
                  <a:pt x="86" y="40"/>
                </a:lnTo>
                <a:lnTo>
                  <a:pt x="86" y="38"/>
                </a:lnTo>
                <a:lnTo>
                  <a:pt x="86" y="37"/>
                </a:lnTo>
                <a:lnTo>
                  <a:pt x="86" y="35"/>
                </a:lnTo>
                <a:close/>
                <a:moveTo>
                  <a:pt x="0" y="30"/>
                </a:moveTo>
                <a:lnTo>
                  <a:pt x="0" y="32"/>
                </a:lnTo>
                <a:lnTo>
                  <a:pt x="0" y="33"/>
                </a:lnTo>
                <a:lnTo>
                  <a:pt x="0" y="35"/>
                </a:lnTo>
                <a:lnTo>
                  <a:pt x="0" y="42"/>
                </a:lnTo>
                <a:lnTo>
                  <a:pt x="2" y="47"/>
                </a:lnTo>
                <a:lnTo>
                  <a:pt x="4" y="52"/>
                </a:lnTo>
                <a:lnTo>
                  <a:pt x="5" y="57"/>
                </a:lnTo>
                <a:lnTo>
                  <a:pt x="9" y="60"/>
                </a:lnTo>
                <a:lnTo>
                  <a:pt x="12" y="65"/>
                </a:lnTo>
                <a:lnTo>
                  <a:pt x="15" y="68"/>
                </a:lnTo>
                <a:lnTo>
                  <a:pt x="20" y="71"/>
                </a:lnTo>
                <a:lnTo>
                  <a:pt x="23" y="70"/>
                </a:lnTo>
                <a:lnTo>
                  <a:pt x="18" y="66"/>
                </a:lnTo>
                <a:lnTo>
                  <a:pt x="15" y="63"/>
                </a:lnTo>
                <a:lnTo>
                  <a:pt x="12" y="60"/>
                </a:lnTo>
                <a:lnTo>
                  <a:pt x="9" y="55"/>
                </a:lnTo>
                <a:lnTo>
                  <a:pt x="7" y="52"/>
                </a:lnTo>
                <a:lnTo>
                  <a:pt x="5" y="47"/>
                </a:lnTo>
                <a:lnTo>
                  <a:pt x="4" y="40"/>
                </a:lnTo>
                <a:lnTo>
                  <a:pt x="4" y="35"/>
                </a:lnTo>
                <a:lnTo>
                  <a:pt x="4" y="33"/>
                </a:lnTo>
                <a:lnTo>
                  <a:pt x="4" y="32"/>
                </a:lnTo>
                <a:lnTo>
                  <a:pt x="4" y="30"/>
                </a:lnTo>
                <a:lnTo>
                  <a:pt x="4" y="28"/>
                </a:lnTo>
                <a:lnTo>
                  <a:pt x="0" y="3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82" name="Freeform 2187">
            <a:extLst>
              <a:ext uri="{FF2B5EF4-FFF2-40B4-BE49-F238E27FC236}">
                <a16:creationId xmlns:a16="http://schemas.microsoft.com/office/drawing/2014/main" id="{377EF629-E113-08AE-D575-E93789CEA50A}"/>
              </a:ext>
            </a:extLst>
          </p:cNvPr>
          <p:cNvSpPr>
            <a:spLocks noEditPoints="1"/>
          </p:cNvSpPr>
          <p:nvPr/>
        </p:nvSpPr>
        <p:spPr bwMode="auto">
          <a:xfrm>
            <a:off x="3454400" y="2544763"/>
            <a:ext cx="131763" cy="111125"/>
          </a:xfrm>
          <a:custGeom>
            <a:avLst/>
            <a:gdLst>
              <a:gd name="T0" fmla="*/ 83 w 83"/>
              <a:gd name="T1" fmla="*/ 35 h 70"/>
              <a:gd name="T2" fmla="*/ 81 w 83"/>
              <a:gd name="T3" fmla="*/ 30 h 70"/>
              <a:gd name="T4" fmla="*/ 81 w 83"/>
              <a:gd name="T5" fmla="*/ 25 h 70"/>
              <a:gd name="T6" fmla="*/ 79 w 83"/>
              <a:gd name="T7" fmla="*/ 20 h 70"/>
              <a:gd name="T8" fmla="*/ 78 w 83"/>
              <a:gd name="T9" fmla="*/ 15 h 70"/>
              <a:gd name="T10" fmla="*/ 74 w 83"/>
              <a:gd name="T11" fmla="*/ 12 h 70"/>
              <a:gd name="T12" fmla="*/ 71 w 83"/>
              <a:gd name="T13" fmla="*/ 7 h 70"/>
              <a:gd name="T14" fmla="*/ 68 w 83"/>
              <a:gd name="T15" fmla="*/ 4 h 70"/>
              <a:gd name="T16" fmla="*/ 63 w 83"/>
              <a:gd name="T17" fmla="*/ 0 h 70"/>
              <a:gd name="T18" fmla="*/ 60 w 83"/>
              <a:gd name="T19" fmla="*/ 2 h 70"/>
              <a:gd name="T20" fmla="*/ 64 w 83"/>
              <a:gd name="T21" fmla="*/ 5 h 70"/>
              <a:gd name="T22" fmla="*/ 68 w 83"/>
              <a:gd name="T23" fmla="*/ 9 h 70"/>
              <a:gd name="T24" fmla="*/ 71 w 83"/>
              <a:gd name="T25" fmla="*/ 12 h 70"/>
              <a:gd name="T26" fmla="*/ 74 w 83"/>
              <a:gd name="T27" fmla="*/ 17 h 70"/>
              <a:gd name="T28" fmla="*/ 76 w 83"/>
              <a:gd name="T29" fmla="*/ 20 h 70"/>
              <a:gd name="T30" fmla="*/ 78 w 83"/>
              <a:gd name="T31" fmla="*/ 25 h 70"/>
              <a:gd name="T32" fmla="*/ 78 w 83"/>
              <a:gd name="T33" fmla="*/ 30 h 70"/>
              <a:gd name="T34" fmla="*/ 79 w 83"/>
              <a:gd name="T35" fmla="*/ 35 h 70"/>
              <a:gd name="T36" fmla="*/ 79 w 83"/>
              <a:gd name="T37" fmla="*/ 37 h 70"/>
              <a:gd name="T38" fmla="*/ 79 w 83"/>
              <a:gd name="T39" fmla="*/ 38 h 70"/>
              <a:gd name="T40" fmla="*/ 79 w 83"/>
              <a:gd name="T41" fmla="*/ 40 h 70"/>
              <a:gd name="T42" fmla="*/ 78 w 83"/>
              <a:gd name="T43" fmla="*/ 42 h 70"/>
              <a:gd name="T44" fmla="*/ 78 w 83"/>
              <a:gd name="T45" fmla="*/ 43 h 70"/>
              <a:gd name="T46" fmla="*/ 78 w 83"/>
              <a:gd name="T47" fmla="*/ 45 h 70"/>
              <a:gd name="T48" fmla="*/ 81 w 83"/>
              <a:gd name="T49" fmla="*/ 43 h 70"/>
              <a:gd name="T50" fmla="*/ 81 w 83"/>
              <a:gd name="T51" fmla="*/ 42 h 70"/>
              <a:gd name="T52" fmla="*/ 83 w 83"/>
              <a:gd name="T53" fmla="*/ 40 h 70"/>
              <a:gd name="T54" fmla="*/ 83 w 83"/>
              <a:gd name="T55" fmla="*/ 38 h 70"/>
              <a:gd name="T56" fmla="*/ 83 w 83"/>
              <a:gd name="T57" fmla="*/ 37 h 70"/>
              <a:gd name="T58" fmla="*/ 83 w 83"/>
              <a:gd name="T59" fmla="*/ 35 h 70"/>
              <a:gd name="T60" fmla="*/ 0 w 83"/>
              <a:gd name="T61" fmla="*/ 30 h 70"/>
              <a:gd name="T62" fmla="*/ 0 w 83"/>
              <a:gd name="T63" fmla="*/ 30 h 70"/>
              <a:gd name="T64" fmla="*/ 0 w 83"/>
              <a:gd name="T65" fmla="*/ 32 h 70"/>
              <a:gd name="T66" fmla="*/ 0 w 83"/>
              <a:gd name="T67" fmla="*/ 33 h 70"/>
              <a:gd name="T68" fmla="*/ 0 w 83"/>
              <a:gd name="T69" fmla="*/ 35 h 70"/>
              <a:gd name="T70" fmla="*/ 0 w 83"/>
              <a:gd name="T71" fmla="*/ 40 h 70"/>
              <a:gd name="T72" fmla="*/ 2 w 83"/>
              <a:gd name="T73" fmla="*/ 47 h 70"/>
              <a:gd name="T74" fmla="*/ 3 w 83"/>
              <a:gd name="T75" fmla="*/ 52 h 70"/>
              <a:gd name="T76" fmla="*/ 5 w 83"/>
              <a:gd name="T77" fmla="*/ 57 h 70"/>
              <a:gd name="T78" fmla="*/ 8 w 83"/>
              <a:gd name="T79" fmla="*/ 60 h 70"/>
              <a:gd name="T80" fmla="*/ 11 w 83"/>
              <a:gd name="T81" fmla="*/ 65 h 70"/>
              <a:gd name="T82" fmla="*/ 15 w 83"/>
              <a:gd name="T83" fmla="*/ 68 h 70"/>
              <a:gd name="T84" fmla="*/ 20 w 83"/>
              <a:gd name="T85" fmla="*/ 70 h 70"/>
              <a:gd name="T86" fmla="*/ 23 w 83"/>
              <a:gd name="T87" fmla="*/ 68 h 70"/>
              <a:gd name="T88" fmla="*/ 18 w 83"/>
              <a:gd name="T89" fmla="*/ 66 h 70"/>
              <a:gd name="T90" fmla="*/ 15 w 83"/>
              <a:gd name="T91" fmla="*/ 63 h 70"/>
              <a:gd name="T92" fmla="*/ 11 w 83"/>
              <a:gd name="T93" fmla="*/ 60 h 70"/>
              <a:gd name="T94" fmla="*/ 8 w 83"/>
              <a:gd name="T95" fmla="*/ 55 h 70"/>
              <a:gd name="T96" fmla="*/ 7 w 83"/>
              <a:gd name="T97" fmla="*/ 50 h 70"/>
              <a:gd name="T98" fmla="*/ 5 w 83"/>
              <a:gd name="T99" fmla="*/ 45 h 70"/>
              <a:gd name="T100" fmla="*/ 3 w 83"/>
              <a:gd name="T101" fmla="*/ 40 h 70"/>
              <a:gd name="T102" fmla="*/ 3 w 83"/>
              <a:gd name="T103" fmla="*/ 35 h 70"/>
              <a:gd name="T104" fmla="*/ 3 w 83"/>
              <a:gd name="T105" fmla="*/ 33 h 70"/>
              <a:gd name="T106" fmla="*/ 3 w 83"/>
              <a:gd name="T107" fmla="*/ 32 h 70"/>
              <a:gd name="T108" fmla="*/ 3 w 83"/>
              <a:gd name="T109" fmla="*/ 30 h 70"/>
              <a:gd name="T110" fmla="*/ 3 w 83"/>
              <a:gd name="T111" fmla="*/ 28 h 70"/>
              <a:gd name="T112" fmla="*/ 0 w 83"/>
              <a:gd name="T113" fmla="*/ 3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83" h="70">
                <a:moveTo>
                  <a:pt x="83" y="35"/>
                </a:moveTo>
                <a:lnTo>
                  <a:pt x="81" y="30"/>
                </a:lnTo>
                <a:lnTo>
                  <a:pt x="81" y="25"/>
                </a:lnTo>
                <a:lnTo>
                  <a:pt x="79" y="20"/>
                </a:lnTo>
                <a:lnTo>
                  <a:pt x="78" y="15"/>
                </a:lnTo>
                <a:lnTo>
                  <a:pt x="74" y="12"/>
                </a:lnTo>
                <a:lnTo>
                  <a:pt x="71" y="7"/>
                </a:lnTo>
                <a:lnTo>
                  <a:pt x="68" y="4"/>
                </a:lnTo>
                <a:lnTo>
                  <a:pt x="63" y="0"/>
                </a:lnTo>
                <a:lnTo>
                  <a:pt x="60" y="2"/>
                </a:lnTo>
                <a:lnTo>
                  <a:pt x="64" y="5"/>
                </a:lnTo>
                <a:lnTo>
                  <a:pt x="68" y="9"/>
                </a:lnTo>
                <a:lnTo>
                  <a:pt x="71" y="12"/>
                </a:lnTo>
                <a:lnTo>
                  <a:pt x="74" y="17"/>
                </a:lnTo>
                <a:lnTo>
                  <a:pt x="76" y="20"/>
                </a:lnTo>
                <a:lnTo>
                  <a:pt x="78" y="25"/>
                </a:lnTo>
                <a:lnTo>
                  <a:pt x="78" y="30"/>
                </a:lnTo>
                <a:lnTo>
                  <a:pt x="79" y="35"/>
                </a:lnTo>
                <a:lnTo>
                  <a:pt x="79" y="37"/>
                </a:lnTo>
                <a:lnTo>
                  <a:pt x="79" y="38"/>
                </a:lnTo>
                <a:lnTo>
                  <a:pt x="79" y="40"/>
                </a:lnTo>
                <a:lnTo>
                  <a:pt x="78" y="42"/>
                </a:lnTo>
                <a:lnTo>
                  <a:pt x="78" y="43"/>
                </a:lnTo>
                <a:lnTo>
                  <a:pt x="78" y="45"/>
                </a:lnTo>
                <a:lnTo>
                  <a:pt x="81" y="43"/>
                </a:lnTo>
                <a:lnTo>
                  <a:pt x="81" y="42"/>
                </a:lnTo>
                <a:lnTo>
                  <a:pt x="83" y="40"/>
                </a:lnTo>
                <a:lnTo>
                  <a:pt x="83" y="38"/>
                </a:lnTo>
                <a:lnTo>
                  <a:pt x="83" y="37"/>
                </a:lnTo>
                <a:lnTo>
                  <a:pt x="83" y="35"/>
                </a:lnTo>
                <a:close/>
                <a:moveTo>
                  <a:pt x="0" y="30"/>
                </a:moveTo>
                <a:lnTo>
                  <a:pt x="0" y="30"/>
                </a:lnTo>
                <a:lnTo>
                  <a:pt x="0" y="32"/>
                </a:lnTo>
                <a:lnTo>
                  <a:pt x="0" y="33"/>
                </a:lnTo>
                <a:lnTo>
                  <a:pt x="0" y="35"/>
                </a:lnTo>
                <a:lnTo>
                  <a:pt x="0" y="40"/>
                </a:lnTo>
                <a:lnTo>
                  <a:pt x="2" y="47"/>
                </a:lnTo>
                <a:lnTo>
                  <a:pt x="3" y="52"/>
                </a:lnTo>
                <a:lnTo>
                  <a:pt x="5" y="57"/>
                </a:lnTo>
                <a:lnTo>
                  <a:pt x="8" y="60"/>
                </a:lnTo>
                <a:lnTo>
                  <a:pt x="11" y="65"/>
                </a:lnTo>
                <a:lnTo>
                  <a:pt x="15" y="68"/>
                </a:lnTo>
                <a:lnTo>
                  <a:pt x="20" y="70"/>
                </a:lnTo>
                <a:lnTo>
                  <a:pt x="23" y="68"/>
                </a:lnTo>
                <a:lnTo>
                  <a:pt x="18" y="66"/>
                </a:lnTo>
                <a:lnTo>
                  <a:pt x="15" y="63"/>
                </a:lnTo>
                <a:lnTo>
                  <a:pt x="11" y="60"/>
                </a:lnTo>
                <a:lnTo>
                  <a:pt x="8" y="55"/>
                </a:lnTo>
                <a:lnTo>
                  <a:pt x="7" y="50"/>
                </a:lnTo>
                <a:lnTo>
                  <a:pt x="5" y="45"/>
                </a:lnTo>
                <a:lnTo>
                  <a:pt x="3" y="40"/>
                </a:lnTo>
                <a:lnTo>
                  <a:pt x="3" y="35"/>
                </a:lnTo>
                <a:lnTo>
                  <a:pt x="3" y="33"/>
                </a:lnTo>
                <a:lnTo>
                  <a:pt x="3" y="32"/>
                </a:lnTo>
                <a:lnTo>
                  <a:pt x="3" y="30"/>
                </a:lnTo>
                <a:lnTo>
                  <a:pt x="3" y="28"/>
                </a:lnTo>
                <a:lnTo>
                  <a:pt x="0" y="3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83" name="Freeform 2188">
            <a:extLst>
              <a:ext uri="{FF2B5EF4-FFF2-40B4-BE49-F238E27FC236}">
                <a16:creationId xmlns:a16="http://schemas.microsoft.com/office/drawing/2014/main" id="{B5E7AA2A-E763-DCB1-FDB7-46D21D1BA9BC}"/>
              </a:ext>
            </a:extLst>
          </p:cNvPr>
          <p:cNvSpPr>
            <a:spLocks noEditPoints="1"/>
          </p:cNvSpPr>
          <p:nvPr/>
        </p:nvSpPr>
        <p:spPr bwMode="auto">
          <a:xfrm>
            <a:off x="3457575" y="2547938"/>
            <a:ext cx="125413" cy="107950"/>
          </a:xfrm>
          <a:custGeom>
            <a:avLst/>
            <a:gdLst>
              <a:gd name="T0" fmla="*/ 79 w 79"/>
              <a:gd name="T1" fmla="*/ 33 h 68"/>
              <a:gd name="T2" fmla="*/ 77 w 79"/>
              <a:gd name="T3" fmla="*/ 28 h 68"/>
              <a:gd name="T4" fmla="*/ 77 w 79"/>
              <a:gd name="T5" fmla="*/ 23 h 68"/>
              <a:gd name="T6" fmla="*/ 76 w 79"/>
              <a:gd name="T7" fmla="*/ 18 h 68"/>
              <a:gd name="T8" fmla="*/ 74 w 79"/>
              <a:gd name="T9" fmla="*/ 13 h 68"/>
              <a:gd name="T10" fmla="*/ 71 w 79"/>
              <a:gd name="T11" fmla="*/ 10 h 68"/>
              <a:gd name="T12" fmla="*/ 67 w 79"/>
              <a:gd name="T13" fmla="*/ 7 h 68"/>
              <a:gd name="T14" fmla="*/ 64 w 79"/>
              <a:gd name="T15" fmla="*/ 2 h 68"/>
              <a:gd name="T16" fmla="*/ 59 w 79"/>
              <a:gd name="T17" fmla="*/ 0 h 68"/>
              <a:gd name="T18" fmla="*/ 56 w 79"/>
              <a:gd name="T19" fmla="*/ 2 h 68"/>
              <a:gd name="T20" fmla="*/ 61 w 79"/>
              <a:gd name="T21" fmla="*/ 3 h 68"/>
              <a:gd name="T22" fmla="*/ 64 w 79"/>
              <a:gd name="T23" fmla="*/ 7 h 68"/>
              <a:gd name="T24" fmla="*/ 67 w 79"/>
              <a:gd name="T25" fmla="*/ 10 h 68"/>
              <a:gd name="T26" fmla="*/ 69 w 79"/>
              <a:gd name="T27" fmla="*/ 15 h 68"/>
              <a:gd name="T28" fmla="*/ 72 w 79"/>
              <a:gd name="T29" fmla="*/ 18 h 68"/>
              <a:gd name="T30" fmla="*/ 74 w 79"/>
              <a:gd name="T31" fmla="*/ 23 h 68"/>
              <a:gd name="T32" fmla="*/ 74 w 79"/>
              <a:gd name="T33" fmla="*/ 28 h 68"/>
              <a:gd name="T34" fmla="*/ 76 w 79"/>
              <a:gd name="T35" fmla="*/ 33 h 68"/>
              <a:gd name="T36" fmla="*/ 76 w 79"/>
              <a:gd name="T37" fmla="*/ 35 h 68"/>
              <a:gd name="T38" fmla="*/ 76 w 79"/>
              <a:gd name="T39" fmla="*/ 36 h 68"/>
              <a:gd name="T40" fmla="*/ 74 w 79"/>
              <a:gd name="T41" fmla="*/ 38 h 68"/>
              <a:gd name="T42" fmla="*/ 74 w 79"/>
              <a:gd name="T43" fmla="*/ 40 h 68"/>
              <a:gd name="T44" fmla="*/ 74 w 79"/>
              <a:gd name="T45" fmla="*/ 41 h 68"/>
              <a:gd name="T46" fmla="*/ 74 w 79"/>
              <a:gd name="T47" fmla="*/ 43 h 68"/>
              <a:gd name="T48" fmla="*/ 77 w 79"/>
              <a:gd name="T49" fmla="*/ 41 h 68"/>
              <a:gd name="T50" fmla="*/ 77 w 79"/>
              <a:gd name="T51" fmla="*/ 40 h 68"/>
              <a:gd name="T52" fmla="*/ 77 w 79"/>
              <a:gd name="T53" fmla="*/ 38 h 68"/>
              <a:gd name="T54" fmla="*/ 79 w 79"/>
              <a:gd name="T55" fmla="*/ 38 h 68"/>
              <a:gd name="T56" fmla="*/ 79 w 79"/>
              <a:gd name="T57" fmla="*/ 36 h 68"/>
              <a:gd name="T58" fmla="*/ 79 w 79"/>
              <a:gd name="T59" fmla="*/ 35 h 68"/>
              <a:gd name="T60" fmla="*/ 79 w 79"/>
              <a:gd name="T61" fmla="*/ 33 h 68"/>
              <a:gd name="T62" fmla="*/ 0 w 79"/>
              <a:gd name="T63" fmla="*/ 26 h 68"/>
              <a:gd name="T64" fmla="*/ 0 w 79"/>
              <a:gd name="T65" fmla="*/ 28 h 68"/>
              <a:gd name="T66" fmla="*/ 0 w 79"/>
              <a:gd name="T67" fmla="*/ 30 h 68"/>
              <a:gd name="T68" fmla="*/ 0 w 79"/>
              <a:gd name="T69" fmla="*/ 31 h 68"/>
              <a:gd name="T70" fmla="*/ 0 w 79"/>
              <a:gd name="T71" fmla="*/ 33 h 68"/>
              <a:gd name="T72" fmla="*/ 0 w 79"/>
              <a:gd name="T73" fmla="*/ 38 h 68"/>
              <a:gd name="T74" fmla="*/ 1 w 79"/>
              <a:gd name="T75" fmla="*/ 45 h 68"/>
              <a:gd name="T76" fmla="*/ 3 w 79"/>
              <a:gd name="T77" fmla="*/ 50 h 68"/>
              <a:gd name="T78" fmla="*/ 5 w 79"/>
              <a:gd name="T79" fmla="*/ 53 h 68"/>
              <a:gd name="T80" fmla="*/ 8 w 79"/>
              <a:gd name="T81" fmla="*/ 58 h 68"/>
              <a:gd name="T82" fmla="*/ 11 w 79"/>
              <a:gd name="T83" fmla="*/ 61 h 68"/>
              <a:gd name="T84" fmla="*/ 14 w 79"/>
              <a:gd name="T85" fmla="*/ 64 h 68"/>
              <a:gd name="T86" fmla="*/ 19 w 79"/>
              <a:gd name="T87" fmla="*/ 68 h 68"/>
              <a:gd name="T88" fmla="*/ 23 w 79"/>
              <a:gd name="T89" fmla="*/ 66 h 68"/>
              <a:gd name="T90" fmla="*/ 18 w 79"/>
              <a:gd name="T91" fmla="*/ 63 h 68"/>
              <a:gd name="T92" fmla="*/ 14 w 79"/>
              <a:gd name="T93" fmla="*/ 61 h 68"/>
              <a:gd name="T94" fmla="*/ 11 w 79"/>
              <a:gd name="T95" fmla="*/ 56 h 68"/>
              <a:gd name="T96" fmla="*/ 8 w 79"/>
              <a:gd name="T97" fmla="*/ 53 h 68"/>
              <a:gd name="T98" fmla="*/ 6 w 79"/>
              <a:gd name="T99" fmla="*/ 48 h 68"/>
              <a:gd name="T100" fmla="*/ 5 w 79"/>
              <a:gd name="T101" fmla="*/ 43 h 68"/>
              <a:gd name="T102" fmla="*/ 3 w 79"/>
              <a:gd name="T103" fmla="*/ 38 h 68"/>
              <a:gd name="T104" fmla="*/ 3 w 79"/>
              <a:gd name="T105" fmla="*/ 33 h 68"/>
              <a:gd name="T106" fmla="*/ 3 w 79"/>
              <a:gd name="T107" fmla="*/ 31 h 68"/>
              <a:gd name="T108" fmla="*/ 3 w 79"/>
              <a:gd name="T109" fmla="*/ 30 h 68"/>
              <a:gd name="T110" fmla="*/ 3 w 79"/>
              <a:gd name="T111" fmla="*/ 28 h 68"/>
              <a:gd name="T112" fmla="*/ 3 w 79"/>
              <a:gd name="T113" fmla="*/ 26 h 68"/>
              <a:gd name="T114" fmla="*/ 3 w 79"/>
              <a:gd name="T115" fmla="*/ 25 h 68"/>
              <a:gd name="T116" fmla="*/ 0 w 79"/>
              <a:gd name="T117" fmla="*/ 26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9" h="68">
                <a:moveTo>
                  <a:pt x="79" y="33"/>
                </a:moveTo>
                <a:lnTo>
                  <a:pt x="77" y="28"/>
                </a:lnTo>
                <a:lnTo>
                  <a:pt x="77" y="23"/>
                </a:lnTo>
                <a:lnTo>
                  <a:pt x="76" y="18"/>
                </a:lnTo>
                <a:lnTo>
                  <a:pt x="74" y="13"/>
                </a:lnTo>
                <a:lnTo>
                  <a:pt x="71" y="10"/>
                </a:lnTo>
                <a:lnTo>
                  <a:pt x="67" y="7"/>
                </a:lnTo>
                <a:lnTo>
                  <a:pt x="64" y="2"/>
                </a:lnTo>
                <a:lnTo>
                  <a:pt x="59" y="0"/>
                </a:lnTo>
                <a:lnTo>
                  <a:pt x="56" y="2"/>
                </a:lnTo>
                <a:lnTo>
                  <a:pt x="61" y="3"/>
                </a:lnTo>
                <a:lnTo>
                  <a:pt x="64" y="7"/>
                </a:lnTo>
                <a:lnTo>
                  <a:pt x="67" y="10"/>
                </a:lnTo>
                <a:lnTo>
                  <a:pt x="69" y="15"/>
                </a:lnTo>
                <a:lnTo>
                  <a:pt x="72" y="18"/>
                </a:lnTo>
                <a:lnTo>
                  <a:pt x="74" y="23"/>
                </a:lnTo>
                <a:lnTo>
                  <a:pt x="74" y="28"/>
                </a:lnTo>
                <a:lnTo>
                  <a:pt x="76" y="33"/>
                </a:lnTo>
                <a:lnTo>
                  <a:pt x="76" y="35"/>
                </a:lnTo>
                <a:lnTo>
                  <a:pt x="76" y="36"/>
                </a:lnTo>
                <a:lnTo>
                  <a:pt x="74" y="38"/>
                </a:lnTo>
                <a:lnTo>
                  <a:pt x="74" y="40"/>
                </a:lnTo>
                <a:lnTo>
                  <a:pt x="74" y="41"/>
                </a:lnTo>
                <a:lnTo>
                  <a:pt x="74" y="43"/>
                </a:lnTo>
                <a:lnTo>
                  <a:pt x="77" y="41"/>
                </a:lnTo>
                <a:lnTo>
                  <a:pt x="77" y="40"/>
                </a:lnTo>
                <a:lnTo>
                  <a:pt x="77" y="38"/>
                </a:lnTo>
                <a:lnTo>
                  <a:pt x="79" y="38"/>
                </a:lnTo>
                <a:lnTo>
                  <a:pt x="79" y="36"/>
                </a:lnTo>
                <a:lnTo>
                  <a:pt x="79" y="35"/>
                </a:lnTo>
                <a:lnTo>
                  <a:pt x="79" y="33"/>
                </a:lnTo>
                <a:close/>
                <a:moveTo>
                  <a:pt x="0" y="26"/>
                </a:moveTo>
                <a:lnTo>
                  <a:pt x="0" y="28"/>
                </a:lnTo>
                <a:lnTo>
                  <a:pt x="0" y="30"/>
                </a:lnTo>
                <a:lnTo>
                  <a:pt x="0" y="31"/>
                </a:lnTo>
                <a:lnTo>
                  <a:pt x="0" y="33"/>
                </a:lnTo>
                <a:lnTo>
                  <a:pt x="0" y="38"/>
                </a:lnTo>
                <a:lnTo>
                  <a:pt x="1" y="45"/>
                </a:lnTo>
                <a:lnTo>
                  <a:pt x="3" y="50"/>
                </a:lnTo>
                <a:lnTo>
                  <a:pt x="5" y="53"/>
                </a:lnTo>
                <a:lnTo>
                  <a:pt x="8" y="58"/>
                </a:lnTo>
                <a:lnTo>
                  <a:pt x="11" y="61"/>
                </a:lnTo>
                <a:lnTo>
                  <a:pt x="14" y="64"/>
                </a:lnTo>
                <a:lnTo>
                  <a:pt x="19" y="68"/>
                </a:lnTo>
                <a:lnTo>
                  <a:pt x="23" y="66"/>
                </a:lnTo>
                <a:lnTo>
                  <a:pt x="18" y="63"/>
                </a:lnTo>
                <a:lnTo>
                  <a:pt x="14" y="61"/>
                </a:lnTo>
                <a:lnTo>
                  <a:pt x="11" y="56"/>
                </a:lnTo>
                <a:lnTo>
                  <a:pt x="8" y="53"/>
                </a:lnTo>
                <a:lnTo>
                  <a:pt x="6" y="48"/>
                </a:lnTo>
                <a:lnTo>
                  <a:pt x="5" y="43"/>
                </a:lnTo>
                <a:lnTo>
                  <a:pt x="3" y="38"/>
                </a:lnTo>
                <a:lnTo>
                  <a:pt x="3" y="33"/>
                </a:lnTo>
                <a:lnTo>
                  <a:pt x="3" y="31"/>
                </a:lnTo>
                <a:lnTo>
                  <a:pt x="3" y="30"/>
                </a:lnTo>
                <a:lnTo>
                  <a:pt x="3" y="28"/>
                </a:lnTo>
                <a:lnTo>
                  <a:pt x="3" y="26"/>
                </a:lnTo>
                <a:lnTo>
                  <a:pt x="3" y="25"/>
                </a:lnTo>
                <a:lnTo>
                  <a:pt x="0" y="26"/>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84" name="Freeform 2189">
            <a:extLst>
              <a:ext uri="{FF2B5EF4-FFF2-40B4-BE49-F238E27FC236}">
                <a16:creationId xmlns:a16="http://schemas.microsoft.com/office/drawing/2014/main" id="{97A75EAE-F3CF-20AD-60E2-ACC970C678BA}"/>
              </a:ext>
            </a:extLst>
          </p:cNvPr>
          <p:cNvSpPr>
            <a:spLocks noEditPoints="1"/>
          </p:cNvSpPr>
          <p:nvPr/>
        </p:nvSpPr>
        <p:spPr bwMode="auto">
          <a:xfrm>
            <a:off x="3459163" y="2547938"/>
            <a:ext cx="120650" cy="104775"/>
          </a:xfrm>
          <a:custGeom>
            <a:avLst/>
            <a:gdLst>
              <a:gd name="T0" fmla="*/ 76 w 76"/>
              <a:gd name="T1" fmla="*/ 33 h 66"/>
              <a:gd name="T2" fmla="*/ 75 w 76"/>
              <a:gd name="T3" fmla="*/ 28 h 66"/>
              <a:gd name="T4" fmla="*/ 75 w 76"/>
              <a:gd name="T5" fmla="*/ 23 h 66"/>
              <a:gd name="T6" fmla="*/ 73 w 76"/>
              <a:gd name="T7" fmla="*/ 18 h 66"/>
              <a:gd name="T8" fmla="*/ 71 w 76"/>
              <a:gd name="T9" fmla="*/ 15 h 66"/>
              <a:gd name="T10" fmla="*/ 68 w 76"/>
              <a:gd name="T11" fmla="*/ 10 h 66"/>
              <a:gd name="T12" fmla="*/ 65 w 76"/>
              <a:gd name="T13" fmla="*/ 7 h 66"/>
              <a:gd name="T14" fmla="*/ 61 w 76"/>
              <a:gd name="T15" fmla="*/ 3 h 66"/>
              <a:gd name="T16" fmla="*/ 57 w 76"/>
              <a:gd name="T17" fmla="*/ 0 h 66"/>
              <a:gd name="T18" fmla="*/ 53 w 76"/>
              <a:gd name="T19" fmla="*/ 2 h 66"/>
              <a:gd name="T20" fmla="*/ 57 w 76"/>
              <a:gd name="T21" fmla="*/ 5 h 66"/>
              <a:gd name="T22" fmla="*/ 61 w 76"/>
              <a:gd name="T23" fmla="*/ 8 h 66"/>
              <a:gd name="T24" fmla="*/ 65 w 76"/>
              <a:gd name="T25" fmla="*/ 11 h 66"/>
              <a:gd name="T26" fmla="*/ 66 w 76"/>
              <a:gd name="T27" fmla="*/ 15 h 66"/>
              <a:gd name="T28" fmla="*/ 70 w 76"/>
              <a:gd name="T29" fmla="*/ 18 h 66"/>
              <a:gd name="T30" fmla="*/ 71 w 76"/>
              <a:gd name="T31" fmla="*/ 23 h 66"/>
              <a:gd name="T32" fmla="*/ 71 w 76"/>
              <a:gd name="T33" fmla="*/ 28 h 66"/>
              <a:gd name="T34" fmla="*/ 73 w 76"/>
              <a:gd name="T35" fmla="*/ 33 h 66"/>
              <a:gd name="T36" fmla="*/ 73 w 76"/>
              <a:gd name="T37" fmla="*/ 35 h 66"/>
              <a:gd name="T38" fmla="*/ 73 w 76"/>
              <a:gd name="T39" fmla="*/ 36 h 66"/>
              <a:gd name="T40" fmla="*/ 73 w 76"/>
              <a:gd name="T41" fmla="*/ 38 h 66"/>
              <a:gd name="T42" fmla="*/ 71 w 76"/>
              <a:gd name="T43" fmla="*/ 38 h 66"/>
              <a:gd name="T44" fmla="*/ 71 w 76"/>
              <a:gd name="T45" fmla="*/ 40 h 66"/>
              <a:gd name="T46" fmla="*/ 71 w 76"/>
              <a:gd name="T47" fmla="*/ 41 h 66"/>
              <a:gd name="T48" fmla="*/ 71 w 76"/>
              <a:gd name="T49" fmla="*/ 43 h 66"/>
              <a:gd name="T50" fmla="*/ 71 w 76"/>
              <a:gd name="T51" fmla="*/ 45 h 66"/>
              <a:gd name="T52" fmla="*/ 75 w 76"/>
              <a:gd name="T53" fmla="*/ 43 h 66"/>
              <a:gd name="T54" fmla="*/ 75 w 76"/>
              <a:gd name="T55" fmla="*/ 41 h 66"/>
              <a:gd name="T56" fmla="*/ 75 w 76"/>
              <a:gd name="T57" fmla="*/ 40 h 66"/>
              <a:gd name="T58" fmla="*/ 76 w 76"/>
              <a:gd name="T59" fmla="*/ 38 h 66"/>
              <a:gd name="T60" fmla="*/ 76 w 76"/>
              <a:gd name="T61" fmla="*/ 36 h 66"/>
              <a:gd name="T62" fmla="*/ 76 w 76"/>
              <a:gd name="T63" fmla="*/ 35 h 66"/>
              <a:gd name="T64" fmla="*/ 76 w 76"/>
              <a:gd name="T65" fmla="*/ 33 h 66"/>
              <a:gd name="T66" fmla="*/ 0 w 76"/>
              <a:gd name="T67" fmla="*/ 26 h 66"/>
              <a:gd name="T68" fmla="*/ 0 w 76"/>
              <a:gd name="T69" fmla="*/ 26 h 66"/>
              <a:gd name="T70" fmla="*/ 0 w 76"/>
              <a:gd name="T71" fmla="*/ 28 h 66"/>
              <a:gd name="T72" fmla="*/ 0 w 76"/>
              <a:gd name="T73" fmla="*/ 30 h 66"/>
              <a:gd name="T74" fmla="*/ 0 w 76"/>
              <a:gd name="T75" fmla="*/ 31 h 66"/>
              <a:gd name="T76" fmla="*/ 0 w 76"/>
              <a:gd name="T77" fmla="*/ 33 h 66"/>
              <a:gd name="T78" fmla="*/ 0 w 76"/>
              <a:gd name="T79" fmla="*/ 38 h 66"/>
              <a:gd name="T80" fmla="*/ 2 w 76"/>
              <a:gd name="T81" fmla="*/ 43 h 66"/>
              <a:gd name="T82" fmla="*/ 4 w 76"/>
              <a:gd name="T83" fmla="*/ 48 h 66"/>
              <a:gd name="T84" fmla="*/ 5 w 76"/>
              <a:gd name="T85" fmla="*/ 53 h 66"/>
              <a:gd name="T86" fmla="*/ 8 w 76"/>
              <a:gd name="T87" fmla="*/ 58 h 66"/>
              <a:gd name="T88" fmla="*/ 12 w 76"/>
              <a:gd name="T89" fmla="*/ 61 h 66"/>
              <a:gd name="T90" fmla="*/ 15 w 76"/>
              <a:gd name="T91" fmla="*/ 64 h 66"/>
              <a:gd name="T92" fmla="*/ 20 w 76"/>
              <a:gd name="T93" fmla="*/ 66 h 66"/>
              <a:gd name="T94" fmla="*/ 23 w 76"/>
              <a:gd name="T95" fmla="*/ 64 h 66"/>
              <a:gd name="T96" fmla="*/ 20 w 76"/>
              <a:gd name="T97" fmla="*/ 63 h 66"/>
              <a:gd name="T98" fmla="*/ 15 w 76"/>
              <a:gd name="T99" fmla="*/ 60 h 66"/>
              <a:gd name="T100" fmla="*/ 12 w 76"/>
              <a:gd name="T101" fmla="*/ 56 h 66"/>
              <a:gd name="T102" fmla="*/ 8 w 76"/>
              <a:gd name="T103" fmla="*/ 53 h 66"/>
              <a:gd name="T104" fmla="*/ 7 w 76"/>
              <a:gd name="T105" fmla="*/ 48 h 66"/>
              <a:gd name="T106" fmla="*/ 5 w 76"/>
              <a:gd name="T107" fmla="*/ 43 h 66"/>
              <a:gd name="T108" fmla="*/ 4 w 76"/>
              <a:gd name="T109" fmla="*/ 38 h 66"/>
              <a:gd name="T110" fmla="*/ 4 w 76"/>
              <a:gd name="T111" fmla="*/ 33 h 66"/>
              <a:gd name="T112" fmla="*/ 4 w 76"/>
              <a:gd name="T113" fmla="*/ 31 h 66"/>
              <a:gd name="T114" fmla="*/ 4 w 76"/>
              <a:gd name="T115" fmla="*/ 30 h 66"/>
              <a:gd name="T116" fmla="*/ 4 w 76"/>
              <a:gd name="T117" fmla="*/ 28 h 66"/>
              <a:gd name="T118" fmla="*/ 4 w 76"/>
              <a:gd name="T119" fmla="*/ 26 h 66"/>
              <a:gd name="T120" fmla="*/ 4 w 76"/>
              <a:gd name="T121" fmla="*/ 25 h 66"/>
              <a:gd name="T122" fmla="*/ 0 w 76"/>
              <a:gd name="T123" fmla="*/ 2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6" h="66">
                <a:moveTo>
                  <a:pt x="76" y="33"/>
                </a:moveTo>
                <a:lnTo>
                  <a:pt x="75" y="28"/>
                </a:lnTo>
                <a:lnTo>
                  <a:pt x="75" y="23"/>
                </a:lnTo>
                <a:lnTo>
                  <a:pt x="73" y="18"/>
                </a:lnTo>
                <a:lnTo>
                  <a:pt x="71" y="15"/>
                </a:lnTo>
                <a:lnTo>
                  <a:pt x="68" y="10"/>
                </a:lnTo>
                <a:lnTo>
                  <a:pt x="65" y="7"/>
                </a:lnTo>
                <a:lnTo>
                  <a:pt x="61" y="3"/>
                </a:lnTo>
                <a:lnTo>
                  <a:pt x="57" y="0"/>
                </a:lnTo>
                <a:lnTo>
                  <a:pt x="53" y="2"/>
                </a:lnTo>
                <a:lnTo>
                  <a:pt x="57" y="5"/>
                </a:lnTo>
                <a:lnTo>
                  <a:pt x="61" y="8"/>
                </a:lnTo>
                <a:lnTo>
                  <a:pt x="65" y="11"/>
                </a:lnTo>
                <a:lnTo>
                  <a:pt x="66" y="15"/>
                </a:lnTo>
                <a:lnTo>
                  <a:pt x="70" y="18"/>
                </a:lnTo>
                <a:lnTo>
                  <a:pt x="71" y="23"/>
                </a:lnTo>
                <a:lnTo>
                  <a:pt x="71" y="28"/>
                </a:lnTo>
                <a:lnTo>
                  <a:pt x="73" y="33"/>
                </a:lnTo>
                <a:lnTo>
                  <a:pt x="73" y="35"/>
                </a:lnTo>
                <a:lnTo>
                  <a:pt x="73" y="36"/>
                </a:lnTo>
                <a:lnTo>
                  <a:pt x="73" y="38"/>
                </a:lnTo>
                <a:lnTo>
                  <a:pt x="71" y="38"/>
                </a:lnTo>
                <a:lnTo>
                  <a:pt x="71" y="40"/>
                </a:lnTo>
                <a:lnTo>
                  <a:pt x="71" y="41"/>
                </a:lnTo>
                <a:lnTo>
                  <a:pt x="71" y="43"/>
                </a:lnTo>
                <a:lnTo>
                  <a:pt x="71" y="45"/>
                </a:lnTo>
                <a:lnTo>
                  <a:pt x="75" y="43"/>
                </a:lnTo>
                <a:lnTo>
                  <a:pt x="75" y="41"/>
                </a:lnTo>
                <a:lnTo>
                  <a:pt x="75" y="40"/>
                </a:lnTo>
                <a:lnTo>
                  <a:pt x="76" y="38"/>
                </a:lnTo>
                <a:lnTo>
                  <a:pt x="76" y="36"/>
                </a:lnTo>
                <a:lnTo>
                  <a:pt x="76" y="35"/>
                </a:lnTo>
                <a:lnTo>
                  <a:pt x="76" y="33"/>
                </a:lnTo>
                <a:close/>
                <a:moveTo>
                  <a:pt x="0" y="26"/>
                </a:moveTo>
                <a:lnTo>
                  <a:pt x="0" y="26"/>
                </a:lnTo>
                <a:lnTo>
                  <a:pt x="0" y="28"/>
                </a:lnTo>
                <a:lnTo>
                  <a:pt x="0" y="30"/>
                </a:lnTo>
                <a:lnTo>
                  <a:pt x="0" y="31"/>
                </a:lnTo>
                <a:lnTo>
                  <a:pt x="0" y="33"/>
                </a:lnTo>
                <a:lnTo>
                  <a:pt x="0" y="38"/>
                </a:lnTo>
                <a:lnTo>
                  <a:pt x="2" y="43"/>
                </a:lnTo>
                <a:lnTo>
                  <a:pt x="4" y="48"/>
                </a:lnTo>
                <a:lnTo>
                  <a:pt x="5" y="53"/>
                </a:lnTo>
                <a:lnTo>
                  <a:pt x="8" y="58"/>
                </a:lnTo>
                <a:lnTo>
                  <a:pt x="12" y="61"/>
                </a:lnTo>
                <a:lnTo>
                  <a:pt x="15" y="64"/>
                </a:lnTo>
                <a:lnTo>
                  <a:pt x="20" y="66"/>
                </a:lnTo>
                <a:lnTo>
                  <a:pt x="23" y="64"/>
                </a:lnTo>
                <a:lnTo>
                  <a:pt x="20" y="63"/>
                </a:lnTo>
                <a:lnTo>
                  <a:pt x="15" y="60"/>
                </a:lnTo>
                <a:lnTo>
                  <a:pt x="12" y="56"/>
                </a:lnTo>
                <a:lnTo>
                  <a:pt x="8" y="53"/>
                </a:lnTo>
                <a:lnTo>
                  <a:pt x="7" y="48"/>
                </a:lnTo>
                <a:lnTo>
                  <a:pt x="5" y="43"/>
                </a:lnTo>
                <a:lnTo>
                  <a:pt x="4" y="38"/>
                </a:lnTo>
                <a:lnTo>
                  <a:pt x="4" y="33"/>
                </a:lnTo>
                <a:lnTo>
                  <a:pt x="4" y="31"/>
                </a:lnTo>
                <a:lnTo>
                  <a:pt x="4" y="30"/>
                </a:lnTo>
                <a:lnTo>
                  <a:pt x="4" y="28"/>
                </a:lnTo>
                <a:lnTo>
                  <a:pt x="4" y="26"/>
                </a:lnTo>
                <a:lnTo>
                  <a:pt x="4" y="25"/>
                </a:lnTo>
                <a:lnTo>
                  <a:pt x="0" y="26"/>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85" name="Freeform 2190">
            <a:extLst>
              <a:ext uri="{FF2B5EF4-FFF2-40B4-BE49-F238E27FC236}">
                <a16:creationId xmlns:a16="http://schemas.microsoft.com/office/drawing/2014/main" id="{654335FF-11E6-1B5D-4BC9-E1CD507B1561}"/>
              </a:ext>
            </a:extLst>
          </p:cNvPr>
          <p:cNvSpPr>
            <a:spLocks noEditPoints="1"/>
          </p:cNvSpPr>
          <p:nvPr/>
        </p:nvSpPr>
        <p:spPr bwMode="auto">
          <a:xfrm>
            <a:off x="3462338" y="2551113"/>
            <a:ext cx="115888" cy="101600"/>
          </a:xfrm>
          <a:custGeom>
            <a:avLst/>
            <a:gdLst>
              <a:gd name="T0" fmla="*/ 73 w 73"/>
              <a:gd name="T1" fmla="*/ 31 h 64"/>
              <a:gd name="T2" fmla="*/ 71 w 73"/>
              <a:gd name="T3" fmla="*/ 26 h 64"/>
              <a:gd name="T4" fmla="*/ 71 w 73"/>
              <a:gd name="T5" fmla="*/ 21 h 64"/>
              <a:gd name="T6" fmla="*/ 69 w 73"/>
              <a:gd name="T7" fmla="*/ 16 h 64"/>
              <a:gd name="T8" fmla="*/ 66 w 73"/>
              <a:gd name="T9" fmla="*/ 13 h 64"/>
              <a:gd name="T10" fmla="*/ 64 w 73"/>
              <a:gd name="T11" fmla="*/ 8 h 64"/>
              <a:gd name="T12" fmla="*/ 61 w 73"/>
              <a:gd name="T13" fmla="*/ 5 h 64"/>
              <a:gd name="T14" fmla="*/ 58 w 73"/>
              <a:gd name="T15" fmla="*/ 1 h 64"/>
              <a:gd name="T16" fmla="*/ 53 w 73"/>
              <a:gd name="T17" fmla="*/ 0 h 64"/>
              <a:gd name="T18" fmla="*/ 50 w 73"/>
              <a:gd name="T19" fmla="*/ 1 h 64"/>
              <a:gd name="T20" fmla="*/ 53 w 73"/>
              <a:gd name="T21" fmla="*/ 3 h 64"/>
              <a:gd name="T22" fmla="*/ 58 w 73"/>
              <a:gd name="T23" fmla="*/ 6 h 64"/>
              <a:gd name="T24" fmla="*/ 61 w 73"/>
              <a:gd name="T25" fmla="*/ 9 h 64"/>
              <a:gd name="T26" fmla="*/ 63 w 73"/>
              <a:gd name="T27" fmla="*/ 13 h 64"/>
              <a:gd name="T28" fmla="*/ 66 w 73"/>
              <a:gd name="T29" fmla="*/ 18 h 64"/>
              <a:gd name="T30" fmla="*/ 68 w 73"/>
              <a:gd name="T31" fmla="*/ 21 h 64"/>
              <a:gd name="T32" fmla="*/ 68 w 73"/>
              <a:gd name="T33" fmla="*/ 26 h 64"/>
              <a:gd name="T34" fmla="*/ 69 w 73"/>
              <a:gd name="T35" fmla="*/ 31 h 64"/>
              <a:gd name="T36" fmla="*/ 69 w 73"/>
              <a:gd name="T37" fmla="*/ 33 h 64"/>
              <a:gd name="T38" fmla="*/ 69 w 73"/>
              <a:gd name="T39" fmla="*/ 34 h 64"/>
              <a:gd name="T40" fmla="*/ 69 w 73"/>
              <a:gd name="T41" fmla="*/ 36 h 64"/>
              <a:gd name="T42" fmla="*/ 68 w 73"/>
              <a:gd name="T43" fmla="*/ 38 h 64"/>
              <a:gd name="T44" fmla="*/ 68 w 73"/>
              <a:gd name="T45" fmla="*/ 39 h 64"/>
              <a:gd name="T46" fmla="*/ 68 w 73"/>
              <a:gd name="T47" fmla="*/ 41 h 64"/>
              <a:gd name="T48" fmla="*/ 66 w 73"/>
              <a:gd name="T49" fmla="*/ 43 h 64"/>
              <a:gd name="T50" fmla="*/ 71 w 73"/>
              <a:gd name="T51" fmla="*/ 41 h 64"/>
              <a:gd name="T52" fmla="*/ 71 w 73"/>
              <a:gd name="T53" fmla="*/ 39 h 64"/>
              <a:gd name="T54" fmla="*/ 71 w 73"/>
              <a:gd name="T55" fmla="*/ 38 h 64"/>
              <a:gd name="T56" fmla="*/ 71 w 73"/>
              <a:gd name="T57" fmla="*/ 36 h 64"/>
              <a:gd name="T58" fmla="*/ 73 w 73"/>
              <a:gd name="T59" fmla="*/ 34 h 64"/>
              <a:gd name="T60" fmla="*/ 73 w 73"/>
              <a:gd name="T61" fmla="*/ 33 h 64"/>
              <a:gd name="T62" fmla="*/ 73 w 73"/>
              <a:gd name="T63" fmla="*/ 31 h 64"/>
              <a:gd name="T64" fmla="*/ 0 w 73"/>
              <a:gd name="T65" fmla="*/ 23 h 64"/>
              <a:gd name="T66" fmla="*/ 0 w 73"/>
              <a:gd name="T67" fmla="*/ 24 h 64"/>
              <a:gd name="T68" fmla="*/ 0 w 73"/>
              <a:gd name="T69" fmla="*/ 26 h 64"/>
              <a:gd name="T70" fmla="*/ 0 w 73"/>
              <a:gd name="T71" fmla="*/ 28 h 64"/>
              <a:gd name="T72" fmla="*/ 0 w 73"/>
              <a:gd name="T73" fmla="*/ 29 h 64"/>
              <a:gd name="T74" fmla="*/ 0 w 73"/>
              <a:gd name="T75" fmla="*/ 31 h 64"/>
              <a:gd name="T76" fmla="*/ 0 w 73"/>
              <a:gd name="T77" fmla="*/ 36 h 64"/>
              <a:gd name="T78" fmla="*/ 2 w 73"/>
              <a:gd name="T79" fmla="*/ 41 h 64"/>
              <a:gd name="T80" fmla="*/ 3 w 73"/>
              <a:gd name="T81" fmla="*/ 46 h 64"/>
              <a:gd name="T82" fmla="*/ 5 w 73"/>
              <a:gd name="T83" fmla="*/ 51 h 64"/>
              <a:gd name="T84" fmla="*/ 8 w 73"/>
              <a:gd name="T85" fmla="*/ 54 h 64"/>
              <a:gd name="T86" fmla="*/ 11 w 73"/>
              <a:gd name="T87" fmla="*/ 59 h 64"/>
              <a:gd name="T88" fmla="*/ 15 w 73"/>
              <a:gd name="T89" fmla="*/ 61 h 64"/>
              <a:gd name="T90" fmla="*/ 20 w 73"/>
              <a:gd name="T91" fmla="*/ 64 h 64"/>
              <a:gd name="T92" fmla="*/ 25 w 73"/>
              <a:gd name="T93" fmla="*/ 62 h 64"/>
              <a:gd name="T94" fmla="*/ 20 w 73"/>
              <a:gd name="T95" fmla="*/ 61 h 64"/>
              <a:gd name="T96" fmla="*/ 15 w 73"/>
              <a:gd name="T97" fmla="*/ 58 h 64"/>
              <a:gd name="T98" fmla="*/ 11 w 73"/>
              <a:gd name="T99" fmla="*/ 54 h 64"/>
              <a:gd name="T100" fmla="*/ 8 w 73"/>
              <a:gd name="T101" fmla="*/ 51 h 64"/>
              <a:gd name="T102" fmla="*/ 6 w 73"/>
              <a:gd name="T103" fmla="*/ 46 h 64"/>
              <a:gd name="T104" fmla="*/ 5 w 73"/>
              <a:gd name="T105" fmla="*/ 41 h 64"/>
              <a:gd name="T106" fmla="*/ 3 w 73"/>
              <a:gd name="T107" fmla="*/ 36 h 64"/>
              <a:gd name="T108" fmla="*/ 3 w 73"/>
              <a:gd name="T109" fmla="*/ 31 h 64"/>
              <a:gd name="T110" fmla="*/ 3 w 73"/>
              <a:gd name="T111" fmla="*/ 29 h 64"/>
              <a:gd name="T112" fmla="*/ 3 w 73"/>
              <a:gd name="T113" fmla="*/ 28 h 64"/>
              <a:gd name="T114" fmla="*/ 3 w 73"/>
              <a:gd name="T115" fmla="*/ 26 h 64"/>
              <a:gd name="T116" fmla="*/ 3 w 73"/>
              <a:gd name="T117" fmla="*/ 24 h 64"/>
              <a:gd name="T118" fmla="*/ 3 w 73"/>
              <a:gd name="T119" fmla="*/ 23 h 64"/>
              <a:gd name="T120" fmla="*/ 5 w 73"/>
              <a:gd name="T121" fmla="*/ 21 h 64"/>
              <a:gd name="T122" fmla="*/ 0 w 73"/>
              <a:gd name="T123" fmla="*/ 23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3" h="64">
                <a:moveTo>
                  <a:pt x="73" y="31"/>
                </a:moveTo>
                <a:lnTo>
                  <a:pt x="71" y="26"/>
                </a:lnTo>
                <a:lnTo>
                  <a:pt x="71" y="21"/>
                </a:lnTo>
                <a:lnTo>
                  <a:pt x="69" y="16"/>
                </a:lnTo>
                <a:lnTo>
                  <a:pt x="66" y="13"/>
                </a:lnTo>
                <a:lnTo>
                  <a:pt x="64" y="8"/>
                </a:lnTo>
                <a:lnTo>
                  <a:pt x="61" y="5"/>
                </a:lnTo>
                <a:lnTo>
                  <a:pt x="58" y="1"/>
                </a:lnTo>
                <a:lnTo>
                  <a:pt x="53" y="0"/>
                </a:lnTo>
                <a:lnTo>
                  <a:pt x="50" y="1"/>
                </a:lnTo>
                <a:lnTo>
                  <a:pt x="53" y="3"/>
                </a:lnTo>
                <a:lnTo>
                  <a:pt x="58" y="6"/>
                </a:lnTo>
                <a:lnTo>
                  <a:pt x="61" y="9"/>
                </a:lnTo>
                <a:lnTo>
                  <a:pt x="63" y="13"/>
                </a:lnTo>
                <a:lnTo>
                  <a:pt x="66" y="18"/>
                </a:lnTo>
                <a:lnTo>
                  <a:pt x="68" y="21"/>
                </a:lnTo>
                <a:lnTo>
                  <a:pt x="68" y="26"/>
                </a:lnTo>
                <a:lnTo>
                  <a:pt x="69" y="31"/>
                </a:lnTo>
                <a:lnTo>
                  <a:pt x="69" y="33"/>
                </a:lnTo>
                <a:lnTo>
                  <a:pt x="69" y="34"/>
                </a:lnTo>
                <a:lnTo>
                  <a:pt x="69" y="36"/>
                </a:lnTo>
                <a:lnTo>
                  <a:pt x="68" y="38"/>
                </a:lnTo>
                <a:lnTo>
                  <a:pt x="68" y="39"/>
                </a:lnTo>
                <a:lnTo>
                  <a:pt x="68" y="41"/>
                </a:lnTo>
                <a:lnTo>
                  <a:pt x="66" y="43"/>
                </a:lnTo>
                <a:lnTo>
                  <a:pt x="71" y="41"/>
                </a:lnTo>
                <a:lnTo>
                  <a:pt x="71" y="39"/>
                </a:lnTo>
                <a:lnTo>
                  <a:pt x="71" y="38"/>
                </a:lnTo>
                <a:lnTo>
                  <a:pt x="71" y="36"/>
                </a:lnTo>
                <a:lnTo>
                  <a:pt x="73" y="34"/>
                </a:lnTo>
                <a:lnTo>
                  <a:pt x="73" y="33"/>
                </a:lnTo>
                <a:lnTo>
                  <a:pt x="73" y="31"/>
                </a:lnTo>
                <a:close/>
                <a:moveTo>
                  <a:pt x="0" y="23"/>
                </a:moveTo>
                <a:lnTo>
                  <a:pt x="0" y="24"/>
                </a:lnTo>
                <a:lnTo>
                  <a:pt x="0" y="26"/>
                </a:lnTo>
                <a:lnTo>
                  <a:pt x="0" y="28"/>
                </a:lnTo>
                <a:lnTo>
                  <a:pt x="0" y="29"/>
                </a:lnTo>
                <a:lnTo>
                  <a:pt x="0" y="31"/>
                </a:lnTo>
                <a:lnTo>
                  <a:pt x="0" y="36"/>
                </a:lnTo>
                <a:lnTo>
                  <a:pt x="2" y="41"/>
                </a:lnTo>
                <a:lnTo>
                  <a:pt x="3" y="46"/>
                </a:lnTo>
                <a:lnTo>
                  <a:pt x="5" y="51"/>
                </a:lnTo>
                <a:lnTo>
                  <a:pt x="8" y="54"/>
                </a:lnTo>
                <a:lnTo>
                  <a:pt x="11" y="59"/>
                </a:lnTo>
                <a:lnTo>
                  <a:pt x="15" y="61"/>
                </a:lnTo>
                <a:lnTo>
                  <a:pt x="20" y="64"/>
                </a:lnTo>
                <a:lnTo>
                  <a:pt x="25" y="62"/>
                </a:lnTo>
                <a:lnTo>
                  <a:pt x="20" y="61"/>
                </a:lnTo>
                <a:lnTo>
                  <a:pt x="15" y="58"/>
                </a:lnTo>
                <a:lnTo>
                  <a:pt x="11" y="54"/>
                </a:lnTo>
                <a:lnTo>
                  <a:pt x="8" y="51"/>
                </a:lnTo>
                <a:lnTo>
                  <a:pt x="6" y="46"/>
                </a:lnTo>
                <a:lnTo>
                  <a:pt x="5" y="41"/>
                </a:lnTo>
                <a:lnTo>
                  <a:pt x="3" y="36"/>
                </a:lnTo>
                <a:lnTo>
                  <a:pt x="3" y="31"/>
                </a:lnTo>
                <a:lnTo>
                  <a:pt x="3" y="29"/>
                </a:lnTo>
                <a:lnTo>
                  <a:pt x="3" y="28"/>
                </a:lnTo>
                <a:lnTo>
                  <a:pt x="3" y="26"/>
                </a:lnTo>
                <a:lnTo>
                  <a:pt x="3" y="24"/>
                </a:lnTo>
                <a:lnTo>
                  <a:pt x="3" y="23"/>
                </a:lnTo>
                <a:lnTo>
                  <a:pt x="5" y="21"/>
                </a:lnTo>
                <a:lnTo>
                  <a:pt x="0" y="23"/>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86" name="Freeform 2191">
            <a:extLst>
              <a:ext uri="{FF2B5EF4-FFF2-40B4-BE49-F238E27FC236}">
                <a16:creationId xmlns:a16="http://schemas.microsoft.com/office/drawing/2014/main" id="{7ABECB61-5A44-DD9E-AABF-B37EF1085A2B}"/>
              </a:ext>
            </a:extLst>
          </p:cNvPr>
          <p:cNvSpPr>
            <a:spLocks noEditPoints="1"/>
          </p:cNvSpPr>
          <p:nvPr/>
        </p:nvSpPr>
        <p:spPr bwMode="auto">
          <a:xfrm>
            <a:off x="3465513" y="2551113"/>
            <a:ext cx="109538" cy="98425"/>
          </a:xfrm>
          <a:custGeom>
            <a:avLst/>
            <a:gdLst>
              <a:gd name="T0" fmla="*/ 67 w 69"/>
              <a:gd name="T1" fmla="*/ 26 h 62"/>
              <a:gd name="T2" fmla="*/ 66 w 69"/>
              <a:gd name="T3" fmla="*/ 16 h 62"/>
              <a:gd name="T4" fmla="*/ 61 w 69"/>
              <a:gd name="T5" fmla="*/ 9 h 62"/>
              <a:gd name="T6" fmla="*/ 53 w 69"/>
              <a:gd name="T7" fmla="*/ 3 h 62"/>
              <a:gd name="T8" fmla="*/ 44 w 69"/>
              <a:gd name="T9" fmla="*/ 1 h 62"/>
              <a:gd name="T10" fmla="*/ 53 w 69"/>
              <a:gd name="T11" fmla="*/ 6 h 62"/>
              <a:gd name="T12" fmla="*/ 59 w 69"/>
              <a:gd name="T13" fmla="*/ 13 h 62"/>
              <a:gd name="T14" fmla="*/ 64 w 69"/>
              <a:gd name="T15" fmla="*/ 21 h 62"/>
              <a:gd name="T16" fmla="*/ 66 w 69"/>
              <a:gd name="T17" fmla="*/ 31 h 62"/>
              <a:gd name="T18" fmla="*/ 66 w 69"/>
              <a:gd name="T19" fmla="*/ 34 h 62"/>
              <a:gd name="T20" fmla="*/ 64 w 69"/>
              <a:gd name="T21" fmla="*/ 38 h 62"/>
              <a:gd name="T22" fmla="*/ 64 w 69"/>
              <a:gd name="T23" fmla="*/ 41 h 62"/>
              <a:gd name="T24" fmla="*/ 62 w 69"/>
              <a:gd name="T25" fmla="*/ 44 h 62"/>
              <a:gd name="T26" fmla="*/ 67 w 69"/>
              <a:gd name="T27" fmla="*/ 41 h 62"/>
              <a:gd name="T28" fmla="*/ 67 w 69"/>
              <a:gd name="T29" fmla="*/ 38 h 62"/>
              <a:gd name="T30" fmla="*/ 69 w 69"/>
              <a:gd name="T31" fmla="*/ 36 h 62"/>
              <a:gd name="T32" fmla="*/ 69 w 69"/>
              <a:gd name="T33" fmla="*/ 33 h 62"/>
              <a:gd name="T34" fmla="*/ 0 w 69"/>
              <a:gd name="T35" fmla="*/ 23 h 62"/>
              <a:gd name="T36" fmla="*/ 0 w 69"/>
              <a:gd name="T37" fmla="*/ 24 h 62"/>
              <a:gd name="T38" fmla="*/ 0 w 69"/>
              <a:gd name="T39" fmla="*/ 28 h 62"/>
              <a:gd name="T40" fmla="*/ 0 w 69"/>
              <a:gd name="T41" fmla="*/ 31 h 62"/>
              <a:gd name="T42" fmla="*/ 1 w 69"/>
              <a:gd name="T43" fmla="*/ 41 h 62"/>
              <a:gd name="T44" fmla="*/ 4 w 69"/>
              <a:gd name="T45" fmla="*/ 51 h 62"/>
              <a:gd name="T46" fmla="*/ 11 w 69"/>
              <a:gd name="T47" fmla="*/ 58 h 62"/>
              <a:gd name="T48" fmla="*/ 19 w 69"/>
              <a:gd name="T49" fmla="*/ 62 h 62"/>
              <a:gd name="T50" fmla="*/ 19 w 69"/>
              <a:gd name="T51" fmla="*/ 59 h 62"/>
              <a:gd name="T52" fmla="*/ 11 w 69"/>
              <a:gd name="T53" fmla="*/ 54 h 62"/>
              <a:gd name="T54" fmla="*/ 6 w 69"/>
              <a:gd name="T55" fmla="*/ 46 h 62"/>
              <a:gd name="T56" fmla="*/ 3 w 69"/>
              <a:gd name="T57" fmla="*/ 36 h 62"/>
              <a:gd name="T58" fmla="*/ 3 w 69"/>
              <a:gd name="T59" fmla="*/ 29 h 62"/>
              <a:gd name="T60" fmla="*/ 3 w 69"/>
              <a:gd name="T61" fmla="*/ 26 h 62"/>
              <a:gd name="T62" fmla="*/ 3 w 69"/>
              <a:gd name="T63" fmla="*/ 23 h 62"/>
              <a:gd name="T64" fmla="*/ 0 w 69"/>
              <a:gd name="T65" fmla="*/ 23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9" h="62">
                <a:moveTo>
                  <a:pt x="69" y="31"/>
                </a:moveTo>
                <a:lnTo>
                  <a:pt x="67" y="26"/>
                </a:lnTo>
                <a:lnTo>
                  <a:pt x="67" y="21"/>
                </a:lnTo>
                <a:lnTo>
                  <a:pt x="66" y="16"/>
                </a:lnTo>
                <a:lnTo>
                  <a:pt x="62" y="13"/>
                </a:lnTo>
                <a:lnTo>
                  <a:pt x="61" y="9"/>
                </a:lnTo>
                <a:lnTo>
                  <a:pt x="57" y="6"/>
                </a:lnTo>
                <a:lnTo>
                  <a:pt x="53" y="3"/>
                </a:lnTo>
                <a:lnTo>
                  <a:pt x="49" y="0"/>
                </a:lnTo>
                <a:lnTo>
                  <a:pt x="44" y="1"/>
                </a:lnTo>
                <a:lnTo>
                  <a:pt x="49" y="5"/>
                </a:lnTo>
                <a:lnTo>
                  <a:pt x="53" y="6"/>
                </a:lnTo>
                <a:lnTo>
                  <a:pt x="56" y="9"/>
                </a:lnTo>
                <a:lnTo>
                  <a:pt x="59" y="13"/>
                </a:lnTo>
                <a:lnTo>
                  <a:pt x="62" y="18"/>
                </a:lnTo>
                <a:lnTo>
                  <a:pt x="64" y="21"/>
                </a:lnTo>
                <a:lnTo>
                  <a:pt x="64" y="26"/>
                </a:lnTo>
                <a:lnTo>
                  <a:pt x="66" y="31"/>
                </a:lnTo>
                <a:lnTo>
                  <a:pt x="66" y="33"/>
                </a:lnTo>
                <a:lnTo>
                  <a:pt x="66" y="34"/>
                </a:lnTo>
                <a:lnTo>
                  <a:pt x="64" y="36"/>
                </a:lnTo>
                <a:lnTo>
                  <a:pt x="64" y="38"/>
                </a:lnTo>
                <a:lnTo>
                  <a:pt x="64" y="39"/>
                </a:lnTo>
                <a:lnTo>
                  <a:pt x="64" y="41"/>
                </a:lnTo>
                <a:lnTo>
                  <a:pt x="62" y="43"/>
                </a:lnTo>
                <a:lnTo>
                  <a:pt x="62" y="44"/>
                </a:lnTo>
                <a:lnTo>
                  <a:pt x="67" y="43"/>
                </a:lnTo>
                <a:lnTo>
                  <a:pt x="67" y="41"/>
                </a:lnTo>
                <a:lnTo>
                  <a:pt x="67" y="39"/>
                </a:lnTo>
                <a:lnTo>
                  <a:pt x="67" y="38"/>
                </a:lnTo>
                <a:lnTo>
                  <a:pt x="67" y="36"/>
                </a:lnTo>
                <a:lnTo>
                  <a:pt x="69" y="36"/>
                </a:lnTo>
                <a:lnTo>
                  <a:pt x="69" y="34"/>
                </a:lnTo>
                <a:lnTo>
                  <a:pt x="69" y="33"/>
                </a:lnTo>
                <a:lnTo>
                  <a:pt x="69" y="31"/>
                </a:lnTo>
                <a:close/>
                <a:moveTo>
                  <a:pt x="0" y="23"/>
                </a:moveTo>
                <a:lnTo>
                  <a:pt x="0" y="23"/>
                </a:lnTo>
                <a:lnTo>
                  <a:pt x="0" y="24"/>
                </a:lnTo>
                <a:lnTo>
                  <a:pt x="0" y="26"/>
                </a:lnTo>
                <a:lnTo>
                  <a:pt x="0" y="28"/>
                </a:lnTo>
                <a:lnTo>
                  <a:pt x="0" y="29"/>
                </a:lnTo>
                <a:lnTo>
                  <a:pt x="0" y="31"/>
                </a:lnTo>
                <a:lnTo>
                  <a:pt x="0" y="36"/>
                </a:lnTo>
                <a:lnTo>
                  <a:pt x="1" y="41"/>
                </a:lnTo>
                <a:lnTo>
                  <a:pt x="3" y="46"/>
                </a:lnTo>
                <a:lnTo>
                  <a:pt x="4" y="51"/>
                </a:lnTo>
                <a:lnTo>
                  <a:pt x="8" y="54"/>
                </a:lnTo>
                <a:lnTo>
                  <a:pt x="11" y="58"/>
                </a:lnTo>
                <a:lnTo>
                  <a:pt x="16" y="61"/>
                </a:lnTo>
                <a:lnTo>
                  <a:pt x="19" y="62"/>
                </a:lnTo>
                <a:lnTo>
                  <a:pt x="24" y="61"/>
                </a:lnTo>
                <a:lnTo>
                  <a:pt x="19" y="59"/>
                </a:lnTo>
                <a:lnTo>
                  <a:pt x="16" y="58"/>
                </a:lnTo>
                <a:lnTo>
                  <a:pt x="11" y="54"/>
                </a:lnTo>
                <a:lnTo>
                  <a:pt x="8" y="49"/>
                </a:lnTo>
                <a:lnTo>
                  <a:pt x="6" y="46"/>
                </a:lnTo>
                <a:lnTo>
                  <a:pt x="4" y="41"/>
                </a:lnTo>
                <a:lnTo>
                  <a:pt x="3" y="36"/>
                </a:lnTo>
                <a:lnTo>
                  <a:pt x="3" y="31"/>
                </a:lnTo>
                <a:lnTo>
                  <a:pt x="3" y="29"/>
                </a:lnTo>
                <a:lnTo>
                  <a:pt x="3" y="28"/>
                </a:lnTo>
                <a:lnTo>
                  <a:pt x="3" y="26"/>
                </a:lnTo>
                <a:lnTo>
                  <a:pt x="3" y="24"/>
                </a:lnTo>
                <a:lnTo>
                  <a:pt x="3" y="23"/>
                </a:lnTo>
                <a:lnTo>
                  <a:pt x="4" y="21"/>
                </a:lnTo>
                <a:lnTo>
                  <a:pt x="0" y="23"/>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87" name="Freeform 2192">
            <a:extLst>
              <a:ext uri="{FF2B5EF4-FFF2-40B4-BE49-F238E27FC236}">
                <a16:creationId xmlns:a16="http://schemas.microsoft.com/office/drawing/2014/main" id="{06170592-8ABA-4ED9-866E-0E1337FC60EB}"/>
              </a:ext>
            </a:extLst>
          </p:cNvPr>
          <p:cNvSpPr>
            <a:spLocks noEditPoints="1"/>
          </p:cNvSpPr>
          <p:nvPr/>
        </p:nvSpPr>
        <p:spPr bwMode="auto">
          <a:xfrm>
            <a:off x="3467100" y="2552700"/>
            <a:ext cx="104775" cy="96838"/>
          </a:xfrm>
          <a:custGeom>
            <a:avLst/>
            <a:gdLst>
              <a:gd name="T0" fmla="*/ 65 w 66"/>
              <a:gd name="T1" fmla="*/ 25 h 61"/>
              <a:gd name="T2" fmla="*/ 63 w 66"/>
              <a:gd name="T3" fmla="*/ 17 h 61"/>
              <a:gd name="T4" fmla="*/ 58 w 66"/>
              <a:gd name="T5" fmla="*/ 8 h 61"/>
              <a:gd name="T6" fmla="*/ 50 w 66"/>
              <a:gd name="T7" fmla="*/ 2 h 61"/>
              <a:gd name="T8" fmla="*/ 42 w 66"/>
              <a:gd name="T9" fmla="*/ 2 h 61"/>
              <a:gd name="T10" fmla="*/ 50 w 66"/>
              <a:gd name="T11" fmla="*/ 7 h 61"/>
              <a:gd name="T12" fmla="*/ 56 w 66"/>
              <a:gd name="T13" fmla="*/ 12 h 61"/>
              <a:gd name="T14" fmla="*/ 61 w 66"/>
              <a:gd name="T15" fmla="*/ 20 h 61"/>
              <a:gd name="T16" fmla="*/ 63 w 66"/>
              <a:gd name="T17" fmla="*/ 30 h 61"/>
              <a:gd name="T18" fmla="*/ 63 w 66"/>
              <a:gd name="T19" fmla="*/ 33 h 61"/>
              <a:gd name="T20" fmla="*/ 61 w 66"/>
              <a:gd name="T21" fmla="*/ 38 h 61"/>
              <a:gd name="T22" fmla="*/ 61 w 66"/>
              <a:gd name="T23" fmla="*/ 42 h 61"/>
              <a:gd name="T24" fmla="*/ 63 w 66"/>
              <a:gd name="T25" fmla="*/ 42 h 61"/>
              <a:gd name="T26" fmla="*/ 65 w 66"/>
              <a:gd name="T27" fmla="*/ 38 h 61"/>
              <a:gd name="T28" fmla="*/ 66 w 66"/>
              <a:gd name="T29" fmla="*/ 35 h 61"/>
              <a:gd name="T30" fmla="*/ 66 w 66"/>
              <a:gd name="T31" fmla="*/ 32 h 61"/>
              <a:gd name="T32" fmla="*/ 2 w 66"/>
              <a:gd name="T33" fmla="*/ 20 h 61"/>
              <a:gd name="T34" fmla="*/ 0 w 66"/>
              <a:gd name="T35" fmla="*/ 23 h 61"/>
              <a:gd name="T36" fmla="*/ 0 w 66"/>
              <a:gd name="T37" fmla="*/ 27 h 61"/>
              <a:gd name="T38" fmla="*/ 0 w 66"/>
              <a:gd name="T39" fmla="*/ 30 h 61"/>
              <a:gd name="T40" fmla="*/ 2 w 66"/>
              <a:gd name="T41" fmla="*/ 40 h 61"/>
              <a:gd name="T42" fmla="*/ 5 w 66"/>
              <a:gd name="T43" fmla="*/ 50 h 61"/>
              <a:gd name="T44" fmla="*/ 12 w 66"/>
              <a:gd name="T45" fmla="*/ 57 h 61"/>
              <a:gd name="T46" fmla="*/ 22 w 66"/>
              <a:gd name="T47" fmla="*/ 61 h 61"/>
              <a:gd name="T48" fmla="*/ 20 w 66"/>
              <a:gd name="T49" fmla="*/ 58 h 61"/>
              <a:gd name="T50" fmla="*/ 13 w 66"/>
              <a:gd name="T51" fmla="*/ 52 h 61"/>
              <a:gd name="T52" fmla="*/ 7 w 66"/>
              <a:gd name="T53" fmla="*/ 45 h 61"/>
              <a:gd name="T54" fmla="*/ 3 w 66"/>
              <a:gd name="T55" fmla="*/ 35 h 61"/>
              <a:gd name="T56" fmla="*/ 3 w 66"/>
              <a:gd name="T57" fmla="*/ 28 h 61"/>
              <a:gd name="T58" fmla="*/ 3 w 66"/>
              <a:gd name="T59" fmla="*/ 25 h 61"/>
              <a:gd name="T60" fmla="*/ 5 w 66"/>
              <a:gd name="T61" fmla="*/ 22 h 61"/>
              <a:gd name="T62" fmla="*/ 5 w 66"/>
              <a:gd name="T63" fmla="*/ 18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6" h="61">
                <a:moveTo>
                  <a:pt x="66" y="30"/>
                </a:moveTo>
                <a:lnTo>
                  <a:pt x="65" y="25"/>
                </a:lnTo>
                <a:lnTo>
                  <a:pt x="65" y="20"/>
                </a:lnTo>
                <a:lnTo>
                  <a:pt x="63" y="17"/>
                </a:lnTo>
                <a:lnTo>
                  <a:pt x="60" y="12"/>
                </a:lnTo>
                <a:lnTo>
                  <a:pt x="58" y="8"/>
                </a:lnTo>
                <a:lnTo>
                  <a:pt x="55" y="5"/>
                </a:lnTo>
                <a:lnTo>
                  <a:pt x="50" y="2"/>
                </a:lnTo>
                <a:lnTo>
                  <a:pt x="47" y="0"/>
                </a:lnTo>
                <a:lnTo>
                  <a:pt x="42" y="2"/>
                </a:lnTo>
                <a:lnTo>
                  <a:pt x="47" y="4"/>
                </a:lnTo>
                <a:lnTo>
                  <a:pt x="50" y="7"/>
                </a:lnTo>
                <a:lnTo>
                  <a:pt x="53" y="8"/>
                </a:lnTo>
                <a:lnTo>
                  <a:pt x="56" y="12"/>
                </a:lnTo>
                <a:lnTo>
                  <a:pt x="60" y="17"/>
                </a:lnTo>
                <a:lnTo>
                  <a:pt x="61" y="20"/>
                </a:lnTo>
                <a:lnTo>
                  <a:pt x="61" y="25"/>
                </a:lnTo>
                <a:lnTo>
                  <a:pt x="63" y="30"/>
                </a:lnTo>
                <a:lnTo>
                  <a:pt x="63" y="32"/>
                </a:lnTo>
                <a:lnTo>
                  <a:pt x="63" y="33"/>
                </a:lnTo>
                <a:lnTo>
                  <a:pt x="61" y="35"/>
                </a:lnTo>
                <a:lnTo>
                  <a:pt x="61" y="38"/>
                </a:lnTo>
                <a:lnTo>
                  <a:pt x="61" y="40"/>
                </a:lnTo>
                <a:lnTo>
                  <a:pt x="61" y="42"/>
                </a:lnTo>
                <a:lnTo>
                  <a:pt x="60" y="43"/>
                </a:lnTo>
                <a:lnTo>
                  <a:pt x="63" y="42"/>
                </a:lnTo>
                <a:lnTo>
                  <a:pt x="65" y="40"/>
                </a:lnTo>
                <a:lnTo>
                  <a:pt x="65" y="38"/>
                </a:lnTo>
                <a:lnTo>
                  <a:pt x="65" y="37"/>
                </a:lnTo>
                <a:lnTo>
                  <a:pt x="66" y="35"/>
                </a:lnTo>
                <a:lnTo>
                  <a:pt x="66" y="33"/>
                </a:lnTo>
                <a:lnTo>
                  <a:pt x="66" y="32"/>
                </a:lnTo>
                <a:lnTo>
                  <a:pt x="66" y="30"/>
                </a:lnTo>
                <a:close/>
                <a:moveTo>
                  <a:pt x="2" y="20"/>
                </a:moveTo>
                <a:lnTo>
                  <a:pt x="0" y="22"/>
                </a:lnTo>
                <a:lnTo>
                  <a:pt x="0" y="23"/>
                </a:lnTo>
                <a:lnTo>
                  <a:pt x="0" y="25"/>
                </a:lnTo>
                <a:lnTo>
                  <a:pt x="0" y="27"/>
                </a:lnTo>
                <a:lnTo>
                  <a:pt x="0" y="28"/>
                </a:lnTo>
                <a:lnTo>
                  <a:pt x="0" y="30"/>
                </a:lnTo>
                <a:lnTo>
                  <a:pt x="0" y="35"/>
                </a:lnTo>
                <a:lnTo>
                  <a:pt x="2" y="40"/>
                </a:lnTo>
                <a:lnTo>
                  <a:pt x="3" y="45"/>
                </a:lnTo>
                <a:lnTo>
                  <a:pt x="5" y="50"/>
                </a:lnTo>
                <a:lnTo>
                  <a:pt x="8" y="53"/>
                </a:lnTo>
                <a:lnTo>
                  <a:pt x="12" y="57"/>
                </a:lnTo>
                <a:lnTo>
                  <a:pt x="17" y="60"/>
                </a:lnTo>
                <a:lnTo>
                  <a:pt x="22" y="61"/>
                </a:lnTo>
                <a:lnTo>
                  <a:pt x="25" y="60"/>
                </a:lnTo>
                <a:lnTo>
                  <a:pt x="20" y="58"/>
                </a:lnTo>
                <a:lnTo>
                  <a:pt x="17" y="55"/>
                </a:lnTo>
                <a:lnTo>
                  <a:pt x="13" y="52"/>
                </a:lnTo>
                <a:lnTo>
                  <a:pt x="10" y="48"/>
                </a:lnTo>
                <a:lnTo>
                  <a:pt x="7" y="45"/>
                </a:lnTo>
                <a:lnTo>
                  <a:pt x="5" y="40"/>
                </a:lnTo>
                <a:lnTo>
                  <a:pt x="3" y="35"/>
                </a:lnTo>
                <a:lnTo>
                  <a:pt x="3" y="30"/>
                </a:lnTo>
                <a:lnTo>
                  <a:pt x="3" y="28"/>
                </a:lnTo>
                <a:lnTo>
                  <a:pt x="3" y="27"/>
                </a:lnTo>
                <a:lnTo>
                  <a:pt x="3" y="25"/>
                </a:lnTo>
                <a:lnTo>
                  <a:pt x="3" y="23"/>
                </a:lnTo>
                <a:lnTo>
                  <a:pt x="5" y="22"/>
                </a:lnTo>
                <a:lnTo>
                  <a:pt x="5" y="20"/>
                </a:lnTo>
                <a:lnTo>
                  <a:pt x="5" y="18"/>
                </a:lnTo>
                <a:lnTo>
                  <a:pt x="2" y="2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88" name="Freeform 2193">
            <a:extLst>
              <a:ext uri="{FF2B5EF4-FFF2-40B4-BE49-F238E27FC236}">
                <a16:creationId xmlns:a16="http://schemas.microsoft.com/office/drawing/2014/main" id="{CF4A22D8-CAA5-2E58-7406-46F3BD8BD0AB}"/>
              </a:ext>
            </a:extLst>
          </p:cNvPr>
          <p:cNvSpPr>
            <a:spLocks noEditPoints="1"/>
          </p:cNvSpPr>
          <p:nvPr/>
        </p:nvSpPr>
        <p:spPr bwMode="auto">
          <a:xfrm>
            <a:off x="3470275" y="2552700"/>
            <a:ext cx="100013" cy="95250"/>
          </a:xfrm>
          <a:custGeom>
            <a:avLst/>
            <a:gdLst>
              <a:gd name="T0" fmla="*/ 61 w 63"/>
              <a:gd name="T1" fmla="*/ 25 h 60"/>
              <a:gd name="T2" fmla="*/ 59 w 63"/>
              <a:gd name="T3" fmla="*/ 17 h 60"/>
              <a:gd name="T4" fmla="*/ 53 w 63"/>
              <a:gd name="T5" fmla="*/ 8 h 60"/>
              <a:gd name="T6" fmla="*/ 46 w 63"/>
              <a:gd name="T7" fmla="*/ 4 h 60"/>
              <a:gd name="T8" fmla="*/ 38 w 63"/>
              <a:gd name="T9" fmla="*/ 4 h 60"/>
              <a:gd name="T10" fmla="*/ 46 w 63"/>
              <a:gd name="T11" fmla="*/ 7 h 60"/>
              <a:gd name="T12" fmla="*/ 53 w 63"/>
              <a:gd name="T13" fmla="*/ 13 h 60"/>
              <a:gd name="T14" fmla="*/ 58 w 63"/>
              <a:gd name="T15" fmla="*/ 20 h 60"/>
              <a:gd name="T16" fmla="*/ 59 w 63"/>
              <a:gd name="T17" fmla="*/ 30 h 60"/>
              <a:gd name="T18" fmla="*/ 59 w 63"/>
              <a:gd name="T19" fmla="*/ 35 h 60"/>
              <a:gd name="T20" fmla="*/ 58 w 63"/>
              <a:gd name="T21" fmla="*/ 38 h 60"/>
              <a:gd name="T22" fmla="*/ 56 w 63"/>
              <a:gd name="T23" fmla="*/ 42 h 60"/>
              <a:gd name="T24" fmla="*/ 54 w 63"/>
              <a:gd name="T25" fmla="*/ 45 h 60"/>
              <a:gd name="T26" fmla="*/ 59 w 63"/>
              <a:gd name="T27" fmla="*/ 42 h 60"/>
              <a:gd name="T28" fmla="*/ 61 w 63"/>
              <a:gd name="T29" fmla="*/ 38 h 60"/>
              <a:gd name="T30" fmla="*/ 61 w 63"/>
              <a:gd name="T31" fmla="*/ 35 h 60"/>
              <a:gd name="T32" fmla="*/ 63 w 63"/>
              <a:gd name="T33" fmla="*/ 32 h 60"/>
              <a:gd name="T34" fmla="*/ 1 w 63"/>
              <a:gd name="T35" fmla="*/ 20 h 60"/>
              <a:gd name="T36" fmla="*/ 0 w 63"/>
              <a:gd name="T37" fmla="*/ 22 h 60"/>
              <a:gd name="T38" fmla="*/ 0 w 63"/>
              <a:gd name="T39" fmla="*/ 25 h 60"/>
              <a:gd name="T40" fmla="*/ 0 w 63"/>
              <a:gd name="T41" fmla="*/ 28 h 60"/>
              <a:gd name="T42" fmla="*/ 0 w 63"/>
              <a:gd name="T43" fmla="*/ 35 h 60"/>
              <a:gd name="T44" fmla="*/ 3 w 63"/>
              <a:gd name="T45" fmla="*/ 45 h 60"/>
              <a:gd name="T46" fmla="*/ 8 w 63"/>
              <a:gd name="T47" fmla="*/ 53 h 60"/>
              <a:gd name="T48" fmla="*/ 16 w 63"/>
              <a:gd name="T49" fmla="*/ 58 h 60"/>
              <a:gd name="T50" fmla="*/ 26 w 63"/>
              <a:gd name="T51" fmla="*/ 58 h 60"/>
              <a:gd name="T52" fmla="*/ 16 w 63"/>
              <a:gd name="T53" fmla="*/ 55 h 60"/>
              <a:gd name="T54" fmla="*/ 10 w 63"/>
              <a:gd name="T55" fmla="*/ 48 h 60"/>
              <a:gd name="T56" fmla="*/ 5 w 63"/>
              <a:gd name="T57" fmla="*/ 40 h 60"/>
              <a:gd name="T58" fmla="*/ 3 w 63"/>
              <a:gd name="T59" fmla="*/ 30 h 60"/>
              <a:gd name="T60" fmla="*/ 3 w 63"/>
              <a:gd name="T61" fmla="*/ 27 h 60"/>
              <a:gd name="T62" fmla="*/ 3 w 63"/>
              <a:gd name="T63" fmla="*/ 23 h 60"/>
              <a:gd name="T64" fmla="*/ 5 w 63"/>
              <a:gd name="T65" fmla="*/ 20 h 60"/>
              <a:gd name="T66" fmla="*/ 6 w 63"/>
              <a:gd name="T67" fmla="*/ 17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3" h="60">
                <a:moveTo>
                  <a:pt x="63" y="30"/>
                </a:moveTo>
                <a:lnTo>
                  <a:pt x="61" y="25"/>
                </a:lnTo>
                <a:lnTo>
                  <a:pt x="61" y="20"/>
                </a:lnTo>
                <a:lnTo>
                  <a:pt x="59" y="17"/>
                </a:lnTo>
                <a:lnTo>
                  <a:pt x="56" y="12"/>
                </a:lnTo>
                <a:lnTo>
                  <a:pt x="53" y="8"/>
                </a:lnTo>
                <a:lnTo>
                  <a:pt x="50" y="5"/>
                </a:lnTo>
                <a:lnTo>
                  <a:pt x="46" y="4"/>
                </a:lnTo>
                <a:lnTo>
                  <a:pt x="41" y="0"/>
                </a:lnTo>
                <a:lnTo>
                  <a:pt x="38" y="4"/>
                </a:lnTo>
                <a:lnTo>
                  <a:pt x="41" y="5"/>
                </a:lnTo>
                <a:lnTo>
                  <a:pt x="46" y="7"/>
                </a:lnTo>
                <a:lnTo>
                  <a:pt x="50" y="10"/>
                </a:lnTo>
                <a:lnTo>
                  <a:pt x="53" y="13"/>
                </a:lnTo>
                <a:lnTo>
                  <a:pt x="56" y="17"/>
                </a:lnTo>
                <a:lnTo>
                  <a:pt x="58" y="20"/>
                </a:lnTo>
                <a:lnTo>
                  <a:pt x="58" y="25"/>
                </a:lnTo>
                <a:lnTo>
                  <a:pt x="59" y="30"/>
                </a:lnTo>
                <a:lnTo>
                  <a:pt x="59" y="32"/>
                </a:lnTo>
                <a:lnTo>
                  <a:pt x="59" y="35"/>
                </a:lnTo>
                <a:lnTo>
                  <a:pt x="58" y="37"/>
                </a:lnTo>
                <a:lnTo>
                  <a:pt x="58" y="38"/>
                </a:lnTo>
                <a:lnTo>
                  <a:pt x="58" y="40"/>
                </a:lnTo>
                <a:lnTo>
                  <a:pt x="56" y="42"/>
                </a:lnTo>
                <a:lnTo>
                  <a:pt x="56" y="43"/>
                </a:lnTo>
                <a:lnTo>
                  <a:pt x="54" y="45"/>
                </a:lnTo>
                <a:lnTo>
                  <a:pt x="59" y="43"/>
                </a:lnTo>
                <a:lnTo>
                  <a:pt x="59" y="42"/>
                </a:lnTo>
                <a:lnTo>
                  <a:pt x="61" y="40"/>
                </a:lnTo>
                <a:lnTo>
                  <a:pt x="61" y="38"/>
                </a:lnTo>
                <a:lnTo>
                  <a:pt x="61" y="37"/>
                </a:lnTo>
                <a:lnTo>
                  <a:pt x="61" y="35"/>
                </a:lnTo>
                <a:lnTo>
                  <a:pt x="63" y="33"/>
                </a:lnTo>
                <a:lnTo>
                  <a:pt x="63" y="32"/>
                </a:lnTo>
                <a:lnTo>
                  <a:pt x="63" y="30"/>
                </a:lnTo>
                <a:close/>
                <a:moveTo>
                  <a:pt x="1" y="20"/>
                </a:moveTo>
                <a:lnTo>
                  <a:pt x="1" y="20"/>
                </a:lnTo>
                <a:lnTo>
                  <a:pt x="0" y="22"/>
                </a:lnTo>
                <a:lnTo>
                  <a:pt x="0" y="23"/>
                </a:lnTo>
                <a:lnTo>
                  <a:pt x="0" y="25"/>
                </a:lnTo>
                <a:lnTo>
                  <a:pt x="0" y="27"/>
                </a:lnTo>
                <a:lnTo>
                  <a:pt x="0" y="28"/>
                </a:lnTo>
                <a:lnTo>
                  <a:pt x="0" y="30"/>
                </a:lnTo>
                <a:lnTo>
                  <a:pt x="0" y="35"/>
                </a:lnTo>
                <a:lnTo>
                  <a:pt x="1" y="40"/>
                </a:lnTo>
                <a:lnTo>
                  <a:pt x="3" y="45"/>
                </a:lnTo>
                <a:lnTo>
                  <a:pt x="5" y="48"/>
                </a:lnTo>
                <a:lnTo>
                  <a:pt x="8" y="53"/>
                </a:lnTo>
                <a:lnTo>
                  <a:pt x="13" y="57"/>
                </a:lnTo>
                <a:lnTo>
                  <a:pt x="16" y="58"/>
                </a:lnTo>
                <a:lnTo>
                  <a:pt x="21" y="60"/>
                </a:lnTo>
                <a:lnTo>
                  <a:pt x="26" y="58"/>
                </a:lnTo>
                <a:lnTo>
                  <a:pt x="21" y="57"/>
                </a:lnTo>
                <a:lnTo>
                  <a:pt x="16" y="55"/>
                </a:lnTo>
                <a:lnTo>
                  <a:pt x="13" y="52"/>
                </a:lnTo>
                <a:lnTo>
                  <a:pt x="10" y="48"/>
                </a:lnTo>
                <a:lnTo>
                  <a:pt x="6" y="45"/>
                </a:lnTo>
                <a:lnTo>
                  <a:pt x="5" y="40"/>
                </a:lnTo>
                <a:lnTo>
                  <a:pt x="3" y="35"/>
                </a:lnTo>
                <a:lnTo>
                  <a:pt x="3" y="30"/>
                </a:lnTo>
                <a:lnTo>
                  <a:pt x="3" y="28"/>
                </a:lnTo>
                <a:lnTo>
                  <a:pt x="3" y="27"/>
                </a:lnTo>
                <a:lnTo>
                  <a:pt x="3" y="25"/>
                </a:lnTo>
                <a:lnTo>
                  <a:pt x="3" y="23"/>
                </a:lnTo>
                <a:lnTo>
                  <a:pt x="3" y="22"/>
                </a:lnTo>
                <a:lnTo>
                  <a:pt x="5" y="20"/>
                </a:lnTo>
                <a:lnTo>
                  <a:pt x="5" y="18"/>
                </a:lnTo>
                <a:lnTo>
                  <a:pt x="6" y="17"/>
                </a:lnTo>
                <a:lnTo>
                  <a:pt x="1" y="2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89" name="Freeform 2194">
            <a:extLst>
              <a:ext uri="{FF2B5EF4-FFF2-40B4-BE49-F238E27FC236}">
                <a16:creationId xmlns:a16="http://schemas.microsoft.com/office/drawing/2014/main" id="{8990D47D-BD07-B0D1-BF98-5EB0AA64F1D7}"/>
              </a:ext>
            </a:extLst>
          </p:cNvPr>
          <p:cNvSpPr>
            <a:spLocks noEditPoints="1"/>
          </p:cNvSpPr>
          <p:nvPr/>
        </p:nvSpPr>
        <p:spPr bwMode="auto">
          <a:xfrm>
            <a:off x="3471863" y="2555875"/>
            <a:ext cx="95250" cy="92075"/>
          </a:xfrm>
          <a:custGeom>
            <a:avLst/>
            <a:gdLst>
              <a:gd name="T0" fmla="*/ 58 w 60"/>
              <a:gd name="T1" fmla="*/ 23 h 58"/>
              <a:gd name="T2" fmla="*/ 57 w 60"/>
              <a:gd name="T3" fmla="*/ 15 h 58"/>
              <a:gd name="T4" fmla="*/ 50 w 60"/>
              <a:gd name="T5" fmla="*/ 6 h 58"/>
              <a:gd name="T6" fmla="*/ 44 w 60"/>
              <a:gd name="T7" fmla="*/ 2 h 58"/>
              <a:gd name="T8" fmla="*/ 34 w 60"/>
              <a:gd name="T9" fmla="*/ 2 h 58"/>
              <a:gd name="T10" fmla="*/ 44 w 60"/>
              <a:gd name="T11" fmla="*/ 5 h 58"/>
              <a:gd name="T12" fmla="*/ 50 w 60"/>
              <a:gd name="T13" fmla="*/ 11 h 58"/>
              <a:gd name="T14" fmla="*/ 55 w 60"/>
              <a:gd name="T15" fmla="*/ 18 h 58"/>
              <a:gd name="T16" fmla="*/ 57 w 60"/>
              <a:gd name="T17" fmla="*/ 28 h 58"/>
              <a:gd name="T18" fmla="*/ 55 w 60"/>
              <a:gd name="T19" fmla="*/ 33 h 58"/>
              <a:gd name="T20" fmla="*/ 55 w 60"/>
              <a:gd name="T21" fmla="*/ 36 h 58"/>
              <a:gd name="T22" fmla="*/ 53 w 60"/>
              <a:gd name="T23" fmla="*/ 41 h 58"/>
              <a:gd name="T24" fmla="*/ 50 w 60"/>
              <a:gd name="T25" fmla="*/ 45 h 58"/>
              <a:gd name="T26" fmla="*/ 58 w 60"/>
              <a:gd name="T27" fmla="*/ 40 h 58"/>
              <a:gd name="T28" fmla="*/ 58 w 60"/>
              <a:gd name="T29" fmla="*/ 36 h 58"/>
              <a:gd name="T30" fmla="*/ 60 w 60"/>
              <a:gd name="T31" fmla="*/ 31 h 58"/>
              <a:gd name="T32" fmla="*/ 60 w 60"/>
              <a:gd name="T33" fmla="*/ 28 h 58"/>
              <a:gd name="T34" fmla="*/ 2 w 60"/>
              <a:gd name="T35" fmla="*/ 18 h 58"/>
              <a:gd name="T36" fmla="*/ 0 w 60"/>
              <a:gd name="T37" fmla="*/ 21 h 58"/>
              <a:gd name="T38" fmla="*/ 0 w 60"/>
              <a:gd name="T39" fmla="*/ 25 h 58"/>
              <a:gd name="T40" fmla="*/ 0 w 60"/>
              <a:gd name="T41" fmla="*/ 28 h 58"/>
              <a:gd name="T42" fmla="*/ 2 w 60"/>
              <a:gd name="T43" fmla="*/ 38 h 58"/>
              <a:gd name="T44" fmla="*/ 7 w 60"/>
              <a:gd name="T45" fmla="*/ 46 h 58"/>
              <a:gd name="T46" fmla="*/ 14 w 60"/>
              <a:gd name="T47" fmla="*/ 53 h 58"/>
              <a:gd name="T48" fmla="*/ 22 w 60"/>
              <a:gd name="T49" fmla="*/ 58 h 58"/>
              <a:gd name="T50" fmla="*/ 24 w 60"/>
              <a:gd name="T51" fmla="*/ 55 h 58"/>
              <a:gd name="T52" fmla="*/ 14 w 60"/>
              <a:gd name="T53" fmla="*/ 50 h 58"/>
              <a:gd name="T54" fmla="*/ 7 w 60"/>
              <a:gd name="T55" fmla="*/ 43 h 58"/>
              <a:gd name="T56" fmla="*/ 4 w 60"/>
              <a:gd name="T57" fmla="*/ 33 h 58"/>
              <a:gd name="T58" fmla="*/ 4 w 60"/>
              <a:gd name="T59" fmla="*/ 26 h 58"/>
              <a:gd name="T60" fmla="*/ 4 w 60"/>
              <a:gd name="T61" fmla="*/ 23 h 58"/>
              <a:gd name="T62" fmla="*/ 5 w 60"/>
              <a:gd name="T63" fmla="*/ 20 h 58"/>
              <a:gd name="T64" fmla="*/ 7 w 60"/>
              <a:gd name="T65" fmla="*/ 16 h 58"/>
              <a:gd name="T66" fmla="*/ 2 w 60"/>
              <a:gd name="T67" fmla="*/ 16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0" h="58">
                <a:moveTo>
                  <a:pt x="60" y="28"/>
                </a:moveTo>
                <a:lnTo>
                  <a:pt x="58" y="23"/>
                </a:lnTo>
                <a:lnTo>
                  <a:pt x="58" y="18"/>
                </a:lnTo>
                <a:lnTo>
                  <a:pt x="57" y="15"/>
                </a:lnTo>
                <a:lnTo>
                  <a:pt x="53" y="10"/>
                </a:lnTo>
                <a:lnTo>
                  <a:pt x="50" y="6"/>
                </a:lnTo>
                <a:lnTo>
                  <a:pt x="47" y="5"/>
                </a:lnTo>
                <a:lnTo>
                  <a:pt x="44" y="2"/>
                </a:lnTo>
                <a:lnTo>
                  <a:pt x="39" y="0"/>
                </a:lnTo>
                <a:lnTo>
                  <a:pt x="34" y="2"/>
                </a:lnTo>
                <a:lnTo>
                  <a:pt x="39" y="3"/>
                </a:lnTo>
                <a:lnTo>
                  <a:pt x="44" y="5"/>
                </a:lnTo>
                <a:lnTo>
                  <a:pt x="47" y="8"/>
                </a:lnTo>
                <a:lnTo>
                  <a:pt x="50" y="11"/>
                </a:lnTo>
                <a:lnTo>
                  <a:pt x="52" y="15"/>
                </a:lnTo>
                <a:lnTo>
                  <a:pt x="55" y="18"/>
                </a:lnTo>
                <a:lnTo>
                  <a:pt x="55" y="23"/>
                </a:lnTo>
                <a:lnTo>
                  <a:pt x="57" y="28"/>
                </a:lnTo>
                <a:lnTo>
                  <a:pt x="57" y="31"/>
                </a:lnTo>
                <a:lnTo>
                  <a:pt x="55" y="33"/>
                </a:lnTo>
                <a:lnTo>
                  <a:pt x="55" y="35"/>
                </a:lnTo>
                <a:lnTo>
                  <a:pt x="55" y="36"/>
                </a:lnTo>
                <a:lnTo>
                  <a:pt x="53" y="40"/>
                </a:lnTo>
                <a:lnTo>
                  <a:pt x="53" y="41"/>
                </a:lnTo>
                <a:lnTo>
                  <a:pt x="52" y="43"/>
                </a:lnTo>
                <a:lnTo>
                  <a:pt x="50" y="45"/>
                </a:lnTo>
                <a:lnTo>
                  <a:pt x="57" y="41"/>
                </a:lnTo>
                <a:lnTo>
                  <a:pt x="58" y="40"/>
                </a:lnTo>
                <a:lnTo>
                  <a:pt x="58" y="38"/>
                </a:lnTo>
                <a:lnTo>
                  <a:pt x="58" y="36"/>
                </a:lnTo>
                <a:lnTo>
                  <a:pt x="58" y="33"/>
                </a:lnTo>
                <a:lnTo>
                  <a:pt x="60" y="31"/>
                </a:lnTo>
                <a:lnTo>
                  <a:pt x="60" y="30"/>
                </a:lnTo>
                <a:lnTo>
                  <a:pt x="60" y="28"/>
                </a:lnTo>
                <a:close/>
                <a:moveTo>
                  <a:pt x="2" y="16"/>
                </a:moveTo>
                <a:lnTo>
                  <a:pt x="2" y="18"/>
                </a:lnTo>
                <a:lnTo>
                  <a:pt x="2" y="20"/>
                </a:lnTo>
                <a:lnTo>
                  <a:pt x="0" y="21"/>
                </a:lnTo>
                <a:lnTo>
                  <a:pt x="0" y="23"/>
                </a:lnTo>
                <a:lnTo>
                  <a:pt x="0" y="25"/>
                </a:lnTo>
                <a:lnTo>
                  <a:pt x="0" y="26"/>
                </a:lnTo>
                <a:lnTo>
                  <a:pt x="0" y="28"/>
                </a:lnTo>
                <a:lnTo>
                  <a:pt x="0" y="33"/>
                </a:lnTo>
                <a:lnTo>
                  <a:pt x="2" y="38"/>
                </a:lnTo>
                <a:lnTo>
                  <a:pt x="4" y="43"/>
                </a:lnTo>
                <a:lnTo>
                  <a:pt x="7" y="46"/>
                </a:lnTo>
                <a:lnTo>
                  <a:pt x="10" y="50"/>
                </a:lnTo>
                <a:lnTo>
                  <a:pt x="14" y="53"/>
                </a:lnTo>
                <a:lnTo>
                  <a:pt x="17" y="56"/>
                </a:lnTo>
                <a:lnTo>
                  <a:pt x="22" y="58"/>
                </a:lnTo>
                <a:lnTo>
                  <a:pt x="29" y="55"/>
                </a:lnTo>
                <a:lnTo>
                  <a:pt x="24" y="55"/>
                </a:lnTo>
                <a:lnTo>
                  <a:pt x="19" y="53"/>
                </a:lnTo>
                <a:lnTo>
                  <a:pt x="14" y="50"/>
                </a:lnTo>
                <a:lnTo>
                  <a:pt x="10" y="46"/>
                </a:lnTo>
                <a:lnTo>
                  <a:pt x="7" y="43"/>
                </a:lnTo>
                <a:lnTo>
                  <a:pt x="5" y="38"/>
                </a:lnTo>
                <a:lnTo>
                  <a:pt x="4" y="33"/>
                </a:lnTo>
                <a:lnTo>
                  <a:pt x="4" y="28"/>
                </a:lnTo>
                <a:lnTo>
                  <a:pt x="4" y="26"/>
                </a:lnTo>
                <a:lnTo>
                  <a:pt x="4" y="25"/>
                </a:lnTo>
                <a:lnTo>
                  <a:pt x="4" y="23"/>
                </a:lnTo>
                <a:lnTo>
                  <a:pt x="4" y="21"/>
                </a:lnTo>
                <a:lnTo>
                  <a:pt x="5" y="20"/>
                </a:lnTo>
                <a:lnTo>
                  <a:pt x="5" y="18"/>
                </a:lnTo>
                <a:lnTo>
                  <a:pt x="7" y="16"/>
                </a:lnTo>
                <a:lnTo>
                  <a:pt x="7" y="15"/>
                </a:lnTo>
                <a:lnTo>
                  <a:pt x="2" y="16"/>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90" name="Freeform 2195">
            <a:extLst>
              <a:ext uri="{FF2B5EF4-FFF2-40B4-BE49-F238E27FC236}">
                <a16:creationId xmlns:a16="http://schemas.microsoft.com/office/drawing/2014/main" id="{8B2D1804-2C94-BF6E-7CF9-90166C97DA57}"/>
              </a:ext>
            </a:extLst>
          </p:cNvPr>
          <p:cNvSpPr>
            <a:spLocks noEditPoints="1"/>
          </p:cNvSpPr>
          <p:nvPr/>
        </p:nvSpPr>
        <p:spPr bwMode="auto">
          <a:xfrm>
            <a:off x="3475038" y="2559050"/>
            <a:ext cx="88900" cy="85725"/>
          </a:xfrm>
          <a:custGeom>
            <a:avLst/>
            <a:gdLst>
              <a:gd name="T0" fmla="*/ 55 w 56"/>
              <a:gd name="T1" fmla="*/ 21 h 54"/>
              <a:gd name="T2" fmla="*/ 53 w 56"/>
              <a:gd name="T3" fmla="*/ 13 h 54"/>
              <a:gd name="T4" fmla="*/ 47 w 56"/>
              <a:gd name="T5" fmla="*/ 6 h 54"/>
              <a:gd name="T6" fmla="*/ 38 w 56"/>
              <a:gd name="T7" fmla="*/ 1 h 54"/>
              <a:gd name="T8" fmla="*/ 28 w 56"/>
              <a:gd name="T9" fmla="*/ 1 h 54"/>
              <a:gd name="T10" fmla="*/ 38 w 56"/>
              <a:gd name="T11" fmla="*/ 4 h 54"/>
              <a:gd name="T12" fmla="*/ 47 w 56"/>
              <a:gd name="T13" fmla="*/ 9 h 54"/>
              <a:gd name="T14" fmla="*/ 51 w 56"/>
              <a:gd name="T15" fmla="*/ 16 h 54"/>
              <a:gd name="T16" fmla="*/ 53 w 56"/>
              <a:gd name="T17" fmla="*/ 26 h 54"/>
              <a:gd name="T18" fmla="*/ 51 w 56"/>
              <a:gd name="T19" fmla="*/ 31 h 54"/>
              <a:gd name="T20" fmla="*/ 50 w 56"/>
              <a:gd name="T21" fmla="*/ 36 h 54"/>
              <a:gd name="T22" fmla="*/ 48 w 56"/>
              <a:gd name="T23" fmla="*/ 41 h 54"/>
              <a:gd name="T24" fmla="*/ 45 w 56"/>
              <a:gd name="T25" fmla="*/ 44 h 54"/>
              <a:gd name="T26" fmla="*/ 53 w 56"/>
              <a:gd name="T27" fmla="*/ 39 h 54"/>
              <a:gd name="T28" fmla="*/ 55 w 56"/>
              <a:gd name="T29" fmla="*/ 36 h 54"/>
              <a:gd name="T30" fmla="*/ 55 w 56"/>
              <a:gd name="T31" fmla="*/ 33 h 54"/>
              <a:gd name="T32" fmla="*/ 56 w 56"/>
              <a:gd name="T33" fmla="*/ 28 h 54"/>
              <a:gd name="T34" fmla="*/ 3 w 56"/>
              <a:gd name="T35" fmla="*/ 13 h 54"/>
              <a:gd name="T36" fmla="*/ 2 w 56"/>
              <a:gd name="T37" fmla="*/ 16 h 54"/>
              <a:gd name="T38" fmla="*/ 0 w 56"/>
              <a:gd name="T39" fmla="*/ 19 h 54"/>
              <a:gd name="T40" fmla="*/ 0 w 56"/>
              <a:gd name="T41" fmla="*/ 23 h 54"/>
              <a:gd name="T42" fmla="*/ 0 w 56"/>
              <a:gd name="T43" fmla="*/ 26 h 54"/>
              <a:gd name="T44" fmla="*/ 2 w 56"/>
              <a:gd name="T45" fmla="*/ 36 h 54"/>
              <a:gd name="T46" fmla="*/ 7 w 56"/>
              <a:gd name="T47" fmla="*/ 44 h 54"/>
              <a:gd name="T48" fmla="*/ 13 w 56"/>
              <a:gd name="T49" fmla="*/ 51 h 54"/>
              <a:gd name="T50" fmla="*/ 23 w 56"/>
              <a:gd name="T51" fmla="*/ 54 h 54"/>
              <a:gd name="T52" fmla="*/ 28 w 56"/>
              <a:gd name="T53" fmla="*/ 51 h 54"/>
              <a:gd name="T54" fmla="*/ 18 w 56"/>
              <a:gd name="T55" fmla="*/ 49 h 54"/>
              <a:gd name="T56" fmla="*/ 10 w 56"/>
              <a:gd name="T57" fmla="*/ 44 h 54"/>
              <a:gd name="T58" fmla="*/ 5 w 56"/>
              <a:gd name="T59" fmla="*/ 36 h 54"/>
              <a:gd name="T60" fmla="*/ 3 w 56"/>
              <a:gd name="T61" fmla="*/ 26 h 54"/>
              <a:gd name="T62" fmla="*/ 3 w 56"/>
              <a:gd name="T63" fmla="*/ 23 h 54"/>
              <a:gd name="T64" fmla="*/ 5 w 56"/>
              <a:gd name="T65" fmla="*/ 18 h 54"/>
              <a:gd name="T66" fmla="*/ 7 w 56"/>
              <a:gd name="T67" fmla="*/ 14 h 54"/>
              <a:gd name="T68" fmla="*/ 8 w 56"/>
              <a:gd name="T69" fmla="*/ 11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 h="54">
                <a:moveTo>
                  <a:pt x="56" y="26"/>
                </a:moveTo>
                <a:lnTo>
                  <a:pt x="55" y="21"/>
                </a:lnTo>
                <a:lnTo>
                  <a:pt x="55" y="16"/>
                </a:lnTo>
                <a:lnTo>
                  <a:pt x="53" y="13"/>
                </a:lnTo>
                <a:lnTo>
                  <a:pt x="50" y="9"/>
                </a:lnTo>
                <a:lnTo>
                  <a:pt x="47" y="6"/>
                </a:lnTo>
                <a:lnTo>
                  <a:pt x="43" y="3"/>
                </a:lnTo>
                <a:lnTo>
                  <a:pt x="38" y="1"/>
                </a:lnTo>
                <a:lnTo>
                  <a:pt x="35" y="0"/>
                </a:lnTo>
                <a:lnTo>
                  <a:pt x="28" y="1"/>
                </a:lnTo>
                <a:lnTo>
                  <a:pt x="33" y="3"/>
                </a:lnTo>
                <a:lnTo>
                  <a:pt x="38" y="4"/>
                </a:lnTo>
                <a:lnTo>
                  <a:pt x="42" y="6"/>
                </a:lnTo>
                <a:lnTo>
                  <a:pt x="47" y="9"/>
                </a:lnTo>
                <a:lnTo>
                  <a:pt x="48" y="13"/>
                </a:lnTo>
                <a:lnTo>
                  <a:pt x="51" y="16"/>
                </a:lnTo>
                <a:lnTo>
                  <a:pt x="51" y="21"/>
                </a:lnTo>
                <a:lnTo>
                  <a:pt x="53" y="26"/>
                </a:lnTo>
                <a:lnTo>
                  <a:pt x="53" y="29"/>
                </a:lnTo>
                <a:lnTo>
                  <a:pt x="51" y="31"/>
                </a:lnTo>
                <a:lnTo>
                  <a:pt x="51" y="34"/>
                </a:lnTo>
                <a:lnTo>
                  <a:pt x="50" y="36"/>
                </a:lnTo>
                <a:lnTo>
                  <a:pt x="50" y="38"/>
                </a:lnTo>
                <a:lnTo>
                  <a:pt x="48" y="41"/>
                </a:lnTo>
                <a:lnTo>
                  <a:pt x="47" y="43"/>
                </a:lnTo>
                <a:lnTo>
                  <a:pt x="45" y="44"/>
                </a:lnTo>
                <a:lnTo>
                  <a:pt x="51" y="41"/>
                </a:lnTo>
                <a:lnTo>
                  <a:pt x="53" y="39"/>
                </a:lnTo>
                <a:lnTo>
                  <a:pt x="53" y="38"/>
                </a:lnTo>
                <a:lnTo>
                  <a:pt x="55" y="36"/>
                </a:lnTo>
                <a:lnTo>
                  <a:pt x="55" y="34"/>
                </a:lnTo>
                <a:lnTo>
                  <a:pt x="55" y="33"/>
                </a:lnTo>
                <a:lnTo>
                  <a:pt x="56" y="31"/>
                </a:lnTo>
                <a:lnTo>
                  <a:pt x="56" y="28"/>
                </a:lnTo>
                <a:lnTo>
                  <a:pt x="56" y="26"/>
                </a:lnTo>
                <a:close/>
                <a:moveTo>
                  <a:pt x="3" y="13"/>
                </a:moveTo>
                <a:lnTo>
                  <a:pt x="2" y="14"/>
                </a:lnTo>
                <a:lnTo>
                  <a:pt x="2" y="16"/>
                </a:lnTo>
                <a:lnTo>
                  <a:pt x="0" y="18"/>
                </a:lnTo>
                <a:lnTo>
                  <a:pt x="0" y="19"/>
                </a:lnTo>
                <a:lnTo>
                  <a:pt x="0" y="21"/>
                </a:lnTo>
                <a:lnTo>
                  <a:pt x="0" y="23"/>
                </a:lnTo>
                <a:lnTo>
                  <a:pt x="0" y="24"/>
                </a:lnTo>
                <a:lnTo>
                  <a:pt x="0" y="26"/>
                </a:lnTo>
                <a:lnTo>
                  <a:pt x="0" y="31"/>
                </a:lnTo>
                <a:lnTo>
                  <a:pt x="2" y="36"/>
                </a:lnTo>
                <a:lnTo>
                  <a:pt x="3" y="41"/>
                </a:lnTo>
                <a:lnTo>
                  <a:pt x="7" y="44"/>
                </a:lnTo>
                <a:lnTo>
                  <a:pt x="10" y="48"/>
                </a:lnTo>
                <a:lnTo>
                  <a:pt x="13" y="51"/>
                </a:lnTo>
                <a:lnTo>
                  <a:pt x="18" y="53"/>
                </a:lnTo>
                <a:lnTo>
                  <a:pt x="23" y="54"/>
                </a:lnTo>
                <a:lnTo>
                  <a:pt x="30" y="51"/>
                </a:lnTo>
                <a:lnTo>
                  <a:pt x="28" y="51"/>
                </a:lnTo>
                <a:lnTo>
                  <a:pt x="23" y="51"/>
                </a:lnTo>
                <a:lnTo>
                  <a:pt x="18" y="49"/>
                </a:lnTo>
                <a:lnTo>
                  <a:pt x="13" y="48"/>
                </a:lnTo>
                <a:lnTo>
                  <a:pt x="10" y="44"/>
                </a:lnTo>
                <a:lnTo>
                  <a:pt x="7" y="41"/>
                </a:lnTo>
                <a:lnTo>
                  <a:pt x="5" y="36"/>
                </a:lnTo>
                <a:lnTo>
                  <a:pt x="3" y="31"/>
                </a:lnTo>
                <a:lnTo>
                  <a:pt x="3" y="26"/>
                </a:lnTo>
                <a:lnTo>
                  <a:pt x="3" y="24"/>
                </a:lnTo>
                <a:lnTo>
                  <a:pt x="3" y="23"/>
                </a:lnTo>
                <a:lnTo>
                  <a:pt x="3" y="19"/>
                </a:lnTo>
                <a:lnTo>
                  <a:pt x="5" y="18"/>
                </a:lnTo>
                <a:lnTo>
                  <a:pt x="5" y="16"/>
                </a:lnTo>
                <a:lnTo>
                  <a:pt x="7" y="14"/>
                </a:lnTo>
                <a:lnTo>
                  <a:pt x="7" y="13"/>
                </a:lnTo>
                <a:lnTo>
                  <a:pt x="8" y="11"/>
                </a:lnTo>
                <a:lnTo>
                  <a:pt x="3" y="13"/>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91" name="Freeform 2196">
            <a:extLst>
              <a:ext uri="{FF2B5EF4-FFF2-40B4-BE49-F238E27FC236}">
                <a16:creationId xmlns:a16="http://schemas.microsoft.com/office/drawing/2014/main" id="{7E67277A-4297-2CC2-4BFB-EAA71A846C3D}"/>
              </a:ext>
            </a:extLst>
          </p:cNvPr>
          <p:cNvSpPr>
            <a:spLocks/>
          </p:cNvSpPr>
          <p:nvPr/>
        </p:nvSpPr>
        <p:spPr bwMode="auto">
          <a:xfrm>
            <a:off x="3478213" y="2559050"/>
            <a:ext cx="84138" cy="84138"/>
          </a:xfrm>
          <a:custGeom>
            <a:avLst/>
            <a:gdLst>
              <a:gd name="T0" fmla="*/ 51 w 53"/>
              <a:gd name="T1" fmla="*/ 21 h 53"/>
              <a:gd name="T2" fmla="*/ 48 w 53"/>
              <a:gd name="T3" fmla="*/ 13 h 53"/>
              <a:gd name="T4" fmla="*/ 43 w 53"/>
              <a:gd name="T5" fmla="*/ 6 h 53"/>
              <a:gd name="T6" fmla="*/ 35 w 53"/>
              <a:gd name="T7" fmla="*/ 1 h 53"/>
              <a:gd name="T8" fmla="*/ 23 w 53"/>
              <a:gd name="T9" fmla="*/ 3 h 53"/>
              <a:gd name="T10" fmla="*/ 26 w 53"/>
              <a:gd name="T11" fmla="*/ 3 h 53"/>
              <a:gd name="T12" fmla="*/ 35 w 53"/>
              <a:gd name="T13" fmla="*/ 4 h 53"/>
              <a:gd name="T14" fmla="*/ 43 w 53"/>
              <a:gd name="T15" fmla="*/ 9 h 53"/>
              <a:gd name="T16" fmla="*/ 48 w 53"/>
              <a:gd name="T17" fmla="*/ 18 h 53"/>
              <a:gd name="T18" fmla="*/ 49 w 53"/>
              <a:gd name="T19" fmla="*/ 26 h 53"/>
              <a:gd name="T20" fmla="*/ 48 w 53"/>
              <a:gd name="T21" fmla="*/ 36 h 53"/>
              <a:gd name="T22" fmla="*/ 43 w 53"/>
              <a:gd name="T23" fmla="*/ 43 h 53"/>
              <a:gd name="T24" fmla="*/ 35 w 53"/>
              <a:gd name="T25" fmla="*/ 48 h 53"/>
              <a:gd name="T26" fmla="*/ 26 w 53"/>
              <a:gd name="T27" fmla="*/ 49 h 53"/>
              <a:gd name="T28" fmla="*/ 16 w 53"/>
              <a:gd name="T29" fmla="*/ 48 h 53"/>
              <a:gd name="T30" fmla="*/ 10 w 53"/>
              <a:gd name="T31" fmla="*/ 43 h 53"/>
              <a:gd name="T32" fmla="*/ 5 w 53"/>
              <a:gd name="T33" fmla="*/ 36 h 53"/>
              <a:gd name="T34" fmla="*/ 3 w 53"/>
              <a:gd name="T35" fmla="*/ 26 h 53"/>
              <a:gd name="T36" fmla="*/ 3 w 53"/>
              <a:gd name="T37" fmla="*/ 21 h 53"/>
              <a:gd name="T38" fmla="*/ 5 w 53"/>
              <a:gd name="T39" fmla="*/ 16 h 53"/>
              <a:gd name="T40" fmla="*/ 6 w 53"/>
              <a:gd name="T41" fmla="*/ 13 h 53"/>
              <a:gd name="T42" fmla="*/ 10 w 53"/>
              <a:gd name="T43" fmla="*/ 9 h 53"/>
              <a:gd name="T44" fmla="*/ 3 w 53"/>
              <a:gd name="T45" fmla="*/ 14 h 53"/>
              <a:gd name="T46" fmla="*/ 1 w 53"/>
              <a:gd name="T47" fmla="*/ 18 h 53"/>
              <a:gd name="T48" fmla="*/ 0 w 53"/>
              <a:gd name="T49" fmla="*/ 21 h 53"/>
              <a:gd name="T50" fmla="*/ 0 w 53"/>
              <a:gd name="T51" fmla="*/ 24 h 53"/>
              <a:gd name="T52" fmla="*/ 0 w 53"/>
              <a:gd name="T53" fmla="*/ 31 h 53"/>
              <a:gd name="T54" fmla="*/ 3 w 53"/>
              <a:gd name="T55" fmla="*/ 41 h 53"/>
              <a:gd name="T56" fmla="*/ 10 w 53"/>
              <a:gd name="T57" fmla="*/ 48 h 53"/>
              <a:gd name="T58" fmla="*/ 20 w 53"/>
              <a:gd name="T59" fmla="*/ 53 h 53"/>
              <a:gd name="T60" fmla="*/ 46 w 53"/>
              <a:gd name="T61" fmla="*/ 43 h 53"/>
              <a:gd name="T62" fmla="*/ 49 w 53"/>
              <a:gd name="T63" fmla="*/ 39 h 53"/>
              <a:gd name="T64" fmla="*/ 51 w 53"/>
              <a:gd name="T65" fmla="*/ 34 h 53"/>
              <a:gd name="T66" fmla="*/ 51 w 53"/>
              <a:gd name="T67" fmla="*/ 31 h 53"/>
              <a:gd name="T68" fmla="*/ 53 w 53"/>
              <a:gd name="T69" fmla="*/ 26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 h="53">
                <a:moveTo>
                  <a:pt x="53" y="26"/>
                </a:moveTo>
                <a:lnTo>
                  <a:pt x="51" y="21"/>
                </a:lnTo>
                <a:lnTo>
                  <a:pt x="51" y="16"/>
                </a:lnTo>
                <a:lnTo>
                  <a:pt x="48" y="13"/>
                </a:lnTo>
                <a:lnTo>
                  <a:pt x="46" y="9"/>
                </a:lnTo>
                <a:lnTo>
                  <a:pt x="43" y="6"/>
                </a:lnTo>
                <a:lnTo>
                  <a:pt x="40" y="3"/>
                </a:lnTo>
                <a:lnTo>
                  <a:pt x="35" y="1"/>
                </a:lnTo>
                <a:lnTo>
                  <a:pt x="30" y="0"/>
                </a:lnTo>
                <a:lnTo>
                  <a:pt x="23" y="3"/>
                </a:lnTo>
                <a:lnTo>
                  <a:pt x="25" y="3"/>
                </a:lnTo>
                <a:lnTo>
                  <a:pt x="26" y="3"/>
                </a:lnTo>
                <a:lnTo>
                  <a:pt x="31" y="3"/>
                </a:lnTo>
                <a:lnTo>
                  <a:pt x="35" y="4"/>
                </a:lnTo>
                <a:lnTo>
                  <a:pt x="40" y="8"/>
                </a:lnTo>
                <a:lnTo>
                  <a:pt x="43" y="9"/>
                </a:lnTo>
                <a:lnTo>
                  <a:pt x="45" y="13"/>
                </a:lnTo>
                <a:lnTo>
                  <a:pt x="48" y="18"/>
                </a:lnTo>
                <a:lnTo>
                  <a:pt x="48" y="21"/>
                </a:lnTo>
                <a:lnTo>
                  <a:pt x="49" y="26"/>
                </a:lnTo>
                <a:lnTo>
                  <a:pt x="48" y="31"/>
                </a:lnTo>
                <a:lnTo>
                  <a:pt x="48" y="36"/>
                </a:lnTo>
                <a:lnTo>
                  <a:pt x="45" y="39"/>
                </a:lnTo>
                <a:lnTo>
                  <a:pt x="43" y="43"/>
                </a:lnTo>
                <a:lnTo>
                  <a:pt x="40" y="46"/>
                </a:lnTo>
                <a:lnTo>
                  <a:pt x="35" y="48"/>
                </a:lnTo>
                <a:lnTo>
                  <a:pt x="31" y="49"/>
                </a:lnTo>
                <a:lnTo>
                  <a:pt x="26" y="49"/>
                </a:lnTo>
                <a:lnTo>
                  <a:pt x="21" y="49"/>
                </a:lnTo>
                <a:lnTo>
                  <a:pt x="16" y="48"/>
                </a:lnTo>
                <a:lnTo>
                  <a:pt x="13" y="46"/>
                </a:lnTo>
                <a:lnTo>
                  <a:pt x="10" y="43"/>
                </a:lnTo>
                <a:lnTo>
                  <a:pt x="6" y="39"/>
                </a:lnTo>
                <a:lnTo>
                  <a:pt x="5" y="36"/>
                </a:lnTo>
                <a:lnTo>
                  <a:pt x="3" y="31"/>
                </a:lnTo>
                <a:lnTo>
                  <a:pt x="3" y="26"/>
                </a:lnTo>
                <a:lnTo>
                  <a:pt x="3" y="24"/>
                </a:lnTo>
                <a:lnTo>
                  <a:pt x="3" y="21"/>
                </a:lnTo>
                <a:lnTo>
                  <a:pt x="3" y="19"/>
                </a:lnTo>
                <a:lnTo>
                  <a:pt x="5" y="16"/>
                </a:lnTo>
                <a:lnTo>
                  <a:pt x="6" y="14"/>
                </a:lnTo>
                <a:lnTo>
                  <a:pt x="6" y="13"/>
                </a:lnTo>
                <a:lnTo>
                  <a:pt x="8" y="11"/>
                </a:lnTo>
                <a:lnTo>
                  <a:pt x="10" y="9"/>
                </a:lnTo>
                <a:lnTo>
                  <a:pt x="3" y="13"/>
                </a:lnTo>
                <a:lnTo>
                  <a:pt x="3" y="14"/>
                </a:lnTo>
                <a:lnTo>
                  <a:pt x="1" y="16"/>
                </a:lnTo>
                <a:lnTo>
                  <a:pt x="1" y="18"/>
                </a:lnTo>
                <a:lnTo>
                  <a:pt x="0" y="19"/>
                </a:lnTo>
                <a:lnTo>
                  <a:pt x="0" y="21"/>
                </a:lnTo>
                <a:lnTo>
                  <a:pt x="0" y="23"/>
                </a:lnTo>
                <a:lnTo>
                  <a:pt x="0" y="24"/>
                </a:lnTo>
                <a:lnTo>
                  <a:pt x="0" y="26"/>
                </a:lnTo>
                <a:lnTo>
                  <a:pt x="0" y="31"/>
                </a:lnTo>
                <a:lnTo>
                  <a:pt x="1" y="36"/>
                </a:lnTo>
                <a:lnTo>
                  <a:pt x="3" y="41"/>
                </a:lnTo>
                <a:lnTo>
                  <a:pt x="6" y="44"/>
                </a:lnTo>
                <a:lnTo>
                  <a:pt x="10" y="48"/>
                </a:lnTo>
                <a:lnTo>
                  <a:pt x="15" y="51"/>
                </a:lnTo>
                <a:lnTo>
                  <a:pt x="20" y="53"/>
                </a:lnTo>
                <a:lnTo>
                  <a:pt x="25" y="53"/>
                </a:lnTo>
                <a:lnTo>
                  <a:pt x="46" y="43"/>
                </a:lnTo>
                <a:lnTo>
                  <a:pt x="48" y="41"/>
                </a:lnTo>
                <a:lnTo>
                  <a:pt x="49" y="39"/>
                </a:lnTo>
                <a:lnTo>
                  <a:pt x="49" y="38"/>
                </a:lnTo>
                <a:lnTo>
                  <a:pt x="51" y="34"/>
                </a:lnTo>
                <a:lnTo>
                  <a:pt x="51" y="33"/>
                </a:lnTo>
                <a:lnTo>
                  <a:pt x="51" y="31"/>
                </a:lnTo>
                <a:lnTo>
                  <a:pt x="53" y="29"/>
                </a:lnTo>
                <a:lnTo>
                  <a:pt x="53" y="26"/>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92" name="Freeform 2197">
            <a:extLst>
              <a:ext uri="{FF2B5EF4-FFF2-40B4-BE49-F238E27FC236}">
                <a16:creationId xmlns:a16="http://schemas.microsoft.com/office/drawing/2014/main" id="{AEFDF805-7BB2-0A62-9936-E3DDCCCE470D}"/>
              </a:ext>
            </a:extLst>
          </p:cNvPr>
          <p:cNvSpPr>
            <a:spLocks noEditPoints="1"/>
          </p:cNvSpPr>
          <p:nvPr/>
        </p:nvSpPr>
        <p:spPr bwMode="auto">
          <a:xfrm>
            <a:off x="3479800" y="2560638"/>
            <a:ext cx="79375" cy="79375"/>
          </a:xfrm>
          <a:custGeom>
            <a:avLst/>
            <a:gdLst>
              <a:gd name="T0" fmla="*/ 48 w 50"/>
              <a:gd name="T1" fmla="*/ 20 h 50"/>
              <a:gd name="T2" fmla="*/ 45 w 50"/>
              <a:gd name="T3" fmla="*/ 12 h 50"/>
              <a:gd name="T4" fmla="*/ 39 w 50"/>
              <a:gd name="T5" fmla="*/ 5 h 50"/>
              <a:gd name="T6" fmla="*/ 30 w 50"/>
              <a:gd name="T7" fmla="*/ 2 h 50"/>
              <a:gd name="T8" fmla="*/ 5 w 50"/>
              <a:gd name="T9" fmla="*/ 10 h 50"/>
              <a:gd name="T10" fmla="*/ 4 w 50"/>
              <a:gd name="T11" fmla="*/ 13 h 50"/>
              <a:gd name="T12" fmla="*/ 2 w 50"/>
              <a:gd name="T13" fmla="*/ 17 h 50"/>
              <a:gd name="T14" fmla="*/ 0 w 50"/>
              <a:gd name="T15" fmla="*/ 22 h 50"/>
              <a:gd name="T16" fmla="*/ 0 w 50"/>
              <a:gd name="T17" fmla="*/ 25 h 50"/>
              <a:gd name="T18" fmla="*/ 2 w 50"/>
              <a:gd name="T19" fmla="*/ 35 h 50"/>
              <a:gd name="T20" fmla="*/ 7 w 50"/>
              <a:gd name="T21" fmla="*/ 43 h 50"/>
              <a:gd name="T22" fmla="*/ 15 w 50"/>
              <a:gd name="T23" fmla="*/ 48 h 50"/>
              <a:gd name="T24" fmla="*/ 25 w 50"/>
              <a:gd name="T25" fmla="*/ 50 h 50"/>
              <a:gd name="T26" fmla="*/ 42 w 50"/>
              <a:gd name="T27" fmla="*/ 43 h 50"/>
              <a:gd name="T28" fmla="*/ 45 w 50"/>
              <a:gd name="T29" fmla="*/ 40 h 50"/>
              <a:gd name="T30" fmla="*/ 47 w 50"/>
              <a:gd name="T31" fmla="*/ 35 h 50"/>
              <a:gd name="T32" fmla="*/ 48 w 50"/>
              <a:gd name="T33" fmla="*/ 30 h 50"/>
              <a:gd name="T34" fmla="*/ 50 w 50"/>
              <a:gd name="T35" fmla="*/ 25 h 50"/>
              <a:gd name="T36" fmla="*/ 45 w 50"/>
              <a:gd name="T37" fmla="*/ 30 h 50"/>
              <a:gd name="T38" fmla="*/ 42 w 50"/>
              <a:gd name="T39" fmla="*/ 37 h 50"/>
              <a:gd name="T40" fmla="*/ 37 w 50"/>
              <a:gd name="T41" fmla="*/ 43 h 50"/>
              <a:gd name="T42" fmla="*/ 29 w 50"/>
              <a:gd name="T43" fmla="*/ 47 h 50"/>
              <a:gd name="T44" fmla="*/ 20 w 50"/>
              <a:gd name="T45" fmla="*/ 47 h 50"/>
              <a:gd name="T46" fmla="*/ 12 w 50"/>
              <a:gd name="T47" fmla="*/ 43 h 50"/>
              <a:gd name="T48" fmla="*/ 7 w 50"/>
              <a:gd name="T49" fmla="*/ 37 h 50"/>
              <a:gd name="T50" fmla="*/ 4 w 50"/>
              <a:gd name="T51" fmla="*/ 30 h 50"/>
              <a:gd name="T52" fmla="*/ 4 w 50"/>
              <a:gd name="T53" fmla="*/ 22 h 50"/>
              <a:gd name="T54" fmla="*/ 7 w 50"/>
              <a:gd name="T55" fmla="*/ 13 h 50"/>
              <a:gd name="T56" fmla="*/ 12 w 50"/>
              <a:gd name="T57" fmla="*/ 7 h 50"/>
              <a:gd name="T58" fmla="*/ 20 w 50"/>
              <a:gd name="T59" fmla="*/ 3 h 50"/>
              <a:gd name="T60" fmla="*/ 29 w 50"/>
              <a:gd name="T61" fmla="*/ 3 h 50"/>
              <a:gd name="T62" fmla="*/ 37 w 50"/>
              <a:gd name="T63" fmla="*/ 7 h 50"/>
              <a:gd name="T64" fmla="*/ 42 w 50"/>
              <a:gd name="T65" fmla="*/ 13 h 50"/>
              <a:gd name="T66" fmla="*/ 45 w 50"/>
              <a:gd name="T67" fmla="*/ 22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0" h="50">
                <a:moveTo>
                  <a:pt x="50" y="25"/>
                </a:moveTo>
                <a:lnTo>
                  <a:pt x="48" y="20"/>
                </a:lnTo>
                <a:lnTo>
                  <a:pt x="48" y="15"/>
                </a:lnTo>
                <a:lnTo>
                  <a:pt x="45" y="12"/>
                </a:lnTo>
                <a:lnTo>
                  <a:pt x="44" y="8"/>
                </a:lnTo>
                <a:lnTo>
                  <a:pt x="39" y="5"/>
                </a:lnTo>
                <a:lnTo>
                  <a:pt x="35" y="3"/>
                </a:lnTo>
                <a:lnTo>
                  <a:pt x="30" y="2"/>
                </a:lnTo>
                <a:lnTo>
                  <a:pt x="25" y="0"/>
                </a:lnTo>
                <a:lnTo>
                  <a:pt x="5" y="10"/>
                </a:lnTo>
                <a:lnTo>
                  <a:pt x="4" y="12"/>
                </a:lnTo>
                <a:lnTo>
                  <a:pt x="4" y="13"/>
                </a:lnTo>
                <a:lnTo>
                  <a:pt x="2" y="15"/>
                </a:lnTo>
                <a:lnTo>
                  <a:pt x="2" y="17"/>
                </a:lnTo>
                <a:lnTo>
                  <a:pt x="0" y="18"/>
                </a:lnTo>
                <a:lnTo>
                  <a:pt x="0" y="22"/>
                </a:lnTo>
                <a:lnTo>
                  <a:pt x="0" y="23"/>
                </a:lnTo>
                <a:lnTo>
                  <a:pt x="0" y="25"/>
                </a:lnTo>
                <a:lnTo>
                  <a:pt x="0" y="30"/>
                </a:lnTo>
                <a:lnTo>
                  <a:pt x="2" y="35"/>
                </a:lnTo>
                <a:lnTo>
                  <a:pt x="4" y="40"/>
                </a:lnTo>
                <a:lnTo>
                  <a:pt x="7" y="43"/>
                </a:lnTo>
                <a:lnTo>
                  <a:pt x="10" y="47"/>
                </a:lnTo>
                <a:lnTo>
                  <a:pt x="15" y="48"/>
                </a:lnTo>
                <a:lnTo>
                  <a:pt x="20" y="50"/>
                </a:lnTo>
                <a:lnTo>
                  <a:pt x="25" y="50"/>
                </a:lnTo>
                <a:lnTo>
                  <a:pt x="27" y="50"/>
                </a:lnTo>
                <a:lnTo>
                  <a:pt x="42" y="43"/>
                </a:lnTo>
                <a:lnTo>
                  <a:pt x="44" y="42"/>
                </a:lnTo>
                <a:lnTo>
                  <a:pt x="45" y="40"/>
                </a:lnTo>
                <a:lnTo>
                  <a:pt x="47" y="37"/>
                </a:lnTo>
                <a:lnTo>
                  <a:pt x="47" y="35"/>
                </a:lnTo>
                <a:lnTo>
                  <a:pt x="48" y="33"/>
                </a:lnTo>
                <a:lnTo>
                  <a:pt x="48" y="30"/>
                </a:lnTo>
                <a:lnTo>
                  <a:pt x="50" y="28"/>
                </a:lnTo>
                <a:lnTo>
                  <a:pt x="50" y="25"/>
                </a:lnTo>
                <a:close/>
                <a:moveTo>
                  <a:pt x="47" y="25"/>
                </a:moveTo>
                <a:lnTo>
                  <a:pt x="45" y="30"/>
                </a:lnTo>
                <a:lnTo>
                  <a:pt x="45" y="33"/>
                </a:lnTo>
                <a:lnTo>
                  <a:pt x="42" y="37"/>
                </a:lnTo>
                <a:lnTo>
                  <a:pt x="40" y="40"/>
                </a:lnTo>
                <a:lnTo>
                  <a:pt x="37" y="43"/>
                </a:lnTo>
                <a:lnTo>
                  <a:pt x="34" y="45"/>
                </a:lnTo>
                <a:lnTo>
                  <a:pt x="29" y="47"/>
                </a:lnTo>
                <a:lnTo>
                  <a:pt x="25" y="47"/>
                </a:lnTo>
                <a:lnTo>
                  <a:pt x="20" y="47"/>
                </a:lnTo>
                <a:lnTo>
                  <a:pt x="17" y="45"/>
                </a:lnTo>
                <a:lnTo>
                  <a:pt x="12" y="43"/>
                </a:lnTo>
                <a:lnTo>
                  <a:pt x="10" y="40"/>
                </a:lnTo>
                <a:lnTo>
                  <a:pt x="7" y="37"/>
                </a:lnTo>
                <a:lnTo>
                  <a:pt x="5" y="33"/>
                </a:lnTo>
                <a:lnTo>
                  <a:pt x="4" y="30"/>
                </a:lnTo>
                <a:lnTo>
                  <a:pt x="4" y="25"/>
                </a:lnTo>
                <a:lnTo>
                  <a:pt x="4" y="22"/>
                </a:lnTo>
                <a:lnTo>
                  <a:pt x="5" y="17"/>
                </a:lnTo>
                <a:lnTo>
                  <a:pt x="7" y="13"/>
                </a:lnTo>
                <a:lnTo>
                  <a:pt x="10" y="10"/>
                </a:lnTo>
                <a:lnTo>
                  <a:pt x="12" y="7"/>
                </a:lnTo>
                <a:lnTo>
                  <a:pt x="17" y="5"/>
                </a:lnTo>
                <a:lnTo>
                  <a:pt x="20" y="3"/>
                </a:lnTo>
                <a:lnTo>
                  <a:pt x="25" y="3"/>
                </a:lnTo>
                <a:lnTo>
                  <a:pt x="29" y="3"/>
                </a:lnTo>
                <a:lnTo>
                  <a:pt x="34" y="5"/>
                </a:lnTo>
                <a:lnTo>
                  <a:pt x="37" y="7"/>
                </a:lnTo>
                <a:lnTo>
                  <a:pt x="40" y="10"/>
                </a:lnTo>
                <a:lnTo>
                  <a:pt x="42" y="13"/>
                </a:lnTo>
                <a:lnTo>
                  <a:pt x="45" y="17"/>
                </a:lnTo>
                <a:lnTo>
                  <a:pt x="45" y="22"/>
                </a:lnTo>
                <a:lnTo>
                  <a:pt x="47" y="25"/>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93" name="Freeform 2198">
            <a:extLst>
              <a:ext uri="{FF2B5EF4-FFF2-40B4-BE49-F238E27FC236}">
                <a16:creationId xmlns:a16="http://schemas.microsoft.com/office/drawing/2014/main" id="{AED2B39B-44D8-F0AC-F0B1-583DD832F429}"/>
              </a:ext>
            </a:extLst>
          </p:cNvPr>
          <p:cNvSpPr>
            <a:spLocks noEditPoints="1"/>
          </p:cNvSpPr>
          <p:nvPr/>
        </p:nvSpPr>
        <p:spPr bwMode="auto">
          <a:xfrm>
            <a:off x="3482975" y="2563813"/>
            <a:ext cx="73025" cy="73025"/>
          </a:xfrm>
          <a:custGeom>
            <a:avLst/>
            <a:gdLst>
              <a:gd name="T0" fmla="*/ 45 w 46"/>
              <a:gd name="T1" fmla="*/ 18 h 46"/>
              <a:gd name="T2" fmla="*/ 42 w 46"/>
              <a:gd name="T3" fmla="*/ 10 h 46"/>
              <a:gd name="T4" fmla="*/ 37 w 46"/>
              <a:gd name="T5" fmla="*/ 5 h 46"/>
              <a:gd name="T6" fmla="*/ 28 w 46"/>
              <a:gd name="T7" fmla="*/ 0 h 46"/>
              <a:gd name="T8" fmla="*/ 22 w 46"/>
              <a:gd name="T9" fmla="*/ 0 h 46"/>
              <a:gd name="T10" fmla="*/ 7 w 46"/>
              <a:gd name="T11" fmla="*/ 6 h 46"/>
              <a:gd name="T12" fmla="*/ 3 w 46"/>
              <a:gd name="T13" fmla="*/ 10 h 46"/>
              <a:gd name="T14" fmla="*/ 2 w 46"/>
              <a:gd name="T15" fmla="*/ 13 h 46"/>
              <a:gd name="T16" fmla="*/ 0 w 46"/>
              <a:gd name="T17" fmla="*/ 18 h 46"/>
              <a:gd name="T18" fmla="*/ 0 w 46"/>
              <a:gd name="T19" fmla="*/ 23 h 46"/>
              <a:gd name="T20" fmla="*/ 2 w 46"/>
              <a:gd name="T21" fmla="*/ 33 h 46"/>
              <a:gd name="T22" fmla="*/ 7 w 46"/>
              <a:gd name="T23" fmla="*/ 40 h 46"/>
              <a:gd name="T24" fmla="*/ 13 w 46"/>
              <a:gd name="T25" fmla="*/ 45 h 46"/>
              <a:gd name="T26" fmla="*/ 23 w 46"/>
              <a:gd name="T27" fmla="*/ 46 h 46"/>
              <a:gd name="T28" fmla="*/ 32 w 46"/>
              <a:gd name="T29" fmla="*/ 45 h 46"/>
              <a:gd name="T30" fmla="*/ 40 w 46"/>
              <a:gd name="T31" fmla="*/ 40 h 46"/>
              <a:gd name="T32" fmla="*/ 45 w 46"/>
              <a:gd name="T33" fmla="*/ 33 h 46"/>
              <a:gd name="T34" fmla="*/ 46 w 46"/>
              <a:gd name="T35" fmla="*/ 23 h 46"/>
              <a:gd name="T36" fmla="*/ 42 w 46"/>
              <a:gd name="T37" fmla="*/ 28 h 46"/>
              <a:gd name="T38" fmla="*/ 40 w 46"/>
              <a:gd name="T39" fmla="*/ 35 h 46"/>
              <a:gd name="T40" fmla="*/ 33 w 46"/>
              <a:gd name="T41" fmla="*/ 40 h 46"/>
              <a:gd name="T42" fmla="*/ 27 w 46"/>
              <a:gd name="T43" fmla="*/ 43 h 46"/>
              <a:gd name="T44" fmla="*/ 18 w 46"/>
              <a:gd name="T45" fmla="*/ 43 h 46"/>
              <a:gd name="T46" fmla="*/ 12 w 46"/>
              <a:gd name="T47" fmla="*/ 40 h 46"/>
              <a:gd name="T48" fmla="*/ 7 w 46"/>
              <a:gd name="T49" fmla="*/ 35 h 46"/>
              <a:gd name="T50" fmla="*/ 3 w 46"/>
              <a:gd name="T51" fmla="*/ 28 h 46"/>
              <a:gd name="T52" fmla="*/ 3 w 46"/>
              <a:gd name="T53" fmla="*/ 20 h 46"/>
              <a:gd name="T54" fmla="*/ 7 w 46"/>
              <a:gd name="T55" fmla="*/ 11 h 46"/>
              <a:gd name="T56" fmla="*/ 12 w 46"/>
              <a:gd name="T57" fmla="*/ 6 h 46"/>
              <a:gd name="T58" fmla="*/ 18 w 46"/>
              <a:gd name="T59" fmla="*/ 3 h 46"/>
              <a:gd name="T60" fmla="*/ 27 w 46"/>
              <a:gd name="T61" fmla="*/ 3 h 46"/>
              <a:gd name="T62" fmla="*/ 33 w 46"/>
              <a:gd name="T63" fmla="*/ 6 h 46"/>
              <a:gd name="T64" fmla="*/ 40 w 46"/>
              <a:gd name="T65" fmla="*/ 11 h 46"/>
              <a:gd name="T66" fmla="*/ 42 w 46"/>
              <a:gd name="T67" fmla="*/ 20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46" h="46">
                <a:moveTo>
                  <a:pt x="46" y="23"/>
                </a:moveTo>
                <a:lnTo>
                  <a:pt x="45" y="18"/>
                </a:lnTo>
                <a:lnTo>
                  <a:pt x="45" y="15"/>
                </a:lnTo>
                <a:lnTo>
                  <a:pt x="42" y="10"/>
                </a:lnTo>
                <a:lnTo>
                  <a:pt x="40" y="6"/>
                </a:lnTo>
                <a:lnTo>
                  <a:pt x="37" y="5"/>
                </a:lnTo>
                <a:lnTo>
                  <a:pt x="32" y="1"/>
                </a:lnTo>
                <a:lnTo>
                  <a:pt x="28" y="0"/>
                </a:lnTo>
                <a:lnTo>
                  <a:pt x="23" y="0"/>
                </a:lnTo>
                <a:lnTo>
                  <a:pt x="22" y="0"/>
                </a:lnTo>
                <a:lnTo>
                  <a:pt x="20" y="0"/>
                </a:lnTo>
                <a:lnTo>
                  <a:pt x="7" y="6"/>
                </a:lnTo>
                <a:lnTo>
                  <a:pt x="5" y="8"/>
                </a:lnTo>
                <a:lnTo>
                  <a:pt x="3" y="10"/>
                </a:lnTo>
                <a:lnTo>
                  <a:pt x="3" y="11"/>
                </a:lnTo>
                <a:lnTo>
                  <a:pt x="2" y="13"/>
                </a:lnTo>
                <a:lnTo>
                  <a:pt x="0" y="16"/>
                </a:lnTo>
                <a:lnTo>
                  <a:pt x="0" y="18"/>
                </a:lnTo>
                <a:lnTo>
                  <a:pt x="0" y="21"/>
                </a:lnTo>
                <a:lnTo>
                  <a:pt x="0" y="23"/>
                </a:lnTo>
                <a:lnTo>
                  <a:pt x="0" y="28"/>
                </a:lnTo>
                <a:lnTo>
                  <a:pt x="2" y="33"/>
                </a:lnTo>
                <a:lnTo>
                  <a:pt x="3" y="36"/>
                </a:lnTo>
                <a:lnTo>
                  <a:pt x="7" y="40"/>
                </a:lnTo>
                <a:lnTo>
                  <a:pt x="10" y="43"/>
                </a:lnTo>
                <a:lnTo>
                  <a:pt x="13" y="45"/>
                </a:lnTo>
                <a:lnTo>
                  <a:pt x="18" y="46"/>
                </a:lnTo>
                <a:lnTo>
                  <a:pt x="23" y="46"/>
                </a:lnTo>
                <a:lnTo>
                  <a:pt x="28" y="46"/>
                </a:lnTo>
                <a:lnTo>
                  <a:pt x="32" y="45"/>
                </a:lnTo>
                <a:lnTo>
                  <a:pt x="37" y="43"/>
                </a:lnTo>
                <a:lnTo>
                  <a:pt x="40" y="40"/>
                </a:lnTo>
                <a:lnTo>
                  <a:pt x="42" y="36"/>
                </a:lnTo>
                <a:lnTo>
                  <a:pt x="45" y="33"/>
                </a:lnTo>
                <a:lnTo>
                  <a:pt x="45" y="28"/>
                </a:lnTo>
                <a:lnTo>
                  <a:pt x="46" y="23"/>
                </a:lnTo>
                <a:close/>
                <a:moveTo>
                  <a:pt x="43" y="23"/>
                </a:moveTo>
                <a:lnTo>
                  <a:pt x="42" y="28"/>
                </a:lnTo>
                <a:lnTo>
                  <a:pt x="42" y="31"/>
                </a:lnTo>
                <a:lnTo>
                  <a:pt x="40" y="35"/>
                </a:lnTo>
                <a:lnTo>
                  <a:pt x="37" y="38"/>
                </a:lnTo>
                <a:lnTo>
                  <a:pt x="33" y="40"/>
                </a:lnTo>
                <a:lnTo>
                  <a:pt x="30" y="41"/>
                </a:lnTo>
                <a:lnTo>
                  <a:pt x="27" y="43"/>
                </a:lnTo>
                <a:lnTo>
                  <a:pt x="23" y="43"/>
                </a:lnTo>
                <a:lnTo>
                  <a:pt x="18" y="43"/>
                </a:lnTo>
                <a:lnTo>
                  <a:pt x="15" y="41"/>
                </a:lnTo>
                <a:lnTo>
                  <a:pt x="12" y="40"/>
                </a:lnTo>
                <a:lnTo>
                  <a:pt x="8" y="38"/>
                </a:lnTo>
                <a:lnTo>
                  <a:pt x="7" y="35"/>
                </a:lnTo>
                <a:lnTo>
                  <a:pt x="5" y="31"/>
                </a:lnTo>
                <a:lnTo>
                  <a:pt x="3" y="28"/>
                </a:lnTo>
                <a:lnTo>
                  <a:pt x="3" y="23"/>
                </a:lnTo>
                <a:lnTo>
                  <a:pt x="3" y="20"/>
                </a:lnTo>
                <a:lnTo>
                  <a:pt x="5" y="15"/>
                </a:lnTo>
                <a:lnTo>
                  <a:pt x="7" y="11"/>
                </a:lnTo>
                <a:lnTo>
                  <a:pt x="8" y="10"/>
                </a:lnTo>
                <a:lnTo>
                  <a:pt x="12" y="6"/>
                </a:lnTo>
                <a:lnTo>
                  <a:pt x="15" y="5"/>
                </a:lnTo>
                <a:lnTo>
                  <a:pt x="18" y="3"/>
                </a:lnTo>
                <a:lnTo>
                  <a:pt x="23" y="3"/>
                </a:lnTo>
                <a:lnTo>
                  <a:pt x="27" y="3"/>
                </a:lnTo>
                <a:lnTo>
                  <a:pt x="30" y="5"/>
                </a:lnTo>
                <a:lnTo>
                  <a:pt x="33" y="6"/>
                </a:lnTo>
                <a:lnTo>
                  <a:pt x="37" y="10"/>
                </a:lnTo>
                <a:lnTo>
                  <a:pt x="40" y="11"/>
                </a:lnTo>
                <a:lnTo>
                  <a:pt x="42" y="15"/>
                </a:lnTo>
                <a:lnTo>
                  <a:pt x="42" y="20"/>
                </a:lnTo>
                <a:lnTo>
                  <a:pt x="43" y="23"/>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94" name="Freeform 2199">
            <a:extLst>
              <a:ext uri="{FF2B5EF4-FFF2-40B4-BE49-F238E27FC236}">
                <a16:creationId xmlns:a16="http://schemas.microsoft.com/office/drawing/2014/main" id="{47FC30CA-74B9-501D-E53B-413BEBC32131}"/>
              </a:ext>
            </a:extLst>
          </p:cNvPr>
          <p:cNvSpPr>
            <a:spLocks noEditPoints="1"/>
          </p:cNvSpPr>
          <p:nvPr/>
        </p:nvSpPr>
        <p:spPr bwMode="auto">
          <a:xfrm>
            <a:off x="3486150" y="2565400"/>
            <a:ext cx="68263" cy="69850"/>
          </a:xfrm>
          <a:custGeom>
            <a:avLst/>
            <a:gdLst>
              <a:gd name="T0" fmla="*/ 41 w 43"/>
              <a:gd name="T1" fmla="*/ 19 h 44"/>
              <a:gd name="T2" fmla="*/ 38 w 43"/>
              <a:gd name="T3" fmla="*/ 10 h 44"/>
              <a:gd name="T4" fmla="*/ 33 w 43"/>
              <a:gd name="T5" fmla="*/ 4 h 44"/>
              <a:gd name="T6" fmla="*/ 25 w 43"/>
              <a:gd name="T7" fmla="*/ 0 h 44"/>
              <a:gd name="T8" fmla="*/ 16 w 43"/>
              <a:gd name="T9" fmla="*/ 0 h 44"/>
              <a:gd name="T10" fmla="*/ 8 w 43"/>
              <a:gd name="T11" fmla="*/ 4 h 44"/>
              <a:gd name="T12" fmla="*/ 3 w 43"/>
              <a:gd name="T13" fmla="*/ 10 h 44"/>
              <a:gd name="T14" fmla="*/ 0 w 43"/>
              <a:gd name="T15" fmla="*/ 19 h 44"/>
              <a:gd name="T16" fmla="*/ 0 w 43"/>
              <a:gd name="T17" fmla="*/ 27 h 44"/>
              <a:gd name="T18" fmla="*/ 3 w 43"/>
              <a:gd name="T19" fmla="*/ 34 h 44"/>
              <a:gd name="T20" fmla="*/ 8 w 43"/>
              <a:gd name="T21" fmla="*/ 40 h 44"/>
              <a:gd name="T22" fmla="*/ 16 w 43"/>
              <a:gd name="T23" fmla="*/ 44 h 44"/>
              <a:gd name="T24" fmla="*/ 25 w 43"/>
              <a:gd name="T25" fmla="*/ 44 h 44"/>
              <a:gd name="T26" fmla="*/ 33 w 43"/>
              <a:gd name="T27" fmla="*/ 40 h 44"/>
              <a:gd name="T28" fmla="*/ 38 w 43"/>
              <a:gd name="T29" fmla="*/ 34 h 44"/>
              <a:gd name="T30" fmla="*/ 41 w 43"/>
              <a:gd name="T31" fmla="*/ 27 h 44"/>
              <a:gd name="T32" fmla="*/ 40 w 43"/>
              <a:gd name="T33" fmla="*/ 22 h 44"/>
              <a:gd name="T34" fmla="*/ 38 w 43"/>
              <a:gd name="T35" fmla="*/ 29 h 44"/>
              <a:gd name="T36" fmla="*/ 33 w 43"/>
              <a:gd name="T37" fmla="*/ 35 h 44"/>
              <a:gd name="T38" fmla="*/ 28 w 43"/>
              <a:gd name="T39" fmla="*/ 39 h 44"/>
              <a:gd name="T40" fmla="*/ 21 w 43"/>
              <a:gd name="T41" fmla="*/ 40 h 44"/>
              <a:gd name="T42" fmla="*/ 13 w 43"/>
              <a:gd name="T43" fmla="*/ 39 h 44"/>
              <a:gd name="T44" fmla="*/ 8 w 43"/>
              <a:gd name="T45" fmla="*/ 35 h 44"/>
              <a:gd name="T46" fmla="*/ 5 w 43"/>
              <a:gd name="T47" fmla="*/ 29 h 44"/>
              <a:gd name="T48" fmla="*/ 3 w 43"/>
              <a:gd name="T49" fmla="*/ 22 h 44"/>
              <a:gd name="T50" fmla="*/ 5 w 43"/>
              <a:gd name="T51" fmla="*/ 15 h 44"/>
              <a:gd name="T52" fmla="*/ 8 w 43"/>
              <a:gd name="T53" fmla="*/ 9 h 44"/>
              <a:gd name="T54" fmla="*/ 13 w 43"/>
              <a:gd name="T55" fmla="*/ 5 h 44"/>
              <a:gd name="T56" fmla="*/ 21 w 43"/>
              <a:gd name="T57" fmla="*/ 4 h 44"/>
              <a:gd name="T58" fmla="*/ 28 w 43"/>
              <a:gd name="T59" fmla="*/ 5 h 44"/>
              <a:gd name="T60" fmla="*/ 33 w 43"/>
              <a:gd name="T61" fmla="*/ 9 h 44"/>
              <a:gd name="T62" fmla="*/ 38 w 43"/>
              <a:gd name="T63" fmla="*/ 15 h 44"/>
              <a:gd name="T64" fmla="*/ 40 w 43"/>
              <a:gd name="T65" fmla="*/ 22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3" h="44">
                <a:moveTo>
                  <a:pt x="43" y="22"/>
                </a:moveTo>
                <a:lnTo>
                  <a:pt x="41" y="19"/>
                </a:lnTo>
                <a:lnTo>
                  <a:pt x="41" y="14"/>
                </a:lnTo>
                <a:lnTo>
                  <a:pt x="38" y="10"/>
                </a:lnTo>
                <a:lnTo>
                  <a:pt x="36" y="7"/>
                </a:lnTo>
                <a:lnTo>
                  <a:pt x="33" y="4"/>
                </a:lnTo>
                <a:lnTo>
                  <a:pt x="30" y="2"/>
                </a:lnTo>
                <a:lnTo>
                  <a:pt x="25" y="0"/>
                </a:lnTo>
                <a:lnTo>
                  <a:pt x="21" y="0"/>
                </a:lnTo>
                <a:lnTo>
                  <a:pt x="16" y="0"/>
                </a:lnTo>
                <a:lnTo>
                  <a:pt x="13" y="2"/>
                </a:lnTo>
                <a:lnTo>
                  <a:pt x="8" y="4"/>
                </a:lnTo>
                <a:lnTo>
                  <a:pt x="6" y="7"/>
                </a:lnTo>
                <a:lnTo>
                  <a:pt x="3" y="10"/>
                </a:lnTo>
                <a:lnTo>
                  <a:pt x="1" y="14"/>
                </a:lnTo>
                <a:lnTo>
                  <a:pt x="0" y="19"/>
                </a:lnTo>
                <a:lnTo>
                  <a:pt x="0" y="22"/>
                </a:lnTo>
                <a:lnTo>
                  <a:pt x="0" y="27"/>
                </a:lnTo>
                <a:lnTo>
                  <a:pt x="1" y="30"/>
                </a:lnTo>
                <a:lnTo>
                  <a:pt x="3" y="34"/>
                </a:lnTo>
                <a:lnTo>
                  <a:pt x="6" y="37"/>
                </a:lnTo>
                <a:lnTo>
                  <a:pt x="8" y="40"/>
                </a:lnTo>
                <a:lnTo>
                  <a:pt x="13" y="42"/>
                </a:lnTo>
                <a:lnTo>
                  <a:pt x="16" y="44"/>
                </a:lnTo>
                <a:lnTo>
                  <a:pt x="21" y="44"/>
                </a:lnTo>
                <a:lnTo>
                  <a:pt x="25" y="44"/>
                </a:lnTo>
                <a:lnTo>
                  <a:pt x="30" y="42"/>
                </a:lnTo>
                <a:lnTo>
                  <a:pt x="33" y="40"/>
                </a:lnTo>
                <a:lnTo>
                  <a:pt x="36" y="37"/>
                </a:lnTo>
                <a:lnTo>
                  <a:pt x="38" y="34"/>
                </a:lnTo>
                <a:lnTo>
                  <a:pt x="41" y="30"/>
                </a:lnTo>
                <a:lnTo>
                  <a:pt x="41" y="27"/>
                </a:lnTo>
                <a:lnTo>
                  <a:pt x="43" y="22"/>
                </a:lnTo>
                <a:close/>
                <a:moveTo>
                  <a:pt x="40" y="22"/>
                </a:moveTo>
                <a:lnTo>
                  <a:pt x="38" y="25"/>
                </a:lnTo>
                <a:lnTo>
                  <a:pt x="38" y="29"/>
                </a:lnTo>
                <a:lnTo>
                  <a:pt x="36" y="32"/>
                </a:lnTo>
                <a:lnTo>
                  <a:pt x="33" y="35"/>
                </a:lnTo>
                <a:lnTo>
                  <a:pt x="31" y="37"/>
                </a:lnTo>
                <a:lnTo>
                  <a:pt x="28" y="39"/>
                </a:lnTo>
                <a:lnTo>
                  <a:pt x="25" y="40"/>
                </a:lnTo>
                <a:lnTo>
                  <a:pt x="21" y="40"/>
                </a:lnTo>
                <a:lnTo>
                  <a:pt x="16" y="40"/>
                </a:lnTo>
                <a:lnTo>
                  <a:pt x="13" y="39"/>
                </a:lnTo>
                <a:lnTo>
                  <a:pt x="11" y="37"/>
                </a:lnTo>
                <a:lnTo>
                  <a:pt x="8" y="35"/>
                </a:lnTo>
                <a:lnTo>
                  <a:pt x="6" y="32"/>
                </a:lnTo>
                <a:lnTo>
                  <a:pt x="5" y="29"/>
                </a:lnTo>
                <a:lnTo>
                  <a:pt x="3" y="25"/>
                </a:lnTo>
                <a:lnTo>
                  <a:pt x="3" y="22"/>
                </a:lnTo>
                <a:lnTo>
                  <a:pt x="3" y="19"/>
                </a:lnTo>
                <a:lnTo>
                  <a:pt x="5" y="15"/>
                </a:lnTo>
                <a:lnTo>
                  <a:pt x="6" y="12"/>
                </a:lnTo>
                <a:lnTo>
                  <a:pt x="8" y="9"/>
                </a:lnTo>
                <a:lnTo>
                  <a:pt x="11" y="7"/>
                </a:lnTo>
                <a:lnTo>
                  <a:pt x="13" y="5"/>
                </a:lnTo>
                <a:lnTo>
                  <a:pt x="16" y="4"/>
                </a:lnTo>
                <a:lnTo>
                  <a:pt x="21" y="4"/>
                </a:lnTo>
                <a:lnTo>
                  <a:pt x="25" y="4"/>
                </a:lnTo>
                <a:lnTo>
                  <a:pt x="28" y="5"/>
                </a:lnTo>
                <a:lnTo>
                  <a:pt x="31" y="7"/>
                </a:lnTo>
                <a:lnTo>
                  <a:pt x="33" y="9"/>
                </a:lnTo>
                <a:lnTo>
                  <a:pt x="36" y="12"/>
                </a:lnTo>
                <a:lnTo>
                  <a:pt x="38" y="15"/>
                </a:lnTo>
                <a:lnTo>
                  <a:pt x="38" y="19"/>
                </a:lnTo>
                <a:lnTo>
                  <a:pt x="40" y="22"/>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95" name="Freeform 2200">
            <a:extLst>
              <a:ext uri="{FF2B5EF4-FFF2-40B4-BE49-F238E27FC236}">
                <a16:creationId xmlns:a16="http://schemas.microsoft.com/office/drawing/2014/main" id="{5B33680E-B912-4007-6438-EF4BE1156887}"/>
              </a:ext>
            </a:extLst>
          </p:cNvPr>
          <p:cNvSpPr>
            <a:spLocks noEditPoints="1"/>
          </p:cNvSpPr>
          <p:nvPr/>
        </p:nvSpPr>
        <p:spPr bwMode="auto">
          <a:xfrm>
            <a:off x="3487738" y="2568575"/>
            <a:ext cx="63500" cy="63500"/>
          </a:xfrm>
          <a:custGeom>
            <a:avLst/>
            <a:gdLst>
              <a:gd name="T0" fmla="*/ 39 w 40"/>
              <a:gd name="T1" fmla="*/ 17 h 40"/>
              <a:gd name="T2" fmla="*/ 37 w 40"/>
              <a:gd name="T3" fmla="*/ 8 h 40"/>
              <a:gd name="T4" fmla="*/ 30 w 40"/>
              <a:gd name="T5" fmla="*/ 3 h 40"/>
              <a:gd name="T6" fmla="*/ 24 w 40"/>
              <a:gd name="T7" fmla="*/ 0 h 40"/>
              <a:gd name="T8" fmla="*/ 15 w 40"/>
              <a:gd name="T9" fmla="*/ 0 h 40"/>
              <a:gd name="T10" fmla="*/ 9 w 40"/>
              <a:gd name="T11" fmla="*/ 3 h 40"/>
              <a:gd name="T12" fmla="*/ 4 w 40"/>
              <a:gd name="T13" fmla="*/ 8 h 40"/>
              <a:gd name="T14" fmla="*/ 0 w 40"/>
              <a:gd name="T15" fmla="*/ 17 h 40"/>
              <a:gd name="T16" fmla="*/ 0 w 40"/>
              <a:gd name="T17" fmla="*/ 25 h 40"/>
              <a:gd name="T18" fmla="*/ 4 w 40"/>
              <a:gd name="T19" fmla="*/ 32 h 40"/>
              <a:gd name="T20" fmla="*/ 9 w 40"/>
              <a:gd name="T21" fmla="*/ 37 h 40"/>
              <a:gd name="T22" fmla="*/ 15 w 40"/>
              <a:gd name="T23" fmla="*/ 40 h 40"/>
              <a:gd name="T24" fmla="*/ 24 w 40"/>
              <a:gd name="T25" fmla="*/ 40 h 40"/>
              <a:gd name="T26" fmla="*/ 30 w 40"/>
              <a:gd name="T27" fmla="*/ 37 h 40"/>
              <a:gd name="T28" fmla="*/ 37 w 40"/>
              <a:gd name="T29" fmla="*/ 32 h 40"/>
              <a:gd name="T30" fmla="*/ 39 w 40"/>
              <a:gd name="T31" fmla="*/ 25 h 40"/>
              <a:gd name="T32" fmla="*/ 37 w 40"/>
              <a:gd name="T33" fmla="*/ 20 h 40"/>
              <a:gd name="T34" fmla="*/ 35 w 40"/>
              <a:gd name="T35" fmla="*/ 27 h 40"/>
              <a:gd name="T36" fmla="*/ 32 w 40"/>
              <a:gd name="T37" fmla="*/ 32 h 40"/>
              <a:gd name="T38" fmla="*/ 27 w 40"/>
              <a:gd name="T39" fmla="*/ 35 h 40"/>
              <a:gd name="T40" fmla="*/ 20 w 40"/>
              <a:gd name="T41" fmla="*/ 37 h 40"/>
              <a:gd name="T42" fmla="*/ 14 w 40"/>
              <a:gd name="T43" fmla="*/ 35 h 40"/>
              <a:gd name="T44" fmla="*/ 9 w 40"/>
              <a:gd name="T45" fmla="*/ 32 h 40"/>
              <a:gd name="T46" fmla="*/ 5 w 40"/>
              <a:gd name="T47" fmla="*/ 27 h 40"/>
              <a:gd name="T48" fmla="*/ 4 w 40"/>
              <a:gd name="T49" fmla="*/ 20 h 40"/>
              <a:gd name="T50" fmla="*/ 5 w 40"/>
              <a:gd name="T51" fmla="*/ 13 h 40"/>
              <a:gd name="T52" fmla="*/ 9 w 40"/>
              <a:gd name="T53" fmla="*/ 8 h 40"/>
              <a:gd name="T54" fmla="*/ 14 w 40"/>
              <a:gd name="T55" fmla="*/ 5 h 40"/>
              <a:gd name="T56" fmla="*/ 20 w 40"/>
              <a:gd name="T57" fmla="*/ 3 h 40"/>
              <a:gd name="T58" fmla="*/ 27 w 40"/>
              <a:gd name="T59" fmla="*/ 5 h 40"/>
              <a:gd name="T60" fmla="*/ 32 w 40"/>
              <a:gd name="T61" fmla="*/ 8 h 40"/>
              <a:gd name="T62" fmla="*/ 35 w 40"/>
              <a:gd name="T63" fmla="*/ 13 h 40"/>
              <a:gd name="T64" fmla="*/ 37 w 40"/>
              <a:gd name="T65" fmla="*/ 2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0" h="40">
                <a:moveTo>
                  <a:pt x="40" y="20"/>
                </a:moveTo>
                <a:lnTo>
                  <a:pt x="39" y="17"/>
                </a:lnTo>
                <a:lnTo>
                  <a:pt x="39" y="12"/>
                </a:lnTo>
                <a:lnTo>
                  <a:pt x="37" y="8"/>
                </a:lnTo>
                <a:lnTo>
                  <a:pt x="34" y="7"/>
                </a:lnTo>
                <a:lnTo>
                  <a:pt x="30" y="3"/>
                </a:lnTo>
                <a:lnTo>
                  <a:pt x="27" y="2"/>
                </a:lnTo>
                <a:lnTo>
                  <a:pt x="24" y="0"/>
                </a:lnTo>
                <a:lnTo>
                  <a:pt x="20" y="0"/>
                </a:lnTo>
                <a:lnTo>
                  <a:pt x="15" y="0"/>
                </a:lnTo>
                <a:lnTo>
                  <a:pt x="12" y="2"/>
                </a:lnTo>
                <a:lnTo>
                  <a:pt x="9" y="3"/>
                </a:lnTo>
                <a:lnTo>
                  <a:pt x="5" y="7"/>
                </a:lnTo>
                <a:lnTo>
                  <a:pt x="4" y="8"/>
                </a:lnTo>
                <a:lnTo>
                  <a:pt x="2" y="12"/>
                </a:lnTo>
                <a:lnTo>
                  <a:pt x="0" y="17"/>
                </a:lnTo>
                <a:lnTo>
                  <a:pt x="0" y="20"/>
                </a:lnTo>
                <a:lnTo>
                  <a:pt x="0" y="25"/>
                </a:lnTo>
                <a:lnTo>
                  <a:pt x="2" y="28"/>
                </a:lnTo>
                <a:lnTo>
                  <a:pt x="4" y="32"/>
                </a:lnTo>
                <a:lnTo>
                  <a:pt x="5" y="35"/>
                </a:lnTo>
                <a:lnTo>
                  <a:pt x="9" y="37"/>
                </a:lnTo>
                <a:lnTo>
                  <a:pt x="12" y="38"/>
                </a:lnTo>
                <a:lnTo>
                  <a:pt x="15" y="40"/>
                </a:lnTo>
                <a:lnTo>
                  <a:pt x="20" y="40"/>
                </a:lnTo>
                <a:lnTo>
                  <a:pt x="24" y="40"/>
                </a:lnTo>
                <a:lnTo>
                  <a:pt x="27" y="38"/>
                </a:lnTo>
                <a:lnTo>
                  <a:pt x="30" y="37"/>
                </a:lnTo>
                <a:lnTo>
                  <a:pt x="34" y="35"/>
                </a:lnTo>
                <a:lnTo>
                  <a:pt x="37" y="32"/>
                </a:lnTo>
                <a:lnTo>
                  <a:pt x="39" y="28"/>
                </a:lnTo>
                <a:lnTo>
                  <a:pt x="39" y="25"/>
                </a:lnTo>
                <a:lnTo>
                  <a:pt x="40" y="20"/>
                </a:lnTo>
                <a:close/>
                <a:moveTo>
                  <a:pt x="37" y="20"/>
                </a:moveTo>
                <a:lnTo>
                  <a:pt x="35" y="23"/>
                </a:lnTo>
                <a:lnTo>
                  <a:pt x="35" y="27"/>
                </a:lnTo>
                <a:lnTo>
                  <a:pt x="34" y="30"/>
                </a:lnTo>
                <a:lnTo>
                  <a:pt x="32" y="32"/>
                </a:lnTo>
                <a:lnTo>
                  <a:pt x="29" y="33"/>
                </a:lnTo>
                <a:lnTo>
                  <a:pt x="27" y="35"/>
                </a:lnTo>
                <a:lnTo>
                  <a:pt x="24" y="37"/>
                </a:lnTo>
                <a:lnTo>
                  <a:pt x="20" y="37"/>
                </a:lnTo>
                <a:lnTo>
                  <a:pt x="17" y="37"/>
                </a:lnTo>
                <a:lnTo>
                  <a:pt x="14" y="35"/>
                </a:lnTo>
                <a:lnTo>
                  <a:pt x="10" y="33"/>
                </a:lnTo>
                <a:lnTo>
                  <a:pt x="9" y="32"/>
                </a:lnTo>
                <a:lnTo>
                  <a:pt x="5" y="30"/>
                </a:lnTo>
                <a:lnTo>
                  <a:pt x="5" y="27"/>
                </a:lnTo>
                <a:lnTo>
                  <a:pt x="4" y="23"/>
                </a:lnTo>
                <a:lnTo>
                  <a:pt x="4" y="20"/>
                </a:lnTo>
                <a:lnTo>
                  <a:pt x="4" y="17"/>
                </a:lnTo>
                <a:lnTo>
                  <a:pt x="5" y="13"/>
                </a:lnTo>
                <a:lnTo>
                  <a:pt x="5" y="12"/>
                </a:lnTo>
                <a:lnTo>
                  <a:pt x="9" y="8"/>
                </a:lnTo>
                <a:lnTo>
                  <a:pt x="10" y="7"/>
                </a:lnTo>
                <a:lnTo>
                  <a:pt x="14" y="5"/>
                </a:lnTo>
                <a:lnTo>
                  <a:pt x="17" y="3"/>
                </a:lnTo>
                <a:lnTo>
                  <a:pt x="20" y="3"/>
                </a:lnTo>
                <a:lnTo>
                  <a:pt x="24" y="3"/>
                </a:lnTo>
                <a:lnTo>
                  <a:pt x="27" y="5"/>
                </a:lnTo>
                <a:lnTo>
                  <a:pt x="29" y="7"/>
                </a:lnTo>
                <a:lnTo>
                  <a:pt x="32" y="8"/>
                </a:lnTo>
                <a:lnTo>
                  <a:pt x="34" y="12"/>
                </a:lnTo>
                <a:lnTo>
                  <a:pt x="35" y="13"/>
                </a:lnTo>
                <a:lnTo>
                  <a:pt x="35" y="17"/>
                </a:lnTo>
                <a:lnTo>
                  <a:pt x="37" y="20"/>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96" name="Freeform 2201">
            <a:extLst>
              <a:ext uri="{FF2B5EF4-FFF2-40B4-BE49-F238E27FC236}">
                <a16:creationId xmlns:a16="http://schemas.microsoft.com/office/drawing/2014/main" id="{EBE3F3FB-1D8D-3D09-C874-685DD9A4871A}"/>
              </a:ext>
            </a:extLst>
          </p:cNvPr>
          <p:cNvSpPr>
            <a:spLocks noEditPoints="1"/>
          </p:cNvSpPr>
          <p:nvPr/>
        </p:nvSpPr>
        <p:spPr bwMode="auto">
          <a:xfrm>
            <a:off x="3490913" y="2571750"/>
            <a:ext cx="58738" cy="57150"/>
          </a:xfrm>
          <a:custGeom>
            <a:avLst/>
            <a:gdLst>
              <a:gd name="T0" fmla="*/ 35 w 37"/>
              <a:gd name="T1" fmla="*/ 15 h 36"/>
              <a:gd name="T2" fmla="*/ 33 w 37"/>
              <a:gd name="T3" fmla="*/ 8 h 36"/>
              <a:gd name="T4" fmla="*/ 28 w 37"/>
              <a:gd name="T5" fmla="*/ 3 h 36"/>
              <a:gd name="T6" fmla="*/ 22 w 37"/>
              <a:gd name="T7" fmla="*/ 0 h 36"/>
              <a:gd name="T8" fmla="*/ 13 w 37"/>
              <a:gd name="T9" fmla="*/ 0 h 36"/>
              <a:gd name="T10" fmla="*/ 8 w 37"/>
              <a:gd name="T11" fmla="*/ 3 h 36"/>
              <a:gd name="T12" fmla="*/ 3 w 37"/>
              <a:gd name="T13" fmla="*/ 8 h 36"/>
              <a:gd name="T14" fmla="*/ 0 w 37"/>
              <a:gd name="T15" fmla="*/ 15 h 36"/>
              <a:gd name="T16" fmla="*/ 0 w 37"/>
              <a:gd name="T17" fmla="*/ 21 h 36"/>
              <a:gd name="T18" fmla="*/ 3 w 37"/>
              <a:gd name="T19" fmla="*/ 28 h 36"/>
              <a:gd name="T20" fmla="*/ 8 w 37"/>
              <a:gd name="T21" fmla="*/ 33 h 36"/>
              <a:gd name="T22" fmla="*/ 13 w 37"/>
              <a:gd name="T23" fmla="*/ 36 h 36"/>
              <a:gd name="T24" fmla="*/ 22 w 37"/>
              <a:gd name="T25" fmla="*/ 36 h 36"/>
              <a:gd name="T26" fmla="*/ 28 w 37"/>
              <a:gd name="T27" fmla="*/ 33 h 36"/>
              <a:gd name="T28" fmla="*/ 33 w 37"/>
              <a:gd name="T29" fmla="*/ 28 h 36"/>
              <a:gd name="T30" fmla="*/ 35 w 37"/>
              <a:gd name="T31" fmla="*/ 21 h 36"/>
              <a:gd name="T32" fmla="*/ 33 w 37"/>
              <a:gd name="T33" fmla="*/ 18 h 36"/>
              <a:gd name="T34" fmla="*/ 32 w 37"/>
              <a:gd name="T35" fmla="*/ 25 h 36"/>
              <a:gd name="T36" fmla="*/ 28 w 37"/>
              <a:gd name="T37" fmla="*/ 30 h 36"/>
              <a:gd name="T38" fmla="*/ 23 w 37"/>
              <a:gd name="T39" fmla="*/ 31 h 36"/>
              <a:gd name="T40" fmla="*/ 18 w 37"/>
              <a:gd name="T41" fmla="*/ 33 h 36"/>
              <a:gd name="T42" fmla="*/ 12 w 37"/>
              <a:gd name="T43" fmla="*/ 31 h 36"/>
              <a:gd name="T44" fmla="*/ 7 w 37"/>
              <a:gd name="T45" fmla="*/ 30 h 36"/>
              <a:gd name="T46" fmla="*/ 3 w 37"/>
              <a:gd name="T47" fmla="*/ 25 h 36"/>
              <a:gd name="T48" fmla="*/ 3 w 37"/>
              <a:gd name="T49" fmla="*/ 18 h 36"/>
              <a:gd name="T50" fmla="*/ 3 w 37"/>
              <a:gd name="T51" fmla="*/ 13 h 36"/>
              <a:gd name="T52" fmla="*/ 7 w 37"/>
              <a:gd name="T53" fmla="*/ 8 h 36"/>
              <a:gd name="T54" fmla="*/ 12 w 37"/>
              <a:gd name="T55" fmla="*/ 5 h 36"/>
              <a:gd name="T56" fmla="*/ 18 w 37"/>
              <a:gd name="T57" fmla="*/ 3 h 36"/>
              <a:gd name="T58" fmla="*/ 23 w 37"/>
              <a:gd name="T59" fmla="*/ 5 h 36"/>
              <a:gd name="T60" fmla="*/ 28 w 37"/>
              <a:gd name="T61" fmla="*/ 8 h 36"/>
              <a:gd name="T62" fmla="*/ 32 w 37"/>
              <a:gd name="T63" fmla="*/ 13 h 36"/>
              <a:gd name="T64" fmla="*/ 33 w 37"/>
              <a:gd name="T65" fmla="*/ 18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7" h="36">
                <a:moveTo>
                  <a:pt x="37" y="18"/>
                </a:moveTo>
                <a:lnTo>
                  <a:pt x="35" y="15"/>
                </a:lnTo>
                <a:lnTo>
                  <a:pt x="35" y="11"/>
                </a:lnTo>
                <a:lnTo>
                  <a:pt x="33" y="8"/>
                </a:lnTo>
                <a:lnTo>
                  <a:pt x="30" y="5"/>
                </a:lnTo>
                <a:lnTo>
                  <a:pt x="28" y="3"/>
                </a:lnTo>
                <a:lnTo>
                  <a:pt x="25" y="1"/>
                </a:lnTo>
                <a:lnTo>
                  <a:pt x="22" y="0"/>
                </a:lnTo>
                <a:lnTo>
                  <a:pt x="18" y="0"/>
                </a:lnTo>
                <a:lnTo>
                  <a:pt x="13" y="0"/>
                </a:lnTo>
                <a:lnTo>
                  <a:pt x="10" y="1"/>
                </a:lnTo>
                <a:lnTo>
                  <a:pt x="8" y="3"/>
                </a:lnTo>
                <a:lnTo>
                  <a:pt x="5" y="5"/>
                </a:lnTo>
                <a:lnTo>
                  <a:pt x="3" y="8"/>
                </a:lnTo>
                <a:lnTo>
                  <a:pt x="2" y="11"/>
                </a:lnTo>
                <a:lnTo>
                  <a:pt x="0" y="15"/>
                </a:lnTo>
                <a:lnTo>
                  <a:pt x="0" y="18"/>
                </a:lnTo>
                <a:lnTo>
                  <a:pt x="0" y="21"/>
                </a:lnTo>
                <a:lnTo>
                  <a:pt x="2" y="25"/>
                </a:lnTo>
                <a:lnTo>
                  <a:pt x="3" y="28"/>
                </a:lnTo>
                <a:lnTo>
                  <a:pt x="5" y="31"/>
                </a:lnTo>
                <a:lnTo>
                  <a:pt x="8" y="33"/>
                </a:lnTo>
                <a:lnTo>
                  <a:pt x="10" y="35"/>
                </a:lnTo>
                <a:lnTo>
                  <a:pt x="13" y="36"/>
                </a:lnTo>
                <a:lnTo>
                  <a:pt x="18" y="36"/>
                </a:lnTo>
                <a:lnTo>
                  <a:pt x="22" y="36"/>
                </a:lnTo>
                <a:lnTo>
                  <a:pt x="25" y="35"/>
                </a:lnTo>
                <a:lnTo>
                  <a:pt x="28" y="33"/>
                </a:lnTo>
                <a:lnTo>
                  <a:pt x="30" y="31"/>
                </a:lnTo>
                <a:lnTo>
                  <a:pt x="33" y="28"/>
                </a:lnTo>
                <a:lnTo>
                  <a:pt x="35" y="25"/>
                </a:lnTo>
                <a:lnTo>
                  <a:pt x="35" y="21"/>
                </a:lnTo>
                <a:lnTo>
                  <a:pt x="37" y="18"/>
                </a:lnTo>
                <a:close/>
                <a:moveTo>
                  <a:pt x="33" y="18"/>
                </a:moveTo>
                <a:lnTo>
                  <a:pt x="33" y="21"/>
                </a:lnTo>
                <a:lnTo>
                  <a:pt x="32" y="25"/>
                </a:lnTo>
                <a:lnTo>
                  <a:pt x="30" y="26"/>
                </a:lnTo>
                <a:lnTo>
                  <a:pt x="28" y="30"/>
                </a:lnTo>
                <a:lnTo>
                  <a:pt x="27" y="31"/>
                </a:lnTo>
                <a:lnTo>
                  <a:pt x="23" y="31"/>
                </a:lnTo>
                <a:lnTo>
                  <a:pt x="22" y="33"/>
                </a:lnTo>
                <a:lnTo>
                  <a:pt x="18" y="33"/>
                </a:lnTo>
                <a:lnTo>
                  <a:pt x="15" y="33"/>
                </a:lnTo>
                <a:lnTo>
                  <a:pt x="12" y="31"/>
                </a:lnTo>
                <a:lnTo>
                  <a:pt x="10" y="31"/>
                </a:lnTo>
                <a:lnTo>
                  <a:pt x="7" y="30"/>
                </a:lnTo>
                <a:lnTo>
                  <a:pt x="5" y="26"/>
                </a:lnTo>
                <a:lnTo>
                  <a:pt x="3" y="25"/>
                </a:lnTo>
                <a:lnTo>
                  <a:pt x="3" y="21"/>
                </a:lnTo>
                <a:lnTo>
                  <a:pt x="3" y="18"/>
                </a:lnTo>
                <a:lnTo>
                  <a:pt x="3" y="15"/>
                </a:lnTo>
                <a:lnTo>
                  <a:pt x="3" y="13"/>
                </a:lnTo>
                <a:lnTo>
                  <a:pt x="5" y="10"/>
                </a:lnTo>
                <a:lnTo>
                  <a:pt x="7" y="8"/>
                </a:lnTo>
                <a:lnTo>
                  <a:pt x="10" y="6"/>
                </a:lnTo>
                <a:lnTo>
                  <a:pt x="12" y="5"/>
                </a:lnTo>
                <a:lnTo>
                  <a:pt x="15" y="3"/>
                </a:lnTo>
                <a:lnTo>
                  <a:pt x="18" y="3"/>
                </a:lnTo>
                <a:lnTo>
                  <a:pt x="22" y="3"/>
                </a:lnTo>
                <a:lnTo>
                  <a:pt x="23" y="5"/>
                </a:lnTo>
                <a:lnTo>
                  <a:pt x="27" y="6"/>
                </a:lnTo>
                <a:lnTo>
                  <a:pt x="28" y="8"/>
                </a:lnTo>
                <a:lnTo>
                  <a:pt x="30" y="10"/>
                </a:lnTo>
                <a:lnTo>
                  <a:pt x="32" y="13"/>
                </a:lnTo>
                <a:lnTo>
                  <a:pt x="33" y="15"/>
                </a:lnTo>
                <a:lnTo>
                  <a:pt x="33" y="18"/>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97" name="Freeform 2202">
            <a:extLst>
              <a:ext uri="{FF2B5EF4-FFF2-40B4-BE49-F238E27FC236}">
                <a16:creationId xmlns:a16="http://schemas.microsoft.com/office/drawing/2014/main" id="{61F1A194-13AA-F3FC-DAA2-BC81489C4D05}"/>
              </a:ext>
            </a:extLst>
          </p:cNvPr>
          <p:cNvSpPr>
            <a:spLocks noEditPoints="1"/>
          </p:cNvSpPr>
          <p:nvPr/>
        </p:nvSpPr>
        <p:spPr bwMode="auto">
          <a:xfrm>
            <a:off x="3494088" y="2573338"/>
            <a:ext cx="52388" cy="53975"/>
          </a:xfrm>
          <a:custGeom>
            <a:avLst/>
            <a:gdLst>
              <a:gd name="T0" fmla="*/ 31 w 33"/>
              <a:gd name="T1" fmla="*/ 14 h 34"/>
              <a:gd name="T2" fmla="*/ 30 w 33"/>
              <a:gd name="T3" fmla="*/ 9 h 34"/>
              <a:gd name="T4" fmla="*/ 25 w 33"/>
              <a:gd name="T5" fmla="*/ 4 h 34"/>
              <a:gd name="T6" fmla="*/ 20 w 33"/>
              <a:gd name="T7" fmla="*/ 0 h 34"/>
              <a:gd name="T8" fmla="*/ 13 w 33"/>
              <a:gd name="T9" fmla="*/ 0 h 34"/>
              <a:gd name="T10" fmla="*/ 6 w 33"/>
              <a:gd name="T11" fmla="*/ 4 h 34"/>
              <a:gd name="T12" fmla="*/ 1 w 33"/>
              <a:gd name="T13" fmla="*/ 9 h 34"/>
              <a:gd name="T14" fmla="*/ 0 w 33"/>
              <a:gd name="T15" fmla="*/ 14 h 34"/>
              <a:gd name="T16" fmla="*/ 0 w 33"/>
              <a:gd name="T17" fmla="*/ 20 h 34"/>
              <a:gd name="T18" fmla="*/ 1 w 33"/>
              <a:gd name="T19" fmla="*/ 27 h 34"/>
              <a:gd name="T20" fmla="*/ 6 w 33"/>
              <a:gd name="T21" fmla="*/ 30 h 34"/>
              <a:gd name="T22" fmla="*/ 13 w 33"/>
              <a:gd name="T23" fmla="*/ 34 h 34"/>
              <a:gd name="T24" fmla="*/ 20 w 33"/>
              <a:gd name="T25" fmla="*/ 34 h 34"/>
              <a:gd name="T26" fmla="*/ 25 w 33"/>
              <a:gd name="T27" fmla="*/ 30 h 34"/>
              <a:gd name="T28" fmla="*/ 30 w 33"/>
              <a:gd name="T29" fmla="*/ 27 h 34"/>
              <a:gd name="T30" fmla="*/ 31 w 33"/>
              <a:gd name="T31" fmla="*/ 20 h 34"/>
              <a:gd name="T32" fmla="*/ 30 w 33"/>
              <a:gd name="T33" fmla="*/ 17 h 34"/>
              <a:gd name="T34" fmla="*/ 28 w 33"/>
              <a:gd name="T35" fmla="*/ 22 h 34"/>
              <a:gd name="T36" fmla="*/ 25 w 33"/>
              <a:gd name="T37" fmla="*/ 27 h 34"/>
              <a:gd name="T38" fmla="*/ 21 w 33"/>
              <a:gd name="T39" fmla="*/ 30 h 34"/>
              <a:gd name="T40" fmla="*/ 16 w 33"/>
              <a:gd name="T41" fmla="*/ 30 h 34"/>
              <a:gd name="T42" fmla="*/ 11 w 33"/>
              <a:gd name="T43" fmla="*/ 30 h 34"/>
              <a:gd name="T44" fmla="*/ 6 w 33"/>
              <a:gd name="T45" fmla="*/ 27 h 34"/>
              <a:gd name="T46" fmla="*/ 3 w 33"/>
              <a:gd name="T47" fmla="*/ 22 h 34"/>
              <a:gd name="T48" fmla="*/ 3 w 33"/>
              <a:gd name="T49" fmla="*/ 17 h 34"/>
              <a:gd name="T50" fmla="*/ 3 w 33"/>
              <a:gd name="T51" fmla="*/ 12 h 34"/>
              <a:gd name="T52" fmla="*/ 6 w 33"/>
              <a:gd name="T53" fmla="*/ 9 h 34"/>
              <a:gd name="T54" fmla="*/ 11 w 33"/>
              <a:gd name="T55" fmla="*/ 5 h 34"/>
              <a:gd name="T56" fmla="*/ 16 w 33"/>
              <a:gd name="T57" fmla="*/ 4 h 34"/>
              <a:gd name="T58" fmla="*/ 21 w 33"/>
              <a:gd name="T59" fmla="*/ 5 h 34"/>
              <a:gd name="T60" fmla="*/ 25 w 33"/>
              <a:gd name="T61" fmla="*/ 9 h 34"/>
              <a:gd name="T62" fmla="*/ 28 w 33"/>
              <a:gd name="T63" fmla="*/ 12 h 34"/>
              <a:gd name="T64" fmla="*/ 30 w 33"/>
              <a:gd name="T65" fmla="*/ 17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3" h="34">
                <a:moveTo>
                  <a:pt x="33" y="17"/>
                </a:moveTo>
                <a:lnTo>
                  <a:pt x="31" y="14"/>
                </a:lnTo>
                <a:lnTo>
                  <a:pt x="31" y="10"/>
                </a:lnTo>
                <a:lnTo>
                  <a:pt x="30" y="9"/>
                </a:lnTo>
                <a:lnTo>
                  <a:pt x="28" y="5"/>
                </a:lnTo>
                <a:lnTo>
                  <a:pt x="25" y="4"/>
                </a:lnTo>
                <a:lnTo>
                  <a:pt x="23" y="2"/>
                </a:lnTo>
                <a:lnTo>
                  <a:pt x="20" y="0"/>
                </a:lnTo>
                <a:lnTo>
                  <a:pt x="16" y="0"/>
                </a:lnTo>
                <a:lnTo>
                  <a:pt x="13" y="0"/>
                </a:lnTo>
                <a:lnTo>
                  <a:pt x="10" y="2"/>
                </a:lnTo>
                <a:lnTo>
                  <a:pt x="6" y="4"/>
                </a:lnTo>
                <a:lnTo>
                  <a:pt x="5" y="5"/>
                </a:lnTo>
                <a:lnTo>
                  <a:pt x="1" y="9"/>
                </a:lnTo>
                <a:lnTo>
                  <a:pt x="1" y="10"/>
                </a:lnTo>
                <a:lnTo>
                  <a:pt x="0" y="14"/>
                </a:lnTo>
                <a:lnTo>
                  <a:pt x="0" y="17"/>
                </a:lnTo>
                <a:lnTo>
                  <a:pt x="0" y="20"/>
                </a:lnTo>
                <a:lnTo>
                  <a:pt x="1" y="24"/>
                </a:lnTo>
                <a:lnTo>
                  <a:pt x="1" y="27"/>
                </a:lnTo>
                <a:lnTo>
                  <a:pt x="5" y="29"/>
                </a:lnTo>
                <a:lnTo>
                  <a:pt x="6" y="30"/>
                </a:lnTo>
                <a:lnTo>
                  <a:pt x="10" y="32"/>
                </a:lnTo>
                <a:lnTo>
                  <a:pt x="13" y="34"/>
                </a:lnTo>
                <a:lnTo>
                  <a:pt x="16" y="34"/>
                </a:lnTo>
                <a:lnTo>
                  <a:pt x="20" y="34"/>
                </a:lnTo>
                <a:lnTo>
                  <a:pt x="23" y="32"/>
                </a:lnTo>
                <a:lnTo>
                  <a:pt x="25" y="30"/>
                </a:lnTo>
                <a:lnTo>
                  <a:pt x="28" y="29"/>
                </a:lnTo>
                <a:lnTo>
                  <a:pt x="30" y="27"/>
                </a:lnTo>
                <a:lnTo>
                  <a:pt x="31" y="24"/>
                </a:lnTo>
                <a:lnTo>
                  <a:pt x="31" y="20"/>
                </a:lnTo>
                <a:lnTo>
                  <a:pt x="33" y="17"/>
                </a:lnTo>
                <a:close/>
                <a:moveTo>
                  <a:pt x="30" y="17"/>
                </a:moveTo>
                <a:lnTo>
                  <a:pt x="30" y="20"/>
                </a:lnTo>
                <a:lnTo>
                  <a:pt x="28" y="22"/>
                </a:lnTo>
                <a:lnTo>
                  <a:pt x="26" y="25"/>
                </a:lnTo>
                <a:lnTo>
                  <a:pt x="25" y="27"/>
                </a:lnTo>
                <a:lnTo>
                  <a:pt x="23" y="29"/>
                </a:lnTo>
                <a:lnTo>
                  <a:pt x="21" y="30"/>
                </a:lnTo>
                <a:lnTo>
                  <a:pt x="18" y="30"/>
                </a:lnTo>
                <a:lnTo>
                  <a:pt x="16" y="30"/>
                </a:lnTo>
                <a:lnTo>
                  <a:pt x="13" y="30"/>
                </a:lnTo>
                <a:lnTo>
                  <a:pt x="11" y="30"/>
                </a:lnTo>
                <a:lnTo>
                  <a:pt x="8" y="29"/>
                </a:lnTo>
                <a:lnTo>
                  <a:pt x="6" y="27"/>
                </a:lnTo>
                <a:lnTo>
                  <a:pt x="5" y="25"/>
                </a:lnTo>
                <a:lnTo>
                  <a:pt x="3" y="22"/>
                </a:lnTo>
                <a:lnTo>
                  <a:pt x="3" y="20"/>
                </a:lnTo>
                <a:lnTo>
                  <a:pt x="3" y="17"/>
                </a:lnTo>
                <a:lnTo>
                  <a:pt x="3" y="15"/>
                </a:lnTo>
                <a:lnTo>
                  <a:pt x="3" y="12"/>
                </a:lnTo>
                <a:lnTo>
                  <a:pt x="5" y="10"/>
                </a:lnTo>
                <a:lnTo>
                  <a:pt x="6" y="9"/>
                </a:lnTo>
                <a:lnTo>
                  <a:pt x="8" y="7"/>
                </a:lnTo>
                <a:lnTo>
                  <a:pt x="11" y="5"/>
                </a:lnTo>
                <a:lnTo>
                  <a:pt x="13" y="4"/>
                </a:lnTo>
                <a:lnTo>
                  <a:pt x="16" y="4"/>
                </a:lnTo>
                <a:lnTo>
                  <a:pt x="18" y="4"/>
                </a:lnTo>
                <a:lnTo>
                  <a:pt x="21" y="5"/>
                </a:lnTo>
                <a:lnTo>
                  <a:pt x="23" y="7"/>
                </a:lnTo>
                <a:lnTo>
                  <a:pt x="25" y="9"/>
                </a:lnTo>
                <a:lnTo>
                  <a:pt x="26" y="10"/>
                </a:lnTo>
                <a:lnTo>
                  <a:pt x="28" y="12"/>
                </a:lnTo>
                <a:lnTo>
                  <a:pt x="30" y="15"/>
                </a:lnTo>
                <a:lnTo>
                  <a:pt x="30" y="17"/>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98" name="Freeform 2203">
            <a:extLst>
              <a:ext uri="{FF2B5EF4-FFF2-40B4-BE49-F238E27FC236}">
                <a16:creationId xmlns:a16="http://schemas.microsoft.com/office/drawing/2014/main" id="{EDDBE547-9312-D29A-D91F-B1ECDEC5D687}"/>
              </a:ext>
            </a:extLst>
          </p:cNvPr>
          <p:cNvSpPr>
            <a:spLocks noEditPoints="1"/>
          </p:cNvSpPr>
          <p:nvPr/>
        </p:nvSpPr>
        <p:spPr bwMode="auto">
          <a:xfrm>
            <a:off x="3495675" y="2576513"/>
            <a:ext cx="47625" cy="47625"/>
          </a:xfrm>
          <a:custGeom>
            <a:avLst/>
            <a:gdLst>
              <a:gd name="T0" fmla="*/ 30 w 30"/>
              <a:gd name="T1" fmla="*/ 12 h 30"/>
              <a:gd name="T2" fmla="*/ 27 w 30"/>
              <a:gd name="T3" fmla="*/ 7 h 30"/>
              <a:gd name="T4" fmla="*/ 24 w 30"/>
              <a:gd name="T5" fmla="*/ 3 h 30"/>
              <a:gd name="T6" fmla="*/ 19 w 30"/>
              <a:gd name="T7" fmla="*/ 0 h 30"/>
              <a:gd name="T8" fmla="*/ 12 w 30"/>
              <a:gd name="T9" fmla="*/ 0 h 30"/>
              <a:gd name="T10" fmla="*/ 7 w 30"/>
              <a:gd name="T11" fmla="*/ 3 h 30"/>
              <a:gd name="T12" fmla="*/ 2 w 30"/>
              <a:gd name="T13" fmla="*/ 7 h 30"/>
              <a:gd name="T14" fmla="*/ 0 w 30"/>
              <a:gd name="T15" fmla="*/ 12 h 30"/>
              <a:gd name="T16" fmla="*/ 0 w 30"/>
              <a:gd name="T17" fmla="*/ 18 h 30"/>
              <a:gd name="T18" fmla="*/ 2 w 30"/>
              <a:gd name="T19" fmla="*/ 23 h 30"/>
              <a:gd name="T20" fmla="*/ 7 w 30"/>
              <a:gd name="T21" fmla="*/ 28 h 30"/>
              <a:gd name="T22" fmla="*/ 12 w 30"/>
              <a:gd name="T23" fmla="*/ 30 h 30"/>
              <a:gd name="T24" fmla="*/ 19 w 30"/>
              <a:gd name="T25" fmla="*/ 30 h 30"/>
              <a:gd name="T26" fmla="*/ 24 w 30"/>
              <a:gd name="T27" fmla="*/ 28 h 30"/>
              <a:gd name="T28" fmla="*/ 27 w 30"/>
              <a:gd name="T29" fmla="*/ 23 h 30"/>
              <a:gd name="T30" fmla="*/ 30 w 30"/>
              <a:gd name="T31" fmla="*/ 18 h 30"/>
              <a:gd name="T32" fmla="*/ 27 w 30"/>
              <a:gd name="T33" fmla="*/ 15 h 30"/>
              <a:gd name="T34" fmla="*/ 25 w 30"/>
              <a:gd name="T35" fmla="*/ 20 h 30"/>
              <a:gd name="T36" fmla="*/ 24 w 30"/>
              <a:gd name="T37" fmla="*/ 23 h 30"/>
              <a:gd name="T38" fmla="*/ 19 w 30"/>
              <a:gd name="T39" fmla="*/ 27 h 30"/>
              <a:gd name="T40" fmla="*/ 15 w 30"/>
              <a:gd name="T41" fmla="*/ 27 h 30"/>
              <a:gd name="T42" fmla="*/ 10 w 30"/>
              <a:gd name="T43" fmla="*/ 27 h 30"/>
              <a:gd name="T44" fmla="*/ 7 w 30"/>
              <a:gd name="T45" fmla="*/ 23 h 30"/>
              <a:gd name="T46" fmla="*/ 4 w 30"/>
              <a:gd name="T47" fmla="*/ 20 h 30"/>
              <a:gd name="T48" fmla="*/ 4 w 30"/>
              <a:gd name="T49" fmla="*/ 15 h 30"/>
              <a:gd name="T50" fmla="*/ 4 w 30"/>
              <a:gd name="T51" fmla="*/ 10 h 30"/>
              <a:gd name="T52" fmla="*/ 7 w 30"/>
              <a:gd name="T53" fmla="*/ 7 h 30"/>
              <a:gd name="T54" fmla="*/ 10 w 30"/>
              <a:gd name="T55" fmla="*/ 5 h 30"/>
              <a:gd name="T56" fmla="*/ 15 w 30"/>
              <a:gd name="T57" fmla="*/ 3 h 30"/>
              <a:gd name="T58" fmla="*/ 19 w 30"/>
              <a:gd name="T59" fmla="*/ 5 h 30"/>
              <a:gd name="T60" fmla="*/ 24 w 30"/>
              <a:gd name="T61" fmla="*/ 7 h 30"/>
              <a:gd name="T62" fmla="*/ 25 w 30"/>
              <a:gd name="T63" fmla="*/ 10 h 30"/>
              <a:gd name="T64" fmla="*/ 27 w 30"/>
              <a:gd name="T65" fmla="*/ 15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0" h="30">
                <a:moveTo>
                  <a:pt x="30" y="15"/>
                </a:moveTo>
                <a:lnTo>
                  <a:pt x="30" y="12"/>
                </a:lnTo>
                <a:lnTo>
                  <a:pt x="29" y="10"/>
                </a:lnTo>
                <a:lnTo>
                  <a:pt x="27" y="7"/>
                </a:lnTo>
                <a:lnTo>
                  <a:pt x="25" y="5"/>
                </a:lnTo>
                <a:lnTo>
                  <a:pt x="24" y="3"/>
                </a:lnTo>
                <a:lnTo>
                  <a:pt x="20" y="2"/>
                </a:lnTo>
                <a:lnTo>
                  <a:pt x="19" y="0"/>
                </a:lnTo>
                <a:lnTo>
                  <a:pt x="15" y="0"/>
                </a:lnTo>
                <a:lnTo>
                  <a:pt x="12" y="0"/>
                </a:lnTo>
                <a:lnTo>
                  <a:pt x="9" y="2"/>
                </a:lnTo>
                <a:lnTo>
                  <a:pt x="7" y="3"/>
                </a:lnTo>
                <a:lnTo>
                  <a:pt x="4" y="5"/>
                </a:lnTo>
                <a:lnTo>
                  <a:pt x="2" y="7"/>
                </a:lnTo>
                <a:lnTo>
                  <a:pt x="0" y="10"/>
                </a:lnTo>
                <a:lnTo>
                  <a:pt x="0" y="12"/>
                </a:lnTo>
                <a:lnTo>
                  <a:pt x="0" y="15"/>
                </a:lnTo>
                <a:lnTo>
                  <a:pt x="0" y="18"/>
                </a:lnTo>
                <a:lnTo>
                  <a:pt x="0" y="22"/>
                </a:lnTo>
                <a:lnTo>
                  <a:pt x="2" y="23"/>
                </a:lnTo>
                <a:lnTo>
                  <a:pt x="4" y="27"/>
                </a:lnTo>
                <a:lnTo>
                  <a:pt x="7" y="28"/>
                </a:lnTo>
                <a:lnTo>
                  <a:pt x="9" y="28"/>
                </a:lnTo>
                <a:lnTo>
                  <a:pt x="12" y="30"/>
                </a:lnTo>
                <a:lnTo>
                  <a:pt x="15" y="30"/>
                </a:lnTo>
                <a:lnTo>
                  <a:pt x="19" y="30"/>
                </a:lnTo>
                <a:lnTo>
                  <a:pt x="20" y="28"/>
                </a:lnTo>
                <a:lnTo>
                  <a:pt x="24" y="28"/>
                </a:lnTo>
                <a:lnTo>
                  <a:pt x="25" y="27"/>
                </a:lnTo>
                <a:lnTo>
                  <a:pt x="27" y="23"/>
                </a:lnTo>
                <a:lnTo>
                  <a:pt x="29" y="22"/>
                </a:lnTo>
                <a:lnTo>
                  <a:pt x="30" y="18"/>
                </a:lnTo>
                <a:lnTo>
                  <a:pt x="30" y="15"/>
                </a:lnTo>
                <a:close/>
                <a:moveTo>
                  <a:pt x="27" y="15"/>
                </a:moveTo>
                <a:lnTo>
                  <a:pt x="27" y="18"/>
                </a:lnTo>
                <a:lnTo>
                  <a:pt x="25" y="20"/>
                </a:lnTo>
                <a:lnTo>
                  <a:pt x="25" y="22"/>
                </a:lnTo>
                <a:lnTo>
                  <a:pt x="24" y="23"/>
                </a:lnTo>
                <a:lnTo>
                  <a:pt x="22" y="25"/>
                </a:lnTo>
                <a:lnTo>
                  <a:pt x="19" y="27"/>
                </a:lnTo>
                <a:lnTo>
                  <a:pt x="17" y="27"/>
                </a:lnTo>
                <a:lnTo>
                  <a:pt x="15" y="27"/>
                </a:lnTo>
                <a:lnTo>
                  <a:pt x="12" y="27"/>
                </a:lnTo>
                <a:lnTo>
                  <a:pt x="10" y="27"/>
                </a:lnTo>
                <a:lnTo>
                  <a:pt x="9" y="25"/>
                </a:lnTo>
                <a:lnTo>
                  <a:pt x="7" y="23"/>
                </a:lnTo>
                <a:lnTo>
                  <a:pt x="5" y="22"/>
                </a:lnTo>
                <a:lnTo>
                  <a:pt x="4" y="20"/>
                </a:lnTo>
                <a:lnTo>
                  <a:pt x="4" y="18"/>
                </a:lnTo>
                <a:lnTo>
                  <a:pt x="4" y="15"/>
                </a:lnTo>
                <a:lnTo>
                  <a:pt x="4" y="13"/>
                </a:lnTo>
                <a:lnTo>
                  <a:pt x="4" y="10"/>
                </a:lnTo>
                <a:lnTo>
                  <a:pt x="5" y="8"/>
                </a:lnTo>
                <a:lnTo>
                  <a:pt x="7" y="7"/>
                </a:lnTo>
                <a:lnTo>
                  <a:pt x="9" y="5"/>
                </a:lnTo>
                <a:lnTo>
                  <a:pt x="10" y="5"/>
                </a:lnTo>
                <a:lnTo>
                  <a:pt x="12" y="3"/>
                </a:lnTo>
                <a:lnTo>
                  <a:pt x="15" y="3"/>
                </a:lnTo>
                <a:lnTo>
                  <a:pt x="17" y="3"/>
                </a:lnTo>
                <a:lnTo>
                  <a:pt x="19" y="5"/>
                </a:lnTo>
                <a:lnTo>
                  <a:pt x="22" y="5"/>
                </a:lnTo>
                <a:lnTo>
                  <a:pt x="24" y="7"/>
                </a:lnTo>
                <a:lnTo>
                  <a:pt x="25" y="8"/>
                </a:lnTo>
                <a:lnTo>
                  <a:pt x="25" y="10"/>
                </a:lnTo>
                <a:lnTo>
                  <a:pt x="27" y="13"/>
                </a:lnTo>
                <a:lnTo>
                  <a:pt x="27" y="15"/>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1999" name="Freeform 2204">
            <a:extLst>
              <a:ext uri="{FF2B5EF4-FFF2-40B4-BE49-F238E27FC236}">
                <a16:creationId xmlns:a16="http://schemas.microsoft.com/office/drawing/2014/main" id="{F13249CE-8AEC-6CF5-908C-D2C55801F220}"/>
              </a:ext>
            </a:extLst>
          </p:cNvPr>
          <p:cNvSpPr>
            <a:spLocks noEditPoints="1"/>
          </p:cNvSpPr>
          <p:nvPr/>
        </p:nvSpPr>
        <p:spPr bwMode="auto">
          <a:xfrm>
            <a:off x="3498850" y="2579688"/>
            <a:ext cx="42863" cy="41275"/>
          </a:xfrm>
          <a:custGeom>
            <a:avLst/>
            <a:gdLst>
              <a:gd name="T0" fmla="*/ 27 w 27"/>
              <a:gd name="T1" fmla="*/ 11 h 26"/>
              <a:gd name="T2" fmla="*/ 23 w 27"/>
              <a:gd name="T3" fmla="*/ 6 h 26"/>
              <a:gd name="T4" fmla="*/ 20 w 27"/>
              <a:gd name="T5" fmla="*/ 3 h 26"/>
              <a:gd name="T6" fmla="*/ 15 w 27"/>
              <a:gd name="T7" fmla="*/ 0 h 26"/>
              <a:gd name="T8" fmla="*/ 10 w 27"/>
              <a:gd name="T9" fmla="*/ 0 h 26"/>
              <a:gd name="T10" fmla="*/ 5 w 27"/>
              <a:gd name="T11" fmla="*/ 3 h 26"/>
              <a:gd name="T12" fmla="*/ 2 w 27"/>
              <a:gd name="T13" fmla="*/ 6 h 26"/>
              <a:gd name="T14" fmla="*/ 0 w 27"/>
              <a:gd name="T15" fmla="*/ 11 h 26"/>
              <a:gd name="T16" fmla="*/ 0 w 27"/>
              <a:gd name="T17" fmla="*/ 16 h 26"/>
              <a:gd name="T18" fmla="*/ 2 w 27"/>
              <a:gd name="T19" fmla="*/ 21 h 26"/>
              <a:gd name="T20" fmla="*/ 5 w 27"/>
              <a:gd name="T21" fmla="*/ 25 h 26"/>
              <a:gd name="T22" fmla="*/ 10 w 27"/>
              <a:gd name="T23" fmla="*/ 26 h 26"/>
              <a:gd name="T24" fmla="*/ 15 w 27"/>
              <a:gd name="T25" fmla="*/ 26 h 26"/>
              <a:gd name="T26" fmla="*/ 20 w 27"/>
              <a:gd name="T27" fmla="*/ 25 h 26"/>
              <a:gd name="T28" fmla="*/ 23 w 27"/>
              <a:gd name="T29" fmla="*/ 21 h 26"/>
              <a:gd name="T30" fmla="*/ 27 w 27"/>
              <a:gd name="T31" fmla="*/ 16 h 26"/>
              <a:gd name="T32" fmla="*/ 23 w 27"/>
              <a:gd name="T33" fmla="*/ 13 h 26"/>
              <a:gd name="T34" fmla="*/ 22 w 27"/>
              <a:gd name="T35" fmla="*/ 16 h 26"/>
              <a:gd name="T36" fmla="*/ 20 w 27"/>
              <a:gd name="T37" fmla="*/ 20 h 26"/>
              <a:gd name="T38" fmla="*/ 17 w 27"/>
              <a:gd name="T39" fmla="*/ 23 h 26"/>
              <a:gd name="T40" fmla="*/ 13 w 27"/>
              <a:gd name="T41" fmla="*/ 23 h 26"/>
              <a:gd name="T42" fmla="*/ 8 w 27"/>
              <a:gd name="T43" fmla="*/ 23 h 26"/>
              <a:gd name="T44" fmla="*/ 5 w 27"/>
              <a:gd name="T45" fmla="*/ 20 h 26"/>
              <a:gd name="T46" fmla="*/ 3 w 27"/>
              <a:gd name="T47" fmla="*/ 15 h 26"/>
              <a:gd name="T48" fmla="*/ 3 w 27"/>
              <a:gd name="T49" fmla="*/ 11 h 26"/>
              <a:gd name="T50" fmla="*/ 5 w 27"/>
              <a:gd name="T51" fmla="*/ 8 h 26"/>
              <a:gd name="T52" fmla="*/ 7 w 27"/>
              <a:gd name="T53" fmla="*/ 5 h 26"/>
              <a:gd name="T54" fmla="*/ 12 w 27"/>
              <a:gd name="T55" fmla="*/ 3 h 26"/>
              <a:gd name="T56" fmla="*/ 15 w 27"/>
              <a:gd name="T57" fmla="*/ 3 h 26"/>
              <a:gd name="T58" fmla="*/ 18 w 27"/>
              <a:gd name="T59" fmla="*/ 5 h 26"/>
              <a:gd name="T60" fmla="*/ 22 w 27"/>
              <a:gd name="T61" fmla="*/ 8 h 26"/>
              <a:gd name="T62" fmla="*/ 23 w 27"/>
              <a:gd name="T63" fmla="*/ 11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 h="26">
                <a:moveTo>
                  <a:pt x="27" y="13"/>
                </a:moveTo>
                <a:lnTo>
                  <a:pt x="27" y="11"/>
                </a:lnTo>
                <a:lnTo>
                  <a:pt x="25" y="8"/>
                </a:lnTo>
                <a:lnTo>
                  <a:pt x="23" y="6"/>
                </a:lnTo>
                <a:lnTo>
                  <a:pt x="22" y="5"/>
                </a:lnTo>
                <a:lnTo>
                  <a:pt x="20" y="3"/>
                </a:lnTo>
                <a:lnTo>
                  <a:pt x="18" y="1"/>
                </a:lnTo>
                <a:lnTo>
                  <a:pt x="15" y="0"/>
                </a:lnTo>
                <a:lnTo>
                  <a:pt x="13" y="0"/>
                </a:lnTo>
                <a:lnTo>
                  <a:pt x="10" y="0"/>
                </a:lnTo>
                <a:lnTo>
                  <a:pt x="8" y="1"/>
                </a:lnTo>
                <a:lnTo>
                  <a:pt x="5" y="3"/>
                </a:lnTo>
                <a:lnTo>
                  <a:pt x="3" y="5"/>
                </a:lnTo>
                <a:lnTo>
                  <a:pt x="2" y="6"/>
                </a:lnTo>
                <a:lnTo>
                  <a:pt x="0" y="8"/>
                </a:lnTo>
                <a:lnTo>
                  <a:pt x="0" y="11"/>
                </a:lnTo>
                <a:lnTo>
                  <a:pt x="0" y="13"/>
                </a:lnTo>
                <a:lnTo>
                  <a:pt x="0" y="16"/>
                </a:lnTo>
                <a:lnTo>
                  <a:pt x="0" y="18"/>
                </a:lnTo>
                <a:lnTo>
                  <a:pt x="2" y="21"/>
                </a:lnTo>
                <a:lnTo>
                  <a:pt x="3" y="23"/>
                </a:lnTo>
                <a:lnTo>
                  <a:pt x="5" y="25"/>
                </a:lnTo>
                <a:lnTo>
                  <a:pt x="8" y="26"/>
                </a:lnTo>
                <a:lnTo>
                  <a:pt x="10" y="26"/>
                </a:lnTo>
                <a:lnTo>
                  <a:pt x="13" y="26"/>
                </a:lnTo>
                <a:lnTo>
                  <a:pt x="15" y="26"/>
                </a:lnTo>
                <a:lnTo>
                  <a:pt x="18" y="26"/>
                </a:lnTo>
                <a:lnTo>
                  <a:pt x="20" y="25"/>
                </a:lnTo>
                <a:lnTo>
                  <a:pt x="22" y="23"/>
                </a:lnTo>
                <a:lnTo>
                  <a:pt x="23" y="21"/>
                </a:lnTo>
                <a:lnTo>
                  <a:pt x="25" y="18"/>
                </a:lnTo>
                <a:lnTo>
                  <a:pt x="27" y="16"/>
                </a:lnTo>
                <a:lnTo>
                  <a:pt x="27" y="13"/>
                </a:lnTo>
                <a:close/>
                <a:moveTo>
                  <a:pt x="23" y="13"/>
                </a:moveTo>
                <a:lnTo>
                  <a:pt x="23" y="15"/>
                </a:lnTo>
                <a:lnTo>
                  <a:pt x="22" y="16"/>
                </a:lnTo>
                <a:lnTo>
                  <a:pt x="22" y="20"/>
                </a:lnTo>
                <a:lnTo>
                  <a:pt x="20" y="20"/>
                </a:lnTo>
                <a:lnTo>
                  <a:pt x="18" y="21"/>
                </a:lnTo>
                <a:lnTo>
                  <a:pt x="17" y="23"/>
                </a:lnTo>
                <a:lnTo>
                  <a:pt x="15" y="23"/>
                </a:lnTo>
                <a:lnTo>
                  <a:pt x="13" y="23"/>
                </a:lnTo>
                <a:lnTo>
                  <a:pt x="12" y="23"/>
                </a:lnTo>
                <a:lnTo>
                  <a:pt x="8" y="23"/>
                </a:lnTo>
                <a:lnTo>
                  <a:pt x="7" y="21"/>
                </a:lnTo>
                <a:lnTo>
                  <a:pt x="5" y="20"/>
                </a:lnTo>
                <a:lnTo>
                  <a:pt x="3" y="16"/>
                </a:lnTo>
                <a:lnTo>
                  <a:pt x="3" y="15"/>
                </a:lnTo>
                <a:lnTo>
                  <a:pt x="3" y="13"/>
                </a:lnTo>
                <a:lnTo>
                  <a:pt x="3" y="11"/>
                </a:lnTo>
                <a:lnTo>
                  <a:pt x="3" y="10"/>
                </a:lnTo>
                <a:lnTo>
                  <a:pt x="5" y="8"/>
                </a:lnTo>
                <a:lnTo>
                  <a:pt x="5" y="6"/>
                </a:lnTo>
                <a:lnTo>
                  <a:pt x="7" y="5"/>
                </a:lnTo>
                <a:lnTo>
                  <a:pt x="8" y="5"/>
                </a:lnTo>
                <a:lnTo>
                  <a:pt x="12" y="3"/>
                </a:lnTo>
                <a:lnTo>
                  <a:pt x="13" y="3"/>
                </a:lnTo>
                <a:lnTo>
                  <a:pt x="15" y="3"/>
                </a:lnTo>
                <a:lnTo>
                  <a:pt x="17" y="5"/>
                </a:lnTo>
                <a:lnTo>
                  <a:pt x="18" y="5"/>
                </a:lnTo>
                <a:lnTo>
                  <a:pt x="20" y="6"/>
                </a:lnTo>
                <a:lnTo>
                  <a:pt x="22" y="8"/>
                </a:lnTo>
                <a:lnTo>
                  <a:pt x="22" y="10"/>
                </a:lnTo>
                <a:lnTo>
                  <a:pt x="23" y="11"/>
                </a:lnTo>
                <a:lnTo>
                  <a:pt x="23" y="13"/>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00" name="Freeform 2205">
            <a:extLst>
              <a:ext uri="{FF2B5EF4-FFF2-40B4-BE49-F238E27FC236}">
                <a16:creationId xmlns:a16="http://schemas.microsoft.com/office/drawing/2014/main" id="{F5BFCC50-B7ED-8FA0-27E4-BA14E0DB4794}"/>
              </a:ext>
            </a:extLst>
          </p:cNvPr>
          <p:cNvSpPr>
            <a:spLocks noEditPoints="1"/>
          </p:cNvSpPr>
          <p:nvPr/>
        </p:nvSpPr>
        <p:spPr bwMode="auto">
          <a:xfrm>
            <a:off x="3502025" y="2581275"/>
            <a:ext cx="36513" cy="38100"/>
          </a:xfrm>
          <a:custGeom>
            <a:avLst/>
            <a:gdLst>
              <a:gd name="T0" fmla="*/ 23 w 23"/>
              <a:gd name="T1" fmla="*/ 10 h 24"/>
              <a:gd name="T2" fmla="*/ 21 w 23"/>
              <a:gd name="T3" fmla="*/ 5 h 24"/>
              <a:gd name="T4" fmla="*/ 18 w 23"/>
              <a:gd name="T5" fmla="*/ 2 h 24"/>
              <a:gd name="T6" fmla="*/ 13 w 23"/>
              <a:gd name="T7" fmla="*/ 0 h 24"/>
              <a:gd name="T8" fmla="*/ 8 w 23"/>
              <a:gd name="T9" fmla="*/ 0 h 24"/>
              <a:gd name="T10" fmla="*/ 5 w 23"/>
              <a:gd name="T11" fmla="*/ 2 h 24"/>
              <a:gd name="T12" fmla="*/ 1 w 23"/>
              <a:gd name="T13" fmla="*/ 5 h 24"/>
              <a:gd name="T14" fmla="*/ 0 w 23"/>
              <a:gd name="T15" fmla="*/ 10 h 24"/>
              <a:gd name="T16" fmla="*/ 0 w 23"/>
              <a:gd name="T17" fmla="*/ 15 h 24"/>
              <a:gd name="T18" fmla="*/ 1 w 23"/>
              <a:gd name="T19" fmla="*/ 19 h 24"/>
              <a:gd name="T20" fmla="*/ 5 w 23"/>
              <a:gd name="T21" fmla="*/ 22 h 24"/>
              <a:gd name="T22" fmla="*/ 8 w 23"/>
              <a:gd name="T23" fmla="*/ 24 h 24"/>
              <a:gd name="T24" fmla="*/ 13 w 23"/>
              <a:gd name="T25" fmla="*/ 24 h 24"/>
              <a:gd name="T26" fmla="*/ 18 w 23"/>
              <a:gd name="T27" fmla="*/ 22 h 24"/>
              <a:gd name="T28" fmla="*/ 21 w 23"/>
              <a:gd name="T29" fmla="*/ 19 h 24"/>
              <a:gd name="T30" fmla="*/ 23 w 23"/>
              <a:gd name="T31" fmla="*/ 15 h 24"/>
              <a:gd name="T32" fmla="*/ 20 w 23"/>
              <a:gd name="T33" fmla="*/ 12 h 24"/>
              <a:gd name="T34" fmla="*/ 18 w 23"/>
              <a:gd name="T35" fmla="*/ 15 h 24"/>
              <a:gd name="T36" fmla="*/ 16 w 23"/>
              <a:gd name="T37" fmla="*/ 19 h 24"/>
              <a:gd name="T38" fmla="*/ 13 w 23"/>
              <a:gd name="T39" fmla="*/ 20 h 24"/>
              <a:gd name="T40" fmla="*/ 10 w 23"/>
              <a:gd name="T41" fmla="*/ 20 h 24"/>
              <a:gd name="T42" fmla="*/ 6 w 23"/>
              <a:gd name="T43" fmla="*/ 19 h 24"/>
              <a:gd name="T44" fmla="*/ 5 w 23"/>
              <a:gd name="T45" fmla="*/ 17 h 24"/>
              <a:gd name="T46" fmla="*/ 3 w 23"/>
              <a:gd name="T47" fmla="*/ 14 h 24"/>
              <a:gd name="T48" fmla="*/ 3 w 23"/>
              <a:gd name="T49" fmla="*/ 10 h 24"/>
              <a:gd name="T50" fmla="*/ 5 w 23"/>
              <a:gd name="T51" fmla="*/ 7 h 24"/>
              <a:gd name="T52" fmla="*/ 8 w 23"/>
              <a:gd name="T53" fmla="*/ 5 h 24"/>
              <a:gd name="T54" fmla="*/ 11 w 23"/>
              <a:gd name="T55" fmla="*/ 4 h 24"/>
              <a:gd name="T56" fmla="*/ 15 w 23"/>
              <a:gd name="T57" fmla="*/ 5 h 24"/>
              <a:gd name="T58" fmla="*/ 16 w 23"/>
              <a:gd name="T59" fmla="*/ 7 h 24"/>
              <a:gd name="T60" fmla="*/ 18 w 23"/>
              <a:gd name="T61" fmla="*/ 9 h 24"/>
              <a:gd name="T62" fmla="*/ 20 w 23"/>
              <a:gd name="T63"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3" h="24">
                <a:moveTo>
                  <a:pt x="23" y="12"/>
                </a:moveTo>
                <a:lnTo>
                  <a:pt x="23" y="10"/>
                </a:lnTo>
                <a:lnTo>
                  <a:pt x="21" y="7"/>
                </a:lnTo>
                <a:lnTo>
                  <a:pt x="21" y="5"/>
                </a:lnTo>
                <a:lnTo>
                  <a:pt x="20" y="4"/>
                </a:lnTo>
                <a:lnTo>
                  <a:pt x="18" y="2"/>
                </a:lnTo>
                <a:lnTo>
                  <a:pt x="15" y="2"/>
                </a:lnTo>
                <a:lnTo>
                  <a:pt x="13" y="0"/>
                </a:lnTo>
                <a:lnTo>
                  <a:pt x="11" y="0"/>
                </a:lnTo>
                <a:lnTo>
                  <a:pt x="8" y="0"/>
                </a:lnTo>
                <a:lnTo>
                  <a:pt x="6" y="2"/>
                </a:lnTo>
                <a:lnTo>
                  <a:pt x="5" y="2"/>
                </a:lnTo>
                <a:lnTo>
                  <a:pt x="3" y="4"/>
                </a:lnTo>
                <a:lnTo>
                  <a:pt x="1" y="5"/>
                </a:lnTo>
                <a:lnTo>
                  <a:pt x="0" y="7"/>
                </a:lnTo>
                <a:lnTo>
                  <a:pt x="0" y="10"/>
                </a:lnTo>
                <a:lnTo>
                  <a:pt x="0" y="12"/>
                </a:lnTo>
                <a:lnTo>
                  <a:pt x="0" y="15"/>
                </a:lnTo>
                <a:lnTo>
                  <a:pt x="0" y="17"/>
                </a:lnTo>
                <a:lnTo>
                  <a:pt x="1" y="19"/>
                </a:lnTo>
                <a:lnTo>
                  <a:pt x="3" y="20"/>
                </a:lnTo>
                <a:lnTo>
                  <a:pt x="5" y="22"/>
                </a:lnTo>
                <a:lnTo>
                  <a:pt x="6" y="24"/>
                </a:lnTo>
                <a:lnTo>
                  <a:pt x="8" y="24"/>
                </a:lnTo>
                <a:lnTo>
                  <a:pt x="11" y="24"/>
                </a:lnTo>
                <a:lnTo>
                  <a:pt x="13" y="24"/>
                </a:lnTo>
                <a:lnTo>
                  <a:pt x="15" y="24"/>
                </a:lnTo>
                <a:lnTo>
                  <a:pt x="18" y="22"/>
                </a:lnTo>
                <a:lnTo>
                  <a:pt x="20" y="20"/>
                </a:lnTo>
                <a:lnTo>
                  <a:pt x="21" y="19"/>
                </a:lnTo>
                <a:lnTo>
                  <a:pt x="21" y="17"/>
                </a:lnTo>
                <a:lnTo>
                  <a:pt x="23" y="15"/>
                </a:lnTo>
                <a:lnTo>
                  <a:pt x="23" y="12"/>
                </a:lnTo>
                <a:close/>
                <a:moveTo>
                  <a:pt x="20" y="12"/>
                </a:moveTo>
                <a:lnTo>
                  <a:pt x="20" y="14"/>
                </a:lnTo>
                <a:lnTo>
                  <a:pt x="18" y="15"/>
                </a:lnTo>
                <a:lnTo>
                  <a:pt x="18" y="17"/>
                </a:lnTo>
                <a:lnTo>
                  <a:pt x="16" y="19"/>
                </a:lnTo>
                <a:lnTo>
                  <a:pt x="15" y="20"/>
                </a:lnTo>
                <a:lnTo>
                  <a:pt x="13" y="20"/>
                </a:lnTo>
                <a:lnTo>
                  <a:pt x="11" y="20"/>
                </a:lnTo>
                <a:lnTo>
                  <a:pt x="10" y="20"/>
                </a:lnTo>
                <a:lnTo>
                  <a:pt x="8" y="20"/>
                </a:lnTo>
                <a:lnTo>
                  <a:pt x="6" y="19"/>
                </a:lnTo>
                <a:lnTo>
                  <a:pt x="5" y="19"/>
                </a:lnTo>
                <a:lnTo>
                  <a:pt x="5" y="17"/>
                </a:lnTo>
                <a:lnTo>
                  <a:pt x="3" y="15"/>
                </a:lnTo>
                <a:lnTo>
                  <a:pt x="3" y="14"/>
                </a:lnTo>
                <a:lnTo>
                  <a:pt x="3" y="12"/>
                </a:lnTo>
                <a:lnTo>
                  <a:pt x="3" y="10"/>
                </a:lnTo>
                <a:lnTo>
                  <a:pt x="3" y="9"/>
                </a:lnTo>
                <a:lnTo>
                  <a:pt x="5" y="7"/>
                </a:lnTo>
                <a:lnTo>
                  <a:pt x="6" y="5"/>
                </a:lnTo>
                <a:lnTo>
                  <a:pt x="8" y="5"/>
                </a:lnTo>
                <a:lnTo>
                  <a:pt x="10" y="4"/>
                </a:lnTo>
                <a:lnTo>
                  <a:pt x="11" y="4"/>
                </a:lnTo>
                <a:lnTo>
                  <a:pt x="13" y="4"/>
                </a:lnTo>
                <a:lnTo>
                  <a:pt x="15" y="5"/>
                </a:lnTo>
                <a:lnTo>
                  <a:pt x="16" y="5"/>
                </a:lnTo>
                <a:lnTo>
                  <a:pt x="16" y="7"/>
                </a:lnTo>
                <a:lnTo>
                  <a:pt x="18" y="7"/>
                </a:lnTo>
                <a:lnTo>
                  <a:pt x="18" y="9"/>
                </a:lnTo>
                <a:lnTo>
                  <a:pt x="20" y="10"/>
                </a:lnTo>
                <a:lnTo>
                  <a:pt x="20" y="12"/>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01" name="Freeform 2206">
            <a:extLst>
              <a:ext uri="{FF2B5EF4-FFF2-40B4-BE49-F238E27FC236}">
                <a16:creationId xmlns:a16="http://schemas.microsoft.com/office/drawing/2014/main" id="{EDCE89D8-2F40-C5CC-475B-6606FC51D7FA}"/>
              </a:ext>
            </a:extLst>
          </p:cNvPr>
          <p:cNvSpPr>
            <a:spLocks noEditPoints="1"/>
          </p:cNvSpPr>
          <p:nvPr/>
        </p:nvSpPr>
        <p:spPr bwMode="auto">
          <a:xfrm>
            <a:off x="3503613" y="2584450"/>
            <a:ext cx="31750" cy="31750"/>
          </a:xfrm>
          <a:custGeom>
            <a:avLst/>
            <a:gdLst>
              <a:gd name="T0" fmla="*/ 20 w 20"/>
              <a:gd name="T1" fmla="*/ 10 h 20"/>
              <a:gd name="T2" fmla="*/ 20 w 20"/>
              <a:gd name="T3" fmla="*/ 8 h 20"/>
              <a:gd name="T4" fmla="*/ 19 w 20"/>
              <a:gd name="T5" fmla="*/ 7 h 20"/>
              <a:gd name="T6" fmla="*/ 19 w 20"/>
              <a:gd name="T7" fmla="*/ 5 h 20"/>
              <a:gd name="T8" fmla="*/ 17 w 20"/>
              <a:gd name="T9" fmla="*/ 3 h 20"/>
              <a:gd name="T10" fmla="*/ 15 w 20"/>
              <a:gd name="T11" fmla="*/ 2 h 20"/>
              <a:gd name="T12" fmla="*/ 14 w 20"/>
              <a:gd name="T13" fmla="*/ 2 h 20"/>
              <a:gd name="T14" fmla="*/ 12 w 20"/>
              <a:gd name="T15" fmla="*/ 0 h 20"/>
              <a:gd name="T16" fmla="*/ 10 w 20"/>
              <a:gd name="T17" fmla="*/ 0 h 20"/>
              <a:gd name="T18" fmla="*/ 9 w 20"/>
              <a:gd name="T19" fmla="*/ 0 h 20"/>
              <a:gd name="T20" fmla="*/ 5 w 20"/>
              <a:gd name="T21" fmla="*/ 2 h 20"/>
              <a:gd name="T22" fmla="*/ 4 w 20"/>
              <a:gd name="T23" fmla="*/ 2 h 20"/>
              <a:gd name="T24" fmla="*/ 2 w 20"/>
              <a:gd name="T25" fmla="*/ 3 h 20"/>
              <a:gd name="T26" fmla="*/ 2 w 20"/>
              <a:gd name="T27" fmla="*/ 5 h 20"/>
              <a:gd name="T28" fmla="*/ 0 w 20"/>
              <a:gd name="T29" fmla="*/ 7 h 20"/>
              <a:gd name="T30" fmla="*/ 0 w 20"/>
              <a:gd name="T31" fmla="*/ 8 h 20"/>
              <a:gd name="T32" fmla="*/ 0 w 20"/>
              <a:gd name="T33" fmla="*/ 10 h 20"/>
              <a:gd name="T34" fmla="*/ 0 w 20"/>
              <a:gd name="T35" fmla="*/ 12 h 20"/>
              <a:gd name="T36" fmla="*/ 0 w 20"/>
              <a:gd name="T37" fmla="*/ 13 h 20"/>
              <a:gd name="T38" fmla="*/ 2 w 20"/>
              <a:gd name="T39" fmla="*/ 17 h 20"/>
              <a:gd name="T40" fmla="*/ 4 w 20"/>
              <a:gd name="T41" fmla="*/ 18 h 20"/>
              <a:gd name="T42" fmla="*/ 5 w 20"/>
              <a:gd name="T43" fmla="*/ 20 h 20"/>
              <a:gd name="T44" fmla="*/ 9 w 20"/>
              <a:gd name="T45" fmla="*/ 20 h 20"/>
              <a:gd name="T46" fmla="*/ 10 w 20"/>
              <a:gd name="T47" fmla="*/ 20 h 20"/>
              <a:gd name="T48" fmla="*/ 12 w 20"/>
              <a:gd name="T49" fmla="*/ 20 h 20"/>
              <a:gd name="T50" fmla="*/ 14 w 20"/>
              <a:gd name="T51" fmla="*/ 20 h 20"/>
              <a:gd name="T52" fmla="*/ 15 w 20"/>
              <a:gd name="T53" fmla="*/ 18 h 20"/>
              <a:gd name="T54" fmla="*/ 17 w 20"/>
              <a:gd name="T55" fmla="*/ 17 h 20"/>
              <a:gd name="T56" fmla="*/ 19 w 20"/>
              <a:gd name="T57" fmla="*/ 17 h 20"/>
              <a:gd name="T58" fmla="*/ 19 w 20"/>
              <a:gd name="T59" fmla="*/ 13 h 20"/>
              <a:gd name="T60" fmla="*/ 20 w 20"/>
              <a:gd name="T61" fmla="*/ 12 h 20"/>
              <a:gd name="T62" fmla="*/ 20 w 20"/>
              <a:gd name="T63" fmla="*/ 10 h 20"/>
              <a:gd name="T64" fmla="*/ 17 w 20"/>
              <a:gd name="T65" fmla="*/ 10 h 20"/>
              <a:gd name="T66" fmla="*/ 17 w 20"/>
              <a:gd name="T67" fmla="*/ 12 h 20"/>
              <a:gd name="T68" fmla="*/ 15 w 20"/>
              <a:gd name="T69" fmla="*/ 13 h 20"/>
              <a:gd name="T70" fmla="*/ 15 w 20"/>
              <a:gd name="T71" fmla="*/ 15 h 20"/>
              <a:gd name="T72" fmla="*/ 14 w 20"/>
              <a:gd name="T73" fmla="*/ 15 h 20"/>
              <a:gd name="T74" fmla="*/ 12 w 20"/>
              <a:gd name="T75" fmla="*/ 17 h 20"/>
              <a:gd name="T76" fmla="*/ 10 w 20"/>
              <a:gd name="T77" fmla="*/ 17 h 20"/>
              <a:gd name="T78" fmla="*/ 9 w 20"/>
              <a:gd name="T79" fmla="*/ 17 h 20"/>
              <a:gd name="T80" fmla="*/ 7 w 20"/>
              <a:gd name="T81" fmla="*/ 17 h 20"/>
              <a:gd name="T82" fmla="*/ 5 w 20"/>
              <a:gd name="T83" fmla="*/ 15 h 20"/>
              <a:gd name="T84" fmla="*/ 4 w 20"/>
              <a:gd name="T85" fmla="*/ 13 h 20"/>
              <a:gd name="T86" fmla="*/ 4 w 20"/>
              <a:gd name="T87" fmla="*/ 12 h 20"/>
              <a:gd name="T88" fmla="*/ 4 w 20"/>
              <a:gd name="T89" fmla="*/ 10 h 20"/>
              <a:gd name="T90" fmla="*/ 4 w 20"/>
              <a:gd name="T91" fmla="*/ 8 h 20"/>
              <a:gd name="T92" fmla="*/ 4 w 20"/>
              <a:gd name="T93" fmla="*/ 7 h 20"/>
              <a:gd name="T94" fmla="*/ 5 w 20"/>
              <a:gd name="T95" fmla="*/ 5 h 20"/>
              <a:gd name="T96" fmla="*/ 7 w 20"/>
              <a:gd name="T97" fmla="*/ 3 h 20"/>
              <a:gd name="T98" fmla="*/ 9 w 20"/>
              <a:gd name="T99" fmla="*/ 3 h 20"/>
              <a:gd name="T100" fmla="*/ 10 w 20"/>
              <a:gd name="T101" fmla="*/ 3 h 20"/>
              <a:gd name="T102" fmla="*/ 12 w 20"/>
              <a:gd name="T103" fmla="*/ 3 h 20"/>
              <a:gd name="T104" fmla="*/ 14 w 20"/>
              <a:gd name="T105" fmla="*/ 5 h 20"/>
              <a:gd name="T106" fmla="*/ 15 w 20"/>
              <a:gd name="T107" fmla="*/ 5 h 20"/>
              <a:gd name="T108" fmla="*/ 15 w 20"/>
              <a:gd name="T109" fmla="*/ 7 h 20"/>
              <a:gd name="T110" fmla="*/ 15 w 20"/>
              <a:gd name="T111" fmla="*/ 8 h 20"/>
              <a:gd name="T112" fmla="*/ 17 w 20"/>
              <a:gd name="T113" fmla="*/ 8 h 20"/>
              <a:gd name="T114" fmla="*/ 17 w 20"/>
              <a:gd name="T115" fmla="*/ 1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0" h="20">
                <a:moveTo>
                  <a:pt x="20" y="10"/>
                </a:moveTo>
                <a:lnTo>
                  <a:pt x="20" y="8"/>
                </a:lnTo>
                <a:lnTo>
                  <a:pt x="19" y="7"/>
                </a:lnTo>
                <a:lnTo>
                  <a:pt x="19" y="5"/>
                </a:lnTo>
                <a:lnTo>
                  <a:pt x="17" y="3"/>
                </a:lnTo>
                <a:lnTo>
                  <a:pt x="15" y="2"/>
                </a:lnTo>
                <a:lnTo>
                  <a:pt x="14" y="2"/>
                </a:lnTo>
                <a:lnTo>
                  <a:pt x="12" y="0"/>
                </a:lnTo>
                <a:lnTo>
                  <a:pt x="10" y="0"/>
                </a:lnTo>
                <a:lnTo>
                  <a:pt x="9" y="0"/>
                </a:lnTo>
                <a:lnTo>
                  <a:pt x="5" y="2"/>
                </a:lnTo>
                <a:lnTo>
                  <a:pt x="4" y="2"/>
                </a:lnTo>
                <a:lnTo>
                  <a:pt x="2" y="3"/>
                </a:lnTo>
                <a:lnTo>
                  <a:pt x="2" y="5"/>
                </a:lnTo>
                <a:lnTo>
                  <a:pt x="0" y="7"/>
                </a:lnTo>
                <a:lnTo>
                  <a:pt x="0" y="8"/>
                </a:lnTo>
                <a:lnTo>
                  <a:pt x="0" y="10"/>
                </a:lnTo>
                <a:lnTo>
                  <a:pt x="0" y="12"/>
                </a:lnTo>
                <a:lnTo>
                  <a:pt x="0" y="13"/>
                </a:lnTo>
                <a:lnTo>
                  <a:pt x="2" y="17"/>
                </a:lnTo>
                <a:lnTo>
                  <a:pt x="4" y="18"/>
                </a:lnTo>
                <a:lnTo>
                  <a:pt x="5" y="20"/>
                </a:lnTo>
                <a:lnTo>
                  <a:pt x="9" y="20"/>
                </a:lnTo>
                <a:lnTo>
                  <a:pt x="10" y="20"/>
                </a:lnTo>
                <a:lnTo>
                  <a:pt x="12" y="20"/>
                </a:lnTo>
                <a:lnTo>
                  <a:pt x="14" y="20"/>
                </a:lnTo>
                <a:lnTo>
                  <a:pt x="15" y="18"/>
                </a:lnTo>
                <a:lnTo>
                  <a:pt x="17" y="17"/>
                </a:lnTo>
                <a:lnTo>
                  <a:pt x="19" y="17"/>
                </a:lnTo>
                <a:lnTo>
                  <a:pt x="19" y="13"/>
                </a:lnTo>
                <a:lnTo>
                  <a:pt x="20" y="12"/>
                </a:lnTo>
                <a:lnTo>
                  <a:pt x="20" y="10"/>
                </a:lnTo>
                <a:close/>
                <a:moveTo>
                  <a:pt x="17" y="10"/>
                </a:moveTo>
                <a:lnTo>
                  <a:pt x="17" y="12"/>
                </a:lnTo>
                <a:lnTo>
                  <a:pt x="15" y="13"/>
                </a:lnTo>
                <a:lnTo>
                  <a:pt x="15" y="15"/>
                </a:lnTo>
                <a:lnTo>
                  <a:pt x="14" y="15"/>
                </a:lnTo>
                <a:lnTo>
                  <a:pt x="12" y="17"/>
                </a:lnTo>
                <a:lnTo>
                  <a:pt x="10" y="17"/>
                </a:lnTo>
                <a:lnTo>
                  <a:pt x="9" y="17"/>
                </a:lnTo>
                <a:lnTo>
                  <a:pt x="7" y="17"/>
                </a:lnTo>
                <a:lnTo>
                  <a:pt x="5" y="15"/>
                </a:lnTo>
                <a:lnTo>
                  <a:pt x="4" y="13"/>
                </a:lnTo>
                <a:lnTo>
                  <a:pt x="4" y="12"/>
                </a:lnTo>
                <a:lnTo>
                  <a:pt x="4" y="10"/>
                </a:lnTo>
                <a:lnTo>
                  <a:pt x="4" y="8"/>
                </a:lnTo>
                <a:lnTo>
                  <a:pt x="4" y="7"/>
                </a:lnTo>
                <a:lnTo>
                  <a:pt x="5" y="5"/>
                </a:lnTo>
                <a:lnTo>
                  <a:pt x="7" y="3"/>
                </a:lnTo>
                <a:lnTo>
                  <a:pt x="9" y="3"/>
                </a:lnTo>
                <a:lnTo>
                  <a:pt x="10" y="3"/>
                </a:lnTo>
                <a:lnTo>
                  <a:pt x="12" y="3"/>
                </a:lnTo>
                <a:lnTo>
                  <a:pt x="14" y="5"/>
                </a:lnTo>
                <a:lnTo>
                  <a:pt x="15" y="5"/>
                </a:lnTo>
                <a:lnTo>
                  <a:pt x="15" y="7"/>
                </a:lnTo>
                <a:lnTo>
                  <a:pt x="15" y="8"/>
                </a:lnTo>
                <a:lnTo>
                  <a:pt x="17" y="8"/>
                </a:lnTo>
                <a:lnTo>
                  <a:pt x="17" y="10"/>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02" name="Freeform 2207">
            <a:extLst>
              <a:ext uri="{FF2B5EF4-FFF2-40B4-BE49-F238E27FC236}">
                <a16:creationId xmlns:a16="http://schemas.microsoft.com/office/drawing/2014/main" id="{6E28EDAC-993E-CD3B-2E1D-9A1F41A5337E}"/>
              </a:ext>
            </a:extLst>
          </p:cNvPr>
          <p:cNvSpPr>
            <a:spLocks noEditPoints="1"/>
          </p:cNvSpPr>
          <p:nvPr/>
        </p:nvSpPr>
        <p:spPr bwMode="auto">
          <a:xfrm>
            <a:off x="3506788" y="2587625"/>
            <a:ext cx="26988" cy="25400"/>
          </a:xfrm>
          <a:custGeom>
            <a:avLst/>
            <a:gdLst>
              <a:gd name="T0" fmla="*/ 17 w 17"/>
              <a:gd name="T1" fmla="*/ 8 h 16"/>
              <a:gd name="T2" fmla="*/ 17 w 17"/>
              <a:gd name="T3" fmla="*/ 6 h 16"/>
              <a:gd name="T4" fmla="*/ 15 w 17"/>
              <a:gd name="T5" fmla="*/ 5 h 16"/>
              <a:gd name="T6" fmla="*/ 15 w 17"/>
              <a:gd name="T7" fmla="*/ 3 h 16"/>
              <a:gd name="T8" fmla="*/ 13 w 17"/>
              <a:gd name="T9" fmla="*/ 3 h 16"/>
              <a:gd name="T10" fmla="*/ 13 w 17"/>
              <a:gd name="T11" fmla="*/ 1 h 16"/>
              <a:gd name="T12" fmla="*/ 12 w 17"/>
              <a:gd name="T13" fmla="*/ 1 h 16"/>
              <a:gd name="T14" fmla="*/ 10 w 17"/>
              <a:gd name="T15" fmla="*/ 0 h 16"/>
              <a:gd name="T16" fmla="*/ 8 w 17"/>
              <a:gd name="T17" fmla="*/ 0 h 16"/>
              <a:gd name="T18" fmla="*/ 7 w 17"/>
              <a:gd name="T19" fmla="*/ 0 h 16"/>
              <a:gd name="T20" fmla="*/ 5 w 17"/>
              <a:gd name="T21" fmla="*/ 1 h 16"/>
              <a:gd name="T22" fmla="*/ 3 w 17"/>
              <a:gd name="T23" fmla="*/ 1 h 16"/>
              <a:gd name="T24" fmla="*/ 2 w 17"/>
              <a:gd name="T25" fmla="*/ 3 h 16"/>
              <a:gd name="T26" fmla="*/ 0 w 17"/>
              <a:gd name="T27" fmla="*/ 5 h 16"/>
              <a:gd name="T28" fmla="*/ 0 w 17"/>
              <a:gd name="T29" fmla="*/ 6 h 16"/>
              <a:gd name="T30" fmla="*/ 0 w 17"/>
              <a:gd name="T31" fmla="*/ 8 h 16"/>
              <a:gd name="T32" fmla="*/ 0 w 17"/>
              <a:gd name="T33" fmla="*/ 10 h 16"/>
              <a:gd name="T34" fmla="*/ 0 w 17"/>
              <a:gd name="T35" fmla="*/ 11 h 16"/>
              <a:gd name="T36" fmla="*/ 2 w 17"/>
              <a:gd name="T37" fmla="*/ 13 h 16"/>
              <a:gd name="T38" fmla="*/ 2 w 17"/>
              <a:gd name="T39" fmla="*/ 15 h 16"/>
              <a:gd name="T40" fmla="*/ 3 w 17"/>
              <a:gd name="T41" fmla="*/ 15 h 16"/>
              <a:gd name="T42" fmla="*/ 5 w 17"/>
              <a:gd name="T43" fmla="*/ 16 h 16"/>
              <a:gd name="T44" fmla="*/ 7 w 17"/>
              <a:gd name="T45" fmla="*/ 16 h 16"/>
              <a:gd name="T46" fmla="*/ 8 w 17"/>
              <a:gd name="T47" fmla="*/ 16 h 16"/>
              <a:gd name="T48" fmla="*/ 10 w 17"/>
              <a:gd name="T49" fmla="*/ 16 h 16"/>
              <a:gd name="T50" fmla="*/ 12 w 17"/>
              <a:gd name="T51" fmla="*/ 16 h 16"/>
              <a:gd name="T52" fmla="*/ 13 w 17"/>
              <a:gd name="T53" fmla="*/ 15 h 16"/>
              <a:gd name="T54" fmla="*/ 15 w 17"/>
              <a:gd name="T55" fmla="*/ 13 h 16"/>
              <a:gd name="T56" fmla="*/ 15 w 17"/>
              <a:gd name="T57" fmla="*/ 11 h 16"/>
              <a:gd name="T58" fmla="*/ 17 w 17"/>
              <a:gd name="T59" fmla="*/ 10 h 16"/>
              <a:gd name="T60" fmla="*/ 17 w 17"/>
              <a:gd name="T61" fmla="*/ 8 h 16"/>
              <a:gd name="T62" fmla="*/ 13 w 17"/>
              <a:gd name="T63" fmla="*/ 8 h 16"/>
              <a:gd name="T64" fmla="*/ 13 w 17"/>
              <a:gd name="T65" fmla="*/ 10 h 16"/>
              <a:gd name="T66" fmla="*/ 12 w 17"/>
              <a:gd name="T67" fmla="*/ 10 h 16"/>
              <a:gd name="T68" fmla="*/ 12 w 17"/>
              <a:gd name="T69" fmla="*/ 11 h 16"/>
              <a:gd name="T70" fmla="*/ 10 w 17"/>
              <a:gd name="T71" fmla="*/ 13 h 16"/>
              <a:gd name="T72" fmla="*/ 8 w 17"/>
              <a:gd name="T73" fmla="*/ 13 h 16"/>
              <a:gd name="T74" fmla="*/ 7 w 17"/>
              <a:gd name="T75" fmla="*/ 13 h 16"/>
              <a:gd name="T76" fmla="*/ 5 w 17"/>
              <a:gd name="T77" fmla="*/ 13 h 16"/>
              <a:gd name="T78" fmla="*/ 5 w 17"/>
              <a:gd name="T79" fmla="*/ 11 h 16"/>
              <a:gd name="T80" fmla="*/ 3 w 17"/>
              <a:gd name="T81" fmla="*/ 11 h 16"/>
              <a:gd name="T82" fmla="*/ 3 w 17"/>
              <a:gd name="T83" fmla="*/ 10 h 16"/>
              <a:gd name="T84" fmla="*/ 3 w 17"/>
              <a:gd name="T85" fmla="*/ 8 h 16"/>
              <a:gd name="T86" fmla="*/ 3 w 17"/>
              <a:gd name="T87" fmla="*/ 6 h 16"/>
              <a:gd name="T88" fmla="*/ 3 w 17"/>
              <a:gd name="T89" fmla="*/ 5 h 16"/>
              <a:gd name="T90" fmla="*/ 5 w 17"/>
              <a:gd name="T91" fmla="*/ 5 h 16"/>
              <a:gd name="T92" fmla="*/ 7 w 17"/>
              <a:gd name="T93" fmla="*/ 3 h 16"/>
              <a:gd name="T94" fmla="*/ 8 w 17"/>
              <a:gd name="T95" fmla="*/ 3 h 16"/>
              <a:gd name="T96" fmla="*/ 10 w 17"/>
              <a:gd name="T97" fmla="*/ 3 h 16"/>
              <a:gd name="T98" fmla="*/ 10 w 17"/>
              <a:gd name="T99" fmla="*/ 5 h 16"/>
              <a:gd name="T100" fmla="*/ 12 w 17"/>
              <a:gd name="T101" fmla="*/ 5 h 16"/>
              <a:gd name="T102" fmla="*/ 12 w 17"/>
              <a:gd name="T103" fmla="*/ 6 h 16"/>
              <a:gd name="T104" fmla="*/ 13 w 17"/>
              <a:gd name="T105" fmla="*/ 8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7" h="16">
                <a:moveTo>
                  <a:pt x="17" y="8"/>
                </a:moveTo>
                <a:lnTo>
                  <a:pt x="17" y="6"/>
                </a:lnTo>
                <a:lnTo>
                  <a:pt x="15" y="5"/>
                </a:lnTo>
                <a:lnTo>
                  <a:pt x="15" y="3"/>
                </a:lnTo>
                <a:lnTo>
                  <a:pt x="13" y="3"/>
                </a:lnTo>
                <a:lnTo>
                  <a:pt x="13" y="1"/>
                </a:lnTo>
                <a:lnTo>
                  <a:pt x="12" y="1"/>
                </a:lnTo>
                <a:lnTo>
                  <a:pt x="10" y="0"/>
                </a:lnTo>
                <a:lnTo>
                  <a:pt x="8" y="0"/>
                </a:lnTo>
                <a:lnTo>
                  <a:pt x="7" y="0"/>
                </a:lnTo>
                <a:lnTo>
                  <a:pt x="5" y="1"/>
                </a:lnTo>
                <a:lnTo>
                  <a:pt x="3" y="1"/>
                </a:lnTo>
                <a:lnTo>
                  <a:pt x="2" y="3"/>
                </a:lnTo>
                <a:lnTo>
                  <a:pt x="0" y="5"/>
                </a:lnTo>
                <a:lnTo>
                  <a:pt x="0" y="6"/>
                </a:lnTo>
                <a:lnTo>
                  <a:pt x="0" y="8"/>
                </a:lnTo>
                <a:lnTo>
                  <a:pt x="0" y="10"/>
                </a:lnTo>
                <a:lnTo>
                  <a:pt x="0" y="11"/>
                </a:lnTo>
                <a:lnTo>
                  <a:pt x="2" y="13"/>
                </a:lnTo>
                <a:lnTo>
                  <a:pt x="2" y="15"/>
                </a:lnTo>
                <a:lnTo>
                  <a:pt x="3" y="15"/>
                </a:lnTo>
                <a:lnTo>
                  <a:pt x="5" y="16"/>
                </a:lnTo>
                <a:lnTo>
                  <a:pt x="7" y="16"/>
                </a:lnTo>
                <a:lnTo>
                  <a:pt x="8" y="16"/>
                </a:lnTo>
                <a:lnTo>
                  <a:pt x="10" y="16"/>
                </a:lnTo>
                <a:lnTo>
                  <a:pt x="12" y="16"/>
                </a:lnTo>
                <a:lnTo>
                  <a:pt x="13" y="15"/>
                </a:lnTo>
                <a:lnTo>
                  <a:pt x="15" y="13"/>
                </a:lnTo>
                <a:lnTo>
                  <a:pt x="15" y="11"/>
                </a:lnTo>
                <a:lnTo>
                  <a:pt x="17" y="10"/>
                </a:lnTo>
                <a:lnTo>
                  <a:pt x="17" y="8"/>
                </a:lnTo>
                <a:close/>
                <a:moveTo>
                  <a:pt x="13" y="8"/>
                </a:moveTo>
                <a:lnTo>
                  <a:pt x="13" y="10"/>
                </a:lnTo>
                <a:lnTo>
                  <a:pt x="12" y="10"/>
                </a:lnTo>
                <a:lnTo>
                  <a:pt x="12" y="11"/>
                </a:lnTo>
                <a:lnTo>
                  <a:pt x="10" y="13"/>
                </a:lnTo>
                <a:lnTo>
                  <a:pt x="8" y="13"/>
                </a:lnTo>
                <a:lnTo>
                  <a:pt x="7" y="13"/>
                </a:lnTo>
                <a:lnTo>
                  <a:pt x="5" y="13"/>
                </a:lnTo>
                <a:lnTo>
                  <a:pt x="5" y="11"/>
                </a:lnTo>
                <a:lnTo>
                  <a:pt x="3" y="11"/>
                </a:lnTo>
                <a:lnTo>
                  <a:pt x="3" y="10"/>
                </a:lnTo>
                <a:lnTo>
                  <a:pt x="3" y="8"/>
                </a:lnTo>
                <a:lnTo>
                  <a:pt x="3" y="6"/>
                </a:lnTo>
                <a:lnTo>
                  <a:pt x="3" y="5"/>
                </a:lnTo>
                <a:lnTo>
                  <a:pt x="5" y="5"/>
                </a:lnTo>
                <a:lnTo>
                  <a:pt x="7" y="3"/>
                </a:lnTo>
                <a:lnTo>
                  <a:pt x="8" y="3"/>
                </a:lnTo>
                <a:lnTo>
                  <a:pt x="10" y="3"/>
                </a:lnTo>
                <a:lnTo>
                  <a:pt x="10" y="5"/>
                </a:lnTo>
                <a:lnTo>
                  <a:pt x="12" y="5"/>
                </a:lnTo>
                <a:lnTo>
                  <a:pt x="12" y="6"/>
                </a:lnTo>
                <a:lnTo>
                  <a:pt x="13" y="8"/>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03" name="Freeform 2208">
            <a:extLst>
              <a:ext uri="{FF2B5EF4-FFF2-40B4-BE49-F238E27FC236}">
                <a16:creationId xmlns:a16="http://schemas.microsoft.com/office/drawing/2014/main" id="{9156AEFF-AC03-5930-06F9-F920AA4B6042}"/>
              </a:ext>
            </a:extLst>
          </p:cNvPr>
          <p:cNvSpPr>
            <a:spLocks noEditPoints="1"/>
          </p:cNvSpPr>
          <p:nvPr/>
        </p:nvSpPr>
        <p:spPr bwMode="auto">
          <a:xfrm>
            <a:off x="3509963" y="2589213"/>
            <a:ext cx="20638" cy="22225"/>
          </a:xfrm>
          <a:custGeom>
            <a:avLst/>
            <a:gdLst>
              <a:gd name="T0" fmla="*/ 13 w 13"/>
              <a:gd name="T1" fmla="*/ 7 h 14"/>
              <a:gd name="T2" fmla="*/ 13 w 13"/>
              <a:gd name="T3" fmla="*/ 5 h 14"/>
              <a:gd name="T4" fmla="*/ 11 w 13"/>
              <a:gd name="T5" fmla="*/ 5 h 14"/>
              <a:gd name="T6" fmla="*/ 11 w 13"/>
              <a:gd name="T7" fmla="*/ 4 h 14"/>
              <a:gd name="T8" fmla="*/ 11 w 13"/>
              <a:gd name="T9" fmla="*/ 2 h 14"/>
              <a:gd name="T10" fmla="*/ 10 w 13"/>
              <a:gd name="T11" fmla="*/ 2 h 14"/>
              <a:gd name="T12" fmla="*/ 8 w 13"/>
              <a:gd name="T13" fmla="*/ 0 h 14"/>
              <a:gd name="T14" fmla="*/ 6 w 13"/>
              <a:gd name="T15" fmla="*/ 0 h 14"/>
              <a:gd name="T16" fmla="*/ 5 w 13"/>
              <a:gd name="T17" fmla="*/ 0 h 14"/>
              <a:gd name="T18" fmla="*/ 3 w 13"/>
              <a:gd name="T19" fmla="*/ 0 h 14"/>
              <a:gd name="T20" fmla="*/ 1 w 13"/>
              <a:gd name="T21" fmla="*/ 2 h 14"/>
              <a:gd name="T22" fmla="*/ 0 w 13"/>
              <a:gd name="T23" fmla="*/ 4 h 14"/>
              <a:gd name="T24" fmla="*/ 0 w 13"/>
              <a:gd name="T25" fmla="*/ 5 h 14"/>
              <a:gd name="T26" fmla="*/ 0 w 13"/>
              <a:gd name="T27" fmla="*/ 7 h 14"/>
              <a:gd name="T28" fmla="*/ 0 w 13"/>
              <a:gd name="T29" fmla="*/ 9 h 14"/>
              <a:gd name="T30" fmla="*/ 0 w 13"/>
              <a:gd name="T31" fmla="*/ 10 h 14"/>
              <a:gd name="T32" fmla="*/ 1 w 13"/>
              <a:gd name="T33" fmla="*/ 12 h 14"/>
              <a:gd name="T34" fmla="*/ 3 w 13"/>
              <a:gd name="T35" fmla="*/ 14 h 14"/>
              <a:gd name="T36" fmla="*/ 5 w 13"/>
              <a:gd name="T37" fmla="*/ 14 h 14"/>
              <a:gd name="T38" fmla="*/ 6 w 13"/>
              <a:gd name="T39" fmla="*/ 14 h 14"/>
              <a:gd name="T40" fmla="*/ 8 w 13"/>
              <a:gd name="T41" fmla="*/ 14 h 14"/>
              <a:gd name="T42" fmla="*/ 10 w 13"/>
              <a:gd name="T43" fmla="*/ 12 h 14"/>
              <a:gd name="T44" fmla="*/ 11 w 13"/>
              <a:gd name="T45" fmla="*/ 12 h 14"/>
              <a:gd name="T46" fmla="*/ 11 w 13"/>
              <a:gd name="T47" fmla="*/ 10 h 14"/>
              <a:gd name="T48" fmla="*/ 13 w 13"/>
              <a:gd name="T49" fmla="*/ 9 h 14"/>
              <a:gd name="T50" fmla="*/ 13 w 13"/>
              <a:gd name="T51" fmla="*/ 7 h 14"/>
              <a:gd name="T52" fmla="*/ 10 w 13"/>
              <a:gd name="T53" fmla="*/ 7 h 14"/>
              <a:gd name="T54" fmla="*/ 10 w 13"/>
              <a:gd name="T55" fmla="*/ 9 h 14"/>
              <a:gd name="T56" fmla="*/ 8 w 13"/>
              <a:gd name="T57" fmla="*/ 9 h 14"/>
              <a:gd name="T58" fmla="*/ 8 w 13"/>
              <a:gd name="T59" fmla="*/ 10 h 14"/>
              <a:gd name="T60" fmla="*/ 6 w 13"/>
              <a:gd name="T61" fmla="*/ 10 h 14"/>
              <a:gd name="T62" fmla="*/ 5 w 13"/>
              <a:gd name="T63" fmla="*/ 10 h 14"/>
              <a:gd name="T64" fmla="*/ 3 w 13"/>
              <a:gd name="T65" fmla="*/ 10 h 14"/>
              <a:gd name="T66" fmla="*/ 3 w 13"/>
              <a:gd name="T67" fmla="*/ 9 h 14"/>
              <a:gd name="T68" fmla="*/ 3 w 13"/>
              <a:gd name="T69" fmla="*/ 7 h 14"/>
              <a:gd name="T70" fmla="*/ 3 w 13"/>
              <a:gd name="T71" fmla="*/ 5 h 14"/>
              <a:gd name="T72" fmla="*/ 5 w 13"/>
              <a:gd name="T73" fmla="*/ 5 h 14"/>
              <a:gd name="T74" fmla="*/ 5 w 13"/>
              <a:gd name="T75" fmla="*/ 4 h 14"/>
              <a:gd name="T76" fmla="*/ 6 w 13"/>
              <a:gd name="T77" fmla="*/ 4 h 14"/>
              <a:gd name="T78" fmla="*/ 8 w 13"/>
              <a:gd name="T79" fmla="*/ 5 h 14"/>
              <a:gd name="T80" fmla="*/ 10 w 13"/>
              <a:gd name="T81" fmla="*/ 5 h 14"/>
              <a:gd name="T82" fmla="*/ 10 w 13"/>
              <a:gd name="T83" fmla="*/ 7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3" h="14">
                <a:moveTo>
                  <a:pt x="13" y="7"/>
                </a:moveTo>
                <a:lnTo>
                  <a:pt x="13" y="5"/>
                </a:lnTo>
                <a:lnTo>
                  <a:pt x="11" y="5"/>
                </a:lnTo>
                <a:lnTo>
                  <a:pt x="11" y="4"/>
                </a:lnTo>
                <a:lnTo>
                  <a:pt x="11" y="2"/>
                </a:lnTo>
                <a:lnTo>
                  <a:pt x="10" y="2"/>
                </a:lnTo>
                <a:lnTo>
                  <a:pt x="8" y="0"/>
                </a:lnTo>
                <a:lnTo>
                  <a:pt x="6" y="0"/>
                </a:lnTo>
                <a:lnTo>
                  <a:pt x="5" y="0"/>
                </a:lnTo>
                <a:lnTo>
                  <a:pt x="3" y="0"/>
                </a:lnTo>
                <a:lnTo>
                  <a:pt x="1" y="2"/>
                </a:lnTo>
                <a:lnTo>
                  <a:pt x="0" y="4"/>
                </a:lnTo>
                <a:lnTo>
                  <a:pt x="0" y="5"/>
                </a:lnTo>
                <a:lnTo>
                  <a:pt x="0" y="7"/>
                </a:lnTo>
                <a:lnTo>
                  <a:pt x="0" y="9"/>
                </a:lnTo>
                <a:lnTo>
                  <a:pt x="0" y="10"/>
                </a:lnTo>
                <a:lnTo>
                  <a:pt x="1" y="12"/>
                </a:lnTo>
                <a:lnTo>
                  <a:pt x="3" y="14"/>
                </a:lnTo>
                <a:lnTo>
                  <a:pt x="5" y="14"/>
                </a:lnTo>
                <a:lnTo>
                  <a:pt x="6" y="14"/>
                </a:lnTo>
                <a:lnTo>
                  <a:pt x="8" y="14"/>
                </a:lnTo>
                <a:lnTo>
                  <a:pt x="10" y="12"/>
                </a:lnTo>
                <a:lnTo>
                  <a:pt x="11" y="12"/>
                </a:lnTo>
                <a:lnTo>
                  <a:pt x="11" y="10"/>
                </a:lnTo>
                <a:lnTo>
                  <a:pt x="13" y="9"/>
                </a:lnTo>
                <a:lnTo>
                  <a:pt x="13" y="7"/>
                </a:lnTo>
                <a:close/>
                <a:moveTo>
                  <a:pt x="10" y="7"/>
                </a:moveTo>
                <a:lnTo>
                  <a:pt x="10" y="9"/>
                </a:lnTo>
                <a:lnTo>
                  <a:pt x="8" y="9"/>
                </a:lnTo>
                <a:lnTo>
                  <a:pt x="8" y="10"/>
                </a:lnTo>
                <a:lnTo>
                  <a:pt x="6" y="10"/>
                </a:lnTo>
                <a:lnTo>
                  <a:pt x="5" y="10"/>
                </a:lnTo>
                <a:lnTo>
                  <a:pt x="3" y="10"/>
                </a:lnTo>
                <a:lnTo>
                  <a:pt x="3" y="9"/>
                </a:lnTo>
                <a:lnTo>
                  <a:pt x="3" y="7"/>
                </a:lnTo>
                <a:lnTo>
                  <a:pt x="3" y="5"/>
                </a:lnTo>
                <a:lnTo>
                  <a:pt x="5" y="5"/>
                </a:lnTo>
                <a:lnTo>
                  <a:pt x="5" y="4"/>
                </a:lnTo>
                <a:lnTo>
                  <a:pt x="6" y="4"/>
                </a:lnTo>
                <a:lnTo>
                  <a:pt x="8" y="5"/>
                </a:lnTo>
                <a:lnTo>
                  <a:pt x="10" y="5"/>
                </a:lnTo>
                <a:lnTo>
                  <a:pt x="10" y="7"/>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04" name="Freeform 2209">
            <a:extLst>
              <a:ext uri="{FF2B5EF4-FFF2-40B4-BE49-F238E27FC236}">
                <a16:creationId xmlns:a16="http://schemas.microsoft.com/office/drawing/2014/main" id="{7CE11D98-7E5B-792B-A14C-8E46B61EBD9F}"/>
              </a:ext>
            </a:extLst>
          </p:cNvPr>
          <p:cNvSpPr>
            <a:spLocks noEditPoints="1"/>
          </p:cNvSpPr>
          <p:nvPr/>
        </p:nvSpPr>
        <p:spPr bwMode="auto">
          <a:xfrm>
            <a:off x="3511550" y="2592388"/>
            <a:ext cx="15875" cy="15875"/>
          </a:xfrm>
          <a:custGeom>
            <a:avLst/>
            <a:gdLst>
              <a:gd name="T0" fmla="*/ 10 w 10"/>
              <a:gd name="T1" fmla="*/ 5 h 10"/>
              <a:gd name="T2" fmla="*/ 10 w 10"/>
              <a:gd name="T3" fmla="*/ 5 h 10"/>
              <a:gd name="T4" fmla="*/ 9 w 10"/>
              <a:gd name="T5" fmla="*/ 3 h 10"/>
              <a:gd name="T6" fmla="*/ 9 w 10"/>
              <a:gd name="T7" fmla="*/ 2 h 10"/>
              <a:gd name="T8" fmla="*/ 7 w 10"/>
              <a:gd name="T9" fmla="*/ 2 h 10"/>
              <a:gd name="T10" fmla="*/ 7 w 10"/>
              <a:gd name="T11" fmla="*/ 0 h 10"/>
              <a:gd name="T12" fmla="*/ 5 w 10"/>
              <a:gd name="T13" fmla="*/ 0 h 10"/>
              <a:gd name="T14" fmla="*/ 4 w 10"/>
              <a:gd name="T15" fmla="*/ 0 h 10"/>
              <a:gd name="T16" fmla="*/ 2 w 10"/>
              <a:gd name="T17" fmla="*/ 2 h 10"/>
              <a:gd name="T18" fmla="*/ 0 w 10"/>
              <a:gd name="T19" fmla="*/ 2 h 10"/>
              <a:gd name="T20" fmla="*/ 0 w 10"/>
              <a:gd name="T21" fmla="*/ 3 h 10"/>
              <a:gd name="T22" fmla="*/ 0 w 10"/>
              <a:gd name="T23" fmla="*/ 5 h 10"/>
              <a:gd name="T24" fmla="*/ 0 w 10"/>
              <a:gd name="T25" fmla="*/ 7 h 10"/>
              <a:gd name="T26" fmla="*/ 0 w 10"/>
              <a:gd name="T27" fmla="*/ 8 h 10"/>
              <a:gd name="T28" fmla="*/ 2 w 10"/>
              <a:gd name="T29" fmla="*/ 8 h 10"/>
              <a:gd name="T30" fmla="*/ 2 w 10"/>
              <a:gd name="T31" fmla="*/ 10 h 10"/>
              <a:gd name="T32" fmla="*/ 4 w 10"/>
              <a:gd name="T33" fmla="*/ 10 h 10"/>
              <a:gd name="T34" fmla="*/ 5 w 10"/>
              <a:gd name="T35" fmla="*/ 10 h 10"/>
              <a:gd name="T36" fmla="*/ 7 w 10"/>
              <a:gd name="T37" fmla="*/ 10 h 10"/>
              <a:gd name="T38" fmla="*/ 9 w 10"/>
              <a:gd name="T39" fmla="*/ 8 h 10"/>
              <a:gd name="T40" fmla="*/ 9 w 10"/>
              <a:gd name="T41" fmla="*/ 7 h 10"/>
              <a:gd name="T42" fmla="*/ 10 w 10"/>
              <a:gd name="T43" fmla="*/ 7 h 10"/>
              <a:gd name="T44" fmla="*/ 10 w 10"/>
              <a:gd name="T45" fmla="*/ 5 h 10"/>
              <a:gd name="T46" fmla="*/ 7 w 10"/>
              <a:gd name="T47" fmla="*/ 5 h 10"/>
              <a:gd name="T48" fmla="*/ 7 w 10"/>
              <a:gd name="T49" fmla="*/ 5 h 10"/>
              <a:gd name="T50" fmla="*/ 7 w 10"/>
              <a:gd name="T51" fmla="*/ 7 h 10"/>
              <a:gd name="T52" fmla="*/ 5 w 10"/>
              <a:gd name="T53" fmla="*/ 7 h 10"/>
              <a:gd name="T54" fmla="*/ 4 w 10"/>
              <a:gd name="T55" fmla="*/ 7 h 10"/>
              <a:gd name="T56" fmla="*/ 4 w 10"/>
              <a:gd name="T57" fmla="*/ 5 h 10"/>
              <a:gd name="T58" fmla="*/ 4 w 10"/>
              <a:gd name="T59" fmla="*/ 3 h 10"/>
              <a:gd name="T60" fmla="*/ 5 w 10"/>
              <a:gd name="T61" fmla="*/ 3 h 10"/>
              <a:gd name="T62" fmla="*/ 7 w 10"/>
              <a:gd name="T63" fmla="*/ 5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0" h="10">
                <a:moveTo>
                  <a:pt x="10" y="5"/>
                </a:moveTo>
                <a:lnTo>
                  <a:pt x="10" y="5"/>
                </a:lnTo>
                <a:lnTo>
                  <a:pt x="9" y="3"/>
                </a:lnTo>
                <a:lnTo>
                  <a:pt x="9" y="2"/>
                </a:lnTo>
                <a:lnTo>
                  <a:pt x="7" y="2"/>
                </a:lnTo>
                <a:lnTo>
                  <a:pt x="7" y="0"/>
                </a:lnTo>
                <a:lnTo>
                  <a:pt x="5" y="0"/>
                </a:lnTo>
                <a:lnTo>
                  <a:pt x="4" y="0"/>
                </a:lnTo>
                <a:lnTo>
                  <a:pt x="2" y="2"/>
                </a:lnTo>
                <a:lnTo>
                  <a:pt x="0" y="2"/>
                </a:lnTo>
                <a:lnTo>
                  <a:pt x="0" y="3"/>
                </a:lnTo>
                <a:lnTo>
                  <a:pt x="0" y="5"/>
                </a:lnTo>
                <a:lnTo>
                  <a:pt x="0" y="7"/>
                </a:lnTo>
                <a:lnTo>
                  <a:pt x="0" y="8"/>
                </a:lnTo>
                <a:lnTo>
                  <a:pt x="2" y="8"/>
                </a:lnTo>
                <a:lnTo>
                  <a:pt x="2" y="10"/>
                </a:lnTo>
                <a:lnTo>
                  <a:pt x="4" y="10"/>
                </a:lnTo>
                <a:lnTo>
                  <a:pt x="5" y="10"/>
                </a:lnTo>
                <a:lnTo>
                  <a:pt x="7" y="10"/>
                </a:lnTo>
                <a:lnTo>
                  <a:pt x="9" y="8"/>
                </a:lnTo>
                <a:lnTo>
                  <a:pt x="9" y="7"/>
                </a:lnTo>
                <a:lnTo>
                  <a:pt x="10" y="7"/>
                </a:lnTo>
                <a:lnTo>
                  <a:pt x="10" y="5"/>
                </a:lnTo>
                <a:close/>
                <a:moveTo>
                  <a:pt x="7" y="5"/>
                </a:moveTo>
                <a:lnTo>
                  <a:pt x="7" y="5"/>
                </a:lnTo>
                <a:lnTo>
                  <a:pt x="7" y="7"/>
                </a:lnTo>
                <a:lnTo>
                  <a:pt x="5" y="7"/>
                </a:lnTo>
                <a:lnTo>
                  <a:pt x="4" y="7"/>
                </a:lnTo>
                <a:lnTo>
                  <a:pt x="4" y="5"/>
                </a:lnTo>
                <a:lnTo>
                  <a:pt x="4" y="3"/>
                </a:lnTo>
                <a:lnTo>
                  <a:pt x="5" y="3"/>
                </a:lnTo>
                <a:lnTo>
                  <a:pt x="7" y="5"/>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05" name="Freeform 2210">
            <a:extLst>
              <a:ext uri="{FF2B5EF4-FFF2-40B4-BE49-F238E27FC236}">
                <a16:creationId xmlns:a16="http://schemas.microsoft.com/office/drawing/2014/main" id="{23EFE1BE-0DDA-0646-8BD3-98BBA5ACC405}"/>
              </a:ext>
            </a:extLst>
          </p:cNvPr>
          <p:cNvSpPr>
            <a:spLocks/>
          </p:cNvSpPr>
          <p:nvPr/>
        </p:nvSpPr>
        <p:spPr bwMode="auto">
          <a:xfrm>
            <a:off x="3514725" y="2595563"/>
            <a:ext cx="11113" cy="9525"/>
          </a:xfrm>
          <a:custGeom>
            <a:avLst/>
            <a:gdLst>
              <a:gd name="T0" fmla="*/ 7 w 7"/>
              <a:gd name="T1" fmla="*/ 3 h 6"/>
              <a:gd name="T2" fmla="*/ 7 w 7"/>
              <a:gd name="T3" fmla="*/ 3 h 6"/>
              <a:gd name="T4" fmla="*/ 7 w 7"/>
              <a:gd name="T5" fmla="*/ 1 h 6"/>
              <a:gd name="T6" fmla="*/ 5 w 7"/>
              <a:gd name="T7" fmla="*/ 1 h 6"/>
              <a:gd name="T8" fmla="*/ 3 w 7"/>
              <a:gd name="T9" fmla="*/ 0 h 6"/>
              <a:gd name="T10" fmla="*/ 2 w 7"/>
              <a:gd name="T11" fmla="*/ 0 h 6"/>
              <a:gd name="T12" fmla="*/ 2 w 7"/>
              <a:gd name="T13" fmla="*/ 1 h 6"/>
              <a:gd name="T14" fmla="*/ 0 w 7"/>
              <a:gd name="T15" fmla="*/ 1 h 6"/>
              <a:gd name="T16" fmla="*/ 0 w 7"/>
              <a:gd name="T17" fmla="*/ 3 h 6"/>
              <a:gd name="T18" fmla="*/ 0 w 7"/>
              <a:gd name="T19" fmla="*/ 5 h 6"/>
              <a:gd name="T20" fmla="*/ 0 w 7"/>
              <a:gd name="T21" fmla="*/ 6 h 6"/>
              <a:gd name="T22" fmla="*/ 2 w 7"/>
              <a:gd name="T23" fmla="*/ 6 h 6"/>
              <a:gd name="T24" fmla="*/ 3 w 7"/>
              <a:gd name="T25" fmla="*/ 6 h 6"/>
              <a:gd name="T26" fmla="*/ 5 w 7"/>
              <a:gd name="T27" fmla="*/ 6 h 6"/>
              <a:gd name="T28" fmla="*/ 5 w 7"/>
              <a:gd name="T29" fmla="*/ 5 h 6"/>
              <a:gd name="T30" fmla="*/ 7 w 7"/>
              <a:gd name="T31" fmla="*/ 5 h 6"/>
              <a:gd name="T32" fmla="*/ 7 w 7"/>
              <a:gd name="T33" fmla="*/ 3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 h="6">
                <a:moveTo>
                  <a:pt x="7" y="3"/>
                </a:moveTo>
                <a:lnTo>
                  <a:pt x="7" y="3"/>
                </a:lnTo>
                <a:lnTo>
                  <a:pt x="7" y="1"/>
                </a:lnTo>
                <a:lnTo>
                  <a:pt x="5" y="1"/>
                </a:lnTo>
                <a:lnTo>
                  <a:pt x="3" y="0"/>
                </a:lnTo>
                <a:lnTo>
                  <a:pt x="2" y="0"/>
                </a:lnTo>
                <a:lnTo>
                  <a:pt x="2" y="1"/>
                </a:lnTo>
                <a:lnTo>
                  <a:pt x="0" y="1"/>
                </a:lnTo>
                <a:lnTo>
                  <a:pt x="0" y="3"/>
                </a:lnTo>
                <a:lnTo>
                  <a:pt x="0" y="5"/>
                </a:lnTo>
                <a:lnTo>
                  <a:pt x="0" y="6"/>
                </a:lnTo>
                <a:lnTo>
                  <a:pt x="2" y="6"/>
                </a:lnTo>
                <a:lnTo>
                  <a:pt x="3" y="6"/>
                </a:lnTo>
                <a:lnTo>
                  <a:pt x="5" y="6"/>
                </a:lnTo>
                <a:lnTo>
                  <a:pt x="5" y="5"/>
                </a:lnTo>
                <a:lnTo>
                  <a:pt x="7" y="5"/>
                </a:lnTo>
                <a:lnTo>
                  <a:pt x="7" y="3"/>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06" name="Freeform 2211">
            <a:extLst>
              <a:ext uri="{FF2B5EF4-FFF2-40B4-BE49-F238E27FC236}">
                <a16:creationId xmlns:a16="http://schemas.microsoft.com/office/drawing/2014/main" id="{47F9FD5B-0FBB-C049-932E-8339D4E3EDCC}"/>
              </a:ext>
            </a:extLst>
          </p:cNvPr>
          <p:cNvSpPr>
            <a:spLocks/>
          </p:cNvSpPr>
          <p:nvPr/>
        </p:nvSpPr>
        <p:spPr bwMode="auto">
          <a:xfrm>
            <a:off x="3517900" y="2597150"/>
            <a:ext cx="4763" cy="6350"/>
          </a:xfrm>
          <a:custGeom>
            <a:avLst/>
            <a:gdLst>
              <a:gd name="T0" fmla="*/ 3 w 3"/>
              <a:gd name="T1" fmla="*/ 2 h 4"/>
              <a:gd name="T2" fmla="*/ 3 w 3"/>
              <a:gd name="T3" fmla="*/ 2 h 4"/>
              <a:gd name="T4" fmla="*/ 1 w 3"/>
              <a:gd name="T5" fmla="*/ 0 h 4"/>
              <a:gd name="T6" fmla="*/ 0 w 3"/>
              <a:gd name="T7" fmla="*/ 0 h 4"/>
              <a:gd name="T8" fmla="*/ 0 w 3"/>
              <a:gd name="T9" fmla="*/ 2 h 4"/>
              <a:gd name="T10" fmla="*/ 0 w 3"/>
              <a:gd name="T11" fmla="*/ 4 h 4"/>
              <a:gd name="T12" fmla="*/ 1 w 3"/>
              <a:gd name="T13" fmla="*/ 4 h 4"/>
              <a:gd name="T14" fmla="*/ 3 w 3"/>
              <a:gd name="T15" fmla="*/ 4 h 4"/>
              <a:gd name="T16" fmla="*/ 3 w 3"/>
              <a:gd name="T17" fmla="*/ 2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 h="4">
                <a:moveTo>
                  <a:pt x="3" y="2"/>
                </a:moveTo>
                <a:lnTo>
                  <a:pt x="3" y="2"/>
                </a:lnTo>
                <a:lnTo>
                  <a:pt x="1" y="0"/>
                </a:lnTo>
                <a:lnTo>
                  <a:pt x="0" y="0"/>
                </a:lnTo>
                <a:lnTo>
                  <a:pt x="0" y="2"/>
                </a:lnTo>
                <a:lnTo>
                  <a:pt x="0" y="4"/>
                </a:lnTo>
                <a:lnTo>
                  <a:pt x="1" y="4"/>
                </a:lnTo>
                <a:lnTo>
                  <a:pt x="3" y="4"/>
                </a:lnTo>
                <a:lnTo>
                  <a:pt x="3" y="2"/>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07" name="Freeform 2212">
            <a:extLst>
              <a:ext uri="{FF2B5EF4-FFF2-40B4-BE49-F238E27FC236}">
                <a16:creationId xmlns:a16="http://schemas.microsoft.com/office/drawing/2014/main" id="{9FC7AC88-BDB3-20FF-FD33-40F22960D52C}"/>
              </a:ext>
            </a:extLst>
          </p:cNvPr>
          <p:cNvSpPr>
            <a:spLocks/>
          </p:cNvSpPr>
          <p:nvPr/>
        </p:nvSpPr>
        <p:spPr bwMode="auto">
          <a:xfrm>
            <a:off x="3167063" y="2403475"/>
            <a:ext cx="704850" cy="396875"/>
          </a:xfrm>
          <a:custGeom>
            <a:avLst/>
            <a:gdLst>
              <a:gd name="T0" fmla="*/ 0 w 444"/>
              <a:gd name="T1" fmla="*/ 200 h 250"/>
              <a:gd name="T2" fmla="*/ 444 w 444"/>
              <a:gd name="T3" fmla="*/ 0 h 250"/>
              <a:gd name="T4" fmla="*/ 444 w 444"/>
              <a:gd name="T5" fmla="*/ 50 h 250"/>
              <a:gd name="T6" fmla="*/ 0 w 444"/>
              <a:gd name="T7" fmla="*/ 250 h 250"/>
              <a:gd name="T8" fmla="*/ 0 w 444"/>
              <a:gd name="T9" fmla="*/ 200 h 250"/>
            </a:gdLst>
            <a:ahLst/>
            <a:cxnLst>
              <a:cxn ang="0">
                <a:pos x="T0" y="T1"/>
              </a:cxn>
              <a:cxn ang="0">
                <a:pos x="T2" y="T3"/>
              </a:cxn>
              <a:cxn ang="0">
                <a:pos x="T4" y="T5"/>
              </a:cxn>
              <a:cxn ang="0">
                <a:pos x="T6" y="T7"/>
              </a:cxn>
              <a:cxn ang="0">
                <a:pos x="T8" y="T9"/>
              </a:cxn>
            </a:cxnLst>
            <a:rect l="0" t="0" r="r" b="b"/>
            <a:pathLst>
              <a:path w="444" h="250">
                <a:moveTo>
                  <a:pt x="0" y="200"/>
                </a:moveTo>
                <a:lnTo>
                  <a:pt x="444" y="0"/>
                </a:lnTo>
                <a:lnTo>
                  <a:pt x="444" y="50"/>
                </a:lnTo>
                <a:lnTo>
                  <a:pt x="0" y="250"/>
                </a:lnTo>
                <a:lnTo>
                  <a:pt x="0" y="20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008" name="Freeform 2213">
            <a:extLst>
              <a:ext uri="{FF2B5EF4-FFF2-40B4-BE49-F238E27FC236}">
                <a16:creationId xmlns:a16="http://schemas.microsoft.com/office/drawing/2014/main" id="{CA207A1E-6B6F-AD02-750B-220A8E89FF6A}"/>
              </a:ext>
            </a:extLst>
          </p:cNvPr>
          <p:cNvSpPr>
            <a:spLocks/>
          </p:cNvSpPr>
          <p:nvPr/>
        </p:nvSpPr>
        <p:spPr bwMode="auto">
          <a:xfrm>
            <a:off x="2260600" y="2011363"/>
            <a:ext cx="665163" cy="554038"/>
          </a:xfrm>
          <a:custGeom>
            <a:avLst/>
            <a:gdLst>
              <a:gd name="T0" fmla="*/ 0 w 419"/>
              <a:gd name="T1" fmla="*/ 93 h 349"/>
              <a:gd name="T2" fmla="*/ 419 w 419"/>
              <a:gd name="T3" fmla="*/ 349 h 349"/>
              <a:gd name="T4" fmla="*/ 65 w 419"/>
              <a:gd name="T5" fmla="*/ 0 h 349"/>
              <a:gd name="T6" fmla="*/ 0 w 419"/>
              <a:gd name="T7" fmla="*/ 93 h 349"/>
            </a:gdLst>
            <a:ahLst/>
            <a:cxnLst>
              <a:cxn ang="0">
                <a:pos x="T0" y="T1"/>
              </a:cxn>
              <a:cxn ang="0">
                <a:pos x="T2" y="T3"/>
              </a:cxn>
              <a:cxn ang="0">
                <a:pos x="T4" y="T5"/>
              </a:cxn>
              <a:cxn ang="0">
                <a:pos x="T6" y="T7"/>
              </a:cxn>
            </a:cxnLst>
            <a:rect l="0" t="0" r="r" b="b"/>
            <a:pathLst>
              <a:path w="419" h="349">
                <a:moveTo>
                  <a:pt x="0" y="93"/>
                </a:moveTo>
                <a:lnTo>
                  <a:pt x="419" y="349"/>
                </a:lnTo>
                <a:lnTo>
                  <a:pt x="65" y="0"/>
                </a:lnTo>
                <a:lnTo>
                  <a:pt x="0" y="93"/>
                </a:lnTo>
                <a:close/>
              </a:path>
            </a:pathLst>
          </a:custGeom>
          <a:solidFill>
            <a:srgbClr val="F7F5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09" name="Freeform 2214">
            <a:extLst>
              <a:ext uri="{FF2B5EF4-FFF2-40B4-BE49-F238E27FC236}">
                <a16:creationId xmlns:a16="http://schemas.microsoft.com/office/drawing/2014/main" id="{5A9C9255-D22F-26C4-90D6-C74BC104C333}"/>
              </a:ext>
            </a:extLst>
          </p:cNvPr>
          <p:cNvSpPr>
            <a:spLocks/>
          </p:cNvSpPr>
          <p:nvPr/>
        </p:nvSpPr>
        <p:spPr bwMode="auto">
          <a:xfrm>
            <a:off x="2657475" y="2403475"/>
            <a:ext cx="4763" cy="1588"/>
          </a:xfrm>
          <a:custGeom>
            <a:avLst/>
            <a:gdLst>
              <a:gd name="T0" fmla="*/ 3 w 3"/>
              <a:gd name="T1" fmla="*/ 0 h 1"/>
              <a:gd name="T2" fmla="*/ 0 w 3"/>
              <a:gd name="T3" fmla="*/ 0 h 1"/>
              <a:gd name="T4" fmla="*/ 3 w 3"/>
              <a:gd name="T5" fmla="*/ 1 h 1"/>
              <a:gd name="T6" fmla="*/ 3 w 3"/>
              <a:gd name="T7" fmla="*/ 0 h 1"/>
            </a:gdLst>
            <a:ahLst/>
            <a:cxnLst>
              <a:cxn ang="0">
                <a:pos x="T0" y="T1"/>
              </a:cxn>
              <a:cxn ang="0">
                <a:pos x="T2" y="T3"/>
              </a:cxn>
              <a:cxn ang="0">
                <a:pos x="T4" y="T5"/>
              </a:cxn>
              <a:cxn ang="0">
                <a:pos x="T6" y="T7"/>
              </a:cxn>
            </a:cxnLst>
            <a:rect l="0" t="0" r="r" b="b"/>
            <a:pathLst>
              <a:path w="3" h="1">
                <a:moveTo>
                  <a:pt x="3" y="0"/>
                </a:moveTo>
                <a:lnTo>
                  <a:pt x="0" y="0"/>
                </a:lnTo>
                <a:lnTo>
                  <a:pt x="3" y="1"/>
                </a:lnTo>
                <a:lnTo>
                  <a:pt x="3"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10" name="Freeform 2215">
            <a:extLst>
              <a:ext uri="{FF2B5EF4-FFF2-40B4-BE49-F238E27FC236}">
                <a16:creationId xmlns:a16="http://schemas.microsoft.com/office/drawing/2014/main" id="{8247FAEB-9A64-9D22-F5CE-5A1F68AEBDF6}"/>
              </a:ext>
            </a:extLst>
          </p:cNvPr>
          <p:cNvSpPr>
            <a:spLocks/>
          </p:cNvSpPr>
          <p:nvPr/>
        </p:nvSpPr>
        <p:spPr bwMode="auto">
          <a:xfrm>
            <a:off x="2660650" y="2403475"/>
            <a:ext cx="7938" cy="4763"/>
          </a:xfrm>
          <a:custGeom>
            <a:avLst/>
            <a:gdLst>
              <a:gd name="T0" fmla="*/ 0 w 5"/>
              <a:gd name="T1" fmla="*/ 0 h 3"/>
              <a:gd name="T2" fmla="*/ 0 w 5"/>
              <a:gd name="T3" fmla="*/ 0 h 3"/>
              <a:gd name="T4" fmla="*/ 3 w 5"/>
              <a:gd name="T5" fmla="*/ 3 h 3"/>
              <a:gd name="T6" fmla="*/ 3 w 5"/>
              <a:gd name="T7" fmla="*/ 1 h 3"/>
              <a:gd name="T8" fmla="*/ 5 w 5"/>
              <a:gd name="T9" fmla="*/ 1 h 3"/>
              <a:gd name="T10" fmla="*/ 5 w 5"/>
              <a:gd name="T11" fmla="*/ 0 h 3"/>
              <a:gd name="T12" fmla="*/ 0 w 5"/>
              <a:gd name="T13" fmla="*/ 0 h 3"/>
            </a:gdLst>
            <a:ahLst/>
            <a:cxnLst>
              <a:cxn ang="0">
                <a:pos x="T0" y="T1"/>
              </a:cxn>
              <a:cxn ang="0">
                <a:pos x="T2" y="T3"/>
              </a:cxn>
              <a:cxn ang="0">
                <a:pos x="T4" y="T5"/>
              </a:cxn>
              <a:cxn ang="0">
                <a:pos x="T6" y="T7"/>
              </a:cxn>
              <a:cxn ang="0">
                <a:pos x="T8" y="T9"/>
              </a:cxn>
              <a:cxn ang="0">
                <a:pos x="T10" y="T11"/>
              </a:cxn>
              <a:cxn ang="0">
                <a:pos x="T12" y="T13"/>
              </a:cxn>
            </a:cxnLst>
            <a:rect l="0" t="0" r="r" b="b"/>
            <a:pathLst>
              <a:path w="5" h="3">
                <a:moveTo>
                  <a:pt x="0" y="0"/>
                </a:moveTo>
                <a:lnTo>
                  <a:pt x="0" y="0"/>
                </a:lnTo>
                <a:lnTo>
                  <a:pt x="3" y="3"/>
                </a:lnTo>
                <a:lnTo>
                  <a:pt x="3" y="1"/>
                </a:lnTo>
                <a:lnTo>
                  <a:pt x="5" y="1"/>
                </a:lnTo>
                <a:lnTo>
                  <a:pt x="5" y="0"/>
                </a:lnTo>
                <a:lnTo>
                  <a:pt x="0"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11" name="Freeform 2216">
            <a:extLst>
              <a:ext uri="{FF2B5EF4-FFF2-40B4-BE49-F238E27FC236}">
                <a16:creationId xmlns:a16="http://schemas.microsoft.com/office/drawing/2014/main" id="{B6B8690E-A73C-1560-8D9E-987A6116B2F3}"/>
              </a:ext>
            </a:extLst>
          </p:cNvPr>
          <p:cNvSpPr>
            <a:spLocks/>
          </p:cNvSpPr>
          <p:nvPr/>
        </p:nvSpPr>
        <p:spPr bwMode="auto">
          <a:xfrm>
            <a:off x="2662238" y="2403475"/>
            <a:ext cx="11113" cy="4763"/>
          </a:xfrm>
          <a:custGeom>
            <a:avLst/>
            <a:gdLst>
              <a:gd name="T0" fmla="*/ 0 w 7"/>
              <a:gd name="T1" fmla="*/ 0 h 3"/>
              <a:gd name="T2" fmla="*/ 0 w 7"/>
              <a:gd name="T3" fmla="*/ 0 h 3"/>
              <a:gd name="T4" fmla="*/ 0 w 7"/>
              <a:gd name="T5" fmla="*/ 1 h 3"/>
              <a:gd name="T6" fmla="*/ 4 w 7"/>
              <a:gd name="T7" fmla="*/ 3 h 3"/>
              <a:gd name="T8" fmla="*/ 5 w 7"/>
              <a:gd name="T9" fmla="*/ 3 h 3"/>
              <a:gd name="T10" fmla="*/ 5 w 7"/>
              <a:gd name="T11" fmla="*/ 1 h 3"/>
              <a:gd name="T12" fmla="*/ 5 w 7"/>
              <a:gd name="T13" fmla="*/ 0 h 3"/>
              <a:gd name="T14" fmla="*/ 7 w 7"/>
              <a:gd name="T15" fmla="*/ 0 h 3"/>
              <a:gd name="T16" fmla="*/ 0 w 7"/>
              <a:gd name="T17" fmla="*/ 0 h 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 h="3">
                <a:moveTo>
                  <a:pt x="0" y="0"/>
                </a:moveTo>
                <a:lnTo>
                  <a:pt x="0" y="0"/>
                </a:lnTo>
                <a:lnTo>
                  <a:pt x="0" y="1"/>
                </a:lnTo>
                <a:lnTo>
                  <a:pt x="4" y="3"/>
                </a:lnTo>
                <a:lnTo>
                  <a:pt x="5" y="3"/>
                </a:lnTo>
                <a:lnTo>
                  <a:pt x="5" y="1"/>
                </a:lnTo>
                <a:lnTo>
                  <a:pt x="5" y="0"/>
                </a:lnTo>
                <a:lnTo>
                  <a:pt x="7" y="0"/>
                </a:lnTo>
                <a:lnTo>
                  <a:pt x="0"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12" name="Freeform 2217">
            <a:extLst>
              <a:ext uri="{FF2B5EF4-FFF2-40B4-BE49-F238E27FC236}">
                <a16:creationId xmlns:a16="http://schemas.microsoft.com/office/drawing/2014/main" id="{575A4E43-068F-1E6E-0454-3F6825892F6A}"/>
              </a:ext>
            </a:extLst>
          </p:cNvPr>
          <p:cNvSpPr>
            <a:spLocks/>
          </p:cNvSpPr>
          <p:nvPr/>
        </p:nvSpPr>
        <p:spPr bwMode="auto">
          <a:xfrm>
            <a:off x="2665413" y="2403475"/>
            <a:ext cx="12700" cy="7938"/>
          </a:xfrm>
          <a:custGeom>
            <a:avLst/>
            <a:gdLst>
              <a:gd name="T0" fmla="*/ 2 w 8"/>
              <a:gd name="T1" fmla="*/ 0 h 5"/>
              <a:gd name="T2" fmla="*/ 2 w 8"/>
              <a:gd name="T3" fmla="*/ 0 h 5"/>
              <a:gd name="T4" fmla="*/ 2 w 8"/>
              <a:gd name="T5" fmla="*/ 1 h 5"/>
              <a:gd name="T6" fmla="*/ 0 w 8"/>
              <a:gd name="T7" fmla="*/ 1 h 5"/>
              <a:gd name="T8" fmla="*/ 0 w 8"/>
              <a:gd name="T9" fmla="*/ 3 h 5"/>
              <a:gd name="T10" fmla="*/ 3 w 8"/>
              <a:gd name="T11" fmla="*/ 5 h 5"/>
              <a:gd name="T12" fmla="*/ 5 w 8"/>
              <a:gd name="T13" fmla="*/ 5 h 5"/>
              <a:gd name="T14" fmla="*/ 5 w 8"/>
              <a:gd name="T15" fmla="*/ 3 h 5"/>
              <a:gd name="T16" fmla="*/ 5 w 8"/>
              <a:gd name="T17" fmla="*/ 1 h 5"/>
              <a:gd name="T18" fmla="*/ 7 w 8"/>
              <a:gd name="T19" fmla="*/ 1 h 5"/>
              <a:gd name="T20" fmla="*/ 7 w 8"/>
              <a:gd name="T21" fmla="*/ 0 h 5"/>
              <a:gd name="T22" fmla="*/ 8 w 8"/>
              <a:gd name="T23" fmla="*/ 0 h 5"/>
              <a:gd name="T24" fmla="*/ 2 w 8"/>
              <a:gd name="T25" fmla="*/ 0 h 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 h="5">
                <a:moveTo>
                  <a:pt x="2" y="0"/>
                </a:moveTo>
                <a:lnTo>
                  <a:pt x="2" y="0"/>
                </a:lnTo>
                <a:lnTo>
                  <a:pt x="2" y="1"/>
                </a:lnTo>
                <a:lnTo>
                  <a:pt x="0" y="1"/>
                </a:lnTo>
                <a:lnTo>
                  <a:pt x="0" y="3"/>
                </a:lnTo>
                <a:lnTo>
                  <a:pt x="3" y="5"/>
                </a:lnTo>
                <a:lnTo>
                  <a:pt x="5" y="5"/>
                </a:lnTo>
                <a:lnTo>
                  <a:pt x="5" y="3"/>
                </a:lnTo>
                <a:lnTo>
                  <a:pt x="5" y="1"/>
                </a:lnTo>
                <a:lnTo>
                  <a:pt x="7" y="1"/>
                </a:lnTo>
                <a:lnTo>
                  <a:pt x="7" y="0"/>
                </a:lnTo>
                <a:lnTo>
                  <a:pt x="8" y="0"/>
                </a:lnTo>
                <a:lnTo>
                  <a:pt x="2"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13" name="Freeform 2218">
            <a:extLst>
              <a:ext uri="{FF2B5EF4-FFF2-40B4-BE49-F238E27FC236}">
                <a16:creationId xmlns:a16="http://schemas.microsoft.com/office/drawing/2014/main" id="{87938E68-DCD9-1CD3-2D1F-9C800D3B844B}"/>
              </a:ext>
            </a:extLst>
          </p:cNvPr>
          <p:cNvSpPr>
            <a:spLocks/>
          </p:cNvSpPr>
          <p:nvPr/>
        </p:nvSpPr>
        <p:spPr bwMode="auto">
          <a:xfrm>
            <a:off x="2668588" y="2403475"/>
            <a:ext cx="12700" cy="9525"/>
          </a:xfrm>
          <a:custGeom>
            <a:avLst/>
            <a:gdLst>
              <a:gd name="T0" fmla="*/ 3 w 8"/>
              <a:gd name="T1" fmla="*/ 0 h 6"/>
              <a:gd name="T2" fmla="*/ 3 w 8"/>
              <a:gd name="T3" fmla="*/ 0 h 6"/>
              <a:gd name="T4" fmla="*/ 1 w 8"/>
              <a:gd name="T5" fmla="*/ 0 h 6"/>
              <a:gd name="T6" fmla="*/ 1 w 8"/>
              <a:gd name="T7" fmla="*/ 1 h 6"/>
              <a:gd name="T8" fmla="*/ 1 w 8"/>
              <a:gd name="T9" fmla="*/ 3 h 6"/>
              <a:gd name="T10" fmla="*/ 0 w 8"/>
              <a:gd name="T11" fmla="*/ 3 h 6"/>
              <a:gd name="T12" fmla="*/ 5 w 8"/>
              <a:gd name="T13" fmla="*/ 6 h 6"/>
              <a:gd name="T14" fmla="*/ 5 w 8"/>
              <a:gd name="T15" fmla="*/ 5 h 6"/>
              <a:gd name="T16" fmla="*/ 6 w 8"/>
              <a:gd name="T17" fmla="*/ 3 h 6"/>
              <a:gd name="T18" fmla="*/ 6 w 8"/>
              <a:gd name="T19" fmla="*/ 1 h 6"/>
              <a:gd name="T20" fmla="*/ 8 w 8"/>
              <a:gd name="T21" fmla="*/ 1 h 6"/>
              <a:gd name="T22" fmla="*/ 8 w 8"/>
              <a:gd name="T23" fmla="*/ 0 h 6"/>
              <a:gd name="T24" fmla="*/ 3 w 8"/>
              <a:gd name="T25" fmla="*/ 0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 h="6">
                <a:moveTo>
                  <a:pt x="3" y="0"/>
                </a:moveTo>
                <a:lnTo>
                  <a:pt x="3" y="0"/>
                </a:lnTo>
                <a:lnTo>
                  <a:pt x="1" y="0"/>
                </a:lnTo>
                <a:lnTo>
                  <a:pt x="1" y="1"/>
                </a:lnTo>
                <a:lnTo>
                  <a:pt x="1" y="3"/>
                </a:lnTo>
                <a:lnTo>
                  <a:pt x="0" y="3"/>
                </a:lnTo>
                <a:lnTo>
                  <a:pt x="5" y="6"/>
                </a:lnTo>
                <a:lnTo>
                  <a:pt x="5" y="5"/>
                </a:lnTo>
                <a:lnTo>
                  <a:pt x="6" y="3"/>
                </a:lnTo>
                <a:lnTo>
                  <a:pt x="6" y="1"/>
                </a:lnTo>
                <a:lnTo>
                  <a:pt x="8" y="1"/>
                </a:lnTo>
                <a:lnTo>
                  <a:pt x="8" y="0"/>
                </a:lnTo>
                <a:lnTo>
                  <a:pt x="3"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14" name="Freeform 2219">
            <a:extLst>
              <a:ext uri="{FF2B5EF4-FFF2-40B4-BE49-F238E27FC236}">
                <a16:creationId xmlns:a16="http://schemas.microsoft.com/office/drawing/2014/main" id="{265FD687-C89A-45E9-D121-46908D60DFA4}"/>
              </a:ext>
            </a:extLst>
          </p:cNvPr>
          <p:cNvSpPr>
            <a:spLocks/>
          </p:cNvSpPr>
          <p:nvPr/>
        </p:nvSpPr>
        <p:spPr bwMode="auto">
          <a:xfrm>
            <a:off x="2670175" y="2403475"/>
            <a:ext cx="15875" cy="12700"/>
          </a:xfrm>
          <a:custGeom>
            <a:avLst/>
            <a:gdLst>
              <a:gd name="T0" fmla="*/ 5 w 10"/>
              <a:gd name="T1" fmla="*/ 0 h 8"/>
              <a:gd name="T2" fmla="*/ 4 w 10"/>
              <a:gd name="T3" fmla="*/ 0 h 8"/>
              <a:gd name="T4" fmla="*/ 4 w 10"/>
              <a:gd name="T5" fmla="*/ 1 h 8"/>
              <a:gd name="T6" fmla="*/ 2 w 10"/>
              <a:gd name="T7" fmla="*/ 1 h 8"/>
              <a:gd name="T8" fmla="*/ 2 w 10"/>
              <a:gd name="T9" fmla="*/ 3 h 8"/>
              <a:gd name="T10" fmla="*/ 2 w 10"/>
              <a:gd name="T11" fmla="*/ 5 h 8"/>
              <a:gd name="T12" fmla="*/ 0 w 10"/>
              <a:gd name="T13" fmla="*/ 5 h 8"/>
              <a:gd name="T14" fmla="*/ 5 w 10"/>
              <a:gd name="T15" fmla="*/ 8 h 8"/>
              <a:gd name="T16" fmla="*/ 5 w 10"/>
              <a:gd name="T17" fmla="*/ 6 h 8"/>
              <a:gd name="T18" fmla="*/ 7 w 10"/>
              <a:gd name="T19" fmla="*/ 5 h 8"/>
              <a:gd name="T20" fmla="*/ 7 w 10"/>
              <a:gd name="T21" fmla="*/ 3 h 8"/>
              <a:gd name="T22" fmla="*/ 9 w 10"/>
              <a:gd name="T23" fmla="*/ 3 h 8"/>
              <a:gd name="T24" fmla="*/ 9 w 10"/>
              <a:gd name="T25" fmla="*/ 1 h 8"/>
              <a:gd name="T26" fmla="*/ 10 w 10"/>
              <a:gd name="T27" fmla="*/ 0 h 8"/>
              <a:gd name="T28" fmla="*/ 5 w 10"/>
              <a:gd name="T29"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0" h="8">
                <a:moveTo>
                  <a:pt x="5" y="0"/>
                </a:moveTo>
                <a:lnTo>
                  <a:pt x="4" y="0"/>
                </a:lnTo>
                <a:lnTo>
                  <a:pt x="4" y="1"/>
                </a:lnTo>
                <a:lnTo>
                  <a:pt x="2" y="1"/>
                </a:lnTo>
                <a:lnTo>
                  <a:pt x="2" y="3"/>
                </a:lnTo>
                <a:lnTo>
                  <a:pt x="2" y="5"/>
                </a:lnTo>
                <a:lnTo>
                  <a:pt x="0" y="5"/>
                </a:lnTo>
                <a:lnTo>
                  <a:pt x="5" y="8"/>
                </a:lnTo>
                <a:lnTo>
                  <a:pt x="5" y="6"/>
                </a:lnTo>
                <a:lnTo>
                  <a:pt x="7" y="5"/>
                </a:lnTo>
                <a:lnTo>
                  <a:pt x="7" y="3"/>
                </a:lnTo>
                <a:lnTo>
                  <a:pt x="9" y="3"/>
                </a:lnTo>
                <a:lnTo>
                  <a:pt x="9" y="1"/>
                </a:lnTo>
                <a:lnTo>
                  <a:pt x="10" y="0"/>
                </a:lnTo>
                <a:lnTo>
                  <a:pt x="5"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15" name="Freeform 2220">
            <a:extLst>
              <a:ext uri="{FF2B5EF4-FFF2-40B4-BE49-F238E27FC236}">
                <a16:creationId xmlns:a16="http://schemas.microsoft.com/office/drawing/2014/main" id="{D1B74AB7-A0F6-26DE-C3AD-0DA9DC85C12C}"/>
              </a:ext>
            </a:extLst>
          </p:cNvPr>
          <p:cNvSpPr>
            <a:spLocks/>
          </p:cNvSpPr>
          <p:nvPr/>
        </p:nvSpPr>
        <p:spPr bwMode="auto">
          <a:xfrm>
            <a:off x="2676525" y="2403475"/>
            <a:ext cx="15875" cy="12700"/>
          </a:xfrm>
          <a:custGeom>
            <a:avLst/>
            <a:gdLst>
              <a:gd name="T0" fmla="*/ 3 w 10"/>
              <a:gd name="T1" fmla="*/ 0 h 8"/>
              <a:gd name="T2" fmla="*/ 3 w 10"/>
              <a:gd name="T3" fmla="*/ 0 h 8"/>
              <a:gd name="T4" fmla="*/ 3 w 10"/>
              <a:gd name="T5" fmla="*/ 1 h 8"/>
              <a:gd name="T6" fmla="*/ 1 w 10"/>
              <a:gd name="T7" fmla="*/ 1 h 8"/>
              <a:gd name="T8" fmla="*/ 1 w 10"/>
              <a:gd name="T9" fmla="*/ 3 h 8"/>
              <a:gd name="T10" fmla="*/ 0 w 10"/>
              <a:gd name="T11" fmla="*/ 5 h 8"/>
              <a:gd name="T12" fmla="*/ 0 w 10"/>
              <a:gd name="T13" fmla="*/ 6 h 8"/>
              <a:gd name="T14" fmla="*/ 3 w 10"/>
              <a:gd name="T15" fmla="*/ 8 h 8"/>
              <a:gd name="T16" fmla="*/ 5 w 10"/>
              <a:gd name="T17" fmla="*/ 8 h 8"/>
              <a:gd name="T18" fmla="*/ 5 w 10"/>
              <a:gd name="T19" fmla="*/ 6 h 8"/>
              <a:gd name="T20" fmla="*/ 5 w 10"/>
              <a:gd name="T21" fmla="*/ 5 h 8"/>
              <a:gd name="T22" fmla="*/ 6 w 10"/>
              <a:gd name="T23" fmla="*/ 5 h 8"/>
              <a:gd name="T24" fmla="*/ 6 w 10"/>
              <a:gd name="T25" fmla="*/ 3 h 8"/>
              <a:gd name="T26" fmla="*/ 8 w 10"/>
              <a:gd name="T27" fmla="*/ 1 h 8"/>
              <a:gd name="T28" fmla="*/ 10 w 10"/>
              <a:gd name="T29" fmla="*/ 0 h 8"/>
              <a:gd name="T30" fmla="*/ 3 w 10"/>
              <a:gd name="T31"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 h="8">
                <a:moveTo>
                  <a:pt x="3" y="0"/>
                </a:moveTo>
                <a:lnTo>
                  <a:pt x="3" y="0"/>
                </a:lnTo>
                <a:lnTo>
                  <a:pt x="3" y="1"/>
                </a:lnTo>
                <a:lnTo>
                  <a:pt x="1" y="1"/>
                </a:lnTo>
                <a:lnTo>
                  <a:pt x="1" y="3"/>
                </a:lnTo>
                <a:lnTo>
                  <a:pt x="0" y="5"/>
                </a:lnTo>
                <a:lnTo>
                  <a:pt x="0" y="6"/>
                </a:lnTo>
                <a:lnTo>
                  <a:pt x="3" y="8"/>
                </a:lnTo>
                <a:lnTo>
                  <a:pt x="5" y="8"/>
                </a:lnTo>
                <a:lnTo>
                  <a:pt x="5" y="6"/>
                </a:lnTo>
                <a:lnTo>
                  <a:pt x="5" y="5"/>
                </a:lnTo>
                <a:lnTo>
                  <a:pt x="6" y="5"/>
                </a:lnTo>
                <a:lnTo>
                  <a:pt x="6" y="3"/>
                </a:lnTo>
                <a:lnTo>
                  <a:pt x="8" y="1"/>
                </a:lnTo>
                <a:lnTo>
                  <a:pt x="10" y="0"/>
                </a:lnTo>
                <a:lnTo>
                  <a:pt x="3"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16" name="Freeform 2221">
            <a:extLst>
              <a:ext uri="{FF2B5EF4-FFF2-40B4-BE49-F238E27FC236}">
                <a16:creationId xmlns:a16="http://schemas.microsoft.com/office/drawing/2014/main" id="{18EFE300-7A85-0AE9-A890-733BBE38160E}"/>
              </a:ext>
            </a:extLst>
          </p:cNvPr>
          <p:cNvSpPr>
            <a:spLocks/>
          </p:cNvSpPr>
          <p:nvPr/>
        </p:nvSpPr>
        <p:spPr bwMode="auto">
          <a:xfrm>
            <a:off x="2678113" y="2403475"/>
            <a:ext cx="19050" cy="15875"/>
          </a:xfrm>
          <a:custGeom>
            <a:avLst/>
            <a:gdLst>
              <a:gd name="T0" fmla="*/ 5 w 12"/>
              <a:gd name="T1" fmla="*/ 0 h 10"/>
              <a:gd name="T2" fmla="*/ 5 w 12"/>
              <a:gd name="T3" fmla="*/ 0 h 10"/>
              <a:gd name="T4" fmla="*/ 4 w 12"/>
              <a:gd name="T5" fmla="*/ 1 h 10"/>
              <a:gd name="T6" fmla="*/ 4 w 12"/>
              <a:gd name="T7" fmla="*/ 3 h 10"/>
              <a:gd name="T8" fmla="*/ 2 w 12"/>
              <a:gd name="T9" fmla="*/ 3 h 10"/>
              <a:gd name="T10" fmla="*/ 2 w 12"/>
              <a:gd name="T11" fmla="*/ 5 h 10"/>
              <a:gd name="T12" fmla="*/ 0 w 12"/>
              <a:gd name="T13" fmla="*/ 6 h 10"/>
              <a:gd name="T14" fmla="*/ 0 w 12"/>
              <a:gd name="T15" fmla="*/ 8 h 10"/>
              <a:gd name="T16" fmla="*/ 4 w 12"/>
              <a:gd name="T17" fmla="*/ 10 h 10"/>
              <a:gd name="T18" fmla="*/ 5 w 12"/>
              <a:gd name="T19" fmla="*/ 8 h 10"/>
              <a:gd name="T20" fmla="*/ 5 w 12"/>
              <a:gd name="T21" fmla="*/ 6 h 10"/>
              <a:gd name="T22" fmla="*/ 7 w 12"/>
              <a:gd name="T23" fmla="*/ 6 h 10"/>
              <a:gd name="T24" fmla="*/ 7 w 12"/>
              <a:gd name="T25" fmla="*/ 5 h 10"/>
              <a:gd name="T26" fmla="*/ 9 w 12"/>
              <a:gd name="T27" fmla="*/ 3 h 10"/>
              <a:gd name="T28" fmla="*/ 9 w 12"/>
              <a:gd name="T29" fmla="*/ 1 h 10"/>
              <a:gd name="T30" fmla="*/ 10 w 12"/>
              <a:gd name="T31" fmla="*/ 1 h 10"/>
              <a:gd name="T32" fmla="*/ 12 w 12"/>
              <a:gd name="T33" fmla="*/ 0 h 10"/>
              <a:gd name="T34" fmla="*/ 5 w 12"/>
              <a:gd name="T35"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2" h="10">
                <a:moveTo>
                  <a:pt x="5" y="0"/>
                </a:moveTo>
                <a:lnTo>
                  <a:pt x="5" y="0"/>
                </a:lnTo>
                <a:lnTo>
                  <a:pt x="4" y="1"/>
                </a:lnTo>
                <a:lnTo>
                  <a:pt x="4" y="3"/>
                </a:lnTo>
                <a:lnTo>
                  <a:pt x="2" y="3"/>
                </a:lnTo>
                <a:lnTo>
                  <a:pt x="2" y="5"/>
                </a:lnTo>
                <a:lnTo>
                  <a:pt x="0" y="6"/>
                </a:lnTo>
                <a:lnTo>
                  <a:pt x="0" y="8"/>
                </a:lnTo>
                <a:lnTo>
                  <a:pt x="4" y="10"/>
                </a:lnTo>
                <a:lnTo>
                  <a:pt x="5" y="8"/>
                </a:lnTo>
                <a:lnTo>
                  <a:pt x="5" y="6"/>
                </a:lnTo>
                <a:lnTo>
                  <a:pt x="7" y="6"/>
                </a:lnTo>
                <a:lnTo>
                  <a:pt x="7" y="5"/>
                </a:lnTo>
                <a:lnTo>
                  <a:pt x="9" y="3"/>
                </a:lnTo>
                <a:lnTo>
                  <a:pt x="9" y="1"/>
                </a:lnTo>
                <a:lnTo>
                  <a:pt x="10" y="1"/>
                </a:lnTo>
                <a:lnTo>
                  <a:pt x="12" y="0"/>
                </a:lnTo>
                <a:lnTo>
                  <a:pt x="5"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17" name="Freeform 2222">
            <a:extLst>
              <a:ext uri="{FF2B5EF4-FFF2-40B4-BE49-F238E27FC236}">
                <a16:creationId xmlns:a16="http://schemas.microsoft.com/office/drawing/2014/main" id="{B1E2A963-EDC1-F757-50F4-94AD1D1AFF2B}"/>
              </a:ext>
            </a:extLst>
          </p:cNvPr>
          <p:cNvSpPr>
            <a:spLocks/>
          </p:cNvSpPr>
          <p:nvPr/>
        </p:nvSpPr>
        <p:spPr bwMode="auto">
          <a:xfrm>
            <a:off x="2681288" y="2403475"/>
            <a:ext cx="19050" cy="17463"/>
          </a:xfrm>
          <a:custGeom>
            <a:avLst/>
            <a:gdLst>
              <a:gd name="T0" fmla="*/ 7 w 12"/>
              <a:gd name="T1" fmla="*/ 0 h 11"/>
              <a:gd name="T2" fmla="*/ 5 w 12"/>
              <a:gd name="T3" fmla="*/ 1 h 11"/>
              <a:gd name="T4" fmla="*/ 3 w 12"/>
              <a:gd name="T5" fmla="*/ 3 h 11"/>
              <a:gd name="T6" fmla="*/ 3 w 12"/>
              <a:gd name="T7" fmla="*/ 5 h 11"/>
              <a:gd name="T8" fmla="*/ 2 w 12"/>
              <a:gd name="T9" fmla="*/ 5 h 11"/>
              <a:gd name="T10" fmla="*/ 2 w 12"/>
              <a:gd name="T11" fmla="*/ 6 h 11"/>
              <a:gd name="T12" fmla="*/ 2 w 12"/>
              <a:gd name="T13" fmla="*/ 8 h 11"/>
              <a:gd name="T14" fmla="*/ 0 w 12"/>
              <a:gd name="T15" fmla="*/ 8 h 11"/>
              <a:gd name="T16" fmla="*/ 5 w 12"/>
              <a:gd name="T17" fmla="*/ 11 h 11"/>
              <a:gd name="T18" fmla="*/ 5 w 12"/>
              <a:gd name="T19" fmla="*/ 10 h 11"/>
              <a:gd name="T20" fmla="*/ 7 w 12"/>
              <a:gd name="T21" fmla="*/ 8 h 11"/>
              <a:gd name="T22" fmla="*/ 7 w 12"/>
              <a:gd name="T23" fmla="*/ 6 h 11"/>
              <a:gd name="T24" fmla="*/ 8 w 12"/>
              <a:gd name="T25" fmla="*/ 5 h 11"/>
              <a:gd name="T26" fmla="*/ 10 w 12"/>
              <a:gd name="T27" fmla="*/ 3 h 11"/>
              <a:gd name="T28" fmla="*/ 12 w 12"/>
              <a:gd name="T29" fmla="*/ 1 h 11"/>
              <a:gd name="T30" fmla="*/ 12 w 12"/>
              <a:gd name="T31" fmla="*/ 0 h 11"/>
              <a:gd name="T32" fmla="*/ 7 w 12"/>
              <a:gd name="T33"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2" h="11">
                <a:moveTo>
                  <a:pt x="7" y="0"/>
                </a:moveTo>
                <a:lnTo>
                  <a:pt x="5" y="1"/>
                </a:lnTo>
                <a:lnTo>
                  <a:pt x="3" y="3"/>
                </a:lnTo>
                <a:lnTo>
                  <a:pt x="3" y="5"/>
                </a:lnTo>
                <a:lnTo>
                  <a:pt x="2" y="5"/>
                </a:lnTo>
                <a:lnTo>
                  <a:pt x="2" y="6"/>
                </a:lnTo>
                <a:lnTo>
                  <a:pt x="2" y="8"/>
                </a:lnTo>
                <a:lnTo>
                  <a:pt x="0" y="8"/>
                </a:lnTo>
                <a:lnTo>
                  <a:pt x="5" y="11"/>
                </a:lnTo>
                <a:lnTo>
                  <a:pt x="5" y="10"/>
                </a:lnTo>
                <a:lnTo>
                  <a:pt x="7" y="8"/>
                </a:lnTo>
                <a:lnTo>
                  <a:pt x="7" y="6"/>
                </a:lnTo>
                <a:lnTo>
                  <a:pt x="8" y="5"/>
                </a:lnTo>
                <a:lnTo>
                  <a:pt x="10" y="3"/>
                </a:lnTo>
                <a:lnTo>
                  <a:pt x="12" y="1"/>
                </a:lnTo>
                <a:lnTo>
                  <a:pt x="12" y="0"/>
                </a:lnTo>
                <a:lnTo>
                  <a:pt x="7"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18" name="Freeform 2223">
            <a:extLst>
              <a:ext uri="{FF2B5EF4-FFF2-40B4-BE49-F238E27FC236}">
                <a16:creationId xmlns:a16="http://schemas.microsoft.com/office/drawing/2014/main" id="{EA4191EA-BEC5-215A-AEF0-B161EC683DE7}"/>
              </a:ext>
            </a:extLst>
          </p:cNvPr>
          <p:cNvSpPr>
            <a:spLocks/>
          </p:cNvSpPr>
          <p:nvPr/>
        </p:nvSpPr>
        <p:spPr bwMode="auto">
          <a:xfrm>
            <a:off x="2684463" y="2403475"/>
            <a:ext cx="20638" cy="20638"/>
          </a:xfrm>
          <a:custGeom>
            <a:avLst/>
            <a:gdLst>
              <a:gd name="T0" fmla="*/ 8 w 13"/>
              <a:gd name="T1" fmla="*/ 0 h 13"/>
              <a:gd name="T2" fmla="*/ 6 w 13"/>
              <a:gd name="T3" fmla="*/ 1 h 13"/>
              <a:gd name="T4" fmla="*/ 5 w 13"/>
              <a:gd name="T5" fmla="*/ 1 h 13"/>
              <a:gd name="T6" fmla="*/ 5 w 13"/>
              <a:gd name="T7" fmla="*/ 3 h 13"/>
              <a:gd name="T8" fmla="*/ 3 w 13"/>
              <a:gd name="T9" fmla="*/ 5 h 13"/>
              <a:gd name="T10" fmla="*/ 3 w 13"/>
              <a:gd name="T11" fmla="*/ 6 h 13"/>
              <a:gd name="T12" fmla="*/ 1 w 13"/>
              <a:gd name="T13" fmla="*/ 6 h 13"/>
              <a:gd name="T14" fmla="*/ 1 w 13"/>
              <a:gd name="T15" fmla="*/ 8 h 13"/>
              <a:gd name="T16" fmla="*/ 0 w 13"/>
              <a:gd name="T17" fmla="*/ 10 h 13"/>
              <a:gd name="T18" fmla="*/ 5 w 13"/>
              <a:gd name="T19" fmla="*/ 13 h 13"/>
              <a:gd name="T20" fmla="*/ 6 w 13"/>
              <a:gd name="T21" fmla="*/ 11 h 13"/>
              <a:gd name="T22" fmla="*/ 6 w 13"/>
              <a:gd name="T23" fmla="*/ 10 h 13"/>
              <a:gd name="T24" fmla="*/ 8 w 13"/>
              <a:gd name="T25" fmla="*/ 8 h 13"/>
              <a:gd name="T26" fmla="*/ 8 w 13"/>
              <a:gd name="T27" fmla="*/ 6 h 13"/>
              <a:gd name="T28" fmla="*/ 10 w 13"/>
              <a:gd name="T29" fmla="*/ 5 h 13"/>
              <a:gd name="T30" fmla="*/ 11 w 13"/>
              <a:gd name="T31" fmla="*/ 3 h 13"/>
              <a:gd name="T32" fmla="*/ 11 w 13"/>
              <a:gd name="T33" fmla="*/ 1 h 13"/>
              <a:gd name="T34" fmla="*/ 13 w 13"/>
              <a:gd name="T35" fmla="*/ 0 h 13"/>
              <a:gd name="T36" fmla="*/ 8 w 13"/>
              <a:gd name="T37"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3" h="13">
                <a:moveTo>
                  <a:pt x="8" y="0"/>
                </a:moveTo>
                <a:lnTo>
                  <a:pt x="6" y="1"/>
                </a:lnTo>
                <a:lnTo>
                  <a:pt x="5" y="1"/>
                </a:lnTo>
                <a:lnTo>
                  <a:pt x="5" y="3"/>
                </a:lnTo>
                <a:lnTo>
                  <a:pt x="3" y="5"/>
                </a:lnTo>
                <a:lnTo>
                  <a:pt x="3" y="6"/>
                </a:lnTo>
                <a:lnTo>
                  <a:pt x="1" y="6"/>
                </a:lnTo>
                <a:lnTo>
                  <a:pt x="1" y="8"/>
                </a:lnTo>
                <a:lnTo>
                  <a:pt x="0" y="10"/>
                </a:lnTo>
                <a:lnTo>
                  <a:pt x="5" y="13"/>
                </a:lnTo>
                <a:lnTo>
                  <a:pt x="6" y="11"/>
                </a:lnTo>
                <a:lnTo>
                  <a:pt x="6" y="10"/>
                </a:lnTo>
                <a:lnTo>
                  <a:pt x="8" y="8"/>
                </a:lnTo>
                <a:lnTo>
                  <a:pt x="8" y="6"/>
                </a:lnTo>
                <a:lnTo>
                  <a:pt x="10" y="5"/>
                </a:lnTo>
                <a:lnTo>
                  <a:pt x="11" y="3"/>
                </a:lnTo>
                <a:lnTo>
                  <a:pt x="11" y="1"/>
                </a:lnTo>
                <a:lnTo>
                  <a:pt x="13" y="0"/>
                </a:lnTo>
                <a:lnTo>
                  <a:pt x="8"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19" name="Freeform 2224">
            <a:extLst>
              <a:ext uri="{FF2B5EF4-FFF2-40B4-BE49-F238E27FC236}">
                <a16:creationId xmlns:a16="http://schemas.microsoft.com/office/drawing/2014/main" id="{1E295B28-EC7E-DD41-3389-F19FDD44D1B2}"/>
              </a:ext>
            </a:extLst>
          </p:cNvPr>
          <p:cNvSpPr>
            <a:spLocks/>
          </p:cNvSpPr>
          <p:nvPr/>
        </p:nvSpPr>
        <p:spPr bwMode="auto">
          <a:xfrm>
            <a:off x="2689225" y="2403475"/>
            <a:ext cx="20638" cy="20638"/>
          </a:xfrm>
          <a:custGeom>
            <a:avLst/>
            <a:gdLst>
              <a:gd name="T0" fmla="*/ 7 w 13"/>
              <a:gd name="T1" fmla="*/ 0 h 13"/>
              <a:gd name="T2" fmla="*/ 7 w 13"/>
              <a:gd name="T3" fmla="*/ 1 h 13"/>
              <a:gd name="T4" fmla="*/ 5 w 13"/>
              <a:gd name="T5" fmla="*/ 3 h 13"/>
              <a:gd name="T6" fmla="*/ 3 w 13"/>
              <a:gd name="T7" fmla="*/ 5 h 13"/>
              <a:gd name="T8" fmla="*/ 2 w 13"/>
              <a:gd name="T9" fmla="*/ 6 h 13"/>
              <a:gd name="T10" fmla="*/ 2 w 13"/>
              <a:gd name="T11" fmla="*/ 8 h 13"/>
              <a:gd name="T12" fmla="*/ 0 w 13"/>
              <a:gd name="T13" fmla="*/ 10 h 13"/>
              <a:gd name="T14" fmla="*/ 0 w 13"/>
              <a:gd name="T15" fmla="*/ 11 h 13"/>
              <a:gd name="T16" fmla="*/ 3 w 13"/>
              <a:gd name="T17" fmla="*/ 13 h 13"/>
              <a:gd name="T18" fmla="*/ 5 w 13"/>
              <a:gd name="T19" fmla="*/ 11 h 13"/>
              <a:gd name="T20" fmla="*/ 5 w 13"/>
              <a:gd name="T21" fmla="*/ 10 h 13"/>
              <a:gd name="T22" fmla="*/ 7 w 13"/>
              <a:gd name="T23" fmla="*/ 8 h 13"/>
              <a:gd name="T24" fmla="*/ 8 w 13"/>
              <a:gd name="T25" fmla="*/ 6 h 13"/>
              <a:gd name="T26" fmla="*/ 10 w 13"/>
              <a:gd name="T27" fmla="*/ 5 h 13"/>
              <a:gd name="T28" fmla="*/ 10 w 13"/>
              <a:gd name="T29" fmla="*/ 3 h 13"/>
              <a:gd name="T30" fmla="*/ 12 w 13"/>
              <a:gd name="T31" fmla="*/ 1 h 13"/>
              <a:gd name="T32" fmla="*/ 13 w 13"/>
              <a:gd name="T33" fmla="*/ 0 h 13"/>
              <a:gd name="T34" fmla="*/ 7 w 13"/>
              <a:gd name="T35"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3" h="13">
                <a:moveTo>
                  <a:pt x="7" y="0"/>
                </a:moveTo>
                <a:lnTo>
                  <a:pt x="7" y="1"/>
                </a:lnTo>
                <a:lnTo>
                  <a:pt x="5" y="3"/>
                </a:lnTo>
                <a:lnTo>
                  <a:pt x="3" y="5"/>
                </a:lnTo>
                <a:lnTo>
                  <a:pt x="2" y="6"/>
                </a:lnTo>
                <a:lnTo>
                  <a:pt x="2" y="8"/>
                </a:lnTo>
                <a:lnTo>
                  <a:pt x="0" y="10"/>
                </a:lnTo>
                <a:lnTo>
                  <a:pt x="0" y="11"/>
                </a:lnTo>
                <a:lnTo>
                  <a:pt x="3" y="13"/>
                </a:lnTo>
                <a:lnTo>
                  <a:pt x="5" y="11"/>
                </a:lnTo>
                <a:lnTo>
                  <a:pt x="5" y="10"/>
                </a:lnTo>
                <a:lnTo>
                  <a:pt x="7" y="8"/>
                </a:lnTo>
                <a:lnTo>
                  <a:pt x="8" y="6"/>
                </a:lnTo>
                <a:lnTo>
                  <a:pt x="10" y="5"/>
                </a:lnTo>
                <a:lnTo>
                  <a:pt x="10" y="3"/>
                </a:lnTo>
                <a:lnTo>
                  <a:pt x="12" y="1"/>
                </a:lnTo>
                <a:lnTo>
                  <a:pt x="13" y="0"/>
                </a:lnTo>
                <a:lnTo>
                  <a:pt x="7"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20" name="Freeform 2225">
            <a:extLst>
              <a:ext uri="{FF2B5EF4-FFF2-40B4-BE49-F238E27FC236}">
                <a16:creationId xmlns:a16="http://schemas.microsoft.com/office/drawing/2014/main" id="{EF85E7EB-78AD-F0A4-17D7-82B28D8E13D4}"/>
              </a:ext>
            </a:extLst>
          </p:cNvPr>
          <p:cNvSpPr>
            <a:spLocks/>
          </p:cNvSpPr>
          <p:nvPr/>
        </p:nvSpPr>
        <p:spPr bwMode="auto">
          <a:xfrm>
            <a:off x="2692400" y="2403475"/>
            <a:ext cx="23813" cy="23813"/>
          </a:xfrm>
          <a:custGeom>
            <a:avLst/>
            <a:gdLst>
              <a:gd name="T0" fmla="*/ 8 w 15"/>
              <a:gd name="T1" fmla="*/ 0 h 15"/>
              <a:gd name="T2" fmla="*/ 6 w 15"/>
              <a:gd name="T3" fmla="*/ 1 h 15"/>
              <a:gd name="T4" fmla="*/ 6 w 15"/>
              <a:gd name="T5" fmla="*/ 3 h 15"/>
              <a:gd name="T6" fmla="*/ 5 w 15"/>
              <a:gd name="T7" fmla="*/ 5 h 15"/>
              <a:gd name="T8" fmla="*/ 3 w 15"/>
              <a:gd name="T9" fmla="*/ 6 h 15"/>
              <a:gd name="T10" fmla="*/ 3 w 15"/>
              <a:gd name="T11" fmla="*/ 8 h 15"/>
              <a:gd name="T12" fmla="*/ 1 w 15"/>
              <a:gd name="T13" fmla="*/ 10 h 15"/>
              <a:gd name="T14" fmla="*/ 1 w 15"/>
              <a:gd name="T15" fmla="*/ 11 h 15"/>
              <a:gd name="T16" fmla="*/ 0 w 15"/>
              <a:gd name="T17" fmla="*/ 13 h 15"/>
              <a:gd name="T18" fmla="*/ 3 w 15"/>
              <a:gd name="T19" fmla="*/ 15 h 15"/>
              <a:gd name="T20" fmla="*/ 5 w 15"/>
              <a:gd name="T21" fmla="*/ 13 h 15"/>
              <a:gd name="T22" fmla="*/ 6 w 15"/>
              <a:gd name="T23" fmla="*/ 11 h 15"/>
              <a:gd name="T24" fmla="*/ 8 w 15"/>
              <a:gd name="T25" fmla="*/ 10 h 15"/>
              <a:gd name="T26" fmla="*/ 8 w 15"/>
              <a:gd name="T27" fmla="*/ 6 h 15"/>
              <a:gd name="T28" fmla="*/ 10 w 15"/>
              <a:gd name="T29" fmla="*/ 5 h 15"/>
              <a:gd name="T30" fmla="*/ 11 w 15"/>
              <a:gd name="T31" fmla="*/ 3 h 15"/>
              <a:gd name="T32" fmla="*/ 13 w 15"/>
              <a:gd name="T33" fmla="*/ 1 h 15"/>
              <a:gd name="T34" fmla="*/ 15 w 15"/>
              <a:gd name="T35" fmla="*/ 0 h 15"/>
              <a:gd name="T36" fmla="*/ 8 w 15"/>
              <a:gd name="T37" fmla="*/ 0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5">
                <a:moveTo>
                  <a:pt x="8" y="0"/>
                </a:moveTo>
                <a:lnTo>
                  <a:pt x="6" y="1"/>
                </a:lnTo>
                <a:lnTo>
                  <a:pt x="6" y="3"/>
                </a:lnTo>
                <a:lnTo>
                  <a:pt x="5" y="5"/>
                </a:lnTo>
                <a:lnTo>
                  <a:pt x="3" y="6"/>
                </a:lnTo>
                <a:lnTo>
                  <a:pt x="3" y="8"/>
                </a:lnTo>
                <a:lnTo>
                  <a:pt x="1" y="10"/>
                </a:lnTo>
                <a:lnTo>
                  <a:pt x="1" y="11"/>
                </a:lnTo>
                <a:lnTo>
                  <a:pt x="0" y="13"/>
                </a:lnTo>
                <a:lnTo>
                  <a:pt x="3" y="15"/>
                </a:lnTo>
                <a:lnTo>
                  <a:pt x="5" y="13"/>
                </a:lnTo>
                <a:lnTo>
                  <a:pt x="6" y="11"/>
                </a:lnTo>
                <a:lnTo>
                  <a:pt x="8" y="10"/>
                </a:lnTo>
                <a:lnTo>
                  <a:pt x="8" y="6"/>
                </a:lnTo>
                <a:lnTo>
                  <a:pt x="10" y="5"/>
                </a:lnTo>
                <a:lnTo>
                  <a:pt x="11" y="3"/>
                </a:lnTo>
                <a:lnTo>
                  <a:pt x="13" y="1"/>
                </a:lnTo>
                <a:lnTo>
                  <a:pt x="15" y="0"/>
                </a:lnTo>
                <a:lnTo>
                  <a:pt x="8"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21" name="Freeform 2226">
            <a:extLst>
              <a:ext uri="{FF2B5EF4-FFF2-40B4-BE49-F238E27FC236}">
                <a16:creationId xmlns:a16="http://schemas.microsoft.com/office/drawing/2014/main" id="{AB728AAA-A629-AD4B-B017-8607BAE42878}"/>
              </a:ext>
            </a:extLst>
          </p:cNvPr>
          <p:cNvSpPr>
            <a:spLocks/>
          </p:cNvSpPr>
          <p:nvPr/>
        </p:nvSpPr>
        <p:spPr bwMode="auto">
          <a:xfrm>
            <a:off x="2693988" y="2403475"/>
            <a:ext cx="26988" cy="25400"/>
          </a:xfrm>
          <a:custGeom>
            <a:avLst/>
            <a:gdLst>
              <a:gd name="T0" fmla="*/ 10 w 17"/>
              <a:gd name="T1" fmla="*/ 0 h 16"/>
              <a:gd name="T2" fmla="*/ 9 w 17"/>
              <a:gd name="T3" fmla="*/ 1 h 16"/>
              <a:gd name="T4" fmla="*/ 7 w 17"/>
              <a:gd name="T5" fmla="*/ 3 h 16"/>
              <a:gd name="T6" fmla="*/ 7 w 17"/>
              <a:gd name="T7" fmla="*/ 5 h 16"/>
              <a:gd name="T8" fmla="*/ 5 w 17"/>
              <a:gd name="T9" fmla="*/ 6 h 16"/>
              <a:gd name="T10" fmla="*/ 4 w 17"/>
              <a:gd name="T11" fmla="*/ 8 h 16"/>
              <a:gd name="T12" fmla="*/ 2 w 17"/>
              <a:gd name="T13" fmla="*/ 10 h 16"/>
              <a:gd name="T14" fmla="*/ 2 w 17"/>
              <a:gd name="T15" fmla="*/ 11 h 16"/>
              <a:gd name="T16" fmla="*/ 0 w 17"/>
              <a:gd name="T17" fmla="*/ 13 h 16"/>
              <a:gd name="T18" fmla="*/ 5 w 17"/>
              <a:gd name="T19" fmla="*/ 16 h 16"/>
              <a:gd name="T20" fmla="*/ 5 w 17"/>
              <a:gd name="T21" fmla="*/ 15 h 16"/>
              <a:gd name="T22" fmla="*/ 7 w 17"/>
              <a:gd name="T23" fmla="*/ 11 h 16"/>
              <a:gd name="T24" fmla="*/ 9 w 17"/>
              <a:gd name="T25" fmla="*/ 10 h 16"/>
              <a:gd name="T26" fmla="*/ 10 w 17"/>
              <a:gd name="T27" fmla="*/ 8 h 16"/>
              <a:gd name="T28" fmla="*/ 12 w 17"/>
              <a:gd name="T29" fmla="*/ 5 h 16"/>
              <a:gd name="T30" fmla="*/ 14 w 17"/>
              <a:gd name="T31" fmla="*/ 3 h 16"/>
              <a:gd name="T32" fmla="*/ 15 w 17"/>
              <a:gd name="T33" fmla="*/ 1 h 16"/>
              <a:gd name="T34" fmla="*/ 17 w 17"/>
              <a:gd name="T35" fmla="*/ 0 h 16"/>
              <a:gd name="T36" fmla="*/ 10 w 17"/>
              <a:gd name="T37" fmla="*/ 0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 h="16">
                <a:moveTo>
                  <a:pt x="10" y="0"/>
                </a:moveTo>
                <a:lnTo>
                  <a:pt x="9" y="1"/>
                </a:lnTo>
                <a:lnTo>
                  <a:pt x="7" y="3"/>
                </a:lnTo>
                <a:lnTo>
                  <a:pt x="7" y="5"/>
                </a:lnTo>
                <a:lnTo>
                  <a:pt x="5" y="6"/>
                </a:lnTo>
                <a:lnTo>
                  <a:pt x="4" y="8"/>
                </a:lnTo>
                <a:lnTo>
                  <a:pt x="2" y="10"/>
                </a:lnTo>
                <a:lnTo>
                  <a:pt x="2" y="11"/>
                </a:lnTo>
                <a:lnTo>
                  <a:pt x="0" y="13"/>
                </a:lnTo>
                <a:lnTo>
                  <a:pt x="5" y="16"/>
                </a:lnTo>
                <a:lnTo>
                  <a:pt x="5" y="15"/>
                </a:lnTo>
                <a:lnTo>
                  <a:pt x="7" y="11"/>
                </a:lnTo>
                <a:lnTo>
                  <a:pt x="9" y="10"/>
                </a:lnTo>
                <a:lnTo>
                  <a:pt x="10" y="8"/>
                </a:lnTo>
                <a:lnTo>
                  <a:pt x="12" y="5"/>
                </a:lnTo>
                <a:lnTo>
                  <a:pt x="14" y="3"/>
                </a:lnTo>
                <a:lnTo>
                  <a:pt x="15" y="1"/>
                </a:lnTo>
                <a:lnTo>
                  <a:pt x="17" y="0"/>
                </a:lnTo>
                <a:lnTo>
                  <a:pt x="10"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22" name="Freeform 2227">
            <a:extLst>
              <a:ext uri="{FF2B5EF4-FFF2-40B4-BE49-F238E27FC236}">
                <a16:creationId xmlns:a16="http://schemas.microsoft.com/office/drawing/2014/main" id="{57ACEFFF-3A47-CC74-678B-EF047B5BB26C}"/>
              </a:ext>
            </a:extLst>
          </p:cNvPr>
          <p:cNvSpPr>
            <a:spLocks/>
          </p:cNvSpPr>
          <p:nvPr/>
        </p:nvSpPr>
        <p:spPr bwMode="auto">
          <a:xfrm>
            <a:off x="2697163" y="2403475"/>
            <a:ext cx="28575" cy="28575"/>
          </a:xfrm>
          <a:custGeom>
            <a:avLst/>
            <a:gdLst>
              <a:gd name="T0" fmla="*/ 12 w 18"/>
              <a:gd name="T1" fmla="*/ 0 h 18"/>
              <a:gd name="T2" fmla="*/ 10 w 18"/>
              <a:gd name="T3" fmla="*/ 1 h 18"/>
              <a:gd name="T4" fmla="*/ 8 w 18"/>
              <a:gd name="T5" fmla="*/ 3 h 18"/>
              <a:gd name="T6" fmla="*/ 7 w 18"/>
              <a:gd name="T7" fmla="*/ 5 h 18"/>
              <a:gd name="T8" fmla="*/ 5 w 18"/>
              <a:gd name="T9" fmla="*/ 6 h 18"/>
              <a:gd name="T10" fmla="*/ 5 w 18"/>
              <a:gd name="T11" fmla="*/ 10 h 18"/>
              <a:gd name="T12" fmla="*/ 3 w 18"/>
              <a:gd name="T13" fmla="*/ 11 h 18"/>
              <a:gd name="T14" fmla="*/ 2 w 18"/>
              <a:gd name="T15" fmla="*/ 13 h 18"/>
              <a:gd name="T16" fmla="*/ 0 w 18"/>
              <a:gd name="T17" fmla="*/ 15 h 18"/>
              <a:gd name="T18" fmla="*/ 5 w 18"/>
              <a:gd name="T19" fmla="*/ 18 h 18"/>
              <a:gd name="T20" fmla="*/ 7 w 18"/>
              <a:gd name="T21" fmla="*/ 15 h 18"/>
              <a:gd name="T22" fmla="*/ 8 w 18"/>
              <a:gd name="T23" fmla="*/ 13 h 18"/>
              <a:gd name="T24" fmla="*/ 10 w 18"/>
              <a:gd name="T25" fmla="*/ 10 h 18"/>
              <a:gd name="T26" fmla="*/ 10 w 18"/>
              <a:gd name="T27" fmla="*/ 8 h 18"/>
              <a:gd name="T28" fmla="*/ 12 w 18"/>
              <a:gd name="T29" fmla="*/ 6 h 18"/>
              <a:gd name="T30" fmla="*/ 13 w 18"/>
              <a:gd name="T31" fmla="*/ 3 h 18"/>
              <a:gd name="T32" fmla="*/ 15 w 18"/>
              <a:gd name="T33" fmla="*/ 1 h 18"/>
              <a:gd name="T34" fmla="*/ 18 w 18"/>
              <a:gd name="T35" fmla="*/ 0 h 18"/>
              <a:gd name="T36" fmla="*/ 12 w 18"/>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18">
                <a:moveTo>
                  <a:pt x="12" y="0"/>
                </a:moveTo>
                <a:lnTo>
                  <a:pt x="10" y="1"/>
                </a:lnTo>
                <a:lnTo>
                  <a:pt x="8" y="3"/>
                </a:lnTo>
                <a:lnTo>
                  <a:pt x="7" y="5"/>
                </a:lnTo>
                <a:lnTo>
                  <a:pt x="5" y="6"/>
                </a:lnTo>
                <a:lnTo>
                  <a:pt x="5" y="10"/>
                </a:lnTo>
                <a:lnTo>
                  <a:pt x="3" y="11"/>
                </a:lnTo>
                <a:lnTo>
                  <a:pt x="2" y="13"/>
                </a:lnTo>
                <a:lnTo>
                  <a:pt x="0" y="15"/>
                </a:lnTo>
                <a:lnTo>
                  <a:pt x="5" y="18"/>
                </a:lnTo>
                <a:lnTo>
                  <a:pt x="7" y="15"/>
                </a:lnTo>
                <a:lnTo>
                  <a:pt x="8" y="13"/>
                </a:lnTo>
                <a:lnTo>
                  <a:pt x="10" y="10"/>
                </a:lnTo>
                <a:lnTo>
                  <a:pt x="10" y="8"/>
                </a:lnTo>
                <a:lnTo>
                  <a:pt x="12" y="6"/>
                </a:lnTo>
                <a:lnTo>
                  <a:pt x="13" y="3"/>
                </a:lnTo>
                <a:lnTo>
                  <a:pt x="15" y="1"/>
                </a:lnTo>
                <a:lnTo>
                  <a:pt x="18" y="0"/>
                </a:lnTo>
                <a:lnTo>
                  <a:pt x="12"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23" name="Freeform 2228">
            <a:extLst>
              <a:ext uri="{FF2B5EF4-FFF2-40B4-BE49-F238E27FC236}">
                <a16:creationId xmlns:a16="http://schemas.microsoft.com/office/drawing/2014/main" id="{F6CA6AB5-4E08-073A-C219-7CF75F9F0E7D}"/>
              </a:ext>
            </a:extLst>
          </p:cNvPr>
          <p:cNvSpPr>
            <a:spLocks/>
          </p:cNvSpPr>
          <p:nvPr/>
        </p:nvSpPr>
        <p:spPr bwMode="auto">
          <a:xfrm>
            <a:off x="2701925" y="2403475"/>
            <a:ext cx="26988" cy="28575"/>
          </a:xfrm>
          <a:custGeom>
            <a:avLst/>
            <a:gdLst>
              <a:gd name="T0" fmla="*/ 12 w 17"/>
              <a:gd name="T1" fmla="*/ 0 h 18"/>
              <a:gd name="T2" fmla="*/ 10 w 17"/>
              <a:gd name="T3" fmla="*/ 1 h 18"/>
              <a:gd name="T4" fmla="*/ 9 w 17"/>
              <a:gd name="T5" fmla="*/ 3 h 18"/>
              <a:gd name="T6" fmla="*/ 7 w 17"/>
              <a:gd name="T7" fmla="*/ 5 h 18"/>
              <a:gd name="T8" fmla="*/ 5 w 17"/>
              <a:gd name="T9" fmla="*/ 8 h 18"/>
              <a:gd name="T10" fmla="*/ 4 w 17"/>
              <a:gd name="T11" fmla="*/ 10 h 18"/>
              <a:gd name="T12" fmla="*/ 2 w 17"/>
              <a:gd name="T13" fmla="*/ 11 h 18"/>
              <a:gd name="T14" fmla="*/ 0 w 17"/>
              <a:gd name="T15" fmla="*/ 15 h 18"/>
              <a:gd name="T16" fmla="*/ 0 w 17"/>
              <a:gd name="T17" fmla="*/ 16 h 18"/>
              <a:gd name="T18" fmla="*/ 4 w 17"/>
              <a:gd name="T19" fmla="*/ 18 h 18"/>
              <a:gd name="T20" fmla="*/ 5 w 17"/>
              <a:gd name="T21" fmla="*/ 16 h 18"/>
              <a:gd name="T22" fmla="*/ 7 w 17"/>
              <a:gd name="T23" fmla="*/ 13 h 18"/>
              <a:gd name="T24" fmla="*/ 9 w 17"/>
              <a:gd name="T25" fmla="*/ 11 h 18"/>
              <a:gd name="T26" fmla="*/ 10 w 17"/>
              <a:gd name="T27" fmla="*/ 8 h 18"/>
              <a:gd name="T28" fmla="*/ 12 w 17"/>
              <a:gd name="T29" fmla="*/ 6 h 18"/>
              <a:gd name="T30" fmla="*/ 14 w 17"/>
              <a:gd name="T31" fmla="*/ 5 h 18"/>
              <a:gd name="T32" fmla="*/ 15 w 17"/>
              <a:gd name="T33" fmla="*/ 1 h 18"/>
              <a:gd name="T34" fmla="*/ 17 w 17"/>
              <a:gd name="T35" fmla="*/ 0 h 18"/>
              <a:gd name="T36" fmla="*/ 12 w 17"/>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 h="18">
                <a:moveTo>
                  <a:pt x="12" y="0"/>
                </a:moveTo>
                <a:lnTo>
                  <a:pt x="10" y="1"/>
                </a:lnTo>
                <a:lnTo>
                  <a:pt x="9" y="3"/>
                </a:lnTo>
                <a:lnTo>
                  <a:pt x="7" y="5"/>
                </a:lnTo>
                <a:lnTo>
                  <a:pt x="5" y="8"/>
                </a:lnTo>
                <a:lnTo>
                  <a:pt x="4" y="10"/>
                </a:lnTo>
                <a:lnTo>
                  <a:pt x="2" y="11"/>
                </a:lnTo>
                <a:lnTo>
                  <a:pt x="0" y="15"/>
                </a:lnTo>
                <a:lnTo>
                  <a:pt x="0" y="16"/>
                </a:lnTo>
                <a:lnTo>
                  <a:pt x="4" y="18"/>
                </a:lnTo>
                <a:lnTo>
                  <a:pt x="5" y="16"/>
                </a:lnTo>
                <a:lnTo>
                  <a:pt x="7" y="13"/>
                </a:lnTo>
                <a:lnTo>
                  <a:pt x="9" y="11"/>
                </a:lnTo>
                <a:lnTo>
                  <a:pt x="10" y="8"/>
                </a:lnTo>
                <a:lnTo>
                  <a:pt x="12" y="6"/>
                </a:lnTo>
                <a:lnTo>
                  <a:pt x="14" y="5"/>
                </a:lnTo>
                <a:lnTo>
                  <a:pt x="15" y="1"/>
                </a:lnTo>
                <a:lnTo>
                  <a:pt x="17" y="0"/>
                </a:lnTo>
                <a:lnTo>
                  <a:pt x="12"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24" name="Freeform 2229">
            <a:extLst>
              <a:ext uri="{FF2B5EF4-FFF2-40B4-BE49-F238E27FC236}">
                <a16:creationId xmlns:a16="http://schemas.microsoft.com/office/drawing/2014/main" id="{B2817A28-CFF1-54E0-5877-A40CC327DB1B}"/>
              </a:ext>
            </a:extLst>
          </p:cNvPr>
          <p:cNvSpPr>
            <a:spLocks/>
          </p:cNvSpPr>
          <p:nvPr/>
        </p:nvSpPr>
        <p:spPr bwMode="auto">
          <a:xfrm>
            <a:off x="2705100" y="2403475"/>
            <a:ext cx="28575" cy="31750"/>
          </a:xfrm>
          <a:custGeom>
            <a:avLst/>
            <a:gdLst>
              <a:gd name="T0" fmla="*/ 13 w 18"/>
              <a:gd name="T1" fmla="*/ 0 h 20"/>
              <a:gd name="T2" fmla="*/ 10 w 18"/>
              <a:gd name="T3" fmla="*/ 1 h 20"/>
              <a:gd name="T4" fmla="*/ 8 w 18"/>
              <a:gd name="T5" fmla="*/ 3 h 20"/>
              <a:gd name="T6" fmla="*/ 7 w 18"/>
              <a:gd name="T7" fmla="*/ 6 h 20"/>
              <a:gd name="T8" fmla="*/ 5 w 18"/>
              <a:gd name="T9" fmla="*/ 8 h 20"/>
              <a:gd name="T10" fmla="*/ 5 w 18"/>
              <a:gd name="T11" fmla="*/ 10 h 20"/>
              <a:gd name="T12" fmla="*/ 3 w 18"/>
              <a:gd name="T13" fmla="*/ 13 h 20"/>
              <a:gd name="T14" fmla="*/ 2 w 18"/>
              <a:gd name="T15" fmla="*/ 15 h 20"/>
              <a:gd name="T16" fmla="*/ 0 w 18"/>
              <a:gd name="T17" fmla="*/ 18 h 20"/>
              <a:gd name="T18" fmla="*/ 3 w 18"/>
              <a:gd name="T19" fmla="*/ 20 h 20"/>
              <a:gd name="T20" fmla="*/ 5 w 18"/>
              <a:gd name="T21" fmla="*/ 16 h 20"/>
              <a:gd name="T22" fmla="*/ 7 w 18"/>
              <a:gd name="T23" fmla="*/ 15 h 20"/>
              <a:gd name="T24" fmla="*/ 8 w 18"/>
              <a:gd name="T25" fmla="*/ 11 h 20"/>
              <a:gd name="T26" fmla="*/ 12 w 18"/>
              <a:gd name="T27" fmla="*/ 10 h 20"/>
              <a:gd name="T28" fmla="*/ 13 w 18"/>
              <a:gd name="T29" fmla="*/ 6 h 20"/>
              <a:gd name="T30" fmla="*/ 15 w 18"/>
              <a:gd name="T31" fmla="*/ 5 h 20"/>
              <a:gd name="T32" fmla="*/ 16 w 18"/>
              <a:gd name="T33" fmla="*/ 1 h 20"/>
              <a:gd name="T34" fmla="*/ 18 w 18"/>
              <a:gd name="T35" fmla="*/ 0 h 20"/>
              <a:gd name="T36" fmla="*/ 13 w 18"/>
              <a:gd name="T37" fmla="*/ 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20">
                <a:moveTo>
                  <a:pt x="13" y="0"/>
                </a:moveTo>
                <a:lnTo>
                  <a:pt x="10" y="1"/>
                </a:lnTo>
                <a:lnTo>
                  <a:pt x="8" y="3"/>
                </a:lnTo>
                <a:lnTo>
                  <a:pt x="7" y="6"/>
                </a:lnTo>
                <a:lnTo>
                  <a:pt x="5" y="8"/>
                </a:lnTo>
                <a:lnTo>
                  <a:pt x="5" y="10"/>
                </a:lnTo>
                <a:lnTo>
                  <a:pt x="3" y="13"/>
                </a:lnTo>
                <a:lnTo>
                  <a:pt x="2" y="15"/>
                </a:lnTo>
                <a:lnTo>
                  <a:pt x="0" y="18"/>
                </a:lnTo>
                <a:lnTo>
                  <a:pt x="3" y="20"/>
                </a:lnTo>
                <a:lnTo>
                  <a:pt x="5" y="16"/>
                </a:lnTo>
                <a:lnTo>
                  <a:pt x="7" y="15"/>
                </a:lnTo>
                <a:lnTo>
                  <a:pt x="8" y="11"/>
                </a:lnTo>
                <a:lnTo>
                  <a:pt x="12" y="10"/>
                </a:lnTo>
                <a:lnTo>
                  <a:pt x="13" y="6"/>
                </a:lnTo>
                <a:lnTo>
                  <a:pt x="15" y="5"/>
                </a:lnTo>
                <a:lnTo>
                  <a:pt x="16" y="1"/>
                </a:lnTo>
                <a:lnTo>
                  <a:pt x="18" y="0"/>
                </a:lnTo>
                <a:lnTo>
                  <a:pt x="13"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25" name="Freeform 2230">
            <a:extLst>
              <a:ext uri="{FF2B5EF4-FFF2-40B4-BE49-F238E27FC236}">
                <a16:creationId xmlns:a16="http://schemas.microsoft.com/office/drawing/2014/main" id="{2415DEBC-2437-4E3E-C32A-14B755767638}"/>
              </a:ext>
            </a:extLst>
          </p:cNvPr>
          <p:cNvSpPr>
            <a:spLocks/>
          </p:cNvSpPr>
          <p:nvPr/>
        </p:nvSpPr>
        <p:spPr bwMode="auto">
          <a:xfrm>
            <a:off x="2708275" y="2403475"/>
            <a:ext cx="30163" cy="33338"/>
          </a:xfrm>
          <a:custGeom>
            <a:avLst/>
            <a:gdLst>
              <a:gd name="T0" fmla="*/ 13 w 19"/>
              <a:gd name="T1" fmla="*/ 0 h 21"/>
              <a:gd name="T2" fmla="*/ 11 w 19"/>
              <a:gd name="T3" fmla="*/ 1 h 21"/>
              <a:gd name="T4" fmla="*/ 10 w 19"/>
              <a:gd name="T5" fmla="*/ 5 h 21"/>
              <a:gd name="T6" fmla="*/ 8 w 19"/>
              <a:gd name="T7" fmla="*/ 6 h 21"/>
              <a:gd name="T8" fmla="*/ 6 w 19"/>
              <a:gd name="T9" fmla="*/ 8 h 21"/>
              <a:gd name="T10" fmla="*/ 5 w 19"/>
              <a:gd name="T11" fmla="*/ 11 h 21"/>
              <a:gd name="T12" fmla="*/ 3 w 19"/>
              <a:gd name="T13" fmla="*/ 13 h 21"/>
              <a:gd name="T14" fmla="*/ 1 w 19"/>
              <a:gd name="T15" fmla="*/ 16 h 21"/>
              <a:gd name="T16" fmla="*/ 0 w 19"/>
              <a:gd name="T17" fmla="*/ 18 h 21"/>
              <a:gd name="T18" fmla="*/ 5 w 19"/>
              <a:gd name="T19" fmla="*/ 21 h 21"/>
              <a:gd name="T20" fmla="*/ 6 w 19"/>
              <a:gd name="T21" fmla="*/ 18 h 21"/>
              <a:gd name="T22" fmla="*/ 8 w 19"/>
              <a:gd name="T23" fmla="*/ 15 h 21"/>
              <a:gd name="T24" fmla="*/ 10 w 19"/>
              <a:gd name="T25" fmla="*/ 13 h 21"/>
              <a:gd name="T26" fmla="*/ 11 w 19"/>
              <a:gd name="T27" fmla="*/ 10 h 21"/>
              <a:gd name="T28" fmla="*/ 13 w 19"/>
              <a:gd name="T29" fmla="*/ 8 h 21"/>
              <a:gd name="T30" fmla="*/ 16 w 19"/>
              <a:gd name="T31" fmla="*/ 5 h 21"/>
              <a:gd name="T32" fmla="*/ 18 w 19"/>
              <a:gd name="T33" fmla="*/ 1 h 21"/>
              <a:gd name="T34" fmla="*/ 19 w 19"/>
              <a:gd name="T35" fmla="*/ 0 h 21"/>
              <a:gd name="T36" fmla="*/ 13 w 19"/>
              <a:gd name="T37" fmla="*/ 0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9" h="21">
                <a:moveTo>
                  <a:pt x="13" y="0"/>
                </a:moveTo>
                <a:lnTo>
                  <a:pt x="11" y="1"/>
                </a:lnTo>
                <a:lnTo>
                  <a:pt x="10" y="5"/>
                </a:lnTo>
                <a:lnTo>
                  <a:pt x="8" y="6"/>
                </a:lnTo>
                <a:lnTo>
                  <a:pt x="6" y="8"/>
                </a:lnTo>
                <a:lnTo>
                  <a:pt x="5" y="11"/>
                </a:lnTo>
                <a:lnTo>
                  <a:pt x="3" y="13"/>
                </a:lnTo>
                <a:lnTo>
                  <a:pt x="1" y="16"/>
                </a:lnTo>
                <a:lnTo>
                  <a:pt x="0" y="18"/>
                </a:lnTo>
                <a:lnTo>
                  <a:pt x="5" y="21"/>
                </a:lnTo>
                <a:lnTo>
                  <a:pt x="6" y="18"/>
                </a:lnTo>
                <a:lnTo>
                  <a:pt x="8" y="15"/>
                </a:lnTo>
                <a:lnTo>
                  <a:pt x="10" y="13"/>
                </a:lnTo>
                <a:lnTo>
                  <a:pt x="11" y="10"/>
                </a:lnTo>
                <a:lnTo>
                  <a:pt x="13" y="8"/>
                </a:lnTo>
                <a:lnTo>
                  <a:pt x="16" y="5"/>
                </a:lnTo>
                <a:lnTo>
                  <a:pt x="18" y="1"/>
                </a:lnTo>
                <a:lnTo>
                  <a:pt x="19" y="0"/>
                </a:lnTo>
                <a:lnTo>
                  <a:pt x="13"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26" name="Freeform 2231">
            <a:extLst>
              <a:ext uri="{FF2B5EF4-FFF2-40B4-BE49-F238E27FC236}">
                <a16:creationId xmlns:a16="http://schemas.microsoft.com/office/drawing/2014/main" id="{31CBF0CB-81A0-FBF3-D54F-F865CE1D6EAE}"/>
              </a:ext>
            </a:extLst>
          </p:cNvPr>
          <p:cNvSpPr>
            <a:spLocks/>
          </p:cNvSpPr>
          <p:nvPr/>
        </p:nvSpPr>
        <p:spPr bwMode="auto">
          <a:xfrm>
            <a:off x="2709863" y="2403475"/>
            <a:ext cx="34925" cy="36513"/>
          </a:xfrm>
          <a:custGeom>
            <a:avLst/>
            <a:gdLst>
              <a:gd name="T0" fmla="*/ 15 w 22"/>
              <a:gd name="T1" fmla="*/ 0 h 23"/>
              <a:gd name="T2" fmla="*/ 13 w 22"/>
              <a:gd name="T3" fmla="*/ 1 h 23"/>
              <a:gd name="T4" fmla="*/ 12 w 22"/>
              <a:gd name="T5" fmla="*/ 5 h 23"/>
              <a:gd name="T6" fmla="*/ 10 w 22"/>
              <a:gd name="T7" fmla="*/ 6 h 23"/>
              <a:gd name="T8" fmla="*/ 9 w 22"/>
              <a:gd name="T9" fmla="*/ 10 h 23"/>
              <a:gd name="T10" fmla="*/ 5 w 22"/>
              <a:gd name="T11" fmla="*/ 11 h 23"/>
              <a:gd name="T12" fmla="*/ 4 w 22"/>
              <a:gd name="T13" fmla="*/ 15 h 23"/>
              <a:gd name="T14" fmla="*/ 2 w 22"/>
              <a:gd name="T15" fmla="*/ 16 h 23"/>
              <a:gd name="T16" fmla="*/ 0 w 22"/>
              <a:gd name="T17" fmla="*/ 20 h 23"/>
              <a:gd name="T18" fmla="*/ 5 w 22"/>
              <a:gd name="T19" fmla="*/ 23 h 23"/>
              <a:gd name="T20" fmla="*/ 7 w 22"/>
              <a:gd name="T21" fmla="*/ 20 h 23"/>
              <a:gd name="T22" fmla="*/ 9 w 22"/>
              <a:gd name="T23" fmla="*/ 16 h 23"/>
              <a:gd name="T24" fmla="*/ 10 w 22"/>
              <a:gd name="T25" fmla="*/ 13 h 23"/>
              <a:gd name="T26" fmla="*/ 13 w 22"/>
              <a:gd name="T27" fmla="*/ 10 h 23"/>
              <a:gd name="T28" fmla="*/ 15 w 22"/>
              <a:gd name="T29" fmla="*/ 8 h 23"/>
              <a:gd name="T30" fmla="*/ 17 w 22"/>
              <a:gd name="T31" fmla="*/ 5 h 23"/>
              <a:gd name="T32" fmla="*/ 20 w 22"/>
              <a:gd name="T33" fmla="*/ 1 h 23"/>
              <a:gd name="T34" fmla="*/ 22 w 22"/>
              <a:gd name="T35" fmla="*/ 0 h 23"/>
              <a:gd name="T36" fmla="*/ 15 w 22"/>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3">
                <a:moveTo>
                  <a:pt x="15" y="0"/>
                </a:moveTo>
                <a:lnTo>
                  <a:pt x="13" y="1"/>
                </a:lnTo>
                <a:lnTo>
                  <a:pt x="12" y="5"/>
                </a:lnTo>
                <a:lnTo>
                  <a:pt x="10" y="6"/>
                </a:lnTo>
                <a:lnTo>
                  <a:pt x="9" y="10"/>
                </a:lnTo>
                <a:lnTo>
                  <a:pt x="5" y="11"/>
                </a:lnTo>
                <a:lnTo>
                  <a:pt x="4" y="15"/>
                </a:lnTo>
                <a:lnTo>
                  <a:pt x="2" y="16"/>
                </a:lnTo>
                <a:lnTo>
                  <a:pt x="0" y="20"/>
                </a:lnTo>
                <a:lnTo>
                  <a:pt x="5" y="23"/>
                </a:lnTo>
                <a:lnTo>
                  <a:pt x="7" y="20"/>
                </a:lnTo>
                <a:lnTo>
                  <a:pt x="9" y="16"/>
                </a:lnTo>
                <a:lnTo>
                  <a:pt x="10" y="13"/>
                </a:lnTo>
                <a:lnTo>
                  <a:pt x="13" y="10"/>
                </a:lnTo>
                <a:lnTo>
                  <a:pt x="15" y="8"/>
                </a:lnTo>
                <a:lnTo>
                  <a:pt x="17" y="5"/>
                </a:lnTo>
                <a:lnTo>
                  <a:pt x="20" y="1"/>
                </a:lnTo>
                <a:lnTo>
                  <a:pt x="22" y="0"/>
                </a:lnTo>
                <a:lnTo>
                  <a:pt x="15"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27" name="Freeform 2232">
            <a:extLst>
              <a:ext uri="{FF2B5EF4-FFF2-40B4-BE49-F238E27FC236}">
                <a16:creationId xmlns:a16="http://schemas.microsoft.com/office/drawing/2014/main" id="{DC711BAD-0664-C460-C298-26B6CBD621D9}"/>
              </a:ext>
            </a:extLst>
          </p:cNvPr>
          <p:cNvSpPr>
            <a:spLocks/>
          </p:cNvSpPr>
          <p:nvPr/>
        </p:nvSpPr>
        <p:spPr bwMode="auto">
          <a:xfrm>
            <a:off x="2716213" y="2403475"/>
            <a:ext cx="33338" cy="36513"/>
          </a:xfrm>
          <a:custGeom>
            <a:avLst/>
            <a:gdLst>
              <a:gd name="T0" fmla="*/ 14 w 21"/>
              <a:gd name="T1" fmla="*/ 0 h 23"/>
              <a:gd name="T2" fmla="*/ 13 w 21"/>
              <a:gd name="T3" fmla="*/ 1 h 23"/>
              <a:gd name="T4" fmla="*/ 11 w 21"/>
              <a:gd name="T5" fmla="*/ 5 h 23"/>
              <a:gd name="T6" fmla="*/ 8 w 21"/>
              <a:gd name="T7" fmla="*/ 8 h 23"/>
              <a:gd name="T8" fmla="*/ 6 w 21"/>
              <a:gd name="T9" fmla="*/ 10 h 23"/>
              <a:gd name="T10" fmla="*/ 5 w 21"/>
              <a:gd name="T11" fmla="*/ 13 h 23"/>
              <a:gd name="T12" fmla="*/ 3 w 21"/>
              <a:gd name="T13" fmla="*/ 15 h 23"/>
              <a:gd name="T14" fmla="*/ 1 w 21"/>
              <a:gd name="T15" fmla="*/ 18 h 23"/>
              <a:gd name="T16" fmla="*/ 0 w 21"/>
              <a:gd name="T17" fmla="*/ 21 h 23"/>
              <a:gd name="T18" fmla="*/ 3 w 21"/>
              <a:gd name="T19" fmla="*/ 23 h 23"/>
              <a:gd name="T20" fmla="*/ 5 w 21"/>
              <a:gd name="T21" fmla="*/ 20 h 23"/>
              <a:gd name="T22" fmla="*/ 8 w 21"/>
              <a:gd name="T23" fmla="*/ 18 h 23"/>
              <a:gd name="T24" fmla="*/ 9 w 21"/>
              <a:gd name="T25" fmla="*/ 15 h 23"/>
              <a:gd name="T26" fmla="*/ 11 w 21"/>
              <a:gd name="T27" fmla="*/ 11 h 23"/>
              <a:gd name="T28" fmla="*/ 14 w 21"/>
              <a:gd name="T29" fmla="*/ 8 h 23"/>
              <a:gd name="T30" fmla="*/ 16 w 21"/>
              <a:gd name="T31" fmla="*/ 5 h 23"/>
              <a:gd name="T32" fmla="*/ 19 w 21"/>
              <a:gd name="T33" fmla="*/ 3 h 23"/>
              <a:gd name="T34" fmla="*/ 21 w 21"/>
              <a:gd name="T35" fmla="*/ 0 h 23"/>
              <a:gd name="T36" fmla="*/ 14 w 21"/>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1" h="23">
                <a:moveTo>
                  <a:pt x="14" y="0"/>
                </a:moveTo>
                <a:lnTo>
                  <a:pt x="13" y="1"/>
                </a:lnTo>
                <a:lnTo>
                  <a:pt x="11" y="5"/>
                </a:lnTo>
                <a:lnTo>
                  <a:pt x="8" y="8"/>
                </a:lnTo>
                <a:lnTo>
                  <a:pt x="6" y="10"/>
                </a:lnTo>
                <a:lnTo>
                  <a:pt x="5" y="13"/>
                </a:lnTo>
                <a:lnTo>
                  <a:pt x="3" y="15"/>
                </a:lnTo>
                <a:lnTo>
                  <a:pt x="1" y="18"/>
                </a:lnTo>
                <a:lnTo>
                  <a:pt x="0" y="21"/>
                </a:lnTo>
                <a:lnTo>
                  <a:pt x="3" y="23"/>
                </a:lnTo>
                <a:lnTo>
                  <a:pt x="5" y="20"/>
                </a:lnTo>
                <a:lnTo>
                  <a:pt x="8" y="18"/>
                </a:lnTo>
                <a:lnTo>
                  <a:pt x="9" y="15"/>
                </a:lnTo>
                <a:lnTo>
                  <a:pt x="11" y="11"/>
                </a:lnTo>
                <a:lnTo>
                  <a:pt x="14" y="8"/>
                </a:lnTo>
                <a:lnTo>
                  <a:pt x="16" y="5"/>
                </a:lnTo>
                <a:lnTo>
                  <a:pt x="19" y="3"/>
                </a:lnTo>
                <a:lnTo>
                  <a:pt x="21" y="0"/>
                </a:lnTo>
                <a:lnTo>
                  <a:pt x="14"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28" name="Freeform 2233">
            <a:extLst>
              <a:ext uri="{FF2B5EF4-FFF2-40B4-BE49-F238E27FC236}">
                <a16:creationId xmlns:a16="http://schemas.microsoft.com/office/drawing/2014/main" id="{A1359A4B-0ACD-919B-6A1F-A1FD253417B3}"/>
              </a:ext>
            </a:extLst>
          </p:cNvPr>
          <p:cNvSpPr>
            <a:spLocks/>
          </p:cNvSpPr>
          <p:nvPr/>
        </p:nvSpPr>
        <p:spPr bwMode="auto">
          <a:xfrm>
            <a:off x="2717800" y="2403475"/>
            <a:ext cx="36513" cy="39688"/>
          </a:xfrm>
          <a:custGeom>
            <a:avLst/>
            <a:gdLst>
              <a:gd name="T0" fmla="*/ 17 w 23"/>
              <a:gd name="T1" fmla="*/ 0 h 25"/>
              <a:gd name="T2" fmla="*/ 15 w 23"/>
              <a:gd name="T3" fmla="*/ 1 h 25"/>
              <a:gd name="T4" fmla="*/ 12 w 23"/>
              <a:gd name="T5" fmla="*/ 5 h 25"/>
              <a:gd name="T6" fmla="*/ 10 w 23"/>
              <a:gd name="T7" fmla="*/ 8 h 25"/>
              <a:gd name="T8" fmla="*/ 8 w 23"/>
              <a:gd name="T9" fmla="*/ 10 h 25"/>
              <a:gd name="T10" fmla="*/ 5 w 23"/>
              <a:gd name="T11" fmla="*/ 13 h 25"/>
              <a:gd name="T12" fmla="*/ 4 w 23"/>
              <a:gd name="T13" fmla="*/ 16 h 25"/>
              <a:gd name="T14" fmla="*/ 2 w 23"/>
              <a:gd name="T15" fmla="*/ 20 h 25"/>
              <a:gd name="T16" fmla="*/ 0 w 23"/>
              <a:gd name="T17" fmla="*/ 23 h 25"/>
              <a:gd name="T18" fmla="*/ 4 w 23"/>
              <a:gd name="T19" fmla="*/ 25 h 25"/>
              <a:gd name="T20" fmla="*/ 7 w 23"/>
              <a:gd name="T21" fmla="*/ 21 h 25"/>
              <a:gd name="T22" fmla="*/ 8 w 23"/>
              <a:gd name="T23" fmla="*/ 18 h 25"/>
              <a:gd name="T24" fmla="*/ 10 w 23"/>
              <a:gd name="T25" fmla="*/ 15 h 25"/>
              <a:gd name="T26" fmla="*/ 13 w 23"/>
              <a:gd name="T27" fmla="*/ 11 h 25"/>
              <a:gd name="T28" fmla="*/ 15 w 23"/>
              <a:gd name="T29" fmla="*/ 8 h 25"/>
              <a:gd name="T30" fmla="*/ 18 w 23"/>
              <a:gd name="T31" fmla="*/ 5 h 25"/>
              <a:gd name="T32" fmla="*/ 22 w 23"/>
              <a:gd name="T33" fmla="*/ 3 h 25"/>
              <a:gd name="T34" fmla="*/ 23 w 23"/>
              <a:gd name="T35" fmla="*/ 0 h 25"/>
              <a:gd name="T36" fmla="*/ 17 w 23"/>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 h="25">
                <a:moveTo>
                  <a:pt x="17" y="0"/>
                </a:moveTo>
                <a:lnTo>
                  <a:pt x="15" y="1"/>
                </a:lnTo>
                <a:lnTo>
                  <a:pt x="12" y="5"/>
                </a:lnTo>
                <a:lnTo>
                  <a:pt x="10" y="8"/>
                </a:lnTo>
                <a:lnTo>
                  <a:pt x="8" y="10"/>
                </a:lnTo>
                <a:lnTo>
                  <a:pt x="5" y="13"/>
                </a:lnTo>
                <a:lnTo>
                  <a:pt x="4" y="16"/>
                </a:lnTo>
                <a:lnTo>
                  <a:pt x="2" y="20"/>
                </a:lnTo>
                <a:lnTo>
                  <a:pt x="0" y="23"/>
                </a:lnTo>
                <a:lnTo>
                  <a:pt x="4" y="25"/>
                </a:lnTo>
                <a:lnTo>
                  <a:pt x="7" y="21"/>
                </a:lnTo>
                <a:lnTo>
                  <a:pt x="8" y="18"/>
                </a:lnTo>
                <a:lnTo>
                  <a:pt x="10" y="15"/>
                </a:lnTo>
                <a:lnTo>
                  <a:pt x="13" y="11"/>
                </a:lnTo>
                <a:lnTo>
                  <a:pt x="15" y="8"/>
                </a:lnTo>
                <a:lnTo>
                  <a:pt x="18" y="5"/>
                </a:lnTo>
                <a:lnTo>
                  <a:pt x="22" y="3"/>
                </a:lnTo>
                <a:lnTo>
                  <a:pt x="23" y="0"/>
                </a:lnTo>
                <a:lnTo>
                  <a:pt x="17"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29" name="Freeform 2234">
            <a:extLst>
              <a:ext uri="{FF2B5EF4-FFF2-40B4-BE49-F238E27FC236}">
                <a16:creationId xmlns:a16="http://schemas.microsoft.com/office/drawing/2014/main" id="{88410B6B-6C6E-BBF9-CD6B-2928ECA35B6B}"/>
              </a:ext>
            </a:extLst>
          </p:cNvPr>
          <p:cNvSpPr>
            <a:spLocks/>
          </p:cNvSpPr>
          <p:nvPr/>
        </p:nvSpPr>
        <p:spPr bwMode="auto">
          <a:xfrm>
            <a:off x="2720975" y="2403475"/>
            <a:ext cx="39688" cy="41275"/>
          </a:xfrm>
          <a:custGeom>
            <a:avLst/>
            <a:gdLst>
              <a:gd name="T0" fmla="*/ 18 w 25"/>
              <a:gd name="T1" fmla="*/ 0 h 26"/>
              <a:gd name="T2" fmla="*/ 16 w 25"/>
              <a:gd name="T3" fmla="*/ 3 h 26"/>
              <a:gd name="T4" fmla="*/ 13 w 25"/>
              <a:gd name="T5" fmla="*/ 5 h 26"/>
              <a:gd name="T6" fmla="*/ 11 w 25"/>
              <a:gd name="T7" fmla="*/ 8 h 26"/>
              <a:gd name="T8" fmla="*/ 8 w 25"/>
              <a:gd name="T9" fmla="*/ 11 h 26"/>
              <a:gd name="T10" fmla="*/ 6 w 25"/>
              <a:gd name="T11" fmla="*/ 15 h 26"/>
              <a:gd name="T12" fmla="*/ 5 w 25"/>
              <a:gd name="T13" fmla="*/ 18 h 26"/>
              <a:gd name="T14" fmla="*/ 2 w 25"/>
              <a:gd name="T15" fmla="*/ 20 h 26"/>
              <a:gd name="T16" fmla="*/ 0 w 25"/>
              <a:gd name="T17" fmla="*/ 23 h 26"/>
              <a:gd name="T18" fmla="*/ 3 w 25"/>
              <a:gd name="T19" fmla="*/ 26 h 26"/>
              <a:gd name="T20" fmla="*/ 6 w 25"/>
              <a:gd name="T21" fmla="*/ 23 h 26"/>
              <a:gd name="T22" fmla="*/ 8 w 25"/>
              <a:gd name="T23" fmla="*/ 20 h 26"/>
              <a:gd name="T24" fmla="*/ 11 w 25"/>
              <a:gd name="T25" fmla="*/ 16 h 26"/>
              <a:gd name="T26" fmla="*/ 13 w 25"/>
              <a:gd name="T27" fmla="*/ 13 h 26"/>
              <a:gd name="T28" fmla="*/ 16 w 25"/>
              <a:gd name="T29" fmla="*/ 10 h 26"/>
              <a:gd name="T30" fmla="*/ 20 w 25"/>
              <a:gd name="T31" fmla="*/ 6 h 26"/>
              <a:gd name="T32" fmla="*/ 21 w 25"/>
              <a:gd name="T33" fmla="*/ 3 h 26"/>
              <a:gd name="T34" fmla="*/ 25 w 25"/>
              <a:gd name="T35" fmla="*/ 0 h 26"/>
              <a:gd name="T36" fmla="*/ 18 w 25"/>
              <a:gd name="T37" fmla="*/ 0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 h="26">
                <a:moveTo>
                  <a:pt x="18" y="0"/>
                </a:moveTo>
                <a:lnTo>
                  <a:pt x="16" y="3"/>
                </a:lnTo>
                <a:lnTo>
                  <a:pt x="13" y="5"/>
                </a:lnTo>
                <a:lnTo>
                  <a:pt x="11" y="8"/>
                </a:lnTo>
                <a:lnTo>
                  <a:pt x="8" y="11"/>
                </a:lnTo>
                <a:lnTo>
                  <a:pt x="6" y="15"/>
                </a:lnTo>
                <a:lnTo>
                  <a:pt x="5" y="18"/>
                </a:lnTo>
                <a:lnTo>
                  <a:pt x="2" y="20"/>
                </a:lnTo>
                <a:lnTo>
                  <a:pt x="0" y="23"/>
                </a:lnTo>
                <a:lnTo>
                  <a:pt x="3" y="26"/>
                </a:lnTo>
                <a:lnTo>
                  <a:pt x="6" y="23"/>
                </a:lnTo>
                <a:lnTo>
                  <a:pt x="8" y="20"/>
                </a:lnTo>
                <a:lnTo>
                  <a:pt x="11" y="16"/>
                </a:lnTo>
                <a:lnTo>
                  <a:pt x="13" y="13"/>
                </a:lnTo>
                <a:lnTo>
                  <a:pt x="16" y="10"/>
                </a:lnTo>
                <a:lnTo>
                  <a:pt x="20" y="6"/>
                </a:lnTo>
                <a:lnTo>
                  <a:pt x="21" y="3"/>
                </a:lnTo>
                <a:lnTo>
                  <a:pt x="25" y="0"/>
                </a:lnTo>
                <a:lnTo>
                  <a:pt x="18"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30" name="Freeform 2235">
            <a:extLst>
              <a:ext uri="{FF2B5EF4-FFF2-40B4-BE49-F238E27FC236}">
                <a16:creationId xmlns:a16="http://schemas.microsoft.com/office/drawing/2014/main" id="{C66C54AE-CFEB-6B2A-0682-F23DC031A3EC}"/>
              </a:ext>
            </a:extLst>
          </p:cNvPr>
          <p:cNvSpPr>
            <a:spLocks/>
          </p:cNvSpPr>
          <p:nvPr/>
        </p:nvSpPr>
        <p:spPr bwMode="auto">
          <a:xfrm>
            <a:off x="2724150" y="2403475"/>
            <a:ext cx="38100" cy="44450"/>
          </a:xfrm>
          <a:custGeom>
            <a:avLst/>
            <a:gdLst>
              <a:gd name="T0" fmla="*/ 19 w 24"/>
              <a:gd name="T1" fmla="*/ 0 h 28"/>
              <a:gd name="T2" fmla="*/ 18 w 24"/>
              <a:gd name="T3" fmla="*/ 3 h 28"/>
              <a:gd name="T4" fmla="*/ 14 w 24"/>
              <a:gd name="T5" fmla="*/ 5 h 28"/>
              <a:gd name="T6" fmla="*/ 11 w 24"/>
              <a:gd name="T7" fmla="*/ 8 h 28"/>
              <a:gd name="T8" fmla="*/ 9 w 24"/>
              <a:gd name="T9" fmla="*/ 11 h 28"/>
              <a:gd name="T10" fmla="*/ 6 w 24"/>
              <a:gd name="T11" fmla="*/ 15 h 28"/>
              <a:gd name="T12" fmla="*/ 4 w 24"/>
              <a:gd name="T13" fmla="*/ 18 h 28"/>
              <a:gd name="T14" fmla="*/ 3 w 24"/>
              <a:gd name="T15" fmla="*/ 21 h 28"/>
              <a:gd name="T16" fmla="*/ 0 w 24"/>
              <a:gd name="T17" fmla="*/ 25 h 28"/>
              <a:gd name="T18" fmla="*/ 4 w 24"/>
              <a:gd name="T19" fmla="*/ 28 h 28"/>
              <a:gd name="T20" fmla="*/ 6 w 24"/>
              <a:gd name="T21" fmla="*/ 25 h 28"/>
              <a:gd name="T22" fmla="*/ 8 w 24"/>
              <a:gd name="T23" fmla="*/ 20 h 28"/>
              <a:gd name="T24" fmla="*/ 11 w 24"/>
              <a:gd name="T25" fmla="*/ 16 h 28"/>
              <a:gd name="T26" fmla="*/ 13 w 24"/>
              <a:gd name="T27" fmla="*/ 13 h 28"/>
              <a:gd name="T28" fmla="*/ 16 w 24"/>
              <a:gd name="T29" fmla="*/ 11 h 28"/>
              <a:gd name="T30" fmla="*/ 19 w 24"/>
              <a:gd name="T31" fmla="*/ 8 h 28"/>
              <a:gd name="T32" fmla="*/ 21 w 24"/>
              <a:gd name="T33" fmla="*/ 5 h 28"/>
              <a:gd name="T34" fmla="*/ 24 w 24"/>
              <a:gd name="T35" fmla="*/ 1 h 28"/>
              <a:gd name="T36" fmla="*/ 23 w 24"/>
              <a:gd name="T37" fmla="*/ 0 h 28"/>
              <a:gd name="T38" fmla="*/ 19 w 24"/>
              <a:gd name="T39"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 h="28">
                <a:moveTo>
                  <a:pt x="19" y="0"/>
                </a:moveTo>
                <a:lnTo>
                  <a:pt x="18" y="3"/>
                </a:lnTo>
                <a:lnTo>
                  <a:pt x="14" y="5"/>
                </a:lnTo>
                <a:lnTo>
                  <a:pt x="11" y="8"/>
                </a:lnTo>
                <a:lnTo>
                  <a:pt x="9" y="11"/>
                </a:lnTo>
                <a:lnTo>
                  <a:pt x="6" y="15"/>
                </a:lnTo>
                <a:lnTo>
                  <a:pt x="4" y="18"/>
                </a:lnTo>
                <a:lnTo>
                  <a:pt x="3" y="21"/>
                </a:lnTo>
                <a:lnTo>
                  <a:pt x="0" y="25"/>
                </a:lnTo>
                <a:lnTo>
                  <a:pt x="4" y="28"/>
                </a:lnTo>
                <a:lnTo>
                  <a:pt x="6" y="25"/>
                </a:lnTo>
                <a:lnTo>
                  <a:pt x="8" y="20"/>
                </a:lnTo>
                <a:lnTo>
                  <a:pt x="11" y="16"/>
                </a:lnTo>
                <a:lnTo>
                  <a:pt x="13" y="13"/>
                </a:lnTo>
                <a:lnTo>
                  <a:pt x="16" y="11"/>
                </a:lnTo>
                <a:lnTo>
                  <a:pt x="19" y="8"/>
                </a:lnTo>
                <a:lnTo>
                  <a:pt x="21" y="5"/>
                </a:lnTo>
                <a:lnTo>
                  <a:pt x="24" y="1"/>
                </a:lnTo>
                <a:lnTo>
                  <a:pt x="23" y="0"/>
                </a:lnTo>
                <a:lnTo>
                  <a:pt x="19"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31" name="Freeform 2236">
            <a:extLst>
              <a:ext uri="{FF2B5EF4-FFF2-40B4-BE49-F238E27FC236}">
                <a16:creationId xmlns:a16="http://schemas.microsoft.com/office/drawing/2014/main" id="{1D527B35-C628-DD44-BF3B-845999A40A90}"/>
              </a:ext>
            </a:extLst>
          </p:cNvPr>
          <p:cNvSpPr>
            <a:spLocks/>
          </p:cNvSpPr>
          <p:nvPr/>
        </p:nvSpPr>
        <p:spPr bwMode="auto">
          <a:xfrm>
            <a:off x="2725738" y="2403475"/>
            <a:ext cx="39688" cy="44450"/>
          </a:xfrm>
          <a:custGeom>
            <a:avLst/>
            <a:gdLst>
              <a:gd name="T0" fmla="*/ 22 w 25"/>
              <a:gd name="T1" fmla="*/ 0 h 28"/>
              <a:gd name="T2" fmla="*/ 18 w 25"/>
              <a:gd name="T3" fmla="*/ 3 h 28"/>
              <a:gd name="T4" fmla="*/ 17 w 25"/>
              <a:gd name="T5" fmla="*/ 6 h 28"/>
              <a:gd name="T6" fmla="*/ 13 w 25"/>
              <a:gd name="T7" fmla="*/ 10 h 28"/>
              <a:gd name="T8" fmla="*/ 10 w 25"/>
              <a:gd name="T9" fmla="*/ 13 h 28"/>
              <a:gd name="T10" fmla="*/ 8 w 25"/>
              <a:gd name="T11" fmla="*/ 16 h 28"/>
              <a:gd name="T12" fmla="*/ 5 w 25"/>
              <a:gd name="T13" fmla="*/ 20 h 28"/>
              <a:gd name="T14" fmla="*/ 3 w 25"/>
              <a:gd name="T15" fmla="*/ 23 h 28"/>
              <a:gd name="T16" fmla="*/ 0 w 25"/>
              <a:gd name="T17" fmla="*/ 26 h 28"/>
              <a:gd name="T18" fmla="*/ 5 w 25"/>
              <a:gd name="T19" fmla="*/ 28 h 28"/>
              <a:gd name="T20" fmla="*/ 7 w 25"/>
              <a:gd name="T21" fmla="*/ 25 h 28"/>
              <a:gd name="T22" fmla="*/ 10 w 25"/>
              <a:gd name="T23" fmla="*/ 21 h 28"/>
              <a:gd name="T24" fmla="*/ 12 w 25"/>
              <a:gd name="T25" fmla="*/ 18 h 28"/>
              <a:gd name="T26" fmla="*/ 15 w 25"/>
              <a:gd name="T27" fmla="*/ 15 h 28"/>
              <a:gd name="T28" fmla="*/ 17 w 25"/>
              <a:gd name="T29" fmla="*/ 11 h 28"/>
              <a:gd name="T30" fmla="*/ 20 w 25"/>
              <a:gd name="T31" fmla="*/ 10 h 28"/>
              <a:gd name="T32" fmla="*/ 22 w 25"/>
              <a:gd name="T33" fmla="*/ 6 h 28"/>
              <a:gd name="T34" fmla="*/ 25 w 25"/>
              <a:gd name="T35" fmla="*/ 3 h 28"/>
              <a:gd name="T36" fmla="*/ 22 w 25"/>
              <a:gd name="T37"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 h="28">
                <a:moveTo>
                  <a:pt x="22" y="0"/>
                </a:moveTo>
                <a:lnTo>
                  <a:pt x="18" y="3"/>
                </a:lnTo>
                <a:lnTo>
                  <a:pt x="17" y="6"/>
                </a:lnTo>
                <a:lnTo>
                  <a:pt x="13" y="10"/>
                </a:lnTo>
                <a:lnTo>
                  <a:pt x="10" y="13"/>
                </a:lnTo>
                <a:lnTo>
                  <a:pt x="8" y="16"/>
                </a:lnTo>
                <a:lnTo>
                  <a:pt x="5" y="20"/>
                </a:lnTo>
                <a:lnTo>
                  <a:pt x="3" y="23"/>
                </a:lnTo>
                <a:lnTo>
                  <a:pt x="0" y="26"/>
                </a:lnTo>
                <a:lnTo>
                  <a:pt x="5" y="28"/>
                </a:lnTo>
                <a:lnTo>
                  <a:pt x="7" y="25"/>
                </a:lnTo>
                <a:lnTo>
                  <a:pt x="10" y="21"/>
                </a:lnTo>
                <a:lnTo>
                  <a:pt x="12" y="18"/>
                </a:lnTo>
                <a:lnTo>
                  <a:pt x="15" y="15"/>
                </a:lnTo>
                <a:lnTo>
                  <a:pt x="17" y="11"/>
                </a:lnTo>
                <a:lnTo>
                  <a:pt x="20" y="10"/>
                </a:lnTo>
                <a:lnTo>
                  <a:pt x="22" y="6"/>
                </a:lnTo>
                <a:lnTo>
                  <a:pt x="25" y="3"/>
                </a:lnTo>
                <a:lnTo>
                  <a:pt x="22"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32" name="Freeform 2237">
            <a:extLst>
              <a:ext uri="{FF2B5EF4-FFF2-40B4-BE49-F238E27FC236}">
                <a16:creationId xmlns:a16="http://schemas.microsoft.com/office/drawing/2014/main" id="{87A8E430-7753-B329-8F4A-86554D8BC138}"/>
              </a:ext>
            </a:extLst>
          </p:cNvPr>
          <p:cNvSpPr>
            <a:spLocks/>
          </p:cNvSpPr>
          <p:nvPr/>
        </p:nvSpPr>
        <p:spPr bwMode="auto">
          <a:xfrm>
            <a:off x="2730500" y="2405063"/>
            <a:ext cx="38100" cy="46038"/>
          </a:xfrm>
          <a:custGeom>
            <a:avLst/>
            <a:gdLst>
              <a:gd name="T0" fmla="*/ 20 w 24"/>
              <a:gd name="T1" fmla="*/ 0 h 29"/>
              <a:gd name="T2" fmla="*/ 17 w 24"/>
              <a:gd name="T3" fmla="*/ 4 h 29"/>
              <a:gd name="T4" fmla="*/ 15 w 24"/>
              <a:gd name="T5" fmla="*/ 7 h 29"/>
              <a:gd name="T6" fmla="*/ 12 w 24"/>
              <a:gd name="T7" fmla="*/ 10 h 29"/>
              <a:gd name="T8" fmla="*/ 9 w 24"/>
              <a:gd name="T9" fmla="*/ 12 h 29"/>
              <a:gd name="T10" fmla="*/ 7 w 24"/>
              <a:gd name="T11" fmla="*/ 15 h 29"/>
              <a:gd name="T12" fmla="*/ 4 w 24"/>
              <a:gd name="T13" fmla="*/ 19 h 29"/>
              <a:gd name="T14" fmla="*/ 2 w 24"/>
              <a:gd name="T15" fmla="*/ 24 h 29"/>
              <a:gd name="T16" fmla="*/ 0 w 24"/>
              <a:gd name="T17" fmla="*/ 27 h 29"/>
              <a:gd name="T18" fmla="*/ 4 w 24"/>
              <a:gd name="T19" fmla="*/ 29 h 29"/>
              <a:gd name="T20" fmla="*/ 5 w 24"/>
              <a:gd name="T21" fmla="*/ 25 h 29"/>
              <a:gd name="T22" fmla="*/ 9 w 24"/>
              <a:gd name="T23" fmla="*/ 22 h 29"/>
              <a:gd name="T24" fmla="*/ 10 w 24"/>
              <a:gd name="T25" fmla="*/ 19 h 29"/>
              <a:gd name="T26" fmla="*/ 14 w 24"/>
              <a:gd name="T27" fmla="*/ 15 h 29"/>
              <a:gd name="T28" fmla="*/ 15 w 24"/>
              <a:gd name="T29" fmla="*/ 12 h 29"/>
              <a:gd name="T30" fmla="*/ 19 w 24"/>
              <a:gd name="T31" fmla="*/ 10 h 29"/>
              <a:gd name="T32" fmla="*/ 22 w 24"/>
              <a:gd name="T33" fmla="*/ 7 h 29"/>
              <a:gd name="T34" fmla="*/ 24 w 24"/>
              <a:gd name="T35" fmla="*/ 4 h 29"/>
              <a:gd name="T36" fmla="*/ 20 w 24"/>
              <a:gd name="T37" fmla="*/ 0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4" h="29">
                <a:moveTo>
                  <a:pt x="20" y="0"/>
                </a:moveTo>
                <a:lnTo>
                  <a:pt x="17" y="4"/>
                </a:lnTo>
                <a:lnTo>
                  <a:pt x="15" y="7"/>
                </a:lnTo>
                <a:lnTo>
                  <a:pt x="12" y="10"/>
                </a:lnTo>
                <a:lnTo>
                  <a:pt x="9" y="12"/>
                </a:lnTo>
                <a:lnTo>
                  <a:pt x="7" y="15"/>
                </a:lnTo>
                <a:lnTo>
                  <a:pt x="4" y="19"/>
                </a:lnTo>
                <a:lnTo>
                  <a:pt x="2" y="24"/>
                </a:lnTo>
                <a:lnTo>
                  <a:pt x="0" y="27"/>
                </a:lnTo>
                <a:lnTo>
                  <a:pt x="4" y="29"/>
                </a:lnTo>
                <a:lnTo>
                  <a:pt x="5" y="25"/>
                </a:lnTo>
                <a:lnTo>
                  <a:pt x="9" y="22"/>
                </a:lnTo>
                <a:lnTo>
                  <a:pt x="10" y="19"/>
                </a:lnTo>
                <a:lnTo>
                  <a:pt x="14" y="15"/>
                </a:lnTo>
                <a:lnTo>
                  <a:pt x="15" y="12"/>
                </a:lnTo>
                <a:lnTo>
                  <a:pt x="19" y="10"/>
                </a:lnTo>
                <a:lnTo>
                  <a:pt x="22" y="7"/>
                </a:lnTo>
                <a:lnTo>
                  <a:pt x="24" y="4"/>
                </a:lnTo>
                <a:lnTo>
                  <a:pt x="20"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33" name="Freeform 2238">
            <a:extLst>
              <a:ext uri="{FF2B5EF4-FFF2-40B4-BE49-F238E27FC236}">
                <a16:creationId xmlns:a16="http://schemas.microsoft.com/office/drawing/2014/main" id="{7BE4F2B2-F0A8-A908-A2C2-A9696EFBDFF3}"/>
              </a:ext>
            </a:extLst>
          </p:cNvPr>
          <p:cNvSpPr>
            <a:spLocks/>
          </p:cNvSpPr>
          <p:nvPr/>
        </p:nvSpPr>
        <p:spPr bwMode="auto">
          <a:xfrm>
            <a:off x="2733675" y="2408238"/>
            <a:ext cx="36513" cy="44450"/>
          </a:xfrm>
          <a:custGeom>
            <a:avLst/>
            <a:gdLst>
              <a:gd name="T0" fmla="*/ 20 w 23"/>
              <a:gd name="T1" fmla="*/ 0 h 28"/>
              <a:gd name="T2" fmla="*/ 17 w 23"/>
              <a:gd name="T3" fmla="*/ 3 h 28"/>
              <a:gd name="T4" fmla="*/ 15 w 23"/>
              <a:gd name="T5" fmla="*/ 7 h 28"/>
              <a:gd name="T6" fmla="*/ 12 w 23"/>
              <a:gd name="T7" fmla="*/ 8 h 28"/>
              <a:gd name="T8" fmla="*/ 10 w 23"/>
              <a:gd name="T9" fmla="*/ 12 h 28"/>
              <a:gd name="T10" fmla="*/ 7 w 23"/>
              <a:gd name="T11" fmla="*/ 15 h 28"/>
              <a:gd name="T12" fmla="*/ 5 w 23"/>
              <a:gd name="T13" fmla="*/ 18 h 28"/>
              <a:gd name="T14" fmla="*/ 2 w 23"/>
              <a:gd name="T15" fmla="*/ 22 h 28"/>
              <a:gd name="T16" fmla="*/ 0 w 23"/>
              <a:gd name="T17" fmla="*/ 25 h 28"/>
              <a:gd name="T18" fmla="*/ 3 w 23"/>
              <a:gd name="T19" fmla="*/ 28 h 28"/>
              <a:gd name="T20" fmla="*/ 7 w 23"/>
              <a:gd name="T21" fmla="*/ 25 h 28"/>
              <a:gd name="T22" fmla="*/ 8 w 23"/>
              <a:gd name="T23" fmla="*/ 22 h 28"/>
              <a:gd name="T24" fmla="*/ 10 w 23"/>
              <a:gd name="T25" fmla="*/ 18 h 28"/>
              <a:gd name="T26" fmla="*/ 13 w 23"/>
              <a:gd name="T27" fmla="*/ 15 h 28"/>
              <a:gd name="T28" fmla="*/ 15 w 23"/>
              <a:gd name="T29" fmla="*/ 12 h 28"/>
              <a:gd name="T30" fmla="*/ 18 w 23"/>
              <a:gd name="T31" fmla="*/ 10 h 28"/>
              <a:gd name="T32" fmla="*/ 22 w 23"/>
              <a:gd name="T33" fmla="*/ 7 h 28"/>
              <a:gd name="T34" fmla="*/ 23 w 23"/>
              <a:gd name="T35" fmla="*/ 3 h 28"/>
              <a:gd name="T36" fmla="*/ 20 w 23"/>
              <a:gd name="T37"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 h="28">
                <a:moveTo>
                  <a:pt x="20" y="0"/>
                </a:moveTo>
                <a:lnTo>
                  <a:pt x="17" y="3"/>
                </a:lnTo>
                <a:lnTo>
                  <a:pt x="15" y="7"/>
                </a:lnTo>
                <a:lnTo>
                  <a:pt x="12" y="8"/>
                </a:lnTo>
                <a:lnTo>
                  <a:pt x="10" y="12"/>
                </a:lnTo>
                <a:lnTo>
                  <a:pt x="7" y="15"/>
                </a:lnTo>
                <a:lnTo>
                  <a:pt x="5" y="18"/>
                </a:lnTo>
                <a:lnTo>
                  <a:pt x="2" y="22"/>
                </a:lnTo>
                <a:lnTo>
                  <a:pt x="0" y="25"/>
                </a:lnTo>
                <a:lnTo>
                  <a:pt x="3" y="28"/>
                </a:lnTo>
                <a:lnTo>
                  <a:pt x="7" y="25"/>
                </a:lnTo>
                <a:lnTo>
                  <a:pt x="8" y="22"/>
                </a:lnTo>
                <a:lnTo>
                  <a:pt x="10" y="18"/>
                </a:lnTo>
                <a:lnTo>
                  <a:pt x="13" y="15"/>
                </a:lnTo>
                <a:lnTo>
                  <a:pt x="15" y="12"/>
                </a:lnTo>
                <a:lnTo>
                  <a:pt x="18" y="10"/>
                </a:lnTo>
                <a:lnTo>
                  <a:pt x="22" y="7"/>
                </a:lnTo>
                <a:lnTo>
                  <a:pt x="23" y="3"/>
                </a:lnTo>
                <a:lnTo>
                  <a:pt x="20"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34" name="Freeform 2239">
            <a:extLst>
              <a:ext uri="{FF2B5EF4-FFF2-40B4-BE49-F238E27FC236}">
                <a16:creationId xmlns:a16="http://schemas.microsoft.com/office/drawing/2014/main" id="{AB8D35B2-41B7-192E-0C28-92AEA2440F19}"/>
              </a:ext>
            </a:extLst>
          </p:cNvPr>
          <p:cNvSpPr>
            <a:spLocks/>
          </p:cNvSpPr>
          <p:nvPr/>
        </p:nvSpPr>
        <p:spPr bwMode="auto">
          <a:xfrm>
            <a:off x="2736850" y="2411413"/>
            <a:ext cx="36513" cy="44450"/>
          </a:xfrm>
          <a:custGeom>
            <a:avLst/>
            <a:gdLst>
              <a:gd name="T0" fmla="*/ 20 w 23"/>
              <a:gd name="T1" fmla="*/ 0 h 28"/>
              <a:gd name="T2" fmla="*/ 18 w 23"/>
              <a:gd name="T3" fmla="*/ 3 h 28"/>
              <a:gd name="T4" fmla="*/ 15 w 23"/>
              <a:gd name="T5" fmla="*/ 6 h 28"/>
              <a:gd name="T6" fmla="*/ 11 w 23"/>
              <a:gd name="T7" fmla="*/ 8 h 28"/>
              <a:gd name="T8" fmla="*/ 10 w 23"/>
              <a:gd name="T9" fmla="*/ 11 h 28"/>
              <a:gd name="T10" fmla="*/ 6 w 23"/>
              <a:gd name="T11" fmla="*/ 15 h 28"/>
              <a:gd name="T12" fmla="*/ 5 w 23"/>
              <a:gd name="T13" fmla="*/ 18 h 28"/>
              <a:gd name="T14" fmla="*/ 1 w 23"/>
              <a:gd name="T15" fmla="*/ 21 h 28"/>
              <a:gd name="T16" fmla="*/ 0 w 23"/>
              <a:gd name="T17" fmla="*/ 25 h 28"/>
              <a:gd name="T18" fmla="*/ 5 w 23"/>
              <a:gd name="T19" fmla="*/ 28 h 28"/>
              <a:gd name="T20" fmla="*/ 6 w 23"/>
              <a:gd name="T21" fmla="*/ 25 h 28"/>
              <a:gd name="T22" fmla="*/ 8 w 23"/>
              <a:gd name="T23" fmla="*/ 21 h 28"/>
              <a:gd name="T24" fmla="*/ 11 w 23"/>
              <a:gd name="T25" fmla="*/ 18 h 28"/>
              <a:gd name="T26" fmla="*/ 13 w 23"/>
              <a:gd name="T27" fmla="*/ 15 h 28"/>
              <a:gd name="T28" fmla="*/ 15 w 23"/>
              <a:gd name="T29" fmla="*/ 11 h 28"/>
              <a:gd name="T30" fmla="*/ 18 w 23"/>
              <a:gd name="T31" fmla="*/ 8 h 28"/>
              <a:gd name="T32" fmla="*/ 21 w 23"/>
              <a:gd name="T33" fmla="*/ 6 h 28"/>
              <a:gd name="T34" fmla="*/ 23 w 23"/>
              <a:gd name="T35" fmla="*/ 3 h 28"/>
              <a:gd name="T36" fmla="*/ 20 w 23"/>
              <a:gd name="T37"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 h="28">
                <a:moveTo>
                  <a:pt x="20" y="0"/>
                </a:moveTo>
                <a:lnTo>
                  <a:pt x="18" y="3"/>
                </a:lnTo>
                <a:lnTo>
                  <a:pt x="15" y="6"/>
                </a:lnTo>
                <a:lnTo>
                  <a:pt x="11" y="8"/>
                </a:lnTo>
                <a:lnTo>
                  <a:pt x="10" y="11"/>
                </a:lnTo>
                <a:lnTo>
                  <a:pt x="6" y="15"/>
                </a:lnTo>
                <a:lnTo>
                  <a:pt x="5" y="18"/>
                </a:lnTo>
                <a:lnTo>
                  <a:pt x="1" y="21"/>
                </a:lnTo>
                <a:lnTo>
                  <a:pt x="0" y="25"/>
                </a:lnTo>
                <a:lnTo>
                  <a:pt x="5" y="28"/>
                </a:lnTo>
                <a:lnTo>
                  <a:pt x="6" y="25"/>
                </a:lnTo>
                <a:lnTo>
                  <a:pt x="8" y="21"/>
                </a:lnTo>
                <a:lnTo>
                  <a:pt x="11" y="18"/>
                </a:lnTo>
                <a:lnTo>
                  <a:pt x="13" y="15"/>
                </a:lnTo>
                <a:lnTo>
                  <a:pt x="15" y="11"/>
                </a:lnTo>
                <a:lnTo>
                  <a:pt x="18" y="8"/>
                </a:lnTo>
                <a:lnTo>
                  <a:pt x="21" y="6"/>
                </a:lnTo>
                <a:lnTo>
                  <a:pt x="23" y="3"/>
                </a:lnTo>
                <a:lnTo>
                  <a:pt x="20"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35" name="Freeform 2240">
            <a:extLst>
              <a:ext uri="{FF2B5EF4-FFF2-40B4-BE49-F238E27FC236}">
                <a16:creationId xmlns:a16="http://schemas.microsoft.com/office/drawing/2014/main" id="{59F35137-5BF4-597E-D351-37E610E24434}"/>
              </a:ext>
            </a:extLst>
          </p:cNvPr>
          <p:cNvSpPr>
            <a:spLocks/>
          </p:cNvSpPr>
          <p:nvPr/>
        </p:nvSpPr>
        <p:spPr bwMode="auto">
          <a:xfrm>
            <a:off x="2738438" y="2413000"/>
            <a:ext cx="38100" cy="42863"/>
          </a:xfrm>
          <a:custGeom>
            <a:avLst/>
            <a:gdLst>
              <a:gd name="T0" fmla="*/ 20 w 24"/>
              <a:gd name="T1" fmla="*/ 0 h 27"/>
              <a:gd name="T2" fmla="*/ 19 w 24"/>
              <a:gd name="T3" fmla="*/ 4 h 27"/>
              <a:gd name="T4" fmla="*/ 15 w 24"/>
              <a:gd name="T5" fmla="*/ 7 h 27"/>
              <a:gd name="T6" fmla="*/ 12 w 24"/>
              <a:gd name="T7" fmla="*/ 9 h 27"/>
              <a:gd name="T8" fmla="*/ 10 w 24"/>
              <a:gd name="T9" fmla="*/ 12 h 27"/>
              <a:gd name="T10" fmla="*/ 7 w 24"/>
              <a:gd name="T11" fmla="*/ 15 h 27"/>
              <a:gd name="T12" fmla="*/ 5 w 24"/>
              <a:gd name="T13" fmla="*/ 19 h 27"/>
              <a:gd name="T14" fmla="*/ 4 w 24"/>
              <a:gd name="T15" fmla="*/ 22 h 27"/>
              <a:gd name="T16" fmla="*/ 0 w 24"/>
              <a:gd name="T17" fmla="*/ 25 h 27"/>
              <a:gd name="T18" fmla="*/ 5 w 24"/>
              <a:gd name="T19" fmla="*/ 27 h 27"/>
              <a:gd name="T20" fmla="*/ 7 w 24"/>
              <a:gd name="T21" fmla="*/ 24 h 27"/>
              <a:gd name="T22" fmla="*/ 9 w 24"/>
              <a:gd name="T23" fmla="*/ 22 h 27"/>
              <a:gd name="T24" fmla="*/ 12 w 24"/>
              <a:gd name="T25" fmla="*/ 19 h 27"/>
              <a:gd name="T26" fmla="*/ 14 w 24"/>
              <a:gd name="T27" fmla="*/ 15 h 27"/>
              <a:gd name="T28" fmla="*/ 17 w 24"/>
              <a:gd name="T29" fmla="*/ 12 h 27"/>
              <a:gd name="T30" fmla="*/ 19 w 24"/>
              <a:gd name="T31" fmla="*/ 9 h 27"/>
              <a:gd name="T32" fmla="*/ 22 w 24"/>
              <a:gd name="T33" fmla="*/ 7 h 27"/>
              <a:gd name="T34" fmla="*/ 24 w 24"/>
              <a:gd name="T35" fmla="*/ 4 h 27"/>
              <a:gd name="T36" fmla="*/ 20 w 24"/>
              <a:gd name="T37"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4" h="27">
                <a:moveTo>
                  <a:pt x="20" y="0"/>
                </a:moveTo>
                <a:lnTo>
                  <a:pt x="19" y="4"/>
                </a:lnTo>
                <a:lnTo>
                  <a:pt x="15" y="7"/>
                </a:lnTo>
                <a:lnTo>
                  <a:pt x="12" y="9"/>
                </a:lnTo>
                <a:lnTo>
                  <a:pt x="10" y="12"/>
                </a:lnTo>
                <a:lnTo>
                  <a:pt x="7" y="15"/>
                </a:lnTo>
                <a:lnTo>
                  <a:pt x="5" y="19"/>
                </a:lnTo>
                <a:lnTo>
                  <a:pt x="4" y="22"/>
                </a:lnTo>
                <a:lnTo>
                  <a:pt x="0" y="25"/>
                </a:lnTo>
                <a:lnTo>
                  <a:pt x="5" y="27"/>
                </a:lnTo>
                <a:lnTo>
                  <a:pt x="7" y="24"/>
                </a:lnTo>
                <a:lnTo>
                  <a:pt x="9" y="22"/>
                </a:lnTo>
                <a:lnTo>
                  <a:pt x="12" y="19"/>
                </a:lnTo>
                <a:lnTo>
                  <a:pt x="14" y="15"/>
                </a:lnTo>
                <a:lnTo>
                  <a:pt x="17" y="12"/>
                </a:lnTo>
                <a:lnTo>
                  <a:pt x="19" y="9"/>
                </a:lnTo>
                <a:lnTo>
                  <a:pt x="22" y="7"/>
                </a:lnTo>
                <a:lnTo>
                  <a:pt x="24" y="4"/>
                </a:lnTo>
                <a:lnTo>
                  <a:pt x="20"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36" name="Freeform 2241">
            <a:extLst>
              <a:ext uri="{FF2B5EF4-FFF2-40B4-BE49-F238E27FC236}">
                <a16:creationId xmlns:a16="http://schemas.microsoft.com/office/drawing/2014/main" id="{93626846-9574-BD76-664E-10A3535A66DD}"/>
              </a:ext>
            </a:extLst>
          </p:cNvPr>
          <p:cNvSpPr>
            <a:spLocks/>
          </p:cNvSpPr>
          <p:nvPr/>
        </p:nvSpPr>
        <p:spPr bwMode="auto">
          <a:xfrm>
            <a:off x="2744788" y="2416175"/>
            <a:ext cx="33338" cy="42863"/>
          </a:xfrm>
          <a:custGeom>
            <a:avLst/>
            <a:gdLst>
              <a:gd name="T0" fmla="*/ 18 w 21"/>
              <a:gd name="T1" fmla="*/ 0 h 27"/>
              <a:gd name="T2" fmla="*/ 16 w 21"/>
              <a:gd name="T3" fmla="*/ 3 h 27"/>
              <a:gd name="T4" fmla="*/ 13 w 21"/>
              <a:gd name="T5" fmla="*/ 5 h 27"/>
              <a:gd name="T6" fmla="*/ 10 w 21"/>
              <a:gd name="T7" fmla="*/ 8 h 27"/>
              <a:gd name="T8" fmla="*/ 8 w 21"/>
              <a:gd name="T9" fmla="*/ 12 h 27"/>
              <a:gd name="T10" fmla="*/ 6 w 21"/>
              <a:gd name="T11" fmla="*/ 15 h 27"/>
              <a:gd name="T12" fmla="*/ 3 w 21"/>
              <a:gd name="T13" fmla="*/ 18 h 27"/>
              <a:gd name="T14" fmla="*/ 1 w 21"/>
              <a:gd name="T15" fmla="*/ 22 h 27"/>
              <a:gd name="T16" fmla="*/ 0 w 21"/>
              <a:gd name="T17" fmla="*/ 25 h 27"/>
              <a:gd name="T18" fmla="*/ 3 w 21"/>
              <a:gd name="T19" fmla="*/ 27 h 27"/>
              <a:gd name="T20" fmla="*/ 5 w 21"/>
              <a:gd name="T21" fmla="*/ 23 h 27"/>
              <a:gd name="T22" fmla="*/ 8 w 21"/>
              <a:gd name="T23" fmla="*/ 20 h 27"/>
              <a:gd name="T24" fmla="*/ 10 w 21"/>
              <a:gd name="T25" fmla="*/ 18 h 27"/>
              <a:gd name="T26" fmla="*/ 11 w 21"/>
              <a:gd name="T27" fmla="*/ 15 h 27"/>
              <a:gd name="T28" fmla="*/ 15 w 21"/>
              <a:gd name="T29" fmla="*/ 12 h 27"/>
              <a:gd name="T30" fmla="*/ 16 w 21"/>
              <a:gd name="T31" fmla="*/ 8 h 27"/>
              <a:gd name="T32" fmla="*/ 20 w 21"/>
              <a:gd name="T33" fmla="*/ 7 h 27"/>
              <a:gd name="T34" fmla="*/ 21 w 21"/>
              <a:gd name="T35" fmla="*/ 3 h 27"/>
              <a:gd name="T36" fmla="*/ 18 w 21"/>
              <a:gd name="T37"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1" h="27">
                <a:moveTo>
                  <a:pt x="18" y="0"/>
                </a:moveTo>
                <a:lnTo>
                  <a:pt x="16" y="3"/>
                </a:lnTo>
                <a:lnTo>
                  <a:pt x="13" y="5"/>
                </a:lnTo>
                <a:lnTo>
                  <a:pt x="10" y="8"/>
                </a:lnTo>
                <a:lnTo>
                  <a:pt x="8" y="12"/>
                </a:lnTo>
                <a:lnTo>
                  <a:pt x="6" y="15"/>
                </a:lnTo>
                <a:lnTo>
                  <a:pt x="3" y="18"/>
                </a:lnTo>
                <a:lnTo>
                  <a:pt x="1" y="22"/>
                </a:lnTo>
                <a:lnTo>
                  <a:pt x="0" y="25"/>
                </a:lnTo>
                <a:lnTo>
                  <a:pt x="3" y="27"/>
                </a:lnTo>
                <a:lnTo>
                  <a:pt x="5" y="23"/>
                </a:lnTo>
                <a:lnTo>
                  <a:pt x="8" y="20"/>
                </a:lnTo>
                <a:lnTo>
                  <a:pt x="10" y="18"/>
                </a:lnTo>
                <a:lnTo>
                  <a:pt x="11" y="15"/>
                </a:lnTo>
                <a:lnTo>
                  <a:pt x="15" y="12"/>
                </a:lnTo>
                <a:lnTo>
                  <a:pt x="16" y="8"/>
                </a:lnTo>
                <a:lnTo>
                  <a:pt x="20" y="7"/>
                </a:lnTo>
                <a:lnTo>
                  <a:pt x="21" y="3"/>
                </a:lnTo>
                <a:lnTo>
                  <a:pt x="18"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37" name="Freeform 2242">
            <a:extLst>
              <a:ext uri="{FF2B5EF4-FFF2-40B4-BE49-F238E27FC236}">
                <a16:creationId xmlns:a16="http://schemas.microsoft.com/office/drawing/2014/main" id="{2ED0CB10-5102-7C31-3E63-D6872ED62596}"/>
              </a:ext>
            </a:extLst>
          </p:cNvPr>
          <p:cNvSpPr>
            <a:spLocks/>
          </p:cNvSpPr>
          <p:nvPr/>
        </p:nvSpPr>
        <p:spPr bwMode="auto">
          <a:xfrm>
            <a:off x="2746375" y="2419350"/>
            <a:ext cx="34925" cy="41275"/>
          </a:xfrm>
          <a:custGeom>
            <a:avLst/>
            <a:gdLst>
              <a:gd name="T0" fmla="*/ 19 w 22"/>
              <a:gd name="T1" fmla="*/ 0 h 26"/>
              <a:gd name="T2" fmla="*/ 17 w 22"/>
              <a:gd name="T3" fmla="*/ 3 h 26"/>
              <a:gd name="T4" fmla="*/ 14 w 22"/>
              <a:gd name="T5" fmla="*/ 5 h 26"/>
              <a:gd name="T6" fmla="*/ 12 w 22"/>
              <a:gd name="T7" fmla="*/ 8 h 26"/>
              <a:gd name="T8" fmla="*/ 9 w 22"/>
              <a:gd name="T9" fmla="*/ 11 h 26"/>
              <a:gd name="T10" fmla="*/ 7 w 22"/>
              <a:gd name="T11" fmla="*/ 15 h 26"/>
              <a:gd name="T12" fmla="*/ 4 w 22"/>
              <a:gd name="T13" fmla="*/ 18 h 26"/>
              <a:gd name="T14" fmla="*/ 2 w 22"/>
              <a:gd name="T15" fmla="*/ 20 h 26"/>
              <a:gd name="T16" fmla="*/ 0 w 22"/>
              <a:gd name="T17" fmla="*/ 23 h 26"/>
              <a:gd name="T18" fmla="*/ 4 w 22"/>
              <a:gd name="T19" fmla="*/ 26 h 26"/>
              <a:gd name="T20" fmla="*/ 7 w 22"/>
              <a:gd name="T21" fmla="*/ 23 h 26"/>
              <a:gd name="T22" fmla="*/ 9 w 22"/>
              <a:gd name="T23" fmla="*/ 20 h 26"/>
              <a:gd name="T24" fmla="*/ 10 w 22"/>
              <a:gd name="T25" fmla="*/ 16 h 26"/>
              <a:gd name="T26" fmla="*/ 12 w 22"/>
              <a:gd name="T27" fmla="*/ 15 h 26"/>
              <a:gd name="T28" fmla="*/ 15 w 22"/>
              <a:gd name="T29" fmla="*/ 11 h 26"/>
              <a:gd name="T30" fmla="*/ 17 w 22"/>
              <a:gd name="T31" fmla="*/ 8 h 26"/>
              <a:gd name="T32" fmla="*/ 20 w 22"/>
              <a:gd name="T33" fmla="*/ 6 h 26"/>
              <a:gd name="T34" fmla="*/ 22 w 22"/>
              <a:gd name="T35" fmla="*/ 3 h 26"/>
              <a:gd name="T36" fmla="*/ 19 w 22"/>
              <a:gd name="T37" fmla="*/ 0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6">
                <a:moveTo>
                  <a:pt x="19" y="0"/>
                </a:moveTo>
                <a:lnTo>
                  <a:pt x="17" y="3"/>
                </a:lnTo>
                <a:lnTo>
                  <a:pt x="14" y="5"/>
                </a:lnTo>
                <a:lnTo>
                  <a:pt x="12" y="8"/>
                </a:lnTo>
                <a:lnTo>
                  <a:pt x="9" y="11"/>
                </a:lnTo>
                <a:lnTo>
                  <a:pt x="7" y="15"/>
                </a:lnTo>
                <a:lnTo>
                  <a:pt x="4" y="18"/>
                </a:lnTo>
                <a:lnTo>
                  <a:pt x="2" y="20"/>
                </a:lnTo>
                <a:lnTo>
                  <a:pt x="0" y="23"/>
                </a:lnTo>
                <a:lnTo>
                  <a:pt x="4" y="26"/>
                </a:lnTo>
                <a:lnTo>
                  <a:pt x="7" y="23"/>
                </a:lnTo>
                <a:lnTo>
                  <a:pt x="9" y="20"/>
                </a:lnTo>
                <a:lnTo>
                  <a:pt x="10" y="16"/>
                </a:lnTo>
                <a:lnTo>
                  <a:pt x="12" y="15"/>
                </a:lnTo>
                <a:lnTo>
                  <a:pt x="15" y="11"/>
                </a:lnTo>
                <a:lnTo>
                  <a:pt x="17" y="8"/>
                </a:lnTo>
                <a:lnTo>
                  <a:pt x="20" y="6"/>
                </a:lnTo>
                <a:lnTo>
                  <a:pt x="22" y="3"/>
                </a:lnTo>
                <a:lnTo>
                  <a:pt x="19"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38" name="Freeform 2243">
            <a:extLst>
              <a:ext uri="{FF2B5EF4-FFF2-40B4-BE49-F238E27FC236}">
                <a16:creationId xmlns:a16="http://schemas.microsoft.com/office/drawing/2014/main" id="{7433227C-3665-195C-98EF-84232B53EFD9}"/>
              </a:ext>
            </a:extLst>
          </p:cNvPr>
          <p:cNvSpPr>
            <a:spLocks/>
          </p:cNvSpPr>
          <p:nvPr/>
        </p:nvSpPr>
        <p:spPr bwMode="auto">
          <a:xfrm>
            <a:off x="2749550" y="2420938"/>
            <a:ext cx="34925" cy="42863"/>
          </a:xfrm>
          <a:custGeom>
            <a:avLst/>
            <a:gdLst>
              <a:gd name="T0" fmla="*/ 18 w 22"/>
              <a:gd name="T1" fmla="*/ 0 h 27"/>
              <a:gd name="T2" fmla="*/ 17 w 22"/>
              <a:gd name="T3" fmla="*/ 4 h 27"/>
              <a:gd name="T4" fmla="*/ 13 w 22"/>
              <a:gd name="T5" fmla="*/ 5 h 27"/>
              <a:gd name="T6" fmla="*/ 12 w 22"/>
              <a:gd name="T7" fmla="*/ 9 h 27"/>
              <a:gd name="T8" fmla="*/ 8 w 22"/>
              <a:gd name="T9" fmla="*/ 12 h 27"/>
              <a:gd name="T10" fmla="*/ 7 w 22"/>
              <a:gd name="T11" fmla="*/ 15 h 27"/>
              <a:gd name="T12" fmla="*/ 5 w 22"/>
              <a:gd name="T13" fmla="*/ 17 h 27"/>
              <a:gd name="T14" fmla="*/ 2 w 22"/>
              <a:gd name="T15" fmla="*/ 20 h 27"/>
              <a:gd name="T16" fmla="*/ 0 w 22"/>
              <a:gd name="T17" fmla="*/ 24 h 27"/>
              <a:gd name="T18" fmla="*/ 5 w 22"/>
              <a:gd name="T19" fmla="*/ 27 h 27"/>
              <a:gd name="T20" fmla="*/ 7 w 22"/>
              <a:gd name="T21" fmla="*/ 24 h 27"/>
              <a:gd name="T22" fmla="*/ 8 w 22"/>
              <a:gd name="T23" fmla="*/ 20 h 27"/>
              <a:gd name="T24" fmla="*/ 10 w 22"/>
              <a:gd name="T25" fmla="*/ 17 h 27"/>
              <a:gd name="T26" fmla="*/ 13 w 22"/>
              <a:gd name="T27" fmla="*/ 15 h 27"/>
              <a:gd name="T28" fmla="*/ 15 w 22"/>
              <a:gd name="T29" fmla="*/ 12 h 27"/>
              <a:gd name="T30" fmla="*/ 17 w 22"/>
              <a:gd name="T31" fmla="*/ 9 h 27"/>
              <a:gd name="T32" fmla="*/ 20 w 22"/>
              <a:gd name="T33" fmla="*/ 7 h 27"/>
              <a:gd name="T34" fmla="*/ 22 w 22"/>
              <a:gd name="T35" fmla="*/ 4 h 27"/>
              <a:gd name="T36" fmla="*/ 18 w 22"/>
              <a:gd name="T37"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7">
                <a:moveTo>
                  <a:pt x="18" y="0"/>
                </a:moveTo>
                <a:lnTo>
                  <a:pt x="17" y="4"/>
                </a:lnTo>
                <a:lnTo>
                  <a:pt x="13" y="5"/>
                </a:lnTo>
                <a:lnTo>
                  <a:pt x="12" y="9"/>
                </a:lnTo>
                <a:lnTo>
                  <a:pt x="8" y="12"/>
                </a:lnTo>
                <a:lnTo>
                  <a:pt x="7" y="15"/>
                </a:lnTo>
                <a:lnTo>
                  <a:pt x="5" y="17"/>
                </a:lnTo>
                <a:lnTo>
                  <a:pt x="2" y="20"/>
                </a:lnTo>
                <a:lnTo>
                  <a:pt x="0" y="24"/>
                </a:lnTo>
                <a:lnTo>
                  <a:pt x="5" y="27"/>
                </a:lnTo>
                <a:lnTo>
                  <a:pt x="7" y="24"/>
                </a:lnTo>
                <a:lnTo>
                  <a:pt x="8" y="20"/>
                </a:lnTo>
                <a:lnTo>
                  <a:pt x="10" y="17"/>
                </a:lnTo>
                <a:lnTo>
                  <a:pt x="13" y="15"/>
                </a:lnTo>
                <a:lnTo>
                  <a:pt x="15" y="12"/>
                </a:lnTo>
                <a:lnTo>
                  <a:pt x="17" y="9"/>
                </a:lnTo>
                <a:lnTo>
                  <a:pt x="20" y="7"/>
                </a:lnTo>
                <a:lnTo>
                  <a:pt x="22" y="4"/>
                </a:lnTo>
                <a:lnTo>
                  <a:pt x="18"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39" name="Freeform 2244">
            <a:extLst>
              <a:ext uri="{FF2B5EF4-FFF2-40B4-BE49-F238E27FC236}">
                <a16:creationId xmlns:a16="http://schemas.microsoft.com/office/drawing/2014/main" id="{D7A7F30F-57B0-1647-422A-FE024864A221}"/>
              </a:ext>
            </a:extLst>
          </p:cNvPr>
          <p:cNvSpPr>
            <a:spLocks/>
          </p:cNvSpPr>
          <p:nvPr/>
        </p:nvSpPr>
        <p:spPr bwMode="auto">
          <a:xfrm>
            <a:off x="2752725" y="2424113"/>
            <a:ext cx="33338" cy="39688"/>
          </a:xfrm>
          <a:custGeom>
            <a:avLst/>
            <a:gdLst>
              <a:gd name="T0" fmla="*/ 18 w 21"/>
              <a:gd name="T1" fmla="*/ 0 h 25"/>
              <a:gd name="T2" fmla="*/ 16 w 21"/>
              <a:gd name="T3" fmla="*/ 3 h 25"/>
              <a:gd name="T4" fmla="*/ 13 w 21"/>
              <a:gd name="T5" fmla="*/ 5 h 25"/>
              <a:gd name="T6" fmla="*/ 11 w 21"/>
              <a:gd name="T7" fmla="*/ 8 h 25"/>
              <a:gd name="T8" fmla="*/ 8 w 21"/>
              <a:gd name="T9" fmla="*/ 12 h 25"/>
              <a:gd name="T10" fmla="*/ 6 w 21"/>
              <a:gd name="T11" fmla="*/ 13 h 25"/>
              <a:gd name="T12" fmla="*/ 5 w 21"/>
              <a:gd name="T13" fmla="*/ 17 h 25"/>
              <a:gd name="T14" fmla="*/ 3 w 21"/>
              <a:gd name="T15" fmla="*/ 20 h 25"/>
              <a:gd name="T16" fmla="*/ 0 w 21"/>
              <a:gd name="T17" fmla="*/ 23 h 25"/>
              <a:gd name="T18" fmla="*/ 5 w 21"/>
              <a:gd name="T19" fmla="*/ 25 h 25"/>
              <a:gd name="T20" fmla="*/ 6 w 21"/>
              <a:gd name="T21" fmla="*/ 23 h 25"/>
              <a:gd name="T22" fmla="*/ 8 w 21"/>
              <a:gd name="T23" fmla="*/ 20 h 25"/>
              <a:gd name="T24" fmla="*/ 10 w 21"/>
              <a:gd name="T25" fmla="*/ 17 h 25"/>
              <a:gd name="T26" fmla="*/ 13 w 21"/>
              <a:gd name="T27" fmla="*/ 13 h 25"/>
              <a:gd name="T28" fmla="*/ 15 w 21"/>
              <a:gd name="T29" fmla="*/ 12 h 25"/>
              <a:gd name="T30" fmla="*/ 16 w 21"/>
              <a:gd name="T31" fmla="*/ 8 h 25"/>
              <a:gd name="T32" fmla="*/ 20 w 21"/>
              <a:gd name="T33" fmla="*/ 7 h 25"/>
              <a:gd name="T34" fmla="*/ 21 w 21"/>
              <a:gd name="T35" fmla="*/ 3 h 25"/>
              <a:gd name="T36" fmla="*/ 18 w 21"/>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1" h="25">
                <a:moveTo>
                  <a:pt x="18" y="0"/>
                </a:moveTo>
                <a:lnTo>
                  <a:pt x="16" y="3"/>
                </a:lnTo>
                <a:lnTo>
                  <a:pt x="13" y="5"/>
                </a:lnTo>
                <a:lnTo>
                  <a:pt x="11" y="8"/>
                </a:lnTo>
                <a:lnTo>
                  <a:pt x="8" y="12"/>
                </a:lnTo>
                <a:lnTo>
                  <a:pt x="6" y="13"/>
                </a:lnTo>
                <a:lnTo>
                  <a:pt x="5" y="17"/>
                </a:lnTo>
                <a:lnTo>
                  <a:pt x="3" y="20"/>
                </a:lnTo>
                <a:lnTo>
                  <a:pt x="0" y="23"/>
                </a:lnTo>
                <a:lnTo>
                  <a:pt x="5" y="25"/>
                </a:lnTo>
                <a:lnTo>
                  <a:pt x="6" y="23"/>
                </a:lnTo>
                <a:lnTo>
                  <a:pt x="8" y="20"/>
                </a:lnTo>
                <a:lnTo>
                  <a:pt x="10" y="17"/>
                </a:lnTo>
                <a:lnTo>
                  <a:pt x="13" y="13"/>
                </a:lnTo>
                <a:lnTo>
                  <a:pt x="15" y="12"/>
                </a:lnTo>
                <a:lnTo>
                  <a:pt x="16" y="8"/>
                </a:lnTo>
                <a:lnTo>
                  <a:pt x="20" y="7"/>
                </a:lnTo>
                <a:lnTo>
                  <a:pt x="21" y="3"/>
                </a:lnTo>
                <a:lnTo>
                  <a:pt x="18"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40" name="Freeform 2245">
            <a:extLst>
              <a:ext uri="{FF2B5EF4-FFF2-40B4-BE49-F238E27FC236}">
                <a16:creationId xmlns:a16="http://schemas.microsoft.com/office/drawing/2014/main" id="{9156F55A-F010-2AD1-3F06-65642F064704}"/>
              </a:ext>
            </a:extLst>
          </p:cNvPr>
          <p:cNvSpPr>
            <a:spLocks/>
          </p:cNvSpPr>
          <p:nvPr/>
        </p:nvSpPr>
        <p:spPr bwMode="auto">
          <a:xfrm>
            <a:off x="2757488" y="2427288"/>
            <a:ext cx="31750" cy="39688"/>
          </a:xfrm>
          <a:custGeom>
            <a:avLst/>
            <a:gdLst>
              <a:gd name="T0" fmla="*/ 17 w 20"/>
              <a:gd name="T1" fmla="*/ 0 h 25"/>
              <a:gd name="T2" fmla="*/ 15 w 20"/>
              <a:gd name="T3" fmla="*/ 3 h 25"/>
              <a:gd name="T4" fmla="*/ 12 w 20"/>
              <a:gd name="T5" fmla="*/ 5 h 25"/>
              <a:gd name="T6" fmla="*/ 10 w 20"/>
              <a:gd name="T7" fmla="*/ 8 h 25"/>
              <a:gd name="T8" fmla="*/ 8 w 20"/>
              <a:gd name="T9" fmla="*/ 11 h 25"/>
              <a:gd name="T10" fmla="*/ 5 w 20"/>
              <a:gd name="T11" fmla="*/ 13 h 25"/>
              <a:gd name="T12" fmla="*/ 3 w 20"/>
              <a:gd name="T13" fmla="*/ 16 h 25"/>
              <a:gd name="T14" fmla="*/ 2 w 20"/>
              <a:gd name="T15" fmla="*/ 20 h 25"/>
              <a:gd name="T16" fmla="*/ 0 w 20"/>
              <a:gd name="T17" fmla="*/ 23 h 25"/>
              <a:gd name="T18" fmla="*/ 3 w 20"/>
              <a:gd name="T19" fmla="*/ 25 h 25"/>
              <a:gd name="T20" fmla="*/ 5 w 20"/>
              <a:gd name="T21" fmla="*/ 21 h 25"/>
              <a:gd name="T22" fmla="*/ 7 w 20"/>
              <a:gd name="T23" fmla="*/ 20 h 25"/>
              <a:gd name="T24" fmla="*/ 10 w 20"/>
              <a:gd name="T25" fmla="*/ 16 h 25"/>
              <a:gd name="T26" fmla="*/ 12 w 20"/>
              <a:gd name="T27" fmla="*/ 13 h 25"/>
              <a:gd name="T28" fmla="*/ 13 w 20"/>
              <a:gd name="T29" fmla="*/ 11 h 25"/>
              <a:gd name="T30" fmla="*/ 17 w 20"/>
              <a:gd name="T31" fmla="*/ 8 h 25"/>
              <a:gd name="T32" fmla="*/ 18 w 20"/>
              <a:gd name="T33" fmla="*/ 6 h 25"/>
              <a:gd name="T34" fmla="*/ 20 w 20"/>
              <a:gd name="T35" fmla="*/ 3 h 25"/>
              <a:gd name="T36" fmla="*/ 17 w 20"/>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5">
                <a:moveTo>
                  <a:pt x="17" y="0"/>
                </a:moveTo>
                <a:lnTo>
                  <a:pt x="15" y="3"/>
                </a:lnTo>
                <a:lnTo>
                  <a:pt x="12" y="5"/>
                </a:lnTo>
                <a:lnTo>
                  <a:pt x="10" y="8"/>
                </a:lnTo>
                <a:lnTo>
                  <a:pt x="8" y="11"/>
                </a:lnTo>
                <a:lnTo>
                  <a:pt x="5" y="13"/>
                </a:lnTo>
                <a:lnTo>
                  <a:pt x="3" y="16"/>
                </a:lnTo>
                <a:lnTo>
                  <a:pt x="2" y="20"/>
                </a:lnTo>
                <a:lnTo>
                  <a:pt x="0" y="23"/>
                </a:lnTo>
                <a:lnTo>
                  <a:pt x="3" y="25"/>
                </a:lnTo>
                <a:lnTo>
                  <a:pt x="5" y="21"/>
                </a:lnTo>
                <a:lnTo>
                  <a:pt x="7" y="20"/>
                </a:lnTo>
                <a:lnTo>
                  <a:pt x="10" y="16"/>
                </a:lnTo>
                <a:lnTo>
                  <a:pt x="12" y="13"/>
                </a:lnTo>
                <a:lnTo>
                  <a:pt x="13" y="11"/>
                </a:lnTo>
                <a:lnTo>
                  <a:pt x="17" y="8"/>
                </a:lnTo>
                <a:lnTo>
                  <a:pt x="18" y="6"/>
                </a:lnTo>
                <a:lnTo>
                  <a:pt x="20" y="3"/>
                </a:lnTo>
                <a:lnTo>
                  <a:pt x="17"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41" name="Freeform 2246">
            <a:extLst>
              <a:ext uri="{FF2B5EF4-FFF2-40B4-BE49-F238E27FC236}">
                <a16:creationId xmlns:a16="http://schemas.microsoft.com/office/drawing/2014/main" id="{F68BF251-9C52-BD8E-590C-21C272FE66FB}"/>
              </a:ext>
            </a:extLst>
          </p:cNvPr>
          <p:cNvSpPr>
            <a:spLocks/>
          </p:cNvSpPr>
          <p:nvPr/>
        </p:nvSpPr>
        <p:spPr bwMode="auto">
          <a:xfrm>
            <a:off x="2760663" y="2428875"/>
            <a:ext cx="31750" cy="39688"/>
          </a:xfrm>
          <a:custGeom>
            <a:avLst/>
            <a:gdLst>
              <a:gd name="T0" fmla="*/ 16 w 20"/>
              <a:gd name="T1" fmla="*/ 0 h 25"/>
              <a:gd name="T2" fmla="*/ 15 w 20"/>
              <a:gd name="T3" fmla="*/ 4 h 25"/>
              <a:gd name="T4" fmla="*/ 11 w 20"/>
              <a:gd name="T5" fmla="*/ 5 h 25"/>
              <a:gd name="T6" fmla="*/ 10 w 20"/>
              <a:gd name="T7" fmla="*/ 9 h 25"/>
              <a:gd name="T8" fmla="*/ 8 w 20"/>
              <a:gd name="T9" fmla="*/ 10 h 25"/>
              <a:gd name="T10" fmla="*/ 5 w 20"/>
              <a:gd name="T11" fmla="*/ 14 h 25"/>
              <a:gd name="T12" fmla="*/ 3 w 20"/>
              <a:gd name="T13" fmla="*/ 17 h 25"/>
              <a:gd name="T14" fmla="*/ 1 w 20"/>
              <a:gd name="T15" fmla="*/ 20 h 25"/>
              <a:gd name="T16" fmla="*/ 0 w 20"/>
              <a:gd name="T17" fmla="*/ 22 h 25"/>
              <a:gd name="T18" fmla="*/ 3 w 20"/>
              <a:gd name="T19" fmla="*/ 25 h 25"/>
              <a:gd name="T20" fmla="*/ 5 w 20"/>
              <a:gd name="T21" fmla="*/ 22 h 25"/>
              <a:gd name="T22" fmla="*/ 8 w 20"/>
              <a:gd name="T23" fmla="*/ 20 h 25"/>
              <a:gd name="T24" fmla="*/ 10 w 20"/>
              <a:gd name="T25" fmla="*/ 17 h 25"/>
              <a:gd name="T26" fmla="*/ 11 w 20"/>
              <a:gd name="T27" fmla="*/ 14 h 25"/>
              <a:gd name="T28" fmla="*/ 13 w 20"/>
              <a:gd name="T29" fmla="*/ 12 h 25"/>
              <a:gd name="T30" fmla="*/ 16 w 20"/>
              <a:gd name="T31" fmla="*/ 9 h 25"/>
              <a:gd name="T32" fmla="*/ 18 w 20"/>
              <a:gd name="T33" fmla="*/ 7 h 25"/>
              <a:gd name="T34" fmla="*/ 20 w 20"/>
              <a:gd name="T35" fmla="*/ 4 h 25"/>
              <a:gd name="T36" fmla="*/ 16 w 20"/>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5">
                <a:moveTo>
                  <a:pt x="16" y="0"/>
                </a:moveTo>
                <a:lnTo>
                  <a:pt x="15" y="4"/>
                </a:lnTo>
                <a:lnTo>
                  <a:pt x="11" y="5"/>
                </a:lnTo>
                <a:lnTo>
                  <a:pt x="10" y="9"/>
                </a:lnTo>
                <a:lnTo>
                  <a:pt x="8" y="10"/>
                </a:lnTo>
                <a:lnTo>
                  <a:pt x="5" y="14"/>
                </a:lnTo>
                <a:lnTo>
                  <a:pt x="3" y="17"/>
                </a:lnTo>
                <a:lnTo>
                  <a:pt x="1" y="20"/>
                </a:lnTo>
                <a:lnTo>
                  <a:pt x="0" y="22"/>
                </a:lnTo>
                <a:lnTo>
                  <a:pt x="3" y="25"/>
                </a:lnTo>
                <a:lnTo>
                  <a:pt x="5" y="22"/>
                </a:lnTo>
                <a:lnTo>
                  <a:pt x="8" y="20"/>
                </a:lnTo>
                <a:lnTo>
                  <a:pt x="10" y="17"/>
                </a:lnTo>
                <a:lnTo>
                  <a:pt x="11" y="14"/>
                </a:lnTo>
                <a:lnTo>
                  <a:pt x="13" y="12"/>
                </a:lnTo>
                <a:lnTo>
                  <a:pt x="16" y="9"/>
                </a:lnTo>
                <a:lnTo>
                  <a:pt x="18" y="7"/>
                </a:lnTo>
                <a:lnTo>
                  <a:pt x="20" y="4"/>
                </a:lnTo>
                <a:lnTo>
                  <a:pt x="16"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42" name="Freeform 2247">
            <a:extLst>
              <a:ext uri="{FF2B5EF4-FFF2-40B4-BE49-F238E27FC236}">
                <a16:creationId xmlns:a16="http://schemas.microsoft.com/office/drawing/2014/main" id="{FB3088D1-F98E-9AD2-FAE5-DC9219D43883}"/>
              </a:ext>
            </a:extLst>
          </p:cNvPr>
          <p:cNvSpPr>
            <a:spLocks/>
          </p:cNvSpPr>
          <p:nvPr/>
        </p:nvSpPr>
        <p:spPr bwMode="auto">
          <a:xfrm>
            <a:off x="2762250" y="2432050"/>
            <a:ext cx="34925" cy="39688"/>
          </a:xfrm>
          <a:custGeom>
            <a:avLst/>
            <a:gdLst>
              <a:gd name="T0" fmla="*/ 17 w 22"/>
              <a:gd name="T1" fmla="*/ 0 h 25"/>
              <a:gd name="T2" fmla="*/ 15 w 22"/>
              <a:gd name="T3" fmla="*/ 3 h 25"/>
              <a:gd name="T4" fmla="*/ 14 w 22"/>
              <a:gd name="T5" fmla="*/ 5 h 25"/>
              <a:gd name="T6" fmla="*/ 10 w 22"/>
              <a:gd name="T7" fmla="*/ 8 h 25"/>
              <a:gd name="T8" fmla="*/ 9 w 22"/>
              <a:gd name="T9" fmla="*/ 10 h 25"/>
              <a:gd name="T10" fmla="*/ 7 w 22"/>
              <a:gd name="T11" fmla="*/ 13 h 25"/>
              <a:gd name="T12" fmla="*/ 4 w 22"/>
              <a:gd name="T13" fmla="*/ 17 h 25"/>
              <a:gd name="T14" fmla="*/ 2 w 22"/>
              <a:gd name="T15" fmla="*/ 18 h 25"/>
              <a:gd name="T16" fmla="*/ 0 w 22"/>
              <a:gd name="T17" fmla="*/ 22 h 25"/>
              <a:gd name="T18" fmla="*/ 4 w 22"/>
              <a:gd name="T19" fmla="*/ 25 h 25"/>
              <a:gd name="T20" fmla="*/ 7 w 22"/>
              <a:gd name="T21" fmla="*/ 22 h 25"/>
              <a:gd name="T22" fmla="*/ 9 w 22"/>
              <a:gd name="T23" fmla="*/ 18 h 25"/>
              <a:gd name="T24" fmla="*/ 10 w 22"/>
              <a:gd name="T25" fmla="*/ 17 h 25"/>
              <a:gd name="T26" fmla="*/ 12 w 22"/>
              <a:gd name="T27" fmla="*/ 13 h 25"/>
              <a:gd name="T28" fmla="*/ 14 w 22"/>
              <a:gd name="T29" fmla="*/ 12 h 25"/>
              <a:gd name="T30" fmla="*/ 17 w 22"/>
              <a:gd name="T31" fmla="*/ 8 h 25"/>
              <a:gd name="T32" fmla="*/ 19 w 22"/>
              <a:gd name="T33" fmla="*/ 7 h 25"/>
              <a:gd name="T34" fmla="*/ 22 w 22"/>
              <a:gd name="T35" fmla="*/ 3 h 25"/>
              <a:gd name="T36" fmla="*/ 17 w 22"/>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5">
                <a:moveTo>
                  <a:pt x="17" y="0"/>
                </a:moveTo>
                <a:lnTo>
                  <a:pt x="15" y="3"/>
                </a:lnTo>
                <a:lnTo>
                  <a:pt x="14" y="5"/>
                </a:lnTo>
                <a:lnTo>
                  <a:pt x="10" y="8"/>
                </a:lnTo>
                <a:lnTo>
                  <a:pt x="9" y="10"/>
                </a:lnTo>
                <a:lnTo>
                  <a:pt x="7" y="13"/>
                </a:lnTo>
                <a:lnTo>
                  <a:pt x="4" y="17"/>
                </a:lnTo>
                <a:lnTo>
                  <a:pt x="2" y="18"/>
                </a:lnTo>
                <a:lnTo>
                  <a:pt x="0" y="22"/>
                </a:lnTo>
                <a:lnTo>
                  <a:pt x="4" y="25"/>
                </a:lnTo>
                <a:lnTo>
                  <a:pt x="7" y="22"/>
                </a:lnTo>
                <a:lnTo>
                  <a:pt x="9" y="18"/>
                </a:lnTo>
                <a:lnTo>
                  <a:pt x="10" y="17"/>
                </a:lnTo>
                <a:lnTo>
                  <a:pt x="12" y="13"/>
                </a:lnTo>
                <a:lnTo>
                  <a:pt x="14" y="12"/>
                </a:lnTo>
                <a:lnTo>
                  <a:pt x="17" y="8"/>
                </a:lnTo>
                <a:lnTo>
                  <a:pt x="19" y="7"/>
                </a:lnTo>
                <a:lnTo>
                  <a:pt x="22" y="3"/>
                </a:lnTo>
                <a:lnTo>
                  <a:pt x="17"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43" name="Freeform 2248">
            <a:extLst>
              <a:ext uri="{FF2B5EF4-FFF2-40B4-BE49-F238E27FC236}">
                <a16:creationId xmlns:a16="http://schemas.microsoft.com/office/drawing/2014/main" id="{5DE0B453-FA4B-3E33-FD9B-0F33AB4F160D}"/>
              </a:ext>
            </a:extLst>
          </p:cNvPr>
          <p:cNvSpPr>
            <a:spLocks/>
          </p:cNvSpPr>
          <p:nvPr/>
        </p:nvSpPr>
        <p:spPr bwMode="auto">
          <a:xfrm>
            <a:off x="2765425" y="2435225"/>
            <a:ext cx="34925" cy="36513"/>
          </a:xfrm>
          <a:custGeom>
            <a:avLst/>
            <a:gdLst>
              <a:gd name="T0" fmla="*/ 17 w 22"/>
              <a:gd name="T1" fmla="*/ 0 h 23"/>
              <a:gd name="T2" fmla="*/ 15 w 22"/>
              <a:gd name="T3" fmla="*/ 3 h 23"/>
              <a:gd name="T4" fmla="*/ 13 w 22"/>
              <a:gd name="T5" fmla="*/ 5 h 23"/>
              <a:gd name="T6" fmla="*/ 10 w 22"/>
              <a:gd name="T7" fmla="*/ 8 h 23"/>
              <a:gd name="T8" fmla="*/ 8 w 22"/>
              <a:gd name="T9" fmla="*/ 10 h 23"/>
              <a:gd name="T10" fmla="*/ 7 w 22"/>
              <a:gd name="T11" fmla="*/ 13 h 23"/>
              <a:gd name="T12" fmla="*/ 5 w 22"/>
              <a:gd name="T13" fmla="*/ 16 h 23"/>
              <a:gd name="T14" fmla="*/ 2 w 22"/>
              <a:gd name="T15" fmla="*/ 18 h 23"/>
              <a:gd name="T16" fmla="*/ 0 w 22"/>
              <a:gd name="T17" fmla="*/ 21 h 23"/>
              <a:gd name="T18" fmla="*/ 5 w 22"/>
              <a:gd name="T19" fmla="*/ 23 h 23"/>
              <a:gd name="T20" fmla="*/ 7 w 22"/>
              <a:gd name="T21" fmla="*/ 21 h 23"/>
              <a:gd name="T22" fmla="*/ 8 w 22"/>
              <a:gd name="T23" fmla="*/ 18 h 23"/>
              <a:gd name="T24" fmla="*/ 10 w 22"/>
              <a:gd name="T25" fmla="*/ 16 h 23"/>
              <a:gd name="T26" fmla="*/ 12 w 22"/>
              <a:gd name="T27" fmla="*/ 13 h 23"/>
              <a:gd name="T28" fmla="*/ 15 w 22"/>
              <a:gd name="T29" fmla="*/ 11 h 23"/>
              <a:gd name="T30" fmla="*/ 17 w 22"/>
              <a:gd name="T31" fmla="*/ 8 h 23"/>
              <a:gd name="T32" fmla="*/ 18 w 22"/>
              <a:gd name="T33" fmla="*/ 6 h 23"/>
              <a:gd name="T34" fmla="*/ 22 w 22"/>
              <a:gd name="T35" fmla="*/ 3 h 23"/>
              <a:gd name="T36" fmla="*/ 17 w 22"/>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3">
                <a:moveTo>
                  <a:pt x="17" y="0"/>
                </a:moveTo>
                <a:lnTo>
                  <a:pt x="15" y="3"/>
                </a:lnTo>
                <a:lnTo>
                  <a:pt x="13" y="5"/>
                </a:lnTo>
                <a:lnTo>
                  <a:pt x="10" y="8"/>
                </a:lnTo>
                <a:lnTo>
                  <a:pt x="8" y="10"/>
                </a:lnTo>
                <a:lnTo>
                  <a:pt x="7" y="13"/>
                </a:lnTo>
                <a:lnTo>
                  <a:pt x="5" y="16"/>
                </a:lnTo>
                <a:lnTo>
                  <a:pt x="2" y="18"/>
                </a:lnTo>
                <a:lnTo>
                  <a:pt x="0" y="21"/>
                </a:lnTo>
                <a:lnTo>
                  <a:pt x="5" y="23"/>
                </a:lnTo>
                <a:lnTo>
                  <a:pt x="7" y="21"/>
                </a:lnTo>
                <a:lnTo>
                  <a:pt x="8" y="18"/>
                </a:lnTo>
                <a:lnTo>
                  <a:pt x="10" y="16"/>
                </a:lnTo>
                <a:lnTo>
                  <a:pt x="12" y="13"/>
                </a:lnTo>
                <a:lnTo>
                  <a:pt x="15" y="11"/>
                </a:lnTo>
                <a:lnTo>
                  <a:pt x="17" y="8"/>
                </a:lnTo>
                <a:lnTo>
                  <a:pt x="18" y="6"/>
                </a:lnTo>
                <a:lnTo>
                  <a:pt x="22" y="3"/>
                </a:lnTo>
                <a:lnTo>
                  <a:pt x="17"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44" name="Freeform 2249">
            <a:extLst>
              <a:ext uri="{FF2B5EF4-FFF2-40B4-BE49-F238E27FC236}">
                <a16:creationId xmlns:a16="http://schemas.microsoft.com/office/drawing/2014/main" id="{28E7C69D-AA60-D642-2B41-D678D4650932}"/>
              </a:ext>
            </a:extLst>
          </p:cNvPr>
          <p:cNvSpPr>
            <a:spLocks/>
          </p:cNvSpPr>
          <p:nvPr/>
        </p:nvSpPr>
        <p:spPr bwMode="auto">
          <a:xfrm>
            <a:off x="2768600" y="2436813"/>
            <a:ext cx="33338" cy="38100"/>
          </a:xfrm>
          <a:custGeom>
            <a:avLst/>
            <a:gdLst>
              <a:gd name="T0" fmla="*/ 18 w 21"/>
              <a:gd name="T1" fmla="*/ 0 h 24"/>
              <a:gd name="T2" fmla="*/ 15 w 21"/>
              <a:gd name="T3" fmla="*/ 4 h 24"/>
              <a:gd name="T4" fmla="*/ 13 w 21"/>
              <a:gd name="T5" fmla="*/ 5 h 24"/>
              <a:gd name="T6" fmla="*/ 10 w 21"/>
              <a:gd name="T7" fmla="*/ 9 h 24"/>
              <a:gd name="T8" fmla="*/ 8 w 21"/>
              <a:gd name="T9" fmla="*/ 10 h 24"/>
              <a:gd name="T10" fmla="*/ 6 w 21"/>
              <a:gd name="T11" fmla="*/ 14 h 24"/>
              <a:gd name="T12" fmla="*/ 5 w 21"/>
              <a:gd name="T13" fmla="*/ 15 h 24"/>
              <a:gd name="T14" fmla="*/ 3 w 21"/>
              <a:gd name="T15" fmla="*/ 19 h 24"/>
              <a:gd name="T16" fmla="*/ 0 w 21"/>
              <a:gd name="T17" fmla="*/ 22 h 24"/>
              <a:gd name="T18" fmla="*/ 5 w 21"/>
              <a:gd name="T19" fmla="*/ 24 h 24"/>
              <a:gd name="T20" fmla="*/ 6 w 21"/>
              <a:gd name="T21" fmla="*/ 22 h 24"/>
              <a:gd name="T22" fmla="*/ 8 w 21"/>
              <a:gd name="T23" fmla="*/ 19 h 24"/>
              <a:gd name="T24" fmla="*/ 10 w 21"/>
              <a:gd name="T25" fmla="*/ 15 h 24"/>
              <a:gd name="T26" fmla="*/ 11 w 21"/>
              <a:gd name="T27" fmla="*/ 14 h 24"/>
              <a:gd name="T28" fmla="*/ 15 w 21"/>
              <a:gd name="T29" fmla="*/ 10 h 24"/>
              <a:gd name="T30" fmla="*/ 16 w 21"/>
              <a:gd name="T31" fmla="*/ 9 h 24"/>
              <a:gd name="T32" fmla="*/ 18 w 21"/>
              <a:gd name="T33" fmla="*/ 7 h 24"/>
              <a:gd name="T34" fmla="*/ 21 w 21"/>
              <a:gd name="T35" fmla="*/ 4 h 24"/>
              <a:gd name="T36" fmla="*/ 18 w 21"/>
              <a:gd name="T37" fmla="*/ 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1" h="24">
                <a:moveTo>
                  <a:pt x="18" y="0"/>
                </a:moveTo>
                <a:lnTo>
                  <a:pt x="15" y="4"/>
                </a:lnTo>
                <a:lnTo>
                  <a:pt x="13" y="5"/>
                </a:lnTo>
                <a:lnTo>
                  <a:pt x="10" y="9"/>
                </a:lnTo>
                <a:lnTo>
                  <a:pt x="8" y="10"/>
                </a:lnTo>
                <a:lnTo>
                  <a:pt x="6" y="14"/>
                </a:lnTo>
                <a:lnTo>
                  <a:pt x="5" y="15"/>
                </a:lnTo>
                <a:lnTo>
                  <a:pt x="3" y="19"/>
                </a:lnTo>
                <a:lnTo>
                  <a:pt x="0" y="22"/>
                </a:lnTo>
                <a:lnTo>
                  <a:pt x="5" y="24"/>
                </a:lnTo>
                <a:lnTo>
                  <a:pt x="6" y="22"/>
                </a:lnTo>
                <a:lnTo>
                  <a:pt x="8" y="19"/>
                </a:lnTo>
                <a:lnTo>
                  <a:pt x="10" y="15"/>
                </a:lnTo>
                <a:lnTo>
                  <a:pt x="11" y="14"/>
                </a:lnTo>
                <a:lnTo>
                  <a:pt x="15" y="10"/>
                </a:lnTo>
                <a:lnTo>
                  <a:pt x="16" y="9"/>
                </a:lnTo>
                <a:lnTo>
                  <a:pt x="18" y="7"/>
                </a:lnTo>
                <a:lnTo>
                  <a:pt x="21" y="4"/>
                </a:lnTo>
                <a:lnTo>
                  <a:pt x="18"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45" name="Freeform 2250">
            <a:extLst>
              <a:ext uri="{FF2B5EF4-FFF2-40B4-BE49-F238E27FC236}">
                <a16:creationId xmlns:a16="http://schemas.microsoft.com/office/drawing/2014/main" id="{6DDFFFD0-F99F-DACB-E21A-AF45F2072EA5}"/>
              </a:ext>
            </a:extLst>
          </p:cNvPr>
          <p:cNvSpPr>
            <a:spLocks/>
          </p:cNvSpPr>
          <p:nvPr/>
        </p:nvSpPr>
        <p:spPr bwMode="auto">
          <a:xfrm>
            <a:off x="2773363" y="2439988"/>
            <a:ext cx="31750" cy="36513"/>
          </a:xfrm>
          <a:custGeom>
            <a:avLst/>
            <a:gdLst>
              <a:gd name="T0" fmla="*/ 17 w 20"/>
              <a:gd name="T1" fmla="*/ 0 h 23"/>
              <a:gd name="T2" fmla="*/ 13 w 20"/>
              <a:gd name="T3" fmla="*/ 3 h 23"/>
              <a:gd name="T4" fmla="*/ 12 w 20"/>
              <a:gd name="T5" fmla="*/ 5 h 23"/>
              <a:gd name="T6" fmla="*/ 10 w 20"/>
              <a:gd name="T7" fmla="*/ 8 h 23"/>
              <a:gd name="T8" fmla="*/ 7 w 20"/>
              <a:gd name="T9" fmla="*/ 10 h 23"/>
              <a:gd name="T10" fmla="*/ 5 w 20"/>
              <a:gd name="T11" fmla="*/ 13 h 23"/>
              <a:gd name="T12" fmla="*/ 3 w 20"/>
              <a:gd name="T13" fmla="*/ 15 h 23"/>
              <a:gd name="T14" fmla="*/ 2 w 20"/>
              <a:gd name="T15" fmla="*/ 18 h 23"/>
              <a:gd name="T16" fmla="*/ 0 w 20"/>
              <a:gd name="T17" fmla="*/ 20 h 23"/>
              <a:gd name="T18" fmla="*/ 3 w 20"/>
              <a:gd name="T19" fmla="*/ 23 h 23"/>
              <a:gd name="T20" fmla="*/ 5 w 20"/>
              <a:gd name="T21" fmla="*/ 20 h 23"/>
              <a:gd name="T22" fmla="*/ 7 w 20"/>
              <a:gd name="T23" fmla="*/ 18 h 23"/>
              <a:gd name="T24" fmla="*/ 8 w 20"/>
              <a:gd name="T25" fmla="*/ 15 h 23"/>
              <a:gd name="T26" fmla="*/ 12 w 20"/>
              <a:gd name="T27" fmla="*/ 13 h 23"/>
              <a:gd name="T28" fmla="*/ 13 w 20"/>
              <a:gd name="T29" fmla="*/ 10 h 23"/>
              <a:gd name="T30" fmla="*/ 15 w 20"/>
              <a:gd name="T31" fmla="*/ 8 h 23"/>
              <a:gd name="T32" fmla="*/ 17 w 20"/>
              <a:gd name="T33" fmla="*/ 7 h 23"/>
              <a:gd name="T34" fmla="*/ 20 w 20"/>
              <a:gd name="T35" fmla="*/ 3 h 23"/>
              <a:gd name="T36" fmla="*/ 17 w 20"/>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3">
                <a:moveTo>
                  <a:pt x="17" y="0"/>
                </a:moveTo>
                <a:lnTo>
                  <a:pt x="13" y="3"/>
                </a:lnTo>
                <a:lnTo>
                  <a:pt x="12" y="5"/>
                </a:lnTo>
                <a:lnTo>
                  <a:pt x="10" y="8"/>
                </a:lnTo>
                <a:lnTo>
                  <a:pt x="7" y="10"/>
                </a:lnTo>
                <a:lnTo>
                  <a:pt x="5" y="13"/>
                </a:lnTo>
                <a:lnTo>
                  <a:pt x="3" y="15"/>
                </a:lnTo>
                <a:lnTo>
                  <a:pt x="2" y="18"/>
                </a:lnTo>
                <a:lnTo>
                  <a:pt x="0" y="20"/>
                </a:lnTo>
                <a:lnTo>
                  <a:pt x="3" y="23"/>
                </a:lnTo>
                <a:lnTo>
                  <a:pt x="5" y="20"/>
                </a:lnTo>
                <a:lnTo>
                  <a:pt x="7" y="18"/>
                </a:lnTo>
                <a:lnTo>
                  <a:pt x="8" y="15"/>
                </a:lnTo>
                <a:lnTo>
                  <a:pt x="12" y="13"/>
                </a:lnTo>
                <a:lnTo>
                  <a:pt x="13" y="10"/>
                </a:lnTo>
                <a:lnTo>
                  <a:pt x="15" y="8"/>
                </a:lnTo>
                <a:lnTo>
                  <a:pt x="17" y="7"/>
                </a:lnTo>
                <a:lnTo>
                  <a:pt x="20" y="3"/>
                </a:lnTo>
                <a:lnTo>
                  <a:pt x="17"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46" name="Freeform 2251">
            <a:extLst>
              <a:ext uri="{FF2B5EF4-FFF2-40B4-BE49-F238E27FC236}">
                <a16:creationId xmlns:a16="http://schemas.microsoft.com/office/drawing/2014/main" id="{5E2ED458-E993-8BAB-E631-3510D4AE81F4}"/>
              </a:ext>
            </a:extLst>
          </p:cNvPr>
          <p:cNvSpPr>
            <a:spLocks/>
          </p:cNvSpPr>
          <p:nvPr/>
        </p:nvSpPr>
        <p:spPr bwMode="auto">
          <a:xfrm>
            <a:off x="2776538" y="2443163"/>
            <a:ext cx="31750" cy="36513"/>
          </a:xfrm>
          <a:custGeom>
            <a:avLst/>
            <a:gdLst>
              <a:gd name="T0" fmla="*/ 16 w 20"/>
              <a:gd name="T1" fmla="*/ 0 h 23"/>
              <a:gd name="T2" fmla="*/ 13 w 20"/>
              <a:gd name="T3" fmla="*/ 3 h 23"/>
              <a:gd name="T4" fmla="*/ 11 w 20"/>
              <a:gd name="T5" fmla="*/ 5 h 23"/>
              <a:gd name="T6" fmla="*/ 10 w 20"/>
              <a:gd name="T7" fmla="*/ 6 h 23"/>
              <a:gd name="T8" fmla="*/ 6 w 20"/>
              <a:gd name="T9" fmla="*/ 10 h 23"/>
              <a:gd name="T10" fmla="*/ 5 w 20"/>
              <a:gd name="T11" fmla="*/ 11 h 23"/>
              <a:gd name="T12" fmla="*/ 3 w 20"/>
              <a:gd name="T13" fmla="*/ 15 h 23"/>
              <a:gd name="T14" fmla="*/ 1 w 20"/>
              <a:gd name="T15" fmla="*/ 18 h 23"/>
              <a:gd name="T16" fmla="*/ 0 w 20"/>
              <a:gd name="T17" fmla="*/ 20 h 23"/>
              <a:gd name="T18" fmla="*/ 3 w 20"/>
              <a:gd name="T19" fmla="*/ 23 h 23"/>
              <a:gd name="T20" fmla="*/ 5 w 20"/>
              <a:gd name="T21" fmla="*/ 20 h 23"/>
              <a:gd name="T22" fmla="*/ 6 w 20"/>
              <a:gd name="T23" fmla="*/ 18 h 23"/>
              <a:gd name="T24" fmla="*/ 10 w 20"/>
              <a:gd name="T25" fmla="*/ 15 h 23"/>
              <a:gd name="T26" fmla="*/ 11 w 20"/>
              <a:gd name="T27" fmla="*/ 13 h 23"/>
              <a:gd name="T28" fmla="*/ 13 w 20"/>
              <a:gd name="T29" fmla="*/ 10 h 23"/>
              <a:gd name="T30" fmla="*/ 15 w 20"/>
              <a:gd name="T31" fmla="*/ 8 h 23"/>
              <a:gd name="T32" fmla="*/ 16 w 20"/>
              <a:gd name="T33" fmla="*/ 6 h 23"/>
              <a:gd name="T34" fmla="*/ 20 w 20"/>
              <a:gd name="T35" fmla="*/ 3 h 23"/>
              <a:gd name="T36" fmla="*/ 16 w 20"/>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3">
                <a:moveTo>
                  <a:pt x="16" y="0"/>
                </a:moveTo>
                <a:lnTo>
                  <a:pt x="13" y="3"/>
                </a:lnTo>
                <a:lnTo>
                  <a:pt x="11" y="5"/>
                </a:lnTo>
                <a:lnTo>
                  <a:pt x="10" y="6"/>
                </a:lnTo>
                <a:lnTo>
                  <a:pt x="6" y="10"/>
                </a:lnTo>
                <a:lnTo>
                  <a:pt x="5" y="11"/>
                </a:lnTo>
                <a:lnTo>
                  <a:pt x="3" y="15"/>
                </a:lnTo>
                <a:lnTo>
                  <a:pt x="1" y="18"/>
                </a:lnTo>
                <a:lnTo>
                  <a:pt x="0" y="20"/>
                </a:lnTo>
                <a:lnTo>
                  <a:pt x="3" y="23"/>
                </a:lnTo>
                <a:lnTo>
                  <a:pt x="5" y="20"/>
                </a:lnTo>
                <a:lnTo>
                  <a:pt x="6" y="18"/>
                </a:lnTo>
                <a:lnTo>
                  <a:pt x="10" y="15"/>
                </a:lnTo>
                <a:lnTo>
                  <a:pt x="11" y="13"/>
                </a:lnTo>
                <a:lnTo>
                  <a:pt x="13" y="10"/>
                </a:lnTo>
                <a:lnTo>
                  <a:pt x="15" y="8"/>
                </a:lnTo>
                <a:lnTo>
                  <a:pt x="16" y="6"/>
                </a:lnTo>
                <a:lnTo>
                  <a:pt x="20" y="3"/>
                </a:lnTo>
                <a:lnTo>
                  <a:pt x="16"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47" name="Freeform 2252">
            <a:extLst>
              <a:ext uri="{FF2B5EF4-FFF2-40B4-BE49-F238E27FC236}">
                <a16:creationId xmlns:a16="http://schemas.microsoft.com/office/drawing/2014/main" id="{BCEC846F-690F-A188-F2EC-E5A71B1F7614}"/>
              </a:ext>
            </a:extLst>
          </p:cNvPr>
          <p:cNvSpPr>
            <a:spLocks/>
          </p:cNvSpPr>
          <p:nvPr/>
        </p:nvSpPr>
        <p:spPr bwMode="auto">
          <a:xfrm>
            <a:off x="2778125" y="2444750"/>
            <a:ext cx="31750" cy="34925"/>
          </a:xfrm>
          <a:custGeom>
            <a:avLst/>
            <a:gdLst>
              <a:gd name="T0" fmla="*/ 17 w 20"/>
              <a:gd name="T1" fmla="*/ 0 h 22"/>
              <a:gd name="T2" fmla="*/ 14 w 20"/>
              <a:gd name="T3" fmla="*/ 4 h 22"/>
              <a:gd name="T4" fmla="*/ 12 w 20"/>
              <a:gd name="T5" fmla="*/ 5 h 22"/>
              <a:gd name="T6" fmla="*/ 10 w 20"/>
              <a:gd name="T7" fmla="*/ 7 h 22"/>
              <a:gd name="T8" fmla="*/ 9 w 20"/>
              <a:gd name="T9" fmla="*/ 10 h 22"/>
              <a:gd name="T10" fmla="*/ 5 w 20"/>
              <a:gd name="T11" fmla="*/ 12 h 22"/>
              <a:gd name="T12" fmla="*/ 4 w 20"/>
              <a:gd name="T13" fmla="*/ 15 h 22"/>
              <a:gd name="T14" fmla="*/ 2 w 20"/>
              <a:gd name="T15" fmla="*/ 17 h 22"/>
              <a:gd name="T16" fmla="*/ 0 w 20"/>
              <a:gd name="T17" fmla="*/ 20 h 22"/>
              <a:gd name="T18" fmla="*/ 5 w 20"/>
              <a:gd name="T19" fmla="*/ 22 h 22"/>
              <a:gd name="T20" fmla="*/ 7 w 20"/>
              <a:gd name="T21" fmla="*/ 20 h 22"/>
              <a:gd name="T22" fmla="*/ 9 w 20"/>
              <a:gd name="T23" fmla="*/ 17 h 22"/>
              <a:gd name="T24" fmla="*/ 10 w 20"/>
              <a:gd name="T25" fmla="*/ 15 h 22"/>
              <a:gd name="T26" fmla="*/ 12 w 20"/>
              <a:gd name="T27" fmla="*/ 14 h 22"/>
              <a:gd name="T28" fmla="*/ 14 w 20"/>
              <a:gd name="T29" fmla="*/ 10 h 22"/>
              <a:gd name="T30" fmla="*/ 15 w 20"/>
              <a:gd name="T31" fmla="*/ 9 h 22"/>
              <a:gd name="T32" fmla="*/ 17 w 20"/>
              <a:gd name="T33" fmla="*/ 7 h 22"/>
              <a:gd name="T34" fmla="*/ 20 w 20"/>
              <a:gd name="T35" fmla="*/ 4 h 22"/>
              <a:gd name="T36" fmla="*/ 17 w 20"/>
              <a:gd name="T37" fmla="*/ 0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2">
                <a:moveTo>
                  <a:pt x="17" y="0"/>
                </a:moveTo>
                <a:lnTo>
                  <a:pt x="14" y="4"/>
                </a:lnTo>
                <a:lnTo>
                  <a:pt x="12" y="5"/>
                </a:lnTo>
                <a:lnTo>
                  <a:pt x="10" y="7"/>
                </a:lnTo>
                <a:lnTo>
                  <a:pt x="9" y="10"/>
                </a:lnTo>
                <a:lnTo>
                  <a:pt x="5" y="12"/>
                </a:lnTo>
                <a:lnTo>
                  <a:pt x="4" y="15"/>
                </a:lnTo>
                <a:lnTo>
                  <a:pt x="2" y="17"/>
                </a:lnTo>
                <a:lnTo>
                  <a:pt x="0" y="20"/>
                </a:lnTo>
                <a:lnTo>
                  <a:pt x="5" y="22"/>
                </a:lnTo>
                <a:lnTo>
                  <a:pt x="7" y="20"/>
                </a:lnTo>
                <a:lnTo>
                  <a:pt x="9" y="17"/>
                </a:lnTo>
                <a:lnTo>
                  <a:pt x="10" y="15"/>
                </a:lnTo>
                <a:lnTo>
                  <a:pt x="12" y="14"/>
                </a:lnTo>
                <a:lnTo>
                  <a:pt x="14" y="10"/>
                </a:lnTo>
                <a:lnTo>
                  <a:pt x="15" y="9"/>
                </a:lnTo>
                <a:lnTo>
                  <a:pt x="17" y="7"/>
                </a:lnTo>
                <a:lnTo>
                  <a:pt x="20" y="4"/>
                </a:lnTo>
                <a:lnTo>
                  <a:pt x="17"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48" name="Freeform 2253">
            <a:extLst>
              <a:ext uri="{FF2B5EF4-FFF2-40B4-BE49-F238E27FC236}">
                <a16:creationId xmlns:a16="http://schemas.microsoft.com/office/drawing/2014/main" id="{EC022554-E644-AA04-C3FE-10FC928AB674}"/>
              </a:ext>
            </a:extLst>
          </p:cNvPr>
          <p:cNvSpPr>
            <a:spLocks/>
          </p:cNvSpPr>
          <p:nvPr/>
        </p:nvSpPr>
        <p:spPr bwMode="auto">
          <a:xfrm>
            <a:off x="2781300" y="2447925"/>
            <a:ext cx="31750" cy="34925"/>
          </a:xfrm>
          <a:custGeom>
            <a:avLst/>
            <a:gdLst>
              <a:gd name="T0" fmla="*/ 17 w 20"/>
              <a:gd name="T1" fmla="*/ 0 h 22"/>
              <a:gd name="T2" fmla="*/ 13 w 20"/>
              <a:gd name="T3" fmla="*/ 3 h 22"/>
              <a:gd name="T4" fmla="*/ 12 w 20"/>
              <a:gd name="T5" fmla="*/ 5 h 22"/>
              <a:gd name="T6" fmla="*/ 10 w 20"/>
              <a:gd name="T7" fmla="*/ 7 h 22"/>
              <a:gd name="T8" fmla="*/ 8 w 20"/>
              <a:gd name="T9" fmla="*/ 10 h 22"/>
              <a:gd name="T10" fmla="*/ 7 w 20"/>
              <a:gd name="T11" fmla="*/ 12 h 22"/>
              <a:gd name="T12" fmla="*/ 3 w 20"/>
              <a:gd name="T13" fmla="*/ 15 h 22"/>
              <a:gd name="T14" fmla="*/ 2 w 20"/>
              <a:gd name="T15" fmla="*/ 17 h 22"/>
              <a:gd name="T16" fmla="*/ 0 w 20"/>
              <a:gd name="T17" fmla="*/ 20 h 22"/>
              <a:gd name="T18" fmla="*/ 5 w 20"/>
              <a:gd name="T19" fmla="*/ 22 h 22"/>
              <a:gd name="T20" fmla="*/ 7 w 20"/>
              <a:gd name="T21" fmla="*/ 20 h 22"/>
              <a:gd name="T22" fmla="*/ 8 w 20"/>
              <a:gd name="T23" fmla="*/ 17 h 22"/>
              <a:gd name="T24" fmla="*/ 10 w 20"/>
              <a:gd name="T25" fmla="*/ 15 h 22"/>
              <a:gd name="T26" fmla="*/ 12 w 20"/>
              <a:gd name="T27" fmla="*/ 12 h 22"/>
              <a:gd name="T28" fmla="*/ 13 w 20"/>
              <a:gd name="T29" fmla="*/ 10 h 22"/>
              <a:gd name="T30" fmla="*/ 15 w 20"/>
              <a:gd name="T31" fmla="*/ 8 h 22"/>
              <a:gd name="T32" fmla="*/ 17 w 20"/>
              <a:gd name="T33" fmla="*/ 7 h 22"/>
              <a:gd name="T34" fmla="*/ 20 w 20"/>
              <a:gd name="T35" fmla="*/ 3 h 22"/>
              <a:gd name="T36" fmla="*/ 17 w 20"/>
              <a:gd name="T37" fmla="*/ 0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2">
                <a:moveTo>
                  <a:pt x="17" y="0"/>
                </a:moveTo>
                <a:lnTo>
                  <a:pt x="13" y="3"/>
                </a:lnTo>
                <a:lnTo>
                  <a:pt x="12" y="5"/>
                </a:lnTo>
                <a:lnTo>
                  <a:pt x="10" y="7"/>
                </a:lnTo>
                <a:lnTo>
                  <a:pt x="8" y="10"/>
                </a:lnTo>
                <a:lnTo>
                  <a:pt x="7" y="12"/>
                </a:lnTo>
                <a:lnTo>
                  <a:pt x="3" y="15"/>
                </a:lnTo>
                <a:lnTo>
                  <a:pt x="2" y="17"/>
                </a:lnTo>
                <a:lnTo>
                  <a:pt x="0" y="20"/>
                </a:lnTo>
                <a:lnTo>
                  <a:pt x="5" y="22"/>
                </a:lnTo>
                <a:lnTo>
                  <a:pt x="7" y="20"/>
                </a:lnTo>
                <a:lnTo>
                  <a:pt x="8" y="17"/>
                </a:lnTo>
                <a:lnTo>
                  <a:pt x="10" y="15"/>
                </a:lnTo>
                <a:lnTo>
                  <a:pt x="12" y="12"/>
                </a:lnTo>
                <a:lnTo>
                  <a:pt x="13" y="10"/>
                </a:lnTo>
                <a:lnTo>
                  <a:pt x="15" y="8"/>
                </a:lnTo>
                <a:lnTo>
                  <a:pt x="17" y="7"/>
                </a:lnTo>
                <a:lnTo>
                  <a:pt x="20" y="3"/>
                </a:lnTo>
                <a:lnTo>
                  <a:pt x="17"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49" name="Freeform 2254">
            <a:extLst>
              <a:ext uri="{FF2B5EF4-FFF2-40B4-BE49-F238E27FC236}">
                <a16:creationId xmlns:a16="http://schemas.microsoft.com/office/drawing/2014/main" id="{E4850230-11EA-3F32-84BD-8CC31A5A500F}"/>
              </a:ext>
            </a:extLst>
          </p:cNvPr>
          <p:cNvSpPr>
            <a:spLocks/>
          </p:cNvSpPr>
          <p:nvPr/>
        </p:nvSpPr>
        <p:spPr bwMode="auto">
          <a:xfrm>
            <a:off x="2786063" y="2451100"/>
            <a:ext cx="28575" cy="33338"/>
          </a:xfrm>
          <a:custGeom>
            <a:avLst/>
            <a:gdLst>
              <a:gd name="T0" fmla="*/ 15 w 18"/>
              <a:gd name="T1" fmla="*/ 0 h 21"/>
              <a:gd name="T2" fmla="*/ 12 w 18"/>
              <a:gd name="T3" fmla="*/ 3 h 21"/>
              <a:gd name="T4" fmla="*/ 10 w 18"/>
              <a:gd name="T5" fmla="*/ 5 h 21"/>
              <a:gd name="T6" fmla="*/ 9 w 18"/>
              <a:gd name="T7" fmla="*/ 6 h 21"/>
              <a:gd name="T8" fmla="*/ 7 w 18"/>
              <a:gd name="T9" fmla="*/ 10 h 21"/>
              <a:gd name="T10" fmla="*/ 5 w 18"/>
              <a:gd name="T11" fmla="*/ 11 h 21"/>
              <a:gd name="T12" fmla="*/ 4 w 18"/>
              <a:gd name="T13" fmla="*/ 13 h 21"/>
              <a:gd name="T14" fmla="*/ 2 w 18"/>
              <a:gd name="T15" fmla="*/ 16 h 21"/>
              <a:gd name="T16" fmla="*/ 0 w 18"/>
              <a:gd name="T17" fmla="*/ 18 h 21"/>
              <a:gd name="T18" fmla="*/ 4 w 18"/>
              <a:gd name="T19" fmla="*/ 21 h 21"/>
              <a:gd name="T20" fmla="*/ 5 w 18"/>
              <a:gd name="T21" fmla="*/ 20 h 21"/>
              <a:gd name="T22" fmla="*/ 7 w 18"/>
              <a:gd name="T23" fmla="*/ 16 h 21"/>
              <a:gd name="T24" fmla="*/ 9 w 18"/>
              <a:gd name="T25" fmla="*/ 15 h 21"/>
              <a:gd name="T26" fmla="*/ 10 w 18"/>
              <a:gd name="T27" fmla="*/ 11 h 21"/>
              <a:gd name="T28" fmla="*/ 12 w 18"/>
              <a:gd name="T29" fmla="*/ 10 h 21"/>
              <a:gd name="T30" fmla="*/ 14 w 18"/>
              <a:gd name="T31" fmla="*/ 8 h 21"/>
              <a:gd name="T32" fmla="*/ 17 w 18"/>
              <a:gd name="T33" fmla="*/ 6 h 21"/>
              <a:gd name="T34" fmla="*/ 18 w 18"/>
              <a:gd name="T35" fmla="*/ 3 h 21"/>
              <a:gd name="T36" fmla="*/ 15 w 18"/>
              <a:gd name="T37" fmla="*/ 0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21">
                <a:moveTo>
                  <a:pt x="15" y="0"/>
                </a:moveTo>
                <a:lnTo>
                  <a:pt x="12" y="3"/>
                </a:lnTo>
                <a:lnTo>
                  <a:pt x="10" y="5"/>
                </a:lnTo>
                <a:lnTo>
                  <a:pt x="9" y="6"/>
                </a:lnTo>
                <a:lnTo>
                  <a:pt x="7" y="10"/>
                </a:lnTo>
                <a:lnTo>
                  <a:pt x="5" y="11"/>
                </a:lnTo>
                <a:lnTo>
                  <a:pt x="4" y="13"/>
                </a:lnTo>
                <a:lnTo>
                  <a:pt x="2" y="16"/>
                </a:lnTo>
                <a:lnTo>
                  <a:pt x="0" y="18"/>
                </a:lnTo>
                <a:lnTo>
                  <a:pt x="4" y="21"/>
                </a:lnTo>
                <a:lnTo>
                  <a:pt x="5" y="20"/>
                </a:lnTo>
                <a:lnTo>
                  <a:pt x="7" y="16"/>
                </a:lnTo>
                <a:lnTo>
                  <a:pt x="9" y="15"/>
                </a:lnTo>
                <a:lnTo>
                  <a:pt x="10" y="11"/>
                </a:lnTo>
                <a:lnTo>
                  <a:pt x="12" y="10"/>
                </a:lnTo>
                <a:lnTo>
                  <a:pt x="14" y="8"/>
                </a:lnTo>
                <a:lnTo>
                  <a:pt x="17" y="6"/>
                </a:lnTo>
                <a:lnTo>
                  <a:pt x="18" y="3"/>
                </a:lnTo>
                <a:lnTo>
                  <a:pt x="15"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50" name="Freeform 2255">
            <a:extLst>
              <a:ext uri="{FF2B5EF4-FFF2-40B4-BE49-F238E27FC236}">
                <a16:creationId xmlns:a16="http://schemas.microsoft.com/office/drawing/2014/main" id="{B6BDA6FE-F53B-E4FD-42EE-40A3791DC837}"/>
              </a:ext>
            </a:extLst>
          </p:cNvPr>
          <p:cNvSpPr>
            <a:spLocks/>
          </p:cNvSpPr>
          <p:nvPr/>
        </p:nvSpPr>
        <p:spPr bwMode="auto">
          <a:xfrm>
            <a:off x="2789238" y="2452688"/>
            <a:ext cx="28575" cy="34925"/>
          </a:xfrm>
          <a:custGeom>
            <a:avLst/>
            <a:gdLst>
              <a:gd name="T0" fmla="*/ 15 w 18"/>
              <a:gd name="T1" fmla="*/ 0 h 22"/>
              <a:gd name="T2" fmla="*/ 12 w 18"/>
              <a:gd name="T3" fmla="*/ 4 h 22"/>
              <a:gd name="T4" fmla="*/ 10 w 18"/>
              <a:gd name="T5" fmla="*/ 5 h 22"/>
              <a:gd name="T6" fmla="*/ 8 w 18"/>
              <a:gd name="T7" fmla="*/ 7 h 22"/>
              <a:gd name="T8" fmla="*/ 7 w 18"/>
              <a:gd name="T9" fmla="*/ 9 h 22"/>
              <a:gd name="T10" fmla="*/ 5 w 18"/>
              <a:gd name="T11" fmla="*/ 12 h 22"/>
              <a:gd name="T12" fmla="*/ 3 w 18"/>
              <a:gd name="T13" fmla="*/ 14 h 22"/>
              <a:gd name="T14" fmla="*/ 2 w 18"/>
              <a:gd name="T15" fmla="*/ 17 h 22"/>
              <a:gd name="T16" fmla="*/ 0 w 18"/>
              <a:gd name="T17" fmla="*/ 19 h 22"/>
              <a:gd name="T18" fmla="*/ 3 w 18"/>
              <a:gd name="T19" fmla="*/ 22 h 22"/>
              <a:gd name="T20" fmla="*/ 5 w 18"/>
              <a:gd name="T21" fmla="*/ 19 h 22"/>
              <a:gd name="T22" fmla="*/ 7 w 18"/>
              <a:gd name="T23" fmla="*/ 17 h 22"/>
              <a:gd name="T24" fmla="*/ 8 w 18"/>
              <a:gd name="T25" fmla="*/ 15 h 22"/>
              <a:gd name="T26" fmla="*/ 10 w 18"/>
              <a:gd name="T27" fmla="*/ 12 h 22"/>
              <a:gd name="T28" fmla="*/ 12 w 18"/>
              <a:gd name="T29" fmla="*/ 10 h 22"/>
              <a:gd name="T30" fmla="*/ 13 w 18"/>
              <a:gd name="T31" fmla="*/ 9 h 22"/>
              <a:gd name="T32" fmla="*/ 16 w 18"/>
              <a:gd name="T33" fmla="*/ 7 h 22"/>
              <a:gd name="T34" fmla="*/ 18 w 18"/>
              <a:gd name="T35" fmla="*/ 4 h 22"/>
              <a:gd name="T36" fmla="*/ 15 w 18"/>
              <a:gd name="T37" fmla="*/ 0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22">
                <a:moveTo>
                  <a:pt x="15" y="0"/>
                </a:moveTo>
                <a:lnTo>
                  <a:pt x="12" y="4"/>
                </a:lnTo>
                <a:lnTo>
                  <a:pt x="10" y="5"/>
                </a:lnTo>
                <a:lnTo>
                  <a:pt x="8" y="7"/>
                </a:lnTo>
                <a:lnTo>
                  <a:pt x="7" y="9"/>
                </a:lnTo>
                <a:lnTo>
                  <a:pt x="5" y="12"/>
                </a:lnTo>
                <a:lnTo>
                  <a:pt x="3" y="14"/>
                </a:lnTo>
                <a:lnTo>
                  <a:pt x="2" y="17"/>
                </a:lnTo>
                <a:lnTo>
                  <a:pt x="0" y="19"/>
                </a:lnTo>
                <a:lnTo>
                  <a:pt x="3" y="22"/>
                </a:lnTo>
                <a:lnTo>
                  <a:pt x="5" y="19"/>
                </a:lnTo>
                <a:lnTo>
                  <a:pt x="7" y="17"/>
                </a:lnTo>
                <a:lnTo>
                  <a:pt x="8" y="15"/>
                </a:lnTo>
                <a:lnTo>
                  <a:pt x="10" y="12"/>
                </a:lnTo>
                <a:lnTo>
                  <a:pt x="12" y="10"/>
                </a:lnTo>
                <a:lnTo>
                  <a:pt x="13" y="9"/>
                </a:lnTo>
                <a:lnTo>
                  <a:pt x="16" y="7"/>
                </a:lnTo>
                <a:lnTo>
                  <a:pt x="18" y="4"/>
                </a:lnTo>
                <a:lnTo>
                  <a:pt x="15"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51" name="Freeform 2256">
            <a:extLst>
              <a:ext uri="{FF2B5EF4-FFF2-40B4-BE49-F238E27FC236}">
                <a16:creationId xmlns:a16="http://schemas.microsoft.com/office/drawing/2014/main" id="{A4960E50-F871-4440-E58D-E6EA38018E38}"/>
              </a:ext>
            </a:extLst>
          </p:cNvPr>
          <p:cNvSpPr>
            <a:spLocks/>
          </p:cNvSpPr>
          <p:nvPr/>
        </p:nvSpPr>
        <p:spPr bwMode="auto">
          <a:xfrm>
            <a:off x="2792413" y="2455863"/>
            <a:ext cx="28575" cy="31750"/>
          </a:xfrm>
          <a:custGeom>
            <a:avLst/>
            <a:gdLst>
              <a:gd name="T0" fmla="*/ 14 w 18"/>
              <a:gd name="T1" fmla="*/ 0 h 20"/>
              <a:gd name="T2" fmla="*/ 13 w 18"/>
              <a:gd name="T3" fmla="*/ 3 h 20"/>
              <a:gd name="T4" fmla="*/ 10 w 18"/>
              <a:gd name="T5" fmla="*/ 5 h 20"/>
              <a:gd name="T6" fmla="*/ 8 w 18"/>
              <a:gd name="T7" fmla="*/ 7 h 20"/>
              <a:gd name="T8" fmla="*/ 6 w 18"/>
              <a:gd name="T9" fmla="*/ 8 h 20"/>
              <a:gd name="T10" fmla="*/ 5 w 18"/>
              <a:gd name="T11" fmla="*/ 12 h 20"/>
              <a:gd name="T12" fmla="*/ 3 w 18"/>
              <a:gd name="T13" fmla="*/ 13 h 20"/>
              <a:gd name="T14" fmla="*/ 1 w 18"/>
              <a:gd name="T15" fmla="*/ 17 h 20"/>
              <a:gd name="T16" fmla="*/ 0 w 18"/>
              <a:gd name="T17" fmla="*/ 18 h 20"/>
              <a:gd name="T18" fmla="*/ 5 w 18"/>
              <a:gd name="T19" fmla="*/ 20 h 20"/>
              <a:gd name="T20" fmla="*/ 5 w 18"/>
              <a:gd name="T21" fmla="*/ 18 h 20"/>
              <a:gd name="T22" fmla="*/ 6 w 18"/>
              <a:gd name="T23" fmla="*/ 17 h 20"/>
              <a:gd name="T24" fmla="*/ 8 w 18"/>
              <a:gd name="T25" fmla="*/ 13 h 20"/>
              <a:gd name="T26" fmla="*/ 10 w 18"/>
              <a:gd name="T27" fmla="*/ 12 h 20"/>
              <a:gd name="T28" fmla="*/ 11 w 18"/>
              <a:gd name="T29" fmla="*/ 10 h 20"/>
              <a:gd name="T30" fmla="*/ 14 w 18"/>
              <a:gd name="T31" fmla="*/ 8 h 20"/>
              <a:gd name="T32" fmla="*/ 16 w 18"/>
              <a:gd name="T33" fmla="*/ 7 h 20"/>
              <a:gd name="T34" fmla="*/ 18 w 18"/>
              <a:gd name="T35" fmla="*/ 3 h 20"/>
              <a:gd name="T36" fmla="*/ 14 w 18"/>
              <a:gd name="T37" fmla="*/ 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20">
                <a:moveTo>
                  <a:pt x="14" y="0"/>
                </a:moveTo>
                <a:lnTo>
                  <a:pt x="13" y="3"/>
                </a:lnTo>
                <a:lnTo>
                  <a:pt x="10" y="5"/>
                </a:lnTo>
                <a:lnTo>
                  <a:pt x="8" y="7"/>
                </a:lnTo>
                <a:lnTo>
                  <a:pt x="6" y="8"/>
                </a:lnTo>
                <a:lnTo>
                  <a:pt x="5" y="12"/>
                </a:lnTo>
                <a:lnTo>
                  <a:pt x="3" y="13"/>
                </a:lnTo>
                <a:lnTo>
                  <a:pt x="1" y="17"/>
                </a:lnTo>
                <a:lnTo>
                  <a:pt x="0" y="18"/>
                </a:lnTo>
                <a:lnTo>
                  <a:pt x="5" y="20"/>
                </a:lnTo>
                <a:lnTo>
                  <a:pt x="5" y="18"/>
                </a:lnTo>
                <a:lnTo>
                  <a:pt x="6" y="17"/>
                </a:lnTo>
                <a:lnTo>
                  <a:pt x="8" y="13"/>
                </a:lnTo>
                <a:lnTo>
                  <a:pt x="10" y="12"/>
                </a:lnTo>
                <a:lnTo>
                  <a:pt x="11" y="10"/>
                </a:lnTo>
                <a:lnTo>
                  <a:pt x="14" y="8"/>
                </a:lnTo>
                <a:lnTo>
                  <a:pt x="16" y="7"/>
                </a:lnTo>
                <a:lnTo>
                  <a:pt x="18" y="3"/>
                </a:lnTo>
                <a:lnTo>
                  <a:pt x="14"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52" name="Freeform 2257">
            <a:extLst>
              <a:ext uri="{FF2B5EF4-FFF2-40B4-BE49-F238E27FC236}">
                <a16:creationId xmlns:a16="http://schemas.microsoft.com/office/drawing/2014/main" id="{B315D272-E396-06E6-2B73-22DFB7B07075}"/>
              </a:ext>
            </a:extLst>
          </p:cNvPr>
          <p:cNvSpPr>
            <a:spLocks/>
          </p:cNvSpPr>
          <p:nvPr/>
        </p:nvSpPr>
        <p:spPr bwMode="auto">
          <a:xfrm>
            <a:off x="2794000" y="2459038"/>
            <a:ext cx="28575" cy="30163"/>
          </a:xfrm>
          <a:custGeom>
            <a:avLst/>
            <a:gdLst>
              <a:gd name="T0" fmla="*/ 15 w 18"/>
              <a:gd name="T1" fmla="*/ 0 h 19"/>
              <a:gd name="T2" fmla="*/ 13 w 18"/>
              <a:gd name="T3" fmla="*/ 3 h 19"/>
              <a:gd name="T4" fmla="*/ 10 w 18"/>
              <a:gd name="T5" fmla="*/ 5 h 19"/>
              <a:gd name="T6" fmla="*/ 9 w 18"/>
              <a:gd name="T7" fmla="*/ 6 h 19"/>
              <a:gd name="T8" fmla="*/ 7 w 18"/>
              <a:gd name="T9" fmla="*/ 8 h 19"/>
              <a:gd name="T10" fmla="*/ 5 w 18"/>
              <a:gd name="T11" fmla="*/ 11 h 19"/>
              <a:gd name="T12" fmla="*/ 4 w 18"/>
              <a:gd name="T13" fmla="*/ 13 h 19"/>
              <a:gd name="T14" fmla="*/ 2 w 18"/>
              <a:gd name="T15" fmla="*/ 15 h 19"/>
              <a:gd name="T16" fmla="*/ 0 w 18"/>
              <a:gd name="T17" fmla="*/ 18 h 19"/>
              <a:gd name="T18" fmla="*/ 5 w 18"/>
              <a:gd name="T19" fmla="*/ 19 h 19"/>
              <a:gd name="T20" fmla="*/ 7 w 18"/>
              <a:gd name="T21" fmla="*/ 18 h 19"/>
              <a:gd name="T22" fmla="*/ 9 w 18"/>
              <a:gd name="T23" fmla="*/ 16 h 19"/>
              <a:gd name="T24" fmla="*/ 10 w 18"/>
              <a:gd name="T25" fmla="*/ 13 h 19"/>
              <a:gd name="T26" fmla="*/ 12 w 18"/>
              <a:gd name="T27" fmla="*/ 11 h 19"/>
              <a:gd name="T28" fmla="*/ 13 w 18"/>
              <a:gd name="T29" fmla="*/ 10 h 19"/>
              <a:gd name="T30" fmla="*/ 15 w 18"/>
              <a:gd name="T31" fmla="*/ 8 h 19"/>
              <a:gd name="T32" fmla="*/ 17 w 18"/>
              <a:gd name="T33" fmla="*/ 5 h 19"/>
              <a:gd name="T34" fmla="*/ 18 w 18"/>
              <a:gd name="T35" fmla="*/ 3 h 19"/>
              <a:gd name="T36" fmla="*/ 15 w 18"/>
              <a:gd name="T37" fmla="*/ 0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19">
                <a:moveTo>
                  <a:pt x="15" y="0"/>
                </a:moveTo>
                <a:lnTo>
                  <a:pt x="13" y="3"/>
                </a:lnTo>
                <a:lnTo>
                  <a:pt x="10" y="5"/>
                </a:lnTo>
                <a:lnTo>
                  <a:pt x="9" y="6"/>
                </a:lnTo>
                <a:lnTo>
                  <a:pt x="7" y="8"/>
                </a:lnTo>
                <a:lnTo>
                  <a:pt x="5" y="11"/>
                </a:lnTo>
                <a:lnTo>
                  <a:pt x="4" y="13"/>
                </a:lnTo>
                <a:lnTo>
                  <a:pt x="2" y="15"/>
                </a:lnTo>
                <a:lnTo>
                  <a:pt x="0" y="18"/>
                </a:lnTo>
                <a:lnTo>
                  <a:pt x="5" y="19"/>
                </a:lnTo>
                <a:lnTo>
                  <a:pt x="7" y="18"/>
                </a:lnTo>
                <a:lnTo>
                  <a:pt x="9" y="16"/>
                </a:lnTo>
                <a:lnTo>
                  <a:pt x="10" y="13"/>
                </a:lnTo>
                <a:lnTo>
                  <a:pt x="12" y="11"/>
                </a:lnTo>
                <a:lnTo>
                  <a:pt x="13" y="10"/>
                </a:lnTo>
                <a:lnTo>
                  <a:pt x="15" y="8"/>
                </a:lnTo>
                <a:lnTo>
                  <a:pt x="17" y="5"/>
                </a:lnTo>
                <a:lnTo>
                  <a:pt x="18" y="3"/>
                </a:lnTo>
                <a:lnTo>
                  <a:pt x="15"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53" name="Freeform 2258">
            <a:extLst>
              <a:ext uri="{FF2B5EF4-FFF2-40B4-BE49-F238E27FC236}">
                <a16:creationId xmlns:a16="http://schemas.microsoft.com/office/drawing/2014/main" id="{338BA62E-E0B1-1B5D-C5AE-DA7C8D095415}"/>
              </a:ext>
            </a:extLst>
          </p:cNvPr>
          <p:cNvSpPr>
            <a:spLocks/>
          </p:cNvSpPr>
          <p:nvPr/>
        </p:nvSpPr>
        <p:spPr bwMode="auto">
          <a:xfrm>
            <a:off x="2800350" y="2460625"/>
            <a:ext cx="25400" cy="31750"/>
          </a:xfrm>
          <a:custGeom>
            <a:avLst/>
            <a:gdLst>
              <a:gd name="T0" fmla="*/ 13 w 16"/>
              <a:gd name="T1" fmla="*/ 0 h 20"/>
              <a:gd name="T2" fmla="*/ 11 w 16"/>
              <a:gd name="T3" fmla="*/ 4 h 20"/>
              <a:gd name="T4" fmla="*/ 9 w 16"/>
              <a:gd name="T5" fmla="*/ 5 h 20"/>
              <a:gd name="T6" fmla="*/ 6 w 16"/>
              <a:gd name="T7" fmla="*/ 7 h 20"/>
              <a:gd name="T8" fmla="*/ 5 w 16"/>
              <a:gd name="T9" fmla="*/ 9 h 20"/>
              <a:gd name="T10" fmla="*/ 3 w 16"/>
              <a:gd name="T11" fmla="*/ 10 h 20"/>
              <a:gd name="T12" fmla="*/ 1 w 16"/>
              <a:gd name="T13" fmla="*/ 14 h 20"/>
              <a:gd name="T14" fmla="*/ 0 w 16"/>
              <a:gd name="T15" fmla="*/ 15 h 20"/>
              <a:gd name="T16" fmla="*/ 0 w 16"/>
              <a:gd name="T17" fmla="*/ 17 h 20"/>
              <a:gd name="T18" fmla="*/ 3 w 16"/>
              <a:gd name="T19" fmla="*/ 20 h 20"/>
              <a:gd name="T20" fmla="*/ 5 w 16"/>
              <a:gd name="T21" fmla="*/ 18 h 20"/>
              <a:gd name="T22" fmla="*/ 6 w 16"/>
              <a:gd name="T23" fmla="*/ 15 h 20"/>
              <a:gd name="T24" fmla="*/ 8 w 16"/>
              <a:gd name="T25" fmla="*/ 14 h 20"/>
              <a:gd name="T26" fmla="*/ 9 w 16"/>
              <a:gd name="T27" fmla="*/ 12 h 20"/>
              <a:gd name="T28" fmla="*/ 11 w 16"/>
              <a:gd name="T29" fmla="*/ 10 h 20"/>
              <a:gd name="T30" fmla="*/ 13 w 16"/>
              <a:gd name="T31" fmla="*/ 9 h 20"/>
              <a:gd name="T32" fmla="*/ 14 w 16"/>
              <a:gd name="T33" fmla="*/ 5 h 20"/>
              <a:gd name="T34" fmla="*/ 16 w 16"/>
              <a:gd name="T35" fmla="*/ 4 h 20"/>
              <a:gd name="T36" fmla="*/ 13 w 16"/>
              <a:gd name="T37" fmla="*/ 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6" h="20">
                <a:moveTo>
                  <a:pt x="13" y="0"/>
                </a:moveTo>
                <a:lnTo>
                  <a:pt x="11" y="4"/>
                </a:lnTo>
                <a:lnTo>
                  <a:pt x="9" y="5"/>
                </a:lnTo>
                <a:lnTo>
                  <a:pt x="6" y="7"/>
                </a:lnTo>
                <a:lnTo>
                  <a:pt x="5" y="9"/>
                </a:lnTo>
                <a:lnTo>
                  <a:pt x="3" y="10"/>
                </a:lnTo>
                <a:lnTo>
                  <a:pt x="1" y="14"/>
                </a:lnTo>
                <a:lnTo>
                  <a:pt x="0" y="15"/>
                </a:lnTo>
                <a:lnTo>
                  <a:pt x="0" y="17"/>
                </a:lnTo>
                <a:lnTo>
                  <a:pt x="3" y="20"/>
                </a:lnTo>
                <a:lnTo>
                  <a:pt x="5" y="18"/>
                </a:lnTo>
                <a:lnTo>
                  <a:pt x="6" y="15"/>
                </a:lnTo>
                <a:lnTo>
                  <a:pt x="8" y="14"/>
                </a:lnTo>
                <a:lnTo>
                  <a:pt x="9" y="12"/>
                </a:lnTo>
                <a:lnTo>
                  <a:pt x="11" y="10"/>
                </a:lnTo>
                <a:lnTo>
                  <a:pt x="13" y="9"/>
                </a:lnTo>
                <a:lnTo>
                  <a:pt x="14" y="5"/>
                </a:lnTo>
                <a:lnTo>
                  <a:pt x="16" y="4"/>
                </a:lnTo>
                <a:lnTo>
                  <a:pt x="13"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54" name="Freeform 2259">
            <a:extLst>
              <a:ext uri="{FF2B5EF4-FFF2-40B4-BE49-F238E27FC236}">
                <a16:creationId xmlns:a16="http://schemas.microsoft.com/office/drawing/2014/main" id="{4B21ABC2-9226-8111-2448-08C7D6EA2047}"/>
              </a:ext>
            </a:extLst>
          </p:cNvPr>
          <p:cNvSpPr>
            <a:spLocks/>
          </p:cNvSpPr>
          <p:nvPr/>
        </p:nvSpPr>
        <p:spPr bwMode="auto">
          <a:xfrm>
            <a:off x="2801938" y="2463800"/>
            <a:ext cx="26988" cy="31750"/>
          </a:xfrm>
          <a:custGeom>
            <a:avLst/>
            <a:gdLst>
              <a:gd name="T0" fmla="*/ 13 w 17"/>
              <a:gd name="T1" fmla="*/ 0 h 20"/>
              <a:gd name="T2" fmla="*/ 12 w 17"/>
              <a:gd name="T3" fmla="*/ 2 h 20"/>
              <a:gd name="T4" fmla="*/ 10 w 17"/>
              <a:gd name="T5" fmla="*/ 5 h 20"/>
              <a:gd name="T6" fmla="*/ 8 w 17"/>
              <a:gd name="T7" fmla="*/ 7 h 20"/>
              <a:gd name="T8" fmla="*/ 7 w 17"/>
              <a:gd name="T9" fmla="*/ 8 h 20"/>
              <a:gd name="T10" fmla="*/ 5 w 17"/>
              <a:gd name="T11" fmla="*/ 10 h 20"/>
              <a:gd name="T12" fmla="*/ 4 w 17"/>
              <a:gd name="T13" fmla="*/ 13 h 20"/>
              <a:gd name="T14" fmla="*/ 2 w 17"/>
              <a:gd name="T15" fmla="*/ 15 h 20"/>
              <a:gd name="T16" fmla="*/ 0 w 17"/>
              <a:gd name="T17" fmla="*/ 16 h 20"/>
              <a:gd name="T18" fmla="*/ 4 w 17"/>
              <a:gd name="T19" fmla="*/ 20 h 20"/>
              <a:gd name="T20" fmla="*/ 5 w 17"/>
              <a:gd name="T21" fmla="*/ 16 h 20"/>
              <a:gd name="T22" fmla="*/ 7 w 17"/>
              <a:gd name="T23" fmla="*/ 15 h 20"/>
              <a:gd name="T24" fmla="*/ 8 w 17"/>
              <a:gd name="T25" fmla="*/ 13 h 20"/>
              <a:gd name="T26" fmla="*/ 10 w 17"/>
              <a:gd name="T27" fmla="*/ 12 h 20"/>
              <a:gd name="T28" fmla="*/ 12 w 17"/>
              <a:gd name="T29" fmla="*/ 10 h 20"/>
              <a:gd name="T30" fmla="*/ 13 w 17"/>
              <a:gd name="T31" fmla="*/ 8 h 20"/>
              <a:gd name="T32" fmla="*/ 15 w 17"/>
              <a:gd name="T33" fmla="*/ 5 h 20"/>
              <a:gd name="T34" fmla="*/ 17 w 17"/>
              <a:gd name="T35" fmla="*/ 3 h 20"/>
              <a:gd name="T36" fmla="*/ 13 w 17"/>
              <a:gd name="T37" fmla="*/ 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 h="20">
                <a:moveTo>
                  <a:pt x="13" y="0"/>
                </a:moveTo>
                <a:lnTo>
                  <a:pt x="12" y="2"/>
                </a:lnTo>
                <a:lnTo>
                  <a:pt x="10" y="5"/>
                </a:lnTo>
                <a:lnTo>
                  <a:pt x="8" y="7"/>
                </a:lnTo>
                <a:lnTo>
                  <a:pt x="7" y="8"/>
                </a:lnTo>
                <a:lnTo>
                  <a:pt x="5" y="10"/>
                </a:lnTo>
                <a:lnTo>
                  <a:pt x="4" y="13"/>
                </a:lnTo>
                <a:lnTo>
                  <a:pt x="2" y="15"/>
                </a:lnTo>
                <a:lnTo>
                  <a:pt x="0" y="16"/>
                </a:lnTo>
                <a:lnTo>
                  <a:pt x="4" y="20"/>
                </a:lnTo>
                <a:lnTo>
                  <a:pt x="5" y="16"/>
                </a:lnTo>
                <a:lnTo>
                  <a:pt x="7" y="15"/>
                </a:lnTo>
                <a:lnTo>
                  <a:pt x="8" y="13"/>
                </a:lnTo>
                <a:lnTo>
                  <a:pt x="10" y="12"/>
                </a:lnTo>
                <a:lnTo>
                  <a:pt x="12" y="10"/>
                </a:lnTo>
                <a:lnTo>
                  <a:pt x="13" y="8"/>
                </a:lnTo>
                <a:lnTo>
                  <a:pt x="15" y="5"/>
                </a:lnTo>
                <a:lnTo>
                  <a:pt x="17" y="3"/>
                </a:lnTo>
                <a:lnTo>
                  <a:pt x="13"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55" name="Freeform 2260">
            <a:extLst>
              <a:ext uri="{FF2B5EF4-FFF2-40B4-BE49-F238E27FC236}">
                <a16:creationId xmlns:a16="http://schemas.microsoft.com/office/drawing/2014/main" id="{C27AEA3F-EC3E-2BA0-CB3E-A4EE304F6D64}"/>
              </a:ext>
            </a:extLst>
          </p:cNvPr>
          <p:cNvSpPr>
            <a:spLocks/>
          </p:cNvSpPr>
          <p:nvPr/>
        </p:nvSpPr>
        <p:spPr bwMode="auto">
          <a:xfrm>
            <a:off x="2805113" y="2466975"/>
            <a:ext cx="25400" cy="30163"/>
          </a:xfrm>
          <a:custGeom>
            <a:avLst/>
            <a:gdLst>
              <a:gd name="T0" fmla="*/ 13 w 16"/>
              <a:gd name="T1" fmla="*/ 0 h 19"/>
              <a:gd name="T2" fmla="*/ 11 w 16"/>
              <a:gd name="T3" fmla="*/ 1 h 19"/>
              <a:gd name="T4" fmla="*/ 10 w 16"/>
              <a:gd name="T5" fmla="*/ 5 h 19"/>
              <a:gd name="T6" fmla="*/ 8 w 16"/>
              <a:gd name="T7" fmla="*/ 6 h 19"/>
              <a:gd name="T8" fmla="*/ 6 w 16"/>
              <a:gd name="T9" fmla="*/ 8 h 19"/>
              <a:gd name="T10" fmla="*/ 5 w 16"/>
              <a:gd name="T11" fmla="*/ 10 h 19"/>
              <a:gd name="T12" fmla="*/ 3 w 16"/>
              <a:gd name="T13" fmla="*/ 11 h 19"/>
              <a:gd name="T14" fmla="*/ 2 w 16"/>
              <a:gd name="T15" fmla="*/ 14 h 19"/>
              <a:gd name="T16" fmla="*/ 0 w 16"/>
              <a:gd name="T17" fmla="*/ 16 h 19"/>
              <a:gd name="T18" fmla="*/ 5 w 16"/>
              <a:gd name="T19" fmla="*/ 19 h 19"/>
              <a:gd name="T20" fmla="*/ 5 w 16"/>
              <a:gd name="T21" fmla="*/ 16 h 19"/>
              <a:gd name="T22" fmla="*/ 6 w 16"/>
              <a:gd name="T23" fmla="*/ 14 h 19"/>
              <a:gd name="T24" fmla="*/ 8 w 16"/>
              <a:gd name="T25" fmla="*/ 13 h 19"/>
              <a:gd name="T26" fmla="*/ 10 w 16"/>
              <a:gd name="T27" fmla="*/ 11 h 19"/>
              <a:gd name="T28" fmla="*/ 11 w 16"/>
              <a:gd name="T29" fmla="*/ 10 h 19"/>
              <a:gd name="T30" fmla="*/ 13 w 16"/>
              <a:gd name="T31" fmla="*/ 8 h 19"/>
              <a:gd name="T32" fmla="*/ 15 w 16"/>
              <a:gd name="T33" fmla="*/ 5 h 19"/>
              <a:gd name="T34" fmla="*/ 16 w 16"/>
              <a:gd name="T35" fmla="*/ 3 h 19"/>
              <a:gd name="T36" fmla="*/ 13 w 16"/>
              <a:gd name="T37" fmla="*/ 0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6" h="19">
                <a:moveTo>
                  <a:pt x="13" y="0"/>
                </a:moveTo>
                <a:lnTo>
                  <a:pt x="11" y="1"/>
                </a:lnTo>
                <a:lnTo>
                  <a:pt x="10" y="5"/>
                </a:lnTo>
                <a:lnTo>
                  <a:pt x="8" y="6"/>
                </a:lnTo>
                <a:lnTo>
                  <a:pt x="6" y="8"/>
                </a:lnTo>
                <a:lnTo>
                  <a:pt x="5" y="10"/>
                </a:lnTo>
                <a:lnTo>
                  <a:pt x="3" y="11"/>
                </a:lnTo>
                <a:lnTo>
                  <a:pt x="2" y="14"/>
                </a:lnTo>
                <a:lnTo>
                  <a:pt x="0" y="16"/>
                </a:lnTo>
                <a:lnTo>
                  <a:pt x="5" y="19"/>
                </a:lnTo>
                <a:lnTo>
                  <a:pt x="5" y="16"/>
                </a:lnTo>
                <a:lnTo>
                  <a:pt x="6" y="14"/>
                </a:lnTo>
                <a:lnTo>
                  <a:pt x="8" y="13"/>
                </a:lnTo>
                <a:lnTo>
                  <a:pt x="10" y="11"/>
                </a:lnTo>
                <a:lnTo>
                  <a:pt x="11" y="10"/>
                </a:lnTo>
                <a:lnTo>
                  <a:pt x="13" y="8"/>
                </a:lnTo>
                <a:lnTo>
                  <a:pt x="15" y="5"/>
                </a:lnTo>
                <a:lnTo>
                  <a:pt x="16" y="3"/>
                </a:lnTo>
                <a:lnTo>
                  <a:pt x="13"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56" name="Freeform 2261">
            <a:extLst>
              <a:ext uri="{FF2B5EF4-FFF2-40B4-BE49-F238E27FC236}">
                <a16:creationId xmlns:a16="http://schemas.microsoft.com/office/drawing/2014/main" id="{F140E2F0-0F51-96C2-2445-6B03333CCBB3}"/>
              </a:ext>
            </a:extLst>
          </p:cNvPr>
          <p:cNvSpPr>
            <a:spLocks/>
          </p:cNvSpPr>
          <p:nvPr/>
        </p:nvSpPr>
        <p:spPr bwMode="auto">
          <a:xfrm>
            <a:off x="2808288" y="2468563"/>
            <a:ext cx="25400" cy="28575"/>
          </a:xfrm>
          <a:custGeom>
            <a:avLst/>
            <a:gdLst>
              <a:gd name="T0" fmla="*/ 13 w 16"/>
              <a:gd name="T1" fmla="*/ 0 h 18"/>
              <a:gd name="T2" fmla="*/ 11 w 16"/>
              <a:gd name="T3" fmla="*/ 2 h 18"/>
              <a:gd name="T4" fmla="*/ 9 w 16"/>
              <a:gd name="T5" fmla="*/ 5 h 18"/>
              <a:gd name="T6" fmla="*/ 8 w 16"/>
              <a:gd name="T7" fmla="*/ 7 h 18"/>
              <a:gd name="T8" fmla="*/ 6 w 16"/>
              <a:gd name="T9" fmla="*/ 9 h 18"/>
              <a:gd name="T10" fmla="*/ 4 w 16"/>
              <a:gd name="T11" fmla="*/ 10 h 18"/>
              <a:gd name="T12" fmla="*/ 3 w 16"/>
              <a:gd name="T13" fmla="*/ 12 h 18"/>
              <a:gd name="T14" fmla="*/ 1 w 16"/>
              <a:gd name="T15" fmla="*/ 13 h 18"/>
              <a:gd name="T16" fmla="*/ 0 w 16"/>
              <a:gd name="T17" fmla="*/ 17 h 18"/>
              <a:gd name="T18" fmla="*/ 4 w 16"/>
              <a:gd name="T19" fmla="*/ 18 h 18"/>
              <a:gd name="T20" fmla="*/ 6 w 16"/>
              <a:gd name="T21" fmla="*/ 17 h 18"/>
              <a:gd name="T22" fmla="*/ 6 w 16"/>
              <a:gd name="T23" fmla="*/ 15 h 18"/>
              <a:gd name="T24" fmla="*/ 8 w 16"/>
              <a:gd name="T25" fmla="*/ 13 h 18"/>
              <a:gd name="T26" fmla="*/ 9 w 16"/>
              <a:gd name="T27" fmla="*/ 12 h 18"/>
              <a:gd name="T28" fmla="*/ 11 w 16"/>
              <a:gd name="T29" fmla="*/ 10 h 18"/>
              <a:gd name="T30" fmla="*/ 13 w 16"/>
              <a:gd name="T31" fmla="*/ 7 h 18"/>
              <a:gd name="T32" fmla="*/ 14 w 16"/>
              <a:gd name="T33" fmla="*/ 5 h 18"/>
              <a:gd name="T34" fmla="*/ 16 w 16"/>
              <a:gd name="T35" fmla="*/ 4 h 18"/>
              <a:gd name="T36" fmla="*/ 13 w 16"/>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6" h="18">
                <a:moveTo>
                  <a:pt x="13" y="0"/>
                </a:moveTo>
                <a:lnTo>
                  <a:pt x="11" y="2"/>
                </a:lnTo>
                <a:lnTo>
                  <a:pt x="9" y="5"/>
                </a:lnTo>
                <a:lnTo>
                  <a:pt x="8" y="7"/>
                </a:lnTo>
                <a:lnTo>
                  <a:pt x="6" y="9"/>
                </a:lnTo>
                <a:lnTo>
                  <a:pt x="4" y="10"/>
                </a:lnTo>
                <a:lnTo>
                  <a:pt x="3" y="12"/>
                </a:lnTo>
                <a:lnTo>
                  <a:pt x="1" y="13"/>
                </a:lnTo>
                <a:lnTo>
                  <a:pt x="0" y="17"/>
                </a:lnTo>
                <a:lnTo>
                  <a:pt x="4" y="18"/>
                </a:lnTo>
                <a:lnTo>
                  <a:pt x="6" y="17"/>
                </a:lnTo>
                <a:lnTo>
                  <a:pt x="6" y="15"/>
                </a:lnTo>
                <a:lnTo>
                  <a:pt x="8" y="13"/>
                </a:lnTo>
                <a:lnTo>
                  <a:pt x="9" y="12"/>
                </a:lnTo>
                <a:lnTo>
                  <a:pt x="11" y="10"/>
                </a:lnTo>
                <a:lnTo>
                  <a:pt x="13" y="7"/>
                </a:lnTo>
                <a:lnTo>
                  <a:pt x="14" y="5"/>
                </a:lnTo>
                <a:lnTo>
                  <a:pt x="16" y="4"/>
                </a:lnTo>
                <a:lnTo>
                  <a:pt x="13"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57" name="Freeform 2262">
            <a:extLst>
              <a:ext uri="{FF2B5EF4-FFF2-40B4-BE49-F238E27FC236}">
                <a16:creationId xmlns:a16="http://schemas.microsoft.com/office/drawing/2014/main" id="{6BB7AE03-70F7-54DF-12C6-5639C8F2CDCA}"/>
              </a:ext>
            </a:extLst>
          </p:cNvPr>
          <p:cNvSpPr>
            <a:spLocks/>
          </p:cNvSpPr>
          <p:nvPr/>
        </p:nvSpPr>
        <p:spPr bwMode="auto">
          <a:xfrm>
            <a:off x="2813050" y="2471738"/>
            <a:ext cx="23813" cy="28575"/>
          </a:xfrm>
          <a:custGeom>
            <a:avLst/>
            <a:gdLst>
              <a:gd name="T0" fmla="*/ 11 w 15"/>
              <a:gd name="T1" fmla="*/ 0 h 18"/>
              <a:gd name="T2" fmla="*/ 10 w 15"/>
              <a:gd name="T3" fmla="*/ 2 h 18"/>
              <a:gd name="T4" fmla="*/ 8 w 15"/>
              <a:gd name="T5" fmla="*/ 5 h 18"/>
              <a:gd name="T6" fmla="*/ 6 w 15"/>
              <a:gd name="T7" fmla="*/ 7 h 18"/>
              <a:gd name="T8" fmla="*/ 5 w 15"/>
              <a:gd name="T9" fmla="*/ 8 h 18"/>
              <a:gd name="T10" fmla="*/ 3 w 15"/>
              <a:gd name="T11" fmla="*/ 10 h 18"/>
              <a:gd name="T12" fmla="*/ 1 w 15"/>
              <a:gd name="T13" fmla="*/ 11 h 18"/>
              <a:gd name="T14" fmla="*/ 0 w 15"/>
              <a:gd name="T15" fmla="*/ 13 h 18"/>
              <a:gd name="T16" fmla="*/ 0 w 15"/>
              <a:gd name="T17" fmla="*/ 16 h 18"/>
              <a:gd name="T18" fmla="*/ 3 w 15"/>
              <a:gd name="T19" fmla="*/ 18 h 18"/>
              <a:gd name="T20" fmla="*/ 5 w 15"/>
              <a:gd name="T21" fmla="*/ 16 h 18"/>
              <a:gd name="T22" fmla="*/ 6 w 15"/>
              <a:gd name="T23" fmla="*/ 15 h 18"/>
              <a:gd name="T24" fmla="*/ 6 w 15"/>
              <a:gd name="T25" fmla="*/ 13 h 18"/>
              <a:gd name="T26" fmla="*/ 8 w 15"/>
              <a:gd name="T27" fmla="*/ 11 h 18"/>
              <a:gd name="T28" fmla="*/ 10 w 15"/>
              <a:gd name="T29" fmla="*/ 8 h 18"/>
              <a:gd name="T30" fmla="*/ 11 w 15"/>
              <a:gd name="T31" fmla="*/ 7 h 18"/>
              <a:gd name="T32" fmla="*/ 13 w 15"/>
              <a:gd name="T33" fmla="*/ 5 h 18"/>
              <a:gd name="T34" fmla="*/ 15 w 15"/>
              <a:gd name="T35" fmla="*/ 3 h 18"/>
              <a:gd name="T36" fmla="*/ 11 w 15"/>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8">
                <a:moveTo>
                  <a:pt x="11" y="0"/>
                </a:moveTo>
                <a:lnTo>
                  <a:pt x="10" y="2"/>
                </a:lnTo>
                <a:lnTo>
                  <a:pt x="8" y="5"/>
                </a:lnTo>
                <a:lnTo>
                  <a:pt x="6" y="7"/>
                </a:lnTo>
                <a:lnTo>
                  <a:pt x="5" y="8"/>
                </a:lnTo>
                <a:lnTo>
                  <a:pt x="3" y="10"/>
                </a:lnTo>
                <a:lnTo>
                  <a:pt x="1" y="11"/>
                </a:lnTo>
                <a:lnTo>
                  <a:pt x="0" y="13"/>
                </a:lnTo>
                <a:lnTo>
                  <a:pt x="0" y="16"/>
                </a:lnTo>
                <a:lnTo>
                  <a:pt x="3" y="18"/>
                </a:lnTo>
                <a:lnTo>
                  <a:pt x="5" y="16"/>
                </a:lnTo>
                <a:lnTo>
                  <a:pt x="6" y="15"/>
                </a:lnTo>
                <a:lnTo>
                  <a:pt x="6" y="13"/>
                </a:lnTo>
                <a:lnTo>
                  <a:pt x="8" y="11"/>
                </a:lnTo>
                <a:lnTo>
                  <a:pt x="10" y="8"/>
                </a:lnTo>
                <a:lnTo>
                  <a:pt x="11" y="7"/>
                </a:lnTo>
                <a:lnTo>
                  <a:pt x="13" y="5"/>
                </a:lnTo>
                <a:lnTo>
                  <a:pt x="15" y="3"/>
                </a:lnTo>
                <a:lnTo>
                  <a:pt x="11"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58" name="Freeform 2263">
            <a:extLst>
              <a:ext uri="{FF2B5EF4-FFF2-40B4-BE49-F238E27FC236}">
                <a16:creationId xmlns:a16="http://schemas.microsoft.com/office/drawing/2014/main" id="{B9CAAD5F-8FD9-942A-233E-345B10F147A1}"/>
              </a:ext>
            </a:extLst>
          </p:cNvPr>
          <p:cNvSpPr>
            <a:spLocks/>
          </p:cNvSpPr>
          <p:nvPr/>
        </p:nvSpPr>
        <p:spPr bwMode="auto">
          <a:xfrm>
            <a:off x="2814638" y="2474913"/>
            <a:ext cx="23813" cy="28575"/>
          </a:xfrm>
          <a:custGeom>
            <a:avLst/>
            <a:gdLst>
              <a:gd name="T0" fmla="*/ 12 w 15"/>
              <a:gd name="T1" fmla="*/ 0 h 18"/>
              <a:gd name="T2" fmla="*/ 10 w 15"/>
              <a:gd name="T3" fmla="*/ 1 h 18"/>
              <a:gd name="T4" fmla="*/ 9 w 15"/>
              <a:gd name="T5" fmla="*/ 3 h 18"/>
              <a:gd name="T6" fmla="*/ 7 w 15"/>
              <a:gd name="T7" fmla="*/ 6 h 18"/>
              <a:gd name="T8" fmla="*/ 5 w 15"/>
              <a:gd name="T9" fmla="*/ 8 h 18"/>
              <a:gd name="T10" fmla="*/ 4 w 15"/>
              <a:gd name="T11" fmla="*/ 9 h 18"/>
              <a:gd name="T12" fmla="*/ 2 w 15"/>
              <a:gd name="T13" fmla="*/ 11 h 18"/>
              <a:gd name="T14" fmla="*/ 2 w 15"/>
              <a:gd name="T15" fmla="*/ 13 h 18"/>
              <a:gd name="T16" fmla="*/ 0 w 15"/>
              <a:gd name="T17" fmla="*/ 14 h 18"/>
              <a:gd name="T18" fmla="*/ 4 w 15"/>
              <a:gd name="T19" fmla="*/ 18 h 18"/>
              <a:gd name="T20" fmla="*/ 5 w 15"/>
              <a:gd name="T21" fmla="*/ 16 h 18"/>
              <a:gd name="T22" fmla="*/ 7 w 15"/>
              <a:gd name="T23" fmla="*/ 14 h 18"/>
              <a:gd name="T24" fmla="*/ 9 w 15"/>
              <a:gd name="T25" fmla="*/ 11 h 18"/>
              <a:gd name="T26" fmla="*/ 9 w 15"/>
              <a:gd name="T27" fmla="*/ 9 h 18"/>
              <a:gd name="T28" fmla="*/ 10 w 15"/>
              <a:gd name="T29" fmla="*/ 8 h 18"/>
              <a:gd name="T30" fmla="*/ 12 w 15"/>
              <a:gd name="T31" fmla="*/ 6 h 18"/>
              <a:gd name="T32" fmla="*/ 14 w 15"/>
              <a:gd name="T33" fmla="*/ 5 h 18"/>
              <a:gd name="T34" fmla="*/ 15 w 15"/>
              <a:gd name="T35" fmla="*/ 3 h 18"/>
              <a:gd name="T36" fmla="*/ 12 w 15"/>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8">
                <a:moveTo>
                  <a:pt x="12" y="0"/>
                </a:moveTo>
                <a:lnTo>
                  <a:pt x="10" y="1"/>
                </a:lnTo>
                <a:lnTo>
                  <a:pt x="9" y="3"/>
                </a:lnTo>
                <a:lnTo>
                  <a:pt x="7" y="6"/>
                </a:lnTo>
                <a:lnTo>
                  <a:pt x="5" y="8"/>
                </a:lnTo>
                <a:lnTo>
                  <a:pt x="4" y="9"/>
                </a:lnTo>
                <a:lnTo>
                  <a:pt x="2" y="11"/>
                </a:lnTo>
                <a:lnTo>
                  <a:pt x="2" y="13"/>
                </a:lnTo>
                <a:lnTo>
                  <a:pt x="0" y="14"/>
                </a:lnTo>
                <a:lnTo>
                  <a:pt x="4" y="18"/>
                </a:lnTo>
                <a:lnTo>
                  <a:pt x="5" y="16"/>
                </a:lnTo>
                <a:lnTo>
                  <a:pt x="7" y="14"/>
                </a:lnTo>
                <a:lnTo>
                  <a:pt x="9" y="11"/>
                </a:lnTo>
                <a:lnTo>
                  <a:pt x="9" y="9"/>
                </a:lnTo>
                <a:lnTo>
                  <a:pt x="10" y="8"/>
                </a:lnTo>
                <a:lnTo>
                  <a:pt x="12" y="6"/>
                </a:lnTo>
                <a:lnTo>
                  <a:pt x="14" y="5"/>
                </a:lnTo>
                <a:lnTo>
                  <a:pt x="15" y="3"/>
                </a:lnTo>
                <a:lnTo>
                  <a:pt x="12"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59" name="Freeform 2264">
            <a:extLst>
              <a:ext uri="{FF2B5EF4-FFF2-40B4-BE49-F238E27FC236}">
                <a16:creationId xmlns:a16="http://schemas.microsoft.com/office/drawing/2014/main" id="{F25D505F-71D2-06A9-716E-39373310EAE9}"/>
              </a:ext>
            </a:extLst>
          </p:cNvPr>
          <p:cNvSpPr>
            <a:spLocks/>
          </p:cNvSpPr>
          <p:nvPr/>
        </p:nvSpPr>
        <p:spPr bwMode="auto">
          <a:xfrm>
            <a:off x="2817813" y="2476500"/>
            <a:ext cx="23813" cy="28575"/>
          </a:xfrm>
          <a:custGeom>
            <a:avLst/>
            <a:gdLst>
              <a:gd name="T0" fmla="*/ 12 w 15"/>
              <a:gd name="T1" fmla="*/ 0 h 18"/>
              <a:gd name="T2" fmla="*/ 10 w 15"/>
              <a:gd name="T3" fmla="*/ 2 h 18"/>
              <a:gd name="T4" fmla="*/ 8 w 15"/>
              <a:gd name="T5" fmla="*/ 4 h 18"/>
              <a:gd name="T6" fmla="*/ 7 w 15"/>
              <a:gd name="T7" fmla="*/ 5 h 18"/>
              <a:gd name="T8" fmla="*/ 5 w 15"/>
              <a:gd name="T9" fmla="*/ 8 h 18"/>
              <a:gd name="T10" fmla="*/ 3 w 15"/>
              <a:gd name="T11" fmla="*/ 10 h 18"/>
              <a:gd name="T12" fmla="*/ 3 w 15"/>
              <a:gd name="T13" fmla="*/ 12 h 18"/>
              <a:gd name="T14" fmla="*/ 2 w 15"/>
              <a:gd name="T15" fmla="*/ 13 h 18"/>
              <a:gd name="T16" fmla="*/ 0 w 15"/>
              <a:gd name="T17" fmla="*/ 15 h 18"/>
              <a:gd name="T18" fmla="*/ 3 w 15"/>
              <a:gd name="T19" fmla="*/ 18 h 18"/>
              <a:gd name="T20" fmla="*/ 5 w 15"/>
              <a:gd name="T21" fmla="*/ 15 h 18"/>
              <a:gd name="T22" fmla="*/ 7 w 15"/>
              <a:gd name="T23" fmla="*/ 13 h 18"/>
              <a:gd name="T24" fmla="*/ 8 w 15"/>
              <a:gd name="T25" fmla="*/ 12 h 18"/>
              <a:gd name="T26" fmla="*/ 8 w 15"/>
              <a:gd name="T27" fmla="*/ 10 h 18"/>
              <a:gd name="T28" fmla="*/ 10 w 15"/>
              <a:gd name="T29" fmla="*/ 8 h 18"/>
              <a:gd name="T30" fmla="*/ 12 w 15"/>
              <a:gd name="T31" fmla="*/ 7 h 18"/>
              <a:gd name="T32" fmla="*/ 13 w 15"/>
              <a:gd name="T33" fmla="*/ 5 h 18"/>
              <a:gd name="T34" fmla="*/ 15 w 15"/>
              <a:gd name="T35" fmla="*/ 4 h 18"/>
              <a:gd name="T36" fmla="*/ 12 w 15"/>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8">
                <a:moveTo>
                  <a:pt x="12" y="0"/>
                </a:moveTo>
                <a:lnTo>
                  <a:pt x="10" y="2"/>
                </a:lnTo>
                <a:lnTo>
                  <a:pt x="8" y="4"/>
                </a:lnTo>
                <a:lnTo>
                  <a:pt x="7" y="5"/>
                </a:lnTo>
                <a:lnTo>
                  <a:pt x="5" y="8"/>
                </a:lnTo>
                <a:lnTo>
                  <a:pt x="3" y="10"/>
                </a:lnTo>
                <a:lnTo>
                  <a:pt x="3" y="12"/>
                </a:lnTo>
                <a:lnTo>
                  <a:pt x="2" y="13"/>
                </a:lnTo>
                <a:lnTo>
                  <a:pt x="0" y="15"/>
                </a:lnTo>
                <a:lnTo>
                  <a:pt x="3" y="18"/>
                </a:lnTo>
                <a:lnTo>
                  <a:pt x="5" y="15"/>
                </a:lnTo>
                <a:lnTo>
                  <a:pt x="7" y="13"/>
                </a:lnTo>
                <a:lnTo>
                  <a:pt x="8" y="12"/>
                </a:lnTo>
                <a:lnTo>
                  <a:pt x="8" y="10"/>
                </a:lnTo>
                <a:lnTo>
                  <a:pt x="10" y="8"/>
                </a:lnTo>
                <a:lnTo>
                  <a:pt x="12" y="7"/>
                </a:lnTo>
                <a:lnTo>
                  <a:pt x="13" y="5"/>
                </a:lnTo>
                <a:lnTo>
                  <a:pt x="15" y="4"/>
                </a:lnTo>
                <a:lnTo>
                  <a:pt x="12"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60" name="Freeform 2265">
            <a:extLst>
              <a:ext uri="{FF2B5EF4-FFF2-40B4-BE49-F238E27FC236}">
                <a16:creationId xmlns:a16="http://schemas.microsoft.com/office/drawing/2014/main" id="{9573FE37-000B-0464-4497-8628CF493873}"/>
              </a:ext>
            </a:extLst>
          </p:cNvPr>
          <p:cNvSpPr>
            <a:spLocks/>
          </p:cNvSpPr>
          <p:nvPr/>
        </p:nvSpPr>
        <p:spPr bwMode="auto">
          <a:xfrm>
            <a:off x="2820988" y="2479675"/>
            <a:ext cx="23813" cy="25400"/>
          </a:xfrm>
          <a:custGeom>
            <a:avLst/>
            <a:gdLst>
              <a:gd name="T0" fmla="*/ 11 w 15"/>
              <a:gd name="T1" fmla="*/ 0 h 16"/>
              <a:gd name="T2" fmla="*/ 10 w 15"/>
              <a:gd name="T3" fmla="*/ 2 h 16"/>
              <a:gd name="T4" fmla="*/ 8 w 15"/>
              <a:gd name="T5" fmla="*/ 3 h 16"/>
              <a:gd name="T6" fmla="*/ 6 w 15"/>
              <a:gd name="T7" fmla="*/ 5 h 16"/>
              <a:gd name="T8" fmla="*/ 5 w 15"/>
              <a:gd name="T9" fmla="*/ 6 h 16"/>
              <a:gd name="T10" fmla="*/ 5 w 15"/>
              <a:gd name="T11" fmla="*/ 8 h 16"/>
              <a:gd name="T12" fmla="*/ 3 w 15"/>
              <a:gd name="T13" fmla="*/ 11 h 16"/>
              <a:gd name="T14" fmla="*/ 1 w 15"/>
              <a:gd name="T15" fmla="*/ 13 h 16"/>
              <a:gd name="T16" fmla="*/ 0 w 15"/>
              <a:gd name="T17" fmla="*/ 15 h 16"/>
              <a:gd name="T18" fmla="*/ 5 w 15"/>
              <a:gd name="T19" fmla="*/ 16 h 16"/>
              <a:gd name="T20" fmla="*/ 5 w 15"/>
              <a:gd name="T21" fmla="*/ 15 h 16"/>
              <a:gd name="T22" fmla="*/ 6 w 15"/>
              <a:gd name="T23" fmla="*/ 13 h 16"/>
              <a:gd name="T24" fmla="*/ 8 w 15"/>
              <a:gd name="T25" fmla="*/ 11 h 16"/>
              <a:gd name="T26" fmla="*/ 10 w 15"/>
              <a:gd name="T27" fmla="*/ 10 h 16"/>
              <a:gd name="T28" fmla="*/ 10 w 15"/>
              <a:gd name="T29" fmla="*/ 8 h 16"/>
              <a:gd name="T30" fmla="*/ 11 w 15"/>
              <a:gd name="T31" fmla="*/ 6 h 16"/>
              <a:gd name="T32" fmla="*/ 13 w 15"/>
              <a:gd name="T33" fmla="*/ 5 h 16"/>
              <a:gd name="T34" fmla="*/ 15 w 15"/>
              <a:gd name="T35" fmla="*/ 3 h 16"/>
              <a:gd name="T36" fmla="*/ 11 w 15"/>
              <a:gd name="T37" fmla="*/ 0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6">
                <a:moveTo>
                  <a:pt x="11" y="0"/>
                </a:moveTo>
                <a:lnTo>
                  <a:pt x="10" y="2"/>
                </a:lnTo>
                <a:lnTo>
                  <a:pt x="8" y="3"/>
                </a:lnTo>
                <a:lnTo>
                  <a:pt x="6" y="5"/>
                </a:lnTo>
                <a:lnTo>
                  <a:pt x="5" y="6"/>
                </a:lnTo>
                <a:lnTo>
                  <a:pt x="5" y="8"/>
                </a:lnTo>
                <a:lnTo>
                  <a:pt x="3" y="11"/>
                </a:lnTo>
                <a:lnTo>
                  <a:pt x="1" y="13"/>
                </a:lnTo>
                <a:lnTo>
                  <a:pt x="0" y="15"/>
                </a:lnTo>
                <a:lnTo>
                  <a:pt x="5" y="16"/>
                </a:lnTo>
                <a:lnTo>
                  <a:pt x="5" y="15"/>
                </a:lnTo>
                <a:lnTo>
                  <a:pt x="6" y="13"/>
                </a:lnTo>
                <a:lnTo>
                  <a:pt x="8" y="11"/>
                </a:lnTo>
                <a:lnTo>
                  <a:pt x="10" y="10"/>
                </a:lnTo>
                <a:lnTo>
                  <a:pt x="10" y="8"/>
                </a:lnTo>
                <a:lnTo>
                  <a:pt x="11" y="6"/>
                </a:lnTo>
                <a:lnTo>
                  <a:pt x="13" y="5"/>
                </a:lnTo>
                <a:lnTo>
                  <a:pt x="15" y="3"/>
                </a:lnTo>
                <a:lnTo>
                  <a:pt x="11"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61" name="Freeform 2266">
            <a:extLst>
              <a:ext uri="{FF2B5EF4-FFF2-40B4-BE49-F238E27FC236}">
                <a16:creationId xmlns:a16="http://schemas.microsoft.com/office/drawing/2014/main" id="{A365DDDC-5E51-4911-F794-930A60F00CB6}"/>
              </a:ext>
            </a:extLst>
          </p:cNvPr>
          <p:cNvSpPr>
            <a:spLocks/>
          </p:cNvSpPr>
          <p:nvPr/>
        </p:nvSpPr>
        <p:spPr bwMode="auto">
          <a:xfrm>
            <a:off x="2822575" y="2482850"/>
            <a:ext cx="23813" cy="25400"/>
          </a:xfrm>
          <a:custGeom>
            <a:avLst/>
            <a:gdLst>
              <a:gd name="T0" fmla="*/ 12 w 15"/>
              <a:gd name="T1" fmla="*/ 0 h 16"/>
              <a:gd name="T2" fmla="*/ 10 w 15"/>
              <a:gd name="T3" fmla="*/ 1 h 16"/>
              <a:gd name="T4" fmla="*/ 9 w 15"/>
              <a:gd name="T5" fmla="*/ 3 h 16"/>
              <a:gd name="T6" fmla="*/ 7 w 15"/>
              <a:gd name="T7" fmla="*/ 4 h 16"/>
              <a:gd name="T8" fmla="*/ 5 w 15"/>
              <a:gd name="T9" fmla="*/ 6 h 16"/>
              <a:gd name="T10" fmla="*/ 5 w 15"/>
              <a:gd name="T11" fmla="*/ 8 h 16"/>
              <a:gd name="T12" fmla="*/ 4 w 15"/>
              <a:gd name="T13" fmla="*/ 9 h 16"/>
              <a:gd name="T14" fmla="*/ 2 w 15"/>
              <a:gd name="T15" fmla="*/ 11 h 16"/>
              <a:gd name="T16" fmla="*/ 0 w 15"/>
              <a:gd name="T17" fmla="*/ 14 h 16"/>
              <a:gd name="T18" fmla="*/ 5 w 15"/>
              <a:gd name="T19" fmla="*/ 16 h 16"/>
              <a:gd name="T20" fmla="*/ 7 w 15"/>
              <a:gd name="T21" fmla="*/ 14 h 16"/>
              <a:gd name="T22" fmla="*/ 7 w 15"/>
              <a:gd name="T23" fmla="*/ 13 h 16"/>
              <a:gd name="T24" fmla="*/ 9 w 15"/>
              <a:gd name="T25" fmla="*/ 11 h 16"/>
              <a:gd name="T26" fmla="*/ 10 w 15"/>
              <a:gd name="T27" fmla="*/ 9 h 16"/>
              <a:gd name="T28" fmla="*/ 12 w 15"/>
              <a:gd name="T29" fmla="*/ 8 h 16"/>
              <a:gd name="T30" fmla="*/ 12 w 15"/>
              <a:gd name="T31" fmla="*/ 6 h 16"/>
              <a:gd name="T32" fmla="*/ 14 w 15"/>
              <a:gd name="T33" fmla="*/ 4 h 16"/>
              <a:gd name="T34" fmla="*/ 15 w 15"/>
              <a:gd name="T35" fmla="*/ 4 h 16"/>
              <a:gd name="T36" fmla="*/ 12 w 15"/>
              <a:gd name="T37" fmla="*/ 0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6">
                <a:moveTo>
                  <a:pt x="12" y="0"/>
                </a:moveTo>
                <a:lnTo>
                  <a:pt x="10" y="1"/>
                </a:lnTo>
                <a:lnTo>
                  <a:pt x="9" y="3"/>
                </a:lnTo>
                <a:lnTo>
                  <a:pt x="7" y="4"/>
                </a:lnTo>
                <a:lnTo>
                  <a:pt x="5" y="6"/>
                </a:lnTo>
                <a:lnTo>
                  <a:pt x="5" y="8"/>
                </a:lnTo>
                <a:lnTo>
                  <a:pt x="4" y="9"/>
                </a:lnTo>
                <a:lnTo>
                  <a:pt x="2" y="11"/>
                </a:lnTo>
                <a:lnTo>
                  <a:pt x="0" y="14"/>
                </a:lnTo>
                <a:lnTo>
                  <a:pt x="5" y="16"/>
                </a:lnTo>
                <a:lnTo>
                  <a:pt x="7" y="14"/>
                </a:lnTo>
                <a:lnTo>
                  <a:pt x="7" y="13"/>
                </a:lnTo>
                <a:lnTo>
                  <a:pt x="9" y="11"/>
                </a:lnTo>
                <a:lnTo>
                  <a:pt x="10" y="9"/>
                </a:lnTo>
                <a:lnTo>
                  <a:pt x="12" y="8"/>
                </a:lnTo>
                <a:lnTo>
                  <a:pt x="12" y="6"/>
                </a:lnTo>
                <a:lnTo>
                  <a:pt x="14" y="4"/>
                </a:lnTo>
                <a:lnTo>
                  <a:pt x="15" y="4"/>
                </a:lnTo>
                <a:lnTo>
                  <a:pt x="12"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62" name="Freeform 2267">
            <a:extLst>
              <a:ext uri="{FF2B5EF4-FFF2-40B4-BE49-F238E27FC236}">
                <a16:creationId xmlns:a16="http://schemas.microsoft.com/office/drawing/2014/main" id="{A24821B9-B6B6-B4C6-AD9F-03A17653B572}"/>
              </a:ext>
            </a:extLst>
          </p:cNvPr>
          <p:cNvSpPr>
            <a:spLocks/>
          </p:cNvSpPr>
          <p:nvPr/>
        </p:nvSpPr>
        <p:spPr bwMode="auto">
          <a:xfrm>
            <a:off x="2828925" y="2484438"/>
            <a:ext cx="20638" cy="26988"/>
          </a:xfrm>
          <a:custGeom>
            <a:avLst/>
            <a:gdLst>
              <a:gd name="T0" fmla="*/ 10 w 13"/>
              <a:gd name="T1" fmla="*/ 0 h 17"/>
              <a:gd name="T2" fmla="*/ 8 w 13"/>
              <a:gd name="T3" fmla="*/ 2 h 17"/>
              <a:gd name="T4" fmla="*/ 6 w 13"/>
              <a:gd name="T5" fmla="*/ 3 h 17"/>
              <a:gd name="T6" fmla="*/ 5 w 13"/>
              <a:gd name="T7" fmla="*/ 5 h 17"/>
              <a:gd name="T8" fmla="*/ 5 w 13"/>
              <a:gd name="T9" fmla="*/ 7 h 17"/>
              <a:gd name="T10" fmla="*/ 3 w 13"/>
              <a:gd name="T11" fmla="*/ 8 h 17"/>
              <a:gd name="T12" fmla="*/ 1 w 13"/>
              <a:gd name="T13" fmla="*/ 10 h 17"/>
              <a:gd name="T14" fmla="*/ 0 w 13"/>
              <a:gd name="T15" fmla="*/ 12 h 17"/>
              <a:gd name="T16" fmla="*/ 0 w 13"/>
              <a:gd name="T17" fmla="*/ 13 h 17"/>
              <a:gd name="T18" fmla="*/ 3 w 13"/>
              <a:gd name="T19" fmla="*/ 17 h 17"/>
              <a:gd name="T20" fmla="*/ 5 w 13"/>
              <a:gd name="T21" fmla="*/ 15 h 17"/>
              <a:gd name="T22" fmla="*/ 5 w 13"/>
              <a:gd name="T23" fmla="*/ 13 h 17"/>
              <a:gd name="T24" fmla="*/ 6 w 13"/>
              <a:gd name="T25" fmla="*/ 12 h 17"/>
              <a:gd name="T26" fmla="*/ 8 w 13"/>
              <a:gd name="T27" fmla="*/ 10 h 17"/>
              <a:gd name="T28" fmla="*/ 10 w 13"/>
              <a:gd name="T29" fmla="*/ 8 h 17"/>
              <a:gd name="T30" fmla="*/ 10 w 13"/>
              <a:gd name="T31" fmla="*/ 7 h 17"/>
              <a:gd name="T32" fmla="*/ 11 w 13"/>
              <a:gd name="T33" fmla="*/ 5 h 17"/>
              <a:gd name="T34" fmla="*/ 13 w 13"/>
              <a:gd name="T35" fmla="*/ 5 h 17"/>
              <a:gd name="T36" fmla="*/ 10 w 13"/>
              <a:gd name="T37" fmla="*/ 0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3" h="17">
                <a:moveTo>
                  <a:pt x="10" y="0"/>
                </a:moveTo>
                <a:lnTo>
                  <a:pt x="8" y="2"/>
                </a:lnTo>
                <a:lnTo>
                  <a:pt x="6" y="3"/>
                </a:lnTo>
                <a:lnTo>
                  <a:pt x="5" y="5"/>
                </a:lnTo>
                <a:lnTo>
                  <a:pt x="5" y="7"/>
                </a:lnTo>
                <a:lnTo>
                  <a:pt x="3" y="8"/>
                </a:lnTo>
                <a:lnTo>
                  <a:pt x="1" y="10"/>
                </a:lnTo>
                <a:lnTo>
                  <a:pt x="0" y="12"/>
                </a:lnTo>
                <a:lnTo>
                  <a:pt x="0" y="13"/>
                </a:lnTo>
                <a:lnTo>
                  <a:pt x="3" y="17"/>
                </a:lnTo>
                <a:lnTo>
                  <a:pt x="5" y="15"/>
                </a:lnTo>
                <a:lnTo>
                  <a:pt x="5" y="13"/>
                </a:lnTo>
                <a:lnTo>
                  <a:pt x="6" y="12"/>
                </a:lnTo>
                <a:lnTo>
                  <a:pt x="8" y="10"/>
                </a:lnTo>
                <a:lnTo>
                  <a:pt x="10" y="8"/>
                </a:lnTo>
                <a:lnTo>
                  <a:pt x="10" y="7"/>
                </a:lnTo>
                <a:lnTo>
                  <a:pt x="11" y="5"/>
                </a:lnTo>
                <a:lnTo>
                  <a:pt x="13" y="5"/>
                </a:lnTo>
                <a:lnTo>
                  <a:pt x="10"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63" name="Freeform 2268">
            <a:extLst>
              <a:ext uri="{FF2B5EF4-FFF2-40B4-BE49-F238E27FC236}">
                <a16:creationId xmlns:a16="http://schemas.microsoft.com/office/drawing/2014/main" id="{C3A33314-69C9-7D5D-9903-2BB417E3D1DC}"/>
              </a:ext>
            </a:extLst>
          </p:cNvPr>
          <p:cNvSpPr>
            <a:spLocks/>
          </p:cNvSpPr>
          <p:nvPr/>
        </p:nvSpPr>
        <p:spPr bwMode="auto">
          <a:xfrm>
            <a:off x="2830513" y="2489200"/>
            <a:ext cx="22225" cy="23813"/>
          </a:xfrm>
          <a:custGeom>
            <a:avLst/>
            <a:gdLst>
              <a:gd name="T0" fmla="*/ 10 w 14"/>
              <a:gd name="T1" fmla="*/ 0 h 15"/>
              <a:gd name="T2" fmla="*/ 9 w 14"/>
              <a:gd name="T3" fmla="*/ 0 h 15"/>
              <a:gd name="T4" fmla="*/ 7 w 14"/>
              <a:gd name="T5" fmla="*/ 2 h 15"/>
              <a:gd name="T6" fmla="*/ 7 w 14"/>
              <a:gd name="T7" fmla="*/ 4 h 15"/>
              <a:gd name="T8" fmla="*/ 5 w 14"/>
              <a:gd name="T9" fmla="*/ 5 h 15"/>
              <a:gd name="T10" fmla="*/ 4 w 14"/>
              <a:gd name="T11" fmla="*/ 7 h 15"/>
              <a:gd name="T12" fmla="*/ 2 w 14"/>
              <a:gd name="T13" fmla="*/ 9 h 15"/>
              <a:gd name="T14" fmla="*/ 2 w 14"/>
              <a:gd name="T15" fmla="*/ 10 h 15"/>
              <a:gd name="T16" fmla="*/ 0 w 14"/>
              <a:gd name="T17" fmla="*/ 12 h 15"/>
              <a:gd name="T18" fmla="*/ 4 w 14"/>
              <a:gd name="T19" fmla="*/ 15 h 15"/>
              <a:gd name="T20" fmla="*/ 5 w 14"/>
              <a:gd name="T21" fmla="*/ 14 h 15"/>
              <a:gd name="T22" fmla="*/ 7 w 14"/>
              <a:gd name="T23" fmla="*/ 12 h 15"/>
              <a:gd name="T24" fmla="*/ 7 w 14"/>
              <a:gd name="T25" fmla="*/ 10 h 15"/>
              <a:gd name="T26" fmla="*/ 9 w 14"/>
              <a:gd name="T27" fmla="*/ 9 h 15"/>
              <a:gd name="T28" fmla="*/ 10 w 14"/>
              <a:gd name="T29" fmla="*/ 7 h 15"/>
              <a:gd name="T30" fmla="*/ 12 w 14"/>
              <a:gd name="T31" fmla="*/ 5 h 15"/>
              <a:gd name="T32" fmla="*/ 12 w 14"/>
              <a:gd name="T33" fmla="*/ 4 h 15"/>
              <a:gd name="T34" fmla="*/ 14 w 14"/>
              <a:gd name="T35" fmla="*/ 4 h 15"/>
              <a:gd name="T36" fmla="*/ 10 w 14"/>
              <a:gd name="T37" fmla="*/ 0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4" h="15">
                <a:moveTo>
                  <a:pt x="10" y="0"/>
                </a:moveTo>
                <a:lnTo>
                  <a:pt x="9" y="0"/>
                </a:lnTo>
                <a:lnTo>
                  <a:pt x="7" y="2"/>
                </a:lnTo>
                <a:lnTo>
                  <a:pt x="7" y="4"/>
                </a:lnTo>
                <a:lnTo>
                  <a:pt x="5" y="5"/>
                </a:lnTo>
                <a:lnTo>
                  <a:pt x="4" y="7"/>
                </a:lnTo>
                <a:lnTo>
                  <a:pt x="2" y="9"/>
                </a:lnTo>
                <a:lnTo>
                  <a:pt x="2" y="10"/>
                </a:lnTo>
                <a:lnTo>
                  <a:pt x="0" y="12"/>
                </a:lnTo>
                <a:lnTo>
                  <a:pt x="4" y="15"/>
                </a:lnTo>
                <a:lnTo>
                  <a:pt x="5" y="14"/>
                </a:lnTo>
                <a:lnTo>
                  <a:pt x="7" y="12"/>
                </a:lnTo>
                <a:lnTo>
                  <a:pt x="7" y="10"/>
                </a:lnTo>
                <a:lnTo>
                  <a:pt x="9" y="9"/>
                </a:lnTo>
                <a:lnTo>
                  <a:pt x="10" y="7"/>
                </a:lnTo>
                <a:lnTo>
                  <a:pt x="12" y="5"/>
                </a:lnTo>
                <a:lnTo>
                  <a:pt x="12" y="4"/>
                </a:lnTo>
                <a:lnTo>
                  <a:pt x="14" y="4"/>
                </a:lnTo>
                <a:lnTo>
                  <a:pt x="10"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64" name="Freeform 2269">
            <a:extLst>
              <a:ext uri="{FF2B5EF4-FFF2-40B4-BE49-F238E27FC236}">
                <a16:creationId xmlns:a16="http://schemas.microsoft.com/office/drawing/2014/main" id="{E0596675-4FDB-A369-2FE4-392AA3A1BA5B}"/>
              </a:ext>
            </a:extLst>
          </p:cNvPr>
          <p:cNvSpPr>
            <a:spLocks/>
          </p:cNvSpPr>
          <p:nvPr/>
        </p:nvSpPr>
        <p:spPr bwMode="auto">
          <a:xfrm>
            <a:off x="2833688" y="2492375"/>
            <a:ext cx="20638" cy="20638"/>
          </a:xfrm>
          <a:custGeom>
            <a:avLst/>
            <a:gdLst>
              <a:gd name="T0" fmla="*/ 10 w 13"/>
              <a:gd name="T1" fmla="*/ 0 h 13"/>
              <a:gd name="T2" fmla="*/ 8 w 13"/>
              <a:gd name="T3" fmla="*/ 0 h 13"/>
              <a:gd name="T4" fmla="*/ 7 w 13"/>
              <a:gd name="T5" fmla="*/ 2 h 13"/>
              <a:gd name="T6" fmla="*/ 7 w 13"/>
              <a:gd name="T7" fmla="*/ 3 h 13"/>
              <a:gd name="T8" fmla="*/ 5 w 13"/>
              <a:gd name="T9" fmla="*/ 5 h 13"/>
              <a:gd name="T10" fmla="*/ 3 w 13"/>
              <a:gd name="T11" fmla="*/ 7 h 13"/>
              <a:gd name="T12" fmla="*/ 2 w 13"/>
              <a:gd name="T13" fmla="*/ 8 h 13"/>
              <a:gd name="T14" fmla="*/ 2 w 13"/>
              <a:gd name="T15" fmla="*/ 10 h 13"/>
              <a:gd name="T16" fmla="*/ 0 w 13"/>
              <a:gd name="T17" fmla="*/ 12 h 13"/>
              <a:gd name="T18" fmla="*/ 5 w 13"/>
              <a:gd name="T19" fmla="*/ 13 h 13"/>
              <a:gd name="T20" fmla="*/ 5 w 13"/>
              <a:gd name="T21" fmla="*/ 12 h 13"/>
              <a:gd name="T22" fmla="*/ 7 w 13"/>
              <a:gd name="T23" fmla="*/ 10 h 13"/>
              <a:gd name="T24" fmla="*/ 8 w 13"/>
              <a:gd name="T25" fmla="*/ 8 h 13"/>
              <a:gd name="T26" fmla="*/ 10 w 13"/>
              <a:gd name="T27" fmla="*/ 7 h 13"/>
              <a:gd name="T28" fmla="*/ 12 w 13"/>
              <a:gd name="T29" fmla="*/ 5 h 13"/>
              <a:gd name="T30" fmla="*/ 12 w 13"/>
              <a:gd name="T31" fmla="*/ 3 h 13"/>
              <a:gd name="T32" fmla="*/ 13 w 13"/>
              <a:gd name="T33" fmla="*/ 3 h 13"/>
              <a:gd name="T34" fmla="*/ 10 w 13"/>
              <a:gd name="T35"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3" h="13">
                <a:moveTo>
                  <a:pt x="10" y="0"/>
                </a:moveTo>
                <a:lnTo>
                  <a:pt x="8" y="0"/>
                </a:lnTo>
                <a:lnTo>
                  <a:pt x="7" y="2"/>
                </a:lnTo>
                <a:lnTo>
                  <a:pt x="7" y="3"/>
                </a:lnTo>
                <a:lnTo>
                  <a:pt x="5" y="5"/>
                </a:lnTo>
                <a:lnTo>
                  <a:pt x="3" y="7"/>
                </a:lnTo>
                <a:lnTo>
                  <a:pt x="2" y="8"/>
                </a:lnTo>
                <a:lnTo>
                  <a:pt x="2" y="10"/>
                </a:lnTo>
                <a:lnTo>
                  <a:pt x="0" y="12"/>
                </a:lnTo>
                <a:lnTo>
                  <a:pt x="5" y="13"/>
                </a:lnTo>
                <a:lnTo>
                  <a:pt x="5" y="12"/>
                </a:lnTo>
                <a:lnTo>
                  <a:pt x="7" y="10"/>
                </a:lnTo>
                <a:lnTo>
                  <a:pt x="8" y="8"/>
                </a:lnTo>
                <a:lnTo>
                  <a:pt x="10" y="7"/>
                </a:lnTo>
                <a:lnTo>
                  <a:pt x="12" y="5"/>
                </a:lnTo>
                <a:lnTo>
                  <a:pt x="12" y="3"/>
                </a:lnTo>
                <a:lnTo>
                  <a:pt x="13" y="3"/>
                </a:lnTo>
                <a:lnTo>
                  <a:pt x="10"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65" name="Freeform 2270">
            <a:extLst>
              <a:ext uri="{FF2B5EF4-FFF2-40B4-BE49-F238E27FC236}">
                <a16:creationId xmlns:a16="http://schemas.microsoft.com/office/drawing/2014/main" id="{2D16EE3A-788A-B615-D05D-889B8B4B667E}"/>
              </a:ext>
            </a:extLst>
          </p:cNvPr>
          <p:cNvSpPr>
            <a:spLocks/>
          </p:cNvSpPr>
          <p:nvPr/>
        </p:nvSpPr>
        <p:spPr bwMode="auto">
          <a:xfrm>
            <a:off x="2836863" y="2495550"/>
            <a:ext cx="20638" cy="20638"/>
          </a:xfrm>
          <a:custGeom>
            <a:avLst/>
            <a:gdLst>
              <a:gd name="T0" fmla="*/ 10 w 13"/>
              <a:gd name="T1" fmla="*/ 0 h 13"/>
              <a:gd name="T2" fmla="*/ 8 w 13"/>
              <a:gd name="T3" fmla="*/ 0 h 13"/>
              <a:gd name="T4" fmla="*/ 8 w 13"/>
              <a:gd name="T5" fmla="*/ 1 h 13"/>
              <a:gd name="T6" fmla="*/ 6 w 13"/>
              <a:gd name="T7" fmla="*/ 3 h 13"/>
              <a:gd name="T8" fmla="*/ 5 w 13"/>
              <a:gd name="T9" fmla="*/ 5 h 13"/>
              <a:gd name="T10" fmla="*/ 3 w 13"/>
              <a:gd name="T11" fmla="*/ 6 h 13"/>
              <a:gd name="T12" fmla="*/ 3 w 13"/>
              <a:gd name="T13" fmla="*/ 8 h 13"/>
              <a:gd name="T14" fmla="*/ 1 w 13"/>
              <a:gd name="T15" fmla="*/ 10 h 13"/>
              <a:gd name="T16" fmla="*/ 0 w 13"/>
              <a:gd name="T17" fmla="*/ 11 h 13"/>
              <a:gd name="T18" fmla="*/ 5 w 13"/>
              <a:gd name="T19" fmla="*/ 13 h 13"/>
              <a:gd name="T20" fmla="*/ 5 w 13"/>
              <a:gd name="T21" fmla="*/ 11 h 13"/>
              <a:gd name="T22" fmla="*/ 6 w 13"/>
              <a:gd name="T23" fmla="*/ 10 h 13"/>
              <a:gd name="T24" fmla="*/ 8 w 13"/>
              <a:gd name="T25" fmla="*/ 8 h 13"/>
              <a:gd name="T26" fmla="*/ 10 w 13"/>
              <a:gd name="T27" fmla="*/ 6 h 13"/>
              <a:gd name="T28" fmla="*/ 11 w 13"/>
              <a:gd name="T29" fmla="*/ 5 h 13"/>
              <a:gd name="T30" fmla="*/ 11 w 13"/>
              <a:gd name="T31" fmla="*/ 3 h 13"/>
              <a:gd name="T32" fmla="*/ 13 w 13"/>
              <a:gd name="T33" fmla="*/ 3 h 13"/>
              <a:gd name="T34" fmla="*/ 10 w 13"/>
              <a:gd name="T35"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3" h="13">
                <a:moveTo>
                  <a:pt x="10" y="0"/>
                </a:moveTo>
                <a:lnTo>
                  <a:pt x="8" y="0"/>
                </a:lnTo>
                <a:lnTo>
                  <a:pt x="8" y="1"/>
                </a:lnTo>
                <a:lnTo>
                  <a:pt x="6" y="3"/>
                </a:lnTo>
                <a:lnTo>
                  <a:pt x="5" y="5"/>
                </a:lnTo>
                <a:lnTo>
                  <a:pt x="3" y="6"/>
                </a:lnTo>
                <a:lnTo>
                  <a:pt x="3" y="8"/>
                </a:lnTo>
                <a:lnTo>
                  <a:pt x="1" y="10"/>
                </a:lnTo>
                <a:lnTo>
                  <a:pt x="0" y="11"/>
                </a:lnTo>
                <a:lnTo>
                  <a:pt x="5" y="13"/>
                </a:lnTo>
                <a:lnTo>
                  <a:pt x="5" y="11"/>
                </a:lnTo>
                <a:lnTo>
                  <a:pt x="6" y="10"/>
                </a:lnTo>
                <a:lnTo>
                  <a:pt x="8" y="8"/>
                </a:lnTo>
                <a:lnTo>
                  <a:pt x="10" y="6"/>
                </a:lnTo>
                <a:lnTo>
                  <a:pt x="11" y="5"/>
                </a:lnTo>
                <a:lnTo>
                  <a:pt x="11" y="3"/>
                </a:lnTo>
                <a:lnTo>
                  <a:pt x="13" y="3"/>
                </a:lnTo>
                <a:lnTo>
                  <a:pt x="10"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66" name="Freeform 2271">
            <a:extLst>
              <a:ext uri="{FF2B5EF4-FFF2-40B4-BE49-F238E27FC236}">
                <a16:creationId xmlns:a16="http://schemas.microsoft.com/office/drawing/2014/main" id="{74435E37-1BB9-2624-2980-BC14810BFAA1}"/>
              </a:ext>
            </a:extLst>
          </p:cNvPr>
          <p:cNvSpPr>
            <a:spLocks/>
          </p:cNvSpPr>
          <p:nvPr/>
        </p:nvSpPr>
        <p:spPr bwMode="auto">
          <a:xfrm>
            <a:off x="2841625" y="2497138"/>
            <a:ext cx="19050" cy="22225"/>
          </a:xfrm>
          <a:custGeom>
            <a:avLst/>
            <a:gdLst>
              <a:gd name="T0" fmla="*/ 8 w 12"/>
              <a:gd name="T1" fmla="*/ 0 h 14"/>
              <a:gd name="T2" fmla="*/ 7 w 12"/>
              <a:gd name="T3" fmla="*/ 0 h 14"/>
              <a:gd name="T4" fmla="*/ 7 w 12"/>
              <a:gd name="T5" fmla="*/ 2 h 14"/>
              <a:gd name="T6" fmla="*/ 5 w 12"/>
              <a:gd name="T7" fmla="*/ 4 h 14"/>
              <a:gd name="T8" fmla="*/ 3 w 12"/>
              <a:gd name="T9" fmla="*/ 5 h 14"/>
              <a:gd name="T10" fmla="*/ 2 w 12"/>
              <a:gd name="T11" fmla="*/ 7 h 14"/>
              <a:gd name="T12" fmla="*/ 0 w 12"/>
              <a:gd name="T13" fmla="*/ 9 h 14"/>
              <a:gd name="T14" fmla="*/ 0 w 12"/>
              <a:gd name="T15" fmla="*/ 10 h 14"/>
              <a:gd name="T16" fmla="*/ 3 w 12"/>
              <a:gd name="T17" fmla="*/ 14 h 14"/>
              <a:gd name="T18" fmla="*/ 5 w 12"/>
              <a:gd name="T19" fmla="*/ 12 h 14"/>
              <a:gd name="T20" fmla="*/ 5 w 12"/>
              <a:gd name="T21" fmla="*/ 10 h 14"/>
              <a:gd name="T22" fmla="*/ 7 w 12"/>
              <a:gd name="T23" fmla="*/ 9 h 14"/>
              <a:gd name="T24" fmla="*/ 8 w 12"/>
              <a:gd name="T25" fmla="*/ 7 h 14"/>
              <a:gd name="T26" fmla="*/ 10 w 12"/>
              <a:gd name="T27" fmla="*/ 5 h 14"/>
              <a:gd name="T28" fmla="*/ 12 w 12"/>
              <a:gd name="T29" fmla="*/ 4 h 14"/>
              <a:gd name="T30" fmla="*/ 8 w 12"/>
              <a:gd name="T31" fmla="*/ 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 h="14">
                <a:moveTo>
                  <a:pt x="8" y="0"/>
                </a:moveTo>
                <a:lnTo>
                  <a:pt x="7" y="0"/>
                </a:lnTo>
                <a:lnTo>
                  <a:pt x="7" y="2"/>
                </a:lnTo>
                <a:lnTo>
                  <a:pt x="5" y="4"/>
                </a:lnTo>
                <a:lnTo>
                  <a:pt x="3" y="5"/>
                </a:lnTo>
                <a:lnTo>
                  <a:pt x="2" y="7"/>
                </a:lnTo>
                <a:lnTo>
                  <a:pt x="0" y="9"/>
                </a:lnTo>
                <a:lnTo>
                  <a:pt x="0" y="10"/>
                </a:lnTo>
                <a:lnTo>
                  <a:pt x="3" y="14"/>
                </a:lnTo>
                <a:lnTo>
                  <a:pt x="5" y="12"/>
                </a:lnTo>
                <a:lnTo>
                  <a:pt x="5" y="10"/>
                </a:lnTo>
                <a:lnTo>
                  <a:pt x="7" y="9"/>
                </a:lnTo>
                <a:lnTo>
                  <a:pt x="8" y="7"/>
                </a:lnTo>
                <a:lnTo>
                  <a:pt x="10" y="5"/>
                </a:lnTo>
                <a:lnTo>
                  <a:pt x="12" y="4"/>
                </a:lnTo>
                <a:lnTo>
                  <a:pt x="8"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67" name="Freeform 2272">
            <a:extLst>
              <a:ext uri="{FF2B5EF4-FFF2-40B4-BE49-F238E27FC236}">
                <a16:creationId xmlns:a16="http://schemas.microsoft.com/office/drawing/2014/main" id="{593FA9BB-712D-41C8-B099-C030F31B2769}"/>
              </a:ext>
            </a:extLst>
          </p:cNvPr>
          <p:cNvSpPr>
            <a:spLocks/>
          </p:cNvSpPr>
          <p:nvPr/>
        </p:nvSpPr>
        <p:spPr bwMode="auto">
          <a:xfrm>
            <a:off x="2844800" y="2500313"/>
            <a:ext cx="17463" cy="20638"/>
          </a:xfrm>
          <a:custGeom>
            <a:avLst/>
            <a:gdLst>
              <a:gd name="T0" fmla="*/ 8 w 11"/>
              <a:gd name="T1" fmla="*/ 0 h 13"/>
              <a:gd name="T2" fmla="*/ 6 w 11"/>
              <a:gd name="T3" fmla="*/ 0 h 13"/>
              <a:gd name="T4" fmla="*/ 6 w 11"/>
              <a:gd name="T5" fmla="*/ 2 h 13"/>
              <a:gd name="T6" fmla="*/ 5 w 11"/>
              <a:gd name="T7" fmla="*/ 3 h 13"/>
              <a:gd name="T8" fmla="*/ 3 w 11"/>
              <a:gd name="T9" fmla="*/ 5 h 13"/>
              <a:gd name="T10" fmla="*/ 1 w 11"/>
              <a:gd name="T11" fmla="*/ 7 h 13"/>
              <a:gd name="T12" fmla="*/ 0 w 11"/>
              <a:gd name="T13" fmla="*/ 8 h 13"/>
              <a:gd name="T14" fmla="*/ 0 w 11"/>
              <a:gd name="T15" fmla="*/ 10 h 13"/>
              <a:gd name="T16" fmla="*/ 3 w 11"/>
              <a:gd name="T17" fmla="*/ 13 h 13"/>
              <a:gd name="T18" fmla="*/ 5 w 11"/>
              <a:gd name="T19" fmla="*/ 12 h 13"/>
              <a:gd name="T20" fmla="*/ 5 w 11"/>
              <a:gd name="T21" fmla="*/ 10 h 13"/>
              <a:gd name="T22" fmla="*/ 6 w 11"/>
              <a:gd name="T23" fmla="*/ 8 h 13"/>
              <a:gd name="T24" fmla="*/ 8 w 11"/>
              <a:gd name="T25" fmla="*/ 7 h 13"/>
              <a:gd name="T26" fmla="*/ 10 w 11"/>
              <a:gd name="T27" fmla="*/ 5 h 13"/>
              <a:gd name="T28" fmla="*/ 11 w 11"/>
              <a:gd name="T29" fmla="*/ 3 h 13"/>
              <a:gd name="T30" fmla="*/ 8 w 11"/>
              <a:gd name="T31"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1" h="13">
                <a:moveTo>
                  <a:pt x="8" y="0"/>
                </a:moveTo>
                <a:lnTo>
                  <a:pt x="6" y="0"/>
                </a:lnTo>
                <a:lnTo>
                  <a:pt x="6" y="2"/>
                </a:lnTo>
                <a:lnTo>
                  <a:pt x="5" y="3"/>
                </a:lnTo>
                <a:lnTo>
                  <a:pt x="3" y="5"/>
                </a:lnTo>
                <a:lnTo>
                  <a:pt x="1" y="7"/>
                </a:lnTo>
                <a:lnTo>
                  <a:pt x="0" y="8"/>
                </a:lnTo>
                <a:lnTo>
                  <a:pt x="0" y="10"/>
                </a:lnTo>
                <a:lnTo>
                  <a:pt x="3" y="13"/>
                </a:lnTo>
                <a:lnTo>
                  <a:pt x="5" y="12"/>
                </a:lnTo>
                <a:lnTo>
                  <a:pt x="5" y="10"/>
                </a:lnTo>
                <a:lnTo>
                  <a:pt x="6" y="8"/>
                </a:lnTo>
                <a:lnTo>
                  <a:pt x="8" y="7"/>
                </a:lnTo>
                <a:lnTo>
                  <a:pt x="10" y="5"/>
                </a:lnTo>
                <a:lnTo>
                  <a:pt x="11" y="3"/>
                </a:lnTo>
                <a:lnTo>
                  <a:pt x="8"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68" name="Freeform 2273">
            <a:extLst>
              <a:ext uri="{FF2B5EF4-FFF2-40B4-BE49-F238E27FC236}">
                <a16:creationId xmlns:a16="http://schemas.microsoft.com/office/drawing/2014/main" id="{3E36843F-C3C7-9CDC-609F-CB33DE656296}"/>
              </a:ext>
            </a:extLst>
          </p:cNvPr>
          <p:cNvSpPr>
            <a:spLocks/>
          </p:cNvSpPr>
          <p:nvPr/>
        </p:nvSpPr>
        <p:spPr bwMode="auto">
          <a:xfrm>
            <a:off x="2846388" y="2503488"/>
            <a:ext cx="19050" cy="17463"/>
          </a:xfrm>
          <a:custGeom>
            <a:avLst/>
            <a:gdLst>
              <a:gd name="T0" fmla="*/ 9 w 12"/>
              <a:gd name="T1" fmla="*/ 0 h 11"/>
              <a:gd name="T2" fmla="*/ 9 w 12"/>
              <a:gd name="T3" fmla="*/ 0 h 11"/>
              <a:gd name="T4" fmla="*/ 7 w 12"/>
              <a:gd name="T5" fmla="*/ 1 h 11"/>
              <a:gd name="T6" fmla="*/ 5 w 12"/>
              <a:gd name="T7" fmla="*/ 3 h 11"/>
              <a:gd name="T8" fmla="*/ 4 w 12"/>
              <a:gd name="T9" fmla="*/ 5 h 11"/>
              <a:gd name="T10" fmla="*/ 2 w 12"/>
              <a:gd name="T11" fmla="*/ 6 h 11"/>
              <a:gd name="T12" fmla="*/ 2 w 12"/>
              <a:gd name="T13" fmla="*/ 8 h 11"/>
              <a:gd name="T14" fmla="*/ 0 w 12"/>
              <a:gd name="T15" fmla="*/ 10 h 11"/>
              <a:gd name="T16" fmla="*/ 5 w 12"/>
              <a:gd name="T17" fmla="*/ 11 h 11"/>
              <a:gd name="T18" fmla="*/ 7 w 12"/>
              <a:gd name="T19" fmla="*/ 10 h 11"/>
              <a:gd name="T20" fmla="*/ 7 w 12"/>
              <a:gd name="T21" fmla="*/ 8 h 11"/>
              <a:gd name="T22" fmla="*/ 9 w 12"/>
              <a:gd name="T23" fmla="*/ 6 h 11"/>
              <a:gd name="T24" fmla="*/ 10 w 12"/>
              <a:gd name="T25" fmla="*/ 5 h 11"/>
              <a:gd name="T26" fmla="*/ 12 w 12"/>
              <a:gd name="T27" fmla="*/ 3 h 11"/>
              <a:gd name="T28" fmla="*/ 9 w 12"/>
              <a:gd name="T29"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 h="11">
                <a:moveTo>
                  <a:pt x="9" y="0"/>
                </a:moveTo>
                <a:lnTo>
                  <a:pt x="9" y="0"/>
                </a:lnTo>
                <a:lnTo>
                  <a:pt x="7" y="1"/>
                </a:lnTo>
                <a:lnTo>
                  <a:pt x="5" y="3"/>
                </a:lnTo>
                <a:lnTo>
                  <a:pt x="4" y="5"/>
                </a:lnTo>
                <a:lnTo>
                  <a:pt x="2" y="6"/>
                </a:lnTo>
                <a:lnTo>
                  <a:pt x="2" y="8"/>
                </a:lnTo>
                <a:lnTo>
                  <a:pt x="0" y="10"/>
                </a:lnTo>
                <a:lnTo>
                  <a:pt x="5" y="11"/>
                </a:lnTo>
                <a:lnTo>
                  <a:pt x="7" y="10"/>
                </a:lnTo>
                <a:lnTo>
                  <a:pt x="7" y="8"/>
                </a:lnTo>
                <a:lnTo>
                  <a:pt x="9" y="6"/>
                </a:lnTo>
                <a:lnTo>
                  <a:pt x="10" y="5"/>
                </a:lnTo>
                <a:lnTo>
                  <a:pt x="12" y="3"/>
                </a:lnTo>
                <a:lnTo>
                  <a:pt x="9"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69" name="Freeform 2274">
            <a:extLst>
              <a:ext uri="{FF2B5EF4-FFF2-40B4-BE49-F238E27FC236}">
                <a16:creationId xmlns:a16="http://schemas.microsoft.com/office/drawing/2014/main" id="{E2C248F3-2A7B-9BD6-2A2D-0C877D4E88EA}"/>
              </a:ext>
            </a:extLst>
          </p:cNvPr>
          <p:cNvSpPr>
            <a:spLocks/>
          </p:cNvSpPr>
          <p:nvPr/>
        </p:nvSpPr>
        <p:spPr bwMode="auto">
          <a:xfrm>
            <a:off x="2849563" y="2505075"/>
            <a:ext cx="19050" cy="19050"/>
          </a:xfrm>
          <a:custGeom>
            <a:avLst/>
            <a:gdLst>
              <a:gd name="T0" fmla="*/ 8 w 12"/>
              <a:gd name="T1" fmla="*/ 0 h 12"/>
              <a:gd name="T2" fmla="*/ 8 w 12"/>
              <a:gd name="T3" fmla="*/ 0 h 12"/>
              <a:gd name="T4" fmla="*/ 7 w 12"/>
              <a:gd name="T5" fmla="*/ 2 h 12"/>
              <a:gd name="T6" fmla="*/ 5 w 12"/>
              <a:gd name="T7" fmla="*/ 4 h 12"/>
              <a:gd name="T8" fmla="*/ 3 w 12"/>
              <a:gd name="T9" fmla="*/ 5 h 12"/>
              <a:gd name="T10" fmla="*/ 2 w 12"/>
              <a:gd name="T11" fmla="*/ 7 h 12"/>
              <a:gd name="T12" fmla="*/ 2 w 12"/>
              <a:gd name="T13" fmla="*/ 9 h 12"/>
              <a:gd name="T14" fmla="*/ 0 w 12"/>
              <a:gd name="T15" fmla="*/ 10 h 12"/>
              <a:gd name="T16" fmla="*/ 5 w 12"/>
              <a:gd name="T17" fmla="*/ 12 h 12"/>
              <a:gd name="T18" fmla="*/ 5 w 12"/>
              <a:gd name="T19" fmla="*/ 10 h 12"/>
              <a:gd name="T20" fmla="*/ 7 w 12"/>
              <a:gd name="T21" fmla="*/ 10 h 12"/>
              <a:gd name="T22" fmla="*/ 7 w 12"/>
              <a:gd name="T23" fmla="*/ 9 h 12"/>
              <a:gd name="T24" fmla="*/ 8 w 12"/>
              <a:gd name="T25" fmla="*/ 7 h 12"/>
              <a:gd name="T26" fmla="*/ 10 w 12"/>
              <a:gd name="T27" fmla="*/ 5 h 12"/>
              <a:gd name="T28" fmla="*/ 12 w 12"/>
              <a:gd name="T29" fmla="*/ 4 h 12"/>
              <a:gd name="T30" fmla="*/ 8 w 12"/>
              <a:gd name="T31" fmla="*/ 0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 h="12">
                <a:moveTo>
                  <a:pt x="8" y="0"/>
                </a:moveTo>
                <a:lnTo>
                  <a:pt x="8" y="0"/>
                </a:lnTo>
                <a:lnTo>
                  <a:pt x="7" y="2"/>
                </a:lnTo>
                <a:lnTo>
                  <a:pt x="5" y="4"/>
                </a:lnTo>
                <a:lnTo>
                  <a:pt x="3" y="5"/>
                </a:lnTo>
                <a:lnTo>
                  <a:pt x="2" y="7"/>
                </a:lnTo>
                <a:lnTo>
                  <a:pt x="2" y="9"/>
                </a:lnTo>
                <a:lnTo>
                  <a:pt x="0" y="10"/>
                </a:lnTo>
                <a:lnTo>
                  <a:pt x="5" y="12"/>
                </a:lnTo>
                <a:lnTo>
                  <a:pt x="5" y="10"/>
                </a:lnTo>
                <a:lnTo>
                  <a:pt x="7" y="10"/>
                </a:lnTo>
                <a:lnTo>
                  <a:pt x="7" y="9"/>
                </a:lnTo>
                <a:lnTo>
                  <a:pt x="8" y="7"/>
                </a:lnTo>
                <a:lnTo>
                  <a:pt x="10" y="5"/>
                </a:lnTo>
                <a:lnTo>
                  <a:pt x="12" y="4"/>
                </a:lnTo>
                <a:lnTo>
                  <a:pt x="8"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70" name="Freeform 2275">
            <a:extLst>
              <a:ext uri="{FF2B5EF4-FFF2-40B4-BE49-F238E27FC236}">
                <a16:creationId xmlns:a16="http://schemas.microsoft.com/office/drawing/2014/main" id="{7E57ADBE-ADEF-6200-D139-C1F8F39EC1FA}"/>
              </a:ext>
            </a:extLst>
          </p:cNvPr>
          <p:cNvSpPr>
            <a:spLocks/>
          </p:cNvSpPr>
          <p:nvPr/>
        </p:nvSpPr>
        <p:spPr bwMode="auto">
          <a:xfrm>
            <a:off x="2854325" y="2508250"/>
            <a:ext cx="15875" cy="19050"/>
          </a:xfrm>
          <a:custGeom>
            <a:avLst/>
            <a:gdLst>
              <a:gd name="T0" fmla="*/ 7 w 10"/>
              <a:gd name="T1" fmla="*/ 0 h 12"/>
              <a:gd name="T2" fmla="*/ 7 w 10"/>
              <a:gd name="T3" fmla="*/ 0 h 12"/>
              <a:gd name="T4" fmla="*/ 5 w 10"/>
              <a:gd name="T5" fmla="*/ 2 h 12"/>
              <a:gd name="T6" fmla="*/ 4 w 10"/>
              <a:gd name="T7" fmla="*/ 3 h 12"/>
              <a:gd name="T8" fmla="*/ 2 w 10"/>
              <a:gd name="T9" fmla="*/ 5 h 12"/>
              <a:gd name="T10" fmla="*/ 2 w 10"/>
              <a:gd name="T11" fmla="*/ 7 h 12"/>
              <a:gd name="T12" fmla="*/ 0 w 10"/>
              <a:gd name="T13" fmla="*/ 8 h 12"/>
              <a:gd name="T14" fmla="*/ 4 w 10"/>
              <a:gd name="T15" fmla="*/ 12 h 12"/>
              <a:gd name="T16" fmla="*/ 4 w 10"/>
              <a:gd name="T17" fmla="*/ 10 h 12"/>
              <a:gd name="T18" fmla="*/ 5 w 10"/>
              <a:gd name="T19" fmla="*/ 8 h 12"/>
              <a:gd name="T20" fmla="*/ 7 w 10"/>
              <a:gd name="T21" fmla="*/ 7 h 12"/>
              <a:gd name="T22" fmla="*/ 9 w 10"/>
              <a:gd name="T23" fmla="*/ 5 h 12"/>
              <a:gd name="T24" fmla="*/ 10 w 10"/>
              <a:gd name="T25" fmla="*/ 3 h 12"/>
              <a:gd name="T26" fmla="*/ 7 w 10"/>
              <a:gd name="T27" fmla="*/ 0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 h="12">
                <a:moveTo>
                  <a:pt x="7" y="0"/>
                </a:moveTo>
                <a:lnTo>
                  <a:pt x="7" y="0"/>
                </a:lnTo>
                <a:lnTo>
                  <a:pt x="5" y="2"/>
                </a:lnTo>
                <a:lnTo>
                  <a:pt x="4" y="3"/>
                </a:lnTo>
                <a:lnTo>
                  <a:pt x="2" y="5"/>
                </a:lnTo>
                <a:lnTo>
                  <a:pt x="2" y="7"/>
                </a:lnTo>
                <a:lnTo>
                  <a:pt x="0" y="8"/>
                </a:lnTo>
                <a:lnTo>
                  <a:pt x="4" y="12"/>
                </a:lnTo>
                <a:lnTo>
                  <a:pt x="4" y="10"/>
                </a:lnTo>
                <a:lnTo>
                  <a:pt x="5" y="8"/>
                </a:lnTo>
                <a:lnTo>
                  <a:pt x="7" y="7"/>
                </a:lnTo>
                <a:lnTo>
                  <a:pt x="9" y="5"/>
                </a:lnTo>
                <a:lnTo>
                  <a:pt x="10" y="3"/>
                </a:lnTo>
                <a:lnTo>
                  <a:pt x="7"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71" name="Freeform 2276">
            <a:extLst>
              <a:ext uri="{FF2B5EF4-FFF2-40B4-BE49-F238E27FC236}">
                <a16:creationId xmlns:a16="http://schemas.microsoft.com/office/drawing/2014/main" id="{11A0F086-EC37-9FB0-CDFC-056683C55BB1}"/>
              </a:ext>
            </a:extLst>
          </p:cNvPr>
          <p:cNvSpPr>
            <a:spLocks/>
          </p:cNvSpPr>
          <p:nvPr/>
        </p:nvSpPr>
        <p:spPr bwMode="auto">
          <a:xfrm>
            <a:off x="2857500" y="2511425"/>
            <a:ext cx="15875" cy="17463"/>
          </a:xfrm>
          <a:custGeom>
            <a:avLst/>
            <a:gdLst>
              <a:gd name="T0" fmla="*/ 7 w 10"/>
              <a:gd name="T1" fmla="*/ 0 h 11"/>
              <a:gd name="T2" fmla="*/ 7 w 10"/>
              <a:gd name="T3" fmla="*/ 0 h 11"/>
              <a:gd name="T4" fmla="*/ 5 w 10"/>
              <a:gd name="T5" fmla="*/ 1 h 11"/>
              <a:gd name="T6" fmla="*/ 3 w 10"/>
              <a:gd name="T7" fmla="*/ 3 h 11"/>
              <a:gd name="T8" fmla="*/ 2 w 10"/>
              <a:gd name="T9" fmla="*/ 5 h 11"/>
              <a:gd name="T10" fmla="*/ 2 w 10"/>
              <a:gd name="T11" fmla="*/ 6 h 11"/>
              <a:gd name="T12" fmla="*/ 0 w 10"/>
              <a:gd name="T13" fmla="*/ 6 h 11"/>
              <a:gd name="T14" fmla="*/ 0 w 10"/>
              <a:gd name="T15" fmla="*/ 8 h 11"/>
              <a:gd name="T16" fmla="*/ 3 w 10"/>
              <a:gd name="T17" fmla="*/ 11 h 11"/>
              <a:gd name="T18" fmla="*/ 5 w 10"/>
              <a:gd name="T19" fmla="*/ 10 h 11"/>
              <a:gd name="T20" fmla="*/ 5 w 10"/>
              <a:gd name="T21" fmla="*/ 8 h 11"/>
              <a:gd name="T22" fmla="*/ 7 w 10"/>
              <a:gd name="T23" fmla="*/ 8 h 11"/>
              <a:gd name="T24" fmla="*/ 7 w 10"/>
              <a:gd name="T25" fmla="*/ 6 h 11"/>
              <a:gd name="T26" fmla="*/ 8 w 10"/>
              <a:gd name="T27" fmla="*/ 5 h 11"/>
              <a:gd name="T28" fmla="*/ 10 w 10"/>
              <a:gd name="T29" fmla="*/ 3 h 11"/>
              <a:gd name="T30" fmla="*/ 7 w 10"/>
              <a:gd name="T31"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 h="11">
                <a:moveTo>
                  <a:pt x="7" y="0"/>
                </a:moveTo>
                <a:lnTo>
                  <a:pt x="7" y="0"/>
                </a:lnTo>
                <a:lnTo>
                  <a:pt x="5" y="1"/>
                </a:lnTo>
                <a:lnTo>
                  <a:pt x="3" y="3"/>
                </a:lnTo>
                <a:lnTo>
                  <a:pt x="2" y="5"/>
                </a:lnTo>
                <a:lnTo>
                  <a:pt x="2" y="6"/>
                </a:lnTo>
                <a:lnTo>
                  <a:pt x="0" y="6"/>
                </a:lnTo>
                <a:lnTo>
                  <a:pt x="0" y="8"/>
                </a:lnTo>
                <a:lnTo>
                  <a:pt x="3" y="11"/>
                </a:lnTo>
                <a:lnTo>
                  <a:pt x="5" y="10"/>
                </a:lnTo>
                <a:lnTo>
                  <a:pt x="5" y="8"/>
                </a:lnTo>
                <a:lnTo>
                  <a:pt x="7" y="8"/>
                </a:lnTo>
                <a:lnTo>
                  <a:pt x="7" y="6"/>
                </a:lnTo>
                <a:lnTo>
                  <a:pt x="8" y="5"/>
                </a:lnTo>
                <a:lnTo>
                  <a:pt x="10" y="3"/>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72" name="Freeform 2277">
            <a:extLst>
              <a:ext uri="{FF2B5EF4-FFF2-40B4-BE49-F238E27FC236}">
                <a16:creationId xmlns:a16="http://schemas.microsoft.com/office/drawing/2014/main" id="{3E7DC428-3A95-D9B8-6732-028A5192F05A}"/>
              </a:ext>
            </a:extLst>
          </p:cNvPr>
          <p:cNvSpPr>
            <a:spLocks/>
          </p:cNvSpPr>
          <p:nvPr/>
        </p:nvSpPr>
        <p:spPr bwMode="auto">
          <a:xfrm>
            <a:off x="2860675" y="2513013"/>
            <a:ext cx="15875" cy="15875"/>
          </a:xfrm>
          <a:custGeom>
            <a:avLst/>
            <a:gdLst>
              <a:gd name="T0" fmla="*/ 6 w 10"/>
              <a:gd name="T1" fmla="*/ 0 h 10"/>
              <a:gd name="T2" fmla="*/ 6 w 10"/>
              <a:gd name="T3" fmla="*/ 0 h 10"/>
              <a:gd name="T4" fmla="*/ 5 w 10"/>
              <a:gd name="T5" fmla="*/ 2 h 10"/>
              <a:gd name="T6" fmla="*/ 3 w 10"/>
              <a:gd name="T7" fmla="*/ 4 h 10"/>
              <a:gd name="T8" fmla="*/ 1 w 10"/>
              <a:gd name="T9" fmla="*/ 5 h 10"/>
              <a:gd name="T10" fmla="*/ 0 w 10"/>
              <a:gd name="T11" fmla="*/ 7 h 10"/>
              <a:gd name="T12" fmla="*/ 0 w 10"/>
              <a:gd name="T13" fmla="*/ 9 h 10"/>
              <a:gd name="T14" fmla="*/ 3 w 10"/>
              <a:gd name="T15" fmla="*/ 10 h 10"/>
              <a:gd name="T16" fmla="*/ 5 w 10"/>
              <a:gd name="T17" fmla="*/ 10 h 10"/>
              <a:gd name="T18" fmla="*/ 5 w 10"/>
              <a:gd name="T19" fmla="*/ 9 h 10"/>
              <a:gd name="T20" fmla="*/ 6 w 10"/>
              <a:gd name="T21" fmla="*/ 7 h 10"/>
              <a:gd name="T22" fmla="*/ 8 w 10"/>
              <a:gd name="T23" fmla="*/ 5 h 10"/>
              <a:gd name="T24" fmla="*/ 10 w 10"/>
              <a:gd name="T25" fmla="*/ 4 h 10"/>
              <a:gd name="T26" fmla="*/ 6 w 10"/>
              <a:gd name="T27"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 h="10">
                <a:moveTo>
                  <a:pt x="6" y="0"/>
                </a:moveTo>
                <a:lnTo>
                  <a:pt x="6" y="0"/>
                </a:lnTo>
                <a:lnTo>
                  <a:pt x="5" y="2"/>
                </a:lnTo>
                <a:lnTo>
                  <a:pt x="3" y="4"/>
                </a:lnTo>
                <a:lnTo>
                  <a:pt x="1" y="5"/>
                </a:lnTo>
                <a:lnTo>
                  <a:pt x="0" y="7"/>
                </a:lnTo>
                <a:lnTo>
                  <a:pt x="0" y="9"/>
                </a:lnTo>
                <a:lnTo>
                  <a:pt x="3" y="10"/>
                </a:lnTo>
                <a:lnTo>
                  <a:pt x="5" y="10"/>
                </a:lnTo>
                <a:lnTo>
                  <a:pt x="5" y="9"/>
                </a:lnTo>
                <a:lnTo>
                  <a:pt x="6" y="7"/>
                </a:lnTo>
                <a:lnTo>
                  <a:pt x="8" y="5"/>
                </a:lnTo>
                <a:lnTo>
                  <a:pt x="10" y="4"/>
                </a:lnTo>
                <a:lnTo>
                  <a:pt x="6"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73" name="Freeform 2278">
            <a:extLst>
              <a:ext uri="{FF2B5EF4-FFF2-40B4-BE49-F238E27FC236}">
                <a16:creationId xmlns:a16="http://schemas.microsoft.com/office/drawing/2014/main" id="{2BE2526E-43EA-30BF-5189-5D8FB1BA69BE}"/>
              </a:ext>
            </a:extLst>
          </p:cNvPr>
          <p:cNvSpPr>
            <a:spLocks/>
          </p:cNvSpPr>
          <p:nvPr/>
        </p:nvSpPr>
        <p:spPr bwMode="auto">
          <a:xfrm>
            <a:off x="2862263" y="2516188"/>
            <a:ext cx="15875" cy="15875"/>
          </a:xfrm>
          <a:custGeom>
            <a:avLst/>
            <a:gdLst>
              <a:gd name="T0" fmla="*/ 7 w 10"/>
              <a:gd name="T1" fmla="*/ 0 h 10"/>
              <a:gd name="T2" fmla="*/ 7 w 10"/>
              <a:gd name="T3" fmla="*/ 0 h 10"/>
              <a:gd name="T4" fmla="*/ 5 w 10"/>
              <a:gd name="T5" fmla="*/ 2 h 10"/>
              <a:gd name="T6" fmla="*/ 4 w 10"/>
              <a:gd name="T7" fmla="*/ 3 h 10"/>
              <a:gd name="T8" fmla="*/ 4 w 10"/>
              <a:gd name="T9" fmla="*/ 5 h 10"/>
              <a:gd name="T10" fmla="*/ 2 w 10"/>
              <a:gd name="T11" fmla="*/ 5 h 10"/>
              <a:gd name="T12" fmla="*/ 2 w 10"/>
              <a:gd name="T13" fmla="*/ 7 h 10"/>
              <a:gd name="T14" fmla="*/ 0 w 10"/>
              <a:gd name="T15" fmla="*/ 8 h 10"/>
              <a:gd name="T16" fmla="*/ 5 w 10"/>
              <a:gd name="T17" fmla="*/ 10 h 10"/>
              <a:gd name="T18" fmla="*/ 5 w 10"/>
              <a:gd name="T19" fmla="*/ 8 h 10"/>
              <a:gd name="T20" fmla="*/ 7 w 10"/>
              <a:gd name="T21" fmla="*/ 8 h 10"/>
              <a:gd name="T22" fmla="*/ 7 w 10"/>
              <a:gd name="T23" fmla="*/ 7 h 10"/>
              <a:gd name="T24" fmla="*/ 9 w 10"/>
              <a:gd name="T25" fmla="*/ 5 h 10"/>
              <a:gd name="T26" fmla="*/ 10 w 10"/>
              <a:gd name="T27" fmla="*/ 3 h 10"/>
              <a:gd name="T28" fmla="*/ 7 w 10"/>
              <a:gd name="T29"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0" h="10">
                <a:moveTo>
                  <a:pt x="7" y="0"/>
                </a:moveTo>
                <a:lnTo>
                  <a:pt x="7" y="0"/>
                </a:lnTo>
                <a:lnTo>
                  <a:pt x="5" y="2"/>
                </a:lnTo>
                <a:lnTo>
                  <a:pt x="4" y="3"/>
                </a:lnTo>
                <a:lnTo>
                  <a:pt x="4" y="5"/>
                </a:lnTo>
                <a:lnTo>
                  <a:pt x="2" y="5"/>
                </a:lnTo>
                <a:lnTo>
                  <a:pt x="2" y="7"/>
                </a:lnTo>
                <a:lnTo>
                  <a:pt x="0" y="8"/>
                </a:lnTo>
                <a:lnTo>
                  <a:pt x="5" y="10"/>
                </a:lnTo>
                <a:lnTo>
                  <a:pt x="5" y="8"/>
                </a:lnTo>
                <a:lnTo>
                  <a:pt x="7" y="8"/>
                </a:lnTo>
                <a:lnTo>
                  <a:pt x="7" y="7"/>
                </a:lnTo>
                <a:lnTo>
                  <a:pt x="9" y="5"/>
                </a:lnTo>
                <a:lnTo>
                  <a:pt x="10" y="3"/>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74" name="Freeform 2279">
            <a:extLst>
              <a:ext uri="{FF2B5EF4-FFF2-40B4-BE49-F238E27FC236}">
                <a16:creationId xmlns:a16="http://schemas.microsoft.com/office/drawing/2014/main" id="{FC4503BF-0F86-2C29-192A-48694A4C93E7}"/>
              </a:ext>
            </a:extLst>
          </p:cNvPr>
          <p:cNvSpPr>
            <a:spLocks/>
          </p:cNvSpPr>
          <p:nvPr/>
        </p:nvSpPr>
        <p:spPr bwMode="auto">
          <a:xfrm>
            <a:off x="2865438" y="2519363"/>
            <a:ext cx="19050" cy="15875"/>
          </a:xfrm>
          <a:custGeom>
            <a:avLst/>
            <a:gdLst>
              <a:gd name="T0" fmla="*/ 7 w 12"/>
              <a:gd name="T1" fmla="*/ 0 h 10"/>
              <a:gd name="T2" fmla="*/ 7 w 12"/>
              <a:gd name="T3" fmla="*/ 0 h 10"/>
              <a:gd name="T4" fmla="*/ 5 w 12"/>
              <a:gd name="T5" fmla="*/ 1 h 10"/>
              <a:gd name="T6" fmla="*/ 3 w 12"/>
              <a:gd name="T7" fmla="*/ 3 h 10"/>
              <a:gd name="T8" fmla="*/ 2 w 12"/>
              <a:gd name="T9" fmla="*/ 5 h 10"/>
              <a:gd name="T10" fmla="*/ 2 w 12"/>
              <a:gd name="T11" fmla="*/ 6 h 10"/>
              <a:gd name="T12" fmla="*/ 0 w 12"/>
              <a:gd name="T13" fmla="*/ 6 h 10"/>
              <a:gd name="T14" fmla="*/ 5 w 12"/>
              <a:gd name="T15" fmla="*/ 10 h 10"/>
              <a:gd name="T16" fmla="*/ 5 w 12"/>
              <a:gd name="T17" fmla="*/ 8 h 10"/>
              <a:gd name="T18" fmla="*/ 7 w 12"/>
              <a:gd name="T19" fmla="*/ 8 h 10"/>
              <a:gd name="T20" fmla="*/ 7 w 12"/>
              <a:gd name="T21" fmla="*/ 6 h 10"/>
              <a:gd name="T22" fmla="*/ 8 w 12"/>
              <a:gd name="T23" fmla="*/ 6 h 10"/>
              <a:gd name="T24" fmla="*/ 8 w 12"/>
              <a:gd name="T25" fmla="*/ 5 h 10"/>
              <a:gd name="T26" fmla="*/ 10 w 12"/>
              <a:gd name="T27" fmla="*/ 5 h 10"/>
              <a:gd name="T28" fmla="*/ 10 w 12"/>
              <a:gd name="T29" fmla="*/ 3 h 10"/>
              <a:gd name="T30" fmla="*/ 12 w 12"/>
              <a:gd name="T31" fmla="*/ 3 h 10"/>
              <a:gd name="T32" fmla="*/ 7 w 12"/>
              <a:gd name="T33"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2" h="10">
                <a:moveTo>
                  <a:pt x="7" y="0"/>
                </a:moveTo>
                <a:lnTo>
                  <a:pt x="7" y="0"/>
                </a:lnTo>
                <a:lnTo>
                  <a:pt x="5" y="1"/>
                </a:lnTo>
                <a:lnTo>
                  <a:pt x="3" y="3"/>
                </a:lnTo>
                <a:lnTo>
                  <a:pt x="2" y="5"/>
                </a:lnTo>
                <a:lnTo>
                  <a:pt x="2" y="6"/>
                </a:lnTo>
                <a:lnTo>
                  <a:pt x="0" y="6"/>
                </a:lnTo>
                <a:lnTo>
                  <a:pt x="5" y="10"/>
                </a:lnTo>
                <a:lnTo>
                  <a:pt x="5" y="8"/>
                </a:lnTo>
                <a:lnTo>
                  <a:pt x="7" y="8"/>
                </a:lnTo>
                <a:lnTo>
                  <a:pt x="7" y="6"/>
                </a:lnTo>
                <a:lnTo>
                  <a:pt x="8" y="6"/>
                </a:lnTo>
                <a:lnTo>
                  <a:pt x="8" y="5"/>
                </a:lnTo>
                <a:lnTo>
                  <a:pt x="10" y="5"/>
                </a:lnTo>
                <a:lnTo>
                  <a:pt x="10" y="3"/>
                </a:lnTo>
                <a:lnTo>
                  <a:pt x="12" y="3"/>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75" name="Freeform 2280">
            <a:extLst>
              <a:ext uri="{FF2B5EF4-FFF2-40B4-BE49-F238E27FC236}">
                <a16:creationId xmlns:a16="http://schemas.microsoft.com/office/drawing/2014/main" id="{60333F71-AD79-8A55-D634-00203D363B63}"/>
              </a:ext>
            </a:extLst>
          </p:cNvPr>
          <p:cNvSpPr>
            <a:spLocks/>
          </p:cNvSpPr>
          <p:nvPr/>
        </p:nvSpPr>
        <p:spPr bwMode="auto">
          <a:xfrm>
            <a:off x="2870200" y="2520950"/>
            <a:ext cx="15875" cy="15875"/>
          </a:xfrm>
          <a:custGeom>
            <a:avLst/>
            <a:gdLst>
              <a:gd name="T0" fmla="*/ 5 w 10"/>
              <a:gd name="T1" fmla="*/ 0 h 10"/>
              <a:gd name="T2" fmla="*/ 5 w 10"/>
              <a:gd name="T3" fmla="*/ 0 h 10"/>
              <a:gd name="T4" fmla="*/ 4 w 10"/>
              <a:gd name="T5" fmla="*/ 2 h 10"/>
              <a:gd name="T6" fmla="*/ 2 w 10"/>
              <a:gd name="T7" fmla="*/ 4 h 10"/>
              <a:gd name="T8" fmla="*/ 2 w 10"/>
              <a:gd name="T9" fmla="*/ 5 h 10"/>
              <a:gd name="T10" fmla="*/ 0 w 10"/>
              <a:gd name="T11" fmla="*/ 5 h 10"/>
              <a:gd name="T12" fmla="*/ 0 w 10"/>
              <a:gd name="T13" fmla="*/ 7 h 10"/>
              <a:gd name="T14" fmla="*/ 4 w 10"/>
              <a:gd name="T15" fmla="*/ 10 h 10"/>
              <a:gd name="T16" fmla="*/ 5 w 10"/>
              <a:gd name="T17" fmla="*/ 9 h 10"/>
              <a:gd name="T18" fmla="*/ 5 w 10"/>
              <a:gd name="T19" fmla="*/ 7 h 10"/>
              <a:gd name="T20" fmla="*/ 7 w 10"/>
              <a:gd name="T21" fmla="*/ 7 h 10"/>
              <a:gd name="T22" fmla="*/ 7 w 10"/>
              <a:gd name="T23" fmla="*/ 5 h 10"/>
              <a:gd name="T24" fmla="*/ 9 w 10"/>
              <a:gd name="T25" fmla="*/ 5 h 10"/>
              <a:gd name="T26" fmla="*/ 9 w 10"/>
              <a:gd name="T27" fmla="*/ 4 h 10"/>
              <a:gd name="T28" fmla="*/ 10 w 10"/>
              <a:gd name="T29" fmla="*/ 4 h 10"/>
              <a:gd name="T30" fmla="*/ 5 w 10"/>
              <a:gd name="T31"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 h="10">
                <a:moveTo>
                  <a:pt x="5" y="0"/>
                </a:moveTo>
                <a:lnTo>
                  <a:pt x="5" y="0"/>
                </a:lnTo>
                <a:lnTo>
                  <a:pt x="4" y="2"/>
                </a:lnTo>
                <a:lnTo>
                  <a:pt x="2" y="4"/>
                </a:lnTo>
                <a:lnTo>
                  <a:pt x="2" y="5"/>
                </a:lnTo>
                <a:lnTo>
                  <a:pt x="0" y="5"/>
                </a:lnTo>
                <a:lnTo>
                  <a:pt x="0" y="7"/>
                </a:lnTo>
                <a:lnTo>
                  <a:pt x="4" y="10"/>
                </a:lnTo>
                <a:lnTo>
                  <a:pt x="5" y="9"/>
                </a:lnTo>
                <a:lnTo>
                  <a:pt x="5" y="7"/>
                </a:lnTo>
                <a:lnTo>
                  <a:pt x="7" y="7"/>
                </a:lnTo>
                <a:lnTo>
                  <a:pt x="7" y="5"/>
                </a:lnTo>
                <a:lnTo>
                  <a:pt x="9" y="5"/>
                </a:lnTo>
                <a:lnTo>
                  <a:pt x="9" y="4"/>
                </a:lnTo>
                <a:lnTo>
                  <a:pt x="10" y="4"/>
                </a:lnTo>
                <a:lnTo>
                  <a:pt x="5"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76" name="Freeform 2281">
            <a:extLst>
              <a:ext uri="{FF2B5EF4-FFF2-40B4-BE49-F238E27FC236}">
                <a16:creationId xmlns:a16="http://schemas.microsoft.com/office/drawing/2014/main" id="{2B9C06E8-3DC4-BB76-5C33-7FDCC4566483}"/>
              </a:ext>
            </a:extLst>
          </p:cNvPr>
          <p:cNvSpPr>
            <a:spLocks/>
          </p:cNvSpPr>
          <p:nvPr/>
        </p:nvSpPr>
        <p:spPr bwMode="auto">
          <a:xfrm>
            <a:off x="2873375" y="2524125"/>
            <a:ext cx="15875" cy="12700"/>
          </a:xfrm>
          <a:custGeom>
            <a:avLst/>
            <a:gdLst>
              <a:gd name="T0" fmla="*/ 7 w 10"/>
              <a:gd name="T1" fmla="*/ 0 h 8"/>
              <a:gd name="T2" fmla="*/ 5 w 10"/>
              <a:gd name="T3" fmla="*/ 0 h 8"/>
              <a:gd name="T4" fmla="*/ 5 w 10"/>
              <a:gd name="T5" fmla="*/ 2 h 8"/>
              <a:gd name="T6" fmla="*/ 3 w 10"/>
              <a:gd name="T7" fmla="*/ 2 h 8"/>
              <a:gd name="T8" fmla="*/ 3 w 10"/>
              <a:gd name="T9" fmla="*/ 3 h 8"/>
              <a:gd name="T10" fmla="*/ 2 w 10"/>
              <a:gd name="T11" fmla="*/ 3 h 8"/>
              <a:gd name="T12" fmla="*/ 2 w 10"/>
              <a:gd name="T13" fmla="*/ 5 h 8"/>
              <a:gd name="T14" fmla="*/ 0 w 10"/>
              <a:gd name="T15" fmla="*/ 5 h 8"/>
              <a:gd name="T16" fmla="*/ 0 w 10"/>
              <a:gd name="T17" fmla="*/ 7 h 8"/>
              <a:gd name="T18" fmla="*/ 3 w 10"/>
              <a:gd name="T19" fmla="*/ 8 h 8"/>
              <a:gd name="T20" fmla="*/ 5 w 10"/>
              <a:gd name="T21" fmla="*/ 8 h 8"/>
              <a:gd name="T22" fmla="*/ 5 w 10"/>
              <a:gd name="T23" fmla="*/ 7 h 8"/>
              <a:gd name="T24" fmla="*/ 7 w 10"/>
              <a:gd name="T25" fmla="*/ 5 h 8"/>
              <a:gd name="T26" fmla="*/ 8 w 10"/>
              <a:gd name="T27" fmla="*/ 5 h 8"/>
              <a:gd name="T28" fmla="*/ 8 w 10"/>
              <a:gd name="T29" fmla="*/ 3 h 8"/>
              <a:gd name="T30" fmla="*/ 10 w 10"/>
              <a:gd name="T31" fmla="*/ 3 h 8"/>
              <a:gd name="T32" fmla="*/ 7 w 10"/>
              <a:gd name="T33"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0" h="8">
                <a:moveTo>
                  <a:pt x="7" y="0"/>
                </a:moveTo>
                <a:lnTo>
                  <a:pt x="5" y="0"/>
                </a:lnTo>
                <a:lnTo>
                  <a:pt x="5" y="2"/>
                </a:lnTo>
                <a:lnTo>
                  <a:pt x="3" y="2"/>
                </a:lnTo>
                <a:lnTo>
                  <a:pt x="3" y="3"/>
                </a:lnTo>
                <a:lnTo>
                  <a:pt x="2" y="3"/>
                </a:lnTo>
                <a:lnTo>
                  <a:pt x="2" y="5"/>
                </a:lnTo>
                <a:lnTo>
                  <a:pt x="0" y="5"/>
                </a:lnTo>
                <a:lnTo>
                  <a:pt x="0" y="7"/>
                </a:lnTo>
                <a:lnTo>
                  <a:pt x="3" y="8"/>
                </a:lnTo>
                <a:lnTo>
                  <a:pt x="5" y="8"/>
                </a:lnTo>
                <a:lnTo>
                  <a:pt x="5" y="7"/>
                </a:lnTo>
                <a:lnTo>
                  <a:pt x="7" y="5"/>
                </a:lnTo>
                <a:lnTo>
                  <a:pt x="8" y="5"/>
                </a:lnTo>
                <a:lnTo>
                  <a:pt x="8" y="3"/>
                </a:lnTo>
                <a:lnTo>
                  <a:pt x="10" y="3"/>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77" name="Freeform 2282">
            <a:extLst>
              <a:ext uri="{FF2B5EF4-FFF2-40B4-BE49-F238E27FC236}">
                <a16:creationId xmlns:a16="http://schemas.microsoft.com/office/drawing/2014/main" id="{0DD57165-00E6-0A42-F92D-B7717ECF60E4}"/>
              </a:ext>
            </a:extLst>
          </p:cNvPr>
          <p:cNvSpPr>
            <a:spLocks/>
          </p:cNvSpPr>
          <p:nvPr/>
        </p:nvSpPr>
        <p:spPr bwMode="auto">
          <a:xfrm>
            <a:off x="2876550" y="2527300"/>
            <a:ext cx="15875" cy="12700"/>
          </a:xfrm>
          <a:custGeom>
            <a:avLst/>
            <a:gdLst>
              <a:gd name="T0" fmla="*/ 6 w 10"/>
              <a:gd name="T1" fmla="*/ 0 h 8"/>
              <a:gd name="T2" fmla="*/ 5 w 10"/>
              <a:gd name="T3" fmla="*/ 0 h 8"/>
              <a:gd name="T4" fmla="*/ 5 w 10"/>
              <a:gd name="T5" fmla="*/ 1 h 8"/>
              <a:gd name="T6" fmla="*/ 3 w 10"/>
              <a:gd name="T7" fmla="*/ 1 h 8"/>
              <a:gd name="T8" fmla="*/ 3 w 10"/>
              <a:gd name="T9" fmla="*/ 3 h 8"/>
              <a:gd name="T10" fmla="*/ 1 w 10"/>
              <a:gd name="T11" fmla="*/ 3 h 8"/>
              <a:gd name="T12" fmla="*/ 1 w 10"/>
              <a:gd name="T13" fmla="*/ 5 h 8"/>
              <a:gd name="T14" fmla="*/ 0 w 10"/>
              <a:gd name="T15" fmla="*/ 6 h 8"/>
              <a:gd name="T16" fmla="*/ 5 w 10"/>
              <a:gd name="T17" fmla="*/ 8 h 8"/>
              <a:gd name="T18" fmla="*/ 5 w 10"/>
              <a:gd name="T19" fmla="*/ 6 h 8"/>
              <a:gd name="T20" fmla="*/ 6 w 10"/>
              <a:gd name="T21" fmla="*/ 6 h 8"/>
              <a:gd name="T22" fmla="*/ 6 w 10"/>
              <a:gd name="T23" fmla="*/ 5 h 8"/>
              <a:gd name="T24" fmla="*/ 8 w 10"/>
              <a:gd name="T25" fmla="*/ 5 h 8"/>
              <a:gd name="T26" fmla="*/ 8 w 10"/>
              <a:gd name="T27" fmla="*/ 3 h 8"/>
              <a:gd name="T28" fmla="*/ 10 w 10"/>
              <a:gd name="T29" fmla="*/ 3 h 8"/>
              <a:gd name="T30" fmla="*/ 6 w 10"/>
              <a:gd name="T31"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 h="8">
                <a:moveTo>
                  <a:pt x="6" y="0"/>
                </a:moveTo>
                <a:lnTo>
                  <a:pt x="5" y="0"/>
                </a:lnTo>
                <a:lnTo>
                  <a:pt x="5" y="1"/>
                </a:lnTo>
                <a:lnTo>
                  <a:pt x="3" y="1"/>
                </a:lnTo>
                <a:lnTo>
                  <a:pt x="3" y="3"/>
                </a:lnTo>
                <a:lnTo>
                  <a:pt x="1" y="3"/>
                </a:lnTo>
                <a:lnTo>
                  <a:pt x="1" y="5"/>
                </a:lnTo>
                <a:lnTo>
                  <a:pt x="0" y="6"/>
                </a:lnTo>
                <a:lnTo>
                  <a:pt x="5" y="8"/>
                </a:lnTo>
                <a:lnTo>
                  <a:pt x="5" y="6"/>
                </a:lnTo>
                <a:lnTo>
                  <a:pt x="6" y="6"/>
                </a:lnTo>
                <a:lnTo>
                  <a:pt x="6" y="5"/>
                </a:lnTo>
                <a:lnTo>
                  <a:pt x="8" y="5"/>
                </a:lnTo>
                <a:lnTo>
                  <a:pt x="8" y="3"/>
                </a:lnTo>
                <a:lnTo>
                  <a:pt x="10" y="3"/>
                </a:lnTo>
                <a:lnTo>
                  <a:pt x="6"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78" name="Freeform 2283">
            <a:extLst>
              <a:ext uri="{FF2B5EF4-FFF2-40B4-BE49-F238E27FC236}">
                <a16:creationId xmlns:a16="http://schemas.microsoft.com/office/drawing/2014/main" id="{DE79A515-CF28-CCD8-0A5A-5E51B16A30F8}"/>
              </a:ext>
            </a:extLst>
          </p:cNvPr>
          <p:cNvSpPr>
            <a:spLocks/>
          </p:cNvSpPr>
          <p:nvPr/>
        </p:nvSpPr>
        <p:spPr bwMode="auto">
          <a:xfrm>
            <a:off x="2878138" y="2528888"/>
            <a:ext cx="15875" cy="14288"/>
          </a:xfrm>
          <a:custGeom>
            <a:avLst/>
            <a:gdLst>
              <a:gd name="T0" fmla="*/ 7 w 10"/>
              <a:gd name="T1" fmla="*/ 0 h 9"/>
              <a:gd name="T2" fmla="*/ 5 w 10"/>
              <a:gd name="T3" fmla="*/ 0 h 9"/>
              <a:gd name="T4" fmla="*/ 5 w 10"/>
              <a:gd name="T5" fmla="*/ 2 h 9"/>
              <a:gd name="T6" fmla="*/ 4 w 10"/>
              <a:gd name="T7" fmla="*/ 2 h 9"/>
              <a:gd name="T8" fmla="*/ 2 w 10"/>
              <a:gd name="T9" fmla="*/ 4 h 9"/>
              <a:gd name="T10" fmla="*/ 2 w 10"/>
              <a:gd name="T11" fmla="*/ 5 h 9"/>
              <a:gd name="T12" fmla="*/ 0 w 10"/>
              <a:gd name="T13" fmla="*/ 5 h 9"/>
              <a:gd name="T14" fmla="*/ 5 w 10"/>
              <a:gd name="T15" fmla="*/ 9 h 9"/>
              <a:gd name="T16" fmla="*/ 5 w 10"/>
              <a:gd name="T17" fmla="*/ 7 h 9"/>
              <a:gd name="T18" fmla="*/ 7 w 10"/>
              <a:gd name="T19" fmla="*/ 7 h 9"/>
              <a:gd name="T20" fmla="*/ 7 w 10"/>
              <a:gd name="T21" fmla="*/ 5 h 9"/>
              <a:gd name="T22" fmla="*/ 9 w 10"/>
              <a:gd name="T23" fmla="*/ 4 h 9"/>
              <a:gd name="T24" fmla="*/ 10 w 10"/>
              <a:gd name="T25" fmla="*/ 4 h 9"/>
              <a:gd name="T26" fmla="*/ 7 w 10"/>
              <a:gd name="T27" fmla="*/ 0 h 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 h="9">
                <a:moveTo>
                  <a:pt x="7" y="0"/>
                </a:moveTo>
                <a:lnTo>
                  <a:pt x="5" y="0"/>
                </a:lnTo>
                <a:lnTo>
                  <a:pt x="5" y="2"/>
                </a:lnTo>
                <a:lnTo>
                  <a:pt x="4" y="2"/>
                </a:lnTo>
                <a:lnTo>
                  <a:pt x="2" y="4"/>
                </a:lnTo>
                <a:lnTo>
                  <a:pt x="2" y="5"/>
                </a:lnTo>
                <a:lnTo>
                  <a:pt x="0" y="5"/>
                </a:lnTo>
                <a:lnTo>
                  <a:pt x="5" y="9"/>
                </a:lnTo>
                <a:lnTo>
                  <a:pt x="5" y="7"/>
                </a:lnTo>
                <a:lnTo>
                  <a:pt x="7" y="7"/>
                </a:lnTo>
                <a:lnTo>
                  <a:pt x="7" y="5"/>
                </a:lnTo>
                <a:lnTo>
                  <a:pt x="9" y="4"/>
                </a:lnTo>
                <a:lnTo>
                  <a:pt x="10" y="4"/>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79" name="Freeform 2284">
            <a:extLst>
              <a:ext uri="{FF2B5EF4-FFF2-40B4-BE49-F238E27FC236}">
                <a16:creationId xmlns:a16="http://schemas.microsoft.com/office/drawing/2014/main" id="{672DF043-CDCF-0D84-A09B-D8479A884FC2}"/>
              </a:ext>
            </a:extLst>
          </p:cNvPr>
          <p:cNvSpPr>
            <a:spLocks/>
          </p:cNvSpPr>
          <p:nvPr/>
        </p:nvSpPr>
        <p:spPr bwMode="auto">
          <a:xfrm>
            <a:off x="2884488" y="2532063"/>
            <a:ext cx="12700" cy="12700"/>
          </a:xfrm>
          <a:custGeom>
            <a:avLst/>
            <a:gdLst>
              <a:gd name="T0" fmla="*/ 5 w 8"/>
              <a:gd name="T1" fmla="*/ 0 h 8"/>
              <a:gd name="T2" fmla="*/ 3 w 8"/>
              <a:gd name="T3" fmla="*/ 0 h 8"/>
              <a:gd name="T4" fmla="*/ 3 w 8"/>
              <a:gd name="T5" fmla="*/ 2 h 8"/>
              <a:gd name="T6" fmla="*/ 1 w 8"/>
              <a:gd name="T7" fmla="*/ 2 h 8"/>
              <a:gd name="T8" fmla="*/ 1 w 8"/>
              <a:gd name="T9" fmla="*/ 3 h 8"/>
              <a:gd name="T10" fmla="*/ 0 w 8"/>
              <a:gd name="T11" fmla="*/ 3 h 8"/>
              <a:gd name="T12" fmla="*/ 0 w 8"/>
              <a:gd name="T13" fmla="*/ 5 h 8"/>
              <a:gd name="T14" fmla="*/ 3 w 8"/>
              <a:gd name="T15" fmla="*/ 8 h 8"/>
              <a:gd name="T16" fmla="*/ 3 w 8"/>
              <a:gd name="T17" fmla="*/ 7 h 8"/>
              <a:gd name="T18" fmla="*/ 5 w 8"/>
              <a:gd name="T19" fmla="*/ 7 h 8"/>
              <a:gd name="T20" fmla="*/ 5 w 8"/>
              <a:gd name="T21" fmla="*/ 5 h 8"/>
              <a:gd name="T22" fmla="*/ 6 w 8"/>
              <a:gd name="T23" fmla="*/ 5 h 8"/>
              <a:gd name="T24" fmla="*/ 6 w 8"/>
              <a:gd name="T25" fmla="*/ 3 h 8"/>
              <a:gd name="T26" fmla="*/ 8 w 8"/>
              <a:gd name="T27" fmla="*/ 3 h 8"/>
              <a:gd name="T28" fmla="*/ 5 w 8"/>
              <a:gd name="T29"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 h="8">
                <a:moveTo>
                  <a:pt x="5" y="0"/>
                </a:moveTo>
                <a:lnTo>
                  <a:pt x="3" y="0"/>
                </a:lnTo>
                <a:lnTo>
                  <a:pt x="3" y="2"/>
                </a:lnTo>
                <a:lnTo>
                  <a:pt x="1" y="2"/>
                </a:lnTo>
                <a:lnTo>
                  <a:pt x="1" y="3"/>
                </a:lnTo>
                <a:lnTo>
                  <a:pt x="0" y="3"/>
                </a:lnTo>
                <a:lnTo>
                  <a:pt x="0" y="5"/>
                </a:lnTo>
                <a:lnTo>
                  <a:pt x="3" y="8"/>
                </a:lnTo>
                <a:lnTo>
                  <a:pt x="3" y="7"/>
                </a:lnTo>
                <a:lnTo>
                  <a:pt x="5" y="7"/>
                </a:lnTo>
                <a:lnTo>
                  <a:pt x="5" y="5"/>
                </a:lnTo>
                <a:lnTo>
                  <a:pt x="6" y="5"/>
                </a:lnTo>
                <a:lnTo>
                  <a:pt x="6" y="3"/>
                </a:lnTo>
                <a:lnTo>
                  <a:pt x="8" y="3"/>
                </a:lnTo>
                <a:lnTo>
                  <a:pt x="5"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80" name="Freeform 2285">
            <a:extLst>
              <a:ext uri="{FF2B5EF4-FFF2-40B4-BE49-F238E27FC236}">
                <a16:creationId xmlns:a16="http://schemas.microsoft.com/office/drawing/2014/main" id="{2B28E550-7825-7C81-5A50-DDC98D304734}"/>
              </a:ext>
            </a:extLst>
          </p:cNvPr>
          <p:cNvSpPr>
            <a:spLocks/>
          </p:cNvSpPr>
          <p:nvPr/>
        </p:nvSpPr>
        <p:spPr bwMode="auto">
          <a:xfrm>
            <a:off x="2886075" y="2535238"/>
            <a:ext cx="12700" cy="9525"/>
          </a:xfrm>
          <a:custGeom>
            <a:avLst/>
            <a:gdLst>
              <a:gd name="T0" fmla="*/ 5 w 8"/>
              <a:gd name="T1" fmla="*/ 0 h 6"/>
              <a:gd name="T2" fmla="*/ 4 w 8"/>
              <a:gd name="T3" fmla="*/ 0 h 6"/>
              <a:gd name="T4" fmla="*/ 2 w 8"/>
              <a:gd name="T5" fmla="*/ 1 h 6"/>
              <a:gd name="T6" fmla="*/ 2 w 8"/>
              <a:gd name="T7" fmla="*/ 3 h 6"/>
              <a:gd name="T8" fmla="*/ 0 w 8"/>
              <a:gd name="T9" fmla="*/ 3 h 6"/>
              <a:gd name="T10" fmla="*/ 0 w 8"/>
              <a:gd name="T11" fmla="*/ 5 h 6"/>
              <a:gd name="T12" fmla="*/ 4 w 8"/>
              <a:gd name="T13" fmla="*/ 6 h 6"/>
              <a:gd name="T14" fmla="*/ 5 w 8"/>
              <a:gd name="T15" fmla="*/ 6 h 6"/>
              <a:gd name="T16" fmla="*/ 5 w 8"/>
              <a:gd name="T17" fmla="*/ 5 h 6"/>
              <a:gd name="T18" fmla="*/ 7 w 8"/>
              <a:gd name="T19" fmla="*/ 5 h 6"/>
              <a:gd name="T20" fmla="*/ 7 w 8"/>
              <a:gd name="T21" fmla="*/ 3 h 6"/>
              <a:gd name="T22" fmla="*/ 8 w 8"/>
              <a:gd name="T23" fmla="*/ 3 h 6"/>
              <a:gd name="T24" fmla="*/ 5 w 8"/>
              <a:gd name="T25" fmla="*/ 0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 h="6">
                <a:moveTo>
                  <a:pt x="5" y="0"/>
                </a:moveTo>
                <a:lnTo>
                  <a:pt x="4" y="0"/>
                </a:lnTo>
                <a:lnTo>
                  <a:pt x="2" y="1"/>
                </a:lnTo>
                <a:lnTo>
                  <a:pt x="2" y="3"/>
                </a:lnTo>
                <a:lnTo>
                  <a:pt x="0" y="3"/>
                </a:lnTo>
                <a:lnTo>
                  <a:pt x="0" y="5"/>
                </a:lnTo>
                <a:lnTo>
                  <a:pt x="4" y="6"/>
                </a:lnTo>
                <a:lnTo>
                  <a:pt x="5" y="6"/>
                </a:lnTo>
                <a:lnTo>
                  <a:pt x="5" y="5"/>
                </a:lnTo>
                <a:lnTo>
                  <a:pt x="7" y="5"/>
                </a:lnTo>
                <a:lnTo>
                  <a:pt x="7" y="3"/>
                </a:lnTo>
                <a:lnTo>
                  <a:pt x="8" y="3"/>
                </a:lnTo>
                <a:lnTo>
                  <a:pt x="5"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81" name="Freeform 2286">
            <a:extLst>
              <a:ext uri="{FF2B5EF4-FFF2-40B4-BE49-F238E27FC236}">
                <a16:creationId xmlns:a16="http://schemas.microsoft.com/office/drawing/2014/main" id="{E5834AE2-8E95-58AB-7C74-9AE36C2A0115}"/>
              </a:ext>
            </a:extLst>
          </p:cNvPr>
          <p:cNvSpPr>
            <a:spLocks/>
          </p:cNvSpPr>
          <p:nvPr/>
        </p:nvSpPr>
        <p:spPr bwMode="auto">
          <a:xfrm>
            <a:off x="2889250" y="2536825"/>
            <a:ext cx="12700" cy="11113"/>
          </a:xfrm>
          <a:custGeom>
            <a:avLst/>
            <a:gdLst>
              <a:gd name="T0" fmla="*/ 5 w 8"/>
              <a:gd name="T1" fmla="*/ 0 h 7"/>
              <a:gd name="T2" fmla="*/ 3 w 8"/>
              <a:gd name="T3" fmla="*/ 0 h 7"/>
              <a:gd name="T4" fmla="*/ 3 w 8"/>
              <a:gd name="T5" fmla="*/ 2 h 7"/>
              <a:gd name="T6" fmla="*/ 2 w 8"/>
              <a:gd name="T7" fmla="*/ 2 h 7"/>
              <a:gd name="T8" fmla="*/ 2 w 8"/>
              <a:gd name="T9" fmla="*/ 4 h 7"/>
              <a:gd name="T10" fmla="*/ 0 w 8"/>
              <a:gd name="T11" fmla="*/ 4 h 7"/>
              <a:gd name="T12" fmla="*/ 0 w 8"/>
              <a:gd name="T13" fmla="*/ 5 h 7"/>
              <a:gd name="T14" fmla="*/ 5 w 8"/>
              <a:gd name="T15" fmla="*/ 7 h 7"/>
              <a:gd name="T16" fmla="*/ 5 w 8"/>
              <a:gd name="T17" fmla="*/ 5 h 7"/>
              <a:gd name="T18" fmla="*/ 6 w 8"/>
              <a:gd name="T19" fmla="*/ 5 h 7"/>
              <a:gd name="T20" fmla="*/ 6 w 8"/>
              <a:gd name="T21" fmla="*/ 4 h 7"/>
              <a:gd name="T22" fmla="*/ 8 w 8"/>
              <a:gd name="T23" fmla="*/ 4 h 7"/>
              <a:gd name="T24" fmla="*/ 5 w 8"/>
              <a:gd name="T25" fmla="*/ 0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 h="7">
                <a:moveTo>
                  <a:pt x="5" y="0"/>
                </a:moveTo>
                <a:lnTo>
                  <a:pt x="3" y="0"/>
                </a:lnTo>
                <a:lnTo>
                  <a:pt x="3" y="2"/>
                </a:lnTo>
                <a:lnTo>
                  <a:pt x="2" y="2"/>
                </a:lnTo>
                <a:lnTo>
                  <a:pt x="2" y="4"/>
                </a:lnTo>
                <a:lnTo>
                  <a:pt x="0" y="4"/>
                </a:lnTo>
                <a:lnTo>
                  <a:pt x="0" y="5"/>
                </a:lnTo>
                <a:lnTo>
                  <a:pt x="5" y="7"/>
                </a:lnTo>
                <a:lnTo>
                  <a:pt x="5" y="5"/>
                </a:lnTo>
                <a:lnTo>
                  <a:pt x="6" y="5"/>
                </a:lnTo>
                <a:lnTo>
                  <a:pt x="6" y="4"/>
                </a:lnTo>
                <a:lnTo>
                  <a:pt x="8" y="4"/>
                </a:lnTo>
                <a:lnTo>
                  <a:pt x="5"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82" name="Freeform 2287">
            <a:extLst>
              <a:ext uri="{FF2B5EF4-FFF2-40B4-BE49-F238E27FC236}">
                <a16:creationId xmlns:a16="http://schemas.microsoft.com/office/drawing/2014/main" id="{DFFBC565-F3DB-BA94-23F4-2F4ACCFC0774}"/>
              </a:ext>
            </a:extLst>
          </p:cNvPr>
          <p:cNvSpPr>
            <a:spLocks/>
          </p:cNvSpPr>
          <p:nvPr/>
        </p:nvSpPr>
        <p:spPr bwMode="auto">
          <a:xfrm>
            <a:off x="2892425" y="2540000"/>
            <a:ext cx="12700" cy="11113"/>
          </a:xfrm>
          <a:custGeom>
            <a:avLst/>
            <a:gdLst>
              <a:gd name="T0" fmla="*/ 4 w 8"/>
              <a:gd name="T1" fmla="*/ 0 h 7"/>
              <a:gd name="T2" fmla="*/ 3 w 8"/>
              <a:gd name="T3" fmla="*/ 0 h 7"/>
              <a:gd name="T4" fmla="*/ 3 w 8"/>
              <a:gd name="T5" fmla="*/ 2 h 7"/>
              <a:gd name="T6" fmla="*/ 1 w 8"/>
              <a:gd name="T7" fmla="*/ 2 h 7"/>
              <a:gd name="T8" fmla="*/ 1 w 8"/>
              <a:gd name="T9" fmla="*/ 3 h 7"/>
              <a:gd name="T10" fmla="*/ 0 w 8"/>
              <a:gd name="T11" fmla="*/ 3 h 7"/>
              <a:gd name="T12" fmla="*/ 4 w 8"/>
              <a:gd name="T13" fmla="*/ 7 h 7"/>
              <a:gd name="T14" fmla="*/ 4 w 8"/>
              <a:gd name="T15" fmla="*/ 5 h 7"/>
              <a:gd name="T16" fmla="*/ 6 w 8"/>
              <a:gd name="T17" fmla="*/ 5 h 7"/>
              <a:gd name="T18" fmla="*/ 6 w 8"/>
              <a:gd name="T19" fmla="*/ 3 h 7"/>
              <a:gd name="T20" fmla="*/ 8 w 8"/>
              <a:gd name="T21" fmla="*/ 3 h 7"/>
              <a:gd name="T22" fmla="*/ 4 w 8"/>
              <a:gd name="T23" fmla="*/ 0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 h="7">
                <a:moveTo>
                  <a:pt x="4" y="0"/>
                </a:moveTo>
                <a:lnTo>
                  <a:pt x="3" y="0"/>
                </a:lnTo>
                <a:lnTo>
                  <a:pt x="3" y="2"/>
                </a:lnTo>
                <a:lnTo>
                  <a:pt x="1" y="2"/>
                </a:lnTo>
                <a:lnTo>
                  <a:pt x="1" y="3"/>
                </a:lnTo>
                <a:lnTo>
                  <a:pt x="0" y="3"/>
                </a:lnTo>
                <a:lnTo>
                  <a:pt x="4" y="7"/>
                </a:lnTo>
                <a:lnTo>
                  <a:pt x="4" y="5"/>
                </a:lnTo>
                <a:lnTo>
                  <a:pt x="6" y="5"/>
                </a:lnTo>
                <a:lnTo>
                  <a:pt x="6" y="3"/>
                </a:lnTo>
                <a:lnTo>
                  <a:pt x="8" y="3"/>
                </a:lnTo>
                <a:lnTo>
                  <a:pt x="4"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83" name="Freeform 2288">
            <a:extLst>
              <a:ext uri="{FF2B5EF4-FFF2-40B4-BE49-F238E27FC236}">
                <a16:creationId xmlns:a16="http://schemas.microsoft.com/office/drawing/2014/main" id="{4071581D-9C83-07BB-E4F5-D564F751E0C3}"/>
              </a:ext>
            </a:extLst>
          </p:cNvPr>
          <p:cNvSpPr>
            <a:spLocks/>
          </p:cNvSpPr>
          <p:nvPr/>
        </p:nvSpPr>
        <p:spPr bwMode="auto">
          <a:xfrm>
            <a:off x="2897188" y="2543175"/>
            <a:ext cx="9525" cy="9525"/>
          </a:xfrm>
          <a:custGeom>
            <a:avLst/>
            <a:gdLst>
              <a:gd name="T0" fmla="*/ 3 w 6"/>
              <a:gd name="T1" fmla="*/ 0 h 6"/>
              <a:gd name="T2" fmla="*/ 1 w 6"/>
              <a:gd name="T3" fmla="*/ 0 h 6"/>
              <a:gd name="T4" fmla="*/ 1 w 6"/>
              <a:gd name="T5" fmla="*/ 1 h 6"/>
              <a:gd name="T6" fmla="*/ 0 w 6"/>
              <a:gd name="T7" fmla="*/ 1 h 6"/>
              <a:gd name="T8" fmla="*/ 0 w 6"/>
              <a:gd name="T9" fmla="*/ 3 h 6"/>
              <a:gd name="T10" fmla="*/ 3 w 6"/>
              <a:gd name="T11" fmla="*/ 6 h 6"/>
              <a:gd name="T12" fmla="*/ 3 w 6"/>
              <a:gd name="T13" fmla="*/ 5 h 6"/>
              <a:gd name="T14" fmla="*/ 5 w 6"/>
              <a:gd name="T15" fmla="*/ 5 h 6"/>
              <a:gd name="T16" fmla="*/ 5 w 6"/>
              <a:gd name="T17" fmla="*/ 3 h 6"/>
              <a:gd name="T18" fmla="*/ 6 w 6"/>
              <a:gd name="T19" fmla="*/ 3 h 6"/>
              <a:gd name="T20" fmla="*/ 3 w 6"/>
              <a:gd name="T21" fmla="*/ 0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 h="6">
                <a:moveTo>
                  <a:pt x="3" y="0"/>
                </a:moveTo>
                <a:lnTo>
                  <a:pt x="1" y="0"/>
                </a:lnTo>
                <a:lnTo>
                  <a:pt x="1" y="1"/>
                </a:lnTo>
                <a:lnTo>
                  <a:pt x="0" y="1"/>
                </a:lnTo>
                <a:lnTo>
                  <a:pt x="0" y="3"/>
                </a:lnTo>
                <a:lnTo>
                  <a:pt x="3" y="6"/>
                </a:lnTo>
                <a:lnTo>
                  <a:pt x="3" y="5"/>
                </a:lnTo>
                <a:lnTo>
                  <a:pt x="5" y="5"/>
                </a:lnTo>
                <a:lnTo>
                  <a:pt x="5" y="3"/>
                </a:lnTo>
                <a:lnTo>
                  <a:pt x="6" y="3"/>
                </a:lnTo>
                <a:lnTo>
                  <a:pt x="3"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84" name="Freeform 2289">
            <a:extLst>
              <a:ext uri="{FF2B5EF4-FFF2-40B4-BE49-F238E27FC236}">
                <a16:creationId xmlns:a16="http://schemas.microsoft.com/office/drawing/2014/main" id="{10913FFC-5093-7397-532F-1F2A1FE08CCB}"/>
              </a:ext>
            </a:extLst>
          </p:cNvPr>
          <p:cNvSpPr>
            <a:spLocks noEditPoints="1"/>
          </p:cNvSpPr>
          <p:nvPr/>
        </p:nvSpPr>
        <p:spPr bwMode="auto">
          <a:xfrm>
            <a:off x="2898775" y="2544763"/>
            <a:ext cx="26988" cy="20638"/>
          </a:xfrm>
          <a:custGeom>
            <a:avLst/>
            <a:gdLst>
              <a:gd name="T0" fmla="*/ 4 w 17"/>
              <a:gd name="T1" fmla="*/ 0 h 13"/>
              <a:gd name="T2" fmla="*/ 4 w 17"/>
              <a:gd name="T3" fmla="*/ 0 h 13"/>
              <a:gd name="T4" fmla="*/ 2 w 17"/>
              <a:gd name="T5" fmla="*/ 0 h 13"/>
              <a:gd name="T6" fmla="*/ 2 w 17"/>
              <a:gd name="T7" fmla="*/ 2 h 13"/>
              <a:gd name="T8" fmla="*/ 0 w 17"/>
              <a:gd name="T9" fmla="*/ 2 h 13"/>
              <a:gd name="T10" fmla="*/ 0 w 17"/>
              <a:gd name="T11" fmla="*/ 4 h 13"/>
              <a:gd name="T12" fmla="*/ 4 w 17"/>
              <a:gd name="T13" fmla="*/ 5 h 13"/>
              <a:gd name="T14" fmla="*/ 5 w 17"/>
              <a:gd name="T15" fmla="*/ 5 h 13"/>
              <a:gd name="T16" fmla="*/ 5 w 17"/>
              <a:gd name="T17" fmla="*/ 4 h 13"/>
              <a:gd name="T18" fmla="*/ 7 w 17"/>
              <a:gd name="T19" fmla="*/ 4 h 13"/>
              <a:gd name="T20" fmla="*/ 4 w 17"/>
              <a:gd name="T21" fmla="*/ 0 h 13"/>
              <a:gd name="T22" fmla="*/ 17 w 17"/>
              <a:gd name="T23" fmla="*/ 13 h 13"/>
              <a:gd name="T24" fmla="*/ 17 w 17"/>
              <a:gd name="T25" fmla="*/ 13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 h="13">
                <a:moveTo>
                  <a:pt x="4" y="0"/>
                </a:moveTo>
                <a:lnTo>
                  <a:pt x="4" y="0"/>
                </a:lnTo>
                <a:lnTo>
                  <a:pt x="2" y="0"/>
                </a:lnTo>
                <a:lnTo>
                  <a:pt x="2" y="2"/>
                </a:lnTo>
                <a:lnTo>
                  <a:pt x="0" y="2"/>
                </a:lnTo>
                <a:lnTo>
                  <a:pt x="0" y="4"/>
                </a:lnTo>
                <a:lnTo>
                  <a:pt x="4" y="5"/>
                </a:lnTo>
                <a:lnTo>
                  <a:pt x="5" y="5"/>
                </a:lnTo>
                <a:lnTo>
                  <a:pt x="5" y="4"/>
                </a:lnTo>
                <a:lnTo>
                  <a:pt x="7" y="4"/>
                </a:lnTo>
                <a:lnTo>
                  <a:pt x="4" y="0"/>
                </a:lnTo>
                <a:close/>
                <a:moveTo>
                  <a:pt x="17" y="13"/>
                </a:moveTo>
                <a:lnTo>
                  <a:pt x="17" y="13"/>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85" name="Freeform 2290">
            <a:extLst>
              <a:ext uri="{FF2B5EF4-FFF2-40B4-BE49-F238E27FC236}">
                <a16:creationId xmlns:a16="http://schemas.microsoft.com/office/drawing/2014/main" id="{3F9D4A1B-02E5-54B3-37AD-C5CB4FFEC80D}"/>
              </a:ext>
            </a:extLst>
          </p:cNvPr>
          <p:cNvSpPr>
            <a:spLocks noEditPoints="1"/>
          </p:cNvSpPr>
          <p:nvPr/>
        </p:nvSpPr>
        <p:spPr bwMode="auto">
          <a:xfrm>
            <a:off x="2901950" y="2547938"/>
            <a:ext cx="23813" cy="17463"/>
          </a:xfrm>
          <a:custGeom>
            <a:avLst/>
            <a:gdLst>
              <a:gd name="T0" fmla="*/ 3 w 15"/>
              <a:gd name="T1" fmla="*/ 0 h 11"/>
              <a:gd name="T2" fmla="*/ 3 w 15"/>
              <a:gd name="T3" fmla="*/ 0 h 11"/>
              <a:gd name="T4" fmla="*/ 2 w 15"/>
              <a:gd name="T5" fmla="*/ 0 h 11"/>
              <a:gd name="T6" fmla="*/ 2 w 15"/>
              <a:gd name="T7" fmla="*/ 2 h 11"/>
              <a:gd name="T8" fmla="*/ 0 w 15"/>
              <a:gd name="T9" fmla="*/ 2 h 11"/>
              <a:gd name="T10" fmla="*/ 0 w 15"/>
              <a:gd name="T11" fmla="*/ 3 h 11"/>
              <a:gd name="T12" fmla="*/ 5 w 15"/>
              <a:gd name="T13" fmla="*/ 5 h 11"/>
              <a:gd name="T14" fmla="*/ 5 w 15"/>
              <a:gd name="T15" fmla="*/ 3 h 11"/>
              <a:gd name="T16" fmla="*/ 7 w 15"/>
              <a:gd name="T17" fmla="*/ 3 h 11"/>
              <a:gd name="T18" fmla="*/ 3 w 15"/>
              <a:gd name="T19" fmla="*/ 0 h 11"/>
              <a:gd name="T20" fmla="*/ 12 w 15"/>
              <a:gd name="T21" fmla="*/ 10 h 11"/>
              <a:gd name="T22" fmla="*/ 15 w 15"/>
              <a:gd name="T23" fmla="*/ 11 h 11"/>
              <a:gd name="T24" fmla="*/ 13 w 15"/>
              <a:gd name="T25" fmla="*/ 10 h 11"/>
              <a:gd name="T26" fmla="*/ 12 w 15"/>
              <a:gd name="T27" fmla="*/ 1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5" h="11">
                <a:moveTo>
                  <a:pt x="3" y="0"/>
                </a:moveTo>
                <a:lnTo>
                  <a:pt x="3" y="0"/>
                </a:lnTo>
                <a:lnTo>
                  <a:pt x="2" y="0"/>
                </a:lnTo>
                <a:lnTo>
                  <a:pt x="2" y="2"/>
                </a:lnTo>
                <a:lnTo>
                  <a:pt x="0" y="2"/>
                </a:lnTo>
                <a:lnTo>
                  <a:pt x="0" y="3"/>
                </a:lnTo>
                <a:lnTo>
                  <a:pt x="5" y="5"/>
                </a:lnTo>
                <a:lnTo>
                  <a:pt x="5" y="3"/>
                </a:lnTo>
                <a:lnTo>
                  <a:pt x="7" y="3"/>
                </a:lnTo>
                <a:lnTo>
                  <a:pt x="3" y="0"/>
                </a:lnTo>
                <a:close/>
                <a:moveTo>
                  <a:pt x="12" y="10"/>
                </a:moveTo>
                <a:lnTo>
                  <a:pt x="15" y="11"/>
                </a:lnTo>
                <a:lnTo>
                  <a:pt x="13" y="10"/>
                </a:lnTo>
                <a:lnTo>
                  <a:pt x="12" y="1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86" name="Freeform 2291">
            <a:extLst>
              <a:ext uri="{FF2B5EF4-FFF2-40B4-BE49-F238E27FC236}">
                <a16:creationId xmlns:a16="http://schemas.microsoft.com/office/drawing/2014/main" id="{41C4BD1D-C70E-81D6-7703-E22610100401}"/>
              </a:ext>
            </a:extLst>
          </p:cNvPr>
          <p:cNvSpPr>
            <a:spLocks/>
          </p:cNvSpPr>
          <p:nvPr/>
        </p:nvSpPr>
        <p:spPr bwMode="auto">
          <a:xfrm>
            <a:off x="2905125" y="2551113"/>
            <a:ext cx="20638" cy="14288"/>
          </a:xfrm>
          <a:custGeom>
            <a:avLst/>
            <a:gdLst>
              <a:gd name="T0" fmla="*/ 3 w 13"/>
              <a:gd name="T1" fmla="*/ 0 h 9"/>
              <a:gd name="T2" fmla="*/ 3 w 13"/>
              <a:gd name="T3" fmla="*/ 0 h 9"/>
              <a:gd name="T4" fmla="*/ 1 w 13"/>
              <a:gd name="T5" fmla="*/ 0 h 9"/>
              <a:gd name="T6" fmla="*/ 1 w 13"/>
              <a:gd name="T7" fmla="*/ 1 h 9"/>
              <a:gd name="T8" fmla="*/ 0 w 13"/>
              <a:gd name="T9" fmla="*/ 1 h 9"/>
              <a:gd name="T10" fmla="*/ 13 w 13"/>
              <a:gd name="T11" fmla="*/ 9 h 9"/>
              <a:gd name="T12" fmla="*/ 3 w 13"/>
              <a:gd name="T13" fmla="*/ 0 h 9"/>
            </a:gdLst>
            <a:ahLst/>
            <a:cxnLst>
              <a:cxn ang="0">
                <a:pos x="T0" y="T1"/>
              </a:cxn>
              <a:cxn ang="0">
                <a:pos x="T2" y="T3"/>
              </a:cxn>
              <a:cxn ang="0">
                <a:pos x="T4" y="T5"/>
              </a:cxn>
              <a:cxn ang="0">
                <a:pos x="T6" y="T7"/>
              </a:cxn>
              <a:cxn ang="0">
                <a:pos x="T8" y="T9"/>
              </a:cxn>
              <a:cxn ang="0">
                <a:pos x="T10" y="T11"/>
              </a:cxn>
              <a:cxn ang="0">
                <a:pos x="T12" y="T13"/>
              </a:cxn>
            </a:cxnLst>
            <a:rect l="0" t="0" r="r" b="b"/>
            <a:pathLst>
              <a:path w="13" h="9">
                <a:moveTo>
                  <a:pt x="3" y="0"/>
                </a:moveTo>
                <a:lnTo>
                  <a:pt x="3" y="0"/>
                </a:lnTo>
                <a:lnTo>
                  <a:pt x="1" y="0"/>
                </a:lnTo>
                <a:lnTo>
                  <a:pt x="1" y="1"/>
                </a:lnTo>
                <a:lnTo>
                  <a:pt x="0" y="1"/>
                </a:lnTo>
                <a:lnTo>
                  <a:pt x="13" y="9"/>
                </a:lnTo>
                <a:lnTo>
                  <a:pt x="3"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87" name="Freeform 2292">
            <a:extLst>
              <a:ext uri="{FF2B5EF4-FFF2-40B4-BE49-F238E27FC236}">
                <a16:creationId xmlns:a16="http://schemas.microsoft.com/office/drawing/2014/main" id="{33F9F706-EDEB-80CE-58C4-2A2EE230DF9B}"/>
              </a:ext>
            </a:extLst>
          </p:cNvPr>
          <p:cNvSpPr>
            <a:spLocks/>
          </p:cNvSpPr>
          <p:nvPr/>
        </p:nvSpPr>
        <p:spPr bwMode="auto">
          <a:xfrm>
            <a:off x="2909888" y="2552700"/>
            <a:ext cx="12700" cy="11113"/>
          </a:xfrm>
          <a:custGeom>
            <a:avLst/>
            <a:gdLst>
              <a:gd name="T0" fmla="*/ 2 w 8"/>
              <a:gd name="T1" fmla="*/ 0 h 7"/>
              <a:gd name="T2" fmla="*/ 2 w 8"/>
              <a:gd name="T3" fmla="*/ 0 h 7"/>
              <a:gd name="T4" fmla="*/ 0 w 8"/>
              <a:gd name="T5" fmla="*/ 0 h 7"/>
              <a:gd name="T6" fmla="*/ 0 w 8"/>
              <a:gd name="T7" fmla="*/ 2 h 7"/>
              <a:gd name="T8" fmla="*/ 7 w 8"/>
              <a:gd name="T9" fmla="*/ 7 h 7"/>
              <a:gd name="T10" fmla="*/ 8 w 8"/>
              <a:gd name="T11" fmla="*/ 7 h 7"/>
              <a:gd name="T12" fmla="*/ 2 w 8"/>
              <a:gd name="T13" fmla="*/ 0 h 7"/>
            </a:gdLst>
            <a:ahLst/>
            <a:cxnLst>
              <a:cxn ang="0">
                <a:pos x="T0" y="T1"/>
              </a:cxn>
              <a:cxn ang="0">
                <a:pos x="T2" y="T3"/>
              </a:cxn>
              <a:cxn ang="0">
                <a:pos x="T4" y="T5"/>
              </a:cxn>
              <a:cxn ang="0">
                <a:pos x="T6" y="T7"/>
              </a:cxn>
              <a:cxn ang="0">
                <a:pos x="T8" y="T9"/>
              </a:cxn>
              <a:cxn ang="0">
                <a:pos x="T10" y="T11"/>
              </a:cxn>
              <a:cxn ang="0">
                <a:pos x="T12" y="T13"/>
              </a:cxn>
            </a:cxnLst>
            <a:rect l="0" t="0" r="r" b="b"/>
            <a:pathLst>
              <a:path w="8" h="7">
                <a:moveTo>
                  <a:pt x="2" y="0"/>
                </a:moveTo>
                <a:lnTo>
                  <a:pt x="2" y="0"/>
                </a:lnTo>
                <a:lnTo>
                  <a:pt x="0" y="0"/>
                </a:lnTo>
                <a:lnTo>
                  <a:pt x="0" y="2"/>
                </a:lnTo>
                <a:lnTo>
                  <a:pt x="7" y="7"/>
                </a:lnTo>
                <a:lnTo>
                  <a:pt x="8" y="7"/>
                </a:lnTo>
                <a:lnTo>
                  <a:pt x="2"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88" name="Freeform 2293">
            <a:extLst>
              <a:ext uri="{FF2B5EF4-FFF2-40B4-BE49-F238E27FC236}">
                <a16:creationId xmlns:a16="http://schemas.microsoft.com/office/drawing/2014/main" id="{6E05BA6A-82D4-40C0-DEE7-91773098F995}"/>
              </a:ext>
            </a:extLst>
          </p:cNvPr>
          <p:cNvSpPr>
            <a:spLocks/>
          </p:cNvSpPr>
          <p:nvPr/>
        </p:nvSpPr>
        <p:spPr bwMode="auto">
          <a:xfrm>
            <a:off x="2913063" y="2555875"/>
            <a:ext cx="4763" cy="4763"/>
          </a:xfrm>
          <a:custGeom>
            <a:avLst/>
            <a:gdLst>
              <a:gd name="T0" fmla="*/ 3 w 3"/>
              <a:gd name="T1" fmla="*/ 3 h 3"/>
              <a:gd name="T2" fmla="*/ 3 w 3"/>
              <a:gd name="T3" fmla="*/ 3 h 3"/>
              <a:gd name="T4" fmla="*/ 3 w 3"/>
              <a:gd name="T5" fmla="*/ 2 h 3"/>
              <a:gd name="T6" fmla="*/ 1 w 3"/>
              <a:gd name="T7" fmla="*/ 2 h 3"/>
              <a:gd name="T8" fmla="*/ 1 w 3"/>
              <a:gd name="T9" fmla="*/ 0 h 3"/>
              <a:gd name="T10" fmla="*/ 0 w 3"/>
              <a:gd name="T11" fmla="*/ 2 h 3"/>
              <a:gd name="T12" fmla="*/ 3 w 3"/>
              <a:gd name="T13" fmla="*/ 3 h 3"/>
            </a:gdLst>
            <a:ahLst/>
            <a:cxnLst>
              <a:cxn ang="0">
                <a:pos x="T0" y="T1"/>
              </a:cxn>
              <a:cxn ang="0">
                <a:pos x="T2" y="T3"/>
              </a:cxn>
              <a:cxn ang="0">
                <a:pos x="T4" y="T5"/>
              </a:cxn>
              <a:cxn ang="0">
                <a:pos x="T6" y="T7"/>
              </a:cxn>
              <a:cxn ang="0">
                <a:pos x="T8" y="T9"/>
              </a:cxn>
              <a:cxn ang="0">
                <a:pos x="T10" y="T11"/>
              </a:cxn>
              <a:cxn ang="0">
                <a:pos x="T12" y="T13"/>
              </a:cxn>
            </a:cxnLst>
            <a:rect l="0" t="0" r="r" b="b"/>
            <a:pathLst>
              <a:path w="3" h="3">
                <a:moveTo>
                  <a:pt x="3" y="3"/>
                </a:moveTo>
                <a:lnTo>
                  <a:pt x="3" y="3"/>
                </a:lnTo>
                <a:lnTo>
                  <a:pt x="3" y="2"/>
                </a:lnTo>
                <a:lnTo>
                  <a:pt x="1" y="2"/>
                </a:lnTo>
                <a:lnTo>
                  <a:pt x="1" y="0"/>
                </a:lnTo>
                <a:lnTo>
                  <a:pt x="0" y="2"/>
                </a:lnTo>
                <a:lnTo>
                  <a:pt x="3" y="3"/>
                </a:lnTo>
                <a:close/>
              </a:path>
            </a:pathLst>
          </a:custGeom>
          <a:solidFill>
            <a:srgbClr val="FDFD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89" name="Freeform 2294">
            <a:extLst>
              <a:ext uri="{FF2B5EF4-FFF2-40B4-BE49-F238E27FC236}">
                <a16:creationId xmlns:a16="http://schemas.microsoft.com/office/drawing/2014/main" id="{BACA2F42-57B5-49A8-86BF-9517E6381E9C}"/>
              </a:ext>
            </a:extLst>
          </p:cNvPr>
          <p:cNvSpPr>
            <a:spLocks/>
          </p:cNvSpPr>
          <p:nvPr/>
        </p:nvSpPr>
        <p:spPr bwMode="auto">
          <a:xfrm>
            <a:off x="2652713" y="2398713"/>
            <a:ext cx="109538" cy="6350"/>
          </a:xfrm>
          <a:custGeom>
            <a:avLst/>
            <a:gdLst>
              <a:gd name="T0" fmla="*/ 8 w 69"/>
              <a:gd name="T1" fmla="*/ 4 h 4"/>
              <a:gd name="T2" fmla="*/ 69 w 69"/>
              <a:gd name="T3" fmla="*/ 4 h 4"/>
              <a:gd name="T4" fmla="*/ 64 w 69"/>
              <a:gd name="T5" fmla="*/ 0 h 4"/>
              <a:gd name="T6" fmla="*/ 0 w 69"/>
              <a:gd name="T7" fmla="*/ 0 h 4"/>
              <a:gd name="T8" fmla="*/ 8 w 69"/>
              <a:gd name="T9" fmla="*/ 4 h 4"/>
            </a:gdLst>
            <a:ahLst/>
            <a:cxnLst>
              <a:cxn ang="0">
                <a:pos x="T0" y="T1"/>
              </a:cxn>
              <a:cxn ang="0">
                <a:pos x="T2" y="T3"/>
              </a:cxn>
              <a:cxn ang="0">
                <a:pos x="T4" y="T5"/>
              </a:cxn>
              <a:cxn ang="0">
                <a:pos x="T6" y="T7"/>
              </a:cxn>
              <a:cxn ang="0">
                <a:pos x="T8" y="T9"/>
              </a:cxn>
            </a:cxnLst>
            <a:rect l="0" t="0" r="r" b="b"/>
            <a:pathLst>
              <a:path w="69" h="4">
                <a:moveTo>
                  <a:pt x="8" y="4"/>
                </a:moveTo>
                <a:lnTo>
                  <a:pt x="69" y="4"/>
                </a:lnTo>
                <a:lnTo>
                  <a:pt x="64" y="0"/>
                </a:lnTo>
                <a:lnTo>
                  <a:pt x="0" y="0"/>
                </a:lnTo>
                <a:lnTo>
                  <a:pt x="8" y="4"/>
                </a:lnTo>
                <a:close/>
              </a:path>
            </a:pathLst>
          </a:custGeom>
          <a:solidFill>
            <a:srgbClr val="5D5B4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90" name="Freeform 2295">
            <a:extLst>
              <a:ext uri="{FF2B5EF4-FFF2-40B4-BE49-F238E27FC236}">
                <a16:creationId xmlns:a16="http://schemas.microsoft.com/office/drawing/2014/main" id="{2C2566F4-82E5-099D-16AD-B6EAAA9A4EB8}"/>
              </a:ext>
            </a:extLst>
          </p:cNvPr>
          <p:cNvSpPr>
            <a:spLocks/>
          </p:cNvSpPr>
          <p:nvPr/>
        </p:nvSpPr>
        <p:spPr bwMode="auto">
          <a:xfrm>
            <a:off x="2260600" y="2011363"/>
            <a:ext cx="665163" cy="554038"/>
          </a:xfrm>
          <a:custGeom>
            <a:avLst/>
            <a:gdLst>
              <a:gd name="T0" fmla="*/ 0 w 419"/>
              <a:gd name="T1" fmla="*/ 93 h 349"/>
              <a:gd name="T2" fmla="*/ 419 w 419"/>
              <a:gd name="T3" fmla="*/ 349 h 349"/>
              <a:gd name="T4" fmla="*/ 65 w 419"/>
              <a:gd name="T5" fmla="*/ 0 h 349"/>
              <a:gd name="T6" fmla="*/ 0 w 419"/>
              <a:gd name="T7" fmla="*/ 93 h 349"/>
            </a:gdLst>
            <a:ahLst/>
            <a:cxnLst>
              <a:cxn ang="0">
                <a:pos x="T0" y="T1"/>
              </a:cxn>
              <a:cxn ang="0">
                <a:pos x="T2" y="T3"/>
              </a:cxn>
              <a:cxn ang="0">
                <a:pos x="T4" y="T5"/>
              </a:cxn>
              <a:cxn ang="0">
                <a:pos x="T6" y="T7"/>
              </a:cxn>
            </a:cxnLst>
            <a:rect l="0" t="0" r="r" b="b"/>
            <a:pathLst>
              <a:path w="419" h="349">
                <a:moveTo>
                  <a:pt x="0" y="93"/>
                </a:moveTo>
                <a:lnTo>
                  <a:pt x="419" y="349"/>
                </a:lnTo>
                <a:lnTo>
                  <a:pt x="65" y="0"/>
                </a:lnTo>
                <a:lnTo>
                  <a:pt x="0" y="9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091" name="Freeform 2296">
            <a:extLst>
              <a:ext uri="{FF2B5EF4-FFF2-40B4-BE49-F238E27FC236}">
                <a16:creationId xmlns:a16="http://schemas.microsoft.com/office/drawing/2014/main" id="{24C165E3-E617-8833-B019-676D1E8B263B}"/>
              </a:ext>
            </a:extLst>
          </p:cNvPr>
          <p:cNvSpPr>
            <a:spLocks/>
          </p:cNvSpPr>
          <p:nvPr/>
        </p:nvSpPr>
        <p:spPr bwMode="auto">
          <a:xfrm>
            <a:off x="2352675" y="2847975"/>
            <a:ext cx="49213" cy="36513"/>
          </a:xfrm>
          <a:custGeom>
            <a:avLst/>
            <a:gdLst>
              <a:gd name="T0" fmla="*/ 0 w 31"/>
              <a:gd name="T1" fmla="*/ 23 h 23"/>
              <a:gd name="T2" fmla="*/ 0 w 31"/>
              <a:gd name="T3" fmla="*/ 16 h 23"/>
              <a:gd name="T4" fmla="*/ 28 w 31"/>
              <a:gd name="T5" fmla="*/ 0 h 23"/>
              <a:gd name="T6" fmla="*/ 31 w 31"/>
              <a:gd name="T7" fmla="*/ 5 h 23"/>
              <a:gd name="T8" fmla="*/ 3 w 31"/>
              <a:gd name="T9" fmla="*/ 23 h 23"/>
              <a:gd name="T10" fmla="*/ 3 w 31"/>
              <a:gd name="T11" fmla="*/ 16 h 23"/>
              <a:gd name="T12" fmla="*/ 0 w 31"/>
              <a:gd name="T13" fmla="*/ 23 h 23"/>
            </a:gdLst>
            <a:ahLst/>
            <a:cxnLst>
              <a:cxn ang="0">
                <a:pos x="T0" y="T1"/>
              </a:cxn>
              <a:cxn ang="0">
                <a:pos x="T2" y="T3"/>
              </a:cxn>
              <a:cxn ang="0">
                <a:pos x="T4" y="T5"/>
              </a:cxn>
              <a:cxn ang="0">
                <a:pos x="T6" y="T7"/>
              </a:cxn>
              <a:cxn ang="0">
                <a:pos x="T8" y="T9"/>
              </a:cxn>
              <a:cxn ang="0">
                <a:pos x="T10" y="T11"/>
              </a:cxn>
              <a:cxn ang="0">
                <a:pos x="T12" y="T13"/>
              </a:cxn>
            </a:cxnLst>
            <a:rect l="0" t="0" r="r" b="b"/>
            <a:pathLst>
              <a:path w="31" h="23">
                <a:moveTo>
                  <a:pt x="0" y="23"/>
                </a:moveTo>
                <a:lnTo>
                  <a:pt x="0" y="16"/>
                </a:lnTo>
                <a:lnTo>
                  <a:pt x="28" y="0"/>
                </a:lnTo>
                <a:lnTo>
                  <a:pt x="31" y="5"/>
                </a:lnTo>
                <a:lnTo>
                  <a:pt x="3" y="23"/>
                </a:lnTo>
                <a:lnTo>
                  <a:pt x="3" y="16"/>
                </a:lnTo>
                <a:lnTo>
                  <a:pt x="0" y="2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92" name="Freeform 2297">
            <a:extLst>
              <a:ext uri="{FF2B5EF4-FFF2-40B4-BE49-F238E27FC236}">
                <a16:creationId xmlns:a16="http://schemas.microsoft.com/office/drawing/2014/main" id="{8DDF17D2-546A-F64A-7AE4-2C791FD215EA}"/>
              </a:ext>
            </a:extLst>
          </p:cNvPr>
          <p:cNvSpPr>
            <a:spLocks/>
          </p:cNvSpPr>
          <p:nvPr/>
        </p:nvSpPr>
        <p:spPr bwMode="auto">
          <a:xfrm>
            <a:off x="2352675" y="2873375"/>
            <a:ext cx="3175" cy="11113"/>
          </a:xfrm>
          <a:custGeom>
            <a:avLst/>
            <a:gdLst>
              <a:gd name="T0" fmla="*/ 0 w 2"/>
              <a:gd name="T1" fmla="*/ 7 h 7"/>
              <a:gd name="T2" fmla="*/ 2 w 2"/>
              <a:gd name="T3" fmla="*/ 4 h 7"/>
              <a:gd name="T4" fmla="*/ 0 w 2"/>
              <a:gd name="T5" fmla="*/ 0 h 7"/>
              <a:gd name="T6" fmla="*/ 0 w 2"/>
              <a:gd name="T7" fmla="*/ 7 h 7"/>
            </a:gdLst>
            <a:ahLst/>
            <a:cxnLst>
              <a:cxn ang="0">
                <a:pos x="T0" y="T1"/>
              </a:cxn>
              <a:cxn ang="0">
                <a:pos x="T2" y="T3"/>
              </a:cxn>
              <a:cxn ang="0">
                <a:pos x="T4" y="T5"/>
              </a:cxn>
              <a:cxn ang="0">
                <a:pos x="T6" y="T7"/>
              </a:cxn>
            </a:cxnLst>
            <a:rect l="0" t="0" r="r" b="b"/>
            <a:pathLst>
              <a:path w="2" h="7">
                <a:moveTo>
                  <a:pt x="0" y="7"/>
                </a:moveTo>
                <a:lnTo>
                  <a:pt x="2" y="4"/>
                </a:lnTo>
                <a:lnTo>
                  <a:pt x="0" y="0"/>
                </a:lnTo>
                <a:lnTo>
                  <a:pt x="0" y="7"/>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93" name="Freeform 2298">
            <a:extLst>
              <a:ext uri="{FF2B5EF4-FFF2-40B4-BE49-F238E27FC236}">
                <a16:creationId xmlns:a16="http://schemas.microsoft.com/office/drawing/2014/main" id="{4F2BAC78-E108-5D30-0E40-B468A7590340}"/>
              </a:ext>
            </a:extLst>
          </p:cNvPr>
          <p:cNvSpPr>
            <a:spLocks/>
          </p:cNvSpPr>
          <p:nvPr/>
        </p:nvSpPr>
        <p:spPr bwMode="auto">
          <a:xfrm>
            <a:off x="2352675" y="2873375"/>
            <a:ext cx="49213" cy="39688"/>
          </a:xfrm>
          <a:custGeom>
            <a:avLst/>
            <a:gdLst>
              <a:gd name="T0" fmla="*/ 30 w 31"/>
              <a:gd name="T1" fmla="*/ 22 h 25"/>
              <a:gd name="T2" fmla="*/ 28 w 31"/>
              <a:gd name="T3" fmla="*/ 25 h 25"/>
              <a:gd name="T4" fmla="*/ 0 w 31"/>
              <a:gd name="T5" fmla="*/ 7 h 25"/>
              <a:gd name="T6" fmla="*/ 3 w 31"/>
              <a:gd name="T7" fmla="*/ 0 h 25"/>
              <a:gd name="T8" fmla="*/ 31 w 31"/>
              <a:gd name="T9" fmla="*/ 18 h 25"/>
              <a:gd name="T10" fmla="*/ 30 w 31"/>
              <a:gd name="T11" fmla="*/ 22 h 25"/>
            </a:gdLst>
            <a:ahLst/>
            <a:cxnLst>
              <a:cxn ang="0">
                <a:pos x="T0" y="T1"/>
              </a:cxn>
              <a:cxn ang="0">
                <a:pos x="T2" y="T3"/>
              </a:cxn>
              <a:cxn ang="0">
                <a:pos x="T4" y="T5"/>
              </a:cxn>
              <a:cxn ang="0">
                <a:pos x="T6" y="T7"/>
              </a:cxn>
              <a:cxn ang="0">
                <a:pos x="T8" y="T9"/>
              </a:cxn>
              <a:cxn ang="0">
                <a:pos x="T10" y="T11"/>
              </a:cxn>
            </a:cxnLst>
            <a:rect l="0" t="0" r="r" b="b"/>
            <a:pathLst>
              <a:path w="31" h="25">
                <a:moveTo>
                  <a:pt x="30" y="22"/>
                </a:moveTo>
                <a:lnTo>
                  <a:pt x="28" y="25"/>
                </a:lnTo>
                <a:lnTo>
                  <a:pt x="0" y="7"/>
                </a:lnTo>
                <a:lnTo>
                  <a:pt x="3" y="0"/>
                </a:lnTo>
                <a:lnTo>
                  <a:pt x="31" y="18"/>
                </a:lnTo>
                <a:lnTo>
                  <a:pt x="30" y="2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94" name="Freeform 2299">
            <a:extLst>
              <a:ext uri="{FF2B5EF4-FFF2-40B4-BE49-F238E27FC236}">
                <a16:creationId xmlns:a16="http://schemas.microsoft.com/office/drawing/2014/main" id="{1558FB87-2F4D-5BDC-EBD4-CDE7828EBD23}"/>
              </a:ext>
            </a:extLst>
          </p:cNvPr>
          <p:cNvSpPr>
            <a:spLocks/>
          </p:cNvSpPr>
          <p:nvPr/>
        </p:nvSpPr>
        <p:spPr bwMode="auto">
          <a:xfrm>
            <a:off x="2363788" y="2876550"/>
            <a:ext cx="477838" cy="7938"/>
          </a:xfrm>
          <a:custGeom>
            <a:avLst/>
            <a:gdLst>
              <a:gd name="T0" fmla="*/ 301 w 301"/>
              <a:gd name="T1" fmla="*/ 2 h 5"/>
              <a:gd name="T2" fmla="*/ 301 w 301"/>
              <a:gd name="T3" fmla="*/ 0 h 5"/>
              <a:gd name="T4" fmla="*/ 0 w 301"/>
              <a:gd name="T5" fmla="*/ 0 h 5"/>
              <a:gd name="T6" fmla="*/ 0 w 301"/>
              <a:gd name="T7" fmla="*/ 5 h 5"/>
              <a:gd name="T8" fmla="*/ 301 w 301"/>
              <a:gd name="T9" fmla="*/ 5 h 5"/>
              <a:gd name="T10" fmla="*/ 301 w 301"/>
              <a:gd name="T11" fmla="*/ 2 h 5"/>
            </a:gdLst>
            <a:ahLst/>
            <a:cxnLst>
              <a:cxn ang="0">
                <a:pos x="T0" y="T1"/>
              </a:cxn>
              <a:cxn ang="0">
                <a:pos x="T2" y="T3"/>
              </a:cxn>
              <a:cxn ang="0">
                <a:pos x="T4" y="T5"/>
              </a:cxn>
              <a:cxn ang="0">
                <a:pos x="T6" y="T7"/>
              </a:cxn>
              <a:cxn ang="0">
                <a:pos x="T8" y="T9"/>
              </a:cxn>
              <a:cxn ang="0">
                <a:pos x="T10" y="T11"/>
              </a:cxn>
            </a:cxnLst>
            <a:rect l="0" t="0" r="r" b="b"/>
            <a:pathLst>
              <a:path w="301" h="5">
                <a:moveTo>
                  <a:pt x="301" y="2"/>
                </a:moveTo>
                <a:lnTo>
                  <a:pt x="301" y="0"/>
                </a:lnTo>
                <a:lnTo>
                  <a:pt x="0" y="0"/>
                </a:lnTo>
                <a:lnTo>
                  <a:pt x="0" y="5"/>
                </a:lnTo>
                <a:lnTo>
                  <a:pt x="301" y="5"/>
                </a:lnTo>
                <a:lnTo>
                  <a:pt x="301" y="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95" name="Freeform 2300">
            <a:extLst>
              <a:ext uri="{FF2B5EF4-FFF2-40B4-BE49-F238E27FC236}">
                <a16:creationId xmlns:a16="http://schemas.microsoft.com/office/drawing/2014/main" id="{BAA18ACF-C1A9-4BE4-6845-885D948706CA}"/>
              </a:ext>
            </a:extLst>
          </p:cNvPr>
          <p:cNvSpPr>
            <a:spLocks/>
          </p:cNvSpPr>
          <p:nvPr/>
        </p:nvSpPr>
        <p:spPr bwMode="auto">
          <a:xfrm>
            <a:off x="2801938" y="2847975"/>
            <a:ext cx="50800" cy="36513"/>
          </a:xfrm>
          <a:custGeom>
            <a:avLst/>
            <a:gdLst>
              <a:gd name="T0" fmla="*/ 32 w 32"/>
              <a:gd name="T1" fmla="*/ 23 h 23"/>
              <a:gd name="T2" fmla="*/ 32 w 32"/>
              <a:gd name="T3" fmla="*/ 16 h 23"/>
              <a:gd name="T4" fmla="*/ 4 w 32"/>
              <a:gd name="T5" fmla="*/ 0 h 23"/>
              <a:gd name="T6" fmla="*/ 0 w 32"/>
              <a:gd name="T7" fmla="*/ 5 h 23"/>
              <a:gd name="T8" fmla="*/ 28 w 32"/>
              <a:gd name="T9" fmla="*/ 23 h 23"/>
              <a:gd name="T10" fmla="*/ 28 w 32"/>
              <a:gd name="T11" fmla="*/ 16 h 23"/>
              <a:gd name="T12" fmla="*/ 32 w 32"/>
              <a:gd name="T13" fmla="*/ 23 h 23"/>
            </a:gdLst>
            <a:ahLst/>
            <a:cxnLst>
              <a:cxn ang="0">
                <a:pos x="T0" y="T1"/>
              </a:cxn>
              <a:cxn ang="0">
                <a:pos x="T2" y="T3"/>
              </a:cxn>
              <a:cxn ang="0">
                <a:pos x="T4" y="T5"/>
              </a:cxn>
              <a:cxn ang="0">
                <a:pos x="T6" y="T7"/>
              </a:cxn>
              <a:cxn ang="0">
                <a:pos x="T8" y="T9"/>
              </a:cxn>
              <a:cxn ang="0">
                <a:pos x="T10" y="T11"/>
              </a:cxn>
              <a:cxn ang="0">
                <a:pos x="T12" y="T13"/>
              </a:cxn>
            </a:cxnLst>
            <a:rect l="0" t="0" r="r" b="b"/>
            <a:pathLst>
              <a:path w="32" h="23">
                <a:moveTo>
                  <a:pt x="32" y="23"/>
                </a:moveTo>
                <a:lnTo>
                  <a:pt x="32" y="16"/>
                </a:lnTo>
                <a:lnTo>
                  <a:pt x="4" y="0"/>
                </a:lnTo>
                <a:lnTo>
                  <a:pt x="0" y="5"/>
                </a:lnTo>
                <a:lnTo>
                  <a:pt x="28" y="23"/>
                </a:lnTo>
                <a:lnTo>
                  <a:pt x="28" y="16"/>
                </a:lnTo>
                <a:lnTo>
                  <a:pt x="32" y="2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96" name="Freeform 2301">
            <a:extLst>
              <a:ext uri="{FF2B5EF4-FFF2-40B4-BE49-F238E27FC236}">
                <a16:creationId xmlns:a16="http://schemas.microsoft.com/office/drawing/2014/main" id="{56776CEA-3080-74E2-9A64-F132B504C08A}"/>
              </a:ext>
            </a:extLst>
          </p:cNvPr>
          <p:cNvSpPr>
            <a:spLocks/>
          </p:cNvSpPr>
          <p:nvPr/>
        </p:nvSpPr>
        <p:spPr bwMode="auto">
          <a:xfrm>
            <a:off x="2849563" y="2873375"/>
            <a:ext cx="3175" cy="11113"/>
          </a:xfrm>
          <a:custGeom>
            <a:avLst/>
            <a:gdLst>
              <a:gd name="T0" fmla="*/ 2 w 2"/>
              <a:gd name="T1" fmla="*/ 7 h 7"/>
              <a:gd name="T2" fmla="*/ 0 w 2"/>
              <a:gd name="T3" fmla="*/ 4 h 7"/>
              <a:gd name="T4" fmla="*/ 2 w 2"/>
              <a:gd name="T5" fmla="*/ 0 h 7"/>
              <a:gd name="T6" fmla="*/ 2 w 2"/>
              <a:gd name="T7" fmla="*/ 7 h 7"/>
            </a:gdLst>
            <a:ahLst/>
            <a:cxnLst>
              <a:cxn ang="0">
                <a:pos x="T0" y="T1"/>
              </a:cxn>
              <a:cxn ang="0">
                <a:pos x="T2" y="T3"/>
              </a:cxn>
              <a:cxn ang="0">
                <a:pos x="T4" y="T5"/>
              </a:cxn>
              <a:cxn ang="0">
                <a:pos x="T6" y="T7"/>
              </a:cxn>
            </a:cxnLst>
            <a:rect l="0" t="0" r="r" b="b"/>
            <a:pathLst>
              <a:path w="2" h="7">
                <a:moveTo>
                  <a:pt x="2" y="7"/>
                </a:moveTo>
                <a:lnTo>
                  <a:pt x="0" y="4"/>
                </a:lnTo>
                <a:lnTo>
                  <a:pt x="2" y="0"/>
                </a:lnTo>
                <a:lnTo>
                  <a:pt x="2" y="7"/>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97" name="Freeform 2302">
            <a:extLst>
              <a:ext uri="{FF2B5EF4-FFF2-40B4-BE49-F238E27FC236}">
                <a16:creationId xmlns:a16="http://schemas.microsoft.com/office/drawing/2014/main" id="{35DB9E86-28E6-CE5D-0B37-C3AA2A78E6F1}"/>
              </a:ext>
            </a:extLst>
          </p:cNvPr>
          <p:cNvSpPr>
            <a:spLocks/>
          </p:cNvSpPr>
          <p:nvPr/>
        </p:nvSpPr>
        <p:spPr bwMode="auto">
          <a:xfrm>
            <a:off x="2801938" y="2873375"/>
            <a:ext cx="50800" cy="39688"/>
          </a:xfrm>
          <a:custGeom>
            <a:avLst/>
            <a:gdLst>
              <a:gd name="T0" fmla="*/ 2 w 32"/>
              <a:gd name="T1" fmla="*/ 22 h 25"/>
              <a:gd name="T2" fmla="*/ 4 w 32"/>
              <a:gd name="T3" fmla="*/ 25 h 25"/>
              <a:gd name="T4" fmla="*/ 32 w 32"/>
              <a:gd name="T5" fmla="*/ 7 h 25"/>
              <a:gd name="T6" fmla="*/ 28 w 32"/>
              <a:gd name="T7" fmla="*/ 0 h 25"/>
              <a:gd name="T8" fmla="*/ 0 w 32"/>
              <a:gd name="T9" fmla="*/ 18 h 25"/>
              <a:gd name="T10" fmla="*/ 2 w 32"/>
              <a:gd name="T11" fmla="*/ 22 h 25"/>
            </a:gdLst>
            <a:ahLst/>
            <a:cxnLst>
              <a:cxn ang="0">
                <a:pos x="T0" y="T1"/>
              </a:cxn>
              <a:cxn ang="0">
                <a:pos x="T2" y="T3"/>
              </a:cxn>
              <a:cxn ang="0">
                <a:pos x="T4" y="T5"/>
              </a:cxn>
              <a:cxn ang="0">
                <a:pos x="T6" y="T7"/>
              </a:cxn>
              <a:cxn ang="0">
                <a:pos x="T8" y="T9"/>
              </a:cxn>
              <a:cxn ang="0">
                <a:pos x="T10" y="T11"/>
              </a:cxn>
            </a:cxnLst>
            <a:rect l="0" t="0" r="r" b="b"/>
            <a:pathLst>
              <a:path w="32" h="25">
                <a:moveTo>
                  <a:pt x="2" y="22"/>
                </a:moveTo>
                <a:lnTo>
                  <a:pt x="4" y="25"/>
                </a:lnTo>
                <a:lnTo>
                  <a:pt x="32" y="7"/>
                </a:lnTo>
                <a:lnTo>
                  <a:pt x="28" y="0"/>
                </a:lnTo>
                <a:lnTo>
                  <a:pt x="0" y="18"/>
                </a:lnTo>
                <a:lnTo>
                  <a:pt x="2" y="2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98" name="Freeform 2303">
            <a:extLst>
              <a:ext uri="{FF2B5EF4-FFF2-40B4-BE49-F238E27FC236}">
                <a16:creationId xmlns:a16="http://schemas.microsoft.com/office/drawing/2014/main" id="{D6B0F9AC-11D1-21BD-ED52-0CEDAC867CDB}"/>
              </a:ext>
            </a:extLst>
          </p:cNvPr>
          <p:cNvSpPr>
            <a:spLocks/>
          </p:cNvSpPr>
          <p:nvPr/>
        </p:nvSpPr>
        <p:spPr bwMode="auto">
          <a:xfrm>
            <a:off x="3406775" y="2744788"/>
            <a:ext cx="34925" cy="52388"/>
          </a:xfrm>
          <a:custGeom>
            <a:avLst/>
            <a:gdLst>
              <a:gd name="T0" fmla="*/ 2 w 22"/>
              <a:gd name="T1" fmla="*/ 33 h 33"/>
              <a:gd name="T2" fmla="*/ 0 w 22"/>
              <a:gd name="T3" fmla="*/ 28 h 33"/>
              <a:gd name="T4" fmla="*/ 17 w 22"/>
              <a:gd name="T5" fmla="*/ 0 h 33"/>
              <a:gd name="T6" fmla="*/ 22 w 22"/>
              <a:gd name="T7" fmla="*/ 3 h 33"/>
              <a:gd name="T8" fmla="*/ 5 w 22"/>
              <a:gd name="T9" fmla="*/ 32 h 33"/>
              <a:gd name="T10" fmla="*/ 3 w 22"/>
              <a:gd name="T11" fmla="*/ 27 h 33"/>
              <a:gd name="T12" fmla="*/ 2 w 22"/>
              <a:gd name="T13" fmla="*/ 33 h 33"/>
            </a:gdLst>
            <a:ahLst/>
            <a:cxnLst>
              <a:cxn ang="0">
                <a:pos x="T0" y="T1"/>
              </a:cxn>
              <a:cxn ang="0">
                <a:pos x="T2" y="T3"/>
              </a:cxn>
              <a:cxn ang="0">
                <a:pos x="T4" y="T5"/>
              </a:cxn>
              <a:cxn ang="0">
                <a:pos x="T6" y="T7"/>
              </a:cxn>
              <a:cxn ang="0">
                <a:pos x="T8" y="T9"/>
              </a:cxn>
              <a:cxn ang="0">
                <a:pos x="T10" y="T11"/>
              </a:cxn>
              <a:cxn ang="0">
                <a:pos x="T12" y="T13"/>
              </a:cxn>
            </a:cxnLst>
            <a:rect l="0" t="0" r="r" b="b"/>
            <a:pathLst>
              <a:path w="22" h="33">
                <a:moveTo>
                  <a:pt x="2" y="33"/>
                </a:moveTo>
                <a:lnTo>
                  <a:pt x="0" y="28"/>
                </a:lnTo>
                <a:lnTo>
                  <a:pt x="17" y="0"/>
                </a:lnTo>
                <a:lnTo>
                  <a:pt x="22" y="3"/>
                </a:lnTo>
                <a:lnTo>
                  <a:pt x="5" y="32"/>
                </a:lnTo>
                <a:lnTo>
                  <a:pt x="3" y="27"/>
                </a:lnTo>
                <a:lnTo>
                  <a:pt x="2" y="3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099" name="Freeform 2304">
            <a:extLst>
              <a:ext uri="{FF2B5EF4-FFF2-40B4-BE49-F238E27FC236}">
                <a16:creationId xmlns:a16="http://schemas.microsoft.com/office/drawing/2014/main" id="{BA5C52DD-AC50-6790-BCE7-B73B0E353D45}"/>
              </a:ext>
            </a:extLst>
          </p:cNvPr>
          <p:cNvSpPr>
            <a:spLocks/>
          </p:cNvSpPr>
          <p:nvPr/>
        </p:nvSpPr>
        <p:spPr bwMode="auto">
          <a:xfrm>
            <a:off x="3406775" y="2789238"/>
            <a:ext cx="4763" cy="7938"/>
          </a:xfrm>
          <a:custGeom>
            <a:avLst/>
            <a:gdLst>
              <a:gd name="T0" fmla="*/ 2 w 3"/>
              <a:gd name="T1" fmla="*/ 5 h 5"/>
              <a:gd name="T2" fmla="*/ 3 w 3"/>
              <a:gd name="T3" fmla="*/ 2 h 5"/>
              <a:gd name="T4" fmla="*/ 0 w 3"/>
              <a:gd name="T5" fmla="*/ 0 h 5"/>
              <a:gd name="T6" fmla="*/ 2 w 3"/>
              <a:gd name="T7" fmla="*/ 5 h 5"/>
            </a:gdLst>
            <a:ahLst/>
            <a:cxnLst>
              <a:cxn ang="0">
                <a:pos x="T0" y="T1"/>
              </a:cxn>
              <a:cxn ang="0">
                <a:pos x="T2" y="T3"/>
              </a:cxn>
              <a:cxn ang="0">
                <a:pos x="T4" y="T5"/>
              </a:cxn>
              <a:cxn ang="0">
                <a:pos x="T6" y="T7"/>
              </a:cxn>
            </a:cxnLst>
            <a:rect l="0" t="0" r="r" b="b"/>
            <a:pathLst>
              <a:path w="3" h="5">
                <a:moveTo>
                  <a:pt x="2" y="5"/>
                </a:moveTo>
                <a:lnTo>
                  <a:pt x="3" y="2"/>
                </a:lnTo>
                <a:lnTo>
                  <a:pt x="0" y="0"/>
                </a:lnTo>
                <a:lnTo>
                  <a:pt x="2"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00" name="Freeform 2305">
            <a:extLst>
              <a:ext uri="{FF2B5EF4-FFF2-40B4-BE49-F238E27FC236}">
                <a16:creationId xmlns:a16="http://schemas.microsoft.com/office/drawing/2014/main" id="{5310E01C-16CE-87AF-59E8-4C623D3D5A7E}"/>
              </a:ext>
            </a:extLst>
          </p:cNvPr>
          <p:cNvSpPr>
            <a:spLocks/>
          </p:cNvSpPr>
          <p:nvPr/>
        </p:nvSpPr>
        <p:spPr bwMode="auto">
          <a:xfrm>
            <a:off x="3409950" y="2787650"/>
            <a:ext cx="52388" cy="15875"/>
          </a:xfrm>
          <a:custGeom>
            <a:avLst/>
            <a:gdLst>
              <a:gd name="T0" fmla="*/ 33 w 33"/>
              <a:gd name="T1" fmla="*/ 6 h 10"/>
              <a:gd name="T2" fmla="*/ 33 w 33"/>
              <a:gd name="T3" fmla="*/ 10 h 10"/>
              <a:gd name="T4" fmla="*/ 0 w 33"/>
              <a:gd name="T5" fmla="*/ 6 h 10"/>
              <a:gd name="T6" fmla="*/ 1 w 33"/>
              <a:gd name="T7" fmla="*/ 0 h 10"/>
              <a:gd name="T8" fmla="*/ 33 w 33"/>
              <a:gd name="T9" fmla="*/ 3 h 10"/>
              <a:gd name="T10" fmla="*/ 33 w 33"/>
              <a:gd name="T11" fmla="*/ 6 h 10"/>
            </a:gdLst>
            <a:ahLst/>
            <a:cxnLst>
              <a:cxn ang="0">
                <a:pos x="T0" y="T1"/>
              </a:cxn>
              <a:cxn ang="0">
                <a:pos x="T2" y="T3"/>
              </a:cxn>
              <a:cxn ang="0">
                <a:pos x="T4" y="T5"/>
              </a:cxn>
              <a:cxn ang="0">
                <a:pos x="T6" y="T7"/>
              </a:cxn>
              <a:cxn ang="0">
                <a:pos x="T8" y="T9"/>
              </a:cxn>
              <a:cxn ang="0">
                <a:pos x="T10" y="T11"/>
              </a:cxn>
            </a:cxnLst>
            <a:rect l="0" t="0" r="r" b="b"/>
            <a:pathLst>
              <a:path w="33" h="10">
                <a:moveTo>
                  <a:pt x="33" y="6"/>
                </a:moveTo>
                <a:lnTo>
                  <a:pt x="33" y="10"/>
                </a:lnTo>
                <a:lnTo>
                  <a:pt x="0" y="6"/>
                </a:lnTo>
                <a:lnTo>
                  <a:pt x="1" y="0"/>
                </a:lnTo>
                <a:lnTo>
                  <a:pt x="33" y="3"/>
                </a:lnTo>
                <a:lnTo>
                  <a:pt x="33" y="6"/>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01" name="Freeform 2306">
            <a:extLst>
              <a:ext uri="{FF2B5EF4-FFF2-40B4-BE49-F238E27FC236}">
                <a16:creationId xmlns:a16="http://schemas.microsoft.com/office/drawing/2014/main" id="{A0CBF100-F2C5-BA34-7003-EDA125C80ED4}"/>
              </a:ext>
            </a:extLst>
          </p:cNvPr>
          <p:cNvSpPr>
            <a:spLocks/>
          </p:cNvSpPr>
          <p:nvPr/>
        </p:nvSpPr>
        <p:spPr bwMode="auto">
          <a:xfrm>
            <a:off x="3417888" y="2616200"/>
            <a:ext cx="341313" cy="176213"/>
          </a:xfrm>
          <a:custGeom>
            <a:avLst/>
            <a:gdLst>
              <a:gd name="T0" fmla="*/ 215 w 215"/>
              <a:gd name="T1" fmla="*/ 3 h 111"/>
              <a:gd name="T2" fmla="*/ 213 w 215"/>
              <a:gd name="T3" fmla="*/ 0 h 111"/>
              <a:gd name="T4" fmla="*/ 0 w 215"/>
              <a:gd name="T5" fmla="*/ 106 h 111"/>
              <a:gd name="T6" fmla="*/ 1 w 215"/>
              <a:gd name="T7" fmla="*/ 111 h 111"/>
              <a:gd name="T8" fmla="*/ 215 w 215"/>
              <a:gd name="T9" fmla="*/ 5 h 111"/>
              <a:gd name="T10" fmla="*/ 215 w 215"/>
              <a:gd name="T11" fmla="*/ 3 h 111"/>
            </a:gdLst>
            <a:ahLst/>
            <a:cxnLst>
              <a:cxn ang="0">
                <a:pos x="T0" y="T1"/>
              </a:cxn>
              <a:cxn ang="0">
                <a:pos x="T2" y="T3"/>
              </a:cxn>
              <a:cxn ang="0">
                <a:pos x="T4" y="T5"/>
              </a:cxn>
              <a:cxn ang="0">
                <a:pos x="T6" y="T7"/>
              </a:cxn>
              <a:cxn ang="0">
                <a:pos x="T8" y="T9"/>
              </a:cxn>
              <a:cxn ang="0">
                <a:pos x="T10" y="T11"/>
              </a:cxn>
            </a:cxnLst>
            <a:rect l="0" t="0" r="r" b="b"/>
            <a:pathLst>
              <a:path w="215" h="111">
                <a:moveTo>
                  <a:pt x="215" y="3"/>
                </a:moveTo>
                <a:lnTo>
                  <a:pt x="213" y="0"/>
                </a:lnTo>
                <a:lnTo>
                  <a:pt x="0" y="106"/>
                </a:lnTo>
                <a:lnTo>
                  <a:pt x="1" y="111"/>
                </a:lnTo>
                <a:lnTo>
                  <a:pt x="215" y="5"/>
                </a:lnTo>
                <a:lnTo>
                  <a:pt x="215" y="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02" name="Freeform 2307">
            <a:extLst>
              <a:ext uri="{FF2B5EF4-FFF2-40B4-BE49-F238E27FC236}">
                <a16:creationId xmlns:a16="http://schemas.microsoft.com/office/drawing/2014/main" id="{9CF33CE2-0082-3F4F-6EEC-911A9F3400BF}"/>
              </a:ext>
            </a:extLst>
          </p:cNvPr>
          <p:cNvSpPr>
            <a:spLocks/>
          </p:cNvSpPr>
          <p:nvPr/>
        </p:nvSpPr>
        <p:spPr bwMode="auto">
          <a:xfrm>
            <a:off x="3714750" y="2605088"/>
            <a:ext cx="55563" cy="15875"/>
          </a:xfrm>
          <a:custGeom>
            <a:avLst/>
            <a:gdLst>
              <a:gd name="T0" fmla="*/ 35 w 35"/>
              <a:gd name="T1" fmla="*/ 9 h 10"/>
              <a:gd name="T2" fmla="*/ 33 w 35"/>
              <a:gd name="T3" fmla="*/ 4 h 10"/>
              <a:gd name="T4" fmla="*/ 0 w 35"/>
              <a:gd name="T5" fmla="*/ 0 h 10"/>
              <a:gd name="T6" fmla="*/ 0 w 35"/>
              <a:gd name="T7" fmla="*/ 7 h 10"/>
              <a:gd name="T8" fmla="*/ 31 w 35"/>
              <a:gd name="T9" fmla="*/ 10 h 10"/>
              <a:gd name="T10" fmla="*/ 30 w 35"/>
              <a:gd name="T11" fmla="*/ 5 h 10"/>
              <a:gd name="T12" fmla="*/ 35 w 35"/>
              <a:gd name="T13" fmla="*/ 9 h 10"/>
            </a:gdLst>
            <a:ahLst/>
            <a:cxnLst>
              <a:cxn ang="0">
                <a:pos x="T0" y="T1"/>
              </a:cxn>
              <a:cxn ang="0">
                <a:pos x="T2" y="T3"/>
              </a:cxn>
              <a:cxn ang="0">
                <a:pos x="T4" y="T5"/>
              </a:cxn>
              <a:cxn ang="0">
                <a:pos x="T6" y="T7"/>
              </a:cxn>
              <a:cxn ang="0">
                <a:pos x="T8" y="T9"/>
              </a:cxn>
              <a:cxn ang="0">
                <a:pos x="T10" y="T11"/>
              </a:cxn>
              <a:cxn ang="0">
                <a:pos x="T12" y="T13"/>
              </a:cxn>
            </a:cxnLst>
            <a:rect l="0" t="0" r="r" b="b"/>
            <a:pathLst>
              <a:path w="35" h="10">
                <a:moveTo>
                  <a:pt x="35" y="9"/>
                </a:moveTo>
                <a:lnTo>
                  <a:pt x="33" y="4"/>
                </a:lnTo>
                <a:lnTo>
                  <a:pt x="0" y="0"/>
                </a:lnTo>
                <a:lnTo>
                  <a:pt x="0" y="7"/>
                </a:lnTo>
                <a:lnTo>
                  <a:pt x="31" y="10"/>
                </a:lnTo>
                <a:lnTo>
                  <a:pt x="30" y="5"/>
                </a:lnTo>
                <a:lnTo>
                  <a:pt x="35" y="9"/>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03" name="Freeform 2308">
            <a:extLst>
              <a:ext uri="{FF2B5EF4-FFF2-40B4-BE49-F238E27FC236}">
                <a16:creationId xmlns:a16="http://schemas.microsoft.com/office/drawing/2014/main" id="{DAE91874-710C-4684-1B72-DE66940CCDA0}"/>
              </a:ext>
            </a:extLst>
          </p:cNvPr>
          <p:cNvSpPr>
            <a:spLocks/>
          </p:cNvSpPr>
          <p:nvPr/>
        </p:nvSpPr>
        <p:spPr bwMode="auto">
          <a:xfrm>
            <a:off x="3767138" y="2611438"/>
            <a:ext cx="3175" cy="7938"/>
          </a:xfrm>
          <a:custGeom>
            <a:avLst/>
            <a:gdLst>
              <a:gd name="T0" fmla="*/ 2 w 2"/>
              <a:gd name="T1" fmla="*/ 5 h 5"/>
              <a:gd name="T2" fmla="*/ 0 w 2"/>
              <a:gd name="T3" fmla="*/ 3 h 5"/>
              <a:gd name="T4" fmla="*/ 0 w 2"/>
              <a:gd name="T5" fmla="*/ 0 h 5"/>
              <a:gd name="T6" fmla="*/ 2 w 2"/>
              <a:gd name="T7" fmla="*/ 5 h 5"/>
            </a:gdLst>
            <a:ahLst/>
            <a:cxnLst>
              <a:cxn ang="0">
                <a:pos x="T0" y="T1"/>
              </a:cxn>
              <a:cxn ang="0">
                <a:pos x="T2" y="T3"/>
              </a:cxn>
              <a:cxn ang="0">
                <a:pos x="T4" y="T5"/>
              </a:cxn>
              <a:cxn ang="0">
                <a:pos x="T6" y="T7"/>
              </a:cxn>
            </a:cxnLst>
            <a:rect l="0" t="0" r="r" b="b"/>
            <a:pathLst>
              <a:path w="2" h="5">
                <a:moveTo>
                  <a:pt x="2" y="5"/>
                </a:moveTo>
                <a:lnTo>
                  <a:pt x="0" y="3"/>
                </a:lnTo>
                <a:lnTo>
                  <a:pt x="0" y="0"/>
                </a:lnTo>
                <a:lnTo>
                  <a:pt x="2"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04" name="Freeform 2309">
            <a:extLst>
              <a:ext uri="{FF2B5EF4-FFF2-40B4-BE49-F238E27FC236}">
                <a16:creationId xmlns:a16="http://schemas.microsoft.com/office/drawing/2014/main" id="{6116600E-B6DA-550E-A602-532A75AD6FD3}"/>
              </a:ext>
            </a:extLst>
          </p:cNvPr>
          <p:cNvSpPr>
            <a:spLocks/>
          </p:cNvSpPr>
          <p:nvPr/>
        </p:nvSpPr>
        <p:spPr bwMode="auto">
          <a:xfrm>
            <a:off x="3735388" y="2613025"/>
            <a:ext cx="34925" cy="50800"/>
          </a:xfrm>
          <a:custGeom>
            <a:avLst/>
            <a:gdLst>
              <a:gd name="T0" fmla="*/ 2 w 22"/>
              <a:gd name="T1" fmla="*/ 30 h 32"/>
              <a:gd name="T2" fmla="*/ 5 w 22"/>
              <a:gd name="T3" fmla="*/ 32 h 32"/>
              <a:gd name="T4" fmla="*/ 22 w 22"/>
              <a:gd name="T5" fmla="*/ 4 h 32"/>
              <a:gd name="T6" fmla="*/ 17 w 22"/>
              <a:gd name="T7" fmla="*/ 0 h 32"/>
              <a:gd name="T8" fmla="*/ 0 w 22"/>
              <a:gd name="T9" fmla="*/ 28 h 32"/>
              <a:gd name="T10" fmla="*/ 2 w 22"/>
              <a:gd name="T11" fmla="*/ 30 h 32"/>
            </a:gdLst>
            <a:ahLst/>
            <a:cxnLst>
              <a:cxn ang="0">
                <a:pos x="T0" y="T1"/>
              </a:cxn>
              <a:cxn ang="0">
                <a:pos x="T2" y="T3"/>
              </a:cxn>
              <a:cxn ang="0">
                <a:pos x="T4" y="T5"/>
              </a:cxn>
              <a:cxn ang="0">
                <a:pos x="T6" y="T7"/>
              </a:cxn>
              <a:cxn ang="0">
                <a:pos x="T8" y="T9"/>
              </a:cxn>
              <a:cxn ang="0">
                <a:pos x="T10" y="T11"/>
              </a:cxn>
            </a:cxnLst>
            <a:rect l="0" t="0" r="r" b="b"/>
            <a:pathLst>
              <a:path w="22" h="32">
                <a:moveTo>
                  <a:pt x="2" y="30"/>
                </a:moveTo>
                <a:lnTo>
                  <a:pt x="5" y="32"/>
                </a:lnTo>
                <a:lnTo>
                  <a:pt x="22" y="4"/>
                </a:lnTo>
                <a:lnTo>
                  <a:pt x="17" y="0"/>
                </a:lnTo>
                <a:lnTo>
                  <a:pt x="0" y="28"/>
                </a:lnTo>
                <a:lnTo>
                  <a:pt x="2" y="30"/>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05" name="Rectangle 2310">
            <a:extLst>
              <a:ext uri="{FF2B5EF4-FFF2-40B4-BE49-F238E27FC236}">
                <a16:creationId xmlns:a16="http://schemas.microsoft.com/office/drawing/2014/main" id="{D72465D3-11A6-0FD6-0A4F-F875266072D5}"/>
              </a:ext>
            </a:extLst>
          </p:cNvPr>
          <p:cNvSpPr>
            <a:spLocks noChangeArrowheads="1"/>
          </p:cNvSpPr>
          <p:nvPr/>
        </p:nvSpPr>
        <p:spPr bwMode="auto">
          <a:xfrm>
            <a:off x="2544763" y="2841625"/>
            <a:ext cx="84138" cy="825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06" name="Rectangle 2311">
            <a:extLst>
              <a:ext uri="{FF2B5EF4-FFF2-40B4-BE49-F238E27FC236}">
                <a16:creationId xmlns:a16="http://schemas.microsoft.com/office/drawing/2014/main" id="{2CD200A3-D05C-BDEA-49DF-8440D50A4183}"/>
              </a:ext>
            </a:extLst>
          </p:cNvPr>
          <p:cNvSpPr>
            <a:spLocks noChangeArrowheads="1"/>
          </p:cNvSpPr>
          <p:nvPr/>
        </p:nvSpPr>
        <p:spPr bwMode="auto">
          <a:xfrm>
            <a:off x="3543300" y="2657475"/>
            <a:ext cx="84138" cy="873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07" name="Rectangle 2312">
            <a:extLst>
              <a:ext uri="{FF2B5EF4-FFF2-40B4-BE49-F238E27FC236}">
                <a16:creationId xmlns:a16="http://schemas.microsoft.com/office/drawing/2014/main" id="{4F825938-BE38-3500-0962-5A38BD5EC955}"/>
              </a:ext>
            </a:extLst>
          </p:cNvPr>
          <p:cNvSpPr>
            <a:spLocks noChangeArrowheads="1"/>
          </p:cNvSpPr>
          <p:nvPr/>
        </p:nvSpPr>
        <p:spPr bwMode="auto">
          <a:xfrm>
            <a:off x="3559175" y="2620963"/>
            <a:ext cx="130175" cy="187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108" name="Rectangle 2313">
            <a:extLst>
              <a:ext uri="{FF2B5EF4-FFF2-40B4-BE49-F238E27FC236}">
                <a16:creationId xmlns:a16="http://schemas.microsoft.com/office/drawing/2014/main" id="{BD4153DD-1334-6A1C-B44D-957A6654D447}"/>
              </a:ext>
            </a:extLst>
          </p:cNvPr>
          <p:cNvSpPr>
            <a:spLocks noChangeArrowheads="1"/>
          </p:cNvSpPr>
          <p:nvPr/>
        </p:nvSpPr>
        <p:spPr bwMode="auto">
          <a:xfrm>
            <a:off x="2557463" y="2805113"/>
            <a:ext cx="130175" cy="187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x</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109" name="Rectangle 2314">
            <a:extLst>
              <a:ext uri="{FF2B5EF4-FFF2-40B4-BE49-F238E27FC236}">
                <a16:creationId xmlns:a16="http://schemas.microsoft.com/office/drawing/2014/main" id="{92A4FF20-D44F-AE1B-F0A9-CF80FFEAB48C}"/>
              </a:ext>
            </a:extLst>
          </p:cNvPr>
          <p:cNvSpPr>
            <a:spLocks noChangeArrowheads="1"/>
          </p:cNvSpPr>
          <p:nvPr/>
        </p:nvSpPr>
        <p:spPr bwMode="auto">
          <a:xfrm>
            <a:off x="2714625" y="2105025"/>
            <a:ext cx="477838" cy="187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small x</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110" name="Rectangle 2315">
            <a:extLst>
              <a:ext uri="{FF2B5EF4-FFF2-40B4-BE49-F238E27FC236}">
                <a16:creationId xmlns:a16="http://schemas.microsoft.com/office/drawing/2014/main" id="{F6F11703-4FDF-0D3F-FF00-C646DF430203}"/>
              </a:ext>
            </a:extLst>
          </p:cNvPr>
          <p:cNvSpPr>
            <a:spLocks noChangeArrowheads="1"/>
          </p:cNvSpPr>
          <p:nvPr/>
        </p:nvSpPr>
        <p:spPr bwMode="auto">
          <a:xfrm>
            <a:off x="3135313" y="2105025"/>
            <a:ext cx="104775" cy="187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111" name="Rectangle 2316">
            <a:extLst>
              <a:ext uri="{FF2B5EF4-FFF2-40B4-BE49-F238E27FC236}">
                <a16:creationId xmlns:a16="http://schemas.microsoft.com/office/drawing/2014/main" id="{5F83C7A4-489C-1074-1B7A-F6E51A86BFCF}"/>
              </a:ext>
            </a:extLst>
          </p:cNvPr>
          <p:cNvSpPr>
            <a:spLocks noChangeArrowheads="1"/>
          </p:cNvSpPr>
          <p:nvPr/>
        </p:nvSpPr>
        <p:spPr bwMode="auto">
          <a:xfrm>
            <a:off x="3181350" y="2105025"/>
            <a:ext cx="793750" cy="187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ray spot size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112" name="Rectangle 2317">
            <a:extLst>
              <a:ext uri="{FF2B5EF4-FFF2-40B4-BE49-F238E27FC236}">
                <a16:creationId xmlns:a16="http://schemas.microsoft.com/office/drawing/2014/main" id="{7A064811-6F5F-2CA3-8881-0EB6158B66E9}"/>
              </a:ext>
            </a:extLst>
          </p:cNvPr>
          <p:cNvSpPr>
            <a:spLocks noChangeArrowheads="1"/>
          </p:cNvSpPr>
          <p:nvPr/>
        </p:nvSpPr>
        <p:spPr bwMode="auto">
          <a:xfrm>
            <a:off x="2014538" y="1690688"/>
            <a:ext cx="2195513"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a:ln>
                  <a:noFill/>
                </a:ln>
                <a:solidFill>
                  <a:srgbClr val="000000"/>
                </a:solidFill>
                <a:effectLst/>
                <a:latin typeface="Times New Roman" panose="02020603050405020304" pitchFamily="18" charset="0"/>
              </a:rPr>
              <a:t>(1) Moving sample stage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113" name="Rectangle 2318">
            <a:extLst>
              <a:ext uri="{FF2B5EF4-FFF2-40B4-BE49-F238E27FC236}">
                <a16:creationId xmlns:a16="http://schemas.microsoft.com/office/drawing/2014/main" id="{F8F7F7BF-4287-F993-0BFD-3C2404932E73}"/>
              </a:ext>
            </a:extLst>
          </p:cNvPr>
          <p:cNvSpPr>
            <a:spLocks noChangeArrowheads="1"/>
          </p:cNvSpPr>
          <p:nvPr/>
        </p:nvSpPr>
        <p:spPr bwMode="auto">
          <a:xfrm>
            <a:off x="4678363" y="2057401"/>
            <a:ext cx="3475037" cy="677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r>
              <a:rPr kumimoji="0" lang="en-US" altLang="en-US" sz="1600" i="0" u="none" strike="noStrike" cap="none" normalizeH="0" baseline="0" dirty="0">
                <a:ln>
                  <a:noFill/>
                </a:ln>
                <a:solidFill>
                  <a:srgbClr val="000000"/>
                </a:solidFill>
                <a:effectLst/>
                <a:latin typeface="Times New Roman" panose="02020603050405020304" pitchFamily="18" charset="0"/>
              </a:rPr>
              <a:t>Image: </a:t>
            </a:r>
            <a:r>
              <a:rPr kumimoji="0" lang="en-US" altLang="en-US" sz="1600" i="0" u="none" strike="noStrike" cap="none" normalizeH="0" baseline="0" dirty="0" err="1">
                <a:ln>
                  <a:noFill/>
                </a:ln>
                <a:solidFill>
                  <a:srgbClr val="000000"/>
                </a:solidFill>
                <a:effectLst/>
                <a:latin typeface="Times New Roman" panose="02020603050405020304" pitchFamily="18" charset="0"/>
              </a:rPr>
              <a:t>x,y</a:t>
            </a:r>
            <a:r>
              <a:rPr kumimoji="0" lang="en-US" altLang="en-US" sz="1600" i="0" u="none" strike="noStrike" cap="none" normalizeH="0" baseline="0" dirty="0">
                <a:ln>
                  <a:noFill/>
                </a:ln>
                <a:solidFill>
                  <a:srgbClr val="000000"/>
                </a:solidFill>
                <a:effectLst/>
                <a:latin typeface="Times New Roman" panose="02020603050405020304" pitchFamily="18" charset="0"/>
              </a:rPr>
              <a:t> position versus </a:t>
            </a:r>
            <a:r>
              <a:rPr lang="en-US" altLang="en-US" sz="1600" dirty="0">
                <a:solidFill>
                  <a:srgbClr val="000000"/>
                </a:solidFill>
                <a:latin typeface="Times New Roman" panose="02020603050405020304" pitchFamily="18" charset="0"/>
              </a:rPr>
              <a:t>photoelectron intensity</a:t>
            </a:r>
            <a:endParaRPr lang="en-US" altLang="en-US" sz="1600" dirty="0"/>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000000"/>
                </a:solidFill>
                <a:effectLst/>
                <a:latin typeface="Times New Roman" panose="02020603050405020304" pitchFamily="18" charset="0"/>
              </a:rPr>
              <a:t>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72115" name="Rectangle 2320">
            <a:extLst>
              <a:ext uri="{FF2B5EF4-FFF2-40B4-BE49-F238E27FC236}">
                <a16:creationId xmlns:a16="http://schemas.microsoft.com/office/drawing/2014/main" id="{74649F98-F6B0-B93D-AC71-23DBED259425}"/>
              </a:ext>
            </a:extLst>
          </p:cNvPr>
          <p:cNvSpPr>
            <a:spLocks noChangeArrowheads="1"/>
          </p:cNvSpPr>
          <p:nvPr/>
        </p:nvSpPr>
        <p:spPr bwMode="auto">
          <a:xfrm>
            <a:off x="1997075" y="3192463"/>
            <a:ext cx="2293938"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a:ln>
                  <a:noFill/>
                </a:ln>
                <a:solidFill>
                  <a:srgbClr val="000000"/>
                </a:solidFill>
                <a:effectLst/>
                <a:latin typeface="Times New Roman" panose="02020603050405020304" pitchFamily="18" charset="0"/>
              </a:rPr>
              <a:t>(2) Use of scanning plates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116" name="Line 2321">
            <a:extLst>
              <a:ext uri="{FF2B5EF4-FFF2-40B4-BE49-F238E27FC236}">
                <a16:creationId xmlns:a16="http://schemas.microsoft.com/office/drawing/2014/main" id="{7D4EF9F2-4216-3983-0720-3C260316A282}"/>
              </a:ext>
            </a:extLst>
          </p:cNvPr>
          <p:cNvSpPr>
            <a:spLocks noChangeShapeType="1"/>
          </p:cNvSpPr>
          <p:nvPr/>
        </p:nvSpPr>
        <p:spPr bwMode="auto">
          <a:xfrm>
            <a:off x="2697163" y="4492625"/>
            <a:ext cx="569913" cy="1588"/>
          </a:xfrm>
          <a:prstGeom prst="line">
            <a:avLst/>
          </a:prstGeom>
          <a:noFill/>
          <a:ln w="7938" cap="rnd">
            <a:solidFill>
              <a:srgbClr val="1F1A17"/>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117" name="Freeform 2322">
            <a:extLst>
              <a:ext uri="{FF2B5EF4-FFF2-40B4-BE49-F238E27FC236}">
                <a16:creationId xmlns:a16="http://schemas.microsoft.com/office/drawing/2014/main" id="{2375BFBB-255A-4421-5D23-B29729511C7B}"/>
              </a:ext>
            </a:extLst>
          </p:cNvPr>
          <p:cNvSpPr>
            <a:spLocks/>
          </p:cNvSpPr>
          <p:nvPr/>
        </p:nvSpPr>
        <p:spPr bwMode="auto">
          <a:xfrm>
            <a:off x="2263775" y="3787775"/>
            <a:ext cx="1398588" cy="708025"/>
          </a:xfrm>
          <a:custGeom>
            <a:avLst/>
            <a:gdLst>
              <a:gd name="T0" fmla="*/ 0 w 881"/>
              <a:gd name="T1" fmla="*/ 446 h 446"/>
              <a:gd name="T2" fmla="*/ 3 w 881"/>
              <a:gd name="T3" fmla="*/ 391 h 446"/>
              <a:gd name="T4" fmla="*/ 11 w 881"/>
              <a:gd name="T5" fmla="*/ 340 h 446"/>
              <a:gd name="T6" fmla="*/ 23 w 881"/>
              <a:gd name="T7" fmla="*/ 294 h 446"/>
              <a:gd name="T8" fmla="*/ 39 w 881"/>
              <a:gd name="T9" fmla="*/ 250 h 446"/>
              <a:gd name="T10" fmla="*/ 59 w 881"/>
              <a:gd name="T11" fmla="*/ 211 h 446"/>
              <a:gd name="T12" fmla="*/ 83 w 881"/>
              <a:gd name="T13" fmla="*/ 173 h 446"/>
              <a:gd name="T14" fmla="*/ 109 w 881"/>
              <a:gd name="T15" fmla="*/ 140 h 446"/>
              <a:gd name="T16" fmla="*/ 139 w 881"/>
              <a:gd name="T17" fmla="*/ 111 h 446"/>
              <a:gd name="T18" fmla="*/ 170 w 881"/>
              <a:gd name="T19" fmla="*/ 85 h 446"/>
              <a:gd name="T20" fmla="*/ 205 w 881"/>
              <a:gd name="T21" fmla="*/ 62 h 446"/>
              <a:gd name="T22" fmla="*/ 241 w 881"/>
              <a:gd name="T23" fmla="*/ 44 h 446"/>
              <a:gd name="T24" fmla="*/ 278 w 881"/>
              <a:gd name="T25" fmla="*/ 27 h 446"/>
              <a:gd name="T26" fmla="*/ 318 w 881"/>
              <a:gd name="T27" fmla="*/ 15 h 446"/>
              <a:gd name="T28" fmla="*/ 357 w 881"/>
              <a:gd name="T29" fmla="*/ 7 h 446"/>
              <a:gd name="T30" fmla="*/ 397 w 881"/>
              <a:gd name="T31" fmla="*/ 2 h 446"/>
              <a:gd name="T32" fmla="*/ 437 w 881"/>
              <a:gd name="T33" fmla="*/ 0 h 446"/>
              <a:gd name="T34" fmla="*/ 478 w 881"/>
              <a:gd name="T35" fmla="*/ 2 h 446"/>
              <a:gd name="T36" fmla="*/ 518 w 881"/>
              <a:gd name="T37" fmla="*/ 7 h 446"/>
              <a:gd name="T38" fmla="*/ 558 w 881"/>
              <a:gd name="T39" fmla="*/ 15 h 446"/>
              <a:gd name="T40" fmla="*/ 598 w 881"/>
              <a:gd name="T41" fmla="*/ 29 h 446"/>
              <a:gd name="T42" fmla="*/ 636 w 881"/>
              <a:gd name="T43" fmla="*/ 44 h 446"/>
              <a:gd name="T44" fmla="*/ 670 w 881"/>
              <a:gd name="T45" fmla="*/ 63 h 446"/>
              <a:gd name="T46" fmla="*/ 705 w 881"/>
              <a:gd name="T47" fmla="*/ 85 h 446"/>
              <a:gd name="T48" fmla="*/ 738 w 881"/>
              <a:gd name="T49" fmla="*/ 111 h 446"/>
              <a:gd name="T50" fmla="*/ 768 w 881"/>
              <a:gd name="T51" fmla="*/ 141 h 446"/>
              <a:gd name="T52" fmla="*/ 795 w 881"/>
              <a:gd name="T53" fmla="*/ 174 h 446"/>
              <a:gd name="T54" fmla="*/ 818 w 881"/>
              <a:gd name="T55" fmla="*/ 211 h 446"/>
              <a:gd name="T56" fmla="*/ 839 w 881"/>
              <a:gd name="T57" fmla="*/ 250 h 446"/>
              <a:gd name="T58" fmla="*/ 856 w 881"/>
              <a:gd name="T59" fmla="*/ 294 h 446"/>
              <a:gd name="T60" fmla="*/ 867 w 881"/>
              <a:gd name="T61" fmla="*/ 342 h 446"/>
              <a:gd name="T62" fmla="*/ 877 w 881"/>
              <a:gd name="T63" fmla="*/ 391 h 446"/>
              <a:gd name="T64" fmla="*/ 881 w 881"/>
              <a:gd name="T65"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81" h="446">
                <a:moveTo>
                  <a:pt x="0" y="446"/>
                </a:moveTo>
                <a:lnTo>
                  <a:pt x="3" y="391"/>
                </a:lnTo>
                <a:lnTo>
                  <a:pt x="11" y="340"/>
                </a:lnTo>
                <a:lnTo>
                  <a:pt x="23" y="294"/>
                </a:lnTo>
                <a:lnTo>
                  <a:pt x="39" y="250"/>
                </a:lnTo>
                <a:lnTo>
                  <a:pt x="59" y="211"/>
                </a:lnTo>
                <a:lnTo>
                  <a:pt x="83" y="173"/>
                </a:lnTo>
                <a:lnTo>
                  <a:pt x="109" y="140"/>
                </a:lnTo>
                <a:lnTo>
                  <a:pt x="139" y="111"/>
                </a:lnTo>
                <a:lnTo>
                  <a:pt x="170" y="85"/>
                </a:lnTo>
                <a:lnTo>
                  <a:pt x="205" y="62"/>
                </a:lnTo>
                <a:lnTo>
                  <a:pt x="241" y="44"/>
                </a:lnTo>
                <a:lnTo>
                  <a:pt x="278" y="27"/>
                </a:lnTo>
                <a:lnTo>
                  <a:pt x="318" y="15"/>
                </a:lnTo>
                <a:lnTo>
                  <a:pt x="357" y="7"/>
                </a:lnTo>
                <a:lnTo>
                  <a:pt x="397" y="2"/>
                </a:lnTo>
                <a:lnTo>
                  <a:pt x="437" y="0"/>
                </a:lnTo>
                <a:lnTo>
                  <a:pt x="478" y="2"/>
                </a:lnTo>
                <a:lnTo>
                  <a:pt x="518" y="7"/>
                </a:lnTo>
                <a:lnTo>
                  <a:pt x="558" y="15"/>
                </a:lnTo>
                <a:lnTo>
                  <a:pt x="598" y="29"/>
                </a:lnTo>
                <a:lnTo>
                  <a:pt x="636" y="44"/>
                </a:lnTo>
                <a:lnTo>
                  <a:pt x="670" y="63"/>
                </a:lnTo>
                <a:lnTo>
                  <a:pt x="705" y="85"/>
                </a:lnTo>
                <a:lnTo>
                  <a:pt x="738" y="111"/>
                </a:lnTo>
                <a:lnTo>
                  <a:pt x="768" y="141"/>
                </a:lnTo>
                <a:lnTo>
                  <a:pt x="795" y="174"/>
                </a:lnTo>
                <a:lnTo>
                  <a:pt x="818" y="211"/>
                </a:lnTo>
                <a:lnTo>
                  <a:pt x="839" y="250"/>
                </a:lnTo>
                <a:lnTo>
                  <a:pt x="856" y="294"/>
                </a:lnTo>
                <a:lnTo>
                  <a:pt x="867" y="342"/>
                </a:lnTo>
                <a:lnTo>
                  <a:pt x="877" y="391"/>
                </a:lnTo>
                <a:lnTo>
                  <a:pt x="881" y="446"/>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118" name="Freeform 2323">
            <a:extLst>
              <a:ext uri="{FF2B5EF4-FFF2-40B4-BE49-F238E27FC236}">
                <a16:creationId xmlns:a16="http://schemas.microsoft.com/office/drawing/2014/main" id="{A3050119-9BF4-A51F-C3B9-C034E592C0B9}"/>
              </a:ext>
            </a:extLst>
          </p:cNvPr>
          <p:cNvSpPr>
            <a:spLocks/>
          </p:cNvSpPr>
          <p:nvPr/>
        </p:nvSpPr>
        <p:spPr bwMode="auto">
          <a:xfrm>
            <a:off x="2644775" y="4175125"/>
            <a:ext cx="630238" cy="323850"/>
          </a:xfrm>
          <a:custGeom>
            <a:avLst/>
            <a:gdLst>
              <a:gd name="T0" fmla="*/ 0 w 397"/>
              <a:gd name="T1" fmla="*/ 204 h 204"/>
              <a:gd name="T2" fmla="*/ 1 w 397"/>
              <a:gd name="T3" fmla="*/ 179 h 204"/>
              <a:gd name="T4" fmla="*/ 6 w 397"/>
              <a:gd name="T5" fmla="*/ 154 h 204"/>
              <a:gd name="T6" fmla="*/ 11 w 397"/>
              <a:gd name="T7" fmla="*/ 131 h 204"/>
              <a:gd name="T8" fmla="*/ 20 w 397"/>
              <a:gd name="T9" fmla="*/ 111 h 204"/>
              <a:gd name="T10" fmla="*/ 30 w 397"/>
              <a:gd name="T11" fmla="*/ 93 h 204"/>
              <a:gd name="T12" fmla="*/ 40 w 397"/>
              <a:gd name="T13" fmla="*/ 74 h 204"/>
              <a:gd name="T14" fmla="*/ 53 w 397"/>
              <a:gd name="T15" fmla="*/ 59 h 204"/>
              <a:gd name="T16" fmla="*/ 66 w 397"/>
              <a:gd name="T17" fmla="*/ 46 h 204"/>
              <a:gd name="T18" fmla="*/ 81 w 397"/>
              <a:gd name="T19" fmla="*/ 35 h 204"/>
              <a:gd name="T20" fmla="*/ 98 w 397"/>
              <a:gd name="T21" fmla="*/ 25 h 204"/>
              <a:gd name="T22" fmla="*/ 114 w 397"/>
              <a:gd name="T23" fmla="*/ 16 h 204"/>
              <a:gd name="T24" fmla="*/ 131 w 397"/>
              <a:gd name="T25" fmla="*/ 10 h 204"/>
              <a:gd name="T26" fmla="*/ 149 w 397"/>
              <a:gd name="T27" fmla="*/ 5 h 204"/>
              <a:gd name="T28" fmla="*/ 167 w 397"/>
              <a:gd name="T29" fmla="*/ 2 h 204"/>
              <a:gd name="T30" fmla="*/ 185 w 397"/>
              <a:gd name="T31" fmla="*/ 0 h 204"/>
              <a:gd name="T32" fmla="*/ 204 w 397"/>
              <a:gd name="T33" fmla="*/ 0 h 204"/>
              <a:gd name="T34" fmla="*/ 222 w 397"/>
              <a:gd name="T35" fmla="*/ 0 h 204"/>
              <a:gd name="T36" fmla="*/ 242 w 397"/>
              <a:gd name="T37" fmla="*/ 3 h 204"/>
              <a:gd name="T38" fmla="*/ 258 w 397"/>
              <a:gd name="T39" fmla="*/ 8 h 204"/>
              <a:gd name="T40" fmla="*/ 276 w 397"/>
              <a:gd name="T41" fmla="*/ 15 h 204"/>
              <a:gd name="T42" fmla="*/ 293 w 397"/>
              <a:gd name="T43" fmla="*/ 21 h 204"/>
              <a:gd name="T44" fmla="*/ 310 w 397"/>
              <a:gd name="T45" fmla="*/ 31 h 204"/>
              <a:gd name="T46" fmla="*/ 324 w 397"/>
              <a:gd name="T47" fmla="*/ 41 h 204"/>
              <a:gd name="T48" fmla="*/ 339 w 397"/>
              <a:gd name="T49" fmla="*/ 54 h 204"/>
              <a:gd name="T50" fmla="*/ 353 w 397"/>
              <a:gd name="T51" fmla="*/ 68 h 204"/>
              <a:gd name="T52" fmla="*/ 364 w 397"/>
              <a:gd name="T53" fmla="*/ 83 h 204"/>
              <a:gd name="T54" fmla="*/ 374 w 397"/>
              <a:gd name="T55" fmla="*/ 99 h 204"/>
              <a:gd name="T56" fmla="*/ 382 w 397"/>
              <a:gd name="T57" fmla="*/ 116 h 204"/>
              <a:gd name="T58" fmla="*/ 389 w 397"/>
              <a:gd name="T59" fmla="*/ 136 h 204"/>
              <a:gd name="T60" fmla="*/ 394 w 397"/>
              <a:gd name="T61" fmla="*/ 156 h 204"/>
              <a:gd name="T62" fmla="*/ 396 w 397"/>
              <a:gd name="T63" fmla="*/ 179 h 204"/>
              <a:gd name="T64" fmla="*/ 397 w 397"/>
              <a:gd name="T65" fmla="*/ 202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97" h="204">
                <a:moveTo>
                  <a:pt x="0" y="204"/>
                </a:moveTo>
                <a:lnTo>
                  <a:pt x="1" y="179"/>
                </a:lnTo>
                <a:lnTo>
                  <a:pt x="6" y="154"/>
                </a:lnTo>
                <a:lnTo>
                  <a:pt x="11" y="131"/>
                </a:lnTo>
                <a:lnTo>
                  <a:pt x="20" y="111"/>
                </a:lnTo>
                <a:lnTo>
                  <a:pt x="30" y="93"/>
                </a:lnTo>
                <a:lnTo>
                  <a:pt x="40" y="74"/>
                </a:lnTo>
                <a:lnTo>
                  <a:pt x="53" y="59"/>
                </a:lnTo>
                <a:lnTo>
                  <a:pt x="66" y="46"/>
                </a:lnTo>
                <a:lnTo>
                  <a:pt x="81" y="35"/>
                </a:lnTo>
                <a:lnTo>
                  <a:pt x="98" y="25"/>
                </a:lnTo>
                <a:lnTo>
                  <a:pt x="114" y="16"/>
                </a:lnTo>
                <a:lnTo>
                  <a:pt x="131" y="10"/>
                </a:lnTo>
                <a:lnTo>
                  <a:pt x="149" y="5"/>
                </a:lnTo>
                <a:lnTo>
                  <a:pt x="167" y="2"/>
                </a:lnTo>
                <a:lnTo>
                  <a:pt x="185" y="0"/>
                </a:lnTo>
                <a:lnTo>
                  <a:pt x="204" y="0"/>
                </a:lnTo>
                <a:lnTo>
                  <a:pt x="222" y="0"/>
                </a:lnTo>
                <a:lnTo>
                  <a:pt x="242" y="3"/>
                </a:lnTo>
                <a:lnTo>
                  <a:pt x="258" y="8"/>
                </a:lnTo>
                <a:lnTo>
                  <a:pt x="276" y="15"/>
                </a:lnTo>
                <a:lnTo>
                  <a:pt x="293" y="21"/>
                </a:lnTo>
                <a:lnTo>
                  <a:pt x="310" y="31"/>
                </a:lnTo>
                <a:lnTo>
                  <a:pt x="324" y="41"/>
                </a:lnTo>
                <a:lnTo>
                  <a:pt x="339" y="54"/>
                </a:lnTo>
                <a:lnTo>
                  <a:pt x="353" y="68"/>
                </a:lnTo>
                <a:lnTo>
                  <a:pt x="364" y="83"/>
                </a:lnTo>
                <a:lnTo>
                  <a:pt x="374" y="99"/>
                </a:lnTo>
                <a:lnTo>
                  <a:pt x="382" y="116"/>
                </a:lnTo>
                <a:lnTo>
                  <a:pt x="389" y="136"/>
                </a:lnTo>
                <a:lnTo>
                  <a:pt x="394" y="156"/>
                </a:lnTo>
                <a:lnTo>
                  <a:pt x="396" y="179"/>
                </a:lnTo>
                <a:lnTo>
                  <a:pt x="397" y="202"/>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119" name="Freeform 2324">
            <a:extLst>
              <a:ext uri="{FF2B5EF4-FFF2-40B4-BE49-F238E27FC236}">
                <a16:creationId xmlns:a16="http://schemas.microsoft.com/office/drawing/2014/main" id="{BAC8AF97-10A5-C434-80EF-C30AE2602926}"/>
              </a:ext>
            </a:extLst>
          </p:cNvPr>
          <p:cNvSpPr>
            <a:spLocks/>
          </p:cNvSpPr>
          <p:nvPr/>
        </p:nvSpPr>
        <p:spPr bwMode="auto">
          <a:xfrm>
            <a:off x="2333625" y="4865688"/>
            <a:ext cx="50800" cy="38100"/>
          </a:xfrm>
          <a:custGeom>
            <a:avLst/>
            <a:gdLst>
              <a:gd name="T0" fmla="*/ 0 w 32"/>
              <a:gd name="T1" fmla="*/ 24 h 24"/>
              <a:gd name="T2" fmla="*/ 0 w 32"/>
              <a:gd name="T3" fmla="*/ 19 h 24"/>
              <a:gd name="T4" fmla="*/ 29 w 32"/>
              <a:gd name="T5" fmla="*/ 0 h 24"/>
              <a:gd name="T6" fmla="*/ 32 w 32"/>
              <a:gd name="T7" fmla="*/ 7 h 24"/>
              <a:gd name="T8" fmla="*/ 4 w 32"/>
              <a:gd name="T9" fmla="*/ 24 h 24"/>
              <a:gd name="T10" fmla="*/ 4 w 32"/>
              <a:gd name="T11" fmla="*/ 19 h 24"/>
              <a:gd name="T12" fmla="*/ 0 w 32"/>
              <a:gd name="T13" fmla="*/ 24 h 24"/>
            </a:gdLst>
            <a:ahLst/>
            <a:cxnLst>
              <a:cxn ang="0">
                <a:pos x="T0" y="T1"/>
              </a:cxn>
              <a:cxn ang="0">
                <a:pos x="T2" y="T3"/>
              </a:cxn>
              <a:cxn ang="0">
                <a:pos x="T4" y="T5"/>
              </a:cxn>
              <a:cxn ang="0">
                <a:pos x="T6" y="T7"/>
              </a:cxn>
              <a:cxn ang="0">
                <a:pos x="T8" y="T9"/>
              </a:cxn>
              <a:cxn ang="0">
                <a:pos x="T10" y="T11"/>
              </a:cxn>
              <a:cxn ang="0">
                <a:pos x="T12" y="T13"/>
              </a:cxn>
            </a:cxnLst>
            <a:rect l="0" t="0" r="r" b="b"/>
            <a:pathLst>
              <a:path w="32" h="24">
                <a:moveTo>
                  <a:pt x="0" y="24"/>
                </a:moveTo>
                <a:lnTo>
                  <a:pt x="0" y="19"/>
                </a:lnTo>
                <a:lnTo>
                  <a:pt x="29" y="0"/>
                </a:lnTo>
                <a:lnTo>
                  <a:pt x="32" y="7"/>
                </a:lnTo>
                <a:lnTo>
                  <a:pt x="4" y="24"/>
                </a:lnTo>
                <a:lnTo>
                  <a:pt x="4" y="19"/>
                </a:lnTo>
                <a:lnTo>
                  <a:pt x="0" y="24"/>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20" name="Freeform 2325">
            <a:extLst>
              <a:ext uri="{FF2B5EF4-FFF2-40B4-BE49-F238E27FC236}">
                <a16:creationId xmlns:a16="http://schemas.microsoft.com/office/drawing/2014/main" id="{D5C37DC3-A260-1625-6772-2619828EDC82}"/>
              </a:ext>
            </a:extLst>
          </p:cNvPr>
          <p:cNvSpPr>
            <a:spLocks/>
          </p:cNvSpPr>
          <p:nvPr/>
        </p:nvSpPr>
        <p:spPr bwMode="auto">
          <a:xfrm>
            <a:off x="2333625" y="4895850"/>
            <a:ext cx="3175" cy="7938"/>
          </a:xfrm>
          <a:custGeom>
            <a:avLst/>
            <a:gdLst>
              <a:gd name="T0" fmla="*/ 0 w 2"/>
              <a:gd name="T1" fmla="*/ 5 h 5"/>
              <a:gd name="T2" fmla="*/ 2 w 2"/>
              <a:gd name="T3" fmla="*/ 3 h 5"/>
              <a:gd name="T4" fmla="*/ 0 w 2"/>
              <a:gd name="T5" fmla="*/ 0 h 5"/>
              <a:gd name="T6" fmla="*/ 0 w 2"/>
              <a:gd name="T7" fmla="*/ 5 h 5"/>
            </a:gdLst>
            <a:ahLst/>
            <a:cxnLst>
              <a:cxn ang="0">
                <a:pos x="T0" y="T1"/>
              </a:cxn>
              <a:cxn ang="0">
                <a:pos x="T2" y="T3"/>
              </a:cxn>
              <a:cxn ang="0">
                <a:pos x="T4" y="T5"/>
              </a:cxn>
              <a:cxn ang="0">
                <a:pos x="T6" y="T7"/>
              </a:cxn>
            </a:cxnLst>
            <a:rect l="0" t="0" r="r" b="b"/>
            <a:pathLst>
              <a:path w="2" h="5">
                <a:moveTo>
                  <a:pt x="0" y="5"/>
                </a:moveTo>
                <a:lnTo>
                  <a:pt x="2" y="3"/>
                </a:lnTo>
                <a:lnTo>
                  <a:pt x="0" y="0"/>
                </a:lnTo>
                <a:lnTo>
                  <a:pt x="0"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21" name="Freeform 2326">
            <a:extLst>
              <a:ext uri="{FF2B5EF4-FFF2-40B4-BE49-F238E27FC236}">
                <a16:creationId xmlns:a16="http://schemas.microsoft.com/office/drawing/2014/main" id="{437E91D0-12E3-FEC2-8EBA-5A3BB27A9ED5}"/>
              </a:ext>
            </a:extLst>
          </p:cNvPr>
          <p:cNvSpPr>
            <a:spLocks/>
          </p:cNvSpPr>
          <p:nvPr/>
        </p:nvSpPr>
        <p:spPr bwMode="auto">
          <a:xfrm>
            <a:off x="2333625" y="4895850"/>
            <a:ext cx="50800" cy="36513"/>
          </a:xfrm>
          <a:custGeom>
            <a:avLst/>
            <a:gdLst>
              <a:gd name="T0" fmla="*/ 30 w 32"/>
              <a:gd name="T1" fmla="*/ 19 h 23"/>
              <a:gd name="T2" fmla="*/ 29 w 32"/>
              <a:gd name="T3" fmla="*/ 23 h 23"/>
              <a:gd name="T4" fmla="*/ 0 w 32"/>
              <a:gd name="T5" fmla="*/ 5 h 23"/>
              <a:gd name="T6" fmla="*/ 4 w 32"/>
              <a:gd name="T7" fmla="*/ 0 h 23"/>
              <a:gd name="T8" fmla="*/ 32 w 32"/>
              <a:gd name="T9" fmla="*/ 18 h 23"/>
              <a:gd name="T10" fmla="*/ 30 w 32"/>
              <a:gd name="T11" fmla="*/ 19 h 23"/>
            </a:gdLst>
            <a:ahLst/>
            <a:cxnLst>
              <a:cxn ang="0">
                <a:pos x="T0" y="T1"/>
              </a:cxn>
              <a:cxn ang="0">
                <a:pos x="T2" y="T3"/>
              </a:cxn>
              <a:cxn ang="0">
                <a:pos x="T4" y="T5"/>
              </a:cxn>
              <a:cxn ang="0">
                <a:pos x="T6" y="T7"/>
              </a:cxn>
              <a:cxn ang="0">
                <a:pos x="T8" y="T9"/>
              </a:cxn>
              <a:cxn ang="0">
                <a:pos x="T10" y="T11"/>
              </a:cxn>
            </a:cxnLst>
            <a:rect l="0" t="0" r="r" b="b"/>
            <a:pathLst>
              <a:path w="32" h="23">
                <a:moveTo>
                  <a:pt x="30" y="19"/>
                </a:moveTo>
                <a:lnTo>
                  <a:pt x="29" y="23"/>
                </a:lnTo>
                <a:lnTo>
                  <a:pt x="0" y="5"/>
                </a:lnTo>
                <a:lnTo>
                  <a:pt x="4" y="0"/>
                </a:lnTo>
                <a:lnTo>
                  <a:pt x="32" y="18"/>
                </a:lnTo>
                <a:lnTo>
                  <a:pt x="30" y="19"/>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22" name="Freeform 2327">
            <a:extLst>
              <a:ext uri="{FF2B5EF4-FFF2-40B4-BE49-F238E27FC236}">
                <a16:creationId xmlns:a16="http://schemas.microsoft.com/office/drawing/2014/main" id="{CA006D2E-ED81-4980-5D4A-D36D7602D147}"/>
              </a:ext>
            </a:extLst>
          </p:cNvPr>
          <p:cNvSpPr>
            <a:spLocks/>
          </p:cNvSpPr>
          <p:nvPr/>
        </p:nvSpPr>
        <p:spPr bwMode="auto">
          <a:xfrm>
            <a:off x="2347913" y="4895850"/>
            <a:ext cx="249238" cy="7938"/>
          </a:xfrm>
          <a:custGeom>
            <a:avLst/>
            <a:gdLst>
              <a:gd name="T0" fmla="*/ 157 w 157"/>
              <a:gd name="T1" fmla="*/ 3 h 5"/>
              <a:gd name="T2" fmla="*/ 157 w 157"/>
              <a:gd name="T3" fmla="*/ 0 h 5"/>
              <a:gd name="T4" fmla="*/ 0 w 157"/>
              <a:gd name="T5" fmla="*/ 0 h 5"/>
              <a:gd name="T6" fmla="*/ 0 w 157"/>
              <a:gd name="T7" fmla="*/ 5 h 5"/>
              <a:gd name="T8" fmla="*/ 157 w 157"/>
              <a:gd name="T9" fmla="*/ 5 h 5"/>
              <a:gd name="T10" fmla="*/ 157 w 157"/>
              <a:gd name="T11" fmla="*/ 3 h 5"/>
            </a:gdLst>
            <a:ahLst/>
            <a:cxnLst>
              <a:cxn ang="0">
                <a:pos x="T0" y="T1"/>
              </a:cxn>
              <a:cxn ang="0">
                <a:pos x="T2" y="T3"/>
              </a:cxn>
              <a:cxn ang="0">
                <a:pos x="T4" y="T5"/>
              </a:cxn>
              <a:cxn ang="0">
                <a:pos x="T6" y="T7"/>
              </a:cxn>
              <a:cxn ang="0">
                <a:pos x="T8" y="T9"/>
              </a:cxn>
              <a:cxn ang="0">
                <a:pos x="T10" y="T11"/>
              </a:cxn>
            </a:cxnLst>
            <a:rect l="0" t="0" r="r" b="b"/>
            <a:pathLst>
              <a:path w="157" h="5">
                <a:moveTo>
                  <a:pt x="157" y="3"/>
                </a:moveTo>
                <a:lnTo>
                  <a:pt x="157" y="0"/>
                </a:lnTo>
                <a:lnTo>
                  <a:pt x="0" y="0"/>
                </a:lnTo>
                <a:lnTo>
                  <a:pt x="0" y="5"/>
                </a:lnTo>
                <a:lnTo>
                  <a:pt x="157" y="5"/>
                </a:lnTo>
                <a:lnTo>
                  <a:pt x="157" y="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23" name="Freeform 2328">
            <a:extLst>
              <a:ext uri="{FF2B5EF4-FFF2-40B4-BE49-F238E27FC236}">
                <a16:creationId xmlns:a16="http://schemas.microsoft.com/office/drawing/2014/main" id="{DA4D96FB-C6AE-5E4C-4D68-35958AACCFE0}"/>
              </a:ext>
            </a:extLst>
          </p:cNvPr>
          <p:cNvSpPr>
            <a:spLocks/>
          </p:cNvSpPr>
          <p:nvPr/>
        </p:nvSpPr>
        <p:spPr bwMode="auto">
          <a:xfrm>
            <a:off x="2560638" y="4865688"/>
            <a:ext cx="49213" cy="38100"/>
          </a:xfrm>
          <a:custGeom>
            <a:avLst/>
            <a:gdLst>
              <a:gd name="T0" fmla="*/ 31 w 31"/>
              <a:gd name="T1" fmla="*/ 24 h 24"/>
              <a:gd name="T2" fmla="*/ 31 w 31"/>
              <a:gd name="T3" fmla="*/ 19 h 24"/>
              <a:gd name="T4" fmla="*/ 3 w 31"/>
              <a:gd name="T5" fmla="*/ 0 h 24"/>
              <a:gd name="T6" fmla="*/ 0 w 31"/>
              <a:gd name="T7" fmla="*/ 7 h 24"/>
              <a:gd name="T8" fmla="*/ 26 w 31"/>
              <a:gd name="T9" fmla="*/ 24 h 24"/>
              <a:gd name="T10" fmla="*/ 26 w 31"/>
              <a:gd name="T11" fmla="*/ 19 h 24"/>
              <a:gd name="T12" fmla="*/ 31 w 31"/>
              <a:gd name="T13" fmla="*/ 24 h 24"/>
            </a:gdLst>
            <a:ahLst/>
            <a:cxnLst>
              <a:cxn ang="0">
                <a:pos x="T0" y="T1"/>
              </a:cxn>
              <a:cxn ang="0">
                <a:pos x="T2" y="T3"/>
              </a:cxn>
              <a:cxn ang="0">
                <a:pos x="T4" y="T5"/>
              </a:cxn>
              <a:cxn ang="0">
                <a:pos x="T6" y="T7"/>
              </a:cxn>
              <a:cxn ang="0">
                <a:pos x="T8" y="T9"/>
              </a:cxn>
              <a:cxn ang="0">
                <a:pos x="T10" y="T11"/>
              </a:cxn>
              <a:cxn ang="0">
                <a:pos x="T12" y="T13"/>
              </a:cxn>
            </a:cxnLst>
            <a:rect l="0" t="0" r="r" b="b"/>
            <a:pathLst>
              <a:path w="31" h="24">
                <a:moveTo>
                  <a:pt x="31" y="24"/>
                </a:moveTo>
                <a:lnTo>
                  <a:pt x="31" y="19"/>
                </a:lnTo>
                <a:lnTo>
                  <a:pt x="3" y="0"/>
                </a:lnTo>
                <a:lnTo>
                  <a:pt x="0" y="7"/>
                </a:lnTo>
                <a:lnTo>
                  <a:pt x="26" y="24"/>
                </a:lnTo>
                <a:lnTo>
                  <a:pt x="26" y="19"/>
                </a:lnTo>
                <a:lnTo>
                  <a:pt x="31" y="24"/>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24" name="Freeform 2329">
            <a:extLst>
              <a:ext uri="{FF2B5EF4-FFF2-40B4-BE49-F238E27FC236}">
                <a16:creationId xmlns:a16="http://schemas.microsoft.com/office/drawing/2014/main" id="{671D81B1-A396-B54C-F5A6-914BEC357E78}"/>
              </a:ext>
            </a:extLst>
          </p:cNvPr>
          <p:cNvSpPr>
            <a:spLocks/>
          </p:cNvSpPr>
          <p:nvPr/>
        </p:nvSpPr>
        <p:spPr bwMode="auto">
          <a:xfrm>
            <a:off x="2605088" y="4895850"/>
            <a:ext cx="4763" cy="7938"/>
          </a:xfrm>
          <a:custGeom>
            <a:avLst/>
            <a:gdLst>
              <a:gd name="T0" fmla="*/ 3 w 3"/>
              <a:gd name="T1" fmla="*/ 5 h 5"/>
              <a:gd name="T2" fmla="*/ 0 w 3"/>
              <a:gd name="T3" fmla="*/ 3 h 5"/>
              <a:gd name="T4" fmla="*/ 3 w 3"/>
              <a:gd name="T5" fmla="*/ 0 h 5"/>
              <a:gd name="T6" fmla="*/ 3 w 3"/>
              <a:gd name="T7" fmla="*/ 5 h 5"/>
            </a:gdLst>
            <a:ahLst/>
            <a:cxnLst>
              <a:cxn ang="0">
                <a:pos x="T0" y="T1"/>
              </a:cxn>
              <a:cxn ang="0">
                <a:pos x="T2" y="T3"/>
              </a:cxn>
              <a:cxn ang="0">
                <a:pos x="T4" y="T5"/>
              </a:cxn>
              <a:cxn ang="0">
                <a:pos x="T6" y="T7"/>
              </a:cxn>
            </a:cxnLst>
            <a:rect l="0" t="0" r="r" b="b"/>
            <a:pathLst>
              <a:path w="3" h="5">
                <a:moveTo>
                  <a:pt x="3" y="5"/>
                </a:moveTo>
                <a:lnTo>
                  <a:pt x="0" y="3"/>
                </a:lnTo>
                <a:lnTo>
                  <a:pt x="3" y="0"/>
                </a:lnTo>
                <a:lnTo>
                  <a:pt x="3"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25" name="Freeform 2330">
            <a:extLst>
              <a:ext uri="{FF2B5EF4-FFF2-40B4-BE49-F238E27FC236}">
                <a16:creationId xmlns:a16="http://schemas.microsoft.com/office/drawing/2014/main" id="{1AEC083B-85B3-D428-B3DC-51F9A5A058D9}"/>
              </a:ext>
            </a:extLst>
          </p:cNvPr>
          <p:cNvSpPr>
            <a:spLocks/>
          </p:cNvSpPr>
          <p:nvPr/>
        </p:nvSpPr>
        <p:spPr bwMode="auto">
          <a:xfrm>
            <a:off x="2560638" y="4895850"/>
            <a:ext cx="49213" cy="36513"/>
          </a:xfrm>
          <a:custGeom>
            <a:avLst/>
            <a:gdLst>
              <a:gd name="T0" fmla="*/ 1 w 31"/>
              <a:gd name="T1" fmla="*/ 19 h 23"/>
              <a:gd name="T2" fmla="*/ 3 w 31"/>
              <a:gd name="T3" fmla="*/ 23 h 23"/>
              <a:gd name="T4" fmla="*/ 31 w 31"/>
              <a:gd name="T5" fmla="*/ 5 h 23"/>
              <a:gd name="T6" fmla="*/ 26 w 31"/>
              <a:gd name="T7" fmla="*/ 0 h 23"/>
              <a:gd name="T8" fmla="*/ 0 w 31"/>
              <a:gd name="T9" fmla="*/ 18 h 23"/>
              <a:gd name="T10" fmla="*/ 1 w 31"/>
              <a:gd name="T11" fmla="*/ 19 h 23"/>
            </a:gdLst>
            <a:ahLst/>
            <a:cxnLst>
              <a:cxn ang="0">
                <a:pos x="T0" y="T1"/>
              </a:cxn>
              <a:cxn ang="0">
                <a:pos x="T2" y="T3"/>
              </a:cxn>
              <a:cxn ang="0">
                <a:pos x="T4" y="T5"/>
              </a:cxn>
              <a:cxn ang="0">
                <a:pos x="T6" y="T7"/>
              </a:cxn>
              <a:cxn ang="0">
                <a:pos x="T8" y="T9"/>
              </a:cxn>
              <a:cxn ang="0">
                <a:pos x="T10" y="T11"/>
              </a:cxn>
            </a:cxnLst>
            <a:rect l="0" t="0" r="r" b="b"/>
            <a:pathLst>
              <a:path w="31" h="23">
                <a:moveTo>
                  <a:pt x="1" y="19"/>
                </a:moveTo>
                <a:lnTo>
                  <a:pt x="3" y="23"/>
                </a:lnTo>
                <a:lnTo>
                  <a:pt x="31" y="5"/>
                </a:lnTo>
                <a:lnTo>
                  <a:pt x="26" y="0"/>
                </a:lnTo>
                <a:lnTo>
                  <a:pt x="0" y="18"/>
                </a:lnTo>
                <a:lnTo>
                  <a:pt x="1" y="19"/>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26" name="Freeform 2331">
            <a:extLst>
              <a:ext uri="{FF2B5EF4-FFF2-40B4-BE49-F238E27FC236}">
                <a16:creationId xmlns:a16="http://schemas.microsoft.com/office/drawing/2014/main" id="{76FB4A4A-0FB6-AB89-948F-1C549CACE9BE}"/>
              </a:ext>
            </a:extLst>
          </p:cNvPr>
          <p:cNvSpPr>
            <a:spLocks/>
          </p:cNvSpPr>
          <p:nvPr/>
        </p:nvSpPr>
        <p:spPr bwMode="auto">
          <a:xfrm>
            <a:off x="2312988" y="5934075"/>
            <a:ext cx="50800" cy="36513"/>
          </a:xfrm>
          <a:custGeom>
            <a:avLst/>
            <a:gdLst>
              <a:gd name="T0" fmla="*/ 0 w 32"/>
              <a:gd name="T1" fmla="*/ 23 h 23"/>
              <a:gd name="T2" fmla="*/ 0 w 32"/>
              <a:gd name="T3" fmla="*/ 16 h 23"/>
              <a:gd name="T4" fmla="*/ 29 w 32"/>
              <a:gd name="T5" fmla="*/ 0 h 23"/>
              <a:gd name="T6" fmla="*/ 32 w 32"/>
              <a:gd name="T7" fmla="*/ 5 h 23"/>
              <a:gd name="T8" fmla="*/ 3 w 32"/>
              <a:gd name="T9" fmla="*/ 23 h 23"/>
              <a:gd name="T10" fmla="*/ 3 w 32"/>
              <a:gd name="T11" fmla="*/ 16 h 23"/>
              <a:gd name="T12" fmla="*/ 0 w 32"/>
              <a:gd name="T13" fmla="*/ 23 h 23"/>
            </a:gdLst>
            <a:ahLst/>
            <a:cxnLst>
              <a:cxn ang="0">
                <a:pos x="T0" y="T1"/>
              </a:cxn>
              <a:cxn ang="0">
                <a:pos x="T2" y="T3"/>
              </a:cxn>
              <a:cxn ang="0">
                <a:pos x="T4" y="T5"/>
              </a:cxn>
              <a:cxn ang="0">
                <a:pos x="T6" y="T7"/>
              </a:cxn>
              <a:cxn ang="0">
                <a:pos x="T8" y="T9"/>
              </a:cxn>
              <a:cxn ang="0">
                <a:pos x="T10" y="T11"/>
              </a:cxn>
              <a:cxn ang="0">
                <a:pos x="T12" y="T13"/>
              </a:cxn>
            </a:cxnLst>
            <a:rect l="0" t="0" r="r" b="b"/>
            <a:pathLst>
              <a:path w="32" h="23">
                <a:moveTo>
                  <a:pt x="0" y="23"/>
                </a:moveTo>
                <a:lnTo>
                  <a:pt x="0" y="16"/>
                </a:lnTo>
                <a:lnTo>
                  <a:pt x="29" y="0"/>
                </a:lnTo>
                <a:lnTo>
                  <a:pt x="32" y="5"/>
                </a:lnTo>
                <a:lnTo>
                  <a:pt x="3" y="23"/>
                </a:lnTo>
                <a:lnTo>
                  <a:pt x="3" y="16"/>
                </a:lnTo>
                <a:lnTo>
                  <a:pt x="0" y="2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27" name="Freeform 2332">
            <a:extLst>
              <a:ext uri="{FF2B5EF4-FFF2-40B4-BE49-F238E27FC236}">
                <a16:creationId xmlns:a16="http://schemas.microsoft.com/office/drawing/2014/main" id="{7D6FE079-96F8-367E-4CAD-4ABF412AEB5F}"/>
              </a:ext>
            </a:extLst>
          </p:cNvPr>
          <p:cNvSpPr>
            <a:spLocks/>
          </p:cNvSpPr>
          <p:nvPr/>
        </p:nvSpPr>
        <p:spPr bwMode="auto">
          <a:xfrm>
            <a:off x="2312988" y="5959475"/>
            <a:ext cx="3175" cy="11113"/>
          </a:xfrm>
          <a:custGeom>
            <a:avLst/>
            <a:gdLst>
              <a:gd name="T0" fmla="*/ 0 w 2"/>
              <a:gd name="T1" fmla="*/ 7 h 7"/>
              <a:gd name="T2" fmla="*/ 2 w 2"/>
              <a:gd name="T3" fmla="*/ 3 h 7"/>
              <a:gd name="T4" fmla="*/ 0 w 2"/>
              <a:gd name="T5" fmla="*/ 0 h 7"/>
              <a:gd name="T6" fmla="*/ 0 w 2"/>
              <a:gd name="T7" fmla="*/ 7 h 7"/>
            </a:gdLst>
            <a:ahLst/>
            <a:cxnLst>
              <a:cxn ang="0">
                <a:pos x="T0" y="T1"/>
              </a:cxn>
              <a:cxn ang="0">
                <a:pos x="T2" y="T3"/>
              </a:cxn>
              <a:cxn ang="0">
                <a:pos x="T4" y="T5"/>
              </a:cxn>
              <a:cxn ang="0">
                <a:pos x="T6" y="T7"/>
              </a:cxn>
            </a:cxnLst>
            <a:rect l="0" t="0" r="r" b="b"/>
            <a:pathLst>
              <a:path w="2" h="7">
                <a:moveTo>
                  <a:pt x="0" y="7"/>
                </a:moveTo>
                <a:lnTo>
                  <a:pt x="2" y="3"/>
                </a:lnTo>
                <a:lnTo>
                  <a:pt x="0" y="0"/>
                </a:lnTo>
                <a:lnTo>
                  <a:pt x="0" y="7"/>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28" name="Freeform 2333">
            <a:extLst>
              <a:ext uri="{FF2B5EF4-FFF2-40B4-BE49-F238E27FC236}">
                <a16:creationId xmlns:a16="http://schemas.microsoft.com/office/drawing/2014/main" id="{01180CB5-5974-866A-EFAB-01D3374DCA75}"/>
              </a:ext>
            </a:extLst>
          </p:cNvPr>
          <p:cNvSpPr>
            <a:spLocks/>
          </p:cNvSpPr>
          <p:nvPr/>
        </p:nvSpPr>
        <p:spPr bwMode="auto">
          <a:xfrm>
            <a:off x="2312988" y="5959475"/>
            <a:ext cx="50800" cy="39688"/>
          </a:xfrm>
          <a:custGeom>
            <a:avLst/>
            <a:gdLst>
              <a:gd name="T0" fmla="*/ 30 w 32"/>
              <a:gd name="T1" fmla="*/ 22 h 25"/>
              <a:gd name="T2" fmla="*/ 29 w 32"/>
              <a:gd name="T3" fmla="*/ 25 h 25"/>
              <a:gd name="T4" fmla="*/ 0 w 32"/>
              <a:gd name="T5" fmla="*/ 7 h 25"/>
              <a:gd name="T6" fmla="*/ 3 w 32"/>
              <a:gd name="T7" fmla="*/ 0 h 25"/>
              <a:gd name="T8" fmla="*/ 32 w 32"/>
              <a:gd name="T9" fmla="*/ 18 h 25"/>
              <a:gd name="T10" fmla="*/ 30 w 32"/>
              <a:gd name="T11" fmla="*/ 22 h 25"/>
            </a:gdLst>
            <a:ahLst/>
            <a:cxnLst>
              <a:cxn ang="0">
                <a:pos x="T0" y="T1"/>
              </a:cxn>
              <a:cxn ang="0">
                <a:pos x="T2" y="T3"/>
              </a:cxn>
              <a:cxn ang="0">
                <a:pos x="T4" y="T5"/>
              </a:cxn>
              <a:cxn ang="0">
                <a:pos x="T6" y="T7"/>
              </a:cxn>
              <a:cxn ang="0">
                <a:pos x="T8" y="T9"/>
              </a:cxn>
              <a:cxn ang="0">
                <a:pos x="T10" y="T11"/>
              </a:cxn>
            </a:cxnLst>
            <a:rect l="0" t="0" r="r" b="b"/>
            <a:pathLst>
              <a:path w="32" h="25">
                <a:moveTo>
                  <a:pt x="30" y="22"/>
                </a:moveTo>
                <a:lnTo>
                  <a:pt x="29" y="25"/>
                </a:lnTo>
                <a:lnTo>
                  <a:pt x="0" y="7"/>
                </a:lnTo>
                <a:lnTo>
                  <a:pt x="3" y="0"/>
                </a:lnTo>
                <a:lnTo>
                  <a:pt x="32" y="18"/>
                </a:lnTo>
                <a:lnTo>
                  <a:pt x="30" y="2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29" name="Freeform 2334">
            <a:extLst>
              <a:ext uri="{FF2B5EF4-FFF2-40B4-BE49-F238E27FC236}">
                <a16:creationId xmlns:a16="http://schemas.microsoft.com/office/drawing/2014/main" id="{26534DF6-43D9-03AE-9820-6B7044892992}"/>
              </a:ext>
            </a:extLst>
          </p:cNvPr>
          <p:cNvSpPr>
            <a:spLocks/>
          </p:cNvSpPr>
          <p:nvPr/>
        </p:nvSpPr>
        <p:spPr bwMode="auto">
          <a:xfrm>
            <a:off x="2324100" y="5962650"/>
            <a:ext cx="288925" cy="7938"/>
          </a:xfrm>
          <a:custGeom>
            <a:avLst/>
            <a:gdLst>
              <a:gd name="T0" fmla="*/ 182 w 182"/>
              <a:gd name="T1" fmla="*/ 1 h 5"/>
              <a:gd name="T2" fmla="*/ 182 w 182"/>
              <a:gd name="T3" fmla="*/ 0 h 5"/>
              <a:gd name="T4" fmla="*/ 0 w 182"/>
              <a:gd name="T5" fmla="*/ 0 h 5"/>
              <a:gd name="T6" fmla="*/ 0 w 182"/>
              <a:gd name="T7" fmla="*/ 5 h 5"/>
              <a:gd name="T8" fmla="*/ 182 w 182"/>
              <a:gd name="T9" fmla="*/ 5 h 5"/>
              <a:gd name="T10" fmla="*/ 182 w 182"/>
              <a:gd name="T11" fmla="*/ 1 h 5"/>
            </a:gdLst>
            <a:ahLst/>
            <a:cxnLst>
              <a:cxn ang="0">
                <a:pos x="T0" y="T1"/>
              </a:cxn>
              <a:cxn ang="0">
                <a:pos x="T2" y="T3"/>
              </a:cxn>
              <a:cxn ang="0">
                <a:pos x="T4" y="T5"/>
              </a:cxn>
              <a:cxn ang="0">
                <a:pos x="T6" y="T7"/>
              </a:cxn>
              <a:cxn ang="0">
                <a:pos x="T8" y="T9"/>
              </a:cxn>
              <a:cxn ang="0">
                <a:pos x="T10" y="T11"/>
              </a:cxn>
            </a:cxnLst>
            <a:rect l="0" t="0" r="r" b="b"/>
            <a:pathLst>
              <a:path w="182" h="5">
                <a:moveTo>
                  <a:pt x="182" y="1"/>
                </a:moveTo>
                <a:lnTo>
                  <a:pt x="182" y="0"/>
                </a:lnTo>
                <a:lnTo>
                  <a:pt x="0" y="0"/>
                </a:lnTo>
                <a:lnTo>
                  <a:pt x="0" y="5"/>
                </a:lnTo>
                <a:lnTo>
                  <a:pt x="182" y="5"/>
                </a:lnTo>
                <a:lnTo>
                  <a:pt x="182" y="1"/>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30" name="Freeform 2335">
            <a:extLst>
              <a:ext uri="{FF2B5EF4-FFF2-40B4-BE49-F238E27FC236}">
                <a16:creationId xmlns:a16="http://schemas.microsoft.com/office/drawing/2014/main" id="{A73739D1-D3F4-CB21-E23D-3170D17E740E}"/>
              </a:ext>
            </a:extLst>
          </p:cNvPr>
          <p:cNvSpPr>
            <a:spLocks/>
          </p:cNvSpPr>
          <p:nvPr/>
        </p:nvSpPr>
        <p:spPr bwMode="auto">
          <a:xfrm>
            <a:off x="2573338" y="5934075"/>
            <a:ext cx="50800" cy="36513"/>
          </a:xfrm>
          <a:custGeom>
            <a:avLst/>
            <a:gdLst>
              <a:gd name="T0" fmla="*/ 32 w 32"/>
              <a:gd name="T1" fmla="*/ 23 h 23"/>
              <a:gd name="T2" fmla="*/ 32 w 32"/>
              <a:gd name="T3" fmla="*/ 16 h 23"/>
              <a:gd name="T4" fmla="*/ 3 w 32"/>
              <a:gd name="T5" fmla="*/ 0 h 23"/>
              <a:gd name="T6" fmla="*/ 0 w 32"/>
              <a:gd name="T7" fmla="*/ 5 h 23"/>
              <a:gd name="T8" fmla="*/ 28 w 32"/>
              <a:gd name="T9" fmla="*/ 23 h 23"/>
              <a:gd name="T10" fmla="*/ 28 w 32"/>
              <a:gd name="T11" fmla="*/ 16 h 23"/>
              <a:gd name="T12" fmla="*/ 32 w 32"/>
              <a:gd name="T13" fmla="*/ 23 h 23"/>
            </a:gdLst>
            <a:ahLst/>
            <a:cxnLst>
              <a:cxn ang="0">
                <a:pos x="T0" y="T1"/>
              </a:cxn>
              <a:cxn ang="0">
                <a:pos x="T2" y="T3"/>
              </a:cxn>
              <a:cxn ang="0">
                <a:pos x="T4" y="T5"/>
              </a:cxn>
              <a:cxn ang="0">
                <a:pos x="T6" y="T7"/>
              </a:cxn>
              <a:cxn ang="0">
                <a:pos x="T8" y="T9"/>
              </a:cxn>
              <a:cxn ang="0">
                <a:pos x="T10" y="T11"/>
              </a:cxn>
              <a:cxn ang="0">
                <a:pos x="T12" y="T13"/>
              </a:cxn>
            </a:cxnLst>
            <a:rect l="0" t="0" r="r" b="b"/>
            <a:pathLst>
              <a:path w="32" h="23">
                <a:moveTo>
                  <a:pt x="32" y="23"/>
                </a:moveTo>
                <a:lnTo>
                  <a:pt x="32" y="16"/>
                </a:lnTo>
                <a:lnTo>
                  <a:pt x="3" y="0"/>
                </a:lnTo>
                <a:lnTo>
                  <a:pt x="0" y="5"/>
                </a:lnTo>
                <a:lnTo>
                  <a:pt x="28" y="23"/>
                </a:lnTo>
                <a:lnTo>
                  <a:pt x="28" y="16"/>
                </a:lnTo>
                <a:lnTo>
                  <a:pt x="32" y="2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31" name="Freeform 2336">
            <a:extLst>
              <a:ext uri="{FF2B5EF4-FFF2-40B4-BE49-F238E27FC236}">
                <a16:creationId xmlns:a16="http://schemas.microsoft.com/office/drawing/2014/main" id="{5E6F1B48-EDA7-D6BE-C4A0-1A52D79EC869}"/>
              </a:ext>
            </a:extLst>
          </p:cNvPr>
          <p:cNvSpPr>
            <a:spLocks/>
          </p:cNvSpPr>
          <p:nvPr/>
        </p:nvSpPr>
        <p:spPr bwMode="auto">
          <a:xfrm>
            <a:off x="2620963" y="5959475"/>
            <a:ext cx="3175" cy="11113"/>
          </a:xfrm>
          <a:custGeom>
            <a:avLst/>
            <a:gdLst>
              <a:gd name="T0" fmla="*/ 2 w 2"/>
              <a:gd name="T1" fmla="*/ 7 h 7"/>
              <a:gd name="T2" fmla="*/ 0 w 2"/>
              <a:gd name="T3" fmla="*/ 3 h 7"/>
              <a:gd name="T4" fmla="*/ 2 w 2"/>
              <a:gd name="T5" fmla="*/ 0 h 7"/>
              <a:gd name="T6" fmla="*/ 2 w 2"/>
              <a:gd name="T7" fmla="*/ 7 h 7"/>
            </a:gdLst>
            <a:ahLst/>
            <a:cxnLst>
              <a:cxn ang="0">
                <a:pos x="T0" y="T1"/>
              </a:cxn>
              <a:cxn ang="0">
                <a:pos x="T2" y="T3"/>
              </a:cxn>
              <a:cxn ang="0">
                <a:pos x="T4" y="T5"/>
              </a:cxn>
              <a:cxn ang="0">
                <a:pos x="T6" y="T7"/>
              </a:cxn>
            </a:cxnLst>
            <a:rect l="0" t="0" r="r" b="b"/>
            <a:pathLst>
              <a:path w="2" h="7">
                <a:moveTo>
                  <a:pt x="2" y="7"/>
                </a:moveTo>
                <a:lnTo>
                  <a:pt x="0" y="3"/>
                </a:lnTo>
                <a:lnTo>
                  <a:pt x="2" y="0"/>
                </a:lnTo>
                <a:lnTo>
                  <a:pt x="2" y="7"/>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32" name="Freeform 2337">
            <a:extLst>
              <a:ext uri="{FF2B5EF4-FFF2-40B4-BE49-F238E27FC236}">
                <a16:creationId xmlns:a16="http://schemas.microsoft.com/office/drawing/2014/main" id="{7A5D4437-9C2C-6FB4-4C90-8358C187304D}"/>
              </a:ext>
            </a:extLst>
          </p:cNvPr>
          <p:cNvSpPr>
            <a:spLocks/>
          </p:cNvSpPr>
          <p:nvPr/>
        </p:nvSpPr>
        <p:spPr bwMode="auto">
          <a:xfrm>
            <a:off x="2573338" y="5959475"/>
            <a:ext cx="50800" cy="39688"/>
          </a:xfrm>
          <a:custGeom>
            <a:avLst/>
            <a:gdLst>
              <a:gd name="T0" fmla="*/ 2 w 32"/>
              <a:gd name="T1" fmla="*/ 22 h 25"/>
              <a:gd name="T2" fmla="*/ 3 w 32"/>
              <a:gd name="T3" fmla="*/ 25 h 25"/>
              <a:gd name="T4" fmla="*/ 32 w 32"/>
              <a:gd name="T5" fmla="*/ 7 h 25"/>
              <a:gd name="T6" fmla="*/ 28 w 32"/>
              <a:gd name="T7" fmla="*/ 0 h 25"/>
              <a:gd name="T8" fmla="*/ 0 w 32"/>
              <a:gd name="T9" fmla="*/ 18 h 25"/>
              <a:gd name="T10" fmla="*/ 2 w 32"/>
              <a:gd name="T11" fmla="*/ 22 h 25"/>
            </a:gdLst>
            <a:ahLst/>
            <a:cxnLst>
              <a:cxn ang="0">
                <a:pos x="T0" y="T1"/>
              </a:cxn>
              <a:cxn ang="0">
                <a:pos x="T2" y="T3"/>
              </a:cxn>
              <a:cxn ang="0">
                <a:pos x="T4" y="T5"/>
              </a:cxn>
              <a:cxn ang="0">
                <a:pos x="T6" y="T7"/>
              </a:cxn>
              <a:cxn ang="0">
                <a:pos x="T8" y="T9"/>
              </a:cxn>
              <a:cxn ang="0">
                <a:pos x="T10" y="T11"/>
              </a:cxn>
            </a:cxnLst>
            <a:rect l="0" t="0" r="r" b="b"/>
            <a:pathLst>
              <a:path w="32" h="25">
                <a:moveTo>
                  <a:pt x="2" y="22"/>
                </a:moveTo>
                <a:lnTo>
                  <a:pt x="3" y="25"/>
                </a:lnTo>
                <a:lnTo>
                  <a:pt x="32" y="7"/>
                </a:lnTo>
                <a:lnTo>
                  <a:pt x="28" y="0"/>
                </a:lnTo>
                <a:lnTo>
                  <a:pt x="0" y="18"/>
                </a:lnTo>
                <a:lnTo>
                  <a:pt x="2" y="2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33" name="Rectangle 2338">
            <a:extLst>
              <a:ext uri="{FF2B5EF4-FFF2-40B4-BE49-F238E27FC236}">
                <a16:creationId xmlns:a16="http://schemas.microsoft.com/office/drawing/2014/main" id="{AE31E233-9771-59D0-CF9A-2C8E6BCDC983}"/>
              </a:ext>
            </a:extLst>
          </p:cNvPr>
          <p:cNvSpPr>
            <a:spLocks noChangeArrowheads="1"/>
          </p:cNvSpPr>
          <p:nvPr/>
        </p:nvSpPr>
        <p:spPr bwMode="auto">
          <a:xfrm>
            <a:off x="2359025" y="6051550"/>
            <a:ext cx="219075" cy="3175"/>
          </a:xfrm>
          <a:prstGeom prst="rect">
            <a:avLst/>
          </a:prstGeom>
          <a:solidFill>
            <a:srgbClr val="96AEB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34" name="Rectangle 2339">
            <a:extLst>
              <a:ext uri="{FF2B5EF4-FFF2-40B4-BE49-F238E27FC236}">
                <a16:creationId xmlns:a16="http://schemas.microsoft.com/office/drawing/2014/main" id="{9F2895D9-1A13-80A7-DFF0-9754355E9F01}"/>
              </a:ext>
            </a:extLst>
          </p:cNvPr>
          <p:cNvSpPr>
            <a:spLocks noChangeArrowheads="1"/>
          </p:cNvSpPr>
          <p:nvPr/>
        </p:nvSpPr>
        <p:spPr bwMode="auto">
          <a:xfrm>
            <a:off x="2359025" y="6051550"/>
            <a:ext cx="219075" cy="4763"/>
          </a:xfrm>
          <a:prstGeom prst="rect">
            <a:avLst/>
          </a:prstGeom>
          <a:solidFill>
            <a:srgbClr val="96AEB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35" name="Rectangle 2340">
            <a:extLst>
              <a:ext uri="{FF2B5EF4-FFF2-40B4-BE49-F238E27FC236}">
                <a16:creationId xmlns:a16="http://schemas.microsoft.com/office/drawing/2014/main" id="{D42CB853-95E6-F6EB-1716-D66E17BD496F}"/>
              </a:ext>
            </a:extLst>
          </p:cNvPr>
          <p:cNvSpPr>
            <a:spLocks noChangeArrowheads="1"/>
          </p:cNvSpPr>
          <p:nvPr/>
        </p:nvSpPr>
        <p:spPr bwMode="auto">
          <a:xfrm>
            <a:off x="2359025" y="6054725"/>
            <a:ext cx="219075" cy="4763"/>
          </a:xfrm>
          <a:prstGeom prst="rect">
            <a:avLst/>
          </a:prstGeom>
          <a:solidFill>
            <a:srgbClr val="9AB1C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36" name="Rectangle 2341">
            <a:extLst>
              <a:ext uri="{FF2B5EF4-FFF2-40B4-BE49-F238E27FC236}">
                <a16:creationId xmlns:a16="http://schemas.microsoft.com/office/drawing/2014/main" id="{FDB9BE33-8868-4994-4B1E-8BD3D84ECE36}"/>
              </a:ext>
            </a:extLst>
          </p:cNvPr>
          <p:cNvSpPr>
            <a:spLocks noChangeArrowheads="1"/>
          </p:cNvSpPr>
          <p:nvPr/>
        </p:nvSpPr>
        <p:spPr bwMode="auto">
          <a:xfrm>
            <a:off x="2359025" y="6056313"/>
            <a:ext cx="219075" cy="6350"/>
          </a:xfrm>
          <a:prstGeom prst="rect">
            <a:avLst/>
          </a:prstGeom>
          <a:solidFill>
            <a:srgbClr val="A1B7C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37" name="Rectangle 2342">
            <a:extLst>
              <a:ext uri="{FF2B5EF4-FFF2-40B4-BE49-F238E27FC236}">
                <a16:creationId xmlns:a16="http://schemas.microsoft.com/office/drawing/2014/main" id="{C596CF59-C32D-3233-0566-D10781B6D881}"/>
              </a:ext>
            </a:extLst>
          </p:cNvPr>
          <p:cNvSpPr>
            <a:spLocks noChangeArrowheads="1"/>
          </p:cNvSpPr>
          <p:nvPr/>
        </p:nvSpPr>
        <p:spPr bwMode="auto">
          <a:xfrm>
            <a:off x="2359025" y="6059488"/>
            <a:ext cx="219075" cy="4763"/>
          </a:xfrm>
          <a:prstGeom prst="rect">
            <a:avLst/>
          </a:prstGeom>
          <a:solidFill>
            <a:srgbClr val="A8BDCB"/>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38" name="Rectangle 2343">
            <a:extLst>
              <a:ext uri="{FF2B5EF4-FFF2-40B4-BE49-F238E27FC236}">
                <a16:creationId xmlns:a16="http://schemas.microsoft.com/office/drawing/2014/main" id="{C1DD4764-C9BE-E05A-A62E-6CB36D098400}"/>
              </a:ext>
            </a:extLst>
          </p:cNvPr>
          <p:cNvSpPr>
            <a:spLocks noChangeArrowheads="1"/>
          </p:cNvSpPr>
          <p:nvPr/>
        </p:nvSpPr>
        <p:spPr bwMode="auto">
          <a:xfrm>
            <a:off x="2359025" y="6062663"/>
            <a:ext cx="219075" cy="4763"/>
          </a:xfrm>
          <a:prstGeom prst="rect">
            <a:avLst/>
          </a:prstGeom>
          <a:solidFill>
            <a:srgbClr val="B2C4D2"/>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39" name="Rectangle 2344">
            <a:extLst>
              <a:ext uri="{FF2B5EF4-FFF2-40B4-BE49-F238E27FC236}">
                <a16:creationId xmlns:a16="http://schemas.microsoft.com/office/drawing/2014/main" id="{4A2759AC-77BD-F972-B57B-6ACDA05BA1B3}"/>
              </a:ext>
            </a:extLst>
          </p:cNvPr>
          <p:cNvSpPr>
            <a:spLocks noChangeArrowheads="1"/>
          </p:cNvSpPr>
          <p:nvPr/>
        </p:nvSpPr>
        <p:spPr bwMode="auto">
          <a:xfrm>
            <a:off x="2359025" y="6064250"/>
            <a:ext cx="219075" cy="6350"/>
          </a:xfrm>
          <a:prstGeom prst="rect">
            <a:avLst/>
          </a:prstGeom>
          <a:solidFill>
            <a:srgbClr val="BECDD8"/>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40" name="Rectangle 2345">
            <a:extLst>
              <a:ext uri="{FF2B5EF4-FFF2-40B4-BE49-F238E27FC236}">
                <a16:creationId xmlns:a16="http://schemas.microsoft.com/office/drawing/2014/main" id="{54B47845-80D2-5296-C040-EFCD5409FA81}"/>
              </a:ext>
            </a:extLst>
          </p:cNvPr>
          <p:cNvSpPr>
            <a:spLocks noChangeArrowheads="1"/>
          </p:cNvSpPr>
          <p:nvPr/>
        </p:nvSpPr>
        <p:spPr bwMode="auto">
          <a:xfrm>
            <a:off x="2359025" y="6067425"/>
            <a:ext cx="219075" cy="4763"/>
          </a:xfrm>
          <a:prstGeom prst="rect">
            <a:avLst/>
          </a:prstGeom>
          <a:solidFill>
            <a:srgbClr val="C3D1DB"/>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41" name="Rectangle 2346">
            <a:extLst>
              <a:ext uri="{FF2B5EF4-FFF2-40B4-BE49-F238E27FC236}">
                <a16:creationId xmlns:a16="http://schemas.microsoft.com/office/drawing/2014/main" id="{054D1D90-E7F1-DCB7-A4D8-8EE1017D9DB3}"/>
              </a:ext>
            </a:extLst>
          </p:cNvPr>
          <p:cNvSpPr>
            <a:spLocks noChangeArrowheads="1"/>
          </p:cNvSpPr>
          <p:nvPr/>
        </p:nvSpPr>
        <p:spPr bwMode="auto">
          <a:xfrm>
            <a:off x="2359025" y="6070600"/>
            <a:ext cx="219075" cy="4763"/>
          </a:xfrm>
          <a:prstGeom prst="rect">
            <a:avLst/>
          </a:prstGeom>
          <a:solidFill>
            <a:srgbClr val="D0DCE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42" name="Rectangle 2347">
            <a:extLst>
              <a:ext uri="{FF2B5EF4-FFF2-40B4-BE49-F238E27FC236}">
                <a16:creationId xmlns:a16="http://schemas.microsoft.com/office/drawing/2014/main" id="{CABBC4FC-0E1A-8CF3-0B11-BD0BA3753B37}"/>
              </a:ext>
            </a:extLst>
          </p:cNvPr>
          <p:cNvSpPr>
            <a:spLocks noChangeArrowheads="1"/>
          </p:cNvSpPr>
          <p:nvPr/>
        </p:nvSpPr>
        <p:spPr bwMode="auto">
          <a:xfrm>
            <a:off x="2359025" y="6072188"/>
            <a:ext cx="219075" cy="6350"/>
          </a:xfrm>
          <a:prstGeom prst="rect">
            <a:avLst/>
          </a:prstGeom>
          <a:solidFill>
            <a:srgbClr val="DCE4EA"/>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43" name="Rectangle 2348">
            <a:extLst>
              <a:ext uri="{FF2B5EF4-FFF2-40B4-BE49-F238E27FC236}">
                <a16:creationId xmlns:a16="http://schemas.microsoft.com/office/drawing/2014/main" id="{97FCB1C2-6228-BEA0-E9C5-40C5A36747F1}"/>
              </a:ext>
            </a:extLst>
          </p:cNvPr>
          <p:cNvSpPr>
            <a:spLocks noChangeArrowheads="1"/>
          </p:cNvSpPr>
          <p:nvPr/>
        </p:nvSpPr>
        <p:spPr bwMode="auto">
          <a:xfrm>
            <a:off x="2359025" y="6075363"/>
            <a:ext cx="219075" cy="4763"/>
          </a:xfrm>
          <a:prstGeom prst="rect">
            <a:avLst/>
          </a:prstGeom>
          <a:solidFill>
            <a:srgbClr val="E8EDF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44" name="Rectangle 2349">
            <a:extLst>
              <a:ext uri="{FF2B5EF4-FFF2-40B4-BE49-F238E27FC236}">
                <a16:creationId xmlns:a16="http://schemas.microsoft.com/office/drawing/2014/main" id="{967FB84A-3990-910E-FC50-619D58A6760C}"/>
              </a:ext>
            </a:extLst>
          </p:cNvPr>
          <p:cNvSpPr>
            <a:spLocks noChangeArrowheads="1"/>
          </p:cNvSpPr>
          <p:nvPr/>
        </p:nvSpPr>
        <p:spPr bwMode="auto">
          <a:xfrm>
            <a:off x="2359025" y="6078538"/>
            <a:ext cx="219075" cy="4763"/>
          </a:xfrm>
          <a:prstGeom prst="rect">
            <a:avLst/>
          </a:prstGeom>
          <a:solidFill>
            <a:srgbClr val="F3F6F8"/>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45" name="Rectangle 2350">
            <a:extLst>
              <a:ext uri="{FF2B5EF4-FFF2-40B4-BE49-F238E27FC236}">
                <a16:creationId xmlns:a16="http://schemas.microsoft.com/office/drawing/2014/main" id="{87AAE662-DA95-5D88-ACF0-AD92C2892A97}"/>
              </a:ext>
            </a:extLst>
          </p:cNvPr>
          <p:cNvSpPr>
            <a:spLocks noChangeArrowheads="1"/>
          </p:cNvSpPr>
          <p:nvPr/>
        </p:nvSpPr>
        <p:spPr bwMode="auto">
          <a:xfrm>
            <a:off x="2359025" y="6080125"/>
            <a:ext cx="219075"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46" name="Rectangle 2351">
            <a:extLst>
              <a:ext uri="{FF2B5EF4-FFF2-40B4-BE49-F238E27FC236}">
                <a16:creationId xmlns:a16="http://schemas.microsoft.com/office/drawing/2014/main" id="{04CE9FBA-066B-2112-A1D0-BE5C73249D9F}"/>
              </a:ext>
            </a:extLst>
          </p:cNvPr>
          <p:cNvSpPr>
            <a:spLocks noChangeArrowheads="1"/>
          </p:cNvSpPr>
          <p:nvPr/>
        </p:nvSpPr>
        <p:spPr bwMode="auto">
          <a:xfrm>
            <a:off x="2359025" y="6083300"/>
            <a:ext cx="219075"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47" name="Rectangle 2352">
            <a:extLst>
              <a:ext uri="{FF2B5EF4-FFF2-40B4-BE49-F238E27FC236}">
                <a16:creationId xmlns:a16="http://schemas.microsoft.com/office/drawing/2014/main" id="{E7837A6C-F91E-DC31-E2CA-32B493597821}"/>
              </a:ext>
            </a:extLst>
          </p:cNvPr>
          <p:cNvSpPr>
            <a:spLocks noChangeArrowheads="1"/>
          </p:cNvSpPr>
          <p:nvPr/>
        </p:nvSpPr>
        <p:spPr bwMode="auto">
          <a:xfrm>
            <a:off x="2359025" y="6051550"/>
            <a:ext cx="219075" cy="31750"/>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148" name="Rectangle 2353">
            <a:extLst>
              <a:ext uri="{FF2B5EF4-FFF2-40B4-BE49-F238E27FC236}">
                <a16:creationId xmlns:a16="http://schemas.microsoft.com/office/drawing/2014/main" id="{286836EB-F5A2-6360-9299-A61DC541851D}"/>
              </a:ext>
            </a:extLst>
          </p:cNvPr>
          <p:cNvSpPr>
            <a:spLocks noChangeArrowheads="1"/>
          </p:cNvSpPr>
          <p:nvPr/>
        </p:nvSpPr>
        <p:spPr bwMode="auto">
          <a:xfrm>
            <a:off x="2311400" y="6162675"/>
            <a:ext cx="314325" cy="49213"/>
          </a:xfrm>
          <a:prstGeom prst="rect">
            <a:avLst/>
          </a:prstGeom>
          <a:solidFill>
            <a:srgbClr val="EF9C9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49" name="Rectangle 2354">
            <a:extLst>
              <a:ext uri="{FF2B5EF4-FFF2-40B4-BE49-F238E27FC236}">
                <a16:creationId xmlns:a16="http://schemas.microsoft.com/office/drawing/2014/main" id="{CD47A1E0-3A34-BB90-7891-269971CF1F99}"/>
              </a:ext>
            </a:extLst>
          </p:cNvPr>
          <p:cNvSpPr>
            <a:spLocks noChangeArrowheads="1"/>
          </p:cNvSpPr>
          <p:nvPr/>
        </p:nvSpPr>
        <p:spPr bwMode="auto">
          <a:xfrm>
            <a:off x="2311400" y="6162675"/>
            <a:ext cx="314325" cy="49213"/>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150" name="Rectangle 2355">
            <a:extLst>
              <a:ext uri="{FF2B5EF4-FFF2-40B4-BE49-F238E27FC236}">
                <a16:creationId xmlns:a16="http://schemas.microsoft.com/office/drawing/2014/main" id="{971831B1-AF97-F272-6826-4420842643BA}"/>
              </a:ext>
            </a:extLst>
          </p:cNvPr>
          <p:cNvSpPr>
            <a:spLocks noChangeArrowheads="1"/>
          </p:cNvSpPr>
          <p:nvPr/>
        </p:nvSpPr>
        <p:spPr bwMode="auto">
          <a:xfrm>
            <a:off x="2228850" y="4495800"/>
            <a:ext cx="468313" cy="1668463"/>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151" name="Freeform 2356">
            <a:extLst>
              <a:ext uri="{FF2B5EF4-FFF2-40B4-BE49-F238E27FC236}">
                <a16:creationId xmlns:a16="http://schemas.microsoft.com/office/drawing/2014/main" id="{0DF667F8-0265-DCAC-555B-0B52F5027835}"/>
              </a:ext>
            </a:extLst>
          </p:cNvPr>
          <p:cNvSpPr>
            <a:spLocks/>
          </p:cNvSpPr>
          <p:nvPr/>
        </p:nvSpPr>
        <p:spPr bwMode="auto">
          <a:xfrm>
            <a:off x="2416175" y="5321300"/>
            <a:ext cx="107950" cy="725488"/>
          </a:xfrm>
          <a:custGeom>
            <a:avLst/>
            <a:gdLst>
              <a:gd name="T0" fmla="*/ 36 w 68"/>
              <a:gd name="T1" fmla="*/ 0 h 457"/>
              <a:gd name="T2" fmla="*/ 0 w 68"/>
              <a:gd name="T3" fmla="*/ 405 h 457"/>
              <a:gd name="T4" fmla="*/ 33 w 68"/>
              <a:gd name="T5" fmla="*/ 457 h 457"/>
              <a:gd name="T6" fmla="*/ 68 w 68"/>
              <a:gd name="T7" fmla="*/ 405 h 457"/>
              <a:gd name="T8" fmla="*/ 36 w 68"/>
              <a:gd name="T9" fmla="*/ 0 h 457"/>
            </a:gdLst>
            <a:ahLst/>
            <a:cxnLst>
              <a:cxn ang="0">
                <a:pos x="T0" y="T1"/>
              </a:cxn>
              <a:cxn ang="0">
                <a:pos x="T2" y="T3"/>
              </a:cxn>
              <a:cxn ang="0">
                <a:pos x="T4" y="T5"/>
              </a:cxn>
              <a:cxn ang="0">
                <a:pos x="T6" y="T7"/>
              </a:cxn>
              <a:cxn ang="0">
                <a:pos x="T8" y="T9"/>
              </a:cxn>
            </a:cxnLst>
            <a:rect l="0" t="0" r="r" b="b"/>
            <a:pathLst>
              <a:path w="68" h="457">
                <a:moveTo>
                  <a:pt x="36" y="0"/>
                </a:moveTo>
                <a:lnTo>
                  <a:pt x="0" y="405"/>
                </a:lnTo>
                <a:lnTo>
                  <a:pt x="33" y="457"/>
                </a:lnTo>
                <a:lnTo>
                  <a:pt x="68" y="405"/>
                </a:lnTo>
                <a:lnTo>
                  <a:pt x="36" y="0"/>
                </a:lnTo>
                <a:close/>
              </a:path>
            </a:pathLst>
          </a:custGeom>
          <a:solidFill>
            <a:srgbClr val="F4F18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52" name="Freeform 2357">
            <a:extLst>
              <a:ext uri="{FF2B5EF4-FFF2-40B4-BE49-F238E27FC236}">
                <a16:creationId xmlns:a16="http://schemas.microsoft.com/office/drawing/2014/main" id="{9FCFE87F-F9F2-0696-C43D-3CAF8A7B7594}"/>
              </a:ext>
            </a:extLst>
          </p:cNvPr>
          <p:cNvSpPr>
            <a:spLocks/>
          </p:cNvSpPr>
          <p:nvPr/>
        </p:nvSpPr>
        <p:spPr bwMode="auto">
          <a:xfrm>
            <a:off x="2416175" y="5962650"/>
            <a:ext cx="107950" cy="7938"/>
          </a:xfrm>
          <a:custGeom>
            <a:avLst/>
            <a:gdLst>
              <a:gd name="T0" fmla="*/ 68 w 68"/>
              <a:gd name="T1" fmla="*/ 0 h 5"/>
              <a:gd name="T2" fmla="*/ 0 w 68"/>
              <a:gd name="T3" fmla="*/ 0 h 5"/>
              <a:gd name="T4" fmla="*/ 0 w 68"/>
              <a:gd name="T5" fmla="*/ 1 h 5"/>
              <a:gd name="T6" fmla="*/ 1 w 68"/>
              <a:gd name="T7" fmla="*/ 5 h 5"/>
              <a:gd name="T8" fmla="*/ 66 w 68"/>
              <a:gd name="T9" fmla="*/ 5 h 5"/>
              <a:gd name="T10" fmla="*/ 68 w 68"/>
              <a:gd name="T11" fmla="*/ 1 h 5"/>
              <a:gd name="T12" fmla="*/ 68 w 68"/>
              <a:gd name="T13" fmla="*/ 0 h 5"/>
            </a:gdLst>
            <a:ahLst/>
            <a:cxnLst>
              <a:cxn ang="0">
                <a:pos x="T0" y="T1"/>
              </a:cxn>
              <a:cxn ang="0">
                <a:pos x="T2" y="T3"/>
              </a:cxn>
              <a:cxn ang="0">
                <a:pos x="T4" y="T5"/>
              </a:cxn>
              <a:cxn ang="0">
                <a:pos x="T6" y="T7"/>
              </a:cxn>
              <a:cxn ang="0">
                <a:pos x="T8" y="T9"/>
              </a:cxn>
              <a:cxn ang="0">
                <a:pos x="T10" y="T11"/>
              </a:cxn>
              <a:cxn ang="0">
                <a:pos x="T12" y="T13"/>
              </a:cxn>
            </a:cxnLst>
            <a:rect l="0" t="0" r="r" b="b"/>
            <a:pathLst>
              <a:path w="68" h="5">
                <a:moveTo>
                  <a:pt x="68" y="0"/>
                </a:moveTo>
                <a:lnTo>
                  <a:pt x="0" y="0"/>
                </a:lnTo>
                <a:lnTo>
                  <a:pt x="0" y="1"/>
                </a:lnTo>
                <a:lnTo>
                  <a:pt x="1" y="5"/>
                </a:lnTo>
                <a:lnTo>
                  <a:pt x="66" y="5"/>
                </a:lnTo>
                <a:lnTo>
                  <a:pt x="68" y="1"/>
                </a:lnTo>
                <a:lnTo>
                  <a:pt x="68" y="0"/>
                </a:lnTo>
                <a:close/>
              </a:path>
            </a:pathLst>
          </a:custGeom>
          <a:solidFill>
            <a:srgbClr val="817F5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53" name="Freeform 2358">
            <a:extLst>
              <a:ext uri="{FF2B5EF4-FFF2-40B4-BE49-F238E27FC236}">
                <a16:creationId xmlns:a16="http://schemas.microsoft.com/office/drawing/2014/main" id="{984A18AF-F71B-763A-CCE1-EA26B9208CF3}"/>
              </a:ext>
            </a:extLst>
          </p:cNvPr>
          <p:cNvSpPr>
            <a:spLocks/>
          </p:cNvSpPr>
          <p:nvPr/>
        </p:nvSpPr>
        <p:spPr bwMode="auto">
          <a:xfrm>
            <a:off x="2416175" y="5321300"/>
            <a:ext cx="57150" cy="642938"/>
          </a:xfrm>
          <a:custGeom>
            <a:avLst/>
            <a:gdLst>
              <a:gd name="T0" fmla="*/ 1 w 36"/>
              <a:gd name="T1" fmla="*/ 404 h 405"/>
              <a:gd name="T2" fmla="*/ 1 w 36"/>
              <a:gd name="T3" fmla="*/ 405 h 405"/>
              <a:gd name="T4" fmla="*/ 36 w 36"/>
              <a:gd name="T5" fmla="*/ 15 h 405"/>
              <a:gd name="T6" fmla="*/ 36 w 36"/>
              <a:gd name="T7" fmla="*/ 0 h 405"/>
              <a:gd name="T8" fmla="*/ 0 w 36"/>
              <a:gd name="T9" fmla="*/ 405 h 405"/>
              <a:gd name="T10" fmla="*/ 1 w 36"/>
              <a:gd name="T11" fmla="*/ 404 h 405"/>
            </a:gdLst>
            <a:ahLst/>
            <a:cxnLst>
              <a:cxn ang="0">
                <a:pos x="T0" y="T1"/>
              </a:cxn>
              <a:cxn ang="0">
                <a:pos x="T2" y="T3"/>
              </a:cxn>
              <a:cxn ang="0">
                <a:pos x="T4" y="T5"/>
              </a:cxn>
              <a:cxn ang="0">
                <a:pos x="T6" y="T7"/>
              </a:cxn>
              <a:cxn ang="0">
                <a:pos x="T8" y="T9"/>
              </a:cxn>
              <a:cxn ang="0">
                <a:pos x="T10" y="T11"/>
              </a:cxn>
            </a:cxnLst>
            <a:rect l="0" t="0" r="r" b="b"/>
            <a:pathLst>
              <a:path w="36" h="405">
                <a:moveTo>
                  <a:pt x="1" y="404"/>
                </a:moveTo>
                <a:lnTo>
                  <a:pt x="1" y="405"/>
                </a:lnTo>
                <a:lnTo>
                  <a:pt x="36" y="15"/>
                </a:lnTo>
                <a:lnTo>
                  <a:pt x="36" y="0"/>
                </a:lnTo>
                <a:lnTo>
                  <a:pt x="0" y="405"/>
                </a:lnTo>
                <a:lnTo>
                  <a:pt x="1" y="404"/>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54" name="Freeform 2359">
            <a:extLst>
              <a:ext uri="{FF2B5EF4-FFF2-40B4-BE49-F238E27FC236}">
                <a16:creationId xmlns:a16="http://schemas.microsoft.com/office/drawing/2014/main" id="{02CD329F-50BE-149D-CEB7-58771D831367}"/>
              </a:ext>
            </a:extLst>
          </p:cNvPr>
          <p:cNvSpPr>
            <a:spLocks/>
          </p:cNvSpPr>
          <p:nvPr/>
        </p:nvSpPr>
        <p:spPr bwMode="auto">
          <a:xfrm>
            <a:off x="2416175" y="5962650"/>
            <a:ext cx="57150" cy="80963"/>
          </a:xfrm>
          <a:custGeom>
            <a:avLst/>
            <a:gdLst>
              <a:gd name="T0" fmla="*/ 33 w 36"/>
              <a:gd name="T1" fmla="*/ 51 h 51"/>
              <a:gd name="T2" fmla="*/ 36 w 36"/>
              <a:gd name="T3" fmla="*/ 51 h 51"/>
              <a:gd name="T4" fmla="*/ 36 w 36"/>
              <a:gd name="T5" fmla="*/ 49 h 51"/>
              <a:gd name="T6" fmla="*/ 1 w 36"/>
              <a:gd name="T7" fmla="*/ 0 h 51"/>
              <a:gd name="T8" fmla="*/ 0 w 36"/>
              <a:gd name="T9" fmla="*/ 1 h 51"/>
              <a:gd name="T10" fmla="*/ 33 w 36"/>
              <a:gd name="T11" fmla="*/ 51 h 51"/>
            </a:gdLst>
            <a:ahLst/>
            <a:cxnLst>
              <a:cxn ang="0">
                <a:pos x="T0" y="T1"/>
              </a:cxn>
              <a:cxn ang="0">
                <a:pos x="T2" y="T3"/>
              </a:cxn>
              <a:cxn ang="0">
                <a:pos x="T4" y="T5"/>
              </a:cxn>
              <a:cxn ang="0">
                <a:pos x="T6" y="T7"/>
              </a:cxn>
              <a:cxn ang="0">
                <a:pos x="T8" y="T9"/>
              </a:cxn>
              <a:cxn ang="0">
                <a:pos x="T10" y="T11"/>
              </a:cxn>
            </a:cxnLst>
            <a:rect l="0" t="0" r="r" b="b"/>
            <a:pathLst>
              <a:path w="36" h="51">
                <a:moveTo>
                  <a:pt x="33" y="51"/>
                </a:moveTo>
                <a:lnTo>
                  <a:pt x="36" y="51"/>
                </a:lnTo>
                <a:lnTo>
                  <a:pt x="36" y="49"/>
                </a:lnTo>
                <a:lnTo>
                  <a:pt x="1" y="0"/>
                </a:lnTo>
                <a:lnTo>
                  <a:pt x="0" y="1"/>
                </a:lnTo>
                <a:lnTo>
                  <a:pt x="33" y="51"/>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55" name="Freeform 2360">
            <a:extLst>
              <a:ext uri="{FF2B5EF4-FFF2-40B4-BE49-F238E27FC236}">
                <a16:creationId xmlns:a16="http://schemas.microsoft.com/office/drawing/2014/main" id="{A327F00B-1A51-DAEC-53C3-3A0F3656B4A4}"/>
              </a:ext>
            </a:extLst>
          </p:cNvPr>
          <p:cNvSpPr>
            <a:spLocks/>
          </p:cNvSpPr>
          <p:nvPr/>
        </p:nvSpPr>
        <p:spPr bwMode="auto">
          <a:xfrm>
            <a:off x="2465388" y="5962650"/>
            <a:ext cx="58738" cy="84138"/>
          </a:xfrm>
          <a:custGeom>
            <a:avLst/>
            <a:gdLst>
              <a:gd name="T0" fmla="*/ 33 w 37"/>
              <a:gd name="T1" fmla="*/ 1 h 53"/>
              <a:gd name="T2" fmla="*/ 35 w 37"/>
              <a:gd name="T3" fmla="*/ 0 h 53"/>
              <a:gd name="T4" fmla="*/ 0 w 37"/>
              <a:gd name="T5" fmla="*/ 49 h 53"/>
              <a:gd name="T6" fmla="*/ 2 w 37"/>
              <a:gd name="T7" fmla="*/ 53 h 53"/>
              <a:gd name="T8" fmla="*/ 37 w 37"/>
              <a:gd name="T9" fmla="*/ 1 h 53"/>
              <a:gd name="T10" fmla="*/ 33 w 37"/>
              <a:gd name="T11" fmla="*/ 1 h 53"/>
            </a:gdLst>
            <a:ahLst/>
            <a:cxnLst>
              <a:cxn ang="0">
                <a:pos x="T0" y="T1"/>
              </a:cxn>
              <a:cxn ang="0">
                <a:pos x="T2" y="T3"/>
              </a:cxn>
              <a:cxn ang="0">
                <a:pos x="T4" y="T5"/>
              </a:cxn>
              <a:cxn ang="0">
                <a:pos x="T6" y="T7"/>
              </a:cxn>
              <a:cxn ang="0">
                <a:pos x="T8" y="T9"/>
              </a:cxn>
              <a:cxn ang="0">
                <a:pos x="T10" y="T11"/>
              </a:cxn>
            </a:cxnLst>
            <a:rect l="0" t="0" r="r" b="b"/>
            <a:pathLst>
              <a:path w="37" h="53">
                <a:moveTo>
                  <a:pt x="33" y="1"/>
                </a:moveTo>
                <a:lnTo>
                  <a:pt x="35" y="0"/>
                </a:lnTo>
                <a:lnTo>
                  <a:pt x="0" y="49"/>
                </a:lnTo>
                <a:lnTo>
                  <a:pt x="2" y="53"/>
                </a:lnTo>
                <a:lnTo>
                  <a:pt x="37" y="1"/>
                </a:lnTo>
                <a:lnTo>
                  <a:pt x="33" y="1"/>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56" name="Freeform 2361">
            <a:extLst>
              <a:ext uri="{FF2B5EF4-FFF2-40B4-BE49-F238E27FC236}">
                <a16:creationId xmlns:a16="http://schemas.microsoft.com/office/drawing/2014/main" id="{6E58622C-CC0D-B848-E24F-6BF5BD313408}"/>
              </a:ext>
            </a:extLst>
          </p:cNvPr>
          <p:cNvSpPr>
            <a:spLocks/>
          </p:cNvSpPr>
          <p:nvPr/>
        </p:nvSpPr>
        <p:spPr bwMode="auto">
          <a:xfrm>
            <a:off x="2468563" y="5321300"/>
            <a:ext cx="55563" cy="642938"/>
          </a:xfrm>
          <a:custGeom>
            <a:avLst/>
            <a:gdLst>
              <a:gd name="T0" fmla="*/ 3 w 35"/>
              <a:gd name="T1" fmla="*/ 0 h 405"/>
              <a:gd name="T2" fmla="*/ 3 w 35"/>
              <a:gd name="T3" fmla="*/ 0 h 405"/>
              <a:gd name="T4" fmla="*/ 0 w 35"/>
              <a:gd name="T5" fmla="*/ 15 h 405"/>
              <a:gd name="T6" fmla="*/ 31 w 35"/>
              <a:gd name="T7" fmla="*/ 405 h 405"/>
              <a:gd name="T8" fmla="*/ 35 w 35"/>
              <a:gd name="T9" fmla="*/ 405 h 405"/>
              <a:gd name="T10" fmla="*/ 3 w 35"/>
              <a:gd name="T11" fmla="*/ 0 h 405"/>
            </a:gdLst>
            <a:ahLst/>
            <a:cxnLst>
              <a:cxn ang="0">
                <a:pos x="T0" y="T1"/>
              </a:cxn>
              <a:cxn ang="0">
                <a:pos x="T2" y="T3"/>
              </a:cxn>
              <a:cxn ang="0">
                <a:pos x="T4" y="T5"/>
              </a:cxn>
              <a:cxn ang="0">
                <a:pos x="T6" y="T7"/>
              </a:cxn>
              <a:cxn ang="0">
                <a:pos x="T8" y="T9"/>
              </a:cxn>
              <a:cxn ang="0">
                <a:pos x="T10" y="T11"/>
              </a:cxn>
            </a:cxnLst>
            <a:rect l="0" t="0" r="r" b="b"/>
            <a:pathLst>
              <a:path w="35" h="405">
                <a:moveTo>
                  <a:pt x="3" y="0"/>
                </a:moveTo>
                <a:lnTo>
                  <a:pt x="3" y="0"/>
                </a:lnTo>
                <a:lnTo>
                  <a:pt x="0" y="15"/>
                </a:lnTo>
                <a:lnTo>
                  <a:pt x="31" y="405"/>
                </a:lnTo>
                <a:lnTo>
                  <a:pt x="35" y="405"/>
                </a:lnTo>
                <a:lnTo>
                  <a:pt x="3" y="0"/>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57" name="Line 2362">
            <a:extLst>
              <a:ext uri="{FF2B5EF4-FFF2-40B4-BE49-F238E27FC236}">
                <a16:creationId xmlns:a16="http://schemas.microsoft.com/office/drawing/2014/main" id="{DCA8AC6F-F956-749D-0841-AD48842D64A7}"/>
              </a:ext>
            </a:extLst>
          </p:cNvPr>
          <p:cNvSpPr>
            <a:spLocks noChangeShapeType="1"/>
          </p:cNvSpPr>
          <p:nvPr/>
        </p:nvSpPr>
        <p:spPr bwMode="auto">
          <a:xfrm>
            <a:off x="2468563" y="5330825"/>
            <a:ext cx="1588" cy="715963"/>
          </a:xfrm>
          <a:prstGeom prst="line">
            <a:avLst/>
          </a:prstGeom>
          <a:noFill/>
          <a:ln w="1588" cap="rnd">
            <a:solidFill>
              <a:srgbClr val="25221E"/>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158" name="Freeform 2363">
            <a:extLst>
              <a:ext uri="{FF2B5EF4-FFF2-40B4-BE49-F238E27FC236}">
                <a16:creationId xmlns:a16="http://schemas.microsoft.com/office/drawing/2014/main" id="{3E40EED0-C157-078B-C09F-B9CA7D5873BD}"/>
              </a:ext>
            </a:extLst>
          </p:cNvPr>
          <p:cNvSpPr>
            <a:spLocks noEditPoints="1"/>
          </p:cNvSpPr>
          <p:nvPr/>
        </p:nvSpPr>
        <p:spPr bwMode="auto">
          <a:xfrm>
            <a:off x="2468563" y="5321300"/>
            <a:ext cx="3175" cy="7938"/>
          </a:xfrm>
          <a:custGeom>
            <a:avLst/>
            <a:gdLst>
              <a:gd name="T0" fmla="*/ 0 w 2"/>
              <a:gd name="T1" fmla="*/ 5 h 5"/>
              <a:gd name="T2" fmla="*/ 2 w 2"/>
              <a:gd name="T3" fmla="*/ 5 h 5"/>
              <a:gd name="T4" fmla="*/ 2 w 2"/>
              <a:gd name="T5" fmla="*/ 0 h 5"/>
              <a:gd name="T6" fmla="*/ 0 w 2"/>
              <a:gd name="T7" fmla="*/ 5 h 5"/>
              <a:gd name="T8" fmla="*/ 0 w 2"/>
              <a:gd name="T9" fmla="*/ 5 h 5"/>
              <a:gd name="T10" fmla="*/ 2 w 2"/>
              <a:gd name="T11" fmla="*/ 5 h 5"/>
              <a:gd name="T12" fmla="*/ 0 w 2"/>
              <a:gd name="T13" fmla="*/ 5 h 5"/>
            </a:gdLst>
            <a:ahLst/>
            <a:cxnLst>
              <a:cxn ang="0">
                <a:pos x="T0" y="T1"/>
              </a:cxn>
              <a:cxn ang="0">
                <a:pos x="T2" y="T3"/>
              </a:cxn>
              <a:cxn ang="0">
                <a:pos x="T4" y="T5"/>
              </a:cxn>
              <a:cxn ang="0">
                <a:pos x="T6" y="T7"/>
              </a:cxn>
              <a:cxn ang="0">
                <a:pos x="T8" y="T9"/>
              </a:cxn>
              <a:cxn ang="0">
                <a:pos x="T10" y="T11"/>
              </a:cxn>
              <a:cxn ang="0">
                <a:pos x="T12" y="T13"/>
              </a:cxn>
            </a:cxnLst>
            <a:rect l="0" t="0" r="r" b="b"/>
            <a:pathLst>
              <a:path w="2" h="5">
                <a:moveTo>
                  <a:pt x="0" y="5"/>
                </a:moveTo>
                <a:lnTo>
                  <a:pt x="2" y="5"/>
                </a:lnTo>
                <a:lnTo>
                  <a:pt x="2" y="0"/>
                </a:lnTo>
                <a:lnTo>
                  <a:pt x="0" y="5"/>
                </a:lnTo>
                <a:close/>
                <a:moveTo>
                  <a:pt x="0" y="5"/>
                </a:moveTo>
                <a:lnTo>
                  <a:pt x="2" y="5"/>
                </a:lnTo>
                <a:lnTo>
                  <a:pt x="0"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59" name="Freeform 2364">
            <a:extLst>
              <a:ext uri="{FF2B5EF4-FFF2-40B4-BE49-F238E27FC236}">
                <a16:creationId xmlns:a16="http://schemas.microsoft.com/office/drawing/2014/main" id="{AFD7F1A3-EE42-1717-3B5E-58B710DBF5E3}"/>
              </a:ext>
            </a:extLst>
          </p:cNvPr>
          <p:cNvSpPr>
            <a:spLocks/>
          </p:cNvSpPr>
          <p:nvPr/>
        </p:nvSpPr>
        <p:spPr bwMode="auto">
          <a:xfrm>
            <a:off x="2468563" y="5321300"/>
            <a:ext cx="3175" cy="7938"/>
          </a:xfrm>
          <a:custGeom>
            <a:avLst/>
            <a:gdLst>
              <a:gd name="T0" fmla="*/ 0 w 2"/>
              <a:gd name="T1" fmla="*/ 5 h 5"/>
              <a:gd name="T2" fmla="*/ 2 w 2"/>
              <a:gd name="T3" fmla="*/ 5 h 5"/>
              <a:gd name="T4" fmla="*/ 2 w 2"/>
              <a:gd name="T5" fmla="*/ 0 h 5"/>
              <a:gd name="T6" fmla="*/ 0 w 2"/>
              <a:gd name="T7" fmla="*/ 5 h 5"/>
            </a:gdLst>
            <a:ahLst/>
            <a:cxnLst>
              <a:cxn ang="0">
                <a:pos x="T0" y="T1"/>
              </a:cxn>
              <a:cxn ang="0">
                <a:pos x="T2" y="T3"/>
              </a:cxn>
              <a:cxn ang="0">
                <a:pos x="T4" y="T5"/>
              </a:cxn>
              <a:cxn ang="0">
                <a:pos x="T6" y="T7"/>
              </a:cxn>
            </a:cxnLst>
            <a:rect l="0" t="0" r="r" b="b"/>
            <a:pathLst>
              <a:path w="2" h="5">
                <a:moveTo>
                  <a:pt x="0" y="5"/>
                </a:moveTo>
                <a:lnTo>
                  <a:pt x="2" y="5"/>
                </a:lnTo>
                <a:lnTo>
                  <a:pt x="2" y="0"/>
                </a:lnTo>
                <a:lnTo>
                  <a:pt x="0"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60" name="Freeform 2365">
            <a:extLst>
              <a:ext uri="{FF2B5EF4-FFF2-40B4-BE49-F238E27FC236}">
                <a16:creationId xmlns:a16="http://schemas.microsoft.com/office/drawing/2014/main" id="{DF156737-505F-D19D-6959-A9A3C45B028E}"/>
              </a:ext>
            </a:extLst>
          </p:cNvPr>
          <p:cNvSpPr>
            <a:spLocks/>
          </p:cNvSpPr>
          <p:nvPr/>
        </p:nvSpPr>
        <p:spPr bwMode="auto">
          <a:xfrm>
            <a:off x="2416175" y="5321300"/>
            <a:ext cx="107950" cy="725488"/>
          </a:xfrm>
          <a:custGeom>
            <a:avLst/>
            <a:gdLst>
              <a:gd name="T0" fmla="*/ 36 w 68"/>
              <a:gd name="T1" fmla="*/ 0 h 457"/>
              <a:gd name="T2" fmla="*/ 0 w 68"/>
              <a:gd name="T3" fmla="*/ 405 h 457"/>
              <a:gd name="T4" fmla="*/ 33 w 68"/>
              <a:gd name="T5" fmla="*/ 457 h 457"/>
              <a:gd name="T6" fmla="*/ 68 w 68"/>
              <a:gd name="T7" fmla="*/ 405 h 457"/>
              <a:gd name="T8" fmla="*/ 36 w 68"/>
              <a:gd name="T9" fmla="*/ 0 h 457"/>
            </a:gdLst>
            <a:ahLst/>
            <a:cxnLst>
              <a:cxn ang="0">
                <a:pos x="T0" y="T1"/>
              </a:cxn>
              <a:cxn ang="0">
                <a:pos x="T2" y="T3"/>
              </a:cxn>
              <a:cxn ang="0">
                <a:pos x="T4" y="T5"/>
              </a:cxn>
              <a:cxn ang="0">
                <a:pos x="T6" y="T7"/>
              </a:cxn>
              <a:cxn ang="0">
                <a:pos x="T8" y="T9"/>
              </a:cxn>
            </a:cxnLst>
            <a:rect l="0" t="0" r="r" b="b"/>
            <a:pathLst>
              <a:path w="68" h="457">
                <a:moveTo>
                  <a:pt x="36" y="0"/>
                </a:moveTo>
                <a:lnTo>
                  <a:pt x="0" y="405"/>
                </a:lnTo>
                <a:lnTo>
                  <a:pt x="33" y="457"/>
                </a:lnTo>
                <a:lnTo>
                  <a:pt x="68" y="405"/>
                </a:lnTo>
                <a:lnTo>
                  <a:pt x="36"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161" name="Line 2366">
            <a:extLst>
              <a:ext uri="{FF2B5EF4-FFF2-40B4-BE49-F238E27FC236}">
                <a16:creationId xmlns:a16="http://schemas.microsoft.com/office/drawing/2014/main" id="{EFFE7DB5-B2A3-83E9-A83E-F2CA24C5C36C}"/>
              </a:ext>
            </a:extLst>
          </p:cNvPr>
          <p:cNvSpPr>
            <a:spLocks noChangeShapeType="1"/>
          </p:cNvSpPr>
          <p:nvPr/>
        </p:nvSpPr>
        <p:spPr bwMode="auto">
          <a:xfrm>
            <a:off x="2468563" y="4505325"/>
            <a:ext cx="1588" cy="1738313"/>
          </a:xfrm>
          <a:prstGeom prst="line">
            <a:avLst/>
          </a:prstGeom>
          <a:noFill/>
          <a:ln w="3175" cap="rnd">
            <a:solidFill>
              <a:srgbClr val="1F1A17"/>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162" name="Rectangle 2367">
            <a:extLst>
              <a:ext uri="{FF2B5EF4-FFF2-40B4-BE49-F238E27FC236}">
                <a16:creationId xmlns:a16="http://schemas.microsoft.com/office/drawing/2014/main" id="{4BE2F305-930E-DDDB-4F20-AF5DAFE8684B}"/>
              </a:ext>
            </a:extLst>
          </p:cNvPr>
          <p:cNvSpPr>
            <a:spLocks noChangeArrowheads="1"/>
          </p:cNvSpPr>
          <p:nvPr/>
        </p:nvSpPr>
        <p:spPr bwMode="auto">
          <a:xfrm>
            <a:off x="2387600" y="5510213"/>
            <a:ext cx="28575" cy="120650"/>
          </a:xfrm>
          <a:prstGeom prst="rect">
            <a:avLst/>
          </a:prstGeom>
          <a:solidFill>
            <a:srgbClr val="0079C5"/>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63" name="Freeform 2368">
            <a:extLst>
              <a:ext uri="{FF2B5EF4-FFF2-40B4-BE49-F238E27FC236}">
                <a16:creationId xmlns:a16="http://schemas.microsoft.com/office/drawing/2014/main" id="{21BFFF67-835A-1F84-B49A-D517FCC52273}"/>
              </a:ext>
            </a:extLst>
          </p:cNvPr>
          <p:cNvSpPr>
            <a:spLocks noEditPoints="1"/>
          </p:cNvSpPr>
          <p:nvPr/>
        </p:nvSpPr>
        <p:spPr bwMode="auto">
          <a:xfrm>
            <a:off x="3402013" y="2520950"/>
            <a:ext cx="233363" cy="160338"/>
          </a:xfrm>
          <a:custGeom>
            <a:avLst/>
            <a:gdLst>
              <a:gd name="T0" fmla="*/ 147 w 147"/>
              <a:gd name="T1" fmla="*/ 43 h 101"/>
              <a:gd name="T2" fmla="*/ 147 w 147"/>
              <a:gd name="T3" fmla="*/ 37 h 101"/>
              <a:gd name="T4" fmla="*/ 146 w 147"/>
              <a:gd name="T5" fmla="*/ 30 h 101"/>
              <a:gd name="T6" fmla="*/ 144 w 147"/>
              <a:gd name="T7" fmla="*/ 25 h 101"/>
              <a:gd name="T8" fmla="*/ 142 w 147"/>
              <a:gd name="T9" fmla="*/ 20 h 101"/>
              <a:gd name="T10" fmla="*/ 139 w 147"/>
              <a:gd name="T11" fmla="*/ 15 h 101"/>
              <a:gd name="T12" fmla="*/ 136 w 147"/>
              <a:gd name="T13" fmla="*/ 10 h 101"/>
              <a:gd name="T14" fmla="*/ 132 w 147"/>
              <a:gd name="T15" fmla="*/ 5 h 101"/>
              <a:gd name="T16" fmla="*/ 129 w 147"/>
              <a:gd name="T17" fmla="*/ 0 h 101"/>
              <a:gd name="T18" fmla="*/ 126 w 147"/>
              <a:gd name="T19" fmla="*/ 2 h 101"/>
              <a:gd name="T20" fmla="*/ 131 w 147"/>
              <a:gd name="T21" fmla="*/ 7 h 101"/>
              <a:gd name="T22" fmla="*/ 134 w 147"/>
              <a:gd name="T23" fmla="*/ 12 h 101"/>
              <a:gd name="T24" fmla="*/ 136 w 147"/>
              <a:gd name="T25" fmla="*/ 17 h 101"/>
              <a:gd name="T26" fmla="*/ 139 w 147"/>
              <a:gd name="T27" fmla="*/ 22 h 101"/>
              <a:gd name="T28" fmla="*/ 141 w 147"/>
              <a:gd name="T29" fmla="*/ 27 h 101"/>
              <a:gd name="T30" fmla="*/ 142 w 147"/>
              <a:gd name="T31" fmla="*/ 32 h 101"/>
              <a:gd name="T32" fmla="*/ 144 w 147"/>
              <a:gd name="T33" fmla="*/ 38 h 101"/>
              <a:gd name="T34" fmla="*/ 146 w 147"/>
              <a:gd name="T35" fmla="*/ 43 h 101"/>
              <a:gd name="T36" fmla="*/ 147 w 147"/>
              <a:gd name="T37" fmla="*/ 43 h 101"/>
              <a:gd name="T38" fmla="*/ 0 w 147"/>
              <a:gd name="T39" fmla="*/ 60 h 101"/>
              <a:gd name="T40" fmla="*/ 1 w 147"/>
              <a:gd name="T41" fmla="*/ 65 h 101"/>
              <a:gd name="T42" fmla="*/ 3 w 147"/>
              <a:gd name="T43" fmla="*/ 72 h 101"/>
              <a:gd name="T44" fmla="*/ 5 w 147"/>
              <a:gd name="T45" fmla="*/ 77 h 101"/>
              <a:gd name="T46" fmla="*/ 6 w 147"/>
              <a:gd name="T47" fmla="*/ 81 h 101"/>
              <a:gd name="T48" fmla="*/ 10 w 147"/>
              <a:gd name="T49" fmla="*/ 86 h 101"/>
              <a:gd name="T50" fmla="*/ 11 w 147"/>
              <a:gd name="T51" fmla="*/ 91 h 101"/>
              <a:gd name="T52" fmla="*/ 15 w 147"/>
              <a:gd name="T53" fmla="*/ 96 h 101"/>
              <a:gd name="T54" fmla="*/ 20 w 147"/>
              <a:gd name="T55" fmla="*/ 101 h 101"/>
              <a:gd name="T56" fmla="*/ 21 w 147"/>
              <a:gd name="T57" fmla="*/ 100 h 101"/>
              <a:gd name="T58" fmla="*/ 18 w 147"/>
              <a:gd name="T59" fmla="*/ 95 h 101"/>
              <a:gd name="T60" fmla="*/ 15 w 147"/>
              <a:gd name="T61" fmla="*/ 90 h 101"/>
              <a:gd name="T62" fmla="*/ 11 w 147"/>
              <a:gd name="T63" fmla="*/ 85 h 101"/>
              <a:gd name="T64" fmla="*/ 10 w 147"/>
              <a:gd name="T65" fmla="*/ 80 h 101"/>
              <a:gd name="T66" fmla="*/ 6 w 147"/>
              <a:gd name="T67" fmla="*/ 75 h 101"/>
              <a:gd name="T68" fmla="*/ 5 w 147"/>
              <a:gd name="T69" fmla="*/ 70 h 101"/>
              <a:gd name="T70" fmla="*/ 5 w 147"/>
              <a:gd name="T71" fmla="*/ 63 h 101"/>
              <a:gd name="T72" fmla="*/ 3 w 147"/>
              <a:gd name="T73" fmla="*/ 58 h 101"/>
              <a:gd name="T74" fmla="*/ 0 w 147"/>
              <a:gd name="T75" fmla="*/ 60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47" h="101">
                <a:moveTo>
                  <a:pt x="147" y="43"/>
                </a:moveTo>
                <a:lnTo>
                  <a:pt x="147" y="37"/>
                </a:lnTo>
                <a:lnTo>
                  <a:pt x="146" y="30"/>
                </a:lnTo>
                <a:lnTo>
                  <a:pt x="144" y="25"/>
                </a:lnTo>
                <a:lnTo>
                  <a:pt x="142" y="20"/>
                </a:lnTo>
                <a:lnTo>
                  <a:pt x="139" y="15"/>
                </a:lnTo>
                <a:lnTo>
                  <a:pt x="136" y="10"/>
                </a:lnTo>
                <a:lnTo>
                  <a:pt x="132" y="5"/>
                </a:lnTo>
                <a:lnTo>
                  <a:pt x="129" y="0"/>
                </a:lnTo>
                <a:lnTo>
                  <a:pt x="126" y="2"/>
                </a:lnTo>
                <a:lnTo>
                  <a:pt x="131" y="7"/>
                </a:lnTo>
                <a:lnTo>
                  <a:pt x="134" y="12"/>
                </a:lnTo>
                <a:lnTo>
                  <a:pt x="136" y="17"/>
                </a:lnTo>
                <a:lnTo>
                  <a:pt x="139" y="22"/>
                </a:lnTo>
                <a:lnTo>
                  <a:pt x="141" y="27"/>
                </a:lnTo>
                <a:lnTo>
                  <a:pt x="142" y="32"/>
                </a:lnTo>
                <a:lnTo>
                  <a:pt x="144" y="38"/>
                </a:lnTo>
                <a:lnTo>
                  <a:pt x="146" y="43"/>
                </a:lnTo>
                <a:lnTo>
                  <a:pt x="147" y="43"/>
                </a:lnTo>
                <a:close/>
                <a:moveTo>
                  <a:pt x="0" y="60"/>
                </a:moveTo>
                <a:lnTo>
                  <a:pt x="1" y="65"/>
                </a:lnTo>
                <a:lnTo>
                  <a:pt x="3" y="72"/>
                </a:lnTo>
                <a:lnTo>
                  <a:pt x="5" y="77"/>
                </a:lnTo>
                <a:lnTo>
                  <a:pt x="6" y="81"/>
                </a:lnTo>
                <a:lnTo>
                  <a:pt x="10" y="86"/>
                </a:lnTo>
                <a:lnTo>
                  <a:pt x="11" y="91"/>
                </a:lnTo>
                <a:lnTo>
                  <a:pt x="15" y="96"/>
                </a:lnTo>
                <a:lnTo>
                  <a:pt x="20" y="101"/>
                </a:lnTo>
                <a:lnTo>
                  <a:pt x="21" y="100"/>
                </a:lnTo>
                <a:lnTo>
                  <a:pt x="18" y="95"/>
                </a:lnTo>
                <a:lnTo>
                  <a:pt x="15" y="90"/>
                </a:lnTo>
                <a:lnTo>
                  <a:pt x="11" y="85"/>
                </a:lnTo>
                <a:lnTo>
                  <a:pt x="10" y="80"/>
                </a:lnTo>
                <a:lnTo>
                  <a:pt x="6" y="75"/>
                </a:lnTo>
                <a:lnTo>
                  <a:pt x="5" y="70"/>
                </a:lnTo>
                <a:lnTo>
                  <a:pt x="5" y="63"/>
                </a:lnTo>
                <a:lnTo>
                  <a:pt x="3" y="58"/>
                </a:lnTo>
                <a:lnTo>
                  <a:pt x="0" y="60"/>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64" name="Freeform 2369">
            <a:extLst>
              <a:ext uri="{FF2B5EF4-FFF2-40B4-BE49-F238E27FC236}">
                <a16:creationId xmlns:a16="http://schemas.microsoft.com/office/drawing/2014/main" id="{128F21A9-521D-A11C-742C-1555B46EBE81}"/>
              </a:ext>
            </a:extLst>
          </p:cNvPr>
          <p:cNvSpPr>
            <a:spLocks noEditPoints="1"/>
          </p:cNvSpPr>
          <p:nvPr/>
        </p:nvSpPr>
        <p:spPr bwMode="auto">
          <a:xfrm>
            <a:off x="3403600" y="2524125"/>
            <a:ext cx="230188" cy="155575"/>
          </a:xfrm>
          <a:custGeom>
            <a:avLst/>
            <a:gdLst>
              <a:gd name="T0" fmla="*/ 145 w 145"/>
              <a:gd name="T1" fmla="*/ 41 h 98"/>
              <a:gd name="T2" fmla="*/ 145 w 145"/>
              <a:gd name="T3" fmla="*/ 35 h 98"/>
              <a:gd name="T4" fmla="*/ 143 w 145"/>
              <a:gd name="T5" fmla="*/ 30 h 98"/>
              <a:gd name="T6" fmla="*/ 141 w 145"/>
              <a:gd name="T7" fmla="*/ 25 h 98"/>
              <a:gd name="T8" fmla="*/ 140 w 145"/>
              <a:gd name="T9" fmla="*/ 18 h 98"/>
              <a:gd name="T10" fmla="*/ 136 w 145"/>
              <a:gd name="T11" fmla="*/ 13 h 98"/>
              <a:gd name="T12" fmla="*/ 135 w 145"/>
              <a:gd name="T13" fmla="*/ 8 h 98"/>
              <a:gd name="T14" fmla="*/ 131 w 145"/>
              <a:gd name="T15" fmla="*/ 3 h 98"/>
              <a:gd name="T16" fmla="*/ 126 w 145"/>
              <a:gd name="T17" fmla="*/ 0 h 98"/>
              <a:gd name="T18" fmla="*/ 123 w 145"/>
              <a:gd name="T19" fmla="*/ 2 h 98"/>
              <a:gd name="T20" fmla="*/ 128 w 145"/>
              <a:gd name="T21" fmla="*/ 5 h 98"/>
              <a:gd name="T22" fmla="*/ 131 w 145"/>
              <a:gd name="T23" fmla="*/ 10 h 98"/>
              <a:gd name="T24" fmla="*/ 133 w 145"/>
              <a:gd name="T25" fmla="*/ 15 h 98"/>
              <a:gd name="T26" fmla="*/ 136 w 145"/>
              <a:gd name="T27" fmla="*/ 20 h 98"/>
              <a:gd name="T28" fmla="*/ 138 w 145"/>
              <a:gd name="T29" fmla="*/ 25 h 98"/>
              <a:gd name="T30" fmla="*/ 140 w 145"/>
              <a:gd name="T31" fmla="*/ 31 h 98"/>
              <a:gd name="T32" fmla="*/ 141 w 145"/>
              <a:gd name="T33" fmla="*/ 36 h 98"/>
              <a:gd name="T34" fmla="*/ 143 w 145"/>
              <a:gd name="T35" fmla="*/ 43 h 98"/>
              <a:gd name="T36" fmla="*/ 145 w 145"/>
              <a:gd name="T37" fmla="*/ 41 h 98"/>
              <a:gd name="T38" fmla="*/ 0 w 145"/>
              <a:gd name="T39" fmla="*/ 56 h 98"/>
              <a:gd name="T40" fmla="*/ 2 w 145"/>
              <a:gd name="T41" fmla="*/ 63 h 98"/>
              <a:gd name="T42" fmla="*/ 2 w 145"/>
              <a:gd name="T43" fmla="*/ 68 h 98"/>
              <a:gd name="T44" fmla="*/ 5 w 145"/>
              <a:gd name="T45" fmla="*/ 75 h 98"/>
              <a:gd name="T46" fmla="*/ 7 w 145"/>
              <a:gd name="T47" fmla="*/ 79 h 98"/>
              <a:gd name="T48" fmla="*/ 9 w 145"/>
              <a:gd name="T49" fmla="*/ 84 h 98"/>
              <a:gd name="T50" fmla="*/ 12 w 145"/>
              <a:gd name="T51" fmla="*/ 89 h 98"/>
              <a:gd name="T52" fmla="*/ 15 w 145"/>
              <a:gd name="T53" fmla="*/ 93 h 98"/>
              <a:gd name="T54" fmla="*/ 20 w 145"/>
              <a:gd name="T55" fmla="*/ 98 h 98"/>
              <a:gd name="T56" fmla="*/ 22 w 145"/>
              <a:gd name="T57" fmla="*/ 96 h 98"/>
              <a:gd name="T58" fmla="*/ 19 w 145"/>
              <a:gd name="T59" fmla="*/ 93 h 98"/>
              <a:gd name="T60" fmla="*/ 15 w 145"/>
              <a:gd name="T61" fmla="*/ 88 h 98"/>
              <a:gd name="T62" fmla="*/ 12 w 145"/>
              <a:gd name="T63" fmla="*/ 83 h 98"/>
              <a:gd name="T64" fmla="*/ 10 w 145"/>
              <a:gd name="T65" fmla="*/ 78 h 98"/>
              <a:gd name="T66" fmla="*/ 7 w 145"/>
              <a:gd name="T67" fmla="*/ 73 h 98"/>
              <a:gd name="T68" fmla="*/ 5 w 145"/>
              <a:gd name="T69" fmla="*/ 66 h 98"/>
              <a:gd name="T70" fmla="*/ 4 w 145"/>
              <a:gd name="T71" fmla="*/ 61 h 98"/>
              <a:gd name="T72" fmla="*/ 4 w 145"/>
              <a:gd name="T73" fmla="*/ 55 h 98"/>
              <a:gd name="T74" fmla="*/ 0 w 145"/>
              <a:gd name="T75" fmla="*/ 56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45" h="98">
                <a:moveTo>
                  <a:pt x="145" y="41"/>
                </a:moveTo>
                <a:lnTo>
                  <a:pt x="145" y="35"/>
                </a:lnTo>
                <a:lnTo>
                  <a:pt x="143" y="30"/>
                </a:lnTo>
                <a:lnTo>
                  <a:pt x="141" y="25"/>
                </a:lnTo>
                <a:lnTo>
                  <a:pt x="140" y="18"/>
                </a:lnTo>
                <a:lnTo>
                  <a:pt x="136" y="13"/>
                </a:lnTo>
                <a:lnTo>
                  <a:pt x="135" y="8"/>
                </a:lnTo>
                <a:lnTo>
                  <a:pt x="131" y="3"/>
                </a:lnTo>
                <a:lnTo>
                  <a:pt x="126" y="0"/>
                </a:lnTo>
                <a:lnTo>
                  <a:pt x="123" y="2"/>
                </a:lnTo>
                <a:lnTo>
                  <a:pt x="128" y="5"/>
                </a:lnTo>
                <a:lnTo>
                  <a:pt x="131" y="10"/>
                </a:lnTo>
                <a:lnTo>
                  <a:pt x="133" y="15"/>
                </a:lnTo>
                <a:lnTo>
                  <a:pt x="136" y="20"/>
                </a:lnTo>
                <a:lnTo>
                  <a:pt x="138" y="25"/>
                </a:lnTo>
                <a:lnTo>
                  <a:pt x="140" y="31"/>
                </a:lnTo>
                <a:lnTo>
                  <a:pt x="141" y="36"/>
                </a:lnTo>
                <a:lnTo>
                  <a:pt x="143" y="43"/>
                </a:lnTo>
                <a:lnTo>
                  <a:pt x="145" y="41"/>
                </a:lnTo>
                <a:close/>
                <a:moveTo>
                  <a:pt x="0" y="56"/>
                </a:moveTo>
                <a:lnTo>
                  <a:pt x="2" y="63"/>
                </a:lnTo>
                <a:lnTo>
                  <a:pt x="2" y="68"/>
                </a:lnTo>
                <a:lnTo>
                  <a:pt x="5" y="75"/>
                </a:lnTo>
                <a:lnTo>
                  <a:pt x="7" y="79"/>
                </a:lnTo>
                <a:lnTo>
                  <a:pt x="9" y="84"/>
                </a:lnTo>
                <a:lnTo>
                  <a:pt x="12" y="89"/>
                </a:lnTo>
                <a:lnTo>
                  <a:pt x="15" y="93"/>
                </a:lnTo>
                <a:lnTo>
                  <a:pt x="20" y="98"/>
                </a:lnTo>
                <a:lnTo>
                  <a:pt x="22" y="96"/>
                </a:lnTo>
                <a:lnTo>
                  <a:pt x="19" y="93"/>
                </a:lnTo>
                <a:lnTo>
                  <a:pt x="15" y="88"/>
                </a:lnTo>
                <a:lnTo>
                  <a:pt x="12" y="83"/>
                </a:lnTo>
                <a:lnTo>
                  <a:pt x="10" y="78"/>
                </a:lnTo>
                <a:lnTo>
                  <a:pt x="7" y="73"/>
                </a:lnTo>
                <a:lnTo>
                  <a:pt x="5" y="66"/>
                </a:lnTo>
                <a:lnTo>
                  <a:pt x="4" y="61"/>
                </a:lnTo>
                <a:lnTo>
                  <a:pt x="4" y="55"/>
                </a:lnTo>
                <a:lnTo>
                  <a:pt x="0" y="56"/>
                </a:lnTo>
                <a:close/>
              </a:path>
            </a:pathLst>
          </a:custGeom>
          <a:solidFill>
            <a:srgbClr val="CEE9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65" name="Freeform 2370">
            <a:extLst>
              <a:ext uri="{FF2B5EF4-FFF2-40B4-BE49-F238E27FC236}">
                <a16:creationId xmlns:a16="http://schemas.microsoft.com/office/drawing/2014/main" id="{FB2B3CC2-DCB1-C922-C022-0DD49F3B472F}"/>
              </a:ext>
            </a:extLst>
          </p:cNvPr>
          <p:cNvSpPr>
            <a:spLocks noEditPoints="1"/>
          </p:cNvSpPr>
          <p:nvPr/>
        </p:nvSpPr>
        <p:spPr bwMode="auto">
          <a:xfrm>
            <a:off x="3406775" y="2524125"/>
            <a:ext cx="227013" cy="155575"/>
          </a:xfrm>
          <a:custGeom>
            <a:avLst/>
            <a:gdLst>
              <a:gd name="T0" fmla="*/ 143 w 143"/>
              <a:gd name="T1" fmla="*/ 41 h 98"/>
              <a:gd name="T2" fmla="*/ 141 w 143"/>
              <a:gd name="T3" fmla="*/ 36 h 98"/>
              <a:gd name="T4" fmla="*/ 139 w 143"/>
              <a:gd name="T5" fmla="*/ 30 h 98"/>
              <a:gd name="T6" fmla="*/ 138 w 143"/>
              <a:gd name="T7" fmla="*/ 25 h 98"/>
              <a:gd name="T8" fmla="*/ 136 w 143"/>
              <a:gd name="T9" fmla="*/ 20 h 98"/>
              <a:gd name="T10" fmla="*/ 133 w 143"/>
              <a:gd name="T11" fmla="*/ 15 h 98"/>
              <a:gd name="T12" fmla="*/ 131 w 143"/>
              <a:gd name="T13" fmla="*/ 10 h 98"/>
              <a:gd name="T14" fmla="*/ 128 w 143"/>
              <a:gd name="T15" fmla="*/ 5 h 98"/>
              <a:gd name="T16" fmla="*/ 123 w 143"/>
              <a:gd name="T17" fmla="*/ 0 h 98"/>
              <a:gd name="T18" fmla="*/ 119 w 143"/>
              <a:gd name="T19" fmla="*/ 2 h 98"/>
              <a:gd name="T20" fmla="*/ 124 w 143"/>
              <a:gd name="T21" fmla="*/ 7 h 98"/>
              <a:gd name="T22" fmla="*/ 128 w 143"/>
              <a:gd name="T23" fmla="*/ 10 h 98"/>
              <a:gd name="T24" fmla="*/ 131 w 143"/>
              <a:gd name="T25" fmla="*/ 15 h 98"/>
              <a:gd name="T26" fmla="*/ 133 w 143"/>
              <a:gd name="T27" fmla="*/ 20 h 98"/>
              <a:gd name="T28" fmla="*/ 134 w 143"/>
              <a:gd name="T29" fmla="*/ 26 h 98"/>
              <a:gd name="T30" fmla="*/ 136 w 143"/>
              <a:gd name="T31" fmla="*/ 31 h 98"/>
              <a:gd name="T32" fmla="*/ 138 w 143"/>
              <a:gd name="T33" fmla="*/ 38 h 98"/>
              <a:gd name="T34" fmla="*/ 139 w 143"/>
              <a:gd name="T35" fmla="*/ 43 h 98"/>
              <a:gd name="T36" fmla="*/ 143 w 143"/>
              <a:gd name="T37" fmla="*/ 41 h 98"/>
              <a:gd name="T38" fmla="*/ 0 w 143"/>
              <a:gd name="T39" fmla="*/ 56 h 98"/>
              <a:gd name="T40" fmla="*/ 2 w 143"/>
              <a:gd name="T41" fmla="*/ 61 h 98"/>
              <a:gd name="T42" fmla="*/ 2 w 143"/>
              <a:gd name="T43" fmla="*/ 68 h 98"/>
              <a:gd name="T44" fmla="*/ 3 w 143"/>
              <a:gd name="T45" fmla="*/ 73 h 98"/>
              <a:gd name="T46" fmla="*/ 7 w 143"/>
              <a:gd name="T47" fmla="*/ 78 h 98"/>
              <a:gd name="T48" fmla="*/ 8 w 143"/>
              <a:gd name="T49" fmla="*/ 83 h 98"/>
              <a:gd name="T50" fmla="*/ 12 w 143"/>
              <a:gd name="T51" fmla="*/ 88 h 98"/>
              <a:gd name="T52" fmla="*/ 15 w 143"/>
              <a:gd name="T53" fmla="*/ 93 h 98"/>
              <a:gd name="T54" fmla="*/ 18 w 143"/>
              <a:gd name="T55" fmla="*/ 98 h 98"/>
              <a:gd name="T56" fmla="*/ 22 w 143"/>
              <a:gd name="T57" fmla="*/ 96 h 98"/>
              <a:gd name="T58" fmla="*/ 18 w 143"/>
              <a:gd name="T59" fmla="*/ 91 h 98"/>
              <a:gd name="T60" fmla="*/ 15 w 143"/>
              <a:gd name="T61" fmla="*/ 88 h 98"/>
              <a:gd name="T62" fmla="*/ 12 w 143"/>
              <a:gd name="T63" fmla="*/ 83 h 98"/>
              <a:gd name="T64" fmla="*/ 10 w 143"/>
              <a:gd name="T65" fmla="*/ 78 h 98"/>
              <a:gd name="T66" fmla="*/ 7 w 143"/>
              <a:gd name="T67" fmla="*/ 71 h 98"/>
              <a:gd name="T68" fmla="*/ 5 w 143"/>
              <a:gd name="T69" fmla="*/ 66 h 98"/>
              <a:gd name="T70" fmla="*/ 3 w 143"/>
              <a:gd name="T71" fmla="*/ 61 h 98"/>
              <a:gd name="T72" fmla="*/ 3 w 143"/>
              <a:gd name="T73" fmla="*/ 55 h 98"/>
              <a:gd name="T74" fmla="*/ 0 w 143"/>
              <a:gd name="T75" fmla="*/ 56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43" h="98">
                <a:moveTo>
                  <a:pt x="143" y="41"/>
                </a:moveTo>
                <a:lnTo>
                  <a:pt x="141" y="36"/>
                </a:lnTo>
                <a:lnTo>
                  <a:pt x="139" y="30"/>
                </a:lnTo>
                <a:lnTo>
                  <a:pt x="138" y="25"/>
                </a:lnTo>
                <a:lnTo>
                  <a:pt x="136" y="20"/>
                </a:lnTo>
                <a:lnTo>
                  <a:pt x="133" y="15"/>
                </a:lnTo>
                <a:lnTo>
                  <a:pt x="131" y="10"/>
                </a:lnTo>
                <a:lnTo>
                  <a:pt x="128" y="5"/>
                </a:lnTo>
                <a:lnTo>
                  <a:pt x="123" y="0"/>
                </a:lnTo>
                <a:lnTo>
                  <a:pt x="119" y="2"/>
                </a:lnTo>
                <a:lnTo>
                  <a:pt x="124" y="7"/>
                </a:lnTo>
                <a:lnTo>
                  <a:pt x="128" y="10"/>
                </a:lnTo>
                <a:lnTo>
                  <a:pt x="131" y="15"/>
                </a:lnTo>
                <a:lnTo>
                  <a:pt x="133" y="20"/>
                </a:lnTo>
                <a:lnTo>
                  <a:pt x="134" y="26"/>
                </a:lnTo>
                <a:lnTo>
                  <a:pt x="136" y="31"/>
                </a:lnTo>
                <a:lnTo>
                  <a:pt x="138" y="38"/>
                </a:lnTo>
                <a:lnTo>
                  <a:pt x="139" y="43"/>
                </a:lnTo>
                <a:lnTo>
                  <a:pt x="143" y="41"/>
                </a:lnTo>
                <a:close/>
                <a:moveTo>
                  <a:pt x="0" y="56"/>
                </a:moveTo>
                <a:lnTo>
                  <a:pt x="2" y="61"/>
                </a:lnTo>
                <a:lnTo>
                  <a:pt x="2" y="68"/>
                </a:lnTo>
                <a:lnTo>
                  <a:pt x="3" y="73"/>
                </a:lnTo>
                <a:lnTo>
                  <a:pt x="7" y="78"/>
                </a:lnTo>
                <a:lnTo>
                  <a:pt x="8" y="83"/>
                </a:lnTo>
                <a:lnTo>
                  <a:pt x="12" y="88"/>
                </a:lnTo>
                <a:lnTo>
                  <a:pt x="15" y="93"/>
                </a:lnTo>
                <a:lnTo>
                  <a:pt x="18" y="98"/>
                </a:lnTo>
                <a:lnTo>
                  <a:pt x="22" y="96"/>
                </a:lnTo>
                <a:lnTo>
                  <a:pt x="18" y="91"/>
                </a:lnTo>
                <a:lnTo>
                  <a:pt x="15" y="88"/>
                </a:lnTo>
                <a:lnTo>
                  <a:pt x="12" y="83"/>
                </a:lnTo>
                <a:lnTo>
                  <a:pt x="10" y="78"/>
                </a:lnTo>
                <a:lnTo>
                  <a:pt x="7" y="71"/>
                </a:lnTo>
                <a:lnTo>
                  <a:pt x="5" y="66"/>
                </a:lnTo>
                <a:lnTo>
                  <a:pt x="3" y="61"/>
                </a:lnTo>
                <a:lnTo>
                  <a:pt x="3" y="55"/>
                </a:lnTo>
                <a:lnTo>
                  <a:pt x="0" y="56"/>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66" name="Freeform 2371">
            <a:extLst>
              <a:ext uri="{FF2B5EF4-FFF2-40B4-BE49-F238E27FC236}">
                <a16:creationId xmlns:a16="http://schemas.microsoft.com/office/drawing/2014/main" id="{7CFECCF1-A44D-B526-2892-D8109DEED142}"/>
              </a:ext>
            </a:extLst>
          </p:cNvPr>
          <p:cNvSpPr>
            <a:spLocks noEditPoints="1"/>
          </p:cNvSpPr>
          <p:nvPr/>
        </p:nvSpPr>
        <p:spPr bwMode="auto">
          <a:xfrm>
            <a:off x="3409950" y="2527300"/>
            <a:ext cx="220663" cy="149225"/>
          </a:xfrm>
          <a:custGeom>
            <a:avLst/>
            <a:gdLst>
              <a:gd name="T0" fmla="*/ 139 w 139"/>
              <a:gd name="T1" fmla="*/ 41 h 94"/>
              <a:gd name="T2" fmla="*/ 137 w 139"/>
              <a:gd name="T3" fmla="*/ 34 h 94"/>
              <a:gd name="T4" fmla="*/ 136 w 139"/>
              <a:gd name="T5" fmla="*/ 29 h 94"/>
              <a:gd name="T6" fmla="*/ 134 w 139"/>
              <a:gd name="T7" fmla="*/ 23 h 94"/>
              <a:gd name="T8" fmla="*/ 132 w 139"/>
              <a:gd name="T9" fmla="*/ 18 h 94"/>
              <a:gd name="T10" fmla="*/ 129 w 139"/>
              <a:gd name="T11" fmla="*/ 13 h 94"/>
              <a:gd name="T12" fmla="*/ 127 w 139"/>
              <a:gd name="T13" fmla="*/ 8 h 94"/>
              <a:gd name="T14" fmla="*/ 124 w 139"/>
              <a:gd name="T15" fmla="*/ 3 h 94"/>
              <a:gd name="T16" fmla="*/ 119 w 139"/>
              <a:gd name="T17" fmla="*/ 0 h 94"/>
              <a:gd name="T18" fmla="*/ 116 w 139"/>
              <a:gd name="T19" fmla="*/ 0 h 94"/>
              <a:gd name="T20" fmla="*/ 121 w 139"/>
              <a:gd name="T21" fmla="*/ 5 h 94"/>
              <a:gd name="T22" fmla="*/ 124 w 139"/>
              <a:gd name="T23" fmla="*/ 10 h 94"/>
              <a:gd name="T24" fmla="*/ 127 w 139"/>
              <a:gd name="T25" fmla="*/ 15 h 94"/>
              <a:gd name="T26" fmla="*/ 129 w 139"/>
              <a:gd name="T27" fmla="*/ 20 h 94"/>
              <a:gd name="T28" fmla="*/ 132 w 139"/>
              <a:gd name="T29" fmla="*/ 24 h 94"/>
              <a:gd name="T30" fmla="*/ 134 w 139"/>
              <a:gd name="T31" fmla="*/ 31 h 94"/>
              <a:gd name="T32" fmla="*/ 134 w 139"/>
              <a:gd name="T33" fmla="*/ 36 h 94"/>
              <a:gd name="T34" fmla="*/ 136 w 139"/>
              <a:gd name="T35" fmla="*/ 43 h 94"/>
              <a:gd name="T36" fmla="*/ 139 w 139"/>
              <a:gd name="T37" fmla="*/ 41 h 94"/>
              <a:gd name="T38" fmla="*/ 0 w 139"/>
              <a:gd name="T39" fmla="*/ 53 h 94"/>
              <a:gd name="T40" fmla="*/ 0 w 139"/>
              <a:gd name="T41" fmla="*/ 59 h 94"/>
              <a:gd name="T42" fmla="*/ 1 w 139"/>
              <a:gd name="T43" fmla="*/ 64 h 94"/>
              <a:gd name="T44" fmla="*/ 3 w 139"/>
              <a:gd name="T45" fmla="*/ 71 h 94"/>
              <a:gd name="T46" fmla="*/ 6 w 139"/>
              <a:gd name="T47" fmla="*/ 76 h 94"/>
              <a:gd name="T48" fmla="*/ 8 w 139"/>
              <a:gd name="T49" fmla="*/ 81 h 94"/>
              <a:gd name="T50" fmla="*/ 11 w 139"/>
              <a:gd name="T51" fmla="*/ 86 h 94"/>
              <a:gd name="T52" fmla="*/ 15 w 139"/>
              <a:gd name="T53" fmla="*/ 91 h 94"/>
              <a:gd name="T54" fmla="*/ 18 w 139"/>
              <a:gd name="T55" fmla="*/ 94 h 94"/>
              <a:gd name="T56" fmla="*/ 21 w 139"/>
              <a:gd name="T57" fmla="*/ 92 h 94"/>
              <a:gd name="T58" fmla="*/ 18 w 139"/>
              <a:gd name="T59" fmla="*/ 89 h 94"/>
              <a:gd name="T60" fmla="*/ 15 w 139"/>
              <a:gd name="T61" fmla="*/ 84 h 94"/>
              <a:gd name="T62" fmla="*/ 11 w 139"/>
              <a:gd name="T63" fmla="*/ 79 h 94"/>
              <a:gd name="T64" fmla="*/ 10 w 139"/>
              <a:gd name="T65" fmla="*/ 74 h 94"/>
              <a:gd name="T66" fmla="*/ 6 w 139"/>
              <a:gd name="T67" fmla="*/ 69 h 94"/>
              <a:gd name="T68" fmla="*/ 5 w 139"/>
              <a:gd name="T69" fmla="*/ 64 h 94"/>
              <a:gd name="T70" fmla="*/ 3 w 139"/>
              <a:gd name="T71" fmla="*/ 58 h 94"/>
              <a:gd name="T72" fmla="*/ 3 w 139"/>
              <a:gd name="T73" fmla="*/ 53 h 94"/>
              <a:gd name="T74" fmla="*/ 0 w 139"/>
              <a:gd name="T75" fmla="*/ 53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39" h="94">
                <a:moveTo>
                  <a:pt x="139" y="41"/>
                </a:moveTo>
                <a:lnTo>
                  <a:pt x="137" y="34"/>
                </a:lnTo>
                <a:lnTo>
                  <a:pt x="136" y="29"/>
                </a:lnTo>
                <a:lnTo>
                  <a:pt x="134" y="23"/>
                </a:lnTo>
                <a:lnTo>
                  <a:pt x="132" y="18"/>
                </a:lnTo>
                <a:lnTo>
                  <a:pt x="129" y="13"/>
                </a:lnTo>
                <a:lnTo>
                  <a:pt x="127" y="8"/>
                </a:lnTo>
                <a:lnTo>
                  <a:pt x="124" y="3"/>
                </a:lnTo>
                <a:lnTo>
                  <a:pt x="119" y="0"/>
                </a:lnTo>
                <a:lnTo>
                  <a:pt x="116" y="0"/>
                </a:lnTo>
                <a:lnTo>
                  <a:pt x="121" y="5"/>
                </a:lnTo>
                <a:lnTo>
                  <a:pt x="124" y="10"/>
                </a:lnTo>
                <a:lnTo>
                  <a:pt x="127" y="15"/>
                </a:lnTo>
                <a:lnTo>
                  <a:pt x="129" y="20"/>
                </a:lnTo>
                <a:lnTo>
                  <a:pt x="132" y="24"/>
                </a:lnTo>
                <a:lnTo>
                  <a:pt x="134" y="31"/>
                </a:lnTo>
                <a:lnTo>
                  <a:pt x="134" y="36"/>
                </a:lnTo>
                <a:lnTo>
                  <a:pt x="136" y="43"/>
                </a:lnTo>
                <a:lnTo>
                  <a:pt x="139" y="41"/>
                </a:lnTo>
                <a:close/>
                <a:moveTo>
                  <a:pt x="0" y="53"/>
                </a:moveTo>
                <a:lnTo>
                  <a:pt x="0" y="59"/>
                </a:lnTo>
                <a:lnTo>
                  <a:pt x="1" y="64"/>
                </a:lnTo>
                <a:lnTo>
                  <a:pt x="3" y="71"/>
                </a:lnTo>
                <a:lnTo>
                  <a:pt x="6" y="76"/>
                </a:lnTo>
                <a:lnTo>
                  <a:pt x="8" y="81"/>
                </a:lnTo>
                <a:lnTo>
                  <a:pt x="11" y="86"/>
                </a:lnTo>
                <a:lnTo>
                  <a:pt x="15" y="91"/>
                </a:lnTo>
                <a:lnTo>
                  <a:pt x="18" y="94"/>
                </a:lnTo>
                <a:lnTo>
                  <a:pt x="21" y="92"/>
                </a:lnTo>
                <a:lnTo>
                  <a:pt x="18" y="89"/>
                </a:lnTo>
                <a:lnTo>
                  <a:pt x="15" y="84"/>
                </a:lnTo>
                <a:lnTo>
                  <a:pt x="11" y="79"/>
                </a:lnTo>
                <a:lnTo>
                  <a:pt x="10" y="74"/>
                </a:lnTo>
                <a:lnTo>
                  <a:pt x="6" y="69"/>
                </a:lnTo>
                <a:lnTo>
                  <a:pt x="5" y="64"/>
                </a:lnTo>
                <a:lnTo>
                  <a:pt x="3" y="58"/>
                </a:lnTo>
                <a:lnTo>
                  <a:pt x="3" y="53"/>
                </a:lnTo>
                <a:lnTo>
                  <a:pt x="0" y="53"/>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67" name="Freeform 2372">
            <a:extLst>
              <a:ext uri="{FF2B5EF4-FFF2-40B4-BE49-F238E27FC236}">
                <a16:creationId xmlns:a16="http://schemas.microsoft.com/office/drawing/2014/main" id="{3B5F7C43-FEE6-4C58-D986-7EB4686D3F73}"/>
              </a:ext>
            </a:extLst>
          </p:cNvPr>
          <p:cNvSpPr>
            <a:spLocks noEditPoints="1"/>
          </p:cNvSpPr>
          <p:nvPr/>
        </p:nvSpPr>
        <p:spPr bwMode="auto">
          <a:xfrm>
            <a:off x="3411538" y="2527300"/>
            <a:ext cx="215900" cy="149225"/>
          </a:xfrm>
          <a:custGeom>
            <a:avLst/>
            <a:gdLst>
              <a:gd name="T0" fmla="*/ 136 w 136"/>
              <a:gd name="T1" fmla="*/ 41 h 94"/>
              <a:gd name="T2" fmla="*/ 135 w 136"/>
              <a:gd name="T3" fmla="*/ 36 h 94"/>
              <a:gd name="T4" fmla="*/ 133 w 136"/>
              <a:gd name="T5" fmla="*/ 29 h 94"/>
              <a:gd name="T6" fmla="*/ 131 w 136"/>
              <a:gd name="T7" fmla="*/ 24 h 94"/>
              <a:gd name="T8" fmla="*/ 130 w 136"/>
              <a:gd name="T9" fmla="*/ 18 h 94"/>
              <a:gd name="T10" fmla="*/ 128 w 136"/>
              <a:gd name="T11" fmla="*/ 13 h 94"/>
              <a:gd name="T12" fmla="*/ 125 w 136"/>
              <a:gd name="T13" fmla="*/ 8 h 94"/>
              <a:gd name="T14" fmla="*/ 121 w 136"/>
              <a:gd name="T15" fmla="*/ 5 h 94"/>
              <a:gd name="T16" fmla="*/ 116 w 136"/>
              <a:gd name="T17" fmla="*/ 0 h 94"/>
              <a:gd name="T18" fmla="*/ 115 w 136"/>
              <a:gd name="T19" fmla="*/ 1 h 94"/>
              <a:gd name="T20" fmla="*/ 118 w 136"/>
              <a:gd name="T21" fmla="*/ 5 h 94"/>
              <a:gd name="T22" fmla="*/ 121 w 136"/>
              <a:gd name="T23" fmla="*/ 10 h 94"/>
              <a:gd name="T24" fmla="*/ 125 w 136"/>
              <a:gd name="T25" fmla="*/ 15 h 94"/>
              <a:gd name="T26" fmla="*/ 126 w 136"/>
              <a:gd name="T27" fmla="*/ 20 h 94"/>
              <a:gd name="T28" fmla="*/ 130 w 136"/>
              <a:gd name="T29" fmla="*/ 26 h 94"/>
              <a:gd name="T30" fmla="*/ 131 w 136"/>
              <a:gd name="T31" fmla="*/ 31 h 94"/>
              <a:gd name="T32" fmla="*/ 131 w 136"/>
              <a:gd name="T33" fmla="*/ 38 h 94"/>
              <a:gd name="T34" fmla="*/ 133 w 136"/>
              <a:gd name="T35" fmla="*/ 43 h 94"/>
              <a:gd name="T36" fmla="*/ 136 w 136"/>
              <a:gd name="T37" fmla="*/ 41 h 94"/>
              <a:gd name="T38" fmla="*/ 0 w 136"/>
              <a:gd name="T39" fmla="*/ 53 h 94"/>
              <a:gd name="T40" fmla="*/ 0 w 136"/>
              <a:gd name="T41" fmla="*/ 59 h 94"/>
              <a:gd name="T42" fmla="*/ 2 w 136"/>
              <a:gd name="T43" fmla="*/ 64 h 94"/>
              <a:gd name="T44" fmla="*/ 4 w 136"/>
              <a:gd name="T45" fmla="*/ 69 h 94"/>
              <a:gd name="T46" fmla="*/ 7 w 136"/>
              <a:gd name="T47" fmla="*/ 76 h 94"/>
              <a:gd name="T48" fmla="*/ 9 w 136"/>
              <a:gd name="T49" fmla="*/ 81 h 94"/>
              <a:gd name="T50" fmla="*/ 12 w 136"/>
              <a:gd name="T51" fmla="*/ 86 h 94"/>
              <a:gd name="T52" fmla="*/ 15 w 136"/>
              <a:gd name="T53" fmla="*/ 89 h 94"/>
              <a:gd name="T54" fmla="*/ 19 w 136"/>
              <a:gd name="T55" fmla="*/ 94 h 94"/>
              <a:gd name="T56" fmla="*/ 22 w 136"/>
              <a:gd name="T57" fmla="*/ 92 h 94"/>
              <a:gd name="T58" fmla="*/ 19 w 136"/>
              <a:gd name="T59" fmla="*/ 87 h 94"/>
              <a:gd name="T60" fmla="*/ 15 w 136"/>
              <a:gd name="T61" fmla="*/ 84 h 94"/>
              <a:gd name="T62" fmla="*/ 12 w 136"/>
              <a:gd name="T63" fmla="*/ 79 h 94"/>
              <a:gd name="T64" fmla="*/ 9 w 136"/>
              <a:gd name="T65" fmla="*/ 74 h 94"/>
              <a:gd name="T66" fmla="*/ 7 w 136"/>
              <a:gd name="T67" fmla="*/ 69 h 94"/>
              <a:gd name="T68" fmla="*/ 5 w 136"/>
              <a:gd name="T69" fmla="*/ 63 h 94"/>
              <a:gd name="T70" fmla="*/ 4 w 136"/>
              <a:gd name="T71" fmla="*/ 58 h 94"/>
              <a:gd name="T72" fmla="*/ 4 w 136"/>
              <a:gd name="T73" fmla="*/ 51 h 94"/>
              <a:gd name="T74" fmla="*/ 0 w 136"/>
              <a:gd name="T75" fmla="*/ 53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36" h="94">
                <a:moveTo>
                  <a:pt x="136" y="41"/>
                </a:moveTo>
                <a:lnTo>
                  <a:pt x="135" y="36"/>
                </a:lnTo>
                <a:lnTo>
                  <a:pt x="133" y="29"/>
                </a:lnTo>
                <a:lnTo>
                  <a:pt x="131" y="24"/>
                </a:lnTo>
                <a:lnTo>
                  <a:pt x="130" y="18"/>
                </a:lnTo>
                <a:lnTo>
                  <a:pt x="128" y="13"/>
                </a:lnTo>
                <a:lnTo>
                  <a:pt x="125" y="8"/>
                </a:lnTo>
                <a:lnTo>
                  <a:pt x="121" y="5"/>
                </a:lnTo>
                <a:lnTo>
                  <a:pt x="116" y="0"/>
                </a:lnTo>
                <a:lnTo>
                  <a:pt x="115" y="1"/>
                </a:lnTo>
                <a:lnTo>
                  <a:pt x="118" y="5"/>
                </a:lnTo>
                <a:lnTo>
                  <a:pt x="121" y="10"/>
                </a:lnTo>
                <a:lnTo>
                  <a:pt x="125" y="15"/>
                </a:lnTo>
                <a:lnTo>
                  <a:pt x="126" y="20"/>
                </a:lnTo>
                <a:lnTo>
                  <a:pt x="130" y="26"/>
                </a:lnTo>
                <a:lnTo>
                  <a:pt x="131" y="31"/>
                </a:lnTo>
                <a:lnTo>
                  <a:pt x="131" y="38"/>
                </a:lnTo>
                <a:lnTo>
                  <a:pt x="133" y="43"/>
                </a:lnTo>
                <a:lnTo>
                  <a:pt x="136" y="41"/>
                </a:lnTo>
                <a:close/>
                <a:moveTo>
                  <a:pt x="0" y="53"/>
                </a:moveTo>
                <a:lnTo>
                  <a:pt x="0" y="59"/>
                </a:lnTo>
                <a:lnTo>
                  <a:pt x="2" y="64"/>
                </a:lnTo>
                <a:lnTo>
                  <a:pt x="4" y="69"/>
                </a:lnTo>
                <a:lnTo>
                  <a:pt x="7" y="76"/>
                </a:lnTo>
                <a:lnTo>
                  <a:pt x="9" y="81"/>
                </a:lnTo>
                <a:lnTo>
                  <a:pt x="12" y="86"/>
                </a:lnTo>
                <a:lnTo>
                  <a:pt x="15" y="89"/>
                </a:lnTo>
                <a:lnTo>
                  <a:pt x="19" y="94"/>
                </a:lnTo>
                <a:lnTo>
                  <a:pt x="22" y="92"/>
                </a:lnTo>
                <a:lnTo>
                  <a:pt x="19" y="87"/>
                </a:lnTo>
                <a:lnTo>
                  <a:pt x="15" y="84"/>
                </a:lnTo>
                <a:lnTo>
                  <a:pt x="12" y="79"/>
                </a:lnTo>
                <a:lnTo>
                  <a:pt x="9" y="74"/>
                </a:lnTo>
                <a:lnTo>
                  <a:pt x="7" y="69"/>
                </a:lnTo>
                <a:lnTo>
                  <a:pt x="5" y="63"/>
                </a:lnTo>
                <a:lnTo>
                  <a:pt x="4" y="58"/>
                </a:lnTo>
                <a:lnTo>
                  <a:pt x="4" y="51"/>
                </a:lnTo>
                <a:lnTo>
                  <a:pt x="0" y="53"/>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68" name="Freeform 2373">
            <a:extLst>
              <a:ext uri="{FF2B5EF4-FFF2-40B4-BE49-F238E27FC236}">
                <a16:creationId xmlns:a16="http://schemas.microsoft.com/office/drawing/2014/main" id="{A781DF6E-5E84-04ED-8079-6A5AE336360E}"/>
              </a:ext>
            </a:extLst>
          </p:cNvPr>
          <p:cNvSpPr>
            <a:spLocks noEditPoints="1"/>
          </p:cNvSpPr>
          <p:nvPr/>
        </p:nvSpPr>
        <p:spPr bwMode="auto">
          <a:xfrm>
            <a:off x="3414713" y="2527300"/>
            <a:ext cx="211138" cy="146050"/>
          </a:xfrm>
          <a:custGeom>
            <a:avLst/>
            <a:gdLst>
              <a:gd name="T0" fmla="*/ 133 w 133"/>
              <a:gd name="T1" fmla="*/ 43 h 92"/>
              <a:gd name="T2" fmla="*/ 131 w 133"/>
              <a:gd name="T3" fmla="*/ 36 h 92"/>
              <a:gd name="T4" fmla="*/ 131 w 133"/>
              <a:gd name="T5" fmla="*/ 31 h 92"/>
              <a:gd name="T6" fmla="*/ 129 w 133"/>
              <a:gd name="T7" fmla="*/ 24 h 92"/>
              <a:gd name="T8" fmla="*/ 126 w 133"/>
              <a:gd name="T9" fmla="*/ 20 h 92"/>
              <a:gd name="T10" fmla="*/ 124 w 133"/>
              <a:gd name="T11" fmla="*/ 15 h 92"/>
              <a:gd name="T12" fmla="*/ 121 w 133"/>
              <a:gd name="T13" fmla="*/ 10 h 92"/>
              <a:gd name="T14" fmla="*/ 118 w 133"/>
              <a:gd name="T15" fmla="*/ 5 h 92"/>
              <a:gd name="T16" fmla="*/ 113 w 133"/>
              <a:gd name="T17" fmla="*/ 0 h 92"/>
              <a:gd name="T18" fmla="*/ 111 w 133"/>
              <a:gd name="T19" fmla="*/ 1 h 92"/>
              <a:gd name="T20" fmla="*/ 114 w 133"/>
              <a:gd name="T21" fmla="*/ 6 h 92"/>
              <a:gd name="T22" fmla="*/ 118 w 133"/>
              <a:gd name="T23" fmla="*/ 11 h 92"/>
              <a:gd name="T24" fmla="*/ 121 w 133"/>
              <a:gd name="T25" fmla="*/ 16 h 92"/>
              <a:gd name="T26" fmla="*/ 123 w 133"/>
              <a:gd name="T27" fmla="*/ 21 h 92"/>
              <a:gd name="T28" fmla="*/ 126 w 133"/>
              <a:gd name="T29" fmla="*/ 26 h 92"/>
              <a:gd name="T30" fmla="*/ 128 w 133"/>
              <a:gd name="T31" fmla="*/ 31 h 92"/>
              <a:gd name="T32" fmla="*/ 128 w 133"/>
              <a:gd name="T33" fmla="*/ 38 h 92"/>
              <a:gd name="T34" fmla="*/ 129 w 133"/>
              <a:gd name="T35" fmla="*/ 44 h 92"/>
              <a:gd name="T36" fmla="*/ 133 w 133"/>
              <a:gd name="T37" fmla="*/ 43 h 92"/>
              <a:gd name="T38" fmla="*/ 0 w 133"/>
              <a:gd name="T39" fmla="*/ 53 h 92"/>
              <a:gd name="T40" fmla="*/ 0 w 133"/>
              <a:gd name="T41" fmla="*/ 58 h 92"/>
              <a:gd name="T42" fmla="*/ 2 w 133"/>
              <a:gd name="T43" fmla="*/ 64 h 92"/>
              <a:gd name="T44" fmla="*/ 3 w 133"/>
              <a:gd name="T45" fmla="*/ 69 h 92"/>
              <a:gd name="T46" fmla="*/ 7 w 133"/>
              <a:gd name="T47" fmla="*/ 74 h 92"/>
              <a:gd name="T48" fmla="*/ 8 w 133"/>
              <a:gd name="T49" fmla="*/ 79 h 92"/>
              <a:gd name="T50" fmla="*/ 12 w 133"/>
              <a:gd name="T51" fmla="*/ 84 h 92"/>
              <a:gd name="T52" fmla="*/ 15 w 133"/>
              <a:gd name="T53" fmla="*/ 89 h 92"/>
              <a:gd name="T54" fmla="*/ 18 w 133"/>
              <a:gd name="T55" fmla="*/ 92 h 92"/>
              <a:gd name="T56" fmla="*/ 22 w 133"/>
              <a:gd name="T57" fmla="*/ 91 h 92"/>
              <a:gd name="T58" fmla="*/ 18 w 133"/>
              <a:gd name="T59" fmla="*/ 87 h 92"/>
              <a:gd name="T60" fmla="*/ 15 w 133"/>
              <a:gd name="T61" fmla="*/ 82 h 92"/>
              <a:gd name="T62" fmla="*/ 12 w 133"/>
              <a:gd name="T63" fmla="*/ 77 h 92"/>
              <a:gd name="T64" fmla="*/ 8 w 133"/>
              <a:gd name="T65" fmla="*/ 73 h 92"/>
              <a:gd name="T66" fmla="*/ 7 w 133"/>
              <a:gd name="T67" fmla="*/ 68 h 92"/>
              <a:gd name="T68" fmla="*/ 5 w 133"/>
              <a:gd name="T69" fmla="*/ 63 h 92"/>
              <a:gd name="T70" fmla="*/ 3 w 133"/>
              <a:gd name="T71" fmla="*/ 56 h 92"/>
              <a:gd name="T72" fmla="*/ 3 w 133"/>
              <a:gd name="T73" fmla="*/ 51 h 92"/>
              <a:gd name="T74" fmla="*/ 0 w 133"/>
              <a:gd name="T75" fmla="*/ 53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33" h="92">
                <a:moveTo>
                  <a:pt x="133" y="43"/>
                </a:moveTo>
                <a:lnTo>
                  <a:pt x="131" y="36"/>
                </a:lnTo>
                <a:lnTo>
                  <a:pt x="131" y="31"/>
                </a:lnTo>
                <a:lnTo>
                  <a:pt x="129" y="24"/>
                </a:lnTo>
                <a:lnTo>
                  <a:pt x="126" y="20"/>
                </a:lnTo>
                <a:lnTo>
                  <a:pt x="124" y="15"/>
                </a:lnTo>
                <a:lnTo>
                  <a:pt x="121" y="10"/>
                </a:lnTo>
                <a:lnTo>
                  <a:pt x="118" y="5"/>
                </a:lnTo>
                <a:lnTo>
                  <a:pt x="113" y="0"/>
                </a:lnTo>
                <a:lnTo>
                  <a:pt x="111" y="1"/>
                </a:lnTo>
                <a:lnTo>
                  <a:pt x="114" y="6"/>
                </a:lnTo>
                <a:lnTo>
                  <a:pt x="118" y="11"/>
                </a:lnTo>
                <a:lnTo>
                  <a:pt x="121" y="16"/>
                </a:lnTo>
                <a:lnTo>
                  <a:pt x="123" y="21"/>
                </a:lnTo>
                <a:lnTo>
                  <a:pt x="126" y="26"/>
                </a:lnTo>
                <a:lnTo>
                  <a:pt x="128" y="31"/>
                </a:lnTo>
                <a:lnTo>
                  <a:pt x="128" y="38"/>
                </a:lnTo>
                <a:lnTo>
                  <a:pt x="129" y="44"/>
                </a:lnTo>
                <a:lnTo>
                  <a:pt x="133" y="43"/>
                </a:lnTo>
                <a:close/>
                <a:moveTo>
                  <a:pt x="0" y="53"/>
                </a:moveTo>
                <a:lnTo>
                  <a:pt x="0" y="58"/>
                </a:lnTo>
                <a:lnTo>
                  <a:pt x="2" y="64"/>
                </a:lnTo>
                <a:lnTo>
                  <a:pt x="3" y="69"/>
                </a:lnTo>
                <a:lnTo>
                  <a:pt x="7" y="74"/>
                </a:lnTo>
                <a:lnTo>
                  <a:pt x="8" y="79"/>
                </a:lnTo>
                <a:lnTo>
                  <a:pt x="12" y="84"/>
                </a:lnTo>
                <a:lnTo>
                  <a:pt x="15" y="89"/>
                </a:lnTo>
                <a:lnTo>
                  <a:pt x="18" y="92"/>
                </a:lnTo>
                <a:lnTo>
                  <a:pt x="22" y="91"/>
                </a:lnTo>
                <a:lnTo>
                  <a:pt x="18" y="87"/>
                </a:lnTo>
                <a:lnTo>
                  <a:pt x="15" y="82"/>
                </a:lnTo>
                <a:lnTo>
                  <a:pt x="12" y="77"/>
                </a:lnTo>
                <a:lnTo>
                  <a:pt x="8" y="73"/>
                </a:lnTo>
                <a:lnTo>
                  <a:pt x="7" y="68"/>
                </a:lnTo>
                <a:lnTo>
                  <a:pt x="5" y="63"/>
                </a:lnTo>
                <a:lnTo>
                  <a:pt x="3" y="56"/>
                </a:lnTo>
                <a:lnTo>
                  <a:pt x="3" y="51"/>
                </a:lnTo>
                <a:lnTo>
                  <a:pt x="0" y="53"/>
                </a:lnTo>
                <a:close/>
              </a:path>
            </a:pathLst>
          </a:custGeom>
          <a:solidFill>
            <a:srgbClr val="D3EBF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69" name="Freeform 2374">
            <a:extLst>
              <a:ext uri="{FF2B5EF4-FFF2-40B4-BE49-F238E27FC236}">
                <a16:creationId xmlns:a16="http://schemas.microsoft.com/office/drawing/2014/main" id="{28EF11B7-8529-EB82-9BE4-F931758B6383}"/>
              </a:ext>
            </a:extLst>
          </p:cNvPr>
          <p:cNvSpPr>
            <a:spLocks noEditPoints="1"/>
          </p:cNvSpPr>
          <p:nvPr/>
        </p:nvSpPr>
        <p:spPr bwMode="auto">
          <a:xfrm>
            <a:off x="3417888" y="2528888"/>
            <a:ext cx="204788" cy="144463"/>
          </a:xfrm>
          <a:custGeom>
            <a:avLst/>
            <a:gdLst>
              <a:gd name="T0" fmla="*/ 129 w 129"/>
              <a:gd name="T1" fmla="*/ 42 h 91"/>
              <a:gd name="T2" fmla="*/ 127 w 129"/>
              <a:gd name="T3" fmla="*/ 37 h 91"/>
              <a:gd name="T4" fmla="*/ 127 w 129"/>
              <a:gd name="T5" fmla="*/ 30 h 91"/>
              <a:gd name="T6" fmla="*/ 126 w 129"/>
              <a:gd name="T7" fmla="*/ 25 h 91"/>
              <a:gd name="T8" fmla="*/ 122 w 129"/>
              <a:gd name="T9" fmla="*/ 19 h 91"/>
              <a:gd name="T10" fmla="*/ 121 w 129"/>
              <a:gd name="T11" fmla="*/ 14 h 91"/>
              <a:gd name="T12" fmla="*/ 117 w 129"/>
              <a:gd name="T13" fmla="*/ 9 h 91"/>
              <a:gd name="T14" fmla="*/ 114 w 129"/>
              <a:gd name="T15" fmla="*/ 4 h 91"/>
              <a:gd name="T16" fmla="*/ 111 w 129"/>
              <a:gd name="T17" fmla="*/ 0 h 91"/>
              <a:gd name="T18" fmla="*/ 107 w 129"/>
              <a:gd name="T19" fmla="*/ 2 h 91"/>
              <a:gd name="T20" fmla="*/ 111 w 129"/>
              <a:gd name="T21" fmla="*/ 5 h 91"/>
              <a:gd name="T22" fmla="*/ 114 w 129"/>
              <a:gd name="T23" fmla="*/ 10 h 91"/>
              <a:gd name="T24" fmla="*/ 117 w 129"/>
              <a:gd name="T25" fmla="*/ 15 h 91"/>
              <a:gd name="T26" fmla="*/ 119 w 129"/>
              <a:gd name="T27" fmla="*/ 20 h 91"/>
              <a:gd name="T28" fmla="*/ 122 w 129"/>
              <a:gd name="T29" fmla="*/ 25 h 91"/>
              <a:gd name="T30" fmla="*/ 124 w 129"/>
              <a:gd name="T31" fmla="*/ 32 h 91"/>
              <a:gd name="T32" fmla="*/ 124 w 129"/>
              <a:gd name="T33" fmla="*/ 37 h 91"/>
              <a:gd name="T34" fmla="*/ 126 w 129"/>
              <a:gd name="T35" fmla="*/ 43 h 91"/>
              <a:gd name="T36" fmla="*/ 129 w 129"/>
              <a:gd name="T37" fmla="*/ 42 h 91"/>
              <a:gd name="T38" fmla="*/ 0 w 129"/>
              <a:gd name="T39" fmla="*/ 50 h 91"/>
              <a:gd name="T40" fmla="*/ 0 w 129"/>
              <a:gd name="T41" fmla="*/ 57 h 91"/>
              <a:gd name="T42" fmla="*/ 1 w 129"/>
              <a:gd name="T43" fmla="*/ 62 h 91"/>
              <a:gd name="T44" fmla="*/ 3 w 129"/>
              <a:gd name="T45" fmla="*/ 68 h 91"/>
              <a:gd name="T46" fmla="*/ 5 w 129"/>
              <a:gd name="T47" fmla="*/ 73 h 91"/>
              <a:gd name="T48" fmla="*/ 8 w 129"/>
              <a:gd name="T49" fmla="*/ 78 h 91"/>
              <a:gd name="T50" fmla="*/ 11 w 129"/>
              <a:gd name="T51" fmla="*/ 83 h 91"/>
              <a:gd name="T52" fmla="*/ 15 w 129"/>
              <a:gd name="T53" fmla="*/ 86 h 91"/>
              <a:gd name="T54" fmla="*/ 18 w 129"/>
              <a:gd name="T55" fmla="*/ 91 h 91"/>
              <a:gd name="T56" fmla="*/ 21 w 129"/>
              <a:gd name="T57" fmla="*/ 90 h 91"/>
              <a:gd name="T58" fmla="*/ 18 w 129"/>
              <a:gd name="T59" fmla="*/ 86 h 91"/>
              <a:gd name="T60" fmla="*/ 15 w 129"/>
              <a:gd name="T61" fmla="*/ 81 h 91"/>
              <a:gd name="T62" fmla="*/ 11 w 129"/>
              <a:gd name="T63" fmla="*/ 76 h 91"/>
              <a:gd name="T64" fmla="*/ 8 w 129"/>
              <a:gd name="T65" fmla="*/ 72 h 91"/>
              <a:gd name="T66" fmla="*/ 6 w 129"/>
              <a:gd name="T67" fmla="*/ 67 h 91"/>
              <a:gd name="T68" fmla="*/ 5 w 129"/>
              <a:gd name="T69" fmla="*/ 60 h 91"/>
              <a:gd name="T70" fmla="*/ 3 w 129"/>
              <a:gd name="T71" fmla="*/ 55 h 91"/>
              <a:gd name="T72" fmla="*/ 3 w 129"/>
              <a:gd name="T73" fmla="*/ 48 h 91"/>
              <a:gd name="T74" fmla="*/ 0 w 129"/>
              <a:gd name="T75" fmla="*/ 5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9" h="91">
                <a:moveTo>
                  <a:pt x="129" y="42"/>
                </a:moveTo>
                <a:lnTo>
                  <a:pt x="127" y="37"/>
                </a:lnTo>
                <a:lnTo>
                  <a:pt x="127" y="30"/>
                </a:lnTo>
                <a:lnTo>
                  <a:pt x="126" y="25"/>
                </a:lnTo>
                <a:lnTo>
                  <a:pt x="122" y="19"/>
                </a:lnTo>
                <a:lnTo>
                  <a:pt x="121" y="14"/>
                </a:lnTo>
                <a:lnTo>
                  <a:pt x="117" y="9"/>
                </a:lnTo>
                <a:lnTo>
                  <a:pt x="114" y="4"/>
                </a:lnTo>
                <a:lnTo>
                  <a:pt x="111" y="0"/>
                </a:lnTo>
                <a:lnTo>
                  <a:pt x="107" y="2"/>
                </a:lnTo>
                <a:lnTo>
                  <a:pt x="111" y="5"/>
                </a:lnTo>
                <a:lnTo>
                  <a:pt x="114" y="10"/>
                </a:lnTo>
                <a:lnTo>
                  <a:pt x="117" y="15"/>
                </a:lnTo>
                <a:lnTo>
                  <a:pt x="119" y="20"/>
                </a:lnTo>
                <a:lnTo>
                  <a:pt x="122" y="25"/>
                </a:lnTo>
                <a:lnTo>
                  <a:pt x="124" y="32"/>
                </a:lnTo>
                <a:lnTo>
                  <a:pt x="124" y="37"/>
                </a:lnTo>
                <a:lnTo>
                  <a:pt x="126" y="43"/>
                </a:lnTo>
                <a:lnTo>
                  <a:pt x="129" y="42"/>
                </a:lnTo>
                <a:close/>
                <a:moveTo>
                  <a:pt x="0" y="50"/>
                </a:moveTo>
                <a:lnTo>
                  <a:pt x="0" y="57"/>
                </a:lnTo>
                <a:lnTo>
                  <a:pt x="1" y="62"/>
                </a:lnTo>
                <a:lnTo>
                  <a:pt x="3" y="68"/>
                </a:lnTo>
                <a:lnTo>
                  <a:pt x="5" y="73"/>
                </a:lnTo>
                <a:lnTo>
                  <a:pt x="8" y="78"/>
                </a:lnTo>
                <a:lnTo>
                  <a:pt x="11" y="83"/>
                </a:lnTo>
                <a:lnTo>
                  <a:pt x="15" y="86"/>
                </a:lnTo>
                <a:lnTo>
                  <a:pt x="18" y="91"/>
                </a:lnTo>
                <a:lnTo>
                  <a:pt x="21" y="90"/>
                </a:lnTo>
                <a:lnTo>
                  <a:pt x="18" y="86"/>
                </a:lnTo>
                <a:lnTo>
                  <a:pt x="15" y="81"/>
                </a:lnTo>
                <a:lnTo>
                  <a:pt x="11" y="76"/>
                </a:lnTo>
                <a:lnTo>
                  <a:pt x="8" y="72"/>
                </a:lnTo>
                <a:lnTo>
                  <a:pt x="6" y="67"/>
                </a:lnTo>
                <a:lnTo>
                  <a:pt x="5" y="60"/>
                </a:lnTo>
                <a:lnTo>
                  <a:pt x="3" y="55"/>
                </a:lnTo>
                <a:lnTo>
                  <a:pt x="3" y="48"/>
                </a:lnTo>
                <a:lnTo>
                  <a:pt x="0" y="5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70" name="Freeform 2375">
            <a:extLst>
              <a:ext uri="{FF2B5EF4-FFF2-40B4-BE49-F238E27FC236}">
                <a16:creationId xmlns:a16="http://schemas.microsoft.com/office/drawing/2014/main" id="{B7EFFDBC-F718-774E-4EBE-FB0900F6BCBE}"/>
              </a:ext>
            </a:extLst>
          </p:cNvPr>
          <p:cNvSpPr>
            <a:spLocks noEditPoints="1"/>
          </p:cNvSpPr>
          <p:nvPr/>
        </p:nvSpPr>
        <p:spPr bwMode="auto">
          <a:xfrm>
            <a:off x="3419475" y="2528888"/>
            <a:ext cx="200025" cy="142875"/>
          </a:xfrm>
          <a:custGeom>
            <a:avLst/>
            <a:gdLst>
              <a:gd name="T0" fmla="*/ 126 w 126"/>
              <a:gd name="T1" fmla="*/ 43 h 90"/>
              <a:gd name="T2" fmla="*/ 125 w 126"/>
              <a:gd name="T3" fmla="*/ 37 h 90"/>
              <a:gd name="T4" fmla="*/ 125 w 126"/>
              <a:gd name="T5" fmla="*/ 30 h 90"/>
              <a:gd name="T6" fmla="*/ 123 w 126"/>
              <a:gd name="T7" fmla="*/ 25 h 90"/>
              <a:gd name="T8" fmla="*/ 120 w 126"/>
              <a:gd name="T9" fmla="*/ 20 h 90"/>
              <a:gd name="T10" fmla="*/ 118 w 126"/>
              <a:gd name="T11" fmla="*/ 15 h 90"/>
              <a:gd name="T12" fmla="*/ 115 w 126"/>
              <a:gd name="T13" fmla="*/ 10 h 90"/>
              <a:gd name="T14" fmla="*/ 111 w 126"/>
              <a:gd name="T15" fmla="*/ 5 h 90"/>
              <a:gd name="T16" fmla="*/ 108 w 126"/>
              <a:gd name="T17" fmla="*/ 0 h 90"/>
              <a:gd name="T18" fmla="*/ 105 w 126"/>
              <a:gd name="T19" fmla="*/ 2 h 90"/>
              <a:gd name="T20" fmla="*/ 108 w 126"/>
              <a:gd name="T21" fmla="*/ 7 h 90"/>
              <a:gd name="T22" fmla="*/ 111 w 126"/>
              <a:gd name="T23" fmla="*/ 10 h 90"/>
              <a:gd name="T24" fmla="*/ 115 w 126"/>
              <a:gd name="T25" fmla="*/ 15 h 90"/>
              <a:gd name="T26" fmla="*/ 118 w 126"/>
              <a:gd name="T27" fmla="*/ 22 h 90"/>
              <a:gd name="T28" fmla="*/ 120 w 126"/>
              <a:gd name="T29" fmla="*/ 27 h 90"/>
              <a:gd name="T30" fmla="*/ 121 w 126"/>
              <a:gd name="T31" fmla="*/ 32 h 90"/>
              <a:gd name="T32" fmla="*/ 121 w 126"/>
              <a:gd name="T33" fmla="*/ 38 h 90"/>
              <a:gd name="T34" fmla="*/ 123 w 126"/>
              <a:gd name="T35" fmla="*/ 43 h 90"/>
              <a:gd name="T36" fmla="*/ 126 w 126"/>
              <a:gd name="T37" fmla="*/ 43 h 90"/>
              <a:gd name="T38" fmla="*/ 0 w 126"/>
              <a:gd name="T39" fmla="*/ 50 h 90"/>
              <a:gd name="T40" fmla="*/ 0 w 126"/>
              <a:gd name="T41" fmla="*/ 55 h 90"/>
              <a:gd name="T42" fmla="*/ 2 w 126"/>
              <a:gd name="T43" fmla="*/ 62 h 90"/>
              <a:gd name="T44" fmla="*/ 4 w 126"/>
              <a:gd name="T45" fmla="*/ 67 h 90"/>
              <a:gd name="T46" fmla="*/ 5 w 126"/>
              <a:gd name="T47" fmla="*/ 72 h 90"/>
              <a:gd name="T48" fmla="*/ 9 w 126"/>
              <a:gd name="T49" fmla="*/ 76 h 90"/>
              <a:gd name="T50" fmla="*/ 12 w 126"/>
              <a:gd name="T51" fmla="*/ 81 h 90"/>
              <a:gd name="T52" fmla="*/ 15 w 126"/>
              <a:gd name="T53" fmla="*/ 86 h 90"/>
              <a:gd name="T54" fmla="*/ 19 w 126"/>
              <a:gd name="T55" fmla="*/ 90 h 90"/>
              <a:gd name="T56" fmla="*/ 22 w 126"/>
              <a:gd name="T57" fmla="*/ 90 h 90"/>
              <a:gd name="T58" fmla="*/ 19 w 126"/>
              <a:gd name="T59" fmla="*/ 85 h 90"/>
              <a:gd name="T60" fmla="*/ 15 w 126"/>
              <a:gd name="T61" fmla="*/ 80 h 90"/>
              <a:gd name="T62" fmla="*/ 12 w 126"/>
              <a:gd name="T63" fmla="*/ 76 h 90"/>
              <a:gd name="T64" fmla="*/ 9 w 126"/>
              <a:gd name="T65" fmla="*/ 72 h 90"/>
              <a:gd name="T66" fmla="*/ 7 w 126"/>
              <a:gd name="T67" fmla="*/ 65 h 90"/>
              <a:gd name="T68" fmla="*/ 5 w 126"/>
              <a:gd name="T69" fmla="*/ 60 h 90"/>
              <a:gd name="T70" fmla="*/ 4 w 126"/>
              <a:gd name="T71" fmla="*/ 53 h 90"/>
              <a:gd name="T72" fmla="*/ 4 w 126"/>
              <a:gd name="T73" fmla="*/ 48 h 90"/>
              <a:gd name="T74" fmla="*/ 0 w 126"/>
              <a:gd name="T75" fmla="*/ 5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6" h="90">
                <a:moveTo>
                  <a:pt x="126" y="43"/>
                </a:moveTo>
                <a:lnTo>
                  <a:pt x="125" y="37"/>
                </a:lnTo>
                <a:lnTo>
                  <a:pt x="125" y="30"/>
                </a:lnTo>
                <a:lnTo>
                  <a:pt x="123" y="25"/>
                </a:lnTo>
                <a:lnTo>
                  <a:pt x="120" y="20"/>
                </a:lnTo>
                <a:lnTo>
                  <a:pt x="118" y="15"/>
                </a:lnTo>
                <a:lnTo>
                  <a:pt x="115" y="10"/>
                </a:lnTo>
                <a:lnTo>
                  <a:pt x="111" y="5"/>
                </a:lnTo>
                <a:lnTo>
                  <a:pt x="108" y="0"/>
                </a:lnTo>
                <a:lnTo>
                  <a:pt x="105" y="2"/>
                </a:lnTo>
                <a:lnTo>
                  <a:pt x="108" y="7"/>
                </a:lnTo>
                <a:lnTo>
                  <a:pt x="111" y="10"/>
                </a:lnTo>
                <a:lnTo>
                  <a:pt x="115" y="15"/>
                </a:lnTo>
                <a:lnTo>
                  <a:pt x="118" y="22"/>
                </a:lnTo>
                <a:lnTo>
                  <a:pt x="120" y="27"/>
                </a:lnTo>
                <a:lnTo>
                  <a:pt x="121" y="32"/>
                </a:lnTo>
                <a:lnTo>
                  <a:pt x="121" y="38"/>
                </a:lnTo>
                <a:lnTo>
                  <a:pt x="123" y="43"/>
                </a:lnTo>
                <a:lnTo>
                  <a:pt x="126" y="43"/>
                </a:lnTo>
                <a:close/>
                <a:moveTo>
                  <a:pt x="0" y="50"/>
                </a:moveTo>
                <a:lnTo>
                  <a:pt x="0" y="55"/>
                </a:lnTo>
                <a:lnTo>
                  <a:pt x="2" y="62"/>
                </a:lnTo>
                <a:lnTo>
                  <a:pt x="4" y="67"/>
                </a:lnTo>
                <a:lnTo>
                  <a:pt x="5" y="72"/>
                </a:lnTo>
                <a:lnTo>
                  <a:pt x="9" y="76"/>
                </a:lnTo>
                <a:lnTo>
                  <a:pt x="12" y="81"/>
                </a:lnTo>
                <a:lnTo>
                  <a:pt x="15" y="86"/>
                </a:lnTo>
                <a:lnTo>
                  <a:pt x="19" y="90"/>
                </a:lnTo>
                <a:lnTo>
                  <a:pt x="22" y="90"/>
                </a:lnTo>
                <a:lnTo>
                  <a:pt x="19" y="85"/>
                </a:lnTo>
                <a:lnTo>
                  <a:pt x="15" y="80"/>
                </a:lnTo>
                <a:lnTo>
                  <a:pt x="12" y="76"/>
                </a:lnTo>
                <a:lnTo>
                  <a:pt x="9" y="72"/>
                </a:lnTo>
                <a:lnTo>
                  <a:pt x="7" y="65"/>
                </a:lnTo>
                <a:lnTo>
                  <a:pt x="5" y="60"/>
                </a:lnTo>
                <a:lnTo>
                  <a:pt x="4" y="53"/>
                </a:lnTo>
                <a:lnTo>
                  <a:pt x="4" y="48"/>
                </a:lnTo>
                <a:lnTo>
                  <a:pt x="0" y="50"/>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71" name="Freeform 2376">
            <a:extLst>
              <a:ext uri="{FF2B5EF4-FFF2-40B4-BE49-F238E27FC236}">
                <a16:creationId xmlns:a16="http://schemas.microsoft.com/office/drawing/2014/main" id="{8D3D39AE-93BB-2E49-5FE1-AC6610516DE9}"/>
              </a:ext>
            </a:extLst>
          </p:cNvPr>
          <p:cNvSpPr>
            <a:spLocks noEditPoints="1"/>
          </p:cNvSpPr>
          <p:nvPr/>
        </p:nvSpPr>
        <p:spPr bwMode="auto">
          <a:xfrm>
            <a:off x="3422650" y="2532063"/>
            <a:ext cx="195263" cy="139700"/>
          </a:xfrm>
          <a:custGeom>
            <a:avLst/>
            <a:gdLst>
              <a:gd name="T0" fmla="*/ 123 w 123"/>
              <a:gd name="T1" fmla="*/ 41 h 88"/>
              <a:gd name="T2" fmla="*/ 121 w 123"/>
              <a:gd name="T3" fmla="*/ 35 h 88"/>
              <a:gd name="T4" fmla="*/ 121 w 123"/>
              <a:gd name="T5" fmla="*/ 30 h 88"/>
              <a:gd name="T6" fmla="*/ 119 w 123"/>
              <a:gd name="T7" fmla="*/ 23 h 88"/>
              <a:gd name="T8" fmla="*/ 116 w 123"/>
              <a:gd name="T9" fmla="*/ 18 h 88"/>
              <a:gd name="T10" fmla="*/ 114 w 123"/>
              <a:gd name="T11" fmla="*/ 13 h 88"/>
              <a:gd name="T12" fmla="*/ 111 w 123"/>
              <a:gd name="T13" fmla="*/ 8 h 88"/>
              <a:gd name="T14" fmla="*/ 108 w 123"/>
              <a:gd name="T15" fmla="*/ 3 h 88"/>
              <a:gd name="T16" fmla="*/ 104 w 123"/>
              <a:gd name="T17" fmla="*/ 0 h 88"/>
              <a:gd name="T18" fmla="*/ 101 w 123"/>
              <a:gd name="T19" fmla="*/ 2 h 88"/>
              <a:gd name="T20" fmla="*/ 104 w 123"/>
              <a:gd name="T21" fmla="*/ 5 h 88"/>
              <a:gd name="T22" fmla="*/ 108 w 123"/>
              <a:gd name="T23" fmla="*/ 10 h 88"/>
              <a:gd name="T24" fmla="*/ 111 w 123"/>
              <a:gd name="T25" fmla="*/ 15 h 88"/>
              <a:gd name="T26" fmla="*/ 114 w 123"/>
              <a:gd name="T27" fmla="*/ 20 h 88"/>
              <a:gd name="T28" fmla="*/ 116 w 123"/>
              <a:gd name="T29" fmla="*/ 25 h 88"/>
              <a:gd name="T30" fmla="*/ 118 w 123"/>
              <a:gd name="T31" fmla="*/ 31 h 88"/>
              <a:gd name="T32" fmla="*/ 118 w 123"/>
              <a:gd name="T33" fmla="*/ 36 h 88"/>
              <a:gd name="T34" fmla="*/ 119 w 123"/>
              <a:gd name="T35" fmla="*/ 43 h 88"/>
              <a:gd name="T36" fmla="*/ 123 w 123"/>
              <a:gd name="T37" fmla="*/ 41 h 88"/>
              <a:gd name="T38" fmla="*/ 0 w 123"/>
              <a:gd name="T39" fmla="*/ 46 h 88"/>
              <a:gd name="T40" fmla="*/ 0 w 123"/>
              <a:gd name="T41" fmla="*/ 53 h 88"/>
              <a:gd name="T42" fmla="*/ 2 w 123"/>
              <a:gd name="T43" fmla="*/ 58 h 88"/>
              <a:gd name="T44" fmla="*/ 3 w 123"/>
              <a:gd name="T45" fmla="*/ 65 h 88"/>
              <a:gd name="T46" fmla="*/ 5 w 123"/>
              <a:gd name="T47" fmla="*/ 70 h 88"/>
              <a:gd name="T48" fmla="*/ 8 w 123"/>
              <a:gd name="T49" fmla="*/ 74 h 88"/>
              <a:gd name="T50" fmla="*/ 12 w 123"/>
              <a:gd name="T51" fmla="*/ 79 h 88"/>
              <a:gd name="T52" fmla="*/ 15 w 123"/>
              <a:gd name="T53" fmla="*/ 84 h 88"/>
              <a:gd name="T54" fmla="*/ 18 w 123"/>
              <a:gd name="T55" fmla="*/ 88 h 88"/>
              <a:gd name="T56" fmla="*/ 22 w 123"/>
              <a:gd name="T57" fmla="*/ 86 h 88"/>
              <a:gd name="T58" fmla="*/ 18 w 123"/>
              <a:gd name="T59" fmla="*/ 83 h 88"/>
              <a:gd name="T60" fmla="*/ 15 w 123"/>
              <a:gd name="T61" fmla="*/ 78 h 88"/>
              <a:gd name="T62" fmla="*/ 12 w 123"/>
              <a:gd name="T63" fmla="*/ 73 h 88"/>
              <a:gd name="T64" fmla="*/ 8 w 123"/>
              <a:gd name="T65" fmla="*/ 68 h 88"/>
              <a:gd name="T66" fmla="*/ 7 w 123"/>
              <a:gd name="T67" fmla="*/ 63 h 88"/>
              <a:gd name="T68" fmla="*/ 5 w 123"/>
              <a:gd name="T69" fmla="*/ 58 h 88"/>
              <a:gd name="T70" fmla="*/ 3 w 123"/>
              <a:gd name="T71" fmla="*/ 51 h 88"/>
              <a:gd name="T72" fmla="*/ 3 w 123"/>
              <a:gd name="T73" fmla="*/ 45 h 88"/>
              <a:gd name="T74" fmla="*/ 0 w 123"/>
              <a:gd name="T75" fmla="*/ 4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88">
                <a:moveTo>
                  <a:pt x="123" y="41"/>
                </a:moveTo>
                <a:lnTo>
                  <a:pt x="121" y="35"/>
                </a:lnTo>
                <a:lnTo>
                  <a:pt x="121" y="30"/>
                </a:lnTo>
                <a:lnTo>
                  <a:pt x="119" y="23"/>
                </a:lnTo>
                <a:lnTo>
                  <a:pt x="116" y="18"/>
                </a:lnTo>
                <a:lnTo>
                  <a:pt x="114" y="13"/>
                </a:lnTo>
                <a:lnTo>
                  <a:pt x="111" y="8"/>
                </a:lnTo>
                <a:lnTo>
                  <a:pt x="108" y="3"/>
                </a:lnTo>
                <a:lnTo>
                  <a:pt x="104" y="0"/>
                </a:lnTo>
                <a:lnTo>
                  <a:pt x="101" y="2"/>
                </a:lnTo>
                <a:lnTo>
                  <a:pt x="104" y="5"/>
                </a:lnTo>
                <a:lnTo>
                  <a:pt x="108" y="10"/>
                </a:lnTo>
                <a:lnTo>
                  <a:pt x="111" y="15"/>
                </a:lnTo>
                <a:lnTo>
                  <a:pt x="114" y="20"/>
                </a:lnTo>
                <a:lnTo>
                  <a:pt x="116" y="25"/>
                </a:lnTo>
                <a:lnTo>
                  <a:pt x="118" y="31"/>
                </a:lnTo>
                <a:lnTo>
                  <a:pt x="118" y="36"/>
                </a:lnTo>
                <a:lnTo>
                  <a:pt x="119" y="43"/>
                </a:lnTo>
                <a:lnTo>
                  <a:pt x="123" y="41"/>
                </a:lnTo>
                <a:close/>
                <a:moveTo>
                  <a:pt x="0" y="46"/>
                </a:moveTo>
                <a:lnTo>
                  <a:pt x="0" y="53"/>
                </a:lnTo>
                <a:lnTo>
                  <a:pt x="2" y="58"/>
                </a:lnTo>
                <a:lnTo>
                  <a:pt x="3" y="65"/>
                </a:lnTo>
                <a:lnTo>
                  <a:pt x="5" y="70"/>
                </a:lnTo>
                <a:lnTo>
                  <a:pt x="8" y="74"/>
                </a:lnTo>
                <a:lnTo>
                  <a:pt x="12" y="79"/>
                </a:lnTo>
                <a:lnTo>
                  <a:pt x="15" y="84"/>
                </a:lnTo>
                <a:lnTo>
                  <a:pt x="18" y="88"/>
                </a:lnTo>
                <a:lnTo>
                  <a:pt x="22" y="86"/>
                </a:lnTo>
                <a:lnTo>
                  <a:pt x="18" y="83"/>
                </a:lnTo>
                <a:lnTo>
                  <a:pt x="15" y="78"/>
                </a:lnTo>
                <a:lnTo>
                  <a:pt x="12" y="73"/>
                </a:lnTo>
                <a:lnTo>
                  <a:pt x="8" y="68"/>
                </a:lnTo>
                <a:lnTo>
                  <a:pt x="7" y="63"/>
                </a:lnTo>
                <a:lnTo>
                  <a:pt x="5" y="58"/>
                </a:lnTo>
                <a:lnTo>
                  <a:pt x="3" y="51"/>
                </a:lnTo>
                <a:lnTo>
                  <a:pt x="3" y="45"/>
                </a:lnTo>
                <a:lnTo>
                  <a:pt x="0" y="46"/>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72" name="Freeform 2377">
            <a:extLst>
              <a:ext uri="{FF2B5EF4-FFF2-40B4-BE49-F238E27FC236}">
                <a16:creationId xmlns:a16="http://schemas.microsoft.com/office/drawing/2014/main" id="{6B62CFF9-5C7A-7AA0-9DD9-33EC9982B403}"/>
              </a:ext>
            </a:extLst>
          </p:cNvPr>
          <p:cNvSpPr>
            <a:spLocks noEditPoints="1"/>
          </p:cNvSpPr>
          <p:nvPr/>
        </p:nvSpPr>
        <p:spPr bwMode="auto">
          <a:xfrm>
            <a:off x="3425825" y="2532063"/>
            <a:ext cx="188913" cy="139700"/>
          </a:xfrm>
          <a:custGeom>
            <a:avLst/>
            <a:gdLst>
              <a:gd name="T0" fmla="*/ 119 w 119"/>
              <a:gd name="T1" fmla="*/ 41 h 88"/>
              <a:gd name="T2" fmla="*/ 117 w 119"/>
              <a:gd name="T3" fmla="*/ 36 h 88"/>
              <a:gd name="T4" fmla="*/ 117 w 119"/>
              <a:gd name="T5" fmla="*/ 30 h 88"/>
              <a:gd name="T6" fmla="*/ 116 w 119"/>
              <a:gd name="T7" fmla="*/ 25 h 88"/>
              <a:gd name="T8" fmla="*/ 114 w 119"/>
              <a:gd name="T9" fmla="*/ 20 h 88"/>
              <a:gd name="T10" fmla="*/ 111 w 119"/>
              <a:gd name="T11" fmla="*/ 13 h 88"/>
              <a:gd name="T12" fmla="*/ 107 w 119"/>
              <a:gd name="T13" fmla="*/ 8 h 88"/>
              <a:gd name="T14" fmla="*/ 104 w 119"/>
              <a:gd name="T15" fmla="*/ 5 h 88"/>
              <a:gd name="T16" fmla="*/ 101 w 119"/>
              <a:gd name="T17" fmla="*/ 0 h 88"/>
              <a:gd name="T18" fmla="*/ 97 w 119"/>
              <a:gd name="T19" fmla="*/ 2 h 88"/>
              <a:gd name="T20" fmla="*/ 101 w 119"/>
              <a:gd name="T21" fmla="*/ 7 h 88"/>
              <a:gd name="T22" fmla="*/ 104 w 119"/>
              <a:gd name="T23" fmla="*/ 10 h 88"/>
              <a:gd name="T24" fmla="*/ 107 w 119"/>
              <a:gd name="T25" fmla="*/ 15 h 88"/>
              <a:gd name="T26" fmla="*/ 111 w 119"/>
              <a:gd name="T27" fmla="*/ 20 h 88"/>
              <a:gd name="T28" fmla="*/ 112 w 119"/>
              <a:gd name="T29" fmla="*/ 25 h 88"/>
              <a:gd name="T30" fmla="*/ 114 w 119"/>
              <a:gd name="T31" fmla="*/ 31 h 88"/>
              <a:gd name="T32" fmla="*/ 114 w 119"/>
              <a:gd name="T33" fmla="*/ 36 h 88"/>
              <a:gd name="T34" fmla="*/ 116 w 119"/>
              <a:gd name="T35" fmla="*/ 43 h 88"/>
              <a:gd name="T36" fmla="*/ 119 w 119"/>
              <a:gd name="T37" fmla="*/ 41 h 88"/>
              <a:gd name="T38" fmla="*/ 0 w 119"/>
              <a:gd name="T39" fmla="*/ 46 h 88"/>
              <a:gd name="T40" fmla="*/ 0 w 119"/>
              <a:gd name="T41" fmla="*/ 51 h 88"/>
              <a:gd name="T42" fmla="*/ 1 w 119"/>
              <a:gd name="T43" fmla="*/ 58 h 88"/>
              <a:gd name="T44" fmla="*/ 3 w 119"/>
              <a:gd name="T45" fmla="*/ 63 h 88"/>
              <a:gd name="T46" fmla="*/ 5 w 119"/>
              <a:gd name="T47" fmla="*/ 70 h 88"/>
              <a:gd name="T48" fmla="*/ 8 w 119"/>
              <a:gd name="T49" fmla="*/ 74 h 88"/>
              <a:gd name="T50" fmla="*/ 11 w 119"/>
              <a:gd name="T51" fmla="*/ 78 h 88"/>
              <a:gd name="T52" fmla="*/ 15 w 119"/>
              <a:gd name="T53" fmla="*/ 83 h 88"/>
              <a:gd name="T54" fmla="*/ 18 w 119"/>
              <a:gd name="T55" fmla="*/ 88 h 88"/>
              <a:gd name="T56" fmla="*/ 21 w 119"/>
              <a:gd name="T57" fmla="*/ 86 h 88"/>
              <a:gd name="T58" fmla="*/ 18 w 119"/>
              <a:gd name="T59" fmla="*/ 81 h 88"/>
              <a:gd name="T60" fmla="*/ 15 w 119"/>
              <a:gd name="T61" fmla="*/ 78 h 88"/>
              <a:gd name="T62" fmla="*/ 11 w 119"/>
              <a:gd name="T63" fmla="*/ 73 h 88"/>
              <a:gd name="T64" fmla="*/ 8 w 119"/>
              <a:gd name="T65" fmla="*/ 68 h 88"/>
              <a:gd name="T66" fmla="*/ 6 w 119"/>
              <a:gd name="T67" fmla="*/ 61 h 88"/>
              <a:gd name="T68" fmla="*/ 5 w 119"/>
              <a:gd name="T69" fmla="*/ 56 h 88"/>
              <a:gd name="T70" fmla="*/ 3 w 119"/>
              <a:gd name="T71" fmla="*/ 51 h 88"/>
              <a:gd name="T72" fmla="*/ 3 w 119"/>
              <a:gd name="T73" fmla="*/ 45 h 88"/>
              <a:gd name="T74" fmla="*/ 0 w 119"/>
              <a:gd name="T75" fmla="*/ 46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19" h="88">
                <a:moveTo>
                  <a:pt x="119" y="41"/>
                </a:moveTo>
                <a:lnTo>
                  <a:pt x="117" y="36"/>
                </a:lnTo>
                <a:lnTo>
                  <a:pt x="117" y="30"/>
                </a:lnTo>
                <a:lnTo>
                  <a:pt x="116" y="25"/>
                </a:lnTo>
                <a:lnTo>
                  <a:pt x="114" y="20"/>
                </a:lnTo>
                <a:lnTo>
                  <a:pt x="111" y="13"/>
                </a:lnTo>
                <a:lnTo>
                  <a:pt x="107" y="8"/>
                </a:lnTo>
                <a:lnTo>
                  <a:pt x="104" y="5"/>
                </a:lnTo>
                <a:lnTo>
                  <a:pt x="101" y="0"/>
                </a:lnTo>
                <a:lnTo>
                  <a:pt x="97" y="2"/>
                </a:lnTo>
                <a:lnTo>
                  <a:pt x="101" y="7"/>
                </a:lnTo>
                <a:lnTo>
                  <a:pt x="104" y="10"/>
                </a:lnTo>
                <a:lnTo>
                  <a:pt x="107" y="15"/>
                </a:lnTo>
                <a:lnTo>
                  <a:pt x="111" y="20"/>
                </a:lnTo>
                <a:lnTo>
                  <a:pt x="112" y="25"/>
                </a:lnTo>
                <a:lnTo>
                  <a:pt x="114" y="31"/>
                </a:lnTo>
                <a:lnTo>
                  <a:pt x="114" y="36"/>
                </a:lnTo>
                <a:lnTo>
                  <a:pt x="116" y="43"/>
                </a:lnTo>
                <a:lnTo>
                  <a:pt x="119" y="41"/>
                </a:lnTo>
                <a:close/>
                <a:moveTo>
                  <a:pt x="0" y="46"/>
                </a:moveTo>
                <a:lnTo>
                  <a:pt x="0" y="51"/>
                </a:lnTo>
                <a:lnTo>
                  <a:pt x="1" y="58"/>
                </a:lnTo>
                <a:lnTo>
                  <a:pt x="3" y="63"/>
                </a:lnTo>
                <a:lnTo>
                  <a:pt x="5" y="70"/>
                </a:lnTo>
                <a:lnTo>
                  <a:pt x="8" y="74"/>
                </a:lnTo>
                <a:lnTo>
                  <a:pt x="11" y="78"/>
                </a:lnTo>
                <a:lnTo>
                  <a:pt x="15" y="83"/>
                </a:lnTo>
                <a:lnTo>
                  <a:pt x="18" y="88"/>
                </a:lnTo>
                <a:lnTo>
                  <a:pt x="21" y="86"/>
                </a:lnTo>
                <a:lnTo>
                  <a:pt x="18" y="81"/>
                </a:lnTo>
                <a:lnTo>
                  <a:pt x="15" y="78"/>
                </a:lnTo>
                <a:lnTo>
                  <a:pt x="11" y="73"/>
                </a:lnTo>
                <a:lnTo>
                  <a:pt x="8" y="68"/>
                </a:lnTo>
                <a:lnTo>
                  <a:pt x="6" y="61"/>
                </a:lnTo>
                <a:lnTo>
                  <a:pt x="5" y="56"/>
                </a:lnTo>
                <a:lnTo>
                  <a:pt x="3" y="51"/>
                </a:lnTo>
                <a:lnTo>
                  <a:pt x="3" y="45"/>
                </a:lnTo>
                <a:lnTo>
                  <a:pt x="0" y="46"/>
                </a:lnTo>
                <a:close/>
              </a:path>
            </a:pathLst>
          </a:custGeom>
          <a:solidFill>
            <a:srgbClr val="D6EC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73" name="Freeform 2378">
            <a:extLst>
              <a:ext uri="{FF2B5EF4-FFF2-40B4-BE49-F238E27FC236}">
                <a16:creationId xmlns:a16="http://schemas.microsoft.com/office/drawing/2014/main" id="{BDBD0742-011B-23FA-E6A9-25FD453D31F6}"/>
              </a:ext>
            </a:extLst>
          </p:cNvPr>
          <p:cNvSpPr>
            <a:spLocks noEditPoints="1"/>
          </p:cNvSpPr>
          <p:nvPr/>
        </p:nvSpPr>
        <p:spPr bwMode="auto">
          <a:xfrm>
            <a:off x="3427413" y="2535238"/>
            <a:ext cx="184150" cy="133350"/>
          </a:xfrm>
          <a:custGeom>
            <a:avLst/>
            <a:gdLst>
              <a:gd name="T0" fmla="*/ 116 w 116"/>
              <a:gd name="T1" fmla="*/ 41 h 84"/>
              <a:gd name="T2" fmla="*/ 115 w 116"/>
              <a:gd name="T3" fmla="*/ 34 h 84"/>
              <a:gd name="T4" fmla="*/ 115 w 116"/>
              <a:gd name="T5" fmla="*/ 29 h 84"/>
              <a:gd name="T6" fmla="*/ 113 w 116"/>
              <a:gd name="T7" fmla="*/ 23 h 84"/>
              <a:gd name="T8" fmla="*/ 111 w 116"/>
              <a:gd name="T9" fmla="*/ 18 h 84"/>
              <a:gd name="T10" fmla="*/ 108 w 116"/>
              <a:gd name="T11" fmla="*/ 13 h 84"/>
              <a:gd name="T12" fmla="*/ 105 w 116"/>
              <a:gd name="T13" fmla="*/ 8 h 84"/>
              <a:gd name="T14" fmla="*/ 101 w 116"/>
              <a:gd name="T15" fmla="*/ 3 h 84"/>
              <a:gd name="T16" fmla="*/ 98 w 116"/>
              <a:gd name="T17" fmla="*/ 0 h 84"/>
              <a:gd name="T18" fmla="*/ 95 w 116"/>
              <a:gd name="T19" fmla="*/ 1 h 84"/>
              <a:gd name="T20" fmla="*/ 98 w 116"/>
              <a:gd name="T21" fmla="*/ 5 h 84"/>
              <a:gd name="T22" fmla="*/ 101 w 116"/>
              <a:gd name="T23" fmla="*/ 10 h 84"/>
              <a:gd name="T24" fmla="*/ 105 w 116"/>
              <a:gd name="T25" fmla="*/ 13 h 84"/>
              <a:gd name="T26" fmla="*/ 108 w 116"/>
              <a:gd name="T27" fmla="*/ 18 h 84"/>
              <a:gd name="T28" fmla="*/ 110 w 116"/>
              <a:gd name="T29" fmla="*/ 24 h 84"/>
              <a:gd name="T30" fmla="*/ 111 w 116"/>
              <a:gd name="T31" fmla="*/ 29 h 84"/>
              <a:gd name="T32" fmla="*/ 111 w 116"/>
              <a:gd name="T33" fmla="*/ 36 h 84"/>
              <a:gd name="T34" fmla="*/ 113 w 116"/>
              <a:gd name="T35" fmla="*/ 41 h 84"/>
              <a:gd name="T36" fmla="*/ 113 w 116"/>
              <a:gd name="T37" fmla="*/ 43 h 84"/>
              <a:gd name="T38" fmla="*/ 116 w 116"/>
              <a:gd name="T39" fmla="*/ 41 h 84"/>
              <a:gd name="T40" fmla="*/ 0 w 116"/>
              <a:gd name="T41" fmla="*/ 43 h 84"/>
              <a:gd name="T42" fmla="*/ 0 w 116"/>
              <a:gd name="T43" fmla="*/ 49 h 84"/>
              <a:gd name="T44" fmla="*/ 2 w 116"/>
              <a:gd name="T45" fmla="*/ 56 h 84"/>
              <a:gd name="T46" fmla="*/ 4 w 116"/>
              <a:gd name="T47" fmla="*/ 61 h 84"/>
              <a:gd name="T48" fmla="*/ 5 w 116"/>
              <a:gd name="T49" fmla="*/ 66 h 84"/>
              <a:gd name="T50" fmla="*/ 9 w 116"/>
              <a:gd name="T51" fmla="*/ 71 h 84"/>
              <a:gd name="T52" fmla="*/ 12 w 116"/>
              <a:gd name="T53" fmla="*/ 76 h 84"/>
              <a:gd name="T54" fmla="*/ 15 w 116"/>
              <a:gd name="T55" fmla="*/ 81 h 84"/>
              <a:gd name="T56" fmla="*/ 19 w 116"/>
              <a:gd name="T57" fmla="*/ 84 h 84"/>
              <a:gd name="T58" fmla="*/ 22 w 116"/>
              <a:gd name="T59" fmla="*/ 82 h 84"/>
              <a:gd name="T60" fmla="*/ 19 w 116"/>
              <a:gd name="T61" fmla="*/ 79 h 84"/>
              <a:gd name="T62" fmla="*/ 15 w 116"/>
              <a:gd name="T63" fmla="*/ 74 h 84"/>
              <a:gd name="T64" fmla="*/ 12 w 116"/>
              <a:gd name="T65" fmla="*/ 69 h 84"/>
              <a:gd name="T66" fmla="*/ 9 w 116"/>
              <a:gd name="T67" fmla="*/ 64 h 84"/>
              <a:gd name="T68" fmla="*/ 7 w 116"/>
              <a:gd name="T69" fmla="*/ 59 h 84"/>
              <a:gd name="T70" fmla="*/ 5 w 116"/>
              <a:gd name="T71" fmla="*/ 54 h 84"/>
              <a:gd name="T72" fmla="*/ 4 w 116"/>
              <a:gd name="T73" fmla="*/ 48 h 84"/>
              <a:gd name="T74" fmla="*/ 4 w 116"/>
              <a:gd name="T75" fmla="*/ 41 h 84"/>
              <a:gd name="T76" fmla="*/ 0 w 116"/>
              <a:gd name="T77" fmla="*/ 43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16" h="84">
                <a:moveTo>
                  <a:pt x="116" y="41"/>
                </a:moveTo>
                <a:lnTo>
                  <a:pt x="115" y="34"/>
                </a:lnTo>
                <a:lnTo>
                  <a:pt x="115" y="29"/>
                </a:lnTo>
                <a:lnTo>
                  <a:pt x="113" y="23"/>
                </a:lnTo>
                <a:lnTo>
                  <a:pt x="111" y="18"/>
                </a:lnTo>
                <a:lnTo>
                  <a:pt x="108" y="13"/>
                </a:lnTo>
                <a:lnTo>
                  <a:pt x="105" y="8"/>
                </a:lnTo>
                <a:lnTo>
                  <a:pt x="101" y="3"/>
                </a:lnTo>
                <a:lnTo>
                  <a:pt x="98" y="0"/>
                </a:lnTo>
                <a:lnTo>
                  <a:pt x="95" y="1"/>
                </a:lnTo>
                <a:lnTo>
                  <a:pt x="98" y="5"/>
                </a:lnTo>
                <a:lnTo>
                  <a:pt x="101" y="10"/>
                </a:lnTo>
                <a:lnTo>
                  <a:pt x="105" y="13"/>
                </a:lnTo>
                <a:lnTo>
                  <a:pt x="108" y="18"/>
                </a:lnTo>
                <a:lnTo>
                  <a:pt x="110" y="24"/>
                </a:lnTo>
                <a:lnTo>
                  <a:pt x="111" y="29"/>
                </a:lnTo>
                <a:lnTo>
                  <a:pt x="111" y="36"/>
                </a:lnTo>
                <a:lnTo>
                  <a:pt x="113" y="41"/>
                </a:lnTo>
                <a:lnTo>
                  <a:pt x="113" y="43"/>
                </a:lnTo>
                <a:lnTo>
                  <a:pt x="116" y="41"/>
                </a:lnTo>
                <a:close/>
                <a:moveTo>
                  <a:pt x="0" y="43"/>
                </a:moveTo>
                <a:lnTo>
                  <a:pt x="0" y="49"/>
                </a:lnTo>
                <a:lnTo>
                  <a:pt x="2" y="56"/>
                </a:lnTo>
                <a:lnTo>
                  <a:pt x="4" y="61"/>
                </a:lnTo>
                <a:lnTo>
                  <a:pt x="5" y="66"/>
                </a:lnTo>
                <a:lnTo>
                  <a:pt x="9" y="71"/>
                </a:lnTo>
                <a:lnTo>
                  <a:pt x="12" y="76"/>
                </a:lnTo>
                <a:lnTo>
                  <a:pt x="15" y="81"/>
                </a:lnTo>
                <a:lnTo>
                  <a:pt x="19" y="84"/>
                </a:lnTo>
                <a:lnTo>
                  <a:pt x="22" y="82"/>
                </a:lnTo>
                <a:lnTo>
                  <a:pt x="19" y="79"/>
                </a:lnTo>
                <a:lnTo>
                  <a:pt x="15" y="74"/>
                </a:lnTo>
                <a:lnTo>
                  <a:pt x="12" y="69"/>
                </a:lnTo>
                <a:lnTo>
                  <a:pt x="9" y="64"/>
                </a:lnTo>
                <a:lnTo>
                  <a:pt x="7" y="59"/>
                </a:lnTo>
                <a:lnTo>
                  <a:pt x="5" y="54"/>
                </a:lnTo>
                <a:lnTo>
                  <a:pt x="4" y="48"/>
                </a:lnTo>
                <a:lnTo>
                  <a:pt x="4" y="41"/>
                </a:lnTo>
                <a:lnTo>
                  <a:pt x="0" y="43"/>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74" name="Freeform 2379">
            <a:extLst>
              <a:ext uri="{FF2B5EF4-FFF2-40B4-BE49-F238E27FC236}">
                <a16:creationId xmlns:a16="http://schemas.microsoft.com/office/drawing/2014/main" id="{4FD44BAF-7108-236C-0309-AB0C3D2ADDF9}"/>
              </a:ext>
            </a:extLst>
          </p:cNvPr>
          <p:cNvSpPr>
            <a:spLocks noEditPoints="1"/>
          </p:cNvSpPr>
          <p:nvPr/>
        </p:nvSpPr>
        <p:spPr bwMode="auto">
          <a:xfrm>
            <a:off x="3430588" y="2535238"/>
            <a:ext cx="179388" cy="133350"/>
          </a:xfrm>
          <a:custGeom>
            <a:avLst/>
            <a:gdLst>
              <a:gd name="T0" fmla="*/ 113 w 113"/>
              <a:gd name="T1" fmla="*/ 41 h 84"/>
              <a:gd name="T2" fmla="*/ 111 w 113"/>
              <a:gd name="T3" fmla="*/ 34 h 84"/>
              <a:gd name="T4" fmla="*/ 111 w 113"/>
              <a:gd name="T5" fmla="*/ 29 h 84"/>
              <a:gd name="T6" fmla="*/ 109 w 113"/>
              <a:gd name="T7" fmla="*/ 23 h 84"/>
              <a:gd name="T8" fmla="*/ 108 w 113"/>
              <a:gd name="T9" fmla="*/ 18 h 84"/>
              <a:gd name="T10" fmla="*/ 104 w 113"/>
              <a:gd name="T11" fmla="*/ 13 h 84"/>
              <a:gd name="T12" fmla="*/ 101 w 113"/>
              <a:gd name="T13" fmla="*/ 8 h 84"/>
              <a:gd name="T14" fmla="*/ 98 w 113"/>
              <a:gd name="T15" fmla="*/ 5 h 84"/>
              <a:gd name="T16" fmla="*/ 94 w 113"/>
              <a:gd name="T17" fmla="*/ 0 h 84"/>
              <a:gd name="T18" fmla="*/ 91 w 113"/>
              <a:gd name="T19" fmla="*/ 1 h 84"/>
              <a:gd name="T20" fmla="*/ 94 w 113"/>
              <a:gd name="T21" fmla="*/ 5 h 84"/>
              <a:gd name="T22" fmla="*/ 98 w 113"/>
              <a:gd name="T23" fmla="*/ 10 h 84"/>
              <a:gd name="T24" fmla="*/ 101 w 113"/>
              <a:gd name="T25" fmla="*/ 15 h 84"/>
              <a:gd name="T26" fmla="*/ 104 w 113"/>
              <a:gd name="T27" fmla="*/ 19 h 84"/>
              <a:gd name="T28" fmla="*/ 106 w 113"/>
              <a:gd name="T29" fmla="*/ 24 h 84"/>
              <a:gd name="T30" fmla="*/ 108 w 113"/>
              <a:gd name="T31" fmla="*/ 29 h 84"/>
              <a:gd name="T32" fmla="*/ 108 w 113"/>
              <a:gd name="T33" fmla="*/ 36 h 84"/>
              <a:gd name="T34" fmla="*/ 109 w 113"/>
              <a:gd name="T35" fmla="*/ 41 h 84"/>
              <a:gd name="T36" fmla="*/ 109 w 113"/>
              <a:gd name="T37" fmla="*/ 43 h 84"/>
              <a:gd name="T38" fmla="*/ 113 w 113"/>
              <a:gd name="T39" fmla="*/ 41 h 84"/>
              <a:gd name="T40" fmla="*/ 0 w 113"/>
              <a:gd name="T41" fmla="*/ 43 h 84"/>
              <a:gd name="T42" fmla="*/ 0 w 113"/>
              <a:gd name="T43" fmla="*/ 49 h 84"/>
              <a:gd name="T44" fmla="*/ 2 w 113"/>
              <a:gd name="T45" fmla="*/ 54 h 84"/>
              <a:gd name="T46" fmla="*/ 3 w 113"/>
              <a:gd name="T47" fmla="*/ 59 h 84"/>
              <a:gd name="T48" fmla="*/ 5 w 113"/>
              <a:gd name="T49" fmla="*/ 66 h 84"/>
              <a:gd name="T50" fmla="*/ 8 w 113"/>
              <a:gd name="T51" fmla="*/ 71 h 84"/>
              <a:gd name="T52" fmla="*/ 12 w 113"/>
              <a:gd name="T53" fmla="*/ 76 h 84"/>
              <a:gd name="T54" fmla="*/ 15 w 113"/>
              <a:gd name="T55" fmla="*/ 79 h 84"/>
              <a:gd name="T56" fmla="*/ 18 w 113"/>
              <a:gd name="T57" fmla="*/ 84 h 84"/>
              <a:gd name="T58" fmla="*/ 22 w 113"/>
              <a:gd name="T59" fmla="*/ 82 h 84"/>
              <a:gd name="T60" fmla="*/ 18 w 113"/>
              <a:gd name="T61" fmla="*/ 77 h 84"/>
              <a:gd name="T62" fmla="*/ 15 w 113"/>
              <a:gd name="T63" fmla="*/ 74 h 84"/>
              <a:gd name="T64" fmla="*/ 12 w 113"/>
              <a:gd name="T65" fmla="*/ 69 h 84"/>
              <a:gd name="T66" fmla="*/ 8 w 113"/>
              <a:gd name="T67" fmla="*/ 64 h 84"/>
              <a:gd name="T68" fmla="*/ 7 w 113"/>
              <a:gd name="T69" fmla="*/ 59 h 84"/>
              <a:gd name="T70" fmla="*/ 5 w 113"/>
              <a:gd name="T71" fmla="*/ 53 h 84"/>
              <a:gd name="T72" fmla="*/ 3 w 113"/>
              <a:gd name="T73" fmla="*/ 48 h 84"/>
              <a:gd name="T74" fmla="*/ 3 w 113"/>
              <a:gd name="T75" fmla="*/ 41 h 84"/>
              <a:gd name="T76" fmla="*/ 0 w 113"/>
              <a:gd name="T77" fmla="*/ 43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13" h="84">
                <a:moveTo>
                  <a:pt x="113" y="41"/>
                </a:moveTo>
                <a:lnTo>
                  <a:pt x="111" y="34"/>
                </a:lnTo>
                <a:lnTo>
                  <a:pt x="111" y="29"/>
                </a:lnTo>
                <a:lnTo>
                  <a:pt x="109" y="23"/>
                </a:lnTo>
                <a:lnTo>
                  <a:pt x="108" y="18"/>
                </a:lnTo>
                <a:lnTo>
                  <a:pt x="104" y="13"/>
                </a:lnTo>
                <a:lnTo>
                  <a:pt x="101" y="8"/>
                </a:lnTo>
                <a:lnTo>
                  <a:pt x="98" y="5"/>
                </a:lnTo>
                <a:lnTo>
                  <a:pt x="94" y="0"/>
                </a:lnTo>
                <a:lnTo>
                  <a:pt x="91" y="1"/>
                </a:lnTo>
                <a:lnTo>
                  <a:pt x="94" y="5"/>
                </a:lnTo>
                <a:lnTo>
                  <a:pt x="98" y="10"/>
                </a:lnTo>
                <a:lnTo>
                  <a:pt x="101" y="15"/>
                </a:lnTo>
                <a:lnTo>
                  <a:pt x="104" y="19"/>
                </a:lnTo>
                <a:lnTo>
                  <a:pt x="106" y="24"/>
                </a:lnTo>
                <a:lnTo>
                  <a:pt x="108" y="29"/>
                </a:lnTo>
                <a:lnTo>
                  <a:pt x="108" y="36"/>
                </a:lnTo>
                <a:lnTo>
                  <a:pt x="109" y="41"/>
                </a:lnTo>
                <a:lnTo>
                  <a:pt x="109" y="43"/>
                </a:lnTo>
                <a:lnTo>
                  <a:pt x="113" y="41"/>
                </a:lnTo>
                <a:close/>
                <a:moveTo>
                  <a:pt x="0" y="43"/>
                </a:moveTo>
                <a:lnTo>
                  <a:pt x="0" y="49"/>
                </a:lnTo>
                <a:lnTo>
                  <a:pt x="2" y="54"/>
                </a:lnTo>
                <a:lnTo>
                  <a:pt x="3" y="59"/>
                </a:lnTo>
                <a:lnTo>
                  <a:pt x="5" y="66"/>
                </a:lnTo>
                <a:lnTo>
                  <a:pt x="8" y="71"/>
                </a:lnTo>
                <a:lnTo>
                  <a:pt x="12" y="76"/>
                </a:lnTo>
                <a:lnTo>
                  <a:pt x="15" y="79"/>
                </a:lnTo>
                <a:lnTo>
                  <a:pt x="18" y="84"/>
                </a:lnTo>
                <a:lnTo>
                  <a:pt x="22" y="82"/>
                </a:lnTo>
                <a:lnTo>
                  <a:pt x="18" y="77"/>
                </a:lnTo>
                <a:lnTo>
                  <a:pt x="15" y="74"/>
                </a:lnTo>
                <a:lnTo>
                  <a:pt x="12" y="69"/>
                </a:lnTo>
                <a:lnTo>
                  <a:pt x="8" y="64"/>
                </a:lnTo>
                <a:lnTo>
                  <a:pt x="7" y="59"/>
                </a:lnTo>
                <a:lnTo>
                  <a:pt x="5" y="53"/>
                </a:lnTo>
                <a:lnTo>
                  <a:pt x="3" y="48"/>
                </a:lnTo>
                <a:lnTo>
                  <a:pt x="3" y="41"/>
                </a:lnTo>
                <a:lnTo>
                  <a:pt x="0" y="43"/>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75" name="Freeform 2380">
            <a:extLst>
              <a:ext uri="{FF2B5EF4-FFF2-40B4-BE49-F238E27FC236}">
                <a16:creationId xmlns:a16="http://schemas.microsoft.com/office/drawing/2014/main" id="{F6D17373-B73F-5238-400F-AA2BD18C801A}"/>
              </a:ext>
            </a:extLst>
          </p:cNvPr>
          <p:cNvSpPr>
            <a:spLocks noEditPoints="1"/>
          </p:cNvSpPr>
          <p:nvPr/>
        </p:nvSpPr>
        <p:spPr bwMode="auto">
          <a:xfrm>
            <a:off x="3433763" y="2536825"/>
            <a:ext cx="173038" cy="128588"/>
          </a:xfrm>
          <a:custGeom>
            <a:avLst/>
            <a:gdLst>
              <a:gd name="T0" fmla="*/ 109 w 109"/>
              <a:gd name="T1" fmla="*/ 40 h 81"/>
              <a:gd name="T2" fmla="*/ 107 w 109"/>
              <a:gd name="T3" fmla="*/ 35 h 81"/>
              <a:gd name="T4" fmla="*/ 107 w 109"/>
              <a:gd name="T5" fmla="*/ 28 h 81"/>
              <a:gd name="T6" fmla="*/ 106 w 109"/>
              <a:gd name="T7" fmla="*/ 23 h 81"/>
              <a:gd name="T8" fmla="*/ 104 w 109"/>
              <a:gd name="T9" fmla="*/ 17 h 81"/>
              <a:gd name="T10" fmla="*/ 101 w 109"/>
              <a:gd name="T11" fmla="*/ 12 h 81"/>
              <a:gd name="T12" fmla="*/ 97 w 109"/>
              <a:gd name="T13" fmla="*/ 9 h 81"/>
              <a:gd name="T14" fmla="*/ 94 w 109"/>
              <a:gd name="T15" fmla="*/ 4 h 81"/>
              <a:gd name="T16" fmla="*/ 91 w 109"/>
              <a:gd name="T17" fmla="*/ 0 h 81"/>
              <a:gd name="T18" fmla="*/ 87 w 109"/>
              <a:gd name="T19" fmla="*/ 0 h 81"/>
              <a:gd name="T20" fmla="*/ 91 w 109"/>
              <a:gd name="T21" fmla="*/ 5 h 81"/>
              <a:gd name="T22" fmla="*/ 94 w 109"/>
              <a:gd name="T23" fmla="*/ 9 h 81"/>
              <a:gd name="T24" fmla="*/ 97 w 109"/>
              <a:gd name="T25" fmla="*/ 14 h 81"/>
              <a:gd name="T26" fmla="*/ 101 w 109"/>
              <a:gd name="T27" fmla="*/ 18 h 81"/>
              <a:gd name="T28" fmla="*/ 102 w 109"/>
              <a:gd name="T29" fmla="*/ 23 h 81"/>
              <a:gd name="T30" fmla="*/ 104 w 109"/>
              <a:gd name="T31" fmla="*/ 28 h 81"/>
              <a:gd name="T32" fmla="*/ 104 w 109"/>
              <a:gd name="T33" fmla="*/ 35 h 81"/>
              <a:gd name="T34" fmla="*/ 106 w 109"/>
              <a:gd name="T35" fmla="*/ 40 h 81"/>
              <a:gd name="T36" fmla="*/ 106 w 109"/>
              <a:gd name="T37" fmla="*/ 42 h 81"/>
              <a:gd name="T38" fmla="*/ 106 w 109"/>
              <a:gd name="T39" fmla="*/ 43 h 81"/>
              <a:gd name="T40" fmla="*/ 109 w 109"/>
              <a:gd name="T41" fmla="*/ 42 h 81"/>
              <a:gd name="T42" fmla="*/ 109 w 109"/>
              <a:gd name="T43" fmla="*/ 40 h 81"/>
              <a:gd name="T44" fmla="*/ 0 w 109"/>
              <a:gd name="T45" fmla="*/ 40 h 81"/>
              <a:gd name="T46" fmla="*/ 0 w 109"/>
              <a:gd name="T47" fmla="*/ 47 h 81"/>
              <a:gd name="T48" fmla="*/ 1 w 109"/>
              <a:gd name="T49" fmla="*/ 53 h 81"/>
              <a:gd name="T50" fmla="*/ 3 w 109"/>
              <a:gd name="T51" fmla="*/ 58 h 81"/>
              <a:gd name="T52" fmla="*/ 5 w 109"/>
              <a:gd name="T53" fmla="*/ 63 h 81"/>
              <a:gd name="T54" fmla="*/ 8 w 109"/>
              <a:gd name="T55" fmla="*/ 68 h 81"/>
              <a:gd name="T56" fmla="*/ 11 w 109"/>
              <a:gd name="T57" fmla="*/ 73 h 81"/>
              <a:gd name="T58" fmla="*/ 15 w 109"/>
              <a:gd name="T59" fmla="*/ 78 h 81"/>
              <a:gd name="T60" fmla="*/ 18 w 109"/>
              <a:gd name="T61" fmla="*/ 81 h 81"/>
              <a:gd name="T62" fmla="*/ 21 w 109"/>
              <a:gd name="T63" fmla="*/ 80 h 81"/>
              <a:gd name="T64" fmla="*/ 18 w 109"/>
              <a:gd name="T65" fmla="*/ 76 h 81"/>
              <a:gd name="T66" fmla="*/ 15 w 109"/>
              <a:gd name="T67" fmla="*/ 73 h 81"/>
              <a:gd name="T68" fmla="*/ 11 w 109"/>
              <a:gd name="T69" fmla="*/ 68 h 81"/>
              <a:gd name="T70" fmla="*/ 8 w 109"/>
              <a:gd name="T71" fmla="*/ 63 h 81"/>
              <a:gd name="T72" fmla="*/ 6 w 109"/>
              <a:gd name="T73" fmla="*/ 58 h 81"/>
              <a:gd name="T74" fmla="*/ 5 w 109"/>
              <a:gd name="T75" fmla="*/ 52 h 81"/>
              <a:gd name="T76" fmla="*/ 3 w 109"/>
              <a:gd name="T77" fmla="*/ 47 h 81"/>
              <a:gd name="T78" fmla="*/ 3 w 109"/>
              <a:gd name="T79" fmla="*/ 40 h 81"/>
              <a:gd name="T80" fmla="*/ 0 w 109"/>
              <a:gd name="T81" fmla="*/ 40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09" h="81">
                <a:moveTo>
                  <a:pt x="109" y="40"/>
                </a:moveTo>
                <a:lnTo>
                  <a:pt x="107" y="35"/>
                </a:lnTo>
                <a:lnTo>
                  <a:pt x="107" y="28"/>
                </a:lnTo>
                <a:lnTo>
                  <a:pt x="106" y="23"/>
                </a:lnTo>
                <a:lnTo>
                  <a:pt x="104" y="17"/>
                </a:lnTo>
                <a:lnTo>
                  <a:pt x="101" y="12"/>
                </a:lnTo>
                <a:lnTo>
                  <a:pt x="97" y="9"/>
                </a:lnTo>
                <a:lnTo>
                  <a:pt x="94" y="4"/>
                </a:lnTo>
                <a:lnTo>
                  <a:pt x="91" y="0"/>
                </a:lnTo>
                <a:lnTo>
                  <a:pt x="87" y="0"/>
                </a:lnTo>
                <a:lnTo>
                  <a:pt x="91" y="5"/>
                </a:lnTo>
                <a:lnTo>
                  <a:pt x="94" y="9"/>
                </a:lnTo>
                <a:lnTo>
                  <a:pt x="97" y="14"/>
                </a:lnTo>
                <a:lnTo>
                  <a:pt x="101" y="18"/>
                </a:lnTo>
                <a:lnTo>
                  <a:pt x="102" y="23"/>
                </a:lnTo>
                <a:lnTo>
                  <a:pt x="104" y="28"/>
                </a:lnTo>
                <a:lnTo>
                  <a:pt x="104" y="35"/>
                </a:lnTo>
                <a:lnTo>
                  <a:pt x="106" y="40"/>
                </a:lnTo>
                <a:lnTo>
                  <a:pt x="106" y="42"/>
                </a:lnTo>
                <a:lnTo>
                  <a:pt x="106" y="43"/>
                </a:lnTo>
                <a:lnTo>
                  <a:pt x="109" y="42"/>
                </a:lnTo>
                <a:lnTo>
                  <a:pt x="109" y="40"/>
                </a:lnTo>
                <a:close/>
                <a:moveTo>
                  <a:pt x="0" y="40"/>
                </a:moveTo>
                <a:lnTo>
                  <a:pt x="0" y="47"/>
                </a:lnTo>
                <a:lnTo>
                  <a:pt x="1" y="53"/>
                </a:lnTo>
                <a:lnTo>
                  <a:pt x="3" y="58"/>
                </a:lnTo>
                <a:lnTo>
                  <a:pt x="5" y="63"/>
                </a:lnTo>
                <a:lnTo>
                  <a:pt x="8" y="68"/>
                </a:lnTo>
                <a:lnTo>
                  <a:pt x="11" y="73"/>
                </a:lnTo>
                <a:lnTo>
                  <a:pt x="15" y="78"/>
                </a:lnTo>
                <a:lnTo>
                  <a:pt x="18" y="81"/>
                </a:lnTo>
                <a:lnTo>
                  <a:pt x="21" y="80"/>
                </a:lnTo>
                <a:lnTo>
                  <a:pt x="18" y="76"/>
                </a:lnTo>
                <a:lnTo>
                  <a:pt x="15" y="73"/>
                </a:lnTo>
                <a:lnTo>
                  <a:pt x="11" y="68"/>
                </a:lnTo>
                <a:lnTo>
                  <a:pt x="8" y="63"/>
                </a:lnTo>
                <a:lnTo>
                  <a:pt x="6" y="58"/>
                </a:lnTo>
                <a:lnTo>
                  <a:pt x="5" y="52"/>
                </a:lnTo>
                <a:lnTo>
                  <a:pt x="3" y="47"/>
                </a:lnTo>
                <a:lnTo>
                  <a:pt x="3" y="40"/>
                </a:lnTo>
                <a:lnTo>
                  <a:pt x="0" y="4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76" name="Freeform 2381">
            <a:extLst>
              <a:ext uri="{FF2B5EF4-FFF2-40B4-BE49-F238E27FC236}">
                <a16:creationId xmlns:a16="http://schemas.microsoft.com/office/drawing/2014/main" id="{E1B207C5-7A07-FA63-B50D-5C2F480567CC}"/>
              </a:ext>
            </a:extLst>
          </p:cNvPr>
          <p:cNvSpPr>
            <a:spLocks noEditPoints="1"/>
          </p:cNvSpPr>
          <p:nvPr/>
        </p:nvSpPr>
        <p:spPr bwMode="auto">
          <a:xfrm>
            <a:off x="3435350" y="2536825"/>
            <a:ext cx="168275" cy="128588"/>
          </a:xfrm>
          <a:custGeom>
            <a:avLst/>
            <a:gdLst>
              <a:gd name="T0" fmla="*/ 106 w 106"/>
              <a:gd name="T1" fmla="*/ 40 h 81"/>
              <a:gd name="T2" fmla="*/ 105 w 106"/>
              <a:gd name="T3" fmla="*/ 35 h 81"/>
              <a:gd name="T4" fmla="*/ 105 w 106"/>
              <a:gd name="T5" fmla="*/ 28 h 81"/>
              <a:gd name="T6" fmla="*/ 103 w 106"/>
              <a:gd name="T7" fmla="*/ 23 h 81"/>
              <a:gd name="T8" fmla="*/ 101 w 106"/>
              <a:gd name="T9" fmla="*/ 18 h 81"/>
              <a:gd name="T10" fmla="*/ 98 w 106"/>
              <a:gd name="T11" fmla="*/ 14 h 81"/>
              <a:gd name="T12" fmla="*/ 95 w 106"/>
              <a:gd name="T13" fmla="*/ 9 h 81"/>
              <a:gd name="T14" fmla="*/ 91 w 106"/>
              <a:gd name="T15" fmla="*/ 4 h 81"/>
              <a:gd name="T16" fmla="*/ 88 w 106"/>
              <a:gd name="T17" fmla="*/ 0 h 81"/>
              <a:gd name="T18" fmla="*/ 85 w 106"/>
              <a:gd name="T19" fmla="*/ 2 h 81"/>
              <a:gd name="T20" fmla="*/ 88 w 106"/>
              <a:gd name="T21" fmla="*/ 5 h 81"/>
              <a:gd name="T22" fmla="*/ 91 w 106"/>
              <a:gd name="T23" fmla="*/ 10 h 81"/>
              <a:gd name="T24" fmla="*/ 95 w 106"/>
              <a:gd name="T25" fmla="*/ 14 h 81"/>
              <a:gd name="T26" fmla="*/ 98 w 106"/>
              <a:gd name="T27" fmla="*/ 18 h 81"/>
              <a:gd name="T28" fmla="*/ 100 w 106"/>
              <a:gd name="T29" fmla="*/ 23 h 81"/>
              <a:gd name="T30" fmla="*/ 101 w 106"/>
              <a:gd name="T31" fmla="*/ 28 h 81"/>
              <a:gd name="T32" fmla="*/ 101 w 106"/>
              <a:gd name="T33" fmla="*/ 35 h 81"/>
              <a:gd name="T34" fmla="*/ 103 w 106"/>
              <a:gd name="T35" fmla="*/ 40 h 81"/>
              <a:gd name="T36" fmla="*/ 103 w 106"/>
              <a:gd name="T37" fmla="*/ 42 h 81"/>
              <a:gd name="T38" fmla="*/ 103 w 106"/>
              <a:gd name="T39" fmla="*/ 43 h 81"/>
              <a:gd name="T40" fmla="*/ 106 w 106"/>
              <a:gd name="T41" fmla="*/ 42 h 81"/>
              <a:gd name="T42" fmla="*/ 106 w 106"/>
              <a:gd name="T43" fmla="*/ 40 h 81"/>
              <a:gd name="T44" fmla="*/ 0 w 106"/>
              <a:gd name="T45" fmla="*/ 40 h 81"/>
              <a:gd name="T46" fmla="*/ 0 w 106"/>
              <a:gd name="T47" fmla="*/ 40 h 81"/>
              <a:gd name="T48" fmla="*/ 0 w 106"/>
              <a:gd name="T49" fmla="*/ 47 h 81"/>
              <a:gd name="T50" fmla="*/ 2 w 106"/>
              <a:gd name="T51" fmla="*/ 52 h 81"/>
              <a:gd name="T52" fmla="*/ 4 w 106"/>
              <a:gd name="T53" fmla="*/ 58 h 81"/>
              <a:gd name="T54" fmla="*/ 5 w 106"/>
              <a:gd name="T55" fmla="*/ 63 h 81"/>
              <a:gd name="T56" fmla="*/ 9 w 106"/>
              <a:gd name="T57" fmla="*/ 68 h 81"/>
              <a:gd name="T58" fmla="*/ 12 w 106"/>
              <a:gd name="T59" fmla="*/ 73 h 81"/>
              <a:gd name="T60" fmla="*/ 15 w 106"/>
              <a:gd name="T61" fmla="*/ 76 h 81"/>
              <a:gd name="T62" fmla="*/ 19 w 106"/>
              <a:gd name="T63" fmla="*/ 81 h 81"/>
              <a:gd name="T64" fmla="*/ 22 w 106"/>
              <a:gd name="T65" fmla="*/ 80 h 81"/>
              <a:gd name="T66" fmla="*/ 19 w 106"/>
              <a:gd name="T67" fmla="*/ 76 h 81"/>
              <a:gd name="T68" fmla="*/ 15 w 106"/>
              <a:gd name="T69" fmla="*/ 71 h 81"/>
              <a:gd name="T70" fmla="*/ 12 w 106"/>
              <a:gd name="T71" fmla="*/ 67 h 81"/>
              <a:gd name="T72" fmla="*/ 9 w 106"/>
              <a:gd name="T73" fmla="*/ 63 h 81"/>
              <a:gd name="T74" fmla="*/ 7 w 106"/>
              <a:gd name="T75" fmla="*/ 57 h 81"/>
              <a:gd name="T76" fmla="*/ 5 w 106"/>
              <a:gd name="T77" fmla="*/ 52 h 81"/>
              <a:gd name="T78" fmla="*/ 4 w 106"/>
              <a:gd name="T79" fmla="*/ 47 h 81"/>
              <a:gd name="T80" fmla="*/ 4 w 106"/>
              <a:gd name="T81" fmla="*/ 40 h 81"/>
              <a:gd name="T82" fmla="*/ 4 w 106"/>
              <a:gd name="T83" fmla="*/ 38 h 81"/>
              <a:gd name="T84" fmla="*/ 0 w 106"/>
              <a:gd name="T85" fmla="*/ 40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06" h="81">
                <a:moveTo>
                  <a:pt x="106" y="40"/>
                </a:moveTo>
                <a:lnTo>
                  <a:pt x="105" y="35"/>
                </a:lnTo>
                <a:lnTo>
                  <a:pt x="105" y="28"/>
                </a:lnTo>
                <a:lnTo>
                  <a:pt x="103" y="23"/>
                </a:lnTo>
                <a:lnTo>
                  <a:pt x="101" y="18"/>
                </a:lnTo>
                <a:lnTo>
                  <a:pt x="98" y="14"/>
                </a:lnTo>
                <a:lnTo>
                  <a:pt x="95" y="9"/>
                </a:lnTo>
                <a:lnTo>
                  <a:pt x="91" y="4"/>
                </a:lnTo>
                <a:lnTo>
                  <a:pt x="88" y="0"/>
                </a:lnTo>
                <a:lnTo>
                  <a:pt x="85" y="2"/>
                </a:lnTo>
                <a:lnTo>
                  <a:pt x="88" y="5"/>
                </a:lnTo>
                <a:lnTo>
                  <a:pt x="91" y="10"/>
                </a:lnTo>
                <a:lnTo>
                  <a:pt x="95" y="14"/>
                </a:lnTo>
                <a:lnTo>
                  <a:pt x="98" y="18"/>
                </a:lnTo>
                <a:lnTo>
                  <a:pt x="100" y="23"/>
                </a:lnTo>
                <a:lnTo>
                  <a:pt x="101" y="28"/>
                </a:lnTo>
                <a:lnTo>
                  <a:pt x="101" y="35"/>
                </a:lnTo>
                <a:lnTo>
                  <a:pt x="103" y="40"/>
                </a:lnTo>
                <a:lnTo>
                  <a:pt x="103" y="42"/>
                </a:lnTo>
                <a:lnTo>
                  <a:pt x="103" y="43"/>
                </a:lnTo>
                <a:lnTo>
                  <a:pt x="106" y="42"/>
                </a:lnTo>
                <a:lnTo>
                  <a:pt x="106" y="40"/>
                </a:lnTo>
                <a:close/>
                <a:moveTo>
                  <a:pt x="0" y="40"/>
                </a:moveTo>
                <a:lnTo>
                  <a:pt x="0" y="40"/>
                </a:lnTo>
                <a:lnTo>
                  <a:pt x="0" y="47"/>
                </a:lnTo>
                <a:lnTo>
                  <a:pt x="2" y="52"/>
                </a:lnTo>
                <a:lnTo>
                  <a:pt x="4" y="58"/>
                </a:lnTo>
                <a:lnTo>
                  <a:pt x="5" y="63"/>
                </a:lnTo>
                <a:lnTo>
                  <a:pt x="9" y="68"/>
                </a:lnTo>
                <a:lnTo>
                  <a:pt x="12" y="73"/>
                </a:lnTo>
                <a:lnTo>
                  <a:pt x="15" y="76"/>
                </a:lnTo>
                <a:lnTo>
                  <a:pt x="19" y="81"/>
                </a:lnTo>
                <a:lnTo>
                  <a:pt x="22" y="80"/>
                </a:lnTo>
                <a:lnTo>
                  <a:pt x="19" y="76"/>
                </a:lnTo>
                <a:lnTo>
                  <a:pt x="15" y="71"/>
                </a:lnTo>
                <a:lnTo>
                  <a:pt x="12" y="67"/>
                </a:lnTo>
                <a:lnTo>
                  <a:pt x="9" y="63"/>
                </a:lnTo>
                <a:lnTo>
                  <a:pt x="7" y="57"/>
                </a:lnTo>
                <a:lnTo>
                  <a:pt x="5" y="52"/>
                </a:lnTo>
                <a:lnTo>
                  <a:pt x="4" y="47"/>
                </a:lnTo>
                <a:lnTo>
                  <a:pt x="4" y="40"/>
                </a:lnTo>
                <a:lnTo>
                  <a:pt x="4" y="38"/>
                </a:lnTo>
                <a:lnTo>
                  <a:pt x="0" y="40"/>
                </a:lnTo>
                <a:close/>
              </a:path>
            </a:pathLst>
          </a:custGeom>
          <a:solidFill>
            <a:srgbClr val="DBEF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77" name="Freeform 2382">
            <a:extLst>
              <a:ext uri="{FF2B5EF4-FFF2-40B4-BE49-F238E27FC236}">
                <a16:creationId xmlns:a16="http://schemas.microsoft.com/office/drawing/2014/main" id="{F77A1900-D233-FCE5-48A7-7B788B7EC475}"/>
              </a:ext>
            </a:extLst>
          </p:cNvPr>
          <p:cNvSpPr>
            <a:spLocks noEditPoints="1"/>
          </p:cNvSpPr>
          <p:nvPr/>
        </p:nvSpPr>
        <p:spPr bwMode="auto">
          <a:xfrm>
            <a:off x="3438525" y="2536825"/>
            <a:ext cx="163513" cy="127000"/>
          </a:xfrm>
          <a:custGeom>
            <a:avLst/>
            <a:gdLst>
              <a:gd name="T0" fmla="*/ 103 w 103"/>
              <a:gd name="T1" fmla="*/ 40 h 80"/>
              <a:gd name="T2" fmla="*/ 101 w 103"/>
              <a:gd name="T3" fmla="*/ 35 h 80"/>
              <a:gd name="T4" fmla="*/ 101 w 103"/>
              <a:gd name="T5" fmla="*/ 28 h 80"/>
              <a:gd name="T6" fmla="*/ 99 w 103"/>
              <a:gd name="T7" fmla="*/ 23 h 80"/>
              <a:gd name="T8" fmla="*/ 98 w 103"/>
              <a:gd name="T9" fmla="*/ 18 h 80"/>
              <a:gd name="T10" fmla="*/ 94 w 103"/>
              <a:gd name="T11" fmla="*/ 14 h 80"/>
              <a:gd name="T12" fmla="*/ 91 w 103"/>
              <a:gd name="T13" fmla="*/ 9 h 80"/>
              <a:gd name="T14" fmla="*/ 88 w 103"/>
              <a:gd name="T15" fmla="*/ 5 h 80"/>
              <a:gd name="T16" fmla="*/ 84 w 103"/>
              <a:gd name="T17" fmla="*/ 0 h 80"/>
              <a:gd name="T18" fmla="*/ 81 w 103"/>
              <a:gd name="T19" fmla="*/ 2 h 80"/>
              <a:gd name="T20" fmla="*/ 84 w 103"/>
              <a:gd name="T21" fmla="*/ 5 h 80"/>
              <a:gd name="T22" fmla="*/ 88 w 103"/>
              <a:gd name="T23" fmla="*/ 10 h 80"/>
              <a:gd name="T24" fmla="*/ 91 w 103"/>
              <a:gd name="T25" fmla="*/ 14 h 80"/>
              <a:gd name="T26" fmla="*/ 94 w 103"/>
              <a:gd name="T27" fmla="*/ 18 h 80"/>
              <a:gd name="T28" fmla="*/ 96 w 103"/>
              <a:gd name="T29" fmla="*/ 23 h 80"/>
              <a:gd name="T30" fmla="*/ 98 w 103"/>
              <a:gd name="T31" fmla="*/ 28 h 80"/>
              <a:gd name="T32" fmla="*/ 98 w 103"/>
              <a:gd name="T33" fmla="*/ 35 h 80"/>
              <a:gd name="T34" fmla="*/ 99 w 103"/>
              <a:gd name="T35" fmla="*/ 40 h 80"/>
              <a:gd name="T36" fmla="*/ 99 w 103"/>
              <a:gd name="T37" fmla="*/ 42 h 80"/>
              <a:gd name="T38" fmla="*/ 99 w 103"/>
              <a:gd name="T39" fmla="*/ 43 h 80"/>
              <a:gd name="T40" fmla="*/ 99 w 103"/>
              <a:gd name="T41" fmla="*/ 45 h 80"/>
              <a:gd name="T42" fmla="*/ 103 w 103"/>
              <a:gd name="T43" fmla="*/ 43 h 80"/>
              <a:gd name="T44" fmla="*/ 103 w 103"/>
              <a:gd name="T45" fmla="*/ 42 h 80"/>
              <a:gd name="T46" fmla="*/ 103 w 103"/>
              <a:gd name="T47" fmla="*/ 40 h 80"/>
              <a:gd name="T48" fmla="*/ 0 w 103"/>
              <a:gd name="T49" fmla="*/ 40 h 80"/>
              <a:gd name="T50" fmla="*/ 0 w 103"/>
              <a:gd name="T51" fmla="*/ 40 h 80"/>
              <a:gd name="T52" fmla="*/ 0 w 103"/>
              <a:gd name="T53" fmla="*/ 47 h 80"/>
              <a:gd name="T54" fmla="*/ 2 w 103"/>
              <a:gd name="T55" fmla="*/ 52 h 80"/>
              <a:gd name="T56" fmla="*/ 3 w 103"/>
              <a:gd name="T57" fmla="*/ 58 h 80"/>
              <a:gd name="T58" fmla="*/ 5 w 103"/>
              <a:gd name="T59" fmla="*/ 63 h 80"/>
              <a:gd name="T60" fmla="*/ 8 w 103"/>
              <a:gd name="T61" fmla="*/ 68 h 80"/>
              <a:gd name="T62" fmla="*/ 12 w 103"/>
              <a:gd name="T63" fmla="*/ 73 h 80"/>
              <a:gd name="T64" fmla="*/ 15 w 103"/>
              <a:gd name="T65" fmla="*/ 76 h 80"/>
              <a:gd name="T66" fmla="*/ 18 w 103"/>
              <a:gd name="T67" fmla="*/ 80 h 80"/>
              <a:gd name="T68" fmla="*/ 21 w 103"/>
              <a:gd name="T69" fmla="*/ 78 h 80"/>
              <a:gd name="T70" fmla="*/ 18 w 103"/>
              <a:gd name="T71" fmla="*/ 75 h 80"/>
              <a:gd name="T72" fmla="*/ 15 w 103"/>
              <a:gd name="T73" fmla="*/ 71 h 80"/>
              <a:gd name="T74" fmla="*/ 12 w 103"/>
              <a:gd name="T75" fmla="*/ 67 h 80"/>
              <a:gd name="T76" fmla="*/ 8 w 103"/>
              <a:gd name="T77" fmla="*/ 62 h 80"/>
              <a:gd name="T78" fmla="*/ 7 w 103"/>
              <a:gd name="T79" fmla="*/ 57 h 80"/>
              <a:gd name="T80" fmla="*/ 5 w 103"/>
              <a:gd name="T81" fmla="*/ 52 h 80"/>
              <a:gd name="T82" fmla="*/ 3 w 103"/>
              <a:gd name="T83" fmla="*/ 47 h 80"/>
              <a:gd name="T84" fmla="*/ 3 w 103"/>
              <a:gd name="T85" fmla="*/ 40 h 80"/>
              <a:gd name="T86" fmla="*/ 3 w 103"/>
              <a:gd name="T87" fmla="*/ 38 h 80"/>
              <a:gd name="T88" fmla="*/ 0 w 103"/>
              <a:gd name="T89" fmla="*/ 4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03" h="80">
                <a:moveTo>
                  <a:pt x="103" y="40"/>
                </a:moveTo>
                <a:lnTo>
                  <a:pt x="101" y="35"/>
                </a:lnTo>
                <a:lnTo>
                  <a:pt x="101" y="28"/>
                </a:lnTo>
                <a:lnTo>
                  <a:pt x="99" y="23"/>
                </a:lnTo>
                <a:lnTo>
                  <a:pt x="98" y="18"/>
                </a:lnTo>
                <a:lnTo>
                  <a:pt x="94" y="14"/>
                </a:lnTo>
                <a:lnTo>
                  <a:pt x="91" y="9"/>
                </a:lnTo>
                <a:lnTo>
                  <a:pt x="88" y="5"/>
                </a:lnTo>
                <a:lnTo>
                  <a:pt x="84" y="0"/>
                </a:lnTo>
                <a:lnTo>
                  <a:pt x="81" y="2"/>
                </a:lnTo>
                <a:lnTo>
                  <a:pt x="84" y="5"/>
                </a:lnTo>
                <a:lnTo>
                  <a:pt x="88" y="10"/>
                </a:lnTo>
                <a:lnTo>
                  <a:pt x="91" y="14"/>
                </a:lnTo>
                <a:lnTo>
                  <a:pt x="94" y="18"/>
                </a:lnTo>
                <a:lnTo>
                  <a:pt x="96" y="23"/>
                </a:lnTo>
                <a:lnTo>
                  <a:pt x="98" y="28"/>
                </a:lnTo>
                <a:lnTo>
                  <a:pt x="98" y="35"/>
                </a:lnTo>
                <a:lnTo>
                  <a:pt x="99" y="40"/>
                </a:lnTo>
                <a:lnTo>
                  <a:pt x="99" y="42"/>
                </a:lnTo>
                <a:lnTo>
                  <a:pt x="99" y="43"/>
                </a:lnTo>
                <a:lnTo>
                  <a:pt x="99" y="45"/>
                </a:lnTo>
                <a:lnTo>
                  <a:pt x="103" y="43"/>
                </a:lnTo>
                <a:lnTo>
                  <a:pt x="103" y="42"/>
                </a:lnTo>
                <a:lnTo>
                  <a:pt x="103" y="40"/>
                </a:lnTo>
                <a:close/>
                <a:moveTo>
                  <a:pt x="0" y="40"/>
                </a:moveTo>
                <a:lnTo>
                  <a:pt x="0" y="40"/>
                </a:lnTo>
                <a:lnTo>
                  <a:pt x="0" y="47"/>
                </a:lnTo>
                <a:lnTo>
                  <a:pt x="2" y="52"/>
                </a:lnTo>
                <a:lnTo>
                  <a:pt x="3" y="58"/>
                </a:lnTo>
                <a:lnTo>
                  <a:pt x="5" y="63"/>
                </a:lnTo>
                <a:lnTo>
                  <a:pt x="8" y="68"/>
                </a:lnTo>
                <a:lnTo>
                  <a:pt x="12" y="73"/>
                </a:lnTo>
                <a:lnTo>
                  <a:pt x="15" y="76"/>
                </a:lnTo>
                <a:lnTo>
                  <a:pt x="18" y="80"/>
                </a:lnTo>
                <a:lnTo>
                  <a:pt x="21" y="78"/>
                </a:lnTo>
                <a:lnTo>
                  <a:pt x="18" y="75"/>
                </a:lnTo>
                <a:lnTo>
                  <a:pt x="15" y="71"/>
                </a:lnTo>
                <a:lnTo>
                  <a:pt x="12" y="67"/>
                </a:lnTo>
                <a:lnTo>
                  <a:pt x="8" y="62"/>
                </a:lnTo>
                <a:lnTo>
                  <a:pt x="7" y="57"/>
                </a:lnTo>
                <a:lnTo>
                  <a:pt x="5" y="52"/>
                </a:lnTo>
                <a:lnTo>
                  <a:pt x="3" y="47"/>
                </a:lnTo>
                <a:lnTo>
                  <a:pt x="3" y="40"/>
                </a:lnTo>
                <a:lnTo>
                  <a:pt x="3" y="38"/>
                </a:lnTo>
                <a:lnTo>
                  <a:pt x="0" y="40"/>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78" name="Freeform 2383">
            <a:extLst>
              <a:ext uri="{FF2B5EF4-FFF2-40B4-BE49-F238E27FC236}">
                <a16:creationId xmlns:a16="http://schemas.microsoft.com/office/drawing/2014/main" id="{ABA36003-DDC5-DD72-E236-6270D2EE0923}"/>
              </a:ext>
            </a:extLst>
          </p:cNvPr>
          <p:cNvSpPr>
            <a:spLocks noEditPoints="1"/>
          </p:cNvSpPr>
          <p:nvPr/>
        </p:nvSpPr>
        <p:spPr bwMode="auto">
          <a:xfrm>
            <a:off x="3441700" y="2540000"/>
            <a:ext cx="157163" cy="123825"/>
          </a:xfrm>
          <a:custGeom>
            <a:avLst/>
            <a:gdLst>
              <a:gd name="T0" fmla="*/ 99 w 99"/>
              <a:gd name="T1" fmla="*/ 38 h 78"/>
              <a:gd name="T2" fmla="*/ 97 w 99"/>
              <a:gd name="T3" fmla="*/ 33 h 78"/>
              <a:gd name="T4" fmla="*/ 97 w 99"/>
              <a:gd name="T5" fmla="*/ 26 h 78"/>
              <a:gd name="T6" fmla="*/ 96 w 99"/>
              <a:gd name="T7" fmla="*/ 21 h 78"/>
              <a:gd name="T8" fmla="*/ 94 w 99"/>
              <a:gd name="T9" fmla="*/ 16 h 78"/>
              <a:gd name="T10" fmla="*/ 91 w 99"/>
              <a:gd name="T11" fmla="*/ 12 h 78"/>
              <a:gd name="T12" fmla="*/ 87 w 99"/>
              <a:gd name="T13" fmla="*/ 8 h 78"/>
              <a:gd name="T14" fmla="*/ 84 w 99"/>
              <a:gd name="T15" fmla="*/ 3 h 78"/>
              <a:gd name="T16" fmla="*/ 81 w 99"/>
              <a:gd name="T17" fmla="*/ 0 h 78"/>
              <a:gd name="T18" fmla="*/ 77 w 99"/>
              <a:gd name="T19" fmla="*/ 2 h 78"/>
              <a:gd name="T20" fmla="*/ 81 w 99"/>
              <a:gd name="T21" fmla="*/ 5 h 78"/>
              <a:gd name="T22" fmla="*/ 84 w 99"/>
              <a:gd name="T23" fmla="*/ 8 h 78"/>
              <a:gd name="T24" fmla="*/ 87 w 99"/>
              <a:gd name="T25" fmla="*/ 13 h 78"/>
              <a:gd name="T26" fmla="*/ 91 w 99"/>
              <a:gd name="T27" fmla="*/ 16 h 78"/>
              <a:gd name="T28" fmla="*/ 92 w 99"/>
              <a:gd name="T29" fmla="*/ 21 h 78"/>
              <a:gd name="T30" fmla="*/ 94 w 99"/>
              <a:gd name="T31" fmla="*/ 28 h 78"/>
              <a:gd name="T32" fmla="*/ 94 w 99"/>
              <a:gd name="T33" fmla="*/ 33 h 78"/>
              <a:gd name="T34" fmla="*/ 96 w 99"/>
              <a:gd name="T35" fmla="*/ 38 h 78"/>
              <a:gd name="T36" fmla="*/ 96 w 99"/>
              <a:gd name="T37" fmla="*/ 40 h 78"/>
              <a:gd name="T38" fmla="*/ 96 w 99"/>
              <a:gd name="T39" fmla="*/ 41 h 78"/>
              <a:gd name="T40" fmla="*/ 96 w 99"/>
              <a:gd name="T41" fmla="*/ 43 h 78"/>
              <a:gd name="T42" fmla="*/ 99 w 99"/>
              <a:gd name="T43" fmla="*/ 41 h 78"/>
              <a:gd name="T44" fmla="*/ 99 w 99"/>
              <a:gd name="T45" fmla="*/ 40 h 78"/>
              <a:gd name="T46" fmla="*/ 99 w 99"/>
              <a:gd name="T47" fmla="*/ 38 h 78"/>
              <a:gd name="T48" fmla="*/ 0 w 99"/>
              <a:gd name="T49" fmla="*/ 36 h 78"/>
              <a:gd name="T50" fmla="*/ 0 w 99"/>
              <a:gd name="T51" fmla="*/ 36 h 78"/>
              <a:gd name="T52" fmla="*/ 0 w 99"/>
              <a:gd name="T53" fmla="*/ 38 h 78"/>
              <a:gd name="T54" fmla="*/ 0 w 99"/>
              <a:gd name="T55" fmla="*/ 45 h 78"/>
              <a:gd name="T56" fmla="*/ 1 w 99"/>
              <a:gd name="T57" fmla="*/ 50 h 78"/>
              <a:gd name="T58" fmla="*/ 3 w 99"/>
              <a:gd name="T59" fmla="*/ 55 h 78"/>
              <a:gd name="T60" fmla="*/ 5 w 99"/>
              <a:gd name="T61" fmla="*/ 61 h 78"/>
              <a:gd name="T62" fmla="*/ 8 w 99"/>
              <a:gd name="T63" fmla="*/ 65 h 78"/>
              <a:gd name="T64" fmla="*/ 11 w 99"/>
              <a:gd name="T65" fmla="*/ 69 h 78"/>
              <a:gd name="T66" fmla="*/ 15 w 99"/>
              <a:gd name="T67" fmla="*/ 74 h 78"/>
              <a:gd name="T68" fmla="*/ 18 w 99"/>
              <a:gd name="T69" fmla="*/ 78 h 78"/>
              <a:gd name="T70" fmla="*/ 21 w 99"/>
              <a:gd name="T71" fmla="*/ 76 h 78"/>
              <a:gd name="T72" fmla="*/ 18 w 99"/>
              <a:gd name="T73" fmla="*/ 73 h 78"/>
              <a:gd name="T74" fmla="*/ 15 w 99"/>
              <a:gd name="T75" fmla="*/ 69 h 78"/>
              <a:gd name="T76" fmla="*/ 11 w 99"/>
              <a:gd name="T77" fmla="*/ 65 h 78"/>
              <a:gd name="T78" fmla="*/ 8 w 99"/>
              <a:gd name="T79" fmla="*/ 60 h 78"/>
              <a:gd name="T80" fmla="*/ 6 w 99"/>
              <a:gd name="T81" fmla="*/ 55 h 78"/>
              <a:gd name="T82" fmla="*/ 5 w 99"/>
              <a:gd name="T83" fmla="*/ 50 h 78"/>
              <a:gd name="T84" fmla="*/ 3 w 99"/>
              <a:gd name="T85" fmla="*/ 45 h 78"/>
              <a:gd name="T86" fmla="*/ 3 w 99"/>
              <a:gd name="T87" fmla="*/ 38 h 78"/>
              <a:gd name="T88" fmla="*/ 3 w 99"/>
              <a:gd name="T89" fmla="*/ 36 h 78"/>
              <a:gd name="T90" fmla="*/ 3 w 99"/>
              <a:gd name="T91" fmla="*/ 35 h 78"/>
              <a:gd name="T92" fmla="*/ 0 w 99"/>
              <a:gd name="T93" fmla="*/ 36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9" h="78">
                <a:moveTo>
                  <a:pt x="99" y="38"/>
                </a:moveTo>
                <a:lnTo>
                  <a:pt x="97" y="33"/>
                </a:lnTo>
                <a:lnTo>
                  <a:pt x="97" y="26"/>
                </a:lnTo>
                <a:lnTo>
                  <a:pt x="96" y="21"/>
                </a:lnTo>
                <a:lnTo>
                  <a:pt x="94" y="16"/>
                </a:lnTo>
                <a:lnTo>
                  <a:pt x="91" y="12"/>
                </a:lnTo>
                <a:lnTo>
                  <a:pt x="87" y="8"/>
                </a:lnTo>
                <a:lnTo>
                  <a:pt x="84" y="3"/>
                </a:lnTo>
                <a:lnTo>
                  <a:pt x="81" y="0"/>
                </a:lnTo>
                <a:lnTo>
                  <a:pt x="77" y="2"/>
                </a:lnTo>
                <a:lnTo>
                  <a:pt x="81" y="5"/>
                </a:lnTo>
                <a:lnTo>
                  <a:pt x="84" y="8"/>
                </a:lnTo>
                <a:lnTo>
                  <a:pt x="87" y="13"/>
                </a:lnTo>
                <a:lnTo>
                  <a:pt x="91" y="16"/>
                </a:lnTo>
                <a:lnTo>
                  <a:pt x="92" y="21"/>
                </a:lnTo>
                <a:lnTo>
                  <a:pt x="94" y="28"/>
                </a:lnTo>
                <a:lnTo>
                  <a:pt x="94" y="33"/>
                </a:lnTo>
                <a:lnTo>
                  <a:pt x="96" y="38"/>
                </a:lnTo>
                <a:lnTo>
                  <a:pt x="96" y="40"/>
                </a:lnTo>
                <a:lnTo>
                  <a:pt x="96" y="41"/>
                </a:lnTo>
                <a:lnTo>
                  <a:pt x="96" y="43"/>
                </a:lnTo>
                <a:lnTo>
                  <a:pt x="99" y="41"/>
                </a:lnTo>
                <a:lnTo>
                  <a:pt x="99" y="40"/>
                </a:lnTo>
                <a:lnTo>
                  <a:pt x="99" y="38"/>
                </a:lnTo>
                <a:close/>
                <a:moveTo>
                  <a:pt x="0" y="36"/>
                </a:moveTo>
                <a:lnTo>
                  <a:pt x="0" y="36"/>
                </a:lnTo>
                <a:lnTo>
                  <a:pt x="0" y="38"/>
                </a:lnTo>
                <a:lnTo>
                  <a:pt x="0" y="45"/>
                </a:lnTo>
                <a:lnTo>
                  <a:pt x="1" y="50"/>
                </a:lnTo>
                <a:lnTo>
                  <a:pt x="3" y="55"/>
                </a:lnTo>
                <a:lnTo>
                  <a:pt x="5" y="61"/>
                </a:lnTo>
                <a:lnTo>
                  <a:pt x="8" y="65"/>
                </a:lnTo>
                <a:lnTo>
                  <a:pt x="11" y="69"/>
                </a:lnTo>
                <a:lnTo>
                  <a:pt x="15" y="74"/>
                </a:lnTo>
                <a:lnTo>
                  <a:pt x="18" y="78"/>
                </a:lnTo>
                <a:lnTo>
                  <a:pt x="21" y="76"/>
                </a:lnTo>
                <a:lnTo>
                  <a:pt x="18" y="73"/>
                </a:lnTo>
                <a:lnTo>
                  <a:pt x="15" y="69"/>
                </a:lnTo>
                <a:lnTo>
                  <a:pt x="11" y="65"/>
                </a:lnTo>
                <a:lnTo>
                  <a:pt x="8" y="60"/>
                </a:lnTo>
                <a:lnTo>
                  <a:pt x="6" y="55"/>
                </a:lnTo>
                <a:lnTo>
                  <a:pt x="5" y="50"/>
                </a:lnTo>
                <a:lnTo>
                  <a:pt x="3" y="45"/>
                </a:lnTo>
                <a:lnTo>
                  <a:pt x="3" y="38"/>
                </a:lnTo>
                <a:lnTo>
                  <a:pt x="3" y="36"/>
                </a:lnTo>
                <a:lnTo>
                  <a:pt x="3" y="35"/>
                </a:lnTo>
                <a:lnTo>
                  <a:pt x="0" y="36"/>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79" name="Freeform 2384">
            <a:extLst>
              <a:ext uri="{FF2B5EF4-FFF2-40B4-BE49-F238E27FC236}">
                <a16:creationId xmlns:a16="http://schemas.microsoft.com/office/drawing/2014/main" id="{5BE7800A-1ABD-A5DA-1C95-2BA4A0B6DA90}"/>
              </a:ext>
            </a:extLst>
          </p:cNvPr>
          <p:cNvSpPr>
            <a:spLocks noEditPoints="1"/>
          </p:cNvSpPr>
          <p:nvPr/>
        </p:nvSpPr>
        <p:spPr bwMode="auto">
          <a:xfrm>
            <a:off x="3443288" y="2540000"/>
            <a:ext cx="152400" cy="120650"/>
          </a:xfrm>
          <a:custGeom>
            <a:avLst/>
            <a:gdLst>
              <a:gd name="T0" fmla="*/ 96 w 96"/>
              <a:gd name="T1" fmla="*/ 38 h 76"/>
              <a:gd name="T2" fmla="*/ 95 w 96"/>
              <a:gd name="T3" fmla="*/ 33 h 76"/>
              <a:gd name="T4" fmla="*/ 95 w 96"/>
              <a:gd name="T5" fmla="*/ 26 h 76"/>
              <a:gd name="T6" fmla="*/ 93 w 96"/>
              <a:gd name="T7" fmla="*/ 21 h 76"/>
              <a:gd name="T8" fmla="*/ 91 w 96"/>
              <a:gd name="T9" fmla="*/ 16 h 76"/>
              <a:gd name="T10" fmla="*/ 88 w 96"/>
              <a:gd name="T11" fmla="*/ 12 h 76"/>
              <a:gd name="T12" fmla="*/ 85 w 96"/>
              <a:gd name="T13" fmla="*/ 8 h 76"/>
              <a:gd name="T14" fmla="*/ 81 w 96"/>
              <a:gd name="T15" fmla="*/ 3 h 76"/>
              <a:gd name="T16" fmla="*/ 78 w 96"/>
              <a:gd name="T17" fmla="*/ 0 h 76"/>
              <a:gd name="T18" fmla="*/ 75 w 96"/>
              <a:gd name="T19" fmla="*/ 2 h 76"/>
              <a:gd name="T20" fmla="*/ 78 w 96"/>
              <a:gd name="T21" fmla="*/ 5 h 76"/>
              <a:gd name="T22" fmla="*/ 81 w 96"/>
              <a:gd name="T23" fmla="*/ 10 h 76"/>
              <a:gd name="T24" fmla="*/ 85 w 96"/>
              <a:gd name="T25" fmla="*/ 13 h 76"/>
              <a:gd name="T26" fmla="*/ 88 w 96"/>
              <a:gd name="T27" fmla="*/ 18 h 76"/>
              <a:gd name="T28" fmla="*/ 90 w 96"/>
              <a:gd name="T29" fmla="*/ 23 h 76"/>
              <a:gd name="T30" fmla="*/ 91 w 96"/>
              <a:gd name="T31" fmla="*/ 28 h 76"/>
              <a:gd name="T32" fmla="*/ 91 w 96"/>
              <a:gd name="T33" fmla="*/ 33 h 76"/>
              <a:gd name="T34" fmla="*/ 93 w 96"/>
              <a:gd name="T35" fmla="*/ 38 h 76"/>
              <a:gd name="T36" fmla="*/ 93 w 96"/>
              <a:gd name="T37" fmla="*/ 40 h 76"/>
              <a:gd name="T38" fmla="*/ 93 w 96"/>
              <a:gd name="T39" fmla="*/ 41 h 76"/>
              <a:gd name="T40" fmla="*/ 93 w 96"/>
              <a:gd name="T41" fmla="*/ 43 h 76"/>
              <a:gd name="T42" fmla="*/ 91 w 96"/>
              <a:gd name="T43" fmla="*/ 45 h 76"/>
              <a:gd name="T44" fmla="*/ 96 w 96"/>
              <a:gd name="T45" fmla="*/ 43 h 76"/>
              <a:gd name="T46" fmla="*/ 96 w 96"/>
              <a:gd name="T47" fmla="*/ 41 h 76"/>
              <a:gd name="T48" fmla="*/ 96 w 96"/>
              <a:gd name="T49" fmla="*/ 40 h 76"/>
              <a:gd name="T50" fmla="*/ 96 w 96"/>
              <a:gd name="T51" fmla="*/ 38 h 76"/>
              <a:gd name="T52" fmla="*/ 0 w 96"/>
              <a:gd name="T53" fmla="*/ 36 h 76"/>
              <a:gd name="T54" fmla="*/ 0 w 96"/>
              <a:gd name="T55" fmla="*/ 36 h 76"/>
              <a:gd name="T56" fmla="*/ 0 w 96"/>
              <a:gd name="T57" fmla="*/ 38 h 76"/>
              <a:gd name="T58" fmla="*/ 0 w 96"/>
              <a:gd name="T59" fmla="*/ 45 h 76"/>
              <a:gd name="T60" fmla="*/ 2 w 96"/>
              <a:gd name="T61" fmla="*/ 50 h 76"/>
              <a:gd name="T62" fmla="*/ 4 w 96"/>
              <a:gd name="T63" fmla="*/ 55 h 76"/>
              <a:gd name="T64" fmla="*/ 5 w 96"/>
              <a:gd name="T65" fmla="*/ 60 h 76"/>
              <a:gd name="T66" fmla="*/ 9 w 96"/>
              <a:gd name="T67" fmla="*/ 65 h 76"/>
              <a:gd name="T68" fmla="*/ 12 w 96"/>
              <a:gd name="T69" fmla="*/ 69 h 76"/>
              <a:gd name="T70" fmla="*/ 15 w 96"/>
              <a:gd name="T71" fmla="*/ 73 h 76"/>
              <a:gd name="T72" fmla="*/ 18 w 96"/>
              <a:gd name="T73" fmla="*/ 76 h 76"/>
              <a:gd name="T74" fmla="*/ 23 w 96"/>
              <a:gd name="T75" fmla="*/ 74 h 76"/>
              <a:gd name="T76" fmla="*/ 18 w 96"/>
              <a:gd name="T77" fmla="*/ 71 h 76"/>
              <a:gd name="T78" fmla="*/ 15 w 96"/>
              <a:gd name="T79" fmla="*/ 68 h 76"/>
              <a:gd name="T80" fmla="*/ 12 w 96"/>
              <a:gd name="T81" fmla="*/ 65 h 76"/>
              <a:gd name="T82" fmla="*/ 9 w 96"/>
              <a:gd name="T83" fmla="*/ 60 h 76"/>
              <a:gd name="T84" fmla="*/ 7 w 96"/>
              <a:gd name="T85" fmla="*/ 55 h 76"/>
              <a:gd name="T86" fmla="*/ 5 w 96"/>
              <a:gd name="T87" fmla="*/ 50 h 76"/>
              <a:gd name="T88" fmla="*/ 4 w 96"/>
              <a:gd name="T89" fmla="*/ 45 h 76"/>
              <a:gd name="T90" fmla="*/ 4 w 96"/>
              <a:gd name="T91" fmla="*/ 38 h 76"/>
              <a:gd name="T92" fmla="*/ 4 w 96"/>
              <a:gd name="T93" fmla="*/ 36 h 76"/>
              <a:gd name="T94" fmla="*/ 4 w 96"/>
              <a:gd name="T95" fmla="*/ 35 h 76"/>
              <a:gd name="T96" fmla="*/ 0 w 96"/>
              <a:gd name="T97" fmla="*/ 36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96" h="76">
                <a:moveTo>
                  <a:pt x="96" y="38"/>
                </a:moveTo>
                <a:lnTo>
                  <a:pt x="95" y="33"/>
                </a:lnTo>
                <a:lnTo>
                  <a:pt x="95" y="26"/>
                </a:lnTo>
                <a:lnTo>
                  <a:pt x="93" y="21"/>
                </a:lnTo>
                <a:lnTo>
                  <a:pt x="91" y="16"/>
                </a:lnTo>
                <a:lnTo>
                  <a:pt x="88" y="12"/>
                </a:lnTo>
                <a:lnTo>
                  <a:pt x="85" y="8"/>
                </a:lnTo>
                <a:lnTo>
                  <a:pt x="81" y="3"/>
                </a:lnTo>
                <a:lnTo>
                  <a:pt x="78" y="0"/>
                </a:lnTo>
                <a:lnTo>
                  <a:pt x="75" y="2"/>
                </a:lnTo>
                <a:lnTo>
                  <a:pt x="78" y="5"/>
                </a:lnTo>
                <a:lnTo>
                  <a:pt x="81" y="10"/>
                </a:lnTo>
                <a:lnTo>
                  <a:pt x="85" y="13"/>
                </a:lnTo>
                <a:lnTo>
                  <a:pt x="88" y="18"/>
                </a:lnTo>
                <a:lnTo>
                  <a:pt x="90" y="23"/>
                </a:lnTo>
                <a:lnTo>
                  <a:pt x="91" y="28"/>
                </a:lnTo>
                <a:lnTo>
                  <a:pt x="91" y="33"/>
                </a:lnTo>
                <a:lnTo>
                  <a:pt x="93" y="38"/>
                </a:lnTo>
                <a:lnTo>
                  <a:pt x="93" y="40"/>
                </a:lnTo>
                <a:lnTo>
                  <a:pt x="93" y="41"/>
                </a:lnTo>
                <a:lnTo>
                  <a:pt x="93" y="43"/>
                </a:lnTo>
                <a:lnTo>
                  <a:pt x="91" y="45"/>
                </a:lnTo>
                <a:lnTo>
                  <a:pt x="96" y="43"/>
                </a:lnTo>
                <a:lnTo>
                  <a:pt x="96" y="41"/>
                </a:lnTo>
                <a:lnTo>
                  <a:pt x="96" y="40"/>
                </a:lnTo>
                <a:lnTo>
                  <a:pt x="96" y="38"/>
                </a:lnTo>
                <a:close/>
                <a:moveTo>
                  <a:pt x="0" y="36"/>
                </a:moveTo>
                <a:lnTo>
                  <a:pt x="0" y="36"/>
                </a:lnTo>
                <a:lnTo>
                  <a:pt x="0" y="38"/>
                </a:lnTo>
                <a:lnTo>
                  <a:pt x="0" y="45"/>
                </a:lnTo>
                <a:lnTo>
                  <a:pt x="2" y="50"/>
                </a:lnTo>
                <a:lnTo>
                  <a:pt x="4" y="55"/>
                </a:lnTo>
                <a:lnTo>
                  <a:pt x="5" y="60"/>
                </a:lnTo>
                <a:lnTo>
                  <a:pt x="9" y="65"/>
                </a:lnTo>
                <a:lnTo>
                  <a:pt x="12" y="69"/>
                </a:lnTo>
                <a:lnTo>
                  <a:pt x="15" y="73"/>
                </a:lnTo>
                <a:lnTo>
                  <a:pt x="18" y="76"/>
                </a:lnTo>
                <a:lnTo>
                  <a:pt x="23" y="74"/>
                </a:lnTo>
                <a:lnTo>
                  <a:pt x="18" y="71"/>
                </a:lnTo>
                <a:lnTo>
                  <a:pt x="15" y="68"/>
                </a:lnTo>
                <a:lnTo>
                  <a:pt x="12" y="65"/>
                </a:lnTo>
                <a:lnTo>
                  <a:pt x="9" y="60"/>
                </a:lnTo>
                <a:lnTo>
                  <a:pt x="7" y="55"/>
                </a:lnTo>
                <a:lnTo>
                  <a:pt x="5" y="50"/>
                </a:lnTo>
                <a:lnTo>
                  <a:pt x="4" y="45"/>
                </a:lnTo>
                <a:lnTo>
                  <a:pt x="4" y="38"/>
                </a:lnTo>
                <a:lnTo>
                  <a:pt x="4" y="36"/>
                </a:lnTo>
                <a:lnTo>
                  <a:pt x="4" y="35"/>
                </a:lnTo>
                <a:lnTo>
                  <a:pt x="0" y="36"/>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80" name="Freeform 2385">
            <a:extLst>
              <a:ext uri="{FF2B5EF4-FFF2-40B4-BE49-F238E27FC236}">
                <a16:creationId xmlns:a16="http://schemas.microsoft.com/office/drawing/2014/main" id="{32E03E0C-126E-C6E5-9F51-A686E8DEAEDC}"/>
              </a:ext>
            </a:extLst>
          </p:cNvPr>
          <p:cNvSpPr>
            <a:spLocks noEditPoints="1"/>
          </p:cNvSpPr>
          <p:nvPr/>
        </p:nvSpPr>
        <p:spPr bwMode="auto">
          <a:xfrm>
            <a:off x="3446463" y="2543175"/>
            <a:ext cx="147638" cy="117475"/>
          </a:xfrm>
          <a:custGeom>
            <a:avLst/>
            <a:gdLst>
              <a:gd name="T0" fmla="*/ 93 w 93"/>
              <a:gd name="T1" fmla="*/ 36 h 74"/>
              <a:gd name="T2" fmla="*/ 91 w 93"/>
              <a:gd name="T3" fmla="*/ 31 h 74"/>
              <a:gd name="T4" fmla="*/ 91 w 93"/>
              <a:gd name="T5" fmla="*/ 26 h 74"/>
              <a:gd name="T6" fmla="*/ 89 w 93"/>
              <a:gd name="T7" fmla="*/ 19 h 74"/>
              <a:gd name="T8" fmla="*/ 88 w 93"/>
              <a:gd name="T9" fmla="*/ 14 h 74"/>
              <a:gd name="T10" fmla="*/ 84 w 93"/>
              <a:gd name="T11" fmla="*/ 11 h 74"/>
              <a:gd name="T12" fmla="*/ 81 w 93"/>
              <a:gd name="T13" fmla="*/ 6 h 74"/>
              <a:gd name="T14" fmla="*/ 78 w 93"/>
              <a:gd name="T15" fmla="*/ 3 h 74"/>
              <a:gd name="T16" fmla="*/ 74 w 93"/>
              <a:gd name="T17" fmla="*/ 0 h 74"/>
              <a:gd name="T18" fmla="*/ 69 w 93"/>
              <a:gd name="T19" fmla="*/ 1 h 74"/>
              <a:gd name="T20" fmla="*/ 74 w 93"/>
              <a:gd name="T21" fmla="*/ 5 h 74"/>
              <a:gd name="T22" fmla="*/ 78 w 93"/>
              <a:gd name="T23" fmla="*/ 8 h 74"/>
              <a:gd name="T24" fmla="*/ 81 w 93"/>
              <a:gd name="T25" fmla="*/ 11 h 74"/>
              <a:gd name="T26" fmla="*/ 84 w 93"/>
              <a:gd name="T27" fmla="*/ 16 h 74"/>
              <a:gd name="T28" fmla="*/ 86 w 93"/>
              <a:gd name="T29" fmla="*/ 21 h 74"/>
              <a:gd name="T30" fmla="*/ 88 w 93"/>
              <a:gd name="T31" fmla="*/ 26 h 74"/>
              <a:gd name="T32" fmla="*/ 88 w 93"/>
              <a:gd name="T33" fmla="*/ 31 h 74"/>
              <a:gd name="T34" fmla="*/ 89 w 93"/>
              <a:gd name="T35" fmla="*/ 36 h 74"/>
              <a:gd name="T36" fmla="*/ 89 w 93"/>
              <a:gd name="T37" fmla="*/ 38 h 74"/>
              <a:gd name="T38" fmla="*/ 89 w 93"/>
              <a:gd name="T39" fmla="*/ 39 h 74"/>
              <a:gd name="T40" fmla="*/ 89 w 93"/>
              <a:gd name="T41" fmla="*/ 41 h 74"/>
              <a:gd name="T42" fmla="*/ 88 w 93"/>
              <a:gd name="T43" fmla="*/ 43 h 74"/>
              <a:gd name="T44" fmla="*/ 93 w 93"/>
              <a:gd name="T45" fmla="*/ 41 h 74"/>
              <a:gd name="T46" fmla="*/ 93 w 93"/>
              <a:gd name="T47" fmla="*/ 39 h 74"/>
              <a:gd name="T48" fmla="*/ 93 w 93"/>
              <a:gd name="T49" fmla="*/ 38 h 74"/>
              <a:gd name="T50" fmla="*/ 93 w 93"/>
              <a:gd name="T51" fmla="*/ 36 h 74"/>
              <a:gd name="T52" fmla="*/ 0 w 93"/>
              <a:gd name="T53" fmla="*/ 33 h 74"/>
              <a:gd name="T54" fmla="*/ 0 w 93"/>
              <a:gd name="T55" fmla="*/ 33 h 74"/>
              <a:gd name="T56" fmla="*/ 0 w 93"/>
              <a:gd name="T57" fmla="*/ 34 h 74"/>
              <a:gd name="T58" fmla="*/ 0 w 93"/>
              <a:gd name="T59" fmla="*/ 36 h 74"/>
              <a:gd name="T60" fmla="*/ 0 w 93"/>
              <a:gd name="T61" fmla="*/ 43 h 74"/>
              <a:gd name="T62" fmla="*/ 2 w 93"/>
              <a:gd name="T63" fmla="*/ 48 h 74"/>
              <a:gd name="T64" fmla="*/ 3 w 93"/>
              <a:gd name="T65" fmla="*/ 53 h 74"/>
              <a:gd name="T66" fmla="*/ 5 w 93"/>
              <a:gd name="T67" fmla="*/ 58 h 74"/>
              <a:gd name="T68" fmla="*/ 8 w 93"/>
              <a:gd name="T69" fmla="*/ 63 h 74"/>
              <a:gd name="T70" fmla="*/ 12 w 93"/>
              <a:gd name="T71" fmla="*/ 67 h 74"/>
              <a:gd name="T72" fmla="*/ 15 w 93"/>
              <a:gd name="T73" fmla="*/ 71 h 74"/>
              <a:gd name="T74" fmla="*/ 18 w 93"/>
              <a:gd name="T75" fmla="*/ 74 h 74"/>
              <a:gd name="T76" fmla="*/ 23 w 93"/>
              <a:gd name="T77" fmla="*/ 72 h 74"/>
              <a:gd name="T78" fmla="*/ 18 w 93"/>
              <a:gd name="T79" fmla="*/ 69 h 74"/>
              <a:gd name="T80" fmla="*/ 15 w 93"/>
              <a:gd name="T81" fmla="*/ 66 h 74"/>
              <a:gd name="T82" fmla="*/ 12 w 93"/>
              <a:gd name="T83" fmla="*/ 61 h 74"/>
              <a:gd name="T84" fmla="*/ 8 w 93"/>
              <a:gd name="T85" fmla="*/ 58 h 74"/>
              <a:gd name="T86" fmla="*/ 7 w 93"/>
              <a:gd name="T87" fmla="*/ 53 h 74"/>
              <a:gd name="T88" fmla="*/ 5 w 93"/>
              <a:gd name="T89" fmla="*/ 48 h 74"/>
              <a:gd name="T90" fmla="*/ 3 w 93"/>
              <a:gd name="T91" fmla="*/ 43 h 74"/>
              <a:gd name="T92" fmla="*/ 3 w 93"/>
              <a:gd name="T93" fmla="*/ 36 h 74"/>
              <a:gd name="T94" fmla="*/ 3 w 93"/>
              <a:gd name="T95" fmla="*/ 34 h 74"/>
              <a:gd name="T96" fmla="*/ 3 w 93"/>
              <a:gd name="T97" fmla="*/ 33 h 74"/>
              <a:gd name="T98" fmla="*/ 3 w 93"/>
              <a:gd name="T99" fmla="*/ 31 h 74"/>
              <a:gd name="T100" fmla="*/ 0 w 93"/>
              <a:gd name="T101" fmla="*/ 33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3" h="74">
                <a:moveTo>
                  <a:pt x="93" y="36"/>
                </a:moveTo>
                <a:lnTo>
                  <a:pt x="91" y="31"/>
                </a:lnTo>
                <a:lnTo>
                  <a:pt x="91" y="26"/>
                </a:lnTo>
                <a:lnTo>
                  <a:pt x="89" y="19"/>
                </a:lnTo>
                <a:lnTo>
                  <a:pt x="88" y="14"/>
                </a:lnTo>
                <a:lnTo>
                  <a:pt x="84" y="11"/>
                </a:lnTo>
                <a:lnTo>
                  <a:pt x="81" y="6"/>
                </a:lnTo>
                <a:lnTo>
                  <a:pt x="78" y="3"/>
                </a:lnTo>
                <a:lnTo>
                  <a:pt x="74" y="0"/>
                </a:lnTo>
                <a:lnTo>
                  <a:pt x="69" y="1"/>
                </a:lnTo>
                <a:lnTo>
                  <a:pt x="74" y="5"/>
                </a:lnTo>
                <a:lnTo>
                  <a:pt x="78" y="8"/>
                </a:lnTo>
                <a:lnTo>
                  <a:pt x="81" y="11"/>
                </a:lnTo>
                <a:lnTo>
                  <a:pt x="84" y="16"/>
                </a:lnTo>
                <a:lnTo>
                  <a:pt x="86" y="21"/>
                </a:lnTo>
                <a:lnTo>
                  <a:pt x="88" y="26"/>
                </a:lnTo>
                <a:lnTo>
                  <a:pt x="88" y="31"/>
                </a:lnTo>
                <a:lnTo>
                  <a:pt x="89" y="36"/>
                </a:lnTo>
                <a:lnTo>
                  <a:pt x="89" y="38"/>
                </a:lnTo>
                <a:lnTo>
                  <a:pt x="89" y="39"/>
                </a:lnTo>
                <a:lnTo>
                  <a:pt x="89" y="41"/>
                </a:lnTo>
                <a:lnTo>
                  <a:pt x="88" y="43"/>
                </a:lnTo>
                <a:lnTo>
                  <a:pt x="93" y="41"/>
                </a:lnTo>
                <a:lnTo>
                  <a:pt x="93" y="39"/>
                </a:lnTo>
                <a:lnTo>
                  <a:pt x="93" y="38"/>
                </a:lnTo>
                <a:lnTo>
                  <a:pt x="93" y="36"/>
                </a:lnTo>
                <a:close/>
                <a:moveTo>
                  <a:pt x="0" y="33"/>
                </a:moveTo>
                <a:lnTo>
                  <a:pt x="0" y="33"/>
                </a:lnTo>
                <a:lnTo>
                  <a:pt x="0" y="34"/>
                </a:lnTo>
                <a:lnTo>
                  <a:pt x="0" y="36"/>
                </a:lnTo>
                <a:lnTo>
                  <a:pt x="0" y="43"/>
                </a:lnTo>
                <a:lnTo>
                  <a:pt x="2" y="48"/>
                </a:lnTo>
                <a:lnTo>
                  <a:pt x="3" y="53"/>
                </a:lnTo>
                <a:lnTo>
                  <a:pt x="5" y="58"/>
                </a:lnTo>
                <a:lnTo>
                  <a:pt x="8" y="63"/>
                </a:lnTo>
                <a:lnTo>
                  <a:pt x="12" y="67"/>
                </a:lnTo>
                <a:lnTo>
                  <a:pt x="15" y="71"/>
                </a:lnTo>
                <a:lnTo>
                  <a:pt x="18" y="74"/>
                </a:lnTo>
                <a:lnTo>
                  <a:pt x="23" y="72"/>
                </a:lnTo>
                <a:lnTo>
                  <a:pt x="18" y="69"/>
                </a:lnTo>
                <a:lnTo>
                  <a:pt x="15" y="66"/>
                </a:lnTo>
                <a:lnTo>
                  <a:pt x="12" y="61"/>
                </a:lnTo>
                <a:lnTo>
                  <a:pt x="8" y="58"/>
                </a:lnTo>
                <a:lnTo>
                  <a:pt x="7" y="53"/>
                </a:lnTo>
                <a:lnTo>
                  <a:pt x="5" y="48"/>
                </a:lnTo>
                <a:lnTo>
                  <a:pt x="3" y="43"/>
                </a:lnTo>
                <a:lnTo>
                  <a:pt x="3" y="36"/>
                </a:lnTo>
                <a:lnTo>
                  <a:pt x="3" y="34"/>
                </a:lnTo>
                <a:lnTo>
                  <a:pt x="3" y="33"/>
                </a:lnTo>
                <a:lnTo>
                  <a:pt x="3" y="31"/>
                </a:lnTo>
                <a:lnTo>
                  <a:pt x="0" y="33"/>
                </a:lnTo>
                <a:close/>
              </a:path>
            </a:pathLst>
          </a:custGeom>
          <a:solidFill>
            <a:srgbClr val="E0F1F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81" name="Freeform 2386">
            <a:extLst>
              <a:ext uri="{FF2B5EF4-FFF2-40B4-BE49-F238E27FC236}">
                <a16:creationId xmlns:a16="http://schemas.microsoft.com/office/drawing/2014/main" id="{3FF882BE-0F56-64F3-0FA2-D18304A05373}"/>
              </a:ext>
            </a:extLst>
          </p:cNvPr>
          <p:cNvSpPr>
            <a:spLocks noEditPoints="1"/>
          </p:cNvSpPr>
          <p:nvPr/>
        </p:nvSpPr>
        <p:spPr bwMode="auto">
          <a:xfrm>
            <a:off x="3449638" y="2543175"/>
            <a:ext cx="141288" cy="114300"/>
          </a:xfrm>
          <a:custGeom>
            <a:avLst/>
            <a:gdLst>
              <a:gd name="T0" fmla="*/ 89 w 89"/>
              <a:gd name="T1" fmla="*/ 36 h 72"/>
              <a:gd name="T2" fmla="*/ 87 w 89"/>
              <a:gd name="T3" fmla="*/ 31 h 72"/>
              <a:gd name="T4" fmla="*/ 87 w 89"/>
              <a:gd name="T5" fmla="*/ 26 h 72"/>
              <a:gd name="T6" fmla="*/ 86 w 89"/>
              <a:gd name="T7" fmla="*/ 21 h 72"/>
              <a:gd name="T8" fmla="*/ 84 w 89"/>
              <a:gd name="T9" fmla="*/ 16 h 72"/>
              <a:gd name="T10" fmla="*/ 81 w 89"/>
              <a:gd name="T11" fmla="*/ 11 h 72"/>
              <a:gd name="T12" fmla="*/ 77 w 89"/>
              <a:gd name="T13" fmla="*/ 8 h 72"/>
              <a:gd name="T14" fmla="*/ 74 w 89"/>
              <a:gd name="T15" fmla="*/ 3 h 72"/>
              <a:gd name="T16" fmla="*/ 71 w 89"/>
              <a:gd name="T17" fmla="*/ 0 h 72"/>
              <a:gd name="T18" fmla="*/ 66 w 89"/>
              <a:gd name="T19" fmla="*/ 1 h 72"/>
              <a:gd name="T20" fmla="*/ 71 w 89"/>
              <a:gd name="T21" fmla="*/ 5 h 72"/>
              <a:gd name="T22" fmla="*/ 74 w 89"/>
              <a:gd name="T23" fmla="*/ 8 h 72"/>
              <a:gd name="T24" fmla="*/ 77 w 89"/>
              <a:gd name="T25" fmla="*/ 13 h 72"/>
              <a:gd name="T26" fmla="*/ 81 w 89"/>
              <a:gd name="T27" fmla="*/ 16 h 72"/>
              <a:gd name="T28" fmla="*/ 82 w 89"/>
              <a:gd name="T29" fmla="*/ 21 h 72"/>
              <a:gd name="T30" fmla="*/ 84 w 89"/>
              <a:gd name="T31" fmla="*/ 26 h 72"/>
              <a:gd name="T32" fmla="*/ 84 w 89"/>
              <a:gd name="T33" fmla="*/ 31 h 72"/>
              <a:gd name="T34" fmla="*/ 86 w 89"/>
              <a:gd name="T35" fmla="*/ 36 h 72"/>
              <a:gd name="T36" fmla="*/ 86 w 89"/>
              <a:gd name="T37" fmla="*/ 38 h 72"/>
              <a:gd name="T38" fmla="*/ 86 w 89"/>
              <a:gd name="T39" fmla="*/ 39 h 72"/>
              <a:gd name="T40" fmla="*/ 86 w 89"/>
              <a:gd name="T41" fmla="*/ 41 h 72"/>
              <a:gd name="T42" fmla="*/ 84 w 89"/>
              <a:gd name="T43" fmla="*/ 43 h 72"/>
              <a:gd name="T44" fmla="*/ 84 w 89"/>
              <a:gd name="T45" fmla="*/ 44 h 72"/>
              <a:gd name="T46" fmla="*/ 87 w 89"/>
              <a:gd name="T47" fmla="*/ 43 h 72"/>
              <a:gd name="T48" fmla="*/ 89 w 89"/>
              <a:gd name="T49" fmla="*/ 41 h 72"/>
              <a:gd name="T50" fmla="*/ 89 w 89"/>
              <a:gd name="T51" fmla="*/ 39 h 72"/>
              <a:gd name="T52" fmla="*/ 89 w 89"/>
              <a:gd name="T53" fmla="*/ 38 h 72"/>
              <a:gd name="T54" fmla="*/ 89 w 89"/>
              <a:gd name="T55" fmla="*/ 36 h 72"/>
              <a:gd name="T56" fmla="*/ 0 w 89"/>
              <a:gd name="T57" fmla="*/ 33 h 72"/>
              <a:gd name="T58" fmla="*/ 0 w 89"/>
              <a:gd name="T59" fmla="*/ 33 h 72"/>
              <a:gd name="T60" fmla="*/ 0 w 89"/>
              <a:gd name="T61" fmla="*/ 34 h 72"/>
              <a:gd name="T62" fmla="*/ 0 w 89"/>
              <a:gd name="T63" fmla="*/ 36 h 72"/>
              <a:gd name="T64" fmla="*/ 0 w 89"/>
              <a:gd name="T65" fmla="*/ 43 h 72"/>
              <a:gd name="T66" fmla="*/ 1 w 89"/>
              <a:gd name="T67" fmla="*/ 48 h 72"/>
              <a:gd name="T68" fmla="*/ 3 w 89"/>
              <a:gd name="T69" fmla="*/ 53 h 72"/>
              <a:gd name="T70" fmla="*/ 5 w 89"/>
              <a:gd name="T71" fmla="*/ 58 h 72"/>
              <a:gd name="T72" fmla="*/ 8 w 89"/>
              <a:gd name="T73" fmla="*/ 63 h 72"/>
              <a:gd name="T74" fmla="*/ 11 w 89"/>
              <a:gd name="T75" fmla="*/ 66 h 72"/>
              <a:gd name="T76" fmla="*/ 14 w 89"/>
              <a:gd name="T77" fmla="*/ 69 h 72"/>
              <a:gd name="T78" fmla="*/ 19 w 89"/>
              <a:gd name="T79" fmla="*/ 72 h 72"/>
              <a:gd name="T80" fmla="*/ 23 w 89"/>
              <a:gd name="T81" fmla="*/ 71 h 72"/>
              <a:gd name="T82" fmla="*/ 18 w 89"/>
              <a:gd name="T83" fmla="*/ 69 h 72"/>
              <a:gd name="T84" fmla="*/ 14 w 89"/>
              <a:gd name="T85" fmla="*/ 66 h 72"/>
              <a:gd name="T86" fmla="*/ 11 w 89"/>
              <a:gd name="T87" fmla="*/ 61 h 72"/>
              <a:gd name="T88" fmla="*/ 8 w 89"/>
              <a:gd name="T89" fmla="*/ 58 h 72"/>
              <a:gd name="T90" fmla="*/ 6 w 89"/>
              <a:gd name="T91" fmla="*/ 53 h 72"/>
              <a:gd name="T92" fmla="*/ 5 w 89"/>
              <a:gd name="T93" fmla="*/ 48 h 72"/>
              <a:gd name="T94" fmla="*/ 3 w 89"/>
              <a:gd name="T95" fmla="*/ 41 h 72"/>
              <a:gd name="T96" fmla="*/ 3 w 89"/>
              <a:gd name="T97" fmla="*/ 36 h 72"/>
              <a:gd name="T98" fmla="*/ 3 w 89"/>
              <a:gd name="T99" fmla="*/ 34 h 72"/>
              <a:gd name="T100" fmla="*/ 3 w 89"/>
              <a:gd name="T101" fmla="*/ 33 h 72"/>
              <a:gd name="T102" fmla="*/ 3 w 89"/>
              <a:gd name="T103" fmla="*/ 31 h 72"/>
              <a:gd name="T104" fmla="*/ 0 w 89"/>
              <a:gd name="T105" fmla="*/ 33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89" h="72">
                <a:moveTo>
                  <a:pt x="89" y="36"/>
                </a:moveTo>
                <a:lnTo>
                  <a:pt x="87" y="31"/>
                </a:lnTo>
                <a:lnTo>
                  <a:pt x="87" y="26"/>
                </a:lnTo>
                <a:lnTo>
                  <a:pt x="86" y="21"/>
                </a:lnTo>
                <a:lnTo>
                  <a:pt x="84" y="16"/>
                </a:lnTo>
                <a:lnTo>
                  <a:pt x="81" y="11"/>
                </a:lnTo>
                <a:lnTo>
                  <a:pt x="77" y="8"/>
                </a:lnTo>
                <a:lnTo>
                  <a:pt x="74" y="3"/>
                </a:lnTo>
                <a:lnTo>
                  <a:pt x="71" y="0"/>
                </a:lnTo>
                <a:lnTo>
                  <a:pt x="66" y="1"/>
                </a:lnTo>
                <a:lnTo>
                  <a:pt x="71" y="5"/>
                </a:lnTo>
                <a:lnTo>
                  <a:pt x="74" y="8"/>
                </a:lnTo>
                <a:lnTo>
                  <a:pt x="77" y="13"/>
                </a:lnTo>
                <a:lnTo>
                  <a:pt x="81" y="16"/>
                </a:lnTo>
                <a:lnTo>
                  <a:pt x="82" y="21"/>
                </a:lnTo>
                <a:lnTo>
                  <a:pt x="84" y="26"/>
                </a:lnTo>
                <a:lnTo>
                  <a:pt x="84" y="31"/>
                </a:lnTo>
                <a:lnTo>
                  <a:pt x="86" y="36"/>
                </a:lnTo>
                <a:lnTo>
                  <a:pt x="86" y="38"/>
                </a:lnTo>
                <a:lnTo>
                  <a:pt x="86" y="39"/>
                </a:lnTo>
                <a:lnTo>
                  <a:pt x="86" y="41"/>
                </a:lnTo>
                <a:lnTo>
                  <a:pt x="84" y="43"/>
                </a:lnTo>
                <a:lnTo>
                  <a:pt x="84" y="44"/>
                </a:lnTo>
                <a:lnTo>
                  <a:pt x="87" y="43"/>
                </a:lnTo>
                <a:lnTo>
                  <a:pt x="89" y="41"/>
                </a:lnTo>
                <a:lnTo>
                  <a:pt x="89" y="39"/>
                </a:lnTo>
                <a:lnTo>
                  <a:pt x="89" y="38"/>
                </a:lnTo>
                <a:lnTo>
                  <a:pt x="89" y="36"/>
                </a:lnTo>
                <a:close/>
                <a:moveTo>
                  <a:pt x="0" y="33"/>
                </a:moveTo>
                <a:lnTo>
                  <a:pt x="0" y="33"/>
                </a:lnTo>
                <a:lnTo>
                  <a:pt x="0" y="34"/>
                </a:lnTo>
                <a:lnTo>
                  <a:pt x="0" y="36"/>
                </a:lnTo>
                <a:lnTo>
                  <a:pt x="0" y="43"/>
                </a:lnTo>
                <a:lnTo>
                  <a:pt x="1" y="48"/>
                </a:lnTo>
                <a:lnTo>
                  <a:pt x="3" y="53"/>
                </a:lnTo>
                <a:lnTo>
                  <a:pt x="5" y="58"/>
                </a:lnTo>
                <a:lnTo>
                  <a:pt x="8" y="63"/>
                </a:lnTo>
                <a:lnTo>
                  <a:pt x="11" y="66"/>
                </a:lnTo>
                <a:lnTo>
                  <a:pt x="14" y="69"/>
                </a:lnTo>
                <a:lnTo>
                  <a:pt x="19" y="72"/>
                </a:lnTo>
                <a:lnTo>
                  <a:pt x="23" y="71"/>
                </a:lnTo>
                <a:lnTo>
                  <a:pt x="18" y="69"/>
                </a:lnTo>
                <a:lnTo>
                  <a:pt x="14" y="66"/>
                </a:lnTo>
                <a:lnTo>
                  <a:pt x="11" y="61"/>
                </a:lnTo>
                <a:lnTo>
                  <a:pt x="8" y="58"/>
                </a:lnTo>
                <a:lnTo>
                  <a:pt x="6" y="53"/>
                </a:lnTo>
                <a:lnTo>
                  <a:pt x="5" y="48"/>
                </a:lnTo>
                <a:lnTo>
                  <a:pt x="3" y="41"/>
                </a:lnTo>
                <a:lnTo>
                  <a:pt x="3" y="36"/>
                </a:lnTo>
                <a:lnTo>
                  <a:pt x="3" y="34"/>
                </a:lnTo>
                <a:lnTo>
                  <a:pt x="3" y="33"/>
                </a:lnTo>
                <a:lnTo>
                  <a:pt x="3" y="31"/>
                </a:lnTo>
                <a:lnTo>
                  <a:pt x="0" y="33"/>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82" name="Freeform 2387">
            <a:extLst>
              <a:ext uri="{FF2B5EF4-FFF2-40B4-BE49-F238E27FC236}">
                <a16:creationId xmlns:a16="http://schemas.microsoft.com/office/drawing/2014/main" id="{61B7F0A2-10C9-A141-FACA-1F6F5B02F2A7}"/>
              </a:ext>
            </a:extLst>
          </p:cNvPr>
          <p:cNvSpPr>
            <a:spLocks noEditPoints="1"/>
          </p:cNvSpPr>
          <p:nvPr/>
        </p:nvSpPr>
        <p:spPr bwMode="auto">
          <a:xfrm>
            <a:off x="3451225" y="2544763"/>
            <a:ext cx="136525" cy="112713"/>
          </a:xfrm>
          <a:custGeom>
            <a:avLst/>
            <a:gdLst>
              <a:gd name="T0" fmla="*/ 86 w 86"/>
              <a:gd name="T1" fmla="*/ 35 h 71"/>
              <a:gd name="T2" fmla="*/ 85 w 86"/>
              <a:gd name="T3" fmla="*/ 30 h 71"/>
              <a:gd name="T4" fmla="*/ 85 w 86"/>
              <a:gd name="T5" fmla="*/ 25 h 71"/>
              <a:gd name="T6" fmla="*/ 83 w 86"/>
              <a:gd name="T7" fmla="*/ 20 h 71"/>
              <a:gd name="T8" fmla="*/ 81 w 86"/>
              <a:gd name="T9" fmla="*/ 15 h 71"/>
              <a:gd name="T10" fmla="*/ 78 w 86"/>
              <a:gd name="T11" fmla="*/ 10 h 71"/>
              <a:gd name="T12" fmla="*/ 75 w 86"/>
              <a:gd name="T13" fmla="*/ 7 h 71"/>
              <a:gd name="T14" fmla="*/ 71 w 86"/>
              <a:gd name="T15" fmla="*/ 4 h 71"/>
              <a:gd name="T16" fmla="*/ 66 w 86"/>
              <a:gd name="T17" fmla="*/ 0 h 71"/>
              <a:gd name="T18" fmla="*/ 63 w 86"/>
              <a:gd name="T19" fmla="*/ 2 h 71"/>
              <a:gd name="T20" fmla="*/ 68 w 86"/>
              <a:gd name="T21" fmla="*/ 4 h 71"/>
              <a:gd name="T22" fmla="*/ 71 w 86"/>
              <a:gd name="T23" fmla="*/ 9 h 71"/>
              <a:gd name="T24" fmla="*/ 75 w 86"/>
              <a:gd name="T25" fmla="*/ 12 h 71"/>
              <a:gd name="T26" fmla="*/ 78 w 86"/>
              <a:gd name="T27" fmla="*/ 15 h 71"/>
              <a:gd name="T28" fmla="*/ 80 w 86"/>
              <a:gd name="T29" fmla="*/ 20 h 71"/>
              <a:gd name="T30" fmla="*/ 81 w 86"/>
              <a:gd name="T31" fmla="*/ 25 h 71"/>
              <a:gd name="T32" fmla="*/ 81 w 86"/>
              <a:gd name="T33" fmla="*/ 30 h 71"/>
              <a:gd name="T34" fmla="*/ 83 w 86"/>
              <a:gd name="T35" fmla="*/ 35 h 71"/>
              <a:gd name="T36" fmla="*/ 83 w 86"/>
              <a:gd name="T37" fmla="*/ 37 h 71"/>
              <a:gd name="T38" fmla="*/ 83 w 86"/>
              <a:gd name="T39" fmla="*/ 38 h 71"/>
              <a:gd name="T40" fmla="*/ 83 w 86"/>
              <a:gd name="T41" fmla="*/ 40 h 71"/>
              <a:gd name="T42" fmla="*/ 81 w 86"/>
              <a:gd name="T43" fmla="*/ 40 h 71"/>
              <a:gd name="T44" fmla="*/ 81 w 86"/>
              <a:gd name="T45" fmla="*/ 42 h 71"/>
              <a:gd name="T46" fmla="*/ 81 w 86"/>
              <a:gd name="T47" fmla="*/ 43 h 71"/>
              <a:gd name="T48" fmla="*/ 85 w 86"/>
              <a:gd name="T49" fmla="*/ 42 h 71"/>
              <a:gd name="T50" fmla="*/ 86 w 86"/>
              <a:gd name="T51" fmla="*/ 40 h 71"/>
              <a:gd name="T52" fmla="*/ 86 w 86"/>
              <a:gd name="T53" fmla="*/ 38 h 71"/>
              <a:gd name="T54" fmla="*/ 86 w 86"/>
              <a:gd name="T55" fmla="*/ 37 h 71"/>
              <a:gd name="T56" fmla="*/ 86 w 86"/>
              <a:gd name="T57" fmla="*/ 35 h 71"/>
              <a:gd name="T58" fmla="*/ 0 w 86"/>
              <a:gd name="T59" fmla="*/ 30 h 71"/>
              <a:gd name="T60" fmla="*/ 0 w 86"/>
              <a:gd name="T61" fmla="*/ 32 h 71"/>
              <a:gd name="T62" fmla="*/ 0 w 86"/>
              <a:gd name="T63" fmla="*/ 33 h 71"/>
              <a:gd name="T64" fmla="*/ 0 w 86"/>
              <a:gd name="T65" fmla="*/ 35 h 71"/>
              <a:gd name="T66" fmla="*/ 0 w 86"/>
              <a:gd name="T67" fmla="*/ 42 h 71"/>
              <a:gd name="T68" fmla="*/ 2 w 86"/>
              <a:gd name="T69" fmla="*/ 47 h 71"/>
              <a:gd name="T70" fmla="*/ 4 w 86"/>
              <a:gd name="T71" fmla="*/ 52 h 71"/>
              <a:gd name="T72" fmla="*/ 5 w 86"/>
              <a:gd name="T73" fmla="*/ 57 h 71"/>
              <a:gd name="T74" fmla="*/ 9 w 86"/>
              <a:gd name="T75" fmla="*/ 60 h 71"/>
              <a:gd name="T76" fmla="*/ 12 w 86"/>
              <a:gd name="T77" fmla="*/ 65 h 71"/>
              <a:gd name="T78" fmla="*/ 15 w 86"/>
              <a:gd name="T79" fmla="*/ 68 h 71"/>
              <a:gd name="T80" fmla="*/ 20 w 86"/>
              <a:gd name="T81" fmla="*/ 71 h 71"/>
              <a:gd name="T82" fmla="*/ 23 w 86"/>
              <a:gd name="T83" fmla="*/ 70 h 71"/>
              <a:gd name="T84" fmla="*/ 18 w 86"/>
              <a:gd name="T85" fmla="*/ 66 h 71"/>
              <a:gd name="T86" fmla="*/ 15 w 86"/>
              <a:gd name="T87" fmla="*/ 63 h 71"/>
              <a:gd name="T88" fmla="*/ 12 w 86"/>
              <a:gd name="T89" fmla="*/ 60 h 71"/>
              <a:gd name="T90" fmla="*/ 9 w 86"/>
              <a:gd name="T91" fmla="*/ 55 h 71"/>
              <a:gd name="T92" fmla="*/ 7 w 86"/>
              <a:gd name="T93" fmla="*/ 52 h 71"/>
              <a:gd name="T94" fmla="*/ 5 w 86"/>
              <a:gd name="T95" fmla="*/ 47 h 71"/>
              <a:gd name="T96" fmla="*/ 4 w 86"/>
              <a:gd name="T97" fmla="*/ 40 h 71"/>
              <a:gd name="T98" fmla="*/ 4 w 86"/>
              <a:gd name="T99" fmla="*/ 35 h 71"/>
              <a:gd name="T100" fmla="*/ 4 w 86"/>
              <a:gd name="T101" fmla="*/ 33 h 71"/>
              <a:gd name="T102" fmla="*/ 4 w 86"/>
              <a:gd name="T103" fmla="*/ 32 h 71"/>
              <a:gd name="T104" fmla="*/ 4 w 86"/>
              <a:gd name="T105" fmla="*/ 30 h 71"/>
              <a:gd name="T106" fmla="*/ 4 w 86"/>
              <a:gd name="T107" fmla="*/ 28 h 71"/>
              <a:gd name="T108" fmla="*/ 0 w 86"/>
              <a:gd name="T109" fmla="*/ 30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6" h="71">
                <a:moveTo>
                  <a:pt x="86" y="35"/>
                </a:moveTo>
                <a:lnTo>
                  <a:pt x="85" y="30"/>
                </a:lnTo>
                <a:lnTo>
                  <a:pt x="85" y="25"/>
                </a:lnTo>
                <a:lnTo>
                  <a:pt x="83" y="20"/>
                </a:lnTo>
                <a:lnTo>
                  <a:pt x="81" y="15"/>
                </a:lnTo>
                <a:lnTo>
                  <a:pt x="78" y="10"/>
                </a:lnTo>
                <a:lnTo>
                  <a:pt x="75" y="7"/>
                </a:lnTo>
                <a:lnTo>
                  <a:pt x="71" y="4"/>
                </a:lnTo>
                <a:lnTo>
                  <a:pt x="66" y="0"/>
                </a:lnTo>
                <a:lnTo>
                  <a:pt x="63" y="2"/>
                </a:lnTo>
                <a:lnTo>
                  <a:pt x="68" y="4"/>
                </a:lnTo>
                <a:lnTo>
                  <a:pt x="71" y="9"/>
                </a:lnTo>
                <a:lnTo>
                  <a:pt x="75" y="12"/>
                </a:lnTo>
                <a:lnTo>
                  <a:pt x="78" y="15"/>
                </a:lnTo>
                <a:lnTo>
                  <a:pt x="80" y="20"/>
                </a:lnTo>
                <a:lnTo>
                  <a:pt x="81" y="25"/>
                </a:lnTo>
                <a:lnTo>
                  <a:pt x="81" y="30"/>
                </a:lnTo>
                <a:lnTo>
                  <a:pt x="83" y="35"/>
                </a:lnTo>
                <a:lnTo>
                  <a:pt x="83" y="37"/>
                </a:lnTo>
                <a:lnTo>
                  <a:pt x="83" y="38"/>
                </a:lnTo>
                <a:lnTo>
                  <a:pt x="83" y="40"/>
                </a:lnTo>
                <a:lnTo>
                  <a:pt x="81" y="40"/>
                </a:lnTo>
                <a:lnTo>
                  <a:pt x="81" y="42"/>
                </a:lnTo>
                <a:lnTo>
                  <a:pt x="81" y="43"/>
                </a:lnTo>
                <a:lnTo>
                  <a:pt x="85" y="42"/>
                </a:lnTo>
                <a:lnTo>
                  <a:pt x="86" y="40"/>
                </a:lnTo>
                <a:lnTo>
                  <a:pt x="86" y="38"/>
                </a:lnTo>
                <a:lnTo>
                  <a:pt x="86" y="37"/>
                </a:lnTo>
                <a:lnTo>
                  <a:pt x="86" y="35"/>
                </a:lnTo>
                <a:close/>
                <a:moveTo>
                  <a:pt x="0" y="30"/>
                </a:moveTo>
                <a:lnTo>
                  <a:pt x="0" y="32"/>
                </a:lnTo>
                <a:lnTo>
                  <a:pt x="0" y="33"/>
                </a:lnTo>
                <a:lnTo>
                  <a:pt x="0" y="35"/>
                </a:lnTo>
                <a:lnTo>
                  <a:pt x="0" y="42"/>
                </a:lnTo>
                <a:lnTo>
                  <a:pt x="2" y="47"/>
                </a:lnTo>
                <a:lnTo>
                  <a:pt x="4" y="52"/>
                </a:lnTo>
                <a:lnTo>
                  <a:pt x="5" y="57"/>
                </a:lnTo>
                <a:lnTo>
                  <a:pt x="9" y="60"/>
                </a:lnTo>
                <a:lnTo>
                  <a:pt x="12" y="65"/>
                </a:lnTo>
                <a:lnTo>
                  <a:pt x="15" y="68"/>
                </a:lnTo>
                <a:lnTo>
                  <a:pt x="20" y="71"/>
                </a:lnTo>
                <a:lnTo>
                  <a:pt x="23" y="70"/>
                </a:lnTo>
                <a:lnTo>
                  <a:pt x="18" y="66"/>
                </a:lnTo>
                <a:lnTo>
                  <a:pt x="15" y="63"/>
                </a:lnTo>
                <a:lnTo>
                  <a:pt x="12" y="60"/>
                </a:lnTo>
                <a:lnTo>
                  <a:pt x="9" y="55"/>
                </a:lnTo>
                <a:lnTo>
                  <a:pt x="7" y="52"/>
                </a:lnTo>
                <a:lnTo>
                  <a:pt x="5" y="47"/>
                </a:lnTo>
                <a:lnTo>
                  <a:pt x="4" y="40"/>
                </a:lnTo>
                <a:lnTo>
                  <a:pt x="4" y="35"/>
                </a:lnTo>
                <a:lnTo>
                  <a:pt x="4" y="33"/>
                </a:lnTo>
                <a:lnTo>
                  <a:pt x="4" y="32"/>
                </a:lnTo>
                <a:lnTo>
                  <a:pt x="4" y="30"/>
                </a:lnTo>
                <a:lnTo>
                  <a:pt x="4" y="28"/>
                </a:lnTo>
                <a:lnTo>
                  <a:pt x="0" y="3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83" name="Freeform 2388">
            <a:extLst>
              <a:ext uri="{FF2B5EF4-FFF2-40B4-BE49-F238E27FC236}">
                <a16:creationId xmlns:a16="http://schemas.microsoft.com/office/drawing/2014/main" id="{D15AAFB3-0339-BF62-7C4B-2F53C7BA23BB}"/>
              </a:ext>
            </a:extLst>
          </p:cNvPr>
          <p:cNvSpPr>
            <a:spLocks noEditPoints="1"/>
          </p:cNvSpPr>
          <p:nvPr/>
        </p:nvSpPr>
        <p:spPr bwMode="auto">
          <a:xfrm>
            <a:off x="3454400" y="2544763"/>
            <a:ext cx="131763" cy="111125"/>
          </a:xfrm>
          <a:custGeom>
            <a:avLst/>
            <a:gdLst>
              <a:gd name="T0" fmla="*/ 83 w 83"/>
              <a:gd name="T1" fmla="*/ 35 h 70"/>
              <a:gd name="T2" fmla="*/ 81 w 83"/>
              <a:gd name="T3" fmla="*/ 30 h 70"/>
              <a:gd name="T4" fmla="*/ 81 w 83"/>
              <a:gd name="T5" fmla="*/ 25 h 70"/>
              <a:gd name="T6" fmla="*/ 79 w 83"/>
              <a:gd name="T7" fmla="*/ 20 h 70"/>
              <a:gd name="T8" fmla="*/ 78 w 83"/>
              <a:gd name="T9" fmla="*/ 15 h 70"/>
              <a:gd name="T10" fmla="*/ 74 w 83"/>
              <a:gd name="T11" fmla="*/ 12 h 70"/>
              <a:gd name="T12" fmla="*/ 71 w 83"/>
              <a:gd name="T13" fmla="*/ 7 h 70"/>
              <a:gd name="T14" fmla="*/ 68 w 83"/>
              <a:gd name="T15" fmla="*/ 4 h 70"/>
              <a:gd name="T16" fmla="*/ 63 w 83"/>
              <a:gd name="T17" fmla="*/ 0 h 70"/>
              <a:gd name="T18" fmla="*/ 60 w 83"/>
              <a:gd name="T19" fmla="*/ 2 h 70"/>
              <a:gd name="T20" fmla="*/ 64 w 83"/>
              <a:gd name="T21" fmla="*/ 5 h 70"/>
              <a:gd name="T22" fmla="*/ 68 w 83"/>
              <a:gd name="T23" fmla="*/ 9 h 70"/>
              <a:gd name="T24" fmla="*/ 71 w 83"/>
              <a:gd name="T25" fmla="*/ 12 h 70"/>
              <a:gd name="T26" fmla="*/ 74 w 83"/>
              <a:gd name="T27" fmla="*/ 17 h 70"/>
              <a:gd name="T28" fmla="*/ 76 w 83"/>
              <a:gd name="T29" fmla="*/ 20 h 70"/>
              <a:gd name="T30" fmla="*/ 78 w 83"/>
              <a:gd name="T31" fmla="*/ 25 h 70"/>
              <a:gd name="T32" fmla="*/ 78 w 83"/>
              <a:gd name="T33" fmla="*/ 30 h 70"/>
              <a:gd name="T34" fmla="*/ 79 w 83"/>
              <a:gd name="T35" fmla="*/ 35 h 70"/>
              <a:gd name="T36" fmla="*/ 79 w 83"/>
              <a:gd name="T37" fmla="*/ 37 h 70"/>
              <a:gd name="T38" fmla="*/ 79 w 83"/>
              <a:gd name="T39" fmla="*/ 38 h 70"/>
              <a:gd name="T40" fmla="*/ 79 w 83"/>
              <a:gd name="T41" fmla="*/ 40 h 70"/>
              <a:gd name="T42" fmla="*/ 78 w 83"/>
              <a:gd name="T43" fmla="*/ 42 h 70"/>
              <a:gd name="T44" fmla="*/ 78 w 83"/>
              <a:gd name="T45" fmla="*/ 43 h 70"/>
              <a:gd name="T46" fmla="*/ 78 w 83"/>
              <a:gd name="T47" fmla="*/ 45 h 70"/>
              <a:gd name="T48" fmla="*/ 81 w 83"/>
              <a:gd name="T49" fmla="*/ 43 h 70"/>
              <a:gd name="T50" fmla="*/ 81 w 83"/>
              <a:gd name="T51" fmla="*/ 42 h 70"/>
              <a:gd name="T52" fmla="*/ 83 w 83"/>
              <a:gd name="T53" fmla="*/ 40 h 70"/>
              <a:gd name="T54" fmla="*/ 83 w 83"/>
              <a:gd name="T55" fmla="*/ 38 h 70"/>
              <a:gd name="T56" fmla="*/ 83 w 83"/>
              <a:gd name="T57" fmla="*/ 37 h 70"/>
              <a:gd name="T58" fmla="*/ 83 w 83"/>
              <a:gd name="T59" fmla="*/ 35 h 70"/>
              <a:gd name="T60" fmla="*/ 0 w 83"/>
              <a:gd name="T61" fmla="*/ 30 h 70"/>
              <a:gd name="T62" fmla="*/ 0 w 83"/>
              <a:gd name="T63" fmla="*/ 30 h 70"/>
              <a:gd name="T64" fmla="*/ 0 w 83"/>
              <a:gd name="T65" fmla="*/ 32 h 70"/>
              <a:gd name="T66" fmla="*/ 0 w 83"/>
              <a:gd name="T67" fmla="*/ 33 h 70"/>
              <a:gd name="T68" fmla="*/ 0 w 83"/>
              <a:gd name="T69" fmla="*/ 35 h 70"/>
              <a:gd name="T70" fmla="*/ 0 w 83"/>
              <a:gd name="T71" fmla="*/ 40 h 70"/>
              <a:gd name="T72" fmla="*/ 2 w 83"/>
              <a:gd name="T73" fmla="*/ 47 h 70"/>
              <a:gd name="T74" fmla="*/ 3 w 83"/>
              <a:gd name="T75" fmla="*/ 52 h 70"/>
              <a:gd name="T76" fmla="*/ 5 w 83"/>
              <a:gd name="T77" fmla="*/ 57 h 70"/>
              <a:gd name="T78" fmla="*/ 8 w 83"/>
              <a:gd name="T79" fmla="*/ 60 h 70"/>
              <a:gd name="T80" fmla="*/ 11 w 83"/>
              <a:gd name="T81" fmla="*/ 65 h 70"/>
              <a:gd name="T82" fmla="*/ 15 w 83"/>
              <a:gd name="T83" fmla="*/ 68 h 70"/>
              <a:gd name="T84" fmla="*/ 20 w 83"/>
              <a:gd name="T85" fmla="*/ 70 h 70"/>
              <a:gd name="T86" fmla="*/ 23 w 83"/>
              <a:gd name="T87" fmla="*/ 68 h 70"/>
              <a:gd name="T88" fmla="*/ 18 w 83"/>
              <a:gd name="T89" fmla="*/ 66 h 70"/>
              <a:gd name="T90" fmla="*/ 15 w 83"/>
              <a:gd name="T91" fmla="*/ 63 h 70"/>
              <a:gd name="T92" fmla="*/ 11 w 83"/>
              <a:gd name="T93" fmla="*/ 60 h 70"/>
              <a:gd name="T94" fmla="*/ 8 w 83"/>
              <a:gd name="T95" fmla="*/ 55 h 70"/>
              <a:gd name="T96" fmla="*/ 7 w 83"/>
              <a:gd name="T97" fmla="*/ 50 h 70"/>
              <a:gd name="T98" fmla="*/ 5 w 83"/>
              <a:gd name="T99" fmla="*/ 45 h 70"/>
              <a:gd name="T100" fmla="*/ 3 w 83"/>
              <a:gd name="T101" fmla="*/ 40 h 70"/>
              <a:gd name="T102" fmla="*/ 3 w 83"/>
              <a:gd name="T103" fmla="*/ 35 h 70"/>
              <a:gd name="T104" fmla="*/ 3 w 83"/>
              <a:gd name="T105" fmla="*/ 33 h 70"/>
              <a:gd name="T106" fmla="*/ 3 w 83"/>
              <a:gd name="T107" fmla="*/ 32 h 70"/>
              <a:gd name="T108" fmla="*/ 3 w 83"/>
              <a:gd name="T109" fmla="*/ 30 h 70"/>
              <a:gd name="T110" fmla="*/ 3 w 83"/>
              <a:gd name="T111" fmla="*/ 28 h 70"/>
              <a:gd name="T112" fmla="*/ 0 w 83"/>
              <a:gd name="T113" fmla="*/ 3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83" h="70">
                <a:moveTo>
                  <a:pt x="83" y="35"/>
                </a:moveTo>
                <a:lnTo>
                  <a:pt x="81" y="30"/>
                </a:lnTo>
                <a:lnTo>
                  <a:pt x="81" y="25"/>
                </a:lnTo>
                <a:lnTo>
                  <a:pt x="79" y="20"/>
                </a:lnTo>
                <a:lnTo>
                  <a:pt x="78" y="15"/>
                </a:lnTo>
                <a:lnTo>
                  <a:pt x="74" y="12"/>
                </a:lnTo>
                <a:lnTo>
                  <a:pt x="71" y="7"/>
                </a:lnTo>
                <a:lnTo>
                  <a:pt x="68" y="4"/>
                </a:lnTo>
                <a:lnTo>
                  <a:pt x="63" y="0"/>
                </a:lnTo>
                <a:lnTo>
                  <a:pt x="60" y="2"/>
                </a:lnTo>
                <a:lnTo>
                  <a:pt x="64" y="5"/>
                </a:lnTo>
                <a:lnTo>
                  <a:pt x="68" y="9"/>
                </a:lnTo>
                <a:lnTo>
                  <a:pt x="71" y="12"/>
                </a:lnTo>
                <a:lnTo>
                  <a:pt x="74" y="17"/>
                </a:lnTo>
                <a:lnTo>
                  <a:pt x="76" y="20"/>
                </a:lnTo>
                <a:lnTo>
                  <a:pt x="78" y="25"/>
                </a:lnTo>
                <a:lnTo>
                  <a:pt x="78" y="30"/>
                </a:lnTo>
                <a:lnTo>
                  <a:pt x="79" y="35"/>
                </a:lnTo>
                <a:lnTo>
                  <a:pt x="79" y="37"/>
                </a:lnTo>
                <a:lnTo>
                  <a:pt x="79" y="38"/>
                </a:lnTo>
                <a:lnTo>
                  <a:pt x="79" y="40"/>
                </a:lnTo>
                <a:lnTo>
                  <a:pt x="78" y="42"/>
                </a:lnTo>
                <a:lnTo>
                  <a:pt x="78" y="43"/>
                </a:lnTo>
                <a:lnTo>
                  <a:pt x="78" y="45"/>
                </a:lnTo>
                <a:lnTo>
                  <a:pt x="81" y="43"/>
                </a:lnTo>
                <a:lnTo>
                  <a:pt x="81" y="42"/>
                </a:lnTo>
                <a:lnTo>
                  <a:pt x="83" y="40"/>
                </a:lnTo>
                <a:lnTo>
                  <a:pt x="83" y="38"/>
                </a:lnTo>
                <a:lnTo>
                  <a:pt x="83" y="37"/>
                </a:lnTo>
                <a:lnTo>
                  <a:pt x="83" y="35"/>
                </a:lnTo>
                <a:close/>
                <a:moveTo>
                  <a:pt x="0" y="30"/>
                </a:moveTo>
                <a:lnTo>
                  <a:pt x="0" y="30"/>
                </a:lnTo>
                <a:lnTo>
                  <a:pt x="0" y="32"/>
                </a:lnTo>
                <a:lnTo>
                  <a:pt x="0" y="33"/>
                </a:lnTo>
                <a:lnTo>
                  <a:pt x="0" y="35"/>
                </a:lnTo>
                <a:lnTo>
                  <a:pt x="0" y="40"/>
                </a:lnTo>
                <a:lnTo>
                  <a:pt x="2" y="47"/>
                </a:lnTo>
                <a:lnTo>
                  <a:pt x="3" y="52"/>
                </a:lnTo>
                <a:lnTo>
                  <a:pt x="5" y="57"/>
                </a:lnTo>
                <a:lnTo>
                  <a:pt x="8" y="60"/>
                </a:lnTo>
                <a:lnTo>
                  <a:pt x="11" y="65"/>
                </a:lnTo>
                <a:lnTo>
                  <a:pt x="15" y="68"/>
                </a:lnTo>
                <a:lnTo>
                  <a:pt x="20" y="70"/>
                </a:lnTo>
                <a:lnTo>
                  <a:pt x="23" y="68"/>
                </a:lnTo>
                <a:lnTo>
                  <a:pt x="18" y="66"/>
                </a:lnTo>
                <a:lnTo>
                  <a:pt x="15" y="63"/>
                </a:lnTo>
                <a:lnTo>
                  <a:pt x="11" y="60"/>
                </a:lnTo>
                <a:lnTo>
                  <a:pt x="8" y="55"/>
                </a:lnTo>
                <a:lnTo>
                  <a:pt x="7" y="50"/>
                </a:lnTo>
                <a:lnTo>
                  <a:pt x="5" y="45"/>
                </a:lnTo>
                <a:lnTo>
                  <a:pt x="3" y="40"/>
                </a:lnTo>
                <a:lnTo>
                  <a:pt x="3" y="35"/>
                </a:lnTo>
                <a:lnTo>
                  <a:pt x="3" y="33"/>
                </a:lnTo>
                <a:lnTo>
                  <a:pt x="3" y="32"/>
                </a:lnTo>
                <a:lnTo>
                  <a:pt x="3" y="30"/>
                </a:lnTo>
                <a:lnTo>
                  <a:pt x="3" y="28"/>
                </a:lnTo>
                <a:lnTo>
                  <a:pt x="0" y="30"/>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84" name="Freeform 2389">
            <a:extLst>
              <a:ext uri="{FF2B5EF4-FFF2-40B4-BE49-F238E27FC236}">
                <a16:creationId xmlns:a16="http://schemas.microsoft.com/office/drawing/2014/main" id="{8484655A-DB97-948D-5527-0CDF05115A10}"/>
              </a:ext>
            </a:extLst>
          </p:cNvPr>
          <p:cNvSpPr>
            <a:spLocks noEditPoints="1"/>
          </p:cNvSpPr>
          <p:nvPr/>
        </p:nvSpPr>
        <p:spPr bwMode="auto">
          <a:xfrm>
            <a:off x="3457575" y="2547938"/>
            <a:ext cx="125413" cy="107950"/>
          </a:xfrm>
          <a:custGeom>
            <a:avLst/>
            <a:gdLst>
              <a:gd name="T0" fmla="*/ 79 w 79"/>
              <a:gd name="T1" fmla="*/ 33 h 68"/>
              <a:gd name="T2" fmla="*/ 77 w 79"/>
              <a:gd name="T3" fmla="*/ 28 h 68"/>
              <a:gd name="T4" fmla="*/ 77 w 79"/>
              <a:gd name="T5" fmla="*/ 23 h 68"/>
              <a:gd name="T6" fmla="*/ 76 w 79"/>
              <a:gd name="T7" fmla="*/ 18 h 68"/>
              <a:gd name="T8" fmla="*/ 74 w 79"/>
              <a:gd name="T9" fmla="*/ 13 h 68"/>
              <a:gd name="T10" fmla="*/ 71 w 79"/>
              <a:gd name="T11" fmla="*/ 10 h 68"/>
              <a:gd name="T12" fmla="*/ 67 w 79"/>
              <a:gd name="T13" fmla="*/ 7 h 68"/>
              <a:gd name="T14" fmla="*/ 64 w 79"/>
              <a:gd name="T15" fmla="*/ 2 h 68"/>
              <a:gd name="T16" fmla="*/ 59 w 79"/>
              <a:gd name="T17" fmla="*/ 0 h 68"/>
              <a:gd name="T18" fmla="*/ 56 w 79"/>
              <a:gd name="T19" fmla="*/ 2 h 68"/>
              <a:gd name="T20" fmla="*/ 61 w 79"/>
              <a:gd name="T21" fmla="*/ 3 h 68"/>
              <a:gd name="T22" fmla="*/ 64 w 79"/>
              <a:gd name="T23" fmla="*/ 7 h 68"/>
              <a:gd name="T24" fmla="*/ 67 w 79"/>
              <a:gd name="T25" fmla="*/ 10 h 68"/>
              <a:gd name="T26" fmla="*/ 69 w 79"/>
              <a:gd name="T27" fmla="*/ 15 h 68"/>
              <a:gd name="T28" fmla="*/ 72 w 79"/>
              <a:gd name="T29" fmla="*/ 18 h 68"/>
              <a:gd name="T30" fmla="*/ 74 w 79"/>
              <a:gd name="T31" fmla="*/ 23 h 68"/>
              <a:gd name="T32" fmla="*/ 74 w 79"/>
              <a:gd name="T33" fmla="*/ 28 h 68"/>
              <a:gd name="T34" fmla="*/ 76 w 79"/>
              <a:gd name="T35" fmla="*/ 33 h 68"/>
              <a:gd name="T36" fmla="*/ 76 w 79"/>
              <a:gd name="T37" fmla="*/ 35 h 68"/>
              <a:gd name="T38" fmla="*/ 76 w 79"/>
              <a:gd name="T39" fmla="*/ 36 h 68"/>
              <a:gd name="T40" fmla="*/ 74 w 79"/>
              <a:gd name="T41" fmla="*/ 38 h 68"/>
              <a:gd name="T42" fmla="*/ 74 w 79"/>
              <a:gd name="T43" fmla="*/ 40 h 68"/>
              <a:gd name="T44" fmla="*/ 74 w 79"/>
              <a:gd name="T45" fmla="*/ 41 h 68"/>
              <a:gd name="T46" fmla="*/ 74 w 79"/>
              <a:gd name="T47" fmla="*/ 43 h 68"/>
              <a:gd name="T48" fmla="*/ 77 w 79"/>
              <a:gd name="T49" fmla="*/ 41 h 68"/>
              <a:gd name="T50" fmla="*/ 77 w 79"/>
              <a:gd name="T51" fmla="*/ 40 h 68"/>
              <a:gd name="T52" fmla="*/ 77 w 79"/>
              <a:gd name="T53" fmla="*/ 38 h 68"/>
              <a:gd name="T54" fmla="*/ 79 w 79"/>
              <a:gd name="T55" fmla="*/ 38 h 68"/>
              <a:gd name="T56" fmla="*/ 79 w 79"/>
              <a:gd name="T57" fmla="*/ 36 h 68"/>
              <a:gd name="T58" fmla="*/ 79 w 79"/>
              <a:gd name="T59" fmla="*/ 35 h 68"/>
              <a:gd name="T60" fmla="*/ 79 w 79"/>
              <a:gd name="T61" fmla="*/ 33 h 68"/>
              <a:gd name="T62" fmla="*/ 0 w 79"/>
              <a:gd name="T63" fmla="*/ 26 h 68"/>
              <a:gd name="T64" fmla="*/ 0 w 79"/>
              <a:gd name="T65" fmla="*/ 28 h 68"/>
              <a:gd name="T66" fmla="*/ 0 w 79"/>
              <a:gd name="T67" fmla="*/ 30 h 68"/>
              <a:gd name="T68" fmla="*/ 0 w 79"/>
              <a:gd name="T69" fmla="*/ 31 h 68"/>
              <a:gd name="T70" fmla="*/ 0 w 79"/>
              <a:gd name="T71" fmla="*/ 33 h 68"/>
              <a:gd name="T72" fmla="*/ 0 w 79"/>
              <a:gd name="T73" fmla="*/ 38 h 68"/>
              <a:gd name="T74" fmla="*/ 1 w 79"/>
              <a:gd name="T75" fmla="*/ 45 h 68"/>
              <a:gd name="T76" fmla="*/ 3 w 79"/>
              <a:gd name="T77" fmla="*/ 50 h 68"/>
              <a:gd name="T78" fmla="*/ 5 w 79"/>
              <a:gd name="T79" fmla="*/ 53 h 68"/>
              <a:gd name="T80" fmla="*/ 8 w 79"/>
              <a:gd name="T81" fmla="*/ 58 h 68"/>
              <a:gd name="T82" fmla="*/ 11 w 79"/>
              <a:gd name="T83" fmla="*/ 61 h 68"/>
              <a:gd name="T84" fmla="*/ 14 w 79"/>
              <a:gd name="T85" fmla="*/ 64 h 68"/>
              <a:gd name="T86" fmla="*/ 19 w 79"/>
              <a:gd name="T87" fmla="*/ 68 h 68"/>
              <a:gd name="T88" fmla="*/ 23 w 79"/>
              <a:gd name="T89" fmla="*/ 66 h 68"/>
              <a:gd name="T90" fmla="*/ 18 w 79"/>
              <a:gd name="T91" fmla="*/ 63 h 68"/>
              <a:gd name="T92" fmla="*/ 14 w 79"/>
              <a:gd name="T93" fmla="*/ 61 h 68"/>
              <a:gd name="T94" fmla="*/ 11 w 79"/>
              <a:gd name="T95" fmla="*/ 56 h 68"/>
              <a:gd name="T96" fmla="*/ 8 w 79"/>
              <a:gd name="T97" fmla="*/ 53 h 68"/>
              <a:gd name="T98" fmla="*/ 6 w 79"/>
              <a:gd name="T99" fmla="*/ 48 h 68"/>
              <a:gd name="T100" fmla="*/ 5 w 79"/>
              <a:gd name="T101" fmla="*/ 43 h 68"/>
              <a:gd name="T102" fmla="*/ 3 w 79"/>
              <a:gd name="T103" fmla="*/ 38 h 68"/>
              <a:gd name="T104" fmla="*/ 3 w 79"/>
              <a:gd name="T105" fmla="*/ 33 h 68"/>
              <a:gd name="T106" fmla="*/ 3 w 79"/>
              <a:gd name="T107" fmla="*/ 31 h 68"/>
              <a:gd name="T108" fmla="*/ 3 w 79"/>
              <a:gd name="T109" fmla="*/ 30 h 68"/>
              <a:gd name="T110" fmla="*/ 3 w 79"/>
              <a:gd name="T111" fmla="*/ 28 h 68"/>
              <a:gd name="T112" fmla="*/ 3 w 79"/>
              <a:gd name="T113" fmla="*/ 26 h 68"/>
              <a:gd name="T114" fmla="*/ 3 w 79"/>
              <a:gd name="T115" fmla="*/ 25 h 68"/>
              <a:gd name="T116" fmla="*/ 0 w 79"/>
              <a:gd name="T117" fmla="*/ 26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9" h="68">
                <a:moveTo>
                  <a:pt x="79" y="33"/>
                </a:moveTo>
                <a:lnTo>
                  <a:pt x="77" y="28"/>
                </a:lnTo>
                <a:lnTo>
                  <a:pt x="77" y="23"/>
                </a:lnTo>
                <a:lnTo>
                  <a:pt x="76" y="18"/>
                </a:lnTo>
                <a:lnTo>
                  <a:pt x="74" y="13"/>
                </a:lnTo>
                <a:lnTo>
                  <a:pt x="71" y="10"/>
                </a:lnTo>
                <a:lnTo>
                  <a:pt x="67" y="7"/>
                </a:lnTo>
                <a:lnTo>
                  <a:pt x="64" y="2"/>
                </a:lnTo>
                <a:lnTo>
                  <a:pt x="59" y="0"/>
                </a:lnTo>
                <a:lnTo>
                  <a:pt x="56" y="2"/>
                </a:lnTo>
                <a:lnTo>
                  <a:pt x="61" y="3"/>
                </a:lnTo>
                <a:lnTo>
                  <a:pt x="64" y="7"/>
                </a:lnTo>
                <a:lnTo>
                  <a:pt x="67" y="10"/>
                </a:lnTo>
                <a:lnTo>
                  <a:pt x="69" y="15"/>
                </a:lnTo>
                <a:lnTo>
                  <a:pt x="72" y="18"/>
                </a:lnTo>
                <a:lnTo>
                  <a:pt x="74" y="23"/>
                </a:lnTo>
                <a:lnTo>
                  <a:pt x="74" y="28"/>
                </a:lnTo>
                <a:lnTo>
                  <a:pt x="76" y="33"/>
                </a:lnTo>
                <a:lnTo>
                  <a:pt x="76" y="35"/>
                </a:lnTo>
                <a:lnTo>
                  <a:pt x="76" y="36"/>
                </a:lnTo>
                <a:lnTo>
                  <a:pt x="74" y="38"/>
                </a:lnTo>
                <a:lnTo>
                  <a:pt x="74" y="40"/>
                </a:lnTo>
                <a:lnTo>
                  <a:pt x="74" y="41"/>
                </a:lnTo>
                <a:lnTo>
                  <a:pt x="74" y="43"/>
                </a:lnTo>
                <a:lnTo>
                  <a:pt x="77" y="41"/>
                </a:lnTo>
                <a:lnTo>
                  <a:pt x="77" y="40"/>
                </a:lnTo>
                <a:lnTo>
                  <a:pt x="77" y="38"/>
                </a:lnTo>
                <a:lnTo>
                  <a:pt x="79" y="38"/>
                </a:lnTo>
                <a:lnTo>
                  <a:pt x="79" y="36"/>
                </a:lnTo>
                <a:lnTo>
                  <a:pt x="79" y="35"/>
                </a:lnTo>
                <a:lnTo>
                  <a:pt x="79" y="33"/>
                </a:lnTo>
                <a:close/>
                <a:moveTo>
                  <a:pt x="0" y="26"/>
                </a:moveTo>
                <a:lnTo>
                  <a:pt x="0" y="28"/>
                </a:lnTo>
                <a:lnTo>
                  <a:pt x="0" y="30"/>
                </a:lnTo>
                <a:lnTo>
                  <a:pt x="0" y="31"/>
                </a:lnTo>
                <a:lnTo>
                  <a:pt x="0" y="33"/>
                </a:lnTo>
                <a:lnTo>
                  <a:pt x="0" y="38"/>
                </a:lnTo>
                <a:lnTo>
                  <a:pt x="1" y="45"/>
                </a:lnTo>
                <a:lnTo>
                  <a:pt x="3" y="50"/>
                </a:lnTo>
                <a:lnTo>
                  <a:pt x="5" y="53"/>
                </a:lnTo>
                <a:lnTo>
                  <a:pt x="8" y="58"/>
                </a:lnTo>
                <a:lnTo>
                  <a:pt x="11" y="61"/>
                </a:lnTo>
                <a:lnTo>
                  <a:pt x="14" y="64"/>
                </a:lnTo>
                <a:lnTo>
                  <a:pt x="19" y="68"/>
                </a:lnTo>
                <a:lnTo>
                  <a:pt x="23" y="66"/>
                </a:lnTo>
                <a:lnTo>
                  <a:pt x="18" y="63"/>
                </a:lnTo>
                <a:lnTo>
                  <a:pt x="14" y="61"/>
                </a:lnTo>
                <a:lnTo>
                  <a:pt x="11" y="56"/>
                </a:lnTo>
                <a:lnTo>
                  <a:pt x="8" y="53"/>
                </a:lnTo>
                <a:lnTo>
                  <a:pt x="6" y="48"/>
                </a:lnTo>
                <a:lnTo>
                  <a:pt x="5" y="43"/>
                </a:lnTo>
                <a:lnTo>
                  <a:pt x="3" y="38"/>
                </a:lnTo>
                <a:lnTo>
                  <a:pt x="3" y="33"/>
                </a:lnTo>
                <a:lnTo>
                  <a:pt x="3" y="31"/>
                </a:lnTo>
                <a:lnTo>
                  <a:pt x="3" y="30"/>
                </a:lnTo>
                <a:lnTo>
                  <a:pt x="3" y="28"/>
                </a:lnTo>
                <a:lnTo>
                  <a:pt x="3" y="26"/>
                </a:lnTo>
                <a:lnTo>
                  <a:pt x="3" y="25"/>
                </a:lnTo>
                <a:lnTo>
                  <a:pt x="0" y="26"/>
                </a:lnTo>
                <a:close/>
              </a:path>
            </a:pathLst>
          </a:custGeom>
          <a:solidFill>
            <a:srgbClr val="E3F2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85" name="Freeform 2390">
            <a:extLst>
              <a:ext uri="{FF2B5EF4-FFF2-40B4-BE49-F238E27FC236}">
                <a16:creationId xmlns:a16="http://schemas.microsoft.com/office/drawing/2014/main" id="{0D28CB8B-9844-D1C0-B006-75644A5E80A6}"/>
              </a:ext>
            </a:extLst>
          </p:cNvPr>
          <p:cNvSpPr>
            <a:spLocks noEditPoints="1"/>
          </p:cNvSpPr>
          <p:nvPr/>
        </p:nvSpPr>
        <p:spPr bwMode="auto">
          <a:xfrm>
            <a:off x="3459163" y="2547938"/>
            <a:ext cx="120650" cy="104775"/>
          </a:xfrm>
          <a:custGeom>
            <a:avLst/>
            <a:gdLst>
              <a:gd name="T0" fmla="*/ 76 w 76"/>
              <a:gd name="T1" fmla="*/ 33 h 66"/>
              <a:gd name="T2" fmla="*/ 75 w 76"/>
              <a:gd name="T3" fmla="*/ 28 h 66"/>
              <a:gd name="T4" fmla="*/ 75 w 76"/>
              <a:gd name="T5" fmla="*/ 23 h 66"/>
              <a:gd name="T6" fmla="*/ 73 w 76"/>
              <a:gd name="T7" fmla="*/ 18 h 66"/>
              <a:gd name="T8" fmla="*/ 71 w 76"/>
              <a:gd name="T9" fmla="*/ 15 h 66"/>
              <a:gd name="T10" fmla="*/ 68 w 76"/>
              <a:gd name="T11" fmla="*/ 10 h 66"/>
              <a:gd name="T12" fmla="*/ 65 w 76"/>
              <a:gd name="T13" fmla="*/ 7 h 66"/>
              <a:gd name="T14" fmla="*/ 61 w 76"/>
              <a:gd name="T15" fmla="*/ 3 h 66"/>
              <a:gd name="T16" fmla="*/ 57 w 76"/>
              <a:gd name="T17" fmla="*/ 0 h 66"/>
              <a:gd name="T18" fmla="*/ 53 w 76"/>
              <a:gd name="T19" fmla="*/ 2 h 66"/>
              <a:gd name="T20" fmla="*/ 57 w 76"/>
              <a:gd name="T21" fmla="*/ 5 h 66"/>
              <a:gd name="T22" fmla="*/ 61 w 76"/>
              <a:gd name="T23" fmla="*/ 8 h 66"/>
              <a:gd name="T24" fmla="*/ 65 w 76"/>
              <a:gd name="T25" fmla="*/ 11 h 66"/>
              <a:gd name="T26" fmla="*/ 66 w 76"/>
              <a:gd name="T27" fmla="*/ 15 h 66"/>
              <a:gd name="T28" fmla="*/ 70 w 76"/>
              <a:gd name="T29" fmla="*/ 18 h 66"/>
              <a:gd name="T30" fmla="*/ 71 w 76"/>
              <a:gd name="T31" fmla="*/ 23 h 66"/>
              <a:gd name="T32" fmla="*/ 71 w 76"/>
              <a:gd name="T33" fmla="*/ 28 h 66"/>
              <a:gd name="T34" fmla="*/ 73 w 76"/>
              <a:gd name="T35" fmla="*/ 33 h 66"/>
              <a:gd name="T36" fmla="*/ 73 w 76"/>
              <a:gd name="T37" fmla="*/ 35 h 66"/>
              <a:gd name="T38" fmla="*/ 73 w 76"/>
              <a:gd name="T39" fmla="*/ 36 h 66"/>
              <a:gd name="T40" fmla="*/ 73 w 76"/>
              <a:gd name="T41" fmla="*/ 38 h 66"/>
              <a:gd name="T42" fmla="*/ 71 w 76"/>
              <a:gd name="T43" fmla="*/ 38 h 66"/>
              <a:gd name="T44" fmla="*/ 71 w 76"/>
              <a:gd name="T45" fmla="*/ 40 h 66"/>
              <a:gd name="T46" fmla="*/ 71 w 76"/>
              <a:gd name="T47" fmla="*/ 41 h 66"/>
              <a:gd name="T48" fmla="*/ 71 w 76"/>
              <a:gd name="T49" fmla="*/ 43 h 66"/>
              <a:gd name="T50" fmla="*/ 71 w 76"/>
              <a:gd name="T51" fmla="*/ 45 h 66"/>
              <a:gd name="T52" fmla="*/ 75 w 76"/>
              <a:gd name="T53" fmla="*/ 43 h 66"/>
              <a:gd name="T54" fmla="*/ 75 w 76"/>
              <a:gd name="T55" fmla="*/ 41 h 66"/>
              <a:gd name="T56" fmla="*/ 75 w 76"/>
              <a:gd name="T57" fmla="*/ 40 h 66"/>
              <a:gd name="T58" fmla="*/ 76 w 76"/>
              <a:gd name="T59" fmla="*/ 38 h 66"/>
              <a:gd name="T60" fmla="*/ 76 w 76"/>
              <a:gd name="T61" fmla="*/ 36 h 66"/>
              <a:gd name="T62" fmla="*/ 76 w 76"/>
              <a:gd name="T63" fmla="*/ 35 h 66"/>
              <a:gd name="T64" fmla="*/ 76 w 76"/>
              <a:gd name="T65" fmla="*/ 33 h 66"/>
              <a:gd name="T66" fmla="*/ 0 w 76"/>
              <a:gd name="T67" fmla="*/ 26 h 66"/>
              <a:gd name="T68" fmla="*/ 0 w 76"/>
              <a:gd name="T69" fmla="*/ 26 h 66"/>
              <a:gd name="T70" fmla="*/ 0 w 76"/>
              <a:gd name="T71" fmla="*/ 28 h 66"/>
              <a:gd name="T72" fmla="*/ 0 w 76"/>
              <a:gd name="T73" fmla="*/ 30 h 66"/>
              <a:gd name="T74" fmla="*/ 0 w 76"/>
              <a:gd name="T75" fmla="*/ 31 h 66"/>
              <a:gd name="T76" fmla="*/ 0 w 76"/>
              <a:gd name="T77" fmla="*/ 33 h 66"/>
              <a:gd name="T78" fmla="*/ 0 w 76"/>
              <a:gd name="T79" fmla="*/ 38 h 66"/>
              <a:gd name="T80" fmla="*/ 2 w 76"/>
              <a:gd name="T81" fmla="*/ 43 h 66"/>
              <a:gd name="T82" fmla="*/ 4 w 76"/>
              <a:gd name="T83" fmla="*/ 48 h 66"/>
              <a:gd name="T84" fmla="*/ 5 w 76"/>
              <a:gd name="T85" fmla="*/ 53 h 66"/>
              <a:gd name="T86" fmla="*/ 8 w 76"/>
              <a:gd name="T87" fmla="*/ 58 h 66"/>
              <a:gd name="T88" fmla="*/ 12 w 76"/>
              <a:gd name="T89" fmla="*/ 61 h 66"/>
              <a:gd name="T90" fmla="*/ 15 w 76"/>
              <a:gd name="T91" fmla="*/ 64 h 66"/>
              <a:gd name="T92" fmla="*/ 20 w 76"/>
              <a:gd name="T93" fmla="*/ 66 h 66"/>
              <a:gd name="T94" fmla="*/ 23 w 76"/>
              <a:gd name="T95" fmla="*/ 64 h 66"/>
              <a:gd name="T96" fmla="*/ 20 w 76"/>
              <a:gd name="T97" fmla="*/ 63 h 66"/>
              <a:gd name="T98" fmla="*/ 15 w 76"/>
              <a:gd name="T99" fmla="*/ 60 h 66"/>
              <a:gd name="T100" fmla="*/ 12 w 76"/>
              <a:gd name="T101" fmla="*/ 56 h 66"/>
              <a:gd name="T102" fmla="*/ 8 w 76"/>
              <a:gd name="T103" fmla="*/ 53 h 66"/>
              <a:gd name="T104" fmla="*/ 7 w 76"/>
              <a:gd name="T105" fmla="*/ 48 h 66"/>
              <a:gd name="T106" fmla="*/ 5 w 76"/>
              <a:gd name="T107" fmla="*/ 43 h 66"/>
              <a:gd name="T108" fmla="*/ 4 w 76"/>
              <a:gd name="T109" fmla="*/ 38 h 66"/>
              <a:gd name="T110" fmla="*/ 4 w 76"/>
              <a:gd name="T111" fmla="*/ 33 h 66"/>
              <a:gd name="T112" fmla="*/ 4 w 76"/>
              <a:gd name="T113" fmla="*/ 31 h 66"/>
              <a:gd name="T114" fmla="*/ 4 w 76"/>
              <a:gd name="T115" fmla="*/ 30 h 66"/>
              <a:gd name="T116" fmla="*/ 4 w 76"/>
              <a:gd name="T117" fmla="*/ 28 h 66"/>
              <a:gd name="T118" fmla="*/ 4 w 76"/>
              <a:gd name="T119" fmla="*/ 26 h 66"/>
              <a:gd name="T120" fmla="*/ 4 w 76"/>
              <a:gd name="T121" fmla="*/ 25 h 66"/>
              <a:gd name="T122" fmla="*/ 0 w 76"/>
              <a:gd name="T123" fmla="*/ 2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6" h="66">
                <a:moveTo>
                  <a:pt x="76" y="33"/>
                </a:moveTo>
                <a:lnTo>
                  <a:pt x="75" y="28"/>
                </a:lnTo>
                <a:lnTo>
                  <a:pt x="75" y="23"/>
                </a:lnTo>
                <a:lnTo>
                  <a:pt x="73" y="18"/>
                </a:lnTo>
                <a:lnTo>
                  <a:pt x="71" y="15"/>
                </a:lnTo>
                <a:lnTo>
                  <a:pt x="68" y="10"/>
                </a:lnTo>
                <a:lnTo>
                  <a:pt x="65" y="7"/>
                </a:lnTo>
                <a:lnTo>
                  <a:pt x="61" y="3"/>
                </a:lnTo>
                <a:lnTo>
                  <a:pt x="57" y="0"/>
                </a:lnTo>
                <a:lnTo>
                  <a:pt x="53" y="2"/>
                </a:lnTo>
                <a:lnTo>
                  <a:pt x="57" y="5"/>
                </a:lnTo>
                <a:lnTo>
                  <a:pt x="61" y="8"/>
                </a:lnTo>
                <a:lnTo>
                  <a:pt x="65" y="11"/>
                </a:lnTo>
                <a:lnTo>
                  <a:pt x="66" y="15"/>
                </a:lnTo>
                <a:lnTo>
                  <a:pt x="70" y="18"/>
                </a:lnTo>
                <a:lnTo>
                  <a:pt x="71" y="23"/>
                </a:lnTo>
                <a:lnTo>
                  <a:pt x="71" y="28"/>
                </a:lnTo>
                <a:lnTo>
                  <a:pt x="73" y="33"/>
                </a:lnTo>
                <a:lnTo>
                  <a:pt x="73" y="35"/>
                </a:lnTo>
                <a:lnTo>
                  <a:pt x="73" y="36"/>
                </a:lnTo>
                <a:lnTo>
                  <a:pt x="73" y="38"/>
                </a:lnTo>
                <a:lnTo>
                  <a:pt x="71" y="38"/>
                </a:lnTo>
                <a:lnTo>
                  <a:pt x="71" y="40"/>
                </a:lnTo>
                <a:lnTo>
                  <a:pt x="71" y="41"/>
                </a:lnTo>
                <a:lnTo>
                  <a:pt x="71" y="43"/>
                </a:lnTo>
                <a:lnTo>
                  <a:pt x="71" y="45"/>
                </a:lnTo>
                <a:lnTo>
                  <a:pt x="75" y="43"/>
                </a:lnTo>
                <a:lnTo>
                  <a:pt x="75" y="41"/>
                </a:lnTo>
                <a:lnTo>
                  <a:pt x="75" y="40"/>
                </a:lnTo>
                <a:lnTo>
                  <a:pt x="76" y="38"/>
                </a:lnTo>
                <a:lnTo>
                  <a:pt x="76" y="36"/>
                </a:lnTo>
                <a:lnTo>
                  <a:pt x="76" y="35"/>
                </a:lnTo>
                <a:lnTo>
                  <a:pt x="76" y="33"/>
                </a:lnTo>
                <a:close/>
                <a:moveTo>
                  <a:pt x="0" y="26"/>
                </a:moveTo>
                <a:lnTo>
                  <a:pt x="0" y="26"/>
                </a:lnTo>
                <a:lnTo>
                  <a:pt x="0" y="28"/>
                </a:lnTo>
                <a:lnTo>
                  <a:pt x="0" y="30"/>
                </a:lnTo>
                <a:lnTo>
                  <a:pt x="0" y="31"/>
                </a:lnTo>
                <a:lnTo>
                  <a:pt x="0" y="33"/>
                </a:lnTo>
                <a:lnTo>
                  <a:pt x="0" y="38"/>
                </a:lnTo>
                <a:lnTo>
                  <a:pt x="2" y="43"/>
                </a:lnTo>
                <a:lnTo>
                  <a:pt x="4" y="48"/>
                </a:lnTo>
                <a:lnTo>
                  <a:pt x="5" y="53"/>
                </a:lnTo>
                <a:lnTo>
                  <a:pt x="8" y="58"/>
                </a:lnTo>
                <a:lnTo>
                  <a:pt x="12" y="61"/>
                </a:lnTo>
                <a:lnTo>
                  <a:pt x="15" y="64"/>
                </a:lnTo>
                <a:lnTo>
                  <a:pt x="20" y="66"/>
                </a:lnTo>
                <a:lnTo>
                  <a:pt x="23" y="64"/>
                </a:lnTo>
                <a:lnTo>
                  <a:pt x="20" y="63"/>
                </a:lnTo>
                <a:lnTo>
                  <a:pt x="15" y="60"/>
                </a:lnTo>
                <a:lnTo>
                  <a:pt x="12" y="56"/>
                </a:lnTo>
                <a:lnTo>
                  <a:pt x="8" y="53"/>
                </a:lnTo>
                <a:lnTo>
                  <a:pt x="7" y="48"/>
                </a:lnTo>
                <a:lnTo>
                  <a:pt x="5" y="43"/>
                </a:lnTo>
                <a:lnTo>
                  <a:pt x="4" y="38"/>
                </a:lnTo>
                <a:lnTo>
                  <a:pt x="4" y="33"/>
                </a:lnTo>
                <a:lnTo>
                  <a:pt x="4" y="31"/>
                </a:lnTo>
                <a:lnTo>
                  <a:pt x="4" y="30"/>
                </a:lnTo>
                <a:lnTo>
                  <a:pt x="4" y="28"/>
                </a:lnTo>
                <a:lnTo>
                  <a:pt x="4" y="26"/>
                </a:lnTo>
                <a:lnTo>
                  <a:pt x="4" y="25"/>
                </a:lnTo>
                <a:lnTo>
                  <a:pt x="0" y="26"/>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86" name="Freeform 2391">
            <a:extLst>
              <a:ext uri="{FF2B5EF4-FFF2-40B4-BE49-F238E27FC236}">
                <a16:creationId xmlns:a16="http://schemas.microsoft.com/office/drawing/2014/main" id="{F9F27943-8409-C77A-7A06-D4AFFCEA3D95}"/>
              </a:ext>
            </a:extLst>
          </p:cNvPr>
          <p:cNvSpPr>
            <a:spLocks noEditPoints="1"/>
          </p:cNvSpPr>
          <p:nvPr/>
        </p:nvSpPr>
        <p:spPr bwMode="auto">
          <a:xfrm>
            <a:off x="3462338" y="2551113"/>
            <a:ext cx="115888" cy="101600"/>
          </a:xfrm>
          <a:custGeom>
            <a:avLst/>
            <a:gdLst>
              <a:gd name="T0" fmla="*/ 73 w 73"/>
              <a:gd name="T1" fmla="*/ 31 h 64"/>
              <a:gd name="T2" fmla="*/ 71 w 73"/>
              <a:gd name="T3" fmla="*/ 26 h 64"/>
              <a:gd name="T4" fmla="*/ 71 w 73"/>
              <a:gd name="T5" fmla="*/ 21 h 64"/>
              <a:gd name="T6" fmla="*/ 69 w 73"/>
              <a:gd name="T7" fmla="*/ 16 h 64"/>
              <a:gd name="T8" fmla="*/ 66 w 73"/>
              <a:gd name="T9" fmla="*/ 13 h 64"/>
              <a:gd name="T10" fmla="*/ 64 w 73"/>
              <a:gd name="T11" fmla="*/ 8 h 64"/>
              <a:gd name="T12" fmla="*/ 61 w 73"/>
              <a:gd name="T13" fmla="*/ 5 h 64"/>
              <a:gd name="T14" fmla="*/ 58 w 73"/>
              <a:gd name="T15" fmla="*/ 1 h 64"/>
              <a:gd name="T16" fmla="*/ 53 w 73"/>
              <a:gd name="T17" fmla="*/ 0 h 64"/>
              <a:gd name="T18" fmla="*/ 50 w 73"/>
              <a:gd name="T19" fmla="*/ 1 h 64"/>
              <a:gd name="T20" fmla="*/ 53 w 73"/>
              <a:gd name="T21" fmla="*/ 3 h 64"/>
              <a:gd name="T22" fmla="*/ 58 w 73"/>
              <a:gd name="T23" fmla="*/ 6 h 64"/>
              <a:gd name="T24" fmla="*/ 61 w 73"/>
              <a:gd name="T25" fmla="*/ 9 h 64"/>
              <a:gd name="T26" fmla="*/ 63 w 73"/>
              <a:gd name="T27" fmla="*/ 13 h 64"/>
              <a:gd name="T28" fmla="*/ 66 w 73"/>
              <a:gd name="T29" fmla="*/ 18 h 64"/>
              <a:gd name="T30" fmla="*/ 68 w 73"/>
              <a:gd name="T31" fmla="*/ 21 h 64"/>
              <a:gd name="T32" fmla="*/ 68 w 73"/>
              <a:gd name="T33" fmla="*/ 26 h 64"/>
              <a:gd name="T34" fmla="*/ 69 w 73"/>
              <a:gd name="T35" fmla="*/ 31 h 64"/>
              <a:gd name="T36" fmla="*/ 69 w 73"/>
              <a:gd name="T37" fmla="*/ 33 h 64"/>
              <a:gd name="T38" fmla="*/ 69 w 73"/>
              <a:gd name="T39" fmla="*/ 34 h 64"/>
              <a:gd name="T40" fmla="*/ 69 w 73"/>
              <a:gd name="T41" fmla="*/ 36 h 64"/>
              <a:gd name="T42" fmla="*/ 68 w 73"/>
              <a:gd name="T43" fmla="*/ 38 h 64"/>
              <a:gd name="T44" fmla="*/ 68 w 73"/>
              <a:gd name="T45" fmla="*/ 39 h 64"/>
              <a:gd name="T46" fmla="*/ 68 w 73"/>
              <a:gd name="T47" fmla="*/ 41 h 64"/>
              <a:gd name="T48" fmla="*/ 66 w 73"/>
              <a:gd name="T49" fmla="*/ 43 h 64"/>
              <a:gd name="T50" fmla="*/ 71 w 73"/>
              <a:gd name="T51" fmla="*/ 41 h 64"/>
              <a:gd name="T52" fmla="*/ 71 w 73"/>
              <a:gd name="T53" fmla="*/ 39 h 64"/>
              <a:gd name="T54" fmla="*/ 71 w 73"/>
              <a:gd name="T55" fmla="*/ 38 h 64"/>
              <a:gd name="T56" fmla="*/ 71 w 73"/>
              <a:gd name="T57" fmla="*/ 36 h 64"/>
              <a:gd name="T58" fmla="*/ 73 w 73"/>
              <a:gd name="T59" fmla="*/ 34 h 64"/>
              <a:gd name="T60" fmla="*/ 73 w 73"/>
              <a:gd name="T61" fmla="*/ 33 h 64"/>
              <a:gd name="T62" fmla="*/ 73 w 73"/>
              <a:gd name="T63" fmla="*/ 31 h 64"/>
              <a:gd name="T64" fmla="*/ 0 w 73"/>
              <a:gd name="T65" fmla="*/ 23 h 64"/>
              <a:gd name="T66" fmla="*/ 0 w 73"/>
              <a:gd name="T67" fmla="*/ 24 h 64"/>
              <a:gd name="T68" fmla="*/ 0 w 73"/>
              <a:gd name="T69" fmla="*/ 26 h 64"/>
              <a:gd name="T70" fmla="*/ 0 w 73"/>
              <a:gd name="T71" fmla="*/ 28 h 64"/>
              <a:gd name="T72" fmla="*/ 0 w 73"/>
              <a:gd name="T73" fmla="*/ 29 h 64"/>
              <a:gd name="T74" fmla="*/ 0 w 73"/>
              <a:gd name="T75" fmla="*/ 31 h 64"/>
              <a:gd name="T76" fmla="*/ 0 w 73"/>
              <a:gd name="T77" fmla="*/ 36 h 64"/>
              <a:gd name="T78" fmla="*/ 2 w 73"/>
              <a:gd name="T79" fmla="*/ 41 h 64"/>
              <a:gd name="T80" fmla="*/ 3 w 73"/>
              <a:gd name="T81" fmla="*/ 46 h 64"/>
              <a:gd name="T82" fmla="*/ 5 w 73"/>
              <a:gd name="T83" fmla="*/ 51 h 64"/>
              <a:gd name="T84" fmla="*/ 8 w 73"/>
              <a:gd name="T85" fmla="*/ 54 h 64"/>
              <a:gd name="T86" fmla="*/ 11 w 73"/>
              <a:gd name="T87" fmla="*/ 59 h 64"/>
              <a:gd name="T88" fmla="*/ 15 w 73"/>
              <a:gd name="T89" fmla="*/ 61 h 64"/>
              <a:gd name="T90" fmla="*/ 20 w 73"/>
              <a:gd name="T91" fmla="*/ 64 h 64"/>
              <a:gd name="T92" fmla="*/ 25 w 73"/>
              <a:gd name="T93" fmla="*/ 62 h 64"/>
              <a:gd name="T94" fmla="*/ 20 w 73"/>
              <a:gd name="T95" fmla="*/ 61 h 64"/>
              <a:gd name="T96" fmla="*/ 15 w 73"/>
              <a:gd name="T97" fmla="*/ 58 h 64"/>
              <a:gd name="T98" fmla="*/ 11 w 73"/>
              <a:gd name="T99" fmla="*/ 54 h 64"/>
              <a:gd name="T100" fmla="*/ 8 w 73"/>
              <a:gd name="T101" fmla="*/ 51 h 64"/>
              <a:gd name="T102" fmla="*/ 6 w 73"/>
              <a:gd name="T103" fmla="*/ 46 h 64"/>
              <a:gd name="T104" fmla="*/ 5 w 73"/>
              <a:gd name="T105" fmla="*/ 41 h 64"/>
              <a:gd name="T106" fmla="*/ 3 w 73"/>
              <a:gd name="T107" fmla="*/ 36 h 64"/>
              <a:gd name="T108" fmla="*/ 3 w 73"/>
              <a:gd name="T109" fmla="*/ 31 h 64"/>
              <a:gd name="T110" fmla="*/ 3 w 73"/>
              <a:gd name="T111" fmla="*/ 29 h 64"/>
              <a:gd name="T112" fmla="*/ 3 w 73"/>
              <a:gd name="T113" fmla="*/ 28 h 64"/>
              <a:gd name="T114" fmla="*/ 3 w 73"/>
              <a:gd name="T115" fmla="*/ 26 h 64"/>
              <a:gd name="T116" fmla="*/ 3 w 73"/>
              <a:gd name="T117" fmla="*/ 24 h 64"/>
              <a:gd name="T118" fmla="*/ 3 w 73"/>
              <a:gd name="T119" fmla="*/ 23 h 64"/>
              <a:gd name="T120" fmla="*/ 5 w 73"/>
              <a:gd name="T121" fmla="*/ 21 h 64"/>
              <a:gd name="T122" fmla="*/ 0 w 73"/>
              <a:gd name="T123" fmla="*/ 23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3" h="64">
                <a:moveTo>
                  <a:pt x="73" y="31"/>
                </a:moveTo>
                <a:lnTo>
                  <a:pt x="71" y="26"/>
                </a:lnTo>
                <a:lnTo>
                  <a:pt x="71" y="21"/>
                </a:lnTo>
                <a:lnTo>
                  <a:pt x="69" y="16"/>
                </a:lnTo>
                <a:lnTo>
                  <a:pt x="66" y="13"/>
                </a:lnTo>
                <a:lnTo>
                  <a:pt x="64" y="8"/>
                </a:lnTo>
                <a:lnTo>
                  <a:pt x="61" y="5"/>
                </a:lnTo>
                <a:lnTo>
                  <a:pt x="58" y="1"/>
                </a:lnTo>
                <a:lnTo>
                  <a:pt x="53" y="0"/>
                </a:lnTo>
                <a:lnTo>
                  <a:pt x="50" y="1"/>
                </a:lnTo>
                <a:lnTo>
                  <a:pt x="53" y="3"/>
                </a:lnTo>
                <a:lnTo>
                  <a:pt x="58" y="6"/>
                </a:lnTo>
                <a:lnTo>
                  <a:pt x="61" y="9"/>
                </a:lnTo>
                <a:lnTo>
                  <a:pt x="63" y="13"/>
                </a:lnTo>
                <a:lnTo>
                  <a:pt x="66" y="18"/>
                </a:lnTo>
                <a:lnTo>
                  <a:pt x="68" y="21"/>
                </a:lnTo>
                <a:lnTo>
                  <a:pt x="68" y="26"/>
                </a:lnTo>
                <a:lnTo>
                  <a:pt x="69" y="31"/>
                </a:lnTo>
                <a:lnTo>
                  <a:pt x="69" y="33"/>
                </a:lnTo>
                <a:lnTo>
                  <a:pt x="69" y="34"/>
                </a:lnTo>
                <a:lnTo>
                  <a:pt x="69" y="36"/>
                </a:lnTo>
                <a:lnTo>
                  <a:pt x="68" y="38"/>
                </a:lnTo>
                <a:lnTo>
                  <a:pt x="68" y="39"/>
                </a:lnTo>
                <a:lnTo>
                  <a:pt x="68" y="41"/>
                </a:lnTo>
                <a:lnTo>
                  <a:pt x="66" y="43"/>
                </a:lnTo>
                <a:lnTo>
                  <a:pt x="71" y="41"/>
                </a:lnTo>
                <a:lnTo>
                  <a:pt x="71" y="39"/>
                </a:lnTo>
                <a:lnTo>
                  <a:pt x="71" y="38"/>
                </a:lnTo>
                <a:lnTo>
                  <a:pt x="71" y="36"/>
                </a:lnTo>
                <a:lnTo>
                  <a:pt x="73" y="34"/>
                </a:lnTo>
                <a:lnTo>
                  <a:pt x="73" y="33"/>
                </a:lnTo>
                <a:lnTo>
                  <a:pt x="73" y="31"/>
                </a:lnTo>
                <a:close/>
                <a:moveTo>
                  <a:pt x="0" y="23"/>
                </a:moveTo>
                <a:lnTo>
                  <a:pt x="0" y="24"/>
                </a:lnTo>
                <a:lnTo>
                  <a:pt x="0" y="26"/>
                </a:lnTo>
                <a:lnTo>
                  <a:pt x="0" y="28"/>
                </a:lnTo>
                <a:lnTo>
                  <a:pt x="0" y="29"/>
                </a:lnTo>
                <a:lnTo>
                  <a:pt x="0" y="31"/>
                </a:lnTo>
                <a:lnTo>
                  <a:pt x="0" y="36"/>
                </a:lnTo>
                <a:lnTo>
                  <a:pt x="2" y="41"/>
                </a:lnTo>
                <a:lnTo>
                  <a:pt x="3" y="46"/>
                </a:lnTo>
                <a:lnTo>
                  <a:pt x="5" y="51"/>
                </a:lnTo>
                <a:lnTo>
                  <a:pt x="8" y="54"/>
                </a:lnTo>
                <a:lnTo>
                  <a:pt x="11" y="59"/>
                </a:lnTo>
                <a:lnTo>
                  <a:pt x="15" y="61"/>
                </a:lnTo>
                <a:lnTo>
                  <a:pt x="20" y="64"/>
                </a:lnTo>
                <a:lnTo>
                  <a:pt x="25" y="62"/>
                </a:lnTo>
                <a:lnTo>
                  <a:pt x="20" y="61"/>
                </a:lnTo>
                <a:lnTo>
                  <a:pt x="15" y="58"/>
                </a:lnTo>
                <a:lnTo>
                  <a:pt x="11" y="54"/>
                </a:lnTo>
                <a:lnTo>
                  <a:pt x="8" y="51"/>
                </a:lnTo>
                <a:lnTo>
                  <a:pt x="6" y="46"/>
                </a:lnTo>
                <a:lnTo>
                  <a:pt x="5" y="41"/>
                </a:lnTo>
                <a:lnTo>
                  <a:pt x="3" y="36"/>
                </a:lnTo>
                <a:lnTo>
                  <a:pt x="3" y="31"/>
                </a:lnTo>
                <a:lnTo>
                  <a:pt x="3" y="29"/>
                </a:lnTo>
                <a:lnTo>
                  <a:pt x="3" y="28"/>
                </a:lnTo>
                <a:lnTo>
                  <a:pt x="3" y="26"/>
                </a:lnTo>
                <a:lnTo>
                  <a:pt x="3" y="24"/>
                </a:lnTo>
                <a:lnTo>
                  <a:pt x="3" y="23"/>
                </a:lnTo>
                <a:lnTo>
                  <a:pt x="5" y="21"/>
                </a:lnTo>
                <a:lnTo>
                  <a:pt x="0" y="23"/>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87" name="Freeform 2392">
            <a:extLst>
              <a:ext uri="{FF2B5EF4-FFF2-40B4-BE49-F238E27FC236}">
                <a16:creationId xmlns:a16="http://schemas.microsoft.com/office/drawing/2014/main" id="{F2C1B120-FAD0-6E78-7F76-EBBBD136E46D}"/>
              </a:ext>
            </a:extLst>
          </p:cNvPr>
          <p:cNvSpPr>
            <a:spLocks noEditPoints="1"/>
          </p:cNvSpPr>
          <p:nvPr/>
        </p:nvSpPr>
        <p:spPr bwMode="auto">
          <a:xfrm>
            <a:off x="3465513" y="2551113"/>
            <a:ext cx="109538" cy="98425"/>
          </a:xfrm>
          <a:custGeom>
            <a:avLst/>
            <a:gdLst>
              <a:gd name="T0" fmla="*/ 67 w 69"/>
              <a:gd name="T1" fmla="*/ 26 h 62"/>
              <a:gd name="T2" fmla="*/ 66 w 69"/>
              <a:gd name="T3" fmla="*/ 16 h 62"/>
              <a:gd name="T4" fmla="*/ 61 w 69"/>
              <a:gd name="T5" fmla="*/ 9 h 62"/>
              <a:gd name="T6" fmla="*/ 53 w 69"/>
              <a:gd name="T7" fmla="*/ 3 h 62"/>
              <a:gd name="T8" fmla="*/ 44 w 69"/>
              <a:gd name="T9" fmla="*/ 1 h 62"/>
              <a:gd name="T10" fmla="*/ 53 w 69"/>
              <a:gd name="T11" fmla="*/ 6 h 62"/>
              <a:gd name="T12" fmla="*/ 59 w 69"/>
              <a:gd name="T13" fmla="*/ 13 h 62"/>
              <a:gd name="T14" fmla="*/ 64 w 69"/>
              <a:gd name="T15" fmla="*/ 21 h 62"/>
              <a:gd name="T16" fmla="*/ 66 w 69"/>
              <a:gd name="T17" fmla="*/ 31 h 62"/>
              <a:gd name="T18" fmla="*/ 66 w 69"/>
              <a:gd name="T19" fmla="*/ 34 h 62"/>
              <a:gd name="T20" fmla="*/ 64 w 69"/>
              <a:gd name="T21" fmla="*/ 38 h 62"/>
              <a:gd name="T22" fmla="*/ 64 w 69"/>
              <a:gd name="T23" fmla="*/ 41 h 62"/>
              <a:gd name="T24" fmla="*/ 62 w 69"/>
              <a:gd name="T25" fmla="*/ 44 h 62"/>
              <a:gd name="T26" fmla="*/ 67 w 69"/>
              <a:gd name="T27" fmla="*/ 41 h 62"/>
              <a:gd name="T28" fmla="*/ 67 w 69"/>
              <a:gd name="T29" fmla="*/ 38 h 62"/>
              <a:gd name="T30" fmla="*/ 69 w 69"/>
              <a:gd name="T31" fmla="*/ 36 h 62"/>
              <a:gd name="T32" fmla="*/ 69 w 69"/>
              <a:gd name="T33" fmla="*/ 33 h 62"/>
              <a:gd name="T34" fmla="*/ 0 w 69"/>
              <a:gd name="T35" fmla="*/ 23 h 62"/>
              <a:gd name="T36" fmla="*/ 0 w 69"/>
              <a:gd name="T37" fmla="*/ 24 h 62"/>
              <a:gd name="T38" fmla="*/ 0 w 69"/>
              <a:gd name="T39" fmla="*/ 28 h 62"/>
              <a:gd name="T40" fmla="*/ 0 w 69"/>
              <a:gd name="T41" fmla="*/ 31 h 62"/>
              <a:gd name="T42" fmla="*/ 1 w 69"/>
              <a:gd name="T43" fmla="*/ 41 h 62"/>
              <a:gd name="T44" fmla="*/ 4 w 69"/>
              <a:gd name="T45" fmla="*/ 51 h 62"/>
              <a:gd name="T46" fmla="*/ 11 w 69"/>
              <a:gd name="T47" fmla="*/ 58 h 62"/>
              <a:gd name="T48" fmla="*/ 19 w 69"/>
              <a:gd name="T49" fmla="*/ 62 h 62"/>
              <a:gd name="T50" fmla="*/ 19 w 69"/>
              <a:gd name="T51" fmla="*/ 59 h 62"/>
              <a:gd name="T52" fmla="*/ 11 w 69"/>
              <a:gd name="T53" fmla="*/ 54 h 62"/>
              <a:gd name="T54" fmla="*/ 6 w 69"/>
              <a:gd name="T55" fmla="*/ 46 h 62"/>
              <a:gd name="T56" fmla="*/ 3 w 69"/>
              <a:gd name="T57" fmla="*/ 36 h 62"/>
              <a:gd name="T58" fmla="*/ 3 w 69"/>
              <a:gd name="T59" fmla="*/ 29 h 62"/>
              <a:gd name="T60" fmla="*/ 3 w 69"/>
              <a:gd name="T61" fmla="*/ 26 h 62"/>
              <a:gd name="T62" fmla="*/ 3 w 69"/>
              <a:gd name="T63" fmla="*/ 23 h 62"/>
              <a:gd name="T64" fmla="*/ 0 w 69"/>
              <a:gd name="T65" fmla="*/ 23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9" h="62">
                <a:moveTo>
                  <a:pt x="69" y="31"/>
                </a:moveTo>
                <a:lnTo>
                  <a:pt x="67" y="26"/>
                </a:lnTo>
                <a:lnTo>
                  <a:pt x="67" y="21"/>
                </a:lnTo>
                <a:lnTo>
                  <a:pt x="66" y="16"/>
                </a:lnTo>
                <a:lnTo>
                  <a:pt x="62" y="13"/>
                </a:lnTo>
                <a:lnTo>
                  <a:pt x="61" y="9"/>
                </a:lnTo>
                <a:lnTo>
                  <a:pt x="57" y="6"/>
                </a:lnTo>
                <a:lnTo>
                  <a:pt x="53" y="3"/>
                </a:lnTo>
                <a:lnTo>
                  <a:pt x="49" y="0"/>
                </a:lnTo>
                <a:lnTo>
                  <a:pt x="44" y="1"/>
                </a:lnTo>
                <a:lnTo>
                  <a:pt x="49" y="5"/>
                </a:lnTo>
                <a:lnTo>
                  <a:pt x="53" y="6"/>
                </a:lnTo>
                <a:lnTo>
                  <a:pt x="56" y="9"/>
                </a:lnTo>
                <a:lnTo>
                  <a:pt x="59" y="13"/>
                </a:lnTo>
                <a:lnTo>
                  <a:pt x="62" y="18"/>
                </a:lnTo>
                <a:lnTo>
                  <a:pt x="64" y="21"/>
                </a:lnTo>
                <a:lnTo>
                  <a:pt x="64" y="26"/>
                </a:lnTo>
                <a:lnTo>
                  <a:pt x="66" y="31"/>
                </a:lnTo>
                <a:lnTo>
                  <a:pt x="66" y="33"/>
                </a:lnTo>
                <a:lnTo>
                  <a:pt x="66" y="34"/>
                </a:lnTo>
                <a:lnTo>
                  <a:pt x="64" y="36"/>
                </a:lnTo>
                <a:lnTo>
                  <a:pt x="64" y="38"/>
                </a:lnTo>
                <a:lnTo>
                  <a:pt x="64" y="39"/>
                </a:lnTo>
                <a:lnTo>
                  <a:pt x="64" y="41"/>
                </a:lnTo>
                <a:lnTo>
                  <a:pt x="62" y="43"/>
                </a:lnTo>
                <a:lnTo>
                  <a:pt x="62" y="44"/>
                </a:lnTo>
                <a:lnTo>
                  <a:pt x="67" y="43"/>
                </a:lnTo>
                <a:lnTo>
                  <a:pt x="67" y="41"/>
                </a:lnTo>
                <a:lnTo>
                  <a:pt x="67" y="39"/>
                </a:lnTo>
                <a:lnTo>
                  <a:pt x="67" y="38"/>
                </a:lnTo>
                <a:lnTo>
                  <a:pt x="67" y="36"/>
                </a:lnTo>
                <a:lnTo>
                  <a:pt x="69" y="36"/>
                </a:lnTo>
                <a:lnTo>
                  <a:pt x="69" y="34"/>
                </a:lnTo>
                <a:lnTo>
                  <a:pt x="69" y="33"/>
                </a:lnTo>
                <a:lnTo>
                  <a:pt x="69" y="31"/>
                </a:lnTo>
                <a:close/>
                <a:moveTo>
                  <a:pt x="0" y="23"/>
                </a:moveTo>
                <a:lnTo>
                  <a:pt x="0" y="23"/>
                </a:lnTo>
                <a:lnTo>
                  <a:pt x="0" y="24"/>
                </a:lnTo>
                <a:lnTo>
                  <a:pt x="0" y="26"/>
                </a:lnTo>
                <a:lnTo>
                  <a:pt x="0" y="28"/>
                </a:lnTo>
                <a:lnTo>
                  <a:pt x="0" y="29"/>
                </a:lnTo>
                <a:lnTo>
                  <a:pt x="0" y="31"/>
                </a:lnTo>
                <a:lnTo>
                  <a:pt x="0" y="36"/>
                </a:lnTo>
                <a:lnTo>
                  <a:pt x="1" y="41"/>
                </a:lnTo>
                <a:lnTo>
                  <a:pt x="3" y="46"/>
                </a:lnTo>
                <a:lnTo>
                  <a:pt x="4" y="51"/>
                </a:lnTo>
                <a:lnTo>
                  <a:pt x="8" y="54"/>
                </a:lnTo>
                <a:lnTo>
                  <a:pt x="11" y="58"/>
                </a:lnTo>
                <a:lnTo>
                  <a:pt x="16" y="61"/>
                </a:lnTo>
                <a:lnTo>
                  <a:pt x="19" y="62"/>
                </a:lnTo>
                <a:lnTo>
                  <a:pt x="24" y="61"/>
                </a:lnTo>
                <a:lnTo>
                  <a:pt x="19" y="59"/>
                </a:lnTo>
                <a:lnTo>
                  <a:pt x="16" y="58"/>
                </a:lnTo>
                <a:lnTo>
                  <a:pt x="11" y="54"/>
                </a:lnTo>
                <a:lnTo>
                  <a:pt x="8" y="49"/>
                </a:lnTo>
                <a:lnTo>
                  <a:pt x="6" y="46"/>
                </a:lnTo>
                <a:lnTo>
                  <a:pt x="4" y="41"/>
                </a:lnTo>
                <a:lnTo>
                  <a:pt x="3" y="36"/>
                </a:lnTo>
                <a:lnTo>
                  <a:pt x="3" y="31"/>
                </a:lnTo>
                <a:lnTo>
                  <a:pt x="3" y="29"/>
                </a:lnTo>
                <a:lnTo>
                  <a:pt x="3" y="28"/>
                </a:lnTo>
                <a:lnTo>
                  <a:pt x="3" y="26"/>
                </a:lnTo>
                <a:lnTo>
                  <a:pt x="3" y="24"/>
                </a:lnTo>
                <a:lnTo>
                  <a:pt x="3" y="23"/>
                </a:lnTo>
                <a:lnTo>
                  <a:pt x="4" y="21"/>
                </a:lnTo>
                <a:lnTo>
                  <a:pt x="0" y="23"/>
                </a:lnTo>
                <a:close/>
              </a:path>
            </a:pathLst>
          </a:custGeom>
          <a:solidFill>
            <a:srgbClr val="E7F4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88" name="Freeform 2393">
            <a:extLst>
              <a:ext uri="{FF2B5EF4-FFF2-40B4-BE49-F238E27FC236}">
                <a16:creationId xmlns:a16="http://schemas.microsoft.com/office/drawing/2014/main" id="{1D801BEB-3056-E393-94F2-A54EC10BB0D2}"/>
              </a:ext>
            </a:extLst>
          </p:cNvPr>
          <p:cNvSpPr>
            <a:spLocks noEditPoints="1"/>
          </p:cNvSpPr>
          <p:nvPr/>
        </p:nvSpPr>
        <p:spPr bwMode="auto">
          <a:xfrm>
            <a:off x="3467100" y="2552700"/>
            <a:ext cx="104775" cy="96838"/>
          </a:xfrm>
          <a:custGeom>
            <a:avLst/>
            <a:gdLst>
              <a:gd name="T0" fmla="*/ 65 w 66"/>
              <a:gd name="T1" fmla="*/ 25 h 61"/>
              <a:gd name="T2" fmla="*/ 63 w 66"/>
              <a:gd name="T3" fmla="*/ 17 h 61"/>
              <a:gd name="T4" fmla="*/ 58 w 66"/>
              <a:gd name="T5" fmla="*/ 8 h 61"/>
              <a:gd name="T6" fmla="*/ 50 w 66"/>
              <a:gd name="T7" fmla="*/ 2 h 61"/>
              <a:gd name="T8" fmla="*/ 42 w 66"/>
              <a:gd name="T9" fmla="*/ 2 h 61"/>
              <a:gd name="T10" fmla="*/ 50 w 66"/>
              <a:gd name="T11" fmla="*/ 7 h 61"/>
              <a:gd name="T12" fmla="*/ 56 w 66"/>
              <a:gd name="T13" fmla="*/ 12 h 61"/>
              <a:gd name="T14" fmla="*/ 61 w 66"/>
              <a:gd name="T15" fmla="*/ 20 h 61"/>
              <a:gd name="T16" fmla="*/ 63 w 66"/>
              <a:gd name="T17" fmla="*/ 30 h 61"/>
              <a:gd name="T18" fmla="*/ 63 w 66"/>
              <a:gd name="T19" fmla="*/ 33 h 61"/>
              <a:gd name="T20" fmla="*/ 61 w 66"/>
              <a:gd name="T21" fmla="*/ 38 h 61"/>
              <a:gd name="T22" fmla="*/ 61 w 66"/>
              <a:gd name="T23" fmla="*/ 42 h 61"/>
              <a:gd name="T24" fmla="*/ 63 w 66"/>
              <a:gd name="T25" fmla="*/ 42 h 61"/>
              <a:gd name="T26" fmla="*/ 65 w 66"/>
              <a:gd name="T27" fmla="*/ 38 h 61"/>
              <a:gd name="T28" fmla="*/ 66 w 66"/>
              <a:gd name="T29" fmla="*/ 35 h 61"/>
              <a:gd name="T30" fmla="*/ 66 w 66"/>
              <a:gd name="T31" fmla="*/ 32 h 61"/>
              <a:gd name="T32" fmla="*/ 2 w 66"/>
              <a:gd name="T33" fmla="*/ 20 h 61"/>
              <a:gd name="T34" fmla="*/ 0 w 66"/>
              <a:gd name="T35" fmla="*/ 23 h 61"/>
              <a:gd name="T36" fmla="*/ 0 w 66"/>
              <a:gd name="T37" fmla="*/ 27 h 61"/>
              <a:gd name="T38" fmla="*/ 0 w 66"/>
              <a:gd name="T39" fmla="*/ 30 h 61"/>
              <a:gd name="T40" fmla="*/ 2 w 66"/>
              <a:gd name="T41" fmla="*/ 40 h 61"/>
              <a:gd name="T42" fmla="*/ 5 w 66"/>
              <a:gd name="T43" fmla="*/ 50 h 61"/>
              <a:gd name="T44" fmla="*/ 12 w 66"/>
              <a:gd name="T45" fmla="*/ 57 h 61"/>
              <a:gd name="T46" fmla="*/ 22 w 66"/>
              <a:gd name="T47" fmla="*/ 61 h 61"/>
              <a:gd name="T48" fmla="*/ 20 w 66"/>
              <a:gd name="T49" fmla="*/ 58 h 61"/>
              <a:gd name="T50" fmla="*/ 13 w 66"/>
              <a:gd name="T51" fmla="*/ 52 h 61"/>
              <a:gd name="T52" fmla="*/ 7 w 66"/>
              <a:gd name="T53" fmla="*/ 45 h 61"/>
              <a:gd name="T54" fmla="*/ 3 w 66"/>
              <a:gd name="T55" fmla="*/ 35 h 61"/>
              <a:gd name="T56" fmla="*/ 3 w 66"/>
              <a:gd name="T57" fmla="*/ 28 h 61"/>
              <a:gd name="T58" fmla="*/ 3 w 66"/>
              <a:gd name="T59" fmla="*/ 25 h 61"/>
              <a:gd name="T60" fmla="*/ 5 w 66"/>
              <a:gd name="T61" fmla="*/ 22 h 61"/>
              <a:gd name="T62" fmla="*/ 5 w 66"/>
              <a:gd name="T63" fmla="*/ 18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6" h="61">
                <a:moveTo>
                  <a:pt x="66" y="30"/>
                </a:moveTo>
                <a:lnTo>
                  <a:pt x="65" y="25"/>
                </a:lnTo>
                <a:lnTo>
                  <a:pt x="65" y="20"/>
                </a:lnTo>
                <a:lnTo>
                  <a:pt x="63" y="17"/>
                </a:lnTo>
                <a:lnTo>
                  <a:pt x="60" y="12"/>
                </a:lnTo>
                <a:lnTo>
                  <a:pt x="58" y="8"/>
                </a:lnTo>
                <a:lnTo>
                  <a:pt x="55" y="5"/>
                </a:lnTo>
                <a:lnTo>
                  <a:pt x="50" y="2"/>
                </a:lnTo>
                <a:lnTo>
                  <a:pt x="47" y="0"/>
                </a:lnTo>
                <a:lnTo>
                  <a:pt x="42" y="2"/>
                </a:lnTo>
                <a:lnTo>
                  <a:pt x="47" y="4"/>
                </a:lnTo>
                <a:lnTo>
                  <a:pt x="50" y="7"/>
                </a:lnTo>
                <a:lnTo>
                  <a:pt x="53" y="8"/>
                </a:lnTo>
                <a:lnTo>
                  <a:pt x="56" y="12"/>
                </a:lnTo>
                <a:lnTo>
                  <a:pt x="60" y="17"/>
                </a:lnTo>
                <a:lnTo>
                  <a:pt x="61" y="20"/>
                </a:lnTo>
                <a:lnTo>
                  <a:pt x="61" y="25"/>
                </a:lnTo>
                <a:lnTo>
                  <a:pt x="63" y="30"/>
                </a:lnTo>
                <a:lnTo>
                  <a:pt x="63" y="32"/>
                </a:lnTo>
                <a:lnTo>
                  <a:pt x="63" y="33"/>
                </a:lnTo>
                <a:lnTo>
                  <a:pt x="61" y="35"/>
                </a:lnTo>
                <a:lnTo>
                  <a:pt x="61" y="38"/>
                </a:lnTo>
                <a:lnTo>
                  <a:pt x="61" y="40"/>
                </a:lnTo>
                <a:lnTo>
                  <a:pt x="61" y="42"/>
                </a:lnTo>
                <a:lnTo>
                  <a:pt x="60" y="43"/>
                </a:lnTo>
                <a:lnTo>
                  <a:pt x="63" y="42"/>
                </a:lnTo>
                <a:lnTo>
                  <a:pt x="65" y="40"/>
                </a:lnTo>
                <a:lnTo>
                  <a:pt x="65" y="38"/>
                </a:lnTo>
                <a:lnTo>
                  <a:pt x="65" y="37"/>
                </a:lnTo>
                <a:lnTo>
                  <a:pt x="66" y="35"/>
                </a:lnTo>
                <a:lnTo>
                  <a:pt x="66" y="33"/>
                </a:lnTo>
                <a:lnTo>
                  <a:pt x="66" y="32"/>
                </a:lnTo>
                <a:lnTo>
                  <a:pt x="66" y="30"/>
                </a:lnTo>
                <a:close/>
                <a:moveTo>
                  <a:pt x="2" y="20"/>
                </a:moveTo>
                <a:lnTo>
                  <a:pt x="0" y="22"/>
                </a:lnTo>
                <a:lnTo>
                  <a:pt x="0" y="23"/>
                </a:lnTo>
                <a:lnTo>
                  <a:pt x="0" y="25"/>
                </a:lnTo>
                <a:lnTo>
                  <a:pt x="0" y="27"/>
                </a:lnTo>
                <a:lnTo>
                  <a:pt x="0" y="28"/>
                </a:lnTo>
                <a:lnTo>
                  <a:pt x="0" y="30"/>
                </a:lnTo>
                <a:lnTo>
                  <a:pt x="0" y="35"/>
                </a:lnTo>
                <a:lnTo>
                  <a:pt x="2" y="40"/>
                </a:lnTo>
                <a:lnTo>
                  <a:pt x="3" y="45"/>
                </a:lnTo>
                <a:lnTo>
                  <a:pt x="5" y="50"/>
                </a:lnTo>
                <a:lnTo>
                  <a:pt x="8" y="53"/>
                </a:lnTo>
                <a:lnTo>
                  <a:pt x="12" y="57"/>
                </a:lnTo>
                <a:lnTo>
                  <a:pt x="17" y="60"/>
                </a:lnTo>
                <a:lnTo>
                  <a:pt x="22" y="61"/>
                </a:lnTo>
                <a:lnTo>
                  <a:pt x="25" y="60"/>
                </a:lnTo>
                <a:lnTo>
                  <a:pt x="20" y="58"/>
                </a:lnTo>
                <a:lnTo>
                  <a:pt x="17" y="55"/>
                </a:lnTo>
                <a:lnTo>
                  <a:pt x="13" y="52"/>
                </a:lnTo>
                <a:lnTo>
                  <a:pt x="10" y="48"/>
                </a:lnTo>
                <a:lnTo>
                  <a:pt x="7" y="45"/>
                </a:lnTo>
                <a:lnTo>
                  <a:pt x="5" y="40"/>
                </a:lnTo>
                <a:lnTo>
                  <a:pt x="3" y="35"/>
                </a:lnTo>
                <a:lnTo>
                  <a:pt x="3" y="30"/>
                </a:lnTo>
                <a:lnTo>
                  <a:pt x="3" y="28"/>
                </a:lnTo>
                <a:lnTo>
                  <a:pt x="3" y="27"/>
                </a:lnTo>
                <a:lnTo>
                  <a:pt x="3" y="25"/>
                </a:lnTo>
                <a:lnTo>
                  <a:pt x="3" y="23"/>
                </a:lnTo>
                <a:lnTo>
                  <a:pt x="5" y="22"/>
                </a:lnTo>
                <a:lnTo>
                  <a:pt x="5" y="20"/>
                </a:lnTo>
                <a:lnTo>
                  <a:pt x="5" y="18"/>
                </a:lnTo>
                <a:lnTo>
                  <a:pt x="2" y="2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89" name="Freeform 2394">
            <a:extLst>
              <a:ext uri="{FF2B5EF4-FFF2-40B4-BE49-F238E27FC236}">
                <a16:creationId xmlns:a16="http://schemas.microsoft.com/office/drawing/2014/main" id="{95CE834A-0A65-4DF8-A2DD-CAD6D6B60FA8}"/>
              </a:ext>
            </a:extLst>
          </p:cNvPr>
          <p:cNvSpPr>
            <a:spLocks noEditPoints="1"/>
          </p:cNvSpPr>
          <p:nvPr/>
        </p:nvSpPr>
        <p:spPr bwMode="auto">
          <a:xfrm>
            <a:off x="3470275" y="2552700"/>
            <a:ext cx="100013" cy="95250"/>
          </a:xfrm>
          <a:custGeom>
            <a:avLst/>
            <a:gdLst>
              <a:gd name="T0" fmla="*/ 61 w 63"/>
              <a:gd name="T1" fmla="*/ 25 h 60"/>
              <a:gd name="T2" fmla="*/ 59 w 63"/>
              <a:gd name="T3" fmla="*/ 17 h 60"/>
              <a:gd name="T4" fmla="*/ 53 w 63"/>
              <a:gd name="T5" fmla="*/ 8 h 60"/>
              <a:gd name="T6" fmla="*/ 46 w 63"/>
              <a:gd name="T7" fmla="*/ 4 h 60"/>
              <a:gd name="T8" fmla="*/ 38 w 63"/>
              <a:gd name="T9" fmla="*/ 4 h 60"/>
              <a:gd name="T10" fmla="*/ 46 w 63"/>
              <a:gd name="T11" fmla="*/ 7 h 60"/>
              <a:gd name="T12" fmla="*/ 53 w 63"/>
              <a:gd name="T13" fmla="*/ 13 h 60"/>
              <a:gd name="T14" fmla="*/ 58 w 63"/>
              <a:gd name="T15" fmla="*/ 20 h 60"/>
              <a:gd name="T16" fmla="*/ 59 w 63"/>
              <a:gd name="T17" fmla="*/ 30 h 60"/>
              <a:gd name="T18" fmla="*/ 59 w 63"/>
              <a:gd name="T19" fmla="*/ 35 h 60"/>
              <a:gd name="T20" fmla="*/ 58 w 63"/>
              <a:gd name="T21" fmla="*/ 38 h 60"/>
              <a:gd name="T22" fmla="*/ 56 w 63"/>
              <a:gd name="T23" fmla="*/ 42 h 60"/>
              <a:gd name="T24" fmla="*/ 54 w 63"/>
              <a:gd name="T25" fmla="*/ 45 h 60"/>
              <a:gd name="T26" fmla="*/ 59 w 63"/>
              <a:gd name="T27" fmla="*/ 42 h 60"/>
              <a:gd name="T28" fmla="*/ 61 w 63"/>
              <a:gd name="T29" fmla="*/ 38 h 60"/>
              <a:gd name="T30" fmla="*/ 61 w 63"/>
              <a:gd name="T31" fmla="*/ 35 h 60"/>
              <a:gd name="T32" fmla="*/ 63 w 63"/>
              <a:gd name="T33" fmla="*/ 32 h 60"/>
              <a:gd name="T34" fmla="*/ 1 w 63"/>
              <a:gd name="T35" fmla="*/ 20 h 60"/>
              <a:gd name="T36" fmla="*/ 0 w 63"/>
              <a:gd name="T37" fmla="*/ 22 h 60"/>
              <a:gd name="T38" fmla="*/ 0 w 63"/>
              <a:gd name="T39" fmla="*/ 25 h 60"/>
              <a:gd name="T40" fmla="*/ 0 w 63"/>
              <a:gd name="T41" fmla="*/ 28 h 60"/>
              <a:gd name="T42" fmla="*/ 0 w 63"/>
              <a:gd name="T43" fmla="*/ 35 h 60"/>
              <a:gd name="T44" fmla="*/ 3 w 63"/>
              <a:gd name="T45" fmla="*/ 45 h 60"/>
              <a:gd name="T46" fmla="*/ 8 w 63"/>
              <a:gd name="T47" fmla="*/ 53 h 60"/>
              <a:gd name="T48" fmla="*/ 16 w 63"/>
              <a:gd name="T49" fmla="*/ 58 h 60"/>
              <a:gd name="T50" fmla="*/ 26 w 63"/>
              <a:gd name="T51" fmla="*/ 58 h 60"/>
              <a:gd name="T52" fmla="*/ 16 w 63"/>
              <a:gd name="T53" fmla="*/ 55 h 60"/>
              <a:gd name="T54" fmla="*/ 10 w 63"/>
              <a:gd name="T55" fmla="*/ 48 h 60"/>
              <a:gd name="T56" fmla="*/ 5 w 63"/>
              <a:gd name="T57" fmla="*/ 40 h 60"/>
              <a:gd name="T58" fmla="*/ 3 w 63"/>
              <a:gd name="T59" fmla="*/ 30 h 60"/>
              <a:gd name="T60" fmla="*/ 3 w 63"/>
              <a:gd name="T61" fmla="*/ 27 h 60"/>
              <a:gd name="T62" fmla="*/ 3 w 63"/>
              <a:gd name="T63" fmla="*/ 23 h 60"/>
              <a:gd name="T64" fmla="*/ 5 w 63"/>
              <a:gd name="T65" fmla="*/ 20 h 60"/>
              <a:gd name="T66" fmla="*/ 6 w 63"/>
              <a:gd name="T67" fmla="*/ 17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3" h="60">
                <a:moveTo>
                  <a:pt x="63" y="30"/>
                </a:moveTo>
                <a:lnTo>
                  <a:pt x="61" y="25"/>
                </a:lnTo>
                <a:lnTo>
                  <a:pt x="61" y="20"/>
                </a:lnTo>
                <a:lnTo>
                  <a:pt x="59" y="17"/>
                </a:lnTo>
                <a:lnTo>
                  <a:pt x="56" y="12"/>
                </a:lnTo>
                <a:lnTo>
                  <a:pt x="53" y="8"/>
                </a:lnTo>
                <a:lnTo>
                  <a:pt x="50" y="5"/>
                </a:lnTo>
                <a:lnTo>
                  <a:pt x="46" y="4"/>
                </a:lnTo>
                <a:lnTo>
                  <a:pt x="41" y="0"/>
                </a:lnTo>
                <a:lnTo>
                  <a:pt x="38" y="4"/>
                </a:lnTo>
                <a:lnTo>
                  <a:pt x="41" y="5"/>
                </a:lnTo>
                <a:lnTo>
                  <a:pt x="46" y="7"/>
                </a:lnTo>
                <a:lnTo>
                  <a:pt x="50" y="10"/>
                </a:lnTo>
                <a:lnTo>
                  <a:pt x="53" y="13"/>
                </a:lnTo>
                <a:lnTo>
                  <a:pt x="56" y="17"/>
                </a:lnTo>
                <a:lnTo>
                  <a:pt x="58" y="20"/>
                </a:lnTo>
                <a:lnTo>
                  <a:pt x="58" y="25"/>
                </a:lnTo>
                <a:lnTo>
                  <a:pt x="59" y="30"/>
                </a:lnTo>
                <a:lnTo>
                  <a:pt x="59" y="32"/>
                </a:lnTo>
                <a:lnTo>
                  <a:pt x="59" y="35"/>
                </a:lnTo>
                <a:lnTo>
                  <a:pt x="58" y="37"/>
                </a:lnTo>
                <a:lnTo>
                  <a:pt x="58" y="38"/>
                </a:lnTo>
                <a:lnTo>
                  <a:pt x="58" y="40"/>
                </a:lnTo>
                <a:lnTo>
                  <a:pt x="56" y="42"/>
                </a:lnTo>
                <a:lnTo>
                  <a:pt x="56" y="43"/>
                </a:lnTo>
                <a:lnTo>
                  <a:pt x="54" y="45"/>
                </a:lnTo>
                <a:lnTo>
                  <a:pt x="59" y="43"/>
                </a:lnTo>
                <a:lnTo>
                  <a:pt x="59" y="42"/>
                </a:lnTo>
                <a:lnTo>
                  <a:pt x="61" y="40"/>
                </a:lnTo>
                <a:lnTo>
                  <a:pt x="61" y="38"/>
                </a:lnTo>
                <a:lnTo>
                  <a:pt x="61" y="37"/>
                </a:lnTo>
                <a:lnTo>
                  <a:pt x="61" y="35"/>
                </a:lnTo>
                <a:lnTo>
                  <a:pt x="63" y="33"/>
                </a:lnTo>
                <a:lnTo>
                  <a:pt x="63" y="32"/>
                </a:lnTo>
                <a:lnTo>
                  <a:pt x="63" y="30"/>
                </a:lnTo>
                <a:close/>
                <a:moveTo>
                  <a:pt x="1" y="20"/>
                </a:moveTo>
                <a:lnTo>
                  <a:pt x="1" y="20"/>
                </a:lnTo>
                <a:lnTo>
                  <a:pt x="0" y="22"/>
                </a:lnTo>
                <a:lnTo>
                  <a:pt x="0" y="23"/>
                </a:lnTo>
                <a:lnTo>
                  <a:pt x="0" y="25"/>
                </a:lnTo>
                <a:lnTo>
                  <a:pt x="0" y="27"/>
                </a:lnTo>
                <a:lnTo>
                  <a:pt x="0" y="28"/>
                </a:lnTo>
                <a:lnTo>
                  <a:pt x="0" y="30"/>
                </a:lnTo>
                <a:lnTo>
                  <a:pt x="0" y="35"/>
                </a:lnTo>
                <a:lnTo>
                  <a:pt x="1" y="40"/>
                </a:lnTo>
                <a:lnTo>
                  <a:pt x="3" y="45"/>
                </a:lnTo>
                <a:lnTo>
                  <a:pt x="5" y="48"/>
                </a:lnTo>
                <a:lnTo>
                  <a:pt x="8" y="53"/>
                </a:lnTo>
                <a:lnTo>
                  <a:pt x="13" y="57"/>
                </a:lnTo>
                <a:lnTo>
                  <a:pt x="16" y="58"/>
                </a:lnTo>
                <a:lnTo>
                  <a:pt x="21" y="60"/>
                </a:lnTo>
                <a:lnTo>
                  <a:pt x="26" y="58"/>
                </a:lnTo>
                <a:lnTo>
                  <a:pt x="21" y="57"/>
                </a:lnTo>
                <a:lnTo>
                  <a:pt x="16" y="55"/>
                </a:lnTo>
                <a:lnTo>
                  <a:pt x="13" y="52"/>
                </a:lnTo>
                <a:lnTo>
                  <a:pt x="10" y="48"/>
                </a:lnTo>
                <a:lnTo>
                  <a:pt x="6" y="45"/>
                </a:lnTo>
                <a:lnTo>
                  <a:pt x="5" y="40"/>
                </a:lnTo>
                <a:lnTo>
                  <a:pt x="3" y="35"/>
                </a:lnTo>
                <a:lnTo>
                  <a:pt x="3" y="30"/>
                </a:lnTo>
                <a:lnTo>
                  <a:pt x="3" y="28"/>
                </a:lnTo>
                <a:lnTo>
                  <a:pt x="3" y="27"/>
                </a:lnTo>
                <a:lnTo>
                  <a:pt x="3" y="25"/>
                </a:lnTo>
                <a:lnTo>
                  <a:pt x="3" y="23"/>
                </a:lnTo>
                <a:lnTo>
                  <a:pt x="3" y="22"/>
                </a:lnTo>
                <a:lnTo>
                  <a:pt x="5" y="20"/>
                </a:lnTo>
                <a:lnTo>
                  <a:pt x="5" y="18"/>
                </a:lnTo>
                <a:lnTo>
                  <a:pt x="6" y="17"/>
                </a:lnTo>
                <a:lnTo>
                  <a:pt x="1" y="20"/>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90" name="Freeform 2395">
            <a:extLst>
              <a:ext uri="{FF2B5EF4-FFF2-40B4-BE49-F238E27FC236}">
                <a16:creationId xmlns:a16="http://schemas.microsoft.com/office/drawing/2014/main" id="{00D282CF-39A7-4919-2A60-2126FA47F1BD}"/>
              </a:ext>
            </a:extLst>
          </p:cNvPr>
          <p:cNvSpPr>
            <a:spLocks noEditPoints="1"/>
          </p:cNvSpPr>
          <p:nvPr/>
        </p:nvSpPr>
        <p:spPr bwMode="auto">
          <a:xfrm>
            <a:off x="3471863" y="2555875"/>
            <a:ext cx="95250" cy="92075"/>
          </a:xfrm>
          <a:custGeom>
            <a:avLst/>
            <a:gdLst>
              <a:gd name="T0" fmla="*/ 58 w 60"/>
              <a:gd name="T1" fmla="*/ 23 h 58"/>
              <a:gd name="T2" fmla="*/ 57 w 60"/>
              <a:gd name="T3" fmla="*/ 15 h 58"/>
              <a:gd name="T4" fmla="*/ 50 w 60"/>
              <a:gd name="T5" fmla="*/ 6 h 58"/>
              <a:gd name="T6" fmla="*/ 44 w 60"/>
              <a:gd name="T7" fmla="*/ 2 h 58"/>
              <a:gd name="T8" fmla="*/ 34 w 60"/>
              <a:gd name="T9" fmla="*/ 2 h 58"/>
              <a:gd name="T10" fmla="*/ 44 w 60"/>
              <a:gd name="T11" fmla="*/ 5 h 58"/>
              <a:gd name="T12" fmla="*/ 50 w 60"/>
              <a:gd name="T13" fmla="*/ 11 h 58"/>
              <a:gd name="T14" fmla="*/ 55 w 60"/>
              <a:gd name="T15" fmla="*/ 18 h 58"/>
              <a:gd name="T16" fmla="*/ 57 w 60"/>
              <a:gd name="T17" fmla="*/ 28 h 58"/>
              <a:gd name="T18" fmla="*/ 55 w 60"/>
              <a:gd name="T19" fmla="*/ 33 h 58"/>
              <a:gd name="T20" fmla="*/ 55 w 60"/>
              <a:gd name="T21" fmla="*/ 36 h 58"/>
              <a:gd name="T22" fmla="*/ 53 w 60"/>
              <a:gd name="T23" fmla="*/ 41 h 58"/>
              <a:gd name="T24" fmla="*/ 50 w 60"/>
              <a:gd name="T25" fmla="*/ 45 h 58"/>
              <a:gd name="T26" fmla="*/ 58 w 60"/>
              <a:gd name="T27" fmla="*/ 40 h 58"/>
              <a:gd name="T28" fmla="*/ 58 w 60"/>
              <a:gd name="T29" fmla="*/ 36 h 58"/>
              <a:gd name="T30" fmla="*/ 60 w 60"/>
              <a:gd name="T31" fmla="*/ 31 h 58"/>
              <a:gd name="T32" fmla="*/ 60 w 60"/>
              <a:gd name="T33" fmla="*/ 28 h 58"/>
              <a:gd name="T34" fmla="*/ 2 w 60"/>
              <a:gd name="T35" fmla="*/ 18 h 58"/>
              <a:gd name="T36" fmla="*/ 0 w 60"/>
              <a:gd name="T37" fmla="*/ 21 h 58"/>
              <a:gd name="T38" fmla="*/ 0 w 60"/>
              <a:gd name="T39" fmla="*/ 25 h 58"/>
              <a:gd name="T40" fmla="*/ 0 w 60"/>
              <a:gd name="T41" fmla="*/ 28 h 58"/>
              <a:gd name="T42" fmla="*/ 2 w 60"/>
              <a:gd name="T43" fmla="*/ 38 h 58"/>
              <a:gd name="T44" fmla="*/ 7 w 60"/>
              <a:gd name="T45" fmla="*/ 46 h 58"/>
              <a:gd name="T46" fmla="*/ 14 w 60"/>
              <a:gd name="T47" fmla="*/ 53 h 58"/>
              <a:gd name="T48" fmla="*/ 22 w 60"/>
              <a:gd name="T49" fmla="*/ 58 h 58"/>
              <a:gd name="T50" fmla="*/ 24 w 60"/>
              <a:gd name="T51" fmla="*/ 55 h 58"/>
              <a:gd name="T52" fmla="*/ 14 w 60"/>
              <a:gd name="T53" fmla="*/ 50 h 58"/>
              <a:gd name="T54" fmla="*/ 7 w 60"/>
              <a:gd name="T55" fmla="*/ 43 h 58"/>
              <a:gd name="T56" fmla="*/ 4 w 60"/>
              <a:gd name="T57" fmla="*/ 33 h 58"/>
              <a:gd name="T58" fmla="*/ 4 w 60"/>
              <a:gd name="T59" fmla="*/ 26 h 58"/>
              <a:gd name="T60" fmla="*/ 4 w 60"/>
              <a:gd name="T61" fmla="*/ 23 h 58"/>
              <a:gd name="T62" fmla="*/ 5 w 60"/>
              <a:gd name="T63" fmla="*/ 20 h 58"/>
              <a:gd name="T64" fmla="*/ 7 w 60"/>
              <a:gd name="T65" fmla="*/ 16 h 58"/>
              <a:gd name="T66" fmla="*/ 2 w 60"/>
              <a:gd name="T67" fmla="*/ 16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0" h="58">
                <a:moveTo>
                  <a:pt x="60" y="28"/>
                </a:moveTo>
                <a:lnTo>
                  <a:pt x="58" y="23"/>
                </a:lnTo>
                <a:lnTo>
                  <a:pt x="58" y="18"/>
                </a:lnTo>
                <a:lnTo>
                  <a:pt x="57" y="15"/>
                </a:lnTo>
                <a:lnTo>
                  <a:pt x="53" y="10"/>
                </a:lnTo>
                <a:lnTo>
                  <a:pt x="50" y="6"/>
                </a:lnTo>
                <a:lnTo>
                  <a:pt x="47" y="5"/>
                </a:lnTo>
                <a:lnTo>
                  <a:pt x="44" y="2"/>
                </a:lnTo>
                <a:lnTo>
                  <a:pt x="39" y="0"/>
                </a:lnTo>
                <a:lnTo>
                  <a:pt x="34" y="2"/>
                </a:lnTo>
                <a:lnTo>
                  <a:pt x="39" y="3"/>
                </a:lnTo>
                <a:lnTo>
                  <a:pt x="44" y="5"/>
                </a:lnTo>
                <a:lnTo>
                  <a:pt x="47" y="8"/>
                </a:lnTo>
                <a:lnTo>
                  <a:pt x="50" y="11"/>
                </a:lnTo>
                <a:lnTo>
                  <a:pt x="52" y="15"/>
                </a:lnTo>
                <a:lnTo>
                  <a:pt x="55" y="18"/>
                </a:lnTo>
                <a:lnTo>
                  <a:pt x="55" y="23"/>
                </a:lnTo>
                <a:lnTo>
                  <a:pt x="57" y="28"/>
                </a:lnTo>
                <a:lnTo>
                  <a:pt x="57" y="31"/>
                </a:lnTo>
                <a:lnTo>
                  <a:pt x="55" y="33"/>
                </a:lnTo>
                <a:lnTo>
                  <a:pt x="55" y="35"/>
                </a:lnTo>
                <a:lnTo>
                  <a:pt x="55" y="36"/>
                </a:lnTo>
                <a:lnTo>
                  <a:pt x="53" y="40"/>
                </a:lnTo>
                <a:lnTo>
                  <a:pt x="53" y="41"/>
                </a:lnTo>
                <a:lnTo>
                  <a:pt x="52" y="43"/>
                </a:lnTo>
                <a:lnTo>
                  <a:pt x="50" y="45"/>
                </a:lnTo>
                <a:lnTo>
                  <a:pt x="57" y="41"/>
                </a:lnTo>
                <a:lnTo>
                  <a:pt x="58" y="40"/>
                </a:lnTo>
                <a:lnTo>
                  <a:pt x="58" y="38"/>
                </a:lnTo>
                <a:lnTo>
                  <a:pt x="58" y="36"/>
                </a:lnTo>
                <a:lnTo>
                  <a:pt x="58" y="33"/>
                </a:lnTo>
                <a:lnTo>
                  <a:pt x="60" y="31"/>
                </a:lnTo>
                <a:lnTo>
                  <a:pt x="60" y="30"/>
                </a:lnTo>
                <a:lnTo>
                  <a:pt x="60" y="28"/>
                </a:lnTo>
                <a:close/>
                <a:moveTo>
                  <a:pt x="2" y="16"/>
                </a:moveTo>
                <a:lnTo>
                  <a:pt x="2" y="18"/>
                </a:lnTo>
                <a:lnTo>
                  <a:pt x="2" y="20"/>
                </a:lnTo>
                <a:lnTo>
                  <a:pt x="0" y="21"/>
                </a:lnTo>
                <a:lnTo>
                  <a:pt x="0" y="23"/>
                </a:lnTo>
                <a:lnTo>
                  <a:pt x="0" y="25"/>
                </a:lnTo>
                <a:lnTo>
                  <a:pt x="0" y="26"/>
                </a:lnTo>
                <a:lnTo>
                  <a:pt x="0" y="28"/>
                </a:lnTo>
                <a:lnTo>
                  <a:pt x="0" y="33"/>
                </a:lnTo>
                <a:lnTo>
                  <a:pt x="2" y="38"/>
                </a:lnTo>
                <a:lnTo>
                  <a:pt x="4" y="43"/>
                </a:lnTo>
                <a:lnTo>
                  <a:pt x="7" y="46"/>
                </a:lnTo>
                <a:lnTo>
                  <a:pt x="10" y="50"/>
                </a:lnTo>
                <a:lnTo>
                  <a:pt x="14" y="53"/>
                </a:lnTo>
                <a:lnTo>
                  <a:pt x="17" y="56"/>
                </a:lnTo>
                <a:lnTo>
                  <a:pt x="22" y="58"/>
                </a:lnTo>
                <a:lnTo>
                  <a:pt x="29" y="55"/>
                </a:lnTo>
                <a:lnTo>
                  <a:pt x="24" y="55"/>
                </a:lnTo>
                <a:lnTo>
                  <a:pt x="19" y="53"/>
                </a:lnTo>
                <a:lnTo>
                  <a:pt x="14" y="50"/>
                </a:lnTo>
                <a:lnTo>
                  <a:pt x="10" y="46"/>
                </a:lnTo>
                <a:lnTo>
                  <a:pt x="7" y="43"/>
                </a:lnTo>
                <a:lnTo>
                  <a:pt x="5" y="38"/>
                </a:lnTo>
                <a:lnTo>
                  <a:pt x="4" y="33"/>
                </a:lnTo>
                <a:lnTo>
                  <a:pt x="4" y="28"/>
                </a:lnTo>
                <a:lnTo>
                  <a:pt x="4" y="26"/>
                </a:lnTo>
                <a:lnTo>
                  <a:pt x="4" y="25"/>
                </a:lnTo>
                <a:lnTo>
                  <a:pt x="4" y="23"/>
                </a:lnTo>
                <a:lnTo>
                  <a:pt x="4" y="21"/>
                </a:lnTo>
                <a:lnTo>
                  <a:pt x="5" y="20"/>
                </a:lnTo>
                <a:lnTo>
                  <a:pt x="5" y="18"/>
                </a:lnTo>
                <a:lnTo>
                  <a:pt x="7" y="16"/>
                </a:lnTo>
                <a:lnTo>
                  <a:pt x="7" y="15"/>
                </a:lnTo>
                <a:lnTo>
                  <a:pt x="2" y="16"/>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91" name="Freeform 2396">
            <a:extLst>
              <a:ext uri="{FF2B5EF4-FFF2-40B4-BE49-F238E27FC236}">
                <a16:creationId xmlns:a16="http://schemas.microsoft.com/office/drawing/2014/main" id="{1D425829-A001-CEEE-054C-ABFEFBB3F647}"/>
              </a:ext>
            </a:extLst>
          </p:cNvPr>
          <p:cNvSpPr>
            <a:spLocks noEditPoints="1"/>
          </p:cNvSpPr>
          <p:nvPr/>
        </p:nvSpPr>
        <p:spPr bwMode="auto">
          <a:xfrm>
            <a:off x="3475038" y="2559050"/>
            <a:ext cx="88900" cy="85725"/>
          </a:xfrm>
          <a:custGeom>
            <a:avLst/>
            <a:gdLst>
              <a:gd name="T0" fmla="*/ 55 w 56"/>
              <a:gd name="T1" fmla="*/ 21 h 54"/>
              <a:gd name="T2" fmla="*/ 53 w 56"/>
              <a:gd name="T3" fmla="*/ 13 h 54"/>
              <a:gd name="T4" fmla="*/ 47 w 56"/>
              <a:gd name="T5" fmla="*/ 6 h 54"/>
              <a:gd name="T6" fmla="*/ 38 w 56"/>
              <a:gd name="T7" fmla="*/ 1 h 54"/>
              <a:gd name="T8" fmla="*/ 28 w 56"/>
              <a:gd name="T9" fmla="*/ 1 h 54"/>
              <a:gd name="T10" fmla="*/ 38 w 56"/>
              <a:gd name="T11" fmla="*/ 4 h 54"/>
              <a:gd name="T12" fmla="*/ 47 w 56"/>
              <a:gd name="T13" fmla="*/ 9 h 54"/>
              <a:gd name="T14" fmla="*/ 51 w 56"/>
              <a:gd name="T15" fmla="*/ 16 h 54"/>
              <a:gd name="T16" fmla="*/ 53 w 56"/>
              <a:gd name="T17" fmla="*/ 26 h 54"/>
              <a:gd name="T18" fmla="*/ 51 w 56"/>
              <a:gd name="T19" fmla="*/ 31 h 54"/>
              <a:gd name="T20" fmla="*/ 50 w 56"/>
              <a:gd name="T21" fmla="*/ 36 h 54"/>
              <a:gd name="T22" fmla="*/ 48 w 56"/>
              <a:gd name="T23" fmla="*/ 41 h 54"/>
              <a:gd name="T24" fmla="*/ 45 w 56"/>
              <a:gd name="T25" fmla="*/ 44 h 54"/>
              <a:gd name="T26" fmla="*/ 53 w 56"/>
              <a:gd name="T27" fmla="*/ 39 h 54"/>
              <a:gd name="T28" fmla="*/ 55 w 56"/>
              <a:gd name="T29" fmla="*/ 36 h 54"/>
              <a:gd name="T30" fmla="*/ 55 w 56"/>
              <a:gd name="T31" fmla="*/ 33 h 54"/>
              <a:gd name="T32" fmla="*/ 56 w 56"/>
              <a:gd name="T33" fmla="*/ 28 h 54"/>
              <a:gd name="T34" fmla="*/ 3 w 56"/>
              <a:gd name="T35" fmla="*/ 13 h 54"/>
              <a:gd name="T36" fmla="*/ 2 w 56"/>
              <a:gd name="T37" fmla="*/ 16 h 54"/>
              <a:gd name="T38" fmla="*/ 0 w 56"/>
              <a:gd name="T39" fmla="*/ 19 h 54"/>
              <a:gd name="T40" fmla="*/ 0 w 56"/>
              <a:gd name="T41" fmla="*/ 23 h 54"/>
              <a:gd name="T42" fmla="*/ 0 w 56"/>
              <a:gd name="T43" fmla="*/ 26 h 54"/>
              <a:gd name="T44" fmla="*/ 2 w 56"/>
              <a:gd name="T45" fmla="*/ 36 h 54"/>
              <a:gd name="T46" fmla="*/ 7 w 56"/>
              <a:gd name="T47" fmla="*/ 44 h 54"/>
              <a:gd name="T48" fmla="*/ 13 w 56"/>
              <a:gd name="T49" fmla="*/ 51 h 54"/>
              <a:gd name="T50" fmla="*/ 23 w 56"/>
              <a:gd name="T51" fmla="*/ 54 h 54"/>
              <a:gd name="T52" fmla="*/ 28 w 56"/>
              <a:gd name="T53" fmla="*/ 51 h 54"/>
              <a:gd name="T54" fmla="*/ 18 w 56"/>
              <a:gd name="T55" fmla="*/ 49 h 54"/>
              <a:gd name="T56" fmla="*/ 10 w 56"/>
              <a:gd name="T57" fmla="*/ 44 h 54"/>
              <a:gd name="T58" fmla="*/ 5 w 56"/>
              <a:gd name="T59" fmla="*/ 36 h 54"/>
              <a:gd name="T60" fmla="*/ 3 w 56"/>
              <a:gd name="T61" fmla="*/ 26 h 54"/>
              <a:gd name="T62" fmla="*/ 3 w 56"/>
              <a:gd name="T63" fmla="*/ 23 h 54"/>
              <a:gd name="T64" fmla="*/ 5 w 56"/>
              <a:gd name="T65" fmla="*/ 18 h 54"/>
              <a:gd name="T66" fmla="*/ 7 w 56"/>
              <a:gd name="T67" fmla="*/ 14 h 54"/>
              <a:gd name="T68" fmla="*/ 8 w 56"/>
              <a:gd name="T69" fmla="*/ 11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 h="54">
                <a:moveTo>
                  <a:pt x="56" y="26"/>
                </a:moveTo>
                <a:lnTo>
                  <a:pt x="55" y="21"/>
                </a:lnTo>
                <a:lnTo>
                  <a:pt x="55" y="16"/>
                </a:lnTo>
                <a:lnTo>
                  <a:pt x="53" y="13"/>
                </a:lnTo>
                <a:lnTo>
                  <a:pt x="50" y="9"/>
                </a:lnTo>
                <a:lnTo>
                  <a:pt x="47" y="6"/>
                </a:lnTo>
                <a:lnTo>
                  <a:pt x="43" y="3"/>
                </a:lnTo>
                <a:lnTo>
                  <a:pt x="38" y="1"/>
                </a:lnTo>
                <a:lnTo>
                  <a:pt x="35" y="0"/>
                </a:lnTo>
                <a:lnTo>
                  <a:pt x="28" y="1"/>
                </a:lnTo>
                <a:lnTo>
                  <a:pt x="33" y="3"/>
                </a:lnTo>
                <a:lnTo>
                  <a:pt x="38" y="4"/>
                </a:lnTo>
                <a:lnTo>
                  <a:pt x="42" y="6"/>
                </a:lnTo>
                <a:lnTo>
                  <a:pt x="47" y="9"/>
                </a:lnTo>
                <a:lnTo>
                  <a:pt x="48" y="13"/>
                </a:lnTo>
                <a:lnTo>
                  <a:pt x="51" y="16"/>
                </a:lnTo>
                <a:lnTo>
                  <a:pt x="51" y="21"/>
                </a:lnTo>
                <a:lnTo>
                  <a:pt x="53" y="26"/>
                </a:lnTo>
                <a:lnTo>
                  <a:pt x="53" y="29"/>
                </a:lnTo>
                <a:lnTo>
                  <a:pt x="51" y="31"/>
                </a:lnTo>
                <a:lnTo>
                  <a:pt x="51" y="34"/>
                </a:lnTo>
                <a:lnTo>
                  <a:pt x="50" y="36"/>
                </a:lnTo>
                <a:lnTo>
                  <a:pt x="50" y="38"/>
                </a:lnTo>
                <a:lnTo>
                  <a:pt x="48" y="41"/>
                </a:lnTo>
                <a:lnTo>
                  <a:pt x="47" y="43"/>
                </a:lnTo>
                <a:lnTo>
                  <a:pt x="45" y="44"/>
                </a:lnTo>
                <a:lnTo>
                  <a:pt x="51" y="41"/>
                </a:lnTo>
                <a:lnTo>
                  <a:pt x="53" y="39"/>
                </a:lnTo>
                <a:lnTo>
                  <a:pt x="53" y="38"/>
                </a:lnTo>
                <a:lnTo>
                  <a:pt x="55" y="36"/>
                </a:lnTo>
                <a:lnTo>
                  <a:pt x="55" y="34"/>
                </a:lnTo>
                <a:lnTo>
                  <a:pt x="55" y="33"/>
                </a:lnTo>
                <a:lnTo>
                  <a:pt x="56" y="31"/>
                </a:lnTo>
                <a:lnTo>
                  <a:pt x="56" y="28"/>
                </a:lnTo>
                <a:lnTo>
                  <a:pt x="56" y="26"/>
                </a:lnTo>
                <a:close/>
                <a:moveTo>
                  <a:pt x="3" y="13"/>
                </a:moveTo>
                <a:lnTo>
                  <a:pt x="2" y="14"/>
                </a:lnTo>
                <a:lnTo>
                  <a:pt x="2" y="16"/>
                </a:lnTo>
                <a:lnTo>
                  <a:pt x="0" y="18"/>
                </a:lnTo>
                <a:lnTo>
                  <a:pt x="0" y="19"/>
                </a:lnTo>
                <a:lnTo>
                  <a:pt x="0" y="21"/>
                </a:lnTo>
                <a:lnTo>
                  <a:pt x="0" y="23"/>
                </a:lnTo>
                <a:lnTo>
                  <a:pt x="0" y="24"/>
                </a:lnTo>
                <a:lnTo>
                  <a:pt x="0" y="26"/>
                </a:lnTo>
                <a:lnTo>
                  <a:pt x="0" y="31"/>
                </a:lnTo>
                <a:lnTo>
                  <a:pt x="2" y="36"/>
                </a:lnTo>
                <a:lnTo>
                  <a:pt x="3" y="41"/>
                </a:lnTo>
                <a:lnTo>
                  <a:pt x="7" y="44"/>
                </a:lnTo>
                <a:lnTo>
                  <a:pt x="10" y="48"/>
                </a:lnTo>
                <a:lnTo>
                  <a:pt x="13" y="51"/>
                </a:lnTo>
                <a:lnTo>
                  <a:pt x="18" y="53"/>
                </a:lnTo>
                <a:lnTo>
                  <a:pt x="23" y="54"/>
                </a:lnTo>
                <a:lnTo>
                  <a:pt x="30" y="51"/>
                </a:lnTo>
                <a:lnTo>
                  <a:pt x="28" y="51"/>
                </a:lnTo>
                <a:lnTo>
                  <a:pt x="23" y="51"/>
                </a:lnTo>
                <a:lnTo>
                  <a:pt x="18" y="49"/>
                </a:lnTo>
                <a:lnTo>
                  <a:pt x="13" y="48"/>
                </a:lnTo>
                <a:lnTo>
                  <a:pt x="10" y="44"/>
                </a:lnTo>
                <a:lnTo>
                  <a:pt x="7" y="41"/>
                </a:lnTo>
                <a:lnTo>
                  <a:pt x="5" y="36"/>
                </a:lnTo>
                <a:lnTo>
                  <a:pt x="3" y="31"/>
                </a:lnTo>
                <a:lnTo>
                  <a:pt x="3" y="26"/>
                </a:lnTo>
                <a:lnTo>
                  <a:pt x="3" y="24"/>
                </a:lnTo>
                <a:lnTo>
                  <a:pt x="3" y="23"/>
                </a:lnTo>
                <a:lnTo>
                  <a:pt x="3" y="19"/>
                </a:lnTo>
                <a:lnTo>
                  <a:pt x="5" y="18"/>
                </a:lnTo>
                <a:lnTo>
                  <a:pt x="5" y="16"/>
                </a:lnTo>
                <a:lnTo>
                  <a:pt x="7" y="14"/>
                </a:lnTo>
                <a:lnTo>
                  <a:pt x="7" y="13"/>
                </a:lnTo>
                <a:lnTo>
                  <a:pt x="8" y="11"/>
                </a:lnTo>
                <a:lnTo>
                  <a:pt x="3" y="13"/>
                </a:lnTo>
                <a:close/>
              </a:path>
            </a:pathLst>
          </a:custGeom>
          <a:solidFill>
            <a:srgbClr val="EBF6F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92" name="Freeform 2397">
            <a:extLst>
              <a:ext uri="{FF2B5EF4-FFF2-40B4-BE49-F238E27FC236}">
                <a16:creationId xmlns:a16="http://schemas.microsoft.com/office/drawing/2014/main" id="{F4D023C6-4C2F-9847-795F-849907B4F760}"/>
              </a:ext>
            </a:extLst>
          </p:cNvPr>
          <p:cNvSpPr>
            <a:spLocks/>
          </p:cNvSpPr>
          <p:nvPr/>
        </p:nvSpPr>
        <p:spPr bwMode="auto">
          <a:xfrm>
            <a:off x="3478213" y="2559050"/>
            <a:ext cx="84138" cy="84138"/>
          </a:xfrm>
          <a:custGeom>
            <a:avLst/>
            <a:gdLst>
              <a:gd name="T0" fmla="*/ 51 w 53"/>
              <a:gd name="T1" fmla="*/ 21 h 53"/>
              <a:gd name="T2" fmla="*/ 48 w 53"/>
              <a:gd name="T3" fmla="*/ 13 h 53"/>
              <a:gd name="T4" fmla="*/ 43 w 53"/>
              <a:gd name="T5" fmla="*/ 6 h 53"/>
              <a:gd name="T6" fmla="*/ 35 w 53"/>
              <a:gd name="T7" fmla="*/ 1 h 53"/>
              <a:gd name="T8" fmla="*/ 23 w 53"/>
              <a:gd name="T9" fmla="*/ 3 h 53"/>
              <a:gd name="T10" fmla="*/ 26 w 53"/>
              <a:gd name="T11" fmla="*/ 3 h 53"/>
              <a:gd name="T12" fmla="*/ 35 w 53"/>
              <a:gd name="T13" fmla="*/ 4 h 53"/>
              <a:gd name="T14" fmla="*/ 43 w 53"/>
              <a:gd name="T15" fmla="*/ 9 h 53"/>
              <a:gd name="T16" fmla="*/ 48 w 53"/>
              <a:gd name="T17" fmla="*/ 18 h 53"/>
              <a:gd name="T18" fmla="*/ 49 w 53"/>
              <a:gd name="T19" fmla="*/ 26 h 53"/>
              <a:gd name="T20" fmla="*/ 48 w 53"/>
              <a:gd name="T21" fmla="*/ 36 h 53"/>
              <a:gd name="T22" fmla="*/ 43 w 53"/>
              <a:gd name="T23" fmla="*/ 43 h 53"/>
              <a:gd name="T24" fmla="*/ 35 w 53"/>
              <a:gd name="T25" fmla="*/ 48 h 53"/>
              <a:gd name="T26" fmla="*/ 26 w 53"/>
              <a:gd name="T27" fmla="*/ 49 h 53"/>
              <a:gd name="T28" fmla="*/ 16 w 53"/>
              <a:gd name="T29" fmla="*/ 48 h 53"/>
              <a:gd name="T30" fmla="*/ 10 w 53"/>
              <a:gd name="T31" fmla="*/ 43 h 53"/>
              <a:gd name="T32" fmla="*/ 5 w 53"/>
              <a:gd name="T33" fmla="*/ 36 h 53"/>
              <a:gd name="T34" fmla="*/ 3 w 53"/>
              <a:gd name="T35" fmla="*/ 26 h 53"/>
              <a:gd name="T36" fmla="*/ 3 w 53"/>
              <a:gd name="T37" fmla="*/ 21 h 53"/>
              <a:gd name="T38" fmla="*/ 5 w 53"/>
              <a:gd name="T39" fmla="*/ 16 h 53"/>
              <a:gd name="T40" fmla="*/ 6 w 53"/>
              <a:gd name="T41" fmla="*/ 13 h 53"/>
              <a:gd name="T42" fmla="*/ 10 w 53"/>
              <a:gd name="T43" fmla="*/ 9 h 53"/>
              <a:gd name="T44" fmla="*/ 3 w 53"/>
              <a:gd name="T45" fmla="*/ 14 h 53"/>
              <a:gd name="T46" fmla="*/ 1 w 53"/>
              <a:gd name="T47" fmla="*/ 18 h 53"/>
              <a:gd name="T48" fmla="*/ 0 w 53"/>
              <a:gd name="T49" fmla="*/ 21 h 53"/>
              <a:gd name="T50" fmla="*/ 0 w 53"/>
              <a:gd name="T51" fmla="*/ 24 h 53"/>
              <a:gd name="T52" fmla="*/ 0 w 53"/>
              <a:gd name="T53" fmla="*/ 31 h 53"/>
              <a:gd name="T54" fmla="*/ 3 w 53"/>
              <a:gd name="T55" fmla="*/ 41 h 53"/>
              <a:gd name="T56" fmla="*/ 10 w 53"/>
              <a:gd name="T57" fmla="*/ 48 h 53"/>
              <a:gd name="T58" fmla="*/ 20 w 53"/>
              <a:gd name="T59" fmla="*/ 53 h 53"/>
              <a:gd name="T60" fmla="*/ 46 w 53"/>
              <a:gd name="T61" fmla="*/ 43 h 53"/>
              <a:gd name="T62" fmla="*/ 49 w 53"/>
              <a:gd name="T63" fmla="*/ 39 h 53"/>
              <a:gd name="T64" fmla="*/ 51 w 53"/>
              <a:gd name="T65" fmla="*/ 34 h 53"/>
              <a:gd name="T66" fmla="*/ 51 w 53"/>
              <a:gd name="T67" fmla="*/ 31 h 53"/>
              <a:gd name="T68" fmla="*/ 53 w 53"/>
              <a:gd name="T69" fmla="*/ 26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 h="53">
                <a:moveTo>
                  <a:pt x="53" y="26"/>
                </a:moveTo>
                <a:lnTo>
                  <a:pt x="51" y="21"/>
                </a:lnTo>
                <a:lnTo>
                  <a:pt x="51" y="16"/>
                </a:lnTo>
                <a:lnTo>
                  <a:pt x="48" y="13"/>
                </a:lnTo>
                <a:lnTo>
                  <a:pt x="46" y="9"/>
                </a:lnTo>
                <a:lnTo>
                  <a:pt x="43" y="6"/>
                </a:lnTo>
                <a:lnTo>
                  <a:pt x="40" y="3"/>
                </a:lnTo>
                <a:lnTo>
                  <a:pt x="35" y="1"/>
                </a:lnTo>
                <a:lnTo>
                  <a:pt x="30" y="0"/>
                </a:lnTo>
                <a:lnTo>
                  <a:pt x="23" y="3"/>
                </a:lnTo>
                <a:lnTo>
                  <a:pt x="25" y="3"/>
                </a:lnTo>
                <a:lnTo>
                  <a:pt x="26" y="3"/>
                </a:lnTo>
                <a:lnTo>
                  <a:pt x="31" y="3"/>
                </a:lnTo>
                <a:lnTo>
                  <a:pt x="35" y="4"/>
                </a:lnTo>
                <a:lnTo>
                  <a:pt x="40" y="8"/>
                </a:lnTo>
                <a:lnTo>
                  <a:pt x="43" y="9"/>
                </a:lnTo>
                <a:lnTo>
                  <a:pt x="45" y="13"/>
                </a:lnTo>
                <a:lnTo>
                  <a:pt x="48" y="18"/>
                </a:lnTo>
                <a:lnTo>
                  <a:pt x="48" y="21"/>
                </a:lnTo>
                <a:lnTo>
                  <a:pt x="49" y="26"/>
                </a:lnTo>
                <a:lnTo>
                  <a:pt x="48" y="31"/>
                </a:lnTo>
                <a:lnTo>
                  <a:pt x="48" y="36"/>
                </a:lnTo>
                <a:lnTo>
                  <a:pt x="45" y="39"/>
                </a:lnTo>
                <a:lnTo>
                  <a:pt x="43" y="43"/>
                </a:lnTo>
                <a:lnTo>
                  <a:pt x="40" y="46"/>
                </a:lnTo>
                <a:lnTo>
                  <a:pt x="35" y="48"/>
                </a:lnTo>
                <a:lnTo>
                  <a:pt x="31" y="49"/>
                </a:lnTo>
                <a:lnTo>
                  <a:pt x="26" y="49"/>
                </a:lnTo>
                <a:lnTo>
                  <a:pt x="21" y="49"/>
                </a:lnTo>
                <a:lnTo>
                  <a:pt x="16" y="48"/>
                </a:lnTo>
                <a:lnTo>
                  <a:pt x="13" y="46"/>
                </a:lnTo>
                <a:lnTo>
                  <a:pt x="10" y="43"/>
                </a:lnTo>
                <a:lnTo>
                  <a:pt x="6" y="39"/>
                </a:lnTo>
                <a:lnTo>
                  <a:pt x="5" y="36"/>
                </a:lnTo>
                <a:lnTo>
                  <a:pt x="3" y="31"/>
                </a:lnTo>
                <a:lnTo>
                  <a:pt x="3" y="26"/>
                </a:lnTo>
                <a:lnTo>
                  <a:pt x="3" y="24"/>
                </a:lnTo>
                <a:lnTo>
                  <a:pt x="3" y="21"/>
                </a:lnTo>
                <a:lnTo>
                  <a:pt x="3" y="19"/>
                </a:lnTo>
                <a:lnTo>
                  <a:pt x="5" y="16"/>
                </a:lnTo>
                <a:lnTo>
                  <a:pt x="6" y="14"/>
                </a:lnTo>
                <a:lnTo>
                  <a:pt x="6" y="13"/>
                </a:lnTo>
                <a:lnTo>
                  <a:pt x="8" y="11"/>
                </a:lnTo>
                <a:lnTo>
                  <a:pt x="10" y="9"/>
                </a:lnTo>
                <a:lnTo>
                  <a:pt x="3" y="13"/>
                </a:lnTo>
                <a:lnTo>
                  <a:pt x="3" y="14"/>
                </a:lnTo>
                <a:lnTo>
                  <a:pt x="1" y="16"/>
                </a:lnTo>
                <a:lnTo>
                  <a:pt x="1" y="18"/>
                </a:lnTo>
                <a:lnTo>
                  <a:pt x="0" y="19"/>
                </a:lnTo>
                <a:lnTo>
                  <a:pt x="0" y="21"/>
                </a:lnTo>
                <a:lnTo>
                  <a:pt x="0" y="23"/>
                </a:lnTo>
                <a:lnTo>
                  <a:pt x="0" y="24"/>
                </a:lnTo>
                <a:lnTo>
                  <a:pt x="0" y="26"/>
                </a:lnTo>
                <a:lnTo>
                  <a:pt x="0" y="31"/>
                </a:lnTo>
                <a:lnTo>
                  <a:pt x="1" y="36"/>
                </a:lnTo>
                <a:lnTo>
                  <a:pt x="3" y="41"/>
                </a:lnTo>
                <a:lnTo>
                  <a:pt x="6" y="44"/>
                </a:lnTo>
                <a:lnTo>
                  <a:pt x="10" y="48"/>
                </a:lnTo>
                <a:lnTo>
                  <a:pt x="15" y="51"/>
                </a:lnTo>
                <a:lnTo>
                  <a:pt x="20" y="53"/>
                </a:lnTo>
                <a:lnTo>
                  <a:pt x="25" y="53"/>
                </a:lnTo>
                <a:lnTo>
                  <a:pt x="46" y="43"/>
                </a:lnTo>
                <a:lnTo>
                  <a:pt x="48" y="41"/>
                </a:lnTo>
                <a:lnTo>
                  <a:pt x="49" y="39"/>
                </a:lnTo>
                <a:lnTo>
                  <a:pt x="49" y="38"/>
                </a:lnTo>
                <a:lnTo>
                  <a:pt x="51" y="34"/>
                </a:lnTo>
                <a:lnTo>
                  <a:pt x="51" y="33"/>
                </a:lnTo>
                <a:lnTo>
                  <a:pt x="51" y="31"/>
                </a:lnTo>
                <a:lnTo>
                  <a:pt x="53" y="29"/>
                </a:lnTo>
                <a:lnTo>
                  <a:pt x="53" y="26"/>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93" name="Freeform 2398">
            <a:extLst>
              <a:ext uri="{FF2B5EF4-FFF2-40B4-BE49-F238E27FC236}">
                <a16:creationId xmlns:a16="http://schemas.microsoft.com/office/drawing/2014/main" id="{EA63F859-EE4B-70C4-6F84-5657B5EFBE6E}"/>
              </a:ext>
            </a:extLst>
          </p:cNvPr>
          <p:cNvSpPr>
            <a:spLocks noEditPoints="1"/>
          </p:cNvSpPr>
          <p:nvPr/>
        </p:nvSpPr>
        <p:spPr bwMode="auto">
          <a:xfrm>
            <a:off x="3479800" y="2560638"/>
            <a:ext cx="79375" cy="79375"/>
          </a:xfrm>
          <a:custGeom>
            <a:avLst/>
            <a:gdLst>
              <a:gd name="T0" fmla="*/ 48 w 50"/>
              <a:gd name="T1" fmla="*/ 20 h 50"/>
              <a:gd name="T2" fmla="*/ 45 w 50"/>
              <a:gd name="T3" fmla="*/ 12 h 50"/>
              <a:gd name="T4" fmla="*/ 39 w 50"/>
              <a:gd name="T5" fmla="*/ 5 h 50"/>
              <a:gd name="T6" fmla="*/ 30 w 50"/>
              <a:gd name="T7" fmla="*/ 2 h 50"/>
              <a:gd name="T8" fmla="*/ 5 w 50"/>
              <a:gd name="T9" fmla="*/ 10 h 50"/>
              <a:gd name="T10" fmla="*/ 4 w 50"/>
              <a:gd name="T11" fmla="*/ 13 h 50"/>
              <a:gd name="T12" fmla="*/ 2 w 50"/>
              <a:gd name="T13" fmla="*/ 17 h 50"/>
              <a:gd name="T14" fmla="*/ 0 w 50"/>
              <a:gd name="T15" fmla="*/ 22 h 50"/>
              <a:gd name="T16" fmla="*/ 0 w 50"/>
              <a:gd name="T17" fmla="*/ 25 h 50"/>
              <a:gd name="T18" fmla="*/ 2 w 50"/>
              <a:gd name="T19" fmla="*/ 35 h 50"/>
              <a:gd name="T20" fmla="*/ 7 w 50"/>
              <a:gd name="T21" fmla="*/ 43 h 50"/>
              <a:gd name="T22" fmla="*/ 15 w 50"/>
              <a:gd name="T23" fmla="*/ 48 h 50"/>
              <a:gd name="T24" fmla="*/ 25 w 50"/>
              <a:gd name="T25" fmla="*/ 50 h 50"/>
              <a:gd name="T26" fmla="*/ 42 w 50"/>
              <a:gd name="T27" fmla="*/ 43 h 50"/>
              <a:gd name="T28" fmla="*/ 45 w 50"/>
              <a:gd name="T29" fmla="*/ 40 h 50"/>
              <a:gd name="T30" fmla="*/ 47 w 50"/>
              <a:gd name="T31" fmla="*/ 35 h 50"/>
              <a:gd name="T32" fmla="*/ 48 w 50"/>
              <a:gd name="T33" fmla="*/ 30 h 50"/>
              <a:gd name="T34" fmla="*/ 50 w 50"/>
              <a:gd name="T35" fmla="*/ 25 h 50"/>
              <a:gd name="T36" fmla="*/ 45 w 50"/>
              <a:gd name="T37" fmla="*/ 30 h 50"/>
              <a:gd name="T38" fmla="*/ 42 w 50"/>
              <a:gd name="T39" fmla="*/ 37 h 50"/>
              <a:gd name="T40" fmla="*/ 37 w 50"/>
              <a:gd name="T41" fmla="*/ 43 h 50"/>
              <a:gd name="T42" fmla="*/ 29 w 50"/>
              <a:gd name="T43" fmla="*/ 47 h 50"/>
              <a:gd name="T44" fmla="*/ 20 w 50"/>
              <a:gd name="T45" fmla="*/ 47 h 50"/>
              <a:gd name="T46" fmla="*/ 12 w 50"/>
              <a:gd name="T47" fmla="*/ 43 h 50"/>
              <a:gd name="T48" fmla="*/ 7 w 50"/>
              <a:gd name="T49" fmla="*/ 37 h 50"/>
              <a:gd name="T50" fmla="*/ 4 w 50"/>
              <a:gd name="T51" fmla="*/ 30 h 50"/>
              <a:gd name="T52" fmla="*/ 4 w 50"/>
              <a:gd name="T53" fmla="*/ 22 h 50"/>
              <a:gd name="T54" fmla="*/ 7 w 50"/>
              <a:gd name="T55" fmla="*/ 13 h 50"/>
              <a:gd name="T56" fmla="*/ 12 w 50"/>
              <a:gd name="T57" fmla="*/ 7 h 50"/>
              <a:gd name="T58" fmla="*/ 20 w 50"/>
              <a:gd name="T59" fmla="*/ 3 h 50"/>
              <a:gd name="T60" fmla="*/ 29 w 50"/>
              <a:gd name="T61" fmla="*/ 3 h 50"/>
              <a:gd name="T62" fmla="*/ 37 w 50"/>
              <a:gd name="T63" fmla="*/ 7 h 50"/>
              <a:gd name="T64" fmla="*/ 42 w 50"/>
              <a:gd name="T65" fmla="*/ 13 h 50"/>
              <a:gd name="T66" fmla="*/ 45 w 50"/>
              <a:gd name="T67" fmla="*/ 22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0" h="50">
                <a:moveTo>
                  <a:pt x="50" y="25"/>
                </a:moveTo>
                <a:lnTo>
                  <a:pt x="48" y="20"/>
                </a:lnTo>
                <a:lnTo>
                  <a:pt x="48" y="15"/>
                </a:lnTo>
                <a:lnTo>
                  <a:pt x="45" y="12"/>
                </a:lnTo>
                <a:lnTo>
                  <a:pt x="44" y="8"/>
                </a:lnTo>
                <a:lnTo>
                  <a:pt x="39" y="5"/>
                </a:lnTo>
                <a:lnTo>
                  <a:pt x="35" y="3"/>
                </a:lnTo>
                <a:lnTo>
                  <a:pt x="30" y="2"/>
                </a:lnTo>
                <a:lnTo>
                  <a:pt x="25" y="0"/>
                </a:lnTo>
                <a:lnTo>
                  <a:pt x="5" y="10"/>
                </a:lnTo>
                <a:lnTo>
                  <a:pt x="4" y="12"/>
                </a:lnTo>
                <a:lnTo>
                  <a:pt x="4" y="13"/>
                </a:lnTo>
                <a:lnTo>
                  <a:pt x="2" y="15"/>
                </a:lnTo>
                <a:lnTo>
                  <a:pt x="2" y="17"/>
                </a:lnTo>
                <a:lnTo>
                  <a:pt x="0" y="18"/>
                </a:lnTo>
                <a:lnTo>
                  <a:pt x="0" y="22"/>
                </a:lnTo>
                <a:lnTo>
                  <a:pt x="0" y="23"/>
                </a:lnTo>
                <a:lnTo>
                  <a:pt x="0" y="25"/>
                </a:lnTo>
                <a:lnTo>
                  <a:pt x="0" y="30"/>
                </a:lnTo>
                <a:lnTo>
                  <a:pt x="2" y="35"/>
                </a:lnTo>
                <a:lnTo>
                  <a:pt x="4" y="40"/>
                </a:lnTo>
                <a:lnTo>
                  <a:pt x="7" y="43"/>
                </a:lnTo>
                <a:lnTo>
                  <a:pt x="10" y="47"/>
                </a:lnTo>
                <a:lnTo>
                  <a:pt x="15" y="48"/>
                </a:lnTo>
                <a:lnTo>
                  <a:pt x="20" y="50"/>
                </a:lnTo>
                <a:lnTo>
                  <a:pt x="25" y="50"/>
                </a:lnTo>
                <a:lnTo>
                  <a:pt x="27" y="50"/>
                </a:lnTo>
                <a:lnTo>
                  <a:pt x="42" y="43"/>
                </a:lnTo>
                <a:lnTo>
                  <a:pt x="44" y="42"/>
                </a:lnTo>
                <a:lnTo>
                  <a:pt x="45" y="40"/>
                </a:lnTo>
                <a:lnTo>
                  <a:pt x="47" y="37"/>
                </a:lnTo>
                <a:lnTo>
                  <a:pt x="47" y="35"/>
                </a:lnTo>
                <a:lnTo>
                  <a:pt x="48" y="33"/>
                </a:lnTo>
                <a:lnTo>
                  <a:pt x="48" y="30"/>
                </a:lnTo>
                <a:lnTo>
                  <a:pt x="50" y="28"/>
                </a:lnTo>
                <a:lnTo>
                  <a:pt x="50" y="25"/>
                </a:lnTo>
                <a:close/>
                <a:moveTo>
                  <a:pt x="47" y="25"/>
                </a:moveTo>
                <a:lnTo>
                  <a:pt x="45" y="30"/>
                </a:lnTo>
                <a:lnTo>
                  <a:pt x="45" y="33"/>
                </a:lnTo>
                <a:lnTo>
                  <a:pt x="42" y="37"/>
                </a:lnTo>
                <a:lnTo>
                  <a:pt x="40" y="40"/>
                </a:lnTo>
                <a:lnTo>
                  <a:pt x="37" y="43"/>
                </a:lnTo>
                <a:lnTo>
                  <a:pt x="34" y="45"/>
                </a:lnTo>
                <a:lnTo>
                  <a:pt x="29" y="47"/>
                </a:lnTo>
                <a:lnTo>
                  <a:pt x="25" y="47"/>
                </a:lnTo>
                <a:lnTo>
                  <a:pt x="20" y="47"/>
                </a:lnTo>
                <a:lnTo>
                  <a:pt x="17" y="45"/>
                </a:lnTo>
                <a:lnTo>
                  <a:pt x="12" y="43"/>
                </a:lnTo>
                <a:lnTo>
                  <a:pt x="10" y="40"/>
                </a:lnTo>
                <a:lnTo>
                  <a:pt x="7" y="37"/>
                </a:lnTo>
                <a:lnTo>
                  <a:pt x="5" y="33"/>
                </a:lnTo>
                <a:lnTo>
                  <a:pt x="4" y="30"/>
                </a:lnTo>
                <a:lnTo>
                  <a:pt x="4" y="25"/>
                </a:lnTo>
                <a:lnTo>
                  <a:pt x="4" y="22"/>
                </a:lnTo>
                <a:lnTo>
                  <a:pt x="5" y="17"/>
                </a:lnTo>
                <a:lnTo>
                  <a:pt x="7" y="13"/>
                </a:lnTo>
                <a:lnTo>
                  <a:pt x="10" y="10"/>
                </a:lnTo>
                <a:lnTo>
                  <a:pt x="12" y="7"/>
                </a:lnTo>
                <a:lnTo>
                  <a:pt x="17" y="5"/>
                </a:lnTo>
                <a:lnTo>
                  <a:pt x="20" y="3"/>
                </a:lnTo>
                <a:lnTo>
                  <a:pt x="25" y="3"/>
                </a:lnTo>
                <a:lnTo>
                  <a:pt x="29" y="3"/>
                </a:lnTo>
                <a:lnTo>
                  <a:pt x="34" y="5"/>
                </a:lnTo>
                <a:lnTo>
                  <a:pt x="37" y="7"/>
                </a:lnTo>
                <a:lnTo>
                  <a:pt x="40" y="10"/>
                </a:lnTo>
                <a:lnTo>
                  <a:pt x="42" y="13"/>
                </a:lnTo>
                <a:lnTo>
                  <a:pt x="45" y="17"/>
                </a:lnTo>
                <a:lnTo>
                  <a:pt x="45" y="22"/>
                </a:lnTo>
                <a:lnTo>
                  <a:pt x="47" y="25"/>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94" name="Freeform 2399">
            <a:extLst>
              <a:ext uri="{FF2B5EF4-FFF2-40B4-BE49-F238E27FC236}">
                <a16:creationId xmlns:a16="http://schemas.microsoft.com/office/drawing/2014/main" id="{8EEB6DD1-93B4-BE93-0AD7-2E23AA7675B7}"/>
              </a:ext>
            </a:extLst>
          </p:cNvPr>
          <p:cNvSpPr>
            <a:spLocks noEditPoints="1"/>
          </p:cNvSpPr>
          <p:nvPr/>
        </p:nvSpPr>
        <p:spPr bwMode="auto">
          <a:xfrm>
            <a:off x="3482975" y="2563813"/>
            <a:ext cx="73025" cy="73025"/>
          </a:xfrm>
          <a:custGeom>
            <a:avLst/>
            <a:gdLst>
              <a:gd name="T0" fmla="*/ 45 w 46"/>
              <a:gd name="T1" fmla="*/ 18 h 46"/>
              <a:gd name="T2" fmla="*/ 42 w 46"/>
              <a:gd name="T3" fmla="*/ 10 h 46"/>
              <a:gd name="T4" fmla="*/ 37 w 46"/>
              <a:gd name="T5" fmla="*/ 5 h 46"/>
              <a:gd name="T6" fmla="*/ 28 w 46"/>
              <a:gd name="T7" fmla="*/ 0 h 46"/>
              <a:gd name="T8" fmla="*/ 22 w 46"/>
              <a:gd name="T9" fmla="*/ 0 h 46"/>
              <a:gd name="T10" fmla="*/ 7 w 46"/>
              <a:gd name="T11" fmla="*/ 6 h 46"/>
              <a:gd name="T12" fmla="*/ 3 w 46"/>
              <a:gd name="T13" fmla="*/ 10 h 46"/>
              <a:gd name="T14" fmla="*/ 2 w 46"/>
              <a:gd name="T15" fmla="*/ 13 h 46"/>
              <a:gd name="T16" fmla="*/ 0 w 46"/>
              <a:gd name="T17" fmla="*/ 18 h 46"/>
              <a:gd name="T18" fmla="*/ 0 w 46"/>
              <a:gd name="T19" fmla="*/ 23 h 46"/>
              <a:gd name="T20" fmla="*/ 2 w 46"/>
              <a:gd name="T21" fmla="*/ 33 h 46"/>
              <a:gd name="T22" fmla="*/ 7 w 46"/>
              <a:gd name="T23" fmla="*/ 40 h 46"/>
              <a:gd name="T24" fmla="*/ 13 w 46"/>
              <a:gd name="T25" fmla="*/ 45 h 46"/>
              <a:gd name="T26" fmla="*/ 23 w 46"/>
              <a:gd name="T27" fmla="*/ 46 h 46"/>
              <a:gd name="T28" fmla="*/ 32 w 46"/>
              <a:gd name="T29" fmla="*/ 45 h 46"/>
              <a:gd name="T30" fmla="*/ 40 w 46"/>
              <a:gd name="T31" fmla="*/ 40 h 46"/>
              <a:gd name="T32" fmla="*/ 45 w 46"/>
              <a:gd name="T33" fmla="*/ 33 h 46"/>
              <a:gd name="T34" fmla="*/ 46 w 46"/>
              <a:gd name="T35" fmla="*/ 23 h 46"/>
              <a:gd name="T36" fmla="*/ 42 w 46"/>
              <a:gd name="T37" fmla="*/ 28 h 46"/>
              <a:gd name="T38" fmla="*/ 40 w 46"/>
              <a:gd name="T39" fmla="*/ 35 h 46"/>
              <a:gd name="T40" fmla="*/ 33 w 46"/>
              <a:gd name="T41" fmla="*/ 40 h 46"/>
              <a:gd name="T42" fmla="*/ 27 w 46"/>
              <a:gd name="T43" fmla="*/ 43 h 46"/>
              <a:gd name="T44" fmla="*/ 18 w 46"/>
              <a:gd name="T45" fmla="*/ 43 h 46"/>
              <a:gd name="T46" fmla="*/ 12 w 46"/>
              <a:gd name="T47" fmla="*/ 40 h 46"/>
              <a:gd name="T48" fmla="*/ 7 w 46"/>
              <a:gd name="T49" fmla="*/ 35 h 46"/>
              <a:gd name="T50" fmla="*/ 3 w 46"/>
              <a:gd name="T51" fmla="*/ 28 h 46"/>
              <a:gd name="T52" fmla="*/ 3 w 46"/>
              <a:gd name="T53" fmla="*/ 20 h 46"/>
              <a:gd name="T54" fmla="*/ 7 w 46"/>
              <a:gd name="T55" fmla="*/ 11 h 46"/>
              <a:gd name="T56" fmla="*/ 12 w 46"/>
              <a:gd name="T57" fmla="*/ 6 h 46"/>
              <a:gd name="T58" fmla="*/ 18 w 46"/>
              <a:gd name="T59" fmla="*/ 3 h 46"/>
              <a:gd name="T60" fmla="*/ 27 w 46"/>
              <a:gd name="T61" fmla="*/ 3 h 46"/>
              <a:gd name="T62" fmla="*/ 33 w 46"/>
              <a:gd name="T63" fmla="*/ 6 h 46"/>
              <a:gd name="T64" fmla="*/ 40 w 46"/>
              <a:gd name="T65" fmla="*/ 11 h 46"/>
              <a:gd name="T66" fmla="*/ 42 w 46"/>
              <a:gd name="T67" fmla="*/ 20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46" h="46">
                <a:moveTo>
                  <a:pt x="46" y="23"/>
                </a:moveTo>
                <a:lnTo>
                  <a:pt x="45" y="18"/>
                </a:lnTo>
                <a:lnTo>
                  <a:pt x="45" y="15"/>
                </a:lnTo>
                <a:lnTo>
                  <a:pt x="42" y="10"/>
                </a:lnTo>
                <a:lnTo>
                  <a:pt x="40" y="6"/>
                </a:lnTo>
                <a:lnTo>
                  <a:pt x="37" y="5"/>
                </a:lnTo>
                <a:lnTo>
                  <a:pt x="32" y="1"/>
                </a:lnTo>
                <a:lnTo>
                  <a:pt x="28" y="0"/>
                </a:lnTo>
                <a:lnTo>
                  <a:pt x="23" y="0"/>
                </a:lnTo>
                <a:lnTo>
                  <a:pt x="22" y="0"/>
                </a:lnTo>
                <a:lnTo>
                  <a:pt x="20" y="0"/>
                </a:lnTo>
                <a:lnTo>
                  <a:pt x="7" y="6"/>
                </a:lnTo>
                <a:lnTo>
                  <a:pt x="5" y="8"/>
                </a:lnTo>
                <a:lnTo>
                  <a:pt x="3" y="10"/>
                </a:lnTo>
                <a:lnTo>
                  <a:pt x="3" y="11"/>
                </a:lnTo>
                <a:lnTo>
                  <a:pt x="2" y="13"/>
                </a:lnTo>
                <a:lnTo>
                  <a:pt x="0" y="16"/>
                </a:lnTo>
                <a:lnTo>
                  <a:pt x="0" y="18"/>
                </a:lnTo>
                <a:lnTo>
                  <a:pt x="0" y="21"/>
                </a:lnTo>
                <a:lnTo>
                  <a:pt x="0" y="23"/>
                </a:lnTo>
                <a:lnTo>
                  <a:pt x="0" y="28"/>
                </a:lnTo>
                <a:lnTo>
                  <a:pt x="2" y="33"/>
                </a:lnTo>
                <a:lnTo>
                  <a:pt x="3" y="36"/>
                </a:lnTo>
                <a:lnTo>
                  <a:pt x="7" y="40"/>
                </a:lnTo>
                <a:lnTo>
                  <a:pt x="10" y="43"/>
                </a:lnTo>
                <a:lnTo>
                  <a:pt x="13" y="45"/>
                </a:lnTo>
                <a:lnTo>
                  <a:pt x="18" y="46"/>
                </a:lnTo>
                <a:lnTo>
                  <a:pt x="23" y="46"/>
                </a:lnTo>
                <a:lnTo>
                  <a:pt x="28" y="46"/>
                </a:lnTo>
                <a:lnTo>
                  <a:pt x="32" y="45"/>
                </a:lnTo>
                <a:lnTo>
                  <a:pt x="37" y="43"/>
                </a:lnTo>
                <a:lnTo>
                  <a:pt x="40" y="40"/>
                </a:lnTo>
                <a:lnTo>
                  <a:pt x="42" y="36"/>
                </a:lnTo>
                <a:lnTo>
                  <a:pt x="45" y="33"/>
                </a:lnTo>
                <a:lnTo>
                  <a:pt x="45" y="28"/>
                </a:lnTo>
                <a:lnTo>
                  <a:pt x="46" y="23"/>
                </a:lnTo>
                <a:close/>
                <a:moveTo>
                  <a:pt x="43" y="23"/>
                </a:moveTo>
                <a:lnTo>
                  <a:pt x="42" y="28"/>
                </a:lnTo>
                <a:lnTo>
                  <a:pt x="42" y="31"/>
                </a:lnTo>
                <a:lnTo>
                  <a:pt x="40" y="35"/>
                </a:lnTo>
                <a:lnTo>
                  <a:pt x="37" y="38"/>
                </a:lnTo>
                <a:lnTo>
                  <a:pt x="33" y="40"/>
                </a:lnTo>
                <a:lnTo>
                  <a:pt x="30" y="41"/>
                </a:lnTo>
                <a:lnTo>
                  <a:pt x="27" y="43"/>
                </a:lnTo>
                <a:lnTo>
                  <a:pt x="23" y="43"/>
                </a:lnTo>
                <a:lnTo>
                  <a:pt x="18" y="43"/>
                </a:lnTo>
                <a:lnTo>
                  <a:pt x="15" y="41"/>
                </a:lnTo>
                <a:lnTo>
                  <a:pt x="12" y="40"/>
                </a:lnTo>
                <a:lnTo>
                  <a:pt x="8" y="38"/>
                </a:lnTo>
                <a:lnTo>
                  <a:pt x="7" y="35"/>
                </a:lnTo>
                <a:lnTo>
                  <a:pt x="5" y="31"/>
                </a:lnTo>
                <a:lnTo>
                  <a:pt x="3" y="28"/>
                </a:lnTo>
                <a:lnTo>
                  <a:pt x="3" y="23"/>
                </a:lnTo>
                <a:lnTo>
                  <a:pt x="3" y="20"/>
                </a:lnTo>
                <a:lnTo>
                  <a:pt x="5" y="15"/>
                </a:lnTo>
                <a:lnTo>
                  <a:pt x="7" y="11"/>
                </a:lnTo>
                <a:lnTo>
                  <a:pt x="8" y="10"/>
                </a:lnTo>
                <a:lnTo>
                  <a:pt x="12" y="6"/>
                </a:lnTo>
                <a:lnTo>
                  <a:pt x="15" y="5"/>
                </a:lnTo>
                <a:lnTo>
                  <a:pt x="18" y="3"/>
                </a:lnTo>
                <a:lnTo>
                  <a:pt x="23" y="3"/>
                </a:lnTo>
                <a:lnTo>
                  <a:pt x="27" y="3"/>
                </a:lnTo>
                <a:lnTo>
                  <a:pt x="30" y="5"/>
                </a:lnTo>
                <a:lnTo>
                  <a:pt x="33" y="6"/>
                </a:lnTo>
                <a:lnTo>
                  <a:pt x="37" y="10"/>
                </a:lnTo>
                <a:lnTo>
                  <a:pt x="40" y="11"/>
                </a:lnTo>
                <a:lnTo>
                  <a:pt x="42" y="15"/>
                </a:lnTo>
                <a:lnTo>
                  <a:pt x="42" y="20"/>
                </a:lnTo>
                <a:lnTo>
                  <a:pt x="43" y="23"/>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95" name="Freeform 2400">
            <a:extLst>
              <a:ext uri="{FF2B5EF4-FFF2-40B4-BE49-F238E27FC236}">
                <a16:creationId xmlns:a16="http://schemas.microsoft.com/office/drawing/2014/main" id="{02E4CB02-F53E-5DDE-A77A-08C26D0358F5}"/>
              </a:ext>
            </a:extLst>
          </p:cNvPr>
          <p:cNvSpPr>
            <a:spLocks noEditPoints="1"/>
          </p:cNvSpPr>
          <p:nvPr/>
        </p:nvSpPr>
        <p:spPr bwMode="auto">
          <a:xfrm>
            <a:off x="3486150" y="2565400"/>
            <a:ext cx="68263" cy="69850"/>
          </a:xfrm>
          <a:custGeom>
            <a:avLst/>
            <a:gdLst>
              <a:gd name="T0" fmla="*/ 41 w 43"/>
              <a:gd name="T1" fmla="*/ 19 h 44"/>
              <a:gd name="T2" fmla="*/ 38 w 43"/>
              <a:gd name="T3" fmla="*/ 10 h 44"/>
              <a:gd name="T4" fmla="*/ 33 w 43"/>
              <a:gd name="T5" fmla="*/ 4 h 44"/>
              <a:gd name="T6" fmla="*/ 25 w 43"/>
              <a:gd name="T7" fmla="*/ 0 h 44"/>
              <a:gd name="T8" fmla="*/ 16 w 43"/>
              <a:gd name="T9" fmla="*/ 0 h 44"/>
              <a:gd name="T10" fmla="*/ 8 w 43"/>
              <a:gd name="T11" fmla="*/ 4 h 44"/>
              <a:gd name="T12" fmla="*/ 3 w 43"/>
              <a:gd name="T13" fmla="*/ 10 h 44"/>
              <a:gd name="T14" fmla="*/ 0 w 43"/>
              <a:gd name="T15" fmla="*/ 19 h 44"/>
              <a:gd name="T16" fmla="*/ 0 w 43"/>
              <a:gd name="T17" fmla="*/ 27 h 44"/>
              <a:gd name="T18" fmla="*/ 3 w 43"/>
              <a:gd name="T19" fmla="*/ 34 h 44"/>
              <a:gd name="T20" fmla="*/ 8 w 43"/>
              <a:gd name="T21" fmla="*/ 40 h 44"/>
              <a:gd name="T22" fmla="*/ 16 w 43"/>
              <a:gd name="T23" fmla="*/ 44 h 44"/>
              <a:gd name="T24" fmla="*/ 25 w 43"/>
              <a:gd name="T25" fmla="*/ 44 h 44"/>
              <a:gd name="T26" fmla="*/ 33 w 43"/>
              <a:gd name="T27" fmla="*/ 40 h 44"/>
              <a:gd name="T28" fmla="*/ 38 w 43"/>
              <a:gd name="T29" fmla="*/ 34 h 44"/>
              <a:gd name="T30" fmla="*/ 41 w 43"/>
              <a:gd name="T31" fmla="*/ 27 h 44"/>
              <a:gd name="T32" fmla="*/ 40 w 43"/>
              <a:gd name="T33" fmla="*/ 22 h 44"/>
              <a:gd name="T34" fmla="*/ 38 w 43"/>
              <a:gd name="T35" fmla="*/ 29 h 44"/>
              <a:gd name="T36" fmla="*/ 33 w 43"/>
              <a:gd name="T37" fmla="*/ 35 h 44"/>
              <a:gd name="T38" fmla="*/ 28 w 43"/>
              <a:gd name="T39" fmla="*/ 39 h 44"/>
              <a:gd name="T40" fmla="*/ 21 w 43"/>
              <a:gd name="T41" fmla="*/ 40 h 44"/>
              <a:gd name="T42" fmla="*/ 13 w 43"/>
              <a:gd name="T43" fmla="*/ 39 h 44"/>
              <a:gd name="T44" fmla="*/ 8 w 43"/>
              <a:gd name="T45" fmla="*/ 35 h 44"/>
              <a:gd name="T46" fmla="*/ 5 w 43"/>
              <a:gd name="T47" fmla="*/ 29 h 44"/>
              <a:gd name="T48" fmla="*/ 3 w 43"/>
              <a:gd name="T49" fmla="*/ 22 h 44"/>
              <a:gd name="T50" fmla="*/ 5 w 43"/>
              <a:gd name="T51" fmla="*/ 15 h 44"/>
              <a:gd name="T52" fmla="*/ 8 w 43"/>
              <a:gd name="T53" fmla="*/ 9 h 44"/>
              <a:gd name="T54" fmla="*/ 13 w 43"/>
              <a:gd name="T55" fmla="*/ 5 h 44"/>
              <a:gd name="T56" fmla="*/ 21 w 43"/>
              <a:gd name="T57" fmla="*/ 4 h 44"/>
              <a:gd name="T58" fmla="*/ 28 w 43"/>
              <a:gd name="T59" fmla="*/ 5 h 44"/>
              <a:gd name="T60" fmla="*/ 33 w 43"/>
              <a:gd name="T61" fmla="*/ 9 h 44"/>
              <a:gd name="T62" fmla="*/ 38 w 43"/>
              <a:gd name="T63" fmla="*/ 15 h 44"/>
              <a:gd name="T64" fmla="*/ 40 w 43"/>
              <a:gd name="T65" fmla="*/ 22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3" h="44">
                <a:moveTo>
                  <a:pt x="43" y="22"/>
                </a:moveTo>
                <a:lnTo>
                  <a:pt x="41" y="19"/>
                </a:lnTo>
                <a:lnTo>
                  <a:pt x="41" y="14"/>
                </a:lnTo>
                <a:lnTo>
                  <a:pt x="38" y="10"/>
                </a:lnTo>
                <a:lnTo>
                  <a:pt x="36" y="7"/>
                </a:lnTo>
                <a:lnTo>
                  <a:pt x="33" y="4"/>
                </a:lnTo>
                <a:lnTo>
                  <a:pt x="30" y="2"/>
                </a:lnTo>
                <a:lnTo>
                  <a:pt x="25" y="0"/>
                </a:lnTo>
                <a:lnTo>
                  <a:pt x="21" y="0"/>
                </a:lnTo>
                <a:lnTo>
                  <a:pt x="16" y="0"/>
                </a:lnTo>
                <a:lnTo>
                  <a:pt x="13" y="2"/>
                </a:lnTo>
                <a:lnTo>
                  <a:pt x="8" y="4"/>
                </a:lnTo>
                <a:lnTo>
                  <a:pt x="6" y="7"/>
                </a:lnTo>
                <a:lnTo>
                  <a:pt x="3" y="10"/>
                </a:lnTo>
                <a:lnTo>
                  <a:pt x="1" y="14"/>
                </a:lnTo>
                <a:lnTo>
                  <a:pt x="0" y="19"/>
                </a:lnTo>
                <a:lnTo>
                  <a:pt x="0" y="22"/>
                </a:lnTo>
                <a:lnTo>
                  <a:pt x="0" y="27"/>
                </a:lnTo>
                <a:lnTo>
                  <a:pt x="1" y="30"/>
                </a:lnTo>
                <a:lnTo>
                  <a:pt x="3" y="34"/>
                </a:lnTo>
                <a:lnTo>
                  <a:pt x="6" y="37"/>
                </a:lnTo>
                <a:lnTo>
                  <a:pt x="8" y="40"/>
                </a:lnTo>
                <a:lnTo>
                  <a:pt x="13" y="42"/>
                </a:lnTo>
                <a:lnTo>
                  <a:pt x="16" y="44"/>
                </a:lnTo>
                <a:lnTo>
                  <a:pt x="21" y="44"/>
                </a:lnTo>
                <a:lnTo>
                  <a:pt x="25" y="44"/>
                </a:lnTo>
                <a:lnTo>
                  <a:pt x="30" y="42"/>
                </a:lnTo>
                <a:lnTo>
                  <a:pt x="33" y="40"/>
                </a:lnTo>
                <a:lnTo>
                  <a:pt x="36" y="37"/>
                </a:lnTo>
                <a:lnTo>
                  <a:pt x="38" y="34"/>
                </a:lnTo>
                <a:lnTo>
                  <a:pt x="41" y="30"/>
                </a:lnTo>
                <a:lnTo>
                  <a:pt x="41" y="27"/>
                </a:lnTo>
                <a:lnTo>
                  <a:pt x="43" y="22"/>
                </a:lnTo>
                <a:close/>
                <a:moveTo>
                  <a:pt x="40" y="22"/>
                </a:moveTo>
                <a:lnTo>
                  <a:pt x="38" y="25"/>
                </a:lnTo>
                <a:lnTo>
                  <a:pt x="38" y="29"/>
                </a:lnTo>
                <a:lnTo>
                  <a:pt x="36" y="32"/>
                </a:lnTo>
                <a:lnTo>
                  <a:pt x="33" y="35"/>
                </a:lnTo>
                <a:lnTo>
                  <a:pt x="31" y="37"/>
                </a:lnTo>
                <a:lnTo>
                  <a:pt x="28" y="39"/>
                </a:lnTo>
                <a:lnTo>
                  <a:pt x="25" y="40"/>
                </a:lnTo>
                <a:lnTo>
                  <a:pt x="21" y="40"/>
                </a:lnTo>
                <a:lnTo>
                  <a:pt x="16" y="40"/>
                </a:lnTo>
                <a:lnTo>
                  <a:pt x="13" y="39"/>
                </a:lnTo>
                <a:lnTo>
                  <a:pt x="11" y="37"/>
                </a:lnTo>
                <a:lnTo>
                  <a:pt x="8" y="35"/>
                </a:lnTo>
                <a:lnTo>
                  <a:pt x="6" y="32"/>
                </a:lnTo>
                <a:lnTo>
                  <a:pt x="5" y="29"/>
                </a:lnTo>
                <a:lnTo>
                  <a:pt x="3" y="25"/>
                </a:lnTo>
                <a:lnTo>
                  <a:pt x="3" y="22"/>
                </a:lnTo>
                <a:lnTo>
                  <a:pt x="3" y="19"/>
                </a:lnTo>
                <a:lnTo>
                  <a:pt x="5" y="15"/>
                </a:lnTo>
                <a:lnTo>
                  <a:pt x="6" y="12"/>
                </a:lnTo>
                <a:lnTo>
                  <a:pt x="8" y="9"/>
                </a:lnTo>
                <a:lnTo>
                  <a:pt x="11" y="7"/>
                </a:lnTo>
                <a:lnTo>
                  <a:pt x="13" y="5"/>
                </a:lnTo>
                <a:lnTo>
                  <a:pt x="16" y="4"/>
                </a:lnTo>
                <a:lnTo>
                  <a:pt x="21" y="4"/>
                </a:lnTo>
                <a:lnTo>
                  <a:pt x="25" y="4"/>
                </a:lnTo>
                <a:lnTo>
                  <a:pt x="28" y="5"/>
                </a:lnTo>
                <a:lnTo>
                  <a:pt x="31" y="7"/>
                </a:lnTo>
                <a:lnTo>
                  <a:pt x="33" y="9"/>
                </a:lnTo>
                <a:lnTo>
                  <a:pt x="36" y="12"/>
                </a:lnTo>
                <a:lnTo>
                  <a:pt x="38" y="15"/>
                </a:lnTo>
                <a:lnTo>
                  <a:pt x="38" y="19"/>
                </a:lnTo>
                <a:lnTo>
                  <a:pt x="40" y="22"/>
                </a:lnTo>
                <a:close/>
              </a:path>
            </a:pathLst>
          </a:custGeom>
          <a:solidFill>
            <a:srgbClr val="EFF8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96" name="Freeform 2401">
            <a:extLst>
              <a:ext uri="{FF2B5EF4-FFF2-40B4-BE49-F238E27FC236}">
                <a16:creationId xmlns:a16="http://schemas.microsoft.com/office/drawing/2014/main" id="{04BE5B46-59C3-1067-A1C1-D00163B1B854}"/>
              </a:ext>
            </a:extLst>
          </p:cNvPr>
          <p:cNvSpPr>
            <a:spLocks noEditPoints="1"/>
          </p:cNvSpPr>
          <p:nvPr/>
        </p:nvSpPr>
        <p:spPr bwMode="auto">
          <a:xfrm>
            <a:off x="3487738" y="2568575"/>
            <a:ext cx="63500" cy="63500"/>
          </a:xfrm>
          <a:custGeom>
            <a:avLst/>
            <a:gdLst>
              <a:gd name="T0" fmla="*/ 39 w 40"/>
              <a:gd name="T1" fmla="*/ 17 h 40"/>
              <a:gd name="T2" fmla="*/ 37 w 40"/>
              <a:gd name="T3" fmla="*/ 8 h 40"/>
              <a:gd name="T4" fmla="*/ 30 w 40"/>
              <a:gd name="T5" fmla="*/ 3 h 40"/>
              <a:gd name="T6" fmla="*/ 24 w 40"/>
              <a:gd name="T7" fmla="*/ 0 h 40"/>
              <a:gd name="T8" fmla="*/ 15 w 40"/>
              <a:gd name="T9" fmla="*/ 0 h 40"/>
              <a:gd name="T10" fmla="*/ 9 w 40"/>
              <a:gd name="T11" fmla="*/ 3 h 40"/>
              <a:gd name="T12" fmla="*/ 4 w 40"/>
              <a:gd name="T13" fmla="*/ 8 h 40"/>
              <a:gd name="T14" fmla="*/ 0 w 40"/>
              <a:gd name="T15" fmla="*/ 17 h 40"/>
              <a:gd name="T16" fmla="*/ 0 w 40"/>
              <a:gd name="T17" fmla="*/ 25 h 40"/>
              <a:gd name="T18" fmla="*/ 4 w 40"/>
              <a:gd name="T19" fmla="*/ 32 h 40"/>
              <a:gd name="T20" fmla="*/ 9 w 40"/>
              <a:gd name="T21" fmla="*/ 37 h 40"/>
              <a:gd name="T22" fmla="*/ 15 w 40"/>
              <a:gd name="T23" fmla="*/ 40 h 40"/>
              <a:gd name="T24" fmla="*/ 24 w 40"/>
              <a:gd name="T25" fmla="*/ 40 h 40"/>
              <a:gd name="T26" fmla="*/ 30 w 40"/>
              <a:gd name="T27" fmla="*/ 37 h 40"/>
              <a:gd name="T28" fmla="*/ 37 w 40"/>
              <a:gd name="T29" fmla="*/ 32 h 40"/>
              <a:gd name="T30" fmla="*/ 39 w 40"/>
              <a:gd name="T31" fmla="*/ 25 h 40"/>
              <a:gd name="T32" fmla="*/ 37 w 40"/>
              <a:gd name="T33" fmla="*/ 20 h 40"/>
              <a:gd name="T34" fmla="*/ 35 w 40"/>
              <a:gd name="T35" fmla="*/ 27 h 40"/>
              <a:gd name="T36" fmla="*/ 32 w 40"/>
              <a:gd name="T37" fmla="*/ 32 h 40"/>
              <a:gd name="T38" fmla="*/ 27 w 40"/>
              <a:gd name="T39" fmla="*/ 35 h 40"/>
              <a:gd name="T40" fmla="*/ 20 w 40"/>
              <a:gd name="T41" fmla="*/ 37 h 40"/>
              <a:gd name="T42" fmla="*/ 14 w 40"/>
              <a:gd name="T43" fmla="*/ 35 h 40"/>
              <a:gd name="T44" fmla="*/ 9 w 40"/>
              <a:gd name="T45" fmla="*/ 32 h 40"/>
              <a:gd name="T46" fmla="*/ 5 w 40"/>
              <a:gd name="T47" fmla="*/ 27 h 40"/>
              <a:gd name="T48" fmla="*/ 4 w 40"/>
              <a:gd name="T49" fmla="*/ 20 h 40"/>
              <a:gd name="T50" fmla="*/ 5 w 40"/>
              <a:gd name="T51" fmla="*/ 13 h 40"/>
              <a:gd name="T52" fmla="*/ 9 w 40"/>
              <a:gd name="T53" fmla="*/ 8 h 40"/>
              <a:gd name="T54" fmla="*/ 14 w 40"/>
              <a:gd name="T55" fmla="*/ 5 h 40"/>
              <a:gd name="T56" fmla="*/ 20 w 40"/>
              <a:gd name="T57" fmla="*/ 3 h 40"/>
              <a:gd name="T58" fmla="*/ 27 w 40"/>
              <a:gd name="T59" fmla="*/ 5 h 40"/>
              <a:gd name="T60" fmla="*/ 32 w 40"/>
              <a:gd name="T61" fmla="*/ 8 h 40"/>
              <a:gd name="T62" fmla="*/ 35 w 40"/>
              <a:gd name="T63" fmla="*/ 13 h 40"/>
              <a:gd name="T64" fmla="*/ 37 w 40"/>
              <a:gd name="T65" fmla="*/ 2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0" h="40">
                <a:moveTo>
                  <a:pt x="40" y="20"/>
                </a:moveTo>
                <a:lnTo>
                  <a:pt x="39" y="17"/>
                </a:lnTo>
                <a:lnTo>
                  <a:pt x="39" y="12"/>
                </a:lnTo>
                <a:lnTo>
                  <a:pt x="37" y="8"/>
                </a:lnTo>
                <a:lnTo>
                  <a:pt x="34" y="7"/>
                </a:lnTo>
                <a:lnTo>
                  <a:pt x="30" y="3"/>
                </a:lnTo>
                <a:lnTo>
                  <a:pt x="27" y="2"/>
                </a:lnTo>
                <a:lnTo>
                  <a:pt x="24" y="0"/>
                </a:lnTo>
                <a:lnTo>
                  <a:pt x="20" y="0"/>
                </a:lnTo>
                <a:lnTo>
                  <a:pt x="15" y="0"/>
                </a:lnTo>
                <a:lnTo>
                  <a:pt x="12" y="2"/>
                </a:lnTo>
                <a:lnTo>
                  <a:pt x="9" y="3"/>
                </a:lnTo>
                <a:lnTo>
                  <a:pt x="5" y="7"/>
                </a:lnTo>
                <a:lnTo>
                  <a:pt x="4" y="8"/>
                </a:lnTo>
                <a:lnTo>
                  <a:pt x="2" y="12"/>
                </a:lnTo>
                <a:lnTo>
                  <a:pt x="0" y="17"/>
                </a:lnTo>
                <a:lnTo>
                  <a:pt x="0" y="20"/>
                </a:lnTo>
                <a:lnTo>
                  <a:pt x="0" y="25"/>
                </a:lnTo>
                <a:lnTo>
                  <a:pt x="2" y="28"/>
                </a:lnTo>
                <a:lnTo>
                  <a:pt x="4" y="32"/>
                </a:lnTo>
                <a:lnTo>
                  <a:pt x="5" y="35"/>
                </a:lnTo>
                <a:lnTo>
                  <a:pt x="9" y="37"/>
                </a:lnTo>
                <a:lnTo>
                  <a:pt x="12" y="38"/>
                </a:lnTo>
                <a:lnTo>
                  <a:pt x="15" y="40"/>
                </a:lnTo>
                <a:lnTo>
                  <a:pt x="20" y="40"/>
                </a:lnTo>
                <a:lnTo>
                  <a:pt x="24" y="40"/>
                </a:lnTo>
                <a:lnTo>
                  <a:pt x="27" y="38"/>
                </a:lnTo>
                <a:lnTo>
                  <a:pt x="30" y="37"/>
                </a:lnTo>
                <a:lnTo>
                  <a:pt x="34" y="35"/>
                </a:lnTo>
                <a:lnTo>
                  <a:pt x="37" y="32"/>
                </a:lnTo>
                <a:lnTo>
                  <a:pt x="39" y="28"/>
                </a:lnTo>
                <a:lnTo>
                  <a:pt x="39" y="25"/>
                </a:lnTo>
                <a:lnTo>
                  <a:pt x="40" y="20"/>
                </a:lnTo>
                <a:close/>
                <a:moveTo>
                  <a:pt x="37" y="20"/>
                </a:moveTo>
                <a:lnTo>
                  <a:pt x="35" y="23"/>
                </a:lnTo>
                <a:lnTo>
                  <a:pt x="35" y="27"/>
                </a:lnTo>
                <a:lnTo>
                  <a:pt x="34" y="30"/>
                </a:lnTo>
                <a:lnTo>
                  <a:pt x="32" y="32"/>
                </a:lnTo>
                <a:lnTo>
                  <a:pt x="29" y="33"/>
                </a:lnTo>
                <a:lnTo>
                  <a:pt x="27" y="35"/>
                </a:lnTo>
                <a:lnTo>
                  <a:pt x="24" y="37"/>
                </a:lnTo>
                <a:lnTo>
                  <a:pt x="20" y="37"/>
                </a:lnTo>
                <a:lnTo>
                  <a:pt x="17" y="37"/>
                </a:lnTo>
                <a:lnTo>
                  <a:pt x="14" y="35"/>
                </a:lnTo>
                <a:lnTo>
                  <a:pt x="10" y="33"/>
                </a:lnTo>
                <a:lnTo>
                  <a:pt x="9" y="32"/>
                </a:lnTo>
                <a:lnTo>
                  <a:pt x="5" y="30"/>
                </a:lnTo>
                <a:lnTo>
                  <a:pt x="5" y="27"/>
                </a:lnTo>
                <a:lnTo>
                  <a:pt x="4" y="23"/>
                </a:lnTo>
                <a:lnTo>
                  <a:pt x="4" y="20"/>
                </a:lnTo>
                <a:lnTo>
                  <a:pt x="4" y="17"/>
                </a:lnTo>
                <a:lnTo>
                  <a:pt x="5" y="13"/>
                </a:lnTo>
                <a:lnTo>
                  <a:pt x="5" y="12"/>
                </a:lnTo>
                <a:lnTo>
                  <a:pt x="9" y="8"/>
                </a:lnTo>
                <a:lnTo>
                  <a:pt x="10" y="7"/>
                </a:lnTo>
                <a:lnTo>
                  <a:pt x="14" y="5"/>
                </a:lnTo>
                <a:lnTo>
                  <a:pt x="17" y="3"/>
                </a:lnTo>
                <a:lnTo>
                  <a:pt x="20" y="3"/>
                </a:lnTo>
                <a:lnTo>
                  <a:pt x="24" y="3"/>
                </a:lnTo>
                <a:lnTo>
                  <a:pt x="27" y="5"/>
                </a:lnTo>
                <a:lnTo>
                  <a:pt x="29" y="7"/>
                </a:lnTo>
                <a:lnTo>
                  <a:pt x="32" y="8"/>
                </a:lnTo>
                <a:lnTo>
                  <a:pt x="34" y="12"/>
                </a:lnTo>
                <a:lnTo>
                  <a:pt x="35" y="13"/>
                </a:lnTo>
                <a:lnTo>
                  <a:pt x="35" y="17"/>
                </a:lnTo>
                <a:lnTo>
                  <a:pt x="37" y="20"/>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97" name="Freeform 2402">
            <a:extLst>
              <a:ext uri="{FF2B5EF4-FFF2-40B4-BE49-F238E27FC236}">
                <a16:creationId xmlns:a16="http://schemas.microsoft.com/office/drawing/2014/main" id="{28E8CA21-D804-FFFF-3C38-451D96B751A0}"/>
              </a:ext>
            </a:extLst>
          </p:cNvPr>
          <p:cNvSpPr>
            <a:spLocks noEditPoints="1"/>
          </p:cNvSpPr>
          <p:nvPr/>
        </p:nvSpPr>
        <p:spPr bwMode="auto">
          <a:xfrm>
            <a:off x="3490913" y="2571750"/>
            <a:ext cx="58738" cy="57150"/>
          </a:xfrm>
          <a:custGeom>
            <a:avLst/>
            <a:gdLst>
              <a:gd name="T0" fmla="*/ 35 w 37"/>
              <a:gd name="T1" fmla="*/ 15 h 36"/>
              <a:gd name="T2" fmla="*/ 33 w 37"/>
              <a:gd name="T3" fmla="*/ 8 h 36"/>
              <a:gd name="T4" fmla="*/ 28 w 37"/>
              <a:gd name="T5" fmla="*/ 3 h 36"/>
              <a:gd name="T6" fmla="*/ 22 w 37"/>
              <a:gd name="T7" fmla="*/ 0 h 36"/>
              <a:gd name="T8" fmla="*/ 13 w 37"/>
              <a:gd name="T9" fmla="*/ 0 h 36"/>
              <a:gd name="T10" fmla="*/ 8 w 37"/>
              <a:gd name="T11" fmla="*/ 3 h 36"/>
              <a:gd name="T12" fmla="*/ 3 w 37"/>
              <a:gd name="T13" fmla="*/ 8 h 36"/>
              <a:gd name="T14" fmla="*/ 0 w 37"/>
              <a:gd name="T15" fmla="*/ 15 h 36"/>
              <a:gd name="T16" fmla="*/ 0 w 37"/>
              <a:gd name="T17" fmla="*/ 21 h 36"/>
              <a:gd name="T18" fmla="*/ 3 w 37"/>
              <a:gd name="T19" fmla="*/ 28 h 36"/>
              <a:gd name="T20" fmla="*/ 8 w 37"/>
              <a:gd name="T21" fmla="*/ 33 h 36"/>
              <a:gd name="T22" fmla="*/ 13 w 37"/>
              <a:gd name="T23" fmla="*/ 36 h 36"/>
              <a:gd name="T24" fmla="*/ 22 w 37"/>
              <a:gd name="T25" fmla="*/ 36 h 36"/>
              <a:gd name="T26" fmla="*/ 28 w 37"/>
              <a:gd name="T27" fmla="*/ 33 h 36"/>
              <a:gd name="T28" fmla="*/ 33 w 37"/>
              <a:gd name="T29" fmla="*/ 28 h 36"/>
              <a:gd name="T30" fmla="*/ 35 w 37"/>
              <a:gd name="T31" fmla="*/ 21 h 36"/>
              <a:gd name="T32" fmla="*/ 33 w 37"/>
              <a:gd name="T33" fmla="*/ 18 h 36"/>
              <a:gd name="T34" fmla="*/ 32 w 37"/>
              <a:gd name="T35" fmla="*/ 25 h 36"/>
              <a:gd name="T36" fmla="*/ 28 w 37"/>
              <a:gd name="T37" fmla="*/ 30 h 36"/>
              <a:gd name="T38" fmla="*/ 23 w 37"/>
              <a:gd name="T39" fmla="*/ 31 h 36"/>
              <a:gd name="T40" fmla="*/ 18 w 37"/>
              <a:gd name="T41" fmla="*/ 33 h 36"/>
              <a:gd name="T42" fmla="*/ 12 w 37"/>
              <a:gd name="T43" fmla="*/ 31 h 36"/>
              <a:gd name="T44" fmla="*/ 7 w 37"/>
              <a:gd name="T45" fmla="*/ 30 h 36"/>
              <a:gd name="T46" fmla="*/ 3 w 37"/>
              <a:gd name="T47" fmla="*/ 25 h 36"/>
              <a:gd name="T48" fmla="*/ 3 w 37"/>
              <a:gd name="T49" fmla="*/ 18 h 36"/>
              <a:gd name="T50" fmla="*/ 3 w 37"/>
              <a:gd name="T51" fmla="*/ 13 h 36"/>
              <a:gd name="T52" fmla="*/ 7 w 37"/>
              <a:gd name="T53" fmla="*/ 8 h 36"/>
              <a:gd name="T54" fmla="*/ 12 w 37"/>
              <a:gd name="T55" fmla="*/ 5 h 36"/>
              <a:gd name="T56" fmla="*/ 18 w 37"/>
              <a:gd name="T57" fmla="*/ 3 h 36"/>
              <a:gd name="T58" fmla="*/ 23 w 37"/>
              <a:gd name="T59" fmla="*/ 5 h 36"/>
              <a:gd name="T60" fmla="*/ 28 w 37"/>
              <a:gd name="T61" fmla="*/ 8 h 36"/>
              <a:gd name="T62" fmla="*/ 32 w 37"/>
              <a:gd name="T63" fmla="*/ 13 h 36"/>
              <a:gd name="T64" fmla="*/ 33 w 37"/>
              <a:gd name="T65" fmla="*/ 18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7" h="36">
                <a:moveTo>
                  <a:pt x="37" y="18"/>
                </a:moveTo>
                <a:lnTo>
                  <a:pt x="35" y="15"/>
                </a:lnTo>
                <a:lnTo>
                  <a:pt x="35" y="11"/>
                </a:lnTo>
                <a:lnTo>
                  <a:pt x="33" y="8"/>
                </a:lnTo>
                <a:lnTo>
                  <a:pt x="30" y="5"/>
                </a:lnTo>
                <a:lnTo>
                  <a:pt x="28" y="3"/>
                </a:lnTo>
                <a:lnTo>
                  <a:pt x="25" y="1"/>
                </a:lnTo>
                <a:lnTo>
                  <a:pt x="22" y="0"/>
                </a:lnTo>
                <a:lnTo>
                  <a:pt x="18" y="0"/>
                </a:lnTo>
                <a:lnTo>
                  <a:pt x="13" y="0"/>
                </a:lnTo>
                <a:lnTo>
                  <a:pt x="10" y="1"/>
                </a:lnTo>
                <a:lnTo>
                  <a:pt x="8" y="3"/>
                </a:lnTo>
                <a:lnTo>
                  <a:pt x="5" y="5"/>
                </a:lnTo>
                <a:lnTo>
                  <a:pt x="3" y="8"/>
                </a:lnTo>
                <a:lnTo>
                  <a:pt x="2" y="11"/>
                </a:lnTo>
                <a:lnTo>
                  <a:pt x="0" y="15"/>
                </a:lnTo>
                <a:lnTo>
                  <a:pt x="0" y="18"/>
                </a:lnTo>
                <a:lnTo>
                  <a:pt x="0" y="21"/>
                </a:lnTo>
                <a:lnTo>
                  <a:pt x="2" y="25"/>
                </a:lnTo>
                <a:lnTo>
                  <a:pt x="3" y="28"/>
                </a:lnTo>
                <a:lnTo>
                  <a:pt x="5" y="31"/>
                </a:lnTo>
                <a:lnTo>
                  <a:pt x="8" y="33"/>
                </a:lnTo>
                <a:lnTo>
                  <a:pt x="10" y="35"/>
                </a:lnTo>
                <a:lnTo>
                  <a:pt x="13" y="36"/>
                </a:lnTo>
                <a:lnTo>
                  <a:pt x="18" y="36"/>
                </a:lnTo>
                <a:lnTo>
                  <a:pt x="22" y="36"/>
                </a:lnTo>
                <a:lnTo>
                  <a:pt x="25" y="35"/>
                </a:lnTo>
                <a:lnTo>
                  <a:pt x="28" y="33"/>
                </a:lnTo>
                <a:lnTo>
                  <a:pt x="30" y="31"/>
                </a:lnTo>
                <a:lnTo>
                  <a:pt x="33" y="28"/>
                </a:lnTo>
                <a:lnTo>
                  <a:pt x="35" y="25"/>
                </a:lnTo>
                <a:lnTo>
                  <a:pt x="35" y="21"/>
                </a:lnTo>
                <a:lnTo>
                  <a:pt x="37" y="18"/>
                </a:lnTo>
                <a:close/>
                <a:moveTo>
                  <a:pt x="33" y="18"/>
                </a:moveTo>
                <a:lnTo>
                  <a:pt x="33" y="21"/>
                </a:lnTo>
                <a:lnTo>
                  <a:pt x="32" y="25"/>
                </a:lnTo>
                <a:lnTo>
                  <a:pt x="30" y="26"/>
                </a:lnTo>
                <a:lnTo>
                  <a:pt x="28" y="30"/>
                </a:lnTo>
                <a:lnTo>
                  <a:pt x="27" y="31"/>
                </a:lnTo>
                <a:lnTo>
                  <a:pt x="23" y="31"/>
                </a:lnTo>
                <a:lnTo>
                  <a:pt x="22" y="33"/>
                </a:lnTo>
                <a:lnTo>
                  <a:pt x="18" y="33"/>
                </a:lnTo>
                <a:lnTo>
                  <a:pt x="15" y="33"/>
                </a:lnTo>
                <a:lnTo>
                  <a:pt x="12" y="31"/>
                </a:lnTo>
                <a:lnTo>
                  <a:pt x="10" y="31"/>
                </a:lnTo>
                <a:lnTo>
                  <a:pt x="7" y="30"/>
                </a:lnTo>
                <a:lnTo>
                  <a:pt x="5" y="26"/>
                </a:lnTo>
                <a:lnTo>
                  <a:pt x="3" y="25"/>
                </a:lnTo>
                <a:lnTo>
                  <a:pt x="3" y="21"/>
                </a:lnTo>
                <a:lnTo>
                  <a:pt x="3" y="18"/>
                </a:lnTo>
                <a:lnTo>
                  <a:pt x="3" y="15"/>
                </a:lnTo>
                <a:lnTo>
                  <a:pt x="3" y="13"/>
                </a:lnTo>
                <a:lnTo>
                  <a:pt x="5" y="10"/>
                </a:lnTo>
                <a:lnTo>
                  <a:pt x="7" y="8"/>
                </a:lnTo>
                <a:lnTo>
                  <a:pt x="10" y="6"/>
                </a:lnTo>
                <a:lnTo>
                  <a:pt x="12" y="5"/>
                </a:lnTo>
                <a:lnTo>
                  <a:pt x="15" y="3"/>
                </a:lnTo>
                <a:lnTo>
                  <a:pt x="18" y="3"/>
                </a:lnTo>
                <a:lnTo>
                  <a:pt x="22" y="3"/>
                </a:lnTo>
                <a:lnTo>
                  <a:pt x="23" y="5"/>
                </a:lnTo>
                <a:lnTo>
                  <a:pt x="27" y="6"/>
                </a:lnTo>
                <a:lnTo>
                  <a:pt x="28" y="8"/>
                </a:lnTo>
                <a:lnTo>
                  <a:pt x="30" y="10"/>
                </a:lnTo>
                <a:lnTo>
                  <a:pt x="32" y="13"/>
                </a:lnTo>
                <a:lnTo>
                  <a:pt x="33" y="15"/>
                </a:lnTo>
                <a:lnTo>
                  <a:pt x="33" y="18"/>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98" name="Freeform 2403">
            <a:extLst>
              <a:ext uri="{FF2B5EF4-FFF2-40B4-BE49-F238E27FC236}">
                <a16:creationId xmlns:a16="http://schemas.microsoft.com/office/drawing/2014/main" id="{62847B33-585F-00C0-B6EC-D53E2007F379}"/>
              </a:ext>
            </a:extLst>
          </p:cNvPr>
          <p:cNvSpPr>
            <a:spLocks noEditPoints="1"/>
          </p:cNvSpPr>
          <p:nvPr/>
        </p:nvSpPr>
        <p:spPr bwMode="auto">
          <a:xfrm>
            <a:off x="3494088" y="2573338"/>
            <a:ext cx="52388" cy="53975"/>
          </a:xfrm>
          <a:custGeom>
            <a:avLst/>
            <a:gdLst>
              <a:gd name="T0" fmla="*/ 31 w 33"/>
              <a:gd name="T1" fmla="*/ 14 h 34"/>
              <a:gd name="T2" fmla="*/ 30 w 33"/>
              <a:gd name="T3" fmla="*/ 9 h 34"/>
              <a:gd name="T4" fmla="*/ 25 w 33"/>
              <a:gd name="T5" fmla="*/ 4 h 34"/>
              <a:gd name="T6" fmla="*/ 20 w 33"/>
              <a:gd name="T7" fmla="*/ 0 h 34"/>
              <a:gd name="T8" fmla="*/ 13 w 33"/>
              <a:gd name="T9" fmla="*/ 0 h 34"/>
              <a:gd name="T10" fmla="*/ 6 w 33"/>
              <a:gd name="T11" fmla="*/ 4 h 34"/>
              <a:gd name="T12" fmla="*/ 1 w 33"/>
              <a:gd name="T13" fmla="*/ 9 h 34"/>
              <a:gd name="T14" fmla="*/ 0 w 33"/>
              <a:gd name="T15" fmla="*/ 14 h 34"/>
              <a:gd name="T16" fmla="*/ 0 w 33"/>
              <a:gd name="T17" fmla="*/ 20 h 34"/>
              <a:gd name="T18" fmla="*/ 1 w 33"/>
              <a:gd name="T19" fmla="*/ 27 h 34"/>
              <a:gd name="T20" fmla="*/ 6 w 33"/>
              <a:gd name="T21" fmla="*/ 30 h 34"/>
              <a:gd name="T22" fmla="*/ 13 w 33"/>
              <a:gd name="T23" fmla="*/ 34 h 34"/>
              <a:gd name="T24" fmla="*/ 20 w 33"/>
              <a:gd name="T25" fmla="*/ 34 h 34"/>
              <a:gd name="T26" fmla="*/ 25 w 33"/>
              <a:gd name="T27" fmla="*/ 30 h 34"/>
              <a:gd name="T28" fmla="*/ 30 w 33"/>
              <a:gd name="T29" fmla="*/ 27 h 34"/>
              <a:gd name="T30" fmla="*/ 31 w 33"/>
              <a:gd name="T31" fmla="*/ 20 h 34"/>
              <a:gd name="T32" fmla="*/ 30 w 33"/>
              <a:gd name="T33" fmla="*/ 17 h 34"/>
              <a:gd name="T34" fmla="*/ 28 w 33"/>
              <a:gd name="T35" fmla="*/ 22 h 34"/>
              <a:gd name="T36" fmla="*/ 25 w 33"/>
              <a:gd name="T37" fmla="*/ 27 h 34"/>
              <a:gd name="T38" fmla="*/ 21 w 33"/>
              <a:gd name="T39" fmla="*/ 30 h 34"/>
              <a:gd name="T40" fmla="*/ 16 w 33"/>
              <a:gd name="T41" fmla="*/ 30 h 34"/>
              <a:gd name="T42" fmla="*/ 11 w 33"/>
              <a:gd name="T43" fmla="*/ 30 h 34"/>
              <a:gd name="T44" fmla="*/ 6 w 33"/>
              <a:gd name="T45" fmla="*/ 27 h 34"/>
              <a:gd name="T46" fmla="*/ 3 w 33"/>
              <a:gd name="T47" fmla="*/ 22 h 34"/>
              <a:gd name="T48" fmla="*/ 3 w 33"/>
              <a:gd name="T49" fmla="*/ 17 h 34"/>
              <a:gd name="T50" fmla="*/ 3 w 33"/>
              <a:gd name="T51" fmla="*/ 12 h 34"/>
              <a:gd name="T52" fmla="*/ 6 w 33"/>
              <a:gd name="T53" fmla="*/ 9 h 34"/>
              <a:gd name="T54" fmla="*/ 11 w 33"/>
              <a:gd name="T55" fmla="*/ 5 h 34"/>
              <a:gd name="T56" fmla="*/ 16 w 33"/>
              <a:gd name="T57" fmla="*/ 4 h 34"/>
              <a:gd name="T58" fmla="*/ 21 w 33"/>
              <a:gd name="T59" fmla="*/ 5 h 34"/>
              <a:gd name="T60" fmla="*/ 25 w 33"/>
              <a:gd name="T61" fmla="*/ 9 h 34"/>
              <a:gd name="T62" fmla="*/ 28 w 33"/>
              <a:gd name="T63" fmla="*/ 12 h 34"/>
              <a:gd name="T64" fmla="*/ 30 w 33"/>
              <a:gd name="T65" fmla="*/ 17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3" h="34">
                <a:moveTo>
                  <a:pt x="33" y="17"/>
                </a:moveTo>
                <a:lnTo>
                  <a:pt x="31" y="14"/>
                </a:lnTo>
                <a:lnTo>
                  <a:pt x="31" y="10"/>
                </a:lnTo>
                <a:lnTo>
                  <a:pt x="30" y="9"/>
                </a:lnTo>
                <a:lnTo>
                  <a:pt x="28" y="5"/>
                </a:lnTo>
                <a:lnTo>
                  <a:pt x="25" y="4"/>
                </a:lnTo>
                <a:lnTo>
                  <a:pt x="23" y="2"/>
                </a:lnTo>
                <a:lnTo>
                  <a:pt x="20" y="0"/>
                </a:lnTo>
                <a:lnTo>
                  <a:pt x="16" y="0"/>
                </a:lnTo>
                <a:lnTo>
                  <a:pt x="13" y="0"/>
                </a:lnTo>
                <a:lnTo>
                  <a:pt x="10" y="2"/>
                </a:lnTo>
                <a:lnTo>
                  <a:pt x="6" y="4"/>
                </a:lnTo>
                <a:lnTo>
                  <a:pt x="5" y="5"/>
                </a:lnTo>
                <a:lnTo>
                  <a:pt x="1" y="9"/>
                </a:lnTo>
                <a:lnTo>
                  <a:pt x="1" y="10"/>
                </a:lnTo>
                <a:lnTo>
                  <a:pt x="0" y="14"/>
                </a:lnTo>
                <a:lnTo>
                  <a:pt x="0" y="17"/>
                </a:lnTo>
                <a:lnTo>
                  <a:pt x="0" y="20"/>
                </a:lnTo>
                <a:lnTo>
                  <a:pt x="1" y="24"/>
                </a:lnTo>
                <a:lnTo>
                  <a:pt x="1" y="27"/>
                </a:lnTo>
                <a:lnTo>
                  <a:pt x="5" y="29"/>
                </a:lnTo>
                <a:lnTo>
                  <a:pt x="6" y="30"/>
                </a:lnTo>
                <a:lnTo>
                  <a:pt x="10" y="32"/>
                </a:lnTo>
                <a:lnTo>
                  <a:pt x="13" y="34"/>
                </a:lnTo>
                <a:lnTo>
                  <a:pt x="16" y="34"/>
                </a:lnTo>
                <a:lnTo>
                  <a:pt x="20" y="34"/>
                </a:lnTo>
                <a:lnTo>
                  <a:pt x="23" y="32"/>
                </a:lnTo>
                <a:lnTo>
                  <a:pt x="25" y="30"/>
                </a:lnTo>
                <a:lnTo>
                  <a:pt x="28" y="29"/>
                </a:lnTo>
                <a:lnTo>
                  <a:pt x="30" y="27"/>
                </a:lnTo>
                <a:lnTo>
                  <a:pt x="31" y="24"/>
                </a:lnTo>
                <a:lnTo>
                  <a:pt x="31" y="20"/>
                </a:lnTo>
                <a:lnTo>
                  <a:pt x="33" y="17"/>
                </a:lnTo>
                <a:close/>
                <a:moveTo>
                  <a:pt x="30" y="17"/>
                </a:moveTo>
                <a:lnTo>
                  <a:pt x="30" y="20"/>
                </a:lnTo>
                <a:lnTo>
                  <a:pt x="28" y="22"/>
                </a:lnTo>
                <a:lnTo>
                  <a:pt x="26" y="25"/>
                </a:lnTo>
                <a:lnTo>
                  <a:pt x="25" y="27"/>
                </a:lnTo>
                <a:lnTo>
                  <a:pt x="23" y="29"/>
                </a:lnTo>
                <a:lnTo>
                  <a:pt x="21" y="30"/>
                </a:lnTo>
                <a:lnTo>
                  <a:pt x="18" y="30"/>
                </a:lnTo>
                <a:lnTo>
                  <a:pt x="16" y="30"/>
                </a:lnTo>
                <a:lnTo>
                  <a:pt x="13" y="30"/>
                </a:lnTo>
                <a:lnTo>
                  <a:pt x="11" y="30"/>
                </a:lnTo>
                <a:lnTo>
                  <a:pt x="8" y="29"/>
                </a:lnTo>
                <a:lnTo>
                  <a:pt x="6" y="27"/>
                </a:lnTo>
                <a:lnTo>
                  <a:pt x="5" y="25"/>
                </a:lnTo>
                <a:lnTo>
                  <a:pt x="3" y="22"/>
                </a:lnTo>
                <a:lnTo>
                  <a:pt x="3" y="20"/>
                </a:lnTo>
                <a:lnTo>
                  <a:pt x="3" y="17"/>
                </a:lnTo>
                <a:lnTo>
                  <a:pt x="3" y="15"/>
                </a:lnTo>
                <a:lnTo>
                  <a:pt x="3" y="12"/>
                </a:lnTo>
                <a:lnTo>
                  <a:pt x="5" y="10"/>
                </a:lnTo>
                <a:lnTo>
                  <a:pt x="6" y="9"/>
                </a:lnTo>
                <a:lnTo>
                  <a:pt x="8" y="7"/>
                </a:lnTo>
                <a:lnTo>
                  <a:pt x="11" y="5"/>
                </a:lnTo>
                <a:lnTo>
                  <a:pt x="13" y="4"/>
                </a:lnTo>
                <a:lnTo>
                  <a:pt x="16" y="4"/>
                </a:lnTo>
                <a:lnTo>
                  <a:pt x="18" y="4"/>
                </a:lnTo>
                <a:lnTo>
                  <a:pt x="21" y="5"/>
                </a:lnTo>
                <a:lnTo>
                  <a:pt x="23" y="7"/>
                </a:lnTo>
                <a:lnTo>
                  <a:pt x="25" y="9"/>
                </a:lnTo>
                <a:lnTo>
                  <a:pt x="26" y="10"/>
                </a:lnTo>
                <a:lnTo>
                  <a:pt x="28" y="12"/>
                </a:lnTo>
                <a:lnTo>
                  <a:pt x="30" y="15"/>
                </a:lnTo>
                <a:lnTo>
                  <a:pt x="30" y="17"/>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199" name="Freeform 2404">
            <a:extLst>
              <a:ext uri="{FF2B5EF4-FFF2-40B4-BE49-F238E27FC236}">
                <a16:creationId xmlns:a16="http://schemas.microsoft.com/office/drawing/2014/main" id="{551ED8C2-9AE1-2EAF-61C5-E8C55B8EE25C}"/>
              </a:ext>
            </a:extLst>
          </p:cNvPr>
          <p:cNvSpPr>
            <a:spLocks noEditPoints="1"/>
          </p:cNvSpPr>
          <p:nvPr/>
        </p:nvSpPr>
        <p:spPr bwMode="auto">
          <a:xfrm>
            <a:off x="3495675" y="2576513"/>
            <a:ext cx="47625" cy="47625"/>
          </a:xfrm>
          <a:custGeom>
            <a:avLst/>
            <a:gdLst>
              <a:gd name="T0" fmla="*/ 30 w 30"/>
              <a:gd name="T1" fmla="*/ 12 h 30"/>
              <a:gd name="T2" fmla="*/ 27 w 30"/>
              <a:gd name="T3" fmla="*/ 7 h 30"/>
              <a:gd name="T4" fmla="*/ 24 w 30"/>
              <a:gd name="T5" fmla="*/ 3 h 30"/>
              <a:gd name="T6" fmla="*/ 19 w 30"/>
              <a:gd name="T7" fmla="*/ 0 h 30"/>
              <a:gd name="T8" fmla="*/ 12 w 30"/>
              <a:gd name="T9" fmla="*/ 0 h 30"/>
              <a:gd name="T10" fmla="*/ 7 w 30"/>
              <a:gd name="T11" fmla="*/ 3 h 30"/>
              <a:gd name="T12" fmla="*/ 2 w 30"/>
              <a:gd name="T13" fmla="*/ 7 h 30"/>
              <a:gd name="T14" fmla="*/ 0 w 30"/>
              <a:gd name="T15" fmla="*/ 12 h 30"/>
              <a:gd name="T16" fmla="*/ 0 w 30"/>
              <a:gd name="T17" fmla="*/ 18 h 30"/>
              <a:gd name="T18" fmla="*/ 2 w 30"/>
              <a:gd name="T19" fmla="*/ 23 h 30"/>
              <a:gd name="T20" fmla="*/ 7 w 30"/>
              <a:gd name="T21" fmla="*/ 28 h 30"/>
              <a:gd name="T22" fmla="*/ 12 w 30"/>
              <a:gd name="T23" fmla="*/ 30 h 30"/>
              <a:gd name="T24" fmla="*/ 19 w 30"/>
              <a:gd name="T25" fmla="*/ 30 h 30"/>
              <a:gd name="T26" fmla="*/ 24 w 30"/>
              <a:gd name="T27" fmla="*/ 28 h 30"/>
              <a:gd name="T28" fmla="*/ 27 w 30"/>
              <a:gd name="T29" fmla="*/ 23 h 30"/>
              <a:gd name="T30" fmla="*/ 30 w 30"/>
              <a:gd name="T31" fmla="*/ 18 h 30"/>
              <a:gd name="T32" fmla="*/ 27 w 30"/>
              <a:gd name="T33" fmla="*/ 15 h 30"/>
              <a:gd name="T34" fmla="*/ 25 w 30"/>
              <a:gd name="T35" fmla="*/ 20 h 30"/>
              <a:gd name="T36" fmla="*/ 24 w 30"/>
              <a:gd name="T37" fmla="*/ 23 h 30"/>
              <a:gd name="T38" fmla="*/ 19 w 30"/>
              <a:gd name="T39" fmla="*/ 27 h 30"/>
              <a:gd name="T40" fmla="*/ 15 w 30"/>
              <a:gd name="T41" fmla="*/ 27 h 30"/>
              <a:gd name="T42" fmla="*/ 10 w 30"/>
              <a:gd name="T43" fmla="*/ 27 h 30"/>
              <a:gd name="T44" fmla="*/ 7 w 30"/>
              <a:gd name="T45" fmla="*/ 23 h 30"/>
              <a:gd name="T46" fmla="*/ 4 w 30"/>
              <a:gd name="T47" fmla="*/ 20 h 30"/>
              <a:gd name="T48" fmla="*/ 4 w 30"/>
              <a:gd name="T49" fmla="*/ 15 h 30"/>
              <a:gd name="T50" fmla="*/ 4 w 30"/>
              <a:gd name="T51" fmla="*/ 10 h 30"/>
              <a:gd name="T52" fmla="*/ 7 w 30"/>
              <a:gd name="T53" fmla="*/ 7 h 30"/>
              <a:gd name="T54" fmla="*/ 10 w 30"/>
              <a:gd name="T55" fmla="*/ 5 h 30"/>
              <a:gd name="T56" fmla="*/ 15 w 30"/>
              <a:gd name="T57" fmla="*/ 3 h 30"/>
              <a:gd name="T58" fmla="*/ 19 w 30"/>
              <a:gd name="T59" fmla="*/ 5 h 30"/>
              <a:gd name="T60" fmla="*/ 24 w 30"/>
              <a:gd name="T61" fmla="*/ 7 h 30"/>
              <a:gd name="T62" fmla="*/ 25 w 30"/>
              <a:gd name="T63" fmla="*/ 10 h 30"/>
              <a:gd name="T64" fmla="*/ 27 w 30"/>
              <a:gd name="T65" fmla="*/ 15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0" h="30">
                <a:moveTo>
                  <a:pt x="30" y="15"/>
                </a:moveTo>
                <a:lnTo>
                  <a:pt x="30" y="12"/>
                </a:lnTo>
                <a:lnTo>
                  <a:pt x="29" y="10"/>
                </a:lnTo>
                <a:lnTo>
                  <a:pt x="27" y="7"/>
                </a:lnTo>
                <a:lnTo>
                  <a:pt x="25" y="5"/>
                </a:lnTo>
                <a:lnTo>
                  <a:pt x="24" y="3"/>
                </a:lnTo>
                <a:lnTo>
                  <a:pt x="20" y="2"/>
                </a:lnTo>
                <a:lnTo>
                  <a:pt x="19" y="0"/>
                </a:lnTo>
                <a:lnTo>
                  <a:pt x="15" y="0"/>
                </a:lnTo>
                <a:lnTo>
                  <a:pt x="12" y="0"/>
                </a:lnTo>
                <a:lnTo>
                  <a:pt x="9" y="2"/>
                </a:lnTo>
                <a:lnTo>
                  <a:pt x="7" y="3"/>
                </a:lnTo>
                <a:lnTo>
                  <a:pt x="4" y="5"/>
                </a:lnTo>
                <a:lnTo>
                  <a:pt x="2" y="7"/>
                </a:lnTo>
                <a:lnTo>
                  <a:pt x="0" y="10"/>
                </a:lnTo>
                <a:lnTo>
                  <a:pt x="0" y="12"/>
                </a:lnTo>
                <a:lnTo>
                  <a:pt x="0" y="15"/>
                </a:lnTo>
                <a:lnTo>
                  <a:pt x="0" y="18"/>
                </a:lnTo>
                <a:lnTo>
                  <a:pt x="0" y="22"/>
                </a:lnTo>
                <a:lnTo>
                  <a:pt x="2" y="23"/>
                </a:lnTo>
                <a:lnTo>
                  <a:pt x="4" y="27"/>
                </a:lnTo>
                <a:lnTo>
                  <a:pt x="7" y="28"/>
                </a:lnTo>
                <a:lnTo>
                  <a:pt x="9" y="28"/>
                </a:lnTo>
                <a:lnTo>
                  <a:pt x="12" y="30"/>
                </a:lnTo>
                <a:lnTo>
                  <a:pt x="15" y="30"/>
                </a:lnTo>
                <a:lnTo>
                  <a:pt x="19" y="30"/>
                </a:lnTo>
                <a:lnTo>
                  <a:pt x="20" y="28"/>
                </a:lnTo>
                <a:lnTo>
                  <a:pt x="24" y="28"/>
                </a:lnTo>
                <a:lnTo>
                  <a:pt x="25" y="27"/>
                </a:lnTo>
                <a:lnTo>
                  <a:pt x="27" y="23"/>
                </a:lnTo>
                <a:lnTo>
                  <a:pt x="29" y="22"/>
                </a:lnTo>
                <a:lnTo>
                  <a:pt x="30" y="18"/>
                </a:lnTo>
                <a:lnTo>
                  <a:pt x="30" y="15"/>
                </a:lnTo>
                <a:close/>
                <a:moveTo>
                  <a:pt x="27" y="15"/>
                </a:moveTo>
                <a:lnTo>
                  <a:pt x="27" y="18"/>
                </a:lnTo>
                <a:lnTo>
                  <a:pt x="25" y="20"/>
                </a:lnTo>
                <a:lnTo>
                  <a:pt x="25" y="22"/>
                </a:lnTo>
                <a:lnTo>
                  <a:pt x="24" y="23"/>
                </a:lnTo>
                <a:lnTo>
                  <a:pt x="22" y="25"/>
                </a:lnTo>
                <a:lnTo>
                  <a:pt x="19" y="27"/>
                </a:lnTo>
                <a:lnTo>
                  <a:pt x="17" y="27"/>
                </a:lnTo>
                <a:lnTo>
                  <a:pt x="15" y="27"/>
                </a:lnTo>
                <a:lnTo>
                  <a:pt x="12" y="27"/>
                </a:lnTo>
                <a:lnTo>
                  <a:pt x="10" y="27"/>
                </a:lnTo>
                <a:lnTo>
                  <a:pt x="9" y="25"/>
                </a:lnTo>
                <a:lnTo>
                  <a:pt x="7" y="23"/>
                </a:lnTo>
                <a:lnTo>
                  <a:pt x="5" y="22"/>
                </a:lnTo>
                <a:lnTo>
                  <a:pt x="4" y="20"/>
                </a:lnTo>
                <a:lnTo>
                  <a:pt x="4" y="18"/>
                </a:lnTo>
                <a:lnTo>
                  <a:pt x="4" y="15"/>
                </a:lnTo>
                <a:lnTo>
                  <a:pt x="4" y="13"/>
                </a:lnTo>
                <a:lnTo>
                  <a:pt x="4" y="10"/>
                </a:lnTo>
                <a:lnTo>
                  <a:pt x="5" y="8"/>
                </a:lnTo>
                <a:lnTo>
                  <a:pt x="7" y="7"/>
                </a:lnTo>
                <a:lnTo>
                  <a:pt x="9" y="5"/>
                </a:lnTo>
                <a:lnTo>
                  <a:pt x="10" y="5"/>
                </a:lnTo>
                <a:lnTo>
                  <a:pt x="12" y="3"/>
                </a:lnTo>
                <a:lnTo>
                  <a:pt x="15" y="3"/>
                </a:lnTo>
                <a:lnTo>
                  <a:pt x="17" y="3"/>
                </a:lnTo>
                <a:lnTo>
                  <a:pt x="19" y="5"/>
                </a:lnTo>
                <a:lnTo>
                  <a:pt x="22" y="5"/>
                </a:lnTo>
                <a:lnTo>
                  <a:pt x="24" y="7"/>
                </a:lnTo>
                <a:lnTo>
                  <a:pt x="25" y="8"/>
                </a:lnTo>
                <a:lnTo>
                  <a:pt x="25" y="10"/>
                </a:lnTo>
                <a:lnTo>
                  <a:pt x="27" y="13"/>
                </a:lnTo>
                <a:lnTo>
                  <a:pt x="27" y="15"/>
                </a:lnTo>
                <a:close/>
              </a:path>
            </a:pathLst>
          </a:custGeom>
          <a:solidFill>
            <a:srgbClr val="F2F9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00" name="Freeform 2405">
            <a:extLst>
              <a:ext uri="{FF2B5EF4-FFF2-40B4-BE49-F238E27FC236}">
                <a16:creationId xmlns:a16="http://schemas.microsoft.com/office/drawing/2014/main" id="{01961ED0-A8AD-BC07-45A1-FBE75CAC9242}"/>
              </a:ext>
            </a:extLst>
          </p:cNvPr>
          <p:cNvSpPr>
            <a:spLocks noEditPoints="1"/>
          </p:cNvSpPr>
          <p:nvPr/>
        </p:nvSpPr>
        <p:spPr bwMode="auto">
          <a:xfrm>
            <a:off x="3498850" y="2579688"/>
            <a:ext cx="42863" cy="41275"/>
          </a:xfrm>
          <a:custGeom>
            <a:avLst/>
            <a:gdLst>
              <a:gd name="T0" fmla="*/ 27 w 27"/>
              <a:gd name="T1" fmla="*/ 11 h 26"/>
              <a:gd name="T2" fmla="*/ 23 w 27"/>
              <a:gd name="T3" fmla="*/ 6 h 26"/>
              <a:gd name="T4" fmla="*/ 20 w 27"/>
              <a:gd name="T5" fmla="*/ 3 h 26"/>
              <a:gd name="T6" fmla="*/ 15 w 27"/>
              <a:gd name="T7" fmla="*/ 0 h 26"/>
              <a:gd name="T8" fmla="*/ 10 w 27"/>
              <a:gd name="T9" fmla="*/ 0 h 26"/>
              <a:gd name="T10" fmla="*/ 5 w 27"/>
              <a:gd name="T11" fmla="*/ 3 h 26"/>
              <a:gd name="T12" fmla="*/ 2 w 27"/>
              <a:gd name="T13" fmla="*/ 6 h 26"/>
              <a:gd name="T14" fmla="*/ 0 w 27"/>
              <a:gd name="T15" fmla="*/ 11 h 26"/>
              <a:gd name="T16" fmla="*/ 0 w 27"/>
              <a:gd name="T17" fmla="*/ 16 h 26"/>
              <a:gd name="T18" fmla="*/ 2 w 27"/>
              <a:gd name="T19" fmla="*/ 21 h 26"/>
              <a:gd name="T20" fmla="*/ 5 w 27"/>
              <a:gd name="T21" fmla="*/ 25 h 26"/>
              <a:gd name="T22" fmla="*/ 10 w 27"/>
              <a:gd name="T23" fmla="*/ 26 h 26"/>
              <a:gd name="T24" fmla="*/ 15 w 27"/>
              <a:gd name="T25" fmla="*/ 26 h 26"/>
              <a:gd name="T26" fmla="*/ 20 w 27"/>
              <a:gd name="T27" fmla="*/ 25 h 26"/>
              <a:gd name="T28" fmla="*/ 23 w 27"/>
              <a:gd name="T29" fmla="*/ 21 h 26"/>
              <a:gd name="T30" fmla="*/ 27 w 27"/>
              <a:gd name="T31" fmla="*/ 16 h 26"/>
              <a:gd name="T32" fmla="*/ 23 w 27"/>
              <a:gd name="T33" fmla="*/ 13 h 26"/>
              <a:gd name="T34" fmla="*/ 22 w 27"/>
              <a:gd name="T35" fmla="*/ 16 h 26"/>
              <a:gd name="T36" fmla="*/ 20 w 27"/>
              <a:gd name="T37" fmla="*/ 20 h 26"/>
              <a:gd name="T38" fmla="*/ 17 w 27"/>
              <a:gd name="T39" fmla="*/ 23 h 26"/>
              <a:gd name="T40" fmla="*/ 13 w 27"/>
              <a:gd name="T41" fmla="*/ 23 h 26"/>
              <a:gd name="T42" fmla="*/ 8 w 27"/>
              <a:gd name="T43" fmla="*/ 23 h 26"/>
              <a:gd name="T44" fmla="*/ 5 w 27"/>
              <a:gd name="T45" fmla="*/ 20 h 26"/>
              <a:gd name="T46" fmla="*/ 3 w 27"/>
              <a:gd name="T47" fmla="*/ 15 h 26"/>
              <a:gd name="T48" fmla="*/ 3 w 27"/>
              <a:gd name="T49" fmla="*/ 11 h 26"/>
              <a:gd name="T50" fmla="*/ 5 w 27"/>
              <a:gd name="T51" fmla="*/ 8 h 26"/>
              <a:gd name="T52" fmla="*/ 7 w 27"/>
              <a:gd name="T53" fmla="*/ 5 h 26"/>
              <a:gd name="T54" fmla="*/ 12 w 27"/>
              <a:gd name="T55" fmla="*/ 3 h 26"/>
              <a:gd name="T56" fmla="*/ 15 w 27"/>
              <a:gd name="T57" fmla="*/ 3 h 26"/>
              <a:gd name="T58" fmla="*/ 18 w 27"/>
              <a:gd name="T59" fmla="*/ 5 h 26"/>
              <a:gd name="T60" fmla="*/ 22 w 27"/>
              <a:gd name="T61" fmla="*/ 8 h 26"/>
              <a:gd name="T62" fmla="*/ 23 w 27"/>
              <a:gd name="T63" fmla="*/ 11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 h="26">
                <a:moveTo>
                  <a:pt x="27" y="13"/>
                </a:moveTo>
                <a:lnTo>
                  <a:pt x="27" y="11"/>
                </a:lnTo>
                <a:lnTo>
                  <a:pt x="25" y="8"/>
                </a:lnTo>
                <a:lnTo>
                  <a:pt x="23" y="6"/>
                </a:lnTo>
                <a:lnTo>
                  <a:pt x="22" y="5"/>
                </a:lnTo>
                <a:lnTo>
                  <a:pt x="20" y="3"/>
                </a:lnTo>
                <a:lnTo>
                  <a:pt x="18" y="1"/>
                </a:lnTo>
                <a:lnTo>
                  <a:pt x="15" y="0"/>
                </a:lnTo>
                <a:lnTo>
                  <a:pt x="13" y="0"/>
                </a:lnTo>
                <a:lnTo>
                  <a:pt x="10" y="0"/>
                </a:lnTo>
                <a:lnTo>
                  <a:pt x="8" y="1"/>
                </a:lnTo>
                <a:lnTo>
                  <a:pt x="5" y="3"/>
                </a:lnTo>
                <a:lnTo>
                  <a:pt x="3" y="5"/>
                </a:lnTo>
                <a:lnTo>
                  <a:pt x="2" y="6"/>
                </a:lnTo>
                <a:lnTo>
                  <a:pt x="0" y="8"/>
                </a:lnTo>
                <a:lnTo>
                  <a:pt x="0" y="11"/>
                </a:lnTo>
                <a:lnTo>
                  <a:pt x="0" y="13"/>
                </a:lnTo>
                <a:lnTo>
                  <a:pt x="0" y="16"/>
                </a:lnTo>
                <a:lnTo>
                  <a:pt x="0" y="18"/>
                </a:lnTo>
                <a:lnTo>
                  <a:pt x="2" y="21"/>
                </a:lnTo>
                <a:lnTo>
                  <a:pt x="3" y="23"/>
                </a:lnTo>
                <a:lnTo>
                  <a:pt x="5" y="25"/>
                </a:lnTo>
                <a:lnTo>
                  <a:pt x="8" y="26"/>
                </a:lnTo>
                <a:lnTo>
                  <a:pt x="10" y="26"/>
                </a:lnTo>
                <a:lnTo>
                  <a:pt x="13" y="26"/>
                </a:lnTo>
                <a:lnTo>
                  <a:pt x="15" y="26"/>
                </a:lnTo>
                <a:lnTo>
                  <a:pt x="18" y="26"/>
                </a:lnTo>
                <a:lnTo>
                  <a:pt x="20" y="25"/>
                </a:lnTo>
                <a:lnTo>
                  <a:pt x="22" y="23"/>
                </a:lnTo>
                <a:lnTo>
                  <a:pt x="23" y="21"/>
                </a:lnTo>
                <a:lnTo>
                  <a:pt x="25" y="18"/>
                </a:lnTo>
                <a:lnTo>
                  <a:pt x="27" y="16"/>
                </a:lnTo>
                <a:lnTo>
                  <a:pt x="27" y="13"/>
                </a:lnTo>
                <a:close/>
                <a:moveTo>
                  <a:pt x="23" y="13"/>
                </a:moveTo>
                <a:lnTo>
                  <a:pt x="23" y="15"/>
                </a:lnTo>
                <a:lnTo>
                  <a:pt x="22" y="16"/>
                </a:lnTo>
                <a:lnTo>
                  <a:pt x="22" y="20"/>
                </a:lnTo>
                <a:lnTo>
                  <a:pt x="20" y="20"/>
                </a:lnTo>
                <a:lnTo>
                  <a:pt x="18" y="21"/>
                </a:lnTo>
                <a:lnTo>
                  <a:pt x="17" y="23"/>
                </a:lnTo>
                <a:lnTo>
                  <a:pt x="15" y="23"/>
                </a:lnTo>
                <a:lnTo>
                  <a:pt x="13" y="23"/>
                </a:lnTo>
                <a:lnTo>
                  <a:pt x="12" y="23"/>
                </a:lnTo>
                <a:lnTo>
                  <a:pt x="8" y="23"/>
                </a:lnTo>
                <a:lnTo>
                  <a:pt x="7" y="21"/>
                </a:lnTo>
                <a:lnTo>
                  <a:pt x="5" y="20"/>
                </a:lnTo>
                <a:lnTo>
                  <a:pt x="3" y="16"/>
                </a:lnTo>
                <a:lnTo>
                  <a:pt x="3" y="15"/>
                </a:lnTo>
                <a:lnTo>
                  <a:pt x="3" y="13"/>
                </a:lnTo>
                <a:lnTo>
                  <a:pt x="3" y="11"/>
                </a:lnTo>
                <a:lnTo>
                  <a:pt x="3" y="10"/>
                </a:lnTo>
                <a:lnTo>
                  <a:pt x="5" y="8"/>
                </a:lnTo>
                <a:lnTo>
                  <a:pt x="5" y="6"/>
                </a:lnTo>
                <a:lnTo>
                  <a:pt x="7" y="5"/>
                </a:lnTo>
                <a:lnTo>
                  <a:pt x="8" y="5"/>
                </a:lnTo>
                <a:lnTo>
                  <a:pt x="12" y="3"/>
                </a:lnTo>
                <a:lnTo>
                  <a:pt x="13" y="3"/>
                </a:lnTo>
                <a:lnTo>
                  <a:pt x="15" y="3"/>
                </a:lnTo>
                <a:lnTo>
                  <a:pt x="17" y="5"/>
                </a:lnTo>
                <a:lnTo>
                  <a:pt x="18" y="5"/>
                </a:lnTo>
                <a:lnTo>
                  <a:pt x="20" y="6"/>
                </a:lnTo>
                <a:lnTo>
                  <a:pt x="22" y="8"/>
                </a:lnTo>
                <a:lnTo>
                  <a:pt x="22" y="10"/>
                </a:lnTo>
                <a:lnTo>
                  <a:pt x="23" y="11"/>
                </a:lnTo>
                <a:lnTo>
                  <a:pt x="23" y="13"/>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01" name="Freeform 2406">
            <a:extLst>
              <a:ext uri="{FF2B5EF4-FFF2-40B4-BE49-F238E27FC236}">
                <a16:creationId xmlns:a16="http://schemas.microsoft.com/office/drawing/2014/main" id="{544F816D-35C6-A49E-9F4F-2CAD7B2FA04B}"/>
              </a:ext>
            </a:extLst>
          </p:cNvPr>
          <p:cNvSpPr>
            <a:spLocks noEditPoints="1"/>
          </p:cNvSpPr>
          <p:nvPr/>
        </p:nvSpPr>
        <p:spPr bwMode="auto">
          <a:xfrm>
            <a:off x="3502025" y="2581275"/>
            <a:ext cx="36513" cy="38100"/>
          </a:xfrm>
          <a:custGeom>
            <a:avLst/>
            <a:gdLst>
              <a:gd name="T0" fmla="*/ 23 w 23"/>
              <a:gd name="T1" fmla="*/ 10 h 24"/>
              <a:gd name="T2" fmla="*/ 21 w 23"/>
              <a:gd name="T3" fmla="*/ 5 h 24"/>
              <a:gd name="T4" fmla="*/ 18 w 23"/>
              <a:gd name="T5" fmla="*/ 2 h 24"/>
              <a:gd name="T6" fmla="*/ 13 w 23"/>
              <a:gd name="T7" fmla="*/ 0 h 24"/>
              <a:gd name="T8" fmla="*/ 8 w 23"/>
              <a:gd name="T9" fmla="*/ 0 h 24"/>
              <a:gd name="T10" fmla="*/ 5 w 23"/>
              <a:gd name="T11" fmla="*/ 2 h 24"/>
              <a:gd name="T12" fmla="*/ 1 w 23"/>
              <a:gd name="T13" fmla="*/ 5 h 24"/>
              <a:gd name="T14" fmla="*/ 0 w 23"/>
              <a:gd name="T15" fmla="*/ 10 h 24"/>
              <a:gd name="T16" fmla="*/ 0 w 23"/>
              <a:gd name="T17" fmla="*/ 15 h 24"/>
              <a:gd name="T18" fmla="*/ 1 w 23"/>
              <a:gd name="T19" fmla="*/ 19 h 24"/>
              <a:gd name="T20" fmla="*/ 5 w 23"/>
              <a:gd name="T21" fmla="*/ 22 h 24"/>
              <a:gd name="T22" fmla="*/ 8 w 23"/>
              <a:gd name="T23" fmla="*/ 24 h 24"/>
              <a:gd name="T24" fmla="*/ 13 w 23"/>
              <a:gd name="T25" fmla="*/ 24 h 24"/>
              <a:gd name="T26" fmla="*/ 18 w 23"/>
              <a:gd name="T27" fmla="*/ 22 h 24"/>
              <a:gd name="T28" fmla="*/ 21 w 23"/>
              <a:gd name="T29" fmla="*/ 19 h 24"/>
              <a:gd name="T30" fmla="*/ 23 w 23"/>
              <a:gd name="T31" fmla="*/ 15 h 24"/>
              <a:gd name="T32" fmla="*/ 20 w 23"/>
              <a:gd name="T33" fmla="*/ 12 h 24"/>
              <a:gd name="T34" fmla="*/ 18 w 23"/>
              <a:gd name="T35" fmla="*/ 15 h 24"/>
              <a:gd name="T36" fmla="*/ 16 w 23"/>
              <a:gd name="T37" fmla="*/ 19 h 24"/>
              <a:gd name="T38" fmla="*/ 13 w 23"/>
              <a:gd name="T39" fmla="*/ 20 h 24"/>
              <a:gd name="T40" fmla="*/ 10 w 23"/>
              <a:gd name="T41" fmla="*/ 20 h 24"/>
              <a:gd name="T42" fmla="*/ 6 w 23"/>
              <a:gd name="T43" fmla="*/ 19 h 24"/>
              <a:gd name="T44" fmla="*/ 5 w 23"/>
              <a:gd name="T45" fmla="*/ 17 h 24"/>
              <a:gd name="T46" fmla="*/ 3 w 23"/>
              <a:gd name="T47" fmla="*/ 14 h 24"/>
              <a:gd name="T48" fmla="*/ 3 w 23"/>
              <a:gd name="T49" fmla="*/ 10 h 24"/>
              <a:gd name="T50" fmla="*/ 5 w 23"/>
              <a:gd name="T51" fmla="*/ 7 h 24"/>
              <a:gd name="T52" fmla="*/ 8 w 23"/>
              <a:gd name="T53" fmla="*/ 5 h 24"/>
              <a:gd name="T54" fmla="*/ 11 w 23"/>
              <a:gd name="T55" fmla="*/ 4 h 24"/>
              <a:gd name="T56" fmla="*/ 15 w 23"/>
              <a:gd name="T57" fmla="*/ 5 h 24"/>
              <a:gd name="T58" fmla="*/ 16 w 23"/>
              <a:gd name="T59" fmla="*/ 7 h 24"/>
              <a:gd name="T60" fmla="*/ 18 w 23"/>
              <a:gd name="T61" fmla="*/ 9 h 24"/>
              <a:gd name="T62" fmla="*/ 20 w 23"/>
              <a:gd name="T63"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3" h="24">
                <a:moveTo>
                  <a:pt x="23" y="12"/>
                </a:moveTo>
                <a:lnTo>
                  <a:pt x="23" y="10"/>
                </a:lnTo>
                <a:lnTo>
                  <a:pt x="21" y="7"/>
                </a:lnTo>
                <a:lnTo>
                  <a:pt x="21" y="5"/>
                </a:lnTo>
                <a:lnTo>
                  <a:pt x="20" y="4"/>
                </a:lnTo>
                <a:lnTo>
                  <a:pt x="18" y="2"/>
                </a:lnTo>
                <a:lnTo>
                  <a:pt x="15" y="2"/>
                </a:lnTo>
                <a:lnTo>
                  <a:pt x="13" y="0"/>
                </a:lnTo>
                <a:lnTo>
                  <a:pt x="11" y="0"/>
                </a:lnTo>
                <a:lnTo>
                  <a:pt x="8" y="0"/>
                </a:lnTo>
                <a:lnTo>
                  <a:pt x="6" y="2"/>
                </a:lnTo>
                <a:lnTo>
                  <a:pt x="5" y="2"/>
                </a:lnTo>
                <a:lnTo>
                  <a:pt x="3" y="4"/>
                </a:lnTo>
                <a:lnTo>
                  <a:pt x="1" y="5"/>
                </a:lnTo>
                <a:lnTo>
                  <a:pt x="0" y="7"/>
                </a:lnTo>
                <a:lnTo>
                  <a:pt x="0" y="10"/>
                </a:lnTo>
                <a:lnTo>
                  <a:pt x="0" y="12"/>
                </a:lnTo>
                <a:lnTo>
                  <a:pt x="0" y="15"/>
                </a:lnTo>
                <a:lnTo>
                  <a:pt x="0" y="17"/>
                </a:lnTo>
                <a:lnTo>
                  <a:pt x="1" y="19"/>
                </a:lnTo>
                <a:lnTo>
                  <a:pt x="3" y="20"/>
                </a:lnTo>
                <a:lnTo>
                  <a:pt x="5" y="22"/>
                </a:lnTo>
                <a:lnTo>
                  <a:pt x="6" y="24"/>
                </a:lnTo>
                <a:lnTo>
                  <a:pt x="8" y="24"/>
                </a:lnTo>
                <a:lnTo>
                  <a:pt x="11" y="24"/>
                </a:lnTo>
                <a:lnTo>
                  <a:pt x="13" y="24"/>
                </a:lnTo>
                <a:lnTo>
                  <a:pt x="15" y="24"/>
                </a:lnTo>
                <a:lnTo>
                  <a:pt x="18" y="22"/>
                </a:lnTo>
                <a:lnTo>
                  <a:pt x="20" y="20"/>
                </a:lnTo>
                <a:lnTo>
                  <a:pt x="21" y="19"/>
                </a:lnTo>
                <a:lnTo>
                  <a:pt x="21" y="17"/>
                </a:lnTo>
                <a:lnTo>
                  <a:pt x="23" y="15"/>
                </a:lnTo>
                <a:lnTo>
                  <a:pt x="23" y="12"/>
                </a:lnTo>
                <a:close/>
                <a:moveTo>
                  <a:pt x="20" y="12"/>
                </a:moveTo>
                <a:lnTo>
                  <a:pt x="20" y="14"/>
                </a:lnTo>
                <a:lnTo>
                  <a:pt x="18" y="15"/>
                </a:lnTo>
                <a:lnTo>
                  <a:pt x="18" y="17"/>
                </a:lnTo>
                <a:lnTo>
                  <a:pt x="16" y="19"/>
                </a:lnTo>
                <a:lnTo>
                  <a:pt x="15" y="20"/>
                </a:lnTo>
                <a:lnTo>
                  <a:pt x="13" y="20"/>
                </a:lnTo>
                <a:lnTo>
                  <a:pt x="11" y="20"/>
                </a:lnTo>
                <a:lnTo>
                  <a:pt x="10" y="20"/>
                </a:lnTo>
                <a:lnTo>
                  <a:pt x="8" y="20"/>
                </a:lnTo>
                <a:lnTo>
                  <a:pt x="6" y="19"/>
                </a:lnTo>
                <a:lnTo>
                  <a:pt x="5" y="19"/>
                </a:lnTo>
                <a:lnTo>
                  <a:pt x="5" y="17"/>
                </a:lnTo>
                <a:lnTo>
                  <a:pt x="3" y="15"/>
                </a:lnTo>
                <a:lnTo>
                  <a:pt x="3" y="14"/>
                </a:lnTo>
                <a:lnTo>
                  <a:pt x="3" y="12"/>
                </a:lnTo>
                <a:lnTo>
                  <a:pt x="3" y="10"/>
                </a:lnTo>
                <a:lnTo>
                  <a:pt x="3" y="9"/>
                </a:lnTo>
                <a:lnTo>
                  <a:pt x="5" y="7"/>
                </a:lnTo>
                <a:lnTo>
                  <a:pt x="6" y="5"/>
                </a:lnTo>
                <a:lnTo>
                  <a:pt x="8" y="5"/>
                </a:lnTo>
                <a:lnTo>
                  <a:pt x="10" y="4"/>
                </a:lnTo>
                <a:lnTo>
                  <a:pt x="11" y="4"/>
                </a:lnTo>
                <a:lnTo>
                  <a:pt x="13" y="4"/>
                </a:lnTo>
                <a:lnTo>
                  <a:pt x="15" y="5"/>
                </a:lnTo>
                <a:lnTo>
                  <a:pt x="16" y="5"/>
                </a:lnTo>
                <a:lnTo>
                  <a:pt x="16" y="7"/>
                </a:lnTo>
                <a:lnTo>
                  <a:pt x="18" y="7"/>
                </a:lnTo>
                <a:lnTo>
                  <a:pt x="18" y="9"/>
                </a:lnTo>
                <a:lnTo>
                  <a:pt x="20" y="10"/>
                </a:lnTo>
                <a:lnTo>
                  <a:pt x="20" y="12"/>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02" name="Freeform 2407">
            <a:extLst>
              <a:ext uri="{FF2B5EF4-FFF2-40B4-BE49-F238E27FC236}">
                <a16:creationId xmlns:a16="http://schemas.microsoft.com/office/drawing/2014/main" id="{745890A9-CB63-DC4F-337A-D82D06985578}"/>
              </a:ext>
            </a:extLst>
          </p:cNvPr>
          <p:cNvSpPr>
            <a:spLocks noEditPoints="1"/>
          </p:cNvSpPr>
          <p:nvPr/>
        </p:nvSpPr>
        <p:spPr bwMode="auto">
          <a:xfrm>
            <a:off x="3503613" y="2584450"/>
            <a:ext cx="31750" cy="31750"/>
          </a:xfrm>
          <a:custGeom>
            <a:avLst/>
            <a:gdLst>
              <a:gd name="T0" fmla="*/ 20 w 20"/>
              <a:gd name="T1" fmla="*/ 10 h 20"/>
              <a:gd name="T2" fmla="*/ 20 w 20"/>
              <a:gd name="T3" fmla="*/ 8 h 20"/>
              <a:gd name="T4" fmla="*/ 19 w 20"/>
              <a:gd name="T5" fmla="*/ 7 h 20"/>
              <a:gd name="T6" fmla="*/ 19 w 20"/>
              <a:gd name="T7" fmla="*/ 5 h 20"/>
              <a:gd name="T8" fmla="*/ 17 w 20"/>
              <a:gd name="T9" fmla="*/ 3 h 20"/>
              <a:gd name="T10" fmla="*/ 15 w 20"/>
              <a:gd name="T11" fmla="*/ 2 h 20"/>
              <a:gd name="T12" fmla="*/ 14 w 20"/>
              <a:gd name="T13" fmla="*/ 2 h 20"/>
              <a:gd name="T14" fmla="*/ 12 w 20"/>
              <a:gd name="T15" fmla="*/ 0 h 20"/>
              <a:gd name="T16" fmla="*/ 10 w 20"/>
              <a:gd name="T17" fmla="*/ 0 h 20"/>
              <a:gd name="T18" fmla="*/ 9 w 20"/>
              <a:gd name="T19" fmla="*/ 0 h 20"/>
              <a:gd name="T20" fmla="*/ 5 w 20"/>
              <a:gd name="T21" fmla="*/ 2 h 20"/>
              <a:gd name="T22" fmla="*/ 4 w 20"/>
              <a:gd name="T23" fmla="*/ 2 h 20"/>
              <a:gd name="T24" fmla="*/ 2 w 20"/>
              <a:gd name="T25" fmla="*/ 3 h 20"/>
              <a:gd name="T26" fmla="*/ 2 w 20"/>
              <a:gd name="T27" fmla="*/ 5 h 20"/>
              <a:gd name="T28" fmla="*/ 0 w 20"/>
              <a:gd name="T29" fmla="*/ 7 h 20"/>
              <a:gd name="T30" fmla="*/ 0 w 20"/>
              <a:gd name="T31" fmla="*/ 8 h 20"/>
              <a:gd name="T32" fmla="*/ 0 w 20"/>
              <a:gd name="T33" fmla="*/ 10 h 20"/>
              <a:gd name="T34" fmla="*/ 0 w 20"/>
              <a:gd name="T35" fmla="*/ 12 h 20"/>
              <a:gd name="T36" fmla="*/ 0 w 20"/>
              <a:gd name="T37" fmla="*/ 13 h 20"/>
              <a:gd name="T38" fmla="*/ 2 w 20"/>
              <a:gd name="T39" fmla="*/ 17 h 20"/>
              <a:gd name="T40" fmla="*/ 4 w 20"/>
              <a:gd name="T41" fmla="*/ 18 h 20"/>
              <a:gd name="T42" fmla="*/ 5 w 20"/>
              <a:gd name="T43" fmla="*/ 20 h 20"/>
              <a:gd name="T44" fmla="*/ 9 w 20"/>
              <a:gd name="T45" fmla="*/ 20 h 20"/>
              <a:gd name="T46" fmla="*/ 10 w 20"/>
              <a:gd name="T47" fmla="*/ 20 h 20"/>
              <a:gd name="T48" fmla="*/ 12 w 20"/>
              <a:gd name="T49" fmla="*/ 20 h 20"/>
              <a:gd name="T50" fmla="*/ 14 w 20"/>
              <a:gd name="T51" fmla="*/ 20 h 20"/>
              <a:gd name="T52" fmla="*/ 15 w 20"/>
              <a:gd name="T53" fmla="*/ 18 h 20"/>
              <a:gd name="T54" fmla="*/ 17 w 20"/>
              <a:gd name="T55" fmla="*/ 17 h 20"/>
              <a:gd name="T56" fmla="*/ 19 w 20"/>
              <a:gd name="T57" fmla="*/ 17 h 20"/>
              <a:gd name="T58" fmla="*/ 19 w 20"/>
              <a:gd name="T59" fmla="*/ 13 h 20"/>
              <a:gd name="T60" fmla="*/ 20 w 20"/>
              <a:gd name="T61" fmla="*/ 12 h 20"/>
              <a:gd name="T62" fmla="*/ 20 w 20"/>
              <a:gd name="T63" fmla="*/ 10 h 20"/>
              <a:gd name="T64" fmla="*/ 17 w 20"/>
              <a:gd name="T65" fmla="*/ 10 h 20"/>
              <a:gd name="T66" fmla="*/ 17 w 20"/>
              <a:gd name="T67" fmla="*/ 12 h 20"/>
              <a:gd name="T68" fmla="*/ 15 w 20"/>
              <a:gd name="T69" fmla="*/ 13 h 20"/>
              <a:gd name="T70" fmla="*/ 15 w 20"/>
              <a:gd name="T71" fmla="*/ 15 h 20"/>
              <a:gd name="T72" fmla="*/ 14 w 20"/>
              <a:gd name="T73" fmla="*/ 15 h 20"/>
              <a:gd name="T74" fmla="*/ 12 w 20"/>
              <a:gd name="T75" fmla="*/ 17 h 20"/>
              <a:gd name="T76" fmla="*/ 10 w 20"/>
              <a:gd name="T77" fmla="*/ 17 h 20"/>
              <a:gd name="T78" fmla="*/ 9 w 20"/>
              <a:gd name="T79" fmla="*/ 17 h 20"/>
              <a:gd name="T80" fmla="*/ 7 w 20"/>
              <a:gd name="T81" fmla="*/ 17 h 20"/>
              <a:gd name="T82" fmla="*/ 5 w 20"/>
              <a:gd name="T83" fmla="*/ 15 h 20"/>
              <a:gd name="T84" fmla="*/ 4 w 20"/>
              <a:gd name="T85" fmla="*/ 13 h 20"/>
              <a:gd name="T86" fmla="*/ 4 w 20"/>
              <a:gd name="T87" fmla="*/ 12 h 20"/>
              <a:gd name="T88" fmla="*/ 4 w 20"/>
              <a:gd name="T89" fmla="*/ 10 h 20"/>
              <a:gd name="T90" fmla="*/ 4 w 20"/>
              <a:gd name="T91" fmla="*/ 8 h 20"/>
              <a:gd name="T92" fmla="*/ 4 w 20"/>
              <a:gd name="T93" fmla="*/ 7 h 20"/>
              <a:gd name="T94" fmla="*/ 5 w 20"/>
              <a:gd name="T95" fmla="*/ 5 h 20"/>
              <a:gd name="T96" fmla="*/ 7 w 20"/>
              <a:gd name="T97" fmla="*/ 3 h 20"/>
              <a:gd name="T98" fmla="*/ 9 w 20"/>
              <a:gd name="T99" fmla="*/ 3 h 20"/>
              <a:gd name="T100" fmla="*/ 10 w 20"/>
              <a:gd name="T101" fmla="*/ 3 h 20"/>
              <a:gd name="T102" fmla="*/ 12 w 20"/>
              <a:gd name="T103" fmla="*/ 3 h 20"/>
              <a:gd name="T104" fmla="*/ 14 w 20"/>
              <a:gd name="T105" fmla="*/ 5 h 20"/>
              <a:gd name="T106" fmla="*/ 15 w 20"/>
              <a:gd name="T107" fmla="*/ 5 h 20"/>
              <a:gd name="T108" fmla="*/ 15 w 20"/>
              <a:gd name="T109" fmla="*/ 7 h 20"/>
              <a:gd name="T110" fmla="*/ 15 w 20"/>
              <a:gd name="T111" fmla="*/ 8 h 20"/>
              <a:gd name="T112" fmla="*/ 17 w 20"/>
              <a:gd name="T113" fmla="*/ 8 h 20"/>
              <a:gd name="T114" fmla="*/ 17 w 20"/>
              <a:gd name="T115" fmla="*/ 1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0" h="20">
                <a:moveTo>
                  <a:pt x="20" y="10"/>
                </a:moveTo>
                <a:lnTo>
                  <a:pt x="20" y="8"/>
                </a:lnTo>
                <a:lnTo>
                  <a:pt x="19" y="7"/>
                </a:lnTo>
                <a:lnTo>
                  <a:pt x="19" y="5"/>
                </a:lnTo>
                <a:lnTo>
                  <a:pt x="17" y="3"/>
                </a:lnTo>
                <a:lnTo>
                  <a:pt x="15" y="2"/>
                </a:lnTo>
                <a:lnTo>
                  <a:pt x="14" y="2"/>
                </a:lnTo>
                <a:lnTo>
                  <a:pt x="12" y="0"/>
                </a:lnTo>
                <a:lnTo>
                  <a:pt x="10" y="0"/>
                </a:lnTo>
                <a:lnTo>
                  <a:pt x="9" y="0"/>
                </a:lnTo>
                <a:lnTo>
                  <a:pt x="5" y="2"/>
                </a:lnTo>
                <a:lnTo>
                  <a:pt x="4" y="2"/>
                </a:lnTo>
                <a:lnTo>
                  <a:pt x="2" y="3"/>
                </a:lnTo>
                <a:lnTo>
                  <a:pt x="2" y="5"/>
                </a:lnTo>
                <a:lnTo>
                  <a:pt x="0" y="7"/>
                </a:lnTo>
                <a:lnTo>
                  <a:pt x="0" y="8"/>
                </a:lnTo>
                <a:lnTo>
                  <a:pt x="0" y="10"/>
                </a:lnTo>
                <a:lnTo>
                  <a:pt x="0" y="12"/>
                </a:lnTo>
                <a:lnTo>
                  <a:pt x="0" y="13"/>
                </a:lnTo>
                <a:lnTo>
                  <a:pt x="2" y="17"/>
                </a:lnTo>
                <a:lnTo>
                  <a:pt x="4" y="18"/>
                </a:lnTo>
                <a:lnTo>
                  <a:pt x="5" y="20"/>
                </a:lnTo>
                <a:lnTo>
                  <a:pt x="9" y="20"/>
                </a:lnTo>
                <a:lnTo>
                  <a:pt x="10" y="20"/>
                </a:lnTo>
                <a:lnTo>
                  <a:pt x="12" y="20"/>
                </a:lnTo>
                <a:lnTo>
                  <a:pt x="14" y="20"/>
                </a:lnTo>
                <a:lnTo>
                  <a:pt x="15" y="18"/>
                </a:lnTo>
                <a:lnTo>
                  <a:pt x="17" y="17"/>
                </a:lnTo>
                <a:lnTo>
                  <a:pt x="19" y="17"/>
                </a:lnTo>
                <a:lnTo>
                  <a:pt x="19" y="13"/>
                </a:lnTo>
                <a:lnTo>
                  <a:pt x="20" y="12"/>
                </a:lnTo>
                <a:lnTo>
                  <a:pt x="20" y="10"/>
                </a:lnTo>
                <a:close/>
                <a:moveTo>
                  <a:pt x="17" y="10"/>
                </a:moveTo>
                <a:lnTo>
                  <a:pt x="17" y="12"/>
                </a:lnTo>
                <a:lnTo>
                  <a:pt x="15" y="13"/>
                </a:lnTo>
                <a:lnTo>
                  <a:pt x="15" y="15"/>
                </a:lnTo>
                <a:lnTo>
                  <a:pt x="14" y="15"/>
                </a:lnTo>
                <a:lnTo>
                  <a:pt x="12" y="17"/>
                </a:lnTo>
                <a:lnTo>
                  <a:pt x="10" y="17"/>
                </a:lnTo>
                <a:lnTo>
                  <a:pt x="9" y="17"/>
                </a:lnTo>
                <a:lnTo>
                  <a:pt x="7" y="17"/>
                </a:lnTo>
                <a:lnTo>
                  <a:pt x="5" y="15"/>
                </a:lnTo>
                <a:lnTo>
                  <a:pt x="4" y="13"/>
                </a:lnTo>
                <a:lnTo>
                  <a:pt x="4" y="12"/>
                </a:lnTo>
                <a:lnTo>
                  <a:pt x="4" y="10"/>
                </a:lnTo>
                <a:lnTo>
                  <a:pt x="4" y="8"/>
                </a:lnTo>
                <a:lnTo>
                  <a:pt x="4" y="7"/>
                </a:lnTo>
                <a:lnTo>
                  <a:pt x="5" y="5"/>
                </a:lnTo>
                <a:lnTo>
                  <a:pt x="7" y="3"/>
                </a:lnTo>
                <a:lnTo>
                  <a:pt x="9" y="3"/>
                </a:lnTo>
                <a:lnTo>
                  <a:pt x="10" y="3"/>
                </a:lnTo>
                <a:lnTo>
                  <a:pt x="12" y="3"/>
                </a:lnTo>
                <a:lnTo>
                  <a:pt x="14" y="5"/>
                </a:lnTo>
                <a:lnTo>
                  <a:pt x="15" y="5"/>
                </a:lnTo>
                <a:lnTo>
                  <a:pt x="15" y="7"/>
                </a:lnTo>
                <a:lnTo>
                  <a:pt x="15" y="8"/>
                </a:lnTo>
                <a:lnTo>
                  <a:pt x="17" y="8"/>
                </a:lnTo>
                <a:lnTo>
                  <a:pt x="17" y="10"/>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03" name="Freeform 2408">
            <a:extLst>
              <a:ext uri="{FF2B5EF4-FFF2-40B4-BE49-F238E27FC236}">
                <a16:creationId xmlns:a16="http://schemas.microsoft.com/office/drawing/2014/main" id="{79C0EA25-6DE3-B31F-F2E9-9915B9E66C70}"/>
              </a:ext>
            </a:extLst>
          </p:cNvPr>
          <p:cNvSpPr>
            <a:spLocks noEditPoints="1"/>
          </p:cNvSpPr>
          <p:nvPr/>
        </p:nvSpPr>
        <p:spPr bwMode="auto">
          <a:xfrm>
            <a:off x="3506788" y="2587625"/>
            <a:ext cx="26988" cy="25400"/>
          </a:xfrm>
          <a:custGeom>
            <a:avLst/>
            <a:gdLst>
              <a:gd name="T0" fmla="*/ 17 w 17"/>
              <a:gd name="T1" fmla="*/ 8 h 16"/>
              <a:gd name="T2" fmla="*/ 17 w 17"/>
              <a:gd name="T3" fmla="*/ 6 h 16"/>
              <a:gd name="T4" fmla="*/ 15 w 17"/>
              <a:gd name="T5" fmla="*/ 5 h 16"/>
              <a:gd name="T6" fmla="*/ 15 w 17"/>
              <a:gd name="T7" fmla="*/ 3 h 16"/>
              <a:gd name="T8" fmla="*/ 13 w 17"/>
              <a:gd name="T9" fmla="*/ 3 h 16"/>
              <a:gd name="T10" fmla="*/ 13 w 17"/>
              <a:gd name="T11" fmla="*/ 1 h 16"/>
              <a:gd name="T12" fmla="*/ 12 w 17"/>
              <a:gd name="T13" fmla="*/ 1 h 16"/>
              <a:gd name="T14" fmla="*/ 10 w 17"/>
              <a:gd name="T15" fmla="*/ 0 h 16"/>
              <a:gd name="T16" fmla="*/ 8 w 17"/>
              <a:gd name="T17" fmla="*/ 0 h 16"/>
              <a:gd name="T18" fmla="*/ 7 w 17"/>
              <a:gd name="T19" fmla="*/ 0 h 16"/>
              <a:gd name="T20" fmla="*/ 5 w 17"/>
              <a:gd name="T21" fmla="*/ 1 h 16"/>
              <a:gd name="T22" fmla="*/ 3 w 17"/>
              <a:gd name="T23" fmla="*/ 1 h 16"/>
              <a:gd name="T24" fmla="*/ 2 w 17"/>
              <a:gd name="T25" fmla="*/ 3 h 16"/>
              <a:gd name="T26" fmla="*/ 0 w 17"/>
              <a:gd name="T27" fmla="*/ 5 h 16"/>
              <a:gd name="T28" fmla="*/ 0 w 17"/>
              <a:gd name="T29" fmla="*/ 6 h 16"/>
              <a:gd name="T30" fmla="*/ 0 w 17"/>
              <a:gd name="T31" fmla="*/ 8 h 16"/>
              <a:gd name="T32" fmla="*/ 0 w 17"/>
              <a:gd name="T33" fmla="*/ 10 h 16"/>
              <a:gd name="T34" fmla="*/ 0 w 17"/>
              <a:gd name="T35" fmla="*/ 11 h 16"/>
              <a:gd name="T36" fmla="*/ 2 w 17"/>
              <a:gd name="T37" fmla="*/ 13 h 16"/>
              <a:gd name="T38" fmla="*/ 2 w 17"/>
              <a:gd name="T39" fmla="*/ 15 h 16"/>
              <a:gd name="T40" fmla="*/ 3 w 17"/>
              <a:gd name="T41" fmla="*/ 15 h 16"/>
              <a:gd name="T42" fmla="*/ 5 w 17"/>
              <a:gd name="T43" fmla="*/ 16 h 16"/>
              <a:gd name="T44" fmla="*/ 7 w 17"/>
              <a:gd name="T45" fmla="*/ 16 h 16"/>
              <a:gd name="T46" fmla="*/ 8 w 17"/>
              <a:gd name="T47" fmla="*/ 16 h 16"/>
              <a:gd name="T48" fmla="*/ 10 w 17"/>
              <a:gd name="T49" fmla="*/ 16 h 16"/>
              <a:gd name="T50" fmla="*/ 12 w 17"/>
              <a:gd name="T51" fmla="*/ 16 h 16"/>
              <a:gd name="T52" fmla="*/ 13 w 17"/>
              <a:gd name="T53" fmla="*/ 15 h 16"/>
              <a:gd name="T54" fmla="*/ 15 w 17"/>
              <a:gd name="T55" fmla="*/ 13 h 16"/>
              <a:gd name="T56" fmla="*/ 15 w 17"/>
              <a:gd name="T57" fmla="*/ 11 h 16"/>
              <a:gd name="T58" fmla="*/ 17 w 17"/>
              <a:gd name="T59" fmla="*/ 10 h 16"/>
              <a:gd name="T60" fmla="*/ 17 w 17"/>
              <a:gd name="T61" fmla="*/ 8 h 16"/>
              <a:gd name="T62" fmla="*/ 13 w 17"/>
              <a:gd name="T63" fmla="*/ 8 h 16"/>
              <a:gd name="T64" fmla="*/ 13 w 17"/>
              <a:gd name="T65" fmla="*/ 10 h 16"/>
              <a:gd name="T66" fmla="*/ 12 w 17"/>
              <a:gd name="T67" fmla="*/ 10 h 16"/>
              <a:gd name="T68" fmla="*/ 12 w 17"/>
              <a:gd name="T69" fmla="*/ 11 h 16"/>
              <a:gd name="T70" fmla="*/ 10 w 17"/>
              <a:gd name="T71" fmla="*/ 13 h 16"/>
              <a:gd name="T72" fmla="*/ 8 w 17"/>
              <a:gd name="T73" fmla="*/ 13 h 16"/>
              <a:gd name="T74" fmla="*/ 7 w 17"/>
              <a:gd name="T75" fmla="*/ 13 h 16"/>
              <a:gd name="T76" fmla="*/ 5 w 17"/>
              <a:gd name="T77" fmla="*/ 13 h 16"/>
              <a:gd name="T78" fmla="*/ 5 w 17"/>
              <a:gd name="T79" fmla="*/ 11 h 16"/>
              <a:gd name="T80" fmla="*/ 3 w 17"/>
              <a:gd name="T81" fmla="*/ 11 h 16"/>
              <a:gd name="T82" fmla="*/ 3 w 17"/>
              <a:gd name="T83" fmla="*/ 10 h 16"/>
              <a:gd name="T84" fmla="*/ 3 w 17"/>
              <a:gd name="T85" fmla="*/ 8 h 16"/>
              <a:gd name="T86" fmla="*/ 3 w 17"/>
              <a:gd name="T87" fmla="*/ 6 h 16"/>
              <a:gd name="T88" fmla="*/ 3 w 17"/>
              <a:gd name="T89" fmla="*/ 5 h 16"/>
              <a:gd name="T90" fmla="*/ 5 w 17"/>
              <a:gd name="T91" fmla="*/ 5 h 16"/>
              <a:gd name="T92" fmla="*/ 7 w 17"/>
              <a:gd name="T93" fmla="*/ 3 h 16"/>
              <a:gd name="T94" fmla="*/ 8 w 17"/>
              <a:gd name="T95" fmla="*/ 3 h 16"/>
              <a:gd name="T96" fmla="*/ 10 w 17"/>
              <a:gd name="T97" fmla="*/ 3 h 16"/>
              <a:gd name="T98" fmla="*/ 10 w 17"/>
              <a:gd name="T99" fmla="*/ 5 h 16"/>
              <a:gd name="T100" fmla="*/ 12 w 17"/>
              <a:gd name="T101" fmla="*/ 5 h 16"/>
              <a:gd name="T102" fmla="*/ 12 w 17"/>
              <a:gd name="T103" fmla="*/ 6 h 16"/>
              <a:gd name="T104" fmla="*/ 13 w 17"/>
              <a:gd name="T105" fmla="*/ 8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7" h="16">
                <a:moveTo>
                  <a:pt x="17" y="8"/>
                </a:moveTo>
                <a:lnTo>
                  <a:pt x="17" y="6"/>
                </a:lnTo>
                <a:lnTo>
                  <a:pt x="15" y="5"/>
                </a:lnTo>
                <a:lnTo>
                  <a:pt x="15" y="3"/>
                </a:lnTo>
                <a:lnTo>
                  <a:pt x="13" y="3"/>
                </a:lnTo>
                <a:lnTo>
                  <a:pt x="13" y="1"/>
                </a:lnTo>
                <a:lnTo>
                  <a:pt x="12" y="1"/>
                </a:lnTo>
                <a:lnTo>
                  <a:pt x="10" y="0"/>
                </a:lnTo>
                <a:lnTo>
                  <a:pt x="8" y="0"/>
                </a:lnTo>
                <a:lnTo>
                  <a:pt x="7" y="0"/>
                </a:lnTo>
                <a:lnTo>
                  <a:pt x="5" y="1"/>
                </a:lnTo>
                <a:lnTo>
                  <a:pt x="3" y="1"/>
                </a:lnTo>
                <a:lnTo>
                  <a:pt x="2" y="3"/>
                </a:lnTo>
                <a:lnTo>
                  <a:pt x="0" y="5"/>
                </a:lnTo>
                <a:lnTo>
                  <a:pt x="0" y="6"/>
                </a:lnTo>
                <a:lnTo>
                  <a:pt x="0" y="8"/>
                </a:lnTo>
                <a:lnTo>
                  <a:pt x="0" y="10"/>
                </a:lnTo>
                <a:lnTo>
                  <a:pt x="0" y="11"/>
                </a:lnTo>
                <a:lnTo>
                  <a:pt x="2" y="13"/>
                </a:lnTo>
                <a:lnTo>
                  <a:pt x="2" y="15"/>
                </a:lnTo>
                <a:lnTo>
                  <a:pt x="3" y="15"/>
                </a:lnTo>
                <a:lnTo>
                  <a:pt x="5" y="16"/>
                </a:lnTo>
                <a:lnTo>
                  <a:pt x="7" y="16"/>
                </a:lnTo>
                <a:lnTo>
                  <a:pt x="8" y="16"/>
                </a:lnTo>
                <a:lnTo>
                  <a:pt x="10" y="16"/>
                </a:lnTo>
                <a:lnTo>
                  <a:pt x="12" y="16"/>
                </a:lnTo>
                <a:lnTo>
                  <a:pt x="13" y="15"/>
                </a:lnTo>
                <a:lnTo>
                  <a:pt x="15" y="13"/>
                </a:lnTo>
                <a:lnTo>
                  <a:pt x="15" y="11"/>
                </a:lnTo>
                <a:lnTo>
                  <a:pt x="17" y="10"/>
                </a:lnTo>
                <a:lnTo>
                  <a:pt x="17" y="8"/>
                </a:lnTo>
                <a:close/>
                <a:moveTo>
                  <a:pt x="13" y="8"/>
                </a:moveTo>
                <a:lnTo>
                  <a:pt x="13" y="10"/>
                </a:lnTo>
                <a:lnTo>
                  <a:pt x="12" y="10"/>
                </a:lnTo>
                <a:lnTo>
                  <a:pt x="12" y="11"/>
                </a:lnTo>
                <a:lnTo>
                  <a:pt x="10" y="13"/>
                </a:lnTo>
                <a:lnTo>
                  <a:pt x="8" y="13"/>
                </a:lnTo>
                <a:lnTo>
                  <a:pt x="7" y="13"/>
                </a:lnTo>
                <a:lnTo>
                  <a:pt x="5" y="13"/>
                </a:lnTo>
                <a:lnTo>
                  <a:pt x="5" y="11"/>
                </a:lnTo>
                <a:lnTo>
                  <a:pt x="3" y="11"/>
                </a:lnTo>
                <a:lnTo>
                  <a:pt x="3" y="10"/>
                </a:lnTo>
                <a:lnTo>
                  <a:pt x="3" y="8"/>
                </a:lnTo>
                <a:lnTo>
                  <a:pt x="3" y="6"/>
                </a:lnTo>
                <a:lnTo>
                  <a:pt x="3" y="5"/>
                </a:lnTo>
                <a:lnTo>
                  <a:pt x="5" y="5"/>
                </a:lnTo>
                <a:lnTo>
                  <a:pt x="7" y="3"/>
                </a:lnTo>
                <a:lnTo>
                  <a:pt x="8" y="3"/>
                </a:lnTo>
                <a:lnTo>
                  <a:pt x="10" y="3"/>
                </a:lnTo>
                <a:lnTo>
                  <a:pt x="10" y="5"/>
                </a:lnTo>
                <a:lnTo>
                  <a:pt x="12" y="5"/>
                </a:lnTo>
                <a:lnTo>
                  <a:pt x="12" y="6"/>
                </a:lnTo>
                <a:lnTo>
                  <a:pt x="13" y="8"/>
                </a:lnTo>
                <a:close/>
              </a:path>
            </a:pathLst>
          </a:custGeom>
          <a:solidFill>
            <a:srgbClr val="F7FBF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04" name="Freeform 2409">
            <a:extLst>
              <a:ext uri="{FF2B5EF4-FFF2-40B4-BE49-F238E27FC236}">
                <a16:creationId xmlns:a16="http://schemas.microsoft.com/office/drawing/2014/main" id="{D437671F-B758-8AD8-96B7-CAC506615CC1}"/>
              </a:ext>
            </a:extLst>
          </p:cNvPr>
          <p:cNvSpPr>
            <a:spLocks noEditPoints="1"/>
          </p:cNvSpPr>
          <p:nvPr/>
        </p:nvSpPr>
        <p:spPr bwMode="auto">
          <a:xfrm>
            <a:off x="3509963" y="2589213"/>
            <a:ext cx="20638" cy="22225"/>
          </a:xfrm>
          <a:custGeom>
            <a:avLst/>
            <a:gdLst>
              <a:gd name="T0" fmla="*/ 13 w 13"/>
              <a:gd name="T1" fmla="*/ 7 h 14"/>
              <a:gd name="T2" fmla="*/ 13 w 13"/>
              <a:gd name="T3" fmla="*/ 5 h 14"/>
              <a:gd name="T4" fmla="*/ 11 w 13"/>
              <a:gd name="T5" fmla="*/ 5 h 14"/>
              <a:gd name="T6" fmla="*/ 11 w 13"/>
              <a:gd name="T7" fmla="*/ 4 h 14"/>
              <a:gd name="T8" fmla="*/ 11 w 13"/>
              <a:gd name="T9" fmla="*/ 2 h 14"/>
              <a:gd name="T10" fmla="*/ 10 w 13"/>
              <a:gd name="T11" fmla="*/ 2 h 14"/>
              <a:gd name="T12" fmla="*/ 8 w 13"/>
              <a:gd name="T13" fmla="*/ 0 h 14"/>
              <a:gd name="T14" fmla="*/ 6 w 13"/>
              <a:gd name="T15" fmla="*/ 0 h 14"/>
              <a:gd name="T16" fmla="*/ 5 w 13"/>
              <a:gd name="T17" fmla="*/ 0 h 14"/>
              <a:gd name="T18" fmla="*/ 3 w 13"/>
              <a:gd name="T19" fmla="*/ 0 h 14"/>
              <a:gd name="T20" fmla="*/ 1 w 13"/>
              <a:gd name="T21" fmla="*/ 2 h 14"/>
              <a:gd name="T22" fmla="*/ 0 w 13"/>
              <a:gd name="T23" fmla="*/ 4 h 14"/>
              <a:gd name="T24" fmla="*/ 0 w 13"/>
              <a:gd name="T25" fmla="*/ 5 h 14"/>
              <a:gd name="T26" fmla="*/ 0 w 13"/>
              <a:gd name="T27" fmla="*/ 7 h 14"/>
              <a:gd name="T28" fmla="*/ 0 w 13"/>
              <a:gd name="T29" fmla="*/ 9 h 14"/>
              <a:gd name="T30" fmla="*/ 0 w 13"/>
              <a:gd name="T31" fmla="*/ 10 h 14"/>
              <a:gd name="T32" fmla="*/ 1 w 13"/>
              <a:gd name="T33" fmla="*/ 12 h 14"/>
              <a:gd name="T34" fmla="*/ 3 w 13"/>
              <a:gd name="T35" fmla="*/ 14 h 14"/>
              <a:gd name="T36" fmla="*/ 5 w 13"/>
              <a:gd name="T37" fmla="*/ 14 h 14"/>
              <a:gd name="T38" fmla="*/ 6 w 13"/>
              <a:gd name="T39" fmla="*/ 14 h 14"/>
              <a:gd name="T40" fmla="*/ 8 w 13"/>
              <a:gd name="T41" fmla="*/ 14 h 14"/>
              <a:gd name="T42" fmla="*/ 10 w 13"/>
              <a:gd name="T43" fmla="*/ 12 h 14"/>
              <a:gd name="T44" fmla="*/ 11 w 13"/>
              <a:gd name="T45" fmla="*/ 12 h 14"/>
              <a:gd name="T46" fmla="*/ 11 w 13"/>
              <a:gd name="T47" fmla="*/ 10 h 14"/>
              <a:gd name="T48" fmla="*/ 13 w 13"/>
              <a:gd name="T49" fmla="*/ 9 h 14"/>
              <a:gd name="T50" fmla="*/ 13 w 13"/>
              <a:gd name="T51" fmla="*/ 7 h 14"/>
              <a:gd name="T52" fmla="*/ 10 w 13"/>
              <a:gd name="T53" fmla="*/ 7 h 14"/>
              <a:gd name="T54" fmla="*/ 10 w 13"/>
              <a:gd name="T55" fmla="*/ 9 h 14"/>
              <a:gd name="T56" fmla="*/ 8 w 13"/>
              <a:gd name="T57" fmla="*/ 9 h 14"/>
              <a:gd name="T58" fmla="*/ 8 w 13"/>
              <a:gd name="T59" fmla="*/ 10 h 14"/>
              <a:gd name="T60" fmla="*/ 6 w 13"/>
              <a:gd name="T61" fmla="*/ 10 h 14"/>
              <a:gd name="T62" fmla="*/ 5 w 13"/>
              <a:gd name="T63" fmla="*/ 10 h 14"/>
              <a:gd name="T64" fmla="*/ 3 w 13"/>
              <a:gd name="T65" fmla="*/ 10 h 14"/>
              <a:gd name="T66" fmla="*/ 3 w 13"/>
              <a:gd name="T67" fmla="*/ 9 h 14"/>
              <a:gd name="T68" fmla="*/ 3 w 13"/>
              <a:gd name="T69" fmla="*/ 7 h 14"/>
              <a:gd name="T70" fmla="*/ 3 w 13"/>
              <a:gd name="T71" fmla="*/ 5 h 14"/>
              <a:gd name="T72" fmla="*/ 5 w 13"/>
              <a:gd name="T73" fmla="*/ 5 h 14"/>
              <a:gd name="T74" fmla="*/ 5 w 13"/>
              <a:gd name="T75" fmla="*/ 4 h 14"/>
              <a:gd name="T76" fmla="*/ 6 w 13"/>
              <a:gd name="T77" fmla="*/ 4 h 14"/>
              <a:gd name="T78" fmla="*/ 8 w 13"/>
              <a:gd name="T79" fmla="*/ 5 h 14"/>
              <a:gd name="T80" fmla="*/ 10 w 13"/>
              <a:gd name="T81" fmla="*/ 5 h 14"/>
              <a:gd name="T82" fmla="*/ 10 w 13"/>
              <a:gd name="T83" fmla="*/ 7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3" h="14">
                <a:moveTo>
                  <a:pt x="13" y="7"/>
                </a:moveTo>
                <a:lnTo>
                  <a:pt x="13" y="5"/>
                </a:lnTo>
                <a:lnTo>
                  <a:pt x="11" y="5"/>
                </a:lnTo>
                <a:lnTo>
                  <a:pt x="11" y="4"/>
                </a:lnTo>
                <a:lnTo>
                  <a:pt x="11" y="2"/>
                </a:lnTo>
                <a:lnTo>
                  <a:pt x="10" y="2"/>
                </a:lnTo>
                <a:lnTo>
                  <a:pt x="8" y="0"/>
                </a:lnTo>
                <a:lnTo>
                  <a:pt x="6" y="0"/>
                </a:lnTo>
                <a:lnTo>
                  <a:pt x="5" y="0"/>
                </a:lnTo>
                <a:lnTo>
                  <a:pt x="3" y="0"/>
                </a:lnTo>
                <a:lnTo>
                  <a:pt x="1" y="2"/>
                </a:lnTo>
                <a:lnTo>
                  <a:pt x="0" y="4"/>
                </a:lnTo>
                <a:lnTo>
                  <a:pt x="0" y="5"/>
                </a:lnTo>
                <a:lnTo>
                  <a:pt x="0" y="7"/>
                </a:lnTo>
                <a:lnTo>
                  <a:pt x="0" y="9"/>
                </a:lnTo>
                <a:lnTo>
                  <a:pt x="0" y="10"/>
                </a:lnTo>
                <a:lnTo>
                  <a:pt x="1" y="12"/>
                </a:lnTo>
                <a:lnTo>
                  <a:pt x="3" y="14"/>
                </a:lnTo>
                <a:lnTo>
                  <a:pt x="5" y="14"/>
                </a:lnTo>
                <a:lnTo>
                  <a:pt x="6" y="14"/>
                </a:lnTo>
                <a:lnTo>
                  <a:pt x="8" y="14"/>
                </a:lnTo>
                <a:lnTo>
                  <a:pt x="10" y="12"/>
                </a:lnTo>
                <a:lnTo>
                  <a:pt x="11" y="12"/>
                </a:lnTo>
                <a:lnTo>
                  <a:pt x="11" y="10"/>
                </a:lnTo>
                <a:lnTo>
                  <a:pt x="13" y="9"/>
                </a:lnTo>
                <a:lnTo>
                  <a:pt x="13" y="7"/>
                </a:lnTo>
                <a:close/>
                <a:moveTo>
                  <a:pt x="10" y="7"/>
                </a:moveTo>
                <a:lnTo>
                  <a:pt x="10" y="9"/>
                </a:lnTo>
                <a:lnTo>
                  <a:pt x="8" y="9"/>
                </a:lnTo>
                <a:lnTo>
                  <a:pt x="8" y="10"/>
                </a:lnTo>
                <a:lnTo>
                  <a:pt x="6" y="10"/>
                </a:lnTo>
                <a:lnTo>
                  <a:pt x="5" y="10"/>
                </a:lnTo>
                <a:lnTo>
                  <a:pt x="3" y="10"/>
                </a:lnTo>
                <a:lnTo>
                  <a:pt x="3" y="9"/>
                </a:lnTo>
                <a:lnTo>
                  <a:pt x="3" y="7"/>
                </a:lnTo>
                <a:lnTo>
                  <a:pt x="3" y="5"/>
                </a:lnTo>
                <a:lnTo>
                  <a:pt x="5" y="5"/>
                </a:lnTo>
                <a:lnTo>
                  <a:pt x="5" y="4"/>
                </a:lnTo>
                <a:lnTo>
                  <a:pt x="6" y="4"/>
                </a:lnTo>
                <a:lnTo>
                  <a:pt x="8" y="5"/>
                </a:lnTo>
                <a:lnTo>
                  <a:pt x="10" y="5"/>
                </a:lnTo>
                <a:lnTo>
                  <a:pt x="10" y="7"/>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05" name="Freeform 2410">
            <a:extLst>
              <a:ext uri="{FF2B5EF4-FFF2-40B4-BE49-F238E27FC236}">
                <a16:creationId xmlns:a16="http://schemas.microsoft.com/office/drawing/2014/main" id="{B3124E5E-CDF3-4EDF-0F69-F28FAE430B75}"/>
              </a:ext>
            </a:extLst>
          </p:cNvPr>
          <p:cNvSpPr>
            <a:spLocks noEditPoints="1"/>
          </p:cNvSpPr>
          <p:nvPr/>
        </p:nvSpPr>
        <p:spPr bwMode="auto">
          <a:xfrm>
            <a:off x="3511550" y="2592388"/>
            <a:ext cx="15875" cy="15875"/>
          </a:xfrm>
          <a:custGeom>
            <a:avLst/>
            <a:gdLst>
              <a:gd name="T0" fmla="*/ 10 w 10"/>
              <a:gd name="T1" fmla="*/ 5 h 10"/>
              <a:gd name="T2" fmla="*/ 10 w 10"/>
              <a:gd name="T3" fmla="*/ 5 h 10"/>
              <a:gd name="T4" fmla="*/ 9 w 10"/>
              <a:gd name="T5" fmla="*/ 3 h 10"/>
              <a:gd name="T6" fmla="*/ 9 w 10"/>
              <a:gd name="T7" fmla="*/ 2 h 10"/>
              <a:gd name="T8" fmla="*/ 7 w 10"/>
              <a:gd name="T9" fmla="*/ 2 h 10"/>
              <a:gd name="T10" fmla="*/ 7 w 10"/>
              <a:gd name="T11" fmla="*/ 0 h 10"/>
              <a:gd name="T12" fmla="*/ 5 w 10"/>
              <a:gd name="T13" fmla="*/ 0 h 10"/>
              <a:gd name="T14" fmla="*/ 4 w 10"/>
              <a:gd name="T15" fmla="*/ 0 h 10"/>
              <a:gd name="T16" fmla="*/ 2 w 10"/>
              <a:gd name="T17" fmla="*/ 2 h 10"/>
              <a:gd name="T18" fmla="*/ 0 w 10"/>
              <a:gd name="T19" fmla="*/ 2 h 10"/>
              <a:gd name="T20" fmla="*/ 0 w 10"/>
              <a:gd name="T21" fmla="*/ 3 h 10"/>
              <a:gd name="T22" fmla="*/ 0 w 10"/>
              <a:gd name="T23" fmla="*/ 5 h 10"/>
              <a:gd name="T24" fmla="*/ 0 w 10"/>
              <a:gd name="T25" fmla="*/ 7 h 10"/>
              <a:gd name="T26" fmla="*/ 0 w 10"/>
              <a:gd name="T27" fmla="*/ 8 h 10"/>
              <a:gd name="T28" fmla="*/ 2 w 10"/>
              <a:gd name="T29" fmla="*/ 8 h 10"/>
              <a:gd name="T30" fmla="*/ 2 w 10"/>
              <a:gd name="T31" fmla="*/ 10 h 10"/>
              <a:gd name="T32" fmla="*/ 4 w 10"/>
              <a:gd name="T33" fmla="*/ 10 h 10"/>
              <a:gd name="T34" fmla="*/ 5 w 10"/>
              <a:gd name="T35" fmla="*/ 10 h 10"/>
              <a:gd name="T36" fmla="*/ 7 w 10"/>
              <a:gd name="T37" fmla="*/ 10 h 10"/>
              <a:gd name="T38" fmla="*/ 9 w 10"/>
              <a:gd name="T39" fmla="*/ 8 h 10"/>
              <a:gd name="T40" fmla="*/ 9 w 10"/>
              <a:gd name="T41" fmla="*/ 7 h 10"/>
              <a:gd name="T42" fmla="*/ 10 w 10"/>
              <a:gd name="T43" fmla="*/ 7 h 10"/>
              <a:gd name="T44" fmla="*/ 10 w 10"/>
              <a:gd name="T45" fmla="*/ 5 h 10"/>
              <a:gd name="T46" fmla="*/ 7 w 10"/>
              <a:gd name="T47" fmla="*/ 5 h 10"/>
              <a:gd name="T48" fmla="*/ 7 w 10"/>
              <a:gd name="T49" fmla="*/ 5 h 10"/>
              <a:gd name="T50" fmla="*/ 7 w 10"/>
              <a:gd name="T51" fmla="*/ 7 h 10"/>
              <a:gd name="T52" fmla="*/ 5 w 10"/>
              <a:gd name="T53" fmla="*/ 7 h 10"/>
              <a:gd name="T54" fmla="*/ 4 w 10"/>
              <a:gd name="T55" fmla="*/ 7 h 10"/>
              <a:gd name="T56" fmla="*/ 4 w 10"/>
              <a:gd name="T57" fmla="*/ 5 h 10"/>
              <a:gd name="T58" fmla="*/ 4 w 10"/>
              <a:gd name="T59" fmla="*/ 3 h 10"/>
              <a:gd name="T60" fmla="*/ 5 w 10"/>
              <a:gd name="T61" fmla="*/ 3 h 10"/>
              <a:gd name="T62" fmla="*/ 7 w 10"/>
              <a:gd name="T63" fmla="*/ 5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0" h="10">
                <a:moveTo>
                  <a:pt x="10" y="5"/>
                </a:moveTo>
                <a:lnTo>
                  <a:pt x="10" y="5"/>
                </a:lnTo>
                <a:lnTo>
                  <a:pt x="9" y="3"/>
                </a:lnTo>
                <a:lnTo>
                  <a:pt x="9" y="2"/>
                </a:lnTo>
                <a:lnTo>
                  <a:pt x="7" y="2"/>
                </a:lnTo>
                <a:lnTo>
                  <a:pt x="7" y="0"/>
                </a:lnTo>
                <a:lnTo>
                  <a:pt x="5" y="0"/>
                </a:lnTo>
                <a:lnTo>
                  <a:pt x="4" y="0"/>
                </a:lnTo>
                <a:lnTo>
                  <a:pt x="2" y="2"/>
                </a:lnTo>
                <a:lnTo>
                  <a:pt x="0" y="2"/>
                </a:lnTo>
                <a:lnTo>
                  <a:pt x="0" y="3"/>
                </a:lnTo>
                <a:lnTo>
                  <a:pt x="0" y="5"/>
                </a:lnTo>
                <a:lnTo>
                  <a:pt x="0" y="7"/>
                </a:lnTo>
                <a:lnTo>
                  <a:pt x="0" y="8"/>
                </a:lnTo>
                <a:lnTo>
                  <a:pt x="2" y="8"/>
                </a:lnTo>
                <a:lnTo>
                  <a:pt x="2" y="10"/>
                </a:lnTo>
                <a:lnTo>
                  <a:pt x="4" y="10"/>
                </a:lnTo>
                <a:lnTo>
                  <a:pt x="5" y="10"/>
                </a:lnTo>
                <a:lnTo>
                  <a:pt x="7" y="10"/>
                </a:lnTo>
                <a:lnTo>
                  <a:pt x="9" y="8"/>
                </a:lnTo>
                <a:lnTo>
                  <a:pt x="9" y="7"/>
                </a:lnTo>
                <a:lnTo>
                  <a:pt x="10" y="7"/>
                </a:lnTo>
                <a:lnTo>
                  <a:pt x="10" y="5"/>
                </a:lnTo>
                <a:close/>
                <a:moveTo>
                  <a:pt x="7" y="5"/>
                </a:moveTo>
                <a:lnTo>
                  <a:pt x="7" y="5"/>
                </a:lnTo>
                <a:lnTo>
                  <a:pt x="7" y="7"/>
                </a:lnTo>
                <a:lnTo>
                  <a:pt x="5" y="7"/>
                </a:lnTo>
                <a:lnTo>
                  <a:pt x="4" y="7"/>
                </a:lnTo>
                <a:lnTo>
                  <a:pt x="4" y="5"/>
                </a:lnTo>
                <a:lnTo>
                  <a:pt x="4" y="3"/>
                </a:lnTo>
                <a:lnTo>
                  <a:pt x="5" y="3"/>
                </a:lnTo>
                <a:lnTo>
                  <a:pt x="7" y="5"/>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06" name="Freeform 2411">
            <a:extLst>
              <a:ext uri="{FF2B5EF4-FFF2-40B4-BE49-F238E27FC236}">
                <a16:creationId xmlns:a16="http://schemas.microsoft.com/office/drawing/2014/main" id="{E063C321-DF99-A9CE-6026-71B8B31A8CD7}"/>
              </a:ext>
            </a:extLst>
          </p:cNvPr>
          <p:cNvSpPr>
            <a:spLocks/>
          </p:cNvSpPr>
          <p:nvPr/>
        </p:nvSpPr>
        <p:spPr bwMode="auto">
          <a:xfrm>
            <a:off x="3514725" y="2595563"/>
            <a:ext cx="11113" cy="9525"/>
          </a:xfrm>
          <a:custGeom>
            <a:avLst/>
            <a:gdLst>
              <a:gd name="T0" fmla="*/ 7 w 7"/>
              <a:gd name="T1" fmla="*/ 3 h 6"/>
              <a:gd name="T2" fmla="*/ 7 w 7"/>
              <a:gd name="T3" fmla="*/ 3 h 6"/>
              <a:gd name="T4" fmla="*/ 7 w 7"/>
              <a:gd name="T5" fmla="*/ 1 h 6"/>
              <a:gd name="T6" fmla="*/ 5 w 7"/>
              <a:gd name="T7" fmla="*/ 1 h 6"/>
              <a:gd name="T8" fmla="*/ 3 w 7"/>
              <a:gd name="T9" fmla="*/ 0 h 6"/>
              <a:gd name="T10" fmla="*/ 2 w 7"/>
              <a:gd name="T11" fmla="*/ 0 h 6"/>
              <a:gd name="T12" fmla="*/ 2 w 7"/>
              <a:gd name="T13" fmla="*/ 1 h 6"/>
              <a:gd name="T14" fmla="*/ 0 w 7"/>
              <a:gd name="T15" fmla="*/ 1 h 6"/>
              <a:gd name="T16" fmla="*/ 0 w 7"/>
              <a:gd name="T17" fmla="*/ 3 h 6"/>
              <a:gd name="T18" fmla="*/ 0 w 7"/>
              <a:gd name="T19" fmla="*/ 5 h 6"/>
              <a:gd name="T20" fmla="*/ 0 w 7"/>
              <a:gd name="T21" fmla="*/ 6 h 6"/>
              <a:gd name="T22" fmla="*/ 2 w 7"/>
              <a:gd name="T23" fmla="*/ 6 h 6"/>
              <a:gd name="T24" fmla="*/ 3 w 7"/>
              <a:gd name="T25" fmla="*/ 6 h 6"/>
              <a:gd name="T26" fmla="*/ 5 w 7"/>
              <a:gd name="T27" fmla="*/ 6 h 6"/>
              <a:gd name="T28" fmla="*/ 5 w 7"/>
              <a:gd name="T29" fmla="*/ 5 h 6"/>
              <a:gd name="T30" fmla="*/ 7 w 7"/>
              <a:gd name="T31" fmla="*/ 5 h 6"/>
              <a:gd name="T32" fmla="*/ 7 w 7"/>
              <a:gd name="T33" fmla="*/ 3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 h="6">
                <a:moveTo>
                  <a:pt x="7" y="3"/>
                </a:moveTo>
                <a:lnTo>
                  <a:pt x="7" y="3"/>
                </a:lnTo>
                <a:lnTo>
                  <a:pt x="7" y="1"/>
                </a:lnTo>
                <a:lnTo>
                  <a:pt x="5" y="1"/>
                </a:lnTo>
                <a:lnTo>
                  <a:pt x="3" y="0"/>
                </a:lnTo>
                <a:lnTo>
                  <a:pt x="2" y="0"/>
                </a:lnTo>
                <a:lnTo>
                  <a:pt x="2" y="1"/>
                </a:lnTo>
                <a:lnTo>
                  <a:pt x="0" y="1"/>
                </a:lnTo>
                <a:lnTo>
                  <a:pt x="0" y="3"/>
                </a:lnTo>
                <a:lnTo>
                  <a:pt x="0" y="5"/>
                </a:lnTo>
                <a:lnTo>
                  <a:pt x="0" y="6"/>
                </a:lnTo>
                <a:lnTo>
                  <a:pt x="2" y="6"/>
                </a:lnTo>
                <a:lnTo>
                  <a:pt x="3" y="6"/>
                </a:lnTo>
                <a:lnTo>
                  <a:pt x="5" y="6"/>
                </a:lnTo>
                <a:lnTo>
                  <a:pt x="5" y="5"/>
                </a:lnTo>
                <a:lnTo>
                  <a:pt x="7" y="5"/>
                </a:lnTo>
                <a:lnTo>
                  <a:pt x="7" y="3"/>
                </a:lnTo>
                <a:close/>
              </a:path>
            </a:pathLst>
          </a:custGeom>
          <a:solidFill>
            <a:srgbClr val="FAFD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07" name="Freeform 2412">
            <a:extLst>
              <a:ext uri="{FF2B5EF4-FFF2-40B4-BE49-F238E27FC236}">
                <a16:creationId xmlns:a16="http://schemas.microsoft.com/office/drawing/2014/main" id="{F9907556-59DA-B7F1-F2C7-1655591FD114}"/>
              </a:ext>
            </a:extLst>
          </p:cNvPr>
          <p:cNvSpPr>
            <a:spLocks/>
          </p:cNvSpPr>
          <p:nvPr/>
        </p:nvSpPr>
        <p:spPr bwMode="auto">
          <a:xfrm>
            <a:off x="3517900" y="2597150"/>
            <a:ext cx="4763" cy="6350"/>
          </a:xfrm>
          <a:custGeom>
            <a:avLst/>
            <a:gdLst>
              <a:gd name="T0" fmla="*/ 3 w 3"/>
              <a:gd name="T1" fmla="*/ 2 h 4"/>
              <a:gd name="T2" fmla="*/ 3 w 3"/>
              <a:gd name="T3" fmla="*/ 2 h 4"/>
              <a:gd name="T4" fmla="*/ 1 w 3"/>
              <a:gd name="T5" fmla="*/ 0 h 4"/>
              <a:gd name="T6" fmla="*/ 0 w 3"/>
              <a:gd name="T7" fmla="*/ 0 h 4"/>
              <a:gd name="T8" fmla="*/ 0 w 3"/>
              <a:gd name="T9" fmla="*/ 2 h 4"/>
              <a:gd name="T10" fmla="*/ 0 w 3"/>
              <a:gd name="T11" fmla="*/ 4 h 4"/>
              <a:gd name="T12" fmla="*/ 1 w 3"/>
              <a:gd name="T13" fmla="*/ 4 h 4"/>
              <a:gd name="T14" fmla="*/ 3 w 3"/>
              <a:gd name="T15" fmla="*/ 4 h 4"/>
              <a:gd name="T16" fmla="*/ 3 w 3"/>
              <a:gd name="T17" fmla="*/ 2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 h="4">
                <a:moveTo>
                  <a:pt x="3" y="2"/>
                </a:moveTo>
                <a:lnTo>
                  <a:pt x="3" y="2"/>
                </a:lnTo>
                <a:lnTo>
                  <a:pt x="1" y="0"/>
                </a:lnTo>
                <a:lnTo>
                  <a:pt x="0" y="0"/>
                </a:lnTo>
                <a:lnTo>
                  <a:pt x="0" y="2"/>
                </a:lnTo>
                <a:lnTo>
                  <a:pt x="0" y="4"/>
                </a:lnTo>
                <a:lnTo>
                  <a:pt x="1" y="4"/>
                </a:lnTo>
                <a:lnTo>
                  <a:pt x="3" y="4"/>
                </a:lnTo>
                <a:lnTo>
                  <a:pt x="3" y="2"/>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08" name="Freeform 2413">
            <a:extLst>
              <a:ext uri="{FF2B5EF4-FFF2-40B4-BE49-F238E27FC236}">
                <a16:creationId xmlns:a16="http://schemas.microsoft.com/office/drawing/2014/main" id="{566D65C5-3D79-7959-22A2-6EE9B9BEA834}"/>
              </a:ext>
            </a:extLst>
          </p:cNvPr>
          <p:cNvSpPr>
            <a:spLocks/>
          </p:cNvSpPr>
          <p:nvPr/>
        </p:nvSpPr>
        <p:spPr bwMode="auto">
          <a:xfrm>
            <a:off x="3167063" y="2403475"/>
            <a:ext cx="704850" cy="396875"/>
          </a:xfrm>
          <a:custGeom>
            <a:avLst/>
            <a:gdLst>
              <a:gd name="T0" fmla="*/ 0 w 444"/>
              <a:gd name="T1" fmla="*/ 200 h 250"/>
              <a:gd name="T2" fmla="*/ 444 w 444"/>
              <a:gd name="T3" fmla="*/ 0 h 250"/>
              <a:gd name="T4" fmla="*/ 444 w 444"/>
              <a:gd name="T5" fmla="*/ 50 h 250"/>
              <a:gd name="T6" fmla="*/ 0 w 444"/>
              <a:gd name="T7" fmla="*/ 250 h 250"/>
              <a:gd name="T8" fmla="*/ 0 w 444"/>
              <a:gd name="T9" fmla="*/ 200 h 250"/>
            </a:gdLst>
            <a:ahLst/>
            <a:cxnLst>
              <a:cxn ang="0">
                <a:pos x="T0" y="T1"/>
              </a:cxn>
              <a:cxn ang="0">
                <a:pos x="T2" y="T3"/>
              </a:cxn>
              <a:cxn ang="0">
                <a:pos x="T4" y="T5"/>
              </a:cxn>
              <a:cxn ang="0">
                <a:pos x="T6" y="T7"/>
              </a:cxn>
              <a:cxn ang="0">
                <a:pos x="T8" y="T9"/>
              </a:cxn>
            </a:cxnLst>
            <a:rect l="0" t="0" r="r" b="b"/>
            <a:pathLst>
              <a:path w="444" h="250">
                <a:moveTo>
                  <a:pt x="0" y="200"/>
                </a:moveTo>
                <a:lnTo>
                  <a:pt x="444" y="0"/>
                </a:lnTo>
                <a:lnTo>
                  <a:pt x="444" y="50"/>
                </a:lnTo>
                <a:lnTo>
                  <a:pt x="0" y="250"/>
                </a:lnTo>
                <a:lnTo>
                  <a:pt x="0" y="20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209" name="Freeform 2414">
            <a:extLst>
              <a:ext uri="{FF2B5EF4-FFF2-40B4-BE49-F238E27FC236}">
                <a16:creationId xmlns:a16="http://schemas.microsoft.com/office/drawing/2014/main" id="{2063381C-FB49-C603-A030-E194CE1AEC7D}"/>
              </a:ext>
            </a:extLst>
          </p:cNvPr>
          <p:cNvSpPr>
            <a:spLocks/>
          </p:cNvSpPr>
          <p:nvPr/>
        </p:nvSpPr>
        <p:spPr bwMode="auto">
          <a:xfrm>
            <a:off x="2260600" y="2011363"/>
            <a:ext cx="665163" cy="554038"/>
          </a:xfrm>
          <a:custGeom>
            <a:avLst/>
            <a:gdLst>
              <a:gd name="T0" fmla="*/ 0 w 419"/>
              <a:gd name="T1" fmla="*/ 93 h 349"/>
              <a:gd name="T2" fmla="*/ 419 w 419"/>
              <a:gd name="T3" fmla="*/ 349 h 349"/>
              <a:gd name="T4" fmla="*/ 65 w 419"/>
              <a:gd name="T5" fmla="*/ 0 h 349"/>
              <a:gd name="T6" fmla="*/ 0 w 419"/>
              <a:gd name="T7" fmla="*/ 93 h 349"/>
            </a:gdLst>
            <a:ahLst/>
            <a:cxnLst>
              <a:cxn ang="0">
                <a:pos x="T0" y="T1"/>
              </a:cxn>
              <a:cxn ang="0">
                <a:pos x="T2" y="T3"/>
              </a:cxn>
              <a:cxn ang="0">
                <a:pos x="T4" y="T5"/>
              </a:cxn>
              <a:cxn ang="0">
                <a:pos x="T6" y="T7"/>
              </a:cxn>
            </a:cxnLst>
            <a:rect l="0" t="0" r="r" b="b"/>
            <a:pathLst>
              <a:path w="419" h="349">
                <a:moveTo>
                  <a:pt x="0" y="93"/>
                </a:moveTo>
                <a:lnTo>
                  <a:pt x="419" y="349"/>
                </a:lnTo>
                <a:lnTo>
                  <a:pt x="65" y="0"/>
                </a:lnTo>
                <a:lnTo>
                  <a:pt x="0" y="93"/>
                </a:lnTo>
                <a:close/>
              </a:path>
            </a:pathLst>
          </a:custGeom>
          <a:solidFill>
            <a:srgbClr val="F7F5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10" name="Freeform 2415">
            <a:extLst>
              <a:ext uri="{FF2B5EF4-FFF2-40B4-BE49-F238E27FC236}">
                <a16:creationId xmlns:a16="http://schemas.microsoft.com/office/drawing/2014/main" id="{AEE75B8A-43C7-D9BD-7F26-CDF60DF5A32D}"/>
              </a:ext>
            </a:extLst>
          </p:cNvPr>
          <p:cNvSpPr>
            <a:spLocks/>
          </p:cNvSpPr>
          <p:nvPr/>
        </p:nvSpPr>
        <p:spPr bwMode="auto">
          <a:xfrm>
            <a:off x="2657475" y="2403475"/>
            <a:ext cx="4763" cy="1588"/>
          </a:xfrm>
          <a:custGeom>
            <a:avLst/>
            <a:gdLst>
              <a:gd name="T0" fmla="*/ 3 w 3"/>
              <a:gd name="T1" fmla="*/ 0 h 1"/>
              <a:gd name="T2" fmla="*/ 0 w 3"/>
              <a:gd name="T3" fmla="*/ 0 h 1"/>
              <a:gd name="T4" fmla="*/ 3 w 3"/>
              <a:gd name="T5" fmla="*/ 1 h 1"/>
              <a:gd name="T6" fmla="*/ 3 w 3"/>
              <a:gd name="T7" fmla="*/ 0 h 1"/>
            </a:gdLst>
            <a:ahLst/>
            <a:cxnLst>
              <a:cxn ang="0">
                <a:pos x="T0" y="T1"/>
              </a:cxn>
              <a:cxn ang="0">
                <a:pos x="T2" y="T3"/>
              </a:cxn>
              <a:cxn ang="0">
                <a:pos x="T4" y="T5"/>
              </a:cxn>
              <a:cxn ang="0">
                <a:pos x="T6" y="T7"/>
              </a:cxn>
            </a:cxnLst>
            <a:rect l="0" t="0" r="r" b="b"/>
            <a:pathLst>
              <a:path w="3" h="1">
                <a:moveTo>
                  <a:pt x="3" y="0"/>
                </a:moveTo>
                <a:lnTo>
                  <a:pt x="0" y="0"/>
                </a:lnTo>
                <a:lnTo>
                  <a:pt x="3" y="1"/>
                </a:lnTo>
                <a:lnTo>
                  <a:pt x="3"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11" name="Freeform 2416">
            <a:extLst>
              <a:ext uri="{FF2B5EF4-FFF2-40B4-BE49-F238E27FC236}">
                <a16:creationId xmlns:a16="http://schemas.microsoft.com/office/drawing/2014/main" id="{91EE9ADD-63D7-B968-A2A8-B4A09A99A47A}"/>
              </a:ext>
            </a:extLst>
          </p:cNvPr>
          <p:cNvSpPr>
            <a:spLocks/>
          </p:cNvSpPr>
          <p:nvPr/>
        </p:nvSpPr>
        <p:spPr bwMode="auto">
          <a:xfrm>
            <a:off x="2660650" y="2403475"/>
            <a:ext cx="7938" cy="4763"/>
          </a:xfrm>
          <a:custGeom>
            <a:avLst/>
            <a:gdLst>
              <a:gd name="T0" fmla="*/ 0 w 5"/>
              <a:gd name="T1" fmla="*/ 0 h 3"/>
              <a:gd name="T2" fmla="*/ 0 w 5"/>
              <a:gd name="T3" fmla="*/ 0 h 3"/>
              <a:gd name="T4" fmla="*/ 3 w 5"/>
              <a:gd name="T5" fmla="*/ 3 h 3"/>
              <a:gd name="T6" fmla="*/ 3 w 5"/>
              <a:gd name="T7" fmla="*/ 1 h 3"/>
              <a:gd name="T8" fmla="*/ 5 w 5"/>
              <a:gd name="T9" fmla="*/ 1 h 3"/>
              <a:gd name="T10" fmla="*/ 5 w 5"/>
              <a:gd name="T11" fmla="*/ 0 h 3"/>
              <a:gd name="T12" fmla="*/ 0 w 5"/>
              <a:gd name="T13" fmla="*/ 0 h 3"/>
            </a:gdLst>
            <a:ahLst/>
            <a:cxnLst>
              <a:cxn ang="0">
                <a:pos x="T0" y="T1"/>
              </a:cxn>
              <a:cxn ang="0">
                <a:pos x="T2" y="T3"/>
              </a:cxn>
              <a:cxn ang="0">
                <a:pos x="T4" y="T5"/>
              </a:cxn>
              <a:cxn ang="0">
                <a:pos x="T6" y="T7"/>
              </a:cxn>
              <a:cxn ang="0">
                <a:pos x="T8" y="T9"/>
              </a:cxn>
              <a:cxn ang="0">
                <a:pos x="T10" y="T11"/>
              </a:cxn>
              <a:cxn ang="0">
                <a:pos x="T12" y="T13"/>
              </a:cxn>
            </a:cxnLst>
            <a:rect l="0" t="0" r="r" b="b"/>
            <a:pathLst>
              <a:path w="5" h="3">
                <a:moveTo>
                  <a:pt x="0" y="0"/>
                </a:moveTo>
                <a:lnTo>
                  <a:pt x="0" y="0"/>
                </a:lnTo>
                <a:lnTo>
                  <a:pt x="3" y="3"/>
                </a:lnTo>
                <a:lnTo>
                  <a:pt x="3" y="1"/>
                </a:lnTo>
                <a:lnTo>
                  <a:pt x="5" y="1"/>
                </a:lnTo>
                <a:lnTo>
                  <a:pt x="5" y="0"/>
                </a:lnTo>
                <a:lnTo>
                  <a:pt x="0"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12" name="Freeform 2417">
            <a:extLst>
              <a:ext uri="{FF2B5EF4-FFF2-40B4-BE49-F238E27FC236}">
                <a16:creationId xmlns:a16="http://schemas.microsoft.com/office/drawing/2014/main" id="{36F14390-0727-E001-626A-CF18D2B62C7C}"/>
              </a:ext>
            </a:extLst>
          </p:cNvPr>
          <p:cNvSpPr>
            <a:spLocks/>
          </p:cNvSpPr>
          <p:nvPr/>
        </p:nvSpPr>
        <p:spPr bwMode="auto">
          <a:xfrm>
            <a:off x="2662238" y="2403475"/>
            <a:ext cx="11113" cy="4763"/>
          </a:xfrm>
          <a:custGeom>
            <a:avLst/>
            <a:gdLst>
              <a:gd name="T0" fmla="*/ 0 w 7"/>
              <a:gd name="T1" fmla="*/ 0 h 3"/>
              <a:gd name="T2" fmla="*/ 0 w 7"/>
              <a:gd name="T3" fmla="*/ 0 h 3"/>
              <a:gd name="T4" fmla="*/ 0 w 7"/>
              <a:gd name="T5" fmla="*/ 1 h 3"/>
              <a:gd name="T6" fmla="*/ 4 w 7"/>
              <a:gd name="T7" fmla="*/ 3 h 3"/>
              <a:gd name="T8" fmla="*/ 5 w 7"/>
              <a:gd name="T9" fmla="*/ 3 h 3"/>
              <a:gd name="T10" fmla="*/ 5 w 7"/>
              <a:gd name="T11" fmla="*/ 1 h 3"/>
              <a:gd name="T12" fmla="*/ 5 w 7"/>
              <a:gd name="T13" fmla="*/ 0 h 3"/>
              <a:gd name="T14" fmla="*/ 7 w 7"/>
              <a:gd name="T15" fmla="*/ 0 h 3"/>
              <a:gd name="T16" fmla="*/ 0 w 7"/>
              <a:gd name="T17" fmla="*/ 0 h 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 h="3">
                <a:moveTo>
                  <a:pt x="0" y="0"/>
                </a:moveTo>
                <a:lnTo>
                  <a:pt x="0" y="0"/>
                </a:lnTo>
                <a:lnTo>
                  <a:pt x="0" y="1"/>
                </a:lnTo>
                <a:lnTo>
                  <a:pt x="4" y="3"/>
                </a:lnTo>
                <a:lnTo>
                  <a:pt x="5" y="3"/>
                </a:lnTo>
                <a:lnTo>
                  <a:pt x="5" y="1"/>
                </a:lnTo>
                <a:lnTo>
                  <a:pt x="5" y="0"/>
                </a:lnTo>
                <a:lnTo>
                  <a:pt x="7" y="0"/>
                </a:lnTo>
                <a:lnTo>
                  <a:pt x="0"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13" name="Freeform 2418">
            <a:extLst>
              <a:ext uri="{FF2B5EF4-FFF2-40B4-BE49-F238E27FC236}">
                <a16:creationId xmlns:a16="http://schemas.microsoft.com/office/drawing/2014/main" id="{DA1B05CB-55A6-0103-C8BE-E8A66AC64016}"/>
              </a:ext>
            </a:extLst>
          </p:cNvPr>
          <p:cNvSpPr>
            <a:spLocks/>
          </p:cNvSpPr>
          <p:nvPr/>
        </p:nvSpPr>
        <p:spPr bwMode="auto">
          <a:xfrm>
            <a:off x="2665413" y="2403475"/>
            <a:ext cx="12700" cy="7938"/>
          </a:xfrm>
          <a:custGeom>
            <a:avLst/>
            <a:gdLst>
              <a:gd name="T0" fmla="*/ 2 w 8"/>
              <a:gd name="T1" fmla="*/ 0 h 5"/>
              <a:gd name="T2" fmla="*/ 2 w 8"/>
              <a:gd name="T3" fmla="*/ 0 h 5"/>
              <a:gd name="T4" fmla="*/ 2 w 8"/>
              <a:gd name="T5" fmla="*/ 1 h 5"/>
              <a:gd name="T6" fmla="*/ 0 w 8"/>
              <a:gd name="T7" fmla="*/ 1 h 5"/>
              <a:gd name="T8" fmla="*/ 0 w 8"/>
              <a:gd name="T9" fmla="*/ 3 h 5"/>
              <a:gd name="T10" fmla="*/ 3 w 8"/>
              <a:gd name="T11" fmla="*/ 5 h 5"/>
              <a:gd name="T12" fmla="*/ 5 w 8"/>
              <a:gd name="T13" fmla="*/ 5 h 5"/>
              <a:gd name="T14" fmla="*/ 5 w 8"/>
              <a:gd name="T15" fmla="*/ 3 h 5"/>
              <a:gd name="T16" fmla="*/ 5 w 8"/>
              <a:gd name="T17" fmla="*/ 1 h 5"/>
              <a:gd name="T18" fmla="*/ 7 w 8"/>
              <a:gd name="T19" fmla="*/ 1 h 5"/>
              <a:gd name="T20" fmla="*/ 7 w 8"/>
              <a:gd name="T21" fmla="*/ 0 h 5"/>
              <a:gd name="T22" fmla="*/ 8 w 8"/>
              <a:gd name="T23" fmla="*/ 0 h 5"/>
              <a:gd name="T24" fmla="*/ 2 w 8"/>
              <a:gd name="T25" fmla="*/ 0 h 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 h="5">
                <a:moveTo>
                  <a:pt x="2" y="0"/>
                </a:moveTo>
                <a:lnTo>
                  <a:pt x="2" y="0"/>
                </a:lnTo>
                <a:lnTo>
                  <a:pt x="2" y="1"/>
                </a:lnTo>
                <a:lnTo>
                  <a:pt x="0" y="1"/>
                </a:lnTo>
                <a:lnTo>
                  <a:pt x="0" y="3"/>
                </a:lnTo>
                <a:lnTo>
                  <a:pt x="3" y="5"/>
                </a:lnTo>
                <a:lnTo>
                  <a:pt x="5" y="5"/>
                </a:lnTo>
                <a:lnTo>
                  <a:pt x="5" y="3"/>
                </a:lnTo>
                <a:lnTo>
                  <a:pt x="5" y="1"/>
                </a:lnTo>
                <a:lnTo>
                  <a:pt x="7" y="1"/>
                </a:lnTo>
                <a:lnTo>
                  <a:pt x="7" y="0"/>
                </a:lnTo>
                <a:lnTo>
                  <a:pt x="8" y="0"/>
                </a:lnTo>
                <a:lnTo>
                  <a:pt x="2"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14" name="Freeform 2419">
            <a:extLst>
              <a:ext uri="{FF2B5EF4-FFF2-40B4-BE49-F238E27FC236}">
                <a16:creationId xmlns:a16="http://schemas.microsoft.com/office/drawing/2014/main" id="{0990B2E0-3B6A-DDCF-B947-83CCED9EA3B8}"/>
              </a:ext>
            </a:extLst>
          </p:cNvPr>
          <p:cNvSpPr>
            <a:spLocks/>
          </p:cNvSpPr>
          <p:nvPr/>
        </p:nvSpPr>
        <p:spPr bwMode="auto">
          <a:xfrm>
            <a:off x="2668588" y="2403475"/>
            <a:ext cx="12700" cy="9525"/>
          </a:xfrm>
          <a:custGeom>
            <a:avLst/>
            <a:gdLst>
              <a:gd name="T0" fmla="*/ 3 w 8"/>
              <a:gd name="T1" fmla="*/ 0 h 6"/>
              <a:gd name="T2" fmla="*/ 3 w 8"/>
              <a:gd name="T3" fmla="*/ 0 h 6"/>
              <a:gd name="T4" fmla="*/ 1 w 8"/>
              <a:gd name="T5" fmla="*/ 0 h 6"/>
              <a:gd name="T6" fmla="*/ 1 w 8"/>
              <a:gd name="T7" fmla="*/ 1 h 6"/>
              <a:gd name="T8" fmla="*/ 1 w 8"/>
              <a:gd name="T9" fmla="*/ 3 h 6"/>
              <a:gd name="T10" fmla="*/ 0 w 8"/>
              <a:gd name="T11" fmla="*/ 3 h 6"/>
              <a:gd name="T12" fmla="*/ 5 w 8"/>
              <a:gd name="T13" fmla="*/ 6 h 6"/>
              <a:gd name="T14" fmla="*/ 5 w 8"/>
              <a:gd name="T15" fmla="*/ 5 h 6"/>
              <a:gd name="T16" fmla="*/ 6 w 8"/>
              <a:gd name="T17" fmla="*/ 3 h 6"/>
              <a:gd name="T18" fmla="*/ 6 w 8"/>
              <a:gd name="T19" fmla="*/ 1 h 6"/>
              <a:gd name="T20" fmla="*/ 8 w 8"/>
              <a:gd name="T21" fmla="*/ 1 h 6"/>
              <a:gd name="T22" fmla="*/ 8 w 8"/>
              <a:gd name="T23" fmla="*/ 0 h 6"/>
              <a:gd name="T24" fmla="*/ 3 w 8"/>
              <a:gd name="T25" fmla="*/ 0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 h="6">
                <a:moveTo>
                  <a:pt x="3" y="0"/>
                </a:moveTo>
                <a:lnTo>
                  <a:pt x="3" y="0"/>
                </a:lnTo>
                <a:lnTo>
                  <a:pt x="1" y="0"/>
                </a:lnTo>
                <a:lnTo>
                  <a:pt x="1" y="1"/>
                </a:lnTo>
                <a:lnTo>
                  <a:pt x="1" y="3"/>
                </a:lnTo>
                <a:lnTo>
                  <a:pt x="0" y="3"/>
                </a:lnTo>
                <a:lnTo>
                  <a:pt x="5" y="6"/>
                </a:lnTo>
                <a:lnTo>
                  <a:pt x="5" y="5"/>
                </a:lnTo>
                <a:lnTo>
                  <a:pt x="6" y="3"/>
                </a:lnTo>
                <a:lnTo>
                  <a:pt x="6" y="1"/>
                </a:lnTo>
                <a:lnTo>
                  <a:pt x="8" y="1"/>
                </a:lnTo>
                <a:lnTo>
                  <a:pt x="8" y="0"/>
                </a:lnTo>
                <a:lnTo>
                  <a:pt x="3"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15" name="Freeform 2420">
            <a:extLst>
              <a:ext uri="{FF2B5EF4-FFF2-40B4-BE49-F238E27FC236}">
                <a16:creationId xmlns:a16="http://schemas.microsoft.com/office/drawing/2014/main" id="{087C8914-DECA-74A7-6BDE-32AA56981D70}"/>
              </a:ext>
            </a:extLst>
          </p:cNvPr>
          <p:cNvSpPr>
            <a:spLocks/>
          </p:cNvSpPr>
          <p:nvPr/>
        </p:nvSpPr>
        <p:spPr bwMode="auto">
          <a:xfrm>
            <a:off x="2670175" y="2403475"/>
            <a:ext cx="15875" cy="12700"/>
          </a:xfrm>
          <a:custGeom>
            <a:avLst/>
            <a:gdLst>
              <a:gd name="T0" fmla="*/ 5 w 10"/>
              <a:gd name="T1" fmla="*/ 0 h 8"/>
              <a:gd name="T2" fmla="*/ 4 w 10"/>
              <a:gd name="T3" fmla="*/ 0 h 8"/>
              <a:gd name="T4" fmla="*/ 4 w 10"/>
              <a:gd name="T5" fmla="*/ 1 h 8"/>
              <a:gd name="T6" fmla="*/ 2 w 10"/>
              <a:gd name="T7" fmla="*/ 1 h 8"/>
              <a:gd name="T8" fmla="*/ 2 w 10"/>
              <a:gd name="T9" fmla="*/ 3 h 8"/>
              <a:gd name="T10" fmla="*/ 2 w 10"/>
              <a:gd name="T11" fmla="*/ 5 h 8"/>
              <a:gd name="T12" fmla="*/ 0 w 10"/>
              <a:gd name="T13" fmla="*/ 5 h 8"/>
              <a:gd name="T14" fmla="*/ 5 w 10"/>
              <a:gd name="T15" fmla="*/ 8 h 8"/>
              <a:gd name="T16" fmla="*/ 5 w 10"/>
              <a:gd name="T17" fmla="*/ 6 h 8"/>
              <a:gd name="T18" fmla="*/ 7 w 10"/>
              <a:gd name="T19" fmla="*/ 5 h 8"/>
              <a:gd name="T20" fmla="*/ 7 w 10"/>
              <a:gd name="T21" fmla="*/ 3 h 8"/>
              <a:gd name="T22" fmla="*/ 9 w 10"/>
              <a:gd name="T23" fmla="*/ 3 h 8"/>
              <a:gd name="T24" fmla="*/ 9 w 10"/>
              <a:gd name="T25" fmla="*/ 1 h 8"/>
              <a:gd name="T26" fmla="*/ 10 w 10"/>
              <a:gd name="T27" fmla="*/ 0 h 8"/>
              <a:gd name="T28" fmla="*/ 5 w 10"/>
              <a:gd name="T29"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0" h="8">
                <a:moveTo>
                  <a:pt x="5" y="0"/>
                </a:moveTo>
                <a:lnTo>
                  <a:pt x="4" y="0"/>
                </a:lnTo>
                <a:lnTo>
                  <a:pt x="4" y="1"/>
                </a:lnTo>
                <a:lnTo>
                  <a:pt x="2" y="1"/>
                </a:lnTo>
                <a:lnTo>
                  <a:pt x="2" y="3"/>
                </a:lnTo>
                <a:lnTo>
                  <a:pt x="2" y="5"/>
                </a:lnTo>
                <a:lnTo>
                  <a:pt x="0" y="5"/>
                </a:lnTo>
                <a:lnTo>
                  <a:pt x="5" y="8"/>
                </a:lnTo>
                <a:lnTo>
                  <a:pt x="5" y="6"/>
                </a:lnTo>
                <a:lnTo>
                  <a:pt x="7" y="5"/>
                </a:lnTo>
                <a:lnTo>
                  <a:pt x="7" y="3"/>
                </a:lnTo>
                <a:lnTo>
                  <a:pt x="9" y="3"/>
                </a:lnTo>
                <a:lnTo>
                  <a:pt x="9" y="1"/>
                </a:lnTo>
                <a:lnTo>
                  <a:pt x="10" y="0"/>
                </a:lnTo>
                <a:lnTo>
                  <a:pt x="5"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16" name="Freeform 2421">
            <a:extLst>
              <a:ext uri="{FF2B5EF4-FFF2-40B4-BE49-F238E27FC236}">
                <a16:creationId xmlns:a16="http://schemas.microsoft.com/office/drawing/2014/main" id="{3AF2F39D-90DE-4C7E-282D-527744B56C4B}"/>
              </a:ext>
            </a:extLst>
          </p:cNvPr>
          <p:cNvSpPr>
            <a:spLocks/>
          </p:cNvSpPr>
          <p:nvPr/>
        </p:nvSpPr>
        <p:spPr bwMode="auto">
          <a:xfrm>
            <a:off x="2676525" y="2403475"/>
            <a:ext cx="15875" cy="12700"/>
          </a:xfrm>
          <a:custGeom>
            <a:avLst/>
            <a:gdLst>
              <a:gd name="T0" fmla="*/ 3 w 10"/>
              <a:gd name="T1" fmla="*/ 0 h 8"/>
              <a:gd name="T2" fmla="*/ 3 w 10"/>
              <a:gd name="T3" fmla="*/ 0 h 8"/>
              <a:gd name="T4" fmla="*/ 3 w 10"/>
              <a:gd name="T5" fmla="*/ 1 h 8"/>
              <a:gd name="T6" fmla="*/ 1 w 10"/>
              <a:gd name="T7" fmla="*/ 1 h 8"/>
              <a:gd name="T8" fmla="*/ 1 w 10"/>
              <a:gd name="T9" fmla="*/ 3 h 8"/>
              <a:gd name="T10" fmla="*/ 0 w 10"/>
              <a:gd name="T11" fmla="*/ 5 h 8"/>
              <a:gd name="T12" fmla="*/ 0 w 10"/>
              <a:gd name="T13" fmla="*/ 6 h 8"/>
              <a:gd name="T14" fmla="*/ 3 w 10"/>
              <a:gd name="T15" fmla="*/ 8 h 8"/>
              <a:gd name="T16" fmla="*/ 5 w 10"/>
              <a:gd name="T17" fmla="*/ 8 h 8"/>
              <a:gd name="T18" fmla="*/ 5 w 10"/>
              <a:gd name="T19" fmla="*/ 6 h 8"/>
              <a:gd name="T20" fmla="*/ 5 w 10"/>
              <a:gd name="T21" fmla="*/ 5 h 8"/>
              <a:gd name="T22" fmla="*/ 6 w 10"/>
              <a:gd name="T23" fmla="*/ 5 h 8"/>
              <a:gd name="T24" fmla="*/ 6 w 10"/>
              <a:gd name="T25" fmla="*/ 3 h 8"/>
              <a:gd name="T26" fmla="*/ 8 w 10"/>
              <a:gd name="T27" fmla="*/ 1 h 8"/>
              <a:gd name="T28" fmla="*/ 10 w 10"/>
              <a:gd name="T29" fmla="*/ 0 h 8"/>
              <a:gd name="T30" fmla="*/ 3 w 10"/>
              <a:gd name="T31"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 h="8">
                <a:moveTo>
                  <a:pt x="3" y="0"/>
                </a:moveTo>
                <a:lnTo>
                  <a:pt x="3" y="0"/>
                </a:lnTo>
                <a:lnTo>
                  <a:pt x="3" y="1"/>
                </a:lnTo>
                <a:lnTo>
                  <a:pt x="1" y="1"/>
                </a:lnTo>
                <a:lnTo>
                  <a:pt x="1" y="3"/>
                </a:lnTo>
                <a:lnTo>
                  <a:pt x="0" y="5"/>
                </a:lnTo>
                <a:lnTo>
                  <a:pt x="0" y="6"/>
                </a:lnTo>
                <a:lnTo>
                  <a:pt x="3" y="8"/>
                </a:lnTo>
                <a:lnTo>
                  <a:pt x="5" y="8"/>
                </a:lnTo>
                <a:lnTo>
                  <a:pt x="5" y="6"/>
                </a:lnTo>
                <a:lnTo>
                  <a:pt x="5" y="5"/>
                </a:lnTo>
                <a:lnTo>
                  <a:pt x="6" y="5"/>
                </a:lnTo>
                <a:lnTo>
                  <a:pt x="6" y="3"/>
                </a:lnTo>
                <a:lnTo>
                  <a:pt x="8" y="1"/>
                </a:lnTo>
                <a:lnTo>
                  <a:pt x="10" y="0"/>
                </a:lnTo>
                <a:lnTo>
                  <a:pt x="3"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17" name="Freeform 2422">
            <a:extLst>
              <a:ext uri="{FF2B5EF4-FFF2-40B4-BE49-F238E27FC236}">
                <a16:creationId xmlns:a16="http://schemas.microsoft.com/office/drawing/2014/main" id="{D6362070-D245-CD20-D7AF-5DAA9086420A}"/>
              </a:ext>
            </a:extLst>
          </p:cNvPr>
          <p:cNvSpPr>
            <a:spLocks/>
          </p:cNvSpPr>
          <p:nvPr/>
        </p:nvSpPr>
        <p:spPr bwMode="auto">
          <a:xfrm>
            <a:off x="2678113" y="2403475"/>
            <a:ext cx="19050" cy="15875"/>
          </a:xfrm>
          <a:custGeom>
            <a:avLst/>
            <a:gdLst>
              <a:gd name="T0" fmla="*/ 5 w 12"/>
              <a:gd name="T1" fmla="*/ 0 h 10"/>
              <a:gd name="T2" fmla="*/ 5 w 12"/>
              <a:gd name="T3" fmla="*/ 0 h 10"/>
              <a:gd name="T4" fmla="*/ 4 w 12"/>
              <a:gd name="T5" fmla="*/ 1 h 10"/>
              <a:gd name="T6" fmla="*/ 4 w 12"/>
              <a:gd name="T7" fmla="*/ 3 h 10"/>
              <a:gd name="T8" fmla="*/ 2 w 12"/>
              <a:gd name="T9" fmla="*/ 3 h 10"/>
              <a:gd name="T10" fmla="*/ 2 w 12"/>
              <a:gd name="T11" fmla="*/ 5 h 10"/>
              <a:gd name="T12" fmla="*/ 0 w 12"/>
              <a:gd name="T13" fmla="*/ 6 h 10"/>
              <a:gd name="T14" fmla="*/ 0 w 12"/>
              <a:gd name="T15" fmla="*/ 8 h 10"/>
              <a:gd name="T16" fmla="*/ 4 w 12"/>
              <a:gd name="T17" fmla="*/ 10 h 10"/>
              <a:gd name="T18" fmla="*/ 5 w 12"/>
              <a:gd name="T19" fmla="*/ 8 h 10"/>
              <a:gd name="T20" fmla="*/ 5 w 12"/>
              <a:gd name="T21" fmla="*/ 6 h 10"/>
              <a:gd name="T22" fmla="*/ 7 w 12"/>
              <a:gd name="T23" fmla="*/ 6 h 10"/>
              <a:gd name="T24" fmla="*/ 7 w 12"/>
              <a:gd name="T25" fmla="*/ 5 h 10"/>
              <a:gd name="T26" fmla="*/ 9 w 12"/>
              <a:gd name="T27" fmla="*/ 3 h 10"/>
              <a:gd name="T28" fmla="*/ 9 w 12"/>
              <a:gd name="T29" fmla="*/ 1 h 10"/>
              <a:gd name="T30" fmla="*/ 10 w 12"/>
              <a:gd name="T31" fmla="*/ 1 h 10"/>
              <a:gd name="T32" fmla="*/ 12 w 12"/>
              <a:gd name="T33" fmla="*/ 0 h 10"/>
              <a:gd name="T34" fmla="*/ 5 w 12"/>
              <a:gd name="T35"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2" h="10">
                <a:moveTo>
                  <a:pt x="5" y="0"/>
                </a:moveTo>
                <a:lnTo>
                  <a:pt x="5" y="0"/>
                </a:lnTo>
                <a:lnTo>
                  <a:pt x="4" y="1"/>
                </a:lnTo>
                <a:lnTo>
                  <a:pt x="4" y="3"/>
                </a:lnTo>
                <a:lnTo>
                  <a:pt x="2" y="3"/>
                </a:lnTo>
                <a:lnTo>
                  <a:pt x="2" y="5"/>
                </a:lnTo>
                <a:lnTo>
                  <a:pt x="0" y="6"/>
                </a:lnTo>
                <a:lnTo>
                  <a:pt x="0" y="8"/>
                </a:lnTo>
                <a:lnTo>
                  <a:pt x="4" y="10"/>
                </a:lnTo>
                <a:lnTo>
                  <a:pt x="5" y="8"/>
                </a:lnTo>
                <a:lnTo>
                  <a:pt x="5" y="6"/>
                </a:lnTo>
                <a:lnTo>
                  <a:pt x="7" y="6"/>
                </a:lnTo>
                <a:lnTo>
                  <a:pt x="7" y="5"/>
                </a:lnTo>
                <a:lnTo>
                  <a:pt x="9" y="3"/>
                </a:lnTo>
                <a:lnTo>
                  <a:pt x="9" y="1"/>
                </a:lnTo>
                <a:lnTo>
                  <a:pt x="10" y="1"/>
                </a:lnTo>
                <a:lnTo>
                  <a:pt x="12" y="0"/>
                </a:lnTo>
                <a:lnTo>
                  <a:pt x="5"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18" name="Freeform 2423">
            <a:extLst>
              <a:ext uri="{FF2B5EF4-FFF2-40B4-BE49-F238E27FC236}">
                <a16:creationId xmlns:a16="http://schemas.microsoft.com/office/drawing/2014/main" id="{532D7F93-3B8C-FA84-85AD-107B98BB4862}"/>
              </a:ext>
            </a:extLst>
          </p:cNvPr>
          <p:cNvSpPr>
            <a:spLocks/>
          </p:cNvSpPr>
          <p:nvPr/>
        </p:nvSpPr>
        <p:spPr bwMode="auto">
          <a:xfrm>
            <a:off x="2681288" y="2403475"/>
            <a:ext cx="19050" cy="17463"/>
          </a:xfrm>
          <a:custGeom>
            <a:avLst/>
            <a:gdLst>
              <a:gd name="T0" fmla="*/ 7 w 12"/>
              <a:gd name="T1" fmla="*/ 0 h 11"/>
              <a:gd name="T2" fmla="*/ 5 w 12"/>
              <a:gd name="T3" fmla="*/ 1 h 11"/>
              <a:gd name="T4" fmla="*/ 3 w 12"/>
              <a:gd name="T5" fmla="*/ 3 h 11"/>
              <a:gd name="T6" fmla="*/ 3 w 12"/>
              <a:gd name="T7" fmla="*/ 5 h 11"/>
              <a:gd name="T8" fmla="*/ 2 w 12"/>
              <a:gd name="T9" fmla="*/ 5 h 11"/>
              <a:gd name="T10" fmla="*/ 2 w 12"/>
              <a:gd name="T11" fmla="*/ 6 h 11"/>
              <a:gd name="T12" fmla="*/ 2 w 12"/>
              <a:gd name="T13" fmla="*/ 8 h 11"/>
              <a:gd name="T14" fmla="*/ 0 w 12"/>
              <a:gd name="T15" fmla="*/ 8 h 11"/>
              <a:gd name="T16" fmla="*/ 5 w 12"/>
              <a:gd name="T17" fmla="*/ 11 h 11"/>
              <a:gd name="T18" fmla="*/ 5 w 12"/>
              <a:gd name="T19" fmla="*/ 10 h 11"/>
              <a:gd name="T20" fmla="*/ 7 w 12"/>
              <a:gd name="T21" fmla="*/ 8 h 11"/>
              <a:gd name="T22" fmla="*/ 7 w 12"/>
              <a:gd name="T23" fmla="*/ 6 h 11"/>
              <a:gd name="T24" fmla="*/ 8 w 12"/>
              <a:gd name="T25" fmla="*/ 5 h 11"/>
              <a:gd name="T26" fmla="*/ 10 w 12"/>
              <a:gd name="T27" fmla="*/ 3 h 11"/>
              <a:gd name="T28" fmla="*/ 12 w 12"/>
              <a:gd name="T29" fmla="*/ 1 h 11"/>
              <a:gd name="T30" fmla="*/ 12 w 12"/>
              <a:gd name="T31" fmla="*/ 0 h 11"/>
              <a:gd name="T32" fmla="*/ 7 w 12"/>
              <a:gd name="T33"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2" h="11">
                <a:moveTo>
                  <a:pt x="7" y="0"/>
                </a:moveTo>
                <a:lnTo>
                  <a:pt x="5" y="1"/>
                </a:lnTo>
                <a:lnTo>
                  <a:pt x="3" y="3"/>
                </a:lnTo>
                <a:lnTo>
                  <a:pt x="3" y="5"/>
                </a:lnTo>
                <a:lnTo>
                  <a:pt x="2" y="5"/>
                </a:lnTo>
                <a:lnTo>
                  <a:pt x="2" y="6"/>
                </a:lnTo>
                <a:lnTo>
                  <a:pt x="2" y="8"/>
                </a:lnTo>
                <a:lnTo>
                  <a:pt x="0" y="8"/>
                </a:lnTo>
                <a:lnTo>
                  <a:pt x="5" y="11"/>
                </a:lnTo>
                <a:lnTo>
                  <a:pt x="5" y="10"/>
                </a:lnTo>
                <a:lnTo>
                  <a:pt x="7" y="8"/>
                </a:lnTo>
                <a:lnTo>
                  <a:pt x="7" y="6"/>
                </a:lnTo>
                <a:lnTo>
                  <a:pt x="8" y="5"/>
                </a:lnTo>
                <a:lnTo>
                  <a:pt x="10" y="3"/>
                </a:lnTo>
                <a:lnTo>
                  <a:pt x="12" y="1"/>
                </a:lnTo>
                <a:lnTo>
                  <a:pt x="12" y="0"/>
                </a:lnTo>
                <a:lnTo>
                  <a:pt x="7" y="0"/>
                </a:lnTo>
                <a:close/>
              </a:path>
            </a:pathLst>
          </a:custGeom>
          <a:solidFill>
            <a:srgbClr val="DBED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19" name="Freeform 2424">
            <a:extLst>
              <a:ext uri="{FF2B5EF4-FFF2-40B4-BE49-F238E27FC236}">
                <a16:creationId xmlns:a16="http://schemas.microsoft.com/office/drawing/2014/main" id="{7E255479-DBD1-254D-11F3-E969200B21D2}"/>
              </a:ext>
            </a:extLst>
          </p:cNvPr>
          <p:cNvSpPr>
            <a:spLocks/>
          </p:cNvSpPr>
          <p:nvPr/>
        </p:nvSpPr>
        <p:spPr bwMode="auto">
          <a:xfrm>
            <a:off x="2684463" y="2403475"/>
            <a:ext cx="20638" cy="20638"/>
          </a:xfrm>
          <a:custGeom>
            <a:avLst/>
            <a:gdLst>
              <a:gd name="T0" fmla="*/ 8 w 13"/>
              <a:gd name="T1" fmla="*/ 0 h 13"/>
              <a:gd name="T2" fmla="*/ 6 w 13"/>
              <a:gd name="T3" fmla="*/ 1 h 13"/>
              <a:gd name="T4" fmla="*/ 5 w 13"/>
              <a:gd name="T5" fmla="*/ 1 h 13"/>
              <a:gd name="T6" fmla="*/ 5 w 13"/>
              <a:gd name="T7" fmla="*/ 3 h 13"/>
              <a:gd name="T8" fmla="*/ 3 w 13"/>
              <a:gd name="T9" fmla="*/ 5 h 13"/>
              <a:gd name="T10" fmla="*/ 3 w 13"/>
              <a:gd name="T11" fmla="*/ 6 h 13"/>
              <a:gd name="T12" fmla="*/ 1 w 13"/>
              <a:gd name="T13" fmla="*/ 6 h 13"/>
              <a:gd name="T14" fmla="*/ 1 w 13"/>
              <a:gd name="T15" fmla="*/ 8 h 13"/>
              <a:gd name="T16" fmla="*/ 0 w 13"/>
              <a:gd name="T17" fmla="*/ 10 h 13"/>
              <a:gd name="T18" fmla="*/ 5 w 13"/>
              <a:gd name="T19" fmla="*/ 13 h 13"/>
              <a:gd name="T20" fmla="*/ 6 w 13"/>
              <a:gd name="T21" fmla="*/ 11 h 13"/>
              <a:gd name="T22" fmla="*/ 6 w 13"/>
              <a:gd name="T23" fmla="*/ 10 h 13"/>
              <a:gd name="T24" fmla="*/ 8 w 13"/>
              <a:gd name="T25" fmla="*/ 8 h 13"/>
              <a:gd name="T26" fmla="*/ 8 w 13"/>
              <a:gd name="T27" fmla="*/ 6 h 13"/>
              <a:gd name="T28" fmla="*/ 10 w 13"/>
              <a:gd name="T29" fmla="*/ 5 h 13"/>
              <a:gd name="T30" fmla="*/ 11 w 13"/>
              <a:gd name="T31" fmla="*/ 3 h 13"/>
              <a:gd name="T32" fmla="*/ 11 w 13"/>
              <a:gd name="T33" fmla="*/ 1 h 13"/>
              <a:gd name="T34" fmla="*/ 13 w 13"/>
              <a:gd name="T35" fmla="*/ 0 h 13"/>
              <a:gd name="T36" fmla="*/ 8 w 13"/>
              <a:gd name="T37"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3" h="13">
                <a:moveTo>
                  <a:pt x="8" y="0"/>
                </a:moveTo>
                <a:lnTo>
                  <a:pt x="6" y="1"/>
                </a:lnTo>
                <a:lnTo>
                  <a:pt x="5" y="1"/>
                </a:lnTo>
                <a:lnTo>
                  <a:pt x="5" y="3"/>
                </a:lnTo>
                <a:lnTo>
                  <a:pt x="3" y="5"/>
                </a:lnTo>
                <a:lnTo>
                  <a:pt x="3" y="6"/>
                </a:lnTo>
                <a:lnTo>
                  <a:pt x="1" y="6"/>
                </a:lnTo>
                <a:lnTo>
                  <a:pt x="1" y="8"/>
                </a:lnTo>
                <a:lnTo>
                  <a:pt x="0" y="10"/>
                </a:lnTo>
                <a:lnTo>
                  <a:pt x="5" y="13"/>
                </a:lnTo>
                <a:lnTo>
                  <a:pt x="6" y="11"/>
                </a:lnTo>
                <a:lnTo>
                  <a:pt x="6" y="10"/>
                </a:lnTo>
                <a:lnTo>
                  <a:pt x="8" y="8"/>
                </a:lnTo>
                <a:lnTo>
                  <a:pt x="8" y="6"/>
                </a:lnTo>
                <a:lnTo>
                  <a:pt x="10" y="5"/>
                </a:lnTo>
                <a:lnTo>
                  <a:pt x="11" y="3"/>
                </a:lnTo>
                <a:lnTo>
                  <a:pt x="11" y="1"/>
                </a:lnTo>
                <a:lnTo>
                  <a:pt x="13" y="0"/>
                </a:lnTo>
                <a:lnTo>
                  <a:pt x="8"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20" name="Freeform 2425">
            <a:extLst>
              <a:ext uri="{FF2B5EF4-FFF2-40B4-BE49-F238E27FC236}">
                <a16:creationId xmlns:a16="http://schemas.microsoft.com/office/drawing/2014/main" id="{F920137E-B812-F764-6D80-D60912802D36}"/>
              </a:ext>
            </a:extLst>
          </p:cNvPr>
          <p:cNvSpPr>
            <a:spLocks/>
          </p:cNvSpPr>
          <p:nvPr/>
        </p:nvSpPr>
        <p:spPr bwMode="auto">
          <a:xfrm>
            <a:off x="2689225" y="2403475"/>
            <a:ext cx="20638" cy="20638"/>
          </a:xfrm>
          <a:custGeom>
            <a:avLst/>
            <a:gdLst>
              <a:gd name="T0" fmla="*/ 7 w 13"/>
              <a:gd name="T1" fmla="*/ 0 h 13"/>
              <a:gd name="T2" fmla="*/ 7 w 13"/>
              <a:gd name="T3" fmla="*/ 1 h 13"/>
              <a:gd name="T4" fmla="*/ 5 w 13"/>
              <a:gd name="T5" fmla="*/ 3 h 13"/>
              <a:gd name="T6" fmla="*/ 3 w 13"/>
              <a:gd name="T7" fmla="*/ 5 h 13"/>
              <a:gd name="T8" fmla="*/ 2 w 13"/>
              <a:gd name="T9" fmla="*/ 6 h 13"/>
              <a:gd name="T10" fmla="*/ 2 w 13"/>
              <a:gd name="T11" fmla="*/ 8 h 13"/>
              <a:gd name="T12" fmla="*/ 0 w 13"/>
              <a:gd name="T13" fmla="*/ 10 h 13"/>
              <a:gd name="T14" fmla="*/ 0 w 13"/>
              <a:gd name="T15" fmla="*/ 11 h 13"/>
              <a:gd name="T16" fmla="*/ 3 w 13"/>
              <a:gd name="T17" fmla="*/ 13 h 13"/>
              <a:gd name="T18" fmla="*/ 5 w 13"/>
              <a:gd name="T19" fmla="*/ 11 h 13"/>
              <a:gd name="T20" fmla="*/ 5 w 13"/>
              <a:gd name="T21" fmla="*/ 10 h 13"/>
              <a:gd name="T22" fmla="*/ 7 w 13"/>
              <a:gd name="T23" fmla="*/ 8 h 13"/>
              <a:gd name="T24" fmla="*/ 8 w 13"/>
              <a:gd name="T25" fmla="*/ 6 h 13"/>
              <a:gd name="T26" fmla="*/ 10 w 13"/>
              <a:gd name="T27" fmla="*/ 5 h 13"/>
              <a:gd name="T28" fmla="*/ 10 w 13"/>
              <a:gd name="T29" fmla="*/ 3 h 13"/>
              <a:gd name="T30" fmla="*/ 12 w 13"/>
              <a:gd name="T31" fmla="*/ 1 h 13"/>
              <a:gd name="T32" fmla="*/ 13 w 13"/>
              <a:gd name="T33" fmla="*/ 0 h 13"/>
              <a:gd name="T34" fmla="*/ 7 w 13"/>
              <a:gd name="T35"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3" h="13">
                <a:moveTo>
                  <a:pt x="7" y="0"/>
                </a:moveTo>
                <a:lnTo>
                  <a:pt x="7" y="1"/>
                </a:lnTo>
                <a:lnTo>
                  <a:pt x="5" y="3"/>
                </a:lnTo>
                <a:lnTo>
                  <a:pt x="3" y="5"/>
                </a:lnTo>
                <a:lnTo>
                  <a:pt x="2" y="6"/>
                </a:lnTo>
                <a:lnTo>
                  <a:pt x="2" y="8"/>
                </a:lnTo>
                <a:lnTo>
                  <a:pt x="0" y="10"/>
                </a:lnTo>
                <a:lnTo>
                  <a:pt x="0" y="11"/>
                </a:lnTo>
                <a:lnTo>
                  <a:pt x="3" y="13"/>
                </a:lnTo>
                <a:lnTo>
                  <a:pt x="5" y="11"/>
                </a:lnTo>
                <a:lnTo>
                  <a:pt x="5" y="10"/>
                </a:lnTo>
                <a:lnTo>
                  <a:pt x="7" y="8"/>
                </a:lnTo>
                <a:lnTo>
                  <a:pt x="8" y="6"/>
                </a:lnTo>
                <a:lnTo>
                  <a:pt x="10" y="5"/>
                </a:lnTo>
                <a:lnTo>
                  <a:pt x="10" y="3"/>
                </a:lnTo>
                <a:lnTo>
                  <a:pt x="12" y="1"/>
                </a:lnTo>
                <a:lnTo>
                  <a:pt x="13" y="0"/>
                </a:lnTo>
                <a:lnTo>
                  <a:pt x="7"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21" name="Freeform 2426">
            <a:extLst>
              <a:ext uri="{FF2B5EF4-FFF2-40B4-BE49-F238E27FC236}">
                <a16:creationId xmlns:a16="http://schemas.microsoft.com/office/drawing/2014/main" id="{ACCE1B54-AB29-3121-06E6-025A31EAC994}"/>
              </a:ext>
            </a:extLst>
          </p:cNvPr>
          <p:cNvSpPr>
            <a:spLocks/>
          </p:cNvSpPr>
          <p:nvPr/>
        </p:nvSpPr>
        <p:spPr bwMode="auto">
          <a:xfrm>
            <a:off x="2692400" y="2403475"/>
            <a:ext cx="23813" cy="23813"/>
          </a:xfrm>
          <a:custGeom>
            <a:avLst/>
            <a:gdLst>
              <a:gd name="T0" fmla="*/ 8 w 15"/>
              <a:gd name="T1" fmla="*/ 0 h 15"/>
              <a:gd name="T2" fmla="*/ 6 w 15"/>
              <a:gd name="T3" fmla="*/ 1 h 15"/>
              <a:gd name="T4" fmla="*/ 6 w 15"/>
              <a:gd name="T5" fmla="*/ 3 h 15"/>
              <a:gd name="T6" fmla="*/ 5 w 15"/>
              <a:gd name="T7" fmla="*/ 5 h 15"/>
              <a:gd name="T8" fmla="*/ 3 w 15"/>
              <a:gd name="T9" fmla="*/ 6 h 15"/>
              <a:gd name="T10" fmla="*/ 3 w 15"/>
              <a:gd name="T11" fmla="*/ 8 h 15"/>
              <a:gd name="T12" fmla="*/ 1 w 15"/>
              <a:gd name="T13" fmla="*/ 10 h 15"/>
              <a:gd name="T14" fmla="*/ 1 w 15"/>
              <a:gd name="T15" fmla="*/ 11 h 15"/>
              <a:gd name="T16" fmla="*/ 0 w 15"/>
              <a:gd name="T17" fmla="*/ 13 h 15"/>
              <a:gd name="T18" fmla="*/ 3 w 15"/>
              <a:gd name="T19" fmla="*/ 15 h 15"/>
              <a:gd name="T20" fmla="*/ 5 w 15"/>
              <a:gd name="T21" fmla="*/ 13 h 15"/>
              <a:gd name="T22" fmla="*/ 6 w 15"/>
              <a:gd name="T23" fmla="*/ 11 h 15"/>
              <a:gd name="T24" fmla="*/ 8 w 15"/>
              <a:gd name="T25" fmla="*/ 10 h 15"/>
              <a:gd name="T26" fmla="*/ 8 w 15"/>
              <a:gd name="T27" fmla="*/ 6 h 15"/>
              <a:gd name="T28" fmla="*/ 10 w 15"/>
              <a:gd name="T29" fmla="*/ 5 h 15"/>
              <a:gd name="T30" fmla="*/ 11 w 15"/>
              <a:gd name="T31" fmla="*/ 3 h 15"/>
              <a:gd name="T32" fmla="*/ 13 w 15"/>
              <a:gd name="T33" fmla="*/ 1 h 15"/>
              <a:gd name="T34" fmla="*/ 15 w 15"/>
              <a:gd name="T35" fmla="*/ 0 h 15"/>
              <a:gd name="T36" fmla="*/ 8 w 15"/>
              <a:gd name="T37" fmla="*/ 0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5">
                <a:moveTo>
                  <a:pt x="8" y="0"/>
                </a:moveTo>
                <a:lnTo>
                  <a:pt x="6" y="1"/>
                </a:lnTo>
                <a:lnTo>
                  <a:pt x="6" y="3"/>
                </a:lnTo>
                <a:lnTo>
                  <a:pt x="5" y="5"/>
                </a:lnTo>
                <a:lnTo>
                  <a:pt x="3" y="6"/>
                </a:lnTo>
                <a:lnTo>
                  <a:pt x="3" y="8"/>
                </a:lnTo>
                <a:lnTo>
                  <a:pt x="1" y="10"/>
                </a:lnTo>
                <a:lnTo>
                  <a:pt x="1" y="11"/>
                </a:lnTo>
                <a:lnTo>
                  <a:pt x="0" y="13"/>
                </a:lnTo>
                <a:lnTo>
                  <a:pt x="3" y="15"/>
                </a:lnTo>
                <a:lnTo>
                  <a:pt x="5" y="13"/>
                </a:lnTo>
                <a:lnTo>
                  <a:pt x="6" y="11"/>
                </a:lnTo>
                <a:lnTo>
                  <a:pt x="8" y="10"/>
                </a:lnTo>
                <a:lnTo>
                  <a:pt x="8" y="6"/>
                </a:lnTo>
                <a:lnTo>
                  <a:pt x="10" y="5"/>
                </a:lnTo>
                <a:lnTo>
                  <a:pt x="11" y="3"/>
                </a:lnTo>
                <a:lnTo>
                  <a:pt x="13" y="1"/>
                </a:lnTo>
                <a:lnTo>
                  <a:pt x="15" y="0"/>
                </a:lnTo>
                <a:lnTo>
                  <a:pt x="8"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22" name="Freeform 2427">
            <a:extLst>
              <a:ext uri="{FF2B5EF4-FFF2-40B4-BE49-F238E27FC236}">
                <a16:creationId xmlns:a16="http://schemas.microsoft.com/office/drawing/2014/main" id="{E97F8C63-D2F5-4A54-EB74-D246073F003A}"/>
              </a:ext>
            </a:extLst>
          </p:cNvPr>
          <p:cNvSpPr>
            <a:spLocks/>
          </p:cNvSpPr>
          <p:nvPr/>
        </p:nvSpPr>
        <p:spPr bwMode="auto">
          <a:xfrm>
            <a:off x="2693988" y="2403475"/>
            <a:ext cx="26988" cy="25400"/>
          </a:xfrm>
          <a:custGeom>
            <a:avLst/>
            <a:gdLst>
              <a:gd name="T0" fmla="*/ 10 w 17"/>
              <a:gd name="T1" fmla="*/ 0 h 16"/>
              <a:gd name="T2" fmla="*/ 9 w 17"/>
              <a:gd name="T3" fmla="*/ 1 h 16"/>
              <a:gd name="T4" fmla="*/ 7 w 17"/>
              <a:gd name="T5" fmla="*/ 3 h 16"/>
              <a:gd name="T6" fmla="*/ 7 w 17"/>
              <a:gd name="T7" fmla="*/ 5 h 16"/>
              <a:gd name="T8" fmla="*/ 5 w 17"/>
              <a:gd name="T9" fmla="*/ 6 h 16"/>
              <a:gd name="T10" fmla="*/ 4 w 17"/>
              <a:gd name="T11" fmla="*/ 8 h 16"/>
              <a:gd name="T12" fmla="*/ 2 w 17"/>
              <a:gd name="T13" fmla="*/ 10 h 16"/>
              <a:gd name="T14" fmla="*/ 2 w 17"/>
              <a:gd name="T15" fmla="*/ 11 h 16"/>
              <a:gd name="T16" fmla="*/ 0 w 17"/>
              <a:gd name="T17" fmla="*/ 13 h 16"/>
              <a:gd name="T18" fmla="*/ 5 w 17"/>
              <a:gd name="T19" fmla="*/ 16 h 16"/>
              <a:gd name="T20" fmla="*/ 5 w 17"/>
              <a:gd name="T21" fmla="*/ 15 h 16"/>
              <a:gd name="T22" fmla="*/ 7 w 17"/>
              <a:gd name="T23" fmla="*/ 11 h 16"/>
              <a:gd name="T24" fmla="*/ 9 w 17"/>
              <a:gd name="T25" fmla="*/ 10 h 16"/>
              <a:gd name="T26" fmla="*/ 10 w 17"/>
              <a:gd name="T27" fmla="*/ 8 h 16"/>
              <a:gd name="T28" fmla="*/ 12 w 17"/>
              <a:gd name="T29" fmla="*/ 5 h 16"/>
              <a:gd name="T30" fmla="*/ 14 w 17"/>
              <a:gd name="T31" fmla="*/ 3 h 16"/>
              <a:gd name="T32" fmla="*/ 15 w 17"/>
              <a:gd name="T33" fmla="*/ 1 h 16"/>
              <a:gd name="T34" fmla="*/ 17 w 17"/>
              <a:gd name="T35" fmla="*/ 0 h 16"/>
              <a:gd name="T36" fmla="*/ 10 w 17"/>
              <a:gd name="T37" fmla="*/ 0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 h="16">
                <a:moveTo>
                  <a:pt x="10" y="0"/>
                </a:moveTo>
                <a:lnTo>
                  <a:pt x="9" y="1"/>
                </a:lnTo>
                <a:lnTo>
                  <a:pt x="7" y="3"/>
                </a:lnTo>
                <a:lnTo>
                  <a:pt x="7" y="5"/>
                </a:lnTo>
                <a:lnTo>
                  <a:pt x="5" y="6"/>
                </a:lnTo>
                <a:lnTo>
                  <a:pt x="4" y="8"/>
                </a:lnTo>
                <a:lnTo>
                  <a:pt x="2" y="10"/>
                </a:lnTo>
                <a:lnTo>
                  <a:pt x="2" y="11"/>
                </a:lnTo>
                <a:lnTo>
                  <a:pt x="0" y="13"/>
                </a:lnTo>
                <a:lnTo>
                  <a:pt x="5" y="16"/>
                </a:lnTo>
                <a:lnTo>
                  <a:pt x="5" y="15"/>
                </a:lnTo>
                <a:lnTo>
                  <a:pt x="7" y="11"/>
                </a:lnTo>
                <a:lnTo>
                  <a:pt x="9" y="10"/>
                </a:lnTo>
                <a:lnTo>
                  <a:pt x="10" y="8"/>
                </a:lnTo>
                <a:lnTo>
                  <a:pt x="12" y="5"/>
                </a:lnTo>
                <a:lnTo>
                  <a:pt x="14" y="3"/>
                </a:lnTo>
                <a:lnTo>
                  <a:pt x="15" y="1"/>
                </a:lnTo>
                <a:lnTo>
                  <a:pt x="17" y="0"/>
                </a:lnTo>
                <a:lnTo>
                  <a:pt x="10"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23" name="Freeform 2428">
            <a:extLst>
              <a:ext uri="{FF2B5EF4-FFF2-40B4-BE49-F238E27FC236}">
                <a16:creationId xmlns:a16="http://schemas.microsoft.com/office/drawing/2014/main" id="{814C16AC-026B-AF96-2E2A-F99A4C7E8428}"/>
              </a:ext>
            </a:extLst>
          </p:cNvPr>
          <p:cNvSpPr>
            <a:spLocks/>
          </p:cNvSpPr>
          <p:nvPr/>
        </p:nvSpPr>
        <p:spPr bwMode="auto">
          <a:xfrm>
            <a:off x="2697163" y="2403475"/>
            <a:ext cx="28575" cy="28575"/>
          </a:xfrm>
          <a:custGeom>
            <a:avLst/>
            <a:gdLst>
              <a:gd name="T0" fmla="*/ 12 w 18"/>
              <a:gd name="T1" fmla="*/ 0 h 18"/>
              <a:gd name="T2" fmla="*/ 10 w 18"/>
              <a:gd name="T3" fmla="*/ 1 h 18"/>
              <a:gd name="T4" fmla="*/ 8 w 18"/>
              <a:gd name="T5" fmla="*/ 3 h 18"/>
              <a:gd name="T6" fmla="*/ 7 w 18"/>
              <a:gd name="T7" fmla="*/ 5 h 18"/>
              <a:gd name="T8" fmla="*/ 5 w 18"/>
              <a:gd name="T9" fmla="*/ 6 h 18"/>
              <a:gd name="T10" fmla="*/ 5 w 18"/>
              <a:gd name="T11" fmla="*/ 10 h 18"/>
              <a:gd name="T12" fmla="*/ 3 w 18"/>
              <a:gd name="T13" fmla="*/ 11 h 18"/>
              <a:gd name="T14" fmla="*/ 2 w 18"/>
              <a:gd name="T15" fmla="*/ 13 h 18"/>
              <a:gd name="T16" fmla="*/ 0 w 18"/>
              <a:gd name="T17" fmla="*/ 15 h 18"/>
              <a:gd name="T18" fmla="*/ 5 w 18"/>
              <a:gd name="T19" fmla="*/ 18 h 18"/>
              <a:gd name="T20" fmla="*/ 7 w 18"/>
              <a:gd name="T21" fmla="*/ 15 h 18"/>
              <a:gd name="T22" fmla="*/ 8 w 18"/>
              <a:gd name="T23" fmla="*/ 13 h 18"/>
              <a:gd name="T24" fmla="*/ 10 w 18"/>
              <a:gd name="T25" fmla="*/ 10 h 18"/>
              <a:gd name="T26" fmla="*/ 10 w 18"/>
              <a:gd name="T27" fmla="*/ 8 h 18"/>
              <a:gd name="T28" fmla="*/ 12 w 18"/>
              <a:gd name="T29" fmla="*/ 6 h 18"/>
              <a:gd name="T30" fmla="*/ 13 w 18"/>
              <a:gd name="T31" fmla="*/ 3 h 18"/>
              <a:gd name="T32" fmla="*/ 15 w 18"/>
              <a:gd name="T33" fmla="*/ 1 h 18"/>
              <a:gd name="T34" fmla="*/ 18 w 18"/>
              <a:gd name="T35" fmla="*/ 0 h 18"/>
              <a:gd name="T36" fmla="*/ 12 w 18"/>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18">
                <a:moveTo>
                  <a:pt x="12" y="0"/>
                </a:moveTo>
                <a:lnTo>
                  <a:pt x="10" y="1"/>
                </a:lnTo>
                <a:lnTo>
                  <a:pt x="8" y="3"/>
                </a:lnTo>
                <a:lnTo>
                  <a:pt x="7" y="5"/>
                </a:lnTo>
                <a:lnTo>
                  <a:pt x="5" y="6"/>
                </a:lnTo>
                <a:lnTo>
                  <a:pt x="5" y="10"/>
                </a:lnTo>
                <a:lnTo>
                  <a:pt x="3" y="11"/>
                </a:lnTo>
                <a:lnTo>
                  <a:pt x="2" y="13"/>
                </a:lnTo>
                <a:lnTo>
                  <a:pt x="0" y="15"/>
                </a:lnTo>
                <a:lnTo>
                  <a:pt x="5" y="18"/>
                </a:lnTo>
                <a:lnTo>
                  <a:pt x="7" y="15"/>
                </a:lnTo>
                <a:lnTo>
                  <a:pt x="8" y="13"/>
                </a:lnTo>
                <a:lnTo>
                  <a:pt x="10" y="10"/>
                </a:lnTo>
                <a:lnTo>
                  <a:pt x="10" y="8"/>
                </a:lnTo>
                <a:lnTo>
                  <a:pt x="12" y="6"/>
                </a:lnTo>
                <a:lnTo>
                  <a:pt x="13" y="3"/>
                </a:lnTo>
                <a:lnTo>
                  <a:pt x="15" y="1"/>
                </a:lnTo>
                <a:lnTo>
                  <a:pt x="18" y="0"/>
                </a:lnTo>
                <a:lnTo>
                  <a:pt x="12"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24" name="Freeform 2429">
            <a:extLst>
              <a:ext uri="{FF2B5EF4-FFF2-40B4-BE49-F238E27FC236}">
                <a16:creationId xmlns:a16="http://schemas.microsoft.com/office/drawing/2014/main" id="{D21479BC-6B67-1BA2-B609-58DA234FCB3C}"/>
              </a:ext>
            </a:extLst>
          </p:cNvPr>
          <p:cNvSpPr>
            <a:spLocks/>
          </p:cNvSpPr>
          <p:nvPr/>
        </p:nvSpPr>
        <p:spPr bwMode="auto">
          <a:xfrm>
            <a:off x="2701925" y="2403475"/>
            <a:ext cx="26988" cy="28575"/>
          </a:xfrm>
          <a:custGeom>
            <a:avLst/>
            <a:gdLst>
              <a:gd name="T0" fmla="*/ 12 w 17"/>
              <a:gd name="T1" fmla="*/ 0 h 18"/>
              <a:gd name="T2" fmla="*/ 10 w 17"/>
              <a:gd name="T3" fmla="*/ 1 h 18"/>
              <a:gd name="T4" fmla="*/ 9 w 17"/>
              <a:gd name="T5" fmla="*/ 3 h 18"/>
              <a:gd name="T6" fmla="*/ 7 w 17"/>
              <a:gd name="T7" fmla="*/ 5 h 18"/>
              <a:gd name="T8" fmla="*/ 5 w 17"/>
              <a:gd name="T9" fmla="*/ 8 h 18"/>
              <a:gd name="T10" fmla="*/ 4 w 17"/>
              <a:gd name="T11" fmla="*/ 10 h 18"/>
              <a:gd name="T12" fmla="*/ 2 w 17"/>
              <a:gd name="T13" fmla="*/ 11 h 18"/>
              <a:gd name="T14" fmla="*/ 0 w 17"/>
              <a:gd name="T15" fmla="*/ 15 h 18"/>
              <a:gd name="T16" fmla="*/ 0 w 17"/>
              <a:gd name="T17" fmla="*/ 16 h 18"/>
              <a:gd name="T18" fmla="*/ 4 w 17"/>
              <a:gd name="T19" fmla="*/ 18 h 18"/>
              <a:gd name="T20" fmla="*/ 5 w 17"/>
              <a:gd name="T21" fmla="*/ 16 h 18"/>
              <a:gd name="T22" fmla="*/ 7 w 17"/>
              <a:gd name="T23" fmla="*/ 13 h 18"/>
              <a:gd name="T24" fmla="*/ 9 w 17"/>
              <a:gd name="T25" fmla="*/ 11 h 18"/>
              <a:gd name="T26" fmla="*/ 10 w 17"/>
              <a:gd name="T27" fmla="*/ 8 h 18"/>
              <a:gd name="T28" fmla="*/ 12 w 17"/>
              <a:gd name="T29" fmla="*/ 6 h 18"/>
              <a:gd name="T30" fmla="*/ 14 w 17"/>
              <a:gd name="T31" fmla="*/ 5 h 18"/>
              <a:gd name="T32" fmla="*/ 15 w 17"/>
              <a:gd name="T33" fmla="*/ 1 h 18"/>
              <a:gd name="T34" fmla="*/ 17 w 17"/>
              <a:gd name="T35" fmla="*/ 0 h 18"/>
              <a:gd name="T36" fmla="*/ 12 w 17"/>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 h="18">
                <a:moveTo>
                  <a:pt x="12" y="0"/>
                </a:moveTo>
                <a:lnTo>
                  <a:pt x="10" y="1"/>
                </a:lnTo>
                <a:lnTo>
                  <a:pt x="9" y="3"/>
                </a:lnTo>
                <a:lnTo>
                  <a:pt x="7" y="5"/>
                </a:lnTo>
                <a:lnTo>
                  <a:pt x="5" y="8"/>
                </a:lnTo>
                <a:lnTo>
                  <a:pt x="4" y="10"/>
                </a:lnTo>
                <a:lnTo>
                  <a:pt x="2" y="11"/>
                </a:lnTo>
                <a:lnTo>
                  <a:pt x="0" y="15"/>
                </a:lnTo>
                <a:lnTo>
                  <a:pt x="0" y="16"/>
                </a:lnTo>
                <a:lnTo>
                  <a:pt x="4" y="18"/>
                </a:lnTo>
                <a:lnTo>
                  <a:pt x="5" y="16"/>
                </a:lnTo>
                <a:lnTo>
                  <a:pt x="7" y="13"/>
                </a:lnTo>
                <a:lnTo>
                  <a:pt x="9" y="11"/>
                </a:lnTo>
                <a:lnTo>
                  <a:pt x="10" y="8"/>
                </a:lnTo>
                <a:lnTo>
                  <a:pt x="12" y="6"/>
                </a:lnTo>
                <a:lnTo>
                  <a:pt x="14" y="5"/>
                </a:lnTo>
                <a:lnTo>
                  <a:pt x="15" y="1"/>
                </a:lnTo>
                <a:lnTo>
                  <a:pt x="17" y="0"/>
                </a:lnTo>
                <a:lnTo>
                  <a:pt x="12"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25" name="Freeform 2430">
            <a:extLst>
              <a:ext uri="{FF2B5EF4-FFF2-40B4-BE49-F238E27FC236}">
                <a16:creationId xmlns:a16="http://schemas.microsoft.com/office/drawing/2014/main" id="{4A3D6C5C-741F-271E-D393-D458AAF53ABA}"/>
              </a:ext>
            </a:extLst>
          </p:cNvPr>
          <p:cNvSpPr>
            <a:spLocks/>
          </p:cNvSpPr>
          <p:nvPr/>
        </p:nvSpPr>
        <p:spPr bwMode="auto">
          <a:xfrm>
            <a:off x="2705100" y="2403475"/>
            <a:ext cx="28575" cy="31750"/>
          </a:xfrm>
          <a:custGeom>
            <a:avLst/>
            <a:gdLst>
              <a:gd name="T0" fmla="*/ 13 w 18"/>
              <a:gd name="T1" fmla="*/ 0 h 20"/>
              <a:gd name="T2" fmla="*/ 10 w 18"/>
              <a:gd name="T3" fmla="*/ 1 h 20"/>
              <a:gd name="T4" fmla="*/ 8 w 18"/>
              <a:gd name="T5" fmla="*/ 3 h 20"/>
              <a:gd name="T6" fmla="*/ 7 w 18"/>
              <a:gd name="T7" fmla="*/ 6 h 20"/>
              <a:gd name="T8" fmla="*/ 5 w 18"/>
              <a:gd name="T9" fmla="*/ 8 h 20"/>
              <a:gd name="T10" fmla="*/ 5 w 18"/>
              <a:gd name="T11" fmla="*/ 10 h 20"/>
              <a:gd name="T12" fmla="*/ 3 w 18"/>
              <a:gd name="T13" fmla="*/ 13 h 20"/>
              <a:gd name="T14" fmla="*/ 2 w 18"/>
              <a:gd name="T15" fmla="*/ 15 h 20"/>
              <a:gd name="T16" fmla="*/ 0 w 18"/>
              <a:gd name="T17" fmla="*/ 18 h 20"/>
              <a:gd name="T18" fmla="*/ 3 w 18"/>
              <a:gd name="T19" fmla="*/ 20 h 20"/>
              <a:gd name="T20" fmla="*/ 5 w 18"/>
              <a:gd name="T21" fmla="*/ 16 h 20"/>
              <a:gd name="T22" fmla="*/ 7 w 18"/>
              <a:gd name="T23" fmla="*/ 15 h 20"/>
              <a:gd name="T24" fmla="*/ 8 w 18"/>
              <a:gd name="T25" fmla="*/ 11 h 20"/>
              <a:gd name="T26" fmla="*/ 12 w 18"/>
              <a:gd name="T27" fmla="*/ 10 h 20"/>
              <a:gd name="T28" fmla="*/ 13 w 18"/>
              <a:gd name="T29" fmla="*/ 6 h 20"/>
              <a:gd name="T30" fmla="*/ 15 w 18"/>
              <a:gd name="T31" fmla="*/ 5 h 20"/>
              <a:gd name="T32" fmla="*/ 16 w 18"/>
              <a:gd name="T33" fmla="*/ 1 h 20"/>
              <a:gd name="T34" fmla="*/ 18 w 18"/>
              <a:gd name="T35" fmla="*/ 0 h 20"/>
              <a:gd name="T36" fmla="*/ 13 w 18"/>
              <a:gd name="T37" fmla="*/ 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20">
                <a:moveTo>
                  <a:pt x="13" y="0"/>
                </a:moveTo>
                <a:lnTo>
                  <a:pt x="10" y="1"/>
                </a:lnTo>
                <a:lnTo>
                  <a:pt x="8" y="3"/>
                </a:lnTo>
                <a:lnTo>
                  <a:pt x="7" y="6"/>
                </a:lnTo>
                <a:lnTo>
                  <a:pt x="5" y="8"/>
                </a:lnTo>
                <a:lnTo>
                  <a:pt x="5" y="10"/>
                </a:lnTo>
                <a:lnTo>
                  <a:pt x="3" y="13"/>
                </a:lnTo>
                <a:lnTo>
                  <a:pt x="2" y="15"/>
                </a:lnTo>
                <a:lnTo>
                  <a:pt x="0" y="18"/>
                </a:lnTo>
                <a:lnTo>
                  <a:pt x="3" y="20"/>
                </a:lnTo>
                <a:lnTo>
                  <a:pt x="5" y="16"/>
                </a:lnTo>
                <a:lnTo>
                  <a:pt x="7" y="15"/>
                </a:lnTo>
                <a:lnTo>
                  <a:pt x="8" y="11"/>
                </a:lnTo>
                <a:lnTo>
                  <a:pt x="12" y="10"/>
                </a:lnTo>
                <a:lnTo>
                  <a:pt x="13" y="6"/>
                </a:lnTo>
                <a:lnTo>
                  <a:pt x="15" y="5"/>
                </a:lnTo>
                <a:lnTo>
                  <a:pt x="16" y="1"/>
                </a:lnTo>
                <a:lnTo>
                  <a:pt x="18" y="0"/>
                </a:lnTo>
                <a:lnTo>
                  <a:pt x="13"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26" name="Freeform 2431">
            <a:extLst>
              <a:ext uri="{FF2B5EF4-FFF2-40B4-BE49-F238E27FC236}">
                <a16:creationId xmlns:a16="http://schemas.microsoft.com/office/drawing/2014/main" id="{E166D715-4C61-EF8E-5D12-276A99A35FCC}"/>
              </a:ext>
            </a:extLst>
          </p:cNvPr>
          <p:cNvSpPr>
            <a:spLocks/>
          </p:cNvSpPr>
          <p:nvPr/>
        </p:nvSpPr>
        <p:spPr bwMode="auto">
          <a:xfrm>
            <a:off x="2708275" y="2403475"/>
            <a:ext cx="30163" cy="33338"/>
          </a:xfrm>
          <a:custGeom>
            <a:avLst/>
            <a:gdLst>
              <a:gd name="T0" fmla="*/ 13 w 19"/>
              <a:gd name="T1" fmla="*/ 0 h 21"/>
              <a:gd name="T2" fmla="*/ 11 w 19"/>
              <a:gd name="T3" fmla="*/ 1 h 21"/>
              <a:gd name="T4" fmla="*/ 10 w 19"/>
              <a:gd name="T5" fmla="*/ 5 h 21"/>
              <a:gd name="T6" fmla="*/ 8 w 19"/>
              <a:gd name="T7" fmla="*/ 6 h 21"/>
              <a:gd name="T8" fmla="*/ 6 w 19"/>
              <a:gd name="T9" fmla="*/ 8 h 21"/>
              <a:gd name="T10" fmla="*/ 5 w 19"/>
              <a:gd name="T11" fmla="*/ 11 h 21"/>
              <a:gd name="T12" fmla="*/ 3 w 19"/>
              <a:gd name="T13" fmla="*/ 13 h 21"/>
              <a:gd name="T14" fmla="*/ 1 w 19"/>
              <a:gd name="T15" fmla="*/ 16 h 21"/>
              <a:gd name="T16" fmla="*/ 0 w 19"/>
              <a:gd name="T17" fmla="*/ 18 h 21"/>
              <a:gd name="T18" fmla="*/ 5 w 19"/>
              <a:gd name="T19" fmla="*/ 21 h 21"/>
              <a:gd name="T20" fmla="*/ 6 w 19"/>
              <a:gd name="T21" fmla="*/ 18 h 21"/>
              <a:gd name="T22" fmla="*/ 8 w 19"/>
              <a:gd name="T23" fmla="*/ 15 h 21"/>
              <a:gd name="T24" fmla="*/ 10 w 19"/>
              <a:gd name="T25" fmla="*/ 13 h 21"/>
              <a:gd name="T26" fmla="*/ 11 w 19"/>
              <a:gd name="T27" fmla="*/ 10 h 21"/>
              <a:gd name="T28" fmla="*/ 13 w 19"/>
              <a:gd name="T29" fmla="*/ 8 h 21"/>
              <a:gd name="T30" fmla="*/ 16 w 19"/>
              <a:gd name="T31" fmla="*/ 5 h 21"/>
              <a:gd name="T32" fmla="*/ 18 w 19"/>
              <a:gd name="T33" fmla="*/ 1 h 21"/>
              <a:gd name="T34" fmla="*/ 19 w 19"/>
              <a:gd name="T35" fmla="*/ 0 h 21"/>
              <a:gd name="T36" fmla="*/ 13 w 19"/>
              <a:gd name="T37" fmla="*/ 0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9" h="21">
                <a:moveTo>
                  <a:pt x="13" y="0"/>
                </a:moveTo>
                <a:lnTo>
                  <a:pt x="11" y="1"/>
                </a:lnTo>
                <a:lnTo>
                  <a:pt x="10" y="5"/>
                </a:lnTo>
                <a:lnTo>
                  <a:pt x="8" y="6"/>
                </a:lnTo>
                <a:lnTo>
                  <a:pt x="6" y="8"/>
                </a:lnTo>
                <a:lnTo>
                  <a:pt x="5" y="11"/>
                </a:lnTo>
                <a:lnTo>
                  <a:pt x="3" y="13"/>
                </a:lnTo>
                <a:lnTo>
                  <a:pt x="1" y="16"/>
                </a:lnTo>
                <a:lnTo>
                  <a:pt x="0" y="18"/>
                </a:lnTo>
                <a:lnTo>
                  <a:pt x="5" y="21"/>
                </a:lnTo>
                <a:lnTo>
                  <a:pt x="6" y="18"/>
                </a:lnTo>
                <a:lnTo>
                  <a:pt x="8" y="15"/>
                </a:lnTo>
                <a:lnTo>
                  <a:pt x="10" y="13"/>
                </a:lnTo>
                <a:lnTo>
                  <a:pt x="11" y="10"/>
                </a:lnTo>
                <a:lnTo>
                  <a:pt x="13" y="8"/>
                </a:lnTo>
                <a:lnTo>
                  <a:pt x="16" y="5"/>
                </a:lnTo>
                <a:lnTo>
                  <a:pt x="18" y="1"/>
                </a:lnTo>
                <a:lnTo>
                  <a:pt x="19" y="0"/>
                </a:lnTo>
                <a:lnTo>
                  <a:pt x="13"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27" name="Freeform 2432">
            <a:extLst>
              <a:ext uri="{FF2B5EF4-FFF2-40B4-BE49-F238E27FC236}">
                <a16:creationId xmlns:a16="http://schemas.microsoft.com/office/drawing/2014/main" id="{4F6C9F7F-F2A8-4F1A-44E6-5873069F024F}"/>
              </a:ext>
            </a:extLst>
          </p:cNvPr>
          <p:cNvSpPr>
            <a:spLocks/>
          </p:cNvSpPr>
          <p:nvPr/>
        </p:nvSpPr>
        <p:spPr bwMode="auto">
          <a:xfrm>
            <a:off x="2709863" y="2403475"/>
            <a:ext cx="34925" cy="36513"/>
          </a:xfrm>
          <a:custGeom>
            <a:avLst/>
            <a:gdLst>
              <a:gd name="T0" fmla="*/ 15 w 22"/>
              <a:gd name="T1" fmla="*/ 0 h 23"/>
              <a:gd name="T2" fmla="*/ 13 w 22"/>
              <a:gd name="T3" fmla="*/ 1 h 23"/>
              <a:gd name="T4" fmla="*/ 12 w 22"/>
              <a:gd name="T5" fmla="*/ 5 h 23"/>
              <a:gd name="T6" fmla="*/ 10 w 22"/>
              <a:gd name="T7" fmla="*/ 6 h 23"/>
              <a:gd name="T8" fmla="*/ 9 w 22"/>
              <a:gd name="T9" fmla="*/ 10 h 23"/>
              <a:gd name="T10" fmla="*/ 5 w 22"/>
              <a:gd name="T11" fmla="*/ 11 h 23"/>
              <a:gd name="T12" fmla="*/ 4 w 22"/>
              <a:gd name="T13" fmla="*/ 15 h 23"/>
              <a:gd name="T14" fmla="*/ 2 w 22"/>
              <a:gd name="T15" fmla="*/ 16 h 23"/>
              <a:gd name="T16" fmla="*/ 0 w 22"/>
              <a:gd name="T17" fmla="*/ 20 h 23"/>
              <a:gd name="T18" fmla="*/ 5 w 22"/>
              <a:gd name="T19" fmla="*/ 23 h 23"/>
              <a:gd name="T20" fmla="*/ 7 w 22"/>
              <a:gd name="T21" fmla="*/ 20 h 23"/>
              <a:gd name="T22" fmla="*/ 9 w 22"/>
              <a:gd name="T23" fmla="*/ 16 h 23"/>
              <a:gd name="T24" fmla="*/ 10 w 22"/>
              <a:gd name="T25" fmla="*/ 13 h 23"/>
              <a:gd name="T26" fmla="*/ 13 w 22"/>
              <a:gd name="T27" fmla="*/ 10 h 23"/>
              <a:gd name="T28" fmla="*/ 15 w 22"/>
              <a:gd name="T29" fmla="*/ 8 h 23"/>
              <a:gd name="T30" fmla="*/ 17 w 22"/>
              <a:gd name="T31" fmla="*/ 5 h 23"/>
              <a:gd name="T32" fmla="*/ 20 w 22"/>
              <a:gd name="T33" fmla="*/ 1 h 23"/>
              <a:gd name="T34" fmla="*/ 22 w 22"/>
              <a:gd name="T35" fmla="*/ 0 h 23"/>
              <a:gd name="T36" fmla="*/ 15 w 22"/>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3">
                <a:moveTo>
                  <a:pt x="15" y="0"/>
                </a:moveTo>
                <a:lnTo>
                  <a:pt x="13" y="1"/>
                </a:lnTo>
                <a:lnTo>
                  <a:pt x="12" y="5"/>
                </a:lnTo>
                <a:lnTo>
                  <a:pt x="10" y="6"/>
                </a:lnTo>
                <a:lnTo>
                  <a:pt x="9" y="10"/>
                </a:lnTo>
                <a:lnTo>
                  <a:pt x="5" y="11"/>
                </a:lnTo>
                <a:lnTo>
                  <a:pt x="4" y="15"/>
                </a:lnTo>
                <a:lnTo>
                  <a:pt x="2" y="16"/>
                </a:lnTo>
                <a:lnTo>
                  <a:pt x="0" y="20"/>
                </a:lnTo>
                <a:lnTo>
                  <a:pt x="5" y="23"/>
                </a:lnTo>
                <a:lnTo>
                  <a:pt x="7" y="20"/>
                </a:lnTo>
                <a:lnTo>
                  <a:pt x="9" y="16"/>
                </a:lnTo>
                <a:lnTo>
                  <a:pt x="10" y="13"/>
                </a:lnTo>
                <a:lnTo>
                  <a:pt x="13" y="10"/>
                </a:lnTo>
                <a:lnTo>
                  <a:pt x="15" y="8"/>
                </a:lnTo>
                <a:lnTo>
                  <a:pt x="17" y="5"/>
                </a:lnTo>
                <a:lnTo>
                  <a:pt x="20" y="1"/>
                </a:lnTo>
                <a:lnTo>
                  <a:pt x="22" y="0"/>
                </a:lnTo>
                <a:lnTo>
                  <a:pt x="15" y="0"/>
                </a:lnTo>
                <a:close/>
              </a:path>
            </a:pathLst>
          </a:custGeom>
          <a:solidFill>
            <a:srgbClr val="DFEF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28" name="Freeform 2433">
            <a:extLst>
              <a:ext uri="{FF2B5EF4-FFF2-40B4-BE49-F238E27FC236}">
                <a16:creationId xmlns:a16="http://schemas.microsoft.com/office/drawing/2014/main" id="{FA9A91E9-A975-94F6-835B-587520C02DBE}"/>
              </a:ext>
            </a:extLst>
          </p:cNvPr>
          <p:cNvSpPr>
            <a:spLocks/>
          </p:cNvSpPr>
          <p:nvPr/>
        </p:nvSpPr>
        <p:spPr bwMode="auto">
          <a:xfrm>
            <a:off x="2716213" y="2403475"/>
            <a:ext cx="33338" cy="36513"/>
          </a:xfrm>
          <a:custGeom>
            <a:avLst/>
            <a:gdLst>
              <a:gd name="T0" fmla="*/ 14 w 21"/>
              <a:gd name="T1" fmla="*/ 0 h 23"/>
              <a:gd name="T2" fmla="*/ 13 w 21"/>
              <a:gd name="T3" fmla="*/ 1 h 23"/>
              <a:gd name="T4" fmla="*/ 11 w 21"/>
              <a:gd name="T5" fmla="*/ 5 h 23"/>
              <a:gd name="T6" fmla="*/ 8 w 21"/>
              <a:gd name="T7" fmla="*/ 8 h 23"/>
              <a:gd name="T8" fmla="*/ 6 w 21"/>
              <a:gd name="T9" fmla="*/ 10 h 23"/>
              <a:gd name="T10" fmla="*/ 5 w 21"/>
              <a:gd name="T11" fmla="*/ 13 h 23"/>
              <a:gd name="T12" fmla="*/ 3 w 21"/>
              <a:gd name="T13" fmla="*/ 15 h 23"/>
              <a:gd name="T14" fmla="*/ 1 w 21"/>
              <a:gd name="T15" fmla="*/ 18 h 23"/>
              <a:gd name="T16" fmla="*/ 0 w 21"/>
              <a:gd name="T17" fmla="*/ 21 h 23"/>
              <a:gd name="T18" fmla="*/ 3 w 21"/>
              <a:gd name="T19" fmla="*/ 23 h 23"/>
              <a:gd name="T20" fmla="*/ 5 w 21"/>
              <a:gd name="T21" fmla="*/ 20 h 23"/>
              <a:gd name="T22" fmla="*/ 8 w 21"/>
              <a:gd name="T23" fmla="*/ 18 h 23"/>
              <a:gd name="T24" fmla="*/ 9 w 21"/>
              <a:gd name="T25" fmla="*/ 15 h 23"/>
              <a:gd name="T26" fmla="*/ 11 w 21"/>
              <a:gd name="T27" fmla="*/ 11 h 23"/>
              <a:gd name="T28" fmla="*/ 14 w 21"/>
              <a:gd name="T29" fmla="*/ 8 h 23"/>
              <a:gd name="T30" fmla="*/ 16 w 21"/>
              <a:gd name="T31" fmla="*/ 5 h 23"/>
              <a:gd name="T32" fmla="*/ 19 w 21"/>
              <a:gd name="T33" fmla="*/ 3 h 23"/>
              <a:gd name="T34" fmla="*/ 21 w 21"/>
              <a:gd name="T35" fmla="*/ 0 h 23"/>
              <a:gd name="T36" fmla="*/ 14 w 21"/>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1" h="23">
                <a:moveTo>
                  <a:pt x="14" y="0"/>
                </a:moveTo>
                <a:lnTo>
                  <a:pt x="13" y="1"/>
                </a:lnTo>
                <a:lnTo>
                  <a:pt x="11" y="5"/>
                </a:lnTo>
                <a:lnTo>
                  <a:pt x="8" y="8"/>
                </a:lnTo>
                <a:lnTo>
                  <a:pt x="6" y="10"/>
                </a:lnTo>
                <a:lnTo>
                  <a:pt x="5" y="13"/>
                </a:lnTo>
                <a:lnTo>
                  <a:pt x="3" y="15"/>
                </a:lnTo>
                <a:lnTo>
                  <a:pt x="1" y="18"/>
                </a:lnTo>
                <a:lnTo>
                  <a:pt x="0" y="21"/>
                </a:lnTo>
                <a:lnTo>
                  <a:pt x="3" y="23"/>
                </a:lnTo>
                <a:lnTo>
                  <a:pt x="5" y="20"/>
                </a:lnTo>
                <a:lnTo>
                  <a:pt x="8" y="18"/>
                </a:lnTo>
                <a:lnTo>
                  <a:pt x="9" y="15"/>
                </a:lnTo>
                <a:lnTo>
                  <a:pt x="11" y="11"/>
                </a:lnTo>
                <a:lnTo>
                  <a:pt x="14" y="8"/>
                </a:lnTo>
                <a:lnTo>
                  <a:pt x="16" y="5"/>
                </a:lnTo>
                <a:lnTo>
                  <a:pt x="19" y="3"/>
                </a:lnTo>
                <a:lnTo>
                  <a:pt x="21" y="0"/>
                </a:lnTo>
                <a:lnTo>
                  <a:pt x="14"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29" name="Freeform 2434">
            <a:extLst>
              <a:ext uri="{FF2B5EF4-FFF2-40B4-BE49-F238E27FC236}">
                <a16:creationId xmlns:a16="http://schemas.microsoft.com/office/drawing/2014/main" id="{056FE433-F7B8-E645-D13F-1BA8FB2377AB}"/>
              </a:ext>
            </a:extLst>
          </p:cNvPr>
          <p:cNvSpPr>
            <a:spLocks/>
          </p:cNvSpPr>
          <p:nvPr/>
        </p:nvSpPr>
        <p:spPr bwMode="auto">
          <a:xfrm>
            <a:off x="2717800" y="2403475"/>
            <a:ext cx="36513" cy="39688"/>
          </a:xfrm>
          <a:custGeom>
            <a:avLst/>
            <a:gdLst>
              <a:gd name="T0" fmla="*/ 17 w 23"/>
              <a:gd name="T1" fmla="*/ 0 h 25"/>
              <a:gd name="T2" fmla="*/ 15 w 23"/>
              <a:gd name="T3" fmla="*/ 1 h 25"/>
              <a:gd name="T4" fmla="*/ 12 w 23"/>
              <a:gd name="T5" fmla="*/ 5 h 25"/>
              <a:gd name="T6" fmla="*/ 10 w 23"/>
              <a:gd name="T7" fmla="*/ 8 h 25"/>
              <a:gd name="T8" fmla="*/ 8 w 23"/>
              <a:gd name="T9" fmla="*/ 10 h 25"/>
              <a:gd name="T10" fmla="*/ 5 w 23"/>
              <a:gd name="T11" fmla="*/ 13 h 25"/>
              <a:gd name="T12" fmla="*/ 4 w 23"/>
              <a:gd name="T13" fmla="*/ 16 h 25"/>
              <a:gd name="T14" fmla="*/ 2 w 23"/>
              <a:gd name="T15" fmla="*/ 20 h 25"/>
              <a:gd name="T16" fmla="*/ 0 w 23"/>
              <a:gd name="T17" fmla="*/ 23 h 25"/>
              <a:gd name="T18" fmla="*/ 4 w 23"/>
              <a:gd name="T19" fmla="*/ 25 h 25"/>
              <a:gd name="T20" fmla="*/ 7 w 23"/>
              <a:gd name="T21" fmla="*/ 21 h 25"/>
              <a:gd name="T22" fmla="*/ 8 w 23"/>
              <a:gd name="T23" fmla="*/ 18 h 25"/>
              <a:gd name="T24" fmla="*/ 10 w 23"/>
              <a:gd name="T25" fmla="*/ 15 h 25"/>
              <a:gd name="T26" fmla="*/ 13 w 23"/>
              <a:gd name="T27" fmla="*/ 11 h 25"/>
              <a:gd name="T28" fmla="*/ 15 w 23"/>
              <a:gd name="T29" fmla="*/ 8 h 25"/>
              <a:gd name="T30" fmla="*/ 18 w 23"/>
              <a:gd name="T31" fmla="*/ 5 h 25"/>
              <a:gd name="T32" fmla="*/ 22 w 23"/>
              <a:gd name="T33" fmla="*/ 3 h 25"/>
              <a:gd name="T34" fmla="*/ 23 w 23"/>
              <a:gd name="T35" fmla="*/ 0 h 25"/>
              <a:gd name="T36" fmla="*/ 17 w 23"/>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 h="25">
                <a:moveTo>
                  <a:pt x="17" y="0"/>
                </a:moveTo>
                <a:lnTo>
                  <a:pt x="15" y="1"/>
                </a:lnTo>
                <a:lnTo>
                  <a:pt x="12" y="5"/>
                </a:lnTo>
                <a:lnTo>
                  <a:pt x="10" y="8"/>
                </a:lnTo>
                <a:lnTo>
                  <a:pt x="8" y="10"/>
                </a:lnTo>
                <a:lnTo>
                  <a:pt x="5" y="13"/>
                </a:lnTo>
                <a:lnTo>
                  <a:pt x="4" y="16"/>
                </a:lnTo>
                <a:lnTo>
                  <a:pt x="2" y="20"/>
                </a:lnTo>
                <a:lnTo>
                  <a:pt x="0" y="23"/>
                </a:lnTo>
                <a:lnTo>
                  <a:pt x="4" y="25"/>
                </a:lnTo>
                <a:lnTo>
                  <a:pt x="7" y="21"/>
                </a:lnTo>
                <a:lnTo>
                  <a:pt x="8" y="18"/>
                </a:lnTo>
                <a:lnTo>
                  <a:pt x="10" y="15"/>
                </a:lnTo>
                <a:lnTo>
                  <a:pt x="13" y="11"/>
                </a:lnTo>
                <a:lnTo>
                  <a:pt x="15" y="8"/>
                </a:lnTo>
                <a:lnTo>
                  <a:pt x="18" y="5"/>
                </a:lnTo>
                <a:lnTo>
                  <a:pt x="22" y="3"/>
                </a:lnTo>
                <a:lnTo>
                  <a:pt x="23" y="0"/>
                </a:lnTo>
                <a:lnTo>
                  <a:pt x="17"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30" name="Freeform 2435">
            <a:extLst>
              <a:ext uri="{FF2B5EF4-FFF2-40B4-BE49-F238E27FC236}">
                <a16:creationId xmlns:a16="http://schemas.microsoft.com/office/drawing/2014/main" id="{7BA2C118-0A36-6DA0-6F51-EA40CCC1D2FC}"/>
              </a:ext>
            </a:extLst>
          </p:cNvPr>
          <p:cNvSpPr>
            <a:spLocks/>
          </p:cNvSpPr>
          <p:nvPr/>
        </p:nvSpPr>
        <p:spPr bwMode="auto">
          <a:xfrm>
            <a:off x="2720975" y="2403475"/>
            <a:ext cx="39688" cy="41275"/>
          </a:xfrm>
          <a:custGeom>
            <a:avLst/>
            <a:gdLst>
              <a:gd name="T0" fmla="*/ 18 w 25"/>
              <a:gd name="T1" fmla="*/ 0 h 26"/>
              <a:gd name="T2" fmla="*/ 16 w 25"/>
              <a:gd name="T3" fmla="*/ 3 h 26"/>
              <a:gd name="T4" fmla="*/ 13 w 25"/>
              <a:gd name="T5" fmla="*/ 5 h 26"/>
              <a:gd name="T6" fmla="*/ 11 w 25"/>
              <a:gd name="T7" fmla="*/ 8 h 26"/>
              <a:gd name="T8" fmla="*/ 8 w 25"/>
              <a:gd name="T9" fmla="*/ 11 h 26"/>
              <a:gd name="T10" fmla="*/ 6 w 25"/>
              <a:gd name="T11" fmla="*/ 15 h 26"/>
              <a:gd name="T12" fmla="*/ 5 w 25"/>
              <a:gd name="T13" fmla="*/ 18 h 26"/>
              <a:gd name="T14" fmla="*/ 2 w 25"/>
              <a:gd name="T15" fmla="*/ 20 h 26"/>
              <a:gd name="T16" fmla="*/ 0 w 25"/>
              <a:gd name="T17" fmla="*/ 23 h 26"/>
              <a:gd name="T18" fmla="*/ 3 w 25"/>
              <a:gd name="T19" fmla="*/ 26 h 26"/>
              <a:gd name="T20" fmla="*/ 6 w 25"/>
              <a:gd name="T21" fmla="*/ 23 h 26"/>
              <a:gd name="T22" fmla="*/ 8 w 25"/>
              <a:gd name="T23" fmla="*/ 20 h 26"/>
              <a:gd name="T24" fmla="*/ 11 w 25"/>
              <a:gd name="T25" fmla="*/ 16 h 26"/>
              <a:gd name="T26" fmla="*/ 13 w 25"/>
              <a:gd name="T27" fmla="*/ 13 h 26"/>
              <a:gd name="T28" fmla="*/ 16 w 25"/>
              <a:gd name="T29" fmla="*/ 10 h 26"/>
              <a:gd name="T30" fmla="*/ 20 w 25"/>
              <a:gd name="T31" fmla="*/ 6 h 26"/>
              <a:gd name="T32" fmla="*/ 21 w 25"/>
              <a:gd name="T33" fmla="*/ 3 h 26"/>
              <a:gd name="T34" fmla="*/ 25 w 25"/>
              <a:gd name="T35" fmla="*/ 0 h 26"/>
              <a:gd name="T36" fmla="*/ 18 w 25"/>
              <a:gd name="T37" fmla="*/ 0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 h="26">
                <a:moveTo>
                  <a:pt x="18" y="0"/>
                </a:moveTo>
                <a:lnTo>
                  <a:pt x="16" y="3"/>
                </a:lnTo>
                <a:lnTo>
                  <a:pt x="13" y="5"/>
                </a:lnTo>
                <a:lnTo>
                  <a:pt x="11" y="8"/>
                </a:lnTo>
                <a:lnTo>
                  <a:pt x="8" y="11"/>
                </a:lnTo>
                <a:lnTo>
                  <a:pt x="6" y="15"/>
                </a:lnTo>
                <a:lnTo>
                  <a:pt x="5" y="18"/>
                </a:lnTo>
                <a:lnTo>
                  <a:pt x="2" y="20"/>
                </a:lnTo>
                <a:lnTo>
                  <a:pt x="0" y="23"/>
                </a:lnTo>
                <a:lnTo>
                  <a:pt x="3" y="26"/>
                </a:lnTo>
                <a:lnTo>
                  <a:pt x="6" y="23"/>
                </a:lnTo>
                <a:lnTo>
                  <a:pt x="8" y="20"/>
                </a:lnTo>
                <a:lnTo>
                  <a:pt x="11" y="16"/>
                </a:lnTo>
                <a:lnTo>
                  <a:pt x="13" y="13"/>
                </a:lnTo>
                <a:lnTo>
                  <a:pt x="16" y="10"/>
                </a:lnTo>
                <a:lnTo>
                  <a:pt x="20" y="6"/>
                </a:lnTo>
                <a:lnTo>
                  <a:pt x="21" y="3"/>
                </a:lnTo>
                <a:lnTo>
                  <a:pt x="25" y="0"/>
                </a:lnTo>
                <a:lnTo>
                  <a:pt x="18"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31" name="Freeform 2436">
            <a:extLst>
              <a:ext uri="{FF2B5EF4-FFF2-40B4-BE49-F238E27FC236}">
                <a16:creationId xmlns:a16="http://schemas.microsoft.com/office/drawing/2014/main" id="{20DB775D-6FD4-ED14-F69B-9EDE0AE277A4}"/>
              </a:ext>
            </a:extLst>
          </p:cNvPr>
          <p:cNvSpPr>
            <a:spLocks/>
          </p:cNvSpPr>
          <p:nvPr/>
        </p:nvSpPr>
        <p:spPr bwMode="auto">
          <a:xfrm>
            <a:off x="2724150" y="2403475"/>
            <a:ext cx="38100" cy="44450"/>
          </a:xfrm>
          <a:custGeom>
            <a:avLst/>
            <a:gdLst>
              <a:gd name="T0" fmla="*/ 19 w 24"/>
              <a:gd name="T1" fmla="*/ 0 h 28"/>
              <a:gd name="T2" fmla="*/ 18 w 24"/>
              <a:gd name="T3" fmla="*/ 3 h 28"/>
              <a:gd name="T4" fmla="*/ 14 w 24"/>
              <a:gd name="T5" fmla="*/ 5 h 28"/>
              <a:gd name="T6" fmla="*/ 11 w 24"/>
              <a:gd name="T7" fmla="*/ 8 h 28"/>
              <a:gd name="T8" fmla="*/ 9 w 24"/>
              <a:gd name="T9" fmla="*/ 11 h 28"/>
              <a:gd name="T10" fmla="*/ 6 w 24"/>
              <a:gd name="T11" fmla="*/ 15 h 28"/>
              <a:gd name="T12" fmla="*/ 4 w 24"/>
              <a:gd name="T13" fmla="*/ 18 h 28"/>
              <a:gd name="T14" fmla="*/ 3 w 24"/>
              <a:gd name="T15" fmla="*/ 21 h 28"/>
              <a:gd name="T16" fmla="*/ 0 w 24"/>
              <a:gd name="T17" fmla="*/ 25 h 28"/>
              <a:gd name="T18" fmla="*/ 4 w 24"/>
              <a:gd name="T19" fmla="*/ 28 h 28"/>
              <a:gd name="T20" fmla="*/ 6 w 24"/>
              <a:gd name="T21" fmla="*/ 25 h 28"/>
              <a:gd name="T22" fmla="*/ 8 w 24"/>
              <a:gd name="T23" fmla="*/ 20 h 28"/>
              <a:gd name="T24" fmla="*/ 11 w 24"/>
              <a:gd name="T25" fmla="*/ 16 h 28"/>
              <a:gd name="T26" fmla="*/ 13 w 24"/>
              <a:gd name="T27" fmla="*/ 13 h 28"/>
              <a:gd name="T28" fmla="*/ 16 w 24"/>
              <a:gd name="T29" fmla="*/ 11 h 28"/>
              <a:gd name="T30" fmla="*/ 19 w 24"/>
              <a:gd name="T31" fmla="*/ 8 h 28"/>
              <a:gd name="T32" fmla="*/ 21 w 24"/>
              <a:gd name="T33" fmla="*/ 5 h 28"/>
              <a:gd name="T34" fmla="*/ 24 w 24"/>
              <a:gd name="T35" fmla="*/ 1 h 28"/>
              <a:gd name="T36" fmla="*/ 23 w 24"/>
              <a:gd name="T37" fmla="*/ 0 h 28"/>
              <a:gd name="T38" fmla="*/ 19 w 24"/>
              <a:gd name="T39"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 h="28">
                <a:moveTo>
                  <a:pt x="19" y="0"/>
                </a:moveTo>
                <a:lnTo>
                  <a:pt x="18" y="3"/>
                </a:lnTo>
                <a:lnTo>
                  <a:pt x="14" y="5"/>
                </a:lnTo>
                <a:lnTo>
                  <a:pt x="11" y="8"/>
                </a:lnTo>
                <a:lnTo>
                  <a:pt x="9" y="11"/>
                </a:lnTo>
                <a:lnTo>
                  <a:pt x="6" y="15"/>
                </a:lnTo>
                <a:lnTo>
                  <a:pt x="4" y="18"/>
                </a:lnTo>
                <a:lnTo>
                  <a:pt x="3" y="21"/>
                </a:lnTo>
                <a:lnTo>
                  <a:pt x="0" y="25"/>
                </a:lnTo>
                <a:lnTo>
                  <a:pt x="4" y="28"/>
                </a:lnTo>
                <a:lnTo>
                  <a:pt x="6" y="25"/>
                </a:lnTo>
                <a:lnTo>
                  <a:pt x="8" y="20"/>
                </a:lnTo>
                <a:lnTo>
                  <a:pt x="11" y="16"/>
                </a:lnTo>
                <a:lnTo>
                  <a:pt x="13" y="13"/>
                </a:lnTo>
                <a:lnTo>
                  <a:pt x="16" y="11"/>
                </a:lnTo>
                <a:lnTo>
                  <a:pt x="19" y="8"/>
                </a:lnTo>
                <a:lnTo>
                  <a:pt x="21" y="5"/>
                </a:lnTo>
                <a:lnTo>
                  <a:pt x="24" y="1"/>
                </a:lnTo>
                <a:lnTo>
                  <a:pt x="23" y="0"/>
                </a:lnTo>
                <a:lnTo>
                  <a:pt x="19"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32" name="Freeform 2437">
            <a:extLst>
              <a:ext uri="{FF2B5EF4-FFF2-40B4-BE49-F238E27FC236}">
                <a16:creationId xmlns:a16="http://schemas.microsoft.com/office/drawing/2014/main" id="{DEE4126D-9265-3B58-BE46-E9641733AC44}"/>
              </a:ext>
            </a:extLst>
          </p:cNvPr>
          <p:cNvSpPr>
            <a:spLocks/>
          </p:cNvSpPr>
          <p:nvPr/>
        </p:nvSpPr>
        <p:spPr bwMode="auto">
          <a:xfrm>
            <a:off x="2725738" y="2403475"/>
            <a:ext cx="39688" cy="44450"/>
          </a:xfrm>
          <a:custGeom>
            <a:avLst/>
            <a:gdLst>
              <a:gd name="T0" fmla="*/ 22 w 25"/>
              <a:gd name="T1" fmla="*/ 0 h 28"/>
              <a:gd name="T2" fmla="*/ 18 w 25"/>
              <a:gd name="T3" fmla="*/ 3 h 28"/>
              <a:gd name="T4" fmla="*/ 17 w 25"/>
              <a:gd name="T5" fmla="*/ 6 h 28"/>
              <a:gd name="T6" fmla="*/ 13 w 25"/>
              <a:gd name="T7" fmla="*/ 10 h 28"/>
              <a:gd name="T8" fmla="*/ 10 w 25"/>
              <a:gd name="T9" fmla="*/ 13 h 28"/>
              <a:gd name="T10" fmla="*/ 8 w 25"/>
              <a:gd name="T11" fmla="*/ 16 h 28"/>
              <a:gd name="T12" fmla="*/ 5 w 25"/>
              <a:gd name="T13" fmla="*/ 20 h 28"/>
              <a:gd name="T14" fmla="*/ 3 w 25"/>
              <a:gd name="T15" fmla="*/ 23 h 28"/>
              <a:gd name="T16" fmla="*/ 0 w 25"/>
              <a:gd name="T17" fmla="*/ 26 h 28"/>
              <a:gd name="T18" fmla="*/ 5 w 25"/>
              <a:gd name="T19" fmla="*/ 28 h 28"/>
              <a:gd name="T20" fmla="*/ 7 w 25"/>
              <a:gd name="T21" fmla="*/ 25 h 28"/>
              <a:gd name="T22" fmla="*/ 10 w 25"/>
              <a:gd name="T23" fmla="*/ 21 h 28"/>
              <a:gd name="T24" fmla="*/ 12 w 25"/>
              <a:gd name="T25" fmla="*/ 18 h 28"/>
              <a:gd name="T26" fmla="*/ 15 w 25"/>
              <a:gd name="T27" fmla="*/ 15 h 28"/>
              <a:gd name="T28" fmla="*/ 17 w 25"/>
              <a:gd name="T29" fmla="*/ 11 h 28"/>
              <a:gd name="T30" fmla="*/ 20 w 25"/>
              <a:gd name="T31" fmla="*/ 10 h 28"/>
              <a:gd name="T32" fmla="*/ 22 w 25"/>
              <a:gd name="T33" fmla="*/ 6 h 28"/>
              <a:gd name="T34" fmla="*/ 25 w 25"/>
              <a:gd name="T35" fmla="*/ 3 h 28"/>
              <a:gd name="T36" fmla="*/ 22 w 25"/>
              <a:gd name="T37"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 h="28">
                <a:moveTo>
                  <a:pt x="22" y="0"/>
                </a:moveTo>
                <a:lnTo>
                  <a:pt x="18" y="3"/>
                </a:lnTo>
                <a:lnTo>
                  <a:pt x="17" y="6"/>
                </a:lnTo>
                <a:lnTo>
                  <a:pt x="13" y="10"/>
                </a:lnTo>
                <a:lnTo>
                  <a:pt x="10" y="13"/>
                </a:lnTo>
                <a:lnTo>
                  <a:pt x="8" y="16"/>
                </a:lnTo>
                <a:lnTo>
                  <a:pt x="5" y="20"/>
                </a:lnTo>
                <a:lnTo>
                  <a:pt x="3" y="23"/>
                </a:lnTo>
                <a:lnTo>
                  <a:pt x="0" y="26"/>
                </a:lnTo>
                <a:lnTo>
                  <a:pt x="5" y="28"/>
                </a:lnTo>
                <a:lnTo>
                  <a:pt x="7" y="25"/>
                </a:lnTo>
                <a:lnTo>
                  <a:pt x="10" y="21"/>
                </a:lnTo>
                <a:lnTo>
                  <a:pt x="12" y="18"/>
                </a:lnTo>
                <a:lnTo>
                  <a:pt x="15" y="15"/>
                </a:lnTo>
                <a:lnTo>
                  <a:pt x="17" y="11"/>
                </a:lnTo>
                <a:lnTo>
                  <a:pt x="20" y="10"/>
                </a:lnTo>
                <a:lnTo>
                  <a:pt x="22" y="6"/>
                </a:lnTo>
                <a:lnTo>
                  <a:pt x="25" y="3"/>
                </a:lnTo>
                <a:lnTo>
                  <a:pt x="22"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33" name="Freeform 2438">
            <a:extLst>
              <a:ext uri="{FF2B5EF4-FFF2-40B4-BE49-F238E27FC236}">
                <a16:creationId xmlns:a16="http://schemas.microsoft.com/office/drawing/2014/main" id="{74DD193E-315C-B7CF-C812-B8BB7E8A7434}"/>
              </a:ext>
            </a:extLst>
          </p:cNvPr>
          <p:cNvSpPr>
            <a:spLocks/>
          </p:cNvSpPr>
          <p:nvPr/>
        </p:nvSpPr>
        <p:spPr bwMode="auto">
          <a:xfrm>
            <a:off x="2730500" y="2405063"/>
            <a:ext cx="38100" cy="46038"/>
          </a:xfrm>
          <a:custGeom>
            <a:avLst/>
            <a:gdLst>
              <a:gd name="T0" fmla="*/ 20 w 24"/>
              <a:gd name="T1" fmla="*/ 0 h 29"/>
              <a:gd name="T2" fmla="*/ 17 w 24"/>
              <a:gd name="T3" fmla="*/ 4 h 29"/>
              <a:gd name="T4" fmla="*/ 15 w 24"/>
              <a:gd name="T5" fmla="*/ 7 h 29"/>
              <a:gd name="T6" fmla="*/ 12 w 24"/>
              <a:gd name="T7" fmla="*/ 10 h 29"/>
              <a:gd name="T8" fmla="*/ 9 w 24"/>
              <a:gd name="T9" fmla="*/ 12 h 29"/>
              <a:gd name="T10" fmla="*/ 7 w 24"/>
              <a:gd name="T11" fmla="*/ 15 h 29"/>
              <a:gd name="T12" fmla="*/ 4 w 24"/>
              <a:gd name="T13" fmla="*/ 19 h 29"/>
              <a:gd name="T14" fmla="*/ 2 w 24"/>
              <a:gd name="T15" fmla="*/ 24 h 29"/>
              <a:gd name="T16" fmla="*/ 0 w 24"/>
              <a:gd name="T17" fmla="*/ 27 h 29"/>
              <a:gd name="T18" fmla="*/ 4 w 24"/>
              <a:gd name="T19" fmla="*/ 29 h 29"/>
              <a:gd name="T20" fmla="*/ 5 w 24"/>
              <a:gd name="T21" fmla="*/ 25 h 29"/>
              <a:gd name="T22" fmla="*/ 9 w 24"/>
              <a:gd name="T23" fmla="*/ 22 h 29"/>
              <a:gd name="T24" fmla="*/ 10 w 24"/>
              <a:gd name="T25" fmla="*/ 19 h 29"/>
              <a:gd name="T26" fmla="*/ 14 w 24"/>
              <a:gd name="T27" fmla="*/ 15 h 29"/>
              <a:gd name="T28" fmla="*/ 15 w 24"/>
              <a:gd name="T29" fmla="*/ 12 h 29"/>
              <a:gd name="T30" fmla="*/ 19 w 24"/>
              <a:gd name="T31" fmla="*/ 10 h 29"/>
              <a:gd name="T32" fmla="*/ 22 w 24"/>
              <a:gd name="T33" fmla="*/ 7 h 29"/>
              <a:gd name="T34" fmla="*/ 24 w 24"/>
              <a:gd name="T35" fmla="*/ 4 h 29"/>
              <a:gd name="T36" fmla="*/ 20 w 24"/>
              <a:gd name="T37" fmla="*/ 0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4" h="29">
                <a:moveTo>
                  <a:pt x="20" y="0"/>
                </a:moveTo>
                <a:lnTo>
                  <a:pt x="17" y="4"/>
                </a:lnTo>
                <a:lnTo>
                  <a:pt x="15" y="7"/>
                </a:lnTo>
                <a:lnTo>
                  <a:pt x="12" y="10"/>
                </a:lnTo>
                <a:lnTo>
                  <a:pt x="9" y="12"/>
                </a:lnTo>
                <a:lnTo>
                  <a:pt x="7" y="15"/>
                </a:lnTo>
                <a:lnTo>
                  <a:pt x="4" y="19"/>
                </a:lnTo>
                <a:lnTo>
                  <a:pt x="2" y="24"/>
                </a:lnTo>
                <a:lnTo>
                  <a:pt x="0" y="27"/>
                </a:lnTo>
                <a:lnTo>
                  <a:pt x="4" y="29"/>
                </a:lnTo>
                <a:lnTo>
                  <a:pt x="5" y="25"/>
                </a:lnTo>
                <a:lnTo>
                  <a:pt x="9" y="22"/>
                </a:lnTo>
                <a:lnTo>
                  <a:pt x="10" y="19"/>
                </a:lnTo>
                <a:lnTo>
                  <a:pt x="14" y="15"/>
                </a:lnTo>
                <a:lnTo>
                  <a:pt x="15" y="12"/>
                </a:lnTo>
                <a:lnTo>
                  <a:pt x="19" y="10"/>
                </a:lnTo>
                <a:lnTo>
                  <a:pt x="22" y="7"/>
                </a:lnTo>
                <a:lnTo>
                  <a:pt x="24" y="4"/>
                </a:lnTo>
                <a:lnTo>
                  <a:pt x="20"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34" name="Freeform 2439">
            <a:extLst>
              <a:ext uri="{FF2B5EF4-FFF2-40B4-BE49-F238E27FC236}">
                <a16:creationId xmlns:a16="http://schemas.microsoft.com/office/drawing/2014/main" id="{07F14A37-DB6B-727E-FED1-24FCF8BA9262}"/>
              </a:ext>
            </a:extLst>
          </p:cNvPr>
          <p:cNvSpPr>
            <a:spLocks/>
          </p:cNvSpPr>
          <p:nvPr/>
        </p:nvSpPr>
        <p:spPr bwMode="auto">
          <a:xfrm>
            <a:off x="2733675" y="2408238"/>
            <a:ext cx="36513" cy="44450"/>
          </a:xfrm>
          <a:custGeom>
            <a:avLst/>
            <a:gdLst>
              <a:gd name="T0" fmla="*/ 20 w 23"/>
              <a:gd name="T1" fmla="*/ 0 h 28"/>
              <a:gd name="T2" fmla="*/ 17 w 23"/>
              <a:gd name="T3" fmla="*/ 3 h 28"/>
              <a:gd name="T4" fmla="*/ 15 w 23"/>
              <a:gd name="T5" fmla="*/ 7 h 28"/>
              <a:gd name="T6" fmla="*/ 12 w 23"/>
              <a:gd name="T7" fmla="*/ 8 h 28"/>
              <a:gd name="T8" fmla="*/ 10 w 23"/>
              <a:gd name="T9" fmla="*/ 12 h 28"/>
              <a:gd name="T10" fmla="*/ 7 w 23"/>
              <a:gd name="T11" fmla="*/ 15 h 28"/>
              <a:gd name="T12" fmla="*/ 5 w 23"/>
              <a:gd name="T13" fmla="*/ 18 h 28"/>
              <a:gd name="T14" fmla="*/ 2 w 23"/>
              <a:gd name="T15" fmla="*/ 22 h 28"/>
              <a:gd name="T16" fmla="*/ 0 w 23"/>
              <a:gd name="T17" fmla="*/ 25 h 28"/>
              <a:gd name="T18" fmla="*/ 3 w 23"/>
              <a:gd name="T19" fmla="*/ 28 h 28"/>
              <a:gd name="T20" fmla="*/ 7 w 23"/>
              <a:gd name="T21" fmla="*/ 25 h 28"/>
              <a:gd name="T22" fmla="*/ 8 w 23"/>
              <a:gd name="T23" fmla="*/ 22 h 28"/>
              <a:gd name="T24" fmla="*/ 10 w 23"/>
              <a:gd name="T25" fmla="*/ 18 h 28"/>
              <a:gd name="T26" fmla="*/ 13 w 23"/>
              <a:gd name="T27" fmla="*/ 15 h 28"/>
              <a:gd name="T28" fmla="*/ 15 w 23"/>
              <a:gd name="T29" fmla="*/ 12 h 28"/>
              <a:gd name="T30" fmla="*/ 18 w 23"/>
              <a:gd name="T31" fmla="*/ 10 h 28"/>
              <a:gd name="T32" fmla="*/ 22 w 23"/>
              <a:gd name="T33" fmla="*/ 7 h 28"/>
              <a:gd name="T34" fmla="*/ 23 w 23"/>
              <a:gd name="T35" fmla="*/ 3 h 28"/>
              <a:gd name="T36" fmla="*/ 20 w 23"/>
              <a:gd name="T37"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 h="28">
                <a:moveTo>
                  <a:pt x="20" y="0"/>
                </a:moveTo>
                <a:lnTo>
                  <a:pt x="17" y="3"/>
                </a:lnTo>
                <a:lnTo>
                  <a:pt x="15" y="7"/>
                </a:lnTo>
                <a:lnTo>
                  <a:pt x="12" y="8"/>
                </a:lnTo>
                <a:lnTo>
                  <a:pt x="10" y="12"/>
                </a:lnTo>
                <a:lnTo>
                  <a:pt x="7" y="15"/>
                </a:lnTo>
                <a:lnTo>
                  <a:pt x="5" y="18"/>
                </a:lnTo>
                <a:lnTo>
                  <a:pt x="2" y="22"/>
                </a:lnTo>
                <a:lnTo>
                  <a:pt x="0" y="25"/>
                </a:lnTo>
                <a:lnTo>
                  <a:pt x="3" y="28"/>
                </a:lnTo>
                <a:lnTo>
                  <a:pt x="7" y="25"/>
                </a:lnTo>
                <a:lnTo>
                  <a:pt x="8" y="22"/>
                </a:lnTo>
                <a:lnTo>
                  <a:pt x="10" y="18"/>
                </a:lnTo>
                <a:lnTo>
                  <a:pt x="13" y="15"/>
                </a:lnTo>
                <a:lnTo>
                  <a:pt x="15" y="12"/>
                </a:lnTo>
                <a:lnTo>
                  <a:pt x="18" y="10"/>
                </a:lnTo>
                <a:lnTo>
                  <a:pt x="22" y="7"/>
                </a:lnTo>
                <a:lnTo>
                  <a:pt x="23" y="3"/>
                </a:lnTo>
                <a:lnTo>
                  <a:pt x="20"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35" name="Freeform 2440">
            <a:extLst>
              <a:ext uri="{FF2B5EF4-FFF2-40B4-BE49-F238E27FC236}">
                <a16:creationId xmlns:a16="http://schemas.microsoft.com/office/drawing/2014/main" id="{67DB63BD-7528-F1D0-B660-7E095A8269DD}"/>
              </a:ext>
            </a:extLst>
          </p:cNvPr>
          <p:cNvSpPr>
            <a:spLocks/>
          </p:cNvSpPr>
          <p:nvPr/>
        </p:nvSpPr>
        <p:spPr bwMode="auto">
          <a:xfrm>
            <a:off x="2736850" y="2411413"/>
            <a:ext cx="36513" cy="44450"/>
          </a:xfrm>
          <a:custGeom>
            <a:avLst/>
            <a:gdLst>
              <a:gd name="T0" fmla="*/ 20 w 23"/>
              <a:gd name="T1" fmla="*/ 0 h 28"/>
              <a:gd name="T2" fmla="*/ 18 w 23"/>
              <a:gd name="T3" fmla="*/ 3 h 28"/>
              <a:gd name="T4" fmla="*/ 15 w 23"/>
              <a:gd name="T5" fmla="*/ 6 h 28"/>
              <a:gd name="T6" fmla="*/ 11 w 23"/>
              <a:gd name="T7" fmla="*/ 8 h 28"/>
              <a:gd name="T8" fmla="*/ 10 w 23"/>
              <a:gd name="T9" fmla="*/ 11 h 28"/>
              <a:gd name="T10" fmla="*/ 6 w 23"/>
              <a:gd name="T11" fmla="*/ 15 h 28"/>
              <a:gd name="T12" fmla="*/ 5 w 23"/>
              <a:gd name="T13" fmla="*/ 18 h 28"/>
              <a:gd name="T14" fmla="*/ 1 w 23"/>
              <a:gd name="T15" fmla="*/ 21 h 28"/>
              <a:gd name="T16" fmla="*/ 0 w 23"/>
              <a:gd name="T17" fmla="*/ 25 h 28"/>
              <a:gd name="T18" fmla="*/ 5 w 23"/>
              <a:gd name="T19" fmla="*/ 28 h 28"/>
              <a:gd name="T20" fmla="*/ 6 w 23"/>
              <a:gd name="T21" fmla="*/ 25 h 28"/>
              <a:gd name="T22" fmla="*/ 8 w 23"/>
              <a:gd name="T23" fmla="*/ 21 h 28"/>
              <a:gd name="T24" fmla="*/ 11 w 23"/>
              <a:gd name="T25" fmla="*/ 18 h 28"/>
              <a:gd name="T26" fmla="*/ 13 w 23"/>
              <a:gd name="T27" fmla="*/ 15 h 28"/>
              <a:gd name="T28" fmla="*/ 15 w 23"/>
              <a:gd name="T29" fmla="*/ 11 h 28"/>
              <a:gd name="T30" fmla="*/ 18 w 23"/>
              <a:gd name="T31" fmla="*/ 8 h 28"/>
              <a:gd name="T32" fmla="*/ 21 w 23"/>
              <a:gd name="T33" fmla="*/ 6 h 28"/>
              <a:gd name="T34" fmla="*/ 23 w 23"/>
              <a:gd name="T35" fmla="*/ 3 h 28"/>
              <a:gd name="T36" fmla="*/ 20 w 23"/>
              <a:gd name="T37"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 h="28">
                <a:moveTo>
                  <a:pt x="20" y="0"/>
                </a:moveTo>
                <a:lnTo>
                  <a:pt x="18" y="3"/>
                </a:lnTo>
                <a:lnTo>
                  <a:pt x="15" y="6"/>
                </a:lnTo>
                <a:lnTo>
                  <a:pt x="11" y="8"/>
                </a:lnTo>
                <a:lnTo>
                  <a:pt x="10" y="11"/>
                </a:lnTo>
                <a:lnTo>
                  <a:pt x="6" y="15"/>
                </a:lnTo>
                <a:lnTo>
                  <a:pt x="5" y="18"/>
                </a:lnTo>
                <a:lnTo>
                  <a:pt x="1" y="21"/>
                </a:lnTo>
                <a:lnTo>
                  <a:pt x="0" y="25"/>
                </a:lnTo>
                <a:lnTo>
                  <a:pt x="5" y="28"/>
                </a:lnTo>
                <a:lnTo>
                  <a:pt x="6" y="25"/>
                </a:lnTo>
                <a:lnTo>
                  <a:pt x="8" y="21"/>
                </a:lnTo>
                <a:lnTo>
                  <a:pt x="11" y="18"/>
                </a:lnTo>
                <a:lnTo>
                  <a:pt x="13" y="15"/>
                </a:lnTo>
                <a:lnTo>
                  <a:pt x="15" y="11"/>
                </a:lnTo>
                <a:lnTo>
                  <a:pt x="18" y="8"/>
                </a:lnTo>
                <a:lnTo>
                  <a:pt x="21" y="6"/>
                </a:lnTo>
                <a:lnTo>
                  <a:pt x="23" y="3"/>
                </a:lnTo>
                <a:lnTo>
                  <a:pt x="20"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36" name="Freeform 2441">
            <a:extLst>
              <a:ext uri="{FF2B5EF4-FFF2-40B4-BE49-F238E27FC236}">
                <a16:creationId xmlns:a16="http://schemas.microsoft.com/office/drawing/2014/main" id="{F4D5EABB-9844-8E35-E6A5-EB20ECCF4390}"/>
              </a:ext>
            </a:extLst>
          </p:cNvPr>
          <p:cNvSpPr>
            <a:spLocks/>
          </p:cNvSpPr>
          <p:nvPr/>
        </p:nvSpPr>
        <p:spPr bwMode="auto">
          <a:xfrm>
            <a:off x="2738438" y="2413000"/>
            <a:ext cx="38100" cy="42863"/>
          </a:xfrm>
          <a:custGeom>
            <a:avLst/>
            <a:gdLst>
              <a:gd name="T0" fmla="*/ 20 w 24"/>
              <a:gd name="T1" fmla="*/ 0 h 27"/>
              <a:gd name="T2" fmla="*/ 19 w 24"/>
              <a:gd name="T3" fmla="*/ 4 h 27"/>
              <a:gd name="T4" fmla="*/ 15 w 24"/>
              <a:gd name="T5" fmla="*/ 7 h 27"/>
              <a:gd name="T6" fmla="*/ 12 w 24"/>
              <a:gd name="T7" fmla="*/ 9 h 27"/>
              <a:gd name="T8" fmla="*/ 10 w 24"/>
              <a:gd name="T9" fmla="*/ 12 h 27"/>
              <a:gd name="T10" fmla="*/ 7 w 24"/>
              <a:gd name="T11" fmla="*/ 15 h 27"/>
              <a:gd name="T12" fmla="*/ 5 w 24"/>
              <a:gd name="T13" fmla="*/ 19 h 27"/>
              <a:gd name="T14" fmla="*/ 4 w 24"/>
              <a:gd name="T15" fmla="*/ 22 h 27"/>
              <a:gd name="T16" fmla="*/ 0 w 24"/>
              <a:gd name="T17" fmla="*/ 25 h 27"/>
              <a:gd name="T18" fmla="*/ 5 w 24"/>
              <a:gd name="T19" fmla="*/ 27 h 27"/>
              <a:gd name="T20" fmla="*/ 7 w 24"/>
              <a:gd name="T21" fmla="*/ 24 h 27"/>
              <a:gd name="T22" fmla="*/ 9 w 24"/>
              <a:gd name="T23" fmla="*/ 22 h 27"/>
              <a:gd name="T24" fmla="*/ 12 w 24"/>
              <a:gd name="T25" fmla="*/ 19 h 27"/>
              <a:gd name="T26" fmla="*/ 14 w 24"/>
              <a:gd name="T27" fmla="*/ 15 h 27"/>
              <a:gd name="T28" fmla="*/ 17 w 24"/>
              <a:gd name="T29" fmla="*/ 12 h 27"/>
              <a:gd name="T30" fmla="*/ 19 w 24"/>
              <a:gd name="T31" fmla="*/ 9 h 27"/>
              <a:gd name="T32" fmla="*/ 22 w 24"/>
              <a:gd name="T33" fmla="*/ 7 h 27"/>
              <a:gd name="T34" fmla="*/ 24 w 24"/>
              <a:gd name="T35" fmla="*/ 4 h 27"/>
              <a:gd name="T36" fmla="*/ 20 w 24"/>
              <a:gd name="T37"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4" h="27">
                <a:moveTo>
                  <a:pt x="20" y="0"/>
                </a:moveTo>
                <a:lnTo>
                  <a:pt x="19" y="4"/>
                </a:lnTo>
                <a:lnTo>
                  <a:pt x="15" y="7"/>
                </a:lnTo>
                <a:lnTo>
                  <a:pt x="12" y="9"/>
                </a:lnTo>
                <a:lnTo>
                  <a:pt x="10" y="12"/>
                </a:lnTo>
                <a:lnTo>
                  <a:pt x="7" y="15"/>
                </a:lnTo>
                <a:lnTo>
                  <a:pt x="5" y="19"/>
                </a:lnTo>
                <a:lnTo>
                  <a:pt x="4" y="22"/>
                </a:lnTo>
                <a:lnTo>
                  <a:pt x="0" y="25"/>
                </a:lnTo>
                <a:lnTo>
                  <a:pt x="5" y="27"/>
                </a:lnTo>
                <a:lnTo>
                  <a:pt x="7" y="24"/>
                </a:lnTo>
                <a:lnTo>
                  <a:pt x="9" y="22"/>
                </a:lnTo>
                <a:lnTo>
                  <a:pt x="12" y="19"/>
                </a:lnTo>
                <a:lnTo>
                  <a:pt x="14" y="15"/>
                </a:lnTo>
                <a:lnTo>
                  <a:pt x="17" y="12"/>
                </a:lnTo>
                <a:lnTo>
                  <a:pt x="19" y="9"/>
                </a:lnTo>
                <a:lnTo>
                  <a:pt x="22" y="7"/>
                </a:lnTo>
                <a:lnTo>
                  <a:pt x="24" y="4"/>
                </a:lnTo>
                <a:lnTo>
                  <a:pt x="20" y="0"/>
                </a:lnTo>
                <a:close/>
              </a:path>
            </a:pathLst>
          </a:custGeom>
          <a:solidFill>
            <a:srgbClr val="E2F1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37" name="Freeform 2442">
            <a:extLst>
              <a:ext uri="{FF2B5EF4-FFF2-40B4-BE49-F238E27FC236}">
                <a16:creationId xmlns:a16="http://schemas.microsoft.com/office/drawing/2014/main" id="{5647E20C-0C72-B613-22FF-D71E30872FB6}"/>
              </a:ext>
            </a:extLst>
          </p:cNvPr>
          <p:cNvSpPr>
            <a:spLocks/>
          </p:cNvSpPr>
          <p:nvPr/>
        </p:nvSpPr>
        <p:spPr bwMode="auto">
          <a:xfrm>
            <a:off x="2744788" y="2416175"/>
            <a:ext cx="33338" cy="42863"/>
          </a:xfrm>
          <a:custGeom>
            <a:avLst/>
            <a:gdLst>
              <a:gd name="T0" fmla="*/ 18 w 21"/>
              <a:gd name="T1" fmla="*/ 0 h 27"/>
              <a:gd name="T2" fmla="*/ 16 w 21"/>
              <a:gd name="T3" fmla="*/ 3 h 27"/>
              <a:gd name="T4" fmla="*/ 13 w 21"/>
              <a:gd name="T5" fmla="*/ 5 h 27"/>
              <a:gd name="T6" fmla="*/ 10 w 21"/>
              <a:gd name="T7" fmla="*/ 8 h 27"/>
              <a:gd name="T8" fmla="*/ 8 w 21"/>
              <a:gd name="T9" fmla="*/ 12 h 27"/>
              <a:gd name="T10" fmla="*/ 6 w 21"/>
              <a:gd name="T11" fmla="*/ 15 h 27"/>
              <a:gd name="T12" fmla="*/ 3 w 21"/>
              <a:gd name="T13" fmla="*/ 18 h 27"/>
              <a:gd name="T14" fmla="*/ 1 w 21"/>
              <a:gd name="T15" fmla="*/ 22 h 27"/>
              <a:gd name="T16" fmla="*/ 0 w 21"/>
              <a:gd name="T17" fmla="*/ 25 h 27"/>
              <a:gd name="T18" fmla="*/ 3 w 21"/>
              <a:gd name="T19" fmla="*/ 27 h 27"/>
              <a:gd name="T20" fmla="*/ 5 w 21"/>
              <a:gd name="T21" fmla="*/ 23 h 27"/>
              <a:gd name="T22" fmla="*/ 8 w 21"/>
              <a:gd name="T23" fmla="*/ 20 h 27"/>
              <a:gd name="T24" fmla="*/ 10 w 21"/>
              <a:gd name="T25" fmla="*/ 18 h 27"/>
              <a:gd name="T26" fmla="*/ 11 w 21"/>
              <a:gd name="T27" fmla="*/ 15 h 27"/>
              <a:gd name="T28" fmla="*/ 15 w 21"/>
              <a:gd name="T29" fmla="*/ 12 h 27"/>
              <a:gd name="T30" fmla="*/ 16 w 21"/>
              <a:gd name="T31" fmla="*/ 8 h 27"/>
              <a:gd name="T32" fmla="*/ 20 w 21"/>
              <a:gd name="T33" fmla="*/ 7 h 27"/>
              <a:gd name="T34" fmla="*/ 21 w 21"/>
              <a:gd name="T35" fmla="*/ 3 h 27"/>
              <a:gd name="T36" fmla="*/ 18 w 21"/>
              <a:gd name="T37"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1" h="27">
                <a:moveTo>
                  <a:pt x="18" y="0"/>
                </a:moveTo>
                <a:lnTo>
                  <a:pt x="16" y="3"/>
                </a:lnTo>
                <a:lnTo>
                  <a:pt x="13" y="5"/>
                </a:lnTo>
                <a:lnTo>
                  <a:pt x="10" y="8"/>
                </a:lnTo>
                <a:lnTo>
                  <a:pt x="8" y="12"/>
                </a:lnTo>
                <a:lnTo>
                  <a:pt x="6" y="15"/>
                </a:lnTo>
                <a:lnTo>
                  <a:pt x="3" y="18"/>
                </a:lnTo>
                <a:lnTo>
                  <a:pt x="1" y="22"/>
                </a:lnTo>
                <a:lnTo>
                  <a:pt x="0" y="25"/>
                </a:lnTo>
                <a:lnTo>
                  <a:pt x="3" y="27"/>
                </a:lnTo>
                <a:lnTo>
                  <a:pt x="5" y="23"/>
                </a:lnTo>
                <a:lnTo>
                  <a:pt x="8" y="20"/>
                </a:lnTo>
                <a:lnTo>
                  <a:pt x="10" y="18"/>
                </a:lnTo>
                <a:lnTo>
                  <a:pt x="11" y="15"/>
                </a:lnTo>
                <a:lnTo>
                  <a:pt x="15" y="12"/>
                </a:lnTo>
                <a:lnTo>
                  <a:pt x="16" y="8"/>
                </a:lnTo>
                <a:lnTo>
                  <a:pt x="20" y="7"/>
                </a:lnTo>
                <a:lnTo>
                  <a:pt x="21" y="3"/>
                </a:lnTo>
                <a:lnTo>
                  <a:pt x="18"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38" name="Freeform 2443">
            <a:extLst>
              <a:ext uri="{FF2B5EF4-FFF2-40B4-BE49-F238E27FC236}">
                <a16:creationId xmlns:a16="http://schemas.microsoft.com/office/drawing/2014/main" id="{3A55A23A-C43C-420C-4491-C6066948BB2D}"/>
              </a:ext>
            </a:extLst>
          </p:cNvPr>
          <p:cNvSpPr>
            <a:spLocks/>
          </p:cNvSpPr>
          <p:nvPr/>
        </p:nvSpPr>
        <p:spPr bwMode="auto">
          <a:xfrm>
            <a:off x="2746375" y="2419350"/>
            <a:ext cx="34925" cy="41275"/>
          </a:xfrm>
          <a:custGeom>
            <a:avLst/>
            <a:gdLst>
              <a:gd name="T0" fmla="*/ 19 w 22"/>
              <a:gd name="T1" fmla="*/ 0 h 26"/>
              <a:gd name="T2" fmla="*/ 17 w 22"/>
              <a:gd name="T3" fmla="*/ 3 h 26"/>
              <a:gd name="T4" fmla="*/ 14 w 22"/>
              <a:gd name="T5" fmla="*/ 5 h 26"/>
              <a:gd name="T6" fmla="*/ 12 w 22"/>
              <a:gd name="T7" fmla="*/ 8 h 26"/>
              <a:gd name="T8" fmla="*/ 9 w 22"/>
              <a:gd name="T9" fmla="*/ 11 h 26"/>
              <a:gd name="T10" fmla="*/ 7 w 22"/>
              <a:gd name="T11" fmla="*/ 15 h 26"/>
              <a:gd name="T12" fmla="*/ 4 w 22"/>
              <a:gd name="T13" fmla="*/ 18 h 26"/>
              <a:gd name="T14" fmla="*/ 2 w 22"/>
              <a:gd name="T15" fmla="*/ 20 h 26"/>
              <a:gd name="T16" fmla="*/ 0 w 22"/>
              <a:gd name="T17" fmla="*/ 23 h 26"/>
              <a:gd name="T18" fmla="*/ 4 w 22"/>
              <a:gd name="T19" fmla="*/ 26 h 26"/>
              <a:gd name="T20" fmla="*/ 7 w 22"/>
              <a:gd name="T21" fmla="*/ 23 h 26"/>
              <a:gd name="T22" fmla="*/ 9 w 22"/>
              <a:gd name="T23" fmla="*/ 20 h 26"/>
              <a:gd name="T24" fmla="*/ 10 w 22"/>
              <a:gd name="T25" fmla="*/ 16 h 26"/>
              <a:gd name="T26" fmla="*/ 12 w 22"/>
              <a:gd name="T27" fmla="*/ 15 h 26"/>
              <a:gd name="T28" fmla="*/ 15 w 22"/>
              <a:gd name="T29" fmla="*/ 11 h 26"/>
              <a:gd name="T30" fmla="*/ 17 w 22"/>
              <a:gd name="T31" fmla="*/ 8 h 26"/>
              <a:gd name="T32" fmla="*/ 20 w 22"/>
              <a:gd name="T33" fmla="*/ 6 h 26"/>
              <a:gd name="T34" fmla="*/ 22 w 22"/>
              <a:gd name="T35" fmla="*/ 3 h 26"/>
              <a:gd name="T36" fmla="*/ 19 w 22"/>
              <a:gd name="T37" fmla="*/ 0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6">
                <a:moveTo>
                  <a:pt x="19" y="0"/>
                </a:moveTo>
                <a:lnTo>
                  <a:pt x="17" y="3"/>
                </a:lnTo>
                <a:lnTo>
                  <a:pt x="14" y="5"/>
                </a:lnTo>
                <a:lnTo>
                  <a:pt x="12" y="8"/>
                </a:lnTo>
                <a:lnTo>
                  <a:pt x="9" y="11"/>
                </a:lnTo>
                <a:lnTo>
                  <a:pt x="7" y="15"/>
                </a:lnTo>
                <a:lnTo>
                  <a:pt x="4" y="18"/>
                </a:lnTo>
                <a:lnTo>
                  <a:pt x="2" y="20"/>
                </a:lnTo>
                <a:lnTo>
                  <a:pt x="0" y="23"/>
                </a:lnTo>
                <a:lnTo>
                  <a:pt x="4" y="26"/>
                </a:lnTo>
                <a:lnTo>
                  <a:pt x="7" y="23"/>
                </a:lnTo>
                <a:lnTo>
                  <a:pt x="9" y="20"/>
                </a:lnTo>
                <a:lnTo>
                  <a:pt x="10" y="16"/>
                </a:lnTo>
                <a:lnTo>
                  <a:pt x="12" y="15"/>
                </a:lnTo>
                <a:lnTo>
                  <a:pt x="15" y="11"/>
                </a:lnTo>
                <a:lnTo>
                  <a:pt x="17" y="8"/>
                </a:lnTo>
                <a:lnTo>
                  <a:pt x="20" y="6"/>
                </a:lnTo>
                <a:lnTo>
                  <a:pt x="22" y="3"/>
                </a:lnTo>
                <a:lnTo>
                  <a:pt x="19"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39" name="Freeform 2444">
            <a:extLst>
              <a:ext uri="{FF2B5EF4-FFF2-40B4-BE49-F238E27FC236}">
                <a16:creationId xmlns:a16="http://schemas.microsoft.com/office/drawing/2014/main" id="{4E7985F7-1F84-7B90-1475-EA8B523D496B}"/>
              </a:ext>
            </a:extLst>
          </p:cNvPr>
          <p:cNvSpPr>
            <a:spLocks/>
          </p:cNvSpPr>
          <p:nvPr/>
        </p:nvSpPr>
        <p:spPr bwMode="auto">
          <a:xfrm>
            <a:off x="2749550" y="2420938"/>
            <a:ext cx="34925" cy="42863"/>
          </a:xfrm>
          <a:custGeom>
            <a:avLst/>
            <a:gdLst>
              <a:gd name="T0" fmla="*/ 18 w 22"/>
              <a:gd name="T1" fmla="*/ 0 h 27"/>
              <a:gd name="T2" fmla="*/ 17 w 22"/>
              <a:gd name="T3" fmla="*/ 4 h 27"/>
              <a:gd name="T4" fmla="*/ 13 w 22"/>
              <a:gd name="T5" fmla="*/ 5 h 27"/>
              <a:gd name="T6" fmla="*/ 12 w 22"/>
              <a:gd name="T7" fmla="*/ 9 h 27"/>
              <a:gd name="T8" fmla="*/ 8 w 22"/>
              <a:gd name="T9" fmla="*/ 12 h 27"/>
              <a:gd name="T10" fmla="*/ 7 w 22"/>
              <a:gd name="T11" fmla="*/ 15 h 27"/>
              <a:gd name="T12" fmla="*/ 5 w 22"/>
              <a:gd name="T13" fmla="*/ 17 h 27"/>
              <a:gd name="T14" fmla="*/ 2 w 22"/>
              <a:gd name="T15" fmla="*/ 20 h 27"/>
              <a:gd name="T16" fmla="*/ 0 w 22"/>
              <a:gd name="T17" fmla="*/ 24 h 27"/>
              <a:gd name="T18" fmla="*/ 5 w 22"/>
              <a:gd name="T19" fmla="*/ 27 h 27"/>
              <a:gd name="T20" fmla="*/ 7 w 22"/>
              <a:gd name="T21" fmla="*/ 24 h 27"/>
              <a:gd name="T22" fmla="*/ 8 w 22"/>
              <a:gd name="T23" fmla="*/ 20 h 27"/>
              <a:gd name="T24" fmla="*/ 10 w 22"/>
              <a:gd name="T25" fmla="*/ 17 h 27"/>
              <a:gd name="T26" fmla="*/ 13 w 22"/>
              <a:gd name="T27" fmla="*/ 15 h 27"/>
              <a:gd name="T28" fmla="*/ 15 w 22"/>
              <a:gd name="T29" fmla="*/ 12 h 27"/>
              <a:gd name="T30" fmla="*/ 17 w 22"/>
              <a:gd name="T31" fmla="*/ 9 h 27"/>
              <a:gd name="T32" fmla="*/ 20 w 22"/>
              <a:gd name="T33" fmla="*/ 7 h 27"/>
              <a:gd name="T34" fmla="*/ 22 w 22"/>
              <a:gd name="T35" fmla="*/ 4 h 27"/>
              <a:gd name="T36" fmla="*/ 18 w 22"/>
              <a:gd name="T37"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7">
                <a:moveTo>
                  <a:pt x="18" y="0"/>
                </a:moveTo>
                <a:lnTo>
                  <a:pt x="17" y="4"/>
                </a:lnTo>
                <a:lnTo>
                  <a:pt x="13" y="5"/>
                </a:lnTo>
                <a:lnTo>
                  <a:pt x="12" y="9"/>
                </a:lnTo>
                <a:lnTo>
                  <a:pt x="8" y="12"/>
                </a:lnTo>
                <a:lnTo>
                  <a:pt x="7" y="15"/>
                </a:lnTo>
                <a:lnTo>
                  <a:pt x="5" y="17"/>
                </a:lnTo>
                <a:lnTo>
                  <a:pt x="2" y="20"/>
                </a:lnTo>
                <a:lnTo>
                  <a:pt x="0" y="24"/>
                </a:lnTo>
                <a:lnTo>
                  <a:pt x="5" y="27"/>
                </a:lnTo>
                <a:lnTo>
                  <a:pt x="7" y="24"/>
                </a:lnTo>
                <a:lnTo>
                  <a:pt x="8" y="20"/>
                </a:lnTo>
                <a:lnTo>
                  <a:pt x="10" y="17"/>
                </a:lnTo>
                <a:lnTo>
                  <a:pt x="13" y="15"/>
                </a:lnTo>
                <a:lnTo>
                  <a:pt x="15" y="12"/>
                </a:lnTo>
                <a:lnTo>
                  <a:pt x="17" y="9"/>
                </a:lnTo>
                <a:lnTo>
                  <a:pt x="20" y="7"/>
                </a:lnTo>
                <a:lnTo>
                  <a:pt x="22" y="4"/>
                </a:lnTo>
                <a:lnTo>
                  <a:pt x="18"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40" name="Freeform 2445">
            <a:extLst>
              <a:ext uri="{FF2B5EF4-FFF2-40B4-BE49-F238E27FC236}">
                <a16:creationId xmlns:a16="http://schemas.microsoft.com/office/drawing/2014/main" id="{17027EF1-5EBA-5883-658F-409F186C9C23}"/>
              </a:ext>
            </a:extLst>
          </p:cNvPr>
          <p:cNvSpPr>
            <a:spLocks/>
          </p:cNvSpPr>
          <p:nvPr/>
        </p:nvSpPr>
        <p:spPr bwMode="auto">
          <a:xfrm>
            <a:off x="2752725" y="2424113"/>
            <a:ext cx="33338" cy="39688"/>
          </a:xfrm>
          <a:custGeom>
            <a:avLst/>
            <a:gdLst>
              <a:gd name="T0" fmla="*/ 18 w 21"/>
              <a:gd name="T1" fmla="*/ 0 h 25"/>
              <a:gd name="T2" fmla="*/ 16 w 21"/>
              <a:gd name="T3" fmla="*/ 3 h 25"/>
              <a:gd name="T4" fmla="*/ 13 w 21"/>
              <a:gd name="T5" fmla="*/ 5 h 25"/>
              <a:gd name="T6" fmla="*/ 11 w 21"/>
              <a:gd name="T7" fmla="*/ 8 h 25"/>
              <a:gd name="T8" fmla="*/ 8 w 21"/>
              <a:gd name="T9" fmla="*/ 12 h 25"/>
              <a:gd name="T10" fmla="*/ 6 w 21"/>
              <a:gd name="T11" fmla="*/ 13 h 25"/>
              <a:gd name="T12" fmla="*/ 5 w 21"/>
              <a:gd name="T13" fmla="*/ 17 h 25"/>
              <a:gd name="T14" fmla="*/ 3 w 21"/>
              <a:gd name="T15" fmla="*/ 20 h 25"/>
              <a:gd name="T16" fmla="*/ 0 w 21"/>
              <a:gd name="T17" fmla="*/ 23 h 25"/>
              <a:gd name="T18" fmla="*/ 5 w 21"/>
              <a:gd name="T19" fmla="*/ 25 h 25"/>
              <a:gd name="T20" fmla="*/ 6 w 21"/>
              <a:gd name="T21" fmla="*/ 23 h 25"/>
              <a:gd name="T22" fmla="*/ 8 w 21"/>
              <a:gd name="T23" fmla="*/ 20 h 25"/>
              <a:gd name="T24" fmla="*/ 10 w 21"/>
              <a:gd name="T25" fmla="*/ 17 h 25"/>
              <a:gd name="T26" fmla="*/ 13 w 21"/>
              <a:gd name="T27" fmla="*/ 13 h 25"/>
              <a:gd name="T28" fmla="*/ 15 w 21"/>
              <a:gd name="T29" fmla="*/ 12 h 25"/>
              <a:gd name="T30" fmla="*/ 16 w 21"/>
              <a:gd name="T31" fmla="*/ 8 h 25"/>
              <a:gd name="T32" fmla="*/ 20 w 21"/>
              <a:gd name="T33" fmla="*/ 7 h 25"/>
              <a:gd name="T34" fmla="*/ 21 w 21"/>
              <a:gd name="T35" fmla="*/ 3 h 25"/>
              <a:gd name="T36" fmla="*/ 18 w 21"/>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1" h="25">
                <a:moveTo>
                  <a:pt x="18" y="0"/>
                </a:moveTo>
                <a:lnTo>
                  <a:pt x="16" y="3"/>
                </a:lnTo>
                <a:lnTo>
                  <a:pt x="13" y="5"/>
                </a:lnTo>
                <a:lnTo>
                  <a:pt x="11" y="8"/>
                </a:lnTo>
                <a:lnTo>
                  <a:pt x="8" y="12"/>
                </a:lnTo>
                <a:lnTo>
                  <a:pt x="6" y="13"/>
                </a:lnTo>
                <a:lnTo>
                  <a:pt x="5" y="17"/>
                </a:lnTo>
                <a:lnTo>
                  <a:pt x="3" y="20"/>
                </a:lnTo>
                <a:lnTo>
                  <a:pt x="0" y="23"/>
                </a:lnTo>
                <a:lnTo>
                  <a:pt x="5" y="25"/>
                </a:lnTo>
                <a:lnTo>
                  <a:pt x="6" y="23"/>
                </a:lnTo>
                <a:lnTo>
                  <a:pt x="8" y="20"/>
                </a:lnTo>
                <a:lnTo>
                  <a:pt x="10" y="17"/>
                </a:lnTo>
                <a:lnTo>
                  <a:pt x="13" y="13"/>
                </a:lnTo>
                <a:lnTo>
                  <a:pt x="15" y="12"/>
                </a:lnTo>
                <a:lnTo>
                  <a:pt x="16" y="8"/>
                </a:lnTo>
                <a:lnTo>
                  <a:pt x="20" y="7"/>
                </a:lnTo>
                <a:lnTo>
                  <a:pt x="21" y="3"/>
                </a:lnTo>
                <a:lnTo>
                  <a:pt x="18"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41" name="Freeform 2446">
            <a:extLst>
              <a:ext uri="{FF2B5EF4-FFF2-40B4-BE49-F238E27FC236}">
                <a16:creationId xmlns:a16="http://schemas.microsoft.com/office/drawing/2014/main" id="{95C780D6-FDE3-7867-3969-A4C57CA242E8}"/>
              </a:ext>
            </a:extLst>
          </p:cNvPr>
          <p:cNvSpPr>
            <a:spLocks/>
          </p:cNvSpPr>
          <p:nvPr/>
        </p:nvSpPr>
        <p:spPr bwMode="auto">
          <a:xfrm>
            <a:off x="2757488" y="2427288"/>
            <a:ext cx="31750" cy="39688"/>
          </a:xfrm>
          <a:custGeom>
            <a:avLst/>
            <a:gdLst>
              <a:gd name="T0" fmla="*/ 17 w 20"/>
              <a:gd name="T1" fmla="*/ 0 h 25"/>
              <a:gd name="T2" fmla="*/ 15 w 20"/>
              <a:gd name="T3" fmla="*/ 3 h 25"/>
              <a:gd name="T4" fmla="*/ 12 w 20"/>
              <a:gd name="T5" fmla="*/ 5 h 25"/>
              <a:gd name="T6" fmla="*/ 10 w 20"/>
              <a:gd name="T7" fmla="*/ 8 h 25"/>
              <a:gd name="T8" fmla="*/ 8 w 20"/>
              <a:gd name="T9" fmla="*/ 11 h 25"/>
              <a:gd name="T10" fmla="*/ 5 w 20"/>
              <a:gd name="T11" fmla="*/ 13 h 25"/>
              <a:gd name="T12" fmla="*/ 3 w 20"/>
              <a:gd name="T13" fmla="*/ 16 h 25"/>
              <a:gd name="T14" fmla="*/ 2 w 20"/>
              <a:gd name="T15" fmla="*/ 20 h 25"/>
              <a:gd name="T16" fmla="*/ 0 w 20"/>
              <a:gd name="T17" fmla="*/ 23 h 25"/>
              <a:gd name="T18" fmla="*/ 3 w 20"/>
              <a:gd name="T19" fmla="*/ 25 h 25"/>
              <a:gd name="T20" fmla="*/ 5 w 20"/>
              <a:gd name="T21" fmla="*/ 21 h 25"/>
              <a:gd name="T22" fmla="*/ 7 w 20"/>
              <a:gd name="T23" fmla="*/ 20 h 25"/>
              <a:gd name="T24" fmla="*/ 10 w 20"/>
              <a:gd name="T25" fmla="*/ 16 h 25"/>
              <a:gd name="T26" fmla="*/ 12 w 20"/>
              <a:gd name="T27" fmla="*/ 13 h 25"/>
              <a:gd name="T28" fmla="*/ 13 w 20"/>
              <a:gd name="T29" fmla="*/ 11 h 25"/>
              <a:gd name="T30" fmla="*/ 17 w 20"/>
              <a:gd name="T31" fmla="*/ 8 h 25"/>
              <a:gd name="T32" fmla="*/ 18 w 20"/>
              <a:gd name="T33" fmla="*/ 6 h 25"/>
              <a:gd name="T34" fmla="*/ 20 w 20"/>
              <a:gd name="T35" fmla="*/ 3 h 25"/>
              <a:gd name="T36" fmla="*/ 17 w 20"/>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5">
                <a:moveTo>
                  <a:pt x="17" y="0"/>
                </a:moveTo>
                <a:lnTo>
                  <a:pt x="15" y="3"/>
                </a:lnTo>
                <a:lnTo>
                  <a:pt x="12" y="5"/>
                </a:lnTo>
                <a:lnTo>
                  <a:pt x="10" y="8"/>
                </a:lnTo>
                <a:lnTo>
                  <a:pt x="8" y="11"/>
                </a:lnTo>
                <a:lnTo>
                  <a:pt x="5" y="13"/>
                </a:lnTo>
                <a:lnTo>
                  <a:pt x="3" y="16"/>
                </a:lnTo>
                <a:lnTo>
                  <a:pt x="2" y="20"/>
                </a:lnTo>
                <a:lnTo>
                  <a:pt x="0" y="23"/>
                </a:lnTo>
                <a:lnTo>
                  <a:pt x="3" y="25"/>
                </a:lnTo>
                <a:lnTo>
                  <a:pt x="5" y="21"/>
                </a:lnTo>
                <a:lnTo>
                  <a:pt x="7" y="20"/>
                </a:lnTo>
                <a:lnTo>
                  <a:pt x="10" y="16"/>
                </a:lnTo>
                <a:lnTo>
                  <a:pt x="12" y="13"/>
                </a:lnTo>
                <a:lnTo>
                  <a:pt x="13" y="11"/>
                </a:lnTo>
                <a:lnTo>
                  <a:pt x="17" y="8"/>
                </a:lnTo>
                <a:lnTo>
                  <a:pt x="18" y="6"/>
                </a:lnTo>
                <a:lnTo>
                  <a:pt x="20" y="3"/>
                </a:lnTo>
                <a:lnTo>
                  <a:pt x="17"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42" name="Freeform 2447">
            <a:extLst>
              <a:ext uri="{FF2B5EF4-FFF2-40B4-BE49-F238E27FC236}">
                <a16:creationId xmlns:a16="http://schemas.microsoft.com/office/drawing/2014/main" id="{5B391F75-FAC2-9CD2-0B59-8C5A86F0BC0C}"/>
              </a:ext>
            </a:extLst>
          </p:cNvPr>
          <p:cNvSpPr>
            <a:spLocks/>
          </p:cNvSpPr>
          <p:nvPr/>
        </p:nvSpPr>
        <p:spPr bwMode="auto">
          <a:xfrm>
            <a:off x="2760663" y="2428875"/>
            <a:ext cx="31750" cy="39688"/>
          </a:xfrm>
          <a:custGeom>
            <a:avLst/>
            <a:gdLst>
              <a:gd name="T0" fmla="*/ 16 w 20"/>
              <a:gd name="T1" fmla="*/ 0 h 25"/>
              <a:gd name="T2" fmla="*/ 15 w 20"/>
              <a:gd name="T3" fmla="*/ 4 h 25"/>
              <a:gd name="T4" fmla="*/ 11 w 20"/>
              <a:gd name="T5" fmla="*/ 5 h 25"/>
              <a:gd name="T6" fmla="*/ 10 w 20"/>
              <a:gd name="T7" fmla="*/ 9 h 25"/>
              <a:gd name="T8" fmla="*/ 8 w 20"/>
              <a:gd name="T9" fmla="*/ 10 h 25"/>
              <a:gd name="T10" fmla="*/ 5 w 20"/>
              <a:gd name="T11" fmla="*/ 14 h 25"/>
              <a:gd name="T12" fmla="*/ 3 w 20"/>
              <a:gd name="T13" fmla="*/ 17 h 25"/>
              <a:gd name="T14" fmla="*/ 1 w 20"/>
              <a:gd name="T15" fmla="*/ 20 h 25"/>
              <a:gd name="T16" fmla="*/ 0 w 20"/>
              <a:gd name="T17" fmla="*/ 22 h 25"/>
              <a:gd name="T18" fmla="*/ 3 w 20"/>
              <a:gd name="T19" fmla="*/ 25 h 25"/>
              <a:gd name="T20" fmla="*/ 5 w 20"/>
              <a:gd name="T21" fmla="*/ 22 h 25"/>
              <a:gd name="T22" fmla="*/ 8 w 20"/>
              <a:gd name="T23" fmla="*/ 20 h 25"/>
              <a:gd name="T24" fmla="*/ 10 w 20"/>
              <a:gd name="T25" fmla="*/ 17 h 25"/>
              <a:gd name="T26" fmla="*/ 11 w 20"/>
              <a:gd name="T27" fmla="*/ 14 h 25"/>
              <a:gd name="T28" fmla="*/ 13 w 20"/>
              <a:gd name="T29" fmla="*/ 12 h 25"/>
              <a:gd name="T30" fmla="*/ 16 w 20"/>
              <a:gd name="T31" fmla="*/ 9 h 25"/>
              <a:gd name="T32" fmla="*/ 18 w 20"/>
              <a:gd name="T33" fmla="*/ 7 h 25"/>
              <a:gd name="T34" fmla="*/ 20 w 20"/>
              <a:gd name="T35" fmla="*/ 4 h 25"/>
              <a:gd name="T36" fmla="*/ 16 w 20"/>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5">
                <a:moveTo>
                  <a:pt x="16" y="0"/>
                </a:moveTo>
                <a:lnTo>
                  <a:pt x="15" y="4"/>
                </a:lnTo>
                <a:lnTo>
                  <a:pt x="11" y="5"/>
                </a:lnTo>
                <a:lnTo>
                  <a:pt x="10" y="9"/>
                </a:lnTo>
                <a:lnTo>
                  <a:pt x="8" y="10"/>
                </a:lnTo>
                <a:lnTo>
                  <a:pt x="5" y="14"/>
                </a:lnTo>
                <a:lnTo>
                  <a:pt x="3" y="17"/>
                </a:lnTo>
                <a:lnTo>
                  <a:pt x="1" y="20"/>
                </a:lnTo>
                <a:lnTo>
                  <a:pt x="0" y="22"/>
                </a:lnTo>
                <a:lnTo>
                  <a:pt x="3" y="25"/>
                </a:lnTo>
                <a:lnTo>
                  <a:pt x="5" y="22"/>
                </a:lnTo>
                <a:lnTo>
                  <a:pt x="8" y="20"/>
                </a:lnTo>
                <a:lnTo>
                  <a:pt x="10" y="17"/>
                </a:lnTo>
                <a:lnTo>
                  <a:pt x="11" y="14"/>
                </a:lnTo>
                <a:lnTo>
                  <a:pt x="13" y="12"/>
                </a:lnTo>
                <a:lnTo>
                  <a:pt x="16" y="9"/>
                </a:lnTo>
                <a:lnTo>
                  <a:pt x="18" y="7"/>
                </a:lnTo>
                <a:lnTo>
                  <a:pt x="20" y="4"/>
                </a:lnTo>
                <a:lnTo>
                  <a:pt x="16"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43" name="Freeform 2448">
            <a:extLst>
              <a:ext uri="{FF2B5EF4-FFF2-40B4-BE49-F238E27FC236}">
                <a16:creationId xmlns:a16="http://schemas.microsoft.com/office/drawing/2014/main" id="{D7C2D305-B61B-F9DB-E560-7066A42830CB}"/>
              </a:ext>
            </a:extLst>
          </p:cNvPr>
          <p:cNvSpPr>
            <a:spLocks/>
          </p:cNvSpPr>
          <p:nvPr/>
        </p:nvSpPr>
        <p:spPr bwMode="auto">
          <a:xfrm>
            <a:off x="2762250" y="2432050"/>
            <a:ext cx="34925" cy="39688"/>
          </a:xfrm>
          <a:custGeom>
            <a:avLst/>
            <a:gdLst>
              <a:gd name="T0" fmla="*/ 17 w 22"/>
              <a:gd name="T1" fmla="*/ 0 h 25"/>
              <a:gd name="T2" fmla="*/ 15 w 22"/>
              <a:gd name="T3" fmla="*/ 3 h 25"/>
              <a:gd name="T4" fmla="*/ 14 w 22"/>
              <a:gd name="T5" fmla="*/ 5 h 25"/>
              <a:gd name="T6" fmla="*/ 10 w 22"/>
              <a:gd name="T7" fmla="*/ 8 h 25"/>
              <a:gd name="T8" fmla="*/ 9 w 22"/>
              <a:gd name="T9" fmla="*/ 10 h 25"/>
              <a:gd name="T10" fmla="*/ 7 w 22"/>
              <a:gd name="T11" fmla="*/ 13 h 25"/>
              <a:gd name="T12" fmla="*/ 4 w 22"/>
              <a:gd name="T13" fmla="*/ 17 h 25"/>
              <a:gd name="T14" fmla="*/ 2 w 22"/>
              <a:gd name="T15" fmla="*/ 18 h 25"/>
              <a:gd name="T16" fmla="*/ 0 w 22"/>
              <a:gd name="T17" fmla="*/ 22 h 25"/>
              <a:gd name="T18" fmla="*/ 4 w 22"/>
              <a:gd name="T19" fmla="*/ 25 h 25"/>
              <a:gd name="T20" fmla="*/ 7 w 22"/>
              <a:gd name="T21" fmla="*/ 22 h 25"/>
              <a:gd name="T22" fmla="*/ 9 w 22"/>
              <a:gd name="T23" fmla="*/ 18 h 25"/>
              <a:gd name="T24" fmla="*/ 10 w 22"/>
              <a:gd name="T25" fmla="*/ 17 h 25"/>
              <a:gd name="T26" fmla="*/ 12 w 22"/>
              <a:gd name="T27" fmla="*/ 13 h 25"/>
              <a:gd name="T28" fmla="*/ 14 w 22"/>
              <a:gd name="T29" fmla="*/ 12 h 25"/>
              <a:gd name="T30" fmla="*/ 17 w 22"/>
              <a:gd name="T31" fmla="*/ 8 h 25"/>
              <a:gd name="T32" fmla="*/ 19 w 22"/>
              <a:gd name="T33" fmla="*/ 7 h 25"/>
              <a:gd name="T34" fmla="*/ 22 w 22"/>
              <a:gd name="T35" fmla="*/ 3 h 25"/>
              <a:gd name="T36" fmla="*/ 17 w 22"/>
              <a:gd name="T37" fmla="*/ 0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5">
                <a:moveTo>
                  <a:pt x="17" y="0"/>
                </a:moveTo>
                <a:lnTo>
                  <a:pt x="15" y="3"/>
                </a:lnTo>
                <a:lnTo>
                  <a:pt x="14" y="5"/>
                </a:lnTo>
                <a:lnTo>
                  <a:pt x="10" y="8"/>
                </a:lnTo>
                <a:lnTo>
                  <a:pt x="9" y="10"/>
                </a:lnTo>
                <a:lnTo>
                  <a:pt x="7" y="13"/>
                </a:lnTo>
                <a:lnTo>
                  <a:pt x="4" y="17"/>
                </a:lnTo>
                <a:lnTo>
                  <a:pt x="2" y="18"/>
                </a:lnTo>
                <a:lnTo>
                  <a:pt x="0" y="22"/>
                </a:lnTo>
                <a:lnTo>
                  <a:pt x="4" y="25"/>
                </a:lnTo>
                <a:lnTo>
                  <a:pt x="7" y="22"/>
                </a:lnTo>
                <a:lnTo>
                  <a:pt x="9" y="18"/>
                </a:lnTo>
                <a:lnTo>
                  <a:pt x="10" y="17"/>
                </a:lnTo>
                <a:lnTo>
                  <a:pt x="12" y="13"/>
                </a:lnTo>
                <a:lnTo>
                  <a:pt x="14" y="12"/>
                </a:lnTo>
                <a:lnTo>
                  <a:pt x="17" y="8"/>
                </a:lnTo>
                <a:lnTo>
                  <a:pt x="19" y="7"/>
                </a:lnTo>
                <a:lnTo>
                  <a:pt x="22" y="3"/>
                </a:lnTo>
                <a:lnTo>
                  <a:pt x="17"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44" name="Freeform 2449">
            <a:extLst>
              <a:ext uri="{FF2B5EF4-FFF2-40B4-BE49-F238E27FC236}">
                <a16:creationId xmlns:a16="http://schemas.microsoft.com/office/drawing/2014/main" id="{72584FC5-C0A8-CC45-B6E1-06D415DA34F7}"/>
              </a:ext>
            </a:extLst>
          </p:cNvPr>
          <p:cNvSpPr>
            <a:spLocks/>
          </p:cNvSpPr>
          <p:nvPr/>
        </p:nvSpPr>
        <p:spPr bwMode="auto">
          <a:xfrm>
            <a:off x="2765425" y="2435225"/>
            <a:ext cx="34925" cy="36513"/>
          </a:xfrm>
          <a:custGeom>
            <a:avLst/>
            <a:gdLst>
              <a:gd name="T0" fmla="*/ 17 w 22"/>
              <a:gd name="T1" fmla="*/ 0 h 23"/>
              <a:gd name="T2" fmla="*/ 15 w 22"/>
              <a:gd name="T3" fmla="*/ 3 h 23"/>
              <a:gd name="T4" fmla="*/ 13 w 22"/>
              <a:gd name="T5" fmla="*/ 5 h 23"/>
              <a:gd name="T6" fmla="*/ 10 w 22"/>
              <a:gd name="T7" fmla="*/ 8 h 23"/>
              <a:gd name="T8" fmla="*/ 8 w 22"/>
              <a:gd name="T9" fmla="*/ 10 h 23"/>
              <a:gd name="T10" fmla="*/ 7 w 22"/>
              <a:gd name="T11" fmla="*/ 13 h 23"/>
              <a:gd name="T12" fmla="*/ 5 w 22"/>
              <a:gd name="T13" fmla="*/ 16 h 23"/>
              <a:gd name="T14" fmla="*/ 2 w 22"/>
              <a:gd name="T15" fmla="*/ 18 h 23"/>
              <a:gd name="T16" fmla="*/ 0 w 22"/>
              <a:gd name="T17" fmla="*/ 21 h 23"/>
              <a:gd name="T18" fmla="*/ 5 w 22"/>
              <a:gd name="T19" fmla="*/ 23 h 23"/>
              <a:gd name="T20" fmla="*/ 7 w 22"/>
              <a:gd name="T21" fmla="*/ 21 h 23"/>
              <a:gd name="T22" fmla="*/ 8 w 22"/>
              <a:gd name="T23" fmla="*/ 18 h 23"/>
              <a:gd name="T24" fmla="*/ 10 w 22"/>
              <a:gd name="T25" fmla="*/ 16 h 23"/>
              <a:gd name="T26" fmla="*/ 12 w 22"/>
              <a:gd name="T27" fmla="*/ 13 h 23"/>
              <a:gd name="T28" fmla="*/ 15 w 22"/>
              <a:gd name="T29" fmla="*/ 11 h 23"/>
              <a:gd name="T30" fmla="*/ 17 w 22"/>
              <a:gd name="T31" fmla="*/ 8 h 23"/>
              <a:gd name="T32" fmla="*/ 18 w 22"/>
              <a:gd name="T33" fmla="*/ 6 h 23"/>
              <a:gd name="T34" fmla="*/ 22 w 22"/>
              <a:gd name="T35" fmla="*/ 3 h 23"/>
              <a:gd name="T36" fmla="*/ 17 w 22"/>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2" h="23">
                <a:moveTo>
                  <a:pt x="17" y="0"/>
                </a:moveTo>
                <a:lnTo>
                  <a:pt x="15" y="3"/>
                </a:lnTo>
                <a:lnTo>
                  <a:pt x="13" y="5"/>
                </a:lnTo>
                <a:lnTo>
                  <a:pt x="10" y="8"/>
                </a:lnTo>
                <a:lnTo>
                  <a:pt x="8" y="10"/>
                </a:lnTo>
                <a:lnTo>
                  <a:pt x="7" y="13"/>
                </a:lnTo>
                <a:lnTo>
                  <a:pt x="5" y="16"/>
                </a:lnTo>
                <a:lnTo>
                  <a:pt x="2" y="18"/>
                </a:lnTo>
                <a:lnTo>
                  <a:pt x="0" y="21"/>
                </a:lnTo>
                <a:lnTo>
                  <a:pt x="5" y="23"/>
                </a:lnTo>
                <a:lnTo>
                  <a:pt x="7" y="21"/>
                </a:lnTo>
                <a:lnTo>
                  <a:pt x="8" y="18"/>
                </a:lnTo>
                <a:lnTo>
                  <a:pt x="10" y="16"/>
                </a:lnTo>
                <a:lnTo>
                  <a:pt x="12" y="13"/>
                </a:lnTo>
                <a:lnTo>
                  <a:pt x="15" y="11"/>
                </a:lnTo>
                <a:lnTo>
                  <a:pt x="17" y="8"/>
                </a:lnTo>
                <a:lnTo>
                  <a:pt x="18" y="6"/>
                </a:lnTo>
                <a:lnTo>
                  <a:pt x="22" y="3"/>
                </a:lnTo>
                <a:lnTo>
                  <a:pt x="17"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45" name="Freeform 2450">
            <a:extLst>
              <a:ext uri="{FF2B5EF4-FFF2-40B4-BE49-F238E27FC236}">
                <a16:creationId xmlns:a16="http://schemas.microsoft.com/office/drawing/2014/main" id="{29A05FF9-339C-92D8-886F-57AC519489DF}"/>
              </a:ext>
            </a:extLst>
          </p:cNvPr>
          <p:cNvSpPr>
            <a:spLocks/>
          </p:cNvSpPr>
          <p:nvPr/>
        </p:nvSpPr>
        <p:spPr bwMode="auto">
          <a:xfrm>
            <a:off x="2768600" y="2436813"/>
            <a:ext cx="33338" cy="38100"/>
          </a:xfrm>
          <a:custGeom>
            <a:avLst/>
            <a:gdLst>
              <a:gd name="T0" fmla="*/ 18 w 21"/>
              <a:gd name="T1" fmla="*/ 0 h 24"/>
              <a:gd name="T2" fmla="*/ 15 w 21"/>
              <a:gd name="T3" fmla="*/ 4 h 24"/>
              <a:gd name="T4" fmla="*/ 13 w 21"/>
              <a:gd name="T5" fmla="*/ 5 h 24"/>
              <a:gd name="T6" fmla="*/ 10 w 21"/>
              <a:gd name="T7" fmla="*/ 9 h 24"/>
              <a:gd name="T8" fmla="*/ 8 w 21"/>
              <a:gd name="T9" fmla="*/ 10 h 24"/>
              <a:gd name="T10" fmla="*/ 6 w 21"/>
              <a:gd name="T11" fmla="*/ 14 h 24"/>
              <a:gd name="T12" fmla="*/ 5 w 21"/>
              <a:gd name="T13" fmla="*/ 15 h 24"/>
              <a:gd name="T14" fmla="*/ 3 w 21"/>
              <a:gd name="T15" fmla="*/ 19 h 24"/>
              <a:gd name="T16" fmla="*/ 0 w 21"/>
              <a:gd name="T17" fmla="*/ 22 h 24"/>
              <a:gd name="T18" fmla="*/ 5 w 21"/>
              <a:gd name="T19" fmla="*/ 24 h 24"/>
              <a:gd name="T20" fmla="*/ 6 w 21"/>
              <a:gd name="T21" fmla="*/ 22 h 24"/>
              <a:gd name="T22" fmla="*/ 8 w 21"/>
              <a:gd name="T23" fmla="*/ 19 h 24"/>
              <a:gd name="T24" fmla="*/ 10 w 21"/>
              <a:gd name="T25" fmla="*/ 15 h 24"/>
              <a:gd name="T26" fmla="*/ 11 w 21"/>
              <a:gd name="T27" fmla="*/ 14 h 24"/>
              <a:gd name="T28" fmla="*/ 15 w 21"/>
              <a:gd name="T29" fmla="*/ 10 h 24"/>
              <a:gd name="T30" fmla="*/ 16 w 21"/>
              <a:gd name="T31" fmla="*/ 9 h 24"/>
              <a:gd name="T32" fmla="*/ 18 w 21"/>
              <a:gd name="T33" fmla="*/ 7 h 24"/>
              <a:gd name="T34" fmla="*/ 21 w 21"/>
              <a:gd name="T35" fmla="*/ 4 h 24"/>
              <a:gd name="T36" fmla="*/ 18 w 21"/>
              <a:gd name="T37" fmla="*/ 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1" h="24">
                <a:moveTo>
                  <a:pt x="18" y="0"/>
                </a:moveTo>
                <a:lnTo>
                  <a:pt x="15" y="4"/>
                </a:lnTo>
                <a:lnTo>
                  <a:pt x="13" y="5"/>
                </a:lnTo>
                <a:lnTo>
                  <a:pt x="10" y="9"/>
                </a:lnTo>
                <a:lnTo>
                  <a:pt x="8" y="10"/>
                </a:lnTo>
                <a:lnTo>
                  <a:pt x="6" y="14"/>
                </a:lnTo>
                <a:lnTo>
                  <a:pt x="5" y="15"/>
                </a:lnTo>
                <a:lnTo>
                  <a:pt x="3" y="19"/>
                </a:lnTo>
                <a:lnTo>
                  <a:pt x="0" y="22"/>
                </a:lnTo>
                <a:lnTo>
                  <a:pt x="5" y="24"/>
                </a:lnTo>
                <a:lnTo>
                  <a:pt x="6" y="22"/>
                </a:lnTo>
                <a:lnTo>
                  <a:pt x="8" y="19"/>
                </a:lnTo>
                <a:lnTo>
                  <a:pt x="10" y="15"/>
                </a:lnTo>
                <a:lnTo>
                  <a:pt x="11" y="14"/>
                </a:lnTo>
                <a:lnTo>
                  <a:pt x="15" y="10"/>
                </a:lnTo>
                <a:lnTo>
                  <a:pt x="16" y="9"/>
                </a:lnTo>
                <a:lnTo>
                  <a:pt x="18" y="7"/>
                </a:lnTo>
                <a:lnTo>
                  <a:pt x="21" y="4"/>
                </a:lnTo>
                <a:lnTo>
                  <a:pt x="18" y="0"/>
                </a:lnTo>
                <a:close/>
              </a:path>
            </a:pathLst>
          </a:custGeom>
          <a:solidFill>
            <a:srgbClr val="E7F3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46" name="Freeform 2451">
            <a:extLst>
              <a:ext uri="{FF2B5EF4-FFF2-40B4-BE49-F238E27FC236}">
                <a16:creationId xmlns:a16="http://schemas.microsoft.com/office/drawing/2014/main" id="{9F6B4646-05BD-144A-653F-B63D087F022A}"/>
              </a:ext>
            </a:extLst>
          </p:cNvPr>
          <p:cNvSpPr>
            <a:spLocks/>
          </p:cNvSpPr>
          <p:nvPr/>
        </p:nvSpPr>
        <p:spPr bwMode="auto">
          <a:xfrm>
            <a:off x="2773363" y="2439988"/>
            <a:ext cx="31750" cy="36513"/>
          </a:xfrm>
          <a:custGeom>
            <a:avLst/>
            <a:gdLst>
              <a:gd name="T0" fmla="*/ 17 w 20"/>
              <a:gd name="T1" fmla="*/ 0 h 23"/>
              <a:gd name="T2" fmla="*/ 13 w 20"/>
              <a:gd name="T3" fmla="*/ 3 h 23"/>
              <a:gd name="T4" fmla="*/ 12 w 20"/>
              <a:gd name="T5" fmla="*/ 5 h 23"/>
              <a:gd name="T6" fmla="*/ 10 w 20"/>
              <a:gd name="T7" fmla="*/ 8 h 23"/>
              <a:gd name="T8" fmla="*/ 7 w 20"/>
              <a:gd name="T9" fmla="*/ 10 h 23"/>
              <a:gd name="T10" fmla="*/ 5 w 20"/>
              <a:gd name="T11" fmla="*/ 13 h 23"/>
              <a:gd name="T12" fmla="*/ 3 w 20"/>
              <a:gd name="T13" fmla="*/ 15 h 23"/>
              <a:gd name="T14" fmla="*/ 2 w 20"/>
              <a:gd name="T15" fmla="*/ 18 h 23"/>
              <a:gd name="T16" fmla="*/ 0 w 20"/>
              <a:gd name="T17" fmla="*/ 20 h 23"/>
              <a:gd name="T18" fmla="*/ 3 w 20"/>
              <a:gd name="T19" fmla="*/ 23 h 23"/>
              <a:gd name="T20" fmla="*/ 5 w 20"/>
              <a:gd name="T21" fmla="*/ 20 h 23"/>
              <a:gd name="T22" fmla="*/ 7 w 20"/>
              <a:gd name="T23" fmla="*/ 18 h 23"/>
              <a:gd name="T24" fmla="*/ 8 w 20"/>
              <a:gd name="T25" fmla="*/ 15 h 23"/>
              <a:gd name="T26" fmla="*/ 12 w 20"/>
              <a:gd name="T27" fmla="*/ 13 h 23"/>
              <a:gd name="T28" fmla="*/ 13 w 20"/>
              <a:gd name="T29" fmla="*/ 10 h 23"/>
              <a:gd name="T30" fmla="*/ 15 w 20"/>
              <a:gd name="T31" fmla="*/ 8 h 23"/>
              <a:gd name="T32" fmla="*/ 17 w 20"/>
              <a:gd name="T33" fmla="*/ 7 h 23"/>
              <a:gd name="T34" fmla="*/ 20 w 20"/>
              <a:gd name="T35" fmla="*/ 3 h 23"/>
              <a:gd name="T36" fmla="*/ 17 w 20"/>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3">
                <a:moveTo>
                  <a:pt x="17" y="0"/>
                </a:moveTo>
                <a:lnTo>
                  <a:pt x="13" y="3"/>
                </a:lnTo>
                <a:lnTo>
                  <a:pt x="12" y="5"/>
                </a:lnTo>
                <a:lnTo>
                  <a:pt x="10" y="8"/>
                </a:lnTo>
                <a:lnTo>
                  <a:pt x="7" y="10"/>
                </a:lnTo>
                <a:lnTo>
                  <a:pt x="5" y="13"/>
                </a:lnTo>
                <a:lnTo>
                  <a:pt x="3" y="15"/>
                </a:lnTo>
                <a:lnTo>
                  <a:pt x="2" y="18"/>
                </a:lnTo>
                <a:lnTo>
                  <a:pt x="0" y="20"/>
                </a:lnTo>
                <a:lnTo>
                  <a:pt x="3" y="23"/>
                </a:lnTo>
                <a:lnTo>
                  <a:pt x="5" y="20"/>
                </a:lnTo>
                <a:lnTo>
                  <a:pt x="7" y="18"/>
                </a:lnTo>
                <a:lnTo>
                  <a:pt x="8" y="15"/>
                </a:lnTo>
                <a:lnTo>
                  <a:pt x="12" y="13"/>
                </a:lnTo>
                <a:lnTo>
                  <a:pt x="13" y="10"/>
                </a:lnTo>
                <a:lnTo>
                  <a:pt x="15" y="8"/>
                </a:lnTo>
                <a:lnTo>
                  <a:pt x="17" y="7"/>
                </a:lnTo>
                <a:lnTo>
                  <a:pt x="20" y="3"/>
                </a:lnTo>
                <a:lnTo>
                  <a:pt x="17"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47" name="Freeform 2452">
            <a:extLst>
              <a:ext uri="{FF2B5EF4-FFF2-40B4-BE49-F238E27FC236}">
                <a16:creationId xmlns:a16="http://schemas.microsoft.com/office/drawing/2014/main" id="{39D0729B-E55E-3651-26B7-ED603E867004}"/>
              </a:ext>
            </a:extLst>
          </p:cNvPr>
          <p:cNvSpPr>
            <a:spLocks/>
          </p:cNvSpPr>
          <p:nvPr/>
        </p:nvSpPr>
        <p:spPr bwMode="auto">
          <a:xfrm>
            <a:off x="2776538" y="2443163"/>
            <a:ext cx="31750" cy="36513"/>
          </a:xfrm>
          <a:custGeom>
            <a:avLst/>
            <a:gdLst>
              <a:gd name="T0" fmla="*/ 16 w 20"/>
              <a:gd name="T1" fmla="*/ 0 h 23"/>
              <a:gd name="T2" fmla="*/ 13 w 20"/>
              <a:gd name="T3" fmla="*/ 3 h 23"/>
              <a:gd name="T4" fmla="*/ 11 w 20"/>
              <a:gd name="T5" fmla="*/ 5 h 23"/>
              <a:gd name="T6" fmla="*/ 10 w 20"/>
              <a:gd name="T7" fmla="*/ 6 h 23"/>
              <a:gd name="T8" fmla="*/ 6 w 20"/>
              <a:gd name="T9" fmla="*/ 10 h 23"/>
              <a:gd name="T10" fmla="*/ 5 w 20"/>
              <a:gd name="T11" fmla="*/ 11 h 23"/>
              <a:gd name="T12" fmla="*/ 3 w 20"/>
              <a:gd name="T13" fmla="*/ 15 h 23"/>
              <a:gd name="T14" fmla="*/ 1 w 20"/>
              <a:gd name="T15" fmla="*/ 18 h 23"/>
              <a:gd name="T16" fmla="*/ 0 w 20"/>
              <a:gd name="T17" fmla="*/ 20 h 23"/>
              <a:gd name="T18" fmla="*/ 3 w 20"/>
              <a:gd name="T19" fmla="*/ 23 h 23"/>
              <a:gd name="T20" fmla="*/ 5 w 20"/>
              <a:gd name="T21" fmla="*/ 20 h 23"/>
              <a:gd name="T22" fmla="*/ 6 w 20"/>
              <a:gd name="T23" fmla="*/ 18 h 23"/>
              <a:gd name="T24" fmla="*/ 10 w 20"/>
              <a:gd name="T25" fmla="*/ 15 h 23"/>
              <a:gd name="T26" fmla="*/ 11 w 20"/>
              <a:gd name="T27" fmla="*/ 13 h 23"/>
              <a:gd name="T28" fmla="*/ 13 w 20"/>
              <a:gd name="T29" fmla="*/ 10 h 23"/>
              <a:gd name="T30" fmla="*/ 15 w 20"/>
              <a:gd name="T31" fmla="*/ 8 h 23"/>
              <a:gd name="T32" fmla="*/ 16 w 20"/>
              <a:gd name="T33" fmla="*/ 6 h 23"/>
              <a:gd name="T34" fmla="*/ 20 w 20"/>
              <a:gd name="T35" fmla="*/ 3 h 23"/>
              <a:gd name="T36" fmla="*/ 16 w 20"/>
              <a:gd name="T3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3">
                <a:moveTo>
                  <a:pt x="16" y="0"/>
                </a:moveTo>
                <a:lnTo>
                  <a:pt x="13" y="3"/>
                </a:lnTo>
                <a:lnTo>
                  <a:pt x="11" y="5"/>
                </a:lnTo>
                <a:lnTo>
                  <a:pt x="10" y="6"/>
                </a:lnTo>
                <a:lnTo>
                  <a:pt x="6" y="10"/>
                </a:lnTo>
                <a:lnTo>
                  <a:pt x="5" y="11"/>
                </a:lnTo>
                <a:lnTo>
                  <a:pt x="3" y="15"/>
                </a:lnTo>
                <a:lnTo>
                  <a:pt x="1" y="18"/>
                </a:lnTo>
                <a:lnTo>
                  <a:pt x="0" y="20"/>
                </a:lnTo>
                <a:lnTo>
                  <a:pt x="3" y="23"/>
                </a:lnTo>
                <a:lnTo>
                  <a:pt x="5" y="20"/>
                </a:lnTo>
                <a:lnTo>
                  <a:pt x="6" y="18"/>
                </a:lnTo>
                <a:lnTo>
                  <a:pt x="10" y="15"/>
                </a:lnTo>
                <a:lnTo>
                  <a:pt x="11" y="13"/>
                </a:lnTo>
                <a:lnTo>
                  <a:pt x="13" y="10"/>
                </a:lnTo>
                <a:lnTo>
                  <a:pt x="15" y="8"/>
                </a:lnTo>
                <a:lnTo>
                  <a:pt x="16" y="6"/>
                </a:lnTo>
                <a:lnTo>
                  <a:pt x="20" y="3"/>
                </a:lnTo>
                <a:lnTo>
                  <a:pt x="16"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48" name="Freeform 2453">
            <a:extLst>
              <a:ext uri="{FF2B5EF4-FFF2-40B4-BE49-F238E27FC236}">
                <a16:creationId xmlns:a16="http://schemas.microsoft.com/office/drawing/2014/main" id="{6CC2A494-6A7C-2394-41CE-31D7D56F5D7C}"/>
              </a:ext>
            </a:extLst>
          </p:cNvPr>
          <p:cNvSpPr>
            <a:spLocks/>
          </p:cNvSpPr>
          <p:nvPr/>
        </p:nvSpPr>
        <p:spPr bwMode="auto">
          <a:xfrm>
            <a:off x="2778125" y="2444750"/>
            <a:ext cx="31750" cy="34925"/>
          </a:xfrm>
          <a:custGeom>
            <a:avLst/>
            <a:gdLst>
              <a:gd name="T0" fmla="*/ 17 w 20"/>
              <a:gd name="T1" fmla="*/ 0 h 22"/>
              <a:gd name="T2" fmla="*/ 14 w 20"/>
              <a:gd name="T3" fmla="*/ 4 h 22"/>
              <a:gd name="T4" fmla="*/ 12 w 20"/>
              <a:gd name="T5" fmla="*/ 5 h 22"/>
              <a:gd name="T6" fmla="*/ 10 w 20"/>
              <a:gd name="T7" fmla="*/ 7 h 22"/>
              <a:gd name="T8" fmla="*/ 9 w 20"/>
              <a:gd name="T9" fmla="*/ 10 h 22"/>
              <a:gd name="T10" fmla="*/ 5 w 20"/>
              <a:gd name="T11" fmla="*/ 12 h 22"/>
              <a:gd name="T12" fmla="*/ 4 w 20"/>
              <a:gd name="T13" fmla="*/ 15 h 22"/>
              <a:gd name="T14" fmla="*/ 2 w 20"/>
              <a:gd name="T15" fmla="*/ 17 h 22"/>
              <a:gd name="T16" fmla="*/ 0 w 20"/>
              <a:gd name="T17" fmla="*/ 20 h 22"/>
              <a:gd name="T18" fmla="*/ 5 w 20"/>
              <a:gd name="T19" fmla="*/ 22 h 22"/>
              <a:gd name="T20" fmla="*/ 7 w 20"/>
              <a:gd name="T21" fmla="*/ 20 h 22"/>
              <a:gd name="T22" fmla="*/ 9 w 20"/>
              <a:gd name="T23" fmla="*/ 17 h 22"/>
              <a:gd name="T24" fmla="*/ 10 w 20"/>
              <a:gd name="T25" fmla="*/ 15 h 22"/>
              <a:gd name="T26" fmla="*/ 12 w 20"/>
              <a:gd name="T27" fmla="*/ 14 h 22"/>
              <a:gd name="T28" fmla="*/ 14 w 20"/>
              <a:gd name="T29" fmla="*/ 10 h 22"/>
              <a:gd name="T30" fmla="*/ 15 w 20"/>
              <a:gd name="T31" fmla="*/ 9 h 22"/>
              <a:gd name="T32" fmla="*/ 17 w 20"/>
              <a:gd name="T33" fmla="*/ 7 h 22"/>
              <a:gd name="T34" fmla="*/ 20 w 20"/>
              <a:gd name="T35" fmla="*/ 4 h 22"/>
              <a:gd name="T36" fmla="*/ 17 w 20"/>
              <a:gd name="T37" fmla="*/ 0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2">
                <a:moveTo>
                  <a:pt x="17" y="0"/>
                </a:moveTo>
                <a:lnTo>
                  <a:pt x="14" y="4"/>
                </a:lnTo>
                <a:lnTo>
                  <a:pt x="12" y="5"/>
                </a:lnTo>
                <a:lnTo>
                  <a:pt x="10" y="7"/>
                </a:lnTo>
                <a:lnTo>
                  <a:pt x="9" y="10"/>
                </a:lnTo>
                <a:lnTo>
                  <a:pt x="5" y="12"/>
                </a:lnTo>
                <a:lnTo>
                  <a:pt x="4" y="15"/>
                </a:lnTo>
                <a:lnTo>
                  <a:pt x="2" y="17"/>
                </a:lnTo>
                <a:lnTo>
                  <a:pt x="0" y="20"/>
                </a:lnTo>
                <a:lnTo>
                  <a:pt x="5" y="22"/>
                </a:lnTo>
                <a:lnTo>
                  <a:pt x="7" y="20"/>
                </a:lnTo>
                <a:lnTo>
                  <a:pt x="9" y="17"/>
                </a:lnTo>
                <a:lnTo>
                  <a:pt x="10" y="15"/>
                </a:lnTo>
                <a:lnTo>
                  <a:pt x="12" y="14"/>
                </a:lnTo>
                <a:lnTo>
                  <a:pt x="14" y="10"/>
                </a:lnTo>
                <a:lnTo>
                  <a:pt x="15" y="9"/>
                </a:lnTo>
                <a:lnTo>
                  <a:pt x="17" y="7"/>
                </a:lnTo>
                <a:lnTo>
                  <a:pt x="20" y="4"/>
                </a:lnTo>
                <a:lnTo>
                  <a:pt x="17"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49" name="Freeform 2454">
            <a:extLst>
              <a:ext uri="{FF2B5EF4-FFF2-40B4-BE49-F238E27FC236}">
                <a16:creationId xmlns:a16="http://schemas.microsoft.com/office/drawing/2014/main" id="{AE7A2C47-AA37-A233-F321-FEB0A60B0D66}"/>
              </a:ext>
            </a:extLst>
          </p:cNvPr>
          <p:cNvSpPr>
            <a:spLocks/>
          </p:cNvSpPr>
          <p:nvPr/>
        </p:nvSpPr>
        <p:spPr bwMode="auto">
          <a:xfrm>
            <a:off x="2781300" y="2447925"/>
            <a:ext cx="31750" cy="34925"/>
          </a:xfrm>
          <a:custGeom>
            <a:avLst/>
            <a:gdLst>
              <a:gd name="T0" fmla="*/ 17 w 20"/>
              <a:gd name="T1" fmla="*/ 0 h 22"/>
              <a:gd name="T2" fmla="*/ 13 w 20"/>
              <a:gd name="T3" fmla="*/ 3 h 22"/>
              <a:gd name="T4" fmla="*/ 12 w 20"/>
              <a:gd name="T5" fmla="*/ 5 h 22"/>
              <a:gd name="T6" fmla="*/ 10 w 20"/>
              <a:gd name="T7" fmla="*/ 7 h 22"/>
              <a:gd name="T8" fmla="*/ 8 w 20"/>
              <a:gd name="T9" fmla="*/ 10 h 22"/>
              <a:gd name="T10" fmla="*/ 7 w 20"/>
              <a:gd name="T11" fmla="*/ 12 h 22"/>
              <a:gd name="T12" fmla="*/ 3 w 20"/>
              <a:gd name="T13" fmla="*/ 15 h 22"/>
              <a:gd name="T14" fmla="*/ 2 w 20"/>
              <a:gd name="T15" fmla="*/ 17 h 22"/>
              <a:gd name="T16" fmla="*/ 0 w 20"/>
              <a:gd name="T17" fmla="*/ 20 h 22"/>
              <a:gd name="T18" fmla="*/ 5 w 20"/>
              <a:gd name="T19" fmla="*/ 22 h 22"/>
              <a:gd name="T20" fmla="*/ 7 w 20"/>
              <a:gd name="T21" fmla="*/ 20 h 22"/>
              <a:gd name="T22" fmla="*/ 8 w 20"/>
              <a:gd name="T23" fmla="*/ 17 h 22"/>
              <a:gd name="T24" fmla="*/ 10 w 20"/>
              <a:gd name="T25" fmla="*/ 15 h 22"/>
              <a:gd name="T26" fmla="*/ 12 w 20"/>
              <a:gd name="T27" fmla="*/ 12 h 22"/>
              <a:gd name="T28" fmla="*/ 13 w 20"/>
              <a:gd name="T29" fmla="*/ 10 h 22"/>
              <a:gd name="T30" fmla="*/ 15 w 20"/>
              <a:gd name="T31" fmla="*/ 8 h 22"/>
              <a:gd name="T32" fmla="*/ 17 w 20"/>
              <a:gd name="T33" fmla="*/ 7 h 22"/>
              <a:gd name="T34" fmla="*/ 20 w 20"/>
              <a:gd name="T35" fmla="*/ 3 h 22"/>
              <a:gd name="T36" fmla="*/ 17 w 20"/>
              <a:gd name="T37" fmla="*/ 0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 h="22">
                <a:moveTo>
                  <a:pt x="17" y="0"/>
                </a:moveTo>
                <a:lnTo>
                  <a:pt x="13" y="3"/>
                </a:lnTo>
                <a:lnTo>
                  <a:pt x="12" y="5"/>
                </a:lnTo>
                <a:lnTo>
                  <a:pt x="10" y="7"/>
                </a:lnTo>
                <a:lnTo>
                  <a:pt x="8" y="10"/>
                </a:lnTo>
                <a:lnTo>
                  <a:pt x="7" y="12"/>
                </a:lnTo>
                <a:lnTo>
                  <a:pt x="3" y="15"/>
                </a:lnTo>
                <a:lnTo>
                  <a:pt x="2" y="17"/>
                </a:lnTo>
                <a:lnTo>
                  <a:pt x="0" y="20"/>
                </a:lnTo>
                <a:lnTo>
                  <a:pt x="5" y="22"/>
                </a:lnTo>
                <a:lnTo>
                  <a:pt x="7" y="20"/>
                </a:lnTo>
                <a:lnTo>
                  <a:pt x="8" y="17"/>
                </a:lnTo>
                <a:lnTo>
                  <a:pt x="10" y="15"/>
                </a:lnTo>
                <a:lnTo>
                  <a:pt x="12" y="12"/>
                </a:lnTo>
                <a:lnTo>
                  <a:pt x="13" y="10"/>
                </a:lnTo>
                <a:lnTo>
                  <a:pt x="15" y="8"/>
                </a:lnTo>
                <a:lnTo>
                  <a:pt x="17" y="7"/>
                </a:lnTo>
                <a:lnTo>
                  <a:pt x="20" y="3"/>
                </a:lnTo>
                <a:lnTo>
                  <a:pt x="17"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50" name="Freeform 2455">
            <a:extLst>
              <a:ext uri="{FF2B5EF4-FFF2-40B4-BE49-F238E27FC236}">
                <a16:creationId xmlns:a16="http://schemas.microsoft.com/office/drawing/2014/main" id="{652EA8F7-629F-B139-B864-2052079BC8CB}"/>
              </a:ext>
            </a:extLst>
          </p:cNvPr>
          <p:cNvSpPr>
            <a:spLocks/>
          </p:cNvSpPr>
          <p:nvPr/>
        </p:nvSpPr>
        <p:spPr bwMode="auto">
          <a:xfrm>
            <a:off x="2786063" y="2451100"/>
            <a:ext cx="28575" cy="33338"/>
          </a:xfrm>
          <a:custGeom>
            <a:avLst/>
            <a:gdLst>
              <a:gd name="T0" fmla="*/ 15 w 18"/>
              <a:gd name="T1" fmla="*/ 0 h 21"/>
              <a:gd name="T2" fmla="*/ 12 w 18"/>
              <a:gd name="T3" fmla="*/ 3 h 21"/>
              <a:gd name="T4" fmla="*/ 10 w 18"/>
              <a:gd name="T5" fmla="*/ 5 h 21"/>
              <a:gd name="T6" fmla="*/ 9 w 18"/>
              <a:gd name="T7" fmla="*/ 6 h 21"/>
              <a:gd name="T8" fmla="*/ 7 w 18"/>
              <a:gd name="T9" fmla="*/ 10 h 21"/>
              <a:gd name="T10" fmla="*/ 5 w 18"/>
              <a:gd name="T11" fmla="*/ 11 h 21"/>
              <a:gd name="T12" fmla="*/ 4 w 18"/>
              <a:gd name="T13" fmla="*/ 13 h 21"/>
              <a:gd name="T14" fmla="*/ 2 w 18"/>
              <a:gd name="T15" fmla="*/ 16 h 21"/>
              <a:gd name="T16" fmla="*/ 0 w 18"/>
              <a:gd name="T17" fmla="*/ 18 h 21"/>
              <a:gd name="T18" fmla="*/ 4 w 18"/>
              <a:gd name="T19" fmla="*/ 21 h 21"/>
              <a:gd name="T20" fmla="*/ 5 w 18"/>
              <a:gd name="T21" fmla="*/ 20 h 21"/>
              <a:gd name="T22" fmla="*/ 7 w 18"/>
              <a:gd name="T23" fmla="*/ 16 h 21"/>
              <a:gd name="T24" fmla="*/ 9 w 18"/>
              <a:gd name="T25" fmla="*/ 15 h 21"/>
              <a:gd name="T26" fmla="*/ 10 w 18"/>
              <a:gd name="T27" fmla="*/ 11 h 21"/>
              <a:gd name="T28" fmla="*/ 12 w 18"/>
              <a:gd name="T29" fmla="*/ 10 h 21"/>
              <a:gd name="T30" fmla="*/ 14 w 18"/>
              <a:gd name="T31" fmla="*/ 8 h 21"/>
              <a:gd name="T32" fmla="*/ 17 w 18"/>
              <a:gd name="T33" fmla="*/ 6 h 21"/>
              <a:gd name="T34" fmla="*/ 18 w 18"/>
              <a:gd name="T35" fmla="*/ 3 h 21"/>
              <a:gd name="T36" fmla="*/ 15 w 18"/>
              <a:gd name="T37" fmla="*/ 0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21">
                <a:moveTo>
                  <a:pt x="15" y="0"/>
                </a:moveTo>
                <a:lnTo>
                  <a:pt x="12" y="3"/>
                </a:lnTo>
                <a:lnTo>
                  <a:pt x="10" y="5"/>
                </a:lnTo>
                <a:lnTo>
                  <a:pt x="9" y="6"/>
                </a:lnTo>
                <a:lnTo>
                  <a:pt x="7" y="10"/>
                </a:lnTo>
                <a:lnTo>
                  <a:pt x="5" y="11"/>
                </a:lnTo>
                <a:lnTo>
                  <a:pt x="4" y="13"/>
                </a:lnTo>
                <a:lnTo>
                  <a:pt x="2" y="16"/>
                </a:lnTo>
                <a:lnTo>
                  <a:pt x="0" y="18"/>
                </a:lnTo>
                <a:lnTo>
                  <a:pt x="4" y="21"/>
                </a:lnTo>
                <a:lnTo>
                  <a:pt x="5" y="20"/>
                </a:lnTo>
                <a:lnTo>
                  <a:pt x="7" y="16"/>
                </a:lnTo>
                <a:lnTo>
                  <a:pt x="9" y="15"/>
                </a:lnTo>
                <a:lnTo>
                  <a:pt x="10" y="11"/>
                </a:lnTo>
                <a:lnTo>
                  <a:pt x="12" y="10"/>
                </a:lnTo>
                <a:lnTo>
                  <a:pt x="14" y="8"/>
                </a:lnTo>
                <a:lnTo>
                  <a:pt x="17" y="6"/>
                </a:lnTo>
                <a:lnTo>
                  <a:pt x="18" y="3"/>
                </a:lnTo>
                <a:lnTo>
                  <a:pt x="15"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51" name="Freeform 2456">
            <a:extLst>
              <a:ext uri="{FF2B5EF4-FFF2-40B4-BE49-F238E27FC236}">
                <a16:creationId xmlns:a16="http://schemas.microsoft.com/office/drawing/2014/main" id="{BA10D954-6DD9-BB73-2FDC-9D4E1C3E7175}"/>
              </a:ext>
            </a:extLst>
          </p:cNvPr>
          <p:cNvSpPr>
            <a:spLocks/>
          </p:cNvSpPr>
          <p:nvPr/>
        </p:nvSpPr>
        <p:spPr bwMode="auto">
          <a:xfrm>
            <a:off x="2789238" y="2452688"/>
            <a:ext cx="28575" cy="34925"/>
          </a:xfrm>
          <a:custGeom>
            <a:avLst/>
            <a:gdLst>
              <a:gd name="T0" fmla="*/ 15 w 18"/>
              <a:gd name="T1" fmla="*/ 0 h 22"/>
              <a:gd name="T2" fmla="*/ 12 w 18"/>
              <a:gd name="T3" fmla="*/ 4 h 22"/>
              <a:gd name="T4" fmla="*/ 10 w 18"/>
              <a:gd name="T5" fmla="*/ 5 h 22"/>
              <a:gd name="T6" fmla="*/ 8 w 18"/>
              <a:gd name="T7" fmla="*/ 7 h 22"/>
              <a:gd name="T8" fmla="*/ 7 w 18"/>
              <a:gd name="T9" fmla="*/ 9 h 22"/>
              <a:gd name="T10" fmla="*/ 5 w 18"/>
              <a:gd name="T11" fmla="*/ 12 h 22"/>
              <a:gd name="T12" fmla="*/ 3 w 18"/>
              <a:gd name="T13" fmla="*/ 14 h 22"/>
              <a:gd name="T14" fmla="*/ 2 w 18"/>
              <a:gd name="T15" fmla="*/ 17 h 22"/>
              <a:gd name="T16" fmla="*/ 0 w 18"/>
              <a:gd name="T17" fmla="*/ 19 h 22"/>
              <a:gd name="T18" fmla="*/ 3 w 18"/>
              <a:gd name="T19" fmla="*/ 22 h 22"/>
              <a:gd name="T20" fmla="*/ 5 w 18"/>
              <a:gd name="T21" fmla="*/ 19 h 22"/>
              <a:gd name="T22" fmla="*/ 7 w 18"/>
              <a:gd name="T23" fmla="*/ 17 h 22"/>
              <a:gd name="T24" fmla="*/ 8 w 18"/>
              <a:gd name="T25" fmla="*/ 15 h 22"/>
              <a:gd name="T26" fmla="*/ 10 w 18"/>
              <a:gd name="T27" fmla="*/ 12 h 22"/>
              <a:gd name="T28" fmla="*/ 12 w 18"/>
              <a:gd name="T29" fmla="*/ 10 h 22"/>
              <a:gd name="T30" fmla="*/ 13 w 18"/>
              <a:gd name="T31" fmla="*/ 9 h 22"/>
              <a:gd name="T32" fmla="*/ 16 w 18"/>
              <a:gd name="T33" fmla="*/ 7 h 22"/>
              <a:gd name="T34" fmla="*/ 18 w 18"/>
              <a:gd name="T35" fmla="*/ 4 h 22"/>
              <a:gd name="T36" fmla="*/ 15 w 18"/>
              <a:gd name="T37" fmla="*/ 0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22">
                <a:moveTo>
                  <a:pt x="15" y="0"/>
                </a:moveTo>
                <a:lnTo>
                  <a:pt x="12" y="4"/>
                </a:lnTo>
                <a:lnTo>
                  <a:pt x="10" y="5"/>
                </a:lnTo>
                <a:lnTo>
                  <a:pt x="8" y="7"/>
                </a:lnTo>
                <a:lnTo>
                  <a:pt x="7" y="9"/>
                </a:lnTo>
                <a:lnTo>
                  <a:pt x="5" y="12"/>
                </a:lnTo>
                <a:lnTo>
                  <a:pt x="3" y="14"/>
                </a:lnTo>
                <a:lnTo>
                  <a:pt x="2" y="17"/>
                </a:lnTo>
                <a:lnTo>
                  <a:pt x="0" y="19"/>
                </a:lnTo>
                <a:lnTo>
                  <a:pt x="3" y="22"/>
                </a:lnTo>
                <a:lnTo>
                  <a:pt x="5" y="19"/>
                </a:lnTo>
                <a:lnTo>
                  <a:pt x="7" y="17"/>
                </a:lnTo>
                <a:lnTo>
                  <a:pt x="8" y="15"/>
                </a:lnTo>
                <a:lnTo>
                  <a:pt x="10" y="12"/>
                </a:lnTo>
                <a:lnTo>
                  <a:pt x="12" y="10"/>
                </a:lnTo>
                <a:lnTo>
                  <a:pt x="13" y="9"/>
                </a:lnTo>
                <a:lnTo>
                  <a:pt x="16" y="7"/>
                </a:lnTo>
                <a:lnTo>
                  <a:pt x="18" y="4"/>
                </a:lnTo>
                <a:lnTo>
                  <a:pt x="15"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52" name="Freeform 2457">
            <a:extLst>
              <a:ext uri="{FF2B5EF4-FFF2-40B4-BE49-F238E27FC236}">
                <a16:creationId xmlns:a16="http://schemas.microsoft.com/office/drawing/2014/main" id="{A5954C41-190E-D25D-54BF-7680BF8DE1F4}"/>
              </a:ext>
            </a:extLst>
          </p:cNvPr>
          <p:cNvSpPr>
            <a:spLocks/>
          </p:cNvSpPr>
          <p:nvPr/>
        </p:nvSpPr>
        <p:spPr bwMode="auto">
          <a:xfrm>
            <a:off x="2792413" y="2455863"/>
            <a:ext cx="28575" cy="31750"/>
          </a:xfrm>
          <a:custGeom>
            <a:avLst/>
            <a:gdLst>
              <a:gd name="T0" fmla="*/ 14 w 18"/>
              <a:gd name="T1" fmla="*/ 0 h 20"/>
              <a:gd name="T2" fmla="*/ 13 w 18"/>
              <a:gd name="T3" fmla="*/ 3 h 20"/>
              <a:gd name="T4" fmla="*/ 10 w 18"/>
              <a:gd name="T5" fmla="*/ 5 h 20"/>
              <a:gd name="T6" fmla="*/ 8 w 18"/>
              <a:gd name="T7" fmla="*/ 7 h 20"/>
              <a:gd name="T8" fmla="*/ 6 w 18"/>
              <a:gd name="T9" fmla="*/ 8 h 20"/>
              <a:gd name="T10" fmla="*/ 5 w 18"/>
              <a:gd name="T11" fmla="*/ 12 h 20"/>
              <a:gd name="T12" fmla="*/ 3 w 18"/>
              <a:gd name="T13" fmla="*/ 13 h 20"/>
              <a:gd name="T14" fmla="*/ 1 w 18"/>
              <a:gd name="T15" fmla="*/ 17 h 20"/>
              <a:gd name="T16" fmla="*/ 0 w 18"/>
              <a:gd name="T17" fmla="*/ 18 h 20"/>
              <a:gd name="T18" fmla="*/ 5 w 18"/>
              <a:gd name="T19" fmla="*/ 20 h 20"/>
              <a:gd name="T20" fmla="*/ 5 w 18"/>
              <a:gd name="T21" fmla="*/ 18 h 20"/>
              <a:gd name="T22" fmla="*/ 6 w 18"/>
              <a:gd name="T23" fmla="*/ 17 h 20"/>
              <a:gd name="T24" fmla="*/ 8 w 18"/>
              <a:gd name="T25" fmla="*/ 13 h 20"/>
              <a:gd name="T26" fmla="*/ 10 w 18"/>
              <a:gd name="T27" fmla="*/ 12 h 20"/>
              <a:gd name="T28" fmla="*/ 11 w 18"/>
              <a:gd name="T29" fmla="*/ 10 h 20"/>
              <a:gd name="T30" fmla="*/ 14 w 18"/>
              <a:gd name="T31" fmla="*/ 8 h 20"/>
              <a:gd name="T32" fmla="*/ 16 w 18"/>
              <a:gd name="T33" fmla="*/ 7 h 20"/>
              <a:gd name="T34" fmla="*/ 18 w 18"/>
              <a:gd name="T35" fmla="*/ 3 h 20"/>
              <a:gd name="T36" fmla="*/ 14 w 18"/>
              <a:gd name="T37" fmla="*/ 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20">
                <a:moveTo>
                  <a:pt x="14" y="0"/>
                </a:moveTo>
                <a:lnTo>
                  <a:pt x="13" y="3"/>
                </a:lnTo>
                <a:lnTo>
                  <a:pt x="10" y="5"/>
                </a:lnTo>
                <a:lnTo>
                  <a:pt x="8" y="7"/>
                </a:lnTo>
                <a:lnTo>
                  <a:pt x="6" y="8"/>
                </a:lnTo>
                <a:lnTo>
                  <a:pt x="5" y="12"/>
                </a:lnTo>
                <a:lnTo>
                  <a:pt x="3" y="13"/>
                </a:lnTo>
                <a:lnTo>
                  <a:pt x="1" y="17"/>
                </a:lnTo>
                <a:lnTo>
                  <a:pt x="0" y="18"/>
                </a:lnTo>
                <a:lnTo>
                  <a:pt x="5" y="20"/>
                </a:lnTo>
                <a:lnTo>
                  <a:pt x="5" y="18"/>
                </a:lnTo>
                <a:lnTo>
                  <a:pt x="6" y="17"/>
                </a:lnTo>
                <a:lnTo>
                  <a:pt x="8" y="13"/>
                </a:lnTo>
                <a:lnTo>
                  <a:pt x="10" y="12"/>
                </a:lnTo>
                <a:lnTo>
                  <a:pt x="11" y="10"/>
                </a:lnTo>
                <a:lnTo>
                  <a:pt x="14" y="8"/>
                </a:lnTo>
                <a:lnTo>
                  <a:pt x="16" y="7"/>
                </a:lnTo>
                <a:lnTo>
                  <a:pt x="18" y="3"/>
                </a:lnTo>
                <a:lnTo>
                  <a:pt x="14"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53" name="Freeform 2458">
            <a:extLst>
              <a:ext uri="{FF2B5EF4-FFF2-40B4-BE49-F238E27FC236}">
                <a16:creationId xmlns:a16="http://schemas.microsoft.com/office/drawing/2014/main" id="{5CF09C23-D819-E94D-6BF3-BD30E6FF3DEC}"/>
              </a:ext>
            </a:extLst>
          </p:cNvPr>
          <p:cNvSpPr>
            <a:spLocks/>
          </p:cNvSpPr>
          <p:nvPr/>
        </p:nvSpPr>
        <p:spPr bwMode="auto">
          <a:xfrm>
            <a:off x="2794000" y="2459038"/>
            <a:ext cx="28575" cy="30163"/>
          </a:xfrm>
          <a:custGeom>
            <a:avLst/>
            <a:gdLst>
              <a:gd name="T0" fmla="*/ 15 w 18"/>
              <a:gd name="T1" fmla="*/ 0 h 19"/>
              <a:gd name="T2" fmla="*/ 13 w 18"/>
              <a:gd name="T3" fmla="*/ 3 h 19"/>
              <a:gd name="T4" fmla="*/ 10 w 18"/>
              <a:gd name="T5" fmla="*/ 5 h 19"/>
              <a:gd name="T6" fmla="*/ 9 w 18"/>
              <a:gd name="T7" fmla="*/ 6 h 19"/>
              <a:gd name="T8" fmla="*/ 7 w 18"/>
              <a:gd name="T9" fmla="*/ 8 h 19"/>
              <a:gd name="T10" fmla="*/ 5 w 18"/>
              <a:gd name="T11" fmla="*/ 11 h 19"/>
              <a:gd name="T12" fmla="*/ 4 w 18"/>
              <a:gd name="T13" fmla="*/ 13 h 19"/>
              <a:gd name="T14" fmla="*/ 2 w 18"/>
              <a:gd name="T15" fmla="*/ 15 h 19"/>
              <a:gd name="T16" fmla="*/ 0 w 18"/>
              <a:gd name="T17" fmla="*/ 18 h 19"/>
              <a:gd name="T18" fmla="*/ 5 w 18"/>
              <a:gd name="T19" fmla="*/ 19 h 19"/>
              <a:gd name="T20" fmla="*/ 7 w 18"/>
              <a:gd name="T21" fmla="*/ 18 h 19"/>
              <a:gd name="T22" fmla="*/ 9 w 18"/>
              <a:gd name="T23" fmla="*/ 16 h 19"/>
              <a:gd name="T24" fmla="*/ 10 w 18"/>
              <a:gd name="T25" fmla="*/ 13 h 19"/>
              <a:gd name="T26" fmla="*/ 12 w 18"/>
              <a:gd name="T27" fmla="*/ 11 h 19"/>
              <a:gd name="T28" fmla="*/ 13 w 18"/>
              <a:gd name="T29" fmla="*/ 10 h 19"/>
              <a:gd name="T30" fmla="*/ 15 w 18"/>
              <a:gd name="T31" fmla="*/ 8 h 19"/>
              <a:gd name="T32" fmla="*/ 17 w 18"/>
              <a:gd name="T33" fmla="*/ 5 h 19"/>
              <a:gd name="T34" fmla="*/ 18 w 18"/>
              <a:gd name="T35" fmla="*/ 3 h 19"/>
              <a:gd name="T36" fmla="*/ 15 w 18"/>
              <a:gd name="T37" fmla="*/ 0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 h="19">
                <a:moveTo>
                  <a:pt x="15" y="0"/>
                </a:moveTo>
                <a:lnTo>
                  <a:pt x="13" y="3"/>
                </a:lnTo>
                <a:lnTo>
                  <a:pt x="10" y="5"/>
                </a:lnTo>
                <a:lnTo>
                  <a:pt x="9" y="6"/>
                </a:lnTo>
                <a:lnTo>
                  <a:pt x="7" y="8"/>
                </a:lnTo>
                <a:lnTo>
                  <a:pt x="5" y="11"/>
                </a:lnTo>
                <a:lnTo>
                  <a:pt x="4" y="13"/>
                </a:lnTo>
                <a:lnTo>
                  <a:pt x="2" y="15"/>
                </a:lnTo>
                <a:lnTo>
                  <a:pt x="0" y="18"/>
                </a:lnTo>
                <a:lnTo>
                  <a:pt x="5" y="19"/>
                </a:lnTo>
                <a:lnTo>
                  <a:pt x="7" y="18"/>
                </a:lnTo>
                <a:lnTo>
                  <a:pt x="9" y="16"/>
                </a:lnTo>
                <a:lnTo>
                  <a:pt x="10" y="13"/>
                </a:lnTo>
                <a:lnTo>
                  <a:pt x="12" y="11"/>
                </a:lnTo>
                <a:lnTo>
                  <a:pt x="13" y="10"/>
                </a:lnTo>
                <a:lnTo>
                  <a:pt x="15" y="8"/>
                </a:lnTo>
                <a:lnTo>
                  <a:pt x="17" y="5"/>
                </a:lnTo>
                <a:lnTo>
                  <a:pt x="18" y="3"/>
                </a:lnTo>
                <a:lnTo>
                  <a:pt x="15" y="0"/>
                </a:lnTo>
                <a:close/>
              </a:path>
            </a:pathLst>
          </a:custGeom>
          <a:solidFill>
            <a:srgbClr val="EAF4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54" name="Freeform 2459">
            <a:extLst>
              <a:ext uri="{FF2B5EF4-FFF2-40B4-BE49-F238E27FC236}">
                <a16:creationId xmlns:a16="http://schemas.microsoft.com/office/drawing/2014/main" id="{7431667F-7BB1-CB7F-0389-5CB2168B8FE9}"/>
              </a:ext>
            </a:extLst>
          </p:cNvPr>
          <p:cNvSpPr>
            <a:spLocks/>
          </p:cNvSpPr>
          <p:nvPr/>
        </p:nvSpPr>
        <p:spPr bwMode="auto">
          <a:xfrm>
            <a:off x="2800350" y="2460625"/>
            <a:ext cx="25400" cy="31750"/>
          </a:xfrm>
          <a:custGeom>
            <a:avLst/>
            <a:gdLst>
              <a:gd name="T0" fmla="*/ 13 w 16"/>
              <a:gd name="T1" fmla="*/ 0 h 20"/>
              <a:gd name="T2" fmla="*/ 11 w 16"/>
              <a:gd name="T3" fmla="*/ 4 h 20"/>
              <a:gd name="T4" fmla="*/ 9 w 16"/>
              <a:gd name="T5" fmla="*/ 5 h 20"/>
              <a:gd name="T6" fmla="*/ 6 w 16"/>
              <a:gd name="T7" fmla="*/ 7 h 20"/>
              <a:gd name="T8" fmla="*/ 5 w 16"/>
              <a:gd name="T9" fmla="*/ 9 h 20"/>
              <a:gd name="T10" fmla="*/ 3 w 16"/>
              <a:gd name="T11" fmla="*/ 10 h 20"/>
              <a:gd name="T12" fmla="*/ 1 w 16"/>
              <a:gd name="T13" fmla="*/ 14 h 20"/>
              <a:gd name="T14" fmla="*/ 0 w 16"/>
              <a:gd name="T15" fmla="*/ 15 h 20"/>
              <a:gd name="T16" fmla="*/ 0 w 16"/>
              <a:gd name="T17" fmla="*/ 17 h 20"/>
              <a:gd name="T18" fmla="*/ 3 w 16"/>
              <a:gd name="T19" fmla="*/ 20 h 20"/>
              <a:gd name="T20" fmla="*/ 5 w 16"/>
              <a:gd name="T21" fmla="*/ 18 h 20"/>
              <a:gd name="T22" fmla="*/ 6 w 16"/>
              <a:gd name="T23" fmla="*/ 15 h 20"/>
              <a:gd name="T24" fmla="*/ 8 w 16"/>
              <a:gd name="T25" fmla="*/ 14 h 20"/>
              <a:gd name="T26" fmla="*/ 9 w 16"/>
              <a:gd name="T27" fmla="*/ 12 h 20"/>
              <a:gd name="T28" fmla="*/ 11 w 16"/>
              <a:gd name="T29" fmla="*/ 10 h 20"/>
              <a:gd name="T30" fmla="*/ 13 w 16"/>
              <a:gd name="T31" fmla="*/ 9 h 20"/>
              <a:gd name="T32" fmla="*/ 14 w 16"/>
              <a:gd name="T33" fmla="*/ 5 h 20"/>
              <a:gd name="T34" fmla="*/ 16 w 16"/>
              <a:gd name="T35" fmla="*/ 4 h 20"/>
              <a:gd name="T36" fmla="*/ 13 w 16"/>
              <a:gd name="T37" fmla="*/ 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6" h="20">
                <a:moveTo>
                  <a:pt x="13" y="0"/>
                </a:moveTo>
                <a:lnTo>
                  <a:pt x="11" y="4"/>
                </a:lnTo>
                <a:lnTo>
                  <a:pt x="9" y="5"/>
                </a:lnTo>
                <a:lnTo>
                  <a:pt x="6" y="7"/>
                </a:lnTo>
                <a:lnTo>
                  <a:pt x="5" y="9"/>
                </a:lnTo>
                <a:lnTo>
                  <a:pt x="3" y="10"/>
                </a:lnTo>
                <a:lnTo>
                  <a:pt x="1" y="14"/>
                </a:lnTo>
                <a:lnTo>
                  <a:pt x="0" y="15"/>
                </a:lnTo>
                <a:lnTo>
                  <a:pt x="0" y="17"/>
                </a:lnTo>
                <a:lnTo>
                  <a:pt x="3" y="20"/>
                </a:lnTo>
                <a:lnTo>
                  <a:pt x="5" y="18"/>
                </a:lnTo>
                <a:lnTo>
                  <a:pt x="6" y="15"/>
                </a:lnTo>
                <a:lnTo>
                  <a:pt x="8" y="14"/>
                </a:lnTo>
                <a:lnTo>
                  <a:pt x="9" y="12"/>
                </a:lnTo>
                <a:lnTo>
                  <a:pt x="11" y="10"/>
                </a:lnTo>
                <a:lnTo>
                  <a:pt x="13" y="9"/>
                </a:lnTo>
                <a:lnTo>
                  <a:pt x="14" y="5"/>
                </a:lnTo>
                <a:lnTo>
                  <a:pt x="16" y="4"/>
                </a:lnTo>
                <a:lnTo>
                  <a:pt x="13"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55" name="Freeform 2460">
            <a:extLst>
              <a:ext uri="{FF2B5EF4-FFF2-40B4-BE49-F238E27FC236}">
                <a16:creationId xmlns:a16="http://schemas.microsoft.com/office/drawing/2014/main" id="{531B56C6-B291-8D84-885B-B9D8B09721EC}"/>
              </a:ext>
            </a:extLst>
          </p:cNvPr>
          <p:cNvSpPr>
            <a:spLocks/>
          </p:cNvSpPr>
          <p:nvPr/>
        </p:nvSpPr>
        <p:spPr bwMode="auto">
          <a:xfrm>
            <a:off x="2801938" y="2463800"/>
            <a:ext cx="26988" cy="31750"/>
          </a:xfrm>
          <a:custGeom>
            <a:avLst/>
            <a:gdLst>
              <a:gd name="T0" fmla="*/ 13 w 17"/>
              <a:gd name="T1" fmla="*/ 0 h 20"/>
              <a:gd name="T2" fmla="*/ 12 w 17"/>
              <a:gd name="T3" fmla="*/ 2 h 20"/>
              <a:gd name="T4" fmla="*/ 10 w 17"/>
              <a:gd name="T5" fmla="*/ 5 h 20"/>
              <a:gd name="T6" fmla="*/ 8 w 17"/>
              <a:gd name="T7" fmla="*/ 7 h 20"/>
              <a:gd name="T8" fmla="*/ 7 w 17"/>
              <a:gd name="T9" fmla="*/ 8 h 20"/>
              <a:gd name="T10" fmla="*/ 5 w 17"/>
              <a:gd name="T11" fmla="*/ 10 h 20"/>
              <a:gd name="T12" fmla="*/ 4 w 17"/>
              <a:gd name="T13" fmla="*/ 13 h 20"/>
              <a:gd name="T14" fmla="*/ 2 w 17"/>
              <a:gd name="T15" fmla="*/ 15 h 20"/>
              <a:gd name="T16" fmla="*/ 0 w 17"/>
              <a:gd name="T17" fmla="*/ 16 h 20"/>
              <a:gd name="T18" fmla="*/ 4 w 17"/>
              <a:gd name="T19" fmla="*/ 20 h 20"/>
              <a:gd name="T20" fmla="*/ 5 w 17"/>
              <a:gd name="T21" fmla="*/ 16 h 20"/>
              <a:gd name="T22" fmla="*/ 7 w 17"/>
              <a:gd name="T23" fmla="*/ 15 h 20"/>
              <a:gd name="T24" fmla="*/ 8 w 17"/>
              <a:gd name="T25" fmla="*/ 13 h 20"/>
              <a:gd name="T26" fmla="*/ 10 w 17"/>
              <a:gd name="T27" fmla="*/ 12 h 20"/>
              <a:gd name="T28" fmla="*/ 12 w 17"/>
              <a:gd name="T29" fmla="*/ 10 h 20"/>
              <a:gd name="T30" fmla="*/ 13 w 17"/>
              <a:gd name="T31" fmla="*/ 8 h 20"/>
              <a:gd name="T32" fmla="*/ 15 w 17"/>
              <a:gd name="T33" fmla="*/ 5 h 20"/>
              <a:gd name="T34" fmla="*/ 17 w 17"/>
              <a:gd name="T35" fmla="*/ 3 h 20"/>
              <a:gd name="T36" fmla="*/ 13 w 17"/>
              <a:gd name="T37" fmla="*/ 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 h="20">
                <a:moveTo>
                  <a:pt x="13" y="0"/>
                </a:moveTo>
                <a:lnTo>
                  <a:pt x="12" y="2"/>
                </a:lnTo>
                <a:lnTo>
                  <a:pt x="10" y="5"/>
                </a:lnTo>
                <a:lnTo>
                  <a:pt x="8" y="7"/>
                </a:lnTo>
                <a:lnTo>
                  <a:pt x="7" y="8"/>
                </a:lnTo>
                <a:lnTo>
                  <a:pt x="5" y="10"/>
                </a:lnTo>
                <a:lnTo>
                  <a:pt x="4" y="13"/>
                </a:lnTo>
                <a:lnTo>
                  <a:pt x="2" y="15"/>
                </a:lnTo>
                <a:lnTo>
                  <a:pt x="0" y="16"/>
                </a:lnTo>
                <a:lnTo>
                  <a:pt x="4" y="20"/>
                </a:lnTo>
                <a:lnTo>
                  <a:pt x="5" y="16"/>
                </a:lnTo>
                <a:lnTo>
                  <a:pt x="7" y="15"/>
                </a:lnTo>
                <a:lnTo>
                  <a:pt x="8" y="13"/>
                </a:lnTo>
                <a:lnTo>
                  <a:pt x="10" y="12"/>
                </a:lnTo>
                <a:lnTo>
                  <a:pt x="12" y="10"/>
                </a:lnTo>
                <a:lnTo>
                  <a:pt x="13" y="8"/>
                </a:lnTo>
                <a:lnTo>
                  <a:pt x="15" y="5"/>
                </a:lnTo>
                <a:lnTo>
                  <a:pt x="17" y="3"/>
                </a:lnTo>
                <a:lnTo>
                  <a:pt x="13"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56" name="Freeform 2461">
            <a:extLst>
              <a:ext uri="{FF2B5EF4-FFF2-40B4-BE49-F238E27FC236}">
                <a16:creationId xmlns:a16="http://schemas.microsoft.com/office/drawing/2014/main" id="{78C8E4FF-7089-D665-D35F-A6AFDE050727}"/>
              </a:ext>
            </a:extLst>
          </p:cNvPr>
          <p:cNvSpPr>
            <a:spLocks/>
          </p:cNvSpPr>
          <p:nvPr/>
        </p:nvSpPr>
        <p:spPr bwMode="auto">
          <a:xfrm>
            <a:off x="2805113" y="2466975"/>
            <a:ext cx="25400" cy="30163"/>
          </a:xfrm>
          <a:custGeom>
            <a:avLst/>
            <a:gdLst>
              <a:gd name="T0" fmla="*/ 13 w 16"/>
              <a:gd name="T1" fmla="*/ 0 h 19"/>
              <a:gd name="T2" fmla="*/ 11 w 16"/>
              <a:gd name="T3" fmla="*/ 1 h 19"/>
              <a:gd name="T4" fmla="*/ 10 w 16"/>
              <a:gd name="T5" fmla="*/ 5 h 19"/>
              <a:gd name="T6" fmla="*/ 8 w 16"/>
              <a:gd name="T7" fmla="*/ 6 h 19"/>
              <a:gd name="T8" fmla="*/ 6 w 16"/>
              <a:gd name="T9" fmla="*/ 8 h 19"/>
              <a:gd name="T10" fmla="*/ 5 w 16"/>
              <a:gd name="T11" fmla="*/ 10 h 19"/>
              <a:gd name="T12" fmla="*/ 3 w 16"/>
              <a:gd name="T13" fmla="*/ 11 h 19"/>
              <a:gd name="T14" fmla="*/ 2 w 16"/>
              <a:gd name="T15" fmla="*/ 14 h 19"/>
              <a:gd name="T16" fmla="*/ 0 w 16"/>
              <a:gd name="T17" fmla="*/ 16 h 19"/>
              <a:gd name="T18" fmla="*/ 5 w 16"/>
              <a:gd name="T19" fmla="*/ 19 h 19"/>
              <a:gd name="T20" fmla="*/ 5 w 16"/>
              <a:gd name="T21" fmla="*/ 16 h 19"/>
              <a:gd name="T22" fmla="*/ 6 w 16"/>
              <a:gd name="T23" fmla="*/ 14 h 19"/>
              <a:gd name="T24" fmla="*/ 8 w 16"/>
              <a:gd name="T25" fmla="*/ 13 h 19"/>
              <a:gd name="T26" fmla="*/ 10 w 16"/>
              <a:gd name="T27" fmla="*/ 11 h 19"/>
              <a:gd name="T28" fmla="*/ 11 w 16"/>
              <a:gd name="T29" fmla="*/ 10 h 19"/>
              <a:gd name="T30" fmla="*/ 13 w 16"/>
              <a:gd name="T31" fmla="*/ 8 h 19"/>
              <a:gd name="T32" fmla="*/ 15 w 16"/>
              <a:gd name="T33" fmla="*/ 5 h 19"/>
              <a:gd name="T34" fmla="*/ 16 w 16"/>
              <a:gd name="T35" fmla="*/ 3 h 19"/>
              <a:gd name="T36" fmla="*/ 13 w 16"/>
              <a:gd name="T37" fmla="*/ 0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6" h="19">
                <a:moveTo>
                  <a:pt x="13" y="0"/>
                </a:moveTo>
                <a:lnTo>
                  <a:pt x="11" y="1"/>
                </a:lnTo>
                <a:lnTo>
                  <a:pt x="10" y="5"/>
                </a:lnTo>
                <a:lnTo>
                  <a:pt x="8" y="6"/>
                </a:lnTo>
                <a:lnTo>
                  <a:pt x="6" y="8"/>
                </a:lnTo>
                <a:lnTo>
                  <a:pt x="5" y="10"/>
                </a:lnTo>
                <a:lnTo>
                  <a:pt x="3" y="11"/>
                </a:lnTo>
                <a:lnTo>
                  <a:pt x="2" y="14"/>
                </a:lnTo>
                <a:lnTo>
                  <a:pt x="0" y="16"/>
                </a:lnTo>
                <a:lnTo>
                  <a:pt x="5" y="19"/>
                </a:lnTo>
                <a:lnTo>
                  <a:pt x="5" y="16"/>
                </a:lnTo>
                <a:lnTo>
                  <a:pt x="6" y="14"/>
                </a:lnTo>
                <a:lnTo>
                  <a:pt x="8" y="13"/>
                </a:lnTo>
                <a:lnTo>
                  <a:pt x="10" y="11"/>
                </a:lnTo>
                <a:lnTo>
                  <a:pt x="11" y="10"/>
                </a:lnTo>
                <a:lnTo>
                  <a:pt x="13" y="8"/>
                </a:lnTo>
                <a:lnTo>
                  <a:pt x="15" y="5"/>
                </a:lnTo>
                <a:lnTo>
                  <a:pt x="16" y="3"/>
                </a:lnTo>
                <a:lnTo>
                  <a:pt x="13"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57" name="Freeform 2462">
            <a:extLst>
              <a:ext uri="{FF2B5EF4-FFF2-40B4-BE49-F238E27FC236}">
                <a16:creationId xmlns:a16="http://schemas.microsoft.com/office/drawing/2014/main" id="{10F2EF57-5382-00F2-CC88-DB089712A826}"/>
              </a:ext>
            </a:extLst>
          </p:cNvPr>
          <p:cNvSpPr>
            <a:spLocks/>
          </p:cNvSpPr>
          <p:nvPr/>
        </p:nvSpPr>
        <p:spPr bwMode="auto">
          <a:xfrm>
            <a:off x="2808288" y="2468563"/>
            <a:ext cx="25400" cy="28575"/>
          </a:xfrm>
          <a:custGeom>
            <a:avLst/>
            <a:gdLst>
              <a:gd name="T0" fmla="*/ 13 w 16"/>
              <a:gd name="T1" fmla="*/ 0 h 18"/>
              <a:gd name="T2" fmla="*/ 11 w 16"/>
              <a:gd name="T3" fmla="*/ 2 h 18"/>
              <a:gd name="T4" fmla="*/ 9 w 16"/>
              <a:gd name="T5" fmla="*/ 5 h 18"/>
              <a:gd name="T6" fmla="*/ 8 w 16"/>
              <a:gd name="T7" fmla="*/ 7 h 18"/>
              <a:gd name="T8" fmla="*/ 6 w 16"/>
              <a:gd name="T9" fmla="*/ 9 h 18"/>
              <a:gd name="T10" fmla="*/ 4 w 16"/>
              <a:gd name="T11" fmla="*/ 10 h 18"/>
              <a:gd name="T12" fmla="*/ 3 w 16"/>
              <a:gd name="T13" fmla="*/ 12 h 18"/>
              <a:gd name="T14" fmla="*/ 1 w 16"/>
              <a:gd name="T15" fmla="*/ 13 h 18"/>
              <a:gd name="T16" fmla="*/ 0 w 16"/>
              <a:gd name="T17" fmla="*/ 17 h 18"/>
              <a:gd name="T18" fmla="*/ 4 w 16"/>
              <a:gd name="T19" fmla="*/ 18 h 18"/>
              <a:gd name="T20" fmla="*/ 6 w 16"/>
              <a:gd name="T21" fmla="*/ 17 h 18"/>
              <a:gd name="T22" fmla="*/ 6 w 16"/>
              <a:gd name="T23" fmla="*/ 15 h 18"/>
              <a:gd name="T24" fmla="*/ 8 w 16"/>
              <a:gd name="T25" fmla="*/ 13 h 18"/>
              <a:gd name="T26" fmla="*/ 9 w 16"/>
              <a:gd name="T27" fmla="*/ 12 h 18"/>
              <a:gd name="T28" fmla="*/ 11 w 16"/>
              <a:gd name="T29" fmla="*/ 10 h 18"/>
              <a:gd name="T30" fmla="*/ 13 w 16"/>
              <a:gd name="T31" fmla="*/ 7 h 18"/>
              <a:gd name="T32" fmla="*/ 14 w 16"/>
              <a:gd name="T33" fmla="*/ 5 h 18"/>
              <a:gd name="T34" fmla="*/ 16 w 16"/>
              <a:gd name="T35" fmla="*/ 4 h 18"/>
              <a:gd name="T36" fmla="*/ 13 w 16"/>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6" h="18">
                <a:moveTo>
                  <a:pt x="13" y="0"/>
                </a:moveTo>
                <a:lnTo>
                  <a:pt x="11" y="2"/>
                </a:lnTo>
                <a:lnTo>
                  <a:pt x="9" y="5"/>
                </a:lnTo>
                <a:lnTo>
                  <a:pt x="8" y="7"/>
                </a:lnTo>
                <a:lnTo>
                  <a:pt x="6" y="9"/>
                </a:lnTo>
                <a:lnTo>
                  <a:pt x="4" y="10"/>
                </a:lnTo>
                <a:lnTo>
                  <a:pt x="3" y="12"/>
                </a:lnTo>
                <a:lnTo>
                  <a:pt x="1" y="13"/>
                </a:lnTo>
                <a:lnTo>
                  <a:pt x="0" y="17"/>
                </a:lnTo>
                <a:lnTo>
                  <a:pt x="4" y="18"/>
                </a:lnTo>
                <a:lnTo>
                  <a:pt x="6" y="17"/>
                </a:lnTo>
                <a:lnTo>
                  <a:pt x="6" y="15"/>
                </a:lnTo>
                <a:lnTo>
                  <a:pt x="8" y="13"/>
                </a:lnTo>
                <a:lnTo>
                  <a:pt x="9" y="12"/>
                </a:lnTo>
                <a:lnTo>
                  <a:pt x="11" y="10"/>
                </a:lnTo>
                <a:lnTo>
                  <a:pt x="13" y="7"/>
                </a:lnTo>
                <a:lnTo>
                  <a:pt x="14" y="5"/>
                </a:lnTo>
                <a:lnTo>
                  <a:pt x="16" y="4"/>
                </a:lnTo>
                <a:lnTo>
                  <a:pt x="13"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58" name="Freeform 2463">
            <a:extLst>
              <a:ext uri="{FF2B5EF4-FFF2-40B4-BE49-F238E27FC236}">
                <a16:creationId xmlns:a16="http://schemas.microsoft.com/office/drawing/2014/main" id="{7112323D-97A5-D5A5-BCEB-92F55D77ED1D}"/>
              </a:ext>
            </a:extLst>
          </p:cNvPr>
          <p:cNvSpPr>
            <a:spLocks/>
          </p:cNvSpPr>
          <p:nvPr/>
        </p:nvSpPr>
        <p:spPr bwMode="auto">
          <a:xfrm>
            <a:off x="2813050" y="2471738"/>
            <a:ext cx="23813" cy="28575"/>
          </a:xfrm>
          <a:custGeom>
            <a:avLst/>
            <a:gdLst>
              <a:gd name="T0" fmla="*/ 11 w 15"/>
              <a:gd name="T1" fmla="*/ 0 h 18"/>
              <a:gd name="T2" fmla="*/ 10 w 15"/>
              <a:gd name="T3" fmla="*/ 2 h 18"/>
              <a:gd name="T4" fmla="*/ 8 w 15"/>
              <a:gd name="T5" fmla="*/ 5 h 18"/>
              <a:gd name="T6" fmla="*/ 6 w 15"/>
              <a:gd name="T7" fmla="*/ 7 h 18"/>
              <a:gd name="T8" fmla="*/ 5 w 15"/>
              <a:gd name="T9" fmla="*/ 8 h 18"/>
              <a:gd name="T10" fmla="*/ 3 w 15"/>
              <a:gd name="T11" fmla="*/ 10 h 18"/>
              <a:gd name="T12" fmla="*/ 1 w 15"/>
              <a:gd name="T13" fmla="*/ 11 h 18"/>
              <a:gd name="T14" fmla="*/ 0 w 15"/>
              <a:gd name="T15" fmla="*/ 13 h 18"/>
              <a:gd name="T16" fmla="*/ 0 w 15"/>
              <a:gd name="T17" fmla="*/ 16 h 18"/>
              <a:gd name="T18" fmla="*/ 3 w 15"/>
              <a:gd name="T19" fmla="*/ 18 h 18"/>
              <a:gd name="T20" fmla="*/ 5 w 15"/>
              <a:gd name="T21" fmla="*/ 16 h 18"/>
              <a:gd name="T22" fmla="*/ 6 w 15"/>
              <a:gd name="T23" fmla="*/ 15 h 18"/>
              <a:gd name="T24" fmla="*/ 6 w 15"/>
              <a:gd name="T25" fmla="*/ 13 h 18"/>
              <a:gd name="T26" fmla="*/ 8 w 15"/>
              <a:gd name="T27" fmla="*/ 11 h 18"/>
              <a:gd name="T28" fmla="*/ 10 w 15"/>
              <a:gd name="T29" fmla="*/ 8 h 18"/>
              <a:gd name="T30" fmla="*/ 11 w 15"/>
              <a:gd name="T31" fmla="*/ 7 h 18"/>
              <a:gd name="T32" fmla="*/ 13 w 15"/>
              <a:gd name="T33" fmla="*/ 5 h 18"/>
              <a:gd name="T34" fmla="*/ 15 w 15"/>
              <a:gd name="T35" fmla="*/ 3 h 18"/>
              <a:gd name="T36" fmla="*/ 11 w 15"/>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8">
                <a:moveTo>
                  <a:pt x="11" y="0"/>
                </a:moveTo>
                <a:lnTo>
                  <a:pt x="10" y="2"/>
                </a:lnTo>
                <a:lnTo>
                  <a:pt x="8" y="5"/>
                </a:lnTo>
                <a:lnTo>
                  <a:pt x="6" y="7"/>
                </a:lnTo>
                <a:lnTo>
                  <a:pt x="5" y="8"/>
                </a:lnTo>
                <a:lnTo>
                  <a:pt x="3" y="10"/>
                </a:lnTo>
                <a:lnTo>
                  <a:pt x="1" y="11"/>
                </a:lnTo>
                <a:lnTo>
                  <a:pt x="0" y="13"/>
                </a:lnTo>
                <a:lnTo>
                  <a:pt x="0" y="16"/>
                </a:lnTo>
                <a:lnTo>
                  <a:pt x="3" y="18"/>
                </a:lnTo>
                <a:lnTo>
                  <a:pt x="5" y="16"/>
                </a:lnTo>
                <a:lnTo>
                  <a:pt x="6" y="15"/>
                </a:lnTo>
                <a:lnTo>
                  <a:pt x="6" y="13"/>
                </a:lnTo>
                <a:lnTo>
                  <a:pt x="8" y="11"/>
                </a:lnTo>
                <a:lnTo>
                  <a:pt x="10" y="8"/>
                </a:lnTo>
                <a:lnTo>
                  <a:pt x="11" y="7"/>
                </a:lnTo>
                <a:lnTo>
                  <a:pt x="13" y="5"/>
                </a:lnTo>
                <a:lnTo>
                  <a:pt x="15" y="3"/>
                </a:lnTo>
                <a:lnTo>
                  <a:pt x="11"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59" name="Freeform 2464">
            <a:extLst>
              <a:ext uri="{FF2B5EF4-FFF2-40B4-BE49-F238E27FC236}">
                <a16:creationId xmlns:a16="http://schemas.microsoft.com/office/drawing/2014/main" id="{495C2B10-DA66-75C5-7E13-AFD633AE9D9B}"/>
              </a:ext>
            </a:extLst>
          </p:cNvPr>
          <p:cNvSpPr>
            <a:spLocks/>
          </p:cNvSpPr>
          <p:nvPr/>
        </p:nvSpPr>
        <p:spPr bwMode="auto">
          <a:xfrm>
            <a:off x="2814638" y="2474913"/>
            <a:ext cx="23813" cy="28575"/>
          </a:xfrm>
          <a:custGeom>
            <a:avLst/>
            <a:gdLst>
              <a:gd name="T0" fmla="*/ 12 w 15"/>
              <a:gd name="T1" fmla="*/ 0 h 18"/>
              <a:gd name="T2" fmla="*/ 10 w 15"/>
              <a:gd name="T3" fmla="*/ 1 h 18"/>
              <a:gd name="T4" fmla="*/ 9 w 15"/>
              <a:gd name="T5" fmla="*/ 3 h 18"/>
              <a:gd name="T6" fmla="*/ 7 w 15"/>
              <a:gd name="T7" fmla="*/ 6 h 18"/>
              <a:gd name="T8" fmla="*/ 5 w 15"/>
              <a:gd name="T9" fmla="*/ 8 h 18"/>
              <a:gd name="T10" fmla="*/ 4 w 15"/>
              <a:gd name="T11" fmla="*/ 9 h 18"/>
              <a:gd name="T12" fmla="*/ 2 w 15"/>
              <a:gd name="T13" fmla="*/ 11 h 18"/>
              <a:gd name="T14" fmla="*/ 2 w 15"/>
              <a:gd name="T15" fmla="*/ 13 h 18"/>
              <a:gd name="T16" fmla="*/ 0 w 15"/>
              <a:gd name="T17" fmla="*/ 14 h 18"/>
              <a:gd name="T18" fmla="*/ 4 w 15"/>
              <a:gd name="T19" fmla="*/ 18 h 18"/>
              <a:gd name="T20" fmla="*/ 5 w 15"/>
              <a:gd name="T21" fmla="*/ 16 h 18"/>
              <a:gd name="T22" fmla="*/ 7 w 15"/>
              <a:gd name="T23" fmla="*/ 14 h 18"/>
              <a:gd name="T24" fmla="*/ 9 w 15"/>
              <a:gd name="T25" fmla="*/ 11 h 18"/>
              <a:gd name="T26" fmla="*/ 9 w 15"/>
              <a:gd name="T27" fmla="*/ 9 h 18"/>
              <a:gd name="T28" fmla="*/ 10 w 15"/>
              <a:gd name="T29" fmla="*/ 8 h 18"/>
              <a:gd name="T30" fmla="*/ 12 w 15"/>
              <a:gd name="T31" fmla="*/ 6 h 18"/>
              <a:gd name="T32" fmla="*/ 14 w 15"/>
              <a:gd name="T33" fmla="*/ 5 h 18"/>
              <a:gd name="T34" fmla="*/ 15 w 15"/>
              <a:gd name="T35" fmla="*/ 3 h 18"/>
              <a:gd name="T36" fmla="*/ 12 w 15"/>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8">
                <a:moveTo>
                  <a:pt x="12" y="0"/>
                </a:moveTo>
                <a:lnTo>
                  <a:pt x="10" y="1"/>
                </a:lnTo>
                <a:lnTo>
                  <a:pt x="9" y="3"/>
                </a:lnTo>
                <a:lnTo>
                  <a:pt x="7" y="6"/>
                </a:lnTo>
                <a:lnTo>
                  <a:pt x="5" y="8"/>
                </a:lnTo>
                <a:lnTo>
                  <a:pt x="4" y="9"/>
                </a:lnTo>
                <a:lnTo>
                  <a:pt x="2" y="11"/>
                </a:lnTo>
                <a:lnTo>
                  <a:pt x="2" y="13"/>
                </a:lnTo>
                <a:lnTo>
                  <a:pt x="0" y="14"/>
                </a:lnTo>
                <a:lnTo>
                  <a:pt x="4" y="18"/>
                </a:lnTo>
                <a:lnTo>
                  <a:pt x="5" y="16"/>
                </a:lnTo>
                <a:lnTo>
                  <a:pt x="7" y="14"/>
                </a:lnTo>
                <a:lnTo>
                  <a:pt x="9" y="11"/>
                </a:lnTo>
                <a:lnTo>
                  <a:pt x="9" y="9"/>
                </a:lnTo>
                <a:lnTo>
                  <a:pt x="10" y="8"/>
                </a:lnTo>
                <a:lnTo>
                  <a:pt x="12" y="6"/>
                </a:lnTo>
                <a:lnTo>
                  <a:pt x="14" y="5"/>
                </a:lnTo>
                <a:lnTo>
                  <a:pt x="15" y="3"/>
                </a:lnTo>
                <a:lnTo>
                  <a:pt x="12"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60" name="Freeform 2465">
            <a:extLst>
              <a:ext uri="{FF2B5EF4-FFF2-40B4-BE49-F238E27FC236}">
                <a16:creationId xmlns:a16="http://schemas.microsoft.com/office/drawing/2014/main" id="{9900C0A2-A016-DFDC-0EFD-734482996958}"/>
              </a:ext>
            </a:extLst>
          </p:cNvPr>
          <p:cNvSpPr>
            <a:spLocks/>
          </p:cNvSpPr>
          <p:nvPr/>
        </p:nvSpPr>
        <p:spPr bwMode="auto">
          <a:xfrm>
            <a:off x="2817813" y="2476500"/>
            <a:ext cx="23813" cy="28575"/>
          </a:xfrm>
          <a:custGeom>
            <a:avLst/>
            <a:gdLst>
              <a:gd name="T0" fmla="*/ 12 w 15"/>
              <a:gd name="T1" fmla="*/ 0 h 18"/>
              <a:gd name="T2" fmla="*/ 10 w 15"/>
              <a:gd name="T3" fmla="*/ 2 h 18"/>
              <a:gd name="T4" fmla="*/ 8 w 15"/>
              <a:gd name="T5" fmla="*/ 4 h 18"/>
              <a:gd name="T6" fmla="*/ 7 w 15"/>
              <a:gd name="T7" fmla="*/ 5 h 18"/>
              <a:gd name="T8" fmla="*/ 5 w 15"/>
              <a:gd name="T9" fmla="*/ 8 h 18"/>
              <a:gd name="T10" fmla="*/ 3 w 15"/>
              <a:gd name="T11" fmla="*/ 10 h 18"/>
              <a:gd name="T12" fmla="*/ 3 w 15"/>
              <a:gd name="T13" fmla="*/ 12 h 18"/>
              <a:gd name="T14" fmla="*/ 2 w 15"/>
              <a:gd name="T15" fmla="*/ 13 h 18"/>
              <a:gd name="T16" fmla="*/ 0 w 15"/>
              <a:gd name="T17" fmla="*/ 15 h 18"/>
              <a:gd name="T18" fmla="*/ 3 w 15"/>
              <a:gd name="T19" fmla="*/ 18 h 18"/>
              <a:gd name="T20" fmla="*/ 5 w 15"/>
              <a:gd name="T21" fmla="*/ 15 h 18"/>
              <a:gd name="T22" fmla="*/ 7 w 15"/>
              <a:gd name="T23" fmla="*/ 13 h 18"/>
              <a:gd name="T24" fmla="*/ 8 w 15"/>
              <a:gd name="T25" fmla="*/ 12 h 18"/>
              <a:gd name="T26" fmla="*/ 8 w 15"/>
              <a:gd name="T27" fmla="*/ 10 h 18"/>
              <a:gd name="T28" fmla="*/ 10 w 15"/>
              <a:gd name="T29" fmla="*/ 8 h 18"/>
              <a:gd name="T30" fmla="*/ 12 w 15"/>
              <a:gd name="T31" fmla="*/ 7 h 18"/>
              <a:gd name="T32" fmla="*/ 13 w 15"/>
              <a:gd name="T33" fmla="*/ 5 h 18"/>
              <a:gd name="T34" fmla="*/ 15 w 15"/>
              <a:gd name="T35" fmla="*/ 4 h 18"/>
              <a:gd name="T36" fmla="*/ 12 w 15"/>
              <a:gd name="T3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8">
                <a:moveTo>
                  <a:pt x="12" y="0"/>
                </a:moveTo>
                <a:lnTo>
                  <a:pt x="10" y="2"/>
                </a:lnTo>
                <a:lnTo>
                  <a:pt x="8" y="4"/>
                </a:lnTo>
                <a:lnTo>
                  <a:pt x="7" y="5"/>
                </a:lnTo>
                <a:lnTo>
                  <a:pt x="5" y="8"/>
                </a:lnTo>
                <a:lnTo>
                  <a:pt x="3" y="10"/>
                </a:lnTo>
                <a:lnTo>
                  <a:pt x="3" y="12"/>
                </a:lnTo>
                <a:lnTo>
                  <a:pt x="2" y="13"/>
                </a:lnTo>
                <a:lnTo>
                  <a:pt x="0" y="15"/>
                </a:lnTo>
                <a:lnTo>
                  <a:pt x="3" y="18"/>
                </a:lnTo>
                <a:lnTo>
                  <a:pt x="5" y="15"/>
                </a:lnTo>
                <a:lnTo>
                  <a:pt x="7" y="13"/>
                </a:lnTo>
                <a:lnTo>
                  <a:pt x="8" y="12"/>
                </a:lnTo>
                <a:lnTo>
                  <a:pt x="8" y="10"/>
                </a:lnTo>
                <a:lnTo>
                  <a:pt x="10" y="8"/>
                </a:lnTo>
                <a:lnTo>
                  <a:pt x="12" y="7"/>
                </a:lnTo>
                <a:lnTo>
                  <a:pt x="13" y="5"/>
                </a:lnTo>
                <a:lnTo>
                  <a:pt x="15" y="4"/>
                </a:lnTo>
                <a:lnTo>
                  <a:pt x="12"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61" name="Freeform 2466">
            <a:extLst>
              <a:ext uri="{FF2B5EF4-FFF2-40B4-BE49-F238E27FC236}">
                <a16:creationId xmlns:a16="http://schemas.microsoft.com/office/drawing/2014/main" id="{46CF9621-D3C8-0289-438E-0FEC2F7DF2B5}"/>
              </a:ext>
            </a:extLst>
          </p:cNvPr>
          <p:cNvSpPr>
            <a:spLocks/>
          </p:cNvSpPr>
          <p:nvPr/>
        </p:nvSpPr>
        <p:spPr bwMode="auto">
          <a:xfrm>
            <a:off x="2820988" y="2479675"/>
            <a:ext cx="23813" cy="25400"/>
          </a:xfrm>
          <a:custGeom>
            <a:avLst/>
            <a:gdLst>
              <a:gd name="T0" fmla="*/ 11 w 15"/>
              <a:gd name="T1" fmla="*/ 0 h 16"/>
              <a:gd name="T2" fmla="*/ 10 w 15"/>
              <a:gd name="T3" fmla="*/ 2 h 16"/>
              <a:gd name="T4" fmla="*/ 8 w 15"/>
              <a:gd name="T5" fmla="*/ 3 h 16"/>
              <a:gd name="T6" fmla="*/ 6 w 15"/>
              <a:gd name="T7" fmla="*/ 5 h 16"/>
              <a:gd name="T8" fmla="*/ 5 w 15"/>
              <a:gd name="T9" fmla="*/ 6 h 16"/>
              <a:gd name="T10" fmla="*/ 5 w 15"/>
              <a:gd name="T11" fmla="*/ 8 h 16"/>
              <a:gd name="T12" fmla="*/ 3 w 15"/>
              <a:gd name="T13" fmla="*/ 11 h 16"/>
              <a:gd name="T14" fmla="*/ 1 w 15"/>
              <a:gd name="T15" fmla="*/ 13 h 16"/>
              <a:gd name="T16" fmla="*/ 0 w 15"/>
              <a:gd name="T17" fmla="*/ 15 h 16"/>
              <a:gd name="T18" fmla="*/ 5 w 15"/>
              <a:gd name="T19" fmla="*/ 16 h 16"/>
              <a:gd name="T20" fmla="*/ 5 w 15"/>
              <a:gd name="T21" fmla="*/ 15 h 16"/>
              <a:gd name="T22" fmla="*/ 6 w 15"/>
              <a:gd name="T23" fmla="*/ 13 h 16"/>
              <a:gd name="T24" fmla="*/ 8 w 15"/>
              <a:gd name="T25" fmla="*/ 11 h 16"/>
              <a:gd name="T26" fmla="*/ 10 w 15"/>
              <a:gd name="T27" fmla="*/ 10 h 16"/>
              <a:gd name="T28" fmla="*/ 10 w 15"/>
              <a:gd name="T29" fmla="*/ 8 h 16"/>
              <a:gd name="T30" fmla="*/ 11 w 15"/>
              <a:gd name="T31" fmla="*/ 6 h 16"/>
              <a:gd name="T32" fmla="*/ 13 w 15"/>
              <a:gd name="T33" fmla="*/ 5 h 16"/>
              <a:gd name="T34" fmla="*/ 15 w 15"/>
              <a:gd name="T35" fmla="*/ 3 h 16"/>
              <a:gd name="T36" fmla="*/ 11 w 15"/>
              <a:gd name="T37" fmla="*/ 0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6">
                <a:moveTo>
                  <a:pt x="11" y="0"/>
                </a:moveTo>
                <a:lnTo>
                  <a:pt x="10" y="2"/>
                </a:lnTo>
                <a:lnTo>
                  <a:pt x="8" y="3"/>
                </a:lnTo>
                <a:lnTo>
                  <a:pt x="6" y="5"/>
                </a:lnTo>
                <a:lnTo>
                  <a:pt x="5" y="6"/>
                </a:lnTo>
                <a:lnTo>
                  <a:pt x="5" y="8"/>
                </a:lnTo>
                <a:lnTo>
                  <a:pt x="3" y="11"/>
                </a:lnTo>
                <a:lnTo>
                  <a:pt x="1" y="13"/>
                </a:lnTo>
                <a:lnTo>
                  <a:pt x="0" y="15"/>
                </a:lnTo>
                <a:lnTo>
                  <a:pt x="5" y="16"/>
                </a:lnTo>
                <a:lnTo>
                  <a:pt x="5" y="15"/>
                </a:lnTo>
                <a:lnTo>
                  <a:pt x="6" y="13"/>
                </a:lnTo>
                <a:lnTo>
                  <a:pt x="8" y="11"/>
                </a:lnTo>
                <a:lnTo>
                  <a:pt x="10" y="10"/>
                </a:lnTo>
                <a:lnTo>
                  <a:pt x="10" y="8"/>
                </a:lnTo>
                <a:lnTo>
                  <a:pt x="11" y="6"/>
                </a:lnTo>
                <a:lnTo>
                  <a:pt x="13" y="5"/>
                </a:lnTo>
                <a:lnTo>
                  <a:pt x="15" y="3"/>
                </a:lnTo>
                <a:lnTo>
                  <a:pt x="11"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62" name="Freeform 2467">
            <a:extLst>
              <a:ext uri="{FF2B5EF4-FFF2-40B4-BE49-F238E27FC236}">
                <a16:creationId xmlns:a16="http://schemas.microsoft.com/office/drawing/2014/main" id="{8D1205E2-34B3-F9A9-7091-B538A2CE06F4}"/>
              </a:ext>
            </a:extLst>
          </p:cNvPr>
          <p:cNvSpPr>
            <a:spLocks/>
          </p:cNvSpPr>
          <p:nvPr/>
        </p:nvSpPr>
        <p:spPr bwMode="auto">
          <a:xfrm>
            <a:off x="2822575" y="2482850"/>
            <a:ext cx="23813" cy="25400"/>
          </a:xfrm>
          <a:custGeom>
            <a:avLst/>
            <a:gdLst>
              <a:gd name="T0" fmla="*/ 12 w 15"/>
              <a:gd name="T1" fmla="*/ 0 h 16"/>
              <a:gd name="T2" fmla="*/ 10 w 15"/>
              <a:gd name="T3" fmla="*/ 1 h 16"/>
              <a:gd name="T4" fmla="*/ 9 w 15"/>
              <a:gd name="T5" fmla="*/ 3 h 16"/>
              <a:gd name="T6" fmla="*/ 7 w 15"/>
              <a:gd name="T7" fmla="*/ 4 h 16"/>
              <a:gd name="T8" fmla="*/ 5 w 15"/>
              <a:gd name="T9" fmla="*/ 6 h 16"/>
              <a:gd name="T10" fmla="*/ 5 w 15"/>
              <a:gd name="T11" fmla="*/ 8 h 16"/>
              <a:gd name="T12" fmla="*/ 4 w 15"/>
              <a:gd name="T13" fmla="*/ 9 h 16"/>
              <a:gd name="T14" fmla="*/ 2 w 15"/>
              <a:gd name="T15" fmla="*/ 11 h 16"/>
              <a:gd name="T16" fmla="*/ 0 w 15"/>
              <a:gd name="T17" fmla="*/ 14 h 16"/>
              <a:gd name="T18" fmla="*/ 5 w 15"/>
              <a:gd name="T19" fmla="*/ 16 h 16"/>
              <a:gd name="T20" fmla="*/ 7 w 15"/>
              <a:gd name="T21" fmla="*/ 14 h 16"/>
              <a:gd name="T22" fmla="*/ 7 w 15"/>
              <a:gd name="T23" fmla="*/ 13 h 16"/>
              <a:gd name="T24" fmla="*/ 9 w 15"/>
              <a:gd name="T25" fmla="*/ 11 h 16"/>
              <a:gd name="T26" fmla="*/ 10 w 15"/>
              <a:gd name="T27" fmla="*/ 9 h 16"/>
              <a:gd name="T28" fmla="*/ 12 w 15"/>
              <a:gd name="T29" fmla="*/ 8 h 16"/>
              <a:gd name="T30" fmla="*/ 12 w 15"/>
              <a:gd name="T31" fmla="*/ 6 h 16"/>
              <a:gd name="T32" fmla="*/ 14 w 15"/>
              <a:gd name="T33" fmla="*/ 4 h 16"/>
              <a:gd name="T34" fmla="*/ 15 w 15"/>
              <a:gd name="T35" fmla="*/ 4 h 16"/>
              <a:gd name="T36" fmla="*/ 12 w 15"/>
              <a:gd name="T37" fmla="*/ 0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 h="16">
                <a:moveTo>
                  <a:pt x="12" y="0"/>
                </a:moveTo>
                <a:lnTo>
                  <a:pt x="10" y="1"/>
                </a:lnTo>
                <a:lnTo>
                  <a:pt x="9" y="3"/>
                </a:lnTo>
                <a:lnTo>
                  <a:pt x="7" y="4"/>
                </a:lnTo>
                <a:lnTo>
                  <a:pt x="5" y="6"/>
                </a:lnTo>
                <a:lnTo>
                  <a:pt x="5" y="8"/>
                </a:lnTo>
                <a:lnTo>
                  <a:pt x="4" y="9"/>
                </a:lnTo>
                <a:lnTo>
                  <a:pt x="2" y="11"/>
                </a:lnTo>
                <a:lnTo>
                  <a:pt x="0" y="14"/>
                </a:lnTo>
                <a:lnTo>
                  <a:pt x="5" y="16"/>
                </a:lnTo>
                <a:lnTo>
                  <a:pt x="7" y="14"/>
                </a:lnTo>
                <a:lnTo>
                  <a:pt x="7" y="13"/>
                </a:lnTo>
                <a:lnTo>
                  <a:pt x="9" y="11"/>
                </a:lnTo>
                <a:lnTo>
                  <a:pt x="10" y="9"/>
                </a:lnTo>
                <a:lnTo>
                  <a:pt x="12" y="8"/>
                </a:lnTo>
                <a:lnTo>
                  <a:pt x="12" y="6"/>
                </a:lnTo>
                <a:lnTo>
                  <a:pt x="14" y="4"/>
                </a:lnTo>
                <a:lnTo>
                  <a:pt x="15" y="4"/>
                </a:lnTo>
                <a:lnTo>
                  <a:pt x="12" y="0"/>
                </a:lnTo>
                <a:close/>
              </a:path>
            </a:pathLst>
          </a:custGeom>
          <a:solidFill>
            <a:srgbClr val="EEF6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63" name="Freeform 2468">
            <a:extLst>
              <a:ext uri="{FF2B5EF4-FFF2-40B4-BE49-F238E27FC236}">
                <a16:creationId xmlns:a16="http://schemas.microsoft.com/office/drawing/2014/main" id="{8DAC084F-FEBD-153B-74CA-DA79BA37C6DF}"/>
              </a:ext>
            </a:extLst>
          </p:cNvPr>
          <p:cNvSpPr>
            <a:spLocks/>
          </p:cNvSpPr>
          <p:nvPr/>
        </p:nvSpPr>
        <p:spPr bwMode="auto">
          <a:xfrm>
            <a:off x="2828925" y="2484438"/>
            <a:ext cx="20638" cy="26988"/>
          </a:xfrm>
          <a:custGeom>
            <a:avLst/>
            <a:gdLst>
              <a:gd name="T0" fmla="*/ 10 w 13"/>
              <a:gd name="T1" fmla="*/ 0 h 17"/>
              <a:gd name="T2" fmla="*/ 8 w 13"/>
              <a:gd name="T3" fmla="*/ 2 h 17"/>
              <a:gd name="T4" fmla="*/ 6 w 13"/>
              <a:gd name="T5" fmla="*/ 3 h 17"/>
              <a:gd name="T6" fmla="*/ 5 w 13"/>
              <a:gd name="T7" fmla="*/ 5 h 17"/>
              <a:gd name="T8" fmla="*/ 5 w 13"/>
              <a:gd name="T9" fmla="*/ 7 h 17"/>
              <a:gd name="T10" fmla="*/ 3 w 13"/>
              <a:gd name="T11" fmla="*/ 8 h 17"/>
              <a:gd name="T12" fmla="*/ 1 w 13"/>
              <a:gd name="T13" fmla="*/ 10 h 17"/>
              <a:gd name="T14" fmla="*/ 0 w 13"/>
              <a:gd name="T15" fmla="*/ 12 h 17"/>
              <a:gd name="T16" fmla="*/ 0 w 13"/>
              <a:gd name="T17" fmla="*/ 13 h 17"/>
              <a:gd name="T18" fmla="*/ 3 w 13"/>
              <a:gd name="T19" fmla="*/ 17 h 17"/>
              <a:gd name="T20" fmla="*/ 5 w 13"/>
              <a:gd name="T21" fmla="*/ 15 h 17"/>
              <a:gd name="T22" fmla="*/ 5 w 13"/>
              <a:gd name="T23" fmla="*/ 13 h 17"/>
              <a:gd name="T24" fmla="*/ 6 w 13"/>
              <a:gd name="T25" fmla="*/ 12 h 17"/>
              <a:gd name="T26" fmla="*/ 8 w 13"/>
              <a:gd name="T27" fmla="*/ 10 h 17"/>
              <a:gd name="T28" fmla="*/ 10 w 13"/>
              <a:gd name="T29" fmla="*/ 8 h 17"/>
              <a:gd name="T30" fmla="*/ 10 w 13"/>
              <a:gd name="T31" fmla="*/ 7 h 17"/>
              <a:gd name="T32" fmla="*/ 11 w 13"/>
              <a:gd name="T33" fmla="*/ 5 h 17"/>
              <a:gd name="T34" fmla="*/ 13 w 13"/>
              <a:gd name="T35" fmla="*/ 5 h 17"/>
              <a:gd name="T36" fmla="*/ 10 w 13"/>
              <a:gd name="T37" fmla="*/ 0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3" h="17">
                <a:moveTo>
                  <a:pt x="10" y="0"/>
                </a:moveTo>
                <a:lnTo>
                  <a:pt x="8" y="2"/>
                </a:lnTo>
                <a:lnTo>
                  <a:pt x="6" y="3"/>
                </a:lnTo>
                <a:lnTo>
                  <a:pt x="5" y="5"/>
                </a:lnTo>
                <a:lnTo>
                  <a:pt x="5" y="7"/>
                </a:lnTo>
                <a:lnTo>
                  <a:pt x="3" y="8"/>
                </a:lnTo>
                <a:lnTo>
                  <a:pt x="1" y="10"/>
                </a:lnTo>
                <a:lnTo>
                  <a:pt x="0" y="12"/>
                </a:lnTo>
                <a:lnTo>
                  <a:pt x="0" y="13"/>
                </a:lnTo>
                <a:lnTo>
                  <a:pt x="3" y="17"/>
                </a:lnTo>
                <a:lnTo>
                  <a:pt x="5" y="15"/>
                </a:lnTo>
                <a:lnTo>
                  <a:pt x="5" y="13"/>
                </a:lnTo>
                <a:lnTo>
                  <a:pt x="6" y="12"/>
                </a:lnTo>
                <a:lnTo>
                  <a:pt x="8" y="10"/>
                </a:lnTo>
                <a:lnTo>
                  <a:pt x="10" y="8"/>
                </a:lnTo>
                <a:lnTo>
                  <a:pt x="10" y="7"/>
                </a:lnTo>
                <a:lnTo>
                  <a:pt x="11" y="5"/>
                </a:lnTo>
                <a:lnTo>
                  <a:pt x="13" y="5"/>
                </a:lnTo>
                <a:lnTo>
                  <a:pt x="10"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64" name="Freeform 2469">
            <a:extLst>
              <a:ext uri="{FF2B5EF4-FFF2-40B4-BE49-F238E27FC236}">
                <a16:creationId xmlns:a16="http://schemas.microsoft.com/office/drawing/2014/main" id="{70B69DB4-89EA-71B8-6C52-5129DEEAEA1F}"/>
              </a:ext>
            </a:extLst>
          </p:cNvPr>
          <p:cNvSpPr>
            <a:spLocks/>
          </p:cNvSpPr>
          <p:nvPr/>
        </p:nvSpPr>
        <p:spPr bwMode="auto">
          <a:xfrm>
            <a:off x="2830513" y="2489200"/>
            <a:ext cx="22225" cy="23813"/>
          </a:xfrm>
          <a:custGeom>
            <a:avLst/>
            <a:gdLst>
              <a:gd name="T0" fmla="*/ 10 w 14"/>
              <a:gd name="T1" fmla="*/ 0 h 15"/>
              <a:gd name="T2" fmla="*/ 9 w 14"/>
              <a:gd name="T3" fmla="*/ 0 h 15"/>
              <a:gd name="T4" fmla="*/ 7 w 14"/>
              <a:gd name="T5" fmla="*/ 2 h 15"/>
              <a:gd name="T6" fmla="*/ 7 w 14"/>
              <a:gd name="T7" fmla="*/ 4 h 15"/>
              <a:gd name="T8" fmla="*/ 5 w 14"/>
              <a:gd name="T9" fmla="*/ 5 h 15"/>
              <a:gd name="T10" fmla="*/ 4 w 14"/>
              <a:gd name="T11" fmla="*/ 7 h 15"/>
              <a:gd name="T12" fmla="*/ 2 w 14"/>
              <a:gd name="T13" fmla="*/ 9 h 15"/>
              <a:gd name="T14" fmla="*/ 2 w 14"/>
              <a:gd name="T15" fmla="*/ 10 h 15"/>
              <a:gd name="T16" fmla="*/ 0 w 14"/>
              <a:gd name="T17" fmla="*/ 12 h 15"/>
              <a:gd name="T18" fmla="*/ 4 w 14"/>
              <a:gd name="T19" fmla="*/ 15 h 15"/>
              <a:gd name="T20" fmla="*/ 5 w 14"/>
              <a:gd name="T21" fmla="*/ 14 h 15"/>
              <a:gd name="T22" fmla="*/ 7 w 14"/>
              <a:gd name="T23" fmla="*/ 12 h 15"/>
              <a:gd name="T24" fmla="*/ 7 w 14"/>
              <a:gd name="T25" fmla="*/ 10 h 15"/>
              <a:gd name="T26" fmla="*/ 9 w 14"/>
              <a:gd name="T27" fmla="*/ 9 h 15"/>
              <a:gd name="T28" fmla="*/ 10 w 14"/>
              <a:gd name="T29" fmla="*/ 7 h 15"/>
              <a:gd name="T30" fmla="*/ 12 w 14"/>
              <a:gd name="T31" fmla="*/ 5 h 15"/>
              <a:gd name="T32" fmla="*/ 12 w 14"/>
              <a:gd name="T33" fmla="*/ 4 h 15"/>
              <a:gd name="T34" fmla="*/ 14 w 14"/>
              <a:gd name="T35" fmla="*/ 4 h 15"/>
              <a:gd name="T36" fmla="*/ 10 w 14"/>
              <a:gd name="T37" fmla="*/ 0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4" h="15">
                <a:moveTo>
                  <a:pt x="10" y="0"/>
                </a:moveTo>
                <a:lnTo>
                  <a:pt x="9" y="0"/>
                </a:lnTo>
                <a:lnTo>
                  <a:pt x="7" y="2"/>
                </a:lnTo>
                <a:lnTo>
                  <a:pt x="7" y="4"/>
                </a:lnTo>
                <a:lnTo>
                  <a:pt x="5" y="5"/>
                </a:lnTo>
                <a:lnTo>
                  <a:pt x="4" y="7"/>
                </a:lnTo>
                <a:lnTo>
                  <a:pt x="2" y="9"/>
                </a:lnTo>
                <a:lnTo>
                  <a:pt x="2" y="10"/>
                </a:lnTo>
                <a:lnTo>
                  <a:pt x="0" y="12"/>
                </a:lnTo>
                <a:lnTo>
                  <a:pt x="4" y="15"/>
                </a:lnTo>
                <a:lnTo>
                  <a:pt x="5" y="14"/>
                </a:lnTo>
                <a:lnTo>
                  <a:pt x="7" y="12"/>
                </a:lnTo>
                <a:lnTo>
                  <a:pt x="7" y="10"/>
                </a:lnTo>
                <a:lnTo>
                  <a:pt x="9" y="9"/>
                </a:lnTo>
                <a:lnTo>
                  <a:pt x="10" y="7"/>
                </a:lnTo>
                <a:lnTo>
                  <a:pt x="12" y="5"/>
                </a:lnTo>
                <a:lnTo>
                  <a:pt x="12" y="4"/>
                </a:lnTo>
                <a:lnTo>
                  <a:pt x="14" y="4"/>
                </a:lnTo>
                <a:lnTo>
                  <a:pt x="10"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65" name="Freeform 2470">
            <a:extLst>
              <a:ext uri="{FF2B5EF4-FFF2-40B4-BE49-F238E27FC236}">
                <a16:creationId xmlns:a16="http://schemas.microsoft.com/office/drawing/2014/main" id="{827DD250-1625-6C9C-60E0-868CF0451836}"/>
              </a:ext>
            </a:extLst>
          </p:cNvPr>
          <p:cNvSpPr>
            <a:spLocks/>
          </p:cNvSpPr>
          <p:nvPr/>
        </p:nvSpPr>
        <p:spPr bwMode="auto">
          <a:xfrm>
            <a:off x="2833688" y="2492375"/>
            <a:ext cx="20638" cy="20638"/>
          </a:xfrm>
          <a:custGeom>
            <a:avLst/>
            <a:gdLst>
              <a:gd name="T0" fmla="*/ 10 w 13"/>
              <a:gd name="T1" fmla="*/ 0 h 13"/>
              <a:gd name="T2" fmla="*/ 8 w 13"/>
              <a:gd name="T3" fmla="*/ 0 h 13"/>
              <a:gd name="T4" fmla="*/ 7 w 13"/>
              <a:gd name="T5" fmla="*/ 2 h 13"/>
              <a:gd name="T6" fmla="*/ 7 w 13"/>
              <a:gd name="T7" fmla="*/ 3 h 13"/>
              <a:gd name="T8" fmla="*/ 5 w 13"/>
              <a:gd name="T9" fmla="*/ 5 h 13"/>
              <a:gd name="T10" fmla="*/ 3 w 13"/>
              <a:gd name="T11" fmla="*/ 7 h 13"/>
              <a:gd name="T12" fmla="*/ 2 w 13"/>
              <a:gd name="T13" fmla="*/ 8 h 13"/>
              <a:gd name="T14" fmla="*/ 2 w 13"/>
              <a:gd name="T15" fmla="*/ 10 h 13"/>
              <a:gd name="T16" fmla="*/ 0 w 13"/>
              <a:gd name="T17" fmla="*/ 12 h 13"/>
              <a:gd name="T18" fmla="*/ 5 w 13"/>
              <a:gd name="T19" fmla="*/ 13 h 13"/>
              <a:gd name="T20" fmla="*/ 5 w 13"/>
              <a:gd name="T21" fmla="*/ 12 h 13"/>
              <a:gd name="T22" fmla="*/ 7 w 13"/>
              <a:gd name="T23" fmla="*/ 10 h 13"/>
              <a:gd name="T24" fmla="*/ 8 w 13"/>
              <a:gd name="T25" fmla="*/ 8 h 13"/>
              <a:gd name="T26" fmla="*/ 10 w 13"/>
              <a:gd name="T27" fmla="*/ 7 h 13"/>
              <a:gd name="T28" fmla="*/ 12 w 13"/>
              <a:gd name="T29" fmla="*/ 5 h 13"/>
              <a:gd name="T30" fmla="*/ 12 w 13"/>
              <a:gd name="T31" fmla="*/ 3 h 13"/>
              <a:gd name="T32" fmla="*/ 13 w 13"/>
              <a:gd name="T33" fmla="*/ 3 h 13"/>
              <a:gd name="T34" fmla="*/ 10 w 13"/>
              <a:gd name="T35"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3" h="13">
                <a:moveTo>
                  <a:pt x="10" y="0"/>
                </a:moveTo>
                <a:lnTo>
                  <a:pt x="8" y="0"/>
                </a:lnTo>
                <a:lnTo>
                  <a:pt x="7" y="2"/>
                </a:lnTo>
                <a:lnTo>
                  <a:pt x="7" y="3"/>
                </a:lnTo>
                <a:lnTo>
                  <a:pt x="5" y="5"/>
                </a:lnTo>
                <a:lnTo>
                  <a:pt x="3" y="7"/>
                </a:lnTo>
                <a:lnTo>
                  <a:pt x="2" y="8"/>
                </a:lnTo>
                <a:lnTo>
                  <a:pt x="2" y="10"/>
                </a:lnTo>
                <a:lnTo>
                  <a:pt x="0" y="12"/>
                </a:lnTo>
                <a:lnTo>
                  <a:pt x="5" y="13"/>
                </a:lnTo>
                <a:lnTo>
                  <a:pt x="5" y="12"/>
                </a:lnTo>
                <a:lnTo>
                  <a:pt x="7" y="10"/>
                </a:lnTo>
                <a:lnTo>
                  <a:pt x="8" y="8"/>
                </a:lnTo>
                <a:lnTo>
                  <a:pt x="10" y="7"/>
                </a:lnTo>
                <a:lnTo>
                  <a:pt x="12" y="5"/>
                </a:lnTo>
                <a:lnTo>
                  <a:pt x="12" y="3"/>
                </a:lnTo>
                <a:lnTo>
                  <a:pt x="13" y="3"/>
                </a:lnTo>
                <a:lnTo>
                  <a:pt x="10"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66" name="Freeform 2471">
            <a:extLst>
              <a:ext uri="{FF2B5EF4-FFF2-40B4-BE49-F238E27FC236}">
                <a16:creationId xmlns:a16="http://schemas.microsoft.com/office/drawing/2014/main" id="{E43F395A-847D-3E09-18A6-E78C48339A10}"/>
              </a:ext>
            </a:extLst>
          </p:cNvPr>
          <p:cNvSpPr>
            <a:spLocks/>
          </p:cNvSpPr>
          <p:nvPr/>
        </p:nvSpPr>
        <p:spPr bwMode="auto">
          <a:xfrm>
            <a:off x="2836863" y="2495550"/>
            <a:ext cx="20638" cy="20638"/>
          </a:xfrm>
          <a:custGeom>
            <a:avLst/>
            <a:gdLst>
              <a:gd name="T0" fmla="*/ 10 w 13"/>
              <a:gd name="T1" fmla="*/ 0 h 13"/>
              <a:gd name="T2" fmla="*/ 8 w 13"/>
              <a:gd name="T3" fmla="*/ 0 h 13"/>
              <a:gd name="T4" fmla="*/ 8 w 13"/>
              <a:gd name="T5" fmla="*/ 1 h 13"/>
              <a:gd name="T6" fmla="*/ 6 w 13"/>
              <a:gd name="T7" fmla="*/ 3 h 13"/>
              <a:gd name="T8" fmla="*/ 5 w 13"/>
              <a:gd name="T9" fmla="*/ 5 h 13"/>
              <a:gd name="T10" fmla="*/ 3 w 13"/>
              <a:gd name="T11" fmla="*/ 6 h 13"/>
              <a:gd name="T12" fmla="*/ 3 w 13"/>
              <a:gd name="T13" fmla="*/ 8 h 13"/>
              <a:gd name="T14" fmla="*/ 1 w 13"/>
              <a:gd name="T15" fmla="*/ 10 h 13"/>
              <a:gd name="T16" fmla="*/ 0 w 13"/>
              <a:gd name="T17" fmla="*/ 11 h 13"/>
              <a:gd name="T18" fmla="*/ 5 w 13"/>
              <a:gd name="T19" fmla="*/ 13 h 13"/>
              <a:gd name="T20" fmla="*/ 5 w 13"/>
              <a:gd name="T21" fmla="*/ 11 h 13"/>
              <a:gd name="T22" fmla="*/ 6 w 13"/>
              <a:gd name="T23" fmla="*/ 10 h 13"/>
              <a:gd name="T24" fmla="*/ 8 w 13"/>
              <a:gd name="T25" fmla="*/ 8 h 13"/>
              <a:gd name="T26" fmla="*/ 10 w 13"/>
              <a:gd name="T27" fmla="*/ 6 h 13"/>
              <a:gd name="T28" fmla="*/ 11 w 13"/>
              <a:gd name="T29" fmla="*/ 5 h 13"/>
              <a:gd name="T30" fmla="*/ 11 w 13"/>
              <a:gd name="T31" fmla="*/ 3 h 13"/>
              <a:gd name="T32" fmla="*/ 13 w 13"/>
              <a:gd name="T33" fmla="*/ 3 h 13"/>
              <a:gd name="T34" fmla="*/ 10 w 13"/>
              <a:gd name="T35"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3" h="13">
                <a:moveTo>
                  <a:pt x="10" y="0"/>
                </a:moveTo>
                <a:lnTo>
                  <a:pt x="8" y="0"/>
                </a:lnTo>
                <a:lnTo>
                  <a:pt x="8" y="1"/>
                </a:lnTo>
                <a:lnTo>
                  <a:pt x="6" y="3"/>
                </a:lnTo>
                <a:lnTo>
                  <a:pt x="5" y="5"/>
                </a:lnTo>
                <a:lnTo>
                  <a:pt x="3" y="6"/>
                </a:lnTo>
                <a:lnTo>
                  <a:pt x="3" y="8"/>
                </a:lnTo>
                <a:lnTo>
                  <a:pt x="1" y="10"/>
                </a:lnTo>
                <a:lnTo>
                  <a:pt x="0" y="11"/>
                </a:lnTo>
                <a:lnTo>
                  <a:pt x="5" y="13"/>
                </a:lnTo>
                <a:lnTo>
                  <a:pt x="5" y="11"/>
                </a:lnTo>
                <a:lnTo>
                  <a:pt x="6" y="10"/>
                </a:lnTo>
                <a:lnTo>
                  <a:pt x="8" y="8"/>
                </a:lnTo>
                <a:lnTo>
                  <a:pt x="10" y="6"/>
                </a:lnTo>
                <a:lnTo>
                  <a:pt x="11" y="5"/>
                </a:lnTo>
                <a:lnTo>
                  <a:pt x="11" y="3"/>
                </a:lnTo>
                <a:lnTo>
                  <a:pt x="13" y="3"/>
                </a:lnTo>
                <a:lnTo>
                  <a:pt x="10"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67" name="Freeform 2472">
            <a:extLst>
              <a:ext uri="{FF2B5EF4-FFF2-40B4-BE49-F238E27FC236}">
                <a16:creationId xmlns:a16="http://schemas.microsoft.com/office/drawing/2014/main" id="{20D122BF-7EB9-F141-5F3A-8073EFF82A57}"/>
              </a:ext>
            </a:extLst>
          </p:cNvPr>
          <p:cNvSpPr>
            <a:spLocks/>
          </p:cNvSpPr>
          <p:nvPr/>
        </p:nvSpPr>
        <p:spPr bwMode="auto">
          <a:xfrm>
            <a:off x="2841625" y="2497138"/>
            <a:ext cx="19050" cy="22225"/>
          </a:xfrm>
          <a:custGeom>
            <a:avLst/>
            <a:gdLst>
              <a:gd name="T0" fmla="*/ 8 w 12"/>
              <a:gd name="T1" fmla="*/ 0 h 14"/>
              <a:gd name="T2" fmla="*/ 7 w 12"/>
              <a:gd name="T3" fmla="*/ 0 h 14"/>
              <a:gd name="T4" fmla="*/ 7 w 12"/>
              <a:gd name="T5" fmla="*/ 2 h 14"/>
              <a:gd name="T6" fmla="*/ 5 w 12"/>
              <a:gd name="T7" fmla="*/ 4 h 14"/>
              <a:gd name="T8" fmla="*/ 3 w 12"/>
              <a:gd name="T9" fmla="*/ 5 h 14"/>
              <a:gd name="T10" fmla="*/ 2 w 12"/>
              <a:gd name="T11" fmla="*/ 7 h 14"/>
              <a:gd name="T12" fmla="*/ 0 w 12"/>
              <a:gd name="T13" fmla="*/ 9 h 14"/>
              <a:gd name="T14" fmla="*/ 0 w 12"/>
              <a:gd name="T15" fmla="*/ 10 h 14"/>
              <a:gd name="T16" fmla="*/ 3 w 12"/>
              <a:gd name="T17" fmla="*/ 14 h 14"/>
              <a:gd name="T18" fmla="*/ 5 w 12"/>
              <a:gd name="T19" fmla="*/ 12 h 14"/>
              <a:gd name="T20" fmla="*/ 5 w 12"/>
              <a:gd name="T21" fmla="*/ 10 h 14"/>
              <a:gd name="T22" fmla="*/ 7 w 12"/>
              <a:gd name="T23" fmla="*/ 9 h 14"/>
              <a:gd name="T24" fmla="*/ 8 w 12"/>
              <a:gd name="T25" fmla="*/ 7 h 14"/>
              <a:gd name="T26" fmla="*/ 10 w 12"/>
              <a:gd name="T27" fmla="*/ 5 h 14"/>
              <a:gd name="T28" fmla="*/ 12 w 12"/>
              <a:gd name="T29" fmla="*/ 4 h 14"/>
              <a:gd name="T30" fmla="*/ 8 w 12"/>
              <a:gd name="T31" fmla="*/ 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 h="14">
                <a:moveTo>
                  <a:pt x="8" y="0"/>
                </a:moveTo>
                <a:lnTo>
                  <a:pt x="7" y="0"/>
                </a:lnTo>
                <a:lnTo>
                  <a:pt x="7" y="2"/>
                </a:lnTo>
                <a:lnTo>
                  <a:pt x="5" y="4"/>
                </a:lnTo>
                <a:lnTo>
                  <a:pt x="3" y="5"/>
                </a:lnTo>
                <a:lnTo>
                  <a:pt x="2" y="7"/>
                </a:lnTo>
                <a:lnTo>
                  <a:pt x="0" y="9"/>
                </a:lnTo>
                <a:lnTo>
                  <a:pt x="0" y="10"/>
                </a:lnTo>
                <a:lnTo>
                  <a:pt x="3" y="14"/>
                </a:lnTo>
                <a:lnTo>
                  <a:pt x="5" y="12"/>
                </a:lnTo>
                <a:lnTo>
                  <a:pt x="5" y="10"/>
                </a:lnTo>
                <a:lnTo>
                  <a:pt x="7" y="9"/>
                </a:lnTo>
                <a:lnTo>
                  <a:pt x="8" y="7"/>
                </a:lnTo>
                <a:lnTo>
                  <a:pt x="10" y="5"/>
                </a:lnTo>
                <a:lnTo>
                  <a:pt x="12" y="4"/>
                </a:lnTo>
                <a:lnTo>
                  <a:pt x="8"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68" name="Freeform 2473">
            <a:extLst>
              <a:ext uri="{FF2B5EF4-FFF2-40B4-BE49-F238E27FC236}">
                <a16:creationId xmlns:a16="http://schemas.microsoft.com/office/drawing/2014/main" id="{133CA90F-9551-6182-0F5C-F9CE54E01B58}"/>
              </a:ext>
            </a:extLst>
          </p:cNvPr>
          <p:cNvSpPr>
            <a:spLocks/>
          </p:cNvSpPr>
          <p:nvPr/>
        </p:nvSpPr>
        <p:spPr bwMode="auto">
          <a:xfrm>
            <a:off x="2844800" y="2500313"/>
            <a:ext cx="17463" cy="20638"/>
          </a:xfrm>
          <a:custGeom>
            <a:avLst/>
            <a:gdLst>
              <a:gd name="T0" fmla="*/ 8 w 11"/>
              <a:gd name="T1" fmla="*/ 0 h 13"/>
              <a:gd name="T2" fmla="*/ 6 w 11"/>
              <a:gd name="T3" fmla="*/ 0 h 13"/>
              <a:gd name="T4" fmla="*/ 6 w 11"/>
              <a:gd name="T5" fmla="*/ 2 h 13"/>
              <a:gd name="T6" fmla="*/ 5 w 11"/>
              <a:gd name="T7" fmla="*/ 3 h 13"/>
              <a:gd name="T8" fmla="*/ 3 w 11"/>
              <a:gd name="T9" fmla="*/ 5 h 13"/>
              <a:gd name="T10" fmla="*/ 1 w 11"/>
              <a:gd name="T11" fmla="*/ 7 h 13"/>
              <a:gd name="T12" fmla="*/ 0 w 11"/>
              <a:gd name="T13" fmla="*/ 8 h 13"/>
              <a:gd name="T14" fmla="*/ 0 w 11"/>
              <a:gd name="T15" fmla="*/ 10 h 13"/>
              <a:gd name="T16" fmla="*/ 3 w 11"/>
              <a:gd name="T17" fmla="*/ 13 h 13"/>
              <a:gd name="T18" fmla="*/ 5 w 11"/>
              <a:gd name="T19" fmla="*/ 12 h 13"/>
              <a:gd name="T20" fmla="*/ 5 w 11"/>
              <a:gd name="T21" fmla="*/ 10 h 13"/>
              <a:gd name="T22" fmla="*/ 6 w 11"/>
              <a:gd name="T23" fmla="*/ 8 h 13"/>
              <a:gd name="T24" fmla="*/ 8 w 11"/>
              <a:gd name="T25" fmla="*/ 7 h 13"/>
              <a:gd name="T26" fmla="*/ 10 w 11"/>
              <a:gd name="T27" fmla="*/ 5 h 13"/>
              <a:gd name="T28" fmla="*/ 11 w 11"/>
              <a:gd name="T29" fmla="*/ 3 h 13"/>
              <a:gd name="T30" fmla="*/ 8 w 11"/>
              <a:gd name="T31" fmla="*/ 0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1" h="13">
                <a:moveTo>
                  <a:pt x="8" y="0"/>
                </a:moveTo>
                <a:lnTo>
                  <a:pt x="6" y="0"/>
                </a:lnTo>
                <a:lnTo>
                  <a:pt x="6" y="2"/>
                </a:lnTo>
                <a:lnTo>
                  <a:pt x="5" y="3"/>
                </a:lnTo>
                <a:lnTo>
                  <a:pt x="3" y="5"/>
                </a:lnTo>
                <a:lnTo>
                  <a:pt x="1" y="7"/>
                </a:lnTo>
                <a:lnTo>
                  <a:pt x="0" y="8"/>
                </a:lnTo>
                <a:lnTo>
                  <a:pt x="0" y="10"/>
                </a:lnTo>
                <a:lnTo>
                  <a:pt x="3" y="13"/>
                </a:lnTo>
                <a:lnTo>
                  <a:pt x="5" y="12"/>
                </a:lnTo>
                <a:lnTo>
                  <a:pt x="5" y="10"/>
                </a:lnTo>
                <a:lnTo>
                  <a:pt x="6" y="8"/>
                </a:lnTo>
                <a:lnTo>
                  <a:pt x="8" y="7"/>
                </a:lnTo>
                <a:lnTo>
                  <a:pt x="10" y="5"/>
                </a:lnTo>
                <a:lnTo>
                  <a:pt x="11" y="3"/>
                </a:lnTo>
                <a:lnTo>
                  <a:pt x="8"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69" name="Freeform 2474">
            <a:extLst>
              <a:ext uri="{FF2B5EF4-FFF2-40B4-BE49-F238E27FC236}">
                <a16:creationId xmlns:a16="http://schemas.microsoft.com/office/drawing/2014/main" id="{F349C592-4628-7211-6B80-81F9A3584E62}"/>
              </a:ext>
            </a:extLst>
          </p:cNvPr>
          <p:cNvSpPr>
            <a:spLocks/>
          </p:cNvSpPr>
          <p:nvPr/>
        </p:nvSpPr>
        <p:spPr bwMode="auto">
          <a:xfrm>
            <a:off x="2846388" y="2503488"/>
            <a:ext cx="19050" cy="17463"/>
          </a:xfrm>
          <a:custGeom>
            <a:avLst/>
            <a:gdLst>
              <a:gd name="T0" fmla="*/ 9 w 12"/>
              <a:gd name="T1" fmla="*/ 0 h 11"/>
              <a:gd name="T2" fmla="*/ 9 w 12"/>
              <a:gd name="T3" fmla="*/ 0 h 11"/>
              <a:gd name="T4" fmla="*/ 7 w 12"/>
              <a:gd name="T5" fmla="*/ 1 h 11"/>
              <a:gd name="T6" fmla="*/ 5 w 12"/>
              <a:gd name="T7" fmla="*/ 3 h 11"/>
              <a:gd name="T8" fmla="*/ 4 w 12"/>
              <a:gd name="T9" fmla="*/ 5 h 11"/>
              <a:gd name="T10" fmla="*/ 2 w 12"/>
              <a:gd name="T11" fmla="*/ 6 h 11"/>
              <a:gd name="T12" fmla="*/ 2 w 12"/>
              <a:gd name="T13" fmla="*/ 8 h 11"/>
              <a:gd name="T14" fmla="*/ 0 w 12"/>
              <a:gd name="T15" fmla="*/ 10 h 11"/>
              <a:gd name="T16" fmla="*/ 5 w 12"/>
              <a:gd name="T17" fmla="*/ 11 h 11"/>
              <a:gd name="T18" fmla="*/ 7 w 12"/>
              <a:gd name="T19" fmla="*/ 10 h 11"/>
              <a:gd name="T20" fmla="*/ 7 w 12"/>
              <a:gd name="T21" fmla="*/ 8 h 11"/>
              <a:gd name="T22" fmla="*/ 9 w 12"/>
              <a:gd name="T23" fmla="*/ 6 h 11"/>
              <a:gd name="T24" fmla="*/ 10 w 12"/>
              <a:gd name="T25" fmla="*/ 5 h 11"/>
              <a:gd name="T26" fmla="*/ 12 w 12"/>
              <a:gd name="T27" fmla="*/ 3 h 11"/>
              <a:gd name="T28" fmla="*/ 9 w 12"/>
              <a:gd name="T29"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 h="11">
                <a:moveTo>
                  <a:pt x="9" y="0"/>
                </a:moveTo>
                <a:lnTo>
                  <a:pt x="9" y="0"/>
                </a:lnTo>
                <a:lnTo>
                  <a:pt x="7" y="1"/>
                </a:lnTo>
                <a:lnTo>
                  <a:pt x="5" y="3"/>
                </a:lnTo>
                <a:lnTo>
                  <a:pt x="4" y="5"/>
                </a:lnTo>
                <a:lnTo>
                  <a:pt x="2" y="6"/>
                </a:lnTo>
                <a:lnTo>
                  <a:pt x="2" y="8"/>
                </a:lnTo>
                <a:lnTo>
                  <a:pt x="0" y="10"/>
                </a:lnTo>
                <a:lnTo>
                  <a:pt x="5" y="11"/>
                </a:lnTo>
                <a:lnTo>
                  <a:pt x="7" y="10"/>
                </a:lnTo>
                <a:lnTo>
                  <a:pt x="7" y="8"/>
                </a:lnTo>
                <a:lnTo>
                  <a:pt x="9" y="6"/>
                </a:lnTo>
                <a:lnTo>
                  <a:pt x="10" y="5"/>
                </a:lnTo>
                <a:lnTo>
                  <a:pt x="12" y="3"/>
                </a:lnTo>
                <a:lnTo>
                  <a:pt x="9"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70" name="Freeform 2475">
            <a:extLst>
              <a:ext uri="{FF2B5EF4-FFF2-40B4-BE49-F238E27FC236}">
                <a16:creationId xmlns:a16="http://schemas.microsoft.com/office/drawing/2014/main" id="{5750808B-A1E8-BC2B-942D-0D36A9FECCC8}"/>
              </a:ext>
            </a:extLst>
          </p:cNvPr>
          <p:cNvSpPr>
            <a:spLocks/>
          </p:cNvSpPr>
          <p:nvPr/>
        </p:nvSpPr>
        <p:spPr bwMode="auto">
          <a:xfrm>
            <a:off x="2849563" y="2505075"/>
            <a:ext cx="19050" cy="19050"/>
          </a:xfrm>
          <a:custGeom>
            <a:avLst/>
            <a:gdLst>
              <a:gd name="T0" fmla="*/ 8 w 12"/>
              <a:gd name="T1" fmla="*/ 0 h 12"/>
              <a:gd name="T2" fmla="*/ 8 w 12"/>
              <a:gd name="T3" fmla="*/ 0 h 12"/>
              <a:gd name="T4" fmla="*/ 7 w 12"/>
              <a:gd name="T5" fmla="*/ 2 h 12"/>
              <a:gd name="T6" fmla="*/ 5 w 12"/>
              <a:gd name="T7" fmla="*/ 4 h 12"/>
              <a:gd name="T8" fmla="*/ 3 w 12"/>
              <a:gd name="T9" fmla="*/ 5 h 12"/>
              <a:gd name="T10" fmla="*/ 2 w 12"/>
              <a:gd name="T11" fmla="*/ 7 h 12"/>
              <a:gd name="T12" fmla="*/ 2 w 12"/>
              <a:gd name="T13" fmla="*/ 9 h 12"/>
              <a:gd name="T14" fmla="*/ 0 w 12"/>
              <a:gd name="T15" fmla="*/ 10 h 12"/>
              <a:gd name="T16" fmla="*/ 5 w 12"/>
              <a:gd name="T17" fmla="*/ 12 h 12"/>
              <a:gd name="T18" fmla="*/ 5 w 12"/>
              <a:gd name="T19" fmla="*/ 10 h 12"/>
              <a:gd name="T20" fmla="*/ 7 w 12"/>
              <a:gd name="T21" fmla="*/ 10 h 12"/>
              <a:gd name="T22" fmla="*/ 7 w 12"/>
              <a:gd name="T23" fmla="*/ 9 h 12"/>
              <a:gd name="T24" fmla="*/ 8 w 12"/>
              <a:gd name="T25" fmla="*/ 7 h 12"/>
              <a:gd name="T26" fmla="*/ 10 w 12"/>
              <a:gd name="T27" fmla="*/ 5 h 12"/>
              <a:gd name="T28" fmla="*/ 12 w 12"/>
              <a:gd name="T29" fmla="*/ 4 h 12"/>
              <a:gd name="T30" fmla="*/ 8 w 12"/>
              <a:gd name="T31" fmla="*/ 0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 h="12">
                <a:moveTo>
                  <a:pt x="8" y="0"/>
                </a:moveTo>
                <a:lnTo>
                  <a:pt x="8" y="0"/>
                </a:lnTo>
                <a:lnTo>
                  <a:pt x="7" y="2"/>
                </a:lnTo>
                <a:lnTo>
                  <a:pt x="5" y="4"/>
                </a:lnTo>
                <a:lnTo>
                  <a:pt x="3" y="5"/>
                </a:lnTo>
                <a:lnTo>
                  <a:pt x="2" y="7"/>
                </a:lnTo>
                <a:lnTo>
                  <a:pt x="2" y="9"/>
                </a:lnTo>
                <a:lnTo>
                  <a:pt x="0" y="10"/>
                </a:lnTo>
                <a:lnTo>
                  <a:pt x="5" y="12"/>
                </a:lnTo>
                <a:lnTo>
                  <a:pt x="5" y="10"/>
                </a:lnTo>
                <a:lnTo>
                  <a:pt x="7" y="10"/>
                </a:lnTo>
                <a:lnTo>
                  <a:pt x="7" y="9"/>
                </a:lnTo>
                <a:lnTo>
                  <a:pt x="8" y="7"/>
                </a:lnTo>
                <a:lnTo>
                  <a:pt x="10" y="5"/>
                </a:lnTo>
                <a:lnTo>
                  <a:pt x="12" y="4"/>
                </a:lnTo>
                <a:lnTo>
                  <a:pt x="8"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71" name="Freeform 2476">
            <a:extLst>
              <a:ext uri="{FF2B5EF4-FFF2-40B4-BE49-F238E27FC236}">
                <a16:creationId xmlns:a16="http://schemas.microsoft.com/office/drawing/2014/main" id="{C3FDCB6A-0F62-BC55-E217-A8319EC306EE}"/>
              </a:ext>
            </a:extLst>
          </p:cNvPr>
          <p:cNvSpPr>
            <a:spLocks/>
          </p:cNvSpPr>
          <p:nvPr/>
        </p:nvSpPr>
        <p:spPr bwMode="auto">
          <a:xfrm>
            <a:off x="2854325" y="2508250"/>
            <a:ext cx="15875" cy="19050"/>
          </a:xfrm>
          <a:custGeom>
            <a:avLst/>
            <a:gdLst>
              <a:gd name="T0" fmla="*/ 7 w 10"/>
              <a:gd name="T1" fmla="*/ 0 h 12"/>
              <a:gd name="T2" fmla="*/ 7 w 10"/>
              <a:gd name="T3" fmla="*/ 0 h 12"/>
              <a:gd name="T4" fmla="*/ 5 w 10"/>
              <a:gd name="T5" fmla="*/ 2 h 12"/>
              <a:gd name="T6" fmla="*/ 4 w 10"/>
              <a:gd name="T7" fmla="*/ 3 h 12"/>
              <a:gd name="T8" fmla="*/ 2 w 10"/>
              <a:gd name="T9" fmla="*/ 5 h 12"/>
              <a:gd name="T10" fmla="*/ 2 w 10"/>
              <a:gd name="T11" fmla="*/ 7 h 12"/>
              <a:gd name="T12" fmla="*/ 0 w 10"/>
              <a:gd name="T13" fmla="*/ 8 h 12"/>
              <a:gd name="T14" fmla="*/ 4 w 10"/>
              <a:gd name="T15" fmla="*/ 12 h 12"/>
              <a:gd name="T16" fmla="*/ 4 w 10"/>
              <a:gd name="T17" fmla="*/ 10 h 12"/>
              <a:gd name="T18" fmla="*/ 5 w 10"/>
              <a:gd name="T19" fmla="*/ 8 h 12"/>
              <a:gd name="T20" fmla="*/ 7 w 10"/>
              <a:gd name="T21" fmla="*/ 7 h 12"/>
              <a:gd name="T22" fmla="*/ 9 w 10"/>
              <a:gd name="T23" fmla="*/ 5 h 12"/>
              <a:gd name="T24" fmla="*/ 10 w 10"/>
              <a:gd name="T25" fmla="*/ 3 h 12"/>
              <a:gd name="T26" fmla="*/ 7 w 10"/>
              <a:gd name="T27" fmla="*/ 0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 h="12">
                <a:moveTo>
                  <a:pt x="7" y="0"/>
                </a:moveTo>
                <a:lnTo>
                  <a:pt x="7" y="0"/>
                </a:lnTo>
                <a:lnTo>
                  <a:pt x="5" y="2"/>
                </a:lnTo>
                <a:lnTo>
                  <a:pt x="4" y="3"/>
                </a:lnTo>
                <a:lnTo>
                  <a:pt x="2" y="5"/>
                </a:lnTo>
                <a:lnTo>
                  <a:pt x="2" y="7"/>
                </a:lnTo>
                <a:lnTo>
                  <a:pt x="0" y="8"/>
                </a:lnTo>
                <a:lnTo>
                  <a:pt x="4" y="12"/>
                </a:lnTo>
                <a:lnTo>
                  <a:pt x="4" y="10"/>
                </a:lnTo>
                <a:lnTo>
                  <a:pt x="5" y="8"/>
                </a:lnTo>
                <a:lnTo>
                  <a:pt x="7" y="7"/>
                </a:lnTo>
                <a:lnTo>
                  <a:pt x="9" y="5"/>
                </a:lnTo>
                <a:lnTo>
                  <a:pt x="10" y="3"/>
                </a:lnTo>
                <a:lnTo>
                  <a:pt x="7" y="0"/>
                </a:lnTo>
                <a:close/>
              </a:path>
            </a:pathLst>
          </a:custGeom>
          <a:solidFill>
            <a:srgbClr val="F1F7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72" name="Freeform 2477">
            <a:extLst>
              <a:ext uri="{FF2B5EF4-FFF2-40B4-BE49-F238E27FC236}">
                <a16:creationId xmlns:a16="http://schemas.microsoft.com/office/drawing/2014/main" id="{AF305DAE-BA7A-492A-7538-6CF870261B47}"/>
              </a:ext>
            </a:extLst>
          </p:cNvPr>
          <p:cNvSpPr>
            <a:spLocks/>
          </p:cNvSpPr>
          <p:nvPr/>
        </p:nvSpPr>
        <p:spPr bwMode="auto">
          <a:xfrm>
            <a:off x="2857500" y="2511425"/>
            <a:ext cx="15875" cy="17463"/>
          </a:xfrm>
          <a:custGeom>
            <a:avLst/>
            <a:gdLst>
              <a:gd name="T0" fmla="*/ 7 w 10"/>
              <a:gd name="T1" fmla="*/ 0 h 11"/>
              <a:gd name="T2" fmla="*/ 7 w 10"/>
              <a:gd name="T3" fmla="*/ 0 h 11"/>
              <a:gd name="T4" fmla="*/ 5 w 10"/>
              <a:gd name="T5" fmla="*/ 1 h 11"/>
              <a:gd name="T6" fmla="*/ 3 w 10"/>
              <a:gd name="T7" fmla="*/ 3 h 11"/>
              <a:gd name="T8" fmla="*/ 2 w 10"/>
              <a:gd name="T9" fmla="*/ 5 h 11"/>
              <a:gd name="T10" fmla="*/ 2 w 10"/>
              <a:gd name="T11" fmla="*/ 6 h 11"/>
              <a:gd name="T12" fmla="*/ 0 w 10"/>
              <a:gd name="T13" fmla="*/ 6 h 11"/>
              <a:gd name="T14" fmla="*/ 0 w 10"/>
              <a:gd name="T15" fmla="*/ 8 h 11"/>
              <a:gd name="T16" fmla="*/ 3 w 10"/>
              <a:gd name="T17" fmla="*/ 11 h 11"/>
              <a:gd name="T18" fmla="*/ 5 w 10"/>
              <a:gd name="T19" fmla="*/ 10 h 11"/>
              <a:gd name="T20" fmla="*/ 5 w 10"/>
              <a:gd name="T21" fmla="*/ 8 h 11"/>
              <a:gd name="T22" fmla="*/ 7 w 10"/>
              <a:gd name="T23" fmla="*/ 8 h 11"/>
              <a:gd name="T24" fmla="*/ 7 w 10"/>
              <a:gd name="T25" fmla="*/ 6 h 11"/>
              <a:gd name="T26" fmla="*/ 8 w 10"/>
              <a:gd name="T27" fmla="*/ 5 h 11"/>
              <a:gd name="T28" fmla="*/ 10 w 10"/>
              <a:gd name="T29" fmla="*/ 3 h 11"/>
              <a:gd name="T30" fmla="*/ 7 w 10"/>
              <a:gd name="T31"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 h="11">
                <a:moveTo>
                  <a:pt x="7" y="0"/>
                </a:moveTo>
                <a:lnTo>
                  <a:pt x="7" y="0"/>
                </a:lnTo>
                <a:lnTo>
                  <a:pt x="5" y="1"/>
                </a:lnTo>
                <a:lnTo>
                  <a:pt x="3" y="3"/>
                </a:lnTo>
                <a:lnTo>
                  <a:pt x="2" y="5"/>
                </a:lnTo>
                <a:lnTo>
                  <a:pt x="2" y="6"/>
                </a:lnTo>
                <a:lnTo>
                  <a:pt x="0" y="6"/>
                </a:lnTo>
                <a:lnTo>
                  <a:pt x="0" y="8"/>
                </a:lnTo>
                <a:lnTo>
                  <a:pt x="3" y="11"/>
                </a:lnTo>
                <a:lnTo>
                  <a:pt x="5" y="10"/>
                </a:lnTo>
                <a:lnTo>
                  <a:pt x="5" y="8"/>
                </a:lnTo>
                <a:lnTo>
                  <a:pt x="7" y="8"/>
                </a:lnTo>
                <a:lnTo>
                  <a:pt x="7" y="6"/>
                </a:lnTo>
                <a:lnTo>
                  <a:pt x="8" y="5"/>
                </a:lnTo>
                <a:lnTo>
                  <a:pt x="10" y="3"/>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73" name="Freeform 2478">
            <a:extLst>
              <a:ext uri="{FF2B5EF4-FFF2-40B4-BE49-F238E27FC236}">
                <a16:creationId xmlns:a16="http://schemas.microsoft.com/office/drawing/2014/main" id="{54B3834D-46B4-5CDF-7899-F83ACD98A652}"/>
              </a:ext>
            </a:extLst>
          </p:cNvPr>
          <p:cNvSpPr>
            <a:spLocks/>
          </p:cNvSpPr>
          <p:nvPr/>
        </p:nvSpPr>
        <p:spPr bwMode="auto">
          <a:xfrm>
            <a:off x="2860675" y="2513013"/>
            <a:ext cx="15875" cy="15875"/>
          </a:xfrm>
          <a:custGeom>
            <a:avLst/>
            <a:gdLst>
              <a:gd name="T0" fmla="*/ 6 w 10"/>
              <a:gd name="T1" fmla="*/ 0 h 10"/>
              <a:gd name="T2" fmla="*/ 6 w 10"/>
              <a:gd name="T3" fmla="*/ 0 h 10"/>
              <a:gd name="T4" fmla="*/ 5 w 10"/>
              <a:gd name="T5" fmla="*/ 2 h 10"/>
              <a:gd name="T6" fmla="*/ 3 w 10"/>
              <a:gd name="T7" fmla="*/ 4 h 10"/>
              <a:gd name="T8" fmla="*/ 1 w 10"/>
              <a:gd name="T9" fmla="*/ 5 h 10"/>
              <a:gd name="T10" fmla="*/ 0 w 10"/>
              <a:gd name="T11" fmla="*/ 7 h 10"/>
              <a:gd name="T12" fmla="*/ 0 w 10"/>
              <a:gd name="T13" fmla="*/ 9 h 10"/>
              <a:gd name="T14" fmla="*/ 3 w 10"/>
              <a:gd name="T15" fmla="*/ 10 h 10"/>
              <a:gd name="T16" fmla="*/ 5 w 10"/>
              <a:gd name="T17" fmla="*/ 10 h 10"/>
              <a:gd name="T18" fmla="*/ 5 w 10"/>
              <a:gd name="T19" fmla="*/ 9 h 10"/>
              <a:gd name="T20" fmla="*/ 6 w 10"/>
              <a:gd name="T21" fmla="*/ 7 h 10"/>
              <a:gd name="T22" fmla="*/ 8 w 10"/>
              <a:gd name="T23" fmla="*/ 5 h 10"/>
              <a:gd name="T24" fmla="*/ 10 w 10"/>
              <a:gd name="T25" fmla="*/ 4 h 10"/>
              <a:gd name="T26" fmla="*/ 6 w 10"/>
              <a:gd name="T27"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 h="10">
                <a:moveTo>
                  <a:pt x="6" y="0"/>
                </a:moveTo>
                <a:lnTo>
                  <a:pt x="6" y="0"/>
                </a:lnTo>
                <a:lnTo>
                  <a:pt x="5" y="2"/>
                </a:lnTo>
                <a:lnTo>
                  <a:pt x="3" y="4"/>
                </a:lnTo>
                <a:lnTo>
                  <a:pt x="1" y="5"/>
                </a:lnTo>
                <a:lnTo>
                  <a:pt x="0" y="7"/>
                </a:lnTo>
                <a:lnTo>
                  <a:pt x="0" y="9"/>
                </a:lnTo>
                <a:lnTo>
                  <a:pt x="3" y="10"/>
                </a:lnTo>
                <a:lnTo>
                  <a:pt x="5" y="10"/>
                </a:lnTo>
                <a:lnTo>
                  <a:pt x="5" y="9"/>
                </a:lnTo>
                <a:lnTo>
                  <a:pt x="6" y="7"/>
                </a:lnTo>
                <a:lnTo>
                  <a:pt x="8" y="5"/>
                </a:lnTo>
                <a:lnTo>
                  <a:pt x="10" y="4"/>
                </a:lnTo>
                <a:lnTo>
                  <a:pt x="6"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74" name="Freeform 2479">
            <a:extLst>
              <a:ext uri="{FF2B5EF4-FFF2-40B4-BE49-F238E27FC236}">
                <a16:creationId xmlns:a16="http://schemas.microsoft.com/office/drawing/2014/main" id="{C5F8DA62-17E7-C7E1-6324-F0AABBBEA785}"/>
              </a:ext>
            </a:extLst>
          </p:cNvPr>
          <p:cNvSpPr>
            <a:spLocks/>
          </p:cNvSpPr>
          <p:nvPr/>
        </p:nvSpPr>
        <p:spPr bwMode="auto">
          <a:xfrm>
            <a:off x="2862263" y="2516188"/>
            <a:ext cx="15875" cy="15875"/>
          </a:xfrm>
          <a:custGeom>
            <a:avLst/>
            <a:gdLst>
              <a:gd name="T0" fmla="*/ 7 w 10"/>
              <a:gd name="T1" fmla="*/ 0 h 10"/>
              <a:gd name="T2" fmla="*/ 7 w 10"/>
              <a:gd name="T3" fmla="*/ 0 h 10"/>
              <a:gd name="T4" fmla="*/ 5 w 10"/>
              <a:gd name="T5" fmla="*/ 2 h 10"/>
              <a:gd name="T6" fmla="*/ 4 w 10"/>
              <a:gd name="T7" fmla="*/ 3 h 10"/>
              <a:gd name="T8" fmla="*/ 4 w 10"/>
              <a:gd name="T9" fmla="*/ 5 h 10"/>
              <a:gd name="T10" fmla="*/ 2 w 10"/>
              <a:gd name="T11" fmla="*/ 5 h 10"/>
              <a:gd name="T12" fmla="*/ 2 w 10"/>
              <a:gd name="T13" fmla="*/ 7 h 10"/>
              <a:gd name="T14" fmla="*/ 0 w 10"/>
              <a:gd name="T15" fmla="*/ 8 h 10"/>
              <a:gd name="T16" fmla="*/ 5 w 10"/>
              <a:gd name="T17" fmla="*/ 10 h 10"/>
              <a:gd name="T18" fmla="*/ 5 w 10"/>
              <a:gd name="T19" fmla="*/ 8 h 10"/>
              <a:gd name="T20" fmla="*/ 7 w 10"/>
              <a:gd name="T21" fmla="*/ 8 h 10"/>
              <a:gd name="T22" fmla="*/ 7 w 10"/>
              <a:gd name="T23" fmla="*/ 7 h 10"/>
              <a:gd name="T24" fmla="*/ 9 w 10"/>
              <a:gd name="T25" fmla="*/ 5 h 10"/>
              <a:gd name="T26" fmla="*/ 10 w 10"/>
              <a:gd name="T27" fmla="*/ 3 h 10"/>
              <a:gd name="T28" fmla="*/ 7 w 10"/>
              <a:gd name="T29"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0" h="10">
                <a:moveTo>
                  <a:pt x="7" y="0"/>
                </a:moveTo>
                <a:lnTo>
                  <a:pt x="7" y="0"/>
                </a:lnTo>
                <a:lnTo>
                  <a:pt x="5" y="2"/>
                </a:lnTo>
                <a:lnTo>
                  <a:pt x="4" y="3"/>
                </a:lnTo>
                <a:lnTo>
                  <a:pt x="4" y="5"/>
                </a:lnTo>
                <a:lnTo>
                  <a:pt x="2" y="5"/>
                </a:lnTo>
                <a:lnTo>
                  <a:pt x="2" y="7"/>
                </a:lnTo>
                <a:lnTo>
                  <a:pt x="0" y="8"/>
                </a:lnTo>
                <a:lnTo>
                  <a:pt x="5" y="10"/>
                </a:lnTo>
                <a:lnTo>
                  <a:pt x="5" y="8"/>
                </a:lnTo>
                <a:lnTo>
                  <a:pt x="7" y="8"/>
                </a:lnTo>
                <a:lnTo>
                  <a:pt x="7" y="7"/>
                </a:lnTo>
                <a:lnTo>
                  <a:pt x="9" y="5"/>
                </a:lnTo>
                <a:lnTo>
                  <a:pt x="10" y="3"/>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75" name="Freeform 2480">
            <a:extLst>
              <a:ext uri="{FF2B5EF4-FFF2-40B4-BE49-F238E27FC236}">
                <a16:creationId xmlns:a16="http://schemas.microsoft.com/office/drawing/2014/main" id="{86E2D8BB-0858-E8B2-CD37-2971780E3DE7}"/>
              </a:ext>
            </a:extLst>
          </p:cNvPr>
          <p:cNvSpPr>
            <a:spLocks/>
          </p:cNvSpPr>
          <p:nvPr/>
        </p:nvSpPr>
        <p:spPr bwMode="auto">
          <a:xfrm>
            <a:off x="2865438" y="2519363"/>
            <a:ext cx="19050" cy="15875"/>
          </a:xfrm>
          <a:custGeom>
            <a:avLst/>
            <a:gdLst>
              <a:gd name="T0" fmla="*/ 7 w 12"/>
              <a:gd name="T1" fmla="*/ 0 h 10"/>
              <a:gd name="T2" fmla="*/ 7 w 12"/>
              <a:gd name="T3" fmla="*/ 0 h 10"/>
              <a:gd name="T4" fmla="*/ 5 w 12"/>
              <a:gd name="T5" fmla="*/ 1 h 10"/>
              <a:gd name="T6" fmla="*/ 3 w 12"/>
              <a:gd name="T7" fmla="*/ 3 h 10"/>
              <a:gd name="T8" fmla="*/ 2 w 12"/>
              <a:gd name="T9" fmla="*/ 5 h 10"/>
              <a:gd name="T10" fmla="*/ 2 w 12"/>
              <a:gd name="T11" fmla="*/ 6 h 10"/>
              <a:gd name="T12" fmla="*/ 0 w 12"/>
              <a:gd name="T13" fmla="*/ 6 h 10"/>
              <a:gd name="T14" fmla="*/ 5 w 12"/>
              <a:gd name="T15" fmla="*/ 10 h 10"/>
              <a:gd name="T16" fmla="*/ 5 w 12"/>
              <a:gd name="T17" fmla="*/ 8 h 10"/>
              <a:gd name="T18" fmla="*/ 7 w 12"/>
              <a:gd name="T19" fmla="*/ 8 h 10"/>
              <a:gd name="T20" fmla="*/ 7 w 12"/>
              <a:gd name="T21" fmla="*/ 6 h 10"/>
              <a:gd name="T22" fmla="*/ 8 w 12"/>
              <a:gd name="T23" fmla="*/ 6 h 10"/>
              <a:gd name="T24" fmla="*/ 8 w 12"/>
              <a:gd name="T25" fmla="*/ 5 h 10"/>
              <a:gd name="T26" fmla="*/ 10 w 12"/>
              <a:gd name="T27" fmla="*/ 5 h 10"/>
              <a:gd name="T28" fmla="*/ 10 w 12"/>
              <a:gd name="T29" fmla="*/ 3 h 10"/>
              <a:gd name="T30" fmla="*/ 12 w 12"/>
              <a:gd name="T31" fmla="*/ 3 h 10"/>
              <a:gd name="T32" fmla="*/ 7 w 12"/>
              <a:gd name="T33"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2" h="10">
                <a:moveTo>
                  <a:pt x="7" y="0"/>
                </a:moveTo>
                <a:lnTo>
                  <a:pt x="7" y="0"/>
                </a:lnTo>
                <a:lnTo>
                  <a:pt x="5" y="1"/>
                </a:lnTo>
                <a:lnTo>
                  <a:pt x="3" y="3"/>
                </a:lnTo>
                <a:lnTo>
                  <a:pt x="2" y="5"/>
                </a:lnTo>
                <a:lnTo>
                  <a:pt x="2" y="6"/>
                </a:lnTo>
                <a:lnTo>
                  <a:pt x="0" y="6"/>
                </a:lnTo>
                <a:lnTo>
                  <a:pt x="5" y="10"/>
                </a:lnTo>
                <a:lnTo>
                  <a:pt x="5" y="8"/>
                </a:lnTo>
                <a:lnTo>
                  <a:pt x="7" y="8"/>
                </a:lnTo>
                <a:lnTo>
                  <a:pt x="7" y="6"/>
                </a:lnTo>
                <a:lnTo>
                  <a:pt x="8" y="6"/>
                </a:lnTo>
                <a:lnTo>
                  <a:pt x="8" y="5"/>
                </a:lnTo>
                <a:lnTo>
                  <a:pt x="10" y="5"/>
                </a:lnTo>
                <a:lnTo>
                  <a:pt x="10" y="3"/>
                </a:lnTo>
                <a:lnTo>
                  <a:pt x="12" y="3"/>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76" name="Freeform 2481">
            <a:extLst>
              <a:ext uri="{FF2B5EF4-FFF2-40B4-BE49-F238E27FC236}">
                <a16:creationId xmlns:a16="http://schemas.microsoft.com/office/drawing/2014/main" id="{CF8C44F1-CF86-905E-0DC4-2D13FA4A89F8}"/>
              </a:ext>
            </a:extLst>
          </p:cNvPr>
          <p:cNvSpPr>
            <a:spLocks/>
          </p:cNvSpPr>
          <p:nvPr/>
        </p:nvSpPr>
        <p:spPr bwMode="auto">
          <a:xfrm>
            <a:off x="2870200" y="2520950"/>
            <a:ext cx="15875" cy="15875"/>
          </a:xfrm>
          <a:custGeom>
            <a:avLst/>
            <a:gdLst>
              <a:gd name="T0" fmla="*/ 5 w 10"/>
              <a:gd name="T1" fmla="*/ 0 h 10"/>
              <a:gd name="T2" fmla="*/ 5 w 10"/>
              <a:gd name="T3" fmla="*/ 0 h 10"/>
              <a:gd name="T4" fmla="*/ 4 w 10"/>
              <a:gd name="T5" fmla="*/ 2 h 10"/>
              <a:gd name="T6" fmla="*/ 2 w 10"/>
              <a:gd name="T7" fmla="*/ 4 h 10"/>
              <a:gd name="T8" fmla="*/ 2 w 10"/>
              <a:gd name="T9" fmla="*/ 5 h 10"/>
              <a:gd name="T10" fmla="*/ 0 w 10"/>
              <a:gd name="T11" fmla="*/ 5 h 10"/>
              <a:gd name="T12" fmla="*/ 0 w 10"/>
              <a:gd name="T13" fmla="*/ 7 h 10"/>
              <a:gd name="T14" fmla="*/ 4 w 10"/>
              <a:gd name="T15" fmla="*/ 10 h 10"/>
              <a:gd name="T16" fmla="*/ 5 w 10"/>
              <a:gd name="T17" fmla="*/ 9 h 10"/>
              <a:gd name="T18" fmla="*/ 5 w 10"/>
              <a:gd name="T19" fmla="*/ 7 h 10"/>
              <a:gd name="T20" fmla="*/ 7 w 10"/>
              <a:gd name="T21" fmla="*/ 7 h 10"/>
              <a:gd name="T22" fmla="*/ 7 w 10"/>
              <a:gd name="T23" fmla="*/ 5 h 10"/>
              <a:gd name="T24" fmla="*/ 9 w 10"/>
              <a:gd name="T25" fmla="*/ 5 h 10"/>
              <a:gd name="T26" fmla="*/ 9 w 10"/>
              <a:gd name="T27" fmla="*/ 4 h 10"/>
              <a:gd name="T28" fmla="*/ 10 w 10"/>
              <a:gd name="T29" fmla="*/ 4 h 10"/>
              <a:gd name="T30" fmla="*/ 5 w 10"/>
              <a:gd name="T31"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 h="10">
                <a:moveTo>
                  <a:pt x="5" y="0"/>
                </a:moveTo>
                <a:lnTo>
                  <a:pt x="5" y="0"/>
                </a:lnTo>
                <a:lnTo>
                  <a:pt x="4" y="2"/>
                </a:lnTo>
                <a:lnTo>
                  <a:pt x="2" y="4"/>
                </a:lnTo>
                <a:lnTo>
                  <a:pt x="2" y="5"/>
                </a:lnTo>
                <a:lnTo>
                  <a:pt x="0" y="5"/>
                </a:lnTo>
                <a:lnTo>
                  <a:pt x="0" y="7"/>
                </a:lnTo>
                <a:lnTo>
                  <a:pt x="4" y="10"/>
                </a:lnTo>
                <a:lnTo>
                  <a:pt x="5" y="9"/>
                </a:lnTo>
                <a:lnTo>
                  <a:pt x="5" y="7"/>
                </a:lnTo>
                <a:lnTo>
                  <a:pt x="7" y="7"/>
                </a:lnTo>
                <a:lnTo>
                  <a:pt x="7" y="5"/>
                </a:lnTo>
                <a:lnTo>
                  <a:pt x="9" y="5"/>
                </a:lnTo>
                <a:lnTo>
                  <a:pt x="9" y="4"/>
                </a:lnTo>
                <a:lnTo>
                  <a:pt x="10" y="4"/>
                </a:lnTo>
                <a:lnTo>
                  <a:pt x="5"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77" name="Freeform 2482">
            <a:extLst>
              <a:ext uri="{FF2B5EF4-FFF2-40B4-BE49-F238E27FC236}">
                <a16:creationId xmlns:a16="http://schemas.microsoft.com/office/drawing/2014/main" id="{872936B2-09CB-791A-4630-96452CDF3E82}"/>
              </a:ext>
            </a:extLst>
          </p:cNvPr>
          <p:cNvSpPr>
            <a:spLocks/>
          </p:cNvSpPr>
          <p:nvPr/>
        </p:nvSpPr>
        <p:spPr bwMode="auto">
          <a:xfrm>
            <a:off x="2873375" y="2524125"/>
            <a:ext cx="15875" cy="12700"/>
          </a:xfrm>
          <a:custGeom>
            <a:avLst/>
            <a:gdLst>
              <a:gd name="T0" fmla="*/ 7 w 10"/>
              <a:gd name="T1" fmla="*/ 0 h 8"/>
              <a:gd name="T2" fmla="*/ 5 w 10"/>
              <a:gd name="T3" fmla="*/ 0 h 8"/>
              <a:gd name="T4" fmla="*/ 5 w 10"/>
              <a:gd name="T5" fmla="*/ 2 h 8"/>
              <a:gd name="T6" fmla="*/ 3 w 10"/>
              <a:gd name="T7" fmla="*/ 2 h 8"/>
              <a:gd name="T8" fmla="*/ 3 w 10"/>
              <a:gd name="T9" fmla="*/ 3 h 8"/>
              <a:gd name="T10" fmla="*/ 2 w 10"/>
              <a:gd name="T11" fmla="*/ 3 h 8"/>
              <a:gd name="T12" fmla="*/ 2 w 10"/>
              <a:gd name="T13" fmla="*/ 5 h 8"/>
              <a:gd name="T14" fmla="*/ 0 w 10"/>
              <a:gd name="T15" fmla="*/ 5 h 8"/>
              <a:gd name="T16" fmla="*/ 0 w 10"/>
              <a:gd name="T17" fmla="*/ 7 h 8"/>
              <a:gd name="T18" fmla="*/ 3 w 10"/>
              <a:gd name="T19" fmla="*/ 8 h 8"/>
              <a:gd name="T20" fmla="*/ 5 w 10"/>
              <a:gd name="T21" fmla="*/ 8 h 8"/>
              <a:gd name="T22" fmla="*/ 5 w 10"/>
              <a:gd name="T23" fmla="*/ 7 h 8"/>
              <a:gd name="T24" fmla="*/ 7 w 10"/>
              <a:gd name="T25" fmla="*/ 5 h 8"/>
              <a:gd name="T26" fmla="*/ 8 w 10"/>
              <a:gd name="T27" fmla="*/ 5 h 8"/>
              <a:gd name="T28" fmla="*/ 8 w 10"/>
              <a:gd name="T29" fmla="*/ 3 h 8"/>
              <a:gd name="T30" fmla="*/ 10 w 10"/>
              <a:gd name="T31" fmla="*/ 3 h 8"/>
              <a:gd name="T32" fmla="*/ 7 w 10"/>
              <a:gd name="T33"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0" h="8">
                <a:moveTo>
                  <a:pt x="7" y="0"/>
                </a:moveTo>
                <a:lnTo>
                  <a:pt x="5" y="0"/>
                </a:lnTo>
                <a:lnTo>
                  <a:pt x="5" y="2"/>
                </a:lnTo>
                <a:lnTo>
                  <a:pt x="3" y="2"/>
                </a:lnTo>
                <a:lnTo>
                  <a:pt x="3" y="3"/>
                </a:lnTo>
                <a:lnTo>
                  <a:pt x="2" y="3"/>
                </a:lnTo>
                <a:lnTo>
                  <a:pt x="2" y="5"/>
                </a:lnTo>
                <a:lnTo>
                  <a:pt x="0" y="5"/>
                </a:lnTo>
                <a:lnTo>
                  <a:pt x="0" y="7"/>
                </a:lnTo>
                <a:lnTo>
                  <a:pt x="3" y="8"/>
                </a:lnTo>
                <a:lnTo>
                  <a:pt x="5" y="8"/>
                </a:lnTo>
                <a:lnTo>
                  <a:pt x="5" y="7"/>
                </a:lnTo>
                <a:lnTo>
                  <a:pt x="7" y="5"/>
                </a:lnTo>
                <a:lnTo>
                  <a:pt x="8" y="5"/>
                </a:lnTo>
                <a:lnTo>
                  <a:pt x="8" y="3"/>
                </a:lnTo>
                <a:lnTo>
                  <a:pt x="10" y="3"/>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78" name="Freeform 2483">
            <a:extLst>
              <a:ext uri="{FF2B5EF4-FFF2-40B4-BE49-F238E27FC236}">
                <a16:creationId xmlns:a16="http://schemas.microsoft.com/office/drawing/2014/main" id="{74E5ED3D-104F-035B-B6E9-95A9C9CD7C68}"/>
              </a:ext>
            </a:extLst>
          </p:cNvPr>
          <p:cNvSpPr>
            <a:spLocks/>
          </p:cNvSpPr>
          <p:nvPr/>
        </p:nvSpPr>
        <p:spPr bwMode="auto">
          <a:xfrm>
            <a:off x="2876550" y="2527300"/>
            <a:ext cx="15875" cy="12700"/>
          </a:xfrm>
          <a:custGeom>
            <a:avLst/>
            <a:gdLst>
              <a:gd name="T0" fmla="*/ 6 w 10"/>
              <a:gd name="T1" fmla="*/ 0 h 8"/>
              <a:gd name="T2" fmla="*/ 5 w 10"/>
              <a:gd name="T3" fmla="*/ 0 h 8"/>
              <a:gd name="T4" fmla="*/ 5 w 10"/>
              <a:gd name="T5" fmla="*/ 1 h 8"/>
              <a:gd name="T6" fmla="*/ 3 w 10"/>
              <a:gd name="T7" fmla="*/ 1 h 8"/>
              <a:gd name="T8" fmla="*/ 3 w 10"/>
              <a:gd name="T9" fmla="*/ 3 h 8"/>
              <a:gd name="T10" fmla="*/ 1 w 10"/>
              <a:gd name="T11" fmla="*/ 3 h 8"/>
              <a:gd name="T12" fmla="*/ 1 w 10"/>
              <a:gd name="T13" fmla="*/ 5 h 8"/>
              <a:gd name="T14" fmla="*/ 0 w 10"/>
              <a:gd name="T15" fmla="*/ 6 h 8"/>
              <a:gd name="T16" fmla="*/ 5 w 10"/>
              <a:gd name="T17" fmla="*/ 8 h 8"/>
              <a:gd name="T18" fmla="*/ 5 w 10"/>
              <a:gd name="T19" fmla="*/ 6 h 8"/>
              <a:gd name="T20" fmla="*/ 6 w 10"/>
              <a:gd name="T21" fmla="*/ 6 h 8"/>
              <a:gd name="T22" fmla="*/ 6 w 10"/>
              <a:gd name="T23" fmla="*/ 5 h 8"/>
              <a:gd name="T24" fmla="*/ 8 w 10"/>
              <a:gd name="T25" fmla="*/ 5 h 8"/>
              <a:gd name="T26" fmla="*/ 8 w 10"/>
              <a:gd name="T27" fmla="*/ 3 h 8"/>
              <a:gd name="T28" fmla="*/ 10 w 10"/>
              <a:gd name="T29" fmla="*/ 3 h 8"/>
              <a:gd name="T30" fmla="*/ 6 w 10"/>
              <a:gd name="T31"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 h="8">
                <a:moveTo>
                  <a:pt x="6" y="0"/>
                </a:moveTo>
                <a:lnTo>
                  <a:pt x="5" y="0"/>
                </a:lnTo>
                <a:lnTo>
                  <a:pt x="5" y="1"/>
                </a:lnTo>
                <a:lnTo>
                  <a:pt x="3" y="1"/>
                </a:lnTo>
                <a:lnTo>
                  <a:pt x="3" y="3"/>
                </a:lnTo>
                <a:lnTo>
                  <a:pt x="1" y="3"/>
                </a:lnTo>
                <a:lnTo>
                  <a:pt x="1" y="5"/>
                </a:lnTo>
                <a:lnTo>
                  <a:pt x="0" y="6"/>
                </a:lnTo>
                <a:lnTo>
                  <a:pt x="5" y="8"/>
                </a:lnTo>
                <a:lnTo>
                  <a:pt x="5" y="6"/>
                </a:lnTo>
                <a:lnTo>
                  <a:pt x="6" y="6"/>
                </a:lnTo>
                <a:lnTo>
                  <a:pt x="6" y="5"/>
                </a:lnTo>
                <a:lnTo>
                  <a:pt x="8" y="5"/>
                </a:lnTo>
                <a:lnTo>
                  <a:pt x="8" y="3"/>
                </a:lnTo>
                <a:lnTo>
                  <a:pt x="10" y="3"/>
                </a:lnTo>
                <a:lnTo>
                  <a:pt x="6"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79" name="Freeform 2484">
            <a:extLst>
              <a:ext uri="{FF2B5EF4-FFF2-40B4-BE49-F238E27FC236}">
                <a16:creationId xmlns:a16="http://schemas.microsoft.com/office/drawing/2014/main" id="{B86431DD-B860-1A6B-E710-F269B53D494F}"/>
              </a:ext>
            </a:extLst>
          </p:cNvPr>
          <p:cNvSpPr>
            <a:spLocks/>
          </p:cNvSpPr>
          <p:nvPr/>
        </p:nvSpPr>
        <p:spPr bwMode="auto">
          <a:xfrm>
            <a:off x="2878138" y="2528888"/>
            <a:ext cx="15875" cy="14288"/>
          </a:xfrm>
          <a:custGeom>
            <a:avLst/>
            <a:gdLst>
              <a:gd name="T0" fmla="*/ 7 w 10"/>
              <a:gd name="T1" fmla="*/ 0 h 9"/>
              <a:gd name="T2" fmla="*/ 5 w 10"/>
              <a:gd name="T3" fmla="*/ 0 h 9"/>
              <a:gd name="T4" fmla="*/ 5 w 10"/>
              <a:gd name="T5" fmla="*/ 2 h 9"/>
              <a:gd name="T6" fmla="*/ 4 w 10"/>
              <a:gd name="T7" fmla="*/ 2 h 9"/>
              <a:gd name="T8" fmla="*/ 2 w 10"/>
              <a:gd name="T9" fmla="*/ 4 h 9"/>
              <a:gd name="T10" fmla="*/ 2 w 10"/>
              <a:gd name="T11" fmla="*/ 5 h 9"/>
              <a:gd name="T12" fmla="*/ 0 w 10"/>
              <a:gd name="T13" fmla="*/ 5 h 9"/>
              <a:gd name="T14" fmla="*/ 5 w 10"/>
              <a:gd name="T15" fmla="*/ 9 h 9"/>
              <a:gd name="T16" fmla="*/ 5 w 10"/>
              <a:gd name="T17" fmla="*/ 7 h 9"/>
              <a:gd name="T18" fmla="*/ 7 w 10"/>
              <a:gd name="T19" fmla="*/ 7 h 9"/>
              <a:gd name="T20" fmla="*/ 7 w 10"/>
              <a:gd name="T21" fmla="*/ 5 h 9"/>
              <a:gd name="T22" fmla="*/ 9 w 10"/>
              <a:gd name="T23" fmla="*/ 4 h 9"/>
              <a:gd name="T24" fmla="*/ 10 w 10"/>
              <a:gd name="T25" fmla="*/ 4 h 9"/>
              <a:gd name="T26" fmla="*/ 7 w 10"/>
              <a:gd name="T27" fmla="*/ 0 h 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 h="9">
                <a:moveTo>
                  <a:pt x="7" y="0"/>
                </a:moveTo>
                <a:lnTo>
                  <a:pt x="5" y="0"/>
                </a:lnTo>
                <a:lnTo>
                  <a:pt x="5" y="2"/>
                </a:lnTo>
                <a:lnTo>
                  <a:pt x="4" y="2"/>
                </a:lnTo>
                <a:lnTo>
                  <a:pt x="2" y="4"/>
                </a:lnTo>
                <a:lnTo>
                  <a:pt x="2" y="5"/>
                </a:lnTo>
                <a:lnTo>
                  <a:pt x="0" y="5"/>
                </a:lnTo>
                <a:lnTo>
                  <a:pt x="5" y="9"/>
                </a:lnTo>
                <a:lnTo>
                  <a:pt x="5" y="7"/>
                </a:lnTo>
                <a:lnTo>
                  <a:pt x="7" y="7"/>
                </a:lnTo>
                <a:lnTo>
                  <a:pt x="7" y="5"/>
                </a:lnTo>
                <a:lnTo>
                  <a:pt x="9" y="4"/>
                </a:lnTo>
                <a:lnTo>
                  <a:pt x="10" y="4"/>
                </a:lnTo>
                <a:lnTo>
                  <a:pt x="7"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80" name="Freeform 2485">
            <a:extLst>
              <a:ext uri="{FF2B5EF4-FFF2-40B4-BE49-F238E27FC236}">
                <a16:creationId xmlns:a16="http://schemas.microsoft.com/office/drawing/2014/main" id="{F0A09B67-909F-6648-2072-57F1A0FD85B4}"/>
              </a:ext>
            </a:extLst>
          </p:cNvPr>
          <p:cNvSpPr>
            <a:spLocks/>
          </p:cNvSpPr>
          <p:nvPr/>
        </p:nvSpPr>
        <p:spPr bwMode="auto">
          <a:xfrm>
            <a:off x="2884488" y="2532063"/>
            <a:ext cx="12700" cy="12700"/>
          </a:xfrm>
          <a:custGeom>
            <a:avLst/>
            <a:gdLst>
              <a:gd name="T0" fmla="*/ 5 w 8"/>
              <a:gd name="T1" fmla="*/ 0 h 8"/>
              <a:gd name="T2" fmla="*/ 3 w 8"/>
              <a:gd name="T3" fmla="*/ 0 h 8"/>
              <a:gd name="T4" fmla="*/ 3 w 8"/>
              <a:gd name="T5" fmla="*/ 2 h 8"/>
              <a:gd name="T6" fmla="*/ 1 w 8"/>
              <a:gd name="T7" fmla="*/ 2 h 8"/>
              <a:gd name="T8" fmla="*/ 1 w 8"/>
              <a:gd name="T9" fmla="*/ 3 h 8"/>
              <a:gd name="T10" fmla="*/ 0 w 8"/>
              <a:gd name="T11" fmla="*/ 3 h 8"/>
              <a:gd name="T12" fmla="*/ 0 w 8"/>
              <a:gd name="T13" fmla="*/ 5 h 8"/>
              <a:gd name="T14" fmla="*/ 3 w 8"/>
              <a:gd name="T15" fmla="*/ 8 h 8"/>
              <a:gd name="T16" fmla="*/ 3 w 8"/>
              <a:gd name="T17" fmla="*/ 7 h 8"/>
              <a:gd name="T18" fmla="*/ 5 w 8"/>
              <a:gd name="T19" fmla="*/ 7 h 8"/>
              <a:gd name="T20" fmla="*/ 5 w 8"/>
              <a:gd name="T21" fmla="*/ 5 h 8"/>
              <a:gd name="T22" fmla="*/ 6 w 8"/>
              <a:gd name="T23" fmla="*/ 5 h 8"/>
              <a:gd name="T24" fmla="*/ 6 w 8"/>
              <a:gd name="T25" fmla="*/ 3 h 8"/>
              <a:gd name="T26" fmla="*/ 8 w 8"/>
              <a:gd name="T27" fmla="*/ 3 h 8"/>
              <a:gd name="T28" fmla="*/ 5 w 8"/>
              <a:gd name="T29" fmla="*/ 0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 h="8">
                <a:moveTo>
                  <a:pt x="5" y="0"/>
                </a:moveTo>
                <a:lnTo>
                  <a:pt x="3" y="0"/>
                </a:lnTo>
                <a:lnTo>
                  <a:pt x="3" y="2"/>
                </a:lnTo>
                <a:lnTo>
                  <a:pt x="1" y="2"/>
                </a:lnTo>
                <a:lnTo>
                  <a:pt x="1" y="3"/>
                </a:lnTo>
                <a:lnTo>
                  <a:pt x="0" y="3"/>
                </a:lnTo>
                <a:lnTo>
                  <a:pt x="0" y="5"/>
                </a:lnTo>
                <a:lnTo>
                  <a:pt x="3" y="8"/>
                </a:lnTo>
                <a:lnTo>
                  <a:pt x="3" y="7"/>
                </a:lnTo>
                <a:lnTo>
                  <a:pt x="5" y="7"/>
                </a:lnTo>
                <a:lnTo>
                  <a:pt x="5" y="5"/>
                </a:lnTo>
                <a:lnTo>
                  <a:pt x="6" y="5"/>
                </a:lnTo>
                <a:lnTo>
                  <a:pt x="6" y="3"/>
                </a:lnTo>
                <a:lnTo>
                  <a:pt x="8" y="3"/>
                </a:lnTo>
                <a:lnTo>
                  <a:pt x="5" y="0"/>
                </a:lnTo>
                <a:close/>
              </a:path>
            </a:pathLst>
          </a:custGeom>
          <a:solidFill>
            <a:srgbClr val="F6FAB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81" name="Freeform 2486">
            <a:extLst>
              <a:ext uri="{FF2B5EF4-FFF2-40B4-BE49-F238E27FC236}">
                <a16:creationId xmlns:a16="http://schemas.microsoft.com/office/drawing/2014/main" id="{7C9C5025-3190-520C-4037-A74E09DA8B09}"/>
              </a:ext>
            </a:extLst>
          </p:cNvPr>
          <p:cNvSpPr>
            <a:spLocks/>
          </p:cNvSpPr>
          <p:nvPr/>
        </p:nvSpPr>
        <p:spPr bwMode="auto">
          <a:xfrm>
            <a:off x="2886075" y="2535238"/>
            <a:ext cx="12700" cy="9525"/>
          </a:xfrm>
          <a:custGeom>
            <a:avLst/>
            <a:gdLst>
              <a:gd name="T0" fmla="*/ 5 w 8"/>
              <a:gd name="T1" fmla="*/ 0 h 6"/>
              <a:gd name="T2" fmla="*/ 4 w 8"/>
              <a:gd name="T3" fmla="*/ 0 h 6"/>
              <a:gd name="T4" fmla="*/ 2 w 8"/>
              <a:gd name="T5" fmla="*/ 1 h 6"/>
              <a:gd name="T6" fmla="*/ 2 w 8"/>
              <a:gd name="T7" fmla="*/ 3 h 6"/>
              <a:gd name="T8" fmla="*/ 0 w 8"/>
              <a:gd name="T9" fmla="*/ 3 h 6"/>
              <a:gd name="T10" fmla="*/ 0 w 8"/>
              <a:gd name="T11" fmla="*/ 5 h 6"/>
              <a:gd name="T12" fmla="*/ 4 w 8"/>
              <a:gd name="T13" fmla="*/ 6 h 6"/>
              <a:gd name="T14" fmla="*/ 5 w 8"/>
              <a:gd name="T15" fmla="*/ 6 h 6"/>
              <a:gd name="T16" fmla="*/ 5 w 8"/>
              <a:gd name="T17" fmla="*/ 5 h 6"/>
              <a:gd name="T18" fmla="*/ 7 w 8"/>
              <a:gd name="T19" fmla="*/ 5 h 6"/>
              <a:gd name="T20" fmla="*/ 7 w 8"/>
              <a:gd name="T21" fmla="*/ 3 h 6"/>
              <a:gd name="T22" fmla="*/ 8 w 8"/>
              <a:gd name="T23" fmla="*/ 3 h 6"/>
              <a:gd name="T24" fmla="*/ 5 w 8"/>
              <a:gd name="T25" fmla="*/ 0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 h="6">
                <a:moveTo>
                  <a:pt x="5" y="0"/>
                </a:moveTo>
                <a:lnTo>
                  <a:pt x="4" y="0"/>
                </a:lnTo>
                <a:lnTo>
                  <a:pt x="2" y="1"/>
                </a:lnTo>
                <a:lnTo>
                  <a:pt x="2" y="3"/>
                </a:lnTo>
                <a:lnTo>
                  <a:pt x="0" y="3"/>
                </a:lnTo>
                <a:lnTo>
                  <a:pt x="0" y="5"/>
                </a:lnTo>
                <a:lnTo>
                  <a:pt x="4" y="6"/>
                </a:lnTo>
                <a:lnTo>
                  <a:pt x="5" y="6"/>
                </a:lnTo>
                <a:lnTo>
                  <a:pt x="5" y="5"/>
                </a:lnTo>
                <a:lnTo>
                  <a:pt x="7" y="5"/>
                </a:lnTo>
                <a:lnTo>
                  <a:pt x="7" y="3"/>
                </a:lnTo>
                <a:lnTo>
                  <a:pt x="8" y="3"/>
                </a:lnTo>
                <a:lnTo>
                  <a:pt x="5"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82" name="Freeform 2487">
            <a:extLst>
              <a:ext uri="{FF2B5EF4-FFF2-40B4-BE49-F238E27FC236}">
                <a16:creationId xmlns:a16="http://schemas.microsoft.com/office/drawing/2014/main" id="{BAC78E31-CEF7-B398-3A8F-7E63B8D7307F}"/>
              </a:ext>
            </a:extLst>
          </p:cNvPr>
          <p:cNvSpPr>
            <a:spLocks/>
          </p:cNvSpPr>
          <p:nvPr/>
        </p:nvSpPr>
        <p:spPr bwMode="auto">
          <a:xfrm>
            <a:off x="2889250" y="2536825"/>
            <a:ext cx="12700" cy="11113"/>
          </a:xfrm>
          <a:custGeom>
            <a:avLst/>
            <a:gdLst>
              <a:gd name="T0" fmla="*/ 5 w 8"/>
              <a:gd name="T1" fmla="*/ 0 h 7"/>
              <a:gd name="T2" fmla="*/ 3 w 8"/>
              <a:gd name="T3" fmla="*/ 0 h 7"/>
              <a:gd name="T4" fmla="*/ 3 w 8"/>
              <a:gd name="T5" fmla="*/ 2 h 7"/>
              <a:gd name="T6" fmla="*/ 2 w 8"/>
              <a:gd name="T7" fmla="*/ 2 h 7"/>
              <a:gd name="T8" fmla="*/ 2 w 8"/>
              <a:gd name="T9" fmla="*/ 4 h 7"/>
              <a:gd name="T10" fmla="*/ 0 w 8"/>
              <a:gd name="T11" fmla="*/ 4 h 7"/>
              <a:gd name="T12" fmla="*/ 0 w 8"/>
              <a:gd name="T13" fmla="*/ 5 h 7"/>
              <a:gd name="T14" fmla="*/ 5 w 8"/>
              <a:gd name="T15" fmla="*/ 7 h 7"/>
              <a:gd name="T16" fmla="*/ 5 w 8"/>
              <a:gd name="T17" fmla="*/ 5 h 7"/>
              <a:gd name="T18" fmla="*/ 6 w 8"/>
              <a:gd name="T19" fmla="*/ 5 h 7"/>
              <a:gd name="T20" fmla="*/ 6 w 8"/>
              <a:gd name="T21" fmla="*/ 4 h 7"/>
              <a:gd name="T22" fmla="*/ 8 w 8"/>
              <a:gd name="T23" fmla="*/ 4 h 7"/>
              <a:gd name="T24" fmla="*/ 5 w 8"/>
              <a:gd name="T25" fmla="*/ 0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 h="7">
                <a:moveTo>
                  <a:pt x="5" y="0"/>
                </a:moveTo>
                <a:lnTo>
                  <a:pt x="3" y="0"/>
                </a:lnTo>
                <a:lnTo>
                  <a:pt x="3" y="2"/>
                </a:lnTo>
                <a:lnTo>
                  <a:pt x="2" y="2"/>
                </a:lnTo>
                <a:lnTo>
                  <a:pt x="2" y="4"/>
                </a:lnTo>
                <a:lnTo>
                  <a:pt x="0" y="4"/>
                </a:lnTo>
                <a:lnTo>
                  <a:pt x="0" y="5"/>
                </a:lnTo>
                <a:lnTo>
                  <a:pt x="5" y="7"/>
                </a:lnTo>
                <a:lnTo>
                  <a:pt x="5" y="5"/>
                </a:lnTo>
                <a:lnTo>
                  <a:pt x="6" y="5"/>
                </a:lnTo>
                <a:lnTo>
                  <a:pt x="6" y="4"/>
                </a:lnTo>
                <a:lnTo>
                  <a:pt x="8" y="4"/>
                </a:lnTo>
                <a:lnTo>
                  <a:pt x="5"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83" name="Freeform 2488">
            <a:extLst>
              <a:ext uri="{FF2B5EF4-FFF2-40B4-BE49-F238E27FC236}">
                <a16:creationId xmlns:a16="http://schemas.microsoft.com/office/drawing/2014/main" id="{F6F1124D-33DD-FE82-C087-6EE6A7ADD286}"/>
              </a:ext>
            </a:extLst>
          </p:cNvPr>
          <p:cNvSpPr>
            <a:spLocks/>
          </p:cNvSpPr>
          <p:nvPr/>
        </p:nvSpPr>
        <p:spPr bwMode="auto">
          <a:xfrm>
            <a:off x="2892425" y="2540000"/>
            <a:ext cx="12700" cy="11113"/>
          </a:xfrm>
          <a:custGeom>
            <a:avLst/>
            <a:gdLst>
              <a:gd name="T0" fmla="*/ 4 w 8"/>
              <a:gd name="T1" fmla="*/ 0 h 7"/>
              <a:gd name="T2" fmla="*/ 3 w 8"/>
              <a:gd name="T3" fmla="*/ 0 h 7"/>
              <a:gd name="T4" fmla="*/ 3 w 8"/>
              <a:gd name="T5" fmla="*/ 2 h 7"/>
              <a:gd name="T6" fmla="*/ 1 w 8"/>
              <a:gd name="T7" fmla="*/ 2 h 7"/>
              <a:gd name="T8" fmla="*/ 1 w 8"/>
              <a:gd name="T9" fmla="*/ 3 h 7"/>
              <a:gd name="T10" fmla="*/ 0 w 8"/>
              <a:gd name="T11" fmla="*/ 3 h 7"/>
              <a:gd name="T12" fmla="*/ 4 w 8"/>
              <a:gd name="T13" fmla="*/ 7 h 7"/>
              <a:gd name="T14" fmla="*/ 4 w 8"/>
              <a:gd name="T15" fmla="*/ 5 h 7"/>
              <a:gd name="T16" fmla="*/ 6 w 8"/>
              <a:gd name="T17" fmla="*/ 5 h 7"/>
              <a:gd name="T18" fmla="*/ 6 w 8"/>
              <a:gd name="T19" fmla="*/ 3 h 7"/>
              <a:gd name="T20" fmla="*/ 8 w 8"/>
              <a:gd name="T21" fmla="*/ 3 h 7"/>
              <a:gd name="T22" fmla="*/ 4 w 8"/>
              <a:gd name="T23" fmla="*/ 0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 h="7">
                <a:moveTo>
                  <a:pt x="4" y="0"/>
                </a:moveTo>
                <a:lnTo>
                  <a:pt x="3" y="0"/>
                </a:lnTo>
                <a:lnTo>
                  <a:pt x="3" y="2"/>
                </a:lnTo>
                <a:lnTo>
                  <a:pt x="1" y="2"/>
                </a:lnTo>
                <a:lnTo>
                  <a:pt x="1" y="3"/>
                </a:lnTo>
                <a:lnTo>
                  <a:pt x="0" y="3"/>
                </a:lnTo>
                <a:lnTo>
                  <a:pt x="4" y="7"/>
                </a:lnTo>
                <a:lnTo>
                  <a:pt x="4" y="5"/>
                </a:lnTo>
                <a:lnTo>
                  <a:pt x="6" y="5"/>
                </a:lnTo>
                <a:lnTo>
                  <a:pt x="6" y="3"/>
                </a:lnTo>
                <a:lnTo>
                  <a:pt x="8" y="3"/>
                </a:lnTo>
                <a:lnTo>
                  <a:pt x="4"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84" name="Freeform 2489">
            <a:extLst>
              <a:ext uri="{FF2B5EF4-FFF2-40B4-BE49-F238E27FC236}">
                <a16:creationId xmlns:a16="http://schemas.microsoft.com/office/drawing/2014/main" id="{6781B1E3-A3E2-4BF1-10CF-6A0280667355}"/>
              </a:ext>
            </a:extLst>
          </p:cNvPr>
          <p:cNvSpPr>
            <a:spLocks/>
          </p:cNvSpPr>
          <p:nvPr/>
        </p:nvSpPr>
        <p:spPr bwMode="auto">
          <a:xfrm>
            <a:off x="2897188" y="2543175"/>
            <a:ext cx="9525" cy="9525"/>
          </a:xfrm>
          <a:custGeom>
            <a:avLst/>
            <a:gdLst>
              <a:gd name="T0" fmla="*/ 3 w 6"/>
              <a:gd name="T1" fmla="*/ 0 h 6"/>
              <a:gd name="T2" fmla="*/ 1 w 6"/>
              <a:gd name="T3" fmla="*/ 0 h 6"/>
              <a:gd name="T4" fmla="*/ 1 w 6"/>
              <a:gd name="T5" fmla="*/ 1 h 6"/>
              <a:gd name="T6" fmla="*/ 0 w 6"/>
              <a:gd name="T7" fmla="*/ 1 h 6"/>
              <a:gd name="T8" fmla="*/ 0 w 6"/>
              <a:gd name="T9" fmla="*/ 3 h 6"/>
              <a:gd name="T10" fmla="*/ 3 w 6"/>
              <a:gd name="T11" fmla="*/ 6 h 6"/>
              <a:gd name="T12" fmla="*/ 3 w 6"/>
              <a:gd name="T13" fmla="*/ 5 h 6"/>
              <a:gd name="T14" fmla="*/ 5 w 6"/>
              <a:gd name="T15" fmla="*/ 5 h 6"/>
              <a:gd name="T16" fmla="*/ 5 w 6"/>
              <a:gd name="T17" fmla="*/ 3 h 6"/>
              <a:gd name="T18" fmla="*/ 6 w 6"/>
              <a:gd name="T19" fmla="*/ 3 h 6"/>
              <a:gd name="T20" fmla="*/ 3 w 6"/>
              <a:gd name="T21" fmla="*/ 0 h 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 h="6">
                <a:moveTo>
                  <a:pt x="3" y="0"/>
                </a:moveTo>
                <a:lnTo>
                  <a:pt x="1" y="0"/>
                </a:lnTo>
                <a:lnTo>
                  <a:pt x="1" y="1"/>
                </a:lnTo>
                <a:lnTo>
                  <a:pt x="0" y="1"/>
                </a:lnTo>
                <a:lnTo>
                  <a:pt x="0" y="3"/>
                </a:lnTo>
                <a:lnTo>
                  <a:pt x="3" y="6"/>
                </a:lnTo>
                <a:lnTo>
                  <a:pt x="3" y="5"/>
                </a:lnTo>
                <a:lnTo>
                  <a:pt x="5" y="5"/>
                </a:lnTo>
                <a:lnTo>
                  <a:pt x="5" y="3"/>
                </a:lnTo>
                <a:lnTo>
                  <a:pt x="6" y="3"/>
                </a:lnTo>
                <a:lnTo>
                  <a:pt x="3"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85" name="Freeform 2490">
            <a:extLst>
              <a:ext uri="{FF2B5EF4-FFF2-40B4-BE49-F238E27FC236}">
                <a16:creationId xmlns:a16="http://schemas.microsoft.com/office/drawing/2014/main" id="{11D909CB-9EFB-D4CF-2030-C31A4955EF9C}"/>
              </a:ext>
            </a:extLst>
          </p:cNvPr>
          <p:cNvSpPr>
            <a:spLocks noEditPoints="1"/>
          </p:cNvSpPr>
          <p:nvPr/>
        </p:nvSpPr>
        <p:spPr bwMode="auto">
          <a:xfrm>
            <a:off x="2898775" y="2544763"/>
            <a:ext cx="26988" cy="20638"/>
          </a:xfrm>
          <a:custGeom>
            <a:avLst/>
            <a:gdLst>
              <a:gd name="T0" fmla="*/ 4 w 17"/>
              <a:gd name="T1" fmla="*/ 0 h 13"/>
              <a:gd name="T2" fmla="*/ 4 w 17"/>
              <a:gd name="T3" fmla="*/ 0 h 13"/>
              <a:gd name="T4" fmla="*/ 2 w 17"/>
              <a:gd name="T5" fmla="*/ 0 h 13"/>
              <a:gd name="T6" fmla="*/ 2 w 17"/>
              <a:gd name="T7" fmla="*/ 2 h 13"/>
              <a:gd name="T8" fmla="*/ 0 w 17"/>
              <a:gd name="T9" fmla="*/ 2 h 13"/>
              <a:gd name="T10" fmla="*/ 0 w 17"/>
              <a:gd name="T11" fmla="*/ 4 h 13"/>
              <a:gd name="T12" fmla="*/ 4 w 17"/>
              <a:gd name="T13" fmla="*/ 5 h 13"/>
              <a:gd name="T14" fmla="*/ 5 w 17"/>
              <a:gd name="T15" fmla="*/ 5 h 13"/>
              <a:gd name="T16" fmla="*/ 5 w 17"/>
              <a:gd name="T17" fmla="*/ 4 h 13"/>
              <a:gd name="T18" fmla="*/ 7 w 17"/>
              <a:gd name="T19" fmla="*/ 4 h 13"/>
              <a:gd name="T20" fmla="*/ 4 w 17"/>
              <a:gd name="T21" fmla="*/ 0 h 13"/>
              <a:gd name="T22" fmla="*/ 17 w 17"/>
              <a:gd name="T23" fmla="*/ 13 h 13"/>
              <a:gd name="T24" fmla="*/ 17 w 17"/>
              <a:gd name="T25" fmla="*/ 13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 h="13">
                <a:moveTo>
                  <a:pt x="4" y="0"/>
                </a:moveTo>
                <a:lnTo>
                  <a:pt x="4" y="0"/>
                </a:lnTo>
                <a:lnTo>
                  <a:pt x="2" y="0"/>
                </a:lnTo>
                <a:lnTo>
                  <a:pt x="2" y="2"/>
                </a:lnTo>
                <a:lnTo>
                  <a:pt x="0" y="2"/>
                </a:lnTo>
                <a:lnTo>
                  <a:pt x="0" y="4"/>
                </a:lnTo>
                <a:lnTo>
                  <a:pt x="4" y="5"/>
                </a:lnTo>
                <a:lnTo>
                  <a:pt x="5" y="5"/>
                </a:lnTo>
                <a:lnTo>
                  <a:pt x="5" y="4"/>
                </a:lnTo>
                <a:lnTo>
                  <a:pt x="7" y="4"/>
                </a:lnTo>
                <a:lnTo>
                  <a:pt x="4" y="0"/>
                </a:lnTo>
                <a:close/>
                <a:moveTo>
                  <a:pt x="17" y="13"/>
                </a:moveTo>
                <a:lnTo>
                  <a:pt x="17" y="13"/>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86" name="Freeform 2491">
            <a:extLst>
              <a:ext uri="{FF2B5EF4-FFF2-40B4-BE49-F238E27FC236}">
                <a16:creationId xmlns:a16="http://schemas.microsoft.com/office/drawing/2014/main" id="{379783E1-EE39-DC2E-A18D-753FE76A6A8A}"/>
              </a:ext>
            </a:extLst>
          </p:cNvPr>
          <p:cNvSpPr>
            <a:spLocks noEditPoints="1"/>
          </p:cNvSpPr>
          <p:nvPr/>
        </p:nvSpPr>
        <p:spPr bwMode="auto">
          <a:xfrm>
            <a:off x="2901950" y="2547938"/>
            <a:ext cx="23813" cy="17463"/>
          </a:xfrm>
          <a:custGeom>
            <a:avLst/>
            <a:gdLst>
              <a:gd name="T0" fmla="*/ 3 w 15"/>
              <a:gd name="T1" fmla="*/ 0 h 11"/>
              <a:gd name="T2" fmla="*/ 3 w 15"/>
              <a:gd name="T3" fmla="*/ 0 h 11"/>
              <a:gd name="T4" fmla="*/ 2 w 15"/>
              <a:gd name="T5" fmla="*/ 0 h 11"/>
              <a:gd name="T6" fmla="*/ 2 w 15"/>
              <a:gd name="T7" fmla="*/ 2 h 11"/>
              <a:gd name="T8" fmla="*/ 0 w 15"/>
              <a:gd name="T9" fmla="*/ 2 h 11"/>
              <a:gd name="T10" fmla="*/ 0 w 15"/>
              <a:gd name="T11" fmla="*/ 3 h 11"/>
              <a:gd name="T12" fmla="*/ 5 w 15"/>
              <a:gd name="T13" fmla="*/ 5 h 11"/>
              <a:gd name="T14" fmla="*/ 5 w 15"/>
              <a:gd name="T15" fmla="*/ 3 h 11"/>
              <a:gd name="T16" fmla="*/ 7 w 15"/>
              <a:gd name="T17" fmla="*/ 3 h 11"/>
              <a:gd name="T18" fmla="*/ 3 w 15"/>
              <a:gd name="T19" fmla="*/ 0 h 11"/>
              <a:gd name="T20" fmla="*/ 12 w 15"/>
              <a:gd name="T21" fmla="*/ 10 h 11"/>
              <a:gd name="T22" fmla="*/ 15 w 15"/>
              <a:gd name="T23" fmla="*/ 11 h 11"/>
              <a:gd name="T24" fmla="*/ 13 w 15"/>
              <a:gd name="T25" fmla="*/ 10 h 11"/>
              <a:gd name="T26" fmla="*/ 12 w 15"/>
              <a:gd name="T27" fmla="*/ 1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5" h="11">
                <a:moveTo>
                  <a:pt x="3" y="0"/>
                </a:moveTo>
                <a:lnTo>
                  <a:pt x="3" y="0"/>
                </a:lnTo>
                <a:lnTo>
                  <a:pt x="2" y="0"/>
                </a:lnTo>
                <a:lnTo>
                  <a:pt x="2" y="2"/>
                </a:lnTo>
                <a:lnTo>
                  <a:pt x="0" y="2"/>
                </a:lnTo>
                <a:lnTo>
                  <a:pt x="0" y="3"/>
                </a:lnTo>
                <a:lnTo>
                  <a:pt x="5" y="5"/>
                </a:lnTo>
                <a:lnTo>
                  <a:pt x="5" y="3"/>
                </a:lnTo>
                <a:lnTo>
                  <a:pt x="7" y="3"/>
                </a:lnTo>
                <a:lnTo>
                  <a:pt x="3" y="0"/>
                </a:lnTo>
                <a:close/>
                <a:moveTo>
                  <a:pt x="12" y="10"/>
                </a:moveTo>
                <a:lnTo>
                  <a:pt x="15" y="11"/>
                </a:lnTo>
                <a:lnTo>
                  <a:pt x="13" y="10"/>
                </a:lnTo>
                <a:lnTo>
                  <a:pt x="12" y="1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87" name="Freeform 2492">
            <a:extLst>
              <a:ext uri="{FF2B5EF4-FFF2-40B4-BE49-F238E27FC236}">
                <a16:creationId xmlns:a16="http://schemas.microsoft.com/office/drawing/2014/main" id="{AD2BB5C0-E6E5-14C4-A308-8354F7F76643}"/>
              </a:ext>
            </a:extLst>
          </p:cNvPr>
          <p:cNvSpPr>
            <a:spLocks/>
          </p:cNvSpPr>
          <p:nvPr/>
        </p:nvSpPr>
        <p:spPr bwMode="auto">
          <a:xfrm>
            <a:off x="2905125" y="2551113"/>
            <a:ext cx="20638" cy="14288"/>
          </a:xfrm>
          <a:custGeom>
            <a:avLst/>
            <a:gdLst>
              <a:gd name="T0" fmla="*/ 3 w 13"/>
              <a:gd name="T1" fmla="*/ 0 h 9"/>
              <a:gd name="T2" fmla="*/ 3 w 13"/>
              <a:gd name="T3" fmla="*/ 0 h 9"/>
              <a:gd name="T4" fmla="*/ 1 w 13"/>
              <a:gd name="T5" fmla="*/ 0 h 9"/>
              <a:gd name="T6" fmla="*/ 1 w 13"/>
              <a:gd name="T7" fmla="*/ 1 h 9"/>
              <a:gd name="T8" fmla="*/ 0 w 13"/>
              <a:gd name="T9" fmla="*/ 1 h 9"/>
              <a:gd name="T10" fmla="*/ 13 w 13"/>
              <a:gd name="T11" fmla="*/ 9 h 9"/>
              <a:gd name="T12" fmla="*/ 3 w 13"/>
              <a:gd name="T13" fmla="*/ 0 h 9"/>
            </a:gdLst>
            <a:ahLst/>
            <a:cxnLst>
              <a:cxn ang="0">
                <a:pos x="T0" y="T1"/>
              </a:cxn>
              <a:cxn ang="0">
                <a:pos x="T2" y="T3"/>
              </a:cxn>
              <a:cxn ang="0">
                <a:pos x="T4" y="T5"/>
              </a:cxn>
              <a:cxn ang="0">
                <a:pos x="T6" y="T7"/>
              </a:cxn>
              <a:cxn ang="0">
                <a:pos x="T8" y="T9"/>
              </a:cxn>
              <a:cxn ang="0">
                <a:pos x="T10" y="T11"/>
              </a:cxn>
              <a:cxn ang="0">
                <a:pos x="T12" y="T13"/>
              </a:cxn>
            </a:cxnLst>
            <a:rect l="0" t="0" r="r" b="b"/>
            <a:pathLst>
              <a:path w="13" h="9">
                <a:moveTo>
                  <a:pt x="3" y="0"/>
                </a:moveTo>
                <a:lnTo>
                  <a:pt x="3" y="0"/>
                </a:lnTo>
                <a:lnTo>
                  <a:pt x="1" y="0"/>
                </a:lnTo>
                <a:lnTo>
                  <a:pt x="1" y="1"/>
                </a:lnTo>
                <a:lnTo>
                  <a:pt x="0" y="1"/>
                </a:lnTo>
                <a:lnTo>
                  <a:pt x="13" y="9"/>
                </a:lnTo>
                <a:lnTo>
                  <a:pt x="3"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88" name="Freeform 2493">
            <a:extLst>
              <a:ext uri="{FF2B5EF4-FFF2-40B4-BE49-F238E27FC236}">
                <a16:creationId xmlns:a16="http://schemas.microsoft.com/office/drawing/2014/main" id="{CDBD5070-F41D-046C-089C-FBB3091E3624}"/>
              </a:ext>
            </a:extLst>
          </p:cNvPr>
          <p:cNvSpPr>
            <a:spLocks/>
          </p:cNvSpPr>
          <p:nvPr/>
        </p:nvSpPr>
        <p:spPr bwMode="auto">
          <a:xfrm>
            <a:off x="2909888" y="2552700"/>
            <a:ext cx="12700" cy="11113"/>
          </a:xfrm>
          <a:custGeom>
            <a:avLst/>
            <a:gdLst>
              <a:gd name="T0" fmla="*/ 2 w 8"/>
              <a:gd name="T1" fmla="*/ 0 h 7"/>
              <a:gd name="T2" fmla="*/ 2 w 8"/>
              <a:gd name="T3" fmla="*/ 0 h 7"/>
              <a:gd name="T4" fmla="*/ 0 w 8"/>
              <a:gd name="T5" fmla="*/ 0 h 7"/>
              <a:gd name="T6" fmla="*/ 0 w 8"/>
              <a:gd name="T7" fmla="*/ 2 h 7"/>
              <a:gd name="T8" fmla="*/ 7 w 8"/>
              <a:gd name="T9" fmla="*/ 7 h 7"/>
              <a:gd name="T10" fmla="*/ 8 w 8"/>
              <a:gd name="T11" fmla="*/ 7 h 7"/>
              <a:gd name="T12" fmla="*/ 2 w 8"/>
              <a:gd name="T13" fmla="*/ 0 h 7"/>
            </a:gdLst>
            <a:ahLst/>
            <a:cxnLst>
              <a:cxn ang="0">
                <a:pos x="T0" y="T1"/>
              </a:cxn>
              <a:cxn ang="0">
                <a:pos x="T2" y="T3"/>
              </a:cxn>
              <a:cxn ang="0">
                <a:pos x="T4" y="T5"/>
              </a:cxn>
              <a:cxn ang="0">
                <a:pos x="T6" y="T7"/>
              </a:cxn>
              <a:cxn ang="0">
                <a:pos x="T8" y="T9"/>
              </a:cxn>
              <a:cxn ang="0">
                <a:pos x="T10" y="T11"/>
              </a:cxn>
              <a:cxn ang="0">
                <a:pos x="T12" y="T13"/>
              </a:cxn>
            </a:cxnLst>
            <a:rect l="0" t="0" r="r" b="b"/>
            <a:pathLst>
              <a:path w="8" h="7">
                <a:moveTo>
                  <a:pt x="2" y="0"/>
                </a:moveTo>
                <a:lnTo>
                  <a:pt x="2" y="0"/>
                </a:lnTo>
                <a:lnTo>
                  <a:pt x="0" y="0"/>
                </a:lnTo>
                <a:lnTo>
                  <a:pt x="0" y="2"/>
                </a:lnTo>
                <a:lnTo>
                  <a:pt x="7" y="7"/>
                </a:lnTo>
                <a:lnTo>
                  <a:pt x="8" y="7"/>
                </a:lnTo>
                <a:lnTo>
                  <a:pt x="2" y="0"/>
                </a:lnTo>
                <a:close/>
              </a:path>
            </a:pathLst>
          </a:custGeom>
          <a:solidFill>
            <a:srgbClr val="F9FB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89" name="Freeform 2494">
            <a:extLst>
              <a:ext uri="{FF2B5EF4-FFF2-40B4-BE49-F238E27FC236}">
                <a16:creationId xmlns:a16="http://schemas.microsoft.com/office/drawing/2014/main" id="{F838363B-76EC-A09B-CBDF-9FC4DD2B5625}"/>
              </a:ext>
            </a:extLst>
          </p:cNvPr>
          <p:cNvSpPr>
            <a:spLocks/>
          </p:cNvSpPr>
          <p:nvPr/>
        </p:nvSpPr>
        <p:spPr bwMode="auto">
          <a:xfrm>
            <a:off x="2913063" y="2555875"/>
            <a:ext cx="4763" cy="4763"/>
          </a:xfrm>
          <a:custGeom>
            <a:avLst/>
            <a:gdLst>
              <a:gd name="T0" fmla="*/ 3 w 3"/>
              <a:gd name="T1" fmla="*/ 3 h 3"/>
              <a:gd name="T2" fmla="*/ 3 w 3"/>
              <a:gd name="T3" fmla="*/ 3 h 3"/>
              <a:gd name="T4" fmla="*/ 3 w 3"/>
              <a:gd name="T5" fmla="*/ 2 h 3"/>
              <a:gd name="T6" fmla="*/ 1 w 3"/>
              <a:gd name="T7" fmla="*/ 2 h 3"/>
              <a:gd name="T8" fmla="*/ 1 w 3"/>
              <a:gd name="T9" fmla="*/ 0 h 3"/>
              <a:gd name="T10" fmla="*/ 0 w 3"/>
              <a:gd name="T11" fmla="*/ 2 h 3"/>
              <a:gd name="T12" fmla="*/ 3 w 3"/>
              <a:gd name="T13" fmla="*/ 3 h 3"/>
            </a:gdLst>
            <a:ahLst/>
            <a:cxnLst>
              <a:cxn ang="0">
                <a:pos x="T0" y="T1"/>
              </a:cxn>
              <a:cxn ang="0">
                <a:pos x="T2" y="T3"/>
              </a:cxn>
              <a:cxn ang="0">
                <a:pos x="T4" y="T5"/>
              </a:cxn>
              <a:cxn ang="0">
                <a:pos x="T6" y="T7"/>
              </a:cxn>
              <a:cxn ang="0">
                <a:pos x="T8" y="T9"/>
              </a:cxn>
              <a:cxn ang="0">
                <a:pos x="T10" y="T11"/>
              </a:cxn>
              <a:cxn ang="0">
                <a:pos x="T12" y="T13"/>
              </a:cxn>
            </a:cxnLst>
            <a:rect l="0" t="0" r="r" b="b"/>
            <a:pathLst>
              <a:path w="3" h="3">
                <a:moveTo>
                  <a:pt x="3" y="3"/>
                </a:moveTo>
                <a:lnTo>
                  <a:pt x="3" y="3"/>
                </a:lnTo>
                <a:lnTo>
                  <a:pt x="3" y="2"/>
                </a:lnTo>
                <a:lnTo>
                  <a:pt x="1" y="2"/>
                </a:lnTo>
                <a:lnTo>
                  <a:pt x="1" y="0"/>
                </a:lnTo>
                <a:lnTo>
                  <a:pt x="0" y="2"/>
                </a:lnTo>
                <a:lnTo>
                  <a:pt x="3" y="3"/>
                </a:lnTo>
                <a:close/>
              </a:path>
            </a:pathLst>
          </a:custGeom>
          <a:solidFill>
            <a:srgbClr val="FDFDB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90" name="Freeform 2495">
            <a:extLst>
              <a:ext uri="{FF2B5EF4-FFF2-40B4-BE49-F238E27FC236}">
                <a16:creationId xmlns:a16="http://schemas.microsoft.com/office/drawing/2014/main" id="{453800A6-9054-BF98-A662-D4FB32889D70}"/>
              </a:ext>
            </a:extLst>
          </p:cNvPr>
          <p:cNvSpPr>
            <a:spLocks/>
          </p:cNvSpPr>
          <p:nvPr/>
        </p:nvSpPr>
        <p:spPr bwMode="auto">
          <a:xfrm>
            <a:off x="2652713" y="2398713"/>
            <a:ext cx="109538" cy="6350"/>
          </a:xfrm>
          <a:custGeom>
            <a:avLst/>
            <a:gdLst>
              <a:gd name="T0" fmla="*/ 8 w 69"/>
              <a:gd name="T1" fmla="*/ 4 h 4"/>
              <a:gd name="T2" fmla="*/ 69 w 69"/>
              <a:gd name="T3" fmla="*/ 4 h 4"/>
              <a:gd name="T4" fmla="*/ 64 w 69"/>
              <a:gd name="T5" fmla="*/ 0 h 4"/>
              <a:gd name="T6" fmla="*/ 0 w 69"/>
              <a:gd name="T7" fmla="*/ 0 h 4"/>
              <a:gd name="T8" fmla="*/ 8 w 69"/>
              <a:gd name="T9" fmla="*/ 4 h 4"/>
            </a:gdLst>
            <a:ahLst/>
            <a:cxnLst>
              <a:cxn ang="0">
                <a:pos x="T0" y="T1"/>
              </a:cxn>
              <a:cxn ang="0">
                <a:pos x="T2" y="T3"/>
              </a:cxn>
              <a:cxn ang="0">
                <a:pos x="T4" y="T5"/>
              </a:cxn>
              <a:cxn ang="0">
                <a:pos x="T6" y="T7"/>
              </a:cxn>
              <a:cxn ang="0">
                <a:pos x="T8" y="T9"/>
              </a:cxn>
            </a:cxnLst>
            <a:rect l="0" t="0" r="r" b="b"/>
            <a:pathLst>
              <a:path w="69" h="4">
                <a:moveTo>
                  <a:pt x="8" y="4"/>
                </a:moveTo>
                <a:lnTo>
                  <a:pt x="69" y="4"/>
                </a:lnTo>
                <a:lnTo>
                  <a:pt x="64" y="0"/>
                </a:lnTo>
                <a:lnTo>
                  <a:pt x="0" y="0"/>
                </a:lnTo>
                <a:lnTo>
                  <a:pt x="8" y="4"/>
                </a:lnTo>
                <a:close/>
              </a:path>
            </a:pathLst>
          </a:custGeom>
          <a:solidFill>
            <a:srgbClr val="5D5B4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91" name="Freeform 2496">
            <a:extLst>
              <a:ext uri="{FF2B5EF4-FFF2-40B4-BE49-F238E27FC236}">
                <a16:creationId xmlns:a16="http://schemas.microsoft.com/office/drawing/2014/main" id="{6207A1EC-E1E2-F18E-EFF3-0CABCA8BDFB1}"/>
              </a:ext>
            </a:extLst>
          </p:cNvPr>
          <p:cNvSpPr>
            <a:spLocks/>
          </p:cNvSpPr>
          <p:nvPr/>
        </p:nvSpPr>
        <p:spPr bwMode="auto">
          <a:xfrm>
            <a:off x="2260600" y="2011363"/>
            <a:ext cx="665163" cy="554038"/>
          </a:xfrm>
          <a:custGeom>
            <a:avLst/>
            <a:gdLst>
              <a:gd name="T0" fmla="*/ 0 w 419"/>
              <a:gd name="T1" fmla="*/ 93 h 349"/>
              <a:gd name="T2" fmla="*/ 419 w 419"/>
              <a:gd name="T3" fmla="*/ 349 h 349"/>
              <a:gd name="T4" fmla="*/ 65 w 419"/>
              <a:gd name="T5" fmla="*/ 0 h 349"/>
              <a:gd name="T6" fmla="*/ 0 w 419"/>
              <a:gd name="T7" fmla="*/ 93 h 349"/>
            </a:gdLst>
            <a:ahLst/>
            <a:cxnLst>
              <a:cxn ang="0">
                <a:pos x="T0" y="T1"/>
              </a:cxn>
              <a:cxn ang="0">
                <a:pos x="T2" y="T3"/>
              </a:cxn>
              <a:cxn ang="0">
                <a:pos x="T4" y="T5"/>
              </a:cxn>
              <a:cxn ang="0">
                <a:pos x="T6" y="T7"/>
              </a:cxn>
            </a:cxnLst>
            <a:rect l="0" t="0" r="r" b="b"/>
            <a:pathLst>
              <a:path w="419" h="349">
                <a:moveTo>
                  <a:pt x="0" y="93"/>
                </a:moveTo>
                <a:lnTo>
                  <a:pt x="419" y="349"/>
                </a:lnTo>
                <a:lnTo>
                  <a:pt x="65" y="0"/>
                </a:lnTo>
                <a:lnTo>
                  <a:pt x="0" y="9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292" name="Freeform 2497">
            <a:extLst>
              <a:ext uri="{FF2B5EF4-FFF2-40B4-BE49-F238E27FC236}">
                <a16:creationId xmlns:a16="http://schemas.microsoft.com/office/drawing/2014/main" id="{BBE14AC5-FDD4-FDEA-3255-58669C5AE399}"/>
              </a:ext>
            </a:extLst>
          </p:cNvPr>
          <p:cNvSpPr>
            <a:spLocks/>
          </p:cNvSpPr>
          <p:nvPr/>
        </p:nvSpPr>
        <p:spPr bwMode="auto">
          <a:xfrm>
            <a:off x="2352675" y="2847975"/>
            <a:ext cx="49213" cy="36513"/>
          </a:xfrm>
          <a:custGeom>
            <a:avLst/>
            <a:gdLst>
              <a:gd name="T0" fmla="*/ 0 w 31"/>
              <a:gd name="T1" fmla="*/ 23 h 23"/>
              <a:gd name="T2" fmla="*/ 0 w 31"/>
              <a:gd name="T3" fmla="*/ 16 h 23"/>
              <a:gd name="T4" fmla="*/ 28 w 31"/>
              <a:gd name="T5" fmla="*/ 0 h 23"/>
              <a:gd name="T6" fmla="*/ 31 w 31"/>
              <a:gd name="T7" fmla="*/ 5 h 23"/>
              <a:gd name="T8" fmla="*/ 3 w 31"/>
              <a:gd name="T9" fmla="*/ 23 h 23"/>
              <a:gd name="T10" fmla="*/ 3 w 31"/>
              <a:gd name="T11" fmla="*/ 16 h 23"/>
              <a:gd name="T12" fmla="*/ 0 w 31"/>
              <a:gd name="T13" fmla="*/ 23 h 23"/>
            </a:gdLst>
            <a:ahLst/>
            <a:cxnLst>
              <a:cxn ang="0">
                <a:pos x="T0" y="T1"/>
              </a:cxn>
              <a:cxn ang="0">
                <a:pos x="T2" y="T3"/>
              </a:cxn>
              <a:cxn ang="0">
                <a:pos x="T4" y="T5"/>
              </a:cxn>
              <a:cxn ang="0">
                <a:pos x="T6" y="T7"/>
              </a:cxn>
              <a:cxn ang="0">
                <a:pos x="T8" y="T9"/>
              </a:cxn>
              <a:cxn ang="0">
                <a:pos x="T10" y="T11"/>
              </a:cxn>
              <a:cxn ang="0">
                <a:pos x="T12" y="T13"/>
              </a:cxn>
            </a:cxnLst>
            <a:rect l="0" t="0" r="r" b="b"/>
            <a:pathLst>
              <a:path w="31" h="23">
                <a:moveTo>
                  <a:pt x="0" y="23"/>
                </a:moveTo>
                <a:lnTo>
                  <a:pt x="0" y="16"/>
                </a:lnTo>
                <a:lnTo>
                  <a:pt x="28" y="0"/>
                </a:lnTo>
                <a:lnTo>
                  <a:pt x="31" y="5"/>
                </a:lnTo>
                <a:lnTo>
                  <a:pt x="3" y="23"/>
                </a:lnTo>
                <a:lnTo>
                  <a:pt x="3" y="16"/>
                </a:lnTo>
                <a:lnTo>
                  <a:pt x="0" y="2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93" name="Freeform 2498">
            <a:extLst>
              <a:ext uri="{FF2B5EF4-FFF2-40B4-BE49-F238E27FC236}">
                <a16:creationId xmlns:a16="http://schemas.microsoft.com/office/drawing/2014/main" id="{6CD2890A-7693-9F0D-B202-8CC71FA4FDD9}"/>
              </a:ext>
            </a:extLst>
          </p:cNvPr>
          <p:cNvSpPr>
            <a:spLocks/>
          </p:cNvSpPr>
          <p:nvPr/>
        </p:nvSpPr>
        <p:spPr bwMode="auto">
          <a:xfrm>
            <a:off x="2352675" y="2873375"/>
            <a:ext cx="3175" cy="11113"/>
          </a:xfrm>
          <a:custGeom>
            <a:avLst/>
            <a:gdLst>
              <a:gd name="T0" fmla="*/ 0 w 2"/>
              <a:gd name="T1" fmla="*/ 7 h 7"/>
              <a:gd name="T2" fmla="*/ 2 w 2"/>
              <a:gd name="T3" fmla="*/ 4 h 7"/>
              <a:gd name="T4" fmla="*/ 0 w 2"/>
              <a:gd name="T5" fmla="*/ 0 h 7"/>
              <a:gd name="T6" fmla="*/ 0 w 2"/>
              <a:gd name="T7" fmla="*/ 7 h 7"/>
            </a:gdLst>
            <a:ahLst/>
            <a:cxnLst>
              <a:cxn ang="0">
                <a:pos x="T0" y="T1"/>
              </a:cxn>
              <a:cxn ang="0">
                <a:pos x="T2" y="T3"/>
              </a:cxn>
              <a:cxn ang="0">
                <a:pos x="T4" y="T5"/>
              </a:cxn>
              <a:cxn ang="0">
                <a:pos x="T6" y="T7"/>
              </a:cxn>
            </a:cxnLst>
            <a:rect l="0" t="0" r="r" b="b"/>
            <a:pathLst>
              <a:path w="2" h="7">
                <a:moveTo>
                  <a:pt x="0" y="7"/>
                </a:moveTo>
                <a:lnTo>
                  <a:pt x="2" y="4"/>
                </a:lnTo>
                <a:lnTo>
                  <a:pt x="0" y="0"/>
                </a:lnTo>
                <a:lnTo>
                  <a:pt x="0" y="7"/>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94" name="Freeform 2499">
            <a:extLst>
              <a:ext uri="{FF2B5EF4-FFF2-40B4-BE49-F238E27FC236}">
                <a16:creationId xmlns:a16="http://schemas.microsoft.com/office/drawing/2014/main" id="{DBFC2004-7836-F899-B9AD-1F7A2C03B53F}"/>
              </a:ext>
            </a:extLst>
          </p:cNvPr>
          <p:cNvSpPr>
            <a:spLocks/>
          </p:cNvSpPr>
          <p:nvPr/>
        </p:nvSpPr>
        <p:spPr bwMode="auto">
          <a:xfrm>
            <a:off x="2352675" y="2873375"/>
            <a:ext cx="49213" cy="39688"/>
          </a:xfrm>
          <a:custGeom>
            <a:avLst/>
            <a:gdLst>
              <a:gd name="T0" fmla="*/ 30 w 31"/>
              <a:gd name="T1" fmla="*/ 22 h 25"/>
              <a:gd name="T2" fmla="*/ 28 w 31"/>
              <a:gd name="T3" fmla="*/ 25 h 25"/>
              <a:gd name="T4" fmla="*/ 0 w 31"/>
              <a:gd name="T5" fmla="*/ 7 h 25"/>
              <a:gd name="T6" fmla="*/ 3 w 31"/>
              <a:gd name="T7" fmla="*/ 0 h 25"/>
              <a:gd name="T8" fmla="*/ 31 w 31"/>
              <a:gd name="T9" fmla="*/ 18 h 25"/>
              <a:gd name="T10" fmla="*/ 30 w 31"/>
              <a:gd name="T11" fmla="*/ 22 h 25"/>
            </a:gdLst>
            <a:ahLst/>
            <a:cxnLst>
              <a:cxn ang="0">
                <a:pos x="T0" y="T1"/>
              </a:cxn>
              <a:cxn ang="0">
                <a:pos x="T2" y="T3"/>
              </a:cxn>
              <a:cxn ang="0">
                <a:pos x="T4" y="T5"/>
              </a:cxn>
              <a:cxn ang="0">
                <a:pos x="T6" y="T7"/>
              </a:cxn>
              <a:cxn ang="0">
                <a:pos x="T8" y="T9"/>
              </a:cxn>
              <a:cxn ang="0">
                <a:pos x="T10" y="T11"/>
              </a:cxn>
            </a:cxnLst>
            <a:rect l="0" t="0" r="r" b="b"/>
            <a:pathLst>
              <a:path w="31" h="25">
                <a:moveTo>
                  <a:pt x="30" y="22"/>
                </a:moveTo>
                <a:lnTo>
                  <a:pt x="28" y="25"/>
                </a:lnTo>
                <a:lnTo>
                  <a:pt x="0" y="7"/>
                </a:lnTo>
                <a:lnTo>
                  <a:pt x="3" y="0"/>
                </a:lnTo>
                <a:lnTo>
                  <a:pt x="31" y="18"/>
                </a:lnTo>
                <a:lnTo>
                  <a:pt x="30" y="2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95" name="Freeform 2500">
            <a:extLst>
              <a:ext uri="{FF2B5EF4-FFF2-40B4-BE49-F238E27FC236}">
                <a16:creationId xmlns:a16="http://schemas.microsoft.com/office/drawing/2014/main" id="{0619655F-FC2B-86A8-F31A-8E04A8F153B2}"/>
              </a:ext>
            </a:extLst>
          </p:cNvPr>
          <p:cNvSpPr>
            <a:spLocks/>
          </p:cNvSpPr>
          <p:nvPr/>
        </p:nvSpPr>
        <p:spPr bwMode="auto">
          <a:xfrm>
            <a:off x="2363788" y="2876550"/>
            <a:ext cx="477838" cy="7938"/>
          </a:xfrm>
          <a:custGeom>
            <a:avLst/>
            <a:gdLst>
              <a:gd name="T0" fmla="*/ 301 w 301"/>
              <a:gd name="T1" fmla="*/ 2 h 5"/>
              <a:gd name="T2" fmla="*/ 301 w 301"/>
              <a:gd name="T3" fmla="*/ 0 h 5"/>
              <a:gd name="T4" fmla="*/ 0 w 301"/>
              <a:gd name="T5" fmla="*/ 0 h 5"/>
              <a:gd name="T6" fmla="*/ 0 w 301"/>
              <a:gd name="T7" fmla="*/ 5 h 5"/>
              <a:gd name="T8" fmla="*/ 301 w 301"/>
              <a:gd name="T9" fmla="*/ 5 h 5"/>
              <a:gd name="T10" fmla="*/ 301 w 301"/>
              <a:gd name="T11" fmla="*/ 2 h 5"/>
            </a:gdLst>
            <a:ahLst/>
            <a:cxnLst>
              <a:cxn ang="0">
                <a:pos x="T0" y="T1"/>
              </a:cxn>
              <a:cxn ang="0">
                <a:pos x="T2" y="T3"/>
              </a:cxn>
              <a:cxn ang="0">
                <a:pos x="T4" y="T5"/>
              </a:cxn>
              <a:cxn ang="0">
                <a:pos x="T6" y="T7"/>
              </a:cxn>
              <a:cxn ang="0">
                <a:pos x="T8" y="T9"/>
              </a:cxn>
              <a:cxn ang="0">
                <a:pos x="T10" y="T11"/>
              </a:cxn>
            </a:cxnLst>
            <a:rect l="0" t="0" r="r" b="b"/>
            <a:pathLst>
              <a:path w="301" h="5">
                <a:moveTo>
                  <a:pt x="301" y="2"/>
                </a:moveTo>
                <a:lnTo>
                  <a:pt x="301" y="0"/>
                </a:lnTo>
                <a:lnTo>
                  <a:pt x="0" y="0"/>
                </a:lnTo>
                <a:lnTo>
                  <a:pt x="0" y="5"/>
                </a:lnTo>
                <a:lnTo>
                  <a:pt x="301" y="5"/>
                </a:lnTo>
                <a:lnTo>
                  <a:pt x="301" y="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96" name="Freeform 2501">
            <a:extLst>
              <a:ext uri="{FF2B5EF4-FFF2-40B4-BE49-F238E27FC236}">
                <a16:creationId xmlns:a16="http://schemas.microsoft.com/office/drawing/2014/main" id="{EEDA465E-D222-13C0-85B9-DFEF21F4A95F}"/>
              </a:ext>
            </a:extLst>
          </p:cNvPr>
          <p:cNvSpPr>
            <a:spLocks/>
          </p:cNvSpPr>
          <p:nvPr/>
        </p:nvSpPr>
        <p:spPr bwMode="auto">
          <a:xfrm>
            <a:off x="2801938" y="2847975"/>
            <a:ext cx="50800" cy="36513"/>
          </a:xfrm>
          <a:custGeom>
            <a:avLst/>
            <a:gdLst>
              <a:gd name="T0" fmla="*/ 32 w 32"/>
              <a:gd name="T1" fmla="*/ 23 h 23"/>
              <a:gd name="T2" fmla="*/ 32 w 32"/>
              <a:gd name="T3" fmla="*/ 16 h 23"/>
              <a:gd name="T4" fmla="*/ 4 w 32"/>
              <a:gd name="T5" fmla="*/ 0 h 23"/>
              <a:gd name="T6" fmla="*/ 0 w 32"/>
              <a:gd name="T7" fmla="*/ 5 h 23"/>
              <a:gd name="T8" fmla="*/ 28 w 32"/>
              <a:gd name="T9" fmla="*/ 23 h 23"/>
              <a:gd name="T10" fmla="*/ 28 w 32"/>
              <a:gd name="T11" fmla="*/ 16 h 23"/>
              <a:gd name="T12" fmla="*/ 32 w 32"/>
              <a:gd name="T13" fmla="*/ 23 h 23"/>
            </a:gdLst>
            <a:ahLst/>
            <a:cxnLst>
              <a:cxn ang="0">
                <a:pos x="T0" y="T1"/>
              </a:cxn>
              <a:cxn ang="0">
                <a:pos x="T2" y="T3"/>
              </a:cxn>
              <a:cxn ang="0">
                <a:pos x="T4" y="T5"/>
              </a:cxn>
              <a:cxn ang="0">
                <a:pos x="T6" y="T7"/>
              </a:cxn>
              <a:cxn ang="0">
                <a:pos x="T8" y="T9"/>
              </a:cxn>
              <a:cxn ang="0">
                <a:pos x="T10" y="T11"/>
              </a:cxn>
              <a:cxn ang="0">
                <a:pos x="T12" y="T13"/>
              </a:cxn>
            </a:cxnLst>
            <a:rect l="0" t="0" r="r" b="b"/>
            <a:pathLst>
              <a:path w="32" h="23">
                <a:moveTo>
                  <a:pt x="32" y="23"/>
                </a:moveTo>
                <a:lnTo>
                  <a:pt x="32" y="16"/>
                </a:lnTo>
                <a:lnTo>
                  <a:pt x="4" y="0"/>
                </a:lnTo>
                <a:lnTo>
                  <a:pt x="0" y="5"/>
                </a:lnTo>
                <a:lnTo>
                  <a:pt x="28" y="23"/>
                </a:lnTo>
                <a:lnTo>
                  <a:pt x="28" y="16"/>
                </a:lnTo>
                <a:lnTo>
                  <a:pt x="32" y="2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97" name="Freeform 2502">
            <a:extLst>
              <a:ext uri="{FF2B5EF4-FFF2-40B4-BE49-F238E27FC236}">
                <a16:creationId xmlns:a16="http://schemas.microsoft.com/office/drawing/2014/main" id="{68CC14C7-247F-055A-5845-8DB3BE2C38DF}"/>
              </a:ext>
            </a:extLst>
          </p:cNvPr>
          <p:cNvSpPr>
            <a:spLocks/>
          </p:cNvSpPr>
          <p:nvPr/>
        </p:nvSpPr>
        <p:spPr bwMode="auto">
          <a:xfrm>
            <a:off x="2849563" y="2873375"/>
            <a:ext cx="3175" cy="11113"/>
          </a:xfrm>
          <a:custGeom>
            <a:avLst/>
            <a:gdLst>
              <a:gd name="T0" fmla="*/ 2 w 2"/>
              <a:gd name="T1" fmla="*/ 7 h 7"/>
              <a:gd name="T2" fmla="*/ 0 w 2"/>
              <a:gd name="T3" fmla="*/ 4 h 7"/>
              <a:gd name="T4" fmla="*/ 2 w 2"/>
              <a:gd name="T5" fmla="*/ 0 h 7"/>
              <a:gd name="T6" fmla="*/ 2 w 2"/>
              <a:gd name="T7" fmla="*/ 7 h 7"/>
            </a:gdLst>
            <a:ahLst/>
            <a:cxnLst>
              <a:cxn ang="0">
                <a:pos x="T0" y="T1"/>
              </a:cxn>
              <a:cxn ang="0">
                <a:pos x="T2" y="T3"/>
              </a:cxn>
              <a:cxn ang="0">
                <a:pos x="T4" y="T5"/>
              </a:cxn>
              <a:cxn ang="0">
                <a:pos x="T6" y="T7"/>
              </a:cxn>
            </a:cxnLst>
            <a:rect l="0" t="0" r="r" b="b"/>
            <a:pathLst>
              <a:path w="2" h="7">
                <a:moveTo>
                  <a:pt x="2" y="7"/>
                </a:moveTo>
                <a:lnTo>
                  <a:pt x="0" y="4"/>
                </a:lnTo>
                <a:lnTo>
                  <a:pt x="2" y="0"/>
                </a:lnTo>
                <a:lnTo>
                  <a:pt x="2" y="7"/>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98" name="Freeform 2503">
            <a:extLst>
              <a:ext uri="{FF2B5EF4-FFF2-40B4-BE49-F238E27FC236}">
                <a16:creationId xmlns:a16="http://schemas.microsoft.com/office/drawing/2014/main" id="{698599AD-71D9-BE0E-192E-E7BB70B0D620}"/>
              </a:ext>
            </a:extLst>
          </p:cNvPr>
          <p:cNvSpPr>
            <a:spLocks/>
          </p:cNvSpPr>
          <p:nvPr/>
        </p:nvSpPr>
        <p:spPr bwMode="auto">
          <a:xfrm>
            <a:off x="2801938" y="2873375"/>
            <a:ext cx="50800" cy="39688"/>
          </a:xfrm>
          <a:custGeom>
            <a:avLst/>
            <a:gdLst>
              <a:gd name="T0" fmla="*/ 2 w 32"/>
              <a:gd name="T1" fmla="*/ 22 h 25"/>
              <a:gd name="T2" fmla="*/ 4 w 32"/>
              <a:gd name="T3" fmla="*/ 25 h 25"/>
              <a:gd name="T4" fmla="*/ 32 w 32"/>
              <a:gd name="T5" fmla="*/ 7 h 25"/>
              <a:gd name="T6" fmla="*/ 28 w 32"/>
              <a:gd name="T7" fmla="*/ 0 h 25"/>
              <a:gd name="T8" fmla="*/ 0 w 32"/>
              <a:gd name="T9" fmla="*/ 18 h 25"/>
              <a:gd name="T10" fmla="*/ 2 w 32"/>
              <a:gd name="T11" fmla="*/ 22 h 25"/>
            </a:gdLst>
            <a:ahLst/>
            <a:cxnLst>
              <a:cxn ang="0">
                <a:pos x="T0" y="T1"/>
              </a:cxn>
              <a:cxn ang="0">
                <a:pos x="T2" y="T3"/>
              </a:cxn>
              <a:cxn ang="0">
                <a:pos x="T4" y="T5"/>
              </a:cxn>
              <a:cxn ang="0">
                <a:pos x="T6" y="T7"/>
              </a:cxn>
              <a:cxn ang="0">
                <a:pos x="T8" y="T9"/>
              </a:cxn>
              <a:cxn ang="0">
                <a:pos x="T10" y="T11"/>
              </a:cxn>
            </a:cxnLst>
            <a:rect l="0" t="0" r="r" b="b"/>
            <a:pathLst>
              <a:path w="32" h="25">
                <a:moveTo>
                  <a:pt x="2" y="22"/>
                </a:moveTo>
                <a:lnTo>
                  <a:pt x="4" y="25"/>
                </a:lnTo>
                <a:lnTo>
                  <a:pt x="32" y="7"/>
                </a:lnTo>
                <a:lnTo>
                  <a:pt x="28" y="0"/>
                </a:lnTo>
                <a:lnTo>
                  <a:pt x="0" y="18"/>
                </a:lnTo>
                <a:lnTo>
                  <a:pt x="2" y="2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299" name="Freeform 2504">
            <a:extLst>
              <a:ext uri="{FF2B5EF4-FFF2-40B4-BE49-F238E27FC236}">
                <a16:creationId xmlns:a16="http://schemas.microsoft.com/office/drawing/2014/main" id="{C9FB16E4-613F-223B-1548-12CA2AC2EE6F}"/>
              </a:ext>
            </a:extLst>
          </p:cNvPr>
          <p:cNvSpPr>
            <a:spLocks/>
          </p:cNvSpPr>
          <p:nvPr/>
        </p:nvSpPr>
        <p:spPr bwMode="auto">
          <a:xfrm>
            <a:off x="3406775" y="2744788"/>
            <a:ext cx="34925" cy="52388"/>
          </a:xfrm>
          <a:custGeom>
            <a:avLst/>
            <a:gdLst>
              <a:gd name="T0" fmla="*/ 2 w 22"/>
              <a:gd name="T1" fmla="*/ 33 h 33"/>
              <a:gd name="T2" fmla="*/ 0 w 22"/>
              <a:gd name="T3" fmla="*/ 28 h 33"/>
              <a:gd name="T4" fmla="*/ 17 w 22"/>
              <a:gd name="T5" fmla="*/ 0 h 33"/>
              <a:gd name="T6" fmla="*/ 22 w 22"/>
              <a:gd name="T7" fmla="*/ 3 h 33"/>
              <a:gd name="T8" fmla="*/ 5 w 22"/>
              <a:gd name="T9" fmla="*/ 32 h 33"/>
              <a:gd name="T10" fmla="*/ 3 w 22"/>
              <a:gd name="T11" fmla="*/ 27 h 33"/>
              <a:gd name="T12" fmla="*/ 2 w 22"/>
              <a:gd name="T13" fmla="*/ 33 h 33"/>
            </a:gdLst>
            <a:ahLst/>
            <a:cxnLst>
              <a:cxn ang="0">
                <a:pos x="T0" y="T1"/>
              </a:cxn>
              <a:cxn ang="0">
                <a:pos x="T2" y="T3"/>
              </a:cxn>
              <a:cxn ang="0">
                <a:pos x="T4" y="T5"/>
              </a:cxn>
              <a:cxn ang="0">
                <a:pos x="T6" y="T7"/>
              </a:cxn>
              <a:cxn ang="0">
                <a:pos x="T8" y="T9"/>
              </a:cxn>
              <a:cxn ang="0">
                <a:pos x="T10" y="T11"/>
              </a:cxn>
              <a:cxn ang="0">
                <a:pos x="T12" y="T13"/>
              </a:cxn>
            </a:cxnLst>
            <a:rect l="0" t="0" r="r" b="b"/>
            <a:pathLst>
              <a:path w="22" h="33">
                <a:moveTo>
                  <a:pt x="2" y="33"/>
                </a:moveTo>
                <a:lnTo>
                  <a:pt x="0" y="28"/>
                </a:lnTo>
                <a:lnTo>
                  <a:pt x="17" y="0"/>
                </a:lnTo>
                <a:lnTo>
                  <a:pt x="22" y="3"/>
                </a:lnTo>
                <a:lnTo>
                  <a:pt x="5" y="32"/>
                </a:lnTo>
                <a:lnTo>
                  <a:pt x="3" y="27"/>
                </a:lnTo>
                <a:lnTo>
                  <a:pt x="2" y="3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00" name="Freeform 2505">
            <a:extLst>
              <a:ext uri="{FF2B5EF4-FFF2-40B4-BE49-F238E27FC236}">
                <a16:creationId xmlns:a16="http://schemas.microsoft.com/office/drawing/2014/main" id="{DD39DD49-47F4-9952-9953-503A0CCEA969}"/>
              </a:ext>
            </a:extLst>
          </p:cNvPr>
          <p:cNvSpPr>
            <a:spLocks/>
          </p:cNvSpPr>
          <p:nvPr/>
        </p:nvSpPr>
        <p:spPr bwMode="auto">
          <a:xfrm>
            <a:off x="3406775" y="2789238"/>
            <a:ext cx="4763" cy="7938"/>
          </a:xfrm>
          <a:custGeom>
            <a:avLst/>
            <a:gdLst>
              <a:gd name="T0" fmla="*/ 2 w 3"/>
              <a:gd name="T1" fmla="*/ 5 h 5"/>
              <a:gd name="T2" fmla="*/ 3 w 3"/>
              <a:gd name="T3" fmla="*/ 2 h 5"/>
              <a:gd name="T4" fmla="*/ 0 w 3"/>
              <a:gd name="T5" fmla="*/ 0 h 5"/>
              <a:gd name="T6" fmla="*/ 2 w 3"/>
              <a:gd name="T7" fmla="*/ 5 h 5"/>
            </a:gdLst>
            <a:ahLst/>
            <a:cxnLst>
              <a:cxn ang="0">
                <a:pos x="T0" y="T1"/>
              </a:cxn>
              <a:cxn ang="0">
                <a:pos x="T2" y="T3"/>
              </a:cxn>
              <a:cxn ang="0">
                <a:pos x="T4" y="T5"/>
              </a:cxn>
              <a:cxn ang="0">
                <a:pos x="T6" y="T7"/>
              </a:cxn>
            </a:cxnLst>
            <a:rect l="0" t="0" r="r" b="b"/>
            <a:pathLst>
              <a:path w="3" h="5">
                <a:moveTo>
                  <a:pt x="2" y="5"/>
                </a:moveTo>
                <a:lnTo>
                  <a:pt x="3" y="2"/>
                </a:lnTo>
                <a:lnTo>
                  <a:pt x="0" y="0"/>
                </a:lnTo>
                <a:lnTo>
                  <a:pt x="2"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01" name="Freeform 2506">
            <a:extLst>
              <a:ext uri="{FF2B5EF4-FFF2-40B4-BE49-F238E27FC236}">
                <a16:creationId xmlns:a16="http://schemas.microsoft.com/office/drawing/2014/main" id="{E1E348AD-344A-01B1-EBA7-C0DEF549FF7E}"/>
              </a:ext>
            </a:extLst>
          </p:cNvPr>
          <p:cNvSpPr>
            <a:spLocks/>
          </p:cNvSpPr>
          <p:nvPr/>
        </p:nvSpPr>
        <p:spPr bwMode="auto">
          <a:xfrm>
            <a:off x="3409950" y="2787650"/>
            <a:ext cx="52388" cy="15875"/>
          </a:xfrm>
          <a:custGeom>
            <a:avLst/>
            <a:gdLst>
              <a:gd name="T0" fmla="*/ 33 w 33"/>
              <a:gd name="T1" fmla="*/ 6 h 10"/>
              <a:gd name="T2" fmla="*/ 33 w 33"/>
              <a:gd name="T3" fmla="*/ 10 h 10"/>
              <a:gd name="T4" fmla="*/ 0 w 33"/>
              <a:gd name="T5" fmla="*/ 6 h 10"/>
              <a:gd name="T6" fmla="*/ 1 w 33"/>
              <a:gd name="T7" fmla="*/ 0 h 10"/>
              <a:gd name="T8" fmla="*/ 33 w 33"/>
              <a:gd name="T9" fmla="*/ 3 h 10"/>
              <a:gd name="T10" fmla="*/ 33 w 33"/>
              <a:gd name="T11" fmla="*/ 6 h 10"/>
            </a:gdLst>
            <a:ahLst/>
            <a:cxnLst>
              <a:cxn ang="0">
                <a:pos x="T0" y="T1"/>
              </a:cxn>
              <a:cxn ang="0">
                <a:pos x="T2" y="T3"/>
              </a:cxn>
              <a:cxn ang="0">
                <a:pos x="T4" y="T5"/>
              </a:cxn>
              <a:cxn ang="0">
                <a:pos x="T6" y="T7"/>
              </a:cxn>
              <a:cxn ang="0">
                <a:pos x="T8" y="T9"/>
              </a:cxn>
              <a:cxn ang="0">
                <a:pos x="T10" y="T11"/>
              </a:cxn>
            </a:cxnLst>
            <a:rect l="0" t="0" r="r" b="b"/>
            <a:pathLst>
              <a:path w="33" h="10">
                <a:moveTo>
                  <a:pt x="33" y="6"/>
                </a:moveTo>
                <a:lnTo>
                  <a:pt x="33" y="10"/>
                </a:lnTo>
                <a:lnTo>
                  <a:pt x="0" y="6"/>
                </a:lnTo>
                <a:lnTo>
                  <a:pt x="1" y="0"/>
                </a:lnTo>
                <a:lnTo>
                  <a:pt x="33" y="3"/>
                </a:lnTo>
                <a:lnTo>
                  <a:pt x="33" y="6"/>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02" name="Freeform 2507">
            <a:extLst>
              <a:ext uri="{FF2B5EF4-FFF2-40B4-BE49-F238E27FC236}">
                <a16:creationId xmlns:a16="http://schemas.microsoft.com/office/drawing/2014/main" id="{17145B70-020B-D9E2-8670-378196F112AD}"/>
              </a:ext>
            </a:extLst>
          </p:cNvPr>
          <p:cNvSpPr>
            <a:spLocks/>
          </p:cNvSpPr>
          <p:nvPr/>
        </p:nvSpPr>
        <p:spPr bwMode="auto">
          <a:xfrm>
            <a:off x="3417888" y="2616200"/>
            <a:ext cx="341313" cy="176213"/>
          </a:xfrm>
          <a:custGeom>
            <a:avLst/>
            <a:gdLst>
              <a:gd name="T0" fmla="*/ 215 w 215"/>
              <a:gd name="T1" fmla="*/ 3 h 111"/>
              <a:gd name="T2" fmla="*/ 213 w 215"/>
              <a:gd name="T3" fmla="*/ 0 h 111"/>
              <a:gd name="T4" fmla="*/ 0 w 215"/>
              <a:gd name="T5" fmla="*/ 106 h 111"/>
              <a:gd name="T6" fmla="*/ 1 w 215"/>
              <a:gd name="T7" fmla="*/ 111 h 111"/>
              <a:gd name="T8" fmla="*/ 215 w 215"/>
              <a:gd name="T9" fmla="*/ 5 h 111"/>
              <a:gd name="T10" fmla="*/ 215 w 215"/>
              <a:gd name="T11" fmla="*/ 3 h 111"/>
            </a:gdLst>
            <a:ahLst/>
            <a:cxnLst>
              <a:cxn ang="0">
                <a:pos x="T0" y="T1"/>
              </a:cxn>
              <a:cxn ang="0">
                <a:pos x="T2" y="T3"/>
              </a:cxn>
              <a:cxn ang="0">
                <a:pos x="T4" y="T5"/>
              </a:cxn>
              <a:cxn ang="0">
                <a:pos x="T6" y="T7"/>
              </a:cxn>
              <a:cxn ang="0">
                <a:pos x="T8" y="T9"/>
              </a:cxn>
              <a:cxn ang="0">
                <a:pos x="T10" y="T11"/>
              </a:cxn>
            </a:cxnLst>
            <a:rect l="0" t="0" r="r" b="b"/>
            <a:pathLst>
              <a:path w="215" h="111">
                <a:moveTo>
                  <a:pt x="215" y="3"/>
                </a:moveTo>
                <a:lnTo>
                  <a:pt x="213" y="0"/>
                </a:lnTo>
                <a:lnTo>
                  <a:pt x="0" y="106"/>
                </a:lnTo>
                <a:lnTo>
                  <a:pt x="1" y="111"/>
                </a:lnTo>
                <a:lnTo>
                  <a:pt x="215" y="5"/>
                </a:lnTo>
                <a:lnTo>
                  <a:pt x="215" y="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03" name="Freeform 2508">
            <a:extLst>
              <a:ext uri="{FF2B5EF4-FFF2-40B4-BE49-F238E27FC236}">
                <a16:creationId xmlns:a16="http://schemas.microsoft.com/office/drawing/2014/main" id="{775BEA3E-9D6D-8ABC-B4E4-F686F3CB7CA4}"/>
              </a:ext>
            </a:extLst>
          </p:cNvPr>
          <p:cNvSpPr>
            <a:spLocks/>
          </p:cNvSpPr>
          <p:nvPr/>
        </p:nvSpPr>
        <p:spPr bwMode="auto">
          <a:xfrm>
            <a:off x="3714750" y="2605088"/>
            <a:ext cx="55563" cy="15875"/>
          </a:xfrm>
          <a:custGeom>
            <a:avLst/>
            <a:gdLst>
              <a:gd name="T0" fmla="*/ 35 w 35"/>
              <a:gd name="T1" fmla="*/ 9 h 10"/>
              <a:gd name="T2" fmla="*/ 33 w 35"/>
              <a:gd name="T3" fmla="*/ 4 h 10"/>
              <a:gd name="T4" fmla="*/ 0 w 35"/>
              <a:gd name="T5" fmla="*/ 0 h 10"/>
              <a:gd name="T6" fmla="*/ 0 w 35"/>
              <a:gd name="T7" fmla="*/ 7 h 10"/>
              <a:gd name="T8" fmla="*/ 31 w 35"/>
              <a:gd name="T9" fmla="*/ 10 h 10"/>
              <a:gd name="T10" fmla="*/ 30 w 35"/>
              <a:gd name="T11" fmla="*/ 5 h 10"/>
              <a:gd name="T12" fmla="*/ 35 w 35"/>
              <a:gd name="T13" fmla="*/ 9 h 10"/>
            </a:gdLst>
            <a:ahLst/>
            <a:cxnLst>
              <a:cxn ang="0">
                <a:pos x="T0" y="T1"/>
              </a:cxn>
              <a:cxn ang="0">
                <a:pos x="T2" y="T3"/>
              </a:cxn>
              <a:cxn ang="0">
                <a:pos x="T4" y="T5"/>
              </a:cxn>
              <a:cxn ang="0">
                <a:pos x="T6" y="T7"/>
              </a:cxn>
              <a:cxn ang="0">
                <a:pos x="T8" y="T9"/>
              </a:cxn>
              <a:cxn ang="0">
                <a:pos x="T10" y="T11"/>
              </a:cxn>
              <a:cxn ang="0">
                <a:pos x="T12" y="T13"/>
              </a:cxn>
            </a:cxnLst>
            <a:rect l="0" t="0" r="r" b="b"/>
            <a:pathLst>
              <a:path w="35" h="10">
                <a:moveTo>
                  <a:pt x="35" y="9"/>
                </a:moveTo>
                <a:lnTo>
                  <a:pt x="33" y="4"/>
                </a:lnTo>
                <a:lnTo>
                  <a:pt x="0" y="0"/>
                </a:lnTo>
                <a:lnTo>
                  <a:pt x="0" y="7"/>
                </a:lnTo>
                <a:lnTo>
                  <a:pt x="31" y="10"/>
                </a:lnTo>
                <a:lnTo>
                  <a:pt x="30" y="5"/>
                </a:lnTo>
                <a:lnTo>
                  <a:pt x="35" y="9"/>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04" name="Freeform 2509">
            <a:extLst>
              <a:ext uri="{FF2B5EF4-FFF2-40B4-BE49-F238E27FC236}">
                <a16:creationId xmlns:a16="http://schemas.microsoft.com/office/drawing/2014/main" id="{D0D21488-0DC9-FB48-49BA-132740189ECF}"/>
              </a:ext>
            </a:extLst>
          </p:cNvPr>
          <p:cNvSpPr>
            <a:spLocks/>
          </p:cNvSpPr>
          <p:nvPr/>
        </p:nvSpPr>
        <p:spPr bwMode="auto">
          <a:xfrm>
            <a:off x="3767138" y="2611438"/>
            <a:ext cx="3175" cy="7938"/>
          </a:xfrm>
          <a:custGeom>
            <a:avLst/>
            <a:gdLst>
              <a:gd name="T0" fmla="*/ 2 w 2"/>
              <a:gd name="T1" fmla="*/ 5 h 5"/>
              <a:gd name="T2" fmla="*/ 0 w 2"/>
              <a:gd name="T3" fmla="*/ 3 h 5"/>
              <a:gd name="T4" fmla="*/ 0 w 2"/>
              <a:gd name="T5" fmla="*/ 0 h 5"/>
              <a:gd name="T6" fmla="*/ 2 w 2"/>
              <a:gd name="T7" fmla="*/ 5 h 5"/>
            </a:gdLst>
            <a:ahLst/>
            <a:cxnLst>
              <a:cxn ang="0">
                <a:pos x="T0" y="T1"/>
              </a:cxn>
              <a:cxn ang="0">
                <a:pos x="T2" y="T3"/>
              </a:cxn>
              <a:cxn ang="0">
                <a:pos x="T4" y="T5"/>
              </a:cxn>
              <a:cxn ang="0">
                <a:pos x="T6" y="T7"/>
              </a:cxn>
            </a:cxnLst>
            <a:rect l="0" t="0" r="r" b="b"/>
            <a:pathLst>
              <a:path w="2" h="5">
                <a:moveTo>
                  <a:pt x="2" y="5"/>
                </a:moveTo>
                <a:lnTo>
                  <a:pt x="0" y="3"/>
                </a:lnTo>
                <a:lnTo>
                  <a:pt x="0" y="0"/>
                </a:lnTo>
                <a:lnTo>
                  <a:pt x="2"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05" name="Freeform 2510">
            <a:extLst>
              <a:ext uri="{FF2B5EF4-FFF2-40B4-BE49-F238E27FC236}">
                <a16:creationId xmlns:a16="http://schemas.microsoft.com/office/drawing/2014/main" id="{1CF80FF7-37B6-60AE-0ACE-3AC6FDDB1428}"/>
              </a:ext>
            </a:extLst>
          </p:cNvPr>
          <p:cNvSpPr>
            <a:spLocks/>
          </p:cNvSpPr>
          <p:nvPr/>
        </p:nvSpPr>
        <p:spPr bwMode="auto">
          <a:xfrm>
            <a:off x="3735388" y="2613025"/>
            <a:ext cx="34925" cy="50800"/>
          </a:xfrm>
          <a:custGeom>
            <a:avLst/>
            <a:gdLst>
              <a:gd name="T0" fmla="*/ 2 w 22"/>
              <a:gd name="T1" fmla="*/ 30 h 32"/>
              <a:gd name="T2" fmla="*/ 5 w 22"/>
              <a:gd name="T3" fmla="*/ 32 h 32"/>
              <a:gd name="T4" fmla="*/ 22 w 22"/>
              <a:gd name="T5" fmla="*/ 4 h 32"/>
              <a:gd name="T6" fmla="*/ 17 w 22"/>
              <a:gd name="T7" fmla="*/ 0 h 32"/>
              <a:gd name="T8" fmla="*/ 0 w 22"/>
              <a:gd name="T9" fmla="*/ 28 h 32"/>
              <a:gd name="T10" fmla="*/ 2 w 22"/>
              <a:gd name="T11" fmla="*/ 30 h 32"/>
            </a:gdLst>
            <a:ahLst/>
            <a:cxnLst>
              <a:cxn ang="0">
                <a:pos x="T0" y="T1"/>
              </a:cxn>
              <a:cxn ang="0">
                <a:pos x="T2" y="T3"/>
              </a:cxn>
              <a:cxn ang="0">
                <a:pos x="T4" y="T5"/>
              </a:cxn>
              <a:cxn ang="0">
                <a:pos x="T6" y="T7"/>
              </a:cxn>
              <a:cxn ang="0">
                <a:pos x="T8" y="T9"/>
              </a:cxn>
              <a:cxn ang="0">
                <a:pos x="T10" y="T11"/>
              </a:cxn>
            </a:cxnLst>
            <a:rect l="0" t="0" r="r" b="b"/>
            <a:pathLst>
              <a:path w="22" h="32">
                <a:moveTo>
                  <a:pt x="2" y="30"/>
                </a:moveTo>
                <a:lnTo>
                  <a:pt x="5" y="32"/>
                </a:lnTo>
                <a:lnTo>
                  <a:pt x="22" y="4"/>
                </a:lnTo>
                <a:lnTo>
                  <a:pt x="17" y="0"/>
                </a:lnTo>
                <a:lnTo>
                  <a:pt x="0" y="28"/>
                </a:lnTo>
                <a:lnTo>
                  <a:pt x="2" y="30"/>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06" name="Rectangle 2511">
            <a:extLst>
              <a:ext uri="{FF2B5EF4-FFF2-40B4-BE49-F238E27FC236}">
                <a16:creationId xmlns:a16="http://schemas.microsoft.com/office/drawing/2014/main" id="{522A65D6-C066-1EF2-CDDF-F17DBD5E90D3}"/>
              </a:ext>
            </a:extLst>
          </p:cNvPr>
          <p:cNvSpPr>
            <a:spLocks noChangeArrowheads="1"/>
          </p:cNvSpPr>
          <p:nvPr/>
        </p:nvSpPr>
        <p:spPr bwMode="auto">
          <a:xfrm>
            <a:off x="2544763" y="2841625"/>
            <a:ext cx="84138" cy="825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07" name="Rectangle 2512">
            <a:extLst>
              <a:ext uri="{FF2B5EF4-FFF2-40B4-BE49-F238E27FC236}">
                <a16:creationId xmlns:a16="http://schemas.microsoft.com/office/drawing/2014/main" id="{F58FCEA1-1510-93AC-5CB3-75D02149BB82}"/>
              </a:ext>
            </a:extLst>
          </p:cNvPr>
          <p:cNvSpPr>
            <a:spLocks noChangeArrowheads="1"/>
          </p:cNvSpPr>
          <p:nvPr/>
        </p:nvSpPr>
        <p:spPr bwMode="auto">
          <a:xfrm>
            <a:off x="3543300" y="2657475"/>
            <a:ext cx="84138" cy="873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08" name="Rectangle 2513">
            <a:extLst>
              <a:ext uri="{FF2B5EF4-FFF2-40B4-BE49-F238E27FC236}">
                <a16:creationId xmlns:a16="http://schemas.microsoft.com/office/drawing/2014/main" id="{92AE72C3-D57C-4B6C-C6A2-89D946D57793}"/>
              </a:ext>
            </a:extLst>
          </p:cNvPr>
          <p:cNvSpPr>
            <a:spLocks noChangeArrowheads="1"/>
          </p:cNvSpPr>
          <p:nvPr/>
        </p:nvSpPr>
        <p:spPr bwMode="auto">
          <a:xfrm>
            <a:off x="3559175" y="2620963"/>
            <a:ext cx="130175" cy="187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09" name="Rectangle 2514">
            <a:extLst>
              <a:ext uri="{FF2B5EF4-FFF2-40B4-BE49-F238E27FC236}">
                <a16:creationId xmlns:a16="http://schemas.microsoft.com/office/drawing/2014/main" id="{C8870A49-5B83-30C3-7AE8-F509C49174CA}"/>
              </a:ext>
            </a:extLst>
          </p:cNvPr>
          <p:cNvSpPr>
            <a:spLocks noChangeArrowheads="1"/>
          </p:cNvSpPr>
          <p:nvPr/>
        </p:nvSpPr>
        <p:spPr bwMode="auto">
          <a:xfrm>
            <a:off x="2557463" y="2805113"/>
            <a:ext cx="130175" cy="187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x</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10" name="Rectangle 2515">
            <a:extLst>
              <a:ext uri="{FF2B5EF4-FFF2-40B4-BE49-F238E27FC236}">
                <a16:creationId xmlns:a16="http://schemas.microsoft.com/office/drawing/2014/main" id="{B7CD5E62-B200-A6A6-9FB3-DB8702207016}"/>
              </a:ext>
            </a:extLst>
          </p:cNvPr>
          <p:cNvSpPr>
            <a:spLocks noChangeArrowheads="1"/>
          </p:cNvSpPr>
          <p:nvPr/>
        </p:nvSpPr>
        <p:spPr bwMode="auto">
          <a:xfrm>
            <a:off x="2714625" y="2105025"/>
            <a:ext cx="477838" cy="187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small x</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11" name="Rectangle 2516">
            <a:extLst>
              <a:ext uri="{FF2B5EF4-FFF2-40B4-BE49-F238E27FC236}">
                <a16:creationId xmlns:a16="http://schemas.microsoft.com/office/drawing/2014/main" id="{AD10C692-1E70-ED31-E43A-879699DE2BF4}"/>
              </a:ext>
            </a:extLst>
          </p:cNvPr>
          <p:cNvSpPr>
            <a:spLocks noChangeArrowheads="1"/>
          </p:cNvSpPr>
          <p:nvPr/>
        </p:nvSpPr>
        <p:spPr bwMode="auto">
          <a:xfrm>
            <a:off x="3135313" y="2105025"/>
            <a:ext cx="104775" cy="187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12" name="Rectangle 2517">
            <a:extLst>
              <a:ext uri="{FF2B5EF4-FFF2-40B4-BE49-F238E27FC236}">
                <a16:creationId xmlns:a16="http://schemas.microsoft.com/office/drawing/2014/main" id="{48E8FF80-41EE-0036-5844-5E13303EF51D}"/>
              </a:ext>
            </a:extLst>
          </p:cNvPr>
          <p:cNvSpPr>
            <a:spLocks noChangeArrowheads="1"/>
          </p:cNvSpPr>
          <p:nvPr/>
        </p:nvSpPr>
        <p:spPr bwMode="auto">
          <a:xfrm>
            <a:off x="3181350" y="2105025"/>
            <a:ext cx="793750" cy="187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000000"/>
                </a:solidFill>
                <a:effectLst/>
                <a:latin typeface="Times New Roman" panose="02020603050405020304" pitchFamily="18" charset="0"/>
              </a:rPr>
              <a:t>ray spot size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13" name="Rectangle 2518">
            <a:extLst>
              <a:ext uri="{FF2B5EF4-FFF2-40B4-BE49-F238E27FC236}">
                <a16:creationId xmlns:a16="http://schemas.microsoft.com/office/drawing/2014/main" id="{CDF830D0-C62A-33C2-A7C2-7DC885A27005}"/>
              </a:ext>
            </a:extLst>
          </p:cNvPr>
          <p:cNvSpPr>
            <a:spLocks noChangeArrowheads="1"/>
          </p:cNvSpPr>
          <p:nvPr/>
        </p:nvSpPr>
        <p:spPr bwMode="auto">
          <a:xfrm>
            <a:off x="2014538" y="1690688"/>
            <a:ext cx="2195513"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a:ln>
                  <a:noFill/>
                </a:ln>
                <a:solidFill>
                  <a:srgbClr val="000000"/>
                </a:solidFill>
                <a:effectLst/>
                <a:latin typeface="Times New Roman" panose="02020603050405020304" pitchFamily="18" charset="0"/>
              </a:rPr>
              <a:t>(1) Moving sample stage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16" name="Rectangle 2521">
            <a:extLst>
              <a:ext uri="{FF2B5EF4-FFF2-40B4-BE49-F238E27FC236}">
                <a16:creationId xmlns:a16="http://schemas.microsoft.com/office/drawing/2014/main" id="{4AC5491B-14E2-371C-3A45-1D2991AE15C1}"/>
              </a:ext>
            </a:extLst>
          </p:cNvPr>
          <p:cNvSpPr>
            <a:spLocks noChangeArrowheads="1"/>
          </p:cNvSpPr>
          <p:nvPr/>
        </p:nvSpPr>
        <p:spPr bwMode="auto">
          <a:xfrm>
            <a:off x="1997075" y="3192463"/>
            <a:ext cx="2293938"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a:ln>
                  <a:noFill/>
                </a:ln>
                <a:solidFill>
                  <a:srgbClr val="000000"/>
                </a:solidFill>
                <a:effectLst/>
                <a:latin typeface="Times New Roman" panose="02020603050405020304" pitchFamily="18" charset="0"/>
              </a:rPr>
              <a:t>(2) Use of scanning plates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17" name="Line 2522">
            <a:extLst>
              <a:ext uri="{FF2B5EF4-FFF2-40B4-BE49-F238E27FC236}">
                <a16:creationId xmlns:a16="http://schemas.microsoft.com/office/drawing/2014/main" id="{02FD8F62-64D3-687A-C1BB-94D72715FE19}"/>
              </a:ext>
            </a:extLst>
          </p:cNvPr>
          <p:cNvSpPr>
            <a:spLocks noChangeShapeType="1"/>
          </p:cNvSpPr>
          <p:nvPr/>
        </p:nvSpPr>
        <p:spPr bwMode="auto">
          <a:xfrm>
            <a:off x="2697163" y="4492625"/>
            <a:ext cx="569913" cy="1588"/>
          </a:xfrm>
          <a:prstGeom prst="line">
            <a:avLst/>
          </a:prstGeom>
          <a:noFill/>
          <a:ln w="7938" cap="rnd">
            <a:solidFill>
              <a:srgbClr val="1F1A17"/>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18" name="Freeform 2523">
            <a:extLst>
              <a:ext uri="{FF2B5EF4-FFF2-40B4-BE49-F238E27FC236}">
                <a16:creationId xmlns:a16="http://schemas.microsoft.com/office/drawing/2014/main" id="{A88C8C7F-0ABD-3DF4-7877-C0106AD4C145}"/>
              </a:ext>
            </a:extLst>
          </p:cNvPr>
          <p:cNvSpPr>
            <a:spLocks/>
          </p:cNvSpPr>
          <p:nvPr/>
        </p:nvSpPr>
        <p:spPr bwMode="auto">
          <a:xfrm>
            <a:off x="2263775" y="3787775"/>
            <a:ext cx="1398588" cy="708025"/>
          </a:xfrm>
          <a:custGeom>
            <a:avLst/>
            <a:gdLst>
              <a:gd name="T0" fmla="*/ 0 w 881"/>
              <a:gd name="T1" fmla="*/ 446 h 446"/>
              <a:gd name="T2" fmla="*/ 3 w 881"/>
              <a:gd name="T3" fmla="*/ 391 h 446"/>
              <a:gd name="T4" fmla="*/ 11 w 881"/>
              <a:gd name="T5" fmla="*/ 340 h 446"/>
              <a:gd name="T6" fmla="*/ 23 w 881"/>
              <a:gd name="T7" fmla="*/ 294 h 446"/>
              <a:gd name="T8" fmla="*/ 39 w 881"/>
              <a:gd name="T9" fmla="*/ 250 h 446"/>
              <a:gd name="T10" fmla="*/ 59 w 881"/>
              <a:gd name="T11" fmla="*/ 211 h 446"/>
              <a:gd name="T12" fmla="*/ 83 w 881"/>
              <a:gd name="T13" fmla="*/ 173 h 446"/>
              <a:gd name="T14" fmla="*/ 109 w 881"/>
              <a:gd name="T15" fmla="*/ 140 h 446"/>
              <a:gd name="T16" fmla="*/ 139 w 881"/>
              <a:gd name="T17" fmla="*/ 111 h 446"/>
              <a:gd name="T18" fmla="*/ 170 w 881"/>
              <a:gd name="T19" fmla="*/ 85 h 446"/>
              <a:gd name="T20" fmla="*/ 205 w 881"/>
              <a:gd name="T21" fmla="*/ 62 h 446"/>
              <a:gd name="T22" fmla="*/ 241 w 881"/>
              <a:gd name="T23" fmla="*/ 44 h 446"/>
              <a:gd name="T24" fmla="*/ 278 w 881"/>
              <a:gd name="T25" fmla="*/ 27 h 446"/>
              <a:gd name="T26" fmla="*/ 318 w 881"/>
              <a:gd name="T27" fmla="*/ 15 h 446"/>
              <a:gd name="T28" fmla="*/ 357 w 881"/>
              <a:gd name="T29" fmla="*/ 7 h 446"/>
              <a:gd name="T30" fmla="*/ 397 w 881"/>
              <a:gd name="T31" fmla="*/ 2 h 446"/>
              <a:gd name="T32" fmla="*/ 437 w 881"/>
              <a:gd name="T33" fmla="*/ 0 h 446"/>
              <a:gd name="T34" fmla="*/ 478 w 881"/>
              <a:gd name="T35" fmla="*/ 2 h 446"/>
              <a:gd name="T36" fmla="*/ 518 w 881"/>
              <a:gd name="T37" fmla="*/ 7 h 446"/>
              <a:gd name="T38" fmla="*/ 558 w 881"/>
              <a:gd name="T39" fmla="*/ 15 h 446"/>
              <a:gd name="T40" fmla="*/ 598 w 881"/>
              <a:gd name="T41" fmla="*/ 29 h 446"/>
              <a:gd name="T42" fmla="*/ 636 w 881"/>
              <a:gd name="T43" fmla="*/ 44 h 446"/>
              <a:gd name="T44" fmla="*/ 670 w 881"/>
              <a:gd name="T45" fmla="*/ 63 h 446"/>
              <a:gd name="T46" fmla="*/ 705 w 881"/>
              <a:gd name="T47" fmla="*/ 85 h 446"/>
              <a:gd name="T48" fmla="*/ 738 w 881"/>
              <a:gd name="T49" fmla="*/ 111 h 446"/>
              <a:gd name="T50" fmla="*/ 768 w 881"/>
              <a:gd name="T51" fmla="*/ 141 h 446"/>
              <a:gd name="T52" fmla="*/ 795 w 881"/>
              <a:gd name="T53" fmla="*/ 174 h 446"/>
              <a:gd name="T54" fmla="*/ 818 w 881"/>
              <a:gd name="T55" fmla="*/ 211 h 446"/>
              <a:gd name="T56" fmla="*/ 839 w 881"/>
              <a:gd name="T57" fmla="*/ 250 h 446"/>
              <a:gd name="T58" fmla="*/ 856 w 881"/>
              <a:gd name="T59" fmla="*/ 294 h 446"/>
              <a:gd name="T60" fmla="*/ 867 w 881"/>
              <a:gd name="T61" fmla="*/ 342 h 446"/>
              <a:gd name="T62" fmla="*/ 877 w 881"/>
              <a:gd name="T63" fmla="*/ 391 h 446"/>
              <a:gd name="T64" fmla="*/ 881 w 881"/>
              <a:gd name="T65"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81" h="446">
                <a:moveTo>
                  <a:pt x="0" y="446"/>
                </a:moveTo>
                <a:lnTo>
                  <a:pt x="3" y="391"/>
                </a:lnTo>
                <a:lnTo>
                  <a:pt x="11" y="340"/>
                </a:lnTo>
                <a:lnTo>
                  <a:pt x="23" y="294"/>
                </a:lnTo>
                <a:lnTo>
                  <a:pt x="39" y="250"/>
                </a:lnTo>
                <a:lnTo>
                  <a:pt x="59" y="211"/>
                </a:lnTo>
                <a:lnTo>
                  <a:pt x="83" y="173"/>
                </a:lnTo>
                <a:lnTo>
                  <a:pt x="109" y="140"/>
                </a:lnTo>
                <a:lnTo>
                  <a:pt x="139" y="111"/>
                </a:lnTo>
                <a:lnTo>
                  <a:pt x="170" y="85"/>
                </a:lnTo>
                <a:lnTo>
                  <a:pt x="205" y="62"/>
                </a:lnTo>
                <a:lnTo>
                  <a:pt x="241" y="44"/>
                </a:lnTo>
                <a:lnTo>
                  <a:pt x="278" y="27"/>
                </a:lnTo>
                <a:lnTo>
                  <a:pt x="318" y="15"/>
                </a:lnTo>
                <a:lnTo>
                  <a:pt x="357" y="7"/>
                </a:lnTo>
                <a:lnTo>
                  <a:pt x="397" y="2"/>
                </a:lnTo>
                <a:lnTo>
                  <a:pt x="437" y="0"/>
                </a:lnTo>
                <a:lnTo>
                  <a:pt x="478" y="2"/>
                </a:lnTo>
                <a:lnTo>
                  <a:pt x="518" y="7"/>
                </a:lnTo>
                <a:lnTo>
                  <a:pt x="558" y="15"/>
                </a:lnTo>
                <a:lnTo>
                  <a:pt x="598" y="29"/>
                </a:lnTo>
                <a:lnTo>
                  <a:pt x="636" y="44"/>
                </a:lnTo>
                <a:lnTo>
                  <a:pt x="670" y="63"/>
                </a:lnTo>
                <a:lnTo>
                  <a:pt x="705" y="85"/>
                </a:lnTo>
                <a:lnTo>
                  <a:pt x="738" y="111"/>
                </a:lnTo>
                <a:lnTo>
                  <a:pt x="768" y="141"/>
                </a:lnTo>
                <a:lnTo>
                  <a:pt x="795" y="174"/>
                </a:lnTo>
                <a:lnTo>
                  <a:pt x="818" y="211"/>
                </a:lnTo>
                <a:lnTo>
                  <a:pt x="839" y="250"/>
                </a:lnTo>
                <a:lnTo>
                  <a:pt x="856" y="294"/>
                </a:lnTo>
                <a:lnTo>
                  <a:pt x="867" y="342"/>
                </a:lnTo>
                <a:lnTo>
                  <a:pt x="877" y="391"/>
                </a:lnTo>
                <a:lnTo>
                  <a:pt x="881" y="446"/>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19" name="Freeform 2524">
            <a:extLst>
              <a:ext uri="{FF2B5EF4-FFF2-40B4-BE49-F238E27FC236}">
                <a16:creationId xmlns:a16="http://schemas.microsoft.com/office/drawing/2014/main" id="{6A8A77E6-0035-960B-3F49-269A2F18E60A}"/>
              </a:ext>
            </a:extLst>
          </p:cNvPr>
          <p:cNvSpPr>
            <a:spLocks/>
          </p:cNvSpPr>
          <p:nvPr/>
        </p:nvSpPr>
        <p:spPr bwMode="auto">
          <a:xfrm>
            <a:off x="2644775" y="4175125"/>
            <a:ext cx="630238" cy="323850"/>
          </a:xfrm>
          <a:custGeom>
            <a:avLst/>
            <a:gdLst>
              <a:gd name="T0" fmla="*/ 0 w 397"/>
              <a:gd name="T1" fmla="*/ 204 h 204"/>
              <a:gd name="T2" fmla="*/ 1 w 397"/>
              <a:gd name="T3" fmla="*/ 179 h 204"/>
              <a:gd name="T4" fmla="*/ 6 w 397"/>
              <a:gd name="T5" fmla="*/ 154 h 204"/>
              <a:gd name="T6" fmla="*/ 11 w 397"/>
              <a:gd name="T7" fmla="*/ 131 h 204"/>
              <a:gd name="T8" fmla="*/ 20 w 397"/>
              <a:gd name="T9" fmla="*/ 111 h 204"/>
              <a:gd name="T10" fmla="*/ 30 w 397"/>
              <a:gd name="T11" fmla="*/ 93 h 204"/>
              <a:gd name="T12" fmla="*/ 40 w 397"/>
              <a:gd name="T13" fmla="*/ 74 h 204"/>
              <a:gd name="T14" fmla="*/ 53 w 397"/>
              <a:gd name="T15" fmla="*/ 59 h 204"/>
              <a:gd name="T16" fmla="*/ 66 w 397"/>
              <a:gd name="T17" fmla="*/ 46 h 204"/>
              <a:gd name="T18" fmla="*/ 81 w 397"/>
              <a:gd name="T19" fmla="*/ 35 h 204"/>
              <a:gd name="T20" fmla="*/ 98 w 397"/>
              <a:gd name="T21" fmla="*/ 25 h 204"/>
              <a:gd name="T22" fmla="*/ 114 w 397"/>
              <a:gd name="T23" fmla="*/ 16 h 204"/>
              <a:gd name="T24" fmla="*/ 131 w 397"/>
              <a:gd name="T25" fmla="*/ 10 h 204"/>
              <a:gd name="T26" fmla="*/ 149 w 397"/>
              <a:gd name="T27" fmla="*/ 5 h 204"/>
              <a:gd name="T28" fmla="*/ 167 w 397"/>
              <a:gd name="T29" fmla="*/ 2 h 204"/>
              <a:gd name="T30" fmla="*/ 185 w 397"/>
              <a:gd name="T31" fmla="*/ 0 h 204"/>
              <a:gd name="T32" fmla="*/ 204 w 397"/>
              <a:gd name="T33" fmla="*/ 0 h 204"/>
              <a:gd name="T34" fmla="*/ 222 w 397"/>
              <a:gd name="T35" fmla="*/ 0 h 204"/>
              <a:gd name="T36" fmla="*/ 242 w 397"/>
              <a:gd name="T37" fmla="*/ 3 h 204"/>
              <a:gd name="T38" fmla="*/ 258 w 397"/>
              <a:gd name="T39" fmla="*/ 8 h 204"/>
              <a:gd name="T40" fmla="*/ 276 w 397"/>
              <a:gd name="T41" fmla="*/ 15 h 204"/>
              <a:gd name="T42" fmla="*/ 293 w 397"/>
              <a:gd name="T43" fmla="*/ 21 h 204"/>
              <a:gd name="T44" fmla="*/ 310 w 397"/>
              <a:gd name="T45" fmla="*/ 31 h 204"/>
              <a:gd name="T46" fmla="*/ 324 w 397"/>
              <a:gd name="T47" fmla="*/ 41 h 204"/>
              <a:gd name="T48" fmla="*/ 339 w 397"/>
              <a:gd name="T49" fmla="*/ 54 h 204"/>
              <a:gd name="T50" fmla="*/ 353 w 397"/>
              <a:gd name="T51" fmla="*/ 68 h 204"/>
              <a:gd name="T52" fmla="*/ 364 w 397"/>
              <a:gd name="T53" fmla="*/ 83 h 204"/>
              <a:gd name="T54" fmla="*/ 374 w 397"/>
              <a:gd name="T55" fmla="*/ 99 h 204"/>
              <a:gd name="T56" fmla="*/ 382 w 397"/>
              <a:gd name="T57" fmla="*/ 116 h 204"/>
              <a:gd name="T58" fmla="*/ 389 w 397"/>
              <a:gd name="T59" fmla="*/ 136 h 204"/>
              <a:gd name="T60" fmla="*/ 394 w 397"/>
              <a:gd name="T61" fmla="*/ 156 h 204"/>
              <a:gd name="T62" fmla="*/ 396 w 397"/>
              <a:gd name="T63" fmla="*/ 179 h 204"/>
              <a:gd name="T64" fmla="*/ 397 w 397"/>
              <a:gd name="T65" fmla="*/ 202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97" h="204">
                <a:moveTo>
                  <a:pt x="0" y="204"/>
                </a:moveTo>
                <a:lnTo>
                  <a:pt x="1" y="179"/>
                </a:lnTo>
                <a:lnTo>
                  <a:pt x="6" y="154"/>
                </a:lnTo>
                <a:lnTo>
                  <a:pt x="11" y="131"/>
                </a:lnTo>
                <a:lnTo>
                  <a:pt x="20" y="111"/>
                </a:lnTo>
                <a:lnTo>
                  <a:pt x="30" y="93"/>
                </a:lnTo>
                <a:lnTo>
                  <a:pt x="40" y="74"/>
                </a:lnTo>
                <a:lnTo>
                  <a:pt x="53" y="59"/>
                </a:lnTo>
                <a:lnTo>
                  <a:pt x="66" y="46"/>
                </a:lnTo>
                <a:lnTo>
                  <a:pt x="81" y="35"/>
                </a:lnTo>
                <a:lnTo>
                  <a:pt x="98" y="25"/>
                </a:lnTo>
                <a:lnTo>
                  <a:pt x="114" y="16"/>
                </a:lnTo>
                <a:lnTo>
                  <a:pt x="131" y="10"/>
                </a:lnTo>
                <a:lnTo>
                  <a:pt x="149" y="5"/>
                </a:lnTo>
                <a:lnTo>
                  <a:pt x="167" y="2"/>
                </a:lnTo>
                <a:lnTo>
                  <a:pt x="185" y="0"/>
                </a:lnTo>
                <a:lnTo>
                  <a:pt x="204" y="0"/>
                </a:lnTo>
                <a:lnTo>
                  <a:pt x="222" y="0"/>
                </a:lnTo>
                <a:lnTo>
                  <a:pt x="242" y="3"/>
                </a:lnTo>
                <a:lnTo>
                  <a:pt x="258" y="8"/>
                </a:lnTo>
                <a:lnTo>
                  <a:pt x="276" y="15"/>
                </a:lnTo>
                <a:lnTo>
                  <a:pt x="293" y="21"/>
                </a:lnTo>
                <a:lnTo>
                  <a:pt x="310" y="31"/>
                </a:lnTo>
                <a:lnTo>
                  <a:pt x="324" y="41"/>
                </a:lnTo>
                <a:lnTo>
                  <a:pt x="339" y="54"/>
                </a:lnTo>
                <a:lnTo>
                  <a:pt x="353" y="68"/>
                </a:lnTo>
                <a:lnTo>
                  <a:pt x="364" y="83"/>
                </a:lnTo>
                <a:lnTo>
                  <a:pt x="374" y="99"/>
                </a:lnTo>
                <a:lnTo>
                  <a:pt x="382" y="116"/>
                </a:lnTo>
                <a:lnTo>
                  <a:pt x="389" y="136"/>
                </a:lnTo>
                <a:lnTo>
                  <a:pt x="394" y="156"/>
                </a:lnTo>
                <a:lnTo>
                  <a:pt x="396" y="179"/>
                </a:lnTo>
                <a:lnTo>
                  <a:pt x="397" y="202"/>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20" name="Freeform 2525">
            <a:extLst>
              <a:ext uri="{FF2B5EF4-FFF2-40B4-BE49-F238E27FC236}">
                <a16:creationId xmlns:a16="http://schemas.microsoft.com/office/drawing/2014/main" id="{D0CC6D21-B93C-7211-8EAB-99D4CCB9ED99}"/>
              </a:ext>
            </a:extLst>
          </p:cNvPr>
          <p:cNvSpPr>
            <a:spLocks/>
          </p:cNvSpPr>
          <p:nvPr/>
        </p:nvSpPr>
        <p:spPr bwMode="auto">
          <a:xfrm>
            <a:off x="2333625" y="4865688"/>
            <a:ext cx="50800" cy="38100"/>
          </a:xfrm>
          <a:custGeom>
            <a:avLst/>
            <a:gdLst>
              <a:gd name="T0" fmla="*/ 0 w 32"/>
              <a:gd name="T1" fmla="*/ 24 h 24"/>
              <a:gd name="T2" fmla="*/ 0 w 32"/>
              <a:gd name="T3" fmla="*/ 19 h 24"/>
              <a:gd name="T4" fmla="*/ 29 w 32"/>
              <a:gd name="T5" fmla="*/ 0 h 24"/>
              <a:gd name="T6" fmla="*/ 32 w 32"/>
              <a:gd name="T7" fmla="*/ 7 h 24"/>
              <a:gd name="T8" fmla="*/ 4 w 32"/>
              <a:gd name="T9" fmla="*/ 24 h 24"/>
              <a:gd name="T10" fmla="*/ 4 w 32"/>
              <a:gd name="T11" fmla="*/ 19 h 24"/>
              <a:gd name="T12" fmla="*/ 0 w 32"/>
              <a:gd name="T13" fmla="*/ 24 h 24"/>
            </a:gdLst>
            <a:ahLst/>
            <a:cxnLst>
              <a:cxn ang="0">
                <a:pos x="T0" y="T1"/>
              </a:cxn>
              <a:cxn ang="0">
                <a:pos x="T2" y="T3"/>
              </a:cxn>
              <a:cxn ang="0">
                <a:pos x="T4" y="T5"/>
              </a:cxn>
              <a:cxn ang="0">
                <a:pos x="T6" y="T7"/>
              </a:cxn>
              <a:cxn ang="0">
                <a:pos x="T8" y="T9"/>
              </a:cxn>
              <a:cxn ang="0">
                <a:pos x="T10" y="T11"/>
              </a:cxn>
              <a:cxn ang="0">
                <a:pos x="T12" y="T13"/>
              </a:cxn>
            </a:cxnLst>
            <a:rect l="0" t="0" r="r" b="b"/>
            <a:pathLst>
              <a:path w="32" h="24">
                <a:moveTo>
                  <a:pt x="0" y="24"/>
                </a:moveTo>
                <a:lnTo>
                  <a:pt x="0" y="19"/>
                </a:lnTo>
                <a:lnTo>
                  <a:pt x="29" y="0"/>
                </a:lnTo>
                <a:lnTo>
                  <a:pt x="32" y="7"/>
                </a:lnTo>
                <a:lnTo>
                  <a:pt x="4" y="24"/>
                </a:lnTo>
                <a:lnTo>
                  <a:pt x="4" y="19"/>
                </a:lnTo>
                <a:lnTo>
                  <a:pt x="0" y="24"/>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21" name="Freeform 2526">
            <a:extLst>
              <a:ext uri="{FF2B5EF4-FFF2-40B4-BE49-F238E27FC236}">
                <a16:creationId xmlns:a16="http://schemas.microsoft.com/office/drawing/2014/main" id="{6EFB2BAB-5C33-9131-3E2D-897FDB7A4817}"/>
              </a:ext>
            </a:extLst>
          </p:cNvPr>
          <p:cNvSpPr>
            <a:spLocks/>
          </p:cNvSpPr>
          <p:nvPr/>
        </p:nvSpPr>
        <p:spPr bwMode="auto">
          <a:xfrm>
            <a:off x="2333625" y="4895850"/>
            <a:ext cx="3175" cy="7938"/>
          </a:xfrm>
          <a:custGeom>
            <a:avLst/>
            <a:gdLst>
              <a:gd name="T0" fmla="*/ 0 w 2"/>
              <a:gd name="T1" fmla="*/ 5 h 5"/>
              <a:gd name="T2" fmla="*/ 2 w 2"/>
              <a:gd name="T3" fmla="*/ 3 h 5"/>
              <a:gd name="T4" fmla="*/ 0 w 2"/>
              <a:gd name="T5" fmla="*/ 0 h 5"/>
              <a:gd name="T6" fmla="*/ 0 w 2"/>
              <a:gd name="T7" fmla="*/ 5 h 5"/>
            </a:gdLst>
            <a:ahLst/>
            <a:cxnLst>
              <a:cxn ang="0">
                <a:pos x="T0" y="T1"/>
              </a:cxn>
              <a:cxn ang="0">
                <a:pos x="T2" y="T3"/>
              </a:cxn>
              <a:cxn ang="0">
                <a:pos x="T4" y="T5"/>
              </a:cxn>
              <a:cxn ang="0">
                <a:pos x="T6" y="T7"/>
              </a:cxn>
            </a:cxnLst>
            <a:rect l="0" t="0" r="r" b="b"/>
            <a:pathLst>
              <a:path w="2" h="5">
                <a:moveTo>
                  <a:pt x="0" y="5"/>
                </a:moveTo>
                <a:lnTo>
                  <a:pt x="2" y="3"/>
                </a:lnTo>
                <a:lnTo>
                  <a:pt x="0" y="0"/>
                </a:lnTo>
                <a:lnTo>
                  <a:pt x="0"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22" name="Freeform 2527">
            <a:extLst>
              <a:ext uri="{FF2B5EF4-FFF2-40B4-BE49-F238E27FC236}">
                <a16:creationId xmlns:a16="http://schemas.microsoft.com/office/drawing/2014/main" id="{DD0318D9-DE5F-6A44-86B2-D6F3C26F5233}"/>
              </a:ext>
            </a:extLst>
          </p:cNvPr>
          <p:cNvSpPr>
            <a:spLocks/>
          </p:cNvSpPr>
          <p:nvPr/>
        </p:nvSpPr>
        <p:spPr bwMode="auto">
          <a:xfrm>
            <a:off x="2333625" y="4895850"/>
            <a:ext cx="50800" cy="36513"/>
          </a:xfrm>
          <a:custGeom>
            <a:avLst/>
            <a:gdLst>
              <a:gd name="T0" fmla="*/ 30 w 32"/>
              <a:gd name="T1" fmla="*/ 19 h 23"/>
              <a:gd name="T2" fmla="*/ 29 w 32"/>
              <a:gd name="T3" fmla="*/ 23 h 23"/>
              <a:gd name="T4" fmla="*/ 0 w 32"/>
              <a:gd name="T5" fmla="*/ 5 h 23"/>
              <a:gd name="T6" fmla="*/ 4 w 32"/>
              <a:gd name="T7" fmla="*/ 0 h 23"/>
              <a:gd name="T8" fmla="*/ 32 w 32"/>
              <a:gd name="T9" fmla="*/ 18 h 23"/>
              <a:gd name="T10" fmla="*/ 30 w 32"/>
              <a:gd name="T11" fmla="*/ 19 h 23"/>
            </a:gdLst>
            <a:ahLst/>
            <a:cxnLst>
              <a:cxn ang="0">
                <a:pos x="T0" y="T1"/>
              </a:cxn>
              <a:cxn ang="0">
                <a:pos x="T2" y="T3"/>
              </a:cxn>
              <a:cxn ang="0">
                <a:pos x="T4" y="T5"/>
              </a:cxn>
              <a:cxn ang="0">
                <a:pos x="T6" y="T7"/>
              </a:cxn>
              <a:cxn ang="0">
                <a:pos x="T8" y="T9"/>
              </a:cxn>
              <a:cxn ang="0">
                <a:pos x="T10" y="T11"/>
              </a:cxn>
            </a:cxnLst>
            <a:rect l="0" t="0" r="r" b="b"/>
            <a:pathLst>
              <a:path w="32" h="23">
                <a:moveTo>
                  <a:pt x="30" y="19"/>
                </a:moveTo>
                <a:lnTo>
                  <a:pt x="29" y="23"/>
                </a:lnTo>
                <a:lnTo>
                  <a:pt x="0" y="5"/>
                </a:lnTo>
                <a:lnTo>
                  <a:pt x="4" y="0"/>
                </a:lnTo>
                <a:lnTo>
                  <a:pt x="32" y="18"/>
                </a:lnTo>
                <a:lnTo>
                  <a:pt x="30" y="19"/>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23" name="Freeform 2528">
            <a:extLst>
              <a:ext uri="{FF2B5EF4-FFF2-40B4-BE49-F238E27FC236}">
                <a16:creationId xmlns:a16="http://schemas.microsoft.com/office/drawing/2014/main" id="{4E43CA9E-BBE9-D799-1487-1FD9D0613890}"/>
              </a:ext>
            </a:extLst>
          </p:cNvPr>
          <p:cNvSpPr>
            <a:spLocks/>
          </p:cNvSpPr>
          <p:nvPr/>
        </p:nvSpPr>
        <p:spPr bwMode="auto">
          <a:xfrm>
            <a:off x="2347913" y="4895850"/>
            <a:ext cx="249238" cy="7938"/>
          </a:xfrm>
          <a:custGeom>
            <a:avLst/>
            <a:gdLst>
              <a:gd name="T0" fmla="*/ 157 w 157"/>
              <a:gd name="T1" fmla="*/ 3 h 5"/>
              <a:gd name="T2" fmla="*/ 157 w 157"/>
              <a:gd name="T3" fmla="*/ 0 h 5"/>
              <a:gd name="T4" fmla="*/ 0 w 157"/>
              <a:gd name="T5" fmla="*/ 0 h 5"/>
              <a:gd name="T6" fmla="*/ 0 w 157"/>
              <a:gd name="T7" fmla="*/ 5 h 5"/>
              <a:gd name="T8" fmla="*/ 157 w 157"/>
              <a:gd name="T9" fmla="*/ 5 h 5"/>
              <a:gd name="T10" fmla="*/ 157 w 157"/>
              <a:gd name="T11" fmla="*/ 3 h 5"/>
            </a:gdLst>
            <a:ahLst/>
            <a:cxnLst>
              <a:cxn ang="0">
                <a:pos x="T0" y="T1"/>
              </a:cxn>
              <a:cxn ang="0">
                <a:pos x="T2" y="T3"/>
              </a:cxn>
              <a:cxn ang="0">
                <a:pos x="T4" y="T5"/>
              </a:cxn>
              <a:cxn ang="0">
                <a:pos x="T6" y="T7"/>
              </a:cxn>
              <a:cxn ang="0">
                <a:pos x="T8" y="T9"/>
              </a:cxn>
              <a:cxn ang="0">
                <a:pos x="T10" y="T11"/>
              </a:cxn>
            </a:cxnLst>
            <a:rect l="0" t="0" r="r" b="b"/>
            <a:pathLst>
              <a:path w="157" h="5">
                <a:moveTo>
                  <a:pt x="157" y="3"/>
                </a:moveTo>
                <a:lnTo>
                  <a:pt x="157" y="0"/>
                </a:lnTo>
                <a:lnTo>
                  <a:pt x="0" y="0"/>
                </a:lnTo>
                <a:lnTo>
                  <a:pt x="0" y="5"/>
                </a:lnTo>
                <a:lnTo>
                  <a:pt x="157" y="5"/>
                </a:lnTo>
                <a:lnTo>
                  <a:pt x="157" y="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24" name="Freeform 2529">
            <a:extLst>
              <a:ext uri="{FF2B5EF4-FFF2-40B4-BE49-F238E27FC236}">
                <a16:creationId xmlns:a16="http://schemas.microsoft.com/office/drawing/2014/main" id="{500D449A-F86B-13F5-782C-1546DA39CE88}"/>
              </a:ext>
            </a:extLst>
          </p:cNvPr>
          <p:cNvSpPr>
            <a:spLocks/>
          </p:cNvSpPr>
          <p:nvPr/>
        </p:nvSpPr>
        <p:spPr bwMode="auto">
          <a:xfrm>
            <a:off x="2560638" y="4865688"/>
            <a:ext cx="49213" cy="38100"/>
          </a:xfrm>
          <a:custGeom>
            <a:avLst/>
            <a:gdLst>
              <a:gd name="T0" fmla="*/ 31 w 31"/>
              <a:gd name="T1" fmla="*/ 24 h 24"/>
              <a:gd name="T2" fmla="*/ 31 w 31"/>
              <a:gd name="T3" fmla="*/ 19 h 24"/>
              <a:gd name="T4" fmla="*/ 3 w 31"/>
              <a:gd name="T5" fmla="*/ 0 h 24"/>
              <a:gd name="T6" fmla="*/ 0 w 31"/>
              <a:gd name="T7" fmla="*/ 7 h 24"/>
              <a:gd name="T8" fmla="*/ 26 w 31"/>
              <a:gd name="T9" fmla="*/ 24 h 24"/>
              <a:gd name="T10" fmla="*/ 26 w 31"/>
              <a:gd name="T11" fmla="*/ 19 h 24"/>
              <a:gd name="T12" fmla="*/ 31 w 31"/>
              <a:gd name="T13" fmla="*/ 24 h 24"/>
            </a:gdLst>
            <a:ahLst/>
            <a:cxnLst>
              <a:cxn ang="0">
                <a:pos x="T0" y="T1"/>
              </a:cxn>
              <a:cxn ang="0">
                <a:pos x="T2" y="T3"/>
              </a:cxn>
              <a:cxn ang="0">
                <a:pos x="T4" y="T5"/>
              </a:cxn>
              <a:cxn ang="0">
                <a:pos x="T6" y="T7"/>
              </a:cxn>
              <a:cxn ang="0">
                <a:pos x="T8" y="T9"/>
              </a:cxn>
              <a:cxn ang="0">
                <a:pos x="T10" y="T11"/>
              </a:cxn>
              <a:cxn ang="0">
                <a:pos x="T12" y="T13"/>
              </a:cxn>
            </a:cxnLst>
            <a:rect l="0" t="0" r="r" b="b"/>
            <a:pathLst>
              <a:path w="31" h="24">
                <a:moveTo>
                  <a:pt x="31" y="24"/>
                </a:moveTo>
                <a:lnTo>
                  <a:pt x="31" y="19"/>
                </a:lnTo>
                <a:lnTo>
                  <a:pt x="3" y="0"/>
                </a:lnTo>
                <a:lnTo>
                  <a:pt x="0" y="7"/>
                </a:lnTo>
                <a:lnTo>
                  <a:pt x="26" y="24"/>
                </a:lnTo>
                <a:lnTo>
                  <a:pt x="26" y="19"/>
                </a:lnTo>
                <a:lnTo>
                  <a:pt x="31" y="24"/>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25" name="Freeform 2530">
            <a:extLst>
              <a:ext uri="{FF2B5EF4-FFF2-40B4-BE49-F238E27FC236}">
                <a16:creationId xmlns:a16="http://schemas.microsoft.com/office/drawing/2014/main" id="{0CC2C2A0-E4C2-CA80-680D-DA60743D4FA5}"/>
              </a:ext>
            </a:extLst>
          </p:cNvPr>
          <p:cNvSpPr>
            <a:spLocks/>
          </p:cNvSpPr>
          <p:nvPr/>
        </p:nvSpPr>
        <p:spPr bwMode="auto">
          <a:xfrm>
            <a:off x="2605088" y="4895850"/>
            <a:ext cx="4763" cy="7938"/>
          </a:xfrm>
          <a:custGeom>
            <a:avLst/>
            <a:gdLst>
              <a:gd name="T0" fmla="*/ 3 w 3"/>
              <a:gd name="T1" fmla="*/ 5 h 5"/>
              <a:gd name="T2" fmla="*/ 0 w 3"/>
              <a:gd name="T3" fmla="*/ 3 h 5"/>
              <a:gd name="T4" fmla="*/ 3 w 3"/>
              <a:gd name="T5" fmla="*/ 0 h 5"/>
              <a:gd name="T6" fmla="*/ 3 w 3"/>
              <a:gd name="T7" fmla="*/ 5 h 5"/>
            </a:gdLst>
            <a:ahLst/>
            <a:cxnLst>
              <a:cxn ang="0">
                <a:pos x="T0" y="T1"/>
              </a:cxn>
              <a:cxn ang="0">
                <a:pos x="T2" y="T3"/>
              </a:cxn>
              <a:cxn ang="0">
                <a:pos x="T4" y="T5"/>
              </a:cxn>
              <a:cxn ang="0">
                <a:pos x="T6" y="T7"/>
              </a:cxn>
            </a:cxnLst>
            <a:rect l="0" t="0" r="r" b="b"/>
            <a:pathLst>
              <a:path w="3" h="5">
                <a:moveTo>
                  <a:pt x="3" y="5"/>
                </a:moveTo>
                <a:lnTo>
                  <a:pt x="0" y="3"/>
                </a:lnTo>
                <a:lnTo>
                  <a:pt x="3" y="0"/>
                </a:lnTo>
                <a:lnTo>
                  <a:pt x="3"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26" name="Freeform 2531">
            <a:extLst>
              <a:ext uri="{FF2B5EF4-FFF2-40B4-BE49-F238E27FC236}">
                <a16:creationId xmlns:a16="http://schemas.microsoft.com/office/drawing/2014/main" id="{127941CB-3965-D625-3CFD-4E9CA4A69EB7}"/>
              </a:ext>
            </a:extLst>
          </p:cNvPr>
          <p:cNvSpPr>
            <a:spLocks/>
          </p:cNvSpPr>
          <p:nvPr/>
        </p:nvSpPr>
        <p:spPr bwMode="auto">
          <a:xfrm>
            <a:off x="2560638" y="4895850"/>
            <a:ext cx="49213" cy="36513"/>
          </a:xfrm>
          <a:custGeom>
            <a:avLst/>
            <a:gdLst>
              <a:gd name="T0" fmla="*/ 1 w 31"/>
              <a:gd name="T1" fmla="*/ 19 h 23"/>
              <a:gd name="T2" fmla="*/ 3 w 31"/>
              <a:gd name="T3" fmla="*/ 23 h 23"/>
              <a:gd name="T4" fmla="*/ 31 w 31"/>
              <a:gd name="T5" fmla="*/ 5 h 23"/>
              <a:gd name="T6" fmla="*/ 26 w 31"/>
              <a:gd name="T7" fmla="*/ 0 h 23"/>
              <a:gd name="T8" fmla="*/ 0 w 31"/>
              <a:gd name="T9" fmla="*/ 18 h 23"/>
              <a:gd name="T10" fmla="*/ 1 w 31"/>
              <a:gd name="T11" fmla="*/ 19 h 23"/>
            </a:gdLst>
            <a:ahLst/>
            <a:cxnLst>
              <a:cxn ang="0">
                <a:pos x="T0" y="T1"/>
              </a:cxn>
              <a:cxn ang="0">
                <a:pos x="T2" y="T3"/>
              </a:cxn>
              <a:cxn ang="0">
                <a:pos x="T4" y="T5"/>
              </a:cxn>
              <a:cxn ang="0">
                <a:pos x="T6" y="T7"/>
              </a:cxn>
              <a:cxn ang="0">
                <a:pos x="T8" y="T9"/>
              </a:cxn>
              <a:cxn ang="0">
                <a:pos x="T10" y="T11"/>
              </a:cxn>
            </a:cxnLst>
            <a:rect l="0" t="0" r="r" b="b"/>
            <a:pathLst>
              <a:path w="31" h="23">
                <a:moveTo>
                  <a:pt x="1" y="19"/>
                </a:moveTo>
                <a:lnTo>
                  <a:pt x="3" y="23"/>
                </a:lnTo>
                <a:lnTo>
                  <a:pt x="31" y="5"/>
                </a:lnTo>
                <a:lnTo>
                  <a:pt x="26" y="0"/>
                </a:lnTo>
                <a:lnTo>
                  <a:pt x="0" y="18"/>
                </a:lnTo>
                <a:lnTo>
                  <a:pt x="1" y="19"/>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27" name="Freeform 2532">
            <a:extLst>
              <a:ext uri="{FF2B5EF4-FFF2-40B4-BE49-F238E27FC236}">
                <a16:creationId xmlns:a16="http://schemas.microsoft.com/office/drawing/2014/main" id="{DB474E33-82F0-1486-8404-DEBC2A3F553C}"/>
              </a:ext>
            </a:extLst>
          </p:cNvPr>
          <p:cNvSpPr>
            <a:spLocks/>
          </p:cNvSpPr>
          <p:nvPr/>
        </p:nvSpPr>
        <p:spPr bwMode="auto">
          <a:xfrm>
            <a:off x="2312988" y="5934075"/>
            <a:ext cx="50800" cy="36513"/>
          </a:xfrm>
          <a:custGeom>
            <a:avLst/>
            <a:gdLst>
              <a:gd name="T0" fmla="*/ 0 w 32"/>
              <a:gd name="T1" fmla="*/ 23 h 23"/>
              <a:gd name="T2" fmla="*/ 0 w 32"/>
              <a:gd name="T3" fmla="*/ 16 h 23"/>
              <a:gd name="T4" fmla="*/ 29 w 32"/>
              <a:gd name="T5" fmla="*/ 0 h 23"/>
              <a:gd name="T6" fmla="*/ 32 w 32"/>
              <a:gd name="T7" fmla="*/ 5 h 23"/>
              <a:gd name="T8" fmla="*/ 3 w 32"/>
              <a:gd name="T9" fmla="*/ 23 h 23"/>
              <a:gd name="T10" fmla="*/ 3 w 32"/>
              <a:gd name="T11" fmla="*/ 16 h 23"/>
              <a:gd name="T12" fmla="*/ 0 w 32"/>
              <a:gd name="T13" fmla="*/ 23 h 23"/>
            </a:gdLst>
            <a:ahLst/>
            <a:cxnLst>
              <a:cxn ang="0">
                <a:pos x="T0" y="T1"/>
              </a:cxn>
              <a:cxn ang="0">
                <a:pos x="T2" y="T3"/>
              </a:cxn>
              <a:cxn ang="0">
                <a:pos x="T4" y="T5"/>
              </a:cxn>
              <a:cxn ang="0">
                <a:pos x="T6" y="T7"/>
              </a:cxn>
              <a:cxn ang="0">
                <a:pos x="T8" y="T9"/>
              </a:cxn>
              <a:cxn ang="0">
                <a:pos x="T10" y="T11"/>
              </a:cxn>
              <a:cxn ang="0">
                <a:pos x="T12" y="T13"/>
              </a:cxn>
            </a:cxnLst>
            <a:rect l="0" t="0" r="r" b="b"/>
            <a:pathLst>
              <a:path w="32" h="23">
                <a:moveTo>
                  <a:pt x="0" y="23"/>
                </a:moveTo>
                <a:lnTo>
                  <a:pt x="0" y="16"/>
                </a:lnTo>
                <a:lnTo>
                  <a:pt x="29" y="0"/>
                </a:lnTo>
                <a:lnTo>
                  <a:pt x="32" y="5"/>
                </a:lnTo>
                <a:lnTo>
                  <a:pt x="3" y="23"/>
                </a:lnTo>
                <a:lnTo>
                  <a:pt x="3" y="16"/>
                </a:lnTo>
                <a:lnTo>
                  <a:pt x="0" y="2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28" name="Freeform 2533">
            <a:extLst>
              <a:ext uri="{FF2B5EF4-FFF2-40B4-BE49-F238E27FC236}">
                <a16:creationId xmlns:a16="http://schemas.microsoft.com/office/drawing/2014/main" id="{F39F0C54-46C3-1120-44C8-CAB9FF260BC0}"/>
              </a:ext>
            </a:extLst>
          </p:cNvPr>
          <p:cNvSpPr>
            <a:spLocks/>
          </p:cNvSpPr>
          <p:nvPr/>
        </p:nvSpPr>
        <p:spPr bwMode="auto">
          <a:xfrm>
            <a:off x="2312988" y="5959475"/>
            <a:ext cx="3175" cy="11113"/>
          </a:xfrm>
          <a:custGeom>
            <a:avLst/>
            <a:gdLst>
              <a:gd name="T0" fmla="*/ 0 w 2"/>
              <a:gd name="T1" fmla="*/ 7 h 7"/>
              <a:gd name="T2" fmla="*/ 2 w 2"/>
              <a:gd name="T3" fmla="*/ 3 h 7"/>
              <a:gd name="T4" fmla="*/ 0 w 2"/>
              <a:gd name="T5" fmla="*/ 0 h 7"/>
              <a:gd name="T6" fmla="*/ 0 w 2"/>
              <a:gd name="T7" fmla="*/ 7 h 7"/>
            </a:gdLst>
            <a:ahLst/>
            <a:cxnLst>
              <a:cxn ang="0">
                <a:pos x="T0" y="T1"/>
              </a:cxn>
              <a:cxn ang="0">
                <a:pos x="T2" y="T3"/>
              </a:cxn>
              <a:cxn ang="0">
                <a:pos x="T4" y="T5"/>
              </a:cxn>
              <a:cxn ang="0">
                <a:pos x="T6" y="T7"/>
              </a:cxn>
            </a:cxnLst>
            <a:rect l="0" t="0" r="r" b="b"/>
            <a:pathLst>
              <a:path w="2" h="7">
                <a:moveTo>
                  <a:pt x="0" y="7"/>
                </a:moveTo>
                <a:lnTo>
                  <a:pt x="2" y="3"/>
                </a:lnTo>
                <a:lnTo>
                  <a:pt x="0" y="0"/>
                </a:lnTo>
                <a:lnTo>
                  <a:pt x="0" y="7"/>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29" name="Freeform 2534">
            <a:extLst>
              <a:ext uri="{FF2B5EF4-FFF2-40B4-BE49-F238E27FC236}">
                <a16:creationId xmlns:a16="http://schemas.microsoft.com/office/drawing/2014/main" id="{57ED7729-4836-8476-D2C9-CB116A0AE2F0}"/>
              </a:ext>
            </a:extLst>
          </p:cNvPr>
          <p:cNvSpPr>
            <a:spLocks/>
          </p:cNvSpPr>
          <p:nvPr/>
        </p:nvSpPr>
        <p:spPr bwMode="auto">
          <a:xfrm>
            <a:off x="2312988" y="5959475"/>
            <a:ext cx="50800" cy="39688"/>
          </a:xfrm>
          <a:custGeom>
            <a:avLst/>
            <a:gdLst>
              <a:gd name="T0" fmla="*/ 30 w 32"/>
              <a:gd name="T1" fmla="*/ 22 h 25"/>
              <a:gd name="T2" fmla="*/ 29 w 32"/>
              <a:gd name="T3" fmla="*/ 25 h 25"/>
              <a:gd name="T4" fmla="*/ 0 w 32"/>
              <a:gd name="T5" fmla="*/ 7 h 25"/>
              <a:gd name="T6" fmla="*/ 3 w 32"/>
              <a:gd name="T7" fmla="*/ 0 h 25"/>
              <a:gd name="T8" fmla="*/ 32 w 32"/>
              <a:gd name="T9" fmla="*/ 18 h 25"/>
              <a:gd name="T10" fmla="*/ 30 w 32"/>
              <a:gd name="T11" fmla="*/ 22 h 25"/>
            </a:gdLst>
            <a:ahLst/>
            <a:cxnLst>
              <a:cxn ang="0">
                <a:pos x="T0" y="T1"/>
              </a:cxn>
              <a:cxn ang="0">
                <a:pos x="T2" y="T3"/>
              </a:cxn>
              <a:cxn ang="0">
                <a:pos x="T4" y="T5"/>
              </a:cxn>
              <a:cxn ang="0">
                <a:pos x="T6" y="T7"/>
              </a:cxn>
              <a:cxn ang="0">
                <a:pos x="T8" y="T9"/>
              </a:cxn>
              <a:cxn ang="0">
                <a:pos x="T10" y="T11"/>
              </a:cxn>
            </a:cxnLst>
            <a:rect l="0" t="0" r="r" b="b"/>
            <a:pathLst>
              <a:path w="32" h="25">
                <a:moveTo>
                  <a:pt x="30" y="22"/>
                </a:moveTo>
                <a:lnTo>
                  <a:pt x="29" y="25"/>
                </a:lnTo>
                <a:lnTo>
                  <a:pt x="0" y="7"/>
                </a:lnTo>
                <a:lnTo>
                  <a:pt x="3" y="0"/>
                </a:lnTo>
                <a:lnTo>
                  <a:pt x="32" y="18"/>
                </a:lnTo>
                <a:lnTo>
                  <a:pt x="30" y="2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30" name="Freeform 2535">
            <a:extLst>
              <a:ext uri="{FF2B5EF4-FFF2-40B4-BE49-F238E27FC236}">
                <a16:creationId xmlns:a16="http://schemas.microsoft.com/office/drawing/2014/main" id="{DBA31665-1054-BD5E-8337-89BAA5FCDA8E}"/>
              </a:ext>
            </a:extLst>
          </p:cNvPr>
          <p:cNvSpPr>
            <a:spLocks/>
          </p:cNvSpPr>
          <p:nvPr/>
        </p:nvSpPr>
        <p:spPr bwMode="auto">
          <a:xfrm>
            <a:off x="2324100" y="5962650"/>
            <a:ext cx="288925" cy="7938"/>
          </a:xfrm>
          <a:custGeom>
            <a:avLst/>
            <a:gdLst>
              <a:gd name="T0" fmla="*/ 182 w 182"/>
              <a:gd name="T1" fmla="*/ 1 h 5"/>
              <a:gd name="T2" fmla="*/ 182 w 182"/>
              <a:gd name="T3" fmla="*/ 0 h 5"/>
              <a:gd name="T4" fmla="*/ 0 w 182"/>
              <a:gd name="T5" fmla="*/ 0 h 5"/>
              <a:gd name="T6" fmla="*/ 0 w 182"/>
              <a:gd name="T7" fmla="*/ 5 h 5"/>
              <a:gd name="T8" fmla="*/ 182 w 182"/>
              <a:gd name="T9" fmla="*/ 5 h 5"/>
              <a:gd name="T10" fmla="*/ 182 w 182"/>
              <a:gd name="T11" fmla="*/ 1 h 5"/>
            </a:gdLst>
            <a:ahLst/>
            <a:cxnLst>
              <a:cxn ang="0">
                <a:pos x="T0" y="T1"/>
              </a:cxn>
              <a:cxn ang="0">
                <a:pos x="T2" y="T3"/>
              </a:cxn>
              <a:cxn ang="0">
                <a:pos x="T4" y="T5"/>
              </a:cxn>
              <a:cxn ang="0">
                <a:pos x="T6" y="T7"/>
              </a:cxn>
              <a:cxn ang="0">
                <a:pos x="T8" y="T9"/>
              </a:cxn>
              <a:cxn ang="0">
                <a:pos x="T10" y="T11"/>
              </a:cxn>
            </a:cxnLst>
            <a:rect l="0" t="0" r="r" b="b"/>
            <a:pathLst>
              <a:path w="182" h="5">
                <a:moveTo>
                  <a:pt x="182" y="1"/>
                </a:moveTo>
                <a:lnTo>
                  <a:pt x="182" y="0"/>
                </a:lnTo>
                <a:lnTo>
                  <a:pt x="0" y="0"/>
                </a:lnTo>
                <a:lnTo>
                  <a:pt x="0" y="5"/>
                </a:lnTo>
                <a:lnTo>
                  <a:pt x="182" y="5"/>
                </a:lnTo>
                <a:lnTo>
                  <a:pt x="182" y="1"/>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31" name="Freeform 2536">
            <a:extLst>
              <a:ext uri="{FF2B5EF4-FFF2-40B4-BE49-F238E27FC236}">
                <a16:creationId xmlns:a16="http://schemas.microsoft.com/office/drawing/2014/main" id="{B0AA107B-D987-0B74-79C3-0657B2DB3701}"/>
              </a:ext>
            </a:extLst>
          </p:cNvPr>
          <p:cNvSpPr>
            <a:spLocks/>
          </p:cNvSpPr>
          <p:nvPr/>
        </p:nvSpPr>
        <p:spPr bwMode="auto">
          <a:xfrm>
            <a:off x="2573338" y="5934075"/>
            <a:ext cx="50800" cy="36513"/>
          </a:xfrm>
          <a:custGeom>
            <a:avLst/>
            <a:gdLst>
              <a:gd name="T0" fmla="*/ 32 w 32"/>
              <a:gd name="T1" fmla="*/ 23 h 23"/>
              <a:gd name="T2" fmla="*/ 32 w 32"/>
              <a:gd name="T3" fmla="*/ 16 h 23"/>
              <a:gd name="T4" fmla="*/ 3 w 32"/>
              <a:gd name="T5" fmla="*/ 0 h 23"/>
              <a:gd name="T6" fmla="*/ 0 w 32"/>
              <a:gd name="T7" fmla="*/ 5 h 23"/>
              <a:gd name="T8" fmla="*/ 28 w 32"/>
              <a:gd name="T9" fmla="*/ 23 h 23"/>
              <a:gd name="T10" fmla="*/ 28 w 32"/>
              <a:gd name="T11" fmla="*/ 16 h 23"/>
              <a:gd name="T12" fmla="*/ 32 w 32"/>
              <a:gd name="T13" fmla="*/ 23 h 23"/>
            </a:gdLst>
            <a:ahLst/>
            <a:cxnLst>
              <a:cxn ang="0">
                <a:pos x="T0" y="T1"/>
              </a:cxn>
              <a:cxn ang="0">
                <a:pos x="T2" y="T3"/>
              </a:cxn>
              <a:cxn ang="0">
                <a:pos x="T4" y="T5"/>
              </a:cxn>
              <a:cxn ang="0">
                <a:pos x="T6" y="T7"/>
              </a:cxn>
              <a:cxn ang="0">
                <a:pos x="T8" y="T9"/>
              </a:cxn>
              <a:cxn ang="0">
                <a:pos x="T10" y="T11"/>
              </a:cxn>
              <a:cxn ang="0">
                <a:pos x="T12" y="T13"/>
              </a:cxn>
            </a:cxnLst>
            <a:rect l="0" t="0" r="r" b="b"/>
            <a:pathLst>
              <a:path w="32" h="23">
                <a:moveTo>
                  <a:pt x="32" y="23"/>
                </a:moveTo>
                <a:lnTo>
                  <a:pt x="32" y="16"/>
                </a:lnTo>
                <a:lnTo>
                  <a:pt x="3" y="0"/>
                </a:lnTo>
                <a:lnTo>
                  <a:pt x="0" y="5"/>
                </a:lnTo>
                <a:lnTo>
                  <a:pt x="28" y="23"/>
                </a:lnTo>
                <a:lnTo>
                  <a:pt x="28" y="16"/>
                </a:lnTo>
                <a:lnTo>
                  <a:pt x="32" y="23"/>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32" name="Freeform 2537">
            <a:extLst>
              <a:ext uri="{FF2B5EF4-FFF2-40B4-BE49-F238E27FC236}">
                <a16:creationId xmlns:a16="http://schemas.microsoft.com/office/drawing/2014/main" id="{5C33B4D5-4B3D-11E7-8DDA-8F4728C2A31E}"/>
              </a:ext>
            </a:extLst>
          </p:cNvPr>
          <p:cNvSpPr>
            <a:spLocks/>
          </p:cNvSpPr>
          <p:nvPr/>
        </p:nvSpPr>
        <p:spPr bwMode="auto">
          <a:xfrm>
            <a:off x="2620963" y="5959475"/>
            <a:ext cx="3175" cy="11113"/>
          </a:xfrm>
          <a:custGeom>
            <a:avLst/>
            <a:gdLst>
              <a:gd name="T0" fmla="*/ 2 w 2"/>
              <a:gd name="T1" fmla="*/ 7 h 7"/>
              <a:gd name="T2" fmla="*/ 0 w 2"/>
              <a:gd name="T3" fmla="*/ 3 h 7"/>
              <a:gd name="T4" fmla="*/ 2 w 2"/>
              <a:gd name="T5" fmla="*/ 0 h 7"/>
              <a:gd name="T6" fmla="*/ 2 w 2"/>
              <a:gd name="T7" fmla="*/ 7 h 7"/>
            </a:gdLst>
            <a:ahLst/>
            <a:cxnLst>
              <a:cxn ang="0">
                <a:pos x="T0" y="T1"/>
              </a:cxn>
              <a:cxn ang="0">
                <a:pos x="T2" y="T3"/>
              </a:cxn>
              <a:cxn ang="0">
                <a:pos x="T4" y="T5"/>
              </a:cxn>
              <a:cxn ang="0">
                <a:pos x="T6" y="T7"/>
              </a:cxn>
            </a:cxnLst>
            <a:rect l="0" t="0" r="r" b="b"/>
            <a:pathLst>
              <a:path w="2" h="7">
                <a:moveTo>
                  <a:pt x="2" y="7"/>
                </a:moveTo>
                <a:lnTo>
                  <a:pt x="0" y="3"/>
                </a:lnTo>
                <a:lnTo>
                  <a:pt x="2" y="0"/>
                </a:lnTo>
                <a:lnTo>
                  <a:pt x="2" y="7"/>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33" name="Freeform 2538">
            <a:extLst>
              <a:ext uri="{FF2B5EF4-FFF2-40B4-BE49-F238E27FC236}">
                <a16:creationId xmlns:a16="http://schemas.microsoft.com/office/drawing/2014/main" id="{A15D025C-8C63-E881-6AE3-4F8B621C004A}"/>
              </a:ext>
            </a:extLst>
          </p:cNvPr>
          <p:cNvSpPr>
            <a:spLocks/>
          </p:cNvSpPr>
          <p:nvPr/>
        </p:nvSpPr>
        <p:spPr bwMode="auto">
          <a:xfrm>
            <a:off x="2573338" y="5959475"/>
            <a:ext cx="50800" cy="39688"/>
          </a:xfrm>
          <a:custGeom>
            <a:avLst/>
            <a:gdLst>
              <a:gd name="T0" fmla="*/ 2 w 32"/>
              <a:gd name="T1" fmla="*/ 22 h 25"/>
              <a:gd name="T2" fmla="*/ 3 w 32"/>
              <a:gd name="T3" fmla="*/ 25 h 25"/>
              <a:gd name="T4" fmla="*/ 32 w 32"/>
              <a:gd name="T5" fmla="*/ 7 h 25"/>
              <a:gd name="T6" fmla="*/ 28 w 32"/>
              <a:gd name="T7" fmla="*/ 0 h 25"/>
              <a:gd name="T8" fmla="*/ 0 w 32"/>
              <a:gd name="T9" fmla="*/ 18 h 25"/>
              <a:gd name="T10" fmla="*/ 2 w 32"/>
              <a:gd name="T11" fmla="*/ 22 h 25"/>
            </a:gdLst>
            <a:ahLst/>
            <a:cxnLst>
              <a:cxn ang="0">
                <a:pos x="T0" y="T1"/>
              </a:cxn>
              <a:cxn ang="0">
                <a:pos x="T2" y="T3"/>
              </a:cxn>
              <a:cxn ang="0">
                <a:pos x="T4" y="T5"/>
              </a:cxn>
              <a:cxn ang="0">
                <a:pos x="T6" y="T7"/>
              </a:cxn>
              <a:cxn ang="0">
                <a:pos x="T8" y="T9"/>
              </a:cxn>
              <a:cxn ang="0">
                <a:pos x="T10" y="T11"/>
              </a:cxn>
            </a:cxnLst>
            <a:rect l="0" t="0" r="r" b="b"/>
            <a:pathLst>
              <a:path w="32" h="25">
                <a:moveTo>
                  <a:pt x="2" y="22"/>
                </a:moveTo>
                <a:lnTo>
                  <a:pt x="3" y="25"/>
                </a:lnTo>
                <a:lnTo>
                  <a:pt x="32" y="7"/>
                </a:lnTo>
                <a:lnTo>
                  <a:pt x="28" y="0"/>
                </a:lnTo>
                <a:lnTo>
                  <a:pt x="0" y="18"/>
                </a:lnTo>
                <a:lnTo>
                  <a:pt x="2" y="22"/>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34" name="Rectangle 2539">
            <a:extLst>
              <a:ext uri="{FF2B5EF4-FFF2-40B4-BE49-F238E27FC236}">
                <a16:creationId xmlns:a16="http://schemas.microsoft.com/office/drawing/2014/main" id="{594A23EB-251F-ED4C-B299-1DBAF5E6BE07}"/>
              </a:ext>
            </a:extLst>
          </p:cNvPr>
          <p:cNvSpPr>
            <a:spLocks noChangeArrowheads="1"/>
          </p:cNvSpPr>
          <p:nvPr/>
        </p:nvSpPr>
        <p:spPr bwMode="auto">
          <a:xfrm>
            <a:off x="2359025" y="6051550"/>
            <a:ext cx="219075" cy="3175"/>
          </a:xfrm>
          <a:prstGeom prst="rect">
            <a:avLst/>
          </a:prstGeom>
          <a:solidFill>
            <a:srgbClr val="96AEB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35" name="Rectangle 2540">
            <a:extLst>
              <a:ext uri="{FF2B5EF4-FFF2-40B4-BE49-F238E27FC236}">
                <a16:creationId xmlns:a16="http://schemas.microsoft.com/office/drawing/2014/main" id="{CE6C6B22-3050-1EDC-04B9-B37A3C2A5953}"/>
              </a:ext>
            </a:extLst>
          </p:cNvPr>
          <p:cNvSpPr>
            <a:spLocks noChangeArrowheads="1"/>
          </p:cNvSpPr>
          <p:nvPr/>
        </p:nvSpPr>
        <p:spPr bwMode="auto">
          <a:xfrm>
            <a:off x="2359025" y="6051550"/>
            <a:ext cx="219075" cy="4763"/>
          </a:xfrm>
          <a:prstGeom prst="rect">
            <a:avLst/>
          </a:prstGeom>
          <a:solidFill>
            <a:srgbClr val="96AEB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36" name="Rectangle 2541">
            <a:extLst>
              <a:ext uri="{FF2B5EF4-FFF2-40B4-BE49-F238E27FC236}">
                <a16:creationId xmlns:a16="http://schemas.microsoft.com/office/drawing/2014/main" id="{A9E67957-0447-CD1C-A8B8-ECF75B4477DE}"/>
              </a:ext>
            </a:extLst>
          </p:cNvPr>
          <p:cNvSpPr>
            <a:spLocks noChangeArrowheads="1"/>
          </p:cNvSpPr>
          <p:nvPr/>
        </p:nvSpPr>
        <p:spPr bwMode="auto">
          <a:xfrm>
            <a:off x="2359025" y="6054725"/>
            <a:ext cx="219075" cy="4763"/>
          </a:xfrm>
          <a:prstGeom prst="rect">
            <a:avLst/>
          </a:prstGeom>
          <a:solidFill>
            <a:srgbClr val="9AB1C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37" name="Rectangle 2542">
            <a:extLst>
              <a:ext uri="{FF2B5EF4-FFF2-40B4-BE49-F238E27FC236}">
                <a16:creationId xmlns:a16="http://schemas.microsoft.com/office/drawing/2014/main" id="{D4B9B76E-B11F-956C-0187-3ED6A4493AB7}"/>
              </a:ext>
            </a:extLst>
          </p:cNvPr>
          <p:cNvSpPr>
            <a:spLocks noChangeArrowheads="1"/>
          </p:cNvSpPr>
          <p:nvPr/>
        </p:nvSpPr>
        <p:spPr bwMode="auto">
          <a:xfrm>
            <a:off x="2359025" y="6056313"/>
            <a:ext cx="219075" cy="6350"/>
          </a:xfrm>
          <a:prstGeom prst="rect">
            <a:avLst/>
          </a:prstGeom>
          <a:solidFill>
            <a:srgbClr val="A1B7C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38" name="Rectangle 2543">
            <a:extLst>
              <a:ext uri="{FF2B5EF4-FFF2-40B4-BE49-F238E27FC236}">
                <a16:creationId xmlns:a16="http://schemas.microsoft.com/office/drawing/2014/main" id="{7283ACD7-051E-79A8-0002-E858C08524C4}"/>
              </a:ext>
            </a:extLst>
          </p:cNvPr>
          <p:cNvSpPr>
            <a:spLocks noChangeArrowheads="1"/>
          </p:cNvSpPr>
          <p:nvPr/>
        </p:nvSpPr>
        <p:spPr bwMode="auto">
          <a:xfrm>
            <a:off x="2359025" y="6059488"/>
            <a:ext cx="219075" cy="4763"/>
          </a:xfrm>
          <a:prstGeom prst="rect">
            <a:avLst/>
          </a:prstGeom>
          <a:solidFill>
            <a:srgbClr val="A8BDCB"/>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39" name="Rectangle 2544">
            <a:extLst>
              <a:ext uri="{FF2B5EF4-FFF2-40B4-BE49-F238E27FC236}">
                <a16:creationId xmlns:a16="http://schemas.microsoft.com/office/drawing/2014/main" id="{A829F5E8-BA84-1B64-4F76-F15942EC6E3B}"/>
              </a:ext>
            </a:extLst>
          </p:cNvPr>
          <p:cNvSpPr>
            <a:spLocks noChangeArrowheads="1"/>
          </p:cNvSpPr>
          <p:nvPr/>
        </p:nvSpPr>
        <p:spPr bwMode="auto">
          <a:xfrm>
            <a:off x="2359025" y="6062663"/>
            <a:ext cx="219075" cy="4763"/>
          </a:xfrm>
          <a:prstGeom prst="rect">
            <a:avLst/>
          </a:prstGeom>
          <a:solidFill>
            <a:srgbClr val="B2C4D2"/>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40" name="Rectangle 2545">
            <a:extLst>
              <a:ext uri="{FF2B5EF4-FFF2-40B4-BE49-F238E27FC236}">
                <a16:creationId xmlns:a16="http://schemas.microsoft.com/office/drawing/2014/main" id="{3B55FDBD-442B-8469-2E2B-C3528D808CB6}"/>
              </a:ext>
            </a:extLst>
          </p:cNvPr>
          <p:cNvSpPr>
            <a:spLocks noChangeArrowheads="1"/>
          </p:cNvSpPr>
          <p:nvPr/>
        </p:nvSpPr>
        <p:spPr bwMode="auto">
          <a:xfrm>
            <a:off x="2359025" y="6064250"/>
            <a:ext cx="219075" cy="6350"/>
          </a:xfrm>
          <a:prstGeom prst="rect">
            <a:avLst/>
          </a:prstGeom>
          <a:solidFill>
            <a:srgbClr val="BECDD8"/>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41" name="Rectangle 2546">
            <a:extLst>
              <a:ext uri="{FF2B5EF4-FFF2-40B4-BE49-F238E27FC236}">
                <a16:creationId xmlns:a16="http://schemas.microsoft.com/office/drawing/2014/main" id="{096943FD-A2D0-8328-00AE-6B9EA79F116F}"/>
              </a:ext>
            </a:extLst>
          </p:cNvPr>
          <p:cNvSpPr>
            <a:spLocks noChangeArrowheads="1"/>
          </p:cNvSpPr>
          <p:nvPr/>
        </p:nvSpPr>
        <p:spPr bwMode="auto">
          <a:xfrm>
            <a:off x="2359025" y="6067425"/>
            <a:ext cx="219075" cy="4763"/>
          </a:xfrm>
          <a:prstGeom prst="rect">
            <a:avLst/>
          </a:prstGeom>
          <a:solidFill>
            <a:srgbClr val="C3D1DB"/>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42" name="Rectangle 2547">
            <a:extLst>
              <a:ext uri="{FF2B5EF4-FFF2-40B4-BE49-F238E27FC236}">
                <a16:creationId xmlns:a16="http://schemas.microsoft.com/office/drawing/2014/main" id="{A5B20148-9770-96BC-B372-DC36A88083FD}"/>
              </a:ext>
            </a:extLst>
          </p:cNvPr>
          <p:cNvSpPr>
            <a:spLocks noChangeArrowheads="1"/>
          </p:cNvSpPr>
          <p:nvPr/>
        </p:nvSpPr>
        <p:spPr bwMode="auto">
          <a:xfrm>
            <a:off x="2359025" y="6070600"/>
            <a:ext cx="219075" cy="4763"/>
          </a:xfrm>
          <a:prstGeom prst="rect">
            <a:avLst/>
          </a:prstGeom>
          <a:solidFill>
            <a:srgbClr val="D0DCE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43" name="Rectangle 2548">
            <a:extLst>
              <a:ext uri="{FF2B5EF4-FFF2-40B4-BE49-F238E27FC236}">
                <a16:creationId xmlns:a16="http://schemas.microsoft.com/office/drawing/2014/main" id="{E94B5022-9DC5-9C53-4292-8222B7BF9DAA}"/>
              </a:ext>
            </a:extLst>
          </p:cNvPr>
          <p:cNvSpPr>
            <a:spLocks noChangeArrowheads="1"/>
          </p:cNvSpPr>
          <p:nvPr/>
        </p:nvSpPr>
        <p:spPr bwMode="auto">
          <a:xfrm>
            <a:off x="2359025" y="6072188"/>
            <a:ext cx="219075" cy="6350"/>
          </a:xfrm>
          <a:prstGeom prst="rect">
            <a:avLst/>
          </a:prstGeom>
          <a:solidFill>
            <a:srgbClr val="DCE4EA"/>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44" name="Rectangle 2549">
            <a:extLst>
              <a:ext uri="{FF2B5EF4-FFF2-40B4-BE49-F238E27FC236}">
                <a16:creationId xmlns:a16="http://schemas.microsoft.com/office/drawing/2014/main" id="{5ED85101-3776-4B23-499B-1A89AD7B97CC}"/>
              </a:ext>
            </a:extLst>
          </p:cNvPr>
          <p:cNvSpPr>
            <a:spLocks noChangeArrowheads="1"/>
          </p:cNvSpPr>
          <p:nvPr/>
        </p:nvSpPr>
        <p:spPr bwMode="auto">
          <a:xfrm>
            <a:off x="2359025" y="6075363"/>
            <a:ext cx="219075" cy="4763"/>
          </a:xfrm>
          <a:prstGeom prst="rect">
            <a:avLst/>
          </a:prstGeom>
          <a:solidFill>
            <a:srgbClr val="E8EDF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45" name="Rectangle 2550">
            <a:extLst>
              <a:ext uri="{FF2B5EF4-FFF2-40B4-BE49-F238E27FC236}">
                <a16:creationId xmlns:a16="http://schemas.microsoft.com/office/drawing/2014/main" id="{5608D31A-018F-33C1-3FE9-EF162D6418EE}"/>
              </a:ext>
            </a:extLst>
          </p:cNvPr>
          <p:cNvSpPr>
            <a:spLocks noChangeArrowheads="1"/>
          </p:cNvSpPr>
          <p:nvPr/>
        </p:nvSpPr>
        <p:spPr bwMode="auto">
          <a:xfrm>
            <a:off x="2359025" y="6078538"/>
            <a:ext cx="219075" cy="4763"/>
          </a:xfrm>
          <a:prstGeom prst="rect">
            <a:avLst/>
          </a:prstGeom>
          <a:solidFill>
            <a:srgbClr val="F3F6F8"/>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46" name="Rectangle 2551">
            <a:extLst>
              <a:ext uri="{FF2B5EF4-FFF2-40B4-BE49-F238E27FC236}">
                <a16:creationId xmlns:a16="http://schemas.microsoft.com/office/drawing/2014/main" id="{02697562-C661-95D0-41B1-0580F1824D30}"/>
              </a:ext>
            </a:extLst>
          </p:cNvPr>
          <p:cNvSpPr>
            <a:spLocks noChangeArrowheads="1"/>
          </p:cNvSpPr>
          <p:nvPr/>
        </p:nvSpPr>
        <p:spPr bwMode="auto">
          <a:xfrm>
            <a:off x="2359025" y="6080125"/>
            <a:ext cx="219075" cy="3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47" name="Rectangle 2552">
            <a:extLst>
              <a:ext uri="{FF2B5EF4-FFF2-40B4-BE49-F238E27FC236}">
                <a16:creationId xmlns:a16="http://schemas.microsoft.com/office/drawing/2014/main" id="{75F9793D-4ED7-22CF-9A8C-1F56690884E4}"/>
              </a:ext>
            </a:extLst>
          </p:cNvPr>
          <p:cNvSpPr>
            <a:spLocks noChangeArrowheads="1"/>
          </p:cNvSpPr>
          <p:nvPr/>
        </p:nvSpPr>
        <p:spPr bwMode="auto">
          <a:xfrm>
            <a:off x="2359025" y="6083300"/>
            <a:ext cx="219075" cy="15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48" name="Rectangle 2553">
            <a:extLst>
              <a:ext uri="{FF2B5EF4-FFF2-40B4-BE49-F238E27FC236}">
                <a16:creationId xmlns:a16="http://schemas.microsoft.com/office/drawing/2014/main" id="{F439DAE3-9EF1-76E8-B190-250363C8AE02}"/>
              </a:ext>
            </a:extLst>
          </p:cNvPr>
          <p:cNvSpPr>
            <a:spLocks noChangeArrowheads="1"/>
          </p:cNvSpPr>
          <p:nvPr/>
        </p:nvSpPr>
        <p:spPr bwMode="auto">
          <a:xfrm>
            <a:off x="2359025" y="6051550"/>
            <a:ext cx="219075" cy="31750"/>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49" name="Rectangle 2554">
            <a:extLst>
              <a:ext uri="{FF2B5EF4-FFF2-40B4-BE49-F238E27FC236}">
                <a16:creationId xmlns:a16="http://schemas.microsoft.com/office/drawing/2014/main" id="{B3F18D33-8FA9-CA6C-FD80-0E43990271F5}"/>
              </a:ext>
            </a:extLst>
          </p:cNvPr>
          <p:cNvSpPr>
            <a:spLocks noChangeArrowheads="1"/>
          </p:cNvSpPr>
          <p:nvPr/>
        </p:nvSpPr>
        <p:spPr bwMode="auto">
          <a:xfrm>
            <a:off x="2311400" y="6162675"/>
            <a:ext cx="314325" cy="49213"/>
          </a:xfrm>
          <a:prstGeom prst="rect">
            <a:avLst/>
          </a:prstGeom>
          <a:solidFill>
            <a:srgbClr val="EF9C9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50" name="Rectangle 2555">
            <a:extLst>
              <a:ext uri="{FF2B5EF4-FFF2-40B4-BE49-F238E27FC236}">
                <a16:creationId xmlns:a16="http://schemas.microsoft.com/office/drawing/2014/main" id="{6C697001-8E0E-86E8-FA2E-22E54C7E725E}"/>
              </a:ext>
            </a:extLst>
          </p:cNvPr>
          <p:cNvSpPr>
            <a:spLocks noChangeArrowheads="1"/>
          </p:cNvSpPr>
          <p:nvPr/>
        </p:nvSpPr>
        <p:spPr bwMode="auto">
          <a:xfrm>
            <a:off x="2311400" y="6162675"/>
            <a:ext cx="314325" cy="49213"/>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51" name="Rectangle 2556">
            <a:extLst>
              <a:ext uri="{FF2B5EF4-FFF2-40B4-BE49-F238E27FC236}">
                <a16:creationId xmlns:a16="http://schemas.microsoft.com/office/drawing/2014/main" id="{76E7DB88-A7D5-D6FF-D952-254671600DBC}"/>
              </a:ext>
            </a:extLst>
          </p:cNvPr>
          <p:cNvSpPr>
            <a:spLocks noChangeArrowheads="1"/>
          </p:cNvSpPr>
          <p:nvPr/>
        </p:nvSpPr>
        <p:spPr bwMode="auto">
          <a:xfrm>
            <a:off x="2228850" y="4495800"/>
            <a:ext cx="468313" cy="1668463"/>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52" name="Freeform 2557">
            <a:extLst>
              <a:ext uri="{FF2B5EF4-FFF2-40B4-BE49-F238E27FC236}">
                <a16:creationId xmlns:a16="http://schemas.microsoft.com/office/drawing/2014/main" id="{BE168548-63BF-CE12-9E95-25808769E425}"/>
              </a:ext>
            </a:extLst>
          </p:cNvPr>
          <p:cNvSpPr>
            <a:spLocks/>
          </p:cNvSpPr>
          <p:nvPr/>
        </p:nvSpPr>
        <p:spPr bwMode="auto">
          <a:xfrm>
            <a:off x="2416175" y="5321300"/>
            <a:ext cx="107950" cy="725488"/>
          </a:xfrm>
          <a:custGeom>
            <a:avLst/>
            <a:gdLst>
              <a:gd name="T0" fmla="*/ 36 w 68"/>
              <a:gd name="T1" fmla="*/ 0 h 457"/>
              <a:gd name="T2" fmla="*/ 0 w 68"/>
              <a:gd name="T3" fmla="*/ 405 h 457"/>
              <a:gd name="T4" fmla="*/ 33 w 68"/>
              <a:gd name="T5" fmla="*/ 457 h 457"/>
              <a:gd name="T6" fmla="*/ 68 w 68"/>
              <a:gd name="T7" fmla="*/ 405 h 457"/>
              <a:gd name="T8" fmla="*/ 36 w 68"/>
              <a:gd name="T9" fmla="*/ 0 h 457"/>
            </a:gdLst>
            <a:ahLst/>
            <a:cxnLst>
              <a:cxn ang="0">
                <a:pos x="T0" y="T1"/>
              </a:cxn>
              <a:cxn ang="0">
                <a:pos x="T2" y="T3"/>
              </a:cxn>
              <a:cxn ang="0">
                <a:pos x="T4" y="T5"/>
              </a:cxn>
              <a:cxn ang="0">
                <a:pos x="T6" y="T7"/>
              </a:cxn>
              <a:cxn ang="0">
                <a:pos x="T8" y="T9"/>
              </a:cxn>
            </a:cxnLst>
            <a:rect l="0" t="0" r="r" b="b"/>
            <a:pathLst>
              <a:path w="68" h="457">
                <a:moveTo>
                  <a:pt x="36" y="0"/>
                </a:moveTo>
                <a:lnTo>
                  <a:pt x="0" y="405"/>
                </a:lnTo>
                <a:lnTo>
                  <a:pt x="33" y="457"/>
                </a:lnTo>
                <a:lnTo>
                  <a:pt x="68" y="405"/>
                </a:lnTo>
                <a:lnTo>
                  <a:pt x="36" y="0"/>
                </a:lnTo>
                <a:close/>
              </a:path>
            </a:pathLst>
          </a:custGeom>
          <a:solidFill>
            <a:srgbClr val="F4F18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53" name="Freeform 2558">
            <a:extLst>
              <a:ext uri="{FF2B5EF4-FFF2-40B4-BE49-F238E27FC236}">
                <a16:creationId xmlns:a16="http://schemas.microsoft.com/office/drawing/2014/main" id="{F7C80DF4-7585-145F-49F7-C4D49C224410}"/>
              </a:ext>
            </a:extLst>
          </p:cNvPr>
          <p:cNvSpPr>
            <a:spLocks/>
          </p:cNvSpPr>
          <p:nvPr/>
        </p:nvSpPr>
        <p:spPr bwMode="auto">
          <a:xfrm>
            <a:off x="2416175" y="5962650"/>
            <a:ext cx="107950" cy="7938"/>
          </a:xfrm>
          <a:custGeom>
            <a:avLst/>
            <a:gdLst>
              <a:gd name="T0" fmla="*/ 68 w 68"/>
              <a:gd name="T1" fmla="*/ 0 h 5"/>
              <a:gd name="T2" fmla="*/ 0 w 68"/>
              <a:gd name="T3" fmla="*/ 0 h 5"/>
              <a:gd name="T4" fmla="*/ 0 w 68"/>
              <a:gd name="T5" fmla="*/ 1 h 5"/>
              <a:gd name="T6" fmla="*/ 1 w 68"/>
              <a:gd name="T7" fmla="*/ 5 h 5"/>
              <a:gd name="T8" fmla="*/ 66 w 68"/>
              <a:gd name="T9" fmla="*/ 5 h 5"/>
              <a:gd name="T10" fmla="*/ 68 w 68"/>
              <a:gd name="T11" fmla="*/ 1 h 5"/>
              <a:gd name="T12" fmla="*/ 68 w 68"/>
              <a:gd name="T13" fmla="*/ 0 h 5"/>
            </a:gdLst>
            <a:ahLst/>
            <a:cxnLst>
              <a:cxn ang="0">
                <a:pos x="T0" y="T1"/>
              </a:cxn>
              <a:cxn ang="0">
                <a:pos x="T2" y="T3"/>
              </a:cxn>
              <a:cxn ang="0">
                <a:pos x="T4" y="T5"/>
              </a:cxn>
              <a:cxn ang="0">
                <a:pos x="T6" y="T7"/>
              </a:cxn>
              <a:cxn ang="0">
                <a:pos x="T8" y="T9"/>
              </a:cxn>
              <a:cxn ang="0">
                <a:pos x="T10" y="T11"/>
              </a:cxn>
              <a:cxn ang="0">
                <a:pos x="T12" y="T13"/>
              </a:cxn>
            </a:cxnLst>
            <a:rect l="0" t="0" r="r" b="b"/>
            <a:pathLst>
              <a:path w="68" h="5">
                <a:moveTo>
                  <a:pt x="68" y="0"/>
                </a:moveTo>
                <a:lnTo>
                  <a:pt x="0" y="0"/>
                </a:lnTo>
                <a:lnTo>
                  <a:pt x="0" y="1"/>
                </a:lnTo>
                <a:lnTo>
                  <a:pt x="1" y="5"/>
                </a:lnTo>
                <a:lnTo>
                  <a:pt x="66" y="5"/>
                </a:lnTo>
                <a:lnTo>
                  <a:pt x="68" y="1"/>
                </a:lnTo>
                <a:lnTo>
                  <a:pt x="68" y="0"/>
                </a:lnTo>
                <a:close/>
              </a:path>
            </a:pathLst>
          </a:custGeom>
          <a:solidFill>
            <a:srgbClr val="817F5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54" name="Freeform 2559">
            <a:extLst>
              <a:ext uri="{FF2B5EF4-FFF2-40B4-BE49-F238E27FC236}">
                <a16:creationId xmlns:a16="http://schemas.microsoft.com/office/drawing/2014/main" id="{11DFCA0C-1589-F151-5496-33AB38FC8EE7}"/>
              </a:ext>
            </a:extLst>
          </p:cNvPr>
          <p:cNvSpPr>
            <a:spLocks/>
          </p:cNvSpPr>
          <p:nvPr/>
        </p:nvSpPr>
        <p:spPr bwMode="auto">
          <a:xfrm>
            <a:off x="2416175" y="5321300"/>
            <a:ext cx="57150" cy="642938"/>
          </a:xfrm>
          <a:custGeom>
            <a:avLst/>
            <a:gdLst>
              <a:gd name="T0" fmla="*/ 1 w 36"/>
              <a:gd name="T1" fmla="*/ 404 h 405"/>
              <a:gd name="T2" fmla="*/ 1 w 36"/>
              <a:gd name="T3" fmla="*/ 405 h 405"/>
              <a:gd name="T4" fmla="*/ 36 w 36"/>
              <a:gd name="T5" fmla="*/ 15 h 405"/>
              <a:gd name="T6" fmla="*/ 36 w 36"/>
              <a:gd name="T7" fmla="*/ 0 h 405"/>
              <a:gd name="T8" fmla="*/ 0 w 36"/>
              <a:gd name="T9" fmla="*/ 405 h 405"/>
              <a:gd name="T10" fmla="*/ 1 w 36"/>
              <a:gd name="T11" fmla="*/ 404 h 405"/>
            </a:gdLst>
            <a:ahLst/>
            <a:cxnLst>
              <a:cxn ang="0">
                <a:pos x="T0" y="T1"/>
              </a:cxn>
              <a:cxn ang="0">
                <a:pos x="T2" y="T3"/>
              </a:cxn>
              <a:cxn ang="0">
                <a:pos x="T4" y="T5"/>
              </a:cxn>
              <a:cxn ang="0">
                <a:pos x="T6" y="T7"/>
              </a:cxn>
              <a:cxn ang="0">
                <a:pos x="T8" y="T9"/>
              </a:cxn>
              <a:cxn ang="0">
                <a:pos x="T10" y="T11"/>
              </a:cxn>
            </a:cxnLst>
            <a:rect l="0" t="0" r="r" b="b"/>
            <a:pathLst>
              <a:path w="36" h="405">
                <a:moveTo>
                  <a:pt x="1" y="404"/>
                </a:moveTo>
                <a:lnTo>
                  <a:pt x="1" y="405"/>
                </a:lnTo>
                <a:lnTo>
                  <a:pt x="36" y="15"/>
                </a:lnTo>
                <a:lnTo>
                  <a:pt x="36" y="0"/>
                </a:lnTo>
                <a:lnTo>
                  <a:pt x="0" y="405"/>
                </a:lnTo>
                <a:lnTo>
                  <a:pt x="1" y="404"/>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55" name="Freeform 2560">
            <a:extLst>
              <a:ext uri="{FF2B5EF4-FFF2-40B4-BE49-F238E27FC236}">
                <a16:creationId xmlns:a16="http://schemas.microsoft.com/office/drawing/2014/main" id="{7A49FB4E-6A87-621C-B37C-7D3E2458CACC}"/>
              </a:ext>
            </a:extLst>
          </p:cNvPr>
          <p:cNvSpPr>
            <a:spLocks/>
          </p:cNvSpPr>
          <p:nvPr/>
        </p:nvSpPr>
        <p:spPr bwMode="auto">
          <a:xfrm>
            <a:off x="2416175" y="5962650"/>
            <a:ext cx="57150" cy="80963"/>
          </a:xfrm>
          <a:custGeom>
            <a:avLst/>
            <a:gdLst>
              <a:gd name="T0" fmla="*/ 33 w 36"/>
              <a:gd name="T1" fmla="*/ 51 h 51"/>
              <a:gd name="T2" fmla="*/ 36 w 36"/>
              <a:gd name="T3" fmla="*/ 51 h 51"/>
              <a:gd name="T4" fmla="*/ 36 w 36"/>
              <a:gd name="T5" fmla="*/ 49 h 51"/>
              <a:gd name="T6" fmla="*/ 1 w 36"/>
              <a:gd name="T7" fmla="*/ 0 h 51"/>
              <a:gd name="T8" fmla="*/ 0 w 36"/>
              <a:gd name="T9" fmla="*/ 1 h 51"/>
              <a:gd name="T10" fmla="*/ 33 w 36"/>
              <a:gd name="T11" fmla="*/ 51 h 51"/>
            </a:gdLst>
            <a:ahLst/>
            <a:cxnLst>
              <a:cxn ang="0">
                <a:pos x="T0" y="T1"/>
              </a:cxn>
              <a:cxn ang="0">
                <a:pos x="T2" y="T3"/>
              </a:cxn>
              <a:cxn ang="0">
                <a:pos x="T4" y="T5"/>
              </a:cxn>
              <a:cxn ang="0">
                <a:pos x="T6" y="T7"/>
              </a:cxn>
              <a:cxn ang="0">
                <a:pos x="T8" y="T9"/>
              </a:cxn>
              <a:cxn ang="0">
                <a:pos x="T10" y="T11"/>
              </a:cxn>
            </a:cxnLst>
            <a:rect l="0" t="0" r="r" b="b"/>
            <a:pathLst>
              <a:path w="36" h="51">
                <a:moveTo>
                  <a:pt x="33" y="51"/>
                </a:moveTo>
                <a:lnTo>
                  <a:pt x="36" y="51"/>
                </a:lnTo>
                <a:lnTo>
                  <a:pt x="36" y="49"/>
                </a:lnTo>
                <a:lnTo>
                  <a:pt x="1" y="0"/>
                </a:lnTo>
                <a:lnTo>
                  <a:pt x="0" y="1"/>
                </a:lnTo>
                <a:lnTo>
                  <a:pt x="33" y="51"/>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56" name="Freeform 2561">
            <a:extLst>
              <a:ext uri="{FF2B5EF4-FFF2-40B4-BE49-F238E27FC236}">
                <a16:creationId xmlns:a16="http://schemas.microsoft.com/office/drawing/2014/main" id="{87AAF523-D7E0-B0E1-E00D-93E6B814D086}"/>
              </a:ext>
            </a:extLst>
          </p:cNvPr>
          <p:cNvSpPr>
            <a:spLocks/>
          </p:cNvSpPr>
          <p:nvPr/>
        </p:nvSpPr>
        <p:spPr bwMode="auto">
          <a:xfrm>
            <a:off x="2465388" y="5962650"/>
            <a:ext cx="58738" cy="84138"/>
          </a:xfrm>
          <a:custGeom>
            <a:avLst/>
            <a:gdLst>
              <a:gd name="T0" fmla="*/ 33 w 37"/>
              <a:gd name="T1" fmla="*/ 1 h 53"/>
              <a:gd name="T2" fmla="*/ 35 w 37"/>
              <a:gd name="T3" fmla="*/ 0 h 53"/>
              <a:gd name="T4" fmla="*/ 0 w 37"/>
              <a:gd name="T5" fmla="*/ 49 h 53"/>
              <a:gd name="T6" fmla="*/ 2 w 37"/>
              <a:gd name="T7" fmla="*/ 53 h 53"/>
              <a:gd name="T8" fmla="*/ 37 w 37"/>
              <a:gd name="T9" fmla="*/ 1 h 53"/>
              <a:gd name="T10" fmla="*/ 33 w 37"/>
              <a:gd name="T11" fmla="*/ 1 h 53"/>
            </a:gdLst>
            <a:ahLst/>
            <a:cxnLst>
              <a:cxn ang="0">
                <a:pos x="T0" y="T1"/>
              </a:cxn>
              <a:cxn ang="0">
                <a:pos x="T2" y="T3"/>
              </a:cxn>
              <a:cxn ang="0">
                <a:pos x="T4" y="T5"/>
              </a:cxn>
              <a:cxn ang="0">
                <a:pos x="T6" y="T7"/>
              </a:cxn>
              <a:cxn ang="0">
                <a:pos x="T8" y="T9"/>
              </a:cxn>
              <a:cxn ang="0">
                <a:pos x="T10" y="T11"/>
              </a:cxn>
            </a:cxnLst>
            <a:rect l="0" t="0" r="r" b="b"/>
            <a:pathLst>
              <a:path w="37" h="53">
                <a:moveTo>
                  <a:pt x="33" y="1"/>
                </a:moveTo>
                <a:lnTo>
                  <a:pt x="35" y="0"/>
                </a:lnTo>
                <a:lnTo>
                  <a:pt x="0" y="49"/>
                </a:lnTo>
                <a:lnTo>
                  <a:pt x="2" y="53"/>
                </a:lnTo>
                <a:lnTo>
                  <a:pt x="37" y="1"/>
                </a:lnTo>
                <a:lnTo>
                  <a:pt x="33" y="1"/>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57" name="Freeform 2562">
            <a:extLst>
              <a:ext uri="{FF2B5EF4-FFF2-40B4-BE49-F238E27FC236}">
                <a16:creationId xmlns:a16="http://schemas.microsoft.com/office/drawing/2014/main" id="{8FDA89A1-D3C3-8100-C537-A8D4DE4909A2}"/>
              </a:ext>
            </a:extLst>
          </p:cNvPr>
          <p:cNvSpPr>
            <a:spLocks/>
          </p:cNvSpPr>
          <p:nvPr/>
        </p:nvSpPr>
        <p:spPr bwMode="auto">
          <a:xfrm>
            <a:off x="2468563" y="5321300"/>
            <a:ext cx="55563" cy="642938"/>
          </a:xfrm>
          <a:custGeom>
            <a:avLst/>
            <a:gdLst>
              <a:gd name="T0" fmla="*/ 3 w 35"/>
              <a:gd name="T1" fmla="*/ 0 h 405"/>
              <a:gd name="T2" fmla="*/ 3 w 35"/>
              <a:gd name="T3" fmla="*/ 0 h 405"/>
              <a:gd name="T4" fmla="*/ 0 w 35"/>
              <a:gd name="T5" fmla="*/ 15 h 405"/>
              <a:gd name="T6" fmla="*/ 31 w 35"/>
              <a:gd name="T7" fmla="*/ 405 h 405"/>
              <a:gd name="T8" fmla="*/ 35 w 35"/>
              <a:gd name="T9" fmla="*/ 405 h 405"/>
              <a:gd name="T10" fmla="*/ 3 w 35"/>
              <a:gd name="T11" fmla="*/ 0 h 405"/>
            </a:gdLst>
            <a:ahLst/>
            <a:cxnLst>
              <a:cxn ang="0">
                <a:pos x="T0" y="T1"/>
              </a:cxn>
              <a:cxn ang="0">
                <a:pos x="T2" y="T3"/>
              </a:cxn>
              <a:cxn ang="0">
                <a:pos x="T4" y="T5"/>
              </a:cxn>
              <a:cxn ang="0">
                <a:pos x="T6" y="T7"/>
              </a:cxn>
              <a:cxn ang="0">
                <a:pos x="T8" y="T9"/>
              </a:cxn>
              <a:cxn ang="0">
                <a:pos x="T10" y="T11"/>
              </a:cxn>
            </a:cxnLst>
            <a:rect l="0" t="0" r="r" b="b"/>
            <a:pathLst>
              <a:path w="35" h="405">
                <a:moveTo>
                  <a:pt x="3" y="0"/>
                </a:moveTo>
                <a:lnTo>
                  <a:pt x="3" y="0"/>
                </a:lnTo>
                <a:lnTo>
                  <a:pt x="0" y="15"/>
                </a:lnTo>
                <a:lnTo>
                  <a:pt x="31" y="405"/>
                </a:lnTo>
                <a:lnTo>
                  <a:pt x="35" y="405"/>
                </a:lnTo>
                <a:lnTo>
                  <a:pt x="3" y="0"/>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58" name="Line 2563">
            <a:extLst>
              <a:ext uri="{FF2B5EF4-FFF2-40B4-BE49-F238E27FC236}">
                <a16:creationId xmlns:a16="http://schemas.microsoft.com/office/drawing/2014/main" id="{24A4F6B5-963D-2810-D89B-B7BE15A45D5C}"/>
              </a:ext>
            </a:extLst>
          </p:cNvPr>
          <p:cNvSpPr>
            <a:spLocks noChangeShapeType="1"/>
          </p:cNvSpPr>
          <p:nvPr/>
        </p:nvSpPr>
        <p:spPr bwMode="auto">
          <a:xfrm>
            <a:off x="2468563" y="5330825"/>
            <a:ext cx="1588" cy="715963"/>
          </a:xfrm>
          <a:prstGeom prst="line">
            <a:avLst/>
          </a:prstGeom>
          <a:noFill/>
          <a:ln w="1588" cap="rnd">
            <a:solidFill>
              <a:srgbClr val="25221E"/>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59" name="Freeform 2564">
            <a:extLst>
              <a:ext uri="{FF2B5EF4-FFF2-40B4-BE49-F238E27FC236}">
                <a16:creationId xmlns:a16="http://schemas.microsoft.com/office/drawing/2014/main" id="{F3C20C0F-07F4-B983-D117-91C29BE4CFB6}"/>
              </a:ext>
            </a:extLst>
          </p:cNvPr>
          <p:cNvSpPr>
            <a:spLocks noEditPoints="1"/>
          </p:cNvSpPr>
          <p:nvPr/>
        </p:nvSpPr>
        <p:spPr bwMode="auto">
          <a:xfrm>
            <a:off x="2468563" y="5321300"/>
            <a:ext cx="3175" cy="7938"/>
          </a:xfrm>
          <a:custGeom>
            <a:avLst/>
            <a:gdLst>
              <a:gd name="T0" fmla="*/ 0 w 2"/>
              <a:gd name="T1" fmla="*/ 5 h 5"/>
              <a:gd name="T2" fmla="*/ 2 w 2"/>
              <a:gd name="T3" fmla="*/ 5 h 5"/>
              <a:gd name="T4" fmla="*/ 2 w 2"/>
              <a:gd name="T5" fmla="*/ 0 h 5"/>
              <a:gd name="T6" fmla="*/ 0 w 2"/>
              <a:gd name="T7" fmla="*/ 5 h 5"/>
              <a:gd name="T8" fmla="*/ 0 w 2"/>
              <a:gd name="T9" fmla="*/ 5 h 5"/>
              <a:gd name="T10" fmla="*/ 2 w 2"/>
              <a:gd name="T11" fmla="*/ 5 h 5"/>
              <a:gd name="T12" fmla="*/ 0 w 2"/>
              <a:gd name="T13" fmla="*/ 5 h 5"/>
            </a:gdLst>
            <a:ahLst/>
            <a:cxnLst>
              <a:cxn ang="0">
                <a:pos x="T0" y="T1"/>
              </a:cxn>
              <a:cxn ang="0">
                <a:pos x="T2" y="T3"/>
              </a:cxn>
              <a:cxn ang="0">
                <a:pos x="T4" y="T5"/>
              </a:cxn>
              <a:cxn ang="0">
                <a:pos x="T6" y="T7"/>
              </a:cxn>
              <a:cxn ang="0">
                <a:pos x="T8" y="T9"/>
              </a:cxn>
              <a:cxn ang="0">
                <a:pos x="T10" y="T11"/>
              </a:cxn>
              <a:cxn ang="0">
                <a:pos x="T12" y="T13"/>
              </a:cxn>
            </a:cxnLst>
            <a:rect l="0" t="0" r="r" b="b"/>
            <a:pathLst>
              <a:path w="2" h="5">
                <a:moveTo>
                  <a:pt x="0" y="5"/>
                </a:moveTo>
                <a:lnTo>
                  <a:pt x="2" y="5"/>
                </a:lnTo>
                <a:lnTo>
                  <a:pt x="2" y="0"/>
                </a:lnTo>
                <a:lnTo>
                  <a:pt x="0" y="5"/>
                </a:lnTo>
                <a:close/>
                <a:moveTo>
                  <a:pt x="0" y="5"/>
                </a:moveTo>
                <a:lnTo>
                  <a:pt x="2" y="5"/>
                </a:lnTo>
                <a:lnTo>
                  <a:pt x="0"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60" name="Freeform 2565">
            <a:extLst>
              <a:ext uri="{FF2B5EF4-FFF2-40B4-BE49-F238E27FC236}">
                <a16:creationId xmlns:a16="http://schemas.microsoft.com/office/drawing/2014/main" id="{F6A3D70E-CEC9-42DE-6421-442514E5B5DB}"/>
              </a:ext>
            </a:extLst>
          </p:cNvPr>
          <p:cNvSpPr>
            <a:spLocks/>
          </p:cNvSpPr>
          <p:nvPr/>
        </p:nvSpPr>
        <p:spPr bwMode="auto">
          <a:xfrm>
            <a:off x="2468563" y="5321300"/>
            <a:ext cx="3175" cy="7938"/>
          </a:xfrm>
          <a:custGeom>
            <a:avLst/>
            <a:gdLst>
              <a:gd name="T0" fmla="*/ 0 w 2"/>
              <a:gd name="T1" fmla="*/ 5 h 5"/>
              <a:gd name="T2" fmla="*/ 2 w 2"/>
              <a:gd name="T3" fmla="*/ 5 h 5"/>
              <a:gd name="T4" fmla="*/ 2 w 2"/>
              <a:gd name="T5" fmla="*/ 0 h 5"/>
              <a:gd name="T6" fmla="*/ 0 w 2"/>
              <a:gd name="T7" fmla="*/ 5 h 5"/>
            </a:gdLst>
            <a:ahLst/>
            <a:cxnLst>
              <a:cxn ang="0">
                <a:pos x="T0" y="T1"/>
              </a:cxn>
              <a:cxn ang="0">
                <a:pos x="T2" y="T3"/>
              </a:cxn>
              <a:cxn ang="0">
                <a:pos x="T4" y="T5"/>
              </a:cxn>
              <a:cxn ang="0">
                <a:pos x="T6" y="T7"/>
              </a:cxn>
            </a:cxnLst>
            <a:rect l="0" t="0" r="r" b="b"/>
            <a:pathLst>
              <a:path w="2" h="5">
                <a:moveTo>
                  <a:pt x="0" y="5"/>
                </a:moveTo>
                <a:lnTo>
                  <a:pt x="2" y="5"/>
                </a:lnTo>
                <a:lnTo>
                  <a:pt x="2" y="0"/>
                </a:lnTo>
                <a:lnTo>
                  <a:pt x="0"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61" name="Freeform 2566">
            <a:extLst>
              <a:ext uri="{FF2B5EF4-FFF2-40B4-BE49-F238E27FC236}">
                <a16:creationId xmlns:a16="http://schemas.microsoft.com/office/drawing/2014/main" id="{92711EB8-BF21-6A21-EDA2-4C72DC7BA89B}"/>
              </a:ext>
            </a:extLst>
          </p:cNvPr>
          <p:cNvSpPr>
            <a:spLocks/>
          </p:cNvSpPr>
          <p:nvPr/>
        </p:nvSpPr>
        <p:spPr bwMode="auto">
          <a:xfrm>
            <a:off x="2416175" y="5321300"/>
            <a:ext cx="107950" cy="725488"/>
          </a:xfrm>
          <a:custGeom>
            <a:avLst/>
            <a:gdLst>
              <a:gd name="T0" fmla="*/ 36 w 68"/>
              <a:gd name="T1" fmla="*/ 0 h 457"/>
              <a:gd name="T2" fmla="*/ 0 w 68"/>
              <a:gd name="T3" fmla="*/ 405 h 457"/>
              <a:gd name="T4" fmla="*/ 33 w 68"/>
              <a:gd name="T5" fmla="*/ 457 h 457"/>
              <a:gd name="T6" fmla="*/ 68 w 68"/>
              <a:gd name="T7" fmla="*/ 405 h 457"/>
              <a:gd name="T8" fmla="*/ 36 w 68"/>
              <a:gd name="T9" fmla="*/ 0 h 457"/>
            </a:gdLst>
            <a:ahLst/>
            <a:cxnLst>
              <a:cxn ang="0">
                <a:pos x="T0" y="T1"/>
              </a:cxn>
              <a:cxn ang="0">
                <a:pos x="T2" y="T3"/>
              </a:cxn>
              <a:cxn ang="0">
                <a:pos x="T4" y="T5"/>
              </a:cxn>
              <a:cxn ang="0">
                <a:pos x="T6" y="T7"/>
              </a:cxn>
              <a:cxn ang="0">
                <a:pos x="T8" y="T9"/>
              </a:cxn>
            </a:cxnLst>
            <a:rect l="0" t="0" r="r" b="b"/>
            <a:pathLst>
              <a:path w="68" h="457">
                <a:moveTo>
                  <a:pt x="36" y="0"/>
                </a:moveTo>
                <a:lnTo>
                  <a:pt x="0" y="405"/>
                </a:lnTo>
                <a:lnTo>
                  <a:pt x="33" y="457"/>
                </a:lnTo>
                <a:lnTo>
                  <a:pt x="68" y="405"/>
                </a:lnTo>
                <a:lnTo>
                  <a:pt x="36"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62" name="Line 2567">
            <a:extLst>
              <a:ext uri="{FF2B5EF4-FFF2-40B4-BE49-F238E27FC236}">
                <a16:creationId xmlns:a16="http://schemas.microsoft.com/office/drawing/2014/main" id="{FD0CEE9D-0846-A49F-9E95-C8654F8926AB}"/>
              </a:ext>
            </a:extLst>
          </p:cNvPr>
          <p:cNvSpPr>
            <a:spLocks noChangeShapeType="1"/>
          </p:cNvSpPr>
          <p:nvPr/>
        </p:nvSpPr>
        <p:spPr bwMode="auto">
          <a:xfrm>
            <a:off x="2468563" y="4505325"/>
            <a:ext cx="1588" cy="1738313"/>
          </a:xfrm>
          <a:prstGeom prst="line">
            <a:avLst/>
          </a:prstGeom>
          <a:noFill/>
          <a:ln w="3175" cap="rnd">
            <a:solidFill>
              <a:srgbClr val="1F1A17"/>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63" name="Rectangle 2568">
            <a:extLst>
              <a:ext uri="{FF2B5EF4-FFF2-40B4-BE49-F238E27FC236}">
                <a16:creationId xmlns:a16="http://schemas.microsoft.com/office/drawing/2014/main" id="{BEF56290-95B0-C4A8-0C89-175BD65E355A}"/>
              </a:ext>
            </a:extLst>
          </p:cNvPr>
          <p:cNvSpPr>
            <a:spLocks noChangeArrowheads="1"/>
          </p:cNvSpPr>
          <p:nvPr/>
        </p:nvSpPr>
        <p:spPr bwMode="auto">
          <a:xfrm>
            <a:off x="2387600" y="5510213"/>
            <a:ext cx="28575" cy="120650"/>
          </a:xfrm>
          <a:prstGeom prst="rect">
            <a:avLst/>
          </a:prstGeom>
          <a:solidFill>
            <a:srgbClr val="0079C5"/>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64" name="Rectangle 2569">
            <a:extLst>
              <a:ext uri="{FF2B5EF4-FFF2-40B4-BE49-F238E27FC236}">
                <a16:creationId xmlns:a16="http://schemas.microsoft.com/office/drawing/2014/main" id="{D8D8C798-484A-A0E3-1B47-F9F808C0780E}"/>
              </a:ext>
            </a:extLst>
          </p:cNvPr>
          <p:cNvSpPr>
            <a:spLocks noChangeArrowheads="1"/>
          </p:cNvSpPr>
          <p:nvPr/>
        </p:nvSpPr>
        <p:spPr bwMode="auto">
          <a:xfrm>
            <a:off x="2387600" y="5510213"/>
            <a:ext cx="28575" cy="120650"/>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65" name="Rectangle 2570">
            <a:extLst>
              <a:ext uri="{FF2B5EF4-FFF2-40B4-BE49-F238E27FC236}">
                <a16:creationId xmlns:a16="http://schemas.microsoft.com/office/drawing/2014/main" id="{021B13A9-808E-1B24-A03D-0B6A3CE45452}"/>
              </a:ext>
            </a:extLst>
          </p:cNvPr>
          <p:cNvSpPr>
            <a:spLocks noChangeArrowheads="1"/>
          </p:cNvSpPr>
          <p:nvPr/>
        </p:nvSpPr>
        <p:spPr bwMode="auto">
          <a:xfrm>
            <a:off x="2524125" y="5513388"/>
            <a:ext cx="28575" cy="120650"/>
          </a:xfrm>
          <a:prstGeom prst="rect">
            <a:avLst/>
          </a:prstGeom>
          <a:solidFill>
            <a:srgbClr val="0079C5"/>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66" name="Rectangle 2571">
            <a:extLst>
              <a:ext uri="{FF2B5EF4-FFF2-40B4-BE49-F238E27FC236}">
                <a16:creationId xmlns:a16="http://schemas.microsoft.com/office/drawing/2014/main" id="{29425BC9-BAE7-6B57-01BD-E0A185D11217}"/>
              </a:ext>
            </a:extLst>
          </p:cNvPr>
          <p:cNvSpPr>
            <a:spLocks noChangeArrowheads="1"/>
          </p:cNvSpPr>
          <p:nvPr/>
        </p:nvSpPr>
        <p:spPr bwMode="auto">
          <a:xfrm>
            <a:off x="2524125" y="5513388"/>
            <a:ext cx="28575" cy="120650"/>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67" name="Line 2572">
            <a:extLst>
              <a:ext uri="{FF2B5EF4-FFF2-40B4-BE49-F238E27FC236}">
                <a16:creationId xmlns:a16="http://schemas.microsoft.com/office/drawing/2014/main" id="{67DAB3F0-30CB-166C-593B-4105C735E5A5}"/>
              </a:ext>
            </a:extLst>
          </p:cNvPr>
          <p:cNvSpPr>
            <a:spLocks noChangeShapeType="1"/>
          </p:cNvSpPr>
          <p:nvPr/>
        </p:nvSpPr>
        <p:spPr bwMode="auto">
          <a:xfrm>
            <a:off x="2176463" y="5630863"/>
            <a:ext cx="762000" cy="1588"/>
          </a:xfrm>
          <a:prstGeom prst="line">
            <a:avLst/>
          </a:prstGeom>
          <a:noFill/>
          <a:ln w="3175" cap="rnd">
            <a:solidFill>
              <a:srgbClr val="1F1A17"/>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68" name="Freeform 2573">
            <a:extLst>
              <a:ext uri="{FF2B5EF4-FFF2-40B4-BE49-F238E27FC236}">
                <a16:creationId xmlns:a16="http://schemas.microsoft.com/office/drawing/2014/main" id="{7DCEFA0E-86DC-E710-4480-606476465575}"/>
              </a:ext>
            </a:extLst>
          </p:cNvPr>
          <p:cNvSpPr>
            <a:spLocks/>
          </p:cNvSpPr>
          <p:nvPr/>
        </p:nvSpPr>
        <p:spPr bwMode="auto">
          <a:xfrm>
            <a:off x="2105025" y="5689600"/>
            <a:ext cx="247650" cy="249238"/>
          </a:xfrm>
          <a:custGeom>
            <a:avLst/>
            <a:gdLst>
              <a:gd name="T0" fmla="*/ 20 w 156"/>
              <a:gd name="T1" fmla="*/ 0 h 157"/>
              <a:gd name="T2" fmla="*/ 156 w 156"/>
              <a:gd name="T3" fmla="*/ 135 h 157"/>
              <a:gd name="T4" fmla="*/ 136 w 156"/>
              <a:gd name="T5" fmla="*/ 157 h 157"/>
              <a:gd name="T6" fmla="*/ 0 w 156"/>
              <a:gd name="T7" fmla="*/ 21 h 157"/>
              <a:gd name="T8" fmla="*/ 20 w 156"/>
              <a:gd name="T9" fmla="*/ 0 h 157"/>
            </a:gdLst>
            <a:ahLst/>
            <a:cxnLst>
              <a:cxn ang="0">
                <a:pos x="T0" y="T1"/>
              </a:cxn>
              <a:cxn ang="0">
                <a:pos x="T2" y="T3"/>
              </a:cxn>
              <a:cxn ang="0">
                <a:pos x="T4" y="T5"/>
              </a:cxn>
              <a:cxn ang="0">
                <a:pos x="T6" y="T7"/>
              </a:cxn>
              <a:cxn ang="0">
                <a:pos x="T8" y="T9"/>
              </a:cxn>
            </a:cxnLst>
            <a:rect l="0" t="0" r="r" b="b"/>
            <a:pathLst>
              <a:path w="156" h="157">
                <a:moveTo>
                  <a:pt x="20" y="0"/>
                </a:moveTo>
                <a:lnTo>
                  <a:pt x="156" y="135"/>
                </a:lnTo>
                <a:lnTo>
                  <a:pt x="136" y="157"/>
                </a:lnTo>
                <a:lnTo>
                  <a:pt x="0" y="21"/>
                </a:lnTo>
                <a:lnTo>
                  <a:pt x="2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69" name="Freeform 2574">
            <a:extLst>
              <a:ext uri="{FF2B5EF4-FFF2-40B4-BE49-F238E27FC236}">
                <a16:creationId xmlns:a16="http://schemas.microsoft.com/office/drawing/2014/main" id="{BDA45ADE-454E-4260-566F-D19CDB3F54BB}"/>
              </a:ext>
            </a:extLst>
          </p:cNvPr>
          <p:cNvSpPr>
            <a:spLocks/>
          </p:cNvSpPr>
          <p:nvPr/>
        </p:nvSpPr>
        <p:spPr bwMode="auto">
          <a:xfrm>
            <a:off x="2105025" y="5689600"/>
            <a:ext cx="247650" cy="249238"/>
          </a:xfrm>
          <a:custGeom>
            <a:avLst/>
            <a:gdLst>
              <a:gd name="T0" fmla="*/ 20 w 156"/>
              <a:gd name="T1" fmla="*/ 0 h 157"/>
              <a:gd name="T2" fmla="*/ 156 w 156"/>
              <a:gd name="T3" fmla="*/ 135 h 157"/>
              <a:gd name="T4" fmla="*/ 136 w 156"/>
              <a:gd name="T5" fmla="*/ 157 h 157"/>
              <a:gd name="T6" fmla="*/ 0 w 156"/>
              <a:gd name="T7" fmla="*/ 21 h 157"/>
              <a:gd name="T8" fmla="*/ 20 w 156"/>
              <a:gd name="T9" fmla="*/ 0 h 157"/>
            </a:gdLst>
            <a:ahLst/>
            <a:cxnLst>
              <a:cxn ang="0">
                <a:pos x="T0" y="T1"/>
              </a:cxn>
              <a:cxn ang="0">
                <a:pos x="T2" y="T3"/>
              </a:cxn>
              <a:cxn ang="0">
                <a:pos x="T4" y="T5"/>
              </a:cxn>
              <a:cxn ang="0">
                <a:pos x="T6" y="T7"/>
              </a:cxn>
              <a:cxn ang="0">
                <a:pos x="T8" y="T9"/>
              </a:cxn>
            </a:cxnLst>
            <a:rect l="0" t="0" r="r" b="b"/>
            <a:pathLst>
              <a:path w="156" h="157">
                <a:moveTo>
                  <a:pt x="20" y="0"/>
                </a:moveTo>
                <a:lnTo>
                  <a:pt x="156" y="135"/>
                </a:lnTo>
                <a:lnTo>
                  <a:pt x="136" y="157"/>
                </a:lnTo>
                <a:lnTo>
                  <a:pt x="0" y="21"/>
                </a:lnTo>
                <a:lnTo>
                  <a:pt x="2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70" name="Freeform 2575">
            <a:extLst>
              <a:ext uri="{FF2B5EF4-FFF2-40B4-BE49-F238E27FC236}">
                <a16:creationId xmlns:a16="http://schemas.microsoft.com/office/drawing/2014/main" id="{8BA02E63-118D-6CA3-7EFB-DBD2AC09C33F}"/>
              </a:ext>
            </a:extLst>
          </p:cNvPr>
          <p:cNvSpPr>
            <a:spLocks/>
          </p:cNvSpPr>
          <p:nvPr/>
        </p:nvSpPr>
        <p:spPr bwMode="auto">
          <a:xfrm>
            <a:off x="2584450" y="5689600"/>
            <a:ext cx="246063" cy="246063"/>
          </a:xfrm>
          <a:custGeom>
            <a:avLst/>
            <a:gdLst>
              <a:gd name="T0" fmla="*/ 155 w 155"/>
              <a:gd name="T1" fmla="*/ 19 h 155"/>
              <a:gd name="T2" fmla="*/ 20 w 155"/>
              <a:gd name="T3" fmla="*/ 155 h 155"/>
              <a:gd name="T4" fmla="*/ 0 w 155"/>
              <a:gd name="T5" fmla="*/ 135 h 155"/>
              <a:gd name="T6" fmla="*/ 136 w 155"/>
              <a:gd name="T7" fmla="*/ 0 h 155"/>
              <a:gd name="T8" fmla="*/ 155 w 155"/>
              <a:gd name="T9" fmla="*/ 19 h 155"/>
            </a:gdLst>
            <a:ahLst/>
            <a:cxnLst>
              <a:cxn ang="0">
                <a:pos x="T0" y="T1"/>
              </a:cxn>
              <a:cxn ang="0">
                <a:pos x="T2" y="T3"/>
              </a:cxn>
              <a:cxn ang="0">
                <a:pos x="T4" y="T5"/>
              </a:cxn>
              <a:cxn ang="0">
                <a:pos x="T6" y="T7"/>
              </a:cxn>
              <a:cxn ang="0">
                <a:pos x="T8" y="T9"/>
              </a:cxn>
            </a:cxnLst>
            <a:rect l="0" t="0" r="r" b="b"/>
            <a:pathLst>
              <a:path w="155" h="155">
                <a:moveTo>
                  <a:pt x="155" y="19"/>
                </a:moveTo>
                <a:lnTo>
                  <a:pt x="20" y="155"/>
                </a:lnTo>
                <a:lnTo>
                  <a:pt x="0" y="135"/>
                </a:lnTo>
                <a:lnTo>
                  <a:pt x="136" y="0"/>
                </a:lnTo>
                <a:lnTo>
                  <a:pt x="155" y="1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71" name="Freeform 2576">
            <a:extLst>
              <a:ext uri="{FF2B5EF4-FFF2-40B4-BE49-F238E27FC236}">
                <a16:creationId xmlns:a16="http://schemas.microsoft.com/office/drawing/2014/main" id="{84F2DF39-9210-6E8E-1BF4-6E68132046C4}"/>
              </a:ext>
            </a:extLst>
          </p:cNvPr>
          <p:cNvSpPr>
            <a:spLocks/>
          </p:cNvSpPr>
          <p:nvPr/>
        </p:nvSpPr>
        <p:spPr bwMode="auto">
          <a:xfrm>
            <a:off x="2584450" y="5689600"/>
            <a:ext cx="246063" cy="246063"/>
          </a:xfrm>
          <a:custGeom>
            <a:avLst/>
            <a:gdLst>
              <a:gd name="T0" fmla="*/ 155 w 155"/>
              <a:gd name="T1" fmla="*/ 19 h 155"/>
              <a:gd name="T2" fmla="*/ 20 w 155"/>
              <a:gd name="T3" fmla="*/ 155 h 155"/>
              <a:gd name="T4" fmla="*/ 0 w 155"/>
              <a:gd name="T5" fmla="*/ 135 h 155"/>
              <a:gd name="T6" fmla="*/ 136 w 155"/>
              <a:gd name="T7" fmla="*/ 0 h 155"/>
              <a:gd name="T8" fmla="*/ 155 w 155"/>
              <a:gd name="T9" fmla="*/ 19 h 155"/>
            </a:gdLst>
            <a:ahLst/>
            <a:cxnLst>
              <a:cxn ang="0">
                <a:pos x="T0" y="T1"/>
              </a:cxn>
              <a:cxn ang="0">
                <a:pos x="T2" y="T3"/>
              </a:cxn>
              <a:cxn ang="0">
                <a:pos x="T4" y="T5"/>
              </a:cxn>
              <a:cxn ang="0">
                <a:pos x="T6" y="T7"/>
              </a:cxn>
              <a:cxn ang="0">
                <a:pos x="T8" y="T9"/>
              </a:cxn>
            </a:cxnLst>
            <a:rect l="0" t="0" r="r" b="b"/>
            <a:pathLst>
              <a:path w="155" h="155">
                <a:moveTo>
                  <a:pt x="155" y="19"/>
                </a:moveTo>
                <a:lnTo>
                  <a:pt x="20" y="155"/>
                </a:lnTo>
                <a:lnTo>
                  <a:pt x="0" y="135"/>
                </a:lnTo>
                <a:lnTo>
                  <a:pt x="136" y="0"/>
                </a:lnTo>
                <a:lnTo>
                  <a:pt x="155" y="19"/>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72" name="Freeform 2577">
            <a:extLst>
              <a:ext uri="{FF2B5EF4-FFF2-40B4-BE49-F238E27FC236}">
                <a16:creationId xmlns:a16="http://schemas.microsoft.com/office/drawing/2014/main" id="{878D6789-74F1-4D4D-B2E6-E62EC069036F}"/>
              </a:ext>
            </a:extLst>
          </p:cNvPr>
          <p:cNvSpPr>
            <a:spLocks/>
          </p:cNvSpPr>
          <p:nvPr/>
        </p:nvSpPr>
        <p:spPr bwMode="auto">
          <a:xfrm>
            <a:off x="2120900" y="5707063"/>
            <a:ext cx="263525" cy="260350"/>
          </a:xfrm>
          <a:custGeom>
            <a:avLst/>
            <a:gdLst>
              <a:gd name="T0" fmla="*/ 163 w 166"/>
              <a:gd name="T1" fmla="*/ 161 h 164"/>
              <a:gd name="T2" fmla="*/ 166 w 166"/>
              <a:gd name="T3" fmla="*/ 158 h 164"/>
              <a:gd name="T4" fmla="*/ 7 w 166"/>
              <a:gd name="T5" fmla="*/ 0 h 164"/>
              <a:gd name="T6" fmla="*/ 0 w 166"/>
              <a:gd name="T7" fmla="*/ 7 h 164"/>
              <a:gd name="T8" fmla="*/ 158 w 166"/>
              <a:gd name="T9" fmla="*/ 164 h 164"/>
              <a:gd name="T10" fmla="*/ 163 w 166"/>
              <a:gd name="T11" fmla="*/ 161 h 164"/>
            </a:gdLst>
            <a:ahLst/>
            <a:cxnLst>
              <a:cxn ang="0">
                <a:pos x="T0" y="T1"/>
              </a:cxn>
              <a:cxn ang="0">
                <a:pos x="T2" y="T3"/>
              </a:cxn>
              <a:cxn ang="0">
                <a:pos x="T4" y="T5"/>
              </a:cxn>
              <a:cxn ang="0">
                <a:pos x="T6" y="T7"/>
              </a:cxn>
              <a:cxn ang="0">
                <a:pos x="T8" y="T9"/>
              </a:cxn>
              <a:cxn ang="0">
                <a:pos x="T10" y="T11"/>
              </a:cxn>
            </a:cxnLst>
            <a:rect l="0" t="0" r="r" b="b"/>
            <a:pathLst>
              <a:path w="166" h="164">
                <a:moveTo>
                  <a:pt x="163" y="161"/>
                </a:moveTo>
                <a:lnTo>
                  <a:pt x="166" y="158"/>
                </a:lnTo>
                <a:lnTo>
                  <a:pt x="7" y="0"/>
                </a:lnTo>
                <a:lnTo>
                  <a:pt x="0" y="7"/>
                </a:lnTo>
                <a:lnTo>
                  <a:pt x="158" y="164"/>
                </a:lnTo>
                <a:lnTo>
                  <a:pt x="163" y="161"/>
                </a:lnTo>
                <a:close/>
              </a:path>
            </a:pathLst>
          </a:custGeom>
          <a:solidFill>
            <a:srgbClr val="2B0E7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73" name="Freeform 2578">
            <a:extLst>
              <a:ext uri="{FF2B5EF4-FFF2-40B4-BE49-F238E27FC236}">
                <a16:creationId xmlns:a16="http://schemas.microsoft.com/office/drawing/2014/main" id="{99466209-754A-050D-576B-93158E5B3A99}"/>
              </a:ext>
            </a:extLst>
          </p:cNvPr>
          <p:cNvSpPr>
            <a:spLocks/>
          </p:cNvSpPr>
          <p:nvPr/>
        </p:nvSpPr>
        <p:spPr bwMode="auto">
          <a:xfrm>
            <a:off x="2552700" y="5710238"/>
            <a:ext cx="257175" cy="257175"/>
          </a:xfrm>
          <a:custGeom>
            <a:avLst/>
            <a:gdLst>
              <a:gd name="T0" fmla="*/ 3 w 162"/>
              <a:gd name="T1" fmla="*/ 159 h 162"/>
              <a:gd name="T2" fmla="*/ 6 w 162"/>
              <a:gd name="T3" fmla="*/ 162 h 162"/>
              <a:gd name="T4" fmla="*/ 162 w 162"/>
              <a:gd name="T5" fmla="*/ 6 h 162"/>
              <a:gd name="T6" fmla="*/ 154 w 162"/>
              <a:gd name="T7" fmla="*/ 0 h 162"/>
              <a:gd name="T8" fmla="*/ 0 w 162"/>
              <a:gd name="T9" fmla="*/ 156 h 162"/>
              <a:gd name="T10" fmla="*/ 3 w 162"/>
              <a:gd name="T11" fmla="*/ 159 h 162"/>
            </a:gdLst>
            <a:ahLst/>
            <a:cxnLst>
              <a:cxn ang="0">
                <a:pos x="T0" y="T1"/>
              </a:cxn>
              <a:cxn ang="0">
                <a:pos x="T2" y="T3"/>
              </a:cxn>
              <a:cxn ang="0">
                <a:pos x="T4" y="T5"/>
              </a:cxn>
              <a:cxn ang="0">
                <a:pos x="T6" y="T7"/>
              </a:cxn>
              <a:cxn ang="0">
                <a:pos x="T8" y="T9"/>
              </a:cxn>
              <a:cxn ang="0">
                <a:pos x="T10" y="T11"/>
              </a:cxn>
            </a:cxnLst>
            <a:rect l="0" t="0" r="r" b="b"/>
            <a:pathLst>
              <a:path w="162" h="162">
                <a:moveTo>
                  <a:pt x="3" y="159"/>
                </a:moveTo>
                <a:lnTo>
                  <a:pt x="6" y="162"/>
                </a:lnTo>
                <a:lnTo>
                  <a:pt x="162" y="6"/>
                </a:lnTo>
                <a:lnTo>
                  <a:pt x="154" y="0"/>
                </a:lnTo>
                <a:lnTo>
                  <a:pt x="0" y="156"/>
                </a:lnTo>
                <a:lnTo>
                  <a:pt x="3" y="159"/>
                </a:lnTo>
                <a:close/>
              </a:path>
            </a:pathLst>
          </a:custGeom>
          <a:solidFill>
            <a:srgbClr val="DC2B1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374" name="Rectangle 2579">
            <a:extLst>
              <a:ext uri="{FF2B5EF4-FFF2-40B4-BE49-F238E27FC236}">
                <a16:creationId xmlns:a16="http://schemas.microsoft.com/office/drawing/2014/main" id="{F9FE4634-EAD5-7F72-C839-12463135ECE9}"/>
              </a:ext>
            </a:extLst>
          </p:cNvPr>
          <p:cNvSpPr>
            <a:spLocks noChangeArrowheads="1"/>
          </p:cNvSpPr>
          <p:nvPr/>
        </p:nvSpPr>
        <p:spPr bwMode="auto">
          <a:xfrm>
            <a:off x="3006725" y="5659438"/>
            <a:ext cx="119063"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x</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75" name="Rectangle 2580">
            <a:extLst>
              <a:ext uri="{FF2B5EF4-FFF2-40B4-BE49-F238E27FC236}">
                <a16:creationId xmlns:a16="http://schemas.microsoft.com/office/drawing/2014/main" id="{858B98E6-580A-106D-34D6-C70F78ED0706}"/>
              </a:ext>
            </a:extLst>
          </p:cNvPr>
          <p:cNvSpPr>
            <a:spLocks noChangeArrowheads="1"/>
          </p:cNvSpPr>
          <p:nvPr/>
        </p:nvSpPr>
        <p:spPr bwMode="auto">
          <a:xfrm>
            <a:off x="3068638" y="5659438"/>
            <a:ext cx="968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76" name="Rectangle 2581">
            <a:extLst>
              <a:ext uri="{FF2B5EF4-FFF2-40B4-BE49-F238E27FC236}">
                <a16:creationId xmlns:a16="http://schemas.microsoft.com/office/drawing/2014/main" id="{E981CCA1-91F8-77D3-B0EB-43A1B4CA5FE9}"/>
              </a:ext>
            </a:extLst>
          </p:cNvPr>
          <p:cNvSpPr>
            <a:spLocks noChangeArrowheads="1"/>
          </p:cNvSpPr>
          <p:nvPr/>
        </p:nvSpPr>
        <p:spPr bwMode="auto">
          <a:xfrm>
            <a:off x="3111500" y="5659438"/>
            <a:ext cx="625475"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ray source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77" name="Rectangle 2582">
            <a:extLst>
              <a:ext uri="{FF2B5EF4-FFF2-40B4-BE49-F238E27FC236}">
                <a16:creationId xmlns:a16="http://schemas.microsoft.com/office/drawing/2014/main" id="{BD034355-47CD-8E07-03A6-0F3EA30A683E}"/>
              </a:ext>
            </a:extLst>
          </p:cNvPr>
          <p:cNvSpPr>
            <a:spLocks noChangeArrowheads="1"/>
          </p:cNvSpPr>
          <p:nvPr/>
        </p:nvSpPr>
        <p:spPr bwMode="auto">
          <a:xfrm>
            <a:off x="1541463" y="5805488"/>
            <a:ext cx="112713"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78" name="Rectangle 2583">
            <a:extLst>
              <a:ext uri="{FF2B5EF4-FFF2-40B4-BE49-F238E27FC236}">
                <a16:creationId xmlns:a16="http://schemas.microsoft.com/office/drawing/2014/main" id="{435A9FB3-917B-1FAA-0D2C-7ADFCDE61C67}"/>
              </a:ext>
            </a:extLst>
          </p:cNvPr>
          <p:cNvSpPr>
            <a:spLocks noChangeArrowheads="1"/>
          </p:cNvSpPr>
          <p:nvPr/>
        </p:nvSpPr>
        <p:spPr bwMode="auto">
          <a:xfrm>
            <a:off x="1597025" y="5805488"/>
            <a:ext cx="968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79" name="Rectangle 2584">
            <a:extLst>
              <a:ext uri="{FF2B5EF4-FFF2-40B4-BE49-F238E27FC236}">
                <a16:creationId xmlns:a16="http://schemas.microsoft.com/office/drawing/2014/main" id="{FF97E0D5-1DD6-12C1-4C79-68FD03A73067}"/>
              </a:ext>
            </a:extLst>
          </p:cNvPr>
          <p:cNvSpPr>
            <a:spLocks noChangeArrowheads="1"/>
          </p:cNvSpPr>
          <p:nvPr/>
        </p:nvSpPr>
        <p:spPr bwMode="auto">
          <a:xfrm>
            <a:off x="1639888" y="5805488"/>
            <a:ext cx="40798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source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80" name="Rectangle 2585">
            <a:extLst>
              <a:ext uri="{FF2B5EF4-FFF2-40B4-BE49-F238E27FC236}">
                <a16:creationId xmlns:a16="http://schemas.microsoft.com/office/drawing/2014/main" id="{AC524375-5277-1BAB-0282-1B7E6AE3BE2A}"/>
              </a:ext>
            </a:extLst>
          </p:cNvPr>
          <p:cNvSpPr>
            <a:spLocks noChangeArrowheads="1"/>
          </p:cNvSpPr>
          <p:nvPr/>
        </p:nvSpPr>
        <p:spPr bwMode="auto">
          <a:xfrm>
            <a:off x="3006725" y="6192838"/>
            <a:ext cx="8080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Magnetic lens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81" name="Rectangle 2586">
            <a:extLst>
              <a:ext uri="{FF2B5EF4-FFF2-40B4-BE49-F238E27FC236}">
                <a16:creationId xmlns:a16="http://schemas.microsoft.com/office/drawing/2014/main" id="{F1E23392-9EB9-242B-1DB7-FF36E830AFBC}"/>
              </a:ext>
            </a:extLst>
          </p:cNvPr>
          <p:cNvSpPr>
            <a:spLocks noChangeArrowheads="1"/>
          </p:cNvSpPr>
          <p:nvPr/>
        </p:nvSpPr>
        <p:spPr bwMode="auto">
          <a:xfrm>
            <a:off x="3006725" y="5478463"/>
            <a:ext cx="93345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Scanning  plates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82" name="Rectangle 2587">
            <a:extLst>
              <a:ext uri="{FF2B5EF4-FFF2-40B4-BE49-F238E27FC236}">
                <a16:creationId xmlns:a16="http://schemas.microsoft.com/office/drawing/2014/main" id="{2FB5C855-E79C-A219-4F18-2E4D5F70C209}"/>
              </a:ext>
            </a:extLst>
          </p:cNvPr>
          <p:cNvSpPr>
            <a:spLocks noChangeArrowheads="1"/>
          </p:cNvSpPr>
          <p:nvPr/>
        </p:nvSpPr>
        <p:spPr bwMode="auto">
          <a:xfrm>
            <a:off x="3006725" y="5199063"/>
            <a:ext cx="10366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Spot size aperture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83" name="Rectangle 2588">
            <a:extLst>
              <a:ext uri="{FF2B5EF4-FFF2-40B4-BE49-F238E27FC236}">
                <a16:creationId xmlns:a16="http://schemas.microsoft.com/office/drawing/2014/main" id="{C97A1D8A-45E8-DB35-D949-1A1D5941EFBD}"/>
              </a:ext>
            </a:extLst>
          </p:cNvPr>
          <p:cNvSpPr>
            <a:spLocks noChangeArrowheads="1"/>
          </p:cNvSpPr>
          <p:nvPr/>
        </p:nvSpPr>
        <p:spPr bwMode="auto">
          <a:xfrm>
            <a:off x="1541463" y="4575175"/>
            <a:ext cx="538163"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Slit plate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84" name="Rectangle 2589">
            <a:extLst>
              <a:ext uri="{FF2B5EF4-FFF2-40B4-BE49-F238E27FC236}">
                <a16:creationId xmlns:a16="http://schemas.microsoft.com/office/drawing/2014/main" id="{90BFC455-F1A9-0BCD-35A1-60612444FE4D}"/>
              </a:ext>
            </a:extLst>
          </p:cNvPr>
          <p:cNvSpPr>
            <a:spLocks noChangeArrowheads="1"/>
          </p:cNvSpPr>
          <p:nvPr/>
        </p:nvSpPr>
        <p:spPr bwMode="auto">
          <a:xfrm>
            <a:off x="3006725" y="4903788"/>
            <a:ext cx="71755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Slit plate set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85" name="Rectangle 2590">
            <a:extLst>
              <a:ext uri="{FF2B5EF4-FFF2-40B4-BE49-F238E27FC236}">
                <a16:creationId xmlns:a16="http://schemas.microsoft.com/office/drawing/2014/main" id="{3D4DDABA-C1AF-B47D-364E-57DAEDD7EEB9}"/>
              </a:ext>
            </a:extLst>
          </p:cNvPr>
          <p:cNvSpPr>
            <a:spLocks noChangeArrowheads="1"/>
          </p:cNvSpPr>
          <p:nvPr/>
        </p:nvSpPr>
        <p:spPr bwMode="auto">
          <a:xfrm>
            <a:off x="3805238" y="3629025"/>
            <a:ext cx="1038225"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Outer hemisphere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86" name="Rectangle 2591">
            <a:extLst>
              <a:ext uri="{FF2B5EF4-FFF2-40B4-BE49-F238E27FC236}">
                <a16:creationId xmlns:a16="http://schemas.microsoft.com/office/drawing/2014/main" id="{FDE6FA85-4692-5C82-0EE5-4A0BE2F20231}"/>
              </a:ext>
            </a:extLst>
          </p:cNvPr>
          <p:cNvSpPr>
            <a:spLocks noChangeArrowheads="1"/>
          </p:cNvSpPr>
          <p:nvPr/>
        </p:nvSpPr>
        <p:spPr bwMode="auto">
          <a:xfrm>
            <a:off x="3805238" y="3860800"/>
            <a:ext cx="2873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Iner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87" name="Rectangle 2592">
            <a:extLst>
              <a:ext uri="{FF2B5EF4-FFF2-40B4-BE49-F238E27FC236}">
                <a16:creationId xmlns:a16="http://schemas.microsoft.com/office/drawing/2014/main" id="{1946B01A-8561-4D0F-A937-D261CFBD789C}"/>
              </a:ext>
            </a:extLst>
          </p:cNvPr>
          <p:cNvSpPr>
            <a:spLocks noChangeArrowheads="1"/>
          </p:cNvSpPr>
          <p:nvPr/>
        </p:nvSpPr>
        <p:spPr bwMode="auto">
          <a:xfrm>
            <a:off x="4068763" y="3860800"/>
            <a:ext cx="67945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hemisphere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88" name="Rectangle 2593">
            <a:extLst>
              <a:ext uri="{FF2B5EF4-FFF2-40B4-BE49-F238E27FC236}">
                <a16:creationId xmlns:a16="http://schemas.microsoft.com/office/drawing/2014/main" id="{0469B450-5E2F-EA1B-B587-387687D2784E}"/>
              </a:ext>
            </a:extLst>
          </p:cNvPr>
          <p:cNvSpPr>
            <a:spLocks noChangeArrowheads="1"/>
          </p:cNvSpPr>
          <p:nvPr/>
        </p:nvSpPr>
        <p:spPr bwMode="auto">
          <a:xfrm>
            <a:off x="3805238" y="4535488"/>
            <a:ext cx="38258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Eight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89" name="Rectangle 2594">
            <a:extLst>
              <a:ext uri="{FF2B5EF4-FFF2-40B4-BE49-F238E27FC236}">
                <a16:creationId xmlns:a16="http://schemas.microsoft.com/office/drawing/2014/main" id="{A55E3A5F-30BC-2295-0C0E-6CA92B634858}"/>
              </a:ext>
            </a:extLst>
          </p:cNvPr>
          <p:cNvSpPr>
            <a:spLocks noChangeArrowheads="1"/>
          </p:cNvSpPr>
          <p:nvPr/>
        </p:nvSpPr>
        <p:spPr bwMode="auto">
          <a:xfrm>
            <a:off x="4132263" y="4535488"/>
            <a:ext cx="760413"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channeltrons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90" name="Rectangle 2595">
            <a:extLst>
              <a:ext uri="{FF2B5EF4-FFF2-40B4-BE49-F238E27FC236}">
                <a16:creationId xmlns:a16="http://schemas.microsoft.com/office/drawing/2014/main" id="{B4C619E5-1226-B35E-B1CD-9ECD1FCD71DD}"/>
              </a:ext>
            </a:extLst>
          </p:cNvPr>
          <p:cNvSpPr>
            <a:spLocks noChangeArrowheads="1"/>
          </p:cNvSpPr>
          <p:nvPr/>
        </p:nvSpPr>
        <p:spPr bwMode="auto">
          <a:xfrm>
            <a:off x="3805238" y="4679950"/>
            <a:ext cx="107950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and head amplifier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391" name="Freeform 2596">
            <a:extLst>
              <a:ext uri="{FF2B5EF4-FFF2-40B4-BE49-F238E27FC236}">
                <a16:creationId xmlns:a16="http://schemas.microsoft.com/office/drawing/2014/main" id="{417C9E8A-83A2-6654-3E7C-F4F44EF28B5C}"/>
              </a:ext>
            </a:extLst>
          </p:cNvPr>
          <p:cNvSpPr>
            <a:spLocks/>
          </p:cNvSpPr>
          <p:nvPr/>
        </p:nvSpPr>
        <p:spPr bwMode="auto">
          <a:xfrm>
            <a:off x="3378200" y="4564063"/>
            <a:ext cx="41275" cy="68263"/>
          </a:xfrm>
          <a:custGeom>
            <a:avLst/>
            <a:gdLst>
              <a:gd name="T0" fmla="*/ 0 w 26"/>
              <a:gd name="T1" fmla="*/ 0 h 43"/>
              <a:gd name="T2" fmla="*/ 26 w 26"/>
              <a:gd name="T3" fmla="*/ 0 h 43"/>
              <a:gd name="T4" fmla="*/ 15 w 26"/>
              <a:gd name="T5" fmla="*/ 43 h 43"/>
              <a:gd name="T6" fmla="*/ 0 w 26"/>
              <a:gd name="T7" fmla="*/ 0 h 43"/>
            </a:gdLst>
            <a:ahLst/>
            <a:cxnLst>
              <a:cxn ang="0">
                <a:pos x="T0" y="T1"/>
              </a:cxn>
              <a:cxn ang="0">
                <a:pos x="T2" y="T3"/>
              </a:cxn>
              <a:cxn ang="0">
                <a:pos x="T4" y="T5"/>
              </a:cxn>
              <a:cxn ang="0">
                <a:pos x="T6" y="T7"/>
              </a:cxn>
            </a:cxnLst>
            <a:rect l="0" t="0" r="r" b="b"/>
            <a:pathLst>
              <a:path w="26" h="43">
                <a:moveTo>
                  <a:pt x="0" y="0"/>
                </a:moveTo>
                <a:lnTo>
                  <a:pt x="26" y="0"/>
                </a:lnTo>
                <a:lnTo>
                  <a:pt x="15" y="43"/>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92" name="Freeform 2597">
            <a:extLst>
              <a:ext uri="{FF2B5EF4-FFF2-40B4-BE49-F238E27FC236}">
                <a16:creationId xmlns:a16="http://schemas.microsoft.com/office/drawing/2014/main" id="{300069CD-2013-1C63-6C00-A650C15E96D1}"/>
              </a:ext>
            </a:extLst>
          </p:cNvPr>
          <p:cNvSpPr>
            <a:spLocks/>
          </p:cNvSpPr>
          <p:nvPr/>
        </p:nvSpPr>
        <p:spPr bwMode="auto">
          <a:xfrm>
            <a:off x="3441700" y="4564063"/>
            <a:ext cx="41275" cy="68263"/>
          </a:xfrm>
          <a:custGeom>
            <a:avLst/>
            <a:gdLst>
              <a:gd name="T0" fmla="*/ 0 w 26"/>
              <a:gd name="T1" fmla="*/ 0 h 43"/>
              <a:gd name="T2" fmla="*/ 26 w 26"/>
              <a:gd name="T3" fmla="*/ 0 h 43"/>
              <a:gd name="T4" fmla="*/ 15 w 26"/>
              <a:gd name="T5" fmla="*/ 43 h 43"/>
              <a:gd name="T6" fmla="*/ 0 w 26"/>
              <a:gd name="T7" fmla="*/ 0 h 43"/>
            </a:gdLst>
            <a:ahLst/>
            <a:cxnLst>
              <a:cxn ang="0">
                <a:pos x="T0" y="T1"/>
              </a:cxn>
              <a:cxn ang="0">
                <a:pos x="T2" y="T3"/>
              </a:cxn>
              <a:cxn ang="0">
                <a:pos x="T4" y="T5"/>
              </a:cxn>
              <a:cxn ang="0">
                <a:pos x="T6" y="T7"/>
              </a:cxn>
            </a:cxnLst>
            <a:rect l="0" t="0" r="r" b="b"/>
            <a:pathLst>
              <a:path w="26" h="43">
                <a:moveTo>
                  <a:pt x="0" y="0"/>
                </a:moveTo>
                <a:lnTo>
                  <a:pt x="26" y="0"/>
                </a:lnTo>
                <a:lnTo>
                  <a:pt x="15" y="43"/>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93" name="Freeform 2598">
            <a:extLst>
              <a:ext uri="{FF2B5EF4-FFF2-40B4-BE49-F238E27FC236}">
                <a16:creationId xmlns:a16="http://schemas.microsoft.com/office/drawing/2014/main" id="{C8F96599-E41D-71BE-45A5-DC8C91C9EE48}"/>
              </a:ext>
            </a:extLst>
          </p:cNvPr>
          <p:cNvSpPr>
            <a:spLocks/>
          </p:cNvSpPr>
          <p:nvPr/>
        </p:nvSpPr>
        <p:spPr bwMode="auto">
          <a:xfrm>
            <a:off x="3406775" y="4560888"/>
            <a:ext cx="42863" cy="68263"/>
          </a:xfrm>
          <a:custGeom>
            <a:avLst/>
            <a:gdLst>
              <a:gd name="T0" fmla="*/ 0 w 27"/>
              <a:gd name="T1" fmla="*/ 0 h 43"/>
              <a:gd name="T2" fmla="*/ 27 w 27"/>
              <a:gd name="T3" fmla="*/ 0 h 43"/>
              <a:gd name="T4" fmla="*/ 13 w 27"/>
              <a:gd name="T5" fmla="*/ 43 h 43"/>
              <a:gd name="T6" fmla="*/ 0 w 27"/>
              <a:gd name="T7" fmla="*/ 0 h 43"/>
            </a:gdLst>
            <a:ahLst/>
            <a:cxnLst>
              <a:cxn ang="0">
                <a:pos x="T0" y="T1"/>
              </a:cxn>
              <a:cxn ang="0">
                <a:pos x="T2" y="T3"/>
              </a:cxn>
              <a:cxn ang="0">
                <a:pos x="T4" y="T5"/>
              </a:cxn>
              <a:cxn ang="0">
                <a:pos x="T6" y="T7"/>
              </a:cxn>
            </a:cxnLst>
            <a:rect l="0" t="0" r="r" b="b"/>
            <a:pathLst>
              <a:path w="27" h="43">
                <a:moveTo>
                  <a:pt x="0" y="0"/>
                </a:moveTo>
                <a:lnTo>
                  <a:pt x="27" y="0"/>
                </a:lnTo>
                <a:lnTo>
                  <a:pt x="13" y="43"/>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94" name="Freeform 2599">
            <a:extLst>
              <a:ext uri="{FF2B5EF4-FFF2-40B4-BE49-F238E27FC236}">
                <a16:creationId xmlns:a16="http://schemas.microsoft.com/office/drawing/2014/main" id="{2BF1B0EB-EC70-B0B4-FA5C-2A4338F7E268}"/>
              </a:ext>
            </a:extLst>
          </p:cNvPr>
          <p:cNvSpPr>
            <a:spLocks/>
          </p:cNvSpPr>
          <p:nvPr/>
        </p:nvSpPr>
        <p:spPr bwMode="auto">
          <a:xfrm>
            <a:off x="3470275" y="4560888"/>
            <a:ext cx="41275" cy="68263"/>
          </a:xfrm>
          <a:custGeom>
            <a:avLst/>
            <a:gdLst>
              <a:gd name="T0" fmla="*/ 0 w 26"/>
              <a:gd name="T1" fmla="*/ 0 h 43"/>
              <a:gd name="T2" fmla="*/ 26 w 26"/>
              <a:gd name="T3" fmla="*/ 0 h 43"/>
              <a:gd name="T4" fmla="*/ 13 w 26"/>
              <a:gd name="T5" fmla="*/ 43 h 43"/>
              <a:gd name="T6" fmla="*/ 0 w 26"/>
              <a:gd name="T7" fmla="*/ 0 h 43"/>
            </a:gdLst>
            <a:ahLst/>
            <a:cxnLst>
              <a:cxn ang="0">
                <a:pos x="T0" y="T1"/>
              </a:cxn>
              <a:cxn ang="0">
                <a:pos x="T2" y="T3"/>
              </a:cxn>
              <a:cxn ang="0">
                <a:pos x="T4" y="T5"/>
              </a:cxn>
              <a:cxn ang="0">
                <a:pos x="T6" y="T7"/>
              </a:cxn>
            </a:cxnLst>
            <a:rect l="0" t="0" r="r" b="b"/>
            <a:pathLst>
              <a:path w="26" h="43">
                <a:moveTo>
                  <a:pt x="0" y="0"/>
                </a:moveTo>
                <a:lnTo>
                  <a:pt x="26" y="0"/>
                </a:lnTo>
                <a:lnTo>
                  <a:pt x="13" y="43"/>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95" name="Freeform 2600">
            <a:extLst>
              <a:ext uri="{FF2B5EF4-FFF2-40B4-BE49-F238E27FC236}">
                <a16:creationId xmlns:a16="http://schemas.microsoft.com/office/drawing/2014/main" id="{B17750AC-4A0B-5C65-E189-3FD63A4794A5}"/>
              </a:ext>
            </a:extLst>
          </p:cNvPr>
          <p:cNvSpPr>
            <a:spLocks/>
          </p:cNvSpPr>
          <p:nvPr/>
        </p:nvSpPr>
        <p:spPr bwMode="auto">
          <a:xfrm>
            <a:off x="3394075" y="4567238"/>
            <a:ext cx="41275" cy="68263"/>
          </a:xfrm>
          <a:custGeom>
            <a:avLst/>
            <a:gdLst>
              <a:gd name="T0" fmla="*/ 0 w 26"/>
              <a:gd name="T1" fmla="*/ 0 h 43"/>
              <a:gd name="T2" fmla="*/ 26 w 26"/>
              <a:gd name="T3" fmla="*/ 0 h 43"/>
              <a:gd name="T4" fmla="*/ 15 w 26"/>
              <a:gd name="T5" fmla="*/ 43 h 43"/>
              <a:gd name="T6" fmla="*/ 0 w 26"/>
              <a:gd name="T7" fmla="*/ 0 h 43"/>
            </a:gdLst>
            <a:ahLst/>
            <a:cxnLst>
              <a:cxn ang="0">
                <a:pos x="T0" y="T1"/>
              </a:cxn>
              <a:cxn ang="0">
                <a:pos x="T2" y="T3"/>
              </a:cxn>
              <a:cxn ang="0">
                <a:pos x="T4" y="T5"/>
              </a:cxn>
              <a:cxn ang="0">
                <a:pos x="T6" y="T7"/>
              </a:cxn>
            </a:cxnLst>
            <a:rect l="0" t="0" r="r" b="b"/>
            <a:pathLst>
              <a:path w="26" h="43">
                <a:moveTo>
                  <a:pt x="0" y="0"/>
                </a:moveTo>
                <a:lnTo>
                  <a:pt x="26" y="0"/>
                </a:lnTo>
                <a:lnTo>
                  <a:pt x="15" y="43"/>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96" name="Freeform 2601">
            <a:extLst>
              <a:ext uri="{FF2B5EF4-FFF2-40B4-BE49-F238E27FC236}">
                <a16:creationId xmlns:a16="http://schemas.microsoft.com/office/drawing/2014/main" id="{9C39FE12-518E-A34F-6102-A608E8A48668}"/>
              </a:ext>
            </a:extLst>
          </p:cNvPr>
          <p:cNvSpPr>
            <a:spLocks/>
          </p:cNvSpPr>
          <p:nvPr/>
        </p:nvSpPr>
        <p:spPr bwMode="auto">
          <a:xfrm>
            <a:off x="3457575" y="4567238"/>
            <a:ext cx="41275" cy="68263"/>
          </a:xfrm>
          <a:custGeom>
            <a:avLst/>
            <a:gdLst>
              <a:gd name="T0" fmla="*/ 0 w 26"/>
              <a:gd name="T1" fmla="*/ 0 h 43"/>
              <a:gd name="T2" fmla="*/ 26 w 26"/>
              <a:gd name="T3" fmla="*/ 0 h 43"/>
              <a:gd name="T4" fmla="*/ 14 w 26"/>
              <a:gd name="T5" fmla="*/ 43 h 43"/>
              <a:gd name="T6" fmla="*/ 0 w 26"/>
              <a:gd name="T7" fmla="*/ 0 h 43"/>
            </a:gdLst>
            <a:ahLst/>
            <a:cxnLst>
              <a:cxn ang="0">
                <a:pos x="T0" y="T1"/>
              </a:cxn>
              <a:cxn ang="0">
                <a:pos x="T2" y="T3"/>
              </a:cxn>
              <a:cxn ang="0">
                <a:pos x="T4" y="T5"/>
              </a:cxn>
              <a:cxn ang="0">
                <a:pos x="T6" y="T7"/>
              </a:cxn>
            </a:cxnLst>
            <a:rect l="0" t="0" r="r" b="b"/>
            <a:pathLst>
              <a:path w="26" h="43">
                <a:moveTo>
                  <a:pt x="0" y="0"/>
                </a:moveTo>
                <a:lnTo>
                  <a:pt x="26" y="0"/>
                </a:lnTo>
                <a:lnTo>
                  <a:pt x="14" y="43"/>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97" name="Freeform 2602">
            <a:extLst>
              <a:ext uri="{FF2B5EF4-FFF2-40B4-BE49-F238E27FC236}">
                <a16:creationId xmlns:a16="http://schemas.microsoft.com/office/drawing/2014/main" id="{BC16C236-33EB-2808-F7D1-49F14B9B2CEA}"/>
              </a:ext>
            </a:extLst>
          </p:cNvPr>
          <p:cNvSpPr>
            <a:spLocks/>
          </p:cNvSpPr>
          <p:nvPr/>
        </p:nvSpPr>
        <p:spPr bwMode="auto">
          <a:xfrm>
            <a:off x="3422650" y="4560888"/>
            <a:ext cx="42863" cy="71438"/>
          </a:xfrm>
          <a:custGeom>
            <a:avLst/>
            <a:gdLst>
              <a:gd name="T0" fmla="*/ 0 w 27"/>
              <a:gd name="T1" fmla="*/ 0 h 45"/>
              <a:gd name="T2" fmla="*/ 27 w 27"/>
              <a:gd name="T3" fmla="*/ 0 h 45"/>
              <a:gd name="T4" fmla="*/ 13 w 27"/>
              <a:gd name="T5" fmla="*/ 45 h 45"/>
              <a:gd name="T6" fmla="*/ 0 w 27"/>
              <a:gd name="T7" fmla="*/ 0 h 45"/>
            </a:gdLst>
            <a:ahLst/>
            <a:cxnLst>
              <a:cxn ang="0">
                <a:pos x="T0" y="T1"/>
              </a:cxn>
              <a:cxn ang="0">
                <a:pos x="T2" y="T3"/>
              </a:cxn>
              <a:cxn ang="0">
                <a:pos x="T4" y="T5"/>
              </a:cxn>
              <a:cxn ang="0">
                <a:pos x="T6" y="T7"/>
              </a:cxn>
            </a:cxnLst>
            <a:rect l="0" t="0" r="r" b="b"/>
            <a:pathLst>
              <a:path w="27" h="45">
                <a:moveTo>
                  <a:pt x="0" y="0"/>
                </a:moveTo>
                <a:lnTo>
                  <a:pt x="27" y="0"/>
                </a:lnTo>
                <a:lnTo>
                  <a:pt x="13" y="45"/>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98" name="Freeform 2603">
            <a:extLst>
              <a:ext uri="{FF2B5EF4-FFF2-40B4-BE49-F238E27FC236}">
                <a16:creationId xmlns:a16="http://schemas.microsoft.com/office/drawing/2014/main" id="{CA49E349-F654-97FA-4A12-F0A300265291}"/>
              </a:ext>
            </a:extLst>
          </p:cNvPr>
          <p:cNvSpPr>
            <a:spLocks/>
          </p:cNvSpPr>
          <p:nvPr/>
        </p:nvSpPr>
        <p:spPr bwMode="auto">
          <a:xfrm>
            <a:off x="3486150" y="4560888"/>
            <a:ext cx="41275" cy="71438"/>
          </a:xfrm>
          <a:custGeom>
            <a:avLst/>
            <a:gdLst>
              <a:gd name="T0" fmla="*/ 0 w 26"/>
              <a:gd name="T1" fmla="*/ 0 h 45"/>
              <a:gd name="T2" fmla="*/ 26 w 26"/>
              <a:gd name="T3" fmla="*/ 0 h 45"/>
              <a:gd name="T4" fmla="*/ 13 w 26"/>
              <a:gd name="T5" fmla="*/ 45 h 45"/>
              <a:gd name="T6" fmla="*/ 0 w 26"/>
              <a:gd name="T7" fmla="*/ 0 h 45"/>
            </a:gdLst>
            <a:ahLst/>
            <a:cxnLst>
              <a:cxn ang="0">
                <a:pos x="T0" y="T1"/>
              </a:cxn>
              <a:cxn ang="0">
                <a:pos x="T2" y="T3"/>
              </a:cxn>
              <a:cxn ang="0">
                <a:pos x="T4" y="T5"/>
              </a:cxn>
              <a:cxn ang="0">
                <a:pos x="T6" y="T7"/>
              </a:cxn>
            </a:cxnLst>
            <a:rect l="0" t="0" r="r" b="b"/>
            <a:pathLst>
              <a:path w="26" h="45">
                <a:moveTo>
                  <a:pt x="0" y="0"/>
                </a:moveTo>
                <a:lnTo>
                  <a:pt x="26" y="0"/>
                </a:lnTo>
                <a:lnTo>
                  <a:pt x="13" y="45"/>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399" name="Freeform 2604">
            <a:extLst>
              <a:ext uri="{FF2B5EF4-FFF2-40B4-BE49-F238E27FC236}">
                <a16:creationId xmlns:a16="http://schemas.microsoft.com/office/drawing/2014/main" id="{F0049319-8112-0B63-185E-11BE3E741B85}"/>
              </a:ext>
            </a:extLst>
          </p:cNvPr>
          <p:cNvSpPr>
            <a:spLocks/>
          </p:cNvSpPr>
          <p:nvPr/>
        </p:nvSpPr>
        <p:spPr bwMode="auto">
          <a:xfrm>
            <a:off x="3398838" y="4629150"/>
            <a:ext cx="47625" cy="68263"/>
          </a:xfrm>
          <a:custGeom>
            <a:avLst/>
            <a:gdLst>
              <a:gd name="T0" fmla="*/ 0 w 30"/>
              <a:gd name="T1" fmla="*/ 0 h 43"/>
              <a:gd name="T2" fmla="*/ 0 w 30"/>
              <a:gd name="T3" fmla="*/ 22 h 43"/>
              <a:gd name="T4" fmla="*/ 2 w 30"/>
              <a:gd name="T5" fmla="*/ 30 h 43"/>
              <a:gd name="T6" fmla="*/ 5 w 30"/>
              <a:gd name="T7" fmla="*/ 35 h 43"/>
              <a:gd name="T8" fmla="*/ 8 w 30"/>
              <a:gd name="T9" fmla="*/ 40 h 43"/>
              <a:gd name="T10" fmla="*/ 13 w 30"/>
              <a:gd name="T11" fmla="*/ 42 h 43"/>
              <a:gd name="T12" fmla="*/ 18 w 30"/>
              <a:gd name="T13" fmla="*/ 43 h 43"/>
              <a:gd name="T14" fmla="*/ 23 w 30"/>
              <a:gd name="T15" fmla="*/ 42 h 43"/>
              <a:gd name="T16" fmla="*/ 27 w 30"/>
              <a:gd name="T17" fmla="*/ 38 h 43"/>
              <a:gd name="T18" fmla="*/ 30 w 30"/>
              <a:gd name="T19" fmla="*/ 3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3">
                <a:moveTo>
                  <a:pt x="0" y="0"/>
                </a:moveTo>
                <a:lnTo>
                  <a:pt x="0" y="22"/>
                </a:lnTo>
                <a:lnTo>
                  <a:pt x="2" y="30"/>
                </a:lnTo>
                <a:lnTo>
                  <a:pt x="5" y="35"/>
                </a:lnTo>
                <a:lnTo>
                  <a:pt x="8" y="40"/>
                </a:lnTo>
                <a:lnTo>
                  <a:pt x="13" y="42"/>
                </a:lnTo>
                <a:lnTo>
                  <a:pt x="18" y="43"/>
                </a:lnTo>
                <a:lnTo>
                  <a:pt x="23" y="42"/>
                </a:lnTo>
                <a:lnTo>
                  <a:pt x="27" y="38"/>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00" name="Freeform 2605">
            <a:extLst>
              <a:ext uri="{FF2B5EF4-FFF2-40B4-BE49-F238E27FC236}">
                <a16:creationId xmlns:a16="http://schemas.microsoft.com/office/drawing/2014/main" id="{4FA31E61-4A43-76B5-D781-2A10D8614685}"/>
              </a:ext>
            </a:extLst>
          </p:cNvPr>
          <p:cNvSpPr>
            <a:spLocks/>
          </p:cNvSpPr>
          <p:nvPr/>
        </p:nvSpPr>
        <p:spPr bwMode="auto">
          <a:xfrm>
            <a:off x="3462338" y="4629150"/>
            <a:ext cx="47625" cy="68263"/>
          </a:xfrm>
          <a:custGeom>
            <a:avLst/>
            <a:gdLst>
              <a:gd name="T0" fmla="*/ 0 w 30"/>
              <a:gd name="T1" fmla="*/ 0 h 43"/>
              <a:gd name="T2" fmla="*/ 0 w 30"/>
              <a:gd name="T3" fmla="*/ 22 h 43"/>
              <a:gd name="T4" fmla="*/ 2 w 30"/>
              <a:gd name="T5" fmla="*/ 30 h 43"/>
              <a:gd name="T6" fmla="*/ 5 w 30"/>
              <a:gd name="T7" fmla="*/ 35 h 43"/>
              <a:gd name="T8" fmla="*/ 8 w 30"/>
              <a:gd name="T9" fmla="*/ 40 h 43"/>
              <a:gd name="T10" fmla="*/ 13 w 30"/>
              <a:gd name="T11" fmla="*/ 42 h 43"/>
              <a:gd name="T12" fmla="*/ 18 w 30"/>
              <a:gd name="T13" fmla="*/ 43 h 43"/>
              <a:gd name="T14" fmla="*/ 23 w 30"/>
              <a:gd name="T15" fmla="*/ 42 h 43"/>
              <a:gd name="T16" fmla="*/ 26 w 30"/>
              <a:gd name="T17" fmla="*/ 38 h 43"/>
              <a:gd name="T18" fmla="*/ 30 w 30"/>
              <a:gd name="T19" fmla="*/ 3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3">
                <a:moveTo>
                  <a:pt x="0" y="0"/>
                </a:moveTo>
                <a:lnTo>
                  <a:pt x="0" y="22"/>
                </a:lnTo>
                <a:lnTo>
                  <a:pt x="2" y="30"/>
                </a:lnTo>
                <a:lnTo>
                  <a:pt x="5" y="35"/>
                </a:lnTo>
                <a:lnTo>
                  <a:pt x="8" y="40"/>
                </a:lnTo>
                <a:lnTo>
                  <a:pt x="13" y="42"/>
                </a:lnTo>
                <a:lnTo>
                  <a:pt x="18" y="43"/>
                </a:lnTo>
                <a:lnTo>
                  <a:pt x="23" y="42"/>
                </a:lnTo>
                <a:lnTo>
                  <a:pt x="26" y="38"/>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01" name="Freeform 2606">
            <a:extLst>
              <a:ext uri="{FF2B5EF4-FFF2-40B4-BE49-F238E27FC236}">
                <a16:creationId xmlns:a16="http://schemas.microsoft.com/office/drawing/2014/main" id="{049D8C8B-4361-92C4-58C4-3077FB90D116}"/>
              </a:ext>
            </a:extLst>
          </p:cNvPr>
          <p:cNvSpPr>
            <a:spLocks/>
          </p:cNvSpPr>
          <p:nvPr/>
        </p:nvSpPr>
        <p:spPr bwMode="auto">
          <a:xfrm>
            <a:off x="3427413" y="4627563"/>
            <a:ext cx="47625" cy="68263"/>
          </a:xfrm>
          <a:custGeom>
            <a:avLst/>
            <a:gdLst>
              <a:gd name="T0" fmla="*/ 0 w 30"/>
              <a:gd name="T1" fmla="*/ 0 h 43"/>
              <a:gd name="T2" fmla="*/ 0 w 30"/>
              <a:gd name="T3" fmla="*/ 21 h 43"/>
              <a:gd name="T4" fmla="*/ 2 w 30"/>
              <a:gd name="T5" fmla="*/ 29 h 43"/>
              <a:gd name="T6" fmla="*/ 5 w 30"/>
              <a:gd name="T7" fmla="*/ 34 h 43"/>
              <a:gd name="T8" fmla="*/ 9 w 30"/>
              <a:gd name="T9" fmla="*/ 39 h 43"/>
              <a:gd name="T10" fmla="*/ 14 w 30"/>
              <a:gd name="T11" fmla="*/ 41 h 43"/>
              <a:gd name="T12" fmla="*/ 19 w 30"/>
              <a:gd name="T13" fmla="*/ 43 h 43"/>
              <a:gd name="T14" fmla="*/ 22 w 30"/>
              <a:gd name="T15" fmla="*/ 41 h 43"/>
              <a:gd name="T16" fmla="*/ 27 w 30"/>
              <a:gd name="T17" fmla="*/ 38 h 43"/>
              <a:gd name="T18" fmla="*/ 30 w 30"/>
              <a:gd name="T19" fmla="*/ 3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3">
                <a:moveTo>
                  <a:pt x="0" y="0"/>
                </a:moveTo>
                <a:lnTo>
                  <a:pt x="0" y="21"/>
                </a:lnTo>
                <a:lnTo>
                  <a:pt x="2" y="29"/>
                </a:lnTo>
                <a:lnTo>
                  <a:pt x="5" y="34"/>
                </a:lnTo>
                <a:lnTo>
                  <a:pt x="9" y="39"/>
                </a:lnTo>
                <a:lnTo>
                  <a:pt x="14" y="41"/>
                </a:lnTo>
                <a:lnTo>
                  <a:pt x="19" y="43"/>
                </a:lnTo>
                <a:lnTo>
                  <a:pt x="22" y="41"/>
                </a:lnTo>
                <a:lnTo>
                  <a:pt x="27" y="38"/>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02" name="Freeform 2607">
            <a:extLst>
              <a:ext uri="{FF2B5EF4-FFF2-40B4-BE49-F238E27FC236}">
                <a16:creationId xmlns:a16="http://schemas.microsoft.com/office/drawing/2014/main" id="{62279A51-3EFA-2456-35AC-3EA059C607EB}"/>
              </a:ext>
            </a:extLst>
          </p:cNvPr>
          <p:cNvSpPr>
            <a:spLocks/>
          </p:cNvSpPr>
          <p:nvPr/>
        </p:nvSpPr>
        <p:spPr bwMode="auto">
          <a:xfrm>
            <a:off x="3490913" y="4627563"/>
            <a:ext cx="47625" cy="68263"/>
          </a:xfrm>
          <a:custGeom>
            <a:avLst/>
            <a:gdLst>
              <a:gd name="T0" fmla="*/ 0 w 30"/>
              <a:gd name="T1" fmla="*/ 0 h 43"/>
              <a:gd name="T2" fmla="*/ 0 w 30"/>
              <a:gd name="T3" fmla="*/ 21 h 43"/>
              <a:gd name="T4" fmla="*/ 2 w 30"/>
              <a:gd name="T5" fmla="*/ 29 h 43"/>
              <a:gd name="T6" fmla="*/ 5 w 30"/>
              <a:gd name="T7" fmla="*/ 34 h 43"/>
              <a:gd name="T8" fmla="*/ 8 w 30"/>
              <a:gd name="T9" fmla="*/ 39 h 43"/>
              <a:gd name="T10" fmla="*/ 13 w 30"/>
              <a:gd name="T11" fmla="*/ 41 h 43"/>
              <a:gd name="T12" fmla="*/ 18 w 30"/>
              <a:gd name="T13" fmla="*/ 43 h 43"/>
              <a:gd name="T14" fmla="*/ 22 w 30"/>
              <a:gd name="T15" fmla="*/ 41 h 43"/>
              <a:gd name="T16" fmla="*/ 27 w 30"/>
              <a:gd name="T17" fmla="*/ 38 h 43"/>
              <a:gd name="T18" fmla="*/ 30 w 30"/>
              <a:gd name="T19" fmla="*/ 3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3">
                <a:moveTo>
                  <a:pt x="0" y="0"/>
                </a:moveTo>
                <a:lnTo>
                  <a:pt x="0" y="21"/>
                </a:lnTo>
                <a:lnTo>
                  <a:pt x="2" y="29"/>
                </a:lnTo>
                <a:lnTo>
                  <a:pt x="5" y="34"/>
                </a:lnTo>
                <a:lnTo>
                  <a:pt x="8" y="39"/>
                </a:lnTo>
                <a:lnTo>
                  <a:pt x="13" y="41"/>
                </a:lnTo>
                <a:lnTo>
                  <a:pt x="18" y="43"/>
                </a:lnTo>
                <a:lnTo>
                  <a:pt x="22" y="41"/>
                </a:lnTo>
                <a:lnTo>
                  <a:pt x="27" y="38"/>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03" name="Freeform 2608">
            <a:extLst>
              <a:ext uri="{FF2B5EF4-FFF2-40B4-BE49-F238E27FC236}">
                <a16:creationId xmlns:a16="http://schemas.microsoft.com/office/drawing/2014/main" id="{A249C00F-5717-9BBA-E175-9C5E2993CE10}"/>
              </a:ext>
            </a:extLst>
          </p:cNvPr>
          <p:cNvSpPr>
            <a:spLocks/>
          </p:cNvSpPr>
          <p:nvPr/>
        </p:nvSpPr>
        <p:spPr bwMode="auto">
          <a:xfrm>
            <a:off x="3414713" y="4632325"/>
            <a:ext cx="47625" cy="65088"/>
          </a:xfrm>
          <a:custGeom>
            <a:avLst/>
            <a:gdLst>
              <a:gd name="T0" fmla="*/ 0 w 30"/>
              <a:gd name="T1" fmla="*/ 0 h 41"/>
              <a:gd name="T2" fmla="*/ 0 w 30"/>
              <a:gd name="T3" fmla="*/ 21 h 41"/>
              <a:gd name="T4" fmla="*/ 2 w 30"/>
              <a:gd name="T5" fmla="*/ 28 h 41"/>
              <a:gd name="T6" fmla="*/ 5 w 30"/>
              <a:gd name="T7" fmla="*/ 35 h 41"/>
              <a:gd name="T8" fmla="*/ 8 w 30"/>
              <a:gd name="T9" fmla="*/ 38 h 41"/>
              <a:gd name="T10" fmla="*/ 13 w 30"/>
              <a:gd name="T11" fmla="*/ 41 h 41"/>
              <a:gd name="T12" fmla="*/ 18 w 30"/>
              <a:gd name="T13" fmla="*/ 41 h 41"/>
              <a:gd name="T14" fmla="*/ 23 w 30"/>
              <a:gd name="T15" fmla="*/ 41 h 41"/>
              <a:gd name="T16" fmla="*/ 27 w 30"/>
              <a:gd name="T17" fmla="*/ 38 h 41"/>
              <a:gd name="T18" fmla="*/ 30 w 30"/>
              <a:gd name="T19" fmla="*/ 33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1">
                <a:moveTo>
                  <a:pt x="0" y="0"/>
                </a:moveTo>
                <a:lnTo>
                  <a:pt x="0" y="21"/>
                </a:lnTo>
                <a:lnTo>
                  <a:pt x="2" y="28"/>
                </a:lnTo>
                <a:lnTo>
                  <a:pt x="5" y="35"/>
                </a:lnTo>
                <a:lnTo>
                  <a:pt x="8" y="38"/>
                </a:lnTo>
                <a:lnTo>
                  <a:pt x="13" y="41"/>
                </a:lnTo>
                <a:lnTo>
                  <a:pt x="18" y="41"/>
                </a:lnTo>
                <a:lnTo>
                  <a:pt x="23" y="41"/>
                </a:lnTo>
                <a:lnTo>
                  <a:pt x="27" y="38"/>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04" name="Freeform 2609">
            <a:extLst>
              <a:ext uri="{FF2B5EF4-FFF2-40B4-BE49-F238E27FC236}">
                <a16:creationId xmlns:a16="http://schemas.microsoft.com/office/drawing/2014/main" id="{15F9B595-F88C-7039-A870-E075DD45B750}"/>
              </a:ext>
            </a:extLst>
          </p:cNvPr>
          <p:cNvSpPr>
            <a:spLocks/>
          </p:cNvSpPr>
          <p:nvPr/>
        </p:nvSpPr>
        <p:spPr bwMode="auto">
          <a:xfrm>
            <a:off x="3478213" y="4632325"/>
            <a:ext cx="47625" cy="65088"/>
          </a:xfrm>
          <a:custGeom>
            <a:avLst/>
            <a:gdLst>
              <a:gd name="T0" fmla="*/ 0 w 30"/>
              <a:gd name="T1" fmla="*/ 0 h 41"/>
              <a:gd name="T2" fmla="*/ 0 w 30"/>
              <a:gd name="T3" fmla="*/ 21 h 41"/>
              <a:gd name="T4" fmla="*/ 1 w 30"/>
              <a:gd name="T5" fmla="*/ 28 h 41"/>
              <a:gd name="T6" fmla="*/ 5 w 30"/>
              <a:gd name="T7" fmla="*/ 35 h 41"/>
              <a:gd name="T8" fmla="*/ 8 w 30"/>
              <a:gd name="T9" fmla="*/ 38 h 41"/>
              <a:gd name="T10" fmla="*/ 13 w 30"/>
              <a:gd name="T11" fmla="*/ 41 h 41"/>
              <a:gd name="T12" fmla="*/ 18 w 30"/>
              <a:gd name="T13" fmla="*/ 41 h 41"/>
              <a:gd name="T14" fmla="*/ 23 w 30"/>
              <a:gd name="T15" fmla="*/ 41 h 41"/>
              <a:gd name="T16" fmla="*/ 26 w 30"/>
              <a:gd name="T17" fmla="*/ 38 h 41"/>
              <a:gd name="T18" fmla="*/ 30 w 30"/>
              <a:gd name="T19" fmla="*/ 33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1">
                <a:moveTo>
                  <a:pt x="0" y="0"/>
                </a:moveTo>
                <a:lnTo>
                  <a:pt x="0" y="21"/>
                </a:lnTo>
                <a:lnTo>
                  <a:pt x="1" y="28"/>
                </a:lnTo>
                <a:lnTo>
                  <a:pt x="5" y="35"/>
                </a:lnTo>
                <a:lnTo>
                  <a:pt x="8" y="38"/>
                </a:lnTo>
                <a:lnTo>
                  <a:pt x="13" y="41"/>
                </a:lnTo>
                <a:lnTo>
                  <a:pt x="18" y="41"/>
                </a:lnTo>
                <a:lnTo>
                  <a:pt x="23" y="41"/>
                </a:lnTo>
                <a:lnTo>
                  <a:pt x="26" y="38"/>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05" name="Freeform 2610">
            <a:extLst>
              <a:ext uri="{FF2B5EF4-FFF2-40B4-BE49-F238E27FC236}">
                <a16:creationId xmlns:a16="http://schemas.microsoft.com/office/drawing/2014/main" id="{58E845CC-99AA-8062-F5B2-40C79B72B88C}"/>
              </a:ext>
            </a:extLst>
          </p:cNvPr>
          <p:cNvSpPr>
            <a:spLocks/>
          </p:cNvSpPr>
          <p:nvPr/>
        </p:nvSpPr>
        <p:spPr bwMode="auto">
          <a:xfrm>
            <a:off x="3443288" y="4627563"/>
            <a:ext cx="47625" cy="68263"/>
          </a:xfrm>
          <a:custGeom>
            <a:avLst/>
            <a:gdLst>
              <a:gd name="T0" fmla="*/ 0 w 30"/>
              <a:gd name="T1" fmla="*/ 0 h 43"/>
              <a:gd name="T2" fmla="*/ 0 w 30"/>
              <a:gd name="T3" fmla="*/ 23 h 43"/>
              <a:gd name="T4" fmla="*/ 2 w 30"/>
              <a:gd name="T5" fmla="*/ 29 h 43"/>
              <a:gd name="T6" fmla="*/ 5 w 30"/>
              <a:gd name="T7" fmla="*/ 34 h 43"/>
              <a:gd name="T8" fmla="*/ 9 w 30"/>
              <a:gd name="T9" fmla="*/ 39 h 43"/>
              <a:gd name="T10" fmla="*/ 14 w 30"/>
              <a:gd name="T11" fmla="*/ 41 h 43"/>
              <a:gd name="T12" fmla="*/ 18 w 30"/>
              <a:gd name="T13" fmla="*/ 43 h 43"/>
              <a:gd name="T14" fmla="*/ 22 w 30"/>
              <a:gd name="T15" fmla="*/ 41 h 43"/>
              <a:gd name="T16" fmla="*/ 27 w 30"/>
              <a:gd name="T17" fmla="*/ 39 h 43"/>
              <a:gd name="T18" fmla="*/ 30 w 30"/>
              <a:gd name="T19" fmla="*/ 3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3">
                <a:moveTo>
                  <a:pt x="0" y="0"/>
                </a:moveTo>
                <a:lnTo>
                  <a:pt x="0" y="23"/>
                </a:lnTo>
                <a:lnTo>
                  <a:pt x="2" y="29"/>
                </a:lnTo>
                <a:lnTo>
                  <a:pt x="5" y="34"/>
                </a:lnTo>
                <a:lnTo>
                  <a:pt x="9" y="39"/>
                </a:lnTo>
                <a:lnTo>
                  <a:pt x="14" y="41"/>
                </a:lnTo>
                <a:lnTo>
                  <a:pt x="18" y="43"/>
                </a:lnTo>
                <a:lnTo>
                  <a:pt x="22" y="41"/>
                </a:lnTo>
                <a:lnTo>
                  <a:pt x="27" y="39"/>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06" name="Freeform 2611">
            <a:extLst>
              <a:ext uri="{FF2B5EF4-FFF2-40B4-BE49-F238E27FC236}">
                <a16:creationId xmlns:a16="http://schemas.microsoft.com/office/drawing/2014/main" id="{5E54215B-2BD3-C8DF-A244-7D1A9BA94A54}"/>
              </a:ext>
            </a:extLst>
          </p:cNvPr>
          <p:cNvSpPr>
            <a:spLocks/>
          </p:cNvSpPr>
          <p:nvPr/>
        </p:nvSpPr>
        <p:spPr bwMode="auto">
          <a:xfrm>
            <a:off x="3506788" y="4627563"/>
            <a:ext cx="47625" cy="68263"/>
          </a:xfrm>
          <a:custGeom>
            <a:avLst/>
            <a:gdLst>
              <a:gd name="T0" fmla="*/ 0 w 30"/>
              <a:gd name="T1" fmla="*/ 0 h 43"/>
              <a:gd name="T2" fmla="*/ 0 w 30"/>
              <a:gd name="T3" fmla="*/ 23 h 43"/>
              <a:gd name="T4" fmla="*/ 2 w 30"/>
              <a:gd name="T5" fmla="*/ 29 h 43"/>
              <a:gd name="T6" fmla="*/ 5 w 30"/>
              <a:gd name="T7" fmla="*/ 34 h 43"/>
              <a:gd name="T8" fmla="*/ 8 w 30"/>
              <a:gd name="T9" fmla="*/ 39 h 43"/>
              <a:gd name="T10" fmla="*/ 13 w 30"/>
              <a:gd name="T11" fmla="*/ 41 h 43"/>
              <a:gd name="T12" fmla="*/ 18 w 30"/>
              <a:gd name="T13" fmla="*/ 43 h 43"/>
              <a:gd name="T14" fmla="*/ 22 w 30"/>
              <a:gd name="T15" fmla="*/ 41 h 43"/>
              <a:gd name="T16" fmla="*/ 27 w 30"/>
              <a:gd name="T17" fmla="*/ 39 h 43"/>
              <a:gd name="T18" fmla="*/ 30 w 30"/>
              <a:gd name="T19" fmla="*/ 3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43">
                <a:moveTo>
                  <a:pt x="0" y="0"/>
                </a:moveTo>
                <a:lnTo>
                  <a:pt x="0" y="23"/>
                </a:lnTo>
                <a:lnTo>
                  <a:pt x="2" y="29"/>
                </a:lnTo>
                <a:lnTo>
                  <a:pt x="5" y="34"/>
                </a:lnTo>
                <a:lnTo>
                  <a:pt x="8" y="39"/>
                </a:lnTo>
                <a:lnTo>
                  <a:pt x="13" y="41"/>
                </a:lnTo>
                <a:lnTo>
                  <a:pt x="18" y="43"/>
                </a:lnTo>
                <a:lnTo>
                  <a:pt x="22" y="41"/>
                </a:lnTo>
                <a:lnTo>
                  <a:pt x="27" y="39"/>
                </a:lnTo>
                <a:lnTo>
                  <a:pt x="30" y="33"/>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07" name="Freeform 2612">
            <a:extLst>
              <a:ext uri="{FF2B5EF4-FFF2-40B4-BE49-F238E27FC236}">
                <a16:creationId xmlns:a16="http://schemas.microsoft.com/office/drawing/2014/main" id="{15DADA0B-6B61-7919-6E90-34C728B7829C}"/>
              </a:ext>
            </a:extLst>
          </p:cNvPr>
          <p:cNvSpPr>
            <a:spLocks/>
          </p:cNvSpPr>
          <p:nvPr/>
        </p:nvSpPr>
        <p:spPr bwMode="auto">
          <a:xfrm>
            <a:off x="3227388" y="4513263"/>
            <a:ext cx="471488" cy="247650"/>
          </a:xfrm>
          <a:custGeom>
            <a:avLst/>
            <a:gdLst>
              <a:gd name="T0" fmla="*/ 297 w 297"/>
              <a:gd name="T1" fmla="*/ 0 h 156"/>
              <a:gd name="T2" fmla="*/ 275 w 297"/>
              <a:gd name="T3" fmla="*/ 0 h 156"/>
              <a:gd name="T4" fmla="*/ 275 w 297"/>
              <a:gd name="T5" fmla="*/ 156 h 156"/>
              <a:gd name="T6" fmla="*/ 25 w 297"/>
              <a:gd name="T7" fmla="*/ 156 h 156"/>
              <a:gd name="T8" fmla="*/ 25 w 297"/>
              <a:gd name="T9" fmla="*/ 0 h 156"/>
              <a:gd name="T10" fmla="*/ 0 w 297"/>
              <a:gd name="T11" fmla="*/ 0 h 156"/>
            </a:gdLst>
            <a:ahLst/>
            <a:cxnLst>
              <a:cxn ang="0">
                <a:pos x="T0" y="T1"/>
              </a:cxn>
              <a:cxn ang="0">
                <a:pos x="T2" y="T3"/>
              </a:cxn>
              <a:cxn ang="0">
                <a:pos x="T4" y="T5"/>
              </a:cxn>
              <a:cxn ang="0">
                <a:pos x="T6" y="T7"/>
              </a:cxn>
              <a:cxn ang="0">
                <a:pos x="T8" y="T9"/>
              </a:cxn>
              <a:cxn ang="0">
                <a:pos x="T10" y="T11"/>
              </a:cxn>
            </a:cxnLst>
            <a:rect l="0" t="0" r="r" b="b"/>
            <a:pathLst>
              <a:path w="297" h="156">
                <a:moveTo>
                  <a:pt x="297" y="0"/>
                </a:moveTo>
                <a:lnTo>
                  <a:pt x="275" y="0"/>
                </a:lnTo>
                <a:lnTo>
                  <a:pt x="275" y="156"/>
                </a:lnTo>
                <a:lnTo>
                  <a:pt x="25" y="156"/>
                </a:lnTo>
                <a:lnTo>
                  <a:pt x="25" y="0"/>
                </a:lnTo>
                <a:lnTo>
                  <a:pt x="0"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08" name="Freeform 2613">
            <a:extLst>
              <a:ext uri="{FF2B5EF4-FFF2-40B4-BE49-F238E27FC236}">
                <a16:creationId xmlns:a16="http://schemas.microsoft.com/office/drawing/2014/main" id="{CED6D4AE-31C1-3522-4CAE-DB30993AAF0D}"/>
              </a:ext>
            </a:extLst>
          </p:cNvPr>
          <p:cNvSpPr>
            <a:spLocks/>
          </p:cNvSpPr>
          <p:nvPr/>
        </p:nvSpPr>
        <p:spPr bwMode="auto">
          <a:xfrm>
            <a:off x="3270250" y="4491038"/>
            <a:ext cx="92075" cy="14288"/>
          </a:xfrm>
          <a:custGeom>
            <a:avLst/>
            <a:gdLst>
              <a:gd name="T0" fmla="*/ 58 w 58"/>
              <a:gd name="T1" fmla="*/ 5 h 9"/>
              <a:gd name="T2" fmla="*/ 58 w 58"/>
              <a:gd name="T3" fmla="*/ 0 h 9"/>
              <a:gd name="T4" fmla="*/ 0 w 58"/>
              <a:gd name="T5" fmla="*/ 0 h 9"/>
              <a:gd name="T6" fmla="*/ 0 w 58"/>
              <a:gd name="T7" fmla="*/ 9 h 9"/>
              <a:gd name="T8" fmla="*/ 58 w 58"/>
              <a:gd name="T9" fmla="*/ 9 h 9"/>
              <a:gd name="T10" fmla="*/ 58 w 58"/>
              <a:gd name="T11" fmla="*/ 5 h 9"/>
            </a:gdLst>
            <a:ahLst/>
            <a:cxnLst>
              <a:cxn ang="0">
                <a:pos x="T0" y="T1"/>
              </a:cxn>
              <a:cxn ang="0">
                <a:pos x="T2" y="T3"/>
              </a:cxn>
              <a:cxn ang="0">
                <a:pos x="T4" y="T5"/>
              </a:cxn>
              <a:cxn ang="0">
                <a:pos x="T6" y="T7"/>
              </a:cxn>
              <a:cxn ang="0">
                <a:pos x="T8" y="T9"/>
              </a:cxn>
              <a:cxn ang="0">
                <a:pos x="T10" y="T11"/>
              </a:cxn>
            </a:cxnLst>
            <a:rect l="0" t="0" r="r" b="b"/>
            <a:pathLst>
              <a:path w="58" h="9">
                <a:moveTo>
                  <a:pt x="58" y="5"/>
                </a:moveTo>
                <a:lnTo>
                  <a:pt x="58" y="0"/>
                </a:lnTo>
                <a:lnTo>
                  <a:pt x="0" y="0"/>
                </a:lnTo>
                <a:lnTo>
                  <a:pt x="0" y="9"/>
                </a:lnTo>
                <a:lnTo>
                  <a:pt x="58" y="9"/>
                </a:lnTo>
                <a:lnTo>
                  <a:pt x="58"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09" name="Freeform 2614">
            <a:extLst>
              <a:ext uri="{FF2B5EF4-FFF2-40B4-BE49-F238E27FC236}">
                <a16:creationId xmlns:a16="http://schemas.microsoft.com/office/drawing/2014/main" id="{F7308D8D-121E-5D88-F55D-4B4CA77CD1F5}"/>
              </a:ext>
            </a:extLst>
          </p:cNvPr>
          <p:cNvSpPr>
            <a:spLocks/>
          </p:cNvSpPr>
          <p:nvPr/>
        </p:nvSpPr>
        <p:spPr bwMode="auto">
          <a:xfrm>
            <a:off x="3551238" y="4484688"/>
            <a:ext cx="107950" cy="15875"/>
          </a:xfrm>
          <a:custGeom>
            <a:avLst/>
            <a:gdLst>
              <a:gd name="T0" fmla="*/ 0 w 68"/>
              <a:gd name="T1" fmla="*/ 5 h 10"/>
              <a:gd name="T2" fmla="*/ 0 w 68"/>
              <a:gd name="T3" fmla="*/ 10 h 10"/>
              <a:gd name="T4" fmla="*/ 68 w 68"/>
              <a:gd name="T5" fmla="*/ 10 h 10"/>
              <a:gd name="T6" fmla="*/ 68 w 68"/>
              <a:gd name="T7" fmla="*/ 0 h 10"/>
              <a:gd name="T8" fmla="*/ 0 w 68"/>
              <a:gd name="T9" fmla="*/ 0 h 10"/>
              <a:gd name="T10" fmla="*/ 0 w 68"/>
              <a:gd name="T11" fmla="*/ 5 h 10"/>
            </a:gdLst>
            <a:ahLst/>
            <a:cxnLst>
              <a:cxn ang="0">
                <a:pos x="T0" y="T1"/>
              </a:cxn>
              <a:cxn ang="0">
                <a:pos x="T2" y="T3"/>
              </a:cxn>
              <a:cxn ang="0">
                <a:pos x="T4" y="T5"/>
              </a:cxn>
              <a:cxn ang="0">
                <a:pos x="T6" y="T7"/>
              </a:cxn>
              <a:cxn ang="0">
                <a:pos x="T8" y="T9"/>
              </a:cxn>
              <a:cxn ang="0">
                <a:pos x="T10" y="T11"/>
              </a:cxn>
            </a:cxnLst>
            <a:rect l="0" t="0" r="r" b="b"/>
            <a:pathLst>
              <a:path w="68" h="10">
                <a:moveTo>
                  <a:pt x="0" y="5"/>
                </a:moveTo>
                <a:lnTo>
                  <a:pt x="0" y="10"/>
                </a:lnTo>
                <a:lnTo>
                  <a:pt x="68" y="10"/>
                </a:lnTo>
                <a:lnTo>
                  <a:pt x="68" y="0"/>
                </a:lnTo>
                <a:lnTo>
                  <a:pt x="0" y="0"/>
                </a:lnTo>
                <a:lnTo>
                  <a:pt x="0"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10" name="Rectangle 2615">
            <a:extLst>
              <a:ext uri="{FF2B5EF4-FFF2-40B4-BE49-F238E27FC236}">
                <a16:creationId xmlns:a16="http://schemas.microsoft.com/office/drawing/2014/main" id="{E659A1CB-D0B1-596F-1496-090880B83373}"/>
              </a:ext>
            </a:extLst>
          </p:cNvPr>
          <p:cNvSpPr>
            <a:spLocks noChangeArrowheads="1"/>
          </p:cNvSpPr>
          <p:nvPr/>
        </p:nvSpPr>
        <p:spPr bwMode="auto">
          <a:xfrm>
            <a:off x="3006725" y="5872163"/>
            <a:ext cx="4524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Sample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411" name="Freeform 2616">
            <a:extLst>
              <a:ext uri="{FF2B5EF4-FFF2-40B4-BE49-F238E27FC236}">
                <a16:creationId xmlns:a16="http://schemas.microsoft.com/office/drawing/2014/main" id="{5F5B8849-C589-86E1-F6FA-2C79C942BEBC}"/>
              </a:ext>
            </a:extLst>
          </p:cNvPr>
          <p:cNvSpPr>
            <a:spLocks/>
          </p:cNvSpPr>
          <p:nvPr/>
        </p:nvSpPr>
        <p:spPr bwMode="auto">
          <a:xfrm>
            <a:off x="2508250" y="5308600"/>
            <a:ext cx="165100" cy="14288"/>
          </a:xfrm>
          <a:custGeom>
            <a:avLst/>
            <a:gdLst>
              <a:gd name="T0" fmla="*/ 104 w 104"/>
              <a:gd name="T1" fmla="*/ 4 h 9"/>
              <a:gd name="T2" fmla="*/ 104 w 104"/>
              <a:gd name="T3" fmla="*/ 0 h 9"/>
              <a:gd name="T4" fmla="*/ 0 w 104"/>
              <a:gd name="T5" fmla="*/ 0 h 9"/>
              <a:gd name="T6" fmla="*/ 0 w 104"/>
              <a:gd name="T7" fmla="*/ 9 h 9"/>
              <a:gd name="T8" fmla="*/ 104 w 104"/>
              <a:gd name="T9" fmla="*/ 9 h 9"/>
              <a:gd name="T10" fmla="*/ 104 w 104"/>
              <a:gd name="T11" fmla="*/ 4 h 9"/>
            </a:gdLst>
            <a:ahLst/>
            <a:cxnLst>
              <a:cxn ang="0">
                <a:pos x="T0" y="T1"/>
              </a:cxn>
              <a:cxn ang="0">
                <a:pos x="T2" y="T3"/>
              </a:cxn>
              <a:cxn ang="0">
                <a:pos x="T4" y="T5"/>
              </a:cxn>
              <a:cxn ang="0">
                <a:pos x="T6" y="T7"/>
              </a:cxn>
              <a:cxn ang="0">
                <a:pos x="T8" y="T9"/>
              </a:cxn>
              <a:cxn ang="0">
                <a:pos x="T10" y="T11"/>
              </a:cxn>
            </a:cxnLst>
            <a:rect l="0" t="0" r="r" b="b"/>
            <a:pathLst>
              <a:path w="104" h="9">
                <a:moveTo>
                  <a:pt x="104" y="4"/>
                </a:moveTo>
                <a:lnTo>
                  <a:pt x="104" y="0"/>
                </a:lnTo>
                <a:lnTo>
                  <a:pt x="0" y="0"/>
                </a:lnTo>
                <a:lnTo>
                  <a:pt x="0" y="9"/>
                </a:lnTo>
                <a:lnTo>
                  <a:pt x="104" y="9"/>
                </a:lnTo>
                <a:lnTo>
                  <a:pt x="104" y="4"/>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12" name="Freeform 2617">
            <a:extLst>
              <a:ext uri="{FF2B5EF4-FFF2-40B4-BE49-F238E27FC236}">
                <a16:creationId xmlns:a16="http://schemas.microsoft.com/office/drawing/2014/main" id="{4AB09DBA-BD47-1BAD-CE58-07A035B26691}"/>
              </a:ext>
            </a:extLst>
          </p:cNvPr>
          <p:cNvSpPr>
            <a:spLocks/>
          </p:cNvSpPr>
          <p:nvPr/>
        </p:nvSpPr>
        <p:spPr bwMode="auto">
          <a:xfrm>
            <a:off x="2268538" y="5308600"/>
            <a:ext cx="168275" cy="14288"/>
          </a:xfrm>
          <a:custGeom>
            <a:avLst/>
            <a:gdLst>
              <a:gd name="T0" fmla="*/ 106 w 106"/>
              <a:gd name="T1" fmla="*/ 4 h 9"/>
              <a:gd name="T2" fmla="*/ 106 w 106"/>
              <a:gd name="T3" fmla="*/ 0 h 9"/>
              <a:gd name="T4" fmla="*/ 0 w 106"/>
              <a:gd name="T5" fmla="*/ 0 h 9"/>
              <a:gd name="T6" fmla="*/ 0 w 106"/>
              <a:gd name="T7" fmla="*/ 9 h 9"/>
              <a:gd name="T8" fmla="*/ 106 w 106"/>
              <a:gd name="T9" fmla="*/ 9 h 9"/>
              <a:gd name="T10" fmla="*/ 106 w 106"/>
              <a:gd name="T11" fmla="*/ 4 h 9"/>
            </a:gdLst>
            <a:ahLst/>
            <a:cxnLst>
              <a:cxn ang="0">
                <a:pos x="T0" y="T1"/>
              </a:cxn>
              <a:cxn ang="0">
                <a:pos x="T2" y="T3"/>
              </a:cxn>
              <a:cxn ang="0">
                <a:pos x="T4" y="T5"/>
              </a:cxn>
              <a:cxn ang="0">
                <a:pos x="T6" y="T7"/>
              </a:cxn>
              <a:cxn ang="0">
                <a:pos x="T8" y="T9"/>
              </a:cxn>
              <a:cxn ang="0">
                <a:pos x="T10" y="T11"/>
              </a:cxn>
            </a:cxnLst>
            <a:rect l="0" t="0" r="r" b="b"/>
            <a:pathLst>
              <a:path w="106" h="9">
                <a:moveTo>
                  <a:pt x="106" y="4"/>
                </a:moveTo>
                <a:lnTo>
                  <a:pt x="106" y="0"/>
                </a:lnTo>
                <a:lnTo>
                  <a:pt x="0" y="0"/>
                </a:lnTo>
                <a:lnTo>
                  <a:pt x="0" y="9"/>
                </a:lnTo>
                <a:lnTo>
                  <a:pt x="106" y="9"/>
                </a:lnTo>
                <a:lnTo>
                  <a:pt x="106" y="4"/>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13" name="Freeform 2618">
            <a:extLst>
              <a:ext uri="{FF2B5EF4-FFF2-40B4-BE49-F238E27FC236}">
                <a16:creationId xmlns:a16="http://schemas.microsoft.com/office/drawing/2014/main" id="{E3B9B3F6-DE85-9B36-5D93-86E5A3C1DA12}"/>
              </a:ext>
            </a:extLst>
          </p:cNvPr>
          <p:cNvSpPr>
            <a:spLocks/>
          </p:cNvSpPr>
          <p:nvPr/>
        </p:nvSpPr>
        <p:spPr bwMode="auto">
          <a:xfrm>
            <a:off x="2581275" y="5930900"/>
            <a:ext cx="407988" cy="147638"/>
          </a:xfrm>
          <a:custGeom>
            <a:avLst/>
            <a:gdLst>
              <a:gd name="T0" fmla="*/ 257 w 257"/>
              <a:gd name="T1" fmla="*/ 0 h 93"/>
              <a:gd name="T2" fmla="*/ 0 w 257"/>
              <a:gd name="T3" fmla="*/ 86 h 93"/>
              <a:gd name="T4" fmla="*/ 20 w 257"/>
              <a:gd name="T5" fmla="*/ 93 h 93"/>
            </a:gdLst>
            <a:ahLst/>
            <a:cxnLst>
              <a:cxn ang="0">
                <a:pos x="T0" y="T1"/>
              </a:cxn>
              <a:cxn ang="0">
                <a:pos x="T2" y="T3"/>
              </a:cxn>
              <a:cxn ang="0">
                <a:pos x="T4" y="T5"/>
              </a:cxn>
            </a:cxnLst>
            <a:rect l="0" t="0" r="r" b="b"/>
            <a:pathLst>
              <a:path w="257" h="93">
                <a:moveTo>
                  <a:pt x="257" y="0"/>
                </a:moveTo>
                <a:lnTo>
                  <a:pt x="0" y="86"/>
                </a:lnTo>
                <a:lnTo>
                  <a:pt x="20" y="93"/>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14" name="Freeform 2619">
            <a:extLst>
              <a:ext uri="{FF2B5EF4-FFF2-40B4-BE49-F238E27FC236}">
                <a16:creationId xmlns:a16="http://schemas.microsoft.com/office/drawing/2014/main" id="{A47D9367-6415-242A-91C0-F9FDF6823CAB}"/>
              </a:ext>
            </a:extLst>
          </p:cNvPr>
          <p:cNvSpPr>
            <a:spLocks/>
          </p:cNvSpPr>
          <p:nvPr/>
        </p:nvSpPr>
        <p:spPr bwMode="auto">
          <a:xfrm>
            <a:off x="2744788" y="5741988"/>
            <a:ext cx="246063" cy="96838"/>
          </a:xfrm>
          <a:custGeom>
            <a:avLst/>
            <a:gdLst>
              <a:gd name="T0" fmla="*/ 155 w 155"/>
              <a:gd name="T1" fmla="*/ 0 h 61"/>
              <a:gd name="T2" fmla="*/ 0 w 155"/>
              <a:gd name="T3" fmla="*/ 44 h 61"/>
              <a:gd name="T4" fmla="*/ 25 w 155"/>
              <a:gd name="T5" fmla="*/ 61 h 61"/>
            </a:gdLst>
            <a:ahLst/>
            <a:cxnLst>
              <a:cxn ang="0">
                <a:pos x="T0" y="T1"/>
              </a:cxn>
              <a:cxn ang="0">
                <a:pos x="T2" y="T3"/>
              </a:cxn>
              <a:cxn ang="0">
                <a:pos x="T4" y="T5"/>
              </a:cxn>
            </a:cxnLst>
            <a:rect l="0" t="0" r="r" b="b"/>
            <a:pathLst>
              <a:path w="155" h="61">
                <a:moveTo>
                  <a:pt x="155" y="0"/>
                </a:moveTo>
                <a:lnTo>
                  <a:pt x="0" y="44"/>
                </a:lnTo>
                <a:lnTo>
                  <a:pt x="25" y="61"/>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15" name="Freeform 2620">
            <a:extLst>
              <a:ext uri="{FF2B5EF4-FFF2-40B4-BE49-F238E27FC236}">
                <a16:creationId xmlns:a16="http://schemas.microsoft.com/office/drawing/2014/main" id="{A873C9DD-4AA3-1302-4827-7434CB1D434F}"/>
              </a:ext>
            </a:extLst>
          </p:cNvPr>
          <p:cNvSpPr>
            <a:spLocks/>
          </p:cNvSpPr>
          <p:nvPr/>
        </p:nvSpPr>
        <p:spPr bwMode="auto">
          <a:xfrm>
            <a:off x="2557463" y="5534025"/>
            <a:ext cx="423863" cy="84138"/>
          </a:xfrm>
          <a:custGeom>
            <a:avLst/>
            <a:gdLst>
              <a:gd name="T0" fmla="*/ 267 w 267"/>
              <a:gd name="T1" fmla="*/ 0 h 53"/>
              <a:gd name="T2" fmla="*/ 0 w 267"/>
              <a:gd name="T3" fmla="*/ 45 h 53"/>
              <a:gd name="T4" fmla="*/ 15 w 267"/>
              <a:gd name="T5" fmla="*/ 53 h 53"/>
            </a:gdLst>
            <a:ahLst/>
            <a:cxnLst>
              <a:cxn ang="0">
                <a:pos x="T0" y="T1"/>
              </a:cxn>
              <a:cxn ang="0">
                <a:pos x="T2" y="T3"/>
              </a:cxn>
              <a:cxn ang="0">
                <a:pos x="T4" y="T5"/>
              </a:cxn>
            </a:cxnLst>
            <a:rect l="0" t="0" r="r" b="b"/>
            <a:pathLst>
              <a:path w="267" h="53">
                <a:moveTo>
                  <a:pt x="267" y="0"/>
                </a:moveTo>
                <a:lnTo>
                  <a:pt x="0" y="45"/>
                </a:lnTo>
                <a:lnTo>
                  <a:pt x="15" y="53"/>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16" name="Freeform 2621">
            <a:extLst>
              <a:ext uri="{FF2B5EF4-FFF2-40B4-BE49-F238E27FC236}">
                <a16:creationId xmlns:a16="http://schemas.microsoft.com/office/drawing/2014/main" id="{778948B4-8CDA-3D52-73A0-3FA6A43B5F2A}"/>
              </a:ext>
            </a:extLst>
          </p:cNvPr>
          <p:cNvSpPr>
            <a:spLocks/>
          </p:cNvSpPr>
          <p:nvPr/>
        </p:nvSpPr>
        <p:spPr bwMode="auto">
          <a:xfrm>
            <a:off x="2657475" y="5246688"/>
            <a:ext cx="341313" cy="58738"/>
          </a:xfrm>
          <a:custGeom>
            <a:avLst/>
            <a:gdLst>
              <a:gd name="T0" fmla="*/ 215 w 215"/>
              <a:gd name="T1" fmla="*/ 0 h 37"/>
              <a:gd name="T2" fmla="*/ 8 w 215"/>
              <a:gd name="T3" fmla="*/ 37 h 37"/>
              <a:gd name="T4" fmla="*/ 0 w 215"/>
              <a:gd name="T5" fmla="*/ 24 h 37"/>
            </a:gdLst>
            <a:ahLst/>
            <a:cxnLst>
              <a:cxn ang="0">
                <a:pos x="T0" y="T1"/>
              </a:cxn>
              <a:cxn ang="0">
                <a:pos x="T2" y="T3"/>
              </a:cxn>
              <a:cxn ang="0">
                <a:pos x="T4" y="T5"/>
              </a:cxn>
            </a:cxnLst>
            <a:rect l="0" t="0" r="r" b="b"/>
            <a:pathLst>
              <a:path w="215" h="37">
                <a:moveTo>
                  <a:pt x="215" y="0"/>
                </a:moveTo>
                <a:lnTo>
                  <a:pt x="8" y="37"/>
                </a:lnTo>
                <a:lnTo>
                  <a:pt x="0" y="24"/>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17" name="Rectangle 2622">
            <a:extLst>
              <a:ext uri="{FF2B5EF4-FFF2-40B4-BE49-F238E27FC236}">
                <a16:creationId xmlns:a16="http://schemas.microsoft.com/office/drawing/2014/main" id="{41FEF532-2372-DBC4-9571-1210EB0DE7DE}"/>
              </a:ext>
            </a:extLst>
          </p:cNvPr>
          <p:cNvSpPr>
            <a:spLocks noChangeArrowheads="1"/>
          </p:cNvSpPr>
          <p:nvPr/>
        </p:nvSpPr>
        <p:spPr bwMode="auto">
          <a:xfrm>
            <a:off x="2268538" y="4476750"/>
            <a:ext cx="42863" cy="317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18" name="Rectangle 2623">
            <a:extLst>
              <a:ext uri="{FF2B5EF4-FFF2-40B4-BE49-F238E27FC236}">
                <a16:creationId xmlns:a16="http://schemas.microsoft.com/office/drawing/2014/main" id="{D3B1BFA4-ED09-6216-3347-0A73CCF78B23}"/>
              </a:ext>
            </a:extLst>
          </p:cNvPr>
          <p:cNvSpPr>
            <a:spLocks noChangeArrowheads="1"/>
          </p:cNvSpPr>
          <p:nvPr/>
        </p:nvSpPr>
        <p:spPr bwMode="auto">
          <a:xfrm>
            <a:off x="2609850" y="4479925"/>
            <a:ext cx="30163" cy="317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19" name="Rectangle 2624">
            <a:extLst>
              <a:ext uri="{FF2B5EF4-FFF2-40B4-BE49-F238E27FC236}">
                <a16:creationId xmlns:a16="http://schemas.microsoft.com/office/drawing/2014/main" id="{62AD8548-57BD-4CAD-4C15-83E69BF2189A}"/>
              </a:ext>
            </a:extLst>
          </p:cNvPr>
          <p:cNvSpPr>
            <a:spLocks noChangeArrowheads="1"/>
          </p:cNvSpPr>
          <p:nvPr/>
        </p:nvSpPr>
        <p:spPr bwMode="auto">
          <a:xfrm>
            <a:off x="2297113" y="4476750"/>
            <a:ext cx="344488" cy="317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20" name="Freeform 2625">
            <a:extLst>
              <a:ext uri="{FF2B5EF4-FFF2-40B4-BE49-F238E27FC236}">
                <a16:creationId xmlns:a16="http://schemas.microsoft.com/office/drawing/2014/main" id="{D71EC673-66AB-2DDA-5879-FE8D563E3957}"/>
              </a:ext>
            </a:extLst>
          </p:cNvPr>
          <p:cNvSpPr>
            <a:spLocks/>
          </p:cNvSpPr>
          <p:nvPr/>
        </p:nvSpPr>
        <p:spPr bwMode="auto">
          <a:xfrm>
            <a:off x="2465388" y="3911600"/>
            <a:ext cx="996950" cy="584200"/>
          </a:xfrm>
          <a:custGeom>
            <a:avLst/>
            <a:gdLst>
              <a:gd name="T0" fmla="*/ 625 w 628"/>
              <a:gd name="T1" fmla="*/ 330 h 368"/>
              <a:gd name="T2" fmla="*/ 610 w 628"/>
              <a:gd name="T3" fmla="*/ 262 h 368"/>
              <a:gd name="T4" fmla="*/ 585 w 628"/>
              <a:gd name="T5" fmla="*/ 204 h 368"/>
              <a:gd name="T6" fmla="*/ 550 w 628"/>
              <a:gd name="T7" fmla="*/ 154 h 368"/>
              <a:gd name="T8" fmla="*/ 507 w 628"/>
              <a:gd name="T9" fmla="*/ 115 h 368"/>
              <a:gd name="T10" fmla="*/ 457 w 628"/>
              <a:gd name="T11" fmla="*/ 85 h 368"/>
              <a:gd name="T12" fmla="*/ 403 w 628"/>
              <a:gd name="T13" fmla="*/ 63 h 368"/>
              <a:gd name="T14" fmla="*/ 346 w 628"/>
              <a:gd name="T15" fmla="*/ 52 h 368"/>
              <a:gd name="T16" fmla="*/ 288 w 628"/>
              <a:gd name="T17" fmla="*/ 50 h 368"/>
              <a:gd name="T18" fmla="*/ 230 w 628"/>
              <a:gd name="T19" fmla="*/ 60 h 368"/>
              <a:gd name="T20" fmla="*/ 177 w 628"/>
              <a:gd name="T21" fmla="*/ 78 h 368"/>
              <a:gd name="T22" fmla="*/ 126 w 628"/>
              <a:gd name="T23" fmla="*/ 106 h 368"/>
              <a:gd name="T24" fmla="*/ 83 w 628"/>
              <a:gd name="T25" fmla="*/ 146 h 368"/>
              <a:gd name="T26" fmla="*/ 47 w 628"/>
              <a:gd name="T27" fmla="*/ 196 h 368"/>
              <a:gd name="T28" fmla="*/ 20 w 628"/>
              <a:gd name="T29" fmla="*/ 257 h 368"/>
              <a:gd name="T30" fmla="*/ 5 w 628"/>
              <a:gd name="T31" fmla="*/ 328 h 368"/>
              <a:gd name="T32" fmla="*/ 0 w 628"/>
              <a:gd name="T33" fmla="*/ 323 h 368"/>
              <a:gd name="T34" fmla="*/ 5 w 628"/>
              <a:gd name="T35" fmla="*/ 242 h 368"/>
              <a:gd name="T36" fmla="*/ 27 w 628"/>
              <a:gd name="T37" fmla="*/ 174 h 368"/>
              <a:gd name="T38" fmla="*/ 60 w 628"/>
              <a:gd name="T39" fmla="*/ 116 h 368"/>
              <a:gd name="T40" fmla="*/ 105 w 628"/>
              <a:gd name="T41" fmla="*/ 71 h 368"/>
              <a:gd name="T42" fmla="*/ 158 w 628"/>
              <a:gd name="T43" fmla="*/ 37 h 368"/>
              <a:gd name="T44" fmla="*/ 216 w 628"/>
              <a:gd name="T45" fmla="*/ 14 h 368"/>
              <a:gd name="T46" fmla="*/ 277 w 628"/>
              <a:gd name="T47" fmla="*/ 2 h 368"/>
              <a:gd name="T48" fmla="*/ 340 w 628"/>
              <a:gd name="T49" fmla="*/ 2 h 368"/>
              <a:gd name="T50" fmla="*/ 403 w 628"/>
              <a:gd name="T51" fmla="*/ 14 h 368"/>
              <a:gd name="T52" fmla="*/ 462 w 628"/>
              <a:gd name="T53" fmla="*/ 37 h 368"/>
              <a:gd name="T54" fmla="*/ 515 w 628"/>
              <a:gd name="T55" fmla="*/ 71 h 368"/>
              <a:gd name="T56" fmla="*/ 562 w 628"/>
              <a:gd name="T57" fmla="*/ 116 h 368"/>
              <a:gd name="T58" fmla="*/ 596 w 628"/>
              <a:gd name="T59" fmla="*/ 174 h 368"/>
              <a:gd name="T60" fmla="*/ 620 w 628"/>
              <a:gd name="T61" fmla="*/ 242 h 368"/>
              <a:gd name="T62" fmla="*/ 628 w 628"/>
              <a:gd name="T63" fmla="*/ 323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28" h="368">
                <a:moveTo>
                  <a:pt x="626" y="368"/>
                </a:moveTo>
                <a:lnTo>
                  <a:pt x="625" y="330"/>
                </a:lnTo>
                <a:lnTo>
                  <a:pt x="618" y="295"/>
                </a:lnTo>
                <a:lnTo>
                  <a:pt x="610" y="262"/>
                </a:lnTo>
                <a:lnTo>
                  <a:pt x="600" y="232"/>
                </a:lnTo>
                <a:lnTo>
                  <a:pt x="585" y="204"/>
                </a:lnTo>
                <a:lnTo>
                  <a:pt x="568" y="179"/>
                </a:lnTo>
                <a:lnTo>
                  <a:pt x="550" y="154"/>
                </a:lnTo>
                <a:lnTo>
                  <a:pt x="529" y="134"/>
                </a:lnTo>
                <a:lnTo>
                  <a:pt x="507" y="115"/>
                </a:lnTo>
                <a:lnTo>
                  <a:pt x="482" y="98"/>
                </a:lnTo>
                <a:lnTo>
                  <a:pt x="457" y="85"/>
                </a:lnTo>
                <a:lnTo>
                  <a:pt x="431" y="73"/>
                </a:lnTo>
                <a:lnTo>
                  <a:pt x="403" y="63"/>
                </a:lnTo>
                <a:lnTo>
                  <a:pt x="374" y="57"/>
                </a:lnTo>
                <a:lnTo>
                  <a:pt x="346" y="52"/>
                </a:lnTo>
                <a:lnTo>
                  <a:pt x="317" y="50"/>
                </a:lnTo>
                <a:lnTo>
                  <a:pt x="288" y="50"/>
                </a:lnTo>
                <a:lnTo>
                  <a:pt x="260" y="53"/>
                </a:lnTo>
                <a:lnTo>
                  <a:pt x="230" y="60"/>
                </a:lnTo>
                <a:lnTo>
                  <a:pt x="204" y="67"/>
                </a:lnTo>
                <a:lnTo>
                  <a:pt x="177" y="78"/>
                </a:lnTo>
                <a:lnTo>
                  <a:pt x="151" y="91"/>
                </a:lnTo>
                <a:lnTo>
                  <a:pt x="126" y="106"/>
                </a:lnTo>
                <a:lnTo>
                  <a:pt x="105" y="124"/>
                </a:lnTo>
                <a:lnTo>
                  <a:pt x="83" y="146"/>
                </a:lnTo>
                <a:lnTo>
                  <a:pt x="63" y="169"/>
                </a:lnTo>
                <a:lnTo>
                  <a:pt x="47" y="196"/>
                </a:lnTo>
                <a:lnTo>
                  <a:pt x="32" y="225"/>
                </a:lnTo>
                <a:lnTo>
                  <a:pt x="20" y="257"/>
                </a:lnTo>
                <a:lnTo>
                  <a:pt x="12" y="290"/>
                </a:lnTo>
                <a:lnTo>
                  <a:pt x="5" y="328"/>
                </a:lnTo>
                <a:lnTo>
                  <a:pt x="4" y="368"/>
                </a:lnTo>
                <a:lnTo>
                  <a:pt x="0" y="323"/>
                </a:lnTo>
                <a:lnTo>
                  <a:pt x="0" y="282"/>
                </a:lnTo>
                <a:lnTo>
                  <a:pt x="5" y="242"/>
                </a:lnTo>
                <a:lnTo>
                  <a:pt x="15" y="207"/>
                </a:lnTo>
                <a:lnTo>
                  <a:pt x="27" y="174"/>
                </a:lnTo>
                <a:lnTo>
                  <a:pt x="42" y="144"/>
                </a:lnTo>
                <a:lnTo>
                  <a:pt x="60" y="116"/>
                </a:lnTo>
                <a:lnTo>
                  <a:pt x="81" y="93"/>
                </a:lnTo>
                <a:lnTo>
                  <a:pt x="105" y="71"/>
                </a:lnTo>
                <a:lnTo>
                  <a:pt x="129" y="53"/>
                </a:lnTo>
                <a:lnTo>
                  <a:pt x="158" y="37"/>
                </a:lnTo>
                <a:lnTo>
                  <a:pt x="186" y="23"/>
                </a:lnTo>
                <a:lnTo>
                  <a:pt x="216" y="14"/>
                </a:lnTo>
                <a:lnTo>
                  <a:pt x="245" y="7"/>
                </a:lnTo>
                <a:lnTo>
                  <a:pt x="277" y="2"/>
                </a:lnTo>
                <a:lnTo>
                  <a:pt x="308" y="0"/>
                </a:lnTo>
                <a:lnTo>
                  <a:pt x="340" y="2"/>
                </a:lnTo>
                <a:lnTo>
                  <a:pt x="371" y="7"/>
                </a:lnTo>
                <a:lnTo>
                  <a:pt x="403" y="14"/>
                </a:lnTo>
                <a:lnTo>
                  <a:pt x="432" y="23"/>
                </a:lnTo>
                <a:lnTo>
                  <a:pt x="462" y="37"/>
                </a:lnTo>
                <a:lnTo>
                  <a:pt x="489" y="52"/>
                </a:lnTo>
                <a:lnTo>
                  <a:pt x="515" y="71"/>
                </a:lnTo>
                <a:lnTo>
                  <a:pt x="538" y="93"/>
                </a:lnTo>
                <a:lnTo>
                  <a:pt x="562" y="116"/>
                </a:lnTo>
                <a:lnTo>
                  <a:pt x="580" y="144"/>
                </a:lnTo>
                <a:lnTo>
                  <a:pt x="596" y="174"/>
                </a:lnTo>
                <a:lnTo>
                  <a:pt x="610" y="207"/>
                </a:lnTo>
                <a:lnTo>
                  <a:pt x="620" y="242"/>
                </a:lnTo>
                <a:lnTo>
                  <a:pt x="626" y="282"/>
                </a:lnTo>
                <a:lnTo>
                  <a:pt x="628" y="323"/>
                </a:lnTo>
                <a:lnTo>
                  <a:pt x="626" y="368"/>
                </a:lnTo>
                <a:close/>
              </a:path>
            </a:pathLst>
          </a:custGeom>
          <a:solidFill>
            <a:srgbClr val="FEF8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21" name="Freeform 2626">
            <a:extLst>
              <a:ext uri="{FF2B5EF4-FFF2-40B4-BE49-F238E27FC236}">
                <a16:creationId xmlns:a16="http://schemas.microsoft.com/office/drawing/2014/main" id="{1A497C11-1DD5-487E-D116-1ABF2F29DADB}"/>
              </a:ext>
            </a:extLst>
          </p:cNvPr>
          <p:cNvSpPr>
            <a:spLocks/>
          </p:cNvSpPr>
          <p:nvPr/>
        </p:nvSpPr>
        <p:spPr bwMode="auto">
          <a:xfrm>
            <a:off x="2465388" y="3911600"/>
            <a:ext cx="996950" cy="584200"/>
          </a:xfrm>
          <a:custGeom>
            <a:avLst/>
            <a:gdLst>
              <a:gd name="T0" fmla="*/ 625 w 628"/>
              <a:gd name="T1" fmla="*/ 330 h 368"/>
              <a:gd name="T2" fmla="*/ 610 w 628"/>
              <a:gd name="T3" fmla="*/ 262 h 368"/>
              <a:gd name="T4" fmla="*/ 585 w 628"/>
              <a:gd name="T5" fmla="*/ 204 h 368"/>
              <a:gd name="T6" fmla="*/ 550 w 628"/>
              <a:gd name="T7" fmla="*/ 154 h 368"/>
              <a:gd name="T8" fmla="*/ 507 w 628"/>
              <a:gd name="T9" fmla="*/ 115 h 368"/>
              <a:gd name="T10" fmla="*/ 457 w 628"/>
              <a:gd name="T11" fmla="*/ 85 h 368"/>
              <a:gd name="T12" fmla="*/ 403 w 628"/>
              <a:gd name="T13" fmla="*/ 63 h 368"/>
              <a:gd name="T14" fmla="*/ 346 w 628"/>
              <a:gd name="T15" fmla="*/ 52 h 368"/>
              <a:gd name="T16" fmla="*/ 288 w 628"/>
              <a:gd name="T17" fmla="*/ 50 h 368"/>
              <a:gd name="T18" fmla="*/ 230 w 628"/>
              <a:gd name="T19" fmla="*/ 60 h 368"/>
              <a:gd name="T20" fmla="*/ 177 w 628"/>
              <a:gd name="T21" fmla="*/ 78 h 368"/>
              <a:gd name="T22" fmla="*/ 126 w 628"/>
              <a:gd name="T23" fmla="*/ 106 h 368"/>
              <a:gd name="T24" fmla="*/ 83 w 628"/>
              <a:gd name="T25" fmla="*/ 146 h 368"/>
              <a:gd name="T26" fmla="*/ 47 w 628"/>
              <a:gd name="T27" fmla="*/ 196 h 368"/>
              <a:gd name="T28" fmla="*/ 20 w 628"/>
              <a:gd name="T29" fmla="*/ 257 h 368"/>
              <a:gd name="T30" fmla="*/ 5 w 628"/>
              <a:gd name="T31" fmla="*/ 328 h 368"/>
              <a:gd name="T32" fmla="*/ 0 w 628"/>
              <a:gd name="T33" fmla="*/ 323 h 368"/>
              <a:gd name="T34" fmla="*/ 5 w 628"/>
              <a:gd name="T35" fmla="*/ 242 h 368"/>
              <a:gd name="T36" fmla="*/ 27 w 628"/>
              <a:gd name="T37" fmla="*/ 174 h 368"/>
              <a:gd name="T38" fmla="*/ 60 w 628"/>
              <a:gd name="T39" fmla="*/ 116 h 368"/>
              <a:gd name="T40" fmla="*/ 105 w 628"/>
              <a:gd name="T41" fmla="*/ 71 h 368"/>
              <a:gd name="T42" fmla="*/ 158 w 628"/>
              <a:gd name="T43" fmla="*/ 37 h 368"/>
              <a:gd name="T44" fmla="*/ 216 w 628"/>
              <a:gd name="T45" fmla="*/ 14 h 368"/>
              <a:gd name="T46" fmla="*/ 277 w 628"/>
              <a:gd name="T47" fmla="*/ 2 h 368"/>
              <a:gd name="T48" fmla="*/ 340 w 628"/>
              <a:gd name="T49" fmla="*/ 2 h 368"/>
              <a:gd name="T50" fmla="*/ 403 w 628"/>
              <a:gd name="T51" fmla="*/ 14 h 368"/>
              <a:gd name="T52" fmla="*/ 462 w 628"/>
              <a:gd name="T53" fmla="*/ 37 h 368"/>
              <a:gd name="T54" fmla="*/ 515 w 628"/>
              <a:gd name="T55" fmla="*/ 71 h 368"/>
              <a:gd name="T56" fmla="*/ 562 w 628"/>
              <a:gd name="T57" fmla="*/ 116 h 368"/>
              <a:gd name="T58" fmla="*/ 596 w 628"/>
              <a:gd name="T59" fmla="*/ 174 h 368"/>
              <a:gd name="T60" fmla="*/ 620 w 628"/>
              <a:gd name="T61" fmla="*/ 242 h 368"/>
              <a:gd name="T62" fmla="*/ 628 w 628"/>
              <a:gd name="T63" fmla="*/ 323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28" h="368">
                <a:moveTo>
                  <a:pt x="626" y="368"/>
                </a:moveTo>
                <a:lnTo>
                  <a:pt x="625" y="330"/>
                </a:lnTo>
                <a:lnTo>
                  <a:pt x="618" y="295"/>
                </a:lnTo>
                <a:lnTo>
                  <a:pt x="610" y="262"/>
                </a:lnTo>
                <a:lnTo>
                  <a:pt x="600" y="232"/>
                </a:lnTo>
                <a:lnTo>
                  <a:pt x="585" y="204"/>
                </a:lnTo>
                <a:lnTo>
                  <a:pt x="568" y="179"/>
                </a:lnTo>
                <a:lnTo>
                  <a:pt x="550" y="154"/>
                </a:lnTo>
                <a:lnTo>
                  <a:pt x="529" y="134"/>
                </a:lnTo>
                <a:lnTo>
                  <a:pt x="507" y="115"/>
                </a:lnTo>
                <a:lnTo>
                  <a:pt x="482" y="98"/>
                </a:lnTo>
                <a:lnTo>
                  <a:pt x="457" y="85"/>
                </a:lnTo>
                <a:lnTo>
                  <a:pt x="431" y="73"/>
                </a:lnTo>
                <a:lnTo>
                  <a:pt x="403" y="63"/>
                </a:lnTo>
                <a:lnTo>
                  <a:pt x="374" y="57"/>
                </a:lnTo>
                <a:lnTo>
                  <a:pt x="346" y="52"/>
                </a:lnTo>
                <a:lnTo>
                  <a:pt x="317" y="50"/>
                </a:lnTo>
                <a:lnTo>
                  <a:pt x="288" y="50"/>
                </a:lnTo>
                <a:lnTo>
                  <a:pt x="260" y="53"/>
                </a:lnTo>
                <a:lnTo>
                  <a:pt x="230" y="60"/>
                </a:lnTo>
                <a:lnTo>
                  <a:pt x="204" y="67"/>
                </a:lnTo>
                <a:lnTo>
                  <a:pt x="177" y="78"/>
                </a:lnTo>
                <a:lnTo>
                  <a:pt x="151" y="91"/>
                </a:lnTo>
                <a:lnTo>
                  <a:pt x="126" y="106"/>
                </a:lnTo>
                <a:lnTo>
                  <a:pt x="105" y="124"/>
                </a:lnTo>
                <a:lnTo>
                  <a:pt x="83" y="146"/>
                </a:lnTo>
                <a:lnTo>
                  <a:pt x="63" y="169"/>
                </a:lnTo>
                <a:lnTo>
                  <a:pt x="47" y="196"/>
                </a:lnTo>
                <a:lnTo>
                  <a:pt x="32" y="225"/>
                </a:lnTo>
                <a:lnTo>
                  <a:pt x="20" y="257"/>
                </a:lnTo>
                <a:lnTo>
                  <a:pt x="12" y="290"/>
                </a:lnTo>
                <a:lnTo>
                  <a:pt x="5" y="328"/>
                </a:lnTo>
                <a:lnTo>
                  <a:pt x="4" y="368"/>
                </a:lnTo>
                <a:lnTo>
                  <a:pt x="0" y="323"/>
                </a:lnTo>
                <a:lnTo>
                  <a:pt x="0" y="282"/>
                </a:lnTo>
                <a:lnTo>
                  <a:pt x="5" y="242"/>
                </a:lnTo>
                <a:lnTo>
                  <a:pt x="15" y="207"/>
                </a:lnTo>
                <a:lnTo>
                  <a:pt x="27" y="174"/>
                </a:lnTo>
                <a:lnTo>
                  <a:pt x="42" y="144"/>
                </a:lnTo>
                <a:lnTo>
                  <a:pt x="60" y="116"/>
                </a:lnTo>
                <a:lnTo>
                  <a:pt x="81" y="93"/>
                </a:lnTo>
                <a:lnTo>
                  <a:pt x="105" y="71"/>
                </a:lnTo>
                <a:lnTo>
                  <a:pt x="129" y="53"/>
                </a:lnTo>
                <a:lnTo>
                  <a:pt x="158" y="37"/>
                </a:lnTo>
                <a:lnTo>
                  <a:pt x="186" y="23"/>
                </a:lnTo>
                <a:lnTo>
                  <a:pt x="216" y="14"/>
                </a:lnTo>
                <a:lnTo>
                  <a:pt x="245" y="7"/>
                </a:lnTo>
                <a:lnTo>
                  <a:pt x="277" y="2"/>
                </a:lnTo>
                <a:lnTo>
                  <a:pt x="308" y="0"/>
                </a:lnTo>
                <a:lnTo>
                  <a:pt x="340" y="2"/>
                </a:lnTo>
                <a:lnTo>
                  <a:pt x="371" y="7"/>
                </a:lnTo>
                <a:lnTo>
                  <a:pt x="403" y="14"/>
                </a:lnTo>
                <a:lnTo>
                  <a:pt x="432" y="23"/>
                </a:lnTo>
                <a:lnTo>
                  <a:pt x="462" y="37"/>
                </a:lnTo>
                <a:lnTo>
                  <a:pt x="489" y="52"/>
                </a:lnTo>
                <a:lnTo>
                  <a:pt x="515" y="71"/>
                </a:lnTo>
                <a:lnTo>
                  <a:pt x="538" y="93"/>
                </a:lnTo>
                <a:lnTo>
                  <a:pt x="562" y="116"/>
                </a:lnTo>
                <a:lnTo>
                  <a:pt x="580" y="144"/>
                </a:lnTo>
                <a:lnTo>
                  <a:pt x="596" y="174"/>
                </a:lnTo>
                <a:lnTo>
                  <a:pt x="610" y="207"/>
                </a:lnTo>
                <a:lnTo>
                  <a:pt x="620" y="242"/>
                </a:lnTo>
                <a:lnTo>
                  <a:pt x="626" y="282"/>
                </a:lnTo>
                <a:lnTo>
                  <a:pt x="628" y="323"/>
                </a:lnTo>
                <a:lnTo>
                  <a:pt x="626" y="368"/>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22" name="Freeform 2627">
            <a:extLst>
              <a:ext uri="{FF2B5EF4-FFF2-40B4-BE49-F238E27FC236}">
                <a16:creationId xmlns:a16="http://schemas.microsoft.com/office/drawing/2014/main" id="{22B2C1AB-93F8-E905-C67B-4E290CDCBF0C}"/>
              </a:ext>
            </a:extLst>
          </p:cNvPr>
          <p:cNvSpPr>
            <a:spLocks/>
          </p:cNvSpPr>
          <p:nvPr/>
        </p:nvSpPr>
        <p:spPr bwMode="auto">
          <a:xfrm>
            <a:off x="2413000" y="4492625"/>
            <a:ext cx="111125" cy="836613"/>
          </a:xfrm>
          <a:custGeom>
            <a:avLst/>
            <a:gdLst>
              <a:gd name="T0" fmla="*/ 37 w 70"/>
              <a:gd name="T1" fmla="*/ 0 h 527"/>
              <a:gd name="T2" fmla="*/ 0 w 70"/>
              <a:gd name="T3" fmla="*/ 257 h 527"/>
              <a:gd name="T4" fmla="*/ 38 w 70"/>
              <a:gd name="T5" fmla="*/ 527 h 527"/>
              <a:gd name="T6" fmla="*/ 70 w 70"/>
              <a:gd name="T7" fmla="*/ 257 h 527"/>
              <a:gd name="T8" fmla="*/ 37 w 70"/>
              <a:gd name="T9" fmla="*/ 0 h 527"/>
            </a:gdLst>
            <a:ahLst/>
            <a:cxnLst>
              <a:cxn ang="0">
                <a:pos x="T0" y="T1"/>
              </a:cxn>
              <a:cxn ang="0">
                <a:pos x="T2" y="T3"/>
              </a:cxn>
              <a:cxn ang="0">
                <a:pos x="T4" y="T5"/>
              </a:cxn>
              <a:cxn ang="0">
                <a:pos x="T6" y="T7"/>
              </a:cxn>
              <a:cxn ang="0">
                <a:pos x="T8" y="T9"/>
              </a:cxn>
            </a:cxnLst>
            <a:rect l="0" t="0" r="r" b="b"/>
            <a:pathLst>
              <a:path w="70" h="527">
                <a:moveTo>
                  <a:pt x="37" y="0"/>
                </a:moveTo>
                <a:lnTo>
                  <a:pt x="0" y="257"/>
                </a:lnTo>
                <a:lnTo>
                  <a:pt x="38" y="527"/>
                </a:lnTo>
                <a:lnTo>
                  <a:pt x="70" y="257"/>
                </a:lnTo>
                <a:lnTo>
                  <a:pt x="37" y="0"/>
                </a:lnTo>
                <a:close/>
              </a:path>
            </a:pathLst>
          </a:custGeom>
          <a:solidFill>
            <a:srgbClr val="F4F18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23" name="Freeform 2628">
            <a:extLst>
              <a:ext uri="{FF2B5EF4-FFF2-40B4-BE49-F238E27FC236}">
                <a16:creationId xmlns:a16="http://schemas.microsoft.com/office/drawing/2014/main" id="{FA42FF24-CEE2-838C-C607-9F8569A96D67}"/>
              </a:ext>
            </a:extLst>
          </p:cNvPr>
          <p:cNvSpPr>
            <a:spLocks/>
          </p:cNvSpPr>
          <p:nvPr/>
        </p:nvSpPr>
        <p:spPr bwMode="auto">
          <a:xfrm>
            <a:off x="2413000" y="4895850"/>
            <a:ext cx="111125" cy="7938"/>
          </a:xfrm>
          <a:custGeom>
            <a:avLst/>
            <a:gdLst>
              <a:gd name="T0" fmla="*/ 70 w 70"/>
              <a:gd name="T1" fmla="*/ 0 h 5"/>
              <a:gd name="T2" fmla="*/ 2 w 70"/>
              <a:gd name="T3" fmla="*/ 0 h 5"/>
              <a:gd name="T4" fmla="*/ 0 w 70"/>
              <a:gd name="T5" fmla="*/ 3 h 5"/>
              <a:gd name="T6" fmla="*/ 2 w 70"/>
              <a:gd name="T7" fmla="*/ 5 h 5"/>
              <a:gd name="T8" fmla="*/ 70 w 70"/>
              <a:gd name="T9" fmla="*/ 5 h 5"/>
              <a:gd name="T10" fmla="*/ 70 w 70"/>
              <a:gd name="T11" fmla="*/ 3 h 5"/>
              <a:gd name="T12" fmla="*/ 70 w 70"/>
              <a:gd name="T13" fmla="*/ 0 h 5"/>
            </a:gdLst>
            <a:ahLst/>
            <a:cxnLst>
              <a:cxn ang="0">
                <a:pos x="T0" y="T1"/>
              </a:cxn>
              <a:cxn ang="0">
                <a:pos x="T2" y="T3"/>
              </a:cxn>
              <a:cxn ang="0">
                <a:pos x="T4" y="T5"/>
              </a:cxn>
              <a:cxn ang="0">
                <a:pos x="T6" y="T7"/>
              </a:cxn>
              <a:cxn ang="0">
                <a:pos x="T8" y="T9"/>
              </a:cxn>
              <a:cxn ang="0">
                <a:pos x="T10" y="T11"/>
              </a:cxn>
              <a:cxn ang="0">
                <a:pos x="T12" y="T13"/>
              </a:cxn>
            </a:cxnLst>
            <a:rect l="0" t="0" r="r" b="b"/>
            <a:pathLst>
              <a:path w="70" h="5">
                <a:moveTo>
                  <a:pt x="70" y="0"/>
                </a:moveTo>
                <a:lnTo>
                  <a:pt x="2" y="0"/>
                </a:lnTo>
                <a:lnTo>
                  <a:pt x="0" y="3"/>
                </a:lnTo>
                <a:lnTo>
                  <a:pt x="2" y="5"/>
                </a:lnTo>
                <a:lnTo>
                  <a:pt x="70" y="5"/>
                </a:lnTo>
                <a:lnTo>
                  <a:pt x="70" y="3"/>
                </a:lnTo>
                <a:lnTo>
                  <a:pt x="70" y="0"/>
                </a:lnTo>
                <a:close/>
              </a:path>
            </a:pathLst>
          </a:custGeom>
          <a:solidFill>
            <a:srgbClr val="817F5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24" name="Freeform 2629">
            <a:extLst>
              <a:ext uri="{FF2B5EF4-FFF2-40B4-BE49-F238E27FC236}">
                <a16:creationId xmlns:a16="http://schemas.microsoft.com/office/drawing/2014/main" id="{3B6BB126-F66A-370D-1D6F-3F26B1A30C9E}"/>
              </a:ext>
            </a:extLst>
          </p:cNvPr>
          <p:cNvSpPr>
            <a:spLocks/>
          </p:cNvSpPr>
          <p:nvPr/>
        </p:nvSpPr>
        <p:spPr bwMode="auto">
          <a:xfrm>
            <a:off x="2471738" y="5321300"/>
            <a:ext cx="1588" cy="7938"/>
          </a:xfrm>
          <a:custGeom>
            <a:avLst/>
            <a:gdLst>
              <a:gd name="T0" fmla="*/ 1 w 1"/>
              <a:gd name="T1" fmla="*/ 0 h 5"/>
              <a:gd name="T2" fmla="*/ 0 w 1"/>
              <a:gd name="T3" fmla="*/ 0 h 5"/>
              <a:gd name="T4" fmla="*/ 1 w 1"/>
              <a:gd name="T5" fmla="*/ 5 h 5"/>
              <a:gd name="T6" fmla="*/ 1 w 1"/>
              <a:gd name="T7" fmla="*/ 0 h 5"/>
            </a:gdLst>
            <a:ahLst/>
            <a:cxnLst>
              <a:cxn ang="0">
                <a:pos x="T0" y="T1"/>
              </a:cxn>
              <a:cxn ang="0">
                <a:pos x="T2" y="T3"/>
              </a:cxn>
              <a:cxn ang="0">
                <a:pos x="T4" y="T5"/>
              </a:cxn>
              <a:cxn ang="0">
                <a:pos x="T6" y="T7"/>
              </a:cxn>
            </a:cxnLst>
            <a:rect l="0" t="0" r="r" b="b"/>
            <a:pathLst>
              <a:path w="1" h="5">
                <a:moveTo>
                  <a:pt x="1" y="0"/>
                </a:moveTo>
                <a:lnTo>
                  <a:pt x="0" y="0"/>
                </a:lnTo>
                <a:lnTo>
                  <a:pt x="1" y="5"/>
                </a:lnTo>
                <a:lnTo>
                  <a:pt x="1" y="0"/>
                </a:lnTo>
                <a:close/>
              </a:path>
            </a:pathLst>
          </a:custGeom>
          <a:solidFill>
            <a:srgbClr val="817F5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25" name="Freeform 2630">
            <a:extLst>
              <a:ext uri="{FF2B5EF4-FFF2-40B4-BE49-F238E27FC236}">
                <a16:creationId xmlns:a16="http://schemas.microsoft.com/office/drawing/2014/main" id="{7A50E885-F0E6-0F0E-1786-F4F08FFE0EDA}"/>
              </a:ext>
            </a:extLst>
          </p:cNvPr>
          <p:cNvSpPr>
            <a:spLocks noEditPoints="1"/>
          </p:cNvSpPr>
          <p:nvPr/>
        </p:nvSpPr>
        <p:spPr bwMode="auto">
          <a:xfrm>
            <a:off x="2471738" y="5321300"/>
            <a:ext cx="1588" cy="7938"/>
          </a:xfrm>
          <a:custGeom>
            <a:avLst/>
            <a:gdLst>
              <a:gd name="T0" fmla="*/ 1 w 1"/>
              <a:gd name="T1" fmla="*/ 0 h 5"/>
              <a:gd name="T2" fmla="*/ 0 w 1"/>
              <a:gd name="T3" fmla="*/ 0 h 5"/>
              <a:gd name="T4" fmla="*/ 1 w 1"/>
              <a:gd name="T5" fmla="*/ 5 h 5"/>
              <a:gd name="T6" fmla="*/ 1 w 1"/>
              <a:gd name="T7" fmla="*/ 0 h 5"/>
              <a:gd name="T8" fmla="*/ 1 w 1"/>
              <a:gd name="T9" fmla="*/ 0 h 5"/>
              <a:gd name="T10" fmla="*/ 0 w 1"/>
              <a:gd name="T11" fmla="*/ 0 h 5"/>
              <a:gd name="T12" fmla="*/ 1 w 1"/>
              <a:gd name="T13" fmla="*/ 0 h 5"/>
            </a:gdLst>
            <a:ahLst/>
            <a:cxnLst>
              <a:cxn ang="0">
                <a:pos x="T0" y="T1"/>
              </a:cxn>
              <a:cxn ang="0">
                <a:pos x="T2" y="T3"/>
              </a:cxn>
              <a:cxn ang="0">
                <a:pos x="T4" y="T5"/>
              </a:cxn>
              <a:cxn ang="0">
                <a:pos x="T6" y="T7"/>
              </a:cxn>
              <a:cxn ang="0">
                <a:pos x="T8" y="T9"/>
              </a:cxn>
              <a:cxn ang="0">
                <a:pos x="T10" y="T11"/>
              </a:cxn>
              <a:cxn ang="0">
                <a:pos x="T12" y="T13"/>
              </a:cxn>
            </a:cxnLst>
            <a:rect l="0" t="0" r="r" b="b"/>
            <a:pathLst>
              <a:path w="1" h="5">
                <a:moveTo>
                  <a:pt x="1" y="0"/>
                </a:moveTo>
                <a:lnTo>
                  <a:pt x="0" y="0"/>
                </a:lnTo>
                <a:lnTo>
                  <a:pt x="1" y="5"/>
                </a:lnTo>
                <a:lnTo>
                  <a:pt x="1" y="0"/>
                </a:lnTo>
                <a:close/>
                <a:moveTo>
                  <a:pt x="1" y="0"/>
                </a:moveTo>
                <a:lnTo>
                  <a:pt x="0" y="0"/>
                </a:lnTo>
                <a:lnTo>
                  <a:pt x="1" y="0"/>
                </a:lnTo>
                <a:close/>
              </a:path>
            </a:pathLst>
          </a:custGeom>
          <a:solidFill>
            <a:srgbClr val="817F5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26" name="Line 2631">
            <a:extLst>
              <a:ext uri="{FF2B5EF4-FFF2-40B4-BE49-F238E27FC236}">
                <a16:creationId xmlns:a16="http://schemas.microsoft.com/office/drawing/2014/main" id="{44FAED45-4408-0BCF-66A2-6C69CF966107}"/>
              </a:ext>
            </a:extLst>
          </p:cNvPr>
          <p:cNvSpPr>
            <a:spLocks noChangeShapeType="1"/>
          </p:cNvSpPr>
          <p:nvPr/>
        </p:nvSpPr>
        <p:spPr bwMode="auto">
          <a:xfrm>
            <a:off x="2468563" y="4505325"/>
            <a:ext cx="1588" cy="800100"/>
          </a:xfrm>
          <a:prstGeom prst="line">
            <a:avLst/>
          </a:prstGeom>
          <a:noFill/>
          <a:ln w="1588" cap="rnd">
            <a:solidFill>
              <a:srgbClr val="808057"/>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27" name="Freeform 2632">
            <a:extLst>
              <a:ext uri="{FF2B5EF4-FFF2-40B4-BE49-F238E27FC236}">
                <a16:creationId xmlns:a16="http://schemas.microsoft.com/office/drawing/2014/main" id="{61F1D16D-6522-6EFE-FDB6-FED3F6104F85}"/>
              </a:ext>
            </a:extLst>
          </p:cNvPr>
          <p:cNvSpPr>
            <a:spLocks/>
          </p:cNvSpPr>
          <p:nvPr/>
        </p:nvSpPr>
        <p:spPr bwMode="auto">
          <a:xfrm>
            <a:off x="2468563" y="4492625"/>
            <a:ext cx="4763" cy="15875"/>
          </a:xfrm>
          <a:custGeom>
            <a:avLst/>
            <a:gdLst>
              <a:gd name="T0" fmla="*/ 3 w 3"/>
              <a:gd name="T1" fmla="*/ 10 h 10"/>
              <a:gd name="T2" fmla="*/ 0 w 3"/>
              <a:gd name="T3" fmla="*/ 10 h 10"/>
              <a:gd name="T4" fmla="*/ 2 w 3"/>
              <a:gd name="T5" fmla="*/ 0 h 10"/>
              <a:gd name="T6" fmla="*/ 3 w 3"/>
              <a:gd name="T7" fmla="*/ 10 h 10"/>
            </a:gdLst>
            <a:ahLst/>
            <a:cxnLst>
              <a:cxn ang="0">
                <a:pos x="T0" y="T1"/>
              </a:cxn>
              <a:cxn ang="0">
                <a:pos x="T2" y="T3"/>
              </a:cxn>
              <a:cxn ang="0">
                <a:pos x="T4" y="T5"/>
              </a:cxn>
              <a:cxn ang="0">
                <a:pos x="T6" y="T7"/>
              </a:cxn>
            </a:cxnLst>
            <a:rect l="0" t="0" r="r" b="b"/>
            <a:pathLst>
              <a:path w="3" h="10">
                <a:moveTo>
                  <a:pt x="3" y="10"/>
                </a:moveTo>
                <a:lnTo>
                  <a:pt x="0" y="10"/>
                </a:lnTo>
                <a:lnTo>
                  <a:pt x="2" y="0"/>
                </a:lnTo>
                <a:lnTo>
                  <a:pt x="3" y="10"/>
                </a:lnTo>
                <a:close/>
              </a:path>
            </a:pathLst>
          </a:custGeom>
          <a:solidFill>
            <a:srgbClr val="FDFC8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28" name="Freeform 2633">
            <a:extLst>
              <a:ext uri="{FF2B5EF4-FFF2-40B4-BE49-F238E27FC236}">
                <a16:creationId xmlns:a16="http://schemas.microsoft.com/office/drawing/2014/main" id="{7A249E29-BBE6-5E09-4972-7F93255E2F77}"/>
              </a:ext>
            </a:extLst>
          </p:cNvPr>
          <p:cNvSpPr>
            <a:spLocks/>
          </p:cNvSpPr>
          <p:nvPr/>
        </p:nvSpPr>
        <p:spPr bwMode="auto">
          <a:xfrm>
            <a:off x="2413000" y="4492625"/>
            <a:ext cx="60325" cy="407988"/>
          </a:xfrm>
          <a:custGeom>
            <a:avLst/>
            <a:gdLst>
              <a:gd name="T0" fmla="*/ 3 w 38"/>
              <a:gd name="T1" fmla="*/ 257 h 257"/>
              <a:gd name="T2" fmla="*/ 3 w 38"/>
              <a:gd name="T3" fmla="*/ 257 h 257"/>
              <a:gd name="T4" fmla="*/ 38 w 38"/>
              <a:gd name="T5" fmla="*/ 10 h 257"/>
              <a:gd name="T6" fmla="*/ 37 w 38"/>
              <a:gd name="T7" fmla="*/ 0 h 257"/>
              <a:gd name="T8" fmla="*/ 0 w 38"/>
              <a:gd name="T9" fmla="*/ 257 h 257"/>
              <a:gd name="T10" fmla="*/ 3 w 38"/>
              <a:gd name="T11" fmla="*/ 257 h 257"/>
            </a:gdLst>
            <a:ahLst/>
            <a:cxnLst>
              <a:cxn ang="0">
                <a:pos x="T0" y="T1"/>
              </a:cxn>
              <a:cxn ang="0">
                <a:pos x="T2" y="T3"/>
              </a:cxn>
              <a:cxn ang="0">
                <a:pos x="T4" y="T5"/>
              </a:cxn>
              <a:cxn ang="0">
                <a:pos x="T6" y="T7"/>
              </a:cxn>
              <a:cxn ang="0">
                <a:pos x="T8" y="T9"/>
              </a:cxn>
              <a:cxn ang="0">
                <a:pos x="T10" y="T11"/>
              </a:cxn>
            </a:cxnLst>
            <a:rect l="0" t="0" r="r" b="b"/>
            <a:pathLst>
              <a:path w="38" h="257">
                <a:moveTo>
                  <a:pt x="3" y="257"/>
                </a:moveTo>
                <a:lnTo>
                  <a:pt x="3" y="257"/>
                </a:lnTo>
                <a:lnTo>
                  <a:pt x="38" y="10"/>
                </a:lnTo>
                <a:lnTo>
                  <a:pt x="37" y="0"/>
                </a:lnTo>
                <a:lnTo>
                  <a:pt x="0" y="257"/>
                </a:lnTo>
                <a:lnTo>
                  <a:pt x="3" y="257"/>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29" name="Freeform 2634">
            <a:extLst>
              <a:ext uri="{FF2B5EF4-FFF2-40B4-BE49-F238E27FC236}">
                <a16:creationId xmlns:a16="http://schemas.microsoft.com/office/drawing/2014/main" id="{8D8ECB1D-BE75-423A-9C5D-40D6FA82B272}"/>
              </a:ext>
            </a:extLst>
          </p:cNvPr>
          <p:cNvSpPr>
            <a:spLocks/>
          </p:cNvSpPr>
          <p:nvPr/>
        </p:nvSpPr>
        <p:spPr bwMode="auto">
          <a:xfrm>
            <a:off x="2413000" y="4900613"/>
            <a:ext cx="60325" cy="428625"/>
          </a:xfrm>
          <a:custGeom>
            <a:avLst/>
            <a:gdLst>
              <a:gd name="T0" fmla="*/ 38 w 38"/>
              <a:gd name="T1" fmla="*/ 270 h 270"/>
              <a:gd name="T2" fmla="*/ 38 w 38"/>
              <a:gd name="T3" fmla="*/ 270 h 270"/>
              <a:gd name="T4" fmla="*/ 38 w 38"/>
              <a:gd name="T5" fmla="*/ 260 h 270"/>
              <a:gd name="T6" fmla="*/ 3 w 38"/>
              <a:gd name="T7" fmla="*/ 0 h 270"/>
              <a:gd name="T8" fmla="*/ 0 w 38"/>
              <a:gd name="T9" fmla="*/ 0 h 270"/>
              <a:gd name="T10" fmla="*/ 38 w 38"/>
              <a:gd name="T11" fmla="*/ 270 h 270"/>
            </a:gdLst>
            <a:ahLst/>
            <a:cxnLst>
              <a:cxn ang="0">
                <a:pos x="T0" y="T1"/>
              </a:cxn>
              <a:cxn ang="0">
                <a:pos x="T2" y="T3"/>
              </a:cxn>
              <a:cxn ang="0">
                <a:pos x="T4" y="T5"/>
              </a:cxn>
              <a:cxn ang="0">
                <a:pos x="T6" y="T7"/>
              </a:cxn>
              <a:cxn ang="0">
                <a:pos x="T8" y="T9"/>
              </a:cxn>
              <a:cxn ang="0">
                <a:pos x="T10" y="T11"/>
              </a:cxn>
            </a:cxnLst>
            <a:rect l="0" t="0" r="r" b="b"/>
            <a:pathLst>
              <a:path w="38" h="270">
                <a:moveTo>
                  <a:pt x="38" y="270"/>
                </a:moveTo>
                <a:lnTo>
                  <a:pt x="38" y="270"/>
                </a:lnTo>
                <a:lnTo>
                  <a:pt x="38" y="260"/>
                </a:lnTo>
                <a:lnTo>
                  <a:pt x="3" y="0"/>
                </a:lnTo>
                <a:lnTo>
                  <a:pt x="0" y="0"/>
                </a:lnTo>
                <a:lnTo>
                  <a:pt x="38" y="270"/>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30" name="Freeform 2635">
            <a:extLst>
              <a:ext uri="{FF2B5EF4-FFF2-40B4-BE49-F238E27FC236}">
                <a16:creationId xmlns:a16="http://schemas.microsoft.com/office/drawing/2014/main" id="{CB451742-7FE0-C04F-24F5-825C3A901C60}"/>
              </a:ext>
            </a:extLst>
          </p:cNvPr>
          <p:cNvSpPr>
            <a:spLocks/>
          </p:cNvSpPr>
          <p:nvPr/>
        </p:nvSpPr>
        <p:spPr bwMode="auto">
          <a:xfrm>
            <a:off x="2471738" y="4900613"/>
            <a:ext cx="52388" cy="428625"/>
          </a:xfrm>
          <a:custGeom>
            <a:avLst/>
            <a:gdLst>
              <a:gd name="T0" fmla="*/ 31 w 33"/>
              <a:gd name="T1" fmla="*/ 0 h 270"/>
              <a:gd name="T2" fmla="*/ 31 w 33"/>
              <a:gd name="T3" fmla="*/ 0 h 270"/>
              <a:gd name="T4" fmla="*/ 0 w 33"/>
              <a:gd name="T5" fmla="*/ 260 h 270"/>
              <a:gd name="T6" fmla="*/ 1 w 33"/>
              <a:gd name="T7" fmla="*/ 270 h 270"/>
              <a:gd name="T8" fmla="*/ 33 w 33"/>
              <a:gd name="T9" fmla="*/ 0 h 270"/>
              <a:gd name="T10" fmla="*/ 31 w 33"/>
              <a:gd name="T11" fmla="*/ 0 h 270"/>
            </a:gdLst>
            <a:ahLst/>
            <a:cxnLst>
              <a:cxn ang="0">
                <a:pos x="T0" y="T1"/>
              </a:cxn>
              <a:cxn ang="0">
                <a:pos x="T2" y="T3"/>
              </a:cxn>
              <a:cxn ang="0">
                <a:pos x="T4" y="T5"/>
              </a:cxn>
              <a:cxn ang="0">
                <a:pos x="T6" y="T7"/>
              </a:cxn>
              <a:cxn ang="0">
                <a:pos x="T8" y="T9"/>
              </a:cxn>
              <a:cxn ang="0">
                <a:pos x="T10" y="T11"/>
              </a:cxn>
            </a:cxnLst>
            <a:rect l="0" t="0" r="r" b="b"/>
            <a:pathLst>
              <a:path w="33" h="270">
                <a:moveTo>
                  <a:pt x="31" y="0"/>
                </a:moveTo>
                <a:lnTo>
                  <a:pt x="31" y="0"/>
                </a:lnTo>
                <a:lnTo>
                  <a:pt x="0" y="260"/>
                </a:lnTo>
                <a:lnTo>
                  <a:pt x="1" y="270"/>
                </a:lnTo>
                <a:lnTo>
                  <a:pt x="33" y="0"/>
                </a:lnTo>
                <a:lnTo>
                  <a:pt x="31" y="0"/>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31" name="Freeform 2636">
            <a:extLst>
              <a:ext uri="{FF2B5EF4-FFF2-40B4-BE49-F238E27FC236}">
                <a16:creationId xmlns:a16="http://schemas.microsoft.com/office/drawing/2014/main" id="{EE005F92-1A55-0A3A-FF56-92B17DBDACC5}"/>
              </a:ext>
            </a:extLst>
          </p:cNvPr>
          <p:cNvSpPr>
            <a:spLocks/>
          </p:cNvSpPr>
          <p:nvPr/>
        </p:nvSpPr>
        <p:spPr bwMode="auto">
          <a:xfrm>
            <a:off x="2468563" y="4495800"/>
            <a:ext cx="55563" cy="404813"/>
          </a:xfrm>
          <a:custGeom>
            <a:avLst/>
            <a:gdLst>
              <a:gd name="T0" fmla="*/ 2 w 35"/>
              <a:gd name="T1" fmla="*/ 0 h 255"/>
              <a:gd name="T2" fmla="*/ 2 w 35"/>
              <a:gd name="T3" fmla="*/ 0 h 255"/>
              <a:gd name="T4" fmla="*/ 0 w 35"/>
              <a:gd name="T5" fmla="*/ 8 h 255"/>
              <a:gd name="T6" fmla="*/ 33 w 35"/>
              <a:gd name="T7" fmla="*/ 255 h 255"/>
              <a:gd name="T8" fmla="*/ 35 w 35"/>
              <a:gd name="T9" fmla="*/ 255 h 255"/>
              <a:gd name="T10" fmla="*/ 2 w 35"/>
              <a:gd name="T11" fmla="*/ 0 h 255"/>
            </a:gdLst>
            <a:ahLst/>
            <a:cxnLst>
              <a:cxn ang="0">
                <a:pos x="T0" y="T1"/>
              </a:cxn>
              <a:cxn ang="0">
                <a:pos x="T2" y="T3"/>
              </a:cxn>
              <a:cxn ang="0">
                <a:pos x="T4" y="T5"/>
              </a:cxn>
              <a:cxn ang="0">
                <a:pos x="T6" y="T7"/>
              </a:cxn>
              <a:cxn ang="0">
                <a:pos x="T8" y="T9"/>
              </a:cxn>
              <a:cxn ang="0">
                <a:pos x="T10" y="T11"/>
              </a:cxn>
            </a:cxnLst>
            <a:rect l="0" t="0" r="r" b="b"/>
            <a:pathLst>
              <a:path w="35" h="255">
                <a:moveTo>
                  <a:pt x="2" y="0"/>
                </a:moveTo>
                <a:lnTo>
                  <a:pt x="2" y="0"/>
                </a:lnTo>
                <a:lnTo>
                  <a:pt x="0" y="8"/>
                </a:lnTo>
                <a:lnTo>
                  <a:pt x="33" y="255"/>
                </a:lnTo>
                <a:lnTo>
                  <a:pt x="35" y="255"/>
                </a:lnTo>
                <a:lnTo>
                  <a:pt x="2" y="0"/>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32" name="Freeform 2637">
            <a:extLst>
              <a:ext uri="{FF2B5EF4-FFF2-40B4-BE49-F238E27FC236}">
                <a16:creationId xmlns:a16="http://schemas.microsoft.com/office/drawing/2014/main" id="{7FE031D0-774B-D017-0328-904685105A80}"/>
              </a:ext>
            </a:extLst>
          </p:cNvPr>
          <p:cNvSpPr>
            <a:spLocks/>
          </p:cNvSpPr>
          <p:nvPr/>
        </p:nvSpPr>
        <p:spPr bwMode="auto">
          <a:xfrm>
            <a:off x="2413000" y="4492625"/>
            <a:ext cx="111125" cy="836613"/>
          </a:xfrm>
          <a:custGeom>
            <a:avLst/>
            <a:gdLst>
              <a:gd name="T0" fmla="*/ 37 w 70"/>
              <a:gd name="T1" fmla="*/ 0 h 527"/>
              <a:gd name="T2" fmla="*/ 0 w 70"/>
              <a:gd name="T3" fmla="*/ 257 h 527"/>
              <a:gd name="T4" fmla="*/ 38 w 70"/>
              <a:gd name="T5" fmla="*/ 527 h 527"/>
              <a:gd name="T6" fmla="*/ 70 w 70"/>
              <a:gd name="T7" fmla="*/ 257 h 527"/>
              <a:gd name="T8" fmla="*/ 37 w 70"/>
              <a:gd name="T9" fmla="*/ 0 h 527"/>
            </a:gdLst>
            <a:ahLst/>
            <a:cxnLst>
              <a:cxn ang="0">
                <a:pos x="T0" y="T1"/>
              </a:cxn>
              <a:cxn ang="0">
                <a:pos x="T2" y="T3"/>
              </a:cxn>
              <a:cxn ang="0">
                <a:pos x="T4" y="T5"/>
              </a:cxn>
              <a:cxn ang="0">
                <a:pos x="T6" y="T7"/>
              </a:cxn>
              <a:cxn ang="0">
                <a:pos x="T8" y="T9"/>
              </a:cxn>
            </a:cxnLst>
            <a:rect l="0" t="0" r="r" b="b"/>
            <a:pathLst>
              <a:path w="70" h="527">
                <a:moveTo>
                  <a:pt x="37" y="0"/>
                </a:moveTo>
                <a:lnTo>
                  <a:pt x="0" y="257"/>
                </a:lnTo>
                <a:lnTo>
                  <a:pt x="38" y="527"/>
                </a:lnTo>
                <a:lnTo>
                  <a:pt x="70" y="257"/>
                </a:lnTo>
                <a:lnTo>
                  <a:pt x="37" y="0"/>
                </a:lnTo>
              </a:path>
            </a:pathLst>
          </a:custGeom>
          <a:noFill/>
          <a:ln w="7938"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33" name="Freeform 2638">
            <a:extLst>
              <a:ext uri="{FF2B5EF4-FFF2-40B4-BE49-F238E27FC236}">
                <a16:creationId xmlns:a16="http://schemas.microsoft.com/office/drawing/2014/main" id="{0B779C3C-5713-669B-730E-7EA277D115EE}"/>
              </a:ext>
            </a:extLst>
          </p:cNvPr>
          <p:cNvSpPr>
            <a:spLocks/>
          </p:cNvSpPr>
          <p:nvPr/>
        </p:nvSpPr>
        <p:spPr bwMode="auto">
          <a:xfrm>
            <a:off x="2308225" y="4483100"/>
            <a:ext cx="115888" cy="15875"/>
          </a:xfrm>
          <a:custGeom>
            <a:avLst/>
            <a:gdLst>
              <a:gd name="T0" fmla="*/ 73 w 73"/>
              <a:gd name="T1" fmla="*/ 5 h 10"/>
              <a:gd name="T2" fmla="*/ 73 w 73"/>
              <a:gd name="T3" fmla="*/ 0 h 10"/>
              <a:gd name="T4" fmla="*/ 0 w 73"/>
              <a:gd name="T5" fmla="*/ 0 h 10"/>
              <a:gd name="T6" fmla="*/ 0 w 73"/>
              <a:gd name="T7" fmla="*/ 10 h 10"/>
              <a:gd name="T8" fmla="*/ 73 w 73"/>
              <a:gd name="T9" fmla="*/ 10 h 10"/>
              <a:gd name="T10" fmla="*/ 73 w 73"/>
              <a:gd name="T11" fmla="*/ 5 h 10"/>
            </a:gdLst>
            <a:ahLst/>
            <a:cxnLst>
              <a:cxn ang="0">
                <a:pos x="T0" y="T1"/>
              </a:cxn>
              <a:cxn ang="0">
                <a:pos x="T2" y="T3"/>
              </a:cxn>
              <a:cxn ang="0">
                <a:pos x="T4" y="T5"/>
              </a:cxn>
              <a:cxn ang="0">
                <a:pos x="T6" y="T7"/>
              </a:cxn>
              <a:cxn ang="0">
                <a:pos x="T8" y="T9"/>
              </a:cxn>
              <a:cxn ang="0">
                <a:pos x="T10" y="T11"/>
              </a:cxn>
            </a:cxnLst>
            <a:rect l="0" t="0" r="r" b="b"/>
            <a:pathLst>
              <a:path w="73" h="10">
                <a:moveTo>
                  <a:pt x="73" y="5"/>
                </a:moveTo>
                <a:lnTo>
                  <a:pt x="73" y="0"/>
                </a:lnTo>
                <a:lnTo>
                  <a:pt x="0" y="0"/>
                </a:lnTo>
                <a:lnTo>
                  <a:pt x="0" y="10"/>
                </a:lnTo>
                <a:lnTo>
                  <a:pt x="73" y="10"/>
                </a:lnTo>
                <a:lnTo>
                  <a:pt x="73"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34" name="Freeform 2639">
            <a:extLst>
              <a:ext uri="{FF2B5EF4-FFF2-40B4-BE49-F238E27FC236}">
                <a16:creationId xmlns:a16="http://schemas.microsoft.com/office/drawing/2014/main" id="{5DF2AE08-B20F-AF5D-DD24-D8A2632D3E0A}"/>
              </a:ext>
            </a:extLst>
          </p:cNvPr>
          <p:cNvSpPr>
            <a:spLocks/>
          </p:cNvSpPr>
          <p:nvPr/>
        </p:nvSpPr>
        <p:spPr bwMode="auto">
          <a:xfrm>
            <a:off x="2508250" y="4484688"/>
            <a:ext cx="115888" cy="15875"/>
          </a:xfrm>
          <a:custGeom>
            <a:avLst/>
            <a:gdLst>
              <a:gd name="T0" fmla="*/ 73 w 73"/>
              <a:gd name="T1" fmla="*/ 5 h 10"/>
              <a:gd name="T2" fmla="*/ 73 w 73"/>
              <a:gd name="T3" fmla="*/ 0 h 10"/>
              <a:gd name="T4" fmla="*/ 0 w 73"/>
              <a:gd name="T5" fmla="*/ 0 h 10"/>
              <a:gd name="T6" fmla="*/ 0 w 73"/>
              <a:gd name="T7" fmla="*/ 10 h 10"/>
              <a:gd name="T8" fmla="*/ 73 w 73"/>
              <a:gd name="T9" fmla="*/ 10 h 10"/>
              <a:gd name="T10" fmla="*/ 73 w 73"/>
              <a:gd name="T11" fmla="*/ 5 h 10"/>
            </a:gdLst>
            <a:ahLst/>
            <a:cxnLst>
              <a:cxn ang="0">
                <a:pos x="T0" y="T1"/>
              </a:cxn>
              <a:cxn ang="0">
                <a:pos x="T2" y="T3"/>
              </a:cxn>
              <a:cxn ang="0">
                <a:pos x="T4" y="T5"/>
              </a:cxn>
              <a:cxn ang="0">
                <a:pos x="T6" y="T7"/>
              </a:cxn>
              <a:cxn ang="0">
                <a:pos x="T8" y="T9"/>
              </a:cxn>
              <a:cxn ang="0">
                <a:pos x="T10" y="T11"/>
              </a:cxn>
            </a:cxnLst>
            <a:rect l="0" t="0" r="r" b="b"/>
            <a:pathLst>
              <a:path w="73" h="10">
                <a:moveTo>
                  <a:pt x="73" y="5"/>
                </a:moveTo>
                <a:lnTo>
                  <a:pt x="73" y="0"/>
                </a:lnTo>
                <a:lnTo>
                  <a:pt x="0" y="0"/>
                </a:lnTo>
                <a:lnTo>
                  <a:pt x="0" y="10"/>
                </a:lnTo>
                <a:lnTo>
                  <a:pt x="73" y="10"/>
                </a:lnTo>
                <a:lnTo>
                  <a:pt x="73" y="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35" name="Freeform 2640">
            <a:extLst>
              <a:ext uri="{FF2B5EF4-FFF2-40B4-BE49-F238E27FC236}">
                <a16:creationId xmlns:a16="http://schemas.microsoft.com/office/drawing/2014/main" id="{3CF8F35C-5381-2A62-E4C2-8CB93B293925}"/>
              </a:ext>
            </a:extLst>
          </p:cNvPr>
          <p:cNvSpPr>
            <a:spLocks/>
          </p:cNvSpPr>
          <p:nvPr/>
        </p:nvSpPr>
        <p:spPr bwMode="auto">
          <a:xfrm>
            <a:off x="2047875" y="4500563"/>
            <a:ext cx="307975" cy="123825"/>
          </a:xfrm>
          <a:custGeom>
            <a:avLst/>
            <a:gdLst>
              <a:gd name="T0" fmla="*/ 0 w 194"/>
              <a:gd name="T1" fmla="*/ 78 h 78"/>
              <a:gd name="T2" fmla="*/ 192 w 194"/>
              <a:gd name="T3" fmla="*/ 0 h 78"/>
              <a:gd name="T4" fmla="*/ 194 w 194"/>
              <a:gd name="T5" fmla="*/ 13 h 78"/>
            </a:gdLst>
            <a:ahLst/>
            <a:cxnLst>
              <a:cxn ang="0">
                <a:pos x="T0" y="T1"/>
              </a:cxn>
              <a:cxn ang="0">
                <a:pos x="T2" y="T3"/>
              </a:cxn>
              <a:cxn ang="0">
                <a:pos x="T4" y="T5"/>
              </a:cxn>
            </a:cxnLst>
            <a:rect l="0" t="0" r="r" b="b"/>
            <a:pathLst>
              <a:path w="194" h="78">
                <a:moveTo>
                  <a:pt x="0" y="78"/>
                </a:moveTo>
                <a:lnTo>
                  <a:pt x="192" y="0"/>
                </a:lnTo>
                <a:lnTo>
                  <a:pt x="194" y="13"/>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36" name="Line 2641">
            <a:extLst>
              <a:ext uri="{FF2B5EF4-FFF2-40B4-BE49-F238E27FC236}">
                <a16:creationId xmlns:a16="http://schemas.microsoft.com/office/drawing/2014/main" id="{37C2BD86-4AF2-ECFA-4BAB-60AE29969C94}"/>
              </a:ext>
            </a:extLst>
          </p:cNvPr>
          <p:cNvSpPr>
            <a:spLocks noChangeShapeType="1"/>
          </p:cNvSpPr>
          <p:nvPr/>
        </p:nvSpPr>
        <p:spPr bwMode="auto">
          <a:xfrm>
            <a:off x="3654425" y="4491038"/>
            <a:ext cx="41275" cy="1588"/>
          </a:xfrm>
          <a:prstGeom prst="line">
            <a:avLst/>
          </a:prstGeom>
          <a:noFill/>
          <a:ln w="7938" cap="rnd">
            <a:solidFill>
              <a:srgbClr val="1F1A17"/>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37" name="Freeform 2642">
            <a:extLst>
              <a:ext uri="{FF2B5EF4-FFF2-40B4-BE49-F238E27FC236}">
                <a16:creationId xmlns:a16="http://schemas.microsoft.com/office/drawing/2014/main" id="{D12655CB-442A-B5F4-1BA9-0CBB9910835D}"/>
              </a:ext>
            </a:extLst>
          </p:cNvPr>
          <p:cNvSpPr>
            <a:spLocks/>
          </p:cNvSpPr>
          <p:nvPr/>
        </p:nvSpPr>
        <p:spPr bwMode="auto">
          <a:xfrm>
            <a:off x="3527425" y="4576763"/>
            <a:ext cx="279400" cy="23813"/>
          </a:xfrm>
          <a:custGeom>
            <a:avLst/>
            <a:gdLst>
              <a:gd name="T0" fmla="*/ 176 w 176"/>
              <a:gd name="T1" fmla="*/ 2 h 15"/>
              <a:gd name="T2" fmla="*/ 0 w 176"/>
              <a:gd name="T3" fmla="*/ 0 h 15"/>
              <a:gd name="T4" fmla="*/ 15 w 176"/>
              <a:gd name="T5" fmla="*/ 15 h 15"/>
            </a:gdLst>
            <a:ahLst/>
            <a:cxnLst>
              <a:cxn ang="0">
                <a:pos x="T0" y="T1"/>
              </a:cxn>
              <a:cxn ang="0">
                <a:pos x="T2" y="T3"/>
              </a:cxn>
              <a:cxn ang="0">
                <a:pos x="T4" y="T5"/>
              </a:cxn>
            </a:cxnLst>
            <a:rect l="0" t="0" r="r" b="b"/>
            <a:pathLst>
              <a:path w="176" h="15">
                <a:moveTo>
                  <a:pt x="176" y="2"/>
                </a:moveTo>
                <a:lnTo>
                  <a:pt x="0" y="0"/>
                </a:lnTo>
                <a:lnTo>
                  <a:pt x="15" y="15"/>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38" name="Freeform 2643">
            <a:extLst>
              <a:ext uri="{FF2B5EF4-FFF2-40B4-BE49-F238E27FC236}">
                <a16:creationId xmlns:a16="http://schemas.microsoft.com/office/drawing/2014/main" id="{0F96B6BA-E77A-9F28-93C0-4FCA2BCB916D}"/>
              </a:ext>
            </a:extLst>
          </p:cNvPr>
          <p:cNvSpPr>
            <a:spLocks/>
          </p:cNvSpPr>
          <p:nvPr/>
        </p:nvSpPr>
        <p:spPr bwMode="auto">
          <a:xfrm>
            <a:off x="3052763" y="4511675"/>
            <a:ext cx="273050" cy="406400"/>
          </a:xfrm>
          <a:custGeom>
            <a:avLst/>
            <a:gdLst>
              <a:gd name="T0" fmla="*/ 0 w 172"/>
              <a:gd name="T1" fmla="*/ 256 h 256"/>
              <a:gd name="T2" fmla="*/ 165 w 172"/>
              <a:gd name="T3" fmla="*/ 0 h 256"/>
              <a:gd name="T4" fmla="*/ 172 w 172"/>
              <a:gd name="T5" fmla="*/ 18 h 256"/>
            </a:gdLst>
            <a:ahLst/>
            <a:cxnLst>
              <a:cxn ang="0">
                <a:pos x="T0" y="T1"/>
              </a:cxn>
              <a:cxn ang="0">
                <a:pos x="T2" y="T3"/>
              </a:cxn>
              <a:cxn ang="0">
                <a:pos x="T4" y="T5"/>
              </a:cxn>
            </a:cxnLst>
            <a:rect l="0" t="0" r="r" b="b"/>
            <a:pathLst>
              <a:path w="172" h="256">
                <a:moveTo>
                  <a:pt x="0" y="256"/>
                </a:moveTo>
                <a:lnTo>
                  <a:pt x="165" y="0"/>
                </a:lnTo>
                <a:lnTo>
                  <a:pt x="172" y="18"/>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39" name="Freeform 2644">
            <a:extLst>
              <a:ext uri="{FF2B5EF4-FFF2-40B4-BE49-F238E27FC236}">
                <a16:creationId xmlns:a16="http://schemas.microsoft.com/office/drawing/2014/main" id="{AA7E66DE-DA87-CA98-1C02-CB1B1D086719}"/>
              </a:ext>
            </a:extLst>
          </p:cNvPr>
          <p:cNvSpPr>
            <a:spLocks/>
          </p:cNvSpPr>
          <p:nvPr/>
        </p:nvSpPr>
        <p:spPr bwMode="auto">
          <a:xfrm>
            <a:off x="2052638" y="5802313"/>
            <a:ext cx="119063" cy="41275"/>
          </a:xfrm>
          <a:custGeom>
            <a:avLst/>
            <a:gdLst>
              <a:gd name="T0" fmla="*/ 0 w 75"/>
              <a:gd name="T1" fmla="*/ 26 h 26"/>
              <a:gd name="T2" fmla="*/ 75 w 75"/>
              <a:gd name="T3" fmla="*/ 0 h 26"/>
              <a:gd name="T4" fmla="*/ 70 w 75"/>
              <a:gd name="T5" fmla="*/ 26 h 26"/>
            </a:gdLst>
            <a:ahLst/>
            <a:cxnLst>
              <a:cxn ang="0">
                <a:pos x="T0" y="T1"/>
              </a:cxn>
              <a:cxn ang="0">
                <a:pos x="T2" y="T3"/>
              </a:cxn>
              <a:cxn ang="0">
                <a:pos x="T4" y="T5"/>
              </a:cxn>
            </a:cxnLst>
            <a:rect l="0" t="0" r="r" b="b"/>
            <a:pathLst>
              <a:path w="75" h="26">
                <a:moveTo>
                  <a:pt x="0" y="26"/>
                </a:moveTo>
                <a:lnTo>
                  <a:pt x="75" y="0"/>
                </a:lnTo>
                <a:lnTo>
                  <a:pt x="70" y="26"/>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40" name="Freeform 2645">
            <a:extLst>
              <a:ext uri="{FF2B5EF4-FFF2-40B4-BE49-F238E27FC236}">
                <a16:creationId xmlns:a16="http://schemas.microsoft.com/office/drawing/2014/main" id="{3B8ACD79-1DEE-7CBA-0D30-E54FA69CB9EA}"/>
              </a:ext>
            </a:extLst>
          </p:cNvPr>
          <p:cNvSpPr>
            <a:spLocks/>
          </p:cNvSpPr>
          <p:nvPr/>
        </p:nvSpPr>
        <p:spPr bwMode="auto">
          <a:xfrm>
            <a:off x="3213100" y="3943350"/>
            <a:ext cx="582613" cy="363538"/>
          </a:xfrm>
          <a:custGeom>
            <a:avLst/>
            <a:gdLst>
              <a:gd name="T0" fmla="*/ 367 w 367"/>
              <a:gd name="T1" fmla="*/ 0 h 229"/>
              <a:gd name="T2" fmla="*/ 0 w 367"/>
              <a:gd name="T3" fmla="*/ 229 h 229"/>
              <a:gd name="T4" fmla="*/ 0 w 367"/>
              <a:gd name="T5" fmla="*/ 199 h 229"/>
            </a:gdLst>
            <a:ahLst/>
            <a:cxnLst>
              <a:cxn ang="0">
                <a:pos x="T0" y="T1"/>
              </a:cxn>
              <a:cxn ang="0">
                <a:pos x="T2" y="T3"/>
              </a:cxn>
              <a:cxn ang="0">
                <a:pos x="T4" y="T5"/>
              </a:cxn>
            </a:cxnLst>
            <a:rect l="0" t="0" r="r" b="b"/>
            <a:pathLst>
              <a:path w="367" h="229">
                <a:moveTo>
                  <a:pt x="367" y="0"/>
                </a:moveTo>
                <a:lnTo>
                  <a:pt x="0" y="229"/>
                </a:lnTo>
                <a:lnTo>
                  <a:pt x="0" y="199"/>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41" name="Freeform 2646">
            <a:extLst>
              <a:ext uri="{FF2B5EF4-FFF2-40B4-BE49-F238E27FC236}">
                <a16:creationId xmlns:a16="http://schemas.microsoft.com/office/drawing/2014/main" id="{D55685A0-BD38-4C36-4C72-A381BF79972D}"/>
              </a:ext>
            </a:extLst>
          </p:cNvPr>
          <p:cNvSpPr>
            <a:spLocks/>
          </p:cNvSpPr>
          <p:nvPr/>
        </p:nvSpPr>
        <p:spPr bwMode="auto">
          <a:xfrm>
            <a:off x="3471863" y="3719513"/>
            <a:ext cx="323850" cy="271463"/>
          </a:xfrm>
          <a:custGeom>
            <a:avLst/>
            <a:gdLst>
              <a:gd name="T0" fmla="*/ 204 w 204"/>
              <a:gd name="T1" fmla="*/ 0 h 171"/>
              <a:gd name="T2" fmla="*/ 0 w 204"/>
              <a:gd name="T3" fmla="*/ 171 h 171"/>
              <a:gd name="T4" fmla="*/ 0 w 204"/>
              <a:gd name="T5" fmla="*/ 136 h 171"/>
            </a:gdLst>
            <a:ahLst/>
            <a:cxnLst>
              <a:cxn ang="0">
                <a:pos x="T0" y="T1"/>
              </a:cxn>
              <a:cxn ang="0">
                <a:pos x="T2" y="T3"/>
              </a:cxn>
              <a:cxn ang="0">
                <a:pos x="T4" y="T5"/>
              </a:cxn>
            </a:cxnLst>
            <a:rect l="0" t="0" r="r" b="b"/>
            <a:pathLst>
              <a:path w="204" h="171">
                <a:moveTo>
                  <a:pt x="204" y="0"/>
                </a:moveTo>
                <a:lnTo>
                  <a:pt x="0" y="171"/>
                </a:lnTo>
                <a:lnTo>
                  <a:pt x="0" y="136"/>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42" name="Freeform 2647">
            <a:extLst>
              <a:ext uri="{FF2B5EF4-FFF2-40B4-BE49-F238E27FC236}">
                <a16:creationId xmlns:a16="http://schemas.microsoft.com/office/drawing/2014/main" id="{39B7128B-6311-B412-2E8D-82354F5EAC0F}"/>
              </a:ext>
            </a:extLst>
          </p:cNvPr>
          <p:cNvSpPr>
            <a:spLocks/>
          </p:cNvSpPr>
          <p:nvPr/>
        </p:nvSpPr>
        <p:spPr bwMode="auto">
          <a:xfrm>
            <a:off x="2632075" y="6178550"/>
            <a:ext cx="365125" cy="85725"/>
          </a:xfrm>
          <a:custGeom>
            <a:avLst/>
            <a:gdLst>
              <a:gd name="T0" fmla="*/ 230 w 230"/>
              <a:gd name="T1" fmla="*/ 54 h 54"/>
              <a:gd name="T2" fmla="*/ 0 w 230"/>
              <a:gd name="T3" fmla="*/ 6 h 54"/>
              <a:gd name="T4" fmla="*/ 14 w 230"/>
              <a:gd name="T5" fmla="*/ 0 h 54"/>
            </a:gdLst>
            <a:ahLst/>
            <a:cxnLst>
              <a:cxn ang="0">
                <a:pos x="T0" y="T1"/>
              </a:cxn>
              <a:cxn ang="0">
                <a:pos x="T2" y="T3"/>
              </a:cxn>
              <a:cxn ang="0">
                <a:pos x="T4" y="T5"/>
              </a:cxn>
            </a:cxnLst>
            <a:rect l="0" t="0" r="r" b="b"/>
            <a:pathLst>
              <a:path w="230" h="54">
                <a:moveTo>
                  <a:pt x="230" y="54"/>
                </a:moveTo>
                <a:lnTo>
                  <a:pt x="0" y="6"/>
                </a:lnTo>
                <a:lnTo>
                  <a:pt x="14" y="0"/>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43" name="Freeform 2648">
            <a:extLst>
              <a:ext uri="{FF2B5EF4-FFF2-40B4-BE49-F238E27FC236}">
                <a16:creationId xmlns:a16="http://schemas.microsoft.com/office/drawing/2014/main" id="{768935AD-89C8-AF51-A551-A3DC9E9BBB55}"/>
              </a:ext>
            </a:extLst>
          </p:cNvPr>
          <p:cNvSpPr>
            <a:spLocks/>
          </p:cNvSpPr>
          <p:nvPr/>
        </p:nvSpPr>
        <p:spPr bwMode="auto">
          <a:xfrm>
            <a:off x="6316663" y="4398963"/>
            <a:ext cx="15875" cy="950913"/>
          </a:xfrm>
          <a:custGeom>
            <a:avLst/>
            <a:gdLst>
              <a:gd name="T0" fmla="*/ 5 w 10"/>
              <a:gd name="T1" fmla="*/ 599 h 599"/>
              <a:gd name="T2" fmla="*/ 10 w 10"/>
              <a:gd name="T3" fmla="*/ 599 h 599"/>
              <a:gd name="T4" fmla="*/ 10 w 10"/>
              <a:gd name="T5" fmla="*/ 0 h 599"/>
              <a:gd name="T6" fmla="*/ 0 w 10"/>
              <a:gd name="T7" fmla="*/ 0 h 599"/>
              <a:gd name="T8" fmla="*/ 0 w 10"/>
              <a:gd name="T9" fmla="*/ 599 h 599"/>
              <a:gd name="T10" fmla="*/ 5 w 10"/>
              <a:gd name="T11" fmla="*/ 599 h 599"/>
            </a:gdLst>
            <a:ahLst/>
            <a:cxnLst>
              <a:cxn ang="0">
                <a:pos x="T0" y="T1"/>
              </a:cxn>
              <a:cxn ang="0">
                <a:pos x="T2" y="T3"/>
              </a:cxn>
              <a:cxn ang="0">
                <a:pos x="T4" y="T5"/>
              </a:cxn>
              <a:cxn ang="0">
                <a:pos x="T6" y="T7"/>
              </a:cxn>
              <a:cxn ang="0">
                <a:pos x="T8" y="T9"/>
              </a:cxn>
              <a:cxn ang="0">
                <a:pos x="T10" y="T11"/>
              </a:cxn>
            </a:cxnLst>
            <a:rect l="0" t="0" r="r" b="b"/>
            <a:pathLst>
              <a:path w="10" h="599">
                <a:moveTo>
                  <a:pt x="5" y="599"/>
                </a:moveTo>
                <a:lnTo>
                  <a:pt x="10" y="599"/>
                </a:lnTo>
                <a:lnTo>
                  <a:pt x="10" y="0"/>
                </a:lnTo>
                <a:lnTo>
                  <a:pt x="0" y="0"/>
                </a:lnTo>
                <a:lnTo>
                  <a:pt x="0" y="599"/>
                </a:lnTo>
                <a:lnTo>
                  <a:pt x="5" y="599"/>
                </a:lnTo>
                <a:close/>
              </a:path>
            </a:pathLst>
          </a:custGeom>
          <a:solidFill>
            <a:srgbClr val="DC2B1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44" name="Rectangle 2649">
            <a:extLst>
              <a:ext uri="{FF2B5EF4-FFF2-40B4-BE49-F238E27FC236}">
                <a16:creationId xmlns:a16="http://schemas.microsoft.com/office/drawing/2014/main" id="{D79CBD33-D3F7-28AB-28DE-93E977C18074}"/>
              </a:ext>
            </a:extLst>
          </p:cNvPr>
          <p:cNvSpPr>
            <a:spLocks noChangeArrowheads="1"/>
          </p:cNvSpPr>
          <p:nvPr/>
        </p:nvSpPr>
        <p:spPr bwMode="auto">
          <a:xfrm>
            <a:off x="5951538" y="4513263"/>
            <a:ext cx="315913" cy="61913"/>
          </a:xfrm>
          <a:prstGeom prst="rect">
            <a:avLst/>
          </a:prstGeom>
          <a:solidFill>
            <a:srgbClr val="0079C5"/>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45" name="Rectangle 2650">
            <a:extLst>
              <a:ext uri="{FF2B5EF4-FFF2-40B4-BE49-F238E27FC236}">
                <a16:creationId xmlns:a16="http://schemas.microsoft.com/office/drawing/2014/main" id="{6E1B5B64-290A-0335-134B-2B4DAADAA8EF}"/>
              </a:ext>
            </a:extLst>
          </p:cNvPr>
          <p:cNvSpPr>
            <a:spLocks noChangeArrowheads="1"/>
          </p:cNvSpPr>
          <p:nvPr/>
        </p:nvSpPr>
        <p:spPr bwMode="auto">
          <a:xfrm>
            <a:off x="5951538" y="4513263"/>
            <a:ext cx="315913" cy="61913"/>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46" name="Rectangle 2651">
            <a:extLst>
              <a:ext uri="{FF2B5EF4-FFF2-40B4-BE49-F238E27FC236}">
                <a16:creationId xmlns:a16="http://schemas.microsoft.com/office/drawing/2014/main" id="{D61F74C5-4C82-BE1B-FD09-ABFDBC2E08CC}"/>
              </a:ext>
            </a:extLst>
          </p:cNvPr>
          <p:cNvSpPr>
            <a:spLocks noChangeArrowheads="1"/>
          </p:cNvSpPr>
          <p:nvPr/>
        </p:nvSpPr>
        <p:spPr bwMode="auto">
          <a:xfrm>
            <a:off x="6384925" y="4513263"/>
            <a:ext cx="314325" cy="61913"/>
          </a:xfrm>
          <a:prstGeom prst="rect">
            <a:avLst/>
          </a:prstGeom>
          <a:solidFill>
            <a:srgbClr val="0079C5"/>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47" name="Rectangle 2652">
            <a:extLst>
              <a:ext uri="{FF2B5EF4-FFF2-40B4-BE49-F238E27FC236}">
                <a16:creationId xmlns:a16="http://schemas.microsoft.com/office/drawing/2014/main" id="{FA9249B1-0C49-F9C2-78B2-8B199F534A1E}"/>
              </a:ext>
            </a:extLst>
          </p:cNvPr>
          <p:cNvSpPr>
            <a:spLocks noChangeArrowheads="1"/>
          </p:cNvSpPr>
          <p:nvPr/>
        </p:nvSpPr>
        <p:spPr bwMode="auto">
          <a:xfrm>
            <a:off x="6384925" y="4513263"/>
            <a:ext cx="314325" cy="61913"/>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48" name="Freeform 2653">
            <a:extLst>
              <a:ext uri="{FF2B5EF4-FFF2-40B4-BE49-F238E27FC236}">
                <a16:creationId xmlns:a16="http://schemas.microsoft.com/office/drawing/2014/main" id="{FF6C8624-99DC-9C5E-F03B-069467E45D7F}"/>
              </a:ext>
            </a:extLst>
          </p:cNvPr>
          <p:cNvSpPr>
            <a:spLocks/>
          </p:cNvSpPr>
          <p:nvPr/>
        </p:nvSpPr>
        <p:spPr bwMode="auto">
          <a:xfrm>
            <a:off x="6211888" y="4575175"/>
            <a:ext cx="80963" cy="771525"/>
          </a:xfrm>
          <a:custGeom>
            <a:avLst/>
            <a:gdLst>
              <a:gd name="T0" fmla="*/ 2 w 51"/>
              <a:gd name="T1" fmla="*/ 0 h 486"/>
              <a:gd name="T2" fmla="*/ 0 w 51"/>
              <a:gd name="T3" fmla="*/ 61 h 486"/>
              <a:gd name="T4" fmla="*/ 2 w 51"/>
              <a:gd name="T5" fmla="*/ 122 h 486"/>
              <a:gd name="T6" fmla="*/ 3 w 51"/>
              <a:gd name="T7" fmla="*/ 182 h 486"/>
              <a:gd name="T8" fmla="*/ 8 w 51"/>
              <a:gd name="T9" fmla="*/ 243 h 486"/>
              <a:gd name="T10" fmla="*/ 15 w 51"/>
              <a:gd name="T11" fmla="*/ 304 h 486"/>
              <a:gd name="T12" fmla="*/ 22 w 51"/>
              <a:gd name="T13" fmla="*/ 364 h 486"/>
              <a:gd name="T14" fmla="*/ 32 w 51"/>
              <a:gd name="T15" fmla="*/ 425 h 486"/>
              <a:gd name="T16" fmla="*/ 42 w 51"/>
              <a:gd name="T17" fmla="*/ 486 h 486"/>
              <a:gd name="T18" fmla="*/ 51 w 51"/>
              <a:gd name="T19" fmla="*/ 485 h 486"/>
              <a:gd name="T20" fmla="*/ 42 w 51"/>
              <a:gd name="T21" fmla="*/ 423 h 486"/>
              <a:gd name="T22" fmla="*/ 32 w 51"/>
              <a:gd name="T23" fmla="*/ 364 h 486"/>
              <a:gd name="T24" fmla="*/ 25 w 51"/>
              <a:gd name="T25" fmla="*/ 303 h 486"/>
              <a:gd name="T26" fmla="*/ 18 w 51"/>
              <a:gd name="T27" fmla="*/ 243 h 486"/>
              <a:gd name="T28" fmla="*/ 13 w 51"/>
              <a:gd name="T29" fmla="*/ 182 h 486"/>
              <a:gd name="T30" fmla="*/ 12 w 51"/>
              <a:gd name="T31" fmla="*/ 120 h 486"/>
              <a:gd name="T32" fmla="*/ 10 w 51"/>
              <a:gd name="T33" fmla="*/ 61 h 486"/>
              <a:gd name="T34" fmla="*/ 12 w 51"/>
              <a:gd name="T35" fmla="*/ 0 h 486"/>
              <a:gd name="T36" fmla="*/ 2 w 51"/>
              <a:gd name="T37" fmla="*/ 0 h 4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1" h="486">
                <a:moveTo>
                  <a:pt x="2" y="0"/>
                </a:moveTo>
                <a:lnTo>
                  <a:pt x="0" y="61"/>
                </a:lnTo>
                <a:lnTo>
                  <a:pt x="2" y="122"/>
                </a:lnTo>
                <a:lnTo>
                  <a:pt x="3" y="182"/>
                </a:lnTo>
                <a:lnTo>
                  <a:pt x="8" y="243"/>
                </a:lnTo>
                <a:lnTo>
                  <a:pt x="15" y="304"/>
                </a:lnTo>
                <a:lnTo>
                  <a:pt x="22" y="364"/>
                </a:lnTo>
                <a:lnTo>
                  <a:pt x="32" y="425"/>
                </a:lnTo>
                <a:lnTo>
                  <a:pt x="42" y="486"/>
                </a:lnTo>
                <a:lnTo>
                  <a:pt x="51" y="485"/>
                </a:lnTo>
                <a:lnTo>
                  <a:pt x="42" y="423"/>
                </a:lnTo>
                <a:lnTo>
                  <a:pt x="32" y="364"/>
                </a:lnTo>
                <a:lnTo>
                  <a:pt x="25" y="303"/>
                </a:lnTo>
                <a:lnTo>
                  <a:pt x="18" y="243"/>
                </a:lnTo>
                <a:lnTo>
                  <a:pt x="13" y="182"/>
                </a:lnTo>
                <a:lnTo>
                  <a:pt x="12" y="120"/>
                </a:lnTo>
                <a:lnTo>
                  <a:pt x="10" y="61"/>
                </a:lnTo>
                <a:lnTo>
                  <a:pt x="12" y="0"/>
                </a:lnTo>
                <a:lnTo>
                  <a:pt x="2" y="0"/>
                </a:lnTo>
                <a:close/>
              </a:path>
            </a:pathLst>
          </a:custGeom>
          <a:solidFill>
            <a:srgbClr val="DC2B1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49" name="Freeform 2654">
            <a:extLst>
              <a:ext uri="{FF2B5EF4-FFF2-40B4-BE49-F238E27FC236}">
                <a16:creationId xmlns:a16="http://schemas.microsoft.com/office/drawing/2014/main" id="{A1B496C7-854D-DD92-97AF-88F0510BB0DC}"/>
              </a:ext>
            </a:extLst>
          </p:cNvPr>
          <p:cNvSpPr>
            <a:spLocks/>
          </p:cNvSpPr>
          <p:nvPr/>
        </p:nvSpPr>
        <p:spPr bwMode="auto">
          <a:xfrm>
            <a:off x="6359525" y="4572000"/>
            <a:ext cx="80963" cy="769938"/>
          </a:xfrm>
          <a:custGeom>
            <a:avLst/>
            <a:gdLst>
              <a:gd name="T0" fmla="*/ 40 w 51"/>
              <a:gd name="T1" fmla="*/ 0 h 485"/>
              <a:gd name="T2" fmla="*/ 41 w 51"/>
              <a:gd name="T3" fmla="*/ 59 h 485"/>
              <a:gd name="T4" fmla="*/ 41 w 51"/>
              <a:gd name="T5" fmla="*/ 121 h 485"/>
              <a:gd name="T6" fmla="*/ 38 w 51"/>
              <a:gd name="T7" fmla="*/ 182 h 485"/>
              <a:gd name="T8" fmla="*/ 35 w 51"/>
              <a:gd name="T9" fmla="*/ 242 h 485"/>
              <a:gd name="T10" fmla="*/ 28 w 51"/>
              <a:gd name="T11" fmla="*/ 303 h 485"/>
              <a:gd name="T12" fmla="*/ 20 w 51"/>
              <a:gd name="T13" fmla="*/ 363 h 485"/>
              <a:gd name="T14" fmla="*/ 11 w 51"/>
              <a:gd name="T15" fmla="*/ 424 h 485"/>
              <a:gd name="T16" fmla="*/ 0 w 51"/>
              <a:gd name="T17" fmla="*/ 483 h 485"/>
              <a:gd name="T18" fmla="*/ 10 w 51"/>
              <a:gd name="T19" fmla="*/ 485 h 485"/>
              <a:gd name="T20" fmla="*/ 21 w 51"/>
              <a:gd name="T21" fmla="*/ 425 h 485"/>
              <a:gd name="T22" fmla="*/ 30 w 51"/>
              <a:gd name="T23" fmla="*/ 364 h 485"/>
              <a:gd name="T24" fmla="*/ 38 w 51"/>
              <a:gd name="T25" fmla="*/ 303 h 485"/>
              <a:gd name="T26" fmla="*/ 45 w 51"/>
              <a:gd name="T27" fmla="*/ 243 h 485"/>
              <a:gd name="T28" fmla="*/ 48 w 51"/>
              <a:gd name="T29" fmla="*/ 182 h 485"/>
              <a:gd name="T30" fmla="*/ 51 w 51"/>
              <a:gd name="T31" fmla="*/ 121 h 485"/>
              <a:gd name="T32" fmla="*/ 51 w 51"/>
              <a:gd name="T33" fmla="*/ 59 h 485"/>
              <a:gd name="T34" fmla="*/ 50 w 51"/>
              <a:gd name="T35" fmla="*/ 0 h 485"/>
              <a:gd name="T36" fmla="*/ 40 w 51"/>
              <a:gd name="T37" fmla="*/ 0 h 4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1" h="485">
                <a:moveTo>
                  <a:pt x="40" y="0"/>
                </a:moveTo>
                <a:lnTo>
                  <a:pt x="41" y="59"/>
                </a:lnTo>
                <a:lnTo>
                  <a:pt x="41" y="121"/>
                </a:lnTo>
                <a:lnTo>
                  <a:pt x="38" y="182"/>
                </a:lnTo>
                <a:lnTo>
                  <a:pt x="35" y="242"/>
                </a:lnTo>
                <a:lnTo>
                  <a:pt x="28" y="303"/>
                </a:lnTo>
                <a:lnTo>
                  <a:pt x="20" y="363"/>
                </a:lnTo>
                <a:lnTo>
                  <a:pt x="11" y="424"/>
                </a:lnTo>
                <a:lnTo>
                  <a:pt x="0" y="483"/>
                </a:lnTo>
                <a:lnTo>
                  <a:pt x="10" y="485"/>
                </a:lnTo>
                <a:lnTo>
                  <a:pt x="21" y="425"/>
                </a:lnTo>
                <a:lnTo>
                  <a:pt x="30" y="364"/>
                </a:lnTo>
                <a:lnTo>
                  <a:pt x="38" y="303"/>
                </a:lnTo>
                <a:lnTo>
                  <a:pt x="45" y="243"/>
                </a:lnTo>
                <a:lnTo>
                  <a:pt x="48" y="182"/>
                </a:lnTo>
                <a:lnTo>
                  <a:pt x="51" y="121"/>
                </a:lnTo>
                <a:lnTo>
                  <a:pt x="51" y="59"/>
                </a:lnTo>
                <a:lnTo>
                  <a:pt x="50" y="0"/>
                </a:lnTo>
                <a:lnTo>
                  <a:pt x="40" y="0"/>
                </a:lnTo>
                <a:close/>
              </a:path>
            </a:pathLst>
          </a:custGeom>
          <a:solidFill>
            <a:srgbClr val="DC2B1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50" name="Freeform 2655">
            <a:extLst>
              <a:ext uri="{FF2B5EF4-FFF2-40B4-BE49-F238E27FC236}">
                <a16:creationId xmlns:a16="http://schemas.microsoft.com/office/drawing/2014/main" id="{6C3E1B0B-5191-3FF9-70DC-4DCE979EE701}"/>
              </a:ext>
            </a:extLst>
          </p:cNvPr>
          <p:cNvSpPr>
            <a:spLocks/>
          </p:cNvSpPr>
          <p:nvPr/>
        </p:nvSpPr>
        <p:spPr bwMode="auto">
          <a:xfrm>
            <a:off x="6103938" y="4575175"/>
            <a:ext cx="142875" cy="766763"/>
          </a:xfrm>
          <a:custGeom>
            <a:avLst/>
            <a:gdLst>
              <a:gd name="T0" fmla="*/ 0 w 90"/>
              <a:gd name="T1" fmla="*/ 0 h 483"/>
              <a:gd name="T2" fmla="*/ 4 w 90"/>
              <a:gd name="T3" fmla="*/ 61 h 483"/>
              <a:gd name="T4" fmla="*/ 9 w 90"/>
              <a:gd name="T5" fmla="*/ 120 h 483"/>
              <a:gd name="T6" fmla="*/ 15 w 90"/>
              <a:gd name="T7" fmla="*/ 182 h 483"/>
              <a:gd name="T8" fmla="*/ 25 w 90"/>
              <a:gd name="T9" fmla="*/ 241 h 483"/>
              <a:gd name="T10" fmla="*/ 37 w 90"/>
              <a:gd name="T11" fmla="*/ 301 h 483"/>
              <a:gd name="T12" fmla="*/ 50 w 90"/>
              <a:gd name="T13" fmla="*/ 362 h 483"/>
              <a:gd name="T14" fmla="*/ 65 w 90"/>
              <a:gd name="T15" fmla="*/ 423 h 483"/>
              <a:gd name="T16" fmla="*/ 80 w 90"/>
              <a:gd name="T17" fmla="*/ 483 h 483"/>
              <a:gd name="T18" fmla="*/ 90 w 90"/>
              <a:gd name="T19" fmla="*/ 481 h 483"/>
              <a:gd name="T20" fmla="*/ 73 w 90"/>
              <a:gd name="T21" fmla="*/ 420 h 483"/>
              <a:gd name="T22" fmla="*/ 60 w 90"/>
              <a:gd name="T23" fmla="*/ 361 h 483"/>
              <a:gd name="T24" fmla="*/ 47 w 90"/>
              <a:gd name="T25" fmla="*/ 299 h 483"/>
              <a:gd name="T26" fmla="*/ 35 w 90"/>
              <a:gd name="T27" fmla="*/ 240 h 483"/>
              <a:gd name="T28" fmla="*/ 25 w 90"/>
              <a:gd name="T29" fmla="*/ 180 h 483"/>
              <a:gd name="T30" fmla="*/ 18 w 90"/>
              <a:gd name="T31" fmla="*/ 120 h 483"/>
              <a:gd name="T32" fmla="*/ 13 w 90"/>
              <a:gd name="T33" fmla="*/ 59 h 483"/>
              <a:gd name="T34" fmla="*/ 10 w 90"/>
              <a:gd name="T35" fmla="*/ 0 h 483"/>
              <a:gd name="T36" fmla="*/ 0 w 90"/>
              <a:gd name="T37" fmla="*/ 0 h 4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0" h="483">
                <a:moveTo>
                  <a:pt x="0" y="0"/>
                </a:moveTo>
                <a:lnTo>
                  <a:pt x="4" y="61"/>
                </a:lnTo>
                <a:lnTo>
                  <a:pt x="9" y="120"/>
                </a:lnTo>
                <a:lnTo>
                  <a:pt x="15" y="182"/>
                </a:lnTo>
                <a:lnTo>
                  <a:pt x="25" y="241"/>
                </a:lnTo>
                <a:lnTo>
                  <a:pt x="37" y="301"/>
                </a:lnTo>
                <a:lnTo>
                  <a:pt x="50" y="362"/>
                </a:lnTo>
                <a:lnTo>
                  <a:pt x="65" y="423"/>
                </a:lnTo>
                <a:lnTo>
                  <a:pt x="80" y="483"/>
                </a:lnTo>
                <a:lnTo>
                  <a:pt x="90" y="481"/>
                </a:lnTo>
                <a:lnTo>
                  <a:pt x="73" y="420"/>
                </a:lnTo>
                <a:lnTo>
                  <a:pt x="60" y="361"/>
                </a:lnTo>
                <a:lnTo>
                  <a:pt x="47" y="299"/>
                </a:lnTo>
                <a:lnTo>
                  <a:pt x="35" y="240"/>
                </a:lnTo>
                <a:lnTo>
                  <a:pt x="25" y="180"/>
                </a:lnTo>
                <a:lnTo>
                  <a:pt x="18" y="120"/>
                </a:lnTo>
                <a:lnTo>
                  <a:pt x="13" y="59"/>
                </a:lnTo>
                <a:lnTo>
                  <a:pt x="10" y="0"/>
                </a:lnTo>
                <a:lnTo>
                  <a:pt x="0" y="0"/>
                </a:lnTo>
                <a:close/>
              </a:path>
            </a:pathLst>
          </a:custGeom>
          <a:solidFill>
            <a:srgbClr val="DC2B1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51" name="Freeform 2656">
            <a:extLst>
              <a:ext uri="{FF2B5EF4-FFF2-40B4-BE49-F238E27FC236}">
                <a16:creationId xmlns:a16="http://schemas.microsoft.com/office/drawing/2014/main" id="{5158E8D2-371C-2581-B483-B3AFE6DF5848}"/>
              </a:ext>
            </a:extLst>
          </p:cNvPr>
          <p:cNvSpPr>
            <a:spLocks/>
          </p:cNvSpPr>
          <p:nvPr/>
        </p:nvSpPr>
        <p:spPr bwMode="auto">
          <a:xfrm>
            <a:off x="6407150" y="4579938"/>
            <a:ext cx="141288" cy="766763"/>
          </a:xfrm>
          <a:custGeom>
            <a:avLst/>
            <a:gdLst>
              <a:gd name="T0" fmla="*/ 79 w 89"/>
              <a:gd name="T1" fmla="*/ 0 h 483"/>
              <a:gd name="T2" fmla="*/ 78 w 89"/>
              <a:gd name="T3" fmla="*/ 59 h 483"/>
              <a:gd name="T4" fmla="*/ 71 w 89"/>
              <a:gd name="T5" fmla="*/ 119 h 483"/>
              <a:gd name="T6" fmla="*/ 64 w 89"/>
              <a:gd name="T7" fmla="*/ 179 h 483"/>
              <a:gd name="T8" fmla="*/ 54 w 89"/>
              <a:gd name="T9" fmla="*/ 240 h 483"/>
              <a:gd name="T10" fmla="*/ 43 w 89"/>
              <a:gd name="T11" fmla="*/ 300 h 483"/>
              <a:gd name="T12" fmla="*/ 31 w 89"/>
              <a:gd name="T13" fmla="*/ 359 h 483"/>
              <a:gd name="T14" fmla="*/ 16 w 89"/>
              <a:gd name="T15" fmla="*/ 420 h 483"/>
              <a:gd name="T16" fmla="*/ 0 w 89"/>
              <a:gd name="T17" fmla="*/ 480 h 483"/>
              <a:gd name="T18" fmla="*/ 10 w 89"/>
              <a:gd name="T19" fmla="*/ 483 h 483"/>
              <a:gd name="T20" fmla="*/ 26 w 89"/>
              <a:gd name="T21" fmla="*/ 422 h 483"/>
              <a:gd name="T22" fmla="*/ 39 w 89"/>
              <a:gd name="T23" fmla="*/ 361 h 483"/>
              <a:gd name="T24" fmla="*/ 53 w 89"/>
              <a:gd name="T25" fmla="*/ 301 h 483"/>
              <a:gd name="T26" fmla="*/ 64 w 89"/>
              <a:gd name="T27" fmla="*/ 242 h 483"/>
              <a:gd name="T28" fmla="*/ 74 w 89"/>
              <a:gd name="T29" fmla="*/ 180 h 483"/>
              <a:gd name="T30" fmla="*/ 81 w 89"/>
              <a:gd name="T31" fmla="*/ 121 h 483"/>
              <a:gd name="T32" fmla="*/ 87 w 89"/>
              <a:gd name="T33" fmla="*/ 59 h 483"/>
              <a:gd name="T34" fmla="*/ 89 w 89"/>
              <a:gd name="T35" fmla="*/ 0 h 483"/>
              <a:gd name="T36" fmla="*/ 79 w 89"/>
              <a:gd name="T37" fmla="*/ 0 h 4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89" h="483">
                <a:moveTo>
                  <a:pt x="79" y="0"/>
                </a:moveTo>
                <a:lnTo>
                  <a:pt x="78" y="59"/>
                </a:lnTo>
                <a:lnTo>
                  <a:pt x="71" y="119"/>
                </a:lnTo>
                <a:lnTo>
                  <a:pt x="64" y="179"/>
                </a:lnTo>
                <a:lnTo>
                  <a:pt x="54" y="240"/>
                </a:lnTo>
                <a:lnTo>
                  <a:pt x="43" y="300"/>
                </a:lnTo>
                <a:lnTo>
                  <a:pt x="31" y="359"/>
                </a:lnTo>
                <a:lnTo>
                  <a:pt x="16" y="420"/>
                </a:lnTo>
                <a:lnTo>
                  <a:pt x="0" y="480"/>
                </a:lnTo>
                <a:lnTo>
                  <a:pt x="10" y="483"/>
                </a:lnTo>
                <a:lnTo>
                  <a:pt x="26" y="422"/>
                </a:lnTo>
                <a:lnTo>
                  <a:pt x="39" y="361"/>
                </a:lnTo>
                <a:lnTo>
                  <a:pt x="53" y="301"/>
                </a:lnTo>
                <a:lnTo>
                  <a:pt x="64" y="242"/>
                </a:lnTo>
                <a:lnTo>
                  <a:pt x="74" y="180"/>
                </a:lnTo>
                <a:lnTo>
                  <a:pt x="81" y="121"/>
                </a:lnTo>
                <a:lnTo>
                  <a:pt x="87" y="59"/>
                </a:lnTo>
                <a:lnTo>
                  <a:pt x="89" y="0"/>
                </a:lnTo>
                <a:lnTo>
                  <a:pt x="79" y="0"/>
                </a:lnTo>
                <a:close/>
              </a:path>
            </a:pathLst>
          </a:custGeom>
          <a:solidFill>
            <a:srgbClr val="DC2B1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52" name="Rectangle 2657">
            <a:extLst>
              <a:ext uri="{FF2B5EF4-FFF2-40B4-BE49-F238E27FC236}">
                <a16:creationId xmlns:a16="http://schemas.microsoft.com/office/drawing/2014/main" id="{C5B1E933-D3CB-BA96-9FCF-5977602E5AB9}"/>
              </a:ext>
            </a:extLst>
          </p:cNvPr>
          <p:cNvSpPr>
            <a:spLocks noChangeArrowheads="1"/>
          </p:cNvSpPr>
          <p:nvPr/>
        </p:nvSpPr>
        <p:spPr bwMode="auto">
          <a:xfrm>
            <a:off x="6015038" y="4757738"/>
            <a:ext cx="39688" cy="203200"/>
          </a:xfrm>
          <a:prstGeom prst="rect">
            <a:avLst/>
          </a:prstGeom>
          <a:solidFill>
            <a:srgbClr val="0079C5"/>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53" name="Rectangle 2658">
            <a:extLst>
              <a:ext uri="{FF2B5EF4-FFF2-40B4-BE49-F238E27FC236}">
                <a16:creationId xmlns:a16="http://schemas.microsoft.com/office/drawing/2014/main" id="{FF5ACA48-3814-40D7-59C3-01EEDFB4E41D}"/>
              </a:ext>
            </a:extLst>
          </p:cNvPr>
          <p:cNvSpPr>
            <a:spLocks noChangeArrowheads="1"/>
          </p:cNvSpPr>
          <p:nvPr/>
        </p:nvSpPr>
        <p:spPr bwMode="auto">
          <a:xfrm>
            <a:off x="6015038" y="4757738"/>
            <a:ext cx="39688" cy="203200"/>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54" name="Rectangle 2659">
            <a:extLst>
              <a:ext uri="{FF2B5EF4-FFF2-40B4-BE49-F238E27FC236}">
                <a16:creationId xmlns:a16="http://schemas.microsoft.com/office/drawing/2014/main" id="{916D5022-6866-0185-D491-C2E4AFE345F5}"/>
              </a:ext>
            </a:extLst>
          </p:cNvPr>
          <p:cNvSpPr>
            <a:spLocks noChangeArrowheads="1"/>
          </p:cNvSpPr>
          <p:nvPr/>
        </p:nvSpPr>
        <p:spPr bwMode="auto">
          <a:xfrm>
            <a:off x="6599238" y="4757738"/>
            <a:ext cx="41275" cy="203200"/>
          </a:xfrm>
          <a:prstGeom prst="rect">
            <a:avLst/>
          </a:prstGeom>
          <a:solidFill>
            <a:srgbClr val="0079C5"/>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55" name="Rectangle 2660">
            <a:extLst>
              <a:ext uri="{FF2B5EF4-FFF2-40B4-BE49-F238E27FC236}">
                <a16:creationId xmlns:a16="http://schemas.microsoft.com/office/drawing/2014/main" id="{40CF3500-3222-7A68-474B-D6EEADEA0378}"/>
              </a:ext>
            </a:extLst>
          </p:cNvPr>
          <p:cNvSpPr>
            <a:spLocks noChangeArrowheads="1"/>
          </p:cNvSpPr>
          <p:nvPr/>
        </p:nvSpPr>
        <p:spPr bwMode="auto">
          <a:xfrm>
            <a:off x="6599238" y="4757738"/>
            <a:ext cx="41275" cy="203200"/>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56" name="Rectangle 2661">
            <a:extLst>
              <a:ext uri="{FF2B5EF4-FFF2-40B4-BE49-F238E27FC236}">
                <a16:creationId xmlns:a16="http://schemas.microsoft.com/office/drawing/2014/main" id="{DA032A69-F715-AB16-0FB0-59DBD8568665}"/>
              </a:ext>
            </a:extLst>
          </p:cNvPr>
          <p:cNvSpPr>
            <a:spLocks noChangeArrowheads="1"/>
          </p:cNvSpPr>
          <p:nvPr/>
        </p:nvSpPr>
        <p:spPr bwMode="auto">
          <a:xfrm>
            <a:off x="5270500" y="4141788"/>
            <a:ext cx="90170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Scanning plates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457" name="Rectangle 2662">
            <a:extLst>
              <a:ext uri="{FF2B5EF4-FFF2-40B4-BE49-F238E27FC236}">
                <a16:creationId xmlns:a16="http://schemas.microsoft.com/office/drawing/2014/main" id="{EB1C4004-0B11-4B71-0953-90093EF9F739}"/>
              </a:ext>
            </a:extLst>
          </p:cNvPr>
          <p:cNvSpPr>
            <a:spLocks noChangeArrowheads="1"/>
          </p:cNvSpPr>
          <p:nvPr/>
        </p:nvSpPr>
        <p:spPr bwMode="auto">
          <a:xfrm>
            <a:off x="5270500" y="4289425"/>
            <a:ext cx="88265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(two pairs: x,y)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458" name="Rectangle 2663">
            <a:extLst>
              <a:ext uri="{FF2B5EF4-FFF2-40B4-BE49-F238E27FC236}">
                <a16:creationId xmlns:a16="http://schemas.microsoft.com/office/drawing/2014/main" id="{27F68D21-7BB4-D268-77C7-A58F98FFD9FD}"/>
              </a:ext>
            </a:extLst>
          </p:cNvPr>
          <p:cNvSpPr>
            <a:spLocks noChangeArrowheads="1"/>
          </p:cNvSpPr>
          <p:nvPr/>
        </p:nvSpPr>
        <p:spPr bwMode="auto">
          <a:xfrm>
            <a:off x="6434138" y="4141788"/>
            <a:ext cx="557213"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Aperture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459" name="Rectangle 2664">
            <a:extLst>
              <a:ext uri="{FF2B5EF4-FFF2-40B4-BE49-F238E27FC236}">
                <a16:creationId xmlns:a16="http://schemas.microsoft.com/office/drawing/2014/main" id="{8EC8DF4B-5C6E-2C8C-22AE-ED823BBEA013}"/>
              </a:ext>
            </a:extLst>
          </p:cNvPr>
          <p:cNvSpPr>
            <a:spLocks noChangeArrowheads="1"/>
          </p:cNvSpPr>
          <p:nvPr/>
        </p:nvSpPr>
        <p:spPr bwMode="auto">
          <a:xfrm>
            <a:off x="5256213" y="5180013"/>
            <a:ext cx="4524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Sample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460" name="Rectangle 2665">
            <a:extLst>
              <a:ext uri="{FF2B5EF4-FFF2-40B4-BE49-F238E27FC236}">
                <a16:creationId xmlns:a16="http://schemas.microsoft.com/office/drawing/2014/main" id="{44F1BDC5-6616-C30A-4274-8F172DA75966}"/>
              </a:ext>
            </a:extLst>
          </p:cNvPr>
          <p:cNvSpPr>
            <a:spLocks noChangeArrowheads="1"/>
          </p:cNvSpPr>
          <p:nvPr/>
        </p:nvSpPr>
        <p:spPr bwMode="auto">
          <a:xfrm>
            <a:off x="6178550" y="5353050"/>
            <a:ext cx="293688" cy="4763"/>
          </a:xfrm>
          <a:prstGeom prst="rect">
            <a:avLst/>
          </a:prstGeom>
          <a:solidFill>
            <a:srgbClr val="9AB1C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61" name="Rectangle 2666">
            <a:extLst>
              <a:ext uri="{FF2B5EF4-FFF2-40B4-BE49-F238E27FC236}">
                <a16:creationId xmlns:a16="http://schemas.microsoft.com/office/drawing/2014/main" id="{236DAEEA-6D87-B961-78D2-38D5D2A17CA2}"/>
              </a:ext>
            </a:extLst>
          </p:cNvPr>
          <p:cNvSpPr>
            <a:spLocks noChangeArrowheads="1"/>
          </p:cNvSpPr>
          <p:nvPr/>
        </p:nvSpPr>
        <p:spPr bwMode="auto">
          <a:xfrm>
            <a:off x="6178550" y="5354638"/>
            <a:ext cx="293688" cy="6350"/>
          </a:xfrm>
          <a:prstGeom prst="rect">
            <a:avLst/>
          </a:prstGeom>
          <a:solidFill>
            <a:srgbClr val="9DB4C3"/>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62" name="Rectangle 2667">
            <a:extLst>
              <a:ext uri="{FF2B5EF4-FFF2-40B4-BE49-F238E27FC236}">
                <a16:creationId xmlns:a16="http://schemas.microsoft.com/office/drawing/2014/main" id="{6FBFDADA-2E02-D4B4-0BFB-E69005397B19}"/>
              </a:ext>
            </a:extLst>
          </p:cNvPr>
          <p:cNvSpPr>
            <a:spLocks noChangeArrowheads="1"/>
          </p:cNvSpPr>
          <p:nvPr/>
        </p:nvSpPr>
        <p:spPr bwMode="auto">
          <a:xfrm>
            <a:off x="6178550" y="5365750"/>
            <a:ext cx="293688" cy="4763"/>
          </a:xfrm>
          <a:prstGeom prst="rect">
            <a:avLst/>
          </a:prstGeom>
          <a:solidFill>
            <a:srgbClr val="A8BDCB"/>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63" name="Rectangle 2668">
            <a:extLst>
              <a:ext uri="{FF2B5EF4-FFF2-40B4-BE49-F238E27FC236}">
                <a16:creationId xmlns:a16="http://schemas.microsoft.com/office/drawing/2014/main" id="{20087EA9-C730-0E86-725B-DDA42E665C58}"/>
              </a:ext>
            </a:extLst>
          </p:cNvPr>
          <p:cNvSpPr>
            <a:spLocks noChangeArrowheads="1"/>
          </p:cNvSpPr>
          <p:nvPr/>
        </p:nvSpPr>
        <p:spPr bwMode="auto">
          <a:xfrm>
            <a:off x="6178550" y="5368925"/>
            <a:ext cx="293688" cy="4763"/>
          </a:xfrm>
          <a:prstGeom prst="rect">
            <a:avLst/>
          </a:prstGeom>
          <a:solidFill>
            <a:srgbClr val="ABBFC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64" name="Rectangle 2669">
            <a:extLst>
              <a:ext uri="{FF2B5EF4-FFF2-40B4-BE49-F238E27FC236}">
                <a16:creationId xmlns:a16="http://schemas.microsoft.com/office/drawing/2014/main" id="{F932484D-B8AB-401A-BB9F-494B9F103B16}"/>
              </a:ext>
            </a:extLst>
          </p:cNvPr>
          <p:cNvSpPr>
            <a:spLocks noChangeArrowheads="1"/>
          </p:cNvSpPr>
          <p:nvPr/>
        </p:nvSpPr>
        <p:spPr bwMode="auto">
          <a:xfrm>
            <a:off x="6178550" y="5376863"/>
            <a:ext cx="293688" cy="7938"/>
          </a:xfrm>
          <a:prstGeom prst="rect">
            <a:avLst/>
          </a:prstGeom>
          <a:solidFill>
            <a:srgbClr val="B7C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65" name="Rectangle 2670">
            <a:extLst>
              <a:ext uri="{FF2B5EF4-FFF2-40B4-BE49-F238E27FC236}">
                <a16:creationId xmlns:a16="http://schemas.microsoft.com/office/drawing/2014/main" id="{29511008-5AD2-F1FB-2017-0346D94AFF4F}"/>
              </a:ext>
            </a:extLst>
          </p:cNvPr>
          <p:cNvSpPr>
            <a:spLocks noChangeArrowheads="1"/>
          </p:cNvSpPr>
          <p:nvPr/>
        </p:nvSpPr>
        <p:spPr bwMode="auto">
          <a:xfrm>
            <a:off x="6178550" y="5378450"/>
            <a:ext cx="293688" cy="7938"/>
          </a:xfrm>
          <a:prstGeom prst="rect">
            <a:avLst/>
          </a:prstGeom>
          <a:solidFill>
            <a:srgbClr val="BECDD8"/>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66" name="Rectangle 2671">
            <a:extLst>
              <a:ext uri="{FF2B5EF4-FFF2-40B4-BE49-F238E27FC236}">
                <a16:creationId xmlns:a16="http://schemas.microsoft.com/office/drawing/2014/main" id="{51434180-423B-E07A-2B94-F9E7182D96AA}"/>
              </a:ext>
            </a:extLst>
          </p:cNvPr>
          <p:cNvSpPr>
            <a:spLocks noChangeArrowheads="1"/>
          </p:cNvSpPr>
          <p:nvPr/>
        </p:nvSpPr>
        <p:spPr bwMode="auto">
          <a:xfrm>
            <a:off x="6178550" y="5392738"/>
            <a:ext cx="293688" cy="4763"/>
          </a:xfrm>
          <a:prstGeom prst="rect">
            <a:avLst/>
          </a:prstGeom>
          <a:solidFill>
            <a:srgbClr val="D0DCE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67" name="Rectangle 2672">
            <a:extLst>
              <a:ext uri="{FF2B5EF4-FFF2-40B4-BE49-F238E27FC236}">
                <a16:creationId xmlns:a16="http://schemas.microsoft.com/office/drawing/2014/main" id="{3E60BA4D-B55F-5686-397B-699126C42404}"/>
              </a:ext>
            </a:extLst>
          </p:cNvPr>
          <p:cNvSpPr>
            <a:spLocks noChangeArrowheads="1"/>
          </p:cNvSpPr>
          <p:nvPr/>
        </p:nvSpPr>
        <p:spPr bwMode="auto">
          <a:xfrm>
            <a:off x="6178550" y="5394325"/>
            <a:ext cx="293688" cy="4763"/>
          </a:xfrm>
          <a:prstGeom prst="rect">
            <a:avLst/>
          </a:prstGeom>
          <a:solidFill>
            <a:srgbClr val="D5DFE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68" name="Rectangle 2673">
            <a:extLst>
              <a:ext uri="{FF2B5EF4-FFF2-40B4-BE49-F238E27FC236}">
                <a16:creationId xmlns:a16="http://schemas.microsoft.com/office/drawing/2014/main" id="{1C994A65-6BAD-6A0C-DC76-6EA553551ED4}"/>
              </a:ext>
            </a:extLst>
          </p:cNvPr>
          <p:cNvSpPr>
            <a:spLocks noChangeArrowheads="1"/>
          </p:cNvSpPr>
          <p:nvPr/>
        </p:nvSpPr>
        <p:spPr bwMode="auto">
          <a:xfrm>
            <a:off x="6178550" y="5405438"/>
            <a:ext cx="293688" cy="4763"/>
          </a:xfrm>
          <a:prstGeom prst="rect">
            <a:avLst/>
          </a:prstGeom>
          <a:solidFill>
            <a:srgbClr val="E8EDF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69" name="Rectangle 2674">
            <a:extLst>
              <a:ext uri="{FF2B5EF4-FFF2-40B4-BE49-F238E27FC236}">
                <a16:creationId xmlns:a16="http://schemas.microsoft.com/office/drawing/2014/main" id="{57BB5122-1A7E-5DC8-1EEB-5CA4E9FA710A}"/>
              </a:ext>
            </a:extLst>
          </p:cNvPr>
          <p:cNvSpPr>
            <a:spLocks noChangeArrowheads="1"/>
          </p:cNvSpPr>
          <p:nvPr/>
        </p:nvSpPr>
        <p:spPr bwMode="auto">
          <a:xfrm>
            <a:off x="6178550" y="5407025"/>
            <a:ext cx="293688" cy="6350"/>
          </a:xfrm>
          <a:prstGeom prst="rect">
            <a:avLst/>
          </a:prstGeom>
          <a:solidFill>
            <a:srgbClr val="E8EDF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470" name="Rectangle 2675">
            <a:extLst>
              <a:ext uri="{FF2B5EF4-FFF2-40B4-BE49-F238E27FC236}">
                <a16:creationId xmlns:a16="http://schemas.microsoft.com/office/drawing/2014/main" id="{12FD196D-DBDF-634D-481A-94C1F911EE03}"/>
              </a:ext>
            </a:extLst>
          </p:cNvPr>
          <p:cNvSpPr>
            <a:spLocks noChangeArrowheads="1"/>
          </p:cNvSpPr>
          <p:nvPr/>
        </p:nvSpPr>
        <p:spPr bwMode="auto">
          <a:xfrm>
            <a:off x="6178550" y="5346700"/>
            <a:ext cx="293688" cy="74613"/>
          </a:xfrm>
          <a:prstGeom prst="rect">
            <a:avLst/>
          </a:prstGeom>
          <a:noFill/>
          <a:ln w="7938" cap="rnd">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71" name="Freeform 2676">
            <a:extLst>
              <a:ext uri="{FF2B5EF4-FFF2-40B4-BE49-F238E27FC236}">
                <a16:creationId xmlns:a16="http://schemas.microsoft.com/office/drawing/2014/main" id="{1AFC3425-CD54-C3B7-B938-A36D6B486CB3}"/>
              </a:ext>
            </a:extLst>
          </p:cNvPr>
          <p:cNvSpPr>
            <a:spLocks/>
          </p:cNvSpPr>
          <p:nvPr/>
        </p:nvSpPr>
        <p:spPr bwMode="auto">
          <a:xfrm>
            <a:off x="5715000" y="5281613"/>
            <a:ext cx="460375" cy="144463"/>
          </a:xfrm>
          <a:custGeom>
            <a:avLst/>
            <a:gdLst>
              <a:gd name="T0" fmla="*/ 0 w 290"/>
              <a:gd name="T1" fmla="*/ 0 h 91"/>
              <a:gd name="T2" fmla="*/ 290 w 290"/>
              <a:gd name="T3" fmla="*/ 60 h 91"/>
              <a:gd name="T4" fmla="*/ 229 w 290"/>
              <a:gd name="T5" fmla="*/ 91 h 91"/>
            </a:gdLst>
            <a:ahLst/>
            <a:cxnLst>
              <a:cxn ang="0">
                <a:pos x="T0" y="T1"/>
              </a:cxn>
              <a:cxn ang="0">
                <a:pos x="T2" y="T3"/>
              </a:cxn>
              <a:cxn ang="0">
                <a:pos x="T4" y="T5"/>
              </a:cxn>
            </a:cxnLst>
            <a:rect l="0" t="0" r="r" b="b"/>
            <a:pathLst>
              <a:path w="290" h="91">
                <a:moveTo>
                  <a:pt x="0" y="0"/>
                </a:moveTo>
                <a:lnTo>
                  <a:pt x="290" y="60"/>
                </a:lnTo>
                <a:lnTo>
                  <a:pt x="229" y="91"/>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72" name="Freeform 2677">
            <a:extLst>
              <a:ext uri="{FF2B5EF4-FFF2-40B4-BE49-F238E27FC236}">
                <a16:creationId xmlns:a16="http://schemas.microsoft.com/office/drawing/2014/main" id="{AD55E1C3-6B7C-7EAC-61DB-DFD4AC9F9BDF}"/>
              </a:ext>
            </a:extLst>
          </p:cNvPr>
          <p:cNvSpPr>
            <a:spLocks/>
          </p:cNvSpPr>
          <p:nvPr/>
        </p:nvSpPr>
        <p:spPr bwMode="auto">
          <a:xfrm>
            <a:off x="5459413" y="4468813"/>
            <a:ext cx="555625" cy="412750"/>
          </a:xfrm>
          <a:custGeom>
            <a:avLst/>
            <a:gdLst>
              <a:gd name="T0" fmla="*/ 0 w 350"/>
              <a:gd name="T1" fmla="*/ 0 h 260"/>
              <a:gd name="T2" fmla="*/ 350 w 350"/>
              <a:gd name="T3" fmla="*/ 244 h 260"/>
              <a:gd name="T4" fmla="*/ 309 w 350"/>
              <a:gd name="T5" fmla="*/ 260 h 260"/>
            </a:gdLst>
            <a:ahLst/>
            <a:cxnLst>
              <a:cxn ang="0">
                <a:pos x="T0" y="T1"/>
              </a:cxn>
              <a:cxn ang="0">
                <a:pos x="T2" y="T3"/>
              </a:cxn>
              <a:cxn ang="0">
                <a:pos x="T4" y="T5"/>
              </a:cxn>
            </a:cxnLst>
            <a:rect l="0" t="0" r="r" b="b"/>
            <a:pathLst>
              <a:path w="350" h="260">
                <a:moveTo>
                  <a:pt x="0" y="0"/>
                </a:moveTo>
                <a:lnTo>
                  <a:pt x="350" y="244"/>
                </a:lnTo>
                <a:lnTo>
                  <a:pt x="309" y="260"/>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73" name="Freeform 2678">
            <a:extLst>
              <a:ext uri="{FF2B5EF4-FFF2-40B4-BE49-F238E27FC236}">
                <a16:creationId xmlns:a16="http://schemas.microsoft.com/office/drawing/2014/main" id="{6BF93E3B-E68F-C8CF-A176-92DF7287BF50}"/>
              </a:ext>
            </a:extLst>
          </p:cNvPr>
          <p:cNvSpPr>
            <a:spLocks/>
          </p:cNvSpPr>
          <p:nvPr/>
        </p:nvSpPr>
        <p:spPr bwMode="auto">
          <a:xfrm>
            <a:off x="6384925" y="4284663"/>
            <a:ext cx="84138" cy="227013"/>
          </a:xfrm>
          <a:custGeom>
            <a:avLst/>
            <a:gdLst>
              <a:gd name="T0" fmla="*/ 53 w 53"/>
              <a:gd name="T1" fmla="*/ 0 h 143"/>
              <a:gd name="T2" fmla="*/ 30 w 53"/>
              <a:gd name="T3" fmla="*/ 143 h 143"/>
              <a:gd name="T4" fmla="*/ 0 w 53"/>
              <a:gd name="T5" fmla="*/ 113 h 143"/>
            </a:gdLst>
            <a:ahLst/>
            <a:cxnLst>
              <a:cxn ang="0">
                <a:pos x="T0" y="T1"/>
              </a:cxn>
              <a:cxn ang="0">
                <a:pos x="T2" y="T3"/>
              </a:cxn>
              <a:cxn ang="0">
                <a:pos x="T4" y="T5"/>
              </a:cxn>
            </a:cxnLst>
            <a:rect l="0" t="0" r="r" b="b"/>
            <a:pathLst>
              <a:path w="53" h="143">
                <a:moveTo>
                  <a:pt x="53" y="0"/>
                </a:moveTo>
                <a:lnTo>
                  <a:pt x="30" y="143"/>
                </a:lnTo>
                <a:lnTo>
                  <a:pt x="0" y="113"/>
                </a:lnTo>
              </a:path>
            </a:pathLst>
          </a:custGeom>
          <a:noFill/>
          <a:ln w="3175" cap="rnd">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474" name="Rectangle 2679">
            <a:extLst>
              <a:ext uri="{FF2B5EF4-FFF2-40B4-BE49-F238E27FC236}">
                <a16:creationId xmlns:a16="http://schemas.microsoft.com/office/drawing/2014/main" id="{CC1AA7BE-2A95-C8B0-A808-8F15F2447C07}"/>
              </a:ext>
            </a:extLst>
          </p:cNvPr>
          <p:cNvSpPr>
            <a:spLocks noChangeArrowheads="1"/>
          </p:cNvSpPr>
          <p:nvPr/>
        </p:nvSpPr>
        <p:spPr bwMode="auto">
          <a:xfrm>
            <a:off x="5010150" y="5605463"/>
            <a:ext cx="183038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Image: Voltages V &amp; V scanned:</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475" name="Rectangle 2680">
            <a:extLst>
              <a:ext uri="{FF2B5EF4-FFF2-40B4-BE49-F238E27FC236}">
                <a16:creationId xmlns:a16="http://schemas.microsoft.com/office/drawing/2014/main" id="{1CBEBE06-A398-E8A8-B374-27A8C1ACF437}"/>
              </a:ext>
            </a:extLst>
          </p:cNvPr>
          <p:cNvSpPr>
            <a:spLocks noChangeArrowheads="1"/>
          </p:cNvSpPr>
          <p:nvPr/>
        </p:nvSpPr>
        <p:spPr bwMode="auto">
          <a:xfrm>
            <a:off x="5392738" y="5764213"/>
            <a:ext cx="83820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Photointensity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476" name="Rectangle 2681">
            <a:extLst>
              <a:ext uri="{FF2B5EF4-FFF2-40B4-BE49-F238E27FC236}">
                <a16:creationId xmlns:a16="http://schemas.microsoft.com/office/drawing/2014/main" id="{7998F6C5-2DA4-ED41-E43B-F3BCC98A8DED}"/>
              </a:ext>
            </a:extLst>
          </p:cNvPr>
          <p:cNvSpPr>
            <a:spLocks noChangeArrowheads="1"/>
          </p:cNvSpPr>
          <p:nvPr/>
        </p:nvSpPr>
        <p:spPr bwMode="auto">
          <a:xfrm>
            <a:off x="6207125" y="5764213"/>
            <a:ext cx="858838"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collected from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477" name="Rectangle 2682">
            <a:extLst>
              <a:ext uri="{FF2B5EF4-FFF2-40B4-BE49-F238E27FC236}">
                <a16:creationId xmlns:a16="http://schemas.microsoft.com/office/drawing/2014/main" id="{AFD98ACC-311F-3D28-2F03-FB8822E93B20}"/>
              </a:ext>
            </a:extLst>
          </p:cNvPr>
          <p:cNvSpPr>
            <a:spLocks noChangeArrowheads="1"/>
          </p:cNvSpPr>
          <p:nvPr/>
        </p:nvSpPr>
        <p:spPr bwMode="auto">
          <a:xfrm>
            <a:off x="5392738" y="5908675"/>
            <a:ext cx="1816100" cy="17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a:ln>
                  <a:noFill/>
                </a:ln>
                <a:solidFill>
                  <a:srgbClr val="000000"/>
                </a:solidFill>
                <a:effectLst/>
                <a:latin typeface="Times New Roman" panose="02020603050405020304" pitchFamily="18" charset="0"/>
              </a:rPr>
              <a:t>different points in time sequence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478" name="Rectangle 2683">
            <a:extLst>
              <a:ext uri="{FF2B5EF4-FFF2-40B4-BE49-F238E27FC236}">
                <a16:creationId xmlns:a16="http://schemas.microsoft.com/office/drawing/2014/main" id="{65622B6E-7A0E-239F-3267-C177F7282E4A}"/>
              </a:ext>
            </a:extLst>
          </p:cNvPr>
          <p:cNvSpPr>
            <a:spLocks noChangeArrowheads="1"/>
          </p:cNvSpPr>
          <p:nvPr/>
        </p:nvSpPr>
        <p:spPr bwMode="auto">
          <a:xfrm>
            <a:off x="6035675" y="5713413"/>
            <a:ext cx="58738" cy="85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500" b="1" i="0" u="none" strike="noStrike" cap="none" normalizeH="0" baseline="0">
                <a:ln>
                  <a:noFill/>
                </a:ln>
                <a:solidFill>
                  <a:srgbClr val="000000"/>
                </a:solidFill>
                <a:effectLst/>
                <a:latin typeface="Times New Roman" panose="02020603050405020304" pitchFamily="18" charset="0"/>
              </a:rPr>
              <a:t>x</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479" name="Rectangle 2684">
            <a:extLst>
              <a:ext uri="{FF2B5EF4-FFF2-40B4-BE49-F238E27FC236}">
                <a16:creationId xmlns:a16="http://schemas.microsoft.com/office/drawing/2014/main" id="{088F1FB2-7618-6923-A8F0-AB9924538069}"/>
              </a:ext>
            </a:extLst>
          </p:cNvPr>
          <p:cNvSpPr>
            <a:spLocks noChangeArrowheads="1"/>
          </p:cNvSpPr>
          <p:nvPr/>
        </p:nvSpPr>
        <p:spPr bwMode="auto">
          <a:xfrm>
            <a:off x="6338888" y="5713413"/>
            <a:ext cx="57150" cy="85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500" b="1" i="0" u="none" strike="noStrike" cap="none" normalizeH="0" baseline="0">
                <a:ln>
                  <a:noFill/>
                </a:ln>
                <a:solidFill>
                  <a:srgbClr val="000000"/>
                </a:solidFill>
                <a:effectLst/>
                <a:latin typeface="Times New Roman" panose="02020603050405020304" pitchFamily="18" charset="0"/>
              </a:rPr>
              <a:t>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482" name="Rectangle 2687">
            <a:extLst>
              <a:ext uri="{FF2B5EF4-FFF2-40B4-BE49-F238E27FC236}">
                <a16:creationId xmlns:a16="http://schemas.microsoft.com/office/drawing/2014/main" id="{C474EA52-BBDC-5B32-FA64-1FDC3F80F810}"/>
              </a:ext>
            </a:extLst>
          </p:cNvPr>
          <p:cNvSpPr>
            <a:spLocks noChangeArrowheads="1"/>
          </p:cNvSpPr>
          <p:nvPr/>
        </p:nvSpPr>
        <p:spPr bwMode="auto">
          <a:xfrm>
            <a:off x="4748213" y="2628662"/>
            <a:ext cx="163666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i="0" u="none" strike="noStrike" cap="none" normalizeH="0" baseline="0" dirty="0">
                <a:ln>
                  <a:noFill/>
                </a:ln>
                <a:solidFill>
                  <a:srgbClr val="000000"/>
                </a:solidFill>
                <a:effectLst/>
                <a:latin typeface="Times New Roman" panose="02020603050405020304" pitchFamily="18" charset="0"/>
              </a:rPr>
              <a:t>Resolution: ~50</a:t>
            </a:r>
            <a:r>
              <a:rPr kumimoji="0" lang="en-US" altLang="en-US" sz="1600" i="0" u="none" strike="noStrike" cap="none" normalizeH="0" baseline="0" dirty="0">
                <a:ln>
                  <a:noFill/>
                </a:ln>
                <a:solidFill>
                  <a:srgbClr val="000000"/>
                </a:solidFill>
                <a:effectLst/>
                <a:latin typeface="Symbol" panose="05050102010706020507" pitchFamily="18" charset="2"/>
              </a:rPr>
              <a:t>m</a:t>
            </a:r>
            <a:r>
              <a:rPr kumimoji="0" lang="en-US" altLang="en-US" sz="1600" i="0" u="none" strike="noStrike" cap="none" normalizeH="0" baseline="0" dirty="0">
                <a:ln>
                  <a:noFill/>
                </a:ln>
                <a:solidFill>
                  <a:srgbClr val="000000"/>
                </a:solidFill>
                <a:effectLst/>
                <a:latin typeface="Times New Roman" panose="02020603050405020304" pitchFamily="18" charset="0"/>
              </a:rPr>
              <a:t>m</a:t>
            </a:r>
            <a:endParaRPr kumimoji="0" lang="en-US" altLang="en-US" sz="1600" i="0" u="none" strike="noStrike" cap="none" normalizeH="0" baseline="0" dirty="0">
              <a:ln>
                <a:noFill/>
              </a:ln>
              <a:solidFill>
                <a:schemeClr val="tx1"/>
              </a:solidFill>
              <a:effectLst/>
            </a:endParaRPr>
          </a:p>
        </p:txBody>
      </p:sp>
      <p:sp>
        <p:nvSpPr>
          <p:cNvPr id="73287" name="Rectangle 2687">
            <a:extLst>
              <a:ext uri="{FF2B5EF4-FFF2-40B4-BE49-F238E27FC236}">
                <a16:creationId xmlns:a16="http://schemas.microsoft.com/office/drawing/2014/main" id="{5407E836-1109-5564-D736-1CB6E519F513}"/>
              </a:ext>
            </a:extLst>
          </p:cNvPr>
          <p:cNvSpPr>
            <a:spLocks noChangeArrowheads="1"/>
          </p:cNvSpPr>
          <p:nvPr/>
        </p:nvSpPr>
        <p:spPr bwMode="auto">
          <a:xfrm>
            <a:off x="5010221" y="6159275"/>
            <a:ext cx="163666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i="0" u="none" strike="noStrike" cap="none" normalizeH="0" baseline="0" dirty="0">
                <a:ln>
                  <a:noFill/>
                </a:ln>
                <a:solidFill>
                  <a:srgbClr val="000000"/>
                </a:solidFill>
                <a:effectLst/>
                <a:latin typeface="Times New Roman" panose="02020603050405020304" pitchFamily="18" charset="0"/>
              </a:rPr>
              <a:t>Resolution: ~10</a:t>
            </a:r>
            <a:r>
              <a:rPr kumimoji="0" lang="en-US" altLang="en-US" sz="1600" i="0" u="none" strike="noStrike" cap="none" normalizeH="0" baseline="0" dirty="0">
                <a:ln>
                  <a:noFill/>
                </a:ln>
                <a:solidFill>
                  <a:srgbClr val="000000"/>
                </a:solidFill>
                <a:effectLst/>
                <a:latin typeface="Symbol" panose="05050102010706020507" pitchFamily="18" charset="2"/>
              </a:rPr>
              <a:t>m</a:t>
            </a:r>
            <a:r>
              <a:rPr kumimoji="0" lang="en-US" altLang="en-US" sz="1600" i="0" u="none" strike="noStrike" cap="none" normalizeH="0" baseline="0" dirty="0">
                <a:ln>
                  <a:noFill/>
                </a:ln>
                <a:solidFill>
                  <a:srgbClr val="000000"/>
                </a:solidFill>
                <a:effectLst/>
                <a:latin typeface="Times New Roman" panose="02020603050405020304" pitchFamily="18" charset="0"/>
              </a:rPr>
              <a:t>m</a:t>
            </a:r>
            <a:endParaRPr kumimoji="0" lang="en-US" altLang="en-US" sz="1600" i="0" u="none" strike="noStrike" cap="none" normalizeH="0" baseline="0" dirty="0">
              <a:ln>
                <a:noFill/>
              </a:ln>
              <a:solidFill>
                <a:schemeClr val="tx1"/>
              </a:solidFill>
              <a:effectLst/>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5"/>
          <p:cNvSpPr>
            <a:spLocks noChangeArrowheads="1"/>
          </p:cNvSpPr>
          <p:nvPr/>
        </p:nvSpPr>
        <p:spPr bwMode="auto">
          <a:xfrm>
            <a:off x="1219200" y="10668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Mapping technology</a:t>
            </a:r>
          </a:p>
        </p:txBody>
      </p:sp>
      <p:sp>
        <p:nvSpPr>
          <p:cNvPr id="71684" name="Rectangle 7"/>
          <p:cNvSpPr>
            <a:spLocks noChangeArrowheads="1"/>
          </p:cNvSpPr>
          <p:nvPr/>
        </p:nvSpPr>
        <p:spPr bwMode="auto">
          <a:xfrm>
            <a:off x="1066800" y="1752600"/>
            <a:ext cx="7315200" cy="4648200"/>
          </a:xfrm>
          <a:prstGeom prst="rect">
            <a:avLst/>
          </a:prstGeom>
          <a:noFill/>
          <a:ln w="9525">
            <a:solidFill>
              <a:schemeClr val="tx1"/>
            </a:solidFill>
            <a:miter lim="800000"/>
            <a:headEnd/>
            <a:tailEnd/>
          </a:ln>
        </p:spPr>
        <p:txBody>
          <a:bodyPr wrap="none" anchor="ctr"/>
          <a:lstStyle/>
          <a:p>
            <a:endParaRPr lang="zh-CN" altLang="zh-CN">
              <a:ea typeface="SimSun" pitchFamily="2" charset="-122"/>
            </a:endParaRPr>
          </a:p>
        </p:txBody>
      </p:sp>
      <p:pic>
        <p:nvPicPr>
          <p:cNvPr id="71685" name="Picture 8"/>
          <p:cNvPicPr>
            <a:picLocks noChangeAspect="1" noChangeArrowheads="1"/>
          </p:cNvPicPr>
          <p:nvPr/>
        </p:nvPicPr>
        <p:blipFill>
          <a:blip r:embed="rId2" cstate="print"/>
          <a:srcRect/>
          <a:stretch>
            <a:fillRect/>
          </a:stretch>
        </p:blipFill>
        <p:spPr bwMode="auto">
          <a:xfrm>
            <a:off x="1295400" y="1912938"/>
            <a:ext cx="6553200" cy="4148137"/>
          </a:xfrm>
          <a:prstGeom prst="rect">
            <a:avLst/>
          </a:prstGeom>
          <a:noFill/>
          <a:ln w="9525">
            <a:noFill/>
            <a:miter lim="800000"/>
            <a:headEnd/>
            <a:tailEnd/>
          </a:ln>
        </p:spPr>
      </p:pic>
      <p:sp>
        <p:nvSpPr>
          <p:cNvPr id="2" name="Slide Number Placeholder 1">
            <a:extLst>
              <a:ext uri="{FF2B5EF4-FFF2-40B4-BE49-F238E27FC236}">
                <a16:creationId xmlns:a16="http://schemas.microsoft.com/office/drawing/2014/main" id="{73F5C9E3-FE98-443C-AEC4-CED7B5014902}"/>
              </a:ext>
            </a:extLst>
          </p:cNvPr>
          <p:cNvSpPr>
            <a:spLocks noGrp="1"/>
          </p:cNvSpPr>
          <p:nvPr>
            <p:ph type="sldNum" sz="quarter" idx="11"/>
          </p:nvPr>
        </p:nvSpPr>
        <p:spPr/>
        <p:txBody>
          <a:bodyPr/>
          <a:lstStyle/>
          <a:p>
            <a:pPr>
              <a:defRPr/>
            </a:pPr>
            <a:fld id="{EBF73BDF-690D-4725-BA10-A7934ED52EAB}" type="slidenum">
              <a:rPr lang="zh-TW" altLang="en-US" smtClean="0"/>
              <a:pPr>
                <a:defRPr/>
              </a:pPr>
              <a:t>88</a:t>
            </a:fld>
            <a:endParaRPr lang="en-US" altLang="zh-TW"/>
          </a:p>
        </p:txBody>
      </p:sp>
      <p:sp>
        <p:nvSpPr>
          <p:cNvPr id="3" name="Rectangle 8">
            <a:extLst>
              <a:ext uri="{FF2B5EF4-FFF2-40B4-BE49-F238E27FC236}">
                <a16:creationId xmlns:a16="http://schemas.microsoft.com/office/drawing/2014/main" id="{42D3CF02-5592-4BC6-8DAD-6F452653757A}"/>
              </a:ext>
            </a:extLst>
          </p:cNvPr>
          <p:cNvSpPr>
            <a:spLocks noChangeArrowheads="1"/>
          </p:cNvSpPr>
          <p:nvPr/>
        </p:nvSpPr>
        <p:spPr bwMode="auto">
          <a:xfrm>
            <a:off x="685800" y="179388"/>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imaging: chemical map</a:t>
            </a:r>
            <a:endParaRPr lang="en-US" altLang="zh-TW" sz="2000" dirty="0">
              <a:solidFill>
                <a:schemeClr val="bg2">
                  <a:lumMod val="40000"/>
                  <a:lumOff val="60000"/>
                </a:schemeClr>
              </a:solidFill>
              <a:latin typeface="Georgia" panose="02040502050405020303" pitchFamily="18" charset="0"/>
              <a:ea typeface="新細明體" pitchFamily="18" charset="-120"/>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ChangeArrowheads="1"/>
          </p:cNvSpPr>
          <p:nvPr/>
        </p:nvSpPr>
        <p:spPr bwMode="auto">
          <a:xfrm>
            <a:off x="1219200" y="10668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Mapping technology</a:t>
            </a:r>
          </a:p>
        </p:txBody>
      </p:sp>
      <p:sp>
        <p:nvSpPr>
          <p:cNvPr id="2" name="Slide Number Placeholder 1">
            <a:extLst>
              <a:ext uri="{FF2B5EF4-FFF2-40B4-BE49-F238E27FC236}">
                <a16:creationId xmlns:a16="http://schemas.microsoft.com/office/drawing/2014/main" id="{004D757A-E05F-43ED-B227-1B54C86DD6A4}"/>
              </a:ext>
            </a:extLst>
          </p:cNvPr>
          <p:cNvSpPr>
            <a:spLocks noGrp="1"/>
          </p:cNvSpPr>
          <p:nvPr>
            <p:ph type="sldNum" sz="quarter" idx="11"/>
          </p:nvPr>
        </p:nvSpPr>
        <p:spPr/>
        <p:txBody>
          <a:bodyPr/>
          <a:lstStyle/>
          <a:p>
            <a:pPr>
              <a:defRPr/>
            </a:pPr>
            <a:fld id="{EBF73BDF-690D-4725-BA10-A7934ED52EAB}" type="slidenum">
              <a:rPr lang="zh-TW" altLang="en-US" smtClean="0"/>
              <a:pPr>
                <a:defRPr/>
              </a:pPr>
              <a:t>89</a:t>
            </a:fld>
            <a:endParaRPr lang="en-US" altLang="zh-TW"/>
          </a:p>
        </p:txBody>
      </p:sp>
      <p:sp>
        <p:nvSpPr>
          <p:cNvPr id="4" name="AutoShape 3">
            <a:extLst>
              <a:ext uri="{FF2B5EF4-FFF2-40B4-BE49-F238E27FC236}">
                <a16:creationId xmlns:a16="http://schemas.microsoft.com/office/drawing/2014/main" id="{283A44C8-AB3B-D704-9D06-985C40E4F5C6}"/>
              </a:ext>
            </a:extLst>
          </p:cNvPr>
          <p:cNvSpPr>
            <a:spLocks noChangeAspect="1" noChangeArrowheads="1" noTextEdit="1"/>
          </p:cNvSpPr>
          <p:nvPr/>
        </p:nvSpPr>
        <p:spPr bwMode="auto">
          <a:xfrm>
            <a:off x="1219200" y="1752600"/>
            <a:ext cx="6802438" cy="459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grpSp>
        <p:nvGrpSpPr>
          <p:cNvPr id="5" name="Group 7">
            <a:extLst>
              <a:ext uri="{FF2B5EF4-FFF2-40B4-BE49-F238E27FC236}">
                <a16:creationId xmlns:a16="http://schemas.microsoft.com/office/drawing/2014/main" id="{99564998-F8F6-0687-2634-662199D1D0A8}"/>
              </a:ext>
            </a:extLst>
          </p:cNvPr>
          <p:cNvGrpSpPr>
            <a:grpSpLocks/>
          </p:cNvGrpSpPr>
          <p:nvPr/>
        </p:nvGrpSpPr>
        <p:grpSpPr bwMode="auto">
          <a:xfrm>
            <a:off x="1222375" y="1755775"/>
            <a:ext cx="6781800" cy="4573588"/>
            <a:chOff x="770" y="1106"/>
            <a:chExt cx="4272" cy="2881"/>
          </a:xfrm>
        </p:grpSpPr>
        <p:sp>
          <p:nvSpPr>
            <p:cNvPr id="72830" name="Rectangle 5">
              <a:extLst>
                <a:ext uri="{FF2B5EF4-FFF2-40B4-BE49-F238E27FC236}">
                  <a16:creationId xmlns:a16="http://schemas.microsoft.com/office/drawing/2014/main" id="{64A47111-9B73-708C-A43C-203279129CD5}"/>
                </a:ext>
              </a:extLst>
            </p:cNvPr>
            <p:cNvSpPr>
              <a:spLocks noChangeArrowheads="1"/>
            </p:cNvSpPr>
            <p:nvPr/>
          </p:nvSpPr>
          <p:spPr bwMode="auto">
            <a:xfrm>
              <a:off x="770" y="1106"/>
              <a:ext cx="4272" cy="2881"/>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31" name="Rectangle 6">
              <a:extLst>
                <a:ext uri="{FF2B5EF4-FFF2-40B4-BE49-F238E27FC236}">
                  <a16:creationId xmlns:a16="http://schemas.microsoft.com/office/drawing/2014/main" id="{9126C8E3-8B77-385B-F0B0-3AEB021EDA62}"/>
                </a:ext>
              </a:extLst>
            </p:cNvPr>
            <p:cNvSpPr>
              <a:spLocks noChangeArrowheads="1"/>
            </p:cNvSpPr>
            <p:nvPr/>
          </p:nvSpPr>
          <p:spPr bwMode="auto">
            <a:xfrm>
              <a:off x="770" y="1106"/>
              <a:ext cx="4272" cy="2881"/>
            </a:xfrm>
            <a:prstGeom prst="rect">
              <a:avLst/>
            </a:prstGeom>
            <a:noFill/>
            <a:ln w="9525" cap="rnd">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grpSp>
      <p:grpSp>
        <p:nvGrpSpPr>
          <p:cNvPr id="6" name="Group 188">
            <a:extLst>
              <a:ext uri="{FF2B5EF4-FFF2-40B4-BE49-F238E27FC236}">
                <a16:creationId xmlns:a16="http://schemas.microsoft.com/office/drawing/2014/main" id="{CF8B3EBD-38A1-0A34-4559-5DB8741AB68B}"/>
              </a:ext>
            </a:extLst>
          </p:cNvPr>
          <p:cNvGrpSpPr>
            <a:grpSpLocks/>
          </p:cNvGrpSpPr>
          <p:nvPr/>
        </p:nvGrpSpPr>
        <p:grpSpPr bwMode="auto">
          <a:xfrm>
            <a:off x="1698625" y="1939925"/>
            <a:ext cx="5888038" cy="4420575"/>
            <a:chOff x="1070" y="1222"/>
            <a:chExt cx="3709" cy="2571"/>
          </a:xfrm>
        </p:grpSpPr>
        <p:sp>
          <p:nvSpPr>
            <p:cNvPr id="7" name="Rectangle 8">
              <a:extLst>
                <a:ext uri="{FF2B5EF4-FFF2-40B4-BE49-F238E27FC236}">
                  <a16:creationId xmlns:a16="http://schemas.microsoft.com/office/drawing/2014/main" id="{911E20DB-5DC3-D7B1-56C4-B6F77A1D30C7}"/>
                </a:ext>
              </a:extLst>
            </p:cNvPr>
            <p:cNvSpPr>
              <a:spLocks noChangeArrowheads="1"/>
            </p:cNvSpPr>
            <p:nvPr/>
          </p:nvSpPr>
          <p:spPr bwMode="auto">
            <a:xfrm>
              <a:off x="1149" y="1222"/>
              <a:ext cx="1752" cy="2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100" b="1" i="0" u="none" strike="noStrike" cap="none" normalizeH="0" baseline="0" dirty="0">
                  <a:ln>
                    <a:noFill/>
                  </a:ln>
                  <a:solidFill>
                    <a:srgbClr val="000000"/>
                  </a:solidFill>
                  <a:effectLst/>
                  <a:latin typeface="Times New Roman" panose="02020603050405020304" pitchFamily="18" charset="0"/>
                </a:rPr>
                <a:t>(4) Use of scanned beam</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Freeform 11">
              <a:extLst>
                <a:ext uri="{FF2B5EF4-FFF2-40B4-BE49-F238E27FC236}">
                  <a16:creationId xmlns:a16="http://schemas.microsoft.com/office/drawing/2014/main" id="{1D0EBC2E-A69D-2601-3AED-5BCFBB10AA8A}"/>
                </a:ext>
              </a:extLst>
            </p:cNvPr>
            <p:cNvSpPr>
              <a:spLocks/>
            </p:cNvSpPr>
            <p:nvPr/>
          </p:nvSpPr>
          <p:spPr bwMode="auto">
            <a:xfrm>
              <a:off x="2947" y="1636"/>
              <a:ext cx="223" cy="55"/>
            </a:xfrm>
            <a:custGeom>
              <a:avLst/>
              <a:gdLst>
                <a:gd name="T0" fmla="*/ 223 w 223"/>
                <a:gd name="T1" fmla="*/ 15 h 55"/>
                <a:gd name="T2" fmla="*/ 223 w 223"/>
                <a:gd name="T3" fmla="*/ 15 h 55"/>
                <a:gd name="T4" fmla="*/ 195 w 223"/>
                <a:gd name="T5" fmla="*/ 9 h 55"/>
                <a:gd name="T6" fmla="*/ 166 w 223"/>
                <a:gd name="T7" fmla="*/ 4 h 55"/>
                <a:gd name="T8" fmla="*/ 140 w 223"/>
                <a:gd name="T9" fmla="*/ 0 h 55"/>
                <a:gd name="T10" fmla="*/ 112 w 223"/>
                <a:gd name="T11" fmla="*/ 0 h 55"/>
                <a:gd name="T12" fmla="*/ 85 w 223"/>
                <a:gd name="T13" fmla="*/ 0 h 55"/>
                <a:gd name="T14" fmla="*/ 57 w 223"/>
                <a:gd name="T15" fmla="*/ 0 h 55"/>
                <a:gd name="T16" fmla="*/ 29 w 223"/>
                <a:gd name="T17" fmla="*/ 2 h 55"/>
                <a:gd name="T18" fmla="*/ 0 w 223"/>
                <a:gd name="T19" fmla="*/ 7 h 55"/>
                <a:gd name="T20" fmla="*/ 7 w 223"/>
                <a:gd name="T21" fmla="*/ 46 h 55"/>
                <a:gd name="T22" fmla="*/ 33 w 223"/>
                <a:gd name="T23" fmla="*/ 42 h 55"/>
                <a:gd name="T24" fmla="*/ 59 w 223"/>
                <a:gd name="T25" fmla="*/ 39 h 55"/>
                <a:gd name="T26" fmla="*/ 85 w 223"/>
                <a:gd name="T27" fmla="*/ 37 h 55"/>
                <a:gd name="T28" fmla="*/ 112 w 223"/>
                <a:gd name="T29" fmla="*/ 39 h 55"/>
                <a:gd name="T30" fmla="*/ 136 w 223"/>
                <a:gd name="T31" fmla="*/ 39 h 55"/>
                <a:gd name="T32" fmla="*/ 162 w 223"/>
                <a:gd name="T33" fmla="*/ 44 h 55"/>
                <a:gd name="T34" fmla="*/ 186 w 223"/>
                <a:gd name="T35" fmla="*/ 48 h 55"/>
                <a:gd name="T36" fmla="*/ 212 w 223"/>
                <a:gd name="T37" fmla="*/ 55 h 55"/>
                <a:gd name="T38" fmla="*/ 212 w 223"/>
                <a:gd name="T39" fmla="*/ 55 h 55"/>
                <a:gd name="T40" fmla="*/ 223 w 223"/>
                <a:gd name="T41" fmla="*/ 15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23" h="55">
                  <a:moveTo>
                    <a:pt x="223" y="15"/>
                  </a:moveTo>
                  <a:lnTo>
                    <a:pt x="223" y="15"/>
                  </a:lnTo>
                  <a:lnTo>
                    <a:pt x="195" y="9"/>
                  </a:lnTo>
                  <a:lnTo>
                    <a:pt x="166" y="4"/>
                  </a:lnTo>
                  <a:lnTo>
                    <a:pt x="140" y="0"/>
                  </a:lnTo>
                  <a:lnTo>
                    <a:pt x="112" y="0"/>
                  </a:lnTo>
                  <a:lnTo>
                    <a:pt x="85" y="0"/>
                  </a:lnTo>
                  <a:lnTo>
                    <a:pt x="57" y="0"/>
                  </a:lnTo>
                  <a:lnTo>
                    <a:pt x="29" y="2"/>
                  </a:lnTo>
                  <a:lnTo>
                    <a:pt x="0" y="7"/>
                  </a:lnTo>
                  <a:lnTo>
                    <a:pt x="7" y="46"/>
                  </a:lnTo>
                  <a:lnTo>
                    <a:pt x="33" y="42"/>
                  </a:lnTo>
                  <a:lnTo>
                    <a:pt x="59" y="39"/>
                  </a:lnTo>
                  <a:lnTo>
                    <a:pt x="85" y="37"/>
                  </a:lnTo>
                  <a:lnTo>
                    <a:pt x="112" y="39"/>
                  </a:lnTo>
                  <a:lnTo>
                    <a:pt x="136" y="39"/>
                  </a:lnTo>
                  <a:lnTo>
                    <a:pt x="162" y="44"/>
                  </a:lnTo>
                  <a:lnTo>
                    <a:pt x="186" y="48"/>
                  </a:lnTo>
                  <a:lnTo>
                    <a:pt x="212" y="55"/>
                  </a:lnTo>
                  <a:lnTo>
                    <a:pt x="212" y="55"/>
                  </a:lnTo>
                  <a:lnTo>
                    <a:pt x="223" y="15"/>
                  </a:lnTo>
                  <a:close/>
                </a:path>
              </a:pathLst>
            </a:custGeom>
            <a:solidFill>
              <a:srgbClr val="008FE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1" name="Freeform 12">
              <a:extLst>
                <a:ext uri="{FF2B5EF4-FFF2-40B4-BE49-F238E27FC236}">
                  <a16:creationId xmlns:a16="http://schemas.microsoft.com/office/drawing/2014/main" id="{3E943C8E-835C-3D82-5ED6-EA0CC62EECF7}"/>
                </a:ext>
              </a:extLst>
            </p:cNvPr>
            <p:cNvSpPr>
              <a:spLocks/>
            </p:cNvSpPr>
            <p:nvPr/>
          </p:nvSpPr>
          <p:spPr bwMode="auto">
            <a:xfrm>
              <a:off x="3159" y="1651"/>
              <a:ext cx="136" cy="97"/>
            </a:xfrm>
            <a:custGeom>
              <a:avLst/>
              <a:gdLst>
                <a:gd name="T0" fmla="*/ 132 w 136"/>
                <a:gd name="T1" fmla="*/ 62 h 97"/>
                <a:gd name="T2" fmla="*/ 136 w 136"/>
                <a:gd name="T3" fmla="*/ 64 h 97"/>
                <a:gd name="T4" fmla="*/ 121 w 136"/>
                <a:gd name="T5" fmla="*/ 53 h 97"/>
                <a:gd name="T6" fmla="*/ 108 w 136"/>
                <a:gd name="T7" fmla="*/ 44 h 97"/>
                <a:gd name="T8" fmla="*/ 92 w 136"/>
                <a:gd name="T9" fmla="*/ 35 h 97"/>
                <a:gd name="T10" fmla="*/ 77 w 136"/>
                <a:gd name="T11" fmla="*/ 27 h 97"/>
                <a:gd name="T12" fmla="*/ 62 w 136"/>
                <a:gd name="T13" fmla="*/ 20 h 97"/>
                <a:gd name="T14" fmla="*/ 44 w 136"/>
                <a:gd name="T15" fmla="*/ 14 h 97"/>
                <a:gd name="T16" fmla="*/ 29 w 136"/>
                <a:gd name="T17" fmla="*/ 7 h 97"/>
                <a:gd name="T18" fmla="*/ 11 w 136"/>
                <a:gd name="T19" fmla="*/ 0 h 97"/>
                <a:gd name="T20" fmla="*/ 0 w 136"/>
                <a:gd name="T21" fmla="*/ 40 h 97"/>
                <a:gd name="T22" fmla="*/ 16 w 136"/>
                <a:gd name="T23" fmla="*/ 44 h 97"/>
                <a:gd name="T24" fmla="*/ 31 w 136"/>
                <a:gd name="T25" fmla="*/ 49 h 97"/>
                <a:gd name="T26" fmla="*/ 44 w 136"/>
                <a:gd name="T27" fmla="*/ 55 h 97"/>
                <a:gd name="T28" fmla="*/ 59 w 136"/>
                <a:gd name="T29" fmla="*/ 62 h 97"/>
                <a:gd name="T30" fmla="*/ 73 w 136"/>
                <a:gd name="T31" fmla="*/ 68 h 97"/>
                <a:gd name="T32" fmla="*/ 86 w 136"/>
                <a:gd name="T33" fmla="*/ 77 h 97"/>
                <a:gd name="T34" fmla="*/ 99 w 136"/>
                <a:gd name="T35" fmla="*/ 86 h 97"/>
                <a:gd name="T36" fmla="*/ 112 w 136"/>
                <a:gd name="T37" fmla="*/ 94 h 97"/>
                <a:gd name="T38" fmla="*/ 116 w 136"/>
                <a:gd name="T39" fmla="*/ 97 h 97"/>
                <a:gd name="T40" fmla="*/ 132 w 136"/>
                <a:gd name="T41" fmla="*/ 62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36" h="97">
                  <a:moveTo>
                    <a:pt x="132" y="62"/>
                  </a:moveTo>
                  <a:lnTo>
                    <a:pt x="136" y="64"/>
                  </a:lnTo>
                  <a:lnTo>
                    <a:pt x="121" y="53"/>
                  </a:lnTo>
                  <a:lnTo>
                    <a:pt x="108" y="44"/>
                  </a:lnTo>
                  <a:lnTo>
                    <a:pt x="92" y="35"/>
                  </a:lnTo>
                  <a:lnTo>
                    <a:pt x="77" y="27"/>
                  </a:lnTo>
                  <a:lnTo>
                    <a:pt x="62" y="20"/>
                  </a:lnTo>
                  <a:lnTo>
                    <a:pt x="44" y="14"/>
                  </a:lnTo>
                  <a:lnTo>
                    <a:pt x="29" y="7"/>
                  </a:lnTo>
                  <a:lnTo>
                    <a:pt x="11" y="0"/>
                  </a:lnTo>
                  <a:lnTo>
                    <a:pt x="0" y="40"/>
                  </a:lnTo>
                  <a:lnTo>
                    <a:pt x="16" y="44"/>
                  </a:lnTo>
                  <a:lnTo>
                    <a:pt x="31" y="49"/>
                  </a:lnTo>
                  <a:lnTo>
                    <a:pt x="44" y="55"/>
                  </a:lnTo>
                  <a:lnTo>
                    <a:pt x="59" y="62"/>
                  </a:lnTo>
                  <a:lnTo>
                    <a:pt x="73" y="68"/>
                  </a:lnTo>
                  <a:lnTo>
                    <a:pt x="86" y="77"/>
                  </a:lnTo>
                  <a:lnTo>
                    <a:pt x="99" y="86"/>
                  </a:lnTo>
                  <a:lnTo>
                    <a:pt x="112" y="94"/>
                  </a:lnTo>
                  <a:lnTo>
                    <a:pt x="116" y="97"/>
                  </a:lnTo>
                  <a:lnTo>
                    <a:pt x="132" y="62"/>
                  </a:lnTo>
                  <a:close/>
                </a:path>
              </a:pathLst>
            </a:custGeom>
            <a:solidFill>
              <a:srgbClr val="008FE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2" name="Freeform 13">
              <a:extLst>
                <a:ext uri="{FF2B5EF4-FFF2-40B4-BE49-F238E27FC236}">
                  <a16:creationId xmlns:a16="http://schemas.microsoft.com/office/drawing/2014/main" id="{8FDF012C-BBEB-BF32-77D1-02E8CB54758A}"/>
                </a:ext>
              </a:extLst>
            </p:cNvPr>
            <p:cNvSpPr>
              <a:spLocks/>
            </p:cNvSpPr>
            <p:nvPr/>
          </p:nvSpPr>
          <p:spPr bwMode="auto">
            <a:xfrm>
              <a:off x="3275" y="1713"/>
              <a:ext cx="73" cy="52"/>
            </a:xfrm>
            <a:custGeom>
              <a:avLst/>
              <a:gdLst>
                <a:gd name="T0" fmla="*/ 55 w 73"/>
                <a:gd name="T1" fmla="*/ 48 h 52"/>
                <a:gd name="T2" fmla="*/ 48 w 73"/>
                <a:gd name="T3" fmla="*/ 15 h 52"/>
                <a:gd name="T4" fmla="*/ 16 w 73"/>
                <a:gd name="T5" fmla="*/ 0 h 52"/>
                <a:gd name="T6" fmla="*/ 0 w 73"/>
                <a:gd name="T7" fmla="*/ 35 h 52"/>
                <a:gd name="T8" fmla="*/ 31 w 73"/>
                <a:gd name="T9" fmla="*/ 52 h 52"/>
                <a:gd name="T10" fmla="*/ 27 w 73"/>
                <a:gd name="T11" fmla="*/ 19 h 52"/>
                <a:gd name="T12" fmla="*/ 55 w 73"/>
                <a:gd name="T13" fmla="*/ 48 h 52"/>
                <a:gd name="T14" fmla="*/ 73 w 73"/>
                <a:gd name="T15" fmla="*/ 28 h 52"/>
                <a:gd name="T16" fmla="*/ 48 w 73"/>
                <a:gd name="T17" fmla="*/ 15 h 52"/>
                <a:gd name="T18" fmla="*/ 55 w 73"/>
                <a:gd name="T19" fmla="*/ 48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3" h="52">
                  <a:moveTo>
                    <a:pt x="55" y="48"/>
                  </a:moveTo>
                  <a:lnTo>
                    <a:pt x="48" y="15"/>
                  </a:lnTo>
                  <a:lnTo>
                    <a:pt x="16" y="0"/>
                  </a:lnTo>
                  <a:lnTo>
                    <a:pt x="0" y="35"/>
                  </a:lnTo>
                  <a:lnTo>
                    <a:pt x="31" y="52"/>
                  </a:lnTo>
                  <a:lnTo>
                    <a:pt x="27" y="19"/>
                  </a:lnTo>
                  <a:lnTo>
                    <a:pt x="55" y="48"/>
                  </a:lnTo>
                  <a:lnTo>
                    <a:pt x="73" y="28"/>
                  </a:lnTo>
                  <a:lnTo>
                    <a:pt x="48" y="15"/>
                  </a:lnTo>
                  <a:lnTo>
                    <a:pt x="55" y="48"/>
                  </a:lnTo>
                  <a:close/>
                </a:path>
              </a:pathLst>
            </a:custGeom>
            <a:solidFill>
              <a:srgbClr val="008FE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3" name="Freeform 14">
              <a:extLst>
                <a:ext uri="{FF2B5EF4-FFF2-40B4-BE49-F238E27FC236}">
                  <a16:creationId xmlns:a16="http://schemas.microsoft.com/office/drawing/2014/main" id="{822A85EF-FCF6-88DF-6766-6545282113F9}"/>
                </a:ext>
              </a:extLst>
            </p:cNvPr>
            <p:cNvSpPr>
              <a:spLocks/>
            </p:cNvSpPr>
            <p:nvPr/>
          </p:nvSpPr>
          <p:spPr bwMode="auto">
            <a:xfrm>
              <a:off x="3258" y="1732"/>
              <a:ext cx="72" cy="86"/>
            </a:xfrm>
            <a:custGeom>
              <a:avLst/>
              <a:gdLst>
                <a:gd name="T0" fmla="*/ 0 w 72"/>
                <a:gd name="T1" fmla="*/ 73 h 86"/>
                <a:gd name="T2" fmla="*/ 26 w 72"/>
                <a:gd name="T3" fmla="*/ 73 h 86"/>
                <a:gd name="T4" fmla="*/ 72 w 72"/>
                <a:gd name="T5" fmla="*/ 29 h 86"/>
                <a:gd name="T6" fmla="*/ 44 w 72"/>
                <a:gd name="T7" fmla="*/ 0 h 86"/>
                <a:gd name="T8" fmla="*/ 0 w 72"/>
                <a:gd name="T9" fmla="*/ 44 h 86"/>
                <a:gd name="T10" fmla="*/ 26 w 72"/>
                <a:gd name="T11" fmla="*/ 44 h 86"/>
                <a:gd name="T12" fmla="*/ 0 w 72"/>
                <a:gd name="T13" fmla="*/ 73 h 86"/>
                <a:gd name="T14" fmla="*/ 13 w 72"/>
                <a:gd name="T15" fmla="*/ 86 h 86"/>
                <a:gd name="T16" fmla="*/ 26 w 72"/>
                <a:gd name="T17" fmla="*/ 73 h 86"/>
                <a:gd name="T18" fmla="*/ 0 w 72"/>
                <a:gd name="T19" fmla="*/ 73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2" h="86">
                  <a:moveTo>
                    <a:pt x="0" y="73"/>
                  </a:moveTo>
                  <a:lnTo>
                    <a:pt x="26" y="73"/>
                  </a:lnTo>
                  <a:lnTo>
                    <a:pt x="72" y="29"/>
                  </a:lnTo>
                  <a:lnTo>
                    <a:pt x="44" y="0"/>
                  </a:lnTo>
                  <a:lnTo>
                    <a:pt x="0" y="44"/>
                  </a:lnTo>
                  <a:lnTo>
                    <a:pt x="26" y="44"/>
                  </a:lnTo>
                  <a:lnTo>
                    <a:pt x="0" y="73"/>
                  </a:lnTo>
                  <a:lnTo>
                    <a:pt x="13" y="86"/>
                  </a:lnTo>
                  <a:lnTo>
                    <a:pt x="26" y="73"/>
                  </a:lnTo>
                  <a:lnTo>
                    <a:pt x="0" y="73"/>
                  </a:lnTo>
                  <a:close/>
                </a:path>
              </a:pathLst>
            </a:custGeom>
            <a:solidFill>
              <a:srgbClr val="008FE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4" name="Freeform 15">
              <a:extLst>
                <a:ext uri="{FF2B5EF4-FFF2-40B4-BE49-F238E27FC236}">
                  <a16:creationId xmlns:a16="http://schemas.microsoft.com/office/drawing/2014/main" id="{B2C8CEFB-EE15-9177-073B-A924ABF734E3}"/>
                </a:ext>
              </a:extLst>
            </p:cNvPr>
            <p:cNvSpPr>
              <a:spLocks/>
            </p:cNvSpPr>
            <p:nvPr/>
          </p:nvSpPr>
          <p:spPr bwMode="auto">
            <a:xfrm>
              <a:off x="2980" y="1686"/>
              <a:ext cx="304" cy="119"/>
            </a:xfrm>
            <a:custGeom>
              <a:avLst/>
              <a:gdLst>
                <a:gd name="T0" fmla="*/ 4 w 304"/>
                <a:gd name="T1" fmla="*/ 44 h 119"/>
                <a:gd name="T2" fmla="*/ 4 w 304"/>
                <a:gd name="T3" fmla="*/ 44 h 119"/>
                <a:gd name="T4" fmla="*/ 42 w 304"/>
                <a:gd name="T5" fmla="*/ 40 h 119"/>
                <a:gd name="T6" fmla="*/ 79 w 304"/>
                <a:gd name="T7" fmla="*/ 40 h 119"/>
                <a:gd name="T8" fmla="*/ 116 w 304"/>
                <a:gd name="T9" fmla="*/ 44 h 119"/>
                <a:gd name="T10" fmla="*/ 153 w 304"/>
                <a:gd name="T11" fmla="*/ 51 h 119"/>
                <a:gd name="T12" fmla="*/ 168 w 304"/>
                <a:gd name="T13" fmla="*/ 55 h 119"/>
                <a:gd name="T14" fmla="*/ 186 w 304"/>
                <a:gd name="T15" fmla="*/ 59 h 119"/>
                <a:gd name="T16" fmla="*/ 203 w 304"/>
                <a:gd name="T17" fmla="*/ 66 h 119"/>
                <a:gd name="T18" fmla="*/ 219 w 304"/>
                <a:gd name="T19" fmla="*/ 75 h 119"/>
                <a:gd name="T20" fmla="*/ 234 w 304"/>
                <a:gd name="T21" fmla="*/ 84 h 119"/>
                <a:gd name="T22" fmla="*/ 249 w 304"/>
                <a:gd name="T23" fmla="*/ 94 h 119"/>
                <a:gd name="T24" fmla="*/ 263 w 304"/>
                <a:gd name="T25" fmla="*/ 105 h 119"/>
                <a:gd name="T26" fmla="*/ 278 w 304"/>
                <a:gd name="T27" fmla="*/ 119 h 119"/>
                <a:gd name="T28" fmla="*/ 304 w 304"/>
                <a:gd name="T29" fmla="*/ 90 h 119"/>
                <a:gd name="T30" fmla="*/ 289 w 304"/>
                <a:gd name="T31" fmla="*/ 75 h 119"/>
                <a:gd name="T32" fmla="*/ 273 w 304"/>
                <a:gd name="T33" fmla="*/ 62 h 119"/>
                <a:gd name="T34" fmla="*/ 256 w 304"/>
                <a:gd name="T35" fmla="*/ 51 h 119"/>
                <a:gd name="T36" fmla="*/ 236 w 304"/>
                <a:gd name="T37" fmla="*/ 40 h 119"/>
                <a:gd name="T38" fmla="*/ 219 w 304"/>
                <a:gd name="T39" fmla="*/ 31 h 119"/>
                <a:gd name="T40" fmla="*/ 199 w 304"/>
                <a:gd name="T41" fmla="*/ 22 h 119"/>
                <a:gd name="T42" fmla="*/ 182 w 304"/>
                <a:gd name="T43" fmla="*/ 18 h 119"/>
                <a:gd name="T44" fmla="*/ 162 w 304"/>
                <a:gd name="T45" fmla="*/ 11 h 119"/>
                <a:gd name="T46" fmla="*/ 122 w 304"/>
                <a:gd name="T47" fmla="*/ 5 h 119"/>
                <a:gd name="T48" fmla="*/ 81 w 304"/>
                <a:gd name="T49" fmla="*/ 0 h 119"/>
                <a:gd name="T50" fmla="*/ 39 w 304"/>
                <a:gd name="T51" fmla="*/ 0 h 119"/>
                <a:gd name="T52" fmla="*/ 0 w 304"/>
                <a:gd name="T53" fmla="*/ 5 h 119"/>
                <a:gd name="T54" fmla="*/ 0 w 304"/>
                <a:gd name="T55" fmla="*/ 5 h 119"/>
                <a:gd name="T56" fmla="*/ 4 w 304"/>
                <a:gd name="T57" fmla="*/ 44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4" h="119">
                  <a:moveTo>
                    <a:pt x="4" y="44"/>
                  </a:moveTo>
                  <a:lnTo>
                    <a:pt x="4" y="44"/>
                  </a:lnTo>
                  <a:lnTo>
                    <a:pt x="42" y="40"/>
                  </a:lnTo>
                  <a:lnTo>
                    <a:pt x="79" y="40"/>
                  </a:lnTo>
                  <a:lnTo>
                    <a:pt x="116" y="44"/>
                  </a:lnTo>
                  <a:lnTo>
                    <a:pt x="153" y="51"/>
                  </a:lnTo>
                  <a:lnTo>
                    <a:pt x="168" y="55"/>
                  </a:lnTo>
                  <a:lnTo>
                    <a:pt x="186" y="59"/>
                  </a:lnTo>
                  <a:lnTo>
                    <a:pt x="203" y="66"/>
                  </a:lnTo>
                  <a:lnTo>
                    <a:pt x="219" y="75"/>
                  </a:lnTo>
                  <a:lnTo>
                    <a:pt x="234" y="84"/>
                  </a:lnTo>
                  <a:lnTo>
                    <a:pt x="249" y="94"/>
                  </a:lnTo>
                  <a:lnTo>
                    <a:pt x="263" y="105"/>
                  </a:lnTo>
                  <a:lnTo>
                    <a:pt x="278" y="119"/>
                  </a:lnTo>
                  <a:lnTo>
                    <a:pt x="304" y="90"/>
                  </a:lnTo>
                  <a:lnTo>
                    <a:pt x="289" y="75"/>
                  </a:lnTo>
                  <a:lnTo>
                    <a:pt x="273" y="62"/>
                  </a:lnTo>
                  <a:lnTo>
                    <a:pt x="256" y="51"/>
                  </a:lnTo>
                  <a:lnTo>
                    <a:pt x="236" y="40"/>
                  </a:lnTo>
                  <a:lnTo>
                    <a:pt x="219" y="31"/>
                  </a:lnTo>
                  <a:lnTo>
                    <a:pt x="199" y="22"/>
                  </a:lnTo>
                  <a:lnTo>
                    <a:pt x="182" y="18"/>
                  </a:lnTo>
                  <a:lnTo>
                    <a:pt x="162" y="11"/>
                  </a:lnTo>
                  <a:lnTo>
                    <a:pt x="122" y="5"/>
                  </a:lnTo>
                  <a:lnTo>
                    <a:pt x="81" y="0"/>
                  </a:lnTo>
                  <a:lnTo>
                    <a:pt x="39" y="0"/>
                  </a:lnTo>
                  <a:lnTo>
                    <a:pt x="0" y="5"/>
                  </a:lnTo>
                  <a:lnTo>
                    <a:pt x="0" y="5"/>
                  </a:lnTo>
                  <a:lnTo>
                    <a:pt x="4" y="44"/>
                  </a:lnTo>
                  <a:close/>
                </a:path>
              </a:pathLst>
            </a:custGeom>
            <a:solidFill>
              <a:srgbClr val="008FE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5" name="Freeform 16">
              <a:extLst>
                <a:ext uri="{FF2B5EF4-FFF2-40B4-BE49-F238E27FC236}">
                  <a16:creationId xmlns:a16="http://schemas.microsoft.com/office/drawing/2014/main" id="{3545BAF1-F3CA-52D1-3D89-6B0FAB065F01}"/>
                </a:ext>
              </a:extLst>
            </p:cNvPr>
            <p:cNvSpPr>
              <a:spLocks/>
            </p:cNvSpPr>
            <p:nvPr/>
          </p:nvSpPr>
          <p:spPr bwMode="auto">
            <a:xfrm>
              <a:off x="2886" y="1691"/>
              <a:ext cx="98" cy="76"/>
            </a:xfrm>
            <a:custGeom>
              <a:avLst/>
              <a:gdLst>
                <a:gd name="T0" fmla="*/ 0 w 98"/>
                <a:gd name="T1" fmla="*/ 44 h 76"/>
                <a:gd name="T2" fmla="*/ 28 w 98"/>
                <a:gd name="T3" fmla="*/ 61 h 76"/>
                <a:gd name="T4" fmla="*/ 37 w 98"/>
                <a:gd name="T5" fmla="*/ 57 h 76"/>
                <a:gd name="T6" fmla="*/ 46 w 98"/>
                <a:gd name="T7" fmla="*/ 52 h 76"/>
                <a:gd name="T8" fmla="*/ 55 w 98"/>
                <a:gd name="T9" fmla="*/ 50 h 76"/>
                <a:gd name="T10" fmla="*/ 63 w 98"/>
                <a:gd name="T11" fmla="*/ 46 h 76"/>
                <a:gd name="T12" fmla="*/ 70 w 98"/>
                <a:gd name="T13" fmla="*/ 44 h 76"/>
                <a:gd name="T14" fmla="*/ 79 w 98"/>
                <a:gd name="T15" fmla="*/ 41 h 76"/>
                <a:gd name="T16" fmla="*/ 87 w 98"/>
                <a:gd name="T17" fmla="*/ 39 h 76"/>
                <a:gd name="T18" fmla="*/ 98 w 98"/>
                <a:gd name="T19" fmla="*/ 39 h 76"/>
                <a:gd name="T20" fmla="*/ 94 w 98"/>
                <a:gd name="T21" fmla="*/ 0 h 76"/>
                <a:gd name="T22" fmla="*/ 81 w 98"/>
                <a:gd name="T23" fmla="*/ 2 h 76"/>
                <a:gd name="T24" fmla="*/ 70 w 98"/>
                <a:gd name="T25" fmla="*/ 4 h 76"/>
                <a:gd name="T26" fmla="*/ 59 w 98"/>
                <a:gd name="T27" fmla="*/ 6 h 76"/>
                <a:gd name="T28" fmla="*/ 50 w 98"/>
                <a:gd name="T29" fmla="*/ 9 h 76"/>
                <a:gd name="T30" fmla="*/ 39 w 98"/>
                <a:gd name="T31" fmla="*/ 13 h 76"/>
                <a:gd name="T32" fmla="*/ 31 w 98"/>
                <a:gd name="T33" fmla="*/ 17 h 76"/>
                <a:gd name="T34" fmla="*/ 20 w 98"/>
                <a:gd name="T35" fmla="*/ 22 h 76"/>
                <a:gd name="T36" fmla="*/ 11 w 98"/>
                <a:gd name="T37" fmla="*/ 26 h 76"/>
                <a:gd name="T38" fmla="*/ 39 w 98"/>
                <a:gd name="T39" fmla="*/ 44 h 76"/>
                <a:gd name="T40" fmla="*/ 0 w 98"/>
                <a:gd name="T41" fmla="*/ 44 h 76"/>
                <a:gd name="T42" fmla="*/ 0 w 98"/>
                <a:gd name="T43" fmla="*/ 76 h 76"/>
                <a:gd name="T44" fmla="*/ 28 w 98"/>
                <a:gd name="T45" fmla="*/ 61 h 76"/>
                <a:gd name="T46" fmla="*/ 0 w 98"/>
                <a:gd name="T47" fmla="*/ 4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8" h="76">
                  <a:moveTo>
                    <a:pt x="0" y="44"/>
                  </a:moveTo>
                  <a:lnTo>
                    <a:pt x="28" y="61"/>
                  </a:lnTo>
                  <a:lnTo>
                    <a:pt x="37" y="57"/>
                  </a:lnTo>
                  <a:lnTo>
                    <a:pt x="46" y="52"/>
                  </a:lnTo>
                  <a:lnTo>
                    <a:pt x="55" y="50"/>
                  </a:lnTo>
                  <a:lnTo>
                    <a:pt x="63" y="46"/>
                  </a:lnTo>
                  <a:lnTo>
                    <a:pt x="70" y="44"/>
                  </a:lnTo>
                  <a:lnTo>
                    <a:pt x="79" y="41"/>
                  </a:lnTo>
                  <a:lnTo>
                    <a:pt x="87" y="39"/>
                  </a:lnTo>
                  <a:lnTo>
                    <a:pt x="98" y="39"/>
                  </a:lnTo>
                  <a:lnTo>
                    <a:pt x="94" y="0"/>
                  </a:lnTo>
                  <a:lnTo>
                    <a:pt x="81" y="2"/>
                  </a:lnTo>
                  <a:lnTo>
                    <a:pt x="70" y="4"/>
                  </a:lnTo>
                  <a:lnTo>
                    <a:pt x="59" y="6"/>
                  </a:lnTo>
                  <a:lnTo>
                    <a:pt x="50" y="9"/>
                  </a:lnTo>
                  <a:lnTo>
                    <a:pt x="39" y="13"/>
                  </a:lnTo>
                  <a:lnTo>
                    <a:pt x="31" y="17"/>
                  </a:lnTo>
                  <a:lnTo>
                    <a:pt x="20" y="22"/>
                  </a:lnTo>
                  <a:lnTo>
                    <a:pt x="11" y="26"/>
                  </a:lnTo>
                  <a:lnTo>
                    <a:pt x="39" y="44"/>
                  </a:lnTo>
                  <a:lnTo>
                    <a:pt x="0" y="44"/>
                  </a:lnTo>
                  <a:lnTo>
                    <a:pt x="0" y="76"/>
                  </a:lnTo>
                  <a:lnTo>
                    <a:pt x="28" y="61"/>
                  </a:lnTo>
                  <a:lnTo>
                    <a:pt x="0" y="44"/>
                  </a:lnTo>
                  <a:close/>
                </a:path>
              </a:pathLst>
            </a:custGeom>
            <a:solidFill>
              <a:srgbClr val="008FE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6" name="Freeform 17">
              <a:extLst>
                <a:ext uri="{FF2B5EF4-FFF2-40B4-BE49-F238E27FC236}">
                  <a16:creationId xmlns:a16="http://schemas.microsoft.com/office/drawing/2014/main" id="{ED999AB1-8630-FC97-7A62-65F871E63F73}"/>
                </a:ext>
              </a:extLst>
            </p:cNvPr>
            <p:cNvSpPr>
              <a:spLocks/>
            </p:cNvSpPr>
            <p:nvPr/>
          </p:nvSpPr>
          <p:spPr bwMode="auto">
            <a:xfrm>
              <a:off x="2886" y="1647"/>
              <a:ext cx="39" cy="88"/>
            </a:xfrm>
            <a:custGeom>
              <a:avLst/>
              <a:gdLst>
                <a:gd name="T0" fmla="*/ 20 w 39"/>
                <a:gd name="T1" fmla="*/ 0 h 88"/>
                <a:gd name="T2" fmla="*/ 0 w 39"/>
                <a:gd name="T3" fmla="*/ 20 h 88"/>
                <a:gd name="T4" fmla="*/ 0 w 39"/>
                <a:gd name="T5" fmla="*/ 88 h 88"/>
                <a:gd name="T6" fmla="*/ 39 w 39"/>
                <a:gd name="T7" fmla="*/ 88 h 88"/>
                <a:gd name="T8" fmla="*/ 39 w 39"/>
                <a:gd name="T9" fmla="*/ 20 h 88"/>
                <a:gd name="T10" fmla="*/ 20 w 39"/>
                <a:gd name="T11" fmla="*/ 39 h 88"/>
                <a:gd name="T12" fmla="*/ 20 w 39"/>
                <a:gd name="T13" fmla="*/ 0 h 88"/>
                <a:gd name="T14" fmla="*/ 0 w 39"/>
                <a:gd name="T15" fmla="*/ 0 h 88"/>
                <a:gd name="T16" fmla="*/ 0 w 39"/>
                <a:gd name="T17" fmla="*/ 20 h 88"/>
                <a:gd name="T18" fmla="*/ 20 w 39"/>
                <a:gd name="T19" fmla="*/ 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9" h="88">
                  <a:moveTo>
                    <a:pt x="20" y="0"/>
                  </a:moveTo>
                  <a:lnTo>
                    <a:pt x="0" y="20"/>
                  </a:lnTo>
                  <a:lnTo>
                    <a:pt x="0" y="88"/>
                  </a:lnTo>
                  <a:lnTo>
                    <a:pt x="39" y="88"/>
                  </a:lnTo>
                  <a:lnTo>
                    <a:pt x="39" y="20"/>
                  </a:lnTo>
                  <a:lnTo>
                    <a:pt x="20" y="39"/>
                  </a:lnTo>
                  <a:lnTo>
                    <a:pt x="20" y="0"/>
                  </a:lnTo>
                  <a:lnTo>
                    <a:pt x="0" y="0"/>
                  </a:lnTo>
                  <a:lnTo>
                    <a:pt x="0" y="20"/>
                  </a:lnTo>
                  <a:lnTo>
                    <a:pt x="20" y="0"/>
                  </a:lnTo>
                  <a:close/>
                </a:path>
              </a:pathLst>
            </a:custGeom>
            <a:solidFill>
              <a:srgbClr val="008FE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7" name="Freeform 18">
              <a:extLst>
                <a:ext uri="{FF2B5EF4-FFF2-40B4-BE49-F238E27FC236}">
                  <a16:creationId xmlns:a16="http://schemas.microsoft.com/office/drawing/2014/main" id="{0632CFE3-F3B8-97A4-955A-D254A0E7A56C}"/>
                </a:ext>
              </a:extLst>
            </p:cNvPr>
            <p:cNvSpPr>
              <a:spLocks/>
            </p:cNvSpPr>
            <p:nvPr/>
          </p:nvSpPr>
          <p:spPr bwMode="auto">
            <a:xfrm>
              <a:off x="2906" y="1647"/>
              <a:ext cx="28" cy="39"/>
            </a:xfrm>
            <a:custGeom>
              <a:avLst/>
              <a:gdLst>
                <a:gd name="T0" fmla="*/ 19 w 28"/>
                <a:gd name="T1" fmla="*/ 0 h 39"/>
                <a:gd name="T2" fmla="*/ 24 w 28"/>
                <a:gd name="T3" fmla="*/ 0 h 39"/>
                <a:gd name="T4" fmla="*/ 0 w 28"/>
                <a:gd name="T5" fmla="*/ 0 h 39"/>
                <a:gd name="T6" fmla="*/ 0 w 28"/>
                <a:gd name="T7" fmla="*/ 39 h 39"/>
                <a:gd name="T8" fmla="*/ 24 w 28"/>
                <a:gd name="T9" fmla="*/ 39 h 39"/>
                <a:gd name="T10" fmla="*/ 28 w 28"/>
                <a:gd name="T11" fmla="*/ 39 h 39"/>
                <a:gd name="T12" fmla="*/ 19 w 28"/>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28" h="39">
                  <a:moveTo>
                    <a:pt x="19" y="0"/>
                  </a:moveTo>
                  <a:lnTo>
                    <a:pt x="24" y="0"/>
                  </a:lnTo>
                  <a:lnTo>
                    <a:pt x="0" y="0"/>
                  </a:lnTo>
                  <a:lnTo>
                    <a:pt x="0" y="39"/>
                  </a:lnTo>
                  <a:lnTo>
                    <a:pt x="24" y="39"/>
                  </a:lnTo>
                  <a:lnTo>
                    <a:pt x="28" y="39"/>
                  </a:lnTo>
                  <a:lnTo>
                    <a:pt x="19" y="0"/>
                  </a:lnTo>
                  <a:close/>
                </a:path>
              </a:pathLst>
            </a:custGeom>
            <a:solidFill>
              <a:srgbClr val="008FE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8" name="Freeform 19">
              <a:extLst>
                <a:ext uri="{FF2B5EF4-FFF2-40B4-BE49-F238E27FC236}">
                  <a16:creationId xmlns:a16="http://schemas.microsoft.com/office/drawing/2014/main" id="{5C442EF9-57F0-7BAC-C467-57E0E241A837}"/>
                </a:ext>
              </a:extLst>
            </p:cNvPr>
            <p:cNvSpPr>
              <a:spLocks/>
            </p:cNvSpPr>
            <p:nvPr/>
          </p:nvSpPr>
          <p:spPr bwMode="auto">
            <a:xfrm>
              <a:off x="2925" y="1643"/>
              <a:ext cx="31" cy="43"/>
            </a:xfrm>
            <a:custGeom>
              <a:avLst/>
              <a:gdLst>
                <a:gd name="T0" fmla="*/ 22 w 31"/>
                <a:gd name="T1" fmla="*/ 0 h 43"/>
                <a:gd name="T2" fmla="*/ 22 w 31"/>
                <a:gd name="T3" fmla="*/ 0 h 43"/>
                <a:gd name="T4" fmla="*/ 0 w 31"/>
                <a:gd name="T5" fmla="*/ 4 h 43"/>
                <a:gd name="T6" fmla="*/ 9 w 31"/>
                <a:gd name="T7" fmla="*/ 43 h 43"/>
                <a:gd name="T8" fmla="*/ 31 w 31"/>
                <a:gd name="T9" fmla="*/ 39 h 43"/>
                <a:gd name="T10" fmla="*/ 29 w 31"/>
                <a:gd name="T11" fmla="*/ 39 h 43"/>
                <a:gd name="T12" fmla="*/ 22 w 31"/>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31" h="43">
                  <a:moveTo>
                    <a:pt x="22" y="0"/>
                  </a:moveTo>
                  <a:lnTo>
                    <a:pt x="22" y="0"/>
                  </a:lnTo>
                  <a:lnTo>
                    <a:pt x="0" y="4"/>
                  </a:lnTo>
                  <a:lnTo>
                    <a:pt x="9" y="43"/>
                  </a:lnTo>
                  <a:lnTo>
                    <a:pt x="31" y="39"/>
                  </a:lnTo>
                  <a:lnTo>
                    <a:pt x="29" y="39"/>
                  </a:lnTo>
                  <a:lnTo>
                    <a:pt x="22" y="0"/>
                  </a:lnTo>
                  <a:close/>
                </a:path>
              </a:pathLst>
            </a:custGeom>
            <a:solidFill>
              <a:srgbClr val="008FE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19" name="Freeform 20">
              <a:extLst>
                <a:ext uri="{FF2B5EF4-FFF2-40B4-BE49-F238E27FC236}">
                  <a16:creationId xmlns:a16="http://schemas.microsoft.com/office/drawing/2014/main" id="{70FD070E-F05D-765A-0C24-687030737FF2}"/>
                </a:ext>
              </a:extLst>
            </p:cNvPr>
            <p:cNvSpPr>
              <a:spLocks/>
            </p:cNvSpPr>
            <p:nvPr/>
          </p:nvSpPr>
          <p:spPr bwMode="auto">
            <a:xfrm>
              <a:off x="2930" y="1660"/>
              <a:ext cx="352" cy="107"/>
            </a:xfrm>
            <a:custGeom>
              <a:avLst/>
              <a:gdLst>
                <a:gd name="T0" fmla="*/ 352 w 352"/>
                <a:gd name="T1" fmla="*/ 77 h 107"/>
                <a:gd name="T2" fmla="*/ 334 w 352"/>
                <a:gd name="T3" fmla="*/ 64 h 107"/>
                <a:gd name="T4" fmla="*/ 315 w 352"/>
                <a:gd name="T5" fmla="*/ 50 h 107"/>
                <a:gd name="T6" fmla="*/ 295 w 352"/>
                <a:gd name="T7" fmla="*/ 42 h 107"/>
                <a:gd name="T8" fmla="*/ 275 w 352"/>
                <a:gd name="T9" fmla="*/ 31 h 107"/>
                <a:gd name="T10" fmla="*/ 253 w 352"/>
                <a:gd name="T11" fmla="*/ 24 h 107"/>
                <a:gd name="T12" fmla="*/ 232 w 352"/>
                <a:gd name="T13" fmla="*/ 15 h 107"/>
                <a:gd name="T14" fmla="*/ 210 w 352"/>
                <a:gd name="T15" fmla="*/ 11 h 107"/>
                <a:gd name="T16" fmla="*/ 188 w 352"/>
                <a:gd name="T17" fmla="*/ 7 h 107"/>
                <a:gd name="T18" fmla="*/ 164 w 352"/>
                <a:gd name="T19" fmla="*/ 2 h 107"/>
                <a:gd name="T20" fmla="*/ 142 w 352"/>
                <a:gd name="T21" fmla="*/ 0 h 107"/>
                <a:gd name="T22" fmla="*/ 118 w 352"/>
                <a:gd name="T23" fmla="*/ 0 h 107"/>
                <a:gd name="T24" fmla="*/ 94 w 352"/>
                <a:gd name="T25" fmla="*/ 0 h 107"/>
                <a:gd name="T26" fmla="*/ 70 w 352"/>
                <a:gd name="T27" fmla="*/ 2 h 107"/>
                <a:gd name="T28" fmla="*/ 46 w 352"/>
                <a:gd name="T29" fmla="*/ 5 h 107"/>
                <a:gd name="T30" fmla="*/ 22 w 352"/>
                <a:gd name="T31" fmla="*/ 9 h 107"/>
                <a:gd name="T32" fmla="*/ 0 w 352"/>
                <a:gd name="T33" fmla="*/ 13 h 107"/>
                <a:gd name="T34" fmla="*/ 8 w 352"/>
                <a:gd name="T35" fmla="*/ 53 h 107"/>
                <a:gd name="T36" fmla="*/ 30 w 352"/>
                <a:gd name="T37" fmla="*/ 46 h 107"/>
                <a:gd name="T38" fmla="*/ 52 w 352"/>
                <a:gd name="T39" fmla="*/ 44 h 107"/>
                <a:gd name="T40" fmla="*/ 74 w 352"/>
                <a:gd name="T41" fmla="*/ 42 h 107"/>
                <a:gd name="T42" fmla="*/ 96 w 352"/>
                <a:gd name="T43" fmla="*/ 40 h 107"/>
                <a:gd name="T44" fmla="*/ 118 w 352"/>
                <a:gd name="T45" fmla="*/ 40 h 107"/>
                <a:gd name="T46" fmla="*/ 140 w 352"/>
                <a:gd name="T47" fmla="*/ 40 h 107"/>
                <a:gd name="T48" fmla="*/ 159 w 352"/>
                <a:gd name="T49" fmla="*/ 42 h 107"/>
                <a:gd name="T50" fmla="*/ 181 w 352"/>
                <a:gd name="T51" fmla="*/ 44 h 107"/>
                <a:gd name="T52" fmla="*/ 201 w 352"/>
                <a:gd name="T53" fmla="*/ 48 h 107"/>
                <a:gd name="T54" fmla="*/ 221 w 352"/>
                <a:gd name="T55" fmla="*/ 55 h 107"/>
                <a:gd name="T56" fmla="*/ 240 w 352"/>
                <a:gd name="T57" fmla="*/ 59 h 107"/>
                <a:gd name="T58" fmla="*/ 260 w 352"/>
                <a:gd name="T59" fmla="*/ 68 h 107"/>
                <a:gd name="T60" fmla="*/ 278 w 352"/>
                <a:gd name="T61" fmla="*/ 77 h 107"/>
                <a:gd name="T62" fmla="*/ 295 w 352"/>
                <a:gd name="T63" fmla="*/ 85 h 107"/>
                <a:gd name="T64" fmla="*/ 313 w 352"/>
                <a:gd name="T65" fmla="*/ 96 h 107"/>
                <a:gd name="T66" fmla="*/ 328 w 352"/>
                <a:gd name="T67" fmla="*/ 107 h 107"/>
                <a:gd name="T68" fmla="*/ 352 w 352"/>
                <a:gd name="T69" fmla="*/ 77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2" h="107">
                  <a:moveTo>
                    <a:pt x="352" y="77"/>
                  </a:moveTo>
                  <a:lnTo>
                    <a:pt x="334" y="64"/>
                  </a:lnTo>
                  <a:lnTo>
                    <a:pt x="315" y="50"/>
                  </a:lnTo>
                  <a:lnTo>
                    <a:pt x="295" y="42"/>
                  </a:lnTo>
                  <a:lnTo>
                    <a:pt x="275" y="31"/>
                  </a:lnTo>
                  <a:lnTo>
                    <a:pt x="253" y="24"/>
                  </a:lnTo>
                  <a:lnTo>
                    <a:pt x="232" y="15"/>
                  </a:lnTo>
                  <a:lnTo>
                    <a:pt x="210" y="11"/>
                  </a:lnTo>
                  <a:lnTo>
                    <a:pt x="188" y="7"/>
                  </a:lnTo>
                  <a:lnTo>
                    <a:pt x="164" y="2"/>
                  </a:lnTo>
                  <a:lnTo>
                    <a:pt x="142" y="0"/>
                  </a:lnTo>
                  <a:lnTo>
                    <a:pt x="118" y="0"/>
                  </a:lnTo>
                  <a:lnTo>
                    <a:pt x="94" y="0"/>
                  </a:lnTo>
                  <a:lnTo>
                    <a:pt x="70" y="2"/>
                  </a:lnTo>
                  <a:lnTo>
                    <a:pt x="46" y="5"/>
                  </a:lnTo>
                  <a:lnTo>
                    <a:pt x="22" y="9"/>
                  </a:lnTo>
                  <a:lnTo>
                    <a:pt x="0" y="13"/>
                  </a:lnTo>
                  <a:lnTo>
                    <a:pt x="8" y="53"/>
                  </a:lnTo>
                  <a:lnTo>
                    <a:pt x="30" y="46"/>
                  </a:lnTo>
                  <a:lnTo>
                    <a:pt x="52" y="44"/>
                  </a:lnTo>
                  <a:lnTo>
                    <a:pt x="74" y="42"/>
                  </a:lnTo>
                  <a:lnTo>
                    <a:pt x="96" y="40"/>
                  </a:lnTo>
                  <a:lnTo>
                    <a:pt x="118" y="40"/>
                  </a:lnTo>
                  <a:lnTo>
                    <a:pt x="140" y="40"/>
                  </a:lnTo>
                  <a:lnTo>
                    <a:pt x="159" y="42"/>
                  </a:lnTo>
                  <a:lnTo>
                    <a:pt x="181" y="44"/>
                  </a:lnTo>
                  <a:lnTo>
                    <a:pt x="201" y="48"/>
                  </a:lnTo>
                  <a:lnTo>
                    <a:pt x="221" y="55"/>
                  </a:lnTo>
                  <a:lnTo>
                    <a:pt x="240" y="59"/>
                  </a:lnTo>
                  <a:lnTo>
                    <a:pt x="260" y="68"/>
                  </a:lnTo>
                  <a:lnTo>
                    <a:pt x="278" y="77"/>
                  </a:lnTo>
                  <a:lnTo>
                    <a:pt x="295" y="85"/>
                  </a:lnTo>
                  <a:lnTo>
                    <a:pt x="313" y="96"/>
                  </a:lnTo>
                  <a:lnTo>
                    <a:pt x="328" y="107"/>
                  </a:lnTo>
                  <a:lnTo>
                    <a:pt x="352" y="77"/>
                  </a:lnTo>
                  <a:close/>
                </a:path>
              </a:pathLst>
            </a:custGeom>
            <a:solidFill>
              <a:srgbClr val="0079C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20" name="Rectangle 21">
              <a:extLst>
                <a:ext uri="{FF2B5EF4-FFF2-40B4-BE49-F238E27FC236}">
                  <a16:creationId xmlns:a16="http://schemas.microsoft.com/office/drawing/2014/main" id="{1EB69197-C26D-8BF9-533B-26F0A1E8F32D}"/>
                </a:ext>
              </a:extLst>
            </p:cNvPr>
            <p:cNvSpPr>
              <a:spLocks noChangeArrowheads="1"/>
            </p:cNvSpPr>
            <p:nvPr/>
          </p:nvSpPr>
          <p:spPr bwMode="auto">
            <a:xfrm>
              <a:off x="2372" y="2664"/>
              <a:ext cx="361" cy="75"/>
            </a:xfrm>
            <a:prstGeom prst="rect">
              <a:avLst/>
            </a:prstGeom>
            <a:solidFill>
              <a:srgbClr val="DEDDD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21" name="Rectangle 22">
              <a:extLst>
                <a:ext uri="{FF2B5EF4-FFF2-40B4-BE49-F238E27FC236}">
                  <a16:creationId xmlns:a16="http://schemas.microsoft.com/office/drawing/2014/main" id="{9BCE5B36-0989-F7FC-2E38-3F0ECF80846E}"/>
                </a:ext>
              </a:extLst>
            </p:cNvPr>
            <p:cNvSpPr>
              <a:spLocks noChangeArrowheads="1"/>
            </p:cNvSpPr>
            <p:nvPr/>
          </p:nvSpPr>
          <p:spPr bwMode="auto">
            <a:xfrm>
              <a:off x="2372" y="2664"/>
              <a:ext cx="361" cy="75"/>
            </a:xfrm>
            <a:prstGeom prst="rect">
              <a:avLst/>
            </a:prstGeom>
            <a:noFill/>
            <a:ln w="9525">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22" name="Rectangle 23">
              <a:extLst>
                <a:ext uri="{FF2B5EF4-FFF2-40B4-BE49-F238E27FC236}">
                  <a16:creationId xmlns:a16="http://schemas.microsoft.com/office/drawing/2014/main" id="{9CF3A736-F116-FBA3-147D-F3B1BED9F42B}"/>
                </a:ext>
              </a:extLst>
            </p:cNvPr>
            <p:cNvSpPr>
              <a:spLocks noChangeArrowheads="1"/>
            </p:cNvSpPr>
            <p:nvPr/>
          </p:nvSpPr>
          <p:spPr bwMode="auto">
            <a:xfrm>
              <a:off x="3078" y="2811"/>
              <a:ext cx="361" cy="74"/>
            </a:xfrm>
            <a:prstGeom prst="rect">
              <a:avLst/>
            </a:prstGeom>
            <a:solidFill>
              <a:srgbClr val="C2C2C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23" name="Rectangle 24">
              <a:extLst>
                <a:ext uri="{FF2B5EF4-FFF2-40B4-BE49-F238E27FC236}">
                  <a16:creationId xmlns:a16="http://schemas.microsoft.com/office/drawing/2014/main" id="{6FC5344E-857E-DFA6-7D0D-C3FB01873F59}"/>
                </a:ext>
              </a:extLst>
            </p:cNvPr>
            <p:cNvSpPr>
              <a:spLocks noChangeArrowheads="1"/>
            </p:cNvSpPr>
            <p:nvPr/>
          </p:nvSpPr>
          <p:spPr bwMode="auto">
            <a:xfrm>
              <a:off x="3078" y="2811"/>
              <a:ext cx="361" cy="74"/>
            </a:xfrm>
            <a:prstGeom prst="rect">
              <a:avLst/>
            </a:prstGeom>
            <a:noFill/>
            <a:ln w="9525">
              <a:solidFill>
                <a:srgbClr val="1F1A17"/>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24" name="Freeform 25">
              <a:extLst>
                <a:ext uri="{FF2B5EF4-FFF2-40B4-BE49-F238E27FC236}">
                  <a16:creationId xmlns:a16="http://schemas.microsoft.com/office/drawing/2014/main" id="{F67CE4D9-AA34-C7E5-75E4-0B999C415810}"/>
                </a:ext>
              </a:extLst>
            </p:cNvPr>
            <p:cNvSpPr>
              <a:spLocks/>
            </p:cNvSpPr>
            <p:nvPr/>
          </p:nvSpPr>
          <p:spPr bwMode="auto">
            <a:xfrm>
              <a:off x="4085" y="2942"/>
              <a:ext cx="147" cy="166"/>
            </a:xfrm>
            <a:custGeom>
              <a:avLst/>
              <a:gdLst>
                <a:gd name="T0" fmla="*/ 28 w 147"/>
                <a:gd name="T1" fmla="*/ 0 h 166"/>
                <a:gd name="T2" fmla="*/ 147 w 147"/>
                <a:gd name="T3" fmla="*/ 142 h 166"/>
                <a:gd name="T4" fmla="*/ 118 w 147"/>
                <a:gd name="T5" fmla="*/ 166 h 166"/>
                <a:gd name="T6" fmla="*/ 0 w 147"/>
                <a:gd name="T7" fmla="*/ 26 h 166"/>
                <a:gd name="T8" fmla="*/ 28 w 147"/>
                <a:gd name="T9" fmla="*/ 0 h 166"/>
              </a:gdLst>
              <a:ahLst/>
              <a:cxnLst>
                <a:cxn ang="0">
                  <a:pos x="T0" y="T1"/>
                </a:cxn>
                <a:cxn ang="0">
                  <a:pos x="T2" y="T3"/>
                </a:cxn>
                <a:cxn ang="0">
                  <a:pos x="T4" y="T5"/>
                </a:cxn>
                <a:cxn ang="0">
                  <a:pos x="T6" y="T7"/>
                </a:cxn>
                <a:cxn ang="0">
                  <a:pos x="T8" y="T9"/>
                </a:cxn>
              </a:cxnLst>
              <a:rect l="0" t="0" r="r" b="b"/>
              <a:pathLst>
                <a:path w="147" h="166">
                  <a:moveTo>
                    <a:pt x="28" y="0"/>
                  </a:moveTo>
                  <a:lnTo>
                    <a:pt x="147" y="142"/>
                  </a:lnTo>
                  <a:lnTo>
                    <a:pt x="118" y="166"/>
                  </a:lnTo>
                  <a:lnTo>
                    <a:pt x="0" y="26"/>
                  </a:lnTo>
                  <a:lnTo>
                    <a:pt x="28" y="0"/>
                  </a:lnTo>
                  <a:close/>
                </a:path>
              </a:pathLst>
            </a:custGeom>
            <a:solidFill>
              <a:srgbClr val="008FE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25" name="Freeform 26">
              <a:extLst>
                <a:ext uri="{FF2B5EF4-FFF2-40B4-BE49-F238E27FC236}">
                  <a16:creationId xmlns:a16="http://schemas.microsoft.com/office/drawing/2014/main" id="{C72DF250-82AB-7FD4-8B84-D37CBB6ED444}"/>
                </a:ext>
              </a:extLst>
            </p:cNvPr>
            <p:cNvSpPr>
              <a:spLocks/>
            </p:cNvSpPr>
            <p:nvPr/>
          </p:nvSpPr>
          <p:spPr bwMode="auto">
            <a:xfrm>
              <a:off x="4085" y="2942"/>
              <a:ext cx="147" cy="166"/>
            </a:xfrm>
            <a:custGeom>
              <a:avLst/>
              <a:gdLst>
                <a:gd name="T0" fmla="*/ 28 w 147"/>
                <a:gd name="T1" fmla="*/ 0 h 166"/>
                <a:gd name="T2" fmla="*/ 147 w 147"/>
                <a:gd name="T3" fmla="*/ 142 h 166"/>
                <a:gd name="T4" fmla="*/ 118 w 147"/>
                <a:gd name="T5" fmla="*/ 166 h 166"/>
                <a:gd name="T6" fmla="*/ 0 w 147"/>
                <a:gd name="T7" fmla="*/ 26 h 166"/>
                <a:gd name="T8" fmla="*/ 28 w 147"/>
                <a:gd name="T9" fmla="*/ 0 h 166"/>
              </a:gdLst>
              <a:ahLst/>
              <a:cxnLst>
                <a:cxn ang="0">
                  <a:pos x="T0" y="T1"/>
                </a:cxn>
                <a:cxn ang="0">
                  <a:pos x="T2" y="T3"/>
                </a:cxn>
                <a:cxn ang="0">
                  <a:pos x="T4" y="T5"/>
                </a:cxn>
                <a:cxn ang="0">
                  <a:pos x="T6" y="T7"/>
                </a:cxn>
                <a:cxn ang="0">
                  <a:pos x="T8" y="T9"/>
                </a:cxn>
              </a:cxnLst>
              <a:rect l="0" t="0" r="r" b="b"/>
              <a:pathLst>
                <a:path w="147" h="166">
                  <a:moveTo>
                    <a:pt x="28" y="0"/>
                  </a:moveTo>
                  <a:lnTo>
                    <a:pt x="147" y="142"/>
                  </a:lnTo>
                  <a:lnTo>
                    <a:pt x="118" y="166"/>
                  </a:lnTo>
                  <a:lnTo>
                    <a:pt x="0" y="26"/>
                  </a:lnTo>
                  <a:lnTo>
                    <a:pt x="28" y="0"/>
                  </a:lnTo>
                </a:path>
              </a:pathLst>
            </a:custGeom>
            <a:noFill/>
            <a:ln w="9525">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26" name="Freeform 27">
              <a:extLst>
                <a:ext uri="{FF2B5EF4-FFF2-40B4-BE49-F238E27FC236}">
                  <a16:creationId xmlns:a16="http://schemas.microsoft.com/office/drawing/2014/main" id="{9D84A93D-EF8B-5643-90C2-857F3E04A238}"/>
                </a:ext>
              </a:extLst>
            </p:cNvPr>
            <p:cNvSpPr>
              <a:spLocks/>
            </p:cNvSpPr>
            <p:nvPr/>
          </p:nvSpPr>
          <p:spPr bwMode="auto">
            <a:xfrm>
              <a:off x="2551" y="1721"/>
              <a:ext cx="716" cy="941"/>
            </a:xfrm>
            <a:custGeom>
              <a:avLst/>
              <a:gdLst>
                <a:gd name="T0" fmla="*/ 716 w 716"/>
                <a:gd name="T1" fmla="*/ 86 h 941"/>
                <a:gd name="T2" fmla="*/ 0 w 716"/>
                <a:gd name="T3" fmla="*/ 941 h 941"/>
                <a:gd name="T4" fmla="*/ 370 w 716"/>
                <a:gd name="T5" fmla="*/ 18 h 941"/>
                <a:gd name="T6" fmla="*/ 422 w 716"/>
                <a:gd name="T7" fmla="*/ 7 h 941"/>
                <a:gd name="T8" fmla="*/ 473 w 716"/>
                <a:gd name="T9" fmla="*/ 0 h 941"/>
                <a:gd name="T10" fmla="*/ 497 w 716"/>
                <a:gd name="T11" fmla="*/ 0 h 941"/>
                <a:gd name="T12" fmla="*/ 519 w 716"/>
                <a:gd name="T13" fmla="*/ 0 h 941"/>
                <a:gd name="T14" fmla="*/ 541 w 716"/>
                <a:gd name="T15" fmla="*/ 3 h 941"/>
                <a:gd name="T16" fmla="*/ 562 w 716"/>
                <a:gd name="T17" fmla="*/ 5 h 941"/>
                <a:gd name="T18" fmla="*/ 584 w 716"/>
                <a:gd name="T19" fmla="*/ 9 h 941"/>
                <a:gd name="T20" fmla="*/ 604 w 716"/>
                <a:gd name="T21" fmla="*/ 16 h 941"/>
                <a:gd name="T22" fmla="*/ 624 w 716"/>
                <a:gd name="T23" fmla="*/ 22 h 941"/>
                <a:gd name="T24" fmla="*/ 643 w 716"/>
                <a:gd name="T25" fmla="*/ 31 h 941"/>
                <a:gd name="T26" fmla="*/ 661 w 716"/>
                <a:gd name="T27" fmla="*/ 42 h 941"/>
                <a:gd name="T28" fmla="*/ 678 w 716"/>
                <a:gd name="T29" fmla="*/ 55 h 941"/>
                <a:gd name="T30" fmla="*/ 698 w 716"/>
                <a:gd name="T31" fmla="*/ 68 h 941"/>
                <a:gd name="T32" fmla="*/ 716 w 716"/>
                <a:gd name="T33" fmla="*/ 86 h 9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16" h="941">
                  <a:moveTo>
                    <a:pt x="716" y="86"/>
                  </a:moveTo>
                  <a:lnTo>
                    <a:pt x="0" y="941"/>
                  </a:lnTo>
                  <a:lnTo>
                    <a:pt x="370" y="18"/>
                  </a:lnTo>
                  <a:lnTo>
                    <a:pt x="422" y="7"/>
                  </a:lnTo>
                  <a:lnTo>
                    <a:pt x="473" y="0"/>
                  </a:lnTo>
                  <a:lnTo>
                    <a:pt x="497" y="0"/>
                  </a:lnTo>
                  <a:lnTo>
                    <a:pt x="519" y="0"/>
                  </a:lnTo>
                  <a:lnTo>
                    <a:pt x="541" y="3"/>
                  </a:lnTo>
                  <a:lnTo>
                    <a:pt x="562" y="5"/>
                  </a:lnTo>
                  <a:lnTo>
                    <a:pt x="584" y="9"/>
                  </a:lnTo>
                  <a:lnTo>
                    <a:pt x="604" y="16"/>
                  </a:lnTo>
                  <a:lnTo>
                    <a:pt x="624" y="22"/>
                  </a:lnTo>
                  <a:lnTo>
                    <a:pt x="643" y="31"/>
                  </a:lnTo>
                  <a:lnTo>
                    <a:pt x="661" y="42"/>
                  </a:lnTo>
                  <a:lnTo>
                    <a:pt x="678" y="55"/>
                  </a:lnTo>
                  <a:lnTo>
                    <a:pt x="698" y="68"/>
                  </a:lnTo>
                  <a:lnTo>
                    <a:pt x="716" y="86"/>
                  </a:lnTo>
                  <a:close/>
                </a:path>
              </a:pathLst>
            </a:custGeom>
            <a:solidFill>
              <a:srgbClr val="FEFEC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27" name="Freeform 28">
              <a:extLst>
                <a:ext uri="{FF2B5EF4-FFF2-40B4-BE49-F238E27FC236}">
                  <a16:creationId xmlns:a16="http://schemas.microsoft.com/office/drawing/2014/main" id="{1F8B84A5-98C0-3368-C744-EB2A2C49BD98}"/>
                </a:ext>
              </a:extLst>
            </p:cNvPr>
            <p:cNvSpPr>
              <a:spLocks/>
            </p:cNvSpPr>
            <p:nvPr/>
          </p:nvSpPr>
          <p:spPr bwMode="auto">
            <a:xfrm>
              <a:off x="2551" y="1721"/>
              <a:ext cx="716" cy="941"/>
            </a:xfrm>
            <a:custGeom>
              <a:avLst/>
              <a:gdLst>
                <a:gd name="T0" fmla="*/ 716 w 716"/>
                <a:gd name="T1" fmla="*/ 86 h 941"/>
                <a:gd name="T2" fmla="*/ 0 w 716"/>
                <a:gd name="T3" fmla="*/ 941 h 941"/>
                <a:gd name="T4" fmla="*/ 370 w 716"/>
                <a:gd name="T5" fmla="*/ 18 h 941"/>
                <a:gd name="T6" fmla="*/ 422 w 716"/>
                <a:gd name="T7" fmla="*/ 7 h 941"/>
                <a:gd name="T8" fmla="*/ 473 w 716"/>
                <a:gd name="T9" fmla="*/ 0 h 941"/>
                <a:gd name="T10" fmla="*/ 497 w 716"/>
                <a:gd name="T11" fmla="*/ 0 h 941"/>
                <a:gd name="T12" fmla="*/ 519 w 716"/>
                <a:gd name="T13" fmla="*/ 0 h 941"/>
                <a:gd name="T14" fmla="*/ 541 w 716"/>
                <a:gd name="T15" fmla="*/ 3 h 941"/>
                <a:gd name="T16" fmla="*/ 562 w 716"/>
                <a:gd name="T17" fmla="*/ 5 h 941"/>
                <a:gd name="T18" fmla="*/ 584 w 716"/>
                <a:gd name="T19" fmla="*/ 9 h 941"/>
                <a:gd name="T20" fmla="*/ 604 w 716"/>
                <a:gd name="T21" fmla="*/ 16 h 941"/>
                <a:gd name="T22" fmla="*/ 624 w 716"/>
                <a:gd name="T23" fmla="*/ 22 h 941"/>
                <a:gd name="T24" fmla="*/ 643 w 716"/>
                <a:gd name="T25" fmla="*/ 31 h 941"/>
                <a:gd name="T26" fmla="*/ 661 w 716"/>
                <a:gd name="T27" fmla="*/ 42 h 941"/>
                <a:gd name="T28" fmla="*/ 678 w 716"/>
                <a:gd name="T29" fmla="*/ 55 h 941"/>
                <a:gd name="T30" fmla="*/ 698 w 716"/>
                <a:gd name="T31" fmla="*/ 68 h 941"/>
                <a:gd name="T32" fmla="*/ 716 w 716"/>
                <a:gd name="T33" fmla="*/ 86 h 9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16" h="941">
                  <a:moveTo>
                    <a:pt x="716" y="86"/>
                  </a:moveTo>
                  <a:lnTo>
                    <a:pt x="0" y="941"/>
                  </a:lnTo>
                  <a:lnTo>
                    <a:pt x="370" y="18"/>
                  </a:lnTo>
                  <a:lnTo>
                    <a:pt x="422" y="7"/>
                  </a:lnTo>
                  <a:lnTo>
                    <a:pt x="473" y="0"/>
                  </a:lnTo>
                  <a:lnTo>
                    <a:pt x="497" y="0"/>
                  </a:lnTo>
                  <a:lnTo>
                    <a:pt x="519" y="0"/>
                  </a:lnTo>
                  <a:lnTo>
                    <a:pt x="541" y="3"/>
                  </a:lnTo>
                  <a:lnTo>
                    <a:pt x="562" y="5"/>
                  </a:lnTo>
                  <a:lnTo>
                    <a:pt x="584" y="9"/>
                  </a:lnTo>
                  <a:lnTo>
                    <a:pt x="604" y="16"/>
                  </a:lnTo>
                  <a:lnTo>
                    <a:pt x="624" y="22"/>
                  </a:lnTo>
                  <a:lnTo>
                    <a:pt x="643" y="31"/>
                  </a:lnTo>
                  <a:lnTo>
                    <a:pt x="661" y="42"/>
                  </a:lnTo>
                  <a:lnTo>
                    <a:pt x="678" y="55"/>
                  </a:lnTo>
                  <a:lnTo>
                    <a:pt x="698" y="68"/>
                  </a:lnTo>
                  <a:lnTo>
                    <a:pt x="716" y="86"/>
                  </a:lnTo>
                </a:path>
              </a:pathLst>
            </a:custGeom>
            <a:noFill/>
            <a:ln w="9525">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28" name="Freeform 29">
              <a:extLst>
                <a:ext uri="{FF2B5EF4-FFF2-40B4-BE49-F238E27FC236}">
                  <a16:creationId xmlns:a16="http://schemas.microsoft.com/office/drawing/2014/main" id="{CF4B9E78-C49A-CCC9-7888-05896A69E904}"/>
                </a:ext>
              </a:extLst>
            </p:cNvPr>
            <p:cNvSpPr>
              <a:spLocks/>
            </p:cNvSpPr>
            <p:nvPr/>
          </p:nvSpPr>
          <p:spPr bwMode="auto">
            <a:xfrm>
              <a:off x="2919" y="1719"/>
              <a:ext cx="343" cy="1090"/>
            </a:xfrm>
            <a:custGeom>
              <a:avLst/>
              <a:gdLst>
                <a:gd name="T0" fmla="*/ 0 w 343"/>
                <a:gd name="T1" fmla="*/ 20 h 1090"/>
                <a:gd name="T2" fmla="*/ 341 w 343"/>
                <a:gd name="T3" fmla="*/ 1090 h 1090"/>
                <a:gd name="T4" fmla="*/ 343 w 343"/>
                <a:gd name="T5" fmla="*/ 86 h 1090"/>
                <a:gd name="T6" fmla="*/ 332 w 343"/>
                <a:gd name="T7" fmla="*/ 75 h 1090"/>
                <a:gd name="T8" fmla="*/ 319 w 343"/>
                <a:gd name="T9" fmla="*/ 64 h 1090"/>
                <a:gd name="T10" fmla="*/ 304 w 343"/>
                <a:gd name="T11" fmla="*/ 53 h 1090"/>
                <a:gd name="T12" fmla="*/ 289 w 343"/>
                <a:gd name="T13" fmla="*/ 42 h 1090"/>
                <a:gd name="T14" fmla="*/ 271 w 343"/>
                <a:gd name="T15" fmla="*/ 33 h 1090"/>
                <a:gd name="T16" fmla="*/ 254 w 343"/>
                <a:gd name="T17" fmla="*/ 24 h 1090"/>
                <a:gd name="T18" fmla="*/ 234 w 343"/>
                <a:gd name="T19" fmla="*/ 18 h 1090"/>
                <a:gd name="T20" fmla="*/ 212 w 343"/>
                <a:gd name="T21" fmla="*/ 11 h 1090"/>
                <a:gd name="T22" fmla="*/ 188 w 343"/>
                <a:gd name="T23" fmla="*/ 7 h 1090"/>
                <a:gd name="T24" fmla="*/ 166 w 343"/>
                <a:gd name="T25" fmla="*/ 2 h 1090"/>
                <a:gd name="T26" fmla="*/ 140 w 343"/>
                <a:gd name="T27" fmla="*/ 0 h 1090"/>
                <a:gd name="T28" fmla="*/ 113 w 343"/>
                <a:gd name="T29" fmla="*/ 0 h 1090"/>
                <a:gd name="T30" fmla="*/ 87 w 343"/>
                <a:gd name="T31" fmla="*/ 2 h 1090"/>
                <a:gd name="T32" fmla="*/ 59 w 343"/>
                <a:gd name="T33" fmla="*/ 7 h 1090"/>
                <a:gd name="T34" fmla="*/ 28 w 343"/>
                <a:gd name="T35" fmla="*/ 11 h 1090"/>
                <a:gd name="T36" fmla="*/ 0 w 343"/>
                <a:gd name="T37" fmla="*/ 20 h 10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343" h="1090">
                  <a:moveTo>
                    <a:pt x="0" y="20"/>
                  </a:moveTo>
                  <a:lnTo>
                    <a:pt x="341" y="1090"/>
                  </a:lnTo>
                  <a:lnTo>
                    <a:pt x="343" y="86"/>
                  </a:lnTo>
                  <a:lnTo>
                    <a:pt x="332" y="75"/>
                  </a:lnTo>
                  <a:lnTo>
                    <a:pt x="319" y="64"/>
                  </a:lnTo>
                  <a:lnTo>
                    <a:pt x="304" y="53"/>
                  </a:lnTo>
                  <a:lnTo>
                    <a:pt x="289" y="42"/>
                  </a:lnTo>
                  <a:lnTo>
                    <a:pt x="271" y="33"/>
                  </a:lnTo>
                  <a:lnTo>
                    <a:pt x="254" y="24"/>
                  </a:lnTo>
                  <a:lnTo>
                    <a:pt x="234" y="18"/>
                  </a:lnTo>
                  <a:lnTo>
                    <a:pt x="212" y="11"/>
                  </a:lnTo>
                  <a:lnTo>
                    <a:pt x="188" y="7"/>
                  </a:lnTo>
                  <a:lnTo>
                    <a:pt x="166" y="2"/>
                  </a:lnTo>
                  <a:lnTo>
                    <a:pt x="140" y="0"/>
                  </a:lnTo>
                  <a:lnTo>
                    <a:pt x="113" y="0"/>
                  </a:lnTo>
                  <a:lnTo>
                    <a:pt x="87" y="2"/>
                  </a:lnTo>
                  <a:lnTo>
                    <a:pt x="59" y="7"/>
                  </a:lnTo>
                  <a:lnTo>
                    <a:pt x="28" y="11"/>
                  </a:lnTo>
                  <a:lnTo>
                    <a:pt x="0" y="20"/>
                  </a:lnTo>
                  <a:close/>
                </a:path>
              </a:pathLst>
            </a:custGeom>
            <a:solidFill>
              <a:srgbClr val="DBEDE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29" name="Freeform 30">
              <a:extLst>
                <a:ext uri="{FF2B5EF4-FFF2-40B4-BE49-F238E27FC236}">
                  <a16:creationId xmlns:a16="http://schemas.microsoft.com/office/drawing/2014/main" id="{AA516913-65AD-E88A-ECF9-0D35D3FA95A4}"/>
                </a:ext>
              </a:extLst>
            </p:cNvPr>
            <p:cNvSpPr>
              <a:spLocks/>
            </p:cNvSpPr>
            <p:nvPr/>
          </p:nvSpPr>
          <p:spPr bwMode="auto">
            <a:xfrm>
              <a:off x="3258" y="1802"/>
              <a:ext cx="4" cy="9"/>
            </a:xfrm>
            <a:custGeom>
              <a:avLst/>
              <a:gdLst>
                <a:gd name="T0" fmla="*/ 0 w 4"/>
                <a:gd name="T1" fmla="*/ 3 h 9"/>
                <a:gd name="T2" fmla="*/ 4 w 4"/>
                <a:gd name="T3" fmla="*/ 3 h 9"/>
                <a:gd name="T4" fmla="*/ 4 w 4"/>
                <a:gd name="T5" fmla="*/ 3 h 9"/>
                <a:gd name="T6" fmla="*/ 4 w 4"/>
                <a:gd name="T7" fmla="*/ 3 h 9"/>
                <a:gd name="T8" fmla="*/ 4 w 4"/>
                <a:gd name="T9" fmla="*/ 0 h 9"/>
                <a:gd name="T10" fmla="*/ 4 w 4"/>
                <a:gd name="T11" fmla="*/ 0 h 9"/>
                <a:gd name="T12" fmla="*/ 2 w 4"/>
                <a:gd name="T13" fmla="*/ 0 h 9"/>
                <a:gd name="T14" fmla="*/ 2 w 4"/>
                <a:gd name="T15" fmla="*/ 0 h 9"/>
                <a:gd name="T16" fmla="*/ 2 w 4"/>
                <a:gd name="T17" fmla="*/ 0 h 9"/>
                <a:gd name="T18" fmla="*/ 2 w 4"/>
                <a:gd name="T19" fmla="*/ 0 h 9"/>
                <a:gd name="T20" fmla="*/ 0 w 4"/>
                <a:gd name="T21" fmla="*/ 3 h 9"/>
                <a:gd name="T22" fmla="*/ 4 w 4"/>
                <a:gd name="T23" fmla="*/ 9 h 9"/>
                <a:gd name="T24" fmla="*/ 4 w 4"/>
                <a:gd name="T25" fmla="*/ 3 h 9"/>
                <a:gd name="T26" fmla="*/ 4 w 4"/>
                <a:gd name="T27" fmla="*/ 3 h 9"/>
                <a:gd name="T28" fmla="*/ 4 w 4"/>
                <a:gd name="T29" fmla="*/ 3 h 9"/>
                <a:gd name="T30" fmla="*/ 4 w 4"/>
                <a:gd name="T31" fmla="*/ 3 h 9"/>
                <a:gd name="T32" fmla="*/ 4 w 4"/>
                <a:gd name="T33" fmla="*/ 3 h 9"/>
                <a:gd name="T34" fmla="*/ 4 w 4"/>
                <a:gd name="T35" fmla="*/ 3 h 9"/>
                <a:gd name="T36" fmla="*/ 4 w 4"/>
                <a:gd name="T37" fmla="*/ 3 h 9"/>
                <a:gd name="T38" fmla="*/ 4 w 4"/>
                <a:gd name="T39" fmla="*/ 3 h 9"/>
                <a:gd name="T40" fmla="*/ 4 w 4"/>
                <a:gd name="T41" fmla="*/ 3 h 9"/>
                <a:gd name="T42" fmla="*/ 0 w 4"/>
                <a:gd name="T43" fmla="*/ 3 h 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 h="9">
                  <a:moveTo>
                    <a:pt x="0" y="3"/>
                  </a:moveTo>
                  <a:lnTo>
                    <a:pt x="4" y="3"/>
                  </a:lnTo>
                  <a:lnTo>
                    <a:pt x="4" y="3"/>
                  </a:lnTo>
                  <a:lnTo>
                    <a:pt x="4" y="3"/>
                  </a:lnTo>
                  <a:lnTo>
                    <a:pt x="4" y="0"/>
                  </a:lnTo>
                  <a:lnTo>
                    <a:pt x="4" y="0"/>
                  </a:lnTo>
                  <a:lnTo>
                    <a:pt x="2" y="0"/>
                  </a:lnTo>
                  <a:lnTo>
                    <a:pt x="2" y="0"/>
                  </a:lnTo>
                  <a:lnTo>
                    <a:pt x="2" y="0"/>
                  </a:lnTo>
                  <a:lnTo>
                    <a:pt x="2" y="0"/>
                  </a:lnTo>
                  <a:lnTo>
                    <a:pt x="0" y="3"/>
                  </a:lnTo>
                  <a:lnTo>
                    <a:pt x="4" y="9"/>
                  </a:lnTo>
                  <a:lnTo>
                    <a:pt x="4" y="3"/>
                  </a:lnTo>
                  <a:lnTo>
                    <a:pt x="4" y="3"/>
                  </a:lnTo>
                  <a:lnTo>
                    <a:pt x="4" y="3"/>
                  </a:lnTo>
                  <a:lnTo>
                    <a:pt x="4" y="3"/>
                  </a:lnTo>
                  <a:lnTo>
                    <a:pt x="4" y="3"/>
                  </a:lnTo>
                  <a:lnTo>
                    <a:pt x="4" y="3"/>
                  </a:lnTo>
                  <a:lnTo>
                    <a:pt x="4" y="3"/>
                  </a:lnTo>
                  <a:lnTo>
                    <a:pt x="4" y="3"/>
                  </a:lnTo>
                  <a:lnTo>
                    <a:pt x="4" y="3"/>
                  </a:lnTo>
                  <a:lnTo>
                    <a:pt x="0" y="3"/>
                  </a:lnTo>
                  <a:close/>
                </a:path>
              </a:pathLst>
            </a:custGeom>
            <a:solidFill>
              <a:srgbClr val="02A7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30" name="Freeform 31">
              <a:extLst>
                <a:ext uri="{FF2B5EF4-FFF2-40B4-BE49-F238E27FC236}">
                  <a16:creationId xmlns:a16="http://schemas.microsoft.com/office/drawing/2014/main" id="{E619B5D4-5CA6-903C-EF1B-B336E0C7CA35}"/>
                </a:ext>
              </a:extLst>
            </p:cNvPr>
            <p:cNvSpPr>
              <a:spLocks/>
            </p:cNvSpPr>
            <p:nvPr/>
          </p:nvSpPr>
          <p:spPr bwMode="auto">
            <a:xfrm>
              <a:off x="2984" y="1719"/>
              <a:ext cx="276" cy="86"/>
            </a:xfrm>
            <a:custGeom>
              <a:avLst/>
              <a:gdLst>
                <a:gd name="T0" fmla="*/ 0 w 276"/>
                <a:gd name="T1" fmla="*/ 11 h 86"/>
                <a:gd name="T2" fmla="*/ 0 w 276"/>
                <a:gd name="T3" fmla="*/ 11 h 86"/>
                <a:gd name="T4" fmla="*/ 38 w 276"/>
                <a:gd name="T5" fmla="*/ 7 h 86"/>
                <a:gd name="T6" fmla="*/ 75 w 276"/>
                <a:gd name="T7" fmla="*/ 7 h 86"/>
                <a:gd name="T8" fmla="*/ 112 w 276"/>
                <a:gd name="T9" fmla="*/ 11 h 86"/>
                <a:gd name="T10" fmla="*/ 149 w 276"/>
                <a:gd name="T11" fmla="*/ 18 h 86"/>
                <a:gd name="T12" fmla="*/ 164 w 276"/>
                <a:gd name="T13" fmla="*/ 22 h 86"/>
                <a:gd name="T14" fmla="*/ 182 w 276"/>
                <a:gd name="T15" fmla="*/ 26 h 86"/>
                <a:gd name="T16" fmla="*/ 199 w 276"/>
                <a:gd name="T17" fmla="*/ 33 h 86"/>
                <a:gd name="T18" fmla="*/ 215 w 276"/>
                <a:gd name="T19" fmla="*/ 42 h 86"/>
                <a:gd name="T20" fmla="*/ 230 w 276"/>
                <a:gd name="T21" fmla="*/ 51 h 86"/>
                <a:gd name="T22" fmla="*/ 245 w 276"/>
                <a:gd name="T23" fmla="*/ 61 h 86"/>
                <a:gd name="T24" fmla="*/ 259 w 276"/>
                <a:gd name="T25" fmla="*/ 72 h 86"/>
                <a:gd name="T26" fmla="*/ 274 w 276"/>
                <a:gd name="T27" fmla="*/ 86 h 86"/>
                <a:gd name="T28" fmla="*/ 276 w 276"/>
                <a:gd name="T29" fmla="*/ 83 h 86"/>
                <a:gd name="T30" fmla="*/ 254 w 276"/>
                <a:gd name="T31" fmla="*/ 64 h 86"/>
                <a:gd name="T32" fmla="*/ 230 w 276"/>
                <a:gd name="T33" fmla="*/ 46 h 86"/>
                <a:gd name="T34" fmla="*/ 199 w 276"/>
                <a:gd name="T35" fmla="*/ 31 h 86"/>
                <a:gd name="T36" fmla="*/ 167 w 276"/>
                <a:gd name="T37" fmla="*/ 18 h 86"/>
                <a:gd name="T38" fmla="*/ 149 w 276"/>
                <a:gd name="T39" fmla="*/ 11 h 86"/>
                <a:gd name="T40" fmla="*/ 129 w 276"/>
                <a:gd name="T41" fmla="*/ 7 h 86"/>
                <a:gd name="T42" fmla="*/ 110 w 276"/>
                <a:gd name="T43" fmla="*/ 5 h 86"/>
                <a:gd name="T44" fmla="*/ 90 w 276"/>
                <a:gd name="T45" fmla="*/ 2 h 86"/>
                <a:gd name="T46" fmla="*/ 68 w 276"/>
                <a:gd name="T47" fmla="*/ 0 h 86"/>
                <a:gd name="T48" fmla="*/ 46 w 276"/>
                <a:gd name="T49" fmla="*/ 0 h 86"/>
                <a:gd name="T50" fmla="*/ 22 w 276"/>
                <a:gd name="T51" fmla="*/ 2 h 86"/>
                <a:gd name="T52" fmla="*/ 0 w 276"/>
                <a:gd name="T53" fmla="*/ 5 h 86"/>
                <a:gd name="T54" fmla="*/ 0 w 276"/>
                <a:gd name="T55" fmla="*/ 11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76" h="86">
                  <a:moveTo>
                    <a:pt x="0" y="11"/>
                  </a:moveTo>
                  <a:lnTo>
                    <a:pt x="0" y="11"/>
                  </a:lnTo>
                  <a:lnTo>
                    <a:pt x="38" y="7"/>
                  </a:lnTo>
                  <a:lnTo>
                    <a:pt x="75" y="7"/>
                  </a:lnTo>
                  <a:lnTo>
                    <a:pt x="112" y="11"/>
                  </a:lnTo>
                  <a:lnTo>
                    <a:pt x="149" y="18"/>
                  </a:lnTo>
                  <a:lnTo>
                    <a:pt x="164" y="22"/>
                  </a:lnTo>
                  <a:lnTo>
                    <a:pt x="182" y="26"/>
                  </a:lnTo>
                  <a:lnTo>
                    <a:pt x="199" y="33"/>
                  </a:lnTo>
                  <a:lnTo>
                    <a:pt x="215" y="42"/>
                  </a:lnTo>
                  <a:lnTo>
                    <a:pt x="230" y="51"/>
                  </a:lnTo>
                  <a:lnTo>
                    <a:pt x="245" y="61"/>
                  </a:lnTo>
                  <a:lnTo>
                    <a:pt x="259" y="72"/>
                  </a:lnTo>
                  <a:lnTo>
                    <a:pt x="274" y="86"/>
                  </a:lnTo>
                  <a:lnTo>
                    <a:pt x="276" y="83"/>
                  </a:lnTo>
                  <a:lnTo>
                    <a:pt x="254" y="64"/>
                  </a:lnTo>
                  <a:lnTo>
                    <a:pt x="230" y="46"/>
                  </a:lnTo>
                  <a:lnTo>
                    <a:pt x="199" y="31"/>
                  </a:lnTo>
                  <a:lnTo>
                    <a:pt x="167" y="18"/>
                  </a:lnTo>
                  <a:lnTo>
                    <a:pt x="149" y="11"/>
                  </a:lnTo>
                  <a:lnTo>
                    <a:pt x="129" y="7"/>
                  </a:lnTo>
                  <a:lnTo>
                    <a:pt x="110" y="5"/>
                  </a:lnTo>
                  <a:lnTo>
                    <a:pt x="90" y="2"/>
                  </a:lnTo>
                  <a:lnTo>
                    <a:pt x="68" y="0"/>
                  </a:lnTo>
                  <a:lnTo>
                    <a:pt x="46" y="0"/>
                  </a:lnTo>
                  <a:lnTo>
                    <a:pt x="22" y="2"/>
                  </a:lnTo>
                  <a:lnTo>
                    <a:pt x="0" y="5"/>
                  </a:lnTo>
                  <a:lnTo>
                    <a:pt x="0" y="11"/>
                  </a:lnTo>
                  <a:close/>
                </a:path>
              </a:pathLst>
            </a:custGeom>
            <a:solidFill>
              <a:srgbClr val="02A7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31" name="Freeform 32">
              <a:extLst>
                <a:ext uri="{FF2B5EF4-FFF2-40B4-BE49-F238E27FC236}">
                  <a16:creationId xmlns:a16="http://schemas.microsoft.com/office/drawing/2014/main" id="{55F6F00C-8ED3-8787-05D7-79B816939D86}"/>
                </a:ext>
              </a:extLst>
            </p:cNvPr>
            <p:cNvSpPr>
              <a:spLocks/>
            </p:cNvSpPr>
            <p:nvPr/>
          </p:nvSpPr>
          <p:spPr bwMode="auto">
            <a:xfrm>
              <a:off x="2919" y="1724"/>
              <a:ext cx="65" cy="26"/>
            </a:xfrm>
            <a:custGeom>
              <a:avLst/>
              <a:gdLst>
                <a:gd name="T0" fmla="*/ 2 w 65"/>
                <a:gd name="T1" fmla="*/ 26 h 26"/>
                <a:gd name="T2" fmla="*/ 4 w 65"/>
                <a:gd name="T3" fmla="*/ 24 h 26"/>
                <a:gd name="T4" fmla="*/ 13 w 65"/>
                <a:gd name="T5" fmla="*/ 19 h 26"/>
                <a:gd name="T6" fmla="*/ 22 w 65"/>
                <a:gd name="T7" fmla="*/ 17 h 26"/>
                <a:gd name="T8" fmla="*/ 30 w 65"/>
                <a:gd name="T9" fmla="*/ 13 h 26"/>
                <a:gd name="T10" fmla="*/ 37 w 65"/>
                <a:gd name="T11" fmla="*/ 11 h 26"/>
                <a:gd name="T12" fmla="*/ 46 w 65"/>
                <a:gd name="T13" fmla="*/ 8 h 26"/>
                <a:gd name="T14" fmla="*/ 54 w 65"/>
                <a:gd name="T15" fmla="*/ 6 h 26"/>
                <a:gd name="T16" fmla="*/ 65 w 65"/>
                <a:gd name="T17" fmla="*/ 6 h 26"/>
                <a:gd name="T18" fmla="*/ 65 w 65"/>
                <a:gd name="T19" fmla="*/ 0 h 26"/>
                <a:gd name="T20" fmla="*/ 57 w 65"/>
                <a:gd name="T21" fmla="*/ 2 h 26"/>
                <a:gd name="T22" fmla="*/ 48 w 65"/>
                <a:gd name="T23" fmla="*/ 2 h 26"/>
                <a:gd name="T24" fmla="*/ 41 w 65"/>
                <a:gd name="T25" fmla="*/ 4 h 26"/>
                <a:gd name="T26" fmla="*/ 33 w 65"/>
                <a:gd name="T27" fmla="*/ 6 h 26"/>
                <a:gd name="T28" fmla="*/ 24 w 65"/>
                <a:gd name="T29" fmla="*/ 8 h 26"/>
                <a:gd name="T30" fmla="*/ 15 w 65"/>
                <a:gd name="T31" fmla="*/ 11 h 26"/>
                <a:gd name="T32" fmla="*/ 6 w 65"/>
                <a:gd name="T33" fmla="*/ 13 h 26"/>
                <a:gd name="T34" fmla="*/ 0 w 65"/>
                <a:gd name="T35" fmla="*/ 15 h 26"/>
                <a:gd name="T36" fmla="*/ 2 w 65"/>
                <a:gd name="T37" fmla="*/ 26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65" h="26">
                  <a:moveTo>
                    <a:pt x="2" y="26"/>
                  </a:moveTo>
                  <a:lnTo>
                    <a:pt x="4" y="24"/>
                  </a:lnTo>
                  <a:lnTo>
                    <a:pt x="13" y="19"/>
                  </a:lnTo>
                  <a:lnTo>
                    <a:pt x="22" y="17"/>
                  </a:lnTo>
                  <a:lnTo>
                    <a:pt x="30" y="13"/>
                  </a:lnTo>
                  <a:lnTo>
                    <a:pt x="37" y="11"/>
                  </a:lnTo>
                  <a:lnTo>
                    <a:pt x="46" y="8"/>
                  </a:lnTo>
                  <a:lnTo>
                    <a:pt x="54" y="6"/>
                  </a:lnTo>
                  <a:lnTo>
                    <a:pt x="65" y="6"/>
                  </a:lnTo>
                  <a:lnTo>
                    <a:pt x="65" y="0"/>
                  </a:lnTo>
                  <a:lnTo>
                    <a:pt x="57" y="2"/>
                  </a:lnTo>
                  <a:lnTo>
                    <a:pt x="48" y="2"/>
                  </a:lnTo>
                  <a:lnTo>
                    <a:pt x="41" y="4"/>
                  </a:lnTo>
                  <a:lnTo>
                    <a:pt x="33" y="6"/>
                  </a:lnTo>
                  <a:lnTo>
                    <a:pt x="24" y="8"/>
                  </a:lnTo>
                  <a:lnTo>
                    <a:pt x="15" y="11"/>
                  </a:lnTo>
                  <a:lnTo>
                    <a:pt x="6" y="13"/>
                  </a:lnTo>
                  <a:lnTo>
                    <a:pt x="0" y="15"/>
                  </a:lnTo>
                  <a:lnTo>
                    <a:pt x="2" y="26"/>
                  </a:lnTo>
                  <a:close/>
                </a:path>
              </a:pathLst>
            </a:custGeom>
            <a:solidFill>
              <a:srgbClr val="02A7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32" name="Freeform 33">
              <a:extLst>
                <a:ext uri="{FF2B5EF4-FFF2-40B4-BE49-F238E27FC236}">
                  <a16:creationId xmlns:a16="http://schemas.microsoft.com/office/drawing/2014/main" id="{2963D4DD-E0B5-DBB0-1FFE-D363B8143B90}"/>
                </a:ext>
              </a:extLst>
            </p:cNvPr>
            <p:cNvSpPr>
              <a:spLocks/>
            </p:cNvSpPr>
            <p:nvPr/>
          </p:nvSpPr>
          <p:spPr bwMode="auto">
            <a:xfrm>
              <a:off x="2919" y="1721"/>
              <a:ext cx="343" cy="368"/>
            </a:xfrm>
            <a:custGeom>
              <a:avLst/>
              <a:gdLst>
                <a:gd name="T0" fmla="*/ 343 w 343"/>
                <a:gd name="T1" fmla="*/ 88 h 368"/>
                <a:gd name="T2" fmla="*/ 111 w 343"/>
                <a:gd name="T3" fmla="*/ 368 h 368"/>
                <a:gd name="T4" fmla="*/ 0 w 343"/>
                <a:gd name="T5" fmla="*/ 22 h 368"/>
                <a:gd name="T6" fmla="*/ 2 w 343"/>
                <a:gd name="T7" fmla="*/ 18 h 368"/>
                <a:gd name="T8" fmla="*/ 26 w 343"/>
                <a:gd name="T9" fmla="*/ 14 h 368"/>
                <a:gd name="T10" fmla="*/ 48 w 343"/>
                <a:gd name="T11" fmla="*/ 9 h 368"/>
                <a:gd name="T12" fmla="*/ 70 w 343"/>
                <a:gd name="T13" fmla="*/ 5 h 368"/>
                <a:gd name="T14" fmla="*/ 89 w 343"/>
                <a:gd name="T15" fmla="*/ 3 h 368"/>
                <a:gd name="T16" fmla="*/ 111 w 343"/>
                <a:gd name="T17" fmla="*/ 0 h 368"/>
                <a:gd name="T18" fmla="*/ 131 w 343"/>
                <a:gd name="T19" fmla="*/ 0 h 368"/>
                <a:gd name="T20" fmla="*/ 151 w 343"/>
                <a:gd name="T21" fmla="*/ 0 h 368"/>
                <a:gd name="T22" fmla="*/ 168 w 343"/>
                <a:gd name="T23" fmla="*/ 0 h 368"/>
                <a:gd name="T24" fmla="*/ 199 w 343"/>
                <a:gd name="T25" fmla="*/ 7 h 368"/>
                <a:gd name="T26" fmla="*/ 225 w 343"/>
                <a:gd name="T27" fmla="*/ 14 h 368"/>
                <a:gd name="T28" fmla="*/ 249 w 343"/>
                <a:gd name="T29" fmla="*/ 22 h 368"/>
                <a:gd name="T30" fmla="*/ 273 w 343"/>
                <a:gd name="T31" fmla="*/ 31 h 368"/>
                <a:gd name="T32" fmla="*/ 293 w 343"/>
                <a:gd name="T33" fmla="*/ 44 h 368"/>
                <a:gd name="T34" fmla="*/ 313 w 343"/>
                <a:gd name="T35" fmla="*/ 57 h 368"/>
                <a:gd name="T36" fmla="*/ 330 w 343"/>
                <a:gd name="T37" fmla="*/ 70 h 368"/>
                <a:gd name="T38" fmla="*/ 343 w 343"/>
                <a:gd name="T39" fmla="*/ 84 h 368"/>
                <a:gd name="T40" fmla="*/ 343 w 343"/>
                <a:gd name="T41" fmla="*/ 88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3" h="368">
                  <a:moveTo>
                    <a:pt x="343" y="88"/>
                  </a:moveTo>
                  <a:lnTo>
                    <a:pt x="111" y="368"/>
                  </a:lnTo>
                  <a:lnTo>
                    <a:pt x="0" y="22"/>
                  </a:lnTo>
                  <a:lnTo>
                    <a:pt x="2" y="18"/>
                  </a:lnTo>
                  <a:lnTo>
                    <a:pt x="26" y="14"/>
                  </a:lnTo>
                  <a:lnTo>
                    <a:pt x="48" y="9"/>
                  </a:lnTo>
                  <a:lnTo>
                    <a:pt x="70" y="5"/>
                  </a:lnTo>
                  <a:lnTo>
                    <a:pt x="89" y="3"/>
                  </a:lnTo>
                  <a:lnTo>
                    <a:pt x="111" y="0"/>
                  </a:lnTo>
                  <a:lnTo>
                    <a:pt x="131" y="0"/>
                  </a:lnTo>
                  <a:lnTo>
                    <a:pt x="151" y="0"/>
                  </a:lnTo>
                  <a:lnTo>
                    <a:pt x="168" y="0"/>
                  </a:lnTo>
                  <a:lnTo>
                    <a:pt x="199" y="7"/>
                  </a:lnTo>
                  <a:lnTo>
                    <a:pt x="225" y="14"/>
                  </a:lnTo>
                  <a:lnTo>
                    <a:pt x="249" y="22"/>
                  </a:lnTo>
                  <a:lnTo>
                    <a:pt x="273" y="31"/>
                  </a:lnTo>
                  <a:lnTo>
                    <a:pt x="293" y="44"/>
                  </a:lnTo>
                  <a:lnTo>
                    <a:pt x="313" y="57"/>
                  </a:lnTo>
                  <a:lnTo>
                    <a:pt x="330" y="70"/>
                  </a:lnTo>
                  <a:lnTo>
                    <a:pt x="343" y="84"/>
                  </a:lnTo>
                  <a:lnTo>
                    <a:pt x="343" y="88"/>
                  </a:lnTo>
                  <a:close/>
                </a:path>
              </a:pathLst>
            </a:custGeom>
            <a:solidFill>
              <a:srgbClr val="B4DDD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33" name="Freeform 34">
              <a:extLst>
                <a:ext uri="{FF2B5EF4-FFF2-40B4-BE49-F238E27FC236}">
                  <a16:creationId xmlns:a16="http://schemas.microsoft.com/office/drawing/2014/main" id="{A15FBB45-9C2E-8C27-755F-8FE62823063C}"/>
                </a:ext>
              </a:extLst>
            </p:cNvPr>
            <p:cNvSpPr>
              <a:spLocks/>
            </p:cNvSpPr>
            <p:nvPr/>
          </p:nvSpPr>
          <p:spPr bwMode="auto">
            <a:xfrm>
              <a:off x="3028" y="1805"/>
              <a:ext cx="234" cy="286"/>
            </a:xfrm>
            <a:custGeom>
              <a:avLst/>
              <a:gdLst>
                <a:gd name="T0" fmla="*/ 2 w 234"/>
                <a:gd name="T1" fmla="*/ 286 h 286"/>
                <a:gd name="T2" fmla="*/ 234 w 234"/>
                <a:gd name="T3" fmla="*/ 8 h 286"/>
                <a:gd name="T4" fmla="*/ 234 w 234"/>
                <a:gd name="T5" fmla="*/ 0 h 286"/>
                <a:gd name="T6" fmla="*/ 234 w 234"/>
                <a:gd name="T7" fmla="*/ 0 h 286"/>
                <a:gd name="T8" fmla="*/ 234 w 234"/>
                <a:gd name="T9" fmla="*/ 0 h 286"/>
                <a:gd name="T10" fmla="*/ 234 w 234"/>
                <a:gd name="T11" fmla="*/ 0 h 286"/>
                <a:gd name="T12" fmla="*/ 234 w 234"/>
                <a:gd name="T13" fmla="*/ 0 h 286"/>
                <a:gd name="T14" fmla="*/ 234 w 234"/>
                <a:gd name="T15" fmla="*/ 0 h 286"/>
                <a:gd name="T16" fmla="*/ 234 w 234"/>
                <a:gd name="T17" fmla="*/ 0 h 286"/>
                <a:gd name="T18" fmla="*/ 234 w 234"/>
                <a:gd name="T19" fmla="*/ 0 h 286"/>
                <a:gd name="T20" fmla="*/ 234 w 234"/>
                <a:gd name="T21" fmla="*/ 0 h 286"/>
                <a:gd name="T22" fmla="*/ 0 w 234"/>
                <a:gd name="T23" fmla="*/ 280 h 286"/>
                <a:gd name="T24" fmla="*/ 2 w 234"/>
                <a:gd name="T25" fmla="*/ 286 h 2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4" h="286">
                  <a:moveTo>
                    <a:pt x="2" y="286"/>
                  </a:moveTo>
                  <a:lnTo>
                    <a:pt x="234" y="8"/>
                  </a:lnTo>
                  <a:lnTo>
                    <a:pt x="234" y="0"/>
                  </a:lnTo>
                  <a:lnTo>
                    <a:pt x="234" y="0"/>
                  </a:lnTo>
                  <a:lnTo>
                    <a:pt x="234" y="0"/>
                  </a:lnTo>
                  <a:lnTo>
                    <a:pt x="234" y="0"/>
                  </a:lnTo>
                  <a:lnTo>
                    <a:pt x="234" y="0"/>
                  </a:lnTo>
                  <a:lnTo>
                    <a:pt x="234" y="0"/>
                  </a:lnTo>
                  <a:lnTo>
                    <a:pt x="234" y="0"/>
                  </a:lnTo>
                  <a:lnTo>
                    <a:pt x="234" y="0"/>
                  </a:lnTo>
                  <a:lnTo>
                    <a:pt x="234" y="0"/>
                  </a:lnTo>
                  <a:lnTo>
                    <a:pt x="0" y="280"/>
                  </a:lnTo>
                  <a:lnTo>
                    <a:pt x="2" y="286"/>
                  </a:lnTo>
                  <a:close/>
                </a:path>
              </a:pathLst>
            </a:custGeom>
            <a:solidFill>
              <a:srgbClr val="6A77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34" name="Freeform 35">
              <a:extLst>
                <a:ext uri="{FF2B5EF4-FFF2-40B4-BE49-F238E27FC236}">
                  <a16:creationId xmlns:a16="http://schemas.microsoft.com/office/drawing/2014/main" id="{DB1A2C0A-344C-DA6F-DC67-5D900A107F82}"/>
                </a:ext>
              </a:extLst>
            </p:cNvPr>
            <p:cNvSpPr>
              <a:spLocks/>
            </p:cNvSpPr>
            <p:nvPr/>
          </p:nvSpPr>
          <p:spPr bwMode="auto">
            <a:xfrm>
              <a:off x="2919" y="1737"/>
              <a:ext cx="6" cy="13"/>
            </a:xfrm>
            <a:custGeom>
              <a:avLst/>
              <a:gdLst>
                <a:gd name="T0" fmla="*/ 0 w 6"/>
                <a:gd name="T1" fmla="*/ 2 h 13"/>
                <a:gd name="T2" fmla="*/ 0 w 6"/>
                <a:gd name="T3" fmla="*/ 2 h 13"/>
                <a:gd name="T4" fmla="*/ 2 w 6"/>
                <a:gd name="T5" fmla="*/ 13 h 13"/>
                <a:gd name="T6" fmla="*/ 6 w 6"/>
                <a:gd name="T7" fmla="*/ 4 h 13"/>
                <a:gd name="T8" fmla="*/ 4 w 6"/>
                <a:gd name="T9" fmla="*/ 6 h 13"/>
                <a:gd name="T10" fmla="*/ 2 w 6"/>
                <a:gd name="T11" fmla="*/ 0 h 13"/>
                <a:gd name="T12" fmla="*/ 2 w 6"/>
                <a:gd name="T13" fmla="*/ 2 h 13"/>
                <a:gd name="T14" fmla="*/ 2 w 6"/>
                <a:gd name="T15" fmla="*/ 2 h 13"/>
                <a:gd name="T16" fmla="*/ 2 w 6"/>
                <a:gd name="T17" fmla="*/ 2 h 13"/>
                <a:gd name="T18" fmla="*/ 0 w 6"/>
                <a:gd name="T19" fmla="*/ 2 h 13"/>
                <a:gd name="T20" fmla="*/ 0 w 6"/>
                <a:gd name="T21" fmla="*/ 2 h 13"/>
                <a:gd name="T22" fmla="*/ 0 w 6"/>
                <a:gd name="T23" fmla="*/ 2 h 13"/>
                <a:gd name="T24" fmla="*/ 0 w 6"/>
                <a:gd name="T25" fmla="*/ 2 h 13"/>
                <a:gd name="T26" fmla="*/ 0 w 6"/>
                <a:gd name="T27" fmla="*/ 2 h 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 h="13">
                  <a:moveTo>
                    <a:pt x="0" y="2"/>
                  </a:moveTo>
                  <a:lnTo>
                    <a:pt x="0" y="2"/>
                  </a:lnTo>
                  <a:lnTo>
                    <a:pt x="2" y="13"/>
                  </a:lnTo>
                  <a:lnTo>
                    <a:pt x="6" y="4"/>
                  </a:lnTo>
                  <a:lnTo>
                    <a:pt x="4" y="6"/>
                  </a:lnTo>
                  <a:lnTo>
                    <a:pt x="2" y="0"/>
                  </a:lnTo>
                  <a:lnTo>
                    <a:pt x="2" y="2"/>
                  </a:lnTo>
                  <a:lnTo>
                    <a:pt x="2" y="2"/>
                  </a:lnTo>
                  <a:lnTo>
                    <a:pt x="2" y="2"/>
                  </a:lnTo>
                  <a:lnTo>
                    <a:pt x="0" y="2"/>
                  </a:lnTo>
                  <a:lnTo>
                    <a:pt x="0" y="2"/>
                  </a:lnTo>
                  <a:lnTo>
                    <a:pt x="0" y="2"/>
                  </a:lnTo>
                  <a:lnTo>
                    <a:pt x="0" y="2"/>
                  </a:lnTo>
                  <a:lnTo>
                    <a:pt x="0" y="2"/>
                  </a:lnTo>
                  <a:close/>
                </a:path>
              </a:pathLst>
            </a:custGeom>
            <a:solidFill>
              <a:srgbClr val="6A77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35" name="Freeform 36">
              <a:extLst>
                <a:ext uri="{FF2B5EF4-FFF2-40B4-BE49-F238E27FC236}">
                  <a16:creationId xmlns:a16="http://schemas.microsoft.com/office/drawing/2014/main" id="{3BC3DB35-FBF7-9E58-856C-477EC9E87EA3}"/>
                </a:ext>
              </a:extLst>
            </p:cNvPr>
            <p:cNvSpPr>
              <a:spLocks/>
            </p:cNvSpPr>
            <p:nvPr/>
          </p:nvSpPr>
          <p:spPr bwMode="auto">
            <a:xfrm>
              <a:off x="2921" y="1719"/>
              <a:ext cx="341" cy="90"/>
            </a:xfrm>
            <a:custGeom>
              <a:avLst/>
              <a:gdLst>
                <a:gd name="T0" fmla="*/ 0 w 341"/>
                <a:gd name="T1" fmla="*/ 18 h 90"/>
                <a:gd name="T2" fmla="*/ 2 w 341"/>
                <a:gd name="T3" fmla="*/ 24 h 90"/>
                <a:gd name="T4" fmla="*/ 55 w 341"/>
                <a:gd name="T5" fmla="*/ 13 h 90"/>
                <a:gd name="T6" fmla="*/ 103 w 341"/>
                <a:gd name="T7" fmla="*/ 7 h 90"/>
                <a:gd name="T8" fmla="*/ 127 w 341"/>
                <a:gd name="T9" fmla="*/ 5 h 90"/>
                <a:gd name="T10" fmla="*/ 149 w 341"/>
                <a:gd name="T11" fmla="*/ 5 h 90"/>
                <a:gd name="T12" fmla="*/ 171 w 341"/>
                <a:gd name="T13" fmla="*/ 7 h 90"/>
                <a:gd name="T14" fmla="*/ 192 w 341"/>
                <a:gd name="T15" fmla="*/ 9 h 90"/>
                <a:gd name="T16" fmla="*/ 212 w 341"/>
                <a:gd name="T17" fmla="*/ 13 h 90"/>
                <a:gd name="T18" fmla="*/ 232 w 341"/>
                <a:gd name="T19" fmla="*/ 20 h 90"/>
                <a:gd name="T20" fmla="*/ 252 w 341"/>
                <a:gd name="T21" fmla="*/ 29 h 90"/>
                <a:gd name="T22" fmla="*/ 271 w 341"/>
                <a:gd name="T23" fmla="*/ 37 h 90"/>
                <a:gd name="T24" fmla="*/ 289 w 341"/>
                <a:gd name="T25" fmla="*/ 48 h 90"/>
                <a:gd name="T26" fmla="*/ 308 w 341"/>
                <a:gd name="T27" fmla="*/ 59 h 90"/>
                <a:gd name="T28" fmla="*/ 326 w 341"/>
                <a:gd name="T29" fmla="*/ 72 h 90"/>
                <a:gd name="T30" fmla="*/ 341 w 341"/>
                <a:gd name="T31" fmla="*/ 90 h 90"/>
                <a:gd name="T32" fmla="*/ 341 w 341"/>
                <a:gd name="T33" fmla="*/ 88 h 90"/>
                <a:gd name="T34" fmla="*/ 341 w 341"/>
                <a:gd name="T35" fmla="*/ 86 h 90"/>
                <a:gd name="T36" fmla="*/ 330 w 341"/>
                <a:gd name="T37" fmla="*/ 75 h 90"/>
                <a:gd name="T38" fmla="*/ 317 w 341"/>
                <a:gd name="T39" fmla="*/ 64 h 90"/>
                <a:gd name="T40" fmla="*/ 304 w 341"/>
                <a:gd name="T41" fmla="*/ 53 h 90"/>
                <a:gd name="T42" fmla="*/ 287 w 341"/>
                <a:gd name="T43" fmla="*/ 42 h 90"/>
                <a:gd name="T44" fmla="*/ 269 w 341"/>
                <a:gd name="T45" fmla="*/ 33 h 90"/>
                <a:gd name="T46" fmla="*/ 252 w 341"/>
                <a:gd name="T47" fmla="*/ 24 h 90"/>
                <a:gd name="T48" fmla="*/ 232 w 341"/>
                <a:gd name="T49" fmla="*/ 18 h 90"/>
                <a:gd name="T50" fmla="*/ 210 w 341"/>
                <a:gd name="T51" fmla="*/ 11 h 90"/>
                <a:gd name="T52" fmla="*/ 188 w 341"/>
                <a:gd name="T53" fmla="*/ 7 h 90"/>
                <a:gd name="T54" fmla="*/ 164 w 341"/>
                <a:gd name="T55" fmla="*/ 2 h 90"/>
                <a:gd name="T56" fmla="*/ 140 w 341"/>
                <a:gd name="T57" fmla="*/ 0 h 90"/>
                <a:gd name="T58" fmla="*/ 114 w 341"/>
                <a:gd name="T59" fmla="*/ 0 h 90"/>
                <a:gd name="T60" fmla="*/ 87 w 341"/>
                <a:gd name="T61" fmla="*/ 2 h 90"/>
                <a:gd name="T62" fmla="*/ 59 w 341"/>
                <a:gd name="T63" fmla="*/ 5 h 90"/>
                <a:gd name="T64" fmla="*/ 31 w 341"/>
                <a:gd name="T65" fmla="*/ 11 h 90"/>
                <a:gd name="T66" fmla="*/ 0 w 341"/>
                <a:gd name="T67" fmla="*/ 18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41" h="90">
                  <a:moveTo>
                    <a:pt x="0" y="18"/>
                  </a:moveTo>
                  <a:lnTo>
                    <a:pt x="2" y="24"/>
                  </a:lnTo>
                  <a:lnTo>
                    <a:pt x="55" y="13"/>
                  </a:lnTo>
                  <a:lnTo>
                    <a:pt x="103" y="7"/>
                  </a:lnTo>
                  <a:lnTo>
                    <a:pt x="127" y="5"/>
                  </a:lnTo>
                  <a:lnTo>
                    <a:pt x="149" y="5"/>
                  </a:lnTo>
                  <a:lnTo>
                    <a:pt x="171" y="7"/>
                  </a:lnTo>
                  <a:lnTo>
                    <a:pt x="192" y="9"/>
                  </a:lnTo>
                  <a:lnTo>
                    <a:pt x="212" y="13"/>
                  </a:lnTo>
                  <a:lnTo>
                    <a:pt x="232" y="20"/>
                  </a:lnTo>
                  <a:lnTo>
                    <a:pt x="252" y="29"/>
                  </a:lnTo>
                  <a:lnTo>
                    <a:pt x="271" y="37"/>
                  </a:lnTo>
                  <a:lnTo>
                    <a:pt x="289" y="48"/>
                  </a:lnTo>
                  <a:lnTo>
                    <a:pt x="308" y="59"/>
                  </a:lnTo>
                  <a:lnTo>
                    <a:pt x="326" y="72"/>
                  </a:lnTo>
                  <a:lnTo>
                    <a:pt x="341" y="90"/>
                  </a:lnTo>
                  <a:lnTo>
                    <a:pt x="341" y="88"/>
                  </a:lnTo>
                  <a:lnTo>
                    <a:pt x="341" y="86"/>
                  </a:lnTo>
                  <a:lnTo>
                    <a:pt x="330" y="75"/>
                  </a:lnTo>
                  <a:lnTo>
                    <a:pt x="317" y="64"/>
                  </a:lnTo>
                  <a:lnTo>
                    <a:pt x="304" y="53"/>
                  </a:lnTo>
                  <a:lnTo>
                    <a:pt x="287" y="42"/>
                  </a:lnTo>
                  <a:lnTo>
                    <a:pt x="269" y="33"/>
                  </a:lnTo>
                  <a:lnTo>
                    <a:pt x="252" y="24"/>
                  </a:lnTo>
                  <a:lnTo>
                    <a:pt x="232" y="18"/>
                  </a:lnTo>
                  <a:lnTo>
                    <a:pt x="210" y="11"/>
                  </a:lnTo>
                  <a:lnTo>
                    <a:pt x="188" y="7"/>
                  </a:lnTo>
                  <a:lnTo>
                    <a:pt x="164" y="2"/>
                  </a:lnTo>
                  <a:lnTo>
                    <a:pt x="140" y="0"/>
                  </a:lnTo>
                  <a:lnTo>
                    <a:pt x="114" y="0"/>
                  </a:lnTo>
                  <a:lnTo>
                    <a:pt x="87" y="2"/>
                  </a:lnTo>
                  <a:lnTo>
                    <a:pt x="59" y="5"/>
                  </a:lnTo>
                  <a:lnTo>
                    <a:pt x="31" y="11"/>
                  </a:lnTo>
                  <a:lnTo>
                    <a:pt x="0" y="18"/>
                  </a:lnTo>
                  <a:close/>
                </a:path>
              </a:pathLst>
            </a:custGeom>
            <a:solidFill>
              <a:srgbClr val="6A77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36" name="Freeform 37">
              <a:extLst>
                <a:ext uri="{FF2B5EF4-FFF2-40B4-BE49-F238E27FC236}">
                  <a16:creationId xmlns:a16="http://schemas.microsoft.com/office/drawing/2014/main" id="{A1E7BC67-B1ED-AC1C-56BC-3733C48F1340}"/>
                </a:ext>
              </a:extLst>
            </p:cNvPr>
            <p:cNvSpPr>
              <a:spLocks/>
            </p:cNvSpPr>
            <p:nvPr/>
          </p:nvSpPr>
          <p:spPr bwMode="auto">
            <a:xfrm>
              <a:off x="2919" y="1719"/>
              <a:ext cx="343" cy="1090"/>
            </a:xfrm>
            <a:custGeom>
              <a:avLst/>
              <a:gdLst>
                <a:gd name="T0" fmla="*/ 0 w 343"/>
                <a:gd name="T1" fmla="*/ 20 h 1090"/>
                <a:gd name="T2" fmla="*/ 341 w 343"/>
                <a:gd name="T3" fmla="*/ 1090 h 1090"/>
                <a:gd name="T4" fmla="*/ 343 w 343"/>
                <a:gd name="T5" fmla="*/ 86 h 1090"/>
                <a:gd name="T6" fmla="*/ 332 w 343"/>
                <a:gd name="T7" fmla="*/ 75 h 1090"/>
                <a:gd name="T8" fmla="*/ 319 w 343"/>
                <a:gd name="T9" fmla="*/ 64 h 1090"/>
                <a:gd name="T10" fmla="*/ 304 w 343"/>
                <a:gd name="T11" fmla="*/ 53 h 1090"/>
                <a:gd name="T12" fmla="*/ 289 w 343"/>
                <a:gd name="T13" fmla="*/ 42 h 1090"/>
                <a:gd name="T14" fmla="*/ 271 w 343"/>
                <a:gd name="T15" fmla="*/ 33 h 1090"/>
                <a:gd name="T16" fmla="*/ 254 w 343"/>
                <a:gd name="T17" fmla="*/ 24 h 1090"/>
                <a:gd name="T18" fmla="*/ 234 w 343"/>
                <a:gd name="T19" fmla="*/ 18 h 1090"/>
                <a:gd name="T20" fmla="*/ 212 w 343"/>
                <a:gd name="T21" fmla="*/ 11 h 1090"/>
                <a:gd name="T22" fmla="*/ 188 w 343"/>
                <a:gd name="T23" fmla="*/ 7 h 1090"/>
                <a:gd name="T24" fmla="*/ 166 w 343"/>
                <a:gd name="T25" fmla="*/ 2 h 1090"/>
                <a:gd name="T26" fmla="*/ 140 w 343"/>
                <a:gd name="T27" fmla="*/ 0 h 1090"/>
                <a:gd name="T28" fmla="*/ 113 w 343"/>
                <a:gd name="T29" fmla="*/ 0 h 1090"/>
                <a:gd name="T30" fmla="*/ 87 w 343"/>
                <a:gd name="T31" fmla="*/ 2 h 1090"/>
                <a:gd name="T32" fmla="*/ 59 w 343"/>
                <a:gd name="T33" fmla="*/ 7 h 1090"/>
                <a:gd name="T34" fmla="*/ 28 w 343"/>
                <a:gd name="T35" fmla="*/ 11 h 1090"/>
                <a:gd name="T36" fmla="*/ 0 w 343"/>
                <a:gd name="T37" fmla="*/ 20 h 10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343" h="1090">
                  <a:moveTo>
                    <a:pt x="0" y="20"/>
                  </a:moveTo>
                  <a:lnTo>
                    <a:pt x="341" y="1090"/>
                  </a:lnTo>
                  <a:lnTo>
                    <a:pt x="343" y="86"/>
                  </a:lnTo>
                  <a:lnTo>
                    <a:pt x="332" y="75"/>
                  </a:lnTo>
                  <a:lnTo>
                    <a:pt x="319" y="64"/>
                  </a:lnTo>
                  <a:lnTo>
                    <a:pt x="304" y="53"/>
                  </a:lnTo>
                  <a:lnTo>
                    <a:pt x="289" y="42"/>
                  </a:lnTo>
                  <a:lnTo>
                    <a:pt x="271" y="33"/>
                  </a:lnTo>
                  <a:lnTo>
                    <a:pt x="254" y="24"/>
                  </a:lnTo>
                  <a:lnTo>
                    <a:pt x="234" y="18"/>
                  </a:lnTo>
                  <a:lnTo>
                    <a:pt x="212" y="11"/>
                  </a:lnTo>
                  <a:lnTo>
                    <a:pt x="188" y="7"/>
                  </a:lnTo>
                  <a:lnTo>
                    <a:pt x="166" y="2"/>
                  </a:lnTo>
                  <a:lnTo>
                    <a:pt x="140" y="0"/>
                  </a:lnTo>
                  <a:lnTo>
                    <a:pt x="113" y="0"/>
                  </a:lnTo>
                  <a:lnTo>
                    <a:pt x="87" y="2"/>
                  </a:lnTo>
                  <a:lnTo>
                    <a:pt x="59" y="7"/>
                  </a:lnTo>
                  <a:lnTo>
                    <a:pt x="28" y="11"/>
                  </a:lnTo>
                  <a:lnTo>
                    <a:pt x="0" y="20"/>
                  </a:lnTo>
                </a:path>
              </a:pathLst>
            </a:custGeom>
            <a:noFill/>
            <a:ln w="9525">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37" name="Line 38">
              <a:extLst>
                <a:ext uri="{FF2B5EF4-FFF2-40B4-BE49-F238E27FC236}">
                  <a16:creationId xmlns:a16="http://schemas.microsoft.com/office/drawing/2014/main" id="{048D823C-955D-6042-7CEE-564DD4DEF24F}"/>
                </a:ext>
              </a:extLst>
            </p:cNvPr>
            <p:cNvSpPr>
              <a:spLocks noChangeShapeType="1"/>
            </p:cNvSpPr>
            <p:nvPr/>
          </p:nvSpPr>
          <p:spPr bwMode="auto">
            <a:xfrm flipV="1">
              <a:off x="3227" y="2349"/>
              <a:ext cx="571" cy="479"/>
            </a:xfrm>
            <a:prstGeom prst="line">
              <a:avLst/>
            </a:prstGeom>
            <a:noFill/>
            <a:ln w="3175">
              <a:solidFill>
                <a:srgbClr val="1F1A17"/>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38" name="Line 39">
              <a:extLst>
                <a:ext uri="{FF2B5EF4-FFF2-40B4-BE49-F238E27FC236}">
                  <a16:creationId xmlns:a16="http://schemas.microsoft.com/office/drawing/2014/main" id="{06FC4570-EC15-7CC6-6C7E-BB559B60512B}"/>
                </a:ext>
              </a:extLst>
            </p:cNvPr>
            <p:cNvSpPr>
              <a:spLocks noChangeShapeType="1"/>
            </p:cNvSpPr>
            <p:nvPr/>
          </p:nvSpPr>
          <p:spPr bwMode="auto">
            <a:xfrm>
              <a:off x="3676" y="2227"/>
              <a:ext cx="630" cy="849"/>
            </a:xfrm>
            <a:prstGeom prst="line">
              <a:avLst/>
            </a:prstGeom>
            <a:noFill/>
            <a:ln w="3175">
              <a:solidFill>
                <a:srgbClr val="1F1A17"/>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39" name="Freeform 40">
              <a:extLst>
                <a:ext uri="{FF2B5EF4-FFF2-40B4-BE49-F238E27FC236}">
                  <a16:creationId xmlns:a16="http://schemas.microsoft.com/office/drawing/2014/main" id="{71E145AF-EB54-417A-1000-C5DC7C61FFB8}"/>
                </a:ext>
              </a:extLst>
            </p:cNvPr>
            <p:cNvSpPr>
              <a:spLocks/>
            </p:cNvSpPr>
            <p:nvPr/>
          </p:nvSpPr>
          <p:spPr bwMode="auto">
            <a:xfrm>
              <a:off x="3724" y="2198"/>
              <a:ext cx="729" cy="829"/>
            </a:xfrm>
            <a:custGeom>
              <a:avLst/>
              <a:gdLst>
                <a:gd name="T0" fmla="*/ 0 w 729"/>
                <a:gd name="T1" fmla="*/ 94 h 829"/>
                <a:gd name="T2" fmla="*/ 41 w 729"/>
                <a:gd name="T3" fmla="*/ 66 h 829"/>
                <a:gd name="T4" fmla="*/ 85 w 729"/>
                <a:gd name="T5" fmla="*/ 42 h 829"/>
                <a:gd name="T6" fmla="*/ 127 w 729"/>
                <a:gd name="T7" fmla="*/ 24 h 829"/>
                <a:gd name="T8" fmla="*/ 171 w 729"/>
                <a:gd name="T9" fmla="*/ 11 h 829"/>
                <a:gd name="T10" fmla="*/ 212 w 729"/>
                <a:gd name="T11" fmla="*/ 5 h 829"/>
                <a:gd name="T12" fmla="*/ 256 w 729"/>
                <a:gd name="T13" fmla="*/ 0 h 829"/>
                <a:gd name="T14" fmla="*/ 297 w 729"/>
                <a:gd name="T15" fmla="*/ 2 h 829"/>
                <a:gd name="T16" fmla="*/ 339 w 729"/>
                <a:gd name="T17" fmla="*/ 9 h 829"/>
                <a:gd name="T18" fmla="*/ 381 w 729"/>
                <a:gd name="T19" fmla="*/ 18 h 829"/>
                <a:gd name="T20" fmla="*/ 420 w 729"/>
                <a:gd name="T21" fmla="*/ 33 h 829"/>
                <a:gd name="T22" fmla="*/ 457 w 729"/>
                <a:gd name="T23" fmla="*/ 51 h 829"/>
                <a:gd name="T24" fmla="*/ 494 w 729"/>
                <a:gd name="T25" fmla="*/ 70 h 829"/>
                <a:gd name="T26" fmla="*/ 529 w 729"/>
                <a:gd name="T27" fmla="*/ 94 h 829"/>
                <a:gd name="T28" fmla="*/ 562 w 729"/>
                <a:gd name="T29" fmla="*/ 121 h 829"/>
                <a:gd name="T30" fmla="*/ 593 w 729"/>
                <a:gd name="T31" fmla="*/ 151 h 829"/>
                <a:gd name="T32" fmla="*/ 619 w 729"/>
                <a:gd name="T33" fmla="*/ 182 h 829"/>
                <a:gd name="T34" fmla="*/ 645 w 729"/>
                <a:gd name="T35" fmla="*/ 217 h 829"/>
                <a:gd name="T36" fmla="*/ 667 w 729"/>
                <a:gd name="T37" fmla="*/ 252 h 829"/>
                <a:gd name="T38" fmla="*/ 687 w 729"/>
                <a:gd name="T39" fmla="*/ 291 h 829"/>
                <a:gd name="T40" fmla="*/ 702 w 729"/>
                <a:gd name="T41" fmla="*/ 328 h 829"/>
                <a:gd name="T42" fmla="*/ 715 w 729"/>
                <a:gd name="T43" fmla="*/ 370 h 829"/>
                <a:gd name="T44" fmla="*/ 724 w 729"/>
                <a:gd name="T45" fmla="*/ 412 h 829"/>
                <a:gd name="T46" fmla="*/ 729 w 729"/>
                <a:gd name="T47" fmla="*/ 453 h 829"/>
                <a:gd name="T48" fmla="*/ 729 w 729"/>
                <a:gd name="T49" fmla="*/ 497 h 829"/>
                <a:gd name="T50" fmla="*/ 724 w 729"/>
                <a:gd name="T51" fmla="*/ 538 h 829"/>
                <a:gd name="T52" fmla="*/ 715 w 729"/>
                <a:gd name="T53" fmla="*/ 582 h 829"/>
                <a:gd name="T54" fmla="*/ 700 w 729"/>
                <a:gd name="T55" fmla="*/ 626 h 829"/>
                <a:gd name="T56" fmla="*/ 683 w 729"/>
                <a:gd name="T57" fmla="*/ 668 h 829"/>
                <a:gd name="T58" fmla="*/ 656 w 729"/>
                <a:gd name="T59" fmla="*/ 709 h 829"/>
                <a:gd name="T60" fmla="*/ 628 w 729"/>
                <a:gd name="T61" fmla="*/ 751 h 829"/>
                <a:gd name="T62" fmla="*/ 591 w 729"/>
                <a:gd name="T63" fmla="*/ 790 h 829"/>
                <a:gd name="T64" fmla="*/ 549 w 729"/>
                <a:gd name="T65" fmla="*/ 829 h 8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29" h="829">
                  <a:moveTo>
                    <a:pt x="0" y="94"/>
                  </a:moveTo>
                  <a:lnTo>
                    <a:pt x="41" y="66"/>
                  </a:lnTo>
                  <a:lnTo>
                    <a:pt x="85" y="42"/>
                  </a:lnTo>
                  <a:lnTo>
                    <a:pt x="127" y="24"/>
                  </a:lnTo>
                  <a:lnTo>
                    <a:pt x="171" y="11"/>
                  </a:lnTo>
                  <a:lnTo>
                    <a:pt x="212" y="5"/>
                  </a:lnTo>
                  <a:lnTo>
                    <a:pt x="256" y="0"/>
                  </a:lnTo>
                  <a:lnTo>
                    <a:pt x="297" y="2"/>
                  </a:lnTo>
                  <a:lnTo>
                    <a:pt x="339" y="9"/>
                  </a:lnTo>
                  <a:lnTo>
                    <a:pt x="381" y="18"/>
                  </a:lnTo>
                  <a:lnTo>
                    <a:pt x="420" y="33"/>
                  </a:lnTo>
                  <a:lnTo>
                    <a:pt x="457" y="51"/>
                  </a:lnTo>
                  <a:lnTo>
                    <a:pt x="494" y="70"/>
                  </a:lnTo>
                  <a:lnTo>
                    <a:pt x="529" y="94"/>
                  </a:lnTo>
                  <a:lnTo>
                    <a:pt x="562" y="121"/>
                  </a:lnTo>
                  <a:lnTo>
                    <a:pt x="593" y="151"/>
                  </a:lnTo>
                  <a:lnTo>
                    <a:pt x="619" y="182"/>
                  </a:lnTo>
                  <a:lnTo>
                    <a:pt x="645" y="217"/>
                  </a:lnTo>
                  <a:lnTo>
                    <a:pt x="667" y="252"/>
                  </a:lnTo>
                  <a:lnTo>
                    <a:pt x="687" y="291"/>
                  </a:lnTo>
                  <a:lnTo>
                    <a:pt x="702" y="328"/>
                  </a:lnTo>
                  <a:lnTo>
                    <a:pt x="715" y="370"/>
                  </a:lnTo>
                  <a:lnTo>
                    <a:pt x="724" y="412"/>
                  </a:lnTo>
                  <a:lnTo>
                    <a:pt x="729" y="453"/>
                  </a:lnTo>
                  <a:lnTo>
                    <a:pt x="729" y="497"/>
                  </a:lnTo>
                  <a:lnTo>
                    <a:pt x="724" y="538"/>
                  </a:lnTo>
                  <a:lnTo>
                    <a:pt x="715" y="582"/>
                  </a:lnTo>
                  <a:lnTo>
                    <a:pt x="700" y="626"/>
                  </a:lnTo>
                  <a:lnTo>
                    <a:pt x="683" y="668"/>
                  </a:lnTo>
                  <a:lnTo>
                    <a:pt x="656" y="709"/>
                  </a:lnTo>
                  <a:lnTo>
                    <a:pt x="628" y="751"/>
                  </a:lnTo>
                  <a:lnTo>
                    <a:pt x="591" y="790"/>
                  </a:lnTo>
                  <a:lnTo>
                    <a:pt x="549" y="829"/>
                  </a:lnTo>
                </a:path>
              </a:pathLst>
            </a:custGeom>
            <a:noFill/>
            <a:ln w="9525">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40" name="Freeform 41">
              <a:extLst>
                <a:ext uri="{FF2B5EF4-FFF2-40B4-BE49-F238E27FC236}">
                  <a16:creationId xmlns:a16="http://schemas.microsoft.com/office/drawing/2014/main" id="{4937F9C2-4E45-1A67-1B67-3AA43803426F}"/>
                </a:ext>
              </a:extLst>
            </p:cNvPr>
            <p:cNvSpPr>
              <a:spLocks/>
            </p:cNvSpPr>
            <p:nvPr/>
          </p:nvSpPr>
          <p:spPr bwMode="auto">
            <a:xfrm>
              <a:off x="3822" y="2382"/>
              <a:ext cx="462" cy="514"/>
            </a:xfrm>
            <a:custGeom>
              <a:avLst/>
              <a:gdLst>
                <a:gd name="T0" fmla="*/ 0 w 462"/>
                <a:gd name="T1" fmla="*/ 50 h 514"/>
                <a:gd name="T2" fmla="*/ 35 w 462"/>
                <a:gd name="T3" fmla="*/ 33 h 514"/>
                <a:gd name="T4" fmla="*/ 68 w 462"/>
                <a:gd name="T5" fmla="*/ 20 h 514"/>
                <a:gd name="T6" fmla="*/ 101 w 462"/>
                <a:gd name="T7" fmla="*/ 11 h 514"/>
                <a:gd name="T8" fmla="*/ 134 w 462"/>
                <a:gd name="T9" fmla="*/ 4 h 514"/>
                <a:gd name="T10" fmla="*/ 164 w 462"/>
                <a:gd name="T11" fmla="*/ 0 h 514"/>
                <a:gd name="T12" fmla="*/ 193 w 462"/>
                <a:gd name="T13" fmla="*/ 0 h 514"/>
                <a:gd name="T14" fmla="*/ 221 w 462"/>
                <a:gd name="T15" fmla="*/ 4 h 514"/>
                <a:gd name="T16" fmla="*/ 248 w 462"/>
                <a:gd name="T17" fmla="*/ 9 h 514"/>
                <a:gd name="T18" fmla="*/ 274 w 462"/>
                <a:gd name="T19" fmla="*/ 15 h 514"/>
                <a:gd name="T20" fmla="*/ 300 w 462"/>
                <a:gd name="T21" fmla="*/ 26 h 514"/>
                <a:gd name="T22" fmla="*/ 322 w 462"/>
                <a:gd name="T23" fmla="*/ 39 h 514"/>
                <a:gd name="T24" fmla="*/ 344 w 462"/>
                <a:gd name="T25" fmla="*/ 53 h 514"/>
                <a:gd name="T26" fmla="*/ 364 w 462"/>
                <a:gd name="T27" fmla="*/ 70 h 514"/>
                <a:gd name="T28" fmla="*/ 381 w 462"/>
                <a:gd name="T29" fmla="*/ 88 h 514"/>
                <a:gd name="T30" fmla="*/ 399 w 462"/>
                <a:gd name="T31" fmla="*/ 107 h 514"/>
                <a:gd name="T32" fmla="*/ 414 w 462"/>
                <a:gd name="T33" fmla="*/ 127 h 514"/>
                <a:gd name="T34" fmla="*/ 427 w 462"/>
                <a:gd name="T35" fmla="*/ 149 h 514"/>
                <a:gd name="T36" fmla="*/ 438 w 462"/>
                <a:gd name="T37" fmla="*/ 173 h 514"/>
                <a:gd name="T38" fmla="*/ 447 w 462"/>
                <a:gd name="T39" fmla="*/ 197 h 514"/>
                <a:gd name="T40" fmla="*/ 453 w 462"/>
                <a:gd name="T41" fmla="*/ 221 h 514"/>
                <a:gd name="T42" fmla="*/ 458 w 462"/>
                <a:gd name="T43" fmla="*/ 245 h 514"/>
                <a:gd name="T44" fmla="*/ 462 w 462"/>
                <a:gd name="T45" fmla="*/ 271 h 514"/>
                <a:gd name="T46" fmla="*/ 462 w 462"/>
                <a:gd name="T47" fmla="*/ 298 h 514"/>
                <a:gd name="T48" fmla="*/ 460 w 462"/>
                <a:gd name="T49" fmla="*/ 324 h 514"/>
                <a:gd name="T50" fmla="*/ 455 w 462"/>
                <a:gd name="T51" fmla="*/ 350 h 514"/>
                <a:gd name="T52" fmla="*/ 449 w 462"/>
                <a:gd name="T53" fmla="*/ 374 h 514"/>
                <a:gd name="T54" fmla="*/ 440 w 462"/>
                <a:gd name="T55" fmla="*/ 400 h 514"/>
                <a:gd name="T56" fmla="*/ 427 w 462"/>
                <a:gd name="T57" fmla="*/ 424 h 514"/>
                <a:gd name="T58" fmla="*/ 414 w 462"/>
                <a:gd name="T59" fmla="*/ 449 h 514"/>
                <a:gd name="T60" fmla="*/ 396 w 462"/>
                <a:gd name="T61" fmla="*/ 470 h 514"/>
                <a:gd name="T62" fmla="*/ 375 w 462"/>
                <a:gd name="T63" fmla="*/ 492 h 514"/>
                <a:gd name="T64" fmla="*/ 353 w 462"/>
                <a:gd name="T65" fmla="*/ 514 h 5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62" h="514">
                  <a:moveTo>
                    <a:pt x="0" y="50"/>
                  </a:moveTo>
                  <a:lnTo>
                    <a:pt x="35" y="33"/>
                  </a:lnTo>
                  <a:lnTo>
                    <a:pt x="68" y="20"/>
                  </a:lnTo>
                  <a:lnTo>
                    <a:pt x="101" y="11"/>
                  </a:lnTo>
                  <a:lnTo>
                    <a:pt x="134" y="4"/>
                  </a:lnTo>
                  <a:lnTo>
                    <a:pt x="164" y="0"/>
                  </a:lnTo>
                  <a:lnTo>
                    <a:pt x="193" y="0"/>
                  </a:lnTo>
                  <a:lnTo>
                    <a:pt x="221" y="4"/>
                  </a:lnTo>
                  <a:lnTo>
                    <a:pt x="248" y="9"/>
                  </a:lnTo>
                  <a:lnTo>
                    <a:pt x="274" y="15"/>
                  </a:lnTo>
                  <a:lnTo>
                    <a:pt x="300" y="26"/>
                  </a:lnTo>
                  <a:lnTo>
                    <a:pt x="322" y="39"/>
                  </a:lnTo>
                  <a:lnTo>
                    <a:pt x="344" y="53"/>
                  </a:lnTo>
                  <a:lnTo>
                    <a:pt x="364" y="70"/>
                  </a:lnTo>
                  <a:lnTo>
                    <a:pt x="381" y="88"/>
                  </a:lnTo>
                  <a:lnTo>
                    <a:pt x="399" y="107"/>
                  </a:lnTo>
                  <a:lnTo>
                    <a:pt x="414" y="127"/>
                  </a:lnTo>
                  <a:lnTo>
                    <a:pt x="427" y="149"/>
                  </a:lnTo>
                  <a:lnTo>
                    <a:pt x="438" y="173"/>
                  </a:lnTo>
                  <a:lnTo>
                    <a:pt x="447" y="197"/>
                  </a:lnTo>
                  <a:lnTo>
                    <a:pt x="453" y="221"/>
                  </a:lnTo>
                  <a:lnTo>
                    <a:pt x="458" y="245"/>
                  </a:lnTo>
                  <a:lnTo>
                    <a:pt x="462" y="271"/>
                  </a:lnTo>
                  <a:lnTo>
                    <a:pt x="462" y="298"/>
                  </a:lnTo>
                  <a:lnTo>
                    <a:pt x="460" y="324"/>
                  </a:lnTo>
                  <a:lnTo>
                    <a:pt x="455" y="350"/>
                  </a:lnTo>
                  <a:lnTo>
                    <a:pt x="449" y="374"/>
                  </a:lnTo>
                  <a:lnTo>
                    <a:pt x="440" y="400"/>
                  </a:lnTo>
                  <a:lnTo>
                    <a:pt x="427" y="424"/>
                  </a:lnTo>
                  <a:lnTo>
                    <a:pt x="414" y="449"/>
                  </a:lnTo>
                  <a:lnTo>
                    <a:pt x="396" y="470"/>
                  </a:lnTo>
                  <a:lnTo>
                    <a:pt x="375" y="492"/>
                  </a:lnTo>
                  <a:lnTo>
                    <a:pt x="353" y="514"/>
                  </a:lnTo>
                </a:path>
              </a:pathLst>
            </a:custGeom>
            <a:noFill/>
            <a:ln w="9525">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41" name="Freeform 42">
              <a:extLst>
                <a:ext uri="{FF2B5EF4-FFF2-40B4-BE49-F238E27FC236}">
                  <a16:creationId xmlns:a16="http://schemas.microsoft.com/office/drawing/2014/main" id="{0CBD4635-695C-1BBE-97F7-AFDC5D74549C}"/>
                </a:ext>
              </a:extLst>
            </p:cNvPr>
            <p:cNvSpPr>
              <a:spLocks/>
            </p:cNvSpPr>
            <p:nvPr/>
          </p:nvSpPr>
          <p:spPr bwMode="auto">
            <a:xfrm>
              <a:off x="3763" y="2286"/>
              <a:ext cx="604" cy="733"/>
            </a:xfrm>
            <a:custGeom>
              <a:avLst/>
              <a:gdLst>
                <a:gd name="T0" fmla="*/ 0 w 604"/>
                <a:gd name="T1" fmla="*/ 87 h 733"/>
                <a:gd name="T2" fmla="*/ 37 w 604"/>
                <a:gd name="T3" fmla="*/ 61 h 733"/>
                <a:gd name="T4" fmla="*/ 75 w 604"/>
                <a:gd name="T5" fmla="*/ 39 h 733"/>
                <a:gd name="T6" fmla="*/ 112 w 604"/>
                <a:gd name="T7" fmla="*/ 22 h 733"/>
                <a:gd name="T8" fmla="*/ 149 w 604"/>
                <a:gd name="T9" fmla="*/ 11 h 733"/>
                <a:gd name="T10" fmla="*/ 186 w 604"/>
                <a:gd name="T11" fmla="*/ 2 h 733"/>
                <a:gd name="T12" fmla="*/ 223 w 604"/>
                <a:gd name="T13" fmla="*/ 0 h 733"/>
                <a:gd name="T14" fmla="*/ 258 w 604"/>
                <a:gd name="T15" fmla="*/ 0 h 733"/>
                <a:gd name="T16" fmla="*/ 293 w 604"/>
                <a:gd name="T17" fmla="*/ 4 h 733"/>
                <a:gd name="T18" fmla="*/ 329 w 604"/>
                <a:gd name="T19" fmla="*/ 13 h 733"/>
                <a:gd name="T20" fmla="*/ 359 w 604"/>
                <a:gd name="T21" fmla="*/ 24 h 733"/>
                <a:gd name="T22" fmla="*/ 392 w 604"/>
                <a:gd name="T23" fmla="*/ 39 h 733"/>
                <a:gd name="T24" fmla="*/ 420 w 604"/>
                <a:gd name="T25" fmla="*/ 57 h 733"/>
                <a:gd name="T26" fmla="*/ 449 w 604"/>
                <a:gd name="T27" fmla="*/ 79 h 733"/>
                <a:gd name="T28" fmla="*/ 475 w 604"/>
                <a:gd name="T29" fmla="*/ 100 h 733"/>
                <a:gd name="T30" fmla="*/ 499 w 604"/>
                <a:gd name="T31" fmla="*/ 127 h 733"/>
                <a:gd name="T32" fmla="*/ 521 w 604"/>
                <a:gd name="T33" fmla="*/ 153 h 733"/>
                <a:gd name="T34" fmla="*/ 541 w 604"/>
                <a:gd name="T35" fmla="*/ 184 h 733"/>
                <a:gd name="T36" fmla="*/ 558 w 604"/>
                <a:gd name="T37" fmla="*/ 214 h 733"/>
                <a:gd name="T38" fmla="*/ 574 w 604"/>
                <a:gd name="T39" fmla="*/ 245 h 733"/>
                <a:gd name="T40" fmla="*/ 587 w 604"/>
                <a:gd name="T41" fmla="*/ 280 h 733"/>
                <a:gd name="T42" fmla="*/ 595 w 604"/>
                <a:gd name="T43" fmla="*/ 313 h 733"/>
                <a:gd name="T44" fmla="*/ 602 w 604"/>
                <a:gd name="T45" fmla="*/ 348 h 733"/>
                <a:gd name="T46" fmla="*/ 604 w 604"/>
                <a:gd name="T47" fmla="*/ 383 h 733"/>
                <a:gd name="T48" fmla="*/ 604 w 604"/>
                <a:gd name="T49" fmla="*/ 420 h 733"/>
                <a:gd name="T50" fmla="*/ 600 w 604"/>
                <a:gd name="T51" fmla="*/ 455 h 733"/>
                <a:gd name="T52" fmla="*/ 591 w 604"/>
                <a:gd name="T53" fmla="*/ 490 h 733"/>
                <a:gd name="T54" fmla="*/ 580 w 604"/>
                <a:gd name="T55" fmla="*/ 525 h 733"/>
                <a:gd name="T56" fmla="*/ 565 w 604"/>
                <a:gd name="T57" fmla="*/ 560 h 733"/>
                <a:gd name="T58" fmla="*/ 545 w 604"/>
                <a:gd name="T59" fmla="*/ 593 h 733"/>
                <a:gd name="T60" fmla="*/ 521 w 604"/>
                <a:gd name="T61" fmla="*/ 625 h 733"/>
                <a:gd name="T62" fmla="*/ 493 w 604"/>
                <a:gd name="T63" fmla="*/ 656 h 733"/>
                <a:gd name="T64" fmla="*/ 458 w 604"/>
                <a:gd name="T65" fmla="*/ 685 h 733"/>
                <a:gd name="T66" fmla="*/ 420 w 604"/>
                <a:gd name="T67" fmla="*/ 733 h 7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04" h="733">
                  <a:moveTo>
                    <a:pt x="0" y="87"/>
                  </a:moveTo>
                  <a:lnTo>
                    <a:pt x="37" y="61"/>
                  </a:lnTo>
                  <a:lnTo>
                    <a:pt x="75" y="39"/>
                  </a:lnTo>
                  <a:lnTo>
                    <a:pt x="112" y="22"/>
                  </a:lnTo>
                  <a:lnTo>
                    <a:pt x="149" y="11"/>
                  </a:lnTo>
                  <a:lnTo>
                    <a:pt x="186" y="2"/>
                  </a:lnTo>
                  <a:lnTo>
                    <a:pt x="223" y="0"/>
                  </a:lnTo>
                  <a:lnTo>
                    <a:pt x="258" y="0"/>
                  </a:lnTo>
                  <a:lnTo>
                    <a:pt x="293" y="4"/>
                  </a:lnTo>
                  <a:lnTo>
                    <a:pt x="329" y="13"/>
                  </a:lnTo>
                  <a:lnTo>
                    <a:pt x="359" y="24"/>
                  </a:lnTo>
                  <a:lnTo>
                    <a:pt x="392" y="39"/>
                  </a:lnTo>
                  <a:lnTo>
                    <a:pt x="420" y="57"/>
                  </a:lnTo>
                  <a:lnTo>
                    <a:pt x="449" y="79"/>
                  </a:lnTo>
                  <a:lnTo>
                    <a:pt x="475" y="100"/>
                  </a:lnTo>
                  <a:lnTo>
                    <a:pt x="499" y="127"/>
                  </a:lnTo>
                  <a:lnTo>
                    <a:pt x="521" y="153"/>
                  </a:lnTo>
                  <a:lnTo>
                    <a:pt x="541" y="184"/>
                  </a:lnTo>
                  <a:lnTo>
                    <a:pt x="558" y="214"/>
                  </a:lnTo>
                  <a:lnTo>
                    <a:pt x="574" y="245"/>
                  </a:lnTo>
                  <a:lnTo>
                    <a:pt x="587" y="280"/>
                  </a:lnTo>
                  <a:lnTo>
                    <a:pt x="595" y="313"/>
                  </a:lnTo>
                  <a:lnTo>
                    <a:pt x="602" y="348"/>
                  </a:lnTo>
                  <a:lnTo>
                    <a:pt x="604" y="383"/>
                  </a:lnTo>
                  <a:lnTo>
                    <a:pt x="604" y="420"/>
                  </a:lnTo>
                  <a:lnTo>
                    <a:pt x="600" y="455"/>
                  </a:lnTo>
                  <a:lnTo>
                    <a:pt x="591" y="490"/>
                  </a:lnTo>
                  <a:lnTo>
                    <a:pt x="580" y="525"/>
                  </a:lnTo>
                  <a:lnTo>
                    <a:pt x="565" y="560"/>
                  </a:lnTo>
                  <a:lnTo>
                    <a:pt x="545" y="593"/>
                  </a:lnTo>
                  <a:lnTo>
                    <a:pt x="521" y="625"/>
                  </a:lnTo>
                  <a:lnTo>
                    <a:pt x="493" y="656"/>
                  </a:lnTo>
                  <a:lnTo>
                    <a:pt x="458" y="685"/>
                  </a:lnTo>
                  <a:lnTo>
                    <a:pt x="420" y="733"/>
                  </a:lnTo>
                </a:path>
              </a:pathLst>
            </a:custGeom>
            <a:noFill/>
            <a:ln w="9525">
              <a:solidFill>
                <a:srgbClr val="DC2B19"/>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42" name="Freeform 43">
              <a:extLst>
                <a:ext uri="{FF2B5EF4-FFF2-40B4-BE49-F238E27FC236}">
                  <a16:creationId xmlns:a16="http://schemas.microsoft.com/office/drawing/2014/main" id="{1E096160-0155-7608-0A97-EFC5306E82D7}"/>
                </a:ext>
              </a:extLst>
            </p:cNvPr>
            <p:cNvSpPr>
              <a:spLocks/>
            </p:cNvSpPr>
            <p:nvPr/>
          </p:nvSpPr>
          <p:spPr bwMode="auto">
            <a:xfrm>
              <a:off x="3781" y="2421"/>
              <a:ext cx="41" cy="38"/>
            </a:xfrm>
            <a:custGeom>
              <a:avLst/>
              <a:gdLst>
                <a:gd name="T0" fmla="*/ 0 w 41"/>
                <a:gd name="T1" fmla="*/ 38 h 38"/>
                <a:gd name="T2" fmla="*/ 39 w 41"/>
                <a:gd name="T3" fmla="*/ 0 h 38"/>
                <a:gd name="T4" fmla="*/ 41 w 41"/>
                <a:gd name="T5" fmla="*/ 3 h 38"/>
                <a:gd name="T6" fmla="*/ 0 w 41"/>
                <a:gd name="T7" fmla="*/ 38 h 38"/>
              </a:gdLst>
              <a:ahLst/>
              <a:cxnLst>
                <a:cxn ang="0">
                  <a:pos x="T0" y="T1"/>
                </a:cxn>
                <a:cxn ang="0">
                  <a:pos x="T2" y="T3"/>
                </a:cxn>
                <a:cxn ang="0">
                  <a:pos x="T4" y="T5"/>
                </a:cxn>
                <a:cxn ang="0">
                  <a:pos x="T6" y="T7"/>
                </a:cxn>
              </a:cxnLst>
              <a:rect l="0" t="0" r="r" b="b"/>
              <a:pathLst>
                <a:path w="41" h="38">
                  <a:moveTo>
                    <a:pt x="0" y="38"/>
                  </a:moveTo>
                  <a:lnTo>
                    <a:pt x="39" y="0"/>
                  </a:lnTo>
                  <a:lnTo>
                    <a:pt x="41" y="3"/>
                  </a:lnTo>
                  <a:lnTo>
                    <a:pt x="0" y="38"/>
                  </a:lnTo>
                  <a:close/>
                </a:path>
              </a:pathLst>
            </a:custGeom>
            <a:solidFill>
              <a:srgbClr val="CFC8E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43" name="Freeform 44">
              <a:extLst>
                <a:ext uri="{FF2B5EF4-FFF2-40B4-BE49-F238E27FC236}">
                  <a16:creationId xmlns:a16="http://schemas.microsoft.com/office/drawing/2014/main" id="{682FD8AD-8217-4B84-8736-AAE1DE9FB80F}"/>
                </a:ext>
              </a:extLst>
            </p:cNvPr>
            <p:cNvSpPr>
              <a:spLocks/>
            </p:cNvSpPr>
            <p:nvPr/>
          </p:nvSpPr>
          <p:spPr bwMode="auto">
            <a:xfrm>
              <a:off x="3755" y="2419"/>
              <a:ext cx="65" cy="64"/>
            </a:xfrm>
            <a:custGeom>
              <a:avLst/>
              <a:gdLst>
                <a:gd name="T0" fmla="*/ 65 w 65"/>
                <a:gd name="T1" fmla="*/ 5 h 64"/>
                <a:gd name="T2" fmla="*/ 52 w 65"/>
                <a:gd name="T3" fmla="*/ 18 h 64"/>
                <a:gd name="T4" fmla="*/ 0 w 65"/>
                <a:gd name="T5" fmla="*/ 64 h 64"/>
                <a:gd name="T6" fmla="*/ 63 w 65"/>
                <a:gd name="T7" fmla="*/ 0 h 64"/>
                <a:gd name="T8" fmla="*/ 65 w 65"/>
                <a:gd name="T9" fmla="*/ 5 h 64"/>
              </a:gdLst>
              <a:ahLst/>
              <a:cxnLst>
                <a:cxn ang="0">
                  <a:pos x="T0" y="T1"/>
                </a:cxn>
                <a:cxn ang="0">
                  <a:pos x="T2" y="T3"/>
                </a:cxn>
                <a:cxn ang="0">
                  <a:pos x="T4" y="T5"/>
                </a:cxn>
                <a:cxn ang="0">
                  <a:pos x="T6" y="T7"/>
                </a:cxn>
                <a:cxn ang="0">
                  <a:pos x="T8" y="T9"/>
                </a:cxn>
              </a:cxnLst>
              <a:rect l="0" t="0" r="r" b="b"/>
              <a:pathLst>
                <a:path w="65" h="64">
                  <a:moveTo>
                    <a:pt x="65" y="5"/>
                  </a:moveTo>
                  <a:lnTo>
                    <a:pt x="52" y="18"/>
                  </a:lnTo>
                  <a:lnTo>
                    <a:pt x="0" y="64"/>
                  </a:lnTo>
                  <a:lnTo>
                    <a:pt x="63" y="0"/>
                  </a:lnTo>
                  <a:lnTo>
                    <a:pt x="65" y="5"/>
                  </a:lnTo>
                  <a:close/>
                </a:path>
              </a:pathLst>
            </a:custGeom>
            <a:solidFill>
              <a:srgbClr val="CFC8E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44" name="Freeform 45">
              <a:extLst>
                <a:ext uri="{FF2B5EF4-FFF2-40B4-BE49-F238E27FC236}">
                  <a16:creationId xmlns:a16="http://schemas.microsoft.com/office/drawing/2014/main" id="{F5102ABD-B5F8-CD73-D227-33D4BEB89147}"/>
                </a:ext>
              </a:extLst>
            </p:cNvPr>
            <p:cNvSpPr>
              <a:spLocks/>
            </p:cNvSpPr>
            <p:nvPr/>
          </p:nvSpPr>
          <p:spPr bwMode="auto">
            <a:xfrm>
              <a:off x="3726" y="2417"/>
              <a:ext cx="94" cy="90"/>
            </a:xfrm>
            <a:custGeom>
              <a:avLst/>
              <a:gdLst>
                <a:gd name="T0" fmla="*/ 94 w 94"/>
                <a:gd name="T1" fmla="*/ 4 h 90"/>
                <a:gd name="T2" fmla="*/ 55 w 94"/>
                <a:gd name="T3" fmla="*/ 42 h 90"/>
                <a:gd name="T4" fmla="*/ 0 w 94"/>
                <a:gd name="T5" fmla="*/ 90 h 90"/>
                <a:gd name="T6" fmla="*/ 90 w 94"/>
                <a:gd name="T7" fmla="*/ 0 h 90"/>
                <a:gd name="T8" fmla="*/ 94 w 94"/>
                <a:gd name="T9" fmla="*/ 4 h 90"/>
              </a:gdLst>
              <a:ahLst/>
              <a:cxnLst>
                <a:cxn ang="0">
                  <a:pos x="T0" y="T1"/>
                </a:cxn>
                <a:cxn ang="0">
                  <a:pos x="T2" y="T3"/>
                </a:cxn>
                <a:cxn ang="0">
                  <a:pos x="T4" y="T5"/>
                </a:cxn>
                <a:cxn ang="0">
                  <a:pos x="T6" y="T7"/>
                </a:cxn>
                <a:cxn ang="0">
                  <a:pos x="T8" y="T9"/>
                </a:cxn>
              </a:cxnLst>
              <a:rect l="0" t="0" r="r" b="b"/>
              <a:pathLst>
                <a:path w="94" h="90">
                  <a:moveTo>
                    <a:pt x="94" y="4"/>
                  </a:moveTo>
                  <a:lnTo>
                    <a:pt x="55" y="42"/>
                  </a:lnTo>
                  <a:lnTo>
                    <a:pt x="0" y="90"/>
                  </a:lnTo>
                  <a:lnTo>
                    <a:pt x="90" y="0"/>
                  </a:lnTo>
                  <a:lnTo>
                    <a:pt x="94" y="4"/>
                  </a:lnTo>
                  <a:close/>
                </a:path>
              </a:pathLst>
            </a:custGeom>
            <a:solidFill>
              <a:srgbClr val="CFC8E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45" name="Freeform 46">
              <a:extLst>
                <a:ext uri="{FF2B5EF4-FFF2-40B4-BE49-F238E27FC236}">
                  <a16:creationId xmlns:a16="http://schemas.microsoft.com/office/drawing/2014/main" id="{7474C7CE-59E9-B904-F068-9A19631CB4C8}"/>
                </a:ext>
              </a:extLst>
            </p:cNvPr>
            <p:cNvSpPr>
              <a:spLocks/>
            </p:cNvSpPr>
            <p:nvPr/>
          </p:nvSpPr>
          <p:spPr bwMode="auto">
            <a:xfrm>
              <a:off x="3700" y="2415"/>
              <a:ext cx="118" cy="114"/>
            </a:xfrm>
            <a:custGeom>
              <a:avLst/>
              <a:gdLst>
                <a:gd name="T0" fmla="*/ 118 w 118"/>
                <a:gd name="T1" fmla="*/ 4 h 114"/>
                <a:gd name="T2" fmla="*/ 55 w 118"/>
                <a:gd name="T3" fmla="*/ 68 h 114"/>
                <a:gd name="T4" fmla="*/ 0 w 118"/>
                <a:gd name="T5" fmla="*/ 114 h 114"/>
                <a:gd name="T6" fmla="*/ 114 w 118"/>
                <a:gd name="T7" fmla="*/ 0 h 114"/>
                <a:gd name="T8" fmla="*/ 118 w 118"/>
                <a:gd name="T9" fmla="*/ 4 h 114"/>
              </a:gdLst>
              <a:ahLst/>
              <a:cxnLst>
                <a:cxn ang="0">
                  <a:pos x="T0" y="T1"/>
                </a:cxn>
                <a:cxn ang="0">
                  <a:pos x="T2" y="T3"/>
                </a:cxn>
                <a:cxn ang="0">
                  <a:pos x="T4" y="T5"/>
                </a:cxn>
                <a:cxn ang="0">
                  <a:pos x="T6" y="T7"/>
                </a:cxn>
                <a:cxn ang="0">
                  <a:pos x="T8" y="T9"/>
                </a:cxn>
              </a:cxnLst>
              <a:rect l="0" t="0" r="r" b="b"/>
              <a:pathLst>
                <a:path w="118" h="114">
                  <a:moveTo>
                    <a:pt x="118" y="4"/>
                  </a:moveTo>
                  <a:lnTo>
                    <a:pt x="55" y="68"/>
                  </a:lnTo>
                  <a:lnTo>
                    <a:pt x="0" y="114"/>
                  </a:lnTo>
                  <a:lnTo>
                    <a:pt x="114" y="0"/>
                  </a:lnTo>
                  <a:lnTo>
                    <a:pt x="118" y="4"/>
                  </a:lnTo>
                  <a:close/>
                </a:path>
              </a:pathLst>
            </a:custGeom>
            <a:solidFill>
              <a:srgbClr val="CFC8E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46" name="Freeform 47">
              <a:extLst>
                <a:ext uri="{FF2B5EF4-FFF2-40B4-BE49-F238E27FC236}">
                  <a16:creationId xmlns:a16="http://schemas.microsoft.com/office/drawing/2014/main" id="{367EAED7-25F1-88C1-6872-78F3CD3A4415}"/>
                </a:ext>
              </a:extLst>
            </p:cNvPr>
            <p:cNvSpPr>
              <a:spLocks/>
            </p:cNvSpPr>
            <p:nvPr/>
          </p:nvSpPr>
          <p:spPr bwMode="auto">
            <a:xfrm>
              <a:off x="3674" y="2413"/>
              <a:ext cx="142" cy="140"/>
            </a:xfrm>
            <a:custGeom>
              <a:avLst/>
              <a:gdLst>
                <a:gd name="T0" fmla="*/ 142 w 142"/>
                <a:gd name="T1" fmla="*/ 4 h 140"/>
                <a:gd name="T2" fmla="*/ 52 w 142"/>
                <a:gd name="T3" fmla="*/ 94 h 140"/>
                <a:gd name="T4" fmla="*/ 0 w 142"/>
                <a:gd name="T5" fmla="*/ 140 h 140"/>
                <a:gd name="T6" fmla="*/ 140 w 142"/>
                <a:gd name="T7" fmla="*/ 0 h 140"/>
                <a:gd name="T8" fmla="*/ 142 w 142"/>
                <a:gd name="T9" fmla="*/ 4 h 140"/>
              </a:gdLst>
              <a:ahLst/>
              <a:cxnLst>
                <a:cxn ang="0">
                  <a:pos x="T0" y="T1"/>
                </a:cxn>
                <a:cxn ang="0">
                  <a:pos x="T2" y="T3"/>
                </a:cxn>
                <a:cxn ang="0">
                  <a:pos x="T4" y="T5"/>
                </a:cxn>
                <a:cxn ang="0">
                  <a:pos x="T6" y="T7"/>
                </a:cxn>
                <a:cxn ang="0">
                  <a:pos x="T8" y="T9"/>
                </a:cxn>
              </a:cxnLst>
              <a:rect l="0" t="0" r="r" b="b"/>
              <a:pathLst>
                <a:path w="142" h="140">
                  <a:moveTo>
                    <a:pt x="142" y="4"/>
                  </a:moveTo>
                  <a:lnTo>
                    <a:pt x="52" y="94"/>
                  </a:lnTo>
                  <a:lnTo>
                    <a:pt x="0" y="140"/>
                  </a:lnTo>
                  <a:lnTo>
                    <a:pt x="140" y="0"/>
                  </a:lnTo>
                  <a:lnTo>
                    <a:pt x="142" y="4"/>
                  </a:lnTo>
                  <a:close/>
                </a:path>
              </a:pathLst>
            </a:custGeom>
            <a:solidFill>
              <a:srgbClr val="CFC8E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47" name="Freeform 48">
              <a:extLst>
                <a:ext uri="{FF2B5EF4-FFF2-40B4-BE49-F238E27FC236}">
                  <a16:creationId xmlns:a16="http://schemas.microsoft.com/office/drawing/2014/main" id="{DA6083BB-5668-4F2A-1107-3518DF1EF8E4}"/>
                </a:ext>
              </a:extLst>
            </p:cNvPr>
            <p:cNvSpPr>
              <a:spLocks/>
            </p:cNvSpPr>
            <p:nvPr/>
          </p:nvSpPr>
          <p:spPr bwMode="auto">
            <a:xfrm>
              <a:off x="3645" y="2411"/>
              <a:ext cx="169" cy="164"/>
            </a:xfrm>
            <a:custGeom>
              <a:avLst/>
              <a:gdLst>
                <a:gd name="T0" fmla="*/ 169 w 169"/>
                <a:gd name="T1" fmla="*/ 4 h 164"/>
                <a:gd name="T2" fmla="*/ 55 w 169"/>
                <a:gd name="T3" fmla="*/ 118 h 164"/>
                <a:gd name="T4" fmla="*/ 0 w 169"/>
                <a:gd name="T5" fmla="*/ 164 h 164"/>
                <a:gd name="T6" fmla="*/ 166 w 169"/>
                <a:gd name="T7" fmla="*/ 0 h 164"/>
                <a:gd name="T8" fmla="*/ 169 w 169"/>
                <a:gd name="T9" fmla="*/ 4 h 164"/>
              </a:gdLst>
              <a:ahLst/>
              <a:cxnLst>
                <a:cxn ang="0">
                  <a:pos x="T0" y="T1"/>
                </a:cxn>
                <a:cxn ang="0">
                  <a:pos x="T2" y="T3"/>
                </a:cxn>
                <a:cxn ang="0">
                  <a:pos x="T4" y="T5"/>
                </a:cxn>
                <a:cxn ang="0">
                  <a:pos x="T6" y="T7"/>
                </a:cxn>
                <a:cxn ang="0">
                  <a:pos x="T8" y="T9"/>
                </a:cxn>
              </a:cxnLst>
              <a:rect l="0" t="0" r="r" b="b"/>
              <a:pathLst>
                <a:path w="169" h="164">
                  <a:moveTo>
                    <a:pt x="169" y="4"/>
                  </a:moveTo>
                  <a:lnTo>
                    <a:pt x="55" y="118"/>
                  </a:lnTo>
                  <a:lnTo>
                    <a:pt x="0" y="164"/>
                  </a:lnTo>
                  <a:lnTo>
                    <a:pt x="166" y="0"/>
                  </a:lnTo>
                  <a:lnTo>
                    <a:pt x="169" y="4"/>
                  </a:lnTo>
                  <a:close/>
                </a:path>
              </a:pathLst>
            </a:custGeom>
            <a:solidFill>
              <a:srgbClr val="CFC8E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48" name="Freeform 49">
              <a:extLst>
                <a:ext uri="{FF2B5EF4-FFF2-40B4-BE49-F238E27FC236}">
                  <a16:creationId xmlns:a16="http://schemas.microsoft.com/office/drawing/2014/main" id="{E8ACC980-8574-0510-43F5-BD1C080D3727}"/>
                </a:ext>
              </a:extLst>
            </p:cNvPr>
            <p:cNvSpPr>
              <a:spLocks/>
            </p:cNvSpPr>
            <p:nvPr/>
          </p:nvSpPr>
          <p:spPr bwMode="auto">
            <a:xfrm>
              <a:off x="3619" y="2408"/>
              <a:ext cx="195" cy="191"/>
            </a:xfrm>
            <a:custGeom>
              <a:avLst/>
              <a:gdLst>
                <a:gd name="T0" fmla="*/ 195 w 195"/>
                <a:gd name="T1" fmla="*/ 5 h 191"/>
                <a:gd name="T2" fmla="*/ 55 w 195"/>
                <a:gd name="T3" fmla="*/ 145 h 191"/>
                <a:gd name="T4" fmla="*/ 0 w 195"/>
                <a:gd name="T5" fmla="*/ 191 h 191"/>
                <a:gd name="T6" fmla="*/ 190 w 195"/>
                <a:gd name="T7" fmla="*/ 0 h 191"/>
                <a:gd name="T8" fmla="*/ 195 w 195"/>
                <a:gd name="T9" fmla="*/ 5 h 191"/>
              </a:gdLst>
              <a:ahLst/>
              <a:cxnLst>
                <a:cxn ang="0">
                  <a:pos x="T0" y="T1"/>
                </a:cxn>
                <a:cxn ang="0">
                  <a:pos x="T2" y="T3"/>
                </a:cxn>
                <a:cxn ang="0">
                  <a:pos x="T4" y="T5"/>
                </a:cxn>
                <a:cxn ang="0">
                  <a:pos x="T6" y="T7"/>
                </a:cxn>
                <a:cxn ang="0">
                  <a:pos x="T8" y="T9"/>
                </a:cxn>
              </a:cxnLst>
              <a:rect l="0" t="0" r="r" b="b"/>
              <a:pathLst>
                <a:path w="195" h="191">
                  <a:moveTo>
                    <a:pt x="195" y="5"/>
                  </a:moveTo>
                  <a:lnTo>
                    <a:pt x="55" y="145"/>
                  </a:lnTo>
                  <a:lnTo>
                    <a:pt x="0" y="191"/>
                  </a:lnTo>
                  <a:lnTo>
                    <a:pt x="190" y="0"/>
                  </a:lnTo>
                  <a:lnTo>
                    <a:pt x="195" y="5"/>
                  </a:lnTo>
                  <a:close/>
                </a:path>
              </a:pathLst>
            </a:custGeom>
            <a:solidFill>
              <a:srgbClr val="CFC8E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49" name="Freeform 50">
              <a:extLst>
                <a:ext uri="{FF2B5EF4-FFF2-40B4-BE49-F238E27FC236}">
                  <a16:creationId xmlns:a16="http://schemas.microsoft.com/office/drawing/2014/main" id="{2EB35878-5C76-B1DF-F09B-65B4E23C74B0}"/>
                </a:ext>
              </a:extLst>
            </p:cNvPr>
            <p:cNvSpPr>
              <a:spLocks/>
            </p:cNvSpPr>
            <p:nvPr/>
          </p:nvSpPr>
          <p:spPr bwMode="auto">
            <a:xfrm>
              <a:off x="3593" y="2406"/>
              <a:ext cx="218" cy="217"/>
            </a:xfrm>
            <a:custGeom>
              <a:avLst/>
              <a:gdLst>
                <a:gd name="T0" fmla="*/ 218 w 218"/>
                <a:gd name="T1" fmla="*/ 5 h 217"/>
                <a:gd name="T2" fmla="*/ 52 w 218"/>
                <a:gd name="T3" fmla="*/ 169 h 217"/>
                <a:gd name="T4" fmla="*/ 0 w 218"/>
                <a:gd name="T5" fmla="*/ 217 h 217"/>
                <a:gd name="T6" fmla="*/ 216 w 218"/>
                <a:gd name="T7" fmla="*/ 0 h 217"/>
                <a:gd name="T8" fmla="*/ 218 w 218"/>
                <a:gd name="T9" fmla="*/ 5 h 217"/>
              </a:gdLst>
              <a:ahLst/>
              <a:cxnLst>
                <a:cxn ang="0">
                  <a:pos x="T0" y="T1"/>
                </a:cxn>
                <a:cxn ang="0">
                  <a:pos x="T2" y="T3"/>
                </a:cxn>
                <a:cxn ang="0">
                  <a:pos x="T4" y="T5"/>
                </a:cxn>
                <a:cxn ang="0">
                  <a:pos x="T6" y="T7"/>
                </a:cxn>
                <a:cxn ang="0">
                  <a:pos x="T8" y="T9"/>
                </a:cxn>
              </a:cxnLst>
              <a:rect l="0" t="0" r="r" b="b"/>
              <a:pathLst>
                <a:path w="218" h="217">
                  <a:moveTo>
                    <a:pt x="218" y="5"/>
                  </a:moveTo>
                  <a:lnTo>
                    <a:pt x="52" y="169"/>
                  </a:lnTo>
                  <a:lnTo>
                    <a:pt x="0" y="217"/>
                  </a:lnTo>
                  <a:lnTo>
                    <a:pt x="216" y="0"/>
                  </a:lnTo>
                  <a:lnTo>
                    <a:pt x="218" y="5"/>
                  </a:lnTo>
                  <a:close/>
                </a:path>
              </a:pathLst>
            </a:custGeom>
            <a:solidFill>
              <a:srgbClr val="CFC8E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50" name="Freeform 51">
              <a:extLst>
                <a:ext uri="{FF2B5EF4-FFF2-40B4-BE49-F238E27FC236}">
                  <a16:creationId xmlns:a16="http://schemas.microsoft.com/office/drawing/2014/main" id="{F0A89007-A0C7-6D92-99CD-970B062EB9A2}"/>
                </a:ext>
              </a:extLst>
            </p:cNvPr>
            <p:cNvSpPr>
              <a:spLocks/>
            </p:cNvSpPr>
            <p:nvPr/>
          </p:nvSpPr>
          <p:spPr bwMode="auto">
            <a:xfrm>
              <a:off x="3564" y="2404"/>
              <a:ext cx="245" cy="241"/>
            </a:xfrm>
            <a:custGeom>
              <a:avLst/>
              <a:gdLst>
                <a:gd name="T0" fmla="*/ 245 w 245"/>
                <a:gd name="T1" fmla="*/ 4 h 241"/>
                <a:gd name="T2" fmla="*/ 55 w 245"/>
                <a:gd name="T3" fmla="*/ 195 h 241"/>
                <a:gd name="T4" fmla="*/ 0 w 245"/>
                <a:gd name="T5" fmla="*/ 241 h 241"/>
                <a:gd name="T6" fmla="*/ 243 w 245"/>
                <a:gd name="T7" fmla="*/ 0 h 241"/>
                <a:gd name="T8" fmla="*/ 245 w 245"/>
                <a:gd name="T9" fmla="*/ 4 h 241"/>
              </a:gdLst>
              <a:ahLst/>
              <a:cxnLst>
                <a:cxn ang="0">
                  <a:pos x="T0" y="T1"/>
                </a:cxn>
                <a:cxn ang="0">
                  <a:pos x="T2" y="T3"/>
                </a:cxn>
                <a:cxn ang="0">
                  <a:pos x="T4" y="T5"/>
                </a:cxn>
                <a:cxn ang="0">
                  <a:pos x="T6" y="T7"/>
                </a:cxn>
                <a:cxn ang="0">
                  <a:pos x="T8" y="T9"/>
                </a:cxn>
              </a:cxnLst>
              <a:rect l="0" t="0" r="r" b="b"/>
              <a:pathLst>
                <a:path w="245" h="241">
                  <a:moveTo>
                    <a:pt x="245" y="4"/>
                  </a:moveTo>
                  <a:lnTo>
                    <a:pt x="55" y="195"/>
                  </a:lnTo>
                  <a:lnTo>
                    <a:pt x="0" y="241"/>
                  </a:lnTo>
                  <a:lnTo>
                    <a:pt x="243" y="0"/>
                  </a:lnTo>
                  <a:lnTo>
                    <a:pt x="245" y="4"/>
                  </a:lnTo>
                  <a:close/>
                </a:path>
              </a:pathLst>
            </a:custGeom>
            <a:solidFill>
              <a:srgbClr val="CFC8E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51" name="Freeform 52">
              <a:extLst>
                <a:ext uri="{FF2B5EF4-FFF2-40B4-BE49-F238E27FC236}">
                  <a16:creationId xmlns:a16="http://schemas.microsoft.com/office/drawing/2014/main" id="{9F4EA1DC-109D-D58D-8343-40AF883D81D6}"/>
                </a:ext>
              </a:extLst>
            </p:cNvPr>
            <p:cNvSpPr>
              <a:spLocks/>
            </p:cNvSpPr>
            <p:nvPr/>
          </p:nvSpPr>
          <p:spPr bwMode="auto">
            <a:xfrm>
              <a:off x="3538" y="2402"/>
              <a:ext cx="271" cy="267"/>
            </a:xfrm>
            <a:custGeom>
              <a:avLst/>
              <a:gdLst>
                <a:gd name="T0" fmla="*/ 271 w 271"/>
                <a:gd name="T1" fmla="*/ 4 h 267"/>
                <a:gd name="T2" fmla="*/ 55 w 271"/>
                <a:gd name="T3" fmla="*/ 221 h 267"/>
                <a:gd name="T4" fmla="*/ 0 w 271"/>
                <a:gd name="T5" fmla="*/ 267 h 267"/>
                <a:gd name="T6" fmla="*/ 267 w 271"/>
                <a:gd name="T7" fmla="*/ 0 h 267"/>
                <a:gd name="T8" fmla="*/ 271 w 271"/>
                <a:gd name="T9" fmla="*/ 4 h 267"/>
              </a:gdLst>
              <a:ahLst/>
              <a:cxnLst>
                <a:cxn ang="0">
                  <a:pos x="T0" y="T1"/>
                </a:cxn>
                <a:cxn ang="0">
                  <a:pos x="T2" y="T3"/>
                </a:cxn>
                <a:cxn ang="0">
                  <a:pos x="T4" y="T5"/>
                </a:cxn>
                <a:cxn ang="0">
                  <a:pos x="T6" y="T7"/>
                </a:cxn>
                <a:cxn ang="0">
                  <a:pos x="T8" y="T9"/>
                </a:cxn>
              </a:cxnLst>
              <a:rect l="0" t="0" r="r" b="b"/>
              <a:pathLst>
                <a:path w="271" h="267">
                  <a:moveTo>
                    <a:pt x="271" y="4"/>
                  </a:moveTo>
                  <a:lnTo>
                    <a:pt x="55" y="221"/>
                  </a:lnTo>
                  <a:lnTo>
                    <a:pt x="0" y="267"/>
                  </a:lnTo>
                  <a:lnTo>
                    <a:pt x="267" y="0"/>
                  </a:lnTo>
                  <a:lnTo>
                    <a:pt x="271" y="4"/>
                  </a:lnTo>
                  <a:close/>
                </a:path>
              </a:pathLst>
            </a:custGeom>
            <a:solidFill>
              <a:srgbClr val="CFC8E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52" name="Freeform 53">
              <a:extLst>
                <a:ext uri="{FF2B5EF4-FFF2-40B4-BE49-F238E27FC236}">
                  <a16:creationId xmlns:a16="http://schemas.microsoft.com/office/drawing/2014/main" id="{0AC15C76-B297-A026-15AE-19509110CF72}"/>
                </a:ext>
              </a:extLst>
            </p:cNvPr>
            <p:cNvSpPr>
              <a:spLocks/>
            </p:cNvSpPr>
            <p:nvPr/>
          </p:nvSpPr>
          <p:spPr bwMode="auto">
            <a:xfrm>
              <a:off x="3512" y="2400"/>
              <a:ext cx="295" cy="293"/>
            </a:xfrm>
            <a:custGeom>
              <a:avLst/>
              <a:gdLst>
                <a:gd name="T0" fmla="*/ 295 w 295"/>
                <a:gd name="T1" fmla="*/ 4 h 293"/>
                <a:gd name="T2" fmla="*/ 52 w 295"/>
                <a:gd name="T3" fmla="*/ 245 h 293"/>
                <a:gd name="T4" fmla="*/ 0 w 295"/>
                <a:gd name="T5" fmla="*/ 293 h 293"/>
                <a:gd name="T6" fmla="*/ 291 w 295"/>
                <a:gd name="T7" fmla="*/ 0 h 293"/>
                <a:gd name="T8" fmla="*/ 295 w 295"/>
                <a:gd name="T9" fmla="*/ 4 h 293"/>
              </a:gdLst>
              <a:ahLst/>
              <a:cxnLst>
                <a:cxn ang="0">
                  <a:pos x="T0" y="T1"/>
                </a:cxn>
                <a:cxn ang="0">
                  <a:pos x="T2" y="T3"/>
                </a:cxn>
                <a:cxn ang="0">
                  <a:pos x="T4" y="T5"/>
                </a:cxn>
                <a:cxn ang="0">
                  <a:pos x="T6" y="T7"/>
                </a:cxn>
                <a:cxn ang="0">
                  <a:pos x="T8" y="T9"/>
                </a:cxn>
              </a:cxnLst>
              <a:rect l="0" t="0" r="r" b="b"/>
              <a:pathLst>
                <a:path w="295" h="293">
                  <a:moveTo>
                    <a:pt x="295" y="4"/>
                  </a:moveTo>
                  <a:lnTo>
                    <a:pt x="52" y="245"/>
                  </a:lnTo>
                  <a:lnTo>
                    <a:pt x="0" y="293"/>
                  </a:lnTo>
                  <a:lnTo>
                    <a:pt x="291" y="0"/>
                  </a:lnTo>
                  <a:lnTo>
                    <a:pt x="295" y="4"/>
                  </a:lnTo>
                  <a:close/>
                </a:path>
              </a:pathLst>
            </a:custGeom>
            <a:solidFill>
              <a:srgbClr val="CFC8E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53" name="Freeform 54">
              <a:extLst>
                <a:ext uri="{FF2B5EF4-FFF2-40B4-BE49-F238E27FC236}">
                  <a16:creationId xmlns:a16="http://schemas.microsoft.com/office/drawing/2014/main" id="{5D59A0EC-883A-A511-A73E-817154699570}"/>
                </a:ext>
              </a:extLst>
            </p:cNvPr>
            <p:cNvSpPr>
              <a:spLocks/>
            </p:cNvSpPr>
            <p:nvPr/>
          </p:nvSpPr>
          <p:spPr bwMode="auto">
            <a:xfrm>
              <a:off x="3483" y="2397"/>
              <a:ext cx="322" cy="318"/>
            </a:xfrm>
            <a:custGeom>
              <a:avLst/>
              <a:gdLst>
                <a:gd name="T0" fmla="*/ 322 w 322"/>
                <a:gd name="T1" fmla="*/ 5 h 318"/>
                <a:gd name="T2" fmla="*/ 55 w 322"/>
                <a:gd name="T3" fmla="*/ 272 h 318"/>
                <a:gd name="T4" fmla="*/ 0 w 322"/>
                <a:gd name="T5" fmla="*/ 318 h 318"/>
                <a:gd name="T6" fmla="*/ 320 w 322"/>
                <a:gd name="T7" fmla="*/ 0 h 318"/>
                <a:gd name="T8" fmla="*/ 322 w 322"/>
                <a:gd name="T9" fmla="*/ 5 h 318"/>
              </a:gdLst>
              <a:ahLst/>
              <a:cxnLst>
                <a:cxn ang="0">
                  <a:pos x="T0" y="T1"/>
                </a:cxn>
                <a:cxn ang="0">
                  <a:pos x="T2" y="T3"/>
                </a:cxn>
                <a:cxn ang="0">
                  <a:pos x="T4" y="T5"/>
                </a:cxn>
                <a:cxn ang="0">
                  <a:pos x="T6" y="T7"/>
                </a:cxn>
                <a:cxn ang="0">
                  <a:pos x="T8" y="T9"/>
                </a:cxn>
              </a:cxnLst>
              <a:rect l="0" t="0" r="r" b="b"/>
              <a:pathLst>
                <a:path w="322" h="318">
                  <a:moveTo>
                    <a:pt x="322" y="5"/>
                  </a:moveTo>
                  <a:lnTo>
                    <a:pt x="55" y="272"/>
                  </a:lnTo>
                  <a:lnTo>
                    <a:pt x="0" y="318"/>
                  </a:lnTo>
                  <a:lnTo>
                    <a:pt x="320" y="0"/>
                  </a:lnTo>
                  <a:lnTo>
                    <a:pt x="322" y="5"/>
                  </a:lnTo>
                  <a:close/>
                </a:path>
              </a:pathLst>
            </a:custGeom>
            <a:solidFill>
              <a:srgbClr val="CFC8E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54" name="Freeform 55">
              <a:extLst>
                <a:ext uri="{FF2B5EF4-FFF2-40B4-BE49-F238E27FC236}">
                  <a16:creationId xmlns:a16="http://schemas.microsoft.com/office/drawing/2014/main" id="{38ACD19B-524C-54C8-774A-0CDE26B62F78}"/>
                </a:ext>
              </a:extLst>
            </p:cNvPr>
            <p:cNvSpPr>
              <a:spLocks/>
            </p:cNvSpPr>
            <p:nvPr/>
          </p:nvSpPr>
          <p:spPr bwMode="auto">
            <a:xfrm>
              <a:off x="3466" y="2395"/>
              <a:ext cx="337" cy="335"/>
            </a:xfrm>
            <a:custGeom>
              <a:avLst/>
              <a:gdLst>
                <a:gd name="T0" fmla="*/ 337 w 337"/>
                <a:gd name="T1" fmla="*/ 5 h 335"/>
                <a:gd name="T2" fmla="*/ 46 w 337"/>
                <a:gd name="T3" fmla="*/ 298 h 335"/>
                <a:gd name="T4" fmla="*/ 2 w 337"/>
                <a:gd name="T5" fmla="*/ 333 h 335"/>
                <a:gd name="T6" fmla="*/ 0 w 337"/>
                <a:gd name="T7" fmla="*/ 335 h 335"/>
                <a:gd name="T8" fmla="*/ 334 w 337"/>
                <a:gd name="T9" fmla="*/ 0 h 335"/>
                <a:gd name="T10" fmla="*/ 337 w 337"/>
                <a:gd name="T11" fmla="*/ 5 h 335"/>
              </a:gdLst>
              <a:ahLst/>
              <a:cxnLst>
                <a:cxn ang="0">
                  <a:pos x="T0" y="T1"/>
                </a:cxn>
                <a:cxn ang="0">
                  <a:pos x="T2" y="T3"/>
                </a:cxn>
                <a:cxn ang="0">
                  <a:pos x="T4" y="T5"/>
                </a:cxn>
                <a:cxn ang="0">
                  <a:pos x="T6" y="T7"/>
                </a:cxn>
                <a:cxn ang="0">
                  <a:pos x="T8" y="T9"/>
                </a:cxn>
                <a:cxn ang="0">
                  <a:pos x="T10" y="T11"/>
                </a:cxn>
              </a:cxnLst>
              <a:rect l="0" t="0" r="r" b="b"/>
              <a:pathLst>
                <a:path w="337" h="335">
                  <a:moveTo>
                    <a:pt x="337" y="5"/>
                  </a:moveTo>
                  <a:lnTo>
                    <a:pt x="46" y="298"/>
                  </a:lnTo>
                  <a:lnTo>
                    <a:pt x="2" y="333"/>
                  </a:lnTo>
                  <a:lnTo>
                    <a:pt x="0" y="335"/>
                  </a:lnTo>
                  <a:lnTo>
                    <a:pt x="334" y="0"/>
                  </a:lnTo>
                  <a:lnTo>
                    <a:pt x="337" y="5"/>
                  </a:lnTo>
                  <a:close/>
                </a:path>
              </a:pathLst>
            </a:custGeom>
            <a:solidFill>
              <a:srgbClr val="D2CBE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55" name="Freeform 56">
              <a:extLst>
                <a:ext uri="{FF2B5EF4-FFF2-40B4-BE49-F238E27FC236}">
                  <a16:creationId xmlns:a16="http://schemas.microsoft.com/office/drawing/2014/main" id="{7F4FF424-0002-0685-3B9F-F79A85CFE6BF}"/>
                </a:ext>
              </a:extLst>
            </p:cNvPr>
            <p:cNvSpPr>
              <a:spLocks/>
            </p:cNvSpPr>
            <p:nvPr/>
          </p:nvSpPr>
          <p:spPr bwMode="auto">
            <a:xfrm>
              <a:off x="3459" y="2393"/>
              <a:ext cx="344" cy="337"/>
            </a:xfrm>
            <a:custGeom>
              <a:avLst/>
              <a:gdLst>
                <a:gd name="T0" fmla="*/ 344 w 344"/>
                <a:gd name="T1" fmla="*/ 4 h 337"/>
                <a:gd name="T2" fmla="*/ 24 w 344"/>
                <a:gd name="T3" fmla="*/ 322 h 337"/>
                <a:gd name="T4" fmla="*/ 9 w 344"/>
                <a:gd name="T5" fmla="*/ 335 h 337"/>
                <a:gd name="T6" fmla="*/ 0 w 344"/>
                <a:gd name="T7" fmla="*/ 337 h 337"/>
                <a:gd name="T8" fmla="*/ 339 w 344"/>
                <a:gd name="T9" fmla="*/ 0 h 337"/>
                <a:gd name="T10" fmla="*/ 344 w 344"/>
                <a:gd name="T11" fmla="*/ 4 h 337"/>
              </a:gdLst>
              <a:ahLst/>
              <a:cxnLst>
                <a:cxn ang="0">
                  <a:pos x="T0" y="T1"/>
                </a:cxn>
                <a:cxn ang="0">
                  <a:pos x="T2" y="T3"/>
                </a:cxn>
                <a:cxn ang="0">
                  <a:pos x="T4" y="T5"/>
                </a:cxn>
                <a:cxn ang="0">
                  <a:pos x="T6" y="T7"/>
                </a:cxn>
                <a:cxn ang="0">
                  <a:pos x="T8" y="T9"/>
                </a:cxn>
                <a:cxn ang="0">
                  <a:pos x="T10" y="T11"/>
                </a:cxn>
              </a:cxnLst>
              <a:rect l="0" t="0" r="r" b="b"/>
              <a:pathLst>
                <a:path w="344" h="337">
                  <a:moveTo>
                    <a:pt x="344" y="4"/>
                  </a:moveTo>
                  <a:lnTo>
                    <a:pt x="24" y="322"/>
                  </a:lnTo>
                  <a:lnTo>
                    <a:pt x="9" y="335"/>
                  </a:lnTo>
                  <a:lnTo>
                    <a:pt x="0" y="337"/>
                  </a:lnTo>
                  <a:lnTo>
                    <a:pt x="339" y="0"/>
                  </a:lnTo>
                  <a:lnTo>
                    <a:pt x="344" y="4"/>
                  </a:lnTo>
                  <a:close/>
                </a:path>
              </a:pathLst>
            </a:custGeom>
            <a:solidFill>
              <a:srgbClr val="D2CBE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56" name="Freeform 57">
              <a:extLst>
                <a:ext uri="{FF2B5EF4-FFF2-40B4-BE49-F238E27FC236}">
                  <a16:creationId xmlns:a16="http://schemas.microsoft.com/office/drawing/2014/main" id="{4B719735-8A09-27F2-99AE-C3C0D5CC9E51}"/>
                </a:ext>
              </a:extLst>
            </p:cNvPr>
            <p:cNvSpPr>
              <a:spLocks/>
            </p:cNvSpPr>
            <p:nvPr/>
          </p:nvSpPr>
          <p:spPr bwMode="auto">
            <a:xfrm>
              <a:off x="3455" y="2391"/>
              <a:ext cx="345" cy="341"/>
            </a:xfrm>
            <a:custGeom>
              <a:avLst/>
              <a:gdLst>
                <a:gd name="T0" fmla="*/ 345 w 345"/>
                <a:gd name="T1" fmla="*/ 4 h 341"/>
                <a:gd name="T2" fmla="*/ 11 w 345"/>
                <a:gd name="T3" fmla="*/ 339 h 341"/>
                <a:gd name="T4" fmla="*/ 0 w 345"/>
                <a:gd name="T5" fmla="*/ 341 h 341"/>
                <a:gd name="T6" fmla="*/ 341 w 345"/>
                <a:gd name="T7" fmla="*/ 0 h 341"/>
                <a:gd name="T8" fmla="*/ 345 w 345"/>
                <a:gd name="T9" fmla="*/ 4 h 341"/>
              </a:gdLst>
              <a:ahLst/>
              <a:cxnLst>
                <a:cxn ang="0">
                  <a:pos x="T0" y="T1"/>
                </a:cxn>
                <a:cxn ang="0">
                  <a:pos x="T2" y="T3"/>
                </a:cxn>
                <a:cxn ang="0">
                  <a:pos x="T4" y="T5"/>
                </a:cxn>
                <a:cxn ang="0">
                  <a:pos x="T6" y="T7"/>
                </a:cxn>
                <a:cxn ang="0">
                  <a:pos x="T8" y="T9"/>
                </a:cxn>
              </a:cxnLst>
              <a:rect l="0" t="0" r="r" b="b"/>
              <a:pathLst>
                <a:path w="345" h="341">
                  <a:moveTo>
                    <a:pt x="345" y="4"/>
                  </a:moveTo>
                  <a:lnTo>
                    <a:pt x="11" y="339"/>
                  </a:lnTo>
                  <a:lnTo>
                    <a:pt x="0" y="341"/>
                  </a:lnTo>
                  <a:lnTo>
                    <a:pt x="341" y="0"/>
                  </a:lnTo>
                  <a:lnTo>
                    <a:pt x="345" y="4"/>
                  </a:lnTo>
                  <a:close/>
                </a:path>
              </a:pathLst>
            </a:custGeom>
            <a:solidFill>
              <a:srgbClr val="D2CBE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57" name="Freeform 58">
              <a:extLst>
                <a:ext uri="{FF2B5EF4-FFF2-40B4-BE49-F238E27FC236}">
                  <a16:creationId xmlns:a16="http://schemas.microsoft.com/office/drawing/2014/main" id="{6AE870E2-4846-4D3B-4075-8386F3C25F8B}"/>
                </a:ext>
              </a:extLst>
            </p:cNvPr>
            <p:cNvSpPr>
              <a:spLocks/>
            </p:cNvSpPr>
            <p:nvPr/>
          </p:nvSpPr>
          <p:spPr bwMode="auto">
            <a:xfrm>
              <a:off x="3448" y="2389"/>
              <a:ext cx="350" cy="345"/>
            </a:xfrm>
            <a:custGeom>
              <a:avLst/>
              <a:gdLst>
                <a:gd name="T0" fmla="*/ 350 w 350"/>
                <a:gd name="T1" fmla="*/ 4 h 345"/>
                <a:gd name="T2" fmla="*/ 11 w 350"/>
                <a:gd name="T3" fmla="*/ 341 h 345"/>
                <a:gd name="T4" fmla="*/ 0 w 350"/>
                <a:gd name="T5" fmla="*/ 345 h 345"/>
                <a:gd name="T6" fmla="*/ 348 w 350"/>
                <a:gd name="T7" fmla="*/ 0 h 345"/>
                <a:gd name="T8" fmla="*/ 350 w 350"/>
                <a:gd name="T9" fmla="*/ 4 h 345"/>
              </a:gdLst>
              <a:ahLst/>
              <a:cxnLst>
                <a:cxn ang="0">
                  <a:pos x="T0" y="T1"/>
                </a:cxn>
                <a:cxn ang="0">
                  <a:pos x="T2" y="T3"/>
                </a:cxn>
                <a:cxn ang="0">
                  <a:pos x="T4" y="T5"/>
                </a:cxn>
                <a:cxn ang="0">
                  <a:pos x="T6" y="T7"/>
                </a:cxn>
                <a:cxn ang="0">
                  <a:pos x="T8" y="T9"/>
                </a:cxn>
              </a:cxnLst>
              <a:rect l="0" t="0" r="r" b="b"/>
              <a:pathLst>
                <a:path w="350" h="345">
                  <a:moveTo>
                    <a:pt x="350" y="4"/>
                  </a:moveTo>
                  <a:lnTo>
                    <a:pt x="11" y="341"/>
                  </a:lnTo>
                  <a:lnTo>
                    <a:pt x="0" y="345"/>
                  </a:lnTo>
                  <a:lnTo>
                    <a:pt x="348" y="0"/>
                  </a:lnTo>
                  <a:lnTo>
                    <a:pt x="350" y="4"/>
                  </a:lnTo>
                  <a:close/>
                </a:path>
              </a:pathLst>
            </a:custGeom>
            <a:solidFill>
              <a:srgbClr val="D2CBE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58" name="Freeform 59">
              <a:extLst>
                <a:ext uri="{FF2B5EF4-FFF2-40B4-BE49-F238E27FC236}">
                  <a16:creationId xmlns:a16="http://schemas.microsoft.com/office/drawing/2014/main" id="{EA21E4AB-4D7B-90EB-22D6-AA6F9FB3C719}"/>
                </a:ext>
              </a:extLst>
            </p:cNvPr>
            <p:cNvSpPr>
              <a:spLocks/>
            </p:cNvSpPr>
            <p:nvPr/>
          </p:nvSpPr>
          <p:spPr bwMode="auto">
            <a:xfrm>
              <a:off x="3444" y="2386"/>
              <a:ext cx="352" cy="350"/>
            </a:xfrm>
            <a:custGeom>
              <a:avLst/>
              <a:gdLst>
                <a:gd name="T0" fmla="*/ 352 w 352"/>
                <a:gd name="T1" fmla="*/ 5 h 350"/>
                <a:gd name="T2" fmla="*/ 11 w 352"/>
                <a:gd name="T3" fmla="*/ 346 h 350"/>
                <a:gd name="T4" fmla="*/ 0 w 352"/>
                <a:gd name="T5" fmla="*/ 350 h 350"/>
                <a:gd name="T6" fmla="*/ 350 w 352"/>
                <a:gd name="T7" fmla="*/ 0 h 350"/>
                <a:gd name="T8" fmla="*/ 352 w 352"/>
                <a:gd name="T9" fmla="*/ 5 h 350"/>
              </a:gdLst>
              <a:ahLst/>
              <a:cxnLst>
                <a:cxn ang="0">
                  <a:pos x="T0" y="T1"/>
                </a:cxn>
                <a:cxn ang="0">
                  <a:pos x="T2" y="T3"/>
                </a:cxn>
                <a:cxn ang="0">
                  <a:pos x="T4" y="T5"/>
                </a:cxn>
                <a:cxn ang="0">
                  <a:pos x="T6" y="T7"/>
                </a:cxn>
                <a:cxn ang="0">
                  <a:pos x="T8" y="T9"/>
                </a:cxn>
              </a:cxnLst>
              <a:rect l="0" t="0" r="r" b="b"/>
              <a:pathLst>
                <a:path w="352" h="350">
                  <a:moveTo>
                    <a:pt x="352" y="5"/>
                  </a:moveTo>
                  <a:lnTo>
                    <a:pt x="11" y="346"/>
                  </a:lnTo>
                  <a:lnTo>
                    <a:pt x="0" y="350"/>
                  </a:lnTo>
                  <a:lnTo>
                    <a:pt x="350" y="0"/>
                  </a:lnTo>
                  <a:lnTo>
                    <a:pt x="352" y="5"/>
                  </a:lnTo>
                  <a:close/>
                </a:path>
              </a:pathLst>
            </a:custGeom>
            <a:solidFill>
              <a:srgbClr val="D2CBE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59" name="Freeform 60">
              <a:extLst>
                <a:ext uri="{FF2B5EF4-FFF2-40B4-BE49-F238E27FC236}">
                  <a16:creationId xmlns:a16="http://schemas.microsoft.com/office/drawing/2014/main" id="{199F3196-E8BF-CA93-FC66-AD5E3A351A00}"/>
                </a:ext>
              </a:extLst>
            </p:cNvPr>
            <p:cNvSpPr>
              <a:spLocks/>
            </p:cNvSpPr>
            <p:nvPr/>
          </p:nvSpPr>
          <p:spPr bwMode="auto">
            <a:xfrm>
              <a:off x="3437" y="2384"/>
              <a:ext cx="359" cy="355"/>
            </a:xfrm>
            <a:custGeom>
              <a:avLst/>
              <a:gdLst>
                <a:gd name="T0" fmla="*/ 359 w 359"/>
                <a:gd name="T1" fmla="*/ 5 h 355"/>
                <a:gd name="T2" fmla="*/ 11 w 359"/>
                <a:gd name="T3" fmla="*/ 350 h 355"/>
                <a:gd name="T4" fmla="*/ 0 w 359"/>
                <a:gd name="T5" fmla="*/ 355 h 355"/>
                <a:gd name="T6" fmla="*/ 355 w 359"/>
                <a:gd name="T7" fmla="*/ 0 h 355"/>
                <a:gd name="T8" fmla="*/ 359 w 359"/>
                <a:gd name="T9" fmla="*/ 5 h 355"/>
              </a:gdLst>
              <a:ahLst/>
              <a:cxnLst>
                <a:cxn ang="0">
                  <a:pos x="T0" y="T1"/>
                </a:cxn>
                <a:cxn ang="0">
                  <a:pos x="T2" y="T3"/>
                </a:cxn>
                <a:cxn ang="0">
                  <a:pos x="T4" y="T5"/>
                </a:cxn>
                <a:cxn ang="0">
                  <a:pos x="T6" y="T7"/>
                </a:cxn>
                <a:cxn ang="0">
                  <a:pos x="T8" y="T9"/>
                </a:cxn>
              </a:cxnLst>
              <a:rect l="0" t="0" r="r" b="b"/>
              <a:pathLst>
                <a:path w="359" h="355">
                  <a:moveTo>
                    <a:pt x="359" y="5"/>
                  </a:moveTo>
                  <a:lnTo>
                    <a:pt x="11" y="350"/>
                  </a:lnTo>
                  <a:lnTo>
                    <a:pt x="0" y="355"/>
                  </a:lnTo>
                  <a:lnTo>
                    <a:pt x="355" y="0"/>
                  </a:lnTo>
                  <a:lnTo>
                    <a:pt x="359" y="5"/>
                  </a:lnTo>
                  <a:close/>
                </a:path>
              </a:pathLst>
            </a:custGeom>
            <a:solidFill>
              <a:srgbClr val="D2CBE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60" name="Freeform 61">
              <a:extLst>
                <a:ext uri="{FF2B5EF4-FFF2-40B4-BE49-F238E27FC236}">
                  <a16:creationId xmlns:a16="http://schemas.microsoft.com/office/drawing/2014/main" id="{C5F634FB-AEC1-2A76-DA09-EE29F4829CBD}"/>
                </a:ext>
              </a:extLst>
            </p:cNvPr>
            <p:cNvSpPr>
              <a:spLocks/>
            </p:cNvSpPr>
            <p:nvPr/>
          </p:nvSpPr>
          <p:spPr bwMode="auto">
            <a:xfrm>
              <a:off x="3433" y="2382"/>
              <a:ext cx="361" cy="359"/>
            </a:xfrm>
            <a:custGeom>
              <a:avLst/>
              <a:gdLst>
                <a:gd name="T0" fmla="*/ 361 w 361"/>
                <a:gd name="T1" fmla="*/ 4 h 359"/>
                <a:gd name="T2" fmla="*/ 11 w 361"/>
                <a:gd name="T3" fmla="*/ 354 h 359"/>
                <a:gd name="T4" fmla="*/ 0 w 361"/>
                <a:gd name="T5" fmla="*/ 359 h 359"/>
                <a:gd name="T6" fmla="*/ 359 w 361"/>
                <a:gd name="T7" fmla="*/ 0 h 359"/>
                <a:gd name="T8" fmla="*/ 361 w 361"/>
                <a:gd name="T9" fmla="*/ 4 h 359"/>
              </a:gdLst>
              <a:ahLst/>
              <a:cxnLst>
                <a:cxn ang="0">
                  <a:pos x="T0" y="T1"/>
                </a:cxn>
                <a:cxn ang="0">
                  <a:pos x="T2" y="T3"/>
                </a:cxn>
                <a:cxn ang="0">
                  <a:pos x="T4" y="T5"/>
                </a:cxn>
                <a:cxn ang="0">
                  <a:pos x="T6" y="T7"/>
                </a:cxn>
                <a:cxn ang="0">
                  <a:pos x="T8" y="T9"/>
                </a:cxn>
              </a:cxnLst>
              <a:rect l="0" t="0" r="r" b="b"/>
              <a:pathLst>
                <a:path w="361" h="359">
                  <a:moveTo>
                    <a:pt x="361" y="4"/>
                  </a:moveTo>
                  <a:lnTo>
                    <a:pt x="11" y="354"/>
                  </a:lnTo>
                  <a:lnTo>
                    <a:pt x="0" y="359"/>
                  </a:lnTo>
                  <a:lnTo>
                    <a:pt x="359" y="0"/>
                  </a:lnTo>
                  <a:lnTo>
                    <a:pt x="361" y="4"/>
                  </a:lnTo>
                  <a:close/>
                </a:path>
              </a:pathLst>
            </a:custGeom>
            <a:solidFill>
              <a:srgbClr val="D2CBE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61" name="Freeform 62">
              <a:extLst>
                <a:ext uri="{FF2B5EF4-FFF2-40B4-BE49-F238E27FC236}">
                  <a16:creationId xmlns:a16="http://schemas.microsoft.com/office/drawing/2014/main" id="{7787DE7C-D6CF-A6F1-1819-1E20B514768E}"/>
                </a:ext>
              </a:extLst>
            </p:cNvPr>
            <p:cNvSpPr>
              <a:spLocks/>
            </p:cNvSpPr>
            <p:nvPr/>
          </p:nvSpPr>
          <p:spPr bwMode="auto">
            <a:xfrm>
              <a:off x="3426" y="2380"/>
              <a:ext cx="366" cy="361"/>
            </a:xfrm>
            <a:custGeom>
              <a:avLst/>
              <a:gdLst>
                <a:gd name="T0" fmla="*/ 366 w 366"/>
                <a:gd name="T1" fmla="*/ 4 h 361"/>
                <a:gd name="T2" fmla="*/ 11 w 366"/>
                <a:gd name="T3" fmla="*/ 359 h 361"/>
                <a:gd name="T4" fmla="*/ 0 w 366"/>
                <a:gd name="T5" fmla="*/ 361 h 361"/>
                <a:gd name="T6" fmla="*/ 364 w 366"/>
                <a:gd name="T7" fmla="*/ 0 h 361"/>
                <a:gd name="T8" fmla="*/ 366 w 366"/>
                <a:gd name="T9" fmla="*/ 4 h 361"/>
              </a:gdLst>
              <a:ahLst/>
              <a:cxnLst>
                <a:cxn ang="0">
                  <a:pos x="T0" y="T1"/>
                </a:cxn>
                <a:cxn ang="0">
                  <a:pos x="T2" y="T3"/>
                </a:cxn>
                <a:cxn ang="0">
                  <a:pos x="T4" y="T5"/>
                </a:cxn>
                <a:cxn ang="0">
                  <a:pos x="T6" y="T7"/>
                </a:cxn>
                <a:cxn ang="0">
                  <a:pos x="T8" y="T9"/>
                </a:cxn>
              </a:cxnLst>
              <a:rect l="0" t="0" r="r" b="b"/>
              <a:pathLst>
                <a:path w="366" h="361">
                  <a:moveTo>
                    <a:pt x="366" y="4"/>
                  </a:moveTo>
                  <a:lnTo>
                    <a:pt x="11" y="359"/>
                  </a:lnTo>
                  <a:lnTo>
                    <a:pt x="0" y="361"/>
                  </a:lnTo>
                  <a:lnTo>
                    <a:pt x="364" y="0"/>
                  </a:lnTo>
                  <a:lnTo>
                    <a:pt x="366" y="4"/>
                  </a:lnTo>
                  <a:close/>
                </a:path>
              </a:pathLst>
            </a:custGeom>
            <a:solidFill>
              <a:srgbClr val="D2CBE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62" name="Freeform 63">
              <a:extLst>
                <a:ext uri="{FF2B5EF4-FFF2-40B4-BE49-F238E27FC236}">
                  <a16:creationId xmlns:a16="http://schemas.microsoft.com/office/drawing/2014/main" id="{1ACD57F6-C8DE-CA4B-AB14-0FB7CE4C79A4}"/>
                </a:ext>
              </a:extLst>
            </p:cNvPr>
            <p:cNvSpPr>
              <a:spLocks/>
            </p:cNvSpPr>
            <p:nvPr/>
          </p:nvSpPr>
          <p:spPr bwMode="auto">
            <a:xfrm>
              <a:off x="3422" y="2378"/>
              <a:ext cx="370" cy="365"/>
            </a:xfrm>
            <a:custGeom>
              <a:avLst/>
              <a:gdLst>
                <a:gd name="T0" fmla="*/ 370 w 370"/>
                <a:gd name="T1" fmla="*/ 4 h 365"/>
                <a:gd name="T2" fmla="*/ 11 w 370"/>
                <a:gd name="T3" fmla="*/ 363 h 365"/>
                <a:gd name="T4" fmla="*/ 0 w 370"/>
                <a:gd name="T5" fmla="*/ 365 h 365"/>
                <a:gd name="T6" fmla="*/ 365 w 370"/>
                <a:gd name="T7" fmla="*/ 0 h 365"/>
                <a:gd name="T8" fmla="*/ 370 w 370"/>
                <a:gd name="T9" fmla="*/ 4 h 365"/>
              </a:gdLst>
              <a:ahLst/>
              <a:cxnLst>
                <a:cxn ang="0">
                  <a:pos x="T0" y="T1"/>
                </a:cxn>
                <a:cxn ang="0">
                  <a:pos x="T2" y="T3"/>
                </a:cxn>
                <a:cxn ang="0">
                  <a:pos x="T4" y="T5"/>
                </a:cxn>
                <a:cxn ang="0">
                  <a:pos x="T6" y="T7"/>
                </a:cxn>
                <a:cxn ang="0">
                  <a:pos x="T8" y="T9"/>
                </a:cxn>
              </a:cxnLst>
              <a:rect l="0" t="0" r="r" b="b"/>
              <a:pathLst>
                <a:path w="370" h="365">
                  <a:moveTo>
                    <a:pt x="370" y="4"/>
                  </a:moveTo>
                  <a:lnTo>
                    <a:pt x="11" y="363"/>
                  </a:lnTo>
                  <a:lnTo>
                    <a:pt x="0" y="365"/>
                  </a:lnTo>
                  <a:lnTo>
                    <a:pt x="365" y="0"/>
                  </a:lnTo>
                  <a:lnTo>
                    <a:pt x="370" y="4"/>
                  </a:lnTo>
                  <a:close/>
                </a:path>
              </a:pathLst>
            </a:custGeom>
            <a:solidFill>
              <a:srgbClr val="D2CBE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63" name="Freeform 64">
              <a:extLst>
                <a:ext uri="{FF2B5EF4-FFF2-40B4-BE49-F238E27FC236}">
                  <a16:creationId xmlns:a16="http://schemas.microsoft.com/office/drawing/2014/main" id="{0411CDAA-B02F-BD0E-C15E-E97096C7D0C7}"/>
                </a:ext>
              </a:extLst>
            </p:cNvPr>
            <p:cNvSpPr>
              <a:spLocks/>
            </p:cNvSpPr>
            <p:nvPr/>
          </p:nvSpPr>
          <p:spPr bwMode="auto">
            <a:xfrm>
              <a:off x="3415" y="2376"/>
              <a:ext cx="375" cy="369"/>
            </a:xfrm>
            <a:custGeom>
              <a:avLst/>
              <a:gdLst>
                <a:gd name="T0" fmla="*/ 375 w 375"/>
                <a:gd name="T1" fmla="*/ 4 h 369"/>
                <a:gd name="T2" fmla="*/ 11 w 375"/>
                <a:gd name="T3" fmla="*/ 365 h 369"/>
                <a:gd name="T4" fmla="*/ 0 w 375"/>
                <a:gd name="T5" fmla="*/ 369 h 369"/>
                <a:gd name="T6" fmla="*/ 370 w 375"/>
                <a:gd name="T7" fmla="*/ 0 h 369"/>
                <a:gd name="T8" fmla="*/ 375 w 375"/>
                <a:gd name="T9" fmla="*/ 4 h 369"/>
              </a:gdLst>
              <a:ahLst/>
              <a:cxnLst>
                <a:cxn ang="0">
                  <a:pos x="T0" y="T1"/>
                </a:cxn>
                <a:cxn ang="0">
                  <a:pos x="T2" y="T3"/>
                </a:cxn>
                <a:cxn ang="0">
                  <a:pos x="T4" y="T5"/>
                </a:cxn>
                <a:cxn ang="0">
                  <a:pos x="T6" y="T7"/>
                </a:cxn>
                <a:cxn ang="0">
                  <a:pos x="T8" y="T9"/>
                </a:cxn>
              </a:cxnLst>
              <a:rect l="0" t="0" r="r" b="b"/>
              <a:pathLst>
                <a:path w="375" h="369">
                  <a:moveTo>
                    <a:pt x="375" y="4"/>
                  </a:moveTo>
                  <a:lnTo>
                    <a:pt x="11" y="365"/>
                  </a:lnTo>
                  <a:lnTo>
                    <a:pt x="0" y="369"/>
                  </a:lnTo>
                  <a:lnTo>
                    <a:pt x="370" y="0"/>
                  </a:lnTo>
                  <a:lnTo>
                    <a:pt x="375" y="4"/>
                  </a:lnTo>
                  <a:close/>
                </a:path>
              </a:pathLst>
            </a:custGeom>
            <a:solidFill>
              <a:srgbClr val="D2CBE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04" name="Freeform 65">
              <a:extLst>
                <a:ext uri="{FF2B5EF4-FFF2-40B4-BE49-F238E27FC236}">
                  <a16:creationId xmlns:a16="http://schemas.microsoft.com/office/drawing/2014/main" id="{4692447D-61AB-C11E-982D-BCE045B2716D}"/>
                </a:ext>
              </a:extLst>
            </p:cNvPr>
            <p:cNvSpPr>
              <a:spLocks/>
            </p:cNvSpPr>
            <p:nvPr/>
          </p:nvSpPr>
          <p:spPr bwMode="auto">
            <a:xfrm>
              <a:off x="3411" y="2373"/>
              <a:ext cx="376" cy="374"/>
            </a:xfrm>
            <a:custGeom>
              <a:avLst/>
              <a:gdLst>
                <a:gd name="T0" fmla="*/ 376 w 376"/>
                <a:gd name="T1" fmla="*/ 5 h 374"/>
                <a:gd name="T2" fmla="*/ 11 w 376"/>
                <a:gd name="T3" fmla="*/ 370 h 374"/>
                <a:gd name="T4" fmla="*/ 0 w 376"/>
                <a:gd name="T5" fmla="*/ 374 h 374"/>
                <a:gd name="T6" fmla="*/ 374 w 376"/>
                <a:gd name="T7" fmla="*/ 0 h 374"/>
                <a:gd name="T8" fmla="*/ 376 w 376"/>
                <a:gd name="T9" fmla="*/ 5 h 374"/>
              </a:gdLst>
              <a:ahLst/>
              <a:cxnLst>
                <a:cxn ang="0">
                  <a:pos x="T0" y="T1"/>
                </a:cxn>
                <a:cxn ang="0">
                  <a:pos x="T2" y="T3"/>
                </a:cxn>
                <a:cxn ang="0">
                  <a:pos x="T4" y="T5"/>
                </a:cxn>
                <a:cxn ang="0">
                  <a:pos x="T6" y="T7"/>
                </a:cxn>
                <a:cxn ang="0">
                  <a:pos x="T8" y="T9"/>
                </a:cxn>
              </a:cxnLst>
              <a:rect l="0" t="0" r="r" b="b"/>
              <a:pathLst>
                <a:path w="376" h="374">
                  <a:moveTo>
                    <a:pt x="376" y="5"/>
                  </a:moveTo>
                  <a:lnTo>
                    <a:pt x="11" y="370"/>
                  </a:lnTo>
                  <a:lnTo>
                    <a:pt x="0" y="374"/>
                  </a:lnTo>
                  <a:lnTo>
                    <a:pt x="374" y="0"/>
                  </a:lnTo>
                  <a:lnTo>
                    <a:pt x="376" y="5"/>
                  </a:lnTo>
                  <a:close/>
                </a:path>
              </a:pathLst>
            </a:custGeom>
            <a:solidFill>
              <a:srgbClr val="D2CBE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05" name="Freeform 66">
              <a:extLst>
                <a:ext uri="{FF2B5EF4-FFF2-40B4-BE49-F238E27FC236}">
                  <a16:creationId xmlns:a16="http://schemas.microsoft.com/office/drawing/2014/main" id="{A62A0C7F-E883-1EBA-7D28-CE91762D8B71}"/>
                </a:ext>
              </a:extLst>
            </p:cNvPr>
            <p:cNvSpPr>
              <a:spLocks/>
            </p:cNvSpPr>
            <p:nvPr/>
          </p:nvSpPr>
          <p:spPr bwMode="auto">
            <a:xfrm>
              <a:off x="3404" y="2371"/>
              <a:ext cx="381" cy="379"/>
            </a:xfrm>
            <a:custGeom>
              <a:avLst/>
              <a:gdLst>
                <a:gd name="T0" fmla="*/ 381 w 381"/>
                <a:gd name="T1" fmla="*/ 5 h 379"/>
                <a:gd name="T2" fmla="*/ 11 w 381"/>
                <a:gd name="T3" fmla="*/ 374 h 379"/>
                <a:gd name="T4" fmla="*/ 0 w 381"/>
                <a:gd name="T5" fmla="*/ 379 h 379"/>
                <a:gd name="T6" fmla="*/ 379 w 381"/>
                <a:gd name="T7" fmla="*/ 0 h 379"/>
                <a:gd name="T8" fmla="*/ 381 w 381"/>
                <a:gd name="T9" fmla="*/ 5 h 379"/>
              </a:gdLst>
              <a:ahLst/>
              <a:cxnLst>
                <a:cxn ang="0">
                  <a:pos x="T0" y="T1"/>
                </a:cxn>
                <a:cxn ang="0">
                  <a:pos x="T2" y="T3"/>
                </a:cxn>
                <a:cxn ang="0">
                  <a:pos x="T4" y="T5"/>
                </a:cxn>
                <a:cxn ang="0">
                  <a:pos x="T6" y="T7"/>
                </a:cxn>
                <a:cxn ang="0">
                  <a:pos x="T8" y="T9"/>
                </a:cxn>
              </a:cxnLst>
              <a:rect l="0" t="0" r="r" b="b"/>
              <a:pathLst>
                <a:path w="381" h="379">
                  <a:moveTo>
                    <a:pt x="381" y="5"/>
                  </a:moveTo>
                  <a:lnTo>
                    <a:pt x="11" y="374"/>
                  </a:lnTo>
                  <a:lnTo>
                    <a:pt x="0" y="379"/>
                  </a:lnTo>
                  <a:lnTo>
                    <a:pt x="379" y="0"/>
                  </a:lnTo>
                  <a:lnTo>
                    <a:pt x="381" y="5"/>
                  </a:lnTo>
                  <a:close/>
                </a:path>
              </a:pathLst>
            </a:custGeom>
            <a:solidFill>
              <a:srgbClr val="D2CBE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09" name="Freeform 67">
              <a:extLst>
                <a:ext uri="{FF2B5EF4-FFF2-40B4-BE49-F238E27FC236}">
                  <a16:creationId xmlns:a16="http://schemas.microsoft.com/office/drawing/2014/main" id="{F90D9FAB-6230-A2E9-EE01-DDA46FEF6C2A}"/>
                </a:ext>
              </a:extLst>
            </p:cNvPr>
            <p:cNvSpPr>
              <a:spLocks/>
            </p:cNvSpPr>
            <p:nvPr/>
          </p:nvSpPr>
          <p:spPr bwMode="auto">
            <a:xfrm>
              <a:off x="3398" y="2369"/>
              <a:ext cx="387" cy="381"/>
            </a:xfrm>
            <a:custGeom>
              <a:avLst/>
              <a:gdLst>
                <a:gd name="T0" fmla="*/ 387 w 387"/>
                <a:gd name="T1" fmla="*/ 4 h 381"/>
                <a:gd name="T2" fmla="*/ 13 w 387"/>
                <a:gd name="T3" fmla="*/ 378 h 381"/>
                <a:gd name="T4" fmla="*/ 0 w 387"/>
                <a:gd name="T5" fmla="*/ 381 h 381"/>
                <a:gd name="T6" fmla="*/ 383 w 387"/>
                <a:gd name="T7" fmla="*/ 0 h 381"/>
                <a:gd name="T8" fmla="*/ 387 w 387"/>
                <a:gd name="T9" fmla="*/ 4 h 381"/>
              </a:gdLst>
              <a:ahLst/>
              <a:cxnLst>
                <a:cxn ang="0">
                  <a:pos x="T0" y="T1"/>
                </a:cxn>
                <a:cxn ang="0">
                  <a:pos x="T2" y="T3"/>
                </a:cxn>
                <a:cxn ang="0">
                  <a:pos x="T4" y="T5"/>
                </a:cxn>
                <a:cxn ang="0">
                  <a:pos x="T6" y="T7"/>
                </a:cxn>
                <a:cxn ang="0">
                  <a:pos x="T8" y="T9"/>
                </a:cxn>
              </a:cxnLst>
              <a:rect l="0" t="0" r="r" b="b"/>
              <a:pathLst>
                <a:path w="387" h="381">
                  <a:moveTo>
                    <a:pt x="387" y="4"/>
                  </a:moveTo>
                  <a:lnTo>
                    <a:pt x="13" y="378"/>
                  </a:lnTo>
                  <a:lnTo>
                    <a:pt x="0" y="381"/>
                  </a:lnTo>
                  <a:lnTo>
                    <a:pt x="383" y="0"/>
                  </a:lnTo>
                  <a:lnTo>
                    <a:pt x="387" y="4"/>
                  </a:lnTo>
                  <a:close/>
                </a:path>
              </a:pathLst>
            </a:custGeom>
            <a:solidFill>
              <a:srgbClr val="D2CBE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0" name="Freeform 68">
              <a:extLst>
                <a:ext uri="{FF2B5EF4-FFF2-40B4-BE49-F238E27FC236}">
                  <a16:creationId xmlns:a16="http://schemas.microsoft.com/office/drawing/2014/main" id="{5F33C3BF-66A8-3DB4-4945-6392F15B790F}"/>
                </a:ext>
              </a:extLst>
            </p:cNvPr>
            <p:cNvSpPr>
              <a:spLocks/>
            </p:cNvSpPr>
            <p:nvPr/>
          </p:nvSpPr>
          <p:spPr bwMode="auto">
            <a:xfrm>
              <a:off x="3394" y="2367"/>
              <a:ext cx="389" cy="385"/>
            </a:xfrm>
            <a:custGeom>
              <a:avLst/>
              <a:gdLst>
                <a:gd name="T0" fmla="*/ 389 w 389"/>
                <a:gd name="T1" fmla="*/ 4 h 385"/>
                <a:gd name="T2" fmla="*/ 10 w 389"/>
                <a:gd name="T3" fmla="*/ 383 h 385"/>
                <a:gd name="T4" fmla="*/ 0 w 389"/>
                <a:gd name="T5" fmla="*/ 385 h 385"/>
                <a:gd name="T6" fmla="*/ 385 w 389"/>
                <a:gd name="T7" fmla="*/ 0 h 385"/>
                <a:gd name="T8" fmla="*/ 389 w 389"/>
                <a:gd name="T9" fmla="*/ 4 h 385"/>
              </a:gdLst>
              <a:ahLst/>
              <a:cxnLst>
                <a:cxn ang="0">
                  <a:pos x="T0" y="T1"/>
                </a:cxn>
                <a:cxn ang="0">
                  <a:pos x="T2" y="T3"/>
                </a:cxn>
                <a:cxn ang="0">
                  <a:pos x="T4" y="T5"/>
                </a:cxn>
                <a:cxn ang="0">
                  <a:pos x="T6" y="T7"/>
                </a:cxn>
                <a:cxn ang="0">
                  <a:pos x="T8" y="T9"/>
                </a:cxn>
              </a:cxnLst>
              <a:rect l="0" t="0" r="r" b="b"/>
              <a:pathLst>
                <a:path w="389" h="385">
                  <a:moveTo>
                    <a:pt x="389" y="4"/>
                  </a:moveTo>
                  <a:lnTo>
                    <a:pt x="10" y="383"/>
                  </a:lnTo>
                  <a:lnTo>
                    <a:pt x="0" y="385"/>
                  </a:lnTo>
                  <a:lnTo>
                    <a:pt x="385" y="0"/>
                  </a:lnTo>
                  <a:lnTo>
                    <a:pt x="389" y="4"/>
                  </a:lnTo>
                  <a:close/>
                </a:path>
              </a:pathLst>
            </a:custGeom>
            <a:solidFill>
              <a:srgbClr val="D6D0E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1" name="Freeform 69">
              <a:extLst>
                <a:ext uri="{FF2B5EF4-FFF2-40B4-BE49-F238E27FC236}">
                  <a16:creationId xmlns:a16="http://schemas.microsoft.com/office/drawing/2014/main" id="{C047CFDD-B46E-B155-A033-6D25C0C2DBFF}"/>
                </a:ext>
              </a:extLst>
            </p:cNvPr>
            <p:cNvSpPr>
              <a:spLocks/>
            </p:cNvSpPr>
            <p:nvPr/>
          </p:nvSpPr>
          <p:spPr bwMode="auto">
            <a:xfrm>
              <a:off x="3387" y="2365"/>
              <a:ext cx="394" cy="389"/>
            </a:xfrm>
            <a:custGeom>
              <a:avLst/>
              <a:gdLst>
                <a:gd name="T0" fmla="*/ 394 w 394"/>
                <a:gd name="T1" fmla="*/ 4 h 389"/>
                <a:gd name="T2" fmla="*/ 11 w 394"/>
                <a:gd name="T3" fmla="*/ 385 h 389"/>
                <a:gd name="T4" fmla="*/ 0 w 394"/>
                <a:gd name="T5" fmla="*/ 389 h 389"/>
                <a:gd name="T6" fmla="*/ 392 w 394"/>
                <a:gd name="T7" fmla="*/ 0 h 389"/>
                <a:gd name="T8" fmla="*/ 394 w 394"/>
                <a:gd name="T9" fmla="*/ 4 h 389"/>
              </a:gdLst>
              <a:ahLst/>
              <a:cxnLst>
                <a:cxn ang="0">
                  <a:pos x="T0" y="T1"/>
                </a:cxn>
                <a:cxn ang="0">
                  <a:pos x="T2" y="T3"/>
                </a:cxn>
                <a:cxn ang="0">
                  <a:pos x="T4" y="T5"/>
                </a:cxn>
                <a:cxn ang="0">
                  <a:pos x="T6" y="T7"/>
                </a:cxn>
                <a:cxn ang="0">
                  <a:pos x="T8" y="T9"/>
                </a:cxn>
              </a:cxnLst>
              <a:rect l="0" t="0" r="r" b="b"/>
              <a:pathLst>
                <a:path w="394" h="389">
                  <a:moveTo>
                    <a:pt x="394" y="4"/>
                  </a:moveTo>
                  <a:lnTo>
                    <a:pt x="11" y="385"/>
                  </a:lnTo>
                  <a:lnTo>
                    <a:pt x="0" y="389"/>
                  </a:lnTo>
                  <a:lnTo>
                    <a:pt x="392" y="0"/>
                  </a:lnTo>
                  <a:lnTo>
                    <a:pt x="394" y="4"/>
                  </a:lnTo>
                  <a:close/>
                </a:path>
              </a:pathLst>
            </a:custGeom>
            <a:solidFill>
              <a:srgbClr val="D6D0E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2" name="Freeform 70">
              <a:extLst>
                <a:ext uri="{FF2B5EF4-FFF2-40B4-BE49-F238E27FC236}">
                  <a16:creationId xmlns:a16="http://schemas.microsoft.com/office/drawing/2014/main" id="{00D4268B-BCF8-1037-D808-3D750EF8DEEE}"/>
                </a:ext>
              </a:extLst>
            </p:cNvPr>
            <p:cNvSpPr>
              <a:spLocks/>
            </p:cNvSpPr>
            <p:nvPr/>
          </p:nvSpPr>
          <p:spPr bwMode="auto">
            <a:xfrm>
              <a:off x="3383" y="2362"/>
              <a:ext cx="396" cy="394"/>
            </a:xfrm>
            <a:custGeom>
              <a:avLst/>
              <a:gdLst>
                <a:gd name="T0" fmla="*/ 396 w 396"/>
                <a:gd name="T1" fmla="*/ 5 h 394"/>
                <a:gd name="T2" fmla="*/ 11 w 396"/>
                <a:gd name="T3" fmla="*/ 390 h 394"/>
                <a:gd name="T4" fmla="*/ 0 w 396"/>
                <a:gd name="T5" fmla="*/ 394 h 394"/>
                <a:gd name="T6" fmla="*/ 393 w 396"/>
                <a:gd name="T7" fmla="*/ 0 h 394"/>
                <a:gd name="T8" fmla="*/ 396 w 396"/>
                <a:gd name="T9" fmla="*/ 5 h 394"/>
              </a:gdLst>
              <a:ahLst/>
              <a:cxnLst>
                <a:cxn ang="0">
                  <a:pos x="T0" y="T1"/>
                </a:cxn>
                <a:cxn ang="0">
                  <a:pos x="T2" y="T3"/>
                </a:cxn>
                <a:cxn ang="0">
                  <a:pos x="T4" y="T5"/>
                </a:cxn>
                <a:cxn ang="0">
                  <a:pos x="T6" y="T7"/>
                </a:cxn>
                <a:cxn ang="0">
                  <a:pos x="T8" y="T9"/>
                </a:cxn>
              </a:cxnLst>
              <a:rect l="0" t="0" r="r" b="b"/>
              <a:pathLst>
                <a:path w="396" h="394">
                  <a:moveTo>
                    <a:pt x="396" y="5"/>
                  </a:moveTo>
                  <a:lnTo>
                    <a:pt x="11" y="390"/>
                  </a:lnTo>
                  <a:lnTo>
                    <a:pt x="0" y="394"/>
                  </a:lnTo>
                  <a:lnTo>
                    <a:pt x="393" y="0"/>
                  </a:lnTo>
                  <a:lnTo>
                    <a:pt x="396" y="5"/>
                  </a:lnTo>
                  <a:close/>
                </a:path>
              </a:pathLst>
            </a:custGeom>
            <a:solidFill>
              <a:srgbClr val="D6D0E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3" name="Freeform 71">
              <a:extLst>
                <a:ext uri="{FF2B5EF4-FFF2-40B4-BE49-F238E27FC236}">
                  <a16:creationId xmlns:a16="http://schemas.microsoft.com/office/drawing/2014/main" id="{FF7EDD0F-E53C-FC11-8FE4-DA3A63DE734E}"/>
                </a:ext>
              </a:extLst>
            </p:cNvPr>
            <p:cNvSpPr>
              <a:spLocks/>
            </p:cNvSpPr>
            <p:nvPr/>
          </p:nvSpPr>
          <p:spPr bwMode="auto">
            <a:xfrm>
              <a:off x="3376" y="2360"/>
              <a:ext cx="403" cy="398"/>
            </a:xfrm>
            <a:custGeom>
              <a:avLst/>
              <a:gdLst>
                <a:gd name="T0" fmla="*/ 403 w 403"/>
                <a:gd name="T1" fmla="*/ 5 h 398"/>
                <a:gd name="T2" fmla="*/ 11 w 403"/>
                <a:gd name="T3" fmla="*/ 394 h 398"/>
                <a:gd name="T4" fmla="*/ 0 w 403"/>
                <a:gd name="T5" fmla="*/ 398 h 398"/>
                <a:gd name="T6" fmla="*/ 398 w 403"/>
                <a:gd name="T7" fmla="*/ 0 h 398"/>
                <a:gd name="T8" fmla="*/ 403 w 403"/>
                <a:gd name="T9" fmla="*/ 5 h 398"/>
              </a:gdLst>
              <a:ahLst/>
              <a:cxnLst>
                <a:cxn ang="0">
                  <a:pos x="T0" y="T1"/>
                </a:cxn>
                <a:cxn ang="0">
                  <a:pos x="T2" y="T3"/>
                </a:cxn>
                <a:cxn ang="0">
                  <a:pos x="T4" y="T5"/>
                </a:cxn>
                <a:cxn ang="0">
                  <a:pos x="T6" y="T7"/>
                </a:cxn>
                <a:cxn ang="0">
                  <a:pos x="T8" y="T9"/>
                </a:cxn>
              </a:cxnLst>
              <a:rect l="0" t="0" r="r" b="b"/>
              <a:pathLst>
                <a:path w="403" h="398">
                  <a:moveTo>
                    <a:pt x="403" y="5"/>
                  </a:moveTo>
                  <a:lnTo>
                    <a:pt x="11" y="394"/>
                  </a:lnTo>
                  <a:lnTo>
                    <a:pt x="0" y="398"/>
                  </a:lnTo>
                  <a:lnTo>
                    <a:pt x="398" y="0"/>
                  </a:lnTo>
                  <a:lnTo>
                    <a:pt x="403" y="5"/>
                  </a:lnTo>
                  <a:close/>
                </a:path>
              </a:pathLst>
            </a:custGeom>
            <a:solidFill>
              <a:srgbClr val="D6D0E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4" name="Freeform 72">
              <a:extLst>
                <a:ext uri="{FF2B5EF4-FFF2-40B4-BE49-F238E27FC236}">
                  <a16:creationId xmlns:a16="http://schemas.microsoft.com/office/drawing/2014/main" id="{0898313E-F8D0-678E-1FB0-3BD526B1357F}"/>
                </a:ext>
              </a:extLst>
            </p:cNvPr>
            <p:cNvSpPr>
              <a:spLocks/>
            </p:cNvSpPr>
            <p:nvPr/>
          </p:nvSpPr>
          <p:spPr bwMode="auto">
            <a:xfrm>
              <a:off x="3372" y="2358"/>
              <a:ext cx="404" cy="403"/>
            </a:xfrm>
            <a:custGeom>
              <a:avLst/>
              <a:gdLst>
                <a:gd name="T0" fmla="*/ 404 w 404"/>
                <a:gd name="T1" fmla="*/ 4 h 403"/>
                <a:gd name="T2" fmla="*/ 11 w 404"/>
                <a:gd name="T3" fmla="*/ 398 h 403"/>
                <a:gd name="T4" fmla="*/ 0 w 404"/>
                <a:gd name="T5" fmla="*/ 403 h 403"/>
                <a:gd name="T6" fmla="*/ 402 w 404"/>
                <a:gd name="T7" fmla="*/ 0 h 403"/>
                <a:gd name="T8" fmla="*/ 404 w 404"/>
                <a:gd name="T9" fmla="*/ 4 h 403"/>
              </a:gdLst>
              <a:ahLst/>
              <a:cxnLst>
                <a:cxn ang="0">
                  <a:pos x="T0" y="T1"/>
                </a:cxn>
                <a:cxn ang="0">
                  <a:pos x="T2" y="T3"/>
                </a:cxn>
                <a:cxn ang="0">
                  <a:pos x="T4" y="T5"/>
                </a:cxn>
                <a:cxn ang="0">
                  <a:pos x="T6" y="T7"/>
                </a:cxn>
                <a:cxn ang="0">
                  <a:pos x="T8" y="T9"/>
                </a:cxn>
              </a:cxnLst>
              <a:rect l="0" t="0" r="r" b="b"/>
              <a:pathLst>
                <a:path w="404" h="403">
                  <a:moveTo>
                    <a:pt x="404" y="4"/>
                  </a:moveTo>
                  <a:lnTo>
                    <a:pt x="11" y="398"/>
                  </a:lnTo>
                  <a:lnTo>
                    <a:pt x="0" y="403"/>
                  </a:lnTo>
                  <a:lnTo>
                    <a:pt x="402" y="0"/>
                  </a:lnTo>
                  <a:lnTo>
                    <a:pt x="404" y="4"/>
                  </a:lnTo>
                  <a:close/>
                </a:path>
              </a:pathLst>
            </a:custGeom>
            <a:solidFill>
              <a:srgbClr val="D6D0E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5" name="Freeform 73">
              <a:extLst>
                <a:ext uri="{FF2B5EF4-FFF2-40B4-BE49-F238E27FC236}">
                  <a16:creationId xmlns:a16="http://schemas.microsoft.com/office/drawing/2014/main" id="{56A29E71-7477-538F-0048-7D7242DBECBC}"/>
                </a:ext>
              </a:extLst>
            </p:cNvPr>
            <p:cNvSpPr>
              <a:spLocks/>
            </p:cNvSpPr>
            <p:nvPr/>
          </p:nvSpPr>
          <p:spPr bwMode="auto">
            <a:xfrm>
              <a:off x="3365" y="2356"/>
              <a:ext cx="409" cy="405"/>
            </a:xfrm>
            <a:custGeom>
              <a:avLst/>
              <a:gdLst>
                <a:gd name="T0" fmla="*/ 409 w 409"/>
                <a:gd name="T1" fmla="*/ 4 h 405"/>
                <a:gd name="T2" fmla="*/ 11 w 409"/>
                <a:gd name="T3" fmla="*/ 402 h 405"/>
                <a:gd name="T4" fmla="*/ 0 w 409"/>
                <a:gd name="T5" fmla="*/ 405 h 405"/>
                <a:gd name="T6" fmla="*/ 407 w 409"/>
                <a:gd name="T7" fmla="*/ 0 h 405"/>
                <a:gd name="T8" fmla="*/ 409 w 409"/>
                <a:gd name="T9" fmla="*/ 4 h 405"/>
              </a:gdLst>
              <a:ahLst/>
              <a:cxnLst>
                <a:cxn ang="0">
                  <a:pos x="T0" y="T1"/>
                </a:cxn>
                <a:cxn ang="0">
                  <a:pos x="T2" y="T3"/>
                </a:cxn>
                <a:cxn ang="0">
                  <a:pos x="T4" y="T5"/>
                </a:cxn>
                <a:cxn ang="0">
                  <a:pos x="T6" y="T7"/>
                </a:cxn>
                <a:cxn ang="0">
                  <a:pos x="T8" y="T9"/>
                </a:cxn>
              </a:cxnLst>
              <a:rect l="0" t="0" r="r" b="b"/>
              <a:pathLst>
                <a:path w="409" h="405">
                  <a:moveTo>
                    <a:pt x="409" y="4"/>
                  </a:moveTo>
                  <a:lnTo>
                    <a:pt x="11" y="402"/>
                  </a:lnTo>
                  <a:lnTo>
                    <a:pt x="0" y="405"/>
                  </a:lnTo>
                  <a:lnTo>
                    <a:pt x="407" y="0"/>
                  </a:lnTo>
                  <a:lnTo>
                    <a:pt x="409" y="4"/>
                  </a:lnTo>
                  <a:close/>
                </a:path>
              </a:pathLst>
            </a:custGeom>
            <a:solidFill>
              <a:srgbClr val="D6D0E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6" name="Freeform 74">
              <a:extLst>
                <a:ext uri="{FF2B5EF4-FFF2-40B4-BE49-F238E27FC236}">
                  <a16:creationId xmlns:a16="http://schemas.microsoft.com/office/drawing/2014/main" id="{5B4BFA46-36E6-1330-F610-336381E59336}"/>
                </a:ext>
              </a:extLst>
            </p:cNvPr>
            <p:cNvSpPr>
              <a:spLocks/>
            </p:cNvSpPr>
            <p:nvPr/>
          </p:nvSpPr>
          <p:spPr bwMode="auto">
            <a:xfrm>
              <a:off x="3361" y="2354"/>
              <a:ext cx="413" cy="409"/>
            </a:xfrm>
            <a:custGeom>
              <a:avLst/>
              <a:gdLst>
                <a:gd name="T0" fmla="*/ 413 w 413"/>
                <a:gd name="T1" fmla="*/ 4 h 409"/>
                <a:gd name="T2" fmla="*/ 11 w 413"/>
                <a:gd name="T3" fmla="*/ 407 h 409"/>
                <a:gd name="T4" fmla="*/ 0 w 413"/>
                <a:gd name="T5" fmla="*/ 409 h 409"/>
                <a:gd name="T6" fmla="*/ 409 w 413"/>
                <a:gd name="T7" fmla="*/ 0 h 409"/>
                <a:gd name="T8" fmla="*/ 413 w 413"/>
                <a:gd name="T9" fmla="*/ 4 h 409"/>
              </a:gdLst>
              <a:ahLst/>
              <a:cxnLst>
                <a:cxn ang="0">
                  <a:pos x="T0" y="T1"/>
                </a:cxn>
                <a:cxn ang="0">
                  <a:pos x="T2" y="T3"/>
                </a:cxn>
                <a:cxn ang="0">
                  <a:pos x="T4" y="T5"/>
                </a:cxn>
                <a:cxn ang="0">
                  <a:pos x="T6" y="T7"/>
                </a:cxn>
                <a:cxn ang="0">
                  <a:pos x="T8" y="T9"/>
                </a:cxn>
              </a:cxnLst>
              <a:rect l="0" t="0" r="r" b="b"/>
              <a:pathLst>
                <a:path w="413" h="409">
                  <a:moveTo>
                    <a:pt x="413" y="4"/>
                  </a:moveTo>
                  <a:lnTo>
                    <a:pt x="11" y="407"/>
                  </a:lnTo>
                  <a:lnTo>
                    <a:pt x="0" y="409"/>
                  </a:lnTo>
                  <a:lnTo>
                    <a:pt x="409" y="0"/>
                  </a:lnTo>
                  <a:lnTo>
                    <a:pt x="413" y="4"/>
                  </a:lnTo>
                  <a:close/>
                </a:path>
              </a:pathLst>
            </a:custGeom>
            <a:solidFill>
              <a:srgbClr val="D6D0E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7" name="Freeform 75">
              <a:extLst>
                <a:ext uri="{FF2B5EF4-FFF2-40B4-BE49-F238E27FC236}">
                  <a16:creationId xmlns:a16="http://schemas.microsoft.com/office/drawing/2014/main" id="{1387D7C9-04DB-2992-5771-62FACB79AEEA}"/>
                </a:ext>
              </a:extLst>
            </p:cNvPr>
            <p:cNvSpPr>
              <a:spLocks/>
            </p:cNvSpPr>
            <p:nvPr/>
          </p:nvSpPr>
          <p:spPr bwMode="auto">
            <a:xfrm>
              <a:off x="3356" y="2351"/>
              <a:ext cx="416" cy="414"/>
            </a:xfrm>
            <a:custGeom>
              <a:avLst/>
              <a:gdLst>
                <a:gd name="T0" fmla="*/ 416 w 416"/>
                <a:gd name="T1" fmla="*/ 5 h 414"/>
                <a:gd name="T2" fmla="*/ 9 w 416"/>
                <a:gd name="T3" fmla="*/ 410 h 414"/>
                <a:gd name="T4" fmla="*/ 0 w 416"/>
                <a:gd name="T5" fmla="*/ 414 h 414"/>
                <a:gd name="T6" fmla="*/ 0 w 416"/>
                <a:gd name="T7" fmla="*/ 414 h 414"/>
                <a:gd name="T8" fmla="*/ 412 w 416"/>
                <a:gd name="T9" fmla="*/ 0 h 414"/>
                <a:gd name="T10" fmla="*/ 416 w 416"/>
                <a:gd name="T11" fmla="*/ 5 h 414"/>
              </a:gdLst>
              <a:ahLst/>
              <a:cxnLst>
                <a:cxn ang="0">
                  <a:pos x="T0" y="T1"/>
                </a:cxn>
                <a:cxn ang="0">
                  <a:pos x="T2" y="T3"/>
                </a:cxn>
                <a:cxn ang="0">
                  <a:pos x="T4" y="T5"/>
                </a:cxn>
                <a:cxn ang="0">
                  <a:pos x="T6" y="T7"/>
                </a:cxn>
                <a:cxn ang="0">
                  <a:pos x="T8" y="T9"/>
                </a:cxn>
                <a:cxn ang="0">
                  <a:pos x="T10" y="T11"/>
                </a:cxn>
              </a:cxnLst>
              <a:rect l="0" t="0" r="r" b="b"/>
              <a:pathLst>
                <a:path w="416" h="414">
                  <a:moveTo>
                    <a:pt x="416" y="5"/>
                  </a:moveTo>
                  <a:lnTo>
                    <a:pt x="9" y="410"/>
                  </a:lnTo>
                  <a:lnTo>
                    <a:pt x="0" y="414"/>
                  </a:lnTo>
                  <a:lnTo>
                    <a:pt x="0" y="414"/>
                  </a:lnTo>
                  <a:lnTo>
                    <a:pt x="412" y="0"/>
                  </a:lnTo>
                  <a:lnTo>
                    <a:pt x="416" y="5"/>
                  </a:lnTo>
                  <a:close/>
                </a:path>
              </a:pathLst>
            </a:custGeom>
            <a:solidFill>
              <a:srgbClr val="D6D0E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8" name="Freeform 76">
              <a:extLst>
                <a:ext uri="{FF2B5EF4-FFF2-40B4-BE49-F238E27FC236}">
                  <a16:creationId xmlns:a16="http://schemas.microsoft.com/office/drawing/2014/main" id="{DB75D7B1-87C7-2878-5328-A6B17ACDD5D8}"/>
                </a:ext>
              </a:extLst>
            </p:cNvPr>
            <p:cNvSpPr>
              <a:spLocks/>
            </p:cNvSpPr>
            <p:nvPr/>
          </p:nvSpPr>
          <p:spPr bwMode="auto">
            <a:xfrm>
              <a:off x="3354" y="2349"/>
              <a:ext cx="416" cy="416"/>
            </a:xfrm>
            <a:custGeom>
              <a:avLst/>
              <a:gdLst>
                <a:gd name="T0" fmla="*/ 416 w 416"/>
                <a:gd name="T1" fmla="*/ 5 h 416"/>
                <a:gd name="T2" fmla="*/ 7 w 416"/>
                <a:gd name="T3" fmla="*/ 414 h 416"/>
                <a:gd name="T4" fmla="*/ 2 w 416"/>
                <a:gd name="T5" fmla="*/ 416 h 416"/>
                <a:gd name="T6" fmla="*/ 0 w 416"/>
                <a:gd name="T7" fmla="*/ 414 h 416"/>
                <a:gd name="T8" fmla="*/ 414 w 416"/>
                <a:gd name="T9" fmla="*/ 0 h 416"/>
                <a:gd name="T10" fmla="*/ 416 w 416"/>
                <a:gd name="T11" fmla="*/ 5 h 416"/>
              </a:gdLst>
              <a:ahLst/>
              <a:cxnLst>
                <a:cxn ang="0">
                  <a:pos x="T0" y="T1"/>
                </a:cxn>
                <a:cxn ang="0">
                  <a:pos x="T2" y="T3"/>
                </a:cxn>
                <a:cxn ang="0">
                  <a:pos x="T4" y="T5"/>
                </a:cxn>
                <a:cxn ang="0">
                  <a:pos x="T6" y="T7"/>
                </a:cxn>
                <a:cxn ang="0">
                  <a:pos x="T8" y="T9"/>
                </a:cxn>
                <a:cxn ang="0">
                  <a:pos x="T10" y="T11"/>
                </a:cxn>
              </a:cxnLst>
              <a:rect l="0" t="0" r="r" b="b"/>
              <a:pathLst>
                <a:path w="416" h="416">
                  <a:moveTo>
                    <a:pt x="416" y="5"/>
                  </a:moveTo>
                  <a:lnTo>
                    <a:pt x="7" y="414"/>
                  </a:lnTo>
                  <a:lnTo>
                    <a:pt x="2" y="416"/>
                  </a:lnTo>
                  <a:lnTo>
                    <a:pt x="0" y="414"/>
                  </a:lnTo>
                  <a:lnTo>
                    <a:pt x="414" y="0"/>
                  </a:lnTo>
                  <a:lnTo>
                    <a:pt x="416" y="5"/>
                  </a:lnTo>
                  <a:close/>
                </a:path>
              </a:pathLst>
            </a:custGeom>
            <a:solidFill>
              <a:srgbClr val="D6D0E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19" name="Freeform 77">
              <a:extLst>
                <a:ext uri="{FF2B5EF4-FFF2-40B4-BE49-F238E27FC236}">
                  <a16:creationId xmlns:a16="http://schemas.microsoft.com/office/drawing/2014/main" id="{07CCEFB3-62EF-327F-005D-5588ECD64650}"/>
                </a:ext>
              </a:extLst>
            </p:cNvPr>
            <p:cNvSpPr>
              <a:spLocks/>
            </p:cNvSpPr>
            <p:nvPr/>
          </p:nvSpPr>
          <p:spPr bwMode="auto">
            <a:xfrm>
              <a:off x="3352" y="2347"/>
              <a:ext cx="416" cy="418"/>
            </a:xfrm>
            <a:custGeom>
              <a:avLst/>
              <a:gdLst>
                <a:gd name="T0" fmla="*/ 416 w 416"/>
                <a:gd name="T1" fmla="*/ 4 h 418"/>
                <a:gd name="T2" fmla="*/ 4 w 416"/>
                <a:gd name="T3" fmla="*/ 418 h 418"/>
                <a:gd name="T4" fmla="*/ 0 w 416"/>
                <a:gd name="T5" fmla="*/ 414 h 418"/>
                <a:gd name="T6" fmla="*/ 413 w 416"/>
                <a:gd name="T7" fmla="*/ 0 h 418"/>
                <a:gd name="T8" fmla="*/ 416 w 416"/>
                <a:gd name="T9" fmla="*/ 4 h 418"/>
              </a:gdLst>
              <a:ahLst/>
              <a:cxnLst>
                <a:cxn ang="0">
                  <a:pos x="T0" y="T1"/>
                </a:cxn>
                <a:cxn ang="0">
                  <a:pos x="T2" y="T3"/>
                </a:cxn>
                <a:cxn ang="0">
                  <a:pos x="T4" y="T5"/>
                </a:cxn>
                <a:cxn ang="0">
                  <a:pos x="T6" y="T7"/>
                </a:cxn>
                <a:cxn ang="0">
                  <a:pos x="T8" y="T9"/>
                </a:cxn>
              </a:cxnLst>
              <a:rect l="0" t="0" r="r" b="b"/>
              <a:pathLst>
                <a:path w="416" h="418">
                  <a:moveTo>
                    <a:pt x="416" y="4"/>
                  </a:moveTo>
                  <a:lnTo>
                    <a:pt x="4" y="418"/>
                  </a:lnTo>
                  <a:lnTo>
                    <a:pt x="0" y="414"/>
                  </a:lnTo>
                  <a:lnTo>
                    <a:pt x="413" y="0"/>
                  </a:lnTo>
                  <a:lnTo>
                    <a:pt x="416" y="4"/>
                  </a:lnTo>
                  <a:close/>
                </a:path>
              </a:pathLst>
            </a:custGeom>
            <a:solidFill>
              <a:srgbClr val="D6D0E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0" name="Freeform 78">
              <a:extLst>
                <a:ext uri="{FF2B5EF4-FFF2-40B4-BE49-F238E27FC236}">
                  <a16:creationId xmlns:a16="http://schemas.microsoft.com/office/drawing/2014/main" id="{808CEAA1-C6FC-E28C-CD53-1CE8B91009AB}"/>
                </a:ext>
              </a:extLst>
            </p:cNvPr>
            <p:cNvSpPr>
              <a:spLocks/>
            </p:cNvSpPr>
            <p:nvPr/>
          </p:nvSpPr>
          <p:spPr bwMode="auto">
            <a:xfrm>
              <a:off x="3350" y="2345"/>
              <a:ext cx="418" cy="418"/>
            </a:xfrm>
            <a:custGeom>
              <a:avLst/>
              <a:gdLst>
                <a:gd name="T0" fmla="*/ 418 w 418"/>
                <a:gd name="T1" fmla="*/ 4 h 418"/>
                <a:gd name="T2" fmla="*/ 4 w 418"/>
                <a:gd name="T3" fmla="*/ 418 h 418"/>
                <a:gd name="T4" fmla="*/ 0 w 418"/>
                <a:gd name="T5" fmla="*/ 413 h 418"/>
                <a:gd name="T6" fmla="*/ 413 w 418"/>
                <a:gd name="T7" fmla="*/ 0 h 418"/>
                <a:gd name="T8" fmla="*/ 418 w 418"/>
                <a:gd name="T9" fmla="*/ 4 h 418"/>
              </a:gdLst>
              <a:ahLst/>
              <a:cxnLst>
                <a:cxn ang="0">
                  <a:pos x="T0" y="T1"/>
                </a:cxn>
                <a:cxn ang="0">
                  <a:pos x="T2" y="T3"/>
                </a:cxn>
                <a:cxn ang="0">
                  <a:pos x="T4" y="T5"/>
                </a:cxn>
                <a:cxn ang="0">
                  <a:pos x="T6" y="T7"/>
                </a:cxn>
                <a:cxn ang="0">
                  <a:pos x="T8" y="T9"/>
                </a:cxn>
              </a:cxnLst>
              <a:rect l="0" t="0" r="r" b="b"/>
              <a:pathLst>
                <a:path w="418" h="418">
                  <a:moveTo>
                    <a:pt x="418" y="4"/>
                  </a:moveTo>
                  <a:lnTo>
                    <a:pt x="4" y="418"/>
                  </a:lnTo>
                  <a:lnTo>
                    <a:pt x="0" y="413"/>
                  </a:lnTo>
                  <a:lnTo>
                    <a:pt x="413" y="0"/>
                  </a:lnTo>
                  <a:lnTo>
                    <a:pt x="418" y="4"/>
                  </a:lnTo>
                  <a:close/>
                </a:path>
              </a:pathLst>
            </a:custGeom>
            <a:solidFill>
              <a:srgbClr val="D6D0E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1" name="Freeform 79">
              <a:extLst>
                <a:ext uri="{FF2B5EF4-FFF2-40B4-BE49-F238E27FC236}">
                  <a16:creationId xmlns:a16="http://schemas.microsoft.com/office/drawing/2014/main" id="{2E39D7C2-7B58-E106-50E7-C59C699E15FA}"/>
                </a:ext>
              </a:extLst>
            </p:cNvPr>
            <p:cNvSpPr>
              <a:spLocks/>
            </p:cNvSpPr>
            <p:nvPr/>
          </p:nvSpPr>
          <p:spPr bwMode="auto">
            <a:xfrm>
              <a:off x="3348" y="2343"/>
              <a:ext cx="417" cy="418"/>
            </a:xfrm>
            <a:custGeom>
              <a:avLst/>
              <a:gdLst>
                <a:gd name="T0" fmla="*/ 417 w 417"/>
                <a:gd name="T1" fmla="*/ 4 h 418"/>
                <a:gd name="T2" fmla="*/ 4 w 417"/>
                <a:gd name="T3" fmla="*/ 418 h 418"/>
                <a:gd name="T4" fmla="*/ 0 w 417"/>
                <a:gd name="T5" fmla="*/ 413 h 418"/>
                <a:gd name="T6" fmla="*/ 413 w 417"/>
                <a:gd name="T7" fmla="*/ 0 h 418"/>
                <a:gd name="T8" fmla="*/ 417 w 417"/>
                <a:gd name="T9" fmla="*/ 4 h 418"/>
              </a:gdLst>
              <a:ahLst/>
              <a:cxnLst>
                <a:cxn ang="0">
                  <a:pos x="T0" y="T1"/>
                </a:cxn>
                <a:cxn ang="0">
                  <a:pos x="T2" y="T3"/>
                </a:cxn>
                <a:cxn ang="0">
                  <a:pos x="T4" y="T5"/>
                </a:cxn>
                <a:cxn ang="0">
                  <a:pos x="T6" y="T7"/>
                </a:cxn>
                <a:cxn ang="0">
                  <a:pos x="T8" y="T9"/>
                </a:cxn>
              </a:cxnLst>
              <a:rect l="0" t="0" r="r" b="b"/>
              <a:pathLst>
                <a:path w="417" h="418">
                  <a:moveTo>
                    <a:pt x="417" y="4"/>
                  </a:moveTo>
                  <a:lnTo>
                    <a:pt x="4" y="418"/>
                  </a:lnTo>
                  <a:lnTo>
                    <a:pt x="0" y="413"/>
                  </a:lnTo>
                  <a:lnTo>
                    <a:pt x="413" y="0"/>
                  </a:lnTo>
                  <a:lnTo>
                    <a:pt x="417" y="4"/>
                  </a:lnTo>
                  <a:close/>
                </a:path>
              </a:pathLst>
            </a:custGeom>
            <a:solidFill>
              <a:srgbClr val="D6D0E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2" name="Freeform 80">
              <a:extLst>
                <a:ext uri="{FF2B5EF4-FFF2-40B4-BE49-F238E27FC236}">
                  <a16:creationId xmlns:a16="http://schemas.microsoft.com/office/drawing/2014/main" id="{0AD7B7A3-3278-D524-3DB5-6E969FFF7C4F}"/>
                </a:ext>
              </a:extLst>
            </p:cNvPr>
            <p:cNvSpPr>
              <a:spLocks/>
            </p:cNvSpPr>
            <p:nvPr/>
          </p:nvSpPr>
          <p:spPr bwMode="auto">
            <a:xfrm>
              <a:off x="3348" y="2341"/>
              <a:ext cx="415" cy="417"/>
            </a:xfrm>
            <a:custGeom>
              <a:avLst/>
              <a:gdLst>
                <a:gd name="T0" fmla="*/ 415 w 415"/>
                <a:gd name="T1" fmla="*/ 4 h 417"/>
                <a:gd name="T2" fmla="*/ 2 w 415"/>
                <a:gd name="T3" fmla="*/ 417 h 417"/>
                <a:gd name="T4" fmla="*/ 0 w 415"/>
                <a:gd name="T5" fmla="*/ 413 h 417"/>
                <a:gd name="T6" fmla="*/ 413 w 415"/>
                <a:gd name="T7" fmla="*/ 0 h 417"/>
                <a:gd name="T8" fmla="*/ 415 w 415"/>
                <a:gd name="T9" fmla="*/ 4 h 417"/>
              </a:gdLst>
              <a:ahLst/>
              <a:cxnLst>
                <a:cxn ang="0">
                  <a:pos x="T0" y="T1"/>
                </a:cxn>
                <a:cxn ang="0">
                  <a:pos x="T2" y="T3"/>
                </a:cxn>
                <a:cxn ang="0">
                  <a:pos x="T4" y="T5"/>
                </a:cxn>
                <a:cxn ang="0">
                  <a:pos x="T6" y="T7"/>
                </a:cxn>
                <a:cxn ang="0">
                  <a:pos x="T8" y="T9"/>
                </a:cxn>
              </a:cxnLst>
              <a:rect l="0" t="0" r="r" b="b"/>
              <a:pathLst>
                <a:path w="415" h="417">
                  <a:moveTo>
                    <a:pt x="415" y="4"/>
                  </a:moveTo>
                  <a:lnTo>
                    <a:pt x="2" y="417"/>
                  </a:lnTo>
                  <a:lnTo>
                    <a:pt x="0" y="413"/>
                  </a:lnTo>
                  <a:lnTo>
                    <a:pt x="413" y="0"/>
                  </a:lnTo>
                  <a:lnTo>
                    <a:pt x="415" y="4"/>
                  </a:lnTo>
                  <a:close/>
                </a:path>
              </a:pathLst>
            </a:custGeom>
            <a:solidFill>
              <a:srgbClr val="D6D0E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3" name="Freeform 81">
              <a:extLst>
                <a:ext uri="{FF2B5EF4-FFF2-40B4-BE49-F238E27FC236}">
                  <a16:creationId xmlns:a16="http://schemas.microsoft.com/office/drawing/2014/main" id="{4A324048-4AB3-5D57-D668-7550CCC5D080}"/>
                </a:ext>
              </a:extLst>
            </p:cNvPr>
            <p:cNvSpPr>
              <a:spLocks/>
            </p:cNvSpPr>
            <p:nvPr/>
          </p:nvSpPr>
          <p:spPr bwMode="auto">
            <a:xfrm>
              <a:off x="3345" y="2338"/>
              <a:ext cx="416" cy="418"/>
            </a:xfrm>
            <a:custGeom>
              <a:avLst/>
              <a:gdLst>
                <a:gd name="T0" fmla="*/ 416 w 416"/>
                <a:gd name="T1" fmla="*/ 5 h 418"/>
                <a:gd name="T2" fmla="*/ 3 w 416"/>
                <a:gd name="T3" fmla="*/ 418 h 418"/>
                <a:gd name="T4" fmla="*/ 0 w 416"/>
                <a:gd name="T5" fmla="*/ 414 h 418"/>
                <a:gd name="T6" fmla="*/ 414 w 416"/>
                <a:gd name="T7" fmla="*/ 0 h 418"/>
                <a:gd name="T8" fmla="*/ 416 w 416"/>
                <a:gd name="T9" fmla="*/ 5 h 418"/>
              </a:gdLst>
              <a:ahLst/>
              <a:cxnLst>
                <a:cxn ang="0">
                  <a:pos x="T0" y="T1"/>
                </a:cxn>
                <a:cxn ang="0">
                  <a:pos x="T2" y="T3"/>
                </a:cxn>
                <a:cxn ang="0">
                  <a:pos x="T4" y="T5"/>
                </a:cxn>
                <a:cxn ang="0">
                  <a:pos x="T6" y="T7"/>
                </a:cxn>
                <a:cxn ang="0">
                  <a:pos x="T8" y="T9"/>
                </a:cxn>
              </a:cxnLst>
              <a:rect l="0" t="0" r="r" b="b"/>
              <a:pathLst>
                <a:path w="416" h="418">
                  <a:moveTo>
                    <a:pt x="416" y="5"/>
                  </a:moveTo>
                  <a:lnTo>
                    <a:pt x="3" y="418"/>
                  </a:lnTo>
                  <a:lnTo>
                    <a:pt x="0" y="414"/>
                  </a:lnTo>
                  <a:lnTo>
                    <a:pt x="414" y="0"/>
                  </a:lnTo>
                  <a:lnTo>
                    <a:pt x="416" y="5"/>
                  </a:lnTo>
                  <a:close/>
                </a:path>
              </a:pathLst>
            </a:custGeom>
            <a:solidFill>
              <a:srgbClr val="D9D3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4" name="Freeform 82">
              <a:extLst>
                <a:ext uri="{FF2B5EF4-FFF2-40B4-BE49-F238E27FC236}">
                  <a16:creationId xmlns:a16="http://schemas.microsoft.com/office/drawing/2014/main" id="{65B5BC65-1F60-99D6-B7EF-D0F9D3F7A48E}"/>
                </a:ext>
              </a:extLst>
            </p:cNvPr>
            <p:cNvSpPr>
              <a:spLocks/>
            </p:cNvSpPr>
            <p:nvPr/>
          </p:nvSpPr>
          <p:spPr bwMode="auto">
            <a:xfrm>
              <a:off x="3343" y="2336"/>
              <a:ext cx="418" cy="418"/>
            </a:xfrm>
            <a:custGeom>
              <a:avLst/>
              <a:gdLst>
                <a:gd name="T0" fmla="*/ 418 w 418"/>
                <a:gd name="T1" fmla="*/ 5 h 418"/>
                <a:gd name="T2" fmla="*/ 5 w 418"/>
                <a:gd name="T3" fmla="*/ 418 h 418"/>
                <a:gd name="T4" fmla="*/ 0 w 418"/>
                <a:gd name="T5" fmla="*/ 414 h 418"/>
                <a:gd name="T6" fmla="*/ 414 w 418"/>
                <a:gd name="T7" fmla="*/ 0 h 418"/>
                <a:gd name="T8" fmla="*/ 418 w 418"/>
                <a:gd name="T9" fmla="*/ 5 h 418"/>
              </a:gdLst>
              <a:ahLst/>
              <a:cxnLst>
                <a:cxn ang="0">
                  <a:pos x="T0" y="T1"/>
                </a:cxn>
                <a:cxn ang="0">
                  <a:pos x="T2" y="T3"/>
                </a:cxn>
                <a:cxn ang="0">
                  <a:pos x="T4" y="T5"/>
                </a:cxn>
                <a:cxn ang="0">
                  <a:pos x="T6" y="T7"/>
                </a:cxn>
                <a:cxn ang="0">
                  <a:pos x="T8" y="T9"/>
                </a:cxn>
              </a:cxnLst>
              <a:rect l="0" t="0" r="r" b="b"/>
              <a:pathLst>
                <a:path w="418" h="418">
                  <a:moveTo>
                    <a:pt x="418" y="5"/>
                  </a:moveTo>
                  <a:lnTo>
                    <a:pt x="5" y="418"/>
                  </a:lnTo>
                  <a:lnTo>
                    <a:pt x="0" y="414"/>
                  </a:lnTo>
                  <a:lnTo>
                    <a:pt x="414" y="0"/>
                  </a:lnTo>
                  <a:lnTo>
                    <a:pt x="418" y="5"/>
                  </a:lnTo>
                  <a:close/>
                </a:path>
              </a:pathLst>
            </a:custGeom>
            <a:solidFill>
              <a:srgbClr val="D9D3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5" name="Freeform 83">
              <a:extLst>
                <a:ext uri="{FF2B5EF4-FFF2-40B4-BE49-F238E27FC236}">
                  <a16:creationId xmlns:a16="http://schemas.microsoft.com/office/drawing/2014/main" id="{71EF8D13-56AF-AFE8-50C4-DAAB90E6322C}"/>
                </a:ext>
              </a:extLst>
            </p:cNvPr>
            <p:cNvSpPr>
              <a:spLocks/>
            </p:cNvSpPr>
            <p:nvPr/>
          </p:nvSpPr>
          <p:spPr bwMode="auto">
            <a:xfrm>
              <a:off x="3341" y="2334"/>
              <a:ext cx="418" cy="418"/>
            </a:xfrm>
            <a:custGeom>
              <a:avLst/>
              <a:gdLst>
                <a:gd name="T0" fmla="*/ 418 w 418"/>
                <a:gd name="T1" fmla="*/ 4 h 418"/>
                <a:gd name="T2" fmla="*/ 4 w 418"/>
                <a:gd name="T3" fmla="*/ 418 h 418"/>
                <a:gd name="T4" fmla="*/ 0 w 418"/>
                <a:gd name="T5" fmla="*/ 413 h 418"/>
                <a:gd name="T6" fmla="*/ 416 w 418"/>
                <a:gd name="T7" fmla="*/ 0 h 418"/>
                <a:gd name="T8" fmla="*/ 418 w 418"/>
                <a:gd name="T9" fmla="*/ 4 h 418"/>
              </a:gdLst>
              <a:ahLst/>
              <a:cxnLst>
                <a:cxn ang="0">
                  <a:pos x="T0" y="T1"/>
                </a:cxn>
                <a:cxn ang="0">
                  <a:pos x="T2" y="T3"/>
                </a:cxn>
                <a:cxn ang="0">
                  <a:pos x="T4" y="T5"/>
                </a:cxn>
                <a:cxn ang="0">
                  <a:pos x="T6" y="T7"/>
                </a:cxn>
                <a:cxn ang="0">
                  <a:pos x="T8" y="T9"/>
                </a:cxn>
              </a:cxnLst>
              <a:rect l="0" t="0" r="r" b="b"/>
              <a:pathLst>
                <a:path w="418" h="418">
                  <a:moveTo>
                    <a:pt x="418" y="4"/>
                  </a:moveTo>
                  <a:lnTo>
                    <a:pt x="4" y="418"/>
                  </a:lnTo>
                  <a:lnTo>
                    <a:pt x="0" y="413"/>
                  </a:lnTo>
                  <a:lnTo>
                    <a:pt x="416" y="0"/>
                  </a:lnTo>
                  <a:lnTo>
                    <a:pt x="418" y="4"/>
                  </a:lnTo>
                  <a:close/>
                </a:path>
              </a:pathLst>
            </a:custGeom>
            <a:solidFill>
              <a:srgbClr val="D9D3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6" name="Freeform 84">
              <a:extLst>
                <a:ext uri="{FF2B5EF4-FFF2-40B4-BE49-F238E27FC236}">
                  <a16:creationId xmlns:a16="http://schemas.microsoft.com/office/drawing/2014/main" id="{C8071481-621A-94AF-73F2-3063EC580C29}"/>
                </a:ext>
              </a:extLst>
            </p:cNvPr>
            <p:cNvSpPr>
              <a:spLocks/>
            </p:cNvSpPr>
            <p:nvPr/>
          </p:nvSpPr>
          <p:spPr bwMode="auto">
            <a:xfrm>
              <a:off x="3339" y="2332"/>
              <a:ext cx="418" cy="418"/>
            </a:xfrm>
            <a:custGeom>
              <a:avLst/>
              <a:gdLst>
                <a:gd name="T0" fmla="*/ 418 w 418"/>
                <a:gd name="T1" fmla="*/ 4 h 418"/>
                <a:gd name="T2" fmla="*/ 4 w 418"/>
                <a:gd name="T3" fmla="*/ 418 h 418"/>
                <a:gd name="T4" fmla="*/ 0 w 418"/>
                <a:gd name="T5" fmla="*/ 413 h 418"/>
                <a:gd name="T6" fmla="*/ 416 w 418"/>
                <a:gd name="T7" fmla="*/ 0 h 418"/>
                <a:gd name="T8" fmla="*/ 418 w 418"/>
                <a:gd name="T9" fmla="*/ 4 h 418"/>
              </a:gdLst>
              <a:ahLst/>
              <a:cxnLst>
                <a:cxn ang="0">
                  <a:pos x="T0" y="T1"/>
                </a:cxn>
                <a:cxn ang="0">
                  <a:pos x="T2" y="T3"/>
                </a:cxn>
                <a:cxn ang="0">
                  <a:pos x="T4" y="T5"/>
                </a:cxn>
                <a:cxn ang="0">
                  <a:pos x="T6" y="T7"/>
                </a:cxn>
                <a:cxn ang="0">
                  <a:pos x="T8" y="T9"/>
                </a:cxn>
              </a:cxnLst>
              <a:rect l="0" t="0" r="r" b="b"/>
              <a:pathLst>
                <a:path w="418" h="418">
                  <a:moveTo>
                    <a:pt x="418" y="4"/>
                  </a:moveTo>
                  <a:lnTo>
                    <a:pt x="4" y="418"/>
                  </a:lnTo>
                  <a:lnTo>
                    <a:pt x="0" y="413"/>
                  </a:lnTo>
                  <a:lnTo>
                    <a:pt x="416" y="0"/>
                  </a:lnTo>
                  <a:lnTo>
                    <a:pt x="418" y="4"/>
                  </a:lnTo>
                  <a:close/>
                </a:path>
              </a:pathLst>
            </a:custGeom>
            <a:solidFill>
              <a:srgbClr val="D9D3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7" name="Freeform 85">
              <a:extLst>
                <a:ext uri="{FF2B5EF4-FFF2-40B4-BE49-F238E27FC236}">
                  <a16:creationId xmlns:a16="http://schemas.microsoft.com/office/drawing/2014/main" id="{24B2A9CE-90F5-CF10-9DB8-48D0D70C93BC}"/>
                </a:ext>
              </a:extLst>
            </p:cNvPr>
            <p:cNvSpPr>
              <a:spLocks/>
            </p:cNvSpPr>
            <p:nvPr/>
          </p:nvSpPr>
          <p:spPr bwMode="auto">
            <a:xfrm>
              <a:off x="3339" y="2330"/>
              <a:ext cx="418" cy="417"/>
            </a:xfrm>
            <a:custGeom>
              <a:avLst/>
              <a:gdLst>
                <a:gd name="T0" fmla="*/ 418 w 418"/>
                <a:gd name="T1" fmla="*/ 4 h 417"/>
                <a:gd name="T2" fmla="*/ 2 w 418"/>
                <a:gd name="T3" fmla="*/ 417 h 417"/>
                <a:gd name="T4" fmla="*/ 0 w 418"/>
                <a:gd name="T5" fmla="*/ 413 h 417"/>
                <a:gd name="T6" fmla="*/ 413 w 418"/>
                <a:gd name="T7" fmla="*/ 0 h 417"/>
                <a:gd name="T8" fmla="*/ 418 w 418"/>
                <a:gd name="T9" fmla="*/ 4 h 417"/>
              </a:gdLst>
              <a:ahLst/>
              <a:cxnLst>
                <a:cxn ang="0">
                  <a:pos x="T0" y="T1"/>
                </a:cxn>
                <a:cxn ang="0">
                  <a:pos x="T2" y="T3"/>
                </a:cxn>
                <a:cxn ang="0">
                  <a:pos x="T4" y="T5"/>
                </a:cxn>
                <a:cxn ang="0">
                  <a:pos x="T6" y="T7"/>
                </a:cxn>
                <a:cxn ang="0">
                  <a:pos x="T8" y="T9"/>
                </a:cxn>
              </a:cxnLst>
              <a:rect l="0" t="0" r="r" b="b"/>
              <a:pathLst>
                <a:path w="418" h="417">
                  <a:moveTo>
                    <a:pt x="418" y="4"/>
                  </a:moveTo>
                  <a:lnTo>
                    <a:pt x="2" y="417"/>
                  </a:lnTo>
                  <a:lnTo>
                    <a:pt x="0" y="413"/>
                  </a:lnTo>
                  <a:lnTo>
                    <a:pt x="413" y="0"/>
                  </a:lnTo>
                  <a:lnTo>
                    <a:pt x="418" y="4"/>
                  </a:lnTo>
                  <a:close/>
                </a:path>
              </a:pathLst>
            </a:custGeom>
            <a:solidFill>
              <a:srgbClr val="D9D3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8" name="Freeform 86">
              <a:extLst>
                <a:ext uri="{FF2B5EF4-FFF2-40B4-BE49-F238E27FC236}">
                  <a16:creationId xmlns:a16="http://schemas.microsoft.com/office/drawing/2014/main" id="{C83EED04-ED20-4794-2828-4BBADE39117A}"/>
                </a:ext>
              </a:extLst>
            </p:cNvPr>
            <p:cNvSpPr>
              <a:spLocks/>
            </p:cNvSpPr>
            <p:nvPr/>
          </p:nvSpPr>
          <p:spPr bwMode="auto">
            <a:xfrm>
              <a:off x="3337" y="2327"/>
              <a:ext cx="418" cy="418"/>
            </a:xfrm>
            <a:custGeom>
              <a:avLst/>
              <a:gdLst>
                <a:gd name="T0" fmla="*/ 418 w 418"/>
                <a:gd name="T1" fmla="*/ 5 h 418"/>
                <a:gd name="T2" fmla="*/ 2 w 418"/>
                <a:gd name="T3" fmla="*/ 418 h 418"/>
                <a:gd name="T4" fmla="*/ 0 w 418"/>
                <a:gd name="T5" fmla="*/ 414 h 418"/>
                <a:gd name="T6" fmla="*/ 413 w 418"/>
                <a:gd name="T7" fmla="*/ 0 h 418"/>
                <a:gd name="T8" fmla="*/ 418 w 418"/>
                <a:gd name="T9" fmla="*/ 5 h 418"/>
              </a:gdLst>
              <a:ahLst/>
              <a:cxnLst>
                <a:cxn ang="0">
                  <a:pos x="T0" y="T1"/>
                </a:cxn>
                <a:cxn ang="0">
                  <a:pos x="T2" y="T3"/>
                </a:cxn>
                <a:cxn ang="0">
                  <a:pos x="T4" y="T5"/>
                </a:cxn>
                <a:cxn ang="0">
                  <a:pos x="T6" y="T7"/>
                </a:cxn>
                <a:cxn ang="0">
                  <a:pos x="T8" y="T9"/>
                </a:cxn>
              </a:cxnLst>
              <a:rect l="0" t="0" r="r" b="b"/>
              <a:pathLst>
                <a:path w="418" h="418">
                  <a:moveTo>
                    <a:pt x="418" y="5"/>
                  </a:moveTo>
                  <a:lnTo>
                    <a:pt x="2" y="418"/>
                  </a:lnTo>
                  <a:lnTo>
                    <a:pt x="0" y="414"/>
                  </a:lnTo>
                  <a:lnTo>
                    <a:pt x="413" y="0"/>
                  </a:lnTo>
                  <a:lnTo>
                    <a:pt x="418" y="5"/>
                  </a:lnTo>
                  <a:close/>
                </a:path>
              </a:pathLst>
            </a:custGeom>
            <a:solidFill>
              <a:srgbClr val="D9D3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29" name="Freeform 87">
              <a:extLst>
                <a:ext uri="{FF2B5EF4-FFF2-40B4-BE49-F238E27FC236}">
                  <a16:creationId xmlns:a16="http://schemas.microsoft.com/office/drawing/2014/main" id="{5512345D-B83A-3361-C4EB-0984B555DDF6}"/>
                </a:ext>
              </a:extLst>
            </p:cNvPr>
            <p:cNvSpPr>
              <a:spLocks/>
            </p:cNvSpPr>
            <p:nvPr/>
          </p:nvSpPr>
          <p:spPr bwMode="auto">
            <a:xfrm>
              <a:off x="3334" y="2325"/>
              <a:ext cx="418" cy="418"/>
            </a:xfrm>
            <a:custGeom>
              <a:avLst/>
              <a:gdLst>
                <a:gd name="T0" fmla="*/ 418 w 418"/>
                <a:gd name="T1" fmla="*/ 5 h 418"/>
                <a:gd name="T2" fmla="*/ 5 w 418"/>
                <a:gd name="T3" fmla="*/ 418 h 418"/>
                <a:gd name="T4" fmla="*/ 0 w 418"/>
                <a:gd name="T5" fmla="*/ 414 h 418"/>
                <a:gd name="T6" fmla="*/ 416 w 418"/>
                <a:gd name="T7" fmla="*/ 0 h 418"/>
                <a:gd name="T8" fmla="*/ 418 w 418"/>
                <a:gd name="T9" fmla="*/ 5 h 418"/>
              </a:gdLst>
              <a:ahLst/>
              <a:cxnLst>
                <a:cxn ang="0">
                  <a:pos x="T0" y="T1"/>
                </a:cxn>
                <a:cxn ang="0">
                  <a:pos x="T2" y="T3"/>
                </a:cxn>
                <a:cxn ang="0">
                  <a:pos x="T4" y="T5"/>
                </a:cxn>
                <a:cxn ang="0">
                  <a:pos x="T6" y="T7"/>
                </a:cxn>
                <a:cxn ang="0">
                  <a:pos x="T8" y="T9"/>
                </a:cxn>
              </a:cxnLst>
              <a:rect l="0" t="0" r="r" b="b"/>
              <a:pathLst>
                <a:path w="418" h="418">
                  <a:moveTo>
                    <a:pt x="418" y="5"/>
                  </a:moveTo>
                  <a:lnTo>
                    <a:pt x="5" y="418"/>
                  </a:lnTo>
                  <a:lnTo>
                    <a:pt x="0" y="414"/>
                  </a:lnTo>
                  <a:lnTo>
                    <a:pt x="416" y="0"/>
                  </a:lnTo>
                  <a:lnTo>
                    <a:pt x="418" y="5"/>
                  </a:lnTo>
                  <a:close/>
                </a:path>
              </a:pathLst>
            </a:custGeom>
            <a:solidFill>
              <a:srgbClr val="D9D3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0" name="Freeform 88">
              <a:extLst>
                <a:ext uri="{FF2B5EF4-FFF2-40B4-BE49-F238E27FC236}">
                  <a16:creationId xmlns:a16="http://schemas.microsoft.com/office/drawing/2014/main" id="{0C0A6A16-D37B-B5B7-F2D7-37B3B868267F}"/>
                </a:ext>
              </a:extLst>
            </p:cNvPr>
            <p:cNvSpPr>
              <a:spLocks/>
            </p:cNvSpPr>
            <p:nvPr/>
          </p:nvSpPr>
          <p:spPr bwMode="auto">
            <a:xfrm>
              <a:off x="3332" y="2323"/>
              <a:ext cx="418" cy="418"/>
            </a:xfrm>
            <a:custGeom>
              <a:avLst/>
              <a:gdLst>
                <a:gd name="T0" fmla="*/ 418 w 418"/>
                <a:gd name="T1" fmla="*/ 4 h 418"/>
                <a:gd name="T2" fmla="*/ 5 w 418"/>
                <a:gd name="T3" fmla="*/ 418 h 418"/>
                <a:gd name="T4" fmla="*/ 0 w 418"/>
                <a:gd name="T5" fmla="*/ 416 h 418"/>
                <a:gd name="T6" fmla="*/ 416 w 418"/>
                <a:gd name="T7" fmla="*/ 0 h 418"/>
                <a:gd name="T8" fmla="*/ 418 w 418"/>
                <a:gd name="T9" fmla="*/ 4 h 418"/>
              </a:gdLst>
              <a:ahLst/>
              <a:cxnLst>
                <a:cxn ang="0">
                  <a:pos x="T0" y="T1"/>
                </a:cxn>
                <a:cxn ang="0">
                  <a:pos x="T2" y="T3"/>
                </a:cxn>
                <a:cxn ang="0">
                  <a:pos x="T4" y="T5"/>
                </a:cxn>
                <a:cxn ang="0">
                  <a:pos x="T6" y="T7"/>
                </a:cxn>
                <a:cxn ang="0">
                  <a:pos x="T8" y="T9"/>
                </a:cxn>
              </a:cxnLst>
              <a:rect l="0" t="0" r="r" b="b"/>
              <a:pathLst>
                <a:path w="418" h="418">
                  <a:moveTo>
                    <a:pt x="418" y="4"/>
                  </a:moveTo>
                  <a:lnTo>
                    <a:pt x="5" y="418"/>
                  </a:lnTo>
                  <a:lnTo>
                    <a:pt x="0" y="416"/>
                  </a:lnTo>
                  <a:lnTo>
                    <a:pt x="416" y="0"/>
                  </a:lnTo>
                  <a:lnTo>
                    <a:pt x="418" y="4"/>
                  </a:lnTo>
                  <a:close/>
                </a:path>
              </a:pathLst>
            </a:custGeom>
            <a:solidFill>
              <a:srgbClr val="D9D3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1" name="Freeform 89">
              <a:extLst>
                <a:ext uri="{FF2B5EF4-FFF2-40B4-BE49-F238E27FC236}">
                  <a16:creationId xmlns:a16="http://schemas.microsoft.com/office/drawing/2014/main" id="{691786DE-4869-369D-5F8D-BE484809F969}"/>
                </a:ext>
              </a:extLst>
            </p:cNvPr>
            <p:cNvSpPr>
              <a:spLocks/>
            </p:cNvSpPr>
            <p:nvPr/>
          </p:nvSpPr>
          <p:spPr bwMode="auto">
            <a:xfrm>
              <a:off x="3330" y="2321"/>
              <a:ext cx="420" cy="418"/>
            </a:xfrm>
            <a:custGeom>
              <a:avLst/>
              <a:gdLst>
                <a:gd name="T0" fmla="*/ 420 w 420"/>
                <a:gd name="T1" fmla="*/ 4 h 418"/>
                <a:gd name="T2" fmla="*/ 4 w 420"/>
                <a:gd name="T3" fmla="*/ 418 h 418"/>
                <a:gd name="T4" fmla="*/ 0 w 420"/>
                <a:gd name="T5" fmla="*/ 415 h 418"/>
                <a:gd name="T6" fmla="*/ 416 w 420"/>
                <a:gd name="T7" fmla="*/ 0 h 418"/>
                <a:gd name="T8" fmla="*/ 420 w 420"/>
                <a:gd name="T9" fmla="*/ 4 h 418"/>
              </a:gdLst>
              <a:ahLst/>
              <a:cxnLst>
                <a:cxn ang="0">
                  <a:pos x="T0" y="T1"/>
                </a:cxn>
                <a:cxn ang="0">
                  <a:pos x="T2" y="T3"/>
                </a:cxn>
                <a:cxn ang="0">
                  <a:pos x="T4" y="T5"/>
                </a:cxn>
                <a:cxn ang="0">
                  <a:pos x="T6" y="T7"/>
                </a:cxn>
                <a:cxn ang="0">
                  <a:pos x="T8" y="T9"/>
                </a:cxn>
              </a:cxnLst>
              <a:rect l="0" t="0" r="r" b="b"/>
              <a:pathLst>
                <a:path w="420" h="418">
                  <a:moveTo>
                    <a:pt x="420" y="4"/>
                  </a:moveTo>
                  <a:lnTo>
                    <a:pt x="4" y="418"/>
                  </a:lnTo>
                  <a:lnTo>
                    <a:pt x="0" y="415"/>
                  </a:lnTo>
                  <a:lnTo>
                    <a:pt x="416" y="0"/>
                  </a:lnTo>
                  <a:lnTo>
                    <a:pt x="420" y="4"/>
                  </a:lnTo>
                  <a:close/>
                </a:path>
              </a:pathLst>
            </a:custGeom>
            <a:solidFill>
              <a:srgbClr val="D9D3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2" name="Freeform 90">
              <a:extLst>
                <a:ext uri="{FF2B5EF4-FFF2-40B4-BE49-F238E27FC236}">
                  <a16:creationId xmlns:a16="http://schemas.microsoft.com/office/drawing/2014/main" id="{FEF0A25E-17FE-1519-93C9-DAA98A47409C}"/>
                </a:ext>
              </a:extLst>
            </p:cNvPr>
            <p:cNvSpPr>
              <a:spLocks/>
            </p:cNvSpPr>
            <p:nvPr/>
          </p:nvSpPr>
          <p:spPr bwMode="auto">
            <a:xfrm>
              <a:off x="3330" y="2319"/>
              <a:ext cx="418" cy="420"/>
            </a:xfrm>
            <a:custGeom>
              <a:avLst/>
              <a:gdLst>
                <a:gd name="T0" fmla="*/ 418 w 418"/>
                <a:gd name="T1" fmla="*/ 4 h 420"/>
                <a:gd name="T2" fmla="*/ 2 w 418"/>
                <a:gd name="T3" fmla="*/ 420 h 420"/>
                <a:gd name="T4" fmla="*/ 0 w 418"/>
                <a:gd name="T5" fmla="*/ 415 h 420"/>
                <a:gd name="T6" fmla="*/ 414 w 418"/>
                <a:gd name="T7" fmla="*/ 0 h 420"/>
                <a:gd name="T8" fmla="*/ 418 w 418"/>
                <a:gd name="T9" fmla="*/ 4 h 420"/>
              </a:gdLst>
              <a:ahLst/>
              <a:cxnLst>
                <a:cxn ang="0">
                  <a:pos x="T0" y="T1"/>
                </a:cxn>
                <a:cxn ang="0">
                  <a:pos x="T2" y="T3"/>
                </a:cxn>
                <a:cxn ang="0">
                  <a:pos x="T4" y="T5"/>
                </a:cxn>
                <a:cxn ang="0">
                  <a:pos x="T6" y="T7"/>
                </a:cxn>
                <a:cxn ang="0">
                  <a:pos x="T8" y="T9"/>
                </a:cxn>
              </a:cxnLst>
              <a:rect l="0" t="0" r="r" b="b"/>
              <a:pathLst>
                <a:path w="418" h="420">
                  <a:moveTo>
                    <a:pt x="418" y="4"/>
                  </a:moveTo>
                  <a:lnTo>
                    <a:pt x="2" y="420"/>
                  </a:lnTo>
                  <a:lnTo>
                    <a:pt x="0" y="415"/>
                  </a:lnTo>
                  <a:lnTo>
                    <a:pt x="414" y="0"/>
                  </a:lnTo>
                  <a:lnTo>
                    <a:pt x="418" y="4"/>
                  </a:lnTo>
                  <a:close/>
                </a:path>
              </a:pathLst>
            </a:custGeom>
            <a:solidFill>
              <a:srgbClr val="D9D3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3" name="Freeform 91">
              <a:extLst>
                <a:ext uri="{FF2B5EF4-FFF2-40B4-BE49-F238E27FC236}">
                  <a16:creationId xmlns:a16="http://schemas.microsoft.com/office/drawing/2014/main" id="{B2E1BEC5-5C27-4BE7-3515-56EA917A0EEE}"/>
                </a:ext>
              </a:extLst>
            </p:cNvPr>
            <p:cNvSpPr>
              <a:spLocks/>
            </p:cNvSpPr>
            <p:nvPr/>
          </p:nvSpPr>
          <p:spPr bwMode="auto">
            <a:xfrm>
              <a:off x="3328" y="2316"/>
              <a:ext cx="418" cy="420"/>
            </a:xfrm>
            <a:custGeom>
              <a:avLst/>
              <a:gdLst>
                <a:gd name="T0" fmla="*/ 418 w 418"/>
                <a:gd name="T1" fmla="*/ 5 h 420"/>
                <a:gd name="T2" fmla="*/ 2 w 418"/>
                <a:gd name="T3" fmla="*/ 420 h 420"/>
                <a:gd name="T4" fmla="*/ 0 w 418"/>
                <a:gd name="T5" fmla="*/ 416 h 420"/>
                <a:gd name="T6" fmla="*/ 416 w 418"/>
                <a:gd name="T7" fmla="*/ 0 h 420"/>
                <a:gd name="T8" fmla="*/ 418 w 418"/>
                <a:gd name="T9" fmla="*/ 5 h 420"/>
              </a:gdLst>
              <a:ahLst/>
              <a:cxnLst>
                <a:cxn ang="0">
                  <a:pos x="T0" y="T1"/>
                </a:cxn>
                <a:cxn ang="0">
                  <a:pos x="T2" y="T3"/>
                </a:cxn>
                <a:cxn ang="0">
                  <a:pos x="T4" y="T5"/>
                </a:cxn>
                <a:cxn ang="0">
                  <a:pos x="T6" y="T7"/>
                </a:cxn>
                <a:cxn ang="0">
                  <a:pos x="T8" y="T9"/>
                </a:cxn>
              </a:cxnLst>
              <a:rect l="0" t="0" r="r" b="b"/>
              <a:pathLst>
                <a:path w="418" h="420">
                  <a:moveTo>
                    <a:pt x="418" y="5"/>
                  </a:moveTo>
                  <a:lnTo>
                    <a:pt x="2" y="420"/>
                  </a:lnTo>
                  <a:lnTo>
                    <a:pt x="0" y="416"/>
                  </a:lnTo>
                  <a:lnTo>
                    <a:pt x="416" y="0"/>
                  </a:lnTo>
                  <a:lnTo>
                    <a:pt x="418" y="5"/>
                  </a:lnTo>
                  <a:close/>
                </a:path>
              </a:pathLst>
            </a:custGeom>
            <a:solidFill>
              <a:srgbClr val="D9D3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4" name="Freeform 92">
              <a:extLst>
                <a:ext uri="{FF2B5EF4-FFF2-40B4-BE49-F238E27FC236}">
                  <a16:creationId xmlns:a16="http://schemas.microsoft.com/office/drawing/2014/main" id="{624BC3A1-FE8C-3197-1BF4-DB855D8E5FA4}"/>
                </a:ext>
              </a:extLst>
            </p:cNvPr>
            <p:cNvSpPr>
              <a:spLocks/>
            </p:cNvSpPr>
            <p:nvPr/>
          </p:nvSpPr>
          <p:spPr bwMode="auto">
            <a:xfrm>
              <a:off x="3326" y="2314"/>
              <a:ext cx="418" cy="420"/>
            </a:xfrm>
            <a:custGeom>
              <a:avLst/>
              <a:gdLst>
                <a:gd name="T0" fmla="*/ 418 w 418"/>
                <a:gd name="T1" fmla="*/ 5 h 420"/>
                <a:gd name="T2" fmla="*/ 4 w 418"/>
                <a:gd name="T3" fmla="*/ 420 h 420"/>
                <a:gd name="T4" fmla="*/ 0 w 418"/>
                <a:gd name="T5" fmla="*/ 416 h 420"/>
                <a:gd name="T6" fmla="*/ 415 w 418"/>
                <a:gd name="T7" fmla="*/ 0 h 420"/>
                <a:gd name="T8" fmla="*/ 418 w 418"/>
                <a:gd name="T9" fmla="*/ 5 h 420"/>
              </a:gdLst>
              <a:ahLst/>
              <a:cxnLst>
                <a:cxn ang="0">
                  <a:pos x="T0" y="T1"/>
                </a:cxn>
                <a:cxn ang="0">
                  <a:pos x="T2" y="T3"/>
                </a:cxn>
                <a:cxn ang="0">
                  <a:pos x="T4" y="T5"/>
                </a:cxn>
                <a:cxn ang="0">
                  <a:pos x="T6" y="T7"/>
                </a:cxn>
                <a:cxn ang="0">
                  <a:pos x="T8" y="T9"/>
                </a:cxn>
              </a:cxnLst>
              <a:rect l="0" t="0" r="r" b="b"/>
              <a:pathLst>
                <a:path w="418" h="420">
                  <a:moveTo>
                    <a:pt x="418" y="5"/>
                  </a:moveTo>
                  <a:lnTo>
                    <a:pt x="4" y="420"/>
                  </a:lnTo>
                  <a:lnTo>
                    <a:pt x="0" y="416"/>
                  </a:lnTo>
                  <a:lnTo>
                    <a:pt x="415" y="0"/>
                  </a:lnTo>
                  <a:lnTo>
                    <a:pt x="418" y="5"/>
                  </a:lnTo>
                  <a:close/>
                </a:path>
              </a:pathLst>
            </a:custGeom>
            <a:solidFill>
              <a:srgbClr val="D9D3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5" name="Freeform 93">
              <a:extLst>
                <a:ext uri="{FF2B5EF4-FFF2-40B4-BE49-F238E27FC236}">
                  <a16:creationId xmlns:a16="http://schemas.microsoft.com/office/drawing/2014/main" id="{D8071977-0267-E37F-5206-1762068552E5}"/>
                </a:ext>
              </a:extLst>
            </p:cNvPr>
            <p:cNvSpPr>
              <a:spLocks/>
            </p:cNvSpPr>
            <p:nvPr/>
          </p:nvSpPr>
          <p:spPr bwMode="auto">
            <a:xfrm>
              <a:off x="3323" y="2312"/>
              <a:ext cx="421" cy="420"/>
            </a:xfrm>
            <a:custGeom>
              <a:avLst/>
              <a:gdLst>
                <a:gd name="T0" fmla="*/ 421 w 421"/>
                <a:gd name="T1" fmla="*/ 4 h 420"/>
                <a:gd name="T2" fmla="*/ 5 w 421"/>
                <a:gd name="T3" fmla="*/ 420 h 420"/>
                <a:gd name="T4" fmla="*/ 0 w 421"/>
                <a:gd name="T5" fmla="*/ 416 h 420"/>
                <a:gd name="T6" fmla="*/ 416 w 421"/>
                <a:gd name="T7" fmla="*/ 0 h 420"/>
                <a:gd name="T8" fmla="*/ 421 w 421"/>
                <a:gd name="T9" fmla="*/ 4 h 420"/>
              </a:gdLst>
              <a:ahLst/>
              <a:cxnLst>
                <a:cxn ang="0">
                  <a:pos x="T0" y="T1"/>
                </a:cxn>
                <a:cxn ang="0">
                  <a:pos x="T2" y="T3"/>
                </a:cxn>
                <a:cxn ang="0">
                  <a:pos x="T4" y="T5"/>
                </a:cxn>
                <a:cxn ang="0">
                  <a:pos x="T6" y="T7"/>
                </a:cxn>
                <a:cxn ang="0">
                  <a:pos x="T8" y="T9"/>
                </a:cxn>
              </a:cxnLst>
              <a:rect l="0" t="0" r="r" b="b"/>
              <a:pathLst>
                <a:path w="421" h="420">
                  <a:moveTo>
                    <a:pt x="421" y="4"/>
                  </a:moveTo>
                  <a:lnTo>
                    <a:pt x="5" y="420"/>
                  </a:lnTo>
                  <a:lnTo>
                    <a:pt x="0" y="416"/>
                  </a:lnTo>
                  <a:lnTo>
                    <a:pt x="416" y="0"/>
                  </a:lnTo>
                  <a:lnTo>
                    <a:pt x="421" y="4"/>
                  </a:lnTo>
                  <a:close/>
                </a:path>
              </a:pathLst>
            </a:custGeom>
            <a:solidFill>
              <a:srgbClr val="D9D3E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6" name="Freeform 94">
              <a:extLst>
                <a:ext uri="{FF2B5EF4-FFF2-40B4-BE49-F238E27FC236}">
                  <a16:creationId xmlns:a16="http://schemas.microsoft.com/office/drawing/2014/main" id="{99AA6B46-EF26-DB76-6663-C7EB88F007EF}"/>
                </a:ext>
              </a:extLst>
            </p:cNvPr>
            <p:cNvSpPr>
              <a:spLocks/>
            </p:cNvSpPr>
            <p:nvPr/>
          </p:nvSpPr>
          <p:spPr bwMode="auto">
            <a:xfrm>
              <a:off x="3321" y="2310"/>
              <a:ext cx="420" cy="420"/>
            </a:xfrm>
            <a:custGeom>
              <a:avLst/>
              <a:gdLst>
                <a:gd name="T0" fmla="*/ 420 w 420"/>
                <a:gd name="T1" fmla="*/ 4 h 420"/>
                <a:gd name="T2" fmla="*/ 5 w 420"/>
                <a:gd name="T3" fmla="*/ 420 h 420"/>
                <a:gd name="T4" fmla="*/ 0 w 420"/>
                <a:gd name="T5" fmla="*/ 416 h 420"/>
                <a:gd name="T6" fmla="*/ 418 w 420"/>
                <a:gd name="T7" fmla="*/ 0 h 420"/>
                <a:gd name="T8" fmla="*/ 420 w 420"/>
                <a:gd name="T9" fmla="*/ 4 h 420"/>
              </a:gdLst>
              <a:ahLst/>
              <a:cxnLst>
                <a:cxn ang="0">
                  <a:pos x="T0" y="T1"/>
                </a:cxn>
                <a:cxn ang="0">
                  <a:pos x="T2" y="T3"/>
                </a:cxn>
                <a:cxn ang="0">
                  <a:pos x="T4" y="T5"/>
                </a:cxn>
                <a:cxn ang="0">
                  <a:pos x="T6" y="T7"/>
                </a:cxn>
                <a:cxn ang="0">
                  <a:pos x="T8" y="T9"/>
                </a:cxn>
              </a:cxnLst>
              <a:rect l="0" t="0" r="r" b="b"/>
              <a:pathLst>
                <a:path w="420" h="420">
                  <a:moveTo>
                    <a:pt x="420" y="4"/>
                  </a:moveTo>
                  <a:lnTo>
                    <a:pt x="5" y="420"/>
                  </a:lnTo>
                  <a:lnTo>
                    <a:pt x="0" y="416"/>
                  </a:lnTo>
                  <a:lnTo>
                    <a:pt x="418" y="0"/>
                  </a:lnTo>
                  <a:lnTo>
                    <a:pt x="420" y="4"/>
                  </a:lnTo>
                  <a:close/>
                </a:path>
              </a:pathLst>
            </a:custGeom>
            <a:solidFill>
              <a:srgbClr val="DDD8E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7" name="Freeform 95">
              <a:extLst>
                <a:ext uri="{FF2B5EF4-FFF2-40B4-BE49-F238E27FC236}">
                  <a16:creationId xmlns:a16="http://schemas.microsoft.com/office/drawing/2014/main" id="{D87AA434-DA11-2324-A15D-3664E4AF9527}"/>
                </a:ext>
              </a:extLst>
            </p:cNvPr>
            <p:cNvSpPr>
              <a:spLocks/>
            </p:cNvSpPr>
            <p:nvPr/>
          </p:nvSpPr>
          <p:spPr bwMode="auto">
            <a:xfrm>
              <a:off x="3321" y="2308"/>
              <a:ext cx="418" cy="420"/>
            </a:xfrm>
            <a:custGeom>
              <a:avLst/>
              <a:gdLst>
                <a:gd name="T0" fmla="*/ 418 w 418"/>
                <a:gd name="T1" fmla="*/ 4 h 420"/>
                <a:gd name="T2" fmla="*/ 2 w 418"/>
                <a:gd name="T3" fmla="*/ 420 h 420"/>
                <a:gd name="T4" fmla="*/ 0 w 418"/>
                <a:gd name="T5" fmla="*/ 415 h 420"/>
                <a:gd name="T6" fmla="*/ 416 w 418"/>
                <a:gd name="T7" fmla="*/ 0 h 420"/>
                <a:gd name="T8" fmla="*/ 418 w 418"/>
                <a:gd name="T9" fmla="*/ 4 h 420"/>
              </a:gdLst>
              <a:ahLst/>
              <a:cxnLst>
                <a:cxn ang="0">
                  <a:pos x="T0" y="T1"/>
                </a:cxn>
                <a:cxn ang="0">
                  <a:pos x="T2" y="T3"/>
                </a:cxn>
                <a:cxn ang="0">
                  <a:pos x="T4" y="T5"/>
                </a:cxn>
                <a:cxn ang="0">
                  <a:pos x="T6" y="T7"/>
                </a:cxn>
                <a:cxn ang="0">
                  <a:pos x="T8" y="T9"/>
                </a:cxn>
              </a:cxnLst>
              <a:rect l="0" t="0" r="r" b="b"/>
              <a:pathLst>
                <a:path w="418" h="420">
                  <a:moveTo>
                    <a:pt x="418" y="4"/>
                  </a:moveTo>
                  <a:lnTo>
                    <a:pt x="2" y="420"/>
                  </a:lnTo>
                  <a:lnTo>
                    <a:pt x="0" y="415"/>
                  </a:lnTo>
                  <a:lnTo>
                    <a:pt x="416" y="0"/>
                  </a:lnTo>
                  <a:lnTo>
                    <a:pt x="418" y="4"/>
                  </a:lnTo>
                  <a:close/>
                </a:path>
              </a:pathLst>
            </a:custGeom>
            <a:solidFill>
              <a:srgbClr val="DDD8E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8" name="Freeform 96">
              <a:extLst>
                <a:ext uri="{FF2B5EF4-FFF2-40B4-BE49-F238E27FC236}">
                  <a16:creationId xmlns:a16="http://schemas.microsoft.com/office/drawing/2014/main" id="{70F0FEDC-EE82-A825-81AC-5AADCF95B16C}"/>
                </a:ext>
              </a:extLst>
            </p:cNvPr>
            <p:cNvSpPr>
              <a:spLocks/>
            </p:cNvSpPr>
            <p:nvPr/>
          </p:nvSpPr>
          <p:spPr bwMode="auto">
            <a:xfrm>
              <a:off x="3319" y="2305"/>
              <a:ext cx="420" cy="421"/>
            </a:xfrm>
            <a:custGeom>
              <a:avLst/>
              <a:gdLst>
                <a:gd name="T0" fmla="*/ 420 w 420"/>
                <a:gd name="T1" fmla="*/ 5 h 421"/>
                <a:gd name="T2" fmla="*/ 2 w 420"/>
                <a:gd name="T3" fmla="*/ 421 h 421"/>
                <a:gd name="T4" fmla="*/ 0 w 420"/>
                <a:gd name="T5" fmla="*/ 416 h 421"/>
                <a:gd name="T6" fmla="*/ 416 w 420"/>
                <a:gd name="T7" fmla="*/ 0 h 421"/>
                <a:gd name="T8" fmla="*/ 420 w 420"/>
                <a:gd name="T9" fmla="*/ 5 h 421"/>
              </a:gdLst>
              <a:ahLst/>
              <a:cxnLst>
                <a:cxn ang="0">
                  <a:pos x="T0" y="T1"/>
                </a:cxn>
                <a:cxn ang="0">
                  <a:pos x="T2" y="T3"/>
                </a:cxn>
                <a:cxn ang="0">
                  <a:pos x="T4" y="T5"/>
                </a:cxn>
                <a:cxn ang="0">
                  <a:pos x="T6" y="T7"/>
                </a:cxn>
                <a:cxn ang="0">
                  <a:pos x="T8" y="T9"/>
                </a:cxn>
              </a:cxnLst>
              <a:rect l="0" t="0" r="r" b="b"/>
              <a:pathLst>
                <a:path w="420" h="421">
                  <a:moveTo>
                    <a:pt x="420" y="5"/>
                  </a:moveTo>
                  <a:lnTo>
                    <a:pt x="2" y="421"/>
                  </a:lnTo>
                  <a:lnTo>
                    <a:pt x="0" y="416"/>
                  </a:lnTo>
                  <a:lnTo>
                    <a:pt x="416" y="0"/>
                  </a:lnTo>
                  <a:lnTo>
                    <a:pt x="420" y="5"/>
                  </a:lnTo>
                  <a:close/>
                </a:path>
              </a:pathLst>
            </a:custGeom>
            <a:solidFill>
              <a:srgbClr val="DDD8E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39" name="Freeform 97">
              <a:extLst>
                <a:ext uri="{FF2B5EF4-FFF2-40B4-BE49-F238E27FC236}">
                  <a16:creationId xmlns:a16="http://schemas.microsoft.com/office/drawing/2014/main" id="{22CDD1CE-DC6D-7994-F48D-3A0667A8145E}"/>
                </a:ext>
              </a:extLst>
            </p:cNvPr>
            <p:cNvSpPr>
              <a:spLocks/>
            </p:cNvSpPr>
            <p:nvPr/>
          </p:nvSpPr>
          <p:spPr bwMode="auto">
            <a:xfrm>
              <a:off x="3317" y="2305"/>
              <a:ext cx="420" cy="418"/>
            </a:xfrm>
            <a:custGeom>
              <a:avLst/>
              <a:gdLst>
                <a:gd name="T0" fmla="*/ 420 w 420"/>
                <a:gd name="T1" fmla="*/ 3 h 418"/>
                <a:gd name="T2" fmla="*/ 4 w 420"/>
                <a:gd name="T3" fmla="*/ 418 h 418"/>
                <a:gd name="T4" fmla="*/ 0 w 420"/>
                <a:gd name="T5" fmla="*/ 416 h 418"/>
                <a:gd name="T6" fmla="*/ 2 w 420"/>
                <a:gd name="T7" fmla="*/ 412 h 418"/>
                <a:gd name="T8" fmla="*/ 400 w 420"/>
                <a:gd name="T9" fmla="*/ 14 h 418"/>
                <a:gd name="T10" fmla="*/ 418 w 420"/>
                <a:gd name="T11" fmla="*/ 0 h 418"/>
                <a:gd name="T12" fmla="*/ 420 w 420"/>
                <a:gd name="T13" fmla="*/ 3 h 418"/>
              </a:gdLst>
              <a:ahLst/>
              <a:cxnLst>
                <a:cxn ang="0">
                  <a:pos x="T0" y="T1"/>
                </a:cxn>
                <a:cxn ang="0">
                  <a:pos x="T2" y="T3"/>
                </a:cxn>
                <a:cxn ang="0">
                  <a:pos x="T4" y="T5"/>
                </a:cxn>
                <a:cxn ang="0">
                  <a:pos x="T6" y="T7"/>
                </a:cxn>
                <a:cxn ang="0">
                  <a:pos x="T8" y="T9"/>
                </a:cxn>
                <a:cxn ang="0">
                  <a:pos x="T10" y="T11"/>
                </a:cxn>
                <a:cxn ang="0">
                  <a:pos x="T12" y="T13"/>
                </a:cxn>
              </a:cxnLst>
              <a:rect l="0" t="0" r="r" b="b"/>
              <a:pathLst>
                <a:path w="420" h="418">
                  <a:moveTo>
                    <a:pt x="420" y="3"/>
                  </a:moveTo>
                  <a:lnTo>
                    <a:pt x="4" y="418"/>
                  </a:lnTo>
                  <a:lnTo>
                    <a:pt x="0" y="416"/>
                  </a:lnTo>
                  <a:lnTo>
                    <a:pt x="2" y="412"/>
                  </a:lnTo>
                  <a:lnTo>
                    <a:pt x="400" y="14"/>
                  </a:lnTo>
                  <a:lnTo>
                    <a:pt x="418" y="0"/>
                  </a:lnTo>
                  <a:lnTo>
                    <a:pt x="420" y="3"/>
                  </a:lnTo>
                  <a:close/>
                </a:path>
              </a:pathLst>
            </a:custGeom>
            <a:solidFill>
              <a:srgbClr val="DDD8E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0" name="Freeform 98">
              <a:extLst>
                <a:ext uri="{FF2B5EF4-FFF2-40B4-BE49-F238E27FC236}">
                  <a16:creationId xmlns:a16="http://schemas.microsoft.com/office/drawing/2014/main" id="{F6C9DCB6-2F91-DB55-223E-6EDC0A9137C0}"/>
                </a:ext>
              </a:extLst>
            </p:cNvPr>
            <p:cNvSpPr>
              <a:spLocks/>
            </p:cNvSpPr>
            <p:nvPr/>
          </p:nvSpPr>
          <p:spPr bwMode="auto">
            <a:xfrm>
              <a:off x="3317" y="2305"/>
              <a:ext cx="418" cy="416"/>
            </a:xfrm>
            <a:custGeom>
              <a:avLst/>
              <a:gdLst>
                <a:gd name="T0" fmla="*/ 418 w 418"/>
                <a:gd name="T1" fmla="*/ 0 h 416"/>
                <a:gd name="T2" fmla="*/ 2 w 418"/>
                <a:gd name="T3" fmla="*/ 416 h 416"/>
                <a:gd name="T4" fmla="*/ 0 w 418"/>
                <a:gd name="T5" fmla="*/ 416 h 416"/>
                <a:gd name="T6" fmla="*/ 6 w 418"/>
                <a:gd name="T7" fmla="*/ 405 h 416"/>
                <a:gd name="T8" fmla="*/ 374 w 418"/>
                <a:gd name="T9" fmla="*/ 38 h 416"/>
                <a:gd name="T10" fmla="*/ 418 w 418"/>
                <a:gd name="T11" fmla="*/ 0 h 416"/>
                <a:gd name="T12" fmla="*/ 418 w 418"/>
                <a:gd name="T13" fmla="*/ 0 h 416"/>
              </a:gdLst>
              <a:ahLst/>
              <a:cxnLst>
                <a:cxn ang="0">
                  <a:pos x="T0" y="T1"/>
                </a:cxn>
                <a:cxn ang="0">
                  <a:pos x="T2" y="T3"/>
                </a:cxn>
                <a:cxn ang="0">
                  <a:pos x="T4" y="T5"/>
                </a:cxn>
                <a:cxn ang="0">
                  <a:pos x="T6" y="T7"/>
                </a:cxn>
                <a:cxn ang="0">
                  <a:pos x="T8" y="T9"/>
                </a:cxn>
                <a:cxn ang="0">
                  <a:pos x="T10" y="T11"/>
                </a:cxn>
                <a:cxn ang="0">
                  <a:pos x="T12" y="T13"/>
                </a:cxn>
              </a:cxnLst>
              <a:rect l="0" t="0" r="r" b="b"/>
              <a:pathLst>
                <a:path w="418" h="416">
                  <a:moveTo>
                    <a:pt x="418" y="0"/>
                  </a:moveTo>
                  <a:lnTo>
                    <a:pt x="2" y="416"/>
                  </a:lnTo>
                  <a:lnTo>
                    <a:pt x="0" y="416"/>
                  </a:lnTo>
                  <a:lnTo>
                    <a:pt x="6" y="405"/>
                  </a:lnTo>
                  <a:lnTo>
                    <a:pt x="374" y="38"/>
                  </a:lnTo>
                  <a:lnTo>
                    <a:pt x="418" y="0"/>
                  </a:lnTo>
                  <a:lnTo>
                    <a:pt x="418" y="0"/>
                  </a:lnTo>
                  <a:close/>
                </a:path>
              </a:pathLst>
            </a:custGeom>
            <a:solidFill>
              <a:srgbClr val="DDD8E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1" name="Freeform 99">
              <a:extLst>
                <a:ext uri="{FF2B5EF4-FFF2-40B4-BE49-F238E27FC236}">
                  <a16:creationId xmlns:a16="http://schemas.microsoft.com/office/drawing/2014/main" id="{97770CDE-72D6-4E6C-ECF4-998D8089F771}"/>
                </a:ext>
              </a:extLst>
            </p:cNvPr>
            <p:cNvSpPr>
              <a:spLocks/>
            </p:cNvSpPr>
            <p:nvPr/>
          </p:nvSpPr>
          <p:spPr bwMode="auto">
            <a:xfrm>
              <a:off x="3319" y="2319"/>
              <a:ext cx="398" cy="398"/>
            </a:xfrm>
            <a:custGeom>
              <a:avLst/>
              <a:gdLst>
                <a:gd name="T0" fmla="*/ 398 w 398"/>
                <a:gd name="T1" fmla="*/ 0 h 398"/>
                <a:gd name="T2" fmla="*/ 0 w 398"/>
                <a:gd name="T3" fmla="*/ 398 h 398"/>
                <a:gd name="T4" fmla="*/ 9 w 398"/>
                <a:gd name="T5" fmla="*/ 382 h 398"/>
                <a:gd name="T6" fmla="*/ 346 w 398"/>
                <a:gd name="T7" fmla="*/ 46 h 398"/>
                <a:gd name="T8" fmla="*/ 398 w 398"/>
                <a:gd name="T9" fmla="*/ 0 h 398"/>
              </a:gdLst>
              <a:ahLst/>
              <a:cxnLst>
                <a:cxn ang="0">
                  <a:pos x="T0" y="T1"/>
                </a:cxn>
                <a:cxn ang="0">
                  <a:pos x="T2" y="T3"/>
                </a:cxn>
                <a:cxn ang="0">
                  <a:pos x="T4" y="T5"/>
                </a:cxn>
                <a:cxn ang="0">
                  <a:pos x="T6" y="T7"/>
                </a:cxn>
                <a:cxn ang="0">
                  <a:pos x="T8" y="T9"/>
                </a:cxn>
              </a:cxnLst>
              <a:rect l="0" t="0" r="r" b="b"/>
              <a:pathLst>
                <a:path w="398" h="398">
                  <a:moveTo>
                    <a:pt x="398" y="0"/>
                  </a:moveTo>
                  <a:lnTo>
                    <a:pt x="0" y="398"/>
                  </a:lnTo>
                  <a:lnTo>
                    <a:pt x="9" y="382"/>
                  </a:lnTo>
                  <a:lnTo>
                    <a:pt x="346" y="46"/>
                  </a:lnTo>
                  <a:lnTo>
                    <a:pt x="398" y="0"/>
                  </a:lnTo>
                  <a:close/>
                </a:path>
              </a:pathLst>
            </a:custGeom>
            <a:solidFill>
              <a:srgbClr val="DDD8E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2" name="Freeform 100">
              <a:extLst>
                <a:ext uri="{FF2B5EF4-FFF2-40B4-BE49-F238E27FC236}">
                  <a16:creationId xmlns:a16="http://schemas.microsoft.com/office/drawing/2014/main" id="{F9E31563-A8EA-039B-9DF0-0AC22984378F}"/>
                </a:ext>
              </a:extLst>
            </p:cNvPr>
            <p:cNvSpPr>
              <a:spLocks/>
            </p:cNvSpPr>
            <p:nvPr/>
          </p:nvSpPr>
          <p:spPr bwMode="auto">
            <a:xfrm>
              <a:off x="3323" y="2343"/>
              <a:ext cx="368" cy="367"/>
            </a:xfrm>
            <a:custGeom>
              <a:avLst/>
              <a:gdLst>
                <a:gd name="T0" fmla="*/ 368 w 368"/>
                <a:gd name="T1" fmla="*/ 0 h 367"/>
                <a:gd name="T2" fmla="*/ 0 w 368"/>
                <a:gd name="T3" fmla="*/ 367 h 367"/>
                <a:gd name="T4" fmla="*/ 7 w 368"/>
                <a:gd name="T5" fmla="*/ 352 h 367"/>
                <a:gd name="T6" fmla="*/ 316 w 368"/>
                <a:gd name="T7" fmla="*/ 43 h 367"/>
                <a:gd name="T8" fmla="*/ 368 w 368"/>
                <a:gd name="T9" fmla="*/ 0 h 367"/>
              </a:gdLst>
              <a:ahLst/>
              <a:cxnLst>
                <a:cxn ang="0">
                  <a:pos x="T0" y="T1"/>
                </a:cxn>
                <a:cxn ang="0">
                  <a:pos x="T2" y="T3"/>
                </a:cxn>
                <a:cxn ang="0">
                  <a:pos x="T4" y="T5"/>
                </a:cxn>
                <a:cxn ang="0">
                  <a:pos x="T6" y="T7"/>
                </a:cxn>
                <a:cxn ang="0">
                  <a:pos x="T8" y="T9"/>
                </a:cxn>
              </a:cxnLst>
              <a:rect l="0" t="0" r="r" b="b"/>
              <a:pathLst>
                <a:path w="368" h="367">
                  <a:moveTo>
                    <a:pt x="368" y="0"/>
                  </a:moveTo>
                  <a:lnTo>
                    <a:pt x="0" y="367"/>
                  </a:lnTo>
                  <a:lnTo>
                    <a:pt x="7" y="352"/>
                  </a:lnTo>
                  <a:lnTo>
                    <a:pt x="316" y="43"/>
                  </a:lnTo>
                  <a:lnTo>
                    <a:pt x="368" y="0"/>
                  </a:lnTo>
                  <a:close/>
                </a:path>
              </a:pathLst>
            </a:custGeom>
            <a:solidFill>
              <a:srgbClr val="DDD8E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3" name="Freeform 101">
              <a:extLst>
                <a:ext uri="{FF2B5EF4-FFF2-40B4-BE49-F238E27FC236}">
                  <a16:creationId xmlns:a16="http://schemas.microsoft.com/office/drawing/2014/main" id="{46E1C25E-997C-4BFB-AB24-1A582931F7AA}"/>
                </a:ext>
              </a:extLst>
            </p:cNvPr>
            <p:cNvSpPr>
              <a:spLocks/>
            </p:cNvSpPr>
            <p:nvPr/>
          </p:nvSpPr>
          <p:spPr bwMode="auto">
            <a:xfrm>
              <a:off x="3328" y="2365"/>
              <a:ext cx="337" cy="336"/>
            </a:xfrm>
            <a:custGeom>
              <a:avLst/>
              <a:gdLst>
                <a:gd name="T0" fmla="*/ 337 w 337"/>
                <a:gd name="T1" fmla="*/ 0 h 336"/>
                <a:gd name="T2" fmla="*/ 0 w 337"/>
                <a:gd name="T3" fmla="*/ 336 h 336"/>
                <a:gd name="T4" fmla="*/ 6 w 337"/>
                <a:gd name="T5" fmla="*/ 321 h 336"/>
                <a:gd name="T6" fmla="*/ 284 w 337"/>
                <a:gd name="T7" fmla="*/ 43 h 336"/>
                <a:gd name="T8" fmla="*/ 337 w 337"/>
                <a:gd name="T9" fmla="*/ 0 h 336"/>
              </a:gdLst>
              <a:ahLst/>
              <a:cxnLst>
                <a:cxn ang="0">
                  <a:pos x="T0" y="T1"/>
                </a:cxn>
                <a:cxn ang="0">
                  <a:pos x="T2" y="T3"/>
                </a:cxn>
                <a:cxn ang="0">
                  <a:pos x="T4" y="T5"/>
                </a:cxn>
                <a:cxn ang="0">
                  <a:pos x="T6" y="T7"/>
                </a:cxn>
                <a:cxn ang="0">
                  <a:pos x="T8" y="T9"/>
                </a:cxn>
              </a:cxnLst>
              <a:rect l="0" t="0" r="r" b="b"/>
              <a:pathLst>
                <a:path w="337" h="336">
                  <a:moveTo>
                    <a:pt x="337" y="0"/>
                  </a:moveTo>
                  <a:lnTo>
                    <a:pt x="0" y="336"/>
                  </a:lnTo>
                  <a:lnTo>
                    <a:pt x="6" y="321"/>
                  </a:lnTo>
                  <a:lnTo>
                    <a:pt x="284" y="43"/>
                  </a:lnTo>
                  <a:lnTo>
                    <a:pt x="337" y="0"/>
                  </a:lnTo>
                  <a:close/>
                </a:path>
              </a:pathLst>
            </a:custGeom>
            <a:solidFill>
              <a:srgbClr val="DDD8E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4" name="Freeform 102">
              <a:extLst>
                <a:ext uri="{FF2B5EF4-FFF2-40B4-BE49-F238E27FC236}">
                  <a16:creationId xmlns:a16="http://schemas.microsoft.com/office/drawing/2014/main" id="{A5C61614-7E75-66BD-500C-E8D4CA3E030D}"/>
                </a:ext>
              </a:extLst>
            </p:cNvPr>
            <p:cNvSpPr>
              <a:spLocks/>
            </p:cNvSpPr>
            <p:nvPr/>
          </p:nvSpPr>
          <p:spPr bwMode="auto">
            <a:xfrm>
              <a:off x="3330" y="2386"/>
              <a:ext cx="309" cy="309"/>
            </a:xfrm>
            <a:custGeom>
              <a:avLst/>
              <a:gdLst>
                <a:gd name="T0" fmla="*/ 309 w 309"/>
                <a:gd name="T1" fmla="*/ 0 h 309"/>
                <a:gd name="T2" fmla="*/ 0 w 309"/>
                <a:gd name="T3" fmla="*/ 309 h 309"/>
                <a:gd name="T4" fmla="*/ 9 w 309"/>
                <a:gd name="T5" fmla="*/ 291 h 309"/>
                <a:gd name="T6" fmla="*/ 256 w 309"/>
                <a:gd name="T7" fmla="*/ 46 h 309"/>
                <a:gd name="T8" fmla="*/ 309 w 309"/>
                <a:gd name="T9" fmla="*/ 0 h 309"/>
              </a:gdLst>
              <a:ahLst/>
              <a:cxnLst>
                <a:cxn ang="0">
                  <a:pos x="T0" y="T1"/>
                </a:cxn>
                <a:cxn ang="0">
                  <a:pos x="T2" y="T3"/>
                </a:cxn>
                <a:cxn ang="0">
                  <a:pos x="T4" y="T5"/>
                </a:cxn>
                <a:cxn ang="0">
                  <a:pos x="T6" y="T7"/>
                </a:cxn>
                <a:cxn ang="0">
                  <a:pos x="T8" y="T9"/>
                </a:cxn>
              </a:cxnLst>
              <a:rect l="0" t="0" r="r" b="b"/>
              <a:pathLst>
                <a:path w="309" h="309">
                  <a:moveTo>
                    <a:pt x="309" y="0"/>
                  </a:moveTo>
                  <a:lnTo>
                    <a:pt x="0" y="309"/>
                  </a:lnTo>
                  <a:lnTo>
                    <a:pt x="9" y="291"/>
                  </a:lnTo>
                  <a:lnTo>
                    <a:pt x="256" y="46"/>
                  </a:lnTo>
                  <a:lnTo>
                    <a:pt x="309" y="0"/>
                  </a:lnTo>
                  <a:close/>
                </a:path>
              </a:pathLst>
            </a:custGeom>
            <a:solidFill>
              <a:srgbClr val="DDD8E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5" name="Freeform 103">
              <a:extLst>
                <a:ext uri="{FF2B5EF4-FFF2-40B4-BE49-F238E27FC236}">
                  <a16:creationId xmlns:a16="http://schemas.microsoft.com/office/drawing/2014/main" id="{17FE7C29-FDDF-DA96-CC03-B223C442B367}"/>
                </a:ext>
              </a:extLst>
            </p:cNvPr>
            <p:cNvSpPr>
              <a:spLocks/>
            </p:cNvSpPr>
            <p:nvPr/>
          </p:nvSpPr>
          <p:spPr bwMode="auto">
            <a:xfrm>
              <a:off x="3334" y="2408"/>
              <a:ext cx="278" cy="278"/>
            </a:xfrm>
            <a:custGeom>
              <a:avLst/>
              <a:gdLst>
                <a:gd name="T0" fmla="*/ 278 w 278"/>
                <a:gd name="T1" fmla="*/ 0 h 278"/>
                <a:gd name="T2" fmla="*/ 0 w 278"/>
                <a:gd name="T3" fmla="*/ 278 h 278"/>
                <a:gd name="T4" fmla="*/ 9 w 278"/>
                <a:gd name="T5" fmla="*/ 263 h 278"/>
                <a:gd name="T6" fmla="*/ 226 w 278"/>
                <a:gd name="T7" fmla="*/ 46 h 278"/>
                <a:gd name="T8" fmla="*/ 278 w 278"/>
                <a:gd name="T9" fmla="*/ 0 h 278"/>
              </a:gdLst>
              <a:ahLst/>
              <a:cxnLst>
                <a:cxn ang="0">
                  <a:pos x="T0" y="T1"/>
                </a:cxn>
                <a:cxn ang="0">
                  <a:pos x="T2" y="T3"/>
                </a:cxn>
                <a:cxn ang="0">
                  <a:pos x="T4" y="T5"/>
                </a:cxn>
                <a:cxn ang="0">
                  <a:pos x="T6" y="T7"/>
                </a:cxn>
                <a:cxn ang="0">
                  <a:pos x="T8" y="T9"/>
                </a:cxn>
              </a:cxnLst>
              <a:rect l="0" t="0" r="r" b="b"/>
              <a:pathLst>
                <a:path w="278" h="278">
                  <a:moveTo>
                    <a:pt x="278" y="0"/>
                  </a:moveTo>
                  <a:lnTo>
                    <a:pt x="0" y="278"/>
                  </a:lnTo>
                  <a:lnTo>
                    <a:pt x="9" y="263"/>
                  </a:lnTo>
                  <a:lnTo>
                    <a:pt x="226" y="46"/>
                  </a:lnTo>
                  <a:lnTo>
                    <a:pt x="278" y="0"/>
                  </a:lnTo>
                  <a:close/>
                </a:path>
              </a:pathLst>
            </a:custGeom>
            <a:solidFill>
              <a:srgbClr val="DDD8E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6" name="Freeform 104">
              <a:extLst>
                <a:ext uri="{FF2B5EF4-FFF2-40B4-BE49-F238E27FC236}">
                  <a16:creationId xmlns:a16="http://schemas.microsoft.com/office/drawing/2014/main" id="{D47AA0B1-C846-A4E1-91D4-2482340A1C45}"/>
                </a:ext>
              </a:extLst>
            </p:cNvPr>
            <p:cNvSpPr>
              <a:spLocks/>
            </p:cNvSpPr>
            <p:nvPr/>
          </p:nvSpPr>
          <p:spPr bwMode="auto">
            <a:xfrm>
              <a:off x="3339" y="2432"/>
              <a:ext cx="247" cy="245"/>
            </a:xfrm>
            <a:custGeom>
              <a:avLst/>
              <a:gdLst>
                <a:gd name="T0" fmla="*/ 247 w 247"/>
                <a:gd name="T1" fmla="*/ 0 h 245"/>
                <a:gd name="T2" fmla="*/ 0 w 247"/>
                <a:gd name="T3" fmla="*/ 245 h 245"/>
                <a:gd name="T4" fmla="*/ 9 w 247"/>
                <a:gd name="T5" fmla="*/ 230 h 245"/>
                <a:gd name="T6" fmla="*/ 195 w 247"/>
                <a:gd name="T7" fmla="*/ 44 h 245"/>
                <a:gd name="T8" fmla="*/ 247 w 247"/>
                <a:gd name="T9" fmla="*/ 0 h 245"/>
              </a:gdLst>
              <a:ahLst/>
              <a:cxnLst>
                <a:cxn ang="0">
                  <a:pos x="T0" y="T1"/>
                </a:cxn>
                <a:cxn ang="0">
                  <a:pos x="T2" y="T3"/>
                </a:cxn>
                <a:cxn ang="0">
                  <a:pos x="T4" y="T5"/>
                </a:cxn>
                <a:cxn ang="0">
                  <a:pos x="T6" y="T7"/>
                </a:cxn>
                <a:cxn ang="0">
                  <a:pos x="T8" y="T9"/>
                </a:cxn>
              </a:cxnLst>
              <a:rect l="0" t="0" r="r" b="b"/>
              <a:pathLst>
                <a:path w="247" h="245">
                  <a:moveTo>
                    <a:pt x="247" y="0"/>
                  </a:moveTo>
                  <a:lnTo>
                    <a:pt x="0" y="245"/>
                  </a:lnTo>
                  <a:lnTo>
                    <a:pt x="9" y="230"/>
                  </a:lnTo>
                  <a:lnTo>
                    <a:pt x="195" y="44"/>
                  </a:lnTo>
                  <a:lnTo>
                    <a:pt x="247" y="0"/>
                  </a:lnTo>
                  <a:close/>
                </a:path>
              </a:pathLst>
            </a:custGeom>
            <a:solidFill>
              <a:srgbClr val="DDD8E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7" name="Freeform 105">
              <a:extLst>
                <a:ext uri="{FF2B5EF4-FFF2-40B4-BE49-F238E27FC236}">
                  <a16:creationId xmlns:a16="http://schemas.microsoft.com/office/drawing/2014/main" id="{C289BC05-9ED3-BCF4-8ABE-C98529CAB861}"/>
                </a:ext>
              </a:extLst>
            </p:cNvPr>
            <p:cNvSpPr>
              <a:spLocks/>
            </p:cNvSpPr>
            <p:nvPr/>
          </p:nvSpPr>
          <p:spPr bwMode="auto">
            <a:xfrm>
              <a:off x="3343" y="2454"/>
              <a:ext cx="217" cy="217"/>
            </a:xfrm>
            <a:custGeom>
              <a:avLst/>
              <a:gdLst>
                <a:gd name="T0" fmla="*/ 217 w 217"/>
                <a:gd name="T1" fmla="*/ 0 h 217"/>
                <a:gd name="T2" fmla="*/ 0 w 217"/>
                <a:gd name="T3" fmla="*/ 217 h 217"/>
                <a:gd name="T4" fmla="*/ 7 w 217"/>
                <a:gd name="T5" fmla="*/ 202 h 217"/>
                <a:gd name="T6" fmla="*/ 164 w 217"/>
                <a:gd name="T7" fmla="*/ 44 h 217"/>
                <a:gd name="T8" fmla="*/ 217 w 217"/>
                <a:gd name="T9" fmla="*/ 0 h 217"/>
              </a:gdLst>
              <a:ahLst/>
              <a:cxnLst>
                <a:cxn ang="0">
                  <a:pos x="T0" y="T1"/>
                </a:cxn>
                <a:cxn ang="0">
                  <a:pos x="T2" y="T3"/>
                </a:cxn>
                <a:cxn ang="0">
                  <a:pos x="T4" y="T5"/>
                </a:cxn>
                <a:cxn ang="0">
                  <a:pos x="T6" y="T7"/>
                </a:cxn>
                <a:cxn ang="0">
                  <a:pos x="T8" y="T9"/>
                </a:cxn>
              </a:cxnLst>
              <a:rect l="0" t="0" r="r" b="b"/>
              <a:pathLst>
                <a:path w="217" h="217">
                  <a:moveTo>
                    <a:pt x="217" y="0"/>
                  </a:moveTo>
                  <a:lnTo>
                    <a:pt x="0" y="217"/>
                  </a:lnTo>
                  <a:lnTo>
                    <a:pt x="7" y="202"/>
                  </a:lnTo>
                  <a:lnTo>
                    <a:pt x="164" y="44"/>
                  </a:lnTo>
                  <a:lnTo>
                    <a:pt x="217" y="0"/>
                  </a:lnTo>
                  <a:close/>
                </a:path>
              </a:pathLst>
            </a:custGeom>
            <a:solidFill>
              <a:srgbClr val="DDD8E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8" name="Freeform 106">
              <a:extLst>
                <a:ext uri="{FF2B5EF4-FFF2-40B4-BE49-F238E27FC236}">
                  <a16:creationId xmlns:a16="http://schemas.microsoft.com/office/drawing/2014/main" id="{F27ECDD2-DA22-293F-587C-E130D670DB84}"/>
                </a:ext>
              </a:extLst>
            </p:cNvPr>
            <p:cNvSpPr>
              <a:spLocks/>
            </p:cNvSpPr>
            <p:nvPr/>
          </p:nvSpPr>
          <p:spPr bwMode="auto">
            <a:xfrm>
              <a:off x="3348" y="2476"/>
              <a:ext cx="186" cy="186"/>
            </a:xfrm>
            <a:custGeom>
              <a:avLst/>
              <a:gdLst>
                <a:gd name="T0" fmla="*/ 186 w 186"/>
                <a:gd name="T1" fmla="*/ 0 h 186"/>
                <a:gd name="T2" fmla="*/ 0 w 186"/>
                <a:gd name="T3" fmla="*/ 186 h 186"/>
                <a:gd name="T4" fmla="*/ 6 w 186"/>
                <a:gd name="T5" fmla="*/ 171 h 186"/>
                <a:gd name="T6" fmla="*/ 133 w 186"/>
                <a:gd name="T7" fmla="*/ 46 h 186"/>
                <a:gd name="T8" fmla="*/ 186 w 186"/>
                <a:gd name="T9" fmla="*/ 0 h 186"/>
              </a:gdLst>
              <a:ahLst/>
              <a:cxnLst>
                <a:cxn ang="0">
                  <a:pos x="T0" y="T1"/>
                </a:cxn>
                <a:cxn ang="0">
                  <a:pos x="T2" y="T3"/>
                </a:cxn>
                <a:cxn ang="0">
                  <a:pos x="T4" y="T5"/>
                </a:cxn>
                <a:cxn ang="0">
                  <a:pos x="T6" y="T7"/>
                </a:cxn>
                <a:cxn ang="0">
                  <a:pos x="T8" y="T9"/>
                </a:cxn>
              </a:cxnLst>
              <a:rect l="0" t="0" r="r" b="b"/>
              <a:pathLst>
                <a:path w="186" h="186">
                  <a:moveTo>
                    <a:pt x="186" y="0"/>
                  </a:moveTo>
                  <a:lnTo>
                    <a:pt x="0" y="186"/>
                  </a:lnTo>
                  <a:lnTo>
                    <a:pt x="6" y="171"/>
                  </a:lnTo>
                  <a:lnTo>
                    <a:pt x="133" y="46"/>
                  </a:lnTo>
                  <a:lnTo>
                    <a:pt x="186" y="0"/>
                  </a:lnTo>
                  <a:close/>
                </a:path>
              </a:pathLst>
            </a:custGeom>
            <a:solidFill>
              <a:srgbClr val="E2DDE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49" name="Freeform 107">
              <a:extLst>
                <a:ext uri="{FF2B5EF4-FFF2-40B4-BE49-F238E27FC236}">
                  <a16:creationId xmlns:a16="http://schemas.microsoft.com/office/drawing/2014/main" id="{0A22E579-D8D0-3CA2-5C6C-DE17D5D216BA}"/>
                </a:ext>
              </a:extLst>
            </p:cNvPr>
            <p:cNvSpPr>
              <a:spLocks/>
            </p:cNvSpPr>
            <p:nvPr/>
          </p:nvSpPr>
          <p:spPr bwMode="auto">
            <a:xfrm>
              <a:off x="3350" y="2498"/>
              <a:ext cx="157" cy="158"/>
            </a:xfrm>
            <a:custGeom>
              <a:avLst/>
              <a:gdLst>
                <a:gd name="T0" fmla="*/ 157 w 157"/>
                <a:gd name="T1" fmla="*/ 0 h 158"/>
                <a:gd name="T2" fmla="*/ 0 w 157"/>
                <a:gd name="T3" fmla="*/ 158 h 158"/>
                <a:gd name="T4" fmla="*/ 9 w 157"/>
                <a:gd name="T5" fmla="*/ 142 h 158"/>
                <a:gd name="T6" fmla="*/ 105 w 157"/>
                <a:gd name="T7" fmla="*/ 46 h 158"/>
                <a:gd name="T8" fmla="*/ 157 w 157"/>
                <a:gd name="T9" fmla="*/ 0 h 158"/>
              </a:gdLst>
              <a:ahLst/>
              <a:cxnLst>
                <a:cxn ang="0">
                  <a:pos x="T0" y="T1"/>
                </a:cxn>
                <a:cxn ang="0">
                  <a:pos x="T2" y="T3"/>
                </a:cxn>
                <a:cxn ang="0">
                  <a:pos x="T4" y="T5"/>
                </a:cxn>
                <a:cxn ang="0">
                  <a:pos x="T6" y="T7"/>
                </a:cxn>
                <a:cxn ang="0">
                  <a:pos x="T8" y="T9"/>
                </a:cxn>
              </a:cxnLst>
              <a:rect l="0" t="0" r="r" b="b"/>
              <a:pathLst>
                <a:path w="157" h="158">
                  <a:moveTo>
                    <a:pt x="157" y="0"/>
                  </a:moveTo>
                  <a:lnTo>
                    <a:pt x="0" y="158"/>
                  </a:lnTo>
                  <a:lnTo>
                    <a:pt x="9" y="142"/>
                  </a:lnTo>
                  <a:lnTo>
                    <a:pt x="105" y="46"/>
                  </a:lnTo>
                  <a:lnTo>
                    <a:pt x="157" y="0"/>
                  </a:lnTo>
                  <a:close/>
                </a:path>
              </a:pathLst>
            </a:custGeom>
            <a:solidFill>
              <a:srgbClr val="E2DDE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0" name="Freeform 108">
              <a:extLst>
                <a:ext uri="{FF2B5EF4-FFF2-40B4-BE49-F238E27FC236}">
                  <a16:creationId xmlns:a16="http://schemas.microsoft.com/office/drawing/2014/main" id="{9D8642B5-5CD6-701F-2DA9-A2B2867ED8E3}"/>
                </a:ext>
              </a:extLst>
            </p:cNvPr>
            <p:cNvSpPr>
              <a:spLocks/>
            </p:cNvSpPr>
            <p:nvPr/>
          </p:nvSpPr>
          <p:spPr bwMode="auto">
            <a:xfrm>
              <a:off x="3354" y="2522"/>
              <a:ext cx="127" cy="125"/>
            </a:xfrm>
            <a:custGeom>
              <a:avLst/>
              <a:gdLst>
                <a:gd name="T0" fmla="*/ 127 w 127"/>
                <a:gd name="T1" fmla="*/ 0 h 125"/>
                <a:gd name="T2" fmla="*/ 0 w 127"/>
                <a:gd name="T3" fmla="*/ 125 h 125"/>
                <a:gd name="T4" fmla="*/ 9 w 127"/>
                <a:gd name="T5" fmla="*/ 109 h 125"/>
                <a:gd name="T6" fmla="*/ 75 w 127"/>
                <a:gd name="T7" fmla="*/ 44 h 125"/>
                <a:gd name="T8" fmla="*/ 127 w 127"/>
                <a:gd name="T9" fmla="*/ 0 h 125"/>
              </a:gdLst>
              <a:ahLst/>
              <a:cxnLst>
                <a:cxn ang="0">
                  <a:pos x="T0" y="T1"/>
                </a:cxn>
                <a:cxn ang="0">
                  <a:pos x="T2" y="T3"/>
                </a:cxn>
                <a:cxn ang="0">
                  <a:pos x="T4" y="T5"/>
                </a:cxn>
                <a:cxn ang="0">
                  <a:pos x="T6" y="T7"/>
                </a:cxn>
                <a:cxn ang="0">
                  <a:pos x="T8" y="T9"/>
                </a:cxn>
              </a:cxnLst>
              <a:rect l="0" t="0" r="r" b="b"/>
              <a:pathLst>
                <a:path w="127" h="125">
                  <a:moveTo>
                    <a:pt x="127" y="0"/>
                  </a:moveTo>
                  <a:lnTo>
                    <a:pt x="0" y="125"/>
                  </a:lnTo>
                  <a:lnTo>
                    <a:pt x="9" y="109"/>
                  </a:lnTo>
                  <a:lnTo>
                    <a:pt x="75" y="44"/>
                  </a:lnTo>
                  <a:lnTo>
                    <a:pt x="127" y="0"/>
                  </a:lnTo>
                  <a:close/>
                </a:path>
              </a:pathLst>
            </a:custGeom>
            <a:solidFill>
              <a:srgbClr val="E2DDE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1" name="Freeform 109">
              <a:extLst>
                <a:ext uri="{FF2B5EF4-FFF2-40B4-BE49-F238E27FC236}">
                  <a16:creationId xmlns:a16="http://schemas.microsoft.com/office/drawing/2014/main" id="{01D1F56A-5F92-85A1-C130-B749F5DD5BEA}"/>
                </a:ext>
              </a:extLst>
            </p:cNvPr>
            <p:cNvSpPr>
              <a:spLocks/>
            </p:cNvSpPr>
            <p:nvPr/>
          </p:nvSpPr>
          <p:spPr bwMode="auto">
            <a:xfrm>
              <a:off x="3359" y="2544"/>
              <a:ext cx="96" cy="96"/>
            </a:xfrm>
            <a:custGeom>
              <a:avLst/>
              <a:gdLst>
                <a:gd name="T0" fmla="*/ 96 w 96"/>
                <a:gd name="T1" fmla="*/ 0 h 96"/>
                <a:gd name="T2" fmla="*/ 0 w 96"/>
                <a:gd name="T3" fmla="*/ 96 h 96"/>
                <a:gd name="T4" fmla="*/ 8 w 96"/>
                <a:gd name="T5" fmla="*/ 81 h 96"/>
                <a:gd name="T6" fmla="*/ 43 w 96"/>
                <a:gd name="T7" fmla="*/ 44 h 96"/>
                <a:gd name="T8" fmla="*/ 96 w 96"/>
                <a:gd name="T9" fmla="*/ 0 h 96"/>
              </a:gdLst>
              <a:ahLst/>
              <a:cxnLst>
                <a:cxn ang="0">
                  <a:pos x="T0" y="T1"/>
                </a:cxn>
                <a:cxn ang="0">
                  <a:pos x="T2" y="T3"/>
                </a:cxn>
                <a:cxn ang="0">
                  <a:pos x="T4" y="T5"/>
                </a:cxn>
                <a:cxn ang="0">
                  <a:pos x="T6" y="T7"/>
                </a:cxn>
                <a:cxn ang="0">
                  <a:pos x="T8" y="T9"/>
                </a:cxn>
              </a:cxnLst>
              <a:rect l="0" t="0" r="r" b="b"/>
              <a:pathLst>
                <a:path w="96" h="96">
                  <a:moveTo>
                    <a:pt x="96" y="0"/>
                  </a:moveTo>
                  <a:lnTo>
                    <a:pt x="0" y="96"/>
                  </a:lnTo>
                  <a:lnTo>
                    <a:pt x="8" y="81"/>
                  </a:lnTo>
                  <a:lnTo>
                    <a:pt x="43" y="44"/>
                  </a:lnTo>
                  <a:lnTo>
                    <a:pt x="96" y="0"/>
                  </a:lnTo>
                  <a:close/>
                </a:path>
              </a:pathLst>
            </a:custGeom>
            <a:solidFill>
              <a:srgbClr val="E2DDE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2" name="Freeform 110">
              <a:extLst>
                <a:ext uri="{FF2B5EF4-FFF2-40B4-BE49-F238E27FC236}">
                  <a16:creationId xmlns:a16="http://schemas.microsoft.com/office/drawing/2014/main" id="{7E9A0D76-5839-DE20-E2C2-07656F68000D}"/>
                </a:ext>
              </a:extLst>
            </p:cNvPr>
            <p:cNvSpPr>
              <a:spLocks/>
            </p:cNvSpPr>
            <p:nvPr/>
          </p:nvSpPr>
          <p:spPr bwMode="auto">
            <a:xfrm>
              <a:off x="3363" y="2566"/>
              <a:ext cx="66" cy="65"/>
            </a:xfrm>
            <a:custGeom>
              <a:avLst/>
              <a:gdLst>
                <a:gd name="T0" fmla="*/ 66 w 66"/>
                <a:gd name="T1" fmla="*/ 0 h 65"/>
                <a:gd name="T2" fmla="*/ 0 w 66"/>
                <a:gd name="T3" fmla="*/ 65 h 65"/>
                <a:gd name="T4" fmla="*/ 6 w 66"/>
                <a:gd name="T5" fmla="*/ 50 h 65"/>
                <a:gd name="T6" fmla="*/ 13 w 66"/>
                <a:gd name="T7" fmla="*/ 46 h 65"/>
                <a:gd name="T8" fmla="*/ 66 w 66"/>
                <a:gd name="T9" fmla="*/ 0 h 65"/>
              </a:gdLst>
              <a:ahLst/>
              <a:cxnLst>
                <a:cxn ang="0">
                  <a:pos x="T0" y="T1"/>
                </a:cxn>
                <a:cxn ang="0">
                  <a:pos x="T2" y="T3"/>
                </a:cxn>
                <a:cxn ang="0">
                  <a:pos x="T4" y="T5"/>
                </a:cxn>
                <a:cxn ang="0">
                  <a:pos x="T6" y="T7"/>
                </a:cxn>
                <a:cxn ang="0">
                  <a:pos x="T8" y="T9"/>
                </a:cxn>
              </a:cxnLst>
              <a:rect l="0" t="0" r="r" b="b"/>
              <a:pathLst>
                <a:path w="66" h="65">
                  <a:moveTo>
                    <a:pt x="66" y="0"/>
                  </a:moveTo>
                  <a:lnTo>
                    <a:pt x="0" y="65"/>
                  </a:lnTo>
                  <a:lnTo>
                    <a:pt x="6" y="50"/>
                  </a:lnTo>
                  <a:lnTo>
                    <a:pt x="13" y="46"/>
                  </a:lnTo>
                  <a:lnTo>
                    <a:pt x="66" y="0"/>
                  </a:lnTo>
                  <a:close/>
                </a:path>
              </a:pathLst>
            </a:custGeom>
            <a:solidFill>
              <a:srgbClr val="E2DDE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3" name="Freeform 111">
              <a:extLst>
                <a:ext uri="{FF2B5EF4-FFF2-40B4-BE49-F238E27FC236}">
                  <a16:creationId xmlns:a16="http://schemas.microsoft.com/office/drawing/2014/main" id="{84553090-08E5-DC01-E590-1A6037C4D203}"/>
                </a:ext>
              </a:extLst>
            </p:cNvPr>
            <p:cNvSpPr>
              <a:spLocks/>
            </p:cNvSpPr>
            <p:nvPr/>
          </p:nvSpPr>
          <p:spPr bwMode="auto">
            <a:xfrm>
              <a:off x="3367" y="2588"/>
              <a:ext cx="35" cy="37"/>
            </a:xfrm>
            <a:custGeom>
              <a:avLst/>
              <a:gdLst>
                <a:gd name="T0" fmla="*/ 35 w 35"/>
                <a:gd name="T1" fmla="*/ 0 h 37"/>
                <a:gd name="T2" fmla="*/ 0 w 35"/>
                <a:gd name="T3" fmla="*/ 37 h 37"/>
                <a:gd name="T4" fmla="*/ 5 w 35"/>
                <a:gd name="T5" fmla="*/ 28 h 37"/>
                <a:gd name="T6" fmla="*/ 35 w 35"/>
                <a:gd name="T7" fmla="*/ 0 h 37"/>
              </a:gdLst>
              <a:ahLst/>
              <a:cxnLst>
                <a:cxn ang="0">
                  <a:pos x="T0" y="T1"/>
                </a:cxn>
                <a:cxn ang="0">
                  <a:pos x="T2" y="T3"/>
                </a:cxn>
                <a:cxn ang="0">
                  <a:pos x="T4" y="T5"/>
                </a:cxn>
                <a:cxn ang="0">
                  <a:pos x="T6" y="T7"/>
                </a:cxn>
              </a:cxnLst>
              <a:rect l="0" t="0" r="r" b="b"/>
              <a:pathLst>
                <a:path w="35" h="37">
                  <a:moveTo>
                    <a:pt x="35" y="0"/>
                  </a:moveTo>
                  <a:lnTo>
                    <a:pt x="0" y="37"/>
                  </a:lnTo>
                  <a:lnTo>
                    <a:pt x="5" y="28"/>
                  </a:lnTo>
                  <a:lnTo>
                    <a:pt x="35" y="0"/>
                  </a:lnTo>
                  <a:close/>
                </a:path>
              </a:pathLst>
            </a:custGeom>
            <a:solidFill>
              <a:srgbClr val="E2DDE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4" name="Freeform 112">
              <a:extLst>
                <a:ext uri="{FF2B5EF4-FFF2-40B4-BE49-F238E27FC236}">
                  <a16:creationId xmlns:a16="http://schemas.microsoft.com/office/drawing/2014/main" id="{928DF745-4363-0E0E-5739-E6AFAD732F7B}"/>
                </a:ext>
              </a:extLst>
            </p:cNvPr>
            <p:cNvSpPr>
              <a:spLocks/>
            </p:cNvSpPr>
            <p:nvPr/>
          </p:nvSpPr>
          <p:spPr bwMode="auto">
            <a:xfrm>
              <a:off x="3369" y="2612"/>
              <a:ext cx="7" cy="4"/>
            </a:xfrm>
            <a:custGeom>
              <a:avLst/>
              <a:gdLst>
                <a:gd name="T0" fmla="*/ 7 w 7"/>
                <a:gd name="T1" fmla="*/ 0 h 4"/>
                <a:gd name="T2" fmla="*/ 0 w 7"/>
                <a:gd name="T3" fmla="*/ 4 h 4"/>
                <a:gd name="T4" fmla="*/ 3 w 7"/>
                <a:gd name="T5" fmla="*/ 4 h 4"/>
                <a:gd name="T6" fmla="*/ 7 w 7"/>
                <a:gd name="T7" fmla="*/ 0 h 4"/>
              </a:gdLst>
              <a:ahLst/>
              <a:cxnLst>
                <a:cxn ang="0">
                  <a:pos x="T0" y="T1"/>
                </a:cxn>
                <a:cxn ang="0">
                  <a:pos x="T2" y="T3"/>
                </a:cxn>
                <a:cxn ang="0">
                  <a:pos x="T4" y="T5"/>
                </a:cxn>
                <a:cxn ang="0">
                  <a:pos x="T6" y="T7"/>
                </a:cxn>
              </a:cxnLst>
              <a:rect l="0" t="0" r="r" b="b"/>
              <a:pathLst>
                <a:path w="7" h="4">
                  <a:moveTo>
                    <a:pt x="7" y="0"/>
                  </a:moveTo>
                  <a:lnTo>
                    <a:pt x="0" y="4"/>
                  </a:lnTo>
                  <a:lnTo>
                    <a:pt x="3" y="4"/>
                  </a:lnTo>
                  <a:lnTo>
                    <a:pt x="7" y="0"/>
                  </a:lnTo>
                  <a:close/>
                </a:path>
              </a:pathLst>
            </a:custGeom>
            <a:solidFill>
              <a:srgbClr val="E2DDE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5" name="Freeform 113">
              <a:extLst>
                <a:ext uri="{FF2B5EF4-FFF2-40B4-BE49-F238E27FC236}">
                  <a16:creationId xmlns:a16="http://schemas.microsoft.com/office/drawing/2014/main" id="{E51B668C-18B7-18BA-2418-EC08C1000662}"/>
                </a:ext>
              </a:extLst>
            </p:cNvPr>
            <p:cNvSpPr>
              <a:spLocks/>
            </p:cNvSpPr>
            <p:nvPr/>
          </p:nvSpPr>
          <p:spPr bwMode="auto">
            <a:xfrm>
              <a:off x="3317" y="2305"/>
              <a:ext cx="505" cy="460"/>
            </a:xfrm>
            <a:custGeom>
              <a:avLst/>
              <a:gdLst>
                <a:gd name="T0" fmla="*/ 55 w 505"/>
                <a:gd name="T1" fmla="*/ 311 h 460"/>
                <a:gd name="T2" fmla="*/ 418 w 505"/>
                <a:gd name="T3" fmla="*/ 0 h 460"/>
                <a:gd name="T4" fmla="*/ 505 w 505"/>
                <a:gd name="T5" fmla="*/ 119 h 460"/>
                <a:gd name="T6" fmla="*/ 151 w 505"/>
                <a:gd name="T7" fmla="*/ 423 h 460"/>
                <a:gd name="T8" fmla="*/ 39 w 505"/>
                <a:gd name="T9" fmla="*/ 460 h 460"/>
                <a:gd name="T10" fmla="*/ 0 w 505"/>
                <a:gd name="T11" fmla="*/ 416 h 460"/>
                <a:gd name="T12" fmla="*/ 55 w 505"/>
                <a:gd name="T13" fmla="*/ 311 h 460"/>
              </a:gdLst>
              <a:ahLst/>
              <a:cxnLst>
                <a:cxn ang="0">
                  <a:pos x="T0" y="T1"/>
                </a:cxn>
                <a:cxn ang="0">
                  <a:pos x="T2" y="T3"/>
                </a:cxn>
                <a:cxn ang="0">
                  <a:pos x="T4" y="T5"/>
                </a:cxn>
                <a:cxn ang="0">
                  <a:pos x="T6" y="T7"/>
                </a:cxn>
                <a:cxn ang="0">
                  <a:pos x="T8" y="T9"/>
                </a:cxn>
                <a:cxn ang="0">
                  <a:pos x="T10" y="T11"/>
                </a:cxn>
                <a:cxn ang="0">
                  <a:pos x="T12" y="T13"/>
                </a:cxn>
              </a:cxnLst>
              <a:rect l="0" t="0" r="r" b="b"/>
              <a:pathLst>
                <a:path w="505" h="460">
                  <a:moveTo>
                    <a:pt x="55" y="311"/>
                  </a:moveTo>
                  <a:lnTo>
                    <a:pt x="418" y="0"/>
                  </a:lnTo>
                  <a:lnTo>
                    <a:pt x="505" y="119"/>
                  </a:lnTo>
                  <a:lnTo>
                    <a:pt x="151" y="423"/>
                  </a:lnTo>
                  <a:lnTo>
                    <a:pt x="39" y="460"/>
                  </a:lnTo>
                  <a:lnTo>
                    <a:pt x="0" y="416"/>
                  </a:lnTo>
                  <a:lnTo>
                    <a:pt x="55" y="311"/>
                  </a:lnTo>
                </a:path>
              </a:pathLst>
            </a:custGeom>
            <a:noFill/>
            <a:ln w="9525">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756" name="Freeform 114">
              <a:extLst>
                <a:ext uri="{FF2B5EF4-FFF2-40B4-BE49-F238E27FC236}">
                  <a16:creationId xmlns:a16="http://schemas.microsoft.com/office/drawing/2014/main" id="{9E8698B4-EE77-71E4-E183-1A3D1F085C6D}"/>
                </a:ext>
              </a:extLst>
            </p:cNvPr>
            <p:cNvSpPr>
              <a:spLocks/>
            </p:cNvSpPr>
            <p:nvPr/>
          </p:nvSpPr>
          <p:spPr bwMode="auto">
            <a:xfrm>
              <a:off x="1952" y="2087"/>
              <a:ext cx="227" cy="271"/>
            </a:xfrm>
            <a:custGeom>
              <a:avLst/>
              <a:gdLst>
                <a:gd name="T0" fmla="*/ 2 w 227"/>
                <a:gd name="T1" fmla="*/ 0 h 271"/>
                <a:gd name="T2" fmla="*/ 227 w 227"/>
                <a:gd name="T3" fmla="*/ 271 h 271"/>
                <a:gd name="T4" fmla="*/ 0 w 227"/>
                <a:gd name="T5" fmla="*/ 2 h 271"/>
                <a:gd name="T6" fmla="*/ 2 w 227"/>
                <a:gd name="T7" fmla="*/ 0 h 271"/>
              </a:gdLst>
              <a:ahLst/>
              <a:cxnLst>
                <a:cxn ang="0">
                  <a:pos x="T0" y="T1"/>
                </a:cxn>
                <a:cxn ang="0">
                  <a:pos x="T2" y="T3"/>
                </a:cxn>
                <a:cxn ang="0">
                  <a:pos x="T4" y="T5"/>
                </a:cxn>
                <a:cxn ang="0">
                  <a:pos x="T6" y="T7"/>
                </a:cxn>
              </a:cxnLst>
              <a:rect l="0" t="0" r="r" b="b"/>
              <a:pathLst>
                <a:path w="227" h="271">
                  <a:moveTo>
                    <a:pt x="2" y="0"/>
                  </a:moveTo>
                  <a:lnTo>
                    <a:pt x="227" y="271"/>
                  </a:lnTo>
                  <a:lnTo>
                    <a:pt x="0" y="2"/>
                  </a:lnTo>
                  <a:lnTo>
                    <a:pt x="2" y="0"/>
                  </a:lnTo>
                  <a:close/>
                </a:path>
              </a:pathLst>
            </a:custGeom>
            <a:solidFill>
              <a:srgbClr val="B2C4D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7" name="Freeform 115">
              <a:extLst>
                <a:ext uri="{FF2B5EF4-FFF2-40B4-BE49-F238E27FC236}">
                  <a16:creationId xmlns:a16="http://schemas.microsoft.com/office/drawing/2014/main" id="{880F2A9E-6D24-FA81-DA58-6E24531A9B36}"/>
                </a:ext>
              </a:extLst>
            </p:cNvPr>
            <p:cNvSpPr>
              <a:spLocks/>
            </p:cNvSpPr>
            <p:nvPr/>
          </p:nvSpPr>
          <p:spPr bwMode="auto">
            <a:xfrm>
              <a:off x="1952" y="2087"/>
              <a:ext cx="306" cy="363"/>
            </a:xfrm>
            <a:custGeom>
              <a:avLst/>
              <a:gdLst>
                <a:gd name="T0" fmla="*/ 2 w 306"/>
                <a:gd name="T1" fmla="*/ 6 h 363"/>
                <a:gd name="T2" fmla="*/ 0 w 306"/>
                <a:gd name="T3" fmla="*/ 2 h 363"/>
                <a:gd name="T4" fmla="*/ 4 w 306"/>
                <a:gd name="T5" fmla="*/ 0 h 363"/>
                <a:gd name="T6" fmla="*/ 306 w 306"/>
                <a:gd name="T7" fmla="*/ 363 h 363"/>
                <a:gd name="T8" fmla="*/ 304 w 306"/>
                <a:gd name="T9" fmla="*/ 361 h 363"/>
                <a:gd name="T10" fmla="*/ 2 w 306"/>
                <a:gd name="T11" fmla="*/ 6 h 363"/>
              </a:gdLst>
              <a:ahLst/>
              <a:cxnLst>
                <a:cxn ang="0">
                  <a:pos x="T0" y="T1"/>
                </a:cxn>
                <a:cxn ang="0">
                  <a:pos x="T2" y="T3"/>
                </a:cxn>
                <a:cxn ang="0">
                  <a:pos x="T4" y="T5"/>
                </a:cxn>
                <a:cxn ang="0">
                  <a:pos x="T6" y="T7"/>
                </a:cxn>
                <a:cxn ang="0">
                  <a:pos x="T8" y="T9"/>
                </a:cxn>
                <a:cxn ang="0">
                  <a:pos x="T10" y="T11"/>
                </a:cxn>
              </a:cxnLst>
              <a:rect l="0" t="0" r="r" b="b"/>
              <a:pathLst>
                <a:path w="306" h="363">
                  <a:moveTo>
                    <a:pt x="2" y="6"/>
                  </a:moveTo>
                  <a:lnTo>
                    <a:pt x="0" y="2"/>
                  </a:lnTo>
                  <a:lnTo>
                    <a:pt x="4" y="0"/>
                  </a:lnTo>
                  <a:lnTo>
                    <a:pt x="306" y="363"/>
                  </a:lnTo>
                  <a:lnTo>
                    <a:pt x="304" y="361"/>
                  </a:lnTo>
                  <a:lnTo>
                    <a:pt x="2" y="6"/>
                  </a:lnTo>
                  <a:close/>
                </a:path>
              </a:pathLst>
            </a:custGeom>
            <a:solidFill>
              <a:srgbClr val="B2C4D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8" name="Freeform 116">
              <a:extLst>
                <a:ext uri="{FF2B5EF4-FFF2-40B4-BE49-F238E27FC236}">
                  <a16:creationId xmlns:a16="http://schemas.microsoft.com/office/drawing/2014/main" id="{AFD41351-681E-694C-6F1B-1C97861AA3A2}"/>
                </a:ext>
              </a:extLst>
            </p:cNvPr>
            <p:cNvSpPr>
              <a:spLocks/>
            </p:cNvSpPr>
            <p:nvPr/>
          </p:nvSpPr>
          <p:spPr bwMode="auto">
            <a:xfrm>
              <a:off x="1954" y="2085"/>
              <a:ext cx="310" cy="369"/>
            </a:xfrm>
            <a:custGeom>
              <a:avLst/>
              <a:gdLst>
                <a:gd name="T0" fmla="*/ 225 w 310"/>
                <a:gd name="T1" fmla="*/ 273 h 369"/>
                <a:gd name="T2" fmla="*/ 0 w 310"/>
                <a:gd name="T3" fmla="*/ 2 h 369"/>
                <a:gd name="T4" fmla="*/ 4 w 310"/>
                <a:gd name="T5" fmla="*/ 0 h 369"/>
                <a:gd name="T6" fmla="*/ 310 w 310"/>
                <a:gd name="T7" fmla="*/ 369 h 369"/>
                <a:gd name="T8" fmla="*/ 302 w 310"/>
                <a:gd name="T9" fmla="*/ 363 h 369"/>
                <a:gd name="T10" fmla="*/ 225 w 310"/>
                <a:gd name="T11" fmla="*/ 273 h 369"/>
              </a:gdLst>
              <a:ahLst/>
              <a:cxnLst>
                <a:cxn ang="0">
                  <a:pos x="T0" y="T1"/>
                </a:cxn>
                <a:cxn ang="0">
                  <a:pos x="T2" y="T3"/>
                </a:cxn>
                <a:cxn ang="0">
                  <a:pos x="T4" y="T5"/>
                </a:cxn>
                <a:cxn ang="0">
                  <a:pos x="T6" y="T7"/>
                </a:cxn>
                <a:cxn ang="0">
                  <a:pos x="T8" y="T9"/>
                </a:cxn>
                <a:cxn ang="0">
                  <a:pos x="T10" y="T11"/>
                </a:cxn>
              </a:cxnLst>
              <a:rect l="0" t="0" r="r" b="b"/>
              <a:pathLst>
                <a:path w="310" h="369">
                  <a:moveTo>
                    <a:pt x="225" y="273"/>
                  </a:moveTo>
                  <a:lnTo>
                    <a:pt x="0" y="2"/>
                  </a:lnTo>
                  <a:lnTo>
                    <a:pt x="4" y="0"/>
                  </a:lnTo>
                  <a:lnTo>
                    <a:pt x="310" y="369"/>
                  </a:lnTo>
                  <a:lnTo>
                    <a:pt x="302" y="363"/>
                  </a:lnTo>
                  <a:lnTo>
                    <a:pt x="225" y="273"/>
                  </a:lnTo>
                  <a:close/>
                </a:path>
              </a:pathLst>
            </a:custGeom>
            <a:solidFill>
              <a:srgbClr val="B7C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59" name="Freeform 117">
              <a:extLst>
                <a:ext uri="{FF2B5EF4-FFF2-40B4-BE49-F238E27FC236}">
                  <a16:creationId xmlns:a16="http://schemas.microsoft.com/office/drawing/2014/main" id="{411C3479-583B-F3B2-81BF-8C005FF9A4DF}"/>
                </a:ext>
              </a:extLst>
            </p:cNvPr>
            <p:cNvSpPr>
              <a:spLocks/>
            </p:cNvSpPr>
            <p:nvPr/>
          </p:nvSpPr>
          <p:spPr bwMode="auto">
            <a:xfrm>
              <a:off x="1956" y="2082"/>
              <a:ext cx="315" cy="374"/>
            </a:xfrm>
            <a:custGeom>
              <a:avLst/>
              <a:gdLst>
                <a:gd name="T0" fmla="*/ 302 w 315"/>
                <a:gd name="T1" fmla="*/ 368 h 374"/>
                <a:gd name="T2" fmla="*/ 0 w 315"/>
                <a:gd name="T3" fmla="*/ 5 h 374"/>
                <a:gd name="T4" fmla="*/ 4 w 315"/>
                <a:gd name="T5" fmla="*/ 0 h 374"/>
                <a:gd name="T6" fmla="*/ 315 w 315"/>
                <a:gd name="T7" fmla="*/ 374 h 374"/>
                <a:gd name="T8" fmla="*/ 302 w 315"/>
                <a:gd name="T9" fmla="*/ 368 h 374"/>
              </a:gdLst>
              <a:ahLst/>
              <a:cxnLst>
                <a:cxn ang="0">
                  <a:pos x="T0" y="T1"/>
                </a:cxn>
                <a:cxn ang="0">
                  <a:pos x="T2" y="T3"/>
                </a:cxn>
                <a:cxn ang="0">
                  <a:pos x="T4" y="T5"/>
                </a:cxn>
                <a:cxn ang="0">
                  <a:pos x="T6" y="T7"/>
                </a:cxn>
                <a:cxn ang="0">
                  <a:pos x="T8" y="T9"/>
                </a:cxn>
              </a:cxnLst>
              <a:rect l="0" t="0" r="r" b="b"/>
              <a:pathLst>
                <a:path w="315" h="374">
                  <a:moveTo>
                    <a:pt x="302" y="368"/>
                  </a:moveTo>
                  <a:lnTo>
                    <a:pt x="0" y="5"/>
                  </a:lnTo>
                  <a:lnTo>
                    <a:pt x="4" y="0"/>
                  </a:lnTo>
                  <a:lnTo>
                    <a:pt x="315" y="374"/>
                  </a:lnTo>
                  <a:lnTo>
                    <a:pt x="302" y="368"/>
                  </a:lnTo>
                  <a:close/>
                </a:path>
              </a:pathLst>
            </a:custGeom>
            <a:solidFill>
              <a:srgbClr val="B7C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0" name="Freeform 118">
              <a:extLst>
                <a:ext uri="{FF2B5EF4-FFF2-40B4-BE49-F238E27FC236}">
                  <a16:creationId xmlns:a16="http://schemas.microsoft.com/office/drawing/2014/main" id="{3BE24B9B-64A5-D5E0-0F1B-FC80D39B9419}"/>
                </a:ext>
              </a:extLst>
            </p:cNvPr>
            <p:cNvSpPr>
              <a:spLocks/>
            </p:cNvSpPr>
            <p:nvPr/>
          </p:nvSpPr>
          <p:spPr bwMode="auto">
            <a:xfrm>
              <a:off x="1958" y="2080"/>
              <a:ext cx="320" cy="379"/>
            </a:xfrm>
            <a:custGeom>
              <a:avLst/>
              <a:gdLst>
                <a:gd name="T0" fmla="*/ 306 w 320"/>
                <a:gd name="T1" fmla="*/ 374 h 379"/>
                <a:gd name="T2" fmla="*/ 0 w 320"/>
                <a:gd name="T3" fmla="*/ 5 h 379"/>
                <a:gd name="T4" fmla="*/ 5 w 320"/>
                <a:gd name="T5" fmla="*/ 0 h 379"/>
                <a:gd name="T6" fmla="*/ 320 w 320"/>
                <a:gd name="T7" fmla="*/ 379 h 379"/>
                <a:gd name="T8" fmla="*/ 306 w 320"/>
                <a:gd name="T9" fmla="*/ 374 h 379"/>
              </a:gdLst>
              <a:ahLst/>
              <a:cxnLst>
                <a:cxn ang="0">
                  <a:pos x="T0" y="T1"/>
                </a:cxn>
                <a:cxn ang="0">
                  <a:pos x="T2" y="T3"/>
                </a:cxn>
                <a:cxn ang="0">
                  <a:pos x="T4" y="T5"/>
                </a:cxn>
                <a:cxn ang="0">
                  <a:pos x="T6" y="T7"/>
                </a:cxn>
                <a:cxn ang="0">
                  <a:pos x="T8" y="T9"/>
                </a:cxn>
              </a:cxnLst>
              <a:rect l="0" t="0" r="r" b="b"/>
              <a:pathLst>
                <a:path w="320" h="379">
                  <a:moveTo>
                    <a:pt x="306" y="374"/>
                  </a:moveTo>
                  <a:lnTo>
                    <a:pt x="0" y="5"/>
                  </a:lnTo>
                  <a:lnTo>
                    <a:pt x="5" y="0"/>
                  </a:lnTo>
                  <a:lnTo>
                    <a:pt x="320" y="379"/>
                  </a:lnTo>
                  <a:lnTo>
                    <a:pt x="306" y="374"/>
                  </a:lnTo>
                  <a:close/>
                </a:path>
              </a:pathLst>
            </a:custGeom>
            <a:solidFill>
              <a:srgbClr val="B7C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1" name="Freeform 119">
              <a:extLst>
                <a:ext uri="{FF2B5EF4-FFF2-40B4-BE49-F238E27FC236}">
                  <a16:creationId xmlns:a16="http://schemas.microsoft.com/office/drawing/2014/main" id="{90514A94-699E-BFC0-7D9F-BEF66707C7F0}"/>
                </a:ext>
              </a:extLst>
            </p:cNvPr>
            <p:cNvSpPr>
              <a:spLocks/>
            </p:cNvSpPr>
            <p:nvPr/>
          </p:nvSpPr>
          <p:spPr bwMode="auto">
            <a:xfrm>
              <a:off x="1960" y="2080"/>
              <a:ext cx="322" cy="383"/>
            </a:xfrm>
            <a:custGeom>
              <a:avLst/>
              <a:gdLst>
                <a:gd name="T0" fmla="*/ 311 w 322"/>
                <a:gd name="T1" fmla="*/ 376 h 383"/>
                <a:gd name="T2" fmla="*/ 0 w 322"/>
                <a:gd name="T3" fmla="*/ 2 h 383"/>
                <a:gd name="T4" fmla="*/ 5 w 322"/>
                <a:gd name="T5" fmla="*/ 0 h 383"/>
                <a:gd name="T6" fmla="*/ 322 w 322"/>
                <a:gd name="T7" fmla="*/ 383 h 383"/>
                <a:gd name="T8" fmla="*/ 311 w 322"/>
                <a:gd name="T9" fmla="*/ 376 h 383"/>
              </a:gdLst>
              <a:ahLst/>
              <a:cxnLst>
                <a:cxn ang="0">
                  <a:pos x="T0" y="T1"/>
                </a:cxn>
                <a:cxn ang="0">
                  <a:pos x="T2" y="T3"/>
                </a:cxn>
                <a:cxn ang="0">
                  <a:pos x="T4" y="T5"/>
                </a:cxn>
                <a:cxn ang="0">
                  <a:pos x="T6" y="T7"/>
                </a:cxn>
                <a:cxn ang="0">
                  <a:pos x="T8" y="T9"/>
                </a:cxn>
              </a:cxnLst>
              <a:rect l="0" t="0" r="r" b="b"/>
              <a:pathLst>
                <a:path w="322" h="383">
                  <a:moveTo>
                    <a:pt x="311" y="376"/>
                  </a:moveTo>
                  <a:lnTo>
                    <a:pt x="0" y="2"/>
                  </a:lnTo>
                  <a:lnTo>
                    <a:pt x="5" y="0"/>
                  </a:lnTo>
                  <a:lnTo>
                    <a:pt x="322" y="383"/>
                  </a:lnTo>
                  <a:lnTo>
                    <a:pt x="311" y="376"/>
                  </a:lnTo>
                  <a:close/>
                </a:path>
              </a:pathLst>
            </a:custGeom>
            <a:solidFill>
              <a:srgbClr val="B7C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2" name="Freeform 120">
              <a:extLst>
                <a:ext uri="{FF2B5EF4-FFF2-40B4-BE49-F238E27FC236}">
                  <a16:creationId xmlns:a16="http://schemas.microsoft.com/office/drawing/2014/main" id="{67062C24-A1B2-3995-8691-2FF5CA79A4B9}"/>
                </a:ext>
              </a:extLst>
            </p:cNvPr>
            <p:cNvSpPr>
              <a:spLocks/>
            </p:cNvSpPr>
            <p:nvPr/>
          </p:nvSpPr>
          <p:spPr bwMode="auto">
            <a:xfrm>
              <a:off x="1963" y="2078"/>
              <a:ext cx="326" cy="387"/>
            </a:xfrm>
            <a:custGeom>
              <a:avLst/>
              <a:gdLst>
                <a:gd name="T0" fmla="*/ 315 w 326"/>
                <a:gd name="T1" fmla="*/ 381 h 387"/>
                <a:gd name="T2" fmla="*/ 0 w 326"/>
                <a:gd name="T3" fmla="*/ 2 h 387"/>
                <a:gd name="T4" fmla="*/ 4 w 326"/>
                <a:gd name="T5" fmla="*/ 0 h 387"/>
                <a:gd name="T6" fmla="*/ 326 w 326"/>
                <a:gd name="T7" fmla="*/ 387 h 387"/>
                <a:gd name="T8" fmla="*/ 315 w 326"/>
                <a:gd name="T9" fmla="*/ 381 h 387"/>
              </a:gdLst>
              <a:ahLst/>
              <a:cxnLst>
                <a:cxn ang="0">
                  <a:pos x="T0" y="T1"/>
                </a:cxn>
                <a:cxn ang="0">
                  <a:pos x="T2" y="T3"/>
                </a:cxn>
                <a:cxn ang="0">
                  <a:pos x="T4" y="T5"/>
                </a:cxn>
                <a:cxn ang="0">
                  <a:pos x="T6" y="T7"/>
                </a:cxn>
                <a:cxn ang="0">
                  <a:pos x="T8" y="T9"/>
                </a:cxn>
              </a:cxnLst>
              <a:rect l="0" t="0" r="r" b="b"/>
              <a:pathLst>
                <a:path w="326" h="387">
                  <a:moveTo>
                    <a:pt x="315" y="381"/>
                  </a:moveTo>
                  <a:lnTo>
                    <a:pt x="0" y="2"/>
                  </a:lnTo>
                  <a:lnTo>
                    <a:pt x="4" y="0"/>
                  </a:lnTo>
                  <a:lnTo>
                    <a:pt x="326" y="387"/>
                  </a:lnTo>
                  <a:lnTo>
                    <a:pt x="315" y="381"/>
                  </a:lnTo>
                  <a:close/>
                </a:path>
              </a:pathLst>
            </a:custGeom>
            <a:solidFill>
              <a:srgbClr val="B7C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3" name="Freeform 121">
              <a:extLst>
                <a:ext uri="{FF2B5EF4-FFF2-40B4-BE49-F238E27FC236}">
                  <a16:creationId xmlns:a16="http://schemas.microsoft.com/office/drawing/2014/main" id="{8B204F26-5610-8396-EC1C-858692C07E1E}"/>
                </a:ext>
              </a:extLst>
            </p:cNvPr>
            <p:cNvSpPr>
              <a:spLocks/>
            </p:cNvSpPr>
            <p:nvPr/>
          </p:nvSpPr>
          <p:spPr bwMode="auto">
            <a:xfrm>
              <a:off x="1965" y="2076"/>
              <a:ext cx="330" cy="394"/>
            </a:xfrm>
            <a:custGeom>
              <a:avLst/>
              <a:gdLst>
                <a:gd name="T0" fmla="*/ 317 w 330"/>
                <a:gd name="T1" fmla="*/ 387 h 394"/>
                <a:gd name="T2" fmla="*/ 0 w 330"/>
                <a:gd name="T3" fmla="*/ 4 h 394"/>
                <a:gd name="T4" fmla="*/ 4 w 330"/>
                <a:gd name="T5" fmla="*/ 0 h 394"/>
                <a:gd name="T6" fmla="*/ 330 w 330"/>
                <a:gd name="T7" fmla="*/ 394 h 394"/>
                <a:gd name="T8" fmla="*/ 317 w 330"/>
                <a:gd name="T9" fmla="*/ 387 h 394"/>
              </a:gdLst>
              <a:ahLst/>
              <a:cxnLst>
                <a:cxn ang="0">
                  <a:pos x="T0" y="T1"/>
                </a:cxn>
                <a:cxn ang="0">
                  <a:pos x="T2" y="T3"/>
                </a:cxn>
                <a:cxn ang="0">
                  <a:pos x="T4" y="T5"/>
                </a:cxn>
                <a:cxn ang="0">
                  <a:pos x="T6" y="T7"/>
                </a:cxn>
                <a:cxn ang="0">
                  <a:pos x="T8" y="T9"/>
                </a:cxn>
              </a:cxnLst>
              <a:rect l="0" t="0" r="r" b="b"/>
              <a:pathLst>
                <a:path w="330" h="394">
                  <a:moveTo>
                    <a:pt x="317" y="387"/>
                  </a:moveTo>
                  <a:lnTo>
                    <a:pt x="0" y="4"/>
                  </a:lnTo>
                  <a:lnTo>
                    <a:pt x="4" y="0"/>
                  </a:lnTo>
                  <a:lnTo>
                    <a:pt x="330" y="394"/>
                  </a:lnTo>
                  <a:lnTo>
                    <a:pt x="317" y="387"/>
                  </a:lnTo>
                  <a:close/>
                </a:path>
              </a:pathLst>
            </a:custGeom>
            <a:solidFill>
              <a:srgbClr val="B7C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4" name="Freeform 122">
              <a:extLst>
                <a:ext uri="{FF2B5EF4-FFF2-40B4-BE49-F238E27FC236}">
                  <a16:creationId xmlns:a16="http://schemas.microsoft.com/office/drawing/2014/main" id="{788D7DFD-B8EC-F63B-652A-F7F93E136EAA}"/>
                </a:ext>
              </a:extLst>
            </p:cNvPr>
            <p:cNvSpPr>
              <a:spLocks/>
            </p:cNvSpPr>
            <p:nvPr/>
          </p:nvSpPr>
          <p:spPr bwMode="auto">
            <a:xfrm>
              <a:off x="1967" y="2074"/>
              <a:ext cx="335" cy="398"/>
            </a:xfrm>
            <a:custGeom>
              <a:avLst/>
              <a:gdLst>
                <a:gd name="T0" fmla="*/ 322 w 335"/>
                <a:gd name="T1" fmla="*/ 391 h 398"/>
                <a:gd name="T2" fmla="*/ 0 w 335"/>
                <a:gd name="T3" fmla="*/ 4 h 398"/>
                <a:gd name="T4" fmla="*/ 4 w 335"/>
                <a:gd name="T5" fmla="*/ 0 h 398"/>
                <a:gd name="T6" fmla="*/ 335 w 335"/>
                <a:gd name="T7" fmla="*/ 398 h 398"/>
                <a:gd name="T8" fmla="*/ 322 w 335"/>
                <a:gd name="T9" fmla="*/ 391 h 398"/>
              </a:gdLst>
              <a:ahLst/>
              <a:cxnLst>
                <a:cxn ang="0">
                  <a:pos x="T0" y="T1"/>
                </a:cxn>
                <a:cxn ang="0">
                  <a:pos x="T2" y="T3"/>
                </a:cxn>
                <a:cxn ang="0">
                  <a:pos x="T4" y="T5"/>
                </a:cxn>
                <a:cxn ang="0">
                  <a:pos x="T6" y="T7"/>
                </a:cxn>
                <a:cxn ang="0">
                  <a:pos x="T8" y="T9"/>
                </a:cxn>
              </a:cxnLst>
              <a:rect l="0" t="0" r="r" b="b"/>
              <a:pathLst>
                <a:path w="335" h="398">
                  <a:moveTo>
                    <a:pt x="322" y="391"/>
                  </a:moveTo>
                  <a:lnTo>
                    <a:pt x="0" y="4"/>
                  </a:lnTo>
                  <a:lnTo>
                    <a:pt x="4" y="0"/>
                  </a:lnTo>
                  <a:lnTo>
                    <a:pt x="335" y="398"/>
                  </a:lnTo>
                  <a:lnTo>
                    <a:pt x="322" y="391"/>
                  </a:lnTo>
                  <a:close/>
                </a:path>
              </a:pathLst>
            </a:custGeom>
            <a:solidFill>
              <a:srgbClr val="B7C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5" name="Freeform 123">
              <a:extLst>
                <a:ext uri="{FF2B5EF4-FFF2-40B4-BE49-F238E27FC236}">
                  <a16:creationId xmlns:a16="http://schemas.microsoft.com/office/drawing/2014/main" id="{BE611FBB-92F8-ACA1-4474-DDBD7FD19E04}"/>
                </a:ext>
              </a:extLst>
            </p:cNvPr>
            <p:cNvSpPr>
              <a:spLocks/>
            </p:cNvSpPr>
            <p:nvPr/>
          </p:nvSpPr>
          <p:spPr bwMode="auto">
            <a:xfrm>
              <a:off x="1969" y="2071"/>
              <a:ext cx="337" cy="403"/>
            </a:xfrm>
            <a:custGeom>
              <a:avLst/>
              <a:gdLst>
                <a:gd name="T0" fmla="*/ 326 w 337"/>
                <a:gd name="T1" fmla="*/ 399 h 403"/>
                <a:gd name="T2" fmla="*/ 0 w 337"/>
                <a:gd name="T3" fmla="*/ 5 h 403"/>
                <a:gd name="T4" fmla="*/ 4 w 337"/>
                <a:gd name="T5" fmla="*/ 0 h 403"/>
                <a:gd name="T6" fmla="*/ 337 w 337"/>
                <a:gd name="T7" fmla="*/ 403 h 403"/>
                <a:gd name="T8" fmla="*/ 326 w 337"/>
                <a:gd name="T9" fmla="*/ 399 h 403"/>
              </a:gdLst>
              <a:ahLst/>
              <a:cxnLst>
                <a:cxn ang="0">
                  <a:pos x="T0" y="T1"/>
                </a:cxn>
                <a:cxn ang="0">
                  <a:pos x="T2" y="T3"/>
                </a:cxn>
                <a:cxn ang="0">
                  <a:pos x="T4" y="T5"/>
                </a:cxn>
                <a:cxn ang="0">
                  <a:pos x="T6" y="T7"/>
                </a:cxn>
                <a:cxn ang="0">
                  <a:pos x="T8" y="T9"/>
                </a:cxn>
              </a:cxnLst>
              <a:rect l="0" t="0" r="r" b="b"/>
              <a:pathLst>
                <a:path w="337" h="403">
                  <a:moveTo>
                    <a:pt x="326" y="399"/>
                  </a:moveTo>
                  <a:lnTo>
                    <a:pt x="0" y="5"/>
                  </a:lnTo>
                  <a:lnTo>
                    <a:pt x="4" y="0"/>
                  </a:lnTo>
                  <a:lnTo>
                    <a:pt x="337" y="403"/>
                  </a:lnTo>
                  <a:lnTo>
                    <a:pt x="326" y="399"/>
                  </a:lnTo>
                  <a:close/>
                </a:path>
              </a:pathLst>
            </a:custGeom>
            <a:solidFill>
              <a:srgbClr val="B7C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6" name="Freeform 124">
              <a:extLst>
                <a:ext uri="{FF2B5EF4-FFF2-40B4-BE49-F238E27FC236}">
                  <a16:creationId xmlns:a16="http://schemas.microsoft.com/office/drawing/2014/main" id="{7A0306DE-87AF-C1FC-7168-E033799BE716}"/>
                </a:ext>
              </a:extLst>
            </p:cNvPr>
            <p:cNvSpPr>
              <a:spLocks/>
            </p:cNvSpPr>
            <p:nvPr/>
          </p:nvSpPr>
          <p:spPr bwMode="auto">
            <a:xfrm>
              <a:off x="1971" y="2071"/>
              <a:ext cx="342" cy="407"/>
            </a:xfrm>
            <a:custGeom>
              <a:avLst/>
              <a:gdLst>
                <a:gd name="T0" fmla="*/ 331 w 342"/>
                <a:gd name="T1" fmla="*/ 401 h 407"/>
                <a:gd name="T2" fmla="*/ 0 w 342"/>
                <a:gd name="T3" fmla="*/ 3 h 407"/>
                <a:gd name="T4" fmla="*/ 2 w 342"/>
                <a:gd name="T5" fmla="*/ 0 h 407"/>
                <a:gd name="T6" fmla="*/ 342 w 342"/>
                <a:gd name="T7" fmla="*/ 407 h 407"/>
                <a:gd name="T8" fmla="*/ 331 w 342"/>
                <a:gd name="T9" fmla="*/ 401 h 407"/>
              </a:gdLst>
              <a:ahLst/>
              <a:cxnLst>
                <a:cxn ang="0">
                  <a:pos x="T0" y="T1"/>
                </a:cxn>
                <a:cxn ang="0">
                  <a:pos x="T2" y="T3"/>
                </a:cxn>
                <a:cxn ang="0">
                  <a:pos x="T4" y="T5"/>
                </a:cxn>
                <a:cxn ang="0">
                  <a:pos x="T6" y="T7"/>
                </a:cxn>
                <a:cxn ang="0">
                  <a:pos x="T8" y="T9"/>
                </a:cxn>
              </a:cxnLst>
              <a:rect l="0" t="0" r="r" b="b"/>
              <a:pathLst>
                <a:path w="342" h="407">
                  <a:moveTo>
                    <a:pt x="331" y="401"/>
                  </a:moveTo>
                  <a:lnTo>
                    <a:pt x="0" y="3"/>
                  </a:lnTo>
                  <a:lnTo>
                    <a:pt x="2" y="0"/>
                  </a:lnTo>
                  <a:lnTo>
                    <a:pt x="342" y="407"/>
                  </a:lnTo>
                  <a:lnTo>
                    <a:pt x="331" y="401"/>
                  </a:lnTo>
                  <a:close/>
                </a:path>
              </a:pathLst>
            </a:custGeom>
            <a:solidFill>
              <a:srgbClr val="B7C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7" name="Freeform 125">
              <a:extLst>
                <a:ext uri="{FF2B5EF4-FFF2-40B4-BE49-F238E27FC236}">
                  <a16:creationId xmlns:a16="http://schemas.microsoft.com/office/drawing/2014/main" id="{4C9F6810-9838-BAA0-CBAD-B7C95F0E0E8E}"/>
                </a:ext>
              </a:extLst>
            </p:cNvPr>
            <p:cNvSpPr>
              <a:spLocks/>
            </p:cNvSpPr>
            <p:nvPr/>
          </p:nvSpPr>
          <p:spPr bwMode="auto">
            <a:xfrm>
              <a:off x="1973" y="2069"/>
              <a:ext cx="346" cy="412"/>
            </a:xfrm>
            <a:custGeom>
              <a:avLst/>
              <a:gdLst>
                <a:gd name="T0" fmla="*/ 333 w 346"/>
                <a:gd name="T1" fmla="*/ 405 h 412"/>
                <a:gd name="T2" fmla="*/ 0 w 346"/>
                <a:gd name="T3" fmla="*/ 2 h 412"/>
                <a:gd name="T4" fmla="*/ 3 w 346"/>
                <a:gd name="T5" fmla="*/ 0 h 412"/>
                <a:gd name="T6" fmla="*/ 346 w 346"/>
                <a:gd name="T7" fmla="*/ 412 h 412"/>
                <a:gd name="T8" fmla="*/ 333 w 346"/>
                <a:gd name="T9" fmla="*/ 405 h 412"/>
              </a:gdLst>
              <a:ahLst/>
              <a:cxnLst>
                <a:cxn ang="0">
                  <a:pos x="T0" y="T1"/>
                </a:cxn>
                <a:cxn ang="0">
                  <a:pos x="T2" y="T3"/>
                </a:cxn>
                <a:cxn ang="0">
                  <a:pos x="T4" y="T5"/>
                </a:cxn>
                <a:cxn ang="0">
                  <a:pos x="T6" y="T7"/>
                </a:cxn>
                <a:cxn ang="0">
                  <a:pos x="T8" y="T9"/>
                </a:cxn>
              </a:cxnLst>
              <a:rect l="0" t="0" r="r" b="b"/>
              <a:pathLst>
                <a:path w="346" h="412">
                  <a:moveTo>
                    <a:pt x="333" y="405"/>
                  </a:moveTo>
                  <a:lnTo>
                    <a:pt x="0" y="2"/>
                  </a:lnTo>
                  <a:lnTo>
                    <a:pt x="3" y="0"/>
                  </a:lnTo>
                  <a:lnTo>
                    <a:pt x="346" y="412"/>
                  </a:lnTo>
                  <a:lnTo>
                    <a:pt x="333" y="405"/>
                  </a:lnTo>
                  <a:close/>
                </a:path>
              </a:pathLst>
            </a:custGeom>
            <a:solidFill>
              <a:srgbClr val="B7C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8" name="Freeform 126">
              <a:extLst>
                <a:ext uri="{FF2B5EF4-FFF2-40B4-BE49-F238E27FC236}">
                  <a16:creationId xmlns:a16="http://schemas.microsoft.com/office/drawing/2014/main" id="{60A8BEDE-6AD5-C611-9BF0-BDB2F24260FD}"/>
                </a:ext>
              </a:extLst>
            </p:cNvPr>
            <p:cNvSpPr>
              <a:spLocks/>
            </p:cNvSpPr>
            <p:nvPr/>
          </p:nvSpPr>
          <p:spPr bwMode="auto">
            <a:xfrm>
              <a:off x="1973" y="2067"/>
              <a:ext cx="351" cy="418"/>
            </a:xfrm>
            <a:custGeom>
              <a:avLst/>
              <a:gdLst>
                <a:gd name="T0" fmla="*/ 340 w 351"/>
                <a:gd name="T1" fmla="*/ 411 h 418"/>
                <a:gd name="T2" fmla="*/ 0 w 351"/>
                <a:gd name="T3" fmla="*/ 4 h 418"/>
                <a:gd name="T4" fmla="*/ 5 w 351"/>
                <a:gd name="T5" fmla="*/ 0 h 418"/>
                <a:gd name="T6" fmla="*/ 351 w 351"/>
                <a:gd name="T7" fmla="*/ 418 h 418"/>
                <a:gd name="T8" fmla="*/ 340 w 351"/>
                <a:gd name="T9" fmla="*/ 411 h 418"/>
              </a:gdLst>
              <a:ahLst/>
              <a:cxnLst>
                <a:cxn ang="0">
                  <a:pos x="T0" y="T1"/>
                </a:cxn>
                <a:cxn ang="0">
                  <a:pos x="T2" y="T3"/>
                </a:cxn>
                <a:cxn ang="0">
                  <a:pos x="T4" y="T5"/>
                </a:cxn>
                <a:cxn ang="0">
                  <a:pos x="T6" y="T7"/>
                </a:cxn>
                <a:cxn ang="0">
                  <a:pos x="T8" y="T9"/>
                </a:cxn>
              </a:cxnLst>
              <a:rect l="0" t="0" r="r" b="b"/>
              <a:pathLst>
                <a:path w="351" h="418">
                  <a:moveTo>
                    <a:pt x="340" y="411"/>
                  </a:moveTo>
                  <a:lnTo>
                    <a:pt x="0" y="4"/>
                  </a:lnTo>
                  <a:lnTo>
                    <a:pt x="5" y="0"/>
                  </a:lnTo>
                  <a:lnTo>
                    <a:pt x="351" y="418"/>
                  </a:lnTo>
                  <a:lnTo>
                    <a:pt x="340" y="411"/>
                  </a:lnTo>
                  <a:close/>
                </a:path>
              </a:pathLst>
            </a:custGeom>
            <a:solidFill>
              <a:srgbClr val="B7C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69" name="Freeform 127">
              <a:extLst>
                <a:ext uri="{FF2B5EF4-FFF2-40B4-BE49-F238E27FC236}">
                  <a16:creationId xmlns:a16="http://schemas.microsoft.com/office/drawing/2014/main" id="{72601402-375F-6EA3-20DF-93D0336C5A2F}"/>
                </a:ext>
              </a:extLst>
            </p:cNvPr>
            <p:cNvSpPr>
              <a:spLocks/>
            </p:cNvSpPr>
            <p:nvPr/>
          </p:nvSpPr>
          <p:spPr bwMode="auto">
            <a:xfrm>
              <a:off x="1976" y="2065"/>
              <a:ext cx="354" cy="422"/>
            </a:xfrm>
            <a:custGeom>
              <a:avLst/>
              <a:gdLst>
                <a:gd name="T0" fmla="*/ 343 w 354"/>
                <a:gd name="T1" fmla="*/ 416 h 422"/>
                <a:gd name="T2" fmla="*/ 0 w 354"/>
                <a:gd name="T3" fmla="*/ 4 h 422"/>
                <a:gd name="T4" fmla="*/ 4 w 354"/>
                <a:gd name="T5" fmla="*/ 0 h 422"/>
                <a:gd name="T6" fmla="*/ 354 w 354"/>
                <a:gd name="T7" fmla="*/ 422 h 422"/>
                <a:gd name="T8" fmla="*/ 343 w 354"/>
                <a:gd name="T9" fmla="*/ 416 h 422"/>
              </a:gdLst>
              <a:ahLst/>
              <a:cxnLst>
                <a:cxn ang="0">
                  <a:pos x="T0" y="T1"/>
                </a:cxn>
                <a:cxn ang="0">
                  <a:pos x="T2" y="T3"/>
                </a:cxn>
                <a:cxn ang="0">
                  <a:pos x="T4" y="T5"/>
                </a:cxn>
                <a:cxn ang="0">
                  <a:pos x="T6" y="T7"/>
                </a:cxn>
                <a:cxn ang="0">
                  <a:pos x="T8" y="T9"/>
                </a:cxn>
              </a:cxnLst>
              <a:rect l="0" t="0" r="r" b="b"/>
              <a:pathLst>
                <a:path w="354" h="422">
                  <a:moveTo>
                    <a:pt x="343" y="416"/>
                  </a:moveTo>
                  <a:lnTo>
                    <a:pt x="0" y="4"/>
                  </a:lnTo>
                  <a:lnTo>
                    <a:pt x="4" y="0"/>
                  </a:lnTo>
                  <a:lnTo>
                    <a:pt x="354" y="422"/>
                  </a:lnTo>
                  <a:lnTo>
                    <a:pt x="343" y="416"/>
                  </a:lnTo>
                  <a:close/>
                </a:path>
              </a:pathLst>
            </a:custGeom>
            <a:solidFill>
              <a:srgbClr val="B7C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0" name="Freeform 128">
              <a:extLst>
                <a:ext uri="{FF2B5EF4-FFF2-40B4-BE49-F238E27FC236}">
                  <a16:creationId xmlns:a16="http://schemas.microsoft.com/office/drawing/2014/main" id="{561F1FBB-027C-8B13-AD6C-AF98BA8DEB76}"/>
                </a:ext>
              </a:extLst>
            </p:cNvPr>
            <p:cNvSpPr>
              <a:spLocks/>
            </p:cNvSpPr>
            <p:nvPr/>
          </p:nvSpPr>
          <p:spPr bwMode="auto">
            <a:xfrm>
              <a:off x="1978" y="2065"/>
              <a:ext cx="359" cy="424"/>
            </a:xfrm>
            <a:custGeom>
              <a:avLst/>
              <a:gdLst>
                <a:gd name="T0" fmla="*/ 346 w 359"/>
                <a:gd name="T1" fmla="*/ 420 h 424"/>
                <a:gd name="T2" fmla="*/ 0 w 359"/>
                <a:gd name="T3" fmla="*/ 2 h 424"/>
                <a:gd name="T4" fmla="*/ 4 w 359"/>
                <a:gd name="T5" fmla="*/ 0 h 424"/>
                <a:gd name="T6" fmla="*/ 359 w 359"/>
                <a:gd name="T7" fmla="*/ 424 h 424"/>
                <a:gd name="T8" fmla="*/ 346 w 359"/>
                <a:gd name="T9" fmla="*/ 420 h 424"/>
              </a:gdLst>
              <a:ahLst/>
              <a:cxnLst>
                <a:cxn ang="0">
                  <a:pos x="T0" y="T1"/>
                </a:cxn>
                <a:cxn ang="0">
                  <a:pos x="T2" y="T3"/>
                </a:cxn>
                <a:cxn ang="0">
                  <a:pos x="T4" y="T5"/>
                </a:cxn>
                <a:cxn ang="0">
                  <a:pos x="T6" y="T7"/>
                </a:cxn>
                <a:cxn ang="0">
                  <a:pos x="T8" y="T9"/>
                </a:cxn>
              </a:cxnLst>
              <a:rect l="0" t="0" r="r" b="b"/>
              <a:pathLst>
                <a:path w="359" h="424">
                  <a:moveTo>
                    <a:pt x="346" y="420"/>
                  </a:moveTo>
                  <a:lnTo>
                    <a:pt x="0" y="2"/>
                  </a:lnTo>
                  <a:lnTo>
                    <a:pt x="4" y="0"/>
                  </a:lnTo>
                  <a:lnTo>
                    <a:pt x="359" y="424"/>
                  </a:lnTo>
                  <a:lnTo>
                    <a:pt x="346" y="420"/>
                  </a:lnTo>
                  <a:close/>
                </a:path>
              </a:pathLst>
            </a:custGeom>
            <a:solidFill>
              <a:srgbClr val="B7C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1" name="Freeform 129">
              <a:extLst>
                <a:ext uri="{FF2B5EF4-FFF2-40B4-BE49-F238E27FC236}">
                  <a16:creationId xmlns:a16="http://schemas.microsoft.com/office/drawing/2014/main" id="{E4B2ACF3-A0A6-4DCD-844A-441362C52AEA}"/>
                </a:ext>
              </a:extLst>
            </p:cNvPr>
            <p:cNvSpPr>
              <a:spLocks/>
            </p:cNvSpPr>
            <p:nvPr/>
          </p:nvSpPr>
          <p:spPr bwMode="auto">
            <a:xfrm>
              <a:off x="1980" y="2063"/>
              <a:ext cx="363" cy="431"/>
            </a:xfrm>
            <a:custGeom>
              <a:avLst/>
              <a:gdLst>
                <a:gd name="T0" fmla="*/ 350 w 363"/>
                <a:gd name="T1" fmla="*/ 424 h 431"/>
                <a:gd name="T2" fmla="*/ 0 w 363"/>
                <a:gd name="T3" fmla="*/ 2 h 431"/>
                <a:gd name="T4" fmla="*/ 4 w 363"/>
                <a:gd name="T5" fmla="*/ 0 h 431"/>
                <a:gd name="T6" fmla="*/ 363 w 363"/>
                <a:gd name="T7" fmla="*/ 431 h 431"/>
                <a:gd name="T8" fmla="*/ 350 w 363"/>
                <a:gd name="T9" fmla="*/ 424 h 431"/>
              </a:gdLst>
              <a:ahLst/>
              <a:cxnLst>
                <a:cxn ang="0">
                  <a:pos x="T0" y="T1"/>
                </a:cxn>
                <a:cxn ang="0">
                  <a:pos x="T2" y="T3"/>
                </a:cxn>
                <a:cxn ang="0">
                  <a:pos x="T4" y="T5"/>
                </a:cxn>
                <a:cxn ang="0">
                  <a:pos x="T6" y="T7"/>
                </a:cxn>
                <a:cxn ang="0">
                  <a:pos x="T8" y="T9"/>
                </a:cxn>
              </a:cxnLst>
              <a:rect l="0" t="0" r="r" b="b"/>
              <a:pathLst>
                <a:path w="363" h="431">
                  <a:moveTo>
                    <a:pt x="350" y="424"/>
                  </a:moveTo>
                  <a:lnTo>
                    <a:pt x="0" y="2"/>
                  </a:lnTo>
                  <a:lnTo>
                    <a:pt x="4" y="0"/>
                  </a:lnTo>
                  <a:lnTo>
                    <a:pt x="363" y="431"/>
                  </a:lnTo>
                  <a:lnTo>
                    <a:pt x="350" y="424"/>
                  </a:lnTo>
                  <a:close/>
                </a:path>
              </a:pathLst>
            </a:custGeom>
            <a:solidFill>
              <a:srgbClr val="BECDD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2" name="Freeform 130">
              <a:extLst>
                <a:ext uri="{FF2B5EF4-FFF2-40B4-BE49-F238E27FC236}">
                  <a16:creationId xmlns:a16="http://schemas.microsoft.com/office/drawing/2014/main" id="{B3B4D530-5ADF-7537-43AD-140517E454C4}"/>
                </a:ext>
              </a:extLst>
            </p:cNvPr>
            <p:cNvSpPr>
              <a:spLocks/>
            </p:cNvSpPr>
            <p:nvPr/>
          </p:nvSpPr>
          <p:spPr bwMode="auto">
            <a:xfrm>
              <a:off x="1982" y="2060"/>
              <a:ext cx="366" cy="436"/>
            </a:xfrm>
            <a:custGeom>
              <a:avLst/>
              <a:gdLst>
                <a:gd name="T0" fmla="*/ 355 w 366"/>
                <a:gd name="T1" fmla="*/ 429 h 436"/>
                <a:gd name="T2" fmla="*/ 0 w 366"/>
                <a:gd name="T3" fmla="*/ 5 h 436"/>
                <a:gd name="T4" fmla="*/ 5 w 366"/>
                <a:gd name="T5" fmla="*/ 0 h 436"/>
                <a:gd name="T6" fmla="*/ 366 w 366"/>
                <a:gd name="T7" fmla="*/ 436 h 436"/>
                <a:gd name="T8" fmla="*/ 355 w 366"/>
                <a:gd name="T9" fmla="*/ 429 h 436"/>
              </a:gdLst>
              <a:ahLst/>
              <a:cxnLst>
                <a:cxn ang="0">
                  <a:pos x="T0" y="T1"/>
                </a:cxn>
                <a:cxn ang="0">
                  <a:pos x="T2" y="T3"/>
                </a:cxn>
                <a:cxn ang="0">
                  <a:pos x="T4" y="T5"/>
                </a:cxn>
                <a:cxn ang="0">
                  <a:pos x="T6" y="T7"/>
                </a:cxn>
                <a:cxn ang="0">
                  <a:pos x="T8" y="T9"/>
                </a:cxn>
              </a:cxnLst>
              <a:rect l="0" t="0" r="r" b="b"/>
              <a:pathLst>
                <a:path w="366" h="436">
                  <a:moveTo>
                    <a:pt x="355" y="429"/>
                  </a:moveTo>
                  <a:lnTo>
                    <a:pt x="0" y="5"/>
                  </a:lnTo>
                  <a:lnTo>
                    <a:pt x="5" y="0"/>
                  </a:lnTo>
                  <a:lnTo>
                    <a:pt x="366" y="436"/>
                  </a:lnTo>
                  <a:lnTo>
                    <a:pt x="355" y="429"/>
                  </a:lnTo>
                  <a:close/>
                </a:path>
              </a:pathLst>
            </a:custGeom>
            <a:solidFill>
              <a:srgbClr val="BECDD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3" name="Freeform 131">
              <a:extLst>
                <a:ext uri="{FF2B5EF4-FFF2-40B4-BE49-F238E27FC236}">
                  <a16:creationId xmlns:a16="http://schemas.microsoft.com/office/drawing/2014/main" id="{415667CD-0BA9-7D29-583F-2BC1E83D823F}"/>
                </a:ext>
              </a:extLst>
            </p:cNvPr>
            <p:cNvSpPr>
              <a:spLocks/>
            </p:cNvSpPr>
            <p:nvPr/>
          </p:nvSpPr>
          <p:spPr bwMode="auto">
            <a:xfrm>
              <a:off x="1984" y="2058"/>
              <a:ext cx="370" cy="440"/>
            </a:xfrm>
            <a:custGeom>
              <a:avLst/>
              <a:gdLst>
                <a:gd name="T0" fmla="*/ 359 w 370"/>
                <a:gd name="T1" fmla="*/ 436 h 440"/>
                <a:gd name="T2" fmla="*/ 0 w 370"/>
                <a:gd name="T3" fmla="*/ 5 h 440"/>
                <a:gd name="T4" fmla="*/ 5 w 370"/>
                <a:gd name="T5" fmla="*/ 0 h 440"/>
                <a:gd name="T6" fmla="*/ 370 w 370"/>
                <a:gd name="T7" fmla="*/ 440 h 440"/>
                <a:gd name="T8" fmla="*/ 359 w 370"/>
                <a:gd name="T9" fmla="*/ 436 h 440"/>
              </a:gdLst>
              <a:ahLst/>
              <a:cxnLst>
                <a:cxn ang="0">
                  <a:pos x="T0" y="T1"/>
                </a:cxn>
                <a:cxn ang="0">
                  <a:pos x="T2" y="T3"/>
                </a:cxn>
                <a:cxn ang="0">
                  <a:pos x="T4" y="T5"/>
                </a:cxn>
                <a:cxn ang="0">
                  <a:pos x="T6" y="T7"/>
                </a:cxn>
                <a:cxn ang="0">
                  <a:pos x="T8" y="T9"/>
                </a:cxn>
              </a:cxnLst>
              <a:rect l="0" t="0" r="r" b="b"/>
              <a:pathLst>
                <a:path w="370" h="440">
                  <a:moveTo>
                    <a:pt x="359" y="436"/>
                  </a:moveTo>
                  <a:lnTo>
                    <a:pt x="0" y="5"/>
                  </a:lnTo>
                  <a:lnTo>
                    <a:pt x="5" y="0"/>
                  </a:lnTo>
                  <a:lnTo>
                    <a:pt x="370" y="440"/>
                  </a:lnTo>
                  <a:lnTo>
                    <a:pt x="359" y="436"/>
                  </a:lnTo>
                  <a:close/>
                </a:path>
              </a:pathLst>
            </a:custGeom>
            <a:solidFill>
              <a:srgbClr val="BECDD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4" name="Freeform 132">
              <a:extLst>
                <a:ext uri="{FF2B5EF4-FFF2-40B4-BE49-F238E27FC236}">
                  <a16:creationId xmlns:a16="http://schemas.microsoft.com/office/drawing/2014/main" id="{FC4F88C2-05F4-2E96-E309-F37FD88E0575}"/>
                </a:ext>
              </a:extLst>
            </p:cNvPr>
            <p:cNvSpPr>
              <a:spLocks/>
            </p:cNvSpPr>
            <p:nvPr/>
          </p:nvSpPr>
          <p:spPr bwMode="auto">
            <a:xfrm>
              <a:off x="1987" y="2058"/>
              <a:ext cx="374" cy="444"/>
            </a:xfrm>
            <a:custGeom>
              <a:avLst/>
              <a:gdLst>
                <a:gd name="T0" fmla="*/ 361 w 374"/>
                <a:gd name="T1" fmla="*/ 438 h 444"/>
                <a:gd name="T2" fmla="*/ 0 w 374"/>
                <a:gd name="T3" fmla="*/ 2 h 444"/>
                <a:gd name="T4" fmla="*/ 4 w 374"/>
                <a:gd name="T5" fmla="*/ 0 h 444"/>
                <a:gd name="T6" fmla="*/ 374 w 374"/>
                <a:gd name="T7" fmla="*/ 444 h 444"/>
                <a:gd name="T8" fmla="*/ 374 w 374"/>
                <a:gd name="T9" fmla="*/ 444 h 444"/>
                <a:gd name="T10" fmla="*/ 361 w 374"/>
                <a:gd name="T11" fmla="*/ 438 h 444"/>
              </a:gdLst>
              <a:ahLst/>
              <a:cxnLst>
                <a:cxn ang="0">
                  <a:pos x="T0" y="T1"/>
                </a:cxn>
                <a:cxn ang="0">
                  <a:pos x="T2" y="T3"/>
                </a:cxn>
                <a:cxn ang="0">
                  <a:pos x="T4" y="T5"/>
                </a:cxn>
                <a:cxn ang="0">
                  <a:pos x="T6" y="T7"/>
                </a:cxn>
                <a:cxn ang="0">
                  <a:pos x="T8" y="T9"/>
                </a:cxn>
                <a:cxn ang="0">
                  <a:pos x="T10" y="T11"/>
                </a:cxn>
              </a:cxnLst>
              <a:rect l="0" t="0" r="r" b="b"/>
              <a:pathLst>
                <a:path w="374" h="444">
                  <a:moveTo>
                    <a:pt x="361" y="438"/>
                  </a:moveTo>
                  <a:lnTo>
                    <a:pt x="0" y="2"/>
                  </a:lnTo>
                  <a:lnTo>
                    <a:pt x="4" y="0"/>
                  </a:lnTo>
                  <a:lnTo>
                    <a:pt x="374" y="444"/>
                  </a:lnTo>
                  <a:lnTo>
                    <a:pt x="374" y="444"/>
                  </a:lnTo>
                  <a:lnTo>
                    <a:pt x="361" y="438"/>
                  </a:lnTo>
                  <a:close/>
                </a:path>
              </a:pathLst>
            </a:custGeom>
            <a:solidFill>
              <a:srgbClr val="BECDD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5" name="Freeform 133">
              <a:extLst>
                <a:ext uri="{FF2B5EF4-FFF2-40B4-BE49-F238E27FC236}">
                  <a16:creationId xmlns:a16="http://schemas.microsoft.com/office/drawing/2014/main" id="{EDD7B77B-9F4B-36FC-F229-0C9CC7B6BBA5}"/>
                </a:ext>
              </a:extLst>
            </p:cNvPr>
            <p:cNvSpPr>
              <a:spLocks/>
            </p:cNvSpPr>
            <p:nvPr/>
          </p:nvSpPr>
          <p:spPr bwMode="auto">
            <a:xfrm>
              <a:off x="1989" y="2056"/>
              <a:ext cx="374" cy="446"/>
            </a:xfrm>
            <a:custGeom>
              <a:avLst/>
              <a:gdLst>
                <a:gd name="T0" fmla="*/ 365 w 374"/>
                <a:gd name="T1" fmla="*/ 442 h 446"/>
                <a:gd name="T2" fmla="*/ 0 w 374"/>
                <a:gd name="T3" fmla="*/ 2 h 446"/>
                <a:gd name="T4" fmla="*/ 4 w 374"/>
                <a:gd name="T5" fmla="*/ 0 h 446"/>
                <a:gd name="T6" fmla="*/ 374 w 374"/>
                <a:gd name="T7" fmla="*/ 444 h 446"/>
                <a:gd name="T8" fmla="*/ 372 w 374"/>
                <a:gd name="T9" fmla="*/ 446 h 446"/>
                <a:gd name="T10" fmla="*/ 365 w 374"/>
                <a:gd name="T11" fmla="*/ 442 h 446"/>
              </a:gdLst>
              <a:ahLst/>
              <a:cxnLst>
                <a:cxn ang="0">
                  <a:pos x="T0" y="T1"/>
                </a:cxn>
                <a:cxn ang="0">
                  <a:pos x="T2" y="T3"/>
                </a:cxn>
                <a:cxn ang="0">
                  <a:pos x="T4" y="T5"/>
                </a:cxn>
                <a:cxn ang="0">
                  <a:pos x="T6" y="T7"/>
                </a:cxn>
                <a:cxn ang="0">
                  <a:pos x="T8" y="T9"/>
                </a:cxn>
                <a:cxn ang="0">
                  <a:pos x="T10" y="T11"/>
                </a:cxn>
              </a:cxnLst>
              <a:rect l="0" t="0" r="r" b="b"/>
              <a:pathLst>
                <a:path w="374" h="446">
                  <a:moveTo>
                    <a:pt x="365" y="442"/>
                  </a:moveTo>
                  <a:lnTo>
                    <a:pt x="0" y="2"/>
                  </a:lnTo>
                  <a:lnTo>
                    <a:pt x="4" y="0"/>
                  </a:lnTo>
                  <a:lnTo>
                    <a:pt x="374" y="444"/>
                  </a:lnTo>
                  <a:lnTo>
                    <a:pt x="372" y="446"/>
                  </a:lnTo>
                  <a:lnTo>
                    <a:pt x="365" y="442"/>
                  </a:lnTo>
                  <a:close/>
                </a:path>
              </a:pathLst>
            </a:custGeom>
            <a:solidFill>
              <a:srgbClr val="BECDD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6" name="Freeform 134">
              <a:extLst>
                <a:ext uri="{FF2B5EF4-FFF2-40B4-BE49-F238E27FC236}">
                  <a16:creationId xmlns:a16="http://schemas.microsoft.com/office/drawing/2014/main" id="{3DCE4D77-1805-1FF3-739F-683FD7F9B7A5}"/>
                </a:ext>
              </a:extLst>
            </p:cNvPr>
            <p:cNvSpPr>
              <a:spLocks/>
            </p:cNvSpPr>
            <p:nvPr/>
          </p:nvSpPr>
          <p:spPr bwMode="auto">
            <a:xfrm>
              <a:off x="1991" y="2054"/>
              <a:ext cx="372" cy="448"/>
            </a:xfrm>
            <a:custGeom>
              <a:avLst/>
              <a:gdLst>
                <a:gd name="T0" fmla="*/ 370 w 372"/>
                <a:gd name="T1" fmla="*/ 448 h 448"/>
                <a:gd name="T2" fmla="*/ 0 w 372"/>
                <a:gd name="T3" fmla="*/ 4 h 448"/>
                <a:gd name="T4" fmla="*/ 4 w 372"/>
                <a:gd name="T5" fmla="*/ 0 h 448"/>
                <a:gd name="T6" fmla="*/ 372 w 372"/>
                <a:gd name="T7" fmla="*/ 444 h 448"/>
                <a:gd name="T8" fmla="*/ 370 w 372"/>
                <a:gd name="T9" fmla="*/ 448 h 448"/>
              </a:gdLst>
              <a:ahLst/>
              <a:cxnLst>
                <a:cxn ang="0">
                  <a:pos x="T0" y="T1"/>
                </a:cxn>
                <a:cxn ang="0">
                  <a:pos x="T2" y="T3"/>
                </a:cxn>
                <a:cxn ang="0">
                  <a:pos x="T4" y="T5"/>
                </a:cxn>
                <a:cxn ang="0">
                  <a:pos x="T6" y="T7"/>
                </a:cxn>
                <a:cxn ang="0">
                  <a:pos x="T8" y="T9"/>
                </a:cxn>
              </a:cxnLst>
              <a:rect l="0" t="0" r="r" b="b"/>
              <a:pathLst>
                <a:path w="372" h="448">
                  <a:moveTo>
                    <a:pt x="370" y="448"/>
                  </a:moveTo>
                  <a:lnTo>
                    <a:pt x="0" y="4"/>
                  </a:lnTo>
                  <a:lnTo>
                    <a:pt x="4" y="0"/>
                  </a:lnTo>
                  <a:lnTo>
                    <a:pt x="372" y="444"/>
                  </a:lnTo>
                  <a:lnTo>
                    <a:pt x="370" y="448"/>
                  </a:lnTo>
                  <a:close/>
                </a:path>
              </a:pathLst>
            </a:custGeom>
            <a:solidFill>
              <a:srgbClr val="BECDD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7" name="Freeform 135">
              <a:extLst>
                <a:ext uri="{FF2B5EF4-FFF2-40B4-BE49-F238E27FC236}">
                  <a16:creationId xmlns:a16="http://schemas.microsoft.com/office/drawing/2014/main" id="{5F025F3D-1EB3-CACC-A773-7DCA2DA83863}"/>
                </a:ext>
              </a:extLst>
            </p:cNvPr>
            <p:cNvSpPr>
              <a:spLocks/>
            </p:cNvSpPr>
            <p:nvPr/>
          </p:nvSpPr>
          <p:spPr bwMode="auto">
            <a:xfrm>
              <a:off x="1993" y="2052"/>
              <a:ext cx="372" cy="448"/>
            </a:xfrm>
            <a:custGeom>
              <a:avLst/>
              <a:gdLst>
                <a:gd name="T0" fmla="*/ 370 w 372"/>
                <a:gd name="T1" fmla="*/ 448 h 448"/>
                <a:gd name="T2" fmla="*/ 0 w 372"/>
                <a:gd name="T3" fmla="*/ 4 h 448"/>
                <a:gd name="T4" fmla="*/ 5 w 372"/>
                <a:gd name="T5" fmla="*/ 0 h 448"/>
                <a:gd name="T6" fmla="*/ 372 w 372"/>
                <a:gd name="T7" fmla="*/ 444 h 448"/>
                <a:gd name="T8" fmla="*/ 370 w 372"/>
                <a:gd name="T9" fmla="*/ 448 h 448"/>
              </a:gdLst>
              <a:ahLst/>
              <a:cxnLst>
                <a:cxn ang="0">
                  <a:pos x="T0" y="T1"/>
                </a:cxn>
                <a:cxn ang="0">
                  <a:pos x="T2" y="T3"/>
                </a:cxn>
                <a:cxn ang="0">
                  <a:pos x="T4" y="T5"/>
                </a:cxn>
                <a:cxn ang="0">
                  <a:pos x="T6" y="T7"/>
                </a:cxn>
                <a:cxn ang="0">
                  <a:pos x="T8" y="T9"/>
                </a:cxn>
              </a:cxnLst>
              <a:rect l="0" t="0" r="r" b="b"/>
              <a:pathLst>
                <a:path w="372" h="448">
                  <a:moveTo>
                    <a:pt x="370" y="448"/>
                  </a:moveTo>
                  <a:lnTo>
                    <a:pt x="0" y="4"/>
                  </a:lnTo>
                  <a:lnTo>
                    <a:pt x="5" y="0"/>
                  </a:lnTo>
                  <a:lnTo>
                    <a:pt x="372" y="444"/>
                  </a:lnTo>
                  <a:lnTo>
                    <a:pt x="370" y="448"/>
                  </a:lnTo>
                  <a:close/>
                </a:path>
              </a:pathLst>
            </a:custGeom>
            <a:solidFill>
              <a:srgbClr val="BECDD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8" name="Freeform 136">
              <a:extLst>
                <a:ext uri="{FF2B5EF4-FFF2-40B4-BE49-F238E27FC236}">
                  <a16:creationId xmlns:a16="http://schemas.microsoft.com/office/drawing/2014/main" id="{8199DB5E-A431-D5AB-D236-01723EF5934A}"/>
                </a:ext>
              </a:extLst>
            </p:cNvPr>
            <p:cNvSpPr>
              <a:spLocks/>
            </p:cNvSpPr>
            <p:nvPr/>
          </p:nvSpPr>
          <p:spPr bwMode="auto">
            <a:xfrm>
              <a:off x="1995" y="2052"/>
              <a:ext cx="372" cy="446"/>
            </a:xfrm>
            <a:custGeom>
              <a:avLst/>
              <a:gdLst>
                <a:gd name="T0" fmla="*/ 368 w 372"/>
                <a:gd name="T1" fmla="*/ 446 h 446"/>
                <a:gd name="T2" fmla="*/ 0 w 372"/>
                <a:gd name="T3" fmla="*/ 2 h 446"/>
                <a:gd name="T4" fmla="*/ 5 w 372"/>
                <a:gd name="T5" fmla="*/ 0 h 446"/>
                <a:gd name="T6" fmla="*/ 372 w 372"/>
                <a:gd name="T7" fmla="*/ 444 h 446"/>
                <a:gd name="T8" fmla="*/ 368 w 372"/>
                <a:gd name="T9" fmla="*/ 446 h 446"/>
              </a:gdLst>
              <a:ahLst/>
              <a:cxnLst>
                <a:cxn ang="0">
                  <a:pos x="T0" y="T1"/>
                </a:cxn>
                <a:cxn ang="0">
                  <a:pos x="T2" y="T3"/>
                </a:cxn>
                <a:cxn ang="0">
                  <a:pos x="T4" y="T5"/>
                </a:cxn>
                <a:cxn ang="0">
                  <a:pos x="T6" y="T7"/>
                </a:cxn>
                <a:cxn ang="0">
                  <a:pos x="T8" y="T9"/>
                </a:cxn>
              </a:cxnLst>
              <a:rect l="0" t="0" r="r" b="b"/>
              <a:pathLst>
                <a:path w="372" h="446">
                  <a:moveTo>
                    <a:pt x="368" y="446"/>
                  </a:moveTo>
                  <a:lnTo>
                    <a:pt x="0" y="2"/>
                  </a:lnTo>
                  <a:lnTo>
                    <a:pt x="5" y="0"/>
                  </a:lnTo>
                  <a:lnTo>
                    <a:pt x="372" y="444"/>
                  </a:lnTo>
                  <a:lnTo>
                    <a:pt x="368" y="446"/>
                  </a:lnTo>
                  <a:close/>
                </a:path>
              </a:pathLst>
            </a:custGeom>
            <a:solidFill>
              <a:srgbClr val="BECDD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79" name="Freeform 137">
              <a:extLst>
                <a:ext uri="{FF2B5EF4-FFF2-40B4-BE49-F238E27FC236}">
                  <a16:creationId xmlns:a16="http://schemas.microsoft.com/office/drawing/2014/main" id="{805296A4-DEB3-F238-B075-93957D009861}"/>
                </a:ext>
              </a:extLst>
            </p:cNvPr>
            <p:cNvSpPr>
              <a:spLocks/>
            </p:cNvSpPr>
            <p:nvPr/>
          </p:nvSpPr>
          <p:spPr bwMode="auto">
            <a:xfrm>
              <a:off x="1998" y="2050"/>
              <a:ext cx="371" cy="446"/>
            </a:xfrm>
            <a:custGeom>
              <a:avLst/>
              <a:gdLst>
                <a:gd name="T0" fmla="*/ 367 w 371"/>
                <a:gd name="T1" fmla="*/ 446 h 446"/>
                <a:gd name="T2" fmla="*/ 0 w 371"/>
                <a:gd name="T3" fmla="*/ 2 h 446"/>
                <a:gd name="T4" fmla="*/ 4 w 371"/>
                <a:gd name="T5" fmla="*/ 0 h 446"/>
                <a:gd name="T6" fmla="*/ 371 w 371"/>
                <a:gd name="T7" fmla="*/ 444 h 446"/>
                <a:gd name="T8" fmla="*/ 367 w 371"/>
                <a:gd name="T9" fmla="*/ 446 h 446"/>
              </a:gdLst>
              <a:ahLst/>
              <a:cxnLst>
                <a:cxn ang="0">
                  <a:pos x="T0" y="T1"/>
                </a:cxn>
                <a:cxn ang="0">
                  <a:pos x="T2" y="T3"/>
                </a:cxn>
                <a:cxn ang="0">
                  <a:pos x="T4" y="T5"/>
                </a:cxn>
                <a:cxn ang="0">
                  <a:pos x="T6" y="T7"/>
                </a:cxn>
                <a:cxn ang="0">
                  <a:pos x="T8" y="T9"/>
                </a:cxn>
              </a:cxnLst>
              <a:rect l="0" t="0" r="r" b="b"/>
              <a:pathLst>
                <a:path w="371" h="446">
                  <a:moveTo>
                    <a:pt x="367" y="446"/>
                  </a:moveTo>
                  <a:lnTo>
                    <a:pt x="0" y="2"/>
                  </a:lnTo>
                  <a:lnTo>
                    <a:pt x="4" y="0"/>
                  </a:lnTo>
                  <a:lnTo>
                    <a:pt x="371" y="444"/>
                  </a:lnTo>
                  <a:lnTo>
                    <a:pt x="367" y="446"/>
                  </a:lnTo>
                  <a:close/>
                </a:path>
              </a:pathLst>
            </a:custGeom>
            <a:solidFill>
              <a:srgbClr val="BECDD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0" name="Freeform 138">
              <a:extLst>
                <a:ext uri="{FF2B5EF4-FFF2-40B4-BE49-F238E27FC236}">
                  <a16:creationId xmlns:a16="http://schemas.microsoft.com/office/drawing/2014/main" id="{8FAEB8B9-EBD0-A7C8-C1A8-83CA0398B8EF}"/>
                </a:ext>
              </a:extLst>
            </p:cNvPr>
            <p:cNvSpPr>
              <a:spLocks/>
            </p:cNvSpPr>
            <p:nvPr/>
          </p:nvSpPr>
          <p:spPr bwMode="auto">
            <a:xfrm>
              <a:off x="2000" y="2047"/>
              <a:ext cx="372" cy="449"/>
            </a:xfrm>
            <a:custGeom>
              <a:avLst/>
              <a:gdLst>
                <a:gd name="T0" fmla="*/ 367 w 372"/>
                <a:gd name="T1" fmla="*/ 449 h 449"/>
                <a:gd name="T2" fmla="*/ 0 w 372"/>
                <a:gd name="T3" fmla="*/ 5 h 449"/>
                <a:gd name="T4" fmla="*/ 4 w 372"/>
                <a:gd name="T5" fmla="*/ 0 h 449"/>
                <a:gd name="T6" fmla="*/ 372 w 372"/>
                <a:gd name="T7" fmla="*/ 444 h 449"/>
                <a:gd name="T8" fmla="*/ 367 w 372"/>
                <a:gd name="T9" fmla="*/ 449 h 449"/>
              </a:gdLst>
              <a:ahLst/>
              <a:cxnLst>
                <a:cxn ang="0">
                  <a:pos x="T0" y="T1"/>
                </a:cxn>
                <a:cxn ang="0">
                  <a:pos x="T2" y="T3"/>
                </a:cxn>
                <a:cxn ang="0">
                  <a:pos x="T4" y="T5"/>
                </a:cxn>
                <a:cxn ang="0">
                  <a:pos x="T6" y="T7"/>
                </a:cxn>
                <a:cxn ang="0">
                  <a:pos x="T8" y="T9"/>
                </a:cxn>
              </a:cxnLst>
              <a:rect l="0" t="0" r="r" b="b"/>
              <a:pathLst>
                <a:path w="372" h="449">
                  <a:moveTo>
                    <a:pt x="367" y="449"/>
                  </a:moveTo>
                  <a:lnTo>
                    <a:pt x="0" y="5"/>
                  </a:lnTo>
                  <a:lnTo>
                    <a:pt x="4" y="0"/>
                  </a:lnTo>
                  <a:lnTo>
                    <a:pt x="372" y="444"/>
                  </a:lnTo>
                  <a:lnTo>
                    <a:pt x="367" y="449"/>
                  </a:lnTo>
                  <a:close/>
                </a:path>
              </a:pathLst>
            </a:custGeom>
            <a:solidFill>
              <a:srgbClr val="BECDD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1" name="Freeform 139">
              <a:extLst>
                <a:ext uri="{FF2B5EF4-FFF2-40B4-BE49-F238E27FC236}">
                  <a16:creationId xmlns:a16="http://schemas.microsoft.com/office/drawing/2014/main" id="{0BE88E63-4FD2-3308-0125-97808386594C}"/>
                </a:ext>
              </a:extLst>
            </p:cNvPr>
            <p:cNvSpPr>
              <a:spLocks/>
            </p:cNvSpPr>
            <p:nvPr/>
          </p:nvSpPr>
          <p:spPr bwMode="auto">
            <a:xfrm>
              <a:off x="2002" y="2045"/>
              <a:ext cx="372" cy="449"/>
            </a:xfrm>
            <a:custGeom>
              <a:avLst/>
              <a:gdLst>
                <a:gd name="T0" fmla="*/ 367 w 372"/>
                <a:gd name="T1" fmla="*/ 449 h 449"/>
                <a:gd name="T2" fmla="*/ 0 w 372"/>
                <a:gd name="T3" fmla="*/ 5 h 449"/>
                <a:gd name="T4" fmla="*/ 2 w 372"/>
                <a:gd name="T5" fmla="*/ 0 h 449"/>
                <a:gd name="T6" fmla="*/ 372 w 372"/>
                <a:gd name="T7" fmla="*/ 444 h 449"/>
                <a:gd name="T8" fmla="*/ 367 w 372"/>
                <a:gd name="T9" fmla="*/ 449 h 449"/>
              </a:gdLst>
              <a:ahLst/>
              <a:cxnLst>
                <a:cxn ang="0">
                  <a:pos x="T0" y="T1"/>
                </a:cxn>
                <a:cxn ang="0">
                  <a:pos x="T2" y="T3"/>
                </a:cxn>
                <a:cxn ang="0">
                  <a:pos x="T4" y="T5"/>
                </a:cxn>
                <a:cxn ang="0">
                  <a:pos x="T6" y="T7"/>
                </a:cxn>
                <a:cxn ang="0">
                  <a:pos x="T8" y="T9"/>
                </a:cxn>
              </a:cxnLst>
              <a:rect l="0" t="0" r="r" b="b"/>
              <a:pathLst>
                <a:path w="372" h="449">
                  <a:moveTo>
                    <a:pt x="367" y="449"/>
                  </a:moveTo>
                  <a:lnTo>
                    <a:pt x="0" y="5"/>
                  </a:lnTo>
                  <a:lnTo>
                    <a:pt x="2" y="0"/>
                  </a:lnTo>
                  <a:lnTo>
                    <a:pt x="372" y="444"/>
                  </a:lnTo>
                  <a:lnTo>
                    <a:pt x="367" y="449"/>
                  </a:lnTo>
                  <a:close/>
                </a:path>
              </a:pathLst>
            </a:custGeom>
            <a:solidFill>
              <a:srgbClr val="BECDD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2" name="Freeform 140">
              <a:extLst>
                <a:ext uri="{FF2B5EF4-FFF2-40B4-BE49-F238E27FC236}">
                  <a16:creationId xmlns:a16="http://schemas.microsoft.com/office/drawing/2014/main" id="{45A54A14-AA40-15A9-2955-1DD1C9F50947}"/>
                </a:ext>
              </a:extLst>
            </p:cNvPr>
            <p:cNvSpPr>
              <a:spLocks/>
            </p:cNvSpPr>
            <p:nvPr/>
          </p:nvSpPr>
          <p:spPr bwMode="auto">
            <a:xfrm>
              <a:off x="2004" y="2043"/>
              <a:ext cx="372" cy="448"/>
            </a:xfrm>
            <a:custGeom>
              <a:avLst/>
              <a:gdLst>
                <a:gd name="T0" fmla="*/ 368 w 372"/>
                <a:gd name="T1" fmla="*/ 448 h 448"/>
                <a:gd name="T2" fmla="*/ 0 w 372"/>
                <a:gd name="T3" fmla="*/ 4 h 448"/>
                <a:gd name="T4" fmla="*/ 2 w 372"/>
                <a:gd name="T5" fmla="*/ 0 h 448"/>
                <a:gd name="T6" fmla="*/ 372 w 372"/>
                <a:gd name="T7" fmla="*/ 446 h 448"/>
                <a:gd name="T8" fmla="*/ 368 w 372"/>
                <a:gd name="T9" fmla="*/ 448 h 448"/>
              </a:gdLst>
              <a:ahLst/>
              <a:cxnLst>
                <a:cxn ang="0">
                  <a:pos x="T0" y="T1"/>
                </a:cxn>
                <a:cxn ang="0">
                  <a:pos x="T2" y="T3"/>
                </a:cxn>
                <a:cxn ang="0">
                  <a:pos x="T4" y="T5"/>
                </a:cxn>
                <a:cxn ang="0">
                  <a:pos x="T6" y="T7"/>
                </a:cxn>
                <a:cxn ang="0">
                  <a:pos x="T8" y="T9"/>
                </a:cxn>
              </a:cxnLst>
              <a:rect l="0" t="0" r="r" b="b"/>
              <a:pathLst>
                <a:path w="372" h="448">
                  <a:moveTo>
                    <a:pt x="368" y="448"/>
                  </a:moveTo>
                  <a:lnTo>
                    <a:pt x="0" y="4"/>
                  </a:lnTo>
                  <a:lnTo>
                    <a:pt x="2" y="0"/>
                  </a:lnTo>
                  <a:lnTo>
                    <a:pt x="372" y="446"/>
                  </a:lnTo>
                  <a:lnTo>
                    <a:pt x="368" y="448"/>
                  </a:lnTo>
                  <a:close/>
                </a:path>
              </a:pathLst>
            </a:custGeom>
            <a:solidFill>
              <a:srgbClr val="BECDD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3" name="Freeform 141">
              <a:extLst>
                <a:ext uri="{FF2B5EF4-FFF2-40B4-BE49-F238E27FC236}">
                  <a16:creationId xmlns:a16="http://schemas.microsoft.com/office/drawing/2014/main" id="{C2EE324E-049F-4229-C774-2F7AB35D4237}"/>
                </a:ext>
              </a:extLst>
            </p:cNvPr>
            <p:cNvSpPr>
              <a:spLocks/>
            </p:cNvSpPr>
            <p:nvPr/>
          </p:nvSpPr>
          <p:spPr bwMode="auto">
            <a:xfrm>
              <a:off x="2004" y="2043"/>
              <a:ext cx="374" cy="446"/>
            </a:xfrm>
            <a:custGeom>
              <a:avLst/>
              <a:gdLst>
                <a:gd name="T0" fmla="*/ 370 w 374"/>
                <a:gd name="T1" fmla="*/ 446 h 446"/>
                <a:gd name="T2" fmla="*/ 0 w 374"/>
                <a:gd name="T3" fmla="*/ 2 h 446"/>
                <a:gd name="T4" fmla="*/ 4 w 374"/>
                <a:gd name="T5" fmla="*/ 0 h 446"/>
                <a:gd name="T6" fmla="*/ 374 w 374"/>
                <a:gd name="T7" fmla="*/ 444 h 446"/>
                <a:gd name="T8" fmla="*/ 370 w 374"/>
                <a:gd name="T9" fmla="*/ 446 h 446"/>
              </a:gdLst>
              <a:ahLst/>
              <a:cxnLst>
                <a:cxn ang="0">
                  <a:pos x="T0" y="T1"/>
                </a:cxn>
                <a:cxn ang="0">
                  <a:pos x="T2" y="T3"/>
                </a:cxn>
                <a:cxn ang="0">
                  <a:pos x="T4" y="T5"/>
                </a:cxn>
                <a:cxn ang="0">
                  <a:pos x="T6" y="T7"/>
                </a:cxn>
                <a:cxn ang="0">
                  <a:pos x="T8" y="T9"/>
                </a:cxn>
              </a:cxnLst>
              <a:rect l="0" t="0" r="r" b="b"/>
              <a:pathLst>
                <a:path w="374" h="446">
                  <a:moveTo>
                    <a:pt x="370" y="446"/>
                  </a:moveTo>
                  <a:lnTo>
                    <a:pt x="0" y="2"/>
                  </a:lnTo>
                  <a:lnTo>
                    <a:pt x="4" y="0"/>
                  </a:lnTo>
                  <a:lnTo>
                    <a:pt x="374" y="444"/>
                  </a:lnTo>
                  <a:lnTo>
                    <a:pt x="370" y="446"/>
                  </a:lnTo>
                  <a:close/>
                </a:path>
              </a:pathLst>
            </a:custGeom>
            <a:solidFill>
              <a:srgbClr val="BECDD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4" name="Freeform 142">
              <a:extLst>
                <a:ext uri="{FF2B5EF4-FFF2-40B4-BE49-F238E27FC236}">
                  <a16:creationId xmlns:a16="http://schemas.microsoft.com/office/drawing/2014/main" id="{6A30F750-A4EC-AE87-C1D9-7EC082892ABE}"/>
                </a:ext>
              </a:extLst>
            </p:cNvPr>
            <p:cNvSpPr>
              <a:spLocks/>
            </p:cNvSpPr>
            <p:nvPr/>
          </p:nvSpPr>
          <p:spPr bwMode="auto">
            <a:xfrm>
              <a:off x="2006" y="2041"/>
              <a:ext cx="374" cy="448"/>
            </a:xfrm>
            <a:custGeom>
              <a:avLst/>
              <a:gdLst>
                <a:gd name="T0" fmla="*/ 370 w 374"/>
                <a:gd name="T1" fmla="*/ 448 h 448"/>
                <a:gd name="T2" fmla="*/ 0 w 374"/>
                <a:gd name="T3" fmla="*/ 2 h 448"/>
                <a:gd name="T4" fmla="*/ 5 w 374"/>
                <a:gd name="T5" fmla="*/ 0 h 448"/>
                <a:gd name="T6" fmla="*/ 374 w 374"/>
                <a:gd name="T7" fmla="*/ 444 h 448"/>
                <a:gd name="T8" fmla="*/ 370 w 374"/>
                <a:gd name="T9" fmla="*/ 448 h 448"/>
              </a:gdLst>
              <a:ahLst/>
              <a:cxnLst>
                <a:cxn ang="0">
                  <a:pos x="T0" y="T1"/>
                </a:cxn>
                <a:cxn ang="0">
                  <a:pos x="T2" y="T3"/>
                </a:cxn>
                <a:cxn ang="0">
                  <a:pos x="T4" y="T5"/>
                </a:cxn>
                <a:cxn ang="0">
                  <a:pos x="T6" y="T7"/>
                </a:cxn>
                <a:cxn ang="0">
                  <a:pos x="T8" y="T9"/>
                </a:cxn>
              </a:cxnLst>
              <a:rect l="0" t="0" r="r" b="b"/>
              <a:pathLst>
                <a:path w="374" h="448">
                  <a:moveTo>
                    <a:pt x="370" y="448"/>
                  </a:moveTo>
                  <a:lnTo>
                    <a:pt x="0" y="2"/>
                  </a:lnTo>
                  <a:lnTo>
                    <a:pt x="5" y="0"/>
                  </a:lnTo>
                  <a:lnTo>
                    <a:pt x="374" y="444"/>
                  </a:lnTo>
                  <a:lnTo>
                    <a:pt x="370" y="448"/>
                  </a:lnTo>
                  <a:close/>
                </a:path>
              </a:pathLst>
            </a:custGeom>
            <a:solidFill>
              <a:srgbClr val="C3D1D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5" name="Freeform 143">
              <a:extLst>
                <a:ext uri="{FF2B5EF4-FFF2-40B4-BE49-F238E27FC236}">
                  <a16:creationId xmlns:a16="http://schemas.microsoft.com/office/drawing/2014/main" id="{CBE572E8-A7DB-E7CA-868A-75A128ECE834}"/>
                </a:ext>
              </a:extLst>
            </p:cNvPr>
            <p:cNvSpPr>
              <a:spLocks/>
            </p:cNvSpPr>
            <p:nvPr/>
          </p:nvSpPr>
          <p:spPr bwMode="auto">
            <a:xfrm>
              <a:off x="2008" y="2039"/>
              <a:ext cx="375" cy="448"/>
            </a:xfrm>
            <a:custGeom>
              <a:avLst/>
              <a:gdLst>
                <a:gd name="T0" fmla="*/ 370 w 375"/>
                <a:gd name="T1" fmla="*/ 448 h 448"/>
                <a:gd name="T2" fmla="*/ 0 w 375"/>
                <a:gd name="T3" fmla="*/ 4 h 448"/>
                <a:gd name="T4" fmla="*/ 5 w 375"/>
                <a:gd name="T5" fmla="*/ 0 h 448"/>
                <a:gd name="T6" fmla="*/ 375 w 375"/>
                <a:gd name="T7" fmla="*/ 444 h 448"/>
                <a:gd name="T8" fmla="*/ 370 w 375"/>
                <a:gd name="T9" fmla="*/ 448 h 448"/>
              </a:gdLst>
              <a:ahLst/>
              <a:cxnLst>
                <a:cxn ang="0">
                  <a:pos x="T0" y="T1"/>
                </a:cxn>
                <a:cxn ang="0">
                  <a:pos x="T2" y="T3"/>
                </a:cxn>
                <a:cxn ang="0">
                  <a:pos x="T4" y="T5"/>
                </a:cxn>
                <a:cxn ang="0">
                  <a:pos x="T6" y="T7"/>
                </a:cxn>
                <a:cxn ang="0">
                  <a:pos x="T8" y="T9"/>
                </a:cxn>
              </a:cxnLst>
              <a:rect l="0" t="0" r="r" b="b"/>
              <a:pathLst>
                <a:path w="375" h="448">
                  <a:moveTo>
                    <a:pt x="370" y="448"/>
                  </a:moveTo>
                  <a:lnTo>
                    <a:pt x="0" y="4"/>
                  </a:lnTo>
                  <a:lnTo>
                    <a:pt x="5" y="0"/>
                  </a:lnTo>
                  <a:lnTo>
                    <a:pt x="375" y="444"/>
                  </a:lnTo>
                  <a:lnTo>
                    <a:pt x="370" y="448"/>
                  </a:lnTo>
                  <a:close/>
                </a:path>
              </a:pathLst>
            </a:custGeom>
            <a:solidFill>
              <a:srgbClr val="C3D1D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6" name="Freeform 144">
              <a:extLst>
                <a:ext uri="{FF2B5EF4-FFF2-40B4-BE49-F238E27FC236}">
                  <a16:creationId xmlns:a16="http://schemas.microsoft.com/office/drawing/2014/main" id="{796BE9D5-D299-BD1D-2891-A313C2475C76}"/>
                </a:ext>
              </a:extLst>
            </p:cNvPr>
            <p:cNvSpPr>
              <a:spLocks/>
            </p:cNvSpPr>
            <p:nvPr/>
          </p:nvSpPr>
          <p:spPr bwMode="auto">
            <a:xfrm>
              <a:off x="2011" y="2036"/>
              <a:ext cx="374" cy="449"/>
            </a:xfrm>
            <a:custGeom>
              <a:avLst/>
              <a:gdLst>
                <a:gd name="T0" fmla="*/ 369 w 374"/>
                <a:gd name="T1" fmla="*/ 449 h 449"/>
                <a:gd name="T2" fmla="*/ 0 w 374"/>
                <a:gd name="T3" fmla="*/ 5 h 449"/>
                <a:gd name="T4" fmla="*/ 4 w 374"/>
                <a:gd name="T5" fmla="*/ 0 h 449"/>
                <a:gd name="T6" fmla="*/ 374 w 374"/>
                <a:gd name="T7" fmla="*/ 445 h 449"/>
                <a:gd name="T8" fmla="*/ 369 w 374"/>
                <a:gd name="T9" fmla="*/ 449 h 449"/>
              </a:gdLst>
              <a:ahLst/>
              <a:cxnLst>
                <a:cxn ang="0">
                  <a:pos x="T0" y="T1"/>
                </a:cxn>
                <a:cxn ang="0">
                  <a:pos x="T2" y="T3"/>
                </a:cxn>
                <a:cxn ang="0">
                  <a:pos x="T4" y="T5"/>
                </a:cxn>
                <a:cxn ang="0">
                  <a:pos x="T6" y="T7"/>
                </a:cxn>
                <a:cxn ang="0">
                  <a:pos x="T8" y="T9"/>
                </a:cxn>
              </a:cxnLst>
              <a:rect l="0" t="0" r="r" b="b"/>
              <a:pathLst>
                <a:path w="374" h="449">
                  <a:moveTo>
                    <a:pt x="369" y="449"/>
                  </a:moveTo>
                  <a:lnTo>
                    <a:pt x="0" y="5"/>
                  </a:lnTo>
                  <a:lnTo>
                    <a:pt x="4" y="0"/>
                  </a:lnTo>
                  <a:lnTo>
                    <a:pt x="374" y="445"/>
                  </a:lnTo>
                  <a:lnTo>
                    <a:pt x="369" y="449"/>
                  </a:lnTo>
                  <a:close/>
                </a:path>
              </a:pathLst>
            </a:custGeom>
            <a:solidFill>
              <a:srgbClr val="C3D1D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7" name="Freeform 145">
              <a:extLst>
                <a:ext uri="{FF2B5EF4-FFF2-40B4-BE49-F238E27FC236}">
                  <a16:creationId xmlns:a16="http://schemas.microsoft.com/office/drawing/2014/main" id="{A2F9C7FE-1612-825F-7FFB-BF312EAD8568}"/>
                </a:ext>
              </a:extLst>
            </p:cNvPr>
            <p:cNvSpPr>
              <a:spLocks/>
            </p:cNvSpPr>
            <p:nvPr/>
          </p:nvSpPr>
          <p:spPr bwMode="auto">
            <a:xfrm>
              <a:off x="2013" y="2036"/>
              <a:ext cx="374" cy="447"/>
            </a:xfrm>
            <a:custGeom>
              <a:avLst/>
              <a:gdLst>
                <a:gd name="T0" fmla="*/ 370 w 374"/>
                <a:gd name="T1" fmla="*/ 447 h 447"/>
                <a:gd name="T2" fmla="*/ 0 w 374"/>
                <a:gd name="T3" fmla="*/ 3 h 447"/>
                <a:gd name="T4" fmla="*/ 4 w 374"/>
                <a:gd name="T5" fmla="*/ 0 h 447"/>
                <a:gd name="T6" fmla="*/ 374 w 374"/>
                <a:gd name="T7" fmla="*/ 445 h 447"/>
                <a:gd name="T8" fmla="*/ 370 w 374"/>
                <a:gd name="T9" fmla="*/ 447 h 447"/>
              </a:gdLst>
              <a:ahLst/>
              <a:cxnLst>
                <a:cxn ang="0">
                  <a:pos x="T0" y="T1"/>
                </a:cxn>
                <a:cxn ang="0">
                  <a:pos x="T2" y="T3"/>
                </a:cxn>
                <a:cxn ang="0">
                  <a:pos x="T4" y="T5"/>
                </a:cxn>
                <a:cxn ang="0">
                  <a:pos x="T6" y="T7"/>
                </a:cxn>
                <a:cxn ang="0">
                  <a:pos x="T8" y="T9"/>
                </a:cxn>
              </a:cxnLst>
              <a:rect l="0" t="0" r="r" b="b"/>
              <a:pathLst>
                <a:path w="374" h="447">
                  <a:moveTo>
                    <a:pt x="370" y="447"/>
                  </a:moveTo>
                  <a:lnTo>
                    <a:pt x="0" y="3"/>
                  </a:lnTo>
                  <a:lnTo>
                    <a:pt x="4" y="0"/>
                  </a:lnTo>
                  <a:lnTo>
                    <a:pt x="374" y="445"/>
                  </a:lnTo>
                  <a:lnTo>
                    <a:pt x="370" y="447"/>
                  </a:lnTo>
                  <a:close/>
                </a:path>
              </a:pathLst>
            </a:custGeom>
            <a:solidFill>
              <a:srgbClr val="C3D1D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8" name="Freeform 146">
              <a:extLst>
                <a:ext uri="{FF2B5EF4-FFF2-40B4-BE49-F238E27FC236}">
                  <a16:creationId xmlns:a16="http://schemas.microsoft.com/office/drawing/2014/main" id="{A25BD289-3D22-416A-5F88-80E10930B204}"/>
                </a:ext>
              </a:extLst>
            </p:cNvPr>
            <p:cNvSpPr>
              <a:spLocks/>
            </p:cNvSpPr>
            <p:nvPr/>
          </p:nvSpPr>
          <p:spPr bwMode="auto">
            <a:xfrm>
              <a:off x="2015" y="2034"/>
              <a:ext cx="372" cy="447"/>
            </a:xfrm>
            <a:custGeom>
              <a:avLst/>
              <a:gdLst>
                <a:gd name="T0" fmla="*/ 370 w 372"/>
                <a:gd name="T1" fmla="*/ 447 h 447"/>
                <a:gd name="T2" fmla="*/ 0 w 372"/>
                <a:gd name="T3" fmla="*/ 2 h 447"/>
                <a:gd name="T4" fmla="*/ 4 w 372"/>
                <a:gd name="T5" fmla="*/ 0 h 447"/>
                <a:gd name="T6" fmla="*/ 372 w 372"/>
                <a:gd name="T7" fmla="*/ 444 h 447"/>
                <a:gd name="T8" fmla="*/ 370 w 372"/>
                <a:gd name="T9" fmla="*/ 447 h 447"/>
              </a:gdLst>
              <a:ahLst/>
              <a:cxnLst>
                <a:cxn ang="0">
                  <a:pos x="T0" y="T1"/>
                </a:cxn>
                <a:cxn ang="0">
                  <a:pos x="T2" y="T3"/>
                </a:cxn>
                <a:cxn ang="0">
                  <a:pos x="T4" y="T5"/>
                </a:cxn>
                <a:cxn ang="0">
                  <a:pos x="T6" y="T7"/>
                </a:cxn>
                <a:cxn ang="0">
                  <a:pos x="T8" y="T9"/>
                </a:cxn>
              </a:cxnLst>
              <a:rect l="0" t="0" r="r" b="b"/>
              <a:pathLst>
                <a:path w="372" h="447">
                  <a:moveTo>
                    <a:pt x="370" y="447"/>
                  </a:moveTo>
                  <a:lnTo>
                    <a:pt x="0" y="2"/>
                  </a:lnTo>
                  <a:lnTo>
                    <a:pt x="4" y="0"/>
                  </a:lnTo>
                  <a:lnTo>
                    <a:pt x="372" y="444"/>
                  </a:lnTo>
                  <a:lnTo>
                    <a:pt x="370" y="447"/>
                  </a:lnTo>
                  <a:close/>
                </a:path>
              </a:pathLst>
            </a:custGeom>
            <a:solidFill>
              <a:srgbClr val="C3D1D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89" name="Freeform 147">
              <a:extLst>
                <a:ext uri="{FF2B5EF4-FFF2-40B4-BE49-F238E27FC236}">
                  <a16:creationId xmlns:a16="http://schemas.microsoft.com/office/drawing/2014/main" id="{EBD6DAFB-DACD-433B-715C-AE7477224C48}"/>
                </a:ext>
              </a:extLst>
            </p:cNvPr>
            <p:cNvSpPr>
              <a:spLocks/>
            </p:cNvSpPr>
            <p:nvPr/>
          </p:nvSpPr>
          <p:spPr bwMode="auto">
            <a:xfrm>
              <a:off x="2017" y="2032"/>
              <a:ext cx="372" cy="449"/>
            </a:xfrm>
            <a:custGeom>
              <a:avLst/>
              <a:gdLst>
                <a:gd name="T0" fmla="*/ 370 w 372"/>
                <a:gd name="T1" fmla="*/ 449 h 449"/>
                <a:gd name="T2" fmla="*/ 0 w 372"/>
                <a:gd name="T3" fmla="*/ 4 h 449"/>
                <a:gd name="T4" fmla="*/ 5 w 372"/>
                <a:gd name="T5" fmla="*/ 0 h 449"/>
                <a:gd name="T6" fmla="*/ 372 w 372"/>
                <a:gd name="T7" fmla="*/ 444 h 449"/>
                <a:gd name="T8" fmla="*/ 370 w 372"/>
                <a:gd name="T9" fmla="*/ 449 h 449"/>
              </a:gdLst>
              <a:ahLst/>
              <a:cxnLst>
                <a:cxn ang="0">
                  <a:pos x="T0" y="T1"/>
                </a:cxn>
                <a:cxn ang="0">
                  <a:pos x="T2" y="T3"/>
                </a:cxn>
                <a:cxn ang="0">
                  <a:pos x="T4" y="T5"/>
                </a:cxn>
                <a:cxn ang="0">
                  <a:pos x="T6" y="T7"/>
                </a:cxn>
                <a:cxn ang="0">
                  <a:pos x="T8" y="T9"/>
                </a:cxn>
              </a:cxnLst>
              <a:rect l="0" t="0" r="r" b="b"/>
              <a:pathLst>
                <a:path w="372" h="449">
                  <a:moveTo>
                    <a:pt x="370" y="449"/>
                  </a:moveTo>
                  <a:lnTo>
                    <a:pt x="0" y="4"/>
                  </a:lnTo>
                  <a:lnTo>
                    <a:pt x="5" y="0"/>
                  </a:lnTo>
                  <a:lnTo>
                    <a:pt x="372" y="444"/>
                  </a:lnTo>
                  <a:lnTo>
                    <a:pt x="370" y="449"/>
                  </a:lnTo>
                  <a:close/>
                </a:path>
              </a:pathLst>
            </a:custGeom>
            <a:solidFill>
              <a:srgbClr val="C3D1D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0" name="Freeform 148">
              <a:extLst>
                <a:ext uri="{FF2B5EF4-FFF2-40B4-BE49-F238E27FC236}">
                  <a16:creationId xmlns:a16="http://schemas.microsoft.com/office/drawing/2014/main" id="{D712C634-8F4A-AC63-1DE4-133CC3B2445D}"/>
                </a:ext>
              </a:extLst>
            </p:cNvPr>
            <p:cNvSpPr>
              <a:spLocks/>
            </p:cNvSpPr>
            <p:nvPr/>
          </p:nvSpPr>
          <p:spPr bwMode="auto">
            <a:xfrm>
              <a:off x="2019" y="2030"/>
              <a:ext cx="372" cy="448"/>
            </a:xfrm>
            <a:custGeom>
              <a:avLst/>
              <a:gdLst>
                <a:gd name="T0" fmla="*/ 368 w 372"/>
                <a:gd name="T1" fmla="*/ 448 h 448"/>
                <a:gd name="T2" fmla="*/ 0 w 372"/>
                <a:gd name="T3" fmla="*/ 4 h 448"/>
                <a:gd name="T4" fmla="*/ 5 w 372"/>
                <a:gd name="T5" fmla="*/ 0 h 448"/>
                <a:gd name="T6" fmla="*/ 372 w 372"/>
                <a:gd name="T7" fmla="*/ 444 h 448"/>
                <a:gd name="T8" fmla="*/ 368 w 372"/>
                <a:gd name="T9" fmla="*/ 448 h 448"/>
              </a:gdLst>
              <a:ahLst/>
              <a:cxnLst>
                <a:cxn ang="0">
                  <a:pos x="T0" y="T1"/>
                </a:cxn>
                <a:cxn ang="0">
                  <a:pos x="T2" y="T3"/>
                </a:cxn>
                <a:cxn ang="0">
                  <a:pos x="T4" y="T5"/>
                </a:cxn>
                <a:cxn ang="0">
                  <a:pos x="T6" y="T7"/>
                </a:cxn>
                <a:cxn ang="0">
                  <a:pos x="T8" y="T9"/>
                </a:cxn>
              </a:cxnLst>
              <a:rect l="0" t="0" r="r" b="b"/>
              <a:pathLst>
                <a:path w="372" h="448">
                  <a:moveTo>
                    <a:pt x="368" y="448"/>
                  </a:moveTo>
                  <a:lnTo>
                    <a:pt x="0" y="4"/>
                  </a:lnTo>
                  <a:lnTo>
                    <a:pt x="5" y="0"/>
                  </a:lnTo>
                  <a:lnTo>
                    <a:pt x="372" y="444"/>
                  </a:lnTo>
                  <a:lnTo>
                    <a:pt x="368" y="448"/>
                  </a:lnTo>
                  <a:close/>
                </a:path>
              </a:pathLst>
            </a:custGeom>
            <a:solidFill>
              <a:srgbClr val="C3D1D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1" name="Freeform 149">
              <a:extLst>
                <a:ext uri="{FF2B5EF4-FFF2-40B4-BE49-F238E27FC236}">
                  <a16:creationId xmlns:a16="http://schemas.microsoft.com/office/drawing/2014/main" id="{621759E3-51FA-63ED-6AB0-A651C8D61D71}"/>
                </a:ext>
              </a:extLst>
            </p:cNvPr>
            <p:cNvSpPr>
              <a:spLocks/>
            </p:cNvSpPr>
            <p:nvPr/>
          </p:nvSpPr>
          <p:spPr bwMode="auto">
            <a:xfrm>
              <a:off x="2022" y="2030"/>
              <a:ext cx="372" cy="446"/>
            </a:xfrm>
            <a:custGeom>
              <a:avLst/>
              <a:gdLst>
                <a:gd name="T0" fmla="*/ 367 w 372"/>
                <a:gd name="T1" fmla="*/ 446 h 446"/>
                <a:gd name="T2" fmla="*/ 0 w 372"/>
                <a:gd name="T3" fmla="*/ 2 h 446"/>
                <a:gd name="T4" fmla="*/ 4 w 372"/>
                <a:gd name="T5" fmla="*/ 0 h 446"/>
                <a:gd name="T6" fmla="*/ 372 w 372"/>
                <a:gd name="T7" fmla="*/ 442 h 446"/>
                <a:gd name="T8" fmla="*/ 367 w 372"/>
                <a:gd name="T9" fmla="*/ 446 h 446"/>
              </a:gdLst>
              <a:ahLst/>
              <a:cxnLst>
                <a:cxn ang="0">
                  <a:pos x="T0" y="T1"/>
                </a:cxn>
                <a:cxn ang="0">
                  <a:pos x="T2" y="T3"/>
                </a:cxn>
                <a:cxn ang="0">
                  <a:pos x="T4" y="T5"/>
                </a:cxn>
                <a:cxn ang="0">
                  <a:pos x="T6" y="T7"/>
                </a:cxn>
                <a:cxn ang="0">
                  <a:pos x="T8" y="T9"/>
                </a:cxn>
              </a:cxnLst>
              <a:rect l="0" t="0" r="r" b="b"/>
              <a:pathLst>
                <a:path w="372" h="446">
                  <a:moveTo>
                    <a:pt x="367" y="446"/>
                  </a:moveTo>
                  <a:lnTo>
                    <a:pt x="0" y="2"/>
                  </a:lnTo>
                  <a:lnTo>
                    <a:pt x="4" y="0"/>
                  </a:lnTo>
                  <a:lnTo>
                    <a:pt x="372" y="442"/>
                  </a:lnTo>
                  <a:lnTo>
                    <a:pt x="367" y="446"/>
                  </a:lnTo>
                  <a:close/>
                </a:path>
              </a:pathLst>
            </a:custGeom>
            <a:solidFill>
              <a:srgbClr val="C3D1D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2" name="Freeform 150">
              <a:extLst>
                <a:ext uri="{FF2B5EF4-FFF2-40B4-BE49-F238E27FC236}">
                  <a16:creationId xmlns:a16="http://schemas.microsoft.com/office/drawing/2014/main" id="{CF584BAD-773E-DE27-290B-410DC6047857}"/>
                </a:ext>
              </a:extLst>
            </p:cNvPr>
            <p:cNvSpPr>
              <a:spLocks/>
            </p:cNvSpPr>
            <p:nvPr/>
          </p:nvSpPr>
          <p:spPr bwMode="auto">
            <a:xfrm>
              <a:off x="2024" y="2028"/>
              <a:ext cx="372" cy="446"/>
            </a:xfrm>
            <a:custGeom>
              <a:avLst/>
              <a:gdLst>
                <a:gd name="T0" fmla="*/ 367 w 372"/>
                <a:gd name="T1" fmla="*/ 446 h 446"/>
                <a:gd name="T2" fmla="*/ 0 w 372"/>
                <a:gd name="T3" fmla="*/ 2 h 446"/>
                <a:gd name="T4" fmla="*/ 4 w 372"/>
                <a:gd name="T5" fmla="*/ 0 h 446"/>
                <a:gd name="T6" fmla="*/ 372 w 372"/>
                <a:gd name="T7" fmla="*/ 444 h 446"/>
                <a:gd name="T8" fmla="*/ 367 w 372"/>
                <a:gd name="T9" fmla="*/ 446 h 446"/>
              </a:gdLst>
              <a:ahLst/>
              <a:cxnLst>
                <a:cxn ang="0">
                  <a:pos x="T0" y="T1"/>
                </a:cxn>
                <a:cxn ang="0">
                  <a:pos x="T2" y="T3"/>
                </a:cxn>
                <a:cxn ang="0">
                  <a:pos x="T4" y="T5"/>
                </a:cxn>
                <a:cxn ang="0">
                  <a:pos x="T6" y="T7"/>
                </a:cxn>
                <a:cxn ang="0">
                  <a:pos x="T8" y="T9"/>
                </a:cxn>
              </a:cxnLst>
              <a:rect l="0" t="0" r="r" b="b"/>
              <a:pathLst>
                <a:path w="372" h="446">
                  <a:moveTo>
                    <a:pt x="367" y="446"/>
                  </a:moveTo>
                  <a:lnTo>
                    <a:pt x="0" y="2"/>
                  </a:lnTo>
                  <a:lnTo>
                    <a:pt x="4" y="0"/>
                  </a:lnTo>
                  <a:lnTo>
                    <a:pt x="372" y="444"/>
                  </a:lnTo>
                  <a:lnTo>
                    <a:pt x="367" y="446"/>
                  </a:lnTo>
                  <a:close/>
                </a:path>
              </a:pathLst>
            </a:custGeom>
            <a:solidFill>
              <a:srgbClr val="C3D1D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3" name="Freeform 151">
              <a:extLst>
                <a:ext uri="{FF2B5EF4-FFF2-40B4-BE49-F238E27FC236}">
                  <a16:creationId xmlns:a16="http://schemas.microsoft.com/office/drawing/2014/main" id="{E49A649D-8A86-F66C-C900-FD1EC3B4F1B5}"/>
                </a:ext>
              </a:extLst>
            </p:cNvPr>
            <p:cNvSpPr>
              <a:spLocks/>
            </p:cNvSpPr>
            <p:nvPr/>
          </p:nvSpPr>
          <p:spPr bwMode="auto">
            <a:xfrm>
              <a:off x="2026" y="2025"/>
              <a:ext cx="372" cy="447"/>
            </a:xfrm>
            <a:custGeom>
              <a:avLst/>
              <a:gdLst>
                <a:gd name="T0" fmla="*/ 368 w 372"/>
                <a:gd name="T1" fmla="*/ 447 h 447"/>
                <a:gd name="T2" fmla="*/ 0 w 372"/>
                <a:gd name="T3" fmla="*/ 5 h 447"/>
                <a:gd name="T4" fmla="*/ 4 w 372"/>
                <a:gd name="T5" fmla="*/ 0 h 447"/>
                <a:gd name="T6" fmla="*/ 372 w 372"/>
                <a:gd name="T7" fmla="*/ 445 h 447"/>
                <a:gd name="T8" fmla="*/ 368 w 372"/>
                <a:gd name="T9" fmla="*/ 447 h 447"/>
              </a:gdLst>
              <a:ahLst/>
              <a:cxnLst>
                <a:cxn ang="0">
                  <a:pos x="T0" y="T1"/>
                </a:cxn>
                <a:cxn ang="0">
                  <a:pos x="T2" y="T3"/>
                </a:cxn>
                <a:cxn ang="0">
                  <a:pos x="T4" y="T5"/>
                </a:cxn>
                <a:cxn ang="0">
                  <a:pos x="T6" y="T7"/>
                </a:cxn>
                <a:cxn ang="0">
                  <a:pos x="T8" y="T9"/>
                </a:cxn>
              </a:cxnLst>
              <a:rect l="0" t="0" r="r" b="b"/>
              <a:pathLst>
                <a:path w="372" h="447">
                  <a:moveTo>
                    <a:pt x="368" y="447"/>
                  </a:moveTo>
                  <a:lnTo>
                    <a:pt x="0" y="5"/>
                  </a:lnTo>
                  <a:lnTo>
                    <a:pt x="4" y="0"/>
                  </a:lnTo>
                  <a:lnTo>
                    <a:pt x="372" y="445"/>
                  </a:lnTo>
                  <a:lnTo>
                    <a:pt x="368" y="447"/>
                  </a:lnTo>
                  <a:close/>
                </a:path>
              </a:pathLst>
            </a:custGeom>
            <a:solidFill>
              <a:srgbClr val="C3D1D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4" name="Freeform 152">
              <a:extLst>
                <a:ext uri="{FF2B5EF4-FFF2-40B4-BE49-F238E27FC236}">
                  <a16:creationId xmlns:a16="http://schemas.microsoft.com/office/drawing/2014/main" id="{2A84F2C1-07CA-FEFA-A0D7-92CAE3C8AADE}"/>
                </a:ext>
              </a:extLst>
            </p:cNvPr>
            <p:cNvSpPr>
              <a:spLocks/>
            </p:cNvSpPr>
            <p:nvPr/>
          </p:nvSpPr>
          <p:spPr bwMode="auto">
            <a:xfrm>
              <a:off x="2028" y="2023"/>
              <a:ext cx="372" cy="449"/>
            </a:xfrm>
            <a:custGeom>
              <a:avLst/>
              <a:gdLst>
                <a:gd name="T0" fmla="*/ 368 w 372"/>
                <a:gd name="T1" fmla="*/ 449 h 449"/>
                <a:gd name="T2" fmla="*/ 0 w 372"/>
                <a:gd name="T3" fmla="*/ 5 h 449"/>
                <a:gd name="T4" fmla="*/ 5 w 372"/>
                <a:gd name="T5" fmla="*/ 0 h 449"/>
                <a:gd name="T6" fmla="*/ 372 w 372"/>
                <a:gd name="T7" fmla="*/ 444 h 449"/>
                <a:gd name="T8" fmla="*/ 368 w 372"/>
                <a:gd name="T9" fmla="*/ 449 h 449"/>
              </a:gdLst>
              <a:ahLst/>
              <a:cxnLst>
                <a:cxn ang="0">
                  <a:pos x="T0" y="T1"/>
                </a:cxn>
                <a:cxn ang="0">
                  <a:pos x="T2" y="T3"/>
                </a:cxn>
                <a:cxn ang="0">
                  <a:pos x="T4" y="T5"/>
                </a:cxn>
                <a:cxn ang="0">
                  <a:pos x="T6" y="T7"/>
                </a:cxn>
                <a:cxn ang="0">
                  <a:pos x="T8" y="T9"/>
                </a:cxn>
              </a:cxnLst>
              <a:rect l="0" t="0" r="r" b="b"/>
              <a:pathLst>
                <a:path w="372" h="449">
                  <a:moveTo>
                    <a:pt x="368" y="449"/>
                  </a:moveTo>
                  <a:lnTo>
                    <a:pt x="0" y="5"/>
                  </a:lnTo>
                  <a:lnTo>
                    <a:pt x="5" y="0"/>
                  </a:lnTo>
                  <a:lnTo>
                    <a:pt x="372" y="444"/>
                  </a:lnTo>
                  <a:lnTo>
                    <a:pt x="368" y="449"/>
                  </a:lnTo>
                  <a:close/>
                </a:path>
              </a:pathLst>
            </a:custGeom>
            <a:solidFill>
              <a:srgbClr val="C3D1D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5" name="Freeform 153">
              <a:extLst>
                <a:ext uri="{FF2B5EF4-FFF2-40B4-BE49-F238E27FC236}">
                  <a16:creationId xmlns:a16="http://schemas.microsoft.com/office/drawing/2014/main" id="{E4133FA9-6AFF-15EF-CD1D-C7A3448A4F5C}"/>
                </a:ext>
              </a:extLst>
            </p:cNvPr>
            <p:cNvSpPr>
              <a:spLocks/>
            </p:cNvSpPr>
            <p:nvPr/>
          </p:nvSpPr>
          <p:spPr bwMode="auto">
            <a:xfrm>
              <a:off x="2030" y="2023"/>
              <a:ext cx="372" cy="447"/>
            </a:xfrm>
            <a:custGeom>
              <a:avLst/>
              <a:gdLst>
                <a:gd name="T0" fmla="*/ 368 w 372"/>
                <a:gd name="T1" fmla="*/ 447 h 447"/>
                <a:gd name="T2" fmla="*/ 0 w 372"/>
                <a:gd name="T3" fmla="*/ 2 h 447"/>
                <a:gd name="T4" fmla="*/ 5 w 372"/>
                <a:gd name="T5" fmla="*/ 0 h 447"/>
                <a:gd name="T6" fmla="*/ 372 w 372"/>
                <a:gd name="T7" fmla="*/ 442 h 447"/>
                <a:gd name="T8" fmla="*/ 368 w 372"/>
                <a:gd name="T9" fmla="*/ 447 h 447"/>
              </a:gdLst>
              <a:ahLst/>
              <a:cxnLst>
                <a:cxn ang="0">
                  <a:pos x="T0" y="T1"/>
                </a:cxn>
                <a:cxn ang="0">
                  <a:pos x="T2" y="T3"/>
                </a:cxn>
                <a:cxn ang="0">
                  <a:pos x="T4" y="T5"/>
                </a:cxn>
                <a:cxn ang="0">
                  <a:pos x="T6" y="T7"/>
                </a:cxn>
                <a:cxn ang="0">
                  <a:pos x="T8" y="T9"/>
                </a:cxn>
              </a:cxnLst>
              <a:rect l="0" t="0" r="r" b="b"/>
              <a:pathLst>
                <a:path w="372" h="447">
                  <a:moveTo>
                    <a:pt x="368" y="447"/>
                  </a:moveTo>
                  <a:lnTo>
                    <a:pt x="0" y="2"/>
                  </a:lnTo>
                  <a:lnTo>
                    <a:pt x="5" y="0"/>
                  </a:lnTo>
                  <a:lnTo>
                    <a:pt x="372" y="442"/>
                  </a:lnTo>
                  <a:lnTo>
                    <a:pt x="368" y="447"/>
                  </a:lnTo>
                  <a:close/>
                </a:path>
              </a:pathLst>
            </a:custGeom>
            <a:solidFill>
              <a:srgbClr val="C3D1D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6" name="Freeform 154">
              <a:extLst>
                <a:ext uri="{FF2B5EF4-FFF2-40B4-BE49-F238E27FC236}">
                  <a16:creationId xmlns:a16="http://schemas.microsoft.com/office/drawing/2014/main" id="{EA426967-BA20-52D2-7447-FD032A98385B}"/>
                </a:ext>
              </a:extLst>
            </p:cNvPr>
            <p:cNvSpPr>
              <a:spLocks/>
            </p:cNvSpPr>
            <p:nvPr/>
          </p:nvSpPr>
          <p:spPr bwMode="auto">
            <a:xfrm>
              <a:off x="2033" y="2021"/>
              <a:ext cx="372" cy="446"/>
            </a:xfrm>
            <a:custGeom>
              <a:avLst/>
              <a:gdLst>
                <a:gd name="T0" fmla="*/ 367 w 372"/>
                <a:gd name="T1" fmla="*/ 446 h 446"/>
                <a:gd name="T2" fmla="*/ 0 w 372"/>
                <a:gd name="T3" fmla="*/ 2 h 446"/>
                <a:gd name="T4" fmla="*/ 2 w 372"/>
                <a:gd name="T5" fmla="*/ 0 h 446"/>
                <a:gd name="T6" fmla="*/ 372 w 372"/>
                <a:gd name="T7" fmla="*/ 442 h 446"/>
                <a:gd name="T8" fmla="*/ 367 w 372"/>
                <a:gd name="T9" fmla="*/ 446 h 446"/>
              </a:gdLst>
              <a:ahLst/>
              <a:cxnLst>
                <a:cxn ang="0">
                  <a:pos x="T0" y="T1"/>
                </a:cxn>
                <a:cxn ang="0">
                  <a:pos x="T2" y="T3"/>
                </a:cxn>
                <a:cxn ang="0">
                  <a:pos x="T4" y="T5"/>
                </a:cxn>
                <a:cxn ang="0">
                  <a:pos x="T6" y="T7"/>
                </a:cxn>
                <a:cxn ang="0">
                  <a:pos x="T8" y="T9"/>
                </a:cxn>
              </a:cxnLst>
              <a:rect l="0" t="0" r="r" b="b"/>
              <a:pathLst>
                <a:path w="372" h="446">
                  <a:moveTo>
                    <a:pt x="367" y="446"/>
                  </a:moveTo>
                  <a:lnTo>
                    <a:pt x="0" y="2"/>
                  </a:lnTo>
                  <a:lnTo>
                    <a:pt x="2" y="0"/>
                  </a:lnTo>
                  <a:lnTo>
                    <a:pt x="372" y="442"/>
                  </a:lnTo>
                  <a:lnTo>
                    <a:pt x="367" y="446"/>
                  </a:lnTo>
                  <a:close/>
                </a:path>
              </a:pathLst>
            </a:custGeom>
            <a:solidFill>
              <a:srgbClr val="C3D1D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7" name="Freeform 155">
              <a:extLst>
                <a:ext uri="{FF2B5EF4-FFF2-40B4-BE49-F238E27FC236}">
                  <a16:creationId xmlns:a16="http://schemas.microsoft.com/office/drawing/2014/main" id="{E1DB6708-099D-2DAE-49F4-D4991EDF6ADC}"/>
                </a:ext>
              </a:extLst>
            </p:cNvPr>
            <p:cNvSpPr>
              <a:spLocks/>
            </p:cNvSpPr>
            <p:nvPr/>
          </p:nvSpPr>
          <p:spPr bwMode="auto">
            <a:xfrm>
              <a:off x="2035" y="2019"/>
              <a:ext cx="370" cy="446"/>
            </a:xfrm>
            <a:custGeom>
              <a:avLst/>
              <a:gdLst>
                <a:gd name="T0" fmla="*/ 367 w 370"/>
                <a:gd name="T1" fmla="*/ 446 h 446"/>
                <a:gd name="T2" fmla="*/ 0 w 370"/>
                <a:gd name="T3" fmla="*/ 4 h 446"/>
                <a:gd name="T4" fmla="*/ 2 w 370"/>
                <a:gd name="T5" fmla="*/ 0 h 446"/>
                <a:gd name="T6" fmla="*/ 367 w 370"/>
                <a:gd name="T7" fmla="*/ 440 h 446"/>
                <a:gd name="T8" fmla="*/ 370 w 370"/>
                <a:gd name="T9" fmla="*/ 444 h 446"/>
                <a:gd name="T10" fmla="*/ 367 w 370"/>
                <a:gd name="T11" fmla="*/ 446 h 446"/>
              </a:gdLst>
              <a:ahLst/>
              <a:cxnLst>
                <a:cxn ang="0">
                  <a:pos x="T0" y="T1"/>
                </a:cxn>
                <a:cxn ang="0">
                  <a:pos x="T2" y="T3"/>
                </a:cxn>
                <a:cxn ang="0">
                  <a:pos x="T4" y="T5"/>
                </a:cxn>
                <a:cxn ang="0">
                  <a:pos x="T6" y="T7"/>
                </a:cxn>
                <a:cxn ang="0">
                  <a:pos x="T8" y="T9"/>
                </a:cxn>
                <a:cxn ang="0">
                  <a:pos x="T10" y="T11"/>
                </a:cxn>
              </a:cxnLst>
              <a:rect l="0" t="0" r="r" b="b"/>
              <a:pathLst>
                <a:path w="370" h="446">
                  <a:moveTo>
                    <a:pt x="367" y="446"/>
                  </a:moveTo>
                  <a:lnTo>
                    <a:pt x="0" y="4"/>
                  </a:lnTo>
                  <a:lnTo>
                    <a:pt x="2" y="0"/>
                  </a:lnTo>
                  <a:lnTo>
                    <a:pt x="367" y="440"/>
                  </a:lnTo>
                  <a:lnTo>
                    <a:pt x="370" y="444"/>
                  </a:lnTo>
                  <a:lnTo>
                    <a:pt x="367" y="446"/>
                  </a:lnTo>
                  <a:close/>
                </a:path>
              </a:pathLst>
            </a:custGeom>
            <a:solidFill>
              <a:srgbClr val="C9D6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8" name="Freeform 156">
              <a:extLst>
                <a:ext uri="{FF2B5EF4-FFF2-40B4-BE49-F238E27FC236}">
                  <a16:creationId xmlns:a16="http://schemas.microsoft.com/office/drawing/2014/main" id="{5820BD6A-24FE-3EF6-F0D4-D1FB934FF416}"/>
                </a:ext>
              </a:extLst>
            </p:cNvPr>
            <p:cNvSpPr>
              <a:spLocks/>
            </p:cNvSpPr>
            <p:nvPr/>
          </p:nvSpPr>
          <p:spPr bwMode="auto">
            <a:xfrm>
              <a:off x="2035" y="2017"/>
              <a:ext cx="370" cy="446"/>
            </a:xfrm>
            <a:custGeom>
              <a:avLst/>
              <a:gdLst>
                <a:gd name="T0" fmla="*/ 370 w 370"/>
                <a:gd name="T1" fmla="*/ 446 h 446"/>
                <a:gd name="T2" fmla="*/ 0 w 370"/>
                <a:gd name="T3" fmla="*/ 4 h 446"/>
                <a:gd name="T4" fmla="*/ 4 w 370"/>
                <a:gd name="T5" fmla="*/ 0 h 446"/>
                <a:gd name="T6" fmla="*/ 365 w 370"/>
                <a:gd name="T7" fmla="*/ 435 h 446"/>
                <a:gd name="T8" fmla="*/ 370 w 370"/>
                <a:gd name="T9" fmla="*/ 446 h 446"/>
                <a:gd name="T10" fmla="*/ 370 w 370"/>
                <a:gd name="T11" fmla="*/ 446 h 446"/>
              </a:gdLst>
              <a:ahLst/>
              <a:cxnLst>
                <a:cxn ang="0">
                  <a:pos x="T0" y="T1"/>
                </a:cxn>
                <a:cxn ang="0">
                  <a:pos x="T2" y="T3"/>
                </a:cxn>
                <a:cxn ang="0">
                  <a:pos x="T4" y="T5"/>
                </a:cxn>
                <a:cxn ang="0">
                  <a:pos x="T6" y="T7"/>
                </a:cxn>
                <a:cxn ang="0">
                  <a:pos x="T8" y="T9"/>
                </a:cxn>
                <a:cxn ang="0">
                  <a:pos x="T10" y="T11"/>
                </a:cxn>
              </a:cxnLst>
              <a:rect l="0" t="0" r="r" b="b"/>
              <a:pathLst>
                <a:path w="370" h="446">
                  <a:moveTo>
                    <a:pt x="370" y="446"/>
                  </a:moveTo>
                  <a:lnTo>
                    <a:pt x="0" y="4"/>
                  </a:lnTo>
                  <a:lnTo>
                    <a:pt x="4" y="0"/>
                  </a:lnTo>
                  <a:lnTo>
                    <a:pt x="365" y="435"/>
                  </a:lnTo>
                  <a:lnTo>
                    <a:pt x="370" y="446"/>
                  </a:lnTo>
                  <a:lnTo>
                    <a:pt x="370" y="446"/>
                  </a:lnTo>
                  <a:close/>
                </a:path>
              </a:pathLst>
            </a:custGeom>
            <a:solidFill>
              <a:srgbClr val="C9D6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799" name="Freeform 157">
              <a:extLst>
                <a:ext uri="{FF2B5EF4-FFF2-40B4-BE49-F238E27FC236}">
                  <a16:creationId xmlns:a16="http://schemas.microsoft.com/office/drawing/2014/main" id="{721F09ED-A87B-316F-E390-1682D284EEF0}"/>
                </a:ext>
              </a:extLst>
            </p:cNvPr>
            <p:cNvSpPr>
              <a:spLocks/>
            </p:cNvSpPr>
            <p:nvPr/>
          </p:nvSpPr>
          <p:spPr bwMode="auto">
            <a:xfrm>
              <a:off x="2037" y="2017"/>
              <a:ext cx="365" cy="442"/>
            </a:xfrm>
            <a:custGeom>
              <a:avLst/>
              <a:gdLst>
                <a:gd name="T0" fmla="*/ 365 w 365"/>
                <a:gd name="T1" fmla="*/ 442 h 442"/>
                <a:gd name="T2" fmla="*/ 0 w 365"/>
                <a:gd name="T3" fmla="*/ 2 h 442"/>
                <a:gd name="T4" fmla="*/ 4 w 365"/>
                <a:gd name="T5" fmla="*/ 0 h 442"/>
                <a:gd name="T6" fmla="*/ 361 w 365"/>
                <a:gd name="T7" fmla="*/ 429 h 442"/>
                <a:gd name="T8" fmla="*/ 365 w 365"/>
                <a:gd name="T9" fmla="*/ 442 h 442"/>
              </a:gdLst>
              <a:ahLst/>
              <a:cxnLst>
                <a:cxn ang="0">
                  <a:pos x="T0" y="T1"/>
                </a:cxn>
                <a:cxn ang="0">
                  <a:pos x="T2" y="T3"/>
                </a:cxn>
                <a:cxn ang="0">
                  <a:pos x="T4" y="T5"/>
                </a:cxn>
                <a:cxn ang="0">
                  <a:pos x="T6" y="T7"/>
                </a:cxn>
                <a:cxn ang="0">
                  <a:pos x="T8" y="T9"/>
                </a:cxn>
              </a:cxnLst>
              <a:rect l="0" t="0" r="r" b="b"/>
              <a:pathLst>
                <a:path w="365" h="442">
                  <a:moveTo>
                    <a:pt x="365" y="442"/>
                  </a:moveTo>
                  <a:lnTo>
                    <a:pt x="0" y="2"/>
                  </a:lnTo>
                  <a:lnTo>
                    <a:pt x="4" y="0"/>
                  </a:lnTo>
                  <a:lnTo>
                    <a:pt x="361" y="429"/>
                  </a:lnTo>
                  <a:lnTo>
                    <a:pt x="365" y="442"/>
                  </a:lnTo>
                  <a:close/>
                </a:path>
              </a:pathLst>
            </a:custGeom>
            <a:solidFill>
              <a:srgbClr val="C9D6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0" name="Freeform 158">
              <a:extLst>
                <a:ext uri="{FF2B5EF4-FFF2-40B4-BE49-F238E27FC236}">
                  <a16:creationId xmlns:a16="http://schemas.microsoft.com/office/drawing/2014/main" id="{0CDEC181-131D-6429-9A5F-9D7CFA5DAD4A}"/>
                </a:ext>
              </a:extLst>
            </p:cNvPr>
            <p:cNvSpPr>
              <a:spLocks/>
            </p:cNvSpPr>
            <p:nvPr/>
          </p:nvSpPr>
          <p:spPr bwMode="auto">
            <a:xfrm>
              <a:off x="2039" y="2015"/>
              <a:ext cx="361" cy="437"/>
            </a:xfrm>
            <a:custGeom>
              <a:avLst/>
              <a:gdLst>
                <a:gd name="T0" fmla="*/ 361 w 361"/>
                <a:gd name="T1" fmla="*/ 437 h 437"/>
                <a:gd name="T2" fmla="*/ 0 w 361"/>
                <a:gd name="T3" fmla="*/ 2 h 437"/>
                <a:gd name="T4" fmla="*/ 4 w 361"/>
                <a:gd name="T5" fmla="*/ 0 h 437"/>
                <a:gd name="T6" fmla="*/ 357 w 361"/>
                <a:gd name="T7" fmla="*/ 422 h 437"/>
                <a:gd name="T8" fmla="*/ 361 w 361"/>
                <a:gd name="T9" fmla="*/ 437 h 437"/>
              </a:gdLst>
              <a:ahLst/>
              <a:cxnLst>
                <a:cxn ang="0">
                  <a:pos x="T0" y="T1"/>
                </a:cxn>
                <a:cxn ang="0">
                  <a:pos x="T2" y="T3"/>
                </a:cxn>
                <a:cxn ang="0">
                  <a:pos x="T4" y="T5"/>
                </a:cxn>
                <a:cxn ang="0">
                  <a:pos x="T6" y="T7"/>
                </a:cxn>
                <a:cxn ang="0">
                  <a:pos x="T8" y="T9"/>
                </a:cxn>
              </a:cxnLst>
              <a:rect l="0" t="0" r="r" b="b"/>
              <a:pathLst>
                <a:path w="361" h="437">
                  <a:moveTo>
                    <a:pt x="361" y="437"/>
                  </a:moveTo>
                  <a:lnTo>
                    <a:pt x="0" y="2"/>
                  </a:lnTo>
                  <a:lnTo>
                    <a:pt x="4" y="0"/>
                  </a:lnTo>
                  <a:lnTo>
                    <a:pt x="357" y="422"/>
                  </a:lnTo>
                  <a:lnTo>
                    <a:pt x="361" y="437"/>
                  </a:lnTo>
                  <a:close/>
                </a:path>
              </a:pathLst>
            </a:custGeom>
            <a:solidFill>
              <a:srgbClr val="C9D6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1" name="Freeform 159">
              <a:extLst>
                <a:ext uri="{FF2B5EF4-FFF2-40B4-BE49-F238E27FC236}">
                  <a16:creationId xmlns:a16="http://schemas.microsoft.com/office/drawing/2014/main" id="{A55D9D6A-E840-087D-ED4E-B6AFAEFC7832}"/>
                </a:ext>
              </a:extLst>
            </p:cNvPr>
            <p:cNvSpPr>
              <a:spLocks/>
            </p:cNvSpPr>
            <p:nvPr/>
          </p:nvSpPr>
          <p:spPr bwMode="auto">
            <a:xfrm>
              <a:off x="2041" y="2012"/>
              <a:ext cx="357" cy="434"/>
            </a:xfrm>
            <a:custGeom>
              <a:avLst/>
              <a:gdLst>
                <a:gd name="T0" fmla="*/ 357 w 357"/>
                <a:gd name="T1" fmla="*/ 434 h 434"/>
                <a:gd name="T2" fmla="*/ 0 w 357"/>
                <a:gd name="T3" fmla="*/ 5 h 434"/>
                <a:gd name="T4" fmla="*/ 5 w 357"/>
                <a:gd name="T5" fmla="*/ 0 h 434"/>
                <a:gd name="T6" fmla="*/ 353 w 357"/>
                <a:gd name="T7" fmla="*/ 418 h 434"/>
                <a:gd name="T8" fmla="*/ 357 w 357"/>
                <a:gd name="T9" fmla="*/ 434 h 434"/>
              </a:gdLst>
              <a:ahLst/>
              <a:cxnLst>
                <a:cxn ang="0">
                  <a:pos x="T0" y="T1"/>
                </a:cxn>
                <a:cxn ang="0">
                  <a:pos x="T2" y="T3"/>
                </a:cxn>
                <a:cxn ang="0">
                  <a:pos x="T4" y="T5"/>
                </a:cxn>
                <a:cxn ang="0">
                  <a:pos x="T6" y="T7"/>
                </a:cxn>
                <a:cxn ang="0">
                  <a:pos x="T8" y="T9"/>
                </a:cxn>
              </a:cxnLst>
              <a:rect l="0" t="0" r="r" b="b"/>
              <a:pathLst>
                <a:path w="357" h="434">
                  <a:moveTo>
                    <a:pt x="357" y="434"/>
                  </a:moveTo>
                  <a:lnTo>
                    <a:pt x="0" y="5"/>
                  </a:lnTo>
                  <a:lnTo>
                    <a:pt x="5" y="0"/>
                  </a:lnTo>
                  <a:lnTo>
                    <a:pt x="353" y="418"/>
                  </a:lnTo>
                  <a:lnTo>
                    <a:pt x="357" y="434"/>
                  </a:lnTo>
                  <a:close/>
                </a:path>
              </a:pathLst>
            </a:custGeom>
            <a:solidFill>
              <a:srgbClr val="C9D6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2" name="Freeform 160">
              <a:extLst>
                <a:ext uri="{FF2B5EF4-FFF2-40B4-BE49-F238E27FC236}">
                  <a16:creationId xmlns:a16="http://schemas.microsoft.com/office/drawing/2014/main" id="{B6515BC4-6B14-6233-B300-5A3493345AF1}"/>
                </a:ext>
              </a:extLst>
            </p:cNvPr>
            <p:cNvSpPr>
              <a:spLocks/>
            </p:cNvSpPr>
            <p:nvPr/>
          </p:nvSpPr>
          <p:spPr bwMode="auto">
            <a:xfrm>
              <a:off x="2043" y="2010"/>
              <a:ext cx="353" cy="427"/>
            </a:xfrm>
            <a:custGeom>
              <a:avLst/>
              <a:gdLst>
                <a:gd name="T0" fmla="*/ 353 w 353"/>
                <a:gd name="T1" fmla="*/ 427 h 427"/>
                <a:gd name="T2" fmla="*/ 0 w 353"/>
                <a:gd name="T3" fmla="*/ 5 h 427"/>
                <a:gd name="T4" fmla="*/ 5 w 353"/>
                <a:gd name="T5" fmla="*/ 0 h 427"/>
                <a:gd name="T6" fmla="*/ 348 w 353"/>
                <a:gd name="T7" fmla="*/ 414 h 427"/>
                <a:gd name="T8" fmla="*/ 353 w 353"/>
                <a:gd name="T9" fmla="*/ 427 h 427"/>
              </a:gdLst>
              <a:ahLst/>
              <a:cxnLst>
                <a:cxn ang="0">
                  <a:pos x="T0" y="T1"/>
                </a:cxn>
                <a:cxn ang="0">
                  <a:pos x="T2" y="T3"/>
                </a:cxn>
                <a:cxn ang="0">
                  <a:pos x="T4" y="T5"/>
                </a:cxn>
                <a:cxn ang="0">
                  <a:pos x="T6" y="T7"/>
                </a:cxn>
                <a:cxn ang="0">
                  <a:pos x="T8" y="T9"/>
                </a:cxn>
              </a:cxnLst>
              <a:rect l="0" t="0" r="r" b="b"/>
              <a:pathLst>
                <a:path w="353" h="427">
                  <a:moveTo>
                    <a:pt x="353" y="427"/>
                  </a:moveTo>
                  <a:lnTo>
                    <a:pt x="0" y="5"/>
                  </a:lnTo>
                  <a:lnTo>
                    <a:pt x="5" y="0"/>
                  </a:lnTo>
                  <a:lnTo>
                    <a:pt x="348" y="414"/>
                  </a:lnTo>
                  <a:lnTo>
                    <a:pt x="353" y="427"/>
                  </a:lnTo>
                  <a:close/>
                </a:path>
              </a:pathLst>
            </a:custGeom>
            <a:solidFill>
              <a:srgbClr val="C9D6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3" name="Freeform 161">
              <a:extLst>
                <a:ext uri="{FF2B5EF4-FFF2-40B4-BE49-F238E27FC236}">
                  <a16:creationId xmlns:a16="http://schemas.microsoft.com/office/drawing/2014/main" id="{668CA860-C924-91B4-27FD-95664B62709E}"/>
                </a:ext>
              </a:extLst>
            </p:cNvPr>
            <p:cNvSpPr>
              <a:spLocks/>
            </p:cNvSpPr>
            <p:nvPr/>
          </p:nvSpPr>
          <p:spPr bwMode="auto">
            <a:xfrm>
              <a:off x="2046" y="2008"/>
              <a:ext cx="348" cy="422"/>
            </a:xfrm>
            <a:custGeom>
              <a:avLst/>
              <a:gdLst>
                <a:gd name="T0" fmla="*/ 348 w 348"/>
                <a:gd name="T1" fmla="*/ 422 h 422"/>
                <a:gd name="T2" fmla="*/ 0 w 348"/>
                <a:gd name="T3" fmla="*/ 4 h 422"/>
                <a:gd name="T4" fmla="*/ 4 w 348"/>
                <a:gd name="T5" fmla="*/ 0 h 422"/>
                <a:gd name="T6" fmla="*/ 343 w 348"/>
                <a:gd name="T7" fmla="*/ 409 h 422"/>
                <a:gd name="T8" fmla="*/ 348 w 348"/>
                <a:gd name="T9" fmla="*/ 422 h 422"/>
              </a:gdLst>
              <a:ahLst/>
              <a:cxnLst>
                <a:cxn ang="0">
                  <a:pos x="T0" y="T1"/>
                </a:cxn>
                <a:cxn ang="0">
                  <a:pos x="T2" y="T3"/>
                </a:cxn>
                <a:cxn ang="0">
                  <a:pos x="T4" y="T5"/>
                </a:cxn>
                <a:cxn ang="0">
                  <a:pos x="T6" y="T7"/>
                </a:cxn>
                <a:cxn ang="0">
                  <a:pos x="T8" y="T9"/>
                </a:cxn>
              </a:cxnLst>
              <a:rect l="0" t="0" r="r" b="b"/>
              <a:pathLst>
                <a:path w="348" h="422">
                  <a:moveTo>
                    <a:pt x="348" y="422"/>
                  </a:moveTo>
                  <a:lnTo>
                    <a:pt x="0" y="4"/>
                  </a:lnTo>
                  <a:lnTo>
                    <a:pt x="4" y="0"/>
                  </a:lnTo>
                  <a:lnTo>
                    <a:pt x="343" y="409"/>
                  </a:lnTo>
                  <a:lnTo>
                    <a:pt x="348" y="422"/>
                  </a:lnTo>
                  <a:close/>
                </a:path>
              </a:pathLst>
            </a:custGeom>
            <a:solidFill>
              <a:srgbClr val="C9D6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4" name="Freeform 162">
              <a:extLst>
                <a:ext uri="{FF2B5EF4-FFF2-40B4-BE49-F238E27FC236}">
                  <a16:creationId xmlns:a16="http://schemas.microsoft.com/office/drawing/2014/main" id="{06BE1874-D1BF-AE13-CE64-A8F052F75B62}"/>
                </a:ext>
              </a:extLst>
            </p:cNvPr>
            <p:cNvSpPr>
              <a:spLocks/>
            </p:cNvSpPr>
            <p:nvPr/>
          </p:nvSpPr>
          <p:spPr bwMode="auto">
            <a:xfrm>
              <a:off x="2048" y="2008"/>
              <a:ext cx="343" cy="416"/>
            </a:xfrm>
            <a:custGeom>
              <a:avLst/>
              <a:gdLst>
                <a:gd name="T0" fmla="*/ 343 w 343"/>
                <a:gd name="T1" fmla="*/ 416 h 416"/>
                <a:gd name="T2" fmla="*/ 0 w 343"/>
                <a:gd name="T3" fmla="*/ 2 h 416"/>
                <a:gd name="T4" fmla="*/ 4 w 343"/>
                <a:gd name="T5" fmla="*/ 0 h 416"/>
                <a:gd name="T6" fmla="*/ 339 w 343"/>
                <a:gd name="T7" fmla="*/ 403 h 416"/>
                <a:gd name="T8" fmla="*/ 343 w 343"/>
                <a:gd name="T9" fmla="*/ 416 h 416"/>
              </a:gdLst>
              <a:ahLst/>
              <a:cxnLst>
                <a:cxn ang="0">
                  <a:pos x="T0" y="T1"/>
                </a:cxn>
                <a:cxn ang="0">
                  <a:pos x="T2" y="T3"/>
                </a:cxn>
                <a:cxn ang="0">
                  <a:pos x="T4" y="T5"/>
                </a:cxn>
                <a:cxn ang="0">
                  <a:pos x="T6" y="T7"/>
                </a:cxn>
                <a:cxn ang="0">
                  <a:pos x="T8" y="T9"/>
                </a:cxn>
              </a:cxnLst>
              <a:rect l="0" t="0" r="r" b="b"/>
              <a:pathLst>
                <a:path w="343" h="416">
                  <a:moveTo>
                    <a:pt x="343" y="416"/>
                  </a:moveTo>
                  <a:lnTo>
                    <a:pt x="0" y="2"/>
                  </a:lnTo>
                  <a:lnTo>
                    <a:pt x="4" y="0"/>
                  </a:lnTo>
                  <a:lnTo>
                    <a:pt x="339" y="403"/>
                  </a:lnTo>
                  <a:lnTo>
                    <a:pt x="343" y="416"/>
                  </a:lnTo>
                  <a:close/>
                </a:path>
              </a:pathLst>
            </a:custGeom>
            <a:solidFill>
              <a:srgbClr val="C9D6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5" name="Freeform 163">
              <a:extLst>
                <a:ext uri="{FF2B5EF4-FFF2-40B4-BE49-F238E27FC236}">
                  <a16:creationId xmlns:a16="http://schemas.microsoft.com/office/drawing/2014/main" id="{408B8249-D4A9-DD51-B83F-55B1425C00FA}"/>
                </a:ext>
              </a:extLst>
            </p:cNvPr>
            <p:cNvSpPr>
              <a:spLocks/>
            </p:cNvSpPr>
            <p:nvPr/>
          </p:nvSpPr>
          <p:spPr bwMode="auto">
            <a:xfrm>
              <a:off x="2050" y="2006"/>
              <a:ext cx="339" cy="411"/>
            </a:xfrm>
            <a:custGeom>
              <a:avLst/>
              <a:gdLst>
                <a:gd name="T0" fmla="*/ 339 w 339"/>
                <a:gd name="T1" fmla="*/ 411 h 411"/>
                <a:gd name="T2" fmla="*/ 0 w 339"/>
                <a:gd name="T3" fmla="*/ 2 h 411"/>
                <a:gd name="T4" fmla="*/ 4 w 339"/>
                <a:gd name="T5" fmla="*/ 0 h 411"/>
                <a:gd name="T6" fmla="*/ 335 w 339"/>
                <a:gd name="T7" fmla="*/ 398 h 411"/>
                <a:gd name="T8" fmla="*/ 339 w 339"/>
                <a:gd name="T9" fmla="*/ 411 h 411"/>
              </a:gdLst>
              <a:ahLst/>
              <a:cxnLst>
                <a:cxn ang="0">
                  <a:pos x="T0" y="T1"/>
                </a:cxn>
                <a:cxn ang="0">
                  <a:pos x="T2" y="T3"/>
                </a:cxn>
                <a:cxn ang="0">
                  <a:pos x="T4" y="T5"/>
                </a:cxn>
                <a:cxn ang="0">
                  <a:pos x="T6" y="T7"/>
                </a:cxn>
                <a:cxn ang="0">
                  <a:pos x="T8" y="T9"/>
                </a:cxn>
              </a:cxnLst>
              <a:rect l="0" t="0" r="r" b="b"/>
              <a:pathLst>
                <a:path w="339" h="411">
                  <a:moveTo>
                    <a:pt x="339" y="411"/>
                  </a:moveTo>
                  <a:lnTo>
                    <a:pt x="0" y="2"/>
                  </a:lnTo>
                  <a:lnTo>
                    <a:pt x="4" y="0"/>
                  </a:lnTo>
                  <a:lnTo>
                    <a:pt x="335" y="398"/>
                  </a:lnTo>
                  <a:lnTo>
                    <a:pt x="339" y="411"/>
                  </a:lnTo>
                  <a:close/>
                </a:path>
              </a:pathLst>
            </a:custGeom>
            <a:solidFill>
              <a:srgbClr val="C9D6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6" name="Freeform 164">
              <a:extLst>
                <a:ext uri="{FF2B5EF4-FFF2-40B4-BE49-F238E27FC236}">
                  <a16:creationId xmlns:a16="http://schemas.microsoft.com/office/drawing/2014/main" id="{0632C9E7-11FB-307D-CC7F-DD68F2BB6529}"/>
                </a:ext>
              </a:extLst>
            </p:cNvPr>
            <p:cNvSpPr>
              <a:spLocks/>
            </p:cNvSpPr>
            <p:nvPr/>
          </p:nvSpPr>
          <p:spPr bwMode="auto">
            <a:xfrm>
              <a:off x="2052" y="2004"/>
              <a:ext cx="335" cy="407"/>
            </a:xfrm>
            <a:custGeom>
              <a:avLst/>
              <a:gdLst>
                <a:gd name="T0" fmla="*/ 335 w 335"/>
                <a:gd name="T1" fmla="*/ 407 h 407"/>
                <a:gd name="T2" fmla="*/ 0 w 335"/>
                <a:gd name="T3" fmla="*/ 4 h 407"/>
                <a:gd name="T4" fmla="*/ 5 w 335"/>
                <a:gd name="T5" fmla="*/ 0 h 407"/>
                <a:gd name="T6" fmla="*/ 331 w 335"/>
                <a:gd name="T7" fmla="*/ 393 h 407"/>
                <a:gd name="T8" fmla="*/ 335 w 335"/>
                <a:gd name="T9" fmla="*/ 407 h 407"/>
              </a:gdLst>
              <a:ahLst/>
              <a:cxnLst>
                <a:cxn ang="0">
                  <a:pos x="T0" y="T1"/>
                </a:cxn>
                <a:cxn ang="0">
                  <a:pos x="T2" y="T3"/>
                </a:cxn>
                <a:cxn ang="0">
                  <a:pos x="T4" y="T5"/>
                </a:cxn>
                <a:cxn ang="0">
                  <a:pos x="T6" y="T7"/>
                </a:cxn>
                <a:cxn ang="0">
                  <a:pos x="T8" y="T9"/>
                </a:cxn>
              </a:cxnLst>
              <a:rect l="0" t="0" r="r" b="b"/>
              <a:pathLst>
                <a:path w="335" h="407">
                  <a:moveTo>
                    <a:pt x="335" y="407"/>
                  </a:moveTo>
                  <a:lnTo>
                    <a:pt x="0" y="4"/>
                  </a:lnTo>
                  <a:lnTo>
                    <a:pt x="5" y="0"/>
                  </a:lnTo>
                  <a:lnTo>
                    <a:pt x="331" y="393"/>
                  </a:lnTo>
                  <a:lnTo>
                    <a:pt x="335" y="407"/>
                  </a:lnTo>
                  <a:close/>
                </a:path>
              </a:pathLst>
            </a:custGeom>
            <a:solidFill>
              <a:srgbClr val="C9D6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7" name="Freeform 165">
              <a:extLst>
                <a:ext uri="{FF2B5EF4-FFF2-40B4-BE49-F238E27FC236}">
                  <a16:creationId xmlns:a16="http://schemas.microsoft.com/office/drawing/2014/main" id="{EEC972C4-7956-643B-3A1F-03CADD101287}"/>
                </a:ext>
              </a:extLst>
            </p:cNvPr>
            <p:cNvSpPr>
              <a:spLocks/>
            </p:cNvSpPr>
            <p:nvPr/>
          </p:nvSpPr>
          <p:spPr bwMode="auto">
            <a:xfrm>
              <a:off x="2054" y="2001"/>
              <a:ext cx="331" cy="403"/>
            </a:xfrm>
            <a:custGeom>
              <a:avLst/>
              <a:gdLst>
                <a:gd name="T0" fmla="*/ 331 w 331"/>
                <a:gd name="T1" fmla="*/ 403 h 403"/>
                <a:gd name="T2" fmla="*/ 0 w 331"/>
                <a:gd name="T3" fmla="*/ 5 h 403"/>
                <a:gd name="T4" fmla="*/ 5 w 331"/>
                <a:gd name="T5" fmla="*/ 0 h 403"/>
                <a:gd name="T6" fmla="*/ 326 w 331"/>
                <a:gd name="T7" fmla="*/ 390 h 403"/>
                <a:gd name="T8" fmla="*/ 331 w 331"/>
                <a:gd name="T9" fmla="*/ 403 h 403"/>
              </a:gdLst>
              <a:ahLst/>
              <a:cxnLst>
                <a:cxn ang="0">
                  <a:pos x="T0" y="T1"/>
                </a:cxn>
                <a:cxn ang="0">
                  <a:pos x="T2" y="T3"/>
                </a:cxn>
                <a:cxn ang="0">
                  <a:pos x="T4" y="T5"/>
                </a:cxn>
                <a:cxn ang="0">
                  <a:pos x="T6" y="T7"/>
                </a:cxn>
                <a:cxn ang="0">
                  <a:pos x="T8" y="T9"/>
                </a:cxn>
              </a:cxnLst>
              <a:rect l="0" t="0" r="r" b="b"/>
              <a:pathLst>
                <a:path w="331" h="403">
                  <a:moveTo>
                    <a:pt x="331" y="403"/>
                  </a:moveTo>
                  <a:lnTo>
                    <a:pt x="0" y="5"/>
                  </a:lnTo>
                  <a:lnTo>
                    <a:pt x="5" y="0"/>
                  </a:lnTo>
                  <a:lnTo>
                    <a:pt x="326" y="390"/>
                  </a:lnTo>
                  <a:lnTo>
                    <a:pt x="331" y="403"/>
                  </a:lnTo>
                  <a:close/>
                </a:path>
              </a:pathLst>
            </a:custGeom>
            <a:solidFill>
              <a:srgbClr val="C9D6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8" name="Freeform 166">
              <a:extLst>
                <a:ext uri="{FF2B5EF4-FFF2-40B4-BE49-F238E27FC236}">
                  <a16:creationId xmlns:a16="http://schemas.microsoft.com/office/drawing/2014/main" id="{787F13AC-B2AE-C315-D328-8B071A9FE16D}"/>
                </a:ext>
              </a:extLst>
            </p:cNvPr>
            <p:cNvSpPr>
              <a:spLocks/>
            </p:cNvSpPr>
            <p:nvPr/>
          </p:nvSpPr>
          <p:spPr bwMode="auto">
            <a:xfrm>
              <a:off x="2057" y="2001"/>
              <a:ext cx="326" cy="396"/>
            </a:xfrm>
            <a:custGeom>
              <a:avLst/>
              <a:gdLst>
                <a:gd name="T0" fmla="*/ 326 w 326"/>
                <a:gd name="T1" fmla="*/ 396 h 396"/>
                <a:gd name="T2" fmla="*/ 0 w 326"/>
                <a:gd name="T3" fmla="*/ 3 h 396"/>
                <a:gd name="T4" fmla="*/ 4 w 326"/>
                <a:gd name="T5" fmla="*/ 0 h 396"/>
                <a:gd name="T6" fmla="*/ 321 w 326"/>
                <a:gd name="T7" fmla="*/ 383 h 396"/>
                <a:gd name="T8" fmla="*/ 326 w 326"/>
                <a:gd name="T9" fmla="*/ 396 h 396"/>
              </a:gdLst>
              <a:ahLst/>
              <a:cxnLst>
                <a:cxn ang="0">
                  <a:pos x="T0" y="T1"/>
                </a:cxn>
                <a:cxn ang="0">
                  <a:pos x="T2" y="T3"/>
                </a:cxn>
                <a:cxn ang="0">
                  <a:pos x="T4" y="T5"/>
                </a:cxn>
                <a:cxn ang="0">
                  <a:pos x="T6" y="T7"/>
                </a:cxn>
                <a:cxn ang="0">
                  <a:pos x="T8" y="T9"/>
                </a:cxn>
              </a:cxnLst>
              <a:rect l="0" t="0" r="r" b="b"/>
              <a:pathLst>
                <a:path w="326" h="396">
                  <a:moveTo>
                    <a:pt x="326" y="396"/>
                  </a:moveTo>
                  <a:lnTo>
                    <a:pt x="0" y="3"/>
                  </a:lnTo>
                  <a:lnTo>
                    <a:pt x="4" y="0"/>
                  </a:lnTo>
                  <a:lnTo>
                    <a:pt x="321" y="383"/>
                  </a:lnTo>
                  <a:lnTo>
                    <a:pt x="326" y="396"/>
                  </a:lnTo>
                  <a:close/>
                </a:path>
              </a:pathLst>
            </a:custGeom>
            <a:solidFill>
              <a:srgbClr val="C9D6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09" name="Freeform 167">
              <a:extLst>
                <a:ext uri="{FF2B5EF4-FFF2-40B4-BE49-F238E27FC236}">
                  <a16:creationId xmlns:a16="http://schemas.microsoft.com/office/drawing/2014/main" id="{DE3CD6AE-A090-93ED-8863-D90E887B9B61}"/>
                </a:ext>
              </a:extLst>
            </p:cNvPr>
            <p:cNvSpPr>
              <a:spLocks/>
            </p:cNvSpPr>
            <p:nvPr/>
          </p:nvSpPr>
          <p:spPr bwMode="auto">
            <a:xfrm>
              <a:off x="2059" y="1999"/>
              <a:ext cx="321" cy="392"/>
            </a:xfrm>
            <a:custGeom>
              <a:avLst/>
              <a:gdLst>
                <a:gd name="T0" fmla="*/ 321 w 321"/>
                <a:gd name="T1" fmla="*/ 392 h 392"/>
                <a:gd name="T2" fmla="*/ 0 w 321"/>
                <a:gd name="T3" fmla="*/ 2 h 392"/>
                <a:gd name="T4" fmla="*/ 4 w 321"/>
                <a:gd name="T5" fmla="*/ 0 h 392"/>
                <a:gd name="T6" fmla="*/ 317 w 321"/>
                <a:gd name="T7" fmla="*/ 379 h 392"/>
                <a:gd name="T8" fmla="*/ 321 w 321"/>
                <a:gd name="T9" fmla="*/ 392 h 392"/>
              </a:gdLst>
              <a:ahLst/>
              <a:cxnLst>
                <a:cxn ang="0">
                  <a:pos x="T0" y="T1"/>
                </a:cxn>
                <a:cxn ang="0">
                  <a:pos x="T2" y="T3"/>
                </a:cxn>
                <a:cxn ang="0">
                  <a:pos x="T4" y="T5"/>
                </a:cxn>
                <a:cxn ang="0">
                  <a:pos x="T6" y="T7"/>
                </a:cxn>
                <a:cxn ang="0">
                  <a:pos x="T8" y="T9"/>
                </a:cxn>
              </a:cxnLst>
              <a:rect l="0" t="0" r="r" b="b"/>
              <a:pathLst>
                <a:path w="321" h="392">
                  <a:moveTo>
                    <a:pt x="321" y="392"/>
                  </a:moveTo>
                  <a:lnTo>
                    <a:pt x="0" y="2"/>
                  </a:lnTo>
                  <a:lnTo>
                    <a:pt x="4" y="0"/>
                  </a:lnTo>
                  <a:lnTo>
                    <a:pt x="317" y="379"/>
                  </a:lnTo>
                  <a:lnTo>
                    <a:pt x="321" y="392"/>
                  </a:lnTo>
                  <a:close/>
                </a:path>
              </a:pathLst>
            </a:custGeom>
            <a:solidFill>
              <a:srgbClr val="D0DCE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0" name="Freeform 168">
              <a:extLst>
                <a:ext uri="{FF2B5EF4-FFF2-40B4-BE49-F238E27FC236}">
                  <a16:creationId xmlns:a16="http://schemas.microsoft.com/office/drawing/2014/main" id="{B665CE5E-1FA3-4874-A7CF-3D1983AA0DF8}"/>
                </a:ext>
              </a:extLst>
            </p:cNvPr>
            <p:cNvSpPr>
              <a:spLocks/>
            </p:cNvSpPr>
            <p:nvPr/>
          </p:nvSpPr>
          <p:spPr bwMode="auto">
            <a:xfrm>
              <a:off x="2061" y="1997"/>
              <a:ext cx="317" cy="387"/>
            </a:xfrm>
            <a:custGeom>
              <a:avLst/>
              <a:gdLst>
                <a:gd name="T0" fmla="*/ 317 w 317"/>
                <a:gd name="T1" fmla="*/ 387 h 387"/>
                <a:gd name="T2" fmla="*/ 0 w 317"/>
                <a:gd name="T3" fmla="*/ 4 h 387"/>
                <a:gd name="T4" fmla="*/ 2 w 317"/>
                <a:gd name="T5" fmla="*/ 0 h 387"/>
                <a:gd name="T6" fmla="*/ 35 w 317"/>
                <a:gd name="T7" fmla="*/ 37 h 387"/>
                <a:gd name="T8" fmla="*/ 313 w 317"/>
                <a:gd name="T9" fmla="*/ 374 h 387"/>
                <a:gd name="T10" fmla="*/ 317 w 317"/>
                <a:gd name="T11" fmla="*/ 387 h 387"/>
              </a:gdLst>
              <a:ahLst/>
              <a:cxnLst>
                <a:cxn ang="0">
                  <a:pos x="T0" y="T1"/>
                </a:cxn>
                <a:cxn ang="0">
                  <a:pos x="T2" y="T3"/>
                </a:cxn>
                <a:cxn ang="0">
                  <a:pos x="T4" y="T5"/>
                </a:cxn>
                <a:cxn ang="0">
                  <a:pos x="T6" y="T7"/>
                </a:cxn>
                <a:cxn ang="0">
                  <a:pos x="T8" y="T9"/>
                </a:cxn>
                <a:cxn ang="0">
                  <a:pos x="T10" y="T11"/>
                </a:cxn>
              </a:cxnLst>
              <a:rect l="0" t="0" r="r" b="b"/>
              <a:pathLst>
                <a:path w="317" h="387">
                  <a:moveTo>
                    <a:pt x="317" y="387"/>
                  </a:moveTo>
                  <a:lnTo>
                    <a:pt x="0" y="4"/>
                  </a:lnTo>
                  <a:lnTo>
                    <a:pt x="2" y="0"/>
                  </a:lnTo>
                  <a:lnTo>
                    <a:pt x="35" y="37"/>
                  </a:lnTo>
                  <a:lnTo>
                    <a:pt x="313" y="374"/>
                  </a:lnTo>
                  <a:lnTo>
                    <a:pt x="317" y="387"/>
                  </a:lnTo>
                  <a:close/>
                </a:path>
              </a:pathLst>
            </a:custGeom>
            <a:solidFill>
              <a:srgbClr val="D0DCE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1" name="Freeform 169">
              <a:extLst>
                <a:ext uri="{FF2B5EF4-FFF2-40B4-BE49-F238E27FC236}">
                  <a16:creationId xmlns:a16="http://schemas.microsoft.com/office/drawing/2014/main" id="{67C9A01F-73B2-52C8-C921-7F0DC919D4C5}"/>
                </a:ext>
              </a:extLst>
            </p:cNvPr>
            <p:cNvSpPr>
              <a:spLocks/>
            </p:cNvSpPr>
            <p:nvPr/>
          </p:nvSpPr>
          <p:spPr bwMode="auto">
            <a:xfrm>
              <a:off x="2063" y="1997"/>
              <a:ext cx="313" cy="381"/>
            </a:xfrm>
            <a:custGeom>
              <a:avLst/>
              <a:gdLst>
                <a:gd name="T0" fmla="*/ 313 w 313"/>
                <a:gd name="T1" fmla="*/ 381 h 381"/>
                <a:gd name="T2" fmla="*/ 0 w 313"/>
                <a:gd name="T3" fmla="*/ 2 h 381"/>
                <a:gd name="T4" fmla="*/ 0 w 313"/>
                <a:gd name="T5" fmla="*/ 0 h 381"/>
                <a:gd name="T6" fmla="*/ 131 w 313"/>
                <a:gd name="T7" fmla="*/ 153 h 381"/>
                <a:gd name="T8" fmla="*/ 309 w 313"/>
                <a:gd name="T9" fmla="*/ 365 h 381"/>
                <a:gd name="T10" fmla="*/ 313 w 313"/>
                <a:gd name="T11" fmla="*/ 381 h 381"/>
              </a:gdLst>
              <a:ahLst/>
              <a:cxnLst>
                <a:cxn ang="0">
                  <a:pos x="T0" y="T1"/>
                </a:cxn>
                <a:cxn ang="0">
                  <a:pos x="T2" y="T3"/>
                </a:cxn>
                <a:cxn ang="0">
                  <a:pos x="T4" y="T5"/>
                </a:cxn>
                <a:cxn ang="0">
                  <a:pos x="T6" y="T7"/>
                </a:cxn>
                <a:cxn ang="0">
                  <a:pos x="T8" y="T9"/>
                </a:cxn>
                <a:cxn ang="0">
                  <a:pos x="T10" y="T11"/>
                </a:cxn>
              </a:cxnLst>
              <a:rect l="0" t="0" r="r" b="b"/>
              <a:pathLst>
                <a:path w="313" h="381">
                  <a:moveTo>
                    <a:pt x="313" y="381"/>
                  </a:moveTo>
                  <a:lnTo>
                    <a:pt x="0" y="2"/>
                  </a:lnTo>
                  <a:lnTo>
                    <a:pt x="0" y="0"/>
                  </a:lnTo>
                  <a:lnTo>
                    <a:pt x="131" y="153"/>
                  </a:lnTo>
                  <a:lnTo>
                    <a:pt x="309" y="365"/>
                  </a:lnTo>
                  <a:lnTo>
                    <a:pt x="313" y="381"/>
                  </a:lnTo>
                  <a:close/>
                </a:path>
              </a:pathLst>
            </a:custGeom>
            <a:solidFill>
              <a:srgbClr val="D0DCE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2" name="Freeform 170">
              <a:extLst>
                <a:ext uri="{FF2B5EF4-FFF2-40B4-BE49-F238E27FC236}">
                  <a16:creationId xmlns:a16="http://schemas.microsoft.com/office/drawing/2014/main" id="{33C47A53-E9F0-BD13-7F41-2D77E4C0237A}"/>
                </a:ext>
              </a:extLst>
            </p:cNvPr>
            <p:cNvSpPr>
              <a:spLocks/>
            </p:cNvSpPr>
            <p:nvPr/>
          </p:nvSpPr>
          <p:spPr bwMode="auto">
            <a:xfrm>
              <a:off x="2096" y="2034"/>
              <a:ext cx="278" cy="337"/>
            </a:xfrm>
            <a:custGeom>
              <a:avLst/>
              <a:gdLst>
                <a:gd name="T0" fmla="*/ 278 w 278"/>
                <a:gd name="T1" fmla="*/ 337 h 337"/>
                <a:gd name="T2" fmla="*/ 0 w 278"/>
                <a:gd name="T3" fmla="*/ 0 h 337"/>
                <a:gd name="T4" fmla="*/ 197 w 278"/>
                <a:gd name="T5" fmla="*/ 230 h 337"/>
                <a:gd name="T6" fmla="*/ 273 w 278"/>
                <a:gd name="T7" fmla="*/ 322 h 337"/>
                <a:gd name="T8" fmla="*/ 278 w 278"/>
                <a:gd name="T9" fmla="*/ 337 h 337"/>
              </a:gdLst>
              <a:ahLst/>
              <a:cxnLst>
                <a:cxn ang="0">
                  <a:pos x="T0" y="T1"/>
                </a:cxn>
                <a:cxn ang="0">
                  <a:pos x="T2" y="T3"/>
                </a:cxn>
                <a:cxn ang="0">
                  <a:pos x="T4" y="T5"/>
                </a:cxn>
                <a:cxn ang="0">
                  <a:pos x="T6" y="T7"/>
                </a:cxn>
                <a:cxn ang="0">
                  <a:pos x="T8" y="T9"/>
                </a:cxn>
              </a:cxnLst>
              <a:rect l="0" t="0" r="r" b="b"/>
              <a:pathLst>
                <a:path w="278" h="337">
                  <a:moveTo>
                    <a:pt x="278" y="337"/>
                  </a:moveTo>
                  <a:lnTo>
                    <a:pt x="0" y="0"/>
                  </a:lnTo>
                  <a:lnTo>
                    <a:pt x="197" y="230"/>
                  </a:lnTo>
                  <a:lnTo>
                    <a:pt x="273" y="322"/>
                  </a:lnTo>
                  <a:lnTo>
                    <a:pt x="278" y="337"/>
                  </a:lnTo>
                  <a:close/>
                </a:path>
              </a:pathLst>
            </a:custGeom>
            <a:solidFill>
              <a:srgbClr val="D0DCE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3" name="Freeform 171">
              <a:extLst>
                <a:ext uri="{FF2B5EF4-FFF2-40B4-BE49-F238E27FC236}">
                  <a16:creationId xmlns:a16="http://schemas.microsoft.com/office/drawing/2014/main" id="{9D861517-41C4-BC14-84F4-6DC8B0794BAA}"/>
                </a:ext>
              </a:extLst>
            </p:cNvPr>
            <p:cNvSpPr>
              <a:spLocks/>
            </p:cNvSpPr>
            <p:nvPr/>
          </p:nvSpPr>
          <p:spPr bwMode="auto">
            <a:xfrm>
              <a:off x="2194" y="2150"/>
              <a:ext cx="178" cy="212"/>
            </a:xfrm>
            <a:custGeom>
              <a:avLst/>
              <a:gdLst>
                <a:gd name="T0" fmla="*/ 178 w 178"/>
                <a:gd name="T1" fmla="*/ 212 h 212"/>
                <a:gd name="T2" fmla="*/ 0 w 178"/>
                <a:gd name="T3" fmla="*/ 0 h 212"/>
                <a:gd name="T4" fmla="*/ 173 w 178"/>
                <a:gd name="T5" fmla="*/ 201 h 212"/>
                <a:gd name="T6" fmla="*/ 178 w 178"/>
                <a:gd name="T7" fmla="*/ 212 h 212"/>
              </a:gdLst>
              <a:ahLst/>
              <a:cxnLst>
                <a:cxn ang="0">
                  <a:pos x="T0" y="T1"/>
                </a:cxn>
                <a:cxn ang="0">
                  <a:pos x="T2" y="T3"/>
                </a:cxn>
                <a:cxn ang="0">
                  <a:pos x="T4" y="T5"/>
                </a:cxn>
                <a:cxn ang="0">
                  <a:pos x="T6" y="T7"/>
                </a:cxn>
              </a:cxnLst>
              <a:rect l="0" t="0" r="r" b="b"/>
              <a:pathLst>
                <a:path w="178" h="212">
                  <a:moveTo>
                    <a:pt x="178" y="212"/>
                  </a:moveTo>
                  <a:lnTo>
                    <a:pt x="0" y="0"/>
                  </a:lnTo>
                  <a:lnTo>
                    <a:pt x="173" y="201"/>
                  </a:lnTo>
                  <a:lnTo>
                    <a:pt x="178" y="212"/>
                  </a:lnTo>
                  <a:close/>
                </a:path>
              </a:pathLst>
            </a:custGeom>
            <a:solidFill>
              <a:srgbClr val="D0DCE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4" name="Freeform 172">
              <a:extLst>
                <a:ext uri="{FF2B5EF4-FFF2-40B4-BE49-F238E27FC236}">
                  <a16:creationId xmlns:a16="http://schemas.microsoft.com/office/drawing/2014/main" id="{39EE56B3-E417-5508-D923-0C0DC9841F78}"/>
                </a:ext>
              </a:extLst>
            </p:cNvPr>
            <p:cNvSpPr>
              <a:spLocks/>
            </p:cNvSpPr>
            <p:nvPr/>
          </p:nvSpPr>
          <p:spPr bwMode="auto">
            <a:xfrm>
              <a:off x="2293" y="2264"/>
              <a:ext cx="76" cy="92"/>
            </a:xfrm>
            <a:custGeom>
              <a:avLst/>
              <a:gdLst>
                <a:gd name="T0" fmla="*/ 76 w 76"/>
                <a:gd name="T1" fmla="*/ 92 h 92"/>
                <a:gd name="T2" fmla="*/ 0 w 76"/>
                <a:gd name="T3" fmla="*/ 0 h 92"/>
                <a:gd name="T4" fmla="*/ 74 w 76"/>
                <a:gd name="T5" fmla="*/ 87 h 92"/>
                <a:gd name="T6" fmla="*/ 76 w 76"/>
                <a:gd name="T7" fmla="*/ 92 h 92"/>
              </a:gdLst>
              <a:ahLst/>
              <a:cxnLst>
                <a:cxn ang="0">
                  <a:pos x="T0" y="T1"/>
                </a:cxn>
                <a:cxn ang="0">
                  <a:pos x="T2" y="T3"/>
                </a:cxn>
                <a:cxn ang="0">
                  <a:pos x="T4" y="T5"/>
                </a:cxn>
                <a:cxn ang="0">
                  <a:pos x="T6" y="T7"/>
                </a:cxn>
              </a:cxnLst>
              <a:rect l="0" t="0" r="r" b="b"/>
              <a:pathLst>
                <a:path w="76" h="92">
                  <a:moveTo>
                    <a:pt x="76" y="92"/>
                  </a:moveTo>
                  <a:lnTo>
                    <a:pt x="0" y="0"/>
                  </a:lnTo>
                  <a:lnTo>
                    <a:pt x="74" y="87"/>
                  </a:lnTo>
                  <a:lnTo>
                    <a:pt x="76" y="92"/>
                  </a:lnTo>
                  <a:close/>
                </a:path>
              </a:pathLst>
            </a:custGeom>
            <a:solidFill>
              <a:srgbClr val="D0DCE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15" name="Freeform 173">
              <a:extLst>
                <a:ext uri="{FF2B5EF4-FFF2-40B4-BE49-F238E27FC236}">
                  <a16:creationId xmlns:a16="http://schemas.microsoft.com/office/drawing/2014/main" id="{A15D03C8-9747-3C2C-57E8-A50D8617BA78}"/>
                </a:ext>
              </a:extLst>
            </p:cNvPr>
            <p:cNvSpPr>
              <a:spLocks/>
            </p:cNvSpPr>
            <p:nvPr/>
          </p:nvSpPr>
          <p:spPr bwMode="auto">
            <a:xfrm>
              <a:off x="1952" y="1997"/>
              <a:ext cx="453" cy="505"/>
            </a:xfrm>
            <a:custGeom>
              <a:avLst/>
              <a:gdLst>
                <a:gd name="T0" fmla="*/ 304 w 453"/>
                <a:gd name="T1" fmla="*/ 451 h 505"/>
                <a:gd name="T2" fmla="*/ 0 w 453"/>
                <a:gd name="T3" fmla="*/ 92 h 505"/>
                <a:gd name="T4" fmla="*/ 111 w 453"/>
                <a:gd name="T5" fmla="*/ 0 h 505"/>
                <a:gd name="T6" fmla="*/ 415 w 453"/>
                <a:gd name="T7" fmla="*/ 354 h 505"/>
                <a:gd name="T8" fmla="*/ 453 w 453"/>
                <a:gd name="T9" fmla="*/ 466 h 505"/>
                <a:gd name="T10" fmla="*/ 409 w 453"/>
                <a:gd name="T11" fmla="*/ 505 h 505"/>
                <a:gd name="T12" fmla="*/ 304 w 453"/>
                <a:gd name="T13" fmla="*/ 451 h 505"/>
              </a:gdLst>
              <a:ahLst/>
              <a:cxnLst>
                <a:cxn ang="0">
                  <a:pos x="T0" y="T1"/>
                </a:cxn>
                <a:cxn ang="0">
                  <a:pos x="T2" y="T3"/>
                </a:cxn>
                <a:cxn ang="0">
                  <a:pos x="T4" y="T5"/>
                </a:cxn>
                <a:cxn ang="0">
                  <a:pos x="T6" y="T7"/>
                </a:cxn>
                <a:cxn ang="0">
                  <a:pos x="T8" y="T9"/>
                </a:cxn>
                <a:cxn ang="0">
                  <a:pos x="T10" y="T11"/>
                </a:cxn>
                <a:cxn ang="0">
                  <a:pos x="T12" y="T13"/>
                </a:cxn>
              </a:cxnLst>
              <a:rect l="0" t="0" r="r" b="b"/>
              <a:pathLst>
                <a:path w="453" h="505">
                  <a:moveTo>
                    <a:pt x="304" y="451"/>
                  </a:moveTo>
                  <a:lnTo>
                    <a:pt x="0" y="92"/>
                  </a:lnTo>
                  <a:lnTo>
                    <a:pt x="111" y="0"/>
                  </a:lnTo>
                  <a:lnTo>
                    <a:pt x="415" y="354"/>
                  </a:lnTo>
                  <a:lnTo>
                    <a:pt x="453" y="466"/>
                  </a:lnTo>
                  <a:lnTo>
                    <a:pt x="409" y="505"/>
                  </a:lnTo>
                  <a:lnTo>
                    <a:pt x="304" y="451"/>
                  </a:lnTo>
                </a:path>
              </a:pathLst>
            </a:custGeom>
            <a:noFill/>
            <a:ln w="9525">
              <a:solidFill>
                <a:srgbClr val="1F1A17"/>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816" name="Line 174">
              <a:extLst>
                <a:ext uri="{FF2B5EF4-FFF2-40B4-BE49-F238E27FC236}">
                  <a16:creationId xmlns:a16="http://schemas.microsoft.com/office/drawing/2014/main" id="{057F12C3-0727-37CC-4502-E082C77E0D70}"/>
                </a:ext>
              </a:extLst>
            </p:cNvPr>
            <p:cNvSpPr>
              <a:spLocks noChangeShapeType="1"/>
            </p:cNvSpPr>
            <p:nvPr/>
          </p:nvSpPr>
          <p:spPr bwMode="auto">
            <a:xfrm flipV="1">
              <a:off x="3258" y="2367"/>
              <a:ext cx="527" cy="442"/>
            </a:xfrm>
            <a:prstGeom prst="line">
              <a:avLst/>
            </a:prstGeom>
            <a:noFill/>
            <a:ln w="9525">
              <a:solidFill>
                <a:srgbClr val="DC2B19"/>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817" name="Line 175">
              <a:extLst>
                <a:ext uri="{FF2B5EF4-FFF2-40B4-BE49-F238E27FC236}">
                  <a16:creationId xmlns:a16="http://schemas.microsoft.com/office/drawing/2014/main" id="{4A965D1C-84AA-012B-D0A2-BA3F86421A41}"/>
                </a:ext>
              </a:extLst>
            </p:cNvPr>
            <p:cNvSpPr>
              <a:spLocks noChangeShapeType="1"/>
            </p:cNvSpPr>
            <p:nvPr/>
          </p:nvSpPr>
          <p:spPr bwMode="auto">
            <a:xfrm>
              <a:off x="2380" y="2481"/>
              <a:ext cx="169" cy="185"/>
            </a:xfrm>
            <a:prstGeom prst="line">
              <a:avLst/>
            </a:prstGeom>
            <a:noFill/>
            <a:ln w="9525">
              <a:solidFill>
                <a:srgbClr val="DC2B19"/>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HK"/>
            </a:p>
          </p:txBody>
        </p:sp>
        <p:sp>
          <p:nvSpPr>
            <p:cNvPr id="72818" name="Rectangle 176">
              <a:extLst>
                <a:ext uri="{FF2B5EF4-FFF2-40B4-BE49-F238E27FC236}">
                  <a16:creationId xmlns:a16="http://schemas.microsoft.com/office/drawing/2014/main" id="{9D37D10D-1EDE-739C-C44F-033A24592FC9}"/>
                </a:ext>
              </a:extLst>
            </p:cNvPr>
            <p:cNvSpPr>
              <a:spLocks noChangeArrowheads="1"/>
            </p:cNvSpPr>
            <p:nvPr/>
          </p:nvSpPr>
          <p:spPr bwMode="auto">
            <a:xfrm>
              <a:off x="4339" y="2147"/>
              <a:ext cx="420" cy="1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000000"/>
                  </a:solidFill>
                  <a:effectLst/>
                  <a:latin typeface="Times New Roman" panose="02020603050405020304" pitchFamily="18" charset="0"/>
                </a:rPr>
                <a:t>Analyzer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819" name="Rectangle 177">
              <a:extLst>
                <a:ext uri="{FF2B5EF4-FFF2-40B4-BE49-F238E27FC236}">
                  <a16:creationId xmlns:a16="http://schemas.microsoft.com/office/drawing/2014/main" id="{BDC4B5B5-C91F-E70C-68E2-2DFA75BDF78B}"/>
                </a:ext>
              </a:extLst>
            </p:cNvPr>
            <p:cNvSpPr>
              <a:spLocks noChangeArrowheads="1"/>
            </p:cNvSpPr>
            <p:nvPr/>
          </p:nvSpPr>
          <p:spPr bwMode="auto">
            <a:xfrm>
              <a:off x="2798" y="1487"/>
              <a:ext cx="1157" cy="1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000000"/>
                  </a:solidFill>
                  <a:effectLst/>
                  <a:latin typeface="Times New Roman" panose="02020603050405020304" pitchFamily="18" charset="0"/>
                </a:rPr>
                <a:t>Elipsoidal monochromator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820" name="Rectangle 178">
              <a:extLst>
                <a:ext uri="{FF2B5EF4-FFF2-40B4-BE49-F238E27FC236}">
                  <a16:creationId xmlns:a16="http://schemas.microsoft.com/office/drawing/2014/main" id="{3ACDE70D-77FD-E35D-D281-A8FF119244D5}"/>
                </a:ext>
              </a:extLst>
            </p:cNvPr>
            <p:cNvSpPr>
              <a:spLocks noChangeArrowheads="1"/>
            </p:cNvSpPr>
            <p:nvPr/>
          </p:nvSpPr>
          <p:spPr bwMode="auto">
            <a:xfrm>
              <a:off x="3199" y="2931"/>
              <a:ext cx="350" cy="1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000000"/>
                  </a:solidFill>
                  <a:effectLst/>
                  <a:latin typeface="Times New Roman" panose="02020603050405020304" pitchFamily="18" charset="0"/>
                </a:rPr>
                <a:t>Sample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821" name="Rectangle 179">
              <a:extLst>
                <a:ext uri="{FF2B5EF4-FFF2-40B4-BE49-F238E27FC236}">
                  <a16:creationId xmlns:a16="http://schemas.microsoft.com/office/drawing/2014/main" id="{3EDD37B4-4902-3A19-4396-7F9D48DB2924}"/>
                </a:ext>
              </a:extLst>
            </p:cNvPr>
            <p:cNvSpPr>
              <a:spLocks noChangeArrowheads="1"/>
            </p:cNvSpPr>
            <p:nvPr/>
          </p:nvSpPr>
          <p:spPr bwMode="auto">
            <a:xfrm>
              <a:off x="1527" y="2353"/>
              <a:ext cx="577" cy="1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000000"/>
                  </a:solidFill>
                  <a:effectLst/>
                  <a:latin typeface="Times New Roman" panose="02020603050405020304" pitchFamily="18" charset="0"/>
                </a:rPr>
                <a:t>Electron gun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822" name="Rectangle 180">
              <a:extLst>
                <a:ext uri="{FF2B5EF4-FFF2-40B4-BE49-F238E27FC236}">
                  <a16:creationId xmlns:a16="http://schemas.microsoft.com/office/drawing/2014/main" id="{1873D173-FF31-CC4B-0E0D-C9FDFAE7B36D}"/>
                </a:ext>
              </a:extLst>
            </p:cNvPr>
            <p:cNvSpPr>
              <a:spLocks noChangeArrowheads="1"/>
            </p:cNvSpPr>
            <p:nvPr/>
          </p:nvSpPr>
          <p:spPr bwMode="auto">
            <a:xfrm>
              <a:off x="3733" y="3014"/>
              <a:ext cx="396" cy="1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000000"/>
                  </a:solidFill>
                  <a:effectLst/>
                  <a:latin typeface="Times New Roman" panose="02020603050405020304" pitchFamily="18" charset="0"/>
                </a:rPr>
                <a:t>Detector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823" name="Rectangle 181">
              <a:extLst>
                <a:ext uri="{FF2B5EF4-FFF2-40B4-BE49-F238E27FC236}">
                  <a16:creationId xmlns:a16="http://schemas.microsoft.com/office/drawing/2014/main" id="{F525C074-6B2B-5873-B0AD-767B723CC0C5}"/>
                </a:ext>
              </a:extLst>
            </p:cNvPr>
            <p:cNvSpPr>
              <a:spLocks noChangeArrowheads="1"/>
            </p:cNvSpPr>
            <p:nvPr/>
          </p:nvSpPr>
          <p:spPr bwMode="auto">
            <a:xfrm>
              <a:off x="2297" y="2791"/>
              <a:ext cx="411" cy="1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000000"/>
                  </a:solidFill>
                  <a:effectLst/>
                  <a:latin typeface="Times New Roman" panose="02020603050405020304" pitchFamily="18" charset="0"/>
                </a:rPr>
                <a:t>Al anode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824" name="Rectangle 182">
              <a:extLst>
                <a:ext uri="{FF2B5EF4-FFF2-40B4-BE49-F238E27FC236}">
                  <a16:creationId xmlns:a16="http://schemas.microsoft.com/office/drawing/2014/main" id="{2E63ACC9-A1DA-F6D1-8BE4-7359901270F0}"/>
                </a:ext>
              </a:extLst>
            </p:cNvPr>
            <p:cNvSpPr>
              <a:spLocks noChangeArrowheads="1"/>
            </p:cNvSpPr>
            <p:nvPr/>
          </p:nvSpPr>
          <p:spPr bwMode="auto">
            <a:xfrm>
              <a:off x="1081" y="3207"/>
              <a:ext cx="3698"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a:ln>
                    <a:noFill/>
                  </a:ln>
                  <a:solidFill>
                    <a:srgbClr val="000000"/>
                  </a:solidFill>
                  <a:effectLst/>
                  <a:latin typeface="Times New Roman" panose="02020603050405020304" pitchFamily="18" charset="0"/>
                </a:rPr>
                <a:t>Scanning ESCA Microprobe - scanned, focused, monochromatized x-ray beam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2825" name="Rectangle 183">
              <a:extLst>
                <a:ext uri="{FF2B5EF4-FFF2-40B4-BE49-F238E27FC236}">
                  <a16:creationId xmlns:a16="http://schemas.microsoft.com/office/drawing/2014/main" id="{54C8DD4D-D4AA-0ED4-D55F-24B7A1306515}"/>
                </a:ext>
              </a:extLst>
            </p:cNvPr>
            <p:cNvSpPr>
              <a:spLocks noChangeArrowheads="1"/>
            </p:cNvSpPr>
            <p:nvPr/>
          </p:nvSpPr>
          <p:spPr bwMode="auto">
            <a:xfrm>
              <a:off x="1081" y="3330"/>
              <a:ext cx="2413"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a:ln>
                    <a:noFill/>
                  </a:ln>
                  <a:solidFill>
                    <a:srgbClr val="000000"/>
                  </a:solidFill>
                  <a:effectLst/>
                  <a:latin typeface="Times New Roman" panose="02020603050405020304" pitchFamily="18" charset="0"/>
                </a:rPr>
                <a:t>for small spot spectroscopy and chemical imaging.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72827" name="Rectangle 185">
              <a:extLst>
                <a:ext uri="{FF2B5EF4-FFF2-40B4-BE49-F238E27FC236}">
                  <a16:creationId xmlns:a16="http://schemas.microsoft.com/office/drawing/2014/main" id="{2D1361D0-D37D-1365-5EE7-5C1CD58D0E25}"/>
                </a:ext>
              </a:extLst>
            </p:cNvPr>
            <p:cNvSpPr>
              <a:spLocks noChangeArrowheads="1"/>
            </p:cNvSpPr>
            <p:nvPr/>
          </p:nvSpPr>
          <p:spPr bwMode="auto">
            <a:xfrm>
              <a:off x="1070" y="3619"/>
              <a:ext cx="0"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72828" name="Freeform 186">
              <a:extLst>
                <a:ext uri="{FF2B5EF4-FFF2-40B4-BE49-F238E27FC236}">
                  <a16:creationId xmlns:a16="http://schemas.microsoft.com/office/drawing/2014/main" id="{2218756A-904E-36A3-6984-4C9FAFA3E796}"/>
                </a:ext>
              </a:extLst>
            </p:cNvPr>
            <p:cNvSpPr>
              <a:spLocks/>
            </p:cNvSpPr>
            <p:nvPr/>
          </p:nvSpPr>
          <p:spPr bwMode="auto">
            <a:xfrm>
              <a:off x="2919" y="1671"/>
              <a:ext cx="19" cy="37"/>
            </a:xfrm>
            <a:custGeom>
              <a:avLst/>
              <a:gdLst>
                <a:gd name="T0" fmla="*/ 4 w 19"/>
                <a:gd name="T1" fmla="*/ 0 h 37"/>
                <a:gd name="T2" fmla="*/ 13 w 19"/>
                <a:gd name="T3" fmla="*/ 0 h 37"/>
                <a:gd name="T4" fmla="*/ 19 w 19"/>
                <a:gd name="T5" fmla="*/ 37 h 37"/>
                <a:gd name="T6" fmla="*/ 0 w 19"/>
                <a:gd name="T7" fmla="*/ 35 h 37"/>
                <a:gd name="T8" fmla="*/ 4 w 19"/>
                <a:gd name="T9" fmla="*/ 0 h 37"/>
              </a:gdLst>
              <a:ahLst/>
              <a:cxnLst>
                <a:cxn ang="0">
                  <a:pos x="T0" y="T1"/>
                </a:cxn>
                <a:cxn ang="0">
                  <a:pos x="T2" y="T3"/>
                </a:cxn>
                <a:cxn ang="0">
                  <a:pos x="T4" y="T5"/>
                </a:cxn>
                <a:cxn ang="0">
                  <a:pos x="T6" y="T7"/>
                </a:cxn>
                <a:cxn ang="0">
                  <a:pos x="T8" y="T9"/>
                </a:cxn>
              </a:cxnLst>
              <a:rect l="0" t="0" r="r" b="b"/>
              <a:pathLst>
                <a:path w="19" h="37">
                  <a:moveTo>
                    <a:pt x="4" y="0"/>
                  </a:moveTo>
                  <a:lnTo>
                    <a:pt x="13" y="0"/>
                  </a:lnTo>
                  <a:lnTo>
                    <a:pt x="19" y="37"/>
                  </a:lnTo>
                  <a:lnTo>
                    <a:pt x="0" y="35"/>
                  </a:lnTo>
                  <a:lnTo>
                    <a:pt x="4" y="0"/>
                  </a:lnTo>
                  <a:close/>
                </a:path>
              </a:pathLst>
            </a:custGeom>
            <a:solidFill>
              <a:srgbClr val="008FE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sp>
          <p:nvSpPr>
            <p:cNvPr id="72829" name="Freeform 187">
              <a:extLst>
                <a:ext uri="{FF2B5EF4-FFF2-40B4-BE49-F238E27FC236}">
                  <a16:creationId xmlns:a16="http://schemas.microsoft.com/office/drawing/2014/main" id="{BE58571A-DB99-7BAD-93ED-0B98C0AEBAB5}"/>
                </a:ext>
              </a:extLst>
            </p:cNvPr>
            <p:cNvSpPr>
              <a:spLocks/>
            </p:cNvSpPr>
            <p:nvPr/>
          </p:nvSpPr>
          <p:spPr bwMode="auto">
            <a:xfrm>
              <a:off x="3251" y="1732"/>
              <a:ext cx="42" cy="46"/>
            </a:xfrm>
            <a:custGeom>
              <a:avLst/>
              <a:gdLst>
                <a:gd name="T0" fmla="*/ 0 w 42"/>
                <a:gd name="T1" fmla="*/ 35 h 46"/>
                <a:gd name="T2" fmla="*/ 27 w 42"/>
                <a:gd name="T3" fmla="*/ 0 h 46"/>
                <a:gd name="T4" fmla="*/ 42 w 42"/>
                <a:gd name="T5" fmla="*/ 16 h 46"/>
                <a:gd name="T6" fmla="*/ 9 w 42"/>
                <a:gd name="T7" fmla="*/ 46 h 46"/>
                <a:gd name="T8" fmla="*/ 0 w 42"/>
                <a:gd name="T9" fmla="*/ 35 h 46"/>
              </a:gdLst>
              <a:ahLst/>
              <a:cxnLst>
                <a:cxn ang="0">
                  <a:pos x="T0" y="T1"/>
                </a:cxn>
                <a:cxn ang="0">
                  <a:pos x="T2" y="T3"/>
                </a:cxn>
                <a:cxn ang="0">
                  <a:pos x="T4" y="T5"/>
                </a:cxn>
                <a:cxn ang="0">
                  <a:pos x="T6" y="T7"/>
                </a:cxn>
                <a:cxn ang="0">
                  <a:pos x="T8" y="T9"/>
                </a:cxn>
              </a:cxnLst>
              <a:rect l="0" t="0" r="r" b="b"/>
              <a:pathLst>
                <a:path w="42" h="46">
                  <a:moveTo>
                    <a:pt x="0" y="35"/>
                  </a:moveTo>
                  <a:lnTo>
                    <a:pt x="27" y="0"/>
                  </a:lnTo>
                  <a:lnTo>
                    <a:pt x="42" y="16"/>
                  </a:lnTo>
                  <a:lnTo>
                    <a:pt x="9" y="46"/>
                  </a:lnTo>
                  <a:lnTo>
                    <a:pt x="0" y="35"/>
                  </a:lnTo>
                  <a:close/>
                </a:path>
              </a:pathLst>
            </a:custGeom>
            <a:solidFill>
              <a:srgbClr val="008FE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HK"/>
            </a:p>
          </p:txBody>
        </p:sp>
      </p:grpSp>
      <p:sp>
        <p:nvSpPr>
          <p:cNvPr id="3" name="Rectangle 8">
            <a:extLst>
              <a:ext uri="{FF2B5EF4-FFF2-40B4-BE49-F238E27FC236}">
                <a16:creationId xmlns:a16="http://schemas.microsoft.com/office/drawing/2014/main" id="{F0F77491-7AAE-880E-FC1A-AEEA336CA554}"/>
              </a:ext>
            </a:extLst>
          </p:cNvPr>
          <p:cNvSpPr>
            <a:spLocks noChangeArrowheads="1"/>
          </p:cNvSpPr>
          <p:nvPr/>
        </p:nvSpPr>
        <p:spPr bwMode="auto">
          <a:xfrm>
            <a:off x="685800" y="179388"/>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imaging: chemical map</a:t>
            </a:r>
            <a:endParaRPr lang="en-US" altLang="zh-TW" sz="2000" dirty="0">
              <a:solidFill>
                <a:schemeClr val="bg2">
                  <a:lumMod val="40000"/>
                  <a:lumOff val="60000"/>
                </a:schemeClr>
              </a:solidFill>
              <a:latin typeface="Georgia" panose="02040502050405020303" pitchFamily="18" charset="0"/>
              <a:ea typeface="新細明體" pitchFamily="18" charset="-120"/>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3730" name="Picture 4"/>
          <p:cNvPicPr>
            <a:picLocks noChangeAspect="1" noChangeArrowheads="1"/>
          </p:cNvPicPr>
          <p:nvPr/>
        </p:nvPicPr>
        <p:blipFill>
          <a:blip r:embed="rId2" cstate="print"/>
          <a:srcRect/>
          <a:stretch>
            <a:fillRect/>
          </a:stretch>
        </p:blipFill>
        <p:spPr bwMode="auto">
          <a:xfrm>
            <a:off x="4191000" y="3200400"/>
            <a:ext cx="4638675" cy="3352800"/>
          </a:xfrm>
          <a:prstGeom prst="rect">
            <a:avLst/>
          </a:prstGeom>
          <a:noFill/>
          <a:ln w="9525">
            <a:noFill/>
            <a:miter lim="800000"/>
            <a:headEnd/>
            <a:tailEnd/>
          </a:ln>
        </p:spPr>
      </p:pic>
      <p:sp>
        <p:nvSpPr>
          <p:cNvPr id="73731" name="Rectangle 5"/>
          <p:cNvSpPr>
            <a:spLocks noChangeArrowheads="1"/>
          </p:cNvSpPr>
          <p:nvPr/>
        </p:nvSpPr>
        <p:spPr bwMode="auto">
          <a:xfrm>
            <a:off x="6823075" y="3381375"/>
            <a:ext cx="1376363" cy="2841625"/>
          </a:xfrm>
          <a:prstGeom prst="rect">
            <a:avLst/>
          </a:prstGeom>
          <a:noFill/>
          <a:ln w="9525">
            <a:solidFill>
              <a:srgbClr val="FC0128"/>
            </a:solidFill>
            <a:miter lim="800000"/>
            <a:headEnd/>
            <a:tailEnd/>
          </a:ln>
        </p:spPr>
        <p:txBody>
          <a:bodyPr/>
          <a:lstStyle/>
          <a:p>
            <a:endParaRPr lang="zh-CN" altLang="zh-CN">
              <a:latin typeface="Georgia" panose="02040502050405020303" pitchFamily="18" charset="0"/>
              <a:ea typeface="SimSun" pitchFamily="2" charset="-122"/>
            </a:endParaRPr>
          </a:p>
        </p:txBody>
      </p:sp>
      <p:sp>
        <p:nvSpPr>
          <p:cNvPr id="73732" name="Rectangle 6"/>
          <p:cNvSpPr>
            <a:spLocks noChangeArrowheads="1"/>
          </p:cNvSpPr>
          <p:nvPr/>
        </p:nvSpPr>
        <p:spPr bwMode="auto">
          <a:xfrm>
            <a:off x="5583238" y="3425825"/>
            <a:ext cx="817562" cy="225425"/>
          </a:xfrm>
          <a:prstGeom prst="rect">
            <a:avLst/>
          </a:prstGeom>
          <a:noFill/>
          <a:ln w="9525">
            <a:noFill/>
            <a:miter lim="800000"/>
            <a:headEnd/>
            <a:tailEnd/>
          </a:ln>
        </p:spPr>
        <p:txBody>
          <a:bodyPr/>
          <a:lstStyle/>
          <a:p>
            <a:endParaRPr lang="zh-CN" altLang="zh-CN">
              <a:latin typeface="Georgia" panose="02040502050405020303" pitchFamily="18" charset="0"/>
              <a:ea typeface="SimSun" pitchFamily="2" charset="-122"/>
            </a:endParaRPr>
          </a:p>
        </p:txBody>
      </p:sp>
      <p:sp>
        <p:nvSpPr>
          <p:cNvPr id="73733" name="Rectangle 7"/>
          <p:cNvSpPr>
            <a:spLocks noChangeArrowheads="1"/>
          </p:cNvSpPr>
          <p:nvPr/>
        </p:nvSpPr>
        <p:spPr bwMode="auto">
          <a:xfrm>
            <a:off x="5583238" y="3470275"/>
            <a:ext cx="729367" cy="153888"/>
          </a:xfrm>
          <a:prstGeom prst="rect">
            <a:avLst/>
          </a:prstGeom>
          <a:noFill/>
          <a:ln w="9525">
            <a:noFill/>
            <a:miter lim="800000"/>
            <a:headEnd/>
            <a:tailEnd/>
          </a:ln>
        </p:spPr>
        <p:txBody>
          <a:bodyPr wrap="none" lIns="0" tIns="0" rIns="0" bIns="0">
            <a:spAutoFit/>
          </a:bodyPr>
          <a:lstStyle/>
          <a:p>
            <a:pPr eaLnBrk="1" hangingPunct="1"/>
            <a:r>
              <a:rPr lang="en-US" altLang="zh-CN" sz="1000">
                <a:solidFill>
                  <a:srgbClr val="FFFF00"/>
                </a:solidFill>
                <a:latin typeface="Georgia" panose="02040502050405020303" pitchFamily="18" charset="0"/>
                <a:ea typeface="SimSun" pitchFamily="2" charset="-122"/>
              </a:rPr>
              <a:t>Polyethylene</a:t>
            </a:r>
            <a:endParaRPr lang="en-US" altLang="zh-CN" sz="2400" b="1">
              <a:latin typeface="Georgia" panose="02040502050405020303" pitchFamily="18" charset="0"/>
              <a:ea typeface="SimSun" pitchFamily="2" charset="-122"/>
            </a:endParaRPr>
          </a:p>
        </p:txBody>
      </p:sp>
      <p:sp>
        <p:nvSpPr>
          <p:cNvPr id="73734" name="Rectangle 8"/>
          <p:cNvSpPr>
            <a:spLocks noChangeArrowheads="1"/>
          </p:cNvSpPr>
          <p:nvPr/>
        </p:nvSpPr>
        <p:spPr bwMode="auto">
          <a:xfrm>
            <a:off x="5583238" y="3630613"/>
            <a:ext cx="622300" cy="225425"/>
          </a:xfrm>
          <a:prstGeom prst="rect">
            <a:avLst/>
          </a:prstGeom>
          <a:noFill/>
          <a:ln w="9525">
            <a:noFill/>
            <a:miter lim="800000"/>
            <a:headEnd/>
            <a:tailEnd/>
          </a:ln>
        </p:spPr>
        <p:txBody>
          <a:bodyPr/>
          <a:lstStyle/>
          <a:p>
            <a:endParaRPr lang="zh-CN" altLang="zh-CN">
              <a:latin typeface="Georgia" panose="02040502050405020303" pitchFamily="18" charset="0"/>
              <a:ea typeface="SimSun" pitchFamily="2" charset="-122"/>
            </a:endParaRPr>
          </a:p>
        </p:txBody>
      </p:sp>
      <p:sp>
        <p:nvSpPr>
          <p:cNvPr id="73735" name="Rectangle 9"/>
          <p:cNvSpPr>
            <a:spLocks noChangeArrowheads="1"/>
          </p:cNvSpPr>
          <p:nvPr/>
        </p:nvSpPr>
        <p:spPr bwMode="auto">
          <a:xfrm>
            <a:off x="5583238" y="3675063"/>
            <a:ext cx="543418" cy="153888"/>
          </a:xfrm>
          <a:prstGeom prst="rect">
            <a:avLst/>
          </a:prstGeom>
          <a:noFill/>
          <a:ln w="9525">
            <a:noFill/>
            <a:miter lim="800000"/>
            <a:headEnd/>
            <a:tailEnd/>
          </a:ln>
        </p:spPr>
        <p:txBody>
          <a:bodyPr wrap="none" lIns="0" tIns="0" rIns="0" bIns="0">
            <a:spAutoFit/>
          </a:bodyPr>
          <a:lstStyle/>
          <a:p>
            <a:pPr eaLnBrk="1" hangingPunct="1"/>
            <a:r>
              <a:rPr lang="en-US" altLang="zh-CN" sz="1000">
                <a:solidFill>
                  <a:srgbClr val="FFFF00"/>
                </a:solidFill>
                <a:latin typeface="Georgia" panose="02040502050405020303" pitchFamily="18" charset="0"/>
                <a:ea typeface="SimSun" pitchFamily="2" charset="-122"/>
              </a:rPr>
              <a:t>Substrate</a:t>
            </a:r>
            <a:endParaRPr lang="en-US" altLang="zh-CN" sz="2400" b="1">
              <a:latin typeface="Georgia" panose="02040502050405020303" pitchFamily="18" charset="0"/>
              <a:ea typeface="SimSun" pitchFamily="2" charset="-122"/>
            </a:endParaRPr>
          </a:p>
        </p:txBody>
      </p:sp>
      <p:sp>
        <p:nvSpPr>
          <p:cNvPr id="73736" name="Rectangle 10"/>
          <p:cNvSpPr>
            <a:spLocks noChangeArrowheads="1"/>
          </p:cNvSpPr>
          <p:nvPr/>
        </p:nvSpPr>
        <p:spPr bwMode="auto">
          <a:xfrm>
            <a:off x="4646613" y="4322763"/>
            <a:ext cx="973137" cy="225425"/>
          </a:xfrm>
          <a:prstGeom prst="rect">
            <a:avLst/>
          </a:prstGeom>
          <a:noFill/>
          <a:ln w="9525">
            <a:noFill/>
            <a:miter lim="800000"/>
            <a:headEnd/>
            <a:tailEnd/>
          </a:ln>
        </p:spPr>
        <p:txBody>
          <a:bodyPr/>
          <a:lstStyle/>
          <a:p>
            <a:endParaRPr lang="zh-CN" altLang="zh-CN">
              <a:latin typeface="Georgia" panose="02040502050405020303" pitchFamily="18" charset="0"/>
              <a:ea typeface="SimSun" pitchFamily="2" charset="-122"/>
            </a:endParaRPr>
          </a:p>
        </p:txBody>
      </p:sp>
      <p:sp>
        <p:nvSpPr>
          <p:cNvPr id="73737" name="Rectangle 11"/>
          <p:cNvSpPr>
            <a:spLocks noChangeArrowheads="1"/>
          </p:cNvSpPr>
          <p:nvPr/>
        </p:nvSpPr>
        <p:spPr bwMode="auto">
          <a:xfrm>
            <a:off x="4713288" y="4365625"/>
            <a:ext cx="884858" cy="153888"/>
          </a:xfrm>
          <a:prstGeom prst="rect">
            <a:avLst/>
          </a:prstGeom>
          <a:noFill/>
          <a:ln w="9525">
            <a:noFill/>
            <a:miter lim="800000"/>
            <a:headEnd/>
            <a:tailEnd/>
          </a:ln>
        </p:spPr>
        <p:txBody>
          <a:bodyPr wrap="none" lIns="0" tIns="0" rIns="0" bIns="0">
            <a:spAutoFit/>
          </a:bodyPr>
          <a:lstStyle/>
          <a:p>
            <a:pPr eaLnBrk="1" hangingPunct="1"/>
            <a:r>
              <a:rPr lang="en-US" altLang="zh-CN" sz="1000">
                <a:solidFill>
                  <a:srgbClr val="FFFF00"/>
                </a:solidFill>
                <a:latin typeface="Georgia" panose="02040502050405020303" pitchFamily="18" charset="0"/>
                <a:ea typeface="SimSun" pitchFamily="2" charset="-122"/>
              </a:rPr>
              <a:t>Adhesion Layer</a:t>
            </a:r>
            <a:endParaRPr lang="en-US" altLang="zh-CN" sz="2400" b="1">
              <a:latin typeface="Georgia" panose="02040502050405020303" pitchFamily="18" charset="0"/>
              <a:ea typeface="SimSun" pitchFamily="2" charset="-122"/>
            </a:endParaRPr>
          </a:p>
        </p:txBody>
      </p:sp>
      <p:sp>
        <p:nvSpPr>
          <p:cNvPr id="73738" name="Rectangle 12"/>
          <p:cNvSpPr>
            <a:spLocks noChangeArrowheads="1"/>
          </p:cNvSpPr>
          <p:nvPr/>
        </p:nvSpPr>
        <p:spPr bwMode="auto">
          <a:xfrm>
            <a:off x="4764088" y="5386388"/>
            <a:ext cx="669925" cy="223837"/>
          </a:xfrm>
          <a:prstGeom prst="rect">
            <a:avLst/>
          </a:prstGeom>
          <a:noFill/>
          <a:ln w="9525">
            <a:noFill/>
            <a:miter lim="800000"/>
            <a:headEnd/>
            <a:tailEnd/>
          </a:ln>
        </p:spPr>
        <p:txBody>
          <a:bodyPr/>
          <a:lstStyle/>
          <a:p>
            <a:endParaRPr lang="zh-CN" altLang="zh-CN">
              <a:latin typeface="Georgia" panose="02040502050405020303" pitchFamily="18" charset="0"/>
              <a:ea typeface="SimSun" pitchFamily="2" charset="-122"/>
            </a:endParaRPr>
          </a:p>
        </p:txBody>
      </p:sp>
      <p:sp>
        <p:nvSpPr>
          <p:cNvPr id="73739" name="Rectangle 13"/>
          <p:cNvSpPr>
            <a:spLocks noChangeArrowheads="1"/>
          </p:cNvSpPr>
          <p:nvPr/>
        </p:nvSpPr>
        <p:spPr bwMode="auto">
          <a:xfrm>
            <a:off x="4830763" y="5429250"/>
            <a:ext cx="556243" cy="153888"/>
          </a:xfrm>
          <a:prstGeom prst="rect">
            <a:avLst/>
          </a:prstGeom>
          <a:noFill/>
          <a:ln w="9525">
            <a:noFill/>
            <a:miter lim="800000"/>
            <a:headEnd/>
            <a:tailEnd/>
          </a:ln>
        </p:spPr>
        <p:txBody>
          <a:bodyPr wrap="none" lIns="0" tIns="0" rIns="0" bIns="0">
            <a:spAutoFit/>
          </a:bodyPr>
          <a:lstStyle/>
          <a:p>
            <a:pPr eaLnBrk="1" hangingPunct="1"/>
            <a:r>
              <a:rPr lang="en-US" altLang="zh-CN" sz="1000">
                <a:solidFill>
                  <a:srgbClr val="FFFF00"/>
                </a:solidFill>
                <a:latin typeface="Georgia" panose="02040502050405020303" pitchFamily="18" charset="0"/>
                <a:ea typeface="SimSun" pitchFamily="2" charset="-122"/>
              </a:rPr>
              <a:t>Base Coat</a:t>
            </a:r>
            <a:endParaRPr lang="en-US" altLang="zh-CN" sz="2400" b="1">
              <a:latin typeface="Georgia" panose="02040502050405020303" pitchFamily="18" charset="0"/>
              <a:ea typeface="SimSun" pitchFamily="2" charset="-122"/>
            </a:endParaRPr>
          </a:p>
        </p:txBody>
      </p:sp>
      <p:sp>
        <p:nvSpPr>
          <p:cNvPr id="73740" name="Rectangle 14"/>
          <p:cNvSpPr>
            <a:spLocks noChangeArrowheads="1"/>
          </p:cNvSpPr>
          <p:nvPr/>
        </p:nvSpPr>
        <p:spPr bwMode="auto">
          <a:xfrm>
            <a:off x="4703763" y="6003925"/>
            <a:ext cx="698500" cy="225425"/>
          </a:xfrm>
          <a:prstGeom prst="rect">
            <a:avLst/>
          </a:prstGeom>
          <a:noFill/>
          <a:ln w="9525">
            <a:noFill/>
            <a:miter lim="800000"/>
            <a:headEnd/>
            <a:tailEnd/>
          </a:ln>
        </p:spPr>
        <p:txBody>
          <a:bodyPr/>
          <a:lstStyle/>
          <a:p>
            <a:endParaRPr lang="zh-CN" altLang="zh-CN">
              <a:latin typeface="Georgia" panose="02040502050405020303" pitchFamily="18" charset="0"/>
              <a:ea typeface="SimSun" pitchFamily="2" charset="-122"/>
            </a:endParaRPr>
          </a:p>
        </p:txBody>
      </p:sp>
      <p:sp>
        <p:nvSpPr>
          <p:cNvPr id="73741" name="Rectangle 15"/>
          <p:cNvSpPr>
            <a:spLocks noChangeArrowheads="1"/>
          </p:cNvSpPr>
          <p:nvPr/>
        </p:nvSpPr>
        <p:spPr bwMode="auto">
          <a:xfrm>
            <a:off x="4770438" y="6046788"/>
            <a:ext cx="588303" cy="153888"/>
          </a:xfrm>
          <a:prstGeom prst="rect">
            <a:avLst/>
          </a:prstGeom>
          <a:noFill/>
          <a:ln w="9525">
            <a:noFill/>
            <a:miter lim="800000"/>
            <a:headEnd/>
            <a:tailEnd/>
          </a:ln>
        </p:spPr>
        <p:txBody>
          <a:bodyPr wrap="none" lIns="0" tIns="0" rIns="0" bIns="0">
            <a:spAutoFit/>
          </a:bodyPr>
          <a:lstStyle/>
          <a:p>
            <a:pPr eaLnBrk="1" hangingPunct="1"/>
            <a:r>
              <a:rPr lang="en-US" altLang="zh-CN" sz="1000">
                <a:solidFill>
                  <a:srgbClr val="000000"/>
                </a:solidFill>
                <a:latin typeface="Georgia" panose="02040502050405020303" pitchFamily="18" charset="0"/>
                <a:ea typeface="SimSun" pitchFamily="2" charset="-122"/>
              </a:rPr>
              <a:t>Clear Coat</a:t>
            </a:r>
            <a:endParaRPr lang="en-US" altLang="zh-CN" sz="2400" b="1">
              <a:latin typeface="Georgia" panose="02040502050405020303" pitchFamily="18" charset="0"/>
              <a:ea typeface="SimSun" pitchFamily="2" charset="-122"/>
            </a:endParaRPr>
          </a:p>
        </p:txBody>
      </p:sp>
      <p:sp>
        <p:nvSpPr>
          <p:cNvPr id="73742" name="Rectangle 16"/>
          <p:cNvSpPr>
            <a:spLocks noChangeArrowheads="1"/>
          </p:cNvSpPr>
          <p:nvPr/>
        </p:nvSpPr>
        <p:spPr bwMode="auto">
          <a:xfrm>
            <a:off x="7008813" y="3425825"/>
            <a:ext cx="927100" cy="225425"/>
          </a:xfrm>
          <a:prstGeom prst="rect">
            <a:avLst/>
          </a:prstGeom>
          <a:noFill/>
          <a:ln w="9525">
            <a:noFill/>
            <a:miter lim="800000"/>
            <a:headEnd/>
            <a:tailEnd/>
          </a:ln>
        </p:spPr>
        <p:txBody>
          <a:bodyPr/>
          <a:lstStyle/>
          <a:p>
            <a:endParaRPr lang="zh-CN" altLang="zh-CN">
              <a:latin typeface="Georgia" panose="02040502050405020303" pitchFamily="18" charset="0"/>
              <a:ea typeface="SimSun" pitchFamily="2" charset="-122"/>
            </a:endParaRPr>
          </a:p>
        </p:txBody>
      </p:sp>
      <p:sp>
        <p:nvSpPr>
          <p:cNvPr id="73743" name="Rectangle 17"/>
          <p:cNvSpPr>
            <a:spLocks noChangeArrowheads="1"/>
          </p:cNvSpPr>
          <p:nvPr/>
        </p:nvSpPr>
        <p:spPr bwMode="auto">
          <a:xfrm>
            <a:off x="7108825" y="3470275"/>
            <a:ext cx="804707" cy="153888"/>
          </a:xfrm>
          <a:prstGeom prst="rect">
            <a:avLst/>
          </a:prstGeom>
          <a:noFill/>
          <a:ln w="9525">
            <a:noFill/>
            <a:miter lim="800000"/>
            <a:headEnd/>
            <a:tailEnd/>
          </a:ln>
        </p:spPr>
        <p:txBody>
          <a:bodyPr wrap="none" lIns="0" tIns="0" rIns="0" bIns="0">
            <a:spAutoFit/>
          </a:bodyPr>
          <a:lstStyle/>
          <a:p>
            <a:pPr eaLnBrk="1" hangingPunct="1"/>
            <a:r>
              <a:rPr lang="en-US" altLang="zh-CN" sz="1000">
                <a:solidFill>
                  <a:srgbClr val="FFFF00"/>
                </a:solidFill>
                <a:latin typeface="Georgia" panose="02040502050405020303" pitchFamily="18" charset="0"/>
                <a:ea typeface="SimSun" pitchFamily="2" charset="-122"/>
              </a:rPr>
              <a:t>Mapping Area</a:t>
            </a:r>
            <a:endParaRPr lang="en-US" altLang="zh-CN" sz="2400" b="1">
              <a:latin typeface="Georgia" panose="02040502050405020303" pitchFamily="18" charset="0"/>
              <a:ea typeface="SimSun" pitchFamily="2" charset="-122"/>
            </a:endParaRPr>
          </a:p>
        </p:txBody>
      </p:sp>
      <p:sp>
        <p:nvSpPr>
          <p:cNvPr id="73744" name="Rectangle 18"/>
          <p:cNvSpPr>
            <a:spLocks noChangeArrowheads="1"/>
          </p:cNvSpPr>
          <p:nvPr/>
        </p:nvSpPr>
        <p:spPr bwMode="auto">
          <a:xfrm>
            <a:off x="7089775" y="6199188"/>
            <a:ext cx="733425" cy="203200"/>
          </a:xfrm>
          <a:prstGeom prst="rect">
            <a:avLst/>
          </a:prstGeom>
          <a:noFill/>
          <a:ln w="9525">
            <a:noFill/>
            <a:miter lim="800000"/>
            <a:headEnd/>
            <a:tailEnd/>
          </a:ln>
        </p:spPr>
        <p:txBody>
          <a:bodyPr/>
          <a:lstStyle/>
          <a:p>
            <a:endParaRPr lang="zh-CN" altLang="zh-CN">
              <a:latin typeface="Georgia" panose="02040502050405020303" pitchFamily="18" charset="0"/>
              <a:ea typeface="SimSun" pitchFamily="2" charset="-122"/>
            </a:endParaRPr>
          </a:p>
        </p:txBody>
      </p:sp>
      <p:sp>
        <p:nvSpPr>
          <p:cNvPr id="73745" name="Rectangle 19"/>
          <p:cNvSpPr>
            <a:spLocks noChangeArrowheads="1"/>
          </p:cNvSpPr>
          <p:nvPr/>
        </p:nvSpPr>
        <p:spPr bwMode="auto">
          <a:xfrm>
            <a:off x="7156450" y="6240463"/>
            <a:ext cx="503343" cy="138499"/>
          </a:xfrm>
          <a:prstGeom prst="rect">
            <a:avLst/>
          </a:prstGeom>
          <a:noFill/>
          <a:ln w="9525">
            <a:noFill/>
            <a:miter lim="800000"/>
            <a:headEnd/>
            <a:tailEnd/>
          </a:ln>
        </p:spPr>
        <p:txBody>
          <a:bodyPr wrap="none" lIns="0" tIns="0" rIns="0" bIns="0">
            <a:spAutoFit/>
          </a:bodyPr>
          <a:lstStyle/>
          <a:p>
            <a:pPr eaLnBrk="1" hangingPunct="1"/>
            <a:r>
              <a:rPr lang="en-US" altLang="zh-CN" sz="900">
                <a:solidFill>
                  <a:srgbClr val="000000"/>
                </a:solidFill>
                <a:latin typeface="Georgia" panose="02040502050405020303" pitchFamily="18" charset="0"/>
                <a:ea typeface="SimSun" pitchFamily="2" charset="-122"/>
              </a:rPr>
              <a:t>695 x 320</a:t>
            </a:r>
            <a:endParaRPr lang="en-US" altLang="zh-CN" sz="2400" b="1">
              <a:latin typeface="Georgia" panose="02040502050405020303" pitchFamily="18" charset="0"/>
              <a:ea typeface="SimSun" pitchFamily="2" charset="-122"/>
            </a:endParaRPr>
          </a:p>
        </p:txBody>
      </p:sp>
      <p:sp>
        <p:nvSpPr>
          <p:cNvPr id="73746" name="Rectangle 20"/>
          <p:cNvSpPr>
            <a:spLocks noChangeArrowheads="1"/>
          </p:cNvSpPr>
          <p:nvPr/>
        </p:nvSpPr>
        <p:spPr bwMode="auto">
          <a:xfrm>
            <a:off x="7604125" y="6240463"/>
            <a:ext cx="65724" cy="138499"/>
          </a:xfrm>
          <a:prstGeom prst="rect">
            <a:avLst/>
          </a:prstGeom>
          <a:noFill/>
          <a:ln w="9525">
            <a:noFill/>
            <a:miter lim="800000"/>
            <a:headEnd/>
            <a:tailEnd/>
          </a:ln>
        </p:spPr>
        <p:txBody>
          <a:bodyPr wrap="none" lIns="0" tIns="0" rIns="0" bIns="0">
            <a:spAutoFit/>
          </a:bodyPr>
          <a:lstStyle/>
          <a:p>
            <a:pPr eaLnBrk="1" hangingPunct="1"/>
            <a:r>
              <a:rPr lang="en-US" altLang="zh-CN" sz="900">
                <a:solidFill>
                  <a:srgbClr val="000000"/>
                </a:solidFill>
                <a:latin typeface="Georgia" panose="02040502050405020303" pitchFamily="18" charset="0"/>
                <a:ea typeface="SimSun" pitchFamily="2" charset="-122"/>
              </a:rPr>
              <a:t>µ</a:t>
            </a:r>
            <a:endParaRPr lang="en-US" altLang="zh-CN" sz="2400" b="1">
              <a:latin typeface="Georgia" panose="02040502050405020303" pitchFamily="18" charset="0"/>
              <a:ea typeface="SimSun" pitchFamily="2" charset="-122"/>
            </a:endParaRPr>
          </a:p>
        </p:txBody>
      </p:sp>
      <p:sp>
        <p:nvSpPr>
          <p:cNvPr id="73747" name="Rectangle 21"/>
          <p:cNvSpPr>
            <a:spLocks noChangeArrowheads="1"/>
          </p:cNvSpPr>
          <p:nvPr/>
        </p:nvSpPr>
        <p:spPr bwMode="auto">
          <a:xfrm>
            <a:off x="7667625" y="6240463"/>
            <a:ext cx="100990" cy="138499"/>
          </a:xfrm>
          <a:prstGeom prst="rect">
            <a:avLst/>
          </a:prstGeom>
          <a:noFill/>
          <a:ln w="9525">
            <a:noFill/>
            <a:miter lim="800000"/>
            <a:headEnd/>
            <a:tailEnd/>
          </a:ln>
        </p:spPr>
        <p:txBody>
          <a:bodyPr wrap="none" lIns="0" tIns="0" rIns="0" bIns="0">
            <a:spAutoFit/>
          </a:bodyPr>
          <a:lstStyle/>
          <a:p>
            <a:pPr eaLnBrk="1" hangingPunct="1"/>
            <a:r>
              <a:rPr lang="en-US" altLang="zh-CN" sz="900">
                <a:solidFill>
                  <a:srgbClr val="000000"/>
                </a:solidFill>
                <a:latin typeface="Georgia" panose="02040502050405020303" pitchFamily="18" charset="0"/>
                <a:ea typeface="SimSun" pitchFamily="2" charset="-122"/>
              </a:rPr>
              <a:t>m</a:t>
            </a:r>
            <a:endParaRPr lang="en-US" altLang="zh-CN" sz="2400" b="1">
              <a:latin typeface="Georgia" panose="02040502050405020303" pitchFamily="18" charset="0"/>
              <a:ea typeface="SimSun" pitchFamily="2" charset="-122"/>
            </a:endParaRPr>
          </a:p>
        </p:txBody>
      </p:sp>
      <p:pic>
        <p:nvPicPr>
          <p:cNvPr id="73748" name="Picture 22"/>
          <p:cNvPicPr>
            <a:picLocks noChangeAspect="1" noChangeArrowheads="1"/>
          </p:cNvPicPr>
          <p:nvPr/>
        </p:nvPicPr>
        <p:blipFill>
          <a:blip r:embed="rId2" cstate="print"/>
          <a:srcRect/>
          <a:stretch>
            <a:fillRect/>
          </a:stretch>
        </p:blipFill>
        <p:spPr bwMode="auto">
          <a:xfrm>
            <a:off x="4191000" y="3200400"/>
            <a:ext cx="4638675" cy="3352800"/>
          </a:xfrm>
          <a:prstGeom prst="rect">
            <a:avLst/>
          </a:prstGeom>
          <a:noFill/>
          <a:ln w="9525">
            <a:noFill/>
            <a:miter lim="800000"/>
            <a:headEnd/>
            <a:tailEnd/>
          </a:ln>
        </p:spPr>
      </p:pic>
      <p:sp>
        <p:nvSpPr>
          <p:cNvPr id="73749" name="Rectangle 23"/>
          <p:cNvSpPr>
            <a:spLocks noChangeArrowheads="1"/>
          </p:cNvSpPr>
          <p:nvPr/>
        </p:nvSpPr>
        <p:spPr bwMode="auto">
          <a:xfrm>
            <a:off x="6823075" y="3381375"/>
            <a:ext cx="1376363" cy="2841625"/>
          </a:xfrm>
          <a:prstGeom prst="rect">
            <a:avLst/>
          </a:prstGeom>
          <a:noFill/>
          <a:ln w="9525">
            <a:solidFill>
              <a:srgbClr val="FC0128"/>
            </a:solidFill>
            <a:miter lim="800000"/>
            <a:headEnd/>
            <a:tailEnd/>
          </a:ln>
        </p:spPr>
        <p:txBody>
          <a:bodyPr/>
          <a:lstStyle/>
          <a:p>
            <a:endParaRPr lang="zh-CN" altLang="zh-CN">
              <a:latin typeface="Georgia" panose="02040502050405020303" pitchFamily="18" charset="0"/>
              <a:ea typeface="SimSun" pitchFamily="2" charset="-122"/>
            </a:endParaRPr>
          </a:p>
        </p:txBody>
      </p:sp>
      <p:sp>
        <p:nvSpPr>
          <p:cNvPr id="73750" name="Rectangle 24"/>
          <p:cNvSpPr>
            <a:spLocks noChangeArrowheads="1"/>
          </p:cNvSpPr>
          <p:nvPr/>
        </p:nvSpPr>
        <p:spPr bwMode="auto">
          <a:xfrm>
            <a:off x="5583238" y="3425825"/>
            <a:ext cx="817562" cy="225425"/>
          </a:xfrm>
          <a:prstGeom prst="rect">
            <a:avLst/>
          </a:prstGeom>
          <a:noFill/>
          <a:ln w="9525">
            <a:noFill/>
            <a:miter lim="800000"/>
            <a:headEnd/>
            <a:tailEnd/>
          </a:ln>
        </p:spPr>
        <p:txBody>
          <a:bodyPr/>
          <a:lstStyle/>
          <a:p>
            <a:endParaRPr lang="zh-CN" altLang="zh-CN">
              <a:latin typeface="Georgia" panose="02040502050405020303" pitchFamily="18" charset="0"/>
              <a:ea typeface="SimSun" pitchFamily="2" charset="-122"/>
            </a:endParaRPr>
          </a:p>
        </p:txBody>
      </p:sp>
      <p:sp>
        <p:nvSpPr>
          <p:cNvPr id="73751" name="Rectangle 25"/>
          <p:cNvSpPr>
            <a:spLocks noChangeArrowheads="1"/>
          </p:cNvSpPr>
          <p:nvPr/>
        </p:nvSpPr>
        <p:spPr bwMode="auto">
          <a:xfrm>
            <a:off x="5583238" y="3470275"/>
            <a:ext cx="729367" cy="153888"/>
          </a:xfrm>
          <a:prstGeom prst="rect">
            <a:avLst/>
          </a:prstGeom>
          <a:noFill/>
          <a:ln w="9525">
            <a:noFill/>
            <a:miter lim="800000"/>
            <a:headEnd/>
            <a:tailEnd/>
          </a:ln>
        </p:spPr>
        <p:txBody>
          <a:bodyPr wrap="none" lIns="0" tIns="0" rIns="0" bIns="0">
            <a:spAutoFit/>
          </a:bodyPr>
          <a:lstStyle/>
          <a:p>
            <a:pPr eaLnBrk="1" hangingPunct="1"/>
            <a:r>
              <a:rPr lang="en-US" altLang="zh-CN" sz="1000">
                <a:solidFill>
                  <a:srgbClr val="FFFF00"/>
                </a:solidFill>
                <a:latin typeface="Georgia" panose="02040502050405020303" pitchFamily="18" charset="0"/>
                <a:ea typeface="SimSun" pitchFamily="2" charset="-122"/>
              </a:rPr>
              <a:t>Polyethylene</a:t>
            </a:r>
            <a:endParaRPr lang="en-US" altLang="zh-CN" sz="2400" b="1">
              <a:latin typeface="Georgia" panose="02040502050405020303" pitchFamily="18" charset="0"/>
              <a:ea typeface="SimSun" pitchFamily="2" charset="-122"/>
            </a:endParaRPr>
          </a:p>
        </p:txBody>
      </p:sp>
      <p:sp>
        <p:nvSpPr>
          <p:cNvPr id="73752" name="Rectangle 26"/>
          <p:cNvSpPr>
            <a:spLocks noChangeArrowheads="1"/>
          </p:cNvSpPr>
          <p:nvPr/>
        </p:nvSpPr>
        <p:spPr bwMode="auto">
          <a:xfrm>
            <a:off x="5583238" y="3630613"/>
            <a:ext cx="622300" cy="225425"/>
          </a:xfrm>
          <a:prstGeom prst="rect">
            <a:avLst/>
          </a:prstGeom>
          <a:noFill/>
          <a:ln w="9525">
            <a:noFill/>
            <a:miter lim="800000"/>
            <a:headEnd/>
            <a:tailEnd/>
          </a:ln>
        </p:spPr>
        <p:txBody>
          <a:bodyPr/>
          <a:lstStyle/>
          <a:p>
            <a:endParaRPr lang="zh-CN" altLang="zh-CN">
              <a:latin typeface="Georgia" panose="02040502050405020303" pitchFamily="18" charset="0"/>
              <a:ea typeface="SimSun" pitchFamily="2" charset="-122"/>
            </a:endParaRPr>
          </a:p>
        </p:txBody>
      </p:sp>
      <p:sp>
        <p:nvSpPr>
          <p:cNvPr id="73753" name="Rectangle 27"/>
          <p:cNvSpPr>
            <a:spLocks noChangeArrowheads="1"/>
          </p:cNvSpPr>
          <p:nvPr/>
        </p:nvSpPr>
        <p:spPr bwMode="auto">
          <a:xfrm>
            <a:off x="5583238" y="3675063"/>
            <a:ext cx="543418" cy="153888"/>
          </a:xfrm>
          <a:prstGeom prst="rect">
            <a:avLst/>
          </a:prstGeom>
          <a:noFill/>
          <a:ln w="9525">
            <a:noFill/>
            <a:miter lim="800000"/>
            <a:headEnd/>
            <a:tailEnd/>
          </a:ln>
        </p:spPr>
        <p:txBody>
          <a:bodyPr wrap="none" lIns="0" tIns="0" rIns="0" bIns="0">
            <a:spAutoFit/>
          </a:bodyPr>
          <a:lstStyle/>
          <a:p>
            <a:pPr eaLnBrk="1" hangingPunct="1"/>
            <a:r>
              <a:rPr lang="en-US" altLang="zh-CN" sz="1000">
                <a:solidFill>
                  <a:srgbClr val="FFFF00"/>
                </a:solidFill>
                <a:latin typeface="Georgia" panose="02040502050405020303" pitchFamily="18" charset="0"/>
                <a:ea typeface="SimSun" pitchFamily="2" charset="-122"/>
              </a:rPr>
              <a:t>Substrate</a:t>
            </a:r>
            <a:endParaRPr lang="en-US" altLang="zh-CN" sz="2400" b="1">
              <a:latin typeface="Georgia" panose="02040502050405020303" pitchFamily="18" charset="0"/>
              <a:ea typeface="SimSun" pitchFamily="2" charset="-122"/>
            </a:endParaRPr>
          </a:p>
        </p:txBody>
      </p:sp>
      <p:sp>
        <p:nvSpPr>
          <p:cNvPr id="73754" name="Rectangle 28"/>
          <p:cNvSpPr>
            <a:spLocks noChangeArrowheads="1"/>
          </p:cNvSpPr>
          <p:nvPr/>
        </p:nvSpPr>
        <p:spPr bwMode="auto">
          <a:xfrm>
            <a:off x="4646613" y="4322763"/>
            <a:ext cx="973137" cy="225425"/>
          </a:xfrm>
          <a:prstGeom prst="rect">
            <a:avLst/>
          </a:prstGeom>
          <a:noFill/>
          <a:ln w="9525">
            <a:noFill/>
            <a:miter lim="800000"/>
            <a:headEnd/>
            <a:tailEnd/>
          </a:ln>
        </p:spPr>
        <p:txBody>
          <a:bodyPr/>
          <a:lstStyle/>
          <a:p>
            <a:endParaRPr lang="zh-CN" altLang="zh-CN">
              <a:latin typeface="Georgia" panose="02040502050405020303" pitchFamily="18" charset="0"/>
              <a:ea typeface="SimSun" pitchFamily="2" charset="-122"/>
            </a:endParaRPr>
          </a:p>
        </p:txBody>
      </p:sp>
      <p:sp>
        <p:nvSpPr>
          <p:cNvPr id="73755" name="Rectangle 29"/>
          <p:cNvSpPr>
            <a:spLocks noChangeArrowheads="1"/>
          </p:cNvSpPr>
          <p:nvPr/>
        </p:nvSpPr>
        <p:spPr bwMode="auto">
          <a:xfrm>
            <a:off x="5583238" y="4365625"/>
            <a:ext cx="884858" cy="153888"/>
          </a:xfrm>
          <a:prstGeom prst="rect">
            <a:avLst/>
          </a:prstGeom>
          <a:noFill/>
          <a:ln w="9525">
            <a:noFill/>
            <a:miter lim="800000"/>
            <a:headEnd/>
            <a:tailEnd/>
          </a:ln>
        </p:spPr>
        <p:txBody>
          <a:bodyPr wrap="none" lIns="0" tIns="0" rIns="0" bIns="0">
            <a:spAutoFit/>
          </a:bodyPr>
          <a:lstStyle/>
          <a:p>
            <a:pPr eaLnBrk="1" hangingPunct="1"/>
            <a:r>
              <a:rPr lang="en-US" altLang="zh-CN" sz="1000">
                <a:solidFill>
                  <a:srgbClr val="FFFF00"/>
                </a:solidFill>
                <a:latin typeface="Georgia" panose="02040502050405020303" pitchFamily="18" charset="0"/>
                <a:ea typeface="SimSun" pitchFamily="2" charset="-122"/>
              </a:rPr>
              <a:t>Adhesion Layer</a:t>
            </a:r>
            <a:endParaRPr lang="en-US" altLang="zh-CN" sz="2400" b="1">
              <a:latin typeface="Georgia" panose="02040502050405020303" pitchFamily="18" charset="0"/>
              <a:ea typeface="SimSun" pitchFamily="2" charset="-122"/>
            </a:endParaRPr>
          </a:p>
        </p:txBody>
      </p:sp>
      <p:sp>
        <p:nvSpPr>
          <p:cNvPr id="73756" name="Rectangle 30"/>
          <p:cNvSpPr>
            <a:spLocks noChangeArrowheads="1"/>
          </p:cNvSpPr>
          <p:nvPr/>
        </p:nvSpPr>
        <p:spPr bwMode="auto">
          <a:xfrm>
            <a:off x="4764088" y="5386388"/>
            <a:ext cx="669925" cy="223837"/>
          </a:xfrm>
          <a:prstGeom prst="rect">
            <a:avLst/>
          </a:prstGeom>
          <a:noFill/>
          <a:ln w="9525">
            <a:noFill/>
            <a:miter lim="800000"/>
            <a:headEnd/>
            <a:tailEnd/>
          </a:ln>
        </p:spPr>
        <p:txBody>
          <a:bodyPr/>
          <a:lstStyle/>
          <a:p>
            <a:endParaRPr lang="zh-CN" altLang="zh-CN">
              <a:latin typeface="Georgia" panose="02040502050405020303" pitchFamily="18" charset="0"/>
              <a:ea typeface="SimSun" pitchFamily="2" charset="-122"/>
            </a:endParaRPr>
          </a:p>
        </p:txBody>
      </p:sp>
      <p:sp>
        <p:nvSpPr>
          <p:cNvPr id="73757" name="Rectangle 31"/>
          <p:cNvSpPr>
            <a:spLocks noChangeArrowheads="1"/>
          </p:cNvSpPr>
          <p:nvPr/>
        </p:nvSpPr>
        <p:spPr bwMode="auto">
          <a:xfrm>
            <a:off x="5583238" y="5429250"/>
            <a:ext cx="556243" cy="153888"/>
          </a:xfrm>
          <a:prstGeom prst="rect">
            <a:avLst/>
          </a:prstGeom>
          <a:noFill/>
          <a:ln w="9525">
            <a:noFill/>
            <a:miter lim="800000"/>
            <a:headEnd/>
            <a:tailEnd/>
          </a:ln>
        </p:spPr>
        <p:txBody>
          <a:bodyPr wrap="none" lIns="0" tIns="0" rIns="0" bIns="0">
            <a:spAutoFit/>
          </a:bodyPr>
          <a:lstStyle/>
          <a:p>
            <a:pPr eaLnBrk="1" hangingPunct="1"/>
            <a:r>
              <a:rPr lang="en-US" altLang="zh-CN" sz="1000">
                <a:solidFill>
                  <a:srgbClr val="FFFF00"/>
                </a:solidFill>
                <a:latin typeface="Georgia" panose="02040502050405020303" pitchFamily="18" charset="0"/>
                <a:ea typeface="SimSun" pitchFamily="2" charset="-122"/>
              </a:rPr>
              <a:t>Base Coat</a:t>
            </a:r>
            <a:endParaRPr lang="en-US" altLang="zh-CN" sz="2400" b="1">
              <a:latin typeface="Georgia" panose="02040502050405020303" pitchFamily="18" charset="0"/>
              <a:ea typeface="SimSun" pitchFamily="2" charset="-122"/>
            </a:endParaRPr>
          </a:p>
        </p:txBody>
      </p:sp>
      <p:sp>
        <p:nvSpPr>
          <p:cNvPr id="73758" name="Rectangle 32"/>
          <p:cNvSpPr>
            <a:spLocks noChangeArrowheads="1"/>
          </p:cNvSpPr>
          <p:nvPr/>
        </p:nvSpPr>
        <p:spPr bwMode="auto">
          <a:xfrm>
            <a:off x="4703763" y="6003925"/>
            <a:ext cx="698500" cy="225425"/>
          </a:xfrm>
          <a:prstGeom prst="rect">
            <a:avLst/>
          </a:prstGeom>
          <a:noFill/>
          <a:ln w="9525">
            <a:noFill/>
            <a:miter lim="800000"/>
            <a:headEnd/>
            <a:tailEnd/>
          </a:ln>
        </p:spPr>
        <p:txBody>
          <a:bodyPr/>
          <a:lstStyle/>
          <a:p>
            <a:endParaRPr lang="zh-CN" altLang="zh-CN">
              <a:latin typeface="Georgia" panose="02040502050405020303" pitchFamily="18" charset="0"/>
              <a:ea typeface="SimSun" pitchFamily="2" charset="-122"/>
            </a:endParaRPr>
          </a:p>
        </p:txBody>
      </p:sp>
      <p:sp>
        <p:nvSpPr>
          <p:cNvPr id="73759" name="Rectangle 33"/>
          <p:cNvSpPr>
            <a:spLocks noChangeArrowheads="1"/>
          </p:cNvSpPr>
          <p:nvPr/>
        </p:nvSpPr>
        <p:spPr bwMode="auto">
          <a:xfrm>
            <a:off x="4770438" y="6046788"/>
            <a:ext cx="588303" cy="153888"/>
          </a:xfrm>
          <a:prstGeom prst="rect">
            <a:avLst/>
          </a:prstGeom>
          <a:noFill/>
          <a:ln w="9525">
            <a:noFill/>
            <a:miter lim="800000"/>
            <a:headEnd/>
            <a:tailEnd/>
          </a:ln>
        </p:spPr>
        <p:txBody>
          <a:bodyPr wrap="none" lIns="0" tIns="0" rIns="0" bIns="0">
            <a:spAutoFit/>
          </a:bodyPr>
          <a:lstStyle/>
          <a:p>
            <a:pPr eaLnBrk="1" hangingPunct="1"/>
            <a:r>
              <a:rPr lang="en-US" altLang="zh-CN" sz="1000">
                <a:solidFill>
                  <a:srgbClr val="000000"/>
                </a:solidFill>
                <a:latin typeface="Georgia" panose="02040502050405020303" pitchFamily="18" charset="0"/>
                <a:ea typeface="SimSun" pitchFamily="2" charset="-122"/>
              </a:rPr>
              <a:t>Clear Coat</a:t>
            </a:r>
            <a:endParaRPr lang="en-US" altLang="zh-CN" sz="2400" b="1">
              <a:latin typeface="Georgia" panose="02040502050405020303" pitchFamily="18" charset="0"/>
              <a:ea typeface="SimSun" pitchFamily="2" charset="-122"/>
            </a:endParaRPr>
          </a:p>
        </p:txBody>
      </p:sp>
      <p:sp>
        <p:nvSpPr>
          <p:cNvPr id="73760" name="Rectangle 34"/>
          <p:cNvSpPr>
            <a:spLocks noChangeArrowheads="1"/>
          </p:cNvSpPr>
          <p:nvPr/>
        </p:nvSpPr>
        <p:spPr bwMode="auto">
          <a:xfrm>
            <a:off x="7008813" y="3425825"/>
            <a:ext cx="927100" cy="225425"/>
          </a:xfrm>
          <a:prstGeom prst="rect">
            <a:avLst/>
          </a:prstGeom>
          <a:noFill/>
          <a:ln w="9525">
            <a:noFill/>
            <a:miter lim="800000"/>
            <a:headEnd/>
            <a:tailEnd/>
          </a:ln>
        </p:spPr>
        <p:txBody>
          <a:bodyPr/>
          <a:lstStyle/>
          <a:p>
            <a:endParaRPr lang="zh-CN" altLang="zh-CN">
              <a:latin typeface="Georgia" panose="02040502050405020303" pitchFamily="18" charset="0"/>
              <a:ea typeface="SimSun" pitchFamily="2" charset="-122"/>
            </a:endParaRPr>
          </a:p>
        </p:txBody>
      </p:sp>
      <p:sp>
        <p:nvSpPr>
          <p:cNvPr id="73761" name="Rectangle 35"/>
          <p:cNvSpPr>
            <a:spLocks noChangeArrowheads="1"/>
          </p:cNvSpPr>
          <p:nvPr/>
        </p:nvSpPr>
        <p:spPr bwMode="auto">
          <a:xfrm>
            <a:off x="7108825" y="3470275"/>
            <a:ext cx="804707" cy="153888"/>
          </a:xfrm>
          <a:prstGeom prst="rect">
            <a:avLst/>
          </a:prstGeom>
          <a:noFill/>
          <a:ln w="9525">
            <a:noFill/>
            <a:miter lim="800000"/>
            <a:headEnd/>
            <a:tailEnd/>
          </a:ln>
        </p:spPr>
        <p:txBody>
          <a:bodyPr wrap="none" lIns="0" tIns="0" rIns="0" bIns="0">
            <a:spAutoFit/>
          </a:bodyPr>
          <a:lstStyle/>
          <a:p>
            <a:pPr eaLnBrk="1" hangingPunct="1"/>
            <a:r>
              <a:rPr lang="en-US" altLang="zh-CN" sz="1000">
                <a:solidFill>
                  <a:srgbClr val="FFFF00"/>
                </a:solidFill>
                <a:latin typeface="Georgia" panose="02040502050405020303" pitchFamily="18" charset="0"/>
                <a:ea typeface="SimSun" pitchFamily="2" charset="-122"/>
              </a:rPr>
              <a:t>Mapping Area</a:t>
            </a:r>
            <a:endParaRPr lang="en-US" altLang="zh-CN" sz="2400" b="1">
              <a:latin typeface="Georgia" panose="02040502050405020303" pitchFamily="18" charset="0"/>
              <a:ea typeface="SimSun" pitchFamily="2" charset="-122"/>
            </a:endParaRPr>
          </a:p>
        </p:txBody>
      </p:sp>
      <p:sp>
        <p:nvSpPr>
          <p:cNvPr id="73762" name="Rectangle 36"/>
          <p:cNvSpPr>
            <a:spLocks noChangeArrowheads="1"/>
          </p:cNvSpPr>
          <p:nvPr/>
        </p:nvSpPr>
        <p:spPr bwMode="auto">
          <a:xfrm>
            <a:off x="7089775" y="6199188"/>
            <a:ext cx="733425" cy="203200"/>
          </a:xfrm>
          <a:prstGeom prst="rect">
            <a:avLst/>
          </a:prstGeom>
          <a:noFill/>
          <a:ln w="9525">
            <a:noFill/>
            <a:miter lim="800000"/>
            <a:headEnd/>
            <a:tailEnd/>
          </a:ln>
        </p:spPr>
        <p:txBody>
          <a:bodyPr/>
          <a:lstStyle/>
          <a:p>
            <a:endParaRPr lang="zh-CN" altLang="zh-CN">
              <a:latin typeface="Georgia" panose="02040502050405020303" pitchFamily="18" charset="0"/>
              <a:ea typeface="SimSun" pitchFamily="2" charset="-122"/>
            </a:endParaRPr>
          </a:p>
        </p:txBody>
      </p:sp>
      <p:sp>
        <p:nvSpPr>
          <p:cNvPr id="73763" name="Rectangle 37"/>
          <p:cNvSpPr>
            <a:spLocks noChangeArrowheads="1"/>
          </p:cNvSpPr>
          <p:nvPr/>
        </p:nvSpPr>
        <p:spPr bwMode="auto">
          <a:xfrm>
            <a:off x="7156450" y="6240463"/>
            <a:ext cx="503343" cy="138499"/>
          </a:xfrm>
          <a:prstGeom prst="rect">
            <a:avLst/>
          </a:prstGeom>
          <a:noFill/>
          <a:ln w="9525">
            <a:noFill/>
            <a:miter lim="800000"/>
            <a:headEnd/>
            <a:tailEnd/>
          </a:ln>
        </p:spPr>
        <p:txBody>
          <a:bodyPr wrap="none" lIns="0" tIns="0" rIns="0" bIns="0">
            <a:spAutoFit/>
          </a:bodyPr>
          <a:lstStyle/>
          <a:p>
            <a:pPr eaLnBrk="1" hangingPunct="1"/>
            <a:r>
              <a:rPr lang="en-US" altLang="zh-CN" sz="900">
                <a:solidFill>
                  <a:srgbClr val="000000"/>
                </a:solidFill>
                <a:latin typeface="Georgia" panose="02040502050405020303" pitchFamily="18" charset="0"/>
                <a:ea typeface="SimSun" pitchFamily="2" charset="-122"/>
              </a:rPr>
              <a:t>695 x 320</a:t>
            </a:r>
            <a:endParaRPr lang="en-US" altLang="zh-CN" sz="2400" b="1">
              <a:latin typeface="Georgia" panose="02040502050405020303" pitchFamily="18" charset="0"/>
              <a:ea typeface="SimSun" pitchFamily="2" charset="-122"/>
            </a:endParaRPr>
          </a:p>
        </p:txBody>
      </p:sp>
      <p:sp>
        <p:nvSpPr>
          <p:cNvPr id="73764" name="Rectangle 38"/>
          <p:cNvSpPr>
            <a:spLocks noChangeArrowheads="1"/>
          </p:cNvSpPr>
          <p:nvPr/>
        </p:nvSpPr>
        <p:spPr bwMode="auto">
          <a:xfrm>
            <a:off x="7604125" y="6240463"/>
            <a:ext cx="65724" cy="138499"/>
          </a:xfrm>
          <a:prstGeom prst="rect">
            <a:avLst/>
          </a:prstGeom>
          <a:noFill/>
          <a:ln w="9525">
            <a:noFill/>
            <a:miter lim="800000"/>
            <a:headEnd/>
            <a:tailEnd/>
          </a:ln>
        </p:spPr>
        <p:txBody>
          <a:bodyPr wrap="none" lIns="0" tIns="0" rIns="0" bIns="0">
            <a:spAutoFit/>
          </a:bodyPr>
          <a:lstStyle/>
          <a:p>
            <a:pPr eaLnBrk="1" hangingPunct="1"/>
            <a:r>
              <a:rPr lang="en-US" altLang="zh-CN" sz="900">
                <a:solidFill>
                  <a:srgbClr val="000000"/>
                </a:solidFill>
                <a:latin typeface="Georgia" panose="02040502050405020303" pitchFamily="18" charset="0"/>
                <a:ea typeface="SimSun" pitchFamily="2" charset="-122"/>
              </a:rPr>
              <a:t>µ</a:t>
            </a:r>
            <a:endParaRPr lang="en-US" altLang="zh-CN" sz="2400" b="1">
              <a:latin typeface="Georgia" panose="02040502050405020303" pitchFamily="18" charset="0"/>
              <a:ea typeface="SimSun" pitchFamily="2" charset="-122"/>
            </a:endParaRPr>
          </a:p>
        </p:txBody>
      </p:sp>
      <p:sp>
        <p:nvSpPr>
          <p:cNvPr id="73765" name="Rectangle 39"/>
          <p:cNvSpPr>
            <a:spLocks noChangeArrowheads="1"/>
          </p:cNvSpPr>
          <p:nvPr/>
        </p:nvSpPr>
        <p:spPr bwMode="auto">
          <a:xfrm>
            <a:off x="7667625" y="6240463"/>
            <a:ext cx="100990" cy="138499"/>
          </a:xfrm>
          <a:prstGeom prst="rect">
            <a:avLst/>
          </a:prstGeom>
          <a:noFill/>
          <a:ln w="9525">
            <a:noFill/>
            <a:miter lim="800000"/>
            <a:headEnd/>
            <a:tailEnd/>
          </a:ln>
        </p:spPr>
        <p:txBody>
          <a:bodyPr wrap="none" lIns="0" tIns="0" rIns="0" bIns="0">
            <a:spAutoFit/>
          </a:bodyPr>
          <a:lstStyle/>
          <a:p>
            <a:pPr eaLnBrk="1" hangingPunct="1"/>
            <a:r>
              <a:rPr lang="en-US" altLang="zh-CN" sz="900">
                <a:solidFill>
                  <a:srgbClr val="000000"/>
                </a:solidFill>
                <a:latin typeface="Georgia" panose="02040502050405020303" pitchFamily="18" charset="0"/>
                <a:ea typeface="SimSun" pitchFamily="2" charset="-122"/>
              </a:rPr>
              <a:t>m</a:t>
            </a:r>
            <a:endParaRPr lang="en-US" altLang="zh-CN" sz="2400" b="1">
              <a:latin typeface="Georgia" panose="02040502050405020303" pitchFamily="18" charset="0"/>
              <a:ea typeface="SimSun" pitchFamily="2" charset="-122"/>
            </a:endParaRPr>
          </a:p>
        </p:txBody>
      </p:sp>
      <p:pic>
        <p:nvPicPr>
          <p:cNvPr id="73766" name="Picture 40"/>
          <p:cNvPicPr>
            <a:picLocks noChangeAspect="1" noChangeArrowheads="1"/>
          </p:cNvPicPr>
          <p:nvPr/>
        </p:nvPicPr>
        <p:blipFill>
          <a:blip r:embed="rId3" cstate="print"/>
          <a:srcRect/>
          <a:stretch>
            <a:fillRect/>
          </a:stretch>
        </p:blipFill>
        <p:spPr bwMode="auto">
          <a:xfrm>
            <a:off x="457200" y="1828800"/>
            <a:ext cx="5026025" cy="3009900"/>
          </a:xfrm>
          <a:prstGeom prst="rect">
            <a:avLst/>
          </a:prstGeom>
          <a:noFill/>
          <a:ln w="9525">
            <a:noFill/>
            <a:miter lim="800000"/>
            <a:headEnd/>
            <a:tailEnd/>
          </a:ln>
        </p:spPr>
      </p:pic>
      <p:sp>
        <p:nvSpPr>
          <p:cNvPr id="73767" name="Text Box 41"/>
          <p:cNvSpPr txBox="1">
            <a:spLocks noChangeArrowheads="1"/>
          </p:cNvSpPr>
          <p:nvPr/>
        </p:nvSpPr>
        <p:spPr bwMode="auto">
          <a:xfrm>
            <a:off x="6081713" y="2132013"/>
            <a:ext cx="2913062" cy="457200"/>
          </a:xfrm>
          <a:prstGeom prst="rect">
            <a:avLst/>
          </a:prstGeom>
          <a:noFill/>
          <a:ln w="9525">
            <a:noFill/>
            <a:miter lim="800000"/>
            <a:headEnd/>
            <a:tailEnd/>
          </a:ln>
        </p:spPr>
        <p:txBody>
          <a:bodyPr wrap="none">
            <a:spAutoFit/>
          </a:bodyPr>
          <a:lstStyle/>
          <a:p>
            <a:pPr eaLnBrk="1" hangingPunct="1"/>
            <a:r>
              <a:rPr lang="en-US" altLang="zh-CN" sz="2400">
                <a:solidFill>
                  <a:srgbClr val="660066"/>
                </a:solidFill>
                <a:latin typeface="Georgia" panose="02040502050405020303" pitchFamily="18" charset="0"/>
                <a:ea typeface="SimSun" pitchFamily="2" charset="-122"/>
              </a:rPr>
              <a:t>XPS chemical maps</a:t>
            </a:r>
          </a:p>
        </p:txBody>
      </p:sp>
      <p:sp>
        <p:nvSpPr>
          <p:cNvPr id="73768" name="Line 42"/>
          <p:cNvSpPr>
            <a:spLocks noChangeShapeType="1"/>
          </p:cNvSpPr>
          <p:nvPr/>
        </p:nvSpPr>
        <p:spPr bwMode="auto">
          <a:xfrm>
            <a:off x="5638800" y="2362200"/>
            <a:ext cx="381000" cy="0"/>
          </a:xfrm>
          <a:prstGeom prst="line">
            <a:avLst/>
          </a:prstGeom>
          <a:noFill/>
          <a:ln w="9525">
            <a:solidFill>
              <a:srgbClr val="660066"/>
            </a:solidFill>
            <a:miter lim="800000"/>
            <a:headEnd/>
            <a:tailEnd type="triangle" w="med" len="med"/>
          </a:ln>
        </p:spPr>
        <p:txBody>
          <a:bodyPr wrap="none"/>
          <a:lstStyle/>
          <a:p>
            <a:endParaRPr lang="en-US">
              <a:latin typeface="Georgia" panose="02040502050405020303" pitchFamily="18" charset="0"/>
            </a:endParaRPr>
          </a:p>
        </p:txBody>
      </p:sp>
      <p:sp>
        <p:nvSpPr>
          <p:cNvPr id="73769" name="Text Box 43"/>
          <p:cNvSpPr txBox="1">
            <a:spLocks noChangeArrowheads="1"/>
          </p:cNvSpPr>
          <p:nvPr/>
        </p:nvSpPr>
        <p:spPr bwMode="auto">
          <a:xfrm>
            <a:off x="1143000" y="5561013"/>
            <a:ext cx="2049463" cy="457200"/>
          </a:xfrm>
          <a:prstGeom prst="rect">
            <a:avLst/>
          </a:prstGeom>
          <a:noFill/>
          <a:ln w="9525">
            <a:noFill/>
            <a:miter lim="800000"/>
            <a:headEnd/>
            <a:tailEnd/>
          </a:ln>
        </p:spPr>
        <p:txBody>
          <a:bodyPr wrap="none">
            <a:spAutoFit/>
          </a:bodyPr>
          <a:lstStyle/>
          <a:p>
            <a:pPr eaLnBrk="1" hangingPunct="1"/>
            <a:r>
              <a:rPr lang="en-US" altLang="zh-CN" sz="2400">
                <a:solidFill>
                  <a:schemeClr val="tx2"/>
                </a:solidFill>
                <a:latin typeface="Georgia" panose="02040502050405020303" pitchFamily="18" charset="0"/>
                <a:ea typeface="SimSun" pitchFamily="2" charset="-122"/>
              </a:rPr>
              <a:t>Optical image</a:t>
            </a:r>
          </a:p>
        </p:txBody>
      </p:sp>
      <p:sp>
        <p:nvSpPr>
          <p:cNvPr id="73770" name="Line 44"/>
          <p:cNvSpPr>
            <a:spLocks noChangeShapeType="1"/>
          </p:cNvSpPr>
          <p:nvPr/>
        </p:nvSpPr>
        <p:spPr bwMode="auto">
          <a:xfrm flipH="1">
            <a:off x="3200400" y="5791200"/>
            <a:ext cx="838200" cy="0"/>
          </a:xfrm>
          <a:prstGeom prst="line">
            <a:avLst/>
          </a:prstGeom>
          <a:noFill/>
          <a:ln w="9525">
            <a:solidFill>
              <a:schemeClr val="tx2"/>
            </a:solidFill>
            <a:miter lim="800000"/>
            <a:headEnd/>
            <a:tailEnd type="triangle" w="med" len="med"/>
          </a:ln>
        </p:spPr>
        <p:txBody>
          <a:bodyPr wrap="none"/>
          <a:lstStyle/>
          <a:p>
            <a:endParaRPr lang="en-US">
              <a:latin typeface="Georgia" panose="02040502050405020303" pitchFamily="18" charset="0"/>
            </a:endParaRPr>
          </a:p>
        </p:txBody>
      </p:sp>
      <p:sp>
        <p:nvSpPr>
          <p:cNvPr id="73771" name="Rectangle 45"/>
          <p:cNvSpPr>
            <a:spLocks noChangeArrowheads="1"/>
          </p:cNvSpPr>
          <p:nvPr/>
        </p:nvSpPr>
        <p:spPr bwMode="auto">
          <a:xfrm>
            <a:off x="1219200" y="1066800"/>
            <a:ext cx="6934200" cy="457200"/>
          </a:xfrm>
          <a:prstGeom prst="rect">
            <a:avLst/>
          </a:prstGeom>
          <a:noFill/>
          <a:ln w="9525">
            <a:noFill/>
            <a:miter lim="800000"/>
            <a:headEnd/>
            <a:tailEnd/>
          </a:ln>
        </p:spPr>
        <p:txBody>
          <a:bodyPr>
            <a:spAutoFit/>
          </a:bodyPr>
          <a:lstStyle/>
          <a:p>
            <a:pPr algn="ctr" eaLnBrk="1" hangingPunct="1"/>
            <a:r>
              <a:rPr lang="en-US" altLang="zh-TW" sz="2400" dirty="0">
                <a:latin typeface="Georgia" panose="02040502050405020303" pitchFamily="18" charset="0"/>
                <a:ea typeface="新細明體" pitchFamily="18" charset="-120"/>
              </a:rPr>
              <a:t>Mapping technology</a:t>
            </a:r>
          </a:p>
        </p:txBody>
      </p:sp>
      <p:sp>
        <p:nvSpPr>
          <p:cNvPr id="2" name="Slide Number Placeholder 1">
            <a:extLst>
              <a:ext uri="{FF2B5EF4-FFF2-40B4-BE49-F238E27FC236}">
                <a16:creationId xmlns:a16="http://schemas.microsoft.com/office/drawing/2014/main" id="{5DDF71A0-FA95-4636-A7D5-C0E9AC118328}"/>
              </a:ext>
            </a:extLst>
          </p:cNvPr>
          <p:cNvSpPr>
            <a:spLocks noGrp="1"/>
          </p:cNvSpPr>
          <p:nvPr>
            <p:ph type="sldNum" sz="quarter" idx="11"/>
          </p:nvPr>
        </p:nvSpPr>
        <p:spPr/>
        <p:txBody>
          <a:bodyPr/>
          <a:lstStyle/>
          <a:p>
            <a:pPr>
              <a:defRPr/>
            </a:pPr>
            <a:fld id="{EBF73BDF-690D-4725-BA10-A7934ED52EAB}" type="slidenum">
              <a:rPr lang="zh-TW" altLang="en-US" smtClean="0"/>
              <a:pPr>
                <a:defRPr/>
              </a:pPr>
              <a:t>90</a:t>
            </a:fld>
            <a:endParaRPr lang="en-US" altLang="zh-TW"/>
          </a:p>
        </p:txBody>
      </p:sp>
      <p:sp>
        <p:nvSpPr>
          <p:cNvPr id="3" name="Rectangle 8">
            <a:extLst>
              <a:ext uri="{FF2B5EF4-FFF2-40B4-BE49-F238E27FC236}">
                <a16:creationId xmlns:a16="http://schemas.microsoft.com/office/drawing/2014/main" id="{0C1EFFD6-F0E7-A2B4-6197-72695EB547F5}"/>
              </a:ext>
            </a:extLst>
          </p:cNvPr>
          <p:cNvSpPr>
            <a:spLocks noChangeArrowheads="1"/>
          </p:cNvSpPr>
          <p:nvPr/>
        </p:nvSpPr>
        <p:spPr bwMode="auto">
          <a:xfrm>
            <a:off x="685800" y="179388"/>
            <a:ext cx="8229600" cy="457200"/>
          </a:xfrm>
          <a:prstGeom prst="rect">
            <a:avLst/>
          </a:prstGeom>
          <a:noFill/>
          <a:ln w="9525">
            <a:noFill/>
            <a:miter lim="800000"/>
            <a:headEnd/>
            <a:tailEnd/>
          </a:ln>
        </p:spPr>
        <p:txBody>
          <a:bodyPr anchor="ctr"/>
          <a:lstStyle/>
          <a:p>
            <a:pPr eaLnBrk="1" hangingPunct="1"/>
            <a:r>
              <a:rPr lang="en-US" altLang="zh-TW" sz="2000" dirty="0">
                <a:solidFill>
                  <a:schemeClr val="bg1"/>
                </a:solidFill>
                <a:latin typeface="Georgia" panose="02040502050405020303" pitchFamily="18" charset="0"/>
                <a:ea typeface="新細明體" pitchFamily="18" charset="-120"/>
              </a:rPr>
              <a:t>XPS imaging: chemical map: example</a:t>
            </a:r>
            <a:endParaRPr lang="en-US" altLang="zh-TW" sz="2000" dirty="0">
              <a:solidFill>
                <a:schemeClr val="bg2">
                  <a:lumMod val="40000"/>
                  <a:lumOff val="60000"/>
                </a:schemeClr>
              </a:solidFill>
              <a:latin typeface="Georgia" panose="02040502050405020303" pitchFamily="18" charset="0"/>
              <a:ea typeface="新細明體" pitchFamily="18" charset="-120"/>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502" name="Text Box 6"/>
          <p:cNvSpPr txBox="1">
            <a:spLocks noChangeArrowheads="1"/>
          </p:cNvSpPr>
          <p:nvPr/>
        </p:nvSpPr>
        <p:spPr bwMode="auto">
          <a:xfrm>
            <a:off x="685800" y="1143000"/>
            <a:ext cx="7696200" cy="4486275"/>
          </a:xfrm>
          <a:prstGeom prst="rect">
            <a:avLst/>
          </a:prstGeom>
          <a:noFill/>
          <a:ln w="9525">
            <a:noFill/>
            <a:miter lim="800000"/>
            <a:headEnd/>
            <a:tailEnd/>
          </a:ln>
          <a:effectLst/>
        </p:spPr>
        <p:txBody>
          <a:bodyPr>
            <a:spAutoFit/>
          </a:bodyPr>
          <a:lstStyle/>
          <a:p>
            <a:pPr>
              <a:buFontTx/>
              <a:buChar char="•"/>
            </a:pPr>
            <a:r>
              <a:rPr lang="en-US" altLang="zh-CN" dirty="0">
                <a:solidFill>
                  <a:srgbClr val="0000FF"/>
                </a:solidFill>
                <a:latin typeface="Georgia" panose="02040502050405020303" pitchFamily="18" charset="0"/>
                <a:ea typeface="宋体" pitchFamily="2" charset="-122"/>
              </a:rPr>
              <a:t>X-Ray Photoelectron Spectroscopy (XPS), also know as Electron Spectroscopy for Chemical Analysis (ESCA)</a:t>
            </a:r>
            <a:r>
              <a:rPr lang="en-US" altLang="zh-CN" dirty="0">
                <a:latin typeface="Georgia" panose="02040502050405020303" pitchFamily="18" charset="0"/>
                <a:ea typeface="宋体" pitchFamily="2" charset="-122"/>
              </a:rPr>
              <a:t>,  is a quantitative spectroscopic technique that measures the elemental composition, chemical state and electronic state of the elements that exist within a material. </a:t>
            </a:r>
          </a:p>
          <a:p>
            <a:pPr>
              <a:buFontTx/>
              <a:buChar char="•"/>
            </a:pPr>
            <a:endParaRPr lang="en-US" altLang="zh-CN" dirty="0">
              <a:latin typeface="Georgia" panose="02040502050405020303" pitchFamily="18" charset="0"/>
              <a:ea typeface="宋体" pitchFamily="2" charset="-122"/>
            </a:endParaRPr>
          </a:p>
          <a:p>
            <a:pPr>
              <a:buFontTx/>
              <a:buChar char="•"/>
            </a:pPr>
            <a:r>
              <a:rPr lang="en-US" altLang="zh-CN" dirty="0">
                <a:latin typeface="Georgia" panose="02040502050405020303" pitchFamily="18" charset="0"/>
                <a:ea typeface="宋体" pitchFamily="2" charset="-122"/>
              </a:rPr>
              <a:t>XPS spectra are obtained by</a:t>
            </a:r>
            <a:r>
              <a:rPr lang="en-US" altLang="zh-CN" dirty="0">
                <a:solidFill>
                  <a:srgbClr val="0000FF"/>
                </a:solidFill>
                <a:latin typeface="Georgia" panose="02040502050405020303" pitchFamily="18" charset="0"/>
                <a:ea typeface="宋体" pitchFamily="2" charset="-122"/>
              </a:rPr>
              <a:t> irradiating a material with a beam of X-rays</a:t>
            </a:r>
            <a:r>
              <a:rPr lang="en-US" altLang="zh-CN" dirty="0">
                <a:latin typeface="Georgia" panose="02040502050405020303" pitchFamily="18" charset="0"/>
                <a:ea typeface="宋体" pitchFamily="2" charset="-122"/>
              </a:rPr>
              <a:t> while simultaneously </a:t>
            </a:r>
            <a:r>
              <a:rPr lang="en-US" altLang="zh-CN" dirty="0">
                <a:solidFill>
                  <a:srgbClr val="0000FF"/>
                </a:solidFill>
                <a:latin typeface="Georgia" panose="02040502050405020303" pitchFamily="18" charset="0"/>
                <a:ea typeface="宋体" pitchFamily="2" charset="-122"/>
              </a:rPr>
              <a:t>measuring the kinetic energy and number of electrons</a:t>
            </a:r>
            <a:r>
              <a:rPr lang="en-US" altLang="zh-CN" dirty="0">
                <a:latin typeface="Georgia" panose="02040502050405020303" pitchFamily="18" charset="0"/>
                <a:ea typeface="宋体" pitchFamily="2" charset="-122"/>
              </a:rPr>
              <a:t> that escape from the top 1 to 10 nm of the material being analyzed.</a:t>
            </a:r>
          </a:p>
          <a:p>
            <a:pPr>
              <a:buFontTx/>
              <a:buChar char="•"/>
            </a:pPr>
            <a:endParaRPr lang="en-US" altLang="zh-CN" dirty="0">
              <a:latin typeface="Georgia" panose="02040502050405020303" pitchFamily="18" charset="0"/>
              <a:ea typeface="宋体" pitchFamily="2" charset="-122"/>
            </a:endParaRPr>
          </a:p>
          <a:p>
            <a:pPr>
              <a:buFontTx/>
              <a:buChar char="•"/>
            </a:pPr>
            <a:r>
              <a:rPr lang="en-US" altLang="zh-CN" dirty="0">
                <a:latin typeface="Georgia" panose="02040502050405020303" pitchFamily="18" charset="0"/>
                <a:ea typeface="宋体" pitchFamily="2" charset="-122"/>
              </a:rPr>
              <a:t>Electrons originating from the </a:t>
            </a:r>
            <a:r>
              <a:rPr lang="en-US" altLang="zh-CN" dirty="0">
                <a:solidFill>
                  <a:srgbClr val="0000FF"/>
                </a:solidFill>
                <a:latin typeface="Georgia" panose="02040502050405020303" pitchFamily="18" charset="0"/>
                <a:ea typeface="宋体" pitchFamily="2" charset="-122"/>
              </a:rPr>
              <a:t>core levels</a:t>
            </a:r>
            <a:r>
              <a:rPr lang="en-US" altLang="zh-CN" dirty="0">
                <a:latin typeface="Georgia" panose="02040502050405020303" pitchFamily="18" charset="0"/>
                <a:ea typeface="宋体" pitchFamily="2" charset="-122"/>
              </a:rPr>
              <a:t> identify the elements present from their binding energies (BE). Small chemical shifts in the BEs provide additional chemical state information. The relative concentrations of the different elements present can be determined from the relative peak intensities.</a:t>
            </a:r>
          </a:p>
        </p:txBody>
      </p:sp>
      <p:sp>
        <p:nvSpPr>
          <p:cNvPr id="6" name="Rectangle 46"/>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dirty="0">
                <a:solidFill>
                  <a:schemeClr val="bg1"/>
                </a:solidFill>
                <a:latin typeface="Georgia" panose="02040502050405020303" pitchFamily="18" charset="0"/>
                <a:ea typeface="新細明體" pitchFamily="18" charset="-120"/>
              </a:rPr>
              <a:t>Summary Notes</a:t>
            </a:r>
          </a:p>
        </p:txBody>
      </p:sp>
      <p:sp>
        <p:nvSpPr>
          <p:cNvPr id="2" name="Slide Number Placeholder 1">
            <a:extLst>
              <a:ext uri="{FF2B5EF4-FFF2-40B4-BE49-F238E27FC236}">
                <a16:creationId xmlns:a16="http://schemas.microsoft.com/office/drawing/2014/main" id="{4F5808CF-6DCF-4A6E-A019-42EF9CB62C26}"/>
              </a:ext>
            </a:extLst>
          </p:cNvPr>
          <p:cNvSpPr>
            <a:spLocks noGrp="1"/>
          </p:cNvSpPr>
          <p:nvPr>
            <p:ph type="sldNum" sz="quarter" idx="11"/>
          </p:nvPr>
        </p:nvSpPr>
        <p:spPr/>
        <p:txBody>
          <a:bodyPr/>
          <a:lstStyle/>
          <a:p>
            <a:pPr>
              <a:defRPr/>
            </a:pPr>
            <a:fld id="{EBF73BDF-690D-4725-BA10-A7934ED52EAB}" type="slidenum">
              <a:rPr lang="zh-TW" altLang="en-US" smtClean="0"/>
              <a:pPr>
                <a:defRPr/>
              </a:pPr>
              <a:t>91</a:t>
            </a:fld>
            <a:endParaRPr lang="en-US" altLang="zh-TW"/>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6" name="Rectangle 4"/>
          <p:cNvSpPr>
            <a:spLocks noChangeArrowheads="1"/>
          </p:cNvSpPr>
          <p:nvPr/>
        </p:nvSpPr>
        <p:spPr bwMode="auto">
          <a:xfrm>
            <a:off x="609600" y="1158875"/>
            <a:ext cx="8153400" cy="4760913"/>
          </a:xfrm>
          <a:prstGeom prst="rect">
            <a:avLst/>
          </a:prstGeom>
          <a:noFill/>
          <a:ln w="9525">
            <a:noFill/>
            <a:miter lim="800000"/>
            <a:headEnd/>
            <a:tailEnd/>
          </a:ln>
          <a:effectLst/>
        </p:spPr>
        <p:txBody>
          <a:bodyPr anchor="ctr">
            <a:spAutoFit/>
          </a:bodyPr>
          <a:lstStyle/>
          <a:p>
            <a:pPr>
              <a:buFontTx/>
              <a:buChar char="•"/>
            </a:pPr>
            <a:r>
              <a:rPr lang="en-US" altLang="zh-CN" dirty="0">
                <a:latin typeface="Georgia" panose="02040502050405020303" pitchFamily="18" charset="0"/>
                <a:ea typeface="宋体" pitchFamily="2" charset="-122"/>
              </a:rPr>
              <a:t>XPS identifies all elements except H and He, because the diameter of these orbitals is so small, reducing the catch probability to almost zero. </a:t>
            </a:r>
          </a:p>
          <a:p>
            <a:pPr>
              <a:buFontTx/>
              <a:buChar char="•"/>
            </a:pPr>
            <a:endParaRPr lang="en-US" altLang="zh-CN" dirty="0">
              <a:latin typeface="Georgia" panose="02040502050405020303" pitchFamily="18" charset="0"/>
              <a:ea typeface="宋体" pitchFamily="2" charset="-122"/>
            </a:endParaRPr>
          </a:p>
          <a:p>
            <a:pPr>
              <a:buFontTx/>
              <a:buChar char="•"/>
            </a:pPr>
            <a:r>
              <a:rPr lang="en-US" altLang="zh-CN" dirty="0">
                <a:latin typeface="Georgia" panose="02040502050405020303" pitchFamily="18" charset="0"/>
                <a:ea typeface="宋体" pitchFamily="2" charset="-122"/>
              </a:rPr>
              <a:t>The strengths of XPS are its </a:t>
            </a:r>
            <a:r>
              <a:rPr lang="en-US" altLang="zh-CN" dirty="0">
                <a:solidFill>
                  <a:srgbClr val="0000FF"/>
                </a:solidFill>
                <a:latin typeface="Georgia" panose="02040502050405020303" pitchFamily="18" charset="0"/>
                <a:ea typeface="宋体" pitchFamily="2" charset="-122"/>
              </a:rPr>
              <a:t>good quantification, its excellent chemical state determination capabilities, its applicability to a wide variety of materials from biological materials to metals, and its generally nondestructive nature.</a:t>
            </a:r>
          </a:p>
          <a:p>
            <a:pPr>
              <a:buFontTx/>
              <a:buChar char="•"/>
            </a:pPr>
            <a:endParaRPr lang="en-US" altLang="zh-CN" dirty="0">
              <a:solidFill>
                <a:srgbClr val="0000FF"/>
              </a:solidFill>
              <a:latin typeface="Georgia" panose="02040502050405020303" pitchFamily="18" charset="0"/>
              <a:ea typeface="宋体" pitchFamily="2" charset="-122"/>
            </a:endParaRPr>
          </a:p>
          <a:p>
            <a:pPr>
              <a:buFontTx/>
              <a:buChar char="•"/>
            </a:pPr>
            <a:r>
              <a:rPr lang="en-US" altLang="zh-CN" dirty="0">
                <a:latin typeface="Georgia" panose="02040502050405020303" pitchFamily="18" charset="0"/>
                <a:ea typeface="宋体" pitchFamily="2" charset="-122"/>
              </a:rPr>
              <a:t>The weaknesses are its </a:t>
            </a:r>
            <a:r>
              <a:rPr lang="en-US" altLang="zh-CN" dirty="0">
                <a:solidFill>
                  <a:srgbClr val="0000FF"/>
                </a:solidFill>
                <a:latin typeface="Georgia" panose="02040502050405020303" pitchFamily="18" charset="0"/>
                <a:ea typeface="宋体" pitchFamily="2" charset="-122"/>
              </a:rPr>
              <a:t>lack of good spatial resolution, only moderate absolute sensitivity, and its inability to detect H.</a:t>
            </a:r>
          </a:p>
          <a:p>
            <a:pPr>
              <a:buFontTx/>
              <a:buChar char="•"/>
            </a:pPr>
            <a:endParaRPr lang="en-US" altLang="zh-CN" dirty="0">
              <a:solidFill>
                <a:srgbClr val="0000FF"/>
              </a:solidFill>
              <a:latin typeface="Georgia" panose="02040502050405020303" pitchFamily="18" charset="0"/>
              <a:ea typeface="宋体" pitchFamily="2" charset="-122"/>
            </a:endParaRPr>
          </a:p>
          <a:p>
            <a:pPr>
              <a:buFontTx/>
              <a:buChar char="•"/>
            </a:pPr>
            <a:endParaRPr lang="en-US" altLang="zh-CN" dirty="0">
              <a:solidFill>
                <a:srgbClr val="0000FF"/>
              </a:solidFill>
              <a:latin typeface="Georgia" panose="02040502050405020303" pitchFamily="18" charset="0"/>
              <a:ea typeface="宋体" pitchFamily="2" charset="-122"/>
            </a:endParaRPr>
          </a:p>
          <a:p>
            <a:pPr eaLnBrk="1" hangingPunct="1">
              <a:buFontTx/>
              <a:buChar char="•"/>
            </a:pPr>
            <a:r>
              <a:rPr lang="en-US" altLang="zh-CN" dirty="0">
                <a:latin typeface="Georgia" panose="02040502050405020303" pitchFamily="18" charset="0"/>
                <a:ea typeface="宋体" pitchFamily="2" charset="-122"/>
              </a:rPr>
              <a:t>XPS is routinely used to analyze </a:t>
            </a:r>
            <a:r>
              <a:rPr lang="en-US" altLang="zh-CN" dirty="0">
                <a:solidFill>
                  <a:srgbClr val="0000FF"/>
                </a:solidFill>
                <a:latin typeface="Georgia" panose="02040502050405020303" pitchFamily="18" charset="0"/>
                <a:ea typeface="宋体" pitchFamily="2" charset="-122"/>
              </a:rPr>
              <a:t>inorganic compounds, metal alloys, semiconductors, polymers, elements, catalysts, glasses, ceramics, paints, papers, inks, woods, plant parts, make-up, teeth, bones, medical implants, bio-materials, viscous oils, glues, ion modified materials</a:t>
            </a:r>
            <a:r>
              <a:rPr lang="en-US" altLang="zh-CN" dirty="0">
                <a:latin typeface="Georgia" panose="02040502050405020303" pitchFamily="18" charset="0"/>
                <a:ea typeface="宋体" pitchFamily="2" charset="-122"/>
              </a:rPr>
              <a:t> and many others. </a:t>
            </a:r>
            <a:endParaRPr lang="en-US" altLang="zh-CN" dirty="0">
              <a:solidFill>
                <a:srgbClr val="0000FF"/>
              </a:solidFill>
              <a:latin typeface="Georgia" panose="02040502050405020303" pitchFamily="18" charset="0"/>
              <a:ea typeface="宋体" pitchFamily="2" charset="-122"/>
            </a:endParaRPr>
          </a:p>
          <a:p>
            <a:pPr>
              <a:buFontTx/>
              <a:buChar char="•"/>
            </a:pPr>
            <a:endParaRPr lang="en-US" altLang="zh-CN" dirty="0">
              <a:solidFill>
                <a:srgbClr val="0000FF"/>
              </a:solidFill>
              <a:latin typeface="Georgia" panose="02040502050405020303" pitchFamily="18" charset="0"/>
              <a:ea typeface="宋体" pitchFamily="2" charset="-122"/>
            </a:endParaRPr>
          </a:p>
          <a:p>
            <a:pPr>
              <a:buFontTx/>
              <a:buChar char="•"/>
            </a:pPr>
            <a:r>
              <a:rPr lang="en-US" altLang="zh-CN" dirty="0">
                <a:latin typeface="Georgia" panose="02040502050405020303" pitchFamily="18" charset="0"/>
                <a:ea typeface="宋体" pitchFamily="2" charset="-122"/>
              </a:rPr>
              <a:t> XPS requires ultra high vacuum (UHV) conditions. </a:t>
            </a:r>
          </a:p>
        </p:txBody>
      </p:sp>
      <p:sp>
        <p:nvSpPr>
          <p:cNvPr id="5" name="Rectangle 46"/>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dirty="0">
                <a:solidFill>
                  <a:schemeClr val="bg1"/>
                </a:solidFill>
                <a:latin typeface="Georgia" panose="02040502050405020303" pitchFamily="18" charset="0"/>
                <a:ea typeface="新細明體" pitchFamily="18" charset="-120"/>
              </a:rPr>
              <a:t>Summary Notes</a:t>
            </a:r>
          </a:p>
        </p:txBody>
      </p:sp>
      <p:sp>
        <p:nvSpPr>
          <p:cNvPr id="2" name="Slide Number Placeholder 1">
            <a:extLst>
              <a:ext uri="{FF2B5EF4-FFF2-40B4-BE49-F238E27FC236}">
                <a16:creationId xmlns:a16="http://schemas.microsoft.com/office/drawing/2014/main" id="{C887C907-0F5D-4B6D-B154-31F196E750E0}"/>
              </a:ext>
            </a:extLst>
          </p:cNvPr>
          <p:cNvSpPr>
            <a:spLocks noGrp="1"/>
          </p:cNvSpPr>
          <p:nvPr>
            <p:ph type="sldNum" sz="quarter" idx="11"/>
          </p:nvPr>
        </p:nvSpPr>
        <p:spPr/>
        <p:txBody>
          <a:bodyPr/>
          <a:lstStyle/>
          <a:p>
            <a:pPr>
              <a:defRPr/>
            </a:pPr>
            <a:fld id="{EBF73BDF-690D-4725-BA10-A7934ED52EAB}" type="slidenum">
              <a:rPr lang="zh-TW" altLang="en-US" smtClean="0"/>
              <a:pPr>
                <a:defRPr/>
              </a:pPr>
              <a:t>92</a:t>
            </a:fld>
            <a:endParaRPr lang="en-US" altLang="zh-TW"/>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AE3001C-86FF-D732-DE1D-93FEB1B1B069}"/>
              </a:ext>
            </a:extLst>
          </p:cNvPr>
          <p:cNvSpPr>
            <a:spLocks noGrp="1"/>
          </p:cNvSpPr>
          <p:nvPr>
            <p:ph type="sldNum" sz="quarter" idx="11"/>
          </p:nvPr>
        </p:nvSpPr>
        <p:spPr/>
        <p:txBody>
          <a:bodyPr/>
          <a:lstStyle/>
          <a:p>
            <a:pPr>
              <a:defRPr/>
            </a:pPr>
            <a:fld id="{EBF73BDF-690D-4725-BA10-A7934ED52EAB}" type="slidenum">
              <a:rPr lang="zh-TW" altLang="en-US" smtClean="0"/>
              <a:pPr>
                <a:defRPr/>
              </a:pPr>
              <a:t>93</a:t>
            </a:fld>
            <a:endParaRPr lang="en-US" altLang="zh-TW"/>
          </a:p>
        </p:txBody>
      </p:sp>
      <p:sp>
        <p:nvSpPr>
          <p:cNvPr id="3" name="Rectangle 46">
            <a:extLst>
              <a:ext uri="{FF2B5EF4-FFF2-40B4-BE49-F238E27FC236}">
                <a16:creationId xmlns:a16="http://schemas.microsoft.com/office/drawing/2014/main" id="{83F702DC-7D5E-4F6C-4130-EDFF4983B82C}"/>
              </a:ext>
            </a:extLst>
          </p:cNvPr>
          <p:cNvSpPr>
            <a:spLocks noChangeArrowheads="1"/>
          </p:cNvSpPr>
          <p:nvPr/>
        </p:nvSpPr>
        <p:spPr bwMode="auto">
          <a:xfrm>
            <a:off x="676275" y="209550"/>
            <a:ext cx="8229600" cy="457200"/>
          </a:xfrm>
          <a:prstGeom prst="rect">
            <a:avLst/>
          </a:prstGeom>
          <a:noFill/>
          <a:ln w="9525">
            <a:noFill/>
            <a:miter lim="800000"/>
            <a:headEnd/>
            <a:tailEnd/>
          </a:ln>
        </p:spPr>
        <p:txBody>
          <a:bodyPr anchor="ctr"/>
          <a:lstStyle/>
          <a:p>
            <a:pPr eaLnBrk="1" hangingPunct="1"/>
            <a:r>
              <a:rPr lang="en-US" altLang="zh-TW">
                <a:solidFill>
                  <a:schemeClr val="bg1"/>
                </a:solidFill>
                <a:latin typeface="Georgia" panose="02040502050405020303" pitchFamily="18" charset="0"/>
                <a:ea typeface="新細明體" pitchFamily="18" charset="-120"/>
              </a:rPr>
              <a:t>Review of  XPS </a:t>
            </a:r>
            <a:endParaRPr lang="en-US" altLang="zh-TW" dirty="0">
              <a:solidFill>
                <a:schemeClr val="bg1"/>
              </a:solidFill>
              <a:latin typeface="Georgia" panose="02040502050405020303" pitchFamily="18" charset="0"/>
              <a:ea typeface="新細明體" pitchFamily="18" charset="-120"/>
            </a:endParaRPr>
          </a:p>
        </p:txBody>
      </p:sp>
      <p:sp>
        <p:nvSpPr>
          <p:cNvPr id="4" name="Rectangle 4">
            <a:extLst>
              <a:ext uri="{FF2B5EF4-FFF2-40B4-BE49-F238E27FC236}">
                <a16:creationId xmlns:a16="http://schemas.microsoft.com/office/drawing/2014/main" id="{FD7B541C-2F08-7ADE-FEC1-C90EB63E53D1}"/>
              </a:ext>
            </a:extLst>
          </p:cNvPr>
          <p:cNvSpPr>
            <a:spLocks noChangeArrowheads="1"/>
          </p:cNvSpPr>
          <p:nvPr/>
        </p:nvSpPr>
        <p:spPr bwMode="auto">
          <a:xfrm>
            <a:off x="609600" y="838200"/>
            <a:ext cx="8153400" cy="1569660"/>
          </a:xfrm>
          <a:prstGeom prst="rect">
            <a:avLst/>
          </a:prstGeom>
          <a:noFill/>
          <a:ln w="9525">
            <a:noFill/>
            <a:miter lim="800000"/>
            <a:headEnd/>
            <a:tailEnd/>
          </a:ln>
          <a:effectLst/>
        </p:spPr>
        <p:txBody>
          <a:bodyPr anchor="ctr">
            <a:spAutoFit/>
          </a:bodyPr>
          <a:lstStyle/>
          <a:p>
            <a:r>
              <a:rPr lang="en-US" altLang="zh-CN" sz="2400">
                <a:latin typeface="Georgia" panose="02040502050405020303" pitchFamily="18" charset="0"/>
                <a:ea typeface="宋体" pitchFamily="2" charset="-122"/>
              </a:rPr>
              <a:t>Key parts in instrumentation</a:t>
            </a:r>
          </a:p>
          <a:p>
            <a:pPr marL="800100" lvl="1" indent="-342900">
              <a:buFont typeface="Arial" panose="020B0604020202020204" pitchFamily="34" charset="0"/>
              <a:buChar char="•"/>
            </a:pPr>
            <a:r>
              <a:rPr lang="en-US" altLang="zh-CN" sz="2400">
                <a:latin typeface="Georgia" panose="02040502050405020303" pitchFamily="18" charset="0"/>
                <a:ea typeface="宋体" pitchFamily="2" charset="-122"/>
              </a:rPr>
              <a:t>Major components</a:t>
            </a:r>
          </a:p>
          <a:p>
            <a:pPr marL="800100" lvl="1" indent="-342900">
              <a:buFont typeface="Arial" panose="020B0604020202020204" pitchFamily="34" charset="0"/>
              <a:buChar char="•"/>
            </a:pPr>
            <a:r>
              <a:rPr lang="en-US" altLang="zh-CN" sz="2400">
                <a:latin typeface="Georgia" panose="02040502050405020303" pitchFamily="18" charset="0"/>
                <a:ea typeface="宋体" pitchFamily="2" charset="-122"/>
              </a:rPr>
              <a:t>Vacuum</a:t>
            </a:r>
          </a:p>
          <a:p>
            <a:pPr marL="800100" lvl="1" indent="-342900">
              <a:buFont typeface="Arial" panose="020B0604020202020204" pitchFamily="34" charset="0"/>
              <a:buChar char="•"/>
            </a:pPr>
            <a:r>
              <a:rPr lang="en-US" altLang="zh-CN" sz="2400">
                <a:latin typeface="Georgia" panose="02040502050405020303" pitchFamily="18" charset="0"/>
                <a:ea typeface="宋体" pitchFamily="2" charset="-122"/>
              </a:rPr>
              <a:t>Integrated characterization system</a:t>
            </a:r>
            <a:endParaRPr lang="en-US" altLang="zh-CN" sz="2400" dirty="0">
              <a:latin typeface="Georgia" panose="02040502050405020303" pitchFamily="18" charset="0"/>
              <a:ea typeface="宋体" pitchFamily="2" charset="-122"/>
            </a:endParaRPr>
          </a:p>
        </p:txBody>
      </p:sp>
      <p:pic>
        <p:nvPicPr>
          <p:cNvPr id="5" name="Picture 2" descr="Thumbnail">
            <a:hlinkClick r:id="rId2"/>
            <a:extLst>
              <a:ext uri="{FF2B5EF4-FFF2-40B4-BE49-F238E27FC236}">
                <a16:creationId xmlns:a16="http://schemas.microsoft.com/office/drawing/2014/main" id="{16E585A0-2277-AD5F-93C4-79546B7D33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0" y="2816072"/>
            <a:ext cx="5283200" cy="2971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735136"/>
      </p:ext>
    </p:extLst>
  </p:cSld>
  <p:clrMapOvr>
    <a:masterClrMapping/>
  </p:clrMapOvr>
</p:sld>
</file>

<file path=ppt/theme/theme1.xml><?xml version="1.0" encoding="utf-8"?>
<a:theme xmlns:a="http://schemas.openxmlformats.org/drawingml/2006/main" name="Pixel">
  <a:themeElements>
    <a:clrScheme name="Pixel 12">
      <a:dk1>
        <a:srgbClr val="000000"/>
      </a:dk1>
      <a:lt1>
        <a:srgbClr val="FFFFFF"/>
      </a:lt1>
      <a:dk2>
        <a:srgbClr val="000000"/>
      </a:dk2>
      <a:lt2>
        <a:srgbClr val="00007D"/>
      </a:lt2>
      <a:accent1>
        <a:srgbClr val="9999FF"/>
      </a:accent1>
      <a:accent2>
        <a:srgbClr val="9999CC"/>
      </a:accent2>
      <a:accent3>
        <a:srgbClr val="FFFFFF"/>
      </a:accent3>
      <a:accent4>
        <a:srgbClr val="000000"/>
      </a:accent4>
      <a:accent5>
        <a:srgbClr val="CACAFF"/>
      </a:accent5>
      <a:accent6>
        <a:srgbClr val="8A8AB9"/>
      </a:accent6>
      <a:hlink>
        <a:srgbClr val="666699"/>
      </a:hlink>
      <a:folHlink>
        <a:srgbClr val="CCCCE6"/>
      </a:folHlink>
    </a:clrScheme>
    <a:fontScheme name="Pixe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Pixel 1">
        <a:dk1>
          <a:srgbClr val="0066FF"/>
        </a:dk1>
        <a:lt1>
          <a:srgbClr val="FFFFFF"/>
        </a:lt1>
        <a:dk2>
          <a:srgbClr val="000066"/>
        </a:dk2>
        <a:lt2>
          <a:srgbClr val="FFFFFF"/>
        </a:lt2>
        <a:accent1>
          <a:srgbClr val="6699FF"/>
        </a:accent1>
        <a:accent2>
          <a:srgbClr val="3333FF"/>
        </a:accent2>
        <a:accent3>
          <a:srgbClr val="AAAAB8"/>
        </a:accent3>
        <a:accent4>
          <a:srgbClr val="DADADA"/>
        </a:accent4>
        <a:accent5>
          <a:srgbClr val="B8CAFF"/>
        </a:accent5>
        <a:accent6>
          <a:srgbClr val="2D2DE7"/>
        </a:accent6>
        <a:hlink>
          <a:srgbClr val="FFCC00"/>
        </a:hlink>
        <a:folHlink>
          <a:srgbClr val="0000CC"/>
        </a:folHlink>
      </a:clrScheme>
      <a:clrMap bg1="dk2" tx1="lt1" bg2="dk1" tx2="lt2" accent1="accent1" accent2="accent2" accent3="accent3" accent4="accent4" accent5="accent5" accent6="accent6" hlink="hlink" folHlink="folHlink"/>
    </a:extraClrScheme>
    <a:extraClrScheme>
      <a:clrScheme name="Pixel 2">
        <a:dk1>
          <a:srgbClr val="009999"/>
        </a:dk1>
        <a:lt1>
          <a:srgbClr val="FFFFFF"/>
        </a:lt1>
        <a:dk2>
          <a:srgbClr val="334B49"/>
        </a:dk2>
        <a:lt2>
          <a:srgbClr val="FFFFFF"/>
        </a:lt2>
        <a:accent1>
          <a:srgbClr val="33CCCC"/>
        </a:accent1>
        <a:accent2>
          <a:srgbClr val="008080"/>
        </a:accent2>
        <a:accent3>
          <a:srgbClr val="ADB1B1"/>
        </a:accent3>
        <a:accent4>
          <a:srgbClr val="DADADA"/>
        </a:accent4>
        <a:accent5>
          <a:srgbClr val="ADE2E2"/>
        </a:accent5>
        <a:accent6>
          <a:srgbClr val="007373"/>
        </a:accent6>
        <a:hlink>
          <a:srgbClr val="FFCC00"/>
        </a:hlink>
        <a:folHlink>
          <a:srgbClr val="006666"/>
        </a:folHlink>
      </a:clrScheme>
      <a:clrMap bg1="dk2" tx1="lt1" bg2="dk1" tx2="lt2" accent1="accent1" accent2="accent2" accent3="accent3" accent4="accent4" accent5="accent5" accent6="accent6" hlink="hlink" folHlink="folHlink"/>
    </a:extraClrScheme>
    <a:extraClrScheme>
      <a:clrScheme name="Pixel 3">
        <a:dk1>
          <a:srgbClr val="006699"/>
        </a:dk1>
        <a:lt1>
          <a:srgbClr val="FFFFFF"/>
        </a:lt1>
        <a:dk2>
          <a:srgbClr val="333399"/>
        </a:dk2>
        <a:lt2>
          <a:srgbClr val="FFFFFF"/>
        </a:lt2>
        <a:accent1>
          <a:srgbClr val="0099CC"/>
        </a:accent1>
        <a:accent2>
          <a:srgbClr val="0386AF"/>
        </a:accent2>
        <a:accent3>
          <a:srgbClr val="ADADCA"/>
        </a:accent3>
        <a:accent4>
          <a:srgbClr val="DADADA"/>
        </a:accent4>
        <a:accent5>
          <a:srgbClr val="AACAE2"/>
        </a:accent5>
        <a:accent6>
          <a:srgbClr val="02799E"/>
        </a:accent6>
        <a:hlink>
          <a:srgbClr val="FFCC00"/>
        </a:hlink>
        <a:folHlink>
          <a:srgbClr val="6699FF"/>
        </a:folHlink>
      </a:clrScheme>
      <a:clrMap bg1="dk2" tx1="lt1" bg2="dk1" tx2="lt2" accent1="accent1" accent2="accent2" accent3="accent3" accent4="accent4" accent5="accent5" accent6="accent6" hlink="hlink" folHlink="folHlink"/>
    </a:extraClrScheme>
    <a:extraClrScheme>
      <a:clrScheme name="Pixel 4">
        <a:dk1>
          <a:srgbClr val="008080"/>
        </a:dk1>
        <a:lt1>
          <a:srgbClr val="FFFFFF"/>
        </a:lt1>
        <a:dk2>
          <a:srgbClr val="2F978D"/>
        </a:dk2>
        <a:lt2>
          <a:srgbClr val="FFFFFF"/>
        </a:lt2>
        <a:accent1>
          <a:srgbClr val="0099FF"/>
        </a:accent1>
        <a:accent2>
          <a:srgbClr val="009999"/>
        </a:accent2>
        <a:accent3>
          <a:srgbClr val="ADC9C5"/>
        </a:accent3>
        <a:accent4>
          <a:srgbClr val="DADADA"/>
        </a:accent4>
        <a:accent5>
          <a:srgbClr val="AACAFF"/>
        </a:accent5>
        <a:accent6>
          <a:srgbClr val="008A8A"/>
        </a:accent6>
        <a:hlink>
          <a:srgbClr val="FFFFCC"/>
        </a:hlink>
        <a:folHlink>
          <a:srgbClr val="70CAC6"/>
        </a:folHlink>
      </a:clrScheme>
      <a:clrMap bg1="dk2" tx1="lt1" bg2="dk1" tx2="lt2" accent1="accent1" accent2="accent2" accent3="accent3" accent4="accent4" accent5="accent5" accent6="accent6" hlink="hlink" folHlink="folHlink"/>
    </a:extraClrScheme>
    <a:extraClrScheme>
      <a:clrScheme name="Pixel 5">
        <a:dk1>
          <a:srgbClr val="822504"/>
        </a:dk1>
        <a:lt1>
          <a:srgbClr val="FFFFFF"/>
        </a:lt1>
        <a:dk2>
          <a:srgbClr val="330000"/>
        </a:dk2>
        <a:lt2>
          <a:srgbClr val="FFFFFF"/>
        </a:lt2>
        <a:accent1>
          <a:srgbClr val="FF9900"/>
        </a:accent1>
        <a:accent2>
          <a:srgbClr val="9E2A06"/>
        </a:accent2>
        <a:accent3>
          <a:srgbClr val="ADAAAA"/>
        </a:accent3>
        <a:accent4>
          <a:srgbClr val="DADADA"/>
        </a:accent4>
        <a:accent5>
          <a:srgbClr val="FFCAAA"/>
        </a:accent5>
        <a:accent6>
          <a:srgbClr val="8F2505"/>
        </a:accent6>
        <a:hlink>
          <a:srgbClr val="FF3300"/>
        </a:hlink>
        <a:folHlink>
          <a:srgbClr val="7C0704"/>
        </a:folHlink>
      </a:clrScheme>
      <a:clrMap bg1="dk2" tx1="lt1" bg2="dk1" tx2="lt2" accent1="accent1" accent2="accent2" accent3="accent3" accent4="accent4" accent5="accent5" accent6="accent6" hlink="hlink" folHlink="folHlink"/>
    </a:extraClrScheme>
    <a:extraClrScheme>
      <a:clrScheme name="Pixel 6">
        <a:dk1>
          <a:srgbClr val="336600"/>
        </a:dk1>
        <a:lt1>
          <a:srgbClr val="FFFFFF"/>
        </a:lt1>
        <a:dk2>
          <a:srgbClr val="4A7911"/>
        </a:dk2>
        <a:lt2>
          <a:srgbClr val="FFFFFF"/>
        </a:lt2>
        <a:accent1>
          <a:srgbClr val="666633"/>
        </a:accent1>
        <a:accent2>
          <a:srgbClr val="669900"/>
        </a:accent2>
        <a:accent3>
          <a:srgbClr val="B1BEAA"/>
        </a:accent3>
        <a:accent4>
          <a:srgbClr val="DADADA"/>
        </a:accent4>
        <a:accent5>
          <a:srgbClr val="B8B8AD"/>
        </a:accent5>
        <a:accent6>
          <a:srgbClr val="5C8A00"/>
        </a:accent6>
        <a:hlink>
          <a:srgbClr val="FFCC00"/>
        </a:hlink>
        <a:folHlink>
          <a:srgbClr val="99CC00"/>
        </a:folHlink>
      </a:clrScheme>
      <a:clrMap bg1="dk2" tx1="lt1" bg2="dk1" tx2="lt2" accent1="accent1" accent2="accent2" accent3="accent3" accent4="accent4" accent5="accent5" accent6="accent6" hlink="hlink" folHlink="folHlink"/>
    </a:extraClrScheme>
    <a:extraClrScheme>
      <a:clrScheme name="Pixel 7">
        <a:dk1>
          <a:srgbClr val="000000"/>
        </a:dk1>
        <a:lt1>
          <a:srgbClr val="FFFFFF"/>
        </a:lt1>
        <a:dk2>
          <a:srgbClr val="000000"/>
        </a:dk2>
        <a:lt2>
          <a:srgbClr val="CC3300"/>
        </a:lt2>
        <a:accent1>
          <a:srgbClr val="FFCC00"/>
        </a:accent1>
        <a:accent2>
          <a:srgbClr val="CC6600"/>
        </a:accent2>
        <a:accent3>
          <a:srgbClr val="FFFFFF"/>
        </a:accent3>
        <a:accent4>
          <a:srgbClr val="000000"/>
        </a:accent4>
        <a:accent5>
          <a:srgbClr val="FFE2AA"/>
        </a:accent5>
        <a:accent6>
          <a:srgbClr val="B95C00"/>
        </a:accent6>
        <a:hlink>
          <a:srgbClr val="663300"/>
        </a:hlink>
        <a:folHlink>
          <a:srgbClr val="CC9900"/>
        </a:folHlink>
      </a:clrScheme>
      <a:clrMap bg1="lt1" tx1="dk1" bg2="lt2" tx2="dk2" accent1="accent1" accent2="accent2" accent3="accent3" accent4="accent4" accent5="accent5" accent6="accent6" hlink="hlink" folHlink="folHlink"/>
    </a:extraClrScheme>
    <a:extraClrScheme>
      <a:clrScheme name="Pixel 8">
        <a:dk1>
          <a:srgbClr val="003300"/>
        </a:dk1>
        <a:lt1>
          <a:srgbClr val="FFFFFF"/>
        </a:lt1>
        <a:dk2>
          <a:srgbClr val="000000"/>
        </a:dk2>
        <a:lt2>
          <a:srgbClr val="336600"/>
        </a:lt2>
        <a:accent1>
          <a:srgbClr val="CCCC00"/>
        </a:accent1>
        <a:accent2>
          <a:srgbClr val="669900"/>
        </a:accent2>
        <a:accent3>
          <a:srgbClr val="FFFFFF"/>
        </a:accent3>
        <a:accent4>
          <a:srgbClr val="002A00"/>
        </a:accent4>
        <a:accent5>
          <a:srgbClr val="E2E2AA"/>
        </a:accent5>
        <a:accent6>
          <a:srgbClr val="5C8A00"/>
        </a:accent6>
        <a:hlink>
          <a:srgbClr val="333300"/>
        </a:hlink>
        <a:folHlink>
          <a:srgbClr val="99CC00"/>
        </a:folHlink>
      </a:clrScheme>
      <a:clrMap bg1="lt1" tx1="dk1" bg2="lt2" tx2="dk2" accent1="accent1" accent2="accent2" accent3="accent3" accent4="accent4" accent5="accent5" accent6="accent6" hlink="hlink" folHlink="folHlink"/>
    </a:extraClrScheme>
    <a:extraClrScheme>
      <a:clrScheme name="Pixel 9">
        <a:dk1>
          <a:srgbClr val="000000"/>
        </a:dk1>
        <a:lt1>
          <a:srgbClr val="FFFFFF"/>
        </a:lt1>
        <a:dk2>
          <a:srgbClr val="000000"/>
        </a:dk2>
        <a:lt2>
          <a:srgbClr val="440044"/>
        </a:lt2>
        <a:accent1>
          <a:srgbClr val="FFCCCC"/>
        </a:accent1>
        <a:accent2>
          <a:srgbClr val="790571"/>
        </a:accent2>
        <a:accent3>
          <a:srgbClr val="FFFFFF"/>
        </a:accent3>
        <a:accent4>
          <a:srgbClr val="000000"/>
        </a:accent4>
        <a:accent5>
          <a:srgbClr val="FFE2E2"/>
        </a:accent5>
        <a:accent6>
          <a:srgbClr val="6D0466"/>
        </a:accent6>
        <a:hlink>
          <a:srgbClr val="993366"/>
        </a:hlink>
        <a:folHlink>
          <a:srgbClr val="9F839F"/>
        </a:folHlink>
      </a:clrScheme>
      <a:clrMap bg1="lt1" tx1="dk1" bg2="lt2" tx2="dk2" accent1="accent1" accent2="accent2" accent3="accent3" accent4="accent4" accent5="accent5" accent6="accent6" hlink="hlink" folHlink="folHlink"/>
    </a:extraClrScheme>
    <a:extraClrScheme>
      <a:clrScheme name="Pixel 10">
        <a:dk1>
          <a:srgbClr val="000000"/>
        </a:dk1>
        <a:lt1>
          <a:srgbClr val="FFFFFF"/>
        </a:lt1>
        <a:dk2>
          <a:srgbClr val="000000"/>
        </a:dk2>
        <a:lt2>
          <a:srgbClr val="FF9900"/>
        </a:lt2>
        <a:accent1>
          <a:srgbClr val="FFCC99"/>
        </a:accent1>
        <a:accent2>
          <a:srgbClr val="FBA313"/>
        </a:accent2>
        <a:accent3>
          <a:srgbClr val="FFFFFF"/>
        </a:accent3>
        <a:accent4>
          <a:srgbClr val="000000"/>
        </a:accent4>
        <a:accent5>
          <a:srgbClr val="FFE2CA"/>
        </a:accent5>
        <a:accent6>
          <a:srgbClr val="E39310"/>
        </a:accent6>
        <a:hlink>
          <a:srgbClr val="CC3300"/>
        </a:hlink>
        <a:folHlink>
          <a:srgbClr val="FCC66E"/>
        </a:folHlink>
      </a:clrScheme>
      <a:clrMap bg1="lt1" tx1="dk1" bg2="lt2" tx2="dk2" accent1="accent1" accent2="accent2" accent3="accent3" accent4="accent4" accent5="accent5" accent6="accent6" hlink="hlink" folHlink="folHlink"/>
    </a:extraClrScheme>
    <a:extraClrScheme>
      <a:clrScheme name="Pixel 11">
        <a:dk1>
          <a:srgbClr val="000000"/>
        </a:dk1>
        <a:lt1>
          <a:srgbClr val="FFFFFF"/>
        </a:lt1>
        <a:dk2>
          <a:srgbClr val="000000"/>
        </a:dk2>
        <a:lt2>
          <a:srgbClr val="779F92"/>
        </a:lt2>
        <a:accent1>
          <a:srgbClr val="33CCCC"/>
        </a:accent1>
        <a:accent2>
          <a:srgbClr val="9DC2D7"/>
        </a:accent2>
        <a:accent3>
          <a:srgbClr val="FFFFFF"/>
        </a:accent3>
        <a:accent4>
          <a:srgbClr val="000000"/>
        </a:accent4>
        <a:accent5>
          <a:srgbClr val="ADE2E2"/>
        </a:accent5>
        <a:accent6>
          <a:srgbClr val="8EB0C3"/>
        </a:accent6>
        <a:hlink>
          <a:srgbClr val="006666"/>
        </a:hlink>
        <a:folHlink>
          <a:srgbClr val="CCCCFF"/>
        </a:folHlink>
      </a:clrScheme>
      <a:clrMap bg1="lt1" tx1="dk1" bg2="lt2" tx2="dk2" accent1="accent1" accent2="accent2" accent3="accent3" accent4="accent4" accent5="accent5" accent6="accent6" hlink="hlink" folHlink="folHlink"/>
    </a:extraClrScheme>
    <a:extraClrScheme>
      <a:clrScheme name="Pixel 12">
        <a:dk1>
          <a:srgbClr val="000000"/>
        </a:dk1>
        <a:lt1>
          <a:srgbClr val="FFFFFF"/>
        </a:lt1>
        <a:dk2>
          <a:srgbClr val="000000"/>
        </a:dk2>
        <a:lt2>
          <a:srgbClr val="00007D"/>
        </a:lt2>
        <a:accent1>
          <a:srgbClr val="9999FF"/>
        </a:accent1>
        <a:accent2>
          <a:srgbClr val="9999CC"/>
        </a:accent2>
        <a:accent3>
          <a:srgbClr val="FFFFFF"/>
        </a:accent3>
        <a:accent4>
          <a:srgbClr val="000000"/>
        </a:accent4>
        <a:accent5>
          <a:srgbClr val="CACAFF"/>
        </a:accent5>
        <a:accent6>
          <a:srgbClr val="8A8AB9"/>
        </a:accent6>
        <a:hlink>
          <a:srgbClr val="666699"/>
        </a:hlink>
        <a:folHlink>
          <a:srgbClr val="CCCCE6"/>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Pixel</Template>
  <TotalTime>3966</TotalTime>
  <Words>8586</Words>
  <Application>Microsoft Office PowerPoint</Application>
  <PresentationFormat>On-screen Show (4:3)</PresentationFormat>
  <Paragraphs>970</Paragraphs>
  <Slides>93</Slides>
  <Notes>30</Notes>
  <HiddenSlides>0</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8</vt:i4>
      </vt:variant>
      <vt:variant>
        <vt:lpstr>Slide Titles</vt:lpstr>
      </vt:variant>
      <vt:variant>
        <vt:i4>93</vt:i4>
      </vt:variant>
    </vt:vector>
  </HeadingPairs>
  <TitlesOfParts>
    <vt:vector size="114" baseType="lpstr">
      <vt:lpstr>新細明體</vt:lpstr>
      <vt:lpstr>SimSun</vt:lpstr>
      <vt:lpstr>SimSun</vt:lpstr>
      <vt:lpstr>Arial</vt:lpstr>
      <vt:lpstr>Arial Black</vt:lpstr>
      <vt:lpstr>Calibri</vt:lpstr>
      <vt:lpstr>Cambria Math</vt:lpstr>
      <vt:lpstr>Georgia</vt:lpstr>
      <vt:lpstr>Symbol</vt:lpstr>
      <vt:lpstr>Tahoma</vt:lpstr>
      <vt:lpstr>Times New Roman</vt:lpstr>
      <vt:lpstr>Wingdings</vt:lpstr>
      <vt:lpstr>Pixel</vt:lpstr>
      <vt:lpstr>投影片</vt:lpstr>
      <vt:lpstr>Photo Editor Photo</vt:lpstr>
      <vt:lpstr>Image</vt:lpstr>
      <vt:lpstr>Slide</vt:lpstr>
      <vt:lpstr>Equation</vt:lpstr>
      <vt:lpstr>CorelPhotoPaint.Image.8</vt:lpstr>
      <vt:lpstr>CorelDRAW</vt:lpstr>
      <vt:lpstr>Equation.3</vt:lpstr>
      <vt:lpstr>AMSC 5710 Advanced Materials Characterization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cp:lastModifiedBy>Quan Li (PHY)</cp:lastModifiedBy>
  <cp:revision>102</cp:revision>
  <dcterms:created xsi:type="dcterms:W3CDTF">2015-01-13T22:18:44Z</dcterms:created>
  <dcterms:modified xsi:type="dcterms:W3CDTF">2026-09-02T10:15:34Z</dcterms:modified>
</cp:coreProperties>
</file>